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810" autoAdjust="0"/>
  </p:normalViewPr>
  <p:slideViewPr>
    <p:cSldViewPr>
      <p:cViewPr varScale="1">
        <p:scale>
          <a:sx n="64" d="100"/>
          <a:sy n="64" d="100"/>
        </p:scale>
        <p:origin x="1733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-51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E29F0-5D64-43F1-883C-5AAB9C48C560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4F1E84-660E-494F-A899-1814D25606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905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dirty="0"/>
              <a:t>知识点：树的计数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答：</a:t>
            </a:r>
            <a:r>
              <a:rPr lang="en-US" altLang="zh-CN" dirty="0"/>
              <a:t>1. </a:t>
            </a:r>
            <a:r>
              <a:rPr lang="zh-CN" altLang="en-US" dirty="0"/>
              <a:t>树转成</a:t>
            </a:r>
            <a:r>
              <a:rPr lang="en-US" altLang="zh-CN" dirty="0"/>
              <a:t>2</a:t>
            </a:r>
            <a:r>
              <a:rPr lang="zh-CN" altLang="en-US" dirty="0"/>
              <a:t>叉树后，只有左子树，所以左子树的不同形态对应了树的不同形态，左子树共有</a:t>
            </a:r>
            <a:r>
              <a:rPr lang="en-US" altLang="zh-CN" dirty="0"/>
              <a:t>6</a:t>
            </a:r>
            <a:r>
              <a:rPr lang="zh-CN" altLang="en-US" dirty="0"/>
              <a:t>个结点，共有</a:t>
            </a:r>
            <a:r>
              <a:rPr lang="en-US" altLang="zh-CN" dirty="0"/>
              <a:t>1/</a:t>
            </a:r>
            <a:r>
              <a:rPr lang="zh-CN" altLang="en-US" dirty="0"/>
              <a:t>（</a:t>
            </a:r>
            <a:r>
              <a:rPr lang="en-US" altLang="zh-CN" dirty="0"/>
              <a:t>n+1</a:t>
            </a:r>
            <a:r>
              <a:rPr lang="zh-CN" altLang="en-US" dirty="0"/>
              <a:t>）*</a:t>
            </a:r>
            <a:r>
              <a:rPr lang="en-US" altLang="zh-CN" dirty="0"/>
              <a:t>(2n)!/(n!*(2n-n)!)</a:t>
            </a:r>
            <a:r>
              <a:rPr lang="zh-CN" altLang="en-US" dirty="0"/>
              <a:t>，代入得到</a:t>
            </a:r>
            <a:r>
              <a:rPr lang="en-US" altLang="zh-CN" dirty="0"/>
              <a:t>1/7</a:t>
            </a:r>
            <a:r>
              <a:rPr lang="zh-CN" altLang="en-US" dirty="0"/>
              <a:t>*</a:t>
            </a:r>
            <a:r>
              <a:rPr lang="en-US" altLang="zh-CN" dirty="0"/>
              <a:t>12!/6!/6!=132</a:t>
            </a:r>
          </a:p>
          <a:p>
            <a:pPr eaLnBrk="1" hangingPunct="1"/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2. </a:t>
            </a:r>
            <a:r>
              <a:rPr lang="zh-CN" altLang="en-US" dirty="0"/>
              <a:t>见下页</a:t>
            </a:r>
            <a:r>
              <a:rPr lang="en-US" altLang="zh-CN" dirty="0"/>
              <a:t>PPT</a:t>
            </a:r>
            <a:endParaRPr lang="zh-CN" altLang="en-US" dirty="0"/>
          </a:p>
          <a:p>
            <a:pPr eaLnBrk="1" hangingPunct="1"/>
            <a:endParaRPr lang="zh-CN" altLang="en-US" dirty="0"/>
          </a:p>
          <a:p>
            <a:endParaRPr lang="zh-CN" altLang="en-US" dirty="0"/>
          </a:p>
        </p:txBody>
      </p:sp>
      <p:sp>
        <p:nvSpPr>
          <p:cNvPr id="2150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907C62E6-A46C-4CA0-9BE7-ED283AA01045}" type="slidenum">
              <a:rPr lang="zh-CN" altLang="en-US" smtClean="0">
                <a:latin typeface="Times New Roman" pitchFamily="18" charset="0"/>
              </a:rPr>
              <a:pPr eaLnBrk="1" hangingPunct="1">
                <a:spcBef>
                  <a:spcPct val="0"/>
                </a:spcBef>
              </a:pPr>
              <a:t>2</a:t>
            </a:fld>
            <a:endParaRPr lang="zh-CN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401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2140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B7A85ED-2B9A-4F78-9A07-C17880600D16}" type="slidenum">
              <a:rPr lang="zh-CN" altLang="en-US" smtClean="0">
                <a:latin typeface="Times New Roman" pitchFamily="18" charset="0"/>
              </a:rPr>
              <a:pPr eaLnBrk="1" hangingPunct="1">
                <a:spcBef>
                  <a:spcPct val="0"/>
                </a:spcBef>
              </a:pPr>
              <a:t>3</a:t>
            </a:fld>
            <a:endParaRPr lang="zh-CN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913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知识点：完全二叉树的特点</a:t>
            </a:r>
            <a:endParaRPr lang="en-US" altLang="zh-CN" dirty="0"/>
          </a:p>
          <a:p>
            <a:endParaRPr lang="en-US" altLang="zh-CN" dirty="0"/>
          </a:p>
          <a:p>
            <a:pPr eaLnBrk="1" hangingPunct="1"/>
            <a:r>
              <a:rPr lang="en-US" altLang="zh-CN" dirty="0"/>
              <a:t>3. </a:t>
            </a:r>
            <a:r>
              <a:rPr lang="zh-CN" altLang="en-US" dirty="0"/>
              <a:t>答：</a:t>
            </a:r>
            <a:r>
              <a:rPr lang="en-US" altLang="zh-CN" dirty="0"/>
              <a:t>C</a:t>
            </a:r>
          </a:p>
          <a:p>
            <a:pPr lvl="1" eaLnBrk="1" hangingPunct="1"/>
            <a:r>
              <a:rPr lang="en-US" altLang="zh-CN" dirty="0"/>
              <a:t>n0 – 1 = n2</a:t>
            </a:r>
            <a:r>
              <a:rPr lang="zh-CN" altLang="en-US" dirty="0"/>
              <a:t>；</a:t>
            </a:r>
            <a:r>
              <a:rPr lang="en-US" altLang="zh-CN" dirty="0"/>
              <a:t>n0-1 + n1 + n0 = 768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推出： </a:t>
            </a:r>
            <a:r>
              <a:rPr lang="en-US" altLang="zh-CN" dirty="0"/>
              <a:t>2*n0 + n1 = 769</a:t>
            </a:r>
            <a:r>
              <a:rPr lang="zh-CN" altLang="en-US" dirty="0"/>
              <a:t>，而</a:t>
            </a:r>
            <a:r>
              <a:rPr lang="en-US" altLang="zh-CN" dirty="0"/>
              <a:t>n1&lt;=1</a:t>
            </a:r>
          </a:p>
          <a:p>
            <a:pPr lvl="1" eaLnBrk="1" hangingPunct="1"/>
            <a:r>
              <a:rPr lang="zh-CN" altLang="en-US" dirty="0"/>
              <a:t>推出：</a:t>
            </a:r>
            <a:r>
              <a:rPr lang="en-US" altLang="zh-CN" dirty="0"/>
              <a:t> 2*n0 = 768</a:t>
            </a:r>
            <a:endParaRPr lang="zh-CN" alt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有多种方法，例如还可以算</a:t>
            </a:r>
            <a:r>
              <a:rPr lang="en-US" altLang="zh-CN" dirty="0" err="1"/>
              <a:t>i</a:t>
            </a:r>
            <a:r>
              <a:rPr lang="en-US" altLang="zh-CN" dirty="0"/>
              <a:t> = </a:t>
            </a:r>
            <a:r>
              <a:rPr lang="en-US" altLang="zh-CN" dirty="0">
                <a:sym typeface="Symbol" pitchFamily="18" charset="2"/>
              </a:rPr>
              <a:t></a:t>
            </a:r>
            <a:r>
              <a:rPr lang="en-US" altLang="zh-CN" dirty="0"/>
              <a:t>log</a:t>
            </a:r>
            <a:r>
              <a:rPr lang="en-US" altLang="zh-CN" baseline="-25000" dirty="0"/>
              <a:t>2</a:t>
            </a:r>
            <a:r>
              <a:rPr lang="en-US" altLang="zh-CN" dirty="0"/>
              <a:t>(n+1)</a:t>
            </a:r>
            <a:r>
              <a:rPr lang="en-US" altLang="zh-CN" dirty="0">
                <a:sym typeface="Symbol" pitchFamily="18" charset="2"/>
              </a:rPr>
              <a:t>=9</a:t>
            </a:r>
            <a:r>
              <a:rPr lang="zh-CN" altLang="en-US" dirty="0">
                <a:sym typeface="Symbol" pitchFamily="18" charset="2"/>
              </a:rPr>
              <a:t>，所以有</a:t>
            </a:r>
            <a:r>
              <a:rPr lang="en-US" altLang="zh-CN" dirty="0">
                <a:sym typeface="Symbol" pitchFamily="18" charset="2"/>
              </a:rPr>
              <a:t>255+</a:t>
            </a:r>
            <a:r>
              <a:rPr lang="zh-CN" altLang="en-US" dirty="0">
                <a:sym typeface="Symbol" pitchFamily="18" charset="2"/>
              </a:rPr>
              <a:t>（</a:t>
            </a:r>
            <a:r>
              <a:rPr lang="en-US" altLang="zh-CN" dirty="0">
                <a:sym typeface="Symbol" pitchFamily="18" charset="2"/>
              </a:rPr>
              <a:t>256-128</a:t>
            </a:r>
            <a:r>
              <a:rPr lang="zh-CN" altLang="en-US" dirty="0">
                <a:sym typeface="Symbol" pitchFamily="18" charset="2"/>
              </a:rPr>
              <a:t>）</a:t>
            </a:r>
            <a:r>
              <a:rPr lang="en-US" altLang="zh-CN" dirty="0">
                <a:sym typeface="Symbol" pitchFamily="18" charset="2"/>
              </a:rPr>
              <a:t>+1=384</a:t>
            </a:r>
          </a:p>
          <a:p>
            <a:endParaRPr lang="en-US" altLang="zh-CN" dirty="0"/>
          </a:p>
          <a:p>
            <a:pPr eaLnBrk="1" hangingPunct="1"/>
            <a:r>
              <a:rPr lang="en-US" altLang="zh-CN" dirty="0"/>
              <a:t>4. </a:t>
            </a:r>
            <a:r>
              <a:rPr lang="zh-CN" altLang="en-US" dirty="0"/>
              <a:t>答：</a:t>
            </a:r>
            <a:r>
              <a:rPr lang="en-US" altLang="zh-CN" dirty="0"/>
              <a:t>D  </a:t>
            </a:r>
          </a:p>
          <a:p>
            <a:pPr lvl="1" eaLnBrk="1" hangingPunct="1"/>
            <a:r>
              <a:rPr lang="zh-CN" altLang="en-US" sz="2600" dirty="0"/>
              <a:t>解释：从树转成</a:t>
            </a:r>
            <a:r>
              <a:rPr lang="en-US" altLang="zh-CN" sz="2600" dirty="0"/>
              <a:t>2</a:t>
            </a:r>
            <a:r>
              <a:rPr lang="zh-CN" altLang="en-US" sz="2600" dirty="0"/>
              <a:t>叉树，每个分支结点的最后一个孩子无右孩子，因此树中每个分支结点会产生二叉树中一个无右孩子的结点。加上根结点自己也没有右孩子（即根结点作为分支结点会产生一个无右孩子的结点，同时根结点本身也没有右孩子，用一棵小规模的树为例就可以理解了），所以应该是（</a:t>
            </a:r>
            <a:r>
              <a:rPr lang="en-US" altLang="zh-CN" sz="2600" dirty="0"/>
              <a:t>2011-116+1=1896</a:t>
            </a:r>
            <a:r>
              <a:rPr lang="zh-CN" altLang="en-US" sz="2600" dirty="0"/>
              <a:t>），</a:t>
            </a:r>
            <a:endParaRPr lang="en-US" altLang="zh-CN" sz="2600" dirty="0"/>
          </a:p>
          <a:p>
            <a:endParaRPr lang="zh-CN" altLang="en-US" dirty="0"/>
          </a:p>
        </p:txBody>
      </p:sp>
      <p:sp>
        <p:nvSpPr>
          <p:cNvPr id="2191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59D7A5A5-503D-41E9-9F8A-6B5AC8C48534}" type="slidenum">
              <a:rPr lang="zh-CN" altLang="en-US" smtClean="0">
                <a:latin typeface="Times New Roman" pitchFamily="18" charset="0"/>
              </a:rPr>
              <a:pPr eaLnBrk="1" hangingPunct="1">
                <a:spcBef>
                  <a:spcPct val="0"/>
                </a:spcBef>
              </a:pPr>
              <a:t>4</a:t>
            </a:fld>
            <a:endParaRPr lang="zh-CN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F98218D2-EE4C-4B9A-B33A-F8D4E5552424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B810832-7B08-4DFA-B1C5-6CDE169431B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18D2-EE4C-4B9A-B33A-F8D4E5552424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0832-7B08-4DFA-B1C5-6CDE169431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18D2-EE4C-4B9A-B33A-F8D4E5552424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0832-7B08-4DFA-B1C5-6CDE169431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18D2-EE4C-4B9A-B33A-F8D4E5552424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0832-7B08-4DFA-B1C5-6CDE169431B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18D2-EE4C-4B9A-B33A-F8D4E5552424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0832-7B08-4DFA-B1C5-6CDE169431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18D2-EE4C-4B9A-B33A-F8D4E5552424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0832-7B08-4DFA-B1C5-6CDE169431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18D2-EE4C-4B9A-B33A-F8D4E5552424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0832-7B08-4DFA-B1C5-6CDE169431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18D2-EE4C-4B9A-B33A-F8D4E5552424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0832-7B08-4DFA-B1C5-6CDE169431B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18D2-EE4C-4B9A-B33A-F8D4E5552424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0832-7B08-4DFA-B1C5-6CDE169431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18D2-EE4C-4B9A-B33A-F8D4E5552424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0832-7B08-4DFA-B1C5-6CDE169431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18D2-EE4C-4B9A-B33A-F8D4E5552424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0832-7B08-4DFA-B1C5-6CDE169431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F98218D2-EE4C-4B9A-B33A-F8D4E5552424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7B810832-7B08-4DFA-B1C5-6CDE169431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辅助练习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4757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5" name="内容占位符 2"/>
          <p:cNvSpPr>
            <a:spLocks noGrp="1"/>
          </p:cNvSpPr>
          <p:nvPr>
            <p:ph idx="1"/>
          </p:nvPr>
        </p:nvSpPr>
        <p:spPr>
          <a:xfrm>
            <a:off x="899592" y="620688"/>
            <a:ext cx="6921217" cy="5211941"/>
          </a:xfrm>
        </p:spPr>
        <p:txBody>
          <a:bodyPr/>
          <a:lstStyle/>
          <a:p>
            <a:pPr eaLnBrk="1" hangingPunct="1"/>
            <a:r>
              <a:rPr lang="en-US" altLang="zh-CN" sz="2800" dirty="0"/>
              <a:t>1. </a:t>
            </a:r>
            <a:r>
              <a:rPr lang="zh-CN" altLang="en-US" sz="2800" dirty="0"/>
              <a:t>如果只考虑有序树的情形，那么</a:t>
            </a:r>
            <a:r>
              <a:rPr lang="en-US" altLang="zh-CN" sz="2800" dirty="0"/>
              <a:t>7</a:t>
            </a:r>
            <a:r>
              <a:rPr lang="zh-CN" altLang="en-US" sz="2800" dirty="0"/>
              <a:t>个结点的不同形态的树共有（     ）。</a:t>
            </a:r>
            <a:endParaRPr lang="en-US" altLang="zh-CN" sz="2800" dirty="0"/>
          </a:p>
          <a:p>
            <a:pPr lvl="1" eaLnBrk="1" hangingPunct="1"/>
            <a:r>
              <a:rPr lang="en-US" altLang="zh-CN" sz="2800" dirty="0"/>
              <a:t>A)    132            B)   154      </a:t>
            </a:r>
          </a:p>
          <a:p>
            <a:pPr lvl="1" eaLnBrk="1" hangingPunct="1"/>
            <a:r>
              <a:rPr lang="en-US" altLang="zh-CN" sz="2800" dirty="0"/>
              <a:t>C)    429           D)    </a:t>
            </a:r>
            <a:r>
              <a:rPr lang="zh-CN" altLang="en-US" sz="2800" dirty="0"/>
              <a:t>前面均不正确</a:t>
            </a:r>
            <a:endParaRPr lang="en-US" altLang="zh-CN" sz="2800" dirty="0"/>
          </a:p>
          <a:p>
            <a:r>
              <a:rPr lang="en-US" altLang="zh-CN" sz="2800" dirty="0"/>
              <a:t>2. </a:t>
            </a:r>
            <a:r>
              <a:rPr lang="zh-CN" altLang="en-US" sz="2800" dirty="0"/>
              <a:t>四对括号可以有多少种匹配排列方式？比如两对括号可以有两种：（）（）和（（））</a:t>
            </a:r>
            <a:endParaRPr lang="en-US" altLang="zh-CN" sz="2800" dirty="0"/>
          </a:p>
          <a:p>
            <a:endParaRPr lang="en-US" altLang="zh-CN" sz="2800" dirty="0"/>
          </a:p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635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1" name="内容占位符 2"/>
          <p:cNvSpPr>
            <a:spLocks noGrp="1"/>
          </p:cNvSpPr>
          <p:nvPr>
            <p:ph idx="1"/>
          </p:nvPr>
        </p:nvSpPr>
        <p:spPr>
          <a:xfrm>
            <a:off x="827584" y="836712"/>
            <a:ext cx="6993225" cy="4995917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答：假设</a:t>
            </a:r>
            <a:r>
              <a:rPr lang="en-US" altLang="zh-CN" dirty="0"/>
              <a:t>k</a:t>
            </a:r>
            <a:r>
              <a:rPr lang="zh-CN" altLang="en-US" dirty="0"/>
              <a:t>对括号有</a:t>
            </a:r>
            <a:r>
              <a:rPr lang="en-US" altLang="zh-CN" dirty="0"/>
              <a:t>f(k)</a:t>
            </a:r>
            <a:r>
              <a:rPr lang="zh-CN" altLang="en-US" dirty="0"/>
              <a:t>种排列，对于第一对括号，设其中包含</a:t>
            </a:r>
            <a:r>
              <a:rPr lang="en-US" altLang="zh-CN" dirty="0" err="1"/>
              <a:t>i</a:t>
            </a:r>
            <a:r>
              <a:rPr lang="zh-CN" altLang="en-US" dirty="0"/>
              <a:t>对括号，则在第一对括号的内外的排列数分别为</a:t>
            </a:r>
            <a:r>
              <a:rPr lang="en-US" altLang="zh-CN" dirty="0"/>
              <a:t>f(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  <a:r>
              <a:rPr lang="zh-CN" altLang="en-US" dirty="0"/>
              <a:t>和</a:t>
            </a:r>
            <a:r>
              <a:rPr lang="en-US" altLang="zh-CN" dirty="0"/>
              <a:t>f(k-i-1)</a:t>
            </a:r>
            <a:r>
              <a:rPr lang="zh-CN" altLang="en-US" dirty="0"/>
              <a:t>，即：</a:t>
            </a:r>
            <a:r>
              <a:rPr lang="en-US" altLang="zh-CN" dirty="0"/>
              <a:t> </a:t>
            </a:r>
          </a:p>
          <a:p>
            <a:pPr marL="68580" indent="0" eaLnBrk="1" hangingPunct="1">
              <a:buNone/>
            </a:pPr>
            <a:r>
              <a:rPr lang="en-US" altLang="zh-CN" dirty="0"/>
              <a:t>   </a:t>
            </a:r>
          </a:p>
          <a:p>
            <a:pPr marL="68580" indent="0">
              <a:buNone/>
            </a:pPr>
            <a:r>
              <a:rPr lang="en-US" altLang="zh-CN" dirty="0"/>
              <a:t>        f(k) =                 </a:t>
            </a:r>
          </a:p>
          <a:p>
            <a:pPr lvl="1" eaLnBrk="1" hangingPunct="1"/>
            <a:endParaRPr lang="en-US" altLang="zh-CN" dirty="0"/>
          </a:p>
          <a:p>
            <a:pPr lvl="1" eaLnBrk="1" hangingPunct="1"/>
            <a:r>
              <a:rPr lang="zh-CN" altLang="en-US" dirty="0"/>
              <a:t>即第</a:t>
            </a:r>
            <a:r>
              <a:rPr lang="en-US" altLang="zh-CN" dirty="0"/>
              <a:t>k</a:t>
            </a:r>
            <a:r>
              <a:rPr lang="zh-CN" altLang="en-US" dirty="0"/>
              <a:t>个</a:t>
            </a:r>
            <a:r>
              <a:rPr lang="en-US" altLang="zh-CN" dirty="0"/>
              <a:t>Catalan</a:t>
            </a:r>
            <a:r>
              <a:rPr lang="zh-CN" altLang="en-US" dirty="0"/>
              <a:t>数</a:t>
            </a:r>
            <a:endParaRPr lang="en-US" altLang="zh-CN" dirty="0"/>
          </a:p>
          <a:p>
            <a:pPr lvl="1"/>
            <a:r>
              <a:rPr lang="zh-CN" altLang="en-US" dirty="0"/>
              <a:t>对应到题中的</a:t>
            </a:r>
            <a:r>
              <a:rPr lang="en-US" altLang="zh-CN" dirty="0"/>
              <a:t>n</a:t>
            </a:r>
            <a:r>
              <a:rPr lang="zh-CN" altLang="en-US" dirty="0"/>
              <a:t>为</a:t>
            </a:r>
            <a:r>
              <a:rPr lang="en-US" altLang="zh-CN" dirty="0"/>
              <a:t>4</a:t>
            </a:r>
            <a:r>
              <a:rPr lang="zh-CN" altLang="en-US" dirty="0"/>
              <a:t>，则</a:t>
            </a:r>
            <a:endParaRPr lang="en-US" altLang="zh-CN" dirty="0"/>
          </a:p>
          <a:p>
            <a:pPr lvl="2"/>
            <a:r>
              <a:rPr lang="en-US" altLang="zh-CN" dirty="0"/>
              <a:t>=1/</a:t>
            </a:r>
            <a:r>
              <a:rPr lang="zh-CN" altLang="en-US" dirty="0"/>
              <a:t>（</a:t>
            </a:r>
            <a:r>
              <a:rPr lang="en-US" altLang="zh-CN" dirty="0"/>
              <a:t>n+1</a:t>
            </a:r>
            <a:r>
              <a:rPr lang="zh-CN" altLang="en-US" dirty="0"/>
              <a:t>）*</a:t>
            </a:r>
            <a:r>
              <a:rPr lang="en-US" altLang="zh-CN" dirty="0"/>
              <a:t>(2n)!/(n!*(2n-n)!)</a:t>
            </a:r>
          </a:p>
          <a:p>
            <a:pPr lvl="2"/>
            <a:r>
              <a:rPr lang="en-US" altLang="zh-CN" dirty="0"/>
              <a:t>=1/5</a:t>
            </a:r>
            <a:r>
              <a:rPr lang="zh-CN" altLang="en-US" dirty="0"/>
              <a:t>*（</a:t>
            </a:r>
            <a:r>
              <a:rPr lang="en-US" altLang="zh-CN" dirty="0"/>
              <a:t>8</a:t>
            </a:r>
            <a:r>
              <a:rPr lang="zh-CN" altLang="en-US" dirty="0"/>
              <a:t>！</a:t>
            </a:r>
            <a:r>
              <a:rPr lang="en-US" altLang="zh-CN" dirty="0"/>
              <a:t>/</a:t>
            </a: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！*</a:t>
            </a:r>
            <a:r>
              <a:rPr lang="en-US" altLang="zh-CN" dirty="0"/>
              <a:t>4</a:t>
            </a:r>
            <a:r>
              <a:rPr lang="zh-CN" altLang="en-US" dirty="0"/>
              <a:t>！）））</a:t>
            </a:r>
            <a:endParaRPr lang="en-US" altLang="zh-CN" dirty="0"/>
          </a:p>
          <a:p>
            <a:pPr lvl="2"/>
            <a:r>
              <a:rPr lang="en-US" altLang="zh-CN" dirty="0"/>
              <a:t>=14</a:t>
            </a:r>
            <a:endParaRPr lang="zh-CN" altLang="en-US" dirty="0"/>
          </a:p>
        </p:txBody>
      </p:sp>
      <p:sp>
        <p:nvSpPr>
          <p:cNvPr id="12902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itchFamily="18" charset="0"/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204864"/>
            <a:ext cx="2398205" cy="943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105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5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5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5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5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5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5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5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5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4" y="764704"/>
            <a:ext cx="7272808" cy="525658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2800" dirty="0"/>
              <a:t>3. </a:t>
            </a:r>
            <a:r>
              <a:rPr lang="zh-CN" altLang="en-US" sz="2800" dirty="0"/>
              <a:t>若一棵完全二叉树有</a:t>
            </a:r>
            <a:r>
              <a:rPr lang="en-US" altLang="zh-CN" sz="2800" dirty="0"/>
              <a:t>768</a:t>
            </a:r>
            <a:r>
              <a:rPr lang="zh-CN" altLang="en-US" sz="2800" dirty="0"/>
              <a:t>个结点，则该二叉树中叶结点的个数是</a:t>
            </a:r>
          </a:p>
          <a:p>
            <a:pPr lvl="1" eaLnBrk="1" hangingPunct="1"/>
            <a:r>
              <a:rPr lang="en-US" altLang="zh-CN" sz="2800" dirty="0"/>
              <a:t>A.257          B.258          </a:t>
            </a:r>
          </a:p>
          <a:p>
            <a:pPr lvl="1" eaLnBrk="1" hangingPunct="1"/>
            <a:r>
              <a:rPr lang="en-US" altLang="zh-CN" sz="2800" dirty="0"/>
              <a:t>C.384          D.385</a:t>
            </a:r>
          </a:p>
          <a:p>
            <a:r>
              <a:rPr lang="en-US" altLang="zh-CN" sz="2800" dirty="0"/>
              <a:t>4. </a:t>
            </a:r>
            <a:r>
              <a:rPr lang="zh-CN" altLang="en-US" sz="2800" dirty="0"/>
              <a:t>已知一棵有</a:t>
            </a:r>
            <a:r>
              <a:rPr lang="en-US" altLang="zh-CN" sz="2800" dirty="0"/>
              <a:t>2011</a:t>
            </a:r>
            <a:r>
              <a:rPr lang="zh-CN" altLang="en-US" sz="2800" dirty="0"/>
              <a:t>个结点的树，其叶结点个数为</a:t>
            </a:r>
            <a:r>
              <a:rPr lang="en-US" altLang="zh-CN" sz="2800" dirty="0"/>
              <a:t>116</a:t>
            </a:r>
            <a:r>
              <a:rPr lang="zh-CN" altLang="en-US" sz="2800" dirty="0"/>
              <a:t>，该树用二叉树表示时无右孩子的结点个数是</a:t>
            </a:r>
          </a:p>
          <a:p>
            <a:pPr lvl="1"/>
            <a:r>
              <a:rPr lang="en-US" altLang="zh-CN" sz="2800" dirty="0"/>
              <a:t>A.115          B.116</a:t>
            </a:r>
          </a:p>
          <a:p>
            <a:pPr lvl="1"/>
            <a:r>
              <a:rPr lang="en-US" altLang="zh-CN" sz="2800" dirty="0"/>
              <a:t>C.1895        D.1896</a:t>
            </a:r>
          </a:p>
        </p:txBody>
      </p:sp>
    </p:spTree>
    <p:extLst>
      <p:ext uri="{BB962C8B-B14F-4D97-AF65-F5344CB8AC3E}">
        <p14:creationId xmlns:p14="http://schemas.microsoft.com/office/powerpoint/2010/main" val="2624114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奥斯汀">
  <a:themeElements>
    <a:clrScheme name="奥斯汀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276</TotalTime>
  <Words>500</Words>
  <Application>Microsoft Office PowerPoint</Application>
  <PresentationFormat>全屏显示(4:3)</PresentationFormat>
  <Paragraphs>38</Paragraphs>
  <Slides>4</Slides>
  <Notes>3</Notes>
  <HiddenSlides>1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Calibri</vt:lpstr>
      <vt:lpstr>Century Gothic</vt:lpstr>
      <vt:lpstr>Symbol</vt:lpstr>
      <vt:lpstr>Times New Roman</vt:lpstr>
      <vt:lpstr>Wingdings 2</vt:lpstr>
      <vt:lpstr>奥斯汀</vt:lpstr>
      <vt:lpstr>辅助练习</vt:lpstr>
      <vt:lpstr>PowerPoint 演示文稿</vt:lpstr>
      <vt:lpstr>PowerPoint 演示文稿</vt:lpstr>
      <vt:lpstr>PowerPoint 演示文稿</vt:lpstr>
    </vt:vector>
  </TitlesOfParts>
  <Company>复旦大学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课堂练习</dc:title>
  <dc:creator>admin</dc:creator>
  <cp:lastModifiedBy>天天向上</cp:lastModifiedBy>
  <cp:revision>13</cp:revision>
  <dcterms:created xsi:type="dcterms:W3CDTF">2015-10-05T10:01:47Z</dcterms:created>
  <dcterms:modified xsi:type="dcterms:W3CDTF">2025-10-27T13:56:32Z</dcterms:modified>
</cp:coreProperties>
</file>