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63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227" autoAdjust="0"/>
  </p:normalViewPr>
  <p:slideViewPr>
    <p:cSldViewPr>
      <p:cViewPr varScale="1">
        <p:scale>
          <a:sx n="66" d="100"/>
          <a:sy n="66" d="100"/>
        </p:scale>
        <p:origin x="1661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-1020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B86BE-8866-4A97-BBB1-925D43846CCE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305FF-3D72-4EC9-98FA-84C602067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78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6305FF-3D72-4EC9-98FA-84C6020678E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280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dirty="0"/>
              <a:t>答案：</a:t>
            </a:r>
            <a:endParaRPr lang="en-US" altLang="zh-CN" dirty="0"/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600+</a:t>
            </a:r>
            <a:r>
              <a:rPr lang="zh-CN" altLang="en-US" dirty="0"/>
              <a:t>（</a:t>
            </a:r>
            <a:r>
              <a:rPr lang="en-US" altLang="zh-CN" dirty="0"/>
              <a:t>1+7</a:t>
            </a:r>
            <a:r>
              <a:rPr lang="zh-CN" altLang="en-US" dirty="0"/>
              <a:t>）</a:t>
            </a:r>
            <a:r>
              <a:rPr lang="en-US" altLang="zh-CN" dirty="0"/>
              <a:t>/2*7+5=633</a:t>
            </a:r>
            <a:r>
              <a:rPr lang="zh-CN" altLang="en-US" dirty="0"/>
              <a:t>，所以答案为</a:t>
            </a:r>
            <a:r>
              <a:rPr lang="en-US" altLang="zh-CN" dirty="0"/>
              <a:t>A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endParaRPr lang="en-US" altLang="zh-CN" dirty="0"/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/>
              <a:t>D</a:t>
            </a:r>
            <a:endParaRPr lang="en-US" altLang="zh-CN" dirty="0"/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747EF-9D0B-4EBB-9A95-81F096A9A21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#include 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iostream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&gt;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using namespace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std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#define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100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template&lt;class Type&gt; class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; 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//</a:t>
            </a:r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稀疏矩阵类的前向引用声明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template &lt;class Type&gt; class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Trituple</a:t>
            </a:r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{  //</a:t>
            </a:r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三元组类定义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      friend class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public:</a:t>
            </a:r>
          </a:p>
          <a:p>
            <a:r>
              <a:rPr lang="en-US" altLang="zh-CN" sz="1100" baseline="0" dirty="0">
                <a:latin typeface="Times New Roman" pitchFamily="18" charset="0"/>
                <a:ea typeface="宋体" pitchFamily="2" charset="-122"/>
              </a:rPr>
              <a:t>      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Trituple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(){};</a:t>
            </a:r>
          </a:p>
          <a:p>
            <a:r>
              <a:rPr lang="en-US" altLang="zh-CN" sz="1100" baseline="0" dirty="0"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void Set(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r,int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c,Type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d){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row = r;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col = c;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data = d;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      }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private: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row, col;  //</a:t>
            </a:r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非零元素的行号与列号</a:t>
            </a:r>
          </a:p>
          <a:p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Type data;  //</a:t>
            </a:r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非零元素的值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};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template &lt;class Type&gt; class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{ 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//</a:t>
            </a:r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稀疏矩阵类定义</a:t>
            </a:r>
          </a:p>
          <a:p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public: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      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MaxRow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MaxCol,Trituple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],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nzt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       //</a:t>
            </a:r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构造函数：建立一个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MaxRow</a:t>
            </a:r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行与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MaxCol</a:t>
            </a:r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列的稀疏矩阵</a:t>
            </a:r>
          </a:p>
          <a:p>
            <a:r>
              <a:rPr lang="zh-CN" altLang="en-US" sz="1100" dirty="0">
                <a:latin typeface="Times New Roman" pitchFamily="18" charset="0"/>
                <a:ea typeface="宋体" pitchFamily="2" charset="-122"/>
              </a:rPr>
              <a:t>       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&lt;Type&gt;*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Mat_Add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 b);</a:t>
            </a:r>
          </a:p>
          <a:p>
            <a:r>
              <a:rPr lang="en-US" altLang="zh-CN" sz="1100" baseline="0" dirty="0">
                <a:latin typeface="Times New Roman" pitchFamily="18" charset="0"/>
                <a:ea typeface="宋体" pitchFamily="2" charset="-122"/>
              </a:rPr>
              <a:t>        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void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Mat_out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();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    private: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       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Rows, Cols,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NonZero_Terms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       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Trituple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};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template &lt;class Type&gt; void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 ::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Mat_out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()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{  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for(int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=0;i&lt;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NonZero_Terms;i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++)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cout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&lt;&lt;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endl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>
                <a:latin typeface="Times New Roman" pitchFamily="18" charset="0"/>
                <a:ea typeface="+mn-ea"/>
              </a:rPr>
              <a:t>&lt;&lt;"M["&lt;&lt;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].row </a:t>
            </a:r>
            <a:r>
              <a:rPr lang="en-US" altLang="zh-CN" sz="1100" dirty="0">
                <a:latin typeface="Times New Roman" pitchFamily="18" charset="0"/>
                <a:ea typeface="+mn-ea"/>
              </a:rPr>
              <a:t>&lt;&lt;"]["&lt;&lt;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].col </a:t>
            </a:r>
            <a:r>
              <a:rPr lang="en-US" altLang="zh-CN" sz="1100" dirty="0">
                <a:latin typeface="Times New Roman" pitchFamily="18" charset="0"/>
                <a:ea typeface="+mn-ea"/>
              </a:rPr>
              <a:t>&lt;&lt;"]="&lt;&lt;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].data;</a:t>
            </a:r>
          </a:p>
          <a:p>
            <a:r>
              <a:rPr lang="en-US" altLang="zh-CN" sz="1100" dirty="0">
                <a:latin typeface="Times New Roman" pitchFamily="18" charset="0"/>
                <a:ea typeface="+mn-ea"/>
              </a:rPr>
              <a:t>	</a:t>
            </a:r>
            <a:r>
              <a:rPr lang="en-US" altLang="zh-CN" sz="1100" dirty="0" err="1">
                <a:latin typeface="Times New Roman" pitchFamily="18" charset="0"/>
                <a:ea typeface="+mn-ea"/>
              </a:rPr>
              <a:t>cout</a:t>
            </a:r>
            <a:r>
              <a:rPr lang="en-US" altLang="zh-CN" sz="1100" dirty="0">
                <a:latin typeface="Times New Roman" pitchFamily="18" charset="0"/>
                <a:ea typeface="+mn-ea"/>
              </a:rPr>
              <a:t> &lt;&lt; </a:t>
            </a:r>
            <a:r>
              <a:rPr lang="en-US" altLang="zh-CN" sz="1100" dirty="0" err="1">
                <a:latin typeface="Times New Roman" pitchFamily="18" charset="0"/>
                <a:ea typeface="+mn-ea"/>
              </a:rPr>
              <a:t>endl</a:t>
            </a:r>
            <a:r>
              <a:rPr lang="en-US" altLang="zh-CN" sz="1100" dirty="0">
                <a:latin typeface="Times New Roman" pitchFamily="18" charset="0"/>
                <a:ea typeface="+mn-ea"/>
              </a:rPr>
              <a:t>;</a:t>
            </a:r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}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template &lt;class Type&gt;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 ::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MaxRow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MaxCol,Trituple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],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nzt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)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{  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for(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=0;i&lt;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nzt;i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++)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]=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Rows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MaxRow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Cols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MaxCol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NonZero_Terms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nzt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}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template &lt;class Type&gt;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&lt;Type&gt;*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 ::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Mat_Add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 b)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{  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 *c=new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&lt;Type&gt;(Rows,Cols,SMArray,0);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=0, j=0,k=0;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while((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NonZero_Terms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)&amp;&amp;(j&lt;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b.NonZero_Terms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)){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if((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].row&lt;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[j].row)||((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].row==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[j].row)&amp;&amp;(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].col&lt;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[j].col))) {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[k].row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].row;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[k].col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].col;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[k].data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].data;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k++;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++;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}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else if((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].row==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[j].row)&amp;&amp;(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].col==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[j].col)) {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[k].row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].row;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[k].col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].col;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[k].data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].data +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[j].data;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if(c-&gt;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[k].data!=0) k++;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++;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j++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}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else{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[k].row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[j].row;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[k].col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[j].col;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[k].data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[j].data;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k++;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j++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}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}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while(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NonZero_Terms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){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[k].row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].row;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[k].col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].col;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[k].data =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].data;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k++;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++;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}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while(j&lt;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b.NonZero_Terms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){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[k].row = </a:t>
            </a:r>
            <a:r>
              <a:rPr lang="en-US" altLang="zh-CN" sz="1100" dirty="0" err="1">
                <a:latin typeface="Times New Roman" pitchFamily="18" charset="0"/>
                <a:ea typeface="+mn-ea"/>
              </a:rPr>
              <a:t>b.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[j].row;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[k].col = </a:t>
            </a:r>
            <a:r>
              <a:rPr lang="en-US" altLang="zh-CN" sz="1100" dirty="0" err="1">
                <a:latin typeface="Times New Roman" pitchFamily="18" charset="0"/>
                <a:ea typeface="+mn-ea"/>
              </a:rPr>
              <a:t>b.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[j].col;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[k].data = </a:t>
            </a:r>
            <a:r>
              <a:rPr lang="en-US" altLang="zh-CN" sz="1100" dirty="0" err="1">
                <a:latin typeface="Times New Roman" pitchFamily="18" charset="0"/>
                <a:ea typeface="+mn-ea"/>
              </a:rPr>
              <a:t>b.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SMArray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[j].data;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k++;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j++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}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NonZero_Terms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= k;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   return c;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}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main(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argc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, char* 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argv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[]) {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Trituple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&gt; x[3], y[3];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x[0].Set(1,2,3);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x[1].Set(2,2,1);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x[2].Set(3,3,1);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y[0].Set(2,2,7);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y[1].Set(2,3,3);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y[2].Set(3,3,9);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&gt; a(10,20,x,3),b(10,20,y,3),*c;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c=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a.Mat_Add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(b);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c-&gt;</a:t>
            </a:r>
            <a:r>
              <a:rPr lang="en-US" altLang="zh-CN" sz="1100" dirty="0" err="1">
                <a:latin typeface="Times New Roman" pitchFamily="18" charset="0"/>
                <a:ea typeface="宋体" pitchFamily="2" charset="-122"/>
              </a:rPr>
              <a:t>Mat_out</a:t>
            </a:r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 ();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delete c;</a:t>
            </a:r>
          </a:p>
          <a:p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	return 0;</a:t>
            </a:r>
          </a:p>
          <a:p>
            <a:r>
              <a:rPr lang="en-US" altLang="zh-CN" sz="1100" dirty="0">
                <a:latin typeface="Times New Roman" pitchFamily="18" charset="0"/>
                <a:ea typeface="宋体" pitchFamily="2" charset="-122"/>
              </a:rPr>
              <a:t>}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6305FF-3D72-4EC9-98FA-84C6020678E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957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B85E97A9-CBFA-420C-BB18-0AE60C2439E8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87E2843-6C85-4FF3-A2BC-F5C2A7C290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辅助练习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2947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692696"/>
            <a:ext cx="8147248" cy="5832648"/>
          </a:xfrm>
        </p:spPr>
        <p:txBody>
          <a:bodyPr>
            <a:normAutofit/>
          </a:bodyPr>
          <a:lstStyle/>
          <a:p>
            <a:r>
              <a:rPr lang="zh-CN" altLang="en-US" dirty="0"/>
              <a:t>设有一个</a:t>
            </a:r>
            <a:r>
              <a:rPr lang="en-US" altLang="zh-CN" dirty="0"/>
              <a:t>10</a:t>
            </a:r>
            <a:r>
              <a:rPr lang="zh-CN" altLang="en-US" dirty="0"/>
              <a:t>阶的下三角矩阵</a:t>
            </a:r>
            <a:r>
              <a:rPr lang="en-US" altLang="zh-CN" dirty="0"/>
              <a:t>A</a:t>
            </a:r>
            <a:r>
              <a:rPr lang="zh-CN" altLang="en-US" dirty="0"/>
              <a:t>，采用行优先压缩存储方式，</a:t>
            </a:r>
            <a:r>
              <a:rPr lang="en-US" altLang="zh-CN" dirty="0"/>
              <a:t>a</a:t>
            </a:r>
            <a:r>
              <a:rPr lang="en-US" altLang="zh-CN" baseline="-25000" dirty="0"/>
              <a:t>11</a:t>
            </a:r>
            <a:r>
              <a:rPr lang="zh-CN" altLang="en-US" dirty="0"/>
              <a:t>为第一个元素，其存储地址为</a:t>
            </a:r>
            <a:r>
              <a:rPr lang="en-US" altLang="zh-CN" dirty="0"/>
              <a:t>600</a:t>
            </a:r>
            <a:r>
              <a:rPr lang="zh-CN" altLang="en-US" dirty="0"/>
              <a:t>，每个元素占一个地址单元，则</a:t>
            </a:r>
            <a:r>
              <a:rPr lang="en-US" altLang="zh-CN" dirty="0"/>
              <a:t>a</a:t>
            </a:r>
            <a:r>
              <a:rPr lang="en-US" altLang="zh-CN" baseline="-25000" dirty="0"/>
              <a:t>86</a:t>
            </a:r>
            <a:r>
              <a:rPr lang="zh-CN" altLang="en-US" dirty="0"/>
              <a:t>的地址为    （  ）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．</a:t>
            </a:r>
            <a:r>
              <a:rPr lang="en-US" altLang="zh-CN" dirty="0"/>
              <a:t>633    	B</a:t>
            </a:r>
            <a:r>
              <a:rPr lang="zh-CN" altLang="en-US" dirty="0"/>
              <a:t>．</a:t>
            </a:r>
            <a:r>
              <a:rPr lang="en-US" altLang="zh-CN" dirty="0"/>
              <a:t>618</a:t>
            </a:r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．</a:t>
            </a:r>
            <a:r>
              <a:rPr lang="en-US" altLang="zh-CN" dirty="0"/>
              <a:t>613    	D</a:t>
            </a:r>
            <a:r>
              <a:rPr lang="zh-CN" altLang="en-US" dirty="0"/>
              <a:t>．</a:t>
            </a:r>
            <a:r>
              <a:rPr lang="en-US" altLang="zh-CN" dirty="0"/>
              <a:t>639</a:t>
            </a:r>
          </a:p>
          <a:p>
            <a:endParaRPr lang="en-US" altLang="zh-CN" dirty="0"/>
          </a:p>
          <a:p>
            <a:r>
              <a:rPr lang="zh-CN" altLang="en-US" sz="2800" dirty="0"/>
              <a:t> 数组元素</a:t>
            </a:r>
            <a:r>
              <a:rPr lang="en-US" altLang="zh-CN" sz="2800" dirty="0"/>
              <a:t>a[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</a:t>
            </a:r>
            <a:r>
              <a:rPr lang="zh-CN" altLang="en-US" sz="2800" dirty="0"/>
              <a:t>与（ ）的表示等价。</a:t>
            </a:r>
          </a:p>
          <a:p>
            <a:pPr lvl="1"/>
            <a:r>
              <a:rPr lang="en-US" altLang="zh-CN" dirty="0"/>
              <a:t>A  </a:t>
            </a:r>
            <a:r>
              <a:rPr lang="en-US" altLang="zh-CN" dirty="0" err="1"/>
              <a:t>a+i</a:t>
            </a:r>
            <a:r>
              <a:rPr lang="zh-CN" altLang="en-US" dirty="0"/>
              <a:t>         </a:t>
            </a:r>
            <a:r>
              <a:rPr lang="en-US" altLang="zh-CN" dirty="0"/>
              <a:t>B  &amp;a[0]+</a:t>
            </a:r>
            <a:r>
              <a:rPr lang="en-US" altLang="zh-CN" dirty="0" err="1"/>
              <a:t>i</a:t>
            </a:r>
            <a:r>
              <a:rPr lang="en-US" altLang="zh-CN" dirty="0"/>
              <a:t>           C  *</a:t>
            </a:r>
            <a:r>
              <a:rPr lang="en-US" altLang="zh-CN" dirty="0" err="1"/>
              <a:t>a+i</a:t>
            </a:r>
            <a:r>
              <a:rPr lang="en-US" altLang="zh-CN" dirty="0"/>
              <a:t>	 D  </a:t>
            </a:r>
            <a:r>
              <a:rPr lang="zh-CN" altLang="en-US" dirty="0"/>
              <a:t>*</a:t>
            </a:r>
            <a:r>
              <a:rPr lang="en-US" altLang="zh-CN" dirty="0"/>
              <a:t>(</a:t>
            </a:r>
            <a:r>
              <a:rPr lang="en-US" altLang="zh-CN" dirty="0" err="1"/>
              <a:t>a+i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9274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764704"/>
            <a:ext cx="6921217" cy="5067925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为</a:t>
            </a:r>
            <a:r>
              <a:rPr lang="en-US" altLang="zh-CN" dirty="0"/>
              <a:t>template &lt;class Type&gt; class </a:t>
            </a:r>
            <a:r>
              <a:rPr lang="en-US" altLang="zh-CN" dirty="0" err="1"/>
              <a:t>SparseMatrix</a:t>
            </a:r>
            <a:r>
              <a:rPr lang="zh-CN" altLang="en-US" dirty="0"/>
              <a:t>增加一个实现同阶稀疏矩阵加法的方法，方法的声明如下：</a:t>
            </a:r>
          </a:p>
          <a:p>
            <a:pPr lvl="1"/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2400" dirty="0">
                <a:latin typeface="Times New Roman" pitchFamily="18" charset="0"/>
                <a:ea typeface="宋体" pitchFamily="2" charset="-122"/>
              </a:rPr>
              <a:t> &lt;Type&gt;* 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Mat_Add</a:t>
            </a:r>
            <a:r>
              <a:rPr lang="en-US" altLang="zh-CN" sz="2400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sz="2400" dirty="0">
                <a:latin typeface="Times New Roman" pitchFamily="18" charset="0"/>
                <a:ea typeface="宋体" pitchFamily="2" charset="-122"/>
              </a:rPr>
              <a:t> &lt;Type&gt; b);</a:t>
            </a:r>
          </a:p>
          <a:p>
            <a:pPr lvl="1"/>
            <a:r>
              <a:rPr lang="zh-CN" altLang="en-US" dirty="0"/>
              <a:t>功能是把矩阵</a:t>
            </a:r>
            <a:r>
              <a:rPr lang="en-US" altLang="zh-CN" dirty="0"/>
              <a:t>b</a:t>
            </a:r>
            <a:r>
              <a:rPr lang="zh-CN" altLang="en-US" dirty="0"/>
              <a:t>与当前矩阵相加，然后把新的矩阵返回。</a:t>
            </a:r>
            <a:endParaRPr lang="en-US" altLang="zh-CN" dirty="0"/>
          </a:p>
          <a:p>
            <a:r>
              <a:rPr lang="zh-CN" altLang="en-US" dirty="0"/>
              <a:t>提示</a:t>
            </a:r>
            <a:endParaRPr lang="en-US" altLang="zh-CN" dirty="0"/>
          </a:p>
          <a:p>
            <a:pPr lvl="1"/>
            <a:r>
              <a:rPr lang="zh-CN" altLang="en-US" dirty="0"/>
              <a:t>先用小例子，例如</a:t>
            </a:r>
            <a:r>
              <a:rPr lang="en-US" altLang="zh-CN" dirty="0"/>
              <a:t>2x2</a:t>
            </a:r>
            <a:r>
              <a:rPr lang="zh-CN" altLang="en-US" dirty="0"/>
              <a:t>矩阵的稀疏矩阵的加法为例，理清思路再写程序。</a:t>
            </a:r>
          </a:p>
          <a:p>
            <a:pPr marL="617220" lvl="2"/>
            <a:r>
              <a:rPr lang="zh-CN" altLang="en-US" dirty="0"/>
              <a:t>在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Mat_Add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SparseMatrix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&lt;Type&gt; b)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中要创建一个新的矩阵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，然后把当前矩阵加上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后放到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中，不能直接把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直接加入当前矩阵中，否则一方面当前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矩阵中可能空间不够，另一方面当前矩阵中的元素需要移动为新的元素腾空间，增加了计算复杂度。</a:t>
            </a:r>
            <a:endParaRPr lang="en-US" altLang="zh-CN" dirty="0">
              <a:latin typeface="Times New Roman" pitchFamily="18" charset="0"/>
              <a:ea typeface="宋体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17997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483</TotalTime>
  <Words>1285</Words>
  <Application>Microsoft Office PowerPoint</Application>
  <PresentationFormat>全屏显示(4:3)</PresentationFormat>
  <Paragraphs>141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Calibri</vt:lpstr>
      <vt:lpstr>Century Gothic</vt:lpstr>
      <vt:lpstr>Times New Roman</vt:lpstr>
      <vt:lpstr>Wingdings 2</vt:lpstr>
      <vt:lpstr>奥斯汀</vt:lpstr>
      <vt:lpstr>辅助练习</vt:lpstr>
      <vt:lpstr>PowerPoint 演示文稿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课堂练习</dc:title>
  <dc:creator>admin</dc:creator>
  <cp:lastModifiedBy>天天向上</cp:lastModifiedBy>
  <cp:revision>17</cp:revision>
  <dcterms:created xsi:type="dcterms:W3CDTF">2015-09-05T11:11:07Z</dcterms:created>
  <dcterms:modified xsi:type="dcterms:W3CDTF">2025-10-05T10:37:10Z</dcterms:modified>
</cp:coreProperties>
</file>