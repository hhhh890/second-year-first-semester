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64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350" autoAdjust="0"/>
  </p:normalViewPr>
  <p:slideViewPr>
    <p:cSldViewPr>
      <p:cViewPr varScale="1">
        <p:scale>
          <a:sx n="62" d="100"/>
          <a:sy n="62" d="100"/>
        </p:scale>
        <p:origin x="1781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D632C-F4CD-4E46-9139-ADD05FA92C14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F357B-3A1E-483A-8916-85A28439F4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517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F357B-3A1E-483A-8916-85A28439F4B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21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4310">
              <a:defRPr/>
            </a:pPr>
            <a:r>
              <a:rPr lang="zh-CN" altLang="en-US" dirty="0"/>
              <a:t>答：</a:t>
            </a:r>
            <a:r>
              <a:rPr lang="en-US" altLang="zh-CN" dirty="0"/>
              <a:t>c</a:t>
            </a:r>
            <a:endParaRPr lang="zh-CN" altLang="en-US" dirty="0"/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dirty="0"/>
              <a:t>答：</a:t>
            </a:r>
            <a:r>
              <a:rPr lang="en-US" altLang="zh-CN" dirty="0"/>
              <a:t>c</a:t>
            </a:r>
            <a:endParaRPr lang="zh-CN" altLang="en-US" dirty="0"/>
          </a:p>
          <a:p>
            <a:endParaRPr lang="en-US" altLang="zh-CN" dirty="0"/>
          </a:p>
          <a:p>
            <a:pPr defTabSz="844083">
              <a:defRPr/>
            </a:pPr>
            <a:r>
              <a:rPr lang="zh-CN" altLang="en-US" dirty="0"/>
              <a:t>第一题的说明：如果是</a:t>
            </a:r>
            <a:r>
              <a:rPr lang="en-US" altLang="zh-CN" dirty="0" err="1"/>
              <a:t>bruteForce</a:t>
            </a:r>
            <a:r>
              <a:rPr lang="zh-CN" altLang="en-US" dirty="0"/>
              <a:t>方法，显然结果是</a:t>
            </a:r>
            <a:r>
              <a:rPr lang="en-US" altLang="zh-CN" dirty="0"/>
              <a:t>c</a:t>
            </a:r>
            <a:r>
              <a:rPr lang="zh-CN" altLang="en-US" dirty="0"/>
              <a:t>，如果是</a:t>
            </a:r>
            <a:r>
              <a:rPr lang="en-US" altLang="zh-CN" dirty="0"/>
              <a:t>KMP</a:t>
            </a:r>
            <a:r>
              <a:rPr lang="zh-CN" altLang="en-US" dirty="0"/>
              <a:t>，则分析最坏情况应该是类似于以下的情况：</a:t>
            </a:r>
            <a:endParaRPr lang="en-US" altLang="zh-CN" dirty="0"/>
          </a:p>
          <a:p>
            <a:pPr defTabSz="844083">
              <a:defRPr/>
            </a:pPr>
            <a:r>
              <a:rPr lang="zh-CN" altLang="en-US" dirty="0"/>
              <a:t>目标串：</a:t>
            </a:r>
            <a:r>
              <a:rPr lang="en-US" altLang="zh-CN" dirty="0" err="1"/>
              <a:t>aaabaaabaaab</a:t>
            </a:r>
            <a:endParaRPr lang="en-US" altLang="zh-CN" dirty="0"/>
          </a:p>
          <a:p>
            <a:pPr defTabSz="844083">
              <a:defRPr/>
            </a:pPr>
            <a:r>
              <a:rPr lang="zh-CN" altLang="en-US" dirty="0"/>
              <a:t>模式串：</a:t>
            </a:r>
            <a:r>
              <a:rPr lang="en-US" altLang="zh-CN" dirty="0" err="1"/>
              <a:t>aaaa</a:t>
            </a:r>
            <a:endParaRPr lang="en-US" altLang="zh-CN" dirty="0"/>
          </a:p>
          <a:p>
            <a:pPr defTabSz="844083">
              <a:defRPr/>
            </a:pPr>
            <a:r>
              <a:rPr lang="zh-CN" altLang="en-US" dirty="0"/>
              <a:t>这样每次匹配到目标串中的</a:t>
            </a:r>
            <a:r>
              <a:rPr lang="en-US" altLang="zh-CN" dirty="0"/>
              <a:t>b</a:t>
            </a:r>
            <a:r>
              <a:rPr lang="zh-CN" altLang="en-US" dirty="0"/>
              <a:t>的时候就要逐个回退模式串中位置，共回退（</a:t>
            </a:r>
            <a:r>
              <a:rPr lang="en-US" altLang="zh-CN" dirty="0"/>
              <a:t>n/3-1)</a:t>
            </a:r>
            <a:r>
              <a:rPr lang="zh-CN" altLang="en-US" dirty="0"/>
              <a:t>次，最后目标串位置左移一位开始下一轮从头开始的匹配，这种情况共发生（</a:t>
            </a:r>
            <a:r>
              <a:rPr lang="en-US" altLang="zh-CN" dirty="0"/>
              <a:t>n/(n/3))=3</a:t>
            </a:r>
            <a:r>
              <a:rPr lang="zh-CN" altLang="en-US" dirty="0"/>
              <a:t>次，所以时间为</a:t>
            </a:r>
            <a:r>
              <a:rPr lang="en-US" altLang="zh-CN" dirty="0"/>
              <a:t>3*</a:t>
            </a:r>
            <a:r>
              <a:rPr lang="zh-CN" altLang="en-US" dirty="0"/>
              <a:t>（</a:t>
            </a:r>
            <a:r>
              <a:rPr lang="en-US" altLang="zh-CN" dirty="0"/>
              <a:t>n/3-1)=O(n) 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747EF-9D0B-4EBB-9A95-81F096A9A21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判断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是否互为旋转词。当</a:t>
            </a:r>
            <a:r>
              <a:rPr lang="en-US" altLang="zh-CN" dirty="0"/>
              <a:t>a</a:t>
            </a:r>
            <a:r>
              <a:rPr lang="zh-CN" altLang="en-US" dirty="0"/>
              <a:t>的任意前缀移到</a:t>
            </a:r>
            <a:r>
              <a:rPr lang="en-US" altLang="zh-CN" dirty="0"/>
              <a:t>a</a:t>
            </a:r>
            <a:r>
              <a:rPr lang="zh-CN" altLang="en-US" dirty="0"/>
              <a:t>的后面成为其后缀形成的串称为</a:t>
            </a:r>
            <a:r>
              <a:rPr lang="en-US" altLang="zh-CN" dirty="0"/>
              <a:t>a</a:t>
            </a:r>
            <a:r>
              <a:rPr lang="zh-CN" altLang="en-US" dirty="0"/>
              <a:t>的旋转词。例如“</a:t>
            </a:r>
            <a:r>
              <a:rPr lang="en-US" altLang="zh-CN" dirty="0" err="1"/>
              <a:t>abcd</a:t>
            </a:r>
            <a:r>
              <a:rPr lang="zh-CN" altLang="en-US" dirty="0"/>
              <a:t>”和“</a:t>
            </a:r>
            <a:r>
              <a:rPr lang="en-US" altLang="zh-CN" dirty="0" err="1"/>
              <a:t>cdab</a:t>
            </a:r>
            <a:r>
              <a:rPr lang="zh-CN" altLang="en-US"/>
              <a:t>”互为旋转词。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F357B-3A1E-483A-8916-85A28439F4B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511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答：</a:t>
            </a:r>
            <a:endParaRPr lang="en-US" altLang="zh-CN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1. D</a:t>
            </a:r>
            <a:r>
              <a:rPr lang="zh-CN" altLang="en-US" dirty="0"/>
              <a:t>，</a:t>
            </a:r>
            <a:r>
              <a:rPr lang="en-US" altLang="zh-CN" dirty="0"/>
              <a:t>A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en-US" altLang="zh-CN" dirty="0"/>
              <a:t>Head(Head(Head(Tail(Tail(L</a:t>
            </a:r>
            <a:r>
              <a:rPr lang="en-US" altLang="zh-CN" baseline="-25000" dirty="0"/>
              <a:t>1</a:t>
            </a:r>
            <a:r>
              <a:rPr lang="en-US" altLang="zh-CN" dirty="0"/>
              <a:t>)))));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(2) Head(Head(Head(Tail(Head(Tail(L</a:t>
            </a:r>
            <a:r>
              <a:rPr lang="en-US" altLang="zh-CN" baseline="-25000" dirty="0"/>
              <a:t>2</a:t>
            </a:r>
            <a:r>
              <a:rPr lang="en-US" altLang="zh-CN" dirty="0"/>
              <a:t> ))))));</a:t>
            </a: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747EF-9D0B-4EBB-9A95-81F096A9A21C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050E858C-0302-4A0E-AEAF-150ECA0BCCF0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8FF8DAA-E60B-4E77-92D4-F29267DCA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辅助练习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0529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764704"/>
            <a:ext cx="6921217" cy="5067925"/>
          </a:xfrm>
        </p:spPr>
        <p:txBody>
          <a:bodyPr>
            <a:normAutofit/>
          </a:bodyPr>
          <a:lstStyle/>
          <a:p>
            <a:r>
              <a:rPr lang="zh-CN" altLang="en-US" dirty="0"/>
              <a:t>若目标串的长度为</a:t>
            </a:r>
            <a:r>
              <a:rPr lang="en-US" altLang="zh-CN" dirty="0"/>
              <a:t>n</a:t>
            </a:r>
            <a:r>
              <a:rPr lang="zh-CN" altLang="en-US" dirty="0"/>
              <a:t>，模式串的长度为</a:t>
            </a:r>
            <a:r>
              <a:rPr lang="en-US" altLang="zh-CN" dirty="0"/>
              <a:t>[n/3]</a:t>
            </a:r>
            <a:r>
              <a:rPr lang="zh-CN" altLang="en-US" dirty="0"/>
              <a:t>，则执行</a:t>
            </a:r>
            <a:r>
              <a:rPr lang="en-US" altLang="zh-CN" dirty="0"/>
              <a:t>brute-force</a:t>
            </a:r>
            <a:r>
              <a:rPr lang="zh-CN" altLang="en-US" dirty="0"/>
              <a:t>模式匹配算法时，在最坏情况下的时间复杂度是（ ）</a:t>
            </a:r>
          </a:p>
          <a:p>
            <a:pPr lvl="1"/>
            <a:r>
              <a:rPr lang="en-US" altLang="zh-CN" dirty="0"/>
              <a:t>A.   O(n/3)</a:t>
            </a:r>
            <a:r>
              <a:rPr lang="zh-CN" altLang="en-US" dirty="0"/>
              <a:t>    </a:t>
            </a:r>
            <a:r>
              <a:rPr lang="en-US" altLang="zh-CN" dirty="0"/>
              <a:t>B.    O(n)   </a:t>
            </a:r>
            <a:r>
              <a:rPr lang="zh-CN" altLang="en-US" dirty="0"/>
              <a:t> </a:t>
            </a:r>
            <a:r>
              <a:rPr lang="en-US" altLang="zh-CN" dirty="0"/>
              <a:t>C.   O(n</a:t>
            </a:r>
            <a:r>
              <a:rPr lang="en-US" altLang="zh-CN" baseline="30000" dirty="0"/>
              <a:t>2</a:t>
            </a:r>
            <a:r>
              <a:rPr lang="en-US" altLang="zh-CN" dirty="0"/>
              <a:t>)   </a:t>
            </a:r>
            <a:r>
              <a:rPr lang="zh-CN" altLang="en-US" dirty="0"/>
              <a:t> </a:t>
            </a:r>
            <a:r>
              <a:rPr lang="en-US" altLang="zh-CN" dirty="0"/>
              <a:t>D. O(n</a:t>
            </a:r>
            <a:r>
              <a:rPr lang="en-US" altLang="zh-CN" baseline="30000" dirty="0"/>
              <a:t>3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假设下标从</a:t>
            </a:r>
            <a:r>
              <a:rPr lang="en-US" altLang="zh-CN" dirty="0"/>
              <a:t>1</a:t>
            </a:r>
            <a:r>
              <a:rPr lang="zh-CN" altLang="en-US" dirty="0"/>
              <a:t>开始记数，不考虑</a:t>
            </a:r>
            <a:r>
              <a:rPr lang="en-US" altLang="zh-CN" dirty="0"/>
              <a:t>next</a:t>
            </a:r>
            <a:r>
              <a:rPr lang="zh-CN" altLang="en-US" dirty="0"/>
              <a:t>数组的改进，串‘</a:t>
            </a:r>
            <a:r>
              <a:rPr lang="en-US" altLang="zh-CN" dirty="0" err="1"/>
              <a:t>ababaaababaa</a:t>
            </a:r>
            <a:r>
              <a:rPr lang="en-US" altLang="zh-CN" dirty="0"/>
              <a:t>’ </a:t>
            </a:r>
            <a:r>
              <a:rPr lang="zh-CN" altLang="en-US" dirty="0"/>
              <a:t>的</a:t>
            </a:r>
            <a:r>
              <a:rPr lang="en-US" altLang="zh-CN" dirty="0"/>
              <a:t>next </a:t>
            </a:r>
            <a:r>
              <a:rPr lang="zh-CN" altLang="en-US" dirty="0"/>
              <a:t>数组为（ ）。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．</a:t>
            </a:r>
            <a:r>
              <a:rPr lang="en-US" altLang="zh-CN" dirty="0"/>
              <a:t>012345678999         B</a:t>
            </a:r>
            <a:r>
              <a:rPr lang="zh-CN" altLang="en-US" dirty="0"/>
              <a:t>．</a:t>
            </a:r>
            <a:r>
              <a:rPr lang="en-US" altLang="zh-CN" dirty="0"/>
              <a:t>012121111212 C</a:t>
            </a:r>
            <a:r>
              <a:rPr lang="zh-CN" altLang="en-US" dirty="0"/>
              <a:t>．</a:t>
            </a:r>
            <a:r>
              <a:rPr lang="en-US" altLang="zh-CN" dirty="0"/>
              <a:t>011234223456         D</a:t>
            </a:r>
            <a:r>
              <a:rPr lang="zh-CN" altLang="en-US" dirty="0"/>
              <a:t>．</a:t>
            </a:r>
            <a:r>
              <a:rPr lang="en-US" altLang="zh-CN" dirty="0"/>
              <a:t>012301232234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0993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492" y="836712"/>
            <a:ext cx="7416940" cy="4995917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US" altLang="zh-CN" dirty="0" err="1"/>
              <a:t>boolean</a:t>
            </a:r>
            <a:r>
              <a:rPr lang="en-US" altLang="zh-CN" dirty="0"/>
              <a:t> f(String &amp;</a:t>
            </a:r>
            <a:r>
              <a:rPr lang="en-US" altLang="zh-CN" dirty="0" err="1"/>
              <a:t>a,String</a:t>
            </a:r>
            <a:r>
              <a:rPr lang="en-US" altLang="zh-CN" dirty="0"/>
              <a:t> &amp;b) {</a:t>
            </a:r>
          </a:p>
          <a:p>
            <a:pPr marL="68580" indent="0">
              <a:buNone/>
            </a:pPr>
            <a:r>
              <a:rPr lang="en-US" altLang="zh-CN" dirty="0"/>
              <a:t>    if(</a:t>
            </a:r>
            <a:r>
              <a:rPr lang="en-US" altLang="zh-CN" dirty="0" err="1"/>
              <a:t>a.GetLen</a:t>
            </a:r>
            <a:r>
              <a:rPr lang="en-US" altLang="zh-CN" dirty="0"/>
              <a:t>() != </a:t>
            </a:r>
            <a:r>
              <a:rPr lang="en-US" altLang="zh-CN" dirty="0" err="1"/>
              <a:t>b.GetLen</a:t>
            </a:r>
            <a:r>
              <a:rPr lang="en-US" altLang="zh-CN" dirty="0"/>
              <a:t>()) return false;</a:t>
            </a:r>
          </a:p>
          <a:p>
            <a:pPr marL="68580" indent="0">
              <a:buNone/>
            </a:pPr>
            <a:r>
              <a:rPr lang="en-US" altLang="zh-CN" dirty="0"/>
              <a:t>    String c = a;</a:t>
            </a:r>
          </a:p>
          <a:p>
            <a:pPr marL="68580" indent="0">
              <a:buNone/>
            </a:pPr>
            <a:r>
              <a:rPr lang="en-US" altLang="zh-CN" dirty="0"/>
              <a:t>    c += a;    //c</a:t>
            </a:r>
            <a:r>
              <a:rPr lang="zh-CN" altLang="en-US" dirty="0"/>
              <a:t>与</a:t>
            </a:r>
            <a:r>
              <a:rPr lang="en-US" altLang="zh-CN" dirty="0"/>
              <a:t>a</a:t>
            </a:r>
            <a:r>
              <a:rPr lang="zh-CN" altLang="en-US" dirty="0"/>
              <a:t>拼接后，重新赋值给</a:t>
            </a:r>
            <a:r>
              <a:rPr lang="en-US" altLang="zh-CN" dirty="0"/>
              <a:t>c</a:t>
            </a:r>
          </a:p>
          <a:p>
            <a:pPr marL="68580" indent="0">
              <a:buNone/>
            </a:pPr>
            <a:r>
              <a:rPr lang="en-US" altLang="zh-CN" dirty="0"/>
              <a:t>    return </a:t>
            </a:r>
            <a:r>
              <a:rPr lang="en-US" altLang="zh-CN" dirty="0" err="1"/>
              <a:t>c.Find</a:t>
            </a:r>
            <a:r>
              <a:rPr lang="en-US" altLang="zh-CN" dirty="0"/>
              <a:t>(b);  //b</a:t>
            </a:r>
            <a:r>
              <a:rPr lang="zh-CN" altLang="en-US" dirty="0"/>
              <a:t>如果是</a:t>
            </a:r>
            <a:r>
              <a:rPr lang="en-US" altLang="zh-CN" dirty="0"/>
              <a:t>c</a:t>
            </a:r>
            <a:r>
              <a:rPr lang="zh-CN" altLang="en-US" dirty="0"/>
              <a:t>的子串则返回</a:t>
            </a:r>
            <a:r>
              <a:rPr lang="en-US" altLang="zh-CN" dirty="0"/>
              <a:t>true</a:t>
            </a:r>
          </a:p>
          <a:p>
            <a:pPr marL="68580" indent="0">
              <a:buNone/>
            </a:pPr>
            <a:r>
              <a:rPr lang="en-US" altLang="zh-CN" dirty="0"/>
              <a:t>}</a:t>
            </a:r>
          </a:p>
          <a:p>
            <a:r>
              <a:rPr lang="zh-CN" altLang="en-US" dirty="0"/>
              <a:t>问：当</a:t>
            </a:r>
            <a:r>
              <a:rPr lang="en-US" altLang="zh-CN" dirty="0"/>
              <a:t>f</a:t>
            </a:r>
            <a:r>
              <a:rPr lang="zh-CN" altLang="en-US" dirty="0"/>
              <a:t>返回为</a:t>
            </a:r>
            <a:r>
              <a:rPr lang="en-US" altLang="zh-CN" dirty="0"/>
              <a:t>true</a:t>
            </a:r>
            <a:r>
              <a:rPr lang="zh-CN" altLang="en-US" dirty="0"/>
              <a:t>时表示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之间满足什么关系？也就是当</a:t>
            </a:r>
            <a:r>
              <a:rPr lang="en-US" altLang="zh-CN" dirty="0"/>
              <a:t>f</a:t>
            </a:r>
            <a:r>
              <a:rPr lang="zh-CN" altLang="en-US" dirty="0"/>
              <a:t>返回</a:t>
            </a:r>
            <a:r>
              <a:rPr lang="en-US" altLang="zh-CN" dirty="0"/>
              <a:t>true</a:t>
            </a:r>
            <a:r>
              <a:rPr lang="zh-CN" altLang="en-US" dirty="0"/>
              <a:t>时，说明</a:t>
            </a:r>
            <a:r>
              <a:rPr lang="en-US" altLang="zh-CN" dirty="0"/>
              <a:t>a</a:t>
            </a:r>
            <a:r>
              <a:rPr lang="zh-CN" altLang="en-US" dirty="0"/>
              <a:t>经过怎样的转换能变成</a:t>
            </a:r>
            <a:r>
              <a:rPr lang="en-US" altLang="zh-CN" dirty="0"/>
              <a:t>b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提示：</a:t>
            </a:r>
            <a:r>
              <a:rPr lang="en-US" altLang="zh-CN" dirty="0"/>
              <a:t>String</a:t>
            </a:r>
            <a:r>
              <a:rPr lang="zh-CN" altLang="en-US" dirty="0"/>
              <a:t>是一个字符串类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1315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83568" y="692696"/>
            <a:ext cx="7704856" cy="5616624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2. </a:t>
            </a:r>
            <a:r>
              <a:rPr lang="zh-CN" altLang="en-US" sz="2800" dirty="0"/>
              <a:t>设有广义表</a:t>
            </a:r>
            <a:r>
              <a:rPr lang="en-US" altLang="zh-CN" sz="2800" dirty="0"/>
              <a:t>D(</a:t>
            </a:r>
            <a:r>
              <a:rPr lang="en-US" altLang="zh-CN" sz="2800" dirty="0" err="1"/>
              <a:t>a,b,D,c,e</a:t>
            </a:r>
            <a:r>
              <a:rPr lang="en-US" altLang="zh-CN" sz="2800" dirty="0"/>
              <a:t>)</a:t>
            </a:r>
            <a:r>
              <a:rPr lang="zh-CN" altLang="en-US" sz="2800" dirty="0"/>
              <a:t>，其长度为（   ），深度为（ ）</a:t>
            </a:r>
          </a:p>
          <a:p>
            <a:pPr lvl="1"/>
            <a:r>
              <a:rPr lang="en-US" altLang="zh-CN" sz="2800" dirty="0"/>
              <a:t>A   ∞ 	    B   3 </a:t>
            </a:r>
            <a:r>
              <a:rPr lang="zh-CN" altLang="en-US" sz="2800" dirty="0"/>
              <a:t>             </a:t>
            </a:r>
            <a:r>
              <a:rPr lang="en-US" altLang="zh-CN" sz="2800" dirty="0"/>
              <a:t>C  2</a:t>
            </a:r>
            <a:r>
              <a:rPr lang="zh-CN" altLang="en-US" sz="2800" dirty="0"/>
              <a:t>         </a:t>
            </a:r>
            <a:r>
              <a:rPr lang="en-US" altLang="zh-CN" sz="2800" dirty="0"/>
              <a:t>      D  5</a:t>
            </a:r>
          </a:p>
          <a:p>
            <a:r>
              <a:rPr lang="en-US" altLang="zh-CN" sz="2800" dirty="0"/>
              <a:t>3. </a:t>
            </a:r>
            <a:r>
              <a:rPr lang="zh-CN" altLang="zh-CN" sz="2800" dirty="0"/>
              <a:t>利用广义表的</a:t>
            </a:r>
            <a:r>
              <a:rPr lang="en-US" altLang="zh-CN" sz="2800" dirty="0"/>
              <a:t>Head</a:t>
            </a:r>
            <a:r>
              <a:rPr lang="zh-CN" altLang="zh-CN" sz="2800" dirty="0"/>
              <a:t>和</a:t>
            </a:r>
            <a:r>
              <a:rPr lang="en-US" altLang="zh-CN" sz="2800" dirty="0"/>
              <a:t>Tail</a:t>
            </a:r>
            <a:r>
              <a:rPr lang="zh-CN" altLang="zh-CN" sz="2800" dirty="0"/>
              <a:t>操作写出函数表达式</a:t>
            </a:r>
            <a:r>
              <a:rPr lang="en-US" altLang="zh-CN" sz="2800" dirty="0"/>
              <a:t>,</a:t>
            </a:r>
            <a:r>
              <a:rPr lang="zh-CN" altLang="zh-CN" sz="2800" dirty="0"/>
              <a:t>把原子</a:t>
            </a:r>
            <a:r>
              <a:rPr lang="en-US" altLang="zh-CN" sz="2800" dirty="0"/>
              <a:t>b</a:t>
            </a:r>
            <a:r>
              <a:rPr lang="zh-CN" altLang="zh-CN" sz="2800" dirty="0"/>
              <a:t>分别从下列广义表中分离出来</a:t>
            </a:r>
          </a:p>
          <a:p>
            <a:pPr lvl="1"/>
            <a:r>
              <a:rPr lang="en-US" altLang="zh-CN" sz="2800" dirty="0"/>
              <a:t>(1)  L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=(((a)),((p)),((b)),o);</a:t>
            </a:r>
            <a:endParaRPr lang="zh-CN" altLang="zh-CN" sz="2800" dirty="0"/>
          </a:p>
          <a:p>
            <a:pPr lvl="1"/>
            <a:r>
              <a:rPr lang="en-US" altLang="zh-CN" sz="2800" dirty="0"/>
              <a:t>(2)  L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=(a,(p,((b),o)));</a:t>
            </a:r>
          </a:p>
        </p:txBody>
      </p:sp>
    </p:spTree>
    <p:extLst>
      <p:ext uri="{BB962C8B-B14F-4D97-AF65-F5344CB8AC3E}">
        <p14:creationId xmlns:p14="http://schemas.microsoft.com/office/powerpoint/2010/main" val="35814617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FFFFFF"/>
      </a:dk1>
      <a:lt1>
        <a:sysClr val="window" lastClr="000000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FFFFFF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504</Words>
  <Application>Microsoft Office PowerPoint</Application>
  <PresentationFormat>全屏显示(4:3)</PresentationFormat>
  <Paragraphs>35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Calibri</vt:lpstr>
      <vt:lpstr>Century Gothic</vt:lpstr>
      <vt:lpstr>Wingdings 2</vt:lpstr>
      <vt:lpstr>奥斯汀</vt:lpstr>
      <vt:lpstr>辅助练习</vt:lpstr>
      <vt:lpstr>PowerPoint 演示文稿</vt:lpstr>
      <vt:lpstr>PowerPoint 演示文稿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课堂练习</dc:title>
  <dc:creator>admin</dc:creator>
  <cp:lastModifiedBy>天天向上</cp:lastModifiedBy>
  <cp:revision>11</cp:revision>
  <dcterms:created xsi:type="dcterms:W3CDTF">2015-09-12T07:05:49Z</dcterms:created>
  <dcterms:modified xsi:type="dcterms:W3CDTF">2024-10-07T09:02:45Z</dcterms:modified>
</cp:coreProperties>
</file>