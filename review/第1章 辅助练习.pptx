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D2699-D494-4F5F-9B2F-B93583AA0588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265DF-A7F6-47CC-A6A7-4DC078DBA5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64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E6BD8-910F-4459-BEB3-45946A596297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106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E6BD8-910F-4459-BEB3-45946A596297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935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265DF-A7F6-47CC-A6A7-4DC078DBA5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13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265DF-A7F6-47CC-A6A7-4DC078DBA5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38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DF4B345-958B-4B22-959C-9EE395037542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4D7413D-F394-4D29-9F12-70504F23F0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辅助</a:t>
            </a:r>
            <a:r>
              <a:rPr kumimoji="1" lang="zh-CN" altLang="en-US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练习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72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3568" y="692696"/>
            <a:ext cx="7137241" cy="5139933"/>
          </a:xfrm>
        </p:spPr>
        <p:txBody>
          <a:bodyPr>
            <a:normAutofit/>
          </a:bodyPr>
          <a:lstStyle/>
          <a:p>
            <a:r>
              <a:rPr kumimoji="1" lang="zh-CN" altLang="en-US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假设一个递归算法的程序步数可抽象为：</a:t>
            </a:r>
            <a:r>
              <a:rPr kumimoji="1" lang="en-US" altLang="zh-CN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T(n)=2T(n/2) + n</a:t>
            </a:r>
            <a:r>
              <a:rPr kumimoji="1" lang="zh-CN" altLang="en-US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，假设</a:t>
            </a:r>
            <a:r>
              <a:rPr kumimoji="1" lang="en-US" altLang="zh-CN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T(1)=1</a:t>
            </a:r>
            <a:r>
              <a:rPr kumimoji="1" lang="zh-CN" altLang="en-US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，</a:t>
            </a:r>
            <a:r>
              <a:rPr kumimoji="1" lang="en-US" altLang="zh-CN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n = </a:t>
            </a:r>
            <a:r>
              <a:rPr kumimoji="1" lang="pt-BR" altLang="zh-CN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  <a:r>
              <a:rPr kumimoji="1" lang="en-US" altLang="zh-CN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2</a:t>
            </a:r>
            <a:r>
              <a:rPr kumimoji="1" lang="en-US" altLang="zh-CN" b="0" u="none" baseline="30000" dirty="0">
                <a:solidFill>
                  <a:schemeClr val="tx1"/>
                </a:solidFill>
                <a:effectLst/>
                <a:latin typeface="Times New Roman" pitchFamily="18" charset="0"/>
              </a:rPr>
              <a:t>k</a:t>
            </a:r>
            <a:r>
              <a:rPr kumimoji="1" lang="zh-CN" altLang="en-US" b="0" u="none" dirty="0">
                <a:solidFill>
                  <a:schemeClr val="tx1"/>
                </a:solidFill>
                <a:effectLst/>
                <a:latin typeface="Times New Roman" pitchFamily="18" charset="0"/>
              </a:rPr>
              <a:t>。请分析该算法的程序步数。</a:t>
            </a:r>
            <a:endParaRPr kumimoji="1" lang="en-US" altLang="zh-CN" b="0" u="none" dirty="0"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lvl="1"/>
            <a:r>
              <a:rPr kumimoji="1" lang="zh-CN" altLang="en-US" b="0" u="none" dirty="0">
                <a:solidFill>
                  <a:srgbClr val="0000FF"/>
                </a:solidFill>
                <a:effectLst/>
                <a:latin typeface="Times New Roman" pitchFamily="18" charset="0"/>
              </a:rPr>
              <a:t>注：更一般的情况是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</a:rPr>
              <a:t>T(n)=T(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n/2) + T(n/2)+O(n)</a:t>
            </a:r>
            <a:r>
              <a:rPr kumimoji="1" lang="zh-CN" altLang="en-US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，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T(1)=1</a:t>
            </a:r>
            <a:r>
              <a:rPr kumimoji="1" lang="zh-CN" altLang="en-US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，不影响最终结果，简化为：   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</a:rPr>
              <a:t>T(n)=2T(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n/2) + n</a:t>
            </a:r>
            <a:r>
              <a:rPr kumimoji="1" lang="zh-CN" altLang="en-US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，</a:t>
            </a:r>
            <a:r>
              <a:rPr kumimoji="1" lang="en-US" altLang="zh-CN" b="0" u="none" dirty="0">
                <a:solidFill>
                  <a:srgbClr val="0000FF"/>
                </a:solidFill>
                <a:effectLst/>
                <a:latin typeface="Times New Roman" pitchFamily="18" charset="0"/>
                <a:sym typeface="Symbol"/>
              </a:rPr>
              <a:t>T(1)=1</a:t>
            </a:r>
            <a:endParaRPr kumimoji="1" lang="en-US" altLang="zh-CN" b="0" u="none" dirty="0">
              <a:solidFill>
                <a:srgbClr val="0000FF"/>
              </a:solidFill>
              <a:effectLst/>
              <a:latin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BC9-C505-498E-A445-42B3E3C5981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03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解答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pt-BR" sz="2800" dirty="0"/>
              <a:t>解法</a:t>
            </a:r>
            <a:r>
              <a:rPr lang="en-US" altLang="zh-CN" sz="2800" dirty="0"/>
              <a:t>1</a:t>
            </a:r>
            <a:r>
              <a:rPr lang="zh-CN" altLang="pt-BR" sz="2800" dirty="0"/>
              <a:t>：</a:t>
            </a:r>
          </a:p>
          <a:p>
            <a:pPr lvl="1"/>
            <a:r>
              <a:rPr lang="pt-BR" altLang="zh-CN" sz="2000" dirty="0"/>
              <a:t>T(n) = 2T(n/2) + n=2(2T(n/4)+n/2) + n </a:t>
            </a:r>
            <a:r>
              <a:rPr lang="en-US" altLang="zh-CN" sz="2000" dirty="0"/>
              <a:t>= 8</a:t>
            </a:r>
            <a:r>
              <a:rPr lang="pt-BR" altLang="zh-CN" sz="2000" dirty="0"/>
              <a:t>T(n/</a:t>
            </a:r>
            <a:r>
              <a:rPr lang="en-US" altLang="zh-CN" sz="2000" dirty="0"/>
              <a:t>8</a:t>
            </a:r>
            <a:r>
              <a:rPr lang="pt-BR" altLang="zh-CN" sz="2000" dirty="0"/>
              <a:t>)+ n + n </a:t>
            </a:r>
            <a:r>
              <a:rPr lang="en-US" altLang="zh-CN" sz="2000" dirty="0"/>
              <a:t>+ n = 2</a:t>
            </a:r>
            <a:r>
              <a:rPr lang="en-US" altLang="zh-CN" sz="2000" baseline="30000" dirty="0"/>
              <a:t>k</a:t>
            </a:r>
            <a:r>
              <a:rPr lang="en-US" altLang="zh-CN" sz="2000" dirty="0"/>
              <a:t>T(n/2</a:t>
            </a:r>
            <a:r>
              <a:rPr lang="en-US" altLang="zh-CN" sz="2000" baseline="30000" dirty="0"/>
              <a:t>k</a:t>
            </a:r>
            <a:r>
              <a:rPr lang="en-US" altLang="zh-CN" sz="2000" dirty="0"/>
              <a:t>)+k*n</a:t>
            </a:r>
          </a:p>
          <a:p>
            <a:pPr lvl="1"/>
            <a:r>
              <a:rPr lang="zh-CN" altLang="en-US" sz="2000" dirty="0"/>
              <a:t>由于</a:t>
            </a:r>
            <a:r>
              <a:rPr lang="en-US" altLang="zh-CN" sz="2000" dirty="0"/>
              <a:t>k = log n</a:t>
            </a:r>
            <a:r>
              <a:rPr lang="zh-CN" altLang="en-US" sz="2000" dirty="0"/>
              <a:t>，</a:t>
            </a:r>
            <a:r>
              <a:rPr lang="en-US" altLang="zh-CN" sz="2000" dirty="0"/>
              <a:t>n = </a:t>
            </a:r>
            <a:r>
              <a:rPr lang="pt-BR" altLang="zh-CN" sz="2000" dirty="0"/>
              <a:t>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k</a:t>
            </a:r>
            <a:endParaRPr lang="pt-BR" altLang="zh-CN" sz="2000" dirty="0"/>
          </a:p>
          <a:p>
            <a:pPr lvl="1"/>
            <a:r>
              <a:rPr lang="zh-CN" altLang="en-US" sz="2000" dirty="0"/>
              <a:t>得到结果：</a:t>
            </a:r>
            <a:r>
              <a:rPr lang="pt-BR" altLang="zh-CN" sz="2000" dirty="0"/>
              <a:t> T(n) = n + nlogn = O(nlogn)</a:t>
            </a:r>
          </a:p>
          <a:p>
            <a:r>
              <a:rPr lang="zh-CN" altLang="en-US" sz="2800" dirty="0"/>
              <a:t>解法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lang="pt-BR" altLang="zh-CN" sz="2000" dirty="0"/>
              <a:t>T(n)</a:t>
            </a:r>
            <a:r>
              <a:rPr lang="en-US" altLang="zh-CN" sz="2000" dirty="0"/>
              <a:t>/n</a:t>
            </a:r>
            <a:r>
              <a:rPr lang="pt-BR" altLang="zh-CN" sz="2000" dirty="0"/>
              <a:t> = T(n/2)/(n/2) + 1</a:t>
            </a:r>
            <a:r>
              <a:rPr lang="zh-CN" altLang="en-US" sz="2000" dirty="0"/>
              <a:t>，</a:t>
            </a:r>
            <a:endParaRPr lang="pt-BR" altLang="zh-CN" sz="2000" dirty="0"/>
          </a:p>
          <a:p>
            <a:pPr lvl="1"/>
            <a:r>
              <a:rPr lang="pt-BR" altLang="zh-CN" sz="2000" dirty="0"/>
              <a:t>T(n/2)/(n/2) = T(n/4)/(n/4) + 1</a:t>
            </a:r>
            <a:r>
              <a:rPr lang="zh-CN" altLang="en-US" sz="2000" dirty="0"/>
              <a:t>，</a:t>
            </a:r>
            <a:r>
              <a:rPr lang="en-US" altLang="zh-CN" sz="2000" dirty="0"/>
              <a:t>…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lvl="1"/>
            <a:r>
              <a:rPr lang="pt-BR" altLang="zh-CN" sz="2000" dirty="0"/>
              <a:t>T(</a:t>
            </a:r>
            <a:r>
              <a:rPr lang="en-US" altLang="zh-CN" sz="2000" dirty="0"/>
              <a:t>2</a:t>
            </a:r>
            <a:r>
              <a:rPr lang="pt-BR" altLang="zh-CN" sz="2000" dirty="0"/>
              <a:t>)</a:t>
            </a:r>
            <a:r>
              <a:rPr lang="en-US" altLang="zh-CN" sz="2000" dirty="0"/>
              <a:t>/2</a:t>
            </a:r>
            <a:r>
              <a:rPr lang="pt-BR" altLang="zh-CN" sz="2000" dirty="0"/>
              <a:t> = T(</a:t>
            </a:r>
            <a:r>
              <a:rPr lang="en-US" altLang="zh-CN" sz="2000" dirty="0"/>
              <a:t>1</a:t>
            </a:r>
            <a:r>
              <a:rPr lang="pt-BR" altLang="zh-CN" sz="2000" dirty="0"/>
              <a:t>)/</a:t>
            </a:r>
            <a:r>
              <a:rPr lang="en-US" altLang="zh-CN" sz="2000" dirty="0"/>
              <a:t>1</a:t>
            </a:r>
            <a:r>
              <a:rPr lang="pt-BR" altLang="zh-CN" sz="2000" dirty="0"/>
              <a:t> + 1</a:t>
            </a:r>
          </a:p>
          <a:p>
            <a:pPr lvl="1"/>
            <a:r>
              <a:rPr lang="zh-CN" altLang="en-US" sz="2000" dirty="0"/>
              <a:t>把上述各式左边相加，右边相加，消去同类项，得到：</a:t>
            </a:r>
            <a:endParaRPr lang="en-US" altLang="zh-CN" sz="2000" dirty="0"/>
          </a:p>
          <a:p>
            <a:pPr lvl="1"/>
            <a:r>
              <a:rPr lang="pt-BR" altLang="zh-CN" sz="2000" dirty="0"/>
              <a:t>T(n)</a:t>
            </a:r>
            <a:r>
              <a:rPr lang="en-US" altLang="zh-CN" sz="2000" dirty="0"/>
              <a:t>/n</a:t>
            </a:r>
            <a:r>
              <a:rPr lang="pt-BR" altLang="zh-CN" sz="2000" dirty="0"/>
              <a:t> = T(</a:t>
            </a:r>
            <a:r>
              <a:rPr lang="en-US" altLang="zh-CN" sz="2000" dirty="0"/>
              <a:t>1</a:t>
            </a:r>
            <a:r>
              <a:rPr lang="pt-BR" altLang="zh-CN" sz="2000" dirty="0"/>
              <a:t>)/</a:t>
            </a:r>
            <a:r>
              <a:rPr lang="en-US" altLang="zh-CN" sz="2000" dirty="0"/>
              <a:t>1</a:t>
            </a:r>
            <a:r>
              <a:rPr lang="pt-BR" altLang="zh-CN" sz="2000" dirty="0"/>
              <a:t> + logn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lvl="1"/>
            <a:r>
              <a:rPr lang="zh-CN" altLang="en-US" sz="2000" dirty="0"/>
              <a:t>最后得到与解法</a:t>
            </a:r>
            <a:r>
              <a:rPr lang="en-US" altLang="zh-CN" sz="2000" dirty="0"/>
              <a:t>1</a:t>
            </a:r>
            <a:r>
              <a:rPr lang="zh-CN" altLang="en-US" sz="2000" dirty="0"/>
              <a:t>相同的结果</a:t>
            </a:r>
            <a:endParaRPr lang="en-US" altLang="zh-CN" sz="2000" dirty="0"/>
          </a:p>
          <a:p>
            <a:pPr lvl="1"/>
            <a:endParaRPr lang="zh-CN" altLang="en-US" sz="20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BC9-C505-498E-A445-42B3E3C5981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322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55576" y="692696"/>
            <a:ext cx="7065233" cy="5139933"/>
          </a:xfrm>
        </p:spPr>
        <p:txBody>
          <a:bodyPr/>
          <a:lstStyle/>
          <a:p>
            <a:r>
              <a:rPr lang="zh-CN" altLang="en-US" b="0" u="none" kern="0" dirty="0">
                <a:effectLst/>
              </a:rPr>
              <a:t>判断</a:t>
            </a:r>
            <a:r>
              <a:rPr lang="en-US" altLang="zh-CN" b="0" u="none" kern="0" dirty="0">
                <a:effectLst/>
              </a:rPr>
              <a:t>f(n)</a:t>
            </a:r>
            <a:r>
              <a:rPr lang="zh-CN" altLang="en-US" b="0" u="none" kern="0" dirty="0">
                <a:effectLst/>
              </a:rPr>
              <a:t>和</a:t>
            </a:r>
            <a:r>
              <a:rPr lang="en-US" altLang="zh-CN" b="0" u="none" kern="0" dirty="0">
                <a:effectLst/>
              </a:rPr>
              <a:t>g(n)</a:t>
            </a:r>
            <a:r>
              <a:rPr lang="zh-CN" altLang="en-US" b="0" u="none" kern="0" dirty="0">
                <a:effectLst/>
              </a:rPr>
              <a:t>，当</a:t>
            </a:r>
            <a:r>
              <a:rPr lang="en-US" altLang="zh-CN" b="0" u="none" kern="0" dirty="0">
                <a:effectLst/>
              </a:rPr>
              <a:t>n-&gt;</a:t>
            </a:r>
            <a:r>
              <a:rPr lang="en-US" altLang="zh-CN" b="0" u="none" kern="0" dirty="0">
                <a:effectLst/>
                <a:sym typeface="Symbol"/>
              </a:rPr>
              <a:t></a:t>
            </a:r>
            <a:r>
              <a:rPr lang="zh-CN" altLang="en-US" b="0" u="none" kern="0" dirty="0">
                <a:effectLst/>
                <a:sym typeface="Symbol"/>
              </a:rPr>
              <a:t>时，哪个函数增长更快？</a:t>
            </a:r>
            <a:endParaRPr lang="en-US" altLang="zh-CN" b="0" u="none" kern="0" dirty="0">
              <a:effectLst/>
              <a:sym typeface="Symbol"/>
            </a:endParaRPr>
          </a:p>
          <a:p>
            <a:pPr lvl="1"/>
            <a:r>
              <a:rPr lang="en-US" altLang="zh-CN" b="0" u="none" kern="0" dirty="0">
                <a:effectLst/>
              </a:rPr>
              <a:t>f(n)=(ln(n!)+5)</a:t>
            </a:r>
            <a:r>
              <a:rPr lang="en-US" altLang="zh-CN" kern="0" baseline="30000" dirty="0"/>
              <a:t>3</a:t>
            </a:r>
            <a:r>
              <a:rPr lang="en-US" altLang="zh-CN" b="0" u="none" kern="0" baseline="30000" dirty="0">
                <a:effectLst/>
              </a:rPr>
              <a:t> </a:t>
            </a:r>
            <a:r>
              <a:rPr lang="zh-CN" altLang="en-US" b="0" u="none" kern="0" dirty="0">
                <a:effectLst/>
              </a:rPr>
              <a:t>，</a:t>
            </a:r>
            <a:r>
              <a:rPr lang="en-US" altLang="zh-CN" b="0" u="none" kern="0" dirty="0">
                <a:effectLst/>
              </a:rPr>
              <a:t>g(n)=13n</a:t>
            </a:r>
            <a:r>
              <a:rPr lang="en-US" altLang="zh-CN" b="0" u="none" kern="0" baseline="30000" dirty="0">
                <a:effectLst/>
              </a:rPr>
              <a:t>2.5</a:t>
            </a:r>
          </a:p>
          <a:p>
            <a:pPr lvl="1"/>
            <a:r>
              <a:rPr lang="en-US" altLang="zh-CN" b="0" u="none" kern="0" dirty="0">
                <a:effectLst/>
                <a:sym typeface="Symbol"/>
              </a:rPr>
              <a:t>f(n)=n</a:t>
            </a:r>
            <a:r>
              <a:rPr lang="en-US" altLang="zh-CN" b="0" u="none" kern="0" baseline="30000" dirty="0">
                <a:effectLst/>
                <a:sym typeface="Symbol"/>
              </a:rPr>
              <a:t>2.1</a:t>
            </a:r>
            <a:r>
              <a:rPr lang="en-US" altLang="zh-CN" b="0" u="none" kern="0" dirty="0">
                <a:effectLst/>
                <a:sym typeface="Symbol"/>
              </a:rPr>
              <a:t>+sqrt(n</a:t>
            </a:r>
            <a:r>
              <a:rPr lang="en-US" altLang="zh-CN" b="0" u="none" kern="0" baseline="30000" dirty="0">
                <a:effectLst/>
                <a:sym typeface="Symbol"/>
              </a:rPr>
              <a:t>4</a:t>
            </a:r>
            <a:r>
              <a:rPr lang="en-US" altLang="zh-CN" b="0" u="none" kern="0" dirty="0">
                <a:effectLst/>
                <a:sym typeface="Symbol"/>
              </a:rPr>
              <a:t>+1)</a:t>
            </a:r>
            <a:r>
              <a:rPr lang="zh-CN" altLang="en-US" b="0" u="none" kern="0" dirty="0">
                <a:effectLst/>
                <a:sym typeface="Symbol"/>
              </a:rPr>
              <a:t>，</a:t>
            </a:r>
            <a:r>
              <a:rPr lang="en-US" altLang="zh-CN" b="0" u="none" kern="0" dirty="0">
                <a:effectLst/>
                <a:sym typeface="Symbol"/>
              </a:rPr>
              <a:t>g(n)=(ln(n!))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en-US" altLang="zh-CN" b="0" u="none" kern="0" dirty="0">
                <a:effectLst/>
                <a:sym typeface="Symbol"/>
              </a:rPr>
              <a:t>+n</a:t>
            </a:r>
          </a:p>
          <a:p>
            <a:pPr lvl="1"/>
            <a:r>
              <a:rPr lang="en-US" altLang="zh-CN" b="0" u="none" kern="0" dirty="0">
                <a:effectLst/>
              </a:rPr>
              <a:t>f(n)=2</a:t>
            </a:r>
            <a:r>
              <a:rPr lang="en-US" altLang="zh-CN" b="0" u="none" kern="0" baseline="30000" dirty="0">
                <a:effectLst/>
              </a:rPr>
              <a:t>(n*n*n)</a:t>
            </a:r>
            <a:r>
              <a:rPr lang="en-US" altLang="zh-CN" b="0" u="none" kern="0" dirty="0">
                <a:effectLst/>
              </a:rPr>
              <a:t>+(2</a:t>
            </a:r>
            <a:r>
              <a:rPr lang="en-US" altLang="zh-CN" b="0" u="none" kern="0" baseline="30000" dirty="0">
                <a:effectLst/>
              </a:rPr>
              <a:t>n</a:t>
            </a:r>
            <a:r>
              <a:rPr lang="en-US" altLang="zh-CN" b="0" u="none" kern="0" dirty="0">
                <a:effectLst/>
              </a:rPr>
              <a:t>)</a:t>
            </a:r>
            <a:r>
              <a:rPr lang="en-US" altLang="zh-CN" b="0" u="none" kern="0" baseline="30000" dirty="0">
                <a:effectLst/>
              </a:rPr>
              <a:t>2</a:t>
            </a:r>
            <a:r>
              <a:rPr lang="en-US" altLang="zh-CN" b="0" u="none" kern="0" dirty="0">
                <a:effectLst/>
              </a:rPr>
              <a:t>  ,g(n)=n</a:t>
            </a:r>
            <a:r>
              <a:rPr lang="en-US" altLang="zh-CN" b="0" u="none" kern="0" baseline="30000" dirty="0">
                <a:effectLst/>
              </a:rPr>
              <a:t>(n*n)</a:t>
            </a:r>
            <a:r>
              <a:rPr lang="en-US" altLang="zh-CN" b="0" u="none" kern="0" dirty="0">
                <a:effectLst/>
              </a:rPr>
              <a:t>+n</a:t>
            </a:r>
            <a:r>
              <a:rPr lang="en-US" altLang="zh-CN" b="0" u="none" kern="0" baseline="30000" dirty="0">
                <a:effectLst/>
              </a:rPr>
              <a:t>5</a:t>
            </a:r>
            <a:endParaRPr lang="zh-CN" altLang="zh-CN" b="0" u="none" kern="0" dirty="0">
              <a:effectLst/>
            </a:endParaRP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BC9-C505-498E-A445-42B3E3C5981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07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BC9-C505-498E-A445-42B3E3C5981A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1142976" y="571480"/>
            <a:ext cx="7135838" cy="857256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b="0" u="none" kern="0" dirty="0">
                <a:effectLst/>
              </a:rPr>
              <a:t>解答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57224" y="1643050"/>
            <a:ext cx="7858180" cy="44894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zh-CN" b="0" u="none" kern="0" dirty="0">
                <a:effectLst/>
              </a:rPr>
              <a:t>f(n)=(ln(n!)+5)</a:t>
            </a:r>
            <a:r>
              <a:rPr lang="en-US" altLang="zh-CN" kern="0" baseline="30000" dirty="0"/>
              <a:t>3</a:t>
            </a:r>
            <a:r>
              <a:rPr lang="en-US" altLang="zh-CN" b="0" u="none" kern="0" baseline="30000" dirty="0">
                <a:effectLst/>
              </a:rPr>
              <a:t> </a:t>
            </a:r>
            <a:r>
              <a:rPr lang="zh-CN" altLang="en-US" b="0" u="none" kern="0" dirty="0">
                <a:effectLst/>
              </a:rPr>
              <a:t>，</a:t>
            </a:r>
            <a:r>
              <a:rPr lang="en-US" altLang="zh-CN" b="0" u="none" kern="0" dirty="0">
                <a:effectLst/>
              </a:rPr>
              <a:t>g(n)=13n</a:t>
            </a:r>
            <a:r>
              <a:rPr lang="en-US" altLang="zh-CN" b="0" u="none" kern="0" baseline="30000" dirty="0">
                <a:effectLst/>
              </a:rPr>
              <a:t>2.5</a:t>
            </a:r>
          </a:p>
          <a:p>
            <a:pPr lvl="2"/>
            <a:r>
              <a:rPr lang="zh-CN" altLang="en-US" b="0" u="none" kern="0" dirty="0">
                <a:effectLst/>
                <a:sym typeface="Symbol"/>
              </a:rPr>
              <a:t>答：</a:t>
            </a:r>
            <a:r>
              <a:rPr lang="en-US" altLang="zh-CN" b="0" u="none" kern="0" dirty="0">
                <a:effectLst/>
                <a:sym typeface="Symbol"/>
              </a:rPr>
              <a:t>f</a:t>
            </a:r>
            <a:r>
              <a:rPr lang="en-US" altLang="zh-CN" b="0" u="none" kern="0" dirty="0">
                <a:effectLst/>
              </a:rPr>
              <a:t>(n)</a:t>
            </a:r>
            <a:r>
              <a:rPr lang="zh-CN" altLang="en-US" b="0" u="none" kern="0" dirty="0">
                <a:effectLst/>
              </a:rPr>
              <a:t>快</a:t>
            </a:r>
            <a:r>
              <a:rPr lang="zh-CN" altLang="en-US" kern="0" dirty="0"/>
              <a:t>。</a:t>
            </a:r>
            <a:r>
              <a:rPr lang="zh-CN" altLang="en-US" b="0" u="none" kern="0" dirty="0">
                <a:effectLst/>
              </a:rPr>
              <a:t>因为</a:t>
            </a:r>
            <a:r>
              <a:rPr lang="en-US" altLang="zh-CN" b="0" u="none" kern="0" dirty="0">
                <a:effectLst/>
              </a:rPr>
              <a:t>(ln(n!)+5)</a:t>
            </a:r>
            <a:r>
              <a:rPr lang="en-US" altLang="zh-CN" kern="0" baseline="30000" dirty="0"/>
              <a:t>3</a:t>
            </a:r>
            <a:r>
              <a:rPr lang="en-US" altLang="zh-CN" b="0" u="none" kern="0" baseline="30000" dirty="0">
                <a:effectLst/>
              </a:rPr>
              <a:t> </a:t>
            </a:r>
            <a:r>
              <a:rPr lang="en-US" altLang="zh-CN" kern="0" dirty="0"/>
              <a:t>&gt;</a:t>
            </a:r>
            <a:r>
              <a:rPr lang="en-US" altLang="zh-CN" b="0" u="none" kern="0" dirty="0">
                <a:effectLst/>
              </a:rPr>
              <a:t> (nln3)</a:t>
            </a:r>
            <a:r>
              <a:rPr lang="en-US" altLang="zh-CN" kern="0" baseline="30000" dirty="0"/>
              <a:t>3</a:t>
            </a:r>
            <a:r>
              <a:rPr lang="en-US" altLang="zh-CN" b="0" u="none" kern="0" baseline="30000" dirty="0">
                <a:effectLst/>
              </a:rPr>
              <a:t> </a:t>
            </a:r>
            <a:r>
              <a:rPr lang="en-US" altLang="zh-CN" kern="0" dirty="0"/>
              <a:t>&gt; n</a:t>
            </a:r>
            <a:r>
              <a:rPr lang="en-US" altLang="zh-CN" kern="0" baseline="30000" dirty="0"/>
              <a:t>3 </a:t>
            </a:r>
            <a:r>
              <a:rPr lang="en-US" altLang="zh-CN" kern="0" dirty="0"/>
              <a:t>&gt; 13n</a:t>
            </a:r>
            <a:r>
              <a:rPr lang="en-US" altLang="zh-CN" kern="0" baseline="30000" dirty="0"/>
              <a:t>2.5</a:t>
            </a:r>
            <a:r>
              <a:rPr lang="zh-CN" altLang="en-US" b="0" u="none" kern="0" dirty="0">
                <a:effectLst/>
              </a:rPr>
              <a:t>。（这里的大于小于号表示增长速度的快慢）。</a:t>
            </a:r>
            <a:endParaRPr lang="en-US" altLang="zh-CN" b="0" u="none" kern="0" dirty="0">
              <a:effectLst/>
              <a:sym typeface="Symbol"/>
            </a:endParaRPr>
          </a:p>
          <a:p>
            <a:pPr lvl="1"/>
            <a:r>
              <a:rPr lang="en-US" altLang="zh-CN" b="0" u="none" kern="0" dirty="0">
                <a:effectLst/>
                <a:sym typeface="Symbol"/>
              </a:rPr>
              <a:t>f(n)=n</a:t>
            </a:r>
            <a:r>
              <a:rPr lang="en-US" altLang="zh-CN" b="0" u="none" kern="0" baseline="30000" dirty="0">
                <a:effectLst/>
                <a:sym typeface="Symbol"/>
              </a:rPr>
              <a:t>2.1</a:t>
            </a:r>
            <a:r>
              <a:rPr lang="en-US" altLang="zh-CN" b="0" u="none" kern="0" dirty="0">
                <a:effectLst/>
                <a:sym typeface="Symbol"/>
              </a:rPr>
              <a:t>+sqrt(n</a:t>
            </a:r>
            <a:r>
              <a:rPr lang="en-US" altLang="zh-CN" b="0" u="none" kern="0" baseline="30000" dirty="0">
                <a:effectLst/>
                <a:sym typeface="Symbol"/>
              </a:rPr>
              <a:t>4</a:t>
            </a:r>
            <a:r>
              <a:rPr lang="en-US" altLang="zh-CN" b="0" u="none" kern="0" dirty="0">
                <a:effectLst/>
                <a:sym typeface="Symbol"/>
              </a:rPr>
              <a:t>+1)</a:t>
            </a:r>
            <a:r>
              <a:rPr lang="zh-CN" altLang="en-US" b="0" u="none" kern="0" dirty="0">
                <a:effectLst/>
                <a:sym typeface="Symbol"/>
              </a:rPr>
              <a:t>，</a:t>
            </a:r>
            <a:r>
              <a:rPr lang="en-US" altLang="zh-CN" b="0" u="none" kern="0" dirty="0">
                <a:effectLst/>
                <a:sym typeface="Symbol"/>
              </a:rPr>
              <a:t>g(n)=(ln(n!))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en-US" altLang="zh-CN" b="0" u="none" kern="0" dirty="0">
                <a:effectLst/>
                <a:sym typeface="Symbol"/>
              </a:rPr>
              <a:t>+n</a:t>
            </a:r>
          </a:p>
          <a:p>
            <a:pPr lvl="2"/>
            <a:r>
              <a:rPr lang="zh-CN" altLang="en-US" b="0" u="none" kern="0" dirty="0">
                <a:effectLst/>
                <a:sym typeface="Symbol"/>
              </a:rPr>
              <a:t>答：</a:t>
            </a:r>
            <a:r>
              <a:rPr lang="en-US" altLang="zh-CN" b="0" u="none" kern="0" dirty="0">
                <a:effectLst/>
              </a:rPr>
              <a:t> f(n)</a:t>
            </a:r>
            <a:r>
              <a:rPr lang="zh-CN" altLang="en-US" b="0" u="none" kern="0" dirty="0">
                <a:effectLst/>
              </a:rPr>
              <a:t>快，</a:t>
            </a:r>
            <a:r>
              <a:rPr lang="en-US" altLang="zh-CN" b="0" u="none" kern="0" dirty="0">
                <a:effectLst/>
                <a:sym typeface="Symbol"/>
              </a:rPr>
              <a:t>(ln(n!))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en-US" altLang="zh-CN" b="0" u="none" kern="0" dirty="0">
                <a:effectLst/>
                <a:sym typeface="Symbol"/>
              </a:rPr>
              <a:t>+n&lt; (</a:t>
            </a:r>
            <a:r>
              <a:rPr lang="en-US" altLang="zh-CN" b="0" u="none" kern="0" dirty="0" err="1">
                <a:effectLst/>
                <a:sym typeface="Symbol"/>
              </a:rPr>
              <a:t>nln</a:t>
            </a:r>
            <a:r>
              <a:rPr lang="en-US" altLang="zh-CN" b="0" u="none" kern="0" dirty="0">
                <a:effectLst/>
                <a:sym typeface="Symbol"/>
              </a:rPr>
              <a:t>(n))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zh-CN" altLang="en-US" b="0" u="none" kern="0" dirty="0">
                <a:effectLst/>
                <a:sym typeface="Symbol"/>
              </a:rPr>
              <a:t>，所以就是比较</a:t>
            </a:r>
            <a:r>
              <a:rPr lang="en-US" altLang="zh-CN" b="0" u="none" kern="0" dirty="0">
                <a:effectLst/>
                <a:sym typeface="Symbol"/>
              </a:rPr>
              <a:t>(ln(n))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zh-CN" altLang="en-US" b="0" u="none" kern="0" dirty="0">
                <a:effectLst/>
                <a:sym typeface="Symbol"/>
              </a:rPr>
              <a:t>与</a:t>
            </a:r>
            <a:r>
              <a:rPr lang="en-US" altLang="zh-CN" b="0" u="none" kern="0" dirty="0">
                <a:effectLst/>
                <a:sym typeface="Symbol"/>
              </a:rPr>
              <a:t>n</a:t>
            </a:r>
            <a:r>
              <a:rPr lang="en-US" altLang="zh-CN" b="0" u="none" kern="0" baseline="30000" dirty="0">
                <a:effectLst/>
                <a:sym typeface="Symbol"/>
              </a:rPr>
              <a:t>0.1</a:t>
            </a:r>
            <a:r>
              <a:rPr lang="zh-CN" altLang="en-US" b="0" u="none" kern="0">
                <a:effectLst/>
                <a:sym typeface="Symbol"/>
              </a:rPr>
              <a:t>，由于这两个都是单调函数，假设</a:t>
            </a:r>
            <a:r>
              <a:rPr lang="en-US" altLang="zh-CN" b="0" u="none" kern="0" dirty="0">
                <a:effectLst/>
                <a:sym typeface="Symbol"/>
              </a:rPr>
              <a:t>n=e</a:t>
            </a:r>
            <a:r>
              <a:rPr lang="en-US" altLang="zh-CN" b="0" u="none" kern="0" baseline="30000" dirty="0">
                <a:effectLst/>
                <a:sym typeface="Symbol"/>
              </a:rPr>
              <a:t>10x</a:t>
            </a:r>
            <a:r>
              <a:rPr lang="zh-CN" altLang="en-US" b="0" u="none" kern="0" dirty="0">
                <a:effectLst/>
                <a:sym typeface="Symbol"/>
              </a:rPr>
              <a:t>，也就是比较</a:t>
            </a:r>
            <a:r>
              <a:rPr lang="en-US" altLang="zh-CN" b="0" u="none" kern="0" dirty="0">
                <a:effectLst/>
                <a:sym typeface="Symbol"/>
              </a:rPr>
              <a:t>100x</a:t>
            </a:r>
            <a:r>
              <a:rPr lang="en-US" altLang="zh-CN" b="0" u="none" kern="0" baseline="30000" dirty="0">
                <a:effectLst/>
                <a:sym typeface="Symbol"/>
              </a:rPr>
              <a:t>2</a:t>
            </a:r>
            <a:r>
              <a:rPr lang="zh-CN" altLang="en-US" b="0" u="none" kern="0" dirty="0">
                <a:effectLst/>
                <a:sym typeface="Symbol"/>
              </a:rPr>
              <a:t>与</a:t>
            </a:r>
            <a:r>
              <a:rPr lang="en-US" altLang="zh-CN" b="0" u="none" kern="0" dirty="0">
                <a:effectLst/>
                <a:sym typeface="Symbol"/>
              </a:rPr>
              <a:t>e</a:t>
            </a:r>
            <a:r>
              <a:rPr lang="en-US" altLang="zh-CN" b="0" u="none" kern="0" baseline="30000" dirty="0">
                <a:effectLst/>
                <a:sym typeface="Symbol"/>
              </a:rPr>
              <a:t>x</a:t>
            </a:r>
            <a:r>
              <a:rPr lang="zh-CN" altLang="en-US" b="0" u="none" kern="0" dirty="0">
                <a:effectLst/>
                <a:sym typeface="Symbol"/>
              </a:rPr>
              <a:t>，</a:t>
            </a:r>
            <a:r>
              <a:rPr lang="zh-CN" altLang="en-US" b="0" u="none" kern="0" dirty="0">
                <a:effectLst/>
              </a:rPr>
              <a:t>显然</a:t>
            </a:r>
            <a:r>
              <a:rPr lang="en-US" altLang="zh-CN" b="0" u="none" kern="0" dirty="0">
                <a:effectLst/>
              </a:rPr>
              <a:t>e</a:t>
            </a:r>
            <a:r>
              <a:rPr lang="en-US" altLang="zh-CN" b="0" u="none" kern="0" baseline="30000" dirty="0">
                <a:effectLst/>
              </a:rPr>
              <a:t>x</a:t>
            </a:r>
            <a:r>
              <a:rPr lang="zh-CN" altLang="en-US" b="0" u="none" kern="0" dirty="0">
                <a:effectLst/>
              </a:rPr>
              <a:t>快，所以结论正确。 </a:t>
            </a:r>
            <a:endParaRPr lang="en-US" altLang="zh-CN" b="0" u="none" kern="0" dirty="0">
              <a:effectLst/>
            </a:endParaRPr>
          </a:p>
          <a:p>
            <a:pPr lvl="1"/>
            <a:r>
              <a:rPr lang="en-US" altLang="zh-CN" b="0" u="none" kern="0" dirty="0">
                <a:effectLst/>
              </a:rPr>
              <a:t>f(n)=2</a:t>
            </a:r>
            <a:r>
              <a:rPr lang="en-US" altLang="zh-CN" b="0" u="none" kern="0" baseline="30000" dirty="0">
                <a:effectLst/>
              </a:rPr>
              <a:t>(n*n*n)</a:t>
            </a:r>
            <a:r>
              <a:rPr lang="en-US" altLang="zh-CN" b="0" u="none" kern="0" dirty="0">
                <a:effectLst/>
              </a:rPr>
              <a:t>+(2</a:t>
            </a:r>
            <a:r>
              <a:rPr lang="en-US" altLang="zh-CN" b="0" u="none" kern="0" baseline="30000" dirty="0">
                <a:effectLst/>
              </a:rPr>
              <a:t>n</a:t>
            </a:r>
            <a:r>
              <a:rPr lang="en-US" altLang="zh-CN" b="0" u="none" kern="0" dirty="0">
                <a:effectLst/>
              </a:rPr>
              <a:t>)</a:t>
            </a:r>
            <a:r>
              <a:rPr lang="en-US" altLang="zh-CN" b="0" u="none" kern="0" baseline="30000" dirty="0">
                <a:effectLst/>
              </a:rPr>
              <a:t>2</a:t>
            </a:r>
            <a:r>
              <a:rPr lang="en-US" altLang="zh-CN" b="0" u="none" kern="0" dirty="0">
                <a:effectLst/>
              </a:rPr>
              <a:t>  ,g(n)=n</a:t>
            </a:r>
            <a:r>
              <a:rPr lang="en-US" altLang="zh-CN" b="0" u="none" kern="0" baseline="30000" dirty="0">
                <a:effectLst/>
              </a:rPr>
              <a:t>(n*n)</a:t>
            </a:r>
            <a:r>
              <a:rPr lang="en-US" altLang="zh-CN" b="0" u="none" kern="0" dirty="0">
                <a:effectLst/>
              </a:rPr>
              <a:t>+n</a:t>
            </a:r>
            <a:r>
              <a:rPr lang="en-US" altLang="zh-CN" b="0" u="none" kern="0" baseline="30000" dirty="0">
                <a:effectLst/>
              </a:rPr>
              <a:t>5</a:t>
            </a:r>
            <a:endParaRPr lang="zh-CN" altLang="zh-CN" b="0" u="none" kern="0" dirty="0">
              <a:effectLst/>
            </a:endParaRPr>
          </a:p>
          <a:p>
            <a:pPr lvl="2"/>
            <a:r>
              <a:rPr lang="zh-CN" altLang="en-US" b="0" u="none" kern="0" dirty="0">
                <a:effectLst/>
              </a:rPr>
              <a:t>答：</a:t>
            </a:r>
            <a:r>
              <a:rPr lang="en-US" altLang="zh-CN" b="0" u="none" kern="0" dirty="0">
                <a:effectLst/>
              </a:rPr>
              <a:t>f(n)</a:t>
            </a:r>
            <a:r>
              <a:rPr lang="zh-CN" altLang="zh-CN" b="0" u="none" kern="0" dirty="0">
                <a:effectLst/>
              </a:rPr>
              <a:t>增长速度快</a:t>
            </a:r>
          </a:p>
        </p:txBody>
      </p:sp>
    </p:spTree>
    <p:extLst>
      <p:ext uri="{BB962C8B-B14F-4D97-AF65-F5344CB8AC3E}">
        <p14:creationId xmlns:p14="http://schemas.microsoft.com/office/powerpoint/2010/main" val="7589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30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30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 advAuto="1000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162</TotalTime>
  <Words>556</Words>
  <Application>Microsoft Office PowerPoint</Application>
  <PresentationFormat>全屏显示(4:3)</PresentationFormat>
  <Paragraphs>34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Calibri</vt:lpstr>
      <vt:lpstr>Century Gothic</vt:lpstr>
      <vt:lpstr>Times New Roman</vt:lpstr>
      <vt:lpstr>Wingdings</vt:lpstr>
      <vt:lpstr>Wingdings 2</vt:lpstr>
      <vt:lpstr>奥斯汀</vt:lpstr>
      <vt:lpstr>辅助练习</vt:lpstr>
      <vt:lpstr>PowerPoint 演示文稿</vt:lpstr>
      <vt:lpstr>解答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12</cp:revision>
  <dcterms:created xsi:type="dcterms:W3CDTF">2015-09-03T09:10:33Z</dcterms:created>
  <dcterms:modified xsi:type="dcterms:W3CDTF">2021-09-15T12:46:31Z</dcterms:modified>
</cp:coreProperties>
</file>