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256" r:id="rId2"/>
    <p:sldId id="260" r:id="rId3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3011" autoAdjust="0"/>
  </p:normalViewPr>
  <p:slideViewPr>
    <p:cSldViewPr>
      <p:cViewPr varScale="1">
        <p:scale>
          <a:sx n="54" d="100"/>
          <a:sy n="54" d="100"/>
        </p:scale>
        <p:origin x="2290" y="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8FC636-17B0-47D0-BB59-49BAEDBA5377}" type="datetimeFigureOut">
              <a:rPr lang="zh-CN" altLang="en-US" smtClean="0"/>
              <a:t>2021/10/25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31C178-3E3D-4B53-A050-A792027C16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54428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31C178-3E3D-4B53-A050-A792027C168F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85481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en-US" altLang="zh-CN" dirty="0"/>
              <a:t>D[1]=3</a:t>
            </a:r>
            <a:r>
              <a:rPr lang="zh-CN" altLang="en-US" dirty="0"/>
              <a:t>，</a:t>
            </a:r>
            <a:r>
              <a:rPr lang="en-US" altLang="zh-CN" dirty="0"/>
              <a:t>D[2]=Infinity, D[3]=0,</a:t>
            </a:r>
            <a:r>
              <a:rPr lang="en-US" altLang="zh-CN" baseline="0" dirty="0"/>
              <a:t> D[4]=1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aseline="0" dirty="0"/>
              <a:t>D[4]=1</a:t>
            </a:r>
            <a:r>
              <a:rPr lang="zh-CN" altLang="en-US" baseline="0" dirty="0"/>
              <a:t>最小，用来改进其它路径：</a:t>
            </a:r>
            <a:r>
              <a:rPr lang="en-US" altLang="zh-CN" dirty="0"/>
              <a:t>D[1]=3</a:t>
            </a:r>
            <a:r>
              <a:rPr lang="zh-CN" altLang="en-US" dirty="0"/>
              <a:t>，</a:t>
            </a:r>
            <a:r>
              <a:rPr lang="en-US" altLang="zh-CN" dirty="0"/>
              <a:t>D[2]=3, D[3]=0,</a:t>
            </a:r>
            <a:r>
              <a:rPr lang="en-US" altLang="zh-CN" baseline="0" dirty="0"/>
              <a:t> D[4]=1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aseline="0" dirty="0"/>
              <a:t>无法进一步改进，结束</a:t>
            </a:r>
            <a:endParaRPr lang="en-US" altLang="zh-CN" baseline="0" dirty="0"/>
          </a:p>
          <a:p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en-US" altLang="zh-CN" dirty="0"/>
              <a:t>A0= 0   8    *     *          A1=0   8    *     *       A2</a:t>
            </a:r>
            <a:r>
              <a:rPr lang="zh-CN" altLang="en-US" dirty="0"/>
              <a:t>，</a:t>
            </a:r>
            <a:r>
              <a:rPr lang="en-US" altLang="zh-CN" dirty="0"/>
              <a:t>A3</a:t>
            </a:r>
            <a:r>
              <a:rPr lang="zh-CN" altLang="en-US" dirty="0"/>
              <a:t>不变       </a:t>
            </a:r>
            <a:r>
              <a:rPr lang="en-US" altLang="zh-CN" dirty="0"/>
              <a:t>A4=0   8    *     * </a:t>
            </a:r>
          </a:p>
          <a:p>
            <a:r>
              <a:rPr lang="en-US" altLang="zh-CN" dirty="0"/>
              <a:t>    *   0    *     *             *   0    *     *                           *   0    *     * 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    3   *    0     1             3   </a:t>
            </a:r>
            <a:r>
              <a:rPr lang="en-US" altLang="zh-CN" b="0" u="sng" dirty="0">
                <a:solidFill>
                  <a:srgbClr val="FF0000"/>
                </a:solidFill>
              </a:rPr>
              <a:t>11</a:t>
            </a:r>
            <a:r>
              <a:rPr lang="en-US" altLang="zh-CN" dirty="0"/>
              <a:t>   0     1                           3   </a:t>
            </a:r>
            <a:r>
              <a:rPr lang="en-US" altLang="zh-CN" b="0" u="sng" dirty="0">
                <a:solidFill>
                  <a:srgbClr val="FF0000"/>
                </a:solidFill>
              </a:rPr>
              <a:t>3</a:t>
            </a:r>
            <a:r>
              <a:rPr lang="en-US" altLang="zh-CN" dirty="0"/>
              <a:t>    0     1</a:t>
            </a:r>
          </a:p>
          <a:p>
            <a:r>
              <a:rPr lang="en-US" altLang="zh-CN" baseline="0" dirty="0"/>
              <a:t>    5   2    *     0             5   2    *     0                           5   2    *     0</a:t>
            </a:r>
          </a:p>
          <a:p>
            <a:endParaRPr lang="en-US" altLang="zh-CN" baseline="0" dirty="0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aseline="0" dirty="0"/>
              <a:t>Path0=0   1    0     0     Path1=0   1    0     0</a:t>
            </a:r>
            <a:r>
              <a:rPr lang="en-US" altLang="zh-CN" dirty="0"/>
              <a:t> </a:t>
            </a:r>
            <a:r>
              <a:rPr lang="en-US" altLang="zh-CN" baseline="0" dirty="0"/>
              <a:t> Path</a:t>
            </a:r>
            <a:r>
              <a:rPr lang="en-US" altLang="zh-CN" dirty="0"/>
              <a:t>2</a:t>
            </a:r>
            <a:r>
              <a:rPr lang="zh-CN" altLang="en-US" dirty="0"/>
              <a:t>，</a:t>
            </a:r>
            <a:r>
              <a:rPr lang="en-US" altLang="zh-CN" baseline="0" dirty="0"/>
              <a:t>Path</a:t>
            </a:r>
            <a:r>
              <a:rPr lang="en-US" altLang="zh-CN" dirty="0"/>
              <a:t>3</a:t>
            </a:r>
            <a:r>
              <a:rPr lang="zh-CN" altLang="en-US" dirty="0"/>
              <a:t>不变   </a:t>
            </a:r>
            <a:r>
              <a:rPr lang="en-US" altLang="zh-CN" baseline="0" dirty="0"/>
              <a:t>Path4=0   1    0     0</a:t>
            </a:r>
            <a:r>
              <a:rPr lang="en-US" altLang="zh-CN" dirty="0"/>
              <a:t> </a:t>
            </a:r>
            <a:endParaRPr lang="en-US" altLang="zh-CN" baseline="0" dirty="0"/>
          </a:p>
          <a:p>
            <a:r>
              <a:rPr lang="en-US" altLang="zh-CN" baseline="0" dirty="0"/>
              <a:t>      0   0    0     0           0   0    0     0                           0   0    0     0</a:t>
            </a:r>
          </a:p>
          <a:p>
            <a:r>
              <a:rPr lang="en-US" altLang="zh-CN" baseline="0" dirty="0"/>
              <a:t>      3   0    0     3           3   </a:t>
            </a:r>
            <a:r>
              <a:rPr lang="en-US" altLang="zh-CN" u="sng" baseline="0" dirty="0"/>
              <a:t>1</a:t>
            </a:r>
            <a:r>
              <a:rPr lang="en-US" altLang="zh-CN" baseline="0" dirty="0"/>
              <a:t>    0     3                           3   </a:t>
            </a:r>
            <a:r>
              <a:rPr lang="en-US" altLang="zh-CN" u="sng" baseline="0" dirty="0"/>
              <a:t>4</a:t>
            </a:r>
            <a:r>
              <a:rPr lang="en-US" altLang="zh-CN" baseline="0" dirty="0"/>
              <a:t>    0     3</a:t>
            </a:r>
          </a:p>
          <a:p>
            <a:r>
              <a:rPr lang="en-US" altLang="zh-CN" baseline="0" dirty="0"/>
              <a:t>      4   4    0     0           4   4    0     0                           4   4    0     0</a:t>
            </a:r>
          </a:p>
          <a:p>
            <a:endParaRPr lang="en-US" altLang="zh-CN" baseline="0" dirty="0"/>
          </a:p>
          <a:p>
            <a:r>
              <a:rPr lang="zh-CN" altLang="en-US" baseline="0" dirty="0"/>
              <a:t>注意教材中的</a:t>
            </a:r>
            <a:r>
              <a:rPr lang="en-US" altLang="zh-CN" baseline="0" dirty="0"/>
              <a:t>path</a:t>
            </a:r>
            <a:r>
              <a:rPr lang="zh-CN" altLang="en-US" baseline="0" dirty="0"/>
              <a:t>数组不是常规的写法，因为其初始是全</a:t>
            </a:r>
            <a:r>
              <a:rPr lang="en-US" altLang="zh-CN" baseline="0" dirty="0"/>
              <a:t>0</a:t>
            </a:r>
            <a:r>
              <a:rPr lang="zh-CN" altLang="en-US" baseline="0" dirty="0"/>
              <a:t>，所以如果</a:t>
            </a:r>
            <a:r>
              <a:rPr lang="en-US" altLang="zh-CN" baseline="0" dirty="0"/>
              <a:t>PPT</a:t>
            </a:r>
            <a:r>
              <a:rPr lang="zh-CN" altLang="en-US" baseline="0" dirty="0"/>
              <a:t>与教材不一致时应该以</a:t>
            </a:r>
            <a:r>
              <a:rPr lang="en-US" altLang="zh-CN" baseline="0" dirty="0"/>
              <a:t>PPT</a:t>
            </a:r>
            <a:r>
              <a:rPr lang="zh-CN" altLang="en-US" baseline="0" dirty="0"/>
              <a:t>为准，不确定时问一下老师。</a:t>
            </a:r>
            <a:endParaRPr lang="en-US" altLang="zh-CN" baseline="0" dirty="0"/>
          </a:p>
          <a:p>
            <a:endParaRPr lang="en-US" altLang="zh-CN" baseline="0" dirty="0"/>
          </a:p>
          <a:p>
            <a:endParaRPr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31C178-3E3D-4B53-A050-A792027C168F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67674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4649096" y="-21511"/>
            <a:ext cx="3505200" cy="23128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33365" y="2708476"/>
            <a:ext cx="3313355" cy="170216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33365" y="4421080"/>
            <a:ext cx="3309803" cy="126062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42424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38744" y="1516828"/>
            <a:ext cx="2133600" cy="750981"/>
          </a:xfrm>
        </p:spPr>
        <p:txBody>
          <a:bodyPr anchor="b"/>
          <a:lstStyle>
            <a:lvl1pPr algn="l">
              <a:defRPr sz="2400"/>
            </a:lvl1pPr>
          </a:lstStyle>
          <a:p>
            <a:fld id="{9C03D146-AEEF-4663-887F-9D3AF1A22AE0}" type="datetimeFigureOut">
              <a:rPr lang="zh-CN" altLang="en-US" smtClean="0"/>
              <a:t>2021/10/25</a:t>
            </a:fld>
            <a:endParaRPr lang="zh-CN" altLang="en-US"/>
          </a:p>
        </p:txBody>
      </p:sp>
      <p:sp>
        <p:nvSpPr>
          <p:cNvPr id="50" name="Rectangle 49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03520" y="5719966"/>
            <a:ext cx="2831592" cy="365125"/>
          </a:xfrm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9096" y="5719966"/>
            <a:ext cx="643666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65040949-9C85-49DF-8D33-5607F6B52BE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9" name="Rectangle 88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3D146-AEEF-4663-887F-9D3AF1A22AE0}" type="datetimeFigureOut">
              <a:rPr lang="zh-CN" altLang="en-US" smtClean="0"/>
              <a:t>2021/10/25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40949-9C85-49DF-8D33-5607F6B52BE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8645" y="2900829"/>
            <a:ext cx="6637468" cy="1362075"/>
          </a:xfrm>
        </p:spPr>
        <p:txBody>
          <a:bodyPr anchor="b"/>
          <a:lstStyle>
            <a:lvl1pPr algn="l">
              <a:defRPr sz="4000" b="0" cap="none" baseline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645" y="4267200"/>
            <a:ext cx="6637467" cy="1520413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3D146-AEEF-4663-887F-9D3AF1A22AE0}" type="datetimeFigureOut">
              <a:rPr lang="zh-CN" altLang="en-US" smtClean="0"/>
              <a:t>2021/10/25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40949-9C85-49DF-8D33-5607F6B52BE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3D146-AEEF-4663-887F-9D3AF1A22AE0}" type="datetimeFigureOut">
              <a:rPr lang="zh-CN" altLang="en-US" smtClean="0"/>
              <a:t>2021/10/25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40949-9C85-49DF-8D33-5607F6B52BE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042416" y="2313432"/>
            <a:ext cx="3419856" cy="349300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313431"/>
            <a:ext cx="3419856" cy="349300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2111" y="2316009"/>
            <a:ext cx="305714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721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1837" y="2316010"/>
            <a:ext cx="30557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3D146-AEEF-4663-887F-9D3AF1A22AE0}" type="datetimeFigureOut">
              <a:rPr lang="zh-CN" altLang="en-US" smtClean="0"/>
              <a:t>2021/10/25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40949-9C85-49DF-8D33-5607F6B52BE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3D146-AEEF-4663-887F-9D3AF1A22AE0}" type="datetimeFigureOut">
              <a:rPr lang="zh-CN" altLang="en-US" smtClean="0"/>
              <a:t>2021/10/25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40949-9C85-49DF-8D33-5607F6B52BE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3D146-AEEF-4663-887F-9D3AF1A22AE0}" type="datetimeFigureOut">
              <a:rPr lang="zh-CN" altLang="en-US" smtClean="0"/>
              <a:t>2021/10/25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40949-9C85-49DF-8D33-5607F6B52BE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2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4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 79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7" name="Freeform 46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reeform 58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Freeform 69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3D146-AEEF-4663-887F-9D3AF1A22AE0}" type="datetimeFigureOut">
              <a:rPr lang="zh-CN" altLang="en-US" smtClean="0"/>
              <a:t>2021/10/25</a:t>
            </a:fld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40949-9C85-49DF-8D33-5607F6B52BE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8" name="Rectangle 57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5894" y="856527"/>
            <a:ext cx="3090440" cy="5150734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61" name="Rectangle 60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9833" y="2657434"/>
            <a:ext cx="3304572" cy="1463153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6592" y="4136994"/>
            <a:ext cx="3298784" cy="151790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5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7" name="Rectangle 8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6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84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7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8" name="Rectangle 77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Freeform 45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Freeform 62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Hexagon 69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Hexagon 70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Hexagon 71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 72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Freeform 73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4" name="Rectangle 93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rgbClr val="FFFFFF"/>
          </a:solidFill>
          <a:ln w="31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4424" y="2660904"/>
            <a:ext cx="3300984" cy="146304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05208" y="693795"/>
            <a:ext cx="3359623" cy="5468112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4630" y="4133088"/>
            <a:ext cx="3300573" cy="151956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3D146-AEEF-4663-887F-9D3AF1A22AE0}" type="datetimeFigureOut">
              <a:rPr lang="zh-CN" altLang="en-US" smtClean="0"/>
              <a:t>2021/10/25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40949-9C85-49DF-8D33-5607F6B52BE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3D146-AEEF-4663-887F-9D3AF1A22AE0}" type="datetimeFigureOut">
              <a:rPr lang="zh-CN" altLang="en-US" smtClean="0"/>
              <a:t>2021/10/25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40949-9C85-49DF-8D33-5607F6B52BE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030147"/>
            <a:ext cx="1484453" cy="4780344"/>
          </a:xfrm>
        </p:spPr>
        <p:txBody>
          <a:bodyPr vert="eaVert" anchor="ctr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53296" y="1030147"/>
            <a:ext cx="5423704" cy="47803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3D146-AEEF-4663-887F-9D3AF1A22AE0}" type="datetimeFigureOut">
              <a:rPr lang="zh-CN" altLang="en-US" smtClean="0"/>
              <a:t>2021/10/25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40949-9C85-49DF-8D33-5607F6B52BE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304800" y="0"/>
            <a:ext cx="9932332" cy="68580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6" name="Rectangle 65"/>
          <p:cNvSpPr/>
          <p:nvPr/>
        </p:nvSpPr>
        <p:spPr>
          <a:xfrm>
            <a:off x="457200" y="333487"/>
            <a:ext cx="8229600" cy="618564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4561242" y="-21511"/>
            <a:ext cx="3679116" cy="699244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EFEFE"/>
                </a:solidFill>
              </a:defRPr>
            </a:lvl1pPr>
          </a:lstStyle>
          <a:p>
            <a:fld id="{9C03D146-AEEF-4663-887F-9D3AF1A22AE0}" type="datetimeFigureOut">
              <a:rPr lang="zh-CN" altLang="en-US" smtClean="0"/>
              <a:t>2021/10/25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EFEFE"/>
                </a:solidFill>
              </a:defRPr>
            </a:lvl1pPr>
          </a:lstStyle>
          <a:p>
            <a:fld id="{65040949-9C85-49DF-8D33-5607F6B52BE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2471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2588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/>
              <a:t>辅助练习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694552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50785" y="692696"/>
            <a:ext cx="6777317" cy="2761532"/>
          </a:xfrm>
        </p:spPr>
        <p:txBody>
          <a:bodyPr>
            <a:normAutofit/>
          </a:bodyPr>
          <a:lstStyle/>
          <a:p>
            <a:r>
              <a:rPr lang="en-US" altLang="zh-CN" dirty="0"/>
              <a:t>1</a:t>
            </a:r>
          </a:p>
          <a:p>
            <a:pPr marL="617220" lvl="2"/>
            <a:r>
              <a:rPr lang="zh-CN" altLang="en-US" sz="2200" dirty="0"/>
              <a:t>（</a:t>
            </a:r>
            <a:r>
              <a:rPr lang="en-US" altLang="zh-CN" sz="2200" dirty="0"/>
              <a:t>1</a:t>
            </a:r>
            <a:r>
              <a:rPr lang="zh-CN" altLang="en-US" sz="2200" dirty="0"/>
              <a:t>）对下图用</a:t>
            </a:r>
            <a:r>
              <a:rPr lang="en-US" altLang="zh-CN" sz="2200" dirty="0"/>
              <a:t>Dijkstra</a:t>
            </a:r>
            <a:r>
              <a:rPr lang="zh-CN" altLang="en-US" sz="2200" dirty="0"/>
              <a:t>算法计算结点</a:t>
            </a:r>
            <a:r>
              <a:rPr lang="en-US" altLang="zh-CN" sz="2200" dirty="0"/>
              <a:t>3</a:t>
            </a:r>
            <a:r>
              <a:rPr lang="zh-CN" altLang="en-US" sz="2200" dirty="0"/>
              <a:t>到其它结点的最短路径，给出数组</a:t>
            </a:r>
            <a:r>
              <a:rPr lang="en-US" altLang="zh-CN" sz="2200" dirty="0"/>
              <a:t>D</a:t>
            </a:r>
            <a:r>
              <a:rPr lang="zh-CN" altLang="en-US" sz="2200" dirty="0"/>
              <a:t>的变化过程</a:t>
            </a:r>
            <a:endParaRPr lang="en-US" altLang="zh-CN" sz="2200" dirty="0"/>
          </a:p>
          <a:p>
            <a:pPr marL="617220" lvl="2"/>
            <a:r>
              <a:rPr lang="zh-CN" altLang="en-US" sz="2200" dirty="0"/>
              <a:t>（</a:t>
            </a:r>
            <a:r>
              <a:rPr lang="en-US" altLang="zh-CN" sz="2200" dirty="0"/>
              <a:t>2</a:t>
            </a:r>
            <a:r>
              <a:rPr lang="zh-CN" altLang="en-US" sz="2200" dirty="0"/>
              <a:t>）对下图用</a:t>
            </a:r>
            <a:r>
              <a:rPr lang="en-US" altLang="zh-CN" sz="2200" dirty="0"/>
              <a:t>Floyd</a:t>
            </a:r>
            <a:r>
              <a:rPr lang="zh-CN" altLang="en-US" sz="2200" dirty="0"/>
              <a:t>计算最短路径，给出表示计算过程的所有</a:t>
            </a:r>
            <a:r>
              <a:rPr lang="en-US" altLang="zh-CN" sz="2600" dirty="0">
                <a:solidFill>
                  <a:srgbClr val="CC3300"/>
                </a:solidFill>
              </a:rPr>
              <a:t>A</a:t>
            </a:r>
            <a:r>
              <a:rPr lang="en-US" altLang="zh-CN" sz="2600" baseline="30000" dirty="0">
                <a:solidFill>
                  <a:srgbClr val="CC3300"/>
                </a:solidFill>
              </a:rPr>
              <a:t>(k)</a:t>
            </a:r>
            <a:r>
              <a:rPr lang="zh-CN" altLang="en-US" sz="2600" dirty="0">
                <a:solidFill>
                  <a:srgbClr val="3333FF"/>
                </a:solidFill>
              </a:rPr>
              <a:t> </a:t>
            </a:r>
            <a:r>
              <a:rPr lang="zh-CN" altLang="en-US" sz="2200" dirty="0"/>
              <a:t>和</a:t>
            </a:r>
            <a:r>
              <a:rPr lang="en-US" altLang="zh-CN" sz="2600" dirty="0">
                <a:solidFill>
                  <a:srgbClr val="CC3300"/>
                </a:solidFill>
              </a:rPr>
              <a:t>Path</a:t>
            </a:r>
            <a:r>
              <a:rPr lang="en-US" altLang="zh-CN" sz="2600" baseline="30000" dirty="0">
                <a:solidFill>
                  <a:srgbClr val="CC3300"/>
                </a:solidFill>
              </a:rPr>
              <a:t>(k)</a:t>
            </a:r>
            <a:r>
              <a:rPr lang="zh-CN" altLang="en-US" sz="2200" dirty="0"/>
              <a:t>矩阵</a:t>
            </a:r>
            <a:endParaRPr lang="en-US" altLang="zh-CN" sz="2200" dirty="0"/>
          </a:p>
        </p:txBody>
      </p:sp>
      <p:grpSp>
        <p:nvGrpSpPr>
          <p:cNvPr id="4" name="Group 28"/>
          <p:cNvGrpSpPr>
            <a:grpSpLocks/>
          </p:cNvGrpSpPr>
          <p:nvPr/>
        </p:nvGrpSpPr>
        <p:grpSpPr bwMode="auto">
          <a:xfrm>
            <a:off x="2833687" y="3642276"/>
            <a:ext cx="3106737" cy="2255838"/>
            <a:chOff x="2469" y="2899"/>
            <a:chExt cx="1957" cy="1421"/>
          </a:xfrm>
        </p:grpSpPr>
        <p:grpSp>
          <p:nvGrpSpPr>
            <p:cNvPr id="5" name="Group 19"/>
            <p:cNvGrpSpPr>
              <a:grpSpLocks/>
            </p:cNvGrpSpPr>
            <p:nvPr/>
          </p:nvGrpSpPr>
          <p:grpSpPr bwMode="auto">
            <a:xfrm>
              <a:off x="2546" y="3035"/>
              <a:ext cx="1789" cy="1158"/>
              <a:chOff x="2454" y="3035"/>
              <a:chExt cx="1789" cy="1158"/>
            </a:xfrm>
          </p:grpSpPr>
          <p:sp>
            <p:nvSpPr>
              <p:cNvPr id="11" name="Oval 4"/>
              <p:cNvSpPr>
                <a:spLocks noChangeArrowheads="1"/>
              </p:cNvSpPr>
              <p:nvPr/>
            </p:nvSpPr>
            <p:spPr bwMode="auto">
              <a:xfrm>
                <a:off x="2459" y="3035"/>
                <a:ext cx="266" cy="266"/>
              </a:xfrm>
              <a:prstGeom prst="ellipse">
                <a:avLst/>
              </a:prstGeom>
              <a:gradFill rotWithShape="0">
                <a:gsLst>
                  <a:gs pos="0">
                    <a:srgbClr val="3333CC"/>
                  </a:gs>
                  <a:gs pos="100000">
                    <a:srgbClr val="3333CC">
                      <a:gamma/>
                      <a:shade val="46275"/>
                      <a:invGamma/>
                    </a:srgbClr>
                  </a:gs>
                </a:gsLst>
                <a:lin ang="2700000" scaled="1"/>
              </a:gradFill>
              <a:ln w="9525">
                <a:solidFill>
                  <a:srgbClr val="3333CC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altLang="zh-CN" sz="2800" b="1" dirty="0">
                    <a:solidFill>
                      <a:srgbClr val="FFFF00"/>
                    </a:solidFill>
                  </a:rPr>
                  <a:t>1</a:t>
                </a:r>
              </a:p>
            </p:txBody>
          </p:sp>
          <p:sp>
            <p:nvSpPr>
              <p:cNvPr id="12" name="Oval 6"/>
              <p:cNvSpPr>
                <a:spLocks noChangeArrowheads="1"/>
              </p:cNvSpPr>
              <p:nvPr/>
            </p:nvSpPr>
            <p:spPr bwMode="auto">
              <a:xfrm>
                <a:off x="2454" y="3899"/>
                <a:ext cx="266" cy="266"/>
              </a:xfrm>
              <a:prstGeom prst="ellipse">
                <a:avLst/>
              </a:prstGeom>
              <a:gradFill rotWithShape="0">
                <a:gsLst>
                  <a:gs pos="0">
                    <a:srgbClr val="3333CC"/>
                  </a:gs>
                  <a:gs pos="100000">
                    <a:srgbClr val="3333CC">
                      <a:gamma/>
                      <a:shade val="46275"/>
                      <a:invGamma/>
                    </a:srgbClr>
                  </a:gs>
                </a:gsLst>
                <a:lin ang="2700000" scaled="1"/>
              </a:gradFill>
              <a:ln w="9525">
                <a:solidFill>
                  <a:srgbClr val="3333CC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altLang="zh-CN" sz="2800" b="1" dirty="0">
                    <a:solidFill>
                      <a:srgbClr val="FFFF00"/>
                    </a:solidFill>
                  </a:rPr>
                  <a:t>3</a:t>
                </a:r>
              </a:p>
            </p:txBody>
          </p:sp>
          <p:sp>
            <p:nvSpPr>
              <p:cNvPr id="13" name="Oval 7"/>
              <p:cNvSpPr>
                <a:spLocks noChangeArrowheads="1"/>
              </p:cNvSpPr>
              <p:nvPr/>
            </p:nvSpPr>
            <p:spPr bwMode="auto">
              <a:xfrm>
                <a:off x="3977" y="3053"/>
                <a:ext cx="266" cy="266"/>
              </a:xfrm>
              <a:prstGeom prst="ellipse">
                <a:avLst/>
              </a:prstGeom>
              <a:gradFill rotWithShape="0">
                <a:gsLst>
                  <a:gs pos="0">
                    <a:srgbClr val="3333CC"/>
                  </a:gs>
                  <a:gs pos="100000">
                    <a:srgbClr val="3333CC">
                      <a:gamma/>
                      <a:shade val="46275"/>
                      <a:invGamma/>
                    </a:srgbClr>
                  </a:gs>
                </a:gsLst>
                <a:lin ang="2700000" scaled="1"/>
              </a:gradFill>
              <a:ln w="9525">
                <a:solidFill>
                  <a:srgbClr val="3333CC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altLang="zh-CN" sz="2800" b="1" dirty="0">
                    <a:solidFill>
                      <a:srgbClr val="FFFF00"/>
                    </a:solidFill>
                  </a:rPr>
                  <a:t>2</a:t>
                </a:r>
              </a:p>
            </p:txBody>
          </p:sp>
          <p:sp>
            <p:nvSpPr>
              <p:cNvPr id="14" name="Oval 8"/>
              <p:cNvSpPr>
                <a:spLocks noChangeArrowheads="1"/>
              </p:cNvSpPr>
              <p:nvPr/>
            </p:nvSpPr>
            <p:spPr bwMode="auto">
              <a:xfrm>
                <a:off x="3972" y="3927"/>
                <a:ext cx="266" cy="266"/>
              </a:xfrm>
              <a:prstGeom prst="ellipse">
                <a:avLst/>
              </a:prstGeom>
              <a:gradFill rotWithShape="0">
                <a:gsLst>
                  <a:gs pos="0">
                    <a:srgbClr val="3333CC"/>
                  </a:gs>
                  <a:gs pos="100000">
                    <a:srgbClr val="3333CC">
                      <a:gamma/>
                      <a:shade val="46275"/>
                      <a:invGamma/>
                    </a:srgbClr>
                  </a:gs>
                </a:gsLst>
                <a:lin ang="2700000" scaled="1"/>
              </a:gradFill>
              <a:ln w="9525">
                <a:solidFill>
                  <a:srgbClr val="3333CC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altLang="zh-CN" sz="2800" b="1" dirty="0">
                    <a:solidFill>
                      <a:srgbClr val="FFFF00"/>
                    </a:solidFill>
                  </a:rPr>
                  <a:t>4</a:t>
                </a:r>
              </a:p>
            </p:txBody>
          </p:sp>
          <p:sp>
            <p:nvSpPr>
              <p:cNvPr id="15" name="Line 9"/>
              <p:cNvSpPr>
                <a:spLocks noChangeShapeType="1"/>
              </p:cNvSpPr>
              <p:nvPr/>
            </p:nvSpPr>
            <p:spPr bwMode="auto">
              <a:xfrm flipH="1" flipV="1">
                <a:off x="2587" y="3301"/>
                <a:ext cx="0" cy="598"/>
              </a:xfrm>
              <a:prstGeom prst="line">
                <a:avLst/>
              </a:prstGeom>
              <a:noFill/>
              <a:ln w="31750">
                <a:solidFill>
                  <a:srgbClr val="008000"/>
                </a:solidFill>
                <a:round/>
                <a:headEnd/>
                <a:tailEnd type="triangle" w="sm" len="lg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" name="Line 10"/>
              <p:cNvSpPr>
                <a:spLocks noChangeShapeType="1"/>
              </p:cNvSpPr>
              <p:nvPr/>
            </p:nvSpPr>
            <p:spPr bwMode="auto">
              <a:xfrm>
                <a:off x="2725" y="3182"/>
                <a:ext cx="1243" cy="0"/>
              </a:xfrm>
              <a:prstGeom prst="line">
                <a:avLst/>
              </a:prstGeom>
              <a:noFill/>
              <a:ln w="31750">
                <a:solidFill>
                  <a:srgbClr val="008000"/>
                </a:solidFill>
                <a:round/>
                <a:headEnd/>
                <a:tailEnd type="triangle" w="sm" len="lg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" name="Line 11"/>
              <p:cNvSpPr>
                <a:spLocks noChangeShapeType="1"/>
              </p:cNvSpPr>
              <p:nvPr/>
            </p:nvSpPr>
            <p:spPr bwMode="auto">
              <a:xfrm>
                <a:off x="2721" y="4046"/>
                <a:ext cx="1243" cy="0"/>
              </a:xfrm>
              <a:prstGeom prst="line">
                <a:avLst/>
              </a:prstGeom>
              <a:noFill/>
              <a:ln w="31750">
                <a:solidFill>
                  <a:srgbClr val="008000"/>
                </a:solidFill>
                <a:round/>
                <a:headEnd/>
                <a:tailEnd type="triangle" w="sm" len="lg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" name="Line 12"/>
              <p:cNvSpPr>
                <a:spLocks noChangeShapeType="1"/>
              </p:cNvSpPr>
              <p:nvPr/>
            </p:nvSpPr>
            <p:spPr bwMode="auto">
              <a:xfrm flipH="1" flipV="1">
                <a:off x="4105" y="3310"/>
                <a:ext cx="0" cy="621"/>
              </a:xfrm>
              <a:prstGeom prst="line">
                <a:avLst/>
              </a:prstGeom>
              <a:noFill/>
              <a:ln w="31750">
                <a:solidFill>
                  <a:srgbClr val="008000"/>
                </a:solidFill>
                <a:round/>
                <a:headEnd/>
                <a:tailEnd type="triangle" w="sm" len="lg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" name="Text Box 21"/>
            <p:cNvSpPr txBox="1">
              <a:spLocks noChangeArrowheads="1"/>
            </p:cNvSpPr>
            <p:nvPr/>
          </p:nvSpPr>
          <p:spPr bwMode="auto">
            <a:xfrm>
              <a:off x="3339" y="2899"/>
              <a:ext cx="220" cy="3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600" b="1" dirty="0">
                  <a:solidFill>
                    <a:schemeClr val="tx2"/>
                  </a:solidFill>
                </a:rPr>
                <a:t>8</a:t>
              </a:r>
            </a:p>
          </p:txBody>
        </p:sp>
        <p:sp>
          <p:nvSpPr>
            <p:cNvPr id="7" name="Text Box 22"/>
            <p:cNvSpPr txBox="1">
              <a:spLocks noChangeArrowheads="1"/>
            </p:cNvSpPr>
            <p:nvPr/>
          </p:nvSpPr>
          <p:spPr bwMode="auto">
            <a:xfrm>
              <a:off x="3416" y="3402"/>
              <a:ext cx="220" cy="3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2600" b="1" dirty="0">
                  <a:solidFill>
                    <a:schemeClr val="tx2"/>
                  </a:solidFill>
                </a:rPr>
                <a:t>5</a:t>
              </a:r>
            </a:p>
          </p:txBody>
        </p:sp>
        <p:sp>
          <p:nvSpPr>
            <p:cNvPr id="8" name="Text Box 25"/>
            <p:cNvSpPr txBox="1">
              <a:spLocks noChangeArrowheads="1"/>
            </p:cNvSpPr>
            <p:nvPr/>
          </p:nvSpPr>
          <p:spPr bwMode="auto">
            <a:xfrm>
              <a:off x="4206" y="3388"/>
              <a:ext cx="220" cy="3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600" b="1" dirty="0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9" name="Text Box 26"/>
            <p:cNvSpPr txBox="1">
              <a:spLocks noChangeArrowheads="1"/>
            </p:cNvSpPr>
            <p:nvPr/>
          </p:nvSpPr>
          <p:spPr bwMode="auto">
            <a:xfrm>
              <a:off x="2469" y="3486"/>
              <a:ext cx="220" cy="3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600" b="1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10" name="Text Box 27"/>
            <p:cNvSpPr txBox="1">
              <a:spLocks noChangeArrowheads="1"/>
            </p:cNvSpPr>
            <p:nvPr/>
          </p:nvSpPr>
          <p:spPr bwMode="auto">
            <a:xfrm>
              <a:off x="3328" y="4012"/>
              <a:ext cx="220" cy="3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600" b="1" dirty="0">
                  <a:solidFill>
                    <a:schemeClr val="tx2"/>
                  </a:solidFill>
                </a:rPr>
                <a:t>1</a:t>
              </a:r>
            </a:p>
          </p:txBody>
        </p:sp>
      </p:grpSp>
      <p:sp>
        <p:nvSpPr>
          <p:cNvPr id="19" name="Line 12"/>
          <p:cNvSpPr>
            <a:spLocks noChangeShapeType="1"/>
          </p:cNvSpPr>
          <p:nvPr/>
        </p:nvSpPr>
        <p:spPr bwMode="auto">
          <a:xfrm flipH="1" flipV="1">
            <a:off x="3271043" y="4164382"/>
            <a:ext cx="2190748" cy="1208086"/>
          </a:xfrm>
          <a:prstGeom prst="line">
            <a:avLst/>
          </a:prstGeom>
          <a:noFill/>
          <a:ln w="31750">
            <a:solidFill>
              <a:srgbClr val="008000"/>
            </a:solidFill>
            <a:round/>
            <a:headEnd/>
            <a:tailEnd type="triangle" w="sm" len="lg"/>
          </a:ln>
          <a:effectLst/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402800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奥斯汀">
  <a:themeElements>
    <a:clrScheme name="奥斯汀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奥斯汀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奥斯汀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Austin</Template>
  <TotalTime>835</TotalTime>
  <Words>290</Words>
  <Application>Microsoft Office PowerPoint</Application>
  <PresentationFormat>全屏显示(4:3)</PresentationFormat>
  <Paragraphs>32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Calibri</vt:lpstr>
      <vt:lpstr>Century Gothic</vt:lpstr>
      <vt:lpstr>Wingdings 2</vt:lpstr>
      <vt:lpstr>奥斯汀</vt:lpstr>
      <vt:lpstr>辅助练习</vt:lpstr>
      <vt:lpstr>PowerPoint 演示文稿</vt:lpstr>
    </vt:vector>
  </TitlesOfParts>
  <Company>复旦大学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</dc:creator>
  <cp:lastModifiedBy>天天向上</cp:lastModifiedBy>
  <cp:revision>14</cp:revision>
  <dcterms:created xsi:type="dcterms:W3CDTF">2015-10-06T06:05:55Z</dcterms:created>
  <dcterms:modified xsi:type="dcterms:W3CDTF">2021-10-25T14:20:28Z</dcterms:modified>
</cp:coreProperties>
</file>