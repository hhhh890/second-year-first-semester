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123" autoAdjust="0"/>
  </p:normalViewPr>
  <p:slideViewPr>
    <p:cSldViewPr>
      <p:cViewPr varScale="1">
        <p:scale>
          <a:sx n="67" d="100"/>
          <a:sy n="67" d="100"/>
        </p:scale>
        <p:origin x="1637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E29F0-5D64-43F1-883C-5AAB9C48C560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F1E84-660E-494F-A899-1814D25606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90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答：</a:t>
            </a:r>
            <a:endParaRPr lang="en-US" altLang="zh-CN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dirty="0"/>
              <a:t>1.</a:t>
            </a:r>
            <a:r>
              <a:rPr lang="zh-CN" altLang="zh-CN" dirty="0"/>
              <a:t>解法一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zh-CN" altLang="zh-CN" dirty="0"/>
              <a:t>设叶子结点数为</a:t>
            </a:r>
            <a:r>
              <a:rPr lang="en-US" altLang="zh-CN" dirty="0"/>
              <a:t>n</a:t>
            </a:r>
            <a:r>
              <a:rPr lang="en-US" altLang="zh-CN" baseline="-25000" dirty="0"/>
              <a:t>0</a:t>
            </a:r>
            <a:r>
              <a:rPr lang="zh-CN" altLang="zh-CN" dirty="0"/>
              <a:t>，非叶子结点数为</a:t>
            </a:r>
            <a:r>
              <a:rPr lang="en-US" altLang="zh-CN" dirty="0"/>
              <a:t>n</a:t>
            </a:r>
            <a:r>
              <a:rPr lang="en-US" altLang="zh-CN" baseline="-25000" dirty="0"/>
              <a:t>2</a:t>
            </a:r>
            <a:r>
              <a:rPr lang="en-US" altLang="zh-CN" dirty="0"/>
              <a:t>;</a:t>
            </a:r>
            <a:endParaRPr lang="zh-CN" altLang="zh-CN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zh-CN" dirty="0"/>
              <a:t>      2n</a:t>
            </a:r>
            <a:r>
              <a:rPr lang="en-US" altLang="zh-CN" baseline="-25000" dirty="0"/>
              <a:t>2</a:t>
            </a:r>
            <a:r>
              <a:rPr lang="en-US" altLang="zh-CN" dirty="0"/>
              <a:t>+1=n</a:t>
            </a:r>
            <a:r>
              <a:rPr lang="zh-CN" altLang="en-US" dirty="0"/>
              <a:t>，</a:t>
            </a:r>
            <a:r>
              <a:rPr lang="en-US" altLang="zh-CN" dirty="0"/>
              <a:t>      2n</a:t>
            </a:r>
            <a:r>
              <a:rPr lang="en-US" altLang="zh-CN" baseline="-25000" dirty="0"/>
              <a:t>2</a:t>
            </a:r>
            <a:r>
              <a:rPr lang="en-US" altLang="zh-CN" dirty="0"/>
              <a:t>+1 = n</a:t>
            </a:r>
            <a:r>
              <a:rPr lang="en-US" altLang="zh-CN" baseline="-25000" dirty="0"/>
              <a:t>0</a:t>
            </a:r>
            <a:r>
              <a:rPr lang="en-US" altLang="zh-CN" dirty="0"/>
              <a:t> +n</a:t>
            </a:r>
            <a:r>
              <a:rPr lang="en-US" altLang="zh-CN" baseline="-25000" dirty="0"/>
              <a:t>2</a:t>
            </a:r>
            <a:endParaRPr lang="zh-CN" altLang="zh-CN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zh-CN" dirty="0"/>
              <a:t>      </a:t>
            </a:r>
            <a:r>
              <a:rPr lang="zh-CN" altLang="zh-CN" dirty="0"/>
              <a:t>则可得 </a:t>
            </a:r>
            <a:r>
              <a:rPr lang="en-US" altLang="zh-CN" dirty="0"/>
              <a:t>n</a:t>
            </a:r>
            <a:r>
              <a:rPr lang="en-US" altLang="zh-CN" baseline="-25000" dirty="0"/>
              <a:t>0</a:t>
            </a:r>
            <a:r>
              <a:rPr lang="en-US" altLang="zh-CN" dirty="0"/>
              <a:t>= n</a:t>
            </a:r>
            <a:r>
              <a:rPr lang="en-US" altLang="zh-CN" baseline="-25000" dirty="0"/>
              <a:t>2</a:t>
            </a:r>
            <a:r>
              <a:rPr lang="en-US" altLang="zh-CN" dirty="0"/>
              <a:t>+1</a:t>
            </a:r>
            <a:r>
              <a:rPr lang="zh-CN" altLang="en-US" dirty="0"/>
              <a:t>，因此</a:t>
            </a:r>
            <a:r>
              <a:rPr lang="en-US" altLang="zh-CN" dirty="0"/>
              <a:t>n= n</a:t>
            </a:r>
            <a:r>
              <a:rPr lang="en-US" altLang="zh-CN" baseline="-25000" dirty="0"/>
              <a:t>0</a:t>
            </a:r>
            <a:r>
              <a:rPr lang="en-US" altLang="zh-CN" dirty="0"/>
              <a:t>+ n</a:t>
            </a:r>
            <a:r>
              <a:rPr lang="en-US" altLang="zh-CN" baseline="-25000" dirty="0"/>
              <a:t>0</a:t>
            </a:r>
            <a:r>
              <a:rPr lang="en-US" altLang="zh-CN" dirty="0"/>
              <a:t>-1</a:t>
            </a:r>
            <a:endParaRPr lang="zh-CN" altLang="zh-CN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zh-CN" altLang="en-US" dirty="0"/>
              <a:t>      </a:t>
            </a:r>
            <a:r>
              <a:rPr lang="zh-CN" altLang="zh-CN" dirty="0"/>
              <a:t>所以叶子结点个数为</a:t>
            </a:r>
            <a:r>
              <a:rPr lang="en-US" altLang="zh-CN" dirty="0"/>
              <a:t>(n+1)/2.</a:t>
            </a:r>
            <a:endParaRPr lang="zh-CN" altLang="zh-CN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CN" altLang="zh-CN" dirty="0"/>
              <a:t>解法二</a:t>
            </a:r>
            <a:endParaRPr lang="en-US" altLang="zh-CN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zh-CN" altLang="zh-CN" dirty="0"/>
              <a:t>设该满二叉树高度为</a:t>
            </a:r>
            <a:r>
              <a:rPr lang="en-US" altLang="zh-CN" dirty="0"/>
              <a:t>h</a:t>
            </a:r>
            <a:r>
              <a:rPr lang="zh-CN" altLang="zh-CN" dirty="0"/>
              <a:t>，则总的节点个数为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zh-CN" dirty="0"/>
              <a:t>	N=1+2+4+…+2</a:t>
            </a:r>
            <a:r>
              <a:rPr lang="en-US" altLang="zh-CN" baseline="30000" dirty="0"/>
              <a:t>h-1</a:t>
            </a:r>
            <a:r>
              <a:rPr lang="en-US" altLang="zh-CN" dirty="0"/>
              <a:t>=2*2</a:t>
            </a:r>
            <a:r>
              <a:rPr lang="en-US" altLang="zh-CN" baseline="30000" dirty="0"/>
              <a:t>h-1</a:t>
            </a:r>
            <a:r>
              <a:rPr lang="en-US" altLang="zh-CN" dirty="0"/>
              <a:t>-1</a:t>
            </a:r>
            <a:endParaRPr lang="zh-CN" altLang="zh-CN" dirty="0"/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en-US" altLang="zh-CN" dirty="0"/>
              <a:t>  </a:t>
            </a:r>
            <a:r>
              <a:rPr lang="zh-CN" altLang="zh-CN" dirty="0"/>
              <a:t>由于满二叉树中叶子节点集中在最底层，所以该满二叉树叶子个数为</a:t>
            </a:r>
            <a:r>
              <a:rPr lang="en-US" altLang="zh-CN" dirty="0"/>
              <a:t> 2</a:t>
            </a:r>
            <a:r>
              <a:rPr lang="en-US" altLang="zh-CN" baseline="30000" dirty="0"/>
              <a:t>h-1</a:t>
            </a:r>
            <a:r>
              <a:rPr lang="en-US" altLang="zh-CN" dirty="0"/>
              <a:t>=(N+1)/2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B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F1E84-660E-494F-A899-1814D25606A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39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3.</a:t>
            </a:r>
            <a:r>
              <a:rPr lang="zh-CN" altLang="en-US" baseline="0" dirty="0"/>
              <a:t> </a:t>
            </a:r>
            <a:r>
              <a:rPr lang="en-US" altLang="zh-CN" dirty="0"/>
              <a:t>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4. 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F1E84-660E-494F-A899-1814D25606A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4323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Both"/>
            </a:pPr>
            <a:r>
              <a:rPr lang="en-US" altLang="zh-CN" dirty="0"/>
              <a:t>0</a:t>
            </a:r>
          </a:p>
          <a:p>
            <a:pPr marL="228600" indent="-228600">
              <a:buAutoNum type="arabicParenBoth"/>
            </a:pPr>
            <a:r>
              <a:rPr lang="en-US" altLang="zh-CN" dirty="0"/>
              <a:t>(1+f(b-&gt;</a:t>
            </a:r>
            <a:r>
              <a:rPr lang="en-US" altLang="zh-CN" dirty="0" err="1"/>
              <a:t>lc,x</a:t>
            </a:r>
            <a:r>
              <a:rPr lang="en-US" altLang="zh-CN" dirty="0"/>
              <a:t>)+f(b-&gt;</a:t>
            </a:r>
            <a:r>
              <a:rPr lang="en-US" altLang="zh-CN" dirty="0" err="1"/>
              <a:t>rc,x</a:t>
            </a:r>
            <a:r>
              <a:rPr lang="en-US" altLang="zh-CN" dirty="0"/>
              <a:t>))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F1E84-660E-494F-A899-1814D25606A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300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F98218D2-EE4C-4B9A-B33A-F8D4E5552424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7B810832-7B08-4DFA-B1C5-6CDE169431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辅助练习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75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584" y="836712"/>
            <a:ext cx="7416824" cy="5328592"/>
          </a:xfrm>
        </p:spPr>
        <p:txBody>
          <a:bodyPr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dirty="0"/>
              <a:t>1.</a:t>
            </a:r>
            <a:r>
              <a:rPr lang="zh-CN" altLang="en-US" sz="2800" dirty="0"/>
              <a:t>具有</a:t>
            </a:r>
            <a:r>
              <a:rPr lang="en-US" altLang="zh-CN" sz="2800" dirty="0"/>
              <a:t>n</a:t>
            </a:r>
            <a:r>
              <a:rPr lang="zh-CN" altLang="en-US" sz="2800" dirty="0"/>
              <a:t>个节点的满二叉树的叶子节点的个数是多少？</a:t>
            </a:r>
          </a:p>
          <a:p>
            <a:pPr>
              <a:lnSpc>
                <a:spcPct val="130000"/>
              </a:lnSpc>
            </a:pPr>
            <a:r>
              <a:rPr lang="en-US" altLang="zh-CN" sz="2800" dirty="0"/>
              <a:t>2. </a:t>
            </a:r>
            <a:r>
              <a:rPr lang="zh-CN" altLang="en-US" sz="2800" dirty="0"/>
              <a:t>某二叉树的先序序列和后序序列正好相反，则该二叉树一定是。</a:t>
            </a:r>
            <a:endParaRPr lang="en-US" altLang="zh-CN" sz="2800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dirty="0"/>
              <a:t>A</a:t>
            </a:r>
            <a:r>
              <a:rPr lang="zh-CN" altLang="en-US" dirty="0"/>
              <a:t>．空或只有一个结点　  </a:t>
            </a:r>
            <a:r>
              <a:rPr lang="en-US" altLang="zh-CN" dirty="0"/>
              <a:t>B</a:t>
            </a:r>
            <a:r>
              <a:rPr lang="zh-CN" altLang="en-US" dirty="0"/>
              <a:t>．任一结点至多只有一个孩子</a:t>
            </a:r>
            <a:br>
              <a:rPr lang="zh-CN" altLang="en-US" dirty="0"/>
            </a:br>
            <a:r>
              <a:rPr lang="en-US" altLang="zh-CN" dirty="0"/>
              <a:t>C</a:t>
            </a:r>
            <a:r>
              <a:rPr lang="zh-CN" altLang="en-US" dirty="0"/>
              <a:t>．任一结点无左孩子　  </a:t>
            </a:r>
            <a:r>
              <a:rPr lang="en-US" altLang="zh-CN" dirty="0"/>
              <a:t>D</a:t>
            </a:r>
            <a:r>
              <a:rPr lang="zh-CN" altLang="en-US" dirty="0"/>
              <a:t>．任一结点无右孩子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7568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492" y="692696"/>
            <a:ext cx="6777317" cy="5139933"/>
          </a:xfrm>
        </p:spPr>
        <p:txBody>
          <a:bodyPr/>
          <a:lstStyle/>
          <a:p>
            <a:r>
              <a:rPr lang="en-US" altLang="zh-CN" sz="2800" dirty="0"/>
              <a:t>3. </a:t>
            </a:r>
            <a:r>
              <a:rPr lang="zh-CN" altLang="en-US" sz="2800" dirty="0"/>
              <a:t>任何一棵二叉树的叶子结点在前序、中序、后序遍历序列中的相对次序（ ）。</a:t>
            </a:r>
          </a:p>
          <a:p>
            <a:pPr marL="457200" lvl="1" indent="0">
              <a:buNone/>
            </a:pPr>
            <a:r>
              <a:rPr lang="en-US" altLang="zh-CN" dirty="0"/>
              <a:t>A </a:t>
            </a:r>
            <a:r>
              <a:rPr lang="zh-CN" altLang="en-US" dirty="0"/>
              <a:t>肯定不发生改变      </a:t>
            </a:r>
            <a:r>
              <a:rPr lang="en-US" altLang="zh-CN" dirty="0"/>
              <a:t>B </a:t>
            </a:r>
            <a:r>
              <a:rPr lang="zh-CN" altLang="en-US" dirty="0"/>
              <a:t>肯定发生改变     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C </a:t>
            </a:r>
            <a:r>
              <a:rPr lang="zh-CN" altLang="en-US" dirty="0"/>
              <a:t>不能确定                    </a:t>
            </a:r>
            <a:r>
              <a:rPr lang="en-US" altLang="zh-CN" dirty="0"/>
              <a:t>D </a:t>
            </a:r>
            <a:r>
              <a:rPr lang="zh-CN" altLang="en-US" dirty="0"/>
              <a:t>有时发生变化</a:t>
            </a:r>
            <a:endParaRPr lang="en-US" altLang="zh-CN" sz="2400" dirty="0"/>
          </a:p>
          <a:p>
            <a:r>
              <a:rPr lang="en-US" altLang="zh-CN" sz="2800" dirty="0"/>
              <a:t>4. </a:t>
            </a:r>
            <a:r>
              <a:rPr lang="zh-CN" altLang="en-US" sz="2800" dirty="0"/>
              <a:t>若一棵二叉树的前序遍历序列和后序遍历序列分别为</a:t>
            </a:r>
            <a:r>
              <a:rPr lang="en-US" altLang="zh-CN" sz="2800" dirty="0"/>
              <a:t>1, 2, 3, 4</a:t>
            </a:r>
            <a:r>
              <a:rPr lang="zh-CN" altLang="en-US" sz="2800" dirty="0"/>
              <a:t>和</a:t>
            </a:r>
            <a:r>
              <a:rPr lang="en-US" altLang="zh-CN" sz="2800" dirty="0"/>
              <a:t>4, 3, 2, 1</a:t>
            </a:r>
            <a:r>
              <a:rPr lang="zh-CN" altLang="en-US" sz="2800" dirty="0"/>
              <a:t>，则该二叉树的中序遍历序列不会是</a:t>
            </a:r>
          </a:p>
          <a:p>
            <a:pPr marL="365760" lvl="1" indent="0">
              <a:buNone/>
            </a:pPr>
            <a:r>
              <a:rPr lang="en-US" altLang="zh-CN" dirty="0"/>
              <a:t> A.1, 2, 3, 4              B.2, 3, 4, 1 </a:t>
            </a:r>
          </a:p>
          <a:p>
            <a:pPr marL="365760" lvl="1" indent="0">
              <a:buNone/>
            </a:pPr>
            <a:r>
              <a:rPr lang="en-US" altLang="zh-CN" dirty="0"/>
              <a:t> C.3, 2, 4, 1              D.4, 3, 2, 1</a:t>
            </a:r>
          </a:p>
        </p:txBody>
      </p:sp>
    </p:spTree>
    <p:extLst>
      <p:ext uri="{BB962C8B-B14F-4D97-AF65-F5344CB8AC3E}">
        <p14:creationId xmlns:p14="http://schemas.microsoft.com/office/powerpoint/2010/main" val="408505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r>
              <a:rPr lang="zh-CN" altLang="en-US" dirty="0"/>
              <a:t>程序填空：求二叉树中结点值为</a:t>
            </a:r>
            <a:r>
              <a:rPr lang="en-US" altLang="zh-CN" dirty="0"/>
              <a:t>x</a:t>
            </a:r>
            <a:r>
              <a:rPr lang="zh-CN" altLang="en-US" dirty="0"/>
              <a:t>的结点个数</a:t>
            </a:r>
            <a:endParaRPr lang="en-US" altLang="zh-CN" dirty="0"/>
          </a:p>
          <a:p>
            <a:pPr marL="6858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f(BN *b, ET x) {</a:t>
            </a:r>
          </a:p>
          <a:p>
            <a:pPr marL="68580" indent="0">
              <a:buNone/>
            </a:pPr>
            <a:r>
              <a:rPr lang="en-US" altLang="zh-CN" dirty="0"/>
              <a:t>     if(b==NULL) return  </a:t>
            </a:r>
            <a:r>
              <a:rPr lang="en-US" altLang="zh-CN" u="sng" dirty="0"/>
              <a:t> (1)  </a:t>
            </a:r>
            <a:r>
              <a:rPr lang="en-US" altLang="zh-CN" dirty="0"/>
              <a:t>;</a:t>
            </a:r>
          </a:p>
          <a:p>
            <a:pPr marL="68580" indent="0">
              <a:buNone/>
            </a:pPr>
            <a:r>
              <a:rPr lang="en-US" altLang="zh-CN" dirty="0"/>
              <a:t>     else if(b-&gt;data==x) </a:t>
            </a:r>
          </a:p>
          <a:p>
            <a:pPr marL="68580" indent="0">
              <a:buNone/>
            </a:pPr>
            <a:r>
              <a:rPr lang="en-US" altLang="zh-CN" dirty="0"/>
              <a:t>            return </a:t>
            </a:r>
            <a:r>
              <a:rPr lang="en-US" altLang="zh-CN" u="sng" dirty="0"/>
              <a:t> (2) </a:t>
            </a:r>
            <a:r>
              <a:rPr lang="en-US" altLang="zh-CN" dirty="0"/>
              <a:t>;</a:t>
            </a:r>
          </a:p>
          <a:p>
            <a:pPr marL="68580" indent="0">
              <a:buNone/>
            </a:pPr>
            <a:r>
              <a:rPr lang="en-US" altLang="zh-CN" dirty="0"/>
              <a:t>     else </a:t>
            </a:r>
          </a:p>
          <a:p>
            <a:pPr marL="68580" indent="0">
              <a:buNone/>
            </a:pPr>
            <a:r>
              <a:rPr lang="en-US" altLang="zh-CN" dirty="0"/>
              <a:t>           return f(b-&gt;</a:t>
            </a:r>
            <a:r>
              <a:rPr lang="en-US" altLang="zh-CN" dirty="0" err="1"/>
              <a:t>lc,x</a:t>
            </a:r>
            <a:r>
              <a:rPr lang="en-US" altLang="zh-CN" dirty="0"/>
              <a:t>)+f(b-&gt;</a:t>
            </a:r>
            <a:r>
              <a:rPr lang="en-US" altLang="zh-CN" dirty="0" err="1"/>
              <a:t>rc,x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6858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1371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233</TotalTime>
  <Words>408</Words>
  <Application>Microsoft Office PowerPoint</Application>
  <PresentationFormat>全屏显示(4:3)</PresentationFormat>
  <Paragraphs>40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Arial</vt:lpstr>
      <vt:lpstr>Calibri</vt:lpstr>
      <vt:lpstr>Century Gothic</vt:lpstr>
      <vt:lpstr>Wingdings 2</vt:lpstr>
      <vt:lpstr>奥斯汀</vt:lpstr>
      <vt:lpstr>辅助练习</vt:lpstr>
      <vt:lpstr>PowerPoint 演示文稿</vt:lpstr>
      <vt:lpstr>PowerPoint 演示文稿</vt:lpstr>
      <vt:lpstr>PowerPoint 演示文稿</vt:lpstr>
    </vt:vector>
  </TitlesOfParts>
  <Company>复旦大学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课堂练习</dc:title>
  <dc:creator>admin</dc:creator>
  <cp:lastModifiedBy>天天向上</cp:lastModifiedBy>
  <cp:revision>12</cp:revision>
  <dcterms:created xsi:type="dcterms:W3CDTF">2015-10-05T10:01:47Z</dcterms:created>
  <dcterms:modified xsi:type="dcterms:W3CDTF">2025-11-04T07:18:52Z</dcterms:modified>
</cp:coreProperties>
</file>