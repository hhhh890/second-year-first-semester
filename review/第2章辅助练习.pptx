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60" r:id="rId3"/>
    <p:sldId id="261" r:id="rId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933" autoAdjust="0"/>
  </p:normalViewPr>
  <p:slideViewPr>
    <p:cSldViewPr>
      <p:cViewPr varScale="1">
        <p:scale>
          <a:sx n="62" d="100"/>
          <a:sy n="62" d="100"/>
        </p:scale>
        <p:origin x="2050"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DB86BE-8866-4A97-BBB1-925D43846CCE}" type="datetimeFigureOut">
              <a:rPr lang="zh-CN" altLang="en-US" smtClean="0"/>
              <a:t>2023/9/13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6305FF-3D72-4EC9-98FA-84C6020678EB}" type="slidenum">
              <a:rPr lang="zh-CN" altLang="en-US" smtClean="0"/>
              <a:t>‹#›</a:t>
            </a:fld>
            <a:endParaRPr lang="zh-CN" altLang="en-US"/>
          </a:p>
        </p:txBody>
      </p:sp>
    </p:spTree>
    <p:extLst>
      <p:ext uri="{BB962C8B-B14F-4D97-AF65-F5344CB8AC3E}">
        <p14:creationId xmlns:p14="http://schemas.microsoft.com/office/powerpoint/2010/main" val="3580787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6305FF-3D72-4EC9-98FA-84C6020678EB}" type="slidenum">
              <a:rPr lang="zh-CN" altLang="en-US" smtClean="0"/>
              <a:t>1</a:t>
            </a:fld>
            <a:endParaRPr lang="zh-CN" altLang="en-US"/>
          </a:p>
        </p:txBody>
      </p:sp>
    </p:spTree>
    <p:extLst>
      <p:ext uri="{BB962C8B-B14F-4D97-AF65-F5344CB8AC3E}">
        <p14:creationId xmlns:p14="http://schemas.microsoft.com/office/powerpoint/2010/main" val="4170280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pPr defTabSz="844083" fontAlgn="base">
              <a:spcBef>
                <a:spcPct val="30000"/>
              </a:spcBef>
              <a:spcAft>
                <a:spcPct val="0"/>
              </a:spcAft>
              <a:defRPr/>
            </a:pPr>
            <a:r>
              <a:rPr lang="zh-CN" altLang="en-US" dirty="0"/>
              <a:t>答案：</a:t>
            </a:r>
            <a:endParaRPr lang="en-US" altLang="zh-CN" dirty="0"/>
          </a:p>
          <a:p>
            <a:pPr defTabSz="844083" fontAlgn="base">
              <a:spcBef>
                <a:spcPct val="30000"/>
              </a:spcBef>
              <a:spcAft>
                <a:spcPct val="0"/>
              </a:spcAft>
              <a:defRPr/>
            </a:pPr>
            <a:r>
              <a:rPr lang="zh-CN" altLang="en-US" dirty="0"/>
              <a:t>（</a:t>
            </a:r>
            <a:r>
              <a:rPr lang="en-US" altLang="zh-CN" dirty="0"/>
              <a:t>1</a:t>
            </a:r>
            <a:r>
              <a:rPr lang="zh-CN" altLang="en-US" dirty="0"/>
              <a:t>）</a:t>
            </a:r>
            <a:r>
              <a:rPr lang="zh-CN" altLang="zh-CN" dirty="0"/>
              <a:t>错。</a:t>
            </a:r>
            <a:r>
              <a:rPr lang="zh-CN" altLang="en-US" sz="1200" dirty="0"/>
              <a:t>*</a:t>
            </a:r>
            <a:r>
              <a:rPr lang="en-US" altLang="zh-CN" sz="1200" dirty="0"/>
              <a:t>p==</a:t>
            </a:r>
            <a:r>
              <a:rPr lang="zh-CN" altLang="en-US" sz="1200" dirty="0"/>
              <a:t>*</a:t>
            </a:r>
            <a:r>
              <a:rPr lang="en-US" altLang="zh-CN" sz="1200" dirty="0"/>
              <a:t>q</a:t>
            </a:r>
            <a:r>
              <a:rPr lang="zh-CN" altLang="zh-CN" dirty="0"/>
              <a:t>表示</a:t>
            </a:r>
            <a:r>
              <a:rPr lang="zh-CN" altLang="en-US" dirty="0"/>
              <a:t>内容的值相等，但</a:t>
            </a:r>
            <a:r>
              <a:rPr lang="en-US" altLang="zh-CN" dirty="0"/>
              <a:t>p</a:t>
            </a:r>
            <a:r>
              <a:rPr lang="zh-CN" altLang="zh-CN" dirty="0"/>
              <a:t>和</a:t>
            </a:r>
            <a:r>
              <a:rPr lang="en-US" altLang="zh-CN" dirty="0"/>
              <a:t>q</a:t>
            </a:r>
            <a:r>
              <a:rPr lang="zh-CN" altLang="en-US" dirty="0"/>
              <a:t>未必</a:t>
            </a:r>
            <a:r>
              <a:rPr lang="zh-CN" altLang="zh-CN" dirty="0"/>
              <a:t>指向同一起始地址。</a:t>
            </a:r>
            <a:endParaRPr lang="en-US" altLang="zh-CN" dirty="0"/>
          </a:p>
          <a:p>
            <a:pPr defTabSz="844083" fontAlgn="base">
              <a:spcBef>
                <a:spcPct val="30000"/>
              </a:spcBef>
              <a:spcAft>
                <a:spcPct val="0"/>
              </a:spcAft>
              <a:defRPr/>
            </a:pPr>
            <a:r>
              <a:rPr lang="zh-CN" altLang="en-US" dirty="0"/>
              <a:t>（</a:t>
            </a:r>
            <a:r>
              <a:rPr lang="en-US" altLang="zh-CN" dirty="0"/>
              <a:t>2</a:t>
            </a:r>
            <a:r>
              <a:rPr lang="zh-CN" altLang="en-US" dirty="0"/>
              <a:t>）</a:t>
            </a:r>
            <a:r>
              <a:rPr lang="en-US" altLang="zh-CN" dirty="0"/>
              <a:t>B</a:t>
            </a:r>
            <a:r>
              <a:rPr lang="zh-CN" altLang="en-US" dirty="0"/>
              <a:t>。双向链表和带头结点的链表都增加了需要的存储空间</a:t>
            </a:r>
            <a:endParaRPr lang="en-US" altLang="zh-CN" dirty="0"/>
          </a:p>
          <a:p>
            <a:pPr defTabSz="844083" fontAlgn="base">
              <a:spcBef>
                <a:spcPct val="30000"/>
              </a:spcBef>
              <a:spcAft>
                <a:spcPct val="0"/>
              </a:spcAft>
              <a:defRPr/>
            </a:pPr>
            <a:r>
              <a:rPr lang="zh-CN" altLang="en-US"/>
              <a:t>这题不严密，如果表中结点数据较少，例如就一个整数，用顺序表较好，因为删除后，把最后结点数据补上来，不需要移动数据。如果结点数据较大，这样复制数据较消耗时间，就还是单链表好。</a:t>
            </a:r>
            <a:endParaRPr lang="en-US" altLang="zh-CN" dirty="0"/>
          </a:p>
          <a:p>
            <a:pPr defTabSz="844083" fontAlgn="base">
              <a:spcBef>
                <a:spcPct val="30000"/>
              </a:spcBef>
              <a:spcAft>
                <a:spcPct val="0"/>
              </a:spcAft>
              <a:defRPr/>
            </a:pPr>
            <a:r>
              <a:rPr lang="zh-CN" altLang="en-US" dirty="0"/>
              <a:t>（</a:t>
            </a:r>
            <a:r>
              <a:rPr lang="en-US" altLang="zh-CN" dirty="0"/>
              <a:t>3</a:t>
            </a:r>
            <a:r>
              <a:rPr lang="zh-CN" altLang="en-US" dirty="0"/>
              <a:t>）</a:t>
            </a:r>
            <a:r>
              <a:rPr lang="zh-CN" altLang="zh-CN" dirty="0"/>
              <a:t>带尾指针的单循环链表中删除第一个结点，其时间性能是</a:t>
            </a:r>
            <a:r>
              <a:rPr lang="en-US" altLang="zh-CN" dirty="0"/>
              <a:t>O(1)</a:t>
            </a:r>
            <a:r>
              <a:rPr lang="zh-CN" altLang="zh-CN" dirty="0"/>
              <a:t>，所以，答案是</a:t>
            </a:r>
            <a:r>
              <a:rPr lang="en-US" altLang="zh-CN" dirty="0"/>
              <a:t>D </a:t>
            </a:r>
            <a:r>
              <a:rPr lang="zh-CN" altLang="zh-CN" dirty="0"/>
              <a:t>。</a:t>
            </a:r>
            <a:endParaRPr lang="zh-CN" altLang="en-US" dirty="0"/>
          </a:p>
          <a:p>
            <a:pPr defTabSz="844083" fontAlgn="base">
              <a:spcBef>
                <a:spcPct val="30000"/>
              </a:spcBef>
              <a:spcAft>
                <a:spcPct val="0"/>
              </a:spcAft>
              <a:defRPr/>
            </a:pPr>
            <a:endParaRPr lang="en-US" altLang="zh-CN" dirty="0"/>
          </a:p>
          <a:p>
            <a:pPr defTabSz="844083" fontAlgn="base">
              <a:spcBef>
                <a:spcPct val="30000"/>
              </a:spcBef>
              <a:spcAft>
                <a:spcPct val="0"/>
              </a:spcAft>
              <a:defRPr/>
            </a:pP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C2747EF-9D0B-4EBB-9A95-81F096A9A21C}"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1</a:t>
            </a:r>
            <a:r>
              <a:rPr lang="zh-CN" altLang="en-US" dirty="0"/>
              <a:t>）</a:t>
            </a:r>
            <a:r>
              <a:rPr lang="en-US" altLang="zh-CN" dirty="0"/>
              <a:t>r</a:t>
            </a:r>
            <a:r>
              <a:rPr lang="en-US" altLang="zh-CN" baseline="0" dirty="0"/>
              <a:t> = </a:t>
            </a:r>
            <a:r>
              <a:rPr lang="en-US" altLang="zh-CN" dirty="0"/>
              <a:t>p-&gt;next</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2</a:t>
            </a:r>
            <a:r>
              <a:rPr lang="zh-CN" altLang="en-US" dirty="0"/>
              <a:t>）</a:t>
            </a:r>
            <a:r>
              <a:rPr lang="en-US" altLang="zh-CN" dirty="0"/>
              <a:t>((r != H)&amp;&amp;(r-&gt;data</a:t>
            </a:r>
            <a:r>
              <a:rPr lang="en-US" altLang="zh-CN" baseline="0" dirty="0"/>
              <a:t> &lt; x))</a:t>
            </a:r>
            <a:r>
              <a:rPr lang="zh-CN" altLang="en-US" dirty="0"/>
              <a:t>，注意对于循环单链结束条件是</a:t>
            </a:r>
            <a:r>
              <a:rPr lang="en-US" altLang="zh-CN" dirty="0"/>
              <a:t>r!=H</a:t>
            </a:r>
            <a:r>
              <a:rPr lang="zh-CN" altLang="en-US" dirty="0"/>
              <a:t>。</a:t>
            </a:r>
          </a:p>
          <a:p>
            <a:r>
              <a:rPr lang="zh-CN" altLang="en-US" dirty="0"/>
              <a:t>（</a:t>
            </a:r>
            <a:r>
              <a:rPr lang="en-US" altLang="zh-CN" dirty="0"/>
              <a:t>3</a:t>
            </a:r>
            <a:r>
              <a:rPr lang="zh-CN" altLang="en-US" dirty="0"/>
              <a:t>）</a:t>
            </a:r>
            <a:r>
              <a:rPr lang="en-US" altLang="zh-CN" dirty="0"/>
              <a:t>delete r</a:t>
            </a:r>
            <a:r>
              <a:rPr lang="zh-CN" altLang="en-US" dirty="0"/>
              <a:t>。</a:t>
            </a:r>
          </a:p>
          <a:p>
            <a:endParaRPr lang="zh-CN" altLang="en-US" dirty="0"/>
          </a:p>
        </p:txBody>
      </p:sp>
      <p:sp>
        <p:nvSpPr>
          <p:cNvPr id="4" name="灯片编号占位符 3"/>
          <p:cNvSpPr>
            <a:spLocks noGrp="1"/>
          </p:cNvSpPr>
          <p:nvPr>
            <p:ph type="sldNum" sz="quarter" idx="10"/>
          </p:nvPr>
        </p:nvSpPr>
        <p:spPr/>
        <p:txBody>
          <a:bodyPr/>
          <a:lstStyle/>
          <a:p>
            <a:fld id="{560E6BD8-910F-4459-BEB3-45946A596297}" type="slidenum">
              <a:rPr lang="en-US" altLang="zh-CN" smtClean="0"/>
              <a:pPr/>
              <a:t>3</a:t>
            </a:fld>
            <a:endParaRPr lang="en-US" altLang="zh-CN"/>
          </a:p>
        </p:txBody>
      </p:sp>
    </p:spTree>
    <p:extLst>
      <p:ext uri="{BB962C8B-B14F-4D97-AF65-F5344CB8AC3E}">
        <p14:creationId xmlns:p14="http://schemas.microsoft.com/office/powerpoint/2010/main" val="544169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zh-CN" altLang="en-US"/>
              <a:t>单击此处编辑母版标题样式</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B85E97A9-CBFA-420C-BB18-0AE60C2439E8}" type="datetimeFigureOut">
              <a:rPr lang="zh-CN" altLang="en-US" smtClean="0"/>
              <a:t>2023/9/13</a:t>
            </a:fld>
            <a:endParaRPr lang="zh-CN" alt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zh-CN" altLang="en-US"/>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787E2843-6C85-4FF3-A2BC-F5C2A7C2901E}" type="slidenum">
              <a:rPr lang="zh-CN" altLang="en-US" smtClean="0"/>
              <a:t>‹#›</a:t>
            </a:fld>
            <a:endParaRPr lang="zh-CN" altLang="en-US"/>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85E97A9-CBFA-420C-BB18-0AE60C2439E8}" type="datetimeFigureOut">
              <a:rPr lang="zh-CN" altLang="en-US" smtClean="0"/>
              <a:t>2023/9/13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87E2843-6C85-4FF3-A2BC-F5C2A7C2901E}"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zh-CN" altLang="en-US"/>
              <a:t>单击此处编辑母版标题样式</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85E97A9-CBFA-420C-BB18-0AE60C2439E8}" type="datetimeFigureOut">
              <a:rPr lang="zh-CN" altLang="en-US" smtClean="0"/>
              <a:t>2023/9/13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87E2843-6C85-4FF3-A2BC-F5C2A7C2901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5" name="Date Placeholder 4"/>
          <p:cNvSpPr>
            <a:spLocks noGrp="1"/>
          </p:cNvSpPr>
          <p:nvPr>
            <p:ph type="dt" sz="half" idx="10"/>
          </p:nvPr>
        </p:nvSpPr>
        <p:spPr/>
        <p:txBody>
          <a:bodyPr/>
          <a:lstStyle/>
          <a:p>
            <a:fld id="{B85E97A9-CBFA-420C-BB18-0AE60C2439E8}" type="datetimeFigureOut">
              <a:rPr lang="zh-CN" altLang="en-US" smtClean="0"/>
              <a:t>2023/9/13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87E2843-6C85-4FF3-A2BC-F5C2A7C2901E}" type="slidenum">
              <a:rPr lang="zh-CN" altLang="en-US" smtClean="0"/>
              <a:t>‹#›</a:t>
            </a:fld>
            <a:endParaRPr lang="zh-CN" altLang="en-US"/>
          </a:p>
        </p:txBody>
      </p:sp>
      <p:sp>
        <p:nvSpPr>
          <p:cNvPr id="9" name="Content Placeholder 8"/>
          <p:cNvSpPr>
            <a:spLocks noGrp="1"/>
          </p:cNvSpPr>
          <p:nvPr>
            <p:ph sz="quarter" idx="13"/>
          </p:nvPr>
        </p:nvSpPr>
        <p:spPr>
          <a:xfrm>
            <a:off x="1042416" y="2313432"/>
            <a:ext cx="3419856" cy="349300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85E97A9-CBFA-420C-BB18-0AE60C2439E8}" type="datetimeFigureOut">
              <a:rPr lang="zh-CN" altLang="en-US" smtClean="0"/>
              <a:t>2023/9/13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87E2843-6C85-4FF3-A2BC-F5C2A7C2901E}"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B85E97A9-CBFA-420C-BB18-0AE60C2439E8}" type="datetimeFigureOut">
              <a:rPr lang="zh-CN" altLang="en-US" smtClean="0"/>
              <a:t>2023/9/13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87E2843-6C85-4FF3-A2BC-F5C2A7C2901E}"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5E97A9-CBFA-420C-BB18-0AE60C2439E8}" type="datetimeFigureOut">
              <a:rPr lang="zh-CN" altLang="en-US" smtClean="0"/>
              <a:t>2023/9/13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87E2843-6C85-4FF3-A2BC-F5C2A7C2901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85E97A9-CBFA-420C-BB18-0AE60C2439E8}" type="datetimeFigureOut">
              <a:rPr lang="zh-CN" altLang="en-US" smtClean="0"/>
              <a:t>2023/9/13</a:t>
            </a:fld>
            <a:endParaRPr lang="zh-CN" altLang="en-US"/>
          </a:p>
        </p:txBody>
      </p:sp>
      <p:sp>
        <p:nvSpPr>
          <p:cNvPr id="7" name="Slide Number Placeholder 6"/>
          <p:cNvSpPr>
            <a:spLocks noGrp="1"/>
          </p:cNvSpPr>
          <p:nvPr>
            <p:ph type="sldNum" sz="quarter" idx="12"/>
          </p:nvPr>
        </p:nvSpPr>
        <p:spPr/>
        <p:txBody>
          <a:bodyPr/>
          <a:lstStyle/>
          <a:p>
            <a:fld id="{787E2843-6C85-4FF3-A2BC-F5C2A7C2901E}" type="slidenum">
              <a:rPr lang="zh-CN" altLang="en-US" smtClean="0"/>
              <a:t>‹#›</a:t>
            </a:fld>
            <a:endParaRPr lang="zh-CN" alt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zh-CN" altLang="en-US"/>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zh-CN" altLang="en-US"/>
              <a:t>单击此处编辑母版标题样式</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zh-CN" altLang="en-US"/>
              <a:t>单击此处编辑母版标题样式</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85E97A9-CBFA-420C-BB18-0AE60C2439E8}" type="datetimeFigureOut">
              <a:rPr lang="zh-CN" altLang="en-US" smtClean="0"/>
              <a:t>2023/9/13</a:t>
            </a:fld>
            <a:endParaRPr lang="zh-CN" alt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zh-CN" altLang="en-US"/>
          </a:p>
        </p:txBody>
      </p:sp>
      <p:sp>
        <p:nvSpPr>
          <p:cNvPr id="7" name="Slide Number Placeholder 6"/>
          <p:cNvSpPr>
            <a:spLocks noGrp="1"/>
          </p:cNvSpPr>
          <p:nvPr>
            <p:ph type="sldNum" sz="quarter" idx="12"/>
          </p:nvPr>
        </p:nvSpPr>
        <p:spPr/>
        <p:txBody>
          <a:bodyPr/>
          <a:lstStyle/>
          <a:p>
            <a:fld id="{787E2843-6C85-4FF3-A2BC-F5C2A7C2901E}"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B85E97A9-CBFA-420C-BB18-0AE60C2439E8}" type="datetimeFigureOut">
              <a:rPr lang="zh-CN" altLang="en-US" smtClean="0"/>
              <a:t>2023/9/13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87E2843-6C85-4FF3-A2BC-F5C2A7C2901E}"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zh-CN" altLang="en-US"/>
              <a:t>单击此处编辑母版标题样式</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B85E97A9-CBFA-420C-BB18-0AE60C2439E8}" type="datetimeFigureOut">
              <a:rPr lang="zh-CN" altLang="en-US" smtClean="0"/>
              <a:t>2023/9/13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87E2843-6C85-4FF3-A2BC-F5C2A7C2901E}"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B85E97A9-CBFA-420C-BB18-0AE60C2439E8}" type="datetimeFigureOut">
              <a:rPr lang="zh-CN" altLang="en-US" smtClean="0"/>
              <a:t>2023/9/13</a:t>
            </a:fld>
            <a:endParaRPr lang="zh-CN" alt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zh-CN" altLang="en-US"/>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787E2843-6C85-4FF3-A2BC-F5C2A7C2901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辅助练习</a:t>
            </a:r>
            <a:endParaRPr lang="zh-CN" altLang="en-US" dirty="0"/>
          </a:p>
        </p:txBody>
      </p:sp>
      <p:sp>
        <p:nvSpPr>
          <p:cNvPr id="3" name="副标题 2"/>
          <p:cNvSpPr>
            <a:spLocks noGrp="1"/>
          </p:cNvSpPr>
          <p:nvPr>
            <p:ph type="subTitle" idx="1"/>
          </p:nvPr>
        </p:nvSpPr>
        <p:spPr/>
        <p:txBody>
          <a:bodyPr/>
          <a:lstStyle/>
          <a:p>
            <a:pPr lvl="1"/>
            <a:endParaRPr lang="zh-CN" altLang="en-US" dirty="0"/>
          </a:p>
        </p:txBody>
      </p:sp>
    </p:spTree>
    <p:extLst>
      <p:ext uri="{BB962C8B-B14F-4D97-AF65-F5344CB8AC3E}">
        <p14:creationId xmlns:p14="http://schemas.microsoft.com/office/powerpoint/2010/main" val="1952947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764704"/>
            <a:ext cx="7704856" cy="5472608"/>
          </a:xfrm>
        </p:spPr>
        <p:txBody>
          <a:bodyPr>
            <a:normAutofit/>
          </a:bodyPr>
          <a:lstStyle/>
          <a:p>
            <a:r>
              <a:rPr lang="zh-CN" altLang="zh-CN" sz="2800" dirty="0"/>
              <a:t>设</a:t>
            </a:r>
            <a:r>
              <a:rPr lang="en-US" altLang="zh-CN" sz="2800" dirty="0"/>
              <a:t>p</a:t>
            </a:r>
            <a:r>
              <a:rPr lang="zh-CN" altLang="zh-CN" sz="2800" dirty="0"/>
              <a:t>，</a:t>
            </a:r>
            <a:r>
              <a:rPr lang="en-US" altLang="zh-CN" sz="2800" dirty="0"/>
              <a:t>q</a:t>
            </a:r>
            <a:r>
              <a:rPr lang="zh-CN" altLang="zh-CN" sz="2800" dirty="0"/>
              <a:t>是指针，若</a:t>
            </a:r>
            <a:r>
              <a:rPr lang="zh-CN" altLang="en-US" sz="2800" dirty="0"/>
              <a:t>*</a:t>
            </a:r>
            <a:r>
              <a:rPr lang="en-US" altLang="zh-CN" sz="2800" dirty="0"/>
              <a:t>p==</a:t>
            </a:r>
            <a:r>
              <a:rPr lang="zh-CN" altLang="en-US" sz="2800" dirty="0"/>
              <a:t>*</a:t>
            </a:r>
            <a:r>
              <a:rPr lang="en-US" altLang="zh-CN" sz="2800" dirty="0"/>
              <a:t>q</a:t>
            </a:r>
            <a:r>
              <a:rPr lang="zh-CN" altLang="zh-CN" sz="2800" dirty="0"/>
              <a:t>，则</a:t>
            </a:r>
            <a:r>
              <a:rPr lang="en-US" altLang="zh-CN" sz="2800" dirty="0"/>
              <a:t>p==q</a:t>
            </a:r>
            <a:r>
              <a:rPr lang="zh-CN" altLang="en-US" sz="2800" dirty="0"/>
              <a:t>是否成立？</a:t>
            </a:r>
            <a:endParaRPr lang="en-US" altLang="zh-CN" sz="2800" dirty="0"/>
          </a:p>
          <a:p>
            <a:r>
              <a:rPr lang="zh-CN" altLang="zh-CN" sz="2800" dirty="0"/>
              <a:t>若某线性表中最常用的操作是</a:t>
            </a:r>
            <a:r>
              <a:rPr lang="zh-CN" altLang="en-US" sz="2800" dirty="0"/>
              <a:t>找到表中具有特定属性值的结点</a:t>
            </a:r>
            <a:r>
              <a:rPr lang="zh-CN" altLang="zh-CN" sz="2800" dirty="0"/>
              <a:t>，</a:t>
            </a:r>
            <a:r>
              <a:rPr lang="zh-CN" altLang="en-US" sz="2800" dirty="0"/>
              <a:t>并且从表中删除这些结点，</a:t>
            </a:r>
            <a:r>
              <a:rPr lang="zh-CN" altLang="zh-CN" sz="2800" dirty="0"/>
              <a:t>则采用（ ）存储方法最节省时间</a:t>
            </a:r>
            <a:r>
              <a:rPr lang="zh-CN" altLang="en-US" sz="2800" dirty="0"/>
              <a:t>和空间</a:t>
            </a:r>
            <a:r>
              <a:rPr lang="zh-CN" altLang="zh-CN" sz="2800" dirty="0"/>
              <a:t>。</a:t>
            </a:r>
            <a:endParaRPr lang="en-US" altLang="zh-CN" sz="2800" dirty="0"/>
          </a:p>
          <a:p>
            <a:pPr lvl="1"/>
            <a:r>
              <a:rPr lang="en-US" altLang="zh-CN" dirty="0"/>
              <a:t>A </a:t>
            </a:r>
            <a:r>
              <a:rPr lang="zh-CN" altLang="zh-CN" dirty="0"/>
              <a:t>顺序表</a:t>
            </a:r>
            <a:r>
              <a:rPr lang="en-US" altLang="zh-CN" dirty="0"/>
              <a:t>      B </a:t>
            </a:r>
            <a:r>
              <a:rPr lang="zh-CN" altLang="zh-CN" dirty="0"/>
              <a:t>单链表</a:t>
            </a:r>
            <a:r>
              <a:rPr lang="en-US" altLang="zh-CN" dirty="0"/>
              <a:t>      C </a:t>
            </a:r>
            <a:r>
              <a:rPr lang="zh-CN" altLang="zh-CN" dirty="0"/>
              <a:t>双</a:t>
            </a:r>
            <a:r>
              <a:rPr lang="zh-CN" altLang="en-US" dirty="0"/>
              <a:t>向</a:t>
            </a:r>
            <a:r>
              <a:rPr lang="zh-CN" altLang="zh-CN" dirty="0"/>
              <a:t>链表</a:t>
            </a:r>
            <a:r>
              <a:rPr lang="en-US" altLang="zh-CN" dirty="0"/>
              <a:t>       D </a:t>
            </a:r>
            <a:r>
              <a:rPr lang="zh-CN" altLang="en-US" dirty="0"/>
              <a:t>带头结点的</a:t>
            </a:r>
            <a:r>
              <a:rPr lang="zh-CN" altLang="zh-CN" dirty="0"/>
              <a:t>单链表</a:t>
            </a:r>
            <a:endParaRPr lang="en-US" altLang="zh-CN" dirty="0"/>
          </a:p>
          <a:p>
            <a:r>
              <a:rPr lang="zh-CN" altLang="zh-CN" sz="2800" dirty="0"/>
              <a:t>若链表中最常用的操作是在最后一个结点之后插入一个结点和删除第一个结点，则采用（ ）存储方法最节省时间。</a:t>
            </a:r>
            <a:endParaRPr lang="en-US" altLang="zh-CN" sz="2800" dirty="0"/>
          </a:p>
          <a:p>
            <a:pPr lvl="1"/>
            <a:r>
              <a:rPr lang="en-US" altLang="zh-CN" dirty="0"/>
              <a:t>A </a:t>
            </a:r>
            <a:r>
              <a:rPr lang="zh-CN" altLang="zh-CN" dirty="0"/>
              <a:t>单链表</a:t>
            </a:r>
            <a:r>
              <a:rPr lang="en-US" altLang="zh-CN" dirty="0"/>
              <a:t>     B </a:t>
            </a:r>
            <a:r>
              <a:rPr lang="zh-CN" altLang="zh-CN" dirty="0"/>
              <a:t>带头指针的单循环链表</a:t>
            </a:r>
            <a:r>
              <a:rPr lang="en-US" altLang="zh-CN" dirty="0"/>
              <a:t>     C </a:t>
            </a:r>
            <a:r>
              <a:rPr lang="zh-CN" altLang="zh-CN" dirty="0"/>
              <a:t>双链表</a:t>
            </a:r>
            <a:r>
              <a:rPr lang="en-US" altLang="zh-CN" dirty="0"/>
              <a:t>          D </a:t>
            </a:r>
            <a:r>
              <a:rPr lang="zh-CN" altLang="zh-CN" dirty="0"/>
              <a:t>带尾指针的单循环链表</a:t>
            </a:r>
            <a:endParaRPr lang="en-US" altLang="zh-CN" dirty="0"/>
          </a:p>
        </p:txBody>
      </p:sp>
    </p:spTree>
    <p:extLst>
      <p:ext uri="{BB962C8B-B14F-4D97-AF65-F5344CB8AC3E}">
        <p14:creationId xmlns:p14="http://schemas.microsoft.com/office/powerpoint/2010/main" val="101940413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692696"/>
            <a:ext cx="7776864" cy="5544616"/>
          </a:xfrm>
        </p:spPr>
        <p:txBody>
          <a:bodyPr>
            <a:normAutofit lnSpcReduction="10000"/>
          </a:bodyPr>
          <a:lstStyle/>
          <a:p>
            <a:r>
              <a:rPr lang="zh-CN" altLang="en-US" dirty="0"/>
              <a:t>填空：下列函数在一个带头结点的有序单循环链表</a:t>
            </a:r>
            <a:r>
              <a:rPr lang="en-US" altLang="zh-CN" dirty="0"/>
              <a:t>H(</a:t>
            </a:r>
            <a:r>
              <a:rPr lang="zh-CN" altLang="en-US" dirty="0"/>
              <a:t>非空</a:t>
            </a:r>
            <a:r>
              <a:rPr lang="en-US" altLang="zh-CN" dirty="0"/>
              <a:t>)</a:t>
            </a:r>
            <a:r>
              <a:rPr lang="zh-CN" altLang="en-US" dirty="0"/>
              <a:t>中删除值为</a:t>
            </a:r>
            <a:r>
              <a:rPr lang="en-US" altLang="zh-CN" dirty="0"/>
              <a:t>x</a:t>
            </a:r>
            <a:r>
              <a:rPr lang="zh-CN" altLang="en-US" dirty="0"/>
              <a:t>的结点 。</a:t>
            </a:r>
          </a:p>
          <a:p>
            <a:r>
              <a:rPr lang="en-US" altLang="zh-CN" dirty="0"/>
              <a:t>void  delete(</a:t>
            </a:r>
            <a:r>
              <a:rPr lang="en-US" altLang="zh-CN" dirty="0" err="1"/>
              <a:t>linnode</a:t>
            </a:r>
            <a:r>
              <a:rPr lang="en-US" altLang="zh-CN" dirty="0"/>
              <a:t> *H, </a:t>
            </a:r>
            <a:r>
              <a:rPr lang="en-US" altLang="zh-CN" dirty="0" err="1"/>
              <a:t>int</a:t>
            </a:r>
            <a:r>
              <a:rPr lang="en-US" altLang="zh-CN" dirty="0"/>
              <a:t> x){  </a:t>
            </a:r>
          </a:p>
          <a:p>
            <a:r>
              <a:rPr lang="en-US" altLang="zh-CN" dirty="0"/>
              <a:t>   </a:t>
            </a:r>
            <a:r>
              <a:rPr lang="en-US" altLang="zh-CN" dirty="0" err="1"/>
              <a:t>linnode</a:t>
            </a:r>
            <a:r>
              <a:rPr lang="en-US" altLang="zh-CN" dirty="0"/>
              <a:t> *p, *r;   p=H;  (1) ;</a:t>
            </a:r>
          </a:p>
          <a:p>
            <a:r>
              <a:rPr lang="en-US" altLang="zh-CN" dirty="0"/>
              <a:t>   while(  (2) )  {</a:t>
            </a:r>
          </a:p>
          <a:p>
            <a:r>
              <a:rPr lang="en-US" altLang="zh-CN" dirty="0"/>
              <a:t>      p = r;</a:t>
            </a:r>
          </a:p>
          <a:p>
            <a:r>
              <a:rPr lang="en-US" altLang="zh-CN" dirty="0"/>
              <a:t>      r=p-&gt;next;     </a:t>
            </a:r>
          </a:p>
          <a:p>
            <a:r>
              <a:rPr lang="en-US" altLang="zh-CN" dirty="0"/>
              <a:t>   }</a:t>
            </a:r>
          </a:p>
          <a:p>
            <a:r>
              <a:rPr lang="en-US" altLang="zh-CN" dirty="0"/>
              <a:t>   if(r-&gt;data == x)   {</a:t>
            </a:r>
          </a:p>
          <a:p>
            <a:r>
              <a:rPr lang="en-US" altLang="zh-CN" dirty="0"/>
              <a:t>      p -&gt;next = r-&gt;next;</a:t>
            </a:r>
          </a:p>
          <a:p>
            <a:r>
              <a:rPr lang="en-US" altLang="zh-CN" dirty="0"/>
              <a:t>     (3);</a:t>
            </a:r>
          </a:p>
          <a:p>
            <a:r>
              <a:rPr lang="en-US" altLang="zh-CN" dirty="0"/>
              <a:t>   }</a:t>
            </a:r>
          </a:p>
          <a:p>
            <a:r>
              <a:rPr lang="en-US" altLang="zh-CN" dirty="0"/>
              <a:t>}</a:t>
            </a:r>
            <a:endParaRPr lang="zh-CN" altLang="en-US" dirty="0"/>
          </a:p>
          <a:p>
            <a:endParaRPr lang="zh-CN" altLang="en-US" dirty="0"/>
          </a:p>
        </p:txBody>
      </p:sp>
    </p:spTree>
    <p:extLst>
      <p:ext uri="{BB962C8B-B14F-4D97-AF65-F5344CB8AC3E}">
        <p14:creationId xmlns:p14="http://schemas.microsoft.com/office/powerpoint/2010/main" val="1979740318"/>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奥斯汀">
  <a:themeElements>
    <a:clrScheme name="奥斯汀">
      <a:dk1>
        <a:sysClr val="windowText" lastClr="FFFFFF"/>
      </a:dk1>
      <a:lt1>
        <a:sysClr val="window" lastClr="000000"/>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奥斯汀">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奥斯汀">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FFFFFF"/>
      </a:dk1>
      <a:lt1>
        <a:sysClr val="window" lastClr="00000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440</TotalTime>
  <Words>412</Words>
  <Application>Microsoft Office PowerPoint</Application>
  <PresentationFormat>全屏显示(4:3)</PresentationFormat>
  <Paragraphs>30</Paragraphs>
  <Slides>3</Slides>
  <Notes>3</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vt:i4>
      </vt:variant>
    </vt:vector>
  </HeadingPairs>
  <TitlesOfParts>
    <vt:vector size="7" baseType="lpstr">
      <vt:lpstr>Calibri</vt:lpstr>
      <vt:lpstr>Century Gothic</vt:lpstr>
      <vt:lpstr>Wingdings 2</vt:lpstr>
      <vt:lpstr>奥斯汀</vt:lpstr>
      <vt:lpstr>辅助练习</vt:lpstr>
      <vt:lpstr>PowerPoint 演示文稿</vt:lpstr>
      <vt:lpstr>PowerPoint 演示文稿</vt:lpstr>
    </vt:vector>
  </TitlesOfParts>
  <Company>复旦大学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课堂练习</dc:title>
  <dc:creator>admin</dc:creator>
  <cp:lastModifiedBy>天天向上</cp:lastModifiedBy>
  <cp:revision>17</cp:revision>
  <dcterms:created xsi:type="dcterms:W3CDTF">2015-09-05T11:11:07Z</dcterms:created>
  <dcterms:modified xsi:type="dcterms:W3CDTF">2023-09-13T10:57:56Z</dcterms:modified>
</cp:coreProperties>
</file>