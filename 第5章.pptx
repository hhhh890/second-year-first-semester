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606" r:id="rId3"/>
    <p:sldId id="692" r:id="rId4"/>
    <p:sldId id="607" r:id="rId6"/>
    <p:sldId id="413" r:id="rId7"/>
    <p:sldId id="414" r:id="rId8"/>
    <p:sldId id="693" r:id="rId9"/>
    <p:sldId id="703" r:id="rId10"/>
    <p:sldId id="267" r:id="rId11"/>
    <p:sldId id="608" r:id="rId12"/>
    <p:sldId id="609" r:id="rId13"/>
    <p:sldId id="269" r:id="rId14"/>
    <p:sldId id="529" r:id="rId15"/>
    <p:sldId id="610" r:id="rId16"/>
    <p:sldId id="271" r:id="rId17"/>
    <p:sldId id="611" r:id="rId18"/>
    <p:sldId id="593" r:id="rId19"/>
    <p:sldId id="506" r:id="rId20"/>
    <p:sldId id="470" r:id="rId21"/>
    <p:sldId id="274" r:id="rId22"/>
    <p:sldId id="417" r:id="rId23"/>
    <p:sldId id="275" r:id="rId24"/>
    <p:sldId id="418" r:id="rId25"/>
    <p:sldId id="277" r:id="rId26"/>
    <p:sldId id="279" r:id="rId27"/>
    <p:sldId id="594" r:id="rId28"/>
    <p:sldId id="613" r:id="rId29"/>
    <p:sldId id="289" r:id="rId30"/>
    <p:sldId id="290" r:id="rId31"/>
    <p:sldId id="425" r:id="rId32"/>
    <p:sldId id="293" r:id="rId33"/>
    <p:sldId id="426" r:id="rId34"/>
    <p:sldId id="295" r:id="rId35"/>
    <p:sldId id="296" r:id="rId36"/>
    <p:sldId id="297" r:id="rId37"/>
    <p:sldId id="283" r:id="rId38"/>
    <p:sldId id="285" r:id="rId39"/>
    <p:sldId id="284" r:id="rId40"/>
    <p:sldId id="702" r:id="rId41"/>
    <p:sldId id="699" r:id="rId42"/>
    <p:sldId id="532" r:id="rId43"/>
    <p:sldId id="534" r:id="rId44"/>
    <p:sldId id="701" r:id="rId45"/>
    <p:sldId id="695" r:id="rId46"/>
    <p:sldId id="614" r:id="rId47"/>
    <p:sldId id="424" r:id="rId48"/>
    <p:sldId id="539" r:id="rId49"/>
    <p:sldId id="430" r:id="rId50"/>
    <p:sldId id="432" r:id="rId51"/>
    <p:sldId id="300" r:id="rId52"/>
    <p:sldId id="301" r:id="rId53"/>
    <p:sldId id="429" r:id="rId54"/>
    <p:sldId id="303" r:id="rId55"/>
    <p:sldId id="526" r:id="rId56"/>
    <p:sldId id="527" r:id="rId57"/>
    <p:sldId id="528" r:id="rId58"/>
    <p:sldId id="541" r:id="rId59"/>
    <p:sldId id="543" r:id="rId60"/>
    <p:sldId id="544" r:id="rId61"/>
    <p:sldId id="536" r:id="rId62"/>
    <p:sldId id="688" r:id="rId63"/>
    <p:sldId id="546" r:id="rId64"/>
    <p:sldId id="547" r:id="rId65"/>
    <p:sldId id="548" r:id="rId66"/>
    <p:sldId id="683" r:id="rId67"/>
    <p:sldId id="684" r:id="rId68"/>
    <p:sldId id="321" r:id="rId69"/>
    <p:sldId id="322" r:id="rId70"/>
    <p:sldId id="323" r:id="rId71"/>
    <p:sldId id="324" r:id="rId72"/>
    <p:sldId id="549" r:id="rId73"/>
    <p:sldId id="550" r:id="rId74"/>
    <p:sldId id="551" r:id="rId75"/>
    <p:sldId id="552" r:id="rId76"/>
    <p:sldId id="700" r:id="rId77"/>
    <p:sldId id="542" r:id="rId78"/>
    <p:sldId id="553" r:id="rId79"/>
    <p:sldId id="437" r:id="rId80"/>
    <p:sldId id="438" r:id="rId81"/>
    <p:sldId id="615" r:id="rId82"/>
    <p:sldId id="545" r:id="rId83"/>
    <p:sldId id="598" r:id="rId84"/>
    <p:sldId id="599" r:id="rId85"/>
    <p:sldId id="555" r:id="rId86"/>
    <p:sldId id="689" r:id="rId87"/>
    <p:sldId id="446" r:id="rId88"/>
    <p:sldId id="447" r:id="rId89"/>
    <p:sldId id="557" r:id="rId90"/>
    <p:sldId id="558" r:id="rId91"/>
    <p:sldId id="559" r:id="rId92"/>
    <p:sldId id="475" r:id="rId93"/>
    <p:sldId id="560" r:id="rId94"/>
    <p:sldId id="561" r:id="rId95"/>
    <p:sldId id="563" r:id="rId96"/>
    <p:sldId id="566" r:id="rId97"/>
    <p:sldId id="568" r:id="rId98"/>
    <p:sldId id="569" r:id="rId99"/>
    <p:sldId id="571" r:id="rId100"/>
    <p:sldId id="616" r:id="rId101"/>
    <p:sldId id="617" r:id="rId102"/>
    <p:sldId id="589" r:id="rId103"/>
    <p:sldId id="574" r:id="rId104"/>
    <p:sldId id="575" r:id="rId105"/>
    <p:sldId id="576" r:id="rId106"/>
    <p:sldId id="577" r:id="rId107"/>
    <p:sldId id="578" r:id="rId108"/>
    <p:sldId id="591" r:id="rId109"/>
    <p:sldId id="592" r:id="rId110"/>
    <p:sldId id="580" r:id="rId111"/>
    <p:sldId id="588" r:id="rId112"/>
    <p:sldId id="691" r:id="rId113"/>
    <p:sldId id="556" r:id="rId114"/>
    <p:sldId id="337" r:id="rId115"/>
    <p:sldId id="338" r:id="rId116"/>
    <p:sldId id="340" r:id="rId117"/>
    <p:sldId id="342" r:id="rId118"/>
    <p:sldId id="457" r:id="rId119"/>
    <p:sldId id="456" r:id="rId120"/>
    <p:sldId id="458" r:id="rId121"/>
    <p:sldId id="346" r:id="rId122"/>
    <p:sldId id="525" r:id="rId123"/>
    <p:sldId id="348" r:id="rId124"/>
    <p:sldId id="460" r:id="rId125"/>
    <p:sldId id="461" r:id="rId126"/>
    <p:sldId id="350" r:id="rId127"/>
    <p:sldId id="380" r:id="rId128"/>
    <p:sldId id="448" r:id="rId129"/>
    <p:sldId id="428" r:id="rId130"/>
    <p:sldId id="382" r:id="rId131"/>
    <p:sldId id="618" r:id="rId132"/>
    <p:sldId id="619" r:id="rId133"/>
    <p:sldId id="384" r:id="rId134"/>
    <p:sldId id="385" r:id="rId135"/>
    <p:sldId id="450" r:id="rId136"/>
    <p:sldId id="387" r:id="rId137"/>
    <p:sldId id="601" r:id="rId138"/>
    <p:sldId id="690" r:id="rId139"/>
    <p:sldId id="502" r:id="rId140"/>
    <p:sldId id="503" r:id="rId141"/>
    <p:sldId id="602" r:id="rId142"/>
    <p:sldId id="603" r:id="rId143"/>
    <p:sldId id="682" r:id="rId144"/>
    <p:sldId id="687" r:id="rId145"/>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CC3300"/>
    <a:srgbClr val="0000CC"/>
    <a:srgbClr val="990099"/>
    <a:srgbClr val="66FF33"/>
    <a:srgbClr val="0000FF"/>
    <a:srgbClr val="FF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51" autoAdjust="0"/>
    <p:restoredTop sz="95244" autoAdjust="0"/>
  </p:normalViewPr>
  <p:slideViewPr>
    <p:cSldViewPr showGuides="1">
      <p:cViewPr varScale="1">
        <p:scale>
          <a:sx n="79" d="100"/>
          <a:sy n="79" d="100"/>
        </p:scale>
        <p:origin x="1555"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97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8" Type="http://schemas.openxmlformats.org/officeDocument/2006/relationships/tableStyles" Target="tableStyles.xml"/><Relationship Id="rId147" Type="http://schemas.openxmlformats.org/officeDocument/2006/relationships/viewProps" Target="viewProps.xml"/><Relationship Id="rId146" Type="http://schemas.openxmlformats.org/officeDocument/2006/relationships/presProps" Target="presProps.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7.wmf"/><Relationship Id="rId4" Type="http://schemas.openxmlformats.org/officeDocument/2006/relationships/image" Target="../media/image6.wmf"/><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979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5"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fontAlgn="auto" hangingPunct="1">
              <a:spcBef>
                <a:spcPts val="0"/>
              </a:spcBef>
              <a:spcAft>
                <a:spcPts val="0"/>
              </a:spcAft>
              <a:defRPr sz="1200">
                <a:latin typeface="+mn-lt"/>
                <a:ea typeface="+mn-ea"/>
              </a:defRPr>
            </a:lvl1pPr>
          </a:lstStyle>
          <a:p>
            <a:pPr>
              <a:defRPr/>
            </a:pPr>
            <a:endParaRPr lang="en-US" altLang="zh-CN"/>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9797"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89798"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9"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lvl1pPr algn="r" eaLnBrk="1" fontAlgn="auto" hangingPunct="1">
              <a:spcBef>
                <a:spcPts val="0"/>
              </a:spcBef>
              <a:spcAft>
                <a:spcPts val="0"/>
              </a:spcAft>
              <a:defRPr sz="1200">
                <a:latin typeface="+mn-lt"/>
                <a:ea typeface="+mn-ea"/>
              </a:defRPr>
            </a:lvl1pPr>
          </a:lstStyle>
          <a:p>
            <a:pPr>
              <a:defRPr/>
            </a:pPr>
            <a:fld id="{59BDA82E-BFC2-40B1-ACB9-7775643655C3}"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60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zh-CN"/>
          </a:p>
        </p:txBody>
      </p:sp>
      <p:sp>
        <p:nvSpPr>
          <p:cNvPr id="860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879F0810-796D-4959-A26D-4CAF046C5BBD}"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806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dirty="0"/>
          </a:p>
        </p:txBody>
      </p:sp>
      <p:sp>
        <p:nvSpPr>
          <p:cNvPr id="880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25D158E-8803-46FE-8811-62B84C736D07}"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a:t>
            </a:r>
            <a:r>
              <a:rPr lang="zh-CN" altLang="en-US" dirty="0"/>
              <a:t>让树的根结点成为树的当前结点</a:t>
            </a:r>
            <a:endParaRPr lang="en-US" altLang="zh-CN" dirty="0"/>
          </a:p>
          <a:p>
            <a:pPr marL="0" indent="0">
              <a:buNone/>
            </a:pPr>
            <a:r>
              <a:rPr lang="en-US" altLang="zh-CN" dirty="0"/>
              <a:t>template &lt;class T&gt;  </a:t>
            </a:r>
            <a:endParaRPr lang="en-US" altLang="zh-CN" dirty="0"/>
          </a:p>
          <a:p>
            <a:pPr marL="0" indent="0">
              <a:buNone/>
            </a:pPr>
            <a:r>
              <a:rPr lang="en-US" altLang="zh-CN" dirty="0"/>
              <a:t>bool Tree &lt;T&gt; :: Root ( ) {</a:t>
            </a:r>
            <a:endParaRPr lang="en-US" altLang="zh-CN" dirty="0"/>
          </a:p>
          <a:p>
            <a:pPr marL="0" indent="0">
              <a:buNone/>
            </a:pPr>
            <a:r>
              <a:rPr lang="en-US" altLang="zh-CN" dirty="0"/>
              <a:t>     if ( root == NULL ) {</a:t>
            </a:r>
            <a:endParaRPr lang="en-US" altLang="zh-CN" dirty="0"/>
          </a:p>
          <a:p>
            <a:pPr marL="0" indent="0">
              <a:buNone/>
            </a:pPr>
            <a:r>
              <a:rPr lang="en-US" altLang="zh-CN" dirty="0"/>
              <a:t>          current = NULL;  </a:t>
            </a:r>
            <a:endParaRPr lang="en-US" altLang="zh-CN" dirty="0"/>
          </a:p>
          <a:p>
            <a:pPr marL="0" indent="0">
              <a:buNone/>
            </a:pPr>
            <a:r>
              <a:rPr lang="en-US" altLang="zh-CN" dirty="0"/>
              <a:t>          return false; </a:t>
            </a:r>
            <a:endParaRPr lang="en-US" altLang="zh-CN" dirty="0"/>
          </a:p>
          <a:p>
            <a:pPr marL="0" indent="0">
              <a:buNone/>
            </a:pPr>
            <a:r>
              <a:rPr lang="en-US" altLang="zh-CN" dirty="0"/>
              <a:t>     }</a:t>
            </a:r>
            <a:endParaRPr lang="en-US" altLang="zh-CN" dirty="0"/>
          </a:p>
          <a:p>
            <a:pPr marL="0" indent="0">
              <a:buNone/>
            </a:pPr>
            <a:r>
              <a:rPr lang="en-US" altLang="zh-CN" dirty="0"/>
              <a:t>     else { </a:t>
            </a:r>
            <a:endParaRPr lang="en-US" altLang="zh-CN" dirty="0"/>
          </a:p>
          <a:p>
            <a:pPr marL="0" indent="0">
              <a:buNone/>
            </a:pPr>
            <a:r>
              <a:rPr lang="en-US" altLang="zh-CN" dirty="0"/>
              <a:t>          current = root;  </a:t>
            </a:r>
            <a:endParaRPr lang="en-US" altLang="zh-CN" dirty="0"/>
          </a:p>
          <a:p>
            <a:pPr marL="0" indent="0">
              <a:buNone/>
            </a:pPr>
            <a:r>
              <a:rPr lang="en-US" altLang="zh-CN" dirty="0"/>
              <a:t>          return true; </a:t>
            </a:r>
            <a:endParaRPr lang="en-US" altLang="zh-CN" dirty="0"/>
          </a:p>
          <a:p>
            <a:pPr marL="0" indent="0">
              <a:buNone/>
            </a:pPr>
            <a:r>
              <a:rPr lang="en-US" altLang="zh-CN" dirty="0"/>
              <a:t>     }</a:t>
            </a:r>
            <a:endParaRPr lang="en-US" altLang="zh-CN" dirty="0"/>
          </a:p>
          <a:p>
            <a:pPr marL="0" indent="0">
              <a:buNone/>
            </a:pPr>
            <a:r>
              <a:rPr lang="en-US" altLang="zh-CN" dirty="0"/>
              <a:t>}</a:t>
            </a:r>
            <a:endParaRPr lang="en-US" altLang="zh-CN" dirty="0"/>
          </a:p>
          <a:p>
            <a:pPr marL="0" indent="0">
              <a:buNone/>
            </a:pPr>
            <a:endParaRPr lang="zh-CN" altLang="en-US" dirty="0"/>
          </a:p>
          <a:p>
            <a:endParaRPr lang="en-US" altLang="zh-CN" dirty="0"/>
          </a:p>
          <a:p>
            <a:pPr marL="0" indent="0">
              <a:buNone/>
            </a:pPr>
            <a:r>
              <a:rPr lang="en-US" altLang="zh-CN" dirty="0"/>
              <a:t>//</a:t>
            </a:r>
            <a:r>
              <a:rPr lang="zh-CN" altLang="en-US" dirty="0"/>
              <a:t>把当前结点在原来树中的双亲设为当前结点</a:t>
            </a:r>
            <a:endParaRPr lang="en-US" altLang="zh-CN" dirty="0"/>
          </a:p>
          <a:p>
            <a:pPr marL="0" indent="0">
              <a:buNone/>
            </a:pPr>
            <a:r>
              <a:rPr lang="en-US" altLang="zh-CN" dirty="0"/>
              <a:t>template &lt;class T&gt; </a:t>
            </a:r>
            <a:endParaRPr lang="en-US" altLang="zh-CN" dirty="0"/>
          </a:p>
          <a:p>
            <a:pPr marL="0" indent="0">
              <a:buNone/>
            </a:pPr>
            <a:r>
              <a:rPr lang="en-US" altLang="zh-CN" dirty="0"/>
              <a:t>bool Tree&lt;T&gt; :: Parent ( ) {</a:t>
            </a:r>
            <a:endParaRPr lang="en-US" altLang="zh-CN" dirty="0"/>
          </a:p>
          <a:p>
            <a:pPr marL="0" indent="0">
              <a:buNone/>
            </a:pPr>
            <a:r>
              <a:rPr lang="en-US" altLang="zh-CN" dirty="0"/>
              <a:t>     </a:t>
            </a:r>
            <a:r>
              <a:rPr lang="en-US" altLang="zh-CN" dirty="0" err="1"/>
              <a:t>TreeNode</a:t>
            </a:r>
            <a:r>
              <a:rPr lang="en-US" altLang="zh-CN" dirty="0"/>
              <a:t>&lt;T&gt; * p = current;</a:t>
            </a:r>
            <a:endParaRPr lang="en-US" altLang="zh-CN" dirty="0"/>
          </a:p>
          <a:p>
            <a:pPr marL="0" indent="0">
              <a:buNone/>
            </a:pPr>
            <a:r>
              <a:rPr lang="en-US" altLang="zh-CN" dirty="0"/>
              <a:t>     if ( current == NULL || current == root ) {</a:t>
            </a:r>
            <a:endParaRPr lang="en-US" altLang="zh-CN" dirty="0"/>
          </a:p>
          <a:p>
            <a:pPr marL="0" indent="0">
              <a:buNone/>
            </a:pPr>
            <a:r>
              <a:rPr lang="en-US" altLang="zh-CN" dirty="0"/>
              <a:t>         current = NULL;  </a:t>
            </a:r>
            <a:endParaRPr lang="en-US" altLang="zh-CN" dirty="0"/>
          </a:p>
          <a:p>
            <a:pPr marL="0" indent="0">
              <a:buNone/>
            </a:pPr>
            <a:r>
              <a:rPr lang="en-US" altLang="zh-CN" dirty="0"/>
              <a:t>         return false; </a:t>
            </a:r>
            <a:endParaRPr lang="en-US" altLang="zh-CN" dirty="0"/>
          </a:p>
          <a:p>
            <a:pPr marL="0" indent="0">
              <a:buNone/>
            </a:pPr>
            <a:r>
              <a:rPr lang="en-US" altLang="zh-CN" dirty="0"/>
              <a:t>     }  //</a:t>
            </a:r>
            <a:r>
              <a:rPr lang="zh-CN" altLang="en-US" dirty="0"/>
              <a:t>空树或根为当前结点</a:t>
            </a:r>
            <a:r>
              <a:rPr lang="en-US" altLang="zh-CN" dirty="0"/>
              <a:t>, </a:t>
            </a:r>
            <a:r>
              <a:rPr lang="zh-CN" altLang="en-US" dirty="0"/>
              <a:t>返回</a:t>
            </a:r>
            <a:r>
              <a:rPr lang="en-US" altLang="zh-CN" dirty="0"/>
              <a:t>0	</a:t>
            </a:r>
            <a:endParaRPr lang="en-US" altLang="zh-CN" dirty="0"/>
          </a:p>
          <a:p>
            <a:pPr marL="0" indent="0">
              <a:buNone/>
            </a:pPr>
            <a:r>
              <a:rPr lang="en-US" altLang="zh-CN" dirty="0"/>
              <a:t>     return  </a:t>
            </a:r>
            <a:r>
              <a:rPr lang="en-US" altLang="zh-CN" dirty="0" err="1"/>
              <a:t>FindParent</a:t>
            </a:r>
            <a:r>
              <a:rPr lang="en-US" altLang="zh-CN" dirty="0"/>
              <a:t> ( root, p );  //</a:t>
            </a:r>
            <a:r>
              <a:rPr lang="zh-CN" altLang="en-US" dirty="0"/>
              <a:t>从根找双亲</a:t>
            </a:r>
            <a:endParaRPr lang="zh-CN" altLang="en-US" dirty="0"/>
          </a:p>
          <a:p>
            <a:pPr marL="0" indent="0">
              <a:buNone/>
            </a:pPr>
            <a:r>
              <a:rPr lang="en-US" altLang="zh-CN" dirty="0"/>
              <a:t>}</a:t>
            </a:r>
            <a:endParaRPr lang="en-US" altLang="zh-CN" dirty="0"/>
          </a:p>
          <a:p>
            <a:pPr marL="0" indent="0">
              <a:buNone/>
            </a:pPr>
            <a:endParaRPr lang="en-US" altLang="zh-CN" dirty="0"/>
          </a:p>
          <a:p>
            <a:pPr marL="0" indent="0">
              <a:buNone/>
            </a:pPr>
            <a:r>
              <a:rPr lang="en-US" altLang="zh-CN" dirty="0"/>
              <a:t>//</a:t>
            </a:r>
            <a:r>
              <a:rPr lang="zh-CN" altLang="en-US" dirty="0"/>
              <a:t>在树中找当前结点的长子，设为当前结点</a:t>
            </a:r>
            <a:endParaRPr lang="en-US" altLang="zh-CN" dirty="0"/>
          </a:p>
          <a:p>
            <a:pPr marL="0" indent="0">
              <a:buNone/>
            </a:pPr>
            <a:r>
              <a:rPr lang="en-US" altLang="zh-CN" dirty="0"/>
              <a:t>template &lt;class T&gt; </a:t>
            </a:r>
            <a:endParaRPr lang="en-US" altLang="zh-CN" dirty="0"/>
          </a:p>
          <a:p>
            <a:pPr marL="0" indent="0">
              <a:buNone/>
            </a:pPr>
            <a:r>
              <a:rPr lang="en-US" altLang="zh-CN" dirty="0"/>
              <a:t>bool Tree &lt;T&gt; :: </a:t>
            </a:r>
            <a:r>
              <a:rPr lang="en-US" altLang="zh-CN" dirty="0" err="1"/>
              <a:t>FirstChild</a:t>
            </a:r>
            <a:r>
              <a:rPr lang="en-US" altLang="zh-CN" dirty="0"/>
              <a:t> ( ) {</a:t>
            </a:r>
            <a:endParaRPr lang="en-US" altLang="zh-CN" dirty="0"/>
          </a:p>
          <a:p>
            <a:pPr marL="0" indent="0">
              <a:buNone/>
            </a:pPr>
            <a:r>
              <a:rPr lang="en-US" altLang="zh-CN" dirty="0"/>
              <a:t>    if (current != NULL &amp;&amp;current-&gt;</a:t>
            </a:r>
            <a:r>
              <a:rPr lang="en-US" altLang="zh-CN" dirty="0" err="1"/>
              <a:t>firstChild</a:t>
            </a:r>
            <a:r>
              <a:rPr lang="en-US" altLang="zh-CN" dirty="0"/>
              <a:t> != NULL )  { </a:t>
            </a:r>
            <a:endParaRPr lang="en-US" altLang="zh-CN" dirty="0"/>
          </a:p>
          <a:p>
            <a:pPr marL="0" indent="0">
              <a:buNone/>
            </a:pPr>
            <a:r>
              <a:rPr lang="en-US" altLang="zh-CN" dirty="0"/>
              <a:t>          current = current-&gt;</a:t>
            </a:r>
            <a:r>
              <a:rPr lang="en-US" altLang="zh-CN" dirty="0" err="1"/>
              <a:t>firstChild</a:t>
            </a:r>
            <a:r>
              <a:rPr lang="en-US" altLang="zh-CN" dirty="0"/>
              <a:t>;  </a:t>
            </a:r>
            <a:endParaRPr lang="en-US" altLang="zh-CN" dirty="0"/>
          </a:p>
          <a:p>
            <a:pPr marL="0" indent="0">
              <a:buNone/>
            </a:pPr>
            <a:r>
              <a:rPr lang="en-US" altLang="zh-CN" dirty="0"/>
              <a:t>          return true; </a:t>
            </a:r>
            <a:endParaRPr lang="en-US" altLang="zh-CN" dirty="0"/>
          </a:p>
          <a:p>
            <a:pPr marL="0" indent="0">
              <a:buNone/>
            </a:pPr>
            <a:r>
              <a:rPr lang="en-US" altLang="zh-CN" dirty="0"/>
              <a:t>    }</a:t>
            </a:r>
            <a:endParaRPr lang="en-US" altLang="zh-CN" dirty="0"/>
          </a:p>
          <a:p>
            <a:pPr marL="0" indent="0">
              <a:buNone/>
            </a:pPr>
            <a:r>
              <a:rPr lang="en-US" altLang="zh-CN" dirty="0"/>
              <a:t>    current = NULL;  </a:t>
            </a:r>
            <a:endParaRPr lang="en-US" altLang="zh-CN" dirty="0"/>
          </a:p>
          <a:p>
            <a:pPr marL="0" indent="0">
              <a:buNone/>
            </a:pPr>
            <a:r>
              <a:rPr lang="en-US" altLang="zh-CN" dirty="0"/>
              <a:t>    return false;</a:t>
            </a:r>
            <a:endParaRPr lang="en-US" altLang="zh-CN" dirty="0"/>
          </a:p>
          <a:p>
            <a:pPr marL="0" indent="0">
              <a:buNone/>
            </a:pPr>
            <a:r>
              <a:rPr lang="en-US" altLang="zh-CN" dirty="0"/>
              <a:t>}</a:t>
            </a:r>
            <a:endParaRPr lang="en-US" altLang="zh-CN" dirty="0"/>
          </a:p>
          <a:p>
            <a:pPr marL="0" indent="0">
              <a:buNone/>
            </a:pPr>
            <a:endParaRPr lang="en-US" altLang="zh-CN" dirty="0"/>
          </a:p>
          <a:p>
            <a:pPr marL="0" indent="0">
              <a:buNone/>
            </a:pPr>
            <a:endParaRPr lang="en-US" altLang="zh-CN" dirty="0"/>
          </a:p>
          <a:p>
            <a:pPr marL="0" indent="0">
              <a:buNone/>
            </a:pP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template &lt; class E&gt; </a:t>
            </a:r>
            <a:endParaRPr lang="en-US" altLang="zh-CN" dirty="0"/>
          </a:p>
          <a:p>
            <a:pPr marL="0" indent="0">
              <a:buNone/>
            </a:pPr>
            <a:r>
              <a:rPr lang="en-US" altLang="zh-CN" dirty="0" err="1"/>
              <a:t>MinHeap</a:t>
            </a:r>
            <a:r>
              <a:rPr lang="en-US" altLang="zh-CN" dirty="0"/>
              <a:t> &lt;E&gt; ::</a:t>
            </a:r>
            <a:r>
              <a:rPr lang="en-US" altLang="zh-CN" dirty="0" err="1"/>
              <a:t>MinHeap</a:t>
            </a:r>
            <a:r>
              <a:rPr lang="en-US" altLang="zh-CN" dirty="0"/>
              <a:t> ( int </a:t>
            </a:r>
            <a:r>
              <a:rPr lang="en-US" altLang="zh-CN" dirty="0" err="1"/>
              <a:t>sz</a:t>
            </a:r>
            <a:r>
              <a:rPr lang="en-US" altLang="zh-CN" dirty="0"/>
              <a:t> ) {</a:t>
            </a:r>
            <a:endParaRPr lang="en-US" altLang="zh-CN" dirty="0"/>
          </a:p>
          <a:p>
            <a:pPr marL="0" indent="0">
              <a:buNone/>
            </a:pPr>
            <a:r>
              <a:rPr lang="en-US" altLang="zh-CN" dirty="0"/>
              <a:t>    </a:t>
            </a:r>
            <a:r>
              <a:rPr lang="en-US" altLang="zh-CN" dirty="0" err="1"/>
              <a:t>maxHeapSize</a:t>
            </a:r>
            <a:r>
              <a:rPr lang="en-US" altLang="zh-CN" dirty="0"/>
              <a:t> = (</a:t>
            </a:r>
            <a:r>
              <a:rPr lang="en-US" altLang="zh-CN" dirty="0" err="1"/>
              <a:t>DefaultSize</a:t>
            </a:r>
            <a:r>
              <a:rPr lang="en-US" altLang="zh-CN" dirty="0"/>
              <a:t> &lt; </a:t>
            </a:r>
            <a:r>
              <a:rPr lang="en-US" altLang="zh-CN" dirty="0" err="1"/>
              <a:t>sz</a:t>
            </a:r>
            <a:r>
              <a:rPr lang="en-US" altLang="zh-CN" dirty="0"/>
              <a:t>) ? </a:t>
            </a:r>
            <a:r>
              <a:rPr lang="en-US" altLang="zh-CN" dirty="0" err="1"/>
              <a:t>sz</a:t>
            </a:r>
            <a:endParaRPr lang="en-US" altLang="zh-CN" dirty="0"/>
          </a:p>
          <a:p>
            <a:pPr marL="0" indent="0">
              <a:buNone/>
            </a:pPr>
            <a:r>
              <a:rPr lang="en-US" altLang="zh-CN" dirty="0"/>
              <a:t>         : </a:t>
            </a:r>
            <a:r>
              <a:rPr lang="en-US" altLang="zh-CN" dirty="0" err="1"/>
              <a:t>DefaultSize</a:t>
            </a:r>
            <a:r>
              <a:rPr lang="en-US" altLang="zh-CN" dirty="0"/>
              <a:t>;    //</a:t>
            </a:r>
            <a:r>
              <a:rPr lang="zh-CN" altLang="en-US" dirty="0"/>
              <a:t>确定可容纳的堆的大小</a:t>
            </a:r>
            <a:endParaRPr lang="zh-CN" altLang="en-US" dirty="0"/>
          </a:p>
          <a:p>
            <a:pPr marL="0" indent="0">
              <a:buNone/>
            </a:pPr>
            <a:r>
              <a:rPr lang="zh-CN" altLang="en-US" dirty="0"/>
              <a:t>    </a:t>
            </a:r>
            <a:r>
              <a:rPr lang="en-US" altLang="zh-CN" dirty="0"/>
              <a:t>heap = new E [</a:t>
            </a:r>
            <a:r>
              <a:rPr lang="en-US" altLang="zh-CN" dirty="0" err="1"/>
              <a:t>maxHeapSize</a:t>
            </a:r>
            <a:r>
              <a:rPr lang="en-US" altLang="zh-CN" dirty="0"/>
              <a:t>]; </a:t>
            </a:r>
            <a:endParaRPr lang="en-US" altLang="zh-CN" dirty="0"/>
          </a:p>
          <a:p>
            <a:pPr marL="0" indent="0">
              <a:buNone/>
            </a:pPr>
            <a:r>
              <a:rPr lang="en-US" altLang="zh-CN" dirty="0"/>
              <a:t>    if ( heap == NULL ) {</a:t>
            </a:r>
            <a:endParaRPr lang="en-US" altLang="zh-CN" dirty="0"/>
          </a:p>
          <a:p>
            <a:pPr marL="0" indent="0">
              <a:buNone/>
            </a:pPr>
            <a:r>
              <a:rPr lang="en-US" altLang="zh-CN" dirty="0"/>
              <a:t>       </a:t>
            </a:r>
            <a:r>
              <a:rPr lang="en-US" altLang="zh-CN" dirty="0" err="1"/>
              <a:t>cerr</a:t>
            </a:r>
            <a:r>
              <a:rPr lang="en-US" altLang="zh-CN" dirty="0"/>
              <a:t> &lt;&lt; "</a:t>
            </a:r>
            <a:r>
              <a:rPr lang="zh-CN" altLang="en-US" dirty="0"/>
              <a:t>存储分配错</a:t>
            </a:r>
            <a:r>
              <a:rPr lang="en-US" altLang="zh-CN" dirty="0"/>
              <a:t>!" &lt;&lt; </a:t>
            </a:r>
            <a:r>
              <a:rPr lang="en-US" altLang="zh-CN" dirty="0" err="1"/>
              <a:t>endl</a:t>
            </a:r>
            <a:r>
              <a:rPr lang="en-US" altLang="zh-CN" dirty="0"/>
              <a:t>;  exit(1);</a:t>
            </a:r>
            <a:endParaRPr lang="en-US" altLang="zh-CN" dirty="0"/>
          </a:p>
          <a:p>
            <a:pPr marL="0" indent="0">
              <a:buNone/>
            </a:pPr>
            <a:r>
              <a:rPr lang="en-US" altLang="zh-CN" dirty="0"/>
              <a:t>    }</a:t>
            </a:r>
            <a:endParaRPr lang="en-US" altLang="zh-CN" dirty="0"/>
          </a:p>
          <a:p>
            <a:pPr marL="0" indent="0">
              <a:buNone/>
            </a:pPr>
            <a:r>
              <a:rPr lang="en-US" altLang="zh-CN" dirty="0"/>
              <a:t>    </a:t>
            </a:r>
            <a:r>
              <a:rPr lang="en-US" altLang="zh-CN" dirty="0" err="1"/>
              <a:t>currentSize</a:t>
            </a:r>
            <a:r>
              <a:rPr lang="en-US" altLang="zh-CN" dirty="0"/>
              <a:t> = 0;                              </a:t>
            </a:r>
            <a:endParaRPr lang="en-US" altLang="zh-CN" dirty="0"/>
          </a:p>
          <a:p>
            <a:pPr marL="0" indent="0">
              <a:buNone/>
            </a:pPr>
            <a:r>
              <a:rPr lang="en-US" altLang="zh-CN"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用于堆时，需要增加两个操作符的定义：</a:t>
            </a:r>
            <a:endParaRPr lang="en-US" altLang="zh-CN" dirty="0"/>
          </a:p>
          <a:p>
            <a:endParaRPr lang="en-US" altLang="zh-CN" dirty="0"/>
          </a:p>
          <a:p>
            <a:r>
              <a:rPr lang="en-US" altLang="zh-CN" dirty="0"/>
              <a:t>struct </a:t>
            </a:r>
            <a:r>
              <a:rPr lang="en-US" altLang="zh-CN" dirty="0" err="1"/>
              <a:t>HuffmanNode</a:t>
            </a:r>
            <a:r>
              <a:rPr lang="en-US" altLang="zh-CN" dirty="0"/>
              <a:t> {</a:t>
            </a:r>
            <a:endParaRPr lang="en-US" altLang="zh-CN" dirty="0"/>
          </a:p>
          <a:p>
            <a:r>
              <a:rPr lang="en-US" altLang="zh-CN" dirty="0"/>
              <a:t>    E data;</a:t>
            </a:r>
            <a:endParaRPr lang="en-US" altLang="zh-CN" dirty="0"/>
          </a:p>
          <a:p>
            <a:r>
              <a:rPr lang="en-US" altLang="zh-CN" dirty="0"/>
              <a:t>    </a:t>
            </a:r>
            <a:r>
              <a:rPr lang="en-US" altLang="zh-CN" dirty="0" err="1"/>
              <a:t>HuffmanNode</a:t>
            </a:r>
            <a:r>
              <a:rPr lang="en-US" altLang="zh-CN" dirty="0"/>
              <a:t>&lt;E&gt; * </a:t>
            </a:r>
            <a:r>
              <a:rPr lang="en-US" altLang="zh-CN" dirty="0" err="1"/>
              <a:t>leftChild</a:t>
            </a:r>
            <a:r>
              <a:rPr lang="en-US" altLang="zh-CN" dirty="0"/>
              <a:t>, * </a:t>
            </a:r>
            <a:r>
              <a:rPr lang="en-US" altLang="zh-CN" dirty="0" err="1"/>
              <a:t>rightChild</a:t>
            </a:r>
            <a:r>
              <a:rPr lang="en-US" altLang="zh-CN" dirty="0"/>
              <a:t>, *parent;</a:t>
            </a:r>
            <a:endParaRPr lang="en-US" altLang="zh-CN" dirty="0"/>
          </a:p>
          <a:p>
            <a:r>
              <a:rPr lang="en-US" altLang="zh-CN" dirty="0"/>
              <a:t>    </a:t>
            </a:r>
            <a:r>
              <a:rPr lang="en-US" altLang="zh-CN" dirty="0" err="1"/>
              <a:t>HuffmanNode</a:t>
            </a:r>
            <a:r>
              <a:rPr lang="en-US" altLang="zh-CN" dirty="0"/>
              <a:t>(): </a:t>
            </a:r>
            <a:r>
              <a:rPr lang="en-US" altLang="zh-CN" dirty="0" err="1"/>
              <a:t>leftChild</a:t>
            </a:r>
            <a:r>
              <a:rPr lang="en-US" altLang="zh-CN" dirty="0"/>
              <a:t>(NULL), </a:t>
            </a:r>
            <a:r>
              <a:rPr lang="en-US" altLang="zh-CN" dirty="0" err="1"/>
              <a:t>rightChild</a:t>
            </a:r>
            <a:r>
              <a:rPr lang="en-US" altLang="zh-CN" dirty="0"/>
              <a:t>(NULL), parent(NULL) { }</a:t>
            </a:r>
            <a:endParaRPr lang="en-US" altLang="zh-CN" dirty="0"/>
          </a:p>
          <a:p>
            <a:r>
              <a:rPr lang="en-US" altLang="zh-CN" dirty="0"/>
              <a:t>    </a:t>
            </a:r>
            <a:r>
              <a:rPr lang="en-US" altLang="zh-CN" dirty="0" err="1"/>
              <a:t>HuffmanNode</a:t>
            </a:r>
            <a:r>
              <a:rPr lang="en-US" altLang="zh-CN" dirty="0"/>
              <a:t>(E </a:t>
            </a:r>
            <a:r>
              <a:rPr lang="en-US" altLang="zh-CN" dirty="0" err="1"/>
              <a:t>elem</a:t>
            </a:r>
            <a:r>
              <a:rPr lang="en-US" altLang="zh-CN" dirty="0"/>
              <a:t>, </a:t>
            </a:r>
            <a:r>
              <a:rPr lang="en-US" altLang="zh-CN" dirty="0" err="1"/>
              <a:t>HuffmanNode</a:t>
            </a:r>
            <a:r>
              <a:rPr lang="en-US" altLang="zh-CN" dirty="0"/>
              <a:t>&lt;E&gt; *left = NULL, </a:t>
            </a:r>
            <a:r>
              <a:rPr lang="en-US" altLang="zh-CN" dirty="0" err="1"/>
              <a:t>HuffmanNode</a:t>
            </a:r>
            <a:r>
              <a:rPr lang="en-US" altLang="zh-CN" dirty="0"/>
              <a:t>&lt;E&gt; *right = NULL, </a:t>
            </a:r>
            <a:r>
              <a:rPr lang="en-US" altLang="zh-CN" dirty="0" err="1"/>
              <a:t>HuffmanNode</a:t>
            </a:r>
            <a:r>
              <a:rPr lang="en-US" altLang="zh-CN" dirty="0"/>
              <a:t>&lt;E&gt; *pr = NULL) : data(</a:t>
            </a:r>
            <a:r>
              <a:rPr lang="en-US" altLang="zh-CN" dirty="0" err="1"/>
              <a:t>elem</a:t>
            </a:r>
            <a:r>
              <a:rPr lang="en-US" altLang="zh-CN" dirty="0"/>
              <a:t>), </a:t>
            </a:r>
            <a:r>
              <a:rPr lang="en-US" altLang="zh-CN" dirty="0" err="1"/>
              <a:t>leftChild</a:t>
            </a:r>
            <a:r>
              <a:rPr lang="en-US" altLang="zh-CN" dirty="0"/>
              <a:t>(left), </a:t>
            </a:r>
            <a:r>
              <a:rPr lang="en-US" altLang="zh-CN" dirty="0" err="1"/>
              <a:t>rightChild</a:t>
            </a:r>
            <a:r>
              <a:rPr lang="en-US" altLang="zh-CN" dirty="0"/>
              <a:t>(right), parent(pr) { }</a:t>
            </a:r>
            <a:endParaRPr lang="en-US" altLang="zh-CN" dirty="0"/>
          </a:p>
          <a:p>
            <a:endParaRPr lang="en-US" altLang="zh-CN" dirty="0"/>
          </a:p>
          <a:p>
            <a:r>
              <a:rPr lang="en-US" altLang="zh-CN" dirty="0"/>
              <a:t>    // </a:t>
            </a:r>
            <a:r>
              <a:rPr lang="zh-CN" altLang="en-US" dirty="0"/>
              <a:t>重载小于等于操作符</a:t>
            </a:r>
            <a:endParaRPr lang="zh-CN" altLang="en-US" dirty="0"/>
          </a:p>
          <a:p>
            <a:r>
              <a:rPr lang="zh-CN" altLang="en-US" dirty="0"/>
              <a:t>    </a:t>
            </a:r>
            <a:r>
              <a:rPr lang="en-US" altLang="zh-CN" dirty="0"/>
              <a:t>bool operator&lt;=(const </a:t>
            </a:r>
            <a:r>
              <a:rPr lang="en-US" altLang="zh-CN" dirty="0" err="1"/>
              <a:t>HuffmanNode</a:t>
            </a:r>
            <a:r>
              <a:rPr lang="en-US" altLang="zh-CN" dirty="0"/>
              <a:t>&lt;E&gt;&amp; other) const {</a:t>
            </a:r>
            <a:endParaRPr lang="en-US" altLang="zh-CN" dirty="0"/>
          </a:p>
          <a:p>
            <a:r>
              <a:rPr lang="en-US" altLang="zh-CN" dirty="0"/>
              <a:t>        return data &lt;= </a:t>
            </a:r>
            <a:r>
              <a:rPr lang="en-US" altLang="zh-CN" dirty="0" err="1"/>
              <a:t>other.data</a:t>
            </a:r>
            <a:r>
              <a:rPr lang="en-US" altLang="zh-CN" dirty="0"/>
              <a:t>;</a:t>
            </a:r>
            <a:endParaRPr lang="en-US" altLang="zh-CN" dirty="0"/>
          </a:p>
          <a:p>
            <a:r>
              <a:rPr lang="en-US" altLang="zh-CN" dirty="0"/>
              <a:t>    }</a:t>
            </a:r>
            <a:endParaRPr lang="en-US" altLang="zh-CN" dirty="0"/>
          </a:p>
          <a:p>
            <a:endParaRPr lang="en-US" altLang="zh-CN" dirty="0"/>
          </a:p>
          <a:p>
            <a:r>
              <a:rPr lang="en-US" altLang="zh-CN" dirty="0"/>
              <a:t>    // </a:t>
            </a:r>
            <a:r>
              <a:rPr lang="zh-CN" altLang="en-US" dirty="0"/>
              <a:t>重载大于操作符</a:t>
            </a:r>
            <a:endParaRPr lang="zh-CN" altLang="en-US" dirty="0"/>
          </a:p>
          <a:p>
            <a:r>
              <a:rPr lang="zh-CN" altLang="en-US" dirty="0"/>
              <a:t>    </a:t>
            </a:r>
            <a:r>
              <a:rPr lang="en-US" altLang="zh-CN" dirty="0"/>
              <a:t>bool operator&gt;(const </a:t>
            </a:r>
            <a:r>
              <a:rPr lang="en-US" altLang="zh-CN" dirty="0" err="1"/>
              <a:t>HuffmanNode</a:t>
            </a:r>
            <a:r>
              <a:rPr lang="en-US" altLang="zh-CN" dirty="0"/>
              <a:t>&lt;E&gt;&amp; other) const {</a:t>
            </a:r>
            <a:endParaRPr lang="en-US" altLang="zh-CN" dirty="0"/>
          </a:p>
          <a:p>
            <a:r>
              <a:rPr lang="en-US" altLang="zh-CN" dirty="0"/>
              <a:t>        return data &gt; </a:t>
            </a:r>
            <a:r>
              <a:rPr lang="en-US" altLang="zh-CN" dirty="0" err="1"/>
              <a:t>other.data</a:t>
            </a:r>
            <a:r>
              <a:rPr lang="en-US" altLang="zh-CN" dirty="0"/>
              <a:t>;</a:t>
            </a:r>
            <a:endParaRPr lang="en-US" altLang="zh-CN" dirty="0"/>
          </a:p>
          <a:p>
            <a:r>
              <a:rPr lang="en-US" altLang="zh-CN" dirty="0"/>
              <a:t>    }</a:t>
            </a:r>
            <a:endParaRPr lang="en-US" altLang="zh-CN" dirty="0"/>
          </a:p>
          <a:p>
            <a:r>
              <a:rPr lang="en-US" altLang="zh-CN"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9046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1904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75E88A5-61C2-4207-994A-027BFC07FA2A}"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884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zh-CN"/>
          </a:p>
        </p:txBody>
      </p:sp>
      <p:sp>
        <p:nvSpPr>
          <p:cNvPr id="1884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834DBD62-B591-4622-B239-09473E009882}"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B3A08251-B334-426F-B3B0-3A323A4D797B}" type="slidenum">
              <a:rPr lang="en-US" altLang="zh-CN"/>
            </a:fld>
            <a:endParaRPr lang="en-US" altLang="zh-CN"/>
          </a:p>
        </p:txBody>
      </p:sp>
    </p:spTree>
  </p:cSld>
  <p:clrMapOvr>
    <a:masterClrMapping/>
  </p:clrMapOvr>
  <p:transition>
    <p:spli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40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a:defRPr sz="3600"/>
            </a:lvl1pPr>
            <a:lvl2pPr>
              <a:defRPr sz="3200"/>
            </a:lvl2pPr>
            <a:lvl3pPr>
              <a:defRPr sz="2800"/>
            </a:lvl3pPr>
            <a:lvl4pPr>
              <a:defRPr sz="1600"/>
            </a:lvl4pPr>
            <a:lvl5pPr>
              <a:defRPr sz="1600"/>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598D83B-EE2A-4F12-B129-1EDE84DF129B}" type="slidenum">
              <a:rPr lang="en-US" altLang="zh-CN"/>
            </a:fld>
            <a:endParaRPr lang="en-US" altLang="zh-CN"/>
          </a:p>
        </p:txBody>
      </p:sp>
    </p:spTree>
  </p:cSld>
  <p:clrMapOvr>
    <a:masterClrMapping/>
  </p:clrMapOvr>
  <p:transition>
    <p:spli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690DCEC-38C1-43B7-AE0F-E2BEBB00D8AE}" type="slidenum">
              <a:rPr lang="en-US" altLang="zh-CN"/>
            </a:fld>
            <a:endParaRPr lang="en-US" altLang="zh-CN"/>
          </a:p>
        </p:txBody>
      </p:sp>
    </p:spTree>
  </p:cSld>
  <p:clrMapOvr>
    <a:masterClrMapping/>
  </p:clrMapOvr>
  <p:transition>
    <p:spli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97C60736-F4D1-4419-BD91-ADA094D56F9B}" type="slidenum">
              <a:rPr lang="en-US" altLang="zh-CN"/>
            </a:fld>
            <a:endParaRPr lang="en-US" altLang="zh-CN"/>
          </a:p>
        </p:txBody>
      </p:sp>
    </p:spTree>
  </p:cSld>
  <p:clrMapOvr>
    <a:masterClrMapping/>
  </p:clrMapOvr>
  <p:transition>
    <p:spli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3"/>
          <p:cNvSpPr>
            <a:spLocks noGrp="1"/>
          </p:cNvSpPr>
          <p:nvPr>
            <p:ph type="dt" sz="half" idx="10"/>
          </p:nvPr>
        </p:nvSpPr>
        <p:spPr/>
        <p:txBody>
          <a:bodyPr/>
          <a:lstStyle>
            <a:lvl1pPr>
              <a:defRPr/>
            </a:lvl1pPr>
          </a:lstStyle>
          <a:p>
            <a:pPr>
              <a:defRPr/>
            </a:pPr>
            <a:endParaRPr lang="en-US" altLang="zh-CN"/>
          </a:p>
        </p:txBody>
      </p:sp>
      <p:sp>
        <p:nvSpPr>
          <p:cNvPr id="8" name="页脚占位符 4"/>
          <p:cNvSpPr>
            <a:spLocks noGrp="1"/>
          </p:cNvSpPr>
          <p:nvPr>
            <p:ph type="ftr" sz="quarter" idx="11"/>
          </p:nvPr>
        </p:nvSpPr>
        <p:spPr/>
        <p:txBody>
          <a:bodyPr/>
          <a:lstStyle>
            <a:lvl1pPr>
              <a:defRPr/>
            </a:lvl1pPr>
          </a:lstStyle>
          <a:p>
            <a:pPr>
              <a:defRPr/>
            </a:pP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1CC555D8-02CB-4BD6-9C89-3F972A1CFFFD}" type="slidenum">
              <a:rPr lang="en-US" altLang="zh-CN"/>
            </a:fld>
            <a:endParaRPr lang="en-US" altLang="zh-CN"/>
          </a:p>
        </p:txBody>
      </p:sp>
    </p:spTree>
  </p:cSld>
  <p:clrMapOvr>
    <a:masterClrMapping/>
  </p:clrMapOvr>
  <p:transition>
    <p:spli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vl1pPr>
          </a:lstStyle>
          <a:p>
            <a:r>
              <a:rPr lang="zh-CN" altLang="en-US" dirty="0"/>
              <a:t>单击此处编辑母版标题样式</a:t>
            </a:r>
            <a:endParaRPr lang="zh-CN" altLang="en-US" dirty="0"/>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6DFA40DF-1FC0-4A1B-B86F-E962D94EFA14}" type="slidenum">
              <a:rPr lang="en-US" altLang="zh-CN"/>
            </a:fld>
            <a:endParaRPr lang="en-US" altLang="zh-CN"/>
          </a:p>
        </p:txBody>
      </p:sp>
    </p:spTree>
  </p:cSld>
  <p:clrMapOvr>
    <a:masterClrMapping/>
  </p:clrMapOvr>
  <p:transition>
    <p:spli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en-US" altLang="zh-CN"/>
          </a:p>
        </p:txBody>
      </p:sp>
      <p:sp>
        <p:nvSpPr>
          <p:cNvPr id="3" name="页脚占位符 4"/>
          <p:cNvSpPr>
            <a:spLocks noGrp="1"/>
          </p:cNvSpPr>
          <p:nvPr>
            <p:ph type="ftr" sz="quarter" idx="11"/>
          </p:nvPr>
        </p:nvSpPr>
        <p:spPr/>
        <p:txBody>
          <a:bodyPr/>
          <a:lstStyle>
            <a:lvl1pPr>
              <a:defRPr/>
            </a:lvl1pPr>
          </a:lstStyle>
          <a:p>
            <a:pPr>
              <a:defRPr/>
            </a:pP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32133AD1-DAA7-48C8-8009-85BC350F1DBF}" type="slidenum">
              <a:rPr lang="en-US" altLang="zh-CN"/>
            </a:fld>
            <a:endParaRPr lang="en-US" altLang="zh-CN"/>
          </a:p>
        </p:txBody>
      </p:sp>
    </p:spTree>
  </p:cSld>
  <p:clrMapOvr>
    <a:masterClrMapping/>
  </p:clrMapOvr>
  <p:transition>
    <p:spli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8CC3ED0C-A748-4350-8328-CC2D2415A902}" type="slidenum">
              <a:rPr lang="en-US" altLang="zh-CN"/>
            </a:fld>
            <a:endParaRPr lang="en-US" altLang="zh-CN"/>
          </a:p>
        </p:txBody>
      </p:sp>
    </p:spTree>
  </p:cSld>
  <p:clrMapOvr>
    <a:masterClrMapping/>
  </p:clrMapOvr>
  <p:transition>
    <p:spli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16474483-0424-4A27-87D7-552BFAE253F2}" type="slidenum">
              <a:rPr lang="en-US" altLang="zh-CN"/>
            </a:fld>
            <a:endParaRPr lang="en-US" altLang="zh-CN"/>
          </a:p>
        </p:txBody>
      </p:sp>
    </p:spTree>
  </p:cSld>
  <p:clrMapOvr>
    <a:masterClrMapping/>
  </p:clrMapOvr>
  <p:transition>
    <p:spli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5AA2A870-21B2-4860-8E93-16318BB2D059}" type="slidenum">
              <a:rPr lang="en-US" altLang="zh-CN"/>
            </a:fld>
            <a:endParaRPr lang="en-US" altLang="zh-CN"/>
          </a:p>
        </p:txBody>
      </p:sp>
    </p:spTree>
  </p:cSld>
  <p:clrMapOvr>
    <a:masterClrMapping/>
  </p:clrMapOvr>
  <p:transition>
    <p:spli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2E9787F4-BA90-4DD4-9889-9BEADF90FCAB}" type="slidenum">
              <a:rPr lang="en-US" altLang="zh-CN"/>
            </a:fld>
            <a:endParaRPr lang="en-US" altLang="zh-CN"/>
          </a:p>
        </p:txBody>
      </p:sp>
    </p:spTree>
  </p:cSld>
  <p:clrMapOvr>
    <a:masterClrMapping/>
  </p:clrMapOvr>
  <p:transition>
    <p:spli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85800" y="1981200"/>
            <a:ext cx="7772400" cy="4114800"/>
          </a:xfrm>
        </p:spPr>
        <p:txBody>
          <a:bodyPr rtlCol="0">
            <a:normAutofit/>
          </a:bodyPr>
          <a:lstStyle/>
          <a:p>
            <a:pPr lvl="0"/>
            <a:endParaRPr lang="zh-CN" altLang="en-US" noProof="0"/>
          </a:p>
        </p:txBody>
      </p:sp>
      <p:sp>
        <p:nvSpPr>
          <p:cNvPr id="4" name="日期占位符 3"/>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6553200" y="6248400"/>
            <a:ext cx="1905000" cy="457200"/>
          </a:xfrm>
        </p:spPr>
        <p:txBody>
          <a:bodyPr/>
          <a:lstStyle>
            <a:lvl1pPr>
              <a:defRPr/>
            </a:lvl1pPr>
          </a:lstStyle>
          <a:p>
            <a:pPr>
              <a:defRPr/>
            </a:pPr>
            <a:fld id="{A9647D86-2814-4AEE-AFF9-125E46E281B0}" type="slidenum">
              <a:rPr lang="en-US" altLang="zh-CN"/>
            </a:fld>
            <a:endParaRPr lang="en-US" altLang="zh-CN"/>
          </a:p>
        </p:txBody>
      </p:sp>
    </p:spTree>
  </p:cSld>
  <p:clrMapOvr>
    <a:masterClrMapping/>
  </p:clrMapOvr>
  <p:transition>
    <p:spli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endParaRPr lang="zh-CN" altLang="en-US"/>
          </a:p>
        </p:txBody>
      </p:sp>
      <p:sp>
        <p:nvSpPr>
          <p:cNvPr id="3" name="SmartArt 占位符 2"/>
          <p:cNvSpPr>
            <a:spLocks noGrp="1"/>
          </p:cNvSpPr>
          <p:nvPr>
            <p:ph type="dgm" idx="1"/>
          </p:nvPr>
        </p:nvSpPr>
        <p:spPr>
          <a:xfrm>
            <a:off x="685800" y="1981200"/>
            <a:ext cx="7772400" cy="4114800"/>
          </a:xfrm>
        </p:spPr>
        <p:txBody>
          <a:bodyPr rtlCol="0">
            <a:normAutofit/>
          </a:bodyPr>
          <a:lstStyle/>
          <a:p>
            <a:pPr lvl="0"/>
            <a:endParaRPr lang="zh-CN" altLang="en-US" noProof="0"/>
          </a:p>
        </p:txBody>
      </p:sp>
      <p:sp>
        <p:nvSpPr>
          <p:cNvPr id="4" name="日期占位符 3"/>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6553200" y="6248400"/>
            <a:ext cx="1905000" cy="457200"/>
          </a:xfrm>
        </p:spPr>
        <p:txBody>
          <a:bodyPr/>
          <a:lstStyle>
            <a:lvl1pPr>
              <a:defRPr/>
            </a:lvl1pPr>
          </a:lstStyle>
          <a:p>
            <a:pPr>
              <a:defRPr/>
            </a:pPr>
            <a:fld id="{93A27851-59ED-4A63-89CC-71F42477B4F3}" type="slidenum">
              <a:rPr lang="en-US" altLang="zh-CN"/>
            </a:fld>
            <a:endParaRPr lang="en-US" altLang="zh-CN"/>
          </a:p>
        </p:txBody>
      </p:sp>
    </p:spTree>
  </p:cSld>
  <p:clrMapOvr>
    <a:masterClrMapping/>
  </p:clrMapOvr>
  <p:transition>
    <p:spli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981200"/>
            <a:ext cx="4038600" cy="3886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页脚占位符 4"/>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6" name="灯片编号占位符 5"/>
          <p:cNvSpPr>
            <a:spLocks noGrp="1"/>
          </p:cNvSpPr>
          <p:nvPr>
            <p:ph type="sldNum" sz="quarter" idx="11"/>
          </p:nvPr>
        </p:nvSpPr>
        <p:spPr>
          <a:xfrm>
            <a:off x="6553200" y="6200775"/>
            <a:ext cx="2133600" cy="457200"/>
          </a:xfrm>
        </p:spPr>
        <p:txBody>
          <a:bodyPr/>
          <a:lstStyle>
            <a:lvl1pPr>
              <a:defRPr/>
            </a:lvl1pPr>
          </a:lstStyle>
          <a:p>
            <a:fld id="{7391F496-F119-4D51-A206-D359AC09CFF3}" type="slidenum">
              <a:rPr lang="en-US" altLang="zh-CN"/>
            </a:fld>
            <a:endParaRPr lang="en-US" altLang="zh-CN"/>
          </a:p>
        </p:txBody>
      </p:sp>
      <p:sp>
        <p:nvSpPr>
          <p:cNvPr id="7" name="日期占位符 6"/>
          <p:cNvSpPr>
            <a:spLocks noGrp="1"/>
          </p:cNvSpPr>
          <p:nvPr>
            <p:ph type="dt" sz="half" idx="12"/>
          </p:nvPr>
        </p:nvSpPr>
        <p:spPr>
          <a:xfrm>
            <a:off x="457200" y="6245225"/>
            <a:ext cx="2133600" cy="476250"/>
          </a:xfrm>
        </p:spPr>
        <p:txBody>
          <a:bodyPr/>
          <a:lstStyle>
            <a:lvl1pPr>
              <a:defRPr/>
            </a:lvl1pPr>
          </a:lstStyle>
          <a:p>
            <a:endParaRPr lang="en-US" altLang="zh-CN"/>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ea typeface="+mn-ea"/>
              </a:defRPr>
            </a:lvl1pPr>
          </a:lstStyle>
          <a:p>
            <a:pPr>
              <a:defRPr/>
            </a:pPr>
            <a:fld id="{4C96439B-7949-475E-9BCB-40438E4D5761}"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split/>
  </p:transition>
  <p:hf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10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10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10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10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10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jpeg"/><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9" Type="http://schemas.openxmlformats.org/officeDocument/2006/relationships/image" Target="../media/image6.wmf"/><Relationship Id="rId8" Type="http://schemas.openxmlformats.org/officeDocument/2006/relationships/oleObject" Target="../embeddings/oleObject4.bin"/><Relationship Id="rId7" Type="http://schemas.openxmlformats.org/officeDocument/2006/relationships/image" Target="../media/image5.wmf"/><Relationship Id="rId6" Type="http://schemas.openxmlformats.org/officeDocument/2006/relationships/oleObject" Target="../embeddings/oleObject3.bin"/><Relationship Id="rId5" Type="http://schemas.openxmlformats.org/officeDocument/2006/relationships/image" Target="../media/image4.wmf"/><Relationship Id="rId4" Type="http://schemas.openxmlformats.org/officeDocument/2006/relationships/oleObject" Target="../embeddings/oleObject2.bin"/><Relationship Id="rId3" Type="http://schemas.openxmlformats.org/officeDocument/2006/relationships/image" Target="../media/image1.jpeg"/><Relationship Id="rId2" Type="http://schemas.openxmlformats.org/officeDocument/2006/relationships/image" Target="../media/image3.wmf"/><Relationship Id="rId13" Type="http://schemas.openxmlformats.org/officeDocument/2006/relationships/vmlDrawing" Target="../drawings/vmlDrawing1.vml"/><Relationship Id="rId12" Type="http://schemas.openxmlformats.org/officeDocument/2006/relationships/slideLayout" Target="../slideLayouts/slideLayout6.xml"/><Relationship Id="rId11" Type="http://schemas.openxmlformats.org/officeDocument/2006/relationships/image" Target="../media/image7.wmf"/><Relationship Id="rId10" Type="http://schemas.openxmlformats.org/officeDocument/2006/relationships/oleObject" Target="../embeddings/oleObject5.bin"/><Relationship Id="rId1" Type="http://schemas.openxmlformats.org/officeDocument/2006/relationships/oleObject" Target="../embeddings/oleObject1.bin"/></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jpe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oleObject" Target="../embeddings/oleObject8.bin"/><Relationship Id="rId4" Type="http://schemas.openxmlformats.org/officeDocument/2006/relationships/image" Target="../media/image11.wmf"/><Relationship Id="rId3" Type="http://schemas.openxmlformats.org/officeDocument/2006/relationships/oleObject" Target="../embeddings/oleObject7.bin"/><Relationship Id="rId2" Type="http://schemas.openxmlformats.org/officeDocument/2006/relationships/image" Target="../media/image4.wmf"/><Relationship Id="rId1" Type="http://schemas.openxmlformats.org/officeDocument/2006/relationships/oleObject" Target="../embeddings/oleObject6.bin"/></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5</a:t>
            </a:r>
            <a:r>
              <a:rPr lang="zh-CN" altLang="en-US" dirty="0"/>
              <a:t>章  树与二叉树</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树和森林的概念</a:t>
            </a:r>
            <a:endParaRPr lang="zh-CN" altLang="en-US" dirty="0"/>
          </a:p>
          <a:p>
            <a:r>
              <a:rPr lang="zh-CN" altLang="en-US" dirty="0"/>
              <a:t>二叉树 </a:t>
            </a:r>
            <a:endParaRPr lang="zh-CN" altLang="en-US" dirty="0"/>
          </a:p>
          <a:p>
            <a:r>
              <a:rPr lang="zh-CN" altLang="en-US" dirty="0"/>
              <a:t>二叉树遍历</a:t>
            </a:r>
            <a:endParaRPr lang="zh-CN" altLang="en-US" dirty="0"/>
          </a:p>
          <a:p>
            <a:r>
              <a:rPr lang="zh-CN" altLang="en-US" dirty="0"/>
              <a:t>二叉树的计数</a:t>
            </a:r>
            <a:endParaRPr lang="zh-CN" altLang="en-US" dirty="0"/>
          </a:p>
          <a:p>
            <a:r>
              <a:rPr lang="zh-CN" altLang="en-US" dirty="0"/>
              <a:t>线索二叉树</a:t>
            </a:r>
            <a:endParaRPr lang="zh-CN" altLang="en-US" dirty="0"/>
          </a:p>
          <a:p>
            <a:r>
              <a:rPr lang="zh-CN" altLang="en-US" dirty="0"/>
              <a:t>树与森林</a:t>
            </a:r>
            <a:endParaRPr lang="zh-CN" altLang="en-US" dirty="0"/>
          </a:p>
          <a:p>
            <a:r>
              <a:rPr lang="zh-CN" altLang="en-US" dirty="0"/>
              <a:t>堆</a:t>
            </a:r>
            <a:endParaRPr lang="zh-CN" altLang="en-US" dirty="0"/>
          </a:p>
          <a:p>
            <a:r>
              <a:rPr lang="en-US" altLang="zh-CN" dirty="0"/>
              <a:t>Huffman</a:t>
            </a:r>
            <a:r>
              <a:rPr lang="zh-CN" altLang="en-US" dirty="0"/>
              <a:t>树</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 </a:t>
            </a:r>
            <a:r>
              <a:rPr lang="zh-CN" altLang="en-US" dirty="0"/>
              <a:t>树的基本概念</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b="1" dirty="0"/>
              <a:t>自由树</a:t>
            </a:r>
            <a:r>
              <a:rPr lang="zh-CN" altLang="en-US" dirty="0"/>
              <a:t>：一棵自由树</a:t>
            </a:r>
            <a:r>
              <a:rPr lang="en-US" altLang="zh-CN" dirty="0" err="1"/>
              <a:t>T</a:t>
            </a:r>
            <a:r>
              <a:rPr lang="en-US" altLang="zh-CN" baseline="-25000" dirty="0" err="1"/>
              <a:t>f</a:t>
            </a:r>
            <a:r>
              <a:rPr lang="zh-CN" altLang="en-US" dirty="0"/>
              <a:t>可定义为一个二元组</a:t>
            </a:r>
            <a:r>
              <a:rPr lang="en-US" altLang="zh-CN" dirty="0" err="1"/>
              <a:t>T</a:t>
            </a:r>
            <a:r>
              <a:rPr lang="en-US" altLang="zh-CN" baseline="-25000" dirty="0" err="1"/>
              <a:t>f</a:t>
            </a:r>
            <a:r>
              <a:rPr lang="en-US" altLang="zh-CN" dirty="0"/>
              <a:t>=(V,E)</a:t>
            </a:r>
            <a:r>
              <a:rPr lang="zh-CN" altLang="en-US" dirty="0"/>
              <a:t>，其中：</a:t>
            </a:r>
            <a:endParaRPr lang="en-US" altLang="zh-CN" dirty="0"/>
          </a:p>
          <a:p>
            <a:pPr lvl="1"/>
            <a:r>
              <a:rPr lang="en-US" altLang="zh-CN" dirty="0"/>
              <a:t>V={v</a:t>
            </a:r>
            <a:r>
              <a:rPr lang="en-US" altLang="zh-CN" baseline="-25000" dirty="0"/>
              <a:t>1</a:t>
            </a:r>
            <a:r>
              <a:rPr lang="en-US" altLang="zh-CN" dirty="0"/>
              <a:t>,…,</a:t>
            </a:r>
            <a:r>
              <a:rPr lang="en-US" altLang="zh-CN" dirty="0" err="1"/>
              <a:t>v</a:t>
            </a:r>
            <a:r>
              <a:rPr lang="en-US" altLang="zh-CN" baseline="-25000" dirty="0" err="1"/>
              <a:t>n</a:t>
            </a:r>
            <a:r>
              <a:rPr lang="en-US" altLang="zh-CN" dirty="0"/>
              <a:t>}</a:t>
            </a:r>
            <a:r>
              <a:rPr lang="zh-CN" altLang="en-US" dirty="0"/>
              <a:t>是由</a:t>
            </a:r>
            <a:r>
              <a:rPr lang="en-US" altLang="zh-CN" dirty="0"/>
              <a:t>n(n&gt;0)</a:t>
            </a:r>
            <a:r>
              <a:rPr lang="zh-CN" altLang="en-US" dirty="0"/>
              <a:t>个元素组成的有限</a:t>
            </a:r>
            <a:r>
              <a:rPr lang="zh-CN" altLang="en-US" b="1" u="sng" dirty="0"/>
              <a:t>非空</a:t>
            </a:r>
            <a:r>
              <a:rPr lang="zh-CN" altLang="en-US" dirty="0"/>
              <a:t>集合，称为顶点集合，</a:t>
            </a:r>
            <a:r>
              <a:rPr lang="en-US" altLang="zh-CN" dirty="0"/>
              <a:t>v</a:t>
            </a:r>
            <a:r>
              <a:rPr lang="en-US" altLang="zh-CN" baseline="-25000" dirty="0"/>
              <a:t>i</a:t>
            </a:r>
            <a:r>
              <a:rPr lang="en-US" altLang="zh-CN" dirty="0"/>
              <a:t>(1≤i≤n)</a:t>
            </a:r>
            <a:r>
              <a:rPr lang="zh-CN" altLang="en-US" dirty="0"/>
              <a:t>称为顶点。</a:t>
            </a:r>
            <a:endParaRPr lang="en-US" altLang="zh-CN" dirty="0"/>
          </a:p>
          <a:p>
            <a:pPr lvl="1"/>
            <a:r>
              <a:rPr lang="en-US" altLang="zh-CN" dirty="0"/>
              <a:t>E={(v</a:t>
            </a:r>
            <a:r>
              <a:rPr lang="en-US" altLang="zh-CN" baseline="-25000" dirty="0"/>
              <a:t>i</a:t>
            </a:r>
            <a:r>
              <a:rPr lang="en-US" altLang="zh-CN" dirty="0"/>
              <a:t>, </a:t>
            </a:r>
            <a:r>
              <a:rPr lang="en-US" altLang="zh-CN" dirty="0" err="1"/>
              <a:t>v</a:t>
            </a:r>
            <a:r>
              <a:rPr lang="en-US" altLang="zh-CN" baseline="-25000" dirty="0" err="1"/>
              <a:t>j</a:t>
            </a:r>
            <a:r>
              <a:rPr lang="en-US" altLang="zh-CN" dirty="0"/>
              <a:t>)|v</a:t>
            </a:r>
            <a:r>
              <a:rPr lang="en-US" altLang="zh-CN" baseline="-25000" dirty="0"/>
              <a:t>i</a:t>
            </a:r>
            <a:r>
              <a:rPr lang="en-US" altLang="zh-CN" dirty="0"/>
              <a:t>, </a:t>
            </a:r>
            <a:r>
              <a:rPr lang="en-US" altLang="zh-CN" dirty="0" err="1"/>
              <a:t>v</a:t>
            </a:r>
            <a:r>
              <a:rPr lang="en-US" altLang="zh-CN" baseline="-25000" dirty="0" err="1"/>
              <a:t>j</a:t>
            </a:r>
            <a:r>
              <a:rPr lang="en-US" altLang="zh-CN" dirty="0">
                <a:sym typeface="Symbol" panose="05050102010706020507" pitchFamily="18" charset="2"/>
              </a:rPr>
              <a:t>  </a:t>
            </a:r>
            <a:r>
              <a:rPr lang="en-US" altLang="zh-CN" dirty="0"/>
              <a:t>V, 1≤i, </a:t>
            </a:r>
            <a:r>
              <a:rPr lang="en-US" altLang="zh-CN" dirty="0" err="1"/>
              <a:t>j≤n</a:t>
            </a:r>
            <a:r>
              <a:rPr lang="en-US" altLang="zh-CN" dirty="0"/>
              <a:t>}</a:t>
            </a:r>
            <a:r>
              <a:rPr lang="zh-CN" altLang="en-US" dirty="0"/>
              <a:t>是由</a:t>
            </a:r>
            <a:r>
              <a:rPr lang="en-US" altLang="zh-CN" dirty="0"/>
              <a:t>n-1</a:t>
            </a:r>
            <a:r>
              <a:rPr lang="zh-CN" altLang="en-US" dirty="0"/>
              <a:t>个有序对形成的集合，称为边集合，</a:t>
            </a:r>
            <a:r>
              <a:rPr lang="en-US" altLang="zh-CN" dirty="0"/>
              <a:t>E</a:t>
            </a:r>
            <a:r>
              <a:rPr lang="zh-CN" altLang="en-US" dirty="0"/>
              <a:t>中的元素</a:t>
            </a:r>
            <a:r>
              <a:rPr lang="en-US" altLang="zh-CN" dirty="0"/>
              <a:t>(v</a:t>
            </a:r>
            <a:r>
              <a:rPr lang="en-US" altLang="zh-CN" baseline="-25000" dirty="0"/>
              <a:t>i</a:t>
            </a:r>
            <a:r>
              <a:rPr lang="en-US" altLang="zh-CN" dirty="0"/>
              <a:t>, </a:t>
            </a:r>
            <a:r>
              <a:rPr lang="en-US" altLang="zh-CN" dirty="0" err="1"/>
              <a:t>v</a:t>
            </a:r>
            <a:r>
              <a:rPr lang="en-US" altLang="zh-CN" baseline="-25000" dirty="0" err="1"/>
              <a:t>j</a:t>
            </a:r>
            <a:r>
              <a:rPr lang="en-US" altLang="zh-CN" dirty="0"/>
              <a:t>)</a:t>
            </a:r>
            <a:r>
              <a:rPr lang="zh-CN" altLang="en-US" dirty="0"/>
              <a:t>称为边或分支。</a:t>
            </a:r>
            <a:r>
              <a:rPr lang="en-US" altLang="zh-CN" dirty="0"/>
              <a:t>E</a:t>
            </a:r>
            <a:r>
              <a:rPr lang="zh-CN" altLang="en-US" dirty="0"/>
              <a:t>使得</a:t>
            </a:r>
            <a:r>
              <a:rPr lang="en-US" altLang="zh-CN" dirty="0" err="1"/>
              <a:t>T</a:t>
            </a:r>
            <a:r>
              <a:rPr lang="en-US" altLang="zh-CN" baseline="-25000" dirty="0" err="1"/>
              <a:t>f</a:t>
            </a:r>
            <a:r>
              <a:rPr lang="zh-CN" altLang="en-US" dirty="0"/>
              <a:t>成为一个</a:t>
            </a:r>
            <a:r>
              <a:rPr lang="zh-CN" altLang="en-US" b="1" u="sng" dirty="0"/>
              <a:t>连通图</a:t>
            </a:r>
            <a:r>
              <a:rPr lang="zh-CN" altLang="en-US" dirty="0"/>
              <a:t>。</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有根树</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一棵</a:t>
            </a:r>
            <a:r>
              <a:rPr lang="zh-CN" altLang="en-US" b="1" u="sng" dirty="0"/>
              <a:t>有根树</a:t>
            </a:r>
            <a:r>
              <a:rPr lang="en-US" altLang="zh-CN" dirty="0"/>
              <a:t>T</a:t>
            </a:r>
            <a:r>
              <a:rPr lang="zh-CN" altLang="en-US" dirty="0"/>
              <a:t>，简称树，是 </a:t>
            </a:r>
            <a:r>
              <a:rPr lang="en-US" altLang="zh-CN" dirty="0"/>
              <a:t>n (n ≥ 0) </a:t>
            </a:r>
            <a:r>
              <a:rPr lang="zh-CN" altLang="en-US" dirty="0"/>
              <a:t>个结点组成的有限集合。</a:t>
            </a:r>
            <a:endParaRPr lang="en-US" altLang="zh-CN" dirty="0"/>
          </a:p>
          <a:p>
            <a:pPr lvl="1"/>
            <a:r>
              <a:rPr lang="zh-CN" altLang="en-US" dirty="0"/>
              <a:t>如果 </a:t>
            </a:r>
            <a:r>
              <a:rPr lang="en-US" altLang="zh-CN" dirty="0"/>
              <a:t>n = 0</a:t>
            </a:r>
            <a:r>
              <a:rPr lang="zh-CN" altLang="en-US" dirty="0"/>
              <a:t>，称为</a:t>
            </a:r>
            <a:r>
              <a:rPr lang="zh-CN" altLang="en-US" b="1" dirty="0"/>
              <a:t>空树</a:t>
            </a:r>
            <a:r>
              <a:rPr lang="zh-CN" altLang="en-US" dirty="0"/>
              <a:t>；</a:t>
            </a:r>
            <a:endParaRPr lang="en-US" altLang="zh-CN" dirty="0"/>
          </a:p>
          <a:p>
            <a:pPr lvl="1"/>
            <a:r>
              <a:rPr lang="zh-CN" altLang="en-US" dirty="0"/>
              <a:t>如果 </a:t>
            </a:r>
            <a:r>
              <a:rPr lang="en-US" altLang="zh-CN" dirty="0"/>
              <a:t>n &gt; 0</a:t>
            </a:r>
            <a:r>
              <a:rPr lang="zh-CN" altLang="en-US" dirty="0"/>
              <a:t>，则：</a:t>
            </a:r>
            <a:endParaRPr lang="zh-CN" altLang="en-US" dirty="0"/>
          </a:p>
          <a:p>
            <a:pPr lvl="2"/>
            <a:r>
              <a:rPr lang="zh-CN" altLang="en-US" dirty="0"/>
              <a:t>有一个特定的称之为根</a:t>
            </a:r>
            <a:r>
              <a:rPr lang="en-US" altLang="zh-CN" dirty="0"/>
              <a:t>(root)</a:t>
            </a:r>
            <a:r>
              <a:rPr lang="zh-CN" altLang="en-US" dirty="0"/>
              <a:t>的结点</a:t>
            </a:r>
            <a:r>
              <a:rPr lang="en-US" altLang="zh-CN" dirty="0"/>
              <a:t>r</a:t>
            </a:r>
            <a:r>
              <a:rPr lang="zh-CN" altLang="en-US" dirty="0"/>
              <a:t>，它只有直接后继，但没有直接前驱；</a:t>
            </a:r>
            <a:endParaRPr lang="zh-CN" altLang="en-US" dirty="0"/>
          </a:p>
          <a:p>
            <a:pPr lvl="2"/>
            <a:r>
              <a:rPr lang="zh-CN" altLang="en-US" dirty="0"/>
              <a:t>除根以外的其他结点划分为 </a:t>
            </a:r>
            <a:r>
              <a:rPr lang="en-US" altLang="zh-CN" dirty="0"/>
              <a:t>m (m ≥ 0) </a:t>
            </a:r>
            <a:r>
              <a:rPr lang="zh-CN" altLang="en-US" dirty="0"/>
              <a:t>个互不相交的有限集合</a:t>
            </a:r>
            <a:r>
              <a:rPr lang="en-US" altLang="zh-CN" dirty="0"/>
              <a:t>T</a:t>
            </a:r>
            <a:r>
              <a:rPr lang="en-US" altLang="zh-CN" baseline="-25000" dirty="0"/>
              <a:t>1</a:t>
            </a:r>
            <a:r>
              <a:rPr lang="en-US" altLang="zh-CN" dirty="0"/>
              <a:t>, T</a:t>
            </a:r>
            <a:r>
              <a:rPr lang="en-US" altLang="zh-CN" baseline="-25000" dirty="0"/>
              <a:t>2</a:t>
            </a:r>
            <a:r>
              <a:rPr lang="en-US" altLang="zh-CN" dirty="0"/>
              <a:t>, …, T</a:t>
            </a:r>
            <a:r>
              <a:rPr lang="en-US" altLang="zh-CN" baseline="-25000" dirty="0"/>
              <a:t>m</a:t>
            </a:r>
            <a:r>
              <a:rPr lang="zh-CN" altLang="en-US" dirty="0"/>
              <a:t>，每个集合又是一棵树，并且称之为根的子树。</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9"/>
          <p:cNvSpPr>
            <a:spLocks noChangeShapeType="1"/>
          </p:cNvSpPr>
          <p:nvPr/>
        </p:nvSpPr>
        <p:spPr bwMode="auto">
          <a:xfrm>
            <a:off x="4992368" y="4510092"/>
            <a:ext cx="4572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1" name="Line 28"/>
          <p:cNvSpPr>
            <a:spLocks noChangeShapeType="1"/>
          </p:cNvSpPr>
          <p:nvPr/>
        </p:nvSpPr>
        <p:spPr bwMode="auto">
          <a:xfrm flipH="1">
            <a:off x="4154168" y="4510092"/>
            <a:ext cx="4572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2" name="Line 26"/>
          <p:cNvSpPr>
            <a:spLocks noChangeShapeType="1"/>
          </p:cNvSpPr>
          <p:nvPr/>
        </p:nvSpPr>
        <p:spPr bwMode="auto">
          <a:xfrm>
            <a:off x="4763768" y="4586292"/>
            <a:ext cx="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3" name="Line 27"/>
          <p:cNvSpPr>
            <a:spLocks noChangeShapeType="1"/>
          </p:cNvSpPr>
          <p:nvPr/>
        </p:nvSpPr>
        <p:spPr bwMode="auto">
          <a:xfrm>
            <a:off x="4154168" y="5424492"/>
            <a:ext cx="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4" name="Line 25"/>
          <p:cNvSpPr>
            <a:spLocks noChangeShapeType="1"/>
          </p:cNvSpPr>
          <p:nvPr/>
        </p:nvSpPr>
        <p:spPr bwMode="auto">
          <a:xfrm>
            <a:off x="3620768" y="3595692"/>
            <a:ext cx="1066800" cy="6096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5" name="Line 23"/>
          <p:cNvSpPr>
            <a:spLocks noChangeShapeType="1"/>
          </p:cNvSpPr>
          <p:nvPr/>
        </p:nvSpPr>
        <p:spPr bwMode="auto">
          <a:xfrm flipH="1">
            <a:off x="2325368" y="3595692"/>
            <a:ext cx="914400" cy="6096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6" name="Line 22"/>
          <p:cNvSpPr>
            <a:spLocks noChangeShapeType="1"/>
          </p:cNvSpPr>
          <p:nvPr/>
        </p:nvSpPr>
        <p:spPr bwMode="auto">
          <a:xfrm>
            <a:off x="3468368" y="3671892"/>
            <a:ext cx="0" cy="17526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7" name="Line 21"/>
          <p:cNvSpPr>
            <a:spLocks noChangeShapeType="1"/>
          </p:cNvSpPr>
          <p:nvPr/>
        </p:nvSpPr>
        <p:spPr bwMode="auto">
          <a:xfrm>
            <a:off x="2401568" y="4510092"/>
            <a:ext cx="2286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8" name="Line 20"/>
          <p:cNvSpPr>
            <a:spLocks noChangeShapeType="1"/>
          </p:cNvSpPr>
          <p:nvPr/>
        </p:nvSpPr>
        <p:spPr bwMode="auto">
          <a:xfrm>
            <a:off x="2020568" y="5348292"/>
            <a:ext cx="2286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9" name="Line 19"/>
          <p:cNvSpPr>
            <a:spLocks noChangeShapeType="1"/>
          </p:cNvSpPr>
          <p:nvPr/>
        </p:nvSpPr>
        <p:spPr bwMode="auto">
          <a:xfrm flipH="1">
            <a:off x="1487168" y="4510092"/>
            <a:ext cx="685800" cy="1524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2" name="Oval 4"/>
          <p:cNvSpPr>
            <a:spLocks noChangeArrowheads="1"/>
          </p:cNvSpPr>
          <p:nvPr/>
        </p:nvSpPr>
        <p:spPr bwMode="auto">
          <a:xfrm>
            <a:off x="3163568" y="32146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83" name="Line 5"/>
          <p:cNvSpPr>
            <a:spLocks noChangeShapeType="1"/>
          </p:cNvSpPr>
          <p:nvPr/>
        </p:nvSpPr>
        <p:spPr bwMode="auto">
          <a:xfrm>
            <a:off x="4306568" y="3443292"/>
            <a:ext cx="2133600" cy="0"/>
          </a:xfrm>
          <a:prstGeom prst="line">
            <a:avLst/>
          </a:prstGeom>
          <a:noFill/>
          <a:ln w="28575">
            <a:solidFill>
              <a:schemeClr val="accent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4" name="Oval 6"/>
          <p:cNvSpPr>
            <a:spLocks noChangeArrowheads="1"/>
          </p:cNvSpPr>
          <p:nvPr/>
        </p:nvSpPr>
        <p:spPr bwMode="auto">
          <a:xfrm>
            <a:off x="2020568" y="40528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85" name="Oval 7"/>
          <p:cNvSpPr>
            <a:spLocks noChangeArrowheads="1"/>
          </p:cNvSpPr>
          <p:nvPr/>
        </p:nvSpPr>
        <p:spPr bwMode="auto">
          <a:xfrm>
            <a:off x="3163568" y="40528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86" name="Oval 8"/>
          <p:cNvSpPr>
            <a:spLocks noChangeArrowheads="1"/>
          </p:cNvSpPr>
          <p:nvPr/>
        </p:nvSpPr>
        <p:spPr bwMode="auto">
          <a:xfrm>
            <a:off x="4535168" y="40528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87" name="Oval 10"/>
          <p:cNvSpPr>
            <a:spLocks noChangeArrowheads="1"/>
          </p:cNvSpPr>
          <p:nvPr/>
        </p:nvSpPr>
        <p:spPr bwMode="auto">
          <a:xfrm>
            <a:off x="1639568" y="48910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88" name="Oval 11"/>
          <p:cNvSpPr>
            <a:spLocks noChangeArrowheads="1"/>
          </p:cNvSpPr>
          <p:nvPr/>
        </p:nvSpPr>
        <p:spPr bwMode="auto">
          <a:xfrm>
            <a:off x="2325368" y="48910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89" name="Oval 12"/>
          <p:cNvSpPr>
            <a:spLocks noChangeArrowheads="1"/>
          </p:cNvSpPr>
          <p:nvPr/>
        </p:nvSpPr>
        <p:spPr bwMode="auto">
          <a:xfrm>
            <a:off x="3163568" y="48910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0" name="Oval 13"/>
          <p:cNvSpPr>
            <a:spLocks noChangeArrowheads="1"/>
          </p:cNvSpPr>
          <p:nvPr/>
        </p:nvSpPr>
        <p:spPr bwMode="auto">
          <a:xfrm>
            <a:off x="3849368" y="48910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1" name="Oval 14"/>
          <p:cNvSpPr>
            <a:spLocks noChangeArrowheads="1"/>
          </p:cNvSpPr>
          <p:nvPr/>
        </p:nvSpPr>
        <p:spPr bwMode="auto">
          <a:xfrm>
            <a:off x="4535168" y="48910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2" name="Oval 15"/>
          <p:cNvSpPr>
            <a:spLocks noChangeArrowheads="1"/>
          </p:cNvSpPr>
          <p:nvPr/>
        </p:nvSpPr>
        <p:spPr bwMode="auto">
          <a:xfrm>
            <a:off x="5220968" y="48910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3" name="Oval 17"/>
          <p:cNvSpPr>
            <a:spLocks noChangeArrowheads="1"/>
          </p:cNvSpPr>
          <p:nvPr/>
        </p:nvSpPr>
        <p:spPr bwMode="auto">
          <a:xfrm>
            <a:off x="1258568" y="57292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4" name="Oval 18"/>
          <p:cNvSpPr>
            <a:spLocks noChangeArrowheads="1"/>
          </p:cNvSpPr>
          <p:nvPr/>
        </p:nvSpPr>
        <p:spPr bwMode="auto">
          <a:xfrm>
            <a:off x="2020568" y="57292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5" name="Oval 24"/>
          <p:cNvSpPr>
            <a:spLocks noChangeArrowheads="1"/>
          </p:cNvSpPr>
          <p:nvPr/>
        </p:nvSpPr>
        <p:spPr bwMode="auto">
          <a:xfrm>
            <a:off x="3849368" y="57292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6" name="Line 30"/>
          <p:cNvSpPr>
            <a:spLocks noChangeShapeType="1"/>
          </p:cNvSpPr>
          <p:nvPr/>
        </p:nvSpPr>
        <p:spPr bwMode="auto">
          <a:xfrm>
            <a:off x="5297168" y="4281492"/>
            <a:ext cx="1143000" cy="0"/>
          </a:xfrm>
          <a:prstGeom prst="line">
            <a:avLst/>
          </a:prstGeom>
          <a:noFill/>
          <a:ln w="28575">
            <a:solidFill>
              <a:schemeClr val="accent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7" name="Line 31"/>
          <p:cNvSpPr>
            <a:spLocks noChangeShapeType="1"/>
          </p:cNvSpPr>
          <p:nvPr/>
        </p:nvSpPr>
        <p:spPr bwMode="auto">
          <a:xfrm>
            <a:off x="5830568" y="5119692"/>
            <a:ext cx="685800" cy="0"/>
          </a:xfrm>
          <a:prstGeom prst="line">
            <a:avLst/>
          </a:prstGeom>
          <a:noFill/>
          <a:ln w="28575">
            <a:solidFill>
              <a:schemeClr val="accent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8" name="Line 32"/>
          <p:cNvSpPr>
            <a:spLocks noChangeShapeType="1"/>
          </p:cNvSpPr>
          <p:nvPr/>
        </p:nvSpPr>
        <p:spPr bwMode="auto">
          <a:xfrm>
            <a:off x="4611368" y="5957892"/>
            <a:ext cx="1828800" cy="0"/>
          </a:xfrm>
          <a:prstGeom prst="line">
            <a:avLst/>
          </a:prstGeom>
          <a:noFill/>
          <a:ln w="28575">
            <a:solidFill>
              <a:schemeClr val="accent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9" name="Text Box 33"/>
          <p:cNvSpPr txBox="1">
            <a:spLocks noChangeArrowheads="1"/>
          </p:cNvSpPr>
          <p:nvPr/>
        </p:nvSpPr>
        <p:spPr bwMode="auto">
          <a:xfrm>
            <a:off x="6440168" y="3154367"/>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1</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7200" name="Text Box 34"/>
          <p:cNvSpPr txBox="1">
            <a:spLocks noChangeArrowheads="1"/>
          </p:cNvSpPr>
          <p:nvPr/>
        </p:nvSpPr>
        <p:spPr bwMode="auto">
          <a:xfrm>
            <a:off x="6440168" y="3976692"/>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2</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7201" name="Text Box 35"/>
          <p:cNvSpPr txBox="1">
            <a:spLocks noChangeArrowheads="1"/>
          </p:cNvSpPr>
          <p:nvPr/>
        </p:nvSpPr>
        <p:spPr bwMode="auto">
          <a:xfrm>
            <a:off x="6408418" y="5653092"/>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4</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7202" name="Text Box 36"/>
          <p:cNvSpPr txBox="1">
            <a:spLocks noChangeArrowheads="1"/>
          </p:cNvSpPr>
          <p:nvPr/>
        </p:nvSpPr>
        <p:spPr bwMode="auto">
          <a:xfrm>
            <a:off x="6440168" y="4814892"/>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3</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7203" name="Text Box 37"/>
          <p:cNvSpPr txBox="1">
            <a:spLocks noChangeArrowheads="1"/>
          </p:cNvSpPr>
          <p:nvPr/>
        </p:nvSpPr>
        <p:spPr bwMode="auto">
          <a:xfrm>
            <a:off x="7213281" y="4411667"/>
            <a:ext cx="1112837"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lnSpc>
                <a:spcPct val="80000"/>
              </a:lnSpc>
            </a:pPr>
            <a:r>
              <a:rPr kumimoji="1" lang="en-US" altLang="zh-CN" sz="2800" b="1" i="1">
                <a:solidFill>
                  <a:schemeClr val="accent2"/>
                </a:solidFill>
                <a:latin typeface="Times New Roman" panose="02020603050405020304" pitchFamily="18" charset="0"/>
                <a:ea typeface="宋体" panose="02010600030101010101" pitchFamily="2" charset="-122"/>
              </a:rPr>
              <a:t>height</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lnSpc>
                <a:spcPct val="80000"/>
              </a:lnSpc>
            </a:pPr>
            <a:r>
              <a:rPr kumimoji="1" lang="en-US" altLang="zh-CN" sz="2800" b="1">
                <a:solidFill>
                  <a:schemeClr val="accent2"/>
                </a:solidFill>
                <a:latin typeface="Times New Roman" panose="02020603050405020304" pitchFamily="18" charset="0"/>
                <a:ea typeface="宋体" panose="02010600030101010101" pitchFamily="2" charset="-122"/>
              </a:rPr>
              <a:t>= 4</a:t>
            </a:r>
            <a:endParaRPr kumimoji="1" lang="en-US" altLang="zh-CN" sz="3200">
              <a:latin typeface="Times New Roman" panose="02020603050405020304" pitchFamily="18" charset="0"/>
              <a:ea typeface="宋体" panose="02010600030101010101" pitchFamily="2" charset="-122"/>
            </a:endParaRPr>
          </a:p>
        </p:txBody>
      </p:sp>
      <p:sp>
        <p:nvSpPr>
          <p:cNvPr id="7204" name="Line 38"/>
          <p:cNvSpPr>
            <a:spLocks noChangeShapeType="1"/>
          </p:cNvSpPr>
          <p:nvPr/>
        </p:nvSpPr>
        <p:spPr bwMode="auto">
          <a:xfrm>
            <a:off x="7583168" y="3290892"/>
            <a:ext cx="304800" cy="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5" name="Line 39"/>
          <p:cNvSpPr>
            <a:spLocks noChangeShapeType="1"/>
          </p:cNvSpPr>
          <p:nvPr/>
        </p:nvSpPr>
        <p:spPr bwMode="auto">
          <a:xfrm flipV="1">
            <a:off x="7735568" y="3290892"/>
            <a:ext cx="0" cy="10668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6" name="Line 40"/>
          <p:cNvSpPr>
            <a:spLocks noChangeShapeType="1"/>
          </p:cNvSpPr>
          <p:nvPr/>
        </p:nvSpPr>
        <p:spPr bwMode="auto">
          <a:xfrm>
            <a:off x="7583168" y="6186492"/>
            <a:ext cx="304800" cy="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7" name="Line 41"/>
          <p:cNvSpPr>
            <a:spLocks noChangeShapeType="1"/>
          </p:cNvSpPr>
          <p:nvPr/>
        </p:nvSpPr>
        <p:spPr bwMode="auto">
          <a:xfrm flipV="1">
            <a:off x="7735568" y="5119692"/>
            <a:ext cx="0" cy="10668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8" name="Text Box 42"/>
          <p:cNvSpPr txBox="1">
            <a:spLocks noChangeArrowheads="1"/>
          </p:cNvSpPr>
          <p:nvPr/>
        </p:nvSpPr>
        <p:spPr bwMode="auto">
          <a:xfrm>
            <a:off x="3239768" y="3214692"/>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209" name="Text Box 43"/>
          <p:cNvSpPr txBox="1">
            <a:spLocks noChangeArrowheads="1"/>
          </p:cNvSpPr>
          <p:nvPr/>
        </p:nvSpPr>
        <p:spPr bwMode="auto">
          <a:xfrm>
            <a:off x="3239768" y="4052892"/>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7210" name="Text Box 44"/>
          <p:cNvSpPr txBox="1">
            <a:spLocks noChangeArrowheads="1"/>
          </p:cNvSpPr>
          <p:nvPr/>
        </p:nvSpPr>
        <p:spPr bwMode="auto">
          <a:xfrm>
            <a:off x="3230243" y="4905380"/>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7211" name="Text Box 45"/>
          <p:cNvSpPr txBox="1">
            <a:spLocks noChangeArrowheads="1"/>
          </p:cNvSpPr>
          <p:nvPr/>
        </p:nvSpPr>
        <p:spPr bwMode="auto">
          <a:xfrm>
            <a:off x="2096768" y="4052892"/>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212" name="Text Box 46"/>
          <p:cNvSpPr txBox="1">
            <a:spLocks noChangeArrowheads="1"/>
          </p:cNvSpPr>
          <p:nvPr/>
        </p:nvSpPr>
        <p:spPr bwMode="auto">
          <a:xfrm>
            <a:off x="4611368" y="406718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7213" name="Text Box 47"/>
          <p:cNvSpPr txBox="1">
            <a:spLocks noChangeArrowheads="1"/>
          </p:cNvSpPr>
          <p:nvPr/>
        </p:nvSpPr>
        <p:spPr bwMode="auto">
          <a:xfrm>
            <a:off x="1725293" y="4905380"/>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7214" name="Text Box 48"/>
          <p:cNvSpPr txBox="1">
            <a:spLocks noChangeArrowheads="1"/>
          </p:cNvSpPr>
          <p:nvPr/>
        </p:nvSpPr>
        <p:spPr bwMode="auto">
          <a:xfrm>
            <a:off x="2411093" y="4905380"/>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7215" name="Text Box 49"/>
          <p:cNvSpPr txBox="1">
            <a:spLocks noChangeArrowheads="1"/>
          </p:cNvSpPr>
          <p:nvPr/>
        </p:nvSpPr>
        <p:spPr bwMode="auto">
          <a:xfrm>
            <a:off x="1350643" y="574358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7216" name="Text Box 50"/>
          <p:cNvSpPr txBox="1">
            <a:spLocks noChangeArrowheads="1"/>
          </p:cNvSpPr>
          <p:nvPr/>
        </p:nvSpPr>
        <p:spPr bwMode="auto">
          <a:xfrm>
            <a:off x="2096768" y="5743580"/>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7217" name="Text Box 51"/>
          <p:cNvSpPr txBox="1">
            <a:spLocks noChangeArrowheads="1"/>
          </p:cNvSpPr>
          <p:nvPr/>
        </p:nvSpPr>
        <p:spPr bwMode="auto">
          <a:xfrm>
            <a:off x="3916043" y="490538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7218" name="Text Box 52"/>
          <p:cNvSpPr txBox="1">
            <a:spLocks noChangeArrowheads="1"/>
          </p:cNvSpPr>
          <p:nvPr/>
        </p:nvSpPr>
        <p:spPr bwMode="auto">
          <a:xfrm>
            <a:off x="3855718" y="5743580"/>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M</a:t>
            </a:r>
            <a:endParaRPr kumimoji="1" lang="en-US" altLang="zh-CN" sz="2400">
              <a:latin typeface="Times New Roman" panose="02020603050405020304" pitchFamily="18" charset="0"/>
              <a:ea typeface="宋体" panose="02010600030101010101" pitchFamily="2" charset="-122"/>
            </a:endParaRPr>
          </a:p>
        </p:txBody>
      </p:sp>
      <p:sp>
        <p:nvSpPr>
          <p:cNvPr id="7219" name="Text Box 53"/>
          <p:cNvSpPr txBox="1">
            <a:spLocks noChangeArrowheads="1"/>
          </p:cNvSpPr>
          <p:nvPr/>
        </p:nvSpPr>
        <p:spPr bwMode="auto">
          <a:xfrm>
            <a:off x="4639943" y="4905380"/>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7220" name="Text Box 54"/>
          <p:cNvSpPr txBox="1">
            <a:spLocks noChangeArrowheads="1"/>
          </p:cNvSpPr>
          <p:nvPr/>
        </p:nvSpPr>
        <p:spPr bwMode="auto">
          <a:xfrm>
            <a:off x="5316218" y="4905380"/>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zh-CN" altLang="en-US" dirty="0"/>
              <a:t>树的特点</a:t>
            </a:r>
            <a:endParaRPr lang="zh-CN" altLang="en-US" dirty="0"/>
          </a:p>
        </p:txBody>
      </p:sp>
      <p:sp>
        <p:nvSpPr>
          <p:cNvPr id="3" name="内容占位符 2"/>
          <p:cNvSpPr>
            <a:spLocks noGrp="1"/>
          </p:cNvSpPr>
          <p:nvPr>
            <p:ph idx="1"/>
          </p:nvPr>
        </p:nvSpPr>
        <p:spPr>
          <a:xfrm>
            <a:off x="628650" y="1825624"/>
            <a:ext cx="7886700" cy="1160468"/>
          </a:xfrm>
        </p:spPr>
        <p:txBody>
          <a:bodyPr>
            <a:normAutofit fontScale="70000" lnSpcReduction="20000"/>
          </a:bodyPr>
          <a:lstStyle/>
          <a:p>
            <a:r>
              <a:rPr lang="zh-CN" altLang="en-US" dirty="0"/>
              <a:t>每棵子树的根结点有且仅有一个直接前驱，但可以有</a:t>
            </a:r>
            <a:r>
              <a:rPr lang="en-US" altLang="zh-CN" dirty="0"/>
              <a:t>0</a:t>
            </a:r>
            <a:r>
              <a:rPr lang="zh-CN" altLang="en-US" dirty="0"/>
              <a:t>个或多个直接后继。</a:t>
            </a:r>
            <a:endParaRPr lang="en-US" altLang="zh-CN" dirty="0"/>
          </a:p>
          <a:p>
            <a:r>
              <a:rPr lang="zh-CN" altLang="en-US" dirty="0"/>
              <a:t>空树高度为</a:t>
            </a:r>
            <a:r>
              <a:rPr lang="en-US" altLang="zh-CN" dirty="0"/>
              <a:t>0</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4876800" y="4343400"/>
            <a:ext cx="4572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5" name="Line 3"/>
          <p:cNvSpPr>
            <a:spLocks noChangeShapeType="1"/>
          </p:cNvSpPr>
          <p:nvPr/>
        </p:nvSpPr>
        <p:spPr bwMode="auto">
          <a:xfrm flipH="1">
            <a:off x="4038600" y="4343400"/>
            <a:ext cx="4572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 name="Line 4"/>
          <p:cNvSpPr>
            <a:spLocks noChangeShapeType="1"/>
          </p:cNvSpPr>
          <p:nvPr/>
        </p:nvSpPr>
        <p:spPr bwMode="auto">
          <a:xfrm>
            <a:off x="4648200" y="4419600"/>
            <a:ext cx="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7" name="Line 5"/>
          <p:cNvSpPr>
            <a:spLocks noChangeShapeType="1"/>
          </p:cNvSpPr>
          <p:nvPr/>
        </p:nvSpPr>
        <p:spPr bwMode="auto">
          <a:xfrm>
            <a:off x="4038600" y="5257800"/>
            <a:ext cx="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8" name="Line 6"/>
          <p:cNvSpPr>
            <a:spLocks noChangeShapeType="1"/>
          </p:cNvSpPr>
          <p:nvPr/>
        </p:nvSpPr>
        <p:spPr bwMode="auto">
          <a:xfrm>
            <a:off x="3505200" y="3429000"/>
            <a:ext cx="1066800" cy="6096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9" name="Line 7"/>
          <p:cNvSpPr>
            <a:spLocks noChangeShapeType="1"/>
          </p:cNvSpPr>
          <p:nvPr/>
        </p:nvSpPr>
        <p:spPr bwMode="auto">
          <a:xfrm flipH="1">
            <a:off x="2209800" y="3429000"/>
            <a:ext cx="914400" cy="6096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0" name="Line 8"/>
          <p:cNvSpPr>
            <a:spLocks noChangeShapeType="1"/>
          </p:cNvSpPr>
          <p:nvPr/>
        </p:nvSpPr>
        <p:spPr bwMode="auto">
          <a:xfrm>
            <a:off x="3352800" y="3505200"/>
            <a:ext cx="0" cy="17526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1" name="Line 9"/>
          <p:cNvSpPr>
            <a:spLocks noChangeShapeType="1"/>
          </p:cNvSpPr>
          <p:nvPr/>
        </p:nvSpPr>
        <p:spPr bwMode="auto">
          <a:xfrm>
            <a:off x="2286000" y="4343400"/>
            <a:ext cx="2286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2" name="Line 10"/>
          <p:cNvSpPr>
            <a:spLocks noChangeShapeType="1"/>
          </p:cNvSpPr>
          <p:nvPr/>
        </p:nvSpPr>
        <p:spPr bwMode="auto">
          <a:xfrm>
            <a:off x="1905000" y="5181600"/>
            <a:ext cx="2286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3" name="Line 11"/>
          <p:cNvSpPr>
            <a:spLocks noChangeShapeType="1"/>
          </p:cNvSpPr>
          <p:nvPr/>
        </p:nvSpPr>
        <p:spPr bwMode="auto">
          <a:xfrm flipH="1">
            <a:off x="1371600" y="4343400"/>
            <a:ext cx="685800" cy="1524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4" name="Oval 14"/>
          <p:cNvSpPr>
            <a:spLocks noChangeArrowheads="1"/>
          </p:cNvSpPr>
          <p:nvPr/>
        </p:nvSpPr>
        <p:spPr bwMode="auto">
          <a:xfrm>
            <a:off x="3048000" y="30480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05" name="Line 15"/>
          <p:cNvSpPr>
            <a:spLocks noChangeShapeType="1"/>
          </p:cNvSpPr>
          <p:nvPr/>
        </p:nvSpPr>
        <p:spPr bwMode="auto">
          <a:xfrm>
            <a:off x="4191000" y="3276600"/>
            <a:ext cx="2133600" cy="0"/>
          </a:xfrm>
          <a:prstGeom prst="line">
            <a:avLst/>
          </a:prstGeom>
          <a:noFill/>
          <a:ln w="28575">
            <a:solidFill>
              <a:schemeClr val="accent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6" name="Oval 16"/>
          <p:cNvSpPr>
            <a:spLocks noChangeArrowheads="1"/>
          </p:cNvSpPr>
          <p:nvPr/>
        </p:nvSpPr>
        <p:spPr bwMode="auto">
          <a:xfrm>
            <a:off x="1905000" y="38862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07" name="Oval 17"/>
          <p:cNvSpPr>
            <a:spLocks noChangeArrowheads="1"/>
          </p:cNvSpPr>
          <p:nvPr/>
        </p:nvSpPr>
        <p:spPr bwMode="auto">
          <a:xfrm>
            <a:off x="3048000" y="38862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08" name="Oval 18"/>
          <p:cNvSpPr>
            <a:spLocks noChangeArrowheads="1"/>
          </p:cNvSpPr>
          <p:nvPr/>
        </p:nvSpPr>
        <p:spPr bwMode="auto">
          <a:xfrm>
            <a:off x="4419600" y="38862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09" name="Oval 19"/>
          <p:cNvSpPr>
            <a:spLocks noChangeArrowheads="1"/>
          </p:cNvSpPr>
          <p:nvPr/>
        </p:nvSpPr>
        <p:spPr bwMode="auto">
          <a:xfrm>
            <a:off x="1524000" y="47244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0" name="Oval 20"/>
          <p:cNvSpPr>
            <a:spLocks noChangeArrowheads="1"/>
          </p:cNvSpPr>
          <p:nvPr/>
        </p:nvSpPr>
        <p:spPr bwMode="auto">
          <a:xfrm>
            <a:off x="2209800" y="47244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1" name="Oval 21"/>
          <p:cNvSpPr>
            <a:spLocks noChangeArrowheads="1"/>
          </p:cNvSpPr>
          <p:nvPr/>
        </p:nvSpPr>
        <p:spPr bwMode="auto">
          <a:xfrm>
            <a:off x="3048000" y="47244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2" name="Oval 22"/>
          <p:cNvSpPr>
            <a:spLocks noChangeArrowheads="1"/>
          </p:cNvSpPr>
          <p:nvPr/>
        </p:nvSpPr>
        <p:spPr bwMode="auto">
          <a:xfrm>
            <a:off x="3733800" y="47244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3" name="Oval 23"/>
          <p:cNvSpPr>
            <a:spLocks noChangeArrowheads="1"/>
          </p:cNvSpPr>
          <p:nvPr/>
        </p:nvSpPr>
        <p:spPr bwMode="auto">
          <a:xfrm>
            <a:off x="4419600" y="47244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4" name="Oval 24"/>
          <p:cNvSpPr>
            <a:spLocks noChangeArrowheads="1"/>
          </p:cNvSpPr>
          <p:nvPr/>
        </p:nvSpPr>
        <p:spPr bwMode="auto">
          <a:xfrm>
            <a:off x="5105400" y="47244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5" name="Oval 25"/>
          <p:cNvSpPr>
            <a:spLocks noChangeArrowheads="1"/>
          </p:cNvSpPr>
          <p:nvPr/>
        </p:nvSpPr>
        <p:spPr bwMode="auto">
          <a:xfrm>
            <a:off x="1143000" y="55626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6" name="Oval 26"/>
          <p:cNvSpPr>
            <a:spLocks noChangeArrowheads="1"/>
          </p:cNvSpPr>
          <p:nvPr/>
        </p:nvSpPr>
        <p:spPr bwMode="auto">
          <a:xfrm>
            <a:off x="1905000" y="55626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7" name="Oval 27"/>
          <p:cNvSpPr>
            <a:spLocks noChangeArrowheads="1"/>
          </p:cNvSpPr>
          <p:nvPr/>
        </p:nvSpPr>
        <p:spPr bwMode="auto">
          <a:xfrm>
            <a:off x="3733800" y="55626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8" name="Line 28"/>
          <p:cNvSpPr>
            <a:spLocks noChangeShapeType="1"/>
          </p:cNvSpPr>
          <p:nvPr/>
        </p:nvSpPr>
        <p:spPr bwMode="auto">
          <a:xfrm>
            <a:off x="5181600" y="4114800"/>
            <a:ext cx="1143000" cy="0"/>
          </a:xfrm>
          <a:prstGeom prst="line">
            <a:avLst/>
          </a:prstGeom>
          <a:noFill/>
          <a:ln w="28575">
            <a:solidFill>
              <a:schemeClr val="accent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9" name="Line 29"/>
          <p:cNvSpPr>
            <a:spLocks noChangeShapeType="1"/>
          </p:cNvSpPr>
          <p:nvPr/>
        </p:nvSpPr>
        <p:spPr bwMode="auto">
          <a:xfrm>
            <a:off x="5715000" y="4953000"/>
            <a:ext cx="685800" cy="0"/>
          </a:xfrm>
          <a:prstGeom prst="line">
            <a:avLst/>
          </a:prstGeom>
          <a:noFill/>
          <a:ln w="28575">
            <a:solidFill>
              <a:schemeClr val="accent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0" name="Line 30"/>
          <p:cNvSpPr>
            <a:spLocks noChangeShapeType="1"/>
          </p:cNvSpPr>
          <p:nvPr/>
        </p:nvSpPr>
        <p:spPr bwMode="auto">
          <a:xfrm>
            <a:off x="4495800" y="5791200"/>
            <a:ext cx="1828800" cy="0"/>
          </a:xfrm>
          <a:prstGeom prst="line">
            <a:avLst/>
          </a:prstGeom>
          <a:noFill/>
          <a:ln w="28575">
            <a:solidFill>
              <a:schemeClr val="accent2"/>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1" name="Text Box 31"/>
          <p:cNvSpPr txBox="1">
            <a:spLocks noChangeArrowheads="1"/>
          </p:cNvSpPr>
          <p:nvPr/>
        </p:nvSpPr>
        <p:spPr bwMode="auto">
          <a:xfrm>
            <a:off x="6324600" y="2987675"/>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1</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8222" name="Text Box 32"/>
          <p:cNvSpPr txBox="1">
            <a:spLocks noChangeArrowheads="1"/>
          </p:cNvSpPr>
          <p:nvPr/>
        </p:nvSpPr>
        <p:spPr bwMode="auto">
          <a:xfrm>
            <a:off x="6324600" y="38100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2</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8223" name="Text Box 33"/>
          <p:cNvSpPr txBox="1">
            <a:spLocks noChangeArrowheads="1"/>
          </p:cNvSpPr>
          <p:nvPr/>
        </p:nvSpPr>
        <p:spPr bwMode="auto">
          <a:xfrm>
            <a:off x="6292850" y="54864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4</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8224" name="Text Box 34"/>
          <p:cNvSpPr txBox="1">
            <a:spLocks noChangeArrowheads="1"/>
          </p:cNvSpPr>
          <p:nvPr/>
        </p:nvSpPr>
        <p:spPr bwMode="auto">
          <a:xfrm>
            <a:off x="6324600" y="46482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3</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8225" name="Text Box 35"/>
          <p:cNvSpPr txBox="1">
            <a:spLocks noChangeArrowheads="1"/>
          </p:cNvSpPr>
          <p:nvPr/>
        </p:nvSpPr>
        <p:spPr bwMode="auto">
          <a:xfrm>
            <a:off x="7097713" y="4244975"/>
            <a:ext cx="1112837"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lnSpc>
                <a:spcPct val="80000"/>
              </a:lnSpc>
            </a:pPr>
            <a:r>
              <a:rPr kumimoji="1" lang="en-US" altLang="zh-CN" sz="2800" b="1" i="1">
                <a:solidFill>
                  <a:schemeClr val="accent2"/>
                </a:solidFill>
                <a:latin typeface="Times New Roman" panose="02020603050405020304" pitchFamily="18" charset="0"/>
                <a:ea typeface="宋体" panose="02010600030101010101" pitchFamily="2" charset="-122"/>
              </a:rPr>
              <a:t>height</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lnSpc>
                <a:spcPct val="80000"/>
              </a:lnSpc>
            </a:pPr>
            <a:r>
              <a:rPr kumimoji="1" lang="en-US" altLang="zh-CN" sz="2800" b="1">
                <a:solidFill>
                  <a:schemeClr val="accent2"/>
                </a:solidFill>
                <a:latin typeface="Times New Roman" panose="02020603050405020304" pitchFamily="18" charset="0"/>
                <a:ea typeface="宋体" panose="02010600030101010101" pitchFamily="2" charset="-122"/>
              </a:rPr>
              <a:t>= 4</a:t>
            </a:r>
            <a:endParaRPr kumimoji="1" lang="en-US" altLang="zh-CN" sz="3200">
              <a:latin typeface="Times New Roman" panose="02020603050405020304" pitchFamily="18" charset="0"/>
              <a:ea typeface="宋体" panose="02010600030101010101" pitchFamily="2" charset="-122"/>
            </a:endParaRPr>
          </a:p>
        </p:txBody>
      </p:sp>
      <p:sp>
        <p:nvSpPr>
          <p:cNvPr id="8226" name="Line 36"/>
          <p:cNvSpPr>
            <a:spLocks noChangeShapeType="1"/>
          </p:cNvSpPr>
          <p:nvPr/>
        </p:nvSpPr>
        <p:spPr bwMode="auto">
          <a:xfrm>
            <a:off x="7467600" y="3124200"/>
            <a:ext cx="304800" cy="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7" name="Line 37"/>
          <p:cNvSpPr>
            <a:spLocks noChangeShapeType="1"/>
          </p:cNvSpPr>
          <p:nvPr/>
        </p:nvSpPr>
        <p:spPr bwMode="auto">
          <a:xfrm flipV="1">
            <a:off x="7620000" y="3124200"/>
            <a:ext cx="0" cy="10668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8" name="Line 38"/>
          <p:cNvSpPr>
            <a:spLocks noChangeShapeType="1"/>
          </p:cNvSpPr>
          <p:nvPr/>
        </p:nvSpPr>
        <p:spPr bwMode="auto">
          <a:xfrm>
            <a:off x="7467600" y="6019800"/>
            <a:ext cx="304800" cy="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9" name="Line 39"/>
          <p:cNvSpPr>
            <a:spLocks noChangeShapeType="1"/>
          </p:cNvSpPr>
          <p:nvPr/>
        </p:nvSpPr>
        <p:spPr bwMode="auto">
          <a:xfrm flipV="1">
            <a:off x="7620000" y="4953000"/>
            <a:ext cx="0" cy="10668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0" name="Text Box 40"/>
          <p:cNvSpPr txBox="1">
            <a:spLocks noChangeArrowheads="1"/>
          </p:cNvSpPr>
          <p:nvPr/>
        </p:nvSpPr>
        <p:spPr bwMode="auto">
          <a:xfrm>
            <a:off x="3124200" y="3048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8231" name="Text Box 41"/>
          <p:cNvSpPr txBox="1">
            <a:spLocks noChangeArrowheads="1"/>
          </p:cNvSpPr>
          <p:nvPr/>
        </p:nvSpPr>
        <p:spPr bwMode="auto">
          <a:xfrm>
            <a:off x="3124200" y="3886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8232" name="Text Box 42"/>
          <p:cNvSpPr txBox="1">
            <a:spLocks noChangeArrowheads="1"/>
          </p:cNvSpPr>
          <p:nvPr/>
        </p:nvSpPr>
        <p:spPr bwMode="auto">
          <a:xfrm>
            <a:off x="3114675" y="47386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8233" name="Text Box 43"/>
          <p:cNvSpPr txBox="1">
            <a:spLocks noChangeArrowheads="1"/>
          </p:cNvSpPr>
          <p:nvPr/>
        </p:nvSpPr>
        <p:spPr bwMode="auto">
          <a:xfrm>
            <a:off x="1981200" y="3886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8234" name="Text Box 44"/>
          <p:cNvSpPr txBox="1">
            <a:spLocks noChangeArrowheads="1"/>
          </p:cNvSpPr>
          <p:nvPr/>
        </p:nvSpPr>
        <p:spPr bwMode="auto">
          <a:xfrm>
            <a:off x="4495800" y="3900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8235" name="Text Box 45"/>
          <p:cNvSpPr txBox="1">
            <a:spLocks noChangeArrowheads="1"/>
          </p:cNvSpPr>
          <p:nvPr/>
        </p:nvSpPr>
        <p:spPr bwMode="auto">
          <a:xfrm>
            <a:off x="1609725" y="47386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8236" name="Text Box 46"/>
          <p:cNvSpPr txBox="1">
            <a:spLocks noChangeArrowheads="1"/>
          </p:cNvSpPr>
          <p:nvPr/>
        </p:nvSpPr>
        <p:spPr bwMode="auto">
          <a:xfrm>
            <a:off x="2295525" y="47386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8237" name="Text Box 47"/>
          <p:cNvSpPr txBox="1">
            <a:spLocks noChangeArrowheads="1"/>
          </p:cNvSpPr>
          <p:nvPr/>
        </p:nvSpPr>
        <p:spPr bwMode="auto">
          <a:xfrm>
            <a:off x="1235075" y="5576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8238" name="Text Box 48"/>
          <p:cNvSpPr txBox="1">
            <a:spLocks noChangeArrowheads="1"/>
          </p:cNvSpPr>
          <p:nvPr/>
        </p:nvSpPr>
        <p:spPr bwMode="auto">
          <a:xfrm>
            <a:off x="1981200" y="55768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8239" name="Text Box 49"/>
          <p:cNvSpPr txBox="1">
            <a:spLocks noChangeArrowheads="1"/>
          </p:cNvSpPr>
          <p:nvPr/>
        </p:nvSpPr>
        <p:spPr bwMode="auto">
          <a:xfrm>
            <a:off x="3800475" y="4738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8240" name="Text Box 50"/>
          <p:cNvSpPr txBox="1">
            <a:spLocks noChangeArrowheads="1"/>
          </p:cNvSpPr>
          <p:nvPr/>
        </p:nvSpPr>
        <p:spPr bwMode="auto">
          <a:xfrm>
            <a:off x="3740150" y="5576888"/>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M</a:t>
            </a:r>
            <a:endParaRPr kumimoji="1" lang="en-US" altLang="zh-CN" sz="2400">
              <a:latin typeface="Times New Roman" panose="02020603050405020304" pitchFamily="18" charset="0"/>
              <a:ea typeface="宋体" panose="02010600030101010101" pitchFamily="2" charset="-122"/>
            </a:endParaRPr>
          </a:p>
        </p:txBody>
      </p:sp>
      <p:sp>
        <p:nvSpPr>
          <p:cNvPr id="8241" name="Text Box 51"/>
          <p:cNvSpPr txBox="1">
            <a:spLocks noChangeArrowheads="1"/>
          </p:cNvSpPr>
          <p:nvPr/>
        </p:nvSpPr>
        <p:spPr bwMode="auto">
          <a:xfrm>
            <a:off x="4524375" y="47386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8242" name="Text Box 52"/>
          <p:cNvSpPr txBox="1">
            <a:spLocks noChangeArrowheads="1"/>
          </p:cNvSpPr>
          <p:nvPr/>
        </p:nvSpPr>
        <p:spPr bwMode="auto">
          <a:xfrm>
            <a:off x="5200650" y="4738688"/>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273461" name="Rectangle 53"/>
          <p:cNvSpPr>
            <a:spLocks noChangeArrowheads="1"/>
          </p:cNvSpPr>
          <p:nvPr/>
        </p:nvSpPr>
        <p:spPr bwMode="auto">
          <a:xfrm>
            <a:off x="533400" y="533400"/>
            <a:ext cx="2209800" cy="2286000"/>
          </a:xfrm>
          <a:prstGeom prst="rect">
            <a:avLst/>
          </a:prstGeom>
          <a:noFill/>
          <a:ln w="9525">
            <a:noFill/>
            <a:miter lim="800000"/>
          </a:ln>
          <a:effectLst/>
        </p:spPr>
        <p:txBody>
          <a:bodyPr/>
          <a:lstStyle/>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rPr>
              <a:t>结点</a:t>
            </a:r>
            <a:endPar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rPr>
              <a:t>结点的度</a:t>
            </a:r>
            <a:endPar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rPr>
              <a:t>分支结点</a:t>
            </a:r>
            <a:endPar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rPr>
              <a:t>叶结点</a:t>
            </a:r>
            <a:endPar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p:txBody>
      </p:sp>
      <p:sp>
        <p:nvSpPr>
          <p:cNvPr id="273464" name="Rectangle 56"/>
          <p:cNvSpPr>
            <a:spLocks noChangeArrowheads="1"/>
          </p:cNvSpPr>
          <p:nvPr/>
        </p:nvSpPr>
        <p:spPr bwMode="auto">
          <a:xfrm>
            <a:off x="2743200" y="533400"/>
            <a:ext cx="2286000" cy="2209800"/>
          </a:xfrm>
          <a:prstGeom prst="rect">
            <a:avLst/>
          </a:prstGeom>
          <a:noFill/>
          <a:ln w="9525">
            <a:noFill/>
            <a:miter lim="800000"/>
          </a:ln>
          <a:effectLst/>
        </p:spPr>
        <p:txBody>
          <a:bodyPr/>
          <a:lstStyle/>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dirty="0">
                <a:effectLst>
                  <a:outerShdw blurRad="38100" dist="38100" dir="2700000" algn="tl">
                    <a:srgbClr val="C0C0C0"/>
                  </a:outerShdw>
                </a:effectLst>
                <a:latin typeface="Times New Roman" panose="02020603050405020304" pitchFamily="18" charset="0"/>
                <a:ea typeface="仿宋_GB2312" panose="02010609030101010101" pitchFamily="49" charset="-122"/>
              </a:rPr>
              <a:t>孩子</a:t>
            </a:r>
            <a:endParaRPr lang="zh-CN" altLang="en-US" sz="3200" dirty="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dirty="0">
                <a:effectLst>
                  <a:outerShdw blurRad="38100" dist="38100" dir="2700000" algn="tl">
                    <a:srgbClr val="C0C0C0"/>
                  </a:outerShdw>
                </a:effectLst>
                <a:latin typeface="Times New Roman" panose="02020603050405020304" pitchFamily="18" charset="0"/>
                <a:ea typeface="仿宋_GB2312" panose="02010609030101010101" pitchFamily="49" charset="-122"/>
              </a:rPr>
              <a:t>双亲</a:t>
            </a:r>
            <a:endParaRPr lang="zh-CN" altLang="en-US" sz="3200" dirty="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dirty="0">
                <a:effectLst>
                  <a:outerShdw blurRad="38100" dist="38100" dir="2700000" algn="tl">
                    <a:srgbClr val="C0C0C0"/>
                  </a:outerShdw>
                </a:effectLst>
                <a:latin typeface="Times New Roman" panose="02020603050405020304" pitchFamily="18" charset="0"/>
                <a:ea typeface="仿宋_GB2312" panose="02010609030101010101" pitchFamily="49" charset="-122"/>
              </a:rPr>
              <a:t>兄弟</a:t>
            </a:r>
            <a:endParaRPr lang="zh-CN" altLang="en-US" sz="3200" dirty="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dirty="0">
                <a:effectLst>
                  <a:outerShdw blurRad="38100" dist="38100" dir="2700000" algn="tl">
                    <a:srgbClr val="C0C0C0"/>
                  </a:outerShdw>
                </a:effectLst>
                <a:latin typeface="Times New Roman" panose="02020603050405020304" pitchFamily="18" charset="0"/>
                <a:ea typeface="仿宋_GB2312" panose="02010609030101010101" pitchFamily="49" charset="-122"/>
              </a:rPr>
              <a:t>祖先</a:t>
            </a:r>
            <a:endParaRPr lang="zh-CN" altLang="en-US" sz="3200" dirty="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p:txBody>
      </p:sp>
      <p:sp>
        <p:nvSpPr>
          <p:cNvPr id="273465" name="Rectangle 57"/>
          <p:cNvSpPr>
            <a:spLocks noChangeArrowheads="1"/>
          </p:cNvSpPr>
          <p:nvPr/>
        </p:nvSpPr>
        <p:spPr bwMode="auto">
          <a:xfrm>
            <a:off x="4191000" y="533400"/>
            <a:ext cx="2971800" cy="2286000"/>
          </a:xfrm>
          <a:prstGeom prst="rect">
            <a:avLst/>
          </a:prstGeom>
          <a:noFill/>
          <a:ln w="9525">
            <a:noFill/>
            <a:miter lim="800000"/>
          </a:ln>
          <a:effectLst/>
        </p:spPr>
        <p:txBody>
          <a:bodyPr/>
          <a:lstStyle/>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rPr>
              <a:t>子孙</a:t>
            </a:r>
            <a:endPar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rPr>
              <a:t>结点层次</a:t>
            </a:r>
            <a:endPar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a:effectLst>
                  <a:outerShdw blurRad="38100" dist="38100" dir="2700000" algn="tl">
                    <a:srgbClr val="C0C0C0"/>
                  </a:outerShdw>
                </a:effectLst>
                <a:latin typeface="仿宋_GB2312" panose="02010609030101010101" pitchFamily="49" charset="-122"/>
                <a:ea typeface="仿宋_GB2312" panose="02010609030101010101" pitchFamily="49" charset="-122"/>
              </a:rPr>
              <a:t>树</a:t>
            </a:r>
            <a:r>
              <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rPr>
              <a:t>的深度</a:t>
            </a:r>
            <a:endPar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a:effectLst>
                  <a:outerShdw blurRad="38100" dist="38100" dir="2700000" algn="tl">
                    <a:srgbClr val="C0C0C0"/>
                  </a:outerShdw>
                </a:effectLst>
                <a:latin typeface="仿宋_GB2312" panose="02010609030101010101" pitchFamily="49" charset="-122"/>
                <a:ea typeface="仿宋_GB2312" panose="02010609030101010101" pitchFamily="49" charset="-122"/>
              </a:rPr>
              <a:t>树</a:t>
            </a:r>
            <a:r>
              <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rPr>
              <a:t>的高度</a:t>
            </a:r>
            <a:endPar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p:txBody>
      </p:sp>
      <p:sp>
        <p:nvSpPr>
          <p:cNvPr id="273466" name="Rectangle 58"/>
          <p:cNvSpPr>
            <a:spLocks noChangeArrowheads="1"/>
          </p:cNvSpPr>
          <p:nvPr/>
        </p:nvSpPr>
        <p:spPr bwMode="auto">
          <a:xfrm>
            <a:off x="6477000" y="533400"/>
            <a:ext cx="1981200" cy="2133600"/>
          </a:xfrm>
          <a:prstGeom prst="rect">
            <a:avLst/>
          </a:prstGeom>
          <a:noFill/>
          <a:ln w="9525">
            <a:noFill/>
            <a:miter lim="800000"/>
          </a:ln>
          <a:effectLst/>
        </p:spPr>
        <p:txBody>
          <a:bodyPr/>
          <a:lstStyle/>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rPr>
              <a:t>树的度</a:t>
            </a:r>
            <a:endPar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a:effectLst>
                  <a:outerShdw blurRad="38100" dist="38100" dir="2700000" algn="tl">
                    <a:srgbClr val="C0C0C0"/>
                  </a:outerShdw>
                </a:effectLst>
                <a:latin typeface="仿宋_GB2312" panose="02010609030101010101" pitchFamily="49" charset="-122"/>
                <a:ea typeface="仿宋_GB2312" panose="02010609030101010101" pitchFamily="49" charset="-122"/>
              </a:rPr>
              <a:t>有序树</a:t>
            </a:r>
            <a:endParaRPr lang="zh-CN" altLang="en-US" sz="3200">
              <a:effectLst>
                <a:outerShdw blurRad="38100" dist="38100" dir="2700000" algn="tl">
                  <a:srgbClr val="C0C0C0"/>
                </a:outerShdw>
              </a:effectLst>
              <a:latin typeface="仿宋_GB2312" panose="02010609030101010101" pitchFamily="49" charset="-122"/>
              <a:ea typeface="仿宋_GB2312" panose="02010609030101010101" pitchFamily="49" charset="-122"/>
            </a:endParaRPr>
          </a:p>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a:effectLst>
                  <a:outerShdw blurRad="38100" dist="38100" dir="2700000" algn="tl">
                    <a:srgbClr val="C0C0C0"/>
                  </a:outerShdw>
                </a:effectLst>
                <a:latin typeface="仿宋_GB2312" panose="02010609030101010101" pitchFamily="49" charset="-122"/>
                <a:ea typeface="仿宋_GB2312" panose="02010609030101010101" pitchFamily="49" charset="-122"/>
              </a:rPr>
              <a:t>无序树</a:t>
            </a:r>
            <a:endParaRPr lang="zh-CN" altLang="en-US" sz="3200">
              <a:effectLst>
                <a:outerShdw blurRad="38100" dist="38100" dir="2700000" algn="tl">
                  <a:srgbClr val="C0C0C0"/>
                </a:outerShdw>
              </a:effectLst>
              <a:latin typeface="仿宋_GB2312" panose="02010609030101010101" pitchFamily="49" charset="-122"/>
              <a:ea typeface="仿宋_GB2312" panose="02010609030101010101" pitchFamily="49" charset="-122"/>
            </a:endParaRPr>
          </a:p>
          <a:p>
            <a:pPr marL="342900" indent="-342900" eaLnBrk="1" fontAlgn="auto" hangingPunct="1">
              <a:spcBef>
                <a:spcPct val="10000"/>
              </a:spcBef>
              <a:spcAft>
                <a:spcPts val="0"/>
              </a:spcAft>
              <a:buClr>
                <a:srgbClr val="990099"/>
              </a:buClr>
              <a:buSzPct val="75000"/>
              <a:buFont typeface="Wingdings" panose="05000000000000000000" pitchFamily="2" charset="2"/>
              <a:buChar char="¯"/>
              <a:defRPr/>
            </a:pPr>
            <a:r>
              <a:rPr lang="zh-CN" altLang="en-US" sz="3200">
                <a:effectLst>
                  <a:outerShdw blurRad="38100" dist="38100" dir="2700000" algn="tl">
                    <a:srgbClr val="C0C0C0"/>
                  </a:outerShdw>
                </a:effectLst>
                <a:latin typeface="仿宋_GB2312" panose="02010609030101010101" pitchFamily="49" charset="-122"/>
                <a:ea typeface="仿宋_GB2312" panose="02010609030101010101" pitchFamily="49" charset="-122"/>
              </a:rPr>
              <a:t>森林</a:t>
            </a:r>
            <a:endParaRPr lang="zh-CN" altLang="en-US" sz="320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一些概念细节</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度：结点的孩子个数即为该结点的度；树中各个结点度的最大值称为树的度。</a:t>
            </a:r>
            <a:endParaRPr lang="en-US" altLang="zh-CN" dirty="0"/>
          </a:p>
          <a:p>
            <a:pPr lvl="1"/>
            <a:r>
              <a:rPr lang="zh-CN" altLang="en-US" dirty="0"/>
              <a:t>注意：树中结点的度不包含连接双亲的边</a:t>
            </a:r>
            <a:endParaRPr lang="zh-CN" altLang="en-US" dirty="0"/>
          </a:p>
          <a:p>
            <a:r>
              <a:rPr lang="zh-CN" altLang="en-US" dirty="0"/>
              <a:t>高度：规定叶结点的高度为</a:t>
            </a:r>
            <a:r>
              <a:rPr lang="en-US" altLang="zh-CN" dirty="0"/>
              <a:t>1</a:t>
            </a:r>
            <a:r>
              <a:rPr lang="zh-CN" altLang="en-US" dirty="0"/>
              <a:t>，其双亲结点的高度等于它的高度加</a:t>
            </a:r>
            <a:r>
              <a:rPr lang="en-US" altLang="zh-CN" dirty="0"/>
              <a:t>1</a:t>
            </a:r>
            <a:r>
              <a:rPr lang="zh-CN" altLang="en-US" dirty="0"/>
              <a:t>。</a:t>
            </a:r>
            <a:endParaRPr lang="en-US" altLang="zh-CN" dirty="0"/>
          </a:p>
          <a:p>
            <a:pPr lvl="1"/>
            <a:r>
              <a:rPr lang="zh-CN" altLang="en-US" dirty="0"/>
              <a:t>结点的层次和深度与结点高度的计算方向是相反的，即根结点在第</a:t>
            </a:r>
            <a:r>
              <a:rPr lang="en-US" altLang="zh-CN" dirty="0"/>
              <a:t>1</a:t>
            </a:r>
            <a:r>
              <a:rPr lang="zh-CN" altLang="en-US" dirty="0"/>
              <a:t>层，深度为</a:t>
            </a:r>
            <a:r>
              <a:rPr lang="en-US" altLang="zh-CN" dirty="0"/>
              <a:t>1</a:t>
            </a:r>
            <a:r>
              <a:rPr lang="zh-CN" altLang="en-US" dirty="0"/>
              <a:t>，高度为树的高度。</a:t>
            </a:r>
            <a:endParaRPr lang="en-US" altLang="zh-CN" dirty="0"/>
          </a:p>
          <a:p>
            <a:pPr lvl="1"/>
            <a:r>
              <a:rPr lang="zh-CN" altLang="en-US" dirty="0"/>
              <a:t>树的深度与高度相等。</a:t>
            </a:r>
            <a:endParaRPr lang="en-US" altLang="zh-CN" dirty="0"/>
          </a:p>
          <a:p>
            <a:endParaRPr lang="zh-CN" altLang="en-US"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5.1.2 </a:t>
            </a:r>
            <a:r>
              <a:rPr lang="zh-CN" altLang="en-US" dirty="0"/>
              <a:t>树的抽象数据类型</a:t>
            </a:r>
            <a:endParaRPr lang="zh-CN" altLang="en-US" dirty="0"/>
          </a:p>
        </p:txBody>
      </p:sp>
      <p:sp>
        <p:nvSpPr>
          <p:cNvPr id="4" name="内容占位符 3"/>
          <p:cNvSpPr>
            <a:spLocks noGrp="1"/>
          </p:cNvSpPr>
          <p:nvPr>
            <p:ph idx="1"/>
          </p:nvPr>
        </p:nvSpPr>
        <p:spPr>
          <a:xfrm>
            <a:off x="628650" y="1825623"/>
            <a:ext cx="8407846" cy="4895851"/>
          </a:xfrm>
        </p:spPr>
        <p:txBody>
          <a:bodyPr>
            <a:normAutofit fontScale="55000" lnSpcReduction="20000"/>
          </a:bodyPr>
          <a:lstStyle/>
          <a:p>
            <a:pPr marL="0" indent="0">
              <a:buNone/>
            </a:pPr>
            <a:r>
              <a:rPr lang="en-US" altLang="zh-CN" dirty="0"/>
              <a:t>template &lt;class T&gt; class Tree {      //T</a:t>
            </a:r>
            <a:r>
              <a:rPr lang="zh-CN" altLang="en-US" dirty="0"/>
              <a:t>是树结点中存放数据的类型。</a:t>
            </a:r>
            <a:endParaRPr lang="en-US" altLang="zh-CN" dirty="0"/>
          </a:p>
          <a:p>
            <a:pPr marL="0" indent="0">
              <a:buNone/>
            </a:pPr>
            <a:r>
              <a:rPr lang="en-US" altLang="zh-CN" dirty="0"/>
              <a:t>public:</a:t>
            </a:r>
            <a:endParaRPr lang="en-US" altLang="zh-CN" dirty="0"/>
          </a:p>
          <a:p>
            <a:pPr marL="0" indent="0">
              <a:buNone/>
            </a:pPr>
            <a:r>
              <a:rPr lang="en-US" altLang="zh-CN" dirty="0"/>
              <a:t>   Tree ( );		                                   ~Tree ( ) ;</a:t>
            </a:r>
            <a:endParaRPr lang="en-US" altLang="zh-CN" dirty="0"/>
          </a:p>
          <a:p>
            <a:pPr marL="0" indent="0">
              <a:buNone/>
            </a:pPr>
            <a:r>
              <a:rPr lang="en-US" altLang="zh-CN" dirty="0"/>
              <a:t>   position Root ( ); </a:t>
            </a:r>
            <a:endParaRPr lang="en-US" altLang="zh-CN" dirty="0"/>
          </a:p>
          <a:p>
            <a:pPr marL="0" indent="0">
              <a:buNone/>
            </a:pPr>
            <a:r>
              <a:rPr lang="en-US" altLang="zh-CN" dirty="0"/>
              <a:t>       //position</a:t>
            </a:r>
            <a:r>
              <a:rPr lang="zh-CN" altLang="en-US" dirty="0"/>
              <a:t>是树中结点地址。存为数组时是下标</a:t>
            </a:r>
            <a:r>
              <a:rPr lang="en-US" altLang="zh-CN" dirty="0"/>
              <a:t>, </a:t>
            </a:r>
            <a:r>
              <a:rPr lang="zh-CN" altLang="en-US" dirty="0"/>
              <a:t>存为链表时是指针。</a:t>
            </a:r>
            <a:endParaRPr lang="en-US" altLang="zh-CN" dirty="0"/>
          </a:p>
          <a:p>
            <a:pPr marL="0" indent="0">
              <a:buNone/>
            </a:pPr>
            <a:r>
              <a:rPr lang="en-US" altLang="zh-CN" dirty="0"/>
              <a:t>   </a:t>
            </a:r>
            <a:r>
              <a:rPr lang="en-US" altLang="zh-CN" dirty="0" err="1"/>
              <a:t>BuildRoot</a:t>
            </a:r>
            <a:r>
              <a:rPr lang="en-US" altLang="zh-CN" dirty="0"/>
              <a:t> ( const T&amp; value );</a:t>
            </a:r>
            <a:endParaRPr lang="en-US" altLang="zh-CN" dirty="0"/>
          </a:p>
          <a:p>
            <a:pPr marL="0" indent="0">
              <a:buNone/>
            </a:pPr>
            <a:r>
              <a:rPr lang="en-US" altLang="zh-CN" dirty="0"/>
              <a:t>   position </a:t>
            </a:r>
            <a:r>
              <a:rPr lang="en-US" altLang="zh-CN" dirty="0" err="1"/>
              <a:t>FirstChild</a:t>
            </a:r>
            <a:r>
              <a:rPr lang="en-US" altLang="zh-CN" dirty="0"/>
              <a:t> ( position p );            position </a:t>
            </a:r>
            <a:r>
              <a:rPr lang="en-US" altLang="zh-CN" dirty="0" err="1"/>
              <a:t>NextSibling</a:t>
            </a:r>
            <a:r>
              <a:rPr lang="en-US" altLang="zh-CN" dirty="0"/>
              <a:t> ( position p ); </a:t>
            </a:r>
            <a:endParaRPr lang="en-US" altLang="zh-CN" dirty="0"/>
          </a:p>
          <a:p>
            <a:pPr marL="0" indent="0">
              <a:buNone/>
            </a:pPr>
            <a:r>
              <a:rPr lang="en-US" altLang="zh-CN" dirty="0"/>
              <a:t>   position Parent ( position p );                T </a:t>
            </a:r>
            <a:r>
              <a:rPr lang="en-US" altLang="zh-CN" dirty="0" err="1"/>
              <a:t>getData</a:t>
            </a:r>
            <a:r>
              <a:rPr lang="en-US" altLang="zh-CN" dirty="0"/>
              <a:t> ( position p );</a:t>
            </a:r>
            <a:endParaRPr lang="en-US" altLang="zh-CN" dirty="0"/>
          </a:p>
          <a:p>
            <a:pPr marL="0" indent="0">
              <a:buNone/>
            </a:pPr>
            <a:r>
              <a:rPr lang="en-US" altLang="zh-CN" dirty="0"/>
              <a:t>   bool </a:t>
            </a:r>
            <a:r>
              <a:rPr lang="en-US" altLang="zh-CN" dirty="0" err="1"/>
              <a:t>InsertChild</a:t>
            </a:r>
            <a:r>
              <a:rPr lang="en-US" altLang="zh-CN" dirty="0"/>
              <a:t> ( const position p,  const T &amp;value );</a:t>
            </a:r>
            <a:endParaRPr lang="en-US" altLang="zh-CN" dirty="0"/>
          </a:p>
          <a:p>
            <a:pPr marL="0" indent="0">
              <a:buNone/>
            </a:pPr>
            <a:r>
              <a:rPr lang="en-US" altLang="zh-CN" dirty="0"/>
              <a:t>   bool </a:t>
            </a:r>
            <a:r>
              <a:rPr lang="en-US" altLang="zh-CN" dirty="0" err="1"/>
              <a:t>DeleteChild</a:t>
            </a:r>
            <a:r>
              <a:rPr lang="en-US" altLang="zh-CN" dirty="0"/>
              <a:t> ( position p, int </a:t>
            </a:r>
            <a:r>
              <a:rPr lang="en-US" altLang="zh-CN" dirty="0" err="1"/>
              <a:t>i</a:t>
            </a:r>
            <a:r>
              <a:rPr lang="en-US" altLang="zh-CN" dirty="0"/>
              <a:t> );      void </a:t>
            </a:r>
            <a:r>
              <a:rPr lang="en-US" altLang="zh-CN" dirty="0" err="1"/>
              <a:t>DeleteSubTree</a:t>
            </a:r>
            <a:r>
              <a:rPr lang="en-US" altLang="zh-CN" dirty="0"/>
              <a:t>(position t);</a:t>
            </a:r>
            <a:endParaRPr lang="en-US" altLang="zh-CN" dirty="0"/>
          </a:p>
          <a:p>
            <a:pPr marL="0" indent="0">
              <a:buNone/>
            </a:pPr>
            <a:r>
              <a:rPr lang="en-US" altLang="zh-CN" dirty="0"/>
              <a:t>   bool </a:t>
            </a:r>
            <a:r>
              <a:rPr lang="en-US" altLang="zh-CN" dirty="0" err="1"/>
              <a:t>IsEmpty</a:t>
            </a:r>
            <a:r>
              <a:rPr lang="en-US" altLang="zh-CN" dirty="0"/>
              <a:t>( );                                     </a:t>
            </a:r>
            <a:endParaRPr lang="en-US" altLang="zh-CN" dirty="0"/>
          </a:p>
          <a:p>
            <a:pPr marL="0" indent="0">
              <a:buNone/>
            </a:pPr>
            <a:r>
              <a:rPr lang="en-US" altLang="zh-CN" dirty="0"/>
              <a:t>   void Traversal(void(*visit)(position p));</a:t>
            </a:r>
            <a:endParaRPr lang="en-US" altLang="zh-CN" dirty="0"/>
          </a:p>
          <a:p>
            <a:pPr marL="0" indent="0">
              <a:buNone/>
            </a:pPr>
            <a:r>
              <a:rPr lang="en-US" altLang="zh-CN" dirty="0"/>
              <a:t>}</a:t>
            </a:r>
            <a:endParaRPr lang="en-US" altLang="zh-CN" dirty="0"/>
          </a:p>
        </p:txBody>
      </p:sp>
      <p:sp>
        <p:nvSpPr>
          <p:cNvPr id="3" name="灯片编号占位符 2"/>
          <p:cNvSpPr>
            <a:spLocks noGrp="1"/>
          </p:cNvSpPr>
          <p:nvPr>
            <p:ph type="sldNum" sz="quarter" idx="12"/>
          </p:nvPr>
        </p:nvSpPr>
        <p:spPr/>
        <p:txBody>
          <a:bodyPr/>
          <a:lstStyle/>
          <a:p>
            <a:pPr>
              <a:defRPr/>
            </a:pPr>
            <a:fld id="{97C60736-F4D1-4419-BD91-ADA094D56F9B}" type="slidenum">
              <a:rPr lang="en-US" altLang="zh-CN" smtClean="0"/>
            </a:fld>
            <a:endParaRPr lang="en-US" altLang="zh-CN"/>
          </a:p>
        </p:txBody>
      </p:sp>
    </p:spTree>
  </p:cSld>
  <p:clrMapOvr>
    <a:masterClrMapping/>
  </p:clrMapOvr>
  <p:transition>
    <p:spli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17"/>
          <p:cNvSpPr>
            <a:spLocks noChangeArrowheads="1"/>
          </p:cNvSpPr>
          <p:nvPr/>
        </p:nvSpPr>
        <p:spPr bwMode="auto">
          <a:xfrm>
            <a:off x="7543800" y="4876800"/>
            <a:ext cx="457200" cy="533400"/>
          </a:xfrm>
          <a:prstGeom prst="wedgeRoundRectCallout">
            <a:avLst>
              <a:gd name="adj1" fmla="val -82986"/>
              <a:gd name="adj2" fmla="val -118750"/>
              <a:gd name="adj3" fmla="val 16667"/>
            </a:avLst>
          </a:prstGeom>
          <a:gradFill rotWithShape="0">
            <a:gsLst>
              <a:gs pos="0">
                <a:srgbClr val="FF7C80"/>
              </a:gs>
              <a:gs pos="100000">
                <a:srgbClr val="76393B"/>
              </a:gs>
            </a:gsLst>
            <a:lin ang="0" scaled="1"/>
          </a:gra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latin typeface="Times New Roman" panose="02020603050405020304" pitchFamily="18" charset="0"/>
              <a:ea typeface="宋体" panose="02010600030101010101" pitchFamily="2" charset="-122"/>
            </a:endParaRPr>
          </a:p>
        </p:txBody>
      </p:sp>
      <p:sp>
        <p:nvSpPr>
          <p:cNvPr id="11267" name="AutoShape 16"/>
          <p:cNvSpPr>
            <a:spLocks noChangeArrowheads="1"/>
          </p:cNvSpPr>
          <p:nvPr/>
        </p:nvSpPr>
        <p:spPr bwMode="auto">
          <a:xfrm>
            <a:off x="5486400" y="4876800"/>
            <a:ext cx="457200" cy="533400"/>
          </a:xfrm>
          <a:prstGeom prst="wedgeRoundRectCallout">
            <a:avLst>
              <a:gd name="adj1" fmla="val -82986"/>
              <a:gd name="adj2" fmla="val -118750"/>
              <a:gd name="adj3" fmla="val 16667"/>
            </a:avLst>
          </a:prstGeom>
          <a:gradFill rotWithShape="0">
            <a:gsLst>
              <a:gs pos="0">
                <a:srgbClr val="FF7C80"/>
              </a:gs>
              <a:gs pos="100000">
                <a:srgbClr val="76393B"/>
              </a:gs>
            </a:gsLst>
            <a:lin ang="0" scaled="1"/>
          </a:gra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latin typeface="Times New Roman" panose="02020603050405020304" pitchFamily="18" charset="0"/>
              <a:ea typeface="宋体" panose="02010600030101010101" pitchFamily="2" charset="-122"/>
            </a:endParaRPr>
          </a:p>
        </p:txBody>
      </p:sp>
      <p:sp>
        <p:nvSpPr>
          <p:cNvPr id="11268" name="AutoShape 15"/>
          <p:cNvSpPr>
            <a:spLocks noChangeArrowheads="1"/>
          </p:cNvSpPr>
          <p:nvPr/>
        </p:nvSpPr>
        <p:spPr bwMode="auto">
          <a:xfrm>
            <a:off x="6705600" y="4876800"/>
            <a:ext cx="457200" cy="533400"/>
          </a:xfrm>
          <a:prstGeom prst="wedgeRoundRectCallout">
            <a:avLst>
              <a:gd name="adj1" fmla="val 81944"/>
              <a:gd name="adj2" fmla="val -131847"/>
              <a:gd name="adj3" fmla="val 16667"/>
            </a:avLst>
          </a:prstGeom>
          <a:gradFill rotWithShape="0">
            <a:gsLst>
              <a:gs pos="0">
                <a:srgbClr val="FF7C80"/>
              </a:gs>
              <a:gs pos="100000">
                <a:srgbClr val="76393B"/>
              </a:gs>
            </a:gsLst>
            <a:lin ang="0" scaled="1"/>
          </a:gra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latin typeface="Times New Roman" panose="02020603050405020304" pitchFamily="18" charset="0"/>
              <a:ea typeface="宋体" panose="02010600030101010101" pitchFamily="2" charset="-122"/>
            </a:endParaRPr>
          </a:p>
        </p:txBody>
      </p:sp>
      <p:sp>
        <p:nvSpPr>
          <p:cNvPr id="11269" name="AutoShape 14"/>
          <p:cNvSpPr>
            <a:spLocks noChangeArrowheads="1"/>
          </p:cNvSpPr>
          <p:nvPr/>
        </p:nvSpPr>
        <p:spPr bwMode="auto">
          <a:xfrm>
            <a:off x="3352800" y="4876800"/>
            <a:ext cx="457200" cy="533400"/>
          </a:xfrm>
          <a:prstGeom prst="wedgeRoundRectCallout">
            <a:avLst>
              <a:gd name="adj1" fmla="val 81944"/>
              <a:gd name="adj2" fmla="val -131847"/>
              <a:gd name="adj3" fmla="val 16667"/>
            </a:avLst>
          </a:prstGeom>
          <a:gradFill rotWithShape="0">
            <a:gsLst>
              <a:gs pos="0">
                <a:srgbClr val="FF7C80"/>
              </a:gs>
              <a:gs pos="100000">
                <a:srgbClr val="76393B"/>
              </a:gs>
            </a:gsLst>
            <a:lin ang="0" scaled="1"/>
          </a:gra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latin typeface="Times New Roman" panose="02020603050405020304" pitchFamily="18" charset="0"/>
              <a:ea typeface="宋体" panose="02010600030101010101" pitchFamily="2" charset="-122"/>
            </a:endParaRPr>
          </a:p>
        </p:txBody>
      </p:sp>
      <p:sp>
        <p:nvSpPr>
          <p:cNvPr id="121861" name="Text Box 5"/>
          <p:cNvSpPr txBox="1">
            <a:spLocks noChangeArrowheads="1"/>
          </p:cNvSpPr>
          <p:nvPr/>
        </p:nvSpPr>
        <p:spPr bwMode="auto">
          <a:xfrm>
            <a:off x="1371600" y="5486400"/>
            <a:ext cx="6400800" cy="641350"/>
          </a:xfrm>
          <a:prstGeom prst="rect">
            <a:avLst/>
          </a:prstGeom>
          <a:noFill/>
          <a:ln w="9525">
            <a:noFill/>
            <a:miter lim="800000"/>
          </a:ln>
          <a:effectLst/>
        </p:spPr>
        <p:txBody>
          <a:bodyPr>
            <a:spAutoFit/>
          </a:bodyPr>
          <a:lstStyle/>
          <a:p>
            <a:pPr algn="ctr" eaLnBrk="1" fontAlgn="auto" hangingPunct="1">
              <a:spcBef>
                <a:spcPts val="0"/>
              </a:spcBef>
              <a:spcAft>
                <a:spcPts val="0"/>
              </a:spcAft>
              <a:defRPr/>
            </a:pPr>
            <a:r>
              <a:rPr lang="zh-CN" altLang="en-US" sz="3600">
                <a:solidFill>
                  <a:srgbClr val="CC3300"/>
                </a:solidFill>
                <a:effectLst>
                  <a:outerShdw blurRad="38100" dist="38100" dir="2700000" algn="tl">
                    <a:srgbClr val="C0C0C0"/>
                  </a:outerShdw>
                </a:effectLst>
                <a:latin typeface="Times New Roman" panose="02020603050405020304" pitchFamily="18" charset="0"/>
                <a:ea typeface="隶书" panose="02010509060101010101" pitchFamily="49" charset="-122"/>
              </a:rPr>
              <a:t>二叉树的五种不同形态</a:t>
            </a:r>
            <a:endParaRPr lang="zh-CN" altLang="en-US">
              <a:latin typeface="Times New Roman" panose="02020603050405020304" pitchFamily="18" charset="0"/>
              <a:ea typeface="+mn-ea"/>
            </a:endParaRPr>
          </a:p>
        </p:txBody>
      </p:sp>
      <p:sp>
        <p:nvSpPr>
          <p:cNvPr id="11274" name="Oval 7"/>
          <p:cNvSpPr>
            <a:spLocks noChangeArrowheads="1"/>
          </p:cNvSpPr>
          <p:nvPr/>
        </p:nvSpPr>
        <p:spPr bwMode="auto">
          <a:xfrm>
            <a:off x="1143000" y="4343400"/>
            <a:ext cx="228600" cy="304800"/>
          </a:xfrm>
          <a:prstGeom prst="ellipse">
            <a:avLst/>
          </a:prstGeom>
          <a:noFill/>
          <a:ln w="38100">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11275" name="Line 8"/>
          <p:cNvSpPr>
            <a:spLocks noChangeShapeType="1"/>
          </p:cNvSpPr>
          <p:nvPr/>
        </p:nvSpPr>
        <p:spPr bwMode="auto">
          <a:xfrm flipH="1">
            <a:off x="1143000" y="4343400"/>
            <a:ext cx="228600" cy="30480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6" name="Oval 9"/>
          <p:cNvSpPr>
            <a:spLocks noChangeArrowheads="1"/>
          </p:cNvSpPr>
          <p:nvPr/>
        </p:nvSpPr>
        <p:spPr bwMode="auto">
          <a:xfrm>
            <a:off x="2286000" y="4267200"/>
            <a:ext cx="381000" cy="3810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1277" name="Oval 10"/>
          <p:cNvSpPr>
            <a:spLocks noChangeArrowheads="1"/>
          </p:cNvSpPr>
          <p:nvPr/>
        </p:nvSpPr>
        <p:spPr bwMode="auto">
          <a:xfrm>
            <a:off x="3810000" y="4267200"/>
            <a:ext cx="381000" cy="3810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1278" name="Oval 11"/>
          <p:cNvSpPr>
            <a:spLocks noChangeArrowheads="1"/>
          </p:cNvSpPr>
          <p:nvPr/>
        </p:nvSpPr>
        <p:spPr bwMode="auto">
          <a:xfrm>
            <a:off x="5105400" y="4267200"/>
            <a:ext cx="381000" cy="3810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1279" name="Oval 12"/>
          <p:cNvSpPr>
            <a:spLocks noChangeArrowheads="1"/>
          </p:cNvSpPr>
          <p:nvPr/>
        </p:nvSpPr>
        <p:spPr bwMode="auto">
          <a:xfrm>
            <a:off x="7162800" y="4267200"/>
            <a:ext cx="381000" cy="3810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1280" name="Text Box 18"/>
          <p:cNvSpPr txBox="1">
            <a:spLocks noChangeArrowheads="1"/>
          </p:cNvSpPr>
          <p:nvPr/>
        </p:nvSpPr>
        <p:spPr bwMode="auto">
          <a:xfrm>
            <a:off x="3352800" y="48768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11281" name="Text Box 19"/>
          <p:cNvSpPr txBox="1">
            <a:spLocks noChangeArrowheads="1"/>
          </p:cNvSpPr>
          <p:nvPr/>
        </p:nvSpPr>
        <p:spPr bwMode="auto">
          <a:xfrm>
            <a:off x="6705600" y="48768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11282" name="Text Box 20"/>
          <p:cNvSpPr txBox="1">
            <a:spLocks noChangeArrowheads="1"/>
          </p:cNvSpPr>
          <p:nvPr/>
        </p:nvSpPr>
        <p:spPr bwMode="auto">
          <a:xfrm>
            <a:off x="5476875" y="4876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11283" name="Text Box 21"/>
          <p:cNvSpPr txBox="1">
            <a:spLocks noChangeArrowheads="1"/>
          </p:cNvSpPr>
          <p:nvPr/>
        </p:nvSpPr>
        <p:spPr bwMode="auto">
          <a:xfrm>
            <a:off x="7543800" y="4876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en-US" altLang="zh-CN" dirty="0"/>
              <a:t>5.2 </a:t>
            </a:r>
            <a:r>
              <a:rPr lang="zh-CN" altLang="en-US" dirty="0"/>
              <a:t>二叉树</a:t>
            </a:r>
            <a:endParaRPr lang="zh-CN" altLang="en-US" dirty="0"/>
          </a:p>
        </p:txBody>
      </p:sp>
      <p:sp>
        <p:nvSpPr>
          <p:cNvPr id="3" name="内容占位符 2"/>
          <p:cNvSpPr>
            <a:spLocks noGrp="1"/>
          </p:cNvSpPr>
          <p:nvPr>
            <p:ph idx="1"/>
          </p:nvPr>
        </p:nvSpPr>
        <p:spPr>
          <a:xfrm>
            <a:off x="628650" y="1825625"/>
            <a:ext cx="7886700" cy="2365375"/>
          </a:xfrm>
        </p:spPr>
        <p:txBody>
          <a:bodyPr>
            <a:normAutofit fontScale="92500" lnSpcReduction="10000"/>
          </a:bodyPr>
          <a:lstStyle/>
          <a:p>
            <a:r>
              <a:rPr lang="en-US" altLang="zh-CN" dirty="0"/>
              <a:t>5.2.1 </a:t>
            </a:r>
            <a:r>
              <a:rPr lang="zh-CN" altLang="en-US" dirty="0"/>
              <a:t>二叉树的定义</a:t>
            </a:r>
            <a:endParaRPr lang="en-US" altLang="zh-CN" dirty="0"/>
          </a:p>
          <a:p>
            <a:pPr lvl="1"/>
            <a:r>
              <a:rPr lang="zh-CN" altLang="en-US" dirty="0"/>
              <a:t>一棵二叉树是结点的一个有限集合，该集合或者为空，或者是由一个根结点加上两棵分别称为左子树和右子树的、互不相交的二叉树组成。</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5.2.2 </a:t>
            </a:r>
            <a:r>
              <a:rPr lang="zh-CN" altLang="en-US" dirty="0"/>
              <a:t>二叉树的性质</a:t>
            </a:r>
            <a:endParaRPr lang="zh-CN" altLang="en-US" dirty="0"/>
          </a:p>
        </p:txBody>
      </p:sp>
      <p:sp>
        <p:nvSpPr>
          <p:cNvPr id="3" name="内容占位符 2"/>
          <p:cNvSpPr>
            <a:spLocks noGrp="1"/>
          </p:cNvSpPr>
          <p:nvPr>
            <p:ph idx="1"/>
          </p:nvPr>
        </p:nvSpPr>
        <p:spPr/>
        <p:txBody>
          <a:bodyPr>
            <a:normAutofit/>
          </a:bodyPr>
          <a:lstStyle/>
          <a:p>
            <a:r>
              <a:rPr lang="zh-CN" altLang="en-US" dirty="0"/>
              <a:t>性质</a:t>
            </a:r>
            <a:r>
              <a:rPr lang="en-US" altLang="zh-CN" dirty="0"/>
              <a:t>1</a:t>
            </a:r>
            <a:r>
              <a:rPr lang="zh-CN" altLang="en-US" dirty="0"/>
              <a:t>：在二叉树的第 </a:t>
            </a:r>
            <a:r>
              <a:rPr lang="en-US" altLang="zh-CN" dirty="0" err="1"/>
              <a:t>i</a:t>
            </a:r>
            <a:r>
              <a:rPr lang="en-US" altLang="zh-CN" dirty="0"/>
              <a:t> </a:t>
            </a:r>
            <a:r>
              <a:rPr lang="zh-CN" altLang="en-US" dirty="0"/>
              <a:t>层最多有 </a:t>
            </a:r>
            <a:r>
              <a:rPr lang="en-US" altLang="zh-CN" dirty="0"/>
              <a:t>2</a:t>
            </a:r>
            <a:r>
              <a:rPr lang="en-US" altLang="zh-CN" baseline="30000" dirty="0"/>
              <a:t>i-1</a:t>
            </a:r>
            <a:r>
              <a:rPr lang="en-US" altLang="zh-CN" dirty="0"/>
              <a:t> </a:t>
            </a:r>
            <a:r>
              <a:rPr lang="zh-CN" altLang="en-US" dirty="0"/>
              <a:t>个结点。</a:t>
            </a:r>
            <a:r>
              <a:rPr lang="en-US" altLang="zh-CN" dirty="0"/>
              <a:t>(</a:t>
            </a:r>
            <a:r>
              <a:rPr lang="en-US" altLang="zh-CN" dirty="0" err="1"/>
              <a:t>i</a:t>
            </a:r>
            <a:r>
              <a:rPr lang="en-US" altLang="zh-CN" dirty="0"/>
              <a:t> ≥ 1)</a:t>
            </a:r>
            <a:endParaRPr lang="en-US" altLang="zh-CN" dirty="0"/>
          </a:p>
          <a:p>
            <a:pPr lvl="1"/>
            <a:r>
              <a:rPr lang="zh-CN" altLang="en-US" dirty="0"/>
              <a:t>数学归纳法证明</a:t>
            </a:r>
            <a:endParaRPr lang="en-US" altLang="zh-CN" dirty="0"/>
          </a:p>
          <a:p>
            <a:r>
              <a:rPr lang="zh-CN" altLang="en-US" dirty="0"/>
              <a:t>性质</a:t>
            </a:r>
            <a:r>
              <a:rPr lang="en-US" altLang="zh-CN" dirty="0"/>
              <a:t>2</a:t>
            </a:r>
            <a:r>
              <a:rPr lang="zh-CN" altLang="en-US" dirty="0"/>
              <a:t>：深度为 </a:t>
            </a:r>
            <a:r>
              <a:rPr lang="en-US" altLang="zh-CN" dirty="0"/>
              <a:t>k </a:t>
            </a:r>
            <a:r>
              <a:rPr lang="zh-CN" altLang="en-US" dirty="0"/>
              <a:t>的二叉树最多有 </a:t>
            </a:r>
            <a:r>
              <a:rPr lang="en-US" altLang="zh-CN" dirty="0"/>
              <a:t>2</a:t>
            </a:r>
            <a:r>
              <a:rPr lang="en-US" altLang="zh-CN" baseline="30000" dirty="0"/>
              <a:t>k</a:t>
            </a:r>
            <a:r>
              <a:rPr lang="en-US" altLang="zh-CN" dirty="0"/>
              <a:t>-1</a:t>
            </a:r>
            <a:r>
              <a:rPr lang="zh-CN" altLang="en-US" dirty="0"/>
              <a:t>个结点，最少有</a:t>
            </a:r>
            <a:r>
              <a:rPr lang="en-US" altLang="zh-CN" dirty="0"/>
              <a:t>k</a:t>
            </a:r>
            <a:r>
              <a:rPr lang="zh-CN" altLang="en-US" dirty="0"/>
              <a:t>个结点。</a:t>
            </a:r>
            <a:r>
              <a:rPr lang="en-US" altLang="zh-CN" dirty="0"/>
              <a:t>(k ≥ 1)</a:t>
            </a:r>
            <a:endParaRPr lang="en-US" altLang="zh-CN" dirty="0"/>
          </a:p>
          <a:p>
            <a:pPr lvl="1"/>
            <a:r>
              <a:rPr lang="zh-CN" altLang="en-US" dirty="0"/>
              <a:t>等比级数前</a:t>
            </a:r>
            <a:r>
              <a:rPr lang="en-US" altLang="zh-CN" dirty="0"/>
              <a:t>k</a:t>
            </a:r>
            <a:r>
              <a:rPr lang="zh-CN" altLang="en-US" dirty="0"/>
              <a:t>项和的公式证明：</a:t>
            </a:r>
            <a:endParaRPr lang="en-US" altLang="zh-CN" dirty="0"/>
          </a:p>
          <a:p>
            <a:pPr lvl="2"/>
            <a:r>
              <a:rPr lang="en-US" altLang="zh-CN" dirty="0"/>
              <a:t>2</a:t>
            </a:r>
            <a:r>
              <a:rPr lang="en-US" altLang="zh-CN" baseline="30000" dirty="0"/>
              <a:t>0</a:t>
            </a:r>
            <a:r>
              <a:rPr lang="en-US" altLang="zh-CN" dirty="0"/>
              <a:t> + 2</a:t>
            </a:r>
            <a:r>
              <a:rPr lang="en-US" altLang="zh-CN" baseline="30000" dirty="0"/>
              <a:t>1</a:t>
            </a:r>
            <a:r>
              <a:rPr lang="en-US" altLang="zh-CN" dirty="0"/>
              <a:t> + 2</a:t>
            </a:r>
            <a:r>
              <a:rPr lang="en-US" altLang="zh-CN" baseline="30000" dirty="0"/>
              <a:t>2</a:t>
            </a:r>
            <a:r>
              <a:rPr lang="en-US" altLang="zh-CN" dirty="0"/>
              <a:t> + … + 2</a:t>
            </a:r>
            <a:r>
              <a:rPr lang="en-US" altLang="zh-CN" baseline="30000" dirty="0"/>
              <a:t>k-1</a:t>
            </a:r>
            <a:r>
              <a:rPr lang="en-US" altLang="zh-CN" dirty="0"/>
              <a:t> = 2</a:t>
            </a:r>
            <a:r>
              <a:rPr lang="en-US" altLang="zh-CN" baseline="30000" dirty="0"/>
              <a:t>k</a:t>
            </a:r>
            <a:r>
              <a:rPr lang="en-US" altLang="zh-CN" dirty="0"/>
              <a:t>-1</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92696"/>
            <a:ext cx="7886700" cy="5484267"/>
          </a:xfrm>
        </p:spPr>
        <p:txBody>
          <a:bodyPr>
            <a:normAutofit lnSpcReduction="10000"/>
          </a:bodyPr>
          <a:lstStyle/>
          <a:p>
            <a:r>
              <a:rPr lang="zh-CN" altLang="en-US" dirty="0"/>
              <a:t>性质</a:t>
            </a:r>
            <a:r>
              <a:rPr lang="en-US" altLang="zh-CN" dirty="0"/>
              <a:t>3</a:t>
            </a:r>
            <a:r>
              <a:rPr lang="zh-CN" altLang="en-US" dirty="0"/>
              <a:t>：对任何一棵二叉树</a:t>
            </a:r>
            <a:r>
              <a:rPr lang="en-US" altLang="zh-CN" dirty="0"/>
              <a:t>, </a:t>
            </a:r>
            <a:r>
              <a:rPr lang="zh-CN" altLang="en-US" dirty="0"/>
              <a:t>如果其叶结点有</a:t>
            </a:r>
            <a:r>
              <a:rPr lang="en-US" altLang="zh-CN" dirty="0"/>
              <a:t>n</a:t>
            </a:r>
            <a:r>
              <a:rPr lang="en-US" altLang="zh-CN" baseline="-25000" dirty="0"/>
              <a:t>0</a:t>
            </a:r>
            <a:r>
              <a:rPr lang="zh-CN" altLang="en-US" dirty="0"/>
              <a:t>个</a:t>
            </a:r>
            <a:r>
              <a:rPr lang="en-US" altLang="zh-CN" dirty="0"/>
              <a:t>, </a:t>
            </a:r>
            <a:r>
              <a:rPr lang="zh-CN" altLang="en-US" dirty="0"/>
              <a:t>度为</a:t>
            </a:r>
            <a:r>
              <a:rPr lang="en-US" altLang="zh-CN" dirty="0"/>
              <a:t>2</a:t>
            </a:r>
            <a:r>
              <a:rPr lang="zh-CN" altLang="en-US" dirty="0"/>
              <a:t>的结点有</a:t>
            </a:r>
            <a:r>
              <a:rPr lang="en-US" altLang="zh-CN" dirty="0"/>
              <a:t>n</a:t>
            </a:r>
            <a:r>
              <a:rPr lang="en-US" altLang="zh-CN" baseline="-25000" dirty="0"/>
              <a:t>2</a:t>
            </a:r>
            <a:r>
              <a:rPr lang="zh-CN" altLang="en-US" dirty="0"/>
              <a:t>个</a:t>
            </a:r>
            <a:r>
              <a:rPr lang="en-US" altLang="zh-CN" dirty="0"/>
              <a:t>,   </a:t>
            </a:r>
            <a:r>
              <a:rPr lang="zh-CN" altLang="en-US" dirty="0"/>
              <a:t>则有</a:t>
            </a:r>
            <a:endParaRPr lang="zh-CN" altLang="en-US" dirty="0"/>
          </a:p>
          <a:p>
            <a:pPr lvl="1"/>
            <a:r>
              <a:rPr lang="en-US" altLang="zh-CN" dirty="0"/>
              <a:t>n</a:t>
            </a:r>
            <a:r>
              <a:rPr lang="en-US" altLang="zh-CN" baseline="-25000" dirty="0"/>
              <a:t>0</a:t>
            </a:r>
            <a:r>
              <a:rPr lang="zh-CN" altLang="en-US" dirty="0"/>
              <a:t>＝</a:t>
            </a:r>
            <a:r>
              <a:rPr lang="en-US" altLang="zh-CN" dirty="0"/>
              <a:t>n</a:t>
            </a:r>
            <a:r>
              <a:rPr lang="en-US" altLang="zh-CN" baseline="-25000" dirty="0"/>
              <a:t>2</a:t>
            </a:r>
            <a:r>
              <a:rPr lang="zh-CN" altLang="en-US" dirty="0"/>
              <a:t>＋</a:t>
            </a:r>
            <a:r>
              <a:rPr lang="en-US" altLang="zh-CN" dirty="0"/>
              <a:t>1</a:t>
            </a:r>
            <a:endParaRPr lang="en-US" altLang="zh-CN" dirty="0"/>
          </a:p>
          <a:p>
            <a:r>
              <a:rPr lang="zh-CN" altLang="en-US" dirty="0"/>
              <a:t>证明：若设度为</a:t>
            </a:r>
            <a:r>
              <a:rPr lang="en-US" altLang="zh-CN" dirty="0"/>
              <a:t>1</a:t>
            </a:r>
            <a:r>
              <a:rPr lang="zh-CN" altLang="en-US" dirty="0"/>
              <a:t>的结点有</a:t>
            </a:r>
            <a:r>
              <a:rPr lang="en-US" altLang="zh-CN" dirty="0"/>
              <a:t>n</a:t>
            </a:r>
            <a:r>
              <a:rPr lang="en-US" altLang="zh-CN" baseline="-25000" dirty="0"/>
              <a:t>1</a:t>
            </a:r>
            <a:r>
              <a:rPr lang="zh-CN" altLang="en-US" dirty="0"/>
              <a:t>个，总结点个数为</a:t>
            </a:r>
            <a:r>
              <a:rPr lang="en-US" altLang="zh-CN" dirty="0"/>
              <a:t>n</a:t>
            </a:r>
            <a:r>
              <a:rPr lang="zh-CN" altLang="en-US" dirty="0"/>
              <a:t>，总边数为</a:t>
            </a:r>
            <a:r>
              <a:rPr lang="en-US" altLang="zh-CN" dirty="0"/>
              <a:t>e</a:t>
            </a:r>
            <a:r>
              <a:rPr lang="zh-CN" altLang="en-US" dirty="0"/>
              <a:t>，则根据二叉树的定义：</a:t>
            </a:r>
            <a:endParaRPr lang="zh-CN" altLang="en-US" dirty="0"/>
          </a:p>
          <a:p>
            <a:pPr lvl="1"/>
            <a:r>
              <a:rPr lang="en-US" altLang="zh-CN" dirty="0"/>
              <a:t>n = n</a:t>
            </a:r>
            <a:r>
              <a:rPr lang="en-US" altLang="zh-CN" baseline="-25000" dirty="0"/>
              <a:t>0</a:t>
            </a:r>
            <a:r>
              <a:rPr lang="en-US" altLang="zh-CN" dirty="0"/>
              <a:t> + n</a:t>
            </a:r>
            <a:r>
              <a:rPr lang="en-US" altLang="zh-CN" baseline="-25000" dirty="0"/>
              <a:t>1</a:t>
            </a:r>
            <a:r>
              <a:rPr lang="en-US" altLang="zh-CN" dirty="0"/>
              <a:t> + n</a:t>
            </a:r>
            <a:r>
              <a:rPr lang="en-US" altLang="zh-CN" baseline="-25000" dirty="0"/>
              <a:t>2</a:t>
            </a:r>
            <a:r>
              <a:rPr lang="en-US" altLang="zh-CN" dirty="0"/>
              <a:t>    e = 2n</a:t>
            </a:r>
            <a:r>
              <a:rPr lang="en-US" altLang="zh-CN" baseline="-25000" dirty="0"/>
              <a:t>2</a:t>
            </a:r>
            <a:r>
              <a:rPr lang="en-US" altLang="zh-CN" dirty="0"/>
              <a:t> + n</a:t>
            </a:r>
            <a:r>
              <a:rPr lang="en-US" altLang="zh-CN" baseline="-25000" dirty="0"/>
              <a:t>1</a:t>
            </a:r>
            <a:r>
              <a:rPr lang="en-US" altLang="zh-CN" dirty="0"/>
              <a:t> = n - 1</a:t>
            </a:r>
            <a:endParaRPr lang="en-US" altLang="zh-CN" dirty="0"/>
          </a:p>
          <a:p>
            <a:pPr lvl="1"/>
            <a:r>
              <a:rPr lang="zh-CN" altLang="en-US" dirty="0"/>
              <a:t>因此有  </a:t>
            </a:r>
            <a:r>
              <a:rPr lang="en-US" altLang="zh-CN" dirty="0"/>
              <a:t>2n</a:t>
            </a:r>
            <a:r>
              <a:rPr lang="en-US" altLang="zh-CN" baseline="-25000" dirty="0"/>
              <a:t>2</a:t>
            </a:r>
            <a:r>
              <a:rPr lang="en-US" altLang="zh-CN" dirty="0"/>
              <a:t> + n</a:t>
            </a:r>
            <a:r>
              <a:rPr lang="en-US" altLang="zh-CN" baseline="-25000" dirty="0"/>
              <a:t>1</a:t>
            </a:r>
            <a:r>
              <a:rPr lang="en-US" altLang="zh-CN" dirty="0"/>
              <a:t> = n</a:t>
            </a:r>
            <a:r>
              <a:rPr lang="en-US" altLang="zh-CN" baseline="-25000" dirty="0"/>
              <a:t>0</a:t>
            </a:r>
            <a:r>
              <a:rPr lang="en-US" altLang="zh-CN" dirty="0"/>
              <a:t> + n</a:t>
            </a:r>
            <a:r>
              <a:rPr lang="en-US" altLang="zh-CN" baseline="-25000" dirty="0"/>
              <a:t>1</a:t>
            </a:r>
            <a:r>
              <a:rPr lang="en-US" altLang="zh-CN" dirty="0"/>
              <a:t> + n</a:t>
            </a:r>
            <a:r>
              <a:rPr lang="en-US" altLang="zh-CN" baseline="-25000" dirty="0"/>
              <a:t>2</a:t>
            </a:r>
            <a:r>
              <a:rPr lang="en-US" altLang="zh-CN" dirty="0"/>
              <a:t> - 1</a:t>
            </a:r>
            <a:endParaRPr lang="en-US" altLang="zh-CN" dirty="0"/>
          </a:p>
          <a:p>
            <a:pPr lvl="1"/>
            <a:r>
              <a:rPr lang="zh-CN" altLang="en-US" dirty="0"/>
              <a:t>即：</a:t>
            </a:r>
            <a:r>
              <a:rPr lang="en-US" altLang="zh-CN" dirty="0"/>
              <a:t>n</a:t>
            </a:r>
            <a:r>
              <a:rPr lang="en-US" altLang="zh-CN" baseline="-25000" dirty="0"/>
              <a:t>2</a:t>
            </a:r>
            <a:r>
              <a:rPr lang="en-US" altLang="zh-CN" dirty="0"/>
              <a:t> = n</a:t>
            </a:r>
            <a:r>
              <a:rPr lang="en-US" altLang="zh-CN" baseline="-25000" dirty="0"/>
              <a:t>0</a:t>
            </a:r>
            <a:r>
              <a:rPr lang="en-US" altLang="zh-CN" dirty="0"/>
              <a:t> – 1</a:t>
            </a:r>
            <a:r>
              <a:rPr lang="zh-CN" altLang="en-US" dirty="0"/>
              <a:t>，因此有</a:t>
            </a:r>
            <a:r>
              <a:rPr lang="en-US" altLang="zh-CN" dirty="0"/>
              <a:t>n</a:t>
            </a:r>
            <a:r>
              <a:rPr lang="en-US" altLang="zh-CN" baseline="-25000" dirty="0"/>
              <a:t>0</a:t>
            </a:r>
            <a:r>
              <a:rPr lang="en-US" altLang="zh-CN" dirty="0"/>
              <a:t> = n</a:t>
            </a:r>
            <a:r>
              <a:rPr lang="en-US" altLang="zh-CN" baseline="-25000" dirty="0"/>
              <a:t>2</a:t>
            </a:r>
            <a:r>
              <a:rPr lang="en-US" altLang="zh-CN" dirty="0"/>
              <a:t> + 1 </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11760" y="3645024"/>
            <a:ext cx="3581400" cy="2133600"/>
            <a:chOff x="2362200" y="3048000"/>
            <a:chExt cx="3581400" cy="2133600"/>
          </a:xfrm>
        </p:grpSpPr>
        <p:sp>
          <p:nvSpPr>
            <p:cNvPr id="14338" name="Line 50"/>
            <p:cNvSpPr>
              <a:spLocks noChangeShapeType="1"/>
            </p:cNvSpPr>
            <p:nvPr/>
          </p:nvSpPr>
          <p:spPr bwMode="auto">
            <a:xfrm>
              <a:off x="4343400" y="3276600"/>
              <a:ext cx="762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39" name="Line 49"/>
            <p:cNvSpPr>
              <a:spLocks noChangeShapeType="1"/>
            </p:cNvSpPr>
            <p:nvPr/>
          </p:nvSpPr>
          <p:spPr bwMode="auto">
            <a:xfrm flipH="1">
              <a:off x="3352800" y="3276600"/>
              <a:ext cx="762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0" name="Line 40"/>
            <p:cNvSpPr>
              <a:spLocks noChangeShapeType="1"/>
            </p:cNvSpPr>
            <p:nvPr/>
          </p:nvSpPr>
          <p:spPr bwMode="auto">
            <a:xfrm>
              <a:off x="5181600" y="3886200"/>
              <a:ext cx="3048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1" name="Line 41"/>
            <p:cNvSpPr>
              <a:spLocks noChangeShapeType="1"/>
            </p:cNvSpPr>
            <p:nvPr/>
          </p:nvSpPr>
          <p:spPr bwMode="auto">
            <a:xfrm flipH="1">
              <a:off x="4724400" y="3810000"/>
              <a:ext cx="381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2" name="Line 39"/>
            <p:cNvSpPr>
              <a:spLocks noChangeShapeType="1"/>
            </p:cNvSpPr>
            <p:nvPr/>
          </p:nvSpPr>
          <p:spPr bwMode="auto">
            <a:xfrm>
              <a:off x="3352800" y="3810000"/>
              <a:ext cx="3048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3" name="Line 38"/>
            <p:cNvSpPr>
              <a:spLocks noChangeShapeType="1"/>
            </p:cNvSpPr>
            <p:nvPr/>
          </p:nvSpPr>
          <p:spPr bwMode="auto">
            <a:xfrm flipH="1">
              <a:off x="2819400" y="3886200"/>
              <a:ext cx="381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4" name="Line 29"/>
            <p:cNvSpPr>
              <a:spLocks noChangeShapeType="1"/>
            </p:cNvSpPr>
            <p:nvPr/>
          </p:nvSpPr>
          <p:spPr bwMode="auto">
            <a:xfrm>
              <a:off x="5562600" y="44196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5" name="Line 30"/>
            <p:cNvSpPr>
              <a:spLocks noChangeShapeType="1"/>
            </p:cNvSpPr>
            <p:nvPr/>
          </p:nvSpPr>
          <p:spPr bwMode="auto">
            <a:xfrm flipH="1">
              <a:off x="5257800" y="4419600"/>
              <a:ext cx="2286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6" name="Line 31"/>
            <p:cNvSpPr>
              <a:spLocks noChangeShapeType="1"/>
            </p:cNvSpPr>
            <p:nvPr/>
          </p:nvSpPr>
          <p:spPr bwMode="auto">
            <a:xfrm>
              <a:off x="4724400" y="44958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7" name="Line 32"/>
            <p:cNvSpPr>
              <a:spLocks noChangeShapeType="1"/>
            </p:cNvSpPr>
            <p:nvPr/>
          </p:nvSpPr>
          <p:spPr bwMode="auto">
            <a:xfrm flipH="1">
              <a:off x="4343400" y="4419600"/>
              <a:ext cx="3048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8" name="Line 28"/>
            <p:cNvSpPr>
              <a:spLocks noChangeShapeType="1"/>
            </p:cNvSpPr>
            <p:nvPr/>
          </p:nvSpPr>
          <p:spPr bwMode="auto">
            <a:xfrm>
              <a:off x="3733800" y="44196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9" name="Line 27"/>
            <p:cNvSpPr>
              <a:spLocks noChangeShapeType="1"/>
            </p:cNvSpPr>
            <p:nvPr/>
          </p:nvSpPr>
          <p:spPr bwMode="auto">
            <a:xfrm flipH="1">
              <a:off x="3429000" y="4419600"/>
              <a:ext cx="2286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0" name="Line 26"/>
            <p:cNvSpPr>
              <a:spLocks noChangeShapeType="1"/>
            </p:cNvSpPr>
            <p:nvPr/>
          </p:nvSpPr>
          <p:spPr bwMode="auto">
            <a:xfrm>
              <a:off x="2895600" y="44958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1" name="Line 25"/>
            <p:cNvSpPr>
              <a:spLocks noChangeShapeType="1"/>
            </p:cNvSpPr>
            <p:nvPr/>
          </p:nvSpPr>
          <p:spPr bwMode="auto">
            <a:xfrm flipH="1">
              <a:off x="2514600" y="4419600"/>
              <a:ext cx="3048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3" name="Oval 5"/>
            <p:cNvSpPr>
              <a:spLocks noChangeArrowheads="1"/>
            </p:cNvSpPr>
            <p:nvPr/>
          </p:nvSpPr>
          <p:spPr bwMode="auto">
            <a:xfrm>
              <a:off x="23622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54" name="Oval 7"/>
            <p:cNvSpPr>
              <a:spLocks noChangeArrowheads="1"/>
            </p:cNvSpPr>
            <p:nvPr/>
          </p:nvSpPr>
          <p:spPr bwMode="auto">
            <a:xfrm>
              <a:off x="28194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55" name="Oval 8"/>
            <p:cNvSpPr>
              <a:spLocks noChangeArrowheads="1"/>
            </p:cNvSpPr>
            <p:nvPr/>
          </p:nvSpPr>
          <p:spPr bwMode="auto">
            <a:xfrm>
              <a:off x="32766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56" name="Oval 9"/>
            <p:cNvSpPr>
              <a:spLocks noChangeArrowheads="1"/>
            </p:cNvSpPr>
            <p:nvPr/>
          </p:nvSpPr>
          <p:spPr bwMode="auto">
            <a:xfrm>
              <a:off x="37338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57" name="Oval 10"/>
            <p:cNvSpPr>
              <a:spLocks noChangeArrowheads="1"/>
            </p:cNvSpPr>
            <p:nvPr/>
          </p:nvSpPr>
          <p:spPr bwMode="auto">
            <a:xfrm>
              <a:off x="41910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58" name="Oval 11"/>
            <p:cNvSpPr>
              <a:spLocks noChangeArrowheads="1"/>
            </p:cNvSpPr>
            <p:nvPr/>
          </p:nvSpPr>
          <p:spPr bwMode="auto">
            <a:xfrm>
              <a:off x="46482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59" name="Oval 12"/>
            <p:cNvSpPr>
              <a:spLocks noChangeArrowheads="1"/>
            </p:cNvSpPr>
            <p:nvPr/>
          </p:nvSpPr>
          <p:spPr bwMode="auto">
            <a:xfrm>
              <a:off x="51054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0" name="Oval 13"/>
            <p:cNvSpPr>
              <a:spLocks noChangeArrowheads="1"/>
            </p:cNvSpPr>
            <p:nvPr/>
          </p:nvSpPr>
          <p:spPr bwMode="auto">
            <a:xfrm>
              <a:off x="55626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1" name="Oval 17"/>
            <p:cNvSpPr>
              <a:spLocks noChangeArrowheads="1"/>
            </p:cNvSpPr>
            <p:nvPr/>
          </p:nvSpPr>
          <p:spPr bwMode="auto">
            <a:xfrm>
              <a:off x="2667000" y="4191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2" name="Oval 18"/>
            <p:cNvSpPr>
              <a:spLocks noChangeArrowheads="1"/>
            </p:cNvSpPr>
            <p:nvPr/>
          </p:nvSpPr>
          <p:spPr bwMode="auto">
            <a:xfrm>
              <a:off x="3505200" y="4191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3" name="Oval 19"/>
            <p:cNvSpPr>
              <a:spLocks noChangeArrowheads="1"/>
            </p:cNvSpPr>
            <p:nvPr/>
          </p:nvSpPr>
          <p:spPr bwMode="auto">
            <a:xfrm>
              <a:off x="4495800" y="4191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4" name="Oval 20"/>
            <p:cNvSpPr>
              <a:spLocks noChangeArrowheads="1"/>
            </p:cNvSpPr>
            <p:nvPr/>
          </p:nvSpPr>
          <p:spPr bwMode="auto">
            <a:xfrm>
              <a:off x="5334000" y="4191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5" name="Oval 36"/>
            <p:cNvSpPr>
              <a:spLocks noChangeArrowheads="1"/>
            </p:cNvSpPr>
            <p:nvPr/>
          </p:nvSpPr>
          <p:spPr bwMode="auto">
            <a:xfrm>
              <a:off x="3124200" y="3581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6" name="Oval 37"/>
            <p:cNvSpPr>
              <a:spLocks noChangeArrowheads="1"/>
            </p:cNvSpPr>
            <p:nvPr/>
          </p:nvSpPr>
          <p:spPr bwMode="auto">
            <a:xfrm>
              <a:off x="4953000" y="3581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7" name="Oval 48"/>
            <p:cNvSpPr>
              <a:spLocks noChangeArrowheads="1"/>
            </p:cNvSpPr>
            <p:nvPr/>
          </p:nvSpPr>
          <p:spPr bwMode="auto">
            <a:xfrm>
              <a:off x="4038600" y="3048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grpSp>
      <p:sp>
        <p:nvSpPr>
          <p:cNvPr id="6" name="内容占位符 5"/>
          <p:cNvSpPr>
            <a:spLocks noGrp="1"/>
          </p:cNvSpPr>
          <p:nvPr>
            <p:ph idx="1"/>
          </p:nvPr>
        </p:nvSpPr>
        <p:spPr>
          <a:xfrm>
            <a:off x="602010" y="550986"/>
            <a:ext cx="7886700" cy="2636838"/>
          </a:xfrm>
        </p:spPr>
        <p:txBody>
          <a:bodyPr>
            <a:normAutofit lnSpcReduction="10000"/>
          </a:bodyPr>
          <a:lstStyle/>
          <a:p>
            <a:r>
              <a:rPr lang="zh-CN" altLang="en-US" dirty="0"/>
              <a:t>定义</a:t>
            </a:r>
            <a:r>
              <a:rPr lang="en-US" altLang="zh-CN" dirty="0"/>
              <a:t>1</a:t>
            </a:r>
            <a:r>
              <a:rPr lang="zh-CN" altLang="en-US" dirty="0"/>
              <a:t>：满二叉树 </a:t>
            </a:r>
            <a:r>
              <a:rPr lang="en-US" altLang="zh-CN" dirty="0"/>
              <a:t>(Full Binary Tree) </a:t>
            </a:r>
            <a:endParaRPr lang="en-US" altLang="zh-CN" dirty="0"/>
          </a:p>
          <a:p>
            <a:pPr lvl="1"/>
            <a:r>
              <a:rPr lang="zh-CN" altLang="en-US" dirty="0"/>
              <a:t>深度为</a:t>
            </a:r>
            <a:r>
              <a:rPr lang="en-US" altLang="zh-CN" dirty="0"/>
              <a:t>k</a:t>
            </a:r>
            <a:r>
              <a:rPr lang="zh-CN" altLang="en-US" dirty="0"/>
              <a:t>的满二叉树是有</a:t>
            </a:r>
            <a:r>
              <a:rPr lang="en-US" altLang="zh-CN" dirty="0"/>
              <a:t>2</a:t>
            </a:r>
            <a:r>
              <a:rPr lang="en-US" altLang="zh-CN" baseline="30000" dirty="0"/>
              <a:t>k</a:t>
            </a:r>
            <a:r>
              <a:rPr lang="en-US" altLang="zh-CN" dirty="0"/>
              <a:t>-1</a:t>
            </a:r>
            <a:r>
              <a:rPr lang="zh-CN" altLang="en-US" dirty="0"/>
              <a:t>个结点的二叉树。在满二叉树中，每一层结点都达到了最大个数。除最底层结点的度为</a:t>
            </a:r>
            <a:r>
              <a:rPr lang="en-US" altLang="zh-CN" dirty="0"/>
              <a:t>0</a:t>
            </a:r>
            <a:r>
              <a:rPr lang="zh-CN" altLang="en-US" dirty="0"/>
              <a:t>外，其它各层结点的度都为</a:t>
            </a:r>
            <a:r>
              <a:rPr lang="en-US" altLang="zh-CN" dirty="0"/>
              <a:t>2</a:t>
            </a:r>
            <a:r>
              <a:rPr lang="zh-CN" altLang="en-US" dirty="0"/>
              <a:t>。</a:t>
            </a:r>
            <a:endParaRPr lang="zh-CN" altLang="en-US" dirty="0"/>
          </a:p>
          <a:p>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11760" y="4322038"/>
            <a:ext cx="3352800" cy="2133600"/>
            <a:chOff x="2286000" y="4114800"/>
            <a:chExt cx="3352800" cy="2133600"/>
          </a:xfrm>
        </p:grpSpPr>
        <p:sp>
          <p:nvSpPr>
            <p:cNvPr id="15363" name="Line 4"/>
            <p:cNvSpPr>
              <a:spLocks noChangeShapeType="1"/>
            </p:cNvSpPr>
            <p:nvPr/>
          </p:nvSpPr>
          <p:spPr bwMode="auto">
            <a:xfrm>
              <a:off x="5105400" y="4953000"/>
              <a:ext cx="3048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4" name="Line 5"/>
            <p:cNvSpPr>
              <a:spLocks noChangeShapeType="1"/>
            </p:cNvSpPr>
            <p:nvPr/>
          </p:nvSpPr>
          <p:spPr bwMode="auto">
            <a:xfrm flipH="1">
              <a:off x="4648200" y="4876800"/>
              <a:ext cx="381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5" name="Line 6"/>
            <p:cNvSpPr>
              <a:spLocks noChangeShapeType="1"/>
            </p:cNvSpPr>
            <p:nvPr/>
          </p:nvSpPr>
          <p:spPr bwMode="auto">
            <a:xfrm>
              <a:off x="3276600" y="4876800"/>
              <a:ext cx="3048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6" name="Line 7"/>
            <p:cNvSpPr>
              <a:spLocks noChangeShapeType="1"/>
            </p:cNvSpPr>
            <p:nvPr/>
          </p:nvSpPr>
          <p:spPr bwMode="auto">
            <a:xfrm flipH="1">
              <a:off x="2743200" y="4953000"/>
              <a:ext cx="381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7" name="Line 8"/>
            <p:cNvSpPr>
              <a:spLocks noChangeShapeType="1"/>
            </p:cNvSpPr>
            <p:nvPr/>
          </p:nvSpPr>
          <p:spPr bwMode="auto">
            <a:xfrm>
              <a:off x="4267200" y="4343400"/>
              <a:ext cx="762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8" name="Line 9"/>
            <p:cNvSpPr>
              <a:spLocks noChangeShapeType="1"/>
            </p:cNvSpPr>
            <p:nvPr/>
          </p:nvSpPr>
          <p:spPr bwMode="auto">
            <a:xfrm flipH="1">
              <a:off x="3276600" y="4343400"/>
              <a:ext cx="762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9" name="Oval 10"/>
            <p:cNvSpPr>
              <a:spLocks noChangeArrowheads="1"/>
            </p:cNvSpPr>
            <p:nvPr/>
          </p:nvSpPr>
          <p:spPr bwMode="auto">
            <a:xfrm>
              <a:off x="3962400" y="4114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0" name="Line 11"/>
            <p:cNvSpPr>
              <a:spLocks noChangeShapeType="1"/>
            </p:cNvSpPr>
            <p:nvPr/>
          </p:nvSpPr>
          <p:spPr bwMode="auto">
            <a:xfrm flipH="1">
              <a:off x="3352800" y="5486400"/>
              <a:ext cx="2286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71" name="Line 12"/>
            <p:cNvSpPr>
              <a:spLocks noChangeShapeType="1"/>
            </p:cNvSpPr>
            <p:nvPr/>
          </p:nvSpPr>
          <p:spPr bwMode="auto">
            <a:xfrm>
              <a:off x="2819400" y="55626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72" name="Line 13"/>
            <p:cNvSpPr>
              <a:spLocks noChangeShapeType="1"/>
            </p:cNvSpPr>
            <p:nvPr/>
          </p:nvSpPr>
          <p:spPr bwMode="auto">
            <a:xfrm flipH="1">
              <a:off x="2438400" y="5486400"/>
              <a:ext cx="3048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73" name="Oval 14"/>
            <p:cNvSpPr>
              <a:spLocks noChangeArrowheads="1"/>
            </p:cNvSpPr>
            <p:nvPr/>
          </p:nvSpPr>
          <p:spPr bwMode="auto">
            <a:xfrm>
              <a:off x="2286000" y="5867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4" name="Oval 15"/>
            <p:cNvSpPr>
              <a:spLocks noChangeArrowheads="1"/>
            </p:cNvSpPr>
            <p:nvPr/>
          </p:nvSpPr>
          <p:spPr bwMode="auto">
            <a:xfrm>
              <a:off x="2743200" y="5867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5" name="Oval 16"/>
            <p:cNvSpPr>
              <a:spLocks noChangeArrowheads="1"/>
            </p:cNvSpPr>
            <p:nvPr/>
          </p:nvSpPr>
          <p:spPr bwMode="auto">
            <a:xfrm>
              <a:off x="3200400" y="5867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6" name="Oval 17"/>
            <p:cNvSpPr>
              <a:spLocks noChangeArrowheads="1"/>
            </p:cNvSpPr>
            <p:nvPr/>
          </p:nvSpPr>
          <p:spPr bwMode="auto">
            <a:xfrm>
              <a:off x="2590800" y="5257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7" name="Oval 18"/>
            <p:cNvSpPr>
              <a:spLocks noChangeArrowheads="1"/>
            </p:cNvSpPr>
            <p:nvPr/>
          </p:nvSpPr>
          <p:spPr bwMode="auto">
            <a:xfrm>
              <a:off x="3429000" y="5257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8" name="Oval 19"/>
            <p:cNvSpPr>
              <a:spLocks noChangeArrowheads="1"/>
            </p:cNvSpPr>
            <p:nvPr/>
          </p:nvSpPr>
          <p:spPr bwMode="auto">
            <a:xfrm>
              <a:off x="4419600" y="5257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9" name="Oval 20"/>
            <p:cNvSpPr>
              <a:spLocks noChangeArrowheads="1"/>
            </p:cNvSpPr>
            <p:nvPr/>
          </p:nvSpPr>
          <p:spPr bwMode="auto">
            <a:xfrm>
              <a:off x="5257800" y="5257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80" name="Oval 21"/>
            <p:cNvSpPr>
              <a:spLocks noChangeArrowheads="1"/>
            </p:cNvSpPr>
            <p:nvPr/>
          </p:nvSpPr>
          <p:spPr bwMode="auto">
            <a:xfrm>
              <a:off x="3048000" y="46482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81" name="Oval 22"/>
            <p:cNvSpPr>
              <a:spLocks noChangeArrowheads="1"/>
            </p:cNvSpPr>
            <p:nvPr/>
          </p:nvSpPr>
          <p:spPr bwMode="auto">
            <a:xfrm>
              <a:off x="4876800" y="46482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grpSp>
      <p:sp>
        <p:nvSpPr>
          <p:cNvPr id="3" name="内容占位符 2"/>
          <p:cNvSpPr>
            <a:spLocks noGrp="1"/>
          </p:cNvSpPr>
          <p:nvPr>
            <p:ph idx="1"/>
          </p:nvPr>
        </p:nvSpPr>
        <p:spPr>
          <a:xfrm>
            <a:off x="704850" y="449262"/>
            <a:ext cx="7886700" cy="3983658"/>
          </a:xfrm>
        </p:spPr>
        <p:txBody>
          <a:bodyPr>
            <a:normAutofit fontScale="92500" lnSpcReduction="10000"/>
          </a:bodyPr>
          <a:lstStyle/>
          <a:p>
            <a:r>
              <a:rPr lang="zh-CN" altLang="en-US" dirty="0"/>
              <a:t>定义</a:t>
            </a:r>
            <a:r>
              <a:rPr lang="en-US" altLang="zh-CN" dirty="0"/>
              <a:t>2</a:t>
            </a:r>
            <a:r>
              <a:rPr lang="zh-CN" altLang="en-US" dirty="0"/>
              <a:t>：完全二叉树 </a:t>
            </a:r>
            <a:r>
              <a:rPr lang="en-US" altLang="zh-CN" dirty="0"/>
              <a:t>(Complete Binary Tree)</a:t>
            </a:r>
            <a:endParaRPr lang="en-US" altLang="zh-CN" dirty="0"/>
          </a:p>
          <a:p>
            <a:pPr lvl="1"/>
            <a:r>
              <a:rPr lang="zh-CN" altLang="en-US" dirty="0"/>
              <a:t>若一棵具有</a:t>
            </a:r>
            <a:r>
              <a:rPr lang="en-US" altLang="zh-CN" dirty="0"/>
              <a:t>n</a:t>
            </a:r>
            <a:r>
              <a:rPr lang="zh-CN" altLang="en-US" dirty="0"/>
              <a:t>个结点的深度为</a:t>
            </a:r>
            <a:r>
              <a:rPr lang="en-US" altLang="zh-CN" dirty="0"/>
              <a:t>k</a:t>
            </a:r>
            <a:r>
              <a:rPr lang="zh-CN" altLang="en-US" dirty="0"/>
              <a:t>的二叉树，其每个结点都与高度为</a:t>
            </a:r>
            <a:r>
              <a:rPr lang="en-US" altLang="zh-CN" dirty="0"/>
              <a:t>k</a:t>
            </a:r>
            <a:r>
              <a:rPr lang="zh-CN" altLang="en-US" dirty="0"/>
              <a:t>的满二叉树中编号为</a:t>
            </a:r>
            <a:r>
              <a:rPr lang="en-US" altLang="zh-CN" dirty="0"/>
              <a:t>1~n</a:t>
            </a:r>
            <a:r>
              <a:rPr lang="zh-CN" altLang="en-US" dirty="0"/>
              <a:t>的结点一一对应，则称这棵二叉树为完全二叉树。</a:t>
            </a:r>
            <a:endParaRPr lang="zh-CN" altLang="en-US" dirty="0"/>
          </a:p>
          <a:p>
            <a:pPr lvl="2"/>
            <a:r>
              <a:rPr lang="zh-CN" altLang="en-US" dirty="0"/>
              <a:t>其特点是除第</a:t>
            </a:r>
            <a:r>
              <a:rPr lang="en-US" altLang="zh-CN" dirty="0"/>
              <a:t>k</a:t>
            </a:r>
            <a:r>
              <a:rPr lang="zh-CN" altLang="en-US" dirty="0"/>
              <a:t>层外，其它各层 </a:t>
            </a:r>
            <a:r>
              <a:rPr lang="en-US" altLang="zh-CN" dirty="0"/>
              <a:t>(1 ~ k-1) </a:t>
            </a:r>
            <a:r>
              <a:rPr lang="zh-CN" altLang="en-US" dirty="0"/>
              <a:t>的结点数都达到最大个数，第 </a:t>
            </a:r>
            <a:r>
              <a:rPr lang="en-US" altLang="zh-CN" dirty="0"/>
              <a:t>k </a:t>
            </a:r>
            <a:r>
              <a:rPr lang="zh-CN" altLang="en-US" dirty="0"/>
              <a:t>层或是满的，或是从右向左连续缺若干结点。</a:t>
            </a:r>
            <a:endParaRPr lang="zh-CN" altLang="en-US" dirty="0"/>
          </a:p>
          <a:p>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794061" y="4199547"/>
            <a:ext cx="4267200" cy="2133600"/>
            <a:chOff x="4800600" y="3962400"/>
            <a:chExt cx="4267200" cy="2133600"/>
          </a:xfrm>
        </p:grpSpPr>
        <p:sp>
          <p:nvSpPr>
            <p:cNvPr id="16386" name="Line 2"/>
            <p:cNvSpPr>
              <a:spLocks noChangeShapeType="1"/>
            </p:cNvSpPr>
            <p:nvPr/>
          </p:nvSpPr>
          <p:spPr bwMode="auto">
            <a:xfrm>
              <a:off x="8001000" y="5410200"/>
              <a:ext cx="152400" cy="457200"/>
            </a:xfrm>
            <a:prstGeom prst="line">
              <a:avLst/>
            </a:prstGeom>
            <a:noFill/>
            <a:ln w="38100" cap="rnd">
              <a:solidFill>
                <a:srgbClr val="0099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7" name="Line 3"/>
            <p:cNvSpPr>
              <a:spLocks noChangeShapeType="1"/>
            </p:cNvSpPr>
            <p:nvPr/>
          </p:nvSpPr>
          <p:spPr bwMode="auto">
            <a:xfrm flipH="1">
              <a:off x="7696200" y="5334000"/>
              <a:ext cx="228600" cy="533400"/>
            </a:xfrm>
            <a:prstGeom prst="line">
              <a:avLst/>
            </a:prstGeom>
            <a:noFill/>
            <a:ln w="38100" cap="rnd">
              <a:solidFill>
                <a:srgbClr val="0099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8" name="Line 4"/>
            <p:cNvSpPr>
              <a:spLocks noChangeShapeType="1"/>
            </p:cNvSpPr>
            <p:nvPr/>
          </p:nvSpPr>
          <p:spPr bwMode="auto">
            <a:xfrm>
              <a:off x="7162800" y="5410200"/>
              <a:ext cx="152400" cy="457200"/>
            </a:xfrm>
            <a:prstGeom prst="line">
              <a:avLst/>
            </a:prstGeom>
            <a:noFill/>
            <a:ln w="38100" cap="rnd">
              <a:solidFill>
                <a:srgbClr val="0099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9" name="Line 5"/>
            <p:cNvSpPr>
              <a:spLocks noChangeShapeType="1"/>
            </p:cNvSpPr>
            <p:nvPr/>
          </p:nvSpPr>
          <p:spPr bwMode="auto">
            <a:xfrm flipH="1">
              <a:off x="6781800" y="5334000"/>
              <a:ext cx="304800" cy="533400"/>
            </a:xfrm>
            <a:prstGeom prst="line">
              <a:avLst/>
            </a:prstGeom>
            <a:noFill/>
            <a:ln w="38100" cap="rnd">
              <a:solidFill>
                <a:srgbClr val="0099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0" name="Oval 6"/>
            <p:cNvSpPr>
              <a:spLocks noChangeArrowheads="1"/>
            </p:cNvSpPr>
            <p:nvPr/>
          </p:nvSpPr>
          <p:spPr bwMode="auto">
            <a:xfrm>
              <a:off x="6629400" y="5715000"/>
              <a:ext cx="381000" cy="381000"/>
            </a:xfrm>
            <a:prstGeom prst="ellipse">
              <a:avLst/>
            </a:prstGeom>
            <a:solidFill>
              <a:srgbClr val="FFFFCC"/>
            </a:solidFill>
            <a:ln w="38100" cap="rnd">
              <a:solidFill>
                <a:schemeClr val="tx2"/>
              </a:solidFill>
              <a:prstDash val="sysDot"/>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391" name="Oval 7"/>
            <p:cNvSpPr>
              <a:spLocks noChangeArrowheads="1"/>
            </p:cNvSpPr>
            <p:nvPr/>
          </p:nvSpPr>
          <p:spPr bwMode="auto">
            <a:xfrm>
              <a:off x="7086600" y="5715000"/>
              <a:ext cx="381000" cy="381000"/>
            </a:xfrm>
            <a:prstGeom prst="ellipse">
              <a:avLst/>
            </a:prstGeom>
            <a:solidFill>
              <a:srgbClr val="FFFFCC"/>
            </a:solidFill>
            <a:ln w="38100" cap="rnd">
              <a:solidFill>
                <a:schemeClr val="tx2"/>
              </a:solidFill>
              <a:prstDash val="sysDot"/>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392" name="Oval 8"/>
            <p:cNvSpPr>
              <a:spLocks noChangeArrowheads="1"/>
            </p:cNvSpPr>
            <p:nvPr/>
          </p:nvSpPr>
          <p:spPr bwMode="auto">
            <a:xfrm>
              <a:off x="7543800" y="5715000"/>
              <a:ext cx="381000" cy="381000"/>
            </a:xfrm>
            <a:prstGeom prst="ellipse">
              <a:avLst/>
            </a:prstGeom>
            <a:solidFill>
              <a:srgbClr val="FFFFCC"/>
            </a:solidFill>
            <a:ln w="38100" cap="rnd">
              <a:solidFill>
                <a:schemeClr val="tx2"/>
              </a:solidFill>
              <a:prstDash val="sysDot"/>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393" name="Oval 9"/>
            <p:cNvSpPr>
              <a:spLocks noChangeArrowheads="1"/>
            </p:cNvSpPr>
            <p:nvPr/>
          </p:nvSpPr>
          <p:spPr bwMode="auto">
            <a:xfrm>
              <a:off x="8001000" y="5715000"/>
              <a:ext cx="381000" cy="381000"/>
            </a:xfrm>
            <a:prstGeom prst="ellipse">
              <a:avLst/>
            </a:prstGeom>
            <a:solidFill>
              <a:srgbClr val="FFFFCC"/>
            </a:solidFill>
            <a:ln w="38100" cap="rnd">
              <a:solidFill>
                <a:schemeClr val="tx2"/>
              </a:solidFill>
              <a:prstDash val="sysDot"/>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394" name="Line 10"/>
            <p:cNvSpPr>
              <a:spLocks noChangeShapeType="1"/>
            </p:cNvSpPr>
            <p:nvPr/>
          </p:nvSpPr>
          <p:spPr bwMode="auto">
            <a:xfrm>
              <a:off x="6172200" y="5410200"/>
              <a:ext cx="152400" cy="457200"/>
            </a:xfrm>
            <a:prstGeom prst="line">
              <a:avLst/>
            </a:prstGeom>
            <a:noFill/>
            <a:ln w="38100" cap="rnd">
              <a:solidFill>
                <a:srgbClr val="0099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0" name="Line 16"/>
            <p:cNvSpPr>
              <a:spLocks noChangeShapeType="1"/>
            </p:cNvSpPr>
            <p:nvPr/>
          </p:nvSpPr>
          <p:spPr bwMode="auto">
            <a:xfrm>
              <a:off x="7620000" y="4800600"/>
              <a:ext cx="3048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1" name="Line 17"/>
            <p:cNvSpPr>
              <a:spLocks noChangeShapeType="1"/>
            </p:cNvSpPr>
            <p:nvPr/>
          </p:nvSpPr>
          <p:spPr bwMode="auto">
            <a:xfrm flipH="1">
              <a:off x="7162800" y="4724400"/>
              <a:ext cx="381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2" name="Line 18"/>
            <p:cNvSpPr>
              <a:spLocks noChangeShapeType="1"/>
            </p:cNvSpPr>
            <p:nvPr/>
          </p:nvSpPr>
          <p:spPr bwMode="auto">
            <a:xfrm>
              <a:off x="5791200" y="4724400"/>
              <a:ext cx="3048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3" name="Line 19"/>
            <p:cNvSpPr>
              <a:spLocks noChangeShapeType="1"/>
            </p:cNvSpPr>
            <p:nvPr/>
          </p:nvSpPr>
          <p:spPr bwMode="auto">
            <a:xfrm flipH="1">
              <a:off x="5257800" y="4800600"/>
              <a:ext cx="381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4" name="Line 20"/>
            <p:cNvSpPr>
              <a:spLocks noChangeShapeType="1"/>
            </p:cNvSpPr>
            <p:nvPr/>
          </p:nvSpPr>
          <p:spPr bwMode="auto">
            <a:xfrm>
              <a:off x="6781800" y="4191000"/>
              <a:ext cx="762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5" name="Line 21"/>
            <p:cNvSpPr>
              <a:spLocks noChangeShapeType="1"/>
            </p:cNvSpPr>
            <p:nvPr/>
          </p:nvSpPr>
          <p:spPr bwMode="auto">
            <a:xfrm flipH="1">
              <a:off x="5791200" y="4191000"/>
              <a:ext cx="762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6" name="Oval 22"/>
            <p:cNvSpPr>
              <a:spLocks noChangeArrowheads="1"/>
            </p:cNvSpPr>
            <p:nvPr/>
          </p:nvSpPr>
          <p:spPr bwMode="auto">
            <a:xfrm>
              <a:off x="6477000" y="3962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07" name="Line 23"/>
            <p:cNvSpPr>
              <a:spLocks noChangeShapeType="1"/>
            </p:cNvSpPr>
            <p:nvPr/>
          </p:nvSpPr>
          <p:spPr bwMode="auto">
            <a:xfrm flipH="1">
              <a:off x="5867400" y="5334000"/>
              <a:ext cx="2286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8" name="Line 24"/>
            <p:cNvSpPr>
              <a:spLocks noChangeShapeType="1"/>
            </p:cNvSpPr>
            <p:nvPr/>
          </p:nvSpPr>
          <p:spPr bwMode="auto">
            <a:xfrm>
              <a:off x="5334000" y="54102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9" name="Line 25"/>
            <p:cNvSpPr>
              <a:spLocks noChangeShapeType="1"/>
            </p:cNvSpPr>
            <p:nvPr/>
          </p:nvSpPr>
          <p:spPr bwMode="auto">
            <a:xfrm flipH="1">
              <a:off x="4953000" y="5334000"/>
              <a:ext cx="3048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0" name="Oval 26"/>
            <p:cNvSpPr>
              <a:spLocks noChangeArrowheads="1"/>
            </p:cNvSpPr>
            <p:nvPr/>
          </p:nvSpPr>
          <p:spPr bwMode="auto">
            <a:xfrm>
              <a:off x="4800600" y="5715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1" name="Oval 27"/>
            <p:cNvSpPr>
              <a:spLocks noChangeArrowheads="1"/>
            </p:cNvSpPr>
            <p:nvPr/>
          </p:nvSpPr>
          <p:spPr bwMode="auto">
            <a:xfrm>
              <a:off x="5257800" y="5715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2" name="Oval 28"/>
            <p:cNvSpPr>
              <a:spLocks noChangeArrowheads="1"/>
            </p:cNvSpPr>
            <p:nvPr/>
          </p:nvSpPr>
          <p:spPr bwMode="auto">
            <a:xfrm>
              <a:off x="5715000" y="5715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3" name="Oval 29"/>
            <p:cNvSpPr>
              <a:spLocks noChangeArrowheads="1"/>
            </p:cNvSpPr>
            <p:nvPr/>
          </p:nvSpPr>
          <p:spPr bwMode="auto">
            <a:xfrm>
              <a:off x="5105400" y="5105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4" name="Oval 30"/>
            <p:cNvSpPr>
              <a:spLocks noChangeArrowheads="1"/>
            </p:cNvSpPr>
            <p:nvPr/>
          </p:nvSpPr>
          <p:spPr bwMode="auto">
            <a:xfrm>
              <a:off x="5943600" y="5105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5" name="Oval 31"/>
            <p:cNvSpPr>
              <a:spLocks noChangeArrowheads="1"/>
            </p:cNvSpPr>
            <p:nvPr/>
          </p:nvSpPr>
          <p:spPr bwMode="auto">
            <a:xfrm>
              <a:off x="6934200" y="5105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6" name="Oval 32"/>
            <p:cNvSpPr>
              <a:spLocks noChangeArrowheads="1"/>
            </p:cNvSpPr>
            <p:nvPr/>
          </p:nvSpPr>
          <p:spPr bwMode="auto">
            <a:xfrm>
              <a:off x="7772400" y="5105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7" name="Oval 33"/>
            <p:cNvSpPr>
              <a:spLocks noChangeArrowheads="1"/>
            </p:cNvSpPr>
            <p:nvPr/>
          </p:nvSpPr>
          <p:spPr bwMode="auto">
            <a:xfrm>
              <a:off x="5562600" y="4495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8" name="Oval 34"/>
            <p:cNvSpPr>
              <a:spLocks noChangeArrowheads="1"/>
            </p:cNvSpPr>
            <p:nvPr/>
          </p:nvSpPr>
          <p:spPr bwMode="auto">
            <a:xfrm>
              <a:off x="7391400" y="4495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9" name="Oval 35"/>
            <p:cNvSpPr>
              <a:spLocks noChangeArrowheads="1"/>
            </p:cNvSpPr>
            <p:nvPr/>
          </p:nvSpPr>
          <p:spPr bwMode="auto">
            <a:xfrm>
              <a:off x="6172200" y="5715000"/>
              <a:ext cx="381000" cy="381000"/>
            </a:xfrm>
            <a:prstGeom prst="ellipse">
              <a:avLst/>
            </a:prstGeom>
            <a:solidFill>
              <a:srgbClr val="FFFFCC"/>
            </a:solidFill>
            <a:ln w="38100" cap="rnd">
              <a:solidFill>
                <a:schemeClr val="tx2"/>
              </a:solidFill>
              <a:prstDash val="sysDot"/>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20" name="Line 36"/>
            <p:cNvSpPr>
              <a:spLocks noChangeShapeType="1"/>
            </p:cNvSpPr>
            <p:nvPr/>
          </p:nvSpPr>
          <p:spPr bwMode="auto">
            <a:xfrm>
              <a:off x="8382000" y="4038600"/>
              <a:ext cx="152400" cy="0"/>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1" name="Line 37"/>
            <p:cNvSpPr>
              <a:spLocks noChangeShapeType="1"/>
            </p:cNvSpPr>
            <p:nvPr/>
          </p:nvSpPr>
          <p:spPr bwMode="auto">
            <a:xfrm>
              <a:off x="8610600" y="4038600"/>
              <a:ext cx="152400" cy="0"/>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2" name="Line 38"/>
            <p:cNvSpPr>
              <a:spLocks noChangeShapeType="1"/>
            </p:cNvSpPr>
            <p:nvPr/>
          </p:nvSpPr>
          <p:spPr bwMode="auto">
            <a:xfrm>
              <a:off x="8382000" y="5486400"/>
              <a:ext cx="152400" cy="0"/>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3" name="Line 39"/>
            <p:cNvSpPr>
              <a:spLocks noChangeShapeType="1"/>
            </p:cNvSpPr>
            <p:nvPr/>
          </p:nvSpPr>
          <p:spPr bwMode="auto">
            <a:xfrm>
              <a:off x="8458200" y="4876800"/>
              <a:ext cx="0" cy="609600"/>
            </a:xfrm>
            <a:prstGeom prst="line">
              <a:avLst/>
            </a:prstGeom>
            <a:noFill/>
            <a:ln w="19050">
              <a:solidFill>
                <a:srgbClr val="000099"/>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4" name="Line 40"/>
            <p:cNvSpPr>
              <a:spLocks noChangeShapeType="1"/>
            </p:cNvSpPr>
            <p:nvPr/>
          </p:nvSpPr>
          <p:spPr bwMode="auto">
            <a:xfrm>
              <a:off x="8610600" y="6096000"/>
              <a:ext cx="152400" cy="0"/>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5" name="Line 41"/>
            <p:cNvSpPr>
              <a:spLocks noChangeShapeType="1"/>
            </p:cNvSpPr>
            <p:nvPr/>
          </p:nvSpPr>
          <p:spPr bwMode="auto">
            <a:xfrm>
              <a:off x="8686800" y="5257800"/>
              <a:ext cx="0" cy="838200"/>
            </a:xfrm>
            <a:prstGeom prst="line">
              <a:avLst/>
            </a:prstGeom>
            <a:noFill/>
            <a:ln w="19050">
              <a:solidFill>
                <a:srgbClr val="000099"/>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6" name="Line 42"/>
            <p:cNvSpPr>
              <a:spLocks noChangeShapeType="1"/>
            </p:cNvSpPr>
            <p:nvPr/>
          </p:nvSpPr>
          <p:spPr bwMode="auto">
            <a:xfrm flipV="1">
              <a:off x="8458200" y="4038600"/>
              <a:ext cx="0" cy="533400"/>
            </a:xfrm>
            <a:prstGeom prst="line">
              <a:avLst/>
            </a:prstGeom>
            <a:noFill/>
            <a:ln w="19050">
              <a:solidFill>
                <a:srgbClr val="000099"/>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7" name="Text Box 43"/>
            <p:cNvSpPr txBox="1">
              <a:spLocks noChangeArrowheads="1"/>
            </p:cNvSpPr>
            <p:nvPr/>
          </p:nvSpPr>
          <p:spPr bwMode="auto">
            <a:xfrm>
              <a:off x="8077200" y="4495800"/>
              <a:ext cx="638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400">
                  <a:solidFill>
                    <a:schemeClr val="tx2"/>
                  </a:solidFill>
                  <a:latin typeface="Arial Narrow" panose="020B0606020202030204" pitchFamily="34" charset="0"/>
                  <a:ea typeface="宋体" panose="02010600030101010101" pitchFamily="2" charset="-122"/>
                </a:rPr>
                <a:t>2</a:t>
              </a:r>
              <a:r>
                <a:rPr kumimoji="1" lang="en-US" altLang="zh-CN" sz="2400" b="1" baseline="30000">
                  <a:solidFill>
                    <a:schemeClr val="tx2"/>
                  </a:solidFill>
                  <a:latin typeface="Arial Narrow" panose="020B0606020202030204" pitchFamily="34" charset="0"/>
                  <a:ea typeface="宋体" panose="02010600030101010101" pitchFamily="2" charset="-122"/>
                </a:rPr>
                <a:t>3</a:t>
              </a:r>
              <a:r>
                <a:rPr kumimoji="1" lang="en-US" altLang="zh-CN" sz="2400">
                  <a:solidFill>
                    <a:schemeClr val="tx2"/>
                  </a:solidFill>
                  <a:latin typeface="Arial Narrow" panose="020B060602020203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6428" name="Text Box 44"/>
            <p:cNvSpPr txBox="1">
              <a:spLocks noChangeArrowheads="1"/>
            </p:cNvSpPr>
            <p:nvPr/>
          </p:nvSpPr>
          <p:spPr bwMode="auto">
            <a:xfrm>
              <a:off x="8429625" y="4876800"/>
              <a:ext cx="638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400">
                  <a:solidFill>
                    <a:schemeClr val="tx2"/>
                  </a:solidFill>
                  <a:latin typeface="Arial Narrow" panose="020B0606020202030204" pitchFamily="34" charset="0"/>
                  <a:ea typeface="宋体" panose="02010600030101010101" pitchFamily="2" charset="-122"/>
                </a:rPr>
                <a:t>2</a:t>
              </a:r>
              <a:r>
                <a:rPr kumimoji="1" lang="en-US" altLang="zh-CN" sz="2400" b="1" baseline="30000">
                  <a:solidFill>
                    <a:schemeClr val="tx2"/>
                  </a:solidFill>
                  <a:latin typeface="Arial Narrow" panose="020B0606020202030204" pitchFamily="34" charset="0"/>
                  <a:ea typeface="宋体" panose="02010600030101010101" pitchFamily="2" charset="-122"/>
                </a:rPr>
                <a:t>4</a:t>
              </a:r>
              <a:r>
                <a:rPr kumimoji="1" lang="en-US" altLang="zh-CN" sz="2400">
                  <a:solidFill>
                    <a:schemeClr val="tx2"/>
                  </a:solidFill>
                  <a:latin typeface="Arial Narrow" panose="020B060602020203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6429" name="Line 45"/>
            <p:cNvSpPr>
              <a:spLocks noChangeShapeType="1"/>
            </p:cNvSpPr>
            <p:nvPr/>
          </p:nvSpPr>
          <p:spPr bwMode="auto">
            <a:xfrm flipV="1">
              <a:off x="8686800" y="4038600"/>
              <a:ext cx="0" cy="914400"/>
            </a:xfrm>
            <a:prstGeom prst="line">
              <a:avLst/>
            </a:prstGeom>
            <a:noFill/>
            <a:ln w="19050">
              <a:solidFill>
                <a:srgbClr val="000099"/>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 name="内容占位符 2"/>
          <p:cNvSpPr>
            <a:spLocks noGrp="1"/>
          </p:cNvSpPr>
          <p:nvPr>
            <p:ph idx="1"/>
          </p:nvPr>
        </p:nvSpPr>
        <p:spPr>
          <a:xfrm>
            <a:off x="614120" y="449261"/>
            <a:ext cx="7886700" cy="4122736"/>
          </a:xfrm>
        </p:spPr>
        <p:txBody>
          <a:bodyPr>
            <a:normAutofit fontScale="92500" lnSpcReduction="20000"/>
          </a:bodyPr>
          <a:lstStyle/>
          <a:p>
            <a:pPr>
              <a:lnSpc>
                <a:spcPct val="110000"/>
              </a:lnSpc>
            </a:pPr>
            <a:r>
              <a:rPr lang="zh-CN" altLang="en-US" dirty="0"/>
              <a:t>性质</a:t>
            </a:r>
            <a:r>
              <a:rPr lang="en-US" altLang="zh-CN" dirty="0"/>
              <a:t>4  </a:t>
            </a:r>
            <a:r>
              <a:rPr lang="zh-CN" altLang="en-US" dirty="0"/>
              <a:t>具有 </a:t>
            </a:r>
            <a:r>
              <a:rPr lang="en-US" altLang="zh-CN" dirty="0"/>
              <a:t>n (n≥0) </a:t>
            </a:r>
            <a:r>
              <a:rPr lang="zh-CN" altLang="en-US" dirty="0"/>
              <a:t>个结点的完全二叉树的高度为： </a:t>
            </a:r>
            <a:r>
              <a:rPr lang="zh-CN" altLang="en-US" dirty="0">
                <a:sym typeface="Symbol" panose="05050102010706020507" pitchFamily="18" charset="2"/>
              </a:rPr>
              <a:t></a:t>
            </a:r>
            <a:r>
              <a:rPr lang="en-US" altLang="zh-CN" dirty="0"/>
              <a:t>log</a:t>
            </a:r>
            <a:r>
              <a:rPr lang="en-US" altLang="zh-CN" baseline="-25000" dirty="0"/>
              <a:t>2</a:t>
            </a:r>
            <a:r>
              <a:rPr lang="en-US" altLang="zh-CN" dirty="0"/>
              <a:t>(n+1)</a:t>
            </a:r>
            <a:r>
              <a:rPr lang="en-US" altLang="zh-CN" dirty="0">
                <a:solidFill>
                  <a:srgbClr val="FF3300"/>
                </a:solidFill>
                <a:effectLst>
                  <a:outerShdw blurRad="38100" dist="38100" dir="2700000" algn="tl">
                    <a:srgbClr val="C0C0C0"/>
                  </a:outerShdw>
                </a:effectLst>
                <a:ea typeface="仿宋_GB2312" panose="02010609030101010101" pitchFamily="49" charset="-122"/>
                <a:sym typeface="Symbol" panose="05050102010706020507" pitchFamily="18" charset="2"/>
              </a:rPr>
              <a:t> </a:t>
            </a:r>
            <a:r>
              <a:rPr lang="en-US" altLang="zh-CN" dirty="0">
                <a:sym typeface="Symbol" panose="05050102010706020507" pitchFamily="18" charset="2"/>
              </a:rPr>
              <a:t></a:t>
            </a:r>
            <a:r>
              <a:rPr lang="en-US" altLang="zh-CN" dirty="0"/>
              <a:t>      </a:t>
            </a:r>
            <a:endParaRPr lang="en-US" altLang="zh-CN" dirty="0"/>
          </a:p>
          <a:p>
            <a:pPr lvl="1"/>
            <a:r>
              <a:rPr lang="zh-CN" altLang="en-US" dirty="0"/>
              <a:t>证明：设完全二叉树的高度为 </a:t>
            </a:r>
            <a:r>
              <a:rPr lang="en-US" altLang="zh-CN" dirty="0"/>
              <a:t>k</a:t>
            </a:r>
            <a:r>
              <a:rPr lang="zh-CN" altLang="en-US" dirty="0"/>
              <a:t>，则有</a:t>
            </a:r>
            <a:endParaRPr lang="zh-CN" altLang="en-US" dirty="0"/>
          </a:p>
          <a:p>
            <a:pPr marL="342900" lvl="1" indent="0">
              <a:buNone/>
            </a:pPr>
            <a:r>
              <a:rPr lang="zh-CN" altLang="en-US" dirty="0"/>
              <a:t>             </a:t>
            </a:r>
            <a:r>
              <a:rPr lang="en-US" altLang="zh-CN" dirty="0"/>
              <a:t>2</a:t>
            </a:r>
            <a:r>
              <a:rPr lang="en-US" altLang="zh-CN" baseline="30000" dirty="0"/>
              <a:t>k-1</a:t>
            </a:r>
            <a:r>
              <a:rPr lang="en-US" altLang="zh-CN" dirty="0"/>
              <a:t> - 1 &lt; n ≤ 2</a:t>
            </a:r>
            <a:r>
              <a:rPr lang="en-US" altLang="zh-CN" baseline="30000" dirty="0"/>
              <a:t>k</a:t>
            </a:r>
            <a:r>
              <a:rPr lang="en-US" altLang="zh-CN" dirty="0"/>
              <a:t> - 1</a:t>
            </a:r>
            <a:endParaRPr lang="en-US" altLang="zh-CN" dirty="0"/>
          </a:p>
          <a:p>
            <a:pPr marL="0" indent="0">
              <a:buNone/>
            </a:pPr>
            <a:endParaRPr lang="en-US" altLang="zh-CN" dirty="0"/>
          </a:p>
          <a:p>
            <a:pPr lvl="1"/>
            <a:endParaRPr lang="en-US" altLang="zh-CN" dirty="0"/>
          </a:p>
          <a:p>
            <a:pPr marL="342900" lvl="1" indent="0">
              <a:buNone/>
            </a:pPr>
            <a:r>
              <a:rPr lang="zh-CN" altLang="en-US" dirty="0"/>
              <a:t>  变形      </a:t>
            </a:r>
            <a:r>
              <a:rPr lang="en-US" altLang="zh-CN" dirty="0"/>
              <a:t>2</a:t>
            </a:r>
            <a:r>
              <a:rPr lang="en-US" altLang="zh-CN" baseline="30000" dirty="0"/>
              <a:t>k-1</a:t>
            </a:r>
            <a:r>
              <a:rPr lang="en-US" altLang="zh-CN" dirty="0"/>
              <a:t> &lt; n+1 ≤ 2</a:t>
            </a:r>
            <a:r>
              <a:rPr lang="en-US" altLang="zh-CN" baseline="30000" dirty="0"/>
              <a:t>k</a:t>
            </a:r>
            <a:r>
              <a:rPr lang="en-US" altLang="zh-CN" dirty="0"/>
              <a:t>  </a:t>
            </a:r>
            <a:endParaRPr lang="en-US" altLang="zh-CN" dirty="0"/>
          </a:p>
          <a:p>
            <a:pPr marL="342900" lvl="1" indent="0">
              <a:buNone/>
            </a:pPr>
            <a:r>
              <a:rPr lang="zh-CN" altLang="en-US" dirty="0"/>
              <a:t>  取对数   </a:t>
            </a:r>
            <a:r>
              <a:rPr lang="en-US" altLang="zh-CN" dirty="0"/>
              <a:t>k-1 &lt; log</a:t>
            </a:r>
            <a:r>
              <a:rPr lang="en-US" altLang="zh-CN" baseline="-25000" dirty="0"/>
              <a:t>2</a:t>
            </a:r>
            <a:r>
              <a:rPr lang="en-US" altLang="zh-CN" dirty="0"/>
              <a:t>(n+1) ≤ k </a:t>
            </a:r>
            <a:endParaRPr lang="en-US" altLang="zh-CN" dirty="0"/>
          </a:p>
          <a:p>
            <a:pPr marL="342900" lvl="1" indent="0">
              <a:buNone/>
            </a:pPr>
            <a:r>
              <a:rPr lang="zh-CN" altLang="en-US" dirty="0"/>
              <a:t>  有   </a:t>
            </a:r>
            <a:r>
              <a:rPr lang="zh-CN" altLang="en-US" dirty="0">
                <a:sym typeface="Symbol" panose="05050102010706020507" pitchFamily="18" charset="2"/>
              </a:rPr>
              <a:t> </a:t>
            </a:r>
            <a:r>
              <a:rPr lang="en-US" altLang="zh-CN" dirty="0"/>
              <a:t>log</a:t>
            </a:r>
            <a:r>
              <a:rPr lang="en-US" altLang="zh-CN" baseline="-25000" dirty="0"/>
              <a:t>2</a:t>
            </a:r>
            <a:r>
              <a:rPr lang="en-US" altLang="zh-CN" dirty="0"/>
              <a:t>(n+1)</a:t>
            </a:r>
            <a:r>
              <a:rPr lang="en-US" altLang="zh-CN" dirty="0">
                <a:sym typeface="Symbol" panose="05050102010706020507" pitchFamily="18" charset="2"/>
              </a:rPr>
              <a:t> </a:t>
            </a:r>
            <a:r>
              <a:rPr lang="en-US" altLang="zh-CN" dirty="0"/>
              <a:t>  = k</a:t>
            </a:r>
            <a:endParaRPr lang="en-US" altLang="zh-CN" dirty="0"/>
          </a:p>
          <a:p>
            <a:endParaRPr lang="zh-CN" altLang="en-US" dirty="0"/>
          </a:p>
        </p:txBody>
      </p:sp>
      <p:sp>
        <p:nvSpPr>
          <p:cNvPr id="16396" name="AutoShape 12"/>
          <p:cNvSpPr/>
          <p:nvPr/>
        </p:nvSpPr>
        <p:spPr bwMode="auto">
          <a:xfrm rot="-5400000">
            <a:off x="2879755" y="1908489"/>
            <a:ext cx="152400" cy="1088389"/>
          </a:xfrm>
          <a:prstGeom prst="leftBrace">
            <a:avLst>
              <a:gd name="adj1" fmla="val 54167"/>
              <a:gd name="adj2" fmla="val 50000"/>
            </a:avLst>
          </a:prstGeom>
          <a:noFill/>
          <a:ln w="38100">
            <a:solidFill>
              <a:srgbClr val="FF5050"/>
            </a:solidFill>
            <a:round/>
          </a:ln>
          <a:extLst>
            <a:ext uri="{909E8E84-426E-40DD-AFC4-6F175D3DCCD1}">
              <a14:hiddenFill xmlns:a14="http://schemas.microsoft.com/office/drawing/2010/main">
                <a:solidFill>
                  <a:srgbClr val="FFFFFF"/>
                </a:solidFill>
              </a14:hiddenFill>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397" name="Text Box 13"/>
          <p:cNvSpPr txBox="1">
            <a:spLocks noChangeArrowheads="1"/>
          </p:cNvSpPr>
          <p:nvPr/>
        </p:nvSpPr>
        <p:spPr bwMode="auto">
          <a:xfrm>
            <a:off x="1159158" y="2528884"/>
            <a:ext cx="28019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u="sng" dirty="0">
                <a:solidFill>
                  <a:srgbClr val="FF5050"/>
                </a:solidFill>
                <a:latin typeface="Times New Roman" panose="02020603050405020304" pitchFamily="18" charset="0"/>
                <a:ea typeface="仿宋_GB2312" panose="02010609030101010101" pitchFamily="49" charset="-122"/>
              </a:rPr>
              <a:t>上面</a:t>
            </a:r>
            <a:r>
              <a:rPr kumimoji="1" lang="en-US" altLang="zh-CN" sz="2800" b="1" i="1" u="sng" dirty="0">
                <a:solidFill>
                  <a:srgbClr val="FF5050"/>
                </a:solidFill>
                <a:latin typeface="Times New Roman" panose="02020603050405020304" pitchFamily="18" charset="0"/>
                <a:ea typeface="仿宋_GB2312" panose="02010609030101010101" pitchFamily="49" charset="-122"/>
              </a:rPr>
              <a:t>k-1</a:t>
            </a:r>
            <a:r>
              <a:rPr kumimoji="1" lang="zh-CN" altLang="en-US" sz="2800" b="1" u="sng" dirty="0">
                <a:solidFill>
                  <a:srgbClr val="FF5050"/>
                </a:solidFill>
                <a:latin typeface="Times New Roman" panose="02020603050405020304" pitchFamily="18" charset="0"/>
                <a:ea typeface="仿宋_GB2312" panose="02010609030101010101" pitchFamily="49" charset="-122"/>
              </a:rPr>
              <a:t>层</a:t>
            </a:r>
            <a:r>
              <a:rPr kumimoji="1" lang="zh-CN" altLang="en-US" sz="2800" b="1" u="sng" dirty="0">
                <a:solidFill>
                  <a:srgbClr val="000099"/>
                </a:solidFill>
                <a:latin typeface="Times New Roman" panose="02020603050405020304" pitchFamily="18" charset="0"/>
                <a:ea typeface="仿宋_GB2312" panose="02010609030101010101" pitchFamily="49" charset="-122"/>
              </a:rPr>
              <a:t>结点数</a:t>
            </a:r>
            <a:endParaRPr kumimoji="1" lang="zh-CN" altLang="en-US" sz="2400" dirty="0">
              <a:latin typeface="Times New Roman" panose="02020603050405020304" pitchFamily="18" charset="0"/>
              <a:ea typeface="宋体" panose="02010600030101010101" pitchFamily="2" charset="-122"/>
            </a:endParaRPr>
          </a:p>
        </p:txBody>
      </p:sp>
      <p:sp>
        <p:nvSpPr>
          <p:cNvPr id="16398" name="Text Box 14"/>
          <p:cNvSpPr txBox="1">
            <a:spLocks noChangeArrowheads="1"/>
          </p:cNvSpPr>
          <p:nvPr/>
        </p:nvSpPr>
        <p:spPr bwMode="auto">
          <a:xfrm>
            <a:off x="4506132" y="2541268"/>
            <a:ext cx="3933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u="sng" dirty="0">
                <a:solidFill>
                  <a:srgbClr val="000099"/>
                </a:solidFill>
                <a:latin typeface="Times New Roman" panose="02020603050405020304" pitchFamily="18" charset="0"/>
                <a:ea typeface="仿宋_GB2312" panose="02010609030101010101" pitchFamily="49" charset="-122"/>
              </a:rPr>
              <a:t>包括</a:t>
            </a:r>
            <a:r>
              <a:rPr kumimoji="1" lang="zh-CN" altLang="en-US" sz="2800" b="1" u="sng" dirty="0">
                <a:solidFill>
                  <a:srgbClr val="FF5050"/>
                </a:solidFill>
                <a:latin typeface="Times New Roman" panose="02020603050405020304" pitchFamily="18" charset="0"/>
                <a:ea typeface="仿宋_GB2312" panose="02010609030101010101" pitchFamily="49" charset="-122"/>
              </a:rPr>
              <a:t>第</a:t>
            </a:r>
            <a:r>
              <a:rPr kumimoji="1" lang="en-US" altLang="zh-CN" sz="2800" b="1" i="1" u="sng" dirty="0">
                <a:solidFill>
                  <a:srgbClr val="FF5050"/>
                </a:solidFill>
                <a:latin typeface="Times New Roman" panose="02020603050405020304" pitchFamily="18" charset="0"/>
                <a:ea typeface="仿宋_GB2312" panose="02010609030101010101" pitchFamily="49" charset="-122"/>
              </a:rPr>
              <a:t>k</a:t>
            </a:r>
            <a:r>
              <a:rPr kumimoji="1" lang="zh-CN" altLang="en-US" sz="2800" b="1" u="sng" dirty="0">
                <a:solidFill>
                  <a:srgbClr val="FF5050"/>
                </a:solidFill>
                <a:latin typeface="Times New Roman" panose="02020603050405020304" pitchFamily="18" charset="0"/>
                <a:ea typeface="仿宋_GB2312" panose="02010609030101010101" pitchFamily="49" charset="-122"/>
              </a:rPr>
              <a:t>层</a:t>
            </a:r>
            <a:r>
              <a:rPr kumimoji="1" lang="zh-CN" altLang="en-US" sz="2800" b="1" u="sng" dirty="0">
                <a:solidFill>
                  <a:srgbClr val="000099"/>
                </a:solidFill>
                <a:latin typeface="Times New Roman" panose="02020603050405020304" pitchFamily="18" charset="0"/>
                <a:ea typeface="仿宋_GB2312" panose="02010609030101010101" pitchFamily="49" charset="-122"/>
              </a:rPr>
              <a:t>的最大结点数</a:t>
            </a:r>
            <a:endParaRPr kumimoji="1" lang="zh-CN" altLang="en-US" sz="2400" dirty="0">
              <a:latin typeface="Times New Roman" panose="02020603050405020304" pitchFamily="18" charset="0"/>
              <a:ea typeface="宋体" panose="02010600030101010101" pitchFamily="2" charset="-122"/>
            </a:endParaRPr>
          </a:p>
        </p:txBody>
      </p:sp>
      <p:sp>
        <p:nvSpPr>
          <p:cNvPr id="16399" name="AutoShape 15"/>
          <p:cNvSpPr/>
          <p:nvPr/>
        </p:nvSpPr>
        <p:spPr bwMode="auto">
          <a:xfrm rot="-5400000">
            <a:off x="5210042" y="1914866"/>
            <a:ext cx="152402" cy="1009915"/>
          </a:xfrm>
          <a:prstGeom prst="leftBrace">
            <a:avLst>
              <a:gd name="adj1" fmla="val 66667"/>
              <a:gd name="adj2" fmla="val 50000"/>
            </a:avLst>
          </a:prstGeom>
          <a:noFill/>
          <a:ln w="38100">
            <a:solidFill>
              <a:srgbClr val="FF5050"/>
            </a:solidFill>
            <a:round/>
          </a:ln>
          <a:extLst>
            <a:ext uri="{909E8E84-426E-40DD-AFC4-6F175D3DCCD1}">
              <a14:hiddenFill xmlns:a14="http://schemas.microsoft.com/office/drawing/2010/main">
                <a:solidFill>
                  <a:srgbClr val="FFFFFF"/>
                </a:solidFill>
              </a14:hiddenFill>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572000" y="4227512"/>
            <a:ext cx="3352800" cy="2271713"/>
            <a:chOff x="4953000" y="3962400"/>
            <a:chExt cx="3352800" cy="2271713"/>
          </a:xfrm>
        </p:grpSpPr>
        <p:sp>
          <p:nvSpPr>
            <p:cNvPr id="17411" name="Line 3"/>
            <p:cNvSpPr>
              <a:spLocks noChangeShapeType="1"/>
            </p:cNvSpPr>
            <p:nvPr/>
          </p:nvSpPr>
          <p:spPr bwMode="auto">
            <a:xfrm>
              <a:off x="7772400" y="4876800"/>
              <a:ext cx="3048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2" name="Line 4"/>
            <p:cNvSpPr>
              <a:spLocks noChangeShapeType="1"/>
            </p:cNvSpPr>
            <p:nvPr/>
          </p:nvSpPr>
          <p:spPr bwMode="auto">
            <a:xfrm flipH="1">
              <a:off x="7315200" y="4800600"/>
              <a:ext cx="381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3" name="Line 5"/>
            <p:cNvSpPr>
              <a:spLocks noChangeShapeType="1"/>
            </p:cNvSpPr>
            <p:nvPr/>
          </p:nvSpPr>
          <p:spPr bwMode="auto">
            <a:xfrm>
              <a:off x="5943600" y="4800600"/>
              <a:ext cx="3048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4" name="Line 6"/>
            <p:cNvSpPr>
              <a:spLocks noChangeShapeType="1"/>
            </p:cNvSpPr>
            <p:nvPr/>
          </p:nvSpPr>
          <p:spPr bwMode="auto">
            <a:xfrm flipH="1">
              <a:off x="5410200" y="4876800"/>
              <a:ext cx="381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5" name="Line 7"/>
            <p:cNvSpPr>
              <a:spLocks noChangeShapeType="1"/>
            </p:cNvSpPr>
            <p:nvPr/>
          </p:nvSpPr>
          <p:spPr bwMode="auto">
            <a:xfrm>
              <a:off x="6934200" y="4267200"/>
              <a:ext cx="762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6" name="Line 8"/>
            <p:cNvSpPr>
              <a:spLocks noChangeShapeType="1"/>
            </p:cNvSpPr>
            <p:nvPr/>
          </p:nvSpPr>
          <p:spPr bwMode="auto">
            <a:xfrm flipH="1">
              <a:off x="5943600" y="4267200"/>
              <a:ext cx="762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7" name="Oval 9"/>
            <p:cNvSpPr>
              <a:spLocks noChangeArrowheads="1"/>
            </p:cNvSpPr>
            <p:nvPr/>
          </p:nvSpPr>
          <p:spPr bwMode="auto">
            <a:xfrm>
              <a:off x="6629400" y="4038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18" name="Line 10"/>
            <p:cNvSpPr>
              <a:spLocks noChangeShapeType="1"/>
            </p:cNvSpPr>
            <p:nvPr/>
          </p:nvSpPr>
          <p:spPr bwMode="auto">
            <a:xfrm flipH="1">
              <a:off x="6019800" y="5410200"/>
              <a:ext cx="2286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9" name="Line 11"/>
            <p:cNvSpPr>
              <a:spLocks noChangeShapeType="1"/>
            </p:cNvSpPr>
            <p:nvPr/>
          </p:nvSpPr>
          <p:spPr bwMode="auto">
            <a:xfrm>
              <a:off x="5486400" y="54864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0" name="Line 12"/>
            <p:cNvSpPr>
              <a:spLocks noChangeShapeType="1"/>
            </p:cNvSpPr>
            <p:nvPr/>
          </p:nvSpPr>
          <p:spPr bwMode="auto">
            <a:xfrm flipH="1">
              <a:off x="5148263" y="5410200"/>
              <a:ext cx="261937"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1" name="Oval 13"/>
            <p:cNvSpPr>
              <a:spLocks noChangeArrowheads="1"/>
            </p:cNvSpPr>
            <p:nvPr/>
          </p:nvSpPr>
          <p:spPr bwMode="auto">
            <a:xfrm>
              <a:off x="4953000" y="57912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2" name="Oval 14"/>
            <p:cNvSpPr>
              <a:spLocks noChangeArrowheads="1"/>
            </p:cNvSpPr>
            <p:nvPr/>
          </p:nvSpPr>
          <p:spPr bwMode="auto">
            <a:xfrm>
              <a:off x="5410200" y="57912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3" name="Oval 15"/>
            <p:cNvSpPr>
              <a:spLocks noChangeArrowheads="1"/>
            </p:cNvSpPr>
            <p:nvPr/>
          </p:nvSpPr>
          <p:spPr bwMode="auto">
            <a:xfrm>
              <a:off x="5867400" y="57912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4" name="Oval 16"/>
            <p:cNvSpPr>
              <a:spLocks noChangeArrowheads="1"/>
            </p:cNvSpPr>
            <p:nvPr/>
          </p:nvSpPr>
          <p:spPr bwMode="auto">
            <a:xfrm>
              <a:off x="5257800" y="5181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5" name="Oval 17"/>
            <p:cNvSpPr>
              <a:spLocks noChangeArrowheads="1"/>
            </p:cNvSpPr>
            <p:nvPr/>
          </p:nvSpPr>
          <p:spPr bwMode="auto">
            <a:xfrm>
              <a:off x="6096000" y="5181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6" name="Oval 18"/>
            <p:cNvSpPr>
              <a:spLocks noChangeArrowheads="1"/>
            </p:cNvSpPr>
            <p:nvPr/>
          </p:nvSpPr>
          <p:spPr bwMode="auto">
            <a:xfrm>
              <a:off x="7086600" y="5181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7" name="Oval 19"/>
            <p:cNvSpPr>
              <a:spLocks noChangeArrowheads="1"/>
            </p:cNvSpPr>
            <p:nvPr/>
          </p:nvSpPr>
          <p:spPr bwMode="auto">
            <a:xfrm>
              <a:off x="7924800" y="5181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8" name="Oval 20"/>
            <p:cNvSpPr>
              <a:spLocks noChangeArrowheads="1"/>
            </p:cNvSpPr>
            <p:nvPr/>
          </p:nvSpPr>
          <p:spPr bwMode="auto">
            <a:xfrm>
              <a:off x="5715000" y="4572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9" name="Oval 21"/>
            <p:cNvSpPr>
              <a:spLocks noChangeArrowheads="1"/>
            </p:cNvSpPr>
            <p:nvPr/>
          </p:nvSpPr>
          <p:spPr bwMode="auto">
            <a:xfrm>
              <a:off x="7543800" y="4572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30" name="Text Box 22"/>
            <p:cNvSpPr txBox="1">
              <a:spLocks noChangeArrowheads="1"/>
            </p:cNvSpPr>
            <p:nvPr/>
          </p:nvSpPr>
          <p:spPr bwMode="auto">
            <a:xfrm>
              <a:off x="6629400" y="3962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7431" name="Text Box 23"/>
            <p:cNvSpPr txBox="1">
              <a:spLocks noChangeArrowheads="1"/>
            </p:cNvSpPr>
            <p:nvPr/>
          </p:nvSpPr>
          <p:spPr bwMode="auto">
            <a:xfrm>
              <a:off x="5715000" y="4495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7432" name="Text Box 24"/>
            <p:cNvSpPr txBox="1">
              <a:spLocks noChangeArrowheads="1"/>
            </p:cNvSpPr>
            <p:nvPr/>
          </p:nvSpPr>
          <p:spPr bwMode="auto">
            <a:xfrm>
              <a:off x="7543800" y="4495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17433" name="Text Box 25"/>
            <p:cNvSpPr txBox="1">
              <a:spLocks noChangeArrowheads="1"/>
            </p:cNvSpPr>
            <p:nvPr/>
          </p:nvSpPr>
          <p:spPr bwMode="auto">
            <a:xfrm>
              <a:off x="5257800" y="5105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7434" name="Text Box 26"/>
            <p:cNvSpPr txBox="1">
              <a:spLocks noChangeArrowheads="1"/>
            </p:cNvSpPr>
            <p:nvPr/>
          </p:nvSpPr>
          <p:spPr bwMode="auto">
            <a:xfrm>
              <a:off x="4953000" y="5715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17435" name="Text Box 27"/>
            <p:cNvSpPr txBox="1">
              <a:spLocks noChangeArrowheads="1"/>
            </p:cNvSpPr>
            <p:nvPr/>
          </p:nvSpPr>
          <p:spPr bwMode="auto">
            <a:xfrm>
              <a:off x="6096000" y="5105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7436" name="Text Box 28"/>
            <p:cNvSpPr txBox="1">
              <a:spLocks noChangeArrowheads="1"/>
            </p:cNvSpPr>
            <p:nvPr/>
          </p:nvSpPr>
          <p:spPr bwMode="auto">
            <a:xfrm>
              <a:off x="7086600" y="5105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7437" name="Text Box 29"/>
            <p:cNvSpPr txBox="1">
              <a:spLocks noChangeArrowheads="1"/>
            </p:cNvSpPr>
            <p:nvPr/>
          </p:nvSpPr>
          <p:spPr bwMode="auto">
            <a:xfrm>
              <a:off x="7924800" y="5105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7438" name="Text Box 30"/>
            <p:cNvSpPr txBox="1">
              <a:spLocks noChangeArrowheads="1"/>
            </p:cNvSpPr>
            <p:nvPr/>
          </p:nvSpPr>
          <p:spPr bwMode="auto">
            <a:xfrm>
              <a:off x="5410200" y="5715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17439" name="Text Box 31"/>
            <p:cNvSpPr txBox="1">
              <a:spLocks noChangeArrowheads="1"/>
            </p:cNvSpPr>
            <p:nvPr/>
          </p:nvSpPr>
          <p:spPr bwMode="auto">
            <a:xfrm>
              <a:off x="5778500" y="5715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grpSp>
      <p:sp>
        <p:nvSpPr>
          <p:cNvPr id="3" name="内容占位符 2"/>
          <p:cNvSpPr>
            <a:spLocks noGrp="1"/>
          </p:cNvSpPr>
          <p:nvPr>
            <p:ph idx="1"/>
          </p:nvPr>
        </p:nvSpPr>
        <p:spPr>
          <a:xfrm>
            <a:off x="628650" y="358775"/>
            <a:ext cx="7886700" cy="4351338"/>
          </a:xfrm>
        </p:spPr>
        <p:txBody>
          <a:bodyPr>
            <a:normAutofit fontScale="70000" lnSpcReduction="20000"/>
          </a:bodyPr>
          <a:lstStyle/>
          <a:p>
            <a:r>
              <a:rPr lang="zh-CN" altLang="en-US" dirty="0"/>
              <a:t>性质</a:t>
            </a:r>
            <a:r>
              <a:rPr lang="en-US" altLang="zh-CN" dirty="0"/>
              <a:t>5</a:t>
            </a:r>
            <a:r>
              <a:rPr lang="zh-CN" altLang="en-US" dirty="0"/>
              <a:t>：如将一棵有</a:t>
            </a:r>
            <a:r>
              <a:rPr lang="en-US" altLang="zh-CN" dirty="0"/>
              <a:t>n</a:t>
            </a:r>
            <a:r>
              <a:rPr lang="zh-CN" altLang="en-US" dirty="0"/>
              <a:t>个结点的完全二叉树自顶向下，同一层自左向右连续给结点编号</a:t>
            </a:r>
            <a:r>
              <a:rPr lang="en-US" altLang="zh-CN" dirty="0"/>
              <a:t>1, 2, …, n</a:t>
            </a:r>
            <a:r>
              <a:rPr lang="zh-CN" altLang="en-US" dirty="0"/>
              <a:t>，则有以下关系： </a:t>
            </a:r>
            <a:endParaRPr lang="zh-CN" altLang="en-US" dirty="0"/>
          </a:p>
          <a:p>
            <a:pPr lvl="1"/>
            <a:r>
              <a:rPr lang="zh-CN" altLang="en-US" dirty="0"/>
              <a:t>若</a:t>
            </a:r>
            <a:r>
              <a:rPr lang="en-US" altLang="zh-CN" dirty="0" err="1"/>
              <a:t>i</a:t>
            </a:r>
            <a:r>
              <a:rPr lang="en-US" altLang="zh-CN" dirty="0"/>
              <a:t> == 1, </a:t>
            </a:r>
            <a:r>
              <a:rPr lang="zh-CN" altLang="en-US" dirty="0"/>
              <a:t>则 </a:t>
            </a:r>
            <a:r>
              <a:rPr lang="en-US" altLang="zh-CN" dirty="0" err="1"/>
              <a:t>i</a:t>
            </a:r>
            <a:r>
              <a:rPr lang="zh-CN" altLang="en-US" dirty="0"/>
              <a:t>为根结点，无双亲</a:t>
            </a:r>
            <a:endParaRPr lang="zh-CN" altLang="en-US" dirty="0"/>
          </a:p>
          <a:p>
            <a:pPr marL="342900" lvl="1" indent="0">
              <a:buNone/>
            </a:pPr>
            <a:r>
              <a:rPr lang="zh-CN" altLang="en-US" dirty="0"/>
              <a:t>  若</a:t>
            </a:r>
            <a:r>
              <a:rPr lang="en-US" altLang="zh-CN" dirty="0" err="1"/>
              <a:t>i</a:t>
            </a:r>
            <a:r>
              <a:rPr lang="en-US" altLang="zh-CN" dirty="0"/>
              <a:t> &gt; 1, </a:t>
            </a:r>
            <a:r>
              <a:rPr lang="zh-CN" altLang="en-US" dirty="0"/>
              <a:t>则 </a:t>
            </a:r>
            <a:r>
              <a:rPr lang="en-US" altLang="zh-CN" dirty="0" err="1"/>
              <a:t>i</a:t>
            </a:r>
            <a:r>
              <a:rPr lang="en-US" altLang="zh-CN" dirty="0"/>
              <a:t> </a:t>
            </a:r>
            <a:r>
              <a:rPr lang="zh-CN" altLang="en-US" dirty="0"/>
              <a:t>的双亲为 </a:t>
            </a:r>
            <a:r>
              <a:rPr lang="zh-CN" altLang="en-US" dirty="0">
                <a:sym typeface="Symbol" panose="05050102010706020507" pitchFamily="18" charset="2"/>
              </a:rPr>
              <a:t></a:t>
            </a:r>
            <a:r>
              <a:rPr lang="en-US" altLang="zh-CN" dirty="0" err="1"/>
              <a:t>i</a:t>
            </a:r>
            <a:r>
              <a:rPr lang="en-US" altLang="zh-CN" dirty="0"/>
              <a:t>/2</a:t>
            </a:r>
            <a:r>
              <a:rPr lang="en-US" altLang="zh-CN" dirty="0">
                <a:sym typeface="Symbol" panose="05050102010706020507" pitchFamily="18" charset="2"/>
              </a:rPr>
              <a:t></a:t>
            </a:r>
            <a:endParaRPr lang="en-US" altLang="zh-CN" dirty="0"/>
          </a:p>
          <a:p>
            <a:pPr lvl="1"/>
            <a:r>
              <a:rPr lang="zh-CN" altLang="en-US" dirty="0"/>
              <a:t>若</a:t>
            </a:r>
            <a:r>
              <a:rPr lang="en-US" altLang="zh-CN" dirty="0"/>
              <a:t>2*</a:t>
            </a:r>
            <a:r>
              <a:rPr lang="en-US" altLang="zh-CN" dirty="0" err="1"/>
              <a:t>i</a:t>
            </a:r>
            <a:r>
              <a:rPr lang="en-US" altLang="zh-CN" dirty="0"/>
              <a:t> &lt;= n, </a:t>
            </a:r>
            <a:r>
              <a:rPr lang="zh-CN" altLang="en-US" dirty="0"/>
              <a:t>则 </a:t>
            </a:r>
            <a:r>
              <a:rPr lang="en-US" altLang="zh-CN" dirty="0" err="1"/>
              <a:t>i</a:t>
            </a:r>
            <a:r>
              <a:rPr lang="en-US" altLang="zh-CN" dirty="0"/>
              <a:t> </a:t>
            </a:r>
            <a:r>
              <a:rPr lang="zh-CN" altLang="en-US" dirty="0"/>
              <a:t>的左孩子为 </a:t>
            </a:r>
            <a:r>
              <a:rPr lang="en-US" altLang="zh-CN" dirty="0"/>
              <a:t>2*</a:t>
            </a:r>
            <a:r>
              <a:rPr lang="en-US" altLang="zh-CN" dirty="0" err="1"/>
              <a:t>i</a:t>
            </a:r>
            <a:endParaRPr lang="en-US" altLang="zh-CN" dirty="0"/>
          </a:p>
          <a:p>
            <a:pPr marL="342900" lvl="1" indent="0">
              <a:buNone/>
            </a:pPr>
            <a:r>
              <a:rPr lang="zh-CN" altLang="en-US" dirty="0"/>
              <a:t>  若</a:t>
            </a:r>
            <a:r>
              <a:rPr lang="en-US" altLang="zh-CN" dirty="0"/>
              <a:t>2*i+1 &lt;= n, </a:t>
            </a:r>
            <a:r>
              <a:rPr lang="zh-CN" altLang="en-US" dirty="0"/>
              <a:t>则 </a:t>
            </a:r>
            <a:r>
              <a:rPr lang="en-US" altLang="zh-CN" dirty="0" err="1"/>
              <a:t>i</a:t>
            </a:r>
            <a:r>
              <a:rPr lang="en-US" altLang="zh-CN" dirty="0"/>
              <a:t> </a:t>
            </a:r>
            <a:r>
              <a:rPr lang="zh-CN" altLang="en-US" dirty="0"/>
              <a:t>的右孩子为</a:t>
            </a:r>
            <a:r>
              <a:rPr lang="en-US" altLang="zh-CN" dirty="0"/>
              <a:t>2*i+1</a:t>
            </a:r>
            <a:endParaRPr lang="en-US" altLang="zh-CN" dirty="0"/>
          </a:p>
          <a:p>
            <a:pPr lvl="1"/>
            <a:r>
              <a:rPr lang="zh-CN" altLang="en-US" dirty="0"/>
              <a:t>若 </a:t>
            </a:r>
            <a:r>
              <a:rPr lang="en-US" altLang="zh-CN" dirty="0" err="1"/>
              <a:t>i</a:t>
            </a:r>
            <a:r>
              <a:rPr lang="en-US" altLang="zh-CN" dirty="0"/>
              <a:t> </a:t>
            </a:r>
            <a:r>
              <a:rPr lang="zh-CN" altLang="en-US" dirty="0"/>
              <a:t>为奇数</a:t>
            </a:r>
            <a:r>
              <a:rPr lang="en-US" altLang="zh-CN" dirty="0"/>
              <a:t>, </a:t>
            </a:r>
            <a:r>
              <a:rPr lang="zh-CN" altLang="en-US" dirty="0"/>
              <a:t>且</a:t>
            </a:r>
            <a:r>
              <a:rPr lang="en-US" altLang="zh-CN" dirty="0" err="1"/>
              <a:t>i</a:t>
            </a:r>
            <a:r>
              <a:rPr lang="en-US" altLang="zh-CN" dirty="0"/>
              <a:t> != 1, </a:t>
            </a:r>
            <a:r>
              <a:rPr lang="zh-CN" altLang="en-US" dirty="0"/>
              <a:t>则其左兄弟为</a:t>
            </a:r>
            <a:r>
              <a:rPr lang="en-US" altLang="zh-CN" dirty="0"/>
              <a:t>i-1</a:t>
            </a:r>
            <a:endParaRPr lang="en-US" altLang="zh-CN" dirty="0"/>
          </a:p>
          <a:p>
            <a:pPr marL="342900" lvl="1" indent="0">
              <a:buNone/>
            </a:pPr>
            <a:r>
              <a:rPr lang="zh-CN" altLang="en-US" dirty="0"/>
              <a:t>  若 </a:t>
            </a:r>
            <a:r>
              <a:rPr lang="en-US" altLang="zh-CN" dirty="0" err="1"/>
              <a:t>i</a:t>
            </a:r>
            <a:r>
              <a:rPr lang="en-US" altLang="zh-CN" dirty="0"/>
              <a:t> </a:t>
            </a:r>
            <a:r>
              <a:rPr lang="zh-CN" altLang="en-US" dirty="0"/>
              <a:t>为偶数</a:t>
            </a:r>
            <a:r>
              <a:rPr lang="en-US" altLang="zh-CN" dirty="0"/>
              <a:t>, </a:t>
            </a:r>
            <a:r>
              <a:rPr lang="zh-CN" altLang="en-US" dirty="0"/>
              <a:t>且</a:t>
            </a:r>
            <a:r>
              <a:rPr lang="en-US" altLang="zh-CN" dirty="0" err="1"/>
              <a:t>i</a:t>
            </a:r>
            <a:r>
              <a:rPr lang="en-US" altLang="zh-CN" dirty="0"/>
              <a:t> != n, </a:t>
            </a:r>
            <a:r>
              <a:rPr lang="zh-CN" altLang="en-US" dirty="0"/>
              <a:t>则其右兄弟为</a:t>
            </a:r>
            <a:r>
              <a:rPr lang="en-US" altLang="zh-CN" dirty="0"/>
              <a:t>i+1</a:t>
            </a:r>
            <a:endParaRPr lang="en-US" altLang="zh-CN" dirty="0"/>
          </a:p>
          <a:p>
            <a:pPr lvl="1"/>
            <a:r>
              <a:rPr lang="zh-CN" altLang="en-US" dirty="0"/>
              <a:t>结点</a:t>
            </a:r>
            <a:r>
              <a:rPr lang="en-US" altLang="zh-CN" dirty="0" err="1"/>
              <a:t>i</a:t>
            </a:r>
            <a:r>
              <a:rPr lang="zh-CN" altLang="en-US" dirty="0"/>
              <a:t>处于 </a:t>
            </a:r>
            <a:r>
              <a:rPr lang="zh-CN" altLang="en-US" dirty="0">
                <a:sym typeface="Symbol" panose="05050102010706020507" pitchFamily="18" charset="2"/>
              </a:rPr>
              <a:t>  </a:t>
            </a:r>
            <a:r>
              <a:rPr lang="en-US" altLang="zh-CN" dirty="0"/>
              <a:t>log</a:t>
            </a:r>
            <a:r>
              <a:rPr lang="en-US" altLang="zh-CN" baseline="-25000" dirty="0"/>
              <a:t>2</a:t>
            </a:r>
            <a:r>
              <a:rPr lang="en-US" altLang="zh-CN" dirty="0"/>
              <a:t>i</a:t>
            </a:r>
            <a:r>
              <a:rPr lang="en-US" altLang="zh-CN" dirty="0">
                <a:sym typeface="Symbol" panose="05050102010706020507" pitchFamily="18" charset="2"/>
              </a:rPr>
              <a:t></a:t>
            </a:r>
            <a:r>
              <a:rPr lang="en-US" altLang="zh-CN" dirty="0"/>
              <a:t> + 1 </a:t>
            </a:r>
            <a:r>
              <a:rPr lang="zh-CN" altLang="en-US" dirty="0"/>
              <a:t>层（也可说是在 </a:t>
            </a:r>
            <a:r>
              <a:rPr lang="zh-CN" altLang="en-US" dirty="0">
                <a:sym typeface="Symbol" panose="05050102010706020507" pitchFamily="18" charset="2"/>
              </a:rPr>
              <a:t></a:t>
            </a:r>
            <a:r>
              <a:rPr lang="en-US" altLang="zh-CN" dirty="0"/>
              <a:t>log</a:t>
            </a:r>
            <a:r>
              <a:rPr lang="en-US" altLang="zh-CN" baseline="-25000" dirty="0"/>
              <a:t>2</a:t>
            </a:r>
            <a:r>
              <a:rPr lang="en-US" altLang="zh-CN" dirty="0"/>
              <a:t>(i+1)</a:t>
            </a:r>
            <a:r>
              <a:rPr lang="en-US" altLang="zh-CN" dirty="0">
                <a:sym typeface="Symbol" panose="05050102010706020507" pitchFamily="18" charset="2"/>
              </a:rPr>
              <a:t></a:t>
            </a:r>
            <a:r>
              <a:rPr lang="en-US" altLang="zh-CN" dirty="0"/>
              <a:t> </a:t>
            </a:r>
            <a:r>
              <a:rPr lang="zh-CN" altLang="en-US" dirty="0"/>
              <a:t>层）</a:t>
            </a:r>
            <a:endParaRPr lang="en-US" altLang="zh-CN" dirty="0"/>
          </a:p>
          <a:p>
            <a:pPr lvl="1"/>
            <a:r>
              <a:rPr lang="zh-CN" altLang="en-US" dirty="0"/>
              <a:t>注意有些教材中</a:t>
            </a:r>
            <a:r>
              <a:rPr lang="en-US" altLang="zh-CN" dirty="0" err="1"/>
              <a:t>i</a:t>
            </a:r>
            <a:r>
              <a:rPr lang="zh-CN" altLang="en-US" dirty="0"/>
              <a:t>从</a:t>
            </a:r>
            <a:r>
              <a:rPr lang="en-US" altLang="zh-CN" dirty="0"/>
              <a:t>0</a:t>
            </a:r>
            <a:r>
              <a:rPr lang="zh-CN" altLang="en-US" dirty="0"/>
              <a:t>开始，则上述结论要做相应调整。</a:t>
            </a:r>
            <a:endParaRPr lang="zh-CN" altLang="en-US" dirty="0"/>
          </a:p>
          <a:p>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5.2.3 </a:t>
            </a:r>
            <a:r>
              <a:rPr lang="zh-CN" altLang="en-US" dirty="0"/>
              <a:t>二叉树的抽象数据类型</a:t>
            </a:r>
            <a:endParaRPr lang="zh-CN" altLang="en-US" dirty="0"/>
          </a:p>
        </p:txBody>
      </p:sp>
      <p:sp>
        <p:nvSpPr>
          <p:cNvPr id="3" name="内容占位符 2"/>
          <p:cNvSpPr>
            <a:spLocks noGrp="1"/>
          </p:cNvSpPr>
          <p:nvPr>
            <p:ph idx="1"/>
          </p:nvPr>
        </p:nvSpPr>
        <p:spPr>
          <a:xfrm>
            <a:off x="251520" y="1340768"/>
            <a:ext cx="8712968" cy="5400600"/>
          </a:xfrm>
        </p:spPr>
        <p:txBody>
          <a:bodyPr>
            <a:normAutofit fontScale="47500" lnSpcReduction="20000"/>
          </a:bodyPr>
          <a:lstStyle/>
          <a:p>
            <a:pPr marL="0" indent="0">
              <a:buNone/>
            </a:pPr>
            <a:r>
              <a:rPr lang="en-US" altLang="zh-CN" dirty="0"/>
              <a:t>template &lt;class T&gt; class </a:t>
            </a:r>
            <a:r>
              <a:rPr lang="en-US" altLang="zh-CN" dirty="0" err="1"/>
              <a:t>BinaryTree</a:t>
            </a:r>
            <a:r>
              <a:rPr lang="en-US" altLang="zh-CN" dirty="0"/>
              <a:t> {</a:t>
            </a:r>
            <a:endParaRPr lang="en-US" altLang="zh-CN" dirty="0"/>
          </a:p>
          <a:p>
            <a:pPr marL="0" indent="0">
              <a:buNone/>
            </a:pPr>
            <a:r>
              <a:rPr lang="en-US" altLang="zh-CN" dirty="0"/>
              <a:t>public:</a:t>
            </a:r>
            <a:endParaRPr lang="en-US" altLang="zh-CN" dirty="0"/>
          </a:p>
          <a:p>
            <a:pPr marL="0" indent="0">
              <a:buNone/>
            </a:pPr>
            <a:r>
              <a:rPr lang="en-US" altLang="zh-CN" dirty="0"/>
              <a:t>    </a:t>
            </a:r>
            <a:r>
              <a:rPr lang="en-US" altLang="zh-CN" dirty="0" err="1"/>
              <a:t>BinaryTree</a:t>
            </a:r>
            <a:r>
              <a:rPr lang="en-US" altLang="zh-CN" dirty="0"/>
              <a:t> ( );	       //</a:t>
            </a:r>
            <a:r>
              <a:rPr lang="zh-CN" altLang="en-US" dirty="0"/>
              <a:t>构造函数	</a:t>
            </a:r>
            <a:endParaRPr lang="zh-CN" altLang="en-US" dirty="0"/>
          </a:p>
          <a:p>
            <a:pPr marL="0" indent="0">
              <a:buNone/>
            </a:pPr>
            <a:r>
              <a:rPr lang="en-US" altLang="zh-CN" dirty="0"/>
              <a:t>    int Height ( );	       //</a:t>
            </a:r>
            <a:r>
              <a:rPr lang="zh-CN" altLang="en-US" dirty="0"/>
              <a:t>返回树的深度或者高度</a:t>
            </a:r>
            <a:endParaRPr lang="zh-CN" altLang="en-US" dirty="0"/>
          </a:p>
          <a:p>
            <a:pPr marL="0" indent="0">
              <a:buNone/>
            </a:pPr>
            <a:r>
              <a:rPr lang="zh-CN" altLang="en-US" dirty="0"/>
              <a:t>    </a:t>
            </a:r>
            <a:r>
              <a:rPr lang="en-US" altLang="zh-CN" dirty="0"/>
              <a:t>int Size ( );	                  //</a:t>
            </a:r>
            <a:r>
              <a:rPr lang="zh-CN" altLang="en-US" dirty="0"/>
              <a:t>返回树中结点个数</a:t>
            </a:r>
            <a:endParaRPr lang="zh-CN" altLang="en-US" dirty="0"/>
          </a:p>
          <a:p>
            <a:pPr marL="0" indent="0">
              <a:buNone/>
            </a:pPr>
            <a:r>
              <a:rPr lang="zh-CN" altLang="en-US" dirty="0"/>
              <a:t>    </a:t>
            </a:r>
            <a:r>
              <a:rPr lang="en-US" altLang="zh-CN" dirty="0"/>
              <a:t>bool </a:t>
            </a:r>
            <a:r>
              <a:rPr lang="en-US" altLang="zh-CN" dirty="0" err="1"/>
              <a:t>IsEmpty</a:t>
            </a:r>
            <a:r>
              <a:rPr lang="en-US" altLang="zh-CN" dirty="0"/>
              <a:t> ( );	       //</a:t>
            </a:r>
            <a:r>
              <a:rPr lang="zh-CN" altLang="en-US" dirty="0"/>
              <a:t>判二叉树空否？</a:t>
            </a:r>
            <a:endParaRPr lang="zh-CN" altLang="en-US" dirty="0"/>
          </a:p>
          <a:p>
            <a:pPr marL="0" indent="0">
              <a:buNone/>
            </a:pPr>
            <a:r>
              <a:rPr lang="zh-CN" altLang="en-US" dirty="0"/>
              <a:t>    </a:t>
            </a:r>
            <a:r>
              <a:rPr lang="en-US" altLang="zh-CN" dirty="0" err="1"/>
              <a:t>BinTreeNode</a:t>
            </a:r>
            <a:r>
              <a:rPr lang="en-US" altLang="zh-CN" dirty="0"/>
              <a:t>&lt;T&gt; * Parent (</a:t>
            </a:r>
            <a:r>
              <a:rPr lang="en-US" altLang="zh-CN" dirty="0" err="1"/>
              <a:t>BinTreeNode</a:t>
            </a:r>
            <a:r>
              <a:rPr lang="en-US" altLang="zh-CN" dirty="0"/>
              <a:t>&lt;T&gt; * current);                //</a:t>
            </a:r>
            <a:r>
              <a:rPr lang="zh-CN" altLang="en-US" dirty="0"/>
              <a:t>取双亲结点地址    </a:t>
            </a:r>
            <a:endParaRPr lang="zh-CN" altLang="en-US" dirty="0"/>
          </a:p>
          <a:p>
            <a:pPr marL="0" indent="0">
              <a:buNone/>
            </a:pPr>
            <a:r>
              <a:rPr lang="zh-CN" altLang="en-US" dirty="0"/>
              <a:t>    </a:t>
            </a:r>
            <a:r>
              <a:rPr lang="en-US" altLang="zh-CN" dirty="0" err="1"/>
              <a:t>BinTreeNode</a:t>
            </a:r>
            <a:r>
              <a:rPr lang="en-US" altLang="zh-CN" dirty="0"/>
              <a:t>&lt;T&gt; * </a:t>
            </a:r>
            <a:r>
              <a:rPr lang="en-US" altLang="zh-CN" dirty="0" err="1"/>
              <a:t>LeftChild</a:t>
            </a:r>
            <a:r>
              <a:rPr lang="en-US" altLang="zh-CN" dirty="0"/>
              <a:t> (</a:t>
            </a:r>
            <a:r>
              <a:rPr lang="en-US" altLang="zh-CN" dirty="0" err="1"/>
              <a:t>BinTreeNode</a:t>
            </a:r>
            <a:r>
              <a:rPr lang="en-US" altLang="zh-CN" dirty="0"/>
              <a:t>&lt;T&gt; * current);            //</a:t>
            </a:r>
            <a:r>
              <a:rPr lang="zh-CN" altLang="en-US" dirty="0"/>
              <a:t>取左孩子结点地址 </a:t>
            </a:r>
            <a:endParaRPr lang="zh-CN" altLang="en-US" dirty="0"/>
          </a:p>
          <a:p>
            <a:pPr marL="0" indent="0">
              <a:buNone/>
            </a:pPr>
            <a:r>
              <a:rPr lang="zh-CN" altLang="en-US" dirty="0"/>
              <a:t>    </a:t>
            </a:r>
            <a:r>
              <a:rPr lang="en-US" altLang="zh-CN" dirty="0" err="1"/>
              <a:t>BinTreeNode</a:t>
            </a:r>
            <a:r>
              <a:rPr lang="en-US" altLang="zh-CN" dirty="0"/>
              <a:t>&lt;T&gt; * </a:t>
            </a:r>
            <a:r>
              <a:rPr lang="en-US" altLang="zh-CN" dirty="0" err="1"/>
              <a:t>RightChild</a:t>
            </a:r>
            <a:r>
              <a:rPr lang="en-US" altLang="zh-CN" dirty="0"/>
              <a:t> (</a:t>
            </a:r>
            <a:r>
              <a:rPr lang="en-US" altLang="zh-CN" dirty="0" err="1"/>
              <a:t>BinTreeNode</a:t>
            </a:r>
            <a:r>
              <a:rPr lang="en-US" altLang="zh-CN" dirty="0"/>
              <a:t>&lt;T&gt; * current);          //</a:t>
            </a:r>
            <a:r>
              <a:rPr lang="zh-CN" altLang="en-US" dirty="0"/>
              <a:t>取右孩子结点地址 </a:t>
            </a:r>
            <a:endParaRPr lang="zh-CN" altLang="en-US" dirty="0"/>
          </a:p>
          <a:p>
            <a:pPr marL="0" indent="0">
              <a:buNone/>
            </a:pPr>
            <a:r>
              <a:rPr lang="zh-CN" altLang="en-US" dirty="0"/>
              <a:t>    </a:t>
            </a:r>
            <a:r>
              <a:rPr lang="en-US" altLang="zh-CN" dirty="0"/>
              <a:t>bool Insert ( T item );       //</a:t>
            </a:r>
            <a:r>
              <a:rPr lang="zh-CN" altLang="en-US" dirty="0"/>
              <a:t>插入</a:t>
            </a:r>
            <a:endParaRPr lang="zh-CN" altLang="en-US" dirty="0"/>
          </a:p>
          <a:p>
            <a:pPr marL="0" indent="0">
              <a:buNone/>
            </a:pPr>
            <a:r>
              <a:rPr lang="en-US" altLang="zh-CN" dirty="0"/>
              <a:t>    </a:t>
            </a:r>
            <a:r>
              <a:rPr lang="en-US" altLang="zh-CN" dirty="0" err="1"/>
              <a:t>BinTreeNode</a:t>
            </a:r>
            <a:r>
              <a:rPr lang="en-US" altLang="zh-CN" dirty="0"/>
              <a:t>&lt;T&gt; *</a:t>
            </a:r>
            <a:r>
              <a:rPr lang="en-US" altLang="zh-CN" dirty="0" err="1"/>
              <a:t>getRoot</a:t>
            </a:r>
            <a:r>
              <a:rPr lang="en-US" altLang="zh-CN" dirty="0"/>
              <a:t> ( ) const;    //</a:t>
            </a:r>
            <a:r>
              <a:rPr lang="zh-CN" altLang="en-US" dirty="0"/>
              <a:t>取根</a:t>
            </a:r>
            <a:endParaRPr lang="zh-CN" altLang="en-US" dirty="0"/>
          </a:p>
          <a:p>
            <a:pPr marL="0" indent="0">
              <a:buNone/>
            </a:pPr>
            <a:r>
              <a:rPr lang="zh-CN" altLang="en-US" dirty="0"/>
              <a:t>    </a:t>
            </a:r>
            <a:r>
              <a:rPr lang="en-US" altLang="zh-CN" dirty="0"/>
              <a:t>void </a:t>
            </a:r>
            <a:r>
              <a:rPr lang="en-US" altLang="zh-CN" dirty="0" err="1"/>
              <a:t>preOrder</a:t>
            </a:r>
            <a:r>
              <a:rPr lang="en-US" altLang="zh-CN" dirty="0"/>
              <a:t>(void(* visit)(</a:t>
            </a:r>
            <a:r>
              <a:rPr lang="en-US" altLang="zh-CN" dirty="0" err="1"/>
              <a:t>BinTreeNode</a:t>
            </a:r>
            <a:r>
              <a:rPr lang="en-US" altLang="zh-CN" dirty="0"/>
              <a:t>&lt;T&gt; *p))            //</a:t>
            </a:r>
            <a:r>
              <a:rPr lang="zh-CN" altLang="en-US" dirty="0"/>
              <a:t>前序遍历，</a:t>
            </a:r>
            <a:r>
              <a:rPr lang="en-US" altLang="zh-CN" dirty="0"/>
              <a:t>visit</a:t>
            </a:r>
            <a:r>
              <a:rPr lang="zh-CN" altLang="en-US" dirty="0"/>
              <a:t>是访问函数</a:t>
            </a:r>
            <a:endParaRPr lang="zh-CN" altLang="en-US" dirty="0"/>
          </a:p>
          <a:p>
            <a:pPr marL="0" indent="0">
              <a:buNone/>
            </a:pPr>
            <a:r>
              <a:rPr lang="en-US" altLang="zh-CN" dirty="0"/>
              <a:t>    void </a:t>
            </a:r>
            <a:r>
              <a:rPr lang="en-US" altLang="zh-CN" dirty="0" err="1"/>
              <a:t>inOrder</a:t>
            </a:r>
            <a:r>
              <a:rPr lang="en-US" altLang="zh-CN" dirty="0"/>
              <a:t>(void(* visit)(</a:t>
            </a:r>
            <a:r>
              <a:rPr lang="en-US" altLang="zh-CN" dirty="0" err="1"/>
              <a:t>BinTreeNode</a:t>
            </a:r>
            <a:r>
              <a:rPr lang="en-US" altLang="zh-CN" dirty="0"/>
              <a:t>&lt;T&gt; *p))              //</a:t>
            </a:r>
            <a:r>
              <a:rPr lang="zh-CN" altLang="en-US" dirty="0"/>
              <a:t>中序遍历，</a:t>
            </a:r>
            <a:r>
              <a:rPr lang="en-US" altLang="zh-CN" dirty="0"/>
              <a:t>visit</a:t>
            </a:r>
            <a:r>
              <a:rPr lang="zh-CN" altLang="en-US" dirty="0"/>
              <a:t>是访问函数</a:t>
            </a:r>
            <a:endParaRPr lang="zh-CN" altLang="en-US" dirty="0"/>
          </a:p>
          <a:p>
            <a:pPr marL="0" indent="0">
              <a:buNone/>
            </a:pPr>
            <a:r>
              <a:rPr lang="zh-CN" altLang="en-US" dirty="0"/>
              <a:t>    </a:t>
            </a:r>
            <a:r>
              <a:rPr lang="en-US" altLang="zh-CN" dirty="0"/>
              <a:t>void </a:t>
            </a:r>
            <a:r>
              <a:rPr lang="en-US" altLang="zh-CN" dirty="0" err="1"/>
              <a:t>postOrder</a:t>
            </a:r>
            <a:r>
              <a:rPr lang="en-US" altLang="zh-CN" dirty="0"/>
              <a:t>(void(* visit)(</a:t>
            </a:r>
            <a:r>
              <a:rPr lang="en-US" altLang="zh-CN" dirty="0" err="1"/>
              <a:t>BinTreeNode</a:t>
            </a:r>
            <a:r>
              <a:rPr lang="en-US" altLang="zh-CN" dirty="0"/>
              <a:t>&lt;T&gt; *p))          //</a:t>
            </a:r>
            <a:r>
              <a:rPr lang="zh-CN" altLang="en-US" dirty="0"/>
              <a:t>后序遍历，</a:t>
            </a:r>
            <a:r>
              <a:rPr lang="en-US" altLang="zh-CN" dirty="0"/>
              <a:t>visit</a:t>
            </a:r>
            <a:r>
              <a:rPr lang="zh-CN" altLang="en-US" dirty="0"/>
              <a:t>是访问函数</a:t>
            </a:r>
            <a:endParaRPr lang="zh-CN" altLang="en-US" dirty="0"/>
          </a:p>
          <a:p>
            <a:pPr marL="0" indent="0">
              <a:buNone/>
            </a:pPr>
            <a:r>
              <a:rPr lang="zh-CN" altLang="en-US" dirty="0"/>
              <a:t>    </a:t>
            </a:r>
            <a:r>
              <a:rPr lang="en-US" altLang="zh-CN" dirty="0"/>
              <a:t>void </a:t>
            </a:r>
            <a:r>
              <a:rPr lang="en-US" altLang="zh-CN" dirty="0" err="1"/>
              <a:t>levelOrder</a:t>
            </a:r>
            <a:r>
              <a:rPr lang="en-US" altLang="zh-CN" dirty="0"/>
              <a:t>(void(* visit)(</a:t>
            </a:r>
            <a:r>
              <a:rPr lang="en-US" altLang="zh-CN" dirty="0" err="1"/>
              <a:t>BinTreeNode</a:t>
            </a:r>
            <a:r>
              <a:rPr lang="en-US" altLang="zh-CN" dirty="0"/>
              <a:t>&lt;T&gt; *p))          //</a:t>
            </a:r>
            <a:r>
              <a:rPr lang="zh-CN" altLang="en-US" dirty="0"/>
              <a:t>层次序遍历，</a:t>
            </a:r>
            <a:r>
              <a:rPr lang="en-US" altLang="zh-CN" dirty="0"/>
              <a:t>visit</a:t>
            </a:r>
            <a:r>
              <a:rPr lang="zh-CN" altLang="en-US" dirty="0"/>
              <a:t>是访问函数</a:t>
            </a:r>
            <a:endParaRPr lang="en-US" altLang="zh-CN" dirty="0"/>
          </a:p>
          <a:p>
            <a:pPr marL="0" indent="0">
              <a:buNone/>
            </a:pPr>
            <a:r>
              <a:rPr lang="en-US" altLang="zh-CN" dirty="0"/>
              <a:t>    …</a:t>
            </a:r>
            <a:endParaRPr lang="zh-CN" altLang="en-US" dirty="0"/>
          </a:p>
          <a:p>
            <a:pPr marL="0" indent="0">
              <a:buNone/>
            </a:pPr>
            <a:r>
              <a:rPr lang="en-US" altLang="zh-CN" dirty="0"/>
              <a:t>}</a:t>
            </a:r>
            <a:endParaRPr lang="en-US" altLang="zh-CN" dirty="0"/>
          </a:p>
          <a:p>
            <a:pPr marL="0" indent="0">
              <a:buNone/>
            </a:pP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defTabSz="913130"/>
            <a:r>
              <a:rPr lang="en-US" altLang="zh-CN" sz="4000" dirty="0"/>
              <a:t>5.3 </a:t>
            </a:r>
            <a:r>
              <a:rPr lang="zh-CN" altLang="en-US" sz="4000" dirty="0"/>
              <a:t>二叉树的存储表示</a:t>
            </a:r>
            <a:endParaRPr lang="zh-CN" altLang="en-US" sz="4000" dirty="0"/>
          </a:p>
        </p:txBody>
      </p:sp>
      <p:sp>
        <p:nvSpPr>
          <p:cNvPr id="2" name="内容占位符 1"/>
          <p:cNvSpPr>
            <a:spLocks noGrp="1"/>
          </p:cNvSpPr>
          <p:nvPr>
            <p:ph idx="1"/>
          </p:nvPr>
        </p:nvSpPr>
        <p:spPr/>
        <p:txBody>
          <a:bodyPr/>
          <a:lstStyle/>
          <a:p>
            <a:r>
              <a:rPr lang="zh-CN" altLang="en-US" dirty="0"/>
              <a:t>两种方式</a:t>
            </a:r>
            <a:endParaRPr lang="zh-CN" altLang="en-US" dirty="0"/>
          </a:p>
          <a:p>
            <a:pPr lvl="1"/>
            <a:r>
              <a:rPr lang="zh-CN" altLang="en-US" dirty="0"/>
              <a:t>数组方式</a:t>
            </a:r>
            <a:endParaRPr lang="zh-CN" altLang="en-US" dirty="0"/>
          </a:p>
          <a:p>
            <a:pPr lvl="1"/>
            <a:r>
              <a:rPr lang="zh-CN" altLang="en-US" dirty="0"/>
              <a:t>链表方式</a:t>
            </a:r>
            <a:endParaRPr lang="zh-CN" altLang="en-US" dirty="0"/>
          </a:p>
          <a:p>
            <a:endParaRPr lang="zh-CN" altLang="en-US" dirty="0"/>
          </a:p>
        </p:txBody>
      </p:sp>
      <p:sp>
        <p:nvSpPr>
          <p:cNvPr id="3" name="灯片编号占位符 2"/>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Line 1026"/>
          <p:cNvSpPr>
            <a:spLocks noChangeShapeType="1"/>
          </p:cNvSpPr>
          <p:nvPr/>
        </p:nvSpPr>
        <p:spPr bwMode="auto">
          <a:xfrm>
            <a:off x="5638800" y="2590800"/>
            <a:ext cx="228600" cy="381000"/>
          </a:xfrm>
          <a:prstGeom prst="line">
            <a:avLst/>
          </a:prstGeom>
          <a:noFill/>
          <a:ln w="38100" cap="rnd">
            <a:solidFill>
              <a:schemeClr val="bg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1" name="Text Box 1027"/>
          <p:cNvSpPr txBox="1">
            <a:spLocks noChangeArrowheads="1"/>
          </p:cNvSpPr>
          <p:nvPr/>
        </p:nvSpPr>
        <p:spPr bwMode="auto">
          <a:xfrm>
            <a:off x="1143000" y="5029200"/>
            <a:ext cx="6629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200">
                <a:solidFill>
                  <a:srgbClr val="009900"/>
                </a:solidFill>
                <a:latin typeface="隶书" panose="02010509060101010101" pitchFamily="49" charset="-122"/>
                <a:ea typeface="隶书" panose="02010509060101010101" pitchFamily="49" charset="-122"/>
              </a:rPr>
              <a:t>完全二叉树的      一般二叉树的</a:t>
            </a:r>
            <a:endParaRPr kumimoji="1" lang="zh-CN" altLang="en-US" sz="3200">
              <a:solidFill>
                <a:srgbClr val="009900"/>
              </a:solidFill>
              <a:latin typeface="隶书" panose="02010509060101010101" pitchFamily="49" charset="-122"/>
              <a:ea typeface="隶书" panose="02010509060101010101" pitchFamily="49" charset="-122"/>
            </a:endParaRPr>
          </a:p>
          <a:p>
            <a:pPr eaLnBrk="1" hangingPunct="1"/>
            <a:r>
              <a:rPr kumimoji="1" lang="zh-CN" altLang="en-US" sz="3200">
                <a:solidFill>
                  <a:schemeClr val="accent2"/>
                </a:solidFill>
                <a:latin typeface="隶书" panose="02010509060101010101" pitchFamily="49" charset="-122"/>
                <a:ea typeface="隶书" panose="02010509060101010101" pitchFamily="49" charset="-122"/>
              </a:rPr>
              <a:t>数组存储表示</a:t>
            </a:r>
            <a:r>
              <a:rPr kumimoji="1" lang="zh-CN" altLang="en-US" sz="3200">
                <a:solidFill>
                  <a:srgbClr val="009900"/>
                </a:solidFill>
                <a:latin typeface="隶书" panose="02010509060101010101" pitchFamily="49" charset="-122"/>
                <a:ea typeface="隶书" panose="02010509060101010101" pitchFamily="49" charset="-122"/>
              </a:rPr>
              <a:t>      </a:t>
            </a:r>
            <a:r>
              <a:rPr kumimoji="1" lang="zh-CN" altLang="en-US" sz="3200">
                <a:solidFill>
                  <a:schemeClr val="accent2"/>
                </a:solidFill>
                <a:latin typeface="隶书" panose="02010509060101010101" pitchFamily="49" charset="-122"/>
                <a:ea typeface="隶书" panose="02010509060101010101" pitchFamily="49" charset="-122"/>
              </a:rPr>
              <a:t>数组表示</a:t>
            </a:r>
            <a:endParaRPr kumimoji="1" lang="zh-CN" altLang="en-US" sz="3200">
              <a:solidFill>
                <a:schemeClr val="accent2"/>
              </a:solidFill>
              <a:latin typeface="隶书" panose="02010509060101010101" pitchFamily="49" charset="-122"/>
              <a:ea typeface="隶书" panose="02010509060101010101" pitchFamily="49" charset="-122"/>
            </a:endParaRPr>
          </a:p>
        </p:txBody>
      </p:sp>
      <p:sp>
        <p:nvSpPr>
          <p:cNvPr id="22533" name="Line 1029"/>
          <p:cNvSpPr>
            <a:spLocks noChangeShapeType="1"/>
          </p:cNvSpPr>
          <p:nvPr/>
        </p:nvSpPr>
        <p:spPr bwMode="auto">
          <a:xfrm>
            <a:off x="3619500" y="2557463"/>
            <a:ext cx="3048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4" name="Line 1030"/>
          <p:cNvSpPr>
            <a:spLocks noChangeShapeType="1"/>
          </p:cNvSpPr>
          <p:nvPr/>
        </p:nvSpPr>
        <p:spPr bwMode="auto">
          <a:xfrm flipH="1">
            <a:off x="3162300" y="2514600"/>
            <a:ext cx="354013" cy="423863"/>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5" name="Line 1031"/>
          <p:cNvSpPr>
            <a:spLocks noChangeShapeType="1"/>
          </p:cNvSpPr>
          <p:nvPr/>
        </p:nvSpPr>
        <p:spPr bwMode="auto">
          <a:xfrm>
            <a:off x="1790700" y="2481263"/>
            <a:ext cx="342900" cy="414337"/>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6" name="Line 1032"/>
          <p:cNvSpPr>
            <a:spLocks noChangeShapeType="1"/>
          </p:cNvSpPr>
          <p:nvPr/>
        </p:nvSpPr>
        <p:spPr bwMode="auto">
          <a:xfrm flipH="1">
            <a:off x="1257300" y="2557463"/>
            <a:ext cx="381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7" name="Line 1033"/>
          <p:cNvSpPr>
            <a:spLocks noChangeShapeType="1"/>
          </p:cNvSpPr>
          <p:nvPr/>
        </p:nvSpPr>
        <p:spPr bwMode="auto">
          <a:xfrm>
            <a:off x="2781300" y="1947863"/>
            <a:ext cx="723900" cy="434975"/>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8" name="Line 1034"/>
          <p:cNvSpPr>
            <a:spLocks noChangeShapeType="1"/>
          </p:cNvSpPr>
          <p:nvPr/>
        </p:nvSpPr>
        <p:spPr bwMode="auto">
          <a:xfrm flipH="1">
            <a:off x="1790700" y="1947863"/>
            <a:ext cx="762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9" name="Oval 1035"/>
          <p:cNvSpPr>
            <a:spLocks noChangeArrowheads="1"/>
          </p:cNvSpPr>
          <p:nvPr/>
        </p:nvSpPr>
        <p:spPr bwMode="auto">
          <a:xfrm>
            <a:off x="2438400" y="1676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540" name="Line 1036"/>
          <p:cNvSpPr>
            <a:spLocks noChangeShapeType="1"/>
          </p:cNvSpPr>
          <p:nvPr/>
        </p:nvSpPr>
        <p:spPr bwMode="auto">
          <a:xfrm flipH="1">
            <a:off x="2033588" y="3090863"/>
            <a:ext cx="176212" cy="414337"/>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1" name="Line 1037"/>
          <p:cNvSpPr>
            <a:spLocks noChangeShapeType="1"/>
          </p:cNvSpPr>
          <p:nvPr/>
        </p:nvSpPr>
        <p:spPr bwMode="auto">
          <a:xfrm>
            <a:off x="1333500" y="3167063"/>
            <a:ext cx="138113" cy="414337"/>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2" name="Line 1038"/>
          <p:cNvSpPr>
            <a:spLocks noChangeShapeType="1"/>
          </p:cNvSpPr>
          <p:nvPr/>
        </p:nvSpPr>
        <p:spPr bwMode="auto">
          <a:xfrm flipH="1">
            <a:off x="995363" y="3090863"/>
            <a:ext cx="261937"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3" name="Text Box 1039"/>
          <p:cNvSpPr txBox="1">
            <a:spLocks noChangeArrowheads="1"/>
          </p:cNvSpPr>
          <p:nvPr/>
        </p:nvSpPr>
        <p:spPr bwMode="auto">
          <a:xfrm>
            <a:off x="2476500" y="16430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2544" name="Rectangle 1040"/>
          <p:cNvSpPr>
            <a:spLocks noChangeArrowheads="1"/>
          </p:cNvSpPr>
          <p:nvPr/>
        </p:nvSpPr>
        <p:spPr bwMode="auto">
          <a:xfrm>
            <a:off x="533400" y="4373563"/>
            <a:ext cx="3124200" cy="457200"/>
          </a:xfrm>
          <a:prstGeom prst="rect">
            <a:avLst/>
          </a:prstGeom>
          <a:solidFill>
            <a:srgbClr val="FF7C80"/>
          </a:solidFill>
          <a:ln w="9525">
            <a:miter lim="800000"/>
          </a:ln>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p:spPr>
        <p:txBody>
          <a:bodyPr wrap="none" anchor="ctr">
            <a:flatTx/>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545" name="Line 1041"/>
          <p:cNvSpPr>
            <a:spLocks noChangeShapeType="1"/>
          </p:cNvSpPr>
          <p:nvPr/>
        </p:nvSpPr>
        <p:spPr bwMode="auto">
          <a:xfrm>
            <a:off x="8382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6" name="Text Box 1042"/>
          <p:cNvSpPr txBox="1">
            <a:spLocks noChangeArrowheads="1"/>
          </p:cNvSpPr>
          <p:nvPr/>
        </p:nvSpPr>
        <p:spPr bwMode="auto">
          <a:xfrm>
            <a:off x="527050" y="4297363"/>
            <a:ext cx="3308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Times New Roman" panose="02020603050405020304" pitchFamily="18" charset="0"/>
                <a:ea typeface="宋体" panose="02010600030101010101" pitchFamily="2" charset="-122"/>
              </a:rPr>
              <a:t>1 2  3 4 5  6 7  8 9 10</a:t>
            </a:r>
            <a:r>
              <a:rPr kumimoji="1" lang="en-US" altLang="zh-CN" sz="3200" b="1">
                <a:solidFill>
                  <a:schemeClr val="bg1"/>
                </a:solidFill>
                <a:latin typeface="Times New Roman" panose="02020603050405020304" pitchFamily="18" charset="0"/>
                <a:ea typeface="宋体" panose="02010600030101010101" pitchFamily="2" charset="-122"/>
              </a:rPr>
              <a:t> </a:t>
            </a:r>
            <a:endParaRPr kumimoji="1" lang="en-US" altLang="zh-CN" sz="2800">
              <a:latin typeface="Times New Roman" panose="02020603050405020304" pitchFamily="18" charset="0"/>
              <a:ea typeface="宋体" panose="02010600030101010101" pitchFamily="2" charset="-122"/>
            </a:endParaRPr>
          </a:p>
        </p:txBody>
      </p:sp>
      <p:sp>
        <p:nvSpPr>
          <p:cNvPr id="22547" name="Line 1043"/>
          <p:cNvSpPr>
            <a:spLocks noChangeShapeType="1"/>
          </p:cNvSpPr>
          <p:nvPr/>
        </p:nvSpPr>
        <p:spPr bwMode="auto">
          <a:xfrm>
            <a:off x="11430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8" name="Line 1044"/>
          <p:cNvSpPr>
            <a:spLocks noChangeShapeType="1"/>
          </p:cNvSpPr>
          <p:nvPr/>
        </p:nvSpPr>
        <p:spPr bwMode="auto">
          <a:xfrm>
            <a:off x="14478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9" name="Line 1045"/>
          <p:cNvSpPr>
            <a:spLocks noChangeShapeType="1"/>
          </p:cNvSpPr>
          <p:nvPr/>
        </p:nvSpPr>
        <p:spPr bwMode="auto">
          <a:xfrm>
            <a:off x="17526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0" name="Line 1046"/>
          <p:cNvSpPr>
            <a:spLocks noChangeShapeType="1"/>
          </p:cNvSpPr>
          <p:nvPr/>
        </p:nvSpPr>
        <p:spPr bwMode="auto">
          <a:xfrm>
            <a:off x="20574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1" name="Line 1047"/>
          <p:cNvSpPr>
            <a:spLocks noChangeShapeType="1"/>
          </p:cNvSpPr>
          <p:nvPr/>
        </p:nvSpPr>
        <p:spPr bwMode="auto">
          <a:xfrm>
            <a:off x="23622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2" name="Line 1048"/>
          <p:cNvSpPr>
            <a:spLocks noChangeShapeType="1"/>
          </p:cNvSpPr>
          <p:nvPr/>
        </p:nvSpPr>
        <p:spPr bwMode="auto">
          <a:xfrm>
            <a:off x="26670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3" name="Line 1049"/>
          <p:cNvSpPr>
            <a:spLocks noChangeShapeType="1"/>
          </p:cNvSpPr>
          <p:nvPr/>
        </p:nvSpPr>
        <p:spPr bwMode="auto">
          <a:xfrm>
            <a:off x="29718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4" name="Line 1050"/>
          <p:cNvSpPr>
            <a:spLocks noChangeShapeType="1"/>
          </p:cNvSpPr>
          <p:nvPr/>
        </p:nvSpPr>
        <p:spPr bwMode="auto">
          <a:xfrm>
            <a:off x="32766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5" name="Line 1051"/>
          <p:cNvSpPr>
            <a:spLocks noChangeShapeType="1"/>
          </p:cNvSpPr>
          <p:nvPr/>
        </p:nvSpPr>
        <p:spPr bwMode="auto">
          <a:xfrm flipV="1">
            <a:off x="8382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6" name="Line 1052"/>
          <p:cNvSpPr>
            <a:spLocks noChangeShapeType="1"/>
          </p:cNvSpPr>
          <p:nvPr/>
        </p:nvSpPr>
        <p:spPr bwMode="auto">
          <a:xfrm flipV="1">
            <a:off x="11430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7" name="Line 1053"/>
          <p:cNvSpPr>
            <a:spLocks noChangeShapeType="1"/>
          </p:cNvSpPr>
          <p:nvPr/>
        </p:nvSpPr>
        <p:spPr bwMode="auto">
          <a:xfrm flipV="1">
            <a:off x="14478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8" name="Line 1054"/>
          <p:cNvSpPr>
            <a:spLocks noChangeShapeType="1"/>
          </p:cNvSpPr>
          <p:nvPr/>
        </p:nvSpPr>
        <p:spPr bwMode="auto">
          <a:xfrm flipV="1">
            <a:off x="17526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9" name="Line 1055"/>
          <p:cNvSpPr>
            <a:spLocks noChangeShapeType="1"/>
          </p:cNvSpPr>
          <p:nvPr/>
        </p:nvSpPr>
        <p:spPr bwMode="auto">
          <a:xfrm flipV="1">
            <a:off x="20574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0" name="Line 1056"/>
          <p:cNvSpPr>
            <a:spLocks noChangeShapeType="1"/>
          </p:cNvSpPr>
          <p:nvPr/>
        </p:nvSpPr>
        <p:spPr bwMode="auto">
          <a:xfrm flipV="1">
            <a:off x="23622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1" name="Line 1057"/>
          <p:cNvSpPr>
            <a:spLocks noChangeShapeType="1"/>
          </p:cNvSpPr>
          <p:nvPr/>
        </p:nvSpPr>
        <p:spPr bwMode="auto">
          <a:xfrm flipV="1">
            <a:off x="26670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2" name="Line 1058"/>
          <p:cNvSpPr>
            <a:spLocks noChangeShapeType="1"/>
          </p:cNvSpPr>
          <p:nvPr/>
        </p:nvSpPr>
        <p:spPr bwMode="auto">
          <a:xfrm flipV="1">
            <a:off x="29718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3" name="Line 1059"/>
          <p:cNvSpPr>
            <a:spLocks noChangeShapeType="1"/>
          </p:cNvSpPr>
          <p:nvPr/>
        </p:nvSpPr>
        <p:spPr bwMode="auto">
          <a:xfrm flipV="1">
            <a:off x="32766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4" name="Line 1060"/>
          <p:cNvSpPr>
            <a:spLocks noChangeShapeType="1"/>
          </p:cNvSpPr>
          <p:nvPr/>
        </p:nvSpPr>
        <p:spPr bwMode="auto">
          <a:xfrm>
            <a:off x="7391400" y="2590800"/>
            <a:ext cx="3048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5" name="Line 1061"/>
          <p:cNvSpPr>
            <a:spLocks noChangeShapeType="1"/>
          </p:cNvSpPr>
          <p:nvPr/>
        </p:nvSpPr>
        <p:spPr bwMode="auto">
          <a:xfrm flipH="1">
            <a:off x="6934200" y="2547938"/>
            <a:ext cx="354013" cy="423862"/>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6" name="Line 1062"/>
          <p:cNvSpPr>
            <a:spLocks noChangeShapeType="1"/>
          </p:cNvSpPr>
          <p:nvPr/>
        </p:nvSpPr>
        <p:spPr bwMode="auto">
          <a:xfrm flipH="1">
            <a:off x="4648200" y="3124200"/>
            <a:ext cx="3048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7" name="Line 1063"/>
          <p:cNvSpPr>
            <a:spLocks noChangeShapeType="1"/>
          </p:cNvSpPr>
          <p:nvPr/>
        </p:nvSpPr>
        <p:spPr bwMode="auto">
          <a:xfrm flipH="1">
            <a:off x="5029200" y="2590800"/>
            <a:ext cx="381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8" name="Line 1064"/>
          <p:cNvSpPr>
            <a:spLocks noChangeShapeType="1"/>
          </p:cNvSpPr>
          <p:nvPr/>
        </p:nvSpPr>
        <p:spPr bwMode="auto">
          <a:xfrm>
            <a:off x="6553200" y="1981200"/>
            <a:ext cx="723900" cy="434975"/>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9" name="Line 1065"/>
          <p:cNvSpPr>
            <a:spLocks noChangeShapeType="1"/>
          </p:cNvSpPr>
          <p:nvPr/>
        </p:nvSpPr>
        <p:spPr bwMode="auto">
          <a:xfrm flipH="1">
            <a:off x="5562600" y="1981200"/>
            <a:ext cx="762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0" name="Line 1066"/>
          <p:cNvSpPr>
            <a:spLocks noChangeShapeType="1"/>
          </p:cNvSpPr>
          <p:nvPr/>
        </p:nvSpPr>
        <p:spPr bwMode="auto">
          <a:xfrm flipH="1">
            <a:off x="6705600" y="31242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1" name="Line 1067"/>
          <p:cNvSpPr>
            <a:spLocks noChangeShapeType="1"/>
          </p:cNvSpPr>
          <p:nvPr/>
        </p:nvSpPr>
        <p:spPr bwMode="auto">
          <a:xfrm>
            <a:off x="5105400" y="3200400"/>
            <a:ext cx="138113" cy="414338"/>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2" name="Line 1068"/>
          <p:cNvSpPr>
            <a:spLocks noChangeShapeType="1"/>
          </p:cNvSpPr>
          <p:nvPr/>
        </p:nvSpPr>
        <p:spPr bwMode="auto">
          <a:xfrm flipH="1">
            <a:off x="7543800" y="32004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3" name="Oval 1069"/>
          <p:cNvSpPr>
            <a:spLocks noChangeArrowheads="1"/>
          </p:cNvSpPr>
          <p:nvPr/>
        </p:nvSpPr>
        <p:spPr bwMode="auto">
          <a:xfrm>
            <a:off x="73025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574" name="Text Box 1070"/>
          <p:cNvSpPr txBox="1">
            <a:spLocks noChangeArrowheads="1"/>
          </p:cNvSpPr>
          <p:nvPr/>
        </p:nvSpPr>
        <p:spPr bwMode="auto">
          <a:xfrm>
            <a:off x="7232650" y="3429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sp>
        <p:nvSpPr>
          <p:cNvPr id="22575" name="Rectangle 1071"/>
          <p:cNvSpPr>
            <a:spLocks noChangeArrowheads="1"/>
          </p:cNvSpPr>
          <p:nvPr/>
        </p:nvSpPr>
        <p:spPr bwMode="auto">
          <a:xfrm>
            <a:off x="4114800" y="4373563"/>
            <a:ext cx="4495800" cy="457200"/>
          </a:xfrm>
          <a:prstGeom prst="rect">
            <a:avLst/>
          </a:prstGeom>
          <a:solidFill>
            <a:srgbClr val="FF7C80"/>
          </a:solidFill>
          <a:ln w="9525">
            <a:miter lim="800000"/>
          </a:ln>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p:spPr>
        <p:txBody>
          <a:bodyPr wrap="none" anchor="ctr">
            <a:flatTx/>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576" name="Line 1072"/>
          <p:cNvSpPr>
            <a:spLocks noChangeShapeType="1"/>
          </p:cNvSpPr>
          <p:nvPr/>
        </p:nvSpPr>
        <p:spPr bwMode="auto">
          <a:xfrm>
            <a:off x="44196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7" name="Text Box 1073"/>
          <p:cNvSpPr txBox="1">
            <a:spLocks noChangeArrowheads="1"/>
          </p:cNvSpPr>
          <p:nvPr/>
        </p:nvSpPr>
        <p:spPr bwMode="auto">
          <a:xfrm>
            <a:off x="4108450" y="4327525"/>
            <a:ext cx="4540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Times New Roman" panose="02020603050405020304" pitchFamily="18" charset="0"/>
                <a:ea typeface="宋体" panose="02010600030101010101" pitchFamily="2" charset="-122"/>
              </a:rPr>
              <a:t>1 2  3 4     6 7  8 9        12    14</a:t>
            </a:r>
            <a:endParaRPr kumimoji="1" lang="en-US" altLang="zh-CN" sz="2800">
              <a:latin typeface="Times New Roman" panose="02020603050405020304" pitchFamily="18" charset="0"/>
              <a:ea typeface="宋体" panose="02010600030101010101" pitchFamily="2" charset="-122"/>
            </a:endParaRPr>
          </a:p>
        </p:txBody>
      </p:sp>
      <p:sp>
        <p:nvSpPr>
          <p:cNvPr id="22578" name="Line 1074"/>
          <p:cNvSpPr>
            <a:spLocks noChangeShapeType="1"/>
          </p:cNvSpPr>
          <p:nvPr/>
        </p:nvSpPr>
        <p:spPr bwMode="auto">
          <a:xfrm>
            <a:off x="47244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9" name="Line 1075"/>
          <p:cNvSpPr>
            <a:spLocks noChangeShapeType="1"/>
          </p:cNvSpPr>
          <p:nvPr/>
        </p:nvSpPr>
        <p:spPr bwMode="auto">
          <a:xfrm>
            <a:off x="50292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0" name="Line 1076"/>
          <p:cNvSpPr>
            <a:spLocks noChangeShapeType="1"/>
          </p:cNvSpPr>
          <p:nvPr/>
        </p:nvSpPr>
        <p:spPr bwMode="auto">
          <a:xfrm>
            <a:off x="53340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1" name="Line 1077"/>
          <p:cNvSpPr>
            <a:spLocks noChangeShapeType="1"/>
          </p:cNvSpPr>
          <p:nvPr/>
        </p:nvSpPr>
        <p:spPr bwMode="auto">
          <a:xfrm>
            <a:off x="56388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2" name="Line 1078"/>
          <p:cNvSpPr>
            <a:spLocks noChangeShapeType="1"/>
          </p:cNvSpPr>
          <p:nvPr/>
        </p:nvSpPr>
        <p:spPr bwMode="auto">
          <a:xfrm>
            <a:off x="59436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3" name="Line 1079"/>
          <p:cNvSpPr>
            <a:spLocks noChangeShapeType="1"/>
          </p:cNvSpPr>
          <p:nvPr/>
        </p:nvSpPr>
        <p:spPr bwMode="auto">
          <a:xfrm>
            <a:off x="62484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4" name="Line 1080"/>
          <p:cNvSpPr>
            <a:spLocks noChangeShapeType="1"/>
          </p:cNvSpPr>
          <p:nvPr/>
        </p:nvSpPr>
        <p:spPr bwMode="auto">
          <a:xfrm>
            <a:off x="65532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5" name="Line 1081"/>
          <p:cNvSpPr>
            <a:spLocks noChangeShapeType="1"/>
          </p:cNvSpPr>
          <p:nvPr/>
        </p:nvSpPr>
        <p:spPr bwMode="auto">
          <a:xfrm>
            <a:off x="68580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6" name="Line 1082"/>
          <p:cNvSpPr>
            <a:spLocks noChangeShapeType="1"/>
          </p:cNvSpPr>
          <p:nvPr/>
        </p:nvSpPr>
        <p:spPr bwMode="auto">
          <a:xfrm flipV="1">
            <a:off x="44196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7" name="Line 1083"/>
          <p:cNvSpPr>
            <a:spLocks noChangeShapeType="1"/>
          </p:cNvSpPr>
          <p:nvPr/>
        </p:nvSpPr>
        <p:spPr bwMode="auto">
          <a:xfrm flipV="1">
            <a:off x="47244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8" name="Line 1084"/>
          <p:cNvSpPr>
            <a:spLocks noChangeShapeType="1"/>
          </p:cNvSpPr>
          <p:nvPr/>
        </p:nvSpPr>
        <p:spPr bwMode="auto">
          <a:xfrm flipV="1">
            <a:off x="50292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9" name="Line 1085"/>
          <p:cNvSpPr>
            <a:spLocks noChangeShapeType="1"/>
          </p:cNvSpPr>
          <p:nvPr/>
        </p:nvSpPr>
        <p:spPr bwMode="auto">
          <a:xfrm flipV="1">
            <a:off x="53340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0" name="Line 1086"/>
          <p:cNvSpPr>
            <a:spLocks noChangeShapeType="1"/>
          </p:cNvSpPr>
          <p:nvPr/>
        </p:nvSpPr>
        <p:spPr bwMode="auto">
          <a:xfrm flipV="1">
            <a:off x="56388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1" name="Line 1087"/>
          <p:cNvSpPr>
            <a:spLocks noChangeShapeType="1"/>
          </p:cNvSpPr>
          <p:nvPr/>
        </p:nvSpPr>
        <p:spPr bwMode="auto">
          <a:xfrm flipV="1">
            <a:off x="59436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2" name="Line 1088"/>
          <p:cNvSpPr>
            <a:spLocks noChangeShapeType="1"/>
          </p:cNvSpPr>
          <p:nvPr/>
        </p:nvSpPr>
        <p:spPr bwMode="auto">
          <a:xfrm flipV="1">
            <a:off x="62484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3" name="Line 1089"/>
          <p:cNvSpPr>
            <a:spLocks noChangeShapeType="1"/>
          </p:cNvSpPr>
          <p:nvPr/>
        </p:nvSpPr>
        <p:spPr bwMode="auto">
          <a:xfrm flipV="1">
            <a:off x="65532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4" name="Line 1090"/>
          <p:cNvSpPr>
            <a:spLocks noChangeShapeType="1"/>
          </p:cNvSpPr>
          <p:nvPr/>
        </p:nvSpPr>
        <p:spPr bwMode="auto">
          <a:xfrm flipV="1">
            <a:off x="68580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5" name="Line 1091"/>
          <p:cNvSpPr>
            <a:spLocks noChangeShapeType="1"/>
          </p:cNvSpPr>
          <p:nvPr/>
        </p:nvSpPr>
        <p:spPr bwMode="auto">
          <a:xfrm>
            <a:off x="71628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6" name="Line 1092"/>
          <p:cNvSpPr>
            <a:spLocks noChangeShapeType="1"/>
          </p:cNvSpPr>
          <p:nvPr/>
        </p:nvSpPr>
        <p:spPr bwMode="auto">
          <a:xfrm flipV="1">
            <a:off x="71628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7" name="Line 1093"/>
          <p:cNvSpPr>
            <a:spLocks noChangeShapeType="1"/>
          </p:cNvSpPr>
          <p:nvPr/>
        </p:nvSpPr>
        <p:spPr bwMode="auto">
          <a:xfrm>
            <a:off x="74676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8" name="Line 1094"/>
          <p:cNvSpPr>
            <a:spLocks noChangeShapeType="1"/>
          </p:cNvSpPr>
          <p:nvPr/>
        </p:nvSpPr>
        <p:spPr bwMode="auto">
          <a:xfrm flipV="1">
            <a:off x="74676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9" name="Line 1095"/>
          <p:cNvSpPr>
            <a:spLocks noChangeShapeType="1"/>
          </p:cNvSpPr>
          <p:nvPr/>
        </p:nvSpPr>
        <p:spPr bwMode="auto">
          <a:xfrm>
            <a:off x="78486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0" name="Line 1096"/>
          <p:cNvSpPr>
            <a:spLocks noChangeShapeType="1"/>
          </p:cNvSpPr>
          <p:nvPr/>
        </p:nvSpPr>
        <p:spPr bwMode="auto">
          <a:xfrm flipV="1">
            <a:off x="78486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1" name="Line 1097"/>
          <p:cNvSpPr>
            <a:spLocks noChangeShapeType="1"/>
          </p:cNvSpPr>
          <p:nvPr/>
        </p:nvSpPr>
        <p:spPr bwMode="auto">
          <a:xfrm>
            <a:off x="8153400" y="4373563"/>
            <a:ext cx="0" cy="45720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2" name="Line 1098"/>
          <p:cNvSpPr>
            <a:spLocks noChangeShapeType="1"/>
          </p:cNvSpPr>
          <p:nvPr/>
        </p:nvSpPr>
        <p:spPr bwMode="auto">
          <a:xfrm flipV="1">
            <a:off x="8153400" y="4221163"/>
            <a:ext cx="152400" cy="15240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3" name="Oval 1099"/>
          <p:cNvSpPr>
            <a:spLocks noChangeArrowheads="1"/>
          </p:cNvSpPr>
          <p:nvPr/>
        </p:nvSpPr>
        <p:spPr bwMode="auto">
          <a:xfrm>
            <a:off x="1524000" y="22098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04" name="Oval 1100"/>
          <p:cNvSpPr>
            <a:spLocks noChangeArrowheads="1"/>
          </p:cNvSpPr>
          <p:nvPr/>
        </p:nvSpPr>
        <p:spPr bwMode="auto">
          <a:xfrm>
            <a:off x="10668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05" name="Oval 1101"/>
          <p:cNvSpPr>
            <a:spLocks noChangeArrowheads="1"/>
          </p:cNvSpPr>
          <p:nvPr/>
        </p:nvSpPr>
        <p:spPr bwMode="auto">
          <a:xfrm>
            <a:off x="6858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06" name="Oval 1102"/>
          <p:cNvSpPr>
            <a:spLocks noChangeArrowheads="1"/>
          </p:cNvSpPr>
          <p:nvPr/>
        </p:nvSpPr>
        <p:spPr bwMode="auto">
          <a:xfrm>
            <a:off x="12192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07" name="Oval 1103"/>
          <p:cNvSpPr>
            <a:spLocks noChangeArrowheads="1"/>
          </p:cNvSpPr>
          <p:nvPr/>
        </p:nvSpPr>
        <p:spPr bwMode="auto">
          <a:xfrm>
            <a:off x="17526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08" name="Oval 1104"/>
          <p:cNvSpPr>
            <a:spLocks noChangeArrowheads="1"/>
          </p:cNvSpPr>
          <p:nvPr/>
        </p:nvSpPr>
        <p:spPr bwMode="auto">
          <a:xfrm>
            <a:off x="19812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09" name="Text Box 1105"/>
          <p:cNvSpPr txBox="1">
            <a:spLocks noChangeArrowheads="1"/>
          </p:cNvSpPr>
          <p:nvPr/>
        </p:nvSpPr>
        <p:spPr bwMode="auto">
          <a:xfrm>
            <a:off x="1543050" y="214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22610" name="Text Box 1106"/>
          <p:cNvSpPr txBox="1">
            <a:spLocks noChangeArrowheads="1"/>
          </p:cNvSpPr>
          <p:nvPr/>
        </p:nvSpPr>
        <p:spPr bwMode="auto">
          <a:xfrm>
            <a:off x="108585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22611" name="Text Box 1107"/>
          <p:cNvSpPr txBox="1">
            <a:spLocks noChangeArrowheads="1"/>
          </p:cNvSpPr>
          <p:nvPr/>
        </p:nvSpPr>
        <p:spPr bwMode="auto">
          <a:xfrm>
            <a:off x="762000" y="3505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22612" name="Text Box 1108"/>
          <p:cNvSpPr txBox="1">
            <a:spLocks noChangeArrowheads="1"/>
          </p:cNvSpPr>
          <p:nvPr/>
        </p:nvSpPr>
        <p:spPr bwMode="auto">
          <a:xfrm>
            <a:off x="1238250" y="3505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22613" name="Text Box 1109"/>
          <p:cNvSpPr txBox="1">
            <a:spLocks noChangeArrowheads="1"/>
          </p:cNvSpPr>
          <p:nvPr/>
        </p:nvSpPr>
        <p:spPr bwMode="auto">
          <a:xfrm>
            <a:off x="1739900" y="35052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22614" name="Text Box 1110"/>
          <p:cNvSpPr txBox="1">
            <a:spLocks noChangeArrowheads="1"/>
          </p:cNvSpPr>
          <p:nvPr/>
        </p:nvSpPr>
        <p:spPr bwMode="auto">
          <a:xfrm>
            <a:off x="200025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22615" name="Oval 1111"/>
          <p:cNvSpPr>
            <a:spLocks noChangeArrowheads="1"/>
          </p:cNvSpPr>
          <p:nvPr/>
        </p:nvSpPr>
        <p:spPr bwMode="auto">
          <a:xfrm>
            <a:off x="28956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16" name="Oval 1112"/>
          <p:cNvSpPr>
            <a:spLocks noChangeArrowheads="1"/>
          </p:cNvSpPr>
          <p:nvPr/>
        </p:nvSpPr>
        <p:spPr bwMode="auto">
          <a:xfrm>
            <a:off x="3352800" y="22098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17" name="Oval 1113"/>
          <p:cNvSpPr>
            <a:spLocks noChangeArrowheads="1"/>
          </p:cNvSpPr>
          <p:nvPr/>
        </p:nvSpPr>
        <p:spPr bwMode="auto">
          <a:xfrm>
            <a:off x="37338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18" name="Text Box 1114"/>
          <p:cNvSpPr txBox="1">
            <a:spLocks noChangeArrowheads="1"/>
          </p:cNvSpPr>
          <p:nvPr/>
        </p:nvSpPr>
        <p:spPr bwMode="auto">
          <a:xfrm>
            <a:off x="291465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22619" name="Text Box 1115"/>
          <p:cNvSpPr txBox="1">
            <a:spLocks noChangeArrowheads="1"/>
          </p:cNvSpPr>
          <p:nvPr/>
        </p:nvSpPr>
        <p:spPr bwMode="auto">
          <a:xfrm>
            <a:off x="375285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22620" name="Text Box 1116"/>
          <p:cNvSpPr txBox="1">
            <a:spLocks noChangeArrowheads="1"/>
          </p:cNvSpPr>
          <p:nvPr/>
        </p:nvSpPr>
        <p:spPr bwMode="auto">
          <a:xfrm>
            <a:off x="3371850" y="214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22621" name="Oval 1117"/>
          <p:cNvSpPr>
            <a:spLocks noChangeArrowheads="1"/>
          </p:cNvSpPr>
          <p:nvPr/>
        </p:nvSpPr>
        <p:spPr bwMode="auto">
          <a:xfrm>
            <a:off x="6248400" y="1676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22" name="Oval 1118"/>
          <p:cNvSpPr>
            <a:spLocks noChangeArrowheads="1"/>
          </p:cNvSpPr>
          <p:nvPr/>
        </p:nvSpPr>
        <p:spPr bwMode="auto">
          <a:xfrm>
            <a:off x="5334000" y="22098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23" name="Oval 1119"/>
          <p:cNvSpPr>
            <a:spLocks noChangeArrowheads="1"/>
          </p:cNvSpPr>
          <p:nvPr/>
        </p:nvSpPr>
        <p:spPr bwMode="auto">
          <a:xfrm>
            <a:off x="7086600" y="22098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24" name="Text Box 1120"/>
          <p:cNvSpPr txBox="1">
            <a:spLocks noChangeArrowheads="1"/>
          </p:cNvSpPr>
          <p:nvPr/>
        </p:nvSpPr>
        <p:spPr bwMode="auto">
          <a:xfrm>
            <a:off x="6267450" y="1614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2625" name="Text Box 1121"/>
          <p:cNvSpPr txBox="1">
            <a:spLocks noChangeArrowheads="1"/>
          </p:cNvSpPr>
          <p:nvPr/>
        </p:nvSpPr>
        <p:spPr bwMode="auto">
          <a:xfrm>
            <a:off x="5353050" y="214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22626" name="Text Box 1122"/>
          <p:cNvSpPr txBox="1">
            <a:spLocks noChangeArrowheads="1"/>
          </p:cNvSpPr>
          <p:nvPr/>
        </p:nvSpPr>
        <p:spPr bwMode="auto">
          <a:xfrm>
            <a:off x="7105650" y="214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22627" name="Oval 1123"/>
          <p:cNvSpPr>
            <a:spLocks noChangeArrowheads="1"/>
          </p:cNvSpPr>
          <p:nvPr/>
        </p:nvSpPr>
        <p:spPr bwMode="auto">
          <a:xfrm>
            <a:off x="67056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28" name="Oval 1124"/>
          <p:cNvSpPr>
            <a:spLocks noChangeArrowheads="1"/>
          </p:cNvSpPr>
          <p:nvPr/>
        </p:nvSpPr>
        <p:spPr bwMode="auto">
          <a:xfrm>
            <a:off x="75438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29" name="Text Box 1125"/>
          <p:cNvSpPr txBox="1">
            <a:spLocks noChangeArrowheads="1"/>
          </p:cNvSpPr>
          <p:nvPr/>
        </p:nvSpPr>
        <p:spPr bwMode="auto">
          <a:xfrm>
            <a:off x="762000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22630" name="Text Box 1126"/>
          <p:cNvSpPr txBox="1">
            <a:spLocks noChangeArrowheads="1"/>
          </p:cNvSpPr>
          <p:nvPr/>
        </p:nvSpPr>
        <p:spPr bwMode="auto">
          <a:xfrm>
            <a:off x="670560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22631" name="Oval 1127"/>
          <p:cNvSpPr>
            <a:spLocks noChangeArrowheads="1"/>
          </p:cNvSpPr>
          <p:nvPr/>
        </p:nvSpPr>
        <p:spPr bwMode="auto">
          <a:xfrm>
            <a:off x="48006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32" name="Text Box 1128"/>
          <p:cNvSpPr txBox="1">
            <a:spLocks noChangeArrowheads="1"/>
          </p:cNvSpPr>
          <p:nvPr/>
        </p:nvSpPr>
        <p:spPr bwMode="auto">
          <a:xfrm>
            <a:off x="481965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22633" name="Oval 1129"/>
          <p:cNvSpPr>
            <a:spLocks noChangeArrowheads="1"/>
          </p:cNvSpPr>
          <p:nvPr/>
        </p:nvSpPr>
        <p:spPr bwMode="auto">
          <a:xfrm>
            <a:off x="44196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34" name="Text Box 1130"/>
          <p:cNvSpPr txBox="1">
            <a:spLocks noChangeArrowheads="1"/>
          </p:cNvSpPr>
          <p:nvPr/>
        </p:nvSpPr>
        <p:spPr bwMode="auto">
          <a:xfrm>
            <a:off x="4438650" y="3443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22635" name="Oval 1131"/>
          <p:cNvSpPr>
            <a:spLocks noChangeArrowheads="1"/>
          </p:cNvSpPr>
          <p:nvPr/>
        </p:nvSpPr>
        <p:spPr bwMode="auto">
          <a:xfrm>
            <a:off x="50292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36" name="Text Box 1132"/>
          <p:cNvSpPr txBox="1">
            <a:spLocks noChangeArrowheads="1"/>
          </p:cNvSpPr>
          <p:nvPr/>
        </p:nvSpPr>
        <p:spPr bwMode="auto">
          <a:xfrm>
            <a:off x="5048250" y="3429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22637" name="Oval 1133"/>
          <p:cNvSpPr>
            <a:spLocks noChangeArrowheads="1"/>
          </p:cNvSpPr>
          <p:nvPr/>
        </p:nvSpPr>
        <p:spPr bwMode="auto">
          <a:xfrm>
            <a:off x="63881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38" name="Text Box 1134"/>
          <p:cNvSpPr txBox="1">
            <a:spLocks noChangeArrowheads="1"/>
          </p:cNvSpPr>
          <p:nvPr/>
        </p:nvSpPr>
        <p:spPr bwMode="auto">
          <a:xfrm>
            <a:off x="6318250" y="3429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22639" name="Text Box 1135"/>
          <p:cNvSpPr txBox="1">
            <a:spLocks noChangeArrowheads="1"/>
          </p:cNvSpPr>
          <p:nvPr/>
        </p:nvSpPr>
        <p:spPr bwMode="auto">
          <a:xfrm>
            <a:off x="5734050" y="28336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2"/>
                </a:solidFill>
                <a:latin typeface="Times New Roman" panose="02020603050405020304" pitchFamily="18" charset="0"/>
                <a:ea typeface="宋体" panose="02010600030101010101" pitchFamily="2" charset="-122"/>
              </a:rPr>
              <a:t>5</a:t>
            </a:r>
            <a:endParaRPr kumimoji="1" lang="en-US" altLang="zh-CN" sz="2400">
              <a:solidFill>
                <a:schemeClr val="bg2"/>
              </a:solidFill>
              <a:latin typeface="Times New Roman" panose="02020603050405020304" pitchFamily="18" charset="0"/>
              <a:ea typeface="宋体" panose="02010600030101010101" pitchFamily="2" charset="-122"/>
            </a:endParaRPr>
          </a:p>
        </p:txBody>
      </p:sp>
      <p:sp>
        <p:nvSpPr>
          <p:cNvPr id="22640" name="Text Box 1136"/>
          <p:cNvSpPr txBox="1">
            <a:spLocks noChangeArrowheads="1"/>
          </p:cNvSpPr>
          <p:nvPr/>
        </p:nvSpPr>
        <p:spPr bwMode="auto">
          <a:xfrm>
            <a:off x="5416550" y="3443288"/>
            <a:ext cx="984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2"/>
                </a:solidFill>
                <a:latin typeface="Times New Roman" panose="02020603050405020304" pitchFamily="18" charset="0"/>
                <a:ea typeface="宋体" panose="02010600030101010101" pitchFamily="2" charset="-122"/>
              </a:rPr>
              <a:t>10 11</a:t>
            </a:r>
            <a:endParaRPr kumimoji="1" lang="en-US" altLang="zh-CN" sz="2800" b="1">
              <a:solidFill>
                <a:schemeClr val="bg2"/>
              </a:solidFill>
              <a:latin typeface="Times New Roman" panose="02020603050405020304" pitchFamily="18" charset="0"/>
              <a:ea typeface="宋体" panose="02010600030101010101" pitchFamily="2" charset="-122"/>
            </a:endParaRPr>
          </a:p>
        </p:txBody>
      </p:sp>
      <p:sp>
        <p:nvSpPr>
          <p:cNvPr id="22641" name="Text Box 1137"/>
          <p:cNvSpPr txBox="1">
            <a:spLocks noChangeArrowheads="1"/>
          </p:cNvSpPr>
          <p:nvPr/>
        </p:nvSpPr>
        <p:spPr bwMode="auto">
          <a:xfrm>
            <a:off x="6781800" y="3443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a:solidFill>
                  <a:schemeClr val="bg2"/>
                </a:solidFill>
                <a:latin typeface="Times New Roman" panose="02020603050405020304" pitchFamily="18" charset="0"/>
                <a:ea typeface="宋体" panose="02010600030101010101" pitchFamily="2" charset="-122"/>
              </a:rPr>
              <a:t>13</a:t>
            </a:r>
            <a:endParaRPr kumimoji="1" lang="en-US" altLang="zh-CN" sz="2400">
              <a:latin typeface="Times New Roman" panose="02020603050405020304" pitchFamily="18" charset="0"/>
              <a:ea typeface="宋体" panose="02010600030101010101" pitchFamily="2" charset="-122"/>
            </a:endParaRPr>
          </a:p>
        </p:txBody>
      </p:sp>
      <p:sp>
        <p:nvSpPr>
          <p:cNvPr id="22642" name="Line 1138"/>
          <p:cNvSpPr>
            <a:spLocks noChangeShapeType="1"/>
          </p:cNvSpPr>
          <p:nvPr/>
        </p:nvSpPr>
        <p:spPr bwMode="auto">
          <a:xfrm flipH="1">
            <a:off x="5791200" y="3276600"/>
            <a:ext cx="76200" cy="228600"/>
          </a:xfrm>
          <a:prstGeom prst="line">
            <a:avLst/>
          </a:prstGeom>
          <a:noFill/>
          <a:ln w="38100" cap="rnd">
            <a:solidFill>
              <a:schemeClr val="bg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43" name="Line 1139"/>
          <p:cNvSpPr>
            <a:spLocks noChangeShapeType="1"/>
          </p:cNvSpPr>
          <p:nvPr/>
        </p:nvSpPr>
        <p:spPr bwMode="auto">
          <a:xfrm>
            <a:off x="6019800" y="3276600"/>
            <a:ext cx="152400" cy="304800"/>
          </a:xfrm>
          <a:prstGeom prst="line">
            <a:avLst/>
          </a:prstGeom>
          <a:noFill/>
          <a:ln w="38100" cap="rnd">
            <a:solidFill>
              <a:schemeClr val="bg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44" name="Line 1140"/>
          <p:cNvSpPr>
            <a:spLocks noChangeShapeType="1"/>
          </p:cNvSpPr>
          <p:nvPr/>
        </p:nvSpPr>
        <p:spPr bwMode="auto">
          <a:xfrm>
            <a:off x="7010400" y="3276600"/>
            <a:ext cx="76200" cy="304800"/>
          </a:xfrm>
          <a:prstGeom prst="line">
            <a:avLst/>
          </a:prstGeom>
          <a:noFill/>
          <a:ln w="38100" cap="rnd">
            <a:solidFill>
              <a:schemeClr val="bg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p:cNvSpPr>
            <a:spLocks noGrp="1"/>
          </p:cNvSpPr>
          <p:nvPr>
            <p:ph type="title"/>
          </p:nvPr>
        </p:nvSpPr>
        <p:spPr/>
        <p:txBody>
          <a:bodyPr/>
          <a:lstStyle/>
          <a:p>
            <a:r>
              <a:rPr lang="en-US" altLang="zh-CN" dirty="0"/>
              <a:t>5.3.1 </a:t>
            </a:r>
            <a:r>
              <a:rPr lang="zh-CN" altLang="en-US" dirty="0"/>
              <a:t>二叉树的数组存储表示</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27584" y="1412776"/>
            <a:ext cx="7029450" cy="4876800"/>
            <a:chOff x="361950" y="1219200"/>
            <a:chExt cx="7029450" cy="4876800"/>
          </a:xfrm>
        </p:grpSpPr>
        <p:sp>
          <p:nvSpPr>
            <p:cNvPr id="23554" name="Rectangle 2"/>
            <p:cNvSpPr>
              <a:spLocks noChangeArrowheads="1"/>
            </p:cNvSpPr>
            <p:nvPr/>
          </p:nvSpPr>
          <p:spPr bwMode="auto">
            <a:xfrm>
              <a:off x="2362200" y="5638800"/>
              <a:ext cx="5029200" cy="457200"/>
            </a:xfrm>
            <a:prstGeom prst="rect">
              <a:avLst/>
            </a:prstGeom>
            <a:solidFill>
              <a:srgbClr val="FF7C80"/>
            </a:solidFill>
            <a:ln w="9525">
              <a:miter lim="800000"/>
            </a:ln>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p:spPr>
          <p:txBody>
            <a:bodyPr wrap="none" anchor="ctr">
              <a:flatTx/>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555" name="Line 3"/>
            <p:cNvSpPr>
              <a:spLocks noChangeShapeType="1"/>
            </p:cNvSpPr>
            <p:nvPr/>
          </p:nvSpPr>
          <p:spPr bwMode="auto">
            <a:xfrm>
              <a:off x="4343400" y="1600200"/>
              <a:ext cx="2438400" cy="22098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6" name="Rectangle 4"/>
            <p:cNvSpPr>
              <a:spLocks noChangeArrowheads="1"/>
            </p:cNvSpPr>
            <p:nvPr/>
          </p:nvSpPr>
          <p:spPr bwMode="auto">
            <a:xfrm>
              <a:off x="387350" y="4648200"/>
              <a:ext cx="4641850" cy="457200"/>
            </a:xfrm>
            <a:prstGeom prst="rect">
              <a:avLst/>
            </a:prstGeom>
            <a:solidFill>
              <a:srgbClr val="FF7C80"/>
            </a:solidFill>
            <a:ln w="9525">
              <a:miter lim="800000"/>
            </a:ln>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p:spPr>
          <p:txBody>
            <a:bodyPr wrap="none" anchor="ctr">
              <a:flatTx/>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557" name="Text Box 5"/>
            <p:cNvSpPr txBox="1">
              <a:spLocks noChangeArrowheads="1"/>
            </p:cNvSpPr>
            <p:nvPr/>
          </p:nvSpPr>
          <p:spPr bwMode="auto">
            <a:xfrm>
              <a:off x="361950" y="4602163"/>
              <a:ext cx="346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Arial Narrow" panose="020B060602020203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3558" name="Oval 6"/>
            <p:cNvSpPr>
              <a:spLocks noChangeArrowheads="1"/>
            </p:cNvSpPr>
            <p:nvPr/>
          </p:nvSpPr>
          <p:spPr bwMode="auto">
            <a:xfrm>
              <a:off x="4019550" y="1281113"/>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559" name="Oval 7"/>
            <p:cNvSpPr>
              <a:spLocks noChangeArrowheads="1"/>
            </p:cNvSpPr>
            <p:nvPr/>
          </p:nvSpPr>
          <p:spPr bwMode="auto">
            <a:xfrm>
              <a:off x="4648200" y="18288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560" name="Text Box 8"/>
            <p:cNvSpPr txBox="1">
              <a:spLocks noChangeArrowheads="1"/>
            </p:cNvSpPr>
            <p:nvPr/>
          </p:nvSpPr>
          <p:spPr bwMode="auto">
            <a:xfrm>
              <a:off x="4046538" y="1219200"/>
              <a:ext cx="346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Arial Narrow" panose="020B060602020203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3561" name="Text Box 9"/>
            <p:cNvSpPr txBox="1">
              <a:spLocks noChangeArrowheads="1"/>
            </p:cNvSpPr>
            <p:nvPr/>
          </p:nvSpPr>
          <p:spPr bwMode="auto">
            <a:xfrm>
              <a:off x="4675188" y="1766888"/>
              <a:ext cx="346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Arial Narrow" panose="020B060602020203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23562" name="Oval 10"/>
            <p:cNvSpPr>
              <a:spLocks noChangeArrowheads="1"/>
            </p:cNvSpPr>
            <p:nvPr/>
          </p:nvSpPr>
          <p:spPr bwMode="auto">
            <a:xfrm>
              <a:off x="5943600" y="30480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563" name="Oval 11"/>
            <p:cNvSpPr>
              <a:spLocks noChangeArrowheads="1"/>
            </p:cNvSpPr>
            <p:nvPr/>
          </p:nvSpPr>
          <p:spPr bwMode="auto">
            <a:xfrm>
              <a:off x="5257800" y="2424113"/>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564" name="Text Box 12"/>
            <p:cNvSpPr txBox="1">
              <a:spLocks noChangeArrowheads="1"/>
            </p:cNvSpPr>
            <p:nvPr/>
          </p:nvSpPr>
          <p:spPr bwMode="auto">
            <a:xfrm>
              <a:off x="5284788" y="2362200"/>
              <a:ext cx="346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Arial Narrow" panose="020B0606020202030204" pitchFamily="34"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23565" name="Text Box 13"/>
            <p:cNvSpPr txBox="1">
              <a:spLocks noChangeArrowheads="1"/>
            </p:cNvSpPr>
            <p:nvPr/>
          </p:nvSpPr>
          <p:spPr bwMode="auto">
            <a:xfrm>
              <a:off x="5892800" y="2986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Arial Narrow" panose="020B0606020202030204" pitchFamily="34" charset="0"/>
                  <a:ea typeface="宋体" panose="02010600030101010101" pitchFamily="2" charset="-122"/>
                </a:rPr>
                <a:t>15</a:t>
              </a:r>
              <a:endParaRPr kumimoji="1" lang="en-US" altLang="zh-CN" sz="2400">
                <a:latin typeface="Times New Roman" panose="02020603050405020304" pitchFamily="18" charset="0"/>
                <a:ea typeface="宋体" panose="02010600030101010101" pitchFamily="2" charset="-122"/>
              </a:endParaRPr>
            </a:p>
          </p:txBody>
        </p:sp>
        <p:sp>
          <p:nvSpPr>
            <p:cNvPr id="23566" name="Line 14"/>
            <p:cNvSpPr>
              <a:spLocks noChangeShapeType="1"/>
            </p:cNvSpPr>
            <p:nvPr/>
          </p:nvSpPr>
          <p:spPr bwMode="auto">
            <a:xfrm>
              <a:off x="6858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7" name="Line 15"/>
            <p:cNvSpPr>
              <a:spLocks noChangeShapeType="1"/>
            </p:cNvSpPr>
            <p:nvPr/>
          </p:nvSpPr>
          <p:spPr bwMode="auto">
            <a:xfrm flipV="1">
              <a:off x="6858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8" name="Line 16"/>
            <p:cNvSpPr>
              <a:spLocks noChangeShapeType="1"/>
            </p:cNvSpPr>
            <p:nvPr/>
          </p:nvSpPr>
          <p:spPr bwMode="auto">
            <a:xfrm>
              <a:off x="9906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9" name="Line 17"/>
            <p:cNvSpPr>
              <a:spLocks noChangeShapeType="1"/>
            </p:cNvSpPr>
            <p:nvPr/>
          </p:nvSpPr>
          <p:spPr bwMode="auto">
            <a:xfrm flipV="1">
              <a:off x="9906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0" name="Line 18"/>
            <p:cNvSpPr>
              <a:spLocks noChangeShapeType="1"/>
            </p:cNvSpPr>
            <p:nvPr/>
          </p:nvSpPr>
          <p:spPr bwMode="auto">
            <a:xfrm>
              <a:off x="12954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1" name="Line 19"/>
            <p:cNvSpPr>
              <a:spLocks noChangeShapeType="1"/>
            </p:cNvSpPr>
            <p:nvPr/>
          </p:nvSpPr>
          <p:spPr bwMode="auto">
            <a:xfrm flipV="1">
              <a:off x="12954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2" name="Line 20"/>
            <p:cNvSpPr>
              <a:spLocks noChangeShapeType="1"/>
            </p:cNvSpPr>
            <p:nvPr/>
          </p:nvSpPr>
          <p:spPr bwMode="auto">
            <a:xfrm>
              <a:off x="16002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3" name="Line 21"/>
            <p:cNvSpPr>
              <a:spLocks noChangeShapeType="1"/>
            </p:cNvSpPr>
            <p:nvPr/>
          </p:nvSpPr>
          <p:spPr bwMode="auto">
            <a:xfrm flipV="1">
              <a:off x="16002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4" name="Line 22"/>
            <p:cNvSpPr>
              <a:spLocks noChangeShapeType="1"/>
            </p:cNvSpPr>
            <p:nvPr/>
          </p:nvSpPr>
          <p:spPr bwMode="auto">
            <a:xfrm>
              <a:off x="19050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5" name="Line 23"/>
            <p:cNvSpPr>
              <a:spLocks noChangeShapeType="1"/>
            </p:cNvSpPr>
            <p:nvPr/>
          </p:nvSpPr>
          <p:spPr bwMode="auto">
            <a:xfrm flipV="1">
              <a:off x="19050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6" name="Line 24"/>
            <p:cNvSpPr>
              <a:spLocks noChangeShapeType="1"/>
            </p:cNvSpPr>
            <p:nvPr/>
          </p:nvSpPr>
          <p:spPr bwMode="auto">
            <a:xfrm>
              <a:off x="22098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7" name="Line 25"/>
            <p:cNvSpPr>
              <a:spLocks noChangeShapeType="1"/>
            </p:cNvSpPr>
            <p:nvPr/>
          </p:nvSpPr>
          <p:spPr bwMode="auto">
            <a:xfrm flipV="1">
              <a:off x="22098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8" name="Line 26"/>
            <p:cNvSpPr>
              <a:spLocks noChangeShapeType="1"/>
            </p:cNvSpPr>
            <p:nvPr/>
          </p:nvSpPr>
          <p:spPr bwMode="auto">
            <a:xfrm>
              <a:off x="25146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9" name="Line 27"/>
            <p:cNvSpPr>
              <a:spLocks noChangeShapeType="1"/>
            </p:cNvSpPr>
            <p:nvPr/>
          </p:nvSpPr>
          <p:spPr bwMode="auto">
            <a:xfrm flipV="1">
              <a:off x="25146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0" name="Line 28"/>
            <p:cNvSpPr>
              <a:spLocks noChangeShapeType="1"/>
            </p:cNvSpPr>
            <p:nvPr/>
          </p:nvSpPr>
          <p:spPr bwMode="auto">
            <a:xfrm>
              <a:off x="28194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1" name="Line 29"/>
            <p:cNvSpPr>
              <a:spLocks noChangeShapeType="1"/>
            </p:cNvSpPr>
            <p:nvPr/>
          </p:nvSpPr>
          <p:spPr bwMode="auto">
            <a:xfrm flipV="1">
              <a:off x="28194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2" name="Line 30"/>
            <p:cNvSpPr>
              <a:spLocks noChangeShapeType="1"/>
            </p:cNvSpPr>
            <p:nvPr/>
          </p:nvSpPr>
          <p:spPr bwMode="auto">
            <a:xfrm>
              <a:off x="31242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3" name="Line 31"/>
            <p:cNvSpPr>
              <a:spLocks noChangeShapeType="1"/>
            </p:cNvSpPr>
            <p:nvPr/>
          </p:nvSpPr>
          <p:spPr bwMode="auto">
            <a:xfrm flipV="1">
              <a:off x="31242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4" name="Line 32"/>
            <p:cNvSpPr>
              <a:spLocks noChangeShapeType="1"/>
            </p:cNvSpPr>
            <p:nvPr/>
          </p:nvSpPr>
          <p:spPr bwMode="auto">
            <a:xfrm>
              <a:off x="34290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5" name="Line 33"/>
            <p:cNvSpPr>
              <a:spLocks noChangeShapeType="1"/>
            </p:cNvSpPr>
            <p:nvPr/>
          </p:nvSpPr>
          <p:spPr bwMode="auto">
            <a:xfrm flipV="1">
              <a:off x="34290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6" name="Line 34"/>
            <p:cNvSpPr>
              <a:spLocks noChangeShapeType="1"/>
            </p:cNvSpPr>
            <p:nvPr/>
          </p:nvSpPr>
          <p:spPr bwMode="auto">
            <a:xfrm>
              <a:off x="37338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7" name="Line 35"/>
            <p:cNvSpPr>
              <a:spLocks noChangeShapeType="1"/>
            </p:cNvSpPr>
            <p:nvPr/>
          </p:nvSpPr>
          <p:spPr bwMode="auto">
            <a:xfrm flipV="1">
              <a:off x="37338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8" name="Line 36"/>
            <p:cNvSpPr>
              <a:spLocks noChangeShapeType="1"/>
            </p:cNvSpPr>
            <p:nvPr/>
          </p:nvSpPr>
          <p:spPr bwMode="auto">
            <a:xfrm>
              <a:off x="40386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9" name="Line 37"/>
            <p:cNvSpPr>
              <a:spLocks noChangeShapeType="1"/>
            </p:cNvSpPr>
            <p:nvPr/>
          </p:nvSpPr>
          <p:spPr bwMode="auto">
            <a:xfrm flipV="1">
              <a:off x="40386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0" name="Line 38"/>
            <p:cNvSpPr>
              <a:spLocks noChangeShapeType="1"/>
            </p:cNvSpPr>
            <p:nvPr/>
          </p:nvSpPr>
          <p:spPr bwMode="auto">
            <a:xfrm>
              <a:off x="43434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1" name="Line 39"/>
            <p:cNvSpPr>
              <a:spLocks noChangeShapeType="1"/>
            </p:cNvSpPr>
            <p:nvPr/>
          </p:nvSpPr>
          <p:spPr bwMode="auto">
            <a:xfrm flipV="1">
              <a:off x="43434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2" name="Line 40"/>
            <p:cNvSpPr>
              <a:spLocks noChangeShapeType="1"/>
            </p:cNvSpPr>
            <p:nvPr/>
          </p:nvSpPr>
          <p:spPr bwMode="auto">
            <a:xfrm>
              <a:off x="46482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3" name="Line 41"/>
            <p:cNvSpPr>
              <a:spLocks noChangeShapeType="1"/>
            </p:cNvSpPr>
            <p:nvPr/>
          </p:nvSpPr>
          <p:spPr bwMode="auto">
            <a:xfrm flipV="1">
              <a:off x="46482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4" name="Line 42"/>
            <p:cNvSpPr>
              <a:spLocks noChangeShapeType="1"/>
            </p:cNvSpPr>
            <p:nvPr/>
          </p:nvSpPr>
          <p:spPr bwMode="auto">
            <a:xfrm>
              <a:off x="4953000" y="46482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5" name="Line 43"/>
            <p:cNvSpPr>
              <a:spLocks noChangeShapeType="1"/>
            </p:cNvSpPr>
            <p:nvPr/>
          </p:nvSpPr>
          <p:spPr bwMode="auto">
            <a:xfrm flipV="1">
              <a:off x="4953000" y="44958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6" name="Text Box 44"/>
            <p:cNvSpPr txBox="1">
              <a:spLocks noChangeArrowheads="1"/>
            </p:cNvSpPr>
            <p:nvPr/>
          </p:nvSpPr>
          <p:spPr bwMode="auto">
            <a:xfrm>
              <a:off x="990600" y="4602163"/>
              <a:ext cx="346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Arial Narrow" panose="020B0606020202030204" pitchFamily="34" charset="0"/>
                  <a:ea typeface="宋体" panose="02010600030101010101" pitchFamily="2" charset="-122"/>
                </a:rPr>
                <a:t>3</a:t>
              </a:r>
              <a:endParaRPr kumimoji="1" lang="en-US" altLang="zh-CN" sz="2800">
                <a:latin typeface="Times New Roman" panose="02020603050405020304" pitchFamily="18" charset="0"/>
                <a:ea typeface="宋体" panose="02010600030101010101" pitchFamily="2" charset="-122"/>
              </a:endParaRPr>
            </a:p>
          </p:txBody>
        </p:sp>
        <p:sp>
          <p:nvSpPr>
            <p:cNvPr id="23597" name="Text Box 45"/>
            <p:cNvSpPr txBox="1">
              <a:spLocks noChangeArrowheads="1"/>
            </p:cNvSpPr>
            <p:nvPr/>
          </p:nvSpPr>
          <p:spPr bwMode="auto">
            <a:xfrm>
              <a:off x="2168525" y="4602163"/>
              <a:ext cx="346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Arial Narrow" panose="020B0606020202030204" pitchFamily="34" charset="0"/>
                  <a:ea typeface="宋体" panose="02010600030101010101" pitchFamily="2" charset="-122"/>
                </a:rPr>
                <a:t>7</a:t>
              </a:r>
              <a:endParaRPr kumimoji="1" lang="en-US" altLang="zh-CN" sz="2800">
                <a:latin typeface="Times New Roman" panose="02020603050405020304" pitchFamily="18" charset="0"/>
                <a:ea typeface="宋体" panose="02010600030101010101" pitchFamily="2" charset="-122"/>
              </a:endParaRPr>
            </a:p>
          </p:txBody>
        </p:sp>
        <p:sp>
          <p:nvSpPr>
            <p:cNvPr id="23598" name="Text Box 46"/>
            <p:cNvSpPr txBox="1">
              <a:spLocks noChangeArrowheads="1"/>
            </p:cNvSpPr>
            <p:nvPr/>
          </p:nvSpPr>
          <p:spPr bwMode="auto">
            <a:xfrm>
              <a:off x="4521200" y="45862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Arial Narrow" panose="020B0606020202030204" pitchFamily="34" charset="0"/>
                  <a:ea typeface="宋体" panose="02010600030101010101" pitchFamily="2" charset="-122"/>
                </a:rPr>
                <a:t>15</a:t>
              </a:r>
              <a:endParaRPr kumimoji="1" lang="en-US" altLang="zh-CN" sz="2800">
                <a:latin typeface="Times New Roman" panose="02020603050405020304" pitchFamily="18" charset="0"/>
                <a:ea typeface="宋体" panose="02010600030101010101" pitchFamily="2" charset="-122"/>
              </a:endParaRPr>
            </a:p>
          </p:txBody>
        </p:sp>
        <p:sp>
          <p:nvSpPr>
            <p:cNvPr id="23599" name="Line 47"/>
            <p:cNvSpPr>
              <a:spLocks noChangeShapeType="1"/>
            </p:cNvSpPr>
            <p:nvPr/>
          </p:nvSpPr>
          <p:spPr bwMode="auto">
            <a:xfrm>
              <a:off x="26670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0" name="Line 48"/>
            <p:cNvSpPr>
              <a:spLocks noChangeShapeType="1"/>
            </p:cNvSpPr>
            <p:nvPr/>
          </p:nvSpPr>
          <p:spPr bwMode="auto">
            <a:xfrm flipV="1">
              <a:off x="26670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1" name="Line 49"/>
            <p:cNvSpPr>
              <a:spLocks noChangeShapeType="1"/>
            </p:cNvSpPr>
            <p:nvPr/>
          </p:nvSpPr>
          <p:spPr bwMode="auto">
            <a:xfrm>
              <a:off x="29718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2" name="Line 50"/>
            <p:cNvSpPr>
              <a:spLocks noChangeShapeType="1"/>
            </p:cNvSpPr>
            <p:nvPr/>
          </p:nvSpPr>
          <p:spPr bwMode="auto">
            <a:xfrm flipV="1">
              <a:off x="29718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3" name="Line 51"/>
            <p:cNvSpPr>
              <a:spLocks noChangeShapeType="1"/>
            </p:cNvSpPr>
            <p:nvPr/>
          </p:nvSpPr>
          <p:spPr bwMode="auto">
            <a:xfrm>
              <a:off x="32766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4" name="Line 52"/>
            <p:cNvSpPr>
              <a:spLocks noChangeShapeType="1"/>
            </p:cNvSpPr>
            <p:nvPr/>
          </p:nvSpPr>
          <p:spPr bwMode="auto">
            <a:xfrm flipV="1">
              <a:off x="32766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5" name="Line 53"/>
            <p:cNvSpPr>
              <a:spLocks noChangeShapeType="1"/>
            </p:cNvSpPr>
            <p:nvPr/>
          </p:nvSpPr>
          <p:spPr bwMode="auto">
            <a:xfrm>
              <a:off x="35814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6" name="Line 54"/>
            <p:cNvSpPr>
              <a:spLocks noChangeShapeType="1"/>
            </p:cNvSpPr>
            <p:nvPr/>
          </p:nvSpPr>
          <p:spPr bwMode="auto">
            <a:xfrm flipV="1">
              <a:off x="35814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7" name="Line 55"/>
            <p:cNvSpPr>
              <a:spLocks noChangeShapeType="1"/>
            </p:cNvSpPr>
            <p:nvPr/>
          </p:nvSpPr>
          <p:spPr bwMode="auto">
            <a:xfrm>
              <a:off x="38862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8" name="Line 56"/>
            <p:cNvSpPr>
              <a:spLocks noChangeShapeType="1"/>
            </p:cNvSpPr>
            <p:nvPr/>
          </p:nvSpPr>
          <p:spPr bwMode="auto">
            <a:xfrm flipV="1">
              <a:off x="38862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9" name="Line 57"/>
            <p:cNvSpPr>
              <a:spLocks noChangeShapeType="1"/>
            </p:cNvSpPr>
            <p:nvPr/>
          </p:nvSpPr>
          <p:spPr bwMode="auto">
            <a:xfrm>
              <a:off x="41910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0" name="Line 58"/>
            <p:cNvSpPr>
              <a:spLocks noChangeShapeType="1"/>
            </p:cNvSpPr>
            <p:nvPr/>
          </p:nvSpPr>
          <p:spPr bwMode="auto">
            <a:xfrm flipV="1">
              <a:off x="41910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1" name="Line 59"/>
            <p:cNvSpPr>
              <a:spLocks noChangeShapeType="1"/>
            </p:cNvSpPr>
            <p:nvPr/>
          </p:nvSpPr>
          <p:spPr bwMode="auto">
            <a:xfrm flipV="1">
              <a:off x="44958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2" name="Line 60"/>
            <p:cNvSpPr>
              <a:spLocks noChangeShapeType="1"/>
            </p:cNvSpPr>
            <p:nvPr/>
          </p:nvSpPr>
          <p:spPr bwMode="auto">
            <a:xfrm>
              <a:off x="48006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3" name="Line 61"/>
            <p:cNvSpPr>
              <a:spLocks noChangeShapeType="1"/>
            </p:cNvSpPr>
            <p:nvPr/>
          </p:nvSpPr>
          <p:spPr bwMode="auto">
            <a:xfrm flipV="1">
              <a:off x="48006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4" name="Line 62"/>
            <p:cNvSpPr>
              <a:spLocks noChangeShapeType="1"/>
            </p:cNvSpPr>
            <p:nvPr/>
          </p:nvSpPr>
          <p:spPr bwMode="auto">
            <a:xfrm>
              <a:off x="51054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5" name="Line 63"/>
            <p:cNvSpPr>
              <a:spLocks noChangeShapeType="1"/>
            </p:cNvSpPr>
            <p:nvPr/>
          </p:nvSpPr>
          <p:spPr bwMode="auto">
            <a:xfrm flipV="1">
              <a:off x="51054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6" name="Line 64"/>
            <p:cNvSpPr>
              <a:spLocks noChangeShapeType="1"/>
            </p:cNvSpPr>
            <p:nvPr/>
          </p:nvSpPr>
          <p:spPr bwMode="auto">
            <a:xfrm>
              <a:off x="54102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7" name="Line 65"/>
            <p:cNvSpPr>
              <a:spLocks noChangeShapeType="1"/>
            </p:cNvSpPr>
            <p:nvPr/>
          </p:nvSpPr>
          <p:spPr bwMode="auto">
            <a:xfrm flipV="1">
              <a:off x="54102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8" name="Line 66"/>
            <p:cNvSpPr>
              <a:spLocks noChangeShapeType="1"/>
            </p:cNvSpPr>
            <p:nvPr/>
          </p:nvSpPr>
          <p:spPr bwMode="auto">
            <a:xfrm>
              <a:off x="44958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9" name="Oval 67"/>
            <p:cNvSpPr>
              <a:spLocks noChangeArrowheads="1"/>
            </p:cNvSpPr>
            <p:nvPr/>
          </p:nvSpPr>
          <p:spPr bwMode="auto">
            <a:xfrm>
              <a:off x="6553200" y="3643313"/>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620" name="Text Box 68"/>
            <p:cNvSpPr txBox="1">
              <a:spLocks noChangeArrowheads="1"/>
            </p:cNvSpPr>
            <p:nvPr/>
          </p:nvSpPr>
          <p:spPr bwMode="auto">
            <a:xfrm>
              <a:off x="6502400" y="3581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Arial Narrow" panose="020B0606020202030204" pitchFamily="34" charset="0"/>
                  <a:ea typeface="宋体" panose="02010600030101010101" pitchFamily="2" charset="-122"/>
                </a:rPr>
                <a:t>31</a:t>
              </a:r>
              <a:endParaRPr kumimoji="1" lang="en-US" altLang="zh-CN" sz="2400">
                <a:latin typeface="Times New Roman" panose="02020603050405020304" pitchFamily="18" charset="0"/>
                <a:ea typeface="宋体" panose="02010600030101010101" pitchFamily="2" charset="-122"/>
              </a:endParaRPr>
            </a:p>
          </p:txBody>
        </p:sp>
        <p:sp>
          <p:nvSpPr>
            <p:cNvPr id="23622" name="Line 70"/>
            <p:cNvSpPr>
              <a:spLocks noChangeShapeType="1"/>
            </p:cNvSpPr>
            <p:nvPr/>
          </p:nvSpPr>
          <p:spPr bwMode="auto">
            <a:xfrm>
              <a:off x="57150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3" name="Line 71"/>
            <p:cNvSpPr>
              <a:spLocks noChangeShapeType="1"/>
            </p:cNvSpPr>
            <p:nvPr/>
          </p:nvSpPr>
          <p:spPr bwMode="auto">
            <a:xfrm flipV="1">
              <a:off x="57150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4" name="Line 72"/>
            <p:cNvSpPr>
              <a:spLocks noChangeShapeType="1"/>
            </p:cNvSpPr>
            <p:nvPr/>
          </p:nvSpPr>
          <p:spPr bwMode="auto">
            <a:xfrm>
              <a:off x="60198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5" name="Line 73"/>
            <p:cNvSpPr>
              <a:spLocks noChangeShapeType="1"/>
            </p:cNvSpPr>
            <p:nvPr/>
          </p:nvSpPr>
          <p:spPr bwMode="auto">
            <a:xfrm flipV="1">
              <a:off x="60198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6" name="Line 74"/>
            <p:cNvSpPr>
              <a:spLocks noChangeShapeType="1"/>
            </p:cNvSpPr>
            <p:nvPr/>
          </p:nvSpPr>
          <p:spPr bwMode="auto">
            <a:xfrm>
              <a:off x="63246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7" name="Line 75"/>
            <p:cNvSpPr>
              <a:spLocks noChangeShapeType="1"/>
            </p:cNvSpPr>
            <p:nvPr/>
          </p:nvSpPr>
          <p:spPr bwMode="auto">
            <a:xfrm flipV="1">
              <a:off x="63246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8" name="Line 76"/>
            <p:cNvSpPr>
              <a:spLocks noChangeShapeType="1"/>
            </p:cNvSpPr>
            <p:nvPr/>
          </p:nvSpPr>
          <p:spPr bwMode="auto">
            <a:xfrm>
              <a:off x="66294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9" name="Line 77"/>
            <p:cNvSpPr>
              <a:spLocks noChangeShapeType="1"/>
            </p:cNvSpPr>
            <p:nvPr/>
          </p:nvSpPr>
          <p:spPr bwMode="auto">
            <a:xfrm flipV="1">
              <a:off x="66294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0" name="Line 78"/>
            <p:cNvSpPr>
              <a:spLocks noChangeShapeType="1"/>
            </p:cNvSpPr>
            <p:nvPr/>
          </p:nvSpPr>
          <p:spPr bwMode="auto">
            <a:xfrm>
              <a:off x="69342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1" name="Line 79"/>
            <p:cNvSpPr>
              <a:spLocks noChangeShapeType="1"/>
            </p:cNvSpPr>
            <p:nvPr/>
          </p:nvSpPr>
          <p:spPr bwMode="auto">
            <a:xfrm flipV="1">
              <a:off x="69342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2" name="Line 80"/>
            <p:cNvSpPr>
              <a:spLocks noChangeShapeType="1"/>
            </p:cNvSpPr>
            <p:nvPr/>
          </p:nvSpPr>
          <p:spPr bwMode="auto">
            <a:xfrm>
              <a:off x="7239000" y="5638800"/>
              <a:ext cx="0" cy="4572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3" name="Line 81"/>
            <p:cNvSpPr>
              <a:spLocks noChangeShapeType="1"/>
            </p:cNvSpPr>
            <p:nvPr/>
          </p:nvSpPr>
          <p:spPr bwMode="auto">
            <a:xfrm flipV="1">
              <a:off x="7239000" y="5486400"/>
              <a:ext cx="152400" cy="152400"/>
            </a:xfrm>
            <a:prstGeom prst="line">
              <a:avLst/>
            </a:prstGeom>
            <a:noFill/>
            <a:ln w="19050">
              <a:solidFill>
                <a:srgbClr val="FFFF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4" name="Text Box 82"/>
            <p:cNvSpPr txBox="1">
              <a:spLocks noChangeArrowheads="1"/>
            </p:cNvSpPr>
            <p:nvPr/>
          </p:nvSpPr>
          <p:spPr bwMode="auto">
            <a:xfrm>
              <a:off x="6807200" y="55768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Arial Narrow" panose="020B0606020202030204" pitchFamily="34" charset="0"/>
                  <a:ea typeface="宋体" panose="02010600030101010101" pitchFamily="2" charset="-122"/>
                </a:rPr>
                <a:t>31</a:t>
              </a:r>
              <a:endParaRPr kumimoji="1" lang="en-US" altLang="zh-CN" sz="2800">
                <a:latin typeface="Times New Roman" panose="02020603050405020304" pitchFamily="18" charset="0"/>
                <a:ea typeface="宋体" panose="02010600030101010101" pitchFamily="2" charset="-122"/>
              </a:endParaRPr>
            </a:p>
          </p:txBody>
        </p:sp>
      </p:grpSp>
      <p:sp>
        <p:nvSpPr>
          <p:cNvPr id="2" name="标题 1"/>
          <p:cNvSpPr>
            <a:spLocks noGrp="1"/>
          </p:cNvSpPr>
          <p:nvPr>
            <p:ph type="title"/>
          </p:nvPr>
        </p:nvSpPr>
        <p:spPr/>
        <p:txBody>
          <a:bodyPr/>
          <a:lstStyle/>
          <a:p>
            <a:r>
              <a:rPr lang="zh-CN" altLang="en-US" dirty="0"/>
              <a:t>极端情形</a:t>
            </a:r>
            <a:r>
              <a:rPr lang="en-US" altLang="zh-CN" dirty="0"/>
              <a:t>: </a:t>
            </a:r>
            <a:r>
              <a:rPr lang="zh-CN" altLang="en-US" dirty="0"/>
              <a:t>只有右单支的二叉树</a:t>
            </a:r>
            <a:endParaRPr lang="zh-CN" altLang="en-US" dirty="0"/>
          </a:p>
        </p:txBody>
      </p:sp>
      <p:sp>
        <p:nvSpPr>
          <p:cNvPr id="4" name="灯片编号占位符 3"/>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7"/>
          <p:cNvSpPr>
            <a:spLocks noChangeArrowheads="1"/>
          </p:cNvSpPr>
          <p:nvPr/>
        </p:nvSpPr>
        <p:spPr bwMode="auto">
          <a:xfrm>
            <a:off x="2057400" y="1828800"/>
            <a:ext cx="4419600" cy="5334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4580" name="Text Box 8"/>
          <p:cNvSpPr txBox="1">
            <a:spLocks noChangeArrowheads="1"/>
          </p:cNvSpPr>
          <p:nvPr/>
        </p:nvSpPr>
        <p:spPr bwMode="auto">
          <a:xfrm>
            <a:off x="2100263" y="1828800"/>
            <a:ext cx="4337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leftChild   data   rightChild</a:t>
            </a:r>
            <a:endParaRPr kumimoji="1" lang="en-US" altLang="zh-CN" sz="2400">
              <a:latin typeface="Times New Roman" panose="02020603050405020304" pitchFamily="18" charset="0"/>
              <a:ea typeface="宋体" panose="02010600030101010101" pitchFamily="2" charset="-122"/>
            </a:endParaRPr>
          </a:p>
        </p:txBody>
      </p:sp>
      <p:sp>
        <p:nvSpPr>
          <p:cNvPr id="24581" name="Line 9"/>
          <p:cNvSpPr>
            <a:spLocks noChangeShapeType="1"/>
          </p:cNvSpPr>
          <p:nvPr/>
        </p:nvSpPr>
        <p:spPr bwMode="auto">
          <a:xfrm flipV="1">
            <a:off x="3657600" y="1828800"/>
            <a:ext cx="0" cy="533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2" name="Line 10"/>
          <p:cNvSpPr>
            <a:spLocks noChangeShapeType="1"/>
          </p:cNvSpPr>
          <p:nvPr/>
        </p:nvSpPr>
        <p:spPr bwMode="auto">
          <a:xfrm flipV="1">
            <a:off x="4572000" y="1828800"/>
            <a:ext cx="0" cy="533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3" name="Line 11"/>
          <p:cNvSpPr>
            <a:spLocks noChangeShapeType="1"/>
          </p:cNvSpPr>
          <p:nvPr/>
        </p:nvSpPr>
        <p:spPr bwMode="auto">
          <a:xfrm flipV="1">
            <a:off x="3657600" y="1676400"/>
            <a:ext cx="152400" cy="152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4" name="Line 12"/>
          <p:cNvSpPr>
            <a:spLocks noChangeShapeType="1"/>
          </p:cNvSpPr>
          <p:nvPr/>
        </p:nvSpPr>
        <p:spPr bwMode="auto">
          <a:xfrm flipV="1">
            <a:off x="4572000" y="1676400"/>
            <a:ext cx="152400" cy="152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5" name="AutoShape 13"/>
          <p:cNvSpPr>
            <a:spLocks noChangeArrowheads="1"/>
          </p:cNvSpPr>
          <p:nvPr/>
        </p:nvSpPr>
        <p:spPr bwMode="auto">
          <a:xfrm>
            <a:off x="3124200" y="3124200"/>
            <a:ext cx="2514600" cy="457200"/>
          </a:xfrm>
          <a:prstGeom prst="roundRect">
            <a:avLst>
              <a:gd name="adj" fmla="val 16667"/>
            </a:avLst>
          </a:prstGeom>
          <a:solidFill>
            <a:schemeClr val="accent1"/>
          </a:solidFill>
          <a:ln w="9525">
            <a:rou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4586" name="AutoShape 14"/>
          <p:cNvSpPr>
            <a:spLocks noChangeArrowheads="1"/>
          </p:cNvSpPr>
          <p:nvPr/>
        </p:nvSpPr>
        <p:spPr bwMode="auto">
          <a:xfrm>
            <a:off x="5181600" y="4038600"/>
            <a:ext cx="1828800" cy="457200"/>
          </a:xfrm>
          <a:prstGeom prst="roundRect">
            <a:avLst>
              <a:gd name="adj" fmla="val 16667"/>
            </a:avLst>
          </a:prstGeom>
          <a:solidFill>
            <a:schemeClr val="accent1"/>
          </a:solidFill>
          <a:ln w="9525">
            <a:rou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4587" name="AutoShape 15"/>
          <p:cNvSpPr>
            <a:spLocks noChangeArrowheads="1"/>
          </p:cNvSpPr>
          <p:nvPr/>
        </p:nvSpPr>
        <p:spPr bwMode="auto">
          <a:xfrm>
            <a:off x="1905000" y="4038600"/>
            <a:ext cx="1524000" cy="457200"/>
          </a:xfrm>
          <a:prstGeom prst="roundRect">
            <a:avLst>
              <a:gd name="adj" fmla="val 16667"/>
            </a:avLst>
          </a:prstGeom>
          <a:solidFill>
            <a:schemeClr val="accent1"/>
          </a:solidFill>
          <a:ln w="9525">
            <a:rou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4588" name="Text Box 16"/>
          <p:cNvSpPr txBox="1">
            <a:spLocks noChangeArrowheads="1"/>
          </p:cNvSpPr>
          <p:nvPr/>
        </p:nvSpPr>
        <p:spPr bwMode="auto">
          <a:xfrm>
            <a:off x="3943350" y="3062288"/>
            <a:ext cx="857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data</a:t>
            </a:r>
            <a:endParaRPr kumimoji="1" lang="en-US" altLang="zh-CN" sz="2400">
              <a:latin typeface="Times New Roman" panose="02020603050405020304" pitchFamily="18" charset="0"/>
              <a:ea typeface="宋体" panose="02010600030101010101" pitchFamily="2" charset="-122"/>
            </a:endParaRPr>
          </a:p>
        </p:txBody>
      </p:sp>
      <p:sp>
        <p:nvSpPr>
          <p:cNvPr id="24589" name="Text Box 17"/>
          <p:cNvSpPr txBox="1">
            <a:spLocks noChangeArrowheads="1"/>
          </p:cNvSpPr>
          <p:nvPr/>
        </p:nvSpPr>
        <p:spPr bwMode="auto">
          <a:xfrm>
            <a:off x="1905000" y="3976688"/>
            <a:ext cx="15287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leftChild</a:t>
            </a:r>
            <a:endParaRPr kumimoji="1" lang="en-US" altLang="zh-CN" sz="2400">
              <a:latin typeface="Times New Roman" panose="02020603050405020304" pitchFamily="18" charset="0"/>
              <a:ea typeface="宋体" panose="02010600030101010101" pitchFamily="2" charset="-122"/>
            </a:endParaRPr>
          </a:p>
        </p:txBody>
      </p:sp>
      <p:sp>
        <p:nvSpPr>
          <p:cNvPr id="24590" name="Line 18"/>
          <p:cNvSpPr>
            <a:spLocks noChangeShapeType="1"/>
          </p:cNvSpPr>
          <p:nvPr/>
        </p:nvSpPr>
        <p:spPr bwMode="auto">
          <a:xfrm flipV="1">
            <a:off x="4876800" y="3124200"/>
            <a:ext cx="0" cy="4572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1" name="Line 19"/>
          <p:cNvSpPr>
            <a:spLocks noChangeShapeType="1"/>
          </p:cNvSpPr>
          <p:nvPr/>
        </p:nvSpPr>
        <p:spPr bwMode="auto">
          <a:xfrm flipV="1">
            <a:off x="4876800" y="2971800"/>
            <a:ext cx="152400" cy="152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2" name="Line 20"/>
          <p:cNvSpPr>
            <a:spLocks noChangeShapeType="1"/>
          </p:cNvSpPr>
          <p:nvPr/>
        </p:nvSpPr>
        <p:spPr bwMode="auto">
          <a:xfrm flipV="1">
            <a:off x="3886200" y="3124200"/>
            <a:ext cx="0" cy="4572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3" name="Line 21"/>
          <p:cNvSpPr>
            <a:spLocks noChangeShapeType="1"/>
          </p:cNvSpPr>
          <p:nvPr/>
        </p:nvSpPr>
        <p:spPr bwMode="auto">
          <a:xfrm flipV="1">
            <a:off x="3886200" y="2971800"/>
            <a:ext cx="152400" cy="152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4" name="Text Box 24"/>
          <p:cNvSpPr txBox="1">
            <a:spLocks noChangeArrowheads="1"/>
          </p:cNvSpPr>
          <p:nvPr/>
        </p:nvSpPr>
        <p:spPr bwMode="auto">
          <a:xfrm>
            <a:off x="5181600" y="3962400"/>
            <a:ext cx="17859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rightChild</a:t>
            </a:r>
            <a:endParaRPr kumimoji="1" lang="en-US" altLang="zh-CN" sz="2400">
              <a:latin typeface="Times New Roman" panose="02020603050405020304" pitchFamily="18" charset="0"/>
              <a:ea typeface="宋体" panose="02010600030101010101" pitchFamily="2" charset="-122"/>
            </a:endParaRPr>
          </a:p>
        </p:txBody>
      </p:sp>
      <p:sp>
        <p:nvSpPr>
          <p:cNvPr id="24595" name="Line 25"/>
          <p:cNvSpPr>
            <a:spLocks noChangeShapeType="1"/>
          </p:cNvSpPr>
          <p:nvPr/>
        </p:nvSpPr>
        <p:spPr bwMode="auto">
          <a:xfrm flipH="1">
            <a:off x="2971800" y="3581400"/>
            <a:ext cx="304800" cy="304800"/>
          </a:xfrm>
          <a:prstGeom prst="line">
            <a:avLst/>
          </a:prstGeom>
          <a:noFill/>
          <a:ln w="38100">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6" name="Line 26"/>
          <p:cNvSpPr>
            <a:spLocks noChangeShapeType="1"/>
          </p:cNvSpPr>
          <p:nvPr/>
        </p:nvSpPr>
        <p:spPr bwMode="auto">
          <a:xfrm flipV="1">
            <a:off x="3276600" y="3352800"/>
            <a:ext cx="228600" cy="22860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7" name="Line 27"/>
          <p:cNvSpPr>
            <a:spLocks noChangeShapeType="1"/>
          </p:cNvSpPr>
          <p:nvPr/>
        </p:nvSpPr>
        <p:spPr bwMode="auto">
          <a:xfrm flipH="1" flipV="1">
            <a:off x="5562600" y="3581400"/>
            <a:ext cx="304800" cy="304800"/>
          </a:xfrm>
          <a:prstGeom prst="line">
            <a:avLst/>
          </a:prstGeom>
          <a:noFill/>
          <a:ln w="38100">
            <a:solidFill>
              <a:schemeClr val="tx2"/>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8" name="Line 28"/>
          <p:cNvSpPr>
            <a:spLocks noChangeShapeType="1"/>
          </p:cNvSpPr>
          <p:nvPr/>
        </p:nvSpPr>
        <p:spPr bwMode="auto">
          <a:xfrm>
            <a:off x="5334000" y="3352800"/>
            <a:ext cx="228600" cy="22860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9" name="Text Box 29"/>
          <p:cNvSpPr txBox="1">
            <a:spLocks noChangeArrowheads="1"/>
          </p:cNvSpPr>
          <p:nvPr/>
        </p:nvSpPr>
        <p:spPr bwMode="auto">
          <a:xfrm>
            <a:off x="2881950" y="4613960"/>
            <a:ext cx="295465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600" dirty="0">
                <a:solidFill>
                  <a:schemeClr val="accent2"/>
                </a:solidFill>
                <a:latin typeface="Times New Roman" panose="02020603050405020304" pitchFamily="18" charset="0"/>
                <a:ea typeface="隶书" panose="02010509060101010101" pitchFamily="49" charset="-122"/>
              </a:rPr>
              <a:t>二叉链表表示</a:t>
            </a:r>
            <a:endParaRPr kumimoji="1" lang="zh-CN" altLang="en-US" sz="2400" dirty="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en-US" altLang="zh-CN" dirty="0"/>
              <a:t>5.3.2 </a:t>
            </a:r>
            <a:r>
              <a:rPr lang="zh-CN" altLang="en-US" dirty="0"/>
              <a:t>二叉树的链表表示</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dirty="0"/>
          </a:p>
        </p:txBody>
      </p:sp>
    </p:spTree>
  </p:cSld>
  <p:clrMapOvr>
    <a:masterClrMapping/>
  </p:clrMapOvr>
  <p:transition>
    <p:spli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4"/>
          <p:cNvSpPr>
            <a:spLocks noChangeArrowheads="1"/>
          </p:cNvSpPr>
          <p:nvPr/>
        </p:nvSpPr>
        <p:spPr bwMode="auto">
          <a:xfrm>
            <a:off x="1524000" y="1828800"/>
            <a:ext cx="5638800" cy="5334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5604" name="Text Box 5"/>
          <p:cNvSpPr txBox="1">
            <a:spLocks noChangeArrowheads="1"/>
          </p:cNvSpPr>
          <p:nvPr/>
        </p:nvSpPr>
        <p:spPr bwMode="auto">
          <a:xfrm>
            <a:off x="1550988" y="1828800"/>
            <a:ext cx="56118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leftChild   data   parent   rightChild</a:t>
            </a:r>
            <a:endParaRPr kumimoji="1" lang="en-US" altLang="zh-CN" sz="2400">
              <a:latin typeface="Times New Roman" panose="02020603050405020304" pitchFamily="18" charset="0"/>
              <a:ea typeface="宋体" panose="02010600030101010101" pitchFamily="2" charset="-122"/>
            </a:endParaRPr>
          </a:p>
        </p:txBody>
      </p:sp>
      <p:sp>
        <p:nvSpPr>
          <p:cNvPr id="25605" name="Line 6"/>
          <p:cNvSpPr>
            <a:spLocks noChangeShapeType="1"/>
          </p:cNvSpPr>
          <p:nvPr/>
        </p:nvSpPr>
        <p:spPr bwMode="auto">
          <a:xfrm flipV="1">
            <a:off x="3124200" y="1828800"/>
            <a:ext cx="0" cy="533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6" name="Line 7"/>
          <p:cNvSpPr>
            <a:spLocks noChangeShapeType="1"/>
          </p:cNvSpPr>
          <p:nvPr/>
        </p:nvSpPr>
        <p:spPr bwMode="auto">
          <a:xfrm flipV="1">
            <a:off x="4038600" y="1828800"/>
            <a:ext cx="0" cy="533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7" name="Line 8"/>
          <p:cNvSpPr>
            <a:spLocks noChangeShapeType="1"/>
          </p:cNvSpPr>
          <p:nvPr/>
        </p:nvSpPr>
        <p:spPr bwMode="auto">
          <a:xfrm flipV="1">
            <a:off x="3124200" y="1676400"/>
            <a:ext cx="152400" cy="152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8" name="Line 9"/>
          <p:cNvSpPr>
            <a:spLocks noChangeShapeType="1"/>
          </p:cNvSpPr>
          <p:nvPr/>
        </p:nvSpPr>
        <p:spPr bwMode="auto">
          <a:xfrm flipV="1">
            <a:off x="4038600" y="1676400"/>
            <a:ext cx="152400" cy="152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9" name="Line 10"/>
          <p:cNvSpPr>
            <a:spLocks noChangeShapeType="1"/>
          </p:cNvSpPr>
          <p:nvPr/>
        </p:nvSpPr>
        <p:spPr bwMode="auto">
          <a:xfrm flipV="1">
            <a:off x="5334000" y="1828800"/>
            <a:ext cx="0" cy="533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0" name="Line 11"/>
          <p:cNvSpPr>
            <a:spLocks noChangeShapeType="1"/>
          </p:cNvSpPr>
          <p:nvPr/>
        </p:nvSpPr>
        <p:spPr bwMode="auto">
          <a:xfrm flipV="1">
            <a:off x="5334000" y="1676400"/>
            <a:ext cx="152400" cy="152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1" name="AutoShape 12"/>
          <p:cNvSpPr>
            <a:spLocks noChangeArrowheads="1"/>
          </p:cNvSpPr>
          <p:nvPr/>
        </p:nvSpPr>
        <p:spPr bwMode="auto">
          <a:xfrm>
            <a:off x="4419600" y="2971800"/>
            <a:ext cx="1371600" cy="457200"/>
          </a:xfrm>
          <a:prstGeom prst="roundRect">
            <a:avLst>
              <a:gd name="adj" fmla="val 16667"/>
            </a:avLst>
          </a:prstGeom>
          <a:solidFill>
            <a:schemeClr val="accent1"/>
          </a:solidFill>
          <a:ln w="9525">
            <a:rou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5612" name="AutoShape 13"/>
          <p:cNvSpPr>
            <a:spLocks noChangeArrowheads="1"/>
          </p:cNvSpPr>
          <p:nvPr/>
        </p:nvSpPr>
        <p:spPr bwMode="auto">
          <a:xfrm>
            <a:off x="3048000" y="3886200"/>
            <a:ext cx="3048000" cy="457200"/>
          </a:xfrm>
          <a:prstGeom prst="roundRect">
            <a:avLst>
              <a:gd name="adj" fmla="val 16667"/>
            </a:avLst>
          </a:prstGeom>
          <a:solidFill>
            <a:schemeClr val="accent1"/>
          </a:solidFill>
          <a:ln w="9525">
            <a:rou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5613" name="AutoShape 14"/>
          <p:cNvSpPr>
            <a:spLocks noChangeArrowheads="1"/>
          </p:cNvSpPr>
          <p:nvPr/>
        </p:nvSpPr>
        <p:spPr bwMode="auto">
          <a:xfrm>
            <a:off x="5638800" y="4800600"/>
            <a:ext cx="1828800" cy="457200"/>
          </a:xfrm>
          <a:prstGeom prst="roundRect">
            <a:avLst>
              <a:gd name="adj" fmla="val 16667"/>
            </a:avLst>
          </a:prstGeom>
          <a:solidFill>
            <a:schemeClr val="accent1"/>
          </a:solidFill>
          <a:ln w="9525">
            <a:rou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5614" name="AutoShape 15"/>
          <p:cNvSpPr>
            <a:spLocks noChangeArrowheads="1"/>
          </p:cNvSpPr>
          <p:nvPr/>
        </p:nvSpPr>
        <p:spPr bwMode="auto">
          <a:xfrm>
            <a:off x="1828800" y="4800600"/>
            <a:ext cx="1524000" cy="457200"/>
          </a:xfrm>
          <a:prstGeom prst="roundRect">
            <a:avLst>
              <a:gd name="adj" fmla="val 16667"/>
            </a:avLst>
          </a:prstGeom>
          <a:solidFill>
            <a:schemeClr val="accent1"/>
          </a:solidFill>
          <a:ln w="9525">
            <a:rou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5615" name="Text Box 17"/>
          <p:cNvSpPr txBox="1">
            <a:spLocks noChangeArrowheads="1"/>
          </p:cNvSpPr>
          <p:nvPr/>
        </p:nvSpPr>
        <p:spPr bwMode="auto">
          <a:xfrm>
            <a:off x="4522788" y="2895600"/>
            <a:ext cx="11922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parent</a:t>
            </a:r>
            <a:endParaRPr kumimoji="1" lang="en-US" altLang="zh-CN" sz="2400">
              <a:latin typeface="Times New Roman" panose="02020603050405020304" pitchFamily="18" charset="0"/>
              <a:ea typeface="宋体" panose="02010600030101010101" pitchFamily="2" charset="-122"/>
            </a:endParaRPr>
          </a:p>
        </p:txBody>
      </p:sp>
      <p:sp>
        <p:nvSpPr>
          <p:cNvPr id="25616" name="Text Box 18"/>
          <p:cNvSpPr txBox="1">
            <a:spLocks noChangeArrowheads="1"/>
          </p:cNvSpPr>
          <p:nvPr/>
        </p:nvSpPr>
        <p:spPr bwMode="auto">
          <a:xfrm>
            <a:off x="3790950" y="3824288"/>
            <a:ext cx="857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data</a:t>
            </a:r>
            <a:endParaRPr kumimoji="1" lang="en-US" altLang="zh-CN" sz="2400">
              <a:latin typeface="Times New Roman" panose="02020603050405020304" pitchFamily="18" charset="0"/>
              <a:ea typeface="宋体" panose="02010600030101010101" pitchFamily="2" charset="-122"/>
            </a:endParaRPr>
          </a:p>
        </p:txBody>
      </p:sp>
      <p:sp>
        <p:nvSpPr>
          <p:cNvPr id="25617" name="Text Box 19"/>
          <p:cNvSpPr txBox="1">
            <a:spLocks noChangeArrowheads="1"/>
          </p:cNvSpPr>
          <p:nvPr/>
        </p:nvSpPr>
        <p:spPr bwMode="auto">
          <a:xfrm>
            <a:off x="1828800" y="4738688"/>
            <a:ext cx="15287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leftChild</a:t>
            </a:r>
            <a:endParaRPr kumimoji="1" lang="en-US" altLang="zh-CN" sz="2400">
              <a:latin typeface="Times New Roman" panose="02020603050405020304" pitchFamily="18" charset="0"/>
              <a:ea typeface="宋体" panose="02010600030101010101" pitchFamily="2" charset="-122"/>
            </a:endParaRPr>
          </a:p>
        </p:txBody>
      </p:sp>
      <p:sp>
        <p:nvSpPr>
          <p:cNvPr id="25618" name="Line 20"/>
          <p:cNvSpPr>
            <a:spLocks noChangeShapeType="1"/>
          </p:cNvSpPr>
          <p:nvPr/>
        </p:nvSpPr>
        <p:spPr bwMode="auto">
          <a:xfrm flipV="1">
            <a:off x="4648200" y="3886200"/>
            <a:ext cx="0" cy="4572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9" name="Line 21"/>
          <p:cNvSpPr>
            <a:spLocks noChangeShapeType="1"/>
          </p:cNvSpPr>
          <p:nvPr/>
        </p:nvSpPr>
        <p:spPr bwMode="auto">
          <a:xfrm flipV="1">
            <a:off x="4648200" y="3733800"/>
            <a:ext cx="152400" cy="152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0" name="Line 22"/>
          <p:cNvSpPr>
            <a:spLocks noChangeShapeType="1"/>
          </p:cNvSpPr>
          <p:nvPr/>
        </p:nvSpPr>
        <p:spPr bwMode="auto">
          <a:xfrm flipV="1">
            <a:off x="3733800" y="3886200"/>
            <a:ext cx="0" cy="4572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1" name="Line 23"/>
          <p:cNvSpPr>
            <a:spLocks noChangeShapeType="1"/>
          </p:cNvSpPr>
          <p:nvPr/>
        </p:nvSpPr>
        <p:spPr bwMode="auto">
          <a:xfrm flipV="1">
            <a:off x="3733800" y="3733800"/>
            <a:ext cx="152400" cy="152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2" name="Line 24"/>
          <p:cNvSpPr>
            <a:spLocks noChangeShapeType="1"/>
          </p:cNvSpPr>
          <p:nvPr/>
        </p:nvSpPr>
        <p:spPr bwMode="auto">
          <a:xfrm flipV="1">
            <a:off x="5410200" y="3886200"/>
            <a:ext cx="0" cy="4572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3" name="Line 25"/>
          <p:cNvSpPr>
            <a:spLocks noChangeShapeType="1"/>
          </p:cNvSpPr>
          <p:nvPr/>
        </p:nvSpPr>
        <p:spPr bwMode="auto">
          <a:xfrm flipV="1">
            <a:off x="5410200" y="3733800"/>
            <a:ext cx="152400" cy="152400"/>
          </a:xfrm>
          <a:prstGeom prst="line">
            <a:avLst/>
          </a:prstGeom>
          <a:noFill/>
          <a:ln w="19050">
            <a:solidFill>
              <a:srgbClr val="FFFF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4" name="Text Box 26"/>
          <p:cNvSpPr txBox="1">
            <a:spLocks noChangeArrowheads="1"/>
          </p:cNvSpPr>
          <p:nvPr/>
        </p:nvSpPr>
        <p:spPr bwMode="auto">
          <a:xfrm>
            <a:off x="5638800" y="4724400"/>
            <a:ext cx="17859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rightChild</a:t>
            </a:r>
            <a:endParaRPr kumimoji="1" lang="en-US" altLang="zh-CN" sz="2400">
              <a:latin typeface="Times New Roman" panose="02020603050405020304" pitchFamily="18" charset="0"/>
              <a:ea typeface="宋体" panose="02010600030101010101" pitchFamily="2" charset="-122"/>
            </a:endParaRPr>
          </a:p>
        </p:txBody>
      </p:sp>
      <p:sp>
        <p:nvSpPr>
          <p:cNvPr id="25625" name="Line 27"/>
          <p:cNvSpPr>
            <a:spLocks noChangeShapeType="1"/>
          </p:cNvSpPr>
          <p:nvPr/>
        </p:nvSpPr>
        <p:spPr bwMode="auto">
          <a:xfrm flipV="1">
            <a:off x="5029200" y="3429000"/>
            <a:ext cx="0" cy="381000"/>
          </a:xfrm>
          <a:prstGeom prst="line">
            <a:avLst/>
          </a:prstGeom>
          <a:noFill/>
          <a:ln w="38100">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6" name="Line 28"/>
          <p:cNvSpPr>
            <a:spLocks noChangeShapeType="1"/>
          </p:cNvSpPr>
          <p:nvPr/>
        </p:nvSpPr>
        <p:spPr bwMode="auto">
          <a:xfrm>
            <a:off x="5029200" y="3810000"/>
            <a:ext cx="0" cy="30480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7" name="Line 29"/>
          <p:cNvSpPr>
            <a:spLocks noChangeShapeType="1"/>
          </p:cNvSpPr>
          <p:nvPr/>
        </p:nvSpPr>
        <p:spPr bwMode="auto">
          <a:xfrm flipH="1">
            <a:off x="2895600" y="4343400"/>
            <a:ext cx="304800" cy="304800"/>
          </a:xfrm>
          <a:prstGeom prst="line">
            <a:avLst/>
          </a:prstGeom>
          <a:noFill/>
          <a:ln w="38100">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8" name="Line 30"/>
          <p:cNvSpPr>
            <a:spLocks noChangeShapeType="1"/>
          </p:cNvSpPr>
          <p:nvPr/>
        </p:nvSpPr>
        <p:spPr bwMode="auto">
          <a:xfrm flipV="1">
            <a:off x="3200400" y="4114800"/>
            <a:ext cx="228600" cy="22860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9" name="Line 31"/>
          <p:cNvSpPr>
            <a:spLocks noChangeShapeType="1"/>
          </p:cNvSpPr>
          <p:nvPr/>
        </p:nvSpPr>
        <p:spPr bwMode="auto">
          <a:xfrm flipH="1" flipV="1">
            <a:off x="5867400" y="4343400"/>
            <a:ext cx="304800" cy="304800"/>
          </a:xfrm>
          <a:prstGeom prst="line">
            <a:avLst/>
          </a:prstGeom>
          <a:noFill/>
          <a:ln w="38100">
            <a:solidFill>
              <a:schemeClr val="tx2"/>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0" name="Line 32"/>
          <p:cNvSpPr>
            <a:spLocks noChangeShapeType="1"/>
          </p:cNvSpPr>
          <p:nvPr/>
        </p:nvSpPr>
        <p:spPr bwMode="auto">
          <a:xfrm>
            <a:off x="5638800" y="4114800"/>
            <a:ext cx="228600" cy="22860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1" name="Text Box 33"/>
          <p:cNvSpPr txBox="1">
            <a:spLocks noChangeArrowheads="1"/>
          </p:cNvSpPr>
          <p:nvPr/>
        </p:nvSpPr>
        <p:spPr bwMode="auto">
          <a:xfrm>
            <a:off x="3078800" y="5331510"/>
            <a:ext cx="295465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600" dirty="0">
                <a:solidFill>
                  <a:schemeClr val="accent2"/>
                </a:solidFill>
                <a:latin typeface="Times New Roman" panose="02020603050405020304" pitchFamily="18" charset="0"/>
                <a:ea typeface="隶书" panose="02010509060101010101" pitchFamily="49" charset="-122"/>
              </a:rPr>
              <a:t>三叉链表表示</a:t>
            </a:r>
            <a:endParaRPr kumimoji="1" lang="zh-CN" altLang="en-US" sz="2400" dirty="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zh-CN" altLang="en-US" dirty="0"/>
              <a:t>三叉链表表示</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Line 13"/>
          <p:cNvSpPr>
            <a:spLocks noChangeShapeType="1"/>
          </p:cNvSpPr>
          <p:nvPr/>
        </p:nvSpPr>
        <p:spPr bwMode="auto">
          <a:xfrm flipH="1">
            <a:off x="1355130" y="4660032"/>
            <a:ext cx="304800" cy="762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27" name="Line 12"/>
          <p:cNvSpPr>
            <a:spLocks noChangeShapeType="1"/>
          </p:cNvSpPr>
          <p:nvPr/>
        </p:nvSpPr>
        <p:spPr bwMode="auto">
          <a:xfrm>
            <a:off x="1431330" y="3898032"/>
            <a:ext cx="609600" cy="13716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28" name="Line 11"/>
          <p:cNvSpPr>
            <a:spLocks noChangeShapeType="1"/>
          </p:cNvSpPr>
          <p:nvPr/>
        </p:nvSpPr>
        <p:spPr bwMode="auto">
          <a:xfrm flipH="1">
            <a:off x="1050330" y="3136032"/>
            <a:ext cx="533400" cy="1295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0" name="Oval 4" descr="羊皮纸"/>
          <p:cNvSpPr>
            <a:spLocks noChangeArrowheads="1"/>
          </p:cNvSpPr>
          <p:nvPr/>
        </p:nvSpPr>
        <p:spPr bwMode="auto">
          <a:xfrm>
            <a:off x="1431330" y="2755032"/>
            <a:ext cx="457200" cy="457200"/>
          </a:xfrm>
          <a:prstGeom prst="ellipse">
            <a:avLst/>
          </a:prstGeom>
          <a:blipFill dpi="0" rotWithShape="0">
            <a:blip r:embed="rId1"/>
            <a:srcRect/>
            <a:tile tx="0" ty="0" sx="100000" sy="100000" flip="none" algn="tl"/>
          </a:blip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1" name="Oval 5" descr="羊皮纸"/>
          <p:cNvSpPr>
            <a:spLocks noChangeArrowheads="1"/>
          </p:cNvSpPr>
          <p:nvPr/>
        </p:nvSpPr>
        <p:spPr bwMode="auto">
          <a:xfrm>
            <a:off x="1126530" y="3517032"/>
            <a:ext cx="457200" cy="457200"/>
          </a:xfrm>
          <a:prstGeom prst="ellipse">
            <a:avLst/>
          </a:prstGeom>
          <a:blipFill dpi="0" rotWithShape="0">
            <a:blip r:embed="rId1"/>
            <a:srcRect/>
            <a:tile tx="0" ty="0" sx="100000" sy="100000" flip="none" algn="tl"/>
          </a:blip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2" name="Oval 6" descr="羊皮纸"/>
          <p:cNvSpPr>
            <a:spLocks noChangeArrowheads="1"/>
          </p:cNvSpPr>
          <p:nvPr/>
        </p:nvSpPr>
        <p:spPr bwMode="auto">
          <a:xfrm>
            <a:off x="745530" y="4355232"/>
            <a:ext cx="457200" cy="457200"/>
          </a:xfrm>
          <a:prstGeom prst="ellipse">
            <a:avLst/>
          </a:prstGeom>
          <a:blipFill dpi="0" rotWithShape="0">
            <a:blip r:embed="rId1"/>
            <a:srcRect/>
            <a:tile tx="0" ty="0" sx="100000" sy="100000" flip="none" algn="tl"/>
          </a:blip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3" name="Oval 7" descr="羊皮纸"/>
          <p:cNvSpPr>
            <a:spLocks noChangeArrowheads="1"/>
          </p:cNvSpPr>
          <p:nvPr/>
        </p:nvSpPr>
        <p:spPr bwMode="auto">
          <a:xfrm>
            <a:off x="1507530" y="4355232"/>
            <a:ext cx="457200" cy="457200"/>
          </a:xfrm>
          <a:prstGeom prst="ellipse">
            <a:avLst/>
          </a:prstGeom>
          <a:blipFill dpi="0" rotWithShape="0">
            <a:blip r:embed="rId1"/>
            <a:srcRect/>
            <a:tile tx="0" ty="0" sx="100000" sy="100000" flip="none" algn="tl"/>
          </a:blip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4" name="Oval 8" descr="羊皮纸"/>
          <p:cNvSpPr>
            <a:spLocks noChangeArrowheads="1"/>
          </p:cNvSpPr>
          <p:nvPr/>
        </p:nvSpPr>
        <p:spPr bwMode="auto">
          <a:xfrm>
            <a:off x="1888530" y="5193432"/>
            <a:ext cx="457200" cy="457200"/>
          </a:xfrm>
          <a:prstGeom prst="ellipse">
            <a:avLst/>
          </a:prstGeom>
          <a:blipFill dpi="0" rotWithShape="0">
            <a:blip r:embed="rId1"/>
            <a:srcRect/>
            <a:tile tx="0" ty="0" sx="100000" sy="100000" flip="none" algn="tl"/>
          </a:blip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5" name="Oval 10" descr="羊皮纸"/>
          <p:cNvSpPr>
            <a:spLocks noChangeArrowheads="1"/>
          </p:cNvSpPr>
          <p:nvPr/>
        </p:nvSpPr>
        <p:spPr bwMode="auto">
          <a:xfrm>
            <a:off x="1126530" y="5193432"/>
            <a:ext cx="457200" cy="457200"/>
          </a:xfrm>
          <a:prstGeom prst="ellipse">
            <a:avLst/>
          </a:prstGeom>
          <a:blipFill dpi="0" rotWithShape="0">
            <a:blip r:embed="rId1"/>
            <a:srcRect/>
            <a:tile tx="0" ty="0" sx="100000" sy="100000" flip="none" algn="tl"/>
          </a:blip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6" name="Rectangle 14" descr="羊皮纸"/>
          <p:cNvSpPr>
            <a:spLocks noChangeArrowheads="1"/>
          </p:cNvSpPr>
          <p:nvPr/>
        </p:nvSpPr>
        <p:spPr bwMode="auto">
          <a:xfrm>
            <a:off x="3641130" y="2678832"/>
            <a:ext cx="990600" cy="457200"/>
          </a:xfrm>
          <a:prstGeom prst="rect">
            <a:avLst/>
          </a:prstGeom>
          <a:blipFill dpi="0" rotWithShape="0">
            <a:blip r:embed="rId1"/>
            <a:srcRect/>
            <a:tile tx="0" ty="0" sx="100000" sy="100000" flip="none" algn="tl"/>
          </a:blipFill>
          <a:ln w="38100">
            <a:solidFill>
              <a:schemeClr val="tx2"/>
            </a:solidFill>
            <a:miter lim="800000"/>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7" name="Line 15"/>
          <p:cNvSpPr>
            <a:spLocks noChangeShapeType="1"/>
          </p:cNvSpPr>
          <p:nvPr/>
        </p:nvSpPr>
        <p:spPr bwMode="auto">
          <a:xfrm>
            <a:off x="3945930" y="2678832"/>
            <a:ext cx="0"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8" name="Line 16"/>
          <p:cNvSpPr>
            <a:spLocks noChangeShapeType="1"/>
          </p:cNvSpPr>
          <p:nvPr/>
        </p:nvSpPr>
        <p:spPr bwMode="auto">
          <a:xfrm>
            <a:off x="4326930" y="2678832"/>
            <a:ext cx="0"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9" name="Rectangle 17" descr="羊皮纸"/>
          <p:cNvSpPr>
            <a:spLocks noChangeArrowheads="1"/>
          </p:cNvSpPr>
          <p:nvPr/>
        </p:nvSpPr>
        <p:spPr bwMode="auto">
          <a:xfrm>
            <a:off x="3107730" y="3517032"/>
            <a:ext cx="990600" cy="457200"/>
          </a:xfrm>
          <a:prstGeom prst="rect">
            <a:avLst/>
          </a:prstGeom>
          <a:blipFill dpi="0" rotWithShape="0">
            <a:blip r:embed="rId1"/>
            <a:srcRect/>
            <a:tile tx="0" ty="0" sx="100000" sy="100000" flip="none" algn="tl"/>
          </a:blipFill>
          <a:ln w="38100">
            <a:solidFill>
              <a:schemeClr val="tx2"/>
            </a:solidFill>
            <a:miter lim="800000"/>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40" name="Line 18"/>
          <p:cNvSpPr>
            <a:spLocks noChangeShapeType="1"/>
          </p:cNvSpPr>
          <p:nvPr/>
        </p:nvSpPr>
        <p:spPr bwMode="auto">
          <a:xfrm>
            <a:off x="3412530" y="3517032"/>
            <a:ext cx="0"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1" name="Line 19"/>
          <p:cNvSpPr>
            <a:spLocks noChangeShapeType="1"/>
          </p:cNvSpPr>
          <p:nvPr/>
        </p:nvSpPr>
        <p:spPr bwMode="auto">
          <a:xfrm>
            <a:off x="3793530" y="3517032"/>
            <a:ext cx="0"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2" name="Rectangle 20" descr="羊皮纸"/>
          <p:cNvSpPr>
            <a:spLocks noChangeArrowheads="1"/>
          </p:cNvSpPr>
          <p:nvPr/>
        </p:nvSpPr>
        <p:spPr bwMode="auto">
          <a:xfrm>
            <a:off x="3031530" y="5193432"/>
            <a:ext cx="990600" cy="457200"/>
          </a:xfrm>
          <a:prstGeom prst="rect">
            <a:avLst/>
          </a:prstGeom>
          <a:blipFill dpi="0" rotWithShape="0">
            <a:blip r:embed="rId1"/>
            <a:srcRect/>
            <a:tile tx="0" ty="0" sx="100000" sy="100000" flip="none" algn="tl"/>
          </a:blipFill>
          <a:ln w="38100">
            <a:solidFill>
              <a:schemeClr val="tx2"/>
            </a:solidFill>
            <a:miter lim="800000"/>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43" name="Line 21"/>
          <p:cNvSpPr>
            <a:spLocks noChangeShapeType="1"/>
          </p:cNvSpPr>
          <p:nvPr/>
        </p:nvSpPr>
        <p:spPr bwMode="auto">
          <a:xfrm>
            <a:off x="3336330" y="5193432"/>
            <a:ext cx="0"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4" name="Line 22"/>
          <p:cNvSpPr>
            <a:spLocks noChangeShapeType="1"/>
          </p:cNvSpPr>
          <p:nvPr/>
        </p:nvSpPr>
        <p:spPr bwMode="auto">
          <a:xfrm>
            <a:off x="3717330" y="5193432"/>
            <a:ext cx="0"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5" name="Rectangle 23" descr="羊皮纸"/>
          <p:cNvSpPr>
            <a:spLocks noChangeArrowheads="1"/>
          </p:cNvSpPr>
          <p:nvPr/>
        </p:nvSpPr>
        <p:spPr bwMode="auto">
          <a:xfrm>
            <a:off x="4174530" y="5193432"/>
            <a:ext cx="990600" cy="457200"/>
          </a:xfrm>
          <a:prstGeom prst="rect">
            <a:avLst/>
          </a:prstGeom>
          <a:blipFill dpi="0" rotWithShape="0">
            <a:blip r:embed="rId1"/>
            <a:srcRect/>
            <a:tile tx="0" ty="0" sx="100000" sy="100000" flip="none" algn="tl"/>
          </a:blipFill>
          <a:ln w="38100">
            <a:solidFill>
              <a:schemeClr val="tx2"/>
            </a:solidFill>
            <a:miter lim="800000"/>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46" name="Line 24"/>
          <p:cNvSpPr>
            <a:spLocks noChangeShapeType="1"/>
          </p:cNvSpPr>
          <p:nvPr/>
        </p:nvSpPr>
        <p:spPr bwMode="auto">
          <a:xfrm>
            <a:off x="4479330" y="5193432"/>
            <a:ext cx="0"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7" name="Line 25"/>
          <p:cNvSpPr>
            <a:spLocks noChangeShapeType="1"/>
          </p:cNvSpPr>
          <p:nvPr/>
        </p:nvSpPr>
        <p:spPr bwMode="auto">
          <a:xfrm>
            <a:off x="4860330" y="5193432"/>
            <a:ext cx="0"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8" name="Rectangle 26" descr="羊皮纸"/>
          <p:cNvSpPr>
            <a:spLocks noChangeArrowheads="1"/>
          </p:cNvSpPr>
          <p:nvPr/>
        </p:nvSpPr>
        <p:spPr bwMode="auto">
          <a:xfrm>
            <a:off x="3641130" y="4355232"/>
            <a:ext cx="990600" cy="457200"/>
          </a:xfrm>
          <a:prstGeom prst="rect">
            <a:avLst/>
          </a:prstGeom>
          <a:blipFill dpi="0" rotWithShape="0">
            <a:blip r:embed="rId1"/>
            <a:srcRect/>
            <a:tile tx="0" ty="0" sx="100000" sy="100000" flip="none" algn="tl"/>
          </a:blipFill>
          <a:ln w="38100">
            <a:solidFill>
              <a:schemeClr val="tx2"/>
            </a:solidFill>
            <a:miter lim="800000"/>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49" name="Line 27"/>
          <p:cNvSpPr>
            <a:spLocks noChangeShapeType="1"/>
          </p:cNvSpPr>
          <p:nvPr/>
        </p:nvSpPr>
        <p:spPr bwMode="auto">
          <a:xfrm>
            <a:off x="3945930" y="4355232"/>
            <a:ext cx="0"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0" name="Line 28"/>
          <p:cNvSpPr>
            <a:spLocks noChangeShapeType="1"/>
          </p:cNvSpPr>
          <p:nvPr/>
        </p:nvSpPr>
        <p:spPr bwMode="auto">
          <a:xfrm>
            <a:off x="4326930" y="4355232"/>
            <a:ext cx="0"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1" name="Rectangle 29" descr="羊皮纸"/>
          <p:cNvSpPr>
            <a:spLocks noChangeArrowheads="1"/>
          </p:cNvSpPr>
          <p:nvPr/>
        </p:nvSpPr>
        <p:spPr bwMode="auto">
          <a:xfrm>
            <a:off x="2498130" y="4355232"/>
            <a:ext cx="990600" cy="457200"/>
          </a:xfrm>
          <a:prstGeom prst="rect">
            <a:avLst/>
          </a:prstGeom>
          <a:blipFill dpi="0" rotWithShape="0">
            <a:blip r:embed="rId1"/>
            <a:srcRect/>
            <a:tile tx="0" ty="0" sx="100000" sy="100000" flip="none" algn="tl"/>
          </a:blipFill>
          <a:ln w="38100">
            <a:solidFill>
              <a:schemeClr val="tx2"/>
            </a:solidFill>
            <a:miter lim="800000"/>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52" name="Line 30"/>
          <p:cNvSpPr>
            <a:spLocks noChangeShapeType="1"/>
          </p:cNvSpPr>
          <p:nvPr/>
        </p:nvSpPr>
        <p:spPr bwMode="auto">
          <a:xfrm flipH="1">
            <a:off x="2802930" y="4355232"/>
            <a:ext cx="0"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3" name="Line 31"/>
          <p:cNvSpPr>
            <a:spLocks noChangeShapeType="1"/>
          </p:cNvSpPr>
          <p:nvPr/>
        </p:nvSpPr>
        <p:spPr bwMode="auto">
          <a:xfrm>
            <a:off x="3183930" y="4355232"/>
            <a:ext cx="0"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4" name="Rectangle 32" descr="羊皮纸"/>
          <p:cNvSpPr>
            <a:spLocks noChangeArrowheads="1"/>
          </p:cNvSpPr>
          <p:nvPr/>
        </p:nvSpPr>
        <p:spPr bwMode="auto">
          <a:xfrm>
            <a:off x="7070130" y="5193432"/>
            <a:ext cx="1295400" cy="457200"/>
          </a:xfrm>
          <a:prstGeom prst="rect">
            <a:avLst/>
          </a:prstGeom>
          <a:blipFill dpi="0" rotWithShape="0">
            <a:blip r:embed="rId1"/>
            <a:srcRect/>
            <a:tile tx="0" ty="0" sx="100000" sy="100000" flip="none" algn="tl"/>
          </a:blipFill>
          <a:ln w="38100">
            <a:solidFill>
              <a:schemeClr val="tx2"/>
            </a:solidFill>
            <a:miter lim="800000"/>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55" name="Line 33"/>
          <p:cNvSpPr>
            <a:spLocks noChangeShapeType="1"/>
          </p:cNvSpPr>
          <p:nvPr/>
        </p:nvSpPr>
        <p:spPr bwMode="auto">
          <a:xfrm>
            <a:off x="7754343" y="5193432"/>
            <a:ext cx="1587"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6" name="Line 34"/>
          <p:cNvSpPr>
            <a:spLocks noChangeShapeType="1"/>
          </p:cNvSpPr>
          <p:nvPr/>
        </p:nvSpPr>
        <p:spPr bwMode="auto">
          <a:xfrm>
            <a:off x="8060730" y="5193432"/>
            <a:ext cx="1588"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7" name="Line 35"/>
          <p:cNvSpPr>
            <a:spLocks noChangeShapeType="1"/>
          </p:cNvSpPr>
          <p:nvPr/>
        </p:nvSpPr>
        <p:spPr bwMode="auto">
          <a:xfrm>
            <a:off x="7374930" y="5193432"/>
            <a:ext cx="1588"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8" name="Rectangle 36" descr="羊皮纸"/>
          <p:cNvSpPr>
            <a:spLocks noChangeArrowheads="1"/>
          </p:cNvSpPr>
          <p:nvPr/>
        </p:nvSpPr>
        <p:spPr bwMode="auto">
          <a:xfrm>
            <a:off x="5622330" y="5193432"/>
            <a:ext cx="1295400" cy="457200"/>
          </a:xfrm>
          <a:prstGeom prst="rect">
            <a:avLst/>
          </a:prstGeom>
          <a:blipFill dpi="0" rotWithShape="0">
            <a:blip r:embed="rId1"/>
            <a:srcRect/>
            <a:tile tx="0" ty="0" sx="100000" sy="100000" flip="none" algn="tl"/>
          </a:blipFill>
          <a:ln w="38100">
            <a:solidFill>
              <a:schemeClr val="tx2"/>
            </a:solidFill>
            <a:miter lim="800000"/>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59" name="Line 37"/>
          <p:cNvSpPr>
            <a:spLocks noChangeShapeType="1"/>
          </p:cNvSpPr>
          <p:nvPr/>
        </p:nvSpPr>
        <p:spPr bwMode="auto">
          <a:xfrm>
            <a:off x="6306543" y="5193432"/>
            <a:ext cx="1587"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0" name="Line 38"/>
          <p:cNvSpPr>
            <a:spLocks noChangeShapeType="1"/>
          </p:cNvSpPr>
          <p:nvPr/>
        </p:nvSpPr>
        <p:spPr bwMode="auto">
          <a:xfrm>
            <a:off x="6611343" y="5193432"/>
            <a:ext cx="1587"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1" name="Line 39"/>
          <p:cNvSpPr>
            <a:spLocks noChangeShapeType="1"/>
          </p:cNvSpPr>
          <p:nvPr/>
        </p:nvSpPr>
        <p:spPr bwMode="auto">
          <a:xfrm>
            <a:off x="5927130" y="5193432"/>
            <a:ext cx="1588"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2" name="Rectangle 40" descr="羊皮纸"/>
          <p:cNvSpPr>
            <a:spLocks noChangeArrowheads="1"/>
          </p:cNvSpPr>
          <p:nvPr/>
        </p:nvSpPr>
        <p:spPr bwMode="auto">
          <a:xfrm>
            <a:off x="6536730" y="4355232"/>
            <a:ext cx="1295400" cy="457200"/>
          </a:xfrm>
          <a:prstGeom prst="rect">
            <a:avLst/>
          </a:prstGeom>
          <a:blipFill dpi="0" rotWithShape="0">
            <a:blip r:embed="rId1"/>
            <a:srcRect/>
            <a:tile tx="0" ty="0" sx="100000" sy="100000" flip="none" algn="tl"/>
          </a:blipFill>
          <a:ln w="38100">
            <a:solidFill>
              <a:schemeClr val="tx2"/>
            </a:solidFill>
            <a:miter lim="800000"/>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63" name="Line 41"/>
          <p:cNvSpPr>
            <a:spLocks noChangeShapeType="1"/>
          </p:cNvSpPr>
          <p:nvPr/>
        </p:nvSpPr>
        <p:spPr bwMode="auto">
          <a:xfrm>
            <a:off x="7220943" y="4355232"/>
            <a:ext cx="1587"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4" name="Line 42"/>
          <p:cNvSpPr>
            <a:spLocks noChangeShapeType="1"/>
          </p:cNvSpPr>
          <p:nvPr/>
        </p:nvSpPr>
        <p:spPr bwMode="auto">
          <a:xfrm>
            <a:off x="7527330" y="4355232"/>
            <a:ext cx="1588"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5" name="Line 43"/>
          <p:cNvSpPr>
            <a:spLocks noChangeShapeType="1"/>
          </p:cNvSpPr>
          <p:nvPr/>
        </p:nvSpPr>
        <p:spPr bwMode="auto">
          <a:xfrm>
            <a:off x="6839943" y="4355232"/>
            <a:ext cx="1587"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6" name="Rectangle 44" descr="羊皮纸"/>
          <p:cNvSpPr>
            <a:spLocks noChangeArrowheads="1"/>
          </p:cNvSpPr>
          <p:nvPr/>
        </p:nvSpPr>
        <p:spPr bwMode="auto">
          <a:xfrm>
            <a:off x="5088930" y="4355232"/>
            <a:ext cx="1295400" cy="457200"/>
          </a:xfrm>
          <a:prstGeom prst="rect">
            <a:avLst/>
          </a:prstGeom>
          <a:blipFill dpi="0" rotWithShape="0">
            <a:blip r:embed="rId1"/>
            <a:srcRect/>
            <a:tile tx="0" ty="0" sx="100000" sy="100000" flip="none" algn="tl"/>
          </a:blipFill>
          <a:ln w="38100">
            <a:solidFill>
              <a:schemeClr val="tx2"/>
            </a:solidFill>
            <a:miter lim="800000"/>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67" name="Line 45"/>
          <p:cNvSpPr>
            <a:spLocks noChangeShapeType="1"/>
          </p:cNvSpPr>
          <p:nvPr/>
        </p:nvSpPr>
        <p:spPr bwMode="auto">
          <a:xfrm>
            <a:off x="5773143" y="4355232"/>
            <a:ext cx="1587"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8" name="Line 46"/>
          <p:cNvSpPr>
            <a:spLocks noChangeShapeType="1"/>
          </p:cNvSpPr>
          <p:nvPr/>
        </p:nvSpPr>
        <p:spPr bwMode="auto">
          <a:xfrm>
            <a:off x="6077943" y="4355232"/>
            <a:ext cx="1587"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9" name="Line 47"/>
          <p:cNvSpPr>
            <a:spLocks noChangeShapeType="1"/>
          </p:cNvSpPr>
          <p:nvPr/>
        </p:nvSpPr>
        <p:spPr bwMode="auto">
          <a:xfrm>
            <a:off x="5393730" y="4355232"/>
            <a:ext cx="1588"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0" name="Rectangle 48" descr="羊皮纸"/>
          <p:cNvSpPr>
            <a:spLocks noChangeArrowheads="1"/>
          </p:cNvSpPr>
          <p:nvPr/>
        </p:nvSpPr>
        <p:spPr bwMode="auto">
          <a:xfrm>
            <a:off x="5774730" y="3517032"/>
            <a:ext cx="1295400" cy="457200"/>
          </a:xfrm>
          <a:prstGeom prst="rect">
            <a:avLst/>
          </a:prstGeom>
          <a:blipFill dpi="0" rotWithShape="0">
            <a:blip r:embed="rId1"/>
            <a:srcRect/>
            <a:tile tx="0" ty="0" sx="100000" sy="100000" flip="none" algn="tl"/>
          </a:blipFill>
          <a:ln w="38100">
            <a:solidFill>
              <a:schemeClr val="tx2"/>
            </a:solidFill>
            <a:miter lim="800000"/>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71" name="Line 49"/>
          <p:cNvSpPr>
            <a:spLocks noChangeShapeType="1"/>
          </p:cNvSpPr>
          <p:nvPr/>
        </p:nvSpPr>
        <p:spPr bwMode="auto">
          <a:xfrm>
            <a:off x="6458943" y="3517032"/>
            <a:ext cx="1587"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2" name="Line 50"/>
          <p:cNvSpPr>
            <a:spLocks noChangeShapeType="1"/>
          </p:cNvSpPr>
          <p:nvPr/>
        </p:nvSpPr>
        <p:spPr bwMode="auto">
          <a:xfrm>
            <a:off x="6765330" y="3517032"/>
            <a:ext cx="1588"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3" name="Line 51"/>
          <p:cNvSpPr>
            <a:spLocks noChangeShapeType="1"/>
          </p:cNvSpPr>
          <p:nvPr/>
        </p:nvSpPr>
        <p:spPr bwMode="auto">
          <a:xfrm>
            <a:off x="6077943" y="3517032"/>
            <a:ext cx="1587"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4" name="Rectangle 52" descr="羊皮纸"/>
          <p:cNvSpPr>
            <a:spLocks noChangeArrowheads="1"/>
          </p:cNvSpPr>
          <p:nvPr/>
        </p:nvSpPr>
        <p:spPr bwMode="auto">
          <a:xfrm>
            <a:off x="6231930" y="2678832"/>
            <a:ext cx="1295400" cy="457200"/>
          </a:xfrm>
          <a:prstGeom prst="rect">
            <a:avLst/>
          </a:prstGeom>
          <a:blipFill dpi="0" rotWithShape="0">
            <a:blip r:embed="rId1"/>
            <a:srcRect/>
            <a:tile tx="0" ty="0" sx="100000" sy="100000" flip="none" algn="tl"/>
          </a:blipFill>
          <a:ln w="38100">
            <a:solidFill>
              <a:schemeClr val="tx2"/>
            </a:solidFill>
            <a:miter lim="800000"/>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75" name="Line 53"/>
          <p:cNvSpPr>
            <a:spLocks noChangeShapeType="1"/>
          </p:cNvSpPr>
          <p:nvPr/>
        </p:nvSpPr>
        <p:spPr bwMode="auto">
          <a:xfrm>
            <a:off x="6916143" y="2678832"/>
            <a:ext cx="1587"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6" name="Line 54"/>
          <p:cNvSpPr>
            <a:spLocks noChangeShapeType="1"/>
          </p:cNvSpPr>
          <p:nvPr/>
        </p:nvSpPr>
        <p:spPr bwMode="auto">
          <a:xfrm>
            <a:off x="7222530" y="2678832"/>
            <a:ext cx="1588"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7" name="Line 55"/>
          <p:cNvSpPr>
            <a:spLocks noChangeShapeType="1"/>
          </p:cNvSpPr>
          <p:nvPr/>
        </p:nvSpPr>
        <p:spPr bwMode="auto">
          <a:xfrm>
            <a:off x="6535143" y="2678832"/>
            <a:ext cx="1587" cy="4572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8" name="Line 56"/>
          <p:cNvSpPr>
            <a:spLocks noChangeShapeType="1"/>
          </p:cNvSpPr>
          <p:nvPr/>
        </p:nvSpPr>
        <p:spPr bwMode="auto">
          <a:xfrm flipH="1">
            <a:off x="3488730" y="2907432"/>
            <a:ext cx="304800" cy="6096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9" name="Line 57"/>
          <p:cNvSpPr>
            <a:spLocks noChangeShapeType="1"/>
          </p:cNvSpPr>
          <p:nvPr/>
        </p:nvSpPr>
        <p:spPr bwMode="auto">
          <a:xfrm flipH="1">
            <a:off x="2955330" y="3745632"/>
            <a:ext cx="304800" cy="6096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0" name="Line 58"/>
          <p:cNvSpPr>
            <a:spLocks noChangeShapeType="1"/>
          </p:cNvSpPr>
          <p:nvPr/>
        </p:nvSpPr>
        <p:spPr bwMode="auto">
          <a:xfrm flipH="1">
            <a:off x="3488730" y="4583832"/>
            <a:ext cx="304800" cy="6096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1" name="Line 59"/>
          <p:cNvSpPr>
            <a:spLocks noChangeShapeType="1"/>
          </p:cNvSpPr>
          <p:nvPr/>
        </p:nvSpPr>
        <p:spPr bwMode="auto">
          <a:xfrm flipH="1">
            <a:off x="6079530" y="2907432"/>
            <a:ext cx="304800" cy="6096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2" name="Line 60"/>
          <p:cNvSpPr>
            <a:spLocks noChangeShapeType="1"/>
          </p:cNvSpPr>
          <p:nvPr/>
        </p:nvSpPr>
        <p:spPr bwMode="auto">
          <a:xfrm flipH="1">
            <a:off x="5622330" y="3745632"/>
            <a:ext cx="304800" cy="6096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3" name="Line 61"/>
          <p:cNvSpPr>
            <a:spLocks noChangeShapeType="1"/>
          </p:cNvSpPr>
          <p:nvPr/>
        </p:nvSpPr>
        <p:spPr bwMode="auto">
          <a:xfrm flipH="1">
            <a:off x="6384330" y="4583832"/>
            <a:ext cx="304800" cy="6096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4" name="Line 62"/>
          <p:cNvSpPr>
            <a:spLocks noChangeShapeType="1"/>
          </p:cNvSpPr>
          <p:nvPr/>
        </p:nvSpPr>
        <p:spPr bwMode="auto">
          <a:xfrm>
            <a:off x="6917730" y="3745632"/>
            <a:ext cx="609600" cy="6096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5" name="Line 63"/>
          <p:cNvSpPr>
            <a:spLocks noChangeShapeType="1"/>
          </p:cNvSpPr>
          <p:nvPr/>
        </p:nvSpPr>
        <p:spPr bwMode="auto">
          <a:xfrm>
            <a:off x="7679730" y="4583832"/>
            <a:ext cx="457200" cy="6096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6" name="Line 64"/>
          <p:cNvSpPr>
            <a:spLocks noChangeShapeType="1"/>
          </p:cNvSpPr>
          <p:nvPr/>
        </p:nvSpPr>
        <p:spPr bwMode="auto">
          <a:xfrm>
            <a:off x="3945930" y="3745632"/>
            <a:ext cx="228600" cy="6096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7" name="Line 65"/>
          <p:cNvSpPr>
            <a:spLocks noChangeShapeType="1"/>
          </p:cNvSpPr>
          <p:nvPr/>
        </p:nvSpPr>
        <p:spPr bwMode="auto">
          <a:xfrm>
            <a:off x="4479330" y="4583832"/>
            <a:ext cx="228600" cy="6096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8" name="Line 66"/>
          <p:cNvSpPr>
            <a:spLocks noChangeShapeType="1"/>
          </p:cNvSpPr>
          <p:nvPr/>
        </p:nvSpPr>
        <p:spPr bwMode="auto">
          <a:xfrm>
            <a:off x="6765330" y="3974232"/>
            <a:ext cx="609600" cy="6096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9" name="Line 67"/>
          <p:cNvSpPr>
            <a:spLocks noChangeShapeType="1"/>
          </p:cNvSpPr>
          <p:nvPr/>
        </p:nvSpPr>
        <p:spPr bwMode="auto">
          <a:xfrm>
            <a:off x="7374930" y="4812432"/>
            <a:ext cx="533400" cy="6096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90" name="Line 68"/>
          <p:cNvSpPr>
            <a:spLocks noChangeShapeType="1"/>
          </p:cNvSpPr>
          <p:nvPr/>
        </p:nvSpPr>
        <p:spPr bwMode="auto">
          <a:xfrm flipH="1">
            <a:off x="6612930" y="3136032"/>
            <a:ext cx="304800" cy="6096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91" name="Line 69"/>
          <p:cNvSpPr>
            <a:spLocks noChangeShapeType="1"/>
          </p:cNvSpPr>
          <p:nvPr/>
        </p:nvSpPr>
        <p:spPr bwMode="auto">
          <a:xfrm flipH="1">
            <a:off x="6460530" y="4812432"/>
            <a:ext cx="304800" cy="6096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92" name="Line 70"/>
          <p:cNvSpPr>
            <a:spLocks noChangeShapeType="1"/>
          </p:cNvSpPr>
          <p:nvPr/>
        </p:nvSpPr>
        <p:spPr bwMode="auto">
          <a:xfrm flipH="1">
            <a:off x="5927130" y="3974232"/>
            <a:ext cx="381000" cy="6096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93" name="Text Box 71"/>
          <p:cNvSpPr txBox="1">
            <a:spLocks noChangeArrowheads="1"/>
          </p:cNvSpPr>
          <p:nvPr/>
        </p:nvSpPr>
        <p:spPr bwMode="auto">
          <a:xfrm>
            <a:off x="4250730" y="2602632"/>
            <a:ext cx="398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694" name="Text Box 72"/>
          <p:cNvSpPr txBox="1">
            <a:spLocks noChangeArrowheads="1"/>
          </p:cNvSpPr>
          <p:nvPr/>
        </p:nvSpPr>
        <p:spPr bwMode="auto">
          <a:xfrm>
            <a:off x="2421930" y="42933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695" name="Text Box 73"/>
          <p:cNvSpPr txBox="1">
            <a:spLocks noChangeArrowheads="1"/>
          </p:cNvSpPr>
          <p:nvPr/>
        </p:nvSpPr>
        <p:spPr bwMode="auto">
          <a:xfrm>
            <a:off x="3107730" y="4279032"/>
            <a:ext cx="398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696" name="Text Box 74"/>
          <p:cNvSpPr txBox="1">
            <a:spLocks noChangeArrowheads="1"/>
          </p:cNvSpPr>
          <p:nvPr/>
        </p:nvSpPr>
        <p:spPr bwMode="auto">
          <a:xfrm>
            <a:off x="29553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697" name="Text Box 75"/>
          <p:cNvSpPr txBox="1">
            <a:spLocks noChangeArrowheads="1"/>
          </p:cNvSpPr>
          <p:nvPr/>
        </p:nvSpPr>
        <p:spPr bwMode="auto">
          <a:xfrm>
            <a:off x="36411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698" name="Text Box 76"/>
          <p:cNvSpPr txBox="1">
            <a:spLocks noChangeArrowheads="1"/>
          </p:cNvSpPr>
          <p:nvPr/>
        </p:nvSpPr>
        <p:spPr bwMode="auto">
          <a:xfrm>
            <a:off x="40983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699" name="Text Box 77"/>
          <p:cNvSpPr txBox="1">
            <a:spLocks noChangeArrowheads="1"/>
          </p:cNvSpPr>
          <p:nvPr/>
        </p:nvSpPr>
        <p:spPr bwMode="auto">
          <a:xfrm>
            <a:off x="47841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0" name="Text Box 78"/>
          <p:cNvSpPr txBox="1">
            <a:spLocks noChangeArrowheads="1"/>
          </p:cNvSpPr>
          <p:nvPr/>
        </p:nvSpPr>
        <p:spPr bwMode="auto">
          <a:xfrm>
            <a:off x="55461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1" name="Text Box 79"/>
          <p:cNvSpPr txBox="1">
            <a:spLocks noChangeArrowheads="1"/>
          </p:cNvSpPr>
          <p:nvPr/>
        </p:nvSpPr>
        <p:spPr bwMode="auto">
          <a:xfrm>
            <a:off x="65367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2" name="Text Box 80"/>
          <p:cNvSpPr txBox="1">
            <a:spLocks noChangeArrowheads="1"/>
          </p:cNvSpPr>
          <p:nvPr/>
        </p:nvSpPr>
        <p:spPr bwMode="auto">
          <a:xfrm>
            <a:off x="69939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3" name="Text Box 81"/>
          <p:cNvSpPr txBox="1">
            <a:spLocks noChangeArrowheads="1"/>
          </p:cNvSpPr>
          <p:nvPr/>
        </p:nvSpPr>
        <p:spPr bwMode="auto">
          <a:xfrm>
            <a:off x="79845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4" name="Text Box 82"/>
          <p:cNvSpPr txBox="1">
            <a:spLocks noChangeArrowheads="1"/>
          </p:cNvSpPr>
          <p:nvPr/>
        </p:nvSpPr>
        <p:spPr bwMode="auto">
          <a:xfrm>
            <a:off x="6003330" y="4279032"/>
            <a:ext cx="398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5" name="Text Box 83"/>
          <p:cNvSpPr txBox="1">
            <a:spLocks noChangeArrowheads="1"/>
          </p:cNvSpPr>
          <p:nvPr/>
        </p:nvSpPr>
        <p:spPr bwMode="auto">
          <a:xfrm>
            <a:off x="5012730" y="4279032"/>
            <a:ext cx="398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6" name="Text Box 84"/>
          <p:cNvSpPr txBox="1">
            <a:spLocks noChangeArrowheads="1"/>
          </p:cNvSpPr>
          <p:nvPr/>
        </p:nvSpPr>
        <p:spPr bwMode="auto">
          <a:xfrm>
            <a:off x="6841530" y="2602632"/>
            <a:ext cx="398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7" name="Text Box 85"/>
          <p:cNvSpPr txBox="1">
            <a:spLocks noChangeArrowheads="1"/>
          </p:cNvSpPr>
          <p:nvPr/>
        </p:nvSpPr>
        <p:spPr bwMode="auto">
          <a:xfrm>
            <a:off x="7146330" y="2602632"/>
            <a:ext cx="398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8" name="Text Box 86"/>
          <p:cNvSpPr txBox="1">
            <a:spLocks noChangeArrowheads="1"/>
          </p:cNvSpPr>
          <p:nvPr/>
        </p:nvSpPr>
        <p:spPr bwMode="auto">
          <a:xfrm>
            <a:off x="1429743" y="2662957"/>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26709" name="Text Box 87"/>
          <p:cNvSpPr txBox="1">
            <a:spLocks noChangeArrowheads="1"/>
          </p:cNvSpPr>
          <p:nvPr/>
        </p:nvSpPr>
        <p:spPr bwMode="auto">
          <a:xfrm>
            <a:off x="3869730" y="2586757"/>
            <a:ext cx="477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26710" name="Text Box 88"/>
          <p:cNvSpPr txBox="1">
            <a:spLocks noChangeArrowheads="1"/>
          </p:cNvSpPr>
          <p:nvPr/>
        </p:nvSpPr>
        <p:spPr bwMode="auto">
          <a:xfrm>
            <a:off x="6460530" y="2602632"/>
            <a:ext cx="477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26711" name="Text Box 89"/>
          <p:cNvSpPr txBox="1">
            <a:spLocks noChangeArrowheads="1"/>
          </p:cNvSpPr>
          <p:nvPr/>
        </p:nvSpPr>
        <p:spPr bwMode="auto">
          <a:xfrm>
            <a:off x="1117005" y="3440832"/>
            <a:ext cx="455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26712" name="Text Box 90"/>
          <p:cNvSpPr txBox="1">
            <a:spLocks noChangeArrowheads="1"/>
          </p:cNvSpPr>
          <p:nvPr/>
        </p:nvSpPr>
        <p:spPr bwMode="auto">
          <a:xfrm>
            <a:off x="3337918" y="3440832"/>
            <a:ext cx="455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26713" name="Text Box 91"/>
          <p:cNvSpPr txBox="1">
            <a:spLocks noChangeArrowheads="1"/>
          </p:cNvSpPr>
          <p:nvPr/>
        </p:nvSpPr>
        <p:spPr bwMode="auto">
          <a:xfrm>
            <a:off x="6003330" y="3440832"/>
            <a:ext cx="455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26714" name="Text Box 92"/>
          <p:cNvSpPr txBox="1">
            <a:spLocks noChangeArrowheads="1"/>
          </p:cNvSpPr>
          <p:nvPr/>
        </p:nvSpPr>
        <p:spPr bwMode="auto">
          <a:xfrm>
            <a:off x="5306418" y="4309195"/>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26715" name="Text Box 93"/>
          <p:cNvSpPr txBox="1">
            <a:spLocks noChangeArrowheads="1"/>
          </p:cNvSpPr>
          <p:nvPr/>
        </p:nvSpPr>
        <p:spPr bwMode="auto">
          <a:xfrm>
            <a:off x="2726730" y="4309195"/>
            <a:ext cx="477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26716" name="Text Box 94"/>
          <p:cNvSpPr txBox="1">
            <a:spLocks noChangeArrowheads="1"/>
          </p:cNvSpPr>
          <p:nvPr/>
        </p:nvSpPr>
        <p:spPr bwMode="auto">
          <a:xfrm>
            <a:off x="745530" y="4309195"/>
            <a:ext cx="477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26717" name="Text Box 95"/>
          <p:cNvSpPr txBox="1">
            <a:spLocks noChangeArrowheads="1"/>
          </p:cNvSpPr>
          <p:nvPr/>
        </p:nvSpPr>
        <p:spPr bwMode="auto">
          <a:xfrm>
            <a:off x="1486893" y="4309195"/>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26718" name="Text Box 96"/>
          <p:cNvSpPr txBox="1">
            <a:spLocks noChangeArrowheads="1"/>
          </p:cNvSpPr>
          <p:nvPr/>
        </p:nvSpPr>
        <p:spPr bwMode="auto">
          <a:xfrm>
            <a:off x="3869730" y="4279032"/>
            <a:ext cx="477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26719" name="Text Box 97"/>
          <p:cNvSpPr txBox="1">
            <a:spLocks noChangeArrowheads="1"/>
          </p:cNvSpPr>
          <p:nvPr/>
        </p:nvSpPr>
        <p:spPr bwMode="auto">
          <a:xfrm>
            <a:off x="6765330" y="4279032"/>
            <a:ext cx="477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26720" name="Text Box 98"/>
          <p:cNvSpPr txBox="1">
            <a:spLocks noChangeArrowheads="1"/>
          </p:cNvSpPr>
          <p:nvPr/>
        </p:nvSpPr>
        <p:spPr bwMode="auto">
          <a:xfrm>
            <a:off x="7320955" y="5147395"/>
            <a:ext cx="431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6721" name="Text Box 99"/>
          <p:cNvSpPr txBox="1">
            <a:spLocks noChangeArrowheads="1"/>
          </p:cNvSpPr>
          <p:nvPr/>
        </p:nvSpPr>
        <p:spPr bwMode="auto">
          <a:xfrm>
            <a:off x="4428530" y="5147395"/>
            <a:ext cx="431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6722" name="Text Box 100"/>
          <p:cNvSpPr txBox="1">
            <a:spLocks noChangeArrowheads="1"/>
          </p:cNvSpPr>
          <p:nvPr/>
        </p:nvSpPr>
        <p:spPr bwMode="auto">
          <a:xfrm>
            <a:off x="1913930" y="5147395"/>
            <a:ext cx="431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6723" name="Text Box 101"/>
          <p:cNvSpPr txBox="1">
            <a:spLocks noChangeArrowheads="1"/>
          </p:cNvSpPr>
          <p:nvPr/>
        </p:nvSpPr>
        <p:spPr bwMode="auto">
          <a:xfrm>
            <a:off x="1140818" y="5147395"/>
            <a:ext cx="4556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26724" name="Text Box 102"/>
          <p:cNvSpPr txBox="1">
            <a:spLocks noChangeArrowheads="1"/>
          </p:cNvSpPr>
          <p:nvPr/>
        </p:nvSpPr>
        <p:spPr bwMode="auto">
          <a:xfrm>
            <a:off x="3260130" y="5147395"/>
            <a:ext cx="455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26725" name="Text Box 103"/>
          <p:cNvSpPr txBox="1">
            <a:spLocks noChangeArrowheads="1"/>
          </p:cNvSpPr>
          <p:nvPr/>
        </p:nvSpPr>
        <p:spPr bwMode="auto">
          <a:xfrm>
            <a:off x="5850930" y="5147395"/>
            <a:ext cx="455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26726" name="Line 104"/>
          <p:cNvSpPr>
            <a:spLocks noChangeShapeType="1"/>
          </p:cNvSpPr>
          <p:nvPr/>
        </p:nvSpPr>
        <p:spPr bwMode="auto">
          <a:xfrm flipH="1">
            <a:off x="1736130" y="2450232"/>
            <a:ext cx="228600" cy="30480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727" name="Text Box 105"/>
          <p:cNvSpPr txBox="1">
            <a:spLocks noChangeArrowheads="1"/>
          </p:cNvSpPr>
          <p:nvPr/>
        </p:nvSpPr>
        <p:spPr bwMode="auto">
          <a:xfrm>
            <a:off x="1691680" y="1916832"/>
            <a:ext cx="9064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root</a:t>
            </a:r>
            <a:endParaRPr kumimoji="1" lang="en-US" altLang="zh-CN" sz="2400">
              <a:latin typeface="Times New Roman" panose="02020603050405020304" pitchFamily="18" charset="0"/>
              <a:ea typeface="宋体" panose="02010600030101010101" pitchFamily="2" charset="-122"/>
            </a:endParaRPr>
          </a:p>
        </p:txBody>
      </p:sp>
      <p:sp>
        <p:nvSpPr>
          <p:cNvPr id="26728" name="Line 106"/>
          <p:cNvSpPr>
            <a:spLocks noChangeShapeType="1"/>
          </p:cNvSpPr>
          <p:nvPr/>
        </p:nvSpPr>
        <p:spPr bwMode="auto">
          <a:xfrm flipH="1">
            <a:off x="4074518" y="2374032"/>
            <a:ext cx="228600" cy="30480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729" name="Text Box 107"/>
          <p:cNvSpPr txBox="1">
            <a:spLocks noChangeArrowheads="1"/>
          </p:cNvSpPr>
          <p:nvPr/>
        </p:nvSpPr>
        <p:spPr bwMode="auto">
          <a:xfrm>
            <a:off x="4030068" y="1870795"/>
            <a:ext cx="9064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root</a:t>
            </a:r>
            <a:endParaRPr kumimoji="1" lang="en-US" altLang="zh-CN" sz="2400">
              <a:latin typeface="Times New Roman" panose="02020603050405020304" pitchFamily="18" charset="0"/>
              <a:ea typeface="宋体" panose="02010600030101010101" pitchFamily="2" charset="-122"/>
            </a:endParaRPr>
          </a:p>
        </p:txBody>
      </p:sp>
      <p:sp>
        <p:nvSpPr>
          <p:cNvPr id="26730" name="Line 108"/>
          <p:cNvSpPr>
            <a:spLocks noChangeShapeType="1"/>
          </p:cNvSpPr>
          <p:nvPr/>
        </p:nvSpPr>
        <p:spPr bwMode="auto">
          <a:xfrm flipH="1">
            <a:off x="6665318" y="2374032"/>
            <a:ext cx="228600" cy="30480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731" name="Text Box 109"/>
          <p:cNvSpPr txBox="1">
            <a:spLocks noChangeArrowheads="1"/>
          </p:cNvSpPr>
          <p:nvPr/>
        </p:nvSpPr>
        <p:spPr bwMode="auto">
          <a:xfrm>
            <a:off x="6620868" y="1870795"/>
            <a:ext cx="9064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root</a:t>
            </a:r>
            <a:endParaRPr kumimoji="1" lang="en-US" altLang="zh-CN" sz="2400">
              <a:latin typeface="Times New Roman" panose="02020603050405020304" pitchFamily="18" charset="0"/>
              <a:ea typeface="宋体" panose="02010600030101010101" pitchFamily="2" charset="-122"/>
            </a:endParaRPr>
          </a:p>
        </p:txBody>
      </p:sp>
      <p:sp>
        <p:nvSpPr>
          <p:cNvPr id="26732" name="Text Box 110"/>
          <p:cNvSpPr txBox="1">
            <a:spLocks noChangeArrowheads="1"/>
          </p:cNvSpPr>
          <p:nvPr/>
        </p:nvSpPr>
        <p:spPr bwMode="auto">
          <a:xfrm>
            <a:off x="942380" y="5771282"/>
            <a:ext cx="7042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600">
                <a:solidFill>
                  <a:schemeClr val="tx2"/>
                </a:solidFill>
                <a:latin typeface="隶书" panose="02010509060101010101" pitchFamily="49" charset="-122"/>
                <a:ea typeface="隶书" panose="02010509060101010101" pitchFamily="49" charset="-122"/>
              </a:rPr>
              <a:t>二叉树   二叉链表     三叉链表</a:t>
            </a:r>
            <a:endParaRPr kumimoji="1" lang="zh-CN" altLang="en-US" sz="3600">
              <a:solidFill>
                <a:schemeClr val="tx2"/>
              </a:solidFill>
              <a:latin typeface="隶书" panose="02010509060101010101" pitchFamily="49" charset="-122"/>
              <a:ea typeface="隶书" panose="02010509060101010101" pitchFamily="49" charset="-122"/>
            </a:endParaRPr>
          </a:p>
        </p:txBody>
      </p:sp>
      <p:sp>
        <p:nvSpPr>
          <p:cNvPr id="2" name="标题 1"/>
          <p:cNvSpPr>
            <a:spLocks noGrp="1"/>
          </p:cNvSpPr>
          <p:nvPr>
            <p:ph type="title"/>
          </p:nvPr>
        </p:nvSpPr>
        <p:spPr/>
        <p:txBody>
          <a:bodyPr/>
          <a:lstStyle/>
          <a:p>
            <a:r>
              <a:rPr lang="zh-CN" altLang="en-US" dirty="0"/>
              <a:t>二叉树链表表示的示例</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Line 2"/>
          <p:cNvSpPr>
            <a:spLocks noChangeShapeType="1"/>
          </p:cNvSpPr>
          <p:nvPr/>
        </p:nvSpPr>
        <p:spPr bwMode="auto">
          <a:xfrm flipH="1">
            <a:off x="1283122" y="4660032"/>
            <a:ext cx="304800" cy="762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1" name="Line 3"/>
          <p:cNvSpPr>
            <a:spLocks noChangeShapeType="1"/>
          </p:cNvSpPr>
          <p:nvPr/>
        </p:nvSpPr>
        <p:spPr bwMode="auto">
          <a:xfrm>
            <a:off x="1359322" y="3898032"/>
            <a:ext cx="609600" cy="13716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2" name="Line 4"/>
          <p:cNvSpPr>
            <a:spLocks noChangeShapeType="1"/>
          </p:cNvSpPr>
          <p:nvPr/>
        </p:nvSpPr>
        <p:spPr bwMode="auto">
          <a:xfrm flipH="1">
            <a:off x="978322" y="3136032"/>
            <a:ext cx="533400" cy="1295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4" name="Oval 6" descr="羊皮纸"/>
          <p:cNvSpPr>
            <a:spLocks noChangeArrowheads="1"/>
          </p:cNvSpPr>
          <p:nvPr/>
        </p:nvSpPr>
        <p:spPr bwMode="auto">
          <a:xfrm>
            <a:off x="1359322" y="2755032"/>
            <a:ext cx="457200" cy="457200"/>
          </a:xfrm>
          <a:prstGeom prst="ellipse">
            <a:avLst/>
          </a:prstGeom>
          <a:blipFill dpi="0" rotWithShape="0">
            <a:blip r:embed="rId1"/>
            <a:srcRect/>
            <a:tile tx="0" ty="0" sx="100000" sy="100000" flip="none" algn="tl"/>
          </a:blip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7655" name="Oval 7" descr="羊皮纸"/>
          <p:cNvSpPr>
            <a:spLocks noChangeArrowheads="1"/>
          </p:cNvSpPr>
          <p:nvPr/>
        </p:nvSpPr>
        <p:spPr bwMode="auto">
          <a:xfrm>
            <a:off x="1054522" y="3517032"/>
            <a:ext cx="457200" cy="457200"/>
          </a:xfrm>
          <a:prstGeom prst="ellipse">
            <a:avLst/>
          </a:prstGeom>
          <a:blipFill dpi="0" rotWithShape="0">
            <a:blip r:embed="rId1"/>
            <a:srcRect/>
            <a:tile tx="0" ty="0" sx="100000" sy="100000" flip="none" algn="tl"/>
          </a:blip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7656" name="Oval 8" descr="羊皮纸"/>
          <p:cNvSpPr>
            <a:spLocks noChangeArrowheads="1"/>
          </p:cNvSpPr>
          <p:nvPr/>
        </p:nvSpPr>
        <p:spPr bwMode="auto">
          <a:xfrm>
            <a:off x="673522" y="4355232"/>
            <a:ext cx="457200" cy="457200"/>
          </a:xfrm>
          <a:prstGeom prst="ellipse">
            <a:avLst/>
          </a:prstGeom>
          <a:blipFill dpi="0" rotWithShape="0">
            <a:blip r:embed="rId1"/>
            <a:srcRect/>
            <a:tile tx="0" ty="0" sx="100000" sy="100000" flip="none" algn="tl"/>
          </a:blip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7657" name="Oval 9" descr="羊皮纸"/>
          <p:cNvSpPr>
            <a:spLocks noChangeArrowheads="1"/>
          </p:cNvSpPr>
          <p:nvPr/>
        </p:nvSpPr>
        <p:spPr bwMode="auto">
          <a:xfrm>
            <a:off x="1435522" y="4355232"/>
            <a:ext cx="457200" cy="457200"/>
          </a:xfrm>
          <a:prstGeom prst="ellipse">
            <a:avLst/>
          </a:prstGeom>
          <a:blipFill dpi="0" rotWithShape="0">
            <a:blip r:embed="rId1"/>
            <a:srcRect/>
            <a:tile tx="0" ty="0" sx="100000" sy="100000" flip="none" algn="tl"/>
          </a:blip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7658" name="Oval 10" descr="羊皮纸"/>
          <p:cNvSpPr>
            <a:spLocks noChangeArrowheads="1"/>
          </p:cNvSpPr>
          <p:nvPr/>
        </p:nvSpPr>
        <p:spPr bwMode="auto">
          <a:xfrm>
            <a:off x="1816522" y="5193432"/>
            <a:ext cx="457200" cy="457200"/>
          </a:xfrm>
          <a:prstGeom prst="ellipse">
            <a:avLst/>
          </a:prstGeom>
          <a:blipFill dpi="0" rotWithShape="0">
            <a:blip r:embed="rId1"/>
            <a:srcRect/>
            <a:tile tx="0" ty="0" sx="100000" sy="100000" flip="none" algn="tl"/>
          </a:blip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7659" name="Oval 11" descr="羊皮纸"/>
          <p:cNvSpPr>
            <a:spLocks noChangeArrowheads="1"/>
          </p:cNvSpPr>
          <p:nvPr/>
        </p:nvSpPr>
        <p:spPr bwMode="auto">
          <a:xfrm>
            <a:off x="1054522" y="5193432"/>
            <a:ext cx="457200" cy="457200"/>
          </a:xfrm>
          <a:prstGeom prst="ellipse">
            <a:avLst/>
          </a:prstGeom>
          <a:blipFill dpi="0" rotWithShape="0">
            <a:blip r:embed="rId1"/>
            <a:srcRect/>
            <a:tile tx="0" ty="0" sx="100000" sy="100000" flip="none" algn="tl"/>
          </a:blip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7660" name="Text Box 12"/>
          <p:cNvSpPr txBox="1">
            <a:spLocks noChangeArrowheads="1"/>
          </p:cNvSpPr>
          <p:nvPr/>
        </p:nvSpPr>
        <p:spPr bwMode="auto">
          <a:xfrm>
            <a:off x="1357735" y="2662957"/>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27661" name="Text Box 13"/>
          <p:cNvSpPr txBox="1">
            <a:spLocks noChangeArrowheads="1"/>
          </p:cNvSpPr>
          <p:nvPr/>
        </p:nvSpPr>
        <p:spPr bwMode="auto">
          <a:xfrm>
            <a:off x="1044997" y="3440832"/>
            <a:ext cx="455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27662" name="Text Box 14"/>
          <p:cNvSpPr txBox="1">
            <a:spLocks noChangeArrowheads="1"/>
          </p:cNvSpPr>
          <p:nvPr/>
        </p:nvSpPr>
        <p:spPr bwMode="auto">
          <a:xfrm>
            <a:off x="673522" y="4309195"/>
            <a:ext cx="477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27663" name="Text Box 15"/>
          <p:cNvSpPr txBox="1">
            <a:spLocks noChangeArrowheads="1"/>
          </p:cNvSpPr>
          <p:nvPr/>
        </p:nvSpPr>
        <p:spPr bwMode="auto">
          <a:xfrm>
            <a:off x="1414885" y="4309195"/>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27664" name="Text Box 16"/>
          <p:cNvSpPr txBox="1">
            <a:spLocks noChangeArrowheads="1"/>
          </p:cNvSpPr>
          <p:nvPr/>
        </p:nvSpPr>
        <p:spPr bwMode="auto">
          <a:xfrm>
            <a:off x="1841922" y="5147395"/>
            <a:ext cx="431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7665" name="Text Box 17"/>
          <p:cNvSpPr txBox="1">
            <a:spLocks noChangeArrowheads="1"/>
          </p:cNvSpPr>
          <p:nvPr/>
        </p:nvSpPr>
        <p:spPr bwMode="auto">
          <a:xfrm>
            <a:off x="1068810" y="5147395"/>
            <a:ext cx="4556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27666" name="Line 18"/>
          <p:cNvSpPr>
            <a:spLocks noChangeShapeType="1"/>
          </p:cNvSpPr>
          <p:nvPr/>
        </p:nvSpPr>
        <p:spPr bwMode="auto">
          <a:xfrm flipH="1">
            <a:off x="1664122" y="2450232"/>
            <a:ext cx="228600" cy="30480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7" name="Text Box 19"/>
          <p:cNvSpPr txBox="1">
            <a:spLocks noChangeArrowheads="1"/>
          </p:cNvSpPr>
          <p:nvPr/>
        </p:nvSpPr>
        <p:spPr bwMode="auto">
          <a:xfrm>
            <a:off x="1619672" y="1916832"/>
            <a:ext cx="9064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root</a:t>
            </a:r>
            <a:endParaRPr kumimoji="1" lang="en-US" altLang="zh-CN" sz="2400">
              <a:latin typeface="Times New Roman" panose="02020603050405020304" pitchFamily="18" charset="0"/>
              <a:ea typeface="宋体" panose="02010600030101010101" pitchFamily="2" charset="-122"/>
            </a:endParaRPr>
          </a:p>
        </p:txBody>
      </p:sp>
      <p:sp>
        <p:nvSpPr>
          <p:cNvPr id="27668" name="Text Box 21"/>
          <p:cNvSpPr txBox="1">
            <a:spLocks noChangeArrowheads="1"/>
          </p:cNvSpPr>
          <p:nvPr/>
        </p:nvSpPr>
        <p:spPr bwMode="auto">
          <a:xfrm>
            <a:off x="3419897" y="2327995"/>
            <a:ext cx="49498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rgbClr val="990099"/>
                </a:solidFill>
                <a:latin typeface="Arial Narrow" panose="020B0606020202030204" pitchFamily="34" charset="0"/>
                <a:ea typeface="宋体" panose="02010600030101010101" pitchFamily="2" charset="-122"/>
              </a:rPr>
              <a:t>data  parent  leftChild  rightChild</a:t>
            </a:r>
            <a:endParaRPr kumimoji="1" lang="en-US" altLang="zh-CN" sz="2400">
              <a:latin typeface="Arial Narrow" panose="020B0606020202030204" pitchFamily="34" charset="0"/>
              <a:ea typeface="宋体" panose="02010600030101010101" pitchFamily="2" charset="-122"/>
            </a:endParaRPr>
          </a:p>
        </p:txBody>
      </p:sp>
      <p:sp>
        <p:nvSpPr>
          <p:cNvPr id="27669" name="Rectangle 22" descr="新闻纸"/>
          <p:cNvSpPr>
            <a:spLocks noChangeArrowheads="1"/>
          </p:cNvSpPr>
          <p:nvPr/>
        </p:nvSpPr>
        <p:spPr bwMode="auto">
          <a:xfrm>
            <a:off x="3416722" y="2983632"/>
            <a:ext cx="4800600" cy="3276600"/>
          </a:xfrm>
          <a:prstGeom prst="rect">
            <a:avLst/>
          </a:prstGeom>
          <a:blipFill dpi="0" rotWithShape="0">
            <a:blip r:embed="rId2"/>
            <a:srcRect/>
            <a:tile tx="0" ty="0" sx="100000" sy="100000" flip="none" algn="tl"/>
          </a:blipFill>
          <a:ln w="3810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27670" name="Line 23"/>
          <p:cNvSpPr>
            <a:spLocks noChangeShapeType="1"/>
          </p:cNvSpPr>
          <p:nvPr/>
        </p:nvSpPr>
        <p:spPr bwMode="auto">
          <a:xfrm>
            <a:off x="3416722" y="3517032"/>
            <a:ext cx="4800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1" name="Text Box 24"/>
          <p:cNvSpPr txBox="1">
            <a:spLocks noChangeArrowheads="1"/>
          </p:cNvSpPr>
          <p:nvPr/>
        </p:nvSpPr>
        <p:spPr bwMode="auto">
          <a:xfrm>
            <a:off x="2973810" y="2948707"/>
            <a:ext cx="369887"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lnSpc>
                <a:spcPct val="110000"/>
              </a:lnSpc>
            </a:pPr>
            <a:r>
              <a:rPr kumimoji="1" lang="en-US" altLang="zh-CN" sz="3200">
                <a:solidFill>
                  <a:srgbClr val="990099"/>
                </a:solidFill>
                <a:latin typeface="Arial Narrow" panose="020B0606020202030204" pitchFamily="34" charset="0"/>
                <a:ea typeface="宋体" panose="02010600030101010101" pitchFamily="2" charset="-122"/>
              </a:rPr>
              <a:t>0</a:t>
            </a:r>
            <a:endParaRPr kumimoji="1" lang="en-US" altLang="zh-CN" sz="3200">
              <a:solidFill>
                <a:srgbClr val="990099"/>
              </a:solidFill>
              <a:latin typeface="Arial Narrow" panose="020B0606020202030204" pitchFamily="34" charset="0"/>
              <a:ea typeface="宋体" panose="02010600030101010101" pitchFamily="2" charset="-122"/>
            </a:endParaRPr>
          </a:p>
          <a:p>
            <a:pPr algn="ctr" eaLnBrk="1" hangingPunct="1">
              <a:lnSpc>
                <a:spcPct val="110000"/>
              </a:lnSpc>
            </a:pPr>
            <a:r>
              <a:rPr kumimoji="1" lang="en-US" altLang="zh-CN" sz="3200">
                <a:solidFill>
                  <a:srgbClr val="990099"/>
                </a:solidFill>
                <a:latin typeface="Arial Narrow" panose="020B0606020202030204" pitchFamily="34" charset="0"/>
                <a:ea typeface="宋体" panose="02010600030101010101" pitchFamily="2" charset="-122"/>
              </a:rPr>
              <a:t>1</a:t>
            </a:r>
            <a:endParaRPr kumimoji="1" lang="en-US" altLang="zh-CN" sz="3200">
              <a:solidFill>
                <a:srgbClr val="990099"/>
              </a:solidFill>
              <a:latin typeface="Arial Narrow" panose="020B0606020202030204" pitchFamily="34" charset="0"/>
              <a:ea typeface="宋体" panose="02010600030101010101" pitchFamily="2" charset="-122"/>
            </a:endParaRPr>
          </a:p>
          <a:p>
            <a:pPr algn="ctr" eaLnBrk="1" hangingPunct="1">
              <a:lnSpc>
                <a:spcPct val="110000"/>
              </a:lnSpc>
            </a:pPr>
            <a:r>
              <a:rPr kumimoji="1" lang="en-US" altLang="zh-CN" sz="3200">
                <a:solidFill>
                  <a:srgbClr val="990099"/>
                </a:solidFill>
                <a:latin typeface="Arial Narrow" panose="020B0606020202030204" pitchFamily="34" charset="0"/>
                <a:ea typeface="宋体" panose="02010600030101010101" pitchFamily="2" charset="-122"/>
              </a:rPr>
              <a:t>2</a:t>
            </a:r>
            <a:endParaRPr kumimoji="1" lang="en-US" altLang="zh-CN" sz="3200">
              <a:solidFill>
                <a:srgbClr val="990099"/>
              </a:solidFill>
              <a:latin typeface="Arial Narrow" panose="020B0606020202030204" pitchFamily="34" charset="0"/>
              <a:ea typeface="宋体" panose="02010600030101010101" pitchFamily="2" charset="-122"/>
            </a:endParaRPr>
          </a:p>
          <a:p>
            <a:pPr algn="ctr" eaLnBrk="1" hangingPunct="1">
              <a:lnSpc>
                <a:spcPct val="110000"/>
              </a:lnSpc>
            </a:pPr>
            <a:r>
              <a:rPr kumimoji="1" lang="en-US" altLang="zh-CN" sz="3200">
                <a:solidFill>
                  <a:srgbClr val="990099"/>
                </a:solidFill>
                <a:latin typeface="Arial Narrow" panose="020B0606020202030204" pitchFamily="34" charset="0"/>
                <a:ea typeface="宋体" panose="02010600030101010101" pitchFamily="2" charset="-122"/>
              </a:rPr>
              <a:t>3</a:t>
            </a:r>
            <a:endParaRPr kumimoji="1" lang="en-US" altLang="zh-CN" sz="3200">
              <a:solidFill>
                <a:srgbClr val="990099"/>
              </a:solidFill>
              <a:latin typeface="Arial Narrow" panose="020B0606020202030204" pitchFamily="34" charset="0"/>
              <a:ea typeface="宋体" panose="02010600030101010101" pitchFamily="2" charset="-122"/>
            </a:endParaRPr>
          </a:p>
          <a:p>
            <a:pPr algn="ctr" eaLnBrk="1" hangingPunct="1">
              <a:lnSpc>
                <a:spcPct val="110000"/>
              </a:lnSpc>
            </a:pPr>
            <a:r>
              <a:rPr kumimoji="1" lang="en-US" altLang="zh-CN" sz="3200">
                <a:solidFill>
                  <a:srgbClr val="990099"/>
                </a:solidFill>
                <a:latin typeface="Arial Narrow" panose="020B0606020202030204" pitchFamily="34" charset="0"/>
                <a:ea typeface="宋体" panose="02010600030101010101" pitchFamily="2" charset="-122"/>
              </a:rPr>
              <a:t>4</a:t>
            </a:r>
            <a:endParaRPr kumimoji="1" lang="en-US" altLang="zh-CN" sz="3200">
              <a:solidFill>
                <a:srgbClr val="990099"/>
              </a:solidFill>
              <a:latin typeface="Arial Narrow" panose="020B0606020202030204" pitchFamily="34" charset="0"/>
              <a:ea typeface="宋体" panose="02010600030101010101" pitchFamily="2" charset="-122"/>
            </a:endParaRPr>
          </a:p>
          <a:p>
            <a:pPr algn="ctr" eaLnBrk="1" hangingPunct="1">
              <a:lnSpc>
                <a:spcPct val="110000"/>
              </a:lnSpc>
            </a:pPr>
            <a:r>
              <a:rPr kumimoji="1" lang="en-US" altLang="zh-CN" sz="3200">
                <a:solidFill>
                  <a:srgbClr val="990099"/>
                </a:solidFill>
                <a:latin typeface="Arial Narrow" panose="020B0606020202030204" pitchFamily="34"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27672" name="Line 25"/>
          <p:cNvSpPr>
            <a:spLocks noChangeShapeType="1"/>
          </p:cNvSpPr>
          <p:nvPr/>
        </p:nvSpPr>
        <p:spPr bwMode="auto">
          <a:xfrm>
            <a:off x="3416722" y="4050432"/>
            <a:ext cx="4800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3" name="Line 26"/>
          <p:cNvSpPr>
            <a:spLocks noChangeShapeType="1"/>
          </p:cNvSpPr>
          <p:nvPr/>
        </p:nvSpPr>
        <p:spPr bwMode="auto">
          <a:xfrm>
            <a:off x="3416722" y="4583832"/>
            <a:ext cx="4800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4" name="Line 27"/>
          <p:cNvSpPr>
            <a:spLocks noChangeShapeType="1"/>
          </p:cNvSpPr>
          <p:nvPr/>
        </p:nvSpPr>
        <p:spPr bwMode="auto">
          <a:xfrm>
            <a:off x="3416722" y="5117232"/>
            <a:ext cx="4800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5" name="Line 28"/>
          <p:cNvSpPr>
            <a:spLocks noChangeShapeType="1"/>
          </p:cNvSpPr>
          <p:nvPr/>
        </p:nvSpPr>
        <p:spPr bwMode="auto">
          <a:xfrm>
            <a:off x="3416722" y="5650632"/>
            <a:ext cx="4800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6" name="Line 29"/>
          <p:cNvSpPr>
            <a:spLocks noChangeShapeType="1"/>
          </p:cNvSpPr>
          <p:nvPr/>
        </p:nvSpPr>
        <p:spPr bwMode="auto">
          <a:xfrm>
            <a:off x="4254922" y="2983632"/>
            <a:ext cx="0" cy="32766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7" name="Line 30"/>
          <p:cNvSpPr>
            <a:spLocks noChangeShapeType="1"/>
          </p:cNvSpPr>
          <p:nvPr/>
        </p:nvSpPr>
        <p:spPr bwMode="auto">
          <a:xfrm>
            <a:off x="5474122" y="2983632"/>
            <a:ext cx="0" cy="32766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8" name="Line 31"/>
          <p:cNvSpPr>
            <a:spLocks noChangeShapeType="1"/>
          </p:cNvSpPr>
          <p:nvPr/>
        </p:nvSpPr>
        <p:spPr bwMode="auto">
          <a:xfrm>
            <a:off x="6769522" y="2983632"/>
            <a:ext cx="0" cy="32766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8561" name="Text Box 33"/>
          <p:cNvSpPr txBox="1">
            <a:spLocks noChangeArrowheads="1"/>
          </p:cNvSpPr>
          <p:nvPr/>
        </p:nvSpPr>
        <p:spPr bwMode="auto">
          <a:xfrm>
            <a:off x="3599285" y="2952286"/>
            <a:ext cx="4199996" cy="3304366"/>
          </a:xfrm>
          <a:prstGeom prst="rect">
            <a:avLst/>
          </a:prstGeom>
          <a:noFill/>
          <a:ln w="38100">
            <a:noFill/>
            <a:miter lim="800000"/>
          </a:ln>
          <a:effectLst/>
        </p:spPr>
        <p:txBody>
          <a:bodyPr wrap="none" anchor="ctr">
            <a:spAutoFit/>
          </a:bodyPr>
          <a:lstStyle/>
          <a:p>
            <a:pPr eaLnBrk="1" fontAlgn="auto" hangingPunct="1">
              <a:lnSpc>
                <a:spcPct val="110000"/>
              </a:lnSpc>
              <a:spcBef>
                <a:spcPts val="0"/>
              </a:spcBef>
              <a:spcAft>
                <a:spcPts val="0"/>
              </a:spcAft>
              <a:defRPr/>
            </a:pPr>
            <a:r>
              <a:rPr lang="en-US" altLang="zh-CN" sz="3200" dirty="0">
                <a:solidFill>
                  <a:schemeClr val="tx2"/>
                </a:solidFill>
                <a:effectLst>
                  <a:outerShdw blurRad="38100" dist="38100" dir="2700000" algn="tl">
                    <a:srgbClr val="C0C0C0"/>
                  </a:outerShdw>
                </a:effectLst>
                <a:latin typeface="Times New Roman" panose="02020603050405020304" pitchFamily="18" charset="0"/>
                <a:ea typeface="+mn-ea"/>
              </a:rPr>
              <a:t>A</a:t>
            </a:r>
            <a:r>
              <a:rPr lang="en-US" altLang="zh-CN" sz="3200" dirty="0">
                <a:solidFill>
                  <a:srgbClr val="009900"/>
                </a:solidFill>
                <a:effectLst>
                  <a:outerShdw blurRad="38100" dist="38100" dir="2700000" algn="tl">
                    <a:srgbClr val="C0C0C0"/>
                  </a:outerShdw>
                </a:effectLst>
                <a:latin typeface="Times New Roman" panose="02020603050405020304" pitchFamily="18" charset="0"/>
                <a:ea typeface="+mn-ea"/>
              </a:rPr>
              <a:t>       </a:t>
            </a:r>
            <a:r>
              <a:rPr lang="en-US" altLang="zh-CN" sz="3200" dirty="0">
                <a:solidFill>
                  <a:schemeClr val="accent2"/>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r>
              <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rPr>
              <a:t>1         1          </a:t>
            </a:r>
            <a:r>
              <a:rPr lang="en-US" altLang="zh-CN" sz="3200" dirty="0">
                <a:solidFill>
                  <a:schemeClr val="accent2"/>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r>
              <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rPr>
              <a:t>1</a:t>
            </a:r>
            <a:endPar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endParaRPr>
          </a:p>
          <a:p>
            <a:pPr eaLnBrk="1" fontAlgn="auto" hangingPunct="1">
              <a:lnSpc>
                <a:spcPct val="110000"/>
              </a:lnSpc>
              <a:spcBef>
                <a:spcPts val="0"/>
              </a:spcBef>
              <a:spcAft>
                <a:spcPts val="0"/>
              </a:spcAft>
              <a:defRPr/>
            </a:pPr>
            <a:r>
              <a:rPr lang="en-US" altLang="zh-CN" sz="3200" dirty="0">
                <a:solidFill>
                  <a:schemeClr val="tx2"/>
                </a:solidFill>
                <a:effectLst>
                  <a:outerShdw blurRad="38100" dist="38100" dir="2700000" algn="tl">
                    <a:srgbClr val="C0C0C0"/>
                  </a:outerShdw>
                </a:effectLst>
                <a:latin typeface="Times New Roman" panose="02020603050405020304" pitchFamily="18" charset="0"/>
                <a:ea typeface="+mn-ea"/>
              </a:rPr>
              <a:t>B</a:t>
            </a:r>
            <a:r>
              <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rPr>
              <a:t>         0         2           3</a:t>
            </a:r>
            <a:endPar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endParaRPr>
          </a:p>
          <a:p>
            <a:pPr eaLnBrk="1" fontAlgn="auto" hangingPunct="1">
              <a:lnSpc>
                <a:spcPct val="110000"/>
              </a:lnSpc>
              <a:spcBef>
                <a:spcPts val="0"/>
              </a:spcBef>
              <a:spcAft>
                <a:spcPts val="0"/>
              </a:spcAft>
              <a:defRPr/>
            </a:pPr>
            <a:r>
              <a:rPr lang="en-US" altLang="zh-CN" sz="3200" dirty="0">
                <a:solidFill>
                  <a:schemeClr val="tx2"/>
                </a:solidFill>
                <a:effectLst>
                  <a:outerShdw blurRad="38100" dist="38100" dir="2700000" algn="tl">
                    <a:srgbClr val="C0C0C0"/>
                  </a:outerShdw>
                </a:effectLst>
                <a:latin typeface="Times New Roman" panose="02020603050405020304" pitchFamily="18" charset="0"/>
                <a:ea typeface="+mn-ea"/>
              </a:rPr>
              <a:t>C</a:t>
            </a:r>
            <a:r>
              <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rPr>
              <a:t>         1</a:t>
            </a:r>
            <a:r>
              <a:rPr lang="en-US" altLang="zh-CN" dirty="0">
                <a:latin typeface="Times New Roman" panose="02020603050405020304" pitchFamily="18" charset="0"/>
                <a:ea typeface="+mn-ea"/>
              </a:rPr>
              <a:t>        </a:t>
            </a:r>
            <a:r>
              <a:rPr lang="en-US" altLang="zh-CN" dirty="0">
                <a:latin typeface="仿宋_GB2312" panose="02010609030101010101" pitchFamily="49" charset="-122"/>
                <a:ea typeface="仿宋_GB2312" panose="02010609030101010101" pitchFamily="49" charset="-122"/>
              </a:rPr>
              <a:t>     </a:t>
            </a:r>
            <a:r>
              <a:rPr lang="en-US" altLang="zh-CN" sz="3200" dirty="0">
                <a:solidFill>
                  <a:schemeClr val="accent2"/>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r>
              <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rPr>
              <a:t>1         </a:t>
            </a:r>
            <a:r>
              <a:rPr lang="en-US" altLang="zh-CN" sz="3200" dirty="0">
                <a:solidFill>
                  <a:schemeClr val="accent2"/>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r>
              <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rPr>
              <a:t>1</a:t>
            </a:r>
            <a:endPar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endParaRPr>
          </a:p>
          <a:p>
            <a:pPr eaLnBrk="1" fontAlgn="auto" hangingPunct="1">
              <a:lnSpc>
                <a:spcPct val="110000"/>
              </a:lnSpc>
              <a:spcBef>
                <a:spcPts val="0"/>
              </a:spcBef>
              <a:spcAft>
                <a:spcPts val="0"/>
              </a:spcAft>
              <a:defRPr/>
            </a:pPr>
            <a:r>
              <a:rPr lang="en-US" altLang="zh-CN" sz="3200" dirty="0">
                <a:solidFill>
                  <a:schemeClr val="tx2"/>
                </a:solidFill>
                <a:effectLst>
                  <a:outerShdw blurRad="38100" dist="38100" dir="2700000" algn="tl">
                    <a:srgbClr val="C0C0C0"/>
                  </a:outerShdw>
                </a:effectLst>
                <a:latin typeface="Times New Roman" panose="02020603050405020304" pitchFamily="18" charset="0"/>
                <a:ea typeface="+mn-ea"/>
              </a:rPr>
              <a:t>D</a:t>
            </a:r>
            <a:r>
              <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rPr>
              <a:t>         1         4           5</a:t>
            </a:r>
            <a:endPar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endParaRPr>
          </a:p>
          <a:p>
            <a:pPr eaLnBrk="1" fontAlgn="auto" hangingPunct="1">
              <a:lnSpc>
                <a:spcPct val="110000"/>
              </a:lnSpc>
              <a:spcBef>
                <a:spcPts val="0"/>
              </a:spcBef>
              <a:spcAft>
                <a:spcPts val="0"/>
              </a:spcAft>
              <a:defRPr/>
            </a:pPr>
            <a:r>
              <a:rPr lang="en-US" altLang="zh-CN" sz="3200" dirty="0">
                <a:solidFill>
                  <a:schemeClr val="tx2"/>
                </a:solidFill>
                <a:effectLst>
                  <a:outerShdw blurRad="38100" dist="38100" dir="2700000" algn="tl">
                    <a:srgbClr val="C0C0C0"/>
                  </a:outerShdw>
                </a:effectLst>
                <a:latin typeface="Times New Roman" panose="02020603050405020304" pitchFamily="18" charset="0"/>
                <a:ea typeface="+mn-ea"/>
              </a:rPr>
              <a:t>E</a:t>
            </a:r>
            <a:r>
              <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rPr>
              <a:t>         3        </a:t>
            </a:r>
            <a:r>
              <a:rPr lang="en-US" altLang="zh-CN" sz="3200" dirty="0">
                <a:solidFill>
                  <a:schemeClr val="accent2"/>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r>
              <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rPr>
              <a:t>1         </a:t>
            </a:r>
            <a:r>
              <a:rPr lang="en-US" altLang="zh-CN" sz="3200" dirty="0">
                <a:solidFill>
                  <a:schemeClr val="accent2"/>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r>
              <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rPr>
              <a:t>1</a:t>
            </a:r>
            <a:endPar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endParaRPr>
          </a:p>
          <a:p>
            <a:pPr eaLnBrk="1" fontAlgn="auto" hangingPunct="1">
              <a:lnSpc>
                <a:spcPct val="110000"/>
              </a:lnSpc>
              <a:spcBef>
                <a:spcPts val="0"/>
              </a:spcBef>
              <a:spcAft>
                <a:spcPts val="0"/>
              </a:spcAft>
              <a:defRPr/>
            </a:pPr>
            <a:r>
              <a:rPr lang="en-US" altLang="zh-CN" sz="3200" dirty="0">
                <a:solidFill>
                  <a:schemeClr val="tx2"/>
                </a:solidFill>
                <a:effectLst>
                  <a:outerShdw blurRad="38100" dist="38100" dir="2700000" algn="tl">
                    <a:srgbClr val="C0C0C0"/>
                  </a:outerShdw>
                </a:effectLst>
                <a:latin typeface="Times New Roman" panose="02020603050405020304" pitchFamily="18" charset="0"/>
                <a:ea typeface="+mn-ea"/>
              </a:rPr>
              <a:t>F</a:t>
            </a:r>
            <a:r>
              <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rPr>
              <a:t>         3        </a:t>
            </a:r>
            <a:r>
              <a:rPr lang="en-US" altLang="zh-CN" sz="3200" dirty="0">
                <a:solidFill>
                  <a:schemeClr val="accent2"/>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r>
              <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rPr>
              <a:t>1         </a:t>
            </a:r>
            <a:r>
              <a:rPr lang="en-US" altLang="zh-CN" sz="3200" dirty="0">
                <a:solidFill>
                  <a:schemeClr val="accent2"/>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r>
              <a:rPr lang="en-US" altLang="zh-CN" sz="3200" dirty="0">
                <a:solidFill>
                  <a:schemeClr val="accent2"/>
                </a:solidFill>
                <a:effectLst>
                  <a:outerShdw blurRad="38100" dist="38100" dir="2700000" algn="tl">
                    <a:srgbClr val="C0C0C0"/>
                  </a:outerShdw>
                </a:effectLst>
                <a:latin typeface="Times New Roman" panose="02020603050405020304" pitchFamily="18" charset="0"/>
                <a:ea typeface="+mn-ea"/>
              </a:rPr>
              <a:t>1</a:t>
            </a:r>
            <a:endParaRPr lang="en-US" altLang="zh-CN" dirty="0">
              <a:latin typeface="Times New Roman" panose="02020603050405020304" pitchFamily="18" charset="0"/>
              <a:ea typeface="+mn-ea"/>
            </a:endParaRPr>
          </a:p>
        </p:txBody>
      </p:sp>
      <p:sp>
        <p:nvSpPr>
          <p:cNvPr id="2" name="标题 1"/>
          <p:cNvSpPr>
            <a:spLocks noGrp="1"/>
          </p:cNvSpPr>
          <p:nvPr>
            <p:ph type="title"/>
          </p:nvPr>
        </p:nvSpPr>
        <p:spPr/>
        <p:txBody>
          <a:bodyPr/>
          <a:lstStyle/>
          <a:p>
            <a:r>
              <a:rPr lang="zh-CN" altLang="en-US" dirty="0"/>
              <a:t>静态三叉链表结构</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二叉链表表示的二叉树结点类</a:t>
            </a:r>
            <a:endParaRPr lang="zh-CN" altLang="en-US" dirty="0"/>
          </a:p>
        </p:txBody>
      </p:sp>
      <p:sp>
        <p:nvSpPr>
          <p:cNvPr id="3" name="内容占位符 2"/>
          <p:cNvSpPr>
            <a:spLocks noGrp="1"/>
          </p:cNvSpPr>
          <p:nvPr>
            <p:ph idx="1"/>
          </p:nvPr>
        </p:nvSpPr>
        <p:spPr>
          <a:xfrm>
            <a:off x="251520" y="1825625"/>
            <a:ext cx="8568952" cy="3979639"/>
          </a:xfrm>
        </p:spPr>
        <p:txBody>
          <a:bodyPr>
            <a:normAutofit fontScale="70000" lnSpcReduction="20000"/>
          </a:bodyPr>
          <a:lstStyle/>
          <a:p>
            <a:pPr marL="0" indent="0">
              <a:buNone/>
            </a:pPr>
            <a:r>
              <a:rPr lang="en-US" altLang="zh-CN" dirty="0"/>
              <a:t>template &lt;class T&gt; struct </a:t>
            </a:r>
            <a:r>
              <a:rPr lang="en-US" altLang="zh-CN" dirty="0" err="1"/>
              <a:t>BinTreeNode</a:t>
            </a:r>
            <a:r>
              <a:rPr lang="en-US" altLang="zh-CN" dirty="0"/>
              <a:t> {</a:t>
            </a:r>
            <a:endParaRPr lang="en-US" altLang="zh-CN" dirty="0"/>
          </a:p>
          <a:p>
            <a:pPr marL="0" indent="0">
              <a:buNone/>
            </a:pPr>
            <a:r>
              <a:rPr lang="en-US" altLang="zh-CN" dirty="0"/>
              <a:t>    T data;</a:t>
            </a:r>
            <a:endParaRPr lang="en-US" altLang="zh-CN" dirty="0"/>
          </a:p>
          <a:p>
            <a:pPr marL="0" indent="0">
              <a:buNone/>
            </a:pPr>
            <a:r>
              <a:rPr lang="en-US" altLang="zh-CN" dirty="0"/>
              <a:t>    </a:t>
            </a:r>
            <a:r>
              <a:rPr lang="en-US" altLang="zh-CN" dirty="0" err="1"/>
              <a:t>BinTreeNode</a:t>
            </a:r>
            <a:r>
              <a:rPr lang="en-US" altLang="zh-CN" dirty="0"/>
              <a:t>&lt;T&gt; * </a:t>
            </a:r>
            <a:r>
              <a:rPr lang="en-US" altLang="zh-CN" dirty="0" err="1"/>
              <a:t>leftChild</a:t>
            </a:r>
            <a:r>
              <a:rPr lang="en-US" altLang="zh-CN" dirty="0"/>
              <a:t>;</a:t>
            </a:r>
            <a:endParaRPr lang="en-US" altLang="zh-CN" dirty="0"/>
          </a:p>
          <a:p>
            <a:pPr marL="0" indent="0">
              <a:buNone/>
            </a:pPr>
            <a:r>
              <a:rPr lang="en-US" altLang="zh-CN" dirty="0"/>
              <a:t>    </a:t>
            </a:r>
            <a:r>
              <a:rPr lang="en-US" altLang="zh-CN" dirty="0" err="1"/>
              <a:t>BinTreeNode</a:t>
            </a:r>
            <a:r>
              <a:rPr lang="en-US" altLang="zh-CN" dirty="0"/>
              <a:t>&lt;T&gt; * </a:t>
            </a:r>
            <a:r>
              <a:rPr lang="en-US" altLang="zh-CN" dirty="0" err="1"/>
              <a:t>rightChild</a:t>
            </a:r>
            <a:r>
              <a:rPr lang="en-US" altLang="zh-CN" dirty="0"/>
              <a:t>;</a:t>
            </a:r>
            <a:endParaRPr lang="en-US" altLang="zh-CN" dirty="0"/>
          </a:p>
          <a:p>
            <a:pPr marL="0" indent="0">
              <a:buNone/>
            </a:pPr>
            <a:r>
              <a:rPr lang="en-US" altLang="zh-CN" dirty="0"/>
              <a:t>    </a:t>
            </a:r>
            <a:r>
              <a:rPr lang="en-US" altLang="zh-CN" dirty="0" err="1"/>
              <a:t>BinTreeNode</a:t>
            </a:r>
            <a:r>
              <a:rPr lang="en-US" altLang="zh-CN" dirty="0"/>
              <a:t> ( ) : </a:t>
            </a:r>
            <a:r>
              <a:rPr lang="en-US" altLang="zh-CN" dirty="0" err="1"/>
              <a:t>leftChild</a:t>
            </a:r>
            <a:r>
              <a:rPr lang="en-US" altLang="zh-CN" dirty="0"/>
              <a:t> (NULL), </a:t>
            </a:r>
            <a:r>
              <a:rPr lang="en-US" altLang="zh-CN" dirty="0" err="1"/>
              <a:t>rightChild</a:t>
            </a:r>
            <a:r>
              <a:rPr lang="en-US" altLang="zh-CN" dirty="0"/>
              <a:t> (NULL) { }</a:t>
            </a:r>
            <a:endParaRPr lang="en-US" altLang="zh-CN" dirty="0"/>
          </a:p>
          <a:p>
            <a:pPr marL="0" indent="0">
              <a:buNone/>
            </a:pPr>
            <a:r>
              <a:rPr lang="en-US" altLang="zh-CN" dirty="0"/>
              <a:t>    </a:t>
            </a:r>
            <a:r>
              <a:rPr lang="en-US" altLang="zh-CN" dirty="0" err="1"/>
              <a:t>BinTreeNode</a:t>
            </a:r>
            <a:r>
              <a:rPr lang="en-US" altLang="zh-CN" dirty="0"/>
              <a:t> ( T x, </a:t>
            </a:r>
            <a:r>
              <a:rPr lang="en-US" altLang="zh-CN" dirty="0" err="1"/>
              <a:t>BinTreeNode</a:t>
            </a:r>
            <a:r>
              <a:rPr lang="en-US" altLang="zh-CN" dirty="0"/>
              <a:t>&lt;T&gt; *l = NULL,   </a:t>
            </a:r>
            <a:endParaRPr lang="en-US" altLang="zh-CN" dirty="0"/>
          </a:p>
          <a:p>
            <a:pPr marL="0" indent="0">
              <a:buNone/>
            </a:pPr>
            <a:r>
              <a:rPr lang="en-US" altLang="zh-CN" dirty="0"/>
              <a:t>      </a:t>
            </a:r>
            <a:r>
              <a:rPr lang="en-US" altLang="zh-CN" dirty="0" err="1"/>
              <a:t>BinTreeNode</a:t>
            </a:r>
            <a:r>
              <a:rPr lang="en-US" altLang="zh-CN" dirty="0"/>
              <a:t>&lt;T&gt; *r = NULL ) : data (x), </a:t>
            </a:r>
            <a:r>
              <a:rPr lang="en-US" altLang="zh-CN" dirty="0" err="1"/>
              <a:t>leftChild</a:t>
            </a:r>
            <a:r>
              <a:rPr lang="en-US" altLang="zh-CN" dirty="0"/>
              <a:t> (l), </a:t>
            </a:r>
            <a:endParaRPr lang="en-US" altLang="zh-CN" dirty="0"/>
          </a:p>
          <a:p>
            <a:pPr marL="0" indent="0">
              <a:buNone/>
            </a:pPr>
            <a:r>
              <a:rPr lang="en-US" altLang="zh-CN" dirty="0"/>
              <a:t>      </a:t>
            </a:r>
            <a:r>
              <a:rPr lang="en-US" altLang="zh-CN" dirty="0" err="1"/>
              <a:t>rightChild</a:t>
            </a:r>
            <a:r>
              <a:rPr lang="en-US" altLang="zh-CN" dirty="0"/>
              <a:t> (r) { }</a:t>
            </a:r>
            <a:endParaRPr lang="en-US" altLang="zh-CN" dirty="0"/>
          </a:p>
          <a:p>
            <a:pPr marL="0" indent="0">
              <a:buNone/>
            </a:pPr>
            <a:r>
              <a:rPr lang="en-US" altLang="zh-CN" dirty="0"/>
              <a:t>};</a:t>
            </a: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67544" y="365125"/>
            <a:ext cx="8352928" cy="903635"/>
          </a:xfrm>
        </p:spPr>
        <p:txBody>
          <a:bodyPr>
            <a:normAutofit/>
          </a:bodyPr>
          <a:lstStyle/>
          <a:p>
            <a:r>
              <a:rPr lang="zh-CN" altLang="en-US" dirty="0"/>
              <a:t>二叉链表型二叉树的类定义</a:t>
            </a:r>
            <a:endParaRPr lang="zh-CN" altLang="en-US" dirty="0"/>
          </a:p>
        </p:txBody>
      </p:sp>
      <p:sp>
        <p:nvSpPr>
          <p:cNvPr id="5" name="内容占位符 4"/>
          <p:cNvSpPr>
            <a:spLocks noGrp="1"/>
          </p:cNvSpPr>
          <p:nvPr>
            <p:ph idx="1"/>
          </p:nvPr>
        </p:nvSpPr>
        <p:spPr>
          <a:xfrm>
            <a:off x="251520" y="1268760"/>
            <a:ext cx="8568952" cy="5224115"/>
          </a:xfrm>
        </p:spPr>
        <p:txBody>
          <a:bodyPr>
            <a:normAutofit fontScale="40000" lnSpcReduction="20000"/>
          </a:bodyPr>
          <a:lstStyle/>
          <a:p>
            <a:pPr marL="0" indent="0">
              <a:buNone/>
            </a:pPr>
            <a:r>
              <a:rPr lang="en-US" altLang="zh-CN" dirty="0"/>
              <a:t>template &lt;class T&gt; class </a:t>
            </a:r>
            <a:r>
              <a:rPr lang="en-US" altLang="zh-CN" dirty="0" err="1"/>
              <a:t>BinaryTree</a:t>
            </a:r>
            <a:r>
              <a:rPr lang="en-US" altLang="zh-CN" dirty="0"/>
              <a:t> {	</a:t>
            </a:r>
            <a:endParaRPr lang="en-US" altLang="zh-CN" dirty="0"/>
          </a:p>
          <a:p>
            <a:pPr marL="0" indent="0">
              <a:buNone/>
            </a:pPr>
            <a:r>
              <a:rPr lang="en-US" altLang="zh-CN" dirty="0"/>
              <a:t>protected:</a:t>
            </a:r>
            <a:endParaRPr lang="en-US" altLang="zh-CN" dirty="0"/>
          </a:p>
          <a:p>
            <a:pPr marL="0" indent="0">
              <a:buNone/>
            </a:pPr>
            <a:r>
              <a:rPr lang="en-US" altLang="zh-CN" dirty="0"/>
              <a:t>    </a:t>
            </a:r>
            <a:r>
              <a:rPr lang="en-US" altLang="zh-CN" dirty="0" err="1"/>
              <a:t>BinTreeNode</a:t>
            </a:r>
            <a:r>
              <a:rPr lang="en-US" altLang="zh-CN" dirty="0"/>
              <a:t> &lt;T&gt; *root;                       </a:t>
            </a:r>
            <a:endParaRPr lang="en-US" altLang="zh-CN" dirty="0"/>
          </a:p>
          <a:p>
            <a:pPr marL="0" indent="0">
              <a:buNone/>
            </a:pPr>
            <a:r>
              <a:rPr lang="en-US" altLang="zh-CN" dirty="0"/>
              <a:t>    T </a:t>
            </a:r>
            <a:r>
              <a:rPr lang="en-US" altLang="zh-CN" dirty="0" err="1"/>
              <a:t>RefValue</a:t>
            </a:r>
            <a:r>
              <a:rPr lang="en-US" altLang="zh-CN" dirty="0"/>
              <a:t>;   //</a:t>
            </a:r>
            <a:r>
              <a:rPr lang="zh-CN" altLang="en-US" dirty="0"/>
              <a:t>结点中不可能出现的值，序列化时代表空结点，具体见</a:t>
            </a:r>
            <a:r>
              <a:rPr lang="en-US" altLang="zh-CN" dirty="0" err="1"/>
              <a:t>CreateBinTree</a:t>
            </a:r>
            <a:endParaRPr lang="en-US" altLang="zh-CN" dirty="0"/>
          </a:p>
          <a:p>
            <a:pPr marL="0" indent="0">
              <a:buNone/>
            </a:pPr>
            <a:r>
              <a:rPr lang="en-US" altLang="zh-CN" dirty="0"/>
              <a:t>    void </a:t>
            </a:r>
            <a:r>
              <a:rPr lang="en-US" altLang="zh-CN" dirty="0" err="1"/>
              <a:t>CreateBinTree</a:t>
            </a:r>
            <a:r>
              <a:rPr lang="en-US" altLang="zh-CN" dirty="0"/>
              <a:t> ( </a:t>
            </a:r>
            <a:r>
              <a:rPr lang="en-US" altLang="zh-CN" dirty="0" err="1"/>
              <a:t>istream</a:t>
            </a:r>
            <a:r>
              <a:rPr lang="en-US" altLang="zh-CN" dirty="0"/>
              <a:t>&amp; in,   </a:t>
            </a:r>
            <a:r>
              <a:rPr lang="en-US" altLang="zh-CN" dirty="0" err="1"/>
              <a:t>BinTreeNode</a:t>
            </a:r>
            <a:r>
              <a:rPr lang="en-US" altLang="zh-CN" dirty="0"/>
              <a:t>&lt;T&gt; * &amp;</a:t>
            </a:r>
            <a:r>
              <a:rPr lang="en-US" altLang="zh-CN" dirty="0" err="1"/>
              <a:t>subTree</a:t>
            </a:r>
            <a:r>
              <a:rPr lang="en-US" altLang="zh-CN" dirty="0"/>
              <a:t> );   </a:t>
            </a:r>
            <a:endParaRPr lang="en-US" altLang="zh-CN" dirty="0"/>
          </a:p>
          <a:p>
            <a:pPr marL="0" indent="0">
              <a:buNone/>
            </a:pPr>
            <a:r>
              <a:rPr lang="en-US" altLang="zh-CN" dirty="0"/>
              <a:t>    bool Insert (</a:t>
            </a:r>
            <a:r>
              <a:rPr lang="en-US" altLang="zh-CN" dirty="0" err="1"/>
              <a:t>BinTreeNode</a:t>
            </a:r>
            <a:r>
              <a:rPr lang="en-US" altLang="zh-CN" dirty="0"/>
              <a:t>&lt;T&gt; * &amp; </a:t>
            </a:r>
            <a:r>
              <a:rPr lang="en-US" altLang="zh-CN" dirty="0" err="1"/>
              <a:t>subTree</a:t>
            </a:r>
            <a:r>
              <a:rPr lang="en-US" altLang="zh-CN" dirty="0"/>
              <a:t>,   const T &amp;x);	         //</a:t>
            </a:r>
            <a:r>
              <a:rPr lang="zh-CN" altLang="en-US" dirty="0"/>
              <a:t>插入</a:t>
            </a:r>
            <a:endParaRPr lang="zh-CN" altLang="en-US" dirty="0"/>
          </a:p>
          <a:p>
            <a:pPr marL="0" indent="0">
              <a:buNone/>
            </a:pPr>
            <a:r>
              <a:rPr lang="zh-CN" altLang="en-US" dirty="0"/>
              <a:t>    </a:t>
            </a:r>
            <a:r>
              <a:rPr lang="en-US" altLang="zh-CN" dirty="0"/>
              <a:t>void destroy (</a:t>
            </a:r>
            <a:r>
              <a:rPr lang="en-US" altLang="zh-CN" dirty="0" err="1"/>
              <a:t>BinTreeNode</a:t>
            </a:r>
            <a:r>
              <a:rPr lang="en-US" altLang="zh-CN" dirty="0"/>
              <a:t>&lt;T&gt; *&amp; </a:t>
            </a:r>
            <a:r>
              <a:rPr lang="en-US" altLang="zh-CN" dirty="0" err="1"/>
              <a:t>subTree</a:t>
            </a:r>
            <a:r>
              <a:rPr lang="en-US" altLang="zh-CN" dirty="0"/>
              <a:t>);		         //</a:t>
            </a:r>
            <a:r>
              <a:rPr lang="zh-CN" altLang="en-US" dirty="0"/>
              <a:t>删除</a:t>
            </a:r>
            <a:endParaRPr lang="zh-CN" altLang="en-US" dirty="0"/>
          </a:p>
          <a:p>
            <a:pPr marL="0" indent="0">
              <a:buNone/>
            </a:pPr>
            <a:r>
              <a:rPr lang="en-US" altLang="zh-CN" dirty="0"/>
              <a:t>    …</a:t>
            </a:r>
            <a:endParaRPr lang="en-US" altLang="zh-CN" dirty="0"/>
          </a:p>
          <a:p>
            <a:pPr marL="0" indent="0">
              <a:buNone/>
            </a:pPr>
            <a:r>
              <a:rPr lang="en-US" altLang="zh-CN" dirty="0"/>
              <a:t>public:</a:t>
            </a:r>
            <a:endParaRPr lang="en-US" altLang="zh-CN" dirty="0"/>
          </a:p>
          <a:p>
            <a:pPr marL="0" indent="0">
              <a:buNone/>
            </a:pPr>
            <a:r>
              <a:rPr lang="en-US" altLang="zh-CN" dirty="0"/>
              <a:t>    </a:t>
            </a:r>
            <a:r>
              <a:rPr lang="en-US" altLang="zh-CN" dirty="0" err="1"/>
              <a:t>BinaryTree</a:t>
            </a:r>
            <a:r>
              <a:rPr lang="en-US" altLang="zh-CN" dirty="0"/>
              <a:t> ( ) : root (NULL) { }</a:t>
            </a:r>
            <a:endParaRPr lang="en-US" altLang="zh-CN" dirty="0"/>
          </a:p>
          <a:p>
            <a:pPr marL="0" indent="0">
              <a:buNone/>
            </a:pPr>
            <a:r>
              <a:rPr lang="en-US" altLang="zh-CN" dirty="0"/>
              <a:t>    ~</a:t>
            </a:r>
            <a:r>
              <a:rPr lang="en-US" altLang="zh-CN" dirty="0" err="1"/>
              <a:t>BinaryTree</a:t>
            </a:r>
            <a:r>
              <a:rPr lang="en-US" altLang="zh-CN" dirty="0"/>
              <a:t> ( ) { destroy ( root ); }</a:t>
            </a:r>
            <a:endParaRPr lang="en-US" altLang="zh-CN" dirty="0"/>
          </a:p>
          <a:p>
            <a:pPr marL="0" indent="0">
              <a:buNone/>
            </a:pPr>
            <a:r>
              <a:rPr lang="en-US" altLang="zh-CN" dirty="0"/>
              <a:t>    void </a:t>
            </a:r>
            <a:r>
              <a:rPr lang="en-US" altLang="zh-CN" dirty="0" err="1"/>
              <a:t>PreOrder</a:t>
            </a:r>
            <a:r>
              <a:rPr lang="en-US" altLang="zh-CN" dirty="0"/>
              <a:t>(void(* visit)(</a:t>
            </a:r>
            <a:r>
              <a:rPr lang="en-US" altLang="zh-CN" dirty="0" err="1"/>
              <a:t>BinTreeNode</a:t>
            </a:r>
            <a:r>
              <a:rPr lang="en-US" altLang="zh-CN" dirty="0"/>
              <a:t>&lt;T&gt; *p))  {</a:t>
            </a:r>
            <a:r>
              <a:rPr lang="en-US" altLang="zh-CN" dirty="0" err="1"/>
              <a:t>preOrder</a:t>
            </a:r>
            <a:r>
              <a:rPr lang="en-US" altLang="zh-CN" dirty="0"/>
              <a:t>(root, visit) ;}     //</a:t>
            </a:r>
            <a:r>
              <a:rPr lang="zh-CN" altLang="en-US" dirty="0"/>
              <a:t>前序遍历</a:t>
            </a:r>
            <a:endParaRPr lang="zh-CN" altLang="en-US" dirty="0"/>
          </a:p>
          <a:p>
            <a:pPr marL="0" indent="0">
              <a:buNone/>
            </a:pPr>
            <a:r>
              <a:rPr lang="zh-CN" altLang="en-US" dirty="0"/>
              <a:t>    </a:t>
            </a:r>
            <a:r>
              <a:rPr lang="en-US" altLang="zh-CN" dirty="0"/>
              <a:t>void </a:t>
            </a:r>
            <a:r>
              <a:rPr lang="en-US" altLang="zh-CN" dirty="0" err="1"/>
              <a:t>InOrder</a:t>
            </a:r>
            <a:r>
              <a:rPr lang="en-US" altLang="zh-CN" dirty="0"/>
              <a:t>(void(* visit)(</a:t>
            </a:r>
            <a:r>
              <a:rPr lang="en-US" altLang="zh-CN" dirty="0" err="1"/>
              <a:t>BinTreeNode</a:t>
            </a:r>
            <a:r>
              <a:rPr lang="en-US" altLang="zh-CN" dirty="0"/>
              <a:t>&lt;T&gt; *p))    {</a:t>
            </a:r>
            <a:r>
              <a:rPr lang="en-US" altLang="zh-CN" dirty="0" err="1"/>
              <a:t>inOrder</a:t>
            </a:r>
            <a:r>
              <a:rPr lang="en-US" altLang="zh-CN" dirty="0"/>
              <a:t>(root, visit) ;}        //</a:t>
            </a:r>
            <a:r>
              <a:rPr lang="zh-CN" altLang="en-US" dirty="0"/>
              <a:t>中序遍历</a:t>
            </a:r>
            <a:endParaRPr lang="zh-CN" altLang="en-US" dirty="0"/>
          </a:p>
          <a:p>
            <a:pPr marL="0" indent="0">
              <a:buNone/>
            </a:pPr>
            <a:r>
              <a:rPr lang="zh-CN" altLang="en-US" dirty="0"/>
              <a:t>    </a:t>
            </a:r>
            <a:r>
              <a:rPr lang="en-US" altLang="zh-CN" dirty="0"/>
              <a:t>void </a:t>
            </a:r>
            <a:r>
              <a:rPr lang="en-US" altLang="zh-CN" dirty="0" err="1"/>
              <a:t>PostOrder</a:t>
            </a:r>
            <a:r>
              <a:rPr lang="en-US" altLang="zh-CN" dirty="0"/>
              <a:t>(void(* visit)(</a:t>
            </a:r>
            <a:r>
              <a:rPr lang="en-US" altLang="zh-CN" dirty="0" err="1"/>
              <a:t>BinTreeNode</a:t>
            </a:r>
            <a:r>
              <a:rPr lang="en-US" altLang="zh-CN" dirty="0"/>
              <a:t>&lt;T&gt; *p)) {</a:t>
            </a:r>
            <a:r>
              <a:rPr lang="en-US" altLang="zh-CN" dirty="0" err="1"/>
              <a:t>postOrder</a:t>
            </a:r>
            <a:r>
              <a:rPr lang="en-US" altLang="zh-CN" dirty="0"/>
              <a:t>(root, visit) ;}   //</a:t>
            </a:r>
            <a:r>
              <a:rPr lang="zh-CN" altLang="en-US" dirty="0"/>
              <a:t>后序遍历</a:t>
            </a:r>
            <a:endParaRPr lang="zh-CN" altLang="en-US" dirty="0"/>
          </a:p>
          <a:p>
            <a:pPr marL="0" indent="0">
              <a:buNone/>
            </a:pPr>
            <a:r>
              <a:rPr lang="zh-CN" altLang="en-US" dirty="0"/>
              <a:t>    </a:t>
            </a:r>
            <a:r>
              <a:rPr lang="en-US" altLang="zh-CN" dirty="0"/>
              <a:t>void </a:t>
            </a:r>
            <a:r>
              <a:rPr lang="en-US" altLang="zh-CN" dirty="0" err="1"/>
              <a:t>LevelOrder</a:t>
            </a:r>
            <a:r>
              <a:rPr lang="en-US" altLang="zh-CN" dirty="0"/>
              <a:t>(void(* visit)(</a:t>
            </a:r>
            <a:r>
              <a:rPr lang="en-US" altLang="zh-CN" dirty="0" err="1"/>
              <a:t>BinTreeNode</a:t>
            </a:r>
            <a:r>
              <a:rPr lang="en-US" altLang="zh-CN" dirty="0"/>
              <a:t>&lt;T&gt; *p));</a:t>
            </a:r>
            <a:endParaRPr lang="en-US" altLang="zh-CN" dirty="0"/>
          </a:p>
          <a:p>
            <a:pPr marL="0" indent="0">
              <a:buNone/>
            </a:pPr>
            <a:r>
              <a:rPr lang="en-US" altLang="zh-CN" dirty="0"/>
              <a:t>    …</a:t>
            </a:r>
            <a:endParaRPr lang="en-US" altLang="zh-CN" dirty="0"/>
          </a:p>
          <a:p>
            <a:pPr marL="0" indent="0">
              <a:buNone/>
            </a:pPr>
            <a:r>
              <a:rPr lang="en-US" altLang="zh-CN" dirty="0"/>
              <a:t>} </a:t>
            </a:r>
            <a:endParaRPr lang="zh-CN" altLang="en-US"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5.4 </a:t>
            </a:r>
            <a:r>
              <a:rPr lang="zh-CN" altLang="en-US" dirty="0"/>
              <a:t>二叉树遍历及其应用</a:t>
            </a:r>
            <a:endParaRPr lang="zh-CN" altLang="en-US" dirty="0"/>
          </a:p>
        </p:txBody>
      </p:sp>
      <p:sp>
        <p:nvSpPr>
          <p:cNvPr id="3" name="内容占位符 2"/>
          <p:cNvSpPr>
            <a:spLocks noGrp="1"/>
          </p:cNvSpPr>
          <p:nvPr>
            <p:ph idx="1"/>
          </p:nvPr>
        </p:nvSpPr>
        <p:spPr/>
        <p:txBody>
          <a:bodyPr/>
          <a:lstStyle/>
          <a:p>
            <a:r>
              <a:rPr lang="zh-CN" altLang="en-US" dirty="0"/>
              <a:t>树的遍历就是按某种次序访问树中的结点，要求每个结点访问一次且仅访问一次。</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5.4.1 </a:t>
            </a:r>
            <a:r>
              <a:rPr lang="zh-CN" altLang="en-US" dirty="0"/>
              <a:t>二叉树遍历的递归算法</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设访问根结点记作 </a:t>
            </a:r>
            <a:r>
              <a:rPr lang="en-US" altLang="zh-CN" dirty="0"/>
              <a:t>V</a:t>
            </a:r>
            <a:r>
              <a:rPr lang="zh-CN" altLang="en-US" dirty="0"/>
              <a:t>，遍历根的左子树记作 </a:t>
            </a:r>
            <a:r>
              <a:rPr lang="en-US" altLang="zh-CN" dirty="0"/>
              <a:t>L</a:t>
            </a:r>
            <a:r>
              <a:rPr lang="zh-CN" altLang="en-US" dirty="0"/>
              <a:t>，遍历根的右子树记作 </a:t>
            </a:r>
            <a:r>
              <a:rPr lang="en-US" altLang="zh-CN" dirty="0"/>
              <a:t>R</a:t>
            </a:r>
            <a:r>
              <a:rPr lang="zh-CN" altLang="en-US" dirty="0"/>
              <a:t>，则可能的遍历次序有</a:t>
            </a:r>
            <a:endParaRPr lang="zh-CN" altLang="en-US" dirty="0"/>
          </a:p>
          <a:p>
            <a:pPr lvl="1"/>
            <a:r>
              <a:rPr lang="zh-CN" altLang="en-US" dirty="0"/>
              <a:t>前序：</a:t>
            </a:r>
            <a:r>
              <a:rPr lang="en-US" altLang="zh-CN" dirty="0"/>
              <a:t>VLR     </a:t>
            </a:r>
            <a:endParaRPr lang="en-US" altLang="zh-CN" dirty="0"/>
          </a:p>
          <a:p>
            <a:pPr lvl="2"/>
            <a:r>
              <a:rPr lang="zh-CN" altLang="en-US" dirty="0"/>
              <a:t>镜像：</a:t>
            </a:r>
            <a:r>
              <a:rPr lang="en-US" altLang="zh-CN" dirty="0"/>
              <a:t>VRL</a:t>
            </a:r>
            <a:endParaRPr lang="en-US" altLang="zh-CN" dirty="0"/>
          </a:p>
          <a:p>
            <a:pPr lvl="1"/>
            <a:r>
              <a:rPr lang="zh-CN" altLang="en-US" dirty="0"/>
              <a:t>中序：</a:t>
            </a:r>
            <a:r>
              <a:rPr lang="en-US" altLang="zh-CN" dirty="0"/>
              <a:t>LVR     </a:t>
            </a:r>
            <a:endParaRPr lang="en-US" altLang="zh-CN" dirty="0"/>
          </a:p>
          <a:p>
            <a:pPr lvl="2"/>
            <a:r>
              <a:rPr lang="zh-CN" altLang="en-US" dirty="0"/>
              <a:t>镜像：</a:t>
            </a:r>
            <a:r>
              <a:rPr lang="en-US" altLang="zh-CN" dirty="0"/>
              <a:t>RVL</a:t>
            </a:r>
            <a:endParaRPr lang="en-US" altLang="zh-CN" dirty="0"/>
          </a:p>
          <a:p>
            <a:pPr lvl="1"/>
            <a:r>
              <a:rPr lang="zh-CN" altLang="en-US" dirty="0"/>
              <a:t>后序：</a:t>
            </a:r>
            <a:r>
              <a:rPr lang="en-US" altLang="zh-CN" dirty="0"/>
              <a:t>LRV     </a:t>
            </a:r>
            <a:endParaRPr lang="en-US" altLang="zh-CN" dirty="0"/>
          </a:p>
          <a:p>
            <a:pPr lvl="2"/>
            <a:r>
              <a:rPr lang="zh-CN" altLang="en-US" dirty="0"/>
              <a:t>镜像：</a:t>
            </a:r>
            <a:r>
              <a:rPr lang="en-US" altLang="zh-CN" dirty="0"/>
              <a:t>RLV   </a:t>
            </a: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580112" y="2123825"/>
            <a:ext cx="3124200" cy="4178300"/>
            <a:chOff x="5410200" y="1873250"/>
            <a:chExt cx="3124200" cy="4178300"/>
          </a:xfrm>
        </p:grpSpPr>
        <p:sp>
          <p:nvSpPr>
            <p:cNvPr id="43010" name="Line 26"/>
            <p:cNvSpPr>
              <a:spLocks noChangeShapeType="1"/>
            </p:cNvSpPr>
            <p:nvPr/>
          </p:nvSpPr>
          <p:spPr bwMode="auto">
            <a:xfrm>
              <a:off x="7086600" y="5029200"/>
              <a:ext cx="38100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1" name="Line 25"/>
            <p:cNvSpPr>
              <a:spLocks noChangeShapeType="1"/>
            </p:cNvSpPr>
            <p:nvPr/>
          </p:nvSpPr>
          <p:spPr bwMode="auto">
            <a:xfrm>
              <a:off x="7924800" y="3200400"/>
              <a:ext cx="30480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2" name="Line 24"/>
            <p:cNvSpPr>
              <a:spLocks noChangeShapeType="1"/>
            </p:cNvSpPr>
            <p:nvPr/>
          </p:nvSpPr>
          <p:spPr bwMode="auto">
            <a:xfrm>
              <a:off x="6172200" y="3200400"/>
              <a:ext cx="38100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3" name="Line 23"/>
            <p:cNvSpPr>
              <a:spLocks noChangeShapeType="1"/>
            </p:cNvSpPr>
            <p:nvPr/>
          </p:nvSpPr>
          <p:spPr bwMode="auto">
            <a:xfrm>
              <a:off x="6629400" y="4114800"/>
              <a:ext cx="38100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4" name="Line 22"/>
            <p:cNvSpPr>
              <a:spLocks noChangeShapeType="1"/>
            </p:cNvSpPr>
            <p:nvPr/>
          </p:nvSpPr>
          <p:spPr bwMode="auto">
            <a:xfrm flipH="1">
              <a:off x="7391400" y="3200400"/>
              <a:ext cx="304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5" name="Line 21"/>
            <p:cNvSpPr>
              <a:spLocks noChangeShapeType="1"/>
            </p:cNvSpPr>
            <p:nvPr/>
          </p:nvSpPr>
          <p:spPr bwMode="auto">
            <a:xfrm flipH="1">
              <a:off x="6629400" y="5029200"/>
              <a:ext cx="304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6" name="Line 20"/>
            <p:cNvSpPr>
              <a:spLocks noChangeShapeType="1"/>
            </p:cNvSpPr>
            <p:nvPr/>
          </p:nvSpPr>
          <p:spPr bwMode="auto">
            <a:xfrm flipH="1">
              <a:off x="6248400" y="4114800"/>
              <a:ext cx="304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7" name="Line 19"/>
            <p:cNvSpPr>
              <a:spLocks noChangeShapeType="1"/>
            </p:cNvSpPr>
            <p:nvPr/>
          </p:nvSpPr>
          <p:spPr bwMode="auto">
            <a:xfrm flipH="1">
              <a:off x="5715000" y="3276600"/>
              <a:ext cx="304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8" name="Line 18"/>
            <p:cNvSpPr>
              <a:spLocks noChangeShapeType="1"/>
            </p:cNvSpPr>
            <p:nvPr/>
          </p:nvSpPr>
          <p:spPr bwMode="auto">
            <a:xfrm>
              <a:off x="7010400" y="2362200"/>
              <a:ext cx="685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9" name="Line 17"/>
            <p:cNvSpPr>
              <a:spLocks noChangeShapeType="1"/>
            </p:cNvSpPr>
            <p:nvPr/>
          </p:nvSpPr>
          <p:spPr bwMode="auto">
            <a:xfrm flipH="1">
              <a:off x="6248400" y="2362200"/>
              <a:ext cx="6096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390" name="Oval 6"/>
            <p:cNvSpPr>
              <a:spLocks noChangeArrowheads="1"/>
            </p:cNvSpPr>
            <p:nvPr/>
          </p:nvSpPr>
          <p:spPr bwMode="auto">
            <a:xfrm>
              <a:off x="6705600" y="1981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3023" name="Oval 7"/>
            <p:cNvSpPr>
              <a:spLocks noChangeArrowheads="1"/>
            </p:cNvSpPr>
            <p:nvPr/>
          </p:nvSpPr>
          <p:spPr bwMode="auto">
            <a:xfrm>
              <a:off x="54102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4392" name="Oval 8"/>
            <p:cNvSpPr>
              <a:spLocks noChangeArrowheads="1"/>
            </p:cNvSpPr>
            <p:nvPr/>
          </p:nvSpPr>
          <p:spPr bwMode="auto">
            <a:xfrm>
              <a:off x="6324600" y="37338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3025" name="Oval 9"/>
            <p:cNvSpPr>
              <a:spLocks noChangeArrowheads="1"/>
            </p:cNvSpPr>
            <p:nvPr/>
          </p:nvSpPr>
          <p:spPr bwMode="auto">
            <a:xfrm>
              <a:off x="70866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43026" name="Oval 10"/>
            <p:cNvSpPr>
              <a:spLocks noChangeArrowheads="1"/>
            </p:cNvSpPr>
            <p:nvPr/>
          </p:nvSpPr>
          <p:spPr bwMode="auto">
            <a:xfrm>
              <a:off x="80010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4395" name="Oval 11"/>
            <p:cNvSpPr>
              <a:spLocks noChangeArrowheads="1"/>
            </p:cNvSpPr>
            <p:nvPr/>
          </p:nvSpPr>
          <p:spPr bwMode="auto">
            <a:xfrm>
              <a:off x="58674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144396" name="Oval 12"/>
            <p:cNvSpPr>
              <a:spLocks noChangeArrowheads="1"/>
            </p:cNvSpPr>
            <p:nvPr/>
          </p:nvSpPr>
          <p:spPr bwMode="auto">
            <a:xfrm>
              <a:off x="75438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3029" name="Oval 13"/>
            <p:cNvSpPr>
              <a:spLocks noChangeArrowheads="1"/>
            </p:cNvSpPr>
            <p:nvPr/>
          </p:nvSpPr>
          <p:spPr bwMode="auto">
            <a:xfrm>
              <a:off x="5867400" y="46482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4398" name="Oval 14"/>
            <p:cNvSpPr>
              <a:spLocks noChangeArrowheads="1"/>
            </p:cNvSpPr>
            <p:nvPr/>
          </p:nvSpPr>
          <p:spPr bwMode="auto">
            <a:xfrm>
              <a:off x="6781800" y="4648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3031" name="Oval 15"/>
            <p:cNvSpPr>
              <a:spLocks noChangeArrowheads="1"/>
            </p:cNvSpPr>
            <p:nvPr/>
          </p:nvSpPr>
          <p:spPr bwMode="auto">
            <a:xfrm>
              <a:off x="6324600" y="54864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43032" name="Oval 16"/>
            <p:cNvSpPr>
              <a:spLocks noChangeArrowheads="1"/>
            </p:cNvSpPr>
            <p:nvPr/>
          </p:nvSpPr>
          <p:spPr bwMode="auto">
            <a:xfrm>
              <a:off x="7239000" y="54864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4411" name="Text Box 27"/>
            <p:cNvSpPr txBox="1">
              <a:spLocks noChangeArrowheads="1"/>
            </p:cNvSpPr>
            <p:nvPr/>
          </p:nvSpPr>
          <p:spPr bwMode="auto">
            <a:xfrm>
              <a:off x="6750050" y="187325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a:latin typeface="Times New Roman" panose="02020603050405020304" pitchFamily="18" charset="0"/>
                <a:ea typeface="+mn-ea"/>
              </a:endParaRPr>
            </a:p>
          </p:txBody>
        </p:sp>
        <p:sp>
          <p:nvSpPr>
            <p:cNvPr id="144412" name="Text Box 28"/>
            <p:cNvSpPr txBox="1">
              <a:spLocks noChangeArrowheads="1"/>
            </p:cNvSpPr>
            <p:nvPr/>
          </p:nvSpPr>
          <p:spPr bwMode="auto">
            <a:xfrm>
              <a:off x="6826250" y="457200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a:latin typeface="Times New Roman" panose="02020603050405020304" pitchFamily="18" charset="0"/>
                <a:ea typeface="+mn-ea"/>
              </a:endParaRPr>
            </a:p>
          </p:txBody>
        </p:sp>
        <p:sp>
          <p:nvSpPr>
            <p:cNvPr id="144413" name="Text Box 29"/>
            <p:cNvSpPr txBox="1">
              <a:spLocks noChangeArrowheads="1"/>
            </p:cNvSpPr>
            <p:nvPr/>
          </p:nvSpPr>
          <p:spPr bwMode="auto">
            <a:xfrm>
              <a:off x="7600950" y="2773363"/>
              <a:ext cx="387350" cy="579437"/>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2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a:latin typeface="Times New Roman" panose="02020603050405020304" pitchFamily="18" charset="0"/>
                <a:ea typeface="+mn-ea"/>
              </a:endParaRPr>
            </a:p>
          </p:txBody>
        </p:sp>
        <p:sp>
          <p:nvSpPr>
            <p:cNvPr id="144414" name="Text Box 30"/>
            <p:cNvSpPr txBox="1">
              <a:spLocks noChangeArrowheads="1"/>
            </p:cNvSpPr>
            <p:nvPr/>
          </p:nvSpPr>
          <p:spPr bwMode="auto">
            <a:xfrm>
              <a:off x="5899150" y="2681288"/>
              <a:ext cx="438150" cy="701675"/>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40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144415" name="Text Box 31"/>
            <p:cNvSpPr txBox="1">
              <a:spLocks noChangeArrowheads="1"/>
            </p:cNvSpPr>
            <p:nvPr/>
          </p:nvSpPr>
          <p:spPr bwMode="auto">
            <a:xfrm>
              <a:off x="6356350" y="3595688"/>
              <a:ext cx="438150" cy="701675"/>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40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144416" name="Text Box 32"/>
            <p:cNvSpPr txBox="1">
              <a:spLocks noChangeArrowheads="1"/>
            </p:cNvSpPr>
            <p:nvPr/>
          </p:nvSpPr>
          <p:spPr bwMode="auto">
            <a:xfrm>
              <a:off x="5454650" y="362585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a</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144417" name="Text Box 33"/>
            <p:cNvSpPr txBox="1">
              <a:spLocks noChangeArrowheads="1"/>
            </p:cNvSpPr>
            <p:nvPr/>
          </p:nvSpPr>
          <p:spPr bwMode="auto">
            <a:xfrm>
              <a:off x="5943600" y="454025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b</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144418" name="Text Box 34"/>
            <p:cNvSpPr txBox="1">
              <a:spLocks noChangeArrowheads="1"/>
            </p:cNvSpPr>
            <p:nvPr/>
          </p:nvSpPr>
          <p:spPr bwMode="auto">
            <a:xfrm>
              <a:off x="6394450" y="5378450"/>
              <a:ext cx="3873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c</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144419" name="Text Box 35"/>
            <p:cNvSpPr txBox="1">
              <a:spLocks noChangeArrowheads="1"/>
            </p:cNvSpPr>
            <p:nvPr/>
          </p:nvSpPr>
          <p:spPr bwMode="auto">
            <a:xfrm>
              <a:off x="7239000" y="541020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d</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144420" name="Text Box 36"/>
            <p:cNvSpPr txBox="1">
              <a:spLocks noChangeArrowheads="1"/>
            </p:cNvSpPr>
            <p:nvPr/>
          </p:nvSpPr>
          <p:spPr bwMode="auto">
            <a:xfrm>
              <a:off x="7156450" y="3625850"/>
              <a:ext cx="3873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e</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144421" name="Text Box 37"/>
            <p:cNvSpPr txBox="1">
              <a:spLocks noChangeArrowheads="1"/>
            </p:cNvSpPr>
            <p:nvPr/>
          </p:nvSpPr>
          <p:spPr bwMode="auto">
            <a:xfrm>
              <a:off x="8121650" y="3657600"/>
              <a:ext cx="3365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f</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grpSp>
      <p:sp>
        <p:nvSpPr>
          <p:cNvPr id="2" name="标题 1"/>
          <p:cNvSpPr>
            <a:spLocks noGrp="1"/>
          </p:cNvSpPr>
          <p:nvPr>
            <p:ph type="title"/>
          </p:nvPr>
        </p:nvSpPr>
        <p:spPr/>
        <p:txBody>
          <a:bodyPr/>
          <a:lstStyle/>
          <a:p>
            <a:r>
              <a:rPr lang="zh-CN" altLang="en-US" dirty="0"/>
              <a:t>中序遍历</a:t>
            </a:r>
            <a:endParaRPr lang="zh-CN" altLang="en-US" dirty="0"/>
          </a:p>
        </p:txBody>
      </p:sp>
      <p:sp>
        <p:nvSpPr>
          <p:cNvPr id="3" name="内容占位符 2"/>
          <p:cNvSpPr>
            <a:spLocks noGrp="1"/>
          </p:cNvSpPr>
          <p:nvPr>
            <p:ph idx="1"/>
          </p:nvPr>
        </p:nvSpPr>
        <p:spPr/>
        <p:txBody>
          <a:bodyPr>
            <a:normAutofit fontScale="77500" lnSpcReduction="20000"/>
          </a:bodyPr>
          <a:lstStyle/>
          <a:p>
            <a:r>
              <a:rPr lang="zh-CN" altLang="en-US" dirty="0"/>
              <a:t>中序遍历二叉树算法的框架是：</a:t>
            </a:r>
            <a:endParaRPr lang="zh-CN" altLang="en-US" dirty="0"/>
          </a:p>
          <a:p>
            <a:pPr lvl="1"/>
            <a:r>
              <a:rPr lang="zh-CN" altLang="en-US" dirty="0"/>
              <a:t>若二叉树为空，则空操作；</a:t>
            </a:r>
            <a:endParaRPr lang="zh-CN" altLang="en-US" dirty="0"/>
          </a:p>
          <a:p>
            <a:pPr lvl="1"/>
            <a:r>
              <a:rPr lang="zh-CN" altLang="en-US" dirty="0"/>
              <a:t>否则</a:t>
            </a:r>
            <a:endParaRPr lang="zh-CN" altLang="en-US" dirty="0"/>
          </a:p>
          <a:p>
            <a:pPr lvl="2"/>
            <a:r>
              <a:rPr lang="zh-CN" altLang="en-US" dirty="0"/>
              <a:t>中序遍历左子树 </a:t>
            </a:r>
            <a:r>
              <a:rPr lang="en-US" altLang="zh-CN" dirty="0"/>
              <a:t>(L)</a:t>
            </a:r>
            <a:r>
              <a:rPr lang="zh-CN" altLang="en-US" dirty="0"/>
              <a:t>；</a:t>
            </a:r>
            <a:endParaRPr lang="zh-CN" altLang="en-US" dirty="0"/>
          </a:p>
          <a:p>
            <a:pPr lvl="2"/>
            <a:r>
              <a:rPr lang="zh-CN" altLang="en-US" dirty="0"/>
              <a:t>访问根结点 </a:t>
            </a:r>
            <a:r>
              <a:rPr lang="en-US" altLang="zh-CN" dirty="0"/>
              <a:t>(V)</a:t>
            </a:r>
            <a:r>
              <a:rPr lang="zh-CN" altLang="en-US" dirty="0"/>
              <a:t>；</a:t>
            </a:r>
            <a:endParaRPr lang="zh-CN" altLang="en-US" dirty="0"/>
          </a:p>
          <a:p>
            <a:pPr lvl="2"/>
            <a:r>
              <a:rPr lang="zh-CN" altLang="en-US" dirty="0"/>
              <a:t>中序遍历右子树 </a:t>
            </a:r>
            <a:r>
              <a:rPr lang="en-US" altLang="zh-CN" dirty="0"/>
              <a:t>(R)</a:t>
            </a:r>
            <a:r>
              <a:rPr lang="zh-CN" altLang="en-US" dirty="0"/>
              <a:t>。</a:t>
            </a:r>
            <a:endParaRPr lang="zh-CN" altLang="en-US" dirty="0"/>
          </a:p>
          <a:p>
            <a:endParaRPr lang="zh-CN" altLang="en-US" dirty="0"/>
          </a:p>
          <a:p>
            <a:r>
              <a:rPr lang="zh-CN" altLang="en-US" dirty="0"/>
              <a:t>示例遍历结果</a:t>
            </a:r>
            <a:endParaRPr lang="zh-CN" altLang="en-US" dirty="0"/>
          </a:p>
          <a:p>
            <a:pPr lvl="1"/>
            <a:r>
              <a:rPr lang="en-US" altLang="zh-CN" dirty="0"/>
              <a:t>a + b * c - d - e / f</a:t>
            </a:r>
            <a:endParaRPr lang="en-US" altLang="zh-CN" dirty="0"/>
          </a:p>
          <a:p>
            <a:pPr lvl="2"/>
            <a:r>
              <a:rPr lang="zh-CN" altLang="en-US" dirty="0"/>
              <a:t>仅按中序无法确定计算顺序</a:t>
            </a:r>
            <a:endParaRPr lang="en-US" altLang="zh-CN" dirty="0"/>
          </a:p>
          <a:p>
            <a:pPr lvl="1"/>
            <a:r>
              <a:rPr lang="zh-CN" altLang="en-US" dirty="0"/>
              <a:t>结合树结构，实际应该是</a:t>
            </a:r>
            <a:endParaRPr lang="en-US" altLang="zh-CN" dirty="0"/>
          </a:p>
          <a:p>
            <a:pPr lvl="2"/>
            <a:r>
              <a:rPr lang="en-US" altLang="zh-CN" dirty="0"/>
              <a:t>a + b * (c – d) - e / f</a:t>
            </a:r>
            <a:endParaRPr lang="en-US" altLang="zh-CN" dirty="0"/>
          </a:p>
          <a:p>
            <a:pPr lvl="2"/>
            <a:endParaRPr lang="en-US" altLang="zh-CN" dirty="0"/>
          </a:p>
        </p:txBody>
      </p:sp>
      <p:sp>
        <p:nvSpPr>
          <p:cNvPr id="5" name="灯片编号占位符 4"/>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二叉树中序遍历的递归算法</a:t>
            </a:r>
            <a:endParaRPr lang="zh-CN" altLang="en-US" dirty="0"/>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a:t>template &lt;class T&gt; void </a:t>
            </a:r>
            <a:r>
              <a:rPr lang="en-US" altLang="zh-CN" dirty="0" err="1"/>
              <a:t>BinaryTree</a:t>
            </a:r>
            <a:r>
              <a:rPr lang="en-US" altLang="zh-CN" dirty="0"/>
              <a:t> &lt;T&gt; :: </a:t>
            </a:r>
            <a:endParaRPr lang="en-US" altLang="zh-CN" dirty="0"/>
          </a:p>
          <a:p>
            <a:pPr marL="0" indent="0">
              <a:buNone/>
            </a:pPr>
            <a:r>
              <a:rPr lang="en-US" altLang="zh-CN" dirty="0" err="1"/>
              <a:t>InOrder</a:t>
            </a:r>
            <a:r>
              <a:rPr lang="en-US" altLang="zh-CN" dirty="0"/>
              <a:t> ( </a:t>
            </a:r>
            <a:r>
              <a:rPr lang="en-US" altLang="zh-CN" dirty="0" err="1"/>
              <a:t>BinTreeNode</a:t>
            </a:r>
            <a:r>
              <a:rPr lang="en-US" altLang="zh-CN" dirty="0"/>
              <a:t> &lt;T&gt; *</a:t>
            </a:r>
            <a:r>
              <a:rPr lang="en-US" altLang="zh-CN" dirty="0" err="1"/>
              <a:t>subTree</a:t>
            </a:r>
            <a:r>
              <a:rPr lang="en-US" altLang="zh-CN" dirty="0"/>
              <a:t>, void(*visit)(</a:t>
            </a:r>
            <a:r>
              <a:rPr lang="en-US" altLang="zh-CN" dirty="0" err="1"/>
              <a:t>BinTreeNode</a:t>
            </a:r>
            <a:r>
              <a:rPr lang="en-US" altLang="zh-CN" dirty="0"/>
              <a:t>&lt;T&gt; *p )) {</a:t>
            </a:r>
            <a:endParaRPr lang="en-US" altLang="zh-CN" dirty="0"/>
          </a:p>
          <a:p>
            <a:pPr marL="0" indent="0">
              <a:buNone/>
            </a:pPr>
            <a:r>
              <a:rPr lang="en-US" altLang="zh-CN" dirty="0"/>
              <a:t>    if ( </a:t>
            </a:r>
            <a:r>
              <a:rPr lang="en-US" altLang="zh-CN" dirty="0" err="1"/>
              <a:t>subTree</a:t>
            </a:r>
            <a:r>
              <a:rPr lang="en-US" altLang="zh-CN" dirty="0"/>
              <a:t> != NULL ) {</a:t>
            </a:r>
            <a:endParaRPr lang="en-US" altLang="zh-CN" dirty="0"/>
          </a:p>
          <a:p>
            <a:pPr marL="0" indent="0">
              <a:buNone/>
            </a:pPr>
            <a:r>
              <a:rPr lang="en-US" altLang="zh-CN" dirty="0"/>
              <a:t>        </a:t>
            </a:r>
            <a:r>
              <a:rPr lang="en-US" altLang="zh-CN" dirty="0" err="1"/>
              <a:t>InOrder</a:t>
            </a:r>
            <a:r>
              <a:rPr lang="en-US" altLang="zh-CN" dirty="0"/>
              <a:t> ( </a:t>
            </a:r>
            <a:r>
              <a:rPr lang="en-US" altLang="zh-CN" dirty="0" err="1"/>
              <a:t>subTree</a:t>
            </a:r>
            <a:r>
              <a:rPr lang="en-US" altLang="zh-CN" dirty="0"/>
              <a:t>-&gt;</a:t>
            </a:r>
            <a:r>
              <a:rPr lang="en-US" altLang="zh-CN" dirty="0" err="1"/>
              <a:t>leftChild</a:t>
            </a:r>
            <a:r>
              <a:rPr lang="en-US" altLang="zh-CN" dirty="0"/>
              <a:t>, visit );</a:t>
            </a:r>
            <a:endParaRPr lang="en-US" altLang="zh-CN" dirty="0"/>
          </a:p>
          <a:p>
            <a:pPr marL="0" indent="0">
              <a:buNone/>
            </a:pPr>
            <a:r>
              <a:rPr lang="en-US" altLang="zh-CN" dirty="0"/>
              <a:t>        visit(</a:t>
            </a:r>
            <a:r>
              <a:rPr lang="en-US" altLang="zh-CN" dirty="0" err="1"/>
              <a:t>subTree</a:t>
            </a:r>
            <a:r>
              <a:rPr lang="en-US" altLang="zh-CN" dirty="0"/>
              <a:t>);      </a:t>
            </a:r>
            <a:endParaRPr lang="en-US" altLang="zh-CN" dirty="0"/>
          </a:p>
          <a:p>
            <a:pPr marL="0" indent="0">
              <a:buNone/>
            </a:pPr>
            <a:r>
              <a:rPr lang="en-US" altLang="zh-CN" dirty="0"/>
              <a:t>        </a:t>
            </a:r>
            <a:r>
              <a:rPr lang="en-US" altLang="zh-CN" dirty="0" err="1"/>
              <a:t>InOrder</a:t>
            </a:r>
            <a:r>
              <a:rPr lang="en-US" altLang="zh-CN" dirty="0"/>
              <a:t> ( </a:t>
            </a:r>
            <a:r>
              <a:rPr lang="en-US" altLang="zh-CN" dirty="0" err="1"/>
              <a:t>subTree</a:t>
            </a:r>
            <a:r>
              <a:rPr lang="en-US" altLang="zh-CN" dirty="0"/>
              <a:t>-&gt;</a:t>
            </a:r>
            <a:r>
              <a:rPr lang="en-US" altLang="zh-CN" dirty="0" err="1"/>
              <a:t>rightChild</a:t>
            </a:r>
            <a:r>
              <a:rPr lang="en-US" altLang="zh-CN" dirty="0"/>
              <a:t> , visit );</a:t>
            </a:r>
            <a:endParaRPr lang="en-US" altLang="zh-CN" dirty="0"/>
          </a:p>
          <a:p>
            <a:pPr marL="0" indent="0">
              <a:buNone/>
            </a:pPr>
            <a:r>
              <a:rPr lang="en-US" altLang="zh-CN" dirty="0"/>
              <a:t>    }</a:t>
            </a:r>
            <a:endParaRPr lang="en-US" altLang="zh-CN" dirty="0"/>
          </a:p>
          <a:p>
            <a:pPr marL="0" indent="0">
              <a:buNone/>
            </a:pPr>
            <a:r>
              <a:rPr lang="en-US" altLang="zh-CN" dirty="0"/>
              <a:t>}</a:t>
            </a:r>
            <a:endParaRPr lang="en-US" altLang="zh-CN" dirty="0"/>
          </a:p>
          <a:p>
            <a:pPr marL="0" indent="0">
              <a:buNone/>
            </a:pP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580112" y="2272716"/>
            <a:ext cx="3124200" cy="4178300"/>
            <a:chOff x="5410200" y="1873250"/>
            <a:chExt cx="3124200" cy="4178300"/>
          </a:xfrm>
        </p:grpSpPr>
        <p:sp>
          <p:nvSpPr>
            <p:cNvPr id="45058" name="Line 2"/>
            <p:cNvSpPr>
              <a:spLocks noChangeShapeType="1"/>
            </p:cNvSpPr>
            <p:nvPr/>
          </p:nvSpPr>
          <p:spPr bwMode="auto">
            <a:xfrm>
              <a:off x="7086600" y="5029200"/>
              <a:ext cx="38100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59" name="Line 3"/>
            <p:cNvSpPr>
              <a:spLocks noChangeShapeType="1"/>
            </p:cNvSpPr>
            <p:nvPr/>
          </p:nvSpPr>
          <p:spPr bwMode="auto">
            <a:xfrm>
              <a:off x="7924800" y="3200400"/>
              <a:ext cx="30480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0" name="Line 4"/>
            <p:cNvSpPr>
              <a:spLocks noChangeShapeType="1"/>
            </p:cNvSpPr>
            <p:nvPr/>
          </p:nvSpPr>
          <p:spPr bwMode="auto">
            <a:xfrm>
              <a:off x="6172200" y="3200400"/>
              <a:ext cx="38100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1" name="Line 5"/>
            <p:cNvSpPr>
              <a:spLocks noChangeShapeType="1"/>
            </p:cNvSpPr>
            <p:nvPr/>
          </p:nvSpPr>
          <p:spPr bwMode="auto">
            <a:xfrm>
              <a:off x="6629400" y="4114800"/>
              <a:ext cx="38100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2" name="Line 6"/>
            <p:cNvSpPr>
              <a:spLocks noChangeShapeType="1"/>
            </p:cNvSpPr>
            <p:nvPr/>
          </p:nvSpPr>
          <p:spPr bwMode="auto">
            <a:xfrm flipH="1">
              <a:off x="7391400" y="3200400"/>
              <a:ext cx="304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3" name="Line 7"/>
            <p:cNvSpPr>
              <a:spLocks noChangeShapeType="1"/>
            </p:cNvSpPr>
            <p:nvPr/>
          </p:nvSpPr>
          <p:spPr bwMode="auto">
            <a:xfrm flipH="1">
              <a:off x="6629400" y="5029200"/>
              <a:ext cx="304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4" name="Line 8"/>
            <p:cNvSpPr>
              <a:spLocks noChangeShapeType="1"/>
            </p:cNvSpPr>
            <p:nvPr/>
          </p:nvSpPr>
          <p:spPr bwMode="auto">
            <a:xfrm flipH="1">
              <a:off x="6248400" y="4114800"/>
              <a:ext cx="304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5" name="Line 9"/>
            <p:cNvSpPr>
              <a:spLocks noChangeShapeType="1"/>
            </p:cNvSpPr>
            <p:nvPr/>
          </p:nvSpPr>
          <p:spPr bwMode="auto">
            <a:xfrm flipH="1">
              <a:off x="5715000" y="3276600"/>
              <a:ext cx="304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6" name="Line 10"/>
            <p:cNvSpPr>
              <a:spLocks noChangeShapeType="1"/>
            </p:cNvSpPr>
            <p:nvPr/>
          </p:nvSpPr>
          <p:spPr bwMode="auto">
            <a:xfrm>
              <a:off x="7010400" y="2362200"/>
              <a:ext cx="685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7" name="Line 11"/>
            <p:cNvSpPr>
              <a:spLocks noChangeShapeType="1"/>
            </p:cNvSpPr>
            <p:nvPr/>
          </p:nvSpPr>
          <p:spPr bwMode="auto">
            <a:xfrm flipH="1">
              <a:off x="6248400" y="2362200"/>
              <a:ext cx="6096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5710" name="Oval 14"/>
            <p:cNvSpPr>
              <a:spLocks noChangeArrowheads="1"/>
            </p:cNvSpPr>
            <p:nvPr/>
          </p:nvSpPr>
          <p:spPr bwMode="auto">
            <a:xfrm>
              <a:off x="6705600" y="1981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5071" name="Oval 15"/>
            <p:cNvSpPr>
              <a:spLocks noChangeArrowheads="1"/>
            </p:cNvSpPr>
            <p:nvPr/>
          </p:nvSpPr>
          <p:spPr bwMode="auto">
            <a:xfrm>
              <a:off x="54102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5712" name="Oval 16"/>
            <p:cNvSpPr>
              <a:spLocks noChangeArrowheads="1"/>
            </p:cNvSpPr>
            <p:nvPr/>
          </p:nvSpPr>
          <p:spPr bwMode="auto">
            <a:xfrm>
              <a:off x="6324600" y="37338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5073" name="Oval 17"/>
            <p:cNvSpPr>
              <a:spLocks noChangeArrowheads="1"/>
            </p:cNvSpPr>
            <p:nvPr/>
          </p:nvSpPr>
          <p:spPr bwMode="auto">
            <a:xfrm>
              <a:off x="70866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45074" name="Oval 18"/>
            <p:cNvSpPr>
              <a:spLocks noChangeArrowheads="1"/>
            </p:cNvSpPr>
            <p:nvPr/>
          </p:nvSpPr>
          <p:spPr bwMode="auto">
            <a:xfrm>
              <a:off x="80010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5715" name="Oval 19"/>
            <p:cNvSpPr>
              <a:spLocks noChangeArrowheads="1"/>
            </p:cNvSpPr>
            <p:nvPr/>
          </p:nvSpPr>
          <p:spPr bwMode="auto">
            <a:xfrm>
              <a:off x="58674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285716" name="Oval 20"/>
            <p:cNvSpPr>
              <a:spLocks noChangeArrowheads="1"/>
            </p:cNvSpPr>
            <p:nvPr/>
          </p:nvSpPr>
          <p:spPr bwMode="auto">
            <a:xfrm>
              <a:off x="75438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5077" name="Oval 21"/>
            <p:cNvSpPr>
              <a:spLocks noChangeArrowheads="1"/>
            </p:cNvSpPr>
            <p:nvPr/>
          </p:nvSpPr>
          <p:spPr bwMode="auto">
            <a:xfrm>
              <a:off x="5867400" y="46482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5718" name="Oval 22"/>
            <p:cNvSpPr>
              <a:spLocks noChangeArrowheads="1"/>
            </p:cNvSpPr>
            <p:nvPr/>
          </p:nvSpPr>
          <p:spPr bwMode="auto">
            <a:xfrm>
              <a:off x="6781800" y="4648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5079" name="Oval 23"/>
            <p:cNvSpPr>
              <a:spLocks noChangeArrowheads="1"/>
            </p:cNvSpPr>
            <p:nvPr/>
          </p:nvSpPr>
          <p:spPr bwMode="auto">
            <a:xfrm>
              <a:off x="6324600" y="54864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45080" name="Oval 24"/>
            <p:cNvSpPr>
              <a:spLocks noChangeArrowheads="1"/>
            </p:cNvSpPr>
            <p:nvPr/>
          </p:nvSpPr>
          <p:spPr bwMode="auto">
            <a:xfrm>
              <a:off x="7239000" y="54864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5721" name="Text Box 25"/>
            <p:cNvSpPr txBox="1">
              <a:spLocks noChangeArrowheads="1"/>
            </p:cNvSpPr>
            <p:nvPr/>
          </p:nvSpPr>
          <p:spPr bwMode="auto">
            <a:xfrm>
              <a:off x="6750050" y="187325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a:latin typeface="Times New Roman" panose="02020603050405020304" pitchFamily="18" charset="0"/>
                <a:ea typeface="+mn-ea"/>
              </a:endParaRPr>
            </a:p>
          </p:txBody>
        </p:sp>
        <p:sp>
          <p:nvSpPr>
            <p:cNvPr id="285722" name="Text Box 26"/>
            <p:cNvSpPr txBox="1">
              <a:spLocks noChangeArrowheads="1"/>
            </p:cNvSpPr>
            <p:nvPr/>
          </p:nvSpPr>
          <p:spPr bwMode="auto">
            <a:xfrm>
              <a:off x="6826250" y="457200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a:latin typeface="Times New Roman" panose="02020603050405020304" pitchFamily="18" charset="0"/>
                <a:ea typeface="+mn-ea"/>
              </a:endParaRPr>
            </a:p>
          </p:txBody>
        </p:sp>
        <p:sp>
          <p:nvSpPr>
            <p:cNvPr id="285723" name="Text Box 27"/>
            <p:cNvSpPr txBox="1">
              <a:spLocks noChangeArrowheads="1"/>
            </p:cNvSpPr>
            <p:nvPr/>
          </p:nvSpPr>
          <p:spPr bwMode="auto">
            <a:xfrm>
              <a:off x="7600950" y="2773363"/>
              <a:ext cx="387350" cy="579437"/>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2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a:latin typeface="Times New Roman" panose="02020603050405020304" pitchFamily="18" charset="0"/>
                <a:ea typeface="+mn-ea"/>
              </a:endParaRPr>
            </a:p>
          </p:txBody>
        </p:sp>
        <p:sp>
          <p:nvSpPr>
            <p:cNvPr id="285724" name="Text Box 28"/>
            <p:cNvSpPr txBox="1">
              <a:spLocks noChangeArrowheads="1"/>
            </p:cNvSpPr>
            <p:nvPr/>
          </p:nvSpPr>
          <p:spPr bwMode="auto">
            <a:xfrm>
              <a:off x="5899150" y="2681288"/>
              <a:ext cx="438150" cy="701675"/>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40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5725" name="Text Box 29"/>
            <p:cNvSpPr txBox="1">
              <a:spLocks noChangeArrowheads="1"/>
            </p:cNvSpPr>
            <p:nvPr/>
          </p:nvSpPr>
          <p:spPr bwMode="auto">
            <a:xfrm>
              <a:off x="6356350" y="3595688"/>
              <a:ext cx="438150" cy="701675"/>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40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5726" name="Text Box 30"/>
            <p:cNvSpPr txBox="1">
              <a:spLocks noChangeArrowheads="1"/>
            </p:cNvSpPr>
            <p:nvPr/>
          </p:nvSpPr>
          <p:spPr bwMode="auto">
            <a:xfrm>
              <a:off x="5454650" y="362585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a</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5727" name="Text Box 31"/>
            <p:cNvSpPr txBox="1">
              <a:spLocks noChangeArrowheads="1"/>
            </p:cNvSpPr>
            <p:nvPr/>
          </p:nvSpPr>
          <p:spPr bwMode="auto">
            <a:xfrm>
              <a:off x="5943600" y="454025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b</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5728" name="Text Box 32"/>
            <p:cNvSpPr txBox="1">
              <a:spLocks noChangeArrowheads="1"/>
            </p:cNvSpPr>
            <p:nvPr/>
          </p:nvSpPr>
          <p:spPr bwMode="auto">
            <a:xfrm>
              <a:off x="6394450" y="5378450"/>
              <a:ext cx="3873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c</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5729" name="Text Box 33"/>
            <p:cNvSpPr txBox="1">
              <a:spLocks noChangeArrowheads="1"/>
            </p:cNvSpPr>
            <p:nvPr/>
          </p:nvSpPr>
          <p:spPr bwMode="auto">
            <a:xfrm>
              <a:off x="7239000" y="541020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d</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5730" name="Text Box 34"/>
            <p:cNvSpPr txBox="1">
              <a:spLocks noChangeArrowheads="1"/>
            </p:cNvSpPr>
            <p:nvPr/>
          </p:nvSpPr>
          <p:spPr bwMode="auto">
            <a:xfrm>
              <a:off x="7156450" y="3625850"/>
              <a:ext cx="3873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e</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5731" name="Text Box 35"/>
            <p:cNvSpPr txBox="1">
              <a:spLocks noChangeArrowheads="1"/>
            </p:cNvSpPr>
            <p:nvPr/>
          </p:nvSpPr>
          <p:spPr bwMode="auto">
            <a:xfrm>
              <a:off x="8121650" y="3657600"/>
              <a:ext cx="3365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f</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grpSp>
      <p:sp>
        <p:nvSpPr>
          <p:cNvPr id="2" name="标题 1"/>
          <p:cNvSpPr>
            <a:spLocks noGrp="1"/>
          </p:cNvSpPr>
          <p:nvPr>
            <p:ph type="title"/>
          </p:nvPr>
        </p:nvSpPr>
        <p:spPr/>
        <p:txBody>
          <a:bodyPr/>
          <a:lstStyle/>
          <a:p>
            <a:r>
              <a:rPr lang="zh-CN" altLang="en-US" dirty="0"/>
              <a:t>前序遍历</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前序遍历二叉树算法的框架是：</a:t>
            </a:r>
            <a:endParaRPr lang="zh-CN" altLang="en-US" dirty="0"/>
          </a:p>
          <a:p>
            <a:pPr lvl="1"/>
            <a:r>
              <a:rPr lang="zh-CN" altLang="en-US" dirty="0"/>
              <a:t>若二叉树为空，则空操作；</a:t>
            </a:r>
            <a:endParaRPr lang="zh-CN" altLang="en-US" dirty="0"/>
          </a:p>
          <a:p>
            <a:pPr lvl="1"/>
            <a:r>
              <a:rPr lang="zh-CN" altLang="en-US" dirty="0"/>
              <a:t>否则</a:t>
            </a:r>
            <a:endParaRPr lang="zh-CN" altLang="en-US" dirty="0"/>
          </a:p>
          <a:p>
            <a:pPr lvl="2"/>
            <a:r>
              <a:rPr lang="zh-CN" altLang="en-US" dirty="0"/>
              <a:t>访问根结点 </a:t>
            </a:r>
            <a:r>
              <a:rPr lang="en-US" altLang="zh-CN" dirty="0"/>
              <a:t>(V)</a:t>
            </a:r>
            <a:r>
              <a:rPr lang="zh-CN" altLang="en-US" dirty="0"/>
              <a:t>；</a:t>
            </a:r>
            <a:endParaRPr lang="zh-CN" altLang="en-US" dirty="0"/>
          </a:p>
          <a:p>
            <a:pPr lvl="2"/>
            <a:r>
              <a:rPr lang="zh-CN" altLang="en-US" dirty="0"/>
              <a:t>前序遍历左子树 </a:t>
            </a:r>
            <a:r>
              <a:rPr lang="en-US" altLang="zh-CN" dirty="0"/>
              <a:t>(L)</a:t>
            </a:r>
            <a:r>
              <a:rPr lang="zh-CN" altLang="en-US" dirty="0"/>
              <a:t>；</a:t>
            </a:r>
            <a:endParaRPr lang="zh-CN" altLang="en-US" dirty="0"/>
          </a:p>
          <a:p>
            <a:pPr lvl="2"/>
            <a:r>
              <a:rPr lang="zh-CN" altLang="en-US" dirty="0"/>
              <a:t>前序遍历右子树 </a:t>
            </a:r>
            <a:r>
              <a:rPr lang="en-US" altLang="zh-CN" dirty="0"/>
              <a:t>(R)</a:t>
            </a:r>
            <a:r>
              <a:rPr lang="zh-CN" altLang="en-US" dirty="0"/>
              <a:t>。</a:t>
            </a:r>
            <a:endParaRPr lang="zh-CN" altLang="en-US" dirty="0"/>
          </a:p>
          <a:p>
            <a:endParaRPr lang="zh-CN" altLang="en-US" dirty="0"/>
          </a:p>
          <a:p>
            <a:r>
              <a:rPr lang="zh-CN" altLang="en-US" dirty="0"/>
              <a:t>示例遍历结果</a:t>
            </a:r>
            <a:endParaRPr lang="zh-CN" altLang="en-US" dirty="0"/>
          </a:p>
          <a:p>
            <a:pPr lvl="1"/>
            <a:r>
              <a:rPr lang="zh-CN" altLang="en-US" dirty="0"/>
              <a:t> </a:t>
            </a:r>
            <a:r>
              <a:rPr lang="en-US" altLang="zh-CN" dirty="0"/>
              <a:t>- + a * b - c d / e f</a:t>
            </a:r>
            <a:endParaRPr lang="en-US" altLang="zh-CN" dirty="0"/>
          </a:p>
        </p:txBody>
      </p:sp>
      <p:sp>
        <p:nvSpPr>
          <p:cNvPr id="5" name="灯片编号占位符 4"/>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二叉树前序遍历的递归算法</a:t>
            </a:r>
            <a:endParaRPr lang="zh-CN" altLang="en-US" dirty="0"/>
          </a:p>
        </p:txBody>
      </p:sp>
      <p:sp>
        <p:nvSpPr>
          <p:cNvPr id="3" name="内容占位符 2"/>
          <p:cNvSpPr>
            <a:spLocks noGrp="1"/>
          </p:cNvSpPr>
          <p:nvPr>
            <p:ph idx="1"/>
          </p:nvPr>
        </p:nvSpPr>
        <p:spPr>
          <a:xfrm>
            <a:off x="628650" y="1825625"/>
            <a:ext cx="7759774" cy="4351338"/>
          </a:xfrm>
        </p:spPr>
        <p:txBody>
          <a:bodyPr>
            <a:normAutofit fontScale="77500" lnSpcReduction="20000"/>
          </a:bodyPr>
          <a:lstStyle/>
          <a:p>
            <a:pPr marL="0" indent="0">
              <a:buNone/>
            </a:pPr>
            <a:r>
              <a:rPr lang="en-US" altLang="zh-CN" dirty="0"/>
              <a:t>template &lt;class T&gt; </a:t>
            </a:r>
            <a:endParaRPr lang="en-US" altLang="zh-CN" dirty="0"/>
          </a:p>
          <a:p>
            <a:pPr marL="0" indent="0">
              <a:buNone/>
            </a:pPr>
            <a:r>
              <a:rPr lang="en-US" altLang="zh-CN" dirty="0"/>
              <a:t>void </a:t>
            </a:r>
            <a:r>
              <a:rPr lang="en-US" altLang="zh-CN" dirty="0" err="1"/>
              <a:t>BinaryTree</a:t>
            </a:r>
            <a:r>
              <a:rPr lang="en-US" altLang="zh-CN" dirty="0"/>
              <a:t>&lt;T&gt; :: </a:t>
            </a:r>
            <a:r>
              <a:rPr lang="en-US" altLang="zh-CN" dirty="0" err="1"/>
              <a:t>PreOrder</a:t>
            </a:r>
            <a:r>
              <a:rPr lang="en-US" altLang="zh-CN" dirty="0"/>
              <a:t> ( </a:t>
            </a:r>
            <a:r>
              <a:rPr lang="en-US" altLang="zh-CN" dirty="0" err="1"/>
              <a:t>BinTreeNode</a:t>
            </a:r>
            <a:r>
              <a:rPr lang="en-US" altLang="zh-CN" dirty="0"/>
              <a:t> &lt;T&gt; * </a:t>
            </a:r>
            <a:r>
              <a:rPr lang="en-US" altLang="zh-CN" dirty="0" err="1"/>
              <a:t>subTree</a:t>
            </a:r>
            <a:r>
              <a:rPr lang="en-US" altLang="zh-CN" dirty="0"/>
              <a:t> , void(*visit)(</a:t>
            </a:r>
            <a:r>
              <a:rPr lang="en-US" altLang="zh-CN" dirty="0" err="1"/>
              <a:t>BinTreeNode</a:t>
            </a:r>
            <a:r>
              <a:rPr lang="en-US" altLang="zh-CN" dirty="0"/>
              <a:t>&lt;T&gt; *p ) ) {</a:t>
            </a:r>
            <a:endParaRPr lang="en-US" altLang="zh-CN" dirty="0"/>
          </a:p>
          <a:p>
            <a:pPr marL="0" indent="0">
              <a:buNone/>
            </a:pPr>
            <a:r>
              <a:rPr lang="en-US" altLang="zh-CN" dirty="0"/>
              <a:t>    if ( </a:t>
            </a:r>
            <a:r>
              <a:rPr lang="en-US" altLang="zh-CN" dirty="0" err="1"/>
              <a:t>subTree</a:t>
            </a:r>
            <a:r>
              <a:rPr lang="en-US" altLang="zh-CN" dirty="0"/>
              <a:t> != NULL ) {</a:t>
            </a:r>
            <a:endParaRPr lang="en-US" altLang="zh-CN" dirty="0"/>
          </a:p>
          <a:p>
            <a:pPr marL="0" indent="0">
              <a:buNone/>
            </a:pPr>
            <a:r>
              <a:rPr lang="en-US" altLang="zh-CN" dirty="0"/>
              <a:t>        visit(</a:t>
            </a:r>
            <a:r>
              <a:rPr lang="en-US" altLang="zh-CN" dirty="0" err="1"/>
              <a:t>subTree</a:t>
            </a:r>
            <a:r>
              <a:rPr lang="en-US" altLang="zh-CN" dirty="0"/>
              <a:t>);</a:t>
            </a:r>
            <a:endParaRPr lang="en-US" altLang="zh-CN" dirty="0"/>
          </a:p>
          <a:p>
            <a:pPr marL="0" indent="0">
              <a:buNone/>
            </a:pPr>
            <a:r>
              <a:rPr lang="en-US" altLang="zh-CN" dirty="0"/>
              <a:t>        </a:t>
            </a:r>
            <a:r>
              <a:rPr lang="en-US" altLang="zh-CN" dirty="0" err="1"/>
              <a:t>PreOrder</a:t>
            </a:r>
            <a:r>
              <a:rPr lang="en-US" altLang="zh-CN" dirty="0"/>
              <a:t> ( </a:t>
            </a:r>
            <a:r>
              <a:rPr lang="en-US" altLang="zh-CN" dirty="0" err="1"/>
              <a:t>subTree</a:t>
            </a:r>
            <a:r>
              <a:rPr lang="en-US" altLang="zh-CN" dirty="0"/>
              <a:t>-&gt;</a:t>
            </a:r>
            <a:r>
              <a:rPr lang="en-US" altLang="zh-CN" dirty="0" err="1"/>
              <a:t>leftChild</a:t>
            </a:r>
            <a:r>
              <a:rPr lang="en-US" altLang="zh-CN" dirty="0"/>
              <a:t>, visit );</a:t>
            </a:r>
            <a:endParaRPr lang="en-US" altLang="zh-CN" dirty="0"/>
          </a:p>
          <a:p>
            <a:pPr marL="0" indent="0">
              <a:buNone/>
            </a:pPr>
            <a:r>
              <a:rPr lang="en-US" altLang="zh-CN" dirty="0"/>
              <a:t>        </a:t>
            </a:r>
            <a:r>
              <a:rPr lang="en-US" altLang="zh-CN" dirty="0" err="1"/>
              <a:t>PreOrder</a:t>
            </a:r>
            <a:r>
              <a:rPr lang="en-US" altLang="zh-CN" dirty="0"/>
              <a:t> ( </a:t>
            </a:r>
            <a:r>
              <a:rPr lang="en-US" altLang="zh-CN" dirty="0" err="1"/>
              <a:t>subTree</a:t>
            </a:r>
            <a:r>
              <a:rPr lang="en-US" altLang="zh-CN" dirty="0"/>
              <a:t>-&gt;</a:t>
            </a:r>
            <a:r>
              <a:rPr lang="en-US" altLang="zh-CN" dirty="0" err="1"/>
              <a:t>rightChild</a:t>
            </a:r>
            <a:r>
              <a:rPr lang="en-US" altLang="zh-CN" dirty="0"/>
              <a:t>, visit );</a:t>
            </a:r>
            <a:endParaRPr lang="en-US" altLang="zh-CN" dirty="0"/>
          </a:p>
          <a:p>
            <a:pPr marL="0" indent="0">
              <a:buNone/>
            </a:pPr>
            <a:r>
              <a:rPr lang="en-US" altLang="zh-CN" dirty="0"/>
              <a:t>    }</a:t>
            </a:r>
            <a:endParaRPr lang="en-US" altLang="zh-CN" dirty="0"/>
          </a:p>
          <a:p>
            <a:pPr marL="0" indent="0">
              <a:buNone/>
            </a:pPr>
            <a:r>
              <a:rPr lang="en-US" altLang="zh-CN" dirty="0"/>
              <a:t>}</a:t>
            </a:r>
            <a:endParaRPr lang="en-US" altLang="zh-CN" dirty="0"/>
          </a:p>
          <a:p>
            <a:pPr marL="0" indent="0">
              <a:buNone/>
            </a:pP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80112" y="2272716"/>
            <a:ext cx="3124200" cy="4178300"/>
            <a:chOff x="5410200" y="1873250"/>
            <a:chExt cx="3124200" cy="4178300"/>
          </a:xfrm>
        </p:grpSpPr>
        <p:sp>
          <p:nvSpPr>
            <p:cNvPr id="47106" name="Line 2"/>
            <p:cNvSpPr>
              <a:spLocks noChangeShapeType="1"/>
            </p:cNvSpPr>
            <p:nvPr/>
          </p:nvSpPr>
          <p:spPr bwMode="auto">
            <a:xfrm>
              <a:off x="7086600" y="5029200"/>
              <a:ext cx="38100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7" name="Line 3"/>
            <p:cNvSpPr>
              <a:spLocks noChangeShapeType="1"/>
            </p:cNvSpPr>
            <p:nvPr/>
          </p:nvSpPr>
          <p:spPr bwMode="auto">
            <a:xfrm>
              <a:off x="7924800" y="3200400"/>
              <a:ext cx="30480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8" name="Line 4"/>
            <p:cNvSpPr>
              <a:spLocks noChangeShapeType="1"/>
            </p:cNvSpPr>
            <p:nvPr/>
          </p:nvSpPr>
          <p:spPr bwMode="auto">
            <a:xfrm>
              <a:off x="6172200" y="3200400"/>
              <a:ext cx="38100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9" name="Line 5"/>
            <p:cNvSpPr>
              <a:spLocks noChangeShapeType="1"/>
            </p:cNvSpPr>
            <p:nvPr/>
          </p:nvSpPr>
          <p:spPr bwMode="auto">
            <a:xfrm>
              <a:off x="6629400" y="4114800"/>
              <a:ext cx="38100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0" name="Line 6"/>
            <p:cNvSpPr>
              <a:spLocks noChangeShapeType="1"/>
            </p:cNvSpPr>
            <p:nvPr/>
          </p:nvSpPr>
          <p:spPr bwMode="auto">
            <a:xfrm flipH="1">
              <a:off x="7391400" y="3200400"/>
              <a:ext cx="304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1" name="Line 7"/>
            <p:cNvSpPr>
              <a:spLocks noChangeShapeType="1"/>
            </p:cNvSpPr>
            <p:nvPr/>
          </p:nvSpPr>
          <p:spPr bwMode="auto">
            <a:xfrm flipH="1">
              <a:off x="6629400" y="5029200"/>
              <a:ext cx="304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2" name="Line 8"/>
            <p:cNvSpPr>
              <a:spLocks noChangeShapeType="1"/>
            </p:cNvSpPr>
            <p:nvPr/>
          </p:nvSpPr>
          <p:spPr bwMode="auto">
            <a:xfrm flipH="1">
              <a:off x="6248400" y="4114800"/>
              <a:ext cx="304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3" name="Line 9"/>
            <p:cNvSpPr>
              <a:spLocks noChangeShapeType="1"/>
            </p:cNvSpPr>
            <p:nvPr/>
          </p:nvSpPr>
          <p:spPr bwMode="auto">
            <a:xfrm flipH="1">
              <a:off x="5715000" y="3276600"/>
              <a:ext cx="304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4" name="Line 10"/>
            <p:cNvSpPr>
              <a:spLocks noChangeShapeType="1"/>
            </p:cNvSpPr>
            <p:nvPr/>
          </p:nvSpPr>
          <p:spPr bwMode="auto">
            <a:xfrm>
              <a:off x="7010400" y="2362200"/>
              <a:ext cx="6858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5" name="Line 11"/>
            <p:cNvSpPr>
              <a:spLocks noChangeShapeType="1"/>
            </p:cNvSpPr>
            <p:nvPr/>
          </p:nvSpPr>
          <p:spPr bwMode="auto">
            <a:xfrm flipH="1">
              <a:off x="6248400" y="2362200"/>
              <a:ext cx="6096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34" name="Oval 14"/>
            <p:cNvSpPr>
              <a:spLocks noChangeArrowheads="1"/>
            </p:cNvSpPr>
            <p:nvPr/>
          </p:nvSpPr>
          <p:spPr bwMode="auto">
            <a:xfrm>
              <a:off x="6705600" y="1981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7119" name="Oval 15"/>
            <p:cNvSpPr>
              <a:spLocks noChangeArrowheads="1"/>
            </p:cNvSpPr>
            <p:nvPr/>
          </p:nvSpPr>
          <p:spPr bwMode="auto">
            <a:xfrm>
              <a:off x="54102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6736" name="Oval 16"/>
            <p:cNvSpPr>
              <a:spLocks noChangeArrowheads="1"/>
            </p:cNvSpPr>
            <p:nvPr/>
          </p:nvSpPr>
          <p:spPr bwMode="auto">
            <a:xfrm>
              <a:off x="6324600" y="37338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7121" name="Oval 17"/>
            <p:cNvSpPr>
              <a:spLocks noChangeArrowheads="1"/>
            </p:cNvSpPr>
            <p:nvPr/>
          </p:nvSpPr>
          <p:spPr bwMode="auto">
            <a:xfrm>
              <a:off x="70866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47122" name="Oval 18"/>
            <p:cNvSpPr>
              <a:spLocks noChangeArrowheads="1"/>
            </p:cNvSpPr>
            <p:nvPr/>
          </p:nvSpPr>
          <p:spPr bwMode="auto">
            <a:xfrm>
              <a:off x="80010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6739" name="Oval 19"/>
            <p:cNvSpPr>
              <a:spLocks noChangeArrowheads="1"/>
            </p:cNvSpPr>
            <p:nvPr/>
          </p:nvSpPr>
          <p:spPr bwMode="auto">
            <a:xfrm>
              <a:off x="58674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286740" name="Oval 20"/>
            <p:cNvSpPr>
              <a:spLocks noChangeArrowheads="1"/>
            </p:cNvSpPr>
            <p:nvPr/>
          </p:nvSpPr>
          <p:spPr bwMode="auto">
            <a:xfrm>
              <a:off x="75438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7125" name="Oval 21"/>
            <p:cNvSpPr>
              <a:spLocks noChangeArrowheads="1"/>
            </p:cNvSpPr>
            <p:nvPr/>
          </p:nvSpPr>
          <p:spPr bwMode="auto">
            <a:xfrm>
              <a:off x="5867400" y="46482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6742" name="Oval 22"/>
            <p:cNvSpPr>
              <a:spLocks noChangeArrowheads="1"/>
            </p:cNvSpPr>
            <p:nvPr/>
          </p:nvSpPr>
          <p:spPr bwMode="auto">
            <a:xfrm>
              <a:off x="6781800" y="4648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7127" name="Oval 23"/>
            <p:cNvSpPr>
              <a:spLocks noChangeArrowheads="1"/>
            </p:cNvSpPr>
            <p:nvPr/>
          </p:nvSpPr>
          <p:spPr bwMode="auto">
            <a:xfrm>
              <a:off x="6324600" y="54864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47128" name="Oval 24"/>
            <p:cNvSpPr>
              <a:spLocks noChangeArrowheads="1"/>
            </p:cNvSpPr>
            <p:nvPr/>
          </p:nvSpPr>
          <p:spPr bwMode="auto">
            <a:xfrm>
              <a:off x="7239000" y="54864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6745" name="Text Box 25"/>
            <p:cNvSpPr txBox="1">
              <a:spLocks noChangeArrowheads="1"/>
            </p:cNvSpPr>
            <p:nvPr/>
          </p:nvSpPr>
          <p:spPr bwMode="auto">
            <a:xfrm>
              <a:off x="6750050" y="187325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a:latin typeface="Times New Roman" panose="02020603050405020304" pitchFamily="18" charset="0"/>
                <a:ea typeface="+mn-ea"/>
              </a:endParaRPr>
            </a:p>
          </p:txBody>
        </p:sp>
        <p:sp>
          <p:nvSpPr>
            <p:cNvPr id="286746" name="Text Box 26"/>
            <p:cNvSpPr txBox="1">
              <a:spLocks noChangeArrowheads="1"/>
            </p:cNvSpPr>
            <p:nvPr/>
          </p:nvSpPr>
          <p:spPr bwMode="auto">
            <a:xfrm>
              <a:off x="6826250" y="457200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a:latin typeface="Times New Roman" panose="02020603050405020304" pitchFamily="18" charset="0"/>
                <a:ea typeface="+mn-ea"/>
              </a:endParaRPr>
            </a:p>
          </p:txBody>
        </p:sp>
        <p:sp>
          <p:nvSpPr>
            <p:cNvPr id="286747" name="Text Box 27"/>
            <p:cNvSpPr txBox="1">
              <a:spLocks noChangeArrowheads="1"/>
            </p:cNvSpPr>
            <p:nvPr/>
          </p:nvSpPr>
          <p:spPr bwMode="auto">
            <a:xfrm>
              <a:off x="7600950" y="2773363"/>
              <a:ext cx="387350" cy="579437"/>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2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a:latin typeface="Times New Roman" panose="02020603050405020304" pitchFamily="18" charset="0"/>
                <a:ea typeface="+mn-ea"/>
              </a:endParaRPr>
            </a:p>
          </p:txBody>
        </p:sp>
        <p:sp>
          <p:nvSpPr>
            <p:cNvPr id="286748" name="Text Box 28"/>
            <p:cNvSpPr txBox="1">
              <a:spLocks noChangeArrowheads="1"/>
            </p:cNvSpPr>
            <p:nvPr/>
          </p:nvSpPr>
          <p:spPr bwMode="auto">
            <a:xfrm>
              <a:off x="5899150" y="2681288"/>
              <a:ext cx="438150" cy="701675"/>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40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6749" name="Text Box 29"/>
            <p:cNvSpPr txBox="1">
              <a:spLocks noChangeArrowheads="1"/>
            </p:cNvSpPr>
            <p:nvPr/>
          </p:nvSpPr>
          <p:spPr bwMode="auto">
            <a:xfrm>
              <a:off x="6356350" y="3595688"/>
              <a:ext cx="438150" cy="701675"/>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40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6750" name="Text Box 30"/>
            <p:cNvSpPr txBox="1">
              <a:spLocks noChangeArrowheads="1"/>
            </p:cNvSpPr>
            <p:nvPr/>
          </p:nvSpPr>
          <p:spPr bwMode="auto">
            <a:xfrm>
              <a:off x="5454650" y="362585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a</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6751" name="Text Box 31"/>
            <p:cNvSpPr txBox="1">
              <a:spLocks noChangeArrowheads="1"/>
            </p:cNvSpPr>
            <p:nvPr/>
          </p:nvSpPr>
          <p:spPr bwMode="auto">
            <a:xfrm>
              <a:off x="5943600" y="454025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b</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6752" name="Text Box 32"/>
            <p:cNvSpPr txBox="1">
              <a:spLocks noChangeArrowheads="1"/>
            </p:cNvSpPr>
            <p:nvPr/>
          </p:nvSpPr>
          <p:spPr bwMode="auto">
            <a:xfrm>
              <a:off x="6394450" y="5378450"/>
              <a:ext cx="3873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c</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6753" name="Text Box 33"/>
            <p:cNvSpPr txBox="1">
              <a:spLocks noChangeArrowheads="1"/>
            </p:cNvSpPr>
            <p:nvPr/>
          </p:nvSpPr>
          <p:spPr bwMode="auto">
            <a:xfrm>
              <a:off x="7239000" y="5410200"/>
              <a:ext cx="4127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d</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6754" name="Text Box 34"/>
            <p:cNvSpPr txBox="1">
              <a:spLocks noChangeArrowheads="1"/>
            </p:cNvSpPr>
            <p:nvPr/>
          </p:nvSpPr>
          <p:spPr bwMode="auto">
            <a:xfrm>
              <a:off x="7156450" y="3625850"/>
              <a:ext cx="3873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e</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286755" name="Text Box 35"/>
            <p:cNvSpPr txBox="1">
              <a:spLocks noChangeArrowheads="1"/>
            </p:cNvSpPr>
            <p:nvPr/>
          </p:nvSpPr>
          <p:spPr bwMode="auto">
            <a:xfrm>
              <a:off x="8121650" y="3657600"/>
              <a:ext cx="336550" cy="641350"/>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f</a:t>
              </a:r>
              <a:endParaRPr lang="en-US" altLang="zh-CN" sz="3600">
                <a:solidFill>
                  <a:schemeClr val="bg1"/>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grpSp>
      <p:sp>
        <p:nvSpPr>
          <p:cNvPr id="2" name="标题 1"/>
          <p:cNvSpPr>
            <a:spLocks noGrp="1"/>
          </p:cNvSpPr>
          <p:nvPr>
            <p:ph type="title"/>
          </p:nvPr>
        </p:nvSpPr>
        <p:spPr/>
        <p:txBody>
          <a:bodyPr/>
          <a:lstStyle/>
          <a:p>
            <a:r>
              <a:rPr lang="zh-CN" altLang="en-US" dirty="0"/>
              <a:t>后序遍历</a:t>
            </a:r>
            <a:endParaRPr lang="zh-CN" altLang="en-US" dirty="0"/>
          </a:p>
        </p:txBody>
      </p:sp>
      <p:sp>
        <p:nvSpPr>
          <p:cNvPr id="4" name="内容占位符 3"/>
          <p:cNvSpPr>
            <a:spLocks noGrp="1"/>
          </p:cNvSpPr>
          <p:nvPr>
            <p:ph idx="1"/>
          </p:nvPr>
        </p:nvSpPr>
        <p:spPr/>
        <p:txBody>
          <a:bodyPr>
            <a:normAutofit fontScale="92500" lnSpcReduction="10000"/>
          </a:bodyPr>
          <a:lstStyle/>
          <a:p>
            <a:r>
              <a:rPr lang="zh-CN" altLang="en-US" dirty="0"/>
              <a:t>后序遍历二叉树算法的框架是：</a:t>
            </a:r>
            <a:endParaRPr lang="zh-CN" altLang="en-US" dirty="0"/>
          </a:p>
          <a:p>
            <a:pPr lvl="1"/>
            <a:r>
              <a:rPr lang="zh-CN" altLang="en-US" dirty="0"/>
              <a:t>若二叉树为空，则空操作；</a:t>
            </a:r>
            <a:endParaRPr lang="zh-CN" altLang="en-US" dirty="0"/>
          </a:p>
          <a:p>
            <a:pPr lvl="1"/>
            <a:r>
              <a:rPr lang="zh-CN" altLang="en-US" dirty="0"/>
              <a:t>否则</a:t>
            </a:r>
            <a:endParaRPr lang="zh-CN" altLang="en-US" dirty="0"/>
          </a:p>
          <a:p>
            <a:pPr lvl="2"/>
            <a:r>
              <a:rPr lang="zh-CN" altLang="en-US" dirty="0"/>
              <a:t>后序遍历左子树 </a:t>
            </a:r>
            <a:r>
              <a:rPr lang="en-US" altLang="zh-CN" dirty="0"/>
              <a:t>(L)</a:t>
            </a:r>
            <a:r>
              <a:rPr lang="zh-CN" altLang="en-US" dirty="0"/>
              <a:t>；</a:t>
            </a:r>
            <a:endParaRPr lang="zh-CN" altLang="en-US" dirty="0"/>
          </a:p>
          <a:p>
            <a:pPr lvl="2"/>
            <a:r>
              <a:rPr lang="zh-CN" altLang="en-US" dirty="0"/>
              <a:t>后序遍历右子树 </a:t>
            </a:r>
            <a:r>
              <a:rPr lang="en-US" altLang="zh-CN" dirty="0"/>
              <a:t>(R)</a:t>
            </a:r>
            <a:r>
              <a:rPr lang="zh-CN" altLang="en-US" dirty="0"/>
              <a:t>；</a:t>
            </a:r>
            <a:endParaRPr lang="zh-CN" altLang="en-US" dirty="0"/>
          </a:p>
          <a:p>
            <a:pPr lvl="2"/>
            <a:r>
              <a:rPr lang="zh-CN" altLang="en-US" dirty="0"/>
              <a:t>访问根结点 </a:t>
            </a:r>
            <a:r>
              <a:rPr lang="en-US" altLang="zh-CN" dirty="0"/>
              <a:t>(V)</a:t>
            </a:r>
            <a:r>
              <a:rPr lang="zh-CN" altLang="en-US" dirty="0"/>
              <a:t>。</a:t>
            </a:r>
            <a:endParaRPr lang="zh-CN" altLang="en-US" dirty="0"/>
          </a:p>
          <a:p>
            <a:endParaRPr lang="zh-CN" altLang="en-US" dirty="0"/>
          </a:p>
          <a:p>
            <a:r>
              <a:rPr lang="zh-CN" altLang="en-US" dirty="0"/>
              <a:t>示例遍历结果</a:t>
            </a:r>
            <a:endParaRPr lang="zh-CN" altLang="en-US" dirty="0"/>
          </a:p>
          <a:p>
            <a:pPr lvl="1"/>
            <a:r>
              <a:rPr lang="zh-CN" altLang="en-US" dirty="0"/>
              <a:t> </a:t>
            </a:r>
            <a:r>
              <a:rPr lang="en-US" altLang="zh-CN" dirty="0"/>
              <a:t>a b c d - * + e f / -</a:t>
            </a:r>
            <a:endParaRPr lang="en-US" altLang="zh-CN" dirty="0"/>
          </a:p>
          <a:p>
            <a:endParaRPr lang="zh-CN" altLang="en-US" dirty="0"/>
          </a:p>
        </p:txBody>
      </p:sp>
      <p:sp>
        <p:nvSpPr>
          <p:cNvPr id="3" name="灯片编号占位符 2"/>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二叉树后序遍历的递归算法</a:t>
            </a:r>
            <a:endParaRPr lang="zh-CN" altLang="en-US" dirty="0"/>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a:t>template &lt;class T&gt;  void </a:t>
            </a:r>
            <a:r>
              <a:rPr lang="en-US" altLang="zh-CN" dirty="0" err="1"/>
              <a:t>BinaryTree</a:t>
            </a:r>
            <a:r>
              <a:rPr lang="en-US" altLang="zh-CN" dirty="0"/>
              <a:t> &lt;T&gt; ::</a:t>
            </a:r>
            <a:endParaRPr lang="en-US" altLang="zh-CN" dirty="0"/>
          </a:p>
          <a:p>
            <a:pPr marL="0" indent="0">
              <a:buNone/>
            </a:pPr>
            <a:r>
              <a:rPr lang="en-US" altLang="zh-CN" dirty="0" err="1"/>
              <a:t>PostOrder</a:t>
            </a:r>
            <a:r>
              <a:rPr lang="en-US" altLang="zh-CN" dirty="0"/>
              <a:t> ( </a:t>
            </a:r>
            <a:r>
              <a:rPr lang="en-US" altLang="zh-CN" dirty="0" err="1"/>
              <a:t>BinTreeNode</a:t>
            </a:r>
            <a:r>
              <a:rPr lang="en-US" altLang="zh-CN" dirty="0"/>
              <a:t> &lt;T&gt; * </a:t>
            </a:r>
            <a:r>
              <a:rPr lang="en-US" altLang="zh-CN" dirty="0" err="1"/>
              <a:t>subTree</a:t>
            </a:r>
            <a:r>
              <a:rPr lang="en-US" altLang="zh-CN" dirty="0"/>
              <a:t> , void(*visit)(</a:t>
            </a:r>
            <a:r>
              <a:rPr lang="en-US" altLang="zh-CN" dirty="0" err="1"/>
              <a:t>BinTreeNode</a:t>
            </a:r>
            <a:r>
              <a:rPr lang="en-US" altLang="zh-CN" dirty="0"/>
              <a:t>&lt;T&gt; *p ) ) {</a:t>
            </a:r>
            <a:endParaRPr lang="en-US" altLang="zh-CN" dirty="0"/>
          </a:p>
          <a:p>
            <a:pPr marL="0" indent="0">
              <a:buNone/>
            </a:pPr>
            <a:r>
              <a:rPr lang="en-US" altLang="zh-CN" dirty="0"/>
              <a:t>    if ( </a:t>
            </a:r>
            <a:r>
              <a:rPr lang="en-US" altLang="zh-CN" dirty="0" err="1"/>
              <a:t>subTree</a:t>
            </a:r>
            <a:r>
              <a:rPr lang="en-US" altLang="zh-CN" dirty="0"/>
              <a:t> != NULL ) {</a:t>
            </a:r>
            <a:endParaRPr lang="en-US" altLang="zh-CN" dirty="0"/>
          </a:p>
          <a:p>
            <a:pPr marL="0" indent="0">
              <a:buNone/>
            </a:pPr>
            <a:r>
              <a:rPr lang="en-US" altLang="zh-CN" dirty="0"/>
              <a:t>        </a:t>
            </a:r>
            <a:r>
              <a:rPr lang="en-US" altLang="zh-CN" dirty="0" err="1"/>
              <a:t>PostOrder</a:t>
            </a:r>
            <a:r>
              <a:rPr lang="en-US" altLang="zh-CN" dirty="0"/>
              <a:t> ( </a:t>
            </a:r>
            <a:r>
              <a:rPr lang="en-US" altLang="zh-CN" dirty="0" err="1"/>
              <a:t>subTree</a:t>
            </a:r>
            <a:r>
              <a:rPr lang="en-US" altLang="zh-CN" dirty="0"/>
              <a:t>-&gt;</a:t>
            </a:r>
            <a:r>
              <a:rPr lang="en-US" altLang="zh-CN" dirty="0" err="1"/>
              <a:t>leftChild</a:t>
            </a:r>
            <a:r>
              <a:rPr lang="en-US" altLang="zh-CN" dirty="0"/>
              <a:t>, visit );</a:t>
            </a:r>
            <a:endParaRPr lang="en-US" altLang="zh-CN" dirty="0"/>
          </a:p>
          <a:p>
            <a:pPr marL="0" indent="0">
              <a:buNone/>
            </a:pPr>
            <a:r>
              <a:rPr lang="en-US" altLang="zh-CN" dirty="0"/>
              <a:t>        </a:t>
            </a:r>
            <a:r>
              <a:rPr lang="en-US" altLang="zh-CN" dirty="0" err="1"/>
              <a:t>PostOrder</a:t>
            </a:r>
            <a:r>
              <a:rPr lang="en-US" altLang="zh-CN" dirty="0"/>
              <a:t> ( </a:t>
            </a:r>
            <a:r>
              <a:rPr lang="en-US" altLang="zh-CN" dirty="0" err="1"/>
              <a:t>subTree</a:t>
            </a:r>
            <a:r>
              <a:rPr lang="en-US" altLang="zh-CN" dirty="0"/>
              <a:t>-&gt;</a:t>
            </a:r>
            <a:r>
              <a:rPr lang="en-US" altLang="zh-CN" dirty="0" err="1"/>
              <a:t>rightChild</a:t>
            </a:r>
            <a:r>
              <a:rPr lang="en-US" altLang="zh-CN" dirty="0"/>
              <a:t>, visit );</a:t>
            </a:r>
            <a:endParaRPr lang="en-US" altLang="zh-CN" dirty="0"/>
          </a:p>
          <a:p>
            <a:pPr marL="0" indent="0">
              <a:buNone/>
            </a:pPr>
            <a:r>
              <a:rPr lang="en-US" altLang="zh-CN" dirty="0"/>
              <a:t>        visit(</a:t>
            </a:r>
            <a:r>
              <a:rPr lang="en-US" altLang="zh-CN" dirty="0" err="1"/>
              <a:t>subTree</a:t>
            </a:r>
            <a:r>
              <a:rPr lang="en-US" altLang="zh-CN" dirty="0"/>
              <a:t>);</a:t>
            </a:r>
            <a:endParaRPr lang="en-US" altLang="zh-CN" dirty="0"/>
          </a:p>
          <a:p>
            <a:pPr marL="0" indent="0">
              <a:buNone/>
            </a:pPr>
            <a:r>
              <a:rPr lang="en-US" altLang="zh-CN" dirty="0"/>
              <a:t>    }</a:t>
            </a:r>
            <a:endParaRPr lang="en-US" altLang="zh-CN" dirty="0"/>
          </a:p>
          <a:p>
            <a:pPr marL="0" indent="0">
              <a:buNone/>
            </a:pPr>
            <a:r>
              <a:rPr lang="en-US" altLang="zh-CN" dirty="0"/>
              <a:t>}</a:t>
            </a: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5.4.2</a:t>
            </a:r>
            <a:r>
              <a:rPr lang="zh-CN" altLang="en-US" dirty="0"/>
              <a:t> 二叉树遍历的应用</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利用二叉树后序遍历计算二叉树结点个数：</a:t>
            </a:r>
            <a:endParaRPr lang="en-US" altLang="zh-CN" dirty="0"/>
          </a:p>
          <a:p>
            <a:pPr marL="342900" lvl="1" indent="0">
              <a:buNone/>
            </a:pPr>
            <a:r>
              <a:rPr lang="en-US" altLang="zh-CN" dirty="0"/>
              <a:t>template &lt;class T&gt;  </a:t>
            </a:r>
            <a:endParaRPr lang="en-US" altLang="zh-CN" dirty="0"/>
          </a:p>
          <a:p>
            <a:pPr marL="342900" lvl="1" indent="0">
              <a:buNone/>
            </a:pPr>
            <a:r>
              <a:rPr lang="en-US" altLang="zh-CN" dirty="0"/>
              <a:t>int </a:t>
            </a:r>
            <a:r>
              <a:rPr lang="en-US" altLang="zh-CN" dirty="0" err="1"/>
              <a:t>BinaryTree</a:t>
            </a:r>
            <a:r>
              <a:rPr lang="en-US" altLang="zh-CN" dirty="0"/>
              <a:t>&lt;T&gt; ::Size ( </a:t>
            </a:r>
            <a:r>
              <a:rPr lang="en-US" altLang="zh-CN" dirty="0" err="1"/>
              <a:t>BinTreeNode</a:t>
            </a:r>
            <a:r>
              <a:rPr lang="en-US" altLang="zh-CN" dirty="0"/>
              <a:t> &lt;T&gt; * </a:t>
            </a:r>
            <a:r>
              <a:rPr lang="en-US" altLang="zh-CN" dirty="0" err="1"/>
              <a:t>subTree</a:t>
            </a:r>
            <a:r>
              <a:rPr lang="en-US" altLang="zh-CN" dirty="0"/>
              <a:t> ) const {</a:t>
            </a:r>
            <a:endParaRPr lang="en-US" altLang="zh-CN" dirty="0"/>
          </a:p>
          <a:p>
            <a:pPr marL="342900" lvl="1" indent="0">
              <a:buNone/>
            </a:pPr>
            <a:r>
              <a:rPr lang="en-US" altLang="zh-CN" dirty="0"/>
              <a:t>    if ( </a:t>
            </a:r>
            <a:r>
              <a:rPr lang="en-US" altLang="zh-CN" dirty="0" err="1"/>
              <a:t>subTree</a:t>
            </a:r>
            <a:r>
              <a:rPr lang="en-US" altLang="zh-CN" dirty="0"/>
              <a:t> == NULL ) return 0;</a:t>
            </a:r>
            <a:endParaRPr lang="en-US" altLang="zh-CN" dirty="0"/>
          </a:p>
          <a:p>
            <a:pPr marL="342900" lvl="1" indent="0">
              <a:buNone/>
            </a:pPr>
            <a:r>
              <a:rPr lang="en-US" altLang="zh-CN" dirty="0"/>
              <a:t>    else return 1 + </a:t>
            </a:r>
            <a:endParaRPr lang="en-US" altLang="zh-CN" dirty="0"/>
          </a:p>
          <a:p>
            <a:pPr marL="342900" lvl="1" indent="0">
              <a:buNone/>
            </a:pPr>
            <a:r>
              <a:rPr lang="en-US" altLang="zh-CN" dirty="0"/>
              <a:t>           Size ( </a:t>
            </a:r>
            <a:r>
              <a:rPr lang="en-US" altLang="zh-CN" dirty="0" err="1"/>
              <a:t>subTree</a:t>
            </a:r>
            <a:r>
              <a:rPr lang="en-US" altLang="zh-CN" dirty="0"/>
              <a:t>-&gt;</a:t>
            </a:r>
            <a:r>
              <a:rPr lang="en-US" altLang="zh-CN" dirty="0" err="1"/>
              <a:t>leftChild</a:t>
            </a:r>
            <a:r>
              <a:rPr lang="en-US" altLang="zh-CN" dirty="0"/>
              <a:t>) + </a:t>
            </a:r>
            <a:endParaRPr lang="en-US" altLang="zh-CN" dirty="0"/>
          </a:p>
          <a:p>
            <a:pPr marL="342900" lvl="1" indent="0">
              <a:buNone/>
            </a:pPr>
            <a:r>
              <a:rPr lang="en-US" altLang="zh-CN" dirty="0"/>
              <a:t>           Size ( </a:t>
            </a:r>
            <a:r>
              <a:rPr lang="en-US" altLang="zh-CN" dirty="0" err="1"/>
              <a:t>subTree</a:t>
            </a:r>
            <a:r>
              <a:rPr lang="en-US" altLang="zh-CN" dirty="0"/>
              <a:t> -&gt;</a:t>
            </a:r>
            <a:r>
              <a:rPr lang="en-US" altLang="zh-CN" dirty="0" err="1"/>
              <a:t>rightChild</a:t>
            </a:r>
            <a:r>
              <a:rPr lang="en-US" altLang="zh-CN" dirty="0"/>
              <a:t> );</a:t>
            </a:r>
            <a:endParaRPr lang="en-US" altLang="zh-CN" dirty="0"/>
          </a:p>
          <a:p>
            <a:pPr marL="342900" lvl="1" indent="0">
              <a:buNone/>
            </a:pPr>
            <a:r>
              <a:rPr lang="en-US" altLang="zh-CN" dirty="0"/>
              <a:t>}</a:t>
            </a:r>
            <a:endParaRPr lang="en-US" altLang="zh-CN" dirty="0"/>
          </a:p>
          <a:p>
            <a:pPr marL="342900" lvl="1" indent="0">
              <a:buNone/>
            </a:pP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后序遍历计算二叉树的高度</a:t>
            </a:r>
            <a:endParaRPr lang="zh-CN" altLang="en-US" dirty="0"/>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a:t>template &lt;class T&gt; int </a:t>
            </a:r>
            <a:r>
              <a:rPr lang="en-US" altLang="zh-CN" dirty="0" err="1"/>
              <a:t>BinaryTree</a:t>
            </a:r>
            <a:r>
              <a:rPr lang="en-US" altLang="zh-CN" dirty="0"/>
              <a:t>&lt;T&gt; :: Height( </a:t>
            </a:r>
            <a:r>
              <a:rPr lang="en-US" altLang="zh-CN" dirty="0" err="1"/>
              <a:t>BinTreeNode</a:t>
            </a:r>
            <a:r>
              <a:rPr lang="en-US" altLang="zh-CN" dirty="0"/>
              <a:t> &lt;T&gt; * </a:t>
            </a:r>
            <a:r>
              <a:rPr lang="en-US" altLang="zh-CN" dirty="0" err="1"/>
              <a:t>subTree</a:t>
            </a:r>
            <a:r>
              <a:rPr lang="en-US" altLang="zh-CN" dirty="0"/>
              <a:t> ) const {</a:t>
            </a:r>
            <a:endParaRPr lang="en-US" altLang="zh-CN" dirty="0"/>
          </a:p>
          <a:p>
            <a:pPr marL="0" indent="0">
              <a:buNone/>
            </a:pPr>
            <a:r>
              <a:rPr lang="en-US" altLang="zh-CN" dirty="0"/>
              <a:t>    if ( </a:t>
            </a:r>
            <a:r>
              <a:rPr lang="en-US" altLang="zh-CN" dirty="0" err="1"/>
              <a:t>subTree</a:t>
            </a:r>
            <a:r>
              <a:rPr lang="en-US" altLang="zh-CN" dirty="0"/>
              <a:t> == NULL ) return 0;</a:t>
            </a:r>
            <a:endParaRPr lang="en-US" altLang="zh-CN" dirty="0"/>
          </a:p>
          <a:p>
            <a:pPr marL="0" indent="0">
              <a:buNone/>
            </a:pPr>
            <a:r>
              <a:rPr lang="en-US" altLang="zh-CN" dirty="0"/>
              <a:t>    else {</a:t>
            </a:r>
            <a:endParaRPr lang="en-US" altLang="zh-CN" dirty="0"/>
          </a:p>
          <a:p>
            <a:pPr marL="0" indent="0">
              <a:buNone/>
            </a:pPr>
            <a:r>
              <a:rPr lang="en-US" altLang="zh-CN" dirty="0"/>
              <a:t>        int </a:t>
            </a:r>
            <a:r>
              <a:rPr lang="en-US" altLang="zh-CN" dirty="0" err="1"/>
              <a:t>i</a:t>
            </a:r>
            <a:r>
              <a:rPr lang="en-US" altLang="zh-CN" dirty="0"/>
              <a:t> = Height ( </a:t>
            </a:r>
            <a:r>
              <a:rPr lang="en-US" altLang="zh-CN" dirty="0" err="1"/>
              <a:t>subTree</a:t>
            </a:r>
            <a:r>
              <a:rPr lang="en-US" altLang="zh-CN" dirty="0"/>
              <a:t>-&gt;</a:t>
            </a:r>
            <a:r>
              <a:rPr lang="en-US" altLang="zh-CN" dirty="0" err="1"/>
              <a:t>leftChild</a:t>
            </a:r>
            <a:r>
              <a:rPr lang="en-US" altLang="zh-CN" dirty="0"/>
              <a:t> );</a:t>
            </a:r>
            <a:endParaRPr lang="en-US" altLang="zh-CN" dirty="0"/>
          </a:p>
          <a:p>
            <a:pPr marL="0" indent="0">
              <a:buNone/>
            </a:pPr>
            <a:r>
              <a:rPr lang="en-US" altLang="zh-CN" dirty="0"/>
              <a:t>        int j = Height ( </a:t>
            </a:r>
            <a:r>
              <a:rPr lang="en-US" altLang="zh-CN" dirty="0" err="1"/>
              <a:t>subTree</a:t>
            </a:r>
            <a:r>
              <a:rPr lang="en-US" altLang="zh-CN" dirty="0"/>
              <a:t>-&gt;</a:t>
            </a:r>
            <a:r>
              <a:rPr lang="en-US" altLang="zh-CN" dirty="0" err="1"/>
              <a:t>rightChild</a:t>
            </a:r>
            <a:r>
              <a:rPr lang="en-US" altLang="zh-CN" dirty="0"/>
              <a:t> );</a:t>
            </a:r>
            <a:endParaRPr lang="en-US" altLang="zh-CN" dirty="0"/>
          </a:p>
          <a:p>
            <a:pPr marL="0" indent="0">
              <a:buNone/>
            </a:pPr>
            <a:r>
              <a:rPr lang="en-US" altLang="zh-CN" dirty="0"/>
              <a:t>        return (</a:t>
            </a:r>
            <a:r>
              <a:rPr lang="en-US" altLang="zh-CN" dirty="0" err="1"/>
              <a:t>i</a:t>
            </a:r>
            <a:r>
              <a:rPr lang="en-US" altLang="zh-CN" dirty="0"/>
              <a:t>&lt;j)?j+1:i+1;</a:t>
            </a:r>
            <a:endParaRPr lang="en-US" altLang="zh-CN" dirty="0"/>
          </a:p>
          <a:p>
            <a:pPr marL="0" indent="0">
              <a:buNone/>
            </a:pPr>
            <a:r>
              <a:rPr lang="en-US" altLang="zh-CN" dirty="0"/>
              <a:t>    }</a:t>
            </a:r>
            <a:endParaRPr lang="en-US" altLang="zh-CN" dirty="0"/>
          </a:p>
          <a:p>
            <a:pPr marL="0" indent="0">
              <a:buNone/>
            </a:pPr>
            <a:r>
              <a:rPr lang="en-US" altLang="zh-CN" dirty="0"/>
              <a:t>}    </a:t>
            </a: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后序遍历销毁二叉树</a:t>
            </a:r>
            <a:endParaRPr lang="zh-CN" altLang="en-US" dirty="0"/>
          </a:p>
        </p:txBody>
      </p:sp>
      <p:sp>
        <p:nvSpPr>
          <p:cNvPr id="3" name="内容占位符 2"/>
          <p:cNvSpPr>
            <a:spLocks noGrp="1"/>
          </p:cNvSpPr>
          <p:nvPr>
            <p:ph idx="1"/>
          </p:nvPr>
        </p:nvSpPr>
        <p:spPr/>
        <p:txBody>
          <a:bodyPr>
            <a:normAutofit fontScale="70000" lnSpcReduction="20000"/>
          </a:bodyPr>
          <a:lstStyle/>
          <a:p>
            <a:pPr marL="0" indent="0">
              <a:buNone/>
            </a:pPr>
            <a:r>
              <a:rPr lang="en-US" altLang="zh-CN" dirty="0"/>
              <a:t>template&lt;class T&gt; </a:t>
            </a:r>
            <a:endParaRPr lang="en-US" altLang="zh-CN" dirty="0"/>
          </a:p>
          <a:p>
            <a:pPr marL="0" indent="0">
              <a:buNone/>
            </a:pPr>
            <a:r>
              <a:rPr lang="en-US" altLang="zh-CN" dirty="0"/>
              <a:t>void </a:t>
            </a:r>
            <a:r>
              <a:rPr lang="en-US" altLang="zh-CN" dirty="0" err="1"/>
              <a:t>BinaryTree</a:t>
            </a:r>
            <a:r>
              <a:rPr lang="en-US" altLang="zh-CN" dirty="0"/>
              <a:t>&lt;T&gt; :: destroy </a:t>
            </a:r>
            <a:endParaRPr lang="en-US" altLang="zh-CN" dirty="0"/>
          </a:p>
          <a:p>
            <a:pPr marL="0" indent="0">
              <a:buNone/>
            </a:pPr>
            <a:r>
              <a:rPr lang="en-US" altLang="zh-CN" dirty="0"/>
              <a:t>   (</a:t>
            </a:r>
            <a:r>
              <a:rPr lang="en-US" altLang="zh-CN" dirty="0" err="1"/>
              <a:t>BinTreeNode</a:t>
            </a:r>
            <a:r>
              <a:rPr lang="en-US" altLang="zh-CN" dirty="0"/>
              <a:t>&lt;T&gt; * &amp;</a:t>
            </a:r>
            <a:r>
              <a:rPr lang="en-US" altLang="zh-CN" dirty="0" err="1"/>
              <a:t>subTree</a:t>
            </a:r>
            <a:r>
              <a:rPr lang="en-US" altLang="zh-CN" dirty="0"/>
              <a:t>) {</a:t>
            </a:r>
            <a:endParaRPr lang="en-US" altLang="zh-CN" dirty="0"/>
          </a:p>
          <a:p>
            <a:pPr marL="0" indent="0">
              <a:buNone/>
            </a:pPr>
            <a:r>
              <a:rPr lang="en-US" altLang="zh-CN" dirty="0"/>
              <a:t>    if ( </a:t>
            </a:r>
            <a:r>
              <a:rPr lang="en-US" altLang="zh-CN" dirty="0" err="1"/>
              <a:t>subTree</a:t>
            </a:r>
            <a:r>
              <a:rPr lang="en-US" altLang="zh-CN" dirty="0"/>
              <a:t> != NULL ) {</a:t>
            </a:r>
            <a:endParaRPr lang="en-US" altLang="zh-CN" dirty="0"/>
          </a:p>
          <a:p>
            <a:pPr marL="0" indent="0">
              <a:buNone/>
            </a:pPr>
            <a:r>
              <a:rPr lang="en-US" altLang="zh-CN" dirty="0"/>
              <a:t>       destroy ( </a:t>
            </a:r>
            <a:r>
              <a:rPr lang="en-US" altLang="zh-CN" dirty="0" err="1"/>
              <a:t>subTree</a:t>
            </a:r>
            <a:r>
              <a:rPr lang="en-US" altLang="zh-CN" dirty="0"/>
              <a:t>-&gt;</a:t>
            </a:r>
            <a:r>
              <a:rPr lang="en-US" altLang="zh-CN" dirty="0" err="1"/>
              <a:t>leftChild</a:t>
            </a:r>
            <a:r>
              <a:rPr lang="en-US" altLang="zh-CN" dirty="0"/>
              <a:t> );</a:t>
            </a:r>
            <a:endParaRPr lang="en-US" altLang="zh-CN" dirty="0"/>
          </a:p>
          <a:p>
            <a:pPr marL="0" indent="0">
              <a:buNone/>
            </a:pPr>
            <a:r>
              <a:rPr lang="en-US" altLang="zh-CN" dirty="0"/>
              <a:t>       destroy ( </a:t>
            </a:r>
            <a:r>
              <a:rPr lang="en-US" altLang="zh-CN" dirty="0" err="1"/>
              <a:t>subTree</a:t>
            </a:r>
            <a:r>
              <a:rPr lang="en-US" altLang="zh-CN" dirty="0"/>
              <a:t>-&gt;</a:t>
            </a:r>
            <a:r>
              <a:rPr lang="en-US" altLang="zh-CN" dirty="0" err="1"/>
              <a:t>rightChild</a:t>
            </a:r>
            <a:r>
              <a:rPr lang="en-US" altLang="zh-CN" dirty="0"/>
              <a:t> );</a:t>
            </a:r>
            <a:endParaRPr lang="en-US" altLang="zh-CN" dirty="0"/>
          </a:p>
          <a:p>
            <a:pPr marL="0" indent="0">
              <a:buNone/>
            </a:pPr>
            <a:r>
              <a:rPr lang="en-US" altLang="zh-CN" dirty="0"/>
              <a:t>       delete </a:t>
            </a:r>
            <a:r>
              <a:rPr lang="en-US" altLang="zh-CN" dirty="0" err="1"/>
              <a:t>subTree</a:t>
            </a:r>
            <a:r>
              <a:rPr lang="en-US" altLang="zh-CN" dirty="0"/>
              <a:t>;</a:t>
            </a:r>
            <a:endParaRPr lang="en-US" altLang="zh-CN" dirty="0"/>
          </a:p>
          <a:p>
            <a:pPr marL="0" indent="0">
              <a:buNone/>
            </a:pPr>
            <a:r>
              <a:rPr lang="en-US" altLang="zh-CN" dirty="0"/>
              <a:t>    }</a:t>
            </a:r>
            <a:endParaRPr lang="en-US" altLang="zh-CN" dirty="0"/>
          </a:p>
          <a:p>
            <a:pPr marL="0" indent="0">
              <a:buNone/>
            </a:pPr>
            <a:r>
              <a:rPr lang="en-US" altLang="zh-CN" dirty="0"/>
              <a:t>    </a:t>
            </a:r>
            <a:r>
              <a:rPr lang="en-US" altLang="zh-CN" dirty="0" err="1"/>
              <a:t>subTree</a:t>
            </a:r>
            <a:r>
              <a:rPr lang="en-US" altLang="zh-CN" dirty="0"/>
              <a:t> = NULL;</a:t>
            </a:r>
            <a:endParaRPr lang="en-US" altLang="zh-CN" dirty="0"/>
          </a:p>
          <a:p>
            <a:pPr marL="0" indent="0">
              <a:buNone/>
            </a:pPr>
            <a:r>
              <a:rPr lang="en-US" altLang="zh-CN" dirty="0"/>
              <a:t>}</a:t>
            </a:r>
            <a:endParaRPr lang="en-US" altLang="zh-CN" dirty="0"/>
          </a:p>
          <a:p>
            <a:pPr marL="0" indent="0">
              <a:buNone/>
            </a:pPr>
            <a:endParaRPr lang="zh-CN" altLang="en-US"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前序遍历输出二叉树</a:t>
            </a:r>
            <a:endParaRPr lang="zh-CN" altLang="en-US" dirty="0"/>
          </a:p>
        </p:txBody>
      </p:sp>
      <p:sp>
        <p:nvSpPr>
          <p:cNvPr id="3" name="内容占位符 2"/>
          <p:cNvSpPr>
            <a:spLocks noGrp="1"/>
          </p:cNvSpPr>
          <p:nvPr>
            <p:ph idx="1"/>
          </p:nvPr>
        </p:nvSpPr>
        <p:spPr>
          <a:xfrm>
            <a:off x="628650" y="1825625"/>
            <a:ext cx="7886700" cy="4667250"/>
          </a:xfrm>
        </p:spPr>
        <p:txBody>
          <a:bodyPr>
            <a:normAutofit fontScale="40000" lnSpcReduction="20000"/>
          </a:bodyPr>
          <a:lstStyle/>
          <a:p>
            <a:pPr marL="0" indent="0">
              <a:buNone/>
            </a:pPr>
            <a:r>
              <a:rPr lang="en-US" altLang="zh-CN" dirty="0"/>
              <a:t>//</a:t>
            </a:r>
            <a:r>
              <a:rPr lang="zh-CN" altLang="en-US" dirty="0"/>
              <a:t>私有函数</a:t>
            </a:r>
            <a:r>
              <a:rPr lang="en-US" altLang="zh-CN" dirty="0"/>
              <a:t>: </a:t>
            </a:r>
            <a:r>
              <a:rPr lang="zh-CN" altLang="en-US" dirty="0"/>
              <a:t>前序遍历并输出根为</a:t>
            </a:r>
            <a:r>
              <a:rPr lang="en-US" altLang="zh-CN" dirty="0" err="1"/>
              <a:t>subTree</a:t>
            </a:r>
            <a:r>
              <a:rPr lang="zh-CN" altLang="en-US" dirty="0"/>
              <a:t>的二叉树</a:t>
            </a:r>
            <a:endParaRPr lang="zh-CN" altLang="en-US" dirty="0"/>
          </a:p>
          <a:p>
            <a:pPr marL="0" indent="0">
              <a:buNone/>
            </a:pPr>
            <a:r>
              <a:rPr lang="en-US" altLang="zh-CN" dirty="0"/>
              <a:t>template &lt;class T&gt; </a:t>
            </a:r>
            <a:endParaRPr lang="en-US" altLang="zh-CN" dirty="0"/>
          </a:p>
          <a:p>
            <a:pPr marL="0" indent="0">
              <a:buNone/>
            </a:pPr>
            <a:r>
              <a:rPr lang="en-US" altLang="zh-CN" dirty="0"/>
              <a:t>void </a:t>
            </a:r>
            <a:r>
              <a:rPr lang="en-US" altLang="zh-CN" dirty="0" err="1"/>
              <a:t>BinaryTree</a:t>
            </a:r>
            <a:r>
              <a:rPr lang="en-US" altLang="zh-CN" dirty="0"/>
              <a:t>&lt;T&gt; :: Traverse ( </a:t>
            </a:r>
            <a:r>
              <a:rPr lang="en-US" altLang="zh-CN" dirty="0" err="1"/>
              <a:t>BinTreeNode</a:t>
            </a:r>
            <a:r>
              <a:rPr lang="en-US" altLang="zh-CN" dirty="0"/>
              <a:t> &lt;T&gt; *</a:t>
            </a:r>
            <a:r>
              <a:rPr lang="en-US" altLang="zh-CN" dirty="0" err="1"/>
              <a:t>subTree</a:t>
            </a:r>
            <a:r>
              <a:rPr lang="en-US" altLang="zh-CN" dirty="0"/>
              <a:t>,  </a:t>
            </a:r>
            <a:r>
              <a:rPr lang="en-US" altLang="zh-CN" dirty="0" err="1"/>
              <a:t>ostream</a:t>
            </a:r>
            <a:r>
              <a:rPr lang="en-US" altLang="zh-CN" dirty="0"/>
              <a:t> &amp;out ) {</a:t>
            </a:r>
            <a:endParaRPr lang="en-US" altLang="zh-CN" dirty="0"/>
          </a:p>
          <a:p>
            <a:pPr marL="0" indent="0">
              <a:buNone/>
            </a:pPr>
            <a:r>
              <a:rPr lang="en-US" altLang="zh-CN" dirty="0"/>
              <a:t>    if ( </a:t>
            </a:r>
            <a:r>
              <a:rPr lang="en-US" altLang="zh-CN" dirty="0" err="1"/>
              <a:t>subTree</a:t>
            </a:r>
            <a:r>
              <a:rPr lang="en-US" altLang="zh-CN" dirty="0"/>
              <a:t> != NULL ) {</a:t>
            </a:r>
            <a:endParaRPr lang="en-US" altLang="zh-CN" dirty="0"/>
          </a:p>
          <a:p>
            <a:pPr marL="0" indent="0">
              <a:buNone/>
            </a:pPr>
            <a:r>
              <a:rPr lang="en-US" altLang="zh-CN" dirty="0"/>
              <a:t>        out &lt;&lt; </a:t>
            </a:r>
            <a:r>
              <a:rPr lang="en-US" altLang="zh-CN" dirty="0" err="1"/>
              <a:t>subTree</a:t>
            </a:r>
            <a:r>
              <a:rPr lang="en-US" altLang="zh-CN" dirty="0"/>
              <a:t>-&gt;data &lt;&lt; ' ';</a:t>
            </a:r>
            <a:endParaRPr lang="en-US" altLang="zh-CN" dirty="0"/>
          </a:p>
          <a:p>
            <a:pPr marL="0" indent="0">
              <a:buNone/>
            </a:pPr>
            <a:r>
              <a:rPr lang="en-US" altLang="zh-CN" dirty="0"/>
              <a:t>        Traverse ( </a:t>
            </a:r>
            <a:r>
              <a:rPr lang="en-US" altLang="zh-CN" dirty="0" err="1"/>
              <a:t>subTree</a:t>
            </a:r>
            <a:r>
              <a:rPr lang="en-US" altLang="zh-CN" dirty="0"/>
              <a:t>-&gt;</a:t>
            </a:r>
            <a:r>
              <a:rPr lang="en-US" altLang="zh-CN" dirty="0" err="1"/>
              <a:t>leftChild</a:t>
            </a:r>
            <a:r>
              <a:rPr lang="en-US" altLang="zh-CN" dirty="0"/>
              <a:t>, out );</a:t>
            </a:r>
            <a:endParaRPr lang="en-US" altLang="zh-CN" dirty="0"/>
          </a:p>
          <a:p>
            <a:pPr marL="0" indent="0">
              <a:buNone/>
            </a:pPr>
            <a:r>
              <a:rPr lang="en-US" altLang="zh-CN" dirty="0"/>
              <a:t>        Traverse ( </a:t>
            </a:r>
            <a:r>
              <a:rPr lang="en-US" altLang="zh-CN" dirty="0" err="1"/>
              <a:t>subTree</a:t>
            </a:r>
            <a:r>
              <a:rPr lang="en-US" altLang="zh-CN" dirty="0"/>
              <a:t>-&gt;</a:t>
            </a:r>
            <a:r>
              <a:rPr lang="en-US" altLang="zh-CN" dirty="0" err="1"/>
              <a:t>rightChild</a:t>
            </a:r>
            <a:r>
              <a:rPr lang="en-US" altLang="zh-CN" dirty="0"/>
              <a:t>, out );</a:t>
            </a:r>
            <a:endParaRPr lang="en-US" altLang="zh-CN" dirty="0"/>
          </a:p>
          <a:p>
            <a:pPr marL="0" indent="0">
              <a:buNone/>
            </a:pPr>
            <a:r>
              <a:rPr lang="en-US" altLang="zh-CN" dirty="0"/>
              <a:t>    }</a:t>
            </a:r>
            <a:endParaRPr lang="en-US" altLang="zh-CN" dirty="0"/>
          </a:p>
          <a:p>
            <a:pPr marL="0" indent="0">
              <a:buNone/>
            </a:pPr>
            <a:r>
              <a:rPr lang="en-US" altLang="zh-CN" dirty="0"/>
              <a:t>}</a:t>
            </a:r>
            <a:endParaRPr lang="en-US" altLang="zh-CN" dirty="0"/>
          </a:p>
          <a:p>
            <a:pPr marL="0" indent="0">
              <a:buNone/>
            </a:pPr>
            <a:endParaRPr lang="en-US" altLang="zh-CN" dirty="0"/>
          </a:p>
          <a:p>
            <a:pPr marL="0" indent="0">
              <a:buNone/>
            </a:pPr>
            <a:r>
              <a:rPr lang="en-US" altLang="zh-CN" dirty="0"/>
              <a:t>//</a:t>
            </a:r>
            <a:r>
              <a:rPr lang="zh-CN" altLang="en-US" dirty="0"/>
              <a:t>友元函数</a:t>
            </a:r>
            <a:endParaRPr lang="en-US" altLang="zh-CN" dirty="0"/>
          </a:p>
          <a:p>
            <a:pPr marL="0" indent="0">
              <a:buNone/>
            </a:pPr>
            <a:r>
              <a:rPr lang="en-US" altLang="zh-CN" dirty="0"/>
              <a:t>template &lt;class T&gt; </a:t>
            </a:r>
            <a:endParaRPr lang="en-US" altLang="zh-CN" dirty="0"/>
          </a:p>
          <a:p>
            <a:pPr marL="0" indent="0">
              <a:buNone/>
            </a:pPr>
            <a:r>
              <a:rPr lang="en-US" altLang="zh-CN" dirty="0" err="1"/>
              <a:t>ostream</a:t>
            </a:r>
            <a:r>
              <a:rPr lang="en-US" altLang="zh-CN" dirty="0"/>
              <a:t>&amp; operator &lt;&lt; ( </a:t>
            </a:r>
            <a:r>
              <a:rPr lang="en-US" altLang="zh-CN" dirty="0" err="1"/>
              <a:t>ostream</a:t>
            </a:r>
            <a:r>
              <a:rPr lang="en-US" altLang="zh-CN" dirty="0"/>
              <a:t>&amp; out, </a:t>
            </a:r>
            <a:r>
              <a:rPr lang="en-US" altLang="zh-CN" dirty="0" err="1"/>
              <a:t>BinaryTree</a:t>
            </a:r>
            <a:r>
              <a:rPr lang="en-US" altLang="zh-CN" dirty="0"/>
              <a:t>&lt;T&gt; &amp;Tree ) {</a:t>
            </a:r>
            <a:endParaRPr lang="en-US" altLang="zh-CN" dirty="0"/>
          </a:p>
          <a:p>
            <a:pPr marL="0" indent="0">
              <a:buNone/>
            </a:pPr>
            <a:r>
              <a:rPr lang="en-US" altLang="zh-CN" dirty="0"/>
              <a:t>     out &lt;&lt; "</a:t>
            </a:r>
            <a:r>
              <a:rPr lang="zh-CN" altLang="en-US" dirty="0"/>
              <a:t>二叉树的前序遍历</a:t>
            </a:r>
            <a:r>
              <a:rPr lang="en-US" altLang="zh-CN" dirty="0"/>
              <a:t>.\n";     </a:t>
            </a:r>
            <a:r>
              <a:rPr lang="en-US" altLang="zh-CN" dirty="0" err="1"/>
              <a:t>Tree.Traverse</a:t>
            </a:r>
            <a:r>
              <a:rPr lang="en-US" altLang="zh-CN" dirty="0"/>
              <a:t> ( </a:t>
            </a:r>
            <a:r>
              <a:rPr lang="en-US" altLang="zh-CN" dirty="0" err="1"/>
              <a:t>Tree.root</a:t>
            </a:r>
            <a:r>
              <a:rPr lang="en-US" altLang="zh-CN" dirty="0"/>
              <a:t>, out );     out &lt;&lt; </a:t>
            </a:r>
            <a:r>
              <a:rPr lang="en-US" altLang="zh-CN" dirty="0" err="1"/>
              <a:t>endl</a:t>
            </a:r>
            <a:r>
              <a:rPr lang="en-US" altLang="zh-CN" dirty="0"/>
              <a:t>;</a:t>
            </a:r>
            <a:endParaRPr lang="en-US" altLang="zh-CN" dirty="0"/>
          </a:p>
          <a:p>
            <a:pPr marL="0" indent="0">
              <a:buNone/>
            </a:pPr>
            <a:r>
              <a:rPr lang="en-US" altLang="zh-CN" dirty="0"/>
              <a:t>     return out;</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前序遍历查找结点双亲</a:t>
            </a:r>
            <a:endParaRPr lang="zh-CN" altLang="en-US" dirty="0"/>
          </a:p>
        </p:txBody>
      </p:sp>
      <p:sp>
        <p:nvSpPr>
          <p:cNvPr id="3" name="内容占位符 2"/>
          <p:cNvSpPr>
            <a:spLocks noGrp="1"/>
          </p:cNvSpPr>
          <p:nvPr>
            <p:ph idx="1"/>
          </p:nvPr>
        </p:nvSpPr>
        <p:spPr/>
        <p:txBody>
          <a:bodyPr>
            <a:normAutofit fontScale="47500" lnSpcReduction="20000"/>
          </a:bodyPr>
          <a:lstStyle/>
          <a:p>
            <a:pPr marL="0" indent="0">
              <a:buNone/>
            </a:pPr>
            <a:r>
              <a:rPr lang="en-US" altLang="zh-CN" dirty="0"/>
              <a:t>//</a:t>
            </a:r>
            <a:r>
              <a:rPr lang="zh-CN" altLang="en-US" dirty="0"/>
              <a:t>私有函数</a:t>
            </a:r>
            <a:r>
              <a:rPr lang="en-US" altLang="zh-CN" dirty="0"/>
              <a:t>: </a:t>
            </a:r>
            <a:r>
              <a:rPr lang="zh-CN" altLang="en-US" dirty="0"/>
              <a:t>从结点*</a:t>
            </a:r>
            <a:r>
              <a:rPr lang="en-US" altLang="zh-CN" dirty="0"/>
              <a:t>t</a:t>
            </a:r>
            <a:r>
              <a:rPr lang="zh-CN" altLang="en-US" dirty="0"/>
              <a:t>开始</a:t>
            </a:r>
            <a:r>
              <a:rPr lang="en-US" altLang="zh-CN" dirty="0"/>
              <a:t>, </a:t>
            </a:r>
            <a:r>
              <a:rPr lang="zh-CN" altLang="en-US" dirty="0"/>
              <a:t>查找并返回结点*</a:t>
            </a:r>
            <a:r>
              <a:rPr lang="en-US" altLang="zh-CN" dirty="0"/>
              <a:t>p </a:t>
            </a:r>
            <a:r>
              <a:rPr lang="zh-CN" altLang="en-US" dirty="0"/>
              <a:t>的双亲</a:t>
            </a:r>
            <a:r>
              <a:rPr lang="en-US" altLang="zh-CN" dirty="0"/>
              <a:t>, </a:t>
            </a:r>
            <a:r>
              <a:rPr lang="zh-CN" altLang="en-US" dirty="0"/>
              <a:t>若未找到则返回</a:t>
            </a:r>
            <a:r>
              <a:rPr lang="en-US" altLang="zh-CN" dirty="0"/>
              <a:t>NULL</a:t>
            </a:r>
            <a:endParaRPr lang="en-US" altLang="zh-CN" dirty="0"/>
          </a:p>
          <a:p>
            <a:pPr marL="0" indent="0">
              <a:buNone/>
            </a:pPr>
            <a:r>
              <a:rPr lang="en-US" altLang="zh-CN" dirty="0"/>
              <a:t>template &lt;class T&gt; </a:t>
            </a:r>
            <a:endParaRPr lang="en-US" altLang="zh-CN" dirty="0"/>
          </a:p>
          <a:p>
            <a:pPr marL="0" indent="0">
              <a:buNone/>
            </a:pPr>
            <a:r>
              <a:rPr lang="en-US" altLang="zh-CN" dirty="0" err="1"/>
              <a:t>BinTreeNode</a:t>
            </a:r>
            <a:r>
              <a:rPr lang="en-US" altLang="zh-CN" dirty="0"/>
              <a:t> &lt;T&gt; * </a:t>
            </a:r>
            <a:r>
              <a:rPr lang="en-US" altLang="zh-CN" dirty="0" err="1"/>
              <a:t>BinaryTree</a:t>
            </a:r>
            <a:r>
              <a:rPr lang="en-US" altLang="zh-CN" dirty="0"/>
              <a:t> &lt;T&gt; :: Parent  ( </a:t>
            </a:r>
            <a:r>
              <a:rPr lang="en-US" altLang="zh-CN" dirty="0" err="1"/>
              <a:t>BinTreeNode</a:t>
            </a:r>
            <a:r>
              <a:rPr lang="en-US" altLang="zh-CN" dirty="0"/>
              <a:t> &lt;T&gt; * </a:t>
            </a:r>
            <a:r>
              <a:rPr lang="en-US" altLang="zh-CN" dirty="0" err="1"/>
              <a:t>subTree</a:t>
            </a:r>
            <a:r>
              <a:rPr lang="en-US" altLang="zh-CN" dirty="0"/>
              <a:t>,  </a:t>
            </a:r>
            <a:r>
              <a:rPr lang="en-US" altLang="zh-CN" dirty="0" err="1"/>
              <a:t>BinTreeNode</a:t>
            </a:r>
            <a:r>
              <a:rPr lang="en-US" altLang="zh-CN" dirty="0"/>
              <a:t> &lt;T&gt; * current ) {</a:t>
            </a:r>
            <a:endParaRPr lang="en-US" altLang="zh-CN" dirty="0"/>
          </a:p>
          <a:p>
            <a:pPr marL="0" indent="0">
              <a:buNone/>
            </a:pPr>
            <a:r>
              <a:rPr lang="en-US" altLang="zh-CN" dirty="0"/>
              <a:t>     if ( </a:t>
            </a:r>
            <a:r>
              <a:rPr lang="en-US" altLang="zh-CN" dirty="0" err="1"/>
              <a:t>subTree</a:t>
            </a:r>
            <a:r>
              <a:rPr lang="en-US" altLang="zh-CN" dirty="0"/>
              <a:t> == NULL ) </a:t>
            </a:r>
            <a:endParaRPr lang="en-US" altLang="zh-CN" dirty="0"/>
          </a:p>
          <a:p>
            <a:pPr marL="0" indent="0">
              <a:buNone/>
            </a:pPr>
            <a:r>
              <a:rPr lang="en-US" altLang="zh-CN" dirty="0"/>
              <a:t>           return NULL;</a:t>
            </a:r>
            <a:endParaRPr lang="en-US" altLang="zh-CN" dirty="0"/>
          </a:p>
          <a:p>
            <a:pPr marL="0" indent="0">
              <a:buNone/>
            </a:pPr>
            <a:r>
              <a:rPr lang="en-US" altLang="zh-CN" dirty="0"/>
              <a:t>     if ( </a:t>
            </a:r>
            <a:r>
              <a:rPr lang="en-US" altLang="zh-CN" dirty="0" err="1"/>
              <a:t>subTree</a:t>
            </a:r>
            <a:r>
              <a:rPr lang="en-US" altLang="zh-CN" dirty="0"/>
              <a:t>-&gt;</a:t>
            </a:r>
            <a:r>
              <a:rPr lang="en-US" altLang="zh-CN" dirty="0" err="1"/>
              <a:t>leftChild</a:t>
            </a:r>
            <a:r>
              <a:rPr lang="en-US" altLang="zh-CN" dirty="0"/>
              <a:t> == current || </a:t>
            </a:r>
            <a:r>
              <a:rPr lang="en-US" altLang="zh-CN" dirty="0" err="1"/>
              <a:t>subTree</a:t>
            </a:r>
            <a:r>
              <a:rPr lang="en-US" altLang="zh-CN" dirty="0"/>
              <a:t>-&gt; </a:t>
            </a:r>
            <a:r>
              <a:rPr lang="en-US" altLang="zh-CN" dirty="0" err="1"/>
              <a:t>rightChild</a:t>
            </a:r>
            <a:r>
              <a:rPr lang="en-US" altLang="zh-CN" dirty="0"/>
              <a:t> == current ) </a:t>
            </a:r>
            <a:endParaRPr lang="en-US" altLang="zh-CN" dirty="0"/>
          </a:p>
          <a:p>
            <a:pPr marL="0" indent="0">
              <a:buNone/>
            </a:pPr>
            <a:r>
              <a:rPr lang="en-US" altLang="zh-CN" dirty="0"/>
              <a:t>           return </a:t>
            </a:r>
            <a:r>
              <a:rPr lang="en-US" altLang="zh-CN" dirty="0" err="1"/>
              <a:t>subTree</a:t>
            </a:r>
            <a:r>
              <a:rPr lang="en-US" altLang="zh-CN" dirty="0"/>
              <a:t>;</a:t>
            </a:r>
            <a:endParaRPr lang="en-US" altLang="zh-CN" dirty="0"/>
          </a:p>
          <a:p>
            <a:pPr marL="0" indent="0">
              <a:buNone/>
            </a:pPr>
            <a:r>
              <a:rPr lang="en-US" altLang="zh-CN" dirty="0"/>
              <a:t>     </a:t>
            </a:r>
            <a:r>
              <a:rPr lang="en-US" altLang="zh-CN" dirty="0" err="1"/>
              <a:t>BinTreeNode</a:t>
            </a:r>
            <a:r>
              <a:rPr lang="en-US" altLang="zh-CN" dirty="0"/>
              <a:t> &lt;T&gt; *p;</a:t>
            </a:r>
            <a:endParaRPr lang="en-US" altLang="zh-CN" dirty="0"/>
          </a:p>
          <a:p>
            <a:pPr marL="0" indent="0">
              <a:buNone/>
            </a:pPr>
            <a:r>
              <a:rPr lang="en-US" altLang="zh-CN" dirty="0"/>
              <a:t>     if (( p = Parent ( </a:t>
            </a:r>
            <a:r>
              <a:rPr lang="en-US" altLang="zh-CN" dirty="0" err="1"/>
              <a:t>subTree</a:t>
            </a:r>
            <a:r>
              <a:rPr lang="en-US" altLang="zh-CN" dirty="0"/>
              <a:t>-&gt;</a:t>
            </a:r>
            <a:r>
              <a:rPr lang="en-US" altLang="zh-CN" dirty="0" err="1"/>
              <a:t>leftChild</a:t>
            </a:r>
            <a:r>
              <a:rPr lang="en-US" altLang="zh-CN" dirty="0"/>
              <a:t>, current )) != NULL ) </a:t>
            </a:r>
            <a:endParaRPr lang="en-US" altLang="zh-CN" dirty="0"/>
          </a:p>
          <a:p>
            <a:pPr marL="0" indent="0">
              <a:buNone/>
            </a:pPr>
            <a:r>
              <a:rPr lang="en-US" altLang="zh-CN" dirty="0"/>
              <a:t>           return p;	</a:t>
            </a:r>
            <a:endParaRPr lang="en-US" altLang="zh-CN" dirty="0"/>
          </a:p>
          <a:p>
            <a:pPr marL="0" indent="0">
              <a:buNone/>
            </a:pPr>
            <a:r>
              <a:rPr lang="en-US" altLang="zh-CN" dirty="0"/>
              <a:t>     else </a:t>
            </a:r>
            <a:endParaRPr lang="en-US" altLang="zh-CN" dirty="0"/>
          </a:p>
          <a:p>
            <a:pPr marL="0" indent="0">
              <a:buNone/>
            </a:pPr>
            <a:r>
              <a:rPr lang="en-US" altLang="zh-CN" dirty="0"/>
              <a:t>           return Parent(</a:t>
            </a:r>
            <a:r>
              <a:rPr lang="en-US" altLang="zh-CN" dirty="0" err="1"/>
              <a:t>subTree</a:t>
            </a:r>
            <a:r>
              <a:rPr lang="en-US" altLang="zh-CN" dirty="0"/>
              <a:t>-&gt;</a:t>
            </a:r>
            <a:r>
              <a:rPr lang="en-US" altLang="zh-CN" dirty="0" err="1"/>
              <a:t>rightChild</a:t>
            </a:r>
            <a:r>
              <a:rPr lang="en-US" altLang="zh-CN" dirty="0"/>
              <a:t>, current);</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365125"/>
            <a:ext cx="8928992" cy="1325563"/>
          </a:xfrm>
        </p:spPr>
        <p:txBody>
          <a:bodyPr>
            <a:normAutofit/>
          </a:bodyPr>
          <a:lstStyle/>
          <a:p>
            <a:r>
              <a:rPr lang="zh-CN" altLang="en-US" dirty="0"/>
              <a:t>前序遍历以括号形式打印二叉树</a:t>
            </a:r>
            <a:endParaRPr lang="zh-CN" altLang="en-US" dirty="0"/>
          </a:p>
        </p:txBody>
      </p:sp>
      <p:sp>
        <p:nvSpPr>
          <p:cNvPr id="3" name="内容占位符 2"/>
          <p:cNvSpPr>
            <a:spLocks noGrp="1"/>
          </p:cNvSpPr>
          <p:nvPr>
            <p:ph idx="1"/>
          </p:nvPr>
        </p:nvSpPr>
        <p:spPr/>
        <p:txBody>
          <a:bodyPr>
            <a:normAutofit fontScale="62500" lnSpcReduction="20000"/>
          </a:bodyPr>
          <a:lstStyle/>
          <a:p>
            <a:r>
              <a:rPr lang="zh-CN" altLang="en-US" dirty="0"/>
              <a:t>设二叉树根为</a:t>
            </a:r>
            <a:r>
              <a:rPr lang="en-US" altLang="zh-CN" dirty="0"/>
              <a:t>G</a:t>
            </a:r>
            <a:r>
              <a:rPr lang="zh-CN" altLang="en-US" dirty="0"/>
              <a:t>，左子树</a:t>
            </a:r>
            <a:r>
              <a:rPr lang="en-US" altLang="zh-CN" dirty="0"/>
              <a:t>L</a:t>
            </a:r>
            <a:r>
              <a:rPr lang="zh-CN" altLang="en-US" dirty="0"/>
              <a:t>，右子树</a:t>
            </a:r>
            <a:r>
              <a:rPr lang="en-US" altLang="zh-CN" dirty="0"/>
              <a:t>R</a:t>
            </a:r>
            <a:r>
              <a:rPr lang="zh-CN" altLang="en-US" dirty="0"/>
              <a:t>，则有</a:t>
            </a:r>
            <a:r>
              <a:rPr lang="en-US" altLang="zh-CN" dirty="0"/>
              <a:t>4</a:t>
            </a:r>
            <a:r>
              <a:rPr lang="zh-CN" altLang="en-US" dirty="0"/>
              <a:t>种可能：</a:t>
            </a:r>
            <a:endParaRPr lang="zh-CN" altLang="en-US" dirty="0"/>
          </a:p>
          <a:p>
            <a:pPr lvl="1"/>
            <a:r>
              <a:rPr lang="en-US" altLang="zh-CN" dirty="0"/>
              <a:t>L</a:t>
            </a:r>
            <a:r>
              <a:rPr lang="zh-CN" altLang="en-US" dirty="0"/>
              <a:t>非空、</a:t>
            </a:r>
            <a:r>
              <a:rPr lang="en-US" altLang="zh-CN" dirty="0"/>
              <a:t>R</a:t>
            </a:r>
            <a:r>
              <a:rPr lang="zh-CN" altLang="en-US" dirty="0"/>
              <a:t>非空：输出</a:t>
            </a:r>
            <a:r>
              <a:rPr lang="en-US" altLang="zh-CN" dirty="0"/>
              <a:t>G(L, R)</a:t>
            </a:r>
            <a:endParaRPr lang="en-US" altLang="zh-CN" dirty="0"/>
          </a:p>
          <a:p>
            <a:pPr lvl="1"/>
            <a:r>
              <a:rPr lang="en-US" altLang="zh-CN" dirty="0"/>
              <a:t>L</a:t>
            </a:r>
            <a:r>
              <a:rPr lang="zh-CN" altLang="en-US" dirty="0"/>
              <a:t>非空，</a:t>
            </a:r>
            <a:r>
              <a:rPr lang="en-US" altLang="zh-CN" dirty="0"/>
              <a:t>R</a:t>
            </a:r>
            <a:r>
              <a:rPr lang="zh-CN" altLang="en-US" dirty="0"/>
              <a:t>空：输出</a:t>
            </a:r>
            <a:r>
              <a:rPr lang="en-US" altLang="zh-CN" dirty="0"/>
              <a:t>G(L,)</a:t>
            </a:r>
            <a:endParaRPr lang="en-US" altLang="zh-CN" dirty="0"/>
          </a:p>
          <a:p>
            <a:pPr lvl="1"/>
            <a:r>
              <a:rPr lang="en-US" altLang="zh-CN" dirty="0"/>
              <a:t>L</a:t>
            </a:r>
            <a:r>
              <a:rPr lang="zh-CN" altLang="en-US" dirty="0"/>
              <a:t>空，</a:t>
            </a:r>
            <a:r>
              <a:rPr lang="en-US" altLang="zh-CN" dirty="0"/>
              <a:t>R</a:t>
            </a:r>
            <a:r>
              <a:rPr lang="zh-CN" altLang="en-US" dirty="0"/>
              <a:t>非空：输出</a:t>
            </a:r>
            <a:r>
              <a:rPr lang="en-US" altLang="zh-CN" dirty="0"/>
              <a:t>G(, R)</a:t>
            </a:r>
            <a:endParaRPr lang="en-US" altLang="zh-CN" dirty="0"/>
          </a:p>
          <a:p>
            <a:pPr lvl="1"/>
            <a:r>
              <a:rPr lang="en-US" altLang="zh-CN" dirty="0"/>
              <a:t>L</a:t>
            </a:r>
            <a:r>
              <a:rPr lang="zh-CN" altLang="en-US" dirty="0"/>
              <a:t>空、</a:t>
            </a:r>
            <a:r>
              <a:rPr lang="en-US" altLang="zh-CN" dirty="0"/>
              <a:t>R</a:t>
            </a:r>
            <a:r>
              <a:rPr lang="zh-CN" altLang="en-US" dirty="0"/>
              <a:t>空：输出</a:t>
            </a:r>
            <a:r>
              <a:rPr lang="en-US" altLang="zh-CN" dirty="0"/>
              <a:t>G</a:t>
            </a:r>
            <a:endParaRPr lang="en-US" altLang="zh-CN" dirty="0"/>
          </a:p>
          <a:p>
            <a:r>
              <a:rPr lang="zh-CN" altLang="en-US" dirty="0"/>
              <a:t>程序思路：</a:t>
            </a:r>
            <a:endParaRPr lang="zh-CN" altLang="en-US" dirty="0"/>
          </a:p>
          <a:p>
            <a:pPr lvl="1"/>
            <a:r>
              <a:rPr lang="zh-CN" altLang="en-US" dirty="0"/>
              <a:t>如果树空，则不输出；</a:t>
            </a:r>
            <a:endParaRPr lang="en-US" altLang="zh-CN" dirty="0"/>
          </a:p>
          <a:p>
            <a:pPr lvl="1"/>
            <a:r>
              <a:rPr lang="zh-CN" altLang="en-US" dirty="0"/>
              <a:t>否则</a:t>
            </a:r>
            <a:endParaRPr lang="en-US" altLang="zh-CN" dirty="0"/>
          </a:p>
          <a:p>
            <a:pPr lvl="2"/>
            <a:r>
              <a:rPr lang="zh-CN" altLang="en-US" dirty="0"/>
              <a:t>输出根的值；</a:t>
            </a:r>
            <a:endParaRPr lang="zh-CN" altLang="en-US" dirty="0"/>
          </a:p>
          <a:p>
            <a:pPr lvl="2"/>
            <a:r>
              <a:rPr lang="zh-CN" altLang="en-US" dirty="0"/>
              <a:t>输出“</a:t>
            </a:r>
            <a:r>
              <a:rPr lang="en-US" altLang="zh-CN" dirty="0"/>
              <a:t>(”;</a:t>
            </a:r>
            <a:endParaRPr lang="en-US" altLang="zh-CN" dirty="0"/>
          </a:p>
          <a:p>
            <a:pPr lvl="2"/>
            <a:r>
              <a:rPr lang="zh-CN" altLang="en-US" dirty="0"/>
              <a:t>递归输出根的左子树；</a:t>
            </a:r>
            <a:endParaRPr lang="zh-CN" altLang="en-US" dirty="0"/>
          </a:p>
          <a:p>
            <a:pPr lvl="2"/>
            <a:r>
              <a:rPr lang="zh-CN" altLang="en-US" dirty="0"/>
              <a:t>输出“</a:t>
            </a:r>
            <a:r>
              <a:rPr lang="en-US" altLang="zh-CN" dirty="0"/>
              <a:t>,”</a:t>
            </a:r>
            <a:r>
              <a:rPr lang="zh-CN" altLang="en-US" dirty="0"/>
              <a:t>；</a:t>
            </a:r>
            <a:endParaRPr lang="zh-CN" altLang="en-US" dirty="0"/>
          </a:p>
          <a:p>
            <a:pPr lvl="2"/>
            <a:r>
              <a:rPr lang="zh-CN" altLang="en-US" dirty="0"/>
              <a:t>递归输出根的右子树；</a:t>
            </a:r>
            <a:endParaRPr lang="zh-CN" altLang="en-US" dirty="0"/>
          </a:p>
          <a:p>
            <a:pPr lvl="2"/>
            <a:r>
              <a:rPr lang="zh-CN" altLang="en-US" dirty="0"/>
              <a:t>输出“</a:t>
            </a:r>
            <a:r>
              <a:rPr lang="en-US" altLang="zh-CN" dirty="0"/>
              <a:t>)”;</a:t>
            </a: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628650" y="836712"/>
            <a:ext cx="8263830" cy="5340251"/>
          </a:xfrm>
        </p:spPr>
        <p:txBody>
          <a:bodyPr>
            <a:normAutofit fontScale="62500" lnSpcReduction="20000"/>
          </a:bodyPr>
          <a:lstStyle/>
          <a:p>
            <a:pPr marL="0" indent="0">
              <a:buNone/>
            </a:pPr>
            <a:r>
              <a:rPr lang="en-US" altLang="zh-CN" dirty="0"/>
              <a:t>template &lt;class T&gt;</a:t>
            </a:r>
            <a:endParaRPr lang="en-US" altLang="zh-CN" dirty="0"/>
          </a:p>
          <a:p>
            <a:pPr marL="0" indent="0">
              <a:buNone/>
            </a:pPr>
            <a:r>
              <a:rPr lang="en-US" altLang="zh-CN" dirty="0"/>
              <a:t>void </a:t>
            </a:r>
            <a:r>
              <a:rPr lang="en-US" altLang="zh-CN" dirty="0" err="1"/>
              <a:t>BinaryTree</a:t>
            </a:r>
            <a:r>
              <a:rPr lang="en-US" altLang="zh-CN" dirty="0"/>
              <a:t>&lt;T&gt;::</a:t>
            </a:r>
            <a:endParaRPr lang="en-US" altLang="zh-CN" dirty="0"/>
          </a:p>
          <a:p>
            <a:pPr marL="0" indent="0">
              <a:buNone/>
            </a:pPr>
            <a:r>
              <a:rPr lang="en-US" altLang="zh-CN" dirty="0" err="1"/>
              <a:t>printBinTree</a:t>
            </a:r>
            <a:r>
              <a:rPr lang="en-US" altLang="zh-CN" dirty="0"/>
              <a:t>(</a:t>
            </a:r>
            <a:r>
              <a:rPr lang="en-US" altLang="zh-CN" dirty="0" err="1"/>
              <a:t>BinTreeNode</a:t>
            </a:r>
            <a:r>
              <a:rPr lang="en-US" altLang="zh-CN" dirty="0"/>
              <a:t>&lt;T&gt; *BT) {</a:t>
            </a:r>
            <a:endParaRPr lang="en-US" altLang="zh-CN" dirty="0"/>
          </a:p>
          <a:p>
            <a:pPr marL="0" indent="0">
              <a:buNone/>
            </a:pPr>
            <a:r>
              <a:rPr lang="en-US" altLang="zh-CN" dirty="0"/>
              <a:t>     if (BT != NULL) {		//</a:t>
            </a:r>
            <a:r>
              <a:rPr lang="zh-CN" altLang="en-US" dirty="0"/>
              <a:t>树为空时结束递归</a:t>
            </a:r>
            <a:endParaRPr lang="zh-CN" altLang="en-US" dirty="0"/>
          </a:p>
          <a:p>
            <a:pPr marL="0" indent="0">
              <a:buNone/>
            </a:pPr>
            <a:r>
              <a:rPr lang="zh-CN" altLang="en-US" dirty="0"/>
              <a:t>          </a:t>
            </a:r>
            <a:r>
              <a:rPr lang="en-US" altLang="zh-CN" dirty="0" err="1"/>
              <a:t>cout</a:t>
            </a:r>
            <a:r>
              <a:rPr lang="en-US" altLang="zh-CN" dirty="0"/>
              <a:t> &lt;&lt; BT-&gt;data;		//</a:t>
            </a:r>
            <a:r>
              <a:rPr lang="zh-CN" altLang="en-US" dirty="0"/>
              <a:t>输出根结点的值</a:t>
            </a:r>
            <a:endParaRPr lang="zh-CN" altLang="en-US" dirty="0"/>
          </a:p>
          <a:p>
            <a:pPr marL="0" indent="0">
              <a:buNone/>
            </a:pPr>
            <a:r>
              <a:rPr lang="zh-CN" altLang="en-US" dirty="0"/>
              <a:t>          </a:t>
            </a:r>
            <a:r>
              <a:rPr lang="en-US" altLang="zh-CN" dirty="0"/>
              <a:t>if (BT-&gt;</a:t>
            </a:r>
            <a:r>
              <a:rPr lang="en-US" altLang="zh-CN" dirty="0" err="1"/>
              <a:t>leftChild</a:t>
            </a:r>
            <a:r>
              <a:rPr lang="en-US" altLang="zh-CN" dirty="0"/>
              <a:t> != NULL || BT-&gt;</a:t>
            </a:r>
            <a:r>
              <a:rPr lang="en-US" altLang="zh-CN" dirty="0" err="1"/>
              <a:t>rightChild</a:t>
            </a:r>
            <a:r>
              <a:rPr lang="en-US" altLang="zh-CN" dirty="0"/>
              <a:t> != NULL) {</a:t>
            </a:r>
            <a:endParaRPr lang="en-US" altLang="zh-CN" dirty="0"/>
          </a:p>
          <a:p>
            <a:pPr marL="0" indent="0">
              <a:buNone/>
            </a:pPr>
            <a:r>
              <a:rPr lang="en-US" altLang="zh-CN" dirty="0"/>
              <a:t>	        </a:t>
            </a:r>
            <a:r>
              <a:rPr lang="en-US" altLang="zh-CN" dirty="0" err="1"/>
              <a:t>cout</a:t>
            </a:r>
            <a:r>
              <a:rPr lang="en-US" altLang="zh-CN" dirty="0"/>
              <a:t> &lt;&lt; "(";		//</a:t>
            </a:r>
            <a:r>
              <a:rPr lang="zh-CN" altLang="en-US" dirty="0"/>
              <a:t>输出左括号</a:t>
            </a:r>
            <a:endParaRPr lang="zh-CN" altLang="en-US" dirty="0"/>
          </a:p>
          <a:p>
            <a:pPr marL="0" indent="0">
              <a:buNone/>
            </a:pPr>
            <a:r>
              <a:rPr lang="zh-CN" altLang="en-US" dirty="0"/>
              <a:t>		</a:t>
            </a:r>
            <a:r>
              <a:rPr lang="en-US" altLang="zh-CN" dirty="0" err="1"/>
              <a:t>printBinTree</a:t>
            </a:r>
            <a:r>
              <a:rPr lang="en-US" altLang="zh-CN" dirty="0"/>
              <a:t>(BT-&gt;</a:t>
            </a:r>
            <a:r>
              <a:rPr lang="en-US" altLang="zh-CN" dirty="0" err="1"/>
              <a:t>leftChild</a:t>
            </a:r>
            <a:r>
              <a:rPr lang="en-US" altLang="zh-CN" dirty="0"/>
              <a:t>);    //</a:t>
            </a:r>
            <a:r>
              <a:rPr lang="zh-CN" altLang="en-US" dirty="0"/>
              <a:t>递归输出左子树</a:t>
            </a:r>
            <a:endParaRPr lang="zh-CN" altLang="en-US" dirty="0"/>
          </a:p>
          <a:p>
            <a:pPr marL="0" indent="0">
              <a:buNone/>
            </a:pPr>
            <a:r>
              <a:rPr lang="zh-CN" altLang="en-US" dirty="0"/>
              <a:t>		</a:t>
            </a:r>
            <a:r>
              <a:rPr lang="en-US" altLang="zh-CN" dirty="0" err="1"/>
              <a:t>cout</a:t>
            </a:r>
            <a:r>
              <a:rPr lang="en-US" altLang="zh-CN" dirty="0"/>
              <a:t> &lt;&lt; ",";		//</a:t>
            </a:r>
            <a:r>
              <a:rPr lang="zh-CN" altLang="en-US" dirty="0"/>
              <a:t>输出逗号分隔符</a:t>
            </a:r>
            <a:endParaRPr lang="zh-CN" altLang="en-US" dirty="0"/>
          </a:p>
          <a:p>
            <a:pPr marL="0" indent="0">
              <a:buNone/>
            </a:pPr>
            <a:r>
              <a:rPr lang="zh-CN" altLang="en-US" dirty="0"/>
              <a:t>		</a:t>
            </a:r>
            <a:r>
              <a:rPr lang="en-US" altLang="zh-CN" dirty="0" err="1"/>
              <a:t>printBinTree</a:t>
            </a:r>
            <a:r>
              <a:rPr lang="en-US" altLang="zh-CN" dirty="0"/>
              <a:t>(BT-&gt;</a:t>
            </a:r>
            <a:r>
              <a:rPr lang="en-US" altLang="zh-CN" dirty="0" err="1"/>
              <a:t>rightChild</a:t>
            </a:r>
            <a:r>
              <a:rPr lang="en-US" altLang="zh-CN" dirty="0"/>
              <a:t>);     //</a:t>
            </a:r>
            <a:r>
              <a:rPr lang="zh-CN" altLang="en-US" dirty="0"/>
              <a:t>递归输出右子树</a:t>
            </a:r>
            <a:endParaRPr lang="zh-CN" altLang="en-US" dirty="0"/>
          </a:p>
          <a:p>
            <a:pPr marL="0" indent="0">
              <a:buNone/>
            </a:pPr>
            <a:r>
              <a:rPr lang="zh-CN" altLang="en-US" dirty="0"/>
              <a:t>		</a:t>
            </a:r>
            <a:r>
              <a:rPr lang="en-US" altLang="zh-CN" dirty="0" err="1"/>
              <a:t>cout</a:t>
            </a:r>
            <a:r>
              <a:rPr lang="en-US" altLang="zh-CN" dirty="0"/>
              <a:t> &lt;&lt; ")";	        //</a:t>
            </a:r>
            <a:r>
              <a:rPr lang="zh-CN" altLang="en-US" dirty="0"/>
              <a:t>输出右括号</a:t>
            </a:r>
            <a:endParaRPr lang="zh-CN" altLang="en-US" dirty="0"/>
          </a:p>
          <a:p>
            <a:pPr marL="0" indent="0">
              <a:buNone/>
            </a:pPr>
            <a:r>
              <a:rPr lang="zh-CN" altLang="en-US" dirty="0"/>
              <a:t>	  </a:t>
            </a:r>
            <a:r>
              <a:rPr lang="en-US" altLang="zh-CN" dirty="0"/>
              <a:t>}	</a:t>
            </a:r>
            <a:endParaRPr lang="en-US" altLang="zh-CN" dirty="0"/>
          </a:p>
          <a:p>
            <a:pPr marL="0" indent="0">
              <a:buNone/>
            </a:pPr>
            <a:r>
              <a:rPr lang="en-US" altLang="zh-CN" dirty="0"/>
              <a:t>      }</a:t>
            </a:r>
            <a:endParaRPr lang="en-US" altLang="zh-CN" dirty="0"/>
          </a:p>
          <a:p>
            <a:pPr marL="0" indent="0">
              <a:buNone/>
            </a:pPr>
            <a:r>
              <a:rPr lang="en-US" altLang="zh-CN" dirty="0"/>
              <a:t>} ;</a:t>
            </a:r>
            <a:endParaRPr lang="en-US" altLang="zh-CN" dirty="0"/>
          </a:p>
          <a:p>
            <a:pPr marL="0" indent="0">
              <a:buNone/>
            </a:pPr>
            <a:endParaRPr lang="zh-CN" altLang="en-US" dirty="0"/>
          </a:p>
        </p:txBody>
      </p:sp>
      <p:sp>
        <p:nvSpPr>
          <p:cNvPr id="3" name="灯片编号占位符 2"/>
          <p:cNvSpPr>
            <a:spLocks noGrp="1"/>
          </p:cNvSpPr>
          <p:nvPr>
            <p:ph type="sldNum" sz="quarter" idx="4294967295"/>
          </p:nvPr>
        </p:nvSpPr>
        <p:spPr>
          <a:xfrm>
            <a:off x="0" y="6356350"/>
            <a:ext cx="3086100" cy="365125"/>
          </a:xfrm>
        </p:spPr>
        <p:txBody>
          <a:bodyPr/>
          <a:lstStyle/>
          <a:p>
            <a:fld id="{895A7F21-175E-415B-BECD-951623557D15}" type="slidenum">
              <a:rPr lang="en-US" altLang="zh-CN"/>
            </a:fld>
            <a:endParaRPr lang="en-US" altLang="zh-CN"/>
          </a:p>
        </p:txBody>
      </p:sp>
    </p:spTree>
  </p:cSld>
  <p:clrMapOvr>
    <a:masterClrMapping/>
  </p:clrMapOvr>
  <p:transition>
    <p:spli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前序遍历复制二叉树</a:t>
            </a:r>
            <a:endParaRPr lang="zh-CN" altLang="en-US" dirty="0"/>
          </a:p>
        </p:txBody>
      </p:sp>
      <p:sp>
        <p:nvSpPr>
          <p:cNvPr id="3" name="内容占位符 2"/>
          <p:cNvSpPr>
            <a:spLocks noGrp="1"/>
          </p:cNvSpPr>
          <p:nvPr>
            <p:ph idx="1"/>
          </p:nvPr>
        </p:nvSpPr>
        <p:spPr>
          <a:xfrm>
            <a:off x="628650" y="1825624"/>
            <a:ext cx="7886700" cy="4843735"/>
          </a:xfrm>
        </p:spPr>
        <p:txBody>
          <a:bodyPr>
            <a:normAutofit fontScale="55000" lnSpcReduction="20000"/>
          </a:bodyPr>
          <a:lstStyle/>
          <a:p>
            <a:pPr marL="0" indent="0">
              <a:buNone/>
            </a:pPr>
            <a:r>
              <a:rPr lang="en-US" altLang="zh-CN" dirty="0"/>
              <a:t>template &lt;class T&gt;  </a:t>
            </a:r>
            <a:endParaRPr lang="en-US" altLang="zh-CN" dirty="0"/>
          </a:p>
          <a:p>
            <a:pPr marL="0" indent="0">
              <a:buNone/>
            </a:pPr>
            <a:r>
              <a:rPr lang="en-US" altLang="zh-CN" dirty="0" err="1"/>
              <a:t>BinaryTree</a:t>
            </a:r>
            <a:r>
              <a:rPr lang="en-US" altLang="zh-CN" dirty="0"/>
              <a:t>&lt;T&gt;::</a:t>
            </a:r>
            <a:r>
              <a:rPr lang="en-US" altLang="zh-CN" dirty="0" err="1"/>
              <a:t>BinaryTree</a:t>
            </a:r>
            <a:r>
              <a:rPr lang="en-US" altLang="zh-CN" dirty="0"/>
              <a:t>(const </a:t>
            </a:r>
            <a:r>
              <a:rPr lang="en-US" altLang="zh-CN" dirty="0" err="1"/>
              <a:t>BinaryTree</a:t>
            </a:r>
            <a:r>
              <a:rPr lang="en-US" altLang="zh-CN" dirty="0"/>
              <a:t>&lt;T&gt;&amp; s) {</a:t>
            </a:r>
            <a:endParaRPr lang="en-US" altLang="zh-CN" dirty="0"/>
          </a:p>
          <a:p>
            <a:pPr marL="0" indent="0">
              <a:buNone/>
            </a:pPr>
            <a:r>
              <a:rPr lang="en-US" altLang="zh-CN" dirty="0"/>
              <a:t>       root = Copy(</a:t>
            </a:r>
            <a:r>
              <a:rPr lang="en-US" altLang="zh-CN" dirty="0" err="1"/>
              <a:t>s.root</a:t>
            </a:r>
            <a:r>
              <a:rPr lang="en-US" altLang="zh-CN" dirty="0"/>
              <a:t>);</a:t>
            </a:r>
            <a:endParaRPr lang="en-US" altLang="zh-CN" dirty="0"/>
          </a:p>
          <a:p>
            <a:pPr marL="0" indent="0">
              <a:buNone/>
            </a:pPr>
            <a:r>
              <a:rPr lang="en-US" altLang="zh-CN" dirty="0"/>
              <a:t> };</a:t>
            </a:r>
            <a:endParaRPr lang="en-US" altLang="zh-CN" dirty="0"/>
          </a:p>
          <a:p>
            <a:pPr marL="0" indent="0">
              <a:buNone/>
            </a:pPr>
            <a:endParaRPr lang="en-US" altLang="zh-CN" dirty="0"/>
          </a:p>
          <a:p>
            <a:pPr marL="0" indent="0">
              <a:buNone/>
            </a:pPr>
            <a:r>
              <a:rPr lang="en-US" altLang="zh-CN" dirty="0"/>
              <a:t>template &lt;class T&gt; </a:t>
            </a:r>
            <a:r>
              <a:rPr lang="en-US" altLang="zh-CN" dirty="0" err="1"/>
              <a:t>BinTreeNode</a:t>
            </a:r>
            <a:r>
              <a:rPr lang="en-US" altLang="zh-CN" dirty="0"/>
              <a:t>&lt;T&gt; *</a:t>
            </a:r>
            <a:r>
              <a:rPr lang="en-US" altLang="zh-CN" dirty="0" err="1"/>
              <a:t>BinaryTree</a:t>
            </a:r>
            <a:r>
              <a:rPr lang="en-US" altLang="zh-CN" dirty="0"/>
              <a:t>&lt;T&gt;::Copy(</a:t>
            </a:r>
            <a:r>
              <a:rPr lang="en-US" altLang="zh-CN" dirty="0" err="1"/>
              <a:t>BinTreeNode</a:t>
            </a:r>
            <a:r>
              <a:rPr lang="en-US" altLang="zh-CN" dirty="0"/>
              <a:t>&lt;T&gt; *</a:t>
            </a:r>
            <a:r>
              <a:rPr lang="en-US" altLang="zh-CN" dirty="0" err="1"/>
              <a:t>orignode</a:t>
            </a:r>
            <a:r>
              <a:rPr lang="en-US" altLang="zh-CN" dirty="0"/>
              <a:t>) {</a:t>
            </a:r>
            <a:endParaRPr lang="en-US" altLang="zh-CN" dirty="0"/>
          </a:p>
          <a:p>
            <a:pPr marL="0" indent="0">
              <a:buNone/>
            </a:pPr>
            <a:r>
              <a:rPr lang="en-US" altLang="zh-CN" dirty="0"/>
              <a:t>   if(</a:t>
            </a:r>
            <a:r>
              <a:rPr lang="en-US" altLang="zh-CN" dirty="0" err="1"/>
              <a:t>orignode</a:t>
            </a:r>
            <a:r>
              <a:rPr lang="en-US" altLang="zh-CN" dirty="0"/>
              <a:t> == NULL) return NULL;</a:t>
            </a:r>
            <a:endParaRPr lang="en-US" altLang="zh-CN" dirty="0"/>
          </a:p>
          <a:p>
            <a:pPr marL="0" indent="0">
              <a:buNone/>
            </a:pPr>
            <a:r>
              <a:rPr lang="en-US" altLang="zh-CN" dirty="0"/>
              <a:t>   </a:t>
            </a:r>
            <a:r>
              <a:rPr lang="en-US" altLang="zh-CN" dirty="0" err="1"/>
              <a:t>BinTreeNode</a:t>
            </a:r>
            <a:r>
              <a:rPr lang="en-US" altLang="zh-CN" dirty="0"/>
              <a:t>&lt;T&gt; *temp = new </a:t>
            </a:r>
            <a:r>
              <a:rPr lang="en-US" altLang="zh-CN" dirty="0" err="1"/>
              <a:t>BinTreeNode</a:t>
            </a:r>
            <a:r>
              <a:rPr lang="en-US" altLang="zh-CN" dirty="0"/>
              <a:t>&lt;T&gt;;</a:t>
            </a:r>
            <a:endParaRPr lang="en-US" altLang="zh-CN" dirty="0"/>
          </a:p>
          <a:p>
            <a:pPr marL="0" indent="0">
              <a:buNone/>
            </a:pPr>
            <a:r>
              <a:rPr lang="en-US" altLang="zh-CN" dirty="0"/>
              <a:t>   temp-&gt;data = </a:t>
            </a:r>
            <a:r>
              <a:rPr lang="en-US" altLang="zh-CN" dirty="0" err="1"/>
              <a:t>orignode</a:t>
            </a:r>
            <a:r>
              <a:rPr lang="en-US" altLang="zh-CN" dirty="0"/>
              <a:t>-&gt;data;</a:t>
            </a:r>
            <a:endParaRPr lang="en-US" altLang="zh-CN" dirty="0"/>
          </a:p>
          <a:p>
            <a:pPr marL="0" indent="0">
              <a:buNone/>
            </a:pPr>
            <a:r>
              <a:rPr lang="en-US" altLang="zh-CN" dirty="0"/>
              <a:t>   temp-&gt;</a:t>
            </a:r>
            <a:r>
              <a:rPr lang="en-US" altLang="zh-CN" dirty="0" err="1"/>
              <a:t>leftChild</a:t>
            </a:r>
            <a:r>
              <a:rPr lang="en-US" altLang="zh-CN" dirty="0"/>
              <a:t> = Copy(</a:t>
            </a:r>
            <a:r>
              <a:rPr lang="en-US" altLang="zh-CN" dirty="0" err="1"/>
              <a:t>orignode</a:t>
            </a:r>
            <a:r>
              <a:rPr lang="en-US" altLang="zh-CN" dirty="0"/>
              <a:t>-&gt;</a:t>
            </a:r>
            <a:r>
              <a:rPr lang="en-US" altLang="zh-CN" dirty="0" err="1"/>
              <a:t>leftChild</a:t>
            </a:r>
            <a:r>
              <a:rPr lang="en-US" altLang="zh-CN" dirty="0"/>
              <a:t>);</a:t>
            </a:r>
            <a:endParaRPr lang="en-US" altLang="zh-CN" dirty="0"/>
          </a:p>
          <a:p>
            <a:pPr marL="0" indent="0">
              <a:buNone/>
            </a:pPr>
            <a:r>
              <a:rPr lang="en-US" altLang="zh-CN" dirty="0"/>
              <a:t>   temp-&gt;</a:t>
            </a:r>
            <a:r>
              <a:rPr lang="en-US" altLang="zh-CN" dirty="0" err="1"/>
              <a:t>rightChild</a:t>
            </a:r>
            <a:r>
              <a:rPr lang="en-US" altLang="zh-CN" dirty="0"/>
              <a:t> = Copy(</a:t>
            </a:r>
            <a:r>
              <a:rPr lang="en-US" altLang="zh-CN" dirty="0" err="1"/>
              <a:t>orignode</a:t>
            </a:r>
            <a:r>
              <a:rPr lang="en-US" altLang="zh-CN" dirty="0"/>
              <a:t>-&gt;</a:t>
            </a:r>
            <a:r>
              <a:rPr lang="en-US" altLang="zh-CN" dirty="0" err="1"/>
              <a:t>rightChild</a:t>
            </a:r>
            <a:r>
              <a:rPr lang="en-US" altLang="zh-CN" dirty="0"/>
              <a:t>);</a:t>
            </a:r>
            <a:endParaRPr lang="en-US" altLang="zh-CN" dirty="0"/>
          </a:p>
          <a:p>
            <a:pPr marL="0" indent="0">
              <a:buNone/>
            </a:pPr>
            <a:r>
              <a:rPr lang="en-US" altLang="zh-CN" dirty="0"/>
              <a:t>   return temp;</a:t>
            </a:r>
            <a:endParaRPr lang="en-US" altLang="zh-CN" dirty="0"/>
          </a:p>
          <a:p>
            <a:pPr marL="0" indent="0">
              <a:buNone/>
            </a:pPr>
            <a:r>
              <a:rPr lang="en-US" altLang="zh-CN" dirty="0"/>
              <a:t>}</a:t>
            </a:r>
            <a:endParaRPr lang="en-US" altLang="zh-CN" dirty="0"/>
          </a:p>
          <a:p>
            <a:pPr marL="0" indent="0">
              <a:buNone/>
            </a:pP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365125"/>
            <a:ext cx="7687766" cy="1325563"/>
          </a:xfrm>
        </p:spPr>
        <p:txBody>
          <a:bodyPr>
            <a:normAutofit/>
          </a:bodyPr>
          <a:lstStyle/>
          <a:p>
            <a:r>
              <a:rPr lang="zh-CN" altLang="en-US" dirty="0"/>
              <a:t>前序遍历判断二叉树相等</a:t>
            </a:r>
            <a:endParaRPr lang="zh-CN" altLang="en-US" dirty="0"/>
          </a:p>
        </p:txBody>
      </p:sp>
      <p:sp>
        <p:nvSpPr>
          <p:cNvPr id="3" name="内容占位符 2"/>
          <p:cNvSpPr>
            <a:spLocks noGrp="1"/>
          </p:cNvSpPr>
          <p:nvPr>
            <p:ph idx="1"/>
          </p:nvPr>
        </p:nvSpPr>
        <p:spPr>
          <a:xfrm>
            <a:off x="107504" y="1690688"/>
            <a:ext cx="8784976" cy="4978671"/>
          </a:xfrm>
        </p:spPr>
        <p:txBody>
          <a:bodyPr>
            <a:normAutofit fontScale="55000" lnSpcReduction="20000"/>
          </a:bodyPr>
          <a:lstStyle/>
          <a:p>
            <a:pPr marL="0" indent="0">
              <a:buNone/>
            </a:pPr>
            <a:r>
              <a:rPr lang="en-US" altLang="zh-CN" dirty="0"/>
              <a:t>template &lt;class T&gt;</a:t>
            </a:r>
            <a:endParaRPr lang="en-US" altLang="zh-CN" dirty="0"/>
          </a:p>
          <a:p>
            <a:pPr marL="0" indent="0">
              <a:buNone/>
            </a:pPr>
            <a:r>
              <a:rPr lang="en-US" altLang="zh-CN" dirty="0"/>
              <a:t>int operator == (const </a:t>
            </a:r>
            <a:r>
              <a:rPr lang="en-US" altLang="zh-CN" dirty="0" err="1"/>
              <a:t>BinaryTree</a:t>
            </a:r>
            <a:r>
              <a:rPr lang="en-US" altLang="zh-CN" dirty="0"/>
              <a:t>&lt;T&gt;&amp; s, const </a:t>
            </a:r>
            <a:r>
              <a:rPr lang="en-US" altLang="zh-CN" dirty="0" err="1"/>
              <a:t>BinaryTree</a:t>
            </a:r>
            <a:r>
              <a:rPr lang="en-US" altLang="zh-CN" dirty="0"/>
              <a:t>&lt;T&gt;&amp; t) {</a:t>
            </a:r>
            <a:endParaRPr lang="en-US" altLang="zh-CN" dirty="0"/>
          </a:p>
          <a:p>
            <a:pPr marL="0" indent="0">
              <a:buNone/>
            </a:pPr>
            <a:r>
              <a:rPr lang="en-US" altLang="zh-CN" dirty="0"/>
              <a:t>      return (equal(</a:t>
            </a:r>
            <a:r>
              <a:rPr lang="en-US" altLang="zh-CN" dirty="0" err="1"/>
              <a:t>s.root</a:t>
            </a:r>
            <a:r>
              <a:rPr lang="en-US" altLang="zh-CN" dirty="0"/>
              <a:t>, </a:t>
            </a:r>
            <a:r>
              <a:rPr lang="en-US" altLang="zh-CN" dirty="0" err="1"/>
              <a:t>t.root</a:t>
            </a:r>
            <a:r>
              <a:rPr lang="en-US" altLang="zh-CN" dirty="0"/>
              <a:t>))? </a:t>
            </a:r>
            <a:r>
              <a:rPr lang="en-US" altLang="zh-CN" dirty="0" err="1"/>
              <a:t>true:false</a:t>
            </a:r>
            <a:r>
              <a:rPr lang="en-US" altLang="zh-CN" dirty="0"/>
              <a:t>;</a:t>
            </a:r>
            <a:endParaRPr lang="en-US" altLang="zh-CN" dirty="0"/>
          </a:p>
          <a:p>
            <a:pPr marL="0" indent="0">
              <a:buNone/>
            </a:pPr>
            <a:r>
              <a:rPr lang="en-US" altLang="zh-CN" dirty="0"/>
              <a:t>}</a:t>
            </a:r>
            <a:endParaRPr lang="en-US" altLang="zh-CN" dirty="0"/>
          </a:p>
          <a:p>
            <a:pPr marL="0" indent="0">
              <a:buNone/>
            </a:pPr>
            <a:endParaRPr lang="en-US" altLang="zh-CN" dirty="0"/>
          </a:p>
          <a:p>
            <a:pPr marL="0" indent="0">
              <a:buNone/>
            </a:pPr>
            <a:r>
              <a:rPr lang="en-US" altLang="zh-CN" dirty="0"/>
              <a:t>template &lt;class T&gt;</a:t>
            </a:r>
            <a:endParaRPr lang="en-US" altLang="zh-CN" dirty="0"/>
          </a:p>
          <a:p>
            <a:pPr marL="0" indent="0">
              <a:buNone/>
            </a:pPr>
            <a:r>
              <a:rPr lang="en-US" altLang="zh-CN" dirty="0"/>
              <a:t>bool equal(</a:t>
            </a:r>
            <a:r>
              <a:rPr lang="en-US" altLang="zh-CN" dirty="0" err="1"/>
              <a:t>BinTreeNode</a:t>
            </a:r>
            <a:r>
              <a:rPr lang="en-US" altLang="zh-CN" dirty="0"/>
              <a:t>&lt;T&gt; *a, </a:t>
            </a:r>
            <a:r>
              <a:rPr lang="en-US" altLang="zh-CN" dirty="0" err="1"/>
              <a:t>BinTreeNode</a:t>
            </a:r>
            <a:r>
              <a:rPr lang="en-US" altLang="zh-CN" dirty="0"/>
              <a:t>&lt;T&gt; *b) {</a:t>
            </a:r>
            <a:endParaRPr lang="en-US" altLang="zh-CN" dirty="0"/>
          </a:p>
          <a:p>
            <a:pPr marL="0" indent="0">
              <a:buNone/>
            </a:pPr>
            <a:r>
              <a:rPr lang="en-US" altLang="zh-CN" dirty="0"/>
              <a:t>     if(a == NULL&amp;&amp;b==NULL) return true;</a:t>
            </a:r>
            <a:endParaRPr lang="en-US" altLang="zh-CN" dirty="0"/>
          </a:p>
          <a:p>
            <a:pPr marL="0" indent="0">
              <a:buNone/>
            </a:pPr>
            <a:r>
              <a:rPr lang="en-US" altLang="zh-CN" dirty="0"/>
              <a:t>     if(a != NULL&amp;&amp; b != NULL &amp;&amp; </a:t>
            </a:r>
            <a:endParaRPr lang="en-US" altLang="zh-CN" dirty="0"/>
          </a:p>
          <a:p>
            <a:pPr marL="0" indent="0">
              <a:buNone/>
            </a:pPr>
            <a:r>
              <a:rPr lang="en-US" altLang="zh-CN" dirty="0"/>
              <a:t>         a-&gt;data == b-&gt;data &amp;&amp; </a:t>
            </a:r>
            <a:endParaRPr lang="en-US" altLang="zh-CN" dirty="0"/>
          </a:p>
          <a:p>
            <a:pPr marL="0" indent="0">
              <a:buNone/>
            </a:pPr>
            <a:r>
              <a:rPr lang="en-US" altLang="zh-CN" dirty="0"/>
              <a:t>         equal(a-&gt;</a:t>
            </a:r>
            <a:r>
              <a:rPr lang="en-US" altLang="zh-CN" dirty="0" err="1"/>
              <a:t>leftChild</a:t>
            </a:r>
            <a:r>
              <a:rPr lang="en-US" altLang="zh-CN" dirty="0"/>
              <a:t>, b-&gt;</a:t>
            </a:r>
            <a:r>
              <a:rPr lang="en-US" altLang="zh-CN" dirty="0" err="1"/>
              <a:t>leftChild</a:t>
            </a:r>
            <a:r>
              <a:rPr lang="en-US" altLang="zh-CN" dirty="0"/>
              <a:t>) &amp;&amp; </a:t>
            </a:r>
            <a:endParaRPr lang="en-US" altLang="zh-CN" dirty="0"/>
          </a:p>
          <a:p>
            <a:pPr marL="0" indent="0">
              <a:buNone/>
            </a:pPr>
            <a:r>
              <a:rPr lang="en-US" altLang="zh-CN" dirty="0"/>
              <a:t>         equal(a-&gt;</a:t>
            </a:r>
            <a:r>
              <a:rPr lang="en-US" altLang="zh-CN" dirty="0" err="1"/>
              <a:t>rightChild</a:t>
            </a:r>
            <a:r>
              <a:rPr lang="en-US" altLang="zh-CN" dirty="0"/>
              <a:t>, b-&gt;</a:t>
            </a:r>
            <a:r>
              <a:rPr lang="en-US" altLang="zh-CN" dirty="0" err="1"/>
              <a:t>rightChild</a:t>
            </a:r>
            <a:r>
              <a:rPr lang="en-US" altLang="zh-CN" dirty="0"/>
              <a:t>)) return true;</a:t>
            </a:r>
            <a:endParaRPr lang="en-US" altLang="zh-CN" dirty="0"/>
          </a:p>
          <a:p>
            <a:pPr marL="0" indent="0">
              <a:buNone/>
            </a:pPr>
            <a:r>
              <a:rPr lang="en-US" altLang="zh-CN" dirty="0"/>
              <a:t>     else return false;</a:t>
            </a:r>
            <a:endParaRPr lang="en-US" altLang="zh-CN" dirty="0"/>
          </a:p>
          <a:p>
            <a:pPr marL="0" indent="0">
              <a:buNone/>
            </a:pPr>
            <a:r>
              <a:rPr lang="en-US" altLang="zh-CN" dirty="0"/>
              <a:t>}</a:t>
            </a: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8119814" cy="1325563"/>
          </a:xfrm>
        </p:spPr>
        <p:txBody>
          <a:bodyPr/>
          <a:lstStyle/>
          <a:p>
            <a:r>
              <a:rPr lang="zh-CN" altLang="en-US" dirty="0"/>
              <a:t>前序遍历按缩进形式输出二叉树</a:t>
            </a:r>
            <a:endParaRPr lang="zh-CN" altLang="en-US" dirty="0"/>
          </a:p>
        </p:txBody>
      </p:sp>
      <p:sp>
        <p:nvSpPr>
          <p:cNvPr id="5" name="内容占位符 4"/>
          <p:cNvSpPr>
            <a:spLocks noGrp="1"/>
          </p:cNvSpPr>
          <p:nvPr>
            <p:ph idx="1"/>
          </p:nvPr>
        </p:nvSpPr>
        <p:spPr>
          <a:xfrm>
            <a:off x="628650" y="1825625"/>
            <a:ext cx="8119814" cy="4667250"/>
          </a:xfrm>
        </p:spPr>
        <p:txBody>
          <a:bodyPr>
            <a:normAutofit fontScale="47500" lnSpcReduction="20000"/>
          </a:bodyPr>
          <a:lstStyle/>
          <a:p>
            <a:r>
              <a:rPr lang="zh-CN" altLang="en-US" dirty="0"/>
              <a:t>使用一个层次数 </a:t>
            </a:r>
            <a:r>
              <a:rPr lang="en-US" altLang="zh-CN" dirty="0"/>
              <a:t>k </a:t>
            </a:r>
            <a:r>
              <a:rPr lang="zh-CN" altLang="en-US" dirty="0"/>
              <a:t>控制输出各层次时向右移格的数目。算法步骤如下：</a:t>
            </a:r>
            <a:endParaRPr lang="zh-CN" altLang="en-US" dirty="0"/>
          </a:p>
          <a:p>
            <a:pPr lvl="1"/>
            <a:r>
              <a:rPr lang="zh-CN" altLang="en-US" dirty="0"/>
              <a:t>若子树为空，在相应位置输出“</a:t>
            </a:r>
            <a:r>
              <a:rPr lang="en-US" altLang="zh-CN" dirty="0"/>
              <a:t>#”</a:t>
            </a:r>
            <a:r>
              <a:rPr lang="zh-CN" altLang="en-US" dirty="0"/>
              <a:t>；</a:t>
            </a:r>
            <a:endParaRPr lang="zh-CN" altLang="en-US" dirty="0"/>
          </a:p>
          <a:p>
            <a:pPr lvl="1"/>
            <a:r>
              <a:rPr lang="zh-CN" altLang="en-US" dirty="0"/>
              <a:t>若子树非空，在相应位置输出子树根结点的值，再对它的左孩子和右孩子依次在</a:t>
            </a:r>
            <a:r>
              <a:rPr lang="en-US" altLang="zh-CN" dirty="0"/>
              <a:t>k+1</a:t>
            </a:r>
            <a:r>
              <a:rPr lang="zh-CN" altLang="en-US" dirty="0"/>
              <a:t>层的相应位置递归输出。</a:t>
            </a:r>
            <a:endParaRPr lang="zh-CN" altLang="en-US" dirty="0"/>
          </a:p>
          <a:p>
            <a:pPr marL="0" indent="0">
              <a:buNone/>
            </a:pPr>
            <a:r>
              <a:rPr lang="en-US" altLang="zh-CN" dirty="0"/>
              <a:t>template &lt;class T&gt;  void </a:t>
            </a:r>
            <a:r>
              <a:rPr lang="en-US" altLang="zh-CN" dirty="0" err="1"/>
              <a:t>BinaryTree</a:t>
            </a:r>
            <a:r>
              <a:rPr lang="en-US" altLang="zh-CN" dirty="0"/>
              <a:t>&lt;T&gt;::</a:t>
            </a:r>
            <a:r>
              <a:rPr lang="en-US" altLang="zh-CN" dirty="0" err="1"/>
              <a:t>OutputNest</a:t>
            </a:r>
            <a:r>
              <a:rPr lang="en-US" altLang="zh-CN" dirty="0"/>
              <a:t>(</a:t>
            </a:r>
            <a:r>
              <a:rPr lang="en-US" altLang="zh-CN" dirty="0" err="1"/>
              <a:t>BinTreeNode</a:t>
            </a:r>
            <a:r>
              <a:rPr lang="en-US" altLang="zh-CN" dirty="0"/>
              <a:t>&lt;T&gt; *t, int k) {</a:t>
            </a:r>
            <a:endParaRPr lang="en-US" altLang="zh-CN" dirty="0"/>
          </a:p>
          <a:p>
            <a:pPr marL="0" indent="0">
              <a:buNone/>
            </a:pPr>
            <a:r>
              <a:rPr lang="en-US" altLang="zh-CN" dirty="0"/>
              <a:t>     for (int </a:t>
            </a:r>
            <a:r>
              <a:rPr lang="en-US" altLang="zh-CN" dirty="0" err="1"/>
              <a:t>i</a:t>
            </a:r>
            <a:r>
              <a:rPr lang="en-US" altLang="zh-CN" dirty="0"/>
              <a:t> = 0; </a:t>
            </a:r>
            <a:r>
              <a:rPr lang="en-US" altLang="zh-CN" dirty="0" err="1"/>
              <a:t>i</a:t>
            </a:r>
            <a:r>
              <a:rPr lang="en-US" altLang="zh-CN" dirty="0"/>
              <a:t> &lt; 3*(k-1); </a:t>
            </a:r>
            <a:r>
              <a:rPr lang="en-US" altLang="zh-CN" dirty="0" err="1"/>
              <a:t>i</a:t>
            </a:r>
            <a:r>
              <a:rPr lang="en-US" altLang="zh-CN" dirty="0"/>
              <a:t>++) </a:t>
            </a:r>
            <a:r>
              <a:rPr lang="en-US" altLang="zh-CN" dirty="0" err="1"/>
              <a:t>cout</a:t>
            </a:r>
            <a:r>
              <a:rPr lang="en-US" altLang="zh-CN" dirty="0"/>
              <a:t> &lt;&lt; " ";</a:t>
            </a:r>
            <a:endParaRPr lang="en-US" altLang="zh-CN" dirty="0"/>
          </a:p>
          <a:p>
            <a:pPr marL="0" indent="0">
              <a:buNone/>
            </a:pPr>
            <a:r>
              <a:rPr lang="en-US" altLang="zh-CN" dirty="0"/>
              <a:t>     if (t != NULL) {		    //</a:t>
            </a:r>
            <a:r>
              <a:rPr lang="zh-CN" altLang="en-US" dirty="0"/>
              <a:t>非空树</a:t>
            </a:r>
            <a:endParaRPr lang="zh-CN" altLang="en-US" dirty="0"/>
          </a:p>
          <a:p>
            <a:pPr marL="0" indent="0">
              <a:buNone/>
            </a:pPr>
            <a:r>
              <a:rPr lang="zh-CN" altLang="en-US" dirty="0"/>
              <a:t>          	</a:t>
            </a:r>
            <a:r>
              <a:rPr lang="en-US" altLang="zh-CN" dirty="0" err="1"/>
              <a:t>cout</a:t>
            </a:r>
            <a:r>
              <a:rPr lang="en-US" altLang="zh-CN" dirty="0"/>
              <a:t> &lt;&lt; t-&gt;data &lt;&lt; </a:t>
            </a:r>
            <a:r>
              <a:rPr lang="en-US" altLang="zh-CN" dirty="0" err="1"/>
              <a:t>endl</a:t>
            </a:r>
            <a:r>
              <a:rPr lang="en-US" altLang="zh-CN" dirty="0"/>
              <a:t>;   //</a:t>
            </a:r>
            <a:r>
              <a:rPr lang="zh-CN" altLang="en-US" dirty="0"/>
              <a:t>输出*</a:t>
            </a:r>
            <a:r>
              <a:rPr lang="en-US" altLang="zh-CN" dirty="0"/>
              <a:t>t</a:t>
            </a:r>
            <a:r>
              <a:rPr lang="zh-CN" altLang="en-US" dirty="0"/>
              <a:t>的数据值</a:t>
            </a:r>
            <a:endParaRPr lang="zh-CN" altLang="en-US" dirty="0"/>
          </a:p>
          <a:p>
            <a:pPr marL="0" indent="0">
              <a:buNone/>
            </a:pPr>
            <a:r>
              <a:rPr lang="zh-CN" altLang="en-US" dirty="0"/>
              <a:t>	</a:t>
            </a:r>
            <a:r>
              <a:rPr lang="en-US" altLang="zh-CN" dirty="0" err="1"/>
              <a:t>OutputNest</a:t>
            </a:r>
            <a:r>
              <a:rPr lang="en-US" altLang="zh-CN" dirty="0"/>
              <a:t>(t-&gt;</a:t>
            </a:r>
            <a:r>
              <a:rPr lang="en-US" altLang="zh-CN" dirty="0" err="1"/>
              <a:t>leftChild</a:t>
            </a:r>
            <a:r>
              <a:rPr lang="en-US" altLang="zh-CN" dirty="0"/>
              <a:t>, k+1);     //</a:t>
            </a:r>
            <a:r>
              <a:rPr lang="zh-CN" altLang="en-US" dirty="0"/>
              <a:t>递归输出*</a:t>
            </a:r>
            <a:r>
              <a:rPr lang="en-US" altLang="zh-CN" dirty="0"/>
              <a:t>t</a:t>
            </a:r>
            <a:r>
              <a:rPr lang="zh-CN" altLang="en-US" dirty="0"/>
              <a:t>下层的左子树</a:t>
            </a:r>
            <a:endParaRPr lang="zh-CN" altLang="en-US" dirty="0"/>
          </a:p>
          <a:p>
            <a:pPr marL="0" indent="0">
              <a:buNone/>
            </a:pPr>
            <a:r>
              <a:rPr lang="zh-CN" altLang="en-US" dirty="0"/>
              <a:t>	</a:t>
            </a:r>
            <a:r>
              <a:rPr lang="en-US" altLang="zh-CN" dirty="0" err="1"/>
              <a:t>OutputNest</a:t>
            </a:r>
            <a:r>
              <a:rPr lang="en-US" altLang="zh-CN" dirty="0"/>
              <a:t>(t-&gt;</a:t>
            </a:r>
            <a:r>
              <a:rPr lang="en-US" altLang="zh-CN" dirty="0" err="1"/>
              <a:t>rightChild</a:t>
            </a:r>
            <a:r>
              <a:rPr lang="en-US" altLang="zh-CN" dirty="0"/>
              <a:t>, k+1);     //</a:t>
            </a:r>
            <a:r>
              <a:rPr lang="zh-CN" altLang="en-US" dirty="0"/>
              <a:t>递归输出*</a:t>
            </a:r>
            <a:r>
              <a:rPr lang="en-US" altLang="zh-CN" dirty="0"/>
              <a:t>t</a:t>
            </a:r>
            <a:r>
              <a:rPr lang="zh-CN" altLang="en-US" dirty="0"/>
              <a:t>下层的右子树</a:t>
            </a:r>
            <a:endParaRPr lang="zh-CN" altLang="en-US" dirty="0"/>
          </a:p>
          <a:p>
            <a:pPr marL="0" indent="0">
              <a:buNone/>
            </a:pPr>
            <a:r>
              <a:rPr lang="zh-CN" altLang="en-US" dirty="0"/>
              <a:t>     </a:t>
            </a:r>
            <a:r>
              <a:rPr lang="en-US" altLang="zh-CN" dirty="0"/>
              <a:t>}</a:t>
            </a:r>
            <a:endParaRPr lang="en-US" altLang="zh-CN" dirty="0"/>
          </a:p>
          <a:p>
            <a:pPr marL="0" indent="0">
              <a:buNone/>
            </a:pPr>
            <a:r>
              <a:rPr lang="en-US" altLang="zh-CN" dirty="0"/>
              <a:t>     else </a:t>
            </a:r>
            <a:r>
              <a:rPr lang="en-US" altLang="zh-CN" dirty="0" err="1"/>
              <a:t>cout</a:t>
            </a:r>
            <a:r>
              <a:rPr lang="en-US" altLang="zh-CN" dirty="0"/>
              <a:t> &lt;&lt; "#" &lt;&lt; </a:t>
            </a:r>
            <a:r>
              <a:rPr lang="en-US" altLang="zh-CN" dirty="0" err="1"/>
              <a:t>endl</a:t>
            </a:r>
            <a:r>
              <a:rPr lang="en-US" altLang="zh-CN" dirty="0"/>
              <a:t>; 	    //</a:t>
            </a:r>
            <a:r>
              <a:rPr lang="zh-CN" altLang="en-US" dirty="0"/>
              <a:t>空树</a:t>
            </a:r>
            <a:endParaRPr lang="zh-CN" altLang="en-US" dirty="0"/>
          </a:p>
          <a:p>
            <a:pPr marL="0" indent="0">
              <a:buNone/>
            </a:pPr>
            <a:r>
              <a:rPr lang="en-US" altLang="zh-CN" dirty="0"/>
              <a:t>};</a:t>
            </a:r>
            <a:endParaRPr lang="en-US" altLang="zh-CN" dirty="0"/>
          </a:p>
          <a:p>
            <a:pPr marL="0" indent="0">
              <a:buNone/>
            </a:pPr>
            <a:endParaRPr lang="en-US" altLang="zh-CN" dirty="0"/>
          </a:p>
          <a:p>
            <a:pPr marL="0" indent="0">
              <a:buNone/>
            </a:pPr>
            <a:r>
              <a:rPr lang="zh-CN" altLang="en-US" dirty="0"/>
              <a:t>程序效果见下一页</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6C097568-379C-4F30-9332-440D4F0AB230}" type="slidenum">
              <a:rPr lang="en-US" altLang="zh-CN"/>
            </a:fld>
            <a:endParaRPr lang="en-US" altLang="zh-CN"/>
          </a:p>
        </p:txBody>
      </p:sp>
      <p:graphicFrame>
        <p:nvGraphicFramePr>
          <p:cNvPr id="477054" name="Group 894"/>
          <p:cNvGraphicFramePr>
            <a:graphicFrameLocks noGrp="1"/>
          </p:cNvGraphicFramePr>
          <p:nvPr>
            <p:ph sz="half" idx="2"/>
          </p:nvPr>
        </p:nvGraphicFramePr>
        <p:xfrm>
          <a:off x="4886325" y="458788"/>
          <a:ext cx="3141663" cy="5943600"/>
        </p:xfrm>
        <a:graphic>
          <a:graphicData uri="http://schemas.openxmlformats.org/drawingml/2006/table">
            <a:tbl>
              <a:tblPr/>
              <a:tblGrid>
                <a:gridCol w="449263"/>
                <a:gridCol w="447675"/>
                <a:gridCol w="449262"/>
                <a:gridCol w="449263"/>
                <a:gridCol w="447675"/>
                <a:gridCol w="449262"/>
                <a:gridCol w="449263"/>
              </a:tblGrid>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A</a:t>
                      </a:r>
                      <a:endPar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r>
              <a:tr h="3000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B</a:t>
                      </a:r>
                      <a:endPar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a:t>
                      </a:r>
                      <a:endPar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D</a:t>
                      </a:r>
                      <a:endPar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r>
              <a:tr h="3000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a:t>
                      </a:r>
                      <a:endPar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a:t>
                      </a:r>
                      <a:endPar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C</a:t>
                      </a:r>
                      <a:endPar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E</a:t>
                      </a:r>
                      <a:endPar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r>
              <a:tr h="3000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a:t>
                      </a:r>
                      <a:endPar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a:t>
                      </a:r>
                      <a:endPar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F</a:t>
                      </a:r>
                      <a:endPar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r>
              <a:tr h="3000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a:t>
                      </a:r>
                      <a:endPar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a:t>
                      </a:r>
                      <a:endParaRPr kumimoji="0" lang="en-US" altLang="zh-CN" sz="24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r>
            </a:tbl>
          </a:graphicData>
        </a:graphic>
      </p:graphicFrame>
      <p:sp>
        <p:nvSpPr>
          <p:cNvPr id="23177" name="Text Box 433"/>
          <p:cNvSpPr txBox="1">
            <a:spLocks noGrp="1" noChangeArrowheads="1"/>
          </p:cNvSpPr>
          <p:nvPr>
            <p:ph type="body" sz="half" idx="1"/>
          </p:nvPr>
        </p:nvSpPr>
        <p:spPr>
          <a:xfrm>
            <a:off x="468313" y="2565400"/>
            <a:ext cx="4038600" cy="3924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lnSpc>
                <a:spcPct val="105000"/>
              </a:lnSpc>
              <a:spcBef>
                <a:spcPct val="15000"/>
              </a:spcBef>
              <a:buClr>
                <a:srgbClr val="800080"/>
              </a:buClr>
              <a:buSzPct val="55000"/>
            </a:pPr>
            <a:r>
              <a:rPr lang="zh-CN" altLang="en-US" sz="3200" dirty="0"/>
              <a:t>上面二叉树的凹入表形式如右图所示。</a:t>
            </a:r>
            <a:endParaRPr lang="zh-CN" altLang="en-US" sz="3200" dirty="0"/>
          </a:p>
          <a:p>
            <a:pPr algn="just">
              <a:lnSpc>
                <a:spcPct val="105000"/>
              </a:lnSpc>
              <a:spcBef>
                <a:spcPct val="15000"/>
              </a:spcBef>
              <a:buClr>
                <a:srgbClr val="800080"/>
              </a:buClr>
              <a:buSzPct val="55000"/>
            </a:pPr>
            <a:r>
              <a:rPr lang="zh-CN" altLang="en-US" sz="3200" dirty="0"/>
              <a:t>空树也输出了“</a:t>
            </a:r>
            <a:r>
              <a:rPr lang="en-US" altLang="zh-CN" sz="3200" dirty="0"/>
              <a:t>#”</a:t>
            </a:r>
            <a:r>
              <a:rPr lang="zh-CN" altLang="en-US" sz="3200" dirty="0"/>
              <a:t>，以区分左、右子树。</a:t>
            </a:r>
            <a:endParaRPr lang="zh-CN" altLang="en-US" sz="3200" dirty="0"/>
          </a:p>
        </p:txBody>
      </p:sp>
      <p:grpSp>
        <p:nvGrpSpPr>
          <p:cNvPr id="476241" name="Group 81"/>
          <p:cNvGrpSpPr/>
          <p:nvPr/>
        </p:nvGrpSpPr>
        <p:grpSpPr bwMode="auto">
          <a:xfrm>
            <a:off x="1258888" y="657225"/>
            <a:ext cx="3122612" cy="1728788"/>
            <a:chOff x="612" y="1752"/>
            <a:chExt cx="1967" cy="1089"/>
          </a:xfrm>
        </p:grpSpPr>
        <p:grpSp>
          <p:nvGrpSpPr>
            <p:cNvPr id="476238" name="Group 78"/>
            <p:cNvGrpSpPr/>
            <p:nvPr/>
          </p:nvGrpSpPr>
          <p:grpSpPr bwMode="auto">
            <a:xfrm>
              <a:off x="612" y="1783"/>
              <a:ext cx="1746" cy="1010"/>
              <a:chOff x="612" y="1783"/>
              <a:chExt cx="1746" cy="1010"/>
            </a:xfrm>
          </p:grpSpPr>
          <p:cxnSp>
            <p:nvCxnSpPr>
              <p:cNvPr id="22723" name="Line 395"/>
              <p:cNvCxnSpPr>
                <a:cxnSpLocks noChangeShapeType="1"/>
              </p:cNvCxnSpPr>
              <p:nvPr/>
            </p:nvCxnSpPr>
            <p:spPr bwMode="auto">
              <a:xfrm>
                <a:off x="1982" y="2337"/>
                <a:ext cx="233" cy="325"/>
              </a:xfrm>
              <a:prstGeom prst="line">
                <a:avLst/>
              </a:prstGeom>
              <a:noFill/>
              <a:ln w="28575">
                <a:solidFill>
                  <a:schemeClr val="bg2"/>
                </a:solidFill>
                <a:round/>
              </a:ln>
              <a:extLst>
                <a:ext uri="{909E8E84-426E-40DD-AFC4-6F175D3DCCD1}">
                  <a14:hiddenFill xmlns:a14="http://schemas.microsoft.com/office/drawing/2010/main">
                    <a:noFill/>
                  </a14:hiddenFill>
                </a:ext>
              </a:extLst>
            </p:spPr>
          </p:cxnSp>
          <p:cxnSp>
            <p:nvCxnSpPr>
              <p:cNvPr id="22726" name="Line 420"/>
              <p:cNvCxnSpPr>
                <a:cxnSpLocks noChangeShapeType="1"/>
              </p:cNvCxnSpPr>
              <p:nvPr/>
            </p:nvCxnSpPr>
            <p:spPr bwMode="auto">
              <a:xfrm flipH="1">
                <a:off x="1616" y="2275"/>
                <a:ext cx="344" cy="366"/>
              </a:xfrm>
              <a:prstGeom prst="line">
                <a:avLst/>
              </a:prstGeom>
              <a:noFill/>
              <a:ln w="28575">
                <a:solidFill>
                  <a:schemeClr val="bg2"/>
                </a:solidFill>
                <a:round/>
              </a:ln>
              <a:extLst>
                <a:ext uri="{909E8E84-426E-40DD-AFC4-6F175D3DCCD1}">
                  <a14:hiddenFill xmlns:a14="http://schemas.microsoft.com/office/drawing/2010/main">
                    <a:noFill/>
                  </a14:hiddenFill>
                </a:ext>
              </a:extLst>
            </p:spPr>
          </p:cxnSp>
          <p:sp>
            <p:nvSpPr>
              <p:cNvPr id="22728" name="Oval 392"/>
              <p:cNvSpPr>
                <a:spLocks noChangeArrowheads="1"/>
              </p:cNvSpPr>
              <p:nvPr/>
            </p:nvSpPr>
            <p:spPr bwMode="auto">
              <a:xfrm>
                <a:off x="2067" y="2510"/>
                <a:ext cx="291" cy="280"/>
              </a:xfrm>
              <a:prstGeom prst="ellipse">
                <a:avLst/>
              </a:prstGeom>
              <a:solidFill>
                <a:srgbClr val="FFFFFF"/>
              </a:solidFill>
              <a:ln w="28575">
                <a:solidFill>
                  <a:schemeClr val="bg2"/>
                </a:solidFill>
                <a:round/>
              </a:ln>
            </p:spPr>
            <p:txBody>
              <a:bodyPr/>
              <a:lstStyle/>
              <a:p>
                <a:endParaRPr lang="zh-CN" altLang="en-US"/>
              </a:p>
            </p:txBody>
          </p:sp>
          <p:cxnSp>
            <p:nvCxnSpPr>
              <p:cNvPr id="23032" name="Line 421"/>
              <p:cNvCxnSpPr>
                <a:cxnSpLocks noChangeShapeType="1"/>
              </p:cNvCxnSpPr>
              <p:nvPr/>
            </p:nvCxnSpPr>
            <p:spPr bwMode="auto">
              <a:xfrm>
                <a:off x="1434" y="1956"/>
                <a:ext cx="447" cy="271"/>
              </a:xfrm>
              <a:prstGeom prst="line">
                <a:avLst/>
              </a:prstGeom>
              <a:noFill/>
              <a:ln w="28575">
                <a:solidFill>
                  <a:schemeClr val="bg2"/>
                </a:solidFill>
                <a:round/>
              </a:ln>
              <a:extLst>
                <a:ext uri="{909E8E84-426E-40DD-AFC4-6F175D3DCCD1}">
                  <a14:hiddenFill xmlns:a14="http://schemas.microsoft.com/office/drawing/2010/main">
                    <a:noFill/>
                  </a14:hiddenFill>
                </a:ext>
              </a:extLst>
            </p:spPr>
          </p:cxnSp>
          <p:cxnSp>
            <p:nvCxnSpPr>
              <p:cNvPr id="23033" name="Line 421"/>
              <p:cNvCxnSpPr>
                <a:cxnSpLocks noChangeShapeType="1"/>
              </p:cNvCxnSpPr>
              <p:nvPr/>
            </p:nvCxnSpPr>
            <p:spPr bwMode="auto">
              <a:xfrm flipH="1">
                <a:off x="804" y="1956"/>
                <a:ext cx="486" cy="270"/>
              </a:xfrm>
              <a:prstGeom prst="line">
                <a:avLst/>
              </a:prstGeom>
              <a:noFill/>
              <a:ln w="28575">
                <a:solidFill>
                  <a:schemeClr val="bg2"/>
                </a:solidFill>
                <a:round/>
              </a:ln>
              <a:extLst>
                <a:ext uri="{909E8E84-426E-40DD-AFC4-6F175D3DCCD1}">
                  <a14:hiddenFill xmlns:a14="http://schemas.microsoft.com/office/drawing/2010/main">
                    <a:noFill/>
                  </a14:hiddenFill>
                </a:ext>
              </a:extLst>
            </p:spPr>
          </p:cxnSp>
          <p:cxnSp>
            <p:nvCxnSpPr>
              <p:cNvPr id="23173" name="Line 421"/>
              <p:cNvCxnSpPr>
                <a:cxnSpLocks noChangeShapeType="1"/>
              </p:cNvCxnSpPr>
              <p:nvPr/>
            </p:nvCxnSpPr>
            <p:spPr bwMode="auto">
              <a:xfrm>
                <a:off x="826" y="2365"/>
                <a:ext cx="142" cy="200"/>
              </a:xfrm>
              <a:prstGeom prst="line">
                <a:avLst/>
              </a:prstGeom>
              <a:noFill/>
              <a:ln w="28575">
                <a:solidFill>
                  <a:schemeClr val="bg2"/>
                </a:solidFill>
                <a:round/>
              </a:ln>
              <a:extLst>
                <a:ext uri="{909E8E84-426E-40DD-AFC4-6F175D3DCCD1}">
                  <a14:hiddenFill xmlns:a14="http://schemas.microsoft.com/office/drawing/2010/main">
                    <a:noFill/>
                  </a14:hiddenFill>
                </a:ext>
              </a:extLst>
            </p:spPr>
          </p:cxnSp>
          <p:sp>
            <p:nvSpPr>
              <p:cNvPr id="22730" name="Oval 404"/>
              <p:cNvSpPr>
                <a:spLocks noChangeArrowheads="1"/>
              </p:cNvSpPr>
              <p:nvPr/>
            </p:nvSpPr>
            <p:spPr bwMode="auto">
              <a:xfrm>
                <a:off x="1505" y="2513"/>
                <a:ext cx="291" cy="280"/>
              </a:xfrm>
              <a:prstGeom prst="ellipse">
                <a:avLst/>
              </a:prstGeom>
              <a:solidFill>
                <a:srgbClr val="FFFFFF"/>
              </a:solidFill>
              <a:ln w="28575">
                <a:solidFill>
                  <a:schemeClr val="bg2"/>
                </a:solidFill>
                <a:round/>
              </a:ln>
            </p:spPr>
            <p:txBody>
              <a:bodyPr/>
              <a:lstStyle/>
              <a:p>
                <a:endParaRPr lang="zh-CN" altLang="en-US"/>
              </a:p>
            </p:txBody>
          </p:sp>
          <p:sp>
            <p:nvSpPr>
              <p:cNvPr id="22731" name="Oval 414"/>
              <p:cNvSpPr>
                <a:spLocks noChangeArrowheads="1"/>
              </p:cNvSpPr>
              <p:nvPr/>
            </p:nvSpPr>
            <p:spPr bwMode="auto">
              <a:xfrm>
                <a:off x="877" y="2505"/>
                <a:ext cx="291" cy="280"/>
              </a:xfrm>
              <a:prstGeom prst="ellipse">
                <a:avLst/>
              </a:prstGeom>
              <a:solidFill>
                <a:srgbClr val="FFFFFF"/>
              </a:solidFill>
              <a:ln w="28575">
                <a:solidFill>
                  <a:schemeClr val="bg2"/>
                </a:solidFill>
                <a:round/>
              </a:ln>
            </p:spPr>
            <p:txBody>
              <a:bodyPr/>
              <a:lstStyle/>
              <a:p>
                <a:endParaRPr lang="zh-CN" altLang="en-US"/>
              </a:p>
            </p:txBody>
          </p:sp>
          <p:sp>
            <p:nvSpPr>
              <p:cNvPr id="23034" name="Oval 432"/>
              <p:cNvSpPr>
                <a:spLocks noChangeArrowheads="1"/>
              </p:cNvSpPr>
              <p:nvPr/>
            </p:nvSpPr>
            <p:spPr bwMode="auto">
              <a:xfrm>
                <a:off x="1322" y="1783"/>
                <a:ext cx="284" cy="278"/>
              </a:xfrm>
              <a:prstGeom prst="ellipse">
                <a:avLst/>
              </a:prstGeom>
              <a:solidFill>
                <a:srgbClr val="FFFFFF"/>
              </a:solidFill>
              <a:ln w="28575">
                <a:solidFill>
                  <a:schemeClr val="bg2"/>
                </a:solidFill>
                <a:round/>
              </a:ln>
            </p:spPr>
            <p:txBody>
              <a:bodyPr/>
              <a:lstStyle/>
              <a:p>
                <a:endParaRPr lang="zh-CN" altLang="en-US"/>
              </a:p>
            </p:txBody>
          </p:sp>
          <p:sp>
            <p:nvSpPr>
              <p:cNvPr id="23038" name="Oval 426"/>
              <p:cNvSpPr>
                <a:spLocks noChangeArrowheads="1"/>
              </p:cNvSpPr>
              <p:nvPr/>
            </p:nvSpPr>
            <p:spPr bwMode="auto">
              <a:xfrm>
                <a:off x="1789" y="2116"/>
                <a:ext cx="290" cy="279"/>
              </a:xfrm>
              <a:prstGeom prst="ellipse">
                <a:avLst/>
              </a:prstGeom>
              <a:solidFill>
                <a:srgbClr val="FFFFFF"/>
              </a:solidFill>
              <a:ln w="28575">
                <a:solidFill>
                  <a:schemeClr val="bg2"/>
                </a:solidFill>
                <a:round/>
              </a:ln>
            </p:spPr>
            <p:txBody>
              <a:bodyPr/>
              <a:lstStyle/>
              <a:p>
                <a:endParaRPr lang="zh-CN" altLang="en-US"/>
              </a:p>
            </p:txBody>
          </p:sp>
          <p:sp>
            <p:nvSpPr>
              <p:cNvPr id="23174" name="Oval 435"/>
              <p:cNvSpPr>
                <a:spLocks noChangeArrowheads="1"/>
              </p:cNvSpPr>
              <p:nvPr/>
            </p:nvSpPr>
            <p:spPr bwMode="auto">
              <a:xfrm>
                <a:off x="612" y="2119"/>
                <a:ext cx="290" cy="279"/>
              </a:xfrm>
              <a:prstGeom prst="ellipse">
                <a:avLst/>
              </a:prstGeom>
              <a:solidFill>
                <a:srgbClr val="FFFFFF"/>
              </a:solidFill>
              <a:ln w="28575">
                <a:solidFill>
                  <a:schemeClr val="bg2"/>
                </a:solidFill>
                <a:round/>
              </a:ln>
            </p:spPr>
            <p:txBody>
              <a:bodyPr/>
              <a:lstStyle/>
              <a:p>
                <a:endParaRPr lang="zh-CN" altLang="en-US"/>
              </a:p>
            </p:txBody>
          </p:sp>
        </p:grpSp>
        <p:sp>
          <p:nvSpPr>
            <p:cNvPr id="23176" name="Text Box 436"/>
            <p:cNvSpPr txBox="1">
              <a:spLocks noChangeArrowheads="1"/>
            </p:cNvSpPr>
            <p:nvPr/>
          </p:nvSpPr>
          <p:spPr bwMode="auto">
            <a:xfrm>
              <a:off x="635" y="2092"/>
              <a:ext cx="47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B</a:t>
              </a:r>
              <a:endParaRPr lang="en-US" altLang="zh-CN" sz="2600" b="1">
                <a:solidFill>
                  <a:schemeClr val="tx2"/>
                </a:solidFill>
              </a:endParaRPr>
            </a:p>
          </p:txBody>
        </p:sp>
        <p:sp>
          <p:nvSpPr>
            <p:cNvPr id="2" name="Text Box 433"/>
            <p:cNvSpPr txBox="1">
              <a:spLocks noChangeArrowheads="1"/>
            </p:cNvSpPr>
            <p:nvPr/>
          </p:nvSpPr>
          <p:spPr bwMode="auto">
            <a:xfrm>
              <a:off x="1519" y="2478"/>
              <a:ext cx="43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E</a:t>
              </a:r>
              <a:endParaRPr lang="en-US" altLang="zh-CN" sz="2600" b="1">
                <a:solidFill>
                  <a:schemeClr val="tx2"/>
                </a:solidFill>
              </a:endParaRPr>
            </a:p>
          </p:txBody>
        </p:sp>
        <p:sp>
          <p:nvSpPr>
            <p:cNvPr id="23178" name="Text Box 433"/>
            <p:cNvSpPr txBox="1">
              <a:spLocks noChangeArrowheads="1"/>
            </p:cNvSpPr>
            <p:nvPr/>
          </p:nvSpPr>
          <p:spPr bwMode="auto">
            <a:xfrm>
              <a:off x="1328" y="1752"/>
              <a:ext cx="46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dirty="0">
                  <a:solidFill>
                    <a:schemeClr val="tx2"/>
                  </a:solidFill>
                  <a:latin typeface="Times New Roman" panose="02020603050405020304" pitchFamily="18" charset="0"/>
                </a:rPr>
                <a:t>A</a:t>
              </a:r>
              <a:endParaRPr lang="en-US" altLang="zh-CN" sz="2600" b="1" dirty="0">
                <a:solidFill>
                  <a:schemeClr val="tx2"/>
                </a:solidFill>
              </a:endParaRPr>
            </a:p>
          </p:txBody>
        </p:sp>
        <p:sp>
          <p:nvSpPr>
            <p:cNvPr id="23181" name="Text Box 415"/>
            <p:cNvSpPr txBox="1">
              <a:spLocks noChangeArrowheads="1"/>
            </p:cNvSpPr>
            <p:nvPr/>
          </p:nvSpPr>
          <p:spPr bwMode="auto">
            <a:xfrm>
              <a:off x="890" y="2478"/>
              <a:ext cx="47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D</a:t>
              </a:r>
              <a:endParaRPr lang="en-US" altLang="zh-CN" sz="2600" b="1">
                <a:solidFill>
                  <a:schemeClr val="tx2"/>
                </a:solidFill>
              </a:endParaRPr>
            </a:p>
          </p:txBody>
        </p:sp>
        <p:sp>
          <p:nvSpPr>
            <p:cNvPr id="22994" name="Text Box 418"/>
            <p:cNvSpPr txBox="1">
              <a:spLocks noChangeArrowheads="1"/>
            </p:cNvSpPr>
            <p:nvPr/>
          </p:nvSpPr>
          <p:spPr bwMode="auto">
            <a:xfrm>
              <a:off x="2109" y="2478"/>
              <a:ext cx="47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F</a:t>
              </a:r>
              <a:endParaRPr lang="en-US" altLang="zh-CN" sz="2600" b="1">
                <a:solidFill>
                  <a:schemeClr val="tx2"/>
                </a:solidFill>
              </a:endParaRPr>
            </a:p>
          </p:txBody>
        </p:sp>
        <p:sp>
          <p:nvSpPr>
            <p:cNvPr id="3" name="Text Box 433"/>
            <p:cNvSpPr txBox="1">
              <a:spLocks noChangeArrowheads="1"/>
            </p:cNvSpPr>
            <p:nvPr/>
          </p:nvSpPr>
          <p:spPr bwMode="auto">
            <a:xfrm>
              <a:off x="1791" y="2092"/>
              <a:ext cx="43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C</a:t>
              </a:r>
              <a:endParaRPr lang="en-US" altLang="zh-CN" sz="2600" b="1">
                <a:solidFill>
                  <a:schemeClr val="tx2"/>
                </a:solidFill>
              </a:endParaRPr>
            </a:p>
          </p:txBody>
        </p:sp>
      </p:grpSp>
      <p:grpSp>
        <p:nvGrpSpPr>
          <p:cNvPr id="476873" name="Group 713"/>
          <p:cNvGrpSpPr/>
          <p:nvPr/>
        </p:nvGrpSpPr>
        <p:grpSpPr bwMode="auto">
          <a:xfrm>
            <a:off x="5111750" y="981075"/>
            <a:ext cx="2339975" cy="5256213"/>
            <a:chOff x="3107" y="414"/>
            <a:chExt cx="1474" cy="3311"/>
          </a:xfrm>
        </p:grpSpPr>
        <p:sp>
          <p:nvSpPr>
            <p:cNvPr id="476397" name="Line 237"/>
            <p:cNvSpPr>
              <a:spLocks noChangeShapeType="1"/>
            </p:cNvSpPr>
            <p:nvPr/>
          </p:nvSpPr>
          <p:spPr bwMode="auto">
            <a:xfrm>
              <a:off x="3107" y="414"/>
              <a:ext cx="0" cy="1543"/>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399" name="Line 239"/>
            <p:cNvSpPr>
              <a:spLocks noChangeShapeType="1"/>
            </p:cNvSpPr>
            <p:nvPr/>
          </p:nvSpPr>
          <p:spPr bwMode="auto">
            <a:xfrm>
              <a:off x="3107" y="527"/>
              <a:ext cx="363"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53" name="Line 693"/>
            <p:cNvSpPr>
              <a:spLocks noChangeShapeType="1"/>
            </p:cNvSpPr>
            <p:nvPr/>
          </p:nvSpPr>
          <p:spPr bwMode="auto">
            <a:xfrm>
              <a:off x="3107" y="1956"/>
              <a:ext cx="363"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76856" name="Group 696"/>
            <p:cNvGrpSpPr/>
            <p:nvPr/>
          </p:nvGrpSpPr>
          <p:grpSpPr bwMode="auto">
            <a:xfrm>
              <a:off x="3674" y="709"/>
              <a:ext cx="363" cy="385"/>
              <a:chOff x="3674" y="709"/>
              <a:chExt cx="363" cy="385"/>
            </a:xfrm>
          </p:grpSpPr>
          <p:sp>
            <p:nvSpPr>
              <p:cNvPr id="476852" name="Line 692"/>
              <p:cNvSpPr>
                <a:spLocks noChangeShapeType="1"/>
              </p:cNvSpPr>
              <p:nvPr/>
            </p:nvSpPr>
            <p:spPr bwMode="auto">
              <a:xfrm>
                <a:off x="3674" y="709"/>
                <a:ext cx="0" cy="385"/>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54" name="Line 694"/>
              <p:cNvSpPr>
                <a:spLocks noChangeShapeType="1"/>
              </p:cNvSpPr>
              <p:nvPr/>
            </p:nvSpPr>
            <p:spPr bwMode="auto">
              <a:xfrm>
                <a:off x="3674" y="1094"/>
                <a:ext cx="363"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55" name="Line 695"/>
              <p:cNvSpPr>
                <a:spLocks noChangeShapeType="1"/>
              </p:cNvSpPr>
              <p:nvPr/>
            </p:nvSpPr>
            <p:spPr bwMode="auto">
              <a:xfrm>
                <a:off x="3674" y="799"/>
                <a:ext cx="363"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76857" name="Group 697"/>
            <p:cNvGrpSpPr/>
            <p:nvPr/>
          </p:nvGrpSpPr>
          <p:grpSpPr bwMode="auto">
            <a:xfrm>
              <a:off x="4218" y="1253"/>
              <a:ext cx="363" cy="385"/>
              <a:chOff x="3674" y="709"/>
              <a:chExt cx="363" cy="385"/>
            </a:xfrm>
          </p:grpSpPr>
          <p:sp>
            <p:nvSpPr>
              <p:cNvPr id="476858" name="Line 698"/>
              <p:cNvSpPr>
                <a:spLocks noChangeShapeType="1"/>
              </p:cNvSpPr>
              <p:nvPr/>
            </p:nvSpPr>
            <p:spPr bwMode="auto">
              <a:xfrm>
                <a:off x="3674" y="709"/>
                <a:ext cx="0" cy="385"/>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59" name="Line 699"/>
              <p:cNvSpPr>
                <a:spLocks noChangeShapeType="1"/>
              </p:cNvSpPr>
              <p:nvPr/>
            </p:nvSpPr>
            <p:spPr bwMode="auto">
              <a:xfrm>
                <a:off x="3674" y="1094"/>
                <a:ext cx="363"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60" name="Line 700"/>
              <p:cNvSpPr>
                <a:spLocks noChangeShapeType="1"/>
              </p:cNvSpPr>
              <p:nvPr/>
            </p:nvSpPr>
            <p:spPr bwMode="auto">
              <a:xfrm>
                <a:off x="3674" y="799"/>
                <a:ext cx="363"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76861" name="Group 701"/>
            <p:cNvGrpSpPr/>
            <p:nvPr/>
          </p:nvGrpSpPr>
          <p:grpSpPr bwMode="auto">
            <a:xfrm>
              <a:off x="4218" y="2433"/>
              <a:ext cx="363" cy="385"/>
              <a:chOff x="3674" y="709"/>
              <a:chExt cx="363" cy="385"/>
            </a:xfrm>
          </p:grpSpPr>
          <p:sp>
            <p:nvSpPr>
              <p:cNvPr id="476862" name="Line 702"/>
              <p:cNvSpPr>
                <a:spLocks noChangeShapeType="1"/>
              </p:cNvSpPr>
              <p:nvPr/>
            </p:nvSpPr>
            <p:spPr bwMode="auto">
              <a:xfrm>
                <a:off x="3674" y="709"/>
                <a:ext cx="0" cy="385"/>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63" name="Line 703"/>
              <p:cNvSpPr>
                <a:spLocks noChangeShapeType="1"/>
              </p:cNvSpPr>
              <p:nvPr/>
            </p:nvSpPr>
            <p:spPr bwMode="auto">
              <a:xfrm>
                <a:off x="3674" y="1094"/>
                <a:ext cx="363"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64" name="Line 704"/>
              <p:cNvSpPr>
                <a:spLocks noChangeShapeType="1"/>
              </p:cNvSpPr>
              <p:nvPr/>
            </p:nvSpPr>
            <p:spPr bwMode="auto">
              <a:xfrm>
                <a:off x="3674" y="799"/>
                <a:ext cx="363"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76865" name="Group 705"/>
            <p:cNvGrpSpPr/>
            <p:nvPr/>
          </p:nvGrpSpPr>
          <p:grpSpPr bwMode="auto">
            <a:xfrm>
              <a:off x="4218" y="3340"/>
              <a:ext cx="363" cy="385"/>
              <a:chOff x="3674" y="709"/>
              <a:chExt cx="363" cy="385"/>
            </a:xfrm>
          </p:grpSpPr>
          <p:sp>
            <p:nvSpPr>
              <p:cNvPr id="476866" name="Line 706"/>
              <p:cNvSpPr>
                <a:spLocks noChangeShapeType="1"/>
              </p:cNvSpPr>
              <p:nvPr/>
            </p:nvSpPr>
            <p:spPr bwMode="auto">
              <a:xfrm>
                <a:off x="3674" y="709"/>
                <a:ext cx="0" cy="385"/>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67" name="Line 707"/>
              <p:cNvSpPr>
                <a:spLocks noChangeShapeType="1"/>
              </p:cNvSpPr>
              <p:nvPr/>
            </p:nvSpPr>
            <p:spPr bwMode="auto">
              <a:xfrm>
                <a:off x="3674" y="1094"/>
                <a:ext cx="363"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68" name="Line 708"/>
              <p:cNvSpPr>
                <a:spLocks noChangeShapeType="1"/>
              </p:cNvSpPr>
              <p:nvPr/>
            </p:nvSpPr>
            <p:spPr bwMode="auto">
              <a:xfrm>
                <a:off x="3674" y="799"/>
                <a:ext cx="363"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76870" name="Line 710"/>
            <p:cNvSpPr>
              <a:spLocks noChangeShapeType="1"/>
            </p:cNvSpPr>
            <p:nvPr/>
          </p:nvSpPr>
          <p:spPr bwMode="auto">
            <a:xfrm>
              <a:off x="3674" y="2137"/>
              <a:ext cx="0" cy="953"/>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71" name="Line 711"/>
            <p:cNvSpPr>
              <a:spLocks noChangeShapeType="1"/>
            </p:cNvSpPr>
            <p:nvPr/>
          </p:nvSpPr>
          <p:spPr bwMode="auto">
            <a:xfrm>
              <a:off x="3674" y="3090"/>
              <a:ext cx="363"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72" name="Line 712"/>
            <p:cNvSpPr>
              <a:spLocks noChangeShapeType="1"/>
            </p:cNvSpPr>
            <p:nvPr/>
          </p:nvSpPr>
          <p:spPr bwMode="auto">
            <a:xfrm>
              <a:off x="3674" y="2251"/>
              <a:ext cx="363"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6" name="直接连接符 5"/>
          <p:cNvCxnSpPr/>
          <p:nvPr/>
        </p:nvCxnSpPr>
        <p:spPr>
          <a:xfrm flipH="1">
            <a:off x="1588296" y="1083407"/>
            <a:ext cx="880268" cy="2154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765823" y="1092406"/>
            <a:ext cx="489744" cy="18077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588296" y="1630363"/>
            <a:ext cx="235742" cy="230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918619" y="1671637"/>
            <a:ext cx="361552" cy="188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478212" y="1630363"/>
            <a:ext cx="321470" cy="2301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前序遍历建立二叉树</a:t>
            </a:r>
            <a:endParaRPr lang="zh-CN" altLang="en-US" dirty="0"/>
          </a:p>
        </p:txBody>
      </p:sp>
      <p:sp>
        <p:nvSpPr>
          <p:cNvPr id="3" name="内容占位符 2"/>
          <p:cNvSpPr>
            <a:spLocks noGrp="1"/>
          </p:cNvSpPr>
          <p:nvPr>
            <p:ph idx="1"/>
          </p:nvPr>
        </p:nvSpPr>
        <p:spPr>
          <a:xfrm>
            <a:off x="628650" y="1825625"/>
            <a:ext cx="7886700" cy="2827511"/>
          </a:xfrm>
        </p:spPr>
        <p:txBody>
          <a:bodyPr>
            <a:normAutofit fontScale="70000" lnSpcReduction="20000"/>
          </a:bodyPr>
          <a:lstStyle/>
          <a:p>
            <a:r>
              <a:rPr lang="zh-CN" altLang="en-US" dirty="0"/>
              <a:t>输入的顺序必须对应二叉树结点前序遍历的顺序。</a:t>
            </a:r>
            <a:endParaRPr lang="en-US" altLang="zh-CN" dirty="0"/>
          </a:p>
          <a:p>
            <a:pPr lvl="1"/>
            <a:r>
              <a:rPr lang="zh-CN" altLang="en-US" dirty="0"/>
              <a:t>约定以输入序列中不可能出现的值代表空结点以结束递归，此值保存在属性</a:t>
            </a:r>
            <a:r>
              <a:rPr lang="en-US" altLang="zh-CN" dirty="0" err="1"/>
              <a:t>RefValue</a:t>
            </a:r>
            <a:r>
              <a:rPr lang="zh-CN" altLang="en-US" dirty="0"/>
              <a:t>中。</a:t>
            </a:r>
            <a:endParaRPr lang="en-US" altLang="zh-CN" dirty="0"/>
          </a:p>
          <a:p>
            <a:pPr lvl="2"/>
            <a:r>
              <a:rPr lang="zh-CN" altLang="en-US" dirty="0"/>
              <a:t>例如用“</a:t>
            </a:r>
            <a:r>
              <a:rPr lang="en-US" altLang="zh-CN" dirty="0"/>
              <a:t>#”</a:t>
            </a:r>
            <a:r>
              <a:rPr lang="zh-CN" altLang="en-US" dirty="0"/>
              <a:t>或用“</a:t>
            </a:r>
            <a:r>
              <a:rPr lang="en-US" altLang="zh-CN" dirty="0"/>
              <a:t>0”</a:t>
            </a:r>
            <a:r>
              <a:rPr lang="zh-CN" altLang="en-US" dirty="0"/>
              <a:t>表示字符序列或正整数序列空结点。</a:t>
            </a:r>
            <a:endParaRPr lang="en-US" altLang="zh-CN" dirty="0"/>
          </a:p>
          <a:p>
            <a:r>
              <a:rPr lang="zh-CN" altLang="en-US" dirty="0"/>
              <a:t>根据前序序列</a:t>
            </a:r>
            <a:r>
              <a:rPr lang="en-US" altLang="zh-CN" dirty="0"/>
              <a:t>“A B C # # D E # G # # F # # #”</a:t>
            </a:r>
            <a:r>
              <a:rPr lang="zh-CN" altLang="en-US" dirty="0"/>
              <a:t>建立的二叉树如下图所示：</a:t>
            </a:r>
            <a:endParaRPr lang="zh-CN" altLang="en-US" dirty="0"/>
          </a:p>
          <a:p>
            <a:pPr marL="0" indent="0">
              <a:buNone/>
            </a:pPr>
            <a:r>
              <a:rPr lang="en-US" altLang="zh-CN" dirty="0"/>
              <a:t>     </a:t>
            </a:r>
            <a:endParaRPr lang="en-US" altLang="zh-CN" dirty="0"/>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grpSp>
        <p:nvGrpSpPr>
          <p:cNvPr id="5" name="组合 4"/>
          <p:cNvGrpSpPr/>
          <p:nvPr/>
        </p:nvGrpSpPr>
        <p:grpSpPr>
          <a:xfrm>
            <a:off x="1979712" y="3573017"/>
            <a:ext cx="4001616" cy="2929944"/>
            <a:chOff x="1828800" y="2133600"/>
            <a:chExt cx="4800600" cy="4038600"/>
          </a:xfrm>
        </p:grpSpPr>
        <p:sp>
          <p:nvSpPr>
            <p:cNvPr id="56322" name="Line 1026"/>
            <p:cNvSpPr>
              <a:spLocks noChangeShapeType="1"/>
            </p:cNvSpPr>
            <p:nvPr/>
          </p:nvSpPr>
          <p:spPr bwMode="auto">
            <a:xfrm flipH="1">
              <a:off x="3352800" y="4495800"/>
              <a:ext cx="533400" cy="53340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3" name="Line 1027"/>
            <p:cNvSpPr>
              <a:spLocks noChangeShapeType="1"/>
            </p:cNvSpPr>
            <p:nvPr/>
          </p:nvSpPr>
          <p:spPr bwMode="auto">
            <a:xfrm flipH="1">
              <a:off x="4114800" y="5181600"/>
              <a:ext cx="381000" cy="60960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4" name="Line 1028"/>
            <p:cNvSpPr>
              <a:spLocks noChangeShapeType="1"/>
            </p:cNvSpPr>
            <p:nvPr/>
          </p:nvSpPr>
          <p:spPr bwMode="auto">
            <a:xfrm>
              <a:off x="4724400" y="5257800"/>
              <a:ext cx="304800" cy="53340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5" name="Line 1029"/>
            <p:cNvSpPr>
              <a:spLocks noChangeShapeType="1"/>
            </p:cNvSpPr>
            <p:nvPr/>
          </p:nvSpPr>
          <p:spPr bwMode="auto">
            <a:xfrm flipH="1">
              <a:off x="2133600" y="3886200"/>
              <a:ext cx="304800" cy="45720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6" name="Line 1030"/>
            <p:cNvSpPr>
              <a:spLocks noChangeShapeType="1"/>
            </p:cNvSpPr>
            <p:nvPr/>
          </p:nvSpPr>
          <p:spPr bwMode="auto">
            <a:xfrm>
              <a:off x="2819400" y="3886200"/>
              <a:ext cx="304800" cy="53340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7" name="Line 1031"/>
            <p:cNvSpPr>
              <a:spLocks noChangeShapeType="1"/>
            </p:cNvSpPr>
            <p:nvPr/>
          </p:nvSpPr>
          <p:spPr bwMode="auto">
            <a:xfrm>
              <a:off x="5943600" y="4572000"/>
              <a:ext cx="381000" cy="45720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8" name="Line 1032"/>
            <p:cNvSpPr>
              <a:spLocks noChangeShapeType="1"/>
            </p:cNvSpPr>
            <p:nvPr/>
          </p:nvSpPr>
          <p:spPr bwMode="auto">
            <a:xfrm>
              <a:off x="4876800" y="2514600"/>
              <a:ext cx="609600" cy="38100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9" name="Line 1033"/>
            <p:cNvSpPr>
              <a:spLocks noChangeShapeType="1"/>
            </p:cNvSpPr>
            <p:nvPr/>
          </p:nvSpPr>
          <p:spPr bwMode="auto">
            <a:xfrm flipH="1">
              <a:off x="5410200" y="4572000"/>
              <a:ext cx="304800" cy="45720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0" name="Line 1034"/>
            <p:cNvSpPr>
              <a:spLocks noChangeShapeType="1"/>
            </p:cNvSpPr>
            <p:nvPr/>
          </p:nvSpPr>
          <p:spPr bwMode="auto">
            <a:xfrm>
              <a:off x="4114800" y="4495800"/>
              <a:ext cx="3810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1" name="Line 1035"/>
            <p:cNvSpPr>
              <a:spLocks noChangeShapeType="1"/>
            </p:cNvSpPr>
            <p:nvPr/>
          </p:nvSpPr>
          <p:spPr bwMode="auto">
            <a:xfrm flipH="1">
              <a:off x="4038600" y="3810000"/>
              <a:ext cx="5334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2" name="Line 1036"/>
            <p:cNvSpPr>
              <a:spLocks noChangeShapeType="1"/>
            </p:cNvSpPr>
            <p:nvPr/>
          </p:nvSpPr>
          <p:spPr bwMode="auto">
            <a:xfrm>
              <a:off x="3810000" y="3048000"/>
              <a:ext cx="1905000" cy="1219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3" name="Line 1037"/>
            <p:cNvSpPr>
              <a:spLocks noChangeShapeType="1"/>
            </p:cNvSpPr>
            <p:nvPr/>
          </p:nvSpPr>
          <p:spPr bwMode="auto">
            <a:xfrm flipH="1">
              <a:off x="2667000" y="2514600"/>
              <a:ext cx="1828800" cy="1143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5" name="Oval 1039"/>
            <p:cNvSpPr>
              <a:spLocks noChangeArrowheads="1"/>
            </p:cNvSpPr>
            <p:nvPr/>
          </p:nvSpPr>
          <p:spPr bwMode="auto">
            <a:xfrm>
              <a:off x="4419600" y="2133600"/>
              <a:ext cx="533400" cy="533400"/>
            </a:xfrm>
            <a:prstGeom prst="ellipse">
              <a:avLst/>
            </a:prstGeom>
            <a:solidFill>
              <a:srgbClr val="FFFFFF"/>
            </a:solid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36" name="Oval 1040"/>
            <p:cNvSpPr>
              <a:spLocks noChangeArrowheads="1"/>
            </p:cNvSpPr>
            <p:nvPr/>
          </p:nvSpPr>
          <p:spPr bwMode="auto">
            <a:xfrm>
              <a:off x="3429000" y="2743200"/>
              <a:ext cx="533400" cy="533400"/>
            </a:xfrm>
            <a:prstGeom prst="ellipse">
              <a:avLst/>
            </a:prstGeom>
            <a:solidFill>
              <a:srgbClr val="FFFFFF"/>
            </a:solid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37" name="Oval 1041"/>
            <p:cNvSpPr>
              <a:spLocks noChangeArrowheads="1"/>
            </p:cNvSpPr>
            <p:nvPr/>
          </p:nvSpPr>
          <p:spPr bwMode="auto">
            <a:xfrm>
              <a:off x="2362200" y="3429000"/>
              <a:ext cx="533400" cy="533400"/>
            </a:xfrm>
            <a:prstGeom prst="ellipse">
              <a:avLst/>
            </a:prstGeom>
            <a:solidFill>
              <a:srgbClr val="FFFFFF"/>
            </a:solid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38" name="Oval 1042"/>
            <p:cNvSpPr>
              <a:spLocks noChangeArrowheads="1"/>
            </p:cNvSpPr>
            <p:nvPr/>
          </p:nvSpPr>
          <p:spPr bwMode="auto">
            <a:xfrm>
              <a:off x="5562600" y="4114800"/>
              <a:ext cx="533400" cy="533400"/>
            </a:xfrm>
            <a:prstGeom prst="ellipse">
              <a:avLst/>
            </a:prstGeom>
            <a:solidFill>
              <a:srgbClr val="FFFFFF"/>
            </a:solid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39" name="Oval 1043"/>
            <p:cNvSpPr>
              <a:spLocks noChangeArrowheads="1"/>
            </p:cNvSpPr>
            <p:nvPr/>
          </p:nvSpPr>
          <p:spPr bwMode="auto">
            <a:xfrm>
              <a:off x="4495800" y="3429000"/>
              <a:ext cx="533400" cy="533400"/>
            </a:xfrm>
            <a:prstGeom prst="ellipse">
              <a:avLst/>
            </a:prstGeom>
            <a:solidFill>
              <a:srgbClr val="FFFFFF"/>
            </a:solid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40" name="Oval 1044"/>
            <p:cNvSpPr>
              <a:spLocks noChangeArrowheads="1"/>
            </p:cNvSpPr>
            <p:nvPr/>
          </p:nvSpPr>
          <p:spPr bwMode="auto">
            <a:xfrm>
              <a:off x="3733800" y="4114800"/>
              <a:ext cx="533400" cy="533400"/>
            </a:xfrm>
            <a:prstGeom prst="ellipse">
              <a:avLst/>
            </a:prstGeom>
            <a:solidFill>
              <a:srgbClr val="FFFFFF"/>
            </a:solid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41" name="Oval 1045"/>
            <p:cNvSpPr>
              <a:spLocks noChangeArrowheads="1"/>
            </p:cNvSpPr>
            <p:nvPr/>
          </p:nvSpPr>
          <p:spPr bwMode="auto">
            <a:xfrm>
              <a:off x="4343400" y="4876800"/>
              <a:ext cx="533400" cy="533400"/>
            </a:xfrm>
            <a:prstGeom prst="ellipse">
              <a:avLst/>
            </a:prstGeom>
            <a:solidFill>
              <a:srgbClr val="FFFFFF"/>
            </a:solidFill>
            <a:ln w="38100">
              <a:solidFill>
                <a:schemeClr val="tx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42" name="Text Box 1046"/>
            <p:cNvSpPr txBox="1">
              <a:spLocks noChangeArrowheads="1"/>
            </p:cNvSpPr>
            <p:nvPr/>
          </p:nvSpPr>
          <p:spPr bwMode="auto">
            <a:xfrm>
              <a:off x="4419600" y="21336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56343" name="Text Box 1047"/>
            <p:cNvSpPr txBox="1">
              <a:spLocks noChangeArrowheads="1"/>
            </p:cNvSpPr>
            <p:nvPr/>
          </p:nvSpPr>
          <p:spPr bwMode="auto">
            <a:xfrm>
              <a:off x="3429000" y="27432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56344" name="Text Box 1048"/>
            <p:cNvSpPr txBox="1">
              <a:spLocks noChangeArrowheads="1"/>
            </p:cNvSpPr>
            <p:nvPr/>
          </p:nvSpPr>
          <p:spPr bwMode="auto">
            <a:xfrm>
              <a:off x="2362200" y="34290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56345" name="Text Box 1049"/>
            <p:cNvSpPr txBox="1">
              <a:spLocks noChangeArrowheads="1"/>
            </p:cNvSpPr>
            <p:nvPr/>
          </p:nvSpPr>
          <p:spPr bwMode="auto">
            <a:xfrm>
              <a:off x="4495800" y="34290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56346" name="Text Box 1050"/>
            <p:cNvSpPr txBox="1">
              <a:spLocks noChangeArrowheads="1"/>
            </p:cNvSpPr>
            <p:nvPr/>
          </p:nvSpPr>
          <p:spPr bwMode="auto">
            <a:xfrm>
              <a:off x="3733800" y="41148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56347" name="Text Box 1051"/>
            <p:cNvSpPr txBox="1">
              <a:spLocks noChangeArrowheads="1"/>
            </p:cNvSpPr>
            <p:nvPr/>
          </p:nvSpPr>
          <p:spPr bwMode="auto">
            <a:xfrm>
              <a:off x="4343400" y="48910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56348" name="Text Box 1052"/>
            <p:cNvSpPr txBox="1">
              <a:spLocks noChangeArrowheads="1"/>
            </p:cNvSpPr>
            <p:nvPr/>
          </p:nvSpPr>
          <p:spPr bwMode="auto">
            <a:xfrm>
              <a:off x="5562600" y="41148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56349" name="Text Box 1053"/>
            <p:cNvSpPr txBox="1">
              <a:spLocks noChangeArrowheads="1"/>
            </p:cNvSpPr>
            <p:nvPr/>
          </p:nvSpPr>
          <p:spPr bwMode="auto">
            <a:xfrm>
              <a:off x="1828800" y="41290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0" name="Text Box 1054"/>
            <p:cNvSpPr txBox="1">
              <a:spLocks noChangeArrowheads="1"/>
            </p:cNvSpPr>
            <p:nvPr/>
          </p:nvSpPr>
          <p:spPr bwMode="auto">
            <a:xfrm>
              <a:off x="2819400" y="41290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1" name="Text Box 1055"/>
            <p:cNvSpPr txBox="1">
              <a:spLocks noChangeArrowheads="1"/>
            </p:cNvSpPr>
            <p:nvPr/>
          </p:nvSpPr>
          <p:spPr bwMode="auto">
            <a:xfrm>
              <a:off x="3048000" y="48006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2" name="Text Box 1056"/>
            <p:cNvSpPr txBox="1">
              <a:spLocks noChangeArrowheads="1"/>
            </p:cNvSpPr>
            <p:nvPr/>
          </p:nvSpPr>
          <p:spPr bwMode="auto">
            <a:xfrm>
              <a:off x="3733800" y="56530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3" name="Text Box 1057"/>
            <p:cNvSpPr txBox="1">
              <a:spLocks noChangeArrowheads="1"/>
            </p:cNvSpPr>
            <p:nvPr/>
          </p:nvSpPr>
          <p:spPr bwMode="auto">
            <a:xfrm>
              <a:off x="4800600" y="56530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4" name="Text Box 1058"/>
            <p:cNvSpPr txBox="1">
              <a:spLocks noChangeArrowheads="1"/>
            </p:cNvSpPr>
            <p:nvPr/>
          </p:nvSpPr>
          <p:spPr bwMode="auto">
            <a:xfrm>
              <a:off x="5105400" y="48148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5" name="Text Box 1059"/>
            <p:cNvSpPr txBox="1">
              <a:spLocks noChangeArrowheads="1"/>
            </p:cNvSpPr>
            <p:nvPr/>
          </p:nvSpPr>
          <p:spPr bwMode="auto">
            <a:xfrm>
              <a:off x="6096000" y="48148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6" name="Text Box 1060"/>
            <p:cNvSpPr txBox="1">
              <a:spLocks noChangeArrowheads="1"/>
            </p:cNvSpPr>
            <p:nvPr/>
          </p:nvSpPr>
          <p:spPr bwMode="auto">
            <a:xfrm>
              <a:off x="5334000" y="26812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grpSp>
    </p:spTree>
  </p:cSld>
  <p:clrMapOvr>
    <a:masterClrMapping/>
  </p:clrMapOvr>
  <p:transition>
    <p:spli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114300" y="88900"/>
            <a:ext cx="925830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95000"/>
              </a:lnSpc>
            </a:pPr>
            <a:r>
              <a:rPr kumimoji="1" lang="en-US" altLang="zh-CN" sz="3600" b="1">
                <a:solidFill>
                  <a:srgbClr val="CC3300"/>
                </a:solidFill>
                <a:latin typeface="Times New Roman" panose="02020603050405020304" pitchFamily="18" charset="0"/>
                <a:ea typeface="宋体" panose="02010600030101010101" pitchFamily="2" charset="-122"/>
              </a:rPr>
              <a:t>    </a:t>
            </a:r>
            <a:endParaRPr kumimoji="1" lang="en-US" altLang="zh-CN" sz="3200">
              <a:latin typeface="Times New Roman" panose="02020603050405020304" pitchFamily="18" charset="0"/>
              <a:ea typeface="宋体" panose="02010600030101010101" pitchFamily="2" charset="-122"/>
            </a:endParaRPr>
          </a:p>
        </p:txBody>
      </p:sp>
      <p:sp>
        <p:nvSpPr>
          <p:cNvPr id="57347" name="Rectangle 3"/>
          <p:cNvSpPr>
            <a:spLocks noChangeArrowheads="1"/>
          </p:cNvSpPr>
          <p:nvPr/>
        </p:nvSpPr>
        <p:spPr bwMode="auto">
          <a:xfrm>
            <a:off x="76200" y="76200"/>
            <a:ext cx="59055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95000"/>
              </a:lnSpc>
            </a:pPr>
            <a:r>
              <a:rPr kumimoji="1" lang="en-US" altLang="zh-CN" sz="3200" b="1">
                <a:solidFill>
                  <a:srgbClr val="CC3300"/>
                </a:solidFill>
                <a:latin typeface="Times New Roman" panose="02020603050405020304" pitchFamily="18" charset="0"/>
                <a:ea typeface="宋体" panose="02010600030101010101" pitchFamily="2" charset="-122"/>
              </a:rPr>
              <a:t>    </a:t>
            </a:r>
            <a:endParaRPr kumimoji="1" lang="en-US" altLang="zh-CN" sz="3200" b="1">
              <a:solidFill>
                <a:srgbClr val="CC3300"/>
              </a:solidFill>
              <a:latin typeface="Times New Roman" panose="02020603050405020304" pitchFamily="18" charset="0"/>
              <a:ea typeface="宋体" panose="02010600030101010101" pitchFamily="2" charset="-122"/>
            </a:endParaRPr>
          </a:p>
        </p:txBody>
      </p:sp>
      <p:sp>
        <p:nvSpPr>
          <p:cNvPr id="3" name="内容占位符 2"/>
          <p:cNvSpPr>
            <a:spLocks noGrp="1"/>
          </p:cNvSpPr>
          <p:nvPr>
            <p:ph idx="1"/>
          </p:nvPr>
        </p:nvSpPr>
        <p:spPr>
          <a:xfrm>
            <a:off x="628650" y="188640"/>
            <a:ext cx="7886700" cy="6408712"/>
          </a:xfrm>
        </p:spPr>
        <p:txBody>
          <a:bodyPr>
            <a:normAutofit fontScale="62500" lnSpcReduction="20000"/>
          </a:bodyPr>
          <a:lstStyle/>
          <a:p>
            <a:pPr marL="0" indent="0">
              <a:buNone/>
            </a:pPr>
            <a:r>
              <a:rPr lang="en-US" altLang="zh-CN" dirty="0"/>
              <a:t>//</a:t>
            </a:r>
            <a:r>
              <a:rPr lang="zh-CN" altLang="en-US" dirty="0"/>
              <a:t>私有函数</a:t>
            </a:r>
            <a:r>
              <a:rPr lang="en-US" altLang="zh-CN" dirty="0"/>
              <a:t>: </a:t>
            </a:r>
            <a:r>
              <a:rPr lang="zh-CN" altLang="en-US" dirty="0"/>
              <a:t>以前序遍历建立二叉树。</a:t>
            </a:r>
            <a:endParaRPr lang="zh-CN" altLang="en-US" dirty="0"/>
          </a:p>
          <a:p>
            <a:pPr marL="0" indent="0">
              <a:buNone/>
            </a:pPr>
            <a:r>
              <a:rPr lang="en-US" altLang="zh-CN" dirty="0"/>
              <a:t>template&lt;class T&gt;  </a:t>
            </a:r>
            <a:endParaRPr lang="en-US" altLang="zh-CN" dirty="0"/>
          </a:p>
          <a:p>
            <a:pPr marL="0" indent="0">
              <a:buNone/>
            </a:pPr>
            <a:r>
              <a:rPr lang="en-US" altLang="zh-CN" dirty="0"/>
              <a:t>void </a:t>
            </a:r>
            <a:r>
              <a:rPr lang="en-US" altLang="zh-CN" dirty="0" err="1"/>
              <a:t>BinaryTree</a:t>
            </a:r>
            <a:r>
              <a:rPr lang="en-US" altLang="zh-CN" dirty="0"/>
              <a:t> &lt;T&gt; :: </a:t>
            </a:r>
            <a:r>
              <a:rPr lang="en-US" altLang="zh-CN" dirty="0" err="1"/>
              <a:t>CreateBinTree</a:t>
            </a:r>
            <a:r>
              <a:rPr lang="en-US" altLang="zh-CN" dirty="0"/>
              <a:t>  ( </a:t>
            </a:r>
            <a:r>
              <a:rPr lang="en-US" altLang="zh-CN" dirty="0" err="1"/>
              <a:t>istream</a:t>
            </a:r>
            <a:r>
              <a:rPr lang="en-US" altLang="zh-CN" dirty="0"/>
              <a:t>&amp; in, </a:t>
            </a:r>
            <a:r>
              <a:rPr lang="en-US" altLang="zh-CN" dirty="0" err="1"/>
              <a:t>BinTreeNode</a:t>
            </a:r>
            <a:r>
              <a:rPr lang="en-US" altLang="zh-CN" dirty="0"/>
              <a:t>&lt;T&gt; * &amp;</a:t>
            </a:r>
            <a:r>
              <a:rPr lang="en-US" altLang="zh-CN" dirty="0" err="1"/>
              <a:t>subTree</a:t>
            </a:r>
            <a:r>
              <a:rPr lang="en-US" altLang="zh-CN" dirty="0"/>
              <a:t> ) {</a:t>
            </a:r>
            <a:endParaRPr lang="en-US" altLang="zh-CN" dirty="0"/>
          </a:p>
          <a:p>
            <a:pPr marL="0" indent="0">
              <a:buNone/>
            </a:pPr>
            <a:r>
              <a:rPr lang="en-US" altLang="zh-CN" dirty="0"/>
              <a:t>    T item;</a:t>
            </a:r>
            <a:endParaRPr lang="en-US" altLang="zh-CN" dirty="0"/>
          </a:p>
          <a:p>
            <a:pPr marL="0" indent="0">
              <a:buNone/>
            </a:pPr>
            <a:r>
              <a:rPr lang="en-US" altLang="zh-CN" dirty="0"/>
              <a:t>    if ( !</a:t>
            </a:r>
            <a:r>
              <a:rPr lang="en-US" altLang="zh-CN" dirty="0" err="1"/>
              <a:t>in.eof</a:t>
            </a:r>
            <a:r>
              <a:rPr lang="en-US" altLang="zh-CN" dirty="0"/>
              <a:t> ( ) ) {</a:t>
            </a:r>
            <a:endParaRPr lang="en-US" altLang="zh-CN" dirty="0"/>
          </a:p>
          <a:p>
            <a:pPr marL="0" indent="0">
              <a:buNone/>
            </a:pPr>
            <a:r>
              <a:rPr lang="en-US" altLang="zh-CN" dirty="0"/>
              <a:t>        in &gt;&gt; item;  	//</a:t>
            </a:r>
            <a:r>
              <a:rPr lang="zh-CN" altLang="en-US" dirty="0"/>
              <a:t>读入根结点的值</a:t>
            </a:r>
            <a:endParaRPr lang="zh-CN" altLang="en-US" dirty="0"/>
          </a:p>
          <a:p>
            <a:pPr marL="0" indent="0">
              <a:buNone/>
            </a:pPr>
            <a:r>
              <a:rPr lang="zh-CN" altLang="en-US" dirty="0"/>
              <a:t>        </a:t>
            </a:r>
            <a:r>
              <a:rPr lang="en-US" altLang="zh-CN" dirty="0"/>
              <a:t>if ( item != </a:t>
            </a:r>
            <a:r>
              <a:rPr lang="en-US" altLang="zh-CN" dirty="0" err="1"/>
              <a:t>RefValue</a:t>
            </a:r>
            <a:r>
              <a:rPr lang="en-US" altLang="zh-CN" dirty="0"/>
              <a:t> ) {</a:t>
            </a:r>
            <a:endParaRPr lang="en-US" altLang="zh-CN" dirty="0"/>
          </a:p>
          <a:p>
            <a:pPr marL="0" indent="0">
              <a:buNone/>
            </a:pPr>
            <a:r>
              <a:rPr lang="en-US" altLang="zh-CN" dirty="0"/>
              <a:t>            </a:t>
            </a:r>
            <a:r>
              <a:rPr lang="en-US" altLang="zh-CN" dirty="0" err="1"/>
              <a:t>subTree</a:t>
            </a:r>
            <a:r>
              <a:rPr lang="en-US" altLang="zh-CN" dirty="0"/>
              <a:t> = new </a:t>
            </a:r>
            <a:r>
              <a:rPr lang="en-US" altLang="zh-CN" dirty="0" err="1"/>
              <a:t>BinTreeNode</a:t>
            </a:r>
            <a:r>
              <a:rPr lang="en-US" altLang="zh-CN" dirty="0"/>
              <a:t>&lt;T&gt;( item );	//</a:t>
            </a:r>
            <a:r>
              <a:rPr lang="zh-CN" altLang="en-US" dirty="0"/>
              <a:t>建立根</a:t>
            </a:r>
            <a:endParaRPr lang="zh-CN" altLang="en-US" dirty="0"/>
          </a:p>
          <a:p>
            <a:pPr marL="0" indent="0">
              <a:buNone/>
            </a:pPr>
            <a:r>
              <a:rPr lang="zh-CN" altLang="en-US" dirty="0"/>
              <a:t>            </a:t>
            </a:r>
            <a:r>
              <a:rPr lang="en-US" altLang="zh-CN" dirty="0"/>
              <a:t>if ( </a:t>
            </a:r>
            <a:r>
              <a:rPr lang="en-US" altLang="zh-CN" dirty="0" err="1"/>
              <a:t>subTree</a:t>
            </a:r>
            <a:r>
              <a:rPr lang="en-US" altLang="zh-CN" dirty="0"/>
              <a:t> == NULL ) </a:t>
            </a:r>
            <a:endParaRPr lang="en-US" altLang="zh-CN" dirty="0"/>
          </a:p>
          <a:p>
            <a:pPr marL="0" indent="0">
              <a:buNone/>
            </a:pPr>
            <a:r>
              <a:rPr lang="en-US" altLang="zh-CN" dirty="0"/>
              <a:t>               { </a:t>
            </a:r>
            <a:r>
              <a:rPr lang="en-US" altLang="zh-CN" dirty="0" err="1"/>
              <a:t>cerr</a:t>
            </a:r>
            <a:r>
              <a:rPr lang="en-US" altLang="zh-CN" dirty="0"/>
              <a:t> &lt;&lt; "</a:t>
            </a:r>
            <a:r>
              <a:rPr lang="zh-CN" altLang="en-US" dirty="0"/>
              <a:t>存储分配错</a:t>
            </a:r>
            <a:r>
              <a:rPr lang="en-US" altLang="zh-CN" dirty="0"/>
              <a:t>! " &lt;&lt; </a:t>
            </a:r>
            <a:r>
              <a:rPr lang="en-US" altLang="zh-CN" dirty="0" err="1"/>
              <a:t>endl</a:t>
            </a:r>
            <a:r>
              <a:rPr lang="en-US" altLang="zh-CN" dirty="0"/>
              <a:t>;  exit (1);  }</a:t>
            </a:r>
            <a:endParaRPr lang="en-US" altLang="zh-CN" dirty="0"/>
          </a:p>
          <a:p>
            <a:pPr marL="0" indent="0">
              <a:buNone/>
            </a:pPr>
            <a:r>
              <a:rPr lang="en-US" altLang="zh-CN" dirty="0"/>
              <a:t>            </a:t>
            </a:r>
            <a:r>
              <a:rPr lang="en-US" altLang="zh-CN" dirty="0" err="1"/>
              <a:t>CreateBinTree</a:t>
            </a:r>
            <a:r>
              <a:rPr lang="en-US" altLang="zh-CN" dirty="0"/>
              <a:t> ( in, </a:t>
            </a:r>
            <a:r>
              <a:rPr lang="en-US" altLang="zh-CN" dirty="0" err="1"/>
              <a:t>subTree</a:t>
            </a:r>
            <a:r>
              <a:rPr lang="en-US" altLang="zh-CN" dirty="0"/>
              <a:t>-&gt;</a:t>
            </a:r>
            <a:r>
              <a:rPr lang="en-US" altLang="zh-CN" dirty="0" err="1"/>
              <a:t>leftChild</a:t>
            </a:r>
            <a:r>
              <a:rPr lang="en-US" altLang="zh-CN" dirty="0"/>
              <a:t> );</a:t>
            </a:r>
            <a:endParaRPr lang="en-US" altLang="zh-CN" dirty="0"/>
          </a:p>
          <a:p>
            <a:pPr marL="0" indent="0">
              <a:buNone/>
            </a:pPr>
            <a:r>
              <a:rPr lang="en-US" altLang="zh-CN" dirty="0"/>
              <a:t>            </a:t>
            </a:r>
            <a:r>
              <a:rPr lang="en-US" altLang="zh-CN" dirty="0" err="1"/>
              <a:t>CreateBinTree</a:t>
            </a:r>
            <a:r>
              <a:rPr lang="en-US" altLang="zh-CN" dirty="0"/>
              <a:t> ( in, </a:t>
            </a:r>
            <a:r>
              <a:rPr lang="en-US" altLang="zh-CN" dirty="0" err="1"/>
              <a:t>subTree</a:t>
            </a:r>
            <a:r>
              <a:rPr lang="en-US" altLang="zh-CN" dirty="0"/>
              <a:t>-&gt;</a:t>
            </a:r>
            <a:r>
              <a:rPr lang="en-US" altLang="zh-CN" dirty="0" err="1"/>
              <a:t>rightChild</a:t>
            </a:r>
            <a:r>
              <a:rPr lang="en-US" altLang="zh-CN" dirty="0"/>
              <a:t> );</a:t>
            </a:r>
            <a:endParaRPr lang="en-US" altLang="zh-CN" dirty="0"/>
          </a:p>
          <a:p>
            <a:pPr marL="0" indent="0">
              <a:buNone/>
            </a:pPr>
            <a:r>
              <a:rPr lang="en-US" altLang="zh-CN" dirty="0"/>
              <a:t>        }</a:t>
            </a:r>
            <a:endParaRPr lang="en-US" altLang="zh-CN" dirty="0"/>
          </a:p>
          <a:p>
            <a:pPr marL="0" indent="0">
              <a:buNone/>
            </a:pPr>
            <a:r>
              <a:rPr lang="en-US" altLang="zh-CN" dirty="0"/>
              <a:t>        else </a:t>
            </a:r>
            <a:r>
              <a:rPr lang="en-US" altLang="zh-CN" dirty="0" err="1"/>
              <a:t>subTree</a:t>
            </a:r>
            <a:r>
              <a:rPr lang="en-US" altLang="zh-CN" dirty="0"/>
              <a:t> = NULL;     //</a:t>
            </a:r>
            <a:r>
              <a:rPr lang="zh-CN" altLang="en-US" dirty="0"/>
              <a:t>封闭叶结点</a:t>
            </a:r>
            <a:endParaRPr lang="zh-CN" altLang="en-US" dirty="0"/>
          </a:p>
          <a:p>
            <a:pPr marL="0" indent="0">
              <a:buNone/>
            </a:pPr>
            <a:r>
              <a:rPr lang="zh-CN" altLang="en-US" dirty="0"/>
              <a:t>    </a:t>
            </a:r>
            <a:r>
              <a:rPr lang="en-US" altLang="zh-CN" dirty="0"/>
              <a:t>}</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026"/>
          <p:cNvSpPr>
            <a:spLocks noGrp="1" noChangeArrowheads="1"/>
          </p:cNvSpPr>
          <p:nvPr>
            <p:ph type="title"/>
          </p:nvPr>
        </p:nvSpPr>
        <p:spPr/>
        <p:txBody>
          <a:bodyPr/>
          <a:lstStyle/>
          <a:p>
            <a:pPr defTabSz="913130"/>
            <a:r>
              <a:rPr lang="en-US" altLang="zh-CN" dirty="0"/>
              <a:t>5.4.3 </a:t>
            </a:r>
            <a:r>
              <a:rPr lang="zh-CN" altLang="en-US" dirty="0"/>
              <a:t>二叉树遍历的非递归算法</a:t>
            </a:r>
            <a:endParaRPr lang="zh-CN" altLang="en-US" dirty="0"/>
          </a:p>
        </p:txBody>
      </p:sp>
      <p:sp>
        <p:nvSpPr>
          <p:cNvPr id="59395" name="Rectangle 1027"/>
          <p:cNvSpPr>
            <a:spLocks noGrp="1" noChangeArrowheads="1"/>
          </p:cNvSpPr>
          <p:nvPr>
            <p:ph idx="1"/>
          </p:nvPr>
        </p:nvSpPr>
        <p:spPr/>
        <p:txBody>
          <a:bodyPr>
            <a:normAutofit fontScale="92500"/>
          </a:bodyPr>
          <a:lstStyle/>
          <a:p>
            <a:pPr defTabSz="913130"/>
            <a:r>
              <a:rPr lang="zh-CN" altLang="en-US" dirty="0"/>
              <a:t>用相应入栈、出栈动作代替递归调用</a:t>
            </a:r>
            <a:endParaRPr lang="zh-CN" altLang="en-US" dirty="0"/>
          </a:p>
          <a:p>
            <a:pPr defTabSz="913130"/>
            <a:r>
              <a:rPr lang="zh-CN" altLang="en-US" dirty="0"/>
              <a:t>例如前序遍历</a:t>
            </a:r>
            <a:endParaRPr lang="en-US" altLang="zh-CN" dirty="0"/>
          </a:p>
          <a:p>
            <a:pPr lvl="1" defTabSz="913130"/>
            <a:r>
              <a:rPr lang="zh-CN" altLang="en-US" dirty="0"/>
              <a:t>基本思路：</a:t>
            </a:r>
            <a:endParaRPr lang="en-US" altLang="zh-CN" dirty="0"/>
          </a:p>
          <a:p>
            <a:pPr lvl="2" defTabSz="913130"/>
            <a:r>
              <a:rPr lang="zh-CN" altLang="en-US" dirty="0"/>
              <a:t>从当前结点为根结点开始，访问当前结点，然后该结点入栈，该结点的左孩子成为当前结点</a:t>
            </a:r>
            <a:endParaRPr lang="en-US" altLang="zh-CN" dirty="0"/>
          </a:p>
          <a:p>
            <a:pPr lvl="2" defTabSz="913130"/>
            <a:r>
              <a:rPr lang="zh-CN" altLang="en-US" dirty="0"/>
              <a:t>当前结点为空则退栈，退栈结点的右孩子成为当前结点</a:t>
            </a:r>
            <a:endParaRPr lang="en-US" altLang="zh-CN" dirty="0"/>
          </a:p>
          <a:p>
            <a:pPr lvl="2" defTabSz="913130"/>
            <a:r>
              <a:rPr lang="zh-CN" altLang="en-US" dirty="0"/>
              <a:t>重复上述过程直到栈空</a:t>
            </a:r>
            <a:endParaRPr lang="en-US" altLang="zh-CN" dirty="0"/>
          </a:p>
          <a:p>
            <a:pPr lvl="1" defTabSz="913130"/>
            <a:r>
              <a:rPr lang="zh-CN" altLang="en-US" dirty="0"/>
              <a:t>能否进一步改进？</a:t>
            </a: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前序遍历非递归算法的改进</a:t>
            </a:r>
            <a:endParaRPr lang="zh-CN" altLang="en-US" dirty="0"/>
          </a:p>
        </p:txBody>
      </p:sp>
      <p:sp>
        <p:nvSpPr>
          <p:cNvPr id="3" name="内容占位符 2"/>
          <p:cNvSpPr>
            <a:spLocks noGrp="1"/>
          </p:cNvSpPr>
          <p:nvPr>
            <p:ph idx="1"/>
          </p:nvPr>
        </p:nvSpPr>
        <p:spPr>
          <a:xfrm>
            <a:off x="323528" y="1825624"/>
            <a:ext cx="8568952" cy="4843735"/>
          </a:xfrm>
        </p:spPr>
        <p:txBody>
          <a:bodyPr>
            <a:normAutofit fontScale="55000" lnSpcReduction="20000"/>
          </a:bodyPr>
          <a:lstStyle/>
          <a:p>
            <a:pPr marL="0" indent="0">
              <a:buNone/>
            </a:pPr>
            <a:r>
              <a:rPr lang="en-US" altLang="zh-CN" dirty="0"/>
              <a:t>template &lt;class T&gt;  void </a:t>
            </a:r>
            <a:r>
              <a:rPr lang="en-US" altLang="zh-CN" dirty="0" err="1"/>
              <a:t>BinaryTree</a:t>
            </a:r>
            <a:r>
              <a:rPr lang="en-US" altLang="zh-CN" dirty="0"/>
              <a:t>&lt;T&gt; :: </a:t>
            </a:r>
            <a:r>
              <a:rPr lang="en-US" altLang="zh-CN" dirty="0" err="1"/>
              <a:t>PreOrder</a:t>
            </a:r>
            <a:r>
              <a:rPr lang="en-US" altLang="zh-CN" dirty="0"/>
              <a:t>( void(*visit)(</a:t>
            </a:r>
            <a:r>
              <a:rPr lang="en-US" altLang="zh-CN" dirty="0" err="1"/>
              <a:t>BinTreeNode</a:t>
            </a:r>
            <a:r>
              <a:rPr lang="en-US" altLang="zh-CN" dirty="0"/>
              <a:t>&lt;T&gt; *p)) {</a:t>
            </a:r>
            <a:endParaRPr lang="en-US" altLang="zh-CN" dirty="0"/>
          </a:p>
          <a:p>
            <a:pPr marL="0" indent="0">
              <a:buNone/>
            </a:pPr>
            <a:r>
              <a:rPr lang="en-US" altLang="zh-CN" dirty="0"/>
              <a:t>    </a:t>
            </a:r>
            <a:r>
              <a:rPr lang="en-US" altLang="zh-CN" dirty="0" err="1"/>
              <a:t>LinkedStack</a:t>
            </a:r>
            <a:r>
              <a:rPr lang="en-US" altLang="zh-CN" dirty="0"/>
              <a:t>&lt;</a:t>
            </a:r>
            <a:r>
              <a:rPr lang="en-US" altLang="zh-CN" dirty="0" err="1"/>
              <a:t>BinTreeNode</a:t>
            </a:r>
            <a:r>
              <a:rPr lang="en-US" altLang="zh-CN" dirty="0"/>
              <a:t>&lt;T&gt;*&gt; S;</a:t>
            </a:r>
            <a:endParaRPr lang="en-US" altLang="zh-CN" dirty="0"/>
          </a:p>
          <a:p>
            <a:pPr marL="0" indent="0">
              <a:buNone/>
            </a:pPr>
            <a:r>
              <a:rPr lang="en-US" altLang="zh-CN" dirty="0"/>
              <a:t>    </a:t>
            </a:r>
            <a:r>
              <a:rPr lang="en-US" altLang="zh-CN" dirty="0" err="1"/>
              <a:t>BinTreeNode</a:t>
            </a:r>
            <a:r>
              <a:rPr lang="en-US" altLang="zh-CN" dirty="0"/>
              <a:t>&lt;T&gt; * p = root;   //</a:t>
            </a:r>
            <a:r>
              <a:rPr lang="zh-CN" altLang="en-US" dirty="0"/>
              <a:t>初始化</a:t>
            </a:r>
            <a:endParaRPr lang="zh-CN" altLang="en-US" dirty="0"/>
          </a:p>
          <a:p>
            <a:pPr marL="0" indent="0">
              <a:buNone/>
            </a:pPr>
            <a:r>
              <a:rPr lang="zh-CN" altLang="en-US" dirty="0"/>
              <a:t>    </a:t>
            </a:r>
            <a:r>
              <a:rPr lang="en-US" altLang="zh-CN" dirty="0" err="1"/>
              <a:t>S.Push</a:t>
            </a:r>
            <a:r>
              <a:rPr lang="en-US" altLang="zh-CN" dirty="0"/>
              <a:t> ( NULL );</a:t>
            </a:r>
            <a:endParaRPr lang="en-US" altLang="zh-CN" dirty="0"/>
          </a:p>
          <a:p>
            <a:pPr marL="0" indent="0">
              <a:buNone/>
            </a:pPr>
            <a:r>
              <a:rPr lang="en-US" altLang="zh-CN" dirty="0"/>
              <a:t>    while ( p != NULL ) {</a:t>
            </a:r>
            <a:endParaRPr lang="en-US" altLang="zh-CN" dirty="0"/>
          </a:p>
          <a:p>
            <a:pPr marL="0" indent="0">
              <a:buNone/>
            </a:pPr>
            <a:r>
              <a:rPr lang="en-US" altLang="zh-CN" dirty="0"/>
              <a:t>         visit(p);</a:t>
            </a:r>
            <a:endParaRPr lang="en-US" altLang="zh-CN" dirty="0"/>
          </a:p>
          <a:p>
            <a:pPr marL="0" indent="0">
              <a:buNone/>
            </a:pPr>
            <a:r>
              <a:rPr lang="en-US" altLang="zh-CN" dirty="0"/>
              <a:t>         if ( p-&gt;</a:t>
            </a:r>
            <a:r>
              <a:rPr lang="en-US" altLang="zh-CN" dirty="0" err="1"/>
              <a:t>rightChild</a:t>
            </a:r>
            <a:r>
              <a:rPr lang="en-US" altLang="zh-CN" dirty="0"/>
              <a:t> != NULL )  </a:t>
            </a:r>
            <a:r>
              <a:rPr lang="en-US" altLang="zh-CN" dirty="0" err="1"/>
              <a:t>S.Push</a:t>
            </a:r>
            <a:r>
              <a:rPr lang="en-US" altLang="zh-CN" dirty="0"/>
              <a:t> ( p-&gt;</a:t>
            </a:r>
            <a:r>
              <a:rPr lang="en-US" altLang="zh-CN" dirty="0" err="1"/>
              <a:t>rightChild</a:t>
            </a:r>
            <a:r>
              <a:rPr lang="en-US" altLang="zh-CN" dirty="0"/>
              <a:t> );</a:t>
            </a:r>
            <a:endParaRPr lang="en-US" altLang="zh-CN" dirty="0"/>
          </a:p>
          <a:p>
            <a:pPr marL="0" indent="0">
              <a:buNone/>
            </a:pPr>
            <a:r>
              <a:rPr lang="en-US" altLang="zh-CN" dirty="0"/>
              <a:t>                //</a:t>
            </a:r>
            <a:r>
              <a:rPr lang="zh-CN" altLang="en-US" dirty="0"/>
              <a:t>预留右子树指针在栈中	</a:t>
            </a:r>
            <a:endParaRPr lang="zh-CN" altLang="en-US" dirty="0"/>
          </a:p>
          <a:p>
            <a:pPr marL="0" indent="0">
              <a:buNone/>
            </a:pPr>
            <a:r>
              <a:rPr lang="zh-CN" altLang="en-US" dirty="0"/>
              <a:t>         </a:t>
            </a:r>
            <a:r>
              <a:rPr lang="en-US" altLang="zh-CN" dirty="0"/>
              <a:t>if ( p-&gt;</a:t>
            </a:r>
            <a:r>
              <a:rPr lang="en-US" altLang="zh-CN" dirty="0" err="1"/>
              <a:t>leftChild</a:t>
            </a:r>
            <a:r>
              <a:rPr lang="en-US" altLang="zh-CN" dirty="0"/>
              <a:t> != NULL ) p = p-&gt;</a:t>
            </a:r>
            <a:r>
              <a:rPr lang="en-US" altLang="zh-CN" dirty="0" err="1"/>
              <a:t>leftChild</a:t>
            </a:r>
            <a:r>
              <a:rPr lang="en-US" altLang="zh-CN" dirty="0"/>
              <a:t>;//</a:t>
            </a:r>
            <a:r>
              <a:rPr lang="zh-CN" altLang="en-US" dirty="0"/>
              <a:t>进左子树</a:t>
            </a:r>
            <a:endParaRPr lang="zh-CN" altLang="en-US" dirty="0"/>
          </a:p>
          <a:p>
            <a:pPr marL="0" indent="0">
              <a:buNone/>
            </a:pPr>
            <a:r>
              <a:rPr lang="zh-CN" altLang="en-US" dirty="0"/>
              <a:t>         </a:t>
            </a:r>
            <a:r>
              <a:rPr lang="en-US" altLang="zh-CN" dirty="0"/>
              <a:t>else </a:t>
            </a:r>
            <a:r>
              <a:rPr lang="en-US" altLang="zh-CN" dirty="0" err="1"/>
              <a:t>S.Pop</a:t>
            </a:r>
            <a:r>
              <a:rPr lang="en-US" altLang="zh-CN" dirty="0"/>
              <a:t>( p);  //</a:t>
            </a:r>
            <a:r>
              <a:rPr lang="zh-CN" altLang="en-US" dirty="0"/>
              <a:t>左子树空</a:t>
            </a:r>
            <a:r>
              <a:rPr lang="en-US" altLang="zh-CN" dirty="0"/>
              <a:t>, </a:t>
            </a:r>
            <a:r>
              <a:rPr lang="zh-CN" altLang="en-US" dirty="0"/>
              <a:t>进右子树                           </a:t>
            </a:r>
            <a:endParaRPr lang="zh-CN" altLang="en-US" dirty="0"/>
          </a:p>
          <a:p>
            <a:pPr marL="0" indent="0">
              <a:buNone/>
            </a:pPr>
            <a:r>
              <a:rPr lang="zh-CN" altLang="en-US" dirty="0"/>
              <a:t>    </a:t>
            </a:r>
            <a:r>
              <a:rPr lang="en-US" altLang="zh-CN" dirty="0"/>
              <a:t>}</a:t>
            </a:r>
            <a:endParaRPr lang="en-US" altLang="zh-CN" dirty="0"/>
          </a:p>
          <a:p>
            <a:pPr marL="0" indent="0">
              <a:buNone/>
            </a:pPr>
            <a:r>
              <a:rPr lang="en-US" altLang="zh-CN" dirty="0"/>
              <a:t>}</a:t>
            </a: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4332188" y="18589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16" name="Line 4"/>
          <p:cNvSpPr>
            <a:spLocks noChangeShapeType="1"/>
          </p:cNvSpPr>
          <p:nvPr/>
        </p:nvSpPr>
        <p:spPr bwMode="auto">
          <a:xfrm flipH="1">
            <a:off x="2103338" y="2925763"/>
            <a:ext cx="304800" cy="83820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7" name="Line 5"/>
          <p:cNvSpPr>
            <a:spLocks noChangeShapeType="1"/>
          </p:cNvSpPr>
          <p:nvPr/>
        </p:nvSpPr>
        <p:spPr bwMode="auto">
          <a:xfrm>
            <a:off x="1036538" y="3001963"/>
            <a:ext cx="304800" cy="68580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8" name="Line 6"/>
          <p:cNvSpPr>
            <a:spLocks noChangeShapeType="1"/>
          </p:cNvSpPr>
          <p:nvPr/>
        </p:nvSpPr>
        <p:spPr bwMode="auto">
          <a:xfrm>
            <a:off x="1798538" y="2239963"/>
            <a:ext cx="609600" cy="53340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9" name="Line 7"/>
          <p:cNvSpPr>
            <a:spLocks noChangeShapeType="1"/>
          </p:cNvSpPr>
          <p:nvPr/>
        </p:nvSpPr>
        <p:spPr bwMode="auto">
          <a:xfrm flipH="1">
            <a:off x="1036538" y="2239963"/>
            <a:ext cx="533400" cy="53340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2872" name="Oval 8"/>
          <p:cNvSpPr>
            <a:spLocks noChangeArrowheads="1"/>
          </p:cNvSpPr>
          <p:nvPr/>
        </p:nvSpPr>
        <p:spPr bwMode="auto">
          <a:xfrm>
            <a:off x="1493738" y="1858963"/>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algn="ctr" eaLnBrk="1" fontAlgn="auto" hangingPunct="1">
              <a:spcBef>
                <a:spcPts val="0"/>
              </a:spcBef>
              <a:spcAft>
                <a:spcPts val="0"/>
              </a:spcAft>
              <a:defRPr/>
            </a:pPr>
            <a:endParaRPr lang="zh-CN" altLang="zh-CN">
              <a:latin typeface="Times New Roman" panose="02020603050405020304" pitchFamily="18" charset="0"/>
              <a:ea typeface="+mn-ea"/>
            </a:endParaRPr>
          </a:p>
        </p:txBody>
      </p:sp>
      <p:sp>
        <p:nvSpPr>
          <p:cNvPr id="292873" name="Oval 9"/>
          <p:cNvSpPr>
            <a:spLocks noChangeArrowheads="1"/>
          </p:cNvSpPr>
          <p:nvPr/>
        </p:nvSpPr>
        <p:spPr bwMode="auto">
          <a:xfrm>
            <a:off x="731738" y="2620963"/>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292874" name="Oval 10"/>
          <p:cNvSpPr>
            <a:spLocks noChangeArrowheads="1"/>
          </p:cNvSpPr>
          <p:nvPr/>
        </p:nvSpPr>
        <p:spPr bwMode="auto">
          <a:xfrm>
            <a:off x="1798538" y="3611563"/>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292875" name="Oval 11"/>
          <p:cNvSpPr>
            <a:spLocks noChangeArrowheads="1"/>
          </p:cNvSpPr>
          <p:nvPr/>
        </p:nvSpPr>
        <p:spPr bwMode="auto">
          <a:xfrm>
            <a:off x="2255738" y="2620963"/>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292876" name="Oval 12"/>
          <p:cNvSpPr>
            <a:spLocks noChangeArrowheads="1"/>
          </p:cNvSpPr>
          <p:nvPr/>
        </p:nvSpPr>
        <p:spPr bwMode="auto">
          <a:xfrm>
            <a:off x="1188938" y="3611563"/>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64525" name="Text Box 13"/>
          <p:cNvSpPr txBox="1">
            <a:spLocks noChangeArrowheads="1"/>
          </p:cNvSpPr>
          <p:nvPr/>
        </p:nvSpPr>
        <p:spPr bwMode="auto">
          <a:xfrm>
            <a:off x="1493738" y="173672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4526" name="Text Box 14"/>
          <p:cNvSpPr txBox="1">
            <a:spLocks noChangeArrowheads="1"/>
          </p:cNvSpPr>
          <p:nvPr/>
        </p:nvSpPr>
        <p:spPr bwMode="auto">
          <a:xfrm>
            <a:off x="731738" y="25447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64527" name="Text Box 15"/>
          <p:cNvSpPr txBox="1">
            <a:spLocks noChangeArrowheads="1"/>
          </p:cNvSpPr>
          <p:nvPr/>
        </p:nvSpPr>
        <p:spPr bwMode="auto">
          <a:xfrm>
            <a:off x="2271613" y="2498725"/>
            <a:ext cx="365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64528" name="Text Box 16"/>
          <p:cNvSpPr txBox="1">
            <a:spLocks noChangeArrowheads="1"/>
          </p:cNvSpPr>
          <p:nvPr/>
        </p:nvSpPr>
        <p:spPr bwMode="auto">
          <a:xfrm>
            <a:off x="1188938" y="35353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64529" name="Text Box 17"/>
          <p:cNvSpPr txBox="1">
            <a:spLocks noChangeArrowheads="1"/>
          </p:cNvSpPr>
          <p:nvPr/>
        </p:nvSpPr>
        <p:spPr bwMode="auto">
          <a:xfrm>
            <a:off x="1874738" y="3489325"/>
            <a:ext cx="228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64530" name="Rectangle 18"/>
          <p:cNvSpPr>
            <a:spLocks noChangeArrowheads="1"/>
          </p:cNvSpPr>
          <p:nvPr/>
        </p:nvSpPr>
        <p:spPr bwMode="auto">
          <a:xfrm>
            <a:off x="3341588" y="18589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31" name="Line 19"/>
          <p:cNvSpPr>
            <a:spLocks noChangeShapeType="1"/>
          </p:cNvSpPr>
          <p:nvPr/>
        </p:nvSpPr>
        <p:spPr bwMode="auto">
          <a:xfrm>
            <a:off x="3341588" y="2895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2" name="Line 20"/>
          <p:cNvSpPr>
            <a:spLocks noChangeShapeType="1"/>
          </p:cNvSpPr>
          <p:nvPr/>
        </p:nvSpPr>
        <p:spPr bwMode="auto">
          <a:xfrm flipH="1">
            <a:off x="1036538" y="2163763"/>
            <a:ext cx="381000" cy="381000"/>
          </a:xfrm>
          <a:prstGeom prst="line">
            <a:avLst/>
          </a:prstGeom>
          <a:noFill/>
          <a:ln w="28575">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3" name="Text Box 21"/>
          <p:cNvSpPr txBox="1">
            <a:spLocks noChangeArrowheads="1"/>
          </p:cNvSpPr>
          <p:nvPr/>
        </p:nvSpPr>
        <p:spPr bwMode="auto">
          <a:xfrm>
            <a:off x="3471763" y="2406650"/>
            <a:ext cx="3619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chemeClr val="accent2"/>
                </a:solidFill>
                <a:latin typeface="Times New Roman" panose="02020603050405020304" pitchFamily="18" charset="0"/>
                <a:ea typeface="宋体" panose="02010600030101010101" pitchFamily="2" charset="-122"/>
              </a:rPr>
              <a:t>b</a:t>
            </a:r>
            <a:endParaRPr kumimoji="1" lang="en-US" altLang="zh-CN" sz="2800" b="1" i="1">
              <a:solidFill>
                <a:schemeClr val="accent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4534" name="Line 22"/>
          <p:cNvSpPr>
            <a:spLocks noChangeShapeType="1"/>
          </p:cNvSpPr>
          <p:nvPr/>
        </p:nvSpPr>
        <p:spPr bwMode="auto">
          <a:xfrm>
            <a:off x="960338" y="3230563"/>
            <a:ext cx="228600" cy="45720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5" name="Line 23"/>
          <p:cNvSpPr>
            <a:spLocks noChangeShapeType="1"/>
          </p:cNvSpPr>
          <p:nvPr/>
        </p:nvSpPr>
        <p:spPr bwMode="auto">
          <a:xfrm>
            <a:off x="1265138" y="3078163"/>
            <a:ext cx="228600" cy="457200"/>
          </a:xfrm>
          <a:prstGeom prst="line">
            <a:avLst/>
          </a:prstGeom>
          <a:noFill/>
          <a:ln w="38100">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6" name="Line 24"/>
          <p:cNvSpPr>
            <a:spLocks noChangeShapeType="1"/>
          </p:cNvSpPr>
          <p:nvPr/>
        </p:nvSpPr>
        <p:spPr bwMode="auto">
          <a:xfrm flipH="1">
            <a:off x="1265138" y="2392363"/>
            <a:ext cx="381000" cy="381000"/>
          </a:xfrm>
          <a:prstGeom prst="line">
            <a:avLst/>
          </a:prstGeom>
          <a:noFill/>
          <a:ln w="28575">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7" name="Line 25"/>
          <p:cNvSpPr>
            <a:spLocks noChangeShapeType="1"/>
          </p:cNvSpPr>
          <p:nvPr/>
        </p:nvSpPr>
        <p:spPr bwMode="auto">
          <a:xfrm>
            <a:off x="1798538" y="2392363"/>
            <a:ext cx="381000" cy="38100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8" name="Line 26"/>
          <p:cNvSpPr>
            <a:spLocks noChangeShapeType="1"/>
          </p:cNvSpPr>
          <p:nvPr/>
        </p:nvSpPr>
        <p:spPr bwMode="auto">
          <a:xfrm flipH="1">
            <a:off x="2027138" y="3078163"/>
            <a:ext cx="152400" cy="45720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9" name="Line 27"/>
          <p:cNvSpPr>
            <a:spLocks noChangeShapeType="1"/>
          </p:cNvSpPr>
          <p:nvPr/>
        </p:nvSpPr>
        <p:spPr bwMode="auto">
          <a:xfrm flipH="1">
            <a:off x="2331938" y="3230563"/>
            <a:ext cx="152400" cy="457200"/>
          </a:xfrm>
          <a:prstGeom prst="line">
            <a:avLst/>
          </a:prstGeom>
          <a:noFill/>
          <a:ln w="38100">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0" name="Line 28"/>
          <p:cNvSpPr>
            <a:spLocks noChangeShapeType="1"/>
          </p:cNvSpPr>
          <p:nvPr/>
        </p:nvSpPr>
        <p:spPr bwMode="auto">
          <a:xfrm>
            <a:off x="2027138" y="2163763"/>
            <a:ext cx="381000" cy="381000"/>
          </a:xfrm>
          <a:prstGeom prst="line">
            <a:avLst/>
          </a:prstGeom>
          <a:noFill/>
          <a:ln w="38100">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1" name="Line 29"/>
          <p:cNvSpPr>
            <a:spLocks noChangeShapeType="1"/>
          </p:cNvSpPr>
          <p:nvPr/>
        </p:nvSpPr>
        <p:spPr bwMode="auto">
          <a:xfrm>
            <a:off x="3341588" y="18288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2" name="Line 30"/>
          <p:cNvSpPr>
            <a:spLocks noChangeShapeType="1"/>
          </p:cNvSpPr>
          <p:nvPr/>
        </p:nvSpPr>
        <p:spPr bwMode="auto">
          <a:xfrm>
            <a:off x="3951188" y="18288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3" name="Line 31"/>
          <p:cNvSpPr>
            <a:spLocks noChangeShapeType="1"/>
          </p:cNvSpPr>
          <p:nvPr/>
        </p:nvSpPr>
        <p:spPr bwMode="auto">
          <a:xfrm>
            <a:off x="3341588" y="3352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4" name="Line 32"/>
          <p:cNvSpPr>
            <a:spLocks noChangeShapeType="1"/>
          </p:cNvSpPr>
          <p:nvPr/>
        </p:nvSpPr>
        <p:spPr bwMode="auto">
          <a:xfrm>
            <a:off x="4332188" y="2895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5" name="Text Box 33"/>
          <p:cNvSpPr txBox="1">
            <a:spLocks noChangeArrowheads="1"/>
          </p:cNvSpPr>
          <p:nvPr/>
        </p:nvSpPr>
        <p:spPr bwMode="auto">
          <a:xfrm>
            <a:off x="4449663" y="28194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4546" name="Line 34"/>
          <p:cNvSpPr>
            <a:spLocks noChangeShapeType="1"/>
          </p:cNvSpPr>
          <p:nvPr/>
        </p:nvSpPr>
        <p:spPr bwMode="auto">
          <a:xfrm>
            <a:off x="4332188" y="18288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7" name="Line 35"/>
          <p:cNvSpPr>
            <a:spLocks noChangeShapeType="1"/>
          </p:cNvSpPr>
          <p:nvPr/>
        </p:nvSpPr>
        <p:spPr bwMode="auto">
          <a:xfrm>
            <a:off x="4941788" y="18288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8" name="Line 36"/>
          <p:cNvSpPr>
            <a:spLocks noChangeShapeType="1"/>
          </p:cNvSpPr>
          <p:nvPr/>
        </p:nvSpPr>
        <p:spPr bwMode="auto">
          <a:xfrm>
            <a:off x="4332188" y="3352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9" name="Line 37"/>
          <p:cNvSpPr>
            <a:spLocks noChangeShapeType="1"/>
          </p:cNvSpPr>
          <p:nvPr/>
        </p:nvSpPr>
        <p:spPr bwMode="auto">
          <a:xfrm>
            <a:off x="4332188" y="24384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0" name="Rectangle 38"/>
          <p:cNvSpPr>
            <a:spLocks noChangeArrowheads="1"/>
          </p:cNvSpPr>
          <p:nvPr/>
        </p:nvSpPr>
        <p:spPr bwMode="auto">
          <a:xfrm>
            <a:off x="5322788" y="18589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51" name="Line 39"/>
          <p:cNvSpPr>
            <a:spLocks noChangeShapeType="1"/>
          </p:cNvSpPr>
          <p:nvPr/>
        </p:nvSpPr>
        <p:spPr bwMode="auto">
          <a:xfrm>
            <a:off x="5322788" y="2895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2" name="Text Box 40"/>
          <p:cNvSpPr txBox="1">
            <a:spLocks noChangeArrowheads="1"/>
          </p:cNvSpPr>
          <p:nvPr/>
        </p:nvSpPr>
        <p:spPr bwMode="auto">
          <a:xfrm>
            <a:off x="5440263" y="2362200"/>
            <a:ext cx="3873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d</a:t>
            </a:r>
            <a:endParaRPr kumimoji="1" lang="en-US" altLang="zh-CN" sz="3200" b="1" i="1">
              <a:solidFill>
                <a:schemeClr val="accent2"/>
              </a:solidFill>
              <a:latin typeface="Times New Roman" panose="02020603050405020304" pitchFamily="18" charset="0"/>
              <a:ea typeface="宋体" panose="02010600030101010101" pitchFamily="2" charset="-122"/>
            </a:endParaRPr>
          </a:p>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4553" name="Line 41"/>
          <p:cNvSpPr>
            <a:spLocks noChangeShapeType="1"/>
          </p:cNvSpPr>
          <p:nvPr/>
        </p:nvSpPr>
        <p:spPr bwMode="auto">
          <a:xfrm>
            <a:off x="5322788" y="18288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4" name="Line 42"/>
          <p:cNvSpPr>
            <a:spLocks noChangeShapeType="1"/>
          </p:cNvSpPr>
          <p:nvPr/>
        </p:nvSpPr>
        <p:spPr bwMode="auto">
          <a:xfrm>
            <a:off x="5932388" y="18288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5" name="Line 43"/>
          <p:cNvSpPr>
            <a:spLocks noChangeShapeType="1"/>
          </p:cNvSpPr>
          <p:nvPr/>
        </p:nvSpPr>
        <p:spPr bwMode="auto">
          <a:xfrm>
            <a:off x="5322788" y="3352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6" name="Rectangle 44"/>
          <p:cNvSpPr>
            <a:spLocks noChangeArrowheads="1"/>
          </p:cNvSpPr>
          <p:nvPr/>
        </p:nvSpPr>
        <p:spPr bwMode="auto">
          <a:xfrm>
            <a:off x="6313388" y="18589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57" name="Line 45"/>
          <p:cNvSpPr>
            <a:spLocks noChangeShapeType="1"/>
          </p:cNvSpPr>
          <p:nvPr/>
        </p:nvSpPr>
        <p:spPr bwMode="auto">
          <a:xfrm>
            <a:off x="6313388" y="2895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8" name="Line 46"/>
          <p:cNvSpPr>
            <a:spLocks noChangeShapeType="1"/>
          </p:cNvSpPr>
          <p:nvPr/>
        </p:nvSpPr>
        <p:spPr bwMode="auto">
          <a:xfrm>
            <a:off x="6313388" y="18288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9" name="Line 47"/>
          <p:cNvSpPr>
            <a:spLocks noChangeShapeType="1"/>
          </p:cNvSpPr>
          <p:nvPr/>
        </p:nvSpPr>
        <p:spPr bwMode="auto">
          <a:xfrm>
            <a:off x="6922988" y="18288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0" name="Line 48"/>
          <p:cNvSpPr>
            <a:spLocks noChangeShapeType="1"/>
          </p:cNvSpPr>
          <p:nvPr/>
        </p:nvSpPr>
        <p:spPr bwMode="auto">
          <a:xfrm>
            <a:off x="6313388" y="3352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1" name="Rectangle 54"/>
          <p:cNvSpPr>
            <a:spLocks noChangeArrowheads="1"/>
          </p:cNvSpPr>
          <p:nvPr/>
        </p:nvSpPr>
        <p:spPr bwMode="auto">
          <a:xfrm>
            <a:off x="7303988" y="18589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62" name="Line 55"/>
          <p:cNvSpPr>
            <a:spLocks noChangeShapeType="1"/>
          </p:cNvSpPr>
          <p:nvPr/>
        </p:nvSpPr>
        <p:spPr bwMode="auto">
          <a:xfrm>
            <a:off x="7303988" y="2895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3" name="Line 56"/>
          <p:cNvSpPr>
            <a:spLocks noChangeShapeType="1"/>
          </p:cNvSpPr>
          <p:nvPr/>
        </p:nvSpPr>
        <p:spPr bwMode="auto">
          <a:xfrm>
            <a:off x="7303988" y="18288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4" name="Line 57"/>
          <p:cNvSpPr>
            <a:spLocks noChangeShapeType="1"/>
          </p:cNvSpPr>
          <p:nvPr/>
        </p:nvSpPr>
        <p:spPr bwMode="auto">
          <a:xfrm>
            <a:off x="7913588" y="18288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5" name="Line 58"/>
          <p:cNvSpPr>
            <a:spLocks noChangeShapeType="1"/>
          </p:cNvSpPr>
          <p:nvPr/>
        </p:nvSpPr>
        <p:spPr bwMode="auto">
          <a:xfrm>
            <a:off x="7303988" y="3352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6" name="Line 59"/>
          <p:cNvSpPr>
            <a:spLocks noChangeShapeType="1"/>
          </p:cNvSpPr>
          <p:nvPr/>
        </p:nvSpPr>
        <p:spPr bwMode="auto">
          <a:xfrm>
            <a:off x="3341588" y="24384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7" name="Line 60"/>
          <p:cNvSpPr>
            <a:spLocks noChangeShapeType="1"/>
          </p:cNvSpPr>
          <p:nvPr/>
        </p:nvSpPr>
        <p:spPr bwMode="auto">
          <a:xfrm>
            <a:off x="5322788" y="24384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8" name="Text Box 61"/>
          <p:cNvSpPr txBox="1">
            <a:spLocks noChangeArrowheads="1"/>
          </p:cNvSpPr>
          <p:nvPr/>
        </p:nvSpPr>
        <p:spPr bwMode="auto">
          <a:xfrm>
            <a:off x="6459438" y="28194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4569" name="Text Box 62"/>
          <p:cNvSpPr txBox="1">
            <a:spLocks noChangeArrowheads="1"/>
          </p:cNvSpPr>
          <p:nvPr/>
        </p:nvSpPr>
        <p:spPr bwMode="auto">
          <a:xfrm>
            <a:off x="3201888" y="3443288"/>
            <a:ext cx="901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anose="02010609030101010101" pitchFamily="49" charset="-122"/>
              </a:rPr>
              <a:t>左空</a:t>
            </a:r>
            <a:endParaRPr kumimoji="1" lang="zh-CN" altLang="en-US" sz="2400">
              <a:latin typeface="Times New Roman" panose="02020603050405020304" pitchFamily="18" charset="0"/>
              <a:ea typeface="宋体" panose="02010600030101010101" pitchFamily="2" charset="-122"/>
            </a:endParaRPr>
          </a:p>
        </p:txBody>
      </p:sp>
      <p:sp>
        <p:nvSpPr>
          <p:cNvPr id="64570" name="Text Box 63"/>
          <p:cNvSpPr txBox="1">
            <a:spLocks noChangeArrowheads="1"/>
          </p:cNvSpPr>
          <p:nvPr/>
        </p:nvSpPr>
        <p:spPr bwMode="auto">
          <a:xfrm>
            <a:off x="4192488" y="3429000"/>
            <a:ext cx="9017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anose="02010609030101010101" pitchFamily="49" charset="-122"/>
              </a:rPr>
              <a:t>退栈</a:t>
            </a:r>
            <a:endParaRPr kumimoji="1" lang="zh-CN" altLang="en-US" sz="2800" b="1">
              <a:solidFill>
                <a:schemeClr val="tx2"/>
              </a:solidFill>
              <a:latin typeface="Times New Roman" panose="02020603050405020304" pitchFamily="18" charset="0"/>
              <a:ea typeface="仿宋_GB2312" panose="02010609030101010101" pitchFamily="49" charset="-122"/>
            </a:endParaRPr>
          </a:p>
          <a:p>
            <a:pPr algn="ctr" eaLnBrk="1" hangingPunct="1"/>
            <a:r>
              <a:rPr kumimoji="1" lang="zh-CN" altLang="en-US" sz="2800" b="1">
                <a:solidFill>
                  <a:schemeClr val="tx2"/>
                </a:solidFill>
                <a:latin typeface="Times New Roman" panose="02020603050405020304" pitchFamily="18" charset="0"/>
                <a:ea typeface="仿宋_GB2312" panose="02010609030101010101" pitchFamily="49" charset="-122"/>
              </a:rPr>
              <a:t>访问</a:t>
            </a:r>
            <a:endParaRPr kumimoji="1" lang="zh-CN" altLang="en-US" sz="2400">
              <a:latin typeface="Times New Roman" panose="02020603050405020304" pitchFamily="18" charset="0"/>
              <a:ea typeface="宋体" panose="02010600030101010101" pitchFamily="2" charset="-122"/>
            </a:endParaRPr>
          </a:p>
        </p:txBody>
      </p:sp>
      <p:sp>
        <p:nvSpPr>
          <p:cNvPr id="64571" name="Text Box 64"/>
          <p:cNvSpPr txBox="1">
            <a:spLocks noChangeArrowheads="1"/>
          </p:cNvSpPr>
          <p:nvPr/>
        </p:nvSpPr>
        <p:spPr bwMode="auto">
          <a:xfrm>
            <a:off x="5183088" y="3443288"/>
            <a:ext cx="901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anose="02010609030101010101" pitchFamily="49" charset="-122"/>
              </a:rPr>
              <a:t>左空</a:t>
            </a:r>
            <a:endParaRPr kumimoji="1" lang="zh-CN" altLang="en-US" sz="2400">
              <a:latin typeface="Times New Roman" panose="02020603050405020304" pitchFamily="18" charset="0"/>
              <a:ea typeface="宋体" panose="02010600030101010101" pitchFamily="2" charset="-122"/>
            </a:endParaRPr>
          </a:p>
        </p:txBody>
      </p:sp>
      <p:sp>
        <p:nvSpPr>
          <p:cNvPr id="64572" name="Text Box 65"/>
          <p:cNvSpPr txBox="1">
            <a:spLocks noChangeArrowheads="1"/>
          </p:cNvSpPr>
          <p:nvPr/>
        </p:nvSpPr>
        <p:spPr bwMode="auto">
          <a:xfrm>
            <a:off x="6173688" y="3429000"/>
            <a:ext cx="9017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anose="02010609030101010101" pitchFamily="49" charset="-122"/>
              </a:rPr>
              <a:t>退栈</a:t>
            </a:r>
            <a:endParaRPr kumimoji="1" lang="zh-CN" altLang="en-US" sz="2800" b="1">
              <a:solidFill>
                <a:schemeClr val="tx2"/>
              </a:solidFill>
              <a:latin typeface="Times New Roman" panose="02020603050405020304" pitchFamily="18" charset="0"/>
              <a:ea typeface="仿宋_GB2312" panose="02010609030101010101" pitchFamily="49" charset="-122"/>
            </a:endParaRPr>
          </a:p>
          <a:p>
            <a:pPr algn="ctr" eaLnBrk="1" hangingPunct="1"/>
            <a:r>
              <a:rPr kumimoji="1" lang="zh-CN" altLang="en-US" sz="2800" b="1">
                <a:solidFill>
                  <a:schemeClr val="tx2"/>
                </a:solidFill>
                <a:latin typeface="Times New Roman" panose="02020603050405020304" pitchFamily="18" charset="0"/>
                <a:ea typeface="仿宋_GB2312" panose="02010609030101010101" pitchFamily="49" charset="-122"/>
              </a:rPr>
              <a:t>访问</a:t>
            </a:r>
            <a:endParaRPr kumimoji="1" lang="zh-CN" altLang="en-US" sz="2400">
              <a:latin typeface="Times New Roman" panose="02020603050405020304" pitchFamily="18" charset="0"/>
              <a:ea typeface="宋体" panose="02010600030101010101" pitchFamily="2" charset="-122"/>
            </a:endParaRPr>
          </a:p>
        </p:txBody>
      </p:sp>
      <p:sp>
        <p:nvSpPr>
          <p:cNvPr id="64573" name="Text Box 66"/>
          <p:cNvSpPr txBox="1">
            <a:spLocks noChangeArrowheads="1"/>
          </p:cNvSpPr>
          <p:nvPr/>
        </p:nvSpPr>
        <p:spPr bwMode="auto">
          <a:xfrm>
            <a:off x="7164288" y="3429000"/>
            <a:ext cx="9017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anose="02010609030101010101" pitchFamily="49" charset="-122"/>
              </a:rPr>
              <a:t>退栈</a:t>
            </a:r>
            <a:endParaRPr kumimoji="1" lang="zh-CN" altLang="en-US" sz="2800" b="1">
              <a:solidFill>
                <a:schemeClr val="tx2"/>
              </a:solidFill>
              <a:latin typeface="Times New Roman" panose="02020603050405020304" pitchFamily="18" charset="0"/>
              <a:ea typeface="仿宋_GB2312" panose="02010609030101010101" pitchFamily="49" charset="-122"/>
            </a:endParaRPr>
          </a:p>
          <a:p>
            <a:pPr algn="ctr" eaLnBrk="1" hangingPunct="1"/>
            <a:r>
              <a:rPr kumimoji="1" lang="zh-CN" altLang="en-US" sz="2800" b="1">
                <a:solidFill>
                  <a:schemeClr val="tx2"/>
                </a:solidFill>
                <a:latin typeface="Times New Roman" panose="02020603050405020304" pitchFamily="18" charset="0"/>
                <a:ea typeface="仿宋_GB2312" panose="02010609030101010101" pitchFamily="49" charset="-122"/>
              </a:rPr>
              <a:t>访问</a:t>
            </a:r>
            <a:endParaRPr kumimoji="1" lang="zh-CN" altLang="en-US" sz="2400">
              <a:latin typeface="Times New Roman" panose="02020603050405020304" pitchFamily="18" charset="0"/>
              <a:ea typeface="宋体" panose="02010600030101010101" pitchFamily="2" charset="-122"/>
            </a:endParaRPr>
          </a:p>
        </p:txBody>
      </p:sp>
      <p:sp>
        <p:nvSpPr>
          <p:cNvPr id="64574" name="Rectangle 67"/>
          <p:cNvSpPr>
            <a:spLocks noChangeArrowheads="1"/>
          </p:cNvSpPr>
          <p:nvPr/>
        </p:nvSpPr>
        <p:spPr bwMode="auto">
          <a:xfrm>
            <a:off x="903188" y="4449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75" name="Line 68"/>
          <p:cNvSpPr>
            <a:spLocks noChangeShapeType="1"/>
          </p:cNvSpPr>
          <p:nvPr/>
        </p:nvSpPr>
        <p:spPr bwMode="auto">
          <a:xfrm>
            <a:off x="903188" y="54864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76" name="Line 69"/>
          <p:cNvSpPr>
            <a:spLocks noChangeShapeType="1"/>
          </p:cNvSpPr>
          <p:nvPr/>
        </p:nvSpPr>
        <p:spPr bwMode="auto">
          <a:xfrm>
            <a:off x="903188" y="44196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77" name="Line 70"/>
          <p:cNvSpPr>
            <a:spLocks noChangeShapeType="1"/>
          </p:cNvSpPr>
          <p:nvPr/>
        </p:nvSpPr>
        <p:spPr bwMode="auto">
          <a:xfrm>
            <a:off x="1512788" y="44196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78" name="Line 71"/>
          <p:cNvSpPr>
            <a:spLocks noChangeShapeType="1"/>
          </p:cNvSpPr>
          <p:nvPr/>
        </p:nvSpPr>
        <p:spPr bwMode="auto">
          <a:xfrm>
            <a:off x="903188" y="5943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79" name="Text Box 73"/>
          <p:cNvSpPr txBox="1">
            <a:spLocks noChangeArrowheads="1"/>
          </p:cNvSpPr>
          <p:nvPr/>
        </p:nvSpPr>
        <p:spPr bwMode="auto">
          <a:xfrm>
            <a:off x="750788" y="6034088"/>
            <a:ext cx="901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anose="02010609030101010101" pitchFamily="49" charset="-122"/>
              </a:rPr>
              <a:t>左空</a:t>
            </a:r>
            <a:endParaRPr kumimoji="1" lang="zh-CN" altLang="en-US" sz="2400">
              <a:latin typeface="Times New Roman" panose="02020603050405020304" pitchFamily="18" charset="0"/>
              <a:ea typeface="宋体" panose="02010600030101010101" pitchFamily="2" charset="-122"/>
            </a:endParaRPr>
          </a:p>
        </p:txBody>
      </p:sp>
      <p:sp>
        <p:nvSpPr>
          <p:cNvPr id="64580" name="Text Box 74"/>
          <p:cNvSpPr txBox="1">
            <a:spLocks noChangeArrowheads="1"/>
          </p:cNvSpPr>
          <p:nvPr/>
        </p:nvSpPr>
        <p:spPr bwMode="auto">
          <a:xfrm>
            <a:off x="1055588" y="4953000"/>
            <a:ext cx="3651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e</a:t>
            </a:r>
            <a:endParaRPr kumimoji="1" lang="en-US" altLang="zh-CN" sz="3200" b="1" i="1">
              <a:solidFill>
                <a:schemeClr val="accent2"/>
              </a:solidFill>
              <a:latin typeface="Times New Roman" panose="02020603050405020304" pitchFamily="18" charset="0"/>
              <a:ea typeface="宋体" panose="02010600030101010101" pitchFamily="2" charset="-122"/>
            </a:endParaRPr>
          </a:p>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64581" name="Line 75"/>
          <p:cNvSpPr>
            <a:spLocks noChangeShapeType="1"/>
          </p:cNvSpPr>
          <p:nvPr/>
        </p:nvSpPr>
        <p:spPr bwMode="auto">
          <a:xfrm>
            <a:off x="903188" y="50292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2" name="Rectangle 77"/>
          <p:cNvSpPr>
            <a:spLocks noChangeArrowheads="1"/>
          </p:cNvSpPr>
          <p:nvPr/>
        </p:nvSpPr>
        <p:spPr bwMode="auto">
          <a:xfrm>
            <a:off x="2198588" y="4449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83" name="Line 78"/>
          <p:cNvSpPr>
            <a:spLocks noChangeShapeType="1"/>
          </p:cNvSpPr>
          <p:nvPr/>
        </p:nvSpPr>
        <p:spPr bwMode="auto">
          <a:xfrm>
            <a:off x="2198588" y="54864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4" name="Line 79"/>
          <p:cNvSpPr>
            <a:spLocks noChangeShapeType="1"/>
          </p:cNvSpPr>
          <p:nvPr/>
        </p:nvSpPr>
        <p:spPr bwMode="auto">
          <a:xfrm>
            <a:off x="2198588" y="44196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5" name="Line 80"/>
          <p:cNvSpPr>
            <a:spLocks noChangeShapeType="1"/>
          </p:cNvSpPr>
          <p:nvPr/>
        </p:nvSpPr>
        <p:spPr bwMode="auto">
          <a:xfrm>
            <a:off x="2808188" y="44196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6" name="Line 81"/>
          <p:cNvSpPr>
            <a:spLocks noChangeShapeType="1"/>
          </p:cNvSpPr>
          <p:nvPr/>
        </p:nvSpPr>
        <p:spPr bwMode="auto">
          <a:xfrm>
            <a:off x="2198588" y="5943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7" name="Rectangle 82"/>
          <p:cNvSpPr>
            <a:spLocks noChangeArrowheads="1"/>
          </p:cNvSpPr>
          <p:nvPr/>
        </p:nvSpPr>
        <p:spPr bwMode="auto">
          <a:xfrm>
            <a:off x="3493988" y="4449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88" name="Line 83"/>
          <p:cNvSpPr>
            <a:spLocks noChangeShapeType="1"/>
          </p:cNvSpPr>
          <p:nvPr/>
        </p:nvSpPr>
        <p:spPr bwMode="auto">
          <a:xfrm>
            <a:off x="3493988" y="54864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9" name="Line 84"/>
          <p:cNvSpPr>
            <a:spLocks noChangeShapeType="1"/>
          </p:cNvSpPr>
          <p:nvPr/>
        </p:nvSpPr>
        <p:spPr bwMode="auto">
          <a:xfrm>
            <a:off x="3493988" y="44196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0" name="Line 85"/>
          <p:cNvSpPr>
            <a:spLocks noChangeShapeType="1"/>
          </p:cNvSpPr>
          <p:nvPr/>
        </p:nvSpPr>
        <p:spPr bwMode="auto">
          <a:xfrm>
            <a:off x="4103588" y="44196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1" name="Line 86"/>
          <p:cNvSpPr>
            <a:spLocks noChangeShapeType="1"/>
          </p:cNvSpPr>
          <p:nvPr/>
        </p:nvSpPr>
        <p:spPr bwMode="auto">
          <a:xfrm>
            <a:off x="3493988" y="5943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2" name="Rectangle 87"/>
          <p:cNvSpPr>
            <a:spLocks noChangeArrowheads="1"/>
          </p:cNvSpPr>
          <p:nvPr/>
        </p:nvSpPr>
        <p:spPr bwMode="auto">
          <a:xfrm>
            <a:off x="4789388" y="4449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93" name="Line 88"/>
          <p:cNvSpPr>
            <a:spLocks noChangeShapeType="1"/>
          </p:cNvSpPr>
          <p:nvPr/>
        </p:nvSpPr>
        <p:spPr bwMode="auto">
          <a:xfrm>
            <a:off x="4789388" y="54864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4" name="Line 89"/>
          <p:cNvSpPr>
            <a:spLocks noChangeShapeType="1"/>
          </p:cNvSpPr>
          <p:nvPr/>
        </p:nvSpPr>
        <p:spPr bwMode="auto">
          <a:xfrm>
            <a:off x="4789388" y="44196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5" name="Line 90"/>
          <p:cNvSpPr>
            <a:spLocks noChangeShapeType="1"/>
          </p:cNvSpPr>
          <p:nvPr/>
        </p:nvSpPr>
        <p:spPr bwMode="auto">
          <a:xfrm>
            <a:off x="5398988" y="44196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6" name="Line 91"/>
          <p:cNvSpPr>
            <a:spLocks noChangeShapeType="1"/>
          </p:cNvSpPr>
          <p:nvPr/>
        </p:nvSpPr>
        <p:spPr bwMode="auto">
          <a:xfrm>
            <a:off x="4789388" y="5943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7" name="Text Box 92"/>
          <p:cNvSpPr txBox="1">
            <a:spLocks noChangeArrowheads="1"/>
          </p:cNvSpPr>
          <p:nvPr/>
        </p:nvSpPr>
        <p:spPr bwMode="auto">
          <a:xfrm>
            <a:off x="1588988" y="6034088"/>
            <a:ext cx="1816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anose="02010609030101010101" pitchFamily="49" charset="-122"/>
              </a:rPr>
              <a:t>退栈访问</a:t>
            </a:r>
            <a:endParaRPr kumimoji="1" lang="zh-CN" altLang="en-US" sz="2400">
              <a:latin typeface="Times New Roman" panose="02020603050405020304" pitchFamily="18" charset="0"/>
              <a:ea typeface="宋体" panose="02010600030101010101" pitchFamily="2" charset="-122"/>
            </a:endParaRPr>
          </a:p>
        </p:txBody>
      </p:sp>
      <p:sp>
        <p:nvSpPr>
          <p:cNvPr id="64598" name="Text Box 93"/>
          <p:cNvSpPr txBox="1">
            <a:spLocks noChangeArrowheads="1"/>
          </p:cNvSpPr>
          <p:nvPr/>
        </p:nvSpPr>
        <p:spPr bwMode="auto">
          <a:xfrm>
            <a:off x="2350988" y="5410200"/>
            <a:ext cx="365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64599" name="Text Box 94"/>
          <p:cNvSpPr txBox="1">
            <a:spLocks noChangeArrowheads="1"/>
          </p:cNvSpPr>
          <p:nvPr/>
        </p:nvSpPr>
        <p:spPr bwMode="auto">
          <a:xfrm>
            <a:off x="3646388" y="5410200"/>
            <a:ext cx="365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64600" name="Text Box 95"/>
          <p:cNvSpPr txBox="1">
            <a:spLocks noChangeArrowheads="1"/>
          </p:cNvSpPr>
          <p:nvPr/>
        </p:nvSpPr>
        <p:spPr bwMode="auto">
          <a:xfrm>
            <a:off x="3354288" y="6034088"/>
            <a:ext cx="901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anose="02010609030101010101" pitchFamily="49" charset="-122"/>
              </a:rPr>
              <a:t>右空</a:t>
            </a:r>
            <a:endParaRPr kumimoji="1" lang="zh-CN" altLang="en-US" sz="2400">
              <a:latin typeface="Times New Roman" panose="02020603050405020304" pitchFamily="18" charset="0"/>
              <a:ea typeface="宋体" panose="02010600030101010101" pitchFamily="2" charset="-122"/>
            </a:endParaRPr>
          </a:p>
        </p:txBody>
      </p:sp>
      <p:sp>
        <p:nvSpPr>
          <p:cNvPr id="64601" name="Text Box 96"/>
          <p:cNvSpPr txBox="1">
            <a:spLocks noChangeArrowheads="1"/>
          </p:cNvSpPr>
          <p:nvPr/>
        </p:nvSpPr>
        <p:spPr bwMode="auto">
          <a:xfrm>
            <a:off x="4103588" y="6034088"/>
            <a:ext cx="3797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anose="02010609030101010101" pitchFamily="49" charset="-122"/>
              </a:rPr>
              <a:t>退栈访问    栈空结束</a:t>
            </a:r>
            <a:endParaRPr kumimoji="1" lang="zh-CN" altLang="en-US" sz="2400">
              <a:latin typeface="Times New Roman" panose="02020603050405020304" pitchFamily="18" charset="0"/>
              <a:ea typeface="宋体" panose="02010600030101010101" pitchFamily="2" charset="-122"/>
            </a:endParaRPr>
          </a:p>
        </p:txBody>
      </p:sp>
      <p:sp>
        <p:nvSpPr>
          <p:cNvPr id="64602" name="Rectangle 97"/>
          <p:cNvSpPr>
            <a:spLocks noChangeArrowheads="1"/>
          </p:cNvSpPr>
          <p:nvPr/>
        </p:nvSpPr>
        <p:spPr bwMode="auto">
          <a:xfrm>
            <a:off x="6541988" y="4449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603" name="Line 98"/>
          <p:cNvSpPr>
            <a:spLocks noChangeShapeType="1"/>
          </p:cNvSpPr>
          <p:nvPr/>
        </p:nvSpPr>
        <p:spPr bwMode="auto">
          <a:xfrm>
            <a:off x="6541988" y="54864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604" name="Line 99"/>
          <p:cNvSpPr>
            <a:spLocks noChangeShapeType="1"/>
          </p:cNvSpPr>
          <p:nvPr/>
        </p:nvSpPr>
        <p:spPr bwMode="auto">
          <a:xfrm>
            <a:off x="6541988" y="44196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605" name="Line 100"/>
          <p:cNvSpPr>
            <a:spLocks noChangeShapeType="1"/>
          </p:cNvSpPr>
          <p:nvPr/>
        </p:nvSpPr>
        <p:spPr bwMode="auto">
          <a:xfrm>
            <a:off x="7151588" y="44196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p:cNvSpPr>
            <a:spLocks noGrp="1"/>
          </p:cNvSpPr>
          <p:nvPr>
            <p:ph type="title"/>
          </p:nvPr>
        </p:nvSpPr>
        <p:spPr/>
        <p:txBody>
          <a:bodyPr/>
          <a:lstStyle/>
          <a:p>
            <a:r>
              <a:rPr lang="zh-CN" altLang="en-US" dirty="0"/>
              <a:t>中序遍历非递归算法</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548680"/>
            <a:ext cx="7886700" cy="5628283"/>
          </a:xfrm>
        </p:spPr>
        <p:txBody>
          <a:bodyPr>
            <a:normAutofit fontScale="62500" lnSpcReduction="20000"/>
          </a:bodyPr>
          <a:lstStyle/>
          <a:p>
            <a:pPr marL="0" indent="0">
              <a:buNone/>
            </a:pPr>
            <a:r>
              <a:rPr lang="en-US" altLang="zh-CN" dirty="0"/>
              <a:t>template &lt;class T&gt; </a:t>
            </a:r>
            <a:endParaRPr lang="en-US" altLang="zh-CN" dirty="0"/>
          </a:p>
          <a:p>
            <a:pPr marL="0" indent="0">
              <a:buNone/>
            </a:pPr>
            <a:r>
              <a:rPr lang="en-US" altLang="zh-CN" dirty="0"/>
              <a:t>void </a:t>
            </a:r>
            <a:r>
              <a:rPr lang="en-US" altLang="zh-CN" dirty="0" err="1"/>
              <a:t>BinaryTree</a:t>
            </a:r>
            <a:r>
              <a:rPr lang="en-US" altLang="zh-CN" dirty="0"/>
              <a:t>&lt;T&gt; :: </a:t>
            </a:r>
            <a:r>
              <a:rPr lang="en-US" altLang="zh-CN" dirty="0" err="1"/>
              <a:t>InOrder</a:t>
            </a:r>
            <a:r>
              <a:rPr lang="en-US" altLang="zh-CN" dirty="0"/>
              <a:t> (void(*visit)(</a:t>
            </a:r>
            <a:r>
              <a:rPr lang="en-US" altLang="zh-CN" dirty="0" err="1"/>
              <a:t>BinTreeNode</a:t>
            </a:r>
            <a:r>
              <a:rPr lang="en-US" altLang="zh-CN" dirty="0"/>
              <a:t>&lt;T&gt; *p)) {</a:t>
            </a:r>
            <a:endParaRPr lang="en-US" altLang="zh-CN" dirty="0"/>
          </a:p>
          <a:p>
            <a:pPr marL="0" indent="0">
              <a:buNone/>
            </a:pPr>
            <a:r>
              <a:rPr lang="en-US" altLang="zh-CN" dirty="0"/>
              <a:t>    </a:t>
            </a:r>
            <a:r>
              <a:rPr lang="en-US" altLang="zh-CN" dirty="0" err="1"/>
              <a:t>LinkedStack</a:t>
            </a:r>
            <a:r>
              <a:rPr lang="en-US" altLang="zh-CN" dirty="0"/>
              <a:t>&lt;</a:t>
            </a:r>
            <a:r>
              <a:rPr lang="en-US" altLang="zh-CN" dirty="0" err="1"/>
              <a:t>BinTreeNode</a:t>
            </a:r>
            <a:r>
              <a:rPr lang="en-US" altLang="zh-CN" dirty="0"/>
              <a:t>&lt;T&gt;*&gt; S;;    </a:t>
            </a:r>
            <a:endParaRPr lang="en-US" altLang="zh-CN" dirty="0"/>
          </a:p>
          <a:p>
            <a:pPr marL="0" indent="0">
              <a:buNone/>
            </a:pPr>
            <a:r>
              <a:rPr lang="en-US" altLang="zh-CN" dirty="0"/>
              <a:t>    </a:t>
            </a:r>
            <a:r>
              <a:rPr lang="en-US" altLang="zh-CN" dirty="0" err="1"/>
              <a:t>BinTreeNode</a:t>
            </a:r>
            <a:r>
              <a:rPr lang="en-US" altLang="zh-CN" dirty="0"/>
              <a:t>&lt;T&gt; * p = root;   //</a:t>
            </a:r>
            <a:r>
              <a:rPr lang="zh-CN" altLang="en-US" dirty="0"/>
              <a:t>初始化</a:t>
            </a:r>
            <a:endParaRPr lang="zh-CN" altLang="en-US" dirty="0"/>
          </a:p>
          <a:p>
            <a:pPr marL="0" indent="0">
              <a:buNone/>
            </a:pPr>
            <a:r>
              <a:rPr lang="zh-CN" altLang="en-US" dirty="0"/>
              <a:t>    </a:t>
            </a:r>
            <a:r>
              <a:rPr lang="en-US" altLang="zh-CN" dirty="0"/>
              <a:t>do {</a:t>
            </a:r>
            <a:endParaRPr lang="en-US" altLang="zh-CN" dirty="0"/>
          </a:p>
          <a:p>
            <a:pPr marL="0" indent="0">
              <a:buNone/>
            </a:pPr>
            <a:r>
              <a:rPr lang="en-US" altLang="zh-CN" dirty="0"/>
              <a:t>        while ( p != NULL ) </a:t>
            </a:r>
            <a:endParaRPr lang="en-US" altLang="zh-CN" dirty="0"/>
          </a:p>
          <a:p>
            <a:pPr marL="0" indent="0">
              <a:buNone/>
            </a:pPr>
            <a:r>
              <a:rPr lang="en-US" altLang="zh-CN" dirty="0"/>
              <a:t>            { </a:t>
            </a:r>
            <a:r>
              <a:rPr lang="en-US" altLang="zh-CN" dirty="0" err="1"/>
              <a:t>S.Push</a:t>
            </a:r>
            <a:r>
              <a:rPr lang="en-US" altLang="zh-CN" dirty="0"/>
              <a:t>(p);   p = p-&gt;</a:t>
            </a:r>
            <a:r>
              <a:rPr lang="en-US" altLang="zh-CN" dirty="0" err="1"/>
              <a:t>leftChild</a:t>
            </a:r>
            <a:r>
              <a:rPr lang="en-US" altLang="zh-CN" dirty="0"/>
              <a:t>; }</a:t>
            </a:r>
            <a:endParaRPr lang="en-US" altLang="zh-CN" dirty="0"/>
          </a:p>
          <a:p>
            <a:pPr marL="0" indent="0">
              <a:buNone/>
            </a:pPr>
            <a:r>
              <a:rPr lang="en-US" altLang="zh-CN" dirty="0"/>
              <a:t>        if ( !</a:t>
            </a:r>
            <a:r>
              <a:rPr lang="en-US" altLang="zh-CN" dirty="0" err="1"/>
              <a:t>S.IsEmpty</a:t>
            </a:r>
            <a:r>
              <a:rPr lang="en-US" altLang="zh-CN" dirty="0"/>
              <a:t>( ) ) {                //</a:t>
            </a:r>
            <a:r>
              <a:rPr lang="zh-CN" altLang="en-US" dirty="0"/>
              <a:t>栈非空</a:t>
            </a:r>
            <a:endParaRPr lang="zh-CN" altLang="en-US" dirty="0"/>
          </a:p>
          <a:p>
            <a:pPr marL="0" indent="0">
              <a:buNone/>
            </a:pPr>
            <a:r>
              <a:rPr lang="zh-CN" altLang="en-US" dirty="0"/>
              <a:t>            </a:t>
            </a:r>
            <a:r>
              <a:rPr lang="en-US" altLang="zh-CN" dirty="0" err="1"/>
              <a:t>S.Pop</a:t>
            </a:r>
            <a:r>
              <a:rPr lang="en-US" altLang="zh-CN" dirty="0"/>
              <a:t>( p);                         //</a:t>
            </a:r>
            <a:r>
              <a:rPr lang="zh-CN" altLang="en-US" dirty="0"/>
              <a:t>退栈</a:t>
            </a:r>
            <a:endParaRPr lang="zh-CN" altLang="en-US" dirty="0"/>
          </a:p>
          <a:p>
            <a:pPr marL="0" indent="0">
              <a:buNone/>
            </a:pPr>
            <a:r>
              <a:rPr lang="zh-CN" altLang="en-US" dirty="0"/>
              <a:t>            </a:t>
            </a:r>
            <a:r>
              <a:rPr lang="en-US" altLang="zh-CN" dirty="0"/>
              <a:t>visit(p);                             //</a:t>
            </a:r>
            <a:r>
              <a:rPr lang="zh-CN" altLang="en-US" dirty="0"/>
              <a:t>访问根</a:t>
            </a:r>
            <a:endParaRPr lang="zh-CN" altLang="en-US" dirty="0"/>
          </a:p>
          <a:p>
            <a:pPr marL="0" indent="0">
              <a:buNone/>
            </a:pPr>
            <a:r>
              <a:rPr lang="zh-CN" altLang="en-US" dirty="0"/>
              <a:t>            </a:t>
            </a:r>
            <a:r>
              <a:rPr lang="en-US" altLang="zh-CN" dirty="0"/>
              <a:t>p = p-&gt;</a:t>
            </a:r>
            <a:r>
              <a:rPr lang="en-US" altLang="zh-CN" dirty="0" err="1"/>
              <a:t>rightChild</a:t>
            </a:r>
            <a:r>
              <a:rPr lang="en-US" altLang="zh-CN" dirty="0"/>
              <a:t>;           //</a:t>
            </a:r>
            <a:r>
              <a:rPr lang="zh-CN" altLang="en-US" dirty="0"/>
              <a:t>向右链走</a:t>
            </a:r>
            <a:endParaRPr lang="zh-CN" altLang="en-US" dirty="0"/>
          </a:p>
          <a:p>
            <a:pPr marL="0" indent="0">
              <a:buNone/>
            </a:pPr>
            <a:r>
              <a:rPr lang="zh-CN" altLang="en-US" dirty="0"/>
              <a:t>        </a:t>
            </a:r>
            <a:r>
              <a:rPr lang="en-US" altLang="zh-CN" dirty="0"/>
              <a:t>}</a:t>
            </a:r>
            <a:endParaRPr lang="en-US" altLang="zh-CN" dirty="0"/>
          </a:p>
          <a:p>
            <a:pPr marL="0" indent="0">
              <a:buNone/>
            </a:pPr>
            <a:r>
              <a:rPr lang="en-US" altLang="zh-CN" dirty="0"/>
              <a:t>    } while ( p != NULL || !</a:t>
            </a:r>
            <a:r>
              <a:rPr lang="en-US" altLang="zh-CN" dirty="0" err="1"/>
              <a:t>S.IsEmpty</a:t>
            </a:r>
            <a:r>
              <a:rPr lang="en-US" altLang="zh-CN" dirty="0"/>
              <a:t>( ) );</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3" name="灯片编号占位符 2"/>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6"/>
          <p:cNvSpPr>
            <a:spLocks noChangeArrowheads="1"/>
          </p:cNvSpPr>
          <p:nvPr/>
        </p:nvSpPr>
        <p:spPr bwMode="auto">
          <a:xfrm>
            <a:off x="5181600" y="2895600"/>
            <a:ext cx="2895600" cy="53340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6565" name="Line 5"/>
          <p:cNvSpPr>
            <a:spLocks noChangeShapeType="1"/>
          </p:cNvSpPr>
          <p:nvPr/>
        </p:nvSpPr>
        <p:spPr bwMode="auto">
          <a:xfrm flipH="1" flipV="1">
            <a:off x="6324600" y="2895600"/>
            <a:ext cx="0" cy="533400"/>
          </a:xfrm>
          <a:prstGeom prst="line">
            <a:avLst/>
          </a:prstGeom>
          <a:noFill/>
          <a:ln w="19050">
            <a:solidFill>
              <a:srgbClr val="3399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6" name="Text Box 7"/>
          <p:cNvSpPr txBox="1">
            <a:spLocks noChangeArrowheads="1"/>
          </p:cNvSpPr>
          <p:nvPr/>
        </p:nvSpPr>
        <p:spPr bwMode="auto">
          <a:xfrm>
            <a:off x="5416550" y="2849563"/>
            <a:ext cx="27368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ptr    tag{L,R}</a:t>
            </a:r>
            <a:r>
              <a:rPr kumimoji="1" lang="en-US" altLang="zh-CN" sz="2400">
                <a:latin typeface="Times New Roman" panose="02020603050405020304" pitchFamily="18" charset="0"/>
                <a:ea typeface="宋体" panose="02010600030101010101" pitchFamily="2" charset="-122"/>
              </a:rPr>
              <a:t> </a:t>
            </a:r>
            <a:endParaRPr kumimoji="1" lang="en-US" altLang="zh-CN"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zh-CN" altLang="en-US" dirty="0"/>
              <a:t>后序遍历非递归算法</a:t>
            </a:r>
            <a:endParaRPr lang="zh-CN" altLang="en-US" dirty="0"/>
          </a:p>
        </p:txBody>
      </p:sp>
      <p:sp>
        <p:nvSpPr>
          <p:cNvPr id="3" name="内容占位符 2"/>
          <p:cNvSpPr>
            <a:spLocks noGrp="1"/>
          </p:cNvSpPr>
          <p:nvPr>
            <p:ph idx="1"/>
          </p:nvPr>
        </p:nvSpPr>
        <p:spPr/>
        <p:txBody>
          <a:bodyPr>
            <a:normAutofit fontScale="77500" lnSpcReduction="20000"/>
          </a:bodyPr>
          <a:lstStyle/>
          <a:p>
            <a:r>
              <a:rPr lang="zh-CN" altLang="en-US" dirty="0"/>
              <a:t>后序遍历时使用的栈的结点定义</a:t>
            </a:r>
            <a:endParaRPr lang="zh-CN" altLang="en-US" dirty="0"/>
          </a:p>
          <a:p>
            <a:pPr marL="342900" lvl="1" indent="0">
              <a:buNone/>
            </a:pPr>
            <a:r>
              <a:rPr lang="en-US" altLang="zh-CN" dirty="0" err="1"/>
              <a:t>enum</a:t>
            </a:r>
            <a:r>
              <a:rPr lang="en-US" altLang="zh-CN" dirty="0"/>
              <a:t> </a:t>
            </a:r>
            <a:r>
              <a:rPr lang="en-US" altLang="zh-CN" dirty="0" err="1"/>
              <a:t>tt</a:t>
            </a:r>
            <a:r>
              <a:rPr lang="en-US" altLang="zh-CN" dirty="0"/>
              <a:t> { L, R }; </a:t>
            </a:r>
            <a:endParaRPr lang="en-US" altLang="zh-CN" dirty="0"/>
          </a:p>
          <a:p>
            <a:pPr marL="342900" lvl="1" indent="0">
              <a:buNone/>
            </a:pPr>
            <a:r>
              <a:rPr lang="en-US" altLang="zh-CN" dirty="0"/>
              <a:t>template &lt;class T&gt; struct </a:t>
            </a:r>
            <a:r>
              <a:rPr lang="en-US" altLang="zh-CN" dirty="0" err="1"/>
              <a:t>stkNode</a:t>
            </a:r>
            <a:r>
              <a:rPr lang="en-US" altLang="zh-CN" dirty="0"/>
              <a:t> {</a:t>
            </a:r>
            <a:endParaRPr lang="en-US" altLang="zh-CN" dirty="0"/>
          </a:p>
          <a:p>
            <a:pPr marL="342900" lvl="1" indent="0">
              <a:buNone/>
            </a:pPr>
            <a:r>
              <a:rPr lang="en-US" altLang="zh-CN" dirty="0"/>
              <a:t>    </a:t>
            </a:r>
            <a:r>
              <a:rPr lang="en-US" altLang="zh-CN" dirty="0" err="1"/>
              <a:t>BinTreeNode</a:t>
            </a:r>
            <a:r>
              <a:rPr lang="en-US" altLang="zh-CN" dirty="0"/>
              <a:t>&lt;T&gt; *</a:t>
            </a:r>
            <a:r>
              <a:rPr lang="en-US" altLang="zh-CN" dirty="0" err="1"/>
              <a:t>ptr</a:t>
            </a:r>
            <a:r>
              <a:rPr lang="en-US" altLang="zh-CN" dirty="0"/>
              <a:t>;</a:t>
            </a:r>
            <a:endParaRPr lang="en-US" altLang="zh-CN" dirty="0"/>
          </a:p>
          <a:p>
            <a:pPr marL="342900" lvl="1" indent="0">
              <a:buNone/>
            </a:pPr>
            <a:r>
              <a:rPr lang="en-US" altLang="zh-CN" dirty="0"/>
              <a:t>    </a:t>
            </a:r>
            <a:r>
              <a:rPr lang="en-US" altLang="zh-CN" dirty="0" err="1"/>
              <a:t>tt</a:t>
            </a:r>
            <a:r>
              <a:rPr lang="en-US" altLang="zh-CN" dirty="0"/>
              <a:t> tag;</a:t>
            </a:r>
            <a:endParaRPr lang="en-US" altLang="zh-CN" dirty="0"/>
          </a:p>
          <a:p>
            <a:pPr marL="342900" lvl="1" indent="0">
              <a:buNone/>
            </a:pPr>
            <a:r>
              <a:rPr lang="en-US" altLang="zh-CN" dirty="0"/>
              <a:t>       //</a:t>
            </a:r>
            <a:r>
              <a:rPr lang="zh-CN" altLang="en-US" dirty="0"/>
              <a:t>该结点退栈标记</a:t>
            </a:r>
            <a:endParaRPr lang="zh-CN" altLang="en-US" dirty="0"/>
          </a:p>
          <a:p>
            <a:pPr marL="342900" lvl="1" indent="0">
              <a:buNone/>
            </a:pPr>
            <a:r>
              <a:rPr lang="zh-CN" altLang="en-US" dirty="0"/>
              <a:t>    </a:t>
            </a:r>
            <a:r>
              <a:rPr lang="en-US" altLang="zh-CN" dirty="0" err="1"/>
              <a:t>stkNode</a:t>
            </a:r>
            <a:r>
              <a:rPr lang="en-US" altLang="zh-CN" dirty="0"/>
              <a:t> ( </a:t>
            </a:r>
            <a:r>
              <a:rPr lang="en-US" altLang="zh-CN" dirty="0" err="1"/>
              <a:t>BinTreeNode</a:t>
            </a:r>
            <a:r>
              <a:rPr lang="en-US" altLang="zh-CN" dirty="0"/>
              <a:t>&lt;T&gt;* N = NULL )</a:t>
            </a:r>
            <a:endParaRPr lang="en-US" altLang="zh-CN" dirty="0"/>
          </a:p>
          <a:p>
            <a:pPr marL="342900" lvl="1" indent="0">
              <a:buNone/>
            </a:pPr>
            <a:r>
              <a:rPr lang="en-US" altLang="zh-CN" dirty="0"/>
              <a:t>      : </a:t>
            </a:r>
            <a:r>
              <a:rPr lang="en-US" altLang="zh-CN" dirty="0" err="1"/>
              <a:t>ptr</a:t>
            </a:r>
            <a:r>
              <a:rPr lang="en-US" altLang="zh-CN" dirty="0"/>
              <a:t> (N),  tag ( L ) { }	   //</a:t>
            </a:r>
            <a:r>
              <a:rPr lang="zh-CN" altLang="en-US" dirty="0"/>
              <a:t>构造函数</a:t>
            </a:r>
            <a:endParaRPr lang="zh-CN" altLang="en-US" dirty="0"/>
          </a:p>
          <a:p>
            <a:pPr marL="342900" lvl="1" indent="0">
              <a:buNone/>
            </a:pPr>
            <a:r>
              <a:rPr lang="en-US" altLang="zh-CN" dirty="0"/>
              <a:t>};       </a:t>
            </a:r>
            <a:endParaRPr lang="en-US" altLang="zh-CN" dirty="0"/>
          </a:p>
          <a:p>
            <a:r>
              <a:rPr lang="zh-CN" altLang="en-US" dirty="0"/>
              <a:t>根结点的</a:t>
            </a:r>
            <a:r>
              <a:rPr lang="en-US" altLang="zh-CN" dirty="0"/>
              <a:t>tag = L</a:t>
            </a:r>
            <a:r>
              <a:rPr lang="zh-CN" altLang="en-US" dirty="0"/>
              <a:t>，表示从左子树退出</a:t>
            </a:r>
            <a:r>
              <a:rPr lang="en-US" altLang="zh-CN" dirty="0"/>
              <a:t>, </a:t>
            </a:r>
            <a:r>
              <a:rPr lang="zh-CN" altLang="en-US" dirty="0"/>
              <a:t>访问右子树。</a:t>
            </a:r>
            <a:r>
              <a:rPr lang="en-US" altLang="zh-CN" dirty="0"/>
              <a:t>tag = R, </a:t>
            </a:r>
            <a:r>
              <a:rPr lang="zh-CN" altLang="en-US" dirty="0"/>
              <a:t>表示从右子树退出</a:t>
            </a:r>
            <a:r>
              <a:rPr lang="en-US" altLang="zh-CN" dirty="0"/>
              <a:t>, </a:t>
            </a:r>
            <a:r>
              <a:rPr lang="zh-CN" altLang="en-US" dirty="0"/>
              <a:t>访问根。</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Line 14"/>
          <p:cNvSpPr>
            <a:spLocks noChangeShapeType="1"/>
          </p:cNvSpPr>
          <p:nvPr/>
        </p:nvSpPr>
        <p:spPr bwMode="auto">
          <a:xfrm flipH="1">
            <a:off x="1981200" y="1676400"/>
            <a:ext cx="304800" cy="83820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87" name="Line 13"/>
          <p:cNvSpPr>
            <a:spLocks noChangeShapeType="1"/>
          </p:cNvSpPr>
          <p:nvPr/>
        </p:nvSpPr>
        <p:spPr bwMode="auto">
          <a:xfrm>
            <a:off x="914400" y="1752600"/>
            <a:ext cx="304800" cy="68580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88" name="Line 12"/>
          <p:cNvSpPr>
            <a:spLocks noChangeShapeType="1"/>
          </p:cNvSpPr>
          <p:nvPr/>
        </p:nvSpPr>
        <p:spPr bwMode="auto">
          <a:xfrm>
            <a:off x="1676400" y="990600"/>
            <a:ext cx="609600" cy="53340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89" name="Line 11"/>
          <p:cNvSpPr>
            <a:spLocks noChangeShapeType="1"/>
          </p:cNvSpPr>
          <p:nvPr/>
        </p:nvSpPr>
        <p:spPr bwMode="auto">
          <a:xfrm flipH="1">
            <a:off x="914400" y="990600"/>
            <a:ext cx="533400" cy="53340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9797" name="Oval 5"/>
          <p:cNvSpPr>
            <a:spLocks noChangeArrowheads="1"/>
          </p:cNvSpPr>
          <p:nvPr/>
        </p:nvSpPr>
        <p:spPr bwMode="auto">
          <a:xfrm>
            <a:off x="1371600" y="609600"/>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algn="ctr" eaLnBrk="1" fontAlgn="auto" hangingPunct="1">
              <a:spcBef>
                <a:spcPts val="0"/>
              </a:spcBef>
              <a:spcAft>
                <a:spcPts val="0"/>
              </a:spcAft>
              <a:defRPr/>
            </a:pPr>
            <a:endParaRPr lang="zh-CN" altLang="zh-CN">
              <a:latin typeface="Times New Roman" panose="02020603050405020304" pitchFamily="18" charset="0"/>
              <a:ea typeface="+mn-ea"/>
            </a:endParaRPr>
          </a:p>
        </p:txBody>
      </p:sp>
      <p:sp>
        <p:nvSpPr>
          <p:cNvPr id="289799" name="Oval 7"/>
          <p:cNvSpPr>
            <a:spLocks noChangeArrowheads="1"/>
          </p:cNvSpPr>
          <p:nvPr/>
        </p:nvSpPr>
        <p:spPr bwMode="auto">
          <a:xfrm>
            <a:off x="609600" y="1371600"/>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289800" name="Oval 8"/>
          <p:cNvSpPr>
            <a:spLocks noChangeArrowheads="1"/>
          </p:cNvSpPr>
          <p:nvPr/>
        </p:nvSpPr>
        <p:spPr bwMode="auto">
          <a:xfrm>
            <a:off x="1676400" y="2362200"/>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289801" name="Oval 9"/>
          <p:cNvSpPr>
            <a:spLocks noChangeArrowheads="1"/>
          </p:cNvSpPr>
          <p:nvPr/>
        </p:nvSpPr>
        <p:spPr bwMode="auto">
          <a:xfrm>
            <a:off x="2133600" y="1371600"/>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289802" name="Oval 10"/>
          <p:cNvSpPr>
            <a:spLocks noChangeArrowheads="1"/>
          </p:cNvSpPr>
          <p:nvPr/>
        </p:nvSpPr>
        <p:spPr bwMode="auto">
          <a:xfrm>
            <a:off x="1066800" y="2362200"/>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67595" name="Text Box 16"/>
          <p:cNvSpPr txBox="1">
            <a:spLocks noChangeArrowheads="1"/>
          </p:cNvSpPr>
          <p:nvPr/>
        </p:nvSpPr>
        <p:spPr bwMode="auto">
          <a:xfrm>
            <a:off x="1371600" y="487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7596" name="Text Box 17"/>
          <p:cNvSpPr txBox="1">
            <a:spLocks noChangeArrowheads="1"/>
          </p:cNvSpPr>
          <p:nvPr/>
        </p:nvSpPr>
        <p:spPr bwMode="auto">
          <a:xfrm>
            <a:off x="609600" y="12954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67597" name="Text Box 18"/>
          <p:cNvSpPr txBox="1">
            <a:spLocks noChangeArrowheads="1"/>
          </p:cNvSpPr>
          <p:nvPr/>
        </p:nvSpPr>
        <p:spPr bwMode="auto">
          <a:xfrm>
            <a:off x="2149475" y="1249363"/>
            <a:ext cx="3651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67598" name="Text Box 19"/>
          <p:cNvSpPr txBox="1">
            <a:spLocks noChangeArrowheads="1"/>
          </p:cNvSpPr>
          <p:nvPr/>
        </p:nvSpPr>
        <p:spPr bwMode="auto">
          <a:xfrm>
            <a:off x="1066800" y="22860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67599" name="Text Box 20"/>
          <p:cNvSpPr txBox="1">
            <a:spLocks noChangeArrowheads="1"/>
          </p:cNvSpPr>
          <p:nvPr/>
        </p:nvSpPr>
        <p:spPr bwMode="auto">
          <a:xfrm>
            <a:off x="1752600" y="2239963"/>
            <a:ext cx="228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67600" name="Rectangle 21"/>
          <p:cNvSpPr>
            <a:spLocks noChangeArrowheads="1"/>
          </p:cNvSpPr>
          <p:nvPr/>
        </p:nvSpPr>
        <p:spPr bwMode="auto">
          <a:xfrm>
            <a:off x="3200400" y="8382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01" name="Line 22"/>
          <p:cNvSpPr>
            <a:spLocks noChangeShapeType="1"/>
          </p:cNvSpPr>
          <p:nvPr/>
        </p:nvSpPr>
        <p:spPr bwMode="auto">
          <a:xfrm flipH="1">
            <a:off x="3200400" y="8382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2" name="Line 23"/>
          <p:cNvSpPr>
            <a:spLocks noChangeShapeType="1"/>
          </p:cNvSpPr>
          <p:nvPr/>
        </p:nvSpPr>
        <p:spPr bwMode="auto">
          <a:xfrm flipH="1">
            <a:off x="3810000" y="8382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3" name="Line 24"/>
          <p:cNvSpPr>
            <a:spLocks noChangeShapeType="1"/>
          </p:cNvSpPr>
          <p:nvPr/>
        </p:nvSpPr>
        <p:spPr bwMode="auto">
          <a:xfrm>
            <a:off x="3200400" y="23622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4" name="Line 25"/>
          <p:cNvSpPr>
            <a:spLocks noChangeShapeType="1"/>
          </p:cNvSpPr>
          <p:nvPr/>
        </p:nvSpPr>
        <p:spPr bwMode="auto">
          <a:xfrm>
            <a:off x="3200400" y="19050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5" name="Rectangle 26"/>
          <p:cNvSpPr>
            <a:spLocks noChangeArrowheads="1"/>
          </p:cNvSpPr>
          <p:nvPr/>
        </p:nvSpPr>
        <p:spPr bwMode="auto">
          <a:xfrm>
            <a:off x="4191000" y="8382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06" name="Line 27"/>
          <p:cNvSpPr>
            <a:spLocks noChangeShapeType="1"/>
          </p:cNvSpPr>
          <p:nvPr/>
        </p:nvSpPr>
        <p:spPr bwMode="auto">
          <a:xfrm flipH="1">
            <a:off x="4191000" y="8382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7" name="Line 28"/>
          <p:cNvSpPr>
            <a:spLocks noChangeShapeType="1"/>
          </p:cNvSpPr>
          <p:nvPr/>
        </p:nvSpPr>
        <p:spPr bwMode="auto">
          <a:xfrm flipH="1">
            <a:off x="4800600" y="8382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8" name="Line 29"/>
          <p:cNvSpPr>
            <a:spLocks noChangeShapeType="1"/>
          </p:cNvSpPr>
          <p:nvPr/>
        </p:nvSpPr>
        <p:spPr bwMode="auto">
          <a:xfrm>
            <a:off x="4191000" y="23622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9" name="Line 30"/>
          <p:cNvSpPr>
            <a:spLocks noChangeShapeType="1"/>
          </p:cNvSpPr>
          <p:nvPr/>
        </p:nvSpPr>
        <p:spPr bwMode="auto">
          <a:xfrm>
            <a:off x="4191000" y="19050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0" name="Line 31"/>
          <p:cNvSpPr>
            <a:spLocks noChangeShapeType="1"/>
          </p:cNvSpPr>
          <p:nvPr/>
        </p:nvSpPr>
        <p:spPr bwMode="auto">
          <a:xfrm flipH="1">
            <a:off x="914400" y="914400"/>
            <a:ext cx="381000" cy="381000"/>
          </a:xfrm>
          <a:prstGeom prst="line">
            <a:avLst/>
          </a:prstGeom>
          <a:noFill/>
          <a:ln w="28575">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1" name="Text Box 32"/>
          <p:cNvSpPr txBox="1">
            <a:spLocks noChangeArrowheads="1"/>
          </p:cNvSpPr>
          <p:nvPr/>
        </p:nvSpPr>
        <p:spPr bwMode="auto">
          <a:xfrm>
            <a:off x="3230563" y="1858963"/>
            <a:ext cx="5984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12" name="Rectangle 33"/>
          <p:cNvSpPr>
            <a:spLocks noChangeArrowheads="1"/>
          </p:cNvSpPr>
          <p:nvPr/>
        </p:nvSpPr>
        <p:spPr bwMode="auto">
          <a:xfrm>
            <a:off x="5181600" y="8382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13" name="Line 34"/>
          <p:cNvSpPr>
            <a:spLocks noChangeShapeType="1"/>
          </p:cNvSpPr>
          <p:nvPr/>
        </p:nvSpPr>
        <p:spPr bwMode="auto">
          <a:xfrm flipH="1">
            <a:off x="5181600" y="8382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4" name="Line 35"/>
          <p:cNvSpPr>
            <a:spLocks noChangeShapeType="1"/>
          </p:cNvSpPr>
          <p:nvPr/>
        </p:nvSpPr>
        <p:spPr bwMode="auto">
          <a:xfrm flipH="1">
            <a:off x="5791200" y="8382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5" name="Line 36"/>
          <p:cNvSpPr>
            <a:spLocks noChangeShapeType="1"/>
          </p:cNvSpPr>
          <p:nvPr/>
        </p:nvSpPr>
        <p:spPr bwMode="auto">
          <a:xfrm>
            <a:off x="5181600" y="23622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6" name="Line 37"/>
          <p:cNvSpPr>
            <a:spLocks noChangeShapeType="1"/>
          </p:cNvSpPr>
          <p:nvPr/>
        </p:nvSpPr>
        <p:spPr bwMode="auto">
          <a:xfrm>
            <a:off x="5181600" y="19050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7" name="Text Box 38"/>
          <p:cNvSpPr txBox="1">
            <a:spLocks noChangeArrowheads="1"/>
          </p:cNvSpPr>
          <p:nvPr/>
        </p:nvSpPr>
        <p:spPr bwMode="auto">
          <a:xfrm>
            <a:off x="4221163" y="1408113"/>
            <a:ext cx="5984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800" b="1">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18" name="Line 39"/>
          <p:cNvSpPr>
            <a:spLocks noChangeShapeType="1"/>
          </p:cNvSpPr>
          <p:nvPr/>
        </p:nvSpPr>
        <p:spPr bwMode="auto">
          <a:xfrm>
            <a:off x="4191000" y="1447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9" name="Line 40"/>
          <p:cNvSpPr>
            <a:spLocks noChangeShapeType="1"/>
          </p:cNvSpPr>
          <p:nvPr/>
        </p:nvSpPr>
        <p:spPr bwMode="auto">
          <a:xfrm>
            <a:off x="838200" y="1981200"/>
            <a:ext cx="228600" cy="45720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0" name="Text Box 41"/>
          <p:cNvSpPr txBox="1">
            <a:spLocks noChangeArrowheads="1"/>
          </p:cNvSpPr>
          <p:nvPr/>
        </p:nvSpPr>
        <p:spPr bwMode="auto">
          <a:xfrm>
            <a:off x="5110163" y="1408113"/>
            <a:ext cx="83343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800" b="1">
              <a:solidFill>
                <a:srgbClr val="009900"/>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21" name="Line 42"/>
          <p:cNvSpPr>
            <a:spLocks noChangeShapeType="1"/>
          </p:cNvSpPr>
          <p:nvPr/>
        </p:nvSpPr>
        <p:spPr bwMode="auto">
          <a:xfrm>
            <a:off x="5181600" y="1447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2" name="Rectangle 43"/>
          <p:cNvSpPr>
            <a:spLocks noChangeArrowheads="1"/>
          </p:cNvSpPr>
          <p:nvPr/>
        </p:nvSpPr>
        <p:spPr bwMode="auto">
          <a:xfrm>
            <a:off x="6172200" y="8382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23" name="Line 44"/>
          <p:cNvSpPr>
            <a:spLocks noChangeShapeType="1"/>
          </p:cNvSpPr>
          <p:nvPr/>
        </p:nvSpPr>
        <p:spPr bwMode="auto">
          <a:xfrm flipH="1">
            <a:off x="6172200" y="8382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4" name="Line 45"/>
          <p:cNvSpPr>
            <a:spLocks noChangeShapeType="1"/>
          </p:cNvSpPr>
          <p:nvPr/>
        </p:nvSpPr>
        <p:spPr bwMode="auto">
          <a:xfrm flipH="1">
            <a:off x="6781800" y="8382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5" name="Line 46"/>
          <p:cNvSpPr>
            <a:spLocks noChangeShapeType="1"/>
          </p:cNvSpPr>
          <p:nvPr/>
        </p:nvSpPr>
        <p:spPr bwMode="auto">
          <a:xfrm>
            <a:off x="6172200" y="2360613"/>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6" name="Line 47"/>
          <p:cNvSpPr>
            <a:spLocks noChangeShapeType="1"/>
          </p:cNvSpPr>
          <p:nvPr/>
        </p:nvSpPr>
        <p:spPr bwMode="auto">
          <a:xfrm>
            <a:off x="6172200" y="1903413"/>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7" name="Line 48"/>
          <p:cNvSpPr>
            <a:spLocks noChangeShapeType="1"/>
          </p:cNvSpPr>
          <p:nvPr/>
        </p:nvSpPr>
        <p:spPr bwMode="auto">
          <a:xfrm>
            <a:off x="6172200" y="1446213"/>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8" name="Line 49"/>
          <p:cNvSpPr>
            <a:spLocks noChangeShapeType="1"/>
          </p:cNvSpPr>
          <p:nvPr/>
        </p:nvSpPr>
        <p:spPr bwMode="auto">
          <a:xfrm>
            <a:off x="6172200" y="990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9" name="Text Box 50"/>
          <p:cNvSpPr txBox="1">
            <a:spLocks noChangeArrowheads="1"/>
          </p:cNvSpPr>
          <p:nvPr/>
        </p:nvSpPr>
        <p:spPr bwMode="auto">
          <a:xfrm>
            <a:off x="6172200" y="989013"/>
            <a:ext cx="61912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d</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30" name="Rectangle 51"/>
          <p:cNvSpPr>
            <a:spLocks noChangeArrowheads="1"/>
          </p:cNvSpPr>
          <p:nvPr/>
        </p:nvSpPr>
        <p:spPr bwMode="auto">
          <a:xfrm>
            <a:off x="7620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31" name="Line 52"/>
          <p:cNvSpPr>
            <a:spLocks noChangeShapeType="1"/>
          </p:cNvSpPr>
          <p:nvPr/>
        </p:nvSpPr>
        <p:spPr bwMode="auto">
          <a:xfrm flipH="1">
            <a:off x="7620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2" name="Line 53"/>
          <p:cNvSpPr>
            <a:spLocks noChangeShapeType="1"/>
          </p:cNvSpPr>
          <p:nvPr/>
        </p:nvSpPr>
        <p:spPr bwMode="auto">
          <a:xfrm flipH="1">
            <a:off x="13716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3" name="Line 54"/>
          <p:cNvSpPr>
            <a:spLocks noChangeShapeType="1"/>
          </p:cNvSpPr>
          <p:nvPr/>
        </p:nvSpPr>
        <p:spPr bwMode="auto">
          <a:xfrm>
            <a:off x="762000" y="49530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4" name="Line 55"/>
          <p:cNvSpPr>
            <a:spLocks noChangeShapeType="1"/>
          </p:cNvSpPr>
          <p:nvPr/>
        </p:nvSpPr>
        <p:spPr bwMode="auto">
          <a:xfrm>
            <a:off x="762000" y="4495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5" name="Rectangle 56"/>
          <p:cNvSpPr>
            <a:spLocks noChangeArrowheads="1"/>
          </p:cNvSpPr>
          <p:nvPr/>
        </p:nvSpPr>
        <p:spPr bwMode="auto">
          <a:xfrm>
            <a:off x="7239000" y="8382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36" name="Line 57"/>
          <p:cNvSpPr>
            <a:spLocks noChangeShapeType="1"/>
          </p:cNvSpPr>
          <p:nvPr/>
        </p:nvSpPr>
        <p:spPr bwMode="auto">
          <a:xfrm flipH="1">
            <a:off x="7239000" y="8382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7" name="Line 58"/>
          <p:cNvSpPr>
            <a:spLocks noChangeShapeType="1"/>
          </p:cNvSpPr>
          <p:nvPr/>
        </p:nvSpPr>
        <p:spPr bwMode="auto">
          <a:xfrm flipH="1">
            <a:off x="7848600" y="8382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8" name="Line 59"/>
          <p:cNvSpPr>
            <a:spLocks noChangeShapeType="1"/>
          </p:cNvSpPr>
          <p:nvPr/>
        </p:nvSpPr>
        <p:spPr bwMode="auto">
          <a:xfrm>
            <a:off x="7239000" y="23622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9" name="Line 60"/>
          <p:cNvSpPr>
            <a:spLocks noChangeShapeType="1"/>
          </p:cNvSpPr>
          <p:nvPr/>
        </p:nvSpPr>
        <p:spPr bwMode="auto">
          <a:xfrm>
            <a:off x="7239000" y="19050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0" name="Text Box 61"/>
          <p:cNvSpPr txBox="1">
            <a:spLocks noChangeArrowheads="1"/>
          </p:cNvSpPr>
          <p:nvPr/>
        </p:nvSpPr>
        <p:spPr bwMode="auto">
          <a:xfrm>
            <a:off x="7239000" y="990600"/>
            <a:ext cx="6191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d</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800" b="1">
              <a:solidFill>
                <a:schemeClr val="tx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800" b="1">
              <a:solidFill>
                <a:schemeClr val="tx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41" name="Line 62"/>
          <p:cNvSpPr>
            <a:spLocks noChangeShapeType="1"/>
          </p:cNvSpPr>
          <p:nvPr/>
        </p:nvSpPr>
        <p:spPr bwMode="auto">
          <a:xfrm>
            <a:off x="7239000" y="1447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2" name="Line 63"/>
          <p:cNvSpPr>
            <a:spLocks noChangeShapeType="1"/>
          </p:cNvSpPr>
          <p:nvPr/>
        </p:nvSpPr>
        <p:spPr bwMode="auto">
          <a:xfrm>
            <a:off x="7239000" y="990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3" name="Rectangle 64"/>
          <p:cNvSpPr>
            <a:spLocks noChangeArrowheads="1"/>
          </p:cNvSpPr>
          <p:nvPr/>
        </p:nvSpPr>
        <p:spPr bwMode="auto">
          <a:xfrm>
            <a:off x="17526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44" name="Line 65"/>
          <p:cNvSpPr>
            <a:spLocks noChangeShapeType="1"/>
          </p:cNvSpPr>
          <p:nvPr/>
        </p:nvSpPr>
        <p:spPr bwMode="auto">
          <a:xfrm flipH="1">
            <a:off x="17526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5" name="Line 66"/>
          <p:cNvSpPr>
            <a:spLocks noChangeShapeType="1"/>
          </p:cNvSpPr>
          <p:nvPr/>
        </p:nvSpPr>
        <p:spPr bwMode="auto">
          <a:xfrm flipH="1">
            <a:off x="23622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6" name="Line 67"/>
          <p:cNvSpPr>
            <a:spLocks noChangeShapeType="1"/>
          </p:cNvSpPr>
          <p:nvPr/>
        </p:nvSpPr>
        <p:spPr bwMode="auto">
          <a:xfrm>
            <a:off x="1752600" y="49530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7" name="Line 68"/>
          <p:cNvSpPr>
            <a:spLocks noChangeShapeType="1"/>
          </p:cNvSpPr>
          <p:nvPr/>
        </p:nvSpPr>
        <p:spPr bwMode="auto">
          <a:xfrm>
            <a:off x="1752600" y="4495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8" name="Rectangle 69"/>
          <p:cNvSpPr>
            <a:spLocks noChangeArrowheads="1"/>
          </p:cNvSpPr>
          <p:nvPr/>
        </p:nvSpPr>
        <p:spPr bwMode="auto">
          <a:xfrm>
            <a:off x="27432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49" name="Line 70"/>
          <p:cNvSpPr>
            <a:spLocks noChangeShapeType="1"/>
          </p:cNvSpPr>
          <p:nvPr/>
        </p:nvSpPr>
        <p:spPr bwMode="auto">
          <a:xfrm>
            <a:off x="27432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0" name="Line 71"/>
          <p:cNvSpPr>
            <a:spLocks noChangeShapeType="1"/>
          </p:cNvSpPr>
          <p:nvPr/>
        </p:nvSpPr>
        <p:spPr bwMode="auto">
          <a:xfrm flipH="1">
            <a:off x="33528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1" name="Line 72"/>
          <p:cNvSpPr>
            <a:spLocks noChangeShapeType="1"/>
          </p:cNvSpPr>
          <p:nvPr/>
        </p:nvSpPr>
        <p:spPr bwMode="auto">
          <a:xfrm>
            <a:off x="2743200" y="49530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2" name="Line 73"/>
          <p:cNvSpPr>
            <a:spLocks noChangeShapeType="1"/>
          </p:cNvSpPr>
          <p:nvPr/>
        </p:nvSpPr>
        <p:spPr bwMode="auto">
          <a:xfrm>
            <a:off x="2743200" y="4495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3" name="Rectangle 74"/>
          <p:cNvSpPr>
            <a:spLocks noChangeArrowheads="1"/>
          </p:cNvSpPr>
          <p:nvPr/>
        </p:nvSpPr>
        <p:spPr bwMode="auto">
          <a:xfrm>
            <a:off x="37338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54" name="Line 75"/>
          <p:cNvSpPr>
            <a:spLocks noChangeShapeType="1"/>
          </p:cNvSpPr>
          <p:nvPr/>
        </p:nvSpPr>
        <p:spPr bwMode="auto">
          <a:xfrm flipH="1">
            <a:off x="37338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5" name="Line 76"/>
          <p:cNvSpPr>
            <a:spLocks noChangeShapeType="1"/>
          </p:cNvSpPr>
          <p:nvPr/>
        </p:nvSpPr>
        <p:spPr bwMode="auto">
          <a:xfrm flipH="1">
            <a:off x="43434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6" name="Line 77"/>
          <p:cNvSpPr>
            <a:spLocks noChangeShapeType="1"/>
          </p:cNvSpPr>
          <p:nvPr/>
        </p:nvSpPr>
        <p:spPr bwMode="auto">
          <a:xfrm>
            <a:off x="3733800" y="49530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7" name="Line 78"/>
          <p:cNvSpPr>
            <a:spLocks noChangeShapeType="1"/>
          </p:cNvSpPr>
          <p:nvPr/>
        </p:nvSpPr>
        <p:spPr bwMode="auto">
          <a:xfrm>
            <a:off x="3733800" y="4495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8" name="Text Box 79"/>
          <p:cNvSpPr txBox="1">
            <a:spLocks noChangeArrowheads="1"/>
          </p:cNvSpPr>
          <p:nvPr/>
        </p:nvSpPr>
        <p:spPr bwMode="auto">
          <a:xfrm>
            <a:off x="762000" y="4006850"/>
            <a:ext cx="6191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59" name="Line 80"/>
          <p:cNvSpPr>
            <a:spLocks noChangeShapeType="1"/>
          </p:cNvSpPr>
          <p:nvPr/>
        </p:nvSpPr>
        <p:spPr bwMode="auto">
          <a:xfrm>
            <a:off x="762000" y="4038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60" name="Text Box 81"/>
          <p:cNvSpPr txBox="1">
            <a:spLocks noChangeArrowheads="1"/>
          </p:cNvSpPr>
          <p:nvPr/>
        </p:nvSpPr>
        <p:spPr bwMode="auto">
          <a:xfrm>
            <a:off x="1763713" y="4433888"/>
            <a:ext cx="5984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61" name="Text Box 82"/>
          <p:cNvSpPr txBox="1">
            <a:spLocks noChangeArrowheads="1"/>
          </p:cNvSpPr>
          <p:nvPr/>
        </p:nvSpPr>
        <p:spPr bwMode="auto">
          <a:xfrm>
            <a:off x="2743200" y="4433888"/>
            <a:ext cx="619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67662" name="Text Box 83"/>
          <p:cNvSpPr txBox="1">
            <a:spLocks noChangeArrowheads="1"/>
          </p:cNvSpPr>
          <p:nvPr/>
        </p:nvSpPr>
        <p:spPr bwMode="auto">
          <a:xfrm>
            <a:off x="3733800" y="3581400"/>
            <a:ext cx="6191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e</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c</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67663" name="Line 84"/>
          <p:cNvSpPr>
            <a:spLocks noChangeShapeType="1"/>
          </p:cNvSpPr>
          <p:nvPr/>
        </p:nvSpPr>
        <p:spPr bwMode="auto">
          <a:xfrm>
            <a:off x="3733800" y="4038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64" name="Line 85"/>
          <p:cNvSpPr>
            <a:spLocks noChangeShapeType="1"/>
          </p:cNvSpPr>
          <p:nvPr/>
        </p:nvSpPr>
        <p:spPr bwMode="auto">
          <a:xfrm>
            <a:off x="3733800" y="35814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65" name="Rectangle 86"/>
          <p:cNvSpPr>
            <a:spLocks noChangeArrowheads="1"/>
          </p:cNvSpPr>
          <p:nvPr/>
        </p:nvSpPr>
        <p:spPr bwMode="auto">
          <a:xfrm>
            <a:off x="47244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66" name="Line 87"/>
          <p:cNvSpPr>
            <a:spLocks noChangeShapeType="1"/>
          </p:cNvSpPr>
          <p:nvPr/>
        </p:nvSpPr>
        <p:spPr bwMode="auto">
          <a:xfrm flipH="1">
            <a:off x="47244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67" name="Line 88"/>
          <p:cNvSpPr>
            <a:spLocks noChangeShapeType="1"/>
          </p:cNvSpPr>
          <p:nvPr/>
        </p:nvSpPr>
        <p:spPr bwMode="auto">
          <a:xfrm flipH="1">
            <a:off x="53340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68" name="Line 89"/>
          <p:cNvSpPr>
            <a:spLocks noChangeShapeType="1"/>
          </p:cNvSpPr>
          <p:nvPr/>
        </p:nvSpPr>
        <p:spPr bwMode="auto">
          <a:xfrm>
            <a:off x="4724400" y="49530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69" name="Line 90"/>
          <p:cNvSpPr>
            <a:spLocks noChangeShapeType="1"/>
          </p:cNvSpPr>
          <p:nvPr/>
        </p:nvSpPr>
        <p:spPr bwMode="auto">
          <a:xfrm>
            <a:off x="4724400" y="4495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0" name="Text Box 91"/>
          <p:cNvSpPr txBox="1">
            <a:spLocks noChangeArrowheads="1"/>
          </p:cNvSpPr>
          <p:nvPr/>
        </p:nvSpPr>
        <p:spPr bwMode="auto">
          <a:xfrm>
            <a:off x="4714875" y="3579813"/>
            <a:ext cx="61912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e</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800" b="1">
              <a:solidFill>
                <a:schemeClr val="tx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c</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800" b="1">
              <a:solidFill>
                <a:schemeClr val="tx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67671" name="Line 92"/>
          <p:cNvSpPr>
            <a:spLocks noChangeShapeType="1"/>
          </p:cNvSpPr>
          <p:nvPr/>
        </p:nvSpPr>
        <p:spPr bwMode="auto">
          <a:xfrm>
            <a:off x="4724400" y="4038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2" name="Line 93"/>
          <p:cNvSpPr>
            <a:spLocks noChangeShapeType="1"/>
          </p:cNvSpPr>
          <p:nvPr/>
        </p:nvSpPr>
        <p:spPr bwMode="auto">
          <a:xfrm>
            <a:off x="4724400" y="35814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3" name="Rectangle 94"/>
          <p:cNvSpPr>
            <a:spLocks noChangeArrowheads="1"/>
          </p:cNvSpPr>
          <p:nvPr/>
        </p:nvSpPr>
        <p:spPr bwMode="auto">
          <a:xfrm>
            <a:off x="57150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74" name="Line 95"/>
          <p:cNvSpPr>
            <a:spLocks noChangeShapeType="1"/>
          </p:cNvSpPr>
          <p:nvPr/>
        </p:nvSpPr>
        <p:spPr bwMode="auto">
          <a:xfrm flipH="1">
            <a:off x="57150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5" name="Line 96"/>
          <p:cNvSpPr>
            <a:spLocks noChangeShapeType="1"/>
          </p:cNvSpPr>
          <p:nvPr/>
        </p:nvSpPr>
        <p:spPr bwMode="auto">
          <a:xfrm flipH="1">
            <a:off x="63246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6" name="Line 97"/>
          <p:cNvSpPr>
            <a:spLocks noChangeShapeType="1"/>
          </p:cNvSpPr>
          <p:nvPr/>
        </p:nvSpPr>
        <p:spPr bwMode="auto">
          <a:xfrm>
            <a:off x="5715000" y="49530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7" name="Line 98"/>
          <p:cNvSpPr>
            <a:spLocks noChangeShapeType="1"/>
          </p:cNvSpPr>
          <p:nvPr/>
        </p:nvSpPr>
        <p:spPr bwMode="auto">
          <a:xfrm>
            <a:off x="5715000" y="4495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8" name="Rectangle 99"/>
          <p:cNvSpPr>
            <a:spLocks noChangeArrowheads="1"/>
          </p:cNvSpPr>
          <p:nvPr/>
        </p:nvSpPr>
        <p:spPr bwMode="auto">
          <a:xfrm>
            <a:off x="67056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79" name="Line 100"/>
          <p:cNvSpPr>
            <a:spLocks noChangeShapeType="1"/>
          </p:cNvSpPr>
          <p:nvPr/>
        </p:nvSpPr>
        <p:spPr bwMode="auto">
          <a:xfrm flipH="1">
            <a:off x="67056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0" name="Line 101"/>
          <p:cNvSpPr>
            <a:spLocks noChangeShapeType="1"/>
          </p:cNvSpPr>
          <p:nvPr/>
        </p:nvSpPr>
        <p:spPr bwMode="auto">
          <a:xfrm flipH="1">
            <a:off x="73152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1" name="Line 102"/>
          <p:cNvSpPr>
            <a:spLocks noChangeShapeType="1"/>
          </p:cNvSpPr>
          <p:nvPr/>
        </p:nvSpPr>
        <p:spPr bwMode="auto">
          <a:xfrm>
            <a:off x="6705600" y="49530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2" name="Line 103"/>
          <p:cNvSpPr>
            <a:spLocks noChangeShapeType="1"/>
          </p:cNvSpPr>
          <p:nvPr/>
        </p:nvSpPr>
        <p:spPr bwMode="auto">
          <a:xfrm>
            <a:off x="6705600" y="4495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3" name="Rectangle 104"/>
          <p:cNvSpPr>
            <a:spLocks noChangeArrowheads="1"/>
          </p:cNvSpPr>
          <p:nvPr/>
        </p:nvSpPr>
        <p:spPr bwMode="auto">
          <a:xfrm>
            <a:off x="76962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84" name="Line 105"/>
          <p:cNvSpPr>
            <a:spLocks noChangeShapeType="1"/>
          </p:cNvSpPr>
          <p:nvPr/>
        </p:nvSpPr>
        <p:spPr bwMode="auto">
          <a:xfrm flipH="1">
            <a:off x="76962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5" name="Line 106"/>
          <p:cNvSpPr>
            <a:spLocks noChangeShapeType="1"/>
          </p:cNvSpPr>
          <p:nvPr/>
        </p:nvSpPr>
        <p:spPr bwMode="auto">
          <a:xfrm flipH="1">
            <a:off x="8305800" y="3429000"/>
            <a:ext cx="0" cy="15240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6" name="Line 107"/>
          <p:cNvSpPr>
            <a:spLocks noChangeShapeType="1"/>
          </p:cNvSpPr>
          <p:nvPr/>
        </p:nvSpPr>
        <p:spPr bwMode="auto">
          <a:xfrm>
            <a:off x="7696200" y="49530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7" name="Line 108"/>
          <p:cNvSpPr>
            <a:spLocks noChangeShapeType="1"/>
          </p:cNvSpPr>
          <p:nvPr/>
        </p:nvSpPr>
        <p:spPr bwMode="auto">
          <a:xfrm>
            <a:off x="7696200" y="44958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8" name="Text Box 109"/>
          <p:cNvSpPr txBox="1">
            <a:spLocks noChangeArrowheads="1"/>
          </p:cNvSpPr>
          <p:nvPr/>
        </p:nvSpPr>
        <p:spPr bwMode="auto">
          <a:xfrm>
            <a:off x="5715000" y="4006850"/>
            <a:ext cx="6191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c</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67689" name="Line 110"/>
          <p:cNvSpPr>
            <a:spLocks noChangeShapeType="1"/>
          </p:cNvSpPr>
          <p:nvPr/>
        </p:nvSpPr>
        <p:spPr bwMode="auto">
          <a:xfrm>
            <a:off x="5715000" y="4038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0" name="Text Box 111"/>
          <p:cNvSpPr txBox="1">
            <a:spLocks noChangeArrowheads="1"/>
          </p:cNvSpPr>
          <p:nvPr/>
        </p:nvSpPr>
        <p:spPr bwMode="auto">
          <a:xfrm>
            <a:off x="6696075" y="4006850"/>
            <a:ext cx="6191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c</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67691" name="Line 112"/>
          <p:cNvSpPr>
            <a:spLocks noChangeShapeType="1"/>
          </p:cNvSpPr>
          <p:nvPr/>
        </p:nvSpPr>
        <p:spPr bwMode="auto">
          <a:xfrm>
            <a:off x="6705600" y="4038600"/>
            <a:ext cx="6096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2" name="Text Box 113"/>
          <p:cNvSpPr txBox="1">
            <a:spLocks noChangeArrowheads="1"/>
          </p:cNvSpPr>
          <p:nvPr/>
        </p:nvSpPr>
        <p:spPr bwMode="auto">
          <a:xfrm>
            <a:off x="7696200" y="4433888"/>
            <a:ext cx="619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67693" name="Line 116"/>
          <p:cNvSpPr>
            <a:spLocks noChangeShapeType="1"/>
          </p:cNvSpPr>
          <p:nvPr/>
        </p:nvSpPr>
        <p:spPr bwMode="auto">
          <a:xfrm>
            <a:off x="1143000" y="1828800"/>
            <a:ext cx="228600" cy="457200"/>
          </a:xfrm>
          <a:prstGeom prst="line">
            <a:avLst/>
          </a:prstGeom>
          <a:noFill/>
          <a:ln w="38100">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4" name="Line 117"/>
          <p:cNvSpPr>
            <a:spLocks noChangeShapeType="1"/>
          </p:cNvSpPr>
          <p:nvPr/>
        </p:nvSpPr>
        <p:spPr bwMode="auto">
          <a:xfrm flipH="1">
            <a:off x="1143000" y="1143000"/>
            <a:ext cx="381000" cy="381000"/>
          </a:xfrm>
          <a:prstGeom prst="line">
            <a:avLst/>
          </a:prstGeom>
          <a:noFill/>
          <a:ln w="28575">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5" name="Line 118"/>
          <p:cNvSpPr>
            <a:spLocks noChangeShapeType="1"/>
          </p:cNvSpPr>
          <p:nvPr/>
        </p:nvSpPr>
        <p:spPr bwMode="auto">
          <a:xfrm>
            <a:off x="1676400" y="1143000"/>
            <a:ext cx="381000" cy="38100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6" name="Line 119"/>
          <p:cNvSpPr>
            <a:spLocks noChangeShapeType="1"/>
          </p:cNvSpPr>
          <p:nvPr/>
        </p:nvSpPr>
        <p:spPr bwMode="auto">
          <a:xfrm flipH="1">
            <a:off x="1905000" y="1828800"/>
            <a:ext cx="152400" cy="45720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7" name="Line 120"/>
          <p:cNvSpPr>
            <a:spLocks noChangeShapeType="1"/>
          </p:cNvSpPr>
          <p:nvPr/>
        </p:nvSpPr>
        <p:spPr bwMode="auto">
          <a:xfrm flipH="1">
            <a:off x="2209800" y="1981200"/>
            <a:ext cx="152400" cy="457200"/>
          </a:xfrm>
          <a:prstGeom prst="line">
            <a:avLst/>
          </a:prstGeom>
          <a:noFill/>
          <a:ln w="38100">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8" name="Line 121"/>
          <p:cNvSpPr>
            <a:spLocks noChangeShapeType="1"/>
          </p:cNvSpPr>
          <p:nvPr/>
        </p:nvSpPr>
        <p:spPr bwMode="auto">
          <a:xfrm>
            <a:off x="1905000" y="914400"/>
            <a:ext cx="381000" cy="381000"/>
          </a:xfrm>
          <a:prstGeom prst="line">
            <a:avLst/>
          </a:prstGeom>
          <a:noFill/>
          <a:ln w="38100">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88640"/>
            <a:ext cx="8424936" cy="6480720"/>
          </a:xfrm>
        </p:spPr>
        <p:txBody>
          <a:bodyPr>
            <a:normAutofit fontScale="47500" lnSpcReduction="20000"/>
          </a:bodyPr>
          <a:lstStyle/>
          <a:p>
            <a:pPr marL="0" indent="0">
              <a:buNone/>
            </a:pPr>
            <a:r>
              <a:rPr lang="en-US" altLang="zh-CN" dirty="0"/>
              <a:t>template &lt;class T&gt; </a:t>
            </a:r>
            <a:endParaRPr lang="en-US" altLang="zh-CN" dirty="0"/>
          </a:p>
          <a:p>
            <a:pPr marL="0" indent="0">
              <a:buNone/>
            </a:pPr>
            <a:r>
              <a:rPr lang="en-US" altLang="zh-CN" dirty="0"/>
              <a:t>void </a:t>
            </a:r>
            <a:r>
              <a:rPr lang="en-US" altLang="zh-CN" dirty="0" err="1"/>
              <a:t>BinaryTree</a:t>
            </a:r>
            <a:r>
              <a:rPr lang="en-US" altLang="zh-CN" dirty="0"/>
              <a:t>&lt;T&gt; :: </a:t>
            </a:r>
            <a:r>
              <a:rPr lang="en-US" altLang="zh-CN" dirty="0" err="1"/>
              <a:t>PostOrder</a:t>
            </a:r>
            <a:r>
              <a:rPr lang="en-US" altLang="zh-CN" dirty="0"/>
              <a:t> (void(*visit)(</a:t>
            </a:r>
            <a:r>
              <a:rPr lang="en-US" altLang="zh-CN" dirty="0" err="1"/>
              <a:t>BinTreeNode</a:t>
            </a:r>
            <a:r>
              <a:rPr lang="en-US" altLang="zh-CN" dirty="0"/>
              <a:t>&lt;T&gt; *p) ) {</a:t>
            </a:r>
            <a:endParaRPr lang="en-US" altLang="zh-CN" dirty="0"/>
          </a:p>
          <a:p>
            <a:pPr marL="0" indent="0">
              <a:buNone/>
            </a:pPr>
            <a:r>
              <a:rPr lang="en-US" altLang="zh-CN" dirty="0"/>
              <a:t> </a:t>
            </a:r>
            <a:r>
              <a:rPr lang="en-US" altLang="zh-CN" dirty="0" err="1"/>
              <a:t>LinkedStack</a:t>
            </a:r>
            <a:r>
              <a:rPr lang="en-US" altLang="zh-CN" dirty="0"/>
              <a:t>&lt;</a:t>
            </a:r>
            <a:r>
              <a:rPr lang="en-US" altLang="zh-CN" dirty="0" err="1"/>
              <a:t>BinTreeNode</a:t>
            </a:r>
            <a:r>
              <a:rPr lang="en-US" altLang="zh-CN" dirty="0"/>
              <a:t>&lt;T&gt;*&gt; S;    </a:t>
            </a:r>
            <a:r>
              <a:rPr lang="en-US" altLang="zh-CN" dirty="0" err="1"/>
              <a:t>stkNode</a:t>
            </a:r>
            <a:r>
              <a:rPr lang="en-US" altLang="zh-CN" dirty="0"/>
              <a:t>&lt;T&gt; w;     </a:t>
            </a:r>
            <a:endParaRPr lang="en-US" altLang="zh-CN" dirty="0"/>
          </a:p>
          <a:p>
            <a:pPr marL="0" indent="0">
              <a:buNone/>
            </a:pPr>
            <a:r>
              <a:rPr lang="en-US" altLang="zh-CN" dirty="0"/>
              <a:t>    </a:t>
            </a:r>
            <a:r>
              <a:rPr lang="en-US" altLang="zh-CN" dirty="0" err="1"/>
              <a:t>BinTreeNode</a:t>
            </a:r>
            <a:r>
              <a:rPr lang="en-US" altLang="zh-CN" dirty="0"/>
              <a:t>&lt;T&gt; * p = root;</a:t>
            </a:r>
            <a:endParaRPr lang="en-US" altLang="zh-CN" dirty="0"/>
          </a:p>
          <a:p>
            <a:pPr marL="0" indent="0">
              <a:buNone/>
            </a:pPr>
            <a:r>
              <a:rPr lang="en-US" altLang="zh-CN" dirty="0"/>
              <a:t>    do {</a:t>
            </a:r>
            <a:endParaRPr lang="en-US" altLang="zh-CN" dirty="0"/>
          </a:p>
          <a:p>
            <a:pPr marL="0" indent="0">
              <a:buNone/>
            </a:pPr>
            <a:r>
              <a:rPr lang="en-US" altLang="zh-CN" dirty="0"/>
              <a:t>         while ( p != NULL ) //</a:t>
            </a:r>
            <a:r>
              <a:rPr lang="zh-CN" altLang="en-US" dirty="0"/>
              <a:t>向左子树走</a:t>
            </a:r>
            <a:endParaRPr lang="zh-CN" altLang="en-US" dirty="0"/>
          </a:p>
          <a:p>
            <a:pPr marL="0" indent="0">
              <a:buNone/>
            </a:pPr>
            <a:r>
              <a:rPr lang="zh-CN" altLang="en-US" dirty="0"/>
              <a:t>         </a:t>
            </a:r>
            <a:r>
              <a:rPr lang="en-US" altLang="zh-CN" dirty="0"/>
              <a:t>{</a:t>
            </a:r>
            <a:r>
              <a:rPr lang="zh-CN" altLang="en-US" dirty="0"/>
              <a:t>    </a:t>
            </a:r>
            <a:r>
              <a:rPr lang="en-US" altLang="zh-CN" dirty="0" err="1"/>
              <a:t>w.ptr</a:t>
            </a:r>
            <a:r>
              <a:rPr lang="en-US" altLang="zh-CN" dirty="0"/>
              <a:t> = p;   </a:t>
            </a:r>
            <a:r>
              <a:rPr lang="en-US" altLang="zh-CN" dirty="0" err="1"/>
              <a:t>w.tag</a:t>
            </a:r>
            <a:r>
              <a:rPr lang="en-US" altLang="zh-CN" dirty="0"/>
              <a:t> = L;     </a:t>
            </a:r>
            <a:r>
              <a:rPr lang="en-US" altLang="zh-CN" dirty="0" err="1"/>
              <a:t>S.Push</a:t>
            </a:r>
            <a:r>
              <a:rPr lang="en-US" altLang="zh-CN" dirty="0"/>
              <a:t> ( w );     p = p-&gt;</a:t>
            </a:r>
            <a:r>
              <a:rPr lang="en-US" altLang="zh-CN" dirty="0" err="1"/>
              <a:t>leftChild</a:t>
            </a:r>
            <a:r>
              <a:rPr lang="en-US" altLang="zh-CN" dirty="0"/>
              <a:t>; } 		</a:t>
            </a:r>
            <a:endParaRPr lang="en-US" altLang="zh-CN" dirty="0"/>
          </a:p>
          <a:p>
            <a:pPr marL="0" indent="0">
              <a:buNone/>
            </a:pPr>
            <a:r>
              <a:rPr lang="en-US" altLang="zh-CN" dirty="0"/>
              <a:t>         int continue1 = 1;     //</a:t>
            </a:r>
            <a:r>
              <a:rPr lang="zh-CN" altLang="en-US" dirty="0"/>
              <a:t>继续回溯标记</a:t>
            </a:r>
            <a:endParaRPr lang="zh-CN" altLang="en-US" dirty="0"/>
          </a:p>
          <a:p>
            <a:pPr marL="0" indent="0">
              <a:buNone/>
            </a:pPr>
            <a:r>
              <a:rPr lang="zh-CN" altLang="en-US" dirty="0"/>
              <a:t>         </a:t>
            </a:r>
            <a:r>
              <a:rPr lang="en-US" altLang="zh-CN" dirty="0"/>
              <a:t>while ( continue1 &amp;&amp; !</a:t>
            </a:r>
            <a:r>
              <a:rPr lang="en-US" altLang="zh-CN" dirty="0" err="1"/>
              <a:t>S.IsEmpty</a:t>
            </a:r>
            <a:r>
              <a:rPr lang="en-US" altLang="zh-CN" dirty="0"/>
              <a:t>( ) ) {</a:t>
            </a:r>
            <a:endParaRPr lang="en-US" altLang="zh-CN" dirty="0"/>
          </a:p>
          <a:p>
            <a:pPr marL="0" indent="0">
              <a:buNone/>
            </a:pPr>
            <a:r>
              <a:rPr lang="en-US" altLang="zh-CN" dirty="0"/>
              <a:t>                </a:t>
            </a:r>
            <a:r>
              <a:rPr lang="en-US" altLang="zh-CN" dirty="0" err="1"/>
              <a:t>S.Pop</a:t>
            </a:r>
            <a:r>
              <a:rPr lang="en-US" altLang="zh-CN" dirty="0"/>
              <a:t> ( w);  p = </a:t>
            </a:r>
            <a:r>
              <a:rPr lang="en-US" altLang="zh-CN" dirty="0" err="1"/>
              <a:t>w.ptr</a:t>
            </a:r>
            <a:r>
              <a:rPr lang="en-US" altLang="zh-CN" dirty="0"/>
              <a:t>;</a:t>
            </a:r>
            <a:endParaRPr lang="en-US" altLang="zh-CN" dirty="0"/>
          </a:p>
          <a:p>
            <a:pPr marL="0" indent="0">
              <a:buNone/>
            </a:pPr>
            <a:r>
              <a:rPr lang="en-US" altLang="zh-CN" dirty="0"/>
              <a:t>                switch ( </a:t>
            </a:r>
            <a:r>
              <a:rPr lang="en-US" altLang="zh-CN" dirty="0" err="1"/>
              <a:t>w.tag</a:t>
            </a:r>
            <a:r>
              <a:rPr lang="en-US" altLang="zh-CN" dirty="0"/>
              <a:t> ) {    //</a:t>
            </a:r>
            <a:r>
              <a:rPr lang="zh-CN" altLang="en-US" dirty="0"/>
              <a:t>判断栈顶</a:t>
            </a:r>
            <a:r>
              <a:rPr lang="en-US" altLang="zh-CN" dirty="0"/>
              <a:t>tag</a:t>
            </a:r>
            <a:r>
              <a:rPr lang="zh-CN" altLang="en-US" dirty="0"/>
              <a:t>标记</a:t>
            </a:r>
            <a:endParaRPr lang="zh-CN" altLang="en-US" dirty="0"/>
          </a:p>
          <a:p>
            <a:pPr marL="0" indent="0">
              <a:buNone/>
            </a:pPr>
            <a:r>
              <a:rPr lang="zh-CN" altLang="en-US" dirty="0"/>
              <a:t>	           </a:t>
            </a:r>
            <a:r>
              <a:rPr lang="en-US" altLang="zh-CN" dirty="0"/>
              <a:t>case L :    </a:t>
            </a:r>
            <a:r>
              <a:rPr lang="en-US" altLang="zh-CN" dirty="0" err="1"/>
              <a:t>w.tag</a:t>
            </a:r>
            <a:r>
              <a:rPr lang="en-US" altLang="zh-CN" dirty="0"/>
              <a:t> = R;      </a:t>
            </a:r>
            <a:r>
              <a:rPr lang="en-US" altLang="zh-CN" dirty="0" err="1"/>
              <a:t>S.Push</a:t>
            </a:r>
            <a:r>
              <a:rPr lang="en-US" altLang="zh-CN" dirty="0"/>
              <a:t> ( w );      continue1 = 0; </a:t>
            </a:r>
            <a:endParaRPr lang="en-US" altLang="zh-CN" dirty="0"/>
          </a:p>
          <a:p>
            <a:pPr marL="0" indent="0">
              <a:buNone/>
            </a:pPr>
            <a:r>
              <a:rPr lang="en-US" altLang="zh-CN" dirty="0"/>
              <a:t>		                 p = p-&gt;</a:t>
            </a:r>
            <a:r>
              <a:rPr lang="en-US" altLang="zh-CN" dirty="0" err="1"/>
              <a:t>rightChild</a:t>
            </a:r>
            <a:r>
              <a:rPr lang="en-US" altLang="zh-CN" dirty="0"/>
              <a:t>;          break;</a:t>
            </a:r>
            <a:endParaRPr lang="en-US" altLang="zh-CN" dirty="0"/>
          </a:p>
          <a:p>
            <a:pPr marL="0" indent="0">
              <a:buNone/>
            </a:pPr>
            <a:r>
              <a:rPr lang="en-US" altLang="zh-CN" dirty="0"/>
              <a:t>	           case R :  visit( p );      break;</a:t>
            </a:r>
            <a:endParaRPr lang="en-US" altLang="zh-CN" dirty="0"/>
          </a:p>
          <a:p>
            <a:pPr marL="0" indent="0">
              <a:buNone/>
            </a:pPr>
            <a:r>
              <a:rPr lang="en-US" altLang="zh-CN" dirty="0"/>
              <a:t>                }</a:t>
            </a:r>
            <a:endParaRPr lang="en-US" altLang="zh-CN" dirty="0"/>
          </a:p>
          <a:p>
            <a:pPr marL="0" indent="0">
              <a:buNone/>
            </a:pPr>
            <a:r>
              <a:rPr lang="en-US" altLang="zh-CN" dirty="0"/>
              <a:t>         }</a:t>
            </a:r>
            <a:endParaRPr lang="en-US" altLang="zh-CN" dirty="0"/>
          </a:p>
          <a:p>
            <a:pPr marL="0" indent="0">
              <a:buNone/>
            </a:pPr>
            <a:r>
              <a:rPr lang="en-US" altLang="zh-CN" dirty="0"/>
              <a:t>     } while ( !</a:t>
            </a:r>
            <a:r>
              <a:rPr lang="en-US" altLang="zh-CN" dirty="0" err="1"/>
              <a:t>S.IsEmpty</a:t>
            </a:r>
            <a:r>
              <a:rPr lang="en-US" altLang="zh-CN" dirty="0"/>
              <a:t>( ) );</a:t>
            </a:r>
            <a:endParaRPr lang="en-US" altLang="zh-CN" dirty="0"/>
          </a:p>
          <a:p>
            <a:pPr marL="0" indent="0">
              <a:buNone/>
            </a:pPr>
            <a:r>
              <a:rPr lang="en-US" altLang="zh-CN" dirty="0"/>
              <a:t>     </a:t>
            </a:r>
            <a:r>
              <a:rPr lang="en-US" altLang="zh-CN" dirty="0" err="1"/>
              <a:t>cout</a:t>
            </a:r>
            <a:r>
              <a:rPr lang="en-US" altLang="zh-CN" dirty="0"/>
              <a:t> &lt;&lt; </a:t>
            </a:r>
            <a:r>
              <a:rPr lang="en-US" altLang="zh-CN" dirty="0" err="1"/>
              <a:t>endl</a:t>
            </a:r>
            <a:r>
              <a:rPr lang="en-US" altLang="zh-CN" dirty="0"/>
              <a:t>;</a:t>
            </a:r>
            <a:endParaRPr lang="en-US" altLang="zh-CN" dirty="0"/>
          </a:p>
          <a:p>
            <a:pPr marL="0" indent="0">
              <a:buNone/>
            </a:pPr>
            <a:r>
              <a:rPr lang="en-US" altLang="zh-CN" dirty="0"/>
              <a:t> }</a:t>
            </a: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E3AD7A8E-F252-4B6A-83EA-9C75D9FD31BE}" type="slidenum">
              <a:rPr lang="en-US" altLang="zh-CN"/>
            </a:fld>
            <a:endParaRPr lang="en-US" altLang="zh-CN"/>
          </a:p>
        </p:txBody>
      </p:sp>
      <p:sp>
        <p:nvSpPr>
          <p:cNvPr id="480258" name="Rectangle 2"/>
          <p:cNvSpPr>
            <a:spLocks noGrp="1" noChangeArrowheads="1"/>
          </p:cNvSpPr>
          <p:nvPr>
            <p:ph type="title"/>
          </p:nvPr>
        </p:nvSpPr>
        <p:spPr>
          <a:xfrm>
            <a:off x="457200" y="457200"/>
            <a:ext cx="8229600" cy="847725"/>
          </a:xfrm>
        </p:spPr>
        <p:txBody>
          <a:bodyPr>
            <a:normAutofit fontScale="90000"/>
          </a:bodyPr>
          <a:lstStyle/>
          <a:p>
            <a:pPr algn="ctr"/>
            <a:r>
              <a:rPr lang="zh-CN" altLang="en-US" dirty="0"/>
              <a:t>根据二叉树的括号表示建立二叉树 </a:t>
            </a:r>
            <a:endParaRPr lang="zh-CN" altLang="en-US" dirty="0"/>
          </a:p>
        </p:txBody>
      </p:sp>
      <p:sp>
        <p:nvSpPr>
          <p:cNvPr id="480259" name="Rectangle 3"/>
          <p:cNvSpPr>
            <a:spLocks noGrp="1" noChangeArrowheads="1"/>
          </p:cNvSpPr>
          <p:nvPr>
            <p:ph type="body" idx="1"/>
          </p:nvPr>
        </p:nvSpPr>
        <p:spPr>
          <a:xfrm>
            <a:off x="457200" y="1341438"/>
            <a:ext cx="8229600" cy="5327650"/>
          </a:xfrm>
        </p:spPr>
        <p:txBody>
          <a:bodyPr>
            <a:normAutofit fontScale="77500" lnSpcReduction="20000"/>
          </a:bodyPr>
          <a:lstStyle/>
          <a:p>
            <a:pPr>
              <a:lnSpc>
                <a:spcPct val="105000"/>
              </a:lnSpc>
              <a:spcBef>
                <a:spcPct val="10000"/>
              </a:spcBef>
              <a:buClr>
                <a:srgbClr val="800080"/>
              </a:buClr>
              <a:buSzPct val="55000"/>
            </a:pPr>
            <a:r>
              <a:rPr lang="zh-CN" altLang="en-US" dirty="0"/>
              <a:t>例：根据二叉树的括号表示“</a:t>
            </a:r>
            <a:r>
              <a:rPr lang="en-US" altLang="zh-CN" dirty="0"/>
              <a:t>A(B(D, E(G, )),C(, F))#”</a:t>
            </a:r>
            <a:r>
              <a:rPr lang="zh-CN" altLang="en-US" dirty="0"/>
              <a:t>建立的二叉树如图所示。</a:t>
            </a:r>
            <a:endParaRPr lang="en-US" altLang="zh-CN" dirty="0"/>
          </a:p>
          <a:p>
            <a:pPr lvl="1">
              <a:lnSpc>
                <a:spcPct val="105000"/>
              </a:lnSpc>
              <a:spcBef>
                <a:spcPct val="10000"/>
              </a:spcBef>
              <a:buClr>
                <a:srgbClr val="800080"/>
              </a:buClr>
              <a:buSzPct val="55000"/>
            </a:pPr>
            <a:r>
              <a:rPr lang="zh-CN" altLang="en-US" sz="3600" dirty="0"/>
              <a:t>结点值放在前面，随后的括号中</a:t>
            </a:r>
            <a:endParaRPr lang="en-US" altLang="zh-CN" sz="3600" dirty="0"/>
          </a:p>
          <a:p>
            <a:pPr marL="342900" lvl="1" indent="0">
              <a:lnSpc>
                <a:spcPct val="105000"/>
              </a:lnSpc>
              <a:spcBef>
                <a:spcPct val="10000"/>
              </a:spcBef>
              <a:buClr>
                <a:srgbClr val="800080"/>
              </a:buClr>
              <a:buSzPct val="55000"/>
              <a:buNone/>
            </a:pPr>
            <a:r>
              <a:rPr lang="zh-CN" altLang="en-US" sz="3600" dirty="0"/>
              <a:t>是该结点的左、右子树；</a:t>
            </a:r>
            <a:endParaRPr lang="en-US" altLang="zh-CN" sz="3600" dirty="0">
              <a:sym typeface="Wingdings" panose="05000000000000000000" pitchFamily="2" charset="2"/>
            </a:endParaRPr>
          </a:p>
          <a:p>
            <a:pPr lvl="1">
              <a:lnSpc>
                <a:spcPct val="105000"/>
              </a:lnSpc>
              <a:spcBef>
                <a:spcPct val="10000"/>
              </a:spcBef>
              <a:buClr>
                <a:srgbClr val="800080"/>
              </a:buClr>
              <a:buSzPct val="55000"/>
            </a:pPr>
            <a:r>
              <a:rPr lang="zh-CN" altLang="en-US" sz="3600" dirty="0"/>
              <a:t>每个结点的左子树和右子</a:t>
            </a:r>
            <a:endParaRPr lang="en-US" altLang="zh-CN" sz="3600" dirty="0"/>
          </a:p>
          <a:p>
            <a:pPr marL="342900" lvl="1" indent="0">
              <a:lnSpc>
                <a:spcPct val="105000"/>
              </a:lnSpc>
              <a:spcBef>
                <a:spcPct val="10000"/>
              </a:spcBef>
              <a:buClr>
                <a:srgbClr val="800080"/>
              </a:buClr>
              <a:buSzPct val="55000"/>
              <a:buNone/>
            </a:pPr>
            <a:r>
              <a:rPr lang="en-US" altLang="zh-CN" sz="3600" dirty="0"/>
              <a:t> </a:t>
            </a:r>
            <a:r>
              <a:rPr lang="zh-CN" altLang="en-US" sz="3600" dirty="0"/>
              <a:t>树用逗号隔开。若仅有右</a:t>
            </a:r>
            <a:endParaRPr lang="en-US" altLang="zh-CN" sz="3600" dirty="0"/>
          </a:p>
          <a:p>
            <a:pPr marL="342900" lvl="1" indent="0">
              <a:lnSpc>
                <a:spcPct val="105000"/>
              </a:lnSpc>
              <a:spcBef>
                <a:spcPct val="10000"/>
              </a:spcBef>
              <a:buClr>
                <a:srgbClr val="800080"/>
              </a:buClr>
              <a:buSzPct val="55000"/>
              <a:buNone/>
            </a:pPr>
            <a:r>
              <a:rPr lang="en-US" altLang="zh-CN" sz="3600" dirty="0"/>
              <a:t> </a:t>
            </a:r>
            <a:r>
              <a:rPr lang="zh-CN" altLang="en-US" sz="3600" dirty="0"/>
              <a:t>子树没有左子树，逗号不能省略。</a:t>
            </a:r>
            <a:endParaRPr lang="en-US" altLang="zh-CN" sz="3600" dirty="0"/>
          </a:p>
          <a:p>
            <a:pPr lvl="1">
              <a:lnSpc>
                <a:spcPct val="105000"/>
              </a:lnSpc>
              <a:spcBef>
                <a:spcPct val="10000"/>
              </a:spcBef>
              <a:buClr>
                <a:srgbClr val="800080"/>
              </a:buClr>
              <a:buSzPct val="55000"/>
            </a:pPr>
            <a:r>
              <a:rPr lang="zh-CN" altLang="en-US" sz="3600" dirty="0"/>
              <a:t>在字符串的结尾加上一个特殊的符号（例如“</a:t>
            </a:r>
            <a:r>
              <a:rPr lang="en-US" altLang="zh-CN" sz="3600" dirty="0"/>
              <a:t>#”</a:t>
            </a:r>
            <a:r>
              <a:rPr lang="zh-CN" altLang="en-US" sz="3600" dirty="0"/>
              <a:t>）表示输入结束。</a:t>
            </a:r>
            <a:endParaRPr lang="en-US" altLang="zh-CN" sz="3600" dirty="0"/>
          </a:p>
          <a:p>
            <a:pPr>
              <a:lnSpc>
                <a:spcPct val="105000"/>
              </a:lnSpc>
              <a:spcBef>
                <a:spcPct val="10000"/>
              </a:spcBef>
              <a:buClr>
                <a:srgbClr val="800080"/>
              </a:buClr>
              <a:buSzPct val="55000"/>
            </a:pPr>
            <a:r>
              <a:rPr lang="zh-CN" altLang="en-US" sz="4000" dirty="0"/>
              <a:t>思路</a:t>
            </a:r>
            <a:endParaRPr lang="zh-CN" altLang="en-US" sz="4000" dirty="0"/>
          </a:p>
          <a:p>
            <a:pPr lvl="1">
              <a:lnSpc>
                <a:spcPct val="105000"/>
              </a:lnSpc>
              <a:spcBef>
                <a:spcPct val="10000"/>
              </a:spcBef>
              <a:buClr>
                <a:srgbClr val="800080"/>
              </a:buClr>
              <a:buSzPct val="55000"/>
            </a:pPr>
            <a:r>
              <a:rPr lang="zh-CN" altLang="en-US" sz="3600" dirty="0"/>
              <a:t>遍历字符流，根据当前字符的不同情况进行处理，利用栈暂存待设定孩子指针的结点</a:t>
            </a:r>
            <a:endParaRPr lang="zh-CN" altLang="en-US" sz="3600" dirty="0"/>
          </a:p>
        </p:txBody>
      </p:sp>
      <p:grpSp>
        <p:nvGrpSpPr>
          <p:cNvPr id="480293" name="Group 37"/>
          <p:cNvGrpSpPr/>
          <p:nvPr/>
        </p:nvGrpSpPr>
        <p:grpSpPr bwMode="auto">
          <a:xfrm>
            <a:off x="5652120" y="1916832"/>
            <a:ext cx="3240088" cy="2235200"/>
            <a:chOff x="2948" y="1591"/>
            <a:chExt cx="2041" cy="1408"/>
          </a:xfrm>
        </p:grpSpPr>
        <p:grpSp>
          <p:nvGrpSpPr>
            <p:cNvPr id="480292" name="Group 36"/>
            <p:cNvGrpSpPr/>
            <p:nvPr/>
          </p:nvGrpSpPr>
          <p:grpSpPr bwMode="auto">
            <a:xfrm>
              <a:off x="2948" y="1625"/>
              <a:ext cx="1924" cy="1351"/>
              <a:chOff x="3161" y="1625"/>
              <a:chExt cx="1711" cy="1169"/>
            </a:xfrm>
          </p:grpSpPr>
          <p:sp>
            <p:nvSpPr>
              <p:cNvPr id="480262" name="Line 6"/>
              <p:cNvSpPr>
                <a:spLocks noChangeShapeType="1"/>
              </p:cNvSpPr>
              <p:nvPr/>
            </p:nvSpPr>
            <p:spPr bwMode="auto">
              <a:xfrm flipV="1">
                <a:off x="3719" y="1738"/>
                <a:ext cx="310" cy="241"/>
              </a:xfrm>
              <a:prstGeom prst="line">
                <a:avLst/>
              </a:prstGeom>
              <a:noFill/>
              <a:ln w="19050">
                <a:solidFill>
                  <a:srgbClr val="8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0264" name="Line 8"/>
              <p:cNvSpPr>
                <a:spLocks noChangeShapeType="1"/>
              </p:cNvSpPr>
              <p:nvPr/>
            </p:nvSpPr>
            <p:spPr bwMode="auto">
              <a:xfrm flipH="1">
                <a:off x="3350" y="2089"/>
                <a:ext cx="247" cy="230"/>
              </a:xfrm>
              <a:prstGeom prst="line">
                <a:avLst/>
              </a:prstGeom>
              <a:noFill/>
              <a:ln w="19050">
                <a:solidFill>
                  <a:srgbClr val="8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0265" name="Line 9"/>
              <p:cNvSpPr>
                <a:spLocks noChangeShapeType="1"/>
              </p:cNvSpPr>
              <p:nvPr/>
            </p:nvSpPr>
            <p:spPr bwMode="auto">
              <a:xfrm>
                <a:off x="3714" y="2098"/>
                <a:ext cx="198" cy="230"/>
              </a:xfrm>
              <a:prstGeom prst="line">
                <a:avLst/>
              </a:prstGeom>
              <a:noFill/>
              <a:ln w="19050">
                <a:solidFill>
                  <a:srgbClr val="8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0266" name="Line 10"/>
              <p:cNvSpPr>
                <a:spLocks noChangeShapeType="1"/>
              </p:cNvSpPr>
              <p:nvPr/>
            </p:nvSpPr>
            <p:spPr bwMode="auto">
              <a:xfrm flipH="1">
                <a:off x="3618" y="2443"/>
                <a:ext cx="189" cy="196"/>
              </a:xfrm>
              <a:prstGeom prst="line">
                <a:avLst/>
              </a:prstGeom>
              <a:noFill/>
              <a:ln w="19050">
                <a:solidFill>
                  <a:srgbClr val="8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0267" name="Line 11"/>
              <p:cNvSpPr>
                <a:spLocks noChangeShapeType="1"/>
              </p:cNvSpPr>
              <p:nvPr/>
            </p:nvSpPr>
            <p:spPr bwMode="auto">
              <a:xfrm>
                <a:off x="4497" y="2098"/>
                <a:ext cx="234" cy="242"/>
              </a:xfrm>
              <a:prstGeom prst="line">
                <a:avLst/>
              </a:prstGeom>
              <a:noFill/>
              <a:ln w="19050">
                <a:solidFill>
                  <a:srgbClr val="8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0269" name="Line 13"/>
              <p:cNvSpPr>
                <a:spLocks noChangeShapeType="1"/>
              </p:cNvSpPr>
              <p:nvPr/>
            </p:nvSpPr>
            <p:spPr bwMode="auto">
              <a:xfrm>
                <a:off x="4157" y="1798"/>
                <a:ext cx="222" cy="196"/>
              </a:xfrm>
              <a:prstGeom prst="line">
                <a:avLst/>
              </a:prstGeom>
              <a:noFill/>
              <a:ln w="19050">
                <a:solidFill>
                  <a:srgbClr val="8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0271" name="Oval 15"/>
              <p:cNvSpPr>
                <a:spLocks noChangeArrowheads="1"/>
              </p:cNvSpPr>
              <p:nvPr/>
            </p:nvSpPr>
            <p:spPr bwMode="auto">
              <a:xfrm>
                <a:off x="3934" y="1625"/>
                <a:ext cx="247" cy="242"/>
              </a:xfrm>
              <a:prstGeom prst="ellipse">
                <a:avLst/>
              </a:prstGeom>
              <a:solidFill>
                <a:srgbClr val="FFFFFF"/>
              </a:solidFill>
              <a:ln w="19050">
                <a:solidFill>
                  <a:srgbClr val="800080"/>
                </a:solidFill>
                <a:round/>
              </a:ln>
            </p:spPr>
            <p:txBody>
              <a:bodyPr/>
              <a:lstStyle/>
              <a:p>
                <a:endParaRPr lang="zh-CN" altLang="en-US"/>
              </a:p>
            </p:txBody>
          </p:sp>
          <p:sp>
            <p:nvSpPr>
              <p:cNvPr id="480274" name="Oval 18"/>
              <p:cNvSpPr>
                <a:spLocks noChangeArrowheads="1"/>
              </p:cNvSpPr>
              <p:nvPr/>
            </p:nvSpPr>
            <p:spPr bwMode="auto">
              <a:xfrm>
                <a:off x="3513" y="1925"/>
                <a:ext cx="246" cy="242"/>
              </a:xfrm>
              <a:prstGeom prst="ellipse">
                <a:avLst/>
              </a:prstGeom>
              <a:solidFill>
                <a:srgbClr val="FFFFFF"/>
              </a:solidFill>
              <a:ln w="19050">
                <a:solidFill>
                  <a:srgbClr val="800080"/>
                </a:solidFill>
                <a:round/>
              </a:ln>
            </p:spPr>
            <p:txBody>
              <a:bodyPr/>
              <a:lstStyle/>
              <a:p>
                <a:endParaRPr lang="zh-CN" altLang="en-US"/>
              </a:p>
            </p:txBody>
          </p:sp>
          <p:sp>
            <p:nvSpPr>
              <p:cNvPr id="480277" name="Oval 21"/>
              <p:cNvSpPr>
                <a:spLocks noChangeArrowheads="1"/>
              </p:cNvSpPr>
              <p:nvPr/>
            </p:nvSpPr>
            <p:spPr bwMode="auto">
              <a:xfrm>
                <a:off x="3161" y="2247"/>
                <a:ext cx="247" cy="242"/>
              </a:xfrm>
              <a:prstGeom prst="ellipse">
                <a:avLst/>
              </a:prstGeom>
              <a:solidFill>
                <a:srgbClr val="FFFFFF"/>
              </a:solidFill>
              <a:ln w="19050">
                <a:solidFill>
                  <a:srgbClr val="800080"/>
                </a:solidFill>
                <a:round/>
              </a:ln>
            </p:spPr>
            <p:txBody>
              <a:bodyPr/>
              <a:lstStyle/>
              <a:p>
                <a:endParaRPr lang="zh-CN" altLang="en-US"/>
              </a:p>
            </p:txBody>
          </p:sp>
          <p:sp>
            <p:nvSpPr>
              <p:cNvPr id="480280" name="Oval 24"/>
              <p:cNvSpPr>
                <a:spLocks noChangeArrowheads="1"/>
              </p:cNvSpPr>
              <p:nvPr/>
            </p:nvSpPr>
            <p:spPr bwMode="auto">
              <a:xfrm>
                <a:off x="3770" y="2247"/>
                <a:ext cx="247" cy="242"/>
              </a:xfrm>
              <a:prstGeom prst="ellipse">
                <a:avLst/>
              </a:prstGeom>
              <a:solidFill>
                <a:srgbClr val="FFFFFF"/>
              </a:solidFill>
              <a:ln w="19050">
                <a:solidFill>
                  <a:srgbClr val="800080"/>
                </a:solidFill>
                <a:round/>
              </a:ln>
            </p:spPr>
            <p:txBody>
              <a:bodyPr/>
              <a:lstStyle/>
              <a:p>
                <a:endParaRPr lang="zh-CN" altLang="en-US"/>
              </a:p>
            </p:txBody>
          </p:sp>
          <p:sp>
            <p:nvSpPr>
              <p:cNvPr id="480283" name="Oval 27"/>
              <p:cNvSpPr>
                <a:spLocks noChangeArrowheads="1"/>
              </p:cNvSpPr>
              <p:nvPr/>
            </p:nvSpPr>
            <p:spPr bwMode="auto">
              <a:xfrm>
                <a:off x="4296" y="1929"/>
                <a:ext cx="247" cy="242"/>
              </a:xfrm>
              <a:prstGeom prst="ellipse">
                <a:avLst/>
              </a:prstGeom>
              <a:solidFill>
                <a:srgbClr val="FFFFFF"/>
              </a:solidFill>
              <a:ln w="19050">
                <a:solidFill>
                  <a:srgbClr val="800080"/>
                </a:solidFill>
                <a:round/>
              </a:ln>
            </p:spPr>
            <p:txBody>
              <a:bodyPr/>
              <a:lstStyle/>
              <a:p>
                <a:endParaRPr lang="zh-CN" altLang="en-US"/>
              </a:p>
            </p:txBody>
          </p:sp>
          <p:sp>
            <p:nvSpPr>
              <p:cNvPr id="480286" name="Oval 30"/>
              <p:cNvSpPr>
                <a:spLocks noChangeArrowheads="1"/>
              </p:cNvSpPr>
              <p:nvPr/>
            </p:nvSpPr>
            <p:spPr bwMode="auto">
              <a:xfrm>
                <a:off x="4625" y="2247"/>
                <a:ext cx="247" cy="243"/>
              </a:xfrm>
              <a:prstGeom prst="ellipse">
                <a:avLst/>
              </a:prstGeom>
              <a:solidFill>
                <a:srgbClr val="FFFFFF"/>
              </a:solidFill>
              <a:ln w="19050">
                <a:solidFill>
                  <a:srgbClr val="800080"/>
                </a:solidFill>
                <a:round/>
              </a:ln>
            </p:spPr>
            <p:txBody>
              <a:bodyPr/>
              <a:lstStyle/>
              <a:p>
                <a:endParaRPr lang="zh-CN" altLang="en-US"/>
              </a:p>
            </p:txBody>
          </p:sp>
          <p:sp>
            <p:nvSpPr>
              <p:cNvPr id="480289" name="Oval 33"/>
              <p:cNvSpPr>
                <a:spLocks noChangeArrowheads="1"/>
              </p:cNvSpPr>
              <p:nvPr/>
            </p:nvSpPr>
            <p:spPr bwMode="auto">
              <a:xfrm>
                <a:off x="3486" y="2552"/>
                <a:ext cx="247" cy="242"/>
              </a:xfrm>
              <a:prstGeom prst="ellipse">
                <a:avLst/>
              </a:prstGeom>
              <a:solidFill>
                <a:srgbClr val="FFFFFF"/>
              </a:solidFill>
              <a:ln w="19050">
                <a:solidFill>
                  <a:srgbClr val="800080"/>
                </a:solidFill>
                <a:round/>
              </a:ln>
            </p:spPr>
            <p:txBody>
              <a:bodyPr/>
              <a:lstStyle/>
              <a:p>
                <a:endParaRPr lang="zh-CN" altLang="en-US"/>
              </a:p>
            </p:txBody>
          </p:sp>
        </p:grpSp>
        <p:sp>
          <p:nvSpPr>
            <p:cNvPr id="480272" name="Text Box 16"/>
            <p:cNvSpPr txBox="1">
              <a:spLocks noChangeArrowheads="1"/>
            </p:cNvSpPr>
            <p:nvPr/>
          </p:nvSpPr>
          <p:spPr bwMode="auto">
            <a:xfrm>
              <a:off x="3834" y="1591"/>
              <a:ext cx="37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A</a:t>
              </a:r>
              <a:endParaRPr lang="en-US" altLang="zh-CN" sz="2600" b="1">
                <a:solidFill>
                  <a:schemeClr val="tx2"/>
                </a:solidFill>
              </a:endParaRPr>
            </a:p>
          </p:txBody>
        </p:sp>
        <p:sp>
          <p:nvSpPr>
            <p:cNvPr id="480275" name="Text Box 19"/>
            <p:cNvSpPr txBox="1">
              <a:spLocks noChangeArrowheads="1"/>
            </p:cNvSpPr>
            <p:nvPr/>
          </p:nvSpPr>
          <p:spPr bwMode="auto">
            <a:xfrm>
              <a:off x="3354" y="1936"/>
              <a:ext cx="37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B</a:t>
              </a:r>
              <a:endParaRPr lang="en-US" altLang="zh-CN" sz="2600" b="1">
                <a:solidFill>
                  <a:schemeClr val="tx2"/>
                </a:solidFill>
              </a:endParaRPr>
            </a:p>
          </p:txBody>
        </p:sp>
        <p:sp>
          <p:nvSpPr>
            <p:cNvPr id="480278" name="Text Box 22"/>
            <p:cNvSpPr txBox="1">
              <a:spLocks noChangeArrowheads="1"/>
            </p:cNvSpPr>
            <p:nvPr/>
          </p:nvSpPr>
          <p:spPr bwMode="auto">
            <a:xfrm>
              <a:off x="2957" y="2319"/>
              <a:ext cx="37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D</a:t>
              </a:r>
              <a:endParaRPr lang="en-US" altLang="zh-CN" sz="2600" b="1">
                <a:solidFill>
                  <a:schemeClr val="tx2"/>
                </a:solidFill>
              </a:endParaRPr>
            </a:p>
          </p:txBody>
        </p:sp>
        <p:sp>
          <p:nvSpPr>
            <p:cNvPr id="480281" name="Text Box 25"/>
            <p:cNvSpPr txBox="1">
              <a:spLocks noChangeArrowheads="1"/>
            </p:cNvSpPr>
            <p:nvPr/>
          </p:nvSpPr>
          <p:spPr bwMode="auto">
            <a:xfrm>
              <a:off x="3643" y="2319"/>
              <a:ext cx="37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E</a:t>
              </a:r>
              <a:endParaRPr lang="en-US" altLang="zh-CN" sz="2600" b="1">
                <a:solidFill>
                  <a:schemeClr val="tx2"/>
                </a:solidFill>
              </a:endParaRPr>
            </a:p>
          </p:txBody>
        </p:sp>
        <p:sp>
          <p:nvSpPr>
            <p:cNvPr id="480284" name="Text Box 28"/>
            <p:cNvSpPr txBox="1">
              <a:spLocks noChangeArrowheads="1"/>
            </p:cNvSpPr>
            <p:nvPr/>
          </p:nvSpPr>
          <p:spPr bwMode="auto">
            <a:xfrm>
              <a:off x="4228" y="1956"/>
              <a:ext cx="37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C</a:t>
              </a:r>
              <a:endParaRPr lang="en-US" altLang="zh-CN" sz="2600" b="1">
                <a:solidFill>
                  <a:schemeClr val="tx2"/>
                </a:solidFill>
              </a:endParaRPr>
            </a:p>
          </p:txBody>
        </p:sp>
        <p:sp>
          <p:nvSpPr>
            <p:cNvPr id="480287" name="Text Box 31"/>
            <p:cNvSpPr txBox="1">
              <a:spLocks noChangeArrowheads="1"/>
            </p:cNvSpPr>
            <p:nvPr/>
          </p:nvSpPr>
          <p:spPr bwMode="auto">
            <a:xfrm>
              <a:off x="4614" y="2328"/>
              <a:ext cx="375"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F</a:t>
              </a:r>
              <a:endParaRPr lang="en-US" altLang="zh-CN" sz="2600" b="1">
                <a:solidFill>
                  <a:schemeClr val="tx2"/>
                </a:solidFill>
              </a:endParaRPr>
            </a:p>
          </p:txBody>
        </p:sp>
        <p:sp>
          <p:nvSpPr>
            <p:cNvPr id="480290" name="Text Box 34"/>
            <p:cNvSpPr txBox="1">
              <a:spLocks noChangeArrowheads="1"/>
            </p:cNvSpPr>
            <p:nvPr/>
          </p:nvSpPr>
          <p:spPr bwMode="auto">
            <a:xfrm>
              <a:off x="3311" y="2665"/>
              <a:ext cx="37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G</a:t>
              </a:r>
              <a:endParaRPr lang="en-US" altLang="zh-CN" sz="2600" b="1">
                <a:solidFill>
                  <a:schemeClr val="tx2"/>
                </a:solidFill>
              </a:endParaRPr>
            </a:p>
          </p:txBody>
        </p:sp>
      </p:grpSp>
    </p:spTree>
  </p:cSld>
  <p:clrMapOvr>
    <a:masterClrMapping/>
  </p:clrMapOvr>
  <p:transition>
    <p:spli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建树算法的步骤</a:t>
            </a:r>
            <a:endParaRPr lang="zh-CN" altLang="en-US" dirty="0"/>
          </a:p>
        </p:txBody>
      </p:sp>
      <p:sp>
        <p:nvSpPr>
          <p:cNvPr id="4" name="内容占位符 3"/>
          <p:cNvSpPr>
            <a:spLocks noGrp="1"/>
          </p:cNvSpPr>
          <p:nvPr>
            <p:ph idx="1"/>
          </p:nvPr>
        </p:nvSpPr>
        <p:spPr/>
        <p:txBody>
          <a:bodyPr>
            <a:normAutofit fontScale="77500" lnSpcReduction="20000"/>
          </a:bodyPr>
          <a:lstStyle/>
          <a:p>
            <a:r>
              <a:rPr lang="zh-CN" altLang="en-US" dirty="0"/>
              <a:t>依次从字符串</a:t>
            </a:r>
            <a:r>
              <a:rPr lang="en-US" altLang="zh-CN" dirty="0"/>
              <a:t>ls</a:t>
            </a:r>
            <a:r>
              <a:rPr lang="zh-CN" altLang="en-US" dirty="0"/>
              <a:t>中输入字符。</a:t>
            </a:r>
            <a:endParaRPr lang="zh-CN" altLang="en-US" dirty="0"/>
          </a:p>
          <a:p>
            <a:pPr lvl="1"/>
            <a:r>
              <a:rPr lang="zh-CN" altLang="en-US" dirty="0"/>
              <a:t>若是字母，视为结点的值，为它建立一个左右孩子为空的新结点，并把该结点作为左孩子（当</a:t>
            </a:r>
            <a:r>
              <a:rPr lang="en-US" altLang="zh-CN" dirty="0"/>
              <a:t>flag = 1</a:t>
            </a:r>
            <a:r>
              <a:rPr lang="zh-CN" altLang="en-US" dirty="0"/>
              <a:t>）或右孩子（当</a:t>
            </a:r>
            <a:r>
              <a:rPr lang="en-US" altLang="zh-CN" dirty="0"/>
              <a:t>flag = 2</a:t>
            </a:r>
            <a:r>
              <a:rPr lang="zh-CN" altLang="en-US" dirty="0"/>
              <a:t>）链接到其双亲结点上。</a:t>
            </a:r>
            <a:endParaRPr lang="zh-CN" altLang="en-US" dirty="0"/>
          </a:p>
          <a:p>
            <a:pPr lvl="1"/>
            <a:r>
              <a:rPr lang="zh-CN" altLang="en-US" dirty="0"/>
              <a:t>若是左括号</a:t>
            </a:r>
            <a:r>
              <a:rPr lang="en-US" altLang="zh-CN" dirty="0"/>
              <a:t>“(”</a:t>
            </a:r>
            <a:r>
              <a:rPr lang="zh-CN" altLang="en-US" dirty="0"/>
              <a:t>，则表明子树的开始，将</a:t>
            </a:r>
            <a:r>
              <a:rPr lang="en-US" altLang="zh-CN" dirty="0"/>
              <a:t>flag</a:t>
            </a:r>
            <a:r>
              <a:rPr lang="zh-CN" altLang="en-US" dirty="0"/>
              <a:t>置为</a:t>
            </a:r>
            <a:r>
              <a:rPr lang="en-US" altLang="zh-CN" dirty="0"/>
              <a:t>1</a:t>
            </a:r>
            <a:r>
              <a:rPr lang="zh-CN" altLang="en-US" dirty="0"/>
              <a:t>；若遇到的是右括号</a:t>
            </a:r>
            <a:r>
              <a:rPr lang="en-US" altLang="zh-CN" dirty="0"/>
              <a:t>“)”</a:t>
            </a:r>
            <a:r>
              <a:rPr lang="zh-CN" altLang="en-US" dirty="0"/>
              <a:t>，则表明子树结束。</a:t>
            </a:r>
            <a:endParaRPr lang="zh-CN" altLang="en-US" dirty="0"/>
          </a:p>
          <a:p>
            <a:pPr lvl="1"/>
            <a:r>
              <a:rPr lang="zh-CN" altLang="en-US" dirty="0"/>
              <a:t>若是逗号“</a:t>
            </a:r>
            <a:r>
              <a:rPr lang="en-US" altLang="zh-CN" dirty="0"/>
              <a:t>,”</a:t>
            </a:r>
            <a:r>
              <a:rPr lang="zh-CN" altLang="en-US" dirty="0"/>
              <a:t>，则表示左子树处理完毕，应接着处理右子树，将</a:t>
            </a:r>
            <a:r>
              <a:rPr lang="en-US" altLang="zh-CN" dirty="0"/>
              <a:t>flag</a:t>
            </a:r>
            <a:r>
              <a:rPr lang="zh-CN" altLang="en-US" dirty="0"/>
              <a:t>置为</a:t>
            </a:r>
            <a:r>
              <a:rPr lang="en-US" altLang="zh-CN" dirty="0"/>
              <a:t>2</a:t>
            </a:r>
            <a:r>
              <a:rPr lang="zh-CN" altLang="en-US" dirty="0"/>
              <a:t>。</a:t>
            </a:r>
            <a:endParaRPr lang="zh-CN" altLang="en-US" dirty="0"/>
          </a:p>
          <a:p>
            <a:pPr lvl="1"/>
            <a:r>
              <a:rPr lang="zh-CN" altLang="en-US" dirty="0"/>
              <a:t>如此处理每一个字符，直到读入结束符“</a:t>
            </a:r>
            <a:r>
              <a:rPr lang="en-US" altLang="zh-CN" dirty="0"/>
              <a:t>#”</a:t>
            </a:r>
            <a:r>
              <a:rPr lang="zh-CN" altLang="en-US" dirty="0"/>
              <a:t>为止。</a:t>
            </a:r>
            <a:endParaRPr lang="zh-CN" altLang="en-US" dirty="0"/>
          </a:p>
          <a:p>
            <a:r>
              <a:rPr lang="zh-CN" altLang="en-US" dirty="0"/>
              <a:t>在算法中使用了一个栈</a:t>
            </a:r>
            <a:r>
              <a:rPr lang="en-US" altLang="zh-CN" dirty="0"/>
              <a:t>s</a:t>
            </a:r>
            <a:r>
              <a:rPr lang="zh-CN" altLang="en-US" dirty="0"/>
              <a:t>，遇到右括号</a:t>
            </a:r>
            <a:r>
              <a:rPr lang="en-US" altLang="zh-CN" dirty="0"/>
              <a:t>“)” </a:t>
            </a:r>
            <a:r>
              <a:rPr lang="zh-CN" altLang="en-US" dirty="0"/>
              <a:t>说明完成当前结点的处理，弹栈。</a:t>
            </a:r>
            <a:endParaRPr lang="en-US" altLang="zh-CN" dirty="0"/>
          </a:p>
          <a:p>
            <a:pPr lvl="1"/>
            <a:r>
              <a:rPr lang="zh-CN" altLang="en-US" dirty="0"/>
              <a:t>以下算法是什么遍历？</a:t>
            </a:r>
            <a:endParaRPr lang="zh-CN" altLang="en-US" dirty="0"/>
          </a:p>
        </p:txBody>
      </p:sp>
      <p:sp>
        <p:nvSpPr>
          <p:cNvPr id="3" name="灯片编号占位符 2"/>
          <p:cNvSpPr>
            <a:spLocks noGrp="1"/>
          </p:cNvSpPr>
          <p:nvPr>
            <p:ph type="sldNum" sz="quarter" idx="4294967295"/>
          </p:nvPr>
        </p:nvSpPr>
        <p:spPr>
          <a:xfrm>
            <a:off x="0" y="6356350"/>
            <a:ext cx="3086100" cy="365125"/>
          </a:xfrm>
        </p:spPr>
        <p:txBody>
          <a:bodyPr/>
          <a:lstStyle/>
          <a:p>
            <a:fld id="{309E364D-00D6-47C2-9D45-D05B1A9DE783}" type="slidenum">
              <a:rPr lang="en-US" altLang="zh-CN"/>
            </a:fld>
            <a:endParaRPr lang="en-US" altLang="zh-CN"/>
          </a:p>
        </p:txBody>
      </p:sp>
    </p:spTree>
  </p:cSld>
  <p:clrMapOvr>
    <a:masterClrMapping/>
  </p:clrMapOvr>
  <p:transition>
    <p:spli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r>
              <a:rPr lang="zh-CN" altLang="en-US" dirty="0"/>
              <a:t>根据括号表示建立二叉树 </a:t>
            </a:r>
            <a:endParaRPr lang="zh-CN" altLang="en-US" dirty="0"/>
          </a:p>
        </p:txBody>
      </p:sp>
      <p:sp>
        <p:nvSpPr>
          <p:cNvPr id="6" name="内容占位符 5"/>
          <p:cNvSpPr>
            <a:spLocks noGrp="1"/>
          </p:cNvSpPr>
          <p:nvPr>
            <p:ph idx="1"/>
          </p:nvPr>
        </p:nvSpPr>
        <p:spPr>
          <a:xfrm>
            <a:off x="628650" y="1340767"/>
            <a:ext cx="8263830" cy="5380708"/>
          </a:xfrm>
          <a:solidFill>
            <a:schemeClr val="bg2"/>
          </a:solidFill>
        </p:spPr>
        <p:txBody>
          <a:bodyPr>
            <a:normAutofit fontScale="32500" lnSpcReduction="20000"/>
          </a:bodyPr>
          <a:lstStyle/>
          <a:p>
            <a:pPr marL="0" indent="0">
              <a:buNone/>
            </a:pPr>
            <a:r>
              <a:rPr lang="en-US" altLang="zh-CN" dirty="0"/>
              <a:t>//</a:t>
            </a:r>
            <a:r>
              <a:rPr lang="zh-CN" altLang="en-US" dirty="0"/>
              <a:t>输入以</a:t>
            </a:r>
            <a:r>
              <a:rPr lang="en-US" altLang="zh-CN" dirty="0"/>
              <a:t>‘#’</a:t>
            </a:r>
            <a:r>
              <a:rPr lang="zh-CN" altLang="en-US" dirty="0"/>
              <a:t>结束的字符串</a:t>
            </a:r>
            <a:r>
              <a:rPr lang="en-US" altLang="zh-CN" dirty="0"/>
              <a:t>in</a:t>
            </a:r>
            <a:r>
              <a:rPr lang="zh-CN" altLang="en-US" dirty="0"/>
              <a:t>，建立根指针为</a:t>
            </a:r>
            <a:r>
              <a:rPr lang="en-US" altLang="zh-CN" dirty="0"/>
              <a:t>BT</a:t>
            </a:r>
            <a:r>
              <a:rPr lang="zh-CN" altLang="en-US" dirty="0"/>
              <a:t>的二叉树。用数组实现栈。算法时间复杂度</a:t>
            </a:r>
            <a:r>
              <a:rPr lang="en-US" altLang="zh-CN" dirty="0"/>
              <a:t>O(n)</a:t>
            </a:r>
            <a:r>
              <a:rPr lang="zh-CN" altLang="en-US" dirty="0"/>
              <a:t>，</a:t>
            </a:r>
            <a:r>
              <a:rPr lang="en-US" altLang="zh-CN" dirty="0"/>
              <a:t>n</a:t>
            </a:r>
            <a:r>
              <a:rPr lang="zh-CN" altLang="en-US" dirty="0"/>
              <a:t>为字符串长度</a:t>
            </a:r>
            <a:endParaRPr lang="zh-CN" altLang="en-US" dirty="0"/>
          </a:p>
          <a:p>
            <a:pPr marL="0" indent="0">
              <a:buNone/>
            </a:pPr>
            <a:r>
              <a:rPr lang="en-US" altLang="zh-CN" dirty="0"/>
              <a:t>template &lt;class T&gt;     void </a:t>
            </a:r>
            <a:r>
              <a:rPr lang="en-US" altLang="zh-CN" dirty="0" err="1"/>
              <a:t>BinaryTree</a:t>
            </a:r>
            <a:r>
              <a:rPr lang="en-US" altLang="zh-CN" dirty="0"/>
              <a:t>&lt;T&gt;::</a:t>
            </a:r>
            <a:r>
              <a:rPr lang="en-US" altLang="zh-CN" dirty="0" err="1"/>
              <a:t>createBinTree</a:t>
            </a:r>
            <a:r>
              <a:rPr lang="en-US" altLang="zh-CN" dirty="0"/>
              <a:t> (T in[], </a:t>
            </a:r>
            <a:r>
              <a:rPr lang="en-US" altLang="zh-CN" dirty="0" err="1"/>
              <a:t>BinTreeNode</a:t>
            </a:r>
            <a:r>
              <a:rPr lang="en-US" altLang="zh-CN" dirty="0"/>
              <a:t>&lt;T&gt; *&amp; BT) {</a:t>
            </a:r>
            <a:endParaRPr lang="en-US" altLang="zh-CN" dirty="0"/>
          </a:p>
          <a:p>
            <a:pPr marL="0" indent="0">
              <a:buNone/>
            </a:pPr>
            <a:r>
              <a:rPr lang="en-US" altLang="zh-CN" dirty="0"/>
              <a:t>     </a:t>
            </a:r>
            <a:r>
              <a:rPr lang="en-US" altLang="zh-CN" dirty="0" err="1"/>
              <a:t>BinTreeNode</a:t>
            </a:r>
            <a:r>
              <a:rPr lang="en-US" altLang="zh-CN" dirty="0"/>
              <a:t>&lt;T&gt; *S[</a:t>
            </a:r>
            <a:r>
              <a:rPr lang="en-US" altLang="zh-CN" dirty="0" err="1"/>
              <a:t>stackSize</a:t>
            </a:r>
            <a:r>
              <a:rPr lang="en-US" altLang="zh-CN" dirty="0"/>
              <a:t>];          int top = -1;             //</a:t>
            </a:r>
            <a:r>
              <a:rPr lang="zh-CN" altLang="en-US" dirty="0"/>
              <a:t>设置栈并置空，</a:t>
            </a:r>
            <a:r>
              <a:rPr lang="en-US" altLang="zh-CN" dirty="0"/>
              <a:t> </a:t>
            </a:r>
            <a:r>
              <a:rPr lang="zh-CN" altLang="en-US" dirty="0"/>
              <a:t>之前预定义“</a:t>
            </a:r>
            <a:r>
              <a:rPr lang="en-US" altLang="zh-CN" dirty="0"/>
              <a:t>#define </a:t>
            </a:r>
            <a:r>
              <a:rPr lang="en-US" altLang="zh-CN" dirty="0" err="1"/>
              <a:t>stackSize</a:t>
            </a:r>
            <a:r>
              <a:rPr lang="en-US" altLang="zh-CN" dirty="0"/>
              <a:t> 20</a:t>
            </a:r>
            <a:r>
              <a:rPr lang="zh-CN" altLang="en-US" dirty="0"/>
              <a:t>”</a:t>
            </a:r>
            <a:endParaRPr lang="zh-CN" altLang="en-US" dirty="0"/>
          </a:p>
          <a:p>
            <a:pPr marL="0" indent="0">
              <a:buNone/>
            </a:pPr>
            <a:r>
              <a:rPr lang="zh-CN" altLang="en-US" dirty="0"/>
              <a:t>     </a:t>
            </a:r>
            <a:r>
              <a:rPr lang="en-US" altLang="zh-CN" dirty="0" err="1"/>
              <a:t>BinTreeNode</a:t>
            </a:r>
            <a:r>
              <a:rPr lang="en-US" altLang="zh-CN" dirty="0"/>
              <a:t>&lt;T&gt; *p, *t;          int k = 0, flag;          BT = NULL;          char  </a:t>
            </a:r>
            <a:r>
              <a:rPr lang="en-US" altLang="zh-CN" dirty="0" err="1"/>
              <a:t>ch</a:t>
            </a:r>
            <a:r>
              <a:rPr lang="en-US" altLang="zh-CN" dirty="0"/>
              <a:t> = in[k++];     //</a:t>
            </a:r>
            <a:r>
              <a:rPr lang="zh-CN" altLang="en-US" dirty="0"/>
              <a:t>读首字符</a:t>
            </a:r>
            <a:endParaRPr lang="zh-CN" altLang="en-US" dirty="0"/>
          </a:p>
          <a:p>
            <a:pPr marL="0" indent="0">
              <a:buNone/>
            </a:pPr>
            <a:r>
              <a:rPr lang="zh-CN" altLang="en-US" dirty="0"/>
              <a:t>     </a:t>
            </a:r>
            <a:r>
              <a:rPr lang="en-US" altLang="zh-CN" dirty="0"/>
              <a:t>while (</a:t>
            </a:r>
            <a:r>
              <a:rPr lang="en-US" altLang="zh-CN" dirty="0" err="1"/>
              <a:t>ch</a:t>
            </a:r>
            <a:r>
              <a:rPr lang="en-US" altLang="zh-CN" dirty="0"/>
              <a:t> != '#') {	      //</a:t>
            </a:r>
            <a:r>
              <a:rPr lang="zh-CN" altLang="en-US" dirty="0"/>
              <a:t>逐个字符处理</a:t>
            </a:r>
            <a:endParaRPr lang="zh-CN" altLang="en-US" dirty="0"/>
          </a:p>
          <a:p>
            <a:pPr marL="0" indent="0">
              <a:buNone/>
            </a:pPr>
            <a:r>
              <a:rPr lang="zh-CN" altLang="en-US" dirty="0"/>
              <a:t>          </a:t>
            </a:r>
            <a:r>
              <a:rPr lang="en-US" altLang="zh-CN" dirty="0"/>
              <a:t>switch (</a:t>
            </a:r>
            <a:r>
              <a:rPr lang="en-US" altLang="zh-CN" dirty="0" err="1"/>
              <a:t>ch</a:t>
            </a:r>
            <a:r>
              <a:rPr lang="en-US" altLang="zh-CN" dirty="0"/>
              <a:t>) {</a:t>
            </a:r>
            <a:endParaRPr lang="en-US" altLang="zh-CN" dirty="0"/>
          </a:p>
          <a:p>
            <a:pPr marL="0" indent="0">
              <a:buNone/>
            </a:pPr>
            <a:r>
              <a:rPr lang="en-US" altLang="zh-CN" dirty="0"/>
              <a:t>                case ‘(’: S[++top] = p;  flag = 1;    break;	          //</a:t>
            </a:r>
            <a:r>
              <a:rPr lang="zh-CN" altLang="en-US" dirty="0"/>
              <a:t>进入左子树</a:t>
            </a:r>
            <a:endParaRPr lang="zh-CN" altLang="en-US" dirty="0"/>
          </a:p>
          <a:p>
            <a:pPr marL="0" indent="0">
              <a:buNone/>
            </a:pPr>
            <a:r>
              <a:rPr lang="zh-CN" altLang="en-US" dirty="0"/>
              <a:t>                </a:t>
            </a:r>
            <a:r>
              <a:rPr lang="en-US" altLang="zh-CN" dirty="0"/>
              <a:t>case ')': t = S[top--];  break;	                          //</a:t>
            </a:r>
            <a:r>
              <a:rPr lang="zh-CN" altLang="en-US" dirty="0"/>
              <a:t>退出子树</a:t>
            </a:r>
            <a:endParaRPr lang="zh-CN" altLang="en-US" dirty="0"/>
          </a:p>
          <a:p>
            <a:pPr marL="0" indent="0">
              <a:buNone/>
            </a:pPr>
            <a:r>
              <a:rPr lang="zh-CN" altLang="en-US" dirty="0"/>
              <a:t>                </a:t>
            </a:r>
            <a:r>
              <a:rPr lang="en-US" altLang="zh-CN" dirty="0"/>
              <a:t>case ',': flag = 2;  break;                                        //</a:t>
            </a:r>
            <a:r>
              <a:rPr lang="zh-CN" altLang="en-US" dirty="0"/>
              <a:t>转入右子树</a:t>
            </a:r>
            <a:endParaRPr lang="zh-CN" altLang="en-US" dirty="0"/>
          </a:p>
          <a:p>
            <a:pPr marL="0" indent="0">
              <a:buNone/>
            </a:pPr>
            <a:r>
              <a:rPr lang="en-US" altLang="zh-CN" dirty="0"/>
              <a:t>	default:  </a:t>
            </a:r>
            <a:endParaRPr lang="en-US" altLang="zh-CN" dirty="0"/>
          </a:p>
          <a:p>
            <a:pPr marL="0" indent="0">
              <a:buNone/>
            </a:pPr>
            <a:r>
              <a:rPr lang="en-US" altLang="zh-CN" dirty="0"/>
              <a:t>	      p = new </a:t>
            </a:r>
            <a:r>
              <a:rPr lang="en-US" altLang="zh-CN" dirty="0" err="1"/>
              <a:t>BinTreeNode</a:t>
            </a:r>
            <a:r>
              <a:rPr lang="en-US" altLang="zh-CN" dirty="0"/>
              <a:t>&lt;T&gt;(</a:t>
            </a:r>
            <a:r>
              <a:rPr lang="en-US" altLang="zh-CN" dirty="0" err="1"/>
              <a:t>ch</a:t>
            </a:r>
            <a:r>
              <a:rPr lang="en-US" altLang="zh-CN" dirty="0"/>
              <a:t>);                      //</a:t>
            </a:r>
            <a:r>
              <a:rPr lang="zh-CN" altLang="en-US" dirty="0"/>
              <a:t>创建子树根结点，赋值</a:t>
            </a:r>
            <a:endParaRPr lang="zh-CN" altLang="en-US" dirty="0"/>
          </a:p>
          <a:p>
            <a:pPr marL="0" indent="0">
              <a:buNone/>
            </a:pPr>
            <a:r>
              <a:rPr lang="zh-CN" altLang="en-US" dirty="0"/>
              <a:t>	      </a:t>
            </a:r>
            <a:r>
              <a:rPr lang="en-US" altLang="zh-CN" dirty="0"/>
              <a:t>if (BT == NULL) BT = p;      	         //</a:t>
            </a:r>
            <a:r>
              <a:rPr lang="zh-CN" altLang="en-US" dirty="0"/>
              <a:t>原为空树，*</a:t>
            </a:r>
            <a:r>
              <a:rPr lang="en-US" altLang="zh-CN" dirty="0"/>
              <a:t>p</a:t>
            </a:r>
            <a:r>
              <a:rPr lang="zh-CN" altLang="en-US" dirty="0"/>
              <a:t>成为树根</a:t>
            </a:r>
            <a:endParaRPr lang="zh-CN" altLang="en-US" dirty="0"/>
          </a:p>
          <a:p>
            <a:pPr marL="0" indent="0">
              <a:buNone/>
            </a:pPr>
            <a:r>
              <a:rPr lang="zh-CN" altLang="en-US" dirty="0"/>
              <a:t>	      </a:t>
            </a:r>
            <a:r>
              <a:rPr lang="en-US" altLang="zh-CN" dirty="0"/>
              <a:t>else {	       //</a:t>
            </a:r>
            <a:r>
              <a:rPr lang="zh-CN" altLang="en-US" dirty="0"/>
              <a:t>链入双亲，</a:t>
            </a:r>
            <a:r>
              <a:rPr lang="en-US" altLang="zh-CN" dirty="0"/>
              <a:t> </a:t>
            </a:r>
            <a:r>
              <a:rPr lang="zh-CN" altLang="en-US" dirty="0"/>
              <a:t>栈顶为子树双亲</a:t>
            </a:r>
            <a:r>
              <a:rPr lang="en-US" altLang="zh-CN" dirty="0"/>
              <a:t>t</a:t>
            </a:r>
            <a:r>
              <a:rPr lang="zh-CN" altLang="en-US" dirty="0"/>
              <a:t>，根据</a:t>
            </a:r>
            <a:r>
              <a:rPr lang="en-US" altLang="zh-CN" dirty="0"/>
              <a:t>flag</a:t>
            </a:r>
            <a:r>
              <a:rPr lang="zh-CN" altLang="en-US" dirty="0"/>
              <a:t>，确定</a:t>
            </a:r>
            <a:r>
              <a:rPr lang="en-US" altLang="zh-CN" dirty="0"/>
              <a:t>p</a:t>
            </a:r>
            <a:r>
              <a:rPr lang="zh-CN" altLang="en-US" dirty="0"/>
              <a:t>成为</a:t>
            </a:r>
            <a:r>
              <a:rPr lang="en-US" altLang="zh-CN" dirty="0"/>
              <a:t>t</a:t>
            </a:r>
            <a:r>
              <a:rPr lang="zh-CN" altLang="en-US" dirty="0"/>
              <a:t>的左孩子指针或者右孩子指针</a:t>
            </a:r>
            <a:endParaRPr lang="zh-CN" altLang="en-US" dirty="0"/>
          </a:p>
          <a:p>
            <a:pPr marL="0" indent="0">
              <a:buNone/>
            </a:pPr>
            <a:r>
              <a:rPr lang="zh-CN" altLang="en-US" dirty="0"/>
              <a:t>	            </a:t>
            </a:r>
            <a:r>
              <a:rPr lang="en-US" altLang="zh-CN" dirty="0"/>
              <a:t>t = S[top];</a:t>
            </a:r>
            <a:r>
              <a:rPr lang="zh-CN" altLang="en-US" dirty="0"/>
              <a:t>           </a:t>
            </a:r>
            <a:r>
              <a:rPr lang="en-US" altLang="zh-CN" dirty="0"/>
              <a:t>if ( flag == 1 ) t-&gt;</a:t>
            </a:r>
            <a:r>
              <a:rPr lang="en-US" altLang="zh-CN" dirty="0" err="1"/>
              <a:t>leftChild</a:t>
            </a:r>
            <a:r>
              <a:rPr lang="en-US" altLang="zh-CN" dirty="0"/>
              <a:t> = p;   </a:t>
            </a:r>
            <a:r>
              <a:rPr lang="zh-CN" altLang="en-US" dirty="0"/>
              <a:t>           </a:t>
            </a:r>
            <a:r>
              <a:rPr lang="en-US" altLang="zh-CN" dirty="0"/>
              <a:t>else t-&gt;</a:t>
            </a:r>
            <a:r>
              <a:rPr lang="en-US" altLang="zh-CN" dirty="0" err="1"/>
              <a:t>rightChild</a:t>
            </a:r>
            <a:r>
              <a:rPr lang="en-US" altLang="zh-CN" dirty="0"/>
              <a:t> = p;		</a:t>
            </a:r>
            <a:endParaRPr lang="zh-CN" altLang="en-US" dirty="0"/>
          </a:p>
          <a:p>
            <a:pPr marL="0" indent="0">
              <a:buNone/>
            </a:pPr>
            <a:r>
              <a:rPr lang="zh-CN" altLang="en-US" dirty="0"/>
              <a:t>	       </a:t>
            </a:r>
            <a:r>
              <a:rPr lang="en-US" altLang="zh-CN" dirty="0"/>
              <a:t>}</a:t>
            </a:r>
            <a:endParaRPr lang="en-US" altLang="zh-CN" dirty="0"/>
          </a:p>
          <a:p>
            <a:pPr marL="0" indent="0">
              <a:buNone/>
            </a:pPr>
            <a:r>
              <a:rPr lang="en-US" altLang="zh-CN" dirty="0"/>
              <a:t>          }//switch</a:t>
            </a:r>
            <a:endParaRPr lang="en-US" altLang="zh-CN" dirty="0"/>
          </a:p>
          <a:p>
            <a:pPr marL="0" indent="0">
              <a:buNone/>
            </a:pPr>
            <a:r>
              <a:rPr lang="en-US" altLang="zh-CN" dirty="0"/>
              <a:t>          </a:t>
            </a:r>
            <a:r>
              <a:rPr lang="en-US" altLang="zh-CN" dirty="0" err="1"/>
              <a:t>ch</a:t>
            </a:r>
            <a:r>
              <a:rPr lang="en-US" altLang="zh-CN" dirty="0"/>
              <a:t> = in[k++];		//</a:t>
            </a:r>
            <a:r>
              <a:rPr lang="zh-CN" altLang="en-US" dirty="0"/>
              <a:t>读入下一字符</a:t>
            </a:r>
            <a:endParaRPr lang="zh-CN" altLang="en-US" dirty="0"/>
          </a:p>
          <a:p>
            <a:pPr marL="0" indent="0">
              <a:buNone/>
            </a:pPr>
            <a:r>
              <a:rPr lang="zh-CN" altLang="en-US" dirty="0"/>
              <a:t>     </a:t>
            </a:r>
            <a:r>
              <a:rPr lang="en-US" altLang="zh-CN" dirty="0"/>
              <a:t>}//while</a:t>
            </a:r>
            <a:endParaRPr lang="en-US" altLang="zh-CN" dirty="0"/>
          </a:p>
          <a:p>
            <a:pPr marL="0" indent="0">
              <a:buNone/>
            </a:pPr>
            <a:r>
              <a:rPr lang="en-US" altLang="zh-CN" dirty="0"/>
              <a:t>} ;</a:t>
            </a:r>
            <a:endParaRPr lang="en-US" altLang="zh-CN" dirty="0"/>
          </a:p>
        </p:txBody>
      </p:sp>
      <p:sp>
        <p:nvSpPr>
          <p:cNvPr id="3" name="灯片编号占位符 2"/>
          <p:cNvSpPr>
            <a:spLocks noGrp="1"/>
          </p:cNvSpPr>
          <p:nvPr>
            <p:ph type="sldNum" sz="quarter" idx="12"/>
          </p:nvPr>
        </p:nvSpPr>
        <p:spPr/>
        <p:txBody>
          <a:bodyPr/>
          <a:lstStyle/>
          <a:p>
            <a:fld id="{BBC77792-468E-4AB9-A0DD-510F0A66A2F2}" type="slidenum">
              <a:rPr lang="en-US" altLang="zh-CN"/>
            </a:fld>
            <a:endParaRPr lang="en-US" altLang="zh-CN"/>
          </a:p>
        </p:txBody>
      </p:sp>
    </p:spTree>
  </p:cSld>
  <p:clrMapOvr>
    <a:masterClrMapping/>
  </p:clrMapOvr>
  <p:transition>
    <p:spli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用队列实现层次遍历</a:t>
            </a:r>
            <a:endParaRPr lang="zh-CN" altLang="en-US" dirty="0"/>
          </a:p>
        </p:txBody>
      </p:sp>
      <p:sp>
        <p:nvSpPr>
          <p:cNvPr id="3" name="内容占位符 2"/>
          <p:cNvSpPr>
            <a:spLocks noGrp="1"/>
          </p:cNvSpPr>
          <p:nvPr>
            <p:ph idx="1"/>
          </p:nvPr>
        </p:nvSpPr>
        <p:spPr>
          <a:xfrm>
            <a:off x="395536" y="1484784"/>
            <a:ext cx="8352928" cy="5112567"/>
          </a:xfrm>
        </p:spPr>
        <p:txBody>
          <a:bodyPr>
            <a:normAutofit fontScale="55000" lnSpcReduction="20000"/>
          </a:bodyPr>
          <a:lstStyle/>
          <a:p>
            <a:pPr marL="0" indent="0">
              <a:buNone/>
            </a:pPr>
            <a:r>
              <a:rPr lang="en-US" altLang="zh-CN" dirty="0"/>
              <a:t>template &lt;class T&gt;  </a:t>
            </a:r>
            <a:endParaRPr lang="en-US" altLang="zh-CN" dirty="0"/>
          </a:p>
          <a:p>
            <a:pPr marL="0" indent="0">
              <a:buNone/>
            </a:pPr>
            <a:r>
              <a:rPr lang="en-US" altLang="zh-CN" dirty="0"/>
              <a:t>void </a:t>
            </a:r>
            <a:r>
              <a:rPr lang="en-US" altLang="zh-CN" dirty="0" err="1"/>
              <a:t>BinaryTree</a:t>
            </a:r>
            <a:r>
              <a:rPr lang="en-US" altLang="zh-CN" dirty="0"/>
              <a:t>&lt;T&gt; :: </a:t>
            </a:r>
            <a:r>
              <a:rPr lang="en-US" altLang="zh-CN" dirty="0" err="1"/>
              <a:t>LevelOrder</a:t>
            </a:r>
            <a:r>
              <a:rPr lang="en-US" altLang="zh-CN" dirty="0"/>
              <a:t>(void(*visit)(</a:t>
            </a:r>
            <a:r>
              <a:rPr lang="en-US" altLang="zh-CN" dirty="0" err="1"/>
              <a:t>BinTreeNode</a:t>
            </a:r>
            <a:r>
              <a:rPr lang="en-US" altLang="zh-CN" dirty="0"/>
              <a:t>&lt;T&gt; *p)) {</a:t>
            </a:r>
            <a:endParaRPr lang="en-US" altLang="zh-CN" dirty="0"/>
          </a:p>
          <a:p>
            <a:pPr marL="0" indent="0">
              <a:buNone/>
            </a:pPr>
            <a:r>
              <a:rPr lang="en-US" altLang="zh-CN" dirty="0"/>
              <a:t>    </a:t>
            </a:r>
            <a:r>
              <a:rPr lang="en-US" altLang="zh-CN" dirty="0" err="1"/>
              <a:t>LinkedQueue</a:t>
            </a:r>
            <a:r>
              <a:rPr lang="en-US" altLang="zh-CN" dirty="0"/>
              <a:t>&lt;</a:t>
            </a:r>
            <a:r>
              <a:rPr lang="en-US" altLang="zh-CN" dirty="0" err="1"/>
              <a:t>BinTreeNode</a:t>
            </a:r>
            <a:r>
              <a:rPr lang="en-US" altLang="zh-CN" dirty="0"/>
              <a:t>&lt;T&gt;*&gt; Q;</a:t>
            </a:r>
            <a:endParaRPr lang="en-US" altLang="zh-CN" dirty="0"/>
          </a:p>
          <a:p>
            <a:pPr marL="0" indent="0">
              <a:buNone/>
            </a:pPr>
            <a:r>
              <a:rPr lang="en-US" altLang="zh-CN" dirty="0"/>
              <a:t>    </a:t>
            </a:r>
            <a:r>
              <a:rPr lang="en-US" altLang="zh-CN" dirty="0" err="1"/>
              <a:t>BinTreeNode</a:t>
            </a:r>
            <a:r>
              <a:rPr lang="en-US" altLang="zh-CN" dirty="0"/>
              <a:t>&lt;T&gt; * p = root;</a:t>
            </a:r>
            <a:endParaRPr lang="en-US" altLang="zh-CN" dirty="0"/>
          </a:p>
          <a:p>
            <a:pPr marL="0" indent="0">
              <a:buNone/>
            </a:pPr>
            <a:r>
              <a:rPr lang="en-US" altLang="zh-CN" dirty="0"/>
              <a:t>    </a:t>
            </a:r>
            <a:r>
              <a:rPr lang="en-US" altLang="zh-CN" dirty="0" err="1"/>
              <a:t>Q.Enqueue</a:t>
            </a:r>
            <a:r>
              <a:rPr lang="en-US" altLang="zh-CN" dirty="0"/>
              <a:t>(p);</a:t>
            </a:r>
            <a:endParaRPr lang="en-US" altLang="zh-CN" dirty="0"/>
          </a:p>
          <a:p>
            <a:pPr marL="0" indent="0">
              <a:buNone/>
            </a:pPr>
            <a:r>
              <a:rPr lang="en-US" altLang="zh-CN" dirty="0"/>
              <a:t>    while(!</a:t>
            </a:r>
            <a:r>
              <a:rPr lang="en-US" altLang="zh-CN" dirty="0" err="1"/>
              <a:t>Q.IsEmpty</a:t>
            </a:r>
            <a:r>
              <a:rPr lang="en-US" altLang="zh-CN" dirty="0"/>
              <a:t>()) {</a:t>
            </a:r>
            <a:endParaRPr lang="en-US" altLang="zh-CN" dirty="0"/>
          </a:p>
          <a:p>
            <a:pPr marL="0" indent="0">
              <a:buNone/>
            </a:pPr>
            <a:r>
              <a:rPr lang="en-US" altLang="zh-CN" dirty="0"/>
              <a:t>         </a:t>
            </a:r>
            <a:r>
              <a:rPr lang="en-US" altLang="zh-CN" dirty="0" err="1"/>
              <a:t>Q.DeQueue</a:t>
            </a:r>
            <a:r>
              <a:rPr lang="en-US" altLang="zh-CN" dirty="0"/>
              <a:t>(p); visit(p);</a:t>
            </a:r>
            <a:endParaRPr lang="en-US" altLang="zh-CN" dirty="0"/>
          </a:p>
          <a:p>
            <a:pPr marL="0" indent="0">
              <a:buNone/>
            </a:pPr>
            <a:r>
              <a:rPr lang="en-US" altLang="zh-CN" dirty="0"/>
              <a:t>         if(p-&gt;</a:t>
            </a:r>
            <a:r>
              <a:rPr lang="en-US" altLang="zh-CN" dirty="0" err="1"/>
              <a:t>leftChild</a:t>
            </a:r>
            <a:r>
              <a:rPr lang="en-US" altLang="zh-CN" dirty="0"/>
              <a:t> != NULL) </a:t>
            </a:r>
            <a:endParaRPr lang="en-US" altLang="zh-CN" dirty="0"/>
          </a:p>
          <a:p>
            <a:pPr marL="0" indent="0">
              <a:buNone/>
            </a:pPr>
            <a:r>
              <a:rPr lang="en-US" altLang="zh-CN" dirty="0"/>
              <a:t>                </a:t>
            </a:r>
            <a:r>
              <a:rPr lang="en-US" altLang="zh-CN" dirty="0" err="1"/>
              <a:t>Q.EnQueue</a:t>
            </a:r>
            <a:r>
              <a:rPr lang="en-US" altLang="zh-CN" dirty="0"/>
              <a:t>(p-&gt;</a:t>
            </a:r>
            <a:r>
              <a:rPr lang="en-US" altLang="zh-CN" dirty="0" err="1"/>
              <a:t>leftChild</a:t>
            </a:r>
            <a:r>
              <a:rPr lang="en-US" altLang="zh-CN" dirty="0"/>
              <a:t>);</a:t>
            </a:r>
            <a:endParaRPr lang="en-US" altLang="zh-CN" dirty="0"/>
          </a:p>
          <a:p>
            <a:pPr marL="0" indent="0">
              <a:buNone/>
            </a:pPr>
            <a:r>
              <a:rPr lang="en-US" altLang="zh-CN" dirty="0"/>
              <a:t>         if(p-&gt;</a:t>
            </a:r>
            <a:r>
              <a:rPr lang="en-US" altLang="zh-CN" dirty="0" err="1"/>
              <a:t>rightChild</a:t>
            </a:r>
            <a:r>
              <a:rPr lang="en-US" altLang="zh-CN" dirty="0"/>
              <a:t>!=NULL) </a:t>
            </a:r>
            <a:endParaRPr lang="en-US" altLang="zh-CN" dirty="0"/>
          </a:p>
          <a:p>
            <a:pPr marL="0" indent="0">
              <a:buNone/>
            </a:pPr>
            <a:r>
              <a:rPr lang="en-US" altLang="zh-CN" dirty="0"/>
              <a:t>               </a:t>
            </a:r>
            <a:r>
              <a:rPr lang="en-US" altLang="zh-CN" dirty="0" err="1"/>
              <a:t>Q.Enqueue</a:t>
            </a:r>
            <a:r>
              <a:rPr lang="en-US" altLang="zh-CN" dirty="0"/>
              <a:t>(p-&gt;</a:t>
            </a:r>
            <a:r>
              <a:rPr lang="en-US" altLang="zh-CN" dirty="0" err="1"/>
              <a:t>rightChild</a:t>
            </a:r>
            <a:r>
              <a:rPr lang="en-US" altLang="zh-CN" dirty="0"/>
              <a:t>);</a:t>
            </a:r>
            <a:endParaRPr lang="en-US" altLang="zh-CN" dirty="0"/>
          </a:p>
          <a:p>
            <a:pPr marL="0" indent="0">
              <a:buNone/>
            </a:pPr>
            <a:r>
              <a:rPr lang="en-US" altLang="zh-CN" dirty="0"/>
              <a:t>    }</a:t>
            </a:r>
            <a:endParaRPr lang="en-US" altLang="zh-CN" dirty="0"/>
          </a:p>
          <a:p>
            <a:pPr marL="0" indent="0">
              <a:buNone/>
            </a:pPr>
            <a:r>
              <a:rPr lang="en-US" altLang="zh-CN" dirty="0"/>
              <a:t>}</a:t>
            </a: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Line 2"/>
          <p:cNvSpPr>
            <a:spLocks noChangeShapeType="1"/>
          </p:cNvSpPr>
          <p:nvPr/>
        </p:nvSpPr>
        <p:spPr bwMode="auto">
          <a:xfrm>
            <a:off x="5691808" y="4999038"/>
            <a:ext cx="152400" cy="3810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83" name="Line 3"/>
          <p:cNvSpPr>
            <a:spLocks noChangeShapeType="1"/>
          </p:cNvSpPr>
          <p:nvPr/>
        </p:nvSpPr>
        <p:spPr bwMode="auto">
          <a:xfrm flipH="1">
            <a:off x="5082208" y="4999038"/>
            <a:ext cx="3048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84" name="Line 4"/>
          <p:cNvSpPr>
            <a:spLocks noChangeShapeType="1"/>
          </p:cNvSpPr>
          <p:nvPr/>
        </p:nvSpPr>
        <p:spPr bwMode="auto">
          <a:xfrm flipH="1">
            <a:off x="5615608" y="4237038"/>
            <a:ext cx="4572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85" name="Line 5"/>
          <p:cNvSpPr>
            <a:spLocks noChangeShapeType="1"/>
          </p:cNvSpPr>
          <p:nvPr/>
        </p:nvSpPr>
        <p:spPr bwMode="auto">
          <a:xfrm>
            <a:off x="6377608" y="4237038"/>
            <a:ext cx="4572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86" name="Line 6"/>
          <p:cNvSpPr>
            <a:spLocks noChangeShapeType="1"/>
          </p:cNvSpPr>
          <p:nvPr/>
        </p:nvSpPr>
        <p:spPr bwMode="auto">
          <a:xfrm>
            <a:off x="2567608" y="4237038"/>
            <a:ext cx="4572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87" name="Line 7"/>
          <p:cNvSpPr>
            <a:spLocks noChangeShapeType="1"/>
          </p:cNvSpPr>
          <p:nvPr/>
        </p:nvSpPr>
        <p:spPr bwMode="auto">
          <a:xfrm flipH="1">
            <a:off x="1805608" y="4237038"/>
            <a:ext cx="4572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0" name="Oval 10"/>
          <p:cNvSpPr>
            <a:spLocks noChangeArrowheads="1"/>
          </p:cNvSpPr>
          <p:nvPr/>
        </p:nvSpPr>
        <p:spPr bwMode="auto">
          <a:xfrm>
            <a:off x="2186608" y="3856038"/>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691" name="Oval 11"/>
          <p:cNvSpPr>
            <a:spLocks noChangeArrowheads="1"/>
          </p:cNvSpPr>
          <p:nvPr/>
        </p:nvSpPr>
        <p:spPr bwMode="auto">
          <a:xfrm>
            <a:off x="1043608" y="4541838"/>
            <a:ext cx="1295400" cy="6096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692" name="Oval 12"/>
          <p:cNvSpPr>
            <a:spLocks noChangeArrowheads="1"/>
          </p:cNvSpPr>
          <p:nvPr/>
        </p:nvSpPr>
        <p:spPr bwMode="auto">
          <a:xfrm>
            <a:off x="2415208" y="4541838"/>
            <a:ext cx="1371600" cy="6096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693" name="Text Box 13"/>
          <p:cNvSpPr txBox="1">
            <a:spLocks noChangeArrowheads="1"/>
          </p:cNvSpPr>
          <p:nvPr/>
        </p:nvSpPr>
        <p:spPr bwMode="auto">
          <a:xfrm>
            <a:off x="1091233" y="4556126"/>
            <a:ext cx="1171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HBDF</a:t>
            </a:r>
            <a:endParaRPr kumimoji="1" lang="en-US" altLang="zh-CN" sz="2400">
              <a:latin typeface="Times New Roman" panose="02020603050405020304" pitchFamily="18" charset="0"/>
              <a:ea typeface="宋体" panose="02010600030101010101" pitchFamily="2" charset="-122"/>
            </a:endParaRPr>
          </a:p>
        </p:txBody>
      </p:sp>
      <p:sp>
        <p:nvSpPr>
          <p:cNvPr id="71694" name="Text Box 14"/>
          <p:cNvSpPr txBox="1">
            <a:spLocks noChangeArrowheads="1"/>
          </p:cNvSpPr>
          <p:nvPr/>
        </p:nvSpPr>
        <p:spPr bwMode="auto">
          <a:xfrm>
            <a:off x="2480296" y="4556126"/>
            <a:ext cx="1230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EKCG</a:t>
            </a:r>
            <a:endParaRPr kumimoji="1" lang="en-US" altLang="zh-CN" sz="2400">
              <a:latin typeface="Times New Roman" panose="02020603050405020304" pitchFamily="18" charset="0"/>
              <a:ea typeface="宋体" panose="02010600030101010101" pitchFamily="2" charset="-122"/>
            </a:endParaRPr>
          </a:p>
        </p:txBody>
      </p:sp>
      <p:sp>
        <p:nvSpPr>
          <p:cNvPr id="71695" name="Text Box 15"/>
          <p:cNvSpPr txBox="1">
            <a:spLocks noChangeArrowheads="1"/>
          </p:cNvSpPr>
          <p:nvPr/>
        </p:nvSpPr>
        <p:spPr bwMode="auto">
          <a:xfrm>
            <a:off x="2202483" y="3779838"/>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dirty="0">
                <a:solidFill>
                  <a:schemeClr val="tx2"/>
                </a:solidFill>
                <a:latin typeface="Times New Roman" panose="02020603050405020304" pitchFamily="18" charset="0"/>
                <a:ea typeface="宋体" panose="02010600030101010101" pitchFamily="2" charset="-122"/>
              </a:rPr>
              <a:t>A</a:t>
            </a:r>
            <a:endParaRPr kumimoji="1" lang="en-US" altLang="zh-CN" sz="2400" dirty="0">
              <a:latin typeface="Times New Roman" panose="02020603050405020304" pitchFamily="18" charset="0"/>
              <a:ea typeface="宋体" panose="02010600030101010101" pitchFamily="2" charset="-122"/>
            </a:endParaRPr>
          </a:p>
        </p:txBody>
      </p:sp>
      <p:sp>
        <p:nvSpPr>
          <p:cNvPr id="71696" name="Oval 16"/>
          <p:cNvSpPr>
            <a:spLocks noChangeArrowheads="1"/>
          </p:cNvSpPr>
          <p:nvPr/>
        </p:nvSpPr>
        <p:spPr bwMode="auto">
          <a:xfrm>
            <a:off x="5996608" y="3856038"/>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697" name="Oval 17"/>
          <p:cNvSpPr>
            <a:spLocks noChangeArrowheads="1"/>
          </p:cNvSpPr>
          <p:nvPr/>
        </p:nvSpPr>
        <p:spPr bwMode="auto">
          <a:xfrm>
            <a:off x="6225208" y="4541838"/>
            <a:ext cx="1371600" cy="6096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698" name="Text Box 18"/>
          <p:cNvSpPr txBox="1">
            <a:spLocks noChangeArrowheads="1"/>
          </p:cNvSpPr>
          <p:nvPr/>
        </p:nvSpPr>
        <p:spPr bwMode="auto">
          <a:xfrm>
            <a:off x="6290296" y="4556126"/>
            <a:ext cx="1230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EKCG</a:t>
            </a:r>
            <a:endParaRPr kumimoji="1" lang="en-US" altLang="zh-CN" sz="2400">
              <a:latin typeface="Times New Roman" panose="02020603050405020304" pitchFamily="18" charset="0"/>
              <a:ea typeface="宋体" panose="02010600030101010101" pitchFamily="2" charset="-122"/>
            </a:endParaRPr>
          </a:p>
        </p:txBody>
      </p:sp>
      <p:sp>
        <p:nvSpPr>
          <p:cNvPr id="71699" name="Text Box 19"/>
          <p:cNvSpPr txBox="1">
            <a:spLocks noChangeArrowheads="1"/>
          </p:cNvSpPr>
          <p:nvPr/>
        </p:nvSpPr>
        <p:spPr bwMode="auto">
          <a:xfrm>
            <a:off x="6012483" y="3779838"/>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1700" name="Oval 20"/>
          <p:cNvSpPr>
            <a:spLocks noChangeArrowheads="1"/>
          </p:cNvSpPr>
          <p:nvPr/>
        </p:nvSpPr>
        <p:spPr bwMode="auto">
          <a:xfrm>
            <a:off x="5310808" y="4618038"/>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701" name="Text Box 21"/>
          <p:cNvSpPr txBox="1">
            <a:spLocks noChangeArrowheads="1"/>
          </p:cNvSpPr>
          <p:nvPr/>
        </p:nvSpPr>
        <p:spPr bwMode="auto">
          <a:xfrm>
            <a:off x="5336208" y="4556126"/>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1702" name="Oval 22"/>
          <p:cNvSpPr>
            <a:spLocks noChangeArrowheads="1"/>
          </p:cNvSpPr>
          <p:nvPr/>
        </p:nvSpPr>
        <p:spPr bwMode="auto">
          <a:xfrm>
            <a:off x="4777408" y="5380038"/>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703" name="Text Box 23"/>
          <p:cNvSpPr txBox="1">
            <a:spLocks noChangeArrowheads="1"/>
          </p:cNvSpPr>
          <p:nvPr/>
        </p:nvSpPr>
        <p:spPr bwMode="auto">
          <a:xfrm>
            <a:off x="4783758" y="5318126"/>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71704" name="Oval 24"/>
          <p:cNvSpPr>
            <a:spLocks noChangeArrowheads="1"/>
          </p:cNvSpPr>
          <p:nvPr/>
        </p:nvSpPr>
        <p:spPr bwMode="auto">
          <a:xfrm>
            <a:off x="5529883" y="5365751"/>
            <a:ext cx="695325"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705" name="Text Box 25"/>
          <p:cNvSpPr txBox="1">
            <a:spLocks noChangeArrowheads="1"/>
          </p:cNvSpPr>
          <p:nvPr/>
        </p:nvSpPr>
        <p:spPr bwMode="auto">
          <a:xfrm>
            <a:off x="5536233" y="5318126"/>
            <a:ext cx="688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DF</a:t>
            </a:r>
            <a:endParaRPr kumimoji="1" lang="en-US" altLang="zh-CN"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zh-CN" altLang="en-US" dirty="0"/>
              <a:t> </a:t>
            </a:r>
            <a:r>
              <a:rPr lang="en-US" altLang="zh-CN" dirty="0"/>
              <a:t>5.4.4 </a:t>
            </a:r>
            <a:r>
              <a:rPr lang="zh-CN" altLang="en-US" dirty="0"/>
              <a:t>二叉树的计数</a:t>
            </a:r>
            <a:endParaRPr lang="zh-CN" altLang="en-US" dirty="0"/>
          </a:p>
        </p:txBody>
      </p:sp>
      <p:sp>
        <p:nvSpPr>
          <p:cNvPr id="3" name="内容占位符 2"/>
          <p:cNvSpPr>
            <a:spLocks noGrp="1"/>
          </p:cNvSpPr>
          <p:nvPr>
            <p:ph idx="1"/>
          </p:nvPr>
        </p:nvSpPr>
        <p:spPr>
          <a:xfrm>
            <a:off x="628650" y="1825625"/>
            <a:ext cx="7886700" cy="2016126"/>
          </a:xfrm>
        </p:spPr>
        <p:txBody>
          <a:bodyPr>
            <a:normAutofit fontScale="85000" lnSpcReduction="20000"/>
          </a:bodyPr>
          <a:lstStyle/>
          <a:p>
            <a:r>
              <a:rPr lang="zh-CN" altLang="en-US" dirty="0"/>
              <a:t>由二叉树的前序序列和中序序列可唯一地确定一棵二叉树。</a:t>
            </a:r>
            <a:endParaRPr lang="zh-CN" altLang="en-US" dirty="0"/>
          </a:p>
          <a:p>
            <a:pPr lvl="1"/>
            <a:r>
              <a:rPr lang="zh-CN" altLang="en-US" dirty="0"/>
              <a:t>例</a:t>
            </a:r>
            <a:r>
              <a:rPr lang="en-US" altLang="zh-CN" dirty="0"/>
              <a:t>, </a:t>
            </a:r>
            <a:r>
              <a:rPr lang="zh-CN" altLang="en-US" dirty="0"/>
              <a:t>根据前序序列 </a:t>
            </a:r>
            <a:r>
              <a:rPr lang="en-US" altLang="zh-CN" dirty="0"/>
              <a:t>{ ABHFDECKG } </a:t>
            </a:r>
            <a:r>
              <a:rPr lang="zh-CN" altLang="en-US" dirty="0"/>
              <a:t>和中序序列 </a:t>
            </a:r>
            <a:r>
              <a:rPr lang="en-US" altLang="zh-CN" dirty="0"/>
              <a:t>{ HBDFAEKCG }, </a:t>
            </a:r>
            <a:r>
              <a:rPr lang="zh-CN" altLang="en-US" dirty="0"/>
              <a:t>构造二叉树的过程如下（可以写出算法吗？ ）：</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23900" y="914400"/>
            <a:ext cx="7696200" cy="5029200"/>
            <a:chOff x="685800" y="1143000"/>
            <a:chExt cx="7696200" cy="5029200"/>
          </a:xfrm>
        </p:grpSpPr>
        <p:sp>
          <p:nvSpPr>
            <p:cNvPr id="72706" name="Line 1026"/>
            <p:cNvSpPr>
              <a:spLocks noChangeShapeType="1"/>
            </p:cNvSpPr>
            <p:nvPr/>
          </p:nvSpPr>
          <p:spPr bwMode="auto">
            <a:xfrm>
              <a:off x="7467600" y="2209800"/>
              <a:ext cx="3810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07" name="Oval 1027"/>
            <p:cNvSpPr>
              <a:spLocks noChangeArrowheads="1"/>
            </p:cNvSpPr>
            <p:nvPr/>
          </p:nvSpPr>
          <p:spPr bwMode="auto">
            <a:xfrm>
              <a:off x="7315200" y="2590800"/>
              <a:ext cx="1066800" cy="5334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08" name="Text Box 1028"/>
            <p:cNvSpPr txBox="1">
              <a:spLocks noChangeArrowheads="1"/>
            </p:cNvSpPr>
            <p:nvPr/>
          </p:nvSpPr>
          <p:spPr bwMode="auto">
            <a:xfrm>
              <a:off x="7345363" y="2590800"/>
              <a:ext cx="993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KCG</a:t>
              </a:r>
              <a:endParaRPr kumimoji="1" lang="en-US" altLang="zh-CN" sz="2400">
                <a:latin typeface="Times New Roman" panose="02020603050405020304" pitchFamily="18" charset="0"/>
                <a:ea typeface="宋体" panose="02010600030101010101" pitchFamily="2" charset="-122"/>
              </a:endParaRPr>
            </a:p>
          </p:txBody>
        </p:sp>
        <p:sp>
          <p:nvSpPr>
            <p:cNvPr id="72710" name="Line 1030"/>
            <p:cNvSpPr>
              <a:spLocks noChangeShapeType="1"/>
            </p:cNvSpPr>
            <p:nvPr/>
          </p:nvSpPr>
          <p:spPr bwMode="auto">
            <a:xfrm>
              <a:off x="1447800" y="2286000"/>
              <a:ext cx="2286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11" name="Line 1031"/>
            <p:cNvSpPr>
              <a:spLocks noChangeShapeType="1"/>
            </p:cNvSpPr>
            <p:nvPr/>
          </p:nvSpPr>
          <p:spPr bwMode="auto">
            <a:xfrm flipH="1">
              <a:off x="990600" y="2286000"/>
              <a:ext cx="3048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12" name="Line 1032"/>
            <p:cNvSpPr>
              <a:spLocks noChangeShapeType="1"/>
            </p:cNvSpPr>
            <p:nvPr/>
          </p:nvSpPr>
          <p:spPr bwMode="auto">
            <a:xfrm flipH="1">
              <a:off x="1371600" y="1600200"/>
              <a:ext cx="4572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13" name="Line 1033"/>
            <p:cNvSpPr>
              <a:spLocks noChangeShapeType="1"/>
            </p:cNvSpPr>
            <p:nvPr/>
          </p:nvSpPr>
          <p:spPr bwMode="auto">
            <a:xfrm>
              <a:off x="2133600" y="1600200"/>
              <a:ext cx="4572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14" name="Oval 1034"/>
            <p:cNvSpPr>
              <a:spLocks noChangeArrowheads="1"/>
            </p:cNvSpPr>
            <p:nvPr/>
          </p:nvSpPr>
          <p:spPr bwMode="auto">
            <a:xfrm>
              <a:off x="1752600" y="12192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15" name="Oval 1035"/>
            <p:cNvSpPr>
              <a:spLocks noChangeArrowheads="1"/>
            </p:cNvSpPr>
            <p:nvPr/>
          </p:nvSpPr>
          <p:spPr bwMode="auto">
            <a:xfrm>
              <a:off x="1905000" y="1828800"/>
              <a:ext cx="1371600" cy="6096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16" name="Text Box 1036"/>
            <p:cNvSpPr txBox="1">
              <a:spLocks noChangeArrowheads="1"/>
            </p:cNvSpPr>
            <p:nvPr/>
          </p:nvSpPr>
          <p:spPr bwMode="auto">
            <a:xfrm>
              <a:off x="1970088" y="1843088"/>
              <a:ext cx="1230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EKCG</a:t>
              </a:r>
              <a:endParaRPr kumimoji="1" lang="en-US" altLang="zh-CN" sz="2400">
                <a:latin typeface="Times New Roman" panose="02020603050405020304" pitchFamily="18" charset="0"/>
                <a:ea typeface="宋体" panose="02010600030101010101" pitchFamily="2" charset="-122"/>
              </a:endParaRPr>
            </a:p>
          </p:txBody>
        </p:sp>
        <p:sp>
          <p:nvSpPr>
            <p:cNvPr id="72717" name="Text Box 1037"/>
            <p:cNvSpPr txBox="1">
              <a:spLocks noChangeArrowheads="1"/>
            </p:cNvSpPr>
            <p:nvPr/>
          </p:nvSpPr>
          <p:spPr bwMode="auto">
            <a:xfrm>
              <a:off x="1768475" y="1143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2718" name="Oval 1038"/>
            <p:cNvSpPr>
              <a:spLocks noChangeArrowheads="1"/>
            </p:cNvSpPr>
            <p:nvPr/>
          </p:nvSpPr>
          <p:spPr bwMode="auto">
            <a:xfrm>
              <a:off x="1143000" y="19050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19" name="Text Box 1039"/>
            <p:cNvSpPr txBox="1">
              <a:spLocks noChangeArrowheads="1"/>
            </p:cNvSpPr>
            <p:nvPr/>
          </p:nvSpPr>
          <p:spPr bwMode="auto">
            <a:xfrm>
              <a:off x="1168400" y="1843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2720" name="Oval 1040"/>
            <p:cNvSpPr>
              <a:spLocks noChangeArrowheads="1"/>
            </p:cNvSpPr>
            <p:nvPr/>
          </p:nvSpPr>
          <p:spPr bwMode="auto">
            <a:xfrm>
              <a:off x="685800" y="2652713"/>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21" name="Text Box 1041"/>
            <p:cNvSpPr txBox="1">
              <a:spLocks noChangeArrowheads="1"/>
            </p:cNvSpPr>
            <p:nvPr/>
          </p:nvSpPr>
          <p:spPr bwMode="auto">
            <a:xfrm>
              <a:off x="692150" y="25908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72722" name="Oval 1042"/>
            <p:cNvSpPr>
              <a:spLocks noChangeArrowheads="1"/>
            </p:cNvSpPr>
            <p:nvPr/>
          </p:nvSpPr>
          <p:spPr bwMode="auto">
            <a:xfrm>
              <a:off x="1438275" y="2638425"/>
              <a:ext cx="695325"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23" name="Text Box 1043"/>
            <p:cNvSpPr txBox="1">
              <a:spLocks noChangeArrowheads="1"/>
            </p:cNvSpPr>
            <p:nvPr/>
          </p:nvSpPr>
          <p:spPr bwMode="auto">
            <a:xfrm>
              <a:off x="1444625" y="2590800"/>
              <a:ext cx="688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DF</a:t>
              </a:r>
              <a:endParaRPr kumimoji="1" lang="en-US" altLang="zh-CN" sz="2400">
                <a:latin typeface="Times New Roman" panose="02020603050405020304" pitchFamily="18" charset="0"/>
                <a:ea typeface="宋体" panose="02010600030101010101" pitchFamily="2" charset="-122"/>
              </a:endParaRPr>
            </a:p>
          </p:txBody>
        </p:sp>
        <p:sp>
          <p:nvSpPr>
            <p:cNvPr id="72724" name="Line 1044"/>
            <p:cNvSpPr>
              <a:spLocks noChangeShapeType="1"/>
            </p:cNvSpPr>
            <p:nvPr/>
          </p:nvSpPr>
          <p:spPr bwMode="auto">
            <a:xfrm>
              <a:off x="3886200" y="2286000"/>
              <a:ext cx="2286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5" name="Line 1045"/>
            <p:cNvSpPr>
              <a:spLocks noChangeShapeType="1"/>
            </p:cNvSpPr>
            <p:nvPr/>
          </p:nvSpPr>
          <p:spPr bwMode="auto">
            <a:xfrm flipH="1">
              <a:off x="3429000" y="2286000"/>
              <a:ext cx="3048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6" name="Line 1046"/>
            <p:cNvSpPr>
              <a:spLocks noChangeShapeType="1"/>
            </p:cNvSpPr>
            <p:nvPr/>
          </p:nvSpPr>
          <p:spPr bwMode="auto">
            <a:xfrm flipH="1">
              <a:off x="3886200" y="1600200"/>
              <a:ext cx="3810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7" name="Line 1047"/>
            <p:cNvSpPr>
              <a:spLocks noChangeShapeType="1"/>
            </p:cNvSpPr>
            <p:nvPr/>
          </p:nvSpPr>
          <p:spPr bwMode="auto">
            <a:xfrm>
              <a:off x="4572000" y="1600200"/>
              <a:ext cx="4572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8" name="Oval 1048"/>
            <p:cNvSpPr>
              <a:spLocks noChangeArrowheads="1"/>
            </p:cNvSpPr>
            <p:nvPr/>
          </p:nvSpPr>
          <p:spPr bwMode="auto">
            <a:xfrm>
              <a:off x="4191000" y="12192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29" name="Oval 1049"/>
            <p:cNvSpPr>
              <a:spLocks noChangeArrowheads="1"/>
            </p:cNvSpPr>
            <p:nvPr/>
          </p:nvSpPr>
          <p:spPr bwMode="auto">
            <a:xfrm>
              <a:off x="4343400" y="1828800"/>
              <a:ext cx="1371600" cy="6096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30" name="Text Box 1050"/>
            <p:cNvSpPr txBox="1">
              <a:spLocks noChangeArrowheads="1"/>
            </p:cNvSpPr>
            <p:nvPr/>
          </p:nvSpPr>
          <p:spPr bwMode="auto">
            <a:xfrm>
              <a:off x="4408488" y="1843088"/>
              <a:ext cx="1230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EKCG</a:t>
              </a:r>
              <a:endParaRPr kumimoji="1" lang="en-US" altLang="zh-CN" sz="2400">
                <a:latin typeface="Times New Roman" panose="02020603050405020304" pitchFamily="18" charset="0"/>
                <a:ea typeface="宋体" panose="02010600030101010101" pitchFamily="2" charset="-122"/>
              </a:endParaRPr>
            </a:p>
          </p:txBody>
        </p:sp>
        <p:sp>
          <p:nvSpPr>
            <p:cNvPr id="72731" name="Text Box 1051"/>
            <p:cNvSpPr txBox="1">
              <a:spLocks noChangeArrowheads="1"/>
            </p:cNvSpPr>
            <p:nvPr/>
          </p:nvSpPr>
          <p:spPr bwMode="auto">
            <a:xfrm>
              <a:off x="4206875" y="1143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2732" name="Oval 1052"/>
            <p:cNvSpPr>
              <a:spLocks noChangeArrowheads="1"/>
            </p:cNvSpPr>
            <p:nvPr/>
          </p:nvSpPr>
          <p:spPr bwMode="auto">
            <a:xfrm>
              <a:off x="3581400" y="19050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33" name="Text Box 1053"/>
            <p:cNvSpPr txBox="1">
              <a:spLocks noChangeArrowheads="1"/>
            </p:cNvSpPr>
            <p:nvPr/>
          </p:nvSpPr>
          <p:spPr bwMode="auto">
            <a:xfrm>
              <a:off x="3606800" y="1843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2734" name="Oval 1054"/>
            <p:cNvSpPr>
              <a:spLocks noChangeArrowheads="1"/>
            </p:cNvSpPr>
            <p:nvPr/>
          </p:nvSpPr>
          <p:spPr bwMode="auto">
            <a:xfrm>
              <a:off x="3124200" y="2652713"/>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35" name="Text Box 1055"/>
            <p:cNvSpPr txBox="1">
              <a:spLocks noChangeArrowheads="1"/>
            </p:cNvSpPr>
            <p:nvPr/>
          </p:nvSpPr>
          <p:spPr bwMode="auto">
            <a:xfrm>
              <a:off x="3130550" y="25908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72736" name="Oval 1056"/>
            <p:cNvSpPr>
              <a:spLocks noChangeArrowheads="1"/>
            </p:cNvSpPr>
            <p:nvPr/>
          </p:nvSpPr>
          <p:spPr bwMode="auto">
            <a:xfrm>
              <a:off x="3962400" y="2638425"/>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37" name="Text Box 1057"/>
            <p:cNvSpPr txBox="1">
              <a:spLocks noChangeArrowheads="1"/>
            </p:cNvSpPr>
            <p:nvPr/>
          </p:nvSpPr>
          <p:spPr bwMode="auto">
            <a:xfrm>
              <a:off x="3883025" y="2590800"/>
              <a:ext cx="688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72738" name="Line 1058"/>
            <p:cNvSpPr>
              <a:spLocks noChangeShapeType="1"/>
            </p:cNvSpPr>
            <p:nvPr/>
          </p:nvSpPr>
          <p:spPr bwMode="auto">
            <a:xfrm flipH="1">
              <a:off x="3886200" y="3048000"/>
              <a:ext cx="228600" cy="471488"/>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39" name="Oval 1059"/>
            <p:cNvSpPr>
              <a:spLocks noChangeArrowheads="1"/>
            </p:cNvSpPr>
            <p:nvPr/>
          </p:nvSpPr>
          <p:spPr bwMode="auto">
            <a:xfrm>
              <a:off x="3581400" y="34290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40" name="Text Box 1060"/>
            <p:cNvSpPr txBox="1">
              <a:spLocks noChangeArrowheads="1"/>
            </p:cNvSpPr>
            <p:nvPr/>
          </p:nvSpPr>
          <p:spPr bwMode="auto">
            <a:xfrm>
              <a:off x="3597275" y="33670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72741" name="Line 1061"/>
            <p:cNvSpPr>
              <a:spLocks noChangeShapeType="1"/>
            </p:cNvSpPr>
            <p:nvPr/>
          </p:nvSpPr>
          <p:spPr bwMode="auto">
            <a:xfrm>
              <a:off x="6324600" y="2286000"/>
              <a:ext cx="2286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42" name="Line 1062"/>
            <p:cNvSpPr>
              <a:spLocks noChangeShapeType="1"/>
            </p:cNvSpPr>
            <p:nvPr/>
          </p:nvSpPr>
          <p:spPr bwMode="auto">
            <a:xfrm flipH="1">
              <a:off x="5867400" y="2286000"/>
              <a:ext cx="3048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43" name="Line 1063"/>
            <p:cNvSpPr>
              <a:spLocks noChangeShapeType="1"/>
            </p:cNvSpPr>
            <p:nvPr/>
          </p:nvSpPr>
          <p:spPr bwMode="auto">
            <a:xfrm flipH="1">
              <a:off x="6324600" y="1600200"/>
              <a:ext cx="3810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44" name="Line 1064"/>
            <p:cNvSpPr>
              <a:spLocks noChangeShapeType="1"/>
            </p:cNvSpPr>
            <p:nvPr/>
          </p:nvSpPr>
          <p:spPr bwMode="auto">
            <a:xfrm>
              <a:off x="6934200" y="1524000"/>
              <a:ext cx="3810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45" name="Oval 1065"/>
            <p:cNvSpPr>
              <a:spLocks noChangeArrowheads="1"/>
            </p:cNvSpPr>
            <p:nvPr/>
          </p:nvSpPr>
          <p:spPr bwMode="auto">
            <a:xfrm>
              <a:off x="6629400" y="12192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46" name="Oval 1066"/>
            <p:cNvSpPr>
              <a:spLocks noChangeArrowheads="1"/>
            </p:cNvSpPr>
            <p:nvPr/>
          </p:nvSpPr>
          <p:spPr bwMode="auto">
            <a:xfrm>
              <a:off x="7162800" y="19050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47" name="Text Box 1067"/>
            <p:cNvSpPr txBox="1">
              <a:spLocks noChangeArrowheads="1"/>
            </p:cNvSpPr>
            <p:nvPr/>
          </p:nvSpPr>
          <p:spPr bwMode="auto">
            <a:xfrm>
              <a:off x="7175500" y="1843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72748" name="Text Box 1068"/>
            <p:cNvSpPr txBox="1">
              <a:spLocks noChangeArrowheads="1"/>
            </p:cNvSpPr>
            <p:nvPr/>
          </p:nvSpPr>
          <p:spPr bwMode="auto">
            <a:xfrm>
              <a:off x="6645275" y="1143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2749" name="Oval 1069"/>
            <p:cNvSpPr>
              <a:spLocks noChangeArrowheads="1"/>
            </p:cNvSpPr>
            <p:nvPr/>
          </p:nvSpPr>
          <p:spPr bwMode="auto">
            <a:xfrm>
              <a:off x="6019800" y="19050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50" name="Text Box 1070"/>
            <p:cNvSpPr txBox="1">
              <a:spLocks noChangeArrowheads="1"/>
            </p:cNvSpPr>
            <p:nvPr/>
          </p:nvSpPr>
          <p:spPr bwMode="auto">
            <a:xfrm>
              <a:off x="6045200" y="1843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2751" name="Oval 1071"/>
            <p:cNvSpPr>
              <a:spLocks noChangeArrowheads="1"/>
            </p:cNvSpPr>
            <p:nvPr/>
          </p:nvSpPr>
          <p:spPr bwMode="auto">
            <a:xfrm>
              <a:off x="5562600" y="2652713"/>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52" name="Text Box 1072"/>
            <p:cNvSpPr txBox="1">
              <a:spLocks noChangeArrowheads="1"/>
            </p:cNvSpPr>
            <p:nvPr/>
          </p:nvSpPr>
          <p:spPr bwMode="auto">
            <a:xfrm>
              <a:off x="5568950" y="25908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72753" name="Oval 1073"/>
            <p:cNvSpPr>
              <a:spLocks noChangeArrowheads="1"/>
            </p:cNvSpPr>
            <p:nvPr/>
          </p:nvSpPr>
          <p:spPr bwMode="auto">
            <a:xfrm>
              <a:off x="6400800" y="2638425"/>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54" name="Text Box 1074"/>
            <p:cNvSpPr txBox="1">
              <a:spLocks noChangeArrowheads="1"/>
            </p:cNvSpPr>
            <p:nvPr/>
          </p:nvSpPr>
          <p:spPr bwMode="auto">
            <a:xfrm>
              <a:off x="6321425" y="2590800"/>
              <a:ext cx="688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72755" name="Line 1075"/>
            <p:cNvSpPr>
              <a:spLocks noChangeShapeType="1"/>
            </p:cNvSpPr>
            <p:nvPr/>
          </p:nvSpPr>
          <p:spPr bwMode="auto">
            <a:xfrm flipH="1">
              <a:off x="6324600" y="3048000"/>
              <a:ext cx="228600" cy="471488"/>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56" name="Oval 1076"/>
            <p:cNvSpPr>
              <a:spLocks noChangeArrowheads="1"/>
            </p:cNvSpPr>
            <p:nvPr/>
          </p:nvSpPr>
          <p:spPr bwMode="auto">
            <a:xfrm>
              <a:off x="6019800" y="34290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57" name="Text Box 1077"/>
            <p:cNvSpPr txBox="1">
              <a:spLocks noChangeArrowheads="1"/>
            </p:cNvSpPr>
            <p:nvPr/>
          </p:nvSpPr>
          <p:spPr bwMode="auto">
            <a:xfrm>
              <a:off x="6035675" y="33670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72758" name="Line 1078"/>
            <p:cNvSpPr>
              <a:spLocks noChangeShapeType="1"/>
            </p:cNvSpPr>
            <p:nvPr/>
          </p:nvSpPr>
          <p:spPr bwMode="auto">
            <a:xfrm>
              <a:off x="3200400" y="4495800"/>
              <a:ext cx="3810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59" name="Line 1079"/>
            <p:cNvSpPr>
              <a:spLocks noChangeShapeType="1"/>
            </p:cNvSpPr>
            <p:nvPr/>
          </p:nvSpPr>
          <p:spPr bwMode="auto">
            <a:xfrm>
              <a:off x="2057400" y="4572000"/>
              <a:ext cx="2286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60" name="Line 1080"/>
            <p:cNvSpPr>
              <a:spLocks noChangeShapeType="1"/>
            </p:cNvSpPr>
            <p:nvPr/>
          </p:nvSpPr>
          <p:spPr bwMode="auto">
            <a:xfrm flipH="1">
              <a:off x="1600200" y="4572000"/>
              <a:ext cx="3048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61" name="Line 1081"/>
            <p:cNvSpPr>
              <a:spLocks noChangeShapeType="1"/>
            </p:cNvSpPr>
            <p:nvPr/>
          </p:nvSpPr>
          <p:spPr bwMode="auto">
            <a:xfrm flipH="1">
              <a:off x="2057400" y="3886200"/>
              <a:ext cx="3810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62" name="Line 1082"/>
            <p:cNvSpPr>
              <a:spLocks noChangeShapeType="1"/>
            </p:cNvSpPr>
            <p:nvPr/>
          </p:nvSpPr>
          <p:spPr bwMode="auto">
            <a:xfrm>
              <a:off x="2667000" y="3810000"/>
              <a:ext cx="3810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63" name="Oval 1083"/>
            <p:cNvSpPr>
              <a:spLocks noChangeArrowheads="1"/>
            </p:cNvSpPr>
            <p:nvPr/>
          </p:nvSpPr>
          <p:spPr bwMode="auto">
            <a:xfrm>
              <a:off x="2362200" y="35052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64" name="Oval 1084"/>
            <p:cNvSpPr>
              <a:spLocks noChangeArrowheads="1"/>
            </p:cNvSpPr>
            <p:nvPr/>
          </p:nvSpPr>
          <p:spPr bwMode="auto">
            <a:xfrm>
              <a:off x="2895600" y="41910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65" name="Text Box 1085"/>
            <p:cNvSpPr txBox="1">
              <a:spLocks noChangeArrowheads="1"/>
            </p:cNvSpPr>
            <p:nvPr/>
          </p:nvSpPr>
          <p:spPr bwMode="auto">
            <a:xfrm>
              <a:off x="2908300" y="4129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72766" name="Text Box 1086"/>
            <p:cNvSpPr txBox="1">
              <a:spLocks noChangeArrowheads="1"/>
            </p:cNvSpPr>
            <p:nvPr/>
          </p:nvSpPr>
          <p:spPr bwMode="auto">
            <a:xfrm>
              <a:off x="2378075" y="3429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2767" name="Oval 1087"/>
            <p:cNvSpPr>
              <a:spLocks noChangeArrowheads="1"/>
            </p:cNvSpPr>
            <p:nvPr/>
          </p:nvSpPr>
          <p:spPr bwMode="auto">
            <a:xfrm>
              <a:off x="1752600" y="41910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68" name="Text Box 1088"/>
            <p:cNvSpPr txBox="1">
              <a:spLocks noChangeArrowheads="1"/>
            </p:cNvSpPr>
            <p:nvPr/>
          </p:nvSpPr>
          <p:spPr bwMode="auto">
            <a:xfrm>
              <a:off x="1778000" y="4129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2769" name="Oval 1089"/>
            <p:cNvSpPr>
              <a:spLocks noChangeArrowheads="1"/>
            </p:cNvSpPr>
            <p:nvPr/>
          </p:nvSpPr>
          <p:spPr bwMode="auto">
            <a:xfrm>
              <a:off x="1295400" y="4938713"/>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70" name="Text Box 1090"/>
            <p:cNvSpPr txBox="1">
              <a:spLocks noChangeArrowheads="1"/>
            </p:cNvSpPr>
            <p:nvPr/>
          </p:nvSpPr>
          <p:spPr bwMode="auto">
            <a:xfrm>
              <a:off x="1301750" y="48768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72771" name="Oval 1091"/>
            <p:cNvSpPr>
              <a:spLocks noChangeArrowheads="1"/>
            </p:cNvSpPr>
            <p:nvPr/>
          </p:nvSpPr>
          <p:spPr bwMode="auto">
            <a:xfrm>
              <a:off x="2133600" y="4924425"/>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72" name="Text Box 1092"/>
            <p:cNvSpPr txBox="1">
              <a:spLocks noChangeArrowheads="1"/>
            </p:cNvSpPr>
            <p:nvPr/>
          </p:nvSpPr>
          <p:spPr bwMode="auto">
            <a:xfrm>
              <a:off x="2054225" y="4876800"/>
              <a:ext cx="688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72773" name="Line 1093"/>
            <p:cNvSpPr>
              <a:spLocks noChangeShapeType="1"/>
            </p:cNvSpPr>
            <p:nvPr/>
          </p:nvSpPr>
          <p:spPr bwMode="auto">
            <a:xfrm flipH="1">
              <a:off x="2057400" y="5334000"/>
              <a:ext cx="228600" cy="471488"/>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74" name="Oval 1094"/>
            <p:cNvSpPr>
              <a:spLocks noChangeArrowheads="1"/>
            </p:cNvSpPr>
            <p:nvPr/>
          </p:nvSpPr>
          <p:spPr bwMode="auto">
            <a:xfrm>
              <a:off x="1752600" y="57150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75" name="Text Box 1095"/>
            <p:cNvSpPr txBox="1">
              <a:spLocks noChangeArrowheads="1"/>
            </p:cNvSpPr>
            <p:nvPr/>
          </p:nvSpPr>
          <p:spPr bwMode="auto">
            <a:xfrm>
              <a:off x="1768475" y="56530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72776" name="Line 1096"/>
            <p:cNvSpPr>
              <a:spLocks noChangeShapeType="1"/>
            </p:cNvSpPr>
            <p:nvPr/>
          </p:nvSpPr>
          <p:spPr bwMode="auto">
            <a:xfrm>
              <a:off x="3657600" y="5257800"/>
              <a:ext cx="3048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77" name="Line 1097"/>
            <p:cNvSpPr>
              <a:spLocks noChangeShapeType="1"/>
            </p:cNvSpPr>
            <p:nvPr/>
          </p:nvSpPr>
          <p:spPr bwMode="auto">
            <a:xfrm flipH="1">
              <a:off x="3200400" y="5319713"/>
              <a:ext cx="3048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78" name="Oval 1098"/>
            <p:cNvSpPr>
              <a:spLocks noChangeArrowheads="1"/>
            </p:cNvSpPr>
            <p:nvPr/>
          </p:nvSpPr>
          <p:spPr bwMode="auto">
            <a:xfrm>
              <a:off x="3352800" y="4938713"/>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79" name="Text Box 1099"/>
            <p:cNvSpPr txBox="1">
              <a:spLocks noChangeArrowheads="1"/>
            </p:cNvSpPr>
            <p:nvPr/>
          </p:nvSpPr>
          <p:spPr bwMode="auto">
            <a:xfrm>
              <a:off x="3368675" y="4876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72780" name="Oval 1100"/>
            <p:cNvSpPr>
              <a:spLocks noChangeArrowheads="1"/>
            </p:cNvSpPr>
            <p:nvPr/>
          </p:nvSpPr>
          <p:spPr bwMode="auto">
            <a:xfrm>
              <a:off x="2895600" y="5686425"/>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81" name="Text Box 1101"/>
            <p:cNvSpPr txBox="1">
              <a:spLocks noChangeArrowheads="1"/>
            </p:cNvSpPr>
            <p:nvPr/>
          </p:nvSpPr>
          <p:spPr bwMode="auto">
            <a:xfrm>
              <a:off x="2901950" y="5624513"/>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72782" name="Oval 1102"/>
            <p:cNvSpPr>
              <a:spLocks noChangeArrowheads="1"/>
            </p:cNvSpPr>
            <p:nvPr/>
          </p:nvSpPr>
          <p:spPr bwMode="auto">
            <a:xfrm>
              <a:off x="3810000" y="5672138"/>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83" name="Text Box 1103"/>
            <p:cNvSpPr txBox="1">
              <a:spLocks noChangeArrowheads="1"/>
            </p:cNvSpPr>
            <p:nvPr/>
          </p:nvSpPr>
          <p:spPr bwMode="auto">
            <a:xfrm>
              <a:off x="3657600" y="5624513"/>
              <a:ext cx="688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grpSp>
      <p:sp>
        <p:nvSpPr>
          <p:cNvPr id="2" name="灯片编号占位符 1"/>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628650" y="136525"/>
            <a:ext cx="7886700" cy="6040438"/>
          </a:xfrm>
        </p:spPr>
        <p:txBody>
          <a:bodyPr>
            <a:normAutofit fontScale="47500" lnSpcReduction="20000"/>
          </a:bodyPr>
          <a:lstStyle/>
          <a:p>
            <a:pPr marL="0" indent="0">
              <a:buNone/>
            </a:pPr>
            <a:r>
              <a:rPr lang="en-US" altLang="zh-CN" dirty="0"/>
              <a:t>template &lt;class T&gt;</a:t>
            </a:r>
            <a:endParaRPr lang="en-US" altLang="zh-CN" dirty="0"/>
          </a:p>
          <a:p>
            <a:pPr marL="0" indent="0">
              <a:buNone/>
            </a:pPr>
            <a:r>
              <a:rPr lang="en-US" altLang="zh-CN" dirty="0" err="1"/>
              <a:t>BinTreeNode</a:t>
            </a:r>
            <a:r>
              <a:rPr lang="en-US" altLang="zh-CN" dirty="0"/>
              <a:t>&lt;T&gt; *</a:t>
            </a:r>
            <a:r>
              <a:rPr lang="en-US" altLang="zh-CN" dirty="0" err="1"/>
              <a:t>createBinTree</a:t>
            </a:r>
            <a:r>
              <a:rPr lang="en-US" altLang="zh-CN" dirty="0"/>
              <a:t> (T pre[], T in[], int s1, int t1, int s2, int t2 ) {</a:t>
            </a:r>
            <a:endParaRPr lang="en-US" altLang="zh-CN" dirty="0"/>
          </a:p>
          <a:p>
            <a:pPr marL="0" indent="0">
              <a:buNone/>
            </a:pPr>
            <a:r>
              <a:rPr lang="en-US" altLang="zh-CN" dirty="0"/>
              <a:t>//</a:t>
            </a:r>
            <a:r>
              <a:rPr lang="zh-CN" altLang="en-US" dirty="0"/>
              <a:t>以前序序列</a:t>
            </a:r>
            <a:r>
              <a:rPr lang="en-US" altLang="zh-CN" dirty="0"/>
              <a:t>pre[s1..t1]</a:t>
            </a:r>
            <a:r>
              <a:rPr lang="zh-CN" altLang="en-US" dirty="0"/>
              <a:t>和中序序列</a:t>
            </a:r>
            <a:r>
              <a:rPr lang="en-US" altLang="zh-CN" dirty="0"/>
              <a:t>in[s2..t2]</a:t>
            </a:r>
            <a:r>
              <a:rPr lang="zh-CN" altLang="en-US" dirty="0"/>
              <a:t>构造二叉树，函数返回根指针</a:t>
            </a:r>
            <a:endParaRPr lang="zh-CN" altLang="en-US" dirty="0"/>
          </a:p>
          <a:p>
            <a:pPr marL="0" indent="0">
              <a:buNone/>
            </a:pPr>
            <a:r>
              <a:rPr lang="zh-CN" altLang="en-US" dirty="0"/>
              <a:t>     </a:t>
            </a:r>
            <a:r>
              <a:rPr lang="en-US" altLang="zh-CN" dirty="0"/>
              <a:t>int k;  </a:t>
            </a:r>
            <a:r>
              <a:rPr lang="en-US" altLang="zh-CN" dirty="0" err="1"/>
              <a:t>BinTreeNode</a:t>
            </a:r>
            <a:r>
              <a:rPr lang="en-US" altLang="zh-CN" dirty="0"/>
              <a:t>&lt;T&gt; *</a:t>
            </a:r>
            <a:r>
              <a:rPr lang="en-US" altLang="zh-CN" dirty="0" err="1"/>
              <a:t>ptr</a:t>
            </a:r>
            <a:r>
              <a:rPr lang="en-US" altLang="zh-CN" dirty="0"/>
              <a:t>;</a:t>
            </a:r>
            <a:endParaRPr lang="en-US" altLang="zh-CN" dirty="0"/>
          </a:p>
          <a:p>
            <a:pPr marL="0" indent="0">
              <a:buNone/>
            </a:pPr>
            <a:r>
              <a:rPr lang="en-US" altLang="zh-CN" dirty="0"/>
              <a:t>     if ( s1 &lt;= t1 ) {</a:t>
            </a:r>
            <a:endParaRPr lang="en-US" altLang="zh-CN" dirty="0"/>
          </a:p>
          <a:p>
            <a:pPr marL="0" indent="0">
              <a:buNone/>
            </a:pPr>
            <a:r>
              <a:rPr lang="en-US" altLang="zh-CN" dirty="0"/>
              <a:t>          </a:t>
            </a:r>
            <a:r>
              <a:rPr lang="en-US" altLang="zh-CN" dirty="0" err="1"/>
              <a:t>ptr</a:t>
            </a:r>
            <a:r>
              <a:rPr lang="en-US" altLang="zh-CN" dirty="0"/>
              <a:t> = new </a:t>
            </a:r>
            <a:r>
              <a:rPr lang="en-US" altLang="zh-CN" dirty="0" err="1"/>
              <a:t>BinTreeNode</a:t>
            </a:r>
            <a:r>
              <a:rPr lang="en-US" altLang="zh-CN" dirty="0"/>
              <a:t>&lt;T&gt;;	//</a:t>
            </a:r>
            <a:r>
              <a:rPr lang="zh-CN" altLang="en-US" dirty="0"/>
              <a:t>创建根结点</a:t>
            </a:r>
            <a:endParaRPr lang="zh-CN" altLang="en-US" dirty="0"/>
          </a:p>
          <a:p>
            <a:pPr marL="0" indent="0">
              <a:buNone/>
            </a:pPr>
            <a:r>
              <a:rPr lang="zh-CN" altLang="en-US" dirty="0"/>
              <a:t>          </a:t>
            </a:r>
            <a:r>
              <a:rPr lang="en-US" altLang="zh-CN" dirty="0" err="1"/>
              <a:t>ptr</a:t>
            </a:r>
            <a:r>
              <a:rPr lang="en-US" altLang="zh-CN" dirty="0"/>
              <a:t>-&gt;data = pre[s1];  </a:t>
            </a:r>
            <a:endParaRPr lang="en-US" altLang="zh-CN" dirty="0"/>
          </a:p>
          <a:p>
            <a:pPr marL="0" indent="0">
              <a:buNone/>
            </a:pPr>
            <a:r>
              <a:rPr lang="en-US" altLang="zh-CN" dirty="0"/>
              <a:t>          </a:t>
            </a:r>
            <a:r>
              <a:rPr lang="en-US" altLang="zh-CN" dirty="0" err="1"/>
              <a:t>ptr</a:t>
            </a:r>
            <a:r>
              <a:rPr lang="en-US" altLang="zh-CN" dirty="0"/>
              <a:t>-&gt;</a:t>
            </a:r>
            <a:r>
              <a:rPr lang="en-US" altLang="zh-CN" dirty="0" err="1"/>
              <a:t>leftChild</a:t>
            </a:r>
            <a:r>
              <a:rPr lang="en-US" altLang="zh-CN" dirty="0"/>
              <a:t> = </a:t>
            </a:r>
            <a:r>
              <a:rPr lang="en-US" altLang="zh-CN" dirty="0" err="1"/>
              <a:t>ptr</a:t>
            </a:r>
            <a:r>
              <a:rPr lang="en-US" altLang="zh-CN" dirty="0"/>
              <a:t>-&gt;</a:t>
            </a:r>
            <a:r>
              <a:rPr lang="en-US" altLang="zh-CN" dirty="0" err="1"/>
              <a:t>rightChild</a:t>
            </a:r>
            <a:r>
              <a:rPr lang="en-US" altLang="zh-CN" dirty="0"/>
              <a:t> = NULL;</a:t>
            </a:r>
            <a:endParaRPr lang="en-US" altLang="zh-CN" dirty="0"/>
          </a:p>
          <a:p>
            <a:pPr marL="0" indent="0">
              <a:buNone/>
            </a:pPr>
            <a:r>
              <a:rPr lang="en-US" altLang="zh-CN" dirty="0"/>
              <a:t>          for (k = s2; k &lt;= t2; k++)</a:t>
            </a:r>
            <a:endParaRPr lang="en-US" altLang="zh-CN" dirty="0"/>
          </a:p>
          <a:p>
            <a:pPr marL="0" indent="0">
              <a:buNone/>
            </a:pPr>
            <a:r>
              <a:rPr lang="en-US" altLang="zh-CN" dirty="0"/>
              <a:t>               if (in[k] == pre[s1]) break;    //</a:t>
            </a:r>
            <a:r>
              <a:rPr lang="zh-CN" altLang="en-US" dirty="0"/>
              <a:t>在中序序列中查根       </a:t>
            </a:r>
            <a:endParaRPr lang="zh-CN" altLang="en-US" dirty="0"/>
          </a:p>
          <a:p>
            <a:pPr marL="0" indent="0">
              <a:buNone/>
            </a:pPr>
            <a:r>
              <a:rPr lang="zh-CN" altLang="en-US" dirty="0"/>
              <a:t>          </a:t>
            </a:r>
            <a:r>
              <a:rPr lang="en-US" altLang="zh-CN" dirty="0" err="1"/>
              <a:t>ptr</a:t>
            </a:r>
            <a:r>
              <a:rPr lang="en-US" altLang="zh-CN" dirty="0"/>
              <a:t>-&gt;</a:t>
            </a:r>
            <a:r>
              <a:rPr lang="en-US" altLang="zh-CN" dirty="0" err="1"/>
              <a:t>leftChild</a:t>
            </a:r>
            <a:r>
              <a:rPr lang="en-US" altLang="zh-CN" dirty="0"/>
              <a:t> = </a:t>
            </a:r>
            <a:r>
              <a:rPr lang="en-US" altLang="zh-CN" dirty="0" err="1"/>
              <a:t>createBinTree</a:t>
            </a:r>
            <a:r>
              <a:rPr lang="en-US" altLang="zh-CN" dirty="0"/>
              <a:t>(pre, in, </a:t>
            </a:r>
            <a:endParaRPr lang="en-US" altLang="zh-CN" dirty="0"/>
          </a:p>
          <a:p>
            <a:pPr marL="0" indent="0">
              <a:buNone/>
            </a:pPr>
            <a:r>
              <a:rPr lang="en-US" altLang="zh-CN" dirty="0"/>
              <a:t>               s1+1, s1+k-s2, s2, k-1);    //</a:t>
            </a:r>
            <a:r>
              <a:rPr lang="zh-CN" altLang="en-US" dirty="0"/>
              <a:t>递归构造左子树</a:t>
            </a:r>
            <a:endParaRPr lang="zh-CN" altLang="en-US" dirty="0"/>
          </a:p>
          <a:p>
            <a:pPr marL="0" indent="0">
              <a:buNone/>
            </a:pPr>
            <a:r>
              <a:rPr lang="zh-CN" altLang="en-US" dirty="0"/>
              <a:t>          </a:t>
            </a:r>
            <a:r>
              <a:rPr lang="en-US" altLang="zh-CN" dirty="0" err="1"/>
              <a:t>ptr</a:t>
            </a:r>
            <a:r>
              <a:rPr lang="en-US" altLang="zh-CN" dirty="0"/>
              <a:t>-&gt;</a:t>
            </a:r>
            <a:r>
              <a:rPr lang="en-US" altLang="zh-CN" dirty="0" err="1"/>
              <a:t>rightChild</a:t>
            </a:r>
            <a:r>
              <a:rPr lang="en-US" altLang="zh-CN" dirty="0"/>
              <a:t> = </a:t>
            </a:r>
            <a:r>
              <a:rPr lang="en-US" altLang="zh-CN" dirty="0" err="1"/>
              <a:t>createBinTree</a:t>
            </a:r>
            <a:r>
              <a:rPr lang="en-US" altLang="zh-CN" dirty="0"/>
              <a:t>(pre, in, </a:t>
            </a:r>
            <a:endParaRPr lang="en-US" altLang="zh-CN" dirty="0"/>
          </a:p>
          <a:p>
            <a:pPr marL="0" indent="0">
              <a:buNone/>
            </a:pPr>
            <a:r>
              <a:rPr lang="en-US" altLang="zh-CN" dirty="0"/>
              <a:t>               s1+k-s2+1, t1, k+1, t2);     //</a:t>
            </a:r>
            <a:r>
              <a:rPr lang="zh-CN" altLang="en-US" dirty="0"/>
              <a:t>递归构造右子树</a:t>
            </a:r>
            <a:endParaRPr lang="zh-CN" altLang="en-US" dirty="0"/>
          </a:p>
          <a:p>
            <a:pPr marL="0" indent="0">
              <a:buNone/>
            </a:pPr>
            <a:r>
              <a:rPr lang="zh-CN" altLang="en-US" dirty="0"/>
              <a:t>     </a:t>
            </a:r>
            <a:r>
              <a:rPr lang="en-US" altLang="zh-CN" dirty="0"/>
              <a:t>}</a:t>
            </a:r>
            <a:endParaRPr lang="en-US" altLang="zh-CN" dirty="0"/>
          </a:p>
          <a:p>
            <a:pPr marL="0" indent="0">
              <a:buNone/>
            </a:pPr>
            <a:r>
              <a:rPr lang="en-US" altLang="zh-CN" dirty="0"/>
              <a:t>     else </a:t>
            </a:r>
            <a:r>
              <a:rPr lang="en-US" altLang="zh-CN" dirty="0" err="1"/>
              <a:t>ptr</a:t>
            </a:r>
            <a:r>
              <a:rPr lang="en-US" altLang="zh-CN" dirty="0"/>
              <a:t> = NULL;		//</a:t>
            </a:r>
            <a:r>
              <a:rPr lang="zh-CN" altLang="en-US" dirty="0"/>
              <a:t>建空树</a:t>
            </a:r>
            <a:endParaRPr lang="zh-CN" altLang="en-US" dirty="0"/>
          </a:p>
          <a:p>
            <a:pPr marL="0" indent="0">
              <a:buNone/>
            </a:pPr>
            <a:r>
              <a:rPr lang="zh-CN" altLang="en-US" dirty="0"/>
              <a:t>     </a:t>
            </a:r>
            <a:r>
              <a:rPr lang="en-US" altLang="zh-CN" dirty="0"/>
              <a:t>return </a:t>
            </a:r>
            <a:r>
              <a:rPr lang="en-US" altLang="zh-CN" dirty="0" err="1"/>
              <a:t>ptr</a:t>
            </a:r>
            <a:r>
              <a:rPr lang="en-US" altLang="zh-CN" dirty="0"/>
              <a:t>;</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3" name="灯片编号占位符 2"/>
          <p:cNvSpPr>
            <a:spLocks noGrp="1"/>
          </p:cNvSpPr>
          <p:nvPr>
            <p:ph type="sldNum" sz="quarter" idx="4294967295"/>
          </p:nvPr>
        </p:nvSpPr>
        <p:spPr>
          <a:xfrm>
            <a:off x="0" y="6356350"/>
            <a:ext cx="3086100" cy="365125"/>
          </a:xfrm>
        </p:spPr>
        <p:txBody>
          <a:bodyPr/>
          <a:lstStyle/>
          <a:p>
            <a:fld id="{C81BFB10-1ECF-47A8-84DB-8CD8A975CCCA}" type="slidenum">
              <a:rPr lang="en-US" altLang="zh-CN"/>
            </a:fld>
            <a:endParaRPr lang="en-US" altLang="zh-CN"/>
          </a:p>
        </p:txBody>
      </p:sp>
    </p:spTree>
  </p:cSld>
  <p:clrMapOvr>
    <a:masterClrMapping/>
  </p:clrMapOvr>
  <p:transition>
    <p:spli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不同形态的二叉树数目</a:t>
            </a:r>
            <a:endParaRPr lang="zh-CN" altLang="en-US" dirty="0"/>
          </a:p>
        </p:txBody>
      </p:sp>
      <p:sp>
        <p:nvSpPr>
          <p:cNvPr id="5" name="内容占位符 4"/>
          <p:cNvSpPr>
            <a:spLocks noGrp="1"/>
          </p:cNvSpPr>
          <p:nvPr>
            <p:ph idx="1"/>
          </p:nvPr>
        </p:nvSpPr>
        <p:spPr>
          <a:xfrm>
            <a:off x="628650" y="1825625"/>
            <a:ext cx="8119814" cy="4351338"/>
          </a:xfrm>
        </p:spPr>
        <p:txBody>
          <a:bodyPr/>
          <a:lstStyle/>
          <a:p>
            <a:r>
              <a:rPr lang="zh-CN" altLang="en-US" dirty="0"/>
              <a:t>给定结点数，有多少种不同形态的二叉树？</a:t>
            </a:r>
            <a:endParaRPr lang="en-US" altLang="zh-CN" dirty="0"/>
          </a:p>
          <a:p>
            <a:r>
              <a:rPr lang="zh-CN" altLang="en-US" dirty="0"/>
              <a:t>等价问题</a:t>
            </a:r>
            <a:endParaRPr lang="en-US" altLang="zh-CN" dirty="0"/>
          </a:p>
          <a:p>
            <a:pPr lvl="1"/>
            <a:r>
              <a:rPr lang="zh-CN" altLang="en-US" dirty="0"/>
              <a:t>给定前序序列，有多少种不同的中序</a:t>
            </a:r>
            <a:endParaRPr lang="en-US" altLang="zh-CN" dirty="0"/>
          </a:p>
          <a:p>
            <a:pPr lvl="1"/>
            <a:r>
              <a:rPr lang="zh-CN" altLang="en-US" dirty="0"/>
              <a:t>给定入栈序列，有多少种不同的出栈序列</a:t>
            </a:r>
            <a:endParaRPr lang="en-US" altLang="zh-CN" dirty="0"/>
          </a:p>
          <a:p>
            <a:pPr lvl="1"/>
            <a:r>
              <a:rPr lang="en-US" altLang="zh-CN" dirty="0"/>
              <a:t>…</a:t>
            </a:r>
            <a:endParaRPr lang="en-US" altLang="zh-CN"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Line 2"/>
          <p:cNvSpPr>
            <a:spLocks noChangeShapeType="1"/>
          </p:cNvSpPr>
          <p:nvPr/>
        </p:nvSpPr>
        <p:spPr bwMode="auto">
          <a:xfrm>
            <a:off x="4630738" y="3638550"/>
            <a:ext cx="304800" cy="5334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55" name="Line 3"/>
          <p:cNvSpPr>
            <a:spLocks noChangeShapeType="1"/>
          </p:cNvSpPr>
          <p:nvPr/>
        </p:nvSpPr>
        <p:spPr bwMode="auto">
          <a:xfrm>
            <a:off x="6038850" y="4459288"/>
            <a:ext cx="304800" cy="5334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56" name="Line 4"/>
          <p:cNvSpPr>
            <a:spLocks noChangeShapeType="1"/>
          </p:cNvSpPr>
          <p:nvPr/>
        </p:nvSpPr>
        <p:spPr bwMode="auto">
          <a:xfrm flipH="1">
            <a:off x="2884488" y="4530725"/>
            <a:ext cx="3810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58" name="Line 6"/>
          <p:cNvSpPr>
            <a:spLocks noChangeShapeType="1"/>
          </p:cNvSpPr>
          <p:nvPr/>
        </p:nvSpPr>
        <p:spPr bwMode="auto">
          <a:xfrm flipH="1">
            <a:off x="7213600" y="3675063"/>
            <a:ext cx="762000" cy="1266825"/>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59" name="Oval 7"/>
          <p:cNvSpPr>
            <a:spLocks noChangeArrowheads="1"/>
          </p:cNvSpPr>
          <p:nvPr/>
        </p:nvSpPr>
        <p:spPr bwMode="auto">
          <a:xfrm>
            <a:off x="7820025" y="3355975"/>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60" name="Text Box 8"/>
          <p:cNvSpPr txBox="1">
            <a:spLocks noChangeArrowheads="1"/>
          </p:cNvSpPr>
          <p:nvPr/>
        </p:nvSpPr>
        <p:spPr bwMode="auto">
          <a:xfrm>
            <a:off x="7842250" y="32940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4761" name="Oval 9"/>
          <p:cNvSpPr>
            <a:spLocks noChangeArrowheads="1"/>
          </p:cNvSpPr>
          <p:nvPr/>
        </p:nvSpPr>
        <p:spPr bwMode="auto">
          <a:xfrm>
            <a:off x="7362825" y="4103688"/>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62" name="Text Box 10"/>
          <p:cNvSpPr txBox="1">
            <a:spLocks noChangeArrowheads="1"/>
          </p:cNvSpPr>
          <p:nvPr/>
        </p:nvSpPr>
        <p:spPr bwMode="auto">
          <a:xfrm>
            <a:off x="7418388" y="40417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4763" name="Oval 11"/>
          <p:cNvSpPr>
            <a:spLocks noChangeArrowheads="1"/>
          </p:cNvSpPr>
          <p:nvPr/>
        </p:nvSpPr>
        <p:spPr bwMode="auto">
          <a:xfrm>
            <a:off x="6908800" y="4894263"/>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64" name="Text Box 12"/>
          <p:cNvSpPr txBox="1">
            <a:spLocks noChangeArrowheads="1"/>
          </p:cNvSpPr>
          <p:nvPr/>
        </p:nvSpPr>
        <p:spPr bwMode="auto">
          <a:xfrm>
            <a:off x="6985000" y="483235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74765" name="Line 13"/>
          <p:cNvSpPr>
            <a:spLocks noChangeShapeType="1"/>
          </p:cNvSpPr>
          <p:nvPr/>
        </p:nvSpPr>
        <p:spPr bwMode="auto">
          <a:xfrm flipH="1">
            <a:off x="6038850" y="3621088"/>
            <a:ext cx="304800" cy="5334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6" name="Oval 14"/>
          <p:cNvSpPr>
            <a:spLocks noChangeArrowheads="1"/>
          </p:cNvSpPr>
          <p:nvPr/>
        </p:nvSpPr>
        <p:spPr bwMode="auto">
          <a:xfrm>
            <a:off x="6188075" y="330200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67" name="Text Box 15"/>
          <p:cNvSpPr txBox="1">
            <a:spLocks noChangeArrowheads="1"/>
          </p:cNvSpPr>
          <p:nvPr/>
        </p:nvSpPr>
        <p:spPr bwMode="auto">
          <a:xfrm>
            <a:off x="6210300" y="3240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4768" name="Oval 16"/>
          <p:cNvSpPr>
            <a:spLocks noChangeArrowheads="1"/>
          </p:cNvSpPr>
          <p:nvPr/>
        </p:nvSpPr>
        <p:spPr bwMode="auto">
          <a:xfrm>
            <a:off x="5730875" y="4049713"/>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69" name="Text Box 17"/>
          <p:cNvSpPr txBox="1">
            <a:spLocks noChangeArrowheads="1"/>
          </p:cNvSpPr>
          <p:nvPr/>
        </p:nvSpPr>
        <p:spPr bwMode="auto">
          <a:xfrm>
            <a:off x="5786438" y="3987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4770" name="Oval 18"/>
          <p:cNvSpPr>
            <a:spLocks noChangeArrowheads="1"/>
          </p:cNvSpPr>
          <p:nvPr/>
        </p:nvSpPr>
        <p:spPr bwMode="auto">
          <a:xfrm>
            <a:off x="6115050" y="4840288"/>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71" name="Text Box 19"/>
          <p:cNvSpPr txBox="1">
            <a:spLocks noChangeArrowheads="1"/>
          </p:cNvSpPr>
          <p:nvPr/>
        </p:nvSpPr>
        <p:spPr bwMode="auto">
          <a:xfrm>
            <a:off x="6191250" y="47783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74772" name="Line 20"/>
          <p:cNvSpPr>
            <a:spLocks noChangeShapeType="1"/>
          </p:cNvSpPr>
          <p:nvPr/>
        </p:nvSpPr>
        <p:spPr bwMode="auto">
          <a:xfrm flipH="1">
            <a:off x="4173538" y="3638550"/>
            <a:ext cx="307975" cy="5334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3" name="Oval 21"/>
          <p:cNvSpPr>
            <a:spLocks noChangeArrowheads="1"/>
          </p:cNvSpPr>
          <p:nvPr/>
        </p:nvSpPr>
        <p:spPr bwMode="auto">
          <a:xfrm>
            <a:off x="4325938" y="3319463"/>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74" name="Text Box 22"/>
          <p:cNvSpPr txBox="1">
            <a:spLocks noChangeArrowheads="1"/>
          </p:cNvSpPr>
          <p:nvPr/>
        </p:nvSpPr>
        <p:spPr bwMode="auto">
          <a:xfrm>
            <a:off x="4348163" y="325755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4775" name="Oval 23"/>
          <p:cNvSpPr>
            <a:spLocks noChangeArrowheads="1"/>
          </p:cNvSpPr>
          <p:nvPr/>
        </p:nvSpPr>
        <p:spPr bwMode="auto">
          <a:xfrm>
            <a:off x="3868738" y="4067175"/>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76" name="Text Box 24"/>
          <p:cNvSpPr txBox="1">
            <a:spLocks noChangeArrowheads="1"/>
          </p:cNvSpPr>
          <p:nvPr/>
        </p:nvSpPr>
        <p:spPr bwMode="auto">
          <a:xfrm>
            <a:off x="3924300" y="40052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4777" name="Oval 25"/>
          <p:cNvSpPr>
            <a:spLocks noChangeArrowheads="1"/>
          </p:cNvSpPr>
          <p:nvPr/>
        </p:nvSpPr>
        <p:spPr bwMode="auto">
          <a:xfrm>
            <a:off x="4783138" y="4081463"/>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78" name="Text Box 26"/>
          <p:cNvSpPr txBox="1">
            <a:spLocks noChangeArrowheads="1"/>
          </p:cNvSpPr>
          <p:nvPr/>
        </p:nvSpPr>
        <p:spPr bwMode="auto">
          <a:xfrm>
            <a:off x="4859338" y="401955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74779" name="Line 27"/>
          <p:cNvSpPr>
            <a:spLocks noChangeShapeType="1"/>
          </p:cNvSpPr>
          <p:nvPr/>
        </p:nvSpPr>
        <p:spPr bwMode="auto">
          <a:xfrm>
            <a:off x="2960688" y="3692525"/>
            <a:ext cx="45720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0" name="Oval 28"/>
          <p:cNvSpPr>
            <a:spLocks noChangeArrowheads="1"/>
          </p:cNvSpPr>
          <p:nvPr/>
        </p:nvSpPr>
        <p:spPr bwMode="auto">
          <a:xfrm>
            <a:off x="2732088" y="3373438"/>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81" name="Text Box 29"/>
          <p:cNvSpPr txBox="1">
            <a:spLocks noChangeArrowheads="1"/>
          </p:cNvSpPr>
          <p:nvPr/>
        </p:nvSpPr>
        <p:spPr bwMode="auto">
          <a:xfrm>
            <a:off x="2754313" y="33115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4782" name="Oval 30"/>
          <p:cNvSpPr>
            <a:spLocks noChangeArrowheads="1"/>
          </p:cNvSpPr>
          <p:nvPr/>
        </p:nvSpPr>
        <p:spPr bwMode="auto">
          <a:xfrm>
            <a:off x="3113088" y="412115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83" name="Text Box 31"/>
          <p:cNvSpPr txBox="1">
            <a:spLocks noChangeArrowheads="1"/>
          </p:cNvSpPr>
          <p:nvPr/>
        </p:nvSpPr>
        <p:spPr bwMode="auto">
          <a:xfrm>
            <a:off x="3168650" y="405923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4784" name="Oval 32"/>
          <p:cNvSpPr>
            <a:spLocks noChangeArrowheads="1"/>
          </p:cNvSpPr>
          <p:nvPr/>
        </p:nvSpPr>
        <p:spPr bwMode="auto">
          <a:xfrm>
            <a:off x="2732088" y="4911725"/>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85" name="Text Box 33"/>
          <p:cNvSpPr txBox="1">
            <a:spLocks noChangeArrowheads="1"/>
          </p:cNvSpPr>
          <p:nvPr/>
        </p:nvSpPr>
        <p:spPr bwMode="auto">
          <a:xfrm>
            <a:off x="2808288" y="48498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74786" name="Line 34"/>
          <p:cNvSpPr>
            <a:spLocks noChangeShapeType="1"/>
          </p:cNvSpPr>
          <p:nvPr/>
        </p:nvSpPr>
        <p:spPr bwMode="auto">
          <a:xfrm>
            <a:off x="1160463" y="3692525"/>
            <a:ext cx="758825" cy="12954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7" name="Oval 35"/>
          <p:cNvSpPr>
            <a:spLocks noChangeArrowheads="1"/>
          </p:cNvSpPr>
          <p:nvPr/>
        </p:nvSpPr>
        <p:spPr bwMode="auto">
          <a:xfrm>
            <a:off x="931863" y="3373438"/>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88" name="Text Box 36"/>
          <p:cNvSpPr txBox="1">
            <a:spLocks noChangeArrowheads="1"/>
          </p:cNvSpPr>
          <p:nvPr/>
        </p:nvSpPr>
        <p:spPr bwMode="auto">
          <a:xfrm>
            <a:off x="954088" y="33115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4789" name="Oval 37"/>
          <p:cNvSpPr>
            <a:spLocks noChangeArrowheads="1"/>
          </p:cNvSpPr>
          <p:nvPr/>
        </p:nvSpPr>
        <p:spPr bwMode="auto">
          <a:xfrm>
            <a:off x="1312863" y="4121150"/>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90" name="Text Box 38"/>
          <p:cNvSpPr txBox="1">
            <a:spLocks noChangeArrowheads="1"/>
          </p:cNvSpPr>
          <p:nvPr/>
        </p:nvSpPr>
        <p:spPr bwMode="auto">
          <a:xfrm>
            <a:off x="1368425" y="405923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4791" name="Oval 39"/>
          <p:cNvSpPr>
            <a:spLocks noChangeArrowheads="1"/>
          </p:cNvSpPr>
          <p:nvPr/>
        </p:nvSpPr>
        <p:spPr bwMode="auto">
          <a:xfrm>
            <a:off x="1770063" y="4911725"/>
            <a:ext cx="457200" cy="457200"/>
          </a:xfrm>
          <a:prstGeom prst="ellipse">
            <a:avLst/>
          </a:prstGeom>
          <a:solidFill>
            <a:srgbClr val="FFFFCC"/>
          </a:solidFill>
          <a:ln w="38100">
            <a:solidFill>
              <a:schemeClr val="accent2"/>
            </a:solidFill>
            <a:round/>
          </a:ln>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92" name="Text Box 40"/>
          <p:cNvSpPr txBox="1">
            <a:spLocks noChangeArrowheads="1"/>
          </p:cNvSpPr>
          <p:nvPr/>
        </p:nvSpPr>
        <p:spPr bwMode="auto">
          <a:xfrm>
            <a:off x="1846263" y="48498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4" name="内容占位符 3"/>
          <p:cNvSpPr>
            <a:spLocks noGrp="1"/>
          </p:cNvSpPr>
          <p:nvPr>
            <p:ph idx="1"/>
          </p:nvPr>
        </p:nvSpPr>
        <p:spPr>
          <a:xfrm>
            <a:off x="585788" y="686593"/>
            <a:ext cx="7886700" cy="2183607"/>
          </a:xfrm>
        </p:spPr>
        <p:txBody>
          <a:bodyPr>
            <a:normAutofit lnSpcReduction="10000"/>
          </a:bodyPr>
          <a:lstStyle/>
          <a:p>
            <a:pPr marL="0" indent="0">
              <a:buNone/>
            </a:pPr>
            <a:r>
              <a:rPr lang="zh-CN" altLang="en-US" dirty="0"/>
              <a:t>例如</a:t>
            </a:r>
            <a:r>
              <a:rPr lang="en-US" altLang="zh-CN" dirty="0"/>
              <a:t>,  </a:t>
            </a:r>
            <a:r>
              <a:rPr lang="zh-CN" altLang="en-US" dirty="0"/>
              <a:t>有 </a:t>
            </a:r>
            <a:r>
              <a:rPr lang="en-US" altLang="zh-CN" dirty="0"/>
              <a:t>3 </a:t>
            </a:r>
            <a:r>
              <a:rPr lang="zh-CN" altLang="en-US" dirty="0"/>
              <a:t>个结点 </a:t>
            </a:r>
            <a:r>
              <a:rPr lang="en-US" altLang="zh-CN" dirty="0"/>
              <a:t>{ 1, 2, 3 }</a:t>
            </a:r>
            <a:r>
              <a:rPr lang="zh-CN" altLang="en-US" dirty="0"/>
              <a:t>，前序序列为 </a:t>
            </a:r>
            <a:r>
              <a:rPr lang="en-US" altLang="zh-CN" dirty="0"/>
              <a:t>1-2-3</a:t>
            </a:r>
            <a:r>
              <a:rPr lang="zh-CN" altLang="en-US" dirty="0"/>
              <a:t>，可得 </a:t>
            </a:r>
            <a:r>
              <a:rPr lang="en-US" altLang="zh-CN" dirty="0"/>
              <a:t>5 </a:t>
            </a:r>
            <a:r>
              <a:rPr lang="zh-CN" altLang="en-US" dirty="0"/>
              <a:t>种不同的二叉树，对应</a:t>
            </a:r>
            <a:r>
              <a:rPr lang="en-US" altLang="zh-CN" dirty="0"/>
              <a:t>5</a:t>
            </a:r>
            <a:r>
              <a:rPr lang="zh-CN" altLang="en-US" dirty="0"/>
              <a:t>种中序序列： </a:t>
            </a:r>
            <a:r>
              <a:rPr lang="en-US" altLang="zh-CN" dirty="0"/>
              <a:t>1-2-3</a:t>
            </a:r>
            <a:r>
              <a:rPr lang="zh-CN" altLang="en-US" dirty="0"/>
              <a:t>，</a:t>
            </a:r>
            <a:r>
              <a:rPr lang="en-US" altLang="zh-CN" dirty="0"/>
              <a:t>1-3-2</a:t>
            </a:r>
            <a:r>
              <a:rPr lang="zh-CN" altLang="en-US" dirty="0"/>
              <a:t>，</a:t>
            </a:r>
            <a:r>
              <a:rPr lang="en-US" altLang="zh-CN" dirty="0"/>
              <a:t>2-1-3</a:t>
            </a:r>
            <a:r>
              <a:rPr lang="zh-CN" altLang="en-US" dirty="0"/>
              <a:t>，</a:t>
            </a:r>
            <a:r>
              <a:rPr lang="en-US" altLang="zh-CN" dirty="0"/>
              <a:t>2-3-1</a:t>
            </a:r>
            <a:r>
              <a:rPr lang="zh-CN" altLang="en-US" dirty="0"/>
              <a:t>，</a:t>
            </a:r>
            <a:r>
              <a:rPr lang="en-US" altLang="zh-CN" dirty="0"/>
              <a:t>3-2-1</a:t>
            </a:r>
            <a:r>
              <a:rPr lang="zh-CN" altLang="en-US" dirty="0"/>
              <a:t>。</a:t>
            </a: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09320" y="1690688"/>
            <a:ext cx="8305800" cy="4648200"/>
            <a:chOff x="381000" y="1447800"/>
            <a:chExt cx="8305800" cy="4648200"/>
          </a:xfrm>
        </p:grpSpPr>
        <p:sp>
          <p:nvSpPr>
            <p:cNvPr id="75778" name="Line 2"/>
            <p:cNvSpPr>
              <a:spLocks noChangeShapeType="1"/>
            </p:cNvSpPr>
            <p:nvPr/>
          </p:nvSpPr>
          <p:spPr bwMode="auto">
            <a:xfrm flipH="1">
              <a:off x="6858000" y="4648200"/>
              <a:ext cx="762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79" name="Line 3"/>
            <p:cNvSpPr>
              <a:spLocks noChangeShapeType="1"/>
            </p:cNvSpPr>
            <p:nvPr/>
          </p:nvSpPr>
          <p:spPr bwMode="auto">
            <a:xfrm flipH="1">
              <a:off x="1524000" y="46482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0" name="Line 4"/>
            <p:cNvSpPr>
              <a:spLocks noChangeShapeType="1"/>
            </p:cNvSpPr>
            <p:nvPr/>
          </p:nvSpPr>
          <p:spPr bwMode="auto">
            <a:xfrm flipH="1">
              <a:off x="1143000" y="4038600"/>
              <a:ext cx="304800" cy="10668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1" name="Line 5"/>
            <p:cNvSpPr>
              <a:spLocks noChangeShapeType="1"/>
            </p:cNvSpPr>
            <p:nvPr/>
          </p:nvSpPr>
          <p:spPr bwMode="auto">
            <a:xfrm>
              <a:off x="4267200" y="4038600"/>
              <a:ext cx="762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2" name="Line 6"/>
            <p:cNvSpPr>
              <a:spLocks noChangeShapeType="1"/>
            </p:cNvSpPr>
            <p:nvPr/>
          </p:nvSpPr>
          <p:spPr bwMode="auto">
            <a:xfrm>
              <a:off x="4038600" y="46482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3" name="Line 7"/>
            <p:cNvSpPr>
              <a:spLocks noChangeShapeType="1"/>
            </p:cNvSpPr>
            <p:nvPr/>
          </p:nvSpPr>
          <p:spPr bwMode="auto">
            <a:xfrm flipH="1">
              <a:off x="3962400" y="40386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4" name="Line 8"/>
            <p:cNvSpPr>
              <a:spLocks noChangeShapeType="1"/>
            </p:cNvSpPr>
            <p:nvPr/>
          </p:nvSpPr>
          <p:spPr bwMode="auto">
            <a:xfrm flipH="1">
              <a:off x="5486400" y="40386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5" name="Line 9"/>
            <p:cNvSpPr>
              <a:spLocks noChangeShapeType="1"/>
            </p:cNvSpPr>
            <p:nvPr/>
          </p:nvSpPr>
          <p:spPr bwMode="auto">
            <a:xfrm flipH="1">
              <a:off x="2209800" y="5257800"/>
              <a:ext cx="762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6" name="Line 10"/>
            <p:cNvSpPr>
              <a:spLocks noChangeShapeType="1"/>
            </p:cNvSpPr>
            <p:nvPr/>
          </p:nvSpPr>
          <p:spPr bwMode="auto">
            <a:xfrm flipH="1">
              <a:off x="2514600" y="3962400"/>
              <a:ext cx="762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7" name="Line 11"/>
            <p:cNvSpPr>
              <a:spLocks noChangeShapeType="1"/>
            </p:cNvSpPr>
            <p:nvPr/>
          </p:nvSpPr>
          <p:spPr bwMode="auto">
            <a:xfrm flipH="1">
              <a:off x="7848600" y="5257800"/>
              <a:ext cx="1524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8" name="Line 12"/>
            <p:cNvSpPr>
              <a:spLocks noChangeShapeType="1"/>
            </p:cNvSpPr>
            <p:nvPr/>
          </p:nvSpPr>
          <p:spPr bwMode="auto">
            <a:xfrm flipH="1">
              <a:off x="7467600" y="2286000"/>
              <a:ext cx="1524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9" name="Line 13"/>
            <p:cNvSpPr>
              <a:spLocks noChangeShapeType="1"/>
            </p:cNvSpPr>
            <p:nvPr/>
          </p:nvSpPr>
          <p:spPr bwMode="auto">
            <a:xfrm>
              <a:off x="7467600" y="1676400"/>
              <a:ext cx="1270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90" name="Line 14"/>
            <p:cNvSpPr>
              <a:spLocks noChangeShapeType="1"/>
            </p:cNvSpPr>
            <p:nvPr/>
          </p:nvSpPr>
          <p:spPr bwMode="auto">
            <a:xfrm>
              <a:off x="8001000" y="1676400"/>
              <a:ext cx="304800" cy="10668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9072" name="Oval 16"/>
            <p:cNvSpPr>
              <a:spLocks noChangeArrowheads="1"/>
            </p:cNvSpPr>
            <p:nvPr/>
          </p:nvSpPr>
          <p:spPr bwMode="auto">
            <a:xfrm>
              <a:off x="7848600" y="14478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29073" name="Oval 17"/>
            <p:cNvSpPr>
              <a:spLocks noChangeArrowheads="1"/>
            </p:cNvSpPr>
            <p:nvPr/>
          </p:nvSpPr>
          <p:spPr bwMode="auto">
            <a:xfrm>
              <a:off x="8001000" y="2057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29074" name="Oval 18"/>
            <p:cNvSpPr>
              <a:spLocks noChangeArrowheads="1"/>
            </p:cNvSpPr>
            <p:nvPr/>
          </p:nvSpPr>
          <p:spPr bwMode="auto">
            <a:xfrm>
              <a:off x="8153400" y="26670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29075" name="Oval 19"/>
            <p:cNvSpPr>
              <a:spLocks noChangeArrowheads="1"/>
            </p:cNvSpPr>
            <p:nvPr/>
          </p:nvSpPr>
          <p:spPr bwMode="auto">
            <a:xfrm>
              <a:off x="7315200" y="14478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29076" name="Oval 20"/>
            <p:cNvSpPr>
              <a:spLocks noChangeArrowheads="1"/>
            </p:cNvSpPr>
            <p:nvPr/>
          </p:nvSpPr>
          <p:spPr bwMode="auto">
            <a:xfrm>
              <a:off x="7467600" y="2057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29077" name="Oval 21"/>
            <p:cNvSpPr>
              <a:spLocks noChangeArrowheads="1"/>
            </p:cNvSpPr>
            <p:nvPr/>
          </p:nvSpPr>
          <p:spPr bwMode="auto">
            <a:xfrm>
              <a:off x="7315200" y="26670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75798" name="Line 22"/>
            <p:cNvSpPr>
              <a:spLocks noChangeShapeType="1"/>
            </p:cNvSpPr>
            <p:nvPr/>
          </p:nvSpPr>
          <p:spPr bwMode="auto">
            <a:xfrm>
              <a:off x="6934200" y="1676400"/>
              <a:ext cx="1270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9079" name="Oval 23"/>
            <p:cNvSpPr>
              <a:spLocks noChangeArrowheads="1"/>
            </p:cNvSpPr>
            <p:nvPr/>
          </p:nvSpPr>
          <p:spPr bwMode="auto">
            <a:xfrm>
              <a:off x="6705600" y="14478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29080" name="Oval 24"/>
            <p:cNvSpPr>
              <a:spLocks noChangeArrowheads="1"/>
            </p:cNvSpPr>
            <p:nvPr/>
          </p:nvSpPr>
          <p:spPr bwMode="auto">
            <a:xfrm>
              <a:off x="6934200" y="2057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29081" name="Oval 25"/>
            <p:cNvSpPr>
              <a:spLocks noChangeArrowheads="1"/>
            </p:cNvSpPr>
            <p:nvPr/>
          </p:nvSpPr>
          <p:spPr bwMode="auto">
            <a:xfrm>
              <a:off x="6477000" y="2057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75802" name="Line 26"/>
            <p:cNvSpPr>
              <a:spLocks noChangeShapeType="1"/>
            </p:cNvSpPr>
            <p:nvPr/>
          </p:nvSpPr>
          <p:spPr bwMode="auto">
            <a:xfrm flipH="1">
              <a:off x="6629400" y="16764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03" name="Line 27"/>
            <p:cNvSpPr>
              <a:spLocks noChangeShapeType="1"/>
            </p:cNvSpPr>
            <p:nvPr/>
          </p:nvSpPr>
          <p:spPr bwMode="auto">
            <a:xfrm>
              <a:off x="6019800" y="2286000"/>
              <a:ext cx="1524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04" name="Line 28"/>
            <p:cNvSpPr>
              <a:spLocks noChangeShapeType="1"/>
            </p:cNvSpPr>
            <p:nvPr/>
          </p:nvSpPr>
          <p:spPr bwMode="auto">
            <a:xfrm flipH="1">
              <a:off x="6019800" y="1676400"/>
              <a:ext cx="1270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05" name="Line 29"/>
            <p:cNvSpPr>
              <a:spLocks noChangeShapeType="1"/>
            </p:cNvSpPr>
            <p:nvPr/>
          </p:nvSpPr>
          <p:spPr bwMode="auto">
            <a:xfrm flipH="1">
              <a:off x="5257800" y="1676400"/>
              <a:ext cx="304800" cy="10668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9086" name="Oval 30"/>
            <p:cNvSpPr>
              <a:spLocks noChangeArrowheads="1"/>
            </p:cNvSpPr>
            <p:nvPr/>
          </p:nvSpPr>
          <p:spPr bwMode="auto">
            <a:xfrm flipH="1">
              <a:off x="5410200" y="14478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29087" name="Oval 31"/>
            <p:cNvSpPr>
              <a:spLocks noChangeArrowheads="1"/>
            </p:cNvSpPr>
            <p:nvPr/>
          </p:nvSpPr>
          <p:spPr bwMode="auto">
            <a:xfrm flipH="1">
              <a:off x="5257800" y="2057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29088" name="Oval 32"/>
            <p:cNvSpPr>
              <a:spLocks noChangeArrowheads="1"/>
            </p:cNvSpPr>
            <p:nvPr/>
          </p:nvSpPr>
          <p:spPr bwMode="auto">
            <a:xfrm flipH="1">
              <a:off x="5105400" y="26670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29089" name="Oval 33"/>
            <p:cNvSpPr>
              <a:spLocks noChangeArrowheads="1"/>
            </p:cNvSpPr>
            <p:nvPr/>
          </p:nvSpPr>
          <p:spPr bwMode="auto">
            <a:xfrm flipH="1">
              <a:off x="6019800" y="14478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29090" name="Oval 34"/>
            <p:cNvSpPr>
              <a:spLocks noChangeArrowheads="1"/>
            </p:cNvSpPr>
            <p:nvPr/>
          </p:nvSpPr>
          <p:spPr bwMode="auto">
            <a:xfrm flipH="1">
              <a:off x="5867400" y="2057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429091" name="Oval 35"/>
            <p:cNvSpPr>
              <a:spLocks noChangeArrowheads="1"/>
            </p:cNvSpPr>
            <p:nvPr/>
          </p:nvSpPr>
          <p:spPr bwMode="auto">
            <a:xfrm flipH="1">
              <a:off x="6019800" y="26670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75812" name="Line 36"/>
            <p:cNvSpPr>
              <a:spLocks noChangeShapeType="1"/>
            </p:cNvSpPr>
            <p:nvPr/>
          </p:nvSpPr>
          <p:spPr bwMode="auto">
            <a:xfrm>
              <a:off x="4267200" y="1828800"/>
              <a:ext cx="12700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13" name="Oval 37"/>
            <p:cNvSpPr>
              <a:spLocks noChangeArrowheads="1"/>
            </p:cNvSpPr>
            <p:nvPr/>
          </p:nvSpPr>
          <p:spPr bwMode="auto">
            <a:xfrm>
              <a:off x="4114800" y="1600200"/>
              <a:ext cx="304800" cy="304800"/>
            </a:xfrm>
            <a:prstGeom prst="ellipse">
              <a:avLst/>
            </a:prstGeom>
            <a:gradFill rotWithShape="0">
              <a:gsLst>
                <a:gs pos="0">
                  <a:srgbClr val="FF6600"/>
                </a:gs>
                <a:gs pos="100000">
                  <a:srgbClr val="762F00"/>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14" name="Oval 38"/>
            <p:cNvSpPr>
              <a:spLocks noChangeArrowheads="1"/>
            </p:cNvSpPr>
            <p:nvPr/>
          </p:nvSpPr>
          <p:spPr bwMode="auto">
            <a:xfrm>
              <a:off x="4267200" y="2209800"/>
              <a:ext cx="304800" cy="304800"/>
            </a:xfrm>
            <a:prstGeom prst="ellipse">
              <a:avLst/>
            </a:prstGeom>
            <a:gradFill rotWithShape="0">
              <a:gsLst>
                <a:gs pos="0">
                  <a:srgbClr val="FF6600"/>
                </a:gs>
                <a:gs pos="100000">
                  <a:srgbClr val="762F00"/>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15" name="Line 39"/>
            <p:cNvSpPr>
              <a:spLocks noChangeShapeType="1"/>
            </p:cNvSpPr>
            <p:nvPr/>
          </p:nvSpPr>
          <p:spPr bwMode="auto">
            <a:xfrm flipH="1">
              <a:off x="3429000" y="1828800"/>
              <a:ext cx="12700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16" name="Oval 40"/>
            <p:cNvSpPr>
              <a:spLocks noChangeArrowheads="1"/>
            </p:cNvSpPr>
            <p:nvPr/>
          </p:nvSpPr>
          <p:spPr bwMode="auto">
            <a:xfrm flipH="1">
              <a:off x="3429000" y="1600200"/>
              <a:ext cx="304800" cy="304800"/>
            </a:xfrm>
            <a:prstGeom prst="ellipse">
              <a:avLst/>
            </a:prstGeom>
            <a:gradFill rotWithShape="0">
              <a:gsLst>
                <a:gs pos="0">
                  <a:srgbClr val="FF6600"/>
                </a:gs>
                <a:gs pos="100000">
                  <a:srgbClr val="762F00"/>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17" name="Oval 41"/>
            <p:cNvSpPr>
              <a:spLocks noChangeArrowheads="1"/>
            </p:cNvSpPr>
            <p:nvPr/>
          </p:nvSpPr>
          <p:spPr bwMode="auto">
            <a:xfrm flipH="1">
              <a:off x="3200400" y="2209800"/>
              <a:ext cx="304800" cy="304800"/>
            </a:xfrm>
            <a:prstGeom prst="ellipse">
              <a:avLst/>
            </a:prstGeom>
            <a:gradFill rotWithShape="0">
              <a:gsLst>
                <a:gs pos="0">
                  <a:srgbClr val="FF6600"/>
                </a:gs>
                <a:gs pos="100000">
                  <a:srgbClr val="762F00"/>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18" name="Oval 42"/>
            <p:cNvSpPr>
              <a:spLocks noChangeArrowheads="1"/>
            </p:cNvSpPr>
            <p:nvPr/>
          </p:nvSpPr>
          <p:spPr bwMode="auto">
            <a:xfrm flipH="1">
              <a:off x="2286000" y="1905000"/>
              <a:ext cx="304800" cy="304800"/>
            </a:xfrm>
            <a:prstGeom prst="ellipse">
              <a:avLst/>
            </a:prstGeom>
            <a:gradFill rotWithShape="0">
              <a:gsLst>
                <a:gs pos="0">
                  <a:srgbClr val="FFFFCC"/>
                </a:gs>
                <a:gs pos="100000">
                  <a:srgbClr val="76765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19" name="Oval 43"/>
            <p:cNvSpPr>
              <a:spLocks noChangeArrowheads="1"/>
            </p:cNvSpPr>
            <p:nvPr/>
          </p:nvSpPr>
          <p:spPr bwMode="auto">
            <a:xfrm>
              <a:off x="990600" y="1905000"/>
              <a:ext cx="304800" cy="228600"/>
            </a:xfrm>
            <a:prstGeom prst="ellipse">
              <a:avLst/>
            </a:prstGeom>
            <a:noFill/>
            <a:ln w="38100">
              <a:solidFill>
                <a:srgbClr val="990099"/>
              </a:solidFill>
              <a:round/>
            </a:ln>
            <a:extLst>
              <a:ext uri="{909E8E84-426E-40DD-AFC4-6F175D3DCCD1}">
                <a14:hiddenFill xmlns:a14="http://schemas.microsoft.com/office/drawing/2010/main">
                  <a:solidFill>
                    <a:srgbClr val="FFFFFF"/>
                  </a:solidFill>
                </a14:hiddenFill>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20" name="Line 44"/>
            <p:cNvSpPr>
              <a:spLocks noChangeShapeType="1"/>
            </p:cNvSpPr>
            <p:nvPr/>
          </p:nvSpPr>
          <p:spPr bwMode="auto">
            <a:xfrm flipH="1">
              <a:off x="1143000" y="1828800"/>
              <a:ext cx="0" cy="381000"/>
            </a:xfrm>
            <a:prstGeom prst="line">
              <a:avLst/>
            </a:prstGeom>
            <a:noFill/>
            <a:ln w="38100">
              <a:solidFill>
                <a:srgbClr val="99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21" name="Text Box 45"/>
            <p:cNvSpPr txBox="1">
              <a:spLocks noChangeArrowheads="1"/>
            </p:cNvSpPr>
            <p:nvPr/>
          </p:nvSpPr>
          <p:spPr bwMode="auto">
            <a:xfrm>
              <a:off x="685800" y="2590800"/>
              <a:ext cx="92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baseline="-25000">
                  <a:solidFill>
                    <a:srgbClr val="009900"/>
                  </a:solidFill>
                  <a:latin typeface="Times New Roman" panose="02020603050405020304" pitchFamily="18" charset="0"/>
                  <a:ea typeface="宋体" panose="02010600030101010101" pitchFamily="2" charset="-122"/>
                </a:rPr>
                <a:t>0 </a:t>
              </a:r>
              <a:r>
                <a:rPr kumimoji="1" lang="en-US" altLang="zh-CN" sz="2800" b="1">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22" name="Text Box 46"/>
            <p:cNvSpPr txBox="1">
              <a:spLocks noChangeArrowheads="1"/>
            </p:cNvSpPr>
            <p:nvPr/>
          </p:nvSpPr>
          <p:spPr bwMode="auto">
            <a:xfrm>
              <a:off x="1895475" y="2590800"/>
              <a:ext cx="92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baseline="-25000">
                  <a:solidFill>
                    <a:srgbClr val="009900"/>
                  </a:solidFill>
                  <a:latin typeface="Times New Roman" panose="02020603050405020304" pitchFamily="18" charset="0"/>
                  <a:ea typeface="宋体" panose="02010600030101010101" pitchFamily="2" charset="-122"/>
                </a:rPr>
                <a:t>1 </a:t>
              </a:r>
              <a:r>
                <a:rPr kumimoji="1" lang="en-US" altLang="zh-CN" sz="2800" b="1">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23" name="Text Box 47"/>
            <p:cNvSpPr txBox="1">
              <a:spLocks noChangeArrowheads="1"/>
            </p:cNvSpPr>
            <p:nvPr/>
          </p:nvSpPr>
          <p:spPr bwMode="auto">
            <a:xfrm>
              <a:off x="3495675" y="2590800"/>
              <a:ext cx="92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baseline="-25000">
                  <a:solidFill>
                    <a:srgbClr val="009900"/>
                  </a:solidFill>
                  <a:latin typeface="Times New Roman" panose="02020603050405020304" pitchFamily="18" charset="0"/>
                  <a:ea typeface="宋体" panose="02010600030101010101" pitchFamily="2" charset="-122"/>
                </a:rPr>
                <a:t>2 </a:t>
              </a:r>
              <a:r>
                <a:rPr kumimoji="1" lang="en-US" altLang="zh-CN" sz="2800" b="1">
                  <a:solidFill>
                    <a:srgbClr val="009900"/>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5824" name="Text Box 48"/>
            <p:cNvSpPr txBox="1">
              <a:spLocks noChangeArrowheads="1"/>
            </p:cNvSpPr>
            <p:nvPr/>
          </p:nvSpPr>
          <p:spPr bwMode="auto">
            <a:xfrm>
              <a:off x="6391275" y="2971800"/>
              <a:ext cx="92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baseline="-25000">
                  <a:solidFill>
                    <a:srgbClr val="009900"/>
                  </a:solidFill>
                  <a:latin typeface="Times New Roman" panose="02020603050405020304" pitchFamily="18" charset="0"/>
                  <a:ea typeface="宋体" panose="02010600030101010101" pitchFamily="2" charset="-122"/>
                </a:rPr>
                <a:t>3 </a:t>
              </a:r>
              <a:r>
                <a:rPr kumimoji="1" lang="en-US" altLang="zh-CN" sz="2800" b="1">
                  <a:solidFill>
                    <a:srgbClr val="0099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5825" name="Line 49"/>
            <p:cNvSpPr>
              <a:spLocks noChangeShapeType="1"/>
            </p:cNvSpPr>
            <p:nvPr/>
          </p:nvSpPr>
          <p:spPr bwMode="auto">
            <a:xfrm>
              <a:off x="8077200" y="4038600"/>
              <a:ext cx="457200" cy="1676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26" name="Oval 50"/>
            <p:cNvSpPr>
              <a:spLocks noChangeArrowheads="1"/>
            </p:cNvSpPr>
            <p:nvPr/>
          </p:nvSpPr>
          <p:spPr bwMode="auto">
            <a:xfrm>
              <a:off x="79248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27" name="Oval 51"/>
            <p:cNvSpPr>
              <a:spLocks noChangeArrowheads="1"/>
            </p:cNvSpPr>
            <p:nvPr/>
          </p:nvSpPr>
          <p:spPr bwMode="auto">
            <a:xfrm>
              <a:off x="80772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28" name="Oval 52"/>
            <p:cNvSpPr>
              <a:spLocks noChangeArrowheads="1"/>
            </p:cNvSpPr>
            <p:nvPr/>
          </p:nvSpPr>
          <p:spPr bwMode="auto">
            <a:xfrm>
              <a:off x="8229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29" name="Oval 53"/>
            <p:cNvSpPr>
              <a:spLocks noChangeArrowheads="1"/>
            </p:cNvSpPr>
            <p:nvPr/>
          </p:nvSpPr>
          <p:spPr bwMode="auto">
            <a:xfrm>
              <a:off x="8382000" y="5715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0" name="Oval 54"/>
            <p:cNvSpPr>
              <a:spLocks noChangeArrowheads="1"/>
            </p:cNvSpPr>
            <p:nvPr/>
          </p:nvSpPr>
          <p:spPr bwMode="auto">
            <a:xfrm>
              <a:off x="7696200" y="5715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1" name="Line 55"/>
            <p:cNvSpPr>
              <a:spLocks noChangeShapeType="1"/>
            </p:cNvSpPr>
            <p:nvPr/>
          </p:nvSpPr>
          <p:spPr bwMode="auto">
            <a:xfrm>
              <a:off x="7696200" y="4038600"/>
              <a:ext cx="304800" cy="10668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32" name="Oval 56"/>
            <p:cNvSpPr>
              <a:spLocks noChangeArrowheads="1"/>
            </p:cNvSpPr>
            <p:nvPr/>
          </p:nvSpPr>
          <p:spPr bwMode="auto">
            <a:xfrm>
              <a:off x="75438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3" name="Oval 57"/>
            <p:cNvSpPr>
              <a:spLocks noChangeArrowheads="1"/>
            </p:cNvSpPr>
            <p:nvPr/>
          </p:nvSpPr>
          <p:spPr bwMode="auto">
            <a:xfrm>
              <a:off x="76962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4" name="Oval 58"/>
            <p:cNvSpPr>
              <a:spLocks noChangeArrowheads="1"/>
            </p:cNvSpPr>
            <p:nvPr/>
          </p:nvSpPr>
          <p:spPr bwMode="auto">
            <a:xfrm>
              <a:off x="7848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5" name="Line 59"/>
            <p:cNvSpPr>
              <a:spLocks noChangeShapeType="1"/>
            </p:cNvSpPr>
            <p:nvPr/>
          </p:nvSpPr>
          <p:spPr bwMode="auto">
            <a:xfrm>
              <a:off x="7239000" y="4038600"/>
              <a:ext cx="1270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36" name="Oval 60"/>
            <p:cNvSpPr>
              <a:spLocks noChangeArrowheads="1"/>
            </p:cNvSpPr>
            <p:nvPr/>
          </p:nvSpPr>
          <p:spPr bwMode="auto">
            <a:xfrm>
              <a:off x="70866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7" name="Oval 61"/>
            <p:cNvSpPr>
              <a:spLocks noChangeArrowheads="1"/>
            </p:cNvSpPr>
            <p:nvPr/>
          </p:nvSpPr>
          <p:spPr bwMode="auto">
            <a:xfrm>
              <a:off x="7239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8" name="Line 62"/>
            <p:cNvSpPr>
              <a:spLocks noChangeShapeType="1"/>
            </p:cNvSpPr>
            <p:nvPr/>
          </p:nvSpPr>
          <p:spPr bwMode="auto">
            <a:xfrm>
              <a:off x="7467600" y="4648200"/>
              <a:ext cx="1270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39" name="Oval 63"/>
            <p:cNvSpPr>
              <a:spLocks noChangeArrowheads="1"/>
            </p:cNvSpPr>
            <p:nvPr/>
          </p:nvSpPr>
          <p:spPr bwMode="auto">
            <a:xfrm>
              <a:off x="7467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40" name="Oval 64"/>
            <p:cNvSpPr>
              <a:spLocks noChangeArrowheads="1"/>
            </p:cNvSpPr>
            <p:nvPr/>
          </p:nvSpPr>
          <p:spPr bwMode="auto">
            <a:xfrm>
              <a:off x="7086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41" name="Line 65"/>
            <p:cNvSpPr>
              <a:spLocks noChangeShapeType="1"/>
            </p:cNvSpPr>
            <p:nvPr/>
          </p:nvSpPr>
          <p:spPr bwMode="auto">
            <a:xfrm flipH="1">
              <a:off x="7239000" y="4648200"/>
              <a:ext cx="762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42" name="Line 66"/>
            <p:cNvSpPr>
              <a:spLocks noChangeShapeType="1"/>
            </p:cNvSpPr>
            <p:nvPr/>
          </p:nvSpPr>
          <p:spPr bwMode="auto">
            <a:xfrm>
              <a:off x="2514600" y="4648200"/>
              <a:ext cx="304800" cy="1219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43" name="Oval 67"/>
            <p:cNvSpPr>
              <a:spLocks noChangeArrowheads="1"/>
            </p:cNvSpPr>
            <p:nvPr/>
          </p:nvSpPr>
          <p:spPr bwMode="auto">
            <a:xfrm>
              <a:off x="23622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44" name="Oval 68"/>
            <p:cNvSpPr>
              <a:spLocks noChangeArrowheads="1"/>
            </p:cNvSpPr>
            <p:nvPr/>
          </p:nvSpPr>
          <p:spPr bwMode="auto">
            <a:xfrm>
              <a:off x="2514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400">
                  <a:latin typeface="Times New Roman" panose="02020603050405020304" pitchFamily="18" charset="0"/>
                  <a:ea typeface="宋体" panose="02010600030101010101" pitchFamily="2" charset="-122"/>
                </a:rPr>
                <a:t>  </a:t>
              </a:r>
              <a:endParaRPr kumimoji="1" lang="en-US" altLang="zh-CN" sz="2400">
                <a:latin typeface="Times New Roman" panose="02020603050405020304" pitchFamily="18" charset="0"/>
                <a:ea typeface="宋体" panose="02010600030101010101" pitchFamily="2" charset="-122"/>
              </a:endParaRPr>
            </a:p>
          </p:txBody>
        </p:sp>
        <p:sp>
          <p:nvSpPr>
            <p:cNvPr id="75845" name="Oval 69"/>
            <p:cNvSpPr>
              <a:spLocks noChangeArrowheads="1"/>
            </p:cNvSpPr>
            <p:nvPr/>
          </p:nvSpPr>
          <p:spPr bwMode="auto">
            <a:xfrm>
              <a:off x="2667000" y="56388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46" name="Oval 70"/>
            <p:cNvSpPr>
              <a:spLocks noChangeArrowheads="1"/>
            </p:cNvSpPr>
            <p:nvPr/>
          </p:nvSpPr>
          <p:spPr bwMode="auto">
            <a:xfrm>
              <a:off x="2438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47" name="Line 71"/>
            <p:cNvSpPr>
              <a:spLocks noChangeShapeType="1"/>
            </p:cNvSpPr>
            <p:nvPr/>
          </p:nvSpPr>
          <p:spPr bwMode="auto">
            <a:xfrm flipH="1">
              <a:off x="2133600" y="3962400"/>
              <a:ext cx="762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48" name="Line 72"/>
            <p:cNvSpPr>
              <a:spLocks noChangeShapeType="1"/>
            </p:cNvSpPr>
            <p:nvPr/>
          </p:nvSpPr>
          <p:spPr bwMode="auto">
            <a:xfrm>
              <a:off x="2133600" y="46482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49" name="Oval 73"/>
            <p:cNvSpPr>
              <a:spLocks noChangeArrowheads="1"/>
            </p:cNvSpPr>
            <p:nvPr/>
          </p:nvSpPr>
          <p:spPr bwMode="auto">
            <a:xfrm>
              <a:off x="19812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0" name="Oval 74"/>
            <p:cNvSpPr>
              <a:spLocks noChangeArrowheads="1"/>
            </p:cNvSpPr>
            <p:nvPr/>
          </p:nvSpPr>
          <p:spPr bwMode="auto">
            <a:xfrm>
              <a:off x="2133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1" name="Oval 75"/>
            <p:cNvSpPr>
              <a:spLocks noChangeArrowheads="1"/>
            </p:cNvSpPr>
            <p:nvPr/>
          </p:nvSpPr>
          <p:spPr bwMode="auto">
            <a:xfrm>
              <a:off x="2057400" y="56388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2" name="Oval 76"/>
            <p:cNvSpPr>
              <a:spLocks noChangeArrowheads="1"/>
            </p:cNvSpPr>
            <p:nvPr/>
          </p:nvSpPr>
          <p:spPr bwMode="auto">
            <a:xfrm>
              <a:off x="2057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3" name="Oval 77"/>
            <p:cNvSpPr>
              <a:spLocks noChangeArrowheads="1"/>
            </p:cNvSpPr>
            <p:nvPr/>
          </p:nvSpPr>
          <p:spPr bwMode="auto">
            <a:xfrm>
              <a:off x="5486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4" name="Line 78"/>
            <p:cNvSpPr>
              <a:spLocks noChangeShapeType="1"/>
            </p:cNvSpPr>
            <p:nvPr/>
          </p:nvSpPr>
          <p:spPr bwMode="auto">
            <a:xfrm>
              <a:off x="5715000" y="4038600"/>
              <a:ext cx="1270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55" name="Oval 79"/>
            <p:cNvSpPr>
              <a:spLocks noChangeArrowheads="1"/>
            </p:cNvSpPr>
            <p:nvPr/>
          </p:nvSpPr>
          <p:spPr bwMode="auto">
            <a:xfrm>
              <a:off x="5715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6" name="Oval 80"/>
            <p:cNvSpPr>
              <a:spLocks noChangeArrowheads="1"/>
            </p:cNvSpPr>
            <p:nvPr/>
          </p:nvSpPr>
          <p:spPr bwMode="auto">
            <a:xfrm>
              <a:off x="5334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7" name="Line 81"/>
            <p:cNvSpPr>
              <a:spLocks noChangeShapeType="1"/>
            </p:cNvSpPr>
            <p:nvPr/>
          </p:nvSpPr>
          <p:spPr bwMode="auto">
            <a:xfrm>
              <a:off x="5943600" y="46482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58" name="Oval 82"/>
            <p:cNvSpPr>
              <a:spLocks noChangeArrowheads="1"/>
            </p:cNvSpPr>
            <p:nvPr/>
          </p:nvSpPr>
          <p:spPr bwMode="auto">
            <a:xfrm>
              <a:off x="5943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9" name="Line 83"/>
            <p:cNvSpPr>
              <a:spLocks noChangeShapeType="1"/>
            </p:cNvSpPr>
            <p:nvPr/>
          </p:nvSpPr>
          <p:spPr bwMode="auto">
            <a:xfrm flipH="1">
              <a:off x="4724400" y="40386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60" name="Oval 84"/>
            <p:cNvSpPr>
              <a:spLocks noChangeArrowheads="1"/>
            </p:cNvSpPr>
            <p:nvPr/>
          </p:nvSpPr>
          <p:spPr bwMode="auto">
            <a:xfrm>
              <a:off x="4724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1" name="Line 85"/>
            <p:cNvSpPr>
              <a:spLocks noChangeShapeType="1"/>
            </p:cNvSpPr>
            <p:nvPr/>
          </p:nvSpPr>
          <p:spPr bwMode="auto">
            <a:xfrm>
              <a:off x="4953000" y="4038600"/>
              <a:ext cx="1270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62" name="Oval 86"/>
            <p:cNvSpPr>
              <a:spLocks noChangeArrowheads="1"/>
            </p:cNvSpPr>
            <p:nvPr/>
          </p:nvSpPr>
          <p:spPr bwMode="auto">
            <a:xfrm>
              <a:off x="4953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3" name="Oval 87"/>
            <p:cNvSpPr>
              <a:spLocks noChangeArrowheads="1"/>
            </p:cNvSpPr>
            <p:nvPr/>
          </p:nvSpPr>
          <p:spPr bwMode="auto">
            <a:xfrm>
              <a:off x="4572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4" name="Line 88"/>
            <p:cNvSpPr>
              <a:spLocks noChangeShapeType="1"/>
            </p:cNvSpPr>
            <p:nvPr/>
          </p:nvSpPr>
          <p:spPr bwMode="auto">
            <a:xfrm flipH="1">
              <a:off x="4953000" y="46482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65" name="Oval 89"/>
            <p:cNvSpPr>
              <a:spLocks noChangeArrowheads="1"/>
            </p:cNvSpPr>
            <p:nvPr/>
          </p:nvSpPr>
          <p:spPr bwMode="auto">
            <a:xfrm>
              <a:off x="4800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6" name="Oval 90"/>
            <p:cNvSpPr>
              <a:spLocks noChangeArrowheads="1"/>
            </p:cNvSpPr>
            <p:nvPr/>
          </p:nvSpPr>
          <p:spPr bwMode="auto">
            <a:xfrm>
              <a:off x="40386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7" name="Oval 91"/>
            <p:cNvSpPr>
              <a:spLocks noChangeArrowheads="1"/>
            </p:cNvSpPr>
            <p:nvPr/>
          </p:nvSpPr>
          <p:spPr bwMode="auto">
            <a:xfrm>
              <a:off x="4191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8" name="Oval 92"/>
            <p:cNvSpPr>
              <a:spLocks noChangeArrowheads="1"/>
            </p:cNvSpPr>
            <p:nvPr/>
          </p:nvSpPr>
          <p:spPr bwMode="auto">
            <a:xfrm>
              <a:off x="3810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9" name="Oval 93"/>
            <p:cNvSpPr>
              <a:spLocks noChangeArrowheads="1"/>
            </p:cNvSpPr>
            <p:nvPr/>
          </p:nvSpPr>
          <p:spPr bwMode="auto">
            <a:xfrm>
              <a:off x="4038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70" name="Line 94"/>
            <p:cNvSpPr>
              <a:spLocks noChangeShapeType="1"/>
            </p:cNvSpPr>
            <p:nvPr/>
          </p:nvSpPr>
          <p:spPr bwMode="auto">
            <a:xfrm>
              <a:off x="3505200" y="4038600"/>
              <a:ext cx="762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71" name="Line 95"/>
            <p:cNvSpPr>
              <a:spLocks noChangeShapeType="1"/>
            </p:cNvSpPr>
            <p:nvPr/>
          </p:nvSpPr>
          <p:spPr bwMode="auto">
            <a:xfrm flipH="1">
              <a:off x="3048000" y="4648200"/>
              <a:ext cx="762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72" name="Line 96"/>
            <p:cNvSpPr>
              <a:spLocks noChangeShapeType="1"/>
            </p:cNvSpPr>
            <p:nvPr/>
          </p:nvSpPr>
          <p:spPr bwMode="auto">
            <a:xfrm flipH="1">
              <a:off x="3200400" y="4038600"/>
              <a:ext cx="1524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73" name="Oval 97"/>
            <p:cNvSpPr>
              <a:spLocks noChangeArrowheads="1"/>
            </p:cNvSpPr>
            <p:nvPr/>
          </p:nvSpPr>
          <p:spPr bwMode="auto">
            <a:xfrm>
              <a:off x="32766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74" name="Oval 98"/>
            <p:cNvSpPr>
              <a:spLocks noChangeArrowheads="1"/>
            </p:cNvSpPr>
            <p:nvPr/>
          </p:nvSpPr>
          <p:spPr bwMode="auto">
            <a:xfrm>
              <a:off x="3429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75" name="Oval 99"/>
            <p:cNvSpPr>
              <a:spLocks noChangeArrowheads="1"/>
            </p:cNvSpPr>
            <p:nvPr/>
          </p:nvSpPr>
          <p:spPr bwMode="auto">
            <a:xfrm>
              <a:off x="3048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76" name="Oval 100"/>
            <p:cNvSpPr>
              <a:spLocks noChangeArrowheads="1"/>
            </p:cNvSpPr>
            <p:nvPr/>
          </p:nvSpPr>
          <p:spPr bwMode="auto">
            <a:xfrm>
              <a:off x="2895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77" name="Line 101"/>
            <p:cNvSpPr>
              <a:spLocks noChangeShapeType="1"/>
            </p:cNvSpPr>
            <p:nvPr/>
          </p:nvSpPr>
          <p:spPr bwMode="auto">
            <a:xfrm>
              <a:off x="6858000" y="5257800"/>
              <a:ext cx="76200" cy="4572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78" name="Line 102"/>
            <p:cNvSpPr>
              <a:spLocks noChangeShapeType="1"/>
            </p:cNvSpPr>
            <p:nvPr/>
          </p:nvSpPr>
          <p:spPr bwMode="auto">
            <a:xfrm>
              <a:off x="6858000" y="3962400"/>
              <a:ext cx="762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79" name="Line 103"/>
            <p:cNvSpPr>
              <a:spLocks noChangeShapeType="1"/>
            </p:cNvSpPr>
            <p:nvPr/>
          </p:nvSpPr>
          <p:spPr bwMode="auto">
            <a:xfrm flipH="1">
              <a:off x="6400800" y="4648200"/>
              <a:ext cx="152400" cy="1143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80" name="Oval 104"/>
            <p:cNvSpPr>
              <a:spLocks noChangeArrowheads="1"/>
            </p:cNvSpPr>
            <p:nvPr/>
          </p:nvSpPr>
          <p:spPr bwMode="auto">
            <a:xfrm>
              <a:off x="67818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1" name="Oval 105"/>
            <p:cNvSpPr>
              <a:spLocks noChangeArrowheads="1"/>
            </p:cNvSpPr>
            <p:nvPr/>
          </p:nvSpPr>
          <p:spPr bwMode="auto">
            <a:xfrm>
              <a:off x="6705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400">
                  <a:latin typeface="Times New Roman" panose="02020603050405020304" pitchFamily="18" charset="0"/>
                  <a:ea typeface="宋体" panose="02010600030101010101" pitchFamily="2" charset="-122"/>
                </a:rPr>
                <a:t>  </a:t>
              </a:r>
              <a:endParaRPr kumimoji="1" lang="en-US" altLang="zh-CN" sz="2400">
                <a:latin typeface="Times New Roman" panose="02020603050405020304" pitchFamily="18" charset="0"/>
                <a:ea typeface="宋体" panose="02010600030101010101" pitchFamily="2" charset="-122"/>
              </a:endParaRPr>
            </a:p>
          </p:txBody>
        </p:sp>
        <p:sp>
          <p:nvSpPr>
            <p:cNvPr id="75882" name="Oval 106"/>
            <p:cNvSpPr>
              <a:spLocks noChangeArrowheads="1"/>
            </p:cNvSpPr>
            <p:nvPr/>
          </p:nvSpPr>
          <p:spPr bwMode="auto">
            <a:xfrm>
              <a:off x="6781800" y="56388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3" name="Oval 107"/>
            <p:cNvSpPr>
              <a:spLocks noChangeArrowheads="1"/>
            </p:cNvSpPr>
            <p:nvPr/>
          </p:nvSpPr>
          <p:spPr bwMode="auto">
            <a:xfrm>
              <a:off x="67056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4" name="Line 108"/>
            <p:cNvSpPr>
              <a:spLocks noChangeShapeType="1"/>
            </p:cNvSpPr>
            <p:nvPr/>
          </p:nvSpPr>
          <p:spPr bwMode="auto">
            <a:xfrm>
              <a:off x="6477000" y="3962400"/>
              <a:ext cx="762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85" name="Oval 109"/>
            <p:cNvSpPr>
              <a:spLocks noChangeArrowheads="1"/>
            </p:cNvSpPr>
            <p:nvPr/>
          </p:nvSpPr>
          <p:spPr bwMode="auto">
            <a:xfrm>
              <a:off x="64008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6" name="Oval 110"/>
            <p:cNvSpPr>
              <a:spLocks noChangeArrowheads="1"/>
            </p:cNvSpPr>
            <p:nvPr/>
          </p:nvSpPr>
          <p:spPr bwMode="auto">
            <a:xfrm>
              <a:off x="6324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7" name="Oval 111"/>
            <p:cNvSpPr>
              <a:spLocks noChangeArrowheads="1"/>
            </p:cNvSpPr>
            <p:nvPr/>
          </p:nvSpPr>
          <p:spPr bwMode="auto">
            <a:xfrm>
              <a:off x="6248400" y="56388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8" name="Oval 112"/>
            <p:cNvSpPr>
              <a:spLocks noChangeArrowheads="1"/>
            </p:cNvSpPr>
            <p:nvPr/>
          </p:nvSpPr>
          <p:spPr bwMode="auto">
            <a:xfrm>
              <a:off x="63246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9" name="Line 113"/>
            <p:cNvSpPr>
              <a:spLocks noChangeShapeType="1"/>
            </p:cNvSpPr>
            <p:nvPr/>
          </p:nvSpPr>
          <p:spPr bwMode="auto">
            <a:xfrm flipH="1">
              <a:off x="1727200" y="4038600"/>
              <a:ext cx="1016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90" name="Oval 114"/>
            <p:cNvSpPr>
              <a:spLocks noChangeArrowheads="1"/>
            </p:cNvSpPr>
            <p:nvPr/>
          </p:nvSpPr>
          <p:spPr bwMode="auto">
            <a:xfrm>
              <a:off x="1676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91" name="Oval 115"/>
            <p:cNvSpPr>
              <a:spLocks noChangeArrowheads="1"/>
            </p:cNvSpPr>
            <p:nvPr/>
          </p:nvSpPr>
          <p:spPr bwMode="auto">
            <a:xfrm>
              <a:off x="16002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92" name="Line 116"/>
            <p:cNvSpPr>
              <a:spLocks noChangeShapeType="1"/>
            </p:cNvSpPr>
            <p:nvPr/>
          </p:nvSpPr>
          <p:spPr bwMode="auto">
            <a:xfrm>
              <a:off x="1752600" y="4648200"/>
              <a:ext cx="1270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93" name="Oval 117"/>
            <p:cNvSpPr>
              <a:spLocks noChangeArrowheads="1"/>
            </p:cNvSpPr>
            <p:nvPr/>
          </p:nvSpPr>
          <p:spPr bwMode="auto">
            <a:xfrm>
              <a:off x="1752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94" name="Oval 118"/>
            <p:cNvSpPr>
              <a:spLocks noChangeArrowheads="1"/>
            </p:cNvSpPr>
            <p:nvPr/>
          </p:nvSpPr>
          <p:spPr bwMode="auto">
            <a:xfrm>
              <a:off x="1371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95" name="Line 119"/>
            <p:cNvSpPr>
              <a:spLocks noChangeShapeType="1"/>
            </p:cNvSpPr>
            <p:nvPr/>
          </p:nvSpPr>
          <p:spPr bwMode="auto">
            <a:xfrm>
              <a:off x="1143000" y="5257800"/>
              <a:ext cx="1524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96" name="Line 120"/>
            <p:cNvSpPr>
              <a:spLocks noChangeShapeType="1"/>
            </p:cNvSpPr>
            <p:nvPr/>
          </p:nvSpPr>
          <p:spPr bwMode="auto">
            <a:xfrm flipH="1">
              <a:off x="609600" y="4038600"/>
              <a:ext cx="457200" cy="1676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97" name="Oval 121"/>
            <p:cNvSpPr>
              <a:spLocks noChangeArrowheads="1"/>
            </p:cNvSpPr>
            <p:nvPr/>
          </p:nvSpPr>
          <p:spPr bwMode="auto">
            <a:xfrm flipH="1">
              <a:off x="1295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98" name="Oval 122"/>
            <p:cNvSpPr>
              <a:spLocks noChangeArrowheads="1"/>
            </p:cNvSpPr>
            <p:nvPr/>
          </p:nvSpPr>
          <p:spPr bwMode="auto">
            <a:xfrm flipH="1">
              <a:off x="1143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99" name="Oval 123"/>
            <p:cNvSpPr>
              <a:spLocks noChangeArrowheads="1"/>
            </p:cNvSpPr>
            <p:nvPr/>
          </p:nvSpPr>
          <p:spPr bwMode="auto">
            <a:xfrm flipH="1">
              <a:off x="609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900" name="Oval 124"/>
            <p:cNvSpPr>
              <a:spLocks noChangeArrowheads="1"/>
            </p:cNvSpPr>
            <p:nvPr/>
          </p:nvSpPr>
          <p:spPr bwMode="auto">
            <a:xfrm flipH="1">
              <a:off x="381000" y="56388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901" name="Oval 125"/>
            <p:cNvSpPr>
              <a:spLocks noChangeArrowheads="1"/>
            </p:cNvSpPr>
            <p:nvPr/>
          </p:nvSpPr>
          <p:spPr bwMode="auto">
            <a:xfrm flipH="1">
              <a:off x="1143000" y="56388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902" name="Oval 126"/>
            <p:cNvSpPr>
              <a:spLocks noChangeArrowheads="1"/>
            </p:cNvSpPr>
            <p:nvPr/>
          </p:nvSpPr>
          <p:spPr bwMode="auto">
            <a:xfrm flipH="1">
              <a:off x="914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903" name="Oval 127"/>
            <p:cNvSpPr>
              <a:spLocks noChangeArrowheads="1"/>
            </p:cNvSpPr>
            <p:nvPr/>
          </p:nvSpPr>
          <p:spPr bwMode="auto">
            <a:xfrm flipH="1">
              <a:off x="762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904" name="Oval 128"/>
            <p:cNvSpPr>
              <a:spLocks noChangeArrowheads="1"/>
            </p:cNvSpPr>
            <p:nvPr/>
          </p:nvSpPr>
          <p:spPr bwMode="auto">
            <a:xfrm flipH="1">
              <a:off x="990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905" name="Text Box 129"/>
            <p:cNvSpPr txBox="1">
              <a:spLocks noChangeArrowheads="1"/>
            </p:cNvSpPr>
            <p:nvPr/>
          </p:nvSpPr>
          <p:spPr bwMode="auto">
            <a:xfrm>
              <a:off x="3949700" y="5576888"/>
              <a:ext cx="11017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baseline="-25000">
                  <a:solidFill>
                    <a:srgbClr val="009900"/>
                  </a:solidFill>
                  <a:latin typeface="Times New Roman" panose="02020603050405020304" pitchFamily="18" charset="0"/>
                  <a:ea typeface="宋体" panose="02010600030101010101" pitchFamily="2" charset="-122"/>
                </a:rPr>
                <a:t>4 </a:t>
              </a:r>
              <a:r>
                <a:rPr kumimoji="1" lang="en-US" altLang="zh-CN" sz="2800" b="1">
                  <a:solidFill>
                    <a:srgbClr val="009900"/>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grpSp>
      <p:sp>
        <p:nvSpPr>
          <p:cNvPr id="2" name="标题 1"/>
          <p:cNvSpPr>
            <a:spLocks noGrp="1"/>
          </p:cNvSpPr>
          <p:nvPr>
            <p:ph type="title"/>
          </p:nvPr>
        </p:nvSpPr>
        <p:spPr/>
        <p:txBody>
          <a:bodyPr/>
          <a:lstStyle/>
          <a:p>
            <a:r>
              <a:rPr lang="zh-CN" altLang="en-US" dirty="0"/>
              <a:t>有</a:t>
            </a:r>
            <a:r>
              <a:rPr lang="en-US" altLang="zh-CN" dirty="0"/>
              <a:t>0~4</a:t>
            </a:r>
            <a:r>
              <a:rPr lang="zh-CN" altLang="en-US" dirty="0"/>
              <a:t>个结点的不同二叉树形态</a:t>
            </a:r>
            <a:endParaRPr lang="zh-CN" altLang="en-US" dirty="0"/>
          </a:p>
        </p:txBody>
      </p:sp>
      <p:sp>
        <p:nvSpPr>
          <p:cNvPr id="4" name="灯片编号占位符 3"/>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Line 2"/>
          <p:cNvSpPr>
            <a:spLocks noChangeShapeType="1"/>
          </p:cNvSpPr>
          <p:nvPr/>
        </p:nvSpPr>
        <p:spPr bwMode="auto">
          <a:xfrm>
            <a:off x="6934200" y="1752600"/>
            <a:ext cx="533400" cy="533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3" name="Line 3"/>
          <p:cNvSpPr>
            <a:spLocks noChangeShapeType="1"/>
          </p:cNvSpPr>
          <p:nvPr/>
        </p:nvSpPr>
        <p:spPr bwMode="auto">
          <a:xfrm flipH="1">
            <a:off x="6096000" y="1752600"/>
            <a:ext cx="533400" cy="533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6804" name="Object 4"/>
          <p:cNvGraphicFramePr>
            <a:graphicFrameLocks noChangeAspect="1"/>
          </p:cNvGraphicFramePr>
          <p:nvPr/>
        </p:nvGraphicFramePr>
        <p:xfrm>
          <a:off x="1143000" y="3276600"/>
          <a:ext cx="4876800" cy="960438"/>
        </p:xfrm>
        <a:graphic>
          <a:graphicData uri="http://schemas.openxmlformats.org/presentationml/2006/ole">
            <mc:AlternateContent xmlns:mc="http://schemas.openxmlformats.org/markup-compatibility/2006">
              <mc:Choice xmlns:v="urn:schemas-microsoft-com:vml" Requires="v">
                <p:oleObj spid="_x0000_s2" name="公式" r:id="rId1" imgW="1739900" imgH="393700" progId="Equation.3">
                  <p:embed/>
                </p:oleObj>
              </mc:Choice>
              <mc:Fallback>
                <p:oleObj name="公式" r:id="rId1" imgW="1739900" imgH="3937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276600"/>
                        <a:ext cx="4876800" cy="96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086" name="Text Box 6"/>
          <p:cNvSpPr txBox="1">
            <a:spLocks noChangeArrowheads="1"/>
          </p:cNvSpPr>
          <p:nvPr/>
        </p:nvSpPr>
        <p:spPr bwMode="auto">
          <a:xfrm>
            <a:off x="712788" y="2559050"/>
            <a:ext cx="2603500" cy="641350"/>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en-US" altLang="en-GB" sz="3600" i="1">
                <a:solidFill>
                  <a:srgbClr val="008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Catalan</a:t>
            </a:r>
            <a:r>
              <a:rPr lang="zh-CN" altLang="en-GB" sz="3600">
                <a:solidFill>
                  <a:srgbClr val="008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函数</a:t>
            </a:r>
            <a:endParaRPr lang="zh-CN" altLang="en-US">
              <a:latin typeface="Arial" panose="020B0604020202020204" pitchFamily="34" charset="0"/>
              <a:ea typeface="黑体" panose="02010609060101010101" pitchFamily="2" charset="-122"/>
            </a:endParaRPr>
          </a:p>
        </p:txBody>
      </p:sp>
      <p:sp>
        <p:nvSpPr>
          <p:cNvPr id="76808" name="Oval 8" descr="羊皮纸"/>
          <p:cNvSpPr>
            <a:spLocks noChangeArrowheads="1"/>
          </p:cNvSpPr>
          <p:nvPr/>
        </p:nvSpPr>
        <p:spPr bwMode="auto">
          <a:xfrm>
            <a:off x="6553200" y="1371600"/>
            <a:ext cx="533400" cy="533400"/>
          </a:xfrm>
          <a:prstGeom prst="ellipse">
            <a:avLst/>
          </a:prstGeom>
          <a:blipFill dpi="0" rotWithShape="0">
            <a:blip r:embed="rId3"/>
            <a:srcRect/>
            <a:tile tx="0" ty="0" sx="100000" sy="100000" flip="none" algn="tl"/>
          </a:blip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76809" name="Oval 9" descr="羊皮纸"/>
          <p:cNvSpPr>
            <a:spLocks noChangeArrowheads="1"/>
          </p:cNvSpPr>
          <p:nvPr/>
        </p:nvSpPr>
        <p:spPr bwMode="auto">
          <a:xfrm>
            <a:off x="5181600" y="2209800"/>
            <a:ext cx="1447800" cy="609600"/>
          </a:xfrm>
          <a:prstGeom prst="ellipse">
            <a:avLst/>
          </a:prstGeom>
          <a:blipFill dpi="0" rotWithShape="0">
            <a:blip r:embed="rId3"/>
            <a:srcRect/>
            <a:tile tx="0" ty="0" sx="100000" sy="100000" flip="none" algn="tl"/>
          </a:blip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76810" name="Oval 10" descr="羊皮纸"/>
          <p:cNvSpPr>
            <a:spLocks noChangeArrowheads="1"/>
          </p:cNvSpPr>
          <p:nvPr/>
        </p:nvSpPr>
        <p:spPr bwMode="auto">
          <a:xfrm>
            <a:off x="6934200" y="2209800"/>
            <a:ext cx="1524000" cy="609600"/>
          </a:xfrm>
          <a:prstGeom prst="ellipse">
            <a:avLst/>
          </a:prstGeom>
          <a:blipFill dpi="0" rotWithShape="0">
            <a:blip r:embed="rId3"/>
            <a:srcRect/>
            <a:tile tx="0" ty="0" sx="100000" sy="100000" flip="none" algn="tl"/>
          </a:blip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430091" name="Text Box 11"/>
          <p:cNvSpPr txBox="1">
            <a:spLocks noChangeArrowheads="1"/>
          </p:cNvSpPr>
          <p:nvPr/>
        </p:nvSpPr>
        <p:spPr bwMode="auto">
          <a:xfrm>
            <a:off x="5637213" y="2133600"/>
            <a:ext cx="534987" cy="641350"/>
          </a:xfrm>
          <a:prstGeom prst="rect">
            <a:avLst/>
          </a:prstGeom>
          <a:noFill/>
          <a:ln w="38100">
            <a:noFill/>
            <a:miter lim="800000"/>
          </a:ln>
          <a:effectLst/>
        </p:spPr>
        <p:txBody>
          <a:bodyPr anchor="ctr">
            <a:spAutoFit/>
          </a:bodyPr>
          <a:lstStyle/>
          <a:p>
            <a:pPr algn="ctr" eaLnBrk="1" fontAlgn="auto" hangingPunct="1">
              <a:spcBef>
                <a:spcPts val="0"/>
              </a:spcBef>
              <a:spcAft>
                <a:spcPts val="0"/>
              </a:spcAft>
              <a:defRPr/>
            </a:pPr>
            <a:r>
              <a:rPr lang="en-US" altLang="zh-CN" sz="3600" i="1">
                <a:solidFill>
                  <a:schemeClr val="accent2"/>
                </a:solidFill>
                <a:effectLst>
                  <a:outerShdw blurRad="38100" dist="38100" dir="2700000" algn="tl">
                    <a:srgbClr val="C0C0C0"/>
                  </a:outerShdw>
                </a:effectLst>
                <a:latin typeface="Times New Roman" panose="02020603050405020304" pitchFamily="18" charset="0"/>
                <a:ea typeface="+mn-ea"/>
              </a:rPr>
              <a:t>b</a:t>
            </a:r>
            <a:r>
              <a:rPr lang="en-US" altLang="zh-CN" sz="3600" i="1" baseline="-25000">
                <a:solidFill>
                  <a:schemeClr val="accent2"/>
                </a:solidFill>
                <a:effectLst>
                  <a:outerShdw blurRad="38100" dist="38100" dir="2700000" algn="tl">
                    <a:srgbClr val="C0C0C0"/>
                  </a:outerShdw>
                </a:effectLst>
                <a:latin typeface="Times New Roman" panose="02020603050405020304" pitchFamily="18" charset="0"/>
                <a:ea typeface="+mn-ea"/>
              </a:rPr>
              <a:t>i</a:t>
            </a:r>
            <a:endParaRPr lang="en-US" altLang="zh-CN" sz="3600" i="1">
              <a:effectLst>
                <a:outerShdw blurRad="38100" dist="38100" dir="2700000" algn="tl">
                  <a:srgbClr val="C0C0C0"/>
                </a:outerShdw>
              </a:effectLst>
              <a:latin typeface="Times New Roman" panose="02020603050405020304" pitchFamily="18" charset="0"/>
              <a:ea typeface="+mn-ea"/>
            </a:endParaRPr>
          </a:p>
        </p:txBody>
      </p:sp>
      <p:sp>
        <p:nvSpPr>
          <p:cNvPr id="430092" name="Text Box 12"/>
          <p:cNvSpPr txBox="1">
            <a:spLocks noChangeArrowheads="1"/>
          </p:cNvSpPr>
          <p:nvPr/>
        </p:nvSpPr>
        <p:spPr bwMode="auto">
          <a:xfrm>
            <a:off x="7086600" y="2133600"/>
            <a:ext cx="1219200" cy="641350"/>
          </a:xfrm>
          <a:prstGeom prst="rect">
            <a:avLst/>
          </a:prstGeom>
          <a:noFill/>
          <a:ln w="38100">
            <a:noFill/>
            <a:miter lim="800000"/>
          </a:ln>
          <a:effectLst/>
        </p:spPr>
        <p:txBody>
          <a:bodyPr anchor="ctr">
            <a:spAutoFit/>
          </a:bodyPr>
          <a:lstStyle/>
          <a:p>
            <a:pPr algn="ctr" eaLnBrk="1" fontAlgn="auto" hangingPunct="1">
              <a:spcBef>
                <a:spcPts val="0"/>
              </a:spcBef>
              <a:spcAft>
                <a:spcPts val="0"/>
              </a:spcAft>
              <a:defRPr/>
            </a:pPr>
            <a:r>
              <a:rPr lang="en-US" altLang="zh-CN" sz="3600" i="1">
                <a:solidFill>
                  <a:schemeClr val="accent2"/>
                </a:solidFill>
                <a:effectLst>
                  <a:outerShdw blurRad="38100" dist="38100" dir="2700000" algn="tl">
                    <a:srgbClr val="C0C0C0"/>
                  </a:outerShdw>
                </a:effectLst>
                <a:latin typeface="Times New Roman" panose="02020603050405020304" pitchFamily="18" charset="0"/>
                <a:ea typeface="+mn-ea"/>
              </a:rPr>
              <a:t>b</a:t>
            </a:r>
            <a:r>
              <a:rPr lang="en-US" altLang="zh-CN" sz="3600" i="1" baseline="-25000">
                <a:solidFill>
                  <a:schemeClr val="accent2"/>
                </a:solidFill>
                <a:effectLst>
                  <a:outerShdw blurRad="38100" dist="38100" dir="2700000" algn="tl">
                    <a:srgbClr val="C0C0C0"/>
                  </a:outerShdw>
                </a:effectLst>
                <a:latin typeface="Times New Roman" panose="02020603050405020304" pitchFamily="18" charset="0"/>
                <a:ea typeface="+mn-ea"/>
              </a:rPr>
              <a:t>n-i-</a:t>
            </a:r>
            <a:r>
              <a:rPr lang="en-US" altLang="zh-CN" sz="3600" baseline="-25000">
                <a:solidFill>
                  <a:schemeClr val="accent2"/>
                </a:solidFill>
                <a:effectLst>
                  <a:outerShdw blurRad="38100" dist="38100" dir="2700000" algn="tl">
                    <a:srgbClr val="C0C0C0"/>
                  </a:outerShdw>
                </a:effectLst>
                <a:latin typeface="Times New Roman" panose="02020603050405020304" pitchFamily="18" charset="0"/>
                <a:ea typeface="+mn-ea"/>
              </a:rPr>
              <a:t>1</a:t>
            </a:r>
            <a:endParaRPr lang="en-US" altLang="zh-CN" sz="3200" i="1">
              <a:effectLst>
                <a:outerShdw blurRad="38100" dist="38100" dir="2700000" algn="tl">
                  <a:srgbClr val="C0C0C0"/>
                </a:outerShdw>
              </a:effectLst>
              <a:latin typeface="Times New Roman" panose="02020603050405020304" pitchFamily="18" charset="0"/>
              <a:ea typeface="+mn-ea"/>
            </a:endParaRPr>
          </a:p>
        </p:txBody>
      </p:sp>
      <p:sp>
        <p:nvSpPr>
          <p:cNvPr id="76813" name="Text Box 13"/>
          <p:cNvSpPr txBox="1">
            <a:spLocks noChangeArrowheads="1"/>
          </p:cNvSpPr>
          <p:nvPr/>
        </p:nvSpPr>
        <p:spPr bwMode="auto">
          <a:xfrm>
            <a:off x="6629400" y="13255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graphicFrame>
        <p:nvGraphicFramePr>
          <p:cNvPr id="76814" name="Object 14"/>
          <p:cNvGraphicFramePr>
            <a:graphicFrameLocks noChangeAspect="1"/>
          </p:cNvGraphicFramePr>
          <p:nvPr/>
        </p:nvGraphicFramePr>
        <p:xfrm>
          <a:off x="4514850" y="3321050"/>
          <a:ext cx="112713" cy="214313"/>
        </p:xfrm>
        <a:graphic>
          <a:graphicData uri="http://schemas.openxmlformats.org/presentationml/2006/ole">
            <mc:AlternateContent xmlns:mc="http://schemas.openxmlformats.org/markup-compatibility/2006">
              <mc:Choice xmlns:v="urn:schemas-microsoft-com:vml" Requires="v">
                <p:oleObj spid="_x0000_s3" name="公式" r:id="rId4" imgW="114300" imgH="215900" progId="Equation.3">
                  <p:embed/>
                </p:oleObj>
              </mc:Choice>
              <mc:Fallback>
                <p:oleObj name="公式" r:id="rId4" imgW="114300" imgH="215900"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21050"/>
                        <a:ext cx="11271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5" name="Object 15"/>
          <p:cNvGraphicFramePr>
            <a:graphicFrameLocks noChangeAspect="1"/>
          </p:cNvGraphicFramePr>
          <p:nvPr/>
        </p:nvGraphicFramePr>
        <p:xfrm>
          <a:off x="2430947" y="1398857"/>
          <a:ext cx="2743200" cy="1206500"/>
        </p:xfrm>
        <a:graphic>
          <a:graphicData uri="http://schemas.openxmlformats.org/presentationml/2006/ole">
            <mc:AlternateContent xmlns:mc="http://schemas.openxmlformats.org/markup-compatibility/2006">
              <mc:Choice xmlns:v="urn:schemas-microsoft-com:vml" Requires="v">
                <p:oleObj spid="_x0000_s4" name="公式" r:id="rId6" imgW="1028065" imgH="431800" progId="Equation.3">
                  <p:embed/>
                </p:oleObj>
              </mc:Choice>
              <mc:Fallback>
                <p:oleObj name="公式" r:id="rId6" imgW="1028065" imgH="431800"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0947" y="1398857"/>
                        <a:ext cx="274320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6" name="Object 16"/>
          <p:cNvGraphicFramePr>
            <a:graphicFrameLocks noChangeAspect="1"/>
          </p:cNvGraphicFramePr>
          <p:nvPr/>
        </p:nvGraphicFramePr>
        <p:xfrm>
          <a:off x="1143000" y="4419600"/>
          <a:ext cx="4343400" cy="914400"/>
        </p:xfrm>
        <a:graphic>
          <a:graphicData uri="http://schemas.openxmlformats.org/presentationml/2006/ole">
            <mc:AlternateContent xmlns:mc="http://schemas.openxmlformats.org/markup-compatibility/2006">
              <mc:Choice xmlns:v="urn:schemas-microsoft-com:vml" Requires="v">
                <p:oleObj spid="_x0000_s5" name="公式" r:id="rId8" imgW="1701800" imgH="393700" progId="Equation.3">
                  <p:embed/>
                </p:oleObj>
              </mc:Choice>
              <mc:Fallback>
                <p:oleObj name="公式" r:id="rId8" imgW="1701800" imgH="393700"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3000" y="4419600"/>
                        <a:ext cx="4343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7" name="Object 17"/>
          <p:cNvGraphicFramePr>
            <a:graphicFrameLocks noChangeAspect="1"/>
          </p:cNvGraphicFramePr>
          <p:nvPr/>
        </p:nvGraphicFramePr>
        <p:xfrm>
          <a:off x="1143000" y="5486400"/>
          <a:ext cx="4495800" cy="914400"/>
        </p:xfrm>
        <a:graphic>
          <a:graphicData uri="http://schemas.openxmlformats.org/presentationml/2006/ole">
            <mc:AlternateContent xmlns:mc="http://schemas.openxmlformats.org/markup-compatibility/2006">
              <mc:Choice xmlns:v="urn:schemas-microsoft-com:vml" Requires="v">
                <p:oleObj spid="_x0000_s6" name="公式" r:id="rId10" imgW="1917065" imgH="393700" progId="Equation.3">
                  <p:embed/>
                </p:oleObj>
              </mc:Choice>
              <mc:Fallback>
                <p:oleObj name="公式" r:id="rId10" imgW="1917065" imgH="393700" progId="Equation.3">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43000" y="5486400"/>
                        <a:ext cx="4495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标题 6"/>
          <p:cNvSpPr>
            <a:spLocks noGrp="1"/>
          </p:cNvSpPr>
          <p:nvPr>
            <p:ph type="title"/>
          </p:nvPr>
        </p:nvSpPr>
        <p:spPr/>
        <p:txBody>
          <a:bodyPr/>
          <a:lstStyle/>
          <a:p>
            <a:r>
              <a:rPr lang="zh-CN" altLang="en-US" dirty="0"/>
              <a:t>计算具有 </a:t>
            </a:r>
            <a:r>
              <a:rPr lang="en-US" altLang="zh-CN" dirty="0"/>
              <a:t>n </a:t>
            </a:r>
            <a:r>
              <a:rPr lang="zh-CN" altLang="en-US" dirty="0"/>
              <a:t>个结点的不同二叉树的棵数</a:t>
            </a:r>
            <a:endParaRPr lang="zh-CN" altLang="en-US" dirty="0"/>
          </a:p>
        </p:txBody>
      </p:sp>
      <p:sp>
        <p:nvSpPr>
          <p:cNvPr id="8" name="灯片编号占位符 7"/>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rtlCol="0">
            <a:normAutofit/>
          </a:bodyPr>
          <a:lstStyle/>
          <a:p>
            <a:pPr eaLnBrk="1" fontAlgn="auto" hangingPunct="1">
              <a:spcAft>
                <a:spcPts val="0"/>
              </a:spcAft>
              <a:defRPr/>
            </a:pPr>
            <a:r>
              <a:rPr lang="zh-CN" altLang="en-US" dirty="0"/>
              <a:t>第</a:t>
            </a:r>
            <a:r>
              <a:rPr lang="en-US" altLang="zh-CN" dirty="0"/>
              <a:t>5</a:t>
            </a:r>
            <a:r>
              <a:rPr lang="zh-CN" altLang="en-US" dirty="0"/>
              <a:t>章作业</a:t>
            </a:r>
            <a:r>
              <a:rPr lang="en-US" altLang="zh-CN" dirty="0"/>
              <a:t>1</a:t>
            </a:r>
            <a:r>
              <a:rPr lang="zh-CN" altLang="en-US" dirty="0"/>
              <a:t>（</a:t>
            </a:r>
            <a:r>
              <a:rPr lang="en-US" altLang="zh-CN" dirty="0"/>
              <a:t>1</a:t>
            </a:r>
            <a:r>
              <a:rPr lang="zh-CN" altLang="en-US" dirty="0"/>
              <a:t>）</a:t>
            </a:r>
            <a:endParaRPr lang="zh-CN" altLang="en-US" dirty="0"/>
          </a:p>
        </p:txBody>
      </p:sp>
      <p:sp>
        <p:nvSpPr>
          <p:cNvPr id="84995" name="Rectangle 3"/>
          <p:cNvSpPr>
            <a:spLocks noGrp="1"/>
          </p:cNvSpPr>
          <p:nvPr>
            <p:ph idx="1"/>
          </p:nvPr>
        </p:nvSpPr>
        <p:spPr>
          <a:xfrm>
            <a:off x="392113" y="1981200"/>
            <a:ext cx="8520112" cy="4114800"/>
          </a:xfrm>
        </p:spPr>
        <p:txBody>
          <a:bodyPr/>
          <a:lstStyle/>
          <a:p>
            <a:pPr marL="342900" lvl="1" indent="-342900" defTabSz="913130" eaLnBrk="1" hangingPunct="1">
              <a:buFontTx/>
              <a:buChar char="•"/>
            </a:pPr>
            <a:r>
              <a:rPr lang="en-US" altLang="zh-CN" dirty="0"/>
              <a:t>1. </a:t>
            </a:r>
            <a:r>
              <a:rPr lang="zh-CN" altLang="en-US" dirty="0"/>
              <a:t>如果一棵树度为</a:t>
            </a:r>
            <a:r>
              <a:rPr lang="en-US" altLang="zh-CN" dirty="0"/>
              <a:t>1</a:t>
            </a:r>
            <a:r>
              <a:rPr lang="zh-CN" altLang="en-US" dirty="0"/>
              <a:t>到</a:t>
            </a:r>
            <a:r>
              <a:rPr lang="en-US" altLang="zh-CN" dirty="0"/>
              <a:t>m</a:t>
            </a:r>
            <a:r>
              <a:rPr lang="zh-CN" altLang="en-US" dirty="0"/>
              <a:t>的结点分别有</a:t>
            </a:r>
            <a:r>
              <a:rPr lang="en-US" altLang="zh-CN" dirty="0"/>
              <a:t>n</a:t>
            </a:r>
            <a:r>
              <a:rPr lang="en-US" altLang="zh-CN" baseline="-25000" dirty="0"/>
              <a:t>1</a:t>
            </a:r>
            <a:r>
              <a:rPr lang="zh-CN" altLang="en-US" dirty="0"/>
              <a:t>，</a:t>
            </a:r>
            <a:r>
              <a:rPr lang="en-US" altLang="zh-CN" dirty="0"/>
              <a:t>n</a:t>
            </a:r>
            <a:r>
              <a:rPr lang="en-US" altLang="zh-CN" baseline="-25000" dirty="0"/>
              <a:t>2</a:t>
            </a:r>
            <a:r>
              <a:rPr lang="zh-CN" altLang="en-US" dirty="0"/>
              <a:t>，</a:t>
            </a:r>
            <a:r>
              <a:rPr lang="en-US" altLang="zh-CN" dirty="0"/>
              <a:t>...</a:t>
            </a:r>
            <a:r>
              <a:rPr lang="zh-CN" altLang="en-US" dirty="0"/>
              <a:t>，</a:t>
            </a:r>
            <a:r>
              <a:rPr lang="en-US" altLang="zh-CN" dirty="0"/>
              <a:t>n</a:t>
            </a:r>
            <a:r>
              <a:rPr lang="en-US" altLang="zh-CN" baseline="-25000" dirty="0"/>
              <a:t>m</a:t>
            </a:r>
            <a:r>
              <a:rPr lang="zh-CN" altLang="en-US" dirty="0"/>
              <a:t>个，问这棵树有多少个度为</a:t>
            </a:r>
            <a:r>
              <a:rPr lang="en-US" altLang="zh-CN" dirty="0"/>
              <a:t>0</a:t>
            </a:r>
            <a:r>
              <a:rPr lang="zh-CN" altLang="en-US" dirty="0"/>
              <a:t>的结点？请证明。</a:t>
            </a:r>
            <a:endParaRPr lang="en-US" altLang="zh-CN" dirty="0"/>
          </a:p>
          <a:p>
            <a:pPr marL="342900" lvl="1" indent="-342900" defTabSz="913130" eaLnBrk="1" hangingPunct="1">
              <a:buFontTx/>
              <a:buChar char="•"/>
            </a:pPr>
            <a:r>
              <a:rPr lang="en-US" altLang="zh-CN" dirty="0"/>
              <a:t>2. </a:t>
            </a:r>
            <a:r>
              <a:rPr lang="zh-CN" altLang="en-US" dirty="0"/>
              <a:t>已知一棵二叉树先序遍历的结果</a:t>
            </a:r>
            <a:r>
              <a:rPr lang="en-US" altLang="zh-CN" dirty="0"/>
              <a:t>ABECDFGHIJ</a:t>
            </a:r>
            <a:r>
              <a:rPr lang="zh-CN" altLang="en-US" dirty="0"/>
              <a:t>，中序遍历的结果</a:t>
            </a:r>
            <a:r>
              <a:rPr lang="en-US" altLang="zh-CN" dirty="0"/>
              <a:t>EBCDAFHIGJ</a:t>
            </a:r>
            <a:r>
              <a:rPr lang="zh-CN" altLang="en-US" dirty="0"/>
              <a:t>，试画出这棵二叉树。</a:t>
            </a:r>
            <a:endParaRPr lang="en-US" altLang="zh-CN" dirty="0"/>
          </a:p>
        </p:txBody>
      </p:sp>
      <p:sp>
        <p:nvSpPr>
          <p:cNvPr id="3" name="灯片编号占位符 2"/>
          <p:cNvSpPr>
            <a:spLocks noGrp="1"/>
          </p:cNvSpPr>
          <p:nvPr>
            <p:ph type="sldNum" sz="quarter" idx="12"/>
          </p:nvPr>
        </p:nvSpPr>
        <p:spPr/>
        <p:txBody>
          <a:bodyPr/>
          <a:lstStyle/>
          <a:p>
            <a:pPr>
              <a:defRPr/>
            </a:pPr>
            <a:fld id="{04B9363C-368A-45A4-8D49-31EC94012550}" type="slidenum">
              <a:rPr lang="en-US" altLang="zh-CN" smtClean="0"/>
            </a:fld>
            <a:endParaRPr lang="en-US" altLang="zh-CN"/>
          </a:p>
        </p:txBody>
      </p:sp>
    </p:spTree>
  </p:cSld>
  <p:clrMapOvr>
    <a:masterClrMapping/>
  </p:clrMapOvr>
  <p:transition>
    <p:spli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第</a:t>
            </a:r>
            <a:r>
              <a:rPr lang="en-US" altLang="zh-CN" dirty="0"/>
              <a:t>5</a:t>
            </a:r>
            <a:r>
              <a:rPr lang="zh-CN" altLang="en-US" dirty="0"/>
              <a:t>章作业</a:t>
            </a:r>
            <a:r>
              <a:rPr lang="en-US" altLang="zh-CN" dirty="0"/>
              <a:t>1</a:t>
            </a:r>
            <a:r>
              <a:rPr lang="zh-CN" altLang="en-US" dirty="0"/>
              <a:t>（</a:t>
            </a:r>
            <a:r>
              <a:rPr lang="en-US" altLang="zh-CN" dirty="0"/>
              <a:t>2</a:t>
            </a:r>
            <a:r>
              <a:rPr lang="zh-CN" altLang="en-US" dirty="0"/>
              <a:t>）</a:t>
            </a:r>
            <a:endParaRPr lang="zh-CN" altLang="en-US" dirty="0"/>
          </a:p>
        </p:txBody>
      </p:sp>
      <p:sp>
        <p:nvSpPr>
          <p:cNvPr id="99330" name="内容占位符 2"/>
          <p:cNvSpPr>
            <a:spLocks noGrp="1"/>
          </p:cNvSpPr>
          <p:nvPr>
            <p:ph idx="1"/>
          </p:nvPr>
        </p:nvSpPr>
        <p:spPr>
          <a:xfrm>
            <a:off x="628650" y="1825624"/>
            <a:ext cx="7886700" cy="4530725"/>
          </a:xfrm>
        </p:spPr>
        <p:txBody>
          <a:bodyPr rtlCol="0">
            <a:normAutofit fontScale="62500" lnSpcReduction="20000"/>
          </a:bodyPr>
          <a:lstStyle/>
          <a:p>
            <a:pPr>
              <a:defRPr/>
            </a:pPr>
            <a:r>
              <a:rPr lang="en-US" altLang="zh-CN" dirty="0"/>
              <a:t>3. </a:t>
            </a:r>
            <a:r>
              <a:rPr lang="zh-CN" altLang="en-US" dirty="0"/>
              <a:t>以下题目要求用</a:t>
            </a:r>
            <a:r>
              <a:rPr lang="en-US" altLang="zh-CN" dirty="0"/>
              <a:t>c</a:t>
            </a:r>
            <a:r>
              <a:rPr lang="zh-CN" altLang="en-US" dirty="0"/>
              <a:t>或者</a:t>
            </a:r>
            <a:r>
              <a:rPr lang="en-US" altLang="zh-CN" dirty="0"/>
              <a:t>C++</a:t>
            </a:r>
            <a:r>
              <a:rPr lang="zh-CN" altLang="en-US" dirty="0"/>
              <a:t>写出可执行的程序，源代码中应包括</a:t>
            </a:r>
            <a:r>
              <a:rPr lang="en-US" altLang="zh-CN" dirty="0"/>
              <a:t>main</a:t>
            </a:r>
            <a:r>
              <a:rPr lang="zh-CN" altLang="en-US" dirty="0"/>
              <a:t>函数，提交源代码和生成的</a:t>
            </a:r>
            <a:r>
              <a:rPr lang="en-US" altLang="zh-CN" dirty="0"/>
              <a:t>exe</a:t>
            </a:r>
            <a:r>
              <a:rPr lang="zh-CN" altLang="en-US" dirty="0"/>
              <a:t>文件。</a:t>
            </a:r>
            <a:endParaRPr lang="en-US" altLang="zh-CN" dirty="0"/>
          </a:p>
          <a:p>
            <a:pPr marL="0" indent="0">
              <a:buNone/>
              <a:defRPr/>
            </a:pPr>
            <a:r>
              <a:rPr lang="en-US" altLang="zh-CN" dirty="0"/>
              <a:t>  </a:t>
            </a:r>
            <a:r>
              <a:rPr lang="zh-CN" altLang="en-US" dirty="0"/>
              <a:t>以下各题用到的</a:t>
            </a:r>
            <a:r>
              <a:rPr lang="en-US" altLang="zh-CN" dirty="0" err="1"/>
              <a:t>BinNode</a:t>
            </a:r>
            <a:r>
              <a:rPr lang="zh-CN" altLang="en-US" dirty="0"/>
              <a:t>定义如下：</a:t>
            </a:r>
            <a:endParaRPr lang="en-US" altLang="zh-CN" dirty="0"/>
          </a:p>
          <a:p>
            <a:pPr marL="0" indent="0">
              <a:buNone/>
              <a:defRPr/>
            </a:pPr>
            <a:r>
              <a:rPr lang="en-US" altLang="zh-CN" dirty="0"/>
              <a:t>  template &lt;class T &gt; struct </a:t>
            </a:r>
            <a:r>
              <a:rPr lang="en-US" altLang="zh-CN" dirty="0" err="1"/>
              <a:t>BinNode</a:t>
            </a:r>
            <a:r>
              <a:rPr lang="en-US" altLang="zh-CN" dirty="0"/>
              <a:t> {</a:t>
            </a:r>
            <a:endParaRPr lang="en-US" altLang="zh-CN" dirty="0"/>
          </a:p>
          <a:p>
            <a:pPr marL="0" indent="0">
              <a:buNone/>
              <a:defRPr/>
            </a:pPr>
            <a:r>
              <a:rPr lang="en-US" altLang="zh-CN" dirty="0"/>
              <a:t>        T data;   </a:t>
            </a:r>
            <a:r>
              <a:rPr lang="en-US" altLang="zh-CN" dirty="0" err="1"/>
              <a:t>BinNode</a:t>
            </a:r>
            <a:r>
              <a:rPr lang="en-US" altLang="zh-CN" dirty="0"/>
              <a:t> &lt;T &gt; *</a:t>
            </a:r>
            <a:r>
              <a:rPr lang="en-US" altLang="zh-CN" dirty="0" err="1"/>
              <a:t>lchild</a:t>
            </a:r>
            <a:r>
              <a:rPr lang="en-US" altLang="zh-CN" dirty="0"/>
              <a:t>;      </a:t>
            </a:r>
            <a:r>
              <a:rPr lang="en-US" altLang="zh-CN" dirty="0" err="1"/>
              <a:t>BinNode</a:t>
            </a:r>
            <a:r>
              <a:rPr lang="en-US" altLang="zh-CN" dirty="0"/>
              <a:t> &lt;T &gt; *</a:t>
            </a:r>
            <a:r>
              <a:rPr lang="en-US" altLang="zh-CN" dirty="0" err="1"/>
              <a:t>rchild</a:t>
            </a:r>
            <a:r>
              <a:rPr lang="en-US" altLang="zh-CN" dirty="0"/>
              <a:t>;  </a:t>
            </a:r>
            <a:endParaRPr lang="en-US" altLang="zh-CN" dirty="0"/>
          </a:p>
          <a:p>
            <a:pPr marL="0" indent="0">
              <a:buNone/>
              <a:defRPr/>
            </a:pPr>
            <a:r>
              <a:rPr lang="en-US" altLang="zh-CN" dirty="0"/>
              <a:t>  };</a:t>
            </a:r>
            <a:endParaRPr lang="en-US" altLang="zh-CN" dirty="0"/>
          </a:p>
          <a:p>
            <a:pPr lvl="1"/>
            <a:r>
              <a:rPr lang="en-US" altLang="zh-CN" dirty="0"/>
              <a:t>3.1 </a:t>
            </a:r>
            <a:r>
              <a:rPr lang="zh-CN" altLang="en-US" dirty="0"/>
              <a:t>输入二叉链表表示的二叉树中的两个结点的</a:t>
            </a:r>
            <a:r>
              <a:rPr lang="en-US" altLang="zh-CN" dirty="0"/>
              <a:t>data</a:t>
            </a:r>
            <a:r>
              <a:rPr lang="zh-CN" altLang="en-US" dirty="0"/>
              <a:t>，写一个递归算法输出这两个结点在树中最低的共同祖先结点。函数声明为：</a:t>
            </a:r>
            <a:r>
              <a:rPr lang="en-US" altLang="zh-CN" dirty="0"/>
              <a:t> </a:t>
            </a:r>
            <a:r>
              <a:rPr lang="en-US" altLang="zh-CN" dirty="0" err="1"/>
              <a:t>BinNode</a:t>
            </a:r>
            <a:r>
              <a:rPr lang="en-US" altLang="zh-CN" dirty="0"/>
              <a:t> &lt;char&gt; * </a:t>
            </a:r>
            <a:r>
              <a:rPr lang="en-US" altLang="zh-CN" dirty="0" err="1"/>
              <a:t>getLCA</a:t>
            </a:r>
            <a:r>
              <a:rPr lang="en-US" altLang="zh-CN" dirty="0"/>
              <a:t>(</a:t>
            </a:r>
            <a:r>
              <a:rPr lang="en-US" altLang="zh-CN" dirty="0" err="1"/>
              <a:t>BinNode</a:t>
            </a:r>
            <a:r>
              <a:rPr lang="en-US" altLang="zh-CN" dirty="0"/>
              <a:t> &lt;char&gt; * root, char X, char Y) </a:t>
            </a:r>
            <a:r>
              <a:rPr lang="zh-CN" altLang="en-US" dirty="0"/>
              <a:t>。规定同一棵二叉树中不会有</a:t>
            </a:r>
            <a:r>
              <a:rPr lang="en-US" altLang="zh-CN" dirty="0"/>
              <a:t>2</a:t>
            </a:r>
            <a:r>
              <a:rPr lang="zh-CN" altLang="en-US" dirty="0"/>
              <a:t>个结点的</a:t>
            </a:r>
            <a:r>
              <a:rPr lang="en-US" altLang="zh-CN" dirty="0"/>
              <a:t>data</a:t>
            </a:r>
            <a:r>
              <a:rPr lang="zh-CN" altLang="en-US" dirty="0"/>
              <a:t>是相同的字符。</a:t>
            </a:r>
            <a:endParaRPr lang="zh-CN" altLang="en-US" dirty="0"/>
          </a:p>
          <a:p>
            <a:pPr lvl="1"/>
            <a:r>
              <a:rPr lang="en-US" altLang="zh-CN" dirty="0"/>
              <a:t>3.2 </a:t>
            </a:r>
            <a:r>
              <a:rPr lang="zh-CN" altLang="en-US" dirty="0"/>
              <a:t>如果把二叉树看成一个图，父子结点之间的连线看成是双向的，定义“距离”为两结点之间的边数。写一个程序，求一棵二叉树中相距最远的两个节点之间的距离。函数声明为</a:t>
            </a:r>
            <a:r>
              <a:rPr lang="en-US" altLang="zh-CN" dirty="0"/>
              <a:t>int </a:t>
            </a:r>
            <a:r>
              <a:rPr lang="en-US" altLang="zh-CN" dirty="0" err="1"/>
              <a:t>maxDistance</a:t>
            </a:r>
            <a:r>
              <a:rPr lang="en-US" altLang="zh-CN" dirty="0"/>
              <a:t>(</a:t>
            </a:r>
            <a:r>
              <a:rPr lang="en-US" altLang="zh-CN" dirty="0" err="1"/>
              <a:t>BinNode</a:t>
            </a:r>
            <a:r>
              <a:rPr lang="en-US" altLang="zh-CN" dirty="0"/>
              <a:t> &lt;char&gt; * root) </a:t>
            </a:r>
            <a:endParaRPr lang="en-US" altLang="zh-CN" dirty="0"/>
          </a:p>
          <a:p>
            <a:pPr marL="0" indent="0">
              <a:buNone/>
              <a:defRPr/>
            </a:pPr>
            <a:endParaRPr lang="en-US" altLang="zh-CN" dirty="0"/>
          </a:p>
        </p:txBody>
      </p:sp>
      <p:sp>
        <p:nvSpPr>
          <p:cNvPr id="2" name="灯片编号占位符 1"/>
          <p:cNvSpPr>
            <a:spLocks noGrp="1"/>
          </p:cNvSpPr>
          <p:nvPr>
            <p:ph type="sldNum" sz="quarter" idx="12"/>
          </p:nvPr>
        </p:nvSpPr>
        <p:spPr/>
        <p:txBody>
          <a:bodyPr/>
          <a:lstStyle/>
          <a:p>
            <a:pPr>
              <a:defRPr/>
            </a:pPr>
            <a:fld id="{04B9363C-368A-45A4-8D49-31EC94012550}" type="slidenum">
              <a:rPr lang="en-US" altLang="zh-CN" smtClean="0"/>
            </a:fld>
            <a:endParaRPr lang="en-US" altLang="zh-CN"/>
          </a:p>
        </p:txBody>
      </p:sp>
    </p:spTree>
  </p:cSld>
  <p:clrMapOvr>
    <a:masterClrMapping/>
  </p:clrMapOvr>
  <p:transition>
    <p:spli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Text Box 3"/>
          <p:cNvSpPr txBox="1">
            <a:spLocks noChangeArrowheads="1"/>
          </p:cNvSpPr>
          <p:nvPr/>
        </p:nvSpPr>
        <p:spPr bwMode="auto">
          <a:xfrm>
            <a:off x="3059832" y="1370013"/>
            <a:ext cx="4464496" cy="646331"/>
          </a:xfrm>
          <a:prstGeom prst="rect">
            <a:avLst/>
          </a:prstGeom>
          <a:noFill/>
          <a:ln w="9525">
            <a:noFill/>
            <a:miter lim="800000"/>
          </a:ln>
          <a:effectLst/>
        </p:spPr>
        <p:txBody>
          <a:bodyPr wrap="square">
            <a:spAutoFit/>
          </a:bodyPr>
          <a:lstStyle/>
          <a:p>
            <a:pPr eaLnBrk="1" fontAlgn="auto" hangingPunct="1">
              <a:spcBef>
                <a:spcPts val="0"/>
              </a:spcBef>
              <a:spcAft>
                <a:spcPts val="0"/>
              </a:spcAft>
              <a:defRPr/>
            </a:pPr>
            <a:r>
              <a:rPr lang="en-US" altLang="zh-CN" sz="3600" u="sng" dirty="0">
                <a:solidFill>
                  <a:schemeClr val="accent2"/>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5.5.1 </a:t>
            </a:r>
            <a:r>
              <a:rPr lang="zh-CN" altLang="en-US" sz="3600" u="sng" dirty="0">
                <a:solidFill>
                  <a:schemeClr val="accent2"/>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线索</a:t>
            </a:r>
            <a:r>
              <a:rPr lang="zh-CN" altLang="en-US" sz="3600" u="sng" dirty="0">
                <a:solidFill>
                  <a:schemeClr val="accent2"/>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 </a:t>
            </a:r>
            <a:r>
              <a:rPr lang="en-US" altLang="zh-CN" sz="3600" u="sng" dirty="0">
                <a:solidFill>
                  <a:schemeClr val="accent2"/>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(Thread)</a:t>
            </a:r>
            <a:endParaRPr lang="en-US" altLang="zh-CN" dirty="0">
              <a:latin typeface="Times New Roman" panose="02020603050405020304" pitchFamily="18" charset="0"/>
              <a:ea typeface="+mn-ea"/>
            </a:endParaRPr>
          </a:p>
        </p:txBody>
      </p:sp>
      <p:sp>
        <p:nvSpPr>
          <p:cNvPr id="177156" name="Text Box 4"/>
          <p:cNvSpPr txBox="1">
            <a:spLocks noChangeArrowheads="1"/>
          </p:cNvSpPr>
          <p:nvPr/>
        </p:nvSpPr>
        <p:spPr bwMode="auto">
          <a:xfrm>
            <a:off x="1381068" y="5898464"/>
            <a:ext cx="6972300" cy="579438"/>
          </a:xfrm>
          <a:prstGeom prst="rect">
            <a:avLst/>
          </a:prstGeom>
          <a:noFill/>
          <a:ln w="9525">
            <a:noFill/>
            <a:miter lim="800000"/>
          </a:ln>
          <a:effectLst/>
        </p:spPr>
        <p:txBody>
          <a:bodyPr>
            <a:spAutoFit/>
          </a:bodyPr>
          <a:lstStyle/>
          <a:p>
            <a:pPr eaLnBrk="1" fontAlgn="auto" hangingPunct="1">
              <a:spcBef>
                <a:spcPct val="50000"/>
              </a:spcBef>
              <a:spcAft>
                <a:spcPts val="0"/>
              </a:spcAft>
              <a:defRPr/>
            </a:pPr>
            <a:r>
              <a:rPr lang="zh-CN" altLang="en-US" sz="3200" dirty="0">
                <a:solidFill>
                  <a:srgbClr val="FF33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增加 </a:t>
            </a:r>
            <a:r>
              <a:rPr lang="en-US" altLang="zh-CN" sz="3200" i="1" u="sng" dirty="0">
                <a:solidFill>
                  <a:srgbClr val="D60093"/>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Pred </a:t>
            </a:r>
            <a:r>
              <a:rPr lang="zh-CN" altLang="en-US" sz="3200" dirty="0">
                <a:solidFill>
                  <a:srgbClr val="FF33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指针和 </a:t>
            </a:r>
            <a:r>
              <a:rPr lang="en-US" altLang="zh-CN" sz="3200" i="1" u="sng" dirty="0" err="1">
                <a:solidFill>
                  <a:srgbClr val="D60093"/>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Succ</a:t>
            </a:r>
            <a:r>
              <a:rPr lang="en-US" altLang="zh-CN" sz="3200" i="1" u="sng" dirty="0">
                <a:solidFill>
                  <a:srgbClr val="D60093"/>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 </a:t>
            </a:r>
            <a:r>
              <a:rPr lang="zh-CN" altLang="en-US" sz="3200" dirty="0">
                <a:solidFill>
                  <a:srgbClr val="FF33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指针的二叉树</a:t>
            </a:r>
            <a:endParaRPr lang="zh-CN" altLang="en-US" sz="2000" dirty="0">
              <a:latin typeface="Times New Roman" panose="02020603050405020304" pitchFamily="18" charset="0"/>
              <a:ea typeface="+mn-ea"/>
            </a:endParaRPr>
          </a:p>
        </p:txBody>
      </p:sp>
      <p:pic>
        <p:nvPicPr>
          <p:cNvPr id="77829" name="Picture 5" descr="TU6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68" y="2012264"/>
            <a:ext cx="9067800" cy="392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5.5 </a:t>
            </a:r>
            <a:r>
              <a:rPr lang="zh-CN" altLang="en-US" dirty="0"/>
              <a:t>线索二叉树</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80" name="Text Box 4"/>
          <p:cNvSpPr txBox="1">
            <a:spLocks noChangeArrowheads="1"/>
          </p:cNvSpPr>
          <p:nvPr/>
        </p:nvSpPr>
        <p:spPr bwMode="auto">
          <a:xfrm>
            <a:off x="1835696" y="4217090"/>
            <a:ext cx="5225647" cy="1569660"/>
          </a:xfrm>
          <a:prstGeom prst="rect">
            <a:avLst/>
          </a:prstGeom>
          <a:noFill/>
          <a:ln w="9525">
            <a:noFill/>
            <a:miter lim="800000"/>
          </a:ln>
          <a:effectLst/>
        </p:spPr>
        <p:txBody>
          <a:bodyPr wrap="square">
            <a:spAutoFit/>
          </a:bodyPr>
          <a:lstStyle/>
          <a:p>
            <a:pPr eaLnBrk="1" fontAlgn="auto" hangingPunct="1">
              <a:spcBef>
                <a:spcPts val="0"/>
              </a:spcBef>
              <a:spcAft>
                <a:spcPts val="0"/>
              </a:spcAft>
              <a:defRPr/>
            </a:pPr>
            <a:r>
              <a:rPr lang="en-US" altLang="zh-CN" sz="2400" dirty="0" err="1">
                <a:solidFill>
                  <a:schemeClr val="tx2"/>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ltag</a:t>
            </a:r>
            <a:r>
              <a:rPr lang="en-US" altLang="zh-CN" sz="2400" dirty="0">
                <a:solidFill>
                  <a:schemeClr val="tx2"/>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=0,           </a:t>
            </a:r>
            <a:r>
              <a:rPr lang="en-US" altLang="zh-CN" sz="2400" dirty="0" err="1">
                <a:solidFill>
                  <a:schemeClr val="tx2"/>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leftChild</a:t>
            </a:r>
            <a:r>
              <a:rPr lang="zh-CN" altLang="en-US" sz="2400" dirty="0">
                <a:solidFill>
                  <a:schemeClr val="tx2"/>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为左孩子指针</a:t>
            </a:r>
            <a:endParaRPr lang="zh-CN" altLang="en-US" sz="2400" dirty="0">
              <a:solidFill>
                <a:schemeClr val="tx2"/>
              </a:solidFill>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eaLnBrk="1" fontAlgn="auto" hangingPunct="1">
              <a:spcBef>
                <a:spcPts val="0"/>
              </a:spcBef>
              <a:spcAft>
                <a:spcPts val="0"/>
              </a:spcAft>
              <a:defRPr/>
            </a:pPr>
            <a:r>
              <a:rPr lang="en-US" altLang="zh-CN" sz="2400" dirty="0" err="1">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ltag</a:t>
            </a:r>
            <a:r>
              <a:rPr lang="en-US" altLang="zh-CN" sz="2400" dirty="0">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=1,           </a:t>
            </a:r>
            <a:r>
              <a:rPr lang="en-US" altLang="zh-CN" sz="2400" dirty="0" err="1">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leftChild</a:t>
            </a:r>
            <a:r>
              <a:rPr lang="zh-CN" altLang="zh-CN" sz="2400" dirty="0">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为</a:t>
            </a:r>
            <a:r>
              <a:rPr lang="zh-CN" altLang="en-US" sz="2400" dirty="0">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前驱线索</a:t>
            </a:r>
            <a:endParaRPr lang="zh-CN" altLang="en-US" sz="2400" dirty="0">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eaLnBrk="1" fontAlgn="auto" hangingPunct="1">
              <a:spcBef>
                <a:spcPts val="0"/>
              </a:spcBef>
              <a:spcAft>
                <a:spcPts val="0"/>
              </a:spcAft>
              <a:defRPr/>
            </a:pPr>
            <a:r>
              <a:rPr lang="en-US" altLang="zh-CN" sz="2400" dirty="0" err="1">
                <a:solidFill>
                  <a:schemeClr val="tx2"/>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rtag</a:t>
            </a:r>
            <a:r>
              <a:rPr lang="en-US" altLang="zh-CN" sz="2400" dirty="0">
                <a:solidFill>
                  <a:schemeClr val="tx2"/>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=0,          </a:t>
            </a:r>
            <a:r>
              <a:rPr lang="en-US" altLang="zh-CN" sz="2400" dirty="0" err="1">
                <a:solidFill>
                  <a:schemeClr val="tx2"/>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rightChild</a:t>
            </a:r>
            <a:r>
              <a:rPr lang="zh-CN" altLang="zh-CN" sz="2400" dirty="0">
                <a:solidFill>
                  <a:schemeClr val="tx2"/>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为右</a:t>
            </a:r>
            <a:r>
              <a:rPr lang="zh-CN" altLang="en-US" sz="2400" dirty="0">
                <a:solidFill>
                  <a:schemeClr val="tx2"/>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孩子</a:t>
            </a:r>
            <a:r>
              <a:rPr lang="zh-CN" altLang="zh-CN" sz="2400" dirty="0">
                <a:solidFill>
                  <a:schemeClr val="tx2"/>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指针</a:t>
            </a:r>
            <a:endParaRPr lang="zh-CN" altLang="zh-CN" sz="2400" dirty="0">
              <a:solidFill>
                <a:schemeClr val="tx2"/>
              </a:solidFill>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eaLnBrk="1" fontAlgn="auto" hangingPunct="1">
              <a:spcBef>
                <a:spcPts val="0"/>
              </a:spcBef>
              <a:spcAft>
                <a:spcPts val="0"/>
              </a:spcAft>
              <a:defRPr/>
            </a:pPr>
            <a:r>
              <a:rPr lang="en-US" altLang="zh-CN" sz="2400" dirty="0" err="1">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rtag</a:t>
            </a:r>
            <a:r>
              <a:rPr lang="en-US" altLang="zh-CN" sz="2400" dirty="0">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=1,          </a:t>
            </a:r>
            <a:r>
              <a:rPr lang="en-US" altLang="zh-CN" sz="2400" dirty="0" err="1">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rightChild</a:t>
            </a:r>
            <a:r>
              <a:rPr lang="zh-CN" altLang="zh-CN" sz="2400" dirty="0">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为后继指针</a:t>
            </a:r>
            <a:endParaRPr lang="zh-CN" altLang="en-US" sz="2400" dirty="0">
              <a:solidFill>
                <a:srgbClr val="FF0000"/>
              </a:solidFill>
              <a:latin typeface="Arial" panose="020B0604020202020204" pitchFamily="34" charset="0"/>
              <a:ea typeface="黑体" panose="02010609060101010101" pitchFamily="2" charset="-122"/>
            </a:endParaRPr>
          </a:p>
        </p:txBody>
      </p:sp>
      <p:sp>
        <p:nvSpPr>
          <p:cNvPr id="78852" name="Rectangle 5" descr="白色大理石"/>
          <p:cNvSpPr>
            <a:spLocks noChangeArrowheads="1"/>
          </p:cNvSpPr>
          <p:nvPr/>
        </p:nvSpPr>
        <p:spPr bwMode="auto">
          <a:xfrm>
            <a:off x="889142" y="1694705"/>
            <a:ext cx="6858000" cy="533400"/>
          </a:xfrm>
          <a:prstGeom prst="rect">
            <a:avLst/>
          </a:prstGeom>
          <a:blipFill dpi="0" rotWithShape="0">
            <a:blip r:embed="rId1"/>
            <a:srcRect/>
            <a:tile tx="0" ty="0" sx="100000" sy="100000" flip="none" algn="tl"/>
          </a:blipFill>
          <a:ln w="19050">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78853" name="Line 6"/>
          <p:cNvSpPr>
            <a:spLocks noChangeShapeType="1"/>
          </p:cNvSpPr>
          <p:nvPr/>
        </p:nvSpPr>
        <p:spPr bwMode="auto">
          <a:xfrm>
            <a:off x="3632342" y="1694705"/>
            <a:ext cx="0" cy="533400"/>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4" name="Line 7"/>
          <p:cNvSpPr>
            <a:spLocks noChangeShapeType="1"/>
          </p:cNvSpPr>
          <p:nvPr/>
        </p:nvSpPr>
        <p:spPr bwMode="auto">
          <a:xfrm>
            <a:off x="2260742" y="1694705"/>
            <a:ext cx="0" cy="533400"/>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5" name="Line 8"/>
          <p:cNvSpPr>
            <a:spLocks noChangeShapeType="1"/>
          </p:cNvSpPr>
          <p:nvPr/>
        </p:nvSpPr>
        <p:spPr bwMode="auto">
          <a:xfrm>
            <a:off x="5003942" y="1694705"/>
            <a:ext cx="0" cy="533400"/>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6" name="Line 9"/>
          <p:cNvSpPr>
            <a:spLocks noChangeShapeType="1"/>
          </p:cNvSpPr>
          <p:nvPr/>
        </p:nvSpPr>
        <p:spPr bwMode="auto">
          <a:xfrm>
            <a:off x="6375542" y="1694705"/>
            <a:ext cx="0" cy="533400"/>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186" name="Text Box 10"/>
          <p:cNvSpPr txBox="1">
            <a:spLocks noChangeArrowheads="1"/>
          </p:cNvSpPr>
          <p:nvPr/>
        </p:nvSpPr>
        <p:spPr bwMode="auto">
          <a:xfrm>
            <a:off x="692292" y="2715468"/>
            <a:ext cx="1717675" cy="579437"/>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200">
                <a:solidFill>
                  <a:schemeClr val="tx2"/>
                </a:solidFill>
                <a:effectLst>
                  <a:outerShdw blurRad="38100" dist="38100" dir="2700000" algn="tl">
                    <a:srgbClr val="C0C0C0"/>
                  </a:outerShdw>
                </a:effectLst>
                <a:latin typeface="Times New Roman" panose="02020603050405020304" pitchFamily="18" charset="0"/>
                <a:ea typeface="+mn-ea"/>
              </a:rPr>
              <a:t>leftChild</a:t>
            </a:r>
            <a:endParaRPr lang="en-US" altLang="zh-CN">
              <a:latin typeface="Times New Roman" panose="02020603050405020304" pitchFamily="18" charset="0"/>
              <a:ea typeface="+mn-ea"/>
            </a:endParaRPr>
          </a:p>
        </p:txBody>
      </p:sp>
      <p:sp>
        <p:nvSpPr>
          <p:cNvPr id="178187" name="Text Box 11"/>
          <p:cNvSpPr txBox="1">
            <a:spLocks noChangeArrowheads="1"/>
          </p:cNvSpPr>
          <p:nvPr/>
        </p:nvSpPr>
        <p:spPr bwMode="auto">
          <a:xfrm>
            <a:off x="6259655" y="2761505"/>
            <a:ext cx="2011362" cy="579438"/>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200">
                <a:solidFill>
                  <a:schemeClr val="tx2"/>
                </a:solidFill>
                <a:effectLst>
                  <a:outerShdw blurRad="38100" dist="38100" dir="2700000" algn="tl">
                    <a:srgbClr val="C0C0C0"/>
                  </a:outerShdw>
                </a:effectLst>
                <a:latin typeface="Times New Roman" panose="02020603050405020304" pitchFamily="18" charset="0"/>
                <a:ea typeface="+mn-ea"/>
              </a:rPr>
              <a:t>rightChild</a:t>
            </a:r>
            <a:endParaRPr lang="en-US" altLang="zh-CN">
              <a:latin typeface="Times New Roman" panose="02020603050405020304" pitchFamily="18" charset="0"/>
              <a:ea typeface="+mn-ea"/>
            </a:endParaRPr>
          </a:p>
        </p:txBody>
      </p:sp>
      <p:sp>
        <p:nvSpPr>
          <p:cNvPr id="178188" name="Text Box 12"/>
          <p:cNvSpPr txBox="1">
            <a:spLocks noChangeArrowheads="1"/>
          </p:cNvSpPr>
          <p:nvPr/>
        </p:nvSpPr>
        <p:spPr bwMode="auto">
          <a:xfrm>
            <a:off x="3895867" y="2715468"/>
            <a:ext cx="950913" cy="579437"/>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200">
                <a:solidFill>
                  <a:schemeClr val="tx2"/>
                </a:solidFill>
                <a:effectLst>
                  <a:outerShdw blurRad="38100" dist="38100" dir="2700000" algn="tl">
                    <a:srgbClr val="C0C0C0"/>
                  </a:outerShdw>
                </a:effectLst>
                <a:latin typeface="Times New Roman" panose="02020603050405020304" pitchFamily="18" charset="0"/>
                <a:ea typeface="+mn-ea"/>
              </a:rPr>
              <a:t>data</a:t>
            </a:r>
            <a:endParaRPr lang="en-US" altLang="zh-CN">
              <a:latin typeface="Times New Roman" panose="02020603050405020304" pitchFamily="18" charset="0"/>
              <a:ea typeface="+mn-ea"/>
            </a:endParaRPr>
          </a:p>
        </p:txBody>
      </p:sp>
      <p:sp>
        <p:nvSpPr>
          <p:cNvPr id="178189" name="Text Box 13"/>
          <p:cNvSpPr txBox="1">
            <a:spLocks noChangeArrowheads="1"/>
          </p:cNvSpPr>
          <p:nvPr/>
        </p:nvSpPr>
        <p:spPr bwMode="auto">
          <a:xfrm>
            <a:off x="2654442" y="3325068"/>
            <a:ext cx="838200" cy="579437"/>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200">
                <a:solidFill>
                  <a:schemeClr val="accent2"/>
                </a:solidFill>
                <a:effectLst>
                  <a:outerShdw blurRad="38100" dist="38100" dir="2700000" algn="tl">
                    <a:srgbClr val="C0C0C0"/>
                  </a:outerShdw>
                </a:effectLst>
                <a:latin typeface="Times New Roman" panose="02020603050405020304" pitchFamily="18" charset="0"/>
                <a:ea typeface="+mn-ea"/>
              </a:rPr>
              <a:t>ltag</a:t>
            </a:r>
            <a:endParaRPr lang="en-US" altLang="zh-CN">
              <a:latin typeface="Times New Roman" panose="02020603050405020304" pitchFamily="18" charset="0"/>
              <a:ea typeface="+mn-ea"/>
            </a:endParaRPr>
          </a:p>
        </p:txBody>
      </p:sp>
      <p:sp>
        <p:nvSpPr>
          <p:cNvPr id="178190" name="Text Box 14"/>
          <p:cNvSpPr txBox="1">
            <a:spLocks noChangeArrowheads="1"/>
          </p:cNvSpPr>
          <p:nvPr/>
        </p:nvSpPr>
        <p:spPr bwMode="auto">
          <a:xfrm>
            <a:off x="5280167" y="3325068"/>
            <a:ext cx="906463" cy="579437"/>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3200">
                <a:solidFill>
                  <a:schemeClr val="accent2"/>
                </a:solidFill>
                <a:effectLst>
                  <a:outerShdw blurRad="38100" dist="38100" dir="2700000" algn="tl">
                    <a:srgbClr val="C0C0C0"/>
                  </a:outerShdw>
                </a:effectLst>
                <a:latin typeface="Times New Roman" panose="02020603050405020304" pitchFamily="18" charset="0"/>
                <a:ea typeface="+mn-ea"/>
              </a:rPr>
              <a:t>rtag</a:t>
            </a:r>
            <a:endParaRPr lang="en-US" altLang="zh-CN">
              <a:latin typeface="Times New Roman" panose="02020603050405020304" pitchFamily="18" charset="0"/>
              <a:ea typeface="+mn-ea"/>
            </a:endParaRPr>
          </a:p>
        </p:txBody>
      </p:sp>
      <p:sp>
        <p:nvSpPr>
          <p:cNvPr id="78862" name="Line 15"/>
          <p:cNvSpPr>
            <a:spLocks noChangeShapeType="1"/>
          </p:cNvSpPr>
          <p:nvPr/>
        </p:nvSpPr>
        <p:spPr bwMode="auto">
          <a:xfrm flipV="1">
            <a:off x="1574942" y="1923305"/>
            <a:ext cx="0" cy="838200"/>
          </a:xfrm>
          <a:prstGeom prst="line">
            <a:avLst/>
          </a:prstGeom>
          <a:noFill/>
          <a:ln w="38100">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3" name="Line 16"/>
          <p:cNvSpPr>
            <a:spLocks noChangeShapeType="1"/>
          </p:cNvSpPr>
          <p:nvPr/>
        </p:nvSpPr>
        <p:spPr bwMode="auto">
          <a:xfrm flipV="1">
            <a:off x="4318142" y="1923305"/>
            <a:ext cx="0" cy="838200"/>
          </a:xfrm>
          <a:prstGeom prst="line">
            <a:avLst/>
          </a:prstGeom>
          <a:noFill/>
          <a:ln w="38100">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4" name="Line 17"/>
          <p:cNvSpPr>
            <a:spLocks noChangeShapeType="1"/>
          </p:cNvSpPr>
          <p:nvPr/>
        </p:nvSpPr>
        <p:spPr bwMode="auto">
          <a:xfrm flipV="1">
            <a:off x="7061342" y="1923305"/>
            <a:ext cx="0" cy="838200"/>
          </a:xfrm>
          <a:prstGeom prst="line">
            <a:avLst/>
          </a:prstGeom>
          <a:noFill/>
          <a:ln w="38100">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5" name="Line 18"/>
          <p:cNvSpPr>
            <a:spLocks noChangeShapeType="1"/>
          </p:cNvSpPr>
          <p:nvPr/>
        </p:nvSpPr>
        <p:spPr bwMode="auto">
          <a:xfrm flipV="1">
            <a:off x="2946542" y="1923305"/>
            <a:ext cx="0" cy="1447800"/>
          </a:xfrm>
          <a:prstGeom prst="line">
            <a:avLst/>
          </a:prstGeom>
          <a:noFill/>
          <a:ln w="38100">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6" name="Line 19"/>
          <p:cNvSpPr>
            <a:spLocks noChangeShapeType="1"/>
          </p:cNvSpPr>
          <p:nvPr/>
        </p:nvSpPr>
        <p:spPr bwMode="auto">
          <a:xfrm flipV="1">
            <a:off x="5689742" y="1923305"/>
            <a:ext cx="0" cy="1447800"/>
          </a:xfrm>
          <a:prstGeom prst="line">
            <a:avLst/>
          </a:prstGeom>
          <a:noFill/>
          <a:ln w="38100">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p:cNvSpPr>
            <a:spLocks noGrp="1"/>
          </p:cNvSpPr>
          <p:nvPr>
            <p:ph type="title"/>
          </p:nvPr>
        </p:nvSpPr>
        <p:spPr>
          <a:xfrm>
            <a:off x="628650" y="365125"/>
            <a:ext cx="8047806" cy="1325563"/>
          </a:xfrm>
        </p:spPr>
        <p:txBody>
          <a:bodyPr/>
          <a:lstStyle/>
          <a:p>
            <a:r>
              <a:rPr lang="zh-CN" altLang="en-US" dirty="0"/>
              <a:t>线索化二叉树及其二叉链表表示</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365125"/>
            <a:ext cx="8856984" cy="1325563"/>
          </a:xfrm>
        </p:spPr>
        <p:txBody>
          <a:bodyPr/>
          <a:lstStyle/>
          <a:p>
            <a:r>
              <a:rPr lang="en-US" altLang="zh-CN" dirty="0"/>
              <a:t>5.5.2 </a:t>
            </a:r>
            <a:r>
              <a:rPr lang="zh-CN" altLang="en-US" dirty="0"/>
              <a:t>中序线索二叉树的建立和遍历</a:t>
            </a:r>
            <a:endParaRPr lang="zh-CN" altLang="en-US" dirty="0"/>
          </a:p>
        </p:txBody>
      </p:sp>
      <p:sp>
        <p:nvSpPr>
          <p:cNvPr id="3" name="内容占位符 2"/>
          <p:cNvSpPr>
            <a:spLocks noGrp="1"/>
          </p:cNvSpPr>
          <p:nvPr>
            <p:ph idx="1"/>
          </p:nvPr>
        </p:nvSpPr>
        <p:spPr>
          <a:xfrm>
            <a:off x="395536" y="1825625"/>
            <a:ext cx="8352928" cy="4351338"/>
          </a:xfrm>
        </p:spPr>
        <p:txBody>
          <a:bodyPr>
            <a:normAutofit fontScale="92500" lnSpcReduction="20000"/>
          </a:bodyPr>
          <a:lstStyle/>
          <a:p>
            <a:pPr marL="0" indent="0">
              <a:buNone/>
            </a:pPr>
            <a:r>
              <a:rPr lang="en-US" altLang="zh-CN" dirty="0"/>
              <a:t>//</a:t>
            </a:r>
            <a:r>
              <a:rPr lang="zh-CN" altLang="en-US" dirty="0"/>
              <a:t>中序线索二叉树的类定义</a:t>
            </a:r>
            <a:endParaRPr lang="en-US" altLang="zh-CN" dirty="0"/>
          </a:p>
          <a:p>
            <a:pPr marL="0" indent="0">
              <a:buNone/>
            </a:pPr>
            <a:r>
              <a:rPr lang="en-US" altLang="zh-CN" dirty="0"/>
              <a:t>template &lt;class T&gt; struct </a:t>
            </a:r>
            <a:r>
              <a:rPr lang="en-US" altLang="zh-CN" dirty="0" err="1"/>
              <a:t>ThreadNode</a:t>
            </a:r>
            <a:r>
              <a:rPr lang="en-US" altLang="zh-CN" dirty="0"/>
              <a:t> {	</a:t>
            </a:r>
            <a:endParaRPr lang="en-US" altLang="zh-CN" dirty="0"/>
          </a:p>
          <a:p>
            <a:pPr marL="0" indent="0">
              <a:buNone/>
            </a:pPr>
            <a:r>
              <a:rPr lang="en-US" altLang="zh-CN" dirty="0"/>
              <a:t>     int </a:t>
            </a:r>
            <a:r>
              <a:rPr lang="en-US" altLang="zh-CN" dirty="0" err="1"/>
              <a:t>ltag</a:t>
            </a:r>
            <a:r>
              <a:rPr lang="en-US" altLang="zh-CN" dirty="0"/>
              <a:t>, </a:t>
            </a:r>
            <a:r>
              <a:rPr lang="en-US" altLang="zh-CN" dirty="0" err="1"/>
              <a:t>rtag</a:t>
            </a:r>
            <a:r>
              <a:rPr lang="en-US" altLang="zh-CN" dirty="0"/>
              <a:t>;</a:t>
            </a:r>
            <a:endParaRPr lang="en-US" altLang="zh-CN" dirty="0"/>
          </a:p>
          <a:p>
            <a:pPr marL="0" indent="0">
              <a:buNone/>
            </a:pPr>
            <a:r>
              <a:rPr lang="en-US" altLang="zh-CN" dirty="0"/>
              <a:t>     </a:t>
            </a:r>
            <a:r>
              <a:rPr lang="en-US" altLang="zh-CN" dirty="0" err="1"/>
              <a:t>ThreadNode</a:t>
            </a:r>
            <a:r>
              <a:rPr lang="en-US" altLang="zh-CN" dirty="0"/>
              <a:t>&lt;T&gt; *</a:t>
            </a:r>
            <a:r>
              <a:rPr lang="en-US" altLang="zh-CN" dirty="0" err="1"/>
              <a:t>leftChild</a:t>
            </a:r>
            <a:r>
              <a:rPr lang="en-US" altLang="zh-CN" dirty="0"/>
              <a:t>, *</a:t>
            </a:r>
            <a:r>
              <a:rPr lang="en-US" altLang="zh-CN" dirty="0" err="1"/>
              <a:t>rightChild</a:t>
            </a:r>
            <a:r>
              <a:rPr lang="en-US" altLang="zh-CN" dirty="0"/>
              <a:t>;</a:t>
            </a:r>
            <a:endParaRPr lang="en-US" altLang="zh-CN" dirty="0"/>
          </a:p>
          <a:p>
            <a:pPr marL="0" indent="0">
              <a:buNone/>
            </a:pPr>
            <a:r>
              <a:rPr lang="en-US" altLang="zh-CN" dirty="0"/>
              <a:t>     T data;	</a:t>
            </a:r>
            <a:endParaRPr lang="en-US" altLang="zh-CN" dirty="0"/>
          </a:p>
          <a:p>
            <a:pPr marL="0" indent="0">
              <a:buNone/>
            </a:pPr>
            <a:r>
              <a:rPr lang="en-US" altLang="zh-CN" dirty="0"/>
              <a:t>     </a:t>
            </a:r>
            <a:r>
              <a:rPr lang="en-US" altLang="zh-CN" dirty="0" err="1"/>
              <a:t>ThreadNode</a:t>
            </a:r>
            <a:r>
              <a:rPr lang="en-US" altLang="zh-CN" dirty="0"/>
              <a:t> ( const T item )  : data (item),  </a:t>
            </a:r>
            <a:r>
              <a:rPr lang="en-US" altLang="zh-CN" dirty="0" err="1"/>
              <a:t>leftChild</a:t>
            </a:r>
            <a:r>
              <a:rPr lang="en-US" altLang="zh-CN" dirty="0"/>
              <a:t> ( NULL ), </a:t>
            </a:r>
            <a:r>
              <a:rPr lang="en-US" altLang="zh-CN" dirty="0" err="1"/>
              <a:t>rightChild</a:t>
            </a:r>
            <a:r>
              <a:rPr lang="en-US" altLang="zh-CN" dirty="0"/>
              <a:t> ( NULL ), </a:t>
            </a:r>
            <a:r>
              <a:rPr lang="en-US" altLang="zh-CN" dirty="0" err="1"/>
              <a:t>ltag</a:t>
            </a:r>
            <a:r>
              <a:rPr lang="en-US" altLang="zh-CN" dirty="0"/>
              <a:t> (0),  </a:t>
            </a:r>
            <a:r>
              <a:rPr lang="en-US" altLang="zh-CN" dirty="0" err="1"/>
              <a:t>rtag</a:t>
            </a:r>
            <a:r>
              <a:rPr lang="en-US" altLang="zh-CN" dirty="0"/>
              <a:t> (0) { }</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476672"/>
            <a:ext cx="8568952" cy="6192688"/>
          </a:xfrm>
        </p:spPr>
        <p:txBody>
          <a:bodyPr>
            <a:normAutofit fontScale="62500" lnSpcReduction="20000"/>
          </a:bodyPr>
          <a:lstStyle/>
          <a:p>
            <a:pPr marL="0" indent="0">
              <a:buNone/>
            </a:pPr>
            <a:r>
              <a:rPr lang="en-US" altLang="zh-CN" dirty="0"/>
              <a:t>template &lt;class T&gt; class </a:t>
            </a:r>
            <a:r>
              <a:rPr lang="en-US" altLang="zh-CN" dirty="0" err="1"/>
              <a:t>ThreadTree</a:t>
            </a:r>
            <a:r>
              <a:rPr lang="en-US" altLang="zh-CN" dirty="0"/>
              <a:t> {	</a:t>
            </a:r>
            <a:endParaRPr lang="en-US" altLang="zh-CN" dirty="0"/>
          </a:p>
          <a:p>
            <a:pPr marL="0" indent="0">
              <a:buNone/>
            </a:pPr>
            <a:r>
              <a:rPr lang="en-US" altLang="zh-CN" dirty="0"/>
              <a:t>protected:</a:t>
            </a:r>
            <a:endParaRPr lang="en-US" altLang="zh-CN" dirty="0"/>
          </a:p>
          <a:p>
            <a:pPr marL="0" indent="0">
              <a:buNone/>
            </a:pPr>
            <a:r>
              <a:rPr lang="en-US" altLang="zh-CN" dirty="0"/>
              <a:t>    </a:t>
            </a:r>
            <a:r>
              <a:rPr lang="en-US" altLang="zh-CN" dirty="0" err="1"/>
              <a:t>ThreadNode</a:t>
            </a:r>
            <a:r>
              <a:rPr lang="en-US" altLang="zh-CN" dirty="0"/>
              <a:t>&lt;T&gt; * root;               //</a:t>
            </a:r>
            <a:r>
              <a:rPr lang="zh-CN" altLang="en-US" dirty="0"/>
              <a:t>根 </a:t>
            </a:r>
            <a:endParaRPr lang="zh-CN" altLang="en-US" dirty="0"/>
          </a:p>
          <a:p>
            <a:pPr marL="0" indent="0">
              <a:buNone/>
            </a:pPr>
            <a:r>
              <a:rPr lang="zh-CN" altLang="en-US" dirty="0"/>
              <a:t>    </a:t>
            </a:r>
            <a:r>
              <a:rPr lang="en-US" altLang="zh-CN" dirty="0"/>
              <a:t>void </a:t>
            </a:r>
            <a:r>
              <a:rPr lang="en-US" altLang="zh-CN" dirty="0" err="1"/>
              <a:t>createInThread</a:t>
            </a:r>
            <a:r>
              <a:rPr lang="en-US" altLang="zh-CN" dirty="0"/>
              <a:t> ( </a:t>
            </a:r>
            <a:r>
              <a:rPr lang="en-US" altLang="zh-CN" dirty="0" err="1"/>
              <a:t>ThreadNode</a:t>
            </a:r>
            <a:r>
              <a:rPr lang="en-US" altLang="zh-CN" dirty="0"/>
              <a:t> &lt;T&gt; * current, </a:t>
            </a:r>
            <a:r>
              <a:rPr lang="en-US" altLang="zh-CN" dirty="0" err="1"/>
              <a:t>ThreadNode</a:t>
            </a:r>
            <a:r>
              <a:rPr lang="en-US" altLang="zh-CN" dirty="0"/>
              <a:t> &lt;T&gt; * &amp;pre );               //</a:t>
            </a:r>
            <a:r>
              <a:rPr lang="zh-CN" altLang="en-US" dirty="0"/>
              <a:t>建树</a:t>
            </a:r>
            <a:endParaRPr lang="zh-CN" altLang="en-US" dirty="0"/>
          </a:p>
          <a:p>
            <a:pPr marL="0" indent="0">
              <a:buNone/>
            </a:pPr>
            <a:r>
              <a:rPr lang="zh-CN" altLang="en-US" dirty="0"/>
              <a:t>    </a:t>
            </a:r>
            <a:r>
              <a:rPr lang="en-US" altLang="zh-CN" dirty="0" err="1"/>
              <a:t>ThreadNode</a:t>
            </a:r>
            <a:r>
              <a:rPr lang="en-US" altLang="zh-CN" dirty="0"/>
              <a:t>&lt;T&gt; *parent(</a:t>
            </a:r>
            <a:r>
              <a:rPr lang="en-US" altLang="zh-CN" dirty="0" err="1"/>
              <a:t>ThreadNode</a:t>
            </a:r>
            <a:r>
              <a:rPr lang="en-US" altLang="zh-CN" dirty="0"/>
              <a:t> &lt;T&gt; * t);  </a:t>
            </a:r>
            <a:endParaRPr lang="en-US" altLang="zh-CN" dirty="0"/>
          </a:p>
          <a:p>
            <a:pPr marL="0" indent="0">
              <a:buNone/>
            </a:pPr>
            <a:r>
              <a:rPr lang="en-US" altLang="zh-CN" dirty="0"/>
              <a:t>           //</a:t>
            </a:r>
            <a:r>
              <a:rPr lang="zh-CN" altLang="en-US" dirty="0"/>
              <a:t>寻找结点</a:t>
            </a:r>
            <a:r>
              <a:rPr lang="en-US" altLang="zh-CN" dirty="0"/>
              <a:t>t</a:t>
            </a:r>
            <a:r>
              <a:rPr lang="zh-CN" altLang="en-US" dirty="0"/>
              <a:t>的父结点 </a:t>
            </a:r>
            <a:endParaRPr lang="zh-CN" altLang="en-US" dirty="0"/>
          </a:p>
          <a:p>
            <a:pPr marL="0" indent="0">
              <a:buNone/>
            </a:pPr>
            <a:r>
              <a:rPr lang="en-US" altLang="zh-CN" dirty="0"/>
              <a:t>public:</a:t>
            </a:r>
            <a:endParaRPr lang="en-US" altLang="zh-CN" dirty="0"/>
          </a:p>
          <a:p>
            <a:pPr marL="0" indent="0">
              <a:buNone/>
            </a:pPr>
            <a:r>
              <a:rPr lang="en-US" altLang="zh-CN" dirty="0"/>
              <a:t>    </a:t>
            </a:r>
            <a:r>
              <a:rPr lang="en-US" altLang="zh-CN" dirty="0" err="1"/>
              <a:t>ThreadTree</a:t>
            </a:r>
            <a:r>
              <a:rPr lang="en-US" altLang="zh-CN" dirty="0"/>
              <a:t> ( ) : root (NULL) { };     //</a:t>
            </a:r>
            <a:r>
              <a:rPr lang="zh-CN" altLang="en-US" dirty="0"/>
              <a:t>构造函数</a:t>
            </a:r>
            <a:endParaRPr lang="zh-CN" altLang="en-US" dirty="0"/>
          </a:p>
          <a:p>
            <a:pPr marL="0" indent="0">
              <a:buNone/>
            </a:pPr>
            <a:r>
              <a:rPr lang="zh-CN" altLang="en-US" dirty="0"/>
              <a:t>    </a:t>
            </a:r>
            <a:r>
              <a:rPr lang="en-US" altLang="zh-CN" dirty="0"/>
              <a:t>void </a:t>
            </a:r>
            <a:r>
              <a:rPr lang="en-US" altLang="zh-CN" dirty="0" err="1"/>
              <a:t>CreateInThread</a:t>
            </a:r>
            <a:r>
              <a:rPr lang="en-US" altLang="zh-CN" dirty="0"/>
              <a:t> ( );</a:t>
            </a:r>
            <a:endParaRPr lang="en-US" altLang="zh-CN" dirty="0"/>
          </a:p>
          <a:p>
            <a:pPr marL="0" indent="0">
              <a:buNone/>
            </a:pPr>
            <a:r>
              <a:rPr lang="en-US" altLang="zh-CN" dirty="0"/>
              <a:t>    </a:t>
            </a:r>
            <a:r>
              <a:rPr lang="en-US" altLang="zh-CN" dirty="0" err="1"/>
              <a:t>ThreadNode</a:t>
            </a:r>
            <a:r>
              <a:rPr lang="en-US" altLang="zh-CN" dirty="0"/>
              <a:t>&lt;T&gt; *First ( </a:t>
            </a:r>
            <a:r>
              <a:rPr lang="en-US" altLang="zh-CN" dirty="0" err="1"/>
              <a:t>ThreadNode</a:t>
            </a:r>
            <a:r>
              <a:rPr lang="en-US" altLang="zh-CN" dirty="0"/>
              <a:t> &lt;T&gt; * current );</a:t>
            </a:r>
            <a:endParaRPr lang="en-US" altLang="zh-CN" dirty="0"/>
          </a:p>
          <a:p>
            <a:pPr marL="0" indent="0">
              <a:buNone/>
            </a:pPr>
            <a:r>
              <a:rPr lang="en-US" altLang="zh-CN" dirty="0"/>
              <a:t>    </a:t>
            </a:r>
            <a:r>
              <a:rPr lang="en-US" altLang="zh-CN" dirty="0" err="1"/>
              <a:t>ThreadNode</a:t>
            </a:r>
            <a:r>
              <a:rPr lang="en-US" altLang="zh-CN" dirty="0"/>
              <a:t>&lt;T&gt; *Last ( </a:t>
            </a:r>
            <a:r>
              <a:rPr lang="en-US" altLang="zh-CN" dirty="0" err="1"/>
              <a:t>ThreadNode</a:t>
            </a:r>
            <a:r>
              <a:rPr lang="en-US" altLang="zh-CN" dirty="0"/>
              <a:t> &lt;T&gt; * current );        </a:t>
            </a:r>
            <a:endParaRPr lang="en-US" altLang="zh-CN" dirty="0"/>
          </a:p>
          <a:p>
            <a:pPr marL="0" indent="0">
              <a:buNone/>
            </a:pPr>
            <a:r>
              <a:rPr lang="en-US" altLang="zh-CN" dirty="0"/>
              <a:t>    </a:t>
            </a:r>
            <a:r>
              <a:rPr lang="en-US" altLang="zh-CN" dirty="0" err="1"/>
              <a:t>ThreadNode</a:t>
            </a:r>
            <a:r>
              <a:rPr lang="en-US" altLang="zh-CN" dirty="0"/>
              <a:t>&lt;T&gt; *Next ( </a:t>
            </a:r>
            <a:r>
              <a:rPr lang="en-US" altLang="zh-CN" dirty="0" err="1"/>
              <a:t>ThreadNode</a:t>
            </a:r>
            <a:r>
              <a:rPr lang="en-US" altLang="zh-CN" dirty="0"/>
              <a:t> &lt;T&gt; * current );</a:t>
            </a:r>
            <a:endParaRPr lang="en-US" altLang="zh-CN" dirty="0"/>
          </a:p>
          <a:p>
            <a:pPr marL="0" indent="0">
              <a:buNone/>
            </a:pPr>
            <a:r>
              <a:rPr lang="en-US" altLang="zh-CN" dirty="0"/>
              <a:t>    </a:t>
            </a:r>
            <a:r>
              <a:rPr lang="en-US" altLang="zh-CN" dirty="0" err="1"/>
              <a:t>ThreadNode</a:t>
            </a:r>
            <a:r>
              <a:rPr lang="en-US" altLang="zh-CN" dirty="0"/>
              <a:t>&lt;T&gt; *Prior ( </a:t>
            </a:r>
            <a:r>
              <a:rPr lang="en-US" altLang="zh-CN" dirty="0" err="1"/>
              <a:t>ThreadNode</a:t>
            </a:r>
            <a:r>
              <a:rPr lang="en-US" altLang="zh-CN" dirty="0"/>
              <a:t> &lt;T&gt; * current );</a:t>
            </a:r>
            <a:endParaRPr lang="en-US" altLang="zh-CN" dirty="0"/>
          </a:p>
          <a:p>
            <a:pPr marL="0" indent="0">
              <a:buNone/>
            </a:pPr>
            <a:r>
              <a:rPr lang="en-US" altLang="zh-CN" dirty="0"/>
              <a:t>    …………</a:t>
            </a:r>
            <a:endParaRPr lang="en-US" altLang="zh-CN" dirty="0"/>
          </a:p>
          <a:p>
            <a:pPr marL="0" indent="0">
              <a:buNone/>
            </a:pPr>
            <a:r>
              <a:rPr lang="en-US" altLang="zh-CN" dirty="0"/>
              <a:t>} </a:t>
            </a: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Line 2"/>
          <p:cNvSpPr>
            <a:spLocks noChangeShapeType="1"/>
          </p:cNvSpPr>
          <p:nvPr/>
        </p:nvSpPr>
        <p:spPr bwMode="auto">
          <a:xfrm>
            <a:off x="2200672" y="2170584"/>
            <a:ext cx="304800" cy="457200"/>
          </a:xfrm>
          <a:prstGeom prst="line">
            <a:avLst/>
          </a:prstGeom>
          <a:noFill/>
          <a:ln w="28575">
            <a:solidFill>
              <a:srgbClr val="00808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7" name="Line 3"/>
          <p:cNvSpPr>
            <a:spLocks noChangeShapeType="1"/>
          </p:cNvSpPr>
          <p:nvPr/>
        </p:nvSpPr>
        <p:spPr bwMode="auto">
          <a:xfrm>
            <a:off x="2734072" y="3008784"/>
            <a:ext cx="228600" cy="457200"/>
          </a:xfrm>
          <a:prstGeom prst="line">
            <a:avLst/>
          </a:prstGeom>
          <a:noFill/>
          <a:ln w="28575">
            <a:solidFill>
              <a:srgbClr val="00808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8" name="Line 4"/>
          <p:cNvSpPr>
            <a:spLocks noChangeShapeType="1"/>
          </p:cNvSpPr>
          <p:nvPr/>
        </p:nvSpPr>
        <p:spPr bwMode="auto">
          <a:xfrm>
            <a:off x="3267472" y="3923184"/>
            <a:ext cx="228600" cy="381000"/>
          </a:xfrm>
          <a:prstGeom prst="line">
            <a:avLst/>
          </a:prstGeom>
          <a:noFill/>
          <a:ln w="28575">
            <a:solidFill>
              <a:srgbClr val="00808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9" name="Line 5"/>
          <p:cNvSpPr>
            <a:spLocks noChangeShapeType="1"/>
          </p:cNvSpPr>
          <p:nvPr/>
        </p:nvSpPr>
        <p:spPr bwMode="auto">
          <a:xfrm flipH="1">
            <a:off x="2734072" y="3999384"/>
            <a:ext cx="228600" cy="381000"/>
          </a:xfrm>
          <a:prstGeom prst="line">
            <a:avLst/>
          </a:prstGeom>
          <a:noFill/>
          <a:ln w="28575">
            <a:solidFill>
              <a:srgbClr val="00808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0" name="Line 6"/>
          <p:cNvSpPr>
            <a:spLocks noChangeShapeType="1"/>
          </p:cNvSpPr>
          <p:nvPr/>
        </p:nvSpPr>
        <p:spPr bwMode="auto">
          <a:xfrm>
            <a:off x="2734072" y="4761384"/>
            <a:ext cx="228600" cy="533400"/>
          </a:xfrm>
          <a:prstGeom prst="line">
            <a:avLst/>
          </a:prstGeom>
          <a:noFill/>
          <a:ln w="28575">
            <a:solidFill>
              <a:srgbClr val="00808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1" name="Line 7"/>
          <p:cNvSpPr>
            <a:spLocks noChangeShapeType="1"/>
          </p:cNvSpPr>
          <p:nvPr/>
        </p:nvSpPr>
        <p:spPr bwMode="auto">
          <a:xfrm flipH="1">
            <a:off x="1286272" y="2170584"/>
            <a:ext cx="609600" cy="457200"/>
          </a:xfrm>
          <a:prstGeom prst="line">
            <a:avLst/>
          </a:prstGeom>
          <a:noFill/>
          <a:ln w="28575">
            <a:solidFill>
              <a:srgbClr val="00808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2" name="Line 8"/>
          <p:cNvSpPr>
            <a:spLocks noChangeShapeType="1"/>
          </p:cNvSpPr>
          <p:nvPr/>
        </p:nvSpPr>
        <p:spPr bwMode="auto">
          <a:xfrm>
            <a:off x="1210072" y="3008784"/>
            <a:ext cx="381000" cy="533400"/>
          </a:xfrm>
          <a:prstGeom prst="line">
            <a:avLst/>
          </a:prstGeom>
          <a:noFill/>
          <a:ln w="28575">
            <a:solidFill>
              <a:srgbClr val="00808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3" name="Line 9"/>
          <p:cNvSpPr>
            <a:spLocks noChangeShapeType="1"/>
          </p:cNvSpPr>
          <p:nvPr/>
        </p:nvSpPr>
        <p:spPr bwMode="auto">
          <a:xfrm flipH="1">
            <a:off x="1286272" y="3923184"/>
            <a:ext cx="228600" cy="381000"/>
          </a:xfrm>
          <a:prstGeom prst="line">
            <a:avLst/>
          </a:prstGeom>
          <a:noFill/>
          <a:ln w="28575">
            <a:solidFill>
              <a:srgbClr val="00808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4" name="Line 10"/>
          <p:cNvSpPr>
            <a:spLocks noChangeShapeType="1"/>
          </p:cNvSpPr>
          <p:nvPr/>
        </p:nvSpPr>
        <p:spPr bwMode="auto">
          <a:xfrm>
            <a:off x="1286272" y="4761384"/>
            <a:ext cx="304800" cy="533400"/>
          </a:xfrm>
          <a:prstGeom prst="line">
            <a:avLst/>
          </a:prstGeom>
          <a:noFill/>
          <a:ln w="28575">
            <a:solidFill>
              <a:srgbClr val="00808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5" name="Line 11"/>
          <p:cNvSpPr>
            <a:spLocks noChangeShapeType="1"/>
          </p:cNvSpPr>
          <p:nvPr/>
        </p:nvSpPr>
        <p:spPr bwMode="auto">
          <a:xfrm flipH="1">
            <a:off x="524272" y="3008784"/>
            <a:ext cx="381000" cy="457200"/>
          </a:xfrm>
          <a:prstGeom prst="line">
            <a:avLst/>
          </a:prstGeom>
          <a:noFill/>
          <a:ln w="28575">
            <a:solidFill>
              <a:srgbClr val="00808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6" name="Text Box 12"/>
          <p:cNvSpPr txBox="1">
            <a:spLocks noChangeArrowheads="1"/>
          </p:cNvSpPr>
          <p:nvPr/>
        </p:nvSpPr>
        <p:spPr bwMode="auto">
          <a:xfrm>
            <a:off x="3279313" y="1626072"/>
            <a:ext cx="5562600"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kumimoji="1" lang="en-US" altLang="zh-CN" sz="3200" b="1" dirty="0">
                <a:latin typeface="+mj-lt"/>
                <a:ea typeface="仿宋_GB2312" panose="02010609030101010101" pitchFamily="49" charset="-122"/>
              </a:rPr>
              <a:t>if</a:t>
            </a:r>
            <a:r>
              <a:rPr kumimoji="1" lang="en-US" altLang="zh-CN" sz="3200" dirty="0">
                <a:latin typeface="+mj-lt"/>
                <a:ea typeface="仿宋_GB2312" panose="02010609030101010101" pitchFamily="49" charset="-122"/>
              </a:rPr>
              <a:t> (current</a:t>
            </a:r>
            <a:r>
              <a:rPr kumimoji="1" lang="en-US" altLang="zh-CN" sz="3200" dirty="0">
                <a:latin typeface="+mj-lt"/>
                <a:ea typeface="楷体_GB2312" panose="02010609030101010101" pitchFamily="49" charset="-122"/>
              </a:rPr>
              <a:t>-&gt;</a:t>
            </a:r>
            <a:r>
              <a:rPr kumimoji="1" lang="en-US" altLang="zh-CN" sz="3200" dirty="0" err="1">
                <a:latin typeface="+mj-lt"/>
                <a:ea typeface="仿宋_GB2312" panose="02010609030101010101" pitchFamily="49" charset="-122"/>
                <a:sym typeface="Symbol" panose="05050102010706020507" pitchFamily="18" charset="2"/>
              </a:rPr>
              <a:t>rtag</a:t>
            </a:r>
            <a:r>
              <a:rPr kumimoji="1" lang="en-US" altLang="zh-CN" sz="3200" dirty="0">
                <a:latin typeface="+mj-lt"/>
                <a:ea typeface="仿宋_GB2312" panose="02010609030101010101" pitchFamily="49" charset="-122"/>
                <a:sym typeface="Symbol" panose="05050102010706020507" pitchFamily="18" charset="2"/>
              </a:rPr>
              <a:t> </a:t>
            </a:r>
            <a:r>
              <a:rPr kumimoji="1" lang="en-US" altLang="zh-CN" sz="3200" i="1" dirty="0">
                <a:latin typeface="+mj-lt"/>
                <a:ea typeface="仿宋_GB2312" panose="02010609030101010101" pitchFamily="49" charset="-122"/>
                <a:sym typeface="Symbol" panose="05050102010706020507" pitchFamily="18" charset="2"/>
              </a:rPr>
              <a:t>==</a:t>
            </a:r>
            <a:r>
              <a:rPr kumimoji="1" lang="en-US" altLang="zh-CN" sz="3200" dirty="0">
                <a:latin typeface="+mj-lt"/>
                <a:ea typeface="仿宋_GB2312" panose="02010609030101010101" pitchFamily="49" charset="-122"/>
                <a:sym typeface="Symbol" panose="05050102010706020507" pitchFamily="18" charset="2"/>
              </a:rPr>
              <a:t>1) </a:t>
            </a:r>
            <a:endParaRPr kumimoji="1" lang="en-US" altLang="zh-CN" sz="3200" dirty="0">
              <a:latin typeface="+mj-lt"/>
              <a:ea typeface="仿宋_GB2312" panose="02010609030101010101" pitchFamily="49" charset="-122"/>
              <a:sym typeface="Symbol" panose="05050102010706020507" pitchFamily="18" charset="2"/>
            </a:endParaRPr>
          </a:p>
          <a:p>
            <a:pPr eaLnBrk="1" hangingPunct="1">
              <a:lnSpc>
                <a:spcPct val="110000"/>
              </a:lnSpc>
            </a:pPr>
            <a:r>
              <a:rPr kumimoji="1" lang="en-US" altLang="zh-CN" sz="3200" dirty="0">
                <a:latin typeface="+mj-lt"/>
                <a:ea typeface="仿宋_GB2312" panose="02010609030101010101" pitchFamily="49" charset="-122"/>
                <a:sym typeface="Symbol" panose="05050102010706020507" pitchFamily="18" charset="2"/>
              </a:rPr>
              <a:t>      </a:t>
            </a:r>
            <a:r>
              <a:rPr kumimoji="1" lang="zh-CN" altLang="en-US" sz="3200" dirty="0">
                <a:latin typeface="+mj-lt"/>
                <a:ea typeface="仿宋_GB2312" panose="02010609030101010101" pitchFamily="49" charset="-122"/>
                <a:sym typeface="Symbol" panose="05050102010706020507" pitchFamily="18" charset="2"/>
              </a:rPr>
              <a:t>后继为</a:t>
            </a:r>
            <a:r>
              <a:rPr kumimoji="1" lang="en-US" altLang="zh-CN" sz="3200" dirty="0">
                <a:latin typeface="+mj-lt"/>
                <a:ea typeface="仿宋_GB2312" panose="02010609030101010101" pitchFamily="49" charset="-122"/>
                <a:sym typeface="Symbol" panose="05050102010706020507" pitchFamily="18" charset="2"/>
              </a:rPr>
              <a:t>current</a:t>
            </a:r>
            <a:r>
              <a:rPr kumimoji="1" lang="en-US" altLang="zh-CN" sz="3200" dirty="0">
                <a:latin typeface="+mj-lt"/>
                <a:ea typeface="楷体_GB2312" panose="02010609030101010101" pitchFamily="49" charset="-122"/>
                <a:sym typeface="Symbol" panose="05050102010706020507" pitchFamily="18" charset="2"/>
              </a:rPr>
              <a:t>-&gt;</a:t>
            </a:r>
            <a:r>
              <a:rPr kumimoji="1" lang="en-US" altLang="zh-CN" sz="3200" dirty="0" err="1">
                <a:latin typeface="+mj-lt"/>
                <a:ea typeface="仿宋_GB2312" panose="02010609030101010101" pitchFamily="49" charset="-122"/>
                <a:sym typeface="Symbol" panose="05050102010706020507" pitchFamily="18" charset="2"/>
              </a:rPr>
              <a:t>rightChild</a:t>
            </a:r>
            <a:endParaRPr kumimoji="1" lang="en-US" altLang="zh-CN" sz="3200" dirty="0">
              <a:latin typeface="+mj-lt"/>
              <a:ea typeface="仿宋_GB2312" panose="02010609030101010101" pitchFamily="49" charset="-122"/>
              <a:sym typeface="Symbol" panose="05050102010706020507" pitchFamily="18" charset="2"/>
            </a:endParaRPr>
          </a:p>
          <a:p>
            <a:pPr eaLnBrk="1" hangingPunct="1">
              <a:lnSpc>
                <a:spcPct val="110000"/>
              </a:lnSpc>
            </a:pPr>
            <a:r>
              <a:rPr kumimoji="1" lang="en-US" altLang="zh-CN" sz="3200" b="1" dirty="0">
                <a:latin typeface="+mj-lt"/>
                <a:ea typeface="仿宋_GB2312" panose="02010609030101010101" pitchFamily="49" charset="-122"/>
                <a:sym typeface="Symbol" panose="05050102010706020507" pitchFamily="18" charset="2"/>
              </a:rPr>
              <a:t>else</a:t>
            </a:r>
            <a:r>
              <a:rPr kumimoji="1" lang="en-US" altLang="zh-CN" sz="3200" dirty="0">
                <a:latin typeface="+mj-lt"/>
                <a:ea typeface="仿宋_GB2312" panose="02010609030101010101" pitchFamily="49" charset="-122"/>
                <a:sym typeface="Symbol" panose="05050102010706020507" pitchFamily="18" charset="2"/>
              </a:rPr>
              <a:t>  //current</a:t>
            </a:r>
            <a:r>
              <a:rPr kumimoji="1" lang="en-US" altLang="zh-CN" sz="3200" dirty="0">
                <a:latin typeface="+mj-lt"/>
                <a:ea typeface="楷体_GB2312" panose="02010609030101010101" pitchFamily="49" charset="-122"/>
              </a:rPr>
              <a:t>-&gt;</a:t>
            </a:r>
            <a:r>
              <a:rPr kumimoji="1" lang="en-US" altLang="zh-CN" sz="3200" dirty="0" err="1">
                <a:latin typeface="+mj-lt"/>
                <a:ea typeface="仿宋_GB2312" panose="02010609030101010101" pitchFamily="49" charset="-122"/>
                <a:sym typeface="Symbol" panose="05050102010706020507" pitchFamily="18" charset="2"/>
              </a:rPr>
              <a:t>rtag</a:t>
            </a:r>
            <a:r>
              <a:rPr kumimoji="1" lang="en-US" altLang="zh-CN" sz="3200" dirty="0">
                <a:latin typeface="+mj-lt"/>
                <a:ea typeface="仿宋_GB2312" panose="02010609030101010101" pitchFamily="49" charset="-122"/>
                <a:sym typeface="Symbol" panose="05050102010706020507" pitchFamily="18" charset="2"/>
              </a:rPr>
              <a:t> != 1 </a:t>
            </a:r>
            <a:endParaRPr kumimoji="1" lang="en-US" altLang="zh-CN" sz="3200" dirty="0">
              <a:latin typeface="+mj-lt"/>
              <a:ea typeface="仿宋_GB2312" panose="02010609030101010101" pitchFamily="49" charset="-122"/>
              <a:sym typeface="Symbol" panose="05050102010706020507" pitchFamily="18" charset="2"/>
            </a:endParaRPr>
          </a:p>
          <a:p>
            <a:pPr eaLnBrk="1" hangingPunct="1">
              <a:lnSpc>
                <a:spcPct val="110000"/>
              </a:lnSpc>
            </a:pPr>
            <a:r>
              <a:rPr kumimoji="1" lang="en-US" altLang="zh-CN" sz="3200" b="1" dirty="0">
                <a:latin typeface="+mj-lt"/>
                <a:ea typeface="仿宋_GB2312" panose="02010609030101010101" pitchFamily="49" charset="-122"/>
                <a:sym typeface="Symbol" panose="05050102010706020507" pitchFamily="18" charset="2"/>
              </a:rPr>
              <a:t>       </a:t>
            </a:r>
            <a:r>
              <a:rPr kumimoji="1" lang="zh-CN" altLang="en-US" sz="3200" dirty="0">
                <a:latin typeface="+mj-lt"/>
                <a:ea typeface="仿宋_GB2312" panose="02010609030101010101" pitchFamily="49" charset="-122"/>
                <a:sym typeface="Symbol" panose="05050102010706020507" pitchFamily="18" charset="2"/>
              </a:rPr>
              <a:t>后继为当前结点右子树</a:t>
            </a:r>
            <a:endParaRPr kumimoji="1" lang="zh-CN" altLang="en-US" sz="3200" dirty="0">
              <a:latin typeface="+mj-lt"/>
              <a:ea typeface="仿宋_GB2312" panose="02010609030101010101" pitchFamily="49" charset="-122"/>
              <a:sym typeface="Symbol" panose="05050102010706020507" pitchFamily="18" charset="2"/>
            </a:endParaRPr>
          </a:p>
          <a:p>
            <a:pPr eaLnBrk="1" hangingPunct="1">
              <a:lnSpc>
                <a:spcPct val="110000"/>
              </a:lnSpc>
            </a:pPr>
            <a:r>
              <a:rPr kumimoji="1" lang="zh-CN" altLang="en-US" sz="3200" dirty="0">
                <a:latin typeface="+mj-lt"/>
                <a:ea typeface="仿宋_GB2312" panose="02010609030101010101" pitchFamily="49" charset="-122"/>
                <a:sym typeface="Symbol" panose="05050102010706020507" pitchFamily="18" charset="2"/>
              </a:rPr>
              <a:t>       的中序下的第一个结点</a:t>
            </a:r>
            <a:endParaRPr kumimoji="1" lang="zh-CN" altLang="en-US" sz="2800" dirty="0">
              <a:latin typeface="+mj-lt"/>
              <a:ea typeface="仿宋_GB2312" panose="02010609030101010101" pitchFamily="49" charset="-122"/>
              <a:sym typeface="Symbol" panose="05050102010706020507" pitchFamily="18" charset="2"/>
            </a:endParaRPr>
          </a:p>
        </p:txBody>
      </p:sp>
      <p:sp>
        <p:nvSpPr>
          <p:cNvPr id="82958" name="Oval 14"/>
          <p:cNvSpPr>
            <a:spLocks noChangeArrowheads="1"/>
          </p:cNvSpPr>
          <p:nvPr/>
        </p:nvSpPr>
        <p:spPr bwMode="auto">
          <a:xfrm>
            <a:off x="1819672" y="1713384"/>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3200">
                <a:solidFill>
                  <a:srgbClr val="000099"/>
                </a:solidFill>
                <a:latin typeface="Times New Roman" panose="02020603050405020304" pitchFamily="18" charset="0"/>
                <a:ea typeface="黑体" panose="02010609060101010101" pitchFamily="2" charset="-122"/>
              </a:rPr>
              <a:t>A</a:t>
            </a:r>
            <a:endParaRPr lang="en-US" altLang="zh-CN">
              <a:latin typeface="Arial" panose="020B0604020202020204" pitchFamily="34" charset="0"/>
              <a:ea typeface="黑体" panose="02010609060101010101" pitchFamily="2" charset="-122"/>
            </a:endParaRPr>
          </a:p>
        </p:txBody>
      </p:sp>
      <p:sp>
        <p:nvSpPr>
          <p:cNvPr id="82959" name="Oval 15"/>
          <p:cNvSpPr>
            <a:spLocks noChangeArrowheads="1"/>
          </p:cNvSpPr>
          <p:nvPr/>
        </p:nvSpPr>
        <p:spPr bwMode="auto">
          <a:xfrm>
            <a:off x="829072" y="2551584"/>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2" charset="-122"/>
              </a:rPr>
              <a:t>B</a:t>
            </a:r>
            <a:endParaRPr lang="en-US" altLang="zh-CN">
              <a:solidFill>
                <a:srgbClr val="000099"/>
              </a:solidFill>
              <a:latin typeface="Arial" panose="020B0604020202020204" pitchFamily="34" charset="0"/>
              <a:ea typeface="黑体" panose="02010609060101010101" pitchFamily="2" charset="-122"/>
            </a:endParaRPr>
          </a:p>
        </p:txBody>
      </p:sp>
      <p:sp>
        <p:nvSpPr>
          <p:cNvPr id="82960" name="Oval 16"/>
          <p:cNvSpPr>
            <a:spLocks noChangeArrowheads="1"/>
          </p:cNvSpPr>
          <p:nvPr/>
        </p:nvSpPr>
        <p:spPr bwMode="auto">
          <a:xfrm>
            <a:off x="143272" y="3389784"/>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2" charset="-122"/>
              </a:rPr>
              <a:t>D</a:t>
            </a:r>
            <a:endParaRPr lang="en-US" altLang="zh-CN">
              <a:latin typeface="Arial" panose="020B0604020202020204" pitchFamily="34" charset="0"/>
              <a:ea typeface="黑体" panose="02010609060101010101" pitchFamily="2" charset="-122"/>
            </a:endParaRPr>
          </a:p>
        </p:txBody>
      </p:sp>
      <p:sp>
        <p:nvSpPr>
          <p:cNvPr id="82961" name="Oval 17"/>
          <p:cNvSpPr>
            <a:spLocks noChangeArrowheads="1"/>
          </p:cNvSpPr>
          <p:nvPr/>
        </p:nvSpPr>
        <p:spPr bwMode="auto">
          <a:xfrm>
            <a:off x="1438672" y="3465984"/>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2" charset="-122"/>
              </a:rPr>
              <a:t>E</a:t>
            </a:r>
            <a:endParaRPr lang="en-US" altLang="zh-CN">
              <a:latin typeface="Arial" panose="020B0604020202020204" pitchFamily="34" charset="0"/>
              <a:ea typeface="黑体" panose="02010609060101010101" pitchFamily="2" charset="-122"/>
            </a:endParaRPr>
          </a:p>
        </p:txBody>
      </p:sp>
      <p:sp>
        <p:nvSpPr>
          <p:cNvPr id="82962" name="Oval 18"/>
          <p:cNvSpPr>
            <a:spLocks noChangeArrowheads="1"/>
          </p:cNvSpPr>
          <p:nvPr/>
        </p:nvSpPr>
        <p:spPr bwMode="auto">
          <a:xfrm>
            <a:off x="2353072" y="2551584"/>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2" charset="-122"/>
              </a:rPr>
              <a:t>C</a:t>
            </a:r>
            <a:endParaRPr lang="en-US" altLang="zh-CN">
              <a:latin typeface="Arial" panose="020B0604020202020204" pitchFamily="34" charset="0"/>
              <a:ea typeface="黑体" panose="02010609060101010101" pitchFamily="2" charset="-122"/>
            </a:endParaRPr>
          </a:p>
        </p:txBody>
      </p:sp>
      <p:sp>
        <p:nvSpPr>
          <p:cNvPr id="82963" name="Oval 19"/>
          <p:cNvSpPr>
            <a:spLocks noChangeArrowheads="1"/>
          </p:cNvSpPr>
          <p:nvPr/>
        </p:nvSpPr>
        <p:spPr bwMode="auto">
          <a:xfrm>
            <a:off x="2810272" y="3465984"/>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a:solidFill>
                  <a:srgbClr val="000099"/>
                </a:solidFill>
                <a:latin typeface="Times New Roman" panose="02020603050405020304" pitchFamily="18" charset="0"/>
                <a:ea typeface="黑体" panose="02010609060101010101" pitchFamily="2" charset="-122"/>
              </a:rPr>
              <a:t>F</a:t>
            </a:r>
            <a:endParaRPr lang="en-US" altLang="zh-CN">
              <a:latin typeface="Arial" panose="020B0604020202020204" pitchFamily="34" charset="0"/>
              <a:ea typeface="黑体" panose="02010609060101010101" pitchFamily="2" charset="-122"/>
            </a:endParaRPr>
          </a:p>
        </p:txBody>
      </p:sp>
      <p:sp>
        <p:nvSpPr>
          <p:cNvPr id="82964" name="Oval 20"/>
          <p:cNvSpPr>
            <a:spLocks noChangeArrowheads="1"/>
          </p:cNvSpPr>
          <p:nvPr/>
        </p:nvSpPr>
        <p:spPr bwMode="auto">
          <a:xfrm>
            <a:off x="2353072" y="4304184"/>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2" charset="-122"/>
              </a:rPr>
              <a:t>H</a:t>
            </a:r>
            <a:endParaRPr lang="en-US" altLang="zh-CN">
              <a:latin typeface="Arial" panose="020B0604020202020204" pitchFamily="34" charset="0"/>
              <a:ea typeface="黑体" panose="02010609060101010101" pitchFamily="2" charset="-122"/>
            </a:endParaRPr>
          </a:p>
        </p:txBody>
      </p:sp>
      <p:sp>
        <p:nvSpPr>
          <p:cNvPr id="82965" name="Oval 21"/>
          <p:cNvSpPr>
            <a:spLocks noChangeArrowheads="1"/>
          </p:cNvSpPr>
          <p:nvPr/>
        </p:nvSpPr>
        <p:spPr bwMode="auto">
          <a:xfrm>
            <a:off x="3343672" y="4304184"/>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2" charset="-122"/>
              </a:rPr>
              <a:t>I</a:t>
            </a:r>
            <a:endParaRPr lang="en-US" altLang="zh-CN">
              <a:latin typeface="Arial" panose="020B0604020202020204" pitchFamily="34" charset="0"/>
              <a:ea typeface="黑体" panose="02010609060101010101" pitchFamily="2" charset="-122"/>
            </a:endParaRPr>
          </a:p>
        </p:txBody>
      </p:sp>
      <p:sp>
        <p:nvSpPr>
          <p:cNvPr id="82966" name="Oval 22"/>
          <p:cNvSpPr>
            <a:spLocks noChangeArrowheads="1"/>
          </p:cNvSpPr>
          <p:nvPr/>
        </p:nvSpPr>
        <p:spPr bwMode="auto">
          <a:xfrm>
            <a:off x="2810272" y="5218584"/>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2" charset="-122"/>
              </a:rPr>
              <a:t>K</a:t>
            </a:r>
            <a:endParaRPr lang="en-US" altLang="zh-CN">
              <a:latin typeface="Arial" panose="020B0604020202020204" pitchFamily="34" charset="0"/>
              <a:ea typeface="黑体" panose="02010609060101010101" pitchFamily="2" charset="-122"/>
            </a:endParaRPr>
          </a:p>
        </p:txBody>
      </p:sp>
      <p:sp>
        <p:nvSpPr>
          <p:cNvPr id="82967" name="Oval 23"/>
          <p:cNvSpPr>
            <a:spLocks noChangeArrowheads="1"/>
          </p:cNvSpPr>
          <p:nvPr/>
        </p:nvSpPr>
        <p:spPr bwMode="auto">
          <a:xfrm>
            <a:off x="905272" y="4304184"/>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2" charset="-122"/>
              </a:rPr>
              <a:t>G</a:t>
            </a:r>
            <a:endParaRPr lang="en-US" altLang="zh-CN">
              <a:latin typeface="Arial" panose="020B0604020202020204" pitchFamily="34" charset="0"/>
              <a:ea typeface="黑体" panose="02010609060101010101" pitchFamily="2" charset="-122"/>
            </a:endParaRPr>
          </a:p>
        </p:txBody>
      </p:sp>
      <p:sp>
        <p:nvSpPr>
          <p:cNvPr id="82968" name="Oval 24"/>
          <p:cNvSpPr>
            <a:spLocks noChangeArrowheads="1"/>
          </p:cNvSpPr>
          <p:nvPr/>
        </p:nvSpPr>
        <p:spPr bwMode="auto">
          <a:xfrm>
            <a:off x="1421210" y="5218584"/>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2" charset="-122"/>
              </a:rPr>
              <a:t>J</a:t>
            </a:r>
            <a:endParaRPr lang="en-US" altLang="zh-CN">
              <a:latin typeface="Arial" panose="020B0604020202020204" pitchFamily="34" charset="0"/>
              <a:ea typeface="黑体" panose="02010609060101010101" pitchFamily="2" charset="-122"/>
            </a:endParaRPr>
          </a:p>
        </p:txBody>
      </p:sp>
      <p:cxnSp>
        <p:nvCxnSpPr>
          <p:cNvPr id="82969" name="AutoShape 25"/>
          <p:cNvCxnSpPr>
            <a:cxnSpLocks noChangeShapeType="1"/>
            <a:endCxn id="82959" idx="4"/>
          </p:cNvCxnSpPr>
          <p:nvPr/>
        </p:nvCxnSpPr>
        <p:spPr bwMode="auto">
          <a:xfrm rot="-5400000">
            <a:off x="390128" y="3219128"/>
            <a:ext cx="839788" cy="571500"/>
          </a:xfrm>
          <a:prstGeom prst="curvedConnector3">
            <a:avLst>
              <a:gd name="adj1" fmla="val -15315"/>
            </a:avLst>
          </a:prstGeom>
          <a:noFill/>
          <a:ln w="28575">
            <a:solidFill>
              <a:srgbClr val="FF7C80"/>
            </a:solidFill>
            <a:round/>
            <a:tailEnd type="triangle" w="sm" len="lg"/>
          </a:ln>
          <a:extLst>
            <a:ext uri="{909E8E84-426E-40DD-AFC4-6F175D3DCCD1}">
              <a14:hiddenFill xmlns:a14="http://schemas.microsoft.com/office/drawing/2010/main">
                <a:noFill/>
              </a14:hiddenFill>
            </a:ext>
          </a:extLst>
        </p:spPr>
      </p:cxnSp>
      <p:cxnSp>
        <p:nvCxnSpPr>
          <p:cNvPr id="82970" name="AutoShape 26"/>
          <p:cNvCxnSpPr>
            <a:cxnSpLocks noChangeShapeType="1"/>
            <a:stCxn id="82968" idx="5"/>
          </p:cNvCxnSpPr>
          <p:nvPr/>
        </p:nvCxnSpPr>
        <p:spPr bwMode="auto">
          <a:xfrm rot="5400000" flipH="1" flipV="1">
            <a:off x="1916509" y="5331297"/>
            <a:ext cx="303213" cy="382588"/>
          </a:xfrm>
          <a:prstGeom prst="curvedConnector4">
            <a:avLst>
              <a:gd name="adj1" fmla="val -54977"/>
              <a:gd name="adj2" fmla="val 97509"/>
            </a:avLst>
          </a:prstGeom>
          <a:noFill/>
          <a:ln w="28575">
            <a:solidFill>
              <a:schemeClr val="tx2"/>
            </a:solidFill>
            <a:round/>
          </a:ln>
          <a:extLst>
            <a:ext uri="{909E8E84-426E-40DD-AFC4-6F175D3DCCD1}">
              <a14:hiddenFill xmlns:a14="http://schemas.microsoft.com/office/drawing/2010/main">
                <a:noFill/>
              </a14:hiddenFill>
            </a:ext>
          </a:extLst>
        </p:spPr>
      </p:cxnSp>
      <p:cxnSp>
        <p:nvCxnSpPr>
          <p:cNvPr id="82971" name="AutoShape 27"/>
          <p:cNvCxnSpPr>
            <a:cxnSpLocks noChangeShapeType="1"/>
          </p:cNvCxnSpPr>
          <p:nvPr/>
        </p:nvCxnSpPr>
        <p:spPr bwMode="auto">
          <a:xfrm rot="5400000" flipH="1">
            <a:off x="1305322" y="4437534"/>
            <a:ext cx="1371600" cy="495300"/>
          </a:xfrm>
          <a:prstGeom prst="curvedConnector3">
            <a:avLst>
              <a:gd name="adj1" fmla="val 44907"/>
            </a:avLst>
          </a:prstGeom>
          <a:noFill/>
          <a:ln w="28575">
            <a:solidFill>
              <a:srgbClr val="FF7C80"/>
            </a:solidFill>
            <a:round/>
            <a:tailEnd type="triangle" w="sm" len="lg"/>
          </a:ln>
          <a:extLst>
            <a:ext uri="{909E8E84-426E-40DD-AFC4-6F175D3DCCD1}">
              <a14:hiddenFill xmlns:a14="http://schemas.microsoft.com/office/drawing/2010/main">
                <a:noFill/>
              </a14:hiddenFill>
            </a:ext>
          </a:extLst>
        </p:spPr>
      </p:cxnSp>
      <p:cxnSp>
        <p:nvCxnSpPr>
          <p:cNvPr id="82972" name="AutoShape 28"/>
          <p:cNvCxnSpPr>
            <a:cxnSpLocks noChangeShapeType="1"/>
            <a:stCxn id="82961" idx="5"/>
          </p:cNvCxnSpPr>
          <p:nvPr/>
        </p:nvCxnSpPr>
        <p:spPr bwMode="auto">
          <a:xfrm rot="5400000" flipH="1" flipV="1">
            <a:off x="1819672" y="3616797"/>
            <a:ext cx="379413" cy="230187"/>
          </a:xfrm>
          <a:prstGeom prst="curvedConnector3">
            <a:avLst>
              <a:gd name="adj1" fmla="val -48958"/>
            </a:avLst>
          </a:prstGeom>
          <a:noFill/>
          <a:ln w="28575">
            <a:solidFill>
              <a:srgbClr val="FF7C80"/>
            </a:solidFill>
            <a:round/>
          </a:ln>
          <a:extLst>
            <a:ext uri="{909E8E84-426E-40DD-AFC4-6F175D3DCCD1}">
              <a14:hiddenFill xmlns:a14="http://schemas.microsoft.com/office/drawing/2010/main">
                <a:noFill/>
              </a14:hiddenFill>
            </a:ext>
          </a:extLst>
        </p:spPr>
      </p:cxnSp>
      <p:cxnSp>
        <p:nvCxnSpPr>
          <p:cNvPr id="82973" name="AutoShape 29"/>
          <p:cNvCxnSpPr>
            <a:cxnSpLocks noChangeShapeType="1"/>
            <a:endCxn id="82958" idx="4"/>
          </p:cNvCxnSpPr>
          <p:nvPr/>
        </p:nvCxnSpPr>
        <p:spPr bwMode="auto">
          <a:xfrm rot="5400000" flipH="1">
            <a:off x="1457722" y="2875434"/>
            <a:ext cx="1295400" cy="38100"/>
          </a:xfrm>
          <a:prstGeom prst="curvedConnector3">
            <a:avLst>
              <a:gd name="adj1" fmla="val 50000"/>
            </a:avLst>
          </a:prstGeom>
          <a:noFill/>
          <a:ln w="28575">
            <a:solidFill>
              <a:srgbClr val="FF7C80"/>
            </a:solidFill>
            <a:round/>
            <a:tailEnd type="triangle" w="sm" len="lg"/>
          </a:ln>
          <a:extLst>
            <a:ext uri="{909E8E84-426E-40DD-AFC4-6F175D3DCCD1}">
              <a14:hiddenFill xmlns:a14="http://schemas.microsoft.com/office/drawing/2010/main">
                <a:noFill/>
              </a14:hiddenFill>
            </a:ext>
          </a:extLst>
        </p:spPr>
      </p:cxnSp>
      <p:cxnSp>
        <p:nvCxnSpPr>
          <p:cNvPr id="82974" name="AutoShape 30"/>
          <p:cNvCxnSpPr>
            <a:cxnSpLocks noChangeShapeType="1"/>
            <a:stCxn id="82966" idx="5"/>
          </p:cNvCxnSpPr>
          <p:nvPr/>
        </p:nvCxnSpPr>
        <p:spPr bwMode="auto">
          <a:xfrm rot="5400000" flipH="1" flipV="1">
            <a:off x="3305572" y="5407497"/>
            <a:ext cx="227013" cy="306387"/>
          </a:xfrm>
          <a:prstGeom prst="curvedConnector4">
            <a:avLst>
              <a:gd name="adj1" fmla="val -42657"/>
              <a:gd name="adj2" fmla="val 109324"/>
            </a:avLst>
          </a:prstGeom>
          <a:noFill/>
          <a:ln w="28575">
            <a:solidFill>
              <a:srgbClr val="FF7C80"/>
            </a:solidFill>
            <a:round/>
          </a:ln>
          <a:extLst>
            <a:ext uri="{909E8E84-426E-40DD-AFC4-6F175D3DCCD1}">
              <a14:hiddenFill xmlns:a14="http://schemas.microsoft.com/office/drawing/2010/main">
                <a:noFill/>
              </a14:hiddenFill>
            </a:ext>
          </a:extLst>
        </p:spPr>
      </p:cxnSp>
      <p:cxnSp>
        <p:nvCxnSpPr>
          <p:cNvPr id="82975" name="AutoShape 31"/>
          <p:cNvCxnSpPr>
            <a:cxnSpLocks noChangeShapeType="1"/>
          </p:cNvCxnSpPr>
          <p:nvPr/>
        </p:nvCxnSpPr>
        <p:spPr bwMode="auto">
          <a:xfrm rot="5400000" flipH="1">
            <a:off x="2581672" y="4532784"/>
            <a:ext cx="1524000" cy="457200"/>
          </a:xfrm>
          <a:prstGeom prst="curvedConnector3">
            <a:avLst>
              <a:gd name="adj1" fmla="val 37292"/>
            </a:avLst>
          </a:prstGeom>
          <a:noFill/>
          <a:ln w="28575">
            <a:solidFill>
              <a:srgbClr val="FF7C80"/>
            </a:solidFill>
            <a:round/>
            <a:tailEnd type="triangle" w="sm" len="lg"/>
          </a:ln>
          <a:extLst>
            <a:ext uri="{909E8E84-426E-40DD-AFC4-6F175D3DCCD1}">
              <a14:hiddenFill xmlns:a14="http://schemas.microsoft.com/office/drawing/2010/main">
                <a:noFill/>
              </a14:hiddenFill>
            </a:ext>
          </a:extLst>
        </p:spPr>
      </p:cxnSp>
      <p:sp>
        <p:nvSpPr>
          <p:cNvPr id="82976" name="Freeform 32"/>
          <p:cNvSpPr/>
          <p:nvPr/>
        </p:nvSpPr>
        <p:spPr bwMode="auto">
          <a:xfrm>
            <a:off x="3724672" y="4837584"/>
            <a:ext cx="381000" cy="228600"/>
          </a:xfrm>
          <a:custGeom>
            <a:avLst/>
            <a:gdLst>
              <a:gd name="T0" fmla="*/ 0 w 240"/>
              <a:gd name="T1" fmla="*/ 0 h 104"/>
              <a:gd name="T2" fmla="*/ 2147483646 w 240"/>
              <a:gd name="T3" fmla="*/ 2147483646 h 104"/>
              <a:gd name="T4" fmla="*/ 2147483646 w 240"/>
              <a:gd name="T5" fmla="*/ 2147483646 h 104"/>
              <a:gd name="T6" fmla="*/ 0 60000 65536"/>
              <a:gd name="T7" fmla="*/ 0 60000 65536"/>
              <a:gd name="T8" fmla="*/ 0 60000 65536"/>
              <a:gd name="T9" fmla="*/ 0 w 240"/>
              <a:gd name="T10" fmla="*/ 0 h 104"/>
              <a:gd name="T11" fmla="*/ 240 w 240"/>
              <a:gd name="T12" fmla="*/ 104 h 104"/>
            </a:gdLst>
            <a:ahLst/>
            <a:cxnLst>
              <a:cxn ang="T6">
                <a:pos x="T0" y="T1"/>
              </a:cxn>
              <a:cxn ang="T7">
                <a:pos x="T2" y="T3"/>
              </a:cxn>
              <a:cxn ang="T8">
                <a:pos x="T4" y="T5"/>
              </a:cxn>
            </a:cxnLst>
            <a:rect l="T9" t="T10" r="T11" b="T12"/>
            <a:pathLst>
              <a:path w="240" h="104">
                <a:moveTo>
                  <a:pt x="0" y="0"/>
                </a:moveTo>
                <a:cubicBezTo>
                  <a:pt x="4" y="44"/>
                  <a:pt x="8" y="88"/>
                  <a:pt x="48" y="96"/>
                </a:cubicBezTo>
                <a:cubicBezTo>
                  <a:pt x="88" y="104"/>
                  <a:pt x="208" y="56"/>
                  <a:pt x="240" y="48"/>
                </a:cubicBezTo>
              </a:path>
            </a:pathLst>
          </a:custGeom>
          <a:noFill/>
          <a:ln w="28575">
            <a:solidFill>
              <a:srgbClr val="FF7C80"/>
            </a:solidFill>
            <a:rou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 name="标题 1"/>
          <p:cNvSpPr>
            <a:spLocks noGrp="1"/>
          </p:cNvSpPr>
          <p:nvPr>
            <p:ph type="title"/>
          </p:nvPr>
        </p:nvSpPr>
        <p:spPr/>
        <p:txBody>
          <a:bodyPr/>
          <a:lstStyle/>
          <a:p>
            <a:r>
              <a:rPr lang="zh-CN" altLang="en-US" dirty="0"/>
              <a:t> 寻找当前结点在中序下的后继</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Line 2"/>
          <p:cNvSpPr>
            <a:spLocks noChangeShapeType="1"/>
          </p:cNvSpPr>
          <p:nvPr/>
        </p:nvSpPr>
        <p:spPr bwMode="auto">
          <a:xfrm>
            <a:off x="2286000" y="1905000"/>
            <a:ext cx="304800" cy="457200"/>
          </a:xfrm>
          <a:prstGeom prst="line">
            <a:avLst/>
          </a:prstGeom>
          <a:noFill/>
          <a:ln w="31750">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1" name="Line 3"/>
          <p:cNvSpPr>
            <a:spLocks noChangeShapeType="1"/>
          </p:cNvSpPr>
          <p:nvPr/>
        </p:nvSpPr>
        <p:spPr bwMode="auto">
          <a:xfrm>
            <a:off x="2819400" y="2743200"/>
            <a:ext cx="228600" cy="457200"/>
          </a:xfrm>
          <a:prstGeom prst="line">
            <a:avLst/>
          </a:prstGeom>
          <a:noFill/>
          <a:ln w="31750">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2" name="Line 4"/>
          <p:cNvSpPr>
            <a:spLocks noChangeShapeType="1"/>
          </p:cNvSpPr>
          <p:nvPr/>
        </p:nvSpPr>
        <p:spPr bwMode="auto">
          <a:xfrm>
            <a:off x="3352800" y="3657600"/>
            <a:ext cx="228600" cy="381000"/>
          </a:xfrm>
          <a:prstGeom prst="line">
            <a:avLst/>
          </a:prstGeom>
          <a:noFill/>
          <a:ln w="31750">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3" name="Line 5"/>
          <p:cNvSpPr>
            <a:spLocks noChangeShapeType="1"/>
          </p:cNvSpPr>
          <p:nvPr/>
        </p:nvSpPr>
        <p:spPr bwMode="auto">
          <a:xfrm flipH="1">
            <a:off x="2819400" y="3733800"/>
            <a:ext cx="228600" cy="381000"/>
          </a:xfrm>
          <a:prstGeom prst="line">
            <a:avLst/>
          </a:prstGeom>
          <a:noFill/>
          <a:ln w="31750">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4" name="Line 6"/>
          <p:cNvSpPr>
            <a:spLocks noChangeShapeType="1"/>
          </p:cNvSpPr>
          <p:nvPr/>
        </p:nvSpPr>
        <p:spPr bwMode="auto">
          <a:xfrm>
            <a:off x="2819400" y="4495800"/>
            <a:ext cx="228600" cy="533400"/>
          </a:xfrm>
          <a:prstGeom prst="line">
            <a:avLst/>
          </a:prstGeom>
          <a:noFill/>
          <a:ln w="31750">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5" name="Line 7"/>
          <p:cNvSpPr>
            <a:spLocks noChangeShapeType="1"/>
          </p:cNvSpPr>
          <p:nvPr/>
        </p:nvSpPr>
        <p:spPr bwMode="auto">
          <a:xfrm>
            <a:off x="1295400" y="2743200"/>
            <a:ext cx="381000" cy="533400"/>
          </a:xfrm>
          <a:prstGeom prst="line">
            <a:avLst/>
          </a:prstGeom>
          <a:noFill/>
          <a:ln w="31750">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6" name="Line 8"/>
          <p:cNvSpPr>
            <a:spLocks noChangeShapeType="1"/>
          </p:cNvSpPr>
          <p:nvPr/>
        </p:nvSpPr>
        <p:spPr bwMode="auto">
          <a:xfrm flipH="1">
            <a:off x="1371600" y="3657600"/>
            <a:ext cx="228600" cy="381000"/>
          </a:xfrm>
          <a:prstGeom prst="line">
            <a:avLst/>
          </a:prstGeom>
          <a:noFill/>
          <a:ln w="31750">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7" name="Line 9"/>
          <p:cNvSpPr>
            <a:spLocks noChangeShapeType="1"/>
          </p:cNvSpPr>
          <p:nvPr/>
        </p:nvSpPr>
        <p:spPr bwMode="auto">
          <a:xfrm>
            <a:off x="1371600" y="4495800"/>
            <a:ext cx="304800" cy="533400"/>
          </a:xfrm>
          <a:prstGeom prst="line">
            <a:avLst/>
          </a:prstGeom>
          <a:noFill/>
          <a:ln w="31750">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8" name="Line 10"/>
          <p:cNvSpPr>
            <a:spLocks noChangeShapeType="1"/>
          </p:cNvSpPr>
          <p:nvPr/>
        </p:nvSpPr>
        <p:spPr bwMode="auto">
          <a:xfrm flipH="1">
            <a:off x="609600" y="2743200"/>
            <a:ext cx="381000" cy="457200"/>
          </a:xfrm>
          <a:prstGeom prst="line">
            <a:avLst/>
          </a:prstGeom>
          <a:noFill/>
          <a:ln w="31750">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9" name="Line 11"/>
          <p:cNvSpPr>
            <a:spLocks noChangeShapeType="1"/>
          </p:cNvSpPr>
          <p:nvPr/>
        </p:nvSpPr>
        <p:spPr bwMode="auto">
          <a:xfrm flipH="1">
            <a:off x="2819400" y="5486400"/>
            <a:ext cx="228600" cy="457200"/>
          </a:xfrm>
          <a:prstGeom prst="line">
            <a:avLst/>
          </a:prstGeom>
          <a:noFill/>
          <a:ln w="31750">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83980" name="AutoShape 12"/>
          <p:cNvCxnSpPr>
            <a:cxnSpLocks noChangeShapeType="1"/>
            <a:stCxn id="83990" idx="3"/>
          </p:cNvCxnSpPr>
          <p:nvPr/>
        </p:nvCxnSpPr>
        <p:spPr bwMode="auto">
          <a:xfrm rot="5400000">
            <a:off x="76200" y="3503613"/>
            <a:ext cx="153987" cy="306388"/>
          </a:xfrm>
          <a:prstGeom prst="curvedConnector2">
            <a:avLst/>
          </a:prstGeom>
          <a:noFill/>
          <a:ln w="28575">
            <a:solidFill>
              <a:srgbClr val="FF7C80"/>
            </a:solidFill>
            <a:round/>
            <a:tailEnd type="triangle" w="sm" len="lg"/>
          </a:ln>
          <a:extLst>
            <a:ext uri="{909E8E84-426E-40DD-AFC4-6F175D3DCCD1}">
              <a14:hiddenFill xmlns:a14="http://schemas.microsoft.com/office/drawing/2010/main">
                <a:noFill/>
              </a14:hiddenFill>
            </a:ext>
          </a:extLst>
        </p:spPr>
      </p:cxnSp>
      <p:cxnSp>
        <p:nvCxnSpPr>
          <p:cNvPr id="83981" name="AutoShape 13"/>
          <p:cNvCxnSpPr>
            <a:cxnSpLocks noChangeShapeType="1"/>
            <a:stCxn id="83997" idx="3"/>
            <a:endCxn id="83989" idx="4"/>
          </p:cNvCxnSpPr>
          <p:nvPr/>
        </p:nvCxnSpPr>
        <p:spPr bwMode="auto">
          <a:xfrm rot="5400000" flipH="1" flipV="1">
            <a:off x="287337" y="3600451"/>
            <a:ext cx="1674813" cy="112712"/>
          </a:xfrm>
          <a:prstGeom prst="curvedConnector5">
            <a:avLst>
              <a:gd name="adj1" fmla="val -10995"/>
              <a:gd name="adj2" fmla="val -270426"/>
              <a:gd name="adj3" fmla="val 59144"/>
            </a:avLst>
          </a:prstGeom>
          <a:noFill/>
          <a:ln w="28575">
            <a:solidFill>
              <a:srgbClr val="FF7C80"/>
            </a:solidFill>
            <a:round/>
            <a:tailEnd type="triangle" w="sm" len="lg"/>
          </a:ln>
          <a:extLst>
            <a:ext uri="{909E8E84-426E-40DD-AFC4-6F175D3DCCD1}">
              <a14:hiddenFill xmlns:a14="http://schemas.microsoft.com/office/drawing/2010/main">
                <a:noFill/>
              </a14:hiddenFill>
            </a:ext>
          </a:extLst>
        </p:spPr>
      </p:cxnSp>
      <p:cxnSp>
        <p:nvCxnSpPr>
          <p:cNvPr id="83982" name="AutoShape 14"/>
          <p:cNvCxnSpPr>
            <a:cxnSpLocks noChangeShapeType="1"/>
            <a:stCxn id="83998" idx="3"/>
            <a:endCxn id="83997" idx="4"/>
          </p:cNvCxnSpPr>
          <p:nvPr/>
        </p:nvCxnSpPr>
        <p:spPr bwMode="auto">
          <a:xfrm rot="16200000" flipV="1">
            <a:off x="1011237" y="4818063"/>
            <a:ext cx="836613" cy="344488"/>
          </a:xfrm>
          <a:prstGeom prst="curvedConnector3">
            <a:avLst>
              <a:gd name="adj1" fmla="val -24102"/>
            </a:avLst>
          </a:prstGeom>
          <a:noFill/>
          <a:ln w="28575">
            <a:solidFill>
              <a:srgbClr val="FF7C80"/>
            </a:solidFill>
            <a:round/>
            <a:tailEnd type="triangle" w="sm" len="lg"/>
          </a:ln>
          <a:extLst>
            <a:ext uri="{909E8E84-426E-40DD-AFC4-6F175D3DCCD1}">
              <a14:hiddenFill xmlns:a14="http://schemas.microsoft.com/office/drawing/2010/main">
                <a:noFill/>
              </a14:hiddenFill>
            </a:ext>
          </a:extLst>
        </p:spPr>
      </p:cxnSp>
      <p:cxnSp>
        <p:nvCxnSpPr>
          <p:cNvPr id="83983" name="AutoShape 15"/>
          <p:cNvCxnSpPr>
            <a:cxnSpLocks noChangeShapeType="1"/>
            <a:stCxn id="84000" idx="3"/>
            <a:endCxn id="83994" idx="4"/>
          </p:cNvCxnSpPr>
          <p:nvPr/>
        </p:nvCxnSpPr>
        <p:spPr bwMode="auto">
          <a:xfrm rot="5400000" flipH="1" flipV="1">
            <a:off x="1735137" y="5353051"/>
            <a:ext cx="1751013" cy="188912"/>
          </a:xfrm>
          <a:prstGeom prst="curvedConnector5">
            <a:avLst>
              <a:gd name="adj1" fmla="val -8616"/>
              <a:gd name="adj2" fmla="val -162185"/>
              <a:gd name="adj3" fmla="val 63009"/>
            </a:avLst>
          </a:prstGeom>
          <a:noFill/>
          <a:ln w="28575">
            <a:solidFill>
              <a:srgbClr val="FF7C80"/>
            </a:solidFill>
            <a:round/>
            <a:tailEnd type="triangle" w="sm" len="lg"/>
          </a:ln>
          <a:extLst>
            <a:ext uri="{909E8E84-426E-40DD-AFC4-6F175D3DCCD1}">
              <a14:hiddenFill xmlns:a14="http://schemas.microsoft.com/office/drawing/2010/main">
                <a:noFill/>
              </a14:hiddenFill>
            </a:ext>
          </a:extLst>
        </p:spPr>
      </p:cxnSp>
      <p:cxnSp>
        <p:nvCxnSpPr>
          <p:cNvPr id="83984" name="AutoShape 16"/>
          <p:cNvCxnSpPr>
            <a:cxnSpLocks noChangeShapeType="1"/>
            <a:stCxn id="83994" idx="3"/>
            <a:endCxn id="83992" idx="4"/>
          </p:cNvCxnSpPr>
          <p:nvPr/>
        </p:nvCxnSpPr>
        <p:spPr bwMode="auto">
          <a:xfrm rot="5400000" flipH="1" flipV="1">
            <a:off x="1773237" y="3562351"/>
            <a:ext cx="1674813" cy="188912"/>
          </a:xfrm>
          <a:prstGeom prst="curvedConnector5">
            <a:avLst>
              <a:gd name="adj1" fmla="val -8912"/>
              <a:gd name="adj2" fmla="val -227731"/>
              <a:gd name="adj3" fmla="val 63602"/>
            </a:avLst>
          </a:prstGeom>
          <a:noFill/>
          <a:ln w="28575">
            <a:solidFill>
              <a:srgbClr val="FF7C80"/>
            </a:solidFill>
            <a:round/>
            <a:tailEnd type="triangle" w="sm" len="lg"/>
          </a:ln>
          <a:extLst>
            <a:ext uri="{909E8E84-426E-40DD-AFC4-6F175D3DCCD1}">
              <a14:hiddenFill xmlns:a14="http://schemas.microsoft.com/office/drawing/2010/main">
                <a:noFill/>
              </a14:hiddenFill>
            </a:ext>
          </a:extLst>
        </p:spPr>
      </p:cxnSp>
      <p:cxnSp>
        <p:nvCxnSpPr>
          <p:cNvPr id="83985" name="AutoShape 17"/>
          <p:cNvCxnSpPr>
            <a:cxnSpLocks noChangeShapeType="1"/>
            <a:stCxn id="83992" idx="3"/>
            <a:endCxn id="83988" idx="4"/>
          </p:cNvCxnSpPr>
          <p:nvPr/>
        </p:nvCxnSpPr>
        <p:spPr bwMode="auto">
          <a:xfrm rot="16200000" flipV="1">
            <a:off x="1963737" y="2189163"/>
            <a:ext cx="760413" cy="344488"/>
          </a:xfrm>
          <a:prstGeom prst="curvedConnector3">
            <a:avLst>
              <a:gd name="adj1" fmla="val -21921"/>
            </a:avLst>
          </a:prstGeom>
          <a:noFill/>
          <a:ln w="28575">
            <a:solidFill>
              <a:srgbClr val="FF7C80"/>
            </a:solidFill>
            <a:round/>
            <a:tailEnd type="triangle" w="sm" len="lg"/>
          </a:ln>
          <a:extLst>
            <a:ext uri="{909E8E84-426E-40DD-AFC4-6F175D3DCCD1}">
              <a14:hiddenFill xmlns:a14="http://schemas.microsoft.com/office/drawing/2010/main">
                <a:noFill/>
              </a14:hiddenFill>
            </a:ext>
          </a:extLst>
        </p:spPr>
      </p:cxnSp>
      <p:sp>
        <p:nvSpPr>
          <p:cNvPr id="83986" name="Text Box 18"/>
          <p:cNvSpPr txBox="1">
            <a:spLocks noChangeArrowheads="1"/>
          </p:cNvSpPr>
          <p:nvPr/>
        </p:nvSpPr>
        <p:spPr bwMode="auto">
          <a:xfrm>
            <a:off x="3381374" y="1635717"/>
            <a:ext cx="5522666"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dirty="0">
                <a:latin typeface="+mj-lt"/>
                <a:ea typeface="仿宋_GB2312" panose="02010609030101010101" pitchFamily="49" charset="-122"/>
              </a:rPr>
              <a:t>    if</a:t>
            </a:r>
            <a:r>
              <a:rPr kumimoji="1" lang="en-US" altLang="zh-CN" sz="3200" dirty="0">
                <a:latin typeface="+mj-lt"/>
                <a:ea typeface="仿宋_GB2312" panose="02010609030101010101" pitchFamily="49" charset="-122"/>
              </a:rPr>
              <a:t> (current</a:t>
            </a:r>
            <a:r>
              <a:rPr kumimoji="1" lang="en-US" altLang="zh-CN" sz="3200" dirty="0">
                <a:latin typeface="+mj-lt"/>
                <a:ea typeface="楷体_GB2312" panose="02010609030101010101" pitchFamily="49" charset="-122"/>
              </a:rPr>
              <a:t>-&gt;</a:t>
            </a:r>
            <a:r>
              <a:rPr kumimoji="1" lang="en-US" altLang="zh-CN" sz="3200" dirty="0" err="1">
                <a:latin typeface="+mj-lt"/>
                <a:ea typeface="仿宋_GB2312" panose="02010609030101010101" pitchFamily="49" charset="-122"/>
                <a:sym typeface="Symbol" panose="05050102010706020507" pitchFamily="18" charset="2"/>
              </a:rPr>
              <a:t>ltag</a:t>
            </a:r>
            <a:r>
              <a:rPr kumimoji="1" lang="en-US" altLang="zh-CN" sz="3200" i="1" dirty="0">
                <a:latin typeface="+mj-lt"/>
                <a:ea typeface="仿宋_GB2312" panose="02010609030101010101" pitchFamily="49" charset="-122"/>
                <a:sym typeface="Symbol" panose="05050102010706020507" pitchFamily="18" charset="2"/>
              </a:rPr>
              <a:t>==</a:t>
            </a:r>
            <a:r>
              <a:rPr kumimoji="1" lang="en-US" altLang="zh-CN" sz="3200" dirty="0">
                <a:latin typeface="+mj-lt"/>
                <a:ea typeface="仿宋_GB2312" panose="02010609030101010101" pitchFamily="49" charset="-122"/>
                <a:sym typeface="Symbol" panose="05050102010706020507" pitchFamily="18" charset="2"/>
              </a:rPr>
              <a:t>1)</a:t>
            </a:r>
            <a:endParaRPr kumimoji="1" lang="en-US" altLang="zh-CN" sz="3200" dirty="0">
              <a:latin typeface="+mj-lt"/>
              <a:ea typeface="仿宋_GB2312" panose="02010609030101010101" pitchFamily="49" charset="-122"/>
              <a:sym typeface="Symbol" panose="05050102010706020507" pitchFamily="18" charset="2"/>
            </a:endParaRPr>
          </a:p>
          <a:p>
            <a:pPr eaLnBrk="1" hangingPunct="1"/>
            <a:r>
              <a:rPr kumimoji="1" lang="en-US" altLang="zh-CN" sz="3200" b="1" dirty="0">
                <a:latin typeface="+mj-lt"/>
                <a:ea typeface="仿宋_GB2312" panose="02010609030101010101" pitchFamily="49" charset="-122"/>
                <a:sym typeface="Symbol" panose="05050102010706020507" pitchFamily="18" charset="2"/>
              </a:rPr>
              <a:t>        </a:t>
            </a:r>
            <a:r>
              <a:rPr kumimoji="1" lang="zh-CN" altLang="en-US" sz="3200" dirty="0">
                <a:latin typeface="+mj-lt"/>
                <a:ea typeface="仿宋_GB2312" panose="02010609030101010101" pitchFamily="49" charset="-122"/>
                <a:sym typeface="Symbol" panose="05050102010706020507" pitchFamily="18" charset="2"/>
              </a:rPr>
              <a:t>前驱为</a:t>
            </a:r>
            <a:r>
              <a:rPr kumimoji="1" lang="en-US" altLang="zh-CN" sz="3200" dirty="0">
                <a:latin typeface="+mj-lt"/>
                <a:ea typeface="仿宋_GB2312" panose="02010609030101010101" pitchFamily="49" charset="-122"/>
                <a:sym typeface="Symbol" panose="05050102010706020507" pitchFamily="18" charset="2"/>
              </a:rPr>
              <a:t>current</a:t>
            </a:r>
            <a:r>
              <a:rPr kumimoji="1" lang="en-US" altLang="zh-CN" sz="3200" dirty="0">
                <a:latin typeface="+mj-lt"/>
                <a:ea typeface="楷体_GB2312" panose="02010609030101010101" pitchFamily="49" charset="-122"/>
                <a:sym typeface="Symbol" panose="05050102010706020507" pitchFamily="18" charset="2"/>
              </a:rPr>
              <a:t>-&gt;</a:t>
            </a:r>
            <a:r>
              <a:rPr kumimoji="1" lang="en-US" altLang="zh-CN" sz="3200" dirty="0" err="1">
                <a:latin typeface="+mj-lt"/>
                <a:ea typeface="仿宋_GB2312" panose="02010609030101010101" pitchFamily="49" charset="-122"/>
                <a:sym typeface="Symbol" panose="05050102010706020507" pitchFamily="18" charset="2"/>
              </a:rPr>
              <a:t>leftChild</a:t>
            </a:r>
            <a:r>
              <a:rPr kumimoji="1" lang="en-US" altLang="zh-CN" sz="3200" dirty="0">
                <a:latin typeface="+mj-lt"/>
                <a:ea typeface="仿宋_GB2312" panose="02010609030101010101" pitchFamily="49" charset="-122"/>
                <a:sym typeface="Symbol" panose="05050102010706020507" pitchFamily="18" charset="2"/>
              </a:rPr>
              <a:t> </a:t>
            </a:r>
            <a:endParaRPr kumimoji="1" lang="en-US" altLang="zh-CN" sz="3200" dirty="0">
              <a:latin typeface="+mj-lt"/>
              <a:ea typeface="仿宋_GB2312" panose="02010609030101010101" pitchFamily="49" charset="-122"/>
              <a:sym typeface="Symbol" panose="05050102010706020507" pitchFamily="18" charset="2"/>
            </a:endParaRPr>
          </a:p>
          <a:p>
            <a:pPr eaLnBrk="1" hangingPunct="1"/>
            <a:r>
              <a:rPr kumimoji="1" lang="en-US" altLang="zh-CN" sz="3200" b="1" dirty="0">
                <a:latin typeface="+mj-lt"/>
                <a:ea typeface="仿宋_GB2312" panose="02010609030101010101" pitchFamily="49" charset="-122"/>
                <a:sym typeface="Symbol" panose="05050102010706020507" pitchFamily="18" charset="2"/>
              </a:rPr>
              <a:t>    else</a:t>
            </a:r>
            <a:r>
              <a:rPr kumimoji="1" lang="en-US" altLang="zh-CN" sz="3200" dirty="0">
                <a:latin typeface="+mj-lt"/>
                <a:ea typeface="仿宋_GB2312" panose="02010609030101010101" pitchFamily="49" charset="-122"/>
                <a:sym typeface="Symbol" panose="05050102010706020507" pitchFamily="18" charset="2"/>
              </a:rPr>
              <a:t> //</a:t>
            </a:r>
            <a:r>
              <a:rPr kumimoji="1" lang="en-US" altLang="zh-CN" sz="3200" dirty="0">
                <a:latin typeface="+mj-lt"/>
                <a:ea typeface="仿宋_GB2312" panose="02010609030101010101" pitchFamily="49" charset="-122"/>
              </a:rPr>
              <a:t>current</a:t>
            </a:r>
            <a:r>
              <a:rPr kumimoji="1" lang="en-US" altLang="zh-CN" sz="3200" dirty="0">
                <a:latin typeface="+mj-lt"/>
                <a:ea typeface="楷体_GB2312" panose="02010609030101010101" pitchFamily="49" charset="-122"/>
              </a:rPr>
              <a:t>-&gt;</a:t>
            </a:r>
            <a:r>
              <a:rPr kumimoji="1" lang="en-US" altLang="zh-CN" sz="3200" dirty="0" err="1">
                <a:latin typeface="+mj-lt"/>
                <a:ea typeface="仿宋_GB2312" panose="02010609030101010101" pitchFamily="49" charset="-122"/>
                <a:sym typeface="Symbol" panose="05050102010706020507" pitchFamily="18" charset="2"/>
              </a:rPr>
              <a:t>ltag</a:t>
            </a:r>
            <a:r>
              <a:rPr kumimoji="1" lang="en-US" altLang="zh-CN" sz="3200" i="1" dirty="0">
                <a:latin typeface="+mj-lt"/>
                <a:ea typeface="仿宋_GB2312" panose="02010609030101010101" pitchFamily="49" charset="-122"/>
                <a:sym typeface="Symbol" panose="05050102010706020507" pitchFamily="18" charset="2"/>
              </a:rPr>
              <a:t>==</a:t>
            </a:r>
            <a:r>
              <a:rPr kumimoji="1" lang="en-US" altLang="zh-CN" sz="3200" dirty="0">
                <a:latin typeface="+mj-lt"/>
                <a:ea typeface="仿宋_GB2312" panose="02010609030101010101" pitchFamily="49" charset="-122"/>
                <a:sym typeface="Symbol" panose="05050102010706020507" pitchFamily="18" charset="2"/>
              </a:rPr>
              <a:t>0</a:t>
            </a:r>
            <a:endParaRPr kumimoji="1" lang="en-US" altLang="zh-CN" sz="3200" dirty="0">
              <a:latin typeface="+mj-lt"/>
              <a:ea typeface="仿宋_GB2312" panose="02010609030101010101" pitchFamily="49" charset="-122"/>
              <a:sym typeface="Symbol" panose="05050102010706020507" pitchFamily="18" charset="2"/>
            </a:endParaRPr>
          </a:p>
          <a:p>
            <a:pPr eaLnBrk="1" hangingPunct="1"/>
            <a:r>
              <a:rPr kumimoji="1" lang="en-US" altLang="zh-CN" sz="3200" b="1" dirty="0">
                <a:latin typeface="+mj-lt"/>
                <a:ea typeface="仿宋_GB2312" panose="02010609030101010101" pitchFamily="49" charset="-122"/>
                <a:sym typeface="Symbol" panose="05050102010706020507" pitchFamily="18" charset="2"/>
              </a:rPr>
              <a:t>         </a:t>
            </a:r>
            <a:r>
              <a:rPr kumimoji="1" lang="zh-CN" altLang="en-US" sz="3200" dirty="0">
                <a:latin typeface="+mj-lt"/>
                <a:ea typeface="仿宋_GB2312" panose="02010609030101010101" pitchFamily="49" charset="-122"/>
                <a:sym typeface="Symbol" panose="05050102010706020507" pitchFamily="18" charset="2"/>
              </a:rPr>
              <a:t>前驱为当前结点左子树</a:t>
            </a:r>
            <a:endParaRPr kumimoji="1" lang="zh-CN" altLang="en-US" sz="3200" dirty="0">
              <a:latin typeface="+mj-lt"/>
              <a:ea typeface="仿宋_GB2312" panose="02010609030101010101" pitchFamily="49" charset="-122"/>
              <a:sym typeface="Symbol" panose="05050102010706020507" pitchFamily="18" charset="2"/>
            </a:endParaRPr>
          </a:p>
          <a:p>
            <a:pPr eaLnBrk="1" hangingPunct="1"/>
            <a:r>
              <a:rPr kumimoji="1" lang="zh-CN" altLang="en-US" sz="3200" dirty="0">
                <a:latin typeface="+mj-lt"/>
                <a:ea typeface="仿宋_GB2312" panose="02010609030101010101" pitchFamily="49" charset="-122"/>
                <a:sym typeface="Symbol" panose="05050102010706020507" pitchFamily="18" charset="2"/>
              </a:rPr>
              <a:t>         中序下的最后一个结点  </a:t>
            </a:r>
            <a:endParaRPr kumimoji="1" lang="zh-CN" altLang="en-US" sz="3200" dirty="0">
              <a:latin typeface="+mj-lt"/>
              <a:ea typeface="黑体" panose="02010609060101010101" pitchFamily="2" charset="-122"/>
              <a:sym typeface="Symbol" panose="05050102010706020507" pitchFamily="18" charset="2"/>
            </a:endParaRPr>
          </a:p>
        </p:txBody>
      </p:sp>
      <p:sp>
        <p:nvSpPr>
          <p:cNvPr id="83988" name="Oval 20"/>
          <p:cNvSpPr>
            <a:spLocks noChangeArrowheads="1"/>
          </p:cNvSpPr>
          <p:nvPr/>
        </p:nvSpPr>
        <p:spPr bwMode="auto">
          <a:xfrm>
            <a:off x="1905000" y="1447800"/>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2" charset="-122"/>
              </a:rPr>
              <a:t>A</a:t>
            </a:r>
            <a:endParaRPr lang="en-US" altLang="zh-CN">
              <a:latin typeface="Arial" panose="020B0604020202020204" pitchFamily="34" charset="0"/>
              <a:ea typeface="黑体" panose="02010609060101010101" pitchFamily="2" charset="-122"/>
            </a:endParaRPr>
          </a:p>
        </p:txBody>
      </p:sp>
      <p:sp>
        <p:nvSpPr>
          <p:cNvPr id="83989" name="Oval 21"/>
          <p:cNvSpPr>
            <a:spLocks noChangeArrowheads="1"/>
          </p:cNvSpPr>
          <p:nvPr/>
        </p:nvSpPr>
        <p:spPr bwMode="auto">
          <a:xfrm>
            <a:off x="914400" y="2286000"/>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2" charset="-122"/>
              </a:rPr>
              <a:t>B</a:t>
            </a:r>
            <a:endParaRPr lang="en-US" altLang="zh-CN">
              <a:solidFill>
                <a:srgbClr val="000099"/>
              </a:solidFill>
              <a:latin typeface="Arial" panose="020B0604020202020204" pitchFamily="34" charset="0"/>
              <a:ea typeface="黑体" panose="02010609060101010101" pitchFamily="2" charset="-122"/>
            </a:endParaRPr>
          </a:p>
        </p:txBody>
      </p:sp>
      <p:sp>
        <p:nvSpPr>
          <p:cNvPr id="83990" name="Oval 22"/>
          <p:cNvSpPr>
            <a:spLocks noChangeArrowheads="1"/>
          </p:cNvSpPr>
          <p:nvPr/>
        </p:nvSpPr>
        <p:spPr bwMode="auto">
          <a:xfrm>
            <a:off x="228600" y="3124200"/>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2" charset="-122"/>
              </a:rPr>
              <a:t>D</a:t>
            </a:r>
            <a:endParaRPr lang="en-US" altLang="zh-CN">
              <a:latin typeface="Arial" panose="020B0604020202020204" pitchFamily="34" charset="0"/>
              <a:ea typeface="黑体" panose="02010609060101010101" pitchFamily="2" charset="-122"/>
            </a:endParaRPr>
          </a:p>
        </p:txBody>
      </p:sp>
      <p:sp>
        <p:nvSpPr>
          <p:cNvPr id="83991" name="Oval 23"/>
          <p:cNvSpPr>
            <a:spLocks noChangeArrowheads="1"/>
          </p:cNvSpPr>
          <p:nvPr/>
        </p:nvSpPr>
        <p:spPr bwMode="auto">
          <a:xfrm>
            <a:off x="1524000" y="3200400"/>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2" charset="-122"/>
              </a:rPr>
              <a:t>E</a:t>
            </a:r>
            <a:endParaRPr lang="en-US" altLang="zh-CN">
              <a:latin typeface="Arial" panose="020B0604020202020204" pitchFamily="34" charset="0"/>
              <a:ea typeface="黑体" panose="02010609060101010101" pitchFamily="2" charset="-122"/>
            </a:endParaRPr>
          </a:p>
        </p:txBody>
      </p:sp>
      <p:sp>
        <p:nvSpPr>
          <p:cNvPr id="83992" name="Oval 24"/>
          <p:cNvSpPr>
            <a:spLocks noChangeArrowheads="1"/>
          </p:cNvSpPr>
          <p:nvPr/>
        </p:nvSpPr>
        <p:spPr bwMode="auto">
          <a:xfrm>
            <a:off x="2438400" y="2286000"/>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2" charset="-122"/>
              </a:rPr>
              <a:t>C</a:t>
            </a:r>
            <a:endParaRPr lang="en-US" altLang="zh-CN">
              <a:latin typeface="Arial" panose="020B0604020202020204" pitchFamily="34" charset="0"/>
              <a:ea typeface="黑体" panose="02010609060101010101" pitchFamily="2" charset="-122"/>
            </a:endParaRPr>
          </a:p>
        </p:txBody>
      </p:sp>
      <p:sp>
        <p:nvSpPr>
          <p:cNvPr id="83993" name="Oval 25"/>
          <p:cNvSpPr>
            <a:spLocks noChangeArrowheads="1"/>
          </p:cNvSpPr>
          <p:nvPr/>
        </p:nvSpPr>
        <p:spPr bwMode="auto">
          <a:xfrm>
            <a:off x="2895600" y="3200400"/>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i="1">
                <a:solidFill>
                  <a:srgbClr val="000099"/>
                </a:solidFill>
                <a:latin typeface="Times New Roman" panose="02020603050405020304" pitchFamily="18" charset="0"/>
                <a:ea typeface="黑体" panose="02010609060101010101" pitchFamily="2" charset="-122"/>
              </a:rPr>
              <a:t>F</a:t>
            </a:r>
            <a:endParaRPr lang="en-US" altLang="zh-CN">
              <a:latin typeface="Arial" panose="020B0604020202020204" pitchFamily="34" charset="0"/>
              <a:ea typeface="黑体" panose="02010609060101010101" pitchFamily="2" charset="-122"/>
            </a:endParaRPr>
          </a:p>
        </p:txBody>
      </p:sp>
      <p:sp>
        <p:nvSpPr>
          <p:cNvPr id="83994" name="Oval 26"/>
          <p:cNvSpPr>
            <a:spLocks noChangeArrowheads="1"/>
          </p:cNvSpPr>
          <p:nvPr/>
        </p:nvSpPr>
        <p:spPr bwMode="auto">
          <a:xfrm>
            <a:off x="2438400" y="4038600"/>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2" charset="-122"/>
              </a:rPr>
              <a:t>H</a:t>
            </a:r>
            <a:endParaRPr lang="en-US" altLang="zh-CN">
              <a:latin typeface="Arial" panose="020B0604020202020204" pitchFamily="34" charset="0"/>
              <a:ea typeface="黑体" panose="02010609060101010101" pitchFamily="2" charset="-122"/>
            </a:endParaRPr>
          </a:p>
        </p:txBody>
      </p:sp>
      <p:sp>
        <p:nvSpPr>
          <p:cNvPr id="83995" name="Oval 27"/>
          <p:cNvSpPr>
            <a:spLocks noChangeArrowheads="1"/>
          </p:cNvSpPr>
          <p:nvPr/>
        </p:nvSpPr>
        <p:spPr bwMode="auto">
          <a:xfrm>
            <a:off x="3429000" y="4038600"/>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2" charset="-122"/>
              </a:rPr>
              <a:t>I</a:t>
            </a:r>
            <a:endParaRPr lang="en-US" altLang="zh-CN">
              <a:latin typeface="Arial" panose="020B0604020202020204" pitchFamily="34" charset="0"/>
              <a:ea typeface="黑体" panose="02010609060101010101" pitchFamily="2" charset="-122"/>
            </a:endParaRPr>
          </a:p>
        </p:txBody>
      </p:sp>
      <p:sp>
        <p:nvSpPr>
          <p:cNvPr id="83996" name="Oval 28"/>
          <p:cNvSpPr>
            <a:spLocks noChangeArrowheads="1"/>
          </p:cNvSpPr>
          <p:nvPr/>
        </p:nvSpPr>
        <p:spPr bwMode="auto">
          <a:xfrm>
            <a:off x="2895600" y="4953000"/>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2" charset="-122"/>
              </a:rPr>
              <a:t>K</a:t>
            </a:r>
            <a:endParaRPr lang="en-US" altLang="zh-CN">
              <a:latin typeface="Arial" panose="020B0604020202020204" pitchFamily="34" charset="0"/>
              <a:ea typeface="黑体" panose="02010609060101010101" pitchFamily="2" charset="-122"/>
            </a:endParaRPr>
          </a:p>
        </p:txBody>
      </p:sp>
      <p:sp>
        <p:nvSpPr>
          <p:cNvPr id="83997" name="Oval 29"/>
          <p:cNvSpPr>
            <a:spLocks noChangeArrowheads="1"/>
          </p:cNvSpPr>
          <p:nvPr/>
        </p:nvSpPr>
        <p:spPr bwMode="auto">
          <a:xfrm>
            <a:off x="990600" y="4038600"/>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2" charset="-122"/>
              </a:rPr>
              <a:t>G</a:t>
            </a:r>
            <a:endParaRPr lang="en-US" altLang="zh-CN">
              <a:latin typeface="Arial" panose="020B0604020202020204" pitchFamily="34" charset="0"/>
              <a:ea typeface="黑体" panose="02010609060101010101" pitchFamily="2" charset="-122"/>
            </a:endParaRPr>
          </a:p>
        </p:txBody>
      </p:sp>
      <p:sp>
        <p:nvSpPr>
          <p:cNvPr id="83998" name="Oval 30"/>
          <p:cNvSpPr>
            <a:spLocks noChangeArrowheads="1"/>
          </p:cNvSpPr>
          <p:nvPr/>
        </p:nvSpPr>
        <p:spPr bwMode="auto">
          <a:xfrm>
            <a:off x="1524000" y="4953000"/>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2" charset="-122"/>
              </a:rPr>
              <a:t>J</a:t>
            </a:r>
            <a:endParaRPr lang="en-US" altLang="zh-CN">
              <a:latin typeface="Arial" panose="020B0604020202020204" pitchFamily="34" charset="0"/>
              <a:ea typeface="黑体" panose="02010609060101010101" pitchFamily="2" charset="-122"/>
            </a:endParaRPr>
          </a:p>
        </p:txBody>
      </p:sp>
      <p:sp>
        <p:nvSpPr>
          <p:cNvPr id="83999" name="Line 31"/>
          <p:cNvSpPr>
            <a:spLocks noChangeShapeType="1"/>
          </p:cNvSpPr>
          <p:nvPr/>
        </p:nvSpPr>
        <p:spPr bwMode="auto">
          <a:xfrm flipH="1">
            <a:off x="1371600" y="1905000"/>
            <a:ext cx="609600" cy="457200"/>
          </a:xfrm>
          <a:prstGeom prst="line">
            <a:avLst/>
          </a:prstGeom>
          <a:noFill/>
          <a:ln w="31750">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00" name="Oval 32"/>
          <p:cNvSpPr>
            <a:spLocks noChangeArrowheads="1"/>
          </p:cNvSpPr>
          <p:nvPr/>
        </p:nvSpPr>
        <p:spPr bwMode="auto">
          <a:xfrm>
            <a:off x="2438400" y="5867400"/>
            <a:ext cx="533400" cy="533400"/>
          </a:xfrm>
          <a:prstGeom prst="ellipse">
            <a:avLst/>
          </a:prstGeom>
          <a:solidFill>
            <a:srgbClr val="FFFFCC"/>
          </a:solidFill>
          <a:ln w="9525">
            <a:solidFill>
              <a:schemeClr val="tx1"/>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2" charset="-122"/>
              </a:rPr>
              <a:t>L</a:t>
            </a:r>
            <a:endParaRPr lang="en-US" altLang="zh-CN">
              <a:latin typeface="Arial" panose="020B0604020202020204" pitchFamily="34" charset="0"/>
              <a:ea typeface="黑体" panose="02010609060101010101" pitchFamily="2" charset="-122"/>
            </a:endParaRPr>
          </a:p>
        </p:txBody>
      </p:sp>
      <p:cxnSp>
        <p:nvCxnSpPr>
          <p:cNvPr id="84001" name="AutoShape 33"/>
          <p:cNvCxnSpPr>
            <a:cxnSpLocks noChangeShapeType="1"/>
            <a:stCxn id="83995" idx="4"/>
            <a:endCxn id="83993" idx="4"/>
          </p:cNvCxnSpPr>
          <p:nvPr/>
        </p:nvCxnSpPr>
        <p:spPr bwMode="auto">
          <a:xfrm rot="16200000" flipV="1">
            <a:off x="3009900" y="3886200"/>
            <a:ext cx="838200" cy="533400"/>
          </a:xfrm>
          <a:prstGeom prst="curvedConnector3">
            <a:avLst>
              <a:gd name="adj1" fmla="val -27273"/>
            </a:avLst>
          </a:prstGeom>
          <a:noFill/>
          <a:ln w="28575">
            <a:solidFill>
              <a:srgbClr val="FF7C80"/>
            </a:solidFill>
            <a:round/>
            <a:tailEnd type="triangle" w="med" len="med"/>
          </a:ln>
          <a:extLst>
            <a:ext uri="{909E8E84-426E-40DD-AFC4-6F175D3DCCD1}">
              <a14:hiddenFill xmlns:a14="http://schemas.microsoft.com/office/drawing/2010/main">
                <a:noFill/>
              </a14:hiddenFill>
            </a:ext>
          </a:extLst>
        </p:spPr>
      </p:cxnSp>
      <p:sp>
        <p:nvSpPr>
          <p:cNvPr id="2" name="标题 1"/>
          <p:cNvSpPr>
            <a:spLocks noGrp="1"/>
          </p:cNvSpPr>
          <p:nvPr>
            <p:ph type="title"/>
          </p:nvPr>
        </p:nvSpPr>
        <p:spPr/>
        <p:txBody>
          <a:bodyPr/>
          <a:lstStyle/>
          <a:p>
            <a:r>
              <a:rPr lang="zh-CN" altLang="en-US" dirty="0"/>
              <a:t> 寻找当前结点在中序下的前驱</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0" indent="0"/>
            <a:r>
              <a:rPr lang="zh-CN" altLang="en-US" dirty="0"/>
              <a:t>部分成员函数的实现</a:t>
            </a:r>
            <a:endParaRPr lang="zh-CN" altLang="en-US" dirty="0"/>
          </a:p>
        </p:txBody>
      </p:sp>
      <p:sp>
        <p:nvSpPr>
          <p:cNvPr id="3" name="内容占位符 2"/>
          <p:cNvSpPr>
            <a:spLocks noGrp="1"/>
          </p:cNvSpPr>
          <p:nvPr>
            <p:ph idx="1"/>
          </p:nvPr>
        </p:nvSpPr>
        <p:spPr/>
        <p:txBody>
          <a:bodyPr>
            <a:normAutofit fontScale="70000" lnSpcReduction="20000"/>
          </a:bodyPr>
          <a:lstStyle/>
          <a:p>
            <a:pPr marL="0" indent="0">
              <a:buNone/>
            </a:pPr>
            <a:r>
              <a:rPr lang="en-US" altLang="zh-CN" dirty="0"/>
              <a:t>//</a:t>
            </a:r>
            <a:r>
              <a:rPr lang="zh-CN" altLang="en-US" dirty="0"/>
              <a:t>返回以*</a:t>
            </a:r>
            <a:r>
              <a:rPr lang="en-US" altLang="zh-CN" dirty="0"/>
              <a:t>current</a:t>
            </a:r>
            <a:r>
              <a:rPr lang="zh-CN" altLang="en-US" dirty="0"/>
              <a:t>为根的线索二叉树</a:t>
            </a:r>
            <a:endParaRPr lang="zh-CN" altLang="en-US" dirty="0"/>
          </a:p>
          <a:p>
            <a:pPr marL="0" indent="0">
              <a:buNone/>
            </a:pPr>
            <a:r>
              <a:rPr lang="en-US" altLang="zh-CN" dirty="0"/>
              <a:t>//</a:t>
            </a:r>
            <a:r>
              <a:rPr lang="zh-CN" altLang="en-US" dirty="0"/>
              <a:t>中序序列下的第一个结点</a:t>
            </a:r>
            <a:endParaRPr lang="zh-CN" altLang="en-US" dirty="0"/>
          </a:p>
          <a:p>
            <a:pPr marL="0" indent="0">
              <a:buNone/>
            </a:pPr>
            <a:r>
              <a:rPr lang="en-US" altLang="zh-CN" dirty="0"/>
              <a:t>template &lt;class T&gt; </a:t>
            </a:r>
            <a:endParaRPr lang="en-US" altLang="zh-CN" dirty="0"/>
          </a:p>
          <a:p>
            <a:pPr marL="0" indent="0">
              <a:buNone/>
            </a:pPr>
            <a:r>
              <a:rPr lang="en-US" altLang="zh-CN" dirty="0" err="1"/>
              <a:t>ThreadNode</a:t>
            </a:r>
            <a:r>
              <a:rPr lang="en-US" altLang="zh-CN" dirty="0"/>
              <a:t>&lt;T&gt; * </a:t>
            </a:r>
            <a:r>
              <a:rPr lang="en-US" altLang="zh-CN" dirty="0" err="1"/>
              <a:t>ThreadTree</a:t>
            </a:r>
            <a:r>
              <a:rPr lang="en-US" altLang="zh-CN" dirty="0"/>
              <a:t> &lt;T&gt; :: </a:t>
            </a:r>
            <a:endParaRPr lang="en-US" altLang="zh-CN" dirty="0"/>
          </a:p>
          <a:p>
            <a:pPr marL="0" indent="0">
              <a:buNone/>
            </a:pPr>
            <a:r>
              <a:rPr lang="en-US" altLang="zh-CN" dirty="0"/>
              <a:t>First ( </a:t>
            </a:r>
            <a:r>
              <a:rPr lang="en-US" altLang="zh-CN" dirty="0" err="1"/>
              <a:t>ThreadNode</a:t>
            </a:r>
            <a:r>
              <a:rPr lang="en-US" altLang="zh-CN" dirty="0"/>
              <a:t>&lt;T&gt; * current ) {</a:t>
            </a:r>
            <a:endParaRPr lang="en-US" altLang="zh-CN" dirty="0"/>
          </a:p>
          <a:p>
            <a:pPr marL="0" indent="0">
              <a:buNone/>
            </a:pPr>
            <a:r>
              <a:rPr lang="en-US" altLang="zh-CN" dirty="0"/>
              <a:t>    </a:t>
            </a:r>
            <a:r>
              <a:rPr lang="en-US" altLang="zh-CN" dirty="0" err="1"/>
              <a:t>ThreadNode</a:t>
            </a:r>
            <a:r>
              <a:rPr lang="en-US" altLang="zh-CN" dirty="0"/>
              <a:t>&lt;T&gt; * p = current;</a:t>
            </a:r>
            <a:endParaRPr lang="en-US" altLang="zh-CN" dirty="0"/>
          </a:p>
          <a:p>
            <a:pPr marL="0" indent="0">
              <a:buNone/>
            </a:pPr>
            <a:r>
              <a:rPr lang="en-US" altLang="zh-CN" dirty="0"/>
              <a:t>    while ( p-&gt;</a:t>
            </a:r>
            <a:r>
              <a:rPr lang="en-US" altLang="zh-CN" dirty="0" err="1"/>
              <a:t>ltag</a:t>
            </a:r>
            <a:r>
              <a:rPr lang="en-US" altLang="zh-CN" dirty="0"/>
              <a:t> == 0 ) </a:t>
            </a:r>
            <a:endParaRPr lang="en-US" altLang="zh-CN" dirty="0"/>
          </a:p>
          <a:p>
            <a:pPr marL="0" indent="0">
              <a:buNone/>
            </a:pPr>
            <a:r>
              <a:rPr lang="en-US" altLang="zh-CN" dirty="0"/>
              <a:t>         p = p-&gt;</a:t>
            </a:r>
            <a:r>
              <a:rPr lang="en-US" altLang="zh-CN" dirty="0" err="1"/>
              <a:t>leftChild</a:t>
            </a:r>
            <a:r>
              <a:rPr lang="en-US" altLang="zh-CN" dirty="0"/>
              <a:t>;	//</a:t>
            </a:r>
            <a:r>
              <a:rPr lang="zh-CN" altLang="en-US" dirty="0"/>
              <a:t>最左下的结点</a:t>
            </a:r>
            <a:endParaRPr lang="zh-CN" altLang="en-US" dirty="0"/>
          </a:p>
          <a:p>
            <a:pPr marL="0" indent="0">
              <a:buNone/>
            </a:pPr>
            <a:r>
              <a:rPr lang="zh-CN" altLang="en-US" dirty="0"/>
              <a:t>    </a:t>
            </a:r>
            <a:r>
              <a:rPr lang="en-US" altLang="zh-CN" dirty="0"/>
              <a:t>return p;</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404664"/>
            <a:ext cx="8712968" cy="5772299"/>
          </a:xfrm>
        </p:spPr>
        <p:txBody>
          <a:bodyPr>
            <a:normAutofit fontScale="92500" lnSpcReduction="10000"/>
          </a:bodyPr>
          <a:lstStyle/>
          <a:p>
            <a:pPr marL="0" indent="0">
              <a:buNone/>
            </a:pPr>
            <a:r>
              <a:rPr lang="en-US" altLang="zh-CN" dirty="0"/>
              <a:t>//</a:t>
            </a:r>
            <a:r>
              <a:rPr lang="zh-CN" altLang="en-US" dirty="0"/>
              <a:t>返回线索二叉树中结点*</a:t>
            </a:r>
            <a:r>
              <a:rPr lang="en-US" altLang="zh-CN" dirty="0"/>
              <a:t>current</a:t>
            </a:r>
            <a:endParaRPr lang="zh-CN" altLang="en-US" dirty="0"/>
          </a:p>
          <a:p>
            <a:pPr marL="0" indent="0">
              <a:buNone/>
            </a:pPr>
            <a:r>
              <a:rPr lang="en-US" altLang="zh-CN" dirty="0"/>
              <a:t>//</a:t>
            </a:r>
            <a:r>
              <a:rPr lang="zh-CN" altLang="en-US" dirty="0"/>
              <a:t>中序下的后继结点</a:t>
            </a:r>
            <a:endParaRPr lang="zh-CN" altLang="en-US" dirty="0"/>
          </a:p>
          <a:p>
            <a:pPr marL="0" indent="0">
              <a:buNone/>
            </a:pPr>
            <a:r>
              <a:rPr lang="en-US" altLang="zh-CN" dirty="0"/>
              <a:t>template &lt;class T&gt; </a:t>
            </a:r>
            <a:endParaRPr lang="en-US" altLang="zh-CN" dirty="0"/>
          </a:p>
          <a:p>
            <a:pPr marL="0" indent="0">
              <a:buNone/>
            </a:pPr>
            <a:r>
              <a:rPr lang="en-US" altLang="zh-CN" dirty="0" err="1"/>
              <a:t>ThreadNode</a:t>
            </a:r>
            <a:r>
              <a:rPr lang="en-US" altLang="zh-CN" dirty="0"/>
              <a:t>&lt;T&gt; * </a:t>
            </a:r>
            <a:r>
              <a:rPr lang="en-US" altLang="zh-CN" dirty="0" err="1"/>
              <a:t>ThreadTree</a:t>
            </a:r>
            <a:r>
              <a:rPr lang="en-US" altLang="zh-CN" dirty="0"/>
              <a:t> &lt;T&gt; :: </a:t>
            </a:r>
            <a:endParaRPr lang="en-US" altLang="zh-CN" dirty="0"/>
          </a:p>
          <a:p>
            <a:pPr marL="0" indent="0">
              <a:buNone/>
            </a:pPr>
            <a:r>
              <a:rPr lang="en-US" altLang="zh-CN" dirty="0"/>
              <a:t>Next ( </a:t>
            </a:r>
            <a:r>
              <a:rPr lang="en-US" altLang="zh-CN" dirty="0" err="1"/>
              <a:t>ThreadNode</a:t>
            </a:r>
            <a:r>
              <a:rPr lang="en-US" altLang="zh-CN" dirty="0"/>
              <a:t>&lt;T&gt; * current ) {</a:t>
            </a:r>
            <a:endParaRPr lang="en-US" altLang="zh-CN" dirty="0"/>
          </a:p>
          <a:p>
            <a:pPr marL="0" indent="0">
              <a:buNone/>
            </a:pPr>
            <a:r>
              <a:rPr lang="en-US" altLang="zh-CN" dirty="0"/>
              <a:t>    </a:t>
            </a:r>
            <a:r>
              <a:rPr lang="en-US" altLang="zh-CN" dirty="0" err="1"/>
              <a:t>ThreadNode</a:t>
            </a:r>
            <a:r>
              <a:rPr lang="en-US" altLang="zh-CN" dirty="0"/>
              <a:t>&lt;T&gt; *p = current-&gt;</a:t>
            </a:r>
            <a:r>
              <a:rPr lang="en-US" altLang="zh-CN" dirty="0" err="1"/>
              <a:t>rightChild</a:t>
            </a:r>
            <a:r>
              <a:rPr lang="en-US" altLang="zh-CN" dirty="0"/>
              <a:t>;</a:t>
            </a:r>
            <a:endParaRPr lang="en-US" altLang="zh-CN" dirty="0"/>
          </a:p>
          <a:p>
            <a:pPr marL="0" indent="0">
              <a:buNone/>
            </a:pPr>
            <a:r>
              <a:rPr lang="en-US" altLang="zh-CN" dirty="0"/>
              <a:t>    if ( current-&gt;</a:t>
            </a:r>
            <a:r>
              <a:rPr lang="en-US" altLang="zh-CN" dirty="0" err="1"/>
              <a:t>rtag</a:t>
            </a:r>
            <a:r>
              <a:rPr lang="en-US" altLang="zh-CN" dirty="0"/>
              <a:t> == 0 ) //</a:t>
            </a:r>
            <a:r>
              <a:rPr lang="zh-CN" altLang="en-US" dirty="0"/>
              <a:t>表示有右孩子</a:t>
            </a:r>
            <a:endParaRPr lang="en-US" altLang="zh-CN" dirty="0"/>
          </a:p>
          <a:p>
            <a:pPr marL="0" indent="0">
              <a:buNone/>
            </a:pPr>
            <a:r>
              <a:rPr lang="en-US" altLang="zh-CN" dirty="0"/>
              <a:t>        return First ( p );</a:t>
            </a:r>
            <a:endParaRPr lang="en-US" altLang="zh-CN" dirty="0"/>
          </a:p>
          <a:p>
            <a:pPr marL="0" indent="0">
              <a:buNone/>
            </a:pPr>
            <a:r>
              <a:rPr lang="en-US" altLang="zh-CN" dirty="0"/>
              <a:t>    else  return p;	//</a:t>
            </a:r>
            <a:r>
              <a:rPr lang="zh-CN" altLang="en-US" dirty="0"/>
              <a:t>否则</a:t>
            </a:r>
            <a:r>
              <a:rPr lang="en-US" altLang="zh-CN" dirty="0"/>
              <a:t>, </a:t>
            </a:r>
            <a:r>
              <a:rPr lang="zh-CN" altLang="en-US" dirty="0"/>
              <a:t>直接返回后继线索</a:t>
            </a:r>
            <a:endParaRPr lang="zh-CN" altLang="en-US" dirty="0"/>
          </a:p>
          <a:p>
            <a:pPr marL="0" indent="0">
              <a:buNone/>
            </a:pPr>
            <a:r>
              <a:rPr lang="en-US" altLang="zh-CN" dirty="0"/>
              <a:t>} </a:t>
            </a: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3"/>
          <p:cNvSpPr>
            <a:spLocks noGrp="1"/>
          </p:cNvSpPr>
          <p:nvPr>
            <p:ph idx="1"/>
          </p:nvPr>
        </p:nvSpPr>
        <p:spPr/>
        <p:txBody>
          <a:bodyPr>
            <a:normAutofit fontScale="85000" lnSpcReduction="20000"/>
          </a:bodyPr>
          <a:lstStyle/>
          <a:p>
            <a:pPr marL="0" indent="0">
              <a:buNone/>
            </a:pPr>
            <a:r>
              <a:rPr lang="en-US" altLang="zh-CN" dirty="0"/>
              <a:t>//</a:t>
            </a:r>
            <a:r>
              <a:rPr lang="zh-CN" altLang="en-US" dirty="0"/>
              <a:t>返回以*</a:t>
            </a:r>
            <a:r>
              <a:rPr lang="en-US" altLang="zh-CN" dirty="0"/>
              <a:t>t</a:t>
            </a:r>
            <a:r>
              <a:rPr lang="zh-CN" altLang="en-US" dirty="0"/>
              <a:t>为根的中序线索二叉树中的</a:t>
            </a:r>
            <a:endParaRPr lang="en-US" altLang="zh-CN" dirty="0"/>
          </a:p>
          <a:p>
            <a:pPr marL="0" indent="0">
              <a:buNone/>
            </a:pPr>
            <a:r>
              <a:rPr lang="en-US" altLang="zh-CN" dirty="0"/>
              <a:t>//</a:t>
            </a:r>
            <a:r>
              <a:rPr lang="zh-CN" altLang="en-US" dirty="0"/>
              <a:t>中序序列下的最后一个结点</a:t>
            </a:r>
            <a:endParaRPr lang="zh-CN" altLang="en-US" dirty="0"/>
          </a:p>
          <a:p>
            <a:pPr marL="0" indent="0">
              <a:buNone/>
            </a:pPr>
            <a:r>
              <a:rPr lang="en-US" altLang="zh-CN" dirty="0"/>
              <a:t>template &lt;class T&gt; </a:t>
            </a:r>
            <a:endParaRPr lang="en-US" altLang="zh-CN" dirty="0"/>
          </a:p>
          <a:p>
            <a:pPr marL="0" indent="0">
              <a:buNone/>
            </a:pPr>
            <a:r>
              <a:rPr lang="en-US" altLang="zh-CN" dirty="0" err="1"/>
              <a:t>ThreadNode</a:t>
            </a:r>
            <a:r>
              <a:rPr lang="en-US" altLang="zh-CN" dirty="0"/>
              <a:t>&lt;T&gt; * </a:t>
            </a:r>
            <a:r>
              <a:rPr lang="en-US" altLang="zh-CN" dirty="0" err="1"/>
              <a:t>ThreadTree</a:t>
            </a:r>
            <a:r>
              <a:rPr lang="en-US" altLang="zh-CN" dirty="0"/>
              <a:t> &lt;T&gt; :: </a:t>
            </a:r>
            <a:endParaRPr lang="en-US" altLang="zh-CN" dirty="0"/>
          </a:p>
          <a:p>
            <a:pPr marL="0" indent="0">
              <a:buNone/>
            </a:pPr>
            <a:r>
              <a:rPr lang="en-US" altLang="zh-CN" dirty="0"/>
              <a:t>Last (</a:t>
            </a:r>
            <a:r>
              <a:rPr lang="en-US" altLang="zh-CN" dirty="0" err="1"/>
              <a:t>ThreadNode</a:t>
            </a:r>
            <a:r>
              <a:rPr lang="en-US" altLang="zh-CN" dirty="0"/>
              <a:t>&lt;T&gt; * t) {</a:t>
            </a:r>
            <a:endParaRPr lang="en-US" altLang="zh-CN" dirty="0"/>
          </a:p>
          <a:p>
            <a:pPr marL="0" indent="0">
              <a:buNone/>
            </a:pPr>
            <a:r>
              <a:rPr lang="en-US" altLang="zh-CN" dirty="0" err="1"/>
              <a:t>ThreadNode</a:t>
            </a:r>
            <a:r>
              <a:rPr lang="en-US" altLang="zh-CN" dirty="0"/>
              <a:t>&lt;T&gt; * p = t;</a:t>
            </a:r>
            <a:endParaRPr lang="en-US" altLang="zh-CN" dirty="0"/>
          </a:p>
          <a:p>
            <a:pPr marL="0" indent="0">
              <a:buNone/>
            </a:pPr>
            <a:r>
              <a:rPr lang="en-US" altLang="zh-CN" dirty="0"/>
              <a:t>     while (p-&gt;</a:t>
            </a:r>
            <a:r>
              <a:rPr lang="en-US" altLang="zh-CN" dirty="0" err="1"/>
              <a:t>rtag</a:t>
            </a:r>
            <a:r>
              <a:rPr lang="en-US" altLang="zh-CN" dirty="0"/>
              <a:t> == 0) p = p-&gt;</a:t>
            </a:r>
            <a:r>
              <a:rPr lang="en-US" altLang="zh-CN" dirty="0" err="1"/>
              <a:t>rightChild</a:t>
            </a:r>
            <a:r>
              <a:rPr lang="en-US" altLang="zh-CN" dirty="0"/>
              <a:t>;</a:t>
            </a:r>
            <a:endParaRPr lang="en-US" altLang="zh-CN" dirty="0"/>
          </a:p>
          <a:p>
            <a:pPr marL="0" indent="0">
              <a:buNone/>
            </a:pPr>
            <a:r>
              <a:rPr lang="en-US" altLang="zh-CN" dirty="0"/>
              <a:t>     return p;</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3" name="灯片编号占位符 4"/>
          <p:cNvSpPr>
            <a:spLocks noGrp="1"/>
          </p:cNvSpPr>
          <p:nvPr>
            <p:ph type="sldNum" sz="quarter" idx="4294967295"/>
          </p:nvPr>
        </p:nvSpPr>
        <p:spPr>
          <a:xfrm>
            <a:off x="0" y="6356350"/>
            <a:ext cx="3086100" cy="365125"/>
          </a:xfrm>
        </p:spPr>
        <p:txBody>
          <a:bodyPr/>
          <a:lstStyle/>
          <a:p>
            <a:fld id="{744CF3EA-4F96-4741-8B4A-FF45812DD8EC}" type="slidenum">
              <a:rPr lang="en-US" altLang="zh-CN"/>
            </a:fld>
            <a:endParaRPr lang="en-US" altLang="zh-CN"/>
          </a:p>
        </p:txBody>
      </p:sp>
    </p:spTree>
  </p:cSld>
  <p:clrMapOvr>
    <a:masterClrMapping/>
  </p:clrMapOvr>
  <p:transition>
    <p:spli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3"/>
          <p:cNvSpPr>
            <a:spLocks noGrp="1"/>
          </p:cNvSpPr>
          <p:nvPr>
            <p:ph idx="1"/>
          </p:nvPr>
        </p:nvSpPr>
        <p:spPr>
          <a:xfrm>
            <a:off x="628650" y="1825625"/>
            <a:ext cx="8407846" cy="4351338"/>
          </a:xfrm>
        </p:spPr>
        <p:txBody>
          <a:bodyPr>
            <a:normAutofit fontScale="62500" lnSpcReduction="20000"/>
          </a:bodyPr>
          <a:lstStyle/>
          <a:p>
            <a:pPr marL="0" indent="0">
              <a:buNone/>
            </a:pPr>
            <a:r>
              <a:rPr lang="en-US" altLang="zh-CN" dirty="0"/>
              <a:t>//</a:t>
            </a:r>
            <a:r>
              <a:rPr lang="zh-CN" altLang="en-US" dirty="0"/>
              <a:t>返回中序线索二叉树中结点</a:t>
            </a:r>
            <a:r>
              <a:rPr lang="en-US" altLang="zh-CN" dirty="0"/>
              <a:t>t</a:t>
            </a:r>
            <a:r>
              <a:rPr lang="zh-CN" altLang="en-US" dirty="0"/>
              <a:t>在中序下的前驱结点</a:t>
            </a:r>
            <a:endParaRPr lang="zh-CN" altLang="en-US" dirty="0"/>
          </a:p>
          <a:p>
            <a:pPr marL="0" indent="0">
              <a:buNone/>
            </a:pPr>
            <a:r>
              <a:rPr lang="en-US" altLang="zh-CN" dirty="0"/>
              <a:t>template &lt;class T&gt; </a:t>
            </a:r>
            <a:endParaRPr lang="en-US" altLang="zh-CN" dirty="0"/>
          </a:p>
          <a:p>
            <a:pPr marL="0" indent="0">
              <a:buNone/>
            </a:pPr>
            <a:r>
              <a:rPr lang="en-US" altLang="zh-CN" dirty="0" err="1"/>
              <a:t>ThreadNode</a:t>
            </a:r>
            <a:r>
              <a:rPr lang="en-US" altLang="zh-CN" dirty="0"/>
              <a:t>&lt;T&gt; * </a:t>
            </a:r>
            <a:r>
              <a:rPr lang="en-US" altLang="zh-CN" dirty="0" err="1"/>
              <a:t>ThreadTree</a:t>
            </a:r>
            <a:r>
              <a:rPr lang="en-US" altLang="zh-CN" dirty="0"/>
              <a:t> &lt;T&gt;:: Prior (</a:t>
            </a:r>
            <a:r>
              <a:rPr lang="en-US" altLang="zh-CN" dirty="0" err="1"/>
              <a:t>ThreadNode</a:t>
            </a:r>
            <a:r>
              <a:rPr lang="en-US" altLang="zh-CN" dirty="0"/>
              <a:t>&lt;T&gt; * t) {</a:t>
            </a:r>
            <a:endParaRPr lang="en-US" altLang="zh-CN" dirty="0"/>
          </a:p>
          <a:p>
            <a:pPr marL="0" indent="0">
              <a:buNone/>
            </a:pPr>
            <a:r>
              <a:rPr lang="en-US" altLang="zh-CN" dirty="0"/>
              <a:t>     </a:t>
            </a:r>
            <a:r>
              <a:rPr lang="en-US" altLang="zh-CN" dirty="0" err="1"/>
              <a:t>ThreadNode</a:t>
            </a:r>
            <a:r>
              <a:rPr lang="en-US" altLang="zh-CN" dirty="0"/>
              <a:t>&lt;T&gt; *p = t-&gt;</a:t>
            </a:r>
            <a:r>
              <a:rPr lang="en-US" altLang="zh-CN" dirty="0" err="1"/>
              <a:t>leftChild</a:t>
            </a:r>
            <a:r>
              <a:rPr lang="en-US" altLang="zh-CN" dirty="0"/>
              <a:t>;</a:t>
            </a:r>
            <a:endParaRPr lang="en-US" altLang="zh-CN" dirty="0"/>
          </a:p>
          <a:p>
            <a:pPr marL="0" indent="0">
              <a:buNone/>
            </a:pPr>
            <a:r>
              <a:rPr lang="en-US" altLang="zh-CN" dirty="0"/>
              <a:t>     if (t-&gt;</a:t>
            </a:r>
            <a:r>
              <a:rPr lang="en-US" altLang="zh-CN" dirty="0" err="1"/>
              <a:t>ltag</a:t>
            </a:r>
            <a:r>
              <a:rPr lang="en-US" altLang="zh-CN" dirty="0"/>
              <a:t> == 0) return Last (p);</a:t>
            </a:r>
            <a:endParaRPr lang="en-US" altLang="zh-CN" dirty="0"/>
          </a:p>
          <a:p>
            <a:pPr marL="0" indent="0">
              <a:buNone/>
            </a:pPr>
            <a:r>
              <a:rPr lang="en-US" altLang="zh-CN" dirty="0"/>
              <a:t> 	//</a:t>
            </a:r>
            <a:r>
              <a:rPr lang="en-US" altLang="zh-CN" dirty="0" err="1"/>
              <a:t>ltag</a:t>
            </a:r>
            <a:r>
              <a:rPr lang="en-US" altLang="zh-CN" dirty="0"/>
              <a:t> == 0, </a:t>
            </a:r>
            <a:r>
              <a:rPr lang="zh-CN" altLang="en-US" dirty="0"/>
              <a:t>表示有左孩子，到左子树上</a:t>
            </a:r>
            <a:endParaRPr lang="zh-CN" altLang="en-US" dirty="0"/>
          </a:p>
          <a:p>
            <a:pPr marL="0" indent="0">
              <a:buNone/>
            </a:pPr>
            <a:r>
              <a:rPr lang="zh-CN" altLang="en-US" dirty="0"/>
              <a:t>	</a:t>
            </a:r>
            <a:r>
              <a:rPr lang="en-US" altLang="zh-CN" dirty="0"/>
              <a:t>//</a:t>
            </a:r>
            <a:r>
              <a:rPr lang="zh-CN" altLang="en-US" dirty="0"/>
              <a:t>找中序最后一个结点即为*</a:t>
            </a:r>
            <a:r>
              <a:rPr lang="en-US" altLang="zh-CN" dirty="0"/>
              <a:t>t</a:t>
            </a:r>
            <a:r>
              <a:rPr lang="zh-CN" altLang="en-US" dirty="0"/>
              <a:t>的前驱</a:t>
            </a:r>
            <a:endParaRPr lang="zh-CN" altLang="en-US" dirty="0"/>
          </a:p>
          <a:p>
            <a:pPr marL="0" indent="0">
              <a:buNone/>
            </a:pPr>
            <a:r>
              <a:rPr lang="zh-CN" altLang="en-US" dirty="0"/>
              <a:t>     </a:t>
            </a:r>
            <a:r>
              <a:rPr lang="en-US" altLang="zh-CN" dirty="0"/>
              <a:t>else return p;</a:t>
            </a:r>
            <a:endParaRPr lang="en-US" altLang="zh-CN" dirty="0"/>
          </a:p>
          <a:p>
            <a:pPr marL="0" indent="0">
              <a:buNone/>
            </a:pPr>
            <a:r>
              <a:rPr lang="en-US" altLang="zh-CN" dirty="0"/>
              <a:t>	//</a:t>
            </a:r>
            <a:r>
              <a:rPr lang="en-US" altLang="zh-CN" dirty="0" err="1"/>
              <a:t>ltag</a:t>
            </a:r>
            <a:r>
              <a:rPr lang="en-US" altLang="zh-CN" dirty="0"/>
              <a:t> == 1, </a:t>
            </a:r>
            <a:r>
              <a:rPr lang="zh-CN" altLang="en-US" dirty="0"/>
              <a:t>直接返回前驱线索</a:t>
            </a:r>
            <a:endParaRPr lang="zh-CN" altLang="en-US" dirty="0"/>
          </a:p>
          <a:p>
            <a:pPr marL="0" indent="0">
              <a:buNone/>
            </a:pPr>
            <a:r>
              <a:rPr lang="en-US" altLang="zh-CN" dirty="0"/>
              <a:t>}; </a:t>
            </a:r>
            <a:endParaRPr lang="zh-CN" altLang="en-US" dirty="0"/>
          </a:p>
        </p:txBody>
      </p:sp>
      <p:sp>
        <p:nvSpPr>
          <p:cNvPr id="3" name="灯片编号占位符 2"/>
          <p:cNvSpPr>
            <a:spLocks noGrp="1"/>
          </p:cNvSpPr>
          <p:nvPr>
            <p:ph type="sldNum" sz="quarter" idx="12"/>
          </p:nvPr>
        </p:nvSpPr>
        <p:spPr/>
        <p:txBody>
          <a:bodyPr/>
          <a:lstStyle/>
          <a:p>
            <a:fld id="{2B943580-A33F-49F5-AD3F-349060C5DEB2}" type="slidenum">
              <a:rPr lang="en-US" altLang="zh-CN"/>
            </a:fld>
            <a:endParaRPr lang="en-US" altLang="zh-CN"/>
          </a:p>
        </p:txBody>
      </p:sp>
    </p:spTree>
  </p:cSld>
  <p:clrMapOvr>
    <a:masterClrMapping/>
  </p:clrMapOvr>
  <p:transition>
    <p:spli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476672"/>
            <a:ext cx="7886700" cy="5700291"/>
          </a:xfrm>
        </p:spPr>
        <p:txBody>
          <a:bodyPr>
            <a:normAutofit/>
          </a:bodyPr>
          <a:lstStyle/>
          <a:p>
            <a:pPr marL="0" indent="0">
              <a:buNone/>
            </a:pPr>
            <a:r>
              <a:rPr lang="en-US" altLang="zh-CN" dirty="0"/>
              <a:t>//</a:t>
            </a:r>
            <a:r>
              <a:rPr lang="zh-CN" altLang="en-US" dirty="0"/>
              <a:t>线索化二叉树的中序遍历</a:t>
            </a:r>
            <a:endParaRPr lang="zh-CN" altLang="en-US" dirty="0"/>
          </a:p>
          <a:p>
            <a:pPr marL="0" indent="0">
              <a:buNone/>
            </a:pPr>
            <a:r>
              <a:rPr lang="en-US" altLang="zh-CN" dirty="0"/>
              <a:t>template &lt;class T&gt; void </a:t>
            </a:r>
            <a:endParaRPr lang="en-US" altLang="zh-CN" dirty="0"/>
          </a:p>
          <a:p>
            <a:pPr marL="0" indent="0">
              <a:buNone/>
            </a:pPr>
            <a:r>
              <a:rPr lang="en-US" altLang="zh-CN" dirty="0" err="1"/>
              <a:t>ThreadTree</a:t>
            </a:r>
            <a:r>
              <a:rPr lang="en-US" altLang="zh-CN" dirty="0"/>
              <a:t> &lt;T&gt; :: </a:t>
            </a:r>
            <a:r>
              <a:rPr lang="en-US" altLang="zh-CN" dirty="0" err="1"/>
              <a:t>InOrder</a:t>
            </a:r>
            <a:r>
              <a:rPr lang="en-US" altLang="zh-CN" dirty="0"/>
              <a:t> ( void(*visit)(</a:t>
            </a:r>
            <a:r>
              <a:rPr lang="en-US" altLang="zh-CN" dirty="0" err="1"/>
              <a:t>ThreadNode</a:t>
            </a:r>
            <a:r>
              <a:rPr lang="en-US" altLang="zh-CN" dirty="0"/>
              <a:t>&lt;T&gt; *p) ) {</a:t>
            </a:r>
            <a:endParaRPr lang="en-US" altLang="zh-CN" dirty="0"/>
          </a:p>
          <a:p>
            <a:pPr marL="0" indent="0">
              <a:buNone/>
            </a:pPr>
            <a:r>
              <a:rPr lang="en-US" altLang="zh-CN" dirty="0"/>
              <a:t>    </a:t>
            </a:r>
            <a:r>
              <a:rPr lang="en-US" altLang="zh-CN" dirty="0" err="1"/>
              <a:t>ThreadNode</a:t>
            </a:r>
            <a:r>
              <a:rPr lang="en-US" altLang="zh-CN" dirty="0"/>
              <a:t>&lt;T&gt; * p;  </a:t>
            </a:r>
            <a:endParaRPr lang="en-US" altLang="zh-CN" dirty="0"/>
          </a:p>
          <a:p>
            <a:pPr marL="0" indent="0">
              <a:buNone/>
            </a:pPr>
            <a:r>
              <a:rPr lang="en-US" altLang="zh-CN" dirty="0"/>
              <a:t>    for ( p = First ( root);  p != NULL;  p = Next (p ) )  visit( p);</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620688"/>
            <a:ext cx="8928992" cy="5976663"/>
          </a:xfrm>
        </p:spPr>
        <p:txBody>
          <a:bodyPr>
            <a:normAutofit fontScale="62500" lnSpcReduction="20000"/>
          </a:bodyPr>
          <a:lstStyle/>
          <a:p>
            <a:pPr marL="0" indent="0">
              <a:buNone/>
            </a:pPr>
            <a:r>
              <a:rPr lang="en-US" altLang="zh-CN" dirty="0"/>
              <a:t>//</a:t>
            </a:r>
            <a:r>
              <a:rPr lang="zh-CN" altLang="en-US" dirty="0"/>
              <a:t>为二叉树加上中序线索。特别注意</a:t>
            </a:r>
            <a:r>
              <a:rPr lang="en-US" altLang="zh-CN" dirty="0"/>
              <a:t>pre</a:t>
            </a:r>
            <a:r>
              <a:rPr lang="zh-CN" altLang="en-US" dirty="0"/>
              <a:t>参数的传递方式</a:t>
            </a:r>
            <a:endParaRPr lang="en-US" altLang="zh-CN" dirty="0"/>
          </a:p>
          <a:p>
            <a:pPr marL="0" indent="0">
              <a:buNone/>
            </a:pPr>
            <a:r>
              <a:rPr lang="en-US" altLang="zh-CN" dirty="0"/>
              <a:t>template &lt;class T&gt; </a:t>
            </a:r>
            <a:endParaRPr lang="en-US" altLang="zh-CN" dirty="0"/>
          </a:p>
          <a:p>
            <a:pPr marL="0" indent="0">
              <a:buNone/>
            </a:pPr>
            <a:r>
              <a:rPr lang="en-US" altLang="zh-CN" dirty="0"/>
              <a:t>void </a:t>
            </a:r>
            <a:r>
              <a:rPr lang="en-US" altLang="zh-CN" dirty="0" err="1"/>
              <a:t>ThreadTree</a:t>
            </a:r>
            <a:r>
              <a:rPr lang="en-US" altLang="zh-CN" dirty="0"/>
              <a:t>&lt;T&gt; ::</a:t>
            </a:r>
            <a:r>
              <a:rPr lang="en-US" altLang="zh-CN" dirty="0" err="1"/>
              <a:t>createInThread</a:t>
            </a:r>
            <a:r>
              <a:rPr lang="en-US" altLang="zh-CN" dirty="0"/>
              <a:t> ( </a:t>
            </a:r>
            <a:r>
              <a:rPr lang="en-US" altLang="zh-CN" dirty="0" err="1"/>
              <a:t>ThreadNode</a:t>
            </a:r>
            <a:r>
              <a:rPr lang="en-US" altLang="zh-CN" dirty="0"/>
              <a:t>&lt;T&gt; * current,   </a:t>
            </a:r>
            <a:r>
              <a:rPr lang="en-US" altLang="zh-CN" dirty="0" err="1"/>
              <a:t>ThreadNode</a:t>
            </a:r>
            <a:r>
              <a:rPr lang="en-US" altLang="zh-CN" dirty="0"/>
              <a:t>&lt;T&gt; *&amp; pre ) {</a:t>
            </a:r>
            <a:endParaRPr lang="en-US" altLang="zh-CN" dirty="0"/>
          </a:p>
          <a:p>
            <a:pPr marL="0" indent="0">
              <a:buNone/>
            </a:pPr>
            <a:r>
              <a:rPr lang="en-US" altLang="zh-CN" dirty="0"/>
              <a:t>    if ( current == NULL ) return;</a:t>
            </a:r>
            <a:endParaRPr lang="en-US" altLang="zh-CN" dirty="0"/>
          </a:p>
          <a:p>
            <a:pPr marL="0" indent="0">
              <a:buNone/>
            </a:pPr>
            <a:r>
              <a:rPr lang="en-US" altLang="zh-CN" dirty="0"/>
              <a:t>    </a:t>
            </a:r>
            <a:r>
              <a:rPr lang="en-US" altLang="zh-CN" dirty="0" err="1"/>
              <a:t>createInThread</a:t>
            </a:r>
            <a:r>
              <a:rPr lang="en-US" altLang="zh-CN" dirty="0"/>
              <a:t> ( current-&gt;</a:t>
            </a:r>
            <a:r>
              <a:rPr lang="en-US" altLang="zh-CN" dirty="0" err="1"/>
              <a:t>leftChild</a:t>
            </a:r>
            <a:r>
              <a:rPr lang="en-US" altLang="zh-CN" dirty="0"/>
              <a:t>,  pre );   //</a:t>
            </a:r>
            <a:r>
              <a:rPr lang="zh-CN" altLang="en-US" dirty="0"/>
              <a:t>递归</a:t>
            </a:r>
            <a:r>
              <a:rPr lang="en-US" altLang="zh-CN" dirty="0"/>
              <a:t>, </a:t>
            </a:r>
            <a:r>
              <a:rPr lang="zh-CN" altLang="en-US" dirty="0"/>
              <a:t>左子树线索化</a:t>
            </a:r>
            <a:endParaRPr lang="zh-CN" altLang="en-US" dirty="0"/>
          </a:p>
          <a:p>
            <a:pPr marL="0" indent="0">
              <a:buNone/>
            </a:pPr>
            <a:r>
              <a:rPr lang="zh-CN" altLang="en-US" dirty="0"/>
              <a:t>    </a:t>
            </a:r>
            <a:r>
              <a:rPr lang="en-US" altLang="zh-CN" dirty="0"/>
              <a:t>if ( current-&gt;</a:t>
            </a:r>
            <a:r>
              <a:rPr lang="en-US" altLang="zh-CN" dirty="0" err="1"/>
              <a:t>leftChild</a:t>
            </a:r>
            <a:r>
              <a:rPr lang="en-US" altLang="zh-CN" dirty="0"/>
              <a:t> == NULL )    //</a:t>
            </a:r>
            <a:r>
              <a:rPr lang="zh-CN" altLang="en-US" dirty="0"/>
              <a:t>建立当前结点的前驱线索</a:t>
            </a:r>
            <a:endParaRPr lang="zh-CN" altLang="en-US" dirty="0"/>
          </a:p>
          <a:p>
            <a:pPr marL="0" indent="0">
              <a:buNone/>
            </a:pPr>
            <a:r>
              <a:rPr lang="zh-CN" altLang="en-US" dirty="0"/>
              <a:t>    </a:t>
            </a:r>
            <a:r>
              <a:rPr lang="en-US" altLang="zh-CN" dirty="0"/>
              <a:t>{       current-&gt;</a:t>
            </a:r>
            <a:r>
              <a:rPr lang="en-US" altLang="zh-CN" dirty="0" err="1"/>
              <a:t>leftChild</a:t>
            </a:r>
            <a:r>
              <a:rPr lang="en-US" altLang="zh-CN" dirty="0"/>
              <a:t> = pre;        current-&gt;</a:t>
            </a:r>
            <a:r>
              <a:rPr lang="en-US" altLang="zh-CN" dirty="0" err="1"/>
              <a:t>ltag</a:t>
            </a:r>
            <a:r>
              <a:rPr lang="en-US" altLang="zh-CN" dirty="0"/>
              <a:t> = 1;  }  	</a:t>
            </a:r>
            <a:endParaRPr lang="en-US" altLang="zh-CN" dirty="0"/>
          </a:p>
          <a:p>
            <a:pPr marL="0" indent="0">
              <a:buNone/>
            </a:pPr>
            <a:r>
              <a:rPr lang="en-US" altLang="zh-CN" dirty="0"/>
              <a:t>    if ( pre != NULL &amp;&amp; pre-&gt;</a:t>
            </a:r>
            <a:r>
              <a:rPr lang="en-US" altLang="zh-CN" dirty="0" err="1"/>
              <a:t>rightChild</a:t>
            </a:r>
            <a:r>
              <a:rPr lang="en-US" altLang="zh-CN" dirty="0"/>
              <a:t> == NULL ) {</a:t>
            </a:r>
            <a:endParaRPr lang="en-US" altLang="zh-CN" dirty="0"/>
          </a:p>
          <a:p>
            <a:pPr marL="0" indent="0">
              <a:buNone/>
            </a:pPr>
            <a:r>
              <a:rPr lang="en-US" altLang="zh-CN" dirty="0"/>
              <a:t>             pre-&gt;</a:t>
            </a:r>
            <a:r>
              <a:rPr lang="en-US" altLang="zh-CN" dirty="0" err="1"/>
              <a:t>rightChild</a:t>
            </a:r>
            <a:r>
              <a:rPr lang="en-US" altLang="zh-CN" dirty="0"/>
              <a:t> = current;        pre-&gt;</a:t>
            </a:r>
            <a:r>
              <a:rPr lang="en-US" altLang="zh-CN" dirty="0" err="1"/>
              <a:t>rtag</a:t>
            </a:r>
            <a:r>
              <a:rPr lang="en-US" altLang="zh-CN" dirty="0"/>
              <a:t> = 1; </a:t>
            </a:r>
            <a:endParaRPr lang="en-US" altLang="zh-CN" dirty="0"/>
          </a:p>
          <a:p>
            <a:pPr marL="0" indent="0">
              <a:buNone/>
            </a:pPr>
            <a:r>
              <a:rPr lang="en-US" altLang="zh-CN" dirty="0"/>
              <a:t>    }   //</a:t>
            </a:r>
            <a:r>
              <a:rPr lang="zh-CN" altLang="en-US" dirty="0"/>
              <a:t>建立前驱结点的后继线索</a:t>
            </a:r>
            <a:endParaRPr lang="zh-CN" altLang="en-US" dirty="0"/>
          </a:p>
          <a:p>
            <a:pPr marL="0" indent="0">
              <a:buNone/>
            </a:pPr>
            <a:r>
              <a:rPr lang="zh-CN" altLang="en-US" dirty="0"/>
              <a:t>    </a:t>
            </a:r>
            <a:r>
              <a:rPr lang="en-US" altLang="zh-CN" dirty="0"/>
              <a:t>pre = current;	//</a:t>
            </a:r>
            <a:r>
              <a:rPr lang="zh-CN" altLang="en-US" dirty="0"/>
              <a:t>前驱跟上当前指针</a:t>
            </a:r>
            <a:endParaRPr lang="zh-CN" altLang="en-US" dirty="0"/>
          </a:p>
          <a:p>
            <a:pPr marL="0" indent="0">
              <a:buNone/>
            </a:pPr>
            <a:r>
              <a:rPr lang="zh-CN" altLang="en-US" dirty="0"/>
              <a:t>    </a:t>
            </a:r>
            <a:r>
              <a:rPr lang="en-US" altLang="zh-CN" dirty="0" err="1"/>
              <a:t>createInThread</a:t>
            </a:r>
            <a:r>
              <a:rPr lang="en-US" altLang="zh-CN" dirty="0"/>
              <a:t> ( current-&gt;</a:t>
            </a:r>
            <a:r>
              <a:rPr lang="en-US" altLang="zh-CN" dirty="0" err="1"/>
              <a:t>rightChild</a:t>
            </a:r>
            <a:r>
              <a:rPr lang="en-US" altLang="zh-CN" dirty="0"/>
              <a:t>,  pre );  //</a:t>
            </a:r>
            <a:r>
              <a:rPr lang="zh-CN" altLang="en-US" dirty="0"/>
              <a:t>递归</a:t>
            </a:r>
            <a:r>
              <a:rPr lang="en-US" altLang="zh-CN" dirty="0"/>
              <a:t>, </a:t>
            </a:r>
            <a:r>
              <a:rPr lang="zh-CN" altLang="en-US" dirty="0"/>
              <a:t>右子树线索化</a:t>
            </a:r>
            <a:endParaRPr lang="zh-CN" altLang="en-US" dirty="0"/>
          </a:p>
          <a:p>
            <a:pPr marL="0" indent="0">
              <a:buNone/>
            </a:pPr>
            <a:r>
              <a:rPr lang="en-US" altLang="zh-CN" dirty="0"/>
              <a:t>}</a:t>
            </a: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548680"/>
            <a:ext cx="8712968" cy="5628283"/>
          </a:xfrm>
        </p:spPr>
        <p:txBody>
          <a:bodyPr>
            <a:normAutofit fontScale="92500" lnSpcReduction="20000"/>
          </a:bodyPr>
          <a:lstStyle/>
          <a:p>
            <a:pPr marL="0" indent="0">
              <a:buNone/>
            </a:pPr>
            <a:r>
              <a:rPr lang="en-US" altLang="zh-CN" dirty="0"/>
              <a:t>template &lt;class T&gt; </a:t>
            </a:r>
            <a:endParaRPr lang="en-US" altLang="zh-CN" dirty="0"/>
          </a:p>
          <a:p>
            <a:pPr marL="0" indent="0">
              <a:buNone/>
            </a:pPr>
            <a:r>
              <a:rPr lang="en-US" altLang="zh-CN" dirty="0"/>
              <a:t>void </a:t>
            </a:r>
            <a:r>
              <a:rPr lang="en-US" altLang="zh-CN" dirty="0" err="1"/>
              <a:t>ThreadTree</a:t>
            </a:r>
            <a:r>
              <a:rPr lang="en-US" altLang="zh-CN" dirty="0"/>
              <a:t>&lt;T&gt; :: </a:t>
            </a:r>
            <a:r>
              <a:rPr lang="en-US" altLang="zh-CN" dirty="0" err="1"/>
              <a:t>CreateInThread</a:t>
            </a:r>
            <a:r>
              <a:rPr lang="en-US" altLang="zh-CN" dirty="0"/>
              <a:t> ( ) {</a:t>
            </a:r>
            <a:endParaRPr lang="en-US" altLang="zh-CN" dirty="0"/>
          </a:p>
          <a:p>
            <a:pPr marL="0" indent="0">
              <a:buNone/>
            </a:pPr>
            <a:r>
              <a:rPr lang="en-US" altLang="zh-CN" dirty="0"/>
              <a:t>    </a:t>
            </a:r>
            <a:r>
              <a:rPr lang="en-US" altLang="zh-CN" dirty="0" err="1"/>
              <a:t>ThreadNode</a:t>
            </a:r>
            <a:r>
              <a:rPr lang="en-US" altLang="zh-CN" dirty="0"/>
              <a:t>&lt;T&gt; *pre = NULL;	//</a:t>
            </a:r>
            <a:r>
              <a:rPr lang="zh-CN" altLang="en-US" dirty="0"/>
              <a:t>前驱指针</a:t>
            </a:r>
            <a:endParaRPr lang="zh-CN" altLang="en-US" dirty="0"/>
          </a:p>
          <a:p>
            <a:pPr marL="0" indent="0">
              <a:buNone/>
            </a:pPr>
            <a:r>
              <a:rPr lang="zh-CN" altLang="en-US" dirty="0"/>
              <a:t>    </a:t>
            </a:r>
            <a:r>
              <a:rPr lang="en-US" altLang="zh-CN" dirty="0"/>
              <a:t>if ( root != NULL ) {  //</a:t>
            </a:r>
            <a:r>
              <a:rPr lang="zh-CN" altLang="en-US" dirty="0"/>
              <a:t>非空二叉树</a:t>
            </a:r>
            <a:r>
              <a:rPr lang="en-US" altLang="zh-CN" dirty="0"/>
              <a:t>, </a:t>
            </a:r>
            <a:r>
              <a:rPr lang="zh-CN" altLang="en-US" dirty="0"/>
              <a:t>线索化</a:t>
            </a:r>
            <a:endParaRPr lang="zh-CN" altLang="en-US" dirty="0"/>
          </a:p>
          <a:p>
            <a:pPr marL="0" indent="0">
              <a:buNone/>
            </a:pPr>
            <a:r>
              <a:rPr lang="zh-CN" altLang="en-US" dirty="0"/>
              <a:t>        </a:t>
            </a:r>
            <a:r>
              <a:rPr lang="en-US" altLang="zh-CN" dirty="0" err="1"/>
              <a:t>createInThread</a:t>
            </a:r>
            <a:r>
              <a:rPr lang="en-US" altLang="zh-CN" dirty="0"/>
              <a:t> ( root, pre );				 	        //</a:t>
            </a:r>
            <a:r>
              <a:rPr lang="zh-CN" altLang="en-US" dirty="0"/>
              <a:t>中序遍历线索化二叉树</a:t>
            </a:r>
            <a:endParaRPr lang="zh-CN" altLang="en-US" dirty="0"/>
          </a:p>
          <a:p>
            <a:pPr marL="0" indent="0">
              <a:buNone/>
            </a:pPr>
            <a:r>
              <a:rPr lang="zh-CN" altLang="en-US" dirty="0"/>
              <a:t>        </a:t>
            </a:r>
            <a:r>
              <a:rPr lang="en-US" altLang="zh-CN" dirty="0"/>
              <a:t>pre-&gt;</a:t>
            </a:r>
            <a:r>
              <a:rPr lang="en-US" altLang="zh-CN" dirty="0" err="1"/>
              <a:t>rightChild</a:t>
            </a:r>
            <a:r>
              <a:rPr lang="en-US" altLang="zh-CN" dirty="0"/>
              <a:t> = NULL;</a:t>
            </a:r>
            <a:endParaRPr lang="en-US" altLang="zh-CN" dirty="0"/>
          </a:p>
          <a:p>
            <a:pPr marL="0" indent="0">
              <a:buNone/>
            </a:pPr>
            <a:r>
              <a:rPr lang="en-US" altLang="zh-CN" dirty="0"/>
              <a:t>        pre-&gt;</a:t>
            </a:r>
            <a:r>
              <a:rPr lang="en-US" altLang="zh-CN" dirty="0" err="1"/>
              <a:t>rtag</a:t>
            </a:r>
            <a:r>
              <a:rPr lang="en-US" altLang="zh-CN" dirty="0"/>
              <a:t> = 1;</a:t>
            </a:r>
            <a:endParaRPr lang="en-US" altLang="zh-CN" dirty="0"/>
          </a:p>
          <a:p>
            <a:pPr marL="0" indent="0">
              <a:buNone/>
            </a:pPr>
            <a:r>
              <a:rPr lang="en-US" altLang="zh-CN" dirty="0"/>
              <a:t> 		  //</a:t>
            </a:r>
            <a:r>
              <a:rPr lang="zh-CN" altLang="en-US" dirty="0"/>
              <a:t>后处理</a:t>
            </a:r>
            <a:r>
              <a:rPr lang="en-US" altLang="zh-CN" dirty="0"/>
              <a:t>, </a:t>
            </a:r>
            <a:r>
              <a:rPr lang="zh-CN" altLang="en-US" dirty="0"/>
              <a:t>中序最后一个结点</a:t>
            </a:r>
            <a:endParaRPr lang="zh-CN" altLang="en-US" dirty="0"/>
          </a:p>
          <a:p>
            <a:pPr marL="0" indent="0">
              <a:buNone/>
            </a:pPr>
            <a:r>
              <a:rPr lang="zh-CN" altLang="en-US" dirty="0"/>
              <a:t>    </a:t>
            </a:r>
            <a:r>
              <a:rPr lang="en-US" altLang="zh-CN" dirty="0"/>
              <a:t>}</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用中序线索信息实现前序遍历</a:t>
            </a:r>
            <a:endParaRPr lang="zh-CN" altLang="en-US" dirty="0"/>
          </a:p>
        </p:txBody>
      </p:sp>
      <p:sp>
        <p:nvSpPr>
          <p:cNvPr id="3" name="内容占位符 2"/>
          <p:cNvSpPr>
            <a:spLocks noGrp="1"/>
          </p:cNvSpPr>
          <p:nvPr>
            <p:ph idx="1"/>
          </p:nvPr>
        </p:nvSpPr>
        <p:spPr/>
        <p:txBody>
          <a:bodyPr>
            <a:normAutofit fontScale="77500" lnSpcReduction="20000"/>
          </a:bodyPr>
          <a:lstStyle/>
          <a:p>
            <a:r>
              <a:rPr lang="zh-CN" altLang="en-US" dirty="0"/>
              <a:t>基本思路（程序</a:t>
            </a:r>
            <a:r>
              <a:rPr lang="en-US" altLang="zh-CN" dirty="0"/>
              <a:t>5.25</a:t>
            </a:r>
            <a:r>
              <a:rPr lang="zh-CN" altLang="en-US" dirty="0"/>
              <a:t>）</a:t>
            </a:r>
            <a:endParaRPr lang="zh-CN" altLang="en-US" dirty="0"/>
          </a:p>
          <a:p>
            <a:pPr lvl="1"/>
            <a:r>
              <a:rPr lang="zh-CN" altLang="en-US" dirty="0"/>
              <a:t>参照前面利用栈的非递归算法，从根结点开始，访问当前结点，然后访问其孩子结点，一直到叶子结点，回溯。</a:t>
            </a:r>
            <a:endParaRPr lang="en-US" altLang="zh-CN" dirty="0"/>
          </a:p>
          <a:p>
            <a:r>
              <a:rPr lang="zh-CN" altLang="en-US" dirty="0"/>
              <a:t>关键点</a:t>
            </a:r>
            <a:endParaRPr lang="zh-CN" altLang="en-US" dirty="0"/>
          </a:p>
          <a:p>
            <a:pPr lvl="1"/>
            <a:r>
              <a:rPr lang="zh-CN" altLang="en-US" dirty="0"/>
              <a:t>原来通过栈保存的回溯信息现在要从线索中得到。</a:t>
            </a:r>
            <a:endParaRPr lang="zh-CN" altLang="en-US" dirty="0"/>
          </a:p>
          <a:p>
            <a:pPr lvl="1"/>
            <a:r>
              <a:rPr lang="zh-CN" altLang="en-US" dirty="0"/>
              <a:t>回溯总是从叶子结点开始的，用</a:t>
            </a:r>
            <a:r>
              <a:rPr lang="en-US" altLang="zh-CN" dirty="0"/>
              <a:t>leaf</a:t>
            </a:r>
            <a:r>
              <a:rPr lang="zh-CN" altLang="en-US" dirty="0"/>
              <a:t>表示这个叶子结点，用</a:t>
            </a:r>
            <a:r>
              <a:rPr lang="en-US" altLang="zh-CN" dirty="0" err="1"/>
              <a:t>succ</a:t>
            </a:r>
            <a:r>
              <a:rPr lang="zh-CN" altLang="en-US" dirty="0"/>
              <a:t>代表</a:t>
            </a:r>
            <a:r>
              <a:rPr lang="en-US" altLang="zh-CN" dirty="0"/>
              <a:t>leaf</a:t>
            </a:r>
            <a:r>
              <a:rPr lang="zh-CN" altLang="en-US" dirty="0"/>
              <a:t>的前序下的后继，则需要先找到一个结点</a:t>
            </a:r>
            <a:r>
              <a:rPr lang="en-US" altLang="zh-CN" dirty="0"/>
              <a:t>r</a:t>
            </a:r>
            <a:r>
              <a:rPr lang="zh-CN" altLang="en-US" dirty="0"/>
              <a:t>，</a:t>
            </a:r>
            <a:r>
              <a:rPr lang="en-US" altLang="zh-CN" dirty="0"/>
              <a:t>leaf</a:t>
            </a:r>
            <a:r>
              <a:rPr lang="zh-CN" altLang="en-US" dirty="0"/>
              <a:t>是</a:t>
            </a:r>
            <a:r>
              <a:rPr lang="en-US" altLang="zh-CN" dirty="0"/>
              <a:t>r</a:t>
            </a:r>
            <a:r>
              <a:rPr lang="zh-CN" altLang="en-US" dirty="0"/>
              <a:t>的左子树上前序下最后一个结点，</a:t>
            </a:r>
            <a:r>
              <a:rPr lang="en-US" altLang="zh-CN" dirty="0" err="1"/>
              <a:t>succ</a:t>
            </a:r>
            <a:r>
              <a:rPr lang="zh-CN" altLang="en-US" dirty="0"/>
              <a:t>是</a:t>
            </a:r>
            <a:r>
              <a:rPr lang="en-US" altLang="zh-CN" dirty="0"/>
              <a:t>r</a:t>
            </a:r>
            <a:r>
              <a:rPr lang="zh-CN" altLang="en-US" dirty="0"/>
              <a:t>的右子树的根结点。</a:t>
            </a:r>
            <a:endParaRPr lang="zh-CN" altLang="en-US" dirty="0"/>
          </a:p>
          <a:p>
            <a:pPr lvl="1"/>
            <a:r>
              <a:rPr lang="zh-CN" altLang="en-US" dirty="0"/>
              <a:t>从</a:t>
            </a:r>
            <a:r>
              <a:rPr lang="en-US" altLang="zh-CN" dirty="0"/>
              <a:t>leaf</a:t>
            </a:r>
            <a:r>
              <a:rPr lang="zh-CN" altLang="en-US" dirty="0"/>
              <a:t>开始，沿着中序后继指针一直回溯到第一个具有右孩子的结点，这个结点就是</a:t>
            </a:r>
            <a:r>
              <a:rPr lang="en-US" altLang="zh-CN" dirty="0"/>
              <a:t>r</a:t>
            </a: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628650" y="836712"/>
            <a:ext cx="7886700" cy="5340251"/>
          </a:xfrm>
        </p:spPr>
        <p:txBody>
          <a:bodyPr>
            <a:normAutofit fontScale="55000" lnSpcReduction="20000"/>
          </a:bodyPr>
          <a:lstStyle/>
          <a:p>
            <a:pPr marL="0" indent="0">
              <a:buNone/>
            </a:pPr>
            <a:r>
              <a:rPr lang="en-US" altLang="zh-CN" dirty="0"/>
              <a:t>//</a:t>
            </a:r>
            <a:r>
              <a:rPr lang="zh-CN" altLang="en-US" dirty="0"/>
              <a:t>在中序线索二叉树中找结点</a:t>
            </a:r>
            <a:r>
              <a:rPr lang="en-US" altLang="zh-CN" dirty="0"/>
              <a:t>p</a:t>
            </a:r>
            <a:r>
              <a:rPr lang="zh-CN" altLang="en-US" dirty="0"/>
              <a:t>的前序下的后继</a:t>
            </a:r>
            <a:endParaRPr lang="en-US" altLang="zh-CN" dirty="0"/>
          </a:p>
          <a:p>
            <a:pPr marL="0" indent="0">
              <a:buNone/>
            </a:pPr>
            <a:r>
              <a:rPr lang="en-US" altLang="zh-CN" dirty="0"/>
              <a:t>template &lt;class T&gt;</a:t>
            </a:r>
            <a:endParaRPr lang="en-US" altLang="zh-CN" dirty="0"/>
          </a:p>
          <a:p>
            <a:pPr marL="0" indent="0">
              <a:buNone/>
            </a:pPr>
            <a:r>
              <a:rPr lang="en-US" altLang="zh-CN" dirty="0" err="1"/>
              <a:t>ThreadNode</a:t>
            </a:r>
            <a:r>
              <a:rPr lang="en-US" altLang="zh-CN" dirty="0"/>
              <a:t>&lt;T&gt; * </a:t>
            </a:r>
            <a:r>
              <a:rPr lang="en-US" altLang="zh-CN" dirty="0" err="1"/>
              <a:t>ThreadTree</a:t>
            </a:r>
            <a:r>
              <a:rPr lang="en-US" altLang="zh-CN" dirty="0"/>
              <a:t>&lt;T&gt;::</a:t>
            </a:r>
            <a:r>
              <a:rPr lang="en-US" altLang="zh-CN" dirty="0" err="1"/>
              <a:t>Next_Pre</a:t>
            </a:r>
            <a:r>
              <a:rPr lang="en-US" altLang="zh-CN" dirty="0"/>
              <a:t>(</a:t>
            </a:r>
            <a:r>
              <a:rPr lang="en-US" altLang="zh-CN" dirty="0" err="1"/>
              <a:t>ThreadNode</a:t>
            </a:r>
            <a:r>
              <a:rPr lang="en-US" altLang="zh-CN" dirty="0"/>
              <a:t>&lt;T&gt; *p) {</a:t>
            </a:r>
            <a:endParaRPr lang="en-US" altLang="zh-CN" dirty="0"/>
          </a:p>
          <a:p>
            <a:pPr marL="0" indent="0">
              <a:buNone/>
            </a:pPr>
            <a:r>
              <a:rPr lang="en-US" altLang="zh-CN" dirty="0"/>
              <a:t>     if (p == NULL) return NULL;</a:t>
            </a:r>
            <a:endParaRPr lang="en-US" altLang="zh-CN" dirty="0"/>
          </a:p>
          <a:p>
            <a:pPr marL="0" indent="0">
              <a:buNone/>
            </a:pPr>
            <a:r>
              <a:rPr lang="en-US" altLang="zh-CN" dirty="0"/>
              <a:t>     if (p-&gt;</a:t>
            </a:r>
            <a:r>
              <a:rPr lang="en-US" altLang="zh-CN" dirty="0" err="1"/>
              <a:t>ltag</a:t>
            </a:r>
            <a:r>
              <a:rPr lang="en-US" altLang="zh-CN" dirty="0"/>
              <a:t> == 0) return p-&gt;</a:t>
            </a:r>
            <a:r>
              <a:rPr lang="en-US" altLang="zh-CN" dirty="0" err="1"/>
              <a:t>leftChild</a:t>
            </a:r>
            <a:r>
              <a:rPr lang="en-US" altLang="zh-CN" dirty="0"/>
              <a:t>;</a:t>
            </a:r>
            <a:endParaRPr lang="en-US" altLang="zh-CN" dirty="0"/>
          </a:p>
          <a:p>
            <a:pPr marL="0" indent="0">
              <a:buNone/>
            </a:pPr>
            <a:r>
              <a:rPr lang="en-US" altLang="zh-CN" dirty="0"/>
              <a:t>		//*p</a:t>
            </a:r>
            <a:r>
              <a:rPr lang="zh-CN" altLang="en-US" dirty="0"/>
              <a:t>有左孩子，左孩子即为后继</a:t>
            </a:r>
            <a:endParaRPr lang="zh-CN" altLang="en-US" dirty="0"/>
          </a:p>
          <a:p>
            <a:pPr marL="0" indent="0">
              <a:buNone/>
            </a:pPr>
            <a:r>
              <a:rPr lang="zh-CN" altLang="en-US" dirty="0"/>
              <a:t>     </a:t>
            </a:r>
            <a:r>
              <a:rPr lang="en-US" altLang="zh-CN" dirty="0"/>
              <a:t>else if (p-&gt;</a:t>
            </a:r>
            <a:r>
              <a:rPr lang="en-US" altLang="zh-CN" dirty="0" err="1"/>
              <a:t>rtag</a:t>
            </a:r>
            <a:r>
              <a:rPr lang="en-US" altLang="zh-CN" dirty="0"/>
              <a:t> == 0) return p-&gt;</a:t>
            </a:r>
            <a:r>
              <a:rPr lang="en-US" altLang="zh-CN" dirty="0" err="1"/>
              <a:t>rightChild</a:t>
            </a:r>
            <a:r>
              <a:rPr lang="en-US" altLang="zh-CN" dirty="0"/>
              <a:t>;</a:t>
            </a:r>
            <a:endParaRPr lang="en-US" altLang="zh-CN" dirty="0"/>
          </a:p>
          <a:p>
            <a:pPr marL="0" indent="0">
              <a:buNone/>
            </a:pPr>
            <a:r>
              <a:rPr lang="en-US" altLang="zh-CN" dirty="0"/>
              <a:t> 	        //</a:t>
            </a:r>
            <a:r>
              <a:rPr lang="zh-CN" altLang="en-US" dirty="0"/>
              <a:t>否则若*</a:t>
            </a:r>
            <a:r>
              <a:rPr lang="en-US" altLang="zh-CN" dirty="0"/>
              <a:t>p</a:t>
            </a:r>
            <a:r>
              <a:rPr lang="zh-CN" altLang="en-US" dirty="0"/>
              <a:t>有右孩子，右孩子即为后继</a:t>
            </a:r>
            <a:endParaRPr lang="zh-CN" altLang="en-US" dirty="0"/>
          </a:p>
          <a:p>
            <a:pPr marL="0" indent="0">
              <a:buNone/>
            </a:pPr>
            <a:r>
              <a:rPr lang="zh-CN" altLang="en-US" dirty="0"/>
              <a:t>     </a:t>
            </a:r>
            <a:r>
              <a:rPr lang="en-US" altLang="zh-CN" dirty="0"/>
              <a:t>else {</a:t>
            </a:r>
            <a:endParaRPr lang="en-US" altLang="zh-CN" dirty="0"/>
          </a:p>
          <a:p>
            <a:pPr marL="0" indent="0">
              <a:buNone/>
            </a:pPr>
            <a:r>
              <a:rPr lang="en-US" altLang="zh-CN" dirty="0"/>
              <a:t>          while (p != NULL &amp;&amp; p-&gt;</a:t>
            </a:r>
            <a:r>
              <a:rPr lang="en-US" altLang="zh-CN" dirty="0" err="1"/>
              <a:t>rtag</a:t>
            </a:r>
            <a:r>
              <a:rPr lang="en-US" altLang="zh-CN" dirty="0"/>
              <a:t> == 1)</a:t>
            </a:r>
            <a:endParaRPr lang="en-US" altLang="zh-CN" dirty="0"/>
          </a:p>
          <a:p>
            <a:pPr marL="0" indent="0">
              <a:buNone/>
            </a:pPr>
            <a:r>
              <a:rPr lang="en-US" altLang="zh-CN" dirty="0"/>
              <a:t>	          p = p-&gt;</a:t>
            </a:r>
            <a:r>
              <a:rPr lang="en-US" altLang="zh-CN" dirty="0" err="1"/>
              <a:t>rightChild</a:t>
            </a:r>
            <a:r>
              <a:rPr lang="en-US" altLang="zh-CN" dirty="0"/>
              <a:t>;	//</a:t>
            </a:r>
            <a:r>
              <a:rPr lang="zh-CN" altLang="en-US" dirty="0"/>
              <a:t>沿后继线索检测</a:t>
            </a:r>
            <a:r>
              <a:rPr lang="en-US" altLang="zh-CN" dirty="0"/>
              <a:t>,</a:t>
            </a:r>
            <a:endParaRPr lang="en-US" altLang="zh-CN" dirty="0"/>
          </a:p>
          <a:p>
            <a:pPr marL="0" indent="0">
              <a:buNone/>
            </a:pPr>
            <a:r>
              <a:rPr lang="en-US" altLang="zh-CN" dirty="0"/>
              <a:t>          if (p == NULL) return NULL;</a:t>
            </a:r>
            <a:endParaRPr lang="en-US" altLang="zh-CN" dirty="0"/>
          </a:p>
          <a:p>
            <a:pPr marL="0" indent="0">
              <a:buNone/>
            </a:pPr>
            <a:r>
              <a:rPr lang="en-US" altLang="zh-CN" dirty="0"/>
              <a:t>	return p-&gt;</a:t>
            </a:r>
            <a:r>
              <a:rPr lang="en-US" altLang="zh-CN" dirty="0" err="1"/>
              <a:t>rightChild</a:t>
            </a:r>
            <a:r>
              <a:rPr lang="en-US" altLang="zh-CN" dirty="0"/>
              <a:t>;	//</a:t>
            </a:r>
            <a:r>
              <a:rPr lang="zh-CN" altLang="en-US" dirty="0"/>
              <a:t>右孩子即为后继</a:t>
            </a:r>
            <a:endParaRPr lang="zh-CN" altLang="en-US" dirty="0"/>
          </a:p>
          <a:p>
            <a:pPr marL="0" indent="0">
              <a:buNone/>
            </a:pPr>
            <a:r>
              <a:rPr lang="zh-CN" altLang="en-US" dirty="0"/>
              <a:t>     </a:t>
            </a:r>
            <a:r>
              <a:rPr lang="en-US" altLang="zh-CN" dirty="0"/>
              <a:t>}</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3" name="灯片编号占位符 4"/>
          <p:cNvSpPr>
            <a:spLocks noGrp="1"/>
          </p:cNvSpPr>
          <p:nvPr>
            <p:ph type="sldNum" sz="quarter" idx="4294967295"/>
          </p:nvPr>
        </p:nvSpPr>
        <p:spPr>
          <a:xfrm>
            <a:off x="0" y="6356350"/>
            <a:ext cx="3086100" cy="365125"/>
          </a:xfrm>
        </p:spPr>
        <p:txBody>
          <a:bodyPr/>
          <a:lstStyle/>
          <a:p>
            <a:fld id="{408BFFDE-5BE7-4F34-A547-4DA699F149B2}" type="slidenum">
              <a:rPr lang="en-US" altLang="zh-CN"/>
            </a:fld>
            <a:endParaRPr lang="en-US" altLang="zh-CN"/>
          </a:p>
        </p:txBody>
      </p:sp>
    </p:spTree>
  </p:cSld>
  <p:clrMapOvr>
    <a:masterClrMapping/>
  </p:clrMapOvr>
  <p:transition>
    <p:spli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用中序线索信息实现后序遍历</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基本思路</a:t>
            </a:r>
            <a:endParaRPr lang="zh-CN" altLang="en-US" dirty="0"/>
          </a:p>
          <a:p>
            <a:pPr lvl="1"/>
            <a:r>
              <a:rPr lang="zh-CN" altLang="en-US" dirty="0"/>
              <a:t>从根结点开始，沿着每个结点的孩子结点，一直到叶结点，访问这个叶结点，然后返回到其双亲结点，如果该双亲的右孩子还未被访问，则进入该双亲的右子树，否则访问该双亲结点，然后继续向上一层的双亲回溯。</a:t>
            </a:r>
            <a:endParaRPr lang="en-US" altLang="zh-CN" dirty="0"/>
          </a:p>
          <a:p>
            <a:pPr lvl="1"/>
            <a:r>
              <a:rPr lang="zh-CN" altLang="en-US" dirty="0"/>
              <a:t>关键要能从</a:t>
            </a:r>
            <a:r>
              <a:rPr lang="en-US" altLang="zh-CN" dirty="0"/>
              <a:t>t</a:t>
            </a:r>
            <a:r>
              <a:rPr lang="zh-CN" altLang="en-US" dirty="0"/>
              <a:t>找到</a:t>
            </a:r>
            <a:r>
              <a:rPr lang="en-US" altLang="zh-CN" dirty="0"/>
              <a:t>t</a:t>
            </a:r>
            <a:r>
              <a:rPr lang="zh-CN" altLang="en-US" dirty="0"/>
              <a:t>的双亲</a:t>
            </a:r>
            <a:endParaRPr lang="en-US" altLang="zh-CN" dirty="0"/>
          </a:p>
          <a:p>
            <a:pPr lvl="2"/>
            <a:r>
              <a:rPr lang="zh-CN" altLang="en-US" dirty="0"/>
              <a:t>假设函数</a:t>
            </a:r>
            <a:r>
              <a:rPr lang="en-US" altLang="zh-CN" dirty="0"/>
              <a:t>Parent(t)</a:t>
            </a:r>
            <a:r>
              <a:rPr lang="zh-CN" altLang="en-US" dirty="0"/>
              <a:t>可以完成这个功能，这个函数的思路？</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通过中序线索实现</a:t>
            </a:r>
            <a:r>
              <a:rPr lang="en-US" altLang="zh-CN" dirty="0"/>
              <a:t>Parent(t)</a:t>
            </a:r>
            <a:endParaRPr lang="zh-CN" altLang="en-US" dirty="0"/>
          </a:p>
        </p:txBody>
      </p:sp>
      <p:sp>
        <p:nvSpPr>
          <p:cNvPr id="3" name="内容占位符 2"/>
          <p:cNvSpPr>
            <a:spLocks noGrp="1"/>
          </p:cNvSpPr>
          <p:nvPr>
            <p:ph idx="1"/>
          </p:nvPr>
        </p:nvSpPr>
        <p:spPr>
          <a:xfrm>
            <a:off x="628650" y="1825625"/>
            <a:ext cx="8263830" cy="4351338"/>
          </a:xfrm>
        </p:spPr>
        <p:txBody>
          <a:bodyPr>
            <a:normAutofit fontScale="62500" lnSpcReduction="20000"/>
          </a:bodyPr>
          <a:lstStyle/>
          <a:p>
            <a:r>
              <a:rPr lang="zh-CN" altLang="en-US" dirty="0"/>
              <a:t>如果</a:t>
            </a:r>
            <a:r>
              <a:rPr lang="en-US" altLang="zh-CN" dirty="0"/>
              <a:t>t</a:t>
            </a:r>
            <a:r>
              <a:rPr lang="zh-CN" altLang="en-US" dirty="0"/>
              <a:t>是叶子结点，首先</a:t>
            </a:r>
            <a:r>
              <a:rPr lang="en-US" altLang="zh-CN" dirty="0"/>
              <a:t>p= t-&gt;</a:t>
            </a:r>
            <a:r>
              <a:rPr lang="en-US" altLang="zh-CN" dirty="0" err="1"/>
              <a:t>leftChild</a:t>
            </a:r>
            <a:r>
              <a:rPr lang="en-US" altLang="zh-CN" dirty="0"/>
              <a:t> </a:t>
            </a:r>
            <a:endParaRPr lang="zh-CN" altLang="en-US" dirty="0"/>
          </a:p>
          <a:p>
            <a:pPr lvl="1"/>
            <a:r>
              <a:rPr lang="zh-CN" altLang="en-US" dirty="0"/>
              <a:t>如果</a:t>
            </a:r>
            <a:r>
              <a:rPr lang="en-US" altLang="zh-CN" dirty="0"/>
              <a:t>p</a:t>
            </a:r>
            <a:r>
              <a:rPr lang="zh-CN" altLang="en-US" dirty="0"/>
              <a:t>非空。如果</a:t>
            </a:r>
            <a:r>
              <a:rPr lang="en-US" altLang="zh-CN" dirty="0"/>
              <a:t>t== p-&gt;</a:t>
            </a:r>
            <a:r>
              <a:rPr lang="en-US" altLang="zh-CN" dirty="0" err="1"/>
              <a:t>rightChild</a:t>
            </a:r>
            <a:r>
              <a:rPr lang="en-US" altLang="zh-CN" dirty="0"/>
              <a:t> </a:t>
            </a:r>
            <a:r>
              <a:rPr lang="zh-CN" altLang="en-US" dirty="0"/>
              <a:t>，则</a:t>
            </a:r>
            <a:r>
              <a:rPr lang="en-US" altLang="zh-CN" dirty="0"/>
              <a:t>p</a:t>
            </a:r>
            <a:r>
              <a:rPr lang="zh-CN" altLang="en-US" dirty="0"/>
              <a:t>就是要找的结点；否则</a:t>
            </a:r>
            <a:r>
              <a:rPr lang="en-US" altLang="zh-CN" dirty="0"/>
              <a:t>q= p-&gt;</a:t>
            </a:r>
            <a:r>
              <a:rPr lang="en-US" altLang="zh-CN" dirty="0" err="1"/>
              <a:t>rightChild</a:t>
            </a:r>
            <a:r>
              <a:rPr lang="zh-CN" altLang="en-US" dirty="0"/>
              <a:t>，沿着</a:t>
            </a:r>
            <a:r>
              <a:rPr lang="en-US" altLang="zh-CN" dirty="0"/>
              <a:t>q</a:t>
            </a:r>
            <a:r>
              <a:rPr lang="zh-CN" altLang="en-US" dirty="0"/>
              <a:t>的左孩子，一直到一个结点</a:t>
            </a:r>
            <a:r>
              <a:rPr lang="en-US" altLang="zh-CN" dirty="0"/>
              <a:t>x</a:t>
            </a:r>
            <a:r>
              <a:rPr lang="zh-CN" altLang="en-US" dirty="0"/>
              <a:t>，</a:t>
            </a:r>
            <a:r>
              <a:rPr lang="en-US" altLang="zh-CN" dirty="0"/>
              <a:t>t</a:t>
            </a:r>
            <a:r>
              <a:rPr lang="zh-CN" altLang="en-US" dirty="0"/>
              <a:t>是</a:t>
            </a:r>
            <a:r>
              <a:rPr lang="en-US" altLang="zh-CN" dirty="0"/>
              <a:t>x</a:t>
            </a:r>
            <a:r>
              <a:rPr lang="zh-CN" altLang="en-US" dirty="0"/>
              <a:t>的左孩子，</a:t>
            </a:r>
            <a:r>
              <a:rPr lang="en-US" altLang="zh-CN" dirty="0"/>
              <a:t>x</a:t>
            </a:r>
            <a:r>
              <a:rPr lang="zh-CN" altLang="en-US" dirty="0"/>
              <a:t>就是</a:t>
            </a:r>
            <a:r>
              <a:rPr lang="en-US" altLang="zh-CN" dirty="0"/>
              <a:t>t</a:t>
            </a:r>
            <a:r>
              <a:rPr lang="zh-CN" altLang="en-US" dirty="0"/>
              <a:t>的</a:t>
            </a:r>
            <a:r>
              <a:rPr lang="en-US" altLang="zh-CN" dirty="0"/>
              <a:t>parent</a:t>
            </a:r>
            <a:r>
              <a:rPr lang="zh-CN" altLang="en-US" dirty="0"/>
              <a:t>。</a:t>
            </a:r>
            <a:endParaRPr lang="en-US" altLang="zh-CN" dirty="0"/>
          </a:p>
          <a:p>
            <a:pPr lvl="1"/>
            <a:r>
              <a:rPr lang="zh-CN" altLang="en-US" dirty="0"/>
              <a:t>如果</a:t>
            </a:r>
            <a:r>
              <a:rPr lang="en-US" altLang="zh-CN" dirty="0"/>
              <a:t>p</a:t>
            </a:r>
            <a:r>
              <a:rPr lang="zh-CN" altLang="en-US" dirty="0"/>
              <a:t>空（因为中序下的第一个结点前驱为空），则从</a:t>
            </a:r>
            <a:r>
              <a:rPr lang="en-US" altLang="zh-CN" dirty="0"/>
              <a:t>t-&gt;</a:t>
            </a:r>
            <a:r>
              <a:rPr lang="en-US" altLang="zh-CN" dirty="0" err="1"/>
              <a:t>rightChild</a:t>
            </a:r>
            <a:r>
              <a:rPr lang="zh-CN" altLang="en-US" dirty="0"/>
              <a:t>开始找，与上述过程类似，左右相反。</a:t>
            </a:r>
            <a:endParaRPr lang="zh-CN" altLang="en-US" dirty="0"/>
          </a:p>
          <a:p>
            <a:r>
              <a:rPr lang="zh-CN" altLang="en-US" dirty="0"/>
              <a:t>如果</a:t>
            </a:r>
            <a:r>
              <a:rPr lang="en-US" altLang="zh-CN" dirty="0"/>
              <a:t>t</a:t>
            </a:r>
            <a:r>
              <a:rPr lang="zh-CN" altLang="en-US" dirty="0"/>
              <a:t>不是叶子结点</a:t>
            </a:r>
            <a:endParaRPr lang="zh-CN" altLang="en-US" dirty="0"/>
          </a:p>
          <a:p>
            <a:pPr lvl="1"/>
            <a:r>
              <a:rPr lang="zh-CN" altLang="en-US" dirty="0"/>
              <a:t>从</a:t>
            </a:r>
            <a:r>
              <a:rPr lang="en-US" altLang="zh-CN" dirty="0"/>
              <a:t>t</a:t>
            </a:r>
            <a:r>
              <a:rPr lang="zh-CN" altLang="en-US" dirty="0"/>
              <a:t>开始，沿着左孩子，一直走到没有左孩子的结点，这个结点的前驱线索指向的结点</a:t>
            </a:r>
            <a:r>
              <a:rPr lang="en-US" altLang="zh-CN" dirty="0"/>
              <a:t>p</a:t>
            </a:r>
            <a:r>
              <a:rPr lang="zh-CN" altLang="en-US" dirty="0"/>
              <a:t>如果存在，则从</a:t>
            </a:r>
            <a:r>
              <a:rPr lang="en-US" altLang="zh-CN" dirty="0"/>
              <a:t>p</a:t>
            </a:r>
            <a:r>
              <a:rPr lang="zh-CN" altLang="en-US" dirty="0"/>
              <a:t>的右孩子开始，沿着左孩子，一直到一个结点</a:t>
            </a:r>
            <a:r>
              <a:rPr lang="en-US" altLang="zh-CN" dirty="0"/>
              <a:t>x</a:t>
            </a:r>
            <a:r>
              <a:rPr lang="zh-CN" altLang="en-US" dirty="0"/>
              <a:t>，</a:t>
            </a:r>
            <a:r>
              <a:rPr lang="en-US" altLang="zh-CN" dirty="0"/>
              <a:t>t</a:t>
            </a:r>
            <a:r>
              <a:rPr lang="zh-CN" altLang="en-US" dirty="0"/>
              <a:t>是</a:t>
            </a:r>
            <a:r>
              <a:rPr lang="en-US" altLang="zh-CN" dirty="0"/>
              <a:t>x</a:t>
            </a:r>
            <a:r>
              <a:rPr lang="zh-CN" altLang="en-US" dirty="0"/>
              <a:t>的左孩子，</a:t>
            </a:r>
            <a:r>
              <a:rPr lang="en-US" altLang="zh-CN" dirty="0"/>
              <a:t>x</a:t>
            </a:r>
            <a:r>
              <a:rPr lang="zh-CN" altLang="en-US" dirty="0"/>
              <a:t>就是</a:t>
            </a:r>
            <a:r>
              <a:rPr lang="en-US" altLang="zh-CN" dirty="0"/>
              <a:t>t</a:t>
            </a:r>
            <a:r>
              <a:rPr lang="zh-CN" altLang="en-US" dirty="0"/>
              <a:t>的</a:t>
            </a:r>
            <a:r>
              <a:rPr lang="en-US" altLang="zh-CN" dirty="0"/>
              <a:t>parent</a:t>
            </a:r>
            <a:r>
              <a:rPr lang="zh-CN" altLang="en-US" dirty="0"/>
              <a:t>。</a:t>
            </a:r>
            <a:endParaRPr lang="en-US" altLang="zh-CN" dirty="0"/>
          </a:p>
          <a:p>
            <a:pPr lvl="1" defTabSz="913130"/>
            <a:r>
              <a:rPr lang="zh-CN" altLang="en-US" dirty="0"/>
              <a:t>如果</a:t>
            </a:r>
            <a:r>
              <a:rPr lang="en-US" altLang="zh-CN" dirty="0"/>
              <a:t>p</a:t>
            </a:r>
            <a:r>
              <a:rPr lang="zh-CN" altLang="en-US" dirty="0"/>
              <a:t>为空，则从</a:t>
            </a:r>
            <a:r>
              <a:rPr lang="en-US" altLang="zh-CN" dirty="0"/>
              <a:t>t</a:t>
            </a:r>
            <a:r>
              <a:rPr lang="zh-CN" altLang="en-US" dirty="0"/>
              <a:t>的右孩子找；</a:t>
            </a:r>
            <a:endParaRPr lang="zh-CN" altLang="en-US" dirty="0"/>
          </a:p>
          <a:p>
            <a:pPr defTabSz="913130"/>
            <a:r>
              <a:rPr lang="zh-CN" altLang="en-US" dirty="0"/>
              <a:t>如果</a:t>
            </a:r>
            <a:r>
              <a:rPr lang="en-US" altLang="zh-CN" dirty="0"/>
              <a:t>p</a:t>
            </a:r>
            <a:r>
              <a:rPr lang="zh-CN" altLang="en-US" dirty="0"/>
              <a:t>和</a:t>
            </a:r>
            <a:r>
              <a:rPr lang="en-US" altLang="zh-CN" dirty="0"/>
              <a:t>q</a:t>
            </a:r>
            <a:r>
              <a:rPr lang="zh-CN" altLang="en-US" dirty="0"/>
              <a:t>都为空，则</a:t>
            </a:r>
            <a:r>
              <a:rPr lang="en-US" altLang="zh-CN" dirty="0"/>
              <a:t>t</a:t>
            </a:r>
            <a:r>
              <a:rPr lang="zh-CN" altLang="en-US" dirty="0"/>
              <a:t>是根结点。</a:t>
            </a:r>
            <a:endParaRPr lang="en-US" altLang="zh-CN" dirty="0"/>
          </a:p>
          <a:p>
            <a:pPr defTabSz="913130"/>
            <a:r>
              <a:rPr lang="zh-CN" altLang="en-US" dirty="0"/>
              <a:t>具体代码（略）</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p:cNvSpPr>
            <a:spLocks noGrp="1" noChangeArrowheads="1"/>
          </p:cNvSpPr>
          <p:nvPr>
            <p:ph type="title"/>
          </p:nvPr>
        </p:nvSpPr>
        <p:spPr/>
        <p:txBody>
          <a:bodyPr/>
          <a:lstStyle/>
          <a:p>
            <a:pPr defTabSz="913130"/>
            <a:r>
              <a:rPr lang="en-US" altLang="zh-CN" dirty="0"/>
              <a:t>5.5.3 </a:t>
            </a:r>
            <a:r>
              <a:rPr lang="zh-CN" altLang="en-US" dirty="0"/>
              <a:t>中序线索二叉树的插入与删除</a:t>
            </a:r>
            <a:endParaRPr lang="zh-CN" altLang="en-US" dirty="0"/>
          </a:p>
        </p:txBody>
      </p:sp>
      <p:sp>
        <p:nvSpPr>
          <p:cNvPr id="2" name="内容占位符 1"/>
          <p:cNvSpPr>
            <a:spLocks noGrp="1"/>
          </p:cNvSpPr>
          <p:nvPr>
            <p:ph idx="1"/>
          </p:nvPr>
        </p:nvSpPr>
        <p:spPr/>
        <p:txBody>
          <a:bodyPr>
            <a:normAutofit fontScale="92500" lnSpcReduction="20000"/>
          </a:bodyPr>
          <a:lstStyle/>
          <a:p>
            <a:r>
              <a:rPr lang="zh-CN" altLang="en-US" dirty="0"/>
              <a:t>关键是要分清可能的几种情况，然后注意调整好受影响的多个指针。例如：</a:t>
            </a:r>
            <a:endParaRPr lang="en-US" altLang="zh-CN" dirty="0"/>
          </a:p>
          <a:p>
            <a:pPr lvl="1"/>
            <a:r>
              <a:rPr lang="zh-CN" altLang="en-US" dirty="0"/>
              <a:t>以新结点作为右孩子插入为例，分</a:t>
            </a:r>
            <a:r>
              <a:rPr lang="en-US" altLang="zh-CN" dirty="0"/>
              <a:t>2</a:t>
            </a:r>
            <a:r>
              <a:rPr lang="zh-CN" altLang="en-US" dirty="0"/>
              <a:t>种情况</a:t>
            </a:r>
            <a:endParaRPr lang="zh-CN" altLang="en-US" dirty="0"/>
          </a:p>
          <a:p>
            <a:pPr lvl="2"/>
            <a:r>
              <a:rPr lang="zh-CN" altLang="en-US" dirty="0"/>
              <a:t>新结点是叶子结点</a:t>
            </a:r>
            <a:endParaRPr lang="zh-CN" altLang="en-US" dirty="0"/>
          </a:p>
          <a:p>
            <a:pPr lvl="2"/>
            <a:r>
              <a:rPr lang="zh-CN" altLang="en-US" dirty="0"/>
              <a:t>新结点是非叶子结点</a:t>
            </a:r>
            <a:endParaRPr lang="zh-CN" altLang="en-US" dirty="0"/>
          </a:p>
          <a:p>
            <a:pPr lvl="1"/>
            <a:r>
              <a:rPr lang="zh-CN" altLang="en-US" dirty="0"/>
              <a:t>以删除右孩子结点为例，分</a:t>
            </a:r>
            <a:r>
              <a:rPr lang="en-US" altLang="zh-CN" dirty="0"/>
              <a:t>4</a:t>
            </a:r>
            <a:r>
              <a:rPr lang="zh-CN" altLang="en-US" dirty="0"/>
              <a:t>种情况</a:t>
            </a:r>
            <a:endParaRPr lang="zh-CN" altLang="en-US" dirty="0"/>
          </a:p>
          <a:p>
            <a:pPr lvl="2"/>
            <a:r>
              <a:rPr lang="zh-CN" altLang="en-US" dirty="0"/>
              <a:t>删除叶子结点</a:t>
            </a:r>
            <a:endParaRPr lang="zh-CN" altLang="en-US" dirty="0"/>
          </a:p>
          <a:p>
            <a:pPr lvl="2"/>
            <a:r>
              <a:rPr lang="zh-CN" altLang="en-US" dirty="0"/>
              <a:t>删除结点左孩子空</a:t>
            </a:r>
            <a:endParaRPr lang="zh-CN" altLang="en-US" dirty="0"/>
          </a:p>
          <a:p>
            <a:pPr lvl="2"/>
            <a:r>
              <a:rPr lang="zh-CN" altLang="en-US" dirty="0"/>
              <a:t>删除结点右孩子空</a:t>
            </a:r>
            <a:endParaRPr lang="zh-CN" altLang="en-US" dirty="0"/>
          </a:p>
          <a:p>
            <a:pPr lvl="2"/>
            <a:r>
              <a:rPr lang="zh-CN" altLang="en-US" dirty="0"/>
              <a:t>删除结点同时具有左右子树</a:t>
            </a:r>
            <a:endParaRPr lang="zh-CN" altLang="en-US" dirty="0"/>
          </a:p>
        </p:txBody>
      </p:sp>
      <p:sp>
        <p:nvSpPr>
          <p:cNvPr id="3" name="灯片编号占位符 2"/>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5.5.4 </a:t>
            </a:r>
            <a:r>
              <a:rPr lang="zh-CN" altLang="en-US" dirty="0"/>
              <a:t>前序与后序的线索二叉树</a:t>
            </a:r>
            <a:endParaRPr lang="zh-CN" altLang="en-US" dirty="0"/>
          </a:p>
        </p:txBody>
      </p:sp>
      <p:sp>
        <p:nvSpPr>
          <p:cNvPr id="3" name="内容占位符 2"/>
          <p:cNvSpPr>
            <a:spLocks noGrp="1"/>
          </p:cNvSpPr>
          <p:nvPr>
            <p:ph idx="1"/>
          </p:nvPr>
        </p:nvSpPr>
        <p:spPr/>
        <p:txBody>
          <a:bodyPr/>
          <a:lstStyle/>
          <a:p>
            <a:r>
              <a:rPr lang="zh-CN" altLang="en-US" dirty="0"/>
              <a:t>与中序线索二叉树一样，前序线索二叉树与后序线索二叉树部分前驱、后继信息隐藏在树的结构中。</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Line 15"/>
          <p:cNvSpPr>
            <a:spLocks noChangeShapeType="1"/>
          </p:cNvSpPr>
          <p:nvPr/>
        </p:nvSpPr>
        <p:spPr bwMode="auto">
          <a:xfrm flipH="1">
            <a:off x="2406389" y="2865512"/>
            <a:ext cx="2286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83" name="Line 14"/>
          <p:cNvSpPr>
            <a:spLocks noChangeShapeType="1"/>
          </p:cNvSpPr>
          <p:nvPr/>
        </p:nvSpPr>
        <p:spPr bwMode="auto">
          <a:xfrm>
            <a:off x="1187189" y="2789312"/>
            <a:ext cx="2286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84" name="Line 13"/>
          <p:cNvSpPr>
            <a:spLocks noChangeShapeType="1"/>
          </p:cNvSpPr>
          <p:nvPr/>
        </p:nvSpPr>
        <p:spPr bwMode="auto">
          <a:xfrm>
            <a:off x="1949189" y="1951112"/>
            <a:ext cx="6858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85" name="Line 12"/>
          <p:cNvSpPr>
            <a:spLocks noChangeShapeType="1"/>
          </p:cNvSpPr>
          <p:nvPr/>
        </p:nvSpPr>
        <p:spPr bwMode="auto">
          <a:xfrm flipH="1">
            <a:off x="1187189" y="2027312"/>
            <a:ext cx="609600" cy="609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1301" name="Text Box 5"/>
          <p:cNvSpPr txBox="1">
            <a:spLocks noChangeArrowheads="1"/>
          </p:cNvSpPr>
          <p:nvPr/>
        </p:nvSpPr>
        <p:spPr bwMode="auto">
          <a:xfrm>
            <a:off x="660139" y="4160912"/>
            <a:ext cx="2127250" cy="1189038"/>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zh-CN" altLang="en-US" sz="3200" u="sng">
                <a:solidFill>
                  <a:schemeClr val="hlink"/>
                </a:solidFill>
                <a:effectLst>
                  <a:outerShdw blurRad="38100" dist="38100" dir="2700000" algn="tl">
                    <a:srgbClr val="C0C0C0"/>
                  </a:outerShdw>
                </a:effectLst>
                <a:latin typeface="Arial" panose="020B0604020202020204" pitchFamily="34" charset="0"/>
                <a:ea typeface="仿宋_GB2312" panose="02010609030101010101" pitchFamily="49" charset="-122"/>
              </a:rPr>
              <a:t>前序序列</a:t>
            </a:r>
            <a:endParaRPr lang="zh-CN" altLang="en-US" sz="3600">
              <a:latin typeface="Arial" panose="020B0604020202020204" pitchFamily="34" charset="0"/>
              <a:ea typeface="隶书" panose="02010509060101010101" pitchFamily="49" charset="-122"/>
            </a:endParaRPr>
          </a:p>
          <a:p>
            <a:pPr eaLnBrk="1" fontAlgn="auto" hangingPunct="1">
              <a:spcBef>
                <a:spcPts val="0"/>
              </a:spcBef>
              <a:spcAft>
                <a:spcPts val="0"/>
              </a:spcAft>
              <a:defRPr/>
            </a:pPr>
            <a:endParaRPr lang="zh-CN" altLang="en-US" sz="800">
              <a:latin typeface="Arial" panose="020B0604020202020204" pitchFamily="34" charset="0"/>
              <a:ea typeface="黑体" panose="02010609060101010101" pitchFamily="2" charset="-122"/>
            </a:endParaRPr>
          </a:p>
          <a:p>
            <a:pPr eaLnBrk="1" fontAlgn="auto" hangingPunct="1">
              <a:spcBef>
                <a:spcPts val="0"/>
              </a:spcBef>
              <a:spcAft>
                <a:spcPts val="0"/>
              </a:spcAft>
              <a:defRPr/>
            </a:pPr>
            <a:r>
              <a:rPr lang="zh-CN" altLang="en-US" sz="3200">
                <a:latin typeface="Arial" panose="020B0604020202020204" pitchFamily="34" charset="0"/>
                <a:ea typeface="黑体" panose="02010609060101010101" pitchFamily="2" charset="-122"/>
              </a:rPr>
              <a:t> </a:t>
            </a:r>
            <a:r>
              <a:rPr lang="en-US" altLang="zh-CN" sz="3200">
                <a:solidFill>
                  <a:srgbClr val="008000"/>
                </a:solidFill>
                <a:effectLst>
                  <a:outerShdw blurRad="38100" dist="38100" dir="2700000" algn="tl">
                    <a:srgbClr val="C0C0C0"/>
                  </a:outerShdw>
                </a:effectLst>
                <a:latin typeface="Times New Roman" panose="02020603050405020304" pitchFamily="18" charset="0"/>
                <a:ea typeface="黑体" panose="02010609060101010101" pitchFamily="2" charset="-122"/>
              </a:rPr>
              <a:t>A B D C E</a:t>
            </a:r>
            <a:endParaRPr lang="en-US" altLang="zh-CN" sz="3200">
              <a:latin typeface="Arial" panose="020B0604020202020204" pitchFamily="34" charset="0"/>
              <a:ea typeface="黑体" panose="02010609060101010101" pitchFamily="2" charset="-122"/>
            </a:endParaRPr>
          </a:p>
        </p:txBody>
      </p:sp>
      <p:sp>
        <p:nvSpPr>
          <p:cNvPr id="311302" name="Text Box 6"/>
          <p:cNvSpPr txBox="1">
            <a:spLocks noChangeArrowheads="1"/>
          </p:cNvSpPr>
          <p:nvPr/>
        </p:nvSpPr>
        <p:spPr bwMode="auto">
          <a:xfrm>
            <a:off x="304800" y="5715000"/>
            <a:ext cx="8229600" cy="579438"/>
          </a:xfrm>
          <a:prstGeom prst="rect">
            <a:avLst/>
          </a:prstGeom>
          <a:noFill/>
          <a:ln w="9525">
            <a:noFill/>
            <a:miter lim="800000"/>
          </a:ln>
          <a:effectLst/>
        </p:spPr>
        <p:txBody>
          <a:bodyPr>
            <a:spAutoFit/>
          </a:bodyPr>
          <a:lstStyle/>
          <a:p>
            <a:pPr eaLnBrk="1" fontAlgn="auto" hangingPunct="1">
              <a:spcBef>
                <a:spcPts val="0"/>
              </a:spcBef>
              <a:spcAft>
                <a:spcPts val="0"/>
              </a:spcAft>
              <a:defRPr/>
            </a:pPr>
            <a:r>
              <a:rPr lang="zh-CN" altLang="en-US" sz="3200" dirty="0">
                <a:solidFill>
                  <a:schemeClr val="accent2"/>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类似方法找当前结点的前驱</a:t>
            </a:r>
            <a:endParaRPr lang="zh-CN" altLang="en-US" sz="3200" dirty="0">
              <a:solidFill>
                <a:schemeClr val="accent2"/>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97289" name="Oval 7"/>
          <p:cNvSpPr>
            <a:spLocks noChangeArrowheads="1"/>
          </p:cNvSpPr>
          <p:nvPr/>
        </p:nvSpPr>
        <p:spPr bwMode="auto">
          <a:xfrm>
            <a:off x="1720589" y="1722512"/>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97290" name="Oval 8"/>
          <p:cNvSpPr>
            <a:spLocks noChangeArrowheads="1"/>
          </p:cNvSpPr>
          <p:nvPr/>
        </p:nvSpPr>
        <p:spPr bwMode="auto">
          <a:xfrm>
            <a:off x="958589" y="2484512"/>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7291" name="Oval 9"/>
          <p:cNvSpPr>
            <a:spLocks noChangeArrowheads="1"/>
          </p:cNvSpPr>
          <p:nvPr/>
        </p:nvSpPr>
        <p:spPr bwMode="auto">
          <a:xfrm>
            <a:off x="2482589" y="2484512"/>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7292" name="Oval 10"/>
          <p:cNvSpPr>
            <a:spLocks noChangeArrowheads="1"/>
          </p:cNvSpPr>
          <p:nvPr/>
        </p:nvSpPr>
        <p:spPr bwMode="auto">
          <a:xfrm>
            <a:off x="1263389" y="3398912"/>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7293" name="Oval 11"/>
          <p:cNvSpPr>
            <a:spLocks noChangeArrowheads="1"/>
          </p:cNvSpPr>
          <p:nvPr/>
        </p:nvSpPr>
        <p:spPr bwMode="auto">
          <a:xfrm>
            <a:off x="2177789" y="3398912"/>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7294" name="Freeform 17"/>
          <p:cNvSpPr/>
          <p:nvPr/>
        </p:nvSpPr>
        <p:spPr bwMode="auto">
          <a:xfrm>
            <a:off x="2482589" y="3779912"/>
            <a:ext cx="381000" cy="88900"/>
          </a:xfrm>
          <a:custGeom>
            <a:avLst/>
            <a:gdLst>
              <a:gd name="T0" fmla="*/ 0 w 240"/>
              <a:gd name="T1" fmla="*/ 0 h 56"/>
              <a:gd name="T2" fmla="*/ 2147483646 w 240"/>
              <a:gd name="T3" fmla="*/ 2147483646 h 56"/>
              <a:gd name="T4" fmla="*/ 2147483646 w 240"/>
              <a:gd name="T5" fmla="*/ 2147483646 h 56"/>
              <a:gd name="T6" fmla="*/ 2147483646 w 240"/>
              <a:gd name="T7" fmla="*/ 0 h 56"/>
              <a:gd name="T8" fmla="*/ 0 60000 65536"/>
              <a:gd name="T9" fmla="*/ 0 60000 65536"/>
              <a:gd name="T10" fmla="*/ 0 60000 65536"/>
              <a:gd name="T11" fmla="*/ 0 60000 65536"/>
              <a:gd name="T12" fmla="*/ 0 w 240"/>
              <a:gd name="T13" fmla="*/ 0 h 56"/>
              <a:gd name="T14" fmla="*/ 240 w 240"/>
              <a:gd name="T15" fmla="*/ 56 h 56"/>
            </a:gdLst>
            <a:ahLst/>
            <a:cxnLst>
              <a:cxn ang="T8">
                <a:pos x="T0" y="T1"/>
              </a:cxn>
              <a:cxn ang="T9">
                <a:pos x="T2" y="T3"/>
              </a:cxn>
              <a:cxn ang="T10">
                <a:pos x="T4" y="T5"/>
              </a:cxn>
              <a:cxn ang="T11">
                <a:pos x="T6" y="T7"/>
              </a:cxn>
            </a:cxnLst>
            <a:rect l="T12" t="T13" r="T14" b="T15"/>
            <a:pathLst>
              <a:path w="240" h="56">
                <a:moveTo>
                  <a:pt x="0" y="0"/>
                </a:moveTo>
                <a:cubicBezTo>
                  <a:pt x="12" y="20"/>
                  <a:pt x="24" y="40"/>
                  <a:pt x="48" y="48"/>
                </a:cubicBezTo>
                <a:cubicBezTo>
                  <a:pt x="72" y="56"/>
                  <a:pt x="112" y="56"/>
                  <a:pt x="144" y="48"/>
                </a:cubicBezTo>
                <a:cubicBezTo>
                  <a:pt x="176" y="40"/>
                  <a:pt x="224" y="8"/>
                  <a:pt x="240" y="0"/>
                </a:cubicBezTo>
              </a:path>
            </a:pathLst>
          </a:custGeom>
          <a:noFill/>
          <a:ln w="28575">
            <a:solidFill>
              <a:schemeClr val="tx2"/>
            </a:solidFill>
            <a:prstDash val="sysDot"/>
            <a:rou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7295" name="Freeform 20"/>
          <p:cNvSpPr/>
          <p:nvPr/>
        </p:nvSpPr>
        <p:spPr bwMode="auto">
          <a:xfrm>
            <a:off x="1949189" y="2865512"/>
            <a:ext cx="609600" cy="1016000"/>
          </a:xfrm>
          <a:custGeom>
            <a:avLst/>
            <a:gdLst>
              <a:gd name="T0" fmla="*/ 2147483646 w 384"/>
              <a:gd name="T1" fmla="*/ 2147483646 h 640"/>
              <a:gd name="T2" fmla="*/ 2147483646 w 384"/>
              <a:gd name="T3" fmla="*/ 2147483646 h 640"/>
              <a:gd name="T4" fmla="*/ 2147483646 w 384"/>
              <a:gd name="T5" fmla="*/ 2147483646 h 640"/>
              <a:gd name="T6" fmla="*/ 0 w 384"/>
              <a:gd name="T7" fmla="*/ 2147483646 h 640"/>
              <a:gd name="T8" fmla="*/ 2147483646 w 384"/>
              <a:gd name="T9" fmla="*/ 2147483646 h 640"/>
              <a:gd name="T10" fmla="*/ 2147483646 w 384"/>
              <a:gd name="T11" fmla="*/ 2147483646 h 640"/>
              <a:gd name="T12" fmla="*/ 2147483646 w 384"/>
              <a:gd name="T13" fmla="*/ 2147483646 h 640"/>
              <a:gd name="T14" fmla="*/ 2147483646 w 384"/>
              <a:gd name="T15" fmla="*/ 0 h 640"/>
              <a:gd name="T16" fmla="*/ 0 60000 65536"/>
              <a:gd name="T17" fmla="*/ 0 60000 65536"/>
              <a:gd name="T18" fmla="*/ 0 60000 65536"/>
              <a:gd name="T19" fmla="*/ 0 60000 65536"/>
              <a:gd name="T20" fmla="*/ 0 60000 65536"/>
              <a:gd name="T21" fmla="*/ 0 60000 65536"/>
              <a:gd name="T22" fmla="*/ 0 60000 65536"/>
              <a:gd name="T23" fmla="*/ 0 60000 65536"/>
              <a:gd name="T24" fmla="*/ 0 w 384"/>
              <a:gd name="T25" fmla="*/ 0 h 640"/>
              <a:gd name="T26" fmla="*/ 384 w 384"/>
              <a:gd name="T27" fmla="*/ 640 h 6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4" h="640">
                <a:moveTo>
                  <a:pt x="192" y="576"/>
                </a:moveTo>
                <a:cubicBezTo>
                  <a:pt x="180" y="596"/>
                  <a:pt x="168" y="616"/>
                  <a:pt x="144" y="624"/>
                </a:cubicBezTo>
                <a:cubicBezTo>
                  <a:pt x="120" y="632"/>
                  <a:pt x="72" y="640"/>
                  <a:pt x="48" y="624"/>
                </a:cubicBezTo>
                <a:cubicBezTo>
                  <a:pt x="24" y="608"/>
                  <a:pt x="0" y="568"/>
                  <a:pt x="0" y="528"/>
                </a:cubicBezTo>
                <a:cubicBezTo>
                  <a:pt x="0" y="488"/>
                  <a:pt x="24" y="432"/>
                  <a:pt x="48" y="384"/>
                </a:cubicBezTo>
                <a:cubicBezTo>
                  <a:pt x="72" y="336"/>
                  <a:pt x="112" y="280"/>
                  <a:pt x="144" y="240"/>
                </a:cubicBezTo>
                <a:cubicBezTo>
                  <a:pt x="176" y="200"/>
                  <a:pt x="200" y="184"/>
                  <a:pt x="240" y="144"/>
                </a:cubicBezTo>
                <a:cubicBezTo>
                  <a:pt x="280" y="104"/>
                  <a:pt x="360" y="24"/>
                  <a:pt x="384" y="0"/>
                </a:cubicBezTo>
              </a:path>
            </a:pathLst>
          </a:custGeom>
          <a:noFill/>
          <a:ln w="28575">
            <a:solidFill>
              <a:srgbClr val="009900"/>
            </a:solidFill>
            <a:prstDash val="sysDot"/>
            <a:rou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7296" name="Freeform 21"/>
          <p:cNvSpPr/>
          <p:nvPr/>
        </p:nvSpPr>
        <p:spPr bwMode="auto">
          <a:xfrm>
            <a:off x="1568189" y="2865512"/>
            <a:ext cx="914400" cy="990600"/>
          </a:xfrm>
          <a:custGeom>
            <a:avLst/>
            <a:gdLst>
              <a:gd name="T0" fmla="*/ 0 w 576"/>
              <a:gd name="T1" fmla="*/ 2147483646 h 624"/>
              <a:gd name="T2" fmla="*/ 2147483646 w 576"/>
              <a:gd name="T3" fmla="*/ 2147483646 h 624"/>
              <a:gd name="T4" fmla="*/ 2147483646 w 576"/>
              <a:gd name="T5" fmla="*/ 2147483646 h 624"/>
              <a:gd name="T6" fmla="*/ 2147483646 w 576"/>
              <a:gd name="T7" fmla="*/ 2147483646 h 624"/>
              <a:gd name="T8" fmla="*/ 2147483646 w 576"/>
              <a:gd name="T9" fmla="*/ 2147483646 h 624"/>
              <a:gd name="T10" fmla="*/ 2147483646 w 576"/>
              <a:gd name="T11" fmla="*/ 2147483646 h 624"/>
              <a:gd name="T12" fmla="*/ 2147483646 w 576"/>
              <a:gd name="T13" fmla="*/ 2147483646 h 624"/>
              <a:gd name="T14" fmla="*/ 2147483646 w 576"/>
              <a:gd name="T15" fmla="*/ 2147483646 h 624"/>
              <a:gd name="T16" fmla="*/ 2147483646 w 576"/>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6"/>
              <a:gd name="T28" fmla="*/ 0 h 624"/>
              <a:gd name="T29" fmla="*/ 576 w 576"/>
              <a:gd name="T30" fmla="*/ 624 h 6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6" h="624">
                <a:moveTo>
                  <a:pt x="0" y="576"/>
                </a:moveTo>
                <a:cubicBezTo>
                  <a:pt x="16" y="600"/>
                  <a:pt x="32" y="624"/>
                  <a:pt x="48" y="624"/>
                </a:cubicBezTo>
                <a:cubicBezTo>
                  <a:pt x="64" y="624"/>
                  <a:pt x="80" y="608"/>
                  <a:pt x="96" y="576"/>
                </a:cubicBezTo>
                <a:cubicBezTo>
                  <a:pt x="112" y="544"/>
                  <a:pt x="128" y="480"/>
                  <a:pt x="144" y="432"/>
                </a:cubicBezTo>
                <a:cubicBezTo>
                  <a:pt x="160" y="384"/>
                  <a:pt x="176" y="328"/>
                  <a:pt x="192" y="288"/>
                </a:cubicBezTo>
                <a:cubicBezTo>
                  <a:pt x="208" y="248"/>
                  <a:pt x="216" y="224"/>
                  <a:pt x="240" y="192"/>
                </a:cubicBezTo>
                <a:cubicBezTo>
                  <a:pt x="264" y="160"/>
                  <a:pt x="304" y="120"/>
                  <a:pt x="336" y="96"/>
                </a:cubicBezTo>
                <a:cubicBezTo>
                  <a:pt x="368" y="72"/>
                  <a:pt x="392" y="64"/>
                  <a:pt x="432" y="48"/>
                </a:cubicBezTo>
                <a:cubicBezTo>
                  <a:pt x="472" y="32"/>
                  <a:pt x="552" y="8"/>
                  <a:pt x="576" y="0"/>
                </a:cubicBezTo>
              </a:path>
            </a:pathLst>
          </a:custGeom>
          <a:noFill/>
          <a:ln w="28575">
            <a:solidFill>
              <a:schemeClr val="tx2"/>
            </a:solidFill>
            <a:prstDash val="sysDot"/>
            <a:rou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7297" name="Freeform 24"/>
          <p:cNvSpPr/>
          <p:nvPr/>
        </p:nvSpPr>
        <p:spPr bwMode="auto">
          <a:xfrm>
            <a:off x="704589" y="1951112"/>
            <a:ext cx="1016000" cy="990600"/>
          </a:xfrm>
          <a:custGeom>
            <a:avLst/>
            <a:gdLst>
              <a:gd name="T0" fmla="*/ 2147483646 w 640"/>
              <a:gd name="T1" fmla="*/ 2147483646 h 624"/>
              <a:gd name="T2" fmla="*/ 2147483646 w 640"/>
              <a:gd name="T3" fmla="*/ 2147483646 h 624"/>
              <a:gd name="T4" fmla="*/ 2147483646 w 640"/>
              <a:gd name="T5" fmla="*/ 2147483646 h 624"/>
              <a:gd name="T6" fmla="*/ 2147483646 w 640"/>
              <a:gd name="T7" fmla="*/ 2147483646 h 624"/>
              <a:gd name="T8" fmla="*/ 2147483646 w 640"/>
              <a:gd name="T9" fmla="*/ 2147483646 h 624"/>
              <a:gd name="T10" fmla="*/ 2147483646 w 640"/>
              <a:gd name="T11" fmla="*/ 2147483646 h 624"/>
              <a:gd name="T12" fmla="*/ 2147483646 w 640"/>
              <a:gd name="T13" fmla="*/ 2147483646 h 624"/>
              <a:gd name="T14" fmla="*/ 2147483646 w 640"/>
              <a:gd name="T15" fmla="*/ 2147483646 h 624"/>
              <a:gd name="T16" fmla="*/ 2147483646 w 640"/>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40"/>
              <a:gd name="T28" fmla="*/ 0 h 624"/>
              <a:gd name="T29" fmla="*/ 640 w 640"/>
              <a:gd name="T30" fmla="*/ 624 h 6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 h="624">
                <a:moveTo>
                  <a:pt x="208" y="576"/>
                </a:moveTo>
                <a:cubicBezTo>
                  <a:pt x="176" y="600"/>
                  <a:pt x="144" y="624"/>
                  <a:pt x="112" y="624"/>
                </a:cubicBezTo>
                <a:cubicBezTo>
                  <a:pt x="80" y="624"/>
                  <a:pt x="32" y="600"/>
                  <a:pt x="16" y="576"/>
                </a:cubicBezTo>
                <a:cubicBezTo>
                  <a:pt x="0" y="552"/>
                  <a:pt x="0" y="520"/>
                  <a:pt x="16" y="480"/>
                </a:cubicBezTo>
                <a:cubicBezTo>
                  <a:pt x="32" y="440"/>
                  <a:pt x="80" y="376"/>
                  <a:pt x="112" y="336"/>
                </a:cubicBezTo>
                <a:cubicBezTo>
                  <a:pt x="144" y="296"/>
                  <a:pt x="168" y="272"/>
                  <a:pt x="208" y="240"/>
                </a:cubicBezTo>
                <a:cubicBezTo>
                  <a:pt x="248" y="208"/>
                  <a:pt x="296" y="176"/>
                  <a:pt x="352" y="144"/>
                </a:cubicBezTo>
                <a:cubicBezTo>
                  <a:pt x="408" y="112"/>
                  <a:pt x="496" y="72"/>
                  <a:pt x="544" y="48"/>
                </a:cubicBezTo>
                <a:cubicBezTo>
                  <a:pt x="592" y="24"/>
                  <a:pt x="624" y="8"/>
                  <a:pt x="640" y="0"/>
                </a:cubicBezTo>
              </a:path>
            </a:pathLst>
          </a:custGeom>
          <a:noFill/>
          <a:ln w="28575">
            <a:solidFill>
              <a:srgbClr val="009900"/>
            </a:solidFill>
            <a:prstDash val="sysDot"/>
            <a:rou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7298" name="Freeform 25"/>
          <p:cNvSpPr/>
          <p:nvPr/>
        </p:nvSpPr>
        <p:spPr bwMode="auto">
          <a:xfrm>
            <a:off x="1009389" y="2865512"/>
            <a:ext cx="406400" cy="1016000"/>
          </a:xfrm>
          <a:custGeom>
            <a:avLst/>
            <a:gdLst>
              <a:gd name="T0" fmla="*/ 2147483646 w 256"/>
              <a:gd name="T1" fmla="*/ 2147483646 h 640"/>
              <a:gd name="T2" fmla="*/ 2147483646 w 256"/>
              <a:gd name="T3" fmla="*/ 2147483646 h 640"/>
              <a:gd name="T4" fmla="*/ 2147483646 w 256"/>
              <a:gd name="T5" fmla="*/ 2147483646 h 640"/>
              <a:gd name="T6" fmla="*/ 2147483646 w 256"/>
              <a:gd name="T7" fmla="*/ 2147483646 h 640"/>
              <a:gd name="T8" fmla="*/ 2147483646 w 256"/>
              <a:gd name="T9" fmla="*/ 2147483646 h 640"/>
              <a:gd name="T10" fmla="*/ 2147483646 w 256"/>
              <a:gd name="T11" fmla="*/ 0 h 640"/>
              <a:gd name="T12" fmla="*/ 0 60000 65536"/>
              <a:gd name="T13" fmla="*/ 0 60000 65536"/>
              <a:gd name="T14" fmla="*/ 0 60000 65536"/>
              <a:gd name="T15" fmla="*/ 0 60000 65536"/>
              <a:gd name="T16" fmla="*/ 0 60000 65536"/>
              <a:gd name="T17" fmla="*/ 0 60000 65536"/>
              <a:gd name="T18" fmla="*/ 0 w 256"/>
              <a:gd name="T19" fmla="*/ 0 h 640"/>
              <a:gd name="T20" fmla="*/ 256 w 256"/>
              <a:gd name="T21" fmla="*/ 640 h 640"/>
            </a:gdLst>
            <a:ahLst/>
            <a:cxnLst>
              <a:cxn ang="T12">
                <a:pos x="T0" y="T1"/>
              </a:cxn>
              <a:cxn ang="T13">
                <a:pos x="T2" y="T3"/>
              </a:cxn>
              <a:cxn ang="T14">
                <a:pos x="T4" y="T5"/>
              </a:cxn>
              <a:cxn ang="T15">
                <a:pos x="T6" y="T7"/>
              </a:cxn>
              <a:cxn ang="T16">
                <a:pos x="T8" y="T9"/>
              </a:cxn>
              <a:cxn ang="T17">
                <a:pos x="T10" y="T11"/>
              </a:cxn>
            </a:cxnLst>
            <a:rect l="T18" t="T19" r="T20" b="T21"/>
            <a:pathLst>
              <a:path w="256" h="640">
                <a:moveTo>
                  <a:pt x="256" y="576"/>
                </a:moveTo>
                <a:cubicBezTo>
                  <a:pt x="244" y="596"/>
                  <a:pt x="232" y="616"/>
                  <a:pt x="208" y="624"/>
                </a:cubicBezTo>
                <a:cubicBezTo>
                  <a:pt x="184" y="632"/>
                  <a:pt x="144" y="640"/>
                  <a:pt x="112" y="624"/>
                </a:cubicBezTo>
                <a:cubicBezTo>
                  <a:pt x="80" y="608"/>
                  <a:pt x="32" y="584"/>
                  <a:pt x="16" y="528"/>
                </a:cubicBezTo>
                <a:cubicBezTo>
                  <a:pt x="0" y="472"/>
                  <a:pt x="0" y="376"/>
                  <a:pt x="16" y="288"/>
                </a:cubicBezTo>
                <a:cubicBezTo>
                  <a:pt x="32" y="200"/>
                  <a:pt x="96" y="48"/>
                  <a:pt x="112" y="0"/>
                </a:cubicBezTo>
              </a:path>
            </a:pathLst>
          </a:custGeom>
          <a:noFill/>
          <a:ln w="28575">
            <a:solidFill>
              <a:srgbClr val="009900"/>
            </a:solidFill>
            <a:prstDash val="sysDot"/>
            <a:rou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7299" name="Text Box 26"/>
          <p:cNvSpPr txBox="1">
            <a:spLocks noChangeArrowheads="1"/>
          </p:cNvSpPr>
          <p:nvPr/>
        </p:nvSpPr>
        <p:spPr bwMode="auto">
          <a:xfrm>
            <a:off x="4828914" y="1508200"/>
            <a:ext cx="2073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dirty="0">
                <a:solidFill>
                  <a:srgbClr val="CC3300"/>
                </a:solidFill>
                <a:latin typeface="Times New Roman" panose="02020603050405020304" pitchFamily="18" charset="0"/>
                <a:ea typeface="宋体" panose="02010600030101010101" pitchFamily="2" charset="-122"/>
              </a:rPr>
              <a:t>p</a:t>
            </a:r>
            <a:r>
              <a:rPr kumimoji="1" lang="en-US" altLang="zh-CN" sz="2800" b="1" dirty="0">
                <a:solidFill>
                  <a:srgbClr val="CC3300"/>
                </a:solidFill>
                <a:latin typeface="楷体_GB2312" panose="02010609030101010101" pitchFamily="49" charset="-122"/>
                <a:ea typeface="楷体_GB2312" panose="02010609030101010101" pitchFamily="49" charset="-122"/>
              </a:rPr>
              <a:t>-&gt;</a:t>
            </a:r>
            <a:r>
              <a:rPr kumimoji="1" lang="en-US" altLang="zh-CN" sz="2800" b="1" dirty="0" err="1">
                <a:solidFill>
                  <a:srgbClr val="CC3300"/>
                </a:solidFill>
                <a:latin typeface="Times New Roman" panose="02020603050405020304" pitchFamily="18" charset="0"/>
                <a:ea typeface="宋体" panose="02010600030101010101" pitchFamily="2" charset="-122"/>
              </a:rPr>
              <a:t>ltag</a:t>
            </a:r>
            <a:r>
              <a:rPr kumimoji="1" lang="en-US" altLang="zh-CN" sz="2800" b="1" dirty="0">
                <a:solidFill>
                  <a:srgbClr val="CC3300"/>
                </a:solidFill>
                <a:latin typeface="Times New Roman" panose="02020603050405020304" pitchFamily="18" charset="0"/>
                <a:ea typeface="宋体" panose="02010600030101010101" pitchFamily="2" charset="-122"/>
              </a:rPr>
              <a:t>==1?</a:t>
            </a:r>
            <a:endParaRPr kumimoji="1" lang="en-US" altLang="zh-CN" sz="2400" dirty="0">
              <a:latin typeface="Times New Roman" panose="02020603050405020304" pitchFamily="18" charset="0"/>
              <a:ea typeface="宋体" panose="02010600030101010101" pitchFamily="2" charset="-122"/>
            </a:endParaRPr>
          </a:p>
        </p:txBody>
      </p:sp>
      <p:sp>
        <p:nvSpPr>
          <p:cNvPr id="97300" name="Line 27"/>
          <p:cNvSpPr>
            <a:spLocks noChangeShapeType="1"/>
          </p:cNvSpPr>
          <p:nvPr/>
        </p:nvSpPr>
        <p:spPr bwMode="auto">
          <a:xfrm flipH="1">
            <a:off x="4311389" y="2027312"/>
            <a:ext cx="6858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01" name="Line 28"/>
          <p:cNvSpPr>
            <a:spLocks noChangeShapeType="1"/>
          </p:cNvSpPr>
          <p:nvPr/>
        </p:nvSpPr>
        <p:spPr bwMode="auto">
          <a:xfrm>
            <a:off x="6216389" y="2027312"/>
            <a:ext cx="6858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02" name="Text Box 29"/>
          <p:cNvSpPr txBox="1">
            <a:spLocks noChangeArrowheads="1"/>
          </p:cNvSpPr>
          <p:nvPr/>
        </p:nvSpPr>
        <p:spPr bwMode="auto">
          <a:xfrm>
            <a:off x="2977889" y="2041600"/>
            <a:ext cx="216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a:latin typeface="Times New Roman" panose="02020603050405020304" pitchFamily="18" charset="0"/>
                <a:ea typeface="隶书" panose="02010509060101010101" pitchFamily="49" charset="-122"/>
              </a:rPr>
              <a:t>找右孩子</a:t>
            </a:r>
            <a:r>
              <a:rPr kumimoji="1" lang="zh-CN" altLang="en-US" sz="2800" b="1">
                <a:latin typeface="Times New Roman" panose="02020603050405020304" pitchFamily="18" charset="0"/>
                <a:ea typeface="宋体" panose="02010600030101010101" pitchFamily="2" charset="-122"/>
              </a:rPr>
              <a:t>    </a:t>
            </a:r>
            <a:r>
              <a:rPr kumimoji="1" lang="en-US" altLang="zh-CN" sz="2800" b="1">
                <a:solidFill>
                  <a:schemeClr val="accent2"/>
                </a:solidFill>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97303" name="Text Box 30"/>
          <p:cNvSpPr txBox="1">
            <a:spLocks noChangeArrowheads="1"/>
          </p:cNvSpPr>
          <p:nvPr/>
        </p:nvSpPr>
        <p:spPr bwMode="auto">
          <a:xfrm>
            <a:off x="6063989" y="2027312"/>
            <a:ext cx="2690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dirty="0">
                <a:solidFill>
                  <a:schemeClr val="accent2"/>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sz="2800" dirty="0">
                <a:latin typeface="Times New Roman" panose="02020603050405020304" pitchFamily="18" charset="0"/>
                <a:ea typeface="隶书" panose="02010509060101010101" pitchFamily="49" charset="-122"/>
                <a:sym typeface="Symbol" panose="05050102010706020507" pitchFamily="18" charset="2"/>
              </a:rPr>
              <a:t>说明有左孩子</a:t>
            </a:r>
            <a:endParaRPr kumimoji="1" lang="zh-CN" altLang="en-US" sz="2800" dirty="0">
              <a:latin typeface="Times New Roman" panose="02020603050405020304" pitchFamily="18" charset="0"/>
              <a:ea typeface="隶书" panose="02010509060101010101" pitchFamily="49" charset="-122"/>
              <a:sym typeface="Symbol" panose="05050102010706020507" pitchFamily="18" charset="2"/>
            </a:endParaRPr>
          </a:p>
        </p:txBody>
      </p:sp>
      <p:sp>
        <p:nvSpPr>
          <p:cNvPr id="311328" name="Text Box 32"/>
          <p:cNvSpPr txBox="1">
            <a:spLocks noChangeArrowheads="1"/>
          </p:cNvSpPr>
          <p:nvPr/>
        </p:nvSpPr>
        <p:spPr bwMode="auto">
          <a:xfrm>
            <a:off x="3396989" y="2605162"/>
            <a:ext cx="2339975" cy="946150"/>
          </a:xfrm>
          <a:prstGeom prst="rect">
            <a:avLst/>
          </a:prstGeom>
          <a:noFill/>
          <a:ln w="38100">
            <a:noFill/>
            <a:miter lim="800000"/>
          </a:ln>
          <a:effectLst/>
        </p:spPr>
        <p:txBody>
          <a:bodyPr wrap="none" anchor="ctr">
            <a:spAutoFit/>
          </a:bodyPr>
          <a:lstStyle/>
          <a:p>
            <a:pPr eaLnBrk="1" fontAlgn="auto" hangingPunct="1">
              <a:spcBef>
                <a:spcPts val="0"/>
              </a:spcBef>
              <a:spcAft>
                <a:spcPts val="0"/>
              </a:spcAft>
              <a:defRPr/>
            </a:pPr>
            <a:r>
              <a:rPr lang="en-US" altLang="zh-CN" sz="2800">
                <a:solidFill>
                  <a:srgbClr val="CC3300"/>
                </a:solidFill>
                <a:effectLst>
                  <a:outerShdw blurRad="38100" dist="38100" dir="2700000" algn="tl">
                    <a:srgbClr val="C0C0C0"/>
                  </a:outerShdw>
                </a:effectLst>
                <a:latin typeface="Times New Roman" panose="02020603050405020304" pitchFamily="18" charset="0"/>
                <a:ea typeface="+mn-ea"/>
              </a:rPr>
              <a:t>p</a:t>
            </a:r>
            <a:r>
              <a:rPr lang="en-US" altLang="zh-CN" sz="2800">
                <a:solidFill>
                  <a:srgbClr val="CC3300"/>
                </a:solidFill>
                <a:effectLst>
                  <a:outerShdw blurRad="38100" dist="38100" dir="2700000" algn="tl">
                    <a:srgbClr val="C0C0C0"/>
                  </a:outerShdw>
                </a:effectLst>
                <a:latin typeface="楷体_GB2312" panose="02010609030101010101" pitchFamily="49" charset="-122"/>
                <a:ea typeface="楷体_GB2312" panose="02010609030101010101" pitchFamily="49" charset="-122"/>
              </a:rPr>
              <a:t>-&gt;</a:t>
            </a:r>
            <a:r>
              <a:rPr lang="en-US" altLang="zh-CN" sz="2800">
                <a:solidFill>
                  <a:srgbClr val="CC3300"/>
                </a:solidFill>
                <a:effectLst>
                  <a:outerShdw blurRad="38100" dist="38100" dir="2700000" algn="tl">
                    <a:srgbClr val="C0C0C0"/>
                  </a:outerShdw>
                </a:effectLst>
                <a:latin typeface="Times New Roman" panose="02020603050405020304" pitchFamily="18" charset="0"/>
                <a:ea typeface="+mn-ea"/>
              </a:rPr>
              <a:t>rightChild</a:t>
            </a:r>
            <a:endParaRPr lang="en-US" altLang="zh-CN" sz="2800">
              <a:solidFill>
                <a:srgbClr val="CC3300"/>
              </a:solidFill>
              <a:effectLst>
                <a:outerShdw blurRad="38100" dist="38100" dir="2700000" algn="tl">
                  <a:srgbClr val="C0C0C0"/>
                </a:outerShdw>
              </a:effectLst>
              <a:latin typeface="Times New Roman" panose="02020603050405020304" pitchFamily="18" charset="0"/>
              <a:ea typeface="+mn-ea"/>
            </a:endParaRPr>
          </a:p>
          <a:p>
            <a:pPr eaLnBrk="1" fontAlgn="auto" hangingPunct="1">
              <a:spcBef>
                <a:spcPts val="0"/>
              </a:spcBef>
              <a:spcAft>
                <a:spcPts val="0"/>
              </a:spcAft>
              <a:defRPr/>
            </a:pPr>
            <a:r>
              <a:rPr lang="en-US" altLang="zh-CN" sz="2800">
                <a:solidFill>
                  <a:srgbClr val="CC3300"/>
                </a:solidFill>
                <a:effectLst>
                  <a:outerShdw blurRad="38100" dist="38100" dir="2700000" algn="tl">
                    <a:srgbClr val="C0C0C0"/>
                  </a:outerShdw>
                </a:effectLst>
                <a:latin typeface="Times New Roman" panose="02020603050405020304" pitchFamily="18" charset="0"/>
                <a:ea typeface="+mn-ea"/>
              </a:rPr>
              <a:t>   == NULL</a:t>
            </a:r>
            <a:endParaRPr lang="en-US" altLang="zh-CN">
              <a:latin typeface="Times New Roman" panose="02020603050405020304" pitchFamily="18" charset="0"/>
              <a:ea typeface="+mn-ea"/>
            </a:endParaRPr>
          </a:p>
        </p:txBody>
      </p:sp>
      <p:sp>
        <p:nvSpPr>
          <p:cNvPr id="97305" name="Text Box 33"/>
          <p:cNvSpPr txBox="1">
            <a:spLocks noChangeArrowheads="1"/>
          </p:cNvSpPr>
          <p:nvPr/>
        </p:nvSpPr>
        <p:spPr bwMode="auto">
          <a:xfrm>
            <a:off x="6140189" y="2636912"/>
            <a:ext cx="2082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a:latin typeface="Times New Roman" panose="02020603050405020304" pitchFamily="18" charset="0"/>
                <a:ea typeface="隶书" panose="02010509060101010101" pitchFamily="49" charset="-122"/>
              </a:rPr>
              <a:t>后继为</a:t>
            </a:r>
            <a:endParaRPr kumimoji="1" lang="zh-CN" altLang="en-US" sz="2800" b="1">
              <a:latin typeface="Times New Roman" panose="02020603050405020304" pitchFamily="18" charset="0"/>
              <a:ea typeface="宋体" panose="02010600030101010101" pitchFamily="2" charset="-122"/>
            </a:endParaRPr>
          </a:p>
          <a:p>
            <a:pPr eaLnBrk="1" hangingPunct="1"/>
            <a:r>
              <a:rPr kumimoji="1" lang="en-US" altLang="zh-CN" sz="2800" b="1">
                <a:solidFill>
                  <a:srgbClr val="CC3300"/>
                </a:solidFill>
                <a:latin typeface="Times New Roman" panose="02020603050405020304" pitchFamily="18" charset="0"/>
                <a:ea typeface="宋体" panose="02010600030101010101" pitchFamily="2" charset="-122"/>
              </a:rPr>
              <a:t>p</a:t>
            </a:r>
            <a:r>
              <a:rPr kumimoji="1" lang="en-US" altLang="zh-CN" sz="2800" b="1">
                <a:solidFill>
                  <a:srgbClr val="CC3300"/>
                </a:solidFill>
                <a:latin typeface="楷体_GB2312" panose="02010609030101010101" pitchFamily="49" charset="-122"/>
                <a:ea typeface="楷体_GB2312" panose="02010609030101010101"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leftChild</a:t>
            </a:r>
            <a:endParaRPr kumimoji="1" lang="en-US" altLang="zh-CN" sz="2400">
              <a:latin typeface="Times New Roman" panose="02020603050405020304" pitchFamily="18" charset="0"/>
              <a:ea typeface="宋体" panose="02010600030101010101" pitchFamily="2" charset="-122"/>
            </a:endParaRPr>
          </a:p>
        </p:txBody>
      </p:sp>
      <p:sp>
        <p:nvSpPr>
          <p:cNvPr id="97306" name="Line 34"/>
          <p:cNvSpPr>
            <a:spLocks noChangeShapeType="1"/>
          </p:cNvSpPr>
          <p:nvPr/>
        </p:nvSpPr>
        <p:spPr bwMode="auto">
          <a:xfrm flipH="1">
            <a:off x="3320789" y="3551312"/>
            <a:ext cx="6858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07" name="Line 35"/>
          <p:cNvSpPr>
            <a:spLocks noChangeShapeType="1"/>
          </p:cNvSpPr>
          <p:nvPr/>
        </p:nvSpPr>
        <p:spPr bwMode="auto">
          <a:xfrm>
            <a:off x="4920989" y="3551312"/>
            <a:ext cx="6858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08" name="Text Box 36"/>
          <p:cNvSpPr txBox="1">
            <a:spLocks noChangeArrowheads="1"/>
          </p:cNvSpPr>
          <p:nvPr/>
        </p:nvSpPr>
        <p:spPr bwMode="auto">
          <a:xfrm>
            <a:off x="3244589" y="3597350"/>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97309" name="Text Box 37"/>
          <p:cNvSpPr txBox="1">
            <a:spLocks noChangeArrowheads="1"/>
          </p:cNvSpPr>
          <p:nvPr/>
        </p:nvSpPr>
        <p:spPr bwMode="auto">
          <a:xfrm>
            <a:off x="4844789" y="3627512"/>
            <a:ext cx="379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97310" name="Text Box 38"/>
          <p:cNvSpPr txBox="1">
            <a:spLocks noChangeArrowheads="1"/>
          </p:cNvSpPr>
          <p:nvPr/>
        </p:nvSpPr>
        <p:spPr bwMode="auto">
          <a:xfrm>
            <a:off x="2711189" y="4175200"/>
            <a:ext cx="1428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a:latin typeface="隶书" panose="02010509060101010101" pitchFamily="49" charset="-122"/>
                <a:ea typeface="隶书" panose="02010509060101010101" pitchFamily="49" charset="-122"/>
              </a:rPr>
              <a:t>无后继</a:t>
            </a:r>
            <a:r>
              <a:rPr kumimoji="1" lang="zh-CN" altLang="en-US" sz="2800" b="1">
                <a:solidFill>
                  <a:srgbClr val="009900"/>
                </a:solidFill>
                <a:latin typeface="仿宋_GB2312" panose="02010609030101010101" pitchFamily="49" charset="-122"/>
                <a:ea typeface="仿宋_GB2312" panose="02010609030101010101" pitchFamily="49" charset="-122"/>
              </a:rPr>
              <a:t> </a:t>
            </a:r>
            <a:endParaRPr kumimoji="1" lang="zh-CN" altLang="en-US" sz="2800" b="1">
              <a:solidFill>
                <a:srgbClr val="009900"/>
              </a:solidFill>
              <a:latin typeface="仿宋_GB2312" panose="02010609030101010101" pitchFamily="49" charset="-122"/>
              <a:ea typeface="仿宋_GB2312" panose="02010609030101010101" pitchFamily="49" charset="-122"/>
            </a:endParaRPr>
          </a:p>
        </p:txBody>
      </p:sp>
      <p:sp>
        <p:nvSpPr>
          <p:cNvPr id="97311" name="Text Box 39"/>
          <p:cNvSpPr txBox="1">
            <a:spLocks noChangeArrowheads="1"/>
          </p:cNvSpPr>
          <p:nvPr/>
        </p:nvSpPr>
        <p:spPr bwMode="auto">
          <a:xfrm>
            <a:off x="4844789" y="4160912"/>
            <a:ext cx="23399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a:latin typeface="Times New Roman" panose="02020603050405020304" pitchFamily="18" charset="0"/>
                <a:ea typeface="隶书" panose="02010509060101010101" pitchFamily="49" charset="-122"/>
              </a:rPr>
              <a:t>后继为</a:t>
            </a:r>
            <a:endParaRPr kumimoji="1" lang="zh-CN" altLang="en-US" sz="2800" b="1">
              <a:latin typeface="Times New Roman" panose="02020603050405020304" pitchFamily="18" charset="0"/>
              <a:ea typeface="宋体" panose="02010600030101010101" pitchFamily="2" charset="-122"/>
            </a:endParaRPr>
          </a:p>
          <a:p>
            <a:pPr eaLnBrk="1" hangingPunct="1"/>
            <a:r>
              <a:rPr kumimoji="1" lang="en-US" altLang="zh-CN" sz="2800" b="1">
                <a:solidFill>
                  <a:srgbClr val="CC3300"/>
                </a:solidFill>
                <a:latin typeface="Times New Roman" panose="02020603050405020304" pitchFamily="18" charset="0"/>
                <a:ea typeface="宋体" panose="02010600030101010101" pitchFamily="2" charset="-122"/>
              </a:rPr>
              <a:t>p</a:t>
            </a:r>
            <a:r>
              <a:rPr kumimoji="1" lang="en-US" altLang="zh-CN" sz="2800" b="1">
                <a:solidFill>
                  <a:srgbClr val="CC3300"/>
                </a:solidFill>
                <a:latin typeface="楷体_GB2312" panose="02010609030101010101" pitchFamily="49" charset="-122"/>
                <a:ea typeface="楷体_GB2312" panose="02010609030101010101"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rightChild</a:t>
            </a:r>
            <a:endParaRPr kumimoji="1" lang="en-US" altLang="zh-CN" sz="2400">
              <a:latin typeface="Times New Roman" panose="02020603050405020304" pitchFamily="18" charset="0"/>
              <a:ea typeface="宋体" panose="02010600030101010101" pitchFamily="2" charset="-122"/>
            </a:endParaRPr>
          </a:p>
        </p:txBody>
      </p:sp>
      <p:sp>
        <p:nvSpPr>
          <p:cNvPr id="97312" name="Text Box 41"/>
          <p:cNvSpPr txBox="1">
            <a:spLocks noChangeArrowheads="1"/>
          </p:cNvSpPr>
          <p:nvPr/>
        </p:nvSpPr>
        <p:spPr bwMode="auto">
          <a:xfrm>
            <a:off x="1720589" y="161615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7313" name="Text Box 42"/>
          <p:cNvSpPr txBox="1">
            <a:spLocks noChangeArrowheads="1"/>
          </p:cNvSpPr>
          <p:nvPr/>
        </p:nvSpPr>
        <p:spPr bwMode="auto">
          <a:xfrm>
            <a:off x="968114" y="2408312"/>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97314" name="Text Box 43"/>
          <p:cNvSpPr txBox="1">
            <a:spLocks noChangeArrowheads="1"/>
          </p:cNvSpPr>
          <p:nvPr/>
        </p:nvSpPr>
        <p:spPr bwMode="auto">
          <a:xfrm>
            <a:off x="2422264" y="242260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97315" name="Text Box 44"/>
          <p:cNvSpPr txBox="1">
            <a:spLocks noChangeArrowheads="1"/>
          </p:cNvSpPr>
          <p:nvPr/>
        </p:nvSpPr>
        <p:spPr bwMode="auto">
          <a:xfrm>
            <a:off x="2187314" y="3337000"/>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97316" name="Text Box 45"/>
          <p:cNvSpPr txBox="1">
            <a:spLocks noChangeArrowheads="1"/>
          </p:cNvSpPr>
          <p:nvPr/>
        </p:nvSpPr>
        <p:spPr bwMode="auto">
          <a:xfrm>
            <a:off x="1279264" y="333700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cxnSp>
        <p:nvCxnSpPr>
          <p:cNvPr id="97317" name="AutoShape 46"/>
          <p:cNvCxnSpPr>
            <a:cxnSpLocks noChangeShapeType="1"/>
            <a:stCxn id="97314" idx="3"/>
            <a:endCxn id="97315" idx="3"/>
          </p:cNvCxnSpPr>
          <p:nvPr/>
        </p:nvCxnSpPr>
        <p:spPr bwMode="auto">
          <a:xfrm flipH="1">
            <a:off x="2608002" y="2682950"/>
            <a:ext cx="255587" cy="914400"/>
          </a:xfrm>
          <a:prstGeom prst="curvedConnector3">
            <a:avLst>
              <a:gd name="adj1" fmla="val -89440"/>
            </a:avLst>
          </a:prstGeom>
          <a:noFill/>
          <a:ln w="19050">
            <a:solidFill>
              <a:schemeClr val="tx2"/>
            </a:solidFill>
            <a:prstDash val="sysDot"/>
            <a:round/>
            <a:tailEnd type="triangle" w="med" len="med"/>
          </a:ln>
          <a:extLst>
            <a:ext uri="{909E8E84-426E-40DD-AFC4-6F175D3DCCD1}">
              <a14:hiddenFill xmlns:a14="http://schemas.microsoft.com/office/drawing/2010/main">
                <a:noFill/>
              </a14:hiddenFill>
            </a:ext>
          </a:extLst>
        </p:spPr>
      </p:cxnSp>
      <p:sp>
        <p:nvSpPr>
          <p:cNvPr id="2" name="标题 1"/>
          <p:cNvSpPr>
            <a:spLocks noGrp="1"/>
          </p:cNvSpPr>
          <p:nvPr>
            <p:ph type="title"/>
          </p:nvPr>
        </p:nvSpPr>
        <p:spPr/>
        <p:txBody>
          <a:bodyPr/>
          <a:lstStyle/>
          <a:p>
            <a:r>
              <a:rPr lang="zh-CN" altLang="en-US" dirty="0"/>
              <a:t>前序线索化二叉树中找当前结点的后继</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Line 2"/>
          <p:cNvSpPr>
            <a:spLocks noChangeShapeType="1"/>
          </p:cNvSpPr>
          <p:nvPr/>
        </p:nvSpPr>
        <p:spPr bwMode="auto">
          <a:xfrm flipH="1">
            <a:off x="2226885" y="2788444"/>
            <a:ext cx="228600" cy="6096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07" name="Line 3"/>
          <p:cNvSpPr>
            <a:spLocks noChangeShapeType="1"/>
          </p:cNvSpPr>
          <p:nvPr/>
        </p:nvSpPr>
        <p:spPr bwMode="auto">
          <a:xfrm>
            <a:off x="1017210" y="2712244"/>
            <a:ext cx="2286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08" name="Line 4"/>
          <p:cNvSpPr>
            <a:spLocks noChangeShapeType="1"/>
          </p:cNvSpPr>
          <p:nvPr/>
        </p:nvSpPr>
        <p:spPr bwMode="auto">
          <a:xfrm>
            <a:off x="1753810" y="1874044"/>
            <a:ext cx="6858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09" name="Line 5"/>
          <p:cNvSpPr>
            <a:spLocks noChangeShapeType="1"/>
          </p:cNvSpPr>
          <p:nvPr/>
        </p:nvSpPr>
        <p:spPr bwMode="auto">
          <a:xfrm flipH="1">
            <a:off x="991810" y="1950244"/>
            <a:ext cx="609600" cy="609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2327" name="Text Box 7"/>
          <p:cNvSpPr txBox="1">
            <a:spLocks noChangeArrowheads="1"/>
          </p:cNvSpPr>
          <p:nvPr/>
        </p:nvSpPr>
        <p:spPr bwMode="auto">
          <a:xfrm>
            <a:off x="644148" y="3955257"/>
            <a:ext cx="2127250" cy="1189037"/>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zh-CN" altLang="en-US" sz="3200" u="sng">
                <a:solidFill>
                  <a:schemeClr val="hlink"/>
                </a:solidFill>
                <a:effectLst>
                  <a:outerShdw blurRad="38100" dist="38100" dir="2700000" algn="tl">
                    <a:srgbClr val="C0C0C0"/>
                  </a:outerShdw>
                </a:effectLst>
                <a:latin typeface="Arial" panose="020B0604020202020204" pitchFamily="34" charset="0"/>
                <a:ea typeface="仿宋_GB2312" panose="02010609030101010101" pitchFamily="49" charset="-122"/>
              </a:rPr>
              <a:t>后序序列</a:t>
            </a:r>
            <a:endParaRPr lang="zh-CN" altLang="en-US" sz="3200">
              <a:latin typeface="Arial" panose="020B0604020202020204" pitchFamily="34" charset="0"/>
              <a:ea typeface="隶书" panose="02010509060101010101" pitchFamily="49" charset="-122"/>
            </a:endParaRPr>
          </a:p>
          <a:p>
            <a:pPr eaLnBrk="1" fontAlgn="auto" hangingPunct="1">
              <a:spcBef>
                <a:spcPts val="0"/>
              </a:spcBef>
              <a:spcAft>
                <a:spcPts val="0"/>
              </a:spcAft>
              <a:defRPr/>
            </a:pPr>
            <a:endParaRPr lang="zh-CN" altLang="en-US" sz="800">
              <a:latin typeface="Arial" panose="020B0604020202020204" pitchFamily="34" charset="0"/>
              <a:ea typeface="黑体" panose="02010609060101010101" pitchFamily="2" charset="-122"/>
            </a:endParaRPr>
          </a:p>
          <a:p>
            <a:pPr eaLnBrk="1" fontAlgn="auto" hangingPunct="1">
              <a:spcBef>
                <a:spcPts val="0"/>
              </a:spcBef>
              <a:spcAft>
                <a:spcPts val="0"/>
              </a:spcAft>
              <a:defRPr/>
            </a:pPr>
            <a:r>
              <a:rPr lang="zh-CN" altLang="en-US" sz="3200">
                <a:latin typeface="Arial" panose="020B0604020202020204" pitchFamily="34" charset="0"/>
                <a:ea typeface="黑体" panose="02010609060101010101" pitchFamily="2" charset="-122"/>
              </a:rPr>
              <a:t> </a:t>
            </a:r>
            <a:r>
              <a:rPr lang="en-US" altLang="zh-CN" sz="3200">
                <a:solidFill>
                  <a:srgbClr val="008000"/>
                </a:solidFill>
                <a:effectLst>
                  <a:outerShdw blurRad="38100" dist="38100" dir="2700000" algn="tl">
                    <a:srgbClr val="C0C0C0"/>
                  </a:outerShdw>
                </a:effectLst>
                <a:latin typeface="Times New Roman" panose="02020603050405020304" pitchFamily="18" charset="0"/>
                <a:ea typeface="黑体" panose="02010609060101010101" pitchFamily="2" charset="-122"/>
              </a:rPr>
              <a:t>D B E C A</a:t>
            </a:r>
            <a:endParaRPr lang="en-US" altLang="zh-CN" sz="3200">
              <a:latin typeface="Arial" panose="020B0604020202020204" pitchFamily="34" charset="0"/>
              <a:ea typeface="黑体" panose="02010609060101010101" pitchFamily="2" charset="-122"/>
            </a:endParaRPr>
          </a:p>
        </p:txBody>
      </p:sp>
      <p:sp>
        <p:nvSpPr>
          <p:cNvPr id="312328" name="Text Box 8"/>
          <p:cNvSpPr txBox="1">
            <a:spLocks noChangeArrowheads="1"/>
          </p:cNvSpPr>
          <p:nvPr/>
        </p:nvSpPr>
        <p:spPr bwMode="auto">
          <a:xfrm>
            <a:off x="75406" y="6126957"/>
            <a:ext cx="5202654" cy="584775"/>
          </a:xfrm>
          <a:prstGeom prst="rect">
            <a:avLst/>
          </a:prstGeom>
          <a:noFill/>
          <a:ln w="9525">
            <a:noFill/>
            <a:miter lim="800000"/>
          </a:ln>
          <a:effectLst/>
        </p:spPr>
        <p:txBody>
          <a:bodyPr wrap="square">
            <a:spAutoFit/>
          </a:bodyPr>
          <a:lstStyle/>
          <a:p>
            <a:pPr eaLnBrk="1" fontAlgn="auto" hangingPunct="1">
              <a:spcBef>
                <a:spcPts val="0"/>
              </a:spcBef>
              <a:spcAft>
                <a:spcPts val="0"/>
              </a:spcAft>
              <a:defRPr/>
            </a:pPr>
            <a:r>
              <a:rPr lang="zh-CN" altLang="en-US" sz="3200" dirty="0">
                <a:solidFill>
                  <a:schemeClr val="accent2"/>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类似方法找当前结点的前驱</a:t>
            </a:r>
            <a:endParaRPr lang="zh-CN" altLang="en-US" sz="3200" dirty="0">
              <a:solidFill>
                <a:schemeClr val="accent2"/>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p:txBody>
      </p:sp>
      <p:sp>
        <p:nvSpPr>
          <p:cNvPr id="98313" name="Oval 9"/>
          <p:cNvSpPr>
            <a:spLocks noChangeArrowheads="1"/>
          </p:cNvSpPr>
          <p:nvPr/>
        </p:nvSpPr>
        <p:spPr bwMode="auto">
          <a:xfrm>
            <a:off x="1525210" y="1645444"/>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98314" name="Oval 10"/>
          <p:cNvSpPr>
            <a:spLocks noChangeArrowheads="1"/>
          </p:cNvSpPr>
          <p:nvPr/>
        </p:nvSpPr>
        <p:spPr bwMode="auto">
          <a:xfrm>
            <a:off x="763210" y="2407444"/>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8315" name="Oval 11"/>
          <p:cNvSpPr>
            <a:spLocks noChangeArrowheads="1"/>
          </p:cNvSpPr>
          <p:nvPr/>
        </p:nvSpPr>
        <p:spPr bwMode="auto">
          <a:xfrm>
            <a:off x="2287210" y="2407444"/>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8316" name="Oval 12"/>
          <p:cNvSpPr>
            <a:spLocks noChangeArrowheads="1"/>
          </p:cNvSpPr>
          <p:nvPr/>
        </p:nvSpPr>
        <p:spPr bwMode="auto">
          <a:xfrm>
            <a:off x="1068010" y="3321844"/>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8317" name="Oval 13"/>
          <p:cNvSpPr>
            <a:spLocks noChangeArrowheads="1"/>
          </p:cNvSpPr>
          <p:nvPr/>
        </p:nvSpPr>
        <p:spPr bwMode="auto">
          <a:xfrm>
            <a:off x="1982410" y="3321844"/>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8318" name="Freeform 14"/>
          <p:cNvSpPr/>
          <p:nvPr/>
        </p:nvSpPr>
        <p:spPr bwMode="auto">
          <a:xfrm flipH="1">
            <a:off x="839410" y="3702844"/>
            <a:ext cx="381000" cy="88900"/>
          </a:xfrm>
          <a:custGeom>
            <a:avLst/>
            <a:gdLst>
              <a:gd name="T0" fmla="*/ 0 w 240"/>
              <a:gd name="T1" fmla="*/ 0 h 56"/>
              <a:gd name="T2" fmla="*/ 2147483646 w 240"/>
              <a:gd name="T3" fmla="*/ 2147483646 h 56"/>
              <a:gd name="T4" fmla="*/ 2147483646 w 240"/>
              <a:gd name="T5" fmla="*/ 2147483646 h 56"/>
              <a:gd name="T6" fmla="*/ 2147483646 w 240"/>
              <a:gd name="T7" fmla="*/ 0 h 56"/>
              <a:gd name="T8" fmla="*/ 0 60000 65536"/>
              <a:gd name="T9" fmla="*/ 0 60000 65536"/>
              <a:gd name="T10" fmla="*/ 0 60000 65536"/>
              <a:gd name="T11" fmla="*/ 0 60000 65536"/>
              <a:gd name="T12" fmla="*/ 0 w 240"/>
              <a:gd name="T13" fmla="*/ 0 h 56"/>
              <a:gd name="T14" fmla="*/ 240 w 240"/>
              <a:gd name="T15" fmla="*/ 56 h 56"/>
            </a:gdLst>
            <a:ahLst/>
            <a:cxnLst>
              <a:cxn ang="T8">
                <a:pos x="T0" y="T1"/>
              </a:cxn>
              <a:cxn ang="T9">
                <a:pos x="T2" y="T3"/>
              </a:cxn>
              <a:cxn ang="T10">
                <a:pos x="T4" y="T5"/>
              </a:cxn>
              <a:cxn ang="T11">
                <a:pos x="T6" y="T7"/>
              </a:cxn>
            </a:cxnLst>
            <a:rect l="T12" t="T13" r="T14" b="T15"/>
            <a:pathLst>
              <a:path w="240" h="56">
                <a:moveTo>
                  <a:pt x="0" y="0"/>
                </a:moveTo>
                <a:cubicBezTo>
                  <a:pt x="12" y="20"/>
                  <a:pt x="24" y="40"/>
                  <a:pt x="48" y="48"/>
                </a:cubicBezTo>
                <a:cubicBezTo>
                  <a:pt x="72" y="56"/>
                  <a:pt x="112" y="56"/>
                  <a:pt x="144" y="48"/>
                </a:cubicBezTo>
                <a:cubicBezTo>
                  <a:pt x="176" y="40"/>
                  <a:pt x="224" y="8"/>
                  <a:pt x="240" y="0"/>
                </a:cubicBezTo>
              </a:path>
            </a:pathLst>
          </a:custGeom>
          <a:noFill/>
          <a:ln w="28575">
            <a:solidFill>
              <a:srgbClr val="009900"/>
            </a:solidFill>
            <a:prstDash val="sysDot"/>
            <a:rou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19" name="Freeform 15"/>
          <p:cNvSpPr/>
          <p:nvPr/>
        </p:nvSpPr>
        <p:spPr bwMode="auto">
          <a:xfrm flipH="1">
            <a:off x="1093410" y="2788444"/>
            <a:ext cx="609600" cy="1016000"/>
          </a:xfrm>
          <a:custGeom>
            <a:avLst/>
            <a:gdLst>
              <a:gd name="T0" fmla="*/ 2147483646 w 384"/>
              <a:gd name="T1" fmla="*/ 2147483646 h 640"/>
              <a:gd name="T2" fmla="*/ 2147483646 w 384"/>
              <a:gd name="T3" fmla="*/ 2147483646 h 640"/>
              <a:gd name="T4" fmla="*/ 2147483646 w 384"/>
              <a:gd name="T5" fmla="*/ 2147483646 h 640"/>
              <a:gd name="T6" fmla="*/ 0 w 384"/>
              <a:gd name="T7" fmla="*/ 2147483646 h 640"/>
              <a:gd name="T8" fmla="*/ 2147483646 w 384"/>
              <a:gd name="T9" fmla="*/ 2147483646 h 640"/>
              <a:gd name="T10" fmla="*/ 2147483646 w 384"/>
              <a:gd name="T11" fmla="*/ 2147483646 h 640"/>
              <a:gd name="T12" fmla="*/ 2147483646 w 384"/>
              <a:gd name="T13" fmla="*/ 2147483646 h 640"/>
              <a:gd name="T14" fmla="*/ 2147483646 w 384"/>
              <a:gd name="T15" fmla="*/ 0 h 640"/>
              <a:gd name="T16" fmla="*/ 0 60000 65536"/>
              <a:gd name="T17" fmla="*/ 0 60000 65536"/>
              <a:gd name="T18" fmla="*/ 0 60000 65536"/>
              <a:gd name="T19" fmla="*/ 0 60000 65536"/>
              <a:gd name="T20" fmla="*/ 0 60000 65536"/>
              <a:gd name="T21" fmla="*/ 0 60000 65536"/>
              <a:gd name="T22" fmla="*/ 0 60000 65536"/>
              <a:gd name="T23" fmla="*/ 0 60000 65536"/>
              <a:gd name="T24" fmla="*/ 0 w 384"/>
              <a:gd name="T25" fmla="*/ 0 h 640"/>
              <a:gd name="T26" fmla="*/ 384 w 384"/>
              <a:gd name="T27" fmla="*/ 640 h 6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4" h="640">
                <a:moveTo>
                  <a:pt x="192" y="576"/>
                </a:moveTo>
                <a:cubicBezTo>
                  <a:pt x="180" y="596"/>
                  <a:pt x="168" y="616"/>
                  <a:pt x="144" y="624"/>
                </a:cubicBezTo>
                <a:cubicBezTo>
                  <a:pt x="120" y="632"/>
                  <a:pt x="72" y="640"/>
                  <a:pt x="48" y="624"/>
                </a:cubicBezTo>
                <a:cubicBezTo>
                  <a:pt x="24" y="608"/>
                  <a:pt x="0" y="568"/>
                  <a:pt x="0" y="528"/>
                </a:cubicBezTo>
                <a:cubicBezTo>
                  <a:pt x="0" y="488"/>
                  <a:pt x="24" y="432"/>
                  <a:pt x="48" y="384"/>
                </a:cubicBezTo>
                <a:cubicBezTo>
                  <a:pt x="72" y="336"/>
                  <a:pt x="112" y="280"/>
                  <a:pt x="144" y="240"/>
                </a:cubicBezTo>
                <a:cubicBezTo>
                  <a:pt x="176" y="200"/>
                  <a:pt x="200" y="184"/>
                  <a:pt x="240" y="144"/>
                </a:cubicBezTo>
                <a:cubicBezTo>
                  <a:pt x="280" y="104"/>
                  <a:pt x="360" y="24"/>
                  <a:pt x="384" y="0"/>
                </a:cubicBezTo>
              </a:path>
            </a:pathLst>
          </a:custGeom>
          <a:noFill/>
          <a:ln w="28575">
            <a:solidFill>
              <a:schemeClr val="tx2"/>
            </a:solidFill>
            <a:prstDash val="sysDot"/>
            <a:rou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20" name="Freeform 16"/>
          <p:cNvSpPr/>
          <p:nvPr/>
        </p:nvSpPr>
        <p:spPr bwMode="auto">
          <a:xfrm flipH="1">
            <a:off x="1144210" y="2788444"/>
            <a:ext cx="914400" cy="990600"/>
          </a:xfrm>
          <a:custGeom>
            <a:avLst/>
            <a:gdLst>
              <a:gd name="T0" fmla="*/ 0 w 576"/>
              <a:gd name="T1" fmla="*/ 2147483646 h 624"/>
              <a:gd name="T2" fmla="*/ 2147483646 w 576"/>
              <a:gd name="T3" fmla="*/ 2147483646 h 624"/>
              <a:gd name="T4" fmla="*/ 2147483646 w 576"/>
              <a:gd name="T5" fmla="*/ 2147483646 h 624"/>
              <a:gd name="T6" fmla="*/ 2147483646 w 576"/>
              <a:gd name="T7" fmla="*/ 2147483646 h 624"/>
              <a:gd name="T8" fmla="*/ 2147483646 w 576"/>
              <a:gd name="T9" fmla="*/ 2147483646 h 624"/>
              <a:gd name="T10" fmla="*/ 2147483646 w 576"/>
              <a:gd name="T11" fmla="*/ 2147483646 h 624"/>
              <a:gd name="T12" fmla="*/ 2147483646 w 576"/>
              <a:gd name="T13" fmla="*/ 2147483646 h 624"/>
              <a:gd name="T14" fmla="*/ 2147483646 w 576"/>
              <a:gd name="T15" fmla="*/ 2147483646 h 624"/>
              <a:gd name="T16" fmla="*/ 2147483646 w 576"/>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6"/>
              <a:gd name="T28" fmla="*/ 0 h 624"/>
              <a:gd name="T29" fmla="*/ 576 w 576"/>
              <a:gd name="T30" fmla="*/ 624 h 6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6" h="624">
                <a:moveTo>
                  <a:pt x="0" y="576"/>
                </a:moveTo>
                <a:cubicBezTo>
                  <a:pt x="16" y="600"/>
                  <a:pt x="32" y="624"/>
                  <a:pt x="48" y="624"/>
                </a:cubicBezTo>
                <a:cubicBezTo>
                  <a:pt x="64" y="624"/>
                  <a:pt x="80" y="608"/>
                  <a:pt x="96" y="576"/>
                </a:cubicBezTo>
                <a:cubicBezTo>
                  <a:pt x="112" y="544"/>
                  <a:pt x="128" y="480"/>
                  <a:pt x="144" y="432"/>
                </a:cubicBezTo>
                <a:cubicBezTo>
                  <a:pt x="160" y="384"/>
                  <a:pt x="176" y="328"/>
                  <a:pt x="192" y="288"/>
                </a:cubicBezTo>
                <a:cubicBezTo>
                  <a:pt x="208" y="248"/>
                  <a:pt x="216" y="224"/>
                  <a:pt x="240" y="192"/>
                </a:cubicBezTo>
                <a:cubicBezTo>
                  <a:pt x="264" y="160"/>
                  <a:pt x="304" y="120"/>
                  <a:pt x="336" y="96"/>
                </a:cubicBezTo>
                <a:cubicBezTo>
                  <a:pt x="368" y="72"/>
                  <a:pt x="392" y="64"/>
                  <a:pt x="432" y="48"/>
                </a:cubicBezTo>
                <a:cubicBezTo>
                  <a:pt x="472" y="32"/>
                  <a:pt x="552" y="8"/>
                  <a:pt x="576" y="0"/>
                </a:cubicBezTo>
              </a:path>
            </a:pathLst>
          </a:custGeom>
          <a:noFill/>
          <a:ln w="28575">
            <a:solidFill>
              <a:srgbClr val="009900"/>
            </a:solidFill>
            <a:prstDash val="sysDot"/>
            <a:rou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21" name="Freeform 17"/>
          <p:cNvSpPr/>
          <p:nvPr/>
        </p:nvSpPr>
        <p:spPr bwMode="auto">
          <a:xfrm flipH="1">
            <a:off x="1906210" y="1874044"/>
            <a:ext cx="1016000" cy="990600"/>
          </a:xfrm>
          <a:custGeom>
            <a:avLst/>
            <a:gdLst>
              <a:gd name="T0" fmla="*/ 2147483646 w 640"/>
              <a:gd name="T1" fmla="*/ 2147483646 h 624"/>
              <a:gd name="T2" fmla="*/ 2147483646 w 640"/>
              <a:gd name="T3" fmla="*/ 2147483646 h 624"/>
              <a:gd name="T4" fmla="*/ 2147483646 w 640"/>
              <a:gd name="T5" fmla="*/ 2147483646 h 624"/>
              <a:gd name="T6" fmla="*/ 2147483646 w 640"/>
              <a:gd name="T7" fmla="*/ 2147483646 h 624"/>
              <a:gd name="T8" fmla="*/ 2147483646 w 640"/>
              <a:gd name="T9" fmla="*/ 2147483646 h 624"/>
              <a:gd name="T10" fmla="*/ 2147483646 w 640"/>
              <a:gd name="T11" fmla="*/ 2147483646 h 624"/>
              <a:gd name="T12" fmla="*/ 2147483646 w 640"/>
              <a:gd name="T13" fmla="*/ 2147483646 h 624"/>
              <a:gd name="T14" fmla="*/ 2147483646 w 640"/>
              <a:gd name="T15" fmla="*/ 2147483646 h 624"/>
              <a:gd name="T16" fmla="*/ 2147483646 w 640"/>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40"/>
              <a:gd name="T28" fmla="*/ 0 h 624"/>
              <a:gd name="T29" fmla="*/ 640 w 640"/>
              <a:gd name="T30" fmla="*/ 624 h 6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 h="624">
                <a:moveTo>
                  <a:pt x="208" y="576"/>
                </a:moveTo>
                <a:cubicBezTo>
                  <a:pt x="176" y="600"/>
                  <a:pt x="144" y="624"/>
                  <a:pt x="112" y="624"/>
                </a:cubicBezTo>
                <a:cubicBezTo>
                  <a:pt x="80" y="624"/>
                  <a:pt x="32" y="600"/>
                  <a:pt x="16" y="576"/>
                </a:cubicBezTo>
                <a:cubicBezTo>
                  <a:pt x="0" y="552"/>
                  <a:pt x="0" y="520"/>
                  <a:pt x="16" y="480"/>
                </a:cubicBezTo>
                <a:cubicBezTo>
                  <a:pt x="32" y="440"/>
                  <a:pt x="80" y="376"/>
                  <a:pt x="112" y="336"/>
                </a:cubicBezTo>
                <a:cubicBezTo>
                  <a:pt x="144" y="296"/>
                  <a:pt x="168" y="272"/>
                  <a:pt x="208" y="240"/>
                </a:cubicBezTo>
                <a:cubicBezTo>
                  <a:pt x="248" y="208"/>
                  <a:pt x="296" y="176"/>
                  <a:pt x="352" y="144"/>
                </a:cubicBezTo>
                <a:cubicBezTo>
                  <a:pt x="408" y="112"/>
                  <a:pt x="496" y="72"/>
                  <a:pt x="544" y="48"/>
                </a:cubicBezTo>
                <a:cubicBezTo>
                  <a:pt x="592" y="24"/>
                  <a:pt x="624" y="8"/>
                  <a:pt x="640" y="0"/>
                </a:cubicBezTo>
              </a:path>
            </a:pathLst>
          </a:custGeom>
          <a:noFill/>
          <a:ln w="28575">
            <a:solidFill>
              <a:schemeClr val="tx2"/>
            </a:solidFill>
            <a:prstDash val="sysDot"/>
            <a:rou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22" name="Freeform 18"/>
          <p:cNvSpPr/>
          <p:nvPr/>
        </p:nvSpPr>
        <p:spPr bwMode="auto">
          <a:xfrm flipH="1">
            <a:off x="2277685" y="2763044"/>
            <a:ext cx="406400" cy="1016000"/>
          </a:xfrm>
          <a:custGeom>
            <a:avLst/>
            <a:gdLst>
              <a:gd name="T0" fmla="*/ 2147483646 w 256"/>
              <a:gd name="T1" fmla="*/ 2147483646 h 640"/>
              <a:gd name="T2" fmla="*/ 2147483646 w 256"/>
              <a:gd name="T3" fmla="*/ 2147483646 h 640"/>
              <a:gd name="T4" fmla="*/ 2147483646 w 256"/>
              <a:gd name="T5" fmla="*/ 2147483646 h 640"/>
              <a:gd name="T6" fmla="*/ 2147483646 w 256"/>
              <a:gd name="T7" fmla="*/ 2147483646 h 640"/>
              <a:gd name="T8" fmla="*/ 2147483646 w 256"/>
              <a:gd name="T9" fmla="*/ 2147483646 h 640"/>
              <a:gd name="T10" fmla="*/ 2147483646 w 256"/>
              <a:gd name="T11" fmla="*/ 0 h 640"/>
              <a:gd name="T12" fmla="*/ 0 60000 65536"/>
              <a:gd name="T13" fmla="*/ 0 60000 65536"/>
              <a:gd name="T14" fmla="*/ 0 60000 65536"/>
              <a:gd name="T15" fmla="*/ 0 60000 65536"/>
              <a:gd name="T16" fmla="*/ 0 60000 65536"/>
              <a:gd name="T17" fmla="*/ 0 60000 65536"/>
              <a:gd name="T18" fmla="*/ 0 w 256"/>
              <a:gd name="T19" fmla="*/ 0 h 640"/>
              <a:gd name="T20" fmla="*/ 256 w 256"/>
              <a:gd name="T21" fmla="*/ 640 h 640"/>
            </a:gdLst>
            <a:ahLst/>
            <a:cxnLst>
              <a:cxn ang="T12">
                <a:pos x="T0" y="T1"/>
              </a:cxn>
              <a:cxn ang="T13">
                <a:pos x="T2" y="T3"/>
              </a:cxn>
              <a:cxn ang="T14">
                <a:pos x="T4" y="T5"/>
              </a:cxn>
              <a:cxn ang="T15">
                <a:pos x="T6" y="T7"/>
              </a:cxn>
              <a:cxn ang="T16">
                <a:pos x="T8" y="T9"/>
              </a:cxn>
              <a:cxn ang="T17">
                <a:pos x="T10" y="T11"/>
              </a:cxn>
            </a:cxnLst>
            <a:rect l="T18" t="T19" r="T20" b="T21"/>
            <a:pathLst>
              <a:path w="256" h="640">
                <a:moveTo>
                  <a:pt x="256" y="576"/>
                </a:moveTo>
                <a:cubicBezTo>
                  <a:pt x="244" y="596"/>
                  <a:pt x="232" y="616"/>
                  <a:pt x="208" y="624"/>
                </a:cubicBezTo>
                <a:cubicBezTo>
                  <a:pt x="184" y="632"/>
                  <a:pt x="144" y="640"/>
                  <a:pt x="112" y="624"/>
                </a:cubicBezTo>
                <a:cubicBezTo>
                  <a:pt x="80" y="608"/>
                  <a:pt x="32" y="584"/>
                  <a:pt x="16" y="528"/>
                </a:cubicBezTo>
                <a:cubicBezTo>
                  <a:pt x="0" y="472"/>
                  <a:pt x="0" y="376"/>
                  <a:pt x="16" y="288"/>
                </a:cubicBezTo>
                <a:cubicBezTo>
                  <a:pt x="32" y="200"/>
                  <a:pt x="96" y="48"/>
                  <a:pt x="112" y="0"/>
                </a:cubicBezTo>
              </a:path>
            </a:pathLst>
          </a:custGeom>
          <a:noFill/>
          <a:ln w="28575">
            <a:solidFill>
              <a:schemeClr val="tx2"/>
            </a:solidFill>
            <a:prstDash val="sysDot"/>
            <a:rou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23" name="Text Box 19"/>
          <p:cNvSpPr txBox="1">
            <a:spLocks noChangeArrowheads="1"/>
          </p:cNvSpPr>
          <p:nvPr/>
        </p:nvSpPr>
        <p:spPr bwMode="auto">
          <a:xfrm>
            <a:off x="4446210" y="1431132"/>
            <a:ext cx="2132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CC3300"/>
                </a:solidFill>
                <a:latin typeface="Times New Roman" panose="02020603050405020304" pitchFamily="18" charset="0"/>
                <a:ea typeface="宋体" panose="02010600030101010101" pitchFamily="2" charset="-122"/>
              </a:rPr>
              <a:t>p</a:t>
            </a:r>
            <a:r>
              <a:rPr kumimoji="1" lang="en-US" altLang="zh-CN" sz="2800" b="1">
                <a:solidFill>
                  <a:srgbClr val="CC3300"/>
                </a:solidFill>
                <a:latin typeface="楷体_GB2312" panose="02010609030101010101" pitchFamily="49" charset="-122"/>
                <a:ea typeface="楷体_GB2312" panose="02010609030101010101"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rtag==1?</a:t>
            </a:r>
            <a:endParaRPr kumimoji="1" lang="en-US" altLang="zh-CN" sz="2400">
              <a:latin typeface="Times New Roman" panose="02020603050405020304" pitchFamily="18" charset="0"/>
              <a:ea typeface="宋体" panose="02010600030101010101" pitchFamily="2" charset="-122"/>
            </a:endParaRPr>
          </a:p>
        </p:txBody>
      </p:sp>
      <p:sp>
        <p:nvSpPr>
          <p:cNvPr id="98324" name="Line 20"/>
          <p:cNvSpPr>
            <a:spLocks noChangeShapeType="1"/>
          </p:cNvSpPr>
          <p:nvPr/>
        </p:nvSpPr>
        <p:spPr bwMode="auto">
          <a:xfrm flipH="1">
            <a:off x="4446210" y="1950244"/>
            <a:ext cx="6858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5" name="Line 21"/>
          <p:cNvSpPr>
            <a:spLocks noChangeShapeType="1"/>
          </p:cNvSpPr>
          <p:nvPr/>
        </p:nvSpPr>
        <p:spPr bwMode="auto">
          <a:xfrm>
            <a:off x="6351210" y="1950244"/>
            <a:ext cx="6858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6" name="Text Box 22"/>
          <p:cNvSpPr txBox="1">
            <a:spLocks noChangeArrowheads="1"/>
          </p:cNvSpPr>
          <p:nvPr/>
        </p:nvSpPr>
        <p:spPr bwMode="auto">
          <a:xfrm>
            <a:off x="3112710" y="1964532"/>
            <a:ext cx="216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a:latin typeface="Times New Roman" panose="02020603050405020304" pitchFamily="18" charset="0"/>
                <a:ea typeface="隶书" panose="02010509060101010101" pitchFamily="49" charset="-122"/>
              </a:rPr>
              <a:t>后继线索</a:t>
            </a:r>
            <a:r>
              <a:rPr kumimoji="1" lang="zh-CN" altLang="en-US" sz="2800" b="1">
                <a:latin typeface="Times New Roman" panose="02020603050405020304" pitchFamily="18" charset="0"/>
                <a:ea typeface="宋体" panose="02010600030101010101" pitchFamily="2" charset="-122"/>
              </a:rPr>
              <a:t>    </a:t>
            </a:r>
            <a:r>
              <a:rPr kumimoji="1" lang="en-US" altLang="zh-CN" sz="2800" b="1">
                <a:solidFill>
                  <a:schemeClr val="accent2"/>
                </a:solidFill>
                <a:latin typeface="Times New Roman" panose="02020603050405020304" pitchFamily="18" charset="0"/>
                <a:ea typeface="宋体" panose="02010600030101010101" pitchFamily="2" charset="-122"/>
              </a:rPr>
              <a:t>=</a:t>
            </a:r>
            <a:endParaRPr kumimoji="1" lang="en-US" altLang="zh-CN" sz="2800" b="1">
              <a:solidFill>
                <a:schemeClr val="accent2"/>
              </a:solidFill>
              <a:latin typeface="Times New Roman" panose="02020603050405020304" pitchFamily="18" charset="0"/>
              <a:ea typeface="宋体" panose="02010600030101010101" pitchFamily="2" charset="-122"/>
            </a:endParaRPr>
          </a:p>
        </p:txBody>
      </p:sp>
      <p:sp>
        <p:nvSpPr>
          <p:cNvPr id="98327" name="Text Box 23"/>
          <p:cNvSpPr txBox="1">
            <a:spLocks noChangeArrowheads="1"/>
          </p:cNvSpPr>
          <p:nvPr/>
        </p:nvSpPr>
        <p:spPr bwMode="auto">
          <a:xfrm>
            <a:off x="6198810" y="1950244"/>
            <a:ext cx="1801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sz="2800">
                <a:latin typeface="Times New Roman" panose="02020603050405020304" pitchFamily="18" charset="0"/>
                <a:ea typeface="隶书" panose="02010509060101010101" pitchFamily="49" charset="-122"/>
                <a:sym typeface="Symbol" panose="05050102010706020507" pitchFamily="18" charset="2"/>
              </a:rPr>
              <a:t>要回溯</a:t>
            </a:r>
            <a:endParaRPr kumimoji="1" lang="zh-CN" altLang="en-US" sz="2400">
              <a:latin typeface="Times New Roman" panose="02020603050405020304" pitchFamily="18" charset="0"/>
              <a:ea typeface="宋体" panose="02010600030101010101" pitchFamily="2" charset="-122"/>
            </a:endParaRPr>
          </a:p>
        </p:txBody>
      </p:sp>
      <p:sp>
        <p:nvSpPr>
          <p:cNvPr id="312344" name="Text Box 24"/>
          <p:cNvSpPr txBox="1">
            <a:spLocks noChangeArrowheads="1"/>
          </p:cNvSpPr>
          <p:nvPr/>
        </p:nvSpPr>
        <p:spPr bwMode="auto">
          <a:xfrm>
            <a:off x="5360610" y="5607844"/>
            <a:ext cx="3227388" cy="946150"/>
          </a:xfrm>
          <a:prstGeom prst="rect">
            <a:avLst/>
          </a:prstGeom>
          <a:noFill/>
          <a:ln w="38100">
            <a:noFill/>
            <a:miter lim="800000"/>
          </a:ln>
          <a:effectLst/>
        </p:spPr>
        <p:txBody>
          <a:bodyPr wrap="none" anchor="ctr">
            <a:spAutoFit/>
          </a:bodyPr>
          <a:lstStyle/>
          <a:p>
            <a:pPr eaLnBrk="1" fontAlgn="auto" hangingPunct="1">
              <a:spcBef>
                <a:spcPts val="0"/>
              </a:spcBef>
              <a:spcAft>
                <a:spcPts val="0"/>
              </a:spcAft>
              <a:defRPr/>
            </a:pPr>
            <a:r>
              <a:rPr lang="zh-CN" altLang="en-US" sz="2800">
                <a:effectLst>
                  <a:outerShdw blurRad="38100" dist="38100" dir="2700000" algn="tl">
                    <a:srgbClr val="C0C0C0"/>
                  </a:outerShdw>
                </a:effectLst>
                <a:latin typeface="+mn-lt"/>
                <a:ea typeface="隶书" panose="02010509060101010101" pitchFamily="49" charset="-122"/>
              </a:rPr>
              <a:t>后继为</a:t>
            </a:r>
            <a:r>
              <a:rPr lang="en-US" altLang="zh-CN" sz="2800">
                <a:solidFill>
                  <a:srgbClr val="CC3300"/>
                </a:solidFill>
                <a:effectLst>
                  <a:outerShdw blurRad="38100" dist="38100" dir="2700000" algn="tl">
                    <a:srgbClr val="C0C0C0"/>
                  </a:outerShdw>
                </a:effectLst>
                <a:latin typeface="+mn-lt"/>
                <a:ea typeface="+mn-ea"/>
              </a:rPr>
              <a:t>q</a:t>
            </a:r>
            <a:r>
              <a:rPr lang="zh-CN" altLang="en-US" sz="2800">
                <a:effectLst>
                  <a:outerShdw blurRad="38100" dist="38100" dir="2700000" algn="tl">
                    <a:srgbClr val="C0C0C0"/>
                  </a:outerShdw>
                </a:effectLst>
                <a:latin typeface="+mn-lt"/>
                <a:ea typeface="隶书" panose="02010509060101010101" pitchFamily="49" charset="-122"/>
              </a:rPr>
              <a:t>的右子树中</a:t>
            </a:r>
            <a:endParaRPr lang="zh-CN" altLang="en-US" sz="2800">
              <a:effectLst>
                <a:outerShdw blurRad="38100" dist="38100" dir="2700000" algn="tl">
                  <a:srgbClr val="C0C0C0"/>
                </a:outerShdw>
              </a:effectLst>
              <a:latin typeface="+mn-lt"/>
              <a:ea typeface="隶书" panose="02010509060101010101" pitchFamily="49" charset="-122"/>
            </a:endParaRPr>
          </a:p>
          <a:p>
            <a:pPr eaLnBrk="1" fontAlgn="auto" hangingPunct="1">
              <a:spcBef>
                <a:spcPts val="0"/>
              </a:spcBef>
              <a:spcAft>
                <a:spcPts val="0"/>
              </a:spcAft>
              <a:defRPr/>
            </a:pPr>
            <a:r>
              <a:rPr lang="zh-CN" altLang="en-US" sz="2800">
                <a:effectLst>
                  <a:outerShdw blurRad="38100" dist="38100" dir="2700000" algn="tl">
                    <a:srgbClr val="C0C0C0"/>
                  </a:outerShdw>
                </a:effectLst>
                <a:latin typeface="+mn-lt"/>
                <a:ea typeface="隶书" panose="02010509060101010101" pitchFamily="49" charset="-122"/>
              </a:rPr>
              <a:t>后序第一个结点</a:t>
            </a:r>
            <a:endParaRPr lang="zh-CN" altLang="en-US">
              <a:latin typeface="+mn-lt"/>
              <a:ea typeface="+mn-ea"/>
            </a:endParaRPr>
          </a:p>
        </p:txBody>
      </p:sp>
      <p:sp>
        <p:nvSpPr>
          <p:cNvPr id="98329" name="Text Box 25"/>
          <p:cNvSpPr txBox="1">
            <a:spLocks noChangeArrowheads="1"/>
          </p:cNvSpPr>
          <p:nvPr/>
        </p:nvSpPr>
        <p:spPr bwMode="auto">
          <a:xfrm>
            <a:off x="3379410" y="2613819"/>
            <a:ext cx="2339975"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90000"/>
              </a:lnSpc>
            </a:pPr>
            <a:r>
              <a:rPr kumimoji="1" lang="en-US" altLang="zh-CN" sz="2800" b="1">
                <a:solidFill>
                  <a:srgbClr val="009900"/>
                </a:solidFill>
                <a:latin typeface="Times New Roman" panose="02020603050405020304" pitchFamily="18" charset="0"/>
                <a:ea typeface="仿宋_GB2312" panose="02010609030101010101" pitchFamily="49" charset="-122"/>
              </a:rPr>
              <a:t>    </a:t>
            </a:r>
            <a:r>
              <a:rPr kumimoji="1" lang="zh-CN" altLang="en-US" sz="2800">
                <a:latin typeface="Times New Roman" panose="02020603050405020304" pitchFamily="18" charset="0"/>
                <a:ea typeface="隶书" panose="02010509060101010101" pitchFamily="49" charset="-122"/>
              </a:rPr>
              <a:t>后继为</a:t>
            </a:r>
            <a:endParaRPr kumimoji="1" lang="zh-CN" altLang="en-US" sz="2800" b="1">
              <a:latin typeface="Times New Roman" panose="02020603050405020304" pitchFamily="18" charset="0"/>
              <a:ea typeface="宋体" panose="02010600030101010101" pitchFamily="2" charset="-122"/>
            </a:endParaRPr>
          </a:p>
          <a:p>
            <a:pPr eaLnBrk="1" hangingPunct="1">
              <a:lnSpc>
                <a:spcPct val="90000"/>
              </a:lnSpc>
            </a:pPr>
            <a:r>
              <a:rPr kumimoji="1" lang="en-US" altLang="zh-CN" sz="2800" b="1">
                <a:solidFill>
                  <a:srgbClr val="CC3300"/>
                </a:solidFill>
                <a:latin typeface="Times New Roman" panose="02020603050405020304" pitchFamily="18" charset="0"/>
                <a:ea typeface="宋体" panose="02010600030101010101" pitchFamily="2" charset="-122"/>
              </a:rPr>
              <a:t>p</a:t>
            </a:r>
            <a:r>
              <a:rPr kumimoji="1" lang="en-US" altLang="zh-CN" sz="2800" b="1">
                <a:solidFill>
                  <a:srgbClr val="CC3300"/>
                </a:solidFill>
                <a:latin typeface="楷体_GB2312" panose="02010609030101010101" pitchFamily="49" charset="-122"/>
                <a:ea typeface="楷体_GB2312" panose="02010609030101010101"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rightChild</a:t>
            </a:r>
            <a:endParaRPr kumimoji="1" lang="en-US" altLang="zh-CN" sz="2400">
              <a:latin typeface="Times New Roman" panose="02020603050405020304" pitchFamily="18" charset="0"/>
              <a:ea typeface="宋体" panose="02010600030101010101" pitchFamily="2" charset="-122"/>
            </a:endParaRPr>
          </a:p>
        </p:txBody>
      </p:sp>
      <p:sp>
        <p:nvSpPr>
          <p:cNvPr id="98330" name="Line 26"/>
          <p:cNvSpPr>
            <a:spLocks noChangeShapeType="1"/>
          </p:cNvSpPr>
          <p:nvPr/>
        </p:nvSpPr>
        <p:spPr bwMode="auto">
          <a:xfrm flipH="1">
            <a:off x="5894010" y="3398044"/>
            <a:ext cx="6858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31" name="Line 27"/>
          <p:cNvSpPr>
            <a:spLocks noChangeShapeType="1"/>
          </p:cNvSpPr>
          <p:nvPr/>
        </p:nvSpPr>
        <p:spPr bwMode="auto">
          <a:xfrm>
            <a:off x="7494210" y="3398044"/>
            <a:ext cx="6858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32" name="Text Box 28"/>
          <p:cNvSpPr txBox="1">
            <a:spLocks noChangeArrowheads="1"/>
          </p:cNvSpPr>
          <p:nvPr/>
        </p:nvSpPr>
        <p:spPr bwMode="auto">
          <a:xfrm>
            <a:off x="7494210" y="3550444"/>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98333" name="Text Box 29"/>
          <p:cNvSpPr txBox="1">
            <a:spLocks noChangeArrowheads="1"/>
          </p:cNvSpPr>
          <p:nvPr/>
        </p:nvSpPr>
        <p:spPr bwMode="auto">
          <a:xfrm>
            <a:off x="5819398" y="3398044"/>
            <a:ext cx="379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98334" name="Text Box 30"/>
          <p:cNvSpPr txBox="1">
            <a:spLocks noChangeArrowheads="1"/>
          </p:cNvSpPr>
          <p:nvPr/>
        </p:nvSpPr>
        <p:spPr bwMode="auto">
          <a:xfrm>
            <a:off x="7576760" y="4021932"/>
            <a:ext cx="1428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a:latin typeface="隶书" panose="02010509060101010101" pitchFamily="49" charset="-122"/>
                <a:ea typeface="隶书" panose="02010509060101010101" pitchFamily="49" charset="-122"/>
              </a:rPr>
              <a:t>无后继</a:t>
            </a:r>
            <a:r>
              <a:rPr kumimoji="1" lang="zh-CN" altLang="en-US" sz="2800" b="1">
                <a:solidFill>
                  <a:srgbClr val="009900"/>
                </a:solidFill>
                <a:latin typeface="仿宋_GB2312" panose="02010609030101010101" pitchFamily="49" charset="-122"/>
                <a:ea typeface="仿宋_GB2312" panose="02010609030101010101" pitchFamily="49" charset="-122"/>
              </a:rPr>
              <a:t> </a:t>
            </a:r>
            <a:endParaRPr kumimoji="1" lang="zh-CN" altLang="en-US" sz="2800" b="1">
              <a:solidFill>
                <a:srgbClr val="009900"/>
              </a:solidFill>
              <a:latin typeface="仿宋_GB2312" panose="02010609030101010101" pitchFamily="49" charset="-122"/>
              <a:ea typeface="仿宋_GB2312" panose="02010609030101010101" pitchFamily="49" charset="-122"/>
            </a:endParaRPr>
          </a:p>
        </p:txBody>
      </p:sp>
      <p:sp>
        <p:nvSpPr>
          <p:cNvPr id="98335" name="Text Box 31"/>
          <p:cNvSpPr txBox="1">
            <a:spLocks noChangeArrowheads="1"/>
          </p:cNvSpPr>
          <p:nvPr/>
        </p:nvSpPr>
        <p:spPr bwMode="auto">
          <a:xfrm>
            <a:off x="3608010" y="5607844"/>
            <a:ext cx="160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a:latin typeface="Times New Roman" panose="02020603050405020304" pitchFamily="18" charset="0"/>
                <a:ea typeface="隶书" panose="02010509060101010101" pitchFamily="49" charset="-122"/>
              </a:rPr>
              <a:t>后继为</a:t>
            </a:r>
            <a:r>
              <a:rPr kumimoji="1" lang="en-US" altLang="zh-CN" sz="2800" b="1">
                <a:solidFill>
                  <a:srgbClr val="CC3300"/>
                </a:solidFill>
                <a:latin typeface="Times New Roman" panose="02020603050405020304" pitchFamily="18" charset="0"/>
                <a:ea typeface="宋体" panose="02010600030101010101" pitchFamily="2" charset="-122"/>
              </a:rPr>
              <a:t>q</a:t>
            </a:r>
            <a:endParaRPr kumimoji="1" lang="en-US" altLang="zh-CN" sz="2400">
              <a:latin typeface="Times New Roman" panose="02020603050405020304" pitchFamily="18" charset="0"/>
              <a:ea typeface="宋体" panose="02010600030101010101" pitchFamily="2" charset="-122"/>
            </a:endParaRPr>
          </a:p>
        </p:txBody>
      </p:sp>
      <p:sp>
        <p:nvSpPr>
          <p:cNvPr id="98336" name="Text Box 32"/>
          <p:cNvSpPr txBox="1">
            <a:spLocks noChangeArrowheads="1"/>
          </p:cNvSpPr>
          <p:nvPr/>
        </p:nvSpPr>
        <p:spPr bwMode="auto">
          <a:xfrm>
            <a:off x="1490285" y="1539082"/>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8337" name="Text Box 33"/>
          <p:cNvSpPr txBox="1">
            <a:spLocks noChangeArrowheads="1"/>
          </p:cNvSpPr>
          <p:nvPr/>
        </p:nvSpPr>
        <p:spPr bwMode="auto">
          <a:xfrm>
            <a:off x="747335" y="2331244"/>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98338" name="Text Box 34"/>
          <p:cNvSpPr txBox="1">
            <a:spLocks noChangeArrowheads="1"/>
          </p:cNvSpPr>
          <p:nvPr/>
        </p:nvSpPr>
        <p:spPr bwMode="auto">
          <a:xfrm>
            <a:off x="2226885" y="2345532"/>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98339" name="Text Box 35"/>
          <p:cNvSpPr txBox="1">
            <a:spLocks noChangeArrowheads="1"/>
          </p:cNvSpPr>
          <p:nvPr/>
        </p:nvSpPr>
        <p:spPr bwMode="auto">
          <a:xfrm>
            <a:off x="2007810" y="3259932"/>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98340" name="Text Box 36"/>
          <p:cNvSpPr txBox="1">
            <a:spLocks noChangeArrowheads="1"/>
          </p:cNvSpPr>
          <p:nvPr/>
        </p:nvSpPr>
        <p:spPr bwMode="auto">
          <a:xfrm>
            <a:off x="1058485" y="3259932"/>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98341" name="Text Box 38"/>
          <p:cNvSpPr txBox="1">
            <a:spLocks noChangeArrowheads="1"/>
          </p:cNvSpPr>
          <p:nvPr/>
        </p:nvSpPr>
        <p:spPr bwMode="auto">
          <a:xfrm>
            <a:off x="5955923" y="2537619"/>
            <a:ext cx="214788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lnSpc>
                <a:spcPct val="90000"/>
              </a:lnSpc>
            </a:pPr>
            <a:r>
              <a:rPr kumimoji="1" lang="en-US" altLang="zh-CN" sz="2800" b="1">
                <a:solidFill>
                  <a:srgbClr val="CC3300"/>
                </a:solidFill>
                <a:latin typeface="Times New Roman" panose="02020603050405020304" pitchFamily="18" charset="0"/>
                <a:ea typeface="宋体" panose="02010600030101010101" pitchFamily="2" charset="-122"/>
              </a:rPr>
              <a:t>q=p</a:t>
            </a:r>
            <a:r>
              <a:rPr kumimoji="1" lang="en-US" altLang="zh-CN" sz="2800" b="1">
                <a:solidFill>
                  <a:srgbClr val="CC3300"/>
                </a:solidFill>
                <a:latin typeface="楷体_GB2312" panose="02010609030101010101" pitchFamily="49" charset="-122"/>
                <a:ea typeface="楷体_GB2312" panose="02010609030101010101"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parent</a:t>
            </a:r>
            <a:endParaRPr kumimoji="1" lang="en-US" altLang="zh-CN" sz="2800" b="1">
              <a:solidFill>
                <a:srgbClr val="CC3300"/>
              </a:solidFill>
              <a:latin typeface="Times New Roman" panose="02020603050405020304" pitchFamily="18" charset="0"/>
              <a:ea typeface="宋体" panose="02010600030101010101" pitchFamily="2" charset="-122"/>
            </a:endParaRPr>
          </a:p>
          <a:p>
            <a:pPr algn="ctr" eaLnBrk="1" hangingPunct="1">
              <a:lnSpc>
                <a:spcPct val="90000"/>
              </a:lnSpc>
            </a:pPr>
            <a:r>
              <a:rPr kumimoji="1" lang="en-US" altLang="zh-CN" sz="2800" b="1">
                <a:solidFill>
                  <a:srgbClr val="CC3300"/>
                </a:solidFill>
                <a:latin typeface="Times New Roman" panose="02020603050405020304" pitchFamily="18" charset="0"/>
                <a:ea typeface="宋体" panose="02010600030101010101" pitchFamily="2" charset="-122"/>
              </a:rPr>
              <a:t>q==NULL?</a:t>
            </a:r>
            <a:endParaRPr kumimoji="1" lang="en-US" altLang="zh-CN" sz="2800">
              <a:latin typeface="Times New Roman" panose="02020603050405020304" pitchFamily="18" charset="0"/>
              <a:ea typeface="宋体" panose="02010600030101010101" pitchFamily="2" charset="-122"/>
            </a:endParaRPr>
          </a:p>
        </p:txBody>
      </p:sp>
      <p:sp>
        <p:nvSpPr>
          <p:cNvPr id="98342" name="Text Box 39"/>
          <p:cNvSpPr txBox="1">
            <a:spLocks noChangeArrowheads="1"/>
          </p:cNvSpPr>
          <p:nvPr/>
        </p:nvSpPr>
        <p:spPr bwMode="auto">
          <a:xfrm>
            <a:off x="4035048" y="3975894"/>
            <a:ext cx="312261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q</a:t>
            </a:r>
            <a:r>
              <a:rPr kumimoji="1" lang="en-US" altLang="zh-CN" sz="2800" b="1">
                <a:solidFill>
                  <a:srgbClr val="CC3300"/>
                </a:solidFill>
                <a:latin typeface="楷体_GB2312" panose="02010609030101010101" pitchFamily="49" charset="-122"/>
                <a:ea typeface="楷体_GB2312" panose="02010609030101010101"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rtag==1 ||</a:t>
            </a:r>
            <a:endParaRPr kumimoji="1" lang="en-US" altLang="zh-CN" sz="2800" b="1">
              <a:solidFill>
                <a:srgbClr val="CC3300"/>
              </a:solidFill>
              <a:latin typeface="Times New Roman" panose="02020603050405020304" pitchFamily="18" charset="0"/>
              <a:ea typeface="宋体" panose="02010600030101010101" pitchFamily="2" charset="-122"/>
            </a:endParaRPr>
          </a:p>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q</a:t>
            </a:r>
            <a:r>
              <a:rPr kumimoji="1" lang="en-US" altLang="zh-CN" sz="2800" b="1">
                <a:solidFill>
                  <a:srgbClr val="CC3300"/>
                </a:solidFill>
                <a:latin typeface="楷体_GB2312" panose="02010609030101010101" pitchFamily="49" charset="-122"/>
                <a:ea typeface="楷体_GB2312" panose="02010609030101010101"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rightChild==p?</a:t>
            </a:r>
            <a:endParaRPr kumimoji="1" lang="en-US" altLang="zh-CN" sz="2400">
              <a:latin typeface="Times New Roman" panose="02020603050405020304" pitchFamily="18" charset="0"/>
              <a:ea typeface="宋体" panose="02010600030101010101" pitchFamily="2" charset="-122"/>
            </a:endParaRPr>
          </a:p>
        </p:txBody>
      </p:sp>
      <p:sp>
        <p:nvSpPr>
          <p:cNvPr id="98343" name="Line 40"/>
          <p:cNvSpPr>
            <a:spLocks noChangeShapeType="1"/>
          </p:cNvSpPr>
          <p:nvPr/>
        </p:nvSpPr>
        <p:spPr bwMode="auto">
          <a:xfrm flipH="1">
            <a:off x="4597023" y="4922044"/>
            <a:ext cx="6858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44" name="Line 41"/>
          <p:cNvSpPr>
            <a:spLocks noChangeShapeType="1"/>
          </p:cNvSpPr>
          <p:nvPr/>
        </p:nvSpPr>
        <p:spPr bwMode="auto">
          <a:xfrm>
            <a:off x="6197223" y="4922044"/>
            <a:ext cx="685800" cy="685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45" name="Text Box 42"/>
          <p:cNvSpPr txBox="1">
            <a:spLocks noChangeArrowheads="1"/>
          </p:cNvSpPr>
          <p:nvPr/>
        </p:nvSpPr>
        <p:spPr bwMode="auto">
          <a:xfrm>
            <a:off x="4516060" y="4922044"/>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98346" name="Text Box 43"/>
          <p:cNvSpPr txBox="1">
            <a:spLocks noChangeArrowheads="1"/>
          </p:cNvSpPr>
          <p:nvPr/>
        </p:nvSpPr>
        <p:spPr bwMode="auto">
          <a:xfrm>
            <a:off x="6046410" y="4922044"/>
            <a:ext cx="379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cxnSp>
        <p:nvCxnSpPr>
          <p:cNvPr id="98348" name="AutoShape 45"/>
          <p:cNvCxnSpPr>
            <a:cxnSpLocks noChangeShapeType="1"/>
            <a:stCxn id="98337" idx="1"/>
            <a:endCxn id="98340" idx="1"/>
          </p:cNvCxnSpPr>
          <p:nvPr/>
        </p:nvCxnSpPr>
        <p:spPr bwMode="auto">
          <a:xfrm rot="10800000" flipH="1" flipV="1">
            <a:off x="747335" y="2591594"/>
            <a:ext cx="311150" cy="928688"/>
          </a:xfrm>
          <a:prstGeom prst="curvedConnector3">
            <a:avLst>
              <a:gd name="adj1" fmla="val -73468"/>
            </a:avLst>
          </a:prstGeom>
          <a:noFill/>
          <a:ln w="19050" cap="rnd">
            <a:solidFill>
              <a:srgbClr val="009900"/>
            </a:solidFill>
            <a:prstDash val="sysDot"/>
            <a:round/>
            <a:tailEnd type="triangle" w="med" len="med"/>
          </a:ln>
          <a:extLst>
            <a:ext uri="{909E8E84-426E-40DD-AFC4-6F175D3DCCD1}">
              <a14:hiddenFill xmlns:a14="http://schemas.microsoft.com/office/drawing/2010/main">
                <a:noFill/>
              </a14:hiddenFill>
            </a:ext>
          </a:extLst>
        </p:spPr>
      </p:cxnSp>
      <p:sp>
        <p:nvSpPr>
          <p:cNvPr id="2" name="标题 1"/>
          <p:cNvSpPr>
            <a:spLocks noGrp="1"/>
          </p:cNvSpPr>
          <p:nvPr>
            <p:ph type="title"/>
          </p:nvPr>
        </p:nvSpPr>
        <p:spPr/>
        <p:txBody>
          <a:bodyPr/>
          <a:lstStyle/>
          <a:p>
            <a:r>
              <a:rPr lang="zh-CN" altLang="en-US" dirty="0"/>
              <a:t>后序线索化二叉树中寻找当前结点的后继</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Line 1026"/>
          <p:cNvSpPr>
            <a:spLocks noChangeShapeType="1"/>
          </p:cNvSpPr>
          <p:nvPr/>
        </p:nvSpPr>
        <p:spPr bwMode="auto">
          <a:xfrm>
            <a:off x="2514600" y="4038600"/>
            <a:ext cx="0" cy="5334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1" name="Line 1027"/>
          <p:cNvSpPr>
            <a:spLocks noChangeShapeType="1"/>
          </p:cNvSpPr>
          <p:nvPr/>
        </p:nvSpPr>
        <p:spPr bwMode="auto">
          <a:xfrm>
            <a:off x="1981200" y="3200400"/>
            <a:ext cx="533400" cy="6858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2" name="Line 1028"/>
          <p:cNvSpPr>
            <a:spLocks noChangeShapeType="1"/>
          </p:cNvSpPr>
          <p:nvPr/>
        </p:nvSpPr>
        <p:spPr bwMode="auto">
          <a:xfrm>
            <a:off x="1219200" y="4038600"/>
            <a:ext cx="22860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3" name="Line 1029"/>
          <p:cNvSpPr>
            <a:spLocks noChangeShapeType="1"/>
          </p:cNvSpPr>
          <p:nvPr/>
        </p:nvSpPr>
        <p:spPr bwMode="auto">
          <a:xfrm flipH="1">
            <a:off x="838200" y="4038600"/>
            <a:ext cx="228600" cy="5334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4" name="Line 1030"/>
          <p:cNvSpPr>
            <a:spLocks noChangeShapeType="1"/>
          </p:cNvSpPr>
          <p:nvPr/>
        </p:nvSpPr>
        <p:spPr bwMode="auto">
          <a:xfrm flipH="1">
            <a:off x="1219200" y="3276600"/>
            <a:ext cx="45720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5" name="Line 1031"/>
          <p:cNvSpPr>
            <a:spLocks noChangeShapeType="1"/>
          </p:cNvSpPr>
          <p:nvPr/>
        </p:nvSpPr>
        <p:spPr bwMode="auto">
          <a:xfrm>
            <a:off x="1828800" y="3276600"/>
            <a:ext cx="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53" name="Text Box 1033"/>
          <p:cNvSpPr txBox="1">
            <a:spLocks noChangeArrowheads="1"/>
          </p:cNvSpPr>
          <p:nvPr/>
        </p:nvSpPr>
        <p:spPr bwMode="auto">
          <a:xfrm>
            <a:off x="251520" y="5334000"/>
            <a:ext cx="8640960" cy="954107"/>
          </a:xfrm>
          <a:prstGeom prst="rect">
            <a:avLst/>
          </a:prstGeom>
          <a:noFill/>
          <a:ln w="9525">
            <a:noFill/>
            <a:miter lim="800000"/>
          </a:ln>
          <a:effectLst/>
        </p:spPr>
        <p:txBody>
          <a:bodyPr wrap="square">
            <a:spAutoFit/>
          </a:bodyPr>
          <a:lstStyle/>
          <a:p>
            <a:pPr algn="ctr" eaLnBrk="1" fontAlgn="auto" hangingPunct="1">
              <a:spcBef>
                <a:spcPts val="0"/>
              </a:spcBef>
              <a:spcAft>
                <a:spcPts val="0"/>
              </a:spcAft>
              <a:defRPr/>
            </a:pPr>
            <a:r>
              <a:rPr lang="zh-CN" altLang="en-US" sz="2800" dirty="0">
                <a:latin typeface="+mn-lt"/>
                <a:ea typeface="仿宋_GB2312" panose="02010609030101010101" pitchFamily="49" charset="-122"/>
              </a:rPr>
              <a:t>三种结点：（</a:t>
            </a:r>
            <a:r>
              <a:rPr lang="en-US" altLang="zh-CN" sz="2800" dirty="0">
                <a:latin typeface="+mn-lt"/>
                <a:ea typeface="仿宋_GB2312" panose="02010609030101010101" pitchFamily="49" charset="-122"/>
              </a:rPr>
              <a:t>1</a:t>
            </a:r>
            <a:r>
              <a:rPr lang="zh-CN" altLang="en-US" sz="2800" dirty="0">
                <a:latin typeface="+mn-lt"/>
                <a:ea typeface="仿宋_GB2312" panose="02010609030101010101" pitchFamily="49" charset="-122"/>
              </a:rPr>
              <a:t>）表头，如</a:t>
            </a:r>
            <a:r>
              <a:rPr lang="en-US" altLang="zh-CN" sz="2800" dirty="0">
                <a:latin typeface="+mn-lt"/>
                <a:ea typeface="仿宋_GB2312" panose="02010609030101010101" pitchFamily="49" charset="-122"/>
              </a:rPr>
              <a:t>A</a:t>
            </a:r>
            <a:r>
              <a:rPr lang="zh-CN" altLang="en-US" sz="2800" dirty="0">
                <a:latin typeface="+mn-lt"/>
                <a:ea typeface="仿宋_GB2312" panose="02010609030101010101" pitchFamily="49" charset="-122"/>
              </a:rPr>
              <a:t>、</a:t>
            </a:r>
            <a:r>
              <a:rPr lang="en-US" altLang="zh-CN" sz="2800" dirty="0">
                <a:latin typeface="+mn-lt"/>
                <a:ea typeface="仿宋_GB2312" panose="02010609030101010101" pitchFamily="49" charset="-122"/>
              </a:rPr>
              <a:t>B</a:t>
            </a:r>
            <a:r>
              <a:rPr lang="zh-CN" altLang="en-US" sz="2800" dirty="0">
                <a:latin typeface="+mn-lt"/>
                <a:ea typeface="仿宋_GB2312" panose="02010609030101010101" pitchFamily="49" charset="-122"/>
              </a:rPr>
              <a:t>等；（</a:t>
            </a:r>
            <a:r>
              <a:rPr lang="en-US" altLang="zh-CN" sz="2800" dirty="0">
                <a:latin typeface="+mn-lt"/>
                <a:ea typeface="仿宋_GB2312" panose="02010609030101010101" pitchFamily="49" charset="-122"/>
              </a:rPr>
              <a:t>2</a:t>
            </a:r>
            <a:r>
              <a:rPr lang="zh-CN" altLang="en-US" sz="2800" dirty="0">
                <a:latin typeface="+mn-lt"/>
                <a:ea typeface="仿宋_GB2312" panose="02010609030101010101" pitchFamily="49" charset="-122"/>
              </a:rPr>
              <a:t>）分支结点：如</a:t>
            </a:r>
            <a:r>
              <a:rPr lang="en-US" altLang="zh-CN" sz="2800" dirty="0">
                <a:latin typeface="+mn-lt"/>
                <a:ea typeface="仿宋_GB2312" panose="02010609030101010101" pitchFamily="49" charset="-122"/>
              </a:rPr>
              <a:t>A</a:t>
            </a:r>
            <a:r>
              <a:rPr lang="zh-CN" altLang="en-US" sz="2800" dirty="0">
                <a:latin typeface="+mn-lt"/>
                <a:ea typeface="仿宋_GB2312" panose="02010609030101010101" pitchFamily="49" charset="-122"/>
              </a:rPr>
              <a:t>表中表示对</a:t>
            </a:r>
            <a:r>
              <a:rPr lang="en-US" altLang="zh-CN" sz="2800" dirty="0">
                <a:latin typeface="+mn-lt"/>
                <a:ea typeface="仿宋_GB2312" panose="02010609030101010101" pitchFamily="49" charset="-122"/>
              </a:rPr>
              <a:t>B</a:t>
            </a:r>
            <a:r>
              <a:rPr lang="zh-CN" altLang="en-US" sz="2800" dirty="0">
                <a:latin typeface="+mn-lt"/>
                <a:ea typeface="仿宋_GB2312" panose="02010609030101010101" pitchFamily="49" charset="-122"/>
              </a:rPr>
              <a:t>引用的结点；（</a:t>
            </a:r>
            <a:r>
              <a:rPr lang="en-US" altLang="zh-CN" sz="2800" dirty="0">
                <a:latin typeface="+mn-lt"/>
                <a:ea typeface="仿宋_GB2312" panose="02010609030101010101" pitchFamily="49" charset="-122"/>
              </a:rPr>
              <a:t>3</a:t>
            </a:r>
            <a:r>
              <a:rPr lang="zh-CN" altLang="en-US" sz="2800" dirty="0">
                <a:latin typeface="+mn-lt"/>
                <a:ea typeface="仿宋_GB2312" panose="02010609030101010101" pitchFamily="49" charset="-122"/>
              </a:rPr>
              <a:t>）叶结点。</a:t>
            </a:r>
            <a:endParaRPr lang="en-US" altLang="zh-CN" sz="2800" dirty="0">
              <a:latin typeface="+mn-lt"/>
              <a:ea typeface="仿宋_GB2312" panose="02010609030101010101" pitchFamily="49" charset="-122"/>
            </a:endParaRPr>
          </a:p>
        </p:txBody>
      </p:sp>
      <p:sp>
        <p:nvSpPr>
          <p:cNvPr id="99339" name="Oval 1035"/>
          <p:cNvSpPr>
            <a:spLocks noChangeArrowheads="1"/>
          </p:cNvSpPr>
          <p:nvPr/>
        </p:nvSpPr>
        <p:spPr bwMode="auto">
          <a:xfrm>
            <a:off x="1600200" y="28956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0" name="Oval 1036"/>
          <p:cNvSpPr>
            <a:spLocks noChangeArrowheads="1"/>
          </p:cNvSpPr>
          <p:nvPr/>
        </p:nvSpPr>
        <p:spPr bwMode="auto">
          <a:xfrm>
            <a:off x="1600200" y="36576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1" name="Oval 1037"/>
          <p:cNvSpPr>
            <a:spLocks noChangeArrowheads="1"/>
          </p:cNvSpPr>
          <p:nvPr/>
        </p:nvSpPr>
        <p:spPr bwMode="auto">
          <a:xfrm>
            <a:off x="1219200" y="44196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2" name="Oval 1038"/>
          <p:cNvSpPr>
            <a:spLocks noChangeArrowheads="1"/>
          </p:cNvSpPr>
          <p:nvPr/>
        </p:nvSpPr>
        <p:spPr bwMode="auto">
          <a:xfrm>
            <a:off x="609600" y="44196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3" name="Oval 1039"/>
          <p:cNvSpPr>
            <a:spLocks noChangeArrowheads="1"/>
          </p:cNvSpPr>
          <p:nvPr/>
        </p:nvSpPr>
        <p:spPr bwMode="auto">
          <a:xfrm>
            <a:off x="914400" y="36576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4" name="Oval 1040"/>
          <p:cNvSpPr>
            <a:spLocks noChangeArrowheads="1"/>
          </p:cNvSpPr>
          <p:nvPr/>
        </p:nvSpPr>
        <p:spPr bwMode="auto">
          <a:xfrm>
            <a:off x="2286000" y="36576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5" name="Oval 1041"/>
          <p:cNvSpPr>
            <a:spLocks noChangeArrowheads="1"/>
          </p:cNvSpPr>
          <p:nvPr/>
        </p:nvSpPr>
        <p:spPr bwMode="auto">
          <a:xfrm>
            <a:off x="2286000" y="44196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6" name="Text Box 1042"/>
          <p:cNvSpPr txBox="1">
            <a:spLocks noChangeArrowheads="1"/>
          </p:cNvSpPr>
          <p:nvPr/>
        </p:nvSpPr>
        <p:spPr bwMode="auto">
          <a:xfrm>
            <a:off x="1616075" y="2833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9347" name="Text Box 1043"/>
          <p:cNvSpPr txBox="1">
            <a:spLocks noChangeArrowheads="1"/>
          </p:cNvSpPr>
          <p:nvPr/>
        </p:nvSpPr>
        <p:spPr bwMode="auto">
          <a:xfrm>
            <a:off x="939800" y="35956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99348" name="Text Box 1044"/>
          <p:cNvSpPr txBox="1">
            <a:spLocks noChangeArrowheads="1"/>
          </p:cNvSpPr>
          <p:nvPr/>
        </p:nvSpPr>
        <p:spPr bwMode="auto">
          <a:xfrm>
            <a:off x="1616075" y="3595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99349" name="Text Box 1045"/>
          <p:cNvSpPr txBox="1">
            <a:spLocks noChangeArrowheads="1"/>
          </p:cNvSpPr>
          <p:nvPr/>
        </p:nvSpPr>
        <p:spPr bwMode="auto">
          <a:xfrm>
            <a:off x="2362200" y="3595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99350" name="Text Box 1046"/>
          <p:cNvSpPr txBox="1">
            <a:spLocks noChangeArrowheads="1"/>
          </p:cNvSpPr>
          <p:nvPr/>
        </p:nvSpPr>
        <p:spPr bwMode="auto">
          <a:xfrm>
            <a:off x="635000" y="43576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99351" name="Text Box 1047"/>
          <p:cNvSpPr txBox="1">
            <a:spLocks noChangeArrowheads="1"/>
          </p:cNvSpPr>
          <p:nvPr/>
        </p:nvSpPr>
        <p:spPr bwMode="auto">
          <a:xfrm>
            <a:off x="1254125" y="43576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99352" name="Text Box 1048"/>
          <p:cNvSpPr txBox="1">
            <a:spLocks noChangeArrowheads="1"/>
          </p:cNvSpPr>
          <p:nvPr/>
        </p:nvSpPr>
        <p:spPr bwMode="auto">
          <a:xfrm>
            <a:off x="2292350" y="43576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99353" name="Rectangle 1049"/>
          <p:cNvSpPr>
            <a:spLocks noChangeArrowheads="1"/>
          </p:cNvSpPr>
          <p:nvPr/>
        </p:nvSpPr>
        <p:spPr bwMode="auto">
          <a:xfrm>
            <a:off x="3810000" y="2819400"/>
            <a:ext cx="609600" cy="457200"/>
          </a:xfrm>
          <a:prstGeom prst="rect">
            <a:avLst/>
          </a:prstGeom>
          <a:solidFill>
            <a:srgbClr val="FFFFCC"/>
          </a:solidFill>
          <a:ln w="19050">
            <a:solidFill>
              <a:srgbClr val="CC33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54" name="Line 1050"/>
          <p:cNvSpPr>
            <a:spLocks noChangeShapeType="1"/>
          </p:cNvSpPr>
          <p:nvPr/>
        </p:nvSpPr>
        <p:spPr bwMode="auto">
          <a:xfrm>
            <a:off x="4191000" y="2819400"/>
            <a:ext cx="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5" name="Line 1051"/>
          <p:cNvSpPr>
            <a:spLocks noChangeShapeType="1"/>
          </p:cNvSpPr>
          <p:nvPr/>
        </p:nvSpPr>
        <p:spPr bwMode="auto">
          <a:xfrm>
            <a:off x="4343400" y="3048000"/>
            <a:ext cx="381000" cy="0"/>
          </a:xfrm>
          <a:prstGeom prst="line">
            <a:avLst/>
          </a:prstGeom>
          <a:noFill/>
          <a:ln w="38100">
            <a:solidFill>
              <a:srgbClr val="CC33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6" name="Rectangle 1052"/>
          <p:cNvSpPr>
            <a:spLocks noChangeArrowheads="1"/>
          </p:cNvSpPr>
          <p:nvPr/>
        </p:nvSpPr>
        <p:spPr bwMode="auto">
          <a:xfrm>
            <a:off x="4724400" y="2819400"/>
            <a:ext cx="609600" cy="457200"/>
          </a:xfrm>
          <a:prstGeom prst="rect">
            <a:avLst/>
          </a:prstGeom>
          <a:solidFill>
            <a:srgbClr val="FFFFCC"/>
          </a:solidFill>
          <a:ln w="19050">
            <a:solidFill>
              <a:srgbClr val="CC33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57" name="Line 1053"/>
          <p:cNvSpPr>
            <a:spLocks noChangeShapeType="1"/>
          </p:cNvSpPr>
          <p:nvPr/>
        </p:nvSpPr>
        <p:spPr bwMode="auto">
          <a:xfrm>
            <a:off x="5105400" y="2819400"/>
            <a:ext cx="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8" name="Line 1054"/>
          <p:cNvSpPr>
            <a:spLocks noChangeShapeType="1"/>
          </p:cNvSpPr>
          <p:nvPr/>
        </p:nvSpPr>
        <p:spPr bwMode="auto">
          <a:xfrm>
            <a:off x="5257800" y="3048000"/>
            <a:ext cx="381000" cy="0"/>
          </a:xfrm>
          <a:prstGeom prst="line">
            <a:avLst/>
          </a:prstGeom>
          <a:noFill/>
          <a:ln w="38100">
            <a:solidFill>
              <a:srgbClr val="CC33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9" name="Rectangle 1055"/>
          <p:cNvSpPr>
            <a:spLocks noChangeArrowheads="1"/>
          </p:cNvSpPr>
          <p:nvPr/>
        </p:nvSpPr>
        <p:spPr bwMode="auto">
          <a:xfrm>
            <a:off x="5638800" y="2819400"/>
            <a:ext cx="609600" cy="457200"/>
          </a:xfrm>
          <a:prstGeom prst="rect">
            <a:avLst/>
          </a:prstGeom>
          <a:solidFill>
            <a:srgbClr val="FFFFCC"/>
          </a:solidFill>
          <a:ln w="19050">
            <a:solidFill>
              <a:srgbClr val="CC33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60" name="Line 1056"/>
          <p:cNvSpPr>
            <a:spLocks noChangeShapeType="1"/>
          </p:cNvSpPr>
          <p:nvPr/>
        </p:nvSpPr>
        <p:spPr bwMode="auto">
          <a:xfrm>
            <a:off x="6019800" y="2819400"/>
            <a:ext cx="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1" name="Line 1057"/>
          <p:cNvSpPr>
            <a:spLocks noChangeShapeType="1"/>
          </p:cNvSpPr>
          <p:nvPr/>
        </p:nvSpPr>
        <p:spPr bwMode="auto">
          <a:xfrm>
            <a:off x="6172200" y="3048000"/>
            <a:ext cx="381000" cy="0"/>
          </a:xfrm>
          <a:prstGeom prst="line">
            <a:avLst/>
          </a:prstGeom>
          <a:noFill/>
          <a:ln w="38100">
            <a:solidFill>
              <a:srgbClr val="CC33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2" name="Rectangle 1058"/>
          <p:cNvSpPr>
            <a:spLocks noChangeArrowheads="1"/>
          </p:cNvSpPr>
          <p:nvPr/>
        </p:nvSpPr>
        <p:spPr bwMode="auto">
          <a:xfrm>
            <a:off x="6553200" y="2819400"/>
            <a:ext cx="609600" cy="457200"/>
          </a:xfrm>
          <a:prstGeom prst="rect">
            <a:avLst/>
          </a:prstGeom>
          <a:solidFill>
            <a:srgbClr val="FFFFCC"/>
          </a:solidFill>
          <a:ln w="19050">
            <a:solidFill>
              <a:srgbClr val="CC33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63" name="Line 1059"/>
          <p:cNvSpPr>
            <a:spLocks noChangeShapeType="1"/>
          </p:cNvSpPr>
          <p:nvPr/>
        </p:nvSpPr>
        <p:spPr bwMode="auto">
          <a:xfrm>
            <a:off x="6934200" y="2819400"/>
            <a:ext cx="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4" name="Rectangle 1060"/>
          <p:cNvSpPr>
            <a:spLocks noChangeArrowheads="1"/>
          </p:cNvSpPr>
          <p:nvPr/>
        </p:nvSpPr>
        <p:spPr bwMode="auto">
          <a:xfrm>
            <a:off x="6553200" y="3657600"/>
            <a:ext cx="609600" cy="457200"/>
          </a:xfrm>
          <a:prstGeom prst="rect">
            <a:avLst/>
          </a:prstGeom>
          <a:solidFill>
            <a:srgbClr val="FFFFCC"/>
          </a:solidFill>
          <a:ln w="19050">
            <a:solidFill>
              <a:srgbClr val="CC33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65" name="Line 1061"/>
          <p:cNvSpPr>
            <a:spLocks noChangeShapeType="1"/>
          </p:cNvSpPr>
          <p:nvPr/>
        </p:nvSpPr>
        <p:spPr bwMode="auto">
          <a:xfrm>
            <a:off x="6934200" y="3657600"/>
            <a:ext cx="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6" name="Line 1062"/>
          <p:cNvSpPr>
            <a:spLocks noChangeShapeType="1"/>
          </p:cNvSpPr>
          <p:nvPr/>
        </p:nvSpPr>
        <p:spPr bwMode="auto">
          <a:xfrm>
            <a:off x="7086600" y="3886200"/>
            <a:ext cx="381000" cy="0"/>
          </a:xfrm>
          <a:prstGeom prst="line">
            <a:avLst/>
          </a:prstGeom>
          <a:noFill/>
          <a:ln w="38100">
            <a:solidFill>
              <a:srgbClr val="CC33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7" name="Rectangle 1063"/>
          <p:cNvSpPr>
            <a:spLocks noChangeArrowheads="1"/>
          </p:cNvSpPr>
          <p:nvPr/>
        </p:nvSpPr>
        <p:spPr bwMode="auto">
          <a:xfrm>
            <a:off x="7467600" y="3657600"/>
            <a:ext cx="609600" cy="457200"/>
          </a:xfrm>
          <a:prstGeom prst="rect">
            <a:avLst/>
          </a:prstGeom>
          <a:solidFill>
            <a:srgbClr val="FFFFCC"/>
          </a:solidFill>
          <a:ln w="19050">
            <a:solidFill>
              <a:srgbClr val="CC33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68" name="Line 1064"/>
          <p:cNvSpPr>
            <a:spLocks noChangeShapeType="1"/>
          </p:cNvSpPr>
          <p:nvPr/>
        </p:nvSpPr>
        <p:spPr bwMode="auto">
          <a:xfrm>
            <a:off x="7848600" y="3657600"/>
            <a:ext cx="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9" name="Rectangle 1065"/>
          <p:cNvSpPr>
            <a:spLocks noChangeArrowheads="1"/>
          </p:cNvSpPr>
          <p:nvPr/>
        </p:nvSpPr>
        <p:spPr bwMode="auto">
          <a:xfrm>
            <a:off x="4724400" y="4495800"/>
            <a:ext cx="609600" cy="457200"/>
          </a:xfrm>
          <a:prstGeom prst="rect">
            <a:avLst/>
          </a:prstGeom>
          <a:solidFill>
            <a:srgbClr val="FFFFCC"/>
          </a:solidFill>
          <a:ln w="19050">
            <a:solidFill>
              <a:srgbClr val="CC33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70" name="Line 1066"/>
          <p:cNvSpPr>
            <a:spLocks noChangeShapeType="1"/>
          </p:cNvSpPr>
          <p:nvPr/>
        </p:nvSpPr>
        <p:spPr bwMode="auto">
          <a:xfrm>
            <a:off x="5105400" y="4495800"/>
            <a:ext cx="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1" name="Line 1067"/>
          <p:cNvSpPr>
            <a:spLocks noChangeShapeType="1"/>
          </p:cNvSpPr>
          <p:nvPr/>
        </p:nvSpPr>
        <p:spPr bwMode="auto">
          <a:xfrm>
            <a:off x="4953000" y="3048000"/>
            <a:ext cx="0" cy="1447800"/>
          </a:xfrm>
          <a:prstGeom prst="line">
            <a:avLst/>
          </a:prstGeom>
          <a:noFill/>
          <a:ln w="28575">
            <a:solidFill>
              <a:schemeClr val="hlink"/>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2" name="Line 1068"/>
          <p:cNvSpPr>
            <a:spLocks noChangeShapeType="1"/>
          </p:cNvSpPr>
          <p:nvPr/>
        </p:nvSpPr>
        <p:spPr bwMode="auto">
          <a:xfrm>
            <a:off x="6781800" y="3048000"/>
            <a:ext cx="0" cy="609600"/>
          </a:xfrm>
          <a:prstGeom prst="line">
            <a:avLst/>
          </a:prstGeom>
          <a:noFill/>
          <a:ln w="28575">
            <a:solidFill>
              <a:schemeClr val="hlink"/>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3" name="Rectangle 1069"/>
          <p:cNvSpPr>
            <a:spLocks noChangeArrowheads="1"/>
          </p:cNvSpPr>
          <p:nvPr/>
        </p:nvSpPr>
        <p:spPr bwMode="auto">
          <a:xfrm>
            <a:off x="5638800" y="4495800"/>
            <a:ext cx="609600" cy="457200"/>
          </a:xfrm>
          <a:prstGeom prst="rect">
            <a:avLst/>
          </a:prstGeom>
          <a:solidFill>
            <a:srgbClr val="FFFFCC"/>
          </a:solidFill>
          <a:ln w="19050">
            <a:solidFill>
              <a:srgbClr val="CC33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74" name="Line 1070"/>
          <p:cNvSpPr>
            <a:spLocks noChangeShapeType="1"/>
          </p:cNvSpPr>
          <p:nvPr/>
        </p:nvSpPr>
        <p:spPr bwMode="auto">
          <a:xfrm>
            <a:off x="6019800" y="4495800"/>
            <a:ext cx="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5" name="Line 1071"/>
          <p:cNvSpPr>
            <a:spLocks noChangeShapeType="1"/>
          </p:cNvSpPr>
          <p:nvPr/>
        </p:nvSpPr>
        <p:spPr bwMode="auto">
          <a:xfrm>
            <a:off x="6172200" y="4724400"/>
            <a:ext cx="381000" cy="0"/>
          </a:xfrm>
          <a:prstGeom prst="line">
            <a:avLst/>
          </a:prstGeom>
          <a:noFill/>
          <a:ln w="38100">
            <a:solidFill>
              <a:srgbClr val="CC33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6" name="Rectangle 1072"/>
          <p:cNvSpPr>
            <a:spLocks noChangeArrowheads="1"/>
          </p:cNvSpPr>
          <p:nvPr/>
        </p:nvSpPr>
        <p:spPr bwMode="auto">
          <a:xfrm>
            <a:off x="6553200" y="4495800"/>
            <a:ext cx="609600" cy="457200"/>
          </a:xfrm>
          <a:prstGeom prst="rect">
            <a:avLst/>
          </a:prstGeom>
          <a:solidFill>
            <a:srgbClr val="FFFFCC"/>
          </a:solidFill>
          <a:ln w="19050">
            <a:solidFill>
              <a:srgbClr val="CC33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77" name="Line 1073"/>
          <p:cNvSpPr>
            <a:spLocks noChangeShapeType="1"/>
          </p:cNvSpPr>
          <p:nvPr/>
        </p:nvSpPr>
        <p:spPr bwMode="auto">
          <a:xfrm>
            <a:off x="6934200" y="4495800"/>
            <a:ext cx="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8" name="Line 1074"/>
          <p:cNvSpPr>
            <a:spLocks noChangeShapeType="1"/>
          </p:cNvSpPr>
          <p:nvPr/>
        </p:nvSpPr>
        <p:spPr bwMode="auto">
          <a:xfrm>
            <a:off x="5257800" y="4724400"/>
            <a:ext cx="381000" cy="0"/>
          </a:xfrm>
          <a:prstGeom prst="line">
            <a:avLst/>
          </a:prstGeom>
          <a:noFill/>
          <a:ln w="38100">
            <a:solidFill>
              <a:srgbClr val="CC33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9" name="Text Box 1075"/>
          <p:cNvSpPr txBox="1">
            <a:spLocks noChangeArrowheads="1"/>
          </p:cNvSpPr>
          <p:nvPr/>
        </p:nvSpPr>
        <p:spPr bwMode="auto">
          <a:xfrm>
            <a:off x="3792538" y="2727325"/>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9380" name="Text Box 1076"/>
          <p:cNvSpPr txBox="1">
            <a:spLocks noChangeArrowheads="1"/>
          </p:cNvSpPr>
          <p:nvPr/>
        </p:nvSpPr>
        <p:spPr bwMode="auto">
          <a:xfrm>
            <a:off x="4706938" y="4403725"/>
            <a:ext cx="455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99381" name="Text Box 1077"/>
          <p:cNvSpPr txBox="1">
            <a:spLocks noChangeArrowheads="1"/>
          </p:cNvSpPr>
          <p:nvPr/>
        </p:nvSpPr>
        <p:spPr bwMode="auto">
          <a:xfrm>
            <a:off x="5640388" y="4419600"/>
            <a:ext cx="455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99382" name="Text Box 1078"/>
          <p:cNvSpPr txBox="1">
            <a:spLocks noChangeArrowheads="1"/>
          </p:cNvSpPr>
          <p:nvPr/>
        </p:nvSpPr>
        <p:spPr bwMode="auto">
          <a:xfrm>
            <a:off x="6518275" y="4419600"/>
            <a:ext cx="431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99383" name="Text Box 1079"/>
          <p:cNvSpPr txBox="1">
            <a:spLocks noChangeArrowheads="1"/>
          </p:cNvSpPr>
          <p:nvPr/>
        </p:nvSpPr>
        <p:spPr bwMode="auto">
          <a:xfrm>
            <a:off x="5618163" y="2743200"/>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99384" name="Text Box 1080"/>
          <p:cNvSpPr txBox="1">
            <a:spLocks noChangeArrowheads="1"/>
          </p:cNvSpPr>
          <p:nvPr/>
        </p:nvSpPr>
        <p:spPr bwMode="auto">
          <a:xfrm>
            <a:off x="6532563" y="3565525"/>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99385" name="Text Box 1081"/>
          <p:cNvSpPr txBox="1">
            <a:spLocks noChangeArrowheads="1"/>
          </p:cNvSpPr>
          <p:nvPr/>
        </p:nvSpPr>
        <p:spPr bwMode="auto">
          <a:xfrm>
            <a:off x="7391400" y="3551238"/>
            <a:ext cx="5000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en-US" altLang="zh-CN" dirty="0"/>
              <a:t>5.6 </a:t>
            </a:r>
            <a:r>
              <a:rPr lang="zh-CN" altLang="en-US" dirty="0"/>
              <a:t>树与森林</a:t>
            </a:r>
            <a:endParaRPr lang="zh-CN" altLang="en-US" dirty="0"/>
          </a:p>
        </p:txBody>
      </p:sp>
      <p:sp>
        <p:nvSpPr>
          <p:cNvPr id="3" name="内容占位符 2"/>
          <p:cNvSpPr>
            <a:spLocks noGrp="1"/>
          </p:cNvSpPr>
          <p:nvPr>
            <p:ph idx="1"/>
          </p:nvPr>
        </p:nvSpPr>
        <p:spPr>
          <a:xfrm>
            <a:off x="628650" y="1825625"/>
            <a:ext cx="7886700" cy="977900"/>
          </a:xfrm>
        </p:spPr>
        <p:txBody>
          <a:bodyPr>
            <a:normAutofit fontScale="92500" lnSpcReduction="20000"/>
          </a:bodyPr>
          <a:lstStyle/>
          <a:p>
            <a:r>
              <a:rPr lang="en-US" altLang="zh-CN" dirty="0"/>
              <a:t>5.6.1 </a:t>
            </a:r>
            <a:r>
              <a:rPr lang="zh-CN" altLang="en-US" dirty="0"/>
              <a:t>树的存储表示</a:t>
            </a:r>
            <a:endParaRPr lang="zh-CN" altLang="en-US" dirty="0"/>
          </a:p>
          <a:p>
            <a:pPr lvl="1"/>
            <a:r>
              <a:rPr lang="zh-CN" altLang="en-US" dirty="0"/>
              <a:t>广义表表示</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Line 3"/>
          <p:cNvSpPr>
            <a:spLocks noChangeShapeType="1"/>
          </p:cNvSpPr>
          <p:nvPr/>
        </p:nvSpPr>
        <p:spPr bwMode="auto">
          <a:xfrm>
            <a:off x="2759075" y="3352800"/>
            <a:ext cx="0" cy="5334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56" name="Line 4"/>
          <p:cNvSpPr>
            <a:spLocks noChangeShapeType="1"/>
          </p:cNvSpPr>
          <p:nvPr/>
        </p:nvSpPr>
        <p:spPr bwMode="auto">
          <a:xfrm>
            <a:off x="2225675" y="2514600"/>
            <a:ext cx="533400" cy="6858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57" name="Line 5"/>
          <p:cNvSpPr>
            <a:spLocks noChangeShapeType="1"/>
          </p:cNvSpPr>
          <p:nvPr/>
        </p:nvSpPr>
        <p:spPr bwMode="auto">
          <a:xfrm>
            <a:off x="1463675" y="3352800"/>
            <a:ext cx="22860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58" name="Line 6"/>
          <p:cNvSpPr>
            <a:spLocks noChangeShapeType="1"/>
          </p:cNvSpPr>
          <p:nvPr/>
        </p:nvSpPr>
        <p:spPr bwMode="auto">
          <a:xfrm flipH="1">
            <a:off x="1082675" y="3352800"/>
            <a:ext cx="228600" cy="5334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59" name="Line 7"/>
          <p:cNvSpPr>
            <a:spLocks noChangeShapeType="1"/>
          </p:cNvSpPr>
          <p:nvPr/>
        </p:nvSpPr>
        <p:spPr bwMode="auto">
          <a:xfrm flipH="1">
            <a:off x="1463675" y="2590800"/>
            <a:ext cx="45720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0" name="Line 8"/>
          <p:cNvSpPr>
            <a:spLocks noChangeShapeType="1"/>
          </p:cNvSpPr>
          <p:nvPr/>
        </p:nvSpPr>
        <p:spPr bwMode="auto">
          <a:xfrm>
            <a:off x="2073275" y="2590800"/>
            <a:ext cx="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1" name="Oval 9"/>
          <p:cNvSpPr>
            <a:spLocks noChangeArrowheads="1"/>
          </p:cNvSpPr>
          <p:nvPr/>
        </p:nvSpPr>
        <p:spPr bwMode="auto">
          <a:xfrm>
            <a:off x="1844675" y="2209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2" name="Oval 10"/>
          <p:cNvSpPr>
            <a:spLocks noChangeArrowheads="1"/>
          </p:cNvSpPr>
          <p:nvPr/>
        </p:nvSpPr>
        <p:spPr bwMode="auto">
          <a:xfrm>
            <a:off x="1844675" y="2971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3" name="Oval 11"/>
          <p:cNvSpPr>
            <a:spLocks noChangeArrowheads="1"/>
          </p:cNvSpPr>
          <p:nvPr/>
        </p:nvSpPr>
        <p:spPr bwMode="auto">
          <a:xfrm>
            <a:off x="1463675" y="3733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4" name="Oval 12"/>
          <p:cNvSpPr>
            <a:spLocks noChangeArrowheads="1"/>
          </p:cNvSpPr>
          <p:nvPr/>
        </p:nvSpPr>
        <p:spPr bwMode="auto">
          <a:xfrm>
            <a:off x="854075" y="3733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5" name="Oval 13"/>
          <p:cNvSpPr>
            <a:spLocks noChangeArrowheads="1"/>
          </p:cNvSpPr>
          <p:nvPr/>
        </p:nvSpPr>
        <p:spPr bwMode="auto">
          <a:xfrm>
            <a:off x="1158875" y="2971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6" name="Oval 14"/>
          <p:cNvSpPr>
            <a:spLocks noChangeArrowheads="1"/>
          </p:cNvSpPr>
          <p:nvPr/>
        </p:nvSpPr>
        <p:spPr bwMode="auto">
          <a:xfrm>
            <a:off x="2530475" y="2971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7" name="Oval 15"/>
          <p:cNvSpPr>
            <a:spLocks noChangeArrowheads="1"/>
          </p:cNvSpPr>
          <p:nvPr/>
        </p:nvSpPr>
        <p:spPr bwMode="auto">
          <a:xfrm>
            <a:off x="2530475" y="3733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8" name="Text Box 16"/>
          <p:cNvSpPr txBox="1">
            <a:spLocks noChangeArrowheads="1"/>
          </p:cNvSpPr>
          <p:nvPr/>
        </p:nvSpPr>
        <p:spPr bwMode="auto">
          <a:xfrm>
            <a:off x="1860550" y="2147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00369" name="Text Box 17"/>
          <p:cNvSpPr txBox="1">
            <a:spLocks noChangeArrowheads="1"/>
          </p:cNvSpPr>
          <p:nvPr/>
        </p:nvSpPr>
        <p:spPr bwMode="auto">
          <a:xfrm>
            <a:off x="1184275" y="29098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00370" name="Text Box 18"/>
          <p:cNvSpPr txBox="1">
            <a:spLocks noChangeArrowheads="1"/>
          </p:cNvSpPr>
          <p:nvPr/>
        </p:nvSpPr>
        <p:spPr bwMode="auto">
          <a:xfrm>
            <a:off x="1860550" y="2909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00371" name="Text Box 19"/>
          <p:cNvSpPr txBox="1">
            <a:spLocks noChangeArrowheads="1"/>
          </p:cNvSpPr>
          <p:nvPr/>
        </p:nvSpPr>
        <p:spPr bwMode="auto">
          <a:xfrm>
            <a:off x="2606675" y="2909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00372" name="Text Box 20"/>
          <p:cNvSpPr txBox="1">
            <a:spLocks noChangeArrowheads="1"/>
          </p:cNvSpPr>
          <p:nvPr/>
        </p:nvSpPr>
        <p:spPr bwMode="auto">
          <a:xfrm>
            <a:off x="879475" y="36718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00373" name="Text Box 21"/>
          <p:cNvSpPr txBox="1">
            <a:spLocks noChangeArrowheads="1"/>
          </p:cNvSpPr>
          <p:nvPr/>
        </p:nvSpPr>
        <p:spPr bwMode="auto">
          <a:xfrm>
            <a:off x="1498600" y="36718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00374" name="Text Box 22"/>
          <p:cNvSpPr txBox="1">
            <a:spLocks noChangeArrowheads="1"/>
          </p:cNvSpPr>
          <p:nvPr/>
        </p:nvSpPr>
        <p:spPr bwMode="auto">
          <a:xfrm>
            <a:off x="2536825" y="36718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00375" name="Rectangle 23"/>
          <p:cNvSpPr>
            <a:spLocks noChangeArrowheads="1"/>
          </p:cNvSpPr>
          <p:nvPr/>
        </p:nvSpPr>
        <p:spPr bwMode="auto">
          <a:xfrm>
            <a:off x="4419600" y="2438400"/>
            <a:ext cx="3810000" cy="106680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00376" name="Line 24"/>
          <p:cNvSpPr>
            <a:spLocks noChangeShapeType="1"/>
          </p:cNvSpPr>
          <p:nvPr/>
        </p:nvSpPr>
        <p:spPr bwMode="auto">
          <a:xfrm>
            <a:off x="4419600" y="2971800"/>
            <a:ext cx="3810000" cy="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7" name="Text Box 25"/>
          <p:cNvSpPr txBox="1">
            <a:spLocks noChangeArrowheads="1"/>
          </p:cNvSpPr>
          <p:nvPr/>
        </p:nvSpPr>
        <p:spPr bwMode="auto">
          <a:xfrm>
            <a:off x="3562350" y="2438400"/>
            <a:ext cx="857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data</a:t>
            </a:r>
            <a:endParaRPr kumimoji="1" lang="en-US" altLang="zh-CN" sz="2400">
              <a:latin typeface="Times New Roman" panose="02020603050405020304" pitchFamily="18" charset="0"/>
              <a:ea typeface="宋体" panose="02010600030101010101" pitchFamily="2" charset="-122"/>
            </a:endParaRPr>
          </a:p>
        </p:txBody>
      </p:sp>
      <p:sp>
        <p:nvSpPr>
          <p:cNvPr id="100378" name="Text Box 26"/>
          <p:cNvSpPr txBox="1">
            <a:spLocks noChangeArrowheads="1"/>
          </p:cNvSpPr>
          <p:nvPr/>
        </p:nvSpPr>
        <p:spPr bwMode="auto">
          <a:xfrm>
            <a:off x="3276600" y="2971800"/>
            <a:ext cx="11922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parent</a:t>
            </a:r>
            <a:endParaRPr kumimoji="1" lang="en-US" altLang="zh-CN" sz="2400">
              <a:latin typeface="Times New Roman" panose="02020603050405020304" pitchFamily="18" charset="0"/>
              <a:ea typeface="宋体" panose="02010600030101010101" pitchFamily="2" charset="-122"/>
            </a:endParaRPr>
          </a:p>
        </p:txBody>
      </p:sp>
      <p:sp>
        <p:nvSpPr>
          <p:cNvPr id="100379" name="Text Box 27"/>
          <p:cNvSpPr txBox="1">
            <a:spLocks noChangeArrowheads="1"/>
          </p:cNvSpPr>
          <p:nvPr/>
        </p:nvSpPr>
        <p:spPr bwMode="auto">
          <a:xfrm>
            <a:off x="4497388" y="2438400"/>
            <a:ext cx="36115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A    B    C   D   E   F  G</a:t>
            </a:r>
            <a:endParaRPr kumimoji="1" lang="en-US" altLang="zh-CN" sz="2400">
              <a:latin typeface="Times New Roman" panose="02020603050405020304" pitchFamily="18" charset="0"/>
              <a:ea typeface="宋体" panose="02010600030101010101" pitchFamily="2" charset="-122"/>
            </a:endParaRPr>
          </a:p>
        </p:txBody>
      </p:sp>
      <p:sp>
        <p:nvSpPr>
          <p:cNvPr id="100380" name="Text Box 28"/>
          <p:cNvSpPr txBox="1">
            <a:spLocks noChangeArrowheads="1"/>
          </p:cNvSpPr>
          <p:nvPr/>
        </p:nvSpPr>
        <p:spPr bwMode="auto">
          <a:xfrm>
            <a:off x="4495800" y="2986088"/>
            <a:ext cx="3654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仿宋_GB2312" panose="02010609030101010101" pitchFamily="49" charset="-122"/>
                <a:ea typeface="仿宋_GB2312" panose="02010609030101010101" pitchFamily="49" charset="-122"/>
              </a:rPr>
              <a:t>-</a:t>
            </a:r>
            <a:r>
              <a:rPr kumimoji="1" lang="en-US" altLang="zh-CN" sz="2800" b="1">
                <a:solidFill>
                  <a:schemeClr val="accent2"/>
                </a:solidFill>
                <a:latin typeface="Times New Roman" panose="02020603050405020304" pitchFamily="18" charset="0"/>
                <a:ea typeface="宋体" panose="02010600030101010101" pitchFamily="2" charset="-122"/>
              </a:rPr>
              <a:t>1   0    0    0    1    1    3</a:t>
            </a:r>
            <a:endParaRPr kumimoji="1" lang="en-US" altLang="zh-CN" sz="2400">
              <a:latin typeface="Times New Roman" panose="02020603050405020304" pitchFamily="18" charset="0"/>
              <a:ea typeface="宋体" panose="02010600030101010101" pitchFamily="2" charset="-122"/>
            </a:endParaRPr>
          </a:p>
        </p:txBody>
      </p:sp>
      <p:sp>
        <p:nvSpPr>
          <p:cNvPr id="100381" name="Line 29"/>
          <p:cNvSpPr>
            <a:spLocks noChangeShapeType="1"/>
          </p:cNvSpPr>
          <p:nvPr/>
        </p:nvSpPr>
        <p:spPr bwMode="auto">
          <a:xfrm>
            <a:off x="7696200" y="2438400"/>
            <a:ext cx="0" cy="1066800"/>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2" name="Line 30"/>
          <p:cNvSpPr>
            <a:spLocks noChangeShapeType="1"/>
          </p:cNvSpPr>
          <p:nvPr/>
        </p:nvSpPr>
        <p:spPr bwMode="auto">
          <a:xfrm>
            <a:off x="7162800" y="2438400"/>
            <a:ext cx="0" cy="1066800"/>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3" name="Line 31"/>
          <p:cNvSpPr>
            <a:spLocks noChangeShapeType="1"/>
          </p:cNvSpPr>
          <p:nvPr/>
        </p:nvSpPr>
        <p:spPr bwMode="auto">
          <a:xfrm>
            <a:off x="6629400" y="2438400"/>
            <a:ext cx="0" cy="1066800"/>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4" name="Line 32"/>
          <p:cNvSpPr>
            <a:spLocks noChangeShapeType="1"/>
          </p:cNvSpPr>
          <p:nvPr/>
        </p:nvSpPr>
        <p:spPr bwMode="auto">
          <a:xfrm>
            <a:off x="6096000" y="2438400"/>
            <a:ext cx="0" cy="1066800"/>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5" name="Line 33"/>
          <p:cNvSpPr>
            <a:spLocks noChangeShapeType="1"/>
          </p:cNvSpPr>
          <p:nvPr/>
        </p:nvSpPr>
        <p:spPr bwMode="auto">
          <a:xfrm>
            <a:off x="5562600" y="2438400"/>
            <a:ext cx="0" cy="1066800"/>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6" name="Line 34"/>
          <p:cNvSpPr>
            <a:spLocks noChangeShapeType="1"/>
          </p:cNvSpPr>
          <p:nvPr/>
        </p:nvSpPr>
        <p:spPr bwMode="auto">
          <a:xfrm>
            <a:off x="5029200" y="2438400"/>
            <a:ext cx="0" cy="1066800"/>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7" name="Text Box 35"/>
          <p:cNvSpPr txBox="1">
            <a:spLocks noChangeArrowheads="1"/>
          </p:cNvSpPr>
          <p:nvPr/>
        </p:nvSpPr>
        <p:spPr bwMode="auto">
          <a:xfrm>
            <a:off x="4489450" y="1951038"/>
            <a:ext cx="3562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9900"/>
                </a:solidFill>
                <a:latin typeface="Times New Roman" panose="02020603050405020304" pitchFamily="18" charset="0"/>
                <a:ea typeface="宋体" panose="02010600030101010101" pitchFamily="2" charset="-122"/>
              </a:rPr>
              <a:t>0    1    2    3    4    5    6</a:t>
            </a:r>
            <a:endParaRPr kumimoji="1" lang="en-US" altLang="zh-CN"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zh-CN" altLang="en-US" dirty="0"/>
              <a:t>双亲表示</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
        <p:nvSpPr>
          <p:cNvPr id="4" name="Rectangle 50"/>
          <p:cNvSpPr txBox="1">
            <a:spLocks noChangeArrowheads="1"/>
          </p:cNvSpPr>
          <p:nvPr/>
        </p:nvSpPr>
        <p:spPr>
          <a:xfrm>
            <a:off x="755582" y="4619625"/>
            <a:ext cx="7812156" cy="1581150"/>
          </a:xfrm>
          <a:prstGeom prst="rect">
            <a:avLst/>
          </a:prstGeom>
        </p:spPr>
        <p:txBody>
          <a:bodyPr>
            <a:normAutofit fontScale="77500" lnSpcReduction="20000"/>
          </a:bodyPr>
          <a:lstStyle>
            <a:lvl1pPr marL="171450" indent="-171450" algn="l" defTabSz="685800" rtl="0" eaLnBrk="0" fontAlgn="base" hangingPunct="0">
              <a:lnSpc>
                <a:spcPct val="10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10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10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10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10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Clr>
                <a:srgbClr val="800080"/>
              </a:buClr>
              <a:buSzPct val="55000"/>
            </a:pPr>
            <a:r>
              <a:rPr lang="zh-CN" altLang="en-US" sz="3300" dirty="0"/>
              <a:t>树中结点的存放顺序一般不做特殊要求，但为了操作实现的方便，有时也会规定结点的存放顺序。例如，可以规定按树的前序次序存放树中的各个结点，或规定按树的层次次序安排所有结点。 </a:t>
            </a:r>
            <a:endParaRPr lang="zh-CN" altLang="en-US" sz="3300" dirty="0"/>
          </a:p>
        </p:txBody>
      </p:sp>
    </p:spTree>
  </p:cSld>
  <p:clrMapOvr>
    <a:masterClrMapping/>
  </p:clrMapOvr>
  <p:transition>
    <p:spli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54831" y="1556792"/>
            <a:ext cx="8034337" cy="4922837"/>
            <a:chOff x="598488" y="563563"/>
            <a:chExt cx="8034337" cy="4922837"/>
          </a:xfrm>
        </p:grpSpPr>
        <p:sp>
          <p:nvSpPr>
            <p:cNvPr id="101378" name="Line 2"/>
            <p:cNvSpPr>
              <a:spLocks noChangeShapeType="1"/>
            </p:cNvSpPr>
            <p:nvPr/>
          </p:nvSpPr>
          <p:spPr bwMode="auto">
            <a:xfrm>
              <a:off x="2759075" y="2438400"/>
              <a:ext cx="0" cy="5334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79" name="Line 3"/>
            <p:cNvSpPr>
              <a:spLocks noChangeShapeType="1"/>
            </p:cNvSpPr>
            <p:nvPr/>
          </p:nvSpPr>
          <p:spPr bwMode="auto">
            <a:xfrm>
              <a:off x="2225675" y="1600200"/>
              <a:ext cx="533400" cy="6858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0" name="Line 4"/>
            <p:cNvSpPr>
              <a:spLocks noChangeShapeType="1"/>
            </p:cNvSpPr>
            <p:nvPr/>
          </p:nvSpPr>
          <p:spPr bwMode="auto">
            <a:xfrm>
              <a:off x="1463675" y="2438400"/>
              <a:ext cx="22860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1" name="Line 5"/>
            <p:cNvSpPr>
              <a:spLocks noChangeShapeType="1"/>
            </p:cNvSpPr>
            <p:nvPr/>
          </p:nvSpPr>
          <p:spPr bwMode="auto">
            <a:xfrm flipH="1">
              <a:off x="1082675" y="2438400"/>
              <a:ext cx="228600" cy="5334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2" name="Line 6"/>
            <p:cNvSpPr>
              <a:spLocks noChangeShapeType="1"/>
            </p:cNvSpPr>
            <p:nvPr/>
          </p:nvSpPr>
          <p:spPr bwMode="auto">
            <a:xfrm flipH="1">
              <a:off x="1463675" y="1676400"/>
              <a:ext cx="45720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3" name="Line 7"/>
            <p:cNvSpPr>
              <a:spLocks noChangeShapeType="1"/>
            </p:cNvSpPr>
            <p:nvPr/>
          </p:nvSpPr>
          <p:spPr bwMode="auto">
            <a:xfrm>
              <a:off x="2073275" y="1676400"/>
              <a:ext cx="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4" name="Oval 8"/>
            <p:cNvSpPr>
              <a:spLocks noChangeArrowheads="1"/>
            </p:cNvSpPr>
            <p:nvPr/>
          </p:nvSpPr>
          <p:spPr bwMode="auto">
            <a:xfrm>
              <a:off x="1844675" y="12954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85" name="Oval 9"/>
            <p:cNvSpPr>
              <a:spLocks noChangeArrowheads="1"/>
            </p:cNvSpPr>
            <p:nvPr/>
          </p:nvSpPr>
          <p:spPr bwMode="auto">
            <a:xfrm>
              <a:off x="1844675" y="20574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86" name="Oval 10"/>
            <p:cNvSpPr>
              <a:spLocks noChangeArrowheads="1"/>
            </p:cNvSpPr>
            <p:nvPr/>
          </p:nvSpPr>
          <p:spPr bwMode="auto">
            <a:xfrm>
              <a:off x="1463675" y="28194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87" name="Oval 11"/>
            <p:cNvSpPr>
              <a:spLocks noChangeArrowheads="1"/>
            </p:cNvSpPr>
            <p:nvPr/>
          </p:nvSpPr>
          <p:spPr bwMode="auto">
            <a:xfrm>
              <a:off x="854075" y="28194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88" name="Oval 12"/>
            <p:cNvSpPr>
              <a:spLocks noChangeArrowheads="1"/>
            </p:cNvSpPr>
            <p:nvPr/>
          </p:nvSpPr>
          <p:spPr bwMode="auto">
            <a:xfrm>
              <a:off x="1158875" y="20574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89" name="Oval 13"/>
            <p:cNvSpPr>
              <a:spLocks noChangeArrowheads="1"/>
            </p:cNvSpPr>
            <p:nvPr/>
          </p:nvSpPr>
          <p:spPr bwMode="auto">
            <a:xfrm>
              <a:off x="2530475" y="20574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90" name="Oval 14"/>
            <p:cNvSpPr>
              <a:spLocks noChangeArrowheads="1"/>
            </p:cNvSpPr>
            <p:nvPr/>
          </p:nvSpPr>
          <p:spPr bwMode="auto">
            <a:xfrm>
              <a:off x="2530475" y="28194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91" name="Text Box 15"/>
            <p:cNvSpPr txBox="1">
              <a:spLocks noChangeArrowheads="1"/>
            </p:cNvSpPr>
            <p:nvPr/>
          </p:nvSpPr>
          <p:spPr bwMode="auto">
            <a:xfrm>
              <a:off x="1860550" y="1233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01392" name="Text Box 16"/>
            <p:cNvSpPr txBox="1">
              <a:spLocks noChangeArrowheads="1"/>
            </p:cNvSpPr>
            <p:nvPr/>
          </p:nvSpPr>
          <p:spPr bwMode="auto">
            <a:xfrm>
              <a:off x="1184275" y="19954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01393" name="Text Box 17"/>
            <p:cNvSpPr txBox="1">
              <a:spLocks noChangeArrowheads="1"/>
            </p:cNvSpPr>
            <p:nvPr/>
          </p:nvSpPr>
          <p:spPr bwMode="auto">
            <a:xfrm>
              <a:off x="1860550" y="1995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01394" name="Text Box 18"/>
            <p:cNvSpPr txBox="1">
              <a:spLocks noChangeArrowheads="1"/>
            </p:cNvSpPr>
            <p:nvPr/>
          </p:nvSpPr>
          <p:spPr bwMode="auto">
            <a:xfrm>
              <a:off x="2606675" y="1995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01395" name="Text Box 19"/>
            <p:cNvSpPr txBox="1">
              <a:spLocks noChangeArrowheads="1"/>
            </p:cNvSpPr>
            <p:nvPr/>
          </p:nvSpPr>
          <p:spPr bwMode="auto">
            <a:xfrm>
              <a:off x="879475" y="27574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01396" name="Text Box 20"/>
            <p:cNvSpPr txBox="1">
              <a:spLocks noChangeArrowheads="1"/>
            </p:cNvSpPr>
            <p:nvPr/>
          </p:nvSpPr>
          <p:spPr bwMode="auto">
            <a:xfrm>
              <a:off x="1498600" y="27574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01397" name="Text Box 21"/>
            <p:cNvSpPr txBox="1">
              <a:spLocks noChangeArrowheads="1"/>
            </p:cNvSpPr>
            <p:nvPr/>
          </p:nvSpPr>
          <p:spPr bwMode="auto">
            <a:xfrm>
              <a:off x="2536825" y="27574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443414" name="Text Box 22"/>
            <p:cNvSpPr txBox="1">
              <a:spLocks noChangeArrowheads="1"/>
            </p:cNvSpPr>
            <p:nvPr/>
          </p:nvSpPr>
          <p:spPr bwMode="auto">
            <a:xfrm>
              <a:off x="1066800" y="4267200"/>
              <a:ext cx="7086600" cy="579438"/>
            </a:xfrm>
            <a:prstGeom prst="rect">
              <a:avLst/>
            </a:prstGeom>
            <a:noFill/>
            <a:ln w="9525">
              <a:noFill/>
              <a:miter lim="800000"/>
            </a:ln>
            <a:effectLst/>
          </p:spPr>
          <p:txBody>
            <a:bodyPr>
              <a:spAutoFit/>
            </a:bodyPr>
            <a:lstStyle/>
            <a:p>
              <a:pPr eaLnBrk="1" fontAlgn="auto" hangingPunct="1">
                <a:spcBef>
                  <a:spcPct val="50000"/>
                </a:spcBef>
                <a:spcAft>
                  <a:spcPts val="0"/>
                </a:spcAft>
                <a:defRPr/>
              </a:pPr>
              <a:r>
                <a:rPr lang="zh-CN" altLang="en-US" sz="320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rPr>
                <a:t>多种解决方案，例如：   </a:t>
              </a:r>
              <a:r>
                <a:rPr lang="zh-CN" altLang="en-US" sz="3200">
                  <a:solidFill>
                    <a:srgbClr val="000099"/>
                  </a:solidFill>
                  <a:effectLst>
                    <a:outerShdw blurRad="38100" dist="38100" dir="2700000" algn="tl">
                      <a:srgbClr val="C0C0C0"/>
                    </a:outerShdw>
                  </a:effectLst>
                  <a:latin typeface="Times New Roman" panose="02020603050405020304" pitchFamily="18" charset="0"/>
                  <a:ea typeface="隶书" panose="02010509060101010101" pitchFamily="49" charset="-122"/>
                </a:rPr>
                <a:t>等数量的链域</a:t>
              </a:r>
              <a:endParaRPr lang="zh-CN" altLang="en-US" sz="2100">
                <a:latin typeface="Times New Roman" panose="02020603050405020304" pitchFamily="18" charset="0"/>
                <a:ea typeface="+mn-ea"/>
              </a:endParaRPr>
            </a:p>
          </p:txBody>
        </p:sp>
        <p:sp>
          <p:nvSpPr>
            <p:cNvPr id="101399" name="Rectangle 23"/>
            <p:cNvSpPr>
              <a:spLocks noChangeArrowheads="1"/>
            </p:cNvSpPr>
            <p:nvPr/>
          </p:nvSpPr>
          <p:spPr bwMode="auto">
            <a:xfrm>
              <a:off x="1104900" y="4953000"/>
              <a:ext cx="7048500" cy="533400"/>
            </a:xfrm>
            <a:prstGeom prst="rect">
              <a:avLst/>
            </a:prstGeom>
            <a:solidFill>
              <a:srgbClr val="FFFFCC"/>
            </a:solidFill>
            <a:ln w="19050">
              <a:solidFill>
                <a:srgbClr val="FF00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i="1">
                  <a:latin typeface="Times New Roman" panose="02020603050405020304" pitchFamily="18" charset="0"/>
                  <a:ea typeface="黑体" panose="02010609060101010101" pitchFamily="2" charset="-122"/>
                </a:rPr>
                <a:t> </a:t>
              </a:r>
              <a:r>
                <a:rPr lang="en-US" altLang="zh-CN" sz="2800">
                  <a:solidFill>
                    <a:schemeClr val="accent2"/>
                  </a:solidFill>
                  <a:latin typeface="Times New Roman" panose="02020603050405020304" pitchFamily="18" charset="0"/>
                  <a:ea typeface="黑体" panose="02010609060101010101" pitchFamily="2" charset="-122"/>
                </a:rPr>
                <a:t>data</a:t>
              </a:r>
              <a:r>
                <a:rPr lang="en-US" altLang="zh-CN" sz="2800">
                  <a:latin typeface="Times New Roman" panose="02020603050405020304" pitchFamily="18" charset="0"/>
                  <a:ea typeface="黑体" panose="02010609060101010101" pitchFamily="2" charset="-122"/>
                </a:rPr>
                <a:t> </a:t>
              </a:r>
              <a:endParaRPr lang="en-US" altLang="zh-CN" sz="2800">
                <a:latin typeface="Times New Roman" panose="02020603050405020304" pitchFamily="18" charset="0"/>
                <a:ea typeface="黑体" panose="02010609060101010101" pitchFamily="2" charset="-122"/>
              </a:endParaRPr>
            </a:p>
          </p:txBody>
        </p:sp>
        <p:sp>
          <p:nvSpPr>
            <p:cNvPr id="101400" name="Text Box 24"/>
            <p:cNvSpPr txBox="1">
              <a:spLocks noChangeArrowheads="1"/>
            </p:cNvSpPr>
            <p:nvPr/>
          </p:nvSpPr>
          <p:spPr bwMode="auto">
            <a:xfrm>
              <a:off x="2193925" y="4967288"/>
              <a:ext cx="1082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黑体" panose="02010609060101010101" pitchFamily="2" charset="-122"/>
                </a:rPr>
                <a:t>child</a:t>
              </a:r>
              <a:r>
                <a:rPr kumimoji="1" lang="en-US" altLang="zh-CN" sz="2800" b="1" baseline="-25000">
                  <a:solidFill>
                    <a:schemeClr val="accent2"/>
                  </a:solidFill>
                  <a:latin typeface="Times New Roman" panose="02020603050405020304" pitchFamily="18" charset="0"/>
                  <a:ea typeface="黑体" panose="02010609060101010101" pitchFamily="2" charset="-122"/>
                </a:rPr>
                <a:t>1</a:t>
              </a:r>
              <a:endParaRPr kumimoji="1" lang="en-US" altLang="zh-CN" sz="2400">
                <a:latin typeface="Arial" panose="020B0604020202020204" pitchFamily="34" charset="0"/>
                <a:ea typeface="黑体" panose="02010609060101010101" pitchFamily="2" charset="-122"/>
              </a:endParaRPr>
            </a:p>
          </p:txBody>
        </p:sp>
        <p:sp>
          <p:nvSpPr>
            <p:cNvPr id="101401" name="Line 25"/>
            <p:cNvSpPr>
              <a:spLocks noChangeShapeType="1"/>
            </p:cNvSpPr>
            <p:nvPr/>
          </p:nvSpPr>
          <p:spPr bwMode="auto">
            <a:xfrm>
              <a:off x="2133600" y="4953000"/>
              <a:ext cx="0" cy="53340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2" name="Line 26"/>
            <p:cNvSpPr>
              <a:spLocks noChangeShapeType="1"/>
            </p:cNvSpPr>
            <p:nvPr/>
          </p:nvSpPr>
          <p:spPr bwMode="auto">
            <a:xfrm>
              <a:off x="3276600" y="4953000"/>
              <a:ext cx="0" cy="53340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3" name="Line 27"/>
            <p:cNvSpPr>
              <a:spLocks noChangeShapeType="1"/>
            </p:cNvSpPr>
            <p:nvPr/>
          </p:nvSpPr>
          <p:spPr bwMode="auto">
            <a:xfrm>
              <a:off x="6934200" y="4953000"/>
              <a:ext cx="0" cy="53340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4" name="Text Box 28"/>
            <p:cNvSpPr txBox="1">
              <a:spLocks noChangeArrowheads="1"/>
            </p:cNvSpPr>
            <p:nvPr/>
          </p:nvSpPr>
          <p:spPr bwMode="auto">
            <a:xfrm>
              <a:off x="3352800" y="4967288"/>
              <a:ext cx="1055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黑体" panose="02010609060101010101" pitchFamily="2" charset="-122"/>
                </a:rPr>
                <a:t>child</a:t>
              </a:r>
              <a:r>
                <a:rPr kumimoji="1" lang="en-US" altLang="zh-CN" sz="2800" b="1" baseline="-25000">
                  <a:solidFill>
                    <a:schemeClr val="accent2"/>
                  </a:solidFill>
                  <a:latin typeface="Times New Roman" panose="02020603050405020304" pitchFamily="18" charset="0"/>
                  <a:ea typeface="黑体" panose="02010609060101010101" pitchFamily="2" charset="-122"/>
                </a:rPr>
                <a:t>2</a:t>
              </a:r>
              <a:endParaRPr kumimoji="1" lang="en-US" altLang="zh-CN" sz="2400">
                <a:solidFill>
                  <a:schemeClr val="accent2"/>
                </a:solidFill>
                <a:latin typeface="Arial" panose="020B0604020202020204" pitchFamily="34" charset="0"/>
                <a:ea typeface="黑体" panose="02010609060101010101" pitchFamily="2" charset="-122"/>
              </a:endParaRPr>
            </a:p>
          </p:txBody>
        </p:sp>
        <p:sp>
          <p:nvSpPr>
            <p:cNvPr id="101405" name="Text Box 29"/>
            <p:cNvSpPr txBox="1">
              <a:spLocks noChangeArrowheads="1"/>
            </p:cNvSpPr>
            <p:nvPr/>
          </p:nvSpPr>
          <p:spPr bwMode="auto">
            <a:xfrm>
              <a:off x="4495800" y="4967288"/>
              <a:ext cx="1055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黑体" panose="02010609060101010101" pitchFamily="2" charset="-122"/>
                </a:rPr>
                <a:t>child</a:t>
              </a:r>
              <a:r>
                <a:rPr kumimoji="1" lang="en-US" altLang="zh-CN" sz="2800" b="1" baseline="-25000">
                  <a:solidFill>
                    <a:schemeClr val="accent2"/>
                  </a:solidFill>
                  <a:latin typeface="Times New Roman" panose="02020603050405020304" pitchFamily="18" charset="0"/>
                  <a:ea typeface="黑体" panose="02010609060101010101" pitchFamily="2" charset="-122"/>
                </a:rPr>
                <a:t>3</a:t>
              </a:r>
              <a:endParaRPr kumimoji="1" lang="en-US" altLang="zh-CN" sz="2400">
                <a:solidFill>
                  <a:schemeClr val="accent2"/>
                </a:solidFill>
                <a:latin typeface="Arial" panose="020B0604020202020204" pitchFamily="34" charset="0"/>
                <a:ea typeface="黑体" panose="02010609060101010101" pitchFamily="2" charset="-122"/>
              </a:endParaRPr>
            </a:p>
          </p:txBody>
        </p:sp>
        <p:sp>
          <p:nvSpPr>
            <p:cNvPr id="101406" name="Line 30"/>
            <p:cNvSpPr>
              <a:spLocks noChangeShapeType="1"/>
            </p:cNvSpPr>
            <p:nvPr/>
          </p:nvSpPr>
          <p:spPr bwMode="auto">
            <a:xfrm>
              <a:off x="5943600" y="5257800"/>
              <a:ext cx="762000" cy="0"/>
            </a:xfrm>
            <a:prstGeom prst="line">
              <a:avLst/>
            </a:prstGeom>
            <a:noFill/>
            <a:ln w="76200">
              <a:solidFill>
                <a:schemeClr val="accent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7" name="Text Box 31"/>
            <p:cNvSpPr txBox="1">
              <a:spLocks noChangeArrowheads="1"/>
            </p:cNvSpPr>
            <p:nvPr/>
          </p:nvSpPr>
          <p:spPr bwMode="auto">
            <a:xfrm>
              <a:off x="7010400" y="4967288"/>
              <a:ext cx="1055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黑体" panose="02010609060101010101" pitchFamily="2" charset="-122"/>
                </a:rPr>
                <a:t>child</a:t>
              </a:r>
              <a:r>
                <a:rPr kumimoji="1" lang="en-US" altLang="zh-CN" sz="2800" b="1" i="1" baseline="-25000">
                  <a:solidFill>
                    <a:schemeClr val="accent2"/>
                  </a:solidFill>
                  <a:latin typeface="Times New Roman" panose="02020603050405020304" pitchFamily="18" charset="0"/>
                  <a:ea typeface="黑体" panose="02010609060101010101" pitchFamily="2" charset="-122"/>
                </a:rPr>
                <a:t>d</a:t>
              </a:r>
              <a:endParaRPr kumimoji="1" lang="en-US" altLang="zh-CN" sz="2400">
                <a:solidFill>
                  <a:schemeClr val="accent2"/>
                </a:solidFill>
                <a:latin typeface="Arial" panose="020B0604020202020204" pitchFamily="34" charset="0"/>
                <a:ea typeface="黑体" panose="02010609060101010101" pitchFamily="2" charset="-122"/>
              </a:endParaRPr>
            </a:p>
          </p:txBody>
        </p:sp>
        <p:sp>
          <p:nvSpPr>
            <p:cNvPr id="101408" name="Line 32"/>
            <p:cNvSpPr>
              <a:spLocks noChangeShapeType="1"/>
            </p:cNvSpPr>
            <p:nvPr/>
          </p:nvSpPr>
          <p:spPr bwMode="auto">
            <a:xfrm>
              <a:off x="4419600" y="4953000"/>
              <a:ext cx="0" cy="53340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9" name="Line 33"/>
            <p:cNvSpPr>
              <a:spLocks noChangeShapeType="1"/>
            </p:cNvSpPr>
            <p:nvPr/>
          </p:nvSpPr>
          <p:spPr bwMode="auto">
            <a:xfrm>
              <a:off x="5638800" y="4953000"/>
              <a:ext cx="0" cy="53340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0" name="Rectangle 34"/>
            <p:cNvSpPr>
              <a:spLocks noChangeArrowheads="1"/>
            </p:cNvSpPr>
            <p:nvPr/>
          </p:nvSpPr>
          <p:spPr bwMode="auto">
            <a:xfrm>
              <a:off x="5181600" y="944563"/>
              <a:ext cx="1600200" cy="457200"/>
            </a:xfrm>
            <a:prstGeom prst="rect">
              <a:avLst/>
            </a:prstGeom>
            <a:solidFill>
              <a:srgbClr val="FFFFFF"/>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11" name="Line 35"/>
            <p:cNvSpPr>
              <a:spLocks noChangeShapeType="1"/>
            </p:cNvSpPr>
            <p:nvPr/>
          </p:nvSpPr>
          <p:spPr bwMode="auto">
            <a:xfrm>
              <a:off x="6019800" y="9445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2" name="Line 36"/>
            <p:cNvSpPr>
              <a:spLocks noChangeShapeType="1"/>
            </p:cNvSpPr>
            <p:nvPr/>
          </p:nvSpPr>
          <p:spPr bwMode="auto">
            <a:xfrm>
              <a:off x="5638800" y="9445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3" name="Line 37"/>
            <p:cNvSpPr>
              <a:spLocks noChangeShapeType="1"/>
            </p:cNvSpPr>
            <p:nvPr/>
          </p:nvSpPr>
          <p:spPr bwMode="auto">
            <a:xfrm>
              <a:off x="6400800" y="9445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4" name="Rectangle 38"/>
            <p:cNvSpPr>
              <a:spLocks noChangeArrowheads="1"/>
            </p:cNvSpPr>
            <p:nvPr/>
          </p:nvSpPr>
          <p:spPr bwMode="auto">
            <a:xfrm>
              <a:off x="7010400" y="2163763"/>
              <a:ext cx="1600200" cy="457200"/>
            </a:xfrm>
            <a:prstGeom prst="rect">
              <a:avLst/>
            </a:prstGeom>
            <a:solidFill>
              <a:srgbClr val="FFFFFF"/>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15" name="Line 39"/>
            <p:cNvSpPr>
              <a:spLocks noChangeShapeType="1"/>
            </p:cNvSpPr>
            <p:nvPr/>
          </p:nvSpPr>
          <p:spPr bwMode="auto">
            <a:xfrm>
              <a:off x="7467600" y="2163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6" name="Line 40"/>
            <p:cNvSpPr>
              <a:spLocks noChangeShapeType="1"/>
            </p:cNvSpPr>
            <p:nvPr/>
          </p:nvSpPr>
          <p:spPr bwMode="auto">
            <a:xfrm>
              <a:off x="8229600" y="2163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7" name="Rectangle 41"/>
            <p:cNvSpPr>
              <a:spLocks noChangeArrowheads="1"/>
            </p:cNvSpPr>
            <p:nvPr/>
          </p:nvSpPr>
          <p:spPr bwMode="auto">
            <a:xfrm>
              <a:off x="7010400" y="3306763"/>
              <a:ext cx="1600200" cy="457200"/>
            </a:xfrm>
            <a:prstGeom prst="rect">
              <a:avLst/>
            </a:prstGeom>
            <a:solidFill>
              <a:srgbClr val="FFFFFF"/>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18" name="Line 42"/>
            <p:cNvSpPr>
              <a:spLocks noChangeShapeType="1"/>
            </p:cNvSpPr>
            <p:nvPr/>
          </p:nvSpPr>
          <p:spPr bwMode="auto">
            <a:xfrm>
              <a:off x="7467600" y="3306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9" name="Line 43"/>
            <p:cNvSpPr>
              <a:spLocks noChangeShapeType="1"/>
            </p:cNvSpPr>
            <p:nvPr/>
          </p:nvSpPr>
          <p:spPr bwMode="auto">
            <a:xfrm>
              <a:off x="8229600" y="3306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0" name="Line 44"/>
            <p:cNvSpPr>
              <a:spLocks noChangeShapeType="1"/>
            </p:cNvSpPr>
            <p:nvPr/>
          </p:nvSpPr>
          <p:spPr bwMode="auto">
            <a:xfrm>
              <a:off x="7848600" y="2163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1" name="Line 45"/>
            <p:cNvSpPr>
              <a:spLocks noChangeShapeType="1"/>
            </p:cNvSpPr>
            <p:nvPr/>
          </p:nvSpPr>
          <p:spPr bwMode="auto">
            <a:xfrm>
              <a:off x="7848600" y="3306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2" name="Rectangle 46"/>
            <p:cNvSpPr>
              <a:spLocks noChangeArrowheads="1"/>
            </p:cNvSpPr>
            <p:nvPr/>
          </p:nvSpPr>
          <p:spPr bwMode="auto">
            <a:xfrm>
              <a:off x="5181600" y="2163763"/>
              <a:ext cx="1600200" cy="457200"/>
            </a:xfrm>
            <a:prstGeom prst="rect">
              <a:avLst/>
            </a:prstGeom>
            <a:solidFill>
              <a:srgbClr val="FFFFFF"/>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23" name="Line 47"/>
            <p:cNvSpPr>
              <a:spLocks noChangeShapeType="1"/>
            </p:cNvSpPr>
            <p:nvPr/>
          </p:nvSpPr>
          <p:spPr bwMode="auto">
            <a:xfrm>
              <a:off x="6019800" y="2163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4" name="Line 48"/>
            <p:cNvSpPr>
              <a:spLocks noChangeShapeType="1"/>
            </p:cNvSpPr>
            <p:nvPr/>
          </p:nvSpPr>
          <p:spPr bwMode="auto">
            <a:xfrm>
              <a:off x="5638800" y="2163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5" name="Line 49"/>
            <p:cNvSpPr>
              <a:spLocks noChangeShapeType="1"/>
            </p:cNvSpPr>
            <p:nvPr/>
          </p:nvSpPr>
          <p:spPr bwMode="auto">
            <a:xfrm>
              <a:off x="6400800" y="2163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6" name="Rectangle 50"/>
            <p:cNvSpPr>
              <a:spLocks noChangeArrowheads="1"/>
            </p:cNvSpPr>
            <p:nvPr/>
          </p:nvSpPr>
          <p:spPr bwMode="auto">
            <a:xfrm>
              <a:off x="3352800" y="2163763"/>
              <a:ext cx="1600200" cy="457200"/>
            </a:xfrm>
            <a:prstGeom prst="rect">
              <a:avLst/>
            </a:prstGeom>
            <a:solidFill>
              <a:srgbClr val="FFFFFF"/>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27" name="Line 51"/>
            <p:cNvSpPr>
              <a:spLocks noChangeShapeType="1"/>
            </p:cNvSpPr>
            <p:nvPr/>
          </p:nvSpPr>
          <p:spPr bwMode="auto">
            <a:xfrm>
              <a:off x="4191000" y="2163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8" name="Line 52"/>
            <p:cNvSpPr>
              <a:spLocks noChangeShapeType="1"/>
            </p:cNvSpPr>
            <p:nvPr/>
          </p:nvSpPr>
          <p:spPr bwMode="auto">
            <a:xfrm>
              <a:off x="3810000" y="2163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9" name="Line 53"/>
            <p:cNvSpPr>
              <a:spLocks noChangeShapeType="1"/>
            </p:cNvSpPr>
            <p:nvPr/>
          </p:nvSpPr>
          <p:spPr bwMode="auto">
            <a:xfrm>
              <a:off x="4572000" y="2163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0" name="Rectangle 54"/>
            <p:cNvSpPr>
              <a:spLocks noChangeArrowheads="1"/>
            </p:cNvSpPr>
            <p:nvPr/>
          </p:nvSpPr>
          <p:spPr bwMode="auto">
            <a:xfrm>
              <a:off x="5029200" y="3306763"/>
              <a:ext cx="1600200" cy="457200"/>
            </a:xfrm>
            <a:prstGeom prst="rect">
              <a:avLst/>
            </a:prstGeom>
            <a:solidFill>
              <a:srgbClr val="FFFFFF"/>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31" name="Line 55"/>
            <p:cNvSpPr>
              <a:spLocks noChangeShapeType="1"/>
            </p:cNvSpPr>
            <p:nvPr/>
          </p:nvSpPr>
          <p:spPr bwMode="auto">
            <a:xfrm>
              <a:off x="5867400" y="3306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2" name="Line 56"/>
            <p:cNvSpPr>
              <a:spLocks noChangeShapeType="1"/>
            </p:cNvSpPr>
            <p:nvPr/>
          </p:nvSpPr>
          <p:spPr bwMode="auto">
            <a:xfrm>
              <a:off x="5486400" y="3306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3" name="Line 57"/>
            <p:cNvSpPr>
              <a:spLocks noChangeShapeType="1"/>
            </p:cNvSpPr>
            <p:nvPr/>
          </p:nvSpPr>
          <p:spPr bwMode="auto">
            <a:xfrm>
              <a:off x="6248400" y="3306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4" name="Rectangle 58"/>
            <p:cNvSpPr>
              <a:spLocks noChangeArrowheads="1"/>
            </p:cNvSpPr>
            <p:nvPr/>
          </p:nvSpPr>
          <p:spPr bwMode="auto">
            <a:xfrm>
              <a:off x="3200400" y="3306763"/>
              <a:ext cx="1600200" cy="457200"/>
            </a:xfrm>
            <a:prstGeom prst="rect">
              <a:avLst/>
            </a:prstGeom>
            <a:solidFill>
              <a:srgbClr val="FFFFFF"/>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35" name="Line 59"/>
            <p:cNvSpPr>
              <a:spLocks noChangeShapeType="1"/>
            </p:cNvSpPr>
            <p:nvPr/>
          </p:nvSpPr>
          <p:spPr bwMode="auto">
            <a:xfrm>
              <a:off x="4038600" y="3306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6" name="Line 60"/>
            <p:cNvSpPr>
              <a:spLocks noChangeShapeType="1"/>
            </p:cNvSpPr>
            <p:nvPr/>
          </p:nvSpPr>
          <p:spPr bwMode="auto">
            <a:xfrm>
              <a:off x="3657600" y="3306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7" name="Line 61"/>
            <p:cNvSpPr>
              <a:spLocks noChangeShapeType="1"/>
            </p:cNvSpPr>
            <p:nvPr/>
          </p:nvSpPr>
          <p:spPr bwMode="auto">
            <a:xfrm>
              <a:off x="4419600" y="3306763"/>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8" name="Text Box 62"/>
            <p:cNvSpPr txBox="1">
              <a:spLocks noChangeArrowheads="1"/>
            </p:cNvSpPr>
            <p:nvPr/>
          </p:nvSpPr>
          <p:spPr bwMode="auto">
            <a:xfrm>
              <a:off x="5197475" y="88265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01439" name="Text Box 63"/>
            <p:cNvSpPr txBox="1">
              <a:spLocks noChangeArrowheads="1"/>
            </p:cNvSpPr>
            <p:nvPr/>
          </p:nvSpPr>
          <p:spPr bwMode="auto">
            <a:xfrm>
              <a:off x="3352800" y="210185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01440" name="Text Box 64"/>
            <p:cNvSpPr txBox="1">
              <a:spLocks noChangeArrowheads="1"/>
            </p:cNvSpPr>
            <p:nvPr/>
          </p:nvSpPr>
          <p:spPr bwMode="auto">
            <a:xfrm>
              <a:off x="5197475" y="210185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01441" name="Text Box 65"/>
            <p:cNvSpPr txBox="1">
              <a:spLocks noChangeArrowheads="1"/>
            </p:cNvSpPr>
            <p:nvPr/>
          </p:nvSpPr>
          <p:spPr bwMode="auto">
            <a:xfrm>
              <a:off x="7026275" y="210185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01442" name="Text Box 66"/>
            <p:cNvSpPr txBox="1">
              <a:spLocks noChangeArrowheads="1"/>
            </p:cNvSpPr>
            <p:nvPr/>
          </p:nvSpPr>
          <p:spPr bwMode="auto">
            <a:xfrm>
              <a:off x="3216275" y="324485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01443" name="Text Box 67"/>
            <p:cNvSpPr txBox="1">
              <a:spLocks noChangeArrowheads="1"/>
            </p:cNvSpPr>
            <p:nvPr/>
          </p:nvSpPr>
          <p:spPr bwMode="auto">
            <a:xfrm>
              <a:off x="5029200" y="3244850"/>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01444" name="Text Box 68"/>
            <p:cNvSpPr txBox="1">
              <a:spLocks noChangeArrowheads="1"/>
            </p:cNvSpPr>
            <p:nvPr/>
          </p:nvSpPr>
          <p:spPr bwMode="auto">
            <a:xfrm>
              <a:off x="7007225" y="324485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01445" name="Line 69"/>
            <p:cNvSpPr>
              <a:spLocks noChangeShapeType="1"/>
            </p:cNvSpPr>
            <p:nvPr/>
          </p:nvSpPr>
          <p:spPr bwMode="auto">
            <a:xfrm flipH="1">
              <a:off x="3505200" y="2392363"/>
              <a:ext cx="533400" cy="914400"/>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46" name="Line 70"/>
            <p:cNvSpPr>
              <a:spLocks noChangeShapeType="1"/>
            </p:cNvSpPr>
            <p:nvPr/>
          </p:nvSpPr>
          <p:spPr bwMode="auto">
            <a:xfrm>
              <a:off x="4419600" y="2392363"/>
              <a:ext cx="838200" cy="914400"/>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47" name="Line 71"/>
            <p:cNvSpPr>
              <a:spLocks noChangeShapeType="1"/>
            </p:cNvSpPr>
            <p:nvPr/>
          </p:nvSpPr>
          <p:spPr bwMode="auto">
            <a:xfrm flipH="1">
              <a:off x="7315200" y="2392363"/>
              <a:ext cx="381000" cy="914400"/>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48" name="Line 72"/>
            <p:cNvSpPr>
              <a:spLocks noChangeShapeType="1"/>
            </p:cNvSpPr>
            <p:nvPr/>
          </p:nvSpPr>
          <p:spPr bwMode="auto">
            <a:xfrm flipH="1">
              <a:off x="3733800" y="1173163"/>
              <a:ext cx="2133600" cy="990600"/>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49" name="Line 73"/>
            <p:cNvSpPr>
              <a:spLocks noChangeShapeType="1"/>
            </p:cNvSpPr>
            <p:nvPr/>
          </p:nvSpPr>
          <p:spPr bwMode="auto">
            <a:xfrm flipH="1">
              <a:off x="5410200" y="1173163"/>
              <a:ext cx="838200" cy="990600"/>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50" name="Line 74"/>
            <p:cNvSpPr>
              <a:spLocks noChangeShapeType="1"/>
            </p:cNvSpPr>
            <p:nvPr/>
          </p:nvSpPr>
          <p:spPr bwMode="auto">
            <a:xfrm>
              <a:off x="6553200" y="1173163"/>
              <a:ext cx="685800" cy="990600"/>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51" name="Line 75"/>
            <p:cNvSpPr>
              <a:spLocks noChangeShapeType="1"/>
            </p:cNvSpPr>
            <p:nvPr/>
          </p:nvSpPr>
          <p:spPr bwMode="auto">
            <a:xfrm flipH="1">
              <a:off x="5562600" y="563563"/>
              <a:ext cx="304800" cy="381000"/>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52" name="Text Box 76"/>
            <p:cNvSpPr txBox="1">
              <a:spLocks noChangeArrowheads="1"/>
            </p:cNvSpPr>
            <p:nvPr/>
          </p:nvSpPr>
          <p:spPr bwMode="auto">
            <a:xfrm>
              <a:off x="5581650" y="1981200"/>
              <a:ext cx="1241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 </a:t>
              </a:r>
              <a:endPar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1453" name="Text Box 77"/>
            <p:cNvSpPr txBox="1">
              <a:spLocks noChangeArrowheads="1"/>
            </p:cNvSpPr>
            <p:nvPr/>
          </p:nvSpPr>
          <p:spPr bwMode="auto">
            <a:xfrm>
              <a:off x="5410200" y="3122613"/>
              <a:ext cx="1241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 </a:t>
              </a:r>
              <a:endPar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1454" name="Text Box 78"/>
            <p:cNvSpPr txBox="1">
              <a:spLocks noChangeArrowheads="1"/>
            </p:cNvSpPr>
            <p:nvPr/>
          </p:nvSpPr>
          <p:spPr bwMode="auto">
            <a:xfrm>
              <a:off x="3581400" y="3122613"/>
              <a:ext cx="1241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 </a:t>
              </a:r>
              <a:endPar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1455" name="Text Box 79"/>
            <p:cNvSpPr txBox="1">
              <a:spLocks noChangeArrowheads="1"/>
            </p:cNvSpPr>
            <p:nvPr/>
          </p:nvSpPr>
          <p:spPr bwMode="auto">
            <a:xfrm>
              <a:off x="7391400" y="3122613"/>
              <a:ext cx="1241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 </a:t>
              </a:r>
              <a:endPar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1456" name="Text Box 80"/>
            <p:cNvSpPr txBox="1">
              <a:spLocks noChangeArrowheads="1"/>
            </p:cNvSpPr>
            <p:nvPr/>
          </p:nvSpPr>
          <p:spPr bwMode="auto">
            <a:xfrm>
              <a:off x="7772400" y="2011363"/>
              <a:ext cx="8509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a:t>
              </a:r>
              <a:endPar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1457" name="Text Box 81"/>
            <p:cNvSpPr txBox="1">
              <a:spLocks noChangeArrowheads="1"/>
            </p:cNvSpPr>
            <p:nvPr/>
          </p:nvSpPr>
          <p:spPr bwMode="auto">
            <a:xfrm>
              <a:off x="4495800" y="2011363"/>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1458" name="Text Box 82" descr="白色大理石"/>
            <p:cNvSpPr txBox="1">
              <a:spLocks noChangeArrowheads="1"/>
            </p:cNvSpPr>
            <p:nvPr/>
          </p:nvSpPr>
          <p:spPr bwMode="auto">
            <a:xfrm>
              <a:off x="598488" y="3489325"/>
              <a:ext cx="2216150" cy="579438"/>
            </a:xfrm>
            <a:prstGeom prst="rect">
              <a:avLst/>
            </a:prstGeom>
            <a:blipFill dpi="0" rotWithShape="0">
              <a:blip r:embed="rId1"/>
              <a:srcRect/>
              <a:tile tx="0" ty="0" sx="100000" sy="100000" flip="none" algn="tl"/>
            </a:blip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zh-CN" altLang="en-US" sz="3200">
                  <a:latin typeface="Times New Roman" panose="02020603050405020304" pitchFamily="18" charset="0"/>
                  <a:ea typeface="隶书" panose="02010509060101010101" pitchFamily="49" charset="-122"/>
                </a:rPr>
                <a:t>多个空链域</a:t>
              </a:r>
              <a:endParaRPr lang="zh-CN" altLang="en-US">
                <a:latin typeface="Times New Roman" panose="02020603050405020304" pitchFamily="18" charset="0"/>
              </a:endParaRPr>
            </a:p>
          </p:txBody>
        </p:sp>
      </p:grpSp>
      <p:sp>
        <p:nvSpPr>
          <p:cNvPr id="3" name="标题 2"/>
          <p:cNvSpPr>
            <a:spLocks noGrp="1"/>
          </p:cNvSpPr>
          <p:nvPr>
            <p:ph type="title"/>
          </p:nvPr>
        </p:nvSpPr>
        <p:spPr/>
        <p:txBody>
          <a:bodyPr/>
          <a:lstStyle/>
          <a:p>
            <a:r>
              <a:rPr lang="zh-CN" altLang="en-US" dirty="0"/>
              <a:t>孩子链表表示法</a:t>
            </a:r>
            <a:endParaRPr lang="zh-CN" altLang="en-US" dirty="0"/>
          </a:p>
        </p:txBody>
      </p:sp>
      <p:sp>
        <p:nvSpPr>
          <p:cNvPr id="4" name="灯片编号占位符 3"/>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a:xfrm>
            <a:off x="628650" y="365125"/>
            <a:ext cx="7886700" cy="1325563"/>
          </a:xfrm>
        </p:spPr>
        <p:txBody>
          <a:bodyPr/>
          <a:lstStyle/>
          <a:p>
            <a:r>
              <a:rPr lang="zh-CN" altLang="en-US" dirty="0"/>
              <a:t>改进的孩子链表表示</a:t>
            </a:r>
            <a:r>
              <a:rPr lang="en-US" altLang="zh-CN" dirty="0"/>
              <a:t>—</a:t>
            </a:r>
            <a:r>
              <a:rPr lang="zh-CN" altLang="en-US" dirty="0"/>
              <a:t>结点大小固定</a:t>
            </a:r>
            <a:endParaRPr lang="zh-CN" altLang="en-US" dirty="0"/>
          </a:p>
        </p:txBody>
      </p:sp>
      <p:sp>
        <p:nvSpPr>
          <p:cNvPr id="382979" name="Rectangle 3"/>
          <p:cNvSpPr>
            <a:spLocks noGrp="1" noChangeArrowheads="1"/>
          </p:cNvSpPr>
          <p:nvPr>
            <p:ph idx="1"/>
          </p:nvPr>
        </p:nvSpPr>
        <p:spPr>
          <a:xfrm>
            <a:off x="690563" y="5312569"/>
            <a:ext cx="7886700" cy="1033462"/>
          </a:xfrm>
        </p:spPr>
        <p:txBody>
          <a:bodyPr>
            <a:normAutofit fontScale="92500" lnSpcReduction="10000"/>
          </a:bodyPr>
          <a:lstStyle/>
          <a:p>
            <a:r>
              <a:rPr lang="zh-CN" altLang="en-US" dirty="0"/>
              <a:t>无序树情形链表中各结点顺序任意，有序树必须自左向右链接各个孩子结点。</a:t>
            </a:r>
            <a:endParaRPr lang="zh-CN" altLang="en-US" dirty="0"/>
          </a:p>
        </p:txBody>
      </p:sp>
      <p:sp>
        <p:nvSpPr>
          <p:cNvPr id="3" name="灯片编号占位符 4"/>
          <p:cNvSpPr>
            <a:spLocks noGrp="1"/>
          </p:cNvSpPr>
          <p:nvPr>
            <p:ph type="ftr" sz="quarter" idx="11"/>
          </p:nvPr>
        </p:nvSpPr>
        <p:spPr>
          <a:xfrm>
            <a:off x="3028950" y="6356350"/>
            <a:ext cx="3086100" cy="365125"/>
          </a:xfrm>
        </p:spPr>
        <p:txBody>
          <a:bodyPr/>
          <a:lstStyle/>
          <a:p>
            <a:fld id="{BFDD6027-EEDD-41A1-8E9F-64194AAF19AF}" type="slidenum">
              <a:rPr lang="en-US" altLang="zh-CN"/>
            </a:fld>
            <a:endParaRPr lang="en-US" altLang="zh-CN"/>
          </a:p>
        </p:txBody>
      </p:sp>
      <p:grpSp>
        <p:nvGrpSpPr>
          <p:cNvPr id="382980" name="Group 4"/>
          <p:cNvGrpSpPr/>
          <p:nvPr/>
        </p:nvGrpSpPr>
        <p:grpSpPr bwMode="auto">
          <a:xfrm>
            <a:off x="971600" y="1725216"/>
            <a:ext cx="2143125" cy="2057400"/>
            <a:chOff x="538" y="873"/>
            <a:chExt cx="1350" cy="1296"/>
          </a:xfrm>
        </p:grpSpPr>
        <p:sp>
          <p:nvSpPr>
            <p:cNvPr id="382981" name="Line 5"/>
            <p:cNvSpPr>
              <a:spLocks noChangeShapeType="1"/>
            </p:cNvSpPr>
            <p:nvPr/>
          </p:nvSpPr>
          <p:spPr bwMode="auto">
            <a:xfrm>
              <a:off x="1738" y="1632"/>
              <a:ext cx="0" cy="336"/>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982" name="Line 6"/>
            <p:cNvSpPr>
              <a:spLocks noChangeShapeType="1"/>
            </p:cNvSpPr>
            <p:nvPr/>
          </p:nvSpPr>
          <p:spPr bwMode="auto">
            <a:xfrm>
              <a:off x="1402" y="1104"/>
              <a:ext cx="336" cy="432"/>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983" name="Line 7"/>
            <p:cNvSpPr>
              <a:spLocks noChangeShapeType="1"/>
            </p:cNvSpPr>
            <p:nvPr/>
          </p:nvSpPr>
          <p:spPr bwMode="auto">
            <a:xfrm>
              <a:off x="922" y="1632"/>
              <a:ext cx="144" cy="288"/>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984" name="Line 8"/>
            <p:cNvSpPr>
              <a:spLocks noChangeShapeType="1"/>
            </p:cNvSpPr>
            <p:nvPr/>
          </p:nvSpPr>
          <p:spPr bwMode="auto">
            <a:xfrm flipH="1">
              <a:off x="682" y="1632"/>
              <a:ext cx="144" cy="336"/>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985" name="Line 9"/>
            <p:cNvSpPr>
              <a:spLocks noChangeShapeType="1"/>
            </p:cNvSpPr>
            <p:nvPr/>
          </p:nvSpPr>
          <p:spPr bwMode="auto">
            <a:xfrm flipH="1">
              <a:off x="922" y="1152"/>
              <a:ext cx="288" cy="288"/>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986" name="Line 10"/>
            <p:cNvSpPr>
              <a:spLocks noChangeShapeType="1"/>
            </p:cNvSpPr>
            <p:nvPr/>
          </p:nvSpPr>
          <p:spPr bwMode="auto">
            <a:xfrm>
              <a:off x="1306" y="1152"/>
              <a:ext cx="0" cy="288"/>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987" name="Oval 11"/>
            <p:cNvSpPr>
              <a:spLocks noChangeArrowheads="1"/>
            </p:cNvSpPr>
            <p:nvPr/>
          </p:nvSpPr>
          <p:spPr bwMode="auto">
            <a:xfrm>
              <a:off x="1162" y="912"/>
              <a:ext cx="288" cy="288"/>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p>
              <a:endParaRPr lang="zh-CN" altLang="en-US"/>
            </a:p>
          </p:txBody>
        </p:sp>
        <p:sp>
          <p:nvSpPr>
            <p:cNvPr id="382988" name="Oval 12"/>
            <p:cNvSpPr>
              <a:spLocks noChangeArrowheads="1"/>
            </p:cNvSpPr>
            <p:nvPr/>
          </p:nvSpPr>
          <p:spPr bwMode="auto">
            <a:xfrm>
              <a:off x="1162" y="1392"/>
              <a:ext cx="288" cy="288"/>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p>
              <a:endParaRPr lang="zh-CN" altLang="en-US"/>
            </a:p>
          </p:txBody>
        </p:sp>
        <p:sp>
          <p:nvSpPr>
            <p:cNvPr id="382989" name="Oval 13"/>
            <p:cNvSpPr>
              <a:spLocks noChangeArrowheads="1"/>
            </p:cNvSpPr>
            <p:nvPr/>
          </p:nvSpPr>
          <p:spPr bwMode="auto">
            <a:xfrm>
              <a:off x="922" y="1872"/>
              <a:ext cx="288" cy="288"/>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p>
              <a:endParaRPr lang="zh-CN" altLang="en-US"/>
            </a:p>
          </p:txBody>
        </p:sp>
        <p:sp>
          <p:nvSpPr>
            <p:cNvPr id="382990" name="Oval 14"/>
            <p:cNvSpPr>
              <a:spLocks noChangeArrowheads="1"/>
            </p:cNvSpPr>
            <p:nvPr/>
          </p:nvSpPr>
          <p:spPr bwMode="auto">
            <a:xfrm>
              <a:off x="538" y="1872"/>
              <a:ext cx="288" cy="288"/>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p>
              <a:endParaRPr lang="zh-CN" altLang="en-US"/>
            </a:p>
          </p:txBody>
        </p:sp>
        <p:sp>
          <p:nvSpPr>
            <p:cNvPr id="382991" name="Oval 15"/>
            <p:cNvSpPr>
              <a:spLocks noChangeArrowheads="1"/>
            </p:cNvSpPr>
            <p:nvPr/>
          </p:nvSpPr>
          <p:spPr bwMode="auto">
            <a:xfrm>
              <a:off x="730" y="1392"/>
              <a:ext cx="288" cy="288"/>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p>
              <a:endParaRPr lang="zh-CN" altLang="en-US"/>
            </a:p>
          </p:txBody>
        </p:sp>
        <p:sp>
          <p:nvSpPr>
            <p:cNvPr id="382992" name="Oval 16"/>
            <p:cNvSpPr>
              <a:spLocks noChangeArrowheads="1"/>
            </p:cNvSpPr>
            <p:nvPr/>
          </p:nvSpPr>
          <p:spPr bwMode="auto">
            <a:xfrm>
              <a:off x="1594" y="1392"/>
              <a:ext cx="288" cy="288"/>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p>
              <a:endParaRPr lang="zh-CN" altLang="en-US"/>
            </a:p>
          </p:txBody>
        </p:sp>
        <p:sp>
          <p:nvSpPr>
            <p:cNvPr id="382993" name="Oval 17"/>
            <p:cNvSpPr>
              <a:spLocks noChangeArrowheads="1"/>
            </p:cNvSpPr>
            <p:nvPr/>
          </p:nvSpPr>
          <p:spPr bwMode="auto">
            <a:xfrm>
              <a:off x="1594" y="1872"/>
              <a:ext cx="288" cy="288"/>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p>
              <a:endParaRPr lang="zh-CN" altLang="en-US"/>
            </a:p>
          </p:txBody>
        </p:sp>
        <p:sp>
          <p:nvSpPr>
            <p:cNvPr id="382994" name="Text Box 18"/>
            <p:cNvSpPr txBox="1">
              <a:spLocks noChangeArrowheads="1"/>
            </p:cNvSpPr>
            <p:nvPr/>
          </p:nvSpPr>
          <p:spPr bwMode="auto">
            <a:xfrm>
              <a:off x="1172" y="873"/>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382995" name="Text Box 19"/>
            <p:cNvSpPr txBox="1">
              <a:spLocks noChangeArrowheads="1"/>
            </p:cNvSpPr>
            <p:nvPr/>
          </p:nvSpPr>
          <p:spPr bwMode="auto">
            <a:xfrm>
              <a:off x="746" y="1353"/>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382996" name="Text Box 20"/>
            <p:cNvSpPr txBox="1">
              <a:spLocks noChangeArrowheads="1"/>
            </p:cNvSpPr>
            <p:nvPr/>
          </p:nvSpPr>
          <p:spPr bwMode="auto">
            <a:xfrm>
              <a:off x="1172" y="1353"/>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382997" name="Text Box 21"/>
            <p:cNvSpPr txBox="1">
              <a:spLocks noChangeArrowheads="1"/>
            </p:cNvSpPr>
            <p:nvPr/>
          </p:nvSpPr>
          <p:spPr bwMode="auto">
            <a:xfrm>
              <a:off x="1610" y="1357"/>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382998" name="Text Box 22"/>
            <p:cNvSpPr txBox="1">
              <a:spLocks noChangeArrowheads="1"/>
            </p:cNvSpPr>
            <p:nvPr/>
          </p:nvSpPr>
          <p:spPr bwMode="auto">
            <a:xfrm>
              <a:off x="554" y="1833"/>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382999" name="Text Box 23"/>
            <p:cNvSpPr txBox="1">
              <a:spLocks noChangeArrowheads="1"/>
            </p:cNvSpPr>
            <p:nvPr/>
          </p:nvSpPr>
          <p:spPr bwMode="auto">
            <a:xfrm>
              <a:off x="944" y="1842"/>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383000" name="Text Box 24"/>
            <p:cNvSpPr txBox="1">
              <a:spLocks noChangeArrowheads="1"/>
            </p:cNvSpPr>
            <p:nvPr/>
          </p:nvSpPr>
          <p:spPr bwMode="auto">
            <a:xfrm>
              <a:off x="1592" y="1842"/>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G</a:t>
              </a:r>
              <a:endParaRPr kumimoji="1" lang="en-US" altLang="zh-CN" sz="2400">
                <a:latin typeface="Times New Roman" panose="02020603050405020304" pitchFamily="18" charset="0"/>
              </a:endParaRPr>
            </a:p>
          </p:txBody>
        </p:sp>
      </p:grpSp>
      <p:grpSp>
        <p:nvGrpSpPr>
          <p:cNvPr id="383067" name="Group 91"/>
          <p:cNvGrpSpPr/>
          <p:nvPr/>
        </p:nvGrpSpPr>
        <p:grpSpPr bwMode="auto">
          <a:xfrm>
            <a:off x="3762425" y="1658541"/>
            <a:ext cx="4464050" cy="3552825"/>
            <a:chOff x="2449" y="1192"/>
            <a:chExt cx="2812" cy="2238"/>
          </a:xfrm>
        </p:grpSpPr>
        <p:sp>
          <p:nvSpPr>
            <p:cNvPr id="383041" name="Rectangle 65"/>
            <p:cNvSpPr>
              <a:spLocks noChangeArrowheads="1"/>
            </p:cNvSpPr>
            <p:nvPr/>
          </p:nvSpPr>
          <p:spPr bwMode="auto">
            <a:xfrm>
              <a:off x="2699" y="1207"/>
              <a:ext cx="521" cy="2223"/>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p>
              <a:endParaRPr lang="zh-CN" altLang="en-US"/>
            </a:p>
          </p:txBody>
        </p:sp>
        <p:grpSp>
          <p:nvGrpSpPr>
            <p:cNvPr id="383006" name="Group 30"/>
            <p:cNvGrpSpPr/>
            <p:nvPr/>
          </p:nvGrpSpPr>
          <p:grpSpPr bwMode="auto">
            <a:xfrm>
              <a:off x="3424" y="1194"/>
              <a:ext cx="658" cy="308"/>
              <a:chOff x="3424" y="1194"/>
              <a:chExt cx="658" cy="308"/>
            </a:xfrm>
          </p:grpSpPr>
          <p:grpSp>
            <p:nvGrpSpPr>
              <p:cNvPr id="383003" name="Group 27"/>
              <p:cNvGrpSpPr/>
              <p:nvPr/>
            </p:nvGrpSpPr>
            <p:grpSpPr bwMode="auto">
              <a:xfrm>
                <a:off x="3424" y="1230"/>
                <a:ext cx="477" cy="250"/>
                <a:chOff x="3424" y="1230"/>
                <a:chExt cx="477" cy="250"/>
              </a:xfrm>
            </p:grpSpPr>
            <p:sp>
              <p:nvSpPr>
                <p:cNvPr id="383001" name="Rectangle 25"/>
                <p:cNvSpPr>
                  <a:spLocks noChangeArrowheads="1"/>
                </p:cNvSpPr>
                <p:nvPr/>
              </p:nvSpPr>
              <p:spPr bwMode="auto">
                <a:xfrm>
                  <a:off x="3424" y="1230"/>
                  <a:ext cx="477" cy="25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p>
                  <a:endParaRPr lang="zh-CN" altLang="en-US"/>
                </a:p>
              </p:txBody>
            </p:sp>
            <p:sp>
              <p:nvSpPr>
                <p:cNvPr id="383002" name="Line 26"/>
                <p:cNvSpPr>
                  <a:spLocks noChangeShapeType="1"/>
                </p:cNvSpPr>
                <p:nvPr/>
              </p:nvSpPr>
              <p:spPr bwMode="auto">
                <a:xfrm>
                  <a:off x="3674" y="1230"/>
                  <a:ext cx="0" cy="2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3004" name="Line 28"/>
              <p:cNvSpPr>
                <a:spLocks noChangeShapeType="1"/>
              </p:cNvSpPr>
              <p:nvPr/>
            </p:nvSpPr>
            <p:spPr bwMode="auto">
              <a:xfrm>
                <a:off x="3765" y="1344"/>
                <a:ext cx="317" cy="0"/>
              </a:xfrm>
              <a:prstGeom prst="line">
                <a:avLst/>
              </a:prstGeom>
              <a:noFill/>
              <a:ln w="1905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05" name="Text Box 29"/>
              <p:cNvSpPr txBox="1">
                <a:spLocks noChangeArrowheads="1"/>
              </p:cNvSpPr>
              <p:nvPr/>
            </p:nvSpPr>
            <p:spPr bwMode="auto">
              <a:xfrm>
                <a:off x="3442"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1</a:t>
                </a:r>
                <a:endParaRPr lang="en-US" altLang="zh-CN" sz="2600" b="1"/>
              </a:p>
            </p:txBody>
          </p:sp>
        </p:grpSp>
        <p:grpSp>
          <p:nvGrpSpPr>
            <p:cNvPr id="383007" name="Group 31"/>
            <p:cNvGrpSpPr/>
            <p:nvPr/>
          </p:nvGrpSpPr>
          <p:grpSpPr bwMode="auto">
            <a:xfrm>
              <a:off x="4082" y="1194"/>
              <a:ext cx="658" cy="308"/>
              <a:chOff x="3424" y="1194"/>
              <a:chExt cx="658" cy="308"/>
            </a:xfrm>
          </p:grpSpPr>
          <p:grpSp>
            <p:nvGrpSpPr>
              <p:cNvPr id="383008" name="Group 32"/>
              <p:cNvGrpSpPr/>
              <p:nvPr/>
            </p:nvGrpSpPr>
            <p:grpSpPr bwMode="auto">
              <a:xfrm>
                <a:off x="3424" y="1230"/>
                <a:ext cx="477" cy="250"/>
                <a:chOff x="3424" y="1230"/>
                <a:chExt cx="477" cy="250"/>
              </a:xfrm>
            </p:grpSpPr>
            <p:sp>
              <p:nvSpPr>
                <p:cNvPr id="383009" name="Rectangle 33"/>
                <p:cNvSpPr>
                  <a:spLocks noChangeArrowheads="1"/>
                </p:cNvSpPr>
                <p:nvPr/>
              </p:nvSpPr>
              <p:spPr bwMode="auto">
                <a:xfrm>
                  <a:off x="3424" y="1230"/>
                  <a:ext cx="477" cy="25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p>
                  <a:endParaRPr lang="zh-CN" altLang="en-US"/>
                </a:p>
              </p:txBody>
            </p:sp>
            <p:sp>
              <p:nvSpPr>
                <p:cNvPr id="383010" name="Line 34"/>
                <p:cNvSpPr>
                  <a:spLocks noChangeShapeType="1"/>
                </p:cNvSpPr>
                <p:nvPr/>
              </p:nvSpPr>
              <p:spPr bwMode="auto">
                <a:xfrm>
                  <a:off x="3674" y="1230"/>
                  <a:ext cx="0" cy="2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3011" name="Line 35"/>
              <p:cNvSpPr>
                <a:spLocks noChangeShapeType="1"/>
              </p:cNvSpPr>
              <p:nvPr/>
            </p:nvSpPr>
            <p:spPr bwMode="auto">
              <a:xfrm>
                <a:off x="3765" y="1344"/>
                <a:ext cx="317" cy="0"/>
              </a:xfrm>
              <a:prstGeom prst="line">
                <a:avLst/>
              </a:prstGeom>
              <a:noFill/>
              <a:ln w="1905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12" name="Text Box 36"/>
              <p:cNvSpPr txBox="1">
                <a:spLocks noChangeArrowheads="1"/>
              </p:cNvSpPr>
              <p:nvPr/>
            </p:nvSpPr>
            <p:spPr bwMode="auto">
              <a:xfrm>
                <a:off x="3442"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2</a:t>
                </a:r>
                <a:endParaRPr lang="en-US" altLang="zh-CN" sz="2600" b="1"/>
              </a:p>
            </p:txBody>
          </p:sp>
        </p:grpSp>
        <p:sp>
          <p:nvSpPr>
            <p:cNvPr id="383017" name="Line 41"/>
            <p:cNvSpPr>
              <a:spLocks noChangeShapeType="1"/>
            </p:cNvSpPr>
            <p:nvPr/>
          </p:nvSpPr>
          <p:spPr bwMode="auto">
            <a:xfrm>
              <a:off x="3107" y="1344"/>
              <a:ext cx="317" cy="0"/>
            </a:xfrm>
            <a:prstGeom prst="line">
              <a:avLst/>
            </a:prstGeom>
            <a:noFill/>
            <a:ln w="1905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83020" name="Group 44"/>
            <p:cNvGrpSpPr/>
            <p:nvPr/>
          </p:nvGrpSpPr>
          <p:grpSpPr bwMode="auto">
            <a:xfrm>
              <a:off x="4740" y="1192"/>
              <a:ext cx="521" cy="310"/>
              <a:chOff x="4740" y="1192"/>
              <a:chExt cx="521" cy="310"/>
            </a:xfrm>
          </p:grpSpPr>
          <p:grpSp>
            <p:nvGrpSpPr>
              <p:cNvPr id="383014" name="Group 38"/>
              <p:cNvGrpSpPr/>
              <p:nvPr/>
            </p:nvGrpSpPr>
            <p:grpSpPr bwMode="auto">
              <a:xfrm>
                <a:off x="4740" y="1230"/>
                <a:ext cx="477" cy="250"/>
                <a:chOff x="3424" y="1230"/>
                <a:chExt cx="477" cy="250"/>
              </a:xfrm>
            </p:grpSpPr>
            <p:sp>
              <p:nvSpPr>
                <p:cNvPr id="383015" name="Rectangle 39"/>
                <p:cNvSpPr>
                  <a:spLocks noChangeArrowheads="1"/>
                </p:cNvSpPr>
                <p:nvPr/>
              </p:nvSpPr>
              <p:spPr bwMode="auto">
                <a:xfrm>
                  <a:off x="3424" y="1230"/>
                  <a:ext cx="477" cy="25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p>
                  <a:endParaRPr lang="zh-CN" altLang="en-US"/>
                </a:p>
              </p:txBody>
            </p:sp>
            <p:sp>
              <p:nvSpPr>
                <p:cNvPr id="383016" name="Line 40"/>
                <p:cNvSpPr>
                  <a:spLocks noChangeShapeType="1"/>
                </p:cNvSpPr>
                <p:nvPr/>
              </p:nvSpPr>
              <p:spPr bwMode="auto">
                <a:xfrm>
                  <a:off x="3674" y="1230"/>
                  <a:ext cx="0" cy="2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3018" name="Text Box 42"/>
              <p:cNvSpPr txBox="1">
                <a:spLocks noChangeArrowheads="1"/>
              </p:cNvSpPr>
              <p:nvPr/>
            </p:nvSpPr>
            <p:spPr bwMode="auto">
              <a:xfrm>
                <a:off x="4758"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3</a:t>
                </a:r>
                <a:endParaRPr lang="en-US" altLang="zh-CN" sz="2600" b="1"/>
              </a:p>
            </p:txBody>
          </p:sp>
          <p:sp>
            <p:nvSpPr>
              <p:cNvPr id="383019" name="Text Box 43"/>
              <p:cNvSpPr txBox="1">
                <a:spLocks noChangeArrowheads="1"/>
              </p:cNvSpPr>
              <p:nvPr/>
            </p:nvSpPr>
            <p:spPr bwMode="auto">
              <a:xfrm>
                <a:off x="4953" y="11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endParaRPr lang="en-US" altLang="zh-CN" sz="2400">
                  <a:latin typeface="宋体" panose="02010600030101010101" pitchFamily="2" charset="-122"/>
                </a:endParaRPr>
              </a:p>
            </p:txBody>
          </p:sp>
        </p:grpSp>
        <p:grpSp>
          <p:nvGrpSpPr>
            <p:cNvPr id="383021" name="Group 45"/>
            <p:cNvGrpSpPr/>
            <p:nvPr/>
          </p:nvGrpSpPr>
          <p:grpSpPr bwMode="auto">
            <a:xfrm>
              <a:off x="3424" y="1504"/>
              <a:ext cx="658" cy="308"/>
              <a:chOff x="3424" y="1194"/>
              <a:chExt cx="658" cy="308"/>
            </a:xfrm>
          </p:grpSpPr>
          <p:grpSp>
            <p:nvGrpSpPr>
              <p:cNvPr id="383022" name="Group 46"/>
              <p:cNvGrpSpPr/>
              <p:nvPr/>
            </p:nvGrpSpPr>
            <p:grpSpPr bwMode="auto">
              <a:xfrm>
                <a:off x="3424" y="1230"/>
                <a:ext cx="477" cy="250"/>
                <a:chOff x="3424" y="1230"/>
                <a:chExt cx="477" cy="250"/>
              </a:xfrm>
            </p:grpSpPr>
            <p:sp>
              <p:nvSpPr>
                <p:cNvPr id="383023" name="Rectangle 47"/>
                <p:cNvSpPr>
                  <a:spLocks noChangeArrowheads="1"/>
                </p:cNvSpPr>
                <p:nvPr/>
              </p:nvSpPr>
              <p:spPr bwMode="auto">
                <a:xfrm>
                  <a:off x="3424" y="1230"/>
                  <a:ext cx="477" cy="25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p>
                  <a:endParaRPr lang="zh-CN" altLang="en-US"/>
                </a:p>
              </p:txBody>
            </p:sp>
            <p:sp>
              <p:nvSpPr>
                <p:cNvPr id="383024" name="Line 48"/>
                <p:cNvSpPr>
                  <a:spLocks noChangeShapeType="1"/>
                </p:cNvSpPr>
                <p:nvPr/>
              </p:nvSpPr>
              <p:spPr bwMode="auto">
                <a:xfrm>
                  <a:off x="3674" y="1230"/>
                  <a:ext cx="0" cy="2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3025" name="Line 49"/>
              <p:cNvSpPr>
                <a:spLocks noChangeShapeType="1"/>
              </p:cNvSpPr>
              <p:nvPr/>
            </p:nvSpPr>
            <p:spPr bwMode="auto">
              <a:xfrm>
                <a:off x="3765" y="1344"/>
                <a:ext cx="317" cy="0"/>
              </a:xfrm>
              <a:prstGeom prst="line">
                <a:avLst/>
              </a:prstGeom>
              <a:noFill/>
              <a:ln w="1905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26" name="Text Box 50"/>
              <p:cNvSpPr txBox="1">
                <a:spLocks noChangeArrowheads="1"/>
              </p:cNvSpPr>
              <p:nvPr/>
            </p:nvSpPr>
            <p:spPr bwMode="auto">
              <a:xfrm>
                <a:off x="3442"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4</a:t>
                </a:r>
                <a:endParaRPr lang="en-US" altLang="zh-CN" sz="2600" b="1"/>
              </a:p>
            </p:txBody>
          </p:sp>
        </p:grpSp>
        <p:sp>
          <p:nvSpPr>
            <p:cNvPr id="383027" name="Line 51"/>
            <p:cNvSpPr>
              <a:spLocks noChangeShapeType="1"/>
            </p:cNvSpPr>
            <p:nvPr/>
          </p:nvSpPr>
          <p:spPr bwMode="auto">
            <a:xfrm>
              <a:off x="3107" y="1654"/>
              <a:ext cx="317" cy="0"/>
            </a:xfrm>
            <a:prstGeom prst="line">
              <a:avLst/>
            </a:prstGeom>
            <a:noFill/>
            <a:ln w="1905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83028" name="Group 52"/>
            <p:cNvGrpSpPr/>
            <p:nvPr/>
          </p:nvGrpSpPr>
          <p:grpSpPr bwMode="auto">
            <a:xfrm>
              <a:off x="4082" y="1502"/>
              <a:ext cx="521" cy="310"/>
              <a:chOff x="4740" y="1192"/>
              <a:chExt cx="521" cy="310"/>
            </a:xfrm>
          </p:grpSpPr>
          <p:grpSp>
            <p:nvGrpSpPr>
              <p:cNvPr id="383029" name="Group 53"/>
              <p:cNvGrpSpPr/>
              <p:nvPr/>
            </p:nvGrpSpPr>
            <p:grpSpPr bwMode="auto">
              <a:xfrm>
                <a:off x="4740" y="1230"/>
                <a:ext cx="477" cy="250"/>
                <a:chOff x="3424" y="1230"/>
                <a:chExt cx="477" cy="250"/>
              </a:xfrm>
            </p:grpSpPr>
            <p:sp>
              <p:nvSpPr>
                <p:cNvPr id="383030" name="Rectangle 54"/>
                <p:cNvSpPr>
                  <a:spLocks noChangeArrowheads="1"/>
                </p:cNvSpPr>
                <p:nvPr/>
              </p:nvSpPr>
              <p:spPr bwMode="auto">
                <a:xfrm>
                  <a:off x="3424" y="1230"/>
                  <a:ext cx="477" cy="25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p>
                  <a:endParaRPr lang="zh-CN" altLang="en-US"/>
                </a:p>
              </p:txBody>
            </p:sp>
            <p:sp>
              <p:nvSpPr>
                <p:cNvPr id="383031" name="Line 55"/>
                <p:cNvSpPr>
                  <a:spLocks noChangeShapeType="1"/>
                </p:cNvSpPr>
                <p:nvPr/>
              </p:nvSpPr>
              <p:spPr bwMode="auto">
                <a:xfrm>
                  <a:off x="3674" y="1230"/>
                  <a:ext cx="0" cy="2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3032" name="Text Box 56"/>
              <p:cNvSpPr txBox="1">
                <a:spLocks noChangeArrowheads="1"/>
              </p:cNvSpPr>
              <p:nvPr/>
            </p:nvSpPr>
            <p:spPr bwMode="auto">
              <a:xfrm>
                <a:off x="4758"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5</a:t>
                </a:r>
                <a:endParaRPr lang="en-US" altLang="zh-CN" sz="2600" b="1"/>
              </a:p>
            </p:txBody>
          </p:sp>
          <p:sp>
            <p:nvSpPr>
              <p:cNvPr id="383033" name="Text Box 57"/>
              <p:cNvSpPr txBox="1">
                <a:spLocks noChangeArrowheads="1"/>
              </p:cNvSpPr>
              <p:nvPr/>
            </p:nvSpPr>
            <p:spPr bwMode="auto">
              <a:xfrm>
                <a:off x="4953" y="11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endParaRPr lang="en-US" altLang="zh-CN" sz="2400">
                  <a:latin typeface="宋体" panose="02010600030101010101" pitchFamily="2" charset="-122"/>
                </a:endParaRPr>
              </a:p>
            </p:txBody>
          </p:sp>
        </p:grpSp>
        <p:sp>
          <p:nvSpPr>
            <p:cNvPr id="383034" name="Line 58"/>
            <p:cNvSpPr>
              <a:spLocks noChangeShapeType="1"/>
            </p:cNvSpPr>
            <p:nvPr/>
          </p:nvSpPr>
          <p:spPr bwMode="auto">
            <a:xfrm>
              <a:off x="3107" y="2289"/>
              <a:ext cx="317" cy="0"/>
            </a:xfrm>
            <a:prstGeom prst="line">
              <a:avLst/>
            </a:prstGeom>
            <a:noFill/>
            <a:ln w="1905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83035" name="Group 59"/>
            <p:cNvGrpSpPr/>
            <p:nvPr/>
          </p:nvGrpSpPr>
          <p:grpSpPr bwMode="auto">
            <a:xfrm>
              <a:off x="3424" y="2137"/>
              <a:ext cx="521" cy="310"/>
              <a:chOff x="4740" y="1192"/>
              <a:chExt cx="521" cy="310"/>
            </a:xfrm>
          </p:grpSpPr>
          <p:grpSp>
            <p:nvGrpSpPr>
              <p:cNvPr id="383036" name="Group 60"/>
              <p:cNvGrpSpPr/>
              <p:nvPr/>
            </p:nvGrpSpPr>
            <p:grpSpPr bwMode="auto">
              <a:xfrm>
                <a:off x="4740" y="1230"/>
                <a:ext cx="477" cy="250"/>
                <a:chOff x="3424" y="1230"/>
                <a:chExt cx="477" cy="250"/>
              </a:xfrm>
            </p:grpSpPr>
            <p:sp>
              <p:nvSpPr>
                <p:cNvPr id="383037" name="Rectangle 61"/>
                <p:cNvSpPr>
                  <a:spLocks noChangeArrowheads="1"/>
                </p:cNvSpPr>
                <p:nvPr/>
              </p:nvSpPr>
              <p:spPr bwMode="auto">
                <a:xfrm>
                  <a:off x="3424" y="1230"/>
                  <a:ext cx="477" cy="25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p>
                  <a:endParaRPr lang="zh-CN" altLang="en-US"/>
                </a:p>
              </p:txBody>
            </p:sp>
            <p:sp>
              <p:nvSpPr>
                <p:cNvPr id="383038" name="Line 62"/>
                <p:cNvSpPr>
                  <a:spLocks noChangeShapeType="1"/>
                </p:cNvSpPr>
                <p:nvPr/>
              </p:nvSpPr>
              <p:spPr bwMode="auto">
                <a:xfrm>
                  <a:off x="3674" y="1230"/>
                  <a:ext cx="0" cy="2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3039" name="Text Box 63"/>
              <p:cNvSpPr txBox="1">
                <a:spLocks noChangeArrowheads="1"/>
              </p:cNvSpPr>
              <p:nvPr/>
            </p:nvSpPr>
            <p:spPr bwMode="auto">
              <a:xfrm>
                <a:off x="4758"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6</a:t>
                </a:r>
                <a:endParaRPr lang="en-US" altLang="zh-CN" sz="2600" b="1"/>
              </a:p>
            </p:txBody>
          </p:sp>
          <p:sp>
            <p:nvSpPr>
              <p:cNvPr id="383040" name="Text Box 64"/>
              <p:cNvSpPr txBox="1">
                <a:spLocks noChangeArrowheads="1"/>
              </p:cNvSpPr>
              <p:nvPr/>
            </p:nvSpPr>
            <p:spPr bwMode="auto">
              <a:xfrm>
                <a:off x="4953" y="11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endParaRPr lang="en-US" altLang="zh-CN" sz="2400">
                  <a:latin typeface="宋体" panose="02010600030101010101" pitchFamily="2" charset="-122"/>
                </a:endParaRPr>
              </a:p>
            </p:txBody>
          </p:sp>
        </p:grpSp>
        <p:sp>
          <p:nvSpPr>
            <p:cNvPr id="383042" name="Line 66"/>
            <p:cNvSpPr>
              <a:spLocks noChangeShapeType="1"/>
            </p:cNvSpPr>
            <p:nvPr/>
          </p:nvSpPr>
          <p:spPr bwMode="auto">
            <a:xfrm flipH="1">
              <a:off x="2699" y="1502"/>
              <a:ext cx="52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3" name="Line 67"/>
            <p:cNvSpPr>
              <a:spLocks noChangeShapeType="1"/>
            </p:cNvSpPr>
            <p:nvPr/>
          </p:nvSpPr>
          <p:spPr bwMode="auto">
            <a:xfrm flipH="1">
              <a:off x="2699" y="1820"/>
              <a:ext cx="52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4" name="Line 68"/>
            <p:cNvSpPr>
              <a:spLocks noChangeShapeType="1"/>
            </p:cNvSpPr>
            <p:nvPr/>
          </p:nvSpPr>
          <p:spPr bwMode="auto">
            <a:xfrm flipH="1">
              <a:off x="2699" y="2137"/>
              <a:ext cx="52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5" name="Line 69"/>
            <p:cNvSpPr>
              <a:spLocks noChangeShapeType="1"/>
            </p:cNvSpPr>
            <p:nvPr/>
          </p:nvSpPr>
          <p:spPr bwMode="auto">
            <a:xfrm flipH="1">
              <a:off x="2699" y="2455"/>
              <a:ext cx="52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6" name="Line 70"/>
            <p:cNvSpPr>
              <a:spLocks noChangeShapeType="1"/>
            </p:cNvSpPr>
            <p:nvPr/>
          </p:nvSpPr>
          <p:spPr bwMode="auto">
            <a:xfrm flipH="1">
              <a:off x="2699" y="2772"/>
              <a:ext cx="52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7" name="Line 71"/>
            <p:cNvSpPr>
              <a:spLocks noChangeShapeType="1"/>
            </p:cNvSpPr>
            <p:nvPr/>
          </p:nvSpPr>
          <p:spPr bwMode="auto">
            <a:xfrm flipH="1">
              <a:off x="2699" y="3090"/>
              <a:ext cx="52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8" name="Line 72"/>
            <p:cNvSpPr>
              <a:spLocks noChangeShapeType="1"/>
            </p:cNvSpPr>
            <p:nvPr/>
          </p:nvSpPr>
          <p:spPr bwMode="auto">
            <a:xfrm>
              <a:off x="2971" y="1207"/>
              <a:ext cx="0" cy="222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9" name="Text Box 73"/>
            <p:cNvSpPr txBox="1">
              <a:spLocks noChangeArrowheads="1"/>
            </p:cNvSpPr>
            <p:nvPr/>
          </p:nvSpPr>
          <p:spPr bwMode="auto">
            <a:xfrm>
              <a:off x="2948" y="2455"/>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endParaRPr lang="en-US" altLang="zh-CN" sz="2400">
                <a:latin typeface="宋体" panose="02010600030101010101" pitchFamily="2" charset="-122"/>
              </a:endParaRPr>
            </a:p>
          </p:txBody>
        </p:sp>
        <p:sp>
          <p:nvSpPr>
            <p:cNvPr id="383050" name="Text Box 74"/>
            <p:cNvSpPr txBox="1">
              <a:spLocks noChangeArrowheads="1"/>
            </p:cNvSpPr>
            <p:nvPr/>
          </p:nvSpPr>
          <p:spPr bwMode="auto">
            <a:xfrm>
              <a:off x="2948" y="182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endParaRPr lang="en-US" altLang="zh-CN" sz="2400">
                <a:latin typeface="宋体" panose="02010600030101010101" pitchFamily="2" charset="-122"/>
              </a:endParaRPr>
            </a:p>
          </p:txBody>
        </p:sp>
        <p:sp>
          <p:nvSpPr>
            <p:cNvPr id="383051" name="Text Box 75"/>
            <p:cNvSpPr txBox="1">
              <a:spLocks noChangeArrowheads="1"/>
            </p:cNvSpPr>
            <p:nvPr/>
          </p:nvSpPr>
          <p:spPr bwMode="auto">
            <a:xfrm>
              <a:off x="2948" y="2757"/>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endParaRPr lang="en-US" altLang="zh-CN" sz="2400">
                <a:latin typeface="宋体" panose="02010600030101010101" pitchFamily="2" charset="-122"/>
              </a:endParaRPr>
            </a:p>
          </p:txBody>
        </p:sp>
        <p:sp>
          <p:nvSpPr>
            <p:cNvPr id="383052" name="Text Box 76"/>
            <p:cNvSpPr txBox="1">
              <a:spLocks noChangeArrowheads="1"/>
            </p:cNvSpPr>
            <p:nvPr/>
          </p:nvSpPr>
          <p:spPr bwMode="auto">
            <a:xfrm>
              <a:off x="2948" y="307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endParaRPr lang="en-US" altLang="zh-CN" sz="2400">
                <a:latin typeface="宋体" panose="02010600030101010101" pitchFamily="2" charset="-122"/>
              </a:endParaRPr>
            </a:p>
          </p:txBody>
        </p:sp>
        <p:sp>
          <p:nvSpPr>
            <p:cNvPr id="383053" name="Text Box 77"/>
            <p:cNvSpPr txBox="1">
              <a:spLocks noChangeArrowheads="1"/>
            </p:cNvSpPr>
            <p:nvPr/>
          </p:nvSpPr>
          <p:spPr bwMode="auto">
            <a:xfrm>
              <a:off x="2699" y="1194"/>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A</a:t>
              </a:r>
              <a:endParaRPr lang="en-US" altLang="zh-CN" sz="2600" b="1"/>
            </a:p>
          </p:txBody>
        </p:sp>
        <p:sp>
          <p:nvSpPr>
            <p:cNvPr id="383054" name="Text Box 78"/>
            <p:cNvSpPr txBox="1">
              <a:spLocks noChangeArrowheads="1"/>
            </p:cNvSpPr>
            <p:nvPr/>
          </p:nvSpPr>
          <p:spPr bwMode="auto">
            <a:xfrm>
              <a:off x="2699" y="1489"/>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B</a:t>
              </a:r>
              <a:endParaRPr lang="en-US" altLang="zh-CN" sz="2600" b="1"/>
            </a:p>
          </p:txBody>
        </p:sp>
        <p:sp>
          <p:nvSpPr>
            <p:cNvPr id="383055" name="Text Box 79"/>
            <p:cNvSpPr txBox="1">
              <a:spLocks noChangeArrowheads="1"/>
            </p:cNvSpPr>
            <p:nvPr/>
          </p:nvSpPr>
          <p:spPr bwMode="auto">
            <a:xfrm>
              <a:off x="2699" y="1820"/>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C</a:t>
              </a:r>
              <a:endParaRPr lang="en-US" altLang="zh-CN" sz="2600" b="1"/>
            </a:p>
          </p:txBody>
        </p:sp>
        <p:sp>
          <p:nvSpPr>
            <p:cNvPr id="383056" name="Text Box 80"/>
            <p:cNvSpPr txBox="1">
              <a:spLocks noChangeArrowheads="1"/>
            </p:cNvSpPr>
            <p:nvPr/>
          </p:nvSpPr>
          <p:spPr bwMode="auto">
            <a:xfrm>
              <a:off x="2699" y="2137"/>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D</a:t>
              </a:r>
              <a:endParaRPr lang="en-US" altLang="zh-CN" sz="2600" b="1"/>
            </a:p>
          </p:txBody>
        </p:sp>
        <p:sp>
          <p:nvSpPr>
            <p:cNvPr id="383057" name="Text Box 81"/>
            <p:cNvSpPr txBox="1">
              <a:spLocks noChangeArrowheads="1"/>
            </p:cNvSpPr>
            <p:nvPr/>
          </p:nvSpPr>
          <p:spPr bwMode="auto">
            <a:xfrm>
              <a:off x="2699" y="2455"/>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E</a:t>
              </a:r>
              <a:endParaRPr lang="en-US" altLang="zh-CN" sz="2600" b="1"/>
            </a:p>
          </p:txBody>
        </p:sp>
        <p:sp>
          <p:nvSpPr>
            <p:cNvPr id="383058" name="Text Box 82"/>
            <p:cNvSpPr txBox="1">
              <a:spLocks noChangeArrowheads="1"/>
            </p:cNvSpPr>
            <p:nvPr/>
          </p:nvSpPr>
          <p:spPr bwMode="auto">
            <a:xfrm>
              <a:off x="2721" y="2782"/>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F</a:t>
              </a:r>
              <a:endParaRPr lang="en-US" altLang="zh-CN" sz="2600" b="1"/>
            </a:p>
          </p:txBody>
        </p:sp>
        <p:sp>
          <p:nvSpPr>
            <p:cNvPr id="383059" name="Text Box 83"/>
            <p:cNvSpPr txBox="1">
              <a:spLocks noChangeArrowheads="1"/>
            </p:cNvSpPr>
            <p:nvPr/>
          </p:nvSpPr>
          <p:spPr bwMode="auto">
            <a:xfrm>
              <a:off x="2699" y="3077"/>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G</a:t>
              </a:r>
              <a:endParaRPr lang="en-US" altLang="zh-CN" sz="2600" b="1"/>
            </a:p>
          </p:txBody>
        </p:sp>
        <p:sp>
          <p:nvSpPr>
            <p:cNvPr id="383060" name="Text Box 84"/>
            <p:cNvSpPr txBox="1">
              <a:spLocks noChangeArrowheads="1"/>
            </p:cNvSpPr>
            <p:nvPr/>
          </p:nvSpPr>
          <p:spPr bwMode="auto">
            <a:xfrm>
              <a:off x="2479" y="1204"/>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solidFill>
                    <a:schemeClr val="tx2"/>
                  </a:solidFill>
                  <a:latin typeface="Times New Roman" panose="02020603050405020304" pitchFamily="18" charset="0"/>
                </a:rPr>
                <a:t>0</a:t>
              </a:r>
              <a:endParaRPr lang="en-US" altLang="zh-CN" sz="2600" b="1">
                <a:solidFill>
                  <a:schemeClr val="tx2"/>
                </a:solidFill>
                <a:latin typeface="Times New Roman" panose="02020603050405020304" pitchFamily="18" charset="0"/>
              </a:endParaRPr>
            </a:p>
          </p:txBody>
        </p:sp>
        <p:sp>
          <p:nvSpPr>
            <p:cNvPr id="383061" name="Text Box 85"/>
            <p:cNvSpPr txBox="1">
              <a:spLocks noChangeArrowheads="1"/>
            </p:cNvSpPr>
            <p:nvPr/>
          </p:nvSpPr>
          <p:spPr bwMode="auto">
            <a:xfrm>
              <a:off x="2479" y="1489"/>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solidFill>
                    <a:schemeClr val="tx2"/>
                  </a:solidFill>
                  <a:latin typeface="Times New Roman" panose="02020603050405020304" pitchFamily="18" charset="0"/>
                </a:rPr>
                <a:t>1</a:t>
              </a:r>
              <a:endParaRPr lang="en-US" altLang="zh-CN" sz="2600" b="1">
                <a:solidFill>
                  <a:schemeClr val="tx2"/>
                </a:solidFill>
                <a:latin typeface="Times New Roman" panose="02020603050405020304" pitchFamily="18" charset="0"/>
              </a:endParaRPr>
            </a:p>
          </p:txBody>
        </p:sp>
        <p:sp>
          <p:nvSpPr>
            <p:cNvPr id="383062" name="Text Box 86"/>
            <p:cNvSpPr txBox="1">
              <a:spLocks noChangeArrowheads="1"/>
            </p:cNvSpPr>
            <p:nvPr/>
          </p:nvSpPr>
          <p:spPr bwMode="auto">
            <a:xfrm>
              <a:off x="2472" y="1807"/>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dirty="0">
                  <a:solidFill>
                    <a:schemeClr val="tx2"/>
                  </a:solidFill>
                  <a:latin typeface="Times New Roman" panose="02020603050405020304" pitchFamily="18" charset="0"/>
                </a:rPr>
                <a:t>2</a:t>
              </a:r>
              <a:endParaRPr lang="en-US" altLang="zh-CN" sz="2600" b="1" dirty="0">
                <a:solidFill>
                  <a:schemeClr val="tx2"/>
                </a:solidFill>
                <a:latin typeface="Times New Roman" panose="02020603050405020304" pitchFamily="18" charset="0"/>
              </a:endParaRPr>
            </a:p>
          </p:txBody>
        </p:sp>
        <p:sp>
          <p:nvSpPr>
            <p:cNvPr id="383063" name="Text Box 87"/>
            <p:cNvSpPr txBox="1">
              <a:spLocks noChangeArrowheads="1"/>
            </p:cNvSpPr>
            <p:nvPr/>
          </p:nvSpPr>
          <p:spPr bwMode="auto">
            <a:xfrm>
              <a:off x="2479" y="2147"/>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solidFill>
                    <a:schemeClr val="tx2"/>
                  </a:solidFill>
                  <a:latin typeface="Times New Roman" panose="02020603050405020304" pitchFamily="18" charset="0"/>
                </a:rPr>
                <a:t>3</a:t>
              </a:r>
              <a:endParaRPr lang="en-US" altLang="zh-CN" sz="2600" b="1">
                <a:solidFill>
                  <a:schemeClr val="tx2"/>
                </a:solidFill>
                <a:latin typeface="Times New Roman" panose="02020603050405020304" pitchFamily="18" charset="0"/>
              </a:endParaRPr>
            </a:p>
          </p:txBody>
        </p:sp>
        <p:sp>
          <p:nvSpPr>
            <p:cNvPr id="383064" name="Text Box 88"/>
            <p:cNvSpPr txBox="1">
              <a:spLocks noChangeArrowheads="1"/>
            </p:cNvSpPr>
            <p:nvPr/>
          </p:nvSpPr>
          <p:spPr bwMode="auto">
            <a:xfrm>
              <a:off x="2449" y="2455"/>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solidFill>
                    <a:schemeClr val="tx2"/>
                  </a:solidFill>
                  <a:latin typeface="Times New Roman" panose="02020603050405020304" pitchFamily="18" charset="0"/>
                </a:rPr>
                <a:t>4</a:t>
              </a:r>
              <a:endParaRPr lang="en-US" altLang="zh-CN" sz="2600" b="1">
                <a:solidFill>
                  <a:schemeClr val="tx2"/>
                </a:solidFill>
                <a:latin typeface="Times New Roman" panose="02020603050405020304" pitchFamily="18" charset="0"/>
              </a:endParaRPr>
            </a:p>
          </p:txBody>
        </p:sp>
        <p:sp>
          <p:nvSpPr>
            <p:cNvPr id="383065" name="Text Box 89"/>
            <p:cNvSpPr txBox="1">
              <a:spLocks noChangeArrowheads="1"/>
            </p:cNvSpPr>
            <p:nvPr/>
          </p:nvSpPr>
          <p:spPr bwMode="auto">
            <a:xfrm>
              <a:off x="2456" y="2772"/>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solidFill>
                    <a:schemeClr val="tx2"/>
                  </a:solidFill>
                  <a:latin typeface="Times New Roman" panose="02020603050405020304" pitchFamily="18" charset="0"/>
                </a:rPr>
                <a:t>5</a:t>
              </a:r>
              <a:endParaRPr lang="en-US" altLang="zh-CN" sz="2600" b="1">
                <a:solidFill>
                  <a:schemeClr val="tx2"/>
                </a:solidFill>
                <a:latin typeface="Times New Roman" panose="02020603050405020304" pitchFamily="18" charset="0"/>
              </a:endParaRPr>
            </a:p>
          </p:txBody>
        </p:sp>
        <p:sp>
          <p:nvSpPr>
            <p:cNvPr id="383066" name="Text Box 90"/>
            <p:cNvSpPr txBox="1">
              <a:spLocks noChangeArrowheads="1"/>
            </p:cNvSpPr>
            <p:nvPr/>
          </p:nvSpPr>
          <p:spPr bwMode="auto">
            <a:xfrm>
              <a:off x="2449" y="3077"/>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solidFill>
                    <a:schemeClr val="tx2"/>
                  </a:solidFill>
                  <a:latin typeface="Times New Roman" panose="02020603050405020304" pitchFamily="18" charset="0"/>
                </a:rPr>
                <a:t>6</a:t>
              </a:r>
              <a:endParaRPr lang="en-US" altLang="zh-CN" sz="2600" b="1">
                <a:solidFill>
                  <a:schemeClr val="tx2"/>
                </a:solidFill>
                <a:latin typeface="Times New Roman" panose="02020603050405020304" pitchFamily="18" charset="0"/>
              </a:endParaRPr>
            </a:p>
          </p:txBody>
        </p:sp>
      </p:grpSp>
    </p:spTree>
  </p:cSld>
  <p:clrMapOvr>
    <a:masterClrMapping/>
  </p:clrMapOvr>
  <p:transition>
    <p:spli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9" name="Text Box 3"/>
          <p:cNvSpPr txBox="1">
            <a:spLocks noChangeArrowheads="1"/>
          </p:cNvSpPr>
          <p:nvPr/>
        </p:nvSpPr>
        <p:spPr bwMode="auto">
          <a:xfrm>
            <a:off x="685800" y="2209800"/>
            <a:ext cx="3124200" cy="1066800"/>
          </a:xfrm>
          <a:prstGeom prst="rect">
            <a:avLst/>
          </a:prstGeom>
          <a:noFill/>
          <a:ln w="9525">
            <a:noFill/>
            <a:miter lim="800000"/>
          </a:ln>
          <a:effectLst/>
        </p:spPr>
        <p:txBody>
          <a:bodyPr>
            <a:spAutoFit/>
          </a:bodyPr>
          <a:lstStyle/>
          <a:p>
            <a:pPr eaLnBrk="1" fontAlgn="auto" hangingPunct="1">
              <a:spcBef>
                <a:spcPts val="0"/>
              </a:spcBef>
              <a:spcAft>
                <a:spcPts val="0"/>
              </a:spcAft>
              <a:defRPr/>
            </a:pPr>
            <a:r>
              <a:rPr lang="zh-CN" altLang="en-US" sz="3200" dirty="0">
                <a:solidFill>
                  <a:srgbClr val="009900"/>
                </a:solidFill>
                <a:effectLst>
                  <a:outerShdw blurRad="38100" dist="38100" dir="2700000" algn="tl">
                    <a:srgbClr val="C0C0C0"/>
                  </a:outerShdw>
                </a:effectLst>
                <a:latin typeface="隶书" panose="02010509060101010101" pitchFamily="49" charset="-122"/>
                <a:ea typeface="隶书" panose="02010509060101010101" pitchFamily="49" charset="-122"/>
              </a:rPr>
              <a:t>树的左孩子 </a:t>
            </a:r>
            <a:r>
              <a:rPr lang="en-US" altLang="zh-CN" sz="3200" dirty="0">
                <a:solidFill>
                  <a:srgbClr val="009900"/>
                </a:solidFill>
                <a:effectLst>
                  <a:outerShdw blurRad="38100" dist="38100" dir="2700000" algn="tl">
                    <a:srgbClr val="C0C0C0"/>
                  </a:outerShdw>
                </a:effectLst>
                <a:latin typeface="隶书" panose="02010509060101010101" pitchFamily="49" charset="-122"/>
                <a:ea typeface="隶书" panose="02010509060101010101" pitchFamily="49" charset="-122"/>
              </a:rPr>
              <a:t>-</a:t>
            </a:r>
            <a:endParaRPr lang="en-US" altLang="zh-CN" sz="3200" dirty="0">
              <a:solidFill>
                <a:srgbClr val="009900"/>
              </a:solidFill>
              <a:effectLst>
                <a:outerShdw blurRad="38100" dist="38100" dir="2700000" algn="tl">
                  <a:srgbClr val="C0C0C0"/>
                </a:outerShdw>
              </a:effectLst>
              <a:latin typeface="隶书" panose="02010509060101010101" pitchFamily="49" charset="-122"/>
              <a:ea typeface="隶书" panose="02010509060101010101" pitchFamily="49" charset="-122"/>
            </a:endParaRPr>
          </a:p>
          <a:p>
            <a:pPr eaLnBrk="1" fontAlgn="auto" hangingPunct="1">
              <a:spcBef>
                <a:spcPts val="0"/>
              </a:spcBef>
              <a:spcAft>
                <a:spcPts val="0"/>
              </a:spcAft>
              <a:defRPr/>
            </a:pPr>
            <a:r>
              <a:rPr lang="en-US" altLang="zh-CN" sz="3200" dirty="0">
                <a:solidFill>
                  <a:srgbClr val="009900"/>
                </a:solidFill>
                <a:effectLst>
                  <a:outerShdw blurRad="38100" dist="38100" dir="2700000" algn="tl">
                    <a:srgbClr val="C0C0C0"/>
                  </a:outerShdw>
                </a:effectLst>
                <a:latin typeface="隶书" panose="02010509060101010101" pitchFamily="49" charset="-122"/>
                <a:ea typeface="隶书" panose="02010509060101010101" pitchFamily="49" charset="-122"/>
              </a:rPr>
              <a:t>    </a:t>
            </a:r>
            <a:r>
              <a:rPr lang="zh-CN" altLang="en-US" sz="3200" dirty="0">
                <a:solidFill>
                  <a:srgbClr val="009900"/>
                </a:solidFill>
                <a:effectLst>
                  <a:outerShdw blurRad="38100" dist="38100" dir="2700000" algn="tl">
                    <a:srgbClr val="C0C0C0"/>
                  </a:outerShdw>
                </a:effectLst>
                <a:latin typeface="隶书" panose="02010509060101010101" pitchFamily="49" charset="-122"/>
                <a:ea typeface="隶书" panose="02010509060101010101" pitchFamily="49" charset="-122"/>
              </a:rPr>
              <a:t>右兄弟表示</a:t>
            </a:r>
            <a:endParaRPr lang="zh-CN" altLang="en-US" sz="2000" dirty="0">
              <a:latin typeface="Times New Roman" panose="02020603050405020304" pitchFamily="18" charset="0"/>
              <a:ea typeface="+mn-ea"/>
            </a:endParaRPr>
          </a:p>
        </p:txBody>
      </p:sp>
      <p:sp>
        <p:nvSpPr>
          <p:cNvPr id="102403" name="Rectangle 4"/>
          <p:cNvSpPr>
            <a:spLocks noChangeArrowheads="1"/>
          </p:cNvSpPr>
          <p:nvPr/>
        </p:nvSpPr>
        <p:spPr bwMode="auto">
          <a:xfrm>
            <a:off x="1851509" y="1684338"/>
            <a:ext cx="5181600" cy="533400"/>
          </a:xfrm>
          <a:prstGeom prst="rect">
            <a:avLst/>
          </a:prstGeom>
          <a:solidFill>
            <a:srgbClr val="FFFFCC"/>
          </a:solidFill>
          <a:ln w="19050">
            <a:solidFill>
              <a:srgbClr val="FF00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en-US" i="1">
                <a:latin typeface="Times New Roman" panose="02020603050405020304" pitchFamily="18" charset="0"/>
                <a:ea typeface="黑体" panose="02010609060101010101" pitchFamily="2" charset="-122"/>
              </a:rPr>
              <a:t>  </a:t>
            </a:r>
            <a:r>
              <a:rPr lang="en-US" altLang="zh-CN" sz="2800">
                <a:solidFill>
                  <a:schemeClr val="accent2"/>
                </a:solidFill>
                <a:latin typeface="Times New Roman" panose="02020603050405020304" pitchFamily="18" charset="0"/>
                <a:ea typeface="黑体" panose="02010609060101010101" pitchFamily="2" charset="-122"/>
              </a:rPr>
              <a:t>data</a:t>
            </a:r>
            <a:endParaRPr lang="en-US" altLang="zh-CN">
              <a:latin typeface="Arial" panose="020B0604020202020204" pitchFamily="34" charset="0"/>
              <a:ea typeface="黑体" panose="02010609060101010101" pitchFamily="2" charset="-122"/>
            </a:endParaRPr>
          </a:p>
        </p:txBody>
      </p:sp>
      <p:sp>
        <p:nvSpPr>
          <p:cNvPr id="102404" name="Line 5"/>
          <p:cNvSpPr>
            <a:spLocks noChangeShapeType="1"/>
          </p:cNvSpPr>
          <p:nvPr/>
        </p:nvSpPr>
        <p:spPr bwMode="auto">
          <a:xfrm>
            <a:off x="2994509" y="1684338"/>
            <a:ext cx="0" cy="533400"/>
          </a:xfrm>
          <a:prstGeom prst="line">
            <a:avLst/>
          </a:prstGeom>
          <a:noFill/>
          <a:ln w="19050">
            <a:solidFill>
              <a:srgbClr val="FF0000"/>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2405" name="Text Box 6"/>
          <p:cNvSpPr txBox="1">
            <a:spLocks noChangeArrowheads="1"/>
          </p:cNvSpPr>
          <p:nvPr/>
        </p:nvSpPr>
        <p:spPr bwMode="auto">
          <a:xfrm>
            <a:off x="3156434" y="1684338"/>
            <a:ext cx="1666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黑体" panose="02010609060101010101" pitchFamily="2" charset="-122"/>
              </a:rPr>
              <a:t>firstChild</a:t>
            </a:r>
            <a:endParaRPr kumimoji="1" lang="en-US" altLang="zh-CN" sz="2400">
              <a:latin typeface="Arial" panose="020B0604020202020204" pitchFamily="34" charset="0"/>
              <a:ea typeface="黑体" panose="02010609060101010101" pitchFamily="2" charset="-122"/>
            </a:endParaRPr>
          </a:p>
        </p:txBody>
      </p:sp>
      <p:sp>
        <p:nvSpPr>
          <p:cNvPr id="102406" name="Line 7"/>
          <p:cNvSpPr>
            <a:spLocks noChangeShapeType="1"/>
          </p:cNvSpPr>
          <p:nvPr/>
        </p:nvSpPr>
        <p:spPr bwMode="auto">
          <a:xfrm>
            <a:off x="4899509" y="1684338"/>
            <a:ext cx="0" cy="533400"/>
          </a:xfrm>
          <a:prstGeom prst="line">
            <a:avLst/>
          </a:prstGeom>
          <a:noFill/>
          <a:ln w="19050">
            <a:solidFill>
              <a:srgbClr val="FF0000"/>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2407" name="Text Box 8"/>
          <p:cNvSpPr txBox="1">
            <a:spLocks noChangeArrowheads="1"/>
          </p:cNvSpPr>
          <p:nvPr/>
        </p:nvSpPr>
        <p:spPr bwMode="auto">
          <a:xfrm>
            <a:off x="5036034" y="1684338"/>
            <a:ext cx="1905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黑体" panose="02010609060101010101" pitchFamily="2" charset="-122"/>
              </a:rPr>
              <a:t>nextSibling</a:t>
            </a:r>
            <a:endParaRPr kumimoji="1" lang="en-US" altLang="zh-CN" sz="2400">
              <a:latin typeface="Arial" panose="020B0604020202020204" pitchFamily="34" charset="0"/>
              <a:ea typeface="黑体" panose="02010609060101010101" pitchFamily="2" charset="-122"/>
            </a:endParaRPr>
          </a:p>
        </p:txBody>
      </p:sp>
      <p:sp>
        <p:nvSpPr>
          <p:cNvPr id="102408" name="Line 9"/>
          <p:cNvSpPr>
            <a:spLocks noChangeShapeType="1"/>
          </p:cNvSpPr>
          <p:nvPr/>
        </p:nvSpPr>
        <p:spPr bwMode="auto">
          <a:xfrm>
            <a:off x="2454275" y="4876800"/>
            <a:ext cx="0" cy="5334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09" name="Line 10"/>
          <p:cNvSpPr>
            <a:spLocks noChangeShapeType="1"/>
          </p:cNvSpPr>
          <p:nvPr/>
        </p:nvSpPr>
        <p:spPr bwMode="auto">
          <a:xfrm>
            <a:off x="1920875" y="4038600"/>
            <a:ext cx="533400" cy="6858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10" name="Line 11"/>
          <p:cNvSpPr>
            <a:spLocks noChangeShapeType="1"/>
          </p:cNvSpPr>
          <p:nvPr/>
        </p:nvSpPr>
        <p:spPr bwMode="auto">
          <a:xfrm>
            <a:off x="1158875" y="4876800"/>
            <a:ext cx="22860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11" name="Line 12"/>
          <p:cNvSpPr>
            <a:spLocks noChangeShapeType="1"/>
          </p:cNvSpPr>
          <p:nvPr/>
        </p:nvSpPr>
        <p:spPr bwMode="auto">
          <a:xfrm flipH="1">
            <a:off x="811213" y="4876800"/>
            <a:ext cx="195262"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12" name="Line 13"/>
          <p:cNvSpPr>
            <a:spLocks noChangeShapeType="1"/>
          </p:cNvSpPr>
          <p:nvPr/>
        </p:nvSpPr>
        <p:spPr bwMode="auto">
          <a:xfrm flipH="1">
            <a:off x="1158875" y="4114800"/>
            <a:ext cx="45720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13" name="Line 14"/>
          <p:cNvSpPr>
            <a:spLocks noChangeShapeType="1"/>
          </p:cNvSpPr>
          <p:nvPr/>
        </p:nvSpPr>
        <p:spPr bwMode="auto">
          <a:xfrm>
            <a:off x="1768475" y="4114800"/>
            <a:ext cx="0" cy="4572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14" name="Oval 15"/>
          <p:cNvSpPr>
            <a:spLocks noChangeArrowheads="1"/>
          </p:cNvSpPr>
          <p:nvPr/>
        </p:nvSpPr>
        <p:spPr bwMode="auto">
          <a:xfrm>
            <a:off x="1539875" y="3733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15" name="Oval 16"/>
          <p:cNvSpPr>
            <a:spLocks noChangeArrowheads="1"/>
          </p:cNvSpPr>
          <p:nvPr/>
        </p:nvSpPr>
        <p:spPr bwMode="auto">
          <a:xfrm>
            <a:off x="1539875" y="4495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16" name="Oval 17"/>
          <p:cNvSpPr>
            <a:spLocks noChangeArrowheads="1"/>
          </p:cNvSpPr>
          <p:nvPr/>
        </p:nvSpPr>
        <p:spPr bwMode="auto">
          <a:xfrm>
            <a:off x="1158875" y="5257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17" name="Oval 18"/>
          <p:cNvSpPr>
            <a:spLocks noChangeArrowheads="1"/>
          </p:cNvSpPr>
          <p:nvPr/>
        </p:nvSpPr>
        <p:spPr bwMode="auto">
          <a:xfrm>
            <a:off x="549275" y="5257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18" name="Oval 19"/>
          <p:cNvSpPr>
            <a:spLocks noChangeArrowheads="1"/>
          </p:cNvSpPr>
          <p:nvPr/>
        </p:nvSpPr>
        <p:spPr bwMode="auto">
          <a:xfrm>
            <a:off x="854075" y="4495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19" name="Oval 20"/>
          <p:cNvSpPr>
            <a:spLocks noChangeArrowheads="1"/>
          </p:cNvSpPr>
          <p:nvPr/>
        </p:nvSpPr>
        <p:spPr bwMode="auto">
          <a:xfrm>
            <a:off x="2225675" y="4495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20" name="Oval 21"/>
          <p:cNvSpPr>
            <a:spLocks noChangeArrowheads="1"/>
          </p:cNvSpPr>
          <p:nvPr/>
        </p:nvSpPr>
        <p:spPr bwMode="auto">
          <a:xfrm>
            <a:off x="2225675" y="5257800"/>
            <a:ext cx="457200" cy="457200"/>
          </a:xfrm>
          <a:prstGeom prst="ellipse">
            <a:avLst/>
          </a:prstGeom>
          <a:solidFill>
            <a:srgbClr val="FFFFCC"/>
          </a:solidFill>
          <a:ln w="19050">
            <a:solidFill>
              <a:schemeClr val="tx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21" name="Text Box 22"/>
          <p:cNvSpPr txBox="1">
            <a:spLocks noChangeArrowheads="1"/>
          </p:cNvSpPr>
          <p:nvPr/>
        </p:nvSpPr>
        <p:spPr bwMode="auto">
          <a:xfrm>
            <a:off x="1555750" y="3671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02422" name="Text Box 23"/>
          <p:cNvSpPr txBox="1">
            <a:spLocks noChangeArrowheads="1"/>
          </p:cNvSpPr>
          <p:nvPr/>
        </p:nvSpPr>
        <p:spPr bwMode="auto">
          <a:xfrm>
            <a:off x="879475" y="44338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02423" name="Text Box 24"/>
          <p:cNvSpPr txBox="1">
            <a:spLocks noChangeArrowheads="1"/>
          </p:cNvSpPr>
          <p:nvPr/>
        </p:nvSpPr>
        <p:spPr bwMode="auto">
          <a:xfrm>
            <a:off x="1555750" y="4433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02424" name="Text Box 25"/>
          <p:cNvSpPr txBox="1">
            <a:spLocks noChangeArrowheads="1"/>
          </p:cNvSpPr>
          <p:nvPr/>
        </p:nvSpPr>
        <p:spPr bwMode="auto">
          <a:xfrm>
            <a:off x="2301875" y="4433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02425" name="Text Box 26"/>
          <p:cNvSpPr txBox="1">
            <a:spLocks noChangeArrowheads="1"/>
          </p:cNvSpPr>
          <p:nvPr/>
        </p:nvSpPr>
        <p:spPr bwMode="auto">
          <a:xfrm>
            <a:off x="574675" y="51958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02426" name="Text Box 27"/>
          <p:cNvSpPr txBox="1">
            <a:spLocks noChangeArrowheads="1"/>
          </p:cNvSpPr>
          <p:nvPr/>
        </p:nvSpPr>
        <p:spPr bwMode="auto">
          <a:xfrm>
            <a:off x="1193800" y="51958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02427" name="Text Box 28"/>
          <p:cNvSpPr txBox="1">
            <a:spLocks noChangeArrowheads="1"/>
          </p:cNvSpPr>
          <p:nvPr/>
        </p:nvSpPr>
        <p:spPr bwMode="auto">
          <a:xfrm>
            <a:off x="2232025" y="51958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02428" name="Rectangle 29"/>
          <p:cNvSpPr>
            <a:spLocks noChangeArrowheads="1"/>
          </p:cNvSpPr>
          <p:nvPr/>
        </p:nvSpPr>
        <p:spPr bwMode="auto">
          <a:xfrm>
            <a:off x="5257800" y="2362200"/>
            <a:ext cx="1143000" cy="45720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29" name="Line 30"/>
          <p:cNvSpPr>
            <a:spLocks noChangeShapeType="1"/>
          </p:cNvSpPr>
          <p:nvPr/>
        </p:nvSpPr>
        <p:spPr bwMode="auto">
          <a:xfrm>
            <a:off x="5638800" y="23622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0" name="Line 31"/>
          <p:cNvSpPr>
            <a:spLocks noChangeShapeType="1"/>
          </p:cNvSpPr>
          <p:nvPr/>
        </p:nvSpPr>
        <p:spPr bwMode="auto">
          <a:xfrm>
            <a:off x="6019800" y="23622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1" name="Rectangle 32"/>
          <p:cNvSpPr>
            <a:spLocks noChangeArrowheads="1"/>
          </p:cNvSpPr>
          <p:nvPr/>
        </p:nvSpPr>
        <p:spPr bwMode="auto">
          <a:xfrm>
            <a:off x="4267200" y="3124200"/>
            <a:ext cx="1143000" cy="45720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32" name="Line 33"/>
          <p:cNvSpPr>
            <a:spLocks noChangeShapeType="1"/>
          </p:cNvSpPr>
          <p:nvPr/>
        </p:nvSpPr>
        <p:spPr bwMode="auto">
          <a:xfrm>
            <a:off x="4648200" y="31242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3" name="Line 34"/>
          <p:cNvSpPr>
            <a:spLocks noChangeShapeType="1"/>
          </p:cNvSpPr>
          <p:nvPr/>
        </p:nvSpPr>
        <p:spPr bwMode="auto">
          <a:xfrm>
            <a:off x="5029200" y="31242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4" name="Rectangle 35"/>
          <p:cNvSpPr>
            <a:spLocks noChangeArrowheads="1"/>
          </p:cNvSpPr>
          <p:nvPr/>
        </p:nvSpPr>
        <p:spPr bwMode="auto">
          <a:xfrm>
            <a:off x="3276600" y="3962400"/>
            <a:ext cx="1143000" cy="45720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35" name="Line 36"/>
          <p:cNvSpPr>
            <a:spLocks noChangeShapeType="1"/>
          </p:cNvSpPr>
          <p:nvPr/>
        </p:nvSpPr>
        <p:spPr bwMode="auto">
          <a:xfrm>
            <a:off x="3657600" y="39624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6" name="Line 37"/>
          <p:cNvSpPr>
            <a:spLocks noChangeShapeType="1"/>
          </p:cNvSpPr>
          <p:nvPr/>
        </p:nvSpPr>
        <p:spPr bwMode="auto">
          <a:xfrm>
            <a:off x="4038600" y="39624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7" name="Line 38"/>
          <p:cNvSpPr>
            <a:spLocks noChangeShapeType="1"/>
          </p:cNvSpPr>
          <p:nvPr/>
        </p:nvSpPr>
        <p:spPr bwMode="auto">
          <a:xfrm flipH="1">
            <a:off x="4800600" y="2590800"/>
            <a:ext cx="685800" cy="533400"/>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8" name="Line 39"/>
          <p:cNvSpPr>
            <a:spLocks noChangeShapeType="1"/>
          </p:cNvSpPr>
          <p:nvPr/>
        </p:nvSpPr>
        <p:spPr bwMode="auto">
          <a:xfrm flipH="1">
            <a:off x="3810000" y="3352800"/>
            <a:ext cx="685800" cy="609600"/>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9" name="Rectangle 40"/>
          <p:cNvSpPr>
            <a:spLocks noChangeArrowheads="1"/>
          </p:cNvSpPr>
          <p:nvPr/>
        </p:nvSpPr>
        <p:spPr bwMode="auto">
          <a:xfrm>
            <a:off x="5638800" y="3962400"/>
            <a:ext cx="1143000" cy="45720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40" name="Line 41"/>
          <p:cNvSpPr>
            <a:spLocks noChangeShapeType="1"/>
          </p:cNvSpPr>
          <p:nvPr/>
        </p:nvSpPr>
        <p:spPr bwMode="auto">
          <a:xfrm>
            <a:off x="6019800" y="39624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41" name="Line 42"/>
          <p:cNvSpPr>
            <a:spLocks noChangeShapeType="1"/>
          </p:cNvSpPr>
          <p:nvPr/>
        </p:nvSpPr>
        <p:spPr bwMode="auto">
          <a:xfrm>
            <a:off x="6400800" y="39624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42" name="Rectangle 43"/>
          <p:cNvSpPr>
            <a:spLocks noChangeArrowheads="1"/>
          </p:cNvSpPr>
          <p:nvPr/>
        </p:nvSpPr>
        <p:spPr bwMode="auto">
          <a:xfrm>
            <a:off x="7239000" y="4724400"/>
            <a:ext cx="1143000" cy="45720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43" name="Line 44"/>
          <p:cNvSpPr>
            <a:spLocks noChangeShapeType="1"/>
          </p:cNvSpPr>
          <p:nvPr/>
        </p:nvSpPr>
        <p:spPr bwMode="auto">
          <a:xfrm>
            <a:off x="7620000" y="47244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44" name="Line 45"/>
          <p:cNvSpPr>
            <a:spLocks noChangeShapeType="1"/>
          </p:cNvSpPr>
          <p:nvPr/>
        </p:nvSpPr>
        <p:spPr bwMode="auto">
          <a:xfrm>
            <a:off x="8001000" y="47244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45" name="Rectangle 46"/>
          <p:cNvSpPr>
            <a:spLocks noChangeArrowheads="1"/>
          </p:cNvSpPr>
          <p:nvPr/>
        </p:nvSpPr>
        <p:spPr bwMode="auto">
          <a:xfrm>
            <a:off x="6019800" y="5486400"/>
            <a:ext cx="1143000" cy="45720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46" name="Line 47"/>
          <p:cNvSpPr>
            <a:spLocks noChangeShapeType="1"/>
          </p:cNvSpPr>
          <p:nvPr/>
        </p:nvSpPr>
        <p:spPr bwMode="auto">
          <a:xfrm>
            <a:off x="6400800" y="54864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47" name="Line 48"/>
          <p:cNvSpPr>
            <a:spLocks noChangeShapeType="1"/>
          </p:cNvSpPr>
          <p:nvPr/>
        </p:nvSpPr>
        <p:spPr bwMode="auto">
          <a:xfrm>
            <a:off x="6781800" y="54864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48" name="Rectangle 49"/>
          <p:cNvSpPr>
            <a:spLocks noChangeArrowheads="1"/>
          </p:cNvSpPr>
          <p:nvPr/>
        </p:nvSpPr>
        <p:spPr bwMode="auto">
          <a:xfrm>
            <a:off x="4267200" y="4800600"/>
            <a:ext cx="1143000" cy="45720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49" name="Line 50"/>
          <p:cNvSpPr>
            <a:spLocks noChangeShapeType="1"/>
          </p:cNvSpPr>
          <p:nvPr/>
        </p:nvSpPr>
        <p:spPr bwMode="auto">
          <a:xfrm>
            <a:off x="4648200" y="48006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50" name="Line 51"/>
          <p:cNvSpPr>
            <a:spLocks noChangeShapeType="1"/>
          </p:cNvSpPr>
          <p:nvPr/>
        </p:nvSpPr>
        <p:spPr bwMode="auto">
          <a:xfrm>
            <a:off x="5029200" y="4800600"/>
            <a:ext cx="0" cy="4572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51" name="Line 52"/>
          <p:cNvSpPr>
            <a:spLocks noChangeShapeType="1"/>
          </p:cNvSpPr>
          <p:nvPr/>
        </p:nvSpPr>
        <p:spPr bwMode="auto">
          <a:xfrm flipH="1">
            <a:off x="6705600" y="4953000"/>
            <a:ext cx="762000" cy="533400"/>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52" name="Line 53"/>
          <p:cNvSpPr>
            <a:spLocks noChangeShapeType="1"/>
          </p:cNvSpPr>
          <p:nvPr/>
        </p:nvSpPr>
        <p:spPr bwMode="auto">
          <a:xfrm>
            <a:off x="4267200" y="4191000"/>
            <a:ext cx="533400" cy="609600"/>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53" name="Line 54"/>
          <p:cNvSpPr>
            <a:spLocks noChangeShapeType="1"/>
          </p:cNvSpPr>
          <p:nvPr/>
        </p:nvSpPr>
        <p:spPr bwMode="auto">
          <a:xfrm>
            <a:off x="5257800" y="3352800"/>
            <a:ext cx="914400" cy="609600"/>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54" name="Line 55"/>
          <p:cNvSpPr>
            <a:spLocks noChangeShapeType="1"/>
          </p:cNvSpPr>
          <p:nvPr/>
        </p:nvSpPr>
        <p:spPr bwMode="auto">
          <a:xfrm>
            <a:off x="6629400" y="4191000"/>
            <a:ext cx="990600" cy="533400"/>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55" name="Text Box 56"/>
          <p:cNvSpPr txBox="1">
            <a:spLocks noChangeArrowheads="1"/>
          </p:cNvSpPr>
          <p:nvPr/>
        </p:nvSpPr>
        <p:spPr bwMode="auto">
          <a:xfrm>
            <a:off x="5618163" y="2286000"/>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02456" name="Text Box 57"/>
          <p:cNvSpPr txBox="1">
            <a:spLocks noChangeArrowheads="1"/>
          </p:cNvSpPr>
          <p:nvPr/>
        </p:nvSpPr>
        <p:spPr bwMode="auto">
          <a:xfrm>
            <a:off x="4572000" y="3048000"/>
            <a:ext cx="455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02457" name="Text Box 58"/>
          <p:cNvSpPr txBox="1">
            <a:spLocks noChangeArrowheads="1"/>
          </p:cNvSpPr>
          <p:nvPr/>
        </p:nvSpPr>
        <p:spPr bwMode="auto">
          <a:xfrm>
            <a:off x="5999163" y="3916363"/>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02458" name="Text Box 59"/>
          <p:cNvSpPr txBox="1">
            <a:spLocks noChangeArrowheads="1"/>
          </p:cNvSpPr>
          <p:nvPr/>
        </p:nvSpPr>
        <p:spPr bwMode="auto">
          <a:xfrm>
            <a:off x="7543800" y="4678363"/>
            <a:ext cx="477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02459" name="Text Box 60"/>
          <p:cNvSpPr txBox="1">
            <a:spLocks noChangeArrowheads="1"/>
          </p:cNvSpPr>
          <p:nvPr/>
        </p:nvSpPr>
        <p:spPr bwMode="auto">
          <a:xfrm>
            <a:off x="6324600" y="5440363"/>
            <a:ext cx="5000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02460" name="Text Box 61"/>
          <p:cNvSpPr txBox="1">
            <a:spLocks noChangeArrowheads="1"/>
          </p:cNvSpPr>
          <p:nvPr/>
        </p:nvSpPr>
        <p:spPr bwMode="auto">
          <a:xfrm>
            <a:off x="4597400" y="4724400"/>
            <a:ext cx="431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02461" name="Text Box 62"/>
          <p:cNvSpPr txBox="1">
            <a:spLocks noChangeArrowheads="1"/>
          </p:cNvSpPr>
          <p:nvPr/>
        </p:nvSpPr>
        <p:spPr bwMode="auto">
          <a:xfrm>
            <a:off x="3581400" y="3916363"/>
            <a:ext cx="455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zh-CN" altLang="en-US" dirty="0"/>
              <a:t>孩子</a:t>
            </a:r>
            <a:r>
              <a:rPr lang="en-US" altLang="zh-CN" dirty="0"/>
              <a:t>-</a:t>
            </a:r>
            <a:r>
              <a:rPr lang="zh-CN" altLang="en-US" dirty="0"/>
              <a:t>兄弟链表示法</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用左孩子</a:t>
            </a:r>
            <a:r>
              <a:rPr lang="en-US" altLang="zh-CN" dirty="0"/>
              <a:t>-</a:t>
            </a:r>
            <a:r>
              <a:rPr lang="zh-CN" altLang="en-US" dirty="0"/>
              <a:t>右兄弟表示实现的树的类定义</a:t>
            </a:r>
            <a:endParaRPr lang="zh-CN" altLang="en-US" dirty="0"/>
          </a:p>
        </p:txBody>
      </p:sp>
      <p:sp>
        <p:nvSpPr>
          <p:cNvPr id="3" name="内容占位符 2"/>
          <p:cNvSpPr>
            <a:spLocks noGrp="1"/>
          </p:cNvSpPr>
          <p:nvPr>
            <p:ph idx="1"/>
          </p:nvPr>
        </p:nvSpPr>
        <p:spPr>
          <a:xfrm>
            <a:off x="251520" y="1825625"/>
            <a:ext cx="8640960" cy="4351338"/>
          </a:xfrm>
        </p:spPr>
        <p:txBody>
          <a:bodyPr>
            <a:normAutofit fontScale="92500" lnSpcReduction="20000"/>
          </a:bodyPr>
          <a:lstStyle/>
          <a:p>
            <a:pPr marL="0" indent="0">
              <a:buNone/>
            </a:pPr>
            <a:r>
              <a:rPr lang="en-US" altLang="zh-CN" dirty="0"/>
              <a:t>template &lt;class T&gt; struct </a:t>
            </a:r>
            <a:r>
              <a:rPr lang="en-US" altLang="zh-CN" dirty="0" err="1"/>
              <a:t>TreeNode</a:t>
            </a:r>
            <a:r>
              <a:rPr lang="en-US" altLang="zh-CN" dirty="0"/>
              <a:t> {</a:t>
            </a:r>
            <a:endParaRPr lang="en-US" altLang="zh-CN" dirty="0"/>
          </a:p>
          <a:p>
            <a:pPr marL="0" indent="0">
              <a:buNone/>
            </a:pPr>
            <a:r>
              <a:rPr lang="en-US" altLang="zh-CN" dirty="0"/>
              <a:t>    T data;</a:t>
            </a:r>
            <a:endParaRPr lang="en-US" altLang="zh-CN" dirty="0"/>
          </a:p>
          <a:p>
            <a:pPr marL="0" indent="0">
              <a:buNone/>
            </a:pPr>
            <a:r>
              <a:rPr lang="en-US" altLang="zh-CN" dirty="0"/>
              <a:t>    </a:t>
            </a:r>
            <a:r>
              <a:rPr lang="en-US" altLang="zh-CN" dirty="0" err="1"/>
              <a:t>TreeNode</a:t>
            </a:r>
            <a:r>
              <a:rPr lang="en-US" altLang="zh-CN" dirty="0"/>
              <a:t>&lt;T&gt; *</a:t>
            </a:r>
            <a:r>
              <a:rPr lang="en-US" altLang="zh-CN" dirty="0" err="1"/>
              <a:t>firstChild</a:t>
            </a:r>
            <a:r>
              <a:rPr lang="en-US" altLang="zh-CN" dirty="0"/>
              <a:t>, *</a:t>
            </a:r>
            <a:r>
              <a:rPr lang="en-US" altLang="zh-CN" dirty="0" err="1"/>
              <a:t>nextSibling</a:t>
            </a:r>
            <a:r>
              <a:rPr lang="en-US" altLang="zh-CN" dirty="0"/>
              <a:t>;</a:t>
            </a:r>
            <a:endParaRPr lang="en-US" altLang="zh-CN" dirty="0"/>
          </a:p>
          <a:p>
            <a:pPr marL="0" indent="0">
              <a:buNone/>
            </a:pPr>
            <a:r>
              <a:rPr lang="en-US" altLang="zh-CN" dirty="0"/>
              <a:t>    </a:t>
            </a:r>
            <a:r>
              <a:rPr lang="en-US" altLang="zh-CN" dirty="0" err="1"/>
              <a:t>TreeNode</a:t>
            </a:r>
            <a:r>
              <a:rPr lang="en-US" altLang="zh-CN" dirty="0"/>
              <a:t> ( T value=0, </a:t>
            </a:r>
            <a:r>
              <a:rPr lang="en-US" altLang="zh-CN" dirty="0" err="1"/>
              <a:t>TreeNode</a:t>
            </a:r>
            <a:r>
              <a:rPr lang="en-US" altLang="zh-CN" dirty="0"/>
              <a:t>&lt;T&gt; </a:t>
            </a:r>
            <a:endParaRPr lang="en-US" altLang="zh-CN" dirty="0"/>
          </a:p>
          <a:p>
            <a:pPr marL="0" indent="0">
              <a:buNone/>
            </a:pPr>
            <a:r>
              <a:rPr lang="en-US" altLang="zh-CN" dirty="0"/>
              <a:t>        *fc=NULL,  </a:t>
            </a:r>
            <a:r>
              <a:rPr lang="en-US" altLang="zh-CN" dirty="0" err="1"/>
              <a:t>TreeNode</a:t>
            </a:r>
            <a:r>
              <a:rPr lang="en-US" altLang="zh-CN" dirty="0"/>
              <a:t>&lt;T&gt; *ns=NULL ) : </a:t>
            </a:r>
            <a:endParaRPr lang="en-US" altLang="zh-CN" dirty="0"/>
          </a:p>
          <a:p>
            <a:pPr marL="0" indent="0">
              <a:buNone/>
            </a:pPr>
            <a:r>
              <a:rPr lang="en-US" altLang="zh-CN" dirty="0"/>
              <a:t>        data (value), </a:t>
            </a:r>
            <a:r>
              <a:rPr lang="en-US" altLang="zh-CN" dirty="0" err="1"/>
              <a:t>firstChild</a:t>
            </a:r>
            <a:r>
              <a:rPr lang="en-US" altLang="zh-CN" dirty="0"/>
              <a:t> (fc), </a:t>
            </a:r>
            <a:endParaRPr lang="en-US" altLang="zh-CN" dirty="0"/>
          </a:p>
          <a:p>
            <a:pPr marL="0" indent="0">
              <a:buNone/>
            </a:pPr>
            <a:r>
              <a:rPr lang="en-US" altLang="zh-CN" dirty="0"/>
              <a:t>        </a:t>
            </a:r>
            <a:r>
              <a:rPr lang="en-US" altLang="zh-CN" dirty="0" err="1"/>
              <a:t>nextSibling</a:t>
            </a:r>
            <a:r>
              <a:rPr lang="en-US" altLang="zh-CN" dirty="0"/>
              <a:t> (ns){ }</a:t>
            </a:r>
            <a:endParaRPr lang="en-US" altLang="zh-CN" dirty="0"/>
          </a:p>
          <a:p>
            <a:pPr marL="0" indent="0">
              <a:buNone/>
            </a:pPr>
            <a:r>
              <a:rPr lang="en-US" altLang="zh-CN" dirty="0"/>
              <a:t>};</a:t>
            </a: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260648"/>
            <a:ext cx="7886700" cy="5916315"/>
          </a:xfrm>
        </p:spPr>
        <p:txBody>
          <a:bodyPr>
            <a:normAutofit fontScale="55000" lnSpcReduction="20000"/>
          </a:bodyPr>
          <a:lstStyle/>
          <a:p>
            <a:pPr marL="0" indent="0">
              <a:buNone/>
            </a:pPr>
            <a:r>
              <a:rPr lang="en-US" altLang="zh-CN" dirty="0"/>
              <a:t>template &lt;class T&gt; class Tree {</a:t>
            </a:r>
            <a:endParaRPr lang="en-US" altLang="zh-CN" dirty="0"/>
          </a:p>
          <a:p>
            <a:pPr marL="0" indent="0">
              <a:buNone/>
            </a:pPr>
            <a:r>
              <a:rPr lang="en-US" altLang="zh-CN" dirty="0"/>
              <a:t>private:</a:t>
            </a:r>
            <a:endParaRPr lang="en-US" altLang="zh-CN" dirty="0"/>
          </a:p>
          <a:p>
            <a:pPr marL="0" indent="0">
              <a:buNone/>
            </a:pPr>
            <a:r>
              <a:rPr lang="en-US" altLang="zh-CN" dirty="0"/>
              <a:t>   </a:t>
            </a:r>
            <a:r>
              <a:rPr lang="en-US" altLang="zh-CN" dirty="0" err="1"/>
              <a:t>TreeNode</a:t>
            </a:r>
            <a:r>
              <a:rPr lang="en-US" altLang="zh-CN" dirty="0"/>
              <a:t>&lt;T&gt; *root, *current;      //</a:t>
            </a:r>
            <a:r>
              <a:rPr lang="zh-CN" altLang="en-US" dirty="0"/>
              <a:t>根指针及当前指针</a:t>
            </a:r>
            <a:endParaRPr lang="zh-CN" altLang="en-US" dirty="0"/>
          </a:p>
          <a:p>
            <a:pPr marL="0" indent="0">
              <a:buNone/>
            </a:pPr>
            <a:r>
              <a:rPr lang="zh-CN" altLang="en-US" dirty="0"/>
              <a:t>   </a:t>
            </a:r>
            <a:r>
              <a:rPr lang="en-US" altLang="zh-CN" dirty="0"/>
              <a:t>bool Find ( </a:t>
            </a:r>
            <a:r>
              <a:rPr lang="en-US" altLang="zh-CN" dirty="0" err="1"/>
              <a:t>TreeNode</a:t>
            </a:r>
            <a:r>
              <a:rPr lang="en-US" altLang="zh-CN" dirty="0"/>
              <a:t>&lt;T&gt; *p, T value );</a:t>
            </a:r>
            <a:endParaRPr lang="en-US" altLang="zh-CN" dirty="0"/>
          </a:p>
          <a:p>
            <a:pPr marL="0" indent="0">
              <a:buNone/>
            </a:pPr>
            <a:r>
              <a:rPr lang="en-US" altLang="zh-CN" dirty="0"/>
              <a:t>   void </a:t>
            </a:r>
            <a:r>
              <a:rPr lang="en-US" altLang="zh-CN" dirty="0" err="1"/>
              <a:t>RemovesubTree</a:t>
            </a:r>
            <a:r>
              <a:rPr lang="en-US" altLang="zh-CN" dirty="0"/>
              <a:t> ( </a:t>
            </a:r>
            <a:r>
              <a:rPr lang="en-US" altLang="zh-CN" dirty="0" err="1"/>
              <a:t>TreeNode</a:t>
            </a:r>
            <a:r>
              <a:rPr lang="en-US" altLang="zh-CN" dirty="0"/>
              <a:t>&lt;T&gt; * p);  </a:t>
            </a:r>
            <a:endParaRPr lang="en-US" altLang="zh-CN" dirty="0"/>
          </a:p>
          <a:p>
            <a:pPr marL="0" indent="0">
              <a:buNone/>
            </a:pPr>
            <a:r>
              <a:rPr lang="en-US" altLang="zh-CN" dirty="0"/>
              <a:t>         //</a:t>
            </a:r>
            <a:r>
              <a:rPr lang="zh-CN" altLang="en-US" dirty="0"/>
              <a:t>删除 </a:t>
            </a:r>
            <a:r>
              <a:rPr lang="en-US" altLang="zh-CN" dirty="0"/>
              <a:t>p </a:t>
            </a:r>
            <a:r>
              <a:rPr lang="zh-CN" altLang="en-US" dirty="0"/>
              <a:t>为根的子树</a:t>
            </a:r>
            <a:endParaRPr lang="zh-CN" altLang="en-US" dirty="0"/>
          </a:p>
          <a:p>
            <a:pPr marL="0" indent="0">
              <a:buNone/>
            </a:pPr>
            <a:r>
              <a:rPr lang="zh-CN" altLang="en-US" dirty="0"/>
              <a:t>   </a:t>
            </a:r>
            <a:r>
              <a:rPr lang="en-US" altLang="zh-CN" dirty="0"/>
              <a:t>bool </a:t>
            </a:r>
            <a:r>
              <a:rPr lang="en-US" altLang="zh-CN" dirty="0" err="1"/>
              <a:t>FindParent</a:t>
            </a:r>
            <a:r>
              <a:rPr lang="en-US" altLang="zh-CN" dirty="0"/>
              <a:t> ( </a:t>
            </a:r>
            <a:r>
              <a:rPr lang="en-US" altLang="zh-CN" dirty="0" err="1"/>
              <a:t>TreeNode</a:t>
            </a:r>
            <a:r>
              <a:rPr lang="en-US" altLang="zh-CN" dirty="0"/>
              <a:t>&lt;T&gt; * t, </a:t>
            </a:r>
            <a:r>
              <a:rPr lang="en-US" altLang="zh-CN" dirty="0" err="1"/>
              <a:t>TreeNode</a:t>
            </a:r>
            <a:r>
              <a:rPr lang="en-US" altLang="zh-CN" dirty="0"/>
              <a:t>&lt;T&gt; * p );	</a:t>
            </a:r>
            <a:endParaRPr lang="en-US" altLang="zh-CN" dirty="0"/>
          </a:p>
          <a:p>
            <a:pPr marL="0" indent="0">
              <a:buNone/>
            </a:pPr>
            <a:r>
              <a:rPr lang="en-US" altLang="zh-CN" dirty="0"/>
              <a:t>public:</a:t>
            </a:r>
            <a:endParaRPr lang="en-US" altLang="zh-CN" dirty="0"/>
          </a:p>
          <a:p>
            <a:pPr marL="0" indent="0">
              <a:buNone/>
            </a:pPr>
            <a:r>
              <a:rPr lang="en-US" altLang="zh-CN" dirty="0"/>
              <a:t>   Tree ( ) { root = current = NULL; }</a:t>
            </a:r>
            <a:endParaRPr lang="en-US" altLang="zh-CN" dirty="0"/>
          </a:p>
          <a:p>
            <a:pPr marL="0" indent="0">
              <a:buNone/>
            </a:pPr>
            <a:r>
              <a:rPr lang="en-US" altLang="zh-CN" dirty="0"/>
              <a:t>   bool Root ( );	//</a:t>
            </a:r>
            <a:r>
              <a:rPr lang="zh-CN" altLang="en-US" dirty="0"/>
              <a:t>代码见本页备注</a:t>
            </a:r>
            <a:endParaRPr lang="en-US" altLang="zh-CN" dirty="0"/>
          </a:p>
          <a:p>
            <a:pPr marL="0" indent="0">
              <a:buNone/>
            </a:pPr>
            <a:r>
              <a:rPr lang="en-US" altLang="zh-CN" dirty="0"/>
              <a:t>   bool </a:t>
            </a:r>
            <a:r>
              <a:rPr lang="en-US" altLang="zh-CN" dirty="0" err="1"/>
              <a:t>IsEmpty</a:t>
            </a:r>
            <a:r>
              <a:rPr lang="en-US" altLang="zh-CN" dirty="0"/>
              <a:t>( ) {return root == NULL;}</a:t>
            </a:r>
            <a:endParaRPr lang="en-US" altLang="zh-CN" dirty="0"/>
          </a:p>
          <a:p>
            <a:pPr marL="0" indent="0">
              <a:buNone/>
            </a:pPr>
            <a:r>
              <a:rPr lang="en-US" altLang="zh-CN" dirty="0"/>
              <a:t>   bool </a:t>
            </a:r>
            <a:r>
              <a:rPr lang="en-US" altLang="zh-CN" dirty="0" err="1"/>
              <a:t>FirstChild</a:t>
            </a:r>
            <a:r>
              <a:rPr lang="en-US" altLang="zh-CN" dirty="0"/>
              <a:t> ( );	 //</a:t>
            </a:r>
            <a:r>
              <a:rPr lang="zh-CN" altLang="en-US" dirty="0"/>
              <a:t>代码见本页备注</a:t>
            </a:r>
            <a:endParaRPr lang="en-US" altLang="zh-CN" dirty="0"/>
          </a:p>
          <a:p>
            <a:pPr marL="0" indent="0">
              <a:buNone/>
            </a:pPr>
            <a:r>
              <a:rPr lang="en-US" altLang="zh-CN" dirty="0"/>
              <a:t>   bool </a:t>
            </a:r>
            <a:r>
              <a:rPr lang="en-US" altLang="zh-CN" dirty="0" err="1"/>
              <a:t>NextSibling</a:t>
            </a:r>
            <a:r>
              <a:rPr lang="en-US" altLang="zh-CN" dirty="0"/>
              <a:t> ( );</a:t>
            </a:r>
            <a:endParaRPr lang="en-US" altLang="zh-CN" dirty="0"/>
          </a:p>
          <a:p>
            <a:pPr marL="0" indent="0">
              <a:buNone/>
            </a:pPr>
            <a:r>
              <a:rPr lang="en-US" altLang="zh-CN" dirty="0"/>
              <a:t>   bool Parent ( );  //</a:t>
            </a:r>
            <a:r>
              <a:rPr lang="zh-CN" altLang="en-US" dirty="0"/>
              <a:t>代码见本页备注</a:t>
            </a:r>
            <a:endParaRPr lang="en-US" altLang="zh-CN" dirty="0"/>
          </a:p>
          <a:p>
            <a:pPr marL="0" indent="0">
              <a:buNone/>
            </a:pPr>
            <a:r>
              <a:rPr lang="en-US" altLang="zh-CN" dirty="0"/>
              <a:t>   bool Find ( T target );</a:t>
            </a:r>
            <a:endParaRPr lang="en-US" altLang="zh-CN" dirty="0"/>
          </a:p>
          <a:p>
            <a:pPr marL="0" indent="0">
              <a:buNone/>
            </a:pPr>
            <a:r>
              <a:rPr lang="en-US" altLang="zh-CN" dirty="0"/>
              <a:t>   …  //</a:t>
            </a:r>
            <a:r>
              <a:rPr lang="zh-CN" altLang="en-US" dirty="0"/>
              <a:t>树的其它公共操作</a:t>
            </a:r>
            <a:endParaRPr lang="zh-CN" altLang="en-US" dirty="0"/>
          </a:p>
          <a:p>
            <a:pPr marL="0" indent="0">
              <a:buNone/>
            </a:pPr>
            <a:r>
              <a:rPr lang="en-US" altLang="zh-CN" dirty="0"/>
              <a:t>}</a:t>
            </a: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dirty="0"/>
              <a:t>根为 </a:t>
            </a:r>
            <a:r>
              <a:rPr lang="en-US" altLang="zh-CN" dirty="0"/>
              <a:t>t </a:t>
            </a:r>
            <a:r>
              <a:rPr lang="zh-CN" altLang="en-US" dirty="0"/>
              <a:t>的树中找</a:t>
            </a:r>
            <a:r>
              <a:rPr lang="en-US" altLang="zh-CN" dirty="0"/>
              <a:t>p</a:t>
            </a:r>
            <a:r>
              <a:rPr lang="zh-CN" altLang="en-US" dirty="0"/>
              <a:t>的双亲</a:t>
            </a:r>
            <a:r>
              <a:rPr lang="en-US" altLang="zh-CN" dirty="0"/>
              <a:t>, </a:t>
            </a:r>
            <a:r>
              <a:rPr lang="zh-CN" altLang="en-US" dirty="0"/>
              <a:t>设为当前结点（已知</a:t>
            </a:r>
            <a:r>
              <a:rPr lang="en-US" altLang="zh-CN" dirty="0"/>
              <a:t>t!=p</a:t>
            </a:r>
            <a:r>
              <a:rPr lang="zh-CN" altLang="en-US" dirty="0"/>
              <a:t>）</a:t>
            </a:r>
            <a:endParaRPr lang="zh-CN" altLang="en-US" dirty="0"/>
          </a:p>
        </p:txBody>
      </p:sp>
      <p:sp>
        <p:nvSpPr>
          <p:cNvPr id="3" name="内容占位符 2"/>
          <p:cNvSpPr>
            <a:spLocks noGrp="1"/>
          </p:cNvSpPr>
          <p:nvPr>
            <p:ph idx="1"/>
          </p:nvPr>
        </p:nvSpPr>
        <p:spPr>
          <a:xfrm>
            <a:off x="628650" y="1825625"/>
            <a:ext cx="8263830" cy="4351338"/>
          </a:xfrm>
        </p:spPr>
        <p:txBody>
          <a:bodyPr>
            <a:normAutofit fontScale="62500" lnSpcReduction="20000"/>
          </a:bodyPr>
          <a:lstStyle/>
          <a:p>
            <a:pPr marL="0" indent="0">
              <a:buNone/>
            </a:pPr>
            <a:r>
              <a:rPr lang="en-US" altLang="zh-CN" dirty="0"/>
              <a:t>template &lt;class T&gt;  bool Tree&lt;T&gt; :: </a:t>
            </a:r>
            <a:r>
              <a:rPr lang="en-US" altLang="zh-CN" dirty="0" err="1"/>
              <a:t>FindParent</a:t>
            </a:r>
            <a:r>
              <a:rPr lang="en-US" altLang="zh-CN" dirty="0"/>
              <a:t> </a:t>
            </a:r>
            <a:endParaRPr lang="en-US" altLang="zh-CN" dirty="0"/>
          </a:p>
          <a:p>
            <a:pPr marL="0" indent="0">
              <a:buNone/>
            </a:pPr>
            <a:r>
              <a:rPr lang="en-US" altLang="zh-CN" dirty="0"/>
              <a:t>( </a:t>
            </a:r>
            <a:r>
              <a:rPr lang="en-US" altLang="zh-CN" dirty="0" err="1"/>
              <a:t>TreeNode</a:t>
            </a:r>
            <a:r>
              <a:rPr lang="en-US" altLang="zh-CN" dirty="0"/>
              <a:t>&lt;T&gt; *t, </a:t>
            </a:r>
            <a:r>
              <a:rPr lang="en-US" altLang="zh-CN" dirty="0" err="1"/>
              <a:t>TreeNode</a:t>
            </a:r>
            <a:r>
              <a:rPr lang="en-US" altLang="zh-CN" dirty="0"/>
              <a:t>&lt;T&gt; *p ) {</a:t>
            </a:r>
            <a:endParaRPr lang="en-US" altLang="zh-CN" dirty="0"/>
          </a:p>
          <a:p>
            <a:pPr marL="0" indent="0">
              <a:buNone/>
            </a:pPr>
            <a:r>
              <a:rPr lang="en-US" altLang="zh-CN" dirty="0"/>
              <a:t>    </a:t>
            </a:r>
            <a:r>
              <a:rPr lang="en-US" altLang="zh-CN" dirty="0" err="1"/>
              <a:t>TreeNode</a:t>
            </a:r>
            <a:r>
              <a:rPr lang="en-US" altLang="zh-CN" dirty="0"/>
              <a:t>&lt;T&gt; *q = t-&gt;</a:t>
            </a:r>
            <a:r>
              <a:rPr lang="en-US" altLang="zh-CN" dirty="0" err="1"/>
              <a:t>firstChild</a:t>
            </a:r>
            <a:r>
              <a:rPr lang="en-US" altLang="zh-CN" dirty="0"/>
              <a:t>;   </a:t>
            </a:r>
            <a:endParaRPr lang="en-US" altLang="zh-CN" dirty="0"/>
          </a:p>
          <a:p>
            <a:pPr marL="0" indent="0">
              <a:buNone/>
            </a:pPr>
            <a:r>
              <a:rPr lang="en-US" altLang="zh-CN" dirty="0"/>
              <a:t>    while ( q != NULL &amp;&amp; q != p ) { </a:t>
            </a:r>
            <a:endParaRPr lang="en-US" altLang="zh-CN" dirty="0"/>
          </a:p>
          <a:p>
            <a:pPr marL="0" indent="0">
              <a:buNone/>
            </a:pPr>
            <a:r>
              <a:rPr lang="en-US" altLang="zh-CN" dirty="0"/>
              <a:t>        if ( </a:t>
            </a:r>
            <a:r>
              <a:rPr lang="en-US" altLang="zh-CN" dirty="0" err="1"/>
              <a:t>FindParent</a:t>
            </a:r>
            <a:r>
              <a:rPr lang="en-US" altLang="zh-CN" dirty="0"/>
              <a:t> (q, p) )  return true;    </a:t>
            </a:r>
            <a:endParaRPr lang="en-US" altLang="zh-CN" dirty="0"/>
          </a:p>
          <a:p>
            <a:pPr marL="0" indent="0">
              <a:buNone/>
            </a:pPr>
            <a:r>
              <a:rPr lang="en-US" altLang="zh-CN" dirty="0"/>
              <a:t>        q = q-&gt;</a:t>
            </a:r>
            <a:r>
              <a:rPr lang="en-US" altLang="zh-CN" dirty="0" err="1"/>
              <a:t>nextSibling</a:t>
            </a:r>
            <a:r>
              <a:rPr lang="en-US" altLang="zh-CN" dirty="0"/>
              <a:t>;</a:t>
            </a:r>
            <a:endParaRPr lang="en-US" altLang="zh-CN" dirty="0"/>
          </a:p>
          <a:p>
            <a:pPr marL="0" indent="0">
              <a:buNone/>
            </a:pPr>
            <a:r>
              <a:rPr lang="en-US" altLang="zh-CN" dirty="0"/>
              <a:t>              //</a:t>
            </a:r>
            <a:r>
              <a:rPr lang="zh-CN" altLang="en-US" dirty="0"/>
              <a:t>循根的长子的兄弟链</a:t>
            </a:r>
            <a:r>
              <a:rPr lang="en-US" altLang="zh-CN" dirty="0"/>
              <a:t>,</a:t>
            </a:r>
            <a:r>
              <a:rPr lang="zh-CN" altLang="en-US" dirty="0"/>
              <a:t>递归在子树中搜索</a:t>
            </a:r>
            <a:endParaRPr lang="zh-CN" altLang="en-US" dirty="0"/>
          </a:p>
          <a:p>
            <a:pPr marL="0" indent="0">
              <a:buNone/>
            </a:pPr>
            <a:r>
              <a:rPr lang="zh-CN" altLang="en-US" dirty="0"/>
              <a:t>    </a:t>
            </a:r>
            <a:r>
              <a:rPr lang="en-US" altLang="zh-CN" dirty="0"/>
              <a:t>}   </a:t>
            </a:r>
            <a:endParaRPr lang="en-US" altLang="zh-CN" dirty="0"/>
          </a:p>
          <a:p>
            <a:pPr marL="0" indent="0">
              <a:buNone/>
            </a:pPr>
            <a:r>
              <a:rPr lang="en-US" altLang="zh-CN" dirty="0"/>
              <a:t>    if ( q != NULL &amp;&amp; q == p ) { current = t;  return true; }</a:t>
            </a:r>
            <a:endParaRPr lang="en-US" altLang="zh-CN" dirty="0"/>
          </a:p>
          <a:p>
            <a:pPr marL="0" indent="0">
              <a:buNone/>
            </a:pPr>
            <a:r>
              <a:rPr lang="en-US" altLang="zh-CN" dirty="0"/>
              <a:t>    else { current = NULL;  return false; };   //</a:t>
            </a:r>
            <a:r>
              <a:rPr lang="zh-CN" altLang="en-US" dirty="0"/>
              <a:t>未找到</a:t>
            </a:r>
            <a:endParaRPr lang="zh-CN" altLang="en-US" dirty="0"/>
          </a:p>
          <a:p>
            <a:pPr marL="0" indent="0">
              <a:buNone/>
            </a:pPr>
            <a:r>
              <a:rPr lang="en-US" altLang="zh-CN" dirty="0"/>
              <a:t>}</a:t>
            </a: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404664"/>
            <a:ext cx="8640960" cy="5772299"/>
          </a:xfrm>
        </p:spPr>
        <p:txBody>
          <a:bodyPr>
            <a:normAutofit fontScale="62500" lnSpcReduction="20000"/>
          </a:bodyPr>
          <a:lstStyle/>
          <a:p>
            <a:pPr marL="0" indent="0">
              <a:buNone/>
            </a:pPr>
            <a:r>
              <a:rPr lang="en-US" altLang="zh-CN" dirty="0"/>
              <a:t>template &lt;class T&gt; </a:t>
            </a:r>
            <a:endParaRPr lang="en-US" altLang="zh-CN" dirty="0"/>
          </a:p>
          <a:p>
            <a:pPr marL="0" indent="0">
              <a:buNone/>
            </a:pPr>
            <a:r>
              <a:rPr lang="en-US" altLang="zh-CN" dirty="0"/>
              <a:t>bool Tree &lt;T&gt; :: </a:t>
            </a:r>
            <a:r>
              <a:rPr lang="en-US" altLang="zh-CN" dirty="0" err="1"/>
              <a:t>NextSibling</a:t>
            </a:r>
            <a:r>
              <a:rPr lang="en-US" altLang="zh-CN" dirty="0"/>
              <a:t> ( ) {</a:t>
            </a:r>
            <a:endParaRPr lang="en-US" altLang="zh-CN" dirty="0"/>
          </a:p>
          <a:p>
            <a:pPr marL="0" indent="0">
              <a:buNone/>
            </a:pPr>
            <a:r>
              <a:rPr lang="en-US" altLang="zh-CN" dirty="0"/>
              <a:t>//</a:t>
            </a:r>
            <a:r>
              <a:rPr lang="zh-CN" altLang="en-US" dirty="0"/>
              <a:t>在树中找当前结点的兄弟</a:t>
            </a:r>
            <a:r>
              <a:rPr lang="en-US" altLang="zh-CN" dirty="0"/>
              <a:t>,</a:t>
            </a:r>
            <a:r>
              <a:rPr lang="zh-CN" altLang="en-US" dirty="0"/>
              <a:t>成为当前结点</a:t>
            </a:r>
            <a:endParaRPr lang="zh-CN" altLang="en-US" dirty="0"/>
          </a:p>
          <a:p>
            <a:pPr marL="0" indent="0">
              <a:buNone/>
            </a:pPr>
            <a:r>
              <a:rPr lang="zh-CN" altLang="en-US" dirty="0"/>
              <a:t>    </a:t>
            </a:r>
            <a:r>
              <a:rPr lang="en-US" altLang="zh-CN" dirty="0"/>
              <a:t>if ( current != NULL &amp;&amp; current-&gt;</a:t>
            </a:r>
            <a:r>
              <a:rPr lang="en-US" altLang="zh-CN" dirty="0" err="1"/>
              <a:t>nextSibling</a:t>
            </a:r>
            <a:r>
              <a:rPr lang="en-US" altLang="zh-CN" dirty="0"/>
              <a:t> != NULL ) { </a:t>
            </a:r>
            <a:endParaRPr lang="en-US" altLang="zh-CN" dirty="0"/>
          </a:p>
          <a:p>
            <a:pPr marL="0" indent="0">
              <a:buNone/>
            </a:pPr>
            <a:r>
              <a:rPr lang="en-US" altLang="zh-CN" dirty="0"/>
              <a:t>        current = current-&gt;</a:t>
            </a:r>
            <a:r>
              <a:rPr lang="en-US" altLang="zh-CN" dirty="0" err="1"/>
              <a:t>nextSibling</a:t>
            </a:r>
            <a:r>
              <a:rPr lang="en-US" altLang="zh-CN" dirty="0"/>
              <a:t>;  return true; </a:t>
            </a:r>
            <a:endParaRPr lang="en-US" altLang="zh-CN" dirty="0"/>
          </a:p>
          <a:p>
            <a:pPr marL="0" indent="0">
              <a:buNone/>
            </a:pPr>
            <a:r>
              <a:rPr lang="en-US" altLang="zh-CN" dirty="0"/>
              <a:t>    }</a:t>
            </a:r>
            <a:endParaRPr lang="en-US" altLang="zh-CN" dirty="0"/>
          </a:p>
          <a:p>
            <a:pPr marL="0" indent="0">
              <a:buNone/>
            </a:pPr>
            <a:r>
              <a:rPr lang="en-US" altLang="zh-CN" dirty="0"/>
              <a:t>    current = NULL;  return false;</a:t>
            </a:r>
            <a:endParaRPr lang="en-US" altLang="zh-CN" dirty="0"/>
          </a:p>
          <a:p>
            <a:pPr marL="0" indent="0">
              <a:buNone/>
            </a:pPr>
            <a:r>
              <a:rPr lang="en-US" altLang="zh-CN" dirty="0"/>
              <a:t>}</a:t>
            </a:r>
            <a:endParaRPr lang="en-US" altLang="zh-CN" dirty="0"/>
          </a:p>
          <a:p>
            <a:pPr marL="0" indent="0">
              <a:buNone/>
            </a:pPr>
            <a:endParaRPr lang="en-US" altLang="zh-CN" dirty="0"/>
          </a:p>
          <a:p>
            <a:pPr marL="0" indent="0">
              <a:buNone/>
            </a:pPr>
            <a:r>
              <a:rPr lang="en-US" altLang="zh-CN" dirty="0"/>
              <a:t>template &lt;class T&gt; </a:t>
            </a:r>
            <a:endParaRPr lang="en-US" altLang="zh-CN" dirty="0"/>
          </a:p>
          <a:p>
            <a:pPr marL="0" indent="0">
              <a:buNone/>
            </a:pPr>
            <a:r>
              <a:rPr lang="en-US" altLang="zh-CN" dirty="0"/>
              <a:t>bool Tree&lt;T&gt; :: Find ( T value ) {</a:t>
            </a:r>
            <a:endParaRPr lang="en-US" altLang="zh-CN" dirty="0"/>
          </a:p>
          <a:p>
            <a:pPr marL="0" indent="0">
              <a:buNone/>
            </a:pPr>
            <a:r>
              <a:rPr lang="en-US" altLang="zh-CN" dirty="0"/>
              <a:t>//</a:t>
            </a:r>
            <a:r>
              <a:rPr lang="zh-CN" altLang="en-US" dirty="0"/>
              <a:t>在树中找给定值的结点，成为当前结点</a:t>
            </a:r>
            <a:endParaRPr lang="en-US" altLang="zh-CN" dirty="0"/>
          </a:p>
          <a:p>
            <a:pPr marL="0" indent="0">
              <a:buNone/>
            </a:pPr>
            <a:r>
              <a:rPr lang="en-US" altLang="zh-CN" dirty="0"/>
              <a:t>    if ( </a:t>
            </a:r>
            <a:r>
              <a:rPr lang="en-US" altLang="zh-CN" dirty="0" err="1"/>
              <a:t>IsEmpty</a:t>
            </a:r>
            <a:r>
              <a:rPr lang="en-US" altLang="zh-CN" dirty="0"/>
              <a:t> ( ) ) return false;    </a:t>
            </a:r>
            <a:endParaRPr lang="en-US" altLang="zh-CN" dirty="0"/>
          </a:p>
          <a:p>
            <a:pPr marL="0" indent="0">
              <a:buNone/>
            </a:pPr>
            <a:r>
              <a:rPr lang="en-US" altLang="zh-CN" dirty="0"/>
              <a:t>    return Find ( root, value );</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260648"/>
            <a:ext cx="8568952" cy="6336704"/>
          </a:xfrm>
        </p:spPr>
        <p:txBody>
          <a:bodyPr>
            <a:normAutofit fontScale="70000" lnSpcReduction="20000"/>
          </a:bodyPr>
          <a:lstStyle/>
          <a:p>
            <a:pPr marL="0" indent="0">
              <a:buNone/>
            </a:pPr>
            <a:r>
              <a:rPr lang="en-US" altLang="zh-CN" dirty="0"/>
              <a:t>//</a:t>
            </a:r>
            <a:r>
              <a:rPr lang="zh-CN" altLang="en-US" dirty="0"/>
              <a:t>在根为 </a:t>
            </a:r>
            <a:r>
              <a:rPr lang="en-US" altLang="zh-CN" dirty="0"/>
              <a:t>p </a:t>
            </a:r>
            <a:r>
              <a:rPr lang="zh-CN" altLang="en-US" dirty="0"/>
              <a:t>的树中找值为 </a:t>
            </a:r>
            <a:r>
              <a:rPr lang="en-US" altLang="zh-CN" dirty="0"/>
              <a:t>value </a:t>
            </a:r>
            <a:r>
              <a:rPr lang="zh-CN" altLang="en-US" dirty="0"/>
              <a:t>的结点</a:t>
            </a:r>
            <a:r>
              <a:rPr lang="en-US" altLang="zh-CN" dirty="0"/>
              <a:t>, </a:t>
            </a:r>
            <a:r>
              <a:rPr lang="zh-CN" altLang="en-US" dirty="0"/>
              <a:t>找到</a:t>
            </a:r>
            <a:endParaRPr lang="zh-CN" altLang="en-US" dirty="0"/>
          </a:p>
          <a:p>
            <a:pPr marL="0" indent="0">
              <a:buNone/>
            </a:pPr>
            <a:r>
              <a:rPr lang="en-US" altLang="zh-CN" dirty="0"/>
              <a:t>//</a:t>
            </a:r>
            <a:r>
              <a:rPr lang="zh-CN" altLang="en-US" dirty="0"/>
              <a:t>后该结点成为当前结点</a:t>
            </a:r>
            <a:r>
              <a:rPr lang="en-US" altLang="zh-CN" dirty="0"/>
              <a:t>,</a:t>
            </a:r>
            <a:r>
              <a:rPr lang="zh-CN" altLang="en-US" dirty="0"/>
              <a:t>否则当前结点不变。</a:t>
            </a:r>
            <a:endParaRPr lang="zh-CN" altLang="en-US" dirty="0"/>
          </a:p>
          <a:p>
            <a:pPr marL="0" indent="0">
              <a:buNone/>
            </a:pPr>
            <a:r>
              <a:rPr lang="en-US" altLang="zh-CN" dirty="0"/>
              <a:t>template &lt;class T&gt; bool Tree &lt;T&gt;::</a:t>
            </a:r>
            <a:endParaRPr lang="en-US" altLang="zh-CN" dirty="0"/>
          </a:p>
          <a:p>
            <a:pPr marL="0" indent="0">
              <a:buNone/>
            </a:pPr>
            <a:r>
              <a:rPr lang="en-US" altLang="zh-CN" dirty="0"/>
              <a:t>Find ( </a:t>
            </a:r>
            <a:r>
              <a:rPr lang="en-US" altLang="zh-CN" dirty="0" err="1"/>
              <a:t>TreeNode</a:t>
            </a:r>
            <a:r>
              <a:rPr lang="en-US" altLang="zh-CN" dirty="0"/>
              <a:t> &lt;T&gt; * p, T value ) {</a:t>
            </a:r>
            <a:endParaRPr lang="en-US" altLang="zh-CN" dirty="0"/>
          </a:p>
          <a:p>
            <a:pPr marL="0" indent="0">
              <a:buNone/>
            </a:pPr>
            <a:r>
              <a:rPr lang="en-US" altLang="zh-CN" dirty="0"/>
              <a:t>    bool result = false;</a:t>
            </a:r>
            <a:endParaRPr lang="en-US" altLang="zh-CN" dirty="0"/>
          </a:p>
          <a:p>
            <a:pPr marL="0" indent="0">
              <a:buNone/>
            </a:pPr>
            <a:r>
              <a:rPr lang="en-US" altLang="zh-CN" dirty="0"/>
              <a:t>    if ( p-&gt;data == value ) {             //</a:t>
            </a:r>
            <a:r>
              <a:rPr lang="zh-CN" altLang="en-US" dirty="0"/>
              <a:t>搜索成功</a:t>
            </a:r>
            <a:endParaRPr lang="en-US" altLang="zh-CN" dirty="0"/>
          </a:p>
          <a:p>
            <a:pPr marL="0" indent="0">
              <a:buNone/>
            </a:pPr>
            <a:r>
              <a:rPr lang="en-US" altLang="zh-CN" dirty="0"/>
              <a:t>         result = true;  current = p; </a:t>
            </a:r>
            <a:endParaRPr lang="en-US" altLang="zh-CN" dirty="0"/>
          </a:p>
          <a:p>
            <a:pPr marL="0" indent="0">
              <a:buNone/>
            </a:pPr>
            <a:r>
              <a:rPr lang="en-US" altLang="zh-CN" dirty="0"/>
              <a:t>    }</a:t>
            </a:r>
            <a:endParaRPr lang="zh-CN" altLang="en-US" dirty="0"/>
          </a:p>
          <a:p>
            <a:pPr marL="0" indent="0">
              <a:buNone/>
            </a:pPr>
            <a:r>
              <a:rPr lang="zh-CN" altLang="en-US" dirty="0"/>
              <a:t>    </a:t>
            </a:r>
            <a:r>
              <a:rPr lang="en-US" altLang="zh-CN" dirty="0"/>
              <a:t>else {                                           //</a:t>
            </a:r>
            <a:r>
              <a:rPr lang="zh-CN" altLang="en-US" dirty="0"/>
              <a:t>继续搜索</a:t>
            </a:r>
            <a:endParaRPr lang="zh-CN" altLang="en-US" dirty="0"/>
          </a:p>
          <a:p>
            <a:pPr marL="0" indent="0">
              <a:buNone/>
            </a:pPr>
            <a:r>
              <a:rPr lang="en-US" altLang="zh-CN" dirty="0"/>
              <a:t>         </a:t>
            </a:r>
            <a:r>
              <a:rPr lang="en-US" altLang="zh-CN" dirty="0" err="1"/>
              <a:t>TreeNode</a:t>
            </a:r>
            <a:r>
              <a:rPr lang="en-US" altLang="zh-CN" dirty="0"/>
              <a:t>&lt;T&gt; *q = p-&gt;</a:t>
            </a:r>
            <a:r>
              <a:rPr lang="en-US" altLang="zh-CN" dirty="0" err="1"/>
              <a:t>firstChild</a:t>
            </a:r>
            <a:r>
              <a:rPr lang="en-US" altLang="zh-CN" dirty="0"/>
              <a:t>;</a:t>
            </a:r>
            <a:endParaRPr lang="en-US" altLang="zh-CN" dirty="0"/>
          </a:p>
          <a:p>
            <a:pPr marL="0" indent="0">
              <a:buNone/>
            </a:pPr>
            <a:r>
              <a:rPr lang="en-US" altLang="zh-CN" dirty="0"/>
              <a:t>         while ( q != NULL &amp;&amp; ! ( result = Find ( q, value ) ) )   q = q-&gt;</a:t>
            </a:r>
            <a:r>
              <a:rPr lang="en-US" altLang="zh-CN" dirty="0" err="1"/>
              <a:t>nextSibling</a:t>
            </a:r>
            <a:r>
              <a:rPr lang="en-US" altLang="zh-CN" dirty="0"/>
              <a:t>;      </a:t>
            </a:r>
            <a:endParaRPr lang="en-US" altLang="zh-CN" dirty="0"/>
          </a:p>
          <a:p>
            <a:pPr marL="0" indent="0">
              <a:buNone/>
            </a:pPr>
            <a:r>
              <a:rPr lang="en-US" altLang="zh-CN" dirty="0"/>
              <a:t>    }</a:t>
            </a:r>
            <a:endParaRPr lang="en-US" altLang="zh-CN" dirty="0"/>
          </a:p>
          <a:p>
            <a:pPr marL="0" indent="0">
              <a:buNone/>
            </a:pPr>
            <a:r>
              <a:rPr lang="en-US" altLang="zh-CN" dirty="0"/>
              <a:t>    return result;</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Line 2"/>
          <p:cNvSpPr>
            <a:spLocks noChangeShapeType="1"/>
          </p:cNvSpPr>
          <p:nvPr/>
        </p:nvSpPr>
        <p:spPr bwMode="auto">
          <a:xfrm>
            <a:off x="5791200" y="2071688"/>
            <a:ext cx="2133600" cy="17526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19" name="Line 3"/>
          <p:cNvSpPr>
            <a:spLocks noChangeShapeType="1"/>
          </p:cNvSpPr>
          <p:nvPr/>
        </p:nvSpPr>
        <p:spPr bwMode="auto">
          <a:xfrm flipH="1">
            <a:off x="5715000" y="3581400"/>
            <a:ext cx="381000" cy="3810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0" name="Line 4"/>
          <p:cNvSpPr>
            <a:spLocks noChangeShapeType="1"/>
          </p:cNvSpPr>
          <p:nvPr/>
        </p:nvSpPr>
        <p:spPr bwMode="auto">
          <a:xfrm>
            <a:off x="3489325" y="1662113"/>
            <a:ext cx="228600" cy="533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1" name="Line 5"/>
          <p:cNvSpPr>
            <a:spLocks noChangeShapeType="1"/>
          </p:cNvSpPr>
          <p:nvPr/>
        </p:nvSpPr>
        <p:spPr bwMode="auto">
          <a:xfrm flipH="1">
            <a:off x="3108325" y="1662113"/>
            <a:ext cx="228600" cy="533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2" name="Line 6"/>
          <p:cNvSpPr>
            <a:spLocks noChangeShapeType="1"/>
          </p:cNvSpPr>
          <p:nvPr/>
        </p:nvSpPr>
        <p:spPr bwMode="auto">
          <a:xfrm>
            <a:off x="1431925" y="1662113"/>
            <a:ext cx="38100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3" name="Line 7"/>
          <p:cNvSpPr>
            <a:spLocks noChangeShapeType="1"/>
          </p:cNvSpPr>
          <p:nvPr/>
        </p:nvSpPr>
        <p:spPr bwMode="auto">
          <a:xfrm flipH="1">
            <a:off x="898525" y="1662113"/>
            <a:ext cx="38100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4" name="Line 8"/>
          <p:cNvSpPr>
            <a:spLocks noChangeShapeType="1"/>
          </p:cNvSpPr>
          <p:nvPr/>
        </p:nvSpPr>
        <p:spPr bwMode="auto">
          <a:xfrm>
            <a:off x="3108325" y="2424113"/>
            <a:ext cx="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5" name="Line 9"/>
          <p:cNvSpPr>
            <a:spLocks noChangeShapeType="1"/>
          </p:cNvSpPr>
          <p:nvPr/>
        </p:nvSpPr>
        <p:spPr bwMode="auto">
          <a:xfrm>
            <a:off x="1889125" y="2424113"/>
            <a:ext cx="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6" name="Line 10"/>
          <p:cNvSpPr>
            <a:spLocks noChangeShapeType="1"/>
          </p:cNvSpPr>
          <p:nvPr/>
        </p:nvSpPr>
        <p:spPr bwMode="auto">
          <a:xfrm>
            <a:off x="2498725" y="1662113"/>
            <a:ext cx="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7" name="Line 11"/>
          <p:cNvSpPr>
            <a:spLocks noChangeShapeType="1"/>
          </p:cNvSpPr>
          <p:nvPr/>
        </p:nvSpPr>
        <p:spPr bwMode="auto">
          <a:xfrm>
            <a:off x="1355725" y="1662113"/>
            <a:ext cx="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8" name="Line 12"/>
          <p:cNvSpPr>
            <a:spLocks noChangeShapeType="1"/>
          </p:cNvSpPr>
          <p:nvPr/>
        </p:nvSpPr>
        <p:spPr bwMode="auto">
          <a:xfrm>
            <a:off x="836613" y="4724400"/>
            <a:ext cx="990600" cy="914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9" name="Line 13"/>
          <p:cNvSpPr>
            <a:spLocks noChangeShapeType="1"/>
          </p:cNvSpPr>
          <p:nvPr/>
        </p:nvSpPr>
        <p:spPr bwMode="auto">
          <a:xfrm flipH="1">
            <a:off x="1446213" y="5791200"/>
            <a:ext cx="381000" cy="3810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0" name="Line 14"/>
          <p:cNvSpPr>
            <a:spLocks noChangeShapeType="1"/>
          </p:cNvSpPr>
          <p:nvPr/>
        </p:nvSpPr>
        <p:spPr bwMode="auto">
          <a:xfrm>
            <a:off x="3351213" y="4876800"/>
            <a:ext cx="381000" cy="304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1" name="Line 15"/>
          <p:cNvSpPr>
            <a:spLocks noChangeShapeType="1"/>
          </p:cNvSpPr>
          <p:nvPr/>
        </p:nvSpPr>
        <p:spPr bwMode="auto">
          <a:xfrm flipH="1">
            <a:off x="836613" y="4267200"/>
            <a:ext cx="457200" cy="3810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2" name="Oval 16"/>
          <p:cNvSpPr>
            <a:spLocks noChangeArrowheads="1"/>
          </p:cNvSpPr>
          <p:nvPr/>
        </p:nvSpPr>
        <p:spPr bwMode="auto">
          <a:xfrm>
            <a:off x="593725" y="2043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3" name="Oval 17"/>
          <p:cNvSpPr>
            <a:spLocks noChangeArrowheads="1"/>
          </p:cNvSpPr>
          <p:nvPr/>
        </p:nvSpPr>
        <p:spPr bwMode="auto">
          <a:xfrm>
            <a:off x="1127125" y="2043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4" name="Oval 18"/>
          <p:cNvSpPr>
            <a:spLocks noChangeArrowheads="1"/>
          </p:cNvSpPr>
          <p:nvPr/>
        </p:nvSpPr>
        <p:spPr bwMode="auto">
          <a:xfrm>
            <a:off x="1660525" y="2043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5" name="Oval 19"/>
          <p:cNvSpPr>
            <a:spLocks noChangeArrowheads="1"/>
          </p:cNvSpPr>
          <p:nvPr/>
        </p:nvSpPr>
        <p:spPr bwMode="auto">
          <a:xfrm>
            <a:off x="2270125" y="2043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6" name="Oval 20"/>
          <p:cNvSpPr>
            <a:spLocks noChangeArrowheads="1"/>
          </p:cNvSpPr>
          <p:nvPr/>
        </p:nvSpPr>
        <p:spPr bwMode="auto">
          <a:xfrm>
            <a:off x="2879725" y="2043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7" name="Oval 21"/>
          <p:cNvSpPr>
            <a:spLocks noChangeArrowheads="1"/>
          </p:cNvSpPr>
          <p:nvPr/>
        </p:nvSpPr>
        <p:spPr bwMode="auto">
          <a:xfrm>
            <a:off x="3489325" y="2043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8" name="Oval 22"/>
          <p:cNvSpPr>
            <a:spLocks noChangeArrowheads="1"/>
          </p:cNvSpPr>
          <p:nvPr/>
        </p:nvSpPr>
        <p:spPr bwMode="auto">
          <a:xfrm>
            <a:off x="1660525" y="2805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9" name="Oval 23"/>
          <p:cNvSpPr>
            <a:spLocks noChangeArrowheads="1"/>
          </p:cNvSpPr>
          <p:nvPr/>
        </p:nvSpPr>
        <p:spPr bwMode="auto">
          <a:xfrm>
            <a:off x="2879725" y="2805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40" name="Oval 24"/>
          <p:cNvSpPr>
            <a:spLocks noChangeArrowheads="1"/>
          </p:cNvSpPr>
          <p:nvPr/>
        </p:nvSpPr>
        <p:spPr bwMode="auto">
          <a:xfrm>
            <a:off x="1127125" y="1281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41" name="Oval 25"/>
          <p:cNvSpPr>
            <a:spLocks noChangeArrowheads="1"/>
          </p:cNvSpPr>
          <p:nvPr/>
        </p:nvSpPr>
        <p:spPr bwMode="auto">
          <a:xfrm>
            <a:off x="2270125" y="1281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42" name="Oval 26"/>
          <p:cNvSpPr>
            <a:spLocks noChangeArrowheads="1"/>
          </p:cNvSpPr>
          <p:nvPr/>
        </p:nvSpPr>
        <p:spPr bwMode="auto">
          <a:xfrm>
            <a:off x="3184525" y="1281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43" name="Text Box 27"/>
          <p:cNvSpPr txBox="1">
            <a:spLocks noChangeArrowheads="1"/>
          </p:cNvSpPr>
          <p:nvPr/>
        </p:nvSpPr>
        <p:spPr bwMode="auto">
          <a:xfrm>
            <a:off x="728663" y="914400"/>
            <a:ext cx="25892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CC0099"/>
                </a:solidFill>
                <a:latin typeface="Times New Roman" panose="02020603050405020304" pitchFamily="18" charset="0"/>
                <a:ea typeface="宋体" panose="02010600030101010101" pitchFamily="2" charset="-122"/>
              </a:rPr>
              <a:t>T</a:t>
            </a:r>
            <a:r>
              <a:rPr kumimoji="1" lang="en-US" altLang="zh-CN" sz="2800" b="1" baseline="-25000">
                <a:solidFill>
                  <a:srgbClr val="CC0099"/>
                </a:solidFill>
                <a:latin typeface="Times New Roman" panose="02020603050405020304" pitchFamily="18" charset="0"/>
                <a:ea typeface="宋体" panose="02010600030101010101" pitchFamily="2" charset="-122"/>
              </a:rPr>
              <a:t>1</a:t>
            </a:r>
            <a:r>
              <a:rPr kumimoji="1" lang="en-US" altLang="zh-CN" sz="2800" b="1">
                <a:solidFill>
                  <a:srgbClr val="CC0099"/>
                </a:solidFill>
                <a:latin typeface="Times New Roman" panose="02020603050405020304" pitchFamily="18" charset="0"/>
                <a:ea typeface="宋体" panose="02010600030101010101" pitchFamily="2" charset="-122"/>
              </a:rPr>
              <a:t>        T</a:t>
            </a:r>
            <a:r>
              <a:rPr kumimoji="1" lang="en-US" altLang="zh-CN" sz="2800" b="1" baseline="-25000">
                <a:solidFill>
                  <a:srgbClr val="CC0099"/>
                </a:solidFill>
                <a:latin typeface="Times New Roman" panose="02020603050405020304" pitchFamily="18" charset="0"/>
                <a:ea typeface="宋体" panose="02010600030101010101" pitchFamily="2" charset="-122"/>
              </a:rPr>
              <a:t>2</a:t>
            </a:r>
            <a:r>
              <a:rPr kumimoji="1" lang="en-US" altLang="zh-CN" sz="2800" b="1">
                <a:solidFill>
                  <a:srgbClr val="CC0099"/>
                </a:solidFill>
                <a:latin typeface="Times New Roman" panose="02020603050405020304" pitchFamily="18" charset="0"/>
                <a:ea typeface="宋体" panose="02010600030101010101" pitchFamily="2" charset="-122"/>
              </a:rPr>
              <a:t>       T</a:t>
            </a:r>
            <a:r>
              <a:rPr kumimoji="1" lang="en-US" altLang="zh-CN" sz="2800" b="1" baseline="-25000">
                <a:solidFill>
                  <a:srgbClr val="CC0099"/>
                </a:solidFill>
                <a:latin typeface="Times New Roman" panose="02020603050405020304" pitchFamily="18" charset="0"/>
                <a:ea typeface="宋体" panose="02010600030101010101" pitchFamily="2" charset="-122"/>
              </a:rPr>
              <a:t>3</a:t>
            </a:r>
            <a:endParaRPr kumimoji="1" lang="en-US" altLang="zh-CN" sz="2800" b="1">
              <a:solidFill>
                <a:srgbClr val="CC0099"/>
              </a:solidFill>
              <a:latin typeface="Times New Roman" panose="02020603050405020304" pitchFamily="18" charset="0"/>
              <a:ea typeface="宋体" panose="02010600030101010101" pitchFamily="2" charset="-122"/>
            </a:endParaRPr>
          </a:p>
        </p:txBody>
      </p:sp>
      <p:sp>
        <p:nvSpPr>
          <p:cNvPr id="111644" name="Text Box 28"/>
          <p:cNvSpPr txBox="1">
            <a:spLocks noChangeArrowheads="1"/>
          </p:cNvSpPr>
          <p:nvPr/>
        </p:nvSpPr>
        <p:spPr bwMode="auto">
          <a:xfrm>
            <a:off x="1143000" y="1219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1645" name="Text Box 29"/>
          <p:cNvSpPr txBox="1">
            <a:spLocks noChangeArrowheads="1"/>
          </p:cNvSpPr>
          <p:nvPr/>
        </p:nvSpPr>
        <p:spPr bwMode="auto">
          <a:xfrm>
            <a:off x="2325688" y="1204913"/>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11646" name="Text Box 30"/>
          <p:cNvSpPr txBox="1">
            <a:spLocks noChangeArrowheads="1"/>
          </p:cNvSpPr>
          <p:nvPr/>
        </p:nvSpPr>
        <p:spPr bwMode="auto">
          <a:xfrm>
            <a:off x="3190875" y="1204913"/>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1647" name="Oval 31"/>
          <p:cNvSpPr>
            <a:spLocks noChangeArrowheads="1"/>
          </p:cNvSpPr>
          <p:nvPr/>
        </p:nvSpPr>
        <p:spPr bwMode="auto">
          <a:xfrm>
            <a:off x="1141413" y="39624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48" name="Oval 32"/>
          <p:cNvSpPr>
            <a:spLocks noChangeArrowheads="1"/>
          </p:cNvSpPr>
          <p:nvPr/>
        </p:nvSpPr>
        <p:spPr bwMode="auto">
          <a:xfrm>
            <a:off x="531813" y="44958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49" name="Oval 33"/>
          <p:cNvSpPr>
            <a:spLocks noChangeArrowheads="1"/>
          </p:cNvSpPr>
          <p:nvPr/>
        </p:nvSpPr>
        <p:spPr bwMode="auto">
          <a:xfrm>
            <a:off x="1674813" y="54864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0" name="Oval 34"/>
          <p:cNvSpPr>
            <a:spLocks noChangeArrowheads="1"/>
          </p:cNvSpPr>
          <p:nvPr/>
        </p:nvSpPr>
        <p:spPr bwMode="auto">
          <a:xfrm>
            <a:off x="1141413" y="49530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1" name="Oval 35"/>
          <p:cNvSpPr>
            <a:spLocks noChangeArrowheads="1"/>
          </p:cNvSpPr>
          <p:nvPr/>
        </p:nvSpPr>
        <p:spPr bwMode="auto">
          <a:xfrm>
            <a:off x="1141413" y="60198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2" name="Line 36"/>
          <p:cNvSpPr>
            <a:spLocks noChangeShapeType="1"/>
          </p:cNvSpPr>
          <p:nvPr/>
        </p:nvSpPr>
        <p:spPr bwMode="auto">
          <a:xfrm flipH="1">
            <a:off x="2132013" y="4267200"/>
            <a:ext cx="457200" cy="3810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53" name="Oval 37"/>
          <p:cNvSpPr>
            <a:spLocks noChangeArrowheads="1"/>
          </p:cNvSpPr>
          <p:nvPr/>
        </p:nvSpPr>
        <p:spPr bwMode="auto">
          <a:xfrm>
            <a:off x="2436813" y="39624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4" name="Oval 38"/>
          <p:cNvSpPr>
            <a:spLocks noChangeArrowheads="1"/>
          </p:cNvSpPr>
          <p:nvPr/>
        </p:nvSpPr>
        <p:spPr bwMode="auto">
          <a:xfrm>
            <a:off x="1827213" y="44958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5" name="Line 39"/>
          <p:cNvSpPr>
            <a:spLocks noChangeShapeType="1"/>
          </p:cNvSpPr>
          <p:nvPr/>
        </p:nvSpPr>
        <p:spPr bwMode="auto">
          <a:xfrm flipH="1">
            <a:off x="2741613" y="4267200"/>
            <a:ext cx="990600" cy="838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56" name="Oval 40"/>
          <p:cNvSpPr>
            <a:spLocks noChangeArrowheads="1"/>
          </p:cNvSpPr>
          <p:nvPr/>
        </p:nvSpPr>
        <p:spPr bwMode="auto">
          <a:xfrm>
            <a:off x="3579813" y="39624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7" name="Oval 41"/>
          <p:cNvSpPr>
            <a:spLocks noChangeArrowheads="1"/>
          </p:cNvSpPr>
          <p:nvPr/>
        </p:nvSpPr>
        <p:spPr bwMode="auto">
          <a:xfrm>
            <a:off x="2970213" y="44958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8" name="Oval 42"/>
          <p:cNvSpPr>
            <a:spLocks noChangeArrowheads="1"/>
          </p:cNvSpPr>
          <p:nvPr/>
        </p:nvSpPr>
        <p:spPr bwMode="auto">
          <a:xfrm>
            <a:off x="2360613" y="50292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9" name="Oval 43"/>
          <p:cNvSpPr>
            <a:spLocks noChangeArrowheads="1"/>
          </p:cNvSpPr>
          <p:nvPr/>
        </p:nvSpPr>
        <p:spPr bwMode="auto">
          <a:xfrm>
            <a:off x="3579813" y="50292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60" name="Text Box 44"/>
          <p:cNvSpPr txBox="1">
            <a:spLocks noChangeArrowheads="1"/>
          </p:cNvSpPr>
          <p:nvPr/>
        </p:nvSpPr>
        <p:spPr bwMode="auto">
          <a:xfrm>
            <a:off x="685800" y="3733800"/>
            <a:ext cx="2944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CC0099"/>
                </a:solidFill>
                <a:latin typeface="Times New Roman" panose="02020603050405020304" pitchFamily="18" charset="0"/>
                <a:ea typeface="宋体" panose="02010600030101010101" pitchFamily="2" charset="-122"/>
              </a:rPr>
              <a:t>T</a:t>
            </a:r>
            <a:r>
              <a:rPr kumimoji="1" lang="en-US" altLang="zh-CN" sz="2800" b="1" baseline="-25000">
                <a:solidFill>
                  <a:srgbClr val="CC0099"/>
                </a:solidFill>
                <a:latin typeface="Times New Roman" panose="02020603050405020304" pitchFamily="18" charset="0"/>
                <a:ea typeface="宋体" panose="02010600030101010101" pitchFamily="2" charset="-122"/>
              </a:rPr>
              <a:t>1</a:t>
            </a:r>
            <a:r>
              <a:rPr kumimoji="1" lang="en-US" altLang="zh-CN" sz="2800" b="1">
                <a:solidFill>
                  <a:srgbClr val="CC0099"/>
                </a:solidFill>
                <a:latin typeface="Times New Roman" panose="02020603050405020304" pitchFamily="18" charset="0"/>
                <a:ea typeface="宋体" panose="02010600030101010101" pitchFamily="2" charset="-122"/>
              </a:rPr>
              <a:t>          T</a:t>
            </a:r>
            <a:r>
              <a:rPr kumimoji="1" lang="en-US" altLang="zh-CN" sz="2800" b="1" baseline="-25000">
                <a:solidFill>
                  <a:srgbClr val="CC0099"/>
                </a:solidFill>
                <a:latin typeface="Times New Roman" panose="02020603050405020304" pitchFamily="18" charset="0"/>
                <a:ea typeface="宋体" panose="02010600030101010101" pitchFamily="2" charset="-122"/>
              </a:rPr>
              <a:t>2</a:t>
            </a:r>
            <a:r>
              <a:rPr kumimoji="1" lang="en-US" altLang="zh-CN" sz="2800" b="1">
                <a:solidFill>
                  <a:srgbClr val="CC0099"/>
                </a:solidFill>
                <a:latin typeface="Times New Roman" panose="02020603050405020304" pitchFamily="18" charset="0"/>
                <a:ea typeface="宋体" panose="02010600030101010101" pitchFamily="2" charset="-122"/>
              </a:rPr>
              <a:t>         T</a:t>
            </a:r>
            <a:r>
              <a:rPr kumimoji="1" lang="en-US" altLang="zh-CN" sz="2800" b="1" baseline="-25000">
                <a:solidFill>
                  <a:srgbClr val="CC0099"/>
                </a:solidFill>
                <a:latin typeface="Times New Roman" panose="02020603050405020304" pitchFamily="18" charset="0"/>
                <a:ea typeface="宋体" panose="02010600030101010101" pitchFamily="2" charset="-122"/>
              </a:rPr>
              <a:t>3</a:t>
            </a:r>
            <a:endParaRPr kumimoji="1" lang="en-US" altLang="zh-CN" sz="2800" b="1">
              <a:solidFill>
                <a:srgbClr val="CC0099"/>
              </a:solidFill>
              <a:latin typeface="Times New Roman" panose="02020603050405020304" pitchFamily="18" charset="0"/>
              <a:ea typeface="宋体" panose="02010600030101010101" pitchFamily="2" charset="-122"/>
            </a:endParaRPr>
          </a:p>
        </p:txBody>
      </p:sp>
      <p:sp>
        <p:nvSpPr>
          <p:cNvPr id="111661" name="Text Box 45"/>
          <p:cNvSpPr txBox="1">
            <a:spLocks noChangeArrowheads="1"/>
          </p:cNvSpPr>
          <p:nvPr/>
        </p:nvSpPr>
        <p:spPr bwMode="auto">
          <a:xfrm>
            <a:off x="1157288" y="3900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1662" name="Text Box 46"/>
          <p:cNvSpPr txBox="1">
            <a:spLocks noChangeArrowheads="1"/>
          </p:cNvSpPr>
          <p:nvPr/>
        </p:nvSpPr>
        <p:spPr bwMode="auto">
          <a:xfrm>
            <a:off x="619125" y="19812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1663" name="Text Box 47"/>
          <p:cNvSpPr txBox="1">
            <a:spLocks noChangeArrowheads="1"/>
          </p:cNvSpPr>
          <p:nvPr/>
        </p:nvSpPr>
        <p:spPr bwMode="auto">
          <a:xfrm>
            <a:off x="1143000" y="1981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1664" name="Text Box 48"/>
          <p:cNvSpPr txBox="1">
            <a:spLocks noChangeArrowheads="1"/>
          </p:cNvSpPr>
          <p:nvPr/>
        </p:nvSpPr>
        <p:spPr bwMode="auto">
          <a:xfrm>
            <a:off x="1676400" y="1981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1665" name="Text Box 49"/>
          <p:cNvSpPr txBox="1">
            <a:spLocks noChangeArrowheads="1"/>
          </p:cNvSpPr>
          <p:nvPr/>
        </p:nvSpPr>
        <p:spPr bwMode="auto">
          <a:xfrm>
            <a:off x="2276475" y="19812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1666" name="Text Box 50"/>
          <p:cNvSpPr txBox="1">
            <a:spLocks noChangeArrowheads="1"/>
          </p:cNvSpPr>
          <p:nvPr/>
        </p:nvSpPr>
        <p:spPr bwMode="auto">
          <a:xfrm>
            <a:off x="2954338" y="1981200"/>
            <a:ext cx="3222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11667" name="Text Box 51"/>
          <p:cNvSpPr txBox="1">
            <a:spLocks noChangeArrowheads="1"/>
          </p:cNvSpPr>
          <p:nvPr/>
        </p:nvSpPr>
        <p:spPr bwMode="auto">
          <a:xfrm>
            <a:off x="3544888" y="1981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11668" name="Text Box 52"/>
          <p:cNvSpPr txBox="1">
            <a:spLocks noChangeArrowheads="1"/>
          </p:cNvSpPr>
          <p:nvPr/>
        </p:nvSpPr>
        <p:spPr bwMode="auto">
          <a:xfrm>
            <a:off x="1685925" y="27432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1669" name="Text Box 53"/>
          <p:cNvSpPr txBox="1">
            <a:spLocks noChangeArrowheads="1"/>
          </p:cNvSpPr>
          <p:nvPr/>
        </p:nvSpPr>
        <p:spPr bwMode="auto">
          <a:xfrm>
            <a:off x="2886075" y="27432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11670" name="Text Box 54"/>
          <p:cNvSpPr txBox="1">
            <a:spLocks noChangeArrowheads="1"/>
          </p:cNvSpPr>
          <p:nvPr/>
        </p:nvSpPr>
        <p:spPr bwMode="auto">
          <a:xfrm>
            <a:off x="2471738" y="3886200"/>
            <a:ext cx="401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11671" name="Text Box 55"/>
          <p:cNvSpPr txBox="1">
            <a:spLocks noChangeArrowheads="1"/>
          </p:cNvSpPr>
          <p:nvPr/>
        </p:nvSpPr>
        <p:spPr bwMode="auto">
          <a:xfrm>
            <a:off x="557213" y="4433888"/>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1672" name="Text Box 56"/>
          <p:cNvSpPr txBox="1">
            <a:spLocks noChangeArrowheads="1"/>
          </p:cNvSpPr>
          <p:nvPr/>
        </p:nvSpPr>
        <p:spPr bwMode="auto">
          <a:xfrm>
            <a:off x="1157288" y="48910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1673" name="Text Box 57"/>
          <p:cNvSpPr txBox="1">
            <a:spLocks noChangeArrowheads="1"/>
          </p:cNvSpPr>
          <p:nvPr/>
        </p:nvSpPr>
        <p:spPr bwMode="auto">
          <a:xfrm>
            <a:off x="1690688" y="5424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1674" name="Text Box 58"/>
          <p:cNvSpPr txBox="1">
            <a:spLocks noChangeArrowheads="1"/>
          </p:cNvSpPr>
          <p:nvPr/>
        </p:nvSpPr>
        <p:spPr bwMode="auto">
          <a:xfrm>
            <a:off x="1166813" y="5957888"/>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1675" name="Text Box 59"/>
          <p:cNvSpPr txBox="1">
            <a:spLocks noChangeArrowheads="1"/>
          </p:cNvSpPr>
          <p:nvPr/>
        </p:nvSpPr>
        <p:spPr bwMode="auto">
          <a:xfrm>
            <a:off x="1833563" y="44338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1676" name="Text Box 60"/>
          <p:cNvSpPr txBox="1">
            <a:spLocks noChangeArrowheads="1"/>
          </p:cNvSpPr>
          <p:nvPr/>
        </p:nvSpPr>
        <p:spPr bwMode="auto">
          <a:xfrm>
            <a:off x="3606800" y="38862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1677" name="Text Box 61"/>
          <p:cNvSpPr txBox="1">
            <a:spLocks noChangeArrowheads="1"/>
          </p:cNvSpPr>
          <p:nvPr/>
        </p:nvSpPr>
        <p:spPr bwMode="auto">
          <a:xfrm>
            <a:off x="3065463" y="4433888"/>
            <a:ext cx="3222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11678" name="Text Box 62"/>
          <p:cNvSpPr txBox="1">
            <a:spLocks noChangeArrowheads="1"/>
          </p:cNvSpPr>
          <p:nvPr/>
        </p:nvSpPr>
        <p:spPr bwMode="auto">
          <a:xfrm>
            <a:off x="2387600" y="49530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11679" name="Text Box 63"/>
          <p:cNvSpPr txBox="1">
            <a:spLocks noChangeArrowheads="1"/>
          </p:cNvSpPr>
          <p:nvPr/>
        </p:nvSpPr>
        <p:spPr bwMode="auto">
          <a:xfrm>
            <a:off x="3654425" y="4967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11680" name="Line 64"/>
          <p:cNvSpPr>
            <a:spLocks noChangeShapeType="1"/>
          </p:cNvSpPr>
          <p:nvPr/>
        </p:nvSpPr>
        <p:spPr bwMode="auto">
          <a:xfrm>
            <a:off x="5105400" y="2514600"/>
            <a:ext cx="990600" cy="914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81" name="Line 65"/>
          <p:cNvSpPr>
            <a:spLocks noChangeShapeType="1"/>
          </p:cNvSpPr>
          <p:nvPr/>
        </p:nvSpPr>
        <p:spPr bwMode="auto">
          <a:xfrm flipH="1">
            <a:off x="5105400" y="2057400"/>
            <a:ext cx="457200" cy="3810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82" name="Oval 66"/>
          <p:cNvSpPr>
            <a:spLocks noChangeArrowheads="1"/>
          </p:cNvSpPr>
          <p:nvPr/>
        </p:nvSpPr>
        <p:spPr bwMode="auto">
          <a:xfrm>
            <a:off x="5410200" y="17526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83" name="Oval 67"/>
          <p:cNvSpPr>
            <a:spLocks noChangeArrowheads="1"/>
          </p:cNvSpPr>
          <p:nvPr/>
        </p:nvSpPr>
        <p:spPr bwMode="auto">
          <a:xfrm>
            <a:off x="4800600" y="22860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84" name="Oval 68"/>
          <p:cNvSpPr>
            <a:spLocks noChangeArrowheads="1"/>
          </p:cNvSpPr>
          <p:nvPr/>
        </p:nvSpPr>
        <p:spPr bwMode="auto">
          <a:xfrm>
            <a:off x="5943600" y="32766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85" name="Oval 69"/>
          <p:cNvSpPr>
            <a:spLocks noChangeArrowheads="1"/>
          </p:cNvSpPr>
          <p:nvPr/>
        </p:nvSpPr>
        <p:spPr bwMode="auto">
          <a:xfrm>
            <a:off x="5410200" y="27432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86" name="Oval 70"/>
          <p:cNvSpPr>
            <a:spLocks noChangeArrowheads="1"/>
          </p:cNvSpPr>
          <p:nvPr/>
        </p:nvSpPr>
        <p:spPr bwMode="auto">
          <a:xfrm>
            <a:off x="5410200" y="38100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87" name="Text Box 71"/>
          <p:cNvSpPr txBox="1">
            <a:spLocks noChangeArrowheads="1"/>
          </p:cNvSpPr>
          <p:nvPr/>
        </p:nvSpPr>
        <p:spPr bwMode="auto">
          <a:xfrm>
            <a:off x="5426075" y="1690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1688" name="Text Box 72"/>
          <p:cNvSpPr txBox="1">
            <a:spLocks noChangeArrowheads="1"/>
          </p:cNvSpPr>
          <p:nvPr/>
        </p:nvSpPr>
        <p:spPr bwMode="auto">
          <a:xfrm>
            <a:off x="4826000" y="2224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1689" name="Text Box 73"/>
          <p:cNvSpPr txBox="1">
            <a:spLocks noChangeArrowheads="1"/>
          </p:cNvSpPr>
          <p:nvPr/>
        </p:nvSpPr>
        <p:spPr bwMode="auto">
          <a:xfrm>
            <a:off x="5426075" y="26812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1690" name="Text Box 74"/>
          <p:cNvSpPr txBox="1">
            <a:spLocks noChangeArrowheads="1"/>
          </p:cNvSpPr>
          <p:nvPr/>
        </p:nvSpPr>
        <p:spPr bwMode="auto">
          <a:xfrm>
            <a:off x="5435600" y="3748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1691" name="Text Box 75"/>
          <p:cNvSpPr txBox="1">
            <a:spLocks noChangeArrowheads="1"/>
          </p:cNvSpPr>
          <p:nvPr/>
        </p:nvSpPr>
        <p:spPr bwMode="auto">
          <a:xfrm>
            <a:off x="5959475" y="3214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1692" name="Line 76"/>
          <p:cNvSpPr>
            <a:spLocks noChangeShapeType="1"/>
          </p:cNvSpPr>
          <p:nvPr/>
        </p:nvSpPr>
        <p:spPr bwMode="auto">
          <a:xfrm>
            <a:off x="7543800" y="4586288"/>
            <a:ext cx="381000" cy="304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93" name="Line 77"/>
          <p:cNvSpPr>
            <a:spLocks noChangeShapeType="1"/>
          </p:cNvSpPr>
          <p:nvPr/>
        </p:nvSpPr>
        <p:spPr bwMode="auto">
          <a:xfrm flipH="1">
            <a:off x="6934200" y="3976688"/>
            <a:ext cx="990600" cy="838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94" name="Oval 78"/>
          <p:cNvSpPr>
            <a:spLocks noChangeArrowheads="1"/>
          </p:cNvSpPr>
          <p:nvPr/>
        </p:nvSpPr>
        <p:spPr bwMode="auto">
          <a:xfrm>
            <a:off x="7772400" y="3671888"/>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95" name="Oval 79"/>
          <p:cNvSpPr>
            <a:spLocks noChangeArrowheads="1"/>
          </p:cNvSpPr>
          <p:nvPr/>
        </p:nvSpPr>
        <p:spPr bwMode="auto">
          <a:xfrm>
            <a:off x="7162800" y="4205288"/>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96" name="Oval 80"/>
          <p:cNvSpPr>
            <a:spLocks noChangeArrowheads="1"/>
          </p:cNvSpPr>
          <p:nvPr/>
        </p:nvSpPr>
        <p:spPr bwMode="auto">
          <a:xfrm>
            <a:off x="6553200" y="4738688"/>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97" name="Oval 81"/>
          <p:cNvSpPr>
            <a:spLocks noChangeArrowheads="1"/>
          </p:cNvSpPr>
          <p:nvPr/>
        </p:nvSpPr>
        <p:spPr bwMode="auto">
          <a:xfrm>
            <a:off x="7772400" y="4738688"/>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98" name="Text Box 82"/>
          <p:cNvSpPr txBox="1">
            <a:spLocks noChangeArrowheads="1"/>
          </p:cNvSpPr>
          <p:nvPr/>
        </p:nvSpPr>
        <p:spPr bwMode="auto">
          <a:xfrm>
            <a:off x="7799388" y="35956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1699" name="Text Box 83"/>
          <p:cNvSpPr txBox="1">
            <a:spLocks noChangeArrowheads="1"/>
          </p:cNvSpPr>
          <p:nvPr/>
        </p:nvSpPr>
        <p:spPr bwMode="auto">
          <a:xfrm>
            <a:off x="7258050" y="4143375"/>
            <a:ext cx="322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11700" name="Text Box 84"/>
          <p:cNvSpPr txBox="1">
            <a:spLocks noChangeArrowheads="1"/>
          </p:cNvSpPr>
          <p:nvPr/>
        </p:nvSpPr>
        <p:spPr bwMode="auto">
          <a:xfrm>
            <a:off x="6580188" y="46624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11701" name="Text Box 85"/>
          <p:cNvSpPr txBox="1">
            <a:spLocks noChangeArrowheads="1"/>
          </p:cNvSpPr>
          <p:nvPr/>
        </p:nvSpPr>
        <p:spPr bwMode="auto">
          <a:xfrm>
            <a:off x="7847013" y="46767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11702" name="Line 86"/>
          <p:cNvSpPr>
            <a:spLocks noChangeShapeType="1"/>
          </p:cNvSpPr>
          <p:nvPr/>
        </p:nvSpPr>
        <p:spPr bwMode="auto">
          <a:xfrm flipH="1">
            <a:off x="6858000" y="3443288"/>
            <a:ext cx="45720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703" name="Oval 87"/>
          <p:cNvSpPr>
            <a:spLocks noChangeArrowheads="1"/>
          </p:cNvSpPr>
          <p:nvPr/>
        </p:nvSpPr>
        <p:spPr bwMode="auto">
          <a:xfrm>
            <a:off x="7162800" y="3138488"/>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704" name="Oval 88"/>
          <p:cNvSpPr>
            <a:spLocks noChangeArrowheads="1"/>
          </p:cNvSpPr>
          <p:nvPr/>
        </p:nvSpPr>
        <p:spPr bwMode="auto">
          <a:xfrm>
            <a:off x="6553200" y="3748088"/>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705" name="Text Box 89"/>
          <p:cNvSpPr txBox="1">
            <a:spLocks noChangeArrowheads="1"/>
          </p:cNvSpPr>
          <p:nvPr/>
        </p:nvSpPr>
        <p:spPr bwMode="auto">
          <a:xfrm>
            <a:off x="7197725" y="31384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11706" name="Text Box 90"/>
          <p:cNvSpPr txBox="1">
            <a:spLocks noChangeArrowheads="1"/>
          </p:cNvSpPr>
          <p:nvPr/>
        </p:nvSpPr>
        <p:spPr bwMode="auto">
          <a:xfrm>
            <a:off x="6559550" y="3686175"/>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1707" name="Text Box 91"/>
          <p:cNvSpPr txBox="1">
            <a:spLocks noChangeArrowheads="1"/>
          </p:cNvSpPr>
          <p:nvPr/>
        </p:nvSpPr>
        <p:spPr bwMode="auto">
          <a:xfrm>
            <a:off x="1219200" y="3200400"/>
            <a:ext cx="2495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hlink"/>
                </a:solidFill>
                <a:latin typeface="Times New Roman" panose="02020603050405020304" pitchFamily="18" charset="0"/>
                <a:ea typeface="隶书" panose="02010509060101010101" pitchFamily="49" charset="-122"/>
              </a:rPr>
              <a:t>3</a:t>
            </a:r>
            <a:r>
              <a:rPr kumimoji="1" lang="en-US" altLang="zh-CN" sz="3200">
                <a:solidFill>
                  <a:schemeClr val="hlink"/>
                </a:solidFill>
                <a:latin typeface="Times New Roman" panose="02020603050405020304" pitchFamily="18" charset="0"/>
                <a:ea typeface="隶书" panose="02010509060101010101" pitchFamily="49" charset="-122"/>
              </a:rPr>
              <a:t> </a:t>
            </a:r>
            <a:r>
              <a:rPr kumimoji="1" lang="zh-CN" altLang="en-US" sz="3200">
                <a:solidFill>
                  <a:schemeClr val="hlink"/>
                </a:solidFill>
                <a:latin typeface="Times New Roman" panose="02020603050405020304" pitchFamily="18" charset="0"/>
                <a:ea typeface="隶书" panose="02010509060101010101" pitchFamily="49" charset="-122"/>
              </a:rPr>
              <a:t>棵树的森林</a:t>
            </a:r>
            <a:endParaRPr kumimoji="1" lang="zh-CN" altLang="en-US" sz="2400">
              <a:latin typeface="Times New Roman" panose="02020603050405020304" pitchFamily="18" charset="0"/>
              <a:ea typeface="宋体" panose="02010600030101010101" pitchFamily="2" charset="-122"/>
            </a:endParaRPr>
          </a:p>
        </p:txBody>
      </p:sp>
      <p:sp>
        <p:nvSpPr>
          <p:cNvPr id="111708" name="Text Box 92"/>
          <p:cNvSpPr txBox="1">
            <a:spLocks noChangeArrowheads="1"/>
          </p:cNvSpPr>
          <p:nvPr/>
        </p:nvSpPr>
        <p:spPr bwMode="auto">
          <a:xfrm>
            <a:off x="1981200" y="5943600"/>
            <a:ext cx="3841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a:solidFill>
                  <a:schemeClr val="hlink"/>
                </a:solidFill>
                <a:latin typeface="Times New Roman" panose="02020603050405020304" pitchFamily="18" charset="0"/>
                <a:ea typeface="隶书" panose="02010509060101010101" pitchFamily="49" charset="-122"/>
              </a:rPr>
              <a:t>各棵树的二叉树表示</a:t>
            </a:r>
            <a:endParaRPr kumimoji="1" lang="zh-CN" altLang="en-US" sz="2400">
              <a:latin typeface="Times New Roman" panose="02020603050405020304" pitchFamily="18" charset="0"/>
              <a:ea typeface="宋体" panose="02010600030101010101" pitchFamily="2" charset="-122"/>
            </a:endParaRPr>
          </a:p>
        </p:txBody>
      </p:sp>
      <p:sp>
        <p:nvSpPr>
          <p:cNvPr id="111709" name="Text Box 93"/>
          <p:cNvSpPr txBox="1">
            <a:spLocks noChangeArrowheads="1"/>
          </p:cNvSpPr>
          <p:nvPr/>
        </p:nvSpPr>
        <p:spPr bwMode="auto">
          <a:xfrm>
            <a:off x="5029200" y="5181600"/>
            <a:ext cx="3435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a:solidFill>
                  <a:schemeClr val="hlink"/>
                </a:solidFill>
                <a:latin typeface="Times New Roman" panose="02020603050405020304" pitchFamily="18" charset="0"/>
                <a:ea typeface="隶书" panose="02010509060101010101" pitchFamily="49" charset="-122"/>
              </a:rPr>
              <a:t>森林的二叉树表示</a:t>
            </a:r>
            <a:endParaRPr kumimoji="1" lang="zh-CN" altLang="en-US"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a:xfrm>
            <a:off x="628650" y="365125"/>
            <a:ext cx="7886700" cy="639763"/>
          </a:xfrm>
        </p:spPr>
        <p:txBody>
          <a:bodyPr/>
          <a:lstStyle/>
          <a:p>
            <a:r>
              <a:rPr lang="en-US" altLang="zh-CN" dirty="0"/>
              <a:t>5.6.2 </a:t>
            </a:r>
            <a:r>
              <a:rPr lang="zh-CN" altLang="en-US" dirty="0"/>
              <a:t>森林与二叉树的转换</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(1) </a:t>
            </a:r>
            <a:r>
              <a:rPr lang="zh-CN" altLang="en-US" dirty="0"/>
              <a:t>森林转化成二叉树的规则</a:t>
            </a:r>
            <a:endParaRPr lang="zh-CN" altLang="en-US" dirty="0"/>
          </a:p>
        </p:txBody>
      </p:sp>
      <p:sp>
        <p:nvSpPr>
          <p:cNvPr id="5" name="内容占位符 4"/>
          <p:cNvSpPr>
            <a:spLocks noGrp="1"/>
          </p:cNvSpPr>
          <p:nvPr>
            <p:ph idx="1"/>
          </p:nvPr>
        </p:nvSpPr>
        <p:spPr/>
        <p:txBody>
          <a:bodyPr>
            <a:normAutofit fontScale="92500" lnSpcReduction="10000"/>
          </a:bodyPr>
          <a:lstStyle/>
          <a:p>
            <a:r>
              <a:rPr lang="zh-CN" altLang="en-US" dirty="0"/>
              <a:t>若 </a:t>
            </a:r>
            <a:r>
              <a:rPr lang="en-US" altLang="zh-CN" dirty="0"/>
              <a:t>F </a:t>
            </a:r>
            <a:r>
              <a:rPr lang="zh-CN" altLang="en-US" dirty="0"/>
              <a:t>为空，即 </a:t>
            </a:r>
            <a:r>
              <a:rPr lang="en-US" altLang="zh-CN" dirty="0"/>
              <a:t>n = 0</a:t>
            </a:r>
            <a:r>
              <a:rPr lang="zh-CN" altLang="en-US" dirty="0"/>
              <a:t>，则</a:t>
            </a:r>
            <a:endParaRPr lang="zh-CN" altLang="en-US" dirty="0"/>
          </a:p>
          <a:p>
            <a:pPr lvl="1"/>
            <a:r>
              <a:rPr lang="zh-CN" altLang="en-US" dirty="0"/>
              <a:t>对应的二叉树 </a:t>
            </a:r>
            <a:r>
              <a:rPr lang="en-US" altLang="zh-CN" dirty="0"/>
              <a:t>B </a:t>
            </a:r>
            <a:r>
              <a:rPr lang="zh-CN" altLang="en-US" dirty="0"/>
              <a:t>为空二叉树。</a:t>
            </a:r>
            <a:endParaRPr lang="zh-CN" altLang="en-US" dirty="0"/>
          </a:p>
          <a:p>
            <a:r>
              <a:rPr lang="zh-CN" altLang="en-US" dirty="0"/>
              <a:t>若 </a:t>
            </a:r>
            <a:r>
              <a:rPr lang="en-US" altLang="zh-CN" dirty="0"/>
              <a:t>F </a:t>
            </a:r>
            <a:r>
              <a:rPr lang="zh-CN" altLang="en-US" dirty="0"/>
              <a:t>不空，则</a:t>
            </a:r>
            <a:endParaRPr lang="zh-CN" altLang="en-US" dirty="0"/>
          </a:p>
          <a:p>
            <a:pPr lvl="1"/>
            <a:r>
              <a:rPr lang="zh-CN" altLang="en-US" dirty="0"/>
              <a:t>对应二叉树 </a:t>
            </a:r>
            <a:r>
              <a:rPr lang="en-US" altLang="zh-CN" dirty="0"/>
              <a:t>B </a:t>
            </a:r>
            <a:r>
              <a:rPr lang="zh-CN" altLang="en-US" dirty="0"/>
              <a:t>的根 </a:t>
            </a:r>
            <a:r>
              <a:rPr lang="en-US" altLang="zh-CN" dirty="0"/>
              <a:t>root (B) </a:t>
            </a:r>
            <a:r>
              <a:rPr lang="zh-CN" altLang="en-US" dirty="0"/>
              <a:t>是 </a:t>
            </a:r>
            <a:r>
              <a:rPr lang="en-US" altLang="zh-CN" dirty="0"/>
              <a:t>F </a:t>
            </a:r>
            <a:r>
              <a:rPr lang="zh-CN" altLang="en-US" dirty="0"/>
              <a:t>中第一棵树 </a:t>
            </a:r>
            <a:r>
              <a:rPr lang="en-US" altLang="zh-CN" dirty="0"/>
              <a:t>T</a:t>
            </a:r>
            <a:r>
              <a:rPr lang="en-US" altLang="zh-CN" baseline="-25000" dirty="0"/>
              <a:t>1</a:t>
            </a:r>
            <a:r>
              <a:rPr lang="en-US" altLang="zh-CN" dirty="0"/>
              <a:t> </a:t>
            </a:r>
            <a:r>
              <a:rPr lang="zh-CN" altLang="en-US" dirty="0"/>
              <a:t>的根 </a:t>
            </a:r>
            <a:r>
              <a:rPr lang="en-US" altLang="zh-CN" dirty="0"/>
              <a:t>root (T</a:t>
            </a:r>
            <a:r>
              <a:rPr lang="en-US" altLang="zh-CN" baseline="-25000" dirty="0"/>
              <a:t>1</a:t>
            </a:r>
            <a:r>
              <a:rPr lang="en-US" altLang="zh-CN" dirty="0"/>
              <a:t>)</a:t>
            </a:r>
            <a:r>
              <a:rPr lang="zh-CN" altLang="en-US" dirty="0"/>
              <a:t>；</a:t>
            </a:r>
            <a:endParaRPr lang="zh-CN" altLang="en-US" dirty="0"/>
          </a:p>
          <a:p>
            <a:pPr lvl="1"/>
            <a:r>
              <a:rPr lang="zh-CN" altLang="en-US" dirty="0"/>
              <a:t>其左子树为 </a:t>
            </a:r>
            <a:r>
              <a:rPr lang="en-US" altLang="zh-CN" dirty="0"/>
              <a:t>LB (T</a:t>
            </a:r>
            <a:r>
              <a:rPr lang="en-US" altLang="zh-CN" baseline="-25000" dirty="0"/>
              <a:t>11</a:t>
            </a:r>
            <a:r>
              <a:rPr lang="en-US" altLang="zh-CN" dirty="0"/>
              <a:t>, T</a:t>
            </a:r>
            <a:r>
              <a:rPr lang="en-US" altLang="zh-CN" baseline="-25000" dirty="0"/>
              <a:t>12</a:t>
            </a:r>
            <a:r>
              <a:rPr lang="en-US" altLang="zh-CN" dirty="0"/>
              <a:t>, …, T</a:t>
            </a:r>
            <a:r>
              <a:rPr lang="en-US" altLang="zh-CN" baseline="-25000" dirty="0"/>
              <a:t>1m</a:t>
            </a:r>
            <a:r>
              <a:rPr lang="en-US" altLang="zh-CN" dirty="0"/>
              <a:t>)</a:t>
            </a:r>
            <a:r>
              <a:rPr lang="zh-CN" altLang="en-US" dirty="0"/>
              <a:t>，其中，</a:t>
            </a:r>
            <a:r>
              <a:rPr lang="en-US" altLang="zh-CN" dirty="0"/>
              <a:t>T</a:t>
            </a:r>
            <a:r>
              <a:rPr lang="en-US" altLang="zh-CN" baseline="-25000" dirty="0"/>
              <a:t>11</a:t>
            </a:r>
            <a:r>
              <a:rPr lang="en-US" altLang="zh-CN" dirty="0"/>
              <a:t>, T</a:t>
            </a:r>
            <a:r>
              <a:rPr lang="en-US" altLang="zh-CN" baseline="-25000" dirty="0"/>
              <a:t>12</a:t>
            </a:r>
            <a:r>
              <a:rPr lang="en-US" altLang="zh-CN" dirty="0"/>
              <a:t>, …, T</a:t>
            </a:r>
            <a:r>
              <a:rPr lang="en-US" altLang="zh-CN" baseline="-25000" dirty="0"/>
              <a:t>1m</a:t>
            </a:r>
            <a:r>
              <a:rPr lang="en-US" altLang="zh-CN" dirty="0"/>
              <a:t> </a:t>
            </a:r>
            <a:r>
              <a:rPr lang="zh-CN" altLang="en-US" dirty="0"/>
              <a:t>是 </a:t>
            </a:r>
            <a:r>
              <a:rPr lang="en-US" altLang="zh-CN" dirty="0"/>
              <a:t>root (T</a:t>
            </a:r>
            <a:r>
              <a:rPr lang="en-US" altLang="zh-CN" baseline="-25000" dirty="0"/>
              <a:t>1</a:t>
            </a:r>
            <a:r>
              <a:rPr lang="en-US" altLang="zh-CN" dirty="0"/>
              <a:t>) </a:t>
            </a:r>
            <a:r>
              <a:rPr lang="zh-CN" altLang="en-US" dirty="0"/>
              <a:t>的子树；</a:t>
            </a:r>
            <a:endParaRPr lang="zh-CN" altLang="en-US" dirty="0"/>
          </a:p>
          <a:p>
            <a:pPr lvl="1"/>
            <a:r>
              <a:rPr lang="zh-CN" altLang="en-US" dirty="0"/>
              <a:t>其右子树为 </a:t>
            </a:r>
            <a:r>
              <a:rPr lang="en-US" altLang="zh-CN" dirty="0"/>
              <a:t>RB (T</a:t>
            </a:r>
            <a:r>
              <a:rPr lang="en-US" altLang="zh-CN" baseline="-25000" dirty="0"/>
              <a:t>2</a:t>
            </a:r>
            <a:r>
              <a:rPr lang="en-US" altLang="zh-CN" dirty="0"/>
              <a:t>, T</a:t>
            </a:r>
            <a:r>
              <a:rPr lang="en-US" altLang="zh-CN" baseline="-25000" dirty="0"/>
              <a:t>3</a:t>
            </a:r>
            <a:r>
              <a:rPr lang="en-US" altLang="zh-CN" dirty="0"/>
              <a:t>, …, T</a:t>
            </a:r>
            <a:r>
              <a:rPr lang="en-US" altLang="zh-CN" baseline="-25000" dirty="0"/>
              <a:t>n</a:t>
            </a:r>
            <a:r>
              <a:rPr lang="en-US" altLang="zh-CN" dirty="0"/>
              <a:t>)</a:t>
            </a:r>
            <a:r>
              <a:rPr lang="zh-CN" altLang="en-US" dirty="0"/>
              <a:t>，其中，</a:t>
            </a:r>
            <a:r>
              <a:rPr lang="en-US" altLang="zh-CN" dirty="0"/>
              <a:t>T</a:t>
            </a:r>
            <a:r>
              <a:rPr lang="en-US" altLang="zh-CN" baseline="-25000" dirty="0"/>
              <a:t>2</a:t>
            </a:r>
            <a:r>
              <a:rPr lang="en-US" altLang="zh-CN" dirty="0"/>
              <a:t>, T</a:t>
            </a:r>
            <a:r>
              <a:rPr lang="en-US" altLang="zh-CN" baseline="-25000" dirty="0"/>
              <a:t>3</a:t>
            </a:r>
            <a:r>
              <a:rPr lang="en-US" altLang="zh-CN" dirty="0"/>
              <a:t>, …, T</a:t>
            </a:r>
            <a:r>
              <a:rPr lang="en-US" altLang="zh-CN" baseline="-25000" dirty="0"/>
              <a:t>n</a:t>
            </a:r>
            <a:r>
              <a:rPr lang="en-US" altLang="zh-CN" dirty="0"/>
              <a:t> </a:t>
            </a:r>
            <a:r>
              <a:rPr lang="zh-CN" altLang="en-US" dirty="0"/>
              <a:t>是除 </a:t>
            </a:r>
            <a:r>
              <a:rPr lang="en-US" altLang="zh-CN" dirty="0"/>
              <a:t>T</a:t>
            </a:r>
            <a:r>
              <a:rPr lang="en-US" altLang="zh-CN" baseline="-25000" dirty="0"/>
              <a:t>1</a:t>
            </a:r>
            <a:r>
              <a:rPr lang="en-US" altLang="zh-CN" dirty="0"/>
              <a:t> </a:t>
            </a:r>
            <a:r>
              <a:rPr lang="zh-CN" altLang="en-US" dirty="0"/>
              <a:t>外其它树构成的森林。</a:t>
            </a:r>
            <a:endParaRPr lang="zh-CN" altLang="en-US" dirty="0"/>
          </a:p>
          <a:p>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en-US" dirty="0"/>
              <a:t>二叉树转换为森林的规则</a:t>
            </a:r>
            <a:endParaRPr lang="zh-CN" altLang="en-US" dirty="0"/>
          </a:p>
        </p:txBody>
      </p:sp>
      <p:sp>
        <p:nvSpPr>
          <p:cNvPr id="3" name="内容占位符 2"/>
          <p:cNvSpPr>
            <a:spLocks noGrp="1"/>
          </p:cNvSpPr>
          <p:nvPr>
            <p:ph idx="1"/>
          </p:nvPr>
        </p:nvSpPr>
        <p:spPr>
          <a:xfrm>
            <a:off x="628650" y="1825625"/>
            <a:ext cx="8047806" cy="4351338"/>
          </a:xfrm>
        </p:spPr>
        <p:txBody>
          <a:bodyPr>
            <a:normAutofit/>
          </a:bodyPr>
          <a:lstStyle/>
          <a:p>
            <a:r>
              <a:rPr lang="zh-CN" altLang="en-US" dirty="0"/>
              <a:t>如果</a:t>
            </a:r>
            <a:r>
              <a:rPr lang="en-US" altLang="zh-CN" dirty="0"/>
              <a:t>B</a:t>
            </a:r>
            <a:r>
              <a:rPr lang="zh-CN" altLang="en-US" dirty="0"/>
              <a:t>为空，则对应的森林 </a:t>
            </a:r>
            <a:r>
              <a:rPr lang="en-US" altLang="zh-CN" dirty="0"/>
              <a:t>F </a:t>
            </a:r>
            <a:r>
              <a:rPr lang="zh-CN" altLang="en-US" dirty="0"/>
              <a:t>也为空。</a:t>
            </a:r>
            <a:endParaRPr lang="zh-CN" altLang="en-US" dirty="0"/>
          </a:p>
          <a:p>
            <a:r>
              <a:rPr lang="zh-CN" altLang="en-US" dirty="0"/>
              <a:t>如果 </a:t>
            </a:r>
            <a:r>
              <a:rPr lang="en-US" altLang="zh-CN" dirty="0"/>
              <a:t>B </a:t>
            </a:r>
            <a:r>
              <a:rPr lang="zh-CN" altLang="en-US" dirty="0"/>
              <a:t>非空，则</a:t>
            </a:r>
            <a:endParaRPr lang="zh-CN" altLang="en-US" dirty="0"/>
          </a:p>
          <a:p>
            <a:pPr lvl="1"/>
            <a:r>
              <a:rPr lang="en-US" altLang="zh-CN" dirty="0"/>
              <a:t>F </a:t>
            </a:r>
            <a:r>
              <a:rPr lang="zh-CN" altLang="en-US" dirty="0"/>
              <a:t>中第一棵树 </a:t>
            </a:r>
            <a:r>
              <a:rPr lang="en-US" altLang="zh-CN" dirty="0"/>
              <a:t>T</a:t>
            </a:r>
            <a:r>
              <a:rPr lang="en-US" altLang="zh-CN" baseline="-25000" dirty="0"/>
              <a:t>1</a:t>
            </a:r>
            <a:r>
              <a:rPr lang="en-US" altLang="zh-CN" dirty="0"/>
              <a:t> </a:t>
            </a:r>
            <a:r>
              <a:rPr lang="zh-CN" altLang="en-US" dirty="0"/>
              <a:t>的根为 </a:t>
            </a:r>
            <a:r>
              <a:rPr lang="en-US" altLang="zh-CN" dirty="0"/>
              <a:t>root</a:t>
            </a:r>
            <a:r>
              <a:rPr lang="zh-CN" altLang="en-US" dirty="0"/>
              <a:t>；</a:t>
            </a:r>
            <a:endParaRPr lang="zh-CN" altLang="en-US" dirty="0"/>
          </a:p>
          <a:p>
            <a:pPr lvl="1"/>
            <a:r>
              <a:rPr lang="en-US" altLang="zh-CN" dirty="0"/>
              <a:t>T</a:t>
            </a:r>
            <a:r>
              <a:rPr lang="en-US" altLang="zh-CN" baseline="-25000" dirty="0"/>
              <a:t>1</a:t>
            </a:r>
            <a:r>
              <a:rPr lang="en-US" altLang="zh-CN" dirty="0"/>
              <a:t> </a:t>
            </a:r>
            <a:r>
              <a:rPr lang="zh-CN" altLang="en-US" dirty="0"/>
              <a:t>的根的子树森林 </a:t>
            </a:r>
            <a:r>
              <a:rPr lang="en-US" altLang="zh-CN" dirty="0"/>
              <a:t>{ T</a:t>
            </a:r>
            <a:r>
              <a:rPr lang="en-US" altLang="zh-CN" baseline="-25000" dirty="0"/>
              <a:t>11</a:t>
            </a:r>
            <a:r>
              <a:rPr lang="en-US" altLang="zh-CN" dirty="0"/>
              <a:t>, T</a:t>
            </a:r>
            <a:r>
              <a:rPr lang="en-US" altLang="zh-CN" baseline="-25000" dirty="0"/>
              <a:t>12</a:t>
            </a:r>
            <a:r>
              <a:rPr lang="en-US" altLang="zh-CN" dirty="0"/>
              <a:t>, …, T</a:t>
            </a:r>
            <a:r>
              <a:rPr lang="en-US" altLang="zh-CN" baseline="-25000" dirty="0"/>
              <a:t>1m</a:t>
            </a:r>
            <a:r>
              <a:rPr lang="en-US" altLang="zh-CN" dirty="0"/>
              <a:t> }</a:t>
            </a:r>
            <a:r>
              <a:rPr lang="zh-CN" altLang="en-US" dirty="0"/>
              <a:t>是由 </a:t>
            </a:r>
            <a:r>
              <a:rPr lang="en-US" altLang="zh-CN" dirty="0"/>
              <a:t>root </a:t>
            </a:r>
            <a:r>
              <a:rPr lang="zh-CN" altLang="en-US" dirty="0"/>
              <a:t>的左子树 </a:t>
            </a:r>
            <a:r>
              <a:rPr lang="en-US" altLang="zh-CN" dirty="0"/>
              <a:t>LB </a:t>
            </a:r>
            <a:r>
              <a:rPr lang="zh-CN" altLang="en-US" dirty="0"/>
              <a:t>转换而来，</a:t>
            </a:r>
            <a:r>
              <a:rPr lang="en-US" altLang="zh-CN" dirty="0"/>
              <a:t>F </a:t>
            </a:r>
            <a:r>
              <a:rPr lang="zh-CN" altLang="en-US" dirty="0"/>
              <a:t>中除了 </a:t>
            </a:r>
            <a:r>
              <a:rPr lang="en-US" altLang="zh-CN" dirty="0"/>
              <a:t>T</a:t>
            </a:r>
            <a:r>
              <a:rPr lang="en-US" altLang="zh-CN" baseline="-25000" dirty="0"/>
              <a:t>1</a:t>
            </a:r>
            <a:r>
              <a:rPr lang="en-US" altLang="zh-CN" dirty="0"/>
              <a:t> </a:t>
            </a:r>
            <a:r>
              <a:rPr lang="zh-CN" altLang="en-US" dirty="0"/>
              <a:t>之外其余的树组成的森林 </a:t>
            </a:r>
            <a:r>
              <a:rPr lang="en-US" altLang="zh-CN" dirty="0"/>
              <a:t>{ T</a:t>
            </a:r>
            <a:r>
              <a:rPr lang="en-US" altLang="zh-CN" baseline="-25000" dirty="0"/>
              <a:t>2</a:t>
            </a:r>
            <a:r>
              <a:rPr lang="en-US" altLang="zh-CN" dirty="0"/>
              <a:t>, T</a:t>
            </a:r>
            <a:r>
              <a:rPr lang="en-US" altLang="zh-CN" baseline="-25000" dirty="0"/>
              <a:t>3</a:t>
            </a:r>
            <a:r>
              <a:rPr lang="en-US" altLang="zh-CN" dirty="0"/>
              <a:t>, …, T</a:t>
            </a:r>
            <a:r>
              <a:rPr lang="en-US" altLang="zh-CN" baseline="-25000" dirty="0"/>
              <a:t>n</a:t>
            </a:r>
            <a:r>
              <a:rPr lang="en-US" altLang="zh-CN" dirty="0"/>
              <a:t> } </a:t>
            </a:r>
            <a:r>
              <a:rPr lang="zh-CN" altLang="en-US" dirty="0"/>
              <a:t>是由 </a:t>
            </a:r>
            <a:r>
              <a:rPr lang="en-US" altLang="zh-CN" dirty="0"/>
              <a:t>root </a:t>
            </a:r>
            <a:r>
              <a:rPr lang="zh-CN" altLang="en-US" dirty="0"/>
              <a:t>的右子树 </a:t>
            </a:r>
            <a:r>
              <a:rPr lang="en-US" altLang="zh-CN" dirty="0"/>
              <a:t>RB </a:t>
            </a:r>
            <a:r>
              <a:rPr lang="zh-CN" altLang="en-US" dirty="0"/>
              <a:t>转换而成的森林。</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defTabSz="913130"/>
            <a:r>
              <a:rPr lang="en-US" altLang="zh-CN" dirty="0"/>
              <a:t>5.6.3 </a:t>
            </a:r>
            <a:r>
              <a:rPr lang="zh-CN" altLang="en-US" dirty="0"/>
              <a:t>树与二叉树的转换</a:t>
            </a:r>
            <a:endParaRPr lang="zh-CN" altLang="en-US" dirty="0"/>
          </a:p>
        </p:txBody>
      </p:sp>
      <p:sp>
        <p:nvSpPr>
          <p:cNvPr id="114691" name="Rectangle 3"/>
          <p:cNvSpPr>
            <a:spLocks noGrp="1" noChangeArrowheads="1"/>
          </p:cNvSpPr>
          <p:nvPr>
            <p:ph idx="1"/>
          </p:nvPr>
        </p:nvSpPr>
        <p:spPr/>
        <p:txBody>
          <a:bodyPr/>
          <a:lstStyle/>
          <a:p>
            <a:pPr defTabSz="913130"/>
            <a:r>
              <a:rPr lang="zh-CN" altLang="en-US" dirty="0"/>
              <a:t>即之前的</a:t>
            </a:r>
            <a:r>
              <a:rPr lang="en-US" altLang="zh-CN" dirty="0"/>
              <a:t>”</a:t>
            </a:r>
            <a:r>
              <a:rPr lang="zh-CN" altLang="en-US" dirty="0"/>
              <a:t>孩子</a:t>
            </a:r>
            <a:r>
              <a:rPr lang="en-US" altLang="zh-CN" dirty="0"/>
              <a:t>-</a:t>
            </a:r>
            <a:r>
              <a:rPr lang="zh-CN" altLang="en-US" dirty="0"/>
              <a:t>兄弟链表示法</a:t>
            </a:r>
            <a:r>
              <a:rPr lang="en-US" altLang="zh-CN" dirty="0"/>
              <a:t>”</a:t>
            </a:r>
            <a:endParaRPr lang="en-US" altLang="zh-CN" dirty="0"/>
          </a:p>
          <a:p>
            <a:pPr lvl="1" defTabSz="913130"/>
            <a:r>
              <a:rPr lang="zh-CN" altLang="en-US" dirty="0"/>
              <a:t>树的根就是二叉树的根</a:t>
            </a:r>
            <a:endParaRPr lang="zh-CN" altLang="en-US" dirty="0"/>
          </a:p>
          <a:p>
            <a:pPr lvl="1" defTabSz="913130"/>
            <a:r>
              <a:rPr lang="zh-CN" altLang="en-US" dirty="0"/>
              <a:t>树的子树森林对应二叉树的左子树</a:t>
            </a: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Line 2"/>
          <p:cNvSpPr>
            <a:spLocks noChangeShapeType="1"/>
          </p:cNvSpPr>
          <p:nvPr/>
        </p:nvSpPr>
        <p:spPr bwMode="auto">
          <a:xfrm>
            <a:off x="5562602" y="4802972"/>
            <a:ext cx="4572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5" name="Line 3"/>
          <p:cNvSpPr>
            <a:spLocks noChangeShapeType="1"/>
          </p:cNvSpPr>
          <p:nvPr/>
        </p:nvSpPr>
        <p:spPr bwMode="auto">
          <a:xfrm flipH="1">
            <a:off x="7010402" y="5564972"/>
            <a:ext cx="45720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6" name="Line 4"/>
          <p:cNvSpPr>
            <a:spLocks noChangeShapeType="1"/>
          </p:cNvSpPr>
          <p:nvPr/>
        </p:nvSpPr>
        <p:spPr bwMode="auto">
          <a:xfrm>
            <a:off x="3733800" y="5181600"/>
            <a:ext cx="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7" name="Line 5"/>
          <p:cNvSpPr>
            <a:spLocks noChangeShapeType="1"/>
          </p:cNvSpPr>
          <p:nvPr/>
        </p:nvSpPr>
        <p:spPr bwMode="auto">
          <a:xfrm>
            <a:off x="2438400" y="5181600"/>
            <a:ext cx="228600" cy="533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8" name="Line 6"/>
          <p:cNvSpPr>
            <a:spLocks noChangeShapeType="1"/>
          </p:cNvSpPr>
          <p:nvPr/>
        </p:nvSpPr>
        <p:spPr bwMode="auto">
          <a:xfrm flipH="1">
            <a:off x="2133600" y="5257800"/>
            <a:ext cx="152400" cy="3810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9" name="Line 7"/>
          <p:cNvSpPr>
            <a:spLocks noChangeShapeType="1"/>
          </p:cNvSpPr>
          <p:nvPr/>
        </p:nvSpPr>
        <p:spPr bwMode="auto">
          <a:xfrm>
            <a:off x="3200400" y="4419600"/>
            <a:ext cx="53340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0" name="Line 8"/>
          <p:cNvSpPr>
            <a:spLocks noChangeShapeType="1"/>
          </p:cNvSpPr>
          <p:nvPr/>
        </p:nvSpPr>
        <p:spPr bwMode="auto">
          <a:xfrm>
            <a:off x="3048000" y="4495800"/>
            <a:ext cx="0" cy="3810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1" name="Line 9"/>
          <p:cNvSpPr>
            <a:spLocks noChangeShapeType="1"/>
          </p:cNvSpPr>
          <p:nvPr/>
        </p:nvSpPr>
        <p:spPr bwMode="auto">
          <a:xfrm flipH="1">
            <a:off x="2438400" y="4419600"/>
            <a:ext cx="45720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62" name="Text Box 10"/>
          <p:cNvSpPr txBox="1">
            <a:spLocks noChangeArrowheads="1"/>
          </p:cNvSpPr>
          <p:nvPr/>
        </p:nvSpPr>
        <p:spPr bwMode="auto">
          <a:xfrm>
            <a:off x="5181602" y="2394735"/>
            <a:ext cx="3124200" cy="579437"/>
          </a:xfrm>
          <a:prstGeom prst="rect">
            <a:avLst/>
          </a:prstGeom>
          <a:noFill/>
          <a:ln w="9525">
            <a:noFill/>
            <a:miter lim="800000"/>
          </a:ln>
          <a:effectLst/>
        </p:spPr>
        <p:txBody>
          <a:bodyPr>
            <a:spAutoFit/>
          </a:bodyPr>
          <a:lstStyle/>
          <a:p>
            <a:pPr eaLnBrk="1" fontAlgn="auto" hangingPunct="1">
              <a:spcBef>
                <a:spcPct val="50000"/>
              </a:spcBef>
              <a:spcAft>
                <a:spcPts val="0"/>
              </a:spcAft>
              <a:defRPr/>
            </a:pPr>
            <a:r>
              <a:rPr lang="zh-CN" altLang="en-US" sz="3200">
                <a:solidFill>
                  <a:srgbClr val="CC33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树的二叉树表示</a:t>
            </a:r>
            <a:endParaRPr lang="zh-CN" altLang="en-US" sz="2000">
              <a:latin typeface="Times New Roman" panose="02020603050405020304" pitchFamily="18" charset="0"/>
              <a:ea typeface="+mn-ea"/>
            </a:endParaRPr>
          </a:p>
        </p:txBody>
      </p:sp>
      <p:sp>
        <p:nvSpPr>
          <p:cNvPr id="115725" name="Line 13"/>
          <p:cNvSpPr>
            <a:spLocks noChangeShapeType="1"/>
          </p:cNvSpPr>
          <p:nvPr/>
        </p:nvSpPr>
        <p:spPr bwMode="auto">
          <a:xfrm flipH="1">
            <a:off x="5562602" y="3583772"/>
            <a:ext cx="1066800" cy="1066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6" name="Line 14"/>
          <p:cNvSpPr>
            <a:spLocks noChangeShapeType="1"/>
          </p:cNvSpPr>
          <p:nvPr/>
        </p:nvSpPr>
        <p:spPr bwMode="auto">
          <a:xfrm>
            <a:off x="6248402" y="4255285"/>
            <a:ext cx="1219200" cy="1157287"/>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7" name="Oval 15"/>
          <p:cNvSpPr>
            <a:spLocks noChangeArrowheads="1"/>
          </p:cNvSpPr>
          <p:nvPr/>
        </p:nvSpPr>
        <p:spPr bwMode="auto">
          <a:xfrm>
            <a:off x="6477002" y="3278972"/>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28" name="Oval 16"/>
          <p:cNvSpPr>
            <a:spLocks noChangeArrowheads="1"/>
          </p:cNvSpPr>
          <p:nvPr/>
        </p:nvSpPr>
        <p:spPr bwMode="auto">
          <a:xfrm>
            <a:off x="5867402" y="3888572"/>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29" name="Oval 17"/>
          <p:cNvSpPr>
            <a:spLocks noChangeArrowheads="1"/>
          </p:cNvSpPr>
          <p:nvPr/>
        </p:nvSpPr>
        <p:spPr bwMode="auto">
          <a:xfrm>
            <a:off x="7315202" y="5245885"/>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30" name="Oval 18"/>
          <p:cNvSpPr>
            <a:spLocks noChangeArrowheads="1"/>
          </p:cNvSpPr>
          <p:nvPr/>
        </p:nvSpPr>
        <p:spPr bwMode="auto">
          <a:xfrm>
            <a:off x="6629402" y="4574372"/>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31" name="Oval 19"/>
          <p:cNvSpPr>
            <a:spLocks noChangeArrowheads="1"/>
          </p:cNvSpPr>
          <p:nvPr/>
        </p:nvSpPr>
        <p:spPr bwMode="auto">
          <a:xfrm>
            <a:off x="5257802" y="4498172"/>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32" name="Text Box 20"/>
          <p:cNvSpPr txBox="1">
            <a:spLocks noChangeArrowheads="1"/>
          </p:cNvSpPr>
          <p:nvPr/>
        </p:nvSpPr>
        <p:spPr bwMode="auto">
          <a:xfrm>
            <a:off x="6492877" y="3202772"/>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5733" name="Text Box 21"/>
          <p:cNvSpPr txBox="1">
            <a:spLocks noChangeArrowheads="1"/>
          </p:cNvSpPr>
          <p:nvPr/>
        </p:nvSpPr>
        <p:spPr bwMode="auto">
          <a:xfrm>
            <a:off x="5903915" y="3826660"/>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5734" name="Text Box 22"/>
          <p:cNvSpPr txBox="1">
            <a:spLocks noChangeArrowheads="1"/>
          </p:cNvSpPr>
          <p:nvPr/>
        </p:nvSpPr>
        <p:spPr bwMode="auto">
          <a:xfrm>
            <a:off x="6629402" y="451246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5735" name="Text Box 23"/>
          <p:cNvSpPr txBox="1">
            <a:spLocks noChangeArrowheads="1"/>
          </p:cNvSpPr>
          <p:nvPr/>
        </p:nvSpPr>
        <p:spPr bwMode="auto">
          <a:xfrm>
            <a:off x="5283202" y="4436260"/>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5736" name="Text Box 24"/>
          <p:cNvSpPr txBox="1">
            <a:spLocks noChangeArrowheads="1"/>
          </p:cNvSpPr>
          <p:nvPr/>
        </p:nvSpPr>
        <p:spPr bwMode="auto">
          <a:xfrm>
            <a:off x="7331077" y="5183972"/>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5737" name="Line 25"/>
          <p:cNvSpPr>
            <a:spLocks noChangeShapeType="1"/>
          </p:cNvSpPr>
          <p:nvPr/>
        </p:nvSpPr>
        <p:spPr bwMode="auto">
          <a:xfrm>
            <a:off x="3733800" y="5181600"/>
            <a:ext cx="0" cy="5334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14:hiddenLine>
            </a:ext>
          </a:extLst>
        </p:spPr>
        <p:txBody>
          <a:bodyPr wrap="none" anchor="ctr"/>
          <a:lstStyle/>
          <a:p>
            <a:endParaRPr lang="zh-CN" altLang="en-US"/>
          </a:p>
        </p:txBody>
      </p:sp>
      <p:sp>
        <p:nvSpPr>
          <p:cNvPr id="115738" name="Line 26"/>
          <p:cNvSpPr>
            <a:spLocks noChangeShapeType="1"/>
          </p:cNvSpPr>
          <p:nvPr/>
        </p:nvSpPr>
        <p:spPr bwMode="auto">
          <a:xfrm>
            <a:off x="3200400" y="4343400"/>
            <a:ext cx="533400" cy="685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14:hiddenLine>
            </a:ext>
          </a:extLst>
        </p:spPr>
        <p:txBody>
          <a:bodyPr wrap="none" anchor="ctr"/>
          <a:lstStyle/>
          <a:p>
            <a:endParaRPr lang="zh-CN" altLang="en-US"/>
          </a:p>
        </p:txBody>
      </p:sp>
      <p:sp>
        <p:nvSpPr>
          <p:cNvPr id="115739" name="Line 27"/>
          <p:cNvSpPr>
            <a:spLocks noChangeShapeType="1"/>
          </p:cNvSpPr>
          <p:nvPr/>
        </p:nvSpPr>
        <p:spPr bwMode="auto">
          <a:xfrm>
            <a:off x="2438400" y="5181600"/>
            <a:ext cx="228600"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14:hiddenLine>
            </a:ext>
          </a:extLst>
        </p:spPr>
        <p:txBody>
          <a:bodyPr wrap="none" anchor="ctr"/>
          <a:lstStyle/>
          <a:p>
            <a:endParaRPr lang="zh-CN" altLang="en-US"/>
          </a:p>
        </p:txBody>
      </p:sp>
      <p:sp>
        <p:nvSpPr>
          <p:cNvPr id="115740" name="Line 28"/>
          <p:cNvSpPr>
            <a:spLocks noChangeShapeType="1"/>
          </p:cNvSpPr>
          <p:nvPr/>
        </p:nvSpPr>
        <p:spPr bwMode="auto">
          <a:xfrm flipH="1">
            <a:off x="2090738" y="5181600"/>
            <a:ext cx="195262"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14:hiddenLine>
            </a:ext>
          </a:extLst>
        </p:spPr>
        <p:txBody>
          <a:bodyPr wrap="none" anchor="ctr"/>
          <a:lstStyle/>
          <a:p>
            <a:endParaRPr lang="zh-CN" altLang="en-US"/>
          </a:p>
        </p:txBody>
      </p:sp>
      <p:sp>
        <p:nvSpPr>
          <p:cNvPr id="115741" name="Line 29"/>
          <p:cNvSpPr>
            <a:spLocks noChangeShapeType="1"/>
          </p:cNvSpPr>
          <p:nvPr/>
        </p:nvSpPr>
        <p:spPr bwMode="auto">
          <a:xfrm flipH="1">
            <a:off x="2438400" y="4419600"/>
            <a:ext cx="457200"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14:hiddenLine>
            </a:ext>
          </a:extLst>
        </p:spPr>
        <p:txBody>
          <a:bodyPr wrap="none" anchor="ctr"/>
          <a:lstStyle/>
          <a:p>
            <a:endParaRPr lang="zh-CN" altLang="en-US"/>
          </a:p>
        </p:txBody>
      </p:sp>
      <p:sp>
        <p:nvSpPr>
          <p:cNvPr id="115742" name="Line 30"/>
          <p:cNvSpPr>
            <a:spLocks noChangeShapeType="1"/>
          </p:cNvSpPr>
          <p:nvPr/>
        </p:nvSpPr>
        <p:spPr bwMode="auto">
          <a:xfrm>
            <a:off x="3048000" y="4419600"/>
            <a:ext cx="0"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14:hiddenLine>
            </a:ext>
          </a:extLst>
        </p:spPr>
        <p:txBody>
          <a:bodyPr wrap="none" anchor="ctr"/>
          <a:lstStyle/>
          <a:p>
            <a:endParaRPr lang="zh-CN" altLang="en-US"/>
          </a:p>
        </p:txBody>
      </p:sp>
      <p:sp>
        <p:nvSpPr>
          <p:cNvPr id="115743" name="Oval 31"/>
          <p:cNvSpPr>
            <a:spLocks noChangeArrowheads="1"/>
          </p:cNvSpPr>
          <p:nvPr/>
        </p:nvSpPr>
        <p:spPr bwMode="auto">
          <a:xfrm>
            <a:off x="2819400" y="40386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44" name="Oval 32"/>
          <p:cNvSpPr>
            <a:spLocks noChangeArrowheads="1"/>
          </p:cNvSpPr>
          <p:nvPr/>
        </p:nvSpPr>
        <p:spPr bwMode="auto">
          <a:xfrm>
            <a:off x="2819400" y="48006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45" name="Oval 33"/>
          <p:cNvSpPr>
            <a:spLocks noChangeArrowheads="1"/>
          </p:cNvSpPr>
          <p:nvPr/>
        </p:nvSpPr>
        <p:spPr bwMode="auto">
          <a:xfrm>
            <a:off x="2438400" y="55626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46" name="Oval 34"/>
          <p:cNvSpPr>
            <a:spLocks noChangeArrowheads="1"/>
          </p:cNvSpPr>
          <p:nvPr/>
        </p:nvSpPr>
        <p:spPr bwMode="auto">
          <a:xfrm>
            <a:off x="1828800" y="55626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47" name="Oval 35"/>
          <p:cNvSpPr>
            <a:spLocks noChangeArrowheads="1"/>
          </p:cNvSpPr>
          <p:nvPr/>
        </p:nvSpPr>
        <p:spPr bwMode="auto">
          <a:xfrm>
            <a:off x="2133600" y="48006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48" name="Oval 36"/>
          <p:cNvSpPr>
            <a:spLocks noChangeArrowheads="1"/>
          </p:cNvSpPr>
          <p:nvPr/>
        </p:nvSpPr>
        <p:spPr bwMode="auto">
          <a:xfrm>
            <a:off x="3505200" y="48006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49" name="Oval 37"/>
          <p:cNvSpPr>
            <a:spLocks noChangeArrowheads="1"/>
          </p:cNvSpPr>
          <p:nvPr/>
        </p:nvSpPr>
        <p:spPr bwMode="auto">
          <a:xfrm>
            <a:off x="3505200" y="55626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50" name="Text Box 38"/>
          <p:cNvSpPr txBox="1">
            <a:spLocks noChangeArrowheads="1"/>
          </p:cNvSpPr>
          <p:nvPr/>
        </p:nvSpPr>
        <p:spPr bwMode="auto">
          <a:xfrm>
            <a:off x="2835275" y="3976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5751" name="Text Box 39"/>
          <p:cNvSpPr txBox="1">
            <a:spLocks noChangeArrowheads="1"/>
          </p:cNvSpPr>
          <p:nvPr/>
        </p:nvSpPr>
        <p:spPr bwMode="auto">
          <a:xfrm>
            <a:off x="2159000" y="47386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5752" name="Text Box 40"/>
          <p:cNvSpPr txBox="1">
            <a:spLocks noChangeArrowheads="1"/>
          </p:cNvSpPr>
          <p:nvPr/>
        </p:nvSpPr>
        <p:spPr bwMode="auto">
          <a:xfrm>
            <a:off x="2835275" y="4738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5753" name="Text Box 41"/>
          <p:cNvSpPr txBox="1">
            <a:spLocks noChangeArrowheads="1"/>
          </p:cNvSpPr>
          <p:nvPr/>
        </p:nvSpPr>
        <p:spPr bwMode="auto">
          <a:xfrm>
            <a:off x="3581400" y="4738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5754" name="Text Box 42"/>
          <p:cNvSpPr txBox="1">
            <a:spLocks noChangeArrowheads="1"/>
          </p:cNvSpPr>
          <p:nvPr/>
        </p:nvSpPr>
        <p:spPr bwMode="auto">
          <a:xfrm>
            <a:off x="1854200" y="55006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5755" name="Text Box 43"/>
          <p:cNvSpPr txBox="1">
            <a:spLocks noChangeArrowheads="1"/>
          </p:cNvSpPr>
          <p:nvPr/>
        </p:nvSpPr>
        <p:spPr bwMode="auto">
          <a:xfrm>
            <a:off x="2473325" y="55006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15756" name="Text Box 44"/>
          <p:cNvSpPr txBox="1">
            <a:spLocks noChangeArrowheads="1"/>
          </p:cNvSpPr>
          <p:nvPr/>
        </p:nvSpPr>
        <p:spPr bwMode="auto">
          <a:xfrm>
            <a:off x="3511550" y="55006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5757" name="Oval 45"/>
          <p:cNvSpPr>
            <a:spLocks noChangeArrowheads="1"/>
          </p:cNvSpPr>
          <p:nvPr/>
        </p:nvSpPr>
        <p:spPr bwMode="auto">
          <a:xfrm>
            <a:off x="6705602" y="5869772"/>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58" name="Text Box 46"/>
          <p:cNvSpPr txBox="1">
            <a:spLocks noChangeArrowheads="1"/>
          </p:cNvSpPr>
          <p:nvPr/>
        </p:nvSpPr>
        <p:spPr bwMode="auto">
          <a:xfrm>
            <a:off x="6711952" y="5807860"/>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5759" name="Oval 47"/>
          <p:cNvSpPr>
            <a:spLocks noChangeArrowheads="1"/>
          </p:cNvSpPr>
          <p:nvPr/>
        </p:nvSpPr>
        <p:spPr bwMode="auto">
          <a:xfrm>
            <a:off x="5943602" y="5183972"/>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60" name="Text Box 48"/>
          <p:cNvSpPr txBox="1">
            <a:spLocks noChangeArrowheads="1"/>
          </p:cNvSpPr>
          <p:nvPr/>
        </p:nvSpPr>
        <p:spPr bwMode="auto">
          <a:xfrm>
            <a:off x="5978527" y="5183972"/>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en-US" altLang="zh-CN" dirty="0"/>
              <a:t>5.7 </a:t>
            </a:r>
            <a:r>
              <a:rPr lang="zh-CN" altLang="en-US" dirty="0"/>
              <a:t>树与森林的遍历及其应用</a:t>
            </a:r>
            <a:endParaRPr lang="zh-CN" altLang="en-US" dirty="0"/>
          </a:p>
        </p:txBody>
      </p:sp>
      <p:sp>
        <p:nvSpPr>
          <p:cNvPr id="3" name="内容占位符 2"/>
          <p:cNvSpPr>
            <a:spLocks noGrp="1"/>
          </p:cNvSpPr>
          <p:nvPr>
            <p:ph idx="1"/>
          </p:nvPr>
        </p:nvSpPr>
        <p:spPr/>
        <p:txBody>
          <a:bodyPr/>
          <a:lstStyle/>
          <a:p>
            <a:r>
              <a:rPr lang="zh-CN" altLang="en-US" dirty="0"/>
              <a:t>深度优先遍历</a:t>
            </a:r>
            <a:endParaRPr lang="zh-CN" altLang="en-US" dirty="0"/>
          </a:p>
          <a:p>
            <a:pPr lvl="1"/>
            <a:r>
              <a:rPr lang="zh-CN" altLang="en-US" dirty="0"/>
              <a:t>先根次序遍历</a:t>
            </a:r>
            <a:endParaRPr lang="zh-CN" altLang="en-US" dirty="0"/>
          </a:p>
          <a:p>
            <a:pPr lvl="1"/>
            <a:r>
              <a:rPr lang="zh-CN" altLang="en-US" dirty="0"/>
              <a:t>后根次序遍历</a:t>
            </a:r>
            <a:endParaRPr lang="zh-CN" altLang="en-US" dirty="0"/>
          </a:p>
          <a:p>
            <a:r>
              <a:rPr lang="zh-CN" altLang="en-US" dirty="0"/>
              <a:t>广度优先遍历</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Line 2"/>
          <p:cNvSpPr>
            <a:spLocks noChangeShapeType="1"/>
          </p:cNvSpPr>
          <p:nvPr/>
        </p:nvSpPr>
        <p:spPr bwMode="auto">
          <a:xfrm>
            <a:off x="6271869" y="2903984"/>
            <a:ext cx="4572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39" name="Line 3"/>
          <p:cNvSpPr>
            <a:spLocks noChangeShapeType="1"/>
          </p:cNvSpPr>
          <p:nvPr/>
        </p:nvSpPr>
        <p:spPr bwMode="auto">
          <a:xfrm flipH="1">
            <a:off x="7719669" y="3665984"/>
            <a:ext cx="45720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2" name="Line 6"/>
          <p:cNvSpPr>
            <a:spLocks noChangeShapeType="1"/>
          </p:cNvSpPr>
          <p:nvPr/>
        </p:nvSpPr>
        <p:spPr bwMode="auto">
          <a:xfrm flipH="1">
            <a:off x="6271869" y="1684784"/>
            <a:ext cx="1066800" cy="1066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3" name="Line 7"/>
          <p:cNvSpPr>
            <a:spLocks noChangeShapeType="1"/>
          </p:cNvSpPr>
          <p:nvPr/>
        </p:nvSpPr>
        <p:spPr bwMode="auto">
          <a:xfrm>
            <a:off x="6957669" y="2356297"/>
            <a:ext cx="1219200" cy="1157287"/>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4" name="Oval 8"/>
          <p:cNvSpPr>
            <a:spLocks noChangeArrowheads="1"/>
          </p:cNvSpPr>
          <p:nvPr/>
        </p:nvSpPr>
        <p:spPr bwMode="auto">
          <a:xfrm>
            <a:off x="7186269" y="1379984"/>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45" name="Oval 9"/>
          <p:cNvSpPr>
            <a:spLocks noChangeArrowheads="1"/>
          </p:cNvSpPr>
          <p:nvPr/>
        </p:nvSpPr>
        <p:spPr bwMode="auto">
          <a:xfrm>
            <a:off x="6576669" y="1989584"/>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46" name="Oval 10"/>
          <p:cNvSpPr>
            <a:spLocks noChangeArrowheads="1"/>
          </p:cNvSpPr>
          <p:nvPr/>
        </p:nvSpPr>
        <p:spPr bwMode="auto">
          <a:xfrm>
            <a:off x="8024469" y="3346897"/>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47" name="Oval 11"/>
          <p:cNvSpPr>
            <a:spLocks noChangeArrowheads="1"/>
          </p:cNvSpPr>
          <p:nvPr/>
        </p:nvSpPr>
        <p:spPr bwMode="auto">
          <a:xfrm>
            <a:off x="7338669" y="2675384"/>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48" name="Oval 12"/>
          <p:cNvSpPr>
            <a:spLocks noChangeArrowheads="1"/>
          </p:cNvSpPr>
          <p:nvPr/>
        </p:nvSpPr>
        <p:spPr bwMode="auto">
          <a:xfrm>
            <a:off x="5967069" y="2599184"/>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49" name="Text Box 13"/>
          <p:cNvSpPr txBox="1">
            <a:spLocks noChangeArrowheads="1"/>
          </p:cNvSpPr>
          <p:nvPr/>
        </p:nvSpPr>
        <p:spPr bwMode="auto">
          <a:xfrm>
            <a:off x="7202144" y="1303784"/>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6750" name="Text Box 14"/>
          <p:cNvSpPr txBox="1">
            <a:spLocks noChangeArrowheads="1"/>
          </p:cNvSpPr>
          <p:nvPr/>
        </p:nvSpPr>
        <p:spPr bwMode="auto">
          <a:xfrm>
            <a:off x="6613182" y="1927672"/>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6751" name="Text Box 15"/>
          <p:cNvSpPr txBox="1">
            <a:spLocks noChangeArrowheads="1"/>
          </p:cNvSpPr>
          <p:nvPr/>
        </p:nvSpPr>
        <p:spPr bwMode="auto">
          <a:xfrm>
            <a:off x="7338669" y="2613472"/>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6752" name="Text Box 16"/>
          <p:cNvSpPr txBox="1">
            <a:spLocks noChangeArrowheads="1"/>
          </p:cNvSpPr>
          <p:nvPr/>
        </p:nvSpPr>
        <p:spPr bwMode="auto">
          <a:xfrm>
            <a:off x="5992469" y="2537272"/>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6753" name="Text Box 17"/>
          <p:cNvSpPr txBox="1">
            <a:spLocks noChangeArrowheads="1"/>
          </p:cNvSpPr>
          <p:nvPr/>
        </p:nvSpPr>
        <p:spPr bwMode="auto">
          <a:xfrm>
            <a:off x="8040344" y="3284984"/>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6756" name="Oval 20"/>
          <p:cNvSpPr>
            <a:spLocks noChangeArrowheads="1"/>
          </p:cNvSpPr>
          <p:nvPr/>
        </p:nvSpPr>
        <p:spPr bwMode="auto">
          <a:xfrm>
            <a:off x="7414869" y="3970784"/>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57" name="Text Box 21"/>
          <p:cNvSpPr txBox="1">
            <a:spLocks noChangeArrowheads="1"/>
          </p:cNvSpPr>
          <p:nvPr/>
        </p:nvSpPr>
        <p:spPr bwMode="auto">
          <a:xfrm>
            <a:off x="7421219" y="3908872"/>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6758" name="Oval 22"/>
          <p:cNvSpPr>
            <a:spLocks noChangeArrowheads="1"/>
          </p:cNvSpPr>
          <p:nvPr/>
        </p:nvSpPr>
        <p:spPr bwMode="auto">
          <a:xfrm>
            <a:off x="6652869" y="3284984"/>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59" name="Text Box 23"/>
          <p:cNvSpPr txBox="1">
            <a:spLocks noChangeArrowheads="1"/>
          </p:cNvSpPr>
          <p:nvPr/>
        </p:nvSpPr>
        <p:spPr bwMode="auto">
          <a:xfrm>
            <a:off x="6687794" y="3284984"/>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en-US" altLang="zh-CN" dirty="0"/>
              <a:t>5.7.1 </a:t>
            </a:r>
            <a:r>
              <a:rPr lang="zh-CN" altLang="en-US" dirty="0"/>
              <a:t>树与森林的深度优先遍历</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en-US" dirty="0"/>
              <a:t>树的先根次序遍历</a:t>
            </a:r>
            <a:endParaRPr lang="en-US" altLang="zh-CN" dirty="0"/>
          </a:p>
          <a:p>
            <a:pPr lvl="1"/>
            <a:r>
              <a:rPr lang="zh-CN" altLang="en-US" dirty="0"/>
              <a:t>过程</a:t>
            </a:r>
            <a:endParaRPr lang="en-US" altLang="zh-CN" dirty="0"/>
          </a:p>
          <a:p>
            <a:pPr lvl="2"/>
            <a:r>
              <a:rPr lang="zh-CN" altLang="en-US" dirty="0"/>
              <a:t>当树非空时：访问根结点；</a:t>
            </a:r>
            <a:endParaRPr lang="en-US" altLang="zh-CN" dirty="0"/>
          </a:p>
          <a:p>
            <a:pPr marL="685800" lvl="2" indent="0">
              <a:buNone/>
            </a:pPr>
            <a:r>
              <a:rPr lang="en-US" altLang="zh-CN" dirty="0"/>
              <a:t>  </a:t>
            </a:r>
            <a:r>
              <a:rPr lang="zh-CN" altLang="en-US" dirty="0"/>
              <a:t>依次先根遍历根的各棵子树。</a:t>
            </a:r>
            <a:endParaRPr lang="zh-CN" altLang="en-US" dirty="0"/>
          </a:p>
          <a:p>
            <a:pPr lvl="1"/>
            <a:r>
              <a:rPr lang="zh-CN" altLang="en-US" dirty="0"/>
              <a:t>示例</a:t>
            </a:r>
            <a:endParaRPr lang="en-US" altLang="zh-CN" dirty="0"/>
          </a:p>
          <a:p>
            <a:pPr lvl="2"/>
            <a:r>
              <a:rPr lang="zh-CN" altLang="en-US" dirty="0"/>
              <a:t>树先根遍历 </a:t>
            </a:r>
            <a:r>
              <a:rPr lang="en-US" altLang="zh-CN" dirty="0"/>
              <a:t>ABEFCDG</a:t>
            </a:r>
            <a:r>
              <a:rPr lang="zh-CN" altLang="en-US" dirty="0"/>
              <a:t>。</a:t>
            </a:r>
            <a:endParaRPr lang="zh-CN" altLang="en-US" dirty="0"/>
          </a:p>
          <a:p>
            <a:pPr lvl="2"/>
            <a:r>
              <a:rPr lang="zh-CN" altLang="en-US" dirty="0"/>
              <a:t>对应二叉树前序遍历 </a:t>
            </a:r>
            <a:r>
              <a:rPr lang="en-US" altLang="zh-CN" dirty="0"/>
              <a:t>ABEFCDG</a:t>
            </a:r>
            <a:r>
              <a:rPr lang="zh-CN" altLang="en-US" dirty="0"/>
              <a:t>。</a:t>
            </a:r>
            <a:endParaRPr lang="zh-CN" altLang="en-US" dirty="0"/>
          </a:p>
          <a:p>
            <a:pPr lvl="1"/>
            <a:r>
              <a:rPr lang="zh-CN" altLang="en-US" dirty="0"/>
              <a:t>特点</a:t>
            </a:r>
            <a:endParaRPr lang="en-US" altLang="zh-CN" dirty="0"/>
          </a:p>
          <a:p>
            <a:pPr lvl="2"/>
            <a:r>
              <a:rPr lang="zh-CN" altLang="en-US" dirty="0"/>
              <a:t>树的先根遍历结果与其对应二叉树表示的前序遍历结果相同。</a:t>
            </a:r>
            <a:endParaRPr lang="zh-CN" altLang="en-US" dirty="0"/>
          </a:p>
          <a:p>
            <a:pPr lvl="2"/>
            <a:r>
              <a:rPr lang="zh-CN" altLang="en-US" dirty="0"/>
              <a:t>树的先根遍历可以借助对应二叉树的前序遍历算法实现。</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Line 2"/>
          <p:cNvSpPr>
            <a:spLocks noChangeShapeType="1"/>
          </p:cNvSpPr>
          <p:nvPr/>
        </p:nvSpPr>
        <p:spPr bwMode="auto">
          <a:xfrm>
            <a:off x="6248400" y="2743200"/>
            <a:ext cx="457200" cy="4572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3" name="Line 3"/>
          <p:cNvSpPr>
            <a:spLocks noChangeShapeType="1"/>
          </p:cNvSpPr>
          <p:nvPr/>
        </p:nvSpPr>
        <p:spPr bwMode="auto">
          <a:xfrm flipH="1">
            <a:off x="7696200" y="3505200"/>
            <a:ext cx="45720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6" name="Line 6"/>
          <p:cNvSpPr>
            <a:spLocks noChangeShapeType="1"/>
          </p:cNvSpPr>
          <p:nvPr/>
        </p:nvSpPr>
        <p:spPr bwMode="auto">
          <a:xfrm flipH="1">
            <a:off x="6248400" y="1524000"/>
            <a:ext cx="1066800" cy="1066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7" name="Line 7"/>
          <p:cNvSpPr>
            <a:spLocks noChangeShapeType="1"/>
          </p:cNvSpPr>
          <p:nvPr/>
        </p:nvSpPr>
        <p:spPr bwMode="auto">
          <a:xfrm>
            <a:off x="6934200" y="2195513"/>
            <a:ext cx="1219200" cy="1157287"/>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8" name="Oval 8"/>
          <p:cNvSpPr>
            <a:spLocks noChangeArrowheads="1"/>
          </p:cNvSpPr>
          <p:nvPr/>
        </p:nvSpPr>
        <p:spPr bwMode="auto">
          <a:xfrm>
            <a:off x="7162800" y="12192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69" name="Oval 9"/>
          <p:cNvSpPr>
            <a:spLocks noChangeArrowheads="1"/>
          </p:cNvSpPr>
          <p:nvPr/>
        </p:nvSpPr>
        <p:spPr bwMode="auto">
          <a:xfrm>
            <a:off x="6553200" y="18288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70" name="Oval 10"/>
          <p:cNvSpPr>
            <a:spLocks noChangeArrowheads="1"/>
          </p:cNvSpPr>
          <p:nvPr/>
        </p:nvSpPr>
        <p:spPr bwMode="auto">
          <a:xfrm>
            <a:off x="8001000" y="3186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71" name="Oval 11"/>
          <p:cNvSpPr>
            <a:spLocks noChangeArrowheads="1"/>
          </p:cNvSpPr>
          <p:nvPr/>
        </p:nvSpPr>
        <p:spPr bwMode="auto">
          <a:xfrm>
            <a:off x="7315200" y="25146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72" name="Oval 12"/>
          <p:cNvSpPr>
            <a:spLocks noChangeArrowheads="1"/>
          </p:cNvSpPr>
          <p:nvPr/>
        </p:nvSpPr>
        <p:spPr bwMode="auto">
          <a:xfrm>
            <a:off x="5943600" y="24384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73" name="Text Box 13"/>
          <p:cNvSpPr txBox="1">
            <a:spLocks noChangeArrowheads="1"/>
          </p:cNvSpPr>
          <p:nvPr/>
        </p:nvSpPr>
        <p:spPr bwMode="auto">
          <a:xfrm>
            <a:off x="7178675" y="1143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7774" name="Text Box 14"/>
          <p:cNvSpPr txBox="1">
            <a:spLocks noChangeArrowheads="1"/>
          </p:cNvSpPr>
          <p:nvPr/>
        </p:nvSpPr>
        <p:spPr bwMode="auto">
          <a:xfrm>
            <a:off x="6589713" y="1766888"/>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7775" name="Text Box 15"/>
          <p:cNvSpPr txBox="1">
            <a:spLocks noChangeArrowheads="1"/>
          </p:cNvSpPr>
          <p:nvPr/>
        </p:nvSpPr>
        <p:spPr bwMode="auto">
          <a:xfrm>
            <a:off x="7315200" y="2452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7776" name="Text Box 16"/>
          <p:cNvSpPr txBox="1">
            <a:spLocks noChangeArrowheads="1"/>
          </p:cNvSpPr>
          <p:nvPr/>
        </p:nvSpPr>
        <p:spPr bwMode="auto">
          <a:xfrm>
            <a:off x="5969000" y="23764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7777" name="Text Box 17"/>
          <p:cNvSpPr txBox="1">
            <a:spLocks noChangeArrowheads="1"/>
          </p:cNvSpPr>
          <p:nvPr/>
        </p:nvSpPr>
        <p:spPr bwMode="auto">
          <a:xfrm>
            <a:off x="8016875" y="3124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7778" name="Line 18"/>
          <p:cNvSpPr>
            <a:spLocks noChangeShapeType="1"/>
          </p:cNvSpPr>
          <p:nvPr/>
        </p:nvSpPr>
        <p:spPr bwMode="auto">
          <a:xfrm>
            <a:off x="3200400" y="3429000"/>
            <a:ext cx="228600"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14:hiddenLine>
            </a:ext>
          </a:extLst>
        </p:spPr>
        <p:txBody>
          <a:bodyPr wrap="none" anchor="ctr"/>
          <a:lstStyle/>
          <a:p>
            <a:endParaRPr lang="zh-CN" altLang="en-US"/>
          </a:p>
        </p:txBody>
      </p:sp>
      <p:sp>
        <p:nvSpPr>
          <p:cNvPr id="117779" name="Line 19"/>
          <p:cNvSpPr>
            <a:spLocks noChangeShapeType="1"/>
          </p:cNvSpPr>
          <p:nvPr/>
        </p:nvSpPr>
        <p:spPr bwMode="auto">
          <a:xfrm flipH="1">
            <a:off x="2852738" y="3429000"/>
            <a:ext cx="195262"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14:hiddenLine>
            </a:ext>
          </a:extLst>
        </p:spPr>
        <p:txBody>
          <a:bodyPr wrap="none" anchor="ctr"/>
          <a:lstStyle/>
          <a:p>
            <a:endParaRPr lang="zh-CN" altLang="en-US"/>
          </a:p>
        </p:txBody>
      </p:sp>
      <p:sp>
        <p:nvSpPr>
          <p:cNvPr id="117780" name="Oval 20"/>
          <p:cNvSpPr>
            <a:spLocks noChangeArrowheads="1"/>
          </p:cNvSpPr>
          <p:nvPr/>
        </p:nvSpPr>
        <p:spPr bwMode="auto">
          <a:xfrm>
            <a:off x="7391400" y="38100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81" name="Text Box 21"/>
          <p:cNvSpPr txBox="1">
            <a:spLocks noChangeArrowheads="1"/>
          </p:cNvSpPr>
          <p:nvPr/>
        </p:nvSpPr>
        <p:spPr bwMode="auto">
          <a:xfrm>
            <a:off x="7397750" y="37480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7782" name="Oval 22"/>
          <p:cNvSpPr>
            <a:spLocks noChangeArrowheads="1"/>
          </p:cNvSpPr>
          <p:nvPr/>
        </p:nvSpPr>
        <p:spPr bwMode="auto">
          <a:xfrm>
            <a:off x="6629400" y="31242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83" name="Text Box 23"/>
          <p:cNvSpPr txBox="1">
            <a:spLocks noChangeArrowheads="1"/>
          </p:cNvSpPr>
          <p:nvPr/>
        </p:nvSpPr>
        <p:spPr bwMode="auto">
          <a:xfrm>
            <a:off x="6664325" y="3124200"/>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zh-CN" altLang="en-US" dirty="0"/>
              <a:t>树的后根次序遍历</a:t>
            </a:r>
            <a:endParaRPr lang="zh-CN" altLang="en-US" dirty="0"/>
          </a:p>
        </p:txBody>
      </p:sp>
      <p:sp>
        <p:nvSpPr>
          <p:cNvPr id="3" name="内容占位符 2"/>
          <p:cNvSpPr>
            <a:spLocks noGrp="1"/>
          </p:cNvSpPr>
          <p:nvPr>
            <p:ph idx="1"/>
          </p:nvPr>
        </p:nvSpPr>
        <p:spPr/>
        <p:txBody>
          <a:bodyPr>
            <a:normAutofit fontScale="70000" lnSpcReduction="20000"/>
          </a:bodyPr>
          <a:lstStyle/>
          <a:p>
            <a:r>
              <a:rPr lang="zh-CN" altLang="en-US" dirty="0"/>
              <a:t>过程</a:t>
            </a:r>
            <a:endParaRPr lang="en-US" altLang="zh-CN" dirty="0"/>
          </a:p>
          <a:p>
            <a:pPr lvl="1"/>
            <a:r>
              <a:rPr lang="zh-CN" altLang="en-US" dirty="0"/>
              <a:t>当树非空时</a:t>
            </a:r>
            <a:endParaRPr lang="zh-CN" altLang="en-US" dirty="0"/>
          </a:p>
          <a:p>
            <a:pPr lvl="2"/>
            <a:r>
              <a:rPr lang="zh-CN" altLang="en-US" dirty="0"/>
              <a:t>依次后根遍历根的各棵子树；</a:t>
            </a:r>
            <a:endParaRPr lang="zh-CN" altLang="en-US" dirty="0"/>
          </a:p>
          <a:p>
            <a:pPr lvl="2"/>
            <a:r>
              <a:rPr lang="zh-CN" altLang="en-US" dirty="0"/>
              <a:t>访问根结点。</a:t>
            </a:r>
            <a:endParaRPr lang="zh-CN" altLang="en-US" dirty="0"/>
          </a:p>
          <a:p>
            <a:r>
              <a:rPr lang="zh-CN" altLang="en-US" dirty="0"/>
              <a:t>示例</a:t>
            </a:r>
            <a:endParaRPr lang="en-US" altLang="zh-CN" dirty="0"/>
          </a:p>
          <a:p>
            <a:pPr lvl="1"/>
            <a:r>
              <a:rPr lang="zh-CN" altLang="en-US" dirty="0"/>
              <a:t>树后根遍历 </a:t>
            </a:r>
            <a:r>
              <a:rPr lang="en-US" altLang="zh-CN" dirty="0"/>
              <a:t>EFBCGDA</a:t>
            </a:r>
            <a:r>
              <a:rPr lang="zh-CN" altLang="en-US" dirty="0"/>
              <a:t>。</a:t>
            </a:r>
            <a:endParaRPr lang="zh-CN" altLang="en-US" dirty="0"/>
          </a:p>
          <a:p>
            <a:pPr lvl="1"/>
            <a:r>
              <a:rPr lang="zh-CN" altLang="en-US" dirty="0"/>
              <a:t>对应二叉树中序遍历 </a:t>
            </a:r>
            <a:r>
              <a:rPr lang="en-US" altLang="zh-CN" dirty="0"/>
              <a:t>EFBCGDA</a:t>
            </a:r>
            <a:r>
              <a:rPr lang="zh-CN" altLang="en-US" dirty="0"/>
              <a:t>。</a:t>
            </a:r>
            <a:endParaRPr lang="zh-CN" altLang="en-US" dirty="0"/>
          </a:p>
          <a:p>
            <a:r>
              <a:rPr lang="zh-CN" altLang="en-US" dirty="0"/>
              <a:t>特点</a:t>
            </a:r>
            <a:endParaRPr lang="en-US" altLang="zh-CN" dirty="0"/>
          </a:p>
          <a:p>
            <a:pPr lvl="1"/>
            <a:r>
              <a:rPr lang="zh-CN" altLang="en-US" dirty="0"/>
              <a:t>树的后根遍历结果与其对应二叉树表示的中序遍历结果相同。</a:t>
            </a:r>
            <a:endParaRPr lang="zh-CN" altLang="en-US" dirty="0"/>
          </a:p>
          <a:p>
            <a:pPr lvl="1"/>
            <a:r>
              <a:rPr lang="zh-CN" altLang="en-US" dirty="0"/>
              <a:t>树的后根遍历可以借助对应二叉树的中序遍历法实现。</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365125"/>
            <a:ext cx="8496944" cy="1325563"/>
          </a:xfrm>
        </p:spPr>
        <p:txBody>
          <a:bodyPr>
            <a:normAutofit/>
          </a:bodyPr>
          <a:lstStyle/>
          <a:p>
            <a:r>
              <a:rPr lang="en-US" altLang="zh-CN" dirty="0"/>
              <a:t>(1) </a:t>
            </a:r>
            <a:r>
              <a:rPr lang="zh-CN" altLang="en-US" dirty="0"/>
              <a:t>树的先根次序遍历的递归算法</a:t>
            </a:r>
            <a:endParaRPr lang="zh-CN" altLang="en-US" dirty="0"/>
          </a:p>
        </p:txBody>
      </p:sp>
      <p:sp>
        <p:nvSpPr>
          <p:cNvPr id="3" name="内容占位符 2"/>
          <p:cNvSpPr>
            <a:spLocks noGrp="1"/>
          </p:cNvSpPr>
          <p:nvPr>
            <p:ph idx="1"/>
          </p:nvPr>
        </p:nvSpPr>
        <p:spPr>
          <a:xfrm>
            <a:off x="323528" y="1825625"/>
            <a:ext cx="8496944" cy="4667250"/>
          </a:xfrm>
        </p:spPr>
        <p:txBody>
          <a:bodyPr>
            <a:normAutofit fontScale="77500" lnSpcReduction="20000"/>
          </a:bodyPr>
          <a:lstStyle/>
          <a:p>
            <a:pPr marL="0" indent="0">
              <a:buNone/>
            </a:pPr>
            <a:r>
              <a:rPr lang="en-US" altLang="zh-CN" dirty="0"/>
              <a:t>//</a:t>
            </a:r>
            <a:r>
              <a:rPr lang="zh-CN" altLang="en-US" dirty="0"/>
              <a:t>以当前指针</a:t>
            </a:r>
            <a:r>
              <a:rPr lang="en-US" altLang="zh-CN" dirty="0"/>
              <a:t>current</a:t>
            </a:r>
            <a:r>
              <a:rPr lang="zh-CN" altLang="en-US" dirty="0"/>
              <a:t>为根</a:t>
            </a:r>
            <a:r>
              <a:rPr lang="en-US" altLang="zh-CN" dirty="0"/>
              <a:t>, </a:t>
            </a:r>
            <a:r>
              <a:rPr lang="zh-CN" altLang="en-US" dirty="0"/>
              <a:t>先根次序遍历</a:t>
            </a:r>
            <a:endParaRPr lang="zh-CN" altLang="en-US" dirty="0"/>
          </a:p>
          <a:p>
            <a:pPr marL="0" indent="0">
              <a:buNone/>
            </a:pPr>
            <a:r>
              <a:rPr lang="en-US" altLang="zh-CN" dirty="0"/>
              <a:t>template &lt;class T&gt; </a:t>
            </a:r>
            <a:endParaRPr lang="en-US" altLang="zh-CN" dirty="0"/>
          </a:p>
          <a:p>
            <a:pPr marL="0" indent="0">
              <a:buNone/>
            </a:pPr>
            <a:r>
              <a:rPr lang="en-US" altLang="zh-CN" dirty="0"/>
              <a:t>void </a:t>
            </a:r>
            <a:r>
              <a:rPr lang="en-US" altLang="zh-CN" dirty="0" err="1"/>
              <a:t>PreOrder</a:t>
            </a:r>
            <a:r>
              <a:rPr lang="en-US" altLang="zh-CN" dirty="0"/>
              <a:t> (</a:t>
            </a:r>
            <a:r>
              <a:rPr lang="en-US" altLang="zh-CN" dirty="0" err="1"/>
              <a:t>ostream</a:t>
            </a:r>
            <a:r>
              <a:rPr lang="en-US" altLang="zh-CN" dirty="0"/>
              <a:t> &amp;out, </a:t>
            </a:r>
            <a:r>
              <a:rPr lang="en-US" altLang="zh-CN" dirty="0" err="1"/>
              <a:t>TreeNode</a:t>
            </a:r>
            <a:r>
              <a:rPr lang="en-US" altLang="zh-CN" dirty="0"/>
              <a:t>&lt;T&gt; *p ) {</a:t>
            </a:r>
            <a:endParaRPr lang="en-US" altLang="zh-CN" dirty="0"/>
          </a:p>
          <a:p>
            <a:pPr marL="0" indent="0">
              <a:buNone/>
            </a:pPr>
            <a:r>
              <a:rPr lang="en-US" altLang="zh-CN" dirty="0"/>
              <a:t>     if ( p != NULL ) {</a:t>
            </a:r>
            <a:endParaRPr lang="en-US" altLang="zh-CN" dirty="0"/>
          </a:p>
          <a:p>
            <a:pPr marL="0" indent="0">
              <a:buNone/>
            </a:pPr>
            <a:r>
              <a:rPr lang="en-US" altLang="zh-CN" dirty="0"/>
              <a:t>         out &lt;&lt; p-&gt;data;	 </a:t>
            </a:r>
            <a:endParaRPr lang="en-US" altLang="zh-CN" dirty="0"/>
          </a:p>
          <a:p>
            <a:pPr marL="0" indent="0">
              <a:buNone/>
            </a:pPr>
            <a:r>
              <a:rPr lang="en-US" altLang="zh-CN" dirty="0"/>
              <a:t>         for( p = p -&gt;</a:t>
            </a:r>
            <a:r>
              <a:rPr lang="en-US" altLang="zh-CN" dirty="0" err="1"/>
              <a:t>firstChild</a:t>
            </a:r>
            <a:r>
              <a:rPr lang="en-US" altLang="zh-CN" dirty="0"/>
              <a:t>; p != NULL; </a:t>
            </a:r>
            <a:endParaRPr lang="en-US" altLang="zh-CN" dirty="0"/>
          </a:p>
          <a:p>
            <a:pPr marL="0" indent="0">
              <a:buNone/>
            </a:pPr>
            <a:r>
              <a:rPr lang="en-US" altLang="zh-CN" dirty="0"/>
              <a:t>p = p-&gt;</a:t>
            </a:r>
            <a:r>
              <a:rPr lang="en-US" altLang="zh-CN" dirty="0" err="1"/>
              <a:t>nextSibling</a:t>
            </a:r>
            <a:r>
              <a:rPr lang="en-US" altLang="zh-CN" dirty="0"/>
              <a:t>)      </a:t>
            </a:r>
            <a:endParaRPr lang="en-US" altLang="zh-CN" dirty="0"/>
          </a:p>
          <a:p>
            <a:pPr marL="0" indent="0">
              <a:buNone/>
            </a:pPr>
            <a:r>
              <a:rPr lang="en-US" altLang="zh-CN" dirty="0"/>
              <a:t>              </a:t>
            </a:r>
            <a:r>
              <a:rPr lang="en-US" altLang="zh-CN" dirty="0" err="1"/>
              <a:t>PreOrder</a:t>
            </a:r>
            <a:r>
              <a:rPr lang="en-US" altLang="zh-CN" dirty="0"/>
              <a:t> (out, p );</a:t>
            </a:r>
            <a:endParaRPr lang="en-US" altLang="zh-CN" dirty="0"/>
          </a:p>
          <a:p>
            <a:pPr marL="0" indent="0">
              <a:buNone/>
            </a:pPr>
            <a:r>
              <a:rPr lang="en-US" altLang="zh-CN" dirty="0"/>
              <a:t>    } </a:t>
            </a:r>
            <a:endParaRPr lang="en-US" altLang="zh-CN" dirty="0"/>
          </a:p>
          <a:p>
            <a:pPr marL="0" indent="0">
              <a:buNone/>
            </a:pPr>
            <a:r>
              <a:rPr lang="en-US" altLang="zh-CN" dirty="0"/>
              <a:t>}	</a:t>
            </a: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en-US" dirty="0"/>
              <a:t>树的后根次序遍历的递归算法</a:t>
            </a:r>
            <a:endParaRPr lang="zh-CN" altLang="en-US" dirty="0"/>
          </a:p>
        </p:txBody>
      </p:sp>
      <p:sp>
        <p:nvSpPr>
          <p:cNvPr id="3" name="内容占位符 2"/>
          <p:cNvSpPr>
            <a:spLocks noGrp="1"/>
          </p:cNvSpPr>
          <p:nvPr>
            <p:ph idx="1"/>
          </p:nvPr>
        </p:nvSpPr>
        <p:spPr>
          <a:xfrm>
            <a:off x="251520" y="1825625"/>
            <a:ext cx="8712968" cy="4667250"/>
          </a:xfrm>
        </p:spPr>
        <p:txBody>
          <a:bodyPr>
            <a:normAutofit fontScale="77500" lnSpcReduction="20000"/>
          </a:bodyPr>
          <a:lstStyle/>
          <a:p>
            <a:pPr marL="0" indent="0">
              <a:buNone/>
            </a:pPr>
            <a:r>
              <a:rPr lang="en-US" altLang="zh-CN" dirty="0"/>
              <a:t>template &lt;class T&gt; </a:t>
            </a:r>
            <a:endParaRPr lang="en-US" altLang="zh-CN" dirty="0"/>
          </a:p>
          <a:p>
            <a:pPr marL="0" indent="0">
              <a:buNone/>
            </a:pPr>
            <a:r>
              <a:rPr lang="en-US" altLang="zh-CN" dirty="0"/>
              <a:t>void </a:t>
            </a:r>
            <a:r>
              <a:rPr lang="en-US" altLang="zh-CN" dirty="0" err="1"/>
              <a:t>PostOrder</a:t>
            </a:r>
            <a:r>
              <a:rPr lang="en-US" altLang="zh-CN" dirty="0"/>
              <a:t> (</a:t>
            </a:r>
            <a:r>
              <a:rPr lang="en-US" altLang="zh-CN" dirty="0" err="1"/>
              <a:t>ostream&amp;out</a:t>
            </a:r>
            <a:r>
              <a:rPr lang="en-US" altLang="zh-CN" dirty="0"/>
              <a:t>, </a:t>
            </a:r>
            <a:r>
              <a:rPr lang="en-US" altLang="zh-CN" dirty="0" err="1"/>
              <a:t>TreeNode</a:t>
            </a:r>
            <a:r>
              <a:rPr lang="en-US" altLang="zh-CN" dirty="0"/>
              <a:t>&lt;T&gt; *p ) {</a:t>
            </a:r>
            <a:endParaRPr lang="en-US" altLang="zh-CN" dirty="0"/>
          </a:p>
          <a:p>
            <a:pPr marL="0" indent="0">
              <a:buNone/>
            </a:pPr>
            <a:r>
              <a:rPr lang="en-US" altLang="zh-CN" dirty="0"/>
              <a:t>    //</a:t>
            </a:r>
            <a:r>
              <a:rPr lang="zh-CN" altLang="en-US" dirty="0"/>
              <a:t>以</a:t>
            </a:r>
            <a:r>
              <a:rPr lang="en-US" altLang="zh-CN" dirty="0"/>
              <a:t>p</a:t>
            </a:r>
            <a:r>
              <a:rPr lang="zh-CN" altLang="en-US" dirty="0"/>
              <a:t>为根</a:t>
            </a:r>
            <a:r>
              <a:rPr lang="en-US" altLang="zh-CN" dirty="0"/>
              <a:t>, </a:t>
            </a:r>
            <a:r>
              <a:rPr lang="zh-CN" altLang="en-US" dirty="0"/>
              <a:t>按后根次序遍历树</a:t>
            </a:r>
            <a:endParaRPr lang="zh-CN" altLang="en-US" dirty="0"/>
          </a:p>
          <a:p>
            <a:pPr marL="0" indent="0">
              <a:buNone/>
            </a:pPr>
            <a:r>
              <a:rPr lang="zh-CN" altLang="en-US" dirty="0"/>
              <a:t>    </a:t>
            </a:r>
            <a:r>
              <a:rPr lang="en-US" altLang="zh-CN" dirty="0"/>
              <a:t>if ( p != NULL ) {</a:t>
            </a:r>
            <a:endParaRPr lang="en-US" altLang="zh-CN" dirty="0"/>
          </a:p>
          <a:p>
            <a:pPr marL="0" indent="0">
              <a:buNone/>
            </a:pPr>
            <a:r>
              <a:rPr lang="en-US" altLang="zh-CN" dirty="0"/>
              <a:t>       for( p = p -&gt;</a:t>
            </a:r>
            <a:r>
              <a:rPr lang="en-US" altLang="zh-CN" dirty="0" err="1"/>
              <a:t>firstChild</a:t>
            </a:r>
            <a:r>
              <a:rPr lang="en-US" altLang="zh-CN" dirty="0"/>
              <a:t>; p != NULL; </a:t>
            </a:r>
            <a:endParaRPr lang="en-US" altLang="zh-CN" dirty="0"/>
          </a:p>
          <a:p>
            <a:pPr marL="0" indent="0">
              <a:buNone/>
            </a:pPr>
            <a:r>
              <a:rPr lang="en-US" altLang="zh-CN" dirty="0"/>
              <a:t>p = p-&gt;</a:t>
            </a:r>
            <a:r>
              <a:rPr lang="en-US" altLang="zh-CN" dirty="0" err="1"/>
              <a:t>nextSibling</a:t>
            </a:r>
            <a:r>
              <a:rPr lang="en-US" altLang="zh-CN" dirty="0"/>
              <a:t>)     </a:t>
            </a:r>
            <a:endParaRPr lang="en-US" altLang="zh-CN" dirty="0"/>
          </a:p>
          <a:p>
            <a:pPr marL="0" indent="0">
              <a:buNone/>
            </a:pPr>
            <a:r>
              <a:rPr lang="en-US" altLang="zh-CN" dirty="0"/>
              <a:t>            </a:t>
            </a:r>
            <a:r>
              <a:rPr lang="en-US" altLang="zh-CN" dirty="0" err="1"/>
              <a:t>PostOrder</a:t>
            </a:r>
            <a:r>
              <a:rPr lang="en-US" altLang="zh-CN" dirty="0"/>
              <a:t> (out, p );</a:t>
            </a:r>
            <a:endParaRPr lang="en-US" altLang="zh-CN" dirty="0"/>
          </a:p>
          <a:p>
            <a:pPr marL="0" indent="0">
              <a:buNone/>
            </a:pPr>
            <a:r>
              <a:rPr lang="en-US" altLang="zh-CN" dirty="0"/>
              <a:t>       out &lt;&lt; p-&gt;data;	 </a:t>
            </a:r>
            <a:endParaRPr lang="en-US" altLang="zh-CN" dirty="0"/>
          </a:p>
          <a:p>
            <a:pPr marL="0" indent="0">
              <a:buNone/>
            </a:pPr>
            <a:r>
              <a:rPr lang="en-US" altLang="zh-CN" dirty="0"/>
              <a:t>    } </a:t>
            </a:r>
            <a:endParaRPr lang="en-US" altLang="zh-CN" dirty="0"/>
          </a:p>
          <a:p>
            <a:pPr marL="0" indent="0">
              <a:buNone/>
            </a:pPr>
            <a:r>
              <a:rPr lang="en-US" altLang="zh-CN" dirty="0"/>
              <a:t>}	 </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1" name="Text Box 3"/>
          <p:cNvSpPr txBox="1">
            <a:spLocks noChangeArrowheads="1"/>
          </p:cNvSpPr>
          <p:nvPr/>
        </p:nvSpPr>
        <p:spPr bwMode="auto">
          <a:xfrm>
            <a:off x="5181600" y="5135563"/>
            <a:ext cx="3467100" cy="1066800"/>
          </a:xfrm>
          <a:prstGeom prst="rect">
            <a:avLst/>
          </a:prstGeom>
          <a:noFill/>
          <a:ln w="9525">
            <a:noFill/>
            <a:miter lim="800000"/>
          </a:ln>
          <a:effectLst/>
        </p:spPr>
        <p:txBody>
          <a:bodyPr>
            <a:spAutoFit/>
          </a:bodyPr>
          <a:lstStyle/>
          <a:p>
            <a:pPr eaLnBrk="1" fontAlgn="auto" hangingPunct="1">
              <a:spcBef>
                <a:spcPts val="0"/>
              </a:spcBef>
              <a:spcAft>
                <a:spcPts val="0"/>
              </a:spcAft>
              <a:defRPr/>
            </a:pPr>
            <a:r>
              <a:rPr lang="zh-CN" altLang="en-US" sz="3200">
                <a:solidFill>
                  <a:srgbClr val="008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森林的二叉树表示</a:t>
            </a:r>
            <a:endParaRPr lang="zh-CN" altLang="en-US" sz="3200">
              <a:solidFill>
                <a:srgbClr val="008000"/>
              </a:solidFill>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eaLnBrk="1" fontAlgn="auto" hangingPunct="1">
              <a:spcBef>
                <a:spcPts val="0"/>
              </a:spcBef>
              <a:spcAft>
                <a:spcPts val="0"/>
              </a:spcAft>
              <a:defRPr/>
            </a:pPr>
            <a:r>
              <a:rPr lang="en-US" altLang="zh-CN" sz="3200">
                <a:effectLst>
                  <a:outerShdw blurRad="38100" dist="38100" dir="2700000" algn="tl">
                    <a:srgbClr val="C0C0C0"/>
                  </a:outerShdw>
                </a:effectLst>
                <a:latin typeface="Times New Roman" panose="02020603050405020304" pitchFamily="18" charset="0"/>
                <a:ea typeface="仿宋_GB2312" panose="02010609030101010101" pitchFamily="49" charset="-122"/>
              </a:rPr>
              <a:t>ABCDE FG HIKJ</a:t>
            </a:r>
            <a:endParaRPr lang="en-US" altLang="zh-CN" sz="2000">
              <a:latin typeface="Times New Roman" panose="02020603050405020304" pitchFamily="18" charset="0"/>
              <a:ea typeface="仿宋_GB2312" panose="02010609030101010101" pitchFamily="49" charset="-122"/>
            </a:endParaRPr>
          </a:p>
        </p:txBody>
      </p:sp>
      <p:sp>
        <p:nvSpPr>
          <p:cNvPr id="120837" name="Line 5"/>
          <p:cNvSpPr>
            <a:spLocks noChangeShapeType="1"/>
          </p:cNvSpPr>
          <p:nvPr/>
        </p:nvSpPr>
        <p:spPr bwMode="auto">
          <a:xfrm>
            <a:off x="6019800" y="1828800"/>
            <a:ext cx="2133600" cy="17526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38" name="Line 6"/>
          <p:cNvSpPr>
            <a:spLocks noChangeShapeType="1"/>
          </p:cNvSpPr>
          <p:nvPr/>
        </p:nvSpPr>
        <p:spPr bwMode="auto">
          <a:xfrm flipH="1">
            <a:off x="5943600" y="3338513"/>
            <a:ext cx="381000" cy="3810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39" name="Line 7"/>
          <p:cNvSpPr>
            <a:spLocks noChangeShapeType="1"/>
          </p:cNvSpPr>
          <p:nvPr/>
        </p:nvSpPr>
        <p:spPr bwMode="auto">
          <a:xfrm>
            <a:off x="5334000" y="2271713"/>
            <a:ext cx="990600" cy="914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0" name="Line 8"/>
          <p:cNvSpPr>
            <a:spLocks noChangeShapeType="1"/>
          </p:cNvSpPr>
          <p:nvPr/>
        </p:nvSpPr>
        <p:spPr bwMode="auto">
          <a:xfrm flipH="1">
            <a:off x="5334000" y="1814513"/>
            <a:ext cx="457200" cy="3810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1" name="Oval 9"/>
          <p:cNvSpPr>
            <a:spLocks noChangeArrowheads="1"/>
          </p:cNvSpPr>
          <p:nvPr/>
        </p:nvSpPr>
        <p:spPr bwMode="auto">
          <a:xfrm>
            <a:off x="5638800" y="15097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42" name="Oval 10"/>
          <p:cNvSpPr>
            <a:spLocks noChangeArrowheads="1"/>
          </p:cNvSpPr>
          <p:nvPr/>
        </p:nvSpPr>
        <p:spPr bwMode="auto">
          <a:xfrm>
            <a:off x="5029200" y="2043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43" name="Oval 11"/>
          <p:cNvSpPr>
            <a:spLocks noChangeArrowheads="1"/>
          </p:cNvSpPr>
          <p:nvPr/>
        </p:nvSpPr>
        <p:spPr bwMode="auto">
          <a:xfrm>
            <a:off x="6172200" y="30337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44" name="Oval 12"/>
          <p:cNvSpPr>
            <a:spLocks noChangeArrowheads="1"/>
          </p:cNvSpPr>
          <p:nvPr/>
        </p:nvSpPr>
        <p:spPr bwMode="auto">
          <a:xfrm>
            <a:off x="5638800" y="25003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45" name="Oval 13"/>
          <p:cNvSpPr>
            <a:spLocks noChangeArrowheads="1"/>
          </p:cNvSpPr>
          <p:nvPr/>
        </p:nvSpPr>
        <p:spPr bwMode="auto">
          <a:xfrm>
            <a:off x="5638800" y="3567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46" name="Text Box 14"/>
          <p:cNvSpPr txBox="1">
            <a:spLocks noChangeArrowheads="1"/>
          </p:cNvSpPr>
          <p:nvPr/>
        </p:nvSpPr>
        <p:spPr bwMode="auto">
          <a:xfrm>
            <a:off x="5654675" y="1447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20847" name="Text Box 15"/>
          <p:cNvSpPr txBox="1">
            <a:spLocks noChangeArrowheads="1"/>
          </p:cNvSpPr>
          <p:nvPr/>
        </p:nvSpPr>
        <p:spPr bwMode="auto">
          <a:xfrm>
            <a:off x="5054600" y="19812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20848" name="Text Box 16"/>
          <p:cNvSpPr txBox="1">
            <a:spLocks noChangeArrowheads="1"/>
          </p:cNvSpPr>
          <p:nvPr/>
        </p:nvSpPr>
        <p:spPr bwMode="auto">
          <a:xfrm>
            <a:off x="5654675" y="2438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20849" name="Text Box 17"/>
          <p:cNvSpPr txBox="1">
            <a:spLocks noChangeArrowheads="1"/>
          </p:cNvSpPr>
          <p:nvPr/>
        </p:nvSpPr>
        <p:spPr bwMode="auto">
          <a:xfrm>
            <a:off x="5664200" y="35052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20850" name="Text Box 18"/>
          <p:cNvSpPr txBox="1">
            <a:spLocks noChangeArrowheads="1"/>
          </p:cNvSpPr>
          <p:nvPr/>
        </p:nvSpPr>
        <p:spPr bwMode="auto">
          <a:xfrm>
            <a:off x="6188075" y="2971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20851" name="Line 19"/>
          <p:cNvSpPr>
            <a:spLocks noChangeShapeType="1"/>
          </p:cNvSpPr>
          <p:nvPr/>
        </p:nvSpPr>
        <p:spPr bwMode="auto">
          <a:xfrm>
            <a:off x="7772400" y="4343400"/>
            <a:ext cx="381000" cy="304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2" name="Line 20"/>
          <p:cNvSpPr>
            <a:spLocks noChangeShapeType="1"/>
          </p:cNvSpPr>
          <p:nvPr/>
        </p:nvSpPr>
        <p:spPr bwMode="auto">
          <a:xfrm flipH="1">
            <a:off x="7162800" y="3733800"/>
            <a:ext cx="990600" cy="838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3" name="Oval 21"/>
          <p:cNvSpPr>
            <a:spLocks noChangeArrowheads="1"/>
          </p:cNvSpPr>
          <p:nvPr/>
        </p:nvSpPr>
        <p:spPr bwMode="auto">
          <a:xfrm>
            <a:off x="8001000" y="34290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54" name="Oval 22"/>
          <p:cNvSpPr>
            <a:spLocks noChangeArrowheads="1"/>
          </p:cNvSpPr>
          <p:nvPr/>
        </p:nvSpPr>
        <p:spPr bwMode="auto">
          <a:xfrm>
            <a:off x="7391400" y="39624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55" name="Oval 23"/>
          <p:cNvSpPr>
            <a:spLocks noChangeArrowheads="1"/>
          </p:cNvSpPr>
          <p:nvPr/>
        </p:nvSpPr>
        <p:spPr bwMode="auto">
          <a:xfrm>
            <a:off x="6781800" y="44958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56" name="Oval 24"/>
          <p:cNvSpPr>
            <a:spLocks noChangeArrowheads="1"/>
          </p:cNvSpPr>
          <p:nvPr/>
        </p:nvSpPr>
        <p:spPr bwMode="auto">
          <a:xfrm>
            <a:off x="8001000" y="44958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57" name="Text Box 25"/>
          <p:cNvSpPr txBox="1">
            <a:spLocks noChangeArrowheads="1"/>
          </p:cNvSpPr>
          <p:nvPr/>
        </p:nvSpPr>
        <p:spPr bwMode="auto">
          <a:xfrm>
            <a:off x="8027988" y="33528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20858" name="Text Box 26"/>
          <p:cNvSpPr txBox="1">
            <a:spLocks noChangeArrowheads="1"/>
          </p:cNvSpPr>
          <p:nvPr/>
        </p:nvSpPr>
        <p:spPr bwMode="auto">
          <a:xfrm>
            <a:off x="7486650" y="3900488"/>
            <a:ext cx="3222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20859" name="Text Box 27"/>
          <p:cNvSpPr txBox="1">
            <a:spLocks noChangeArrowheads="1"/>
          </p:cNvSpPr>
          <p:nvPr/>
        </p:nvSpPr>
        <p:spPr bwMode="auto">
          <a:xfrm>
            <a:off x="6808788" y="44196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20860" name="Text Box 28"/>
          <p:cNvSpPr txBox="1">
            <a:spLocks noChangeArrowheads="1"/>
          </p:cNvSpPr>
          <p:nvPr/>
        </p:nvSpPr>
        <p:spPr bwMode="auto">
          <a:xfrm>
            <a:off x="8075613" y="4433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20861" name="Line 29"/>
          <p:cNvSpPr>
            <a:spLocks noChangeShapeType="1"/>
          </p:cNvSpPr>
          <p:nvPr/>
        </p:nvSpPr>
        <p:spPr bwMode="auto">
          <a:xfrm flipH="1">
            <a:off x="7086600" y="3200400"/>
            <a:ext cx="45720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2" name="Oval 30"/>
          <p:cNvSpPr>
            <a:spLocks noChangeArrowheads="1"/>
          </p:cNvSpPr>
          <p:nvPr/>
        </p:nvSpPr>
        <p:spPr bwMode="auto">
          <a:xfrm>
            <a:off x="7391400" y="28956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63" name="Oval 31"/>
          <p:cNvSpPr>
            <a:spLocks noChangeArrowheads="1"/>
          </p:cNvSpPr>
          <p:nvPr/>
        </p:nvSpPr>
        <p:spPr bwMode="auto">
          <a:xfrm>
            <a:off x="6781800" y="35052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64" name="Text Box 32"/>
          <p:cNvSpPr txBox="1">
            <a:spLocks noChangeArrowheads="1"/>
          </p:cNvSpPr>
          <p:nvPr/>
        </p:nvSpPr>
        <p:spPr bwMode="auto">
          <a:xfrm>
            <a:off x="7426325" y="2895600"/>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20865" name="Text Box 33"/>
          <p:cNvSpPr txBox="1">
            <a:spLocks noChangeArrowheads="1"/>
          </p:cNvSpPr>
          <p:nvPr/>
        </p:nvSpPr>
        <p:spPr bwMode="auto">
          <a:xfrm>
            <a:off x="6788150" y="34432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a:xfrm>
            <a:off x="323528" y="365125"/>
            <a:ext cx="8568952" cy="1325563"/>
          </a:xfrm>
        </p:spPr>
        <p:txBody>
          <a:bodyPr>
            <a:normAutofit/>
          </a:bodyPr>
          <a:lstStyle/>
          <a:p>
            <a:r>
              <a:rPr lang="zh-CN" altLang="en-US" dirty="0"/>
              <a:t>森林的深度优先遍历：规则</a:t>
            </a:r>
            <a:r>
              <a:rPr lang="en-US" altLang="zh-CN" dirty="0"/>
              <a:t>1--</a:t>
            </a:r>
            <a:r>
              <a:rPr lang="zh-CN" altLang="en-US" dirty="0"/>
              <a:t>先根次序遍历</a:t>
            </a:r>
            <a:endParaRPr lang="zh-CN" altLang="en-US" dirty="0"/>
          </a:p>
        </p:txBody>
      </p:sp>
      <p:sp>
        <p:nvSpPr>
          <p:cNvPr id="3" name="内容占位符 2"/>
          <p:cNvSpPr>
            <a:spLocks noGrp="1"/>
          </p:cNvSpPr>
          <p:nvPr>
            <p:ph idx="1"/>
          </p:nvPr>
        </p:nvSpPr>
        <p:spPr>
          <a:xfrm>
            <a:off x="395537" y="1844824"/>
            <a:ext cx="4328864" cy="4351338"/>
          </a:xfrm>
        </p:spPr>
        <p:txBody>
          <a:bodyPr>
            <a:normAutofit fontScale="92500" lnSpcReduction="10000"/>
          </a:bodyPr>
          <a:lstStyle/>
          <a:p>
            <a:r>
              <a:rPr lang="zh-CN" altLang="en-US" dirty="0"/>
              <a:t>若森林 </a:t>
            </a:r>
            <a:r>
              <a:rPr lang="en-US" altLang="zh-CN" dirty="0"/>
              <a:t>F </a:t>
            </a:r>
            <a:r>
              <a:rPr lang="zh-CN" altLang="en-US" dirty="0"/>
              <a:t>为空，则返回；</a:t>
            </a:r>
            <a:endParaRPr lang="en-US" altLang="zh-CN" dirty="0"/>
          </a:p>
          <a:p>
            <a:r>
              <a:rPr lang="zh-CN" altLang="en-US" dirty="0"/>
              <a:t>否则		</a:t>
            </a:r>
            <a:endParaRPr lang="zh-CN" altLang="en-US" dirty="0"/>
          </a:p>
          <a:p>
            <a:pPr lvl="1"/>
            <a:r>
              <a:rPr lang="zh-CN" altLang="en-US" dirty="0"/>
              <a:t>访问 </a:t>
            </a:r>
            <a:r>
              <a:rPr lang="en-US" altLang="zh-CN" dirty="0"/>
              <a:t>F </a:t>
            </a:r>
            <a:r>
              <a:rPr lang="zh-CN" altLang="en-US" dirty="0"/>
              <a:t>的第一棵树的根结点；</a:t>
            </a:r>
            <a:endParaRPr lang="zh-CN" altLang="en-US" dirty="0"/>
          </a:p>
          <a:p>
            <a:pPr lvl="1"/>
            <a:r>
              <a:rPr lang="zh-CN" altLang="en-US" dirty="0"/>
              <a:t>先根次序遍历第一棵树的子树森林；</a:t>
            </a:r>
            <a:endParaRPr lang="zh-CN" altLang="en-US" dirty="0"/>
          </a:p>
          <a:p>
            <a:pPr lvl="1"/>
            <a:r>
              <a:rPr lang="zh-CN" altLang="en-US" dirty="0"/>
              <a:t>先根次序遍历其它树组成的森林。</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5" name="Text Box 1027"/>
          <p:cNvSpPr txBox="1">
            <a:spLocks noChangeArrowheads="1"/>
          </p:cNvSpPr>
          <p:nvPr/>
        </p:nvSpPr>
        <p:spPr bwMode="auto">
          <a:xfrm>
            <a:off x="5295900" y="5135563"/>
            <a:ext cx="3467100" cy="1066800"/>
          </a:xfrm>
          <a:prstGeom prst="rect">
            <a:avLst/>
          </a:prstGeom>
          <a:noFill/>
          <a:ln w="9525">
            <a:noFill/>
            <a:miter lim="800000"/>
          </a:ln>
          <a:effectLst/>
        </p:spPr>
        <p:txBody>
          <a:bodyPr>
            <a:spAutoFit/>
          </a:bodyPr>
          <a:lstStyle/>
          <a:p>
            <a:pPr eaLnBrk="1" fontAlgn="auto" hangingPunct="1">
              <a:spcBef>
                <a:spcPts val="0"/>
              </a:spcBef>
              <a:spcAft>
                <a:spcPts val="0"/>
              </a:spcAft>
              <a:defRPr/>
            </a:pPr>
            <a:r>
              <a:rPr lang="zh-CN" altLang="en-US" sz="3200">
                <a:solidFill>
                  <a:srgbClr val="008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森林的二叉树表示</a:t>
            </a:r>
            <a:endParaRPr lang="zh-CN" altLang="en-US" sz="3200">
              <a:solidFill>
                <a:srgbClr val="008000"/>
              </a:solidFill>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eaLnBrk="1" fontAlgn="auto" hangingPunct="1">
              <a:spcBef>
                <a:spcPts val="0"/>
              </a:spcBef>
              <a:spcAft>
                <a:spcPts val="0"/>
              </a:spcAft>
              <a:defRPr/>
            </a:pPr>
            <a:r>
              <a:rPr lang="en-US" altLang="zh-CN" sz="3200">
                <a:effectLst>
                  <a:outerShdw blurRad="38100" dist="38100" dir="2700000" algn="tl">
                    <a:srgbClr val="C0C0C0"/>
                  </a:outerShdw>
                </a:effectLst>
                <a:latin typeface="Times New Roman" panose="02020603050405020304" pitchFamily="18" charset="0"/>
                <a:ea typeface="仿宋_GB2312" panose="02010609030101010101" pitchFamily="49" charset="-122"/>
              </a:rPr>
              <a:t>BCED AGFKIJH</a:t>
            </a:r>
            <a:endParaRPr lang="en-US" altLang="zh-CN" sz="3200">
              <a:effectLst>
                <a:outerShdw blurRad="38100" dist="38100" dir="2700000" algn="tl">
                  <a:srgbClr val="C0C0C0"/>
                </a:outerShdw>
              </a:effectLst>
              <a:latin typeface="Times New Roman" panose="02020603050405020304" pitchFamily="18" charset="0"/>
              <a:ea typeface="仿宋_GB2312" panose="02010609030101010101" pitchFamily="49" charset="-122"/>
            </a:endParaRPr>
          </a:p>
        </p:txBody>
      </p:sp>
      <p:sp>
        <p:nvSpPr>
          <p:cNvPr id="121860" name="Line 1029"/>
          <p:cNvSpPr>
            <a:spLocks noChangeShapeType="1"/>
          </p:cNvSpPr>
          <p:nvPr/>
        </p:nvSpPr>
        <p:spPr bwMode="auto">
          <a:xfrm>
            <a:off x="6142038" y="1828800"/>
            <a:ext cx="2133600" cy="17526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1" name="Line 1030"/>
          <p:cNvSpPr>
            <a:spLocks noChangeShapeType="1"/>
          </p:cNvSpPr>
          <p:nvPr/>
        </p:nvSpPr>
        <p:spPr bwMode="auto">
          <a:xfrm flipH="1">
            <a:off x="6065838" y="3338513"/>
            <a:ext cx="381000" cy="3810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2" name="Line 1031"/>
          <p:cNvSpPr>
            <a:spLocks noChangeShapeType="1"/>
          </p:cNvSpPr>
          <p:nvPr/>
        </p:nvSpPr>
        <p:spPr bwMode="auto">
          <a:xfrm>
            <a:off x="5456238" y="2271713"/>
            <a:ext cx="990600" cy="914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3" name="Line 1032"/>
          <p:cNvSpPr>
            <a:spLocks noChangeShapeType="1"/>
          </p:cNvSpPr>
          <p:nvPr/>
        </p:nvSpPr>
        <p:spPr bwMode="auto">
          <a:xfrm flipH="1">
            <a:off x="5456238" y="1814513"/>
            <a:ext cx="457200" cy="3810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4" name="Oval 1033"/>
          <p:cNvSpPr>
            <a:spLocks noChangeArrowheads="1"/>
          </p:cNvSpPr>
          <p:nvPr/>
        </p:nvSpPr>
        <p:spPr bwMode="auto">
          <a:xfrm>
            <a:off x="5761038" y="15097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65" name="Oval 1034"/>
          <p:cNvSpPr>
            <a:spLocks noChangeArrowheads="1"/>
          </p:cNvSpPr>
          <p:nvPr/>
        </p:nvSpPr>
        <p:spPr bwMode="auto">
          <a:xfrm>
            <a:off x="5151438" y="2043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66" name="Oval 1035"/>
          <p:cNvSpPr>
            <a:spLocks noChangeArrowheads="1"/>
          </p:cNvSpPr>
          <p:nvPr/>
        </p:nvSpPr>
        <p:spPr bwMode="auto">
          <a:xfrm>
            <a:off x="6294438" y="30337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67" name="Oval 1036"/>
          <p:cNvSpPr>
            <a:spLocks noChangeArrowheads="1"/>
          </p:cNvSpPr>
          <p:nvPr/>
        </p:nvSpPr>
        <p:spPr bwMode="auto">
          <a:xfrm>
            <a:off x="5761038" y="25003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68" name="Oval 1037"/>
          <p:cNvSpPr>
            <a:spLocks noChangeArrowheads="1"/>
          </p:cNvSpPr>
          <p:nvPr/>
        </p:nvSpPr>
        <p:spPr bwMode="auto">
          <a:xfrm>
            <a:off x="5761038" y="3567113"/>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69" name="Text Box 1038"/>
          <p:cNvSpPr txBox="1">
            <a:spLocks noChangeArrowheads="1"/>
          </p:cNvSpPr>
          <p:nvPr/>
        </p:nvSpPr>
        <p:spPr bwMode="auto">
          <a:xfrm>
            <a:off x="5776913" y="1447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21870" name="Text Box 1039"/>
          <p:cNvSpPr txBox="1">
            <a:spLocks noChangeArrowheads="1"/>
          </p:cNvSpPr>
          <p:nvPr/>
        </p:nvSpPr>
        <p:spPr bwMode="auto">
          <a:xfrm>
            <a:off x="5176838" y="1981200"/>
            <a:ext cx="420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21871" name="Text Box 1040"/>
          <p:cNvSpPr txBox="1">
            <a:spLocks noChangeArrowheads="1"/>
          </p:cNvSpPr>
          <p:nvPr/>
        </p:nvSpPr>
        <p:spPr bwMode="auto">
          <a:xfrm>
            <a:off x="5776913" y="2438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21872" name="Text Box 1041"/>
          <p:cNvSpPr txBox="1">
            <a:spLocks noChangeArrowheads="1"/>
          </p:cNvSpPr>
          <p:nvPr/>
        </p:nvSpPr>
        <p:spPr bwMode="auto">
          <a:xfrm>
            <a:off x="5786438" y="3505200"/>
            <a:ext cx="420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21873" name="Text Box 1042"/>
          <p:cNvSpPr txBox="1">
            <a:spLocks noChangeArrowheads="1"/>
          </p:cNvSpPr>
          <p:nvPr/>
        </p:nvSpPr>
        <p:spPr bwMode="auto">
          <a:xfrm>
            <a:off x="6310313" y="2971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21874" name="Line 1043"/>
          <p:cNvSpPr>
            <a:spLocks noChangeShapeType="1"/>
          </p:cNvSpPr>
          <p:nvPr/>
        </p:nvSpPr>
        <p:spPr bwMode="auto">
          <a:xfrm>
            <a:off x="7894638" y="4343400"/>
            <a:ext cx="381000" cy="304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5" name="Line 1044"/>
          <p:cNvSpPr>
            <a:spLocks noChangeShapeType="1"/>
          </p:cNvSpPr>
          <p:nvPr/>
        </p:nvSpPr>
        <p:spPr bwMode="auto">
          <a:xfrm flipH="1">
            <a:off x="7285038" y="3733800"/>
            <a:ext cx="990600" cy="838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6" name="Oval 1045"/>
          <p:cNvSpPr>
            <a:spLocks noChangeArrowheads="1"/>
          </p:cNvSpPr>
          <p:nvPr/>
        </p:nvSpPr>
        <p:spPr bwMode="auto">
          <a:xfrm>
            <a:off x="8123238" y="34290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77" name="Oval 1046"/>
          <p:cNvSpPr>
            <a:spLocks noChangeArrowheads="1"/>
          </p:cNvSpPr>
          <p:nvPr/>
        </p:nvSpPr>
        <p:spPr bwMode="auto">
          <a:xfrm>
            <a:off x="7513638" y="39624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78" name="Oval 1047"/>
          <p:cNvSpPr>
            <a:spLocks noChangeArrowheads="1"/>
          </p:cNvSpPr>
          <p:nvPr/>
        </p:nvSpPr>
        <p:spPr bwMode="auto">
          <a:xfrm>
            <a:off x="6904038" y="44958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79" name="Oval 1048"/>
          <p:cNvSpPr>
            <a:spLocks noChangeArrowheads="1"/>
          </p:cNvSpPr>
          <p:nvPr/>
        </p:nvSpPr>
        <p:spPr bwMode="auto">
          <a:xfrm>
            <a:off x="8123238" y="44958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80" name="Text Box 1049"/>
          <p:cNvSpPr txBox="1">
            <a:spLocks noChangeArrowheads="1"/>
          </p:cNvSpPr>
          <p:nvPr/>
        </p:nvSpPr>
        <p:spPr bwMode="auto">
          <a:xfrm>
            <a:off x="8150225" y="33528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21881" name="Text Box 1050"/>
          <p:cNvSpPr txBox="1">
            <a:spLocks noChangeArrowheads="1"/>
          </p:cNvSpPr>
          <p:nvPr/>
        </p:nvSpPr>
        <p:spPr bwMode="auto">
          <a:xfrm>
            <a:off x="7608888" y="3900488"/>
            <a:ext cx="3222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21882" name="Text Box 1051"/>
          <p:cNvSpPr txBox="1">
            <a:spLocks noChangeArrowheads="1"/>
          </p:cNvSpPr>
          <p:nvPr/>
        </p:nvSpPr>
        <p:spPr bwMode="auto">
          <a:xfrm>
            <a:off x="6931025" y="44196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21883" name="Text Box 1052"/>
          <p:cNvSpPr txBox="1">
            <a:spLocks noChangeArrowheads="1"/>
          </p:cNvSpPr>
          <p:nvPr/>
        </p:nvSpPr>
        <p:spPr bwMode="auto">
          <a:xfrm>
            <a:off x="8197850" y="4433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21884" name="Line 1053"/>
          <p:cNvSpPr>
            <a:spLocks noChangeShapeType="1"/>
          </p:cNvSpPr>
          <p:nvPr/>
        </p:nvSpPr>
        <p:spPr bwMode="auto">
          <a:xfrm flipH="1">
            <a:off x="7208838" y="3200400"/>
            <a:ext cx="457200" cy="4572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85" name="Oval 1054"/>
          <p:cNvSpPr>
            <a:spLocks noChangeArrowheads="1"/>
          </p:cNvSpPr>
          <p:nvPr/>
        </p:nvSpPr>
        <p:spPr bwMode="auto">
          <a:xfrm>
            <a:off x="7513638" y="28956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86" name="Oval 1055"/>
          <p:cNvSpPr>
            <a:spLocks noChangeArrowheads="1"/>
          </p:cNvSpPr>
          <p:nvPr/>
        </p:nvSpPr>
        <p:spPr bwMode="auto">
          <a:xfrm>
            <a:off x="6904038" y="3505200"/>
            <a:ext cx="457200" cy="45720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87" name="Text Box 1056"/>
          <p:cNvSpPr txBox="1">
            <a:spLocks noChangeArrowheads="1"/>
          </p:cNvSpPr>
          <p:nvPr/>
        </p:nvSpPr>
        <p:spPr bwMode="auto">
          <a:xfrm>
            <a:off x="7548563" y="2895600"/>
            <a:ext cx="401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21888" name="Text Box 1057"/>
          <p:cNvSpPr txBox="1">
            <a:spLocks noChangeArrowheads="1"/>
          </p:cNvSpPr>
          <p:nvPr/>
        </p:nvSpPr>
        <p:spPr bwMode="auto">
          <a:xfrm>
            <a:off x="6910388" y="34432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zh-CN" altLang="en-US" dirty="0"/>
              <a:t>森林的深度优先遍历：规则</a:t>
            </a:r>
            <a:r>
              <a:rPr lang="en-US" altLang="zh-CN" dirty="0"/>
              <a:t>2--</a:t>
            </a:r>
            <a:r>
              <a:rPr lang="zh-CN" altLang="en-US" dirty="0"/>
              <a:t>后根次序遍历</a:t>
            </a:r>
            <a:endParaRPr lang="zh-CN" altLang="en-US" dirty="0"/>
          </a:p>
        </p:txBody>
      </p:sp>
      <p:sp>
        <p:nvSpPr>
          <p:cNvPr id="3" name="内容占位符 2"/>
          <p:cNvSpPr>
            <a:spLocks noGrp="1"/>
          </p:cNvSpPr>
          <p:nvPr>
            <p:ph idx="1"/>
          </p:nvPr>
        </p:nvSpPr>
        <p:spPr>
          <a:xfrm>
            <a:off x="628650" y="1825625"/>
            <a:ext cx="4395788" cy="4351338"/>
          </a:xfrm>
        </p:spPr>
        <p:txBody>
          <a:bodyPr>
            <a:normAutofit fontScale="92500" lnSpcReduction="10000"/>
          </a:bodyPr>
          <a:lstStyle/>
          <a:p>
            <a:r>
              <a:rPr lang="zh-CN" altLang="en-US" dirty="0"/>
              <a:t>若森林 </a:t>
            </a:r>
            <a:r>
              <a:rPr lang="en-US" altLang="zh-CN" dirty="0"/>
              <a:t>F </a:t>
            </a:r>
            <a:r>
              <a:rPr lang="zh-CN" altLang="en-US" dirty="0"/>
              <a:t>为空，则返回；</a:t>
            </a:r>
            <a:endParaRPr lang="en-US" altLang="zh-CN" dirty="0"/>
          </a:p>
          <a:p>
            <a:r>
              <a:rPr lang="zh-CN" altLang="en-US" dirty="0"/>
              <a:t>否则</a:t>
            </a:r>
            <a:endParaRPr lang="zh-CN" altLang="en-US" dirty="0"/>
          </a:p>
          <a:p>
            <a:pPr lvl="1"/>
            <a:r>
              <a:rPr lang="zh-CN" altLang="en-US" dirty="0"/>
              <a:t>后根次序遍历第一棵树的子树森林；</a:t>
            </a:r>
            <a:endParaRPr lang="zh-CN" altLang="en-US" dirty="0"/>
          </a:p>
          <a:p>
            <a:pPr lvl="1"/>
            <a:r>
              <a:rPr lang="zh-CN" altLang="en-US" dirty="0"/>
              <a:t>访问 </a:t>
            </a:r>
            <a:r>
              <a:rPr lang="en-US" altLang="zh-CN" dirty="0"/>
              <a:t>F </a:t>
            </a:r>
            <a:r>
              <a:rPr lang="zh-CN" altLang="en-US" dirty="0"/>
              <a:t>的第一棵树的根结点；</a:t>
            </a:r>
            <a:endParaRPr lang="zh-CN" altLang="en-US" dirty="0"/>
          </a:p>
          <a:p>
            <a:pPr lvl="1"/>
            <a:r>
              <a:rPr lang="zh-CN" altLang="en-US" dirty="0"/>
              <a:t>后根次序遍历其它树组成的森林。	</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5.7.2 </a:t>
            </a:r>
            <a:r>
              <a:rPr lang="zh-CN" altLang="en-US" dirty="0"/>
              <a:t>树和森林的广度优先遍历</a:t>
            </a:r>
            <a:endParaRPr lang="zh-CN" altLang="en-US" dirty="0"/>
          </a:p>
        </p:txBody>
      </p:sp>
      <p:sp>
        <p:nvSpPr>
          <p:cNvPr id="3" name="内容占位符 2"/>
          <p:cNvSpPr>
            <a:spLocks noGrp="1"/>
          </p:cNvSpPr>
          <p:nvPr>
            <p:ph idx="1"/>
          </p:nvPr>
        </p:nvSpPr>
        <p:spPr>
          <a:xfrm>
            <a:off x="179512" y="1690688"/>
            <a:ext cx="8784976" cy="5050680"/>
          </a:xfrm>
        </p:spPr>
        <p:txBody>
          <a:bodyPr>
            <a:normAutofit fontScale="55000" lnSpcReduction="20000"/>
          </a:bodyPr>
          <a:lstStyle/>
          <a:p>
            <a:pPr marL="0" indent="0">
              <a:buNone/>
            </a:pPr>
            <a:r>
              <a:rPr lang="en-US" altLang="zh-CN" dirty="0"/>
              <a:t>//</a:t>
            </a:r>
            <a:r>
              <a:rPr lang="zh-CN" altLang="en-US" dirty="0"/>
              <a:t>按广度优先次序分层遍历树</a:t>
            </a:r>
            <a:r>
              <a:rPr lang="en-US" altLang="zh-CN" dirty="0"/>
              <a:t>, </a:t>
            </a:r>
            <a:r>
              <a:rPr lang="zh-CN" altLang="en-US" dirty="0"/>
              <a:t>树的根结点是</a:t>
            </a:r>
            <a:r>
              <a:rPr lang="en-US" altLang="zh-CN" dirty="0"/>
              <a:t> *p </a:t>
            </a:r>
            <a:r>
              <a:rPr lang="zh-CN" altLang="en-US" dirty="0"/>
              <a:t>。</a:t>
            </a:r>
            <a:endParaRPr lang="zh-CN" altLang="en-US" dirty="0"/>
          </a:p>
          <a:p>
            <a:pPr marL="0" indent="0">
              <a:buNone/>
            </a:pPr>
            <a:r>
              <a:rPr lang="en-US" altLang="zh-CN" dirty="0"/>
              <a:t>#include "tree.cpp"</a:t>
            </a:r>
            <a:endParaRPr lang="en-US" altLang="zh-CN" dirty="0"/>
          </a:p>
          <a:p>
            <a:pPr marL="0" indent="0">
              <a:buNone/>
            </a:pPr>
            <a:r>
              <a:rPr lang="en-US" altLang="zh-CN" dirty="0"/>
              <a:t>#include "LinkedQueue.cpp"</a:t>
            </a:r>
            <a:endParaRPr lang="en-US" altLang="zh-CN" dirty="0"/>
          </a:p>
          <a:p>
            <a:pPr marL="0" indent="0">
              <a:buNone/>
            </a:pPr>
            <a:r>
              <a:rPr lang="en-US" altLang="zh-CN" dirty="0"/>
              <a:t>template &lt;class T&gt; void </a:t>
            </a:r>
            <a:r>
              <a:rPr lang="en-US" altLang="zh-CN" dirty="0" err="1"/>
              <a:t>LevelOrder</a:t>
            </a:r>
            <a:r>
              <a:rPr lang="en-US" altLang="zh-CN" dirty="0"/>
              <a:t> (</a:t>
            </a:r>
            <a:r>
              <a:rPr lang="en-US" altLang="zh-CN" dirty="0" err="1"/>
              <a:t>ostream&amp;out</a:t>
            </a:r>
            <a:r>
              <a:rPr lang="en-US" altLang="zh-CN" dirty="0"/>
              <a:t>, </a:t>
            </a:r>
            <a:r>
              <a:rPr lang="en-US" altLang="zh-CN" dirty="0" err="1"/>
              <a:t>TreeNode</a:t>
            </a:r>
            <a:r>
              <a:rPr lang="en-US" altLang="zh-CN" dirty="0"/>
              <a:t>&lt;T&gt; *p ) {</a:t>
            </a:r>
            <a:endParaRPr lang="en-US" altLang="zh-CN" dirty="0"/>
          </a:p>
          <a:p>
            <a:pPr marL="0" indent="0">
              <a:buNone/>
            </a:pPr>
            <a:r>
              <a:rPr lang="en-US" altLang="zh-CN" dirty="0"/>
              <a:t>    </a:t>
            </a:r>
            <a:r>
              <a:rPr lang="en-US" altLang="zh-CN" dirty="0" err="1"/>
              <a:t>LinkedQueue</a:t>
            </a:r>
            <a:r>
              <a:rPr lang="en-US" altLang="zh-CN" dirty="0"/>
              <a:t>&lt;</a:t>
            </a:r>
            <a:r>
              <a:rPr lang="en-US" altLang="zh-CN" dirty="0" err="1"/>
              <a:t>TreeNode</a:t>
            </a:r>
            <a:r>
              <a:rPr lang="en-US" altLang="zh-CN" dirty="0"/>
              <a:t>&lt;T&gt;*&gt;  Q;</a:t>
            </a:r>
            <a:endParaRPr lang="en-US" altLang="zh-CN" dirty="0"/>
          </a:p>
          <a:p>
            <a:pPr marL="0" indent="0">
              <a:buNone/>
            </a:pPr>
            <a:r>
              <a:rPr lang="en-US" altLang="zh-CN" dirty="0"/>
              <a:t>    if ( p != NULL ) { 	    //</a:t>
            </a:r>
            <a:r>
              <a:rPr lang="zh-CN" altLang="en-US" dirty="0"/>
              <a:t>当前指针不空 </a:t>
            </a:r>
            <a:endParaRPr lang="zh-CN" altLang="en-US" dirty="0"/>
          </a:p>
          <a:p>
            <a:pPr marL="0" indent="0">
              <a:buNone/>
            </a:pPr>
            <a:r>
              <a:rPr lang="zh-CN" altLang="en-US" dirty="0"/>
              <a:t>        </a:t>
            </a:r>
            <a:r>
              <a:rPr lang="en-US" altLang="zh-CN" dirty="0" err="1"/>
              <a:t>Q.EnQueue</a:t>
            </a:r>
            <a:r>
              <a:rPr lang="en-US" altLang="zh-CN" dirty="0"/>
              <a:t> ( p );</a:t>
            </a:r>
            <a:endParaRPr lang="en-US" altLang="zh-CN" dirty="0"/>
          </a:p>
          <a:p>
            <a:pPr marL="0" indent="0">
              <a:buNone/>
            </a:pPr>
            <a:r>
              <a:rPr lang="en-US" altLang="zh-CN" dirty="0"/>
              <a:t>        while ( !</a:t>
            </a:r>
            <a:r>
              <a:rPr lang="en-US" altLang="zh-CN" dirty="0" err="1"/>
              <a:t>Q.IsEmpty</a:t>
            </a:r>
            <a:r>
              <a:rPr lang="en-US" altLang="zh-CN" dirty="0"/>
              <a:t> ( ) ) { </a:t>
            </a:r>
            <a:endParaRPr lang="en-US" altLang="zh-CN" dirty="0"/>
          </a:p>
          <a:p>
            <a:pPr marL="0" indent="0">
              <a:buNone/>
            </a:pPr>
            <a:r>
              <a:rPr lang="en-US" altLang="zh-CN" dirty="0"/>
              <a:t>            </a:t>
            </a:r>
            <a:r>
              <a:rPr lang="en-US" altLang="zh-CN" dirty="0" err="1"/>
              <a:t>Q.DeQueue</a:t>
            </a:r>
            <a:r>
              <a:rPr lang="en-US" altLang="zh-CN" dirty="0"/>
              <a:t> ( p);	          out &lt;&lt; p-&gt;data; </a:t>
            </a:r>
            <a:endParaRPr lang="zh-CN" altLang="en-US" dirty="0"/>
          </a:p>
          <a:p>
            <a:pPr marL="0" indent="0">
              <a:buNone/>
            </a:pPr>
            <a:r>
              <a:rPr lang="en-US" altLang="zh-CN" dirty="0"/>
              <a:t>            for( p = p -&gt;</a:t>
            </a:r>
            <a:r>
              <a:rPr lang="en-US" altLang="zh-CN" dirty="0" err="1"/>
              <a:t>firstChild</a:t>
            </a:r>
            <a:r>
              <a:rPr lang="en-US" altLang="zh-CN" dirty="0"/>
              <a:t> ; p != NULL; p = p-&gt;</a:t>
            </a:r>
            <a:r>
              <a:rPr lang="en-US" altLang="zh-CN" dirty="0" err="1"/>
              <a:t>nextSibling</a:t>
            </a:r>
            <a:r>
              <a:rPr lang="en-US" altLang="zh-CN" dirty="0"/>
              <a:t>)   </a:t>
            </a:r>
            <a:endParaRPr lang="en-US" altLang="zh-CN" dirty="0"/>
          </a:p>
          <a:p>
            <a:pPr marL="0" indent="0">
              <a:buNone/>
            </a:pPr>
            <a:r>
              <a:rPr lang="en-US" altLang="zh-CN" dirty="0"/>
              <a:t>                 </a:t>
            </a:r>
            <a:r>
              <a:rPr lang="en-US" altLang="zh-CN" dirty="0" err="1"/>
              <a:t>Q.EnQueue</a:t>
            </a:r>
            <a:r>
              <a:rPr lang="en-US" altLang="zh-CN" dirty="0"/>
              <a:t> ( p );</a:t>
            </a:r>
            <a:endParaRPr lang="en-US" altLang="zh-CN" dirty="0"/>
          </a:p>
          <a:p>
            <a:pPr marL="0" indent="0">
              <a:buNone/>
            </a:pPr>
            <a:r>
              <a:rPr lang="en-US" altLang="zh-CN" dirty="0"/>
              <a:t>       }</a:t>
            </a:r>
            <a:endParaRPr lang="en-US" altLang="zh-CN" dirty="0"/>
          </a:p>
          <a:p>
            <a:pPr marL="0" indent="0">
              <a:buNone/>
            </a:pPr>
            <a:r>
              <a:rPr lang="en-US" altLang="zh-CN" dirty="0"/>
              <a:t>    }</a:t>
            </a:r>
            <a:endParaRPr lang="en-US" altLang="zh-CN" dirty="0"/>
          </a:p>
          <a:p>
            <a:pPr marL="0" indent="0">
              <a:buNone/>
            </a:pPr>
            <a:r>
              <a:rPr lang="en-US" altLang="zh-CN" dirty="0"/>
              <a:t>}</a:t>
            </a: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森林的广度优先遍历</a:t>
            </a:r>
            <a:endParaRPr lang="zh-CN" altLang="en-US" dirty="0"/>
          </a:p>
        </p:txBody>
      </p:sp>
      <p:sp>
        <p:nvSpPr>
          <p:cNvPr id="3" name="内容占位符 2"/>
          <p:cNvSpPr>
            <a:spLocks noGrp="1"/>
          </p:cNvSpPr>
          <p:nvPr>
            <p:ph idx="1"/>
          </p:nvPr>
        </p:nvSpPr>
        <p:spPr/>
        <p:txBody>
          <a:bodyPr>
            <a:normAutofit/>
          </a:bodyPr>
          <a:lstStyle/>
          <a:p>
            <a:r>
              <a:rPr lang="zh-CN" altLang="en-US" dirty="0"/>
              <a:t>若森林 </a:t>
            </a:r>
            <a:r>
              <a:rPr lang="en-US" altLang="zh-CN" dirty="0"/>
              <a:t>F </a:t>
            </a:r>
            <a:r>
              <a:rPr lang="zh-CN" altLang="en-US" dirty="0"/>
              <a:t>为空，返回；</a:t>
            </a:r>
            <a:endParaRPr lang="en-US" altLang="zh-CN" dirty="0"/>
          </a:p>
          <a:p>
            <a:r>
              <a:rPr lang="zh-CN" altLang="en-US" dirty="0"/>
              <a:t>否则</a:t>
            </a:r>
            <a:endParaRPr lang="zh-CN" altLang="en-US" dirty="0"/>
          </a:p>
          <a:p>
            <a:pPr lvl="1"/>
            <a:r>
              <a:rPr lang="zh-CN" altLang="en-US" dirty="0"/>
              <a:t>依次遍历各棵树的根结点；</a:t>
            </a:r>
            <a:endParaRPr lang="zh-CN" altLang="en-US" dirty="0"/>
          </a:p>
          <a:p>
            <a:pPr lvl="1"/>
            <a:r>
              <a:rPr lang="zh-CN" altLang="en-US" dirty="0"/>
              <a:t>依次遍历各棵树根结点的所有孩子；</a:t>
            </a:r>
            <a:endParaRPr lang="zh-CN" altLang="en-US" dirty="0"/>
          </a:p>
          <a:p>
            <a:pPr lvl="1"/>
            <a:r>
              <a:rPr lang="zh-CN" altLang="en-US" dirty="0"/>
              <a:t>依次遍历这些孩子结点的孩子结点；</a:t>
            </a:r>
            <a:endParaRPr lang="en-US" altLang="zh-CN" dirty="0"/>
          </a:p>
          <a:p>
            <a:pPr lvl="1"/>
            <a:r>
              <a:rPr lang="en-US" altLang="zh-CN" dirty="0"/>
              <a:t>……</a:t>
            </a:r>
            <a:r>
              <a:rPr lang="zh-CN" altLang="en-US" dirty="0"/>
              <a:t>  </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5.7.3 </a:t>
            </a:r>
            <a:r>
              <a:rPr lang="zh-CN" altLang="en-US" dirty="0"/>
              <a:t>树遍历算法的应用</a:t>
            </a:r>
            <a:endParaRPr lang="zh-CN" altLang="en-US" dirty="0"/>
          </a:p>
        </p:txBody>
      </p:sp>
      <p:sp>
        <p:nvSpPr>
          <p:cNvPr id="3" name="内容占位符 2"/>
          <p:cNvSpPr>
            <a:spLocks noGrp="1"/>
          </p:cNvSpPr>
          <p:nvPr>
            <p:ph idx="1"/>
          </p:nvPr>
        </p:nvSpPr>
        <p:spPr/>
        <p:txBody>
          <a:bodyPr/>
          <a:lstStyle/>
          <a:p>
            <a:pPr defTabSz="913130"/>
            <a:r>
              <a:rPr lang="zh-CN" altLang="en-US" dirty="0"/>
              <a:t>计算结点数、计算树的深度等</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normAutofit/>
          </a:bodyPr>
          <a:lstStyle/>
          <a:p>
            <a:pPr defTabSz="913130"/>
            <a:r>
              <a:rPr lang="en-US" altLang="zh-CN" dirty="0"/>
              <a:t>5.7.4 </a:t>
            </a:r>
            <a:r>
              <a:rPr lang="zh-CN" altLang="en-US" dirty="0"/>
              <a:t>其它基于遍历序列的几种存储表示（自学）</a:t>
            </a:r>
            <a:endParaRPr lang="zh-CN" altLang="en-US" dirty="0"/>
          </a:p>
        </p:txBody>
      </p:sp>
      <p:sp>
        <p:nvSpPr>
          <p:cNvPr id="125955" name="Rectangle 3"/>
          <p:cNvSpPr>
            <a:spLocks noGrp="1" noChangeArrowheads="1"/>
          </p:cNvSpPr>
          <p:nvPr>
            <p:ph idx="1"/>
          </p:nvPr>
        </p:nvSpPr>
        <p:spPr/>
        <p:txBody>
          <a:bodyPr>
            <a:normAutofit/>
          </a:bodyPr>
          <a:lstStyle/>
          <a:p>
            <a:pPr defTabSz="913130"/>
            <a:r>
              <a:rPr lang="zh-CN" altLang="en-US" dirty="0"/>
              <a:t>把结点按某种遍历顺序排成线性序列，结点在序列中的先后顺序在一定程度反映了结点之间的关系，可以用来减少存储空间。</a:t>
            </a:r>
            <a:endParaRPr lang="en-US" altLang="zh-CN" dirty="0"/>
          </a:p>
          <a:p>
            <a:pPr lvl="1" defTabSz="913130"/>
            <a:r>
              <a:rPr lang="zh-CN" altLang="en-US" dirty="0"/>
              <a:t>通常用标志位来减少指针的使用以节省空间</a:t>
            </a: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Line 37"/>
          <p:cNvSpPr>
            <a:spLocks noChangeShapeType="1"/>
          </p:cNvSpPr>
          <p:nvPr/>
        </p:nvSpPr>
        <p:spPr bwMode="auto">
          <a:xfrm flipH="1">
            <a:off x="4687168" y="3519407"/>
            <a:ext cx="7620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3" name="Line 21"/>
          <p:cNvSpPr>
            <a:spLocks noChangeShapeType="1"/>
          </p:cNvSpPr>
          <p:nvPr/>
        </p:nvSpPr>
        <p:spPr bwMode="auto">
          <a:xfrm flipH="1">
            <a:off x="3239368" y="3671807"/>
            <a:ext cx="304800" cy="533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4" name="Line 20"/>
          <p:cNvSpPr>
            <a:spLocks noChangeShapeType="1"/>
          </p:cNvSpPr>
          <p:nvPr/>
        </p:nvSpPr>
        <p:spPr bwMode="auto">
          <a:xfrm>
            <a:off x="3696568" y="3595607"/>
            <a:ext cx="381000" cy="609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5" name="Line 19"/>
          <p:cNvSpPr>
            <a:spLocks noChangeShapeType="1"/>
          </p:cNvSpPr>
          <p:nvPr/>
        </p:nvSpPr>
        <p:spPr bwMode="auto">
          <a:xfrm>
            <a:off x="2096368" y="3671807"/>
            <a:ext cx="381000" cy="609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6" name="Line 18"/>
          <p:cNvSpPr>
            <a:spLocks noChangeShapeType="1"/>
          </p:cNvSpPr>
          <p:nvPr/>
        </p:nvSpPr>
        <p:spPr bwMode="auto">
          <a:xfrm>
            <a:off x="1715368" y="4433807"/>
            <a:ext cx="304800" cy="609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7" name="Line 17"/>
          <p:cNvSpPr>
            <a:spLocks noChangeShapeType="1"/>
          </p:cNvSpPr>
          <p:nvPr/>
        </p:nvSpPr>
        <p:spPr bwMode="auto">
          <a:xfrm flipH="1">
            <a:off x="1258168" y="3519407"/>
            <a:ext cx="7620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8" name="Line 16"/>
          <p:cNvSpPr>
            <a:spLocks noChangeShapeType="1"/>
          </p:cNvSpPr>
          <p:nvPr/>
        </p:nvSpPr>
        <p:spPr bwMode="auto">
          <a:xfrm>
            <a:off x="2934568" y="2986007"/>
            <a:ext cx="685800" cy="533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9" name="Line 15"/>
          <p:cNvSpPr>
            <a:spLocks noChangeShapeType="1"/>
          </p:cNvSpPr>
          <p:nvPr/>
        </p:nvSpPr>
        <p:spPr bwMode="auto">
          <a:xfrm flipH="1">
            <a:off x="2020168" y="2909807"/>
            <a:ext cx="838200" cy="609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3539" name="Text Box 3"/>
          <p:cNvSpPr txBox="1">
            <a:spLocks noChangeArrowheads="1"/>
          </p:cNvSpPr>
          <p:nvPr/>
        </p:nvSpPr>
        <p:spPr bwMode="auto">
          <a:xfrm>
            <a:off x="1475656" y="5440282"/>
            <a:ext cx="2584362" cy="1077218"/>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en-US" altLang="zh-CN" sz="3200" i="1"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rPr>
              <a:t>K</a:t>
            </a:r>
            <a:r>
              <a:rPr lang="en-US" altLang="zh-CN" sz="3200" i="1"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rPr>
              <a:t>i</a:t>
            </a:r>
            <a:r>
              <a:rPr lang="en-US" altLang="zh-CN" sz="32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rPr>
              <a:t> </a:t>
            </a:r>
            <a:r>
              <a:rPr lang="en-US" altLang="zh-CN" sz="32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 </a:t>
            </a:r>
            <a:r>
              <a:rPr lang="en-US" altLang="zh-CN" sz="3200" i="1"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K</a:t>
            </a:r>
            <a:r>
              <a:rPr lang="en-US" altLang="zh-CN" sz="3200"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2</a:t>
            </a:r>
            <a:r>
              <a:rPr lang="en-US" altLang="zh-CN" sz="3200" i="1"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i</a:t>
            </a:r>
            <a:r>
              <a:rPr lang="en-US" altLang="zh-CN" sz="3200"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+1</a:t>
            </a:r>
            <a:r>
              <a:rPr lang="en-US" altLang="zh-CN" sz="3200" dirty="0">
                <a:solidFill>
                  <a:srgbClr val="FF3300"/>
                </a:solidFill>
                <a:latin typeface="Times New Roman" panose="02020603050405020304" pitchFamily="18" charset="0"/>
                <a:ea typeface="黑体" panose="02010609060101010101" pitchFamily="2" charset="-122"/>
                <a:sym typeface="Symbol" panose="05050102010706020507" pitchFamily="18" charset="2"/>
              </a:rPr>
              <a:t>  &amp;&amp;</a:t>
            </a:r>
            <a:endParaRPr lang="en-US" altLang="zh-CN" sz="3200" dirty="0">
              <a:solidFill>
                <a:srgbClr val="FF3300"/>
              </a:solidFill>
              <a:latin typeface="Times New Roman" panose="02020603050405020304" pitchFamily="18" charset="0"/>
              <a:ea typeface="黑体" panose="02010609060101010101" pitchFamily="2" charset="-122"/>
              <a:sym typeface="Symbol" panose="05050102010706020507" pitchFamily="18" charset="2"/>
            </a:endParaRPr>
          </a:p>
          <a:p>
            <a:pPr eaLnBrk="1" fontAlgn="auto" hangingPunct="1">
              <a:spcBef>
                <a:spcPts val="0"/>
              </a:spcBef>
              <a:spcAft>
                <a:spcPts val="0"/>
              </a:spcAft>
              <a:defRPr/>
            </a:pPr>
            <a:r>
              <a:rPr lang="en-US" altLang="zh-CN" sz="3200" dirty="0">
                <a:solidFill>
                  <a:srgbClr val="FF3300"/>
                </a:solidFill>
                <a:latin typeface="Times New Roman" panose="02020603050405020304" pitchFamily="18" charset="0"/>
                <a:ea typeface="黑体" panose="02010609060101010101" pitchFamily="2" charset="-122"/>
                <a:sym typeface="Symbol" panose="05050102010706020507" pitchFamily="18" charset="2"/>
              </a:rPr>
              <a:t>    </a:t>
            </a:r>
            <a:r>
              <a:rPr lang="en-US" altLang="zh-CN" sz="3200" i="1"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K</a:t>
            </a:r>
            <a:r>
              <a:rPr lang="en-US" altLang="zh-CN" sz="3200" i="1"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i</a:t>
            </a:r>
            <a:r>
              <a:rPr lang="en-US" altLang="zh-CN" sz="3200"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 </a:t>
            </a:r>
            <a:r>
              <a:rPr lang="en-US" altLang="zh-CN" sz="32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 </a:t>
            </a:r>
            <a:r>
              <a:rPr lang="en-US" altLang="zh-CN" sz="3200" i="1"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K</a:t>
            </a:r>
            <a:r>
              <a:rPr lang="en-US" altLang="zh-CN" sz="3200"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2</a:t>
            </a:r>
            <a:r>
              <a:rPr lang="en-US" altLang="zh-CN" sz="3200" i="1"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i</a:t>
            </a:r>
            <a:r>
              <a:rPr lang="en-US" altLang="zh-CN" sz="3200"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+2</a:t>
            </a:r>
            <a:endParaRPr lang="en-US" altLang="zh-CN" sz="3200" dirty="0">
              <a:solidFill>
                <a:srgbClr val="FF3300"/>
              </a:solidFill>
              <a:latin typeface="Times New Roman" panose="02020603050405020304" pitchFamily="18" charset="0"/>
              <a:ea typeface="黑体" panose="02010609060101010101" pitchFamily="2" charset="-122"/>
            </a:endParaRPr>
          </a:p>
        </p:txBody>
      </p:sp>
      <p:sp>
        <p:nvSpPr>
          <p:cNvPr id="193540" name="Text Box 4"/>
          <p:cNvSpPr txBox="1">
            <a:spLocks noChangeArrowheads="1"/>
          </p:cNvSpPr>
          <p:nvPr/>
        </p:nvSpPr>
        <p:spPr bwMode="auto">
          <a:xfrm>
            <a:off x="4980856" y="5424407"/>
            <a:ext cx="2584362" cy="1077218"/>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en-US" altLang="zh-CN" sz="3200" i="1"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rPr>
              <a:t>K</a:t>
            </a:r>
            <a:r>
              <a:rPr lang="en-US" altLang="zh-CN" sz="3200" i="1"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rPr>
              <a:t>i</a:t>
            </a:r>
            <a:r>
              <a:rPr lang="en-US" altLang="zh-CN" sz="32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rPr>
              <a:t> </a:t>
            </a:r>
            <a:r>
              <a:rPr lang="en-US" altLang="zh-CN" sz="32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 </a:t>
            </a:r>
            <a:r>
              <a:rPr lang="en-US" altLang="zh-CN" sz="3200" i="1"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K</a:t>
            </a:r>
            <a:r>
              <a:rPr lang="en-US" altLang="zh-CN" sz="3200"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2</a:t>
            </a:r>
            <a:r>
              <a:rPr lang="en-US" altLang="zh-CN" sz="3200" i="1"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i</a:t>
            </a:r>
            <a:r>
              <a:rPr lang="en-US" altLang="zh-CN" sz="3200"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+1</a:t>
            </a:r>
            <a:r>
              <a:rPr lang="en-US" altLang="zh-CN" sz="3200" dirty="0">
                <a:solidFill>
                  <a:srgbClr val="FF3300"/>
                </a:solidFill>
                <a:latin typeface="Times New Roman" panose="02020603050405020304" pitchFamily="18" charset="0"/>
                <a:ea typeface="黑体" panose="02010609060101010101" pitchFamily="2" charset="-122"/>
                <a:sym typeface="Symbol" panose="05050102010706020507" pitchFamily="18" charset="2"/>
              </a:rPr>
              <a:t>  &amp;&amp;</a:t>
            </a:r>
            <a:endParaRPr lang="en-US" altLang="zh-CN" sz="3200" dirty="0">
              <a:solidFill>
                <a:srgbClr val="FF3300"/>
              </a:solidFill>
              <a:latin typeface="Times New Roman" panose="02020603050405020304" pitchFamily="18" charset="0"/>
              <a:ea typeface="黑体" panose="02010609060101010101" pitchFamily="2" charset="-122"/>
              <a:sym typeface="Symbol" panose="05050102010706020507" pitchFamily="18" charset="2"/>
            </a:endParaRPr>
          </a:p>
          <a:p>
            <a:pPr eaLnBrk="1" fontAlgn="auto" hangingPunct="1">
              <a:spcBef>
                <a:spcPts val="0"/>
              </a:spcBef>
              <a:spcAft>
                <a:spcPts val="0"/>
              </a:spcAft>
              <a:defRPr/>
            </a:pPr>
            <a:r>
              <a:rPr lang="en-US" altLang="zh-CN" sz="3200" dirty="0">
                <a:solidFill>
                  <a:srgbClr val="FF3300"/>
                </a:solidFill>
                <a:latin typeface="Times New Roman" panose="02020603050405020304" pitchFamily="18" charset="0"/>
                <a:ea typeface="黑体" panose="02010609060101010101" pitchFamily="2" charset="-122"/>
                <a:sym typeface="Symbol" panose="05050102010706020507" pitchFamily="18" charset="2"/>
              </a:rPr>
              <a:t>    </a:t>
            </a:r>
            <a:r>
              <a:rPr lang="en-US" altLang="zh-CN" sz="3200" i="1"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K</a:t>
            </a:r>
            <a:r>
              <a:rPr lang="en-US" altLang="zh-CN" sz="3200" i="1"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i</a:t>
            </a:r>
            <a:r>
              <a:rPr lang="en-US" altLang="zh-CN" sz="3200"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 </a:t>
            </a:r>
            <a:r>
              <a:rPr lang="en-US" altLang="zh-CN" sz="32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 </a:t>
            </a:r>
            <a:r>
              <a:rPr lang="en-US" altLang="zh-CN" sz="3200" i="1"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K</a:t>
            </a:r>
            <a:r>
              <a:rPr lang="en-US" altLang="zh-CN" sz="3200"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2</a:t>
            </a:r>
            <a:r>
              <a:rPr lang="en-US" altLang="zh-CN" sz="3200" i="1"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i</a:t>
            </a:r>
            <a:r>
              <a:rPr lang="en-US" altLang="zh-CN" sz="3200" baseline="-25000"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2" charset="-122"/>
                <a:sym typeface="Symbol" panose="05050102010706020507" pitchFamily="18" charset="2"/>
              </a:rPr>
              <a:t>+2</a:t>
            </a:r>
            <a:endParaRPr lang="en-US" altLang="zh-CN" sz="3600" dirty="0">
              <a:solidFill>
                <a:srgbClr val="FF3300"/>
              </a:solidFill>
              <a:latin typeface="Times New Roman" panose="02020603050405020304" pitchFamily="18" charset="0"/>
              <a:ea typeface="黑体" panose="02010609060101010101" pitchFamily="2" charset="-122"/>
            </a:endParaRPr>
          </a:p>
        </p:txBody>
      </p:sp>
      <p:sp>
        <p:nvSpPr>
          <p:cNvPr id="128013" name="Oval 6"/>
          <p:cNvSpPr>
            <a:spLocks noChangeArrowheads="1"/>
          </p:cNvSpPr>
          <p:nvPr/>
        </p:nvSpPr>
        <p:spPr bwMode="auto">
          <a:xfrm>
            <a:off x="2629768" y="26050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14" name="Oval 7"/>
          <p:cNvSpPr>
            <a:spLocks noChangeArrowheads="1"/>
          </p:cNvSpPr>
          <p:nvPr/>
        </p:nvSpPr>
        <p:spPr bwMode="auto">
          <a:xfrm>
            <a:off x="1791568" y="32146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15" name="Oval 8"/>
          <p:cNvSpPr>
            <a:spLocks noChangeArrowheads="1"/>
          </p:cNvSpPr>
          <p:nvPr/>
        </p:nvSpPr>
        <p:spPr bwMode="auto">
          <a:xfrm>
            <a:off x="3391768" y="32146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16" name="Oval 9"/>
          <p:cNvSpPr>
            <a:spLocks noChangeArrowheads="1"/>
          </p:cNvSpPr>
          <p:nvPr/>
        </p:nvSpPr>
        <p:spPr bwMode="auto">
          <a:xfrm>
            <a:off x="3010768" y="39004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17" name="Oval 10"/>
          <p:cNvSpPr>
            <a:spLocks noChangeArrowheads="1"/>
          </p:cNvSpPr>
          <p:nvPr/>
        </p:nvSpPr>
        <p:spPr bwMode="auto">
          <a:xfrm>
            <a:off x="3772768" y="39004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18" name="Oval 11"/>
          <p:cNvSpPr>
            <a:spLocks noChangeArrowheads="1"/>
          </p:cNvSpPr>
          <p:nvPr/>
        </p:nvSpPr>
        <p:spPr bwMode="auto">
          <a:xfrm>
            <a:off x="2172568" y="39004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19" name="Oval 12"/>
          <p:cNvSpPr>
            <a:spLocks noChangeArrowheads="1"/>
          </p:cNvSpPr>
          <p:nvPr/>
        </p:nvSpPr>
        <p:spPr bwMode="auto">
          <a:xfrm>
            <a:off x="1410568" y="39004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20" name="Oval 13"/>
          <p:cNvSpPr>
            <a:spLocks noChangeArrowheads="1"/>
          </p:cNvSpPr>
          <p:nvPr/>
        </p:nvSpPr>
        <p:spPr bwMode="auto">
          <a:xfrm>
            <a:off x="1715368" y="46624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21" name="Oval 14"/>
          <p:cNvSpPr>
            <a:spLocks noChangeArrowheads="1"/>
          </p:cNvSpPr>
          <p:nvPr/>
        </p:nvSpPr>
        <p:spPr bwMode="auto">
          <a:xfrm>
            <a:off x="1029568" y="46624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22" name="Line 22"/>
          <p:cNvSpPr>
            <a:spLocks noChangeShapeType="1"/>
          </p:cNvSpPr>
          <p:nvPr/>
        </p:nvSpPr>
        <p:spPr bwMode="auto">
          <a:xfrm flipH="1">
            <a:off x="6668368" y="3671807"/>
            <a:ext cx="304800" cy="533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3" name="Line 23"/>
          <p:cNvSpPr>
            <a:spLocks noChangeShapeType="1"/>
          </p:cNvSpPr>
          <p:nvPr/>
        </p:nvSpPr>
        <p:spPr bwMode="auto">
          <a:xfrm>
            <a:off x="7125568" y="3595607"/>
            <a:ext cx="381000" cy="609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4" name="Line 24"/>
          <p:cNvSpPr>
            <a:spLocks noChangeShapeType="1"/>
          </p:cNvSpPr>
          <p:nvPr/>
        </p:nvSpPr>
        <p:spPr bwMode="auto">
          <a:xfrm>
            <a:off x="5525368" y="3671807"/>
            <a:ext cx="381000" cy="609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5" name="Line 25"/>
          <p:cNvSpPr>
            <a:spLocks noChangeShapeType="1"/>
          </p:cNvSpPr>
          <p:nvPr/>
        </p:nvSpPr>
        <p:spPr bwMode="auto">
          <a:xfrm>
            <a:off x="5144368" y="4433807"/>
            <a:ext cx="304800" cy="609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6" name="Line 26"/>
          <p:cNvSpPr>
            <a:spLocks noChangeShapeType="1"/>
          </p:cNvSpPr>
          <p:nvPr/>
        </p:nvSpPr>
        <p:spPr bwMode="auto">
          <a:xfrm>
            <a:off x="6363568" y="2986007"/>
            <a:ext cx="685800" cy="533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7" name="Line 27"/>
          <p:cNvSpPr>
            <a:spLocks noChangeShapeType="1"/>
          </p:cNvSpPr>
          <p:nvPr/>
        </p:nvSpPr>
        <p:spPr bwMode="auto">
          <a:xfrm flipH="1">
            <a:off x="5449168" y="2909807"/>
            <a:ext cx="838200" cy="609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8" name="Oval 28"/>
          <p:cNvSpPr>
            <a:spLocks noChangeArrowheads="1"/>
          </p:cNvSpPr>
          <p:nvPr/>
        </p:nvSpPr>
        <p:spPr bwMode="auto">
          <a:xfrm>
            <a:off x="6058768" y="26050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29" name="Oval 29"/>
          <p:cNvSpPr>
            <a:spLocks noChangeArrowheads="1"/>
          </p:cNvSpPr>
          <p:nvPr/>
        </p:nvSpPr>
        <p:spPr bwMode="auto">
          <a:xfrm>
            <a:off x="5220568" y="32146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0" name="Oval 30"/>
          <p:cNvSpPr>
            <a:spLocks noChangeArrowheads="1"/>
          </p:cNvSpPr>
          <p:nvPr/>
        </p:nvSpPr>
        <p:spPr bwMode="auto">
          <a:xfrm>
            <a:off x="6820768" y="32146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1" name="Oval 31"/>
          <p:cNvSpPr>
            <a:spLocks noChangeArrowheads="1"/>
          </p:cNvSpPr>
          <p:nvPr/>
        </p:nvSpPr>
        <p:spPr bwMode="auto">
          <a:xfrm>
            <a:off x="6439768" y="39004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2" name="Oval 32"/>
          <p:cNvSpPr>
            <a:spLocks noChangeArrowheads="1"/>
          </p:cNvSpPr>
          <p:nvPr/>
        </p:nvSpPr>
        <p:spPr bwMode="auto">
          <a:xfrm>
            <a:off x="7201768" y="39004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3" name="Oval 33"/>
          <p:cNvSpPr>
            <a:spLocks noChangeArrowheads="1"/>
          </p:cNvSpPr>
          <p:nvPr/>
        </p:nvSpPr>
        <p:spPr bwMode="auto">
          <a:xfrm>
            <a:off x="5601568" y="39004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4" name="Oval 34"/>
          <p:cNvSpPr>
            <a:spLocks noChangeArrowheads="1"/>
          </p:cNvSpPr>
          <p:nvPr/>
        </p:nvSpPr>
        <p:spPr bwMode="auto">
          <a:xfrm>
            <a:off x="4839568" y="39004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5" name="Oval 35"/>
          <p:cNvSpPr>
            <a:spLocks noChangeArrowheads="1"/>
          </p:cNvSpPr>
          <p:nvPr/>
        </p:nvSpPr>
        <p:spPr bwMode="auto">
          <a:xfrm>
            <a:off x="5144368" y="46624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6" name="Oval 36"/>
          <p:cNvSpPr>
            <a:spLocks noChangeArrowheads="1"/>
          </p:cNvSpPr>
          <p:nvPr/>
        </p:nvSpPr>
        <p:spPr bwMode="auto">
          <a:xfrm>
            <a:off x="4458568" y="4662407"/>
            <a:ext cx="533400" cy="5334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7" name="Text Box 38"/>
          <p:cNvSpPr txBox="1">
            <a:spLocks noChangeArrowheads="1"/>
          </p:cNvSpPr>
          <p:nvPr/>
        </p:nvSpPr>
        <p:spPr bwMode="auto">
          <a:xfrm>
            <a:off x="2639293" y="2619295"/>
            <a:ext cx="523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28038" name="Text Box 39"/>
          <p:cNvSpPr txBox="1">
            <a:spLocks noChangeArrowheads="1"/>
          </p:cNvSpPr>
          <p:nvPr/>
        </p:nvSpPr>
        <p:spPr bwMode="auto">
          <a:xfrm>
            <a:off x="6439768" y="3900407"/>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28039" name="Text Box 40"/>
          <p:cNvSpPr txBox="1">
            <a:spLocks noChangeArrowheads="1"/>
          </p:cNvSpPr>
          <p:nvPr/>
        </p:nvSpPr>
        <p:spPr bwMode="auto">
          <a:xfrm>
            <a:off x="6084168" y="26050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28040" name="Text Box 41"/>
          <p:cNvSpPr txBox="1">
            <a:spLocks noChangeArrowheads="1"/>
          </p:cNvSpPr>
          <p:nvPr/>
        </p:nvSpPr>
        <p:spPr bwMode="auto">
          <a:xfrm>
            <a:off x="3798168" y="3900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28041" name="Text Box 42"/>
          <p:cNvSpPr txBox="1">
            <a:spLocks noChangeArrowheads="1"/>
          </p:cNvSpPr>
          <p:nvPr/>
        </p:nvSpPr>
        <p:spPr bwMode="auto">
          <a:xfrm>
            <a:off x="5245968" y="32146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28042" name="Text Box 43"/>
          <p:cNvSpPr txBox="1">
            <a:spLocks noChangeArrowheads="1"/>
          </p:cNvSpPr>
          <p:nvPr/>
        </p:nvSpPr>
        <p:spPr bwMode="auto">
          <a:xfrm>
            <a:off x="3020293" y="3914695"/>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28043" name="Text Box 44"/>
          <p:cNvSpPr txBox="1">
            <a:spLocks noChangeArrowheads="1"/>
          </p:cNvSpPr>
          <p:nvPr/>
        </p:nvSpPr>
        <p:spPr bwMode="auto">
          <a:xfrm>
            <a:off x="2182093" y="3914695"/>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28044" name="Text Box 45"/>
          <p:cNvSpPr txBox="1">
            <a:spLocks noChangeArrowheads="1"/>
          </p:cNvSpPr>
          <p:nvPr/>
        </p:nvSpPr>
        <p:spPr bwMode="auto">
          <a:xfrm>
            <a:off x="4864968" y="3900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28045" name="Text Box 46"/>
          <p:cNvSpPr txBox="1">
            <a:spLocks noChangeArrowheads="1"/>
          </p:cNvSpPr>
          <p:nvPr/>
        </p:nvSpPr>
        <p:spPr bwMode="auto">
          <a:xfrm>
            <a:off x="3401293" y="3228895"/>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28046" name="Text Box 47"/>
          <p:cNvSpPr txBox="1">
            <a:spLocks noChangeArrowheads="1"/>
          </p:cNvSpPr>
          <p:nvPr/>
        </p:nvSpPr>
        <p:spPr bwMode="auto">
          <a:xfrm>
            <a:off x="5626968" y="3900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28047" name="Text Box 48"/>
          <p:cNvSpPr txBox="1">
            <a:spLocks noChangeArrowheads="1"/>
          </p:cNvSpPr>
          <p:nvPr/>
        </p:nvSpPr>
        <p:spPr bwMode="auto">
          <a:xfrm>
            <a:off x="7227168" y="3900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31</a:t>
            </a:r>
            <a:endParaRPr kumimoji="1" lang="en-US" altLang="zh-CN" sz="2400">
              <a:latin typeface="Times New Roman" panose="02020603050405020304" pitchFamily="18" charset="0"/>
              <a:ea typeface="宋体" panose="02010600030101010101" pitchFamily="2" charset="-122"/>
            </a:endParaRPr>
          </a:p>
        </p:txBody>
      </p:sp>
      <p:sp>
        <p:nvSpPr>
          <p:cNvPr id="128048" name="Text Box 49"/>
          <p:cNvSpPr txBox="1">
            <a:spLocks noChangeArrowheads="1"/>
          </p:cNvSpPr>
          <p:nvPr/>
        </p:nvSpPr>
        <p:spPr bwMode="auto">
          <a:xfrm>
            <a:off x="1740768" y="4662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31</a:t>
            </a:r>
            <a:endParaRPr kumimoji="1" lang="en-US" altLang="zh-CN" sz="2400">
              <a:latin typeface="Times New Roman" panose="02020603050405020304" pitchFamily="18" charset="0"/>
              <a:ea typeface="宋体" panose="02010600030101010101" pitchFamily="2" charset="-122"/>
            </a:endParaRPr>
          </a:p>
        </p:txBody>
      </p:sp>
      <p:sp>
        <p:nvSpPr>
          <p:cNvPr id="128049" name="Text Box 50"/>
          <p:cNvSpPr txBox="1">
            <a:spLocks noChangeArrowheads="1"/>
          </p:cNvSpPr>
          <p:nvPr/>
        </p:nvSpPr>
        <p:spPr bwMode="auto">
          <a:xfrm>
            <a:off x="1054968" y="4662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28050" name="Text Box 51"/>
          <p:cNvSpPr txBox="1">
            <a:spLocks noChangeArrowheads="1"/>
          </p:cNvSpPr>
          <p:nvPr/>
        </p:nvSpPr>
        <p:spPr bwMode="auto">
          <a:xfrm>
            <a:off x="5169768" y="4676695"/>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28051" name="Text Box 52"/>
          <p:cNvSpPr txBox="1">
            <a:spLocks noChangeArrowheads="1"/>
          </p:cNvSpPr>
          <p:nvPr/>
        </p:nvSpPr>
        <p:spPr bwMode="auto">
          <a:xfrm>
            <a:off x="1435968" y="3900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28052" name="Text Box 53"/>
          <p:cNvSpPr txBox="1">
            <a:spLocks noChangeArrowheads="1"/>
          </p:cNvSpPr>
          <p:nvPr/>
        </p:nvSpPr>
        <p:spPr bwMode="auto">
          <a:xfrm>
            <a:off x="6846168" y="32146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28053" name="Text Box 54"/>
          <p:cNvSpPr txBox="1">
            <a:spLocks noChangeArrowheads="1"/>
          </p:cNvSpPr>
          <p:nvPr/>
        </p:nvSpPr>
        <p:spPr bwMode="auto">
          <a:xfrm>
            <a:off x="4483968" y="4676695"/>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28054" name="Text Box 55"/>
          <p:cNvSpPr txBox="1">
            <a:spLocks noChangeArrowheads="1"/>
          </p:cNvSpPr>
          <p:nvPr/>
        </p:nvSpPr>
        <p:spPr bwMode="auto">
          <a:xfrm>
            <a:off x="1816968" y="32146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4" name="标题 3"/>
          <p:cNvSpPr>
            <a:spLocks noGrp="1"/>
          </p:cNvSpPr>
          <p:nvPr>
            <p:ph type="title"/>
          </p:nvPr>
        </p:nvSpPr>
        <p:spPr>
          <a:xfrm>
            <a:off x="628650" y="319970"/>
            <a:ext cx="7886700" cy="1325563"/>
          </a:xfrm>
        </p:spPr>
        <p:txBody>
          <a:bodyPr/>
          <a:lstStyle/>
          <a:p>
            <a:r>
              <a:rPr lang="en-US" altLang="zh-CN" dirty="0"/>
              <a:t>5.8 </a:t>
            </a:r>
            <a:r>
              <a:rPr lang="zh-CN" altLang="en-US" dirty="0"/>
              <a:t>堆</a:t>
            </a:r>
            <a:endParaRPr lang="zh-CN" altLang="en-US" dirty="0"/>
          </a:p>
        </p:txBody>
      </p:sp>
      <p:sp>
        <p:nvSpPr>
          <p:cNvPr id="5" name="内容占位符 4"/>
          <p:cNvSpPr>
            <a:spLocks noGrp="1"/>
          </p:cNvSpPr>
          <p:nvPr>
            <p:ph idx="1"/>
          </p:nvPr>
        </p:nvSpPr>
        <p:spPr>
          <a:xfrm>
            <a:off x="628650" y="1825625"/>
            <a:ext cx="8335838" cy="4351338"/>
          </a:xfrm>
        </p:spPr>
        <p:txBody>
          <a:bodyPr/>
          <a:lstStyle/>
          <a:p>
            <a:r>
              <a:rPr lang="en-US" altLang="zh-CN" dirty="0"/>
              <a:t>5.8.1 </a:t>
            </a:r>
            <a:r>
              <a:rPr lang="zh-CN" altLang="en-US" dirty="0"/>
              <a:t>最小堆和最大堆（用完全二叉树表示）</a:t>
            </a: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最小堆的类定义</a:t>
            </a:r>
            <a:endParaRPr lang="zh-CN" altLang="en-US" dirty="0"/>
          </a:p>
        </p:txBody>
      </p:sp>
      <p:sp>
        <p:nvSpPr>
          <p:cNvPr id="3" name="内容占位符 2"/>
          <p:cNvSpPr>
            <a:spLocks noGrp="1"/>
          </p:cNvSpPr>
          <p:nvPr>
            <p:ph sz="half" idx="1"/>
          </p:nvPr>
        </p:nvSpPr>
        <p:spPr>
          <a:xfrm>
            <a:off x="118077" y="1804285"/>
            <a:ext cx="4335337" cy="4667250"/>
          </a:xfrm>
          <a:solidFill>
            <a:schemeClr val="bg2">
              <a:lumMod val="90000"/>
            </a:schemeClr>
          </a:solidFill>
        </p:spPr>
        <p:txBody>
          <a:bodyPr>
            <a:normAutofit fontScale="85000" lnSpcReduction="10000"/>
          </a:bodyPr>
          <a:lstStyle/>
          <a:p>
            <a:pPr marL="0" indent="0">
              <a:buNone/>
            </a:pPr>
            <a:r>
              <a:rPr lang="en-US" altLang="zh-CN" dirty="0"/>
              <a:t>#define </a:t>
            </a:r>
            <a:r>
              <a:rPr lang="en-US" altLang="zh-CN" dirty="0" err="1"/>
              <a:t>DefaultSize</a:t>
            </a:r>
            <a:r>
              <a:rPr lang="en-US" altLang="zh-CN" dirty="0"/>
              <a:t>  10</a:t>
            </a:r>
            <a:endParaRPr lang="en-US" altLang="zh-CN" dirty="0"/>
          </a:p>
          <a:p>
            <a:pPr marL="0" indent="0">
              <a:buNone/>
            </a:pPr>
            <a:r>
              <a:rPr lang="en-US" altLang="zh-CN" dirty="0"/>
              <a:t>template &lt; class E&gt; </a:t>
            </a:r>
            <a:endParaRPr lang="en-US" altLang="zh-CN" dirty="0"/>
          </a:p>
          <a:p>
            <a:pPr marL="0" indent="0">
              <a:buNone/>
            </a:pPr>
            <a:r>
              <a:rPr lang="en-US" altLang="zh-CN" dirty="0"/>
              <a:t>class </a:t>
            </a:r>
            <a:r>
              <a:rPr lang="en-US" altLang="zh-CN" dirty="0" err="1"/>
              <a:t>MinHeap</a:t>
            </a:r>
            <a:r>
              <a:rPr lang="en-US" altLang="zh-CN" dirty="0"/>
              <a:t>  {</a:t>
            </a:r>
            <a:endParaRPr lang="en-US" altLang="zh-CN" dirty="0"/>
          </a:p>
          <a:p>
            <a:pPr marL="0" indent="0">
              <a:buNone/>
            </a:pPr>
            <a:r>
              <a:rPr lang="en-US" altLang="zh-CN" dirty="0"/>
              <a:t>private: </a:t>
            </a:r>
            <a:endParaRPr lang="en-US" altLang="zh-CN" dirty="0"/>
          </a:p>
          <a:p>
            <a:pPr marL="0" indent="0">
              <a:buNone/>
            </a:pPr>
            <a:r>
              <a:rPr lang="en-US" altLang="zh-CN" dirty="0"/>
              <a:t>    E * heap;     //</a:t>
            </a:r>
            <a:r>
              <a:rPr lang="zh-CN" altLang="en-US" dirty="0"/>
              <a:t>存放最小堆元素的数组</a:t>
            </a:r>
            <a:endParaRPr lang="zh-CN" altLang="en-US" dirty="0"/>
          </a:p>
          <a:p>
            <a:pPr marL="0" indent="0">
              <a:buNone/>
            </a:pPr>
            <a:r>
              <a:rPr lang="zh-CN" altLang="en-US" dirty="0"/>
              <a:t>    </a:t>
            </a:r>
            <a:r>
              <a:rPr lang="en-US" altLang="zh-CN" dirty="0"/>
              <a:t>int </a:t>
            </a:r>
            <a:r>
              <a:rPr lang="en-US" altLang="zh-CN" dirty="0" err="1"/>
              <a:t>currentSize</a:t>
            </a:r>
            <a:r>
              <a:rPr lang="en-US" altLang="zh-CN" dirty="0"/>
              <a:t>;    //</a:t>
            </a:r>
            <a:r>
              <a:rPr lang="zh-CN" altLang="en-US" dirty="0"/>
              <a:t>当前元素个数</a:t>
            </a:r>
            <a:endParaRPr lang="zh-CN" altLang="en-US" dirty="0"/>
          </a:p>
          <a:p>
            <a:pPr marL="0" indent="0">
              <a:buNone/>
            </a:pPr>
            <a:r>
              <a:rPr lang="zh-CN" altLang="en-US" dirty="0"/>
              <a:t>    </a:t>
            </a:r>
            <a:r>
              <a:rPr lang="en-US" altLang="zh-CN" dirty="0"/>
              <a:t>int </a:t>
            </a:r>
            <a:r>
              <a:rPr lang="en-US" altLang="zh-CN" dirty="0" err="1"/>
              <a:t>maxHeapSize</a:t>
            </a:r>
            <a:r>
              <a:rPr lang="en-US" altLang="zh-CN" dirty="0"/>
              <a:t>;  //</a:t>
            </a:r>
            <a:r>
              <a:rPr lang="zh-CN" altLang="en-US" dirty="0"/>
              <a:t>最多允许元素个数</a:t>
            </a:r>
            <a:endParaRPr lang="zh-CN" altLang="en-US" dirty="0"/>
          </a:p>
          <a:p>
            <a:pPr marL="0" indent="0">
              <a:buNone/>
            </a:pPr>
            <a:r>
              <a:rPr lang="zh-CN" altLang="en-US" dirty="0"/>
              <a:t>    </a:t>
            </a:r>
            <a:r>
              <a:rPr lang="en-US" altLang="zh-CN" dirty="0"/>
              <a:t>void </a:t>
            </a:r>
            <a:r>
              <a:rPr lang="en-US" altLang="zh-CN" dirty="0" err="1"/>
              <a:t>siftDown</a:t>
            </a:r>
            <a:r>
              <a:rPr lang="en-US" altLang="zh-CN" dirty="0"/>
              <a:t> ( int start, int m );</a:t>
            </a:r>
            <a:endParaRPr lang="en-US" altLang="zh-CN" dirty="0"/>
          </a:p>
          <a:p>
            <a:pPr marL="0" indent="0">
              <a:buNone/>
            </a:pPr>
            <a:r>
              <a:rPr lang="en-US" altLang="zh-CN" dirty="0"/>
              <a:t>      //</a:t>
            </a:r>
            <a:r>
              <a:rPr lang="zh-CN" altLang="en-US" dirty="0"/>
              <a:t>从 </a:t>
            </a:r>
            <a:r>
              <a:rPr lang="en-US" altLang="zh-CN" dirty="0"/>
              <a:t>start </a:t>
            </a:r>
            <a:r>
              <a:rPr lang="zh-CN" altLang="en-US" dirty="0"/>
              <a:t>到</a:t>
            </a:r>
            <a:r>
              <a:rPr lang="en-US" altLang="zh-CN" dirty="0"/>
              <a:t>m</a:t>
            </a:r>
            <a:r>
              <a:rPr lang="zh-CN" altLang="en-US" dirty="0"/>
              <a:t>自顶向下调整为最小堆 </a:t>
            </a:r>
            <a:endParaRPr lang="zh-CN" altLang="en-US" dirty="0"/>
          </a:p>
          <a:p>
            <a:pPr marL="0" indent="0">
              <a:buNone/>
            </a:pPr>
            <a:r>
              <a:rPr lang="zh-CN" altLang="en-US" dirty="0"/>
              <a:t>    </a:t>
            </a:r>
            <a:r>
              <a:rPr lang="en-US" altLang="zh-CN" dirty="0"/>
              <a:t>void </a:t>
            </a:r>
            <a:r>
              <a:rPr lang="en-US" altLang="zh-CN" dirty="0" err="1"/>
              <a:t>siftUp</a:t>
            </a:r>
            <a:r>
              <a:rPr lang="en-US" altLang="zh-CN" dirty="0"/>
              <a:t> ( int start );</a:t>
            </a:r>
            <a:endParaRPr lang="en-US" altLang="zh-CN" dirty="0"/>
          </a:p>
          <a:p>
            <a:pPr marL="0" indent="0">
              <a:buNone/>
            </a:pPr>
            <a:r>
              <a:rPr lang="en-US" altLang="zh-CN" dirty="0"/>
              <a:t>      //</a:t>
            </a:r>
            <a:r>
              <a:rPr lang="zh-CN" altLang="en-US" dirty="0"/>
              <a:t>从 </a:t>
            </a:r>
            <a:r>
              <a:rPr lang="en-US" altLang="zh-CN" dirty="0"/>
              <a:t>start </a:t>
            </a:r>
            <a:r>
              <a:rPr lang="zh-CN" altLang="en-US" dirty="0"/>
              <a:t>到</a:t>
            </a:r>
            <a:r>
              <a:rPr lang="en-US" altLang="zh-CN" dirty="0"/>
              <a:t>0</a:t>
            </a:r>
            <a:r>
              <a:rPr lang="zh-CN" altLang="en-US" dirty="0"/>
              <a:t>自底向上调整为最小堆</a:t>
            </a:r>
            <a:endParaRPr lang="zh-CN" altLang="en-US" dirty="0"/>
          </a:p>
        </p:txBody>
      </p:sp>
      <p:sp>
        <p:nvSpPr>
          <p:cNvPr id="4" name="内容占位符 3"/>
          <p:cNvSpPr>
            <a:spLocks noGrp="1"/>
          </p:cNvSpPr>
          <p:nvPr>
            <p:ph sz="half" idx="2"/>
          </p:nvPr>
        </p:nvSpPr>
        <p:spPr>
          <a:xfrm>
            <a:off x="4572000" y="1825625"/>
            <a:ext cx="4453923" cy="4667250"/>
          </a:xfrm>
          <a:solidFill>
            <a:schemeClr val="bg2">
              <a:lumMod val="90000"/>
            </a:schemeClr>
          </a:solidFill>
        </p:spPr>
        <p:txBody>
          <a:bodyPr>
            <a:normAutofit fontScale="85000" lnSpcReduction="10000"/>
          </a:bodyPr>
          <a:lstStyle/>
          <a:p>
            <a:pPr marL="0" indent="0">
              <a:buNone/>
            </a:pPr>
            <a:r>
              <a:rPr lang="en-US" altLang="zh-CN" dirty="0"/>
              <a:t>public: </a:t>
            </a:r>
            <a:endParaRPr lang="en-US" altLang="zh-CN" dirty="0"/>
          </a:p>
          <a:p>
            <a:pPr marL="0" indent="0">
              <a:buNone/>
            </a:pPr>
            <a:r>
              <a:rPr lang="en-US" altLang="zh-CN" dirty="0"/>
              <a:t>    </a:t>
            </a:r>
            <a:r>
              <a:rPr lang="en-US" altLang="zh-CN" dirty="0" err="1"/>
              <a:t>MinHeap</a:t>
            </a:r>
            <a:r>
              <a:rPr lang="en-US" altLang="zh-CN" dirty="0"/>
              <a:t> ( int </a:t>
            </a:r>
            <a:r>
              <a:rPr lang="en-US" altLang="zh-CN" dirty="0" err="1"/>
              <a:t>sz</a:t>
            </a:r>
            <a:r>
              <a:rPr lang="en-US" altLang="zh-CN" dirty="0"/>
              <a:t> = </a:t>
            </a:r>
            <a:r>
              <a:rPr lang="en-US" altLang="zh-CN" dirty="0" err="1"/>
              <a:t>DefaultSize</a:t>
            </a:r>
            <a:r>
              <a:rPr lang="en-US" altLang="zh-CN" dirty="0"/>
              <a:t> ); </a:t>
            </a:r>
            <a:endParaRPr lang="en-US" altLang="zh-CN" dirty="0"/>
          </a:p>
          <a:p>
            <a:pPr marL="0" indent="0">
              <a:buNone/>
            </a:pPr>
            <a:r>
              <a:rPr lang="en-US" altLang="zh-CN" dirty="0"/>
              <a:t>            //</a:t>
            </a:r>
            <a:r>
              <a:rPr lang="zh-CN" altLang="en-US" dirty="0"/>
              <a:t>代码见本页备注</a:t>
            </a:r>
            <a:endParaRPr lang="en-US" altLang="zh-CN" dirty="0"/>
          </a:p>
          <a:p>
            <a:pPr marL="0" indent="0">
              <a:buNone/>
            </a:pPr>
            <a:r>
              <a:rPr lang="en-US" altLang="zh-CN" dirty="0"/>
              <a:t>    </a:t>
            </a:r>
            <a:r>
              <a:rPr lang="en-US" altLang="zh-CN" dirty="0" err="1"/>
              <a:t>MinHeap</a:t>
            </a:r>
            <a:r>
              <a:rPr lang="en-US" altLang="zh-CN" dirty="0"/>
              <a:t> ( E </a:t>
            </a:r>
            <a:r>
              <a:rPr lang="en-US" altLang="zh-CN" dirty="0" err="1"/>
              <a:t>arr</a:t>
            </a:r>
            <a:r>
              <a:rPr lang="en-US" altLang="zh-CN" dirty="0"/>
              <a:t>[ ], int n );</a:t>
            </a:r>
            <a:endParaRPr lang="en-US" altLang="zh-CN" dirty="0"/>
          </a:p>
          <a:p>
            <a:pPr marL="0" indent="0">
              <a:buNone/>
            </a:pPr>
            <a:r>
              <a:rPr lang="en-US" altLang="zh-CN" dirty="0"/>
              <a:t>    ~</a:t>
            </a:r>
            <a:r>
              <a:rPr lang="en-US" altLang="zh-CN" dirty="0" err="1"/>
              <a:t>MinHeap</a:t>
            </a:r>
            <a:r>
              <a:rPr lang="en-US" altLang="zh-CN" dirty="0"/>
              <a:t> ( ) { delete [ ] heap; }</a:t>
            </a:r>
            <a:endParaRPr lang="en-US" altLang="zh-CN" dirty="0"/>
          </a:p>
          <a:p>
            <a:pPr marL="0" indent="0">
              <a:buNone/>
            </a:pPr>
            <a:r>
              <a:rPr lang="en-US" altLang="zh-CN" dirty="0"/>
              <a:t>    bool Insert ( const E&amp; x );	   //</a:t>
            </a:r>
            <a:r>
              <a:rPr lang="zh-CN" altLang="en-US" dirty="0"/>
              <a:t>插入</a:t>
            </a:r>
            <a:endParaRPr lang="zh-CN" altLang="en-US" dirty="0"/>
          </a:p>
          <a:p>
            <a:pPr marL="0" indent="0">
              <a:buNone/>
            </a:pPr>
            <a:r>
              <a:rPr lang="zh-CN" altLang="en-US" dirty="0"/>
              <a:t>    </a:t>
            </a:r>
            <a:r>
              <a:rPr lang="en-US" altLang="zh-CN" dirty="0"/>
              <a:t>bool </a:t>
            </a:r>
            <a:r>
              <a:rPr lang="en-US" altLang="zh-CN" dirty="0" err="1"/>
              <a:t>RemoveMin</a:t>
            </a:r>
            <a:r>
              <a:rPr lang="en-US" altLang="zh-CN" dirty="0"/>
              <a:t> ( E&amp; x );   //</a:t>
            </a:r>
            <a:r>
              <a:rPr lang="zh-CN" altLang="en-US" dirty="0"/>
              <a:t>删除 </a:t>
            </a:r>
            <a:endParaRPr lang="zh-CN" altLang="en-US" dirty="0"/>
          </a:p>
          <a:p>
            <a:pPr marL="0" indent="0">
              <a:buNone/>
            </a:pPr>
            <a:r>
              <a:rPr lang="zh-CN" altLang="en-US" dirty="0"/>
              <a:t>    </a:t>
            </a:r>
            <a:r>
              <a:rPr lang="en-US" altLang="zh-CN" dirty="0"/>
              <a:t>bool </a:t>
            </a:r>
            <a:r>
              <a:rPr lang="en-US" altLang="zh-CN" dirty="0" err="1"/>
              <a:t>IsEmpty</a:t>
            </a:r>
            <a:r>
              <a:rPr lang="en-US" altLang="zh-CN" dirty="0"/>
              <a:t> ( ) const     //</a:t>
            </a:r>
            <a:r>
              <a:rPr lang="zh-CN" altLang="en-US" dirty="0"/>
              <a:t>判堆空否</a:t>
            </a:r>
            <a:endParaRPr lang="zh-CN" altLang="en-US" dirty="0"/>
          </a:p>
          <a:p>
            <a:pPr marL="0" indent="0">
              <a:buNone/>
            </a:pPr>
            <a:r>
              <a:rPr lang="zh-CN" altLang="en-US" dirty="0"/>
              <a:t>    </a:t>
            </a:r>
            <a:r>
              <a:rPr lang="en-US" altLang="zh-CN" dirty="0"/>
              <a:t>{ return (</a:t>
            </a:r>
            <a:r>
              <a:rPr lang="en-US" altLang="zh-CN" dirty="0" err="1"/>
              <a:t>currentSize</a:t>
            </a:r>
            <a:r>
              <a:rPr lang="en-US" altLang="zh-CN" dirty="0"/>
              <a:t> == 0) ; }</a:t>
            </a:r>
            <a:endParaRPr lang="en-US" altLang="zh-CN" dirty="0"/>
          </a:p>
          <a:p>
            <a:pPr marL="0" indent="0">
              <a:buNone/>
            </a:pPr>
            <a:r>
              <a:rPr lang="en-US" altLang="zh-CN" dirty="0"/>
              <a:t>    bool </a:t>
            </a:r>
            <a:r>
              <a:rPr lang="en-US" altLang="zh-CN" dirty="0" err="1"/>
              <a:t>IsFull</a:t>
            </a:r>
            <a:r>
              <a:rPr lang="en-US" altLang="zh-CN" dirty="0"/>
              <a:t> ( ) const          //</a:t>
            </a:r>
            <a:r>
              <a:rPr lang="zh-CN" altLang="en-US" dirty="0"/>
              <a:t>判堆满否</a:t>
            </a:r>
            <a:endParaRPr lang="zh-CN" altLang="en-US" dirty="0"/>
          </a:p>
          <a:p>
            <a:pPr marL="0" indent="0">
              <a:buNone/>
            </a:pPr>
            <a:r>
              <a:rPr lang="zh-CN" altLang="en-US" dirty="0"/>
              <a:t>    </a:t>
            </a:r>
            <a:r>
              <a:rPr lang="en-US" altLang="zh-CN" dirty="0"/>
              <a:t>{ return (</a:t>
            </a:r>
            <a:r>
              <a:rPr lang="en-US" altLang="zh-CN" dirty="0" err="1"/>
              <a:t>currentSize</a:t>
            </a:r>
            <a:r>
              <a:rPr lang="en-US" altLang="zh-CN" dirty="0"/>
              <a:t> == </a:t>
            </a:r>
            <a:r>
              <a:rPr lang="en-US" altLang="zh-CN" dirty="0" err="1"/>
              <a:t>maxHeapSize</a:t>
            </a:r>
            <a:r>
              <a:rPr lang="en-US" altLang="zh-CN" dirty="0"/>
              <a:t>) ; }</a:t>
            </a:r>
            <a:endParaRPr lang="en-US" altLang="zh-CN" dirty="0"/>
          </a:p>
          <a:p>
            <a:pPr marL="0" indent="0">
              <a:buNone/>
            </a:pPr>
            <a:r>
              <a:rPr lang="en-US" altLang="zh-CN" dirty="0"/>
              <a:t>    void </a:t>
            </a:r>
            <a:r>
              <a:rPr lang="en-US" altLang="zh-CN" dirty="0" err="1"/>
              <a:t>MakeEmpty</a:t>
            </a:r>
            <a:r>
              <a:rPr lang="en-US" altLang="zh-CN" dirty="0"/>
              <a:t> ( ) { </a:t>
            </a:r>
            <a:r>
              <a:rPr lang="en-US" altLang="zh-CN" dirty="0" err="1"/>
              <a:t>currentSize</a:t>
            </a:r>
            <a:r>
              <a:rPr lang="en-US" altLang="zh-CN" dirty="0"/>
              <a:t> = 0; }</a:t>
            </a:r>
            <a:endParaRPr lang="en-US" altLang="zh-CN" dirty="0"/>
          </a:p>
          <a:p>
            <a:pPr marL="0" indent="0">
              <a:buNone/>
            </a:pPr>
            <a:r>
              <a:rPr lang="en-US" altLang="zh-CN" dirty="0"/>
              <a:t>} </a:t>
            </a:r>
            <a:endParaRPr lang="zh-CN" altLang="en-US" dirty="0"/>
          </a:p>
          <a:p>
            <a:pPr marL="0" indent="0">
              <a:buNone/>
            </a:pPr>
            <a:endParaRPr lang="zh-CN" altLang="en-US" dirty="0"/>
          </a:p>
        </p:txBody>
      </p:sp>
      <p:sp>
        <p:nvSpPr>
          <p:cNvPr id="5" name="灯片编号占位符 4"/>
          <p:cNvSpPr>
            <a:spLocks noGrp="1"/>
          </p:cNvSpPr>
          <p:nvPr>
            <p:ph type="sldNum" sz="quarter" idx="12"/>
          </p:nvPr>
        </p:nvSpPr>
        <p:spPr/>
        <p:txBody>
          <a:bodyPr/>
          <a:lstStyle/>
          <a:p>
            <a:pPr>
              <a:defRPr/>
            </a:pPr>
            <a:fld id="{97C60736-F4D1-4419-BD91-ADA094D56F9B}" type="slidenum">
              <a:rPr lang="en-US" altLang="zh-CN" smtClean="0"/>
            </a:fld>
            <a:endParaRPr lang="en-US" altLang="zh-CN"/>
          </a:p>
        </p:txBody>
      </p:sp>
    </p:spTree>
  </p:cSld>
  <p:clrMapOvr>
    <a:masterClrMapping/>
  </p:clrMapOvr>
  <p:transition>
    <p:split/>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5.8.2 </a:t>
            </a:r>
            <a:r>
              <a:rPr lang="zh-CN" altLang="en-US" dirty="0"/>
              <a:t>堆的建立</a:t>
            </a:r>
            <a:endParaRPr lang="zh-CN" altLang="en-US" dirty="0"/>
          </a:p>
        </p:txBody>
      </p:sp>
      <p:sp>
        <p:nvSpPr>
          <p:cNvPr id="3" name="内容占位符 2"/>
          <p:cNvSpPr>
            <a:spLocks noGrp="1"/>
          </p:cNvSpPr>
          <p:nvPr>
            <p:ph idx="1"/>
          </p:nvPr>
        </p:nvSpPr>
        <p:spPr>
          <a:xfrm>
            <a:off x="179512" y="1412776"/>
            <a:ext cx="8784976" cy="5308699"/>
          </a:xfrm>
        </p:spPr>
        <p:txBody>
          <a:bodyPr>
            <a:normAutofit fontScale="55000" lnSpcReduction="20000"/>
          </a:bodyPr>
          <a:lstStyle/>
          <a:p>
            <a:pPr marL="0" indent="0">
              <a:buNone/>
            </a:pPr>
            <a:r>
              <a:rPr lang="en-US" altLang="zh-CN" dirty="0"/>
              <a:t>//</a:t>
            </a:r>
            <a:r>
              <a:rPr lang="zh-CN" altLang="en-US" dirty="0"/>
              <a:t>根据给定数组中的数据，建立堆对象   </a:t>
            </a:r>
            <a:endParaRPr lang="en-US" altLang="zh-CN" dirty="0"/>
          </a:p>
          <a:p>
            <a:pPr marL="0" indent="0">
              <a:buNone/>
            </a:pPr>
            <a:r>
              <a:rPr lang="en-US" altLang="zh-CN" dirty="0"/>
              <a:t>template &lt;class E &gt; </a:t>
            </a:r>
            <a:endParaRPr lang="en-US" altLang="zh-CN" dirty="0"/>
          </a:p>
          <a:p>
            <a:pPr marL="0" indent="0">
              <a:buNone/>
            </a:pPr>
            <a:r>
              <a:rPr lang="en-US" altLang="zh-CN" dirty="0" err="1"/>
              <a:t>MinHeap</a:t>
            </a:r>
            <a:r>
              <a:rPr lang="en-US" altLang="zh-CN" dirty="0"/>
              <a:t> &lt;E&gt; :: </a:t>
            </a:r>
            <a:r>
              <a:rPr lang="en-US" altLang="zh-CN" dirty="0" err="1"/>
              <a:t>MinHeap</a:t>
            </a:r>
            <a:r>
              <a:rPr lang="en-US" altLang="zh-CN" dirty="0"/>
              <a:t> ( E </a:t>
            </a:r>
            <a:r>
              <a:rPr lang="en-US" altLang="zh-CN" dirty="0" err="1"/>
              <a:t>arr</a:t>
            </a:r>
            <a:r>
              <a:rPr lang="en-US" altLang="zh-CN" dirty="0"/>
              <a:t>[ ], int n ) {</a:t>
            </a:r>
            <a:endParaRPr lang="en-US" altLang="zh-CN" dirty="0"/>
          </a:p>
          <a:p>
            <a:pPr marL="0" indent="0">
              <a:buNone/>
            </a:pPr>
            <a:r>
              <a:rPr lang="en-US" altLang="zh-CN" dirty="0"/>
              <a:t>    </a:t>
            </a:r>
            <a:r>
              <a:rPr lang="en-US" altLang="zh-CN" dirty="0" err="1"/>
              <a:t>maxHeapSize</a:t>
            </a:r>
            <a:r>
              <a:rPr lang="en-US" altLang="zh-CN" dirty="0"/>
              <a:t> = (</a:t>
            </a:r>
            <a:r>
              <a:rPr lang="en-US" altLang="zh-CN" dirty="0" err="1"/>
              <a:t>DefaultSize</a:t>
            </a:r>
            <a:r>
              <a:rPr lang="en-US" altLang="zh-CN" dirty="0"/>
              <a:t> &lt; n) ? n : </a:t>
            </a:r>
            <a:r>
              <a:rPr lang="en-US" altLang="zh-CN" dirty="0" err="1"/>
              <a:t>DefaultSize</a:t>
            </a:r>
            <a:r>
              <a:rPr lang="en-US" altLang="zh-CN" dirty="0"/>
              <a:t>;</a:t>
            </a:r>
            <a:endParaRPr lang="en-US" altLang="zh-CN" dirty="0"/>
          </a:p>
          <a:p>
            <a:pPr marL="0" indent="0">
              <a:buNone/>
            </a:pPr>
            <a:r>
              <a:rPr lang="en-US" altLang="zh-CN" dirty="0"/>
              <a:t>    heap = new E [</a:t>
            </a:r>
            <a:r>
              <a:rPr lang="en-US" altLang="zh-CN" dirty="0" err="1"/>
              <a:t>maxHeapSize</a:t>
            </a:r>
            <a:r>
              <a:rPr lang="en-US" altLang="zh-CN" dirty="0"/>
              <a:t>]; </a:t>
            </a:r>
            <a:endParaRPr lang="en-US" altLang="zh-CN" dirty="0"/>
          </a:p>
          <a:p>
            <a:pPr marL="0" indent="0">
              <a:buNone/>
            </a:pPr>
            <a:r>
              <a:rPr lang="en-US" altLang="zh-CN" dirty="0"/>
              <a:t>    if ( heap == NULL ) {  </a:t>
            </a:r>
            <a:r>
              <a:rPr lang="en-US" altLang="zh-CN" dirty="0" err="1"/>
              <a:t>cerr</a:t>
            </a:r>
            <a:r>
              <a:rPr lang="en-US" altLang="zh-CN" dirty="0"/>
              <a:t> &lt;&lt; "</a:t>
            </a:r>
            <a:r>
              <a:rPr lang="zh-CN" altLang="en-US" dirty="0"/>
              <a:t>存储分配错</a:t>
            </a:r>
            <a:r>
              <a:rPr lang="en-US" altLang="zh-CN" dirty="0"/>
              <a:t>!" &lt;&lt; </a:t>
            </a:r>
            <a:r>
              <a:rPr lang="en-US" altLang="zh-CN" dirty="0" err="1"/>
              <a:t>endl</a:t>
            </a:r>
            <a:r>
              <a:rPr lang="en-US" altLang="zh-CN" dirty="0"/>
              <a:t>;       exit(1);    } </a:t>
            </a:r>
            <a:endParaRPr lang="en-US" altLang="zh-CN" dirty="0"/>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heap[</a:t>
            </a:r>
            <a:r>
              <a:rPr lang="en-US" altLang="zh-CN" dirty="0" err="1"/>
              <a:t>i</a:t>
            </a:r>
            <a:r>
              <a:rPr lang="en-US" altLang="zh-CN" dirty="0"/>
              <a:t>] = </a:t>
            </a:r>
            <a:r>
              <a:rPr lang="en-US" altLang="zh-CN" dirty="0" err="1"/>
              <a:t>arr</a:t>
            </a:r>
            <a:r>
              <a:rPr lang="en-US" altLang="zh-CN" dirty="0"/>
              <a:t>[</a:t>
            </a:r>
            <a:r>
              <a:rPr lang="en-US" altLang="zh-CN" dirty="0" err="1"/>
              <a:t>i</a:t>
            </a:r>
            <a:r>
              <a:rPr lang="en-US" altLang="zh-CN" dirty="0"/>
              <a:t>];  //</a:t>
            </a:r>
            <a:r>
              <a:rPr lang="zh-CN" altLang="en-US" dirty="0"/>
              <a:t>数组传送</a:t>
            </a:r>
            <a:endParaRPr lang="zh-CN" altLang="en-US" dirty="0"/>
          </a:p>
          <a:p>
            <a:pPr marL="0" indent="0">
              <a:buNone/>
            </a:pPr>
            <a:r>
              <a:rPr lang="en-US" altLang="zh-CN" dirty="0"/>
              <a:t>    </a:t>
            </a:r>
            <a:r>
              <a:rPr lang="en-US" altLang="zh-CN" dirty="0" err="1"/>
              <a:t>currentSize</a:t>
            </a:r>
            <a:r>
              <a:rPr lang="en-US" altLang="zh-CN" dirty="0"/>
              <a:t> = n;       //</a:t>
            </a:r>
            <a:r>
              <a:rPr lang="zh-CN" altLang="en-US" dirty="0"/>
              <a:t>当前堆大小</a:t>
            </a:r>
            <a:endParaRPr lang="zh-CN" altLang="en-US" dirty="0"/>
          </a:p>
          <a:p>
            <a:pPr marL="0" indent="0">
              <a:buNone/>
            </a:pPr>
            <a:r>
              <a:rPr lang="zh-CN" altLang="en-US" dirty="0"/>
              <a:t>    </a:t>
            </a:r>
            <a:r>
              <a:rPr lang="en-US" altLang="zh-CN" dirty="0"/>
              <a:t>int </a:t>
            </a:r>
            <a:r>
              <a:rPr lang="en-US" altLang="zh-CN" dirty="0" err="1"/>
              <a:t>currentPos</a:t>
            </a:r>
            <a:r>
              <a:rPr lang="en-US" altLang="zh-CN" dirty="0"/>
              <a:t> = (currentSize-2)/2;   //</a:t>
            </a:r>
            <a:r>
              <a:rPr lang="zh-CN" altLang="en-US" dirty="0"/>
              <a:t>找最初调整位置</a:t>
            </a:r>
            <a:r>
              <a:rPr lang="en-US" altLang="zh-CN" dirty="0"/>
              <a:t>:</a:t>
            </a:r>
            <a:r>
              <a:rPr lang="zh-CN" altLang="en-US" dirty="0"/>
              <a:t>最后的分支结点号    </a:t>
            </a:r>
            <a:endParaRPr lang="zh-CN" altLang="en-US" dirty="0"/>
          </a:p>
          <a:p>
            <a:pPr marL="0" indent="0">
              <a:buNone/>
            </a:pPr>
            <a:r>
              <a:rPr lang="zh-CN" altLang="en-US" dirty="0"/>
              <a:t>    </a:t>
            </a:r>
            <a:r>
              <a:rPr lang="en-US" altLang="zh-CN" dirty="0"/>
              <a:t>while ( </a:t>
            </a:r>
            <a:r>
              <a:rPr lang="en-US" altLang="zh-CN" dirty="0" err="1"/>
              <a:t>currentPos</a:t>
            </a:r>
            <a:r>
              <a:rPr lang="en-US" altLang="zh-CN" dirty="0"/>
              <a:t> &gt;= 0 ) {       //</a:t>
            </a:r>
            <a:r>
              <a:rPr lang="zh-CN" altLang="en-US" dirty="0"/>
              <a:t>从下到上逐步扩大</a:t>
            </a:r>
            <a:r>
              <a:rPr lang="en-US" altLang="zh-CN" dirty="0"/>
              <a:t>,</a:t>
            </a:r>
            <a:r>
              <a:rPr lang="zh-CN" altLang="en-US" dirty="0"/>
              <a:t>形成堆</a:t>
            </a:r>
            <a:endParaRPr lang="zh-CN" altLang="en-US" dirty="0"/>
          </a:p>
          <a:p>
            <a:pPr marL="0" indent="0">
              <a:buNone/>
            </a:pPr>
            <a:r>
              <a:rPr lang="zh-CN" altLang="en-US" dirty="0"/>
              <a:t>        </a:t>
            </a:r>
            <a:r>
              <a:rPr lang="en-US" altLang="zh-CN" dirty="0" err="1"/>
              <a:t>siftDown</a:t>
            </a:r>
            <a:r>
              <a:rPr lang="en-US" altLang="zh-CN" dirty="0"/>
              <a:t> ( </a:t>
            </a:r>
            <a:r>
              <a:rPr lang="en-US" altLang="zh-CN" dirty="0" err="1"/>
              <a:t>currentPos</a:t>
            </a:r>
            <a:r>
              <a:rPr lang="en-US" altLang="zh-CN" dirty="0"/>
              <a:t>, currentSize-1 );  //</a:t>
            </a:r>
            <a:r>
              <a:rPr lang="zh-CN" altLang="en-US" dirty="0"/>
              <a:t>从</a:t>
            </a:r>
            <a:r>
              <a:rPr lang="en-US" altLang="zh-CN" dirty="0" err="1"/>
              <a:t>currentPos</a:t>
            </a:r>
            <a:r>
              <a:rPr lang="zh-CN" altLang="en-US" dirty="0"/>
              <a:t>到</a:t>
            </a:r>
            <a:r>
              <a:rPr lang="en-US" altLang="zh-CN" dirty="0" err="1"/>
              <a:t>currentSize</a:t>
            </a:r>
            <a:r>
              <a:rPr lang="en-US" altLang="zh-CN" dirty="0"/>
              <a:t>, </a:t>
            </a:r>
            <a:r>
              <a:rPr lang="zh-CN" altLang="en-US" dirty="0"/>
              <a:t>调整</a:t>
            </a:r>
            <a:endParaRPr lang="zh-CN" altLang="en-US" dirty="0"/>
          </a:p>
          <a:p>
            <a:pPr marL="0" indent="0">
              <a:buNone/>
            </a:pPr>
            <a:r>
              <a:rPr lang="zh-CN" altLang="en-US" dirty="0"/>
              <a:t>        </a:t>
            </a:r>
            <a:r>
              <a:rPr lang="en-US" altLang="zh-CN" dirty="0" err="1"/>
              <a:t>currentPos</a:t>
            </a:r>
            <a:r>
              <a:rPr lang="en-US" altLang="zh-CN" dirty="0"/>
              <a:t>--;				</a:t>
            </a:r>
            <a:endParaRPr lang="en-US" altLang="zh-CN" dirty="0"/>
          </a:p>
          <a:p>
            <a:pPr marL="0" indent="0">
              <a:buNone/>
            </a:pPr>
            <a:r>
              <a:rPr lang="en-US" altLang="zh-CN" dirty="0"/>
              <a:t>    }</a:t>
            </a:r>
            <a:endParaRPr lang="en-US" altLang="zh-CN" dirty="0"/>
          </a:p>
          <a:p>
            <a:pPr marL="0" indent="0">
              <a:buNone/>
            </a:pPr>
            <a:r>
              <a:rPr lang="en-US" altLang="zh-CN" dirty="0"/>
              <a:t>}</a:t>
            </a: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Line 22"/>
          <p:cNvSpPr>
            <a:spLocks noChangeShapeType="1"/>
          </p:cNvSpPr>
          <p:nvPr/>
        </p:nvSpPr>
        <p:spPr bwMode="auto">
          <a:xfrm>
            <a:off x="3429000" y="2819400"/>
            <a:ext cx="381000" cy="6858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47" name="Line 21"/>
          <p:cNvSpPr>
            <a:spLocks noChangeShapeType="1"/>
          </p:cNvSpPr>
          <p:nvPr/>
        </p:nvSpPr>
        <p:spPr bwMode="auto">
          <a:xfrm flipH="1">
            <a:off x="3124200" y="2895600"/>
            <a:ext cx="2286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48" name="Line 20"/>
          <p:cNvSpPr>
            <a:spLocks noChangeShapeType="1"/>
          </p:cNvSpPr>
          <p:nvPr/>
        </p:nvSpPr>
        <p:spPr bwMode="auto">
          <a:xfrm>
            <a:off x="28956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49" name="Line 19"/>
          <p:cNvSpPr>
            <a:spLocks noChangeShapeType="1"/>
          </p:cNvSpPr>
          <p:nvPr/>
        </p:nvSpPr>
        <p:spPr bwMode="auto">
          <a:xfrm>
            <a:off x="2209800" y="2895600"/>
            <a:ext cx="1524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50" name="Line 18"/>
          <p:cNvSpPr>
            <a:spLocks noChangeShapeType="1"/>
          </p:cNvSpPr>
          <p:nvPr/>
        </p:nvSpPr>
        <p:spPr bwMode="auto">
          <a:xfrm flipH="1">
            <a:off x="22860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51" name="Line 17"/>
          <p:cNvSpPr>
            <a:spLocks noChangeShapeType="1"/>
          </p:cNvSpPr>
          <p:nvPr/>
        </p:nvSpPr>
        <p:spPr bwMode="auto">
          <a:xfrm flipH="1">
            <a:off x="1143000" y="2895600"/>
            <a:ext cx="914400" cy="15240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59" name="Text Box 3"/>
          <p:cNvSpPr txBox="1">
            <a:spLocks noChangeArrowheads="1"/>
          </p:cNvSpPr>
          <p:nvPr/>
        </p:nvSpPr>
        <p:spPr bwMode="auto">
          <a:xfrm>
            <a:off x="1676400" y="5668963"/>
            <a:ext cx="6210300" cy="579437"/>
          </a:xfrm>
          <a:prstGeom prst="rect">
            <a:avLst/>
          </a:prstGeom>
          <a:noFill/>
          <a:ln w="9525">
            <a:noFill/>
            <a:miter lim="800000"/>
          </a:ln>
          <a:effectLst/>
        </p:spPr>
        <p:txBody>
          <a:bodyPr>
            <a:spAutoFit/>
          </a:bodyPr>
          <a:lstStyle/>
          <a:p>
            <a:pPr eaLnBrk="1" fontAlgn="auto" hangingPunct="1">
              <a:spcBef>
                <a:spcPct val="50000"/>
              </a:spcBef>
              <a:spcAft>
                <a:spcPts val="0"/>
              </a:spcAft>
              <a:defRPr/>
            </a:pPr>
            <a:r>
              <a:rPr lang="zh-CN" altLang="en-US" sz="3200">
                <a:solidFill>
                  <a:srgbClr val="008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自下向上逐步调整为最小堆</a:t>
            </a:r>
            <a:endParaRPr lang="zh-CN" altLang="en-US" sz="2100">
              <a:latin typeface="Times New Roman" panose="02020603050405020304" pitchFamily="18" charset="0"/>
              <a:ea typeface="+mn-ea"/>
            </a:endParaRPr>
          </a:p>
        </p:txBody>
      </p:sp>
      <p:sp>
        <p:nvSpPr>
          <p:cNvPr id="134154" name="Oval 5"/>
          <p:cNvSpPr>
            <a:spLocks noChangeArrowheads="1"/>
          </p:cNvSpPr>
          <p:nvPr/>
        </p:nvSpPr>
        <p:spPr bwMode="auto">
          <a:xfrm>
            <a:off x="25146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55" name="Oval 10"/>
          <p:cNvSpPr>
            <a:spLocks noChangeArrowheads="1"/>
          </p:cNvSpPr>
          <p:nvPr/>
        </p:nvSpPr>
        <p:spPr bwMode="auto">
          <a:xfrm>
            <a:off x="1371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56" name="Oval 11"/>
          <p:cNvSpPr>
            <a:spLocks noChangeArrowheads="1"/>
          </p:cNvSpPr>
          <p:nvPr/>
        </p:nvSpPr>
        <p:spPr bwMode="auto">
          <a:xfrm>
            <a:off x="2133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57" name="Oval 12"/>
          <p:cNvSpPr>
            <a:spLocks noChangeArrowheads="1"/>
          </p:cNvSpPr>
          <p:nvPr/>
        </p:nvSpPr>
        <p:spPr bwMode="auto">
          <a:xfrm>
            <a:off x="2819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58" name="Oval 13"/>
          <p:cNvSpPr>
            <a:spLocks noChangeArrowheads="1"/>
          </p:cNvSpPr>
          <p:nvPr/>
        </p:nvSpPr>
        <p:spPr bwMode="auto">
          <a:xfrm>
            <a:off x="3581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59" name="Oval 14"/>
          <p:cNvSpPr>
            <a:spLocks noChangeArrowheads="1"/>
          </p:cNvSpPr>
          <p:nvPr/>
        </p:nvSpPr>
        <p:spPr bwMode="auto">
          <a:xfrm>
            <a:off x="8382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60" name="Oval 15"/>
          <p:cNvSpPr>
            <a:spLocks noChangeArrowheads="1"/>
          </p:cNvSpPr>
          <p:nvPr/>
        </p:nvSpPr>
        <p:spPr bwMode="auto">
          <a:xfrm>
            <a:off x="19050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61" name="Oval 16"/>
          <p:cNvSpPr>
            <a:spLocks noChangeArrowheads="1"/>
          </p:cNvSpPr>
          <p:nvPr/>
        </p:nvSpPr>
        <p:spPr bwMode="auto">
          <a:xfrm>
            <a:off x="31242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62" name="Line 23"/>
          <p:cNvSpPr>
            <a:spLocks noChangeShapeType="1"/>
          </p:cNvSpPr>
          <p:nvPr/>
        </p:nvSpPr>
        <p:spPr bwMode="auto">
          <a:xfrm>
            <a:off x="7086600" y="2819400"/>
            <a:ext cx="381000" cy="6858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3" name="Line 24"/>
          <p:cNvSpPr>
            <a:spLocks noChangeShapeType="1"/>
          </p:cNvSpPr>
          <p:nvPr/>
        </p:nvSpPr>
        <p:spPr bwMode="auto">
          <a:xfrm flipH="1">
            <a:off x="6781800" y="2895600"/>
            <a:ext cx="2286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4" name="Line 25"/>
          <p:cNvSpPr>
            <a:spLocks noChangeShapeType="1"/>
          </p:cNvSpPr>
          <p:nvPr/>
        </p:nvSpPr>
        <p:spPr bwMode="auto">
          <a:xfrm>
            <a:off x="65532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5" name="Line 26"/>
          <p:cNvSpPr>
            <a:spLocks noChangeShapeType="1"/>
          </p:cNvSpPr>
          <p:nvPr/>
        </p:nvSpPr>
        <p:spPr bwMode="auto">
          <a:xfrm>
            <a:off x="5867400" y="2895600"/>
            <a:ext cx="1524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6" name="Line 27"/>
          <p:cNvSpPr>
            <a:spLocks noChangeShapeType="1"/>
          </p:cNvSpPr>
          <p:nvPr/>
        </p:nvSpPr>
        <p:spPr bwMode="auto">
          <a:xfrm flipH="1">
            <a:off x="59436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7" name="Line 28"/>
          <p:cNvSpPr>
            <a:spLocks noChangeShapeType="1"/>
          </p:cNvSpPr>
          <p:nvPr/>
        </p:nvSpPr>
        <p:spPr bwMode="auto">
          <a:xfrm flipH="1">
            <a:off x="4800600" y="2895600"/>
            <a:ext cx="914400" cy="15240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8" name="Oval 30"/>
          <p:cNvSpPr>
            <a:spLocks noChangeArrowheads="1"/>
          </p:cNvSpPr>
          <p:nvPr/>
        </p:nvSpPr>
        <p:spPr bwMode="auto">
          <a:xfrm>
            <a:off x="61722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69" name="Oval 31"/>
          <p:cNvSpPr>
            <a:spLocks noChangeArrowheads="1"/>
          </p:cNvSpPr>
          <p:nvPr/>
        </p:nvSpPr>
        <p:spPr bwMode="auto">
          <a:xfrm>
            <a:off x="5029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0" name="Oval 32"/>
          <p:cNvSpPr>
            <a:spLocks noChangeArrowheads="1"/>
          </p:cNvSpPr>
          <p:nvPr/>
        </p:nvSpPr>
        <p:spPr bwMode="auto">
          <a:xfrm>
            <a:off x="5791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1" name="Oval 33"/>
          <p:cNvSpPr>
            <a:spLocks noChangeArrowheads="1"/>
          </p:cNvSpPr>
          <p:nvPr/>
        </p:nvSpPr>
        <p:spPr bwMode="auto">
          <a:xfrm>
            <a:off x="6477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2" name="Oval 34"/>
          <p:cNvSpPr>
            <a:spLocks noChangeArrowheads="1"/>
          </p:cNvSpPr>
          <p:nvPr/>
        </p:nvSpPr>
        <p:spPr bwMode="auto">
          <a:xfrm>
            <a:off x="7239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3" name="Oval 35"/>
          <p:cNvSpPr>
            <a:spLocks noChangeArrowheads="1"/>
          </p:cNvSpPr>
          <p:nvPr/>
        </p:nvSpPr>
        <p:spPr bwMode="auto">
          <a:xfrm>
            <a:off x="4495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4" name="Oval 36"/>
          <p:cNvSpPr>
            <a:spLocks noChangeArrowheads="1"/>
          </p:cNvSpPr>
          <p:nvPr/>
        </p:nvSpPr>
        <p:spPr bwMode="auto">
          <a:xfrm>
            <a:off x="55626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5" name="Oval 37"/>
          <p:cNvSpPr>
            <a:spLocks noChangeArrowheads="1"/>
          </p:cNvSpPr>
          <p:nvPr/>
        </p:nvSpPr>
        <p:spPr bwMode="auto">
          <a:xfrm>
            <a:off x="67818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6" name="Text Box 38"/>
          <p:cNvSpPr txBox="1">
            <a:spLocks noChangeArrowheads="1"/>
          </p:cNvSpPr>
          <p:nvPr/>
        </p:nvSpPr>
        <p:spPr bwMode="auto">
          <a:xfrm>
            <a:off x="25400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4177" name="Text Box 39"/>
          <p:cNvSpPr txBox="1">
            <a:spLocks noChangeArrowheads="1"/>
          </p:cNvSpPr>
          <p:nvPr/>
        </p:nvSpPr>
        <p:spPr bwMode="auto">
          <a:xfrm>
            <a:off x="61976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4178" name="Text Box 40"/>
          <p:cNvSpPr txBox="1">
            <a:spLocks noChangeArrowheads="1"/>
          </p:cNvSpPr>
          <p:nvPr/>
        </p:nvSpPr>
        <p:spPr bwMode="auto">
          <a:xfrm>
            <a:off x="19304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4179" name="Text Box 41"/>
          <p:cNvSpPr txBox="1">
            <a:spLocks noChangeArrowheads="1"/>
          </p:cNvSpPr>
          <p:nvPr/>
        </p:nvSpPr>
        <p:spPr bwMode="auto">
          <a:xfrm>
            <a:off x="55880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4180" name="Text Box 42"/>
          <p:cNvSpPr txBox="1">
            <a:spLocks noChangeArrowheads="1"/>
          </p:cNvSpPr>
          <p:nvPr/>
        </p:nvSpPr>
        <p:spPr bwMode="auto">
          <a:xfrm>
            <a:off x="31496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4181" name="Text Box 43"/>
          <p:cNvSpPr txBox="1">
            <a:spLocks noChangeArrowheads="1"/>
          </p:cNvSpPr>
          <p:nvPr/>
        </p:nvSpPr>
        <p:spPr bwMode="auto">
          <a:xfrm>
            <a:off x="68072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4182" name="Text Box 44"/>
          <p:cNvSpPr txBox="1">
            <a:spLocks noChangeArrowheads="1"/>
          </p:cNvSpPr>
          <p:nvPr/>
        </p:nvSpPr>
        <p:spPr bwMode="auto">
          <a:xfrm>
            <a:off x="863600" y="4281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4183" name="Text Box 45"/>
          <p:cNvSpPr txBox="1">
            <a:spLocks noChangeArrowheads="1"/>
          </p:cNvSpPr>
          <p:nvPr/>
        </p:nvSpPr>
        <p:spPr bwMode="auto">
          <a:xfrm>
            <a:off x="13716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4184" name="Text Box 46"/>
          <p:cNvSpPr txBox="1">
            <a:spLocks noChangeArrowheads="1"/>
          </p:cNvSpPr>
          <p:nvPr/>
        </p:nvSpPr>
        <p:spPr bwMode="auto">
          <a:xfrm>
            <a:off x="2159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4185" name="Text Box 47"/>
          <p:cNvSpPr txBox="1">
            <a:spLocks noChangeArrowheads="1"/>
          </p:cNvSpPr>
          <p:nvPr/>
        </p:nvSpPr>
        <p:spPr bwMode="auto">
          <a:xfrm>
            <a:off x="2844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4186" name="Text Box 48"/>
          <p:cNvSpPr txBox="1">
            <a:spLocks noChangeArrowheads="1"/>
          </p:cNvSpPr>
          <p:nvPr/>
        </p:nvSpPr>
        <p:spPr bwMode="auto">
          <a:xfrm>
            <a:off x="3606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4187" name="Line 49"/>
          <p:cNvSpPr>
            <a:spLocks noChangeShapeType="1"/>
          </p:cNvSpPr>
          <p:nvPr/>
        </p:nvSpPr>
        <p:spPr bwMode="auto">
          <a:xfrm>
            <a:off x="1295400" y="2971800"/>
            <a:ext cx="228600"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88" name="Text Box 50"/>
          <p:cNvSpPr txBox="1">
            <a:spLocks noChangeArrowheads="1"/>
          </p:cNvSpPr>
          <p:nvPr/>
        </p:nvSpPr>
        <p:spPr bwMode="auto">
          <a:xfrm>
            <a:off x="1060450" y="25146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4189" name="Rectangle 51"/>
          <p:cNvSpPr>
            <a:spLocks noChangeArrowheads="1"/>
          </p:cNvSpPr>
          <p:nvPr/>
        </p:nvSpPr>
        <p:spPr bwMode="auto">
          <a:xfrm>
            <a:off x="762000" y="3200400"/>
            <a:ext cx="1219200" cy="1676400"/>
          </a:xfrm>
          <a:prstGeom prst="rect">
            <a:avLst/>
          </a:prstGeom>
          <a:noFill/>
          <a:ln w="38100">
            <a:solidFill>
              <a:srgbClr val="0099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90" name="Text Box 52"/>
          <p:cNvSpPr txBox="1">
            <a:spLocks noChangeArrowheads="1"/>
          </p:cNvSpPr>
          <p:nvPr/>
        </p:nvSpPr>
        <p:spPr bwMode="auto">
          <a:xfrm>
            <a:off x="50546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4191" name="Text Box 53"/>
          <p:cNvSpPr txBox="1">
            <a:spLocks noChangeArrowheads="1"/>
          </p:cNvSpPr>
          <p:nvPr/>
        </p:nvSpPr>
        <p:spPr bwMode="auto">
          <a:xfrm>
            <a:off x="4521200" y="4281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4192" name="Text Box 54"/>
          <p:cNvSpPr txBox="1">
            <a:spLocks noChangeArrowheads="1"/>
          </p:cNvSpPr>
          <p:nvPr/>
        </p:nvSpPr>
        <p:spPr bwMode="auto">
          <a:xfrm>
            <a:off x="5816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4193" name="Text Box 55"/>
          <p:cNvSpPr txBox="1">
            <a:spLocks noChangeArrowheads="1"/>
          </p:cNvSpPr>
          <p:nvPr/>
        </p:nvSpPr>
        <p:spPr bwMode="auto">
          <a:xfrm>
            <a:off x="6502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4194" name="Text Box 56"/>
          <p:cNvSpPr txBox="1">
            <a:spLocks noChangeArrowheads="1"/>
          </p:cNvSpPr>
          <p:nvPr/>
        </p:nvSpPr>
        <p:spPr bwMode="auto">
          <a:xfrm>
            <a:off x="7264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4195" name="Text Box 57"/>
          <p:cNvSpPr txBox="1">
            <a:spLocks noChangeArrowheads="1"/>
          </p:cNvSpPr>
          <p:nvPr/>
        </p:nvSpPr>
        <p:spPr bwMode="auto">
          <a:xfrm>
            <a:off x="1149350" y="4876800"/>
            <a:ext cx="2900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currentPos = i = 3</a:t>
            </a:r>
            <a:endParaRPr kumimoji="1" lang="en-US" altLang="zh-CN" sz="2400">
              <a:latin typeface="Times New Roman" panose="02020603050405020304" pitchFamily="18" charset="0"/>
              <a:ea typeface="宋体" panose="02010600030101010101" pitchFamily="2" charset="-122"/>
            </a:endParaRPr>
          </a:p>
        </p:txBody>
      </p:sp>
      <p:sp>
        <p:nvSpPr>
          <p:cNvPr id="134196" name="Text Box 58"/>
          <p:cNvSpPr txBox="1">
            <a:spLocks noChangeArrowheads="1"/>
          </p:cNvSpPr>
          <p:nvPr/>
        </p:nvSpPr>
        <p:spPr bwMode="auto">
          <a:xfrm>
            <a:off x="4959350" y="4876800"/>
            <a:ext cx="2900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currentPos = i = 2</a:t>
            </a:r>
            <a:endParaRPr kumimoji="1" lang="en-US" altLang="zh-CN" sz="2400">
              <a:latin typeface="Times New Roman" panose="02020603050405020304" pitchFamily="18" charset="0"/>
              <a:ea typeface="宋体" panose="02010600030101010101" pitchFamily="2" charset="-122"/>
            </a:endParaRPr>
          </a:p>
        </p:txBody>
      </p:sp>
      <p:sp>
        <p:nvSpPr>
          <p:cNvPr id="134197" name="Line 59"/>
          <p:cNvSpPr>
            <a:spLocks noChangeShapeType="1"/>
          </p:cNvSpPr>
          <p:nvPr/>
        </p:nvSpPr>
        <p:spPr bwMode="auto">
          <a:xfrm flipH="1">
            <a:off x="7119938" y="2057400"/>
            <a:ext cx="271462"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98" name="Text Box 60"/>
          <p:cNvSpPr txBox="1">
            <a:spLocks noChangeArrowheads="1"/>
          </p:cNvSpPr>
          <p:nvPr/>
        </p:nvSpPr>
        <p:spPr bwMode="auto">
          <a:xfrm>
            <a:off x="7308850" y="16002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4199" name="Rectangle 61"/>
          <p:cNvSpPr>
            <a:spLocks noChangeArrowheads="1"/>
          </p:cNvSpPr>
          <p:nvPr/>
        </p:nvSpPr>
        <p:spPr bwMode="auto">
          <a:xfrm>
            <a:off x="6400800" y="2362200"/>
            <a:ext cx="1447800" cy="1600200"/>
          </a:xfrm>
          <a:prstGeom prst="rect">
            <a:avLst/>
          </a:prstGeom>
          <a:noFill/>
          <a:ln w="38100">
            <a:solidFill>
              <a:srgbClr val="0099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200" name="Line 62"/>
          <p:cNvSpPr>
            <a:spLocks noChangeShapeType="1"/>
          </p:cNvSpPr>
          <p:nvPr/>
        </p:nvSpPr>
        <p:spPr bwMode="auto">
          <a:xfrm flipH="1">
            <a:off x="1066800" y="3733800"/>
            <a:ext cx="228600" cy="457200"/>
          </a:xfrm>
          <a:prstGeom prst="line">
            <a:avLst/>
          </a:prstGeom>
          <a:noFill/>
          <a:ln w="28575">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01" name="Line 63"/>
          <p:cNvSpPr>
            <a:spLocks noChangeShapeType="1"/>
          </p:cNvSpPr>
          <p:nvPr/>
        </p:nvSpPr>
        <p:spPr bwMode="auto">
          <a:xfrm flipH="1">
            <a:off x="6629400" y="2895600"/>
            <a:ext cx="152400" cy="381000"/>
          </a:xfrm>
          <a:prstGeom prst="line">
            <a:avLst/>
          </a:prstGeom>
          <a:noFill/>
          <a:ln w="28575">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p:cNvSpPr>
            <a:spLocks noGrp="1"/>
          </p:cNvSpPr>
          <p:nvPr>
            <p:ph type="title"/>
          </p:nvPr>
        </p:nvSpPr>
        <p:spPr/>
        <p:txBody>
          <a:bodyPr/>
          <a:lstStyle/>
          <a:p>
            <a:r>
              <a:rPr lang="zh-CN" altLang="en-US" dirty="0"/>
              <a:t>将数组调整成最小堆</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Line 2"/>
          <p:cNvSpPr>
            <a:spLocks noChangeShapeType="1"/>
          </p:cNvSpPr>
          <p:nvPr/>
        </p:nvSpPr>
        <p:spPr bwMode="auto">
          <a:xfrm>
            <a:off x="3429000" y="2819400"/>
            <a:ext cx="381000" cy="6858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71" name="Line 3"/>
          <p:cNvSpPr>
            <a:spLocks noChangeShapeType="1"/>
          </p:cNvSpPr>
          <p:nvPr/>
        </p:nvSpPr>
        <p:spPr bwMode="auto">
          <a:xfrm flipH="1">
            <a:off x="3124200" y="2895600"/>
            <a:ext cx="2286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72" name="Line 4"/>
          <p:cNvSpPr>
            <a:spLocks noChangeShapeType="1"/>
          </p:cNvSpPr>
          <p:nvPr/>
        </p:nvSpPr>
        <p:spPr bwMode="auto">
          <a:xfrm>
            <a:off x="28956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73" name="Line 5"/>
          <p:cNvSpPr>
            <a:spLocks noChangeShapeType="1"/>
          </p:cNvSpPr>
          <p:nvPr/>
        </p:nvSpPr>
        <p:spPr bwMode="auto">
          <a:xfrm>
            <a:off x="2209800" y="2895600"/>
            <a:ext cx="1524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74" name="Line 6"/>
          <p:cNvSpPr>
            <a:spLocks noChangeShapeType="1"/>
          </p:cNvSpPr>
          <p:nvPr/>
        </p:nvSpPr>
        <p:spPr bwMode="auto">
          <a:xfrm flipH="1">
            <a:off x="22860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75" name="Line 7"/>
          <p:cNvSpPr>
            <a:spLocks noChangeShapeType="1"/>
          </p:cNvSpPr>
          <p:nvPr/>
        </p:nvSpPr>
        <p:spPr bwMode="auto">
          <a:xfrm flipH="1">
            <a:off x="1143000" y="2895600"/>
            <a:ext cx="914400" cy="15240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76" name="Oval 8"/>
          <p:cNvSpPr>
            <a:spLocks noChangeArrowheads="1"/>
          </p:cNvSpPr>
          <p:nvPr/>
        </p:nvSpPr>
        <p:spPr bwMode="auto">
          <a:xfrm>
            <a:off x="25146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77" name="Oval 9"/>
          <p:cNvSpPr>
            <a:spLocks noChangeArrowheads="1"/>
          </p:cNvSpPr>
          <p:nvPr/>
        </p:nvSpPr>
        <p:spPr bwMode="auto">
          <a:xfrm>
            <a:off x="1371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78" name="Oval 10"/>
          <p:cNvSpPr>
            <a:spLocks noChangeArrowheads="1"/>
          </p:cNvSpPr>
          <p:nvPr/>
        </p:nvSpPr>
        <p:spPr bwMode="auto">
          <a:xfrm>
            <a:off x="2133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79" name="Oval 11"/>
          <p:cNvSpPr>
            <a:spLocks noChangeArrowheads="1"/>
          </p:cNvSpPr>
          <p:nvPr/>
        </p:nvSpPr>
        <p:spPr bwMode="auto">
          <a:xfrm>
            <a:off x="2819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80" name="Oval 12"/>
          <p:cNvSpPr>
            <a:spLocks noChangeArrowheads="1"/>
          </p:cNvSpPr>
          <p:nvPr/>
        </p:nvSpPr>
        <p:spPr bwMode="auto">
          <a:xfrm>
            <a:off x="3581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81" name="Oval 13"/>
          <p:cNvSpPr>
            <a:spLocks noChangeArrowheads="1"/>
          </p:cNvSpPr>
          <p:nvPr/>
        </p:nvSpPr>
        <p:spPr bwMode="auto">
          <a:xfrm>
            <a:off x="8382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82" name="Oval 14"/>
          <p:cNvSpPr>
            <a:spLocks noChangeArrowheads="1"/>
          </p:cNvSpPr>
          <p:nvPr/>
        </p:nvSpPr>
        <p:spPr bwMode="auto">
          <a:xfrm>
            <a:off x="19050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83" name="Oval 15"/>
          <p:cNvSpPr>
            <a:spLocks noChangeArrowheads="1"/>
          </p:cNvSpPr>
          <p:nvPr/>
        </p:nvSpPr>
        <p:spPr bwMode="auto">
          <a:xfrm>
            <a:off x="31242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84" name="Line 16"/>
          <p:cNvSpPr>
            <a:spLocks noChangeShapeType="1"/>
          </p:cNvSpPr>
          <p:nvPr/>
        </p:nvSpPr>
        <p:spPr bwMode="auto">
          <a:xfrm>
            <a:off x="7086600" y="2819400"/>
            <a:ext cx="381000" cy="6858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85" name="Line 17"/>
          <p:cNvSpPr>
            <a:spLocks noChangeShapeType="1"/>
          </p:cNvSpPr>
          <p:nvPr/>
        </p:nvSpPr>
        <p:spPr bwMode="auto">
          <a:xfrm flipH="1">
            <a:off x="6781800" y="2895600"/>
            <a:ext cx="2286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86" name="Line 18"/>
          <p:cNvSpPr>
            <a:spLocks noChangeShapeType="1"/>
          </p:cNvSpPr>
          <p:nvPr/>
        </p:nvSpPr>
        <p:spPr bwMode="auto">
          <a:xfrm>
            <a:off x="65532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87" name="Line 19"/>
          <p:cNvSpPr>
            <a:spLocks noChangeShapeType="1"/>
          </p:cNvSpPr>
          <p:nvPr/>
        </p:nvSpPr>
        <p:spPr bwMode="auto">
          <a:xfrm>
            <a:off x="5867400" y="2895600"/>
            <a:ext cx="1524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88" name="Line 20"/>
          <p:cNvSpPr>
            <a:spLocks noChangeShapeType="1"/>
          </p:cNvSpPr>
          <p:nvPr/>
        </p:nvSpPr>
        <p:spPr bwMode="auto">
          <a:xfrm flipH="1">
            <a:off x="59436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89" name="Line 21"/>
          <p:cNvSpPr>
            <a:spLocks noChangeShapeType="1"/>
          </p:cNvSpPr>
          <p:nvPr/>
        </p:nvSpPr>
        <p:spPr bwMode="auto">
          <a:xfrm flipH="1">
            <a:off x="4800600" y="2895600"/>
            <a:ext cx="914400" cy="15240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90" name="Oval 22"/>
          <p:cNvSpPr>
            <a:spLocks noChangeArrowheads="1"/>
          </p:cNvSpPr>
          <p:nvPr/>
        </p:nvSpPr>
        <p:spPr bwMode="auto">
          <a:xfrm>
            <a:off x="61722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1" name="Oval 23"/>
          <p:cNvSpPr>
            <a:spLocks noChangeArrowheads="1"/>
          </p:cNvSpPr>
          <p:nvPr/>
        </p:nvSpPr>
        <p:spPr bwMode="auto">
          <a:xfrm>
            <a:off x="5029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2" name="Oval 24"/>
          <p:cNvSpPr>
            <a:spLocks noChangeArrowheads="1"/>
          </p:cNvSpPr>
          <p:nvPr/>
        </p:nvSpPr>
        <p:spPr bwMode="auto">
          <a:xfrm>
            <a:off x="5791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3" name="Oval 25"/>
          <p:cNvSpPr>
            <a:spLocks noChangeArrowheads="1"/>
          </p:cNvSpPr>
          <p:nvPr/>
        </p:nvSpPr>
        <p:spPr bwMode="auto">
          <a:xfrm>
            <a:off x="6477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4" name="Oval 26"/>
          <p:cNvSpPr>
            <a:spLocks noChangeArrowheads="1"/>
          </p:cNvSpPr>
          <p:nvPr/>
        </p:nvSpPr>
        <p:spPr bwMode="auto">
          <a:xfrm>
            <a:off x="7239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5" name="Oval 27"/>
          <p:cNvSpPr>
            <a:spLocks noChangeArrowheads="1"/>
          </p:cNvSpPr>
          <p:nvPr/>
        </p:nvSpPr>
        <p:spPr bwMode="auto">
          <a:xfrm>
            <a:off x="4495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6" name="Oval 28"/>
          <p:cNvSpPr>
            <a:spLocks noChangeArrowheads="1"/>
          </p:cNvSpPr>
          <p:nvPr/>
        </p:nvSpPr>
        <p:spPr bwMode="auto">
          <a:xfrm>
            <a:off x="55626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7" name="Oval 29"/>
          <p:cNvSpPr>
            <a:spLocks noChangeArrowheads="1"/>
          </p:cNvSpPr>
          <p:nvPr/>
        </p:nvSpPr>
        <p:spPr bwMode="auto">
          <a:xfrm>
            <a:off x="67818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8" name="Text Box 30"/>
          <p:cNvSpPr txBox="1">
            <a:spLocks noChangeArrowheads="1"/>
          </p:cNvSpPr>
          <p:nvPr/>
        </p:nvSpPr>
        <p:spPr bwMode="auto">
          <a:xfrm>
            <a:off x="25400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5199" name="Text Box 31"/>
          <p:cNvSpPr txBox="1">
            <a:spLocks noChangeArrowheads="1"/>
          </p:cNvSpPr>
          <p:nvPr/>
        </p:nvSpPr>
        <p:spPr bwMode="auto">
          <a:xfrm>
            <a:off x="61976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5200" name="Text Box 32"/>
          <p:cNvSpPr txBox="1">
            <a:spLocks noChangeArrowheads="1"/>
          </p:cNvSpPr>
          <p:nvPr/>
        </p:nvSpPr>
        <p:spPr bwMode="auto">
          <a:xfrm>
            <a:off x="19304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5201" name="Text Box 33"/>
          <p:cNvSpPr txBox="1">
            <a:spLocks noChangeArrowheads="1"/>
          </p:cNvSpPr>
          <p:nvPr/>
        </p:nvSpPr>
        <p:spPr bwMode="auto">
          <a:xfrm>
            <a:off x="50546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5202" name="Text Box 34"/>
          <p:cNvSpPr txBox="1">
            <a:spLocks noChangeArrowheads="1"/>
          </p:cNvSpPr>
          <p:nvPr/>
        </p:nvSpPr>
        <p:spPr bwMode="auto">
          <a:xfrm>
            <a:off x="28448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5203" name="Text Box 35"/>
          <p:cNvSpPr txBox="1">
            <a:spLocks noChangeArrowheads="1"/>
          </p:cNvSpPr>
          <p:nvPr/>
        </p:nvSpPr>
        <p:spPr bwMode="auto">
          <a:xfrm>
            <a:off x="647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5204" name="Text Box 36"/>
          <p:cNvSpPr txBox="1">
            <a:spLocks noChangeArrowheads="1"/>
          </p:cNvSpPr>
          <p:nvPr/>
        </p:nvSpPr>
        <p:spPr bwMode="auto">
          <a:xfrm>
            <a:off x="139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5205" name="Text Box 37"/>
          <p:cNvSpPr txBox="1">
            <a:spLocks noChangeArrowheads="1"/>
          </p:cNvSpPr>
          <p:nvPr/>
        </p:nvSpPr>
        <p:spPr bwMode="auto">
          <a:xfrm>
            <a:off x="8636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5206" name="Text Box 38"/>
          <p:cNvSpPr txBox="1">
            <a:spLocks noChangeArrowheads="1"/>
          </p:cNvSpPr>
          <p:nvPr/>
        </p:nvSpPr>
        <p:spPr bwMode="auto">
          <a:xfrm>
            <a:off x="2159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5207" name="Text Box 39"/>
          <p:cNvSpPr txBox="1">
            <a:spLocks noChangeArrowheads="1"/>
          </p:cNvSpPr>
          <p:nvPr/>
        </p:nvSpPr>
        <p:spPr bwMode="auto">
          <a:xfrm>
            <a:off x="31496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5208" name="Text Box 40"/>
          <p:cNvSpPr txBox="1">
            <a:spLocks noChangeArrowheads="1"/>
          </p:cNvSpPr>
          <p:nvPr/>
        </p:nvSpPr>
        <p:spPr bwMode="auto">
          <a:xfrm>
            <a:off x="3606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5209" name="Line 41"/>
          <p:cNvSpPr>
            <a:spLocks noChangeShapeType="1"/>
          </p:cNvSpPr>
          <p:nvPr/>
        </p:nvSpPr>
        <p:spPr bwMode="auto">
          <a:xfrm>
            <a:off x="1828800" y="2057400"/>
            <a:ext cx="228600"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210" name="Text Box 42"/>
          <p:cNvSpPr txBox="1">
            <a:spLocks noChangeArrowheads="1"/>
          </p:cNvSpPr>
          <p:nvPr/>
        </p:nvSpPr>
        <p:spPr bwMode="auto">
          <a:xfrm>
            <a:off x="1706563" y="16002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5211" name="Rectangle 43"/>
          <p:cNvSpPr>
            <a:spLocks noChangeArrowheads="1"/>
          </p:cNvSpPr>
          <p:nvPr/>
        </p:nvSpPr>
        <p:spPr bwMode="auto">
          <a:xfrm>
            <a:off x="1295400" y="2362200"/>
            <a:ext cx="1447800" cy="1676400"/>
          </a:xfrm>
          <a:prstGeom prst="rect">
            <a:avLst/>
          </a:prstGeom>
          <a:noFill/>
          <a:ln w="38100">
            <a:solidFill>
              <a:srgbClr val="0099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212" name="Text Box 44"/>
          <p:cNvSpPr txBox="1">
            <a:spLocks noChangeArrowheads="1"/>
          </p:cNvSpPr>
          <p:nvPr/>
        </p:nvSpPr>
        <p:spPr bwMode="auto">
          <a:xfrm>
            <a:off x="55880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5213" name="Text Box 45"/>
          <p:cNvSpPr txBox="1">
            <a:spLocks noChangeArrowheads="1"/>
          </p:cNvSpPr>
          <p:nvPr/>
        </p:nvSpPr>
        <p:spPr bwMode="auto">
          <a:xfrm>
            <a:off x="4521200" y="4281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5214" name="Text Box 46"/>
          <p:cNvSpPr txBox="1">
            <a:spLocks noChangeArrowheads="1"/>
          </p:cNvSpPr>
          <p:nvPr/>
        </p:nvSpPr>
        <p:spPr bwMode="auto">
          <a:xfrm>
            <a:off x="5816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5215" name="Text Box 47"/>
          <p:cNvSpPr txBox="1">
            <a:spLocks noChangeArrowheads="1"/>
          </p:cNvSpPr>
          <p:nvPr/>
        </p:nvSpPr>
        <p:spPr bwMode="auto">
          <a:xfrm>
            <a:off x="68072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5216" name="Text Box 48"/>
          <p:cNvSpPr txBox="1">
            <a:spLocks noChangeArrowheads="1"/>
          </p:cNvSpPr>
          <p:nvPr/>
        </p:nvSpPr>
        <p:spPr bwMode="auto">
          <a:xfrm>
            <a:off x="7264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5217" name="Text Box 49"/>
          <p:cNvSpPr txBox="1">
            <a:spLocks noChangeArrowheads="1"/>
          </p:cNvSpPr>
          <p:nvPr/>
        </p:nvSpPr>
        <p:spPr bwMode="auto">
          <a:xfrm>
            <a:off x="1149350" y="4876800"/>
            <a:ext cx="2900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currentPos = i = 1</a:t>
            </a:r>
            <a:endParaRPr kumimoji="1" lang="en-US" altLang="zh-CN" sz="2400">
              <a:latin typeface="Times New Roman" panose="02020603050405020304" pitchFamily="18" charset="0"/>
              <a:ea typeface="宋体" panose="02010600030101010101" pitchFamily="2" charset="-122"/>
            </a:endParaRPr>
          </a:p>
        </p:txBody>
      </p:sp>
      <p:sp>
        <p:nvSpPr>
          <p:cNvPr id="135218" name="Line 50"/>
          <p:cNvSpPr>
            <a:spLocks noChangeShapeType="1"/>
          </p:cNvSpPr>
          <p:nvPr/>
        </p:nvSpPr>
        <p:spPr bwMode="auto">
          <a:xfrm>
            <a:off x="4953000" y="2971800"/>
            <a:ext cx="185738"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219" name="Text Box 51"/>
          <p:cNvSpPr txBox="1">
            <a:spLocks noChangeArrowheads="1"/>
          </p:cNvSpPr>
          <p:nvPr/>
        </p:nvSpPr>
        <p:spPr bwMode="auto">
          <a:xfrm>
            <a:off x="4746625" y="25288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5220" name="Rectangle 52"/>
          <p:cNvSpPr>
            <a:spLocks noChangeArrowheads="1"/>
          </p:cNvSpPr>
          <p:nvPr/>
        </p:nvSpPr>
        <p:spPr bwMode="auto">
          <a:xfrm>
            <a:off x="4267200" y="3276600"/>
            <a:ext cx="1447800" cy="1600200"/>
          </a:xfrm>
          <a:prstGeom prst="rect">
            <a:avLst/>
          </a:prstGeom>
          <a:noFill/>
          <a:ln w="38100">
            <a:solidFill>
              <a:srgbClr val="0099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221" name="Line 53"/>
          <p:cNvSpPr>
            <a:spLocks noChangeShapeType="1"/>
          </p:cNvSpPr>
          <p:nvPr/>
        </p:nvSpPr>
        <p:spPr bwMode="auto">
          <a:xfrm flipH="1">
            <a:off x="1600200" y="2819400"/>
            <a:ext cx="228600" cy="457200"/>
          </a:xfrm>
          <a:prstGeom prst="line">
            <a:avLst/>
          </a:prstGeom>
          <a:noFill/>
          <a:ln w="28575">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p:cNvSpPr>
            <a:spLocks noGrp="1"/>
          </p:cNvSpPr>
          <p:nvPr>
            <p:ph type="sldNum" sz="quarter" idx="12"/>
          </p:nvPr>
        </p:nvSpPr>
        <p:spPr/>
        <p:txBody>
          <a:bodyPr/>
          <a:lstStyle/>
          <a:p>
            <a:pPr>
              <a:defRPr/>
            </a:pPr>
            <a:fld id="{32133AD1-DAA7-48C8-8009-85BC350F1DBF}" type="slidenum">
              <a:rPr lang="en-US" altLang="zh-CN" smtClean="0"/>
            </a:fld>
            <a:endParaRPr lang="en-US" altLang="zh-CN"/>
          </a:p>
        </p:txBody>
      </p:sp>
    </p:spTree>
  </p:cSld>
  <p:clrMapOvr>
    <a:masterClrMapping/>
  </p:clrMapOvr>
  <p:transition>
    <p:split/>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Line 1026"/>
          <p:cNvSpPr>
            <a:spLocks noChangeShapeType="1"/>
          </p:cNvSpPr>
          <p:nvPr/>
        </p:nvSpPr>
        <p:spPr bwMode="auto">
          <a:xfrm>
            <a:off x="3429000" y="2819400"/>
            <a:ext cx="381000" cy="6858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195" name="Line 1027"/>
          <p:cNvSpPr>
            <a:spLocks noChangeShapeType="1"/>
          </p:cNvSpPr>
          <p:nvPr/>
        </p:nvSpPr>
        <p:spPr bwMode="auto">
          <a:xfrm flipH="1">
            <a:off x="3124200" y="2895600"/>
            <a:ext cx="2286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196" name="Line 1028"/>
          <p:cNvSpPr>
            <a:spLocks noChangeShapeType="1"/>
          </p:cNvSpPr>
          <p:nvPr/>
        </p:nvSpPr>
        <p:spPr bwMode="auto">
          <a:xfrm>
            <a:off x="28956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197" name="Line 1029"/>
          <p:cNvSpPr>
            <a:spLocks noChangeShapeType="1"/>
          </p:cNvSpPr>
          <p:nvPr/>
        </p:nvSpPr>
        <p:spPr bwMode="auto">
          <a:xfrm>
            <a:off x="2209800" y="2895600"/>
            <a:ext cx="1524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198" name="Line 1030"/>
          <p:cNvSpPr>
            <a:spLocks noChangeShapeType="1"/>
          </p:cNvSpPr>
          <p:nvPr/>
        </p:nvSpPr>
        <p:spPr bwMode="auto">
          <a:xfrm flipH="1">
            <a:off x="22860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199" name="Line 1031"/>
          <p:cNvSpPr>
            <a:spLocks noChangeShapeType="1"/>
          </p:cNvSpPr>
          <p:nvPr/>
        </p:nvSpPr>
        <p:spPr bwMode="auto">
          <a:xfrm flipH="1">
            <a:off x="1143000" y="2895600"/>
            <a:ext cx="914400" cy="15240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0" name="Oval 1034"/>
          <p:cNvSpPr>
            <a:spLocks noChangeArrowheads="1"/>
          </p:cNvSpPr>
          <p:nvPr/>
        </p:nvSpPr>
        <p:spPr bwMode="auto">
          <a:xfrm>
            <a:off x="25146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1" name="Oval 1035"/>
          <p:cNvSpPr>
            <a:spLocks noChangeArrowheads="1"/>
          </p:cNvSpPr>
          <p:nvPr/>
        </p:nvSpPr>
        <p:spPr bwMode="auto">
          <a:xfrm>
            <a:off x="1371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2" name="Oval 1036"/>
          <p:cNvSpPr>
            <a:spLocks noChangeArrowheads="1"/>
          </p:cNvSpPr>
          <p:nvPr/>
        </p:nvSpPr>
        <p:spPr bwMode="auto">
          <a:xfrm>
            <a:off x="2133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3" name="Oval 1037"/>
          <p:cNvSpPr>
            <a:spLocks noChangeArrowheads="1"/>
          </p:cNvSpPr>
          <p:nvPr/>
        </p:nvSpPr>
        <p:spPr bwMode="auto">
          <a:xfrm>
            <a:off x="2819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4" name="Oval 1038"/>
          <p:cNvSpPr>
            <a:spLocks noChangeArrowheads="1"/>
          </p:cNvSpPr>
          <p:nvPr/>
        </p:nvSpPr>
        <p:spPr bwMode="auto">
          <a:xfrm>
            <a:off x="3581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5" name="Oval 1039"/>
          <p:cNvSpPr>
            <a:spLocks noChangeArrowheads="1"/>
          </p:cNvSpPr>
          <p:nvPr/>
        </p:nvSpPr>
        <p:spPr bwMode="auto">
          <a:xfrm>
            <a:off x="8382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6" name="Oval 1040"/>
          <p:cNvSpPr>
            <a:spLocks noChangeArrowheads="1"/>
          </p:cNvSpPr>
          <p:nvPr/>
        </p:nvSpPr>
        <p:spPr bwMode="auto">
          <a:xfrm>
            <a:off x="19050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7" name="Oval 1041"/>
          <p:cNvSpPr>
            <a:spLocks noChangeArrowheads="1"/>
          </p:cNvSpPr>
          <p:nvPr/>
        </p:nvSpPr>
        <p:spPr bwMode="auto">
          <a:xfrm>
            <a:off x="31242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8" name="Line 1042"/>
          <p:cNvSpPr>
            <a:spLocks noChangeShapeType="1"/>
          </p:cNvSpPr>
          <p:nvPr/>
        </p:nvSpPr>
        <p:spPr bwMode="auto">
          <a:xfrm>
            <a:off x="7086600" y="2819400"/>
            <a:ext cx="381000" cy="6858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9" name="Line 1043"/>
          <p:cNvSpPr>
            <a:spLocks noChangeShapeType="1"/>
          </p:cNvSpPr>
          <p:nvPr/>
        </p:nvSpPr>
        <p:spPr bwMode="auto">
          <a:xfrm flipH="1">
            <a:off x="6781800" y="2895600"/>
            <a:ext cx="2286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0" name="Line 1044"/>
          <p:cNvSpPr>
            <a:spLocks noChangeShapeType="1"/>
          </p:cNvSpPr>
          <p:nvPr/>
        </p:nvSpPr>
        <p:spPr bwMode="auto">
          <a:xfrm>
            <a:off x="65532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1" name="Line 1045"/>
          <p:cNvSpPr>
            <a:spLocks noChangeShapeType="1"/>
          </p:cNvSpPr>
          <p:nvPr/>
        </p:nvSpPr>
        <p:spPr bwMode="auto">
          <a:xfrm>
            <a:off x="5867400" y="2895600"/>
            <a:ext cx="1524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2" name="Line 1046"/>
          <p:cNvSpPr>
            <a:spLocks noChangeShapeType="1"/>
          </p:cNvSpPr>
          <p:nvPr/>
        </p:nvSpPr>
        <p:spPr bwMode="auto">
          <a:xfrm flipH="1">
            <a:off x="59436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3" name="Line 1047"/>
          <p:cNvSpPr>
            <a:spLocks noChangeShapeType="1"/>
          </p:cNvSpPr>
          <p:nvPr/>
        </p:nvSpPr>
        <p:spPr bwMode="auto">
          <a:xfrm flipH="1">
            <a:off x="4800600" y="2895600"/>
            <a:ext cx="914400" cy="15240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4" name="Oval 1048"/>
          <p:cNvSpPr>
            <a:spLocks noChangeArrowheads="1"/>
          </p:cNvSpPr>
          <p:nvPr/>
        </p:nvSpPr>
        <p:spPr bwMode="auto">
          <a:xfrm>
            <a:off x="61722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15" name="Oval 1049"/>
          <p:cNvSpPr>
            <a:spLocks noChangeArrowheads="1"/>
          </p:cNvSpPr>
          <p:nvPr/>
        </p:nvSpPr>
        <p:spPr bwMode="auto">
          <a:xfrm>
            <a:off x="5029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16" name="Oval 1050"/>
          <p:cNvSpPr>
            <a:spLocks noChangeArrowheads="1"/>
          </p:cNvSpPr>
          <p:nvPr/>
        </p:nvSpPr>
        <p:spPr bwMode="auto">
          <a:xfrm>
            <a:off x="5791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17" name="Oval 1051"/>
          <p:cNvSpPr>
            <a:spLocks noChangeArrowheads="1"/>
          </p:cNvSpPr>
          <p:nvPr/>
        </p:nvSpPr>
        <p:spPr bwMode="auto">
          <a:xfrm>
            <a:off x="6477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18" name="Oval 1052"/>
          <p:cNvSpPr>
            <a:spLocks noChangeArrowheads="1"/>
          </p:cNvSpPr>
          <p:nvPr/>
        </p:nvSpPr>
        <p:spPr bwMode="auto">
          <a:xfrm>
            <a:off x="7239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19" name="Oval 1053"/>
          <p:cNvSpPr>
            <a:spLocks noChangeArrowheads="1"/>
          </p:cNvSpPr>
          <p:nvPr/>
        </p:nvSpPr>
        <p:spPr bwMode="auto">
          <a:xfrm>
            <a:off x="4495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20" name="Oval 1054"/>
          <p:cNvSpPr>
            <a:spLocks noChangeArrowheads="1"/>
          </p:cNvSpPr>
          <p:nvPr/>
        </p:nvSpPr>
        <p:spPr bwMode="auto">
          <a:xfrm>
            <a:off x="55626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21" name="Oval 1055"/>
          <p:cNvSpPr>
            <a:spLocks noChangeArrowheads="1"/>
          </p:cNvSpPr>
          <p:nvPr/>
        </p:nvSpPr>
        <p:spPr bwMode="auto">
          <a:xfrm>
            <a:off x="67818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22" name="Text Box 1056"/>
          <p:cNvSpPr txBox="1">
            <a:spLocks noChangeArrowheads="1"/>
          </p:cNvSpPr>
          <p:nvPr/>
        </p:nvSpPr>
        <p:spPr bwMode="auto">
          <a:xfrm>
            <a:off x="25400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6223" name="Text Box 1057"/>
          <p:cNvSpPr txBox="1">
            <a:spLocks noChangeArrowheads="1"/>
          </p:cNvSpPr>
          <p:nvPr/>
        </p:nvSpPr>
        <p:spPr bwMode="auto">
          <a:xfrm>
            <a:off x="5257800" y="2286000"/>
            <a:ext cx="508000" cy="519113"/>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6224" name="Text Box 1058"/>
          <p:cNvSpPr txBox="1">
            <a:spLocks noChangeArrowheads="1"/>
          </p:cNvSpPr>
          <p:nvPr/>
        </p:nvSpPr>
        <p:spPr bwMode="auto">
          <a:xfrm>
            <a:off x="139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6225" name="Text Box 1059"/>
          <p:cNvSpPr txBox="1">
            <a:spLocks noChangeArrowheads="1"/>
          </p:cNvSpPr>
          <p:nvPr/>
        </p:nvSpPr>
        <p:spPr bwMode="auto">
          <a:xfrm>
            <a:off x="5054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6226" name="Text Box 1060"/>
          <p:cNvSpPr txBox="1">
            <a:spLocks noChangeArrowheads="1"/>
          </p:cNvSpPr>
          <p:nvPr/>
        </p:nvSpPr>
        <p:spPr bwMode="auto">
          <a:xfrm>
            <a:off x="28448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6227" name="Text Box 1061"/>
          <p:cNvSpPr txBox="1">
            <a:spLocks noChangeArrowheads="1"/>
          </p:cNvSpPr>
          <p:nvPr/>
        </p:nvSpPr>
        <p:spPr bwMode="auto">
          <a:xfrm>
            <a:off x="647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6228" name="Text Box 1062"/>
          <p:cNvSpPr txBox="1">
            <a:spLocks noChangeArrowheads="1"/>
          </p:cNvSpPr>
          <p:nvPr/>
        </p:nvSpPr>
        <p:spPr bwMode="auto">
          <a:xfrm>
            <a:off x="19304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6229" name="Text Box 1063"/>
          <p:cNvSpPr txBox="1">
            <a:spLocks noChangeArrowheads="1"/>
          </p:cNvSpPr>
          <p:nvPr/>
        </p:nvSpPr>
        <p:spPr bwMode="auto">
          <a:xfrm>
            <a:off x="8636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6230" name="Text Box 1064"/>
          <p:cNvSpPr txBox="1">
            <a:spLocks noChangeArrowheads="1"/>
          </p:cNvSpPr>
          <p:nvPr/>
        </p:nvSpPr>
        <p:spPr bwMode="auto">
          <a:xfrm>
            <a:off x="2159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6231" name="Text Box 1065"/>
          <p:cNvSpPr txBox="1">
            <a:spLocks noChangeArrowheads="1"/>
          </p:cNvSpPr>
          <p:nvPr/>
        </p:nvSpPr>
        <p:spPr bwMode="auto">
          <a:xfrm>
            <a:off x="31496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6232" name="Text Box 1066"/>
          <p:cNvSpPr txBox="1">
            <a:spLocks noChangeArrowheads="1"/>
          </p:cNvSpPr>
          <p:nvPr/>
        </p:nvSpPr>
        <p:spPr bwMode="auto">
          <a:xfrm>
            <a:off x="3606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6233" name="Line 1067"/>
          <p:cNvSpPr>
            <a:spLocks noChangeShapeType="1"/>
          </p:cNvSpPr>
          <p:nvPr/>
        </p:nvSpPr>
        <p:spPr bwMode="auto">
          <a:xfrm>
            <a:off x="2514600" y="1219200"/>
            <a:ext cx="228600"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34" name="Text Box 1068"/>
          <p:cNvSpPr txBox="1">
            <a:spLocks noChangeArrowheads="1"/>
          </p:cNvSpPr>
          <p:nvPr/>
        </p:nvSpPr>
        <p:spPr bwMode="auto">
          <a:xfrm>
            <a:off x="2392363" y="7620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6235" name="Rectangle 1069"/>
          <p:cNvSpPr>
            <a:spLocks noChangeArrowheads="1"/>
          </p:cNvSpPr>
          <p:nvPr/>
        </p:nvSpPr>
        <p:spPr bwMode="auto">
          <a:xfrm>
            <a:off x="1752600" y="1447800"/>
            <a:ext cx="2057400" cy="1676400"/>
          </a:xfrm>
          <a:prstGeom prst="rect">
            <a:avLst/>
          </a:prstGeom>
          <a:noFill/>
          <a:ln w="38100">
            <a:solidFill>
              <a:srgbClr val="0099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36" name="Text Box 1070"/>
          <p:cNvSpPr txBox="1">
            <a:spLocks noChangeArrowheads="1"/>
          </p:cNvSpPr>
          <p:nvPr/>
        </p:nvSpPr>
        <p:spPr bwMode="auto">
          <a:xfrm>
            <a:off x="61976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6237" name="Text Box 1071"/>
          <p:cNvSpPr txBox="1">
            <a:spLocks noChangeArrowheads="1"/>
          </p:cNvSpPr>
          <p:nvPr/>
        </p:nvSpPr>
        <p:spPr bwMode="auto">
          <a:xfrm>
            <a:off x="4521200" y="4281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6238" name="Text Box 1072"/>
          <p:cNvSpPr txBox="1">
            <a:spLocks noChangeArrowheads="1"/>
          </p:cNvSpPr>
          <p:nvPr/>
        </p:nvSpPr>
        <p:spPr bwMode="auto">
          <a:xfrm>
            <a:off x="5816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6239" name="Text Box 1073"/>
          <p:cNvSpPr txBox="1">
            <a:spLocks noChangeArrowheads="1"/>
          </p:cNvSpPr>
          <p:nvPr/>
        </p:nvSpPr>
        <p:spPr bwMode="auto">
          <a:xfrm>
            <a:off x="68072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6240" name="Text Box 1074"/>
          <p:cNvSpPr txBox="1">
            <a:spLocks noChangeArrowheads="1"/>
          </p:cNvSpPr>
          <p:nvPr/>
        </p:nvSpPr>
        <p:spPr bwMode="auto">
          <a:xfrm>
            <a:off x="7264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6241" name="Text Box 1075"/>
          <p:cNvSpPr txBox="1">
            <a:spLocks noChangeArrowheads="1"/>
          </p:cNvSpPr>
          <p:nvPr/>
        </p:nvSpPr>
        <p:spPr bwMode="auto">
          <a:xfrm>
            <a:off x="1149350" y="4876800"/>
            <a:ext cx="2900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currentPos = i = 0</a:t>
            </a:r>
            <a:endParaRPr kumimoji="1" lang="en-US" altLang="zh-CN" sz="2400">
              <a:latin typeface="Times New Roman" panose="02020603050405020304" pitchFamily="18" charset="0"/>
              <a:ea typeface="宋体" panose="02010600030101010101" pitchFamily="2" charset="-122"/>
            </a:endParaRPr>
          </a:p>
        </p:txBody>
      </p:sp>
      <p:sp>
        <p:nvSpPr>
          <p:cNvPr id="136242" name="Line 1077"/>
          <p:cNvSpPr>
            <a:spLocks noChangeShapeType="1"/>
          </p:cNvSpPr>
          <p:nvPr/>
        </p:nvSpPr>
        <p:spPr bwMode="auto">
          <a:xfrm>
            <a:off x="5529263" y="2043113"/>
            <a:ext cx="185737"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43" name="Text Box 1078"/>
          <p:cNvSpPr txBox="1">
            <a:spLocks noChangeArrowheads="1"/>
          </p:cNvSpPr>
          <p:nvPr/>
        </p:nvSpPr>
        <p:spPr bwMode="auto">
          <a:xfrm>
            <a:off x="5322888" y="16002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6244" name="Rectangle 1079"/>
          <p:cNvSpPr>
            <a:spLocks noChangeArrowheads="1"/>
          </p:cNvSpPr>
          <p:nvPr/>
        </p:nvSpPr>
        <p:spPr bwMode="auto">
          <a:xfrm>
            <a:off x="4953000" y="2286000"/>
            <a:ext cx="1447800" cy="1752600"/>
          </a:xfrm>
          <a:prstGeom prst="rect">
            <a:avLst/>
          </a:prstGeom>
          <a:noFill/>
          <a:ln w="38100">
            <a:solidFill>
              <a:srgbClr val="0099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45" name="Line 1080"/>
          <p:cNvSpPr>
            <a:spLocks noChangeShapeType="1"/>
          </p:cNvSpPr>
          <p:nvPr/>
        </p:nvSpPr>
        <p:spPr bwMode="auto">
          <a:xfrm flipH="1">
            <a:off x="2209800" y="1905000"/>
            <a:ext cx="228600" cy="457200"/>
          </a:xfrm>
          <a:prstGeom prst="line">
            <a:avLst/>
          </a:prstGeom>
          <a:noFill/>
          <a:ln w="28575">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46" name="Text Box 1082"/>
          <p:cNvSpPr txBox="1">
            <a:spLocks noChangeArrowheads="1"/>
          </p:cNvSpPr>
          <p:nvPr/>
        </p:nvSpPr>
        <p:spPr bwMode="auto">
          <a:xfrm>
            <a:off x="55880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6247" name="Line 1083"/>
          <p:cNvSpPr>
            <a:spLocks noChangeShapeType="1"/>
          </p:cNvSpPr>
          <p:nvPr/>
        </p:nvSpPr>
        <p:spPr bwMode="auto">
          <a:xfrm flipH="1">
            <a:off x="5257800" y="2819400"/>
            <a:ext cx="228600" cy="457200"/>
          </a:xfrm>
          <a:prstGeom prst="line">
            <a:avLst/>
          </a:prstGeom>
          <a:noFill/>
          <a:ln w="28575">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p:cNvSpPr>
            <a:spLocks noGrp="1"/>
          </p:cNvSpPr>
          <p:nvPr>
            <p:ph type="sldNum" sz="quarter" idx="12"/>
          </p:nvPr>
        </p:nvSpPr>
        <p:spPr/>
        <p:txBody>
          <a:bodyPr/>
          <a:lstStyle/>
          <a:p>
            <a:pPr>
              <a:defRPr/>
            </a:pPr>
            <a:fld id="{32133AD1-DAA7-48C8-8009-85BC350F1DBF}" type="slidenum">
              <a:rPr lang="en-US" altLang="zh-CN" smtClean="0"/>
            </a:fld>
            <a:endParaRPr lang="en-US" altLang="zh-CN"/>
          </a:p>
        </p:txBody>
      </p:sp>
    </p:spTree>
  </p:cSld>
  <p:clrMapOvr>
    <a:masterClrMapping/>
  </p:clrMapOvr>
  <p:transition>
    <p:split/>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Line 1026"/>
          <p:cNvSpPr>
            <a:spLocks noChangeShapeType="1"/>
          </p:cNvSpPr>
          <p:nvPr/>
        </p:nvSpPr>
        <p:spPr bwMode="auto">
          <a:xfrm>
            <a:off x="3429000" y="2819400"/>
            <a:ext cx="381000" cy="6858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19" name="Line 1027"/>
          <p:cNvSpPr>
            <a:spLocks noChangeShapeType="1"/>
          </p:cNvSpPr>
          <p:nvPr/>
        </p:nvSpPr>
        <p:spPr bwMode="auto">
          <a:xfrm flipH="1">
            <a:off x="3124200" y="2895600"/>
            <a:ext cx="2286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0" name="Line 1028"/>
          <p:cNvSpPr>
            <a:spLocks noChangeShapeType="1"/>
          </p:cNvSpPr>
          <p:nvPr/>
        </p:nvSpPr>
        <p:spPr bwMode="auto">
          <a:xfrm>
            <a:off x="28956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1" name="Line 1029"/>
          <p:cNvSpPr>
            <a:spLocks noChangeShapeType="1"/>
          </p:cNvSpPr>
          <p:nvPr/>
        </p:nvSpPr>
        <p:spPr bwMode="auto">
          <a:xfrm>
            <a:off x="2209800" y="2895600"/>
            <a:ext cx="1524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2" name="Line 1030"/>
          <p:cNvSpPr>
            <a:spLocks noChangeShapeType="1"/>
          </p:cNvSpPr>
          <p:nvPr/>
        </p:nvSpPr>
        <p:spPr bwMode="auto">
          <a:xfrm flipH="1">
            <a:off x="22860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3" name="Line 1031"/>
          <p:cNvSpPr>
            <a:spLocks noChangeShapeType="1"/>
          </p:cNvSpPr>
          <p:nvPr/>
        </p:nvSpPr>
        <p:spPr bwMode="auto">
          <a:xfrm flipH="1">
            <a:off x="1143000" y="2895600"/>
            <a:ext cx="914400" cy="15240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4" name="Oval 1032"/>
          <p:cNvSpPr>
            <a:spLocks noChangeArrowheads="1"/>
          </p:cNvSpPr>
          <p:nvPr/>
        </p:nvSpPr>
        <p:spPr bwMode="auto">
          <a:xfrm>
            <a:off x="25146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25" name="Oval 1033"/>
          <p:cNvSpPr>
            <a:spLocks noChangeArrowheads="1"/>
          </p:cNvSpPr>
          <p:nvPr/>
        </p:nvSpPr>
        <p:spPr bwMode="auto">
          <a:xfrm>
            <a:off x="1371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26" name="Oval 1034"/>
          <p:cNvSpPr>
            <a:spLocks noChangeArrowheads="1"/>
          </p:cNvSpPr>
          <p:nvPr/>
        </p:nvSpPr>
        <p:spPr bwMode="auto">
          <a:xfrm>
            <a:off x="2133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27" name="Oval 1035"/>
          <p:cNvSpPr>
            <a:spLocks noChangeArrowheads="1"/>
          </p:cNvSpPr>
          <p:nvPr/>
        </p:nvSpPr>
        <p:spPr bwMode="auto">
          <a:xfrm>
            <a:off x="2819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28" name="Oval 1036"/>
          <p:cNvSpPr>
            <a:spLocks noChangeArrowheads="1"/>
          </p:cNvSpPr>
          <p:nvPr/>
        </p:nvSpPr>
        <p:spPr bwMode="auto">
          <a:xfrm>
            <a:off x="3581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29" name="Oval 1037"/>
          <p:cNvSpPr>
            <a:spLocks noChangeArrowheads="1"/>
          </p:cNvSpPr>
          <p:nvPr/>
        </p:nvSpPr>
        <p:spPr bwMode="auto">
          <a:xfrm>
            <a:off x="8382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30" name="Oval 1038"/>
          <p:cNvSpPr>
            <a:spLocks noChangeArrowheads="1"/>
          </p:cNvSpPr>
          <p:nvPr/>
        </p:nvSpPr>
        <p:spPr bwMode="auto">
          <a:xfrm>
            <a:off x="19050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31" name="Oval 1039"/>
          <p:cNvSpPr>
            <a:spLocks noChangeArrowheads="1"/>
          </p:cNvSpPr>
          <p:nvPr/>
        </p:nvSpPr>
        <p:spPr bwMode="auto">
          <a:xfrm>
            <a:off x="31242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32" name="Line 1040"/>
          <p:cNvSpPr>
            <a:spLocks noChangeShapeType="1"/>
          </p:cNvSpPr>
          <p:nvPr/>
        </p:nvSpPr>
        <p:spPr bwMode="auto">
          <a:xfrm>
            <a:off x="7086600" y="2819400"/>
            <a:ext cx="381000" cy="6858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3" name="Line 1041"/>
          <p:cNvSpPr>
            <a:spLocks noChangeShapeType="1"/>
          </p:cNvSpPr>
          <p:nvPr/>
        </p:nvSpPr>
        <p:spPr bwMode="auto">
          <a:xfrm flipH="1">
            <a:off x="6781800" y="2895600"/>
            <a:ext cx="2286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4" name="Line 1042"/>
          <p:cNvSpPr>
            <a:spLocks noChangeShapeType="1"/>
          </p:cNvSpPr>
          <p:nvPr/>
        </p:nvSpPr>
        <p:spPr bwMode="auto">
          <a:xfrm>
            <a:off x="65532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5" name="Line 1043"/>
          <p:cNvSpPr>
            <a:spLocks noChangeShapeType="1"/>
          </p:cNvSpPr>
          <p:nvPr/>
        </p:nvSpPr>
        <p:spPr bwMode="auto">
          <a:xfrm>
            <a:off x="5867400" y="2895600"/>
            <a:ext cx="1524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6" name="Line 1044"/>
          <p:cNvSpPr>
            <a:spLocks noChangeShapeType="1"/>
          </p:cNvSpPr>
          <p:nvPr/>
        </p:nvSpPr>
        <p:spPr bwMode="auto">
          <a:xfrm flipH="1">
            <a:off x="59436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7" name="Line 1045"/>
          <p:cNvSpPr>
            <a:spLocks noChangeShapeType="1"/>
          </p:cNvSpPr>
          <p:nvPr/>
        </p:nvSpPr>
        <p:spPr bwMode="auto">
          <a:xfrm flipH="1">
            <a:off x="4800600" y="2895600"/>
            <a:ext cx="914400" cy="15240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8" name="Oval 1046"/>
          <p:cNvSpPr>
            <a:spLocks noChangeArrowheads="1"/>
          </p:cNvSpPr>
          <p:nvPr/>
        </p:nvSpPr>
        <p:spPr bwMode="auto">
          <a:xfrm>
            <a:off x="61722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39" name="Oval 1047"/>
          <p:cNvSpPr>
            <a:spLocks noChangeArrowheads="1"/>
          </p:cNvSpPr>
          <p:nvPr/>
        </p:nvSpPr>
        <p:spPr bwMode="auto">
          <a:xfrm>
            <a:off x="5029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0" name="Oval 1048"/>
          <p:cNvSpPr>
            <a:spLocks noChangeArrowheads="1"/>
          </p:cNvSpPr>
          <p:nvPr/>
        </p:nvSpPr>
        <p:spPr bwMode="auto">
          <a:xfrm>
            <a:off x="5791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1" name="Oval 1049"/>
          <p:cNvSpPr>
            <a:spLocks noChangeArrowheads="1"/>
          </p:cNvSpPr>
          <p:nvPr/>
        </p:nvSpPr>
        <p:spPr bwMode="auto">
          <a:xfrm>
            <a:off x="6477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2" name="Oval 1050"/>
          <p:cNvSpPr>
            <a:spLocks noChangeArrowheads="1"/>
          </p:cNvSpPr>
          <p:nvPr/>
        </p:nvSpPr>
        <p:spPr bwMode="auto">
          <a:xfrm>
            <a:off x="7239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3" name="Oval 1051"/>
          <p:cNvSpPr>
            <a:spLocks noChangeArrowheads="1"/>
          </p:cNvSpPr>
          <p:nvPr/>
        </p:nvSpPr>
        <p:spPr bwMode="auto">
          <a:xfrm>
            <a:off x="4495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4" name="Oval 1052"/>
          <p:cNvSpPr>
            <a:spLocks noChangeArrowheads="1"/>
          </p:cNvSpPr>
          <p:nvPr/>
        </p:nvSpPr>
        <p:spPr bwMode="auto">
          <a:xfrm>
            <a:off x="55626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5" name="Oval 1053"/>
          <p:cNvSpPr>
            <a:spLocks noChangeArrowheads="1"/>
          </p:cNvSpPr>
          <p:nvPr/>
        </p:nvSpPr>
        <p:spPr bwMode="auto">
          <a:xfrm>
            <a:off x="67818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6" name="Text Box 1054"/>
          <p:cNvSpPr txBox="1">
            <a:spLocks noChangeArrowheads="1"/>
          </p:cNvSpPr>
          <p:nvPr/>
        </p:nvSpPr>
        <p:spPr bwMode="auto">
          <a:xfrm>
            <a:off x="1066800" y="3138488"/>
            <a:ext cx="508000" cy="519112"/>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7247" name="Text Box 1055"/>
          <p:cNvSpPr txBox="1">
            <a:spLocks noChangeArrowheads="1"/>
          </p:cNvSpPr>
          <p:nvPr/>
        </p:nvSpPr>
        <p:spPr bwMode="auto">
          <a:xfrm>
            <a:off x="4495800" y="42672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137248" name="Text Box 1056"/>
          <p:cNvSpPr txBox="1">
            <a:spLocks noChangeArrowheads="1"/>
          </p:cNvSpPr>
          <p:nvPr/>
        </p:nvSpPr>
        <p:spPr bwMode="auto">
          <a:xfrm>
            <a:off x="19304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7249" name="Text Box 1057"/>
          <p:cNvSpPr txBox="1">
            <a:spLocks noChangeArrowheads="1"/>
          </p:cNvSpPr>
          <p:nvPr/>
        </p:nvSpPr>
        <p:spPr bwMode="auto">
          <a:xfrm>
            <a:off x="55880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7250" name="Text Box 1058"/>
          <p:cNvSpPr txBox="1">
            <a:spLocks noChangeArrowheads="1"/>
          </p:cNvSpPr>
          <p:nvPr/>
        </p:nvSpPr>
        <p:spPr bwMode="auto">
          <a:xfrm>
            <a:off x="28448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7251" name="Text Box 1059"/>
          <p:cNvSpPr txBox="1">
            <a:spLocks noChangeArrowheads="1"/>
          </p:cNvSpPr>
          <p:nvPr/>
        </p:nvSpPr>
        <p:spPr bwMode="auto">
          <a:xfrm>
            <a:off x="647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7252" name="Text Box 1060"/>
          <p:cNvSpPr txBox="1">
            <a:spLocks noChangeArrowheads="1"/>
          </p:cNvSpPr>
          <p:nvPr/>
        </p:nvSpPr>
        <p:spPr bwMode="auto">
          <a:xfrm>
            <a:off x="2540000" y="1614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7253" name="Text Box 1061"/>
          <p:cNvSpPr txBox="1">
            <a:spLocks noChangeArrowheads="1"/>
          </p:cNvSpPr>
          <p:nvPr/>
        </p:nvSpPr>
        <p:spPr bwMode="auto">
          <a:xfrm>
            <a:off x="8636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7254" name="Text Box 1062"/>
          <p:cNvSpPr txBox="1">
            <a:spLocks noChangeArrowheads="1"/>
          </p:cNvSpPr>
          <p:nvPr/>
        </p:nvSpPr>
        <p:spPr bwMode="auto">
          <a:xfrm>
            <a:off x="2159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7255" name="Text Box 1063"/>
          <p:cNvSpPr txBox="1">
            <a:spLocks noChangeArrowheads="1"/>
          </p:cNvSpPr>
          <p:nvPr/>
        </p:nvSpPr>
        <p:spPr bwMode="auto">
          <a:xfrm>
            <a:off x="31496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7256" name="Text Box 1064"/>
          <p:cNvSpPr txBox="1">
            <a:spLocks noChangeArrowheads="1"/>
          </p:cNvSpPr>
          <p:nvPr/>
        </p:nvSpPr>
        <p:spPr bwMode="auto">
          <a:xfrm>
            <a:off x="3606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7257" name="Line 1065"/>
          <p:cNvSpPr>
            <a:spLocks noChangeShapeType="1"/>
          </p:cNvSpPr>
          <p:nvPr/>
        </p:nvSpPr>
        <p:spPr bwMode="auto">
          <a:xfrm>
            <a:off x="1341438" y="2971800"/>
            <a:ext cx="228600"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58" name="Text Box 1066"/>
          <p:cNvSpPr txBox="1">
            <a:spLocks noChangeArrowheads="1"/>
          </p:cNvSpPr>
          <p:nvPr/>
        </p:nvSpPr>
        <p:spPr bwMode="auto">
          <a:xfrm>
            <a:off x="1219200" y="25146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7259" name="Rectangle 1067"/>
          <p:cNvSpPr>
            <a:spLocks noChangeArrowheads="1"/>
          </p:cNvSpPr>
          <p:nvPr/>
        </p:nvSpPr>
        <p:spPr bwMode="auto">
          <a:xfrm>
            <a:off x="685800" y="3200400"/>
            <a:ext cx="1371600" cy="1752600"/>
          </a:xfrm>
          <a:prstGeom prst="rect">
            <a:avLst/>
          </a:prstGeom>
          <a:noFill/>
          <a:ln w="38100">
            <a:solidFill>
              <a:srgbClr val="0099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60" name="Text Box 1068"/>
          <p:cNvSpPr txBox="1">
            <a:spLocks noChangeArrowheads="1"/>
          </p:cNvSpPr>
          <p:nvPr/>
        </p:nvSpPr>
        <p:spPr bwMode="auto">
          <a:xfrm>
            <a:off x="61976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7261" name="Text Box 1069"/>
          <p:cNvSpPr txBox="1">
            <a:spLocks noChangeArrowheads="1"/>
          </p:cNvSpPr>
          <p:nvPr/>
        </p:nvSpPr>
        <p:spPr bwMode="auto">
          <a:xfrm>
            <a:off x="5054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7262" name="Text Box 1070"/>
          <p:cNvSpPr txBox="1">
            <a:spLocks noChangeArrowheads="1"/>
          </p:cNvSpPr>
          <p:nvPr/>
        </p:nvSpPr>
        <p:spPr bwMode="auto">
          <a:xfrm>
            <a:off x="5816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7263" name="Text Box 1071"/>
          <p:cNvSpPr txBox="1">
            <a:spLocks noChangeArrowheads="1"/>
          </p:cNvSpPr>
          <p:nvPr/>
        </p:nvSpPr>
        <p:spPr bwMode="auto">
          <a:xfrm>
            <a:off x="68072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7264" name="Text Box 1072"/>
          <p:cNvSpPr txBox="1">
            <a:spLocks noChangeArrowheads="1"/>
          </p:cNvSpPr>
          <p:nvPr/>
        </p:nvSpPr>
        <p:spPr bwMode="auto">
          <a:xfrm>
            <a:off x="7264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7265" name="Line 1074"/>
          <p:cNvSpPr>
            <a:spLocks noChangeShapeType="1"/>
          </p:cNvSpPr>
          <p:nvPr/>
        </p:nvSpPr>
        <p:spPr bwMode="auto">
          <a:xfrm>
            <a:off x="4473575" y="3886200"/>
            <a:ext cx="185738"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66" name="Text Box 1075"/>
          <p:cNvSpPr txBox="1">
            <a:spLocks noChangeArrowheads="1"/>
          </p:cNvSpPr>
          <p:nvPr/>
        </p:nvSpPr>
        <p:spPr bwMode="auto">
          <a:xfrm>
            <a:off x="4267200" y="34432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7267" name="Line 1077"/>
          <p:cNvSpPr>
            <a:spLocks noChangeShapeType="1"/>
          </p:cNvSpPr>
          <p:nvPr/>
        </p:nvSpPr>
        <p:spPr bwMode="auto">
          <a:xfrm flipH="1">
            <a:off x="1066800" y="3733800"/>
            <a:ext cx="228600" cy="457200"/>
          </a:xfrm>
          <a:prstGeom prst="line">
            <a:avLst/>
          </a:prstGeom>
          <a:noFill/>
          <a:ln w="28575">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68" name="Text Box 1080"/>
          <p:cNvSpPr txBox="1">
            <a:spLocks noChangeArrowheads="1"/>
          </p:cNvSpPr>
          <p:nvPr/>
        </p:nvSpPr>
        <p:spPr bwMode="auto">
          <a:xfrm>
            <a:off x="139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32133AD1-DAA7-48C8-8009-85BC350F1DBF}" type="slidenum">
              <a:rPr lang="en-US" altLang="zh-CN" smtClean="0"/>
            </a:fld>
            <a:endParaRPr lang="en-US" altLang="zh-CN"/>
          </a:p>
        </p:txBody>
      </p:sp>
    </p:spTree>
  </p:cSld>
  <p:clrMapOvr>
    <a:masterClrMapping/>
  </p:clrMapOvr>
  <p:transition>
    <p:split/>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最小堆的下滑调整算法</a:t>
            </a:r>
            <a:endParaRPr lang="zh-CN" altLang="en-US" dirty="0"/>
          </a:p>
        </p:txBody>
      </p:sp>
      <p:sp>
        <p:nvSpPr>
          <p:cNvPr id="3" name="内容占位符 2"/>
          <p:cNvSpPr>
            <a:spLocks noGrp="1"/>
          </p:cNvSpPr>
          <p:nvPr>
            <p:ph idx="1"/>
          </p:nvPr>
        </p:nvSpPr>
        <p:spPr>
          <a:xfrm>
            <a:off x="628650" y="1556792"/>
            <a:ext cx="8335838" cy="5112568"/>
          </a:xfrm>
        </p:spPr>
        <p:txBody>
          <a:bodyPr>
            <a:normAutofit fontScale="55000" lnSpcReduction="20000"/>
          </a:bodyPr>
          <a:lstStyle/>
          <a:p>
            <a:pPr marL="0" indent="0">
              <a:buNone/>
            </a:pPr>
            <a:r>
              <a:rPr lang="en-US" altLang="zh-CN" dirty="0"/>
              <a:t>template &lt; class E&gt;  </a:t>
            </a:r>
            <a:endParaRPr lang="en-US" altLang="zh-CN" dirty="0"/>
          </a:p>
          <a:p>
            <a:pPr marL="0" indent="0">
              <a:buNone/>
            </a:pPr>
            <a:r>
              <a:rPr lang="en-US" altLang="zh-CN" dirty="0"/>
              <a:t>void </a:t>
            </a:r>
            <a:r>
              <a:rPr lang="en-US" altLang="zh-CN" dirty="0" err="1"/>
              <a:t>MinHeap</a:t>
            </a:r>
            <a:r>
              <a:rPr lang="en-US" altLang="zh-CN" dirty="0"/>
              <a:t>&lt;E&gt; :: </a:t>
            </a:r>
            <a:r>
              <a:rPr lang="en-US" altLang="zh-CN" dirty="0" err="1"/>
              <a:t>siftDown</a:t>
            </a:r>
            <a:r>
              <a:rPr lang="en-US" altLang="zh-CN" dirty="0"/>
              <a:t> ( int start, int m ) {</a:t>
            </a:r>
            <a:endParaRPr lang="en-US" altLang="zh-CN" dirty="0"/>
          </a:p>
          <a:p>
            <a:pPr marL="0" indent="0">
              <a:buNone/>
            </a:pPr>
            <a:r>
              <a:rPr lang="en-US" altLang="zh-CN" dirty="0"/>
              <a:t>    int </a:t>
            </a:r>
            <a:r>
              <a:rPr lang="en-US" altLang="zh-CN" dirty="0" err="1"/>
              <a:t>i</a:t>
            </a:r>
            <a:r>
              <a:rPr lang="en-US" altLang="zh-CN" dirty="0"/>
              <a:t> = start,   j = 2*i+1;        // j </a:t>
            </a:r>
            <a:r>
              <a:rPr lang="zh-CN" altLang="en-US" dirty="0"/>
              <a:t>是 </a:t>
            </a:r>
            <a:r>
              <a:rPr lang="en-US" altLang="zh-CN" dirty="0" err="1"/>
              <a:t>i</a:t>
            </a:r>
            <a:r>
              <a:rPr lang="en-US" altLang="zh-CN" dirty="0"/>
              <a:t> </a:t>
            </a:r>
            <a:r>
              <a:rPr lang="zh-CN" altLang="en-US" dirty="0"/>
              <a:t>的左孩子</a:t>
            </a:r>
            <a:endParaRPr lang="zh-CN" altLang="en-US" dirty="0"/>
          </a:p>
          <a:p>
            <a:pPr marL="0" indent="0">
              <a:buNone/>
            </a:pPr>
            <a:r>
              <a:rPr lang="zh-CN" altLang="en-US" dirty="0"/>
              <a:t>    </a:t>
            </a:r>
            <a:r>
              <a:rPr lang="en-US" altLang="zh-CN" dirty="0"/>
              <a:t>E temp = heap[</a:t>
            </a:r>
            <a:r>
              <a:rPr lang="en-US" altLang="zh-CN" dirty="0" err="1"/>
              <a:t>i</a:t>
            </a:r>
            <a:r>
              <a:rPr lang="en-US" altLang="zh-CN" dirty="0"/>
              <a:t>];</a:t>
            </a:r>
            <a:endParaRPr lang="en-US" altLang="zh-CN" dirty="0"/>
          </a:p>
          <a:p>
            <a:pPr marL="0" indent="0">
              <a:buNone/>
            </a:pPr>
            <a:r>
              <a:rPr lang="en-US" altLang="zh-CN" dirty="0"/>
              <a:t>    while ( j &lt;= m ) {  //m</a:t>
            </a:r>
            <a:r>
              <a:rPr lang="zh-CN" altLang="en-US" dirty="0"/>
              <a:t>是堆中最后一个结点的下标</a:t>
            </a:r>
            <a:endParaRPr lang="en-US" altLang="zh-CN" dirty="0"/>
          </a:p>
          <a:p>
            <a:pPr marL="0" indent="0">
              <a:buNone/>
            </a:pPr>
            <a:r>
              <a:rPr lang="en-US" altLang="zh-CN" dirty="0"/>
              <a:t>         if ( j &lt; m &amp;&amp; heap[j] &gt; heap[j+1] )  </a:t>
            </a:r>
            <a:r>
              <a:rPr lang="en-US" altLang="zh-CN" dirty="0" err="1"/>
              <a:t>j++</a:t>
            </a:r>
            <a:r>
              <a:rPr lang="en-US" altLang="zh-CN" dirty="0"/>
              <a:t>;  //</a:t>
            </a:r>
            <a:r>
              <a:rPr lang="zh-CN" altLang="en-US" dirty="0"/>
              <a:t>两孩子中选小者    </a:t>
            </a:r>
            <a:endParaRPr lang="zh-CN" altLang="en-US" dirty="0"/>
          </a:p>
          <a:p>
            <a:pPr marL="0" indent="0">
              <a:buNone/>
            </a:pPr>
            <a:r>
              <a:rPr lang="zh-CN" altLang="en-US" dirty="0"/>
              <a:t>         </a:t>
            </a:r>
            <a:r>
              <a:rPr lang="en-US" altLang="zh-CN" dirty="0"/>
              <a:t>if ( temp &lt;= heap[j] ) break;</a:t>
            </a:r>
            <a:endParaRPr lang="en-US" altLang="zh-CN" dirty="0"/>
          </a:p>
          <a:p>
            <a:pPr marL="0" indent="0">
              <a:buNone/>
            </a:pPr>
            <a:r>
              <a:rPr lang="en-US" altLang="zh-CN" dirty="0"/>
              <a:t>         else { </a:t>
            </a:r>
            <a:endParaRPr lang="en-US" altLang="zh-CN" dirty="0"/>
          </a:p>
          <a:p>
            <a:pPr marL="0" indent="0">
              <a:buNone/>
            </a:pPr>
            <a:r>
              <a:rPr lang="en-US" altLang="zh-CN" dirty="0"/>
              <a:t>                heap[</a:t>
            </a:r>
            <a:r>
              <a:rPr lang="en-US" altLang="zh-CN" dirty="0" err="1"/>
              <a:t>i</a:t>
            </a:r>
            <a:r>
              <a:rPr lang="en-US" altLang="zh-CN" dirty="0"/>
              <a:t>] = heap[j];           //</a:t>
            </a:r>
            <a:r>
              <a:rPr lang="zh-CN" altLang="en-US" dirty="0"/>
              <a:t>下面的上浮</a:t>
            </a:r>
            <a:endParaRPr lang="zh-CN" altLang="en-US" dirty="0"/>
          </a:p>
          <a:p>
            <a:pPr marL="0" indent="0">
              <a:buNone/>
            </a:pPr>
            <a:r>
              <a:rPr lang="zh-CN" altLang="en-US" dirty="0"/>
              <a:t>                </a:t>
            </a:r>
            <a:r>
              <a:rPr lang="en-US" altLang="zh-CN" dirty="0" err="1"/>
              <a:t>i</a:t>
            </a:r>
            <a:r>
              <a:rPr lang="en-US" altLang="zh-CN" dirty="0"/>
              <a:t> = j;   j = 2*j+1;             //</a:t>
            </a:r>
            <a:r>
              <a:rPr lang="zh-CN" altLang="en-US" dirty="0"/>
              <a:t>向下滑动</a:t>
            </a:r>
            <a:endParaRPr lang="en-US" altLang="zh-CN" dirty="0"/>
          </a:p>
          <a:p>
            <a:pPr marL="0" indent="0">
              <a:buNone/>
            </a:pPr>
            <a:r>
              <a:rPr lang="en-US" altLang="zh-CN" dirty="0"/>
              <a:t>         }</a:t>
            </a:r>
            <a:endParaRPr lang="zh-CN" altLang="en-US" dirty="0"/>
          </a:p>
          <a:p>
            <a:pPr marL="0" indent="0">
              <a:buNone/>
            </a:pPr>
            <a:r>
              <a:rPr lang="zh-CN" altLang="en-US" dirty="0"/>
              <a:t>    </a:t>
            </a:r>
            <a:r>
              <a:rPr lang="en-US" altLang="zh-CN" dirty="0"/>
              <a:t>}</a:t>
            </a:r>
            <a:endParaRPr lang="en-US" altLang="zh-CN" dirty="0"/>
          </a:p>
          <a:p>
            <a:pPr marL="0" indent="0">
              <a:buNone/>
            </a:pPr>
            <a:r>
              <a:rPr lang="en-US" altLang="zh-CN" dirty="0"/>
              <a:t>    heap[</a:t>
            </a:r>
            <a:r>
              <a:rPr lang="en-US" altLang="zh-CN" dirty="0" err="1"/>
              <a:t>i</a:t>
            </a:r>
            <a:r>
              <a:rPr lang="en-US" altLang="zh-CN" dirty="0"/>
              <a:t>] = temp;				</a:t>
            </a:r>
            <a:endParaRPr lang="en-US" altLang="zh-CN" dirty="0"/>
          </a:p>
          <a:p>
            <a:pPr marL="0" indent="0">
              <a:buNone/>
            </a:pPr>
            <a:r>
              <a:rPr lang="en-US" altLang="zh-CN" dirty="0"/>
              <a:t>}</a:t>
            </a: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5.8.3 </a:t>
            </a:r>
            <a:r>
              <a:rPr lang="zh-CN" altLang="en-US" dirty="0"/>
              <a:t>堆的插入与删除</a:t>
            </a:r>
            <a:endParaRPr lang="zh-CN" altLang="en-US" dirty="0"/>
          </a:p>
        </p:txBody>
      </p:sp>
      <p:sp>
        <p:nvSpPr>
          <p:cNvPr id="3" name="内容占位符 2"/>
          <p:cNvSpPr>
            <a:spLocks noGrp="1"/>
          </p:cNvSpPr>
          <p:nvPr>
            <p:ph idx="1"/>
          </p:nvPr>
        </p:nvSpPr>
        <p:spPr>
          <a:xfrm>
            <a:off x="628650" y="1825625"/>
            <a:ext cx="7886700" cy="4667250"/>
          </a:xfrm>
        </p:spPr>
        <p:txBody>
          <a:bodyPr>
            <a:normAutofit fontScale="70000" lnSpcReduction="20000"/>
          </a:bodyPr>
          <a:lstStyle/>
          <a:p>
            <a:pPr marL="0" indent="0">
              <a:buNone/>
            </a:pPr>
            <a:r>
              <a:rPr lang="en-US" altLang="zh-CN" dirty="0"/>
              <a:t>//</a:t>
            </a:r>
            <a:r>
              <a:rPr lang="zh-CN" altLang="en-US" dirty="0"/>
              <a:t>在堆中插入新元素 </a:t>
            </a:r>
            <a:r>
              <a:rPr lang="en-US" altLang="zh-CN" dirty="0"/>
              <a:t>x</a:t>
            </a:r>
            <a:endParaRPr lang="en-US" altLang="zh-CN" dirty="0"/>
          </a:p>
          <a:p>
            <a:pPr marL="0" indent="0">
              <a:buNone/>
            </a:pPr>
            <a:r>
              <a:rPr lang="en-US" altLang="zh-CN" dirty="0"/>
              <a:t>template &lt; class E&gt; </a:t>
            </a:r>
            <a:endParaRPr lang="en-US" altLang="zh-CN" dirty="0"/>
          </a:p>
          <a:p>
            <a:pPr marL="0" indent="0">
              <a:buNone/>
            </a:pPr>
            <a:r>
              <a:rPr lang="en-US" altLang="zh-CN" dirty="0"/>
              <a:t>bool </a:t>
            </a:r>
            <a:r>
              <a:rPr lang="en-US" altLang="zh-CN" dirty="0" err="1"/>
              <a:t>MinHeap</a:t>
            </a:r>
            <a:r>
              <a:rPr lang="en-US" altLang="zh-CN" dirty="0"/>
              <a:t>&lt;E&gt; :: Insert ( const E &amp;x ) {</a:t>
            </a:r>
            <a:endParaRPr lang="en-US" altLang="zh-CN" dirty="0"/>
          </a:p>
          <a:p>
            <a:pPr marL="0" indent="0">
              <a:buNone/>
            </a:pPr>
            <a:r>
              <a:rPr lang="en-US" altLang="zh-CN" dirty="0"/>
              <a:t>      if ( </a:t>
            </a:r>
            <a:r>
              <a:rPr lang="en-US" altLang="zh-CN" dirty="0" err="1"/>
              <a:t>currentSize</a:t>
            </a:r>
            <a:r>
              <a:rPr lang="en-US" altLang="zh-CN" dirty="0"/>
              <a:t> == </a:t>
            </a:r>
            <a:r>
              <a:rPr lang="en-US" altLang="zh-CN" dirty="0" err="1"/>
              <a:t>maxHeapSize</a:t>
            </a:r>
            <a:r>
              <a:rPr lang="en-US" altLang="zh-CN" dirty="0"/>
              <a:t> )  {  //</a:t>
            </a:r>
            <a:r>
              <a:rPr lang="zh-CN" altLang="en-US" dirty="0"/>
              <a:t>堆满</a:t>
            </a:r>
            <a:endParaRPr lang="zh-CN" altLang="en-US" dirty="0"/>
          </a:p>
          <a:p>
            <a:pPr marL="0" indent="0">
              <a:buNone/>
            </a:pPr>
            <a:r>
              <a:rPr lang="en-US" altLang="zh-CN" dirty="0"/>
              <a:t>            </a:t>
            </a:r>
            <a:r>
              <a:rPr lang="en-US" altLang="zh-CN" dirty="0" err="1"/>
              <a:t>cerr</a:t>
            </a:r>
            <a:r>
              <a:rPr lang="en-US" altLang="zh-CN" dirty="0"/>
              <a:t> &lt;&lt; "</a:t>
            </a:r>
            <a:r>
              <a:rPr lang="zh-CN" altLang="en-US" dirty="0"/>
              <a:t>堆已满</a:t>
            </a:r>
            <a:r>
              <a:rPr lang="en-US" altLang="zh-CN" dirty="0"/>
              <a:t>" &lt;&lt; </a:t>
            </a:r>
            <a:r>
              <a:rPr lang="en-US" altLang="zh-CN" dirty="0" err="1"/>
              <a:t>endl</a:t>
            </a:r>
            <a:r>
              <a:rPr lang="en-US" altLang="zh-CN" dirty="0"/>
              <a:t>;  return false;</a:t>
            </a:r>
            <a:endParaRPr lang="en-US" altLang="zh-CN" dirty="0"/>
          </a:p>
          <a:p>
            <a:pPr marL="0" indent="0">
              <a:buNone/>
            </a:pPr>
            <a:r>
              <a:rPr lang="en-US" altLang="zh-CN" dirty="0"/>
              <a:t>      }</a:t>
            </a:r>
            <a:endParaRPr lang="en-US" altLang="zh-CN" dirty="0"/>
          </a:p>
          <a:p>
            <a:pPr marL="0" indent="0">
              <a:buNone/>
            </a:pPr>
            <a:r>
              <a:rPr lang="en-US" altLang="zh-CN" dirty="0"/>
              <a:t>      heap[</a:t>
            </a:r>
            <a:r>
              <a:rPr lang="en-US" altLang="zh-CN" dirty="0" err="1"/>
              <a:t>currentSize</a:t>
            </a:r>
            <a:r>
              <a:rPr lang="en-US" altLang="zh-CN" dirty="0"/>
              <a:t>] = x;       //</a:t>
            </a:r>
            <a:r>
              <a:rPr lang="zh-CN" altLang="en-US" dirty="0"/>
              <a:t>插在表尾  </a:t>
            </a:r>
            <a:endParaRPr lang="zh-CN" altLang="en-US" dirty="0"/>
          </a:p>
          <a:p>
            <a:pPr marL="0" indent="0">
              <a:buNone/>
            </a:pPr>
            <a:r>
              <a:rPr lang="zh-CN" altLang="en-US" dirty="0"/>
              <a:t>      </a:t>
            </a:r>
            <a:r>
              <a:rPr lang="en-US" altLang="zh-CN" dirty="0" err="1"/>
              <a:t>siftUp</a:t>
            </a:r>
            <a:r>
              <a:rPr lang="en-US" altLang="zh-CN" dirty="0"/>
              <a:t> (</a:t>
            </a:r>
            <a:r>
              <a:rPr lang="en-US" altLang="zh-CN" dirty="0" err="1"/>
              <a:t>currentSize</a:t>
            </a:r>
            <a:r>
              <a:rPr lang="en-US" altLang="zh-CN" dirty="0"/>
              <a:t>);      //</a:t>
            </a:r>
            <a:r>
              <a:rPr lang="zh-CN" altLang="en-US" dirty="0"/>
              <a:t>向上调整为堆</a:t>
            </a:r>
            <a:endParaRPr lang="zh-CN" altLang="en-US" dirty="0"/>
          </a:p>
          <a:p>
            <a:pPr marL="0" indent="0">
              <a:buNone/>
            </a:pPr>
            <a:r>
              <a:rPr lang="zh-CN" altLang="en-US" dirty="0"/>
              <a:t>      </a:t>
            </a:r>
            <a:r>
              <a:rPr lang="en-US" altLang="zh-CN" dirty="0" err="1"/>
              <a:t>currentSize</a:t>
            </a:r>
            <a:r>
              <a:rPr lang="en-US" altLang="zh-CN" dirty="0"/>
              <a:t>++;                   //</a:t>
            </a:r>
            <a:r>
              <a:rPr lang="zh-CN" altLang="en-US" dirty="0"/>
              <a:t>堆元素增一</a:t>
            </a:r>
            <a:endParaRPr lang="zh-CN" altLang="en-US" dirty="0"/>
          </a:p>
          <a:p>
            <a:pPr marL="0" indent="0">
              <a:buNone/>
            </a:pPr>
            <a:r>
              <a:rPr lang="zh-CN" altLang="en-US" dirty="0"/>
              <a:t>      </a:t>
            </a:r>
            <a:r>
              <a:rPr lang="en-US" altLang="zh-CN" dirty="0"/>
              <a:t>return true;</a:t>
            </a:r>
            <a:endParaRPr lang="en-US" altLang="zh-CN" dirty="0"/>
          </a:p>
          <a:p>
            <a:pPr marL="0" indent="0">
              <a:buNone/>
            </a:pPr>
            <a:r>
              <a:rPr lang="en-US" altLang="zh-CN" dirty="0"/>
              <a:t>}</a:t>
            </a:r>
            <a:endParaRPr lang="en-US" altLang="zh-CN"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最小堆的向上调整算法</a:t>
            </a:r>
            <a:endParaRPr lang="zh-CN" altLang="en-US" dirty="0"/>
          </a:p>
        </p:txBody>
      </p:sp>
      <p:sp>
        <p:nvSpPr>
          <p:cNvPr id="3" name="内容占位符 2"/>
          <p:cNvSpPr>
            <a:spLocks noGrp="1"/>
          </p:cNvSpPr>
          <p:nvPr>
            <p:ph idx="1"/>
          </p:nvPr>
        </p:nvSpPr>
        <p:spPr>
          <a:xfrm>
            <a:off x="628650" y="1825625"/>
            <a:ext cx="7886700" cy="4667250"/>
          </a:xfrm>
        </p:spPr>
        <p:txBody>
          <a:bodyPr>
            <a:normAutofit fontScale="70000" lnSpcReduction="20000"/>
          </a:bodyPr>
          <a:lstStyle/>
          <a:p>
            <a:pPr marL="0" indent="0">
              <a:buNone/>
            </a:pPr>
            <a:r>
              <a:rPr lang="en-US" altLang="zh-CN" dirty="0"/>
              <a:t>//</a:t>
            </a:r>
            <a:r>
              <a:rPr lang="zh-CN" altLang="en-US" dirty="0"/>
              <a:t>从 </a:t>
            </a:r>
            <a:r>
              <a:rPr lang="en-US" altLang="zh-CN" dirty="0"/>
              <a:t>start </a:t>
            </a:r>
            <a:r>
              <a:rPr lang="zh-CN" altLang="en-US" dirty="0"/>
              <a:t>开始</a:t>
            </a:r>
            <a:r>
              <a:rPr lang="en-US" altLang="zh-CN" dirty="0"/>
              <a:t>,</a:t>
            </a:r>
            <a:r>
              <a:rPr lang="zh-CN" altLang="en-US" dirty="0"/>
              <a:t>向上直到</a:t>
            </a:r>
            <a:r>
              <a:rPr lang="en-US" altLang="zh-CN" dirty="0"/>
              <a:t>0,</a:t>
            </a:r>
            <a:r>
              <a:rPr lang="zh-CN" altLang="en-US" dirty="0"/>
              <a:t>调整堆</a:t>
            </a:r>
            <a:endParaRPr lang="zh-CN" altLang="en-US" dirty="0"/>
          </a:p>
          <a:p>
            <a:pPr marL="0" indent="0">
              <a:buNone/>
            </a:pPr>
            <a:r>
              <a:rPr lang="en-US" altLang="zh-CN" dirty="0"/>
              <a:t>template &lt; class E&gt; </a:t>
            </a:r>
            <a:endParaRPr lang="en-US" altLang="zh-CN" dirty="0"/>
          </a:p>
          <a:p>
            <a:pPr marL="0" indent="0">
              <a:buNone/>
            </a:pPr>
            <a:r>
              <a:rPr lang="en-US" altLang="zh-CN" dirty="0"/>
              <a:t>void </a:t>
            </a:r>
            <a:r>
              <a:rPr lang="en-US" altLang="zh-CN" dirty="0" err="1"/>
              <a:t>MinHeap</a:t>
            </a:r>
            <a:r>
              <a:rPr lang="en-US" altLang="zh-CN" dirty="0"/>
              <a:t>&lt;E&gt; :: </a:t>
            </a:r>
            <a:r>
              <a:rPr lang="en-US" altLang="zh-CN" dirty="0" err="1"/>
              <a:t>siftUp</a:t>
            </a:r>
            <a:r>
              <a:rPr lang="en-US" altLang="zh-CN" dirty="0"/>
              <a:t> ( int start ) {</a:t>
            </a:r>
            <a:endParaRPr lang="en-US" altLang="zh-CN" dirty="0"/>
          </a:p>
          <a:p>
            <a:pPr marL="0" indent="0">
              <a:buNone/>
            </a:pPr>
            <a:r>
              <a:rPr lang="en-US" altLang="zh-CN" dirty="0"/>
              <a:t>    int j = start,  </a:t>
            </a:r>
            <a:r>
              <a:rPr lang="en-US" altLang="zh-CN" dirty="0" err="1"/>
              <a:t>i</a:t>
            </a:r>
            <a:r>
              <a:rPr lang="en-US" altLang="zh-CN" dirty="0"/>
              <a:t> = (j-1)/2;    // </a:t>
            </a:r>
            <a:r>
              <a:rPr lang="en-US" altLang="zh-CN" dirty="0" err="1"/>
              <a:t>i</a:t>
            </a:r>
            <a:r>
              <a:rPr lang="en-US" altLang="zh-CN" dirty="0"/>
              <a:t> </a:t>
            </a:r>
            <a:r>
              <a:rPr lang="zh-CN" altLang="en-US" dirty="0"/>
              <a:t>是 </a:t>
            </a:r>
            <a:r>
              <a:rPr lang="en-US" altLang="zh-CN" dirty="0"/>
              <a:t>j </a:t>
            </a:r>
            <a:r>
              <a:rPr lang="zh-CN" altLang="en-US" dirty="0"/>
              <a:t>的双亲</a:t>
            </a:r>
            <a:endParaRPr lang="zh-CN" altLang="en-US" dirty="0"/>
          </a:p>
          <a:p>
            <a:pPr marL="0" indent="0">
              <a:buNone/>
            </a:pPr>
            <a:r>
              <a:rPr lang="zh-CN" altLang="en-US" dirty="0"/>
              <a:t>    </a:t>
            </a:r>
            <a:r>
              <a:rPr lang="en-US" altLang="zh-CN" dirty="0"/>
              <a:t>E temp = heap[j];</a:t>
            </a:r>
            <a:endParaRPr lang="en-US" altLang="zh-CN" dirty="0"/>
          </a:p>
          <a:p>
            <a:pPr marL="0" indent="0">
              <a:buNone/>
            </a:pPr>
            <a:r>
              <a:rPr lang="en-US" altLang="zh-CN" dirty="0"/>
              <a:t>    while ( j &gt; 0 ) {      </a:t>
            </a:r>
            <a:endParaRPr lang="en-US" altLang="zh-CN" dirty="0"/>
          </a:p>
          <a:p>
            <a:pPr marL="0" indent="0">
              <a:buNone/>
            </a:pPr>
            <a:r>
              <a:rPr lang="en-US" altLang="zh-CN" dirty="0"/>
              <a:t>        if ( heap[</a:t>
            </a:r>
            <a:r>
              <a:rPr lang="en-US" altLang="zh-CN" dirty="0" err="1"/>
              <a:t>i</a:t>
            </a:r>
            <a:r>
              <a:rPr lang="en-US" altLang="zh-CN" dirty="0"/>
              <a:t>] &lt;= temp ) break;</a:t>
            </a:r>
            <a:endParaRPr lang="en-US" altLang="zh-CN" dirty="0"/>
          </a:p>
          <a:p>
            <a:pPr marL="0" indent="0">
              <a:buNone/>
            </a:pPr>
            <a:r>
              <a:rPr lang="en-US" altLang="zh-CN" dirty="0"/>
              <a:t>        else { heap[j] = heap[</a:t>
            </a:r>
            <a:r>
              <a:rPr lang="en-US" altLang="zh-CN" dirty="0" err="1"/>
              <a:t>i</a:t>
            </a:r>
            <a:r>
              <a:rPr lang="en-US" altLang="zh-CN" dirty="0"/>
              <a:t>]; j = </a:t>
            </a:r>
            <a:r>
              <a:rPr lang="en-US" altLang="zh-CN" dirty="0" err="1"/>
              <a:t>i</a:t>
            </a:r>
            <a:r>
              <a:rPr lang="en-US" altLang="zh-CN" dirty="0"/>
              <a:t>;  </a:t>
            </a:r>
            <a:r>
              <a:rPr lang="en-US" altLang="zh-CN" dirty="0" err="1"/>
              <a:t>i</a:t>
            </a:r>
            <a:r>
              <a:rPr lang="en-US" altLang="zh-CN" dirty="0"/>
              <a:t> = (</a:t>
            </a:r>
            <a:r>
              <a:rPr lang="en-US" altLang="zh-CN" dirty="0" err="1"/>
              <a:t>i</a:t>
            </a:r>
            <a:r>
              <a:rPr lang="en-US" altLang="zh-CN" dirty="0"/>
              <a:t> -1)/2;}</a:t>
            </a:r>
            <a:endParaRPr lang="en-US" altLang="zh-CN" dirty="0"/>
          </a:p>
          <a:p>
            <a:pPr marL="0" indent="0">
              <a:buNone/>
            </a:pPr>
            <a:r>
              <a:rPr lang="en-US" altLang="zh-CN" dirty="0"/>
              <a:t>    }</a:t>
            </a:r>
            <a:endParaRPr lang="en-US" altLang="zh-CN" dirty="0"/>
          </a:p>
          <a:p>
            <a:pPr marL="0" indent="0">
              <a:buNone/>
            </a:pPr>
            <a:r>
              <a:rPr lang="en-US" altLang="zh-CN" dirty="0"/>
              <a:t>    heap[j] = temp;</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Line 61"/>
          <p:cNvSpPr>
            <a:spLocks noChangeShapeType="1"/>
          </p:cNvSpPr>
          <p:nvPr/>
        </p:nvSpPr>
        <p:spPr bwMode="auto">
          <a:xfrm>
            <a:off x="5334000" y="3810000"/>
            <a:ext cx="152400" cy="533400"/>
          </a:xfrm>
          <a:prstGeom prst="line">
            <a:avLst/>
          </a:prstGeom>
          <a:noFill/>
          <a:ln w="28575">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15" name="Line 54"/>
          <p:cNvSpPr>
            <a:spLocks noChangeShapeType="1"/>
          </p:cNvSpPr>
          <p:nvPr/>
        </p:nvSpPr>
        <p:spPr bwMode="auto">
          <a:xfrm>
            <a:off x="1752600" y="3810000"/>
            <a:ext cx="152400" cy="533400"/>
          </a:xfrm>
          <a:prstGeom prst="line">
            <a:avLst/>
          </a:prstGeom>
          <a:noFill/>
          <a:ln w="28575">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16" name="Line 2"/>
          <p:cNvSpPr>
            <a:spLocks noChangeShapeType="1"/>
          </p:cNvSpPr>
          <p:nvPr/>
        </p:nvSpPr>
        <p:spPr bwMode="auto">
          <a:xfrm>
            <a:off x="3429000" y="2819400"/>
            <a:ext cx="381000" cy="6858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17" name="Line 3"/>
          <p:cNvSpPr>
            <a:spLocks noChangeShapeType="1"/>
          </p:cNvSpPr>
          <p:nvPr/>
        </p:nvSpPr>
        <p:spPr bwMode="auto">
          <a:xfrm flipH="1">
            <a:off x="3124200" y="2895600"/>
            <a:ext cx="2286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18" name="Line 4"/>
          <p:cNvSpPr>
            <a:spLocks noChangeShapeType="1"/>
          </p:cNvSpPr>
          <p:nvPr/>
        </p:nvSpPr>
        <p:spPr bwMode="auto">
          <a:xfrm>
            <a:off x="28956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19" name="Line 5"/>
          <p:cNvSpPr>
            <a:spLocks noChangeShapeType="1"/>
          </p:cNvSpPr>
          <p:nvPr/>
        </p:nvSpPr>
        <p:spPr bwMode="auto">
          <a:xfrm>
            <a:off x="2209800" y="2895600"/>
            <a:ext cx="1524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0" name="Line 6"/>
          <p:cNvSpPr>
            <a:spLocks noChangeShapeType="1"/>
          </p:cNvSpPr>
          <p:nvPr/>
        </p:nvSpPr>
        <p:spPr bwMode="auto">
          <a:xfrm flipH="1">
            <a:off x="22860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1" name="Line 7"/>
          <p:cNvSpPr>
            <a:spLocks noChangeShapeType="1"/>
          </p:cNvSpPr>
          <p:nvPr/>
        </p:nvSpPr>
        <p:spPr bwMode="auto">
          <a:xfrm flipH="1">
            <a:off x="1143000" y="2895600"/>
            <a:ext cx="914400" cy="15240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2" name="Oval 8"/>
          <p:cNvSpPr>
            <a:spLocks noChangeArrowheads="1"/>
          </p:cNvSpPr>
          <p:nvPr/>
        </p:nvSpPr>
        <p:spPr bwMode="auto">
          <a:xfrm>
            <a:off x="25146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3" name="Oval 9"/>
          <p:cNvSpPr>
            <a:spLocks noChangeArrowheads="1"/>
          </p:cNvSpPr>
          <p:nvPr/>
        </p:nvSpPr>
        <p:spPr bwMode="auto">
          <a:xfrm>
            <a:off x="1371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4" name="Oval 10"/>
          <p:cNvSpPr>
            <a:spLocks noChangeArrowheads="1"/>
          </p:cNvSpPr>
          <p:nvPr/>
        </p:nvSpPr>
        <p:spPr bwMode="auto">
          <a:xfrm>
            <a:off x="2133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5" name="Oval 11"/>
          <p:cNvSpPr>
            <a:spLocks noChangeArrowheads="1"/>
          </p:cNvSpPr>
          <p:nvPr/>
        </p:nvSpPr>
        <p:spPr bwMode="auto">
          <a:xfrm>
            <a:off x="2819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6" name="Oval 12"/>
          <p:cNvSpPr>
            <a:spLocks noChangeArrowheads="1"/>
          </p:cNvSpPr>
          <p:nvPr/>
        </p:nvSpPr>
        <p:spPr bwMode="auto">
          <a:xfrm>
            <a:off x="3581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7" name="Oval 13"/>
          <p:cNvSpPr>
            <a:spLocks noChangeArrowheads="1"/>
          </p:cNvSpPr>
          <p:nvPr/>
        </p:nvSpPr>
        <p:spPr bwMode="auto">
          <a:xfrm>
            <a:off x="8382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8" name="Oval 14"/>
          <p:cNvSpPr>
            <a:spLocks noChangeArrowheads="1"/>
          </p:cNvSpPr>
          <p:nvPr/>
        </p:nvSpPr>
        <p:spPr bwMode="auto">
          <a:xfrm>
            <a:off x="19050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9" name="Oval 15"/>
          <p:cNvSpPr>
            <a:spLocks noChangeArrowheads="1"/>
          </p:cNvSpPr>
          <p:nvPr/>
        </p:nvSpPr>
        <p:spPr bwMode="auto">
          <a:xfrm>
            <a:off x="31242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30" name="Line 16"/>
          <p:cNvSpPr>
            <a:spLocks noChangeShapeType="1"/>
          </p:cNvSpPr>
          <p:nvPr/>
        </p:nvSpPr>
        <p:spPr bwMode="auto">
          <a:xfrm>
            <a:off x="7086600" y="2819400"/>
            <a:ext cx="381000" cy="6858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1" name="Line 17"/>
          <p:cNvSpPr>
            <a:spLocks noChangeShapeType="1"/>
          </p:cNvSpPr>
          <p:nvPr/>
        </p:nvSpPr>
        <p:spPr bwMode="auto">
          <a:xfrm flipH="1">
            <a:off x="6781800" y="2895600"/>
            <a:ext cx="2286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2" name="Line 18"/>
          <p:cNvSpPr>
            <a:spLocks noChangeShapeType="1"/>
          </p:cNvSpPr>
          <p:nvPr/>
        </p:nvSpPr>
        <p:spPr bwMode="auto">
          <a:xfrm>
            <a:off x="65532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3" name="Line 19"/>
          <p:cNvSpPr>
            <a:spLocks noChangeShapeType="1"/>
          </p:cNvSpPr>
          <p:nvPr/>
        </p:nvSpPr>
        <p:spPr bwMode="auto">
          <a:xfrm>
            <a:off x="5867400" y="2895600"/>
            <a:ext cx="1524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4" name="Line 20"/>
          <p:cNvSpPr>
            <a:spLocks noChangeShapeType="1"/>
          </p:cNvSpPr>
          <p:nvPr/>
        </p:nvSpPr>
        <p:spPr bwMode="auto">
          <a:xfrm flipH="1">
            <a:off x="59436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5" name="Line 21"/>
          <p:cNvSpPr>
            <a:spLocks noChangeShapeType="1"/>
          </p:cNvSpPr>
          <p:nvPr/>
        </p:nvSpPr>
        <p:spPr bwMode="auto">
          <a:xfrm flipH="1">
            <a:off x="4800600" y="2895600"/>
            <a:ext cx="914400" cy="15240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6" name="Oval 22"/>
          <p:cNvSpPr>
            <a:spLocks noChangeArrowheads="1"/>
          </p:cNvSpPr>
          <p:nvPr/>
        </p:nvSpPr>
        <p:spPr bwMode="auto">
          <a:xfrm>
            <a:off x="61722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37" name="Oval 23"/>
          <p:cNvSpPr>
            <a:spLocks noChangeArrowheads="1"/>
          </p:cNvSpPr>
          <p:nvPr/>
        </p:nvSpPr>
        <p:spPr bwMode="auto">
          <a:xfrm>
            <a:off x="5029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38" name="Oval 24"/>
          <p:cNvSpPr>
            <a:spLocks noChangeArrowheads="1"/>
          </p:cNvSpPr>
          <p:nvPr/>
        </p:nvSpPr>
        <p:spPr bwMode="auto">
          <a:xfrm>
            <a:off x="5791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39" name="Oval 25"/>
          <p:cNvSpPr>
            <a:spLocks noChangeArrowheads="1"/>
          </p:cNvSpPr>
          <p:nvPr/>
        </p:nvSpPr>
        <p:spPr bwMode="auto">
          <a:xfrm>
            <a:off x="6477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40" name="Oval 26"/>
          <p:cNvSpPr>
            <a:spLocks noChangeArrowheads="1"/>
          </p:cNvSpPr>
          <p:nvPr/>
        </p:nvSpPr>
        <p:spPr bwMode="auto">
          <a:xfrm>
            <a:off x="7239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41" name="Oval 27"/>
          <p:cNvSpPr>
            <a:spLocks noChangeArrowheads="1"/>
          </p:cNvSpPr>
          <p:nvPr/>
        </p:nvSpPr>
        <p:spPr bwMode="auto">
          <a:xfrm>
            <a:off x="4495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42" name="Oval 28"/>
          <p:cNvSpPr>
            <a:spLocks noChangeArrowheads="1"/>
          </p:cNvSpPr>
          <p:nvPr/>
        </p:nvSpPr>
        <p:spPr bwMode="auto">
          <a:xfrm>
            <a:off x="55626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43" name="Oval 29"/>
          <p:cNvSpPr>
            <a:spLocks noChangeArrowheads="1"/>
          </p:cNvSpPr>
          <p:nvPr/>
        </p:nvSpPr>
        <p:spPr bwMode="auto">
          <a:xfrm>
            <a:off x="67818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44" name="Text Box 31"/>
          <p:cNvSpPr txBox="1">
            <a:spLocks noChangeArrowheads="1"/>
          </p:cNvSpPr>
          <p:nvPr/>
        </p:nvSpPr>
        <p:spPr bwMode="auto">
          <a:xfrm>
            <a:off x="4495800" y="42672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141345" name="Text Box 32"/>
          <p:cNvSpPr txBox="1">
            <a:spLocks noChangeArrowheads="1"/>
          </p:cNvSpPr>
          <p:nvPr/>
        </p:nvSpPr>
        <p:spPr bwMode="auto">
          <a:xfrm>
            <a:off x="19304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41346" name="Text Box 33"/>
          <p:cNvSpPr txBox="1">
            <a:spLocks noChangeArrowheads="1"/>
          </p:cNvSpPr>
          <p:nvPr/>
        </p:nvSpPr>
        <p:spPr bwMode="auto">
          <a:xfrm>
            <a:off x="55880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41347" name="Text Box 34"/>
          <p:cNvSpPr txBox="1">
            <a:spLocks noChangeArrowheads="1"/>
          </p:cNvSpPr>
          <p:nvPr/>
        </p:nvSpPr>
        <p:spPr bwMode="auto">
          <a:xfrm>
            <a:off x="28448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41348" name="Text Box 35"/>
          <p:cNvSpPr txBox="1">
            <a:spLocks noChangeArrowheads="1"/>
          </p:cNvSpPr>
          <p:nvPr/>
        </p:nvSpPr>
        <p:spPr bwMode="auto">
          <a:xfrm>
            <a:off x="647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41349" name="Text Box 36"/>
          <p:cNvSpPr txBox="1">
            <a:spLocks noChangeArrowheads="1"/>
          </p:cNvSpPr>
          <p:nvPr/>
        </p:nvSpPr>
        <p:spPr bwMode="auto">
          <a:xfrm>
            <a:off x="2540000" y="1614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41350" name="Text Box 37"/>
          <p:cNvSpPr txBox="1">
            <a:spLocks noChangeArrowheads="1"/>
          </p:cNvSpPr>
          <p:nvPr/>
        </p:nvSpPr>
        <p:spPr bwMode="auto">
          <a:xfrm>
            <a:off x="13970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41351" name="Text Box 38"/>
          <p:cNvSpPr txBox="1">
            <a:spLocks noChangeArrowheads="1"/>
          </p:cNvSpPr>
          <p:nvPr/>
        </p:nvSpPr>
        <p:spPr bwMode="auto">
          <a:xfrm>
            <a:off x="2159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41352" name="Text Box 39"/>
          <p:cNvSpPr txBox="1">
            <a:spLocks noChangeArrowheads="1"/>
          </p:cNvSpPr>
          <p:nvPr/>
        </p:nvSpPr>
        <p:spPr bwMode="auto">
          <a:xfrm>
            <a:off x="31496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41353" name="Text Box 40"/>
          <p:cNvSpPr txBox="1">
            <a:spLocks noChangeArrowheads="1"/>
          </p:cNvSpPr>
          <p:nvPr/>
        </p:nvSpPr>
        <p:spPr bwMode="auto">
          <a:xfrm>
            <a:off x="3606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41354" name="Line 41"/>
          <p:cNvSpPr>
            <a:spLocks noChangeShapeType="1"/>
          </p:cNvSpPr>
          <p:nvPr/>
        </p:nvSpPr>
        <p:spPr bwMode="auto">
          <a:xfrm>
            <a:off x="1341438" y="2971800"/>
            <a:ext cx="228600"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55" name="Text Box 42"/>
          <p:cNvSpPr txBox="1">
            <a:spLocks noChangeArrowheads="1"/>
          </p:cNvSpPr>
          <p:nvPr/>
        </p:nvSpPr>
        <p:spPr bwMode="auto">
          <a:xfrm>
            <a:off x="1219200" y="25146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41356" name="Text Box 44"/>
          <p:cNvSpPr txBox="1">
            <a:spLocks noChangeArrowheads="1"/>
          </p:cNvSpPr>
          <p:nvPr/>
        </p:nvSpPr>
        <p:spPr bwMode="auto">
          <a:xfrm>
            <a:off x="61976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41357" name="Text Box 45"/>
          <p:cNvSpPr txBox="1">
            <a:spLocks noChangeArrowheads="1"/>
          </p:cNvSpPr>
          <p:nvPr/>
        </p:nvSpPr>
        <p:spPr bwMode="auto">
          <a:xfrm>
            <a:off x="5054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41358" name="Text Box 46"/>
          <p:cNvSpPr txBox="1">
            <a:spLocks noChangeArrowheads="1"/>
          </p:cNvSpPr>
          <p:nvPr/>
        </p:nvSpPr>
        <p:spPr bwMode="auto">
          <a:xfrm>
            <a:off x="5816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41359" name="Text Box 47"/>
          <p:cNvSpPr txBox="1">
            <a:spLocks noChangeArrowheads="1"/>
          </p:cNvSpPr>
          <p:nvPr/>
        </p:nvSpPr>
        <p:spPr bwMode="auto">
          <a:xfrm>
            <a:off x="68072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41360" name="Text Box 48"/>
          <p:cNvSpPr txBox="1">
            <a:spLocks noChangeArrowheads="1"/>
          </p:cNvSpPr>
          <p:nvPr/>
        </p:nvSpPr>
        <p:spPr bwMode="auto">
          <a:xfrm>
            <a:off x="7264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41361" name="Text Box 50"/>
          <p:cNvSpPr txBox="1">
            <a:spLocks noChangeArrowheads="1"/>
          </p:cNvSpPr>
          <p:nvPr/>
        </p:nvSpPr>
        <p:spPr bwMode="auto">
          <a:xfrm>
            <a:off x="4724400" y="2528888"/>
            <a:ext cx="303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330805" name="Oval 53"/>
          <p:cNvSpPr>
            <a:spLocks noChangeArrowheads="1"/>
          </p:cNvSpPr>
          <p:nvPr/>
        </p:nvSpPr>
        <p:spPr bwMode="auto">
          <a:xfrm>
            <a:off x="1676400" y="4267200"/>
            <a:ext cx="533400" cy="533400"/>
          </a:xfrm>
          <a:prstGeom prst="ellipse">
            <a:avLst/>
          </a:prstGeom>
          <a:gradFill rotWithShape="0">
            <a:gsLst>
              <a:gs pos="0">
                <a:schemeClr val="hlink">
                  <a:gamma/>
                  <a:shade val="46275"/>
                  <a:invGamma/>
                </a:schemeClr>
              </a:gs>
              <a:gs pos="100000">
                <a:schemeClr val="hlink"/>
              </a:gs>
            </a:gsLst>
            <a:path path="shape">
              <a:fillToRect l="50000" t="50000" r="50000" b="50000"/>
            </a:path>
          </a:gradFill>
          <a:ln w="38100">
            <a:noFill/>
            <a:round/>
          </a:ln>
          <a:effectLst/>
        </p:spPr>
        <p:txBody>
          <a:bodyPr wrap="none" anchor="ctr"/>
          <a:lstStyle/>
          <a:p>
            <a:pPr eaLnBrk="1" fontAlgn="auto" hangingPunct="1">
              <a:spcBef>
                <a:spcPts val="0"/>
              </a:spcBef>
              <a:spcAft>
                <a:spcPts val="0"/>
              </a:spcAft>
              <a:defRPr/>
            </a:pPr>
            <a:endParaRPr lang="zh-CN" altLang="en-US">
              <a:latin typeface="Times New Roman" panose="02020603050405020304" pitchFamily="18" charset="0"/>
              <a:ea typeface="+mn-ea"/>
            </a:endParaRPr>
          </a:p>
        </p:txBody>
      </p:sp>
      <p:sp>
        <p:nvSpPr>
          <p:cNvPr id="141363" name="Text Box 55"/>
          <p:cNvSpPr txBox="1">
            <a:spLocks noChangeArrowheads="1"/>
          </p:cNvSpPr>
          <p:nvPr/>
        </p:nvSpPr>
        <p:spPr bwMode="auto">
          <a:xfrm>
            <a:off x="17018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11</a:t>
            </a:r>
            <a:endParaRPr kumimoji="1" lang="en-US" altLang="zh-CN" sz="2400">
              <a:latin typeface="Times New Roman" panose="02020603050405020304" pitchFamily="18" charset="0"/>
              <a:ea typeface="宋体" panose="02010600030101010101" pitchFamily="2" charset="-122"/>
            </a:endParaRPr>
          </a:p>
        </p:txBody>
      </p:sp>
      <p:sp>
        <p:nvSpPr>
          <p:cNvPr id="141364" name="Text Box 56"/>
          <p:cNvSpPr txBox="1">
            <a:spLocks noChangeArrowheads="1"/>
          </p:cNvSpPr>
          <p:nvPr/>
        </p:nvSpPr>
        <p:spPr bwMode="auto">
          <a:xfrm>
            <a:off x="717550" y="4983163"/>
            <a:ext cx="3841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a:solidFill>
                  <a:schemeClr val="accent2"/>
                </a:solidFill>
                <a:latin typeface="Times New Roman" panose="02020603050405020304" pitchFamily="18" charset="0"/>
                <a:ea typeface="隶书" panose="02010509060101010101" pitchFamily="49" charset="-122"/>
              </a:rPr>
              <a:t>在堆中插入新元素</a:t>
            </a:r>
            <a:r>
              <a:rPr kumimoji="1" lang="en-US" altLang="zh-CN" sz="3200" b="1">
                <a:solidFill>
                  <a:schemeClr val="accent2"/>
                </a:solidFill>
                <a:latin typeface="Times New Roman" panose="02020603050405020304" pitchFamily="18" charset="0"/>
                <a:ea typeface="仿宋_GB2312" panose="02010609030101010101" pitchFamily="49" charset="-122"/>
              </a:rPr>
              <a:t>11</a:t>
            </a:r>
            <a:endParaRPr kumimoji="1" lang="en-US" altLang="zh-CN" sz="3200" b="1">
              <a:solidFill>
                <a:schemeClr val="accent2"/>
              </a:solidFill>
              <a:latin typeface="Times New Roman" panose="02020603050405020304" pitchFamily="18" charset="0"/>
              <a:ea typeface="仿宋_GB2312" panose="02010609030101010101" pitchFamily="49" charset="-122"/>
            </a:endParaRPr>
          </a:p>
        </p:txBody>
      </p:sp>
      <p:sp>
        <p:nvSpPr>
          <p:cNvPr id="141365" name="Line 57"/>
          <p:cNvSpPr>
            <a:spLocks noChangeShapeType="1"/>
          </p:cNvSpPr>
          <p:nvPr/>
        </p:nvSpPr>
        <p:spPr bwMode="auto">
          <a:xfrm>
            <a:off x="1905000" y="3810000"/>
            <a:ext cx="185738" cy="457200"/>
          </a:xfrm>
          <a:prstGeom prst="line">
            <a:avLst/>
          </a:prstGeom>
          <a:noFill/>
          <a:ln w="28575">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66" name="Text Box 58"/>
          <p:cNvSpPr txBox="1">
            <a:spLocks noChangeArrowheads="1"/>
          </p:cNvSpPr>
          <p:nvPr/>
        </p:nvSpPr>
        <p:spPr bwMode="auto">
          <a:xfrm>
            <a:off x="838200" y="42672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141367" name="Line 59"/>
          <p:cNvSpPr>
            <a:spLocks noChangeShapeType="1"/>
          </p:cNvSpPr>
          <p:nvPr/>
        </p:nvSpPr>
        <p:spPr bwMode="auto">
          <a:xfrm flipH="1">
            <a:off x="2166938" y="4114800"/>
            <a:ext cx="347662" cy="3048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68" name="Text Box 60"/>
          <p:cNvSpPr txBox="1">
            <a:spLocks noChangeArrowheads="1"/>
          </p:cNvSpPr>
          <p:nvPr/>
        </p:nvSpPr>
        <p:spPr bwMode="auto">
          <a:xfrm>
            <a:off x="2516188" y="3810000"/>
            <a:ext cx="3032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41369" name="Oval 62"/>
          <p:cNvSpPr>
            <a:spLocks noChangeArrowheads="1"/>
          </p:cNvSpPr>
          <p:nvPr/>
        </p:nvSpPr>
        <p:spPr bwMode="auto">
          <a:xfrm>
            <a:off x="5257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70" name="Text Box 63"/>
          <p:cNvSpPr txBox="1">
            <a:spLocks noChangeArrowheads="1"/>
          </p:cNvSpPr>
          <p:nvPr/>
        </p:nvSpPr>
        <p:spPr bwMode="auto">
          <a:xfrm>
            <a:off x="4673600" y="3200400"/>
            <a:ext cx="508000" cy="519113"/>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Narrow" panose="020B0606020202030204" pitchFamily="34" charset="0"/>
                <a:ea typeface="宋体" panose="02010600030101010101" pitchFamily="2" charset="-122"/>
              </a:rPr>
              <a:t>11</a:t>
            </a:r>
            <a:endParaRPr kumimoji="1" lang="en-US" altLang="zh-CN" sz="2400">
              <a:solidFill>
                <a:schemeClr val="accent2"/>
              </a:solidFill>
              <a:latin typeface="Times New Roman" panose="02020603050405020304" pitchFamily="18" charset="0"/>
              <a:ea typeface="宋体" panose="02010600030101010101" pitchFamily="2" charset="-122"/>
            </a:endParaRPr>
          </a:p>
        </p:txBody>
      </p:sp>
      <p:sp>
        <p:nvSpPr>
          <p:cNvPr id="141371" name="Text Box 64"/>
          <p:cNvSpPr txBox="1">
            <a:spLocks noChangeArrowheads="1"/>
          </p:cNvSpPr>
          <p:nvPr/>
        </p:nvSpPr>
        <p:spPr bwMode="auto">
          <a:xfrm>
            <a:off x="52832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41372" name="Line 65"/>
          <p:cNvSpPr>
            <a:spLocks noChangeShapeType="1"/>
          </p:cNvSpPr>
          <p:nvPr/>
        </p:nvSpPr>
        <p:spPr bwMode="auto">
          <a:xfrm>
            <a:off x="5529263" y="2043113"/>
            <a:ext cx="185737"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73" name="Text Box 66"/>
          <p:cNvSpPr txBox="1">
            <a:spLocks noChangeArrowheads="1"/>
          </p:cNvSpPr>
          <p:nvPr/>
        </p:nvSpPr>
        <p:spPr bwMode="auto">
          <a:xfrm>
            <a:off x="5322888" y="16002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41374" name="Line 49"/>
          <p:cNvSpPr>
            <a:spLocks noChangeShapeType="1"/>
          </p:cNvSpPr>
          <p:nvPr/>
        </p:nvSpPr>
        <p:spPr bwMode="auto">
          <a:xfrm>
            <a:off x="4995863" y="2971800"/>
            <a:ext cx="185737"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75" name="Line 67"/>
          <p:cNvSpPr>
            <a:spLocks noChangeShapeType="1"/>
          </p:cNvSpPr>
          <p:nvPr/>
        </p:nvSpPr>
        <p:spPr bwMode="auto">
          <a:xfrm flipH="1">
            <a:off x="5257800" y="2895600"/>
            <a:ext cx="228600" cy="381000"/>
          </a:xfrm>
          <a:prstGeom prst="line">
            <a:avLst/>
          </a:prstGeom>
          <a:noFill/>
          <a:ln w="3175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p:cNvSpPr>
            <a:spLocks noGrp="1"/>
          </p:cNvSpPr>
          <p:nvPr>
            <p:ph type="title"/>
          </p:nvPr>
        </p:nvSpPr>
        <p:spPr/>
        <p:txBody>
          <a:bodyPr/>
          <a:lstStyle/>
          <a:p>
            <a:r>
              <a:rPr lang="zh-CN" altLang="en-US" dirty="0"/>
              <a:t>最小堆的向上调整</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Line 1026"/>
          <p:cNvSpPr>
            <a:spLocks noChangeShapeType="1"/>
          </p:cNvSpPr>
          <p:nvPr/>
        </p:nvSpPr>
        <p:spPr bwMode="auto">
          <a:xfrm>
            <a:off x="5334000" y="3810000"/>
            <a:ext cx="152400" cy="533400"/>
          </a:xfrm>
          <a:prstGeom prst="line">
            <a:avLst/>
          </a:prstGeom>
          <a:noFill/>
          <a:ln w="28575">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39" name="Line 1027"/>
          <p:cNvSpPr>
            <a:spLocks noChangeShapeType="1"/>
          </p:cNvSpPr>
          <p:nvPr/>
        </p:nvSpPr>
        <p:spPr bwMode="auto">
          <a:xfrm>
            <a:off x="1752600" y="3810000"/>
            <a:ext cx="152400" cy="533400"/>
          </a:xfrm>
          <a:prstGeom prst="line">
            <a:avLst/>
          </a:prstGeom>
          <a:noFill/>
          <a:ln w="28575">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0" name="Line 1028"/>
          <p:cNvSpPr>
            <a:spLocks noChangeShapeType="1"/>
          </p:cNvSpPr>
          <p:nvPr/>
        </p:nvSpPr>
        <p:spPr bwMode="auto">
          <a:xfrm>
            <a:off x="3429000" y="2819400"/>
            <a:ext cx="381000" cy="6858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1" name="Line 1029"/>
          <p:cNvSpPr>
            <a:spLocks noChangeShapeType="1"/>
          </p:cNvSpPr>
          <p:nvPr/>
        </p:nvSpPr>
        <p:spPr bwMode="auto">
          <a:xfrm flipH="1">
            <a:off x="3124200" y="2895600"/>
            <a:ext cx="2286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2" name="Line 1030"/>
          <p:cNvSpPr>
            <a:spLocks noChangeShapeType="1"/>
          </p:cNvSpPr>
          <p:nvPr/>
        </p:nvSpPr>
        <p:spPr bwMode="auto">
          <a:xfrm>
            <a:off x="28956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3" name="Line 1031"/>
          <p:cNvSpPr>
            <a:spLocks noChangeShapeType="1"/>
          </p:cNvSpPr>
          <p:nvPr/>
        </p:nvSpPr>
        <p:spPr bwMode="auto">
          <a:xfrm>
            <a:off x="2209800" y="2895600"/>
            <a:ext cx="1524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4" name="Line 1032"/>
          <p:cNvSpPr>
            <a:spLocks noChangeShapeType="1"/>
          </p:cNvSpPr>
          <p:nvPr/>
        </p:nvSpPr>
        <p:spPr bwMode="auto">
          <a:xfrm flipH="1">
            <a:off x="22860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5" name="Line 1033"/>
          <p:cNvSpPr>
            <a:spLocks noChangeShapeType="1"/>
          </p:cNvSpPr>
          <p:nvPr/>
        </p:nvSpPr>
        <p:spPr bwMode="auto">
          <a:xfrm flipH="1">
            <a:off x="1143000" y="2895600"/>
            <a:ext cx="914400" cy="15240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6" name="Oval 1034"/>
          <p:cNvSpPr>
            <a:spLocks noChangeArrowheads="1"/>
          </p:cNvSpPr>
          <p:nvPr/>
        </p:nvSpPr>
        <p:spPr bwMode="auto">
          <a:xfrm>
            <a:off x="25146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47" name="Oval 1035"/>
          <p:cNvSpPr>
            <a:spLocks noChangeArrowheads="1"/>
          </p:cNvSpPr>
          <p:nvPr/>
        </p:nvSpPr>
        <p:spPr bwMode="auto">
          <a:xfrm>
            <a:off x="1371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48" name="Oval 1036"/>
          <p:cNvSpPr>
            <a:spLocks noChangeArrowheads="1"/>
          </p:cNvSpPr>
          <p:nvPr/>
        </p:nvSpPr>
        <p:spPr bwMode="auto">
          <a:xfrm>
            <a:off x="2133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49" name="Oval 1037"/>
          <p:cNvSpPr>
            <a:spLocks noChangeArrowheads="1"/>
          </p:cNvSpPr>
          <p:nvPr/>
        </p:nvSpPr>
        <p:spPr bwMode="auto">
          <a:xfrm>
            <a:off x="2819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50" name="Oval 1038"/>
          <p:cNvSpPr>
            <a:spLocks noChangeArrowheads="1"/>
          </p:cNvSpPr>
          <p:nvPr/>
        </p:nvSpPr>
        <p:spPr bwMode="auto">
          <a:xfrm>
            <a:off x="3581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51" name="Oval 1039"/>
          <p:cNvSpPr>
            <a:spLocks noChangeArrowheads="1"/>
          </p:cNvSpPr>
          <p:nvPr/>
        </p:nvSpPr>
        <p:spPr bwMode="auto">
          <a:xfrm>
            <a:off x="8382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52" name="Oval 1040"/>
          <p:cNvSpPr>
            <a:spLocks noChangeArrowheads="1"/>
          </p:cNvSpPr>
          <p:nvPr/>
        </p:nvSpPr>
        <p:spPr bwMode="auto">
          <a:xfrm>
            <a:off x="19050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53" name="Oval 1041"/>
          <p:cNvSpPr>
            <a:spLocks noChangeArrowheads="1"/>
          </p:cNvSpPr>
          <p:nvPr/>
        </p:nvSpPr>
        <p:spPr bwMode="auto">
          <a:xfrm>
            <a:off x="31242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54" name="Line 1042"/>
          <p:cNvSpPr>
            <a:spLocks noChangeShapeType="1"/>
          </p:cNvSpPr>
          <p:nvPr/>
        </p:nvSpPr>
        <p:spPr bwMode="auto">
          <a:xfrm>
            <a:off x="7086600" y="2819400"/>
            <a:ext cx="381000" cy="6858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55" name="Line 1043"/>
          <p:cNvSpPr>
            <a:spLocks noChangeShapeType="1"/>
          </p:cNvSpPr>
          <p:nvPr/>
        </p:nvSpPr>
        <p:spPr bwMode="auto">
          <a:xfrm flipH="1">
            <a:off x="6781800" y="2895600"/>
            <a:ext cx="2286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56" name="Line 1044"/>
          <p:cNvSpPr>
            <a:spLocks noChangeShapeType="1"/>
          </p:cNvSpPr>
          <p:nvPr/>
        </p:nvSpPr>
        <p:spPr bwMode="auto">
          <a:xfrm>
            <a:off x="65532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57" name="Line 1045"/>
          <p:cNvSpPr>
            <a:spLocks noChangeShapeType="1"/>
          </p:cNvSpPr>
          <p:nvPr/>
        </p:nvSpPr>
        <p:spPr bwMode="auto">
          <a:xfrm>
            <a:off x="5867400" y="2895600"/>
            <a:ext cx="1524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58" name="Line 1046"/>
          <p:cNvSpPr>
            <a:spLocks noChangeShapeType="1"/>
          </p:cNvSpPr>
          <p:nvPr/>
        </p:nvSpPr>
        <p:spPr bwMode="auto">
          <a:xfrm flipH="1">
            <a:off x="5943600" y="1981200"/>
            <a:ext cx="381000" cy="5334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59" name="Line 1047"/>
          <p:cNvSpPr>
            <a:spLocks noChangeShapeType="1"/>
          </p:cNvSpPr>
          <p:nvPr/>
        </p:nvSpPr>
        <p:spPr bwMode="auto">
          <a:xfrm flipH="1">
            <a:off x="4800600" y="2895600"/>
            <a:ext cx="914400" cy="1524000"/>
          </a:xfrm>
          <a:prstGeom prst="line">
            <a:avLst/>
          </a:prstGeom>
          <a:noFill/>
          <a:ln w="38100">
            <a:solidFill>
              <a:srgbClr val="9966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60" name="Oval 1048"/>
          <p:cNvSpPr>
            <a:spLocks noChangeArrowheads="1"/>
          </p:cNvSpPr>
          <p:nvPr/>
        </p:nvSpPr>
        <p:spPr bwMode="auto">
          <a:xfrm>
            <a:off x="61722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1" name="Oval 1049"/>
          <p:cNvSpPr>
            <a:spLocks noChangeArrowheads="1"/>
          </p:cNvSpPr>
          <p:nvPr/>
        </p:nvSpPr>
        <p:spPr bwMode="auto">
          <a:xfrm>
            <a:off x="5029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2" name="Oval 1050"/>
          <p:cNvSpPr>
            <a:spLocks noChangeArrowheads="1"/>
          </p:cNvSpPr>
          <p:nvPr/>
        </p:nvSpPr>
        <p:spPr bwMode="auto">
          <a:xfrm>
            <a:off x="5791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3" name="Oval 1051"/>
          <p:cNvSpPr>
            <a:spLocks noChangeArrowheads="1"/>
          </p:cNvSpPr>
          <p:nvPr/>
        </p:nvSpPr>
        <p:spPr bwMode="auto">
          <a:xfrm>
            <a:off x="6477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4" name="Oval 1052"/>
          <p:cNvSpPr>
            <a:spLocks noChangeArrowheads="1"/>
          </p:cNvSpPr>
          <p:nvPr/>
        </p:nvSpPr>
        <p:spPr bwMode="auto">
          <a:xfrm>
            <a:off x="7239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5" name="Oval 1053"/>
          <p:cNvSpPr>
            <a:spLocks noChangeArrowheads="1"/>
          </p:cNvSpPr>
          <p:nvPr/>
        </p:nvSpPr>
        <p:spPr bwMode="auto">
          <a:xfrm>
            <a:off x="4495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6" name="Oval 1054"/>
          <p:cNvSpPr>
            <a:spLocks noChangeArrowheads="1"/>
          </p:cNvSpPr>
          <p:nvPr/>
        </p:nvSpPr>
        <p:spPr bwMode="auto">
          <a:xfrm>
            <a:off x="55626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7" name="Oval 1055"/>
          <p:cNvSpPr>
            <a:spLocks noChangeArrowheads="1"/>
          </p:cNvSpPr>
          <p:nvPr/>
        </p:nvSpPr>
        <p:spPr bwMode="auto">
          <a:xfrm>
            <a:off x="67818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8" name="Text Box 1056"/>
          <p:cNvSpPr txBox="1">
            <a:spLocks noChangeArrowheads="1"/>
          </p:cNvSpPr>
          <p:nvPr/>
        </p:nvSpPr>
        <p:spPr bwMode="auto">
          <a:xfrm>
            <a:off x="4495800" y="42672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142369" name="Text Box 1057"/>
          <p:cNvSpPr txBox="1">
            <a:spLocks noChangeArrowheads="1"/>
          </p:cNvSpPr>
          <p:nvPr/>
        </p:nvSpPr>
        <p:spPr bwMode="auto">
          <a:xfrm>
            <a:off x="19304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42370" name="Text Box 1058"/>
          <p:cNvSpPr txBox="1">
            <a:spLocks noChangeArrowheads="1"/>
          </p:cNvSpPr>
          <p:nvPr/>
        </p:nvSpPr>
        <p:spPr bwMode="auto">
          <a:xfrm>
            <a:off x="55880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11</a:t>
            </a:r>
            <a:endParaRPr kumimoji="1" lang="en-US" altLang="zh-CN" sz="2400">
              <a:latin typeface="Times New Roman" panose="02020603050405020304" pitchFamily="18" charset="0"/>
              <a:ea typeface="宋体" panose="02010600030101010101" pitchFamily="2" charset="-122"/>
            </a:endParaRPr>
          </a:p>
        </p:txBody>
      </p:sp>
      <p:sp>
        <p:nvSpPr>
          <p:cNvPr id="142371" name="Text Box 1059"/>
          <p:cNvSpPr txBox="1">
            <a:spLocks noChangeArrowheads="1"/>
          </p:cNvSpPr>
          <p:nvPr/>
        </p:nvSpPr>
        <p:spPr bwMode="auto">
          <a:xfrm>
            <a:off x="28448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42372" name="Text Box 1060"/>
          <p:cNvSpPr txBox="1">
            <a:spLocks noChangeArrowheads="1"/>
          </p:cNvSpPr>
          <p:nvPr/>
        </p:nvSpPr>
        <p:spPr bwMode="auto">
          <a:xfrm>
            <a:off x="647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42373" name="Text Box 1061"/>
          <p:cNvSpPr txBox="1">
            <a:spLocks noChangeArrowheads="1"/>
          </p:cNvSpPr>
          <p:nvPr/>
        </p:nvSpPr>
        <p:spPr bwMode="auto">
          <a:xfrm>
            <a:off x="2540000" y="1614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42374" name="Text Box 1063"/>
          <p:cNvSpPr txBox="1">
            <a:spLocks noChangeArrowheads="1"/>
          </p:cNvSpPr>
          <p:nvPr/>
        </p:nvSpPr>
        <p:spPr bwMode="auto">
          <a:xfrm>
            <a:off x="2159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42375" name="Text Box 1064"/>
          <p:cNvSpPr txBox="1">
            <a:spLocks noChangeArrowheads="1"/>
          </p:cNvSpPr>
          <p:nvPr/>
        </p:nvSpPr>
        <p:spPr bwMode="auto">
          <a:xfrm>
            <a:off x="31496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42376" name="Text Box 1065"/>
          <p:cNvSpPr txBox="1">
            <a:spLocks noChangeArrowheads="1"/>
          </p:cNvSpPr>
          <p:nvPr/>
        </p:nvSpPr>
        <p:spPr bwMode="auto">
          <a:xfrm>
            <a:off x="3606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42377" name="Text Box 1068"/>
          <p:cNvSpPr txBox="1">
            <a:spLocks noChangeArrowheads="1"/>
          </p:cNvSpPr>
          <p:nvPr/>
        </p:nvSpPr>
        <p:spPr bwMode="auto">
          <a:xfrm>
            <a:off x="61976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42378" name="Text Box 1069"/>
          <p:cNvSpPr txBox="1">
            <a:spLocks noChangeArrowheads="1"/>
          </p:cNvSpPr>
          <p:nvPr/>
        </p:nvSpPr>
        <p:spPr bwMode="auto">
          <a:xfrm>
            <a:off x="5054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42379" name="Text Box 1070"/>
          <p:cNvSpPr txBox="1">
            <a:spLocks noChangeArrowheads="1"/>
          </p:cNvSpPr>
          <p:nvPr/>
        </p:nvSpPr>
        <p:spPr bwMode="auto">
          <a:xfrm>
            <a:off x="5816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42380" name="Text Box 1071"/>
          <p:cNvSpPr txBox="1">
            <a:spLocks noChangeArrowheads="1"/>
          </p:cNvSpPr>
          <p:nvPr/>
        </p:nvSpPr>
        <p:spPr bwMode="auto">
          <a:xfrm>
            <a:off x="68072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42381" name="Text Box 1072"/>
          <p:cNvSpPr txBox="1">
            <a:spLocks noChangeArrowheads="1"/>
          </p:cNvSpPr>
          <p:nvPr/>
        </p:nvSpPr>
        <p:spPr bwMode="auto">
          <a:xfrm>
            <a:off x="7264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42382" name="Text Box 1073"/>
          <p:cNvSpPr txBox="1">
            <a:spLocks noChangeArrowheads="1"/>
          </p:cNvSpPr>
          <p:nvPr/>
        </p:nvSpPr>
        <p:spPr bwMode="auto">
          <a:xfrm>
            <a:off x="1600200" y="1614488"/>
            <a:ext cx="303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42383" name="Oval 1074"/>
          <p:cNvSpPr>
            <a:spLocks noChangeArrowheads="1"/>
          </p:cNvSpPr>
          <p:nvPr/>
        </p:nvSpPr>
        <p:spPr bwMode="auto">
          <a:xfrm>
            <a:off x="16764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84" name="Text Box 1075"/>
          <p:cNvSpPr txBox="1">
            <a:spLocks noChangeArrowheads="1"/>
          </p:cNvSpPr>
          <p:nvPr/>
        </p:nvSpPr>
        <p:spPr bwMode="auto">
          <a:xfrm>
            <a:off x="1549400" y="2286000"/>
            <a:ext cx="508000" cy="519113"/>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Narrow" panose="020B0606020202030204" pitchFamily="34" charset="0"/>
                <a:ea typeface="宋体" panose="02010600030101010101" pitchFamily="2" charset="-122"/>
              </a:rPr>
              <a:t>11</a:t>
            </a:r>
            <a:endParaRPr kumimoji="1" lang="en-US" altLang="zh-CN" sz="2400">
              <a:solidFill>
                <a:schemeClr val="accent2"/>
              </a:solidFill>
              <a:latin typeface="Times New Roman" panose="02020603050405020304" pitchFamily="18" charset="0"/>
              <a:ea typeface="宋体" panose="02010600030101010101" pitchFamily="2" charset="-122"/>
            </a:endParaRPr>
          </a:p>
        </p:txBody>
      </p:sp>
      <p:sp>
        <p:nvSpPr>
          <p:cNvPr id="142385" name="Text Box 1078"/>
          <p:cNvSpPr txBox="1">
            <a:spLocks noChangeArrowheads="1"/>
          </p:cNvSpPr>
          <p:nvPr/>
        </p:nvSpPr>
        <p:spPr bwMode="auto">
          <a:xfrm>
            <a:off x="838200" y="42672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142386" name="Oval 1081"/>
          <p:cNvSpPr>
            <a:spLocks noChangeArrowheads="1"/>
          </p:cNvSpPr>
          <p:nvPr/>
        </p:nvSpPr>
        <p:spPr bwMode="auto">
          <a:xfrm>
            <a:off x="5257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87" name="Text Box 1083"/>
          <p:cNvSpPr txBox="1">
            <a:spLocks noChangeArrowheads="1"/>
          </p:cNvSpPr>
          <p:nvPr/>
        </p:nvSpPr>
        <p:spPr bwMode="auto">
          <a:xfrm>
            <a:off x="52832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42388" name="Line 1084"/>
          <p:cNvSpPr>
            <a:spLocks noChangeShapeType="1"/>
          </p:cNvSpPr>
          <p:nvPr/>
        </p:nvSpPr>
        <p:spPr bwMode="auto">
          <a:xfrm>
            <a:off x="2481263" y="1219200"/>
            <a:ext cx="185737"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89" name="Text Box 1085"/>
          <p:cNvSpPr txBox="1">
            <a:spLocks noChangeArrowheads="1"/>
          </p:cNvSpPr>
          <p:nvPr/>
        </p:nvSpPr>
        <p:spPr bwMode="auto">
          <a:xfrm>
            <a:off x="2308225" y="7762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42390" name="Line 1086"/>
          <p:cNvSpPr>
            <a:spLocks noChangeShapeType="1"/>
          </p:cNvSpPr>
          <p:nvPr/>
        </p:nvSpPr>
        <p:spPr bwMode="auto">
          <a:xfrm>
            <a:off x="1871663" y="2057400"/>
            <a:ext cx="185737"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91" name="Text Box 1062"/>
          <p:cNvSpPr txBox="1">
            <a:spLocks noChangeArrowheads="1"/>
          </p:cNvSpPr>
          <p:nvPr/>
        </p:nvSpPr>
        <p:spPr bwMode="auto">
          <a:xfrm>
            <a:off x="17018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42392" name="Text Box 1089"/>
          <p:cNvSpPr txBox="1">
            <a:spLocks noChangeArrowheads="1"/>
          </p:cNvSpPr>
          <p:nvPr/>
        </p:nvSpPr>
        <p:spPr bwMode="auto">
          <a:xfrm>
            <a:off x="13716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42393" name="Text Box 1090"/>
          <p:cNvSpPr txBox="1">
            <a:spLocks noChangeArrowheads="1"/>
          </p:cNvSpPr>
          <p:nvPr/>
        </p:nvSpPr>
        <p:spPr bwMode="auto">
          <a:xfrm>
            <a:off x="5257800" y="1600200"/>
            <a:ext cx="3032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42394" name="Line 1091"/>
          <p:cNvSpPr>
            <a:spLocks noChangeShapeType="1"/>
          </p:cNvSpPr>
          <p:nvPr/>
        </p:nvSpPr>
        <p:spPr bwMode="auto">
          <a:xfrm>
            <a:off x="6138863" y="1204913"/>
            <a:ext cx="185737"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95" name="Text Box 1092"/>
          <p:cNvSpPr txBox="1">
            <a:spLocks noChangeArrowheads="1"/>
          </p:cNvSpPr>
          <p:nvPr/>
        </p:nvSpPr>
        <p:spPr bwMode="auto">
          <a:xfrm>
            <a:off x="5965825" y="7620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42396" name="Line 1093"/>
          <p:cNvSpPr>
            <a:spLocks noChangeShapeType="1"/>
          </p:cNvSpPr>
          <p:nvPr/>
        </p:nvSpPr>
        <p:spPr bwMode="auto">
          <a:xfrm>
            <a:off x="5529263" y="2043113"/>
            <a:ext cx="185737" cy="4572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p:cNvSpPr>
            <a:spLocks noGrp="1"/>
          </p:cNvSpPr>
          <p:nvPr>
            <p:ph type="sldNum" sz="quarter" idx="12"/>
          </p:nvPr>
        </p:nvSpPr>
        <p:spPr/>
        <p:txBody>
          <a:bodyPr/>
          <a:lstStyle/>
          <a:p>
            <a:pPr>
              <a:defRPr/>
            </a:pPr>
            <a:fld id="{32133AD1-DAA7-48C8-8009-85BC350F1DBF}" type="slidenum">
              <a:rPr lang="en-US" altLang="zh-CN" smtClean="0"/>
            </a:fld>
            <a:endParaRPr lang="en-US" altLang="zh-CN"/>
          </a:p>
        </p:txBody>
      </p:sp>
    </p:spTree>
  </p:cSld>
  <p:clrMapOvr>
    <a:masterClrMapping/>
  </p:clrMapOvr>
  <p:transition>
    <p:split/>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最小堆的删除算法</a:t>
            </a:r>
            <a:endParaRPr lang="zh-CN" altLang="en-US" dirty="0"/>
          </a:p>
        </p:txBody>
      </p:sp>
      <p:sp>
        <p:nvSpPr>
          <p:cNvPr id="3" name="内容占位符 2"/>
          <p:cNvSpPr>
            <a:spLocks noGrp="1"/>
          </p:cNvSpPr>
          <p:nvPr>
            <p:ph idx="1"/>
          </p:nvPr>
        </p:nvSpPr>
        <p:spPr>
          <a:xfrm>
            <a:off x="628650" y="1825624"/>
            <a:ext cx="8191822" cy="4843735"/>
          </a:xfrm>
        </p:spPr>
        <p:txBody>
          <a:bodyPr>
            <a:normAutofit fontScale="70000" lnSpcReduction="20000"/>
          </a:bodyPr>
          <a:lstStyle/>
          <a:p>
            <a:pPr marL="0" indent="0">
              <a:buNone/>
            </a:pPr>
            <a:r>
              <a:rPr lang="en-US" altLang="zh-CN" dirty="0"/>
              <a:t>template &lt; class E&gt; </a:t>
            </a:r>
            <a:endParaRPr lang="en-US" altLang="zh-CN" dirty="0"/>
          </a:p>
          <a:p>
            <a:pPr marL="0" indent="0">
              <a:buNone/>
            </a:pPr>
            <a:r>
              <a:rPr lang="en-US" altLang="zh-CN" dirty="0"/>
              <a:t>bool </a:t>
            </a:r>
            <a:r>
              <a:rPr lang="en-US" altLang="zh-CN" dirty="0" err="1"/>
              <a:t>MinHeap</a:t>
            </a:r>
            <a:r>
              <a:rPr lang="en-US" altLang="zh-CN" dirty="0"/>
              <a:t> &lt;E&gt; ::</a:t>
            </a:r>
            <a:r>
              <a:rPr lang="en-US" altLang="zh-CN" dirty="0" err="1"/>
              <a:t>RemoveMin</a:t>
            </a:r>
            <a:r>
              <a:rPr lang="en-US" altLang="zh-CN" dirty="0"/>
              <a:t> ( E &amp;x ) {</a:t>
            </a:r>
            <a:endParaRPr lang="en-US" altLang="zh-CN" dirty="0"/>
          </a:p>
          <a:p>
            <a:pPr marL="0" indent="0">
              <a:buNone/>
            </a:pPr>
            <a:r>
              <a:rPr lang="en-US" altLang="zh-CN" dirty="0"/>
              <a:t>    if ( !</a:t>
            </a:r>
            <a:r>
              <a:rPr lang="en-US" altLang="zh-CN" dirty="0" err="1"/>
              <a:t>currentSize</a:t>
            </a:r>
            <a:r>
              <a:rPr lang="en-US" altLang="zh-CN" dirty="0"/>
              <a:t> ) {</a:t>
            </a:r>
            <a:endParaRPr lang="en-US" altLang="zh-CN" dirty="0"/>
          </a:p>
          <a:p>
            <a:pPr marL="0" indent="0">
              <a:buNone/>
            </a:pPr>
            <a:r>
              <a:rPr lang="en-US" altLang="zh-CN" dirty="0"/>
              <a:t>       </a:t>
            </a:r>
            <a:r>
              <a:rPr lang="en-US" altLang="zh-CN" dirty="0" err="1"/>
              <a:t>cout</a:t>
            </a:r>
            <a:r>
              <a:rPr lang="en-US" altLang="zh-CN" dirty="0"/>
              <a:t> &lt;&lt; “ </a:t>
            </a:r>
            <a:r>
              <a:rPr lang="zh-CN" altLang="en-US" dirty="0"/>
              <a:t>堆已空 </a:t>
            </a:r>
            <a:r>
              <a:rPr lang="en-US" altLang="zh-CN" dirty="0"/>
              <a:t>" &lt;&lt; </a:t>
            </a:r>
            <a:r>
              <a:rPr lang="en-US" altLang="zh-CN" dirty="0" err="1"/>
              <a:t>endl</a:t>
            </a:r>
            <a:r>
              <a:rPr lang="en-US" altLang="zh-CN" dirty="0"/>
              <a:t>;  return false; </a:t>
            </a:r>
            <a:endParaRPr lang="en-US" altLang="zh-CN" dirty="0"/>
          </a:p>
          <a:p>
            <a:pPr marL="0" indent="0">
              <a:buNone/>
            </a:pPr>
            <a:r>
              <a:rPr lang="en-US" altLang="zh-CN" dirty="0"/>
              <a:t>    }</a:t>
            </a:r>
            <a:endParaRPr lang="en-US" altLang="zh-CN" dirty="0"/>
          </a:p>
          <a:p>
            <a:pPr marL="0" indent="0">
              <a:buNone/>
            </a:pPr>
            <a:r>
              <a:rPr lang="en-US" altLang="zh-CN" dirty="0"/>
              <a:t>    x = heap[0];             //</a:t>
            </a:r>
            <a:r>
              <a:rPr lang="zh-CN" altLang="en-US" dirty="0"/>
              <a:t>最小元素出队列</a:t>
            </a:r>
            <a:endParaRPr lang="zh-CN" altLang="en-US" dirty="0"/>
          </a:p>
          <a:p>
            <a:pPr marL="0" indent="0">
              <a:buNone/>
            </a:pPr>
            <a:r>
              <a:rPr lang="zh-CN" altLang="en-US" dirty="0"/>
              <a:t>    </a:t>
            </a:r>
            <a:r>
              <a:rPr lang="en-US" altLang="zh-CN" dirty="0"/>
              <a:t>heap[0] = heap[currentSize-1];	    </a:t>
            </a:r>
            <a:endParaRPr lang="en-US" altLang="zh-CN" dirty="0"/>
          </a:p>
          <a:p>
            <a:pPr marL="0" indent="0">
              <a:buNone/>
            </a:pPr>
            <a:r>
              <a:rPr lang="en-US" altLang="zh-CN" dirty="0"/>
              <a:t>    </a:t>
            </a:r>
            <a:r>
              <a:rPr lang="en-US" altLang="zh-CN" dirty="0" err="1"/>
              <a:t>currentSize</a:t>
            </a:r>
            <a:r>
              <a:rPr lang="en-US" altLang="zh-CN" dirty="0"/>
              <a:t>--;        //</a:t>
            </a:r>
            <a:r>
              <a:rPr lang="zh-CN" altLang="en-US" dirty="0"/>
              <a:t>用最后元素填补</a:t>
            </a:r>
            <a:endParaRPr lang="zh-CN" altLang="en-US" dirty="0"/>
          </a:p>
          <a:p>
            <a:pPr marL="0" indent="0">
              <a:buNone/>
            </a:pPr>
            <a:r>
              <a:rPr lang="zh-CN" altLang="en-US" dirty="0"/>
              <a:t>    </a:t>
            </a:r>
            <a:r>
              <a:rPr lang="en-US" altLang="zh-CN" dirty="0" err="1"/>
              <a:t>siftDown</a:t>
            </a:r>
            <a:r>
              <a:rPr lang="en-US" altLang="zh-CN" dirty="0"/>
              <a:t> ( 0, CurrentSize-1 );    //</a:t>
            </a:r>
            <a:r>
              <a:rPr lang="zh-CN" altLang="en-US" dirty="0"/>
              <a:t>调整</a:t>
            </a:r>
            <a:endParaRPr lang="zh-CN" altLang="en-US" dirty="0"/>
          </a:p>
          <a:p>
            <a:pPr marL="0" indent="0">
              <a:buNone/>
            </a:pPr>
            <a:r>
              <a:rPr lang="zh-CN" altLang="en-US" dirty="0"/>
              <a:t>    </a:t>
            </a:r>
            <a:r>
              <a:rPr lang="en-US" altLang="zh-CN" dirty="0"/>
              <a:t>return true;</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5.9 Huffman</a:t>
            </a:r>
            <a:r>
              <a:rPr lang="zh-CN" altLang="en-US" dirty="0"/>
              <a:t>树及其应用</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28650" y="1825625"/>
                <a:ext cx="7886700" cy="3259559"/>
              </a:xfrm>
            </p:spPr>
            <p:txBody>
              <a:bodyPr>
                <a:normAutofit fontScale="77500" lnSpcReduction="20000"/>
              </a:bodyPr>
              <a:lstStyle/>
              <a:p>
                <a:r>
                  <a:rPr lang="en-US" altLang="zh-CN" dirty="0"/>
                  <a:t>5.9.1 </a:t>
                </a:r>
                <a:r>
                  <a:rPr lang="zh-CN" altLang="en-US" dirty="0"/>
                  <a:t>路径长度</a:t>
                </a:r>
                <a:endParaRPr lang="zh-CN" altLang="en-US" dirty="0"/>
              </a:p>
              <a:p>
                <a:pPr lvl="1"/>
                <a:r>
                  <a:rPr lang="zh-CN" altLang="en-US" dirty="0"/>
                  <a:t>两个结点之间的路径长度 </a:t>
                </a:r>
                <a:r>
                  <a:rPr lang="en-US" altLang="zh-CN" dirty="0"/>
                  <a:t>PL</a:t>
                </a:r>
                <a:r>
                  <a:rPr lang="zh-CN" altLang="en-US" dirty="0"/>
                  <a:t>是连接两结点的路径上的分支数。</a:t>
                </a:r>
                <a:endParaRPr lang="zh-CN" altLang="en-US" dirty="0"/>
              </a:p>
              <a:p>
                <a:pPr lvl="1"/>
                <a:r>
                  <a:rPr lang="zh-CN" altLang="en-US" dirty="0"/>
                  <a:t>树的路径长度是各结点到根结点的路径长度之和。</a:t>
                </a:r>
                <a:endParaRPr lang="en-US" altLang="zh-CN" dirty="0"/>
              </a:p>
              <a:p>
                <a:r>
                  <a:rPr lang="zh-CN" altLang="en-US" dirty="0"/>
                  <a:t> </a:t>
                </a:r>
                <a:r>
                  <a:rPr lang="en-US" altLang="zh-CN" dirty="0"/>
                  <a:t>n </a:t>
                </a:r>
                <a:r>
                  <a:rPr lang="zh-CN" altLang="en-US" dirty="0"/>
                  <a:t>个结点的二叉树的路径长度不小于下述数列前 </a:t>
                </a:r>
                <a:r>
                  <a:rPr lang="en-US" altLang="zh-CN" dirty="0"/>
                  <a:t>n </a:t>
                </a:r>
                <a:r>
                  <a:rPr lang="zh-CN" altLang="en-US" dirty="0"/>
                  <a:t>项的和</a:t>
                </a:r>
                <a:endParaRPr lang="en-US" altLang="zh-CN" dirty="0"/>
              </a:p>
              <a:p>
                <a:pPr marL="0" indent="0">
                  <a:buNone/>
                </a:pPr>
                <a:r>
                  <a:rPr lang="en-US" altLang="zh-CN" dirty="0"/>
                  <a:t>       </a:t>
                </a:r>
                <a:r>
                  <a:rPr lang="en-US" altLang="zh-CN" i="1" dirty="0"/>
                  <a:t>PL</a:t>
                </a:r>
                <a:r>
                  <a:rPr lang="en-US" altLang="zh-CN" dirty="0"/>
                  <a:t> = </a:t>
                </a:r>
                <a14:m>
                  <m:oMath xmlns:m="http://schemas.openxmlformats.org/officeDocument/2006/math">
                    <m:nary>
                      <m:naryPr>
                        <m:chr m:val="∑"/>
                        <m:ctrlPr>
                          <a:rPr lang="en-US" altLang="zh-CN"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sup>
                      <m:e>
                        <m:r>
                          <a:rPr lang="en-US" altLang="zh-CN" i="1" smtClean="0">
                            <a:latin typeface="Cambria Math" panose="02040503050406030204" pitchFamily="18" charset="0"/>
                            <a:sym typeface="Symbol" panose="05050102010706020507" pitchFamily="18" charset="2"/>
                          </a:rPr>
                          <m:t></m:t>
                        </m:r>
                        <m:r>
                          <a:rPr lang="en-US" altLang="zh-CN" b="0" i="1" smtClean="0">
                            <a:latin typeface="Cambria Math" panose="02040503050406030204" pitchFamily="18" charset="0"/>
                            <a:sym typeface="Symbol" panose="05050102010706020507" pitchFamily="18" charset="2"/>
                          </a:rPr>
                          <m:t>𝑙𝑜𝑔</m:t>
                        </m:r>
                        <m:r>
                          <a:rPr lang="en-US" altLang="zh-CN" b="0" i="1" baseline="-25000" smtClean="0">
                            <a:latin typeface="Cambria Math" panose="02040503050406030204" pitchFamily="18" charset="0"/>
                            <a:sym typeface="Symbol" panose="05050102010706020507" pitchFamily="18" charset="2"/>
                          </a:rPr>
                          <m:t>2</m:t>
                        </m:r>
                        <m:r>
                          <a:rPr lang="en-US" altLang="zh-CN" b="0" i="1" smtClean="0">
                            <a:latin typeface="Cambria Math" panose="02040503050406030204" pitchFamily="18" charset="0"/>
                            <a:sym typeface="Symbol" panose="05050102010706020507" pitchFamily="18" charset="2"/>
                          </a:rPr>
                          <m:t>(</m:t>
                        </m:r>
                        <m:r>
                          <a:rPr lang="en-US" altLang="zh-CN" b="0" i="1" smtClean="0">
                            <a:latin typeface="Cambria Math" panose="02040503050406030204" pitchFamily="18" charset="0"/>
                            <a:sym typeface="Symbol" panose="05050102010706020507" pitchFamily="18" charset="2"/>
                          </a:rPr>
                          <m:t>𝑖</m:t>
                        </m:r>
                        <m:r>
                          <a:rPr lang="en-US" altLang="zh-CN" b="0" i="1" smtClean="0">
                            <a:latin typeface="Cambria Math" panose="02040503050406030204" pitchFamily="18" charset="0"/>
                            <a:sym typeface="Symbol" panose="05050102010706020507" pitchFamily="18" charset="2"/>
                          </a:rPr>
                          <m:t>+</m:t>
                        </m:r>
                        <m:r>
                          <a:rPr lang="en-US" altLang="zh-CN" b="0" i="1" smtClean="0">
                            <a:latin typeface="Cambria Math" panose="02040503050406030204" pitchFamily="18" charset="0"/>
                            <a:sym typeface="Symbol" panose="05050102010706020507" pitchFamily="18" charset="2"/>
                          </a:rPr>
                          <m:t>1</m:t>
                        </m:r>
                        <m:r>
                          <a:rPr lang="en-US" altLang="zh-CN" b="0" i="1" smtClean="0">
                            <a:latin typeface="Cambria Math" panose="02040503050406030204" pitchFamily="18" charset="0"/>
                            <a:sym typeface="Symbol" panose="05050102010706020507" pitchFamily="18" charset="2"/>
                          </a:rPr>
                          <m:t>)</m:t>
                        </m:r>
                      </m:e>
                    </m:nary>
                  </m:oMath>
                </a14:m>
                <a:endParaRPr lang="en-US" altLang="zh-CN" dirty="0"/>
              </a:p>
              <a:p>
                <a:pPr marL="0" indent="0">
                  <a:buNone/>
                </a:pPr>
                <a:r>
                  <a:rPr lang="en-US" altLang="zh-CN" dirty="0"/>
                  <a:t>           =0 + 1 + 1 + 2 + 2 + 2 + 2 + 3 + 3 + …</a:t>
                </a:r>
                <a:endParaRPr lang="en-US" altLang="zh-CN"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628650" y="1825625"/>
                <a:ext cx="7886700" cy="3259559"/>
              </a:xfrm>
              <a:blipFill rotWithShape="1">
                <a:blip r:embed="rId1"/>
                <a:stretch>
                  <a:fillRect t="-1130" b="-907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55576" y="990600"/>
            <a:ext cx="7397750" cy="4876800"/>
            <a:chOff x="831850" y="533400"/>
            <a:chExt cx="7397750" cy="4876800"/>
          </a:xfrm>
        </p:grpSpPr>
        <p:sp>
          <p:nvSpPr>
            <p:cNvPr id="145410" name="Line 22"/>
            <p:cNvSpPr>
              <a:spLocks noChangeShapeType="1"/>
            </p:cNvSpPr>
            <p:nvPr/>
          </p:nvSpPr>
          <p:spPr bwMode="auto">
            <a:xfrm flipH="1">
              <a:off x="3048000" y="1600200"/>
              <a:ext cx="381000" cy="6096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1" name="Line 21"/>
            <p:cNvSpPr>
              <a:spLocks noChangeShapeType="1"/>
            </p:cNvSpPr>
            <p:nvPr/>
          </p:nvSpPr>
          <p:spPr bwMode="auto">
            <a:xfrm>
              <a:off x="2209800" y="1676400"/>
              <a:ext cx="152400" cy="381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2" name="Line 20"/>
            <p:cNvSpPr>
              <a:spLocks noChangeShapeType="1"/>
            </p:cNvSpPr>
            <p:nvPr/>
          </p:nvSpPr>
          <p:spPr bwMode="auto">
            <a:xfrm>
              <a:off x="2895600" y="990600"/>
              <a:ext cx="1066800" cy="1143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3" name="Line 19"/>
            <p:cNvSpPr>
              <a:spLocks noChangeShapeType="1"/>
            </p:cNvSpPr>
            <p:nvPr/>
          </p:nvSpPr>
          <p:spPr bwMode="auto">
            <a:xfrm flipH="1">
              <a:off x="990600" y="914400"/>
              <a:ext cx="1676400" cy="2057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4" name="Oval 7"/>
            <p:cNvSpPr>
              <a:spLocks noChangeArrowheads="1"/>
            </p:cNvSpPr>
            <p:nvPr/>
          </p:nvSpPr>
          <p:spPr bwMode="auto">
            <a:xfrm>
              <a:off x="2514600" y="6096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15" name="Oval 8"/>
            <p:cNvSpPr>
              <a:spLocks noChangeArrowheads="1"/>
            </p:cNvSpPr>
            <p:nvPr/>
          </p:nvSpPr>
          <p:spPr bwMode="auto">
            <a:xfrm>
              <a:off x="1905000" y="12954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16" name="Oval 9"/>
            <p:cNvSpPr>
              <a:spLocks noChangeArrowheads="1"/>
            </p:cNvSpPr>
            <p:nvPr/>
          </p:nvSpPr>
          <p:spPr bwMode="auto">
            <a:xfrm>
              <a:off x="3200400" y="12954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17" name="Oval 10"/>
            <p:cNvSpPr>
              <a:spLocks noChangeArrowheads="1"/>
            </p:cNvSpPr>
            <p:nvPr/>
          </p:nvSpPr>
          <p:spPr bwMode="auto">
            <a:xfrm>
              <a:off x="1371600" y="19812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18" name="Oval 15"/>
            <p:cNvSpPr>
              <a:spLocks noChangeArrowheads="1"/>
            </p:cNvSpPr>
            <p:nvPr/>
          </p:nvSpPr>
          <p:spPr bwMode="auto">
            <a:xfrm>
              <a:off x="2209800" y="19812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19" name="Oval 16"/>
            <p:cNvSpPr>
              <a:spLocks noChangeArrowheads="1"/>
            </p:cNvSpPr>
            <p:nvPr/>
          </p:nvSpPr>
          <p:spPr bwMode="auto">
            <a:xfrm>
              <a:off x="2819400" y="19812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20" name="Oval 17"/>
            <p:cNvSpPr>
              <a:spLocks noChangeArrowheads="1"/>
            </p:cNvSpPr>
            <p:nvPr/>
          </p:nvSpPr>
          <p:spPr bwMode="auto">
            <a:xfrm>
              <a:off x="3733800" y="19812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21" name="Oval 18"/>
            <p:cNvSpPr>
              <a:spLocks noChangeArrowheads="1"/>
            </p:cNvSpPr>
            <p:nvPr/>
          </p:nvSpPr>
          <p:spPr bwMode="auto">
            <a:xfrm>
              <a:off x="838200" y="26670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22" name="Line 23"/>
            <p:cNvSpPr>
              <a:spLocks noChangeShapeType="1"/>
            </p:cNvSpPr>
            <p:nvPr/>
          </p:nvSpPr>
          <p:spPr bwMode="auto">
            <a:xfrm flipH="1">
              <a:off x="6324600" y="1600200"/>
              <a:ext cx="381000" cy="6096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23" name="Line 24"/>
            <p:cNvSpPr>
              <a:spLocks noChangeShapeType="1"/>
            </p:cNvSpPr>
            <p:nvPr/>
          </p:nvSpPr>
          <p:spPr bwMode="auto">
            <a:xfrm flipH="1">
              <a:off x="6629400" y="2362200"/>
              <a:ext cx="609600" cy="11430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24" name="Line 25"/>
            <p:cNvSpPr>
              <a:spLocks noChangeShapeType="1"/>
            </p:cNvSpPr>
            <p:nvPr/>
          </p:nvSpPr>
          <p:spPr bwMode="auto">
            <a:xfrm>
              <a:off x="6324600" y="990600"/>
              <a:ext cx="1600200" cy="18288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25" name="Line 26"/>
            <p:cNvSpPr>
              <a:spLocks noChangeShapeType="1"/>
            </p:cNvSpPr>
            <p:nvPr/>
          </p:nvSpPr>
          <p:spPr bwMode="auto">
            <a:xfrm flipH="1">
              <a:off x="5638800" y="914400"/>
              <a:ext cx="457200" cy="53340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26" name="Oval 27"/>
            <p:cNvSpPr>
              <a:spLocks noChangeArrowheads="1"/>
            </p:cNvSpPr>
            <p:nvPr/>
          </p:nvSpPr>
          <p:spPr bwMode="auto">
            <a:xfrm>
              <a:off x="5943600" y="6096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27" name="Oval 28"/>
            <p:cNvSpPr>
              <a:spLocks noChangeArrowheads="1"/>
            </p:cNvSpPr>
            <p:nvPr/>
          </p:nvSpPr>
          <p:spPr bwMode="auto">
            <a:xfrm>
              <a:off x="5334000" y="12954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28" name="Oval 29"/>
            <p:cNvSpPr>
              <a:spLocks noChangeArrowheads="1"/>
            </p:cNvSpPr>
            <p:nvPr/>
          </p:nvSpPr>
          <p:spPr bwMode="auto">
            <a:xfrm>
              <a:off x="6553200" y="12954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29" name="Oval 31"/>
            <p:cNvSpPr>
              <a:spLocks noChangeArrowheads="1"/>
            </p:cNvSpPr>
            <p:nvPr/>
          </p:nvSpPr>
          <p:spPr bwMode="auto">
            <a:xfrm>
              <a:off x="6705600" y="26670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30" name="Oval 32"/>
            <p:cNvSpPr>
              <a:spLocks noChangeArrowheads="1"/>
            </p:cNvSpPr>
            <p:nvPr/>
          </p:nvSpPr>
          <p:spPr bwMode="auto">
            <a:xfrm>
              <a:off x="6096000" y="19812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31" name="Oval 33"/>
            <p:cNvSpPr>
              <a:spLocks noChangeArrowheads="1"/>
            </p:cNvSpPr>
            <p:nvPr/>
          </p:nvSpPr>
          <p:spPr bwMode="auto">
            <a:xfrm>
              <a:off x="7086600" y="19812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32" name="Oval 34"/>
            <p:cNvSpPr>
              <a:spLocks noChangeArrowheads="1"/>
            </p:cNvSpPr>
            <p:nvPr/>
          </p:nvSpPr>
          <p:spPr bwMode="auto">
            <a:xfrm>
              <a:off x="7696200" y="26670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33" name="Oval 35"/>
            <p:cNvSpPr>
              <a:spLocks noChangeArrowheads="1"/>
            </p:cNvSpPr>
            <p:nvPr/>
          </p:nvSpPr>
          <p:spPr bwMode="auto">
            <a:xfrm>
              <a:off x="6324600" y="3429000"/>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34" name="Text Box 36"/>
            <p:cNvSpPr txBox="1">
              <a:spLocks noChangeArrowheads="1"/>
            </p:cNvSpPr>
            <p:nvPr/>
          </p:nvSpPr>
          <p:spPr bwMode="auto">
            <a:xfrm>
              <a:off x="2508250" y="5334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45435" name="Text Box 37"/>
            <p:cNvSpPr txBox="1">
              <a:spLocks noChangeArrowheads="1"/>
            </p:cNvSpPr>
            <p:nvPr/>
          </p:nvSpPr>
          <p:spPr bwMode="auto">
            <a:xfrm>
              <a:off x="5937250" y="5334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45436" name="Text Box 38"/>
            <p:cNvSpPr txBox="1">
              <a:spLocks noChangeArrowheads="1"/>
            </p:cNvSpPr>
            <p:nvPr/>
          </p:nvSpPr>
          <p:spPr bwMode="auto">
            <a:xfrm>
              <a:off x="1905000" y="12192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45437" name="Text Box 39"/>
            <p:cNvSpPr txBox="1">
              <a:spLocks noChangeArrowheads="1"/>
            </p:cNvSpPr>
            <p:nvPr/>
          </p:nvSpPr>
          <p:spPr bwMode="auto">
            <a:xfrm>
              <a:off x="5327650" y="12192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45438" name="Text Box 40"/>
            <p:cNvSpPr txBox="1">
              <a:spLocks noChangeArrowheads="1"/>
            </p:cNvSpPr>
            <p:nvPr/>
          </p:nvSpPr>
          <p:spPr bwMode="auto">
            <a:xfrm>
              <a:off x="3194050" y="12192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145439" name="Text Box 41"/>
            <p:cNvSpPr txBox="1">
              <a:spLocks noChangeArrowheads="1"/>
            </p:cNvSpPr>
            <p:nvPr/>
          </p:nvSpPr>
          <p:spPr bwMode="auto">
            <a:xfrm>
              <a:off x="6546850" y="12192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145440" name="Text Box 42"/>
            <p:cNvSpPr txBox="1">
              <a:spLocks noChangeArrowheads="1"/>
            </p:cNvSpPr>
            <p:nvPr/>
          </p:nvSpPr>
          <p:spPr bwMode="auto">
            <a:xfrm>
              <a:off x="1295400" y="19050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45441" name="Text Box 43"/>
            <p:cNvSpPr txBox="1">
              <a:spLocks noChangeArrowheads="1"/>
            </p:cNvSpPr>
            <p:nvPr/>
          </p:nvSpPr>
          <p:spPr bwMode="auto">
            <a:xfrm>
              <a:off x="6019800" y="19050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45442" name="Text Box 44"/>
            <p:cNvSpPr txBox="1">
              <a:spLocks noChangeArrowheads="1"/>
            </p:cNvSpPr>
            <p:nvPr/>
          </p:nvSpPr>
          <p:spPr bwMode="auto">
            <a:xfrm>
              <a:off x="2133600" y="19050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45443" name="Text Box 45"/>
            <p:cNvSpPr txBox="1">
              <a:spLocks noChangeArrowheads="1"/>
            </p:cNvSpPr>
            <p:nvPr/>
          </p:nvSpPr>
          <p:spPr bwMode="auto">
            <a:xfrm>
              <a:off x="7010400" y="19050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45444" name="Text Box 46"/>
            <p:cNvSpPr txBox="1">
              <a:spLocks noChangeArrowheads="1"/>
            </p:cNvSpPr>
            <p:nvPr/>
          </p:nvSpPr>
          <p:spPr bwMode="auto">
            <a:xfrm>
              <a:off x="2813050" y="19050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45445" name="Text Box 47"/>
            <p:cNvSpPr txBox="1">
              <a:spLocks noChangeArrowheads="1"/>
            </p:cNvSpPr>
            <p:nvPr/>
          </p:nvSpPr>
          <p:spPr bwMode="auto">
            <a:xfrm>
              <a:off x="6629400" y="25908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45446" name="Text Box 48"/>
            <p:cNvSpPr txBox="1">
              <a:spLocks noChangeArrowheads="1"/>
            </p:cNvSpPr>
            <p:nvPr/>
          </p:nvSpPr>
          <p:spPr bwMode="auto">
            <a:xfrm>
              <a:off x="3727450" y="19050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45447" name="Text Box 49"/>
            <p:cNvSpPr txBox="1">
              <a:spLocks noChangeArrowheads="1"/>
            </p:cNvSpPr>
            <p:nvPr/>
          </p:nvSpPr>
          <p:spPr bwMode="auto">
            <a:xfrm>
              <a:off x="7689850" y="25908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45448" name="Text Box 50"/>
            <p:cNvSpPr txBox="1">
              <a:spLocks noChangeArrowheads="1"/>
            </p:cNvSpPr>
            <p:nvPr/>
          </p:nvSpPr>
          <p:spPr bwMode="auto">
            <a:xfrm>
              <a:off x="831850" y="2620963"/>
              <a:ext cx="539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145449" name="Text Box 51"/>
            <p:cNvSpPr txBox="1">
              <a:spLocks noChangeArrowheads="1"/>
            </p:cNvSpPr>
            <p:nvPr/>
          </p:nvSpPr>
          <p:spPr bwMode="auto">
            <a:xfrm>
              <a:off x="6318250" y="33528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313396" name="Text Box 52"/>
            <p:cNvSpPr txBox="1">
              <a:spLocks noChangeArrowheads="1"/>
            </p:cNvSpPr>
            <p:nvPr/>
          </p:nvSpPr>
          <p:spPr bwMode="auto">
            <a:xfrm>
              <a:off x="838200" y="3322638"/>
              <a:ext cx="2708275" cy="1554162"/>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zh-CN" altLang="en-US" sz="3200" dirty="0">
                  <a:solidFill>
                    <a:srgbClr val="0099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树的路径长度</a:t>
              </a:r>
              <a:endParaRPr lang="zh-CN" altLang="en-US" sz="3200" dirty="0">
                <a:solidFill>
                  <a:srgbClr val="009900"/>
                </a:solidFill>
                <a:latin typeface="Times New Roman" panose="02020603050405020304" pitchFamily="18" charset="0"/>
                <a:ea typeface="仿宋_GB2312" panose="02010609030101010101" pitchFamily="49" charset="-122"/>
              </a:endParaRPr>
            </a:p>
            <a:p>
              <a:pPr algn="ctr" eaLnBrk="1" fontAlgn="auto" hangingPunct="1">
                <a:spcBef>
                  <a:spcPts val="0"/>
                </a:spcBef>
                <a:spcAft>
                  <a:spcPts val="0"/>
                </a:spcAft>
                <a:defRPr/>
              </a:pPr>
              <a:r>
                <a:rPr lang="en-US" altLang="zh-CN" sz="3200" dirty="0">
                  <a:solidFill>
                    <a:schemeClr val="tx2"/>
                  </a:solidFill>
                  <a:latin typeface="Times New Roman" panose="02020603050405020304" pitchFamily="18" charset="0"/>
                  <a:ea typeface="仿宋_GB2312" panose="02010609030101010101" pitchFamily="49" charset="-122"/>
                </a:rPr>
                <a:t>PL = 0+1*2+</a:t>
              </a:r>
              <a:endParaRPr lang="en-US" altLang="zh-CN" sz="3200" dirty="0">
                <a:solidFill>
                  <a:schemeClr val="tx2"/>
                </a:solidFill>
                <a:latin typeface="Times New Roman" panose="02020603050405020304" pitchFamily="18" charset="0"/>
                <a:ea typeface="仿宋_GB2312" panose="02010609030101010101" pitchFamily="49" charset="-122"/>
              </a:endParaRPr>
            </a:p>
            <a:p>
              <a:pPr algn="ctr" eaLnBrk="1" fontAlgn="auto" hangingPunct="1">
                <a:spcBef>
                  <a:spcPts val="0"/>
                </a:spcBef>
                <a:spcAft>
                  <a:spcPts val="0"/>
                </a:spcAft>
                <a:defRPr/>
              </a:pPr>
              <a:r>
                <a:rPr lang="en-US" altLang="zh-CN" sz="3200" dirty="0">
                  <a:solidFill>
                    <a:schemeClr val="tx2"/>
                  </a:solidFill>
                  <a:latin typeface="Times New Roman" panose="02020603050405020304" pitchFamily="18" charset="0"/>
                  <a:ea typeface="仿宋_GB2312" panose="02010609030101010101" pitchFamily="49" charset="-122"/>
                </a:rPr>
                <a:t>+2*4+3*1 = 13</a:t>
              </a:r>
              <a:endParaRPr lang="en-US" altLang="zh-CN" sz="3200" dirty="0">
                <a:solidFill>
                  <a:schemeClr val="tx2"/>
                </a:solidFill>
                <a:latin typeface="Times New Roman" panose="02020603050405020304" pitchFamily="18" charset="0"/>
                <a:ea typeface="仿宋_GB2312" panose="02010609030101010101" pitchFamily="49" charset="-122"/>
              </a:endParaRPr>
            </a:p>
          </p:txBody>
        </p:sp>
        <p:sp>
          <p:nvSpPr>
            <p:cNvPr id="313397" name="Text Box 53"/>
            <p:cNvSpPr txBox="1">
              <a:spLocks noChangeArrowheads="1"/>
            </p:cNvSpPr>
            <p:nvPr/>
          </p:nvSpPr>
          <p:spPr bwMode="auto">
            <a:xfrm>
              <a:off x="4897438" y="4003675"/>
              <a:ext cx="3255962" cy="1406525"/>
            </a:xfrm>
            <a:prstGeom prst="rect">
              <a:avLst/>
            </a:prstGeom>
            <a:noFill/>
            <a:ln w="38100">
              <a:noFill/>
              <a:miter lim="800000"/>
            </a:ln>
            <a:effectLst/>
          </p:spPr>
          <p:txBody>
            <a:bodyPr wrap="none" anchor="ctr">
              <a:spAutoFit/>
            </a:bodyPr>
            <a:lstStyle/>
            <a:p>
              <a:pPr algn="ctr" eaLnBrk="1" fontAlgn="auto" hangingPunct="1">
                <a:lnSpc>
                  <a:spcPct val="90000"/>
                </a:lnSpc>
                <a:spcBef>
                  <a:spcPts val="0"/>
                </a:spcBef>
                <a:spcAft>
                  <a:spcPts val="0"/>
                </a:spcAft>
                <a:defRPr/>
              </a:pPr>
              <a:r>
                <a:rPr lang="zh-CN" altLang="en-US" sz="3200" dirty="0">
                  <a:solidFill>
                    <a:srgbClr val="0099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树的路径长度</a:t>
              </a:r>
              <a:endParaRPr lang="zh-CN" altLang="en-US" sz="3200" dirty="0">
                <a:solidFill>
                  <a:srgbClr val="009900"/>
                </a:solidFill>
                <a:latin typeface="Times New Roman" panose="02020603050405020304" pitchFamily="18" charset="0"/>
                <a:ea typeface="仿宋_GB2312" panose="02010609030101010101" pitchFamily="49" charset="-122"/>
              </a:endParaRPr>
            </a:p>
            <a:p>
              <a:pPr algn="ctr" eaLnBrk="1" fontAlgn="auto" hangingPunct="1">
                <a:lnSpc>
                  <a:spcPct val="90000"/>
                </a:lnSpc>
                <a:spcBef>
                  <a:spcPts val="0"/>
                </a:spcBef>
                <a:spcAft>
                  <a:spcPts val="0"/>
                </a:spcAft>
                <a:defRPr/>
              </a:pPr>
              <a:r>
                <a:rPr lang="en-US" altLang="zh-CN" sz="3200" dirty="0">
                  <a:solidFill>
                    <a:schemeClr val="tx2"/>
                  </a:solidFill>
                  <a:latin typeface="Times New Roman" panose="02020603050405020304" pitchFamily="18" charset="0"/>
                  <a:ea typeface="仿宋_GB2312" panose="02010609030101010101" pitchFamily="49" charset="-122"/>
                </a:rPr>
                <a:t>PL = 0+1*2+2*2+</a:t>
              </a:r>
              <a:endParaRPr lang="en-US" altLang="zh-CN" sz="3200" dirty="0">
                <a:solidFill>
                  <a:schemeClr val="tx2"/>
                </a:solidFill>
                <a:latin typeface="Times New Roman" panose="02020603050405020304" pitchFamily="18" charset="0"/>
                <a:ea typeface="仿宋_GB2312" panose="02010609030101010101" pitchFamily="49" charset="-122"/>
              </a:endParaRPr>
            </a:p>
            <a:p>
              <a:pPr algn="ctr" eaLnBrk="1" fontAlgn="auto" hangingPunct="1">
                <a:lnSpc>
                  <a:spcPct val="90000"/>
                </a:lnSpc>
                <a:spcBef>
                  <a:spcPts val="0"/>
                </a:spcBef>
                <a:spcAft>
                  <a:spcPts val="0"/>
                </a:spcAft>
                <a:defRPr/>
              </a:pPr>
              <a:r>
                <a:rPr lang="en-US" altLang="zh-CN" sz="3200" dirty="0">
                  <a:solidFill>
                    <a:schemeClr val="tx2"/>
                  </a:solidFill>
                  <a:latin typeface="Times New Roman" panose="02020603050405020304" pitchFamily="18" charset="0"/>
                  <a:ea typeface="仿宋_GB2312" panose="02010609030101010101" pitchFamily="49" charset="-122"/>
                </a:rPr>
                <a:t>+3*2+4*1 = 16</a:t>
              </a:r>
              <a:endParaRPr lang="en-US" altLang="zh-CN" sz="3200" dirty="0">
                <a:solidFill>
                  <a:schemeClr val="tx2"/>
                </a:solidFill>
                <a:latin typeface="Times New Roman" panose="02020603050405020304" pitchFamily="18" charset="0"/>
                <a:ea typeface="仿宋_GB2312" panose="02010609030101010101" pitchFamily="49" charset="-122"/>
              </a:endParaRPr>
            </a:p>
          </p:txBody>
        </p:sp>
      </p:gr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6434" name="Object 0"/>
          <p:cNvGraphicFramePr>
            <a:graphicFrameLocks noChangeAspect="1"/>
          </p:cNvGraphicFramePr>
          <p:nvPr/>
        </p:nvGraphicFramePr>
        <p:xfrm>
          <a:off x="4527550" y="1439863"/>
          <a:ext cx="287338" cy="511175"/>
        </p:xfrm>
        <a:graphic>
          <a:graphicData uri="http://schemas.openxmlformats.org/presentationml/2006/ole">
            <mc:AlternateContent xmlns:mc="http://schemas.openxmlformats.org/markup-compatibility/2006">
              <mc:Choice xmlns:v="urn:schemas-microsoft-com:vml" Requires="v">
                <p:oleObj spid="_x0000_s2" name="公式" r:id="rId1" imgW="114300" imgH="215900" progId="Equation.3">
                  <p:embed/>
                </p:oleObj>
              </mc:Choice>
              <mc:Fallback>
                <p:oleObj name="公式" r:id="rId1" imgW="114300" imgH="215900" progId="Equation.3">
                  <p:embed/>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7550" y="1439863"/>
                        <a:ext cx="28733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6438" name="Object 2"/>
          <p:cNvGraphicFramePr>
            <a:graphicFrameLocks noChangeAspect="1"/>
          </p:cNvGraphicFramePr>
          <p:nvPr/>
        </p:nvGraphicFramePr>
        <p:xfrm>
          <a:off x="1835696" y="4546600"/>
          <a:ext cx="3276600" cy="1143000"/>
        </p:xfrm>
        <a:graphic>
          <a:graphicData uri="http://schemas.openxmlformats.org/presentationml/2006/ole">
            <mc:AlternateContent xmlns:mc="http://schemas.openxmlformats.org/markup-compatibility/2006">
              <mc:Choice xmlns:v="urn:schemas-microsoft-com:vml" Requires="v">
                <p:oleObj spid="_x0000_s3" name="公式" r:id="rId3" imgW="1054100" imgH="431800" progId="Equation.3">
                  <p:embed/>
                </p:oleObj>
              </mc:Choice>
              <mc:Fallback>
                <p:oleObj name="公式" r:id="rId3" imgW="1054100" imgH="431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4546600"/>
                        <a:ext cx="327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6439" name="Object 3"/>
          <p:cNvGraphicFramePr>
            <a:graphicFrameLocks noChangeAspect="1"/>
          </p:cNvGraphicFramePr>
          <p:nvPr/>
        </p:nvGraphicFramePr>
        <p:xfrm>
          <a:off x="2686050" y="1487488"/>
          <a:ext cx="319088" cy="530225"/>
        </p:xfrm>
        <a:graphic>
          <a:graphicData uri="http://schemas.openxmlformats.org/presentationml/2006/ole">
            <mc:AlternateContent xmlns:mc="http://schemas.openxmlformats.org/markup-compatibility/2006">
              <mc:Choice xmlns:v="urn:schemas-microsoft-com:vml" Requires="v">
                <p:oleObj spid="_x0000_s4" name="公式" r:id="rId5" imgW="114300" imgH="215900" progId="Equation.3">
                  <p:embed/>
                </p:oleObj>
              </mc:Choice>
              <mc:Fallback>
                <p:oleObj name="公式" r:id="rId5" imgW="114300"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6050" y="1487488"/>
                        <a:ext cx="31908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6440" name="Object 4"/>
          <p:cNvGraphicFramePr>
            <a:graphicFrameLocks noChangeAspect="1"/>
          </p:cNvGraphicFramePr>
          <p:nvPr/>
        </p:nvGraphicFramePr>
        <p:xfrm>
          <a:off x="2762250" y="1411288"/>
          <a:ext cx="319088" cy="530225"/>
        </p:xfrm>
        <a:graphic>
          <a:graphicData uri="http://schemas.openxmlformats.org/presentationml/2006/ole">
            <mc:AlternateContent xmlns:mc="http://schemas.openxmlformats.org/markup-compatibility/2006">
              <mc:Choice xmlns:v="urn:schemas-microsoft-com:vml" Requires="v">
                <p:oleObj spid="_x0000_s5" name="公式" r:id="rId6" imgW="114300" imgH="215900" progId="Equation.3">
                  <p:embed/>
                </p:oleObj>
              </mc:Choice>
              <mc:Fallback>
                <p:oleObj name="公式" r:id="rId6" imgW="114300" imgH="2159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1411288"/>
                        <a:ext cx="31908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标题 5"/>
          <p:cNvSpPr>
            <a:spLocks noGrp="1"/>
          </p:cNvSpPr>
          <p:nvPr>
            <p:ph type="title"/>
          </p:nvPr>
        </p:nvSpPr>
        <p:spPr/>
        <p:txBody>
          <a:bodyPr>
            <a:normAutofit/>
          </a:bodyPr>
          <a:lstStyle/>
          <a:p>
            <a:r>
              <a:rPr lang="zh-CN" altLang="en-US" dirty="0"/>
              <a:t>带权路径长度 </a:t>
            </a:r>
            <a:r>
              <a:rPr lang="en-US" altLang="zh-CN" dirty="0"/>
              <a:t>(Weighted Path Length, WPL)</a:t>
            </a:r>
            <a:endParaRPr lang="zh-CN" altLang="en-US" dirty="0"/>
          </a:p>
        </p:txBody>
      </p:sp>
      <p:sp>
        <p:nvSpPr>
          <p:cNvPr id="7" name="内容占位符 6"/>
          <p:cNvSpPr>
            <a:spLocks noGrp="1"/>
          </p:cNvSpPr>
          <p:nvPr>
            <p:ph idx="1"/>
          </p:nvPr>
        </p:nvSpPr>
        <p:spPr>
          <a:xfrm>
            <a:off x="628650" y="1825625"/>
            <a:ext cx="7886700" cy="3292475"/>
          </a:xfrm>
        </p:spPr>
        <p:txBody>
          <a:bodyPr>
            <a:normAutofit/>
          </a:bodyPr>
          <a:lstStyle/>
          <a:p>
            <a:r>
              <a:rPr lang="zh-CN" altLang="en-US" dirty="0"/>
              <a:t>扩充二叉树是有</a:t>
            </a:r>
            <a:r>
              <a:rPr lang="en-US" altLang="zh-CN" dirty="0"/>
              <a:t>n</a:t>
            </a:r>
            <a:r>
              <a:rPr lang="zh-CN" altLang="en-US" dirty="0"/>
              <a:t>个叶结点的二叉树，每个叶子结点赋予一个权重。</a:t>
            </a:r>
            <a:endParaRPr lang="en-US" altLang="zh-CN" dirty="0"/>
          </a:p>
          <a:p>
            <a:r>
              <a:rPr lang="zh-CN" altLang="en-US" dirty="0"/>
              <a:t>树的带权路径长度是树的各叶结点所带的权值与该结点到根的路径长度的乘积的和。</a:t>
            </a:r>
            <a:endParaRPr lang="zh-CN" altLang="en-US" dirty="0"/>
          </a:p>
          <a:p>
            <a:endParaRPr lang="zh-CN" altLang="en-US" dirty="0"/>
          </a:p>
        </p:txBody>
      </p:sp>
      <p:sp>
        <p:nvSpPr>
          <p:cNvPr id="8" name="灯片编号占位符 7"/>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Line 32"/>
          <p:cNvSpPr>
            <a:spLocks noChangeShapeType="1"/>
          </p:cNvSpPr>
          <p:nvPr/>
        </p:nvSpPr>
        <p:spPr bwMode="auto">
          <a:xfrm flipH="1">
            <a:off x="6324600" y="1676400"/>
            <a:ext cx="3810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59" name="Line 31"/>
          <p:cNvSpPr>
            <a:spLocks noChangeShapeType="1"/>
          </p:cNvSpPr>
          <p:nvPr/>
        </p:nvSpPr>
        <p:spPr bwMode="auto">
          <a:xfrm flipH="1">
            <a:off x="6858000" y="2286000"/>
            <a:ext cx="3810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60" name="Line 30"/>
          <p:cNvSpPr>
            <a:spLocks noChangeShapeType="1"/>
          </p:cNvSpPr>
          <p:nvPr/>
        </p:nvSpPr>
        <p:spPr bwMode="auto">
          <a:xfrm flipH="1">
            <a:off x="7315200" y="2895600"/>
            <a:ext cx="3810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61" name="Line 21"/>
          <p:cNvSpPr>
            <a:spLocks noChangeShapeType="1"/>
          </p:cNvSpPr>
          <p:nvPr/>
        </p:nvSpPr>
        <p:spPr bwMode="auto">
          <a:xfrm>
            <a:off x="1981200" y="1828800"/>
            <a:ext cx="914400" cy="1219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62" name="Line 20"/>
          <p:cNvSpPr>
            <a:spLocks noChangeShapeType="1"/>
          </p:cNvSpPr>
          <p:nvPr/>
        </p:nvSpPr>
        <p:spPr bwMode="auto">
          <a:xfrm flipH="1">
            <a:off x="2286000" y="2590800"/>
            <a:ext cx="152400" cy="3810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63" name="Line 18"/>
          <p:cNvSpPr>
            <a:spLocks noChangeShapeType="1"/>
          </p:cNvSpPr>
          <p:nvPr/>
        </p:nvSpPr>
        <p:spPr bwMode="auto">
          <a:xfrm>
            <a:off x="1524000" y="2514600"/>
            <a:ext cx="152400" cy="5334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64" name="Line 16"/>
          <p:cNvSpPr>
            <a:spLocks noChangeShapeType="1"/>
          </p:cNvSpPr>
          <p:nvPr/>
        </p:nvSpPr>
        <p:spPr bwMode="auto">
          <a:xfrm flipH="1">
            <a:off x="990600" y="1981200"/>
            <a:ext cx="838200" cy="11430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0" name="Rectangle 4"/>
          <p:cNvSpPr>
            <a:spLocks noChangeArrowheads="1"/>
          </p:cNvSpPr>
          <p:nvPr/>
        </p:nvSpPr>
        <p:spPr bwMode="auto">
          <a:xfrm>
            <a:off x="762000" y="3810000"/>
            <a:ext cx="7772400" cy="2316163"/>
          </a:xfrm>
          <a:prstGeom prst="rect">
            <a:avLst/>
          </a:prstGeom>
          <a:noFill/>
          <a:ln w="9525">
            <a:noFill/>
            <a:miter lim="800000"/>
          </a:ln>
          <a:effectLst/>
        </p:spPr>
        <p:txBody>
          <a:bodyPr>
            <a:spAutoFit/>
          </a:bodyPr>
          <a:lstStyle/>
          <a:p>
            <a:pPr eaLnBrk="1" fontAlgn="auto" hangingPunct="1">
              <a:spcBef>
                <a:spcPts val="0"/>
              </a:spcBef>
              <a:spcAft>
                <a:spcPts val="0"/>
              </a:spcAft>
              <a:defRPr/>
            </a:pPr>
            <a:r>
              <a:rPr lang="en-US" altLang="zh-CN" sz="3200">
                <a:solidFill>
                  <a:srgbClr val="CC33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WPL = 2*2+      WPL = 2*1+   WPL = 7*1+</a:t>
            </a:r>
            <a:endParaRPr lang="en-US" altLang="zh-CN" sz="3200">
              <a:solidFill>
                <a:srgbClr val="CC3300"/>
              </a:solidFill>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eaLnBrk="1" fontAlgn="auto" hangingPunct="1">
              <a:spcBef>
                <a:spcPts val="0"/>
              </a:spcBef>
              <a:spcAft>
                <a:spcPts val="0"/>
              </a:spcAft>
              <a:defRPr/>
            </a:pPr>
            <a:r>
              <a:rPr lang="en-US" altLang="zh-CN" sz="3200">
                <a:solidFill>
                  <a:srgbClr val="CC33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     4*2+5*2+           4*2+5*3+        5*2+2*3+</a:t>
            </a:r>
            <a:endParaRPr lang="en-US" altLang="zh-CN" sz="3200">
              <a:solidFill>
                <a:srgbClr val="CC3300"/>
              </a:solidFill>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eaLnBrk="1" fontAlgn="auto" hangingPunct="1">
              <a:spcBef>
                <a:spcPts val="0"/>
              </a:spcBef>
              <a:spcAft>
                <a:spcPts val="0"/>
              </a:spcAft>
              <a:defRPr/>
            </a:pPr>
            <a:r>
              <a:rPr lang="en-US" altLang="zh-CN" sz="3200">
                <a:solidFill>
                  <a:srgbClr val="CC33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     7*2 = 36             7*3 = 46          4*3 = 35  </a:t>
            </a:r>
            <a:endParaRPr lang="en-US" altLang="zh-CN" sz="3200">
              <a:solidFill>
                <a:srgbClr val="CC3300"/>
              </a:solidFill>
              <a:effectLst>
                <a:outerShdw blurRad="38100" dist="38100" dir="2700000" algn="tl">
                  <a:srgbClr val="C0C0C0"/>
                </a:outerShdw>
              </a:effectLst>
              <a:latin typeface="Times New Roman" panose="02020603050405020304" pitchFamily="18" charset="0"/>
              <a:ea typeface="仿宋_GB2312" panose="02010609030101010101" pitchFamily="49" charset="-122"/>
            </a:endParaRPr>
          </a:p>
          <a:p>
            <a:pPr eaLnBrk="1" fontAlgn="auto" hangingPunct="1">
              <a:spcBef>
                <a:spcPts val="0"/>
              </a:spcBef>
              <a:spcAft>
                <a:spcPts val="0"/>
              </a:spcAft>
              <a:defRPr/>
            </a:pPr>
            <a:endParaRPr lang="en-US" altLang="zh-CN">
              <a:solidFill>
                <a:srgbClr val="CC3300"/>
              </a:solidFill>
              <a:effectLst>
                <a:outerShdw blurRad="38100" dist="38100" dir="2700000" algn="tl">
                  <a:srgbClr val="C0C0C0"/>
                </a:outerShdw>
              </a:effectLst>
              <a:latin typeface="仿宋_GB2312" panose="02010609030101010101" pitchFamily="49" charset="-122"/>
              <a:ea typeface="仿宋_GB2312" panose="02010609030101010101" pitchFamily="49" charset="-122"/>
            </a:endParaRPr>
          </a:p>
          <a:p>
            <a:pPr eaLnBrk="1" fontAlgn="auto" hangingPunct="1">
              <a:spcBef>
                <a:spcPts val="0"/>
              </a:spcBef>
              <a:spcAft>
                <a:spcPts val="0"/>
              </a:spcAft>
              <a:defRPr/>
            </a:pPr>
            <a:r>
              <a:rPr lang="en-US" altLang="zh-CN" sz="3200">
                <a:effectLst>
                  <a:outerShdw blurRad="38100" dist="38100" dir="2700000" algn="tl">
                    <a:srgbClr val="C0C0C0"/>
                  </a:outerShdw>
                </a:effectLst>
                <a:latin typeface="仿宋_GB2312" panose="02010609030101010101" pitchFamily="49" charset="-122"/>
                <a:ea typeface="仿宋_GB2312" panose="02010609030101010101" pitchFamily="49" charset="-122"/>
              </a:rPr>
              <a:t>      </a:t>
            </a:r>
            <a:r>
              <a:rPr lang="zh-CN" altLang="en-US" sz="3200">
                <a:effectLst>
                  <a:outerShdw blurRad="38100" dist="38100" dir="2700000" algn="tl">
                    <a:srgbClr val="C0C0C0"/>
                  </a:outerShdw>
                </a:effectLst>
                <a:latin typeface="仿宋_GB2312" panose="02010609030101010101" pitchFamily="49" charset="-122"/>
                <a:ea typeface="仿宋_GB2312" panose="02010609030101010101" pitchFamily="49" charset="-122"/>
              </a:rPr>
              <a:t>带权路径长度达到最小</a:t>
            </a:r>
            <a:endParaRPr lang="zh-CN" altLang="en-US">
              <a:latin typeface="仿宋_GB2312" panose="02010609030101010101" pitchFamily="49" charset="-122"/>
              <a:ea typeface="仿宋_GB2312" panose="02010609030101010101" pitchFamily="49" charset="-122"/>
            </a:endParaRPr>
          </a:p>
        </p:txBody>
      </p:sp>
      <p:sp>
        <p:nvSpPr>
          <p:cNvPr id="147467" name="Oval 5"/>
          <p:cNvSpPr>
            <a:spLocks noChangeArrowheads="1"/>
          </p:cNvSpPr>
          <p:nvPr/>
        </p:nvSpPr>
        <p:spPr bwMode="auto">
          <a:xfrm>
            <a:off x="1752600" y="16764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68" name="Oval 10"/>
          <p:cNvSpPr>
            <a:spLocks noChangeArrowheads="1"/>
          </p:cNvSpPr>
          <p:nvPr/>
        </p:nvSpPr>
        <p:spPr bwMode="auto">
          <a:xfrm>
            <a:off x="838200" y="28956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69" name="Oval 11"/>
          <p:cNvSpPr>
            <a:spLocks noChangeArrowheads="1"/>
          </p:cNvSpPr>
          <p:nvPr/>
        </p:nvSpPr>
        <p:spPr bwMode="auto">
          <a:xfrm>
            <a:off x="1447800" y="28956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0" name="Oval 12"/>
          <p:cNvSpPr>
            <a:spLocks noChangeArrowheads="1"/>
          </p:cNvSpPr>
          <p:nvPr/>
        </p:nvSpPr>
        <p:spPr bwMode="auto">
          <a:xfrm>
            <a:off x="2057400" y="28956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1" name="Oval 13"/>
          <p:cNvSpPr>
            <a:spLocks noChangeArrowheads="1"/>
          </p:cNvSpPr>
          <p:nvPr/>
        </p:nvSpPr>
        <p:spPr bwMode="auto">
          <a:xfrm>
            <a:off x="2667000" y="28956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2" name="Oval 14"/>
          <p:cNvSpPr>
            <a:spLocks noChangeArrowheads="1"/>
          </p:cNvSpPr>
          <p:nvPr/>
        </p:nvSpPr>
        <p:spPr bwMode="auto">
          <a:xfrm>
            <a:off x="1295400" y="22860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3" name="Oval 15"/>
          <p:cNvSpPr>
            <a:spLocks noChangeArrowheads="1"/>
          </p:cNvSpPr>
          <p:nvPr/>
        </p:nvSpPr>
        <p:spPr bwMode="auto">
          <a:xfrm>
            <a:off x="2286000" y="22860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4" name="Line 22"/>
          <p:cNvSpPr>
            <a:spLocks noChangeShapeType="1"/>
          </p:cNvSpPr>
          <p:nvPr/>
        </p:nvSpPr>
        <p:spPr bwMode="auto">
          <a:xfrm>
            <a:off x="6858000" y="1524000"/>
            <a:ext cx="1295400" cy="18288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5" name="Oval 23"/>
          <p:cNvSpPr>
            <a:spLocks noChangeArrowheads="1"/>
          </p:cNvSpPr>
          <p:nvPr/>
        </p:nvSpPr>
        <p:spPr bwMode="auto">
          <a:xfrm>
            <a:off x="6629400" y="13716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6" name="Oval 24"/>
          <p:cNvSpPr>
            <a:spLocks noChangeArrowheads="1"/>
          </p:cNvSpPr>
          <p:nvPr/>
        </p:nvSpPr>
        <p:spPr bwMode="auto">
          <a:xfrm>
            <a:off x="7543800" y="25908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7" name="Oval 25"/>
          <p:cNvSpPr>
            <a:spLocks noChangeArrowheads="1"/>
          </p:cNvSpPr>
          <p:nvPr/>
        </p:nvSpPr>
        <p:spPr bwMode="auto">
          <a:xfrm>
            <a:off x="7086600" y="19812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8" name="Oval 26"/>
          <p:cNvSpPr>
            <a:spLocks noChangeArrowheads="1"/>
          </p:cNvSpPr>
          <p:nvPr/>
        </p:nvSpPr>
        <p:spPr bwMode="auto">
          <a:xfrm>
            <a:off x="7924800" y="32004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9" name="Oval 27"/>
          <p:cNvSpPr>
            <a:spLocks noChangeArrowheads="1"/>
          </p:cNvSpPr>
          <p:nvPr/>
        </p:nvSpPr>
        <p:spPr bwMode="auto">
          <a:xfrm>
            <a:off x="6172200" y="19812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80" name="Oval 28"/>
          <p:cNvSpPr>
            <a:spLocks noChangeArrowheads="1"/>
          </p:cNvSpPr>
          <p:nvPr/>
        </p:nvSpPr>
        <p:spPr bwMode="auto">
          <a:xfrm>
            <a:off x="7086600" y="32004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81" name="Oval 29"/>
          <p:cNvSpPr>
            <a:spLocks noChangeArrowheads="1"/>
          </p:cNvSpPr>
          <p:nvPr/>
        </p:nvSpPr>
        <p:spPr bwMode="auto">
          <a:xfrm>
            <a:off x="6629400" y="25908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82" name="Line 33"/>
          <p:cNvSpPr>
            <a:spLocks noChangeShapeType="1"/>
          </p:cNvSpPr>
          <p:nvPr/>
        </p:nvSpPr>
        <p:spPr bwMode="auto">
          <a:xfrm flipH="1">
            <a:off x="3886200" y="1676400"/>
            <a:ext cx="3810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3" name="Line 34"/>
          <p:cNvSpPr>
            <a:spLocks noChangeShapeType="1"/>
          </p:cNvSpPr>
          <p:nvPr/>
        </p:nvSpPr>
        <p:spPr bwMode="auto">
          <a:xfrm flipH="1">
            <a:off x="4419600" y="2286000"/>
            <a:ext cx="3810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4" name="Line 35"/>
          <p:cNvSpPr>
            <a:spLocks noChangeShapeType="1"/>
          </p:cNvSpPr>
          <p:nvPr/>
        </p:nvSpPr>
        <p:spPr bwMode="auto">
          <a:xfrm flipH="1">
            <a:off x="4876800" y="2895600"/>
            <a:ext cx="3810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5" name="Line 36"/>
          <p:cNvSpPr>
            <a:spLocks noChangeShapeType="1"/>
          </p:cNvSpPr>
          <p:nvPr/>
        </p:nvSpPr>
        <p:spPr bwMode="auto">
          <a:xfrm>
            <a:off x="4419600" y="1524000"/>
            <a:ext cx="1295400" cy="18288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6" name="Oval 37"/>
          <p:cNvSpPr>
            <a:spLocks noChangeArrowheads="1"/>
          </p:cNvSpPr>
          <p:nvPr/>
        </p:nvSpPr>
        <p:spPr bwMode="auto">
          <a:xfrm>
            <a:off x="4191000" y="13716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87" name="Oval 38"/>
          <p:cNvSpPr>
            <a:spLocks noChangeArrowheads="1"/>
          </p:cNvSpPr>
          <p:nvPr/>
        </p:nvSpPr>
        <p:spPr bwMode="auto">
          <a:xfrm>
            <a:off x="5105400" y="25908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88" name="Oval 39"/>
          <p:cNvSpPr>
            <a:spLocks noChangeArrowheads="1"/>
          </p:cNvSpPr>
          <p:nvPr/>
        </p:nvSpPr>
        <p:spPr bwMode="auto">
          <a:xfrm>
            <a:off x="4648200" y="19812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89" name="Oval 40"/>
          <p:cNvSpPr>
            <a:spLocks noChangeArrowheads="1"/>
          </p:cNvSpPr>
          <p:nvPr/>
        </p:nvSpPr>
        <p:spPr bwMode="auto">
          <a:xfrm>
            <a:off x="5486400" y="32004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90" name="Oval 41"/>
          <p:cNvSpPr>
            <a:spLocks noChangeArrowheads="1"/>
          </p:cNvSpPr>
          <p:nvPr/>
        </p:nvSpPr>
        <p:spPr bwMode="auto">
          <a:xfrm>
            <a:off x="3733800" y="19812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91" name="Oval 42"/>
          <p:cNvSpPr>
            <a:spLocks noChangeArrowheads="1"/>
          </p:cNvSpPr>
          <p:nvPr/>
        </p:nvSpPr>
        <p:spPr bwMode="auto">
          <a:xfrm>
            <a:off x="4648200" y="32004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92" name="Oval 43"/>
          <p:cNvSpPr>
            <a:spLocks noChangeArrowheads="1"/>
          </p:cNvSpPr>
          <p:nvPr/>
        </p:nvSpPr>
        <p:spPr bwMode="auto">
          <a:xfrm>
            <a:off x="4191000" y="2590800"/>
            <a:ext cx="381000" cy="3810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93" name="Text Box 44"/>
          <p:cNvSpPr txBox="1">
            <a:spLocks noChangeArrowheads="1"/>
          </p:cNvSpPr>
          <p:nvPr/>
        </p:nvSpPr>
        <p:spPr bwMode="auto">
          <a:xfrm>
            <a:off x="838200" y="2819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47494" name="Text Box 45"/>
          <p:cNvSpPr txBox="1">
            <a:spLocks noChangeArrowheads="1"/>
          </p:cNvSpPr>
          <p:nvPr/>
        </p:nvSpPr>
        <p:spPr bwMode="auto">
          <a:xfrm>
            <a:off x="3752850" y="1905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47495" name="Text Box 46"/>
          <p:cNvSpPr txBox="1">
            <a:spLocks noChangeArrowheads="1"/>
          </p:cNvSpPr>
          <p:nvPr/>
        </p:nvSpPr>
        <p:spPr bwMode="auto">
          <a:xfrm>
            <a:off x="7105650" y="3124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47496" name="Text Box 47"/>
          <p:cNvSpPr txBox="1">
            <a:spLocks noChangeArrowheads="1"/>
          </p:cNvSpPr>
          <p:nvPr/>
        </p:nvSpPr>
        <p:spPr bwMode="auto">
          <a:xfrm>
            <a:off x="1466850" y="2819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47497" name="Text Box 48"/>
          <p:cNvSpPr txBox="1">
            <a:spLocks noChangeArrowheads="1"/>
          </p:cNvSpPr>
          <p:nvPr/>
        </p:nvSpPr>
        <p:spPr bwMode="auto">
          <a:xfrm>
            <a:off x="4210050" y="2514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47498" name="Text Box 49"/>
          <p:cNvSpPr txBox="1">
            <a:spLocks noChangeArrowheads="1"/>
          </p:cNvSpPr>
          <p:nvPr/>
        </p:nvSpPr>
        <p:spPr bwMode="auto">
          <a:xfrm>
            <a:off x="7924800" y="3124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47499" name="Text Box 50"/>
          <p:cNvSpPr txBox="1">
            <a:spLocks noChangeArrowheads="1"/>
          </p:cNvSpPr>
          <p:nvPr/>
        </p:nvSpPr>
        <p:spPr bwMode="auto">
          <a:xfrm>
            <a:off x="2076450" y="2819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47500" name="Text Box 51"/>
          <p:cNvSpPr txBox="1">
            <a:spLocks noChangeArrowheads="1"/>
          </p:cNvSpPr>
          <p:nvPr/>
        </p:nvSpPr>
        <p:spPr bwMode="auto">
          <a:xfrm>
            <a:off x="4667250" y="3124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47501" name="Text Box 52"/>
          <p:cNvSpPr txBox="1">
            <a:spLocks noChangeArrowheads="1"/>
          </p:cNvSpPr>
          <p:nvPr/>
        </p:nvSpPr>
        <p:spPr bwMode="auto">
          <a:xfrm>
            <a:off x="6648450" y="2514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47502" name="Text Box 53"/>
          <p:cNvSpPr txBox="1">
            <a:spLocks noChangeArrowheads="1"/>
          </p:cNvSpPr>
          <p:nvPr/>
        </p:nvSpPr>
        <p:spPr bwMode="auto">
          <a:xfrm>
            <a:off x="5505450" y="3124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47503" name="Text Box 54"/>
          <p:cNvSpPr txBox="1">
            <a:spLocks noChangeArrowheads="1"/>
          </p:cNvSpPr>
          <p:nvPr/>
        </p:nvSpPr>
        <p:spPr bwMode="auto">
          <a:xfrm>
            <a:off x="6191250" y="1919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47504" name="Text Box 55"/>
          <p:cNvSpPr txBox="1">
            <a:spLocks noChangeArrowheads="1"/>
          </p:cNvSpPr>
          <p:nvPr/>
        </p:nvSpPr>
        <p:spPr bwMode="auto">
          <a:xfrm>
            <a:off x="2686050" y="2819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47505" name="Line 56"/>
          <p:cNvSpPr>
            <a:spLocks noChangeShapeType="1"/>
          </p:cNvSpPr>
          <p:nvPr/>
        </p:nvSpPr>
        <p:spPr bwMode="auto">
          <a:xfrm flipV="1">
            <a:off x="6172200" y="5334000"/>
            <a:ext cx="1447800" cy="457200"/>
          </a:xfrm>
          <a:prstGeom prst="line">
            <a:avLst/>
          </a:prstGeom>
          <a:noFill/>
          <a:ln w="38100">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p:cNvSpPr>
            <a:spLocks noGrp="1"/>
          </p:cNvSpPr>
          <p:nvPr>
            <p:ph type="title"/>
          </p:nvPr>
        </p:nvSpPr>
        <p:spPr/>
        <p:txBody>
          <a:bodyPr/>
          <a:lstStyle/>
          <a:p>
            <a:r>
              <a:rPr lang="zh-CN" altLang="en-US" dirty="0"/>
              <a:t>具有不同带权路径长度的扩充二叉树</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5.9.2 Huffman</a:t>
            </a:r>
            <a:r>
              <a:rPr lang="zh-CN" altLang="en-US" dirty="0"/>
              <a:t>树</a:t>
            </a:r>
            <a:endParaRPr lang="zh-CN" altLang="en-US" dirty="0"/>
          </a:p>
        </p:txBody>
      </p:sp>
      <p:sp>
        <p:nvSpPr>
          <p:cNvPr id="5" name="内容占位符 4"/>
          <p:cNvSpPr>
            <a:spLocks noGrp="1"/>
          </p:cNvSpPr>
          <p:nvPr>
            <p:ph idx="1"/>
          </p:nvPr>
        </p:nvSpPr>
        <p:spPr/>
        <p:txBody>
          <a:bodyPr/>
          <a:lstStyle/>
          <a:p>
            <a:r>
              <a:rPr lang="zh-CN" altLang="en-US" dirty="0"/>
              <a:t>带权路径长度达到最小的扩充二叉树即为</a:t>
            </a:r>
            <a:r>
              <a:rPr lang="en-US" altLang="zh-CN" dirty="0"/>
              <a:t>Huffman</a:t>
            </a:r>
            <a:r>
              <a:rPr lang="zh-CN" altLang="en-US" dirty="0"/>
              <a:t>树。</a:t>
            </a:r>
            <a:endParaRPr lang="zh-CN" altLang="en-US" dirty="0"/>
          </a:p>
          <a:p>
            <a:r>
              <a:rPr lang="zh-CN" altLang="en-US" dirty="0"/>
              <a:t>在</a:t>
            </a:r>
            <a:r>
              <a:rPr lang="en-US" altLang="zh-CN" dirty="0"/>
              <a:t>Huffman</a:t>
            </a:r>
            <a:r>
              <a:rPr lang="zh-CN" altLang="en-US" dirty="0"/>
              <a:t>树中，权值大的结点离根最近。</a:t>
            </a:r>
            <a:endParaRPr lang="zh-CN" altLang="en-US" dirty="0"/>
          </a:p>
        </p:txBody>
      </p:sp>
      <p:sp>
        <p:nvSpPr>
          <p:cNvPr id="3" name="灯片编号占位符 2"/>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Huffman</a:t>
            </a:r>
            <a:r>
              <a:rPr lang="zh-CN" altLang="en-US" dirty="0"/>
              <a:t>算法</a:t>
            </a:r>
            <a:endParaRPr lang="zh-CN" altLang="en-US" dirty="0"/>
          </a:p>
        </p:txBody>
      </p:sp>
      <p:sp>
        <p:nvSpPr>
          <p:cNvPr id="3" name="内容占位符 2"/>
          <p:cNvSpPr>
            <a:spLocks noGrp="1"/>
          </p:cNvSpPr>
          <p:nvPr>
            <p:ph idx="1"/>
          </p:nvPr>
        </p:nvSpPr>
        <p:spPr/>
        <p:txBody>
          <a:bodyPr>
            <a:normAutofit fontScale="70000" lnSpcReduction="20000"/>
          </a:bodyPr>
          <a:lstStyle/>
          <a:p>
            <a:pPr>
              <a:lnSpc>
                <a:spcPct val="120000"/>
              </a:lnSpc>
            </a:pPr>
            <a:r>
              <a:rPr lang="en-US" altLang="zh-CN" dirty="0"/>
              <a:t>(1) </a:t>
            </a:r>
            <a:r>
              <a:rPr lang="zh-CN" altLang="en-US" dirty="0"/>
              <a:t>由给定的 </a:t>
            </a:r>
            <a:r>
              <a:rPr lang="en-US" altLang="zh-CN" dirty="0"/>
              <a:t>n </a:t>
            </a:r>
            <a:r>
              <a:rPr lang="zh-CN" altLang="en-US" dirty="0"/>
              <a:t>个权值 </a:t>
            </a:r>
            <a:r>
              <a:rPr lang="en-US" altLang="zh-CN" dirty="0"/>
              <a:t>{w</a:t>
            </a:r>
            <a:r>
              <a:rPr lang="en-US" altLang="zh-CN" baseline="-25000" dirty="0"/>
              <a:t>0</a:t>
            </a:r>
            <a:r>
              <a:rPr lang="en-US" altLang="zh-CN" dirty="0"/>
              <a:t>, w</a:t>
            </a:r>
            <a:r>
              <a:rPr lang="en-US" altLang="zh-CN" baseline="-25000" dirty="0"/>
              <a:t>1</a:t>
            </a:r>
            <a:r>
              <a:rPr lang="en-US" altLang="zh-CN" dirty="0"/>
              <a:t>, w</a:t>
            </a:r>
            <a:r>
              <a:rPr lang="en-US" altLang="zh-CN" baseline="-25000" dirty="0"/>
              <a:t>2</a:t>
            </a:r>
            <a:r>
              <a:rPr lang="en-US" altLang="zh-CN" dirty="0"/>
              <a:t>, …, w</a:t>
            </a:r>
            <a:r>
              <a:rPr lang="en-US" altLang="zh-CN" baseline="-25000" dirty="0"/>
              <a:t>n-1</a:t>
            </a:r>
            <a:r>
              <a:rPr lang="en-US" altLang="zh-CN" dirty="0"/>
              <a:t>}</a:t>
            </a:r>
            <a:r>
              <a:rPr lang="zh-CN" altLang="en-US" dirty="0"/>
              <a:t>，构造具有 </a:t>
            </a:r>
            <a:r>
              <a:rPr lang="en-US" altLang="zh-CN" dirty="0"/>
              <a:t>n </a:t>
            </a:r>
            <a:r>
              <a:rPr lang="zh-CN" altLang="en-US" dirty="0"/>
              <a:t>棵扩充二叉树的森林 </a:t>
            </a:r>
            <a:r>
              <a:rPr lang="en-US" altLang="zh-CN" dirty="0"/>
              <a:t>F = { T</a:t>
            </a:r>
            <a:r>
              <a:rPr lang="en-US" altLang="zh-CN" baseline="-25000" dirty="0"/>
              <a:t>0</a:t>
            </a:r>
            <a:r>
              <a:rPr lang="en-US" altLang="zh-CN" dirty="0"/>
              <a:t>, T</a:t>
            </a:r>
            <a:r>
              <a:rPr lang="en-US" altLang="zh-CN" baseline="-25000" dirty="0"/>
              <a:t>1</a:t>
            </a:r>
            <a:r>
              <a:rPr lang="en-US" altLang="zh-CN" dirty="0"/>
              <a:t>, T</a:t>
            </a:r>
            <a:r>
              <a:rPr lang="en-US" altLang="zh-CN" baseline="-25000" dirty="0"/>
              <a:t>2</a:t>
            </a:r>
            <a:r>
              <a:rPr lang="en-US" altLang="zh-CN" dirty="0"/>
              <a:t>, …, T</a:t>
            </a:r>
            <a:r>
              <a:rPr lang="en-US" altLang="zh-CN" baseline="-25000" dirty="0"/>
              <a:t>n-1</a:t>
            </a:r>
            <a:r>
              <a:rPr lang="en-US" altLang="zh-CN" dirty="0"/>
              <a:t> }</a:t>
            </a:r>
            <a:r>
              <a:rPr lang="zh-CN" altLang="en-US" dirty="0"/>
              <a:t>，其中每棵扩充二叉树 </a:t>
            </a:r>
            <a:r>
              <a:rPr lang="en-US" altLang="zh-CN" dirty="0" err="1"/>
              <a:t>T</a:t>
            </a:r>
            <a:r>
              <a:rPr lang="en-US" altLang="zh-CN" baseline="-25000" dirty="0" err="1"/>
              <a:t>i</a:t>
            </a:r>
            <a:r>
              <a:rPr lang="en-US" altLang="zh-CN" dirty="0"/>
              <a:t> </a:t>
            </a:r>
            <a:r>
              <a:rPr lang="zh-CN" altLang="en-US" dirty="0"/>
              <a:t>只有一 个权值 </a:t>
            </a:r>
            <a:r>
              <a:rPr lang="en-US" altLang="zh-CN" dirty="0" err="1"/>
              <a:t>w</a:t>
            </a:r>
            <a:r>
              <a:rPr lang="en-US" altLang="zh-CN" baseline="-25000" dirty="0" err="1"/>
              <a:t>i</a:t>
            </a:r>
            <a:r>
              <a:rPr lang="en-US" altLang="zh-CN" dirty="0"/>
              <a:t> </a:t>
            </a:r>
            <a:r>
              <a:rPr lang="zh-CN" altLang="en-US" dirty="0"/>
              <a:t>的根结点</a:t>
            </a:r>
            <a:r>
              <a:rPr lang="en-US" altLang="zh-CN" dirty="0"/>
              <a:t>, </a:t>
            </a:r>
            <a:r>
              <a:rPr lang="zh-CN" altLang="en-US" dirty="0"/>
              <a:t>其左、右子树均为空。</a:t>
            </a:r>
            <a:endParaRPr lang="en-US" altLang="zh-CN" dirty="0"/>
          </a:p>
          <a:p>
            <a:pPr>
              <a:lnSpc>
                <a:spcPct val="120000"/>
              </a:lnSpc>
            </a:pPr>
            <a:r>
              <a:rPr lang="en-US" altLang="zh-CN" dirty="0"/>
              <a:t>(2) </a:t>
            </a:r>
            <a:r>
              <a:rPr lang="zh-CN" altLang="en-US" dirty="0"/>
              <a:t>重复以下步骤</a:t>
            </a:r>
            <a:r>
              <a:rPr lang="en-US" altLang="zh-CN" dirty="0"/>
              <a:t>, </a:t>
            </a:r>
            <a:r>
              <a:rPr lang="zh-CN" altLang="en-US" dirty="0"/>
              <a:t>直到 </a:t>
            </a:r>
            <a:r>
              <a:rPr lang="en-US" altLang="zh-CN" dirty="0"/>
              <a:t>F </a:t>
            </a:r>
            <a:r>
              <a:rPr lang="zh-CN" altLang="en-US" dirty="0"/>
              <a:t>中仅剩下一棵树为止：</a:t>
            </a:r>
            <a:endParaRPr lang="zh-CN" altLang="en-US" dirty="0"/>
          </a:p>
          <a:p>
            <a:pPr lvl="1">
              <a:lnSpc>
                <a:spcPct val="120000"/>
              </a:lnSpc>
            </a:pPr>
            <a:r>
              <a:rPr lang="zh-CN" altLang="en-US" dirty="0"/>
              <a:t>① 在 </a:t>
            </a:r>
            <a:r>
              <a:rPr lang="en-US" altLang="zh-CN" dirty="0"/>
              <a:t>F </a:t>
            </a:r>
            <a:r>
              <a:rPr lang="zh-CN" altLang="en-US" dirty="0"/>
              <a:t>中选取两棵根结点的权值最小的扩充二叉树</a:t>
            </a:r>
            <a:r>
              <a:rPr lang="en-US" altLang="zh-CN" dirty="0"/>
              <a:t>,    </a:t>
            </a:r>
            <a:r>
              <a:rPr lang="zh-CN" altLang="en-US" dirty="0"/>
              <a:t>作为左、右子树构造一棵新的二叉树。置新的二叉树的根结点的权值为其左、右子树上根结点的权值之和。</a:t>
            </a:r>
            <a:endParaRPr lang="zh-CN" altLang="en-US" dirty="0"/>
          </a:p>
          <a:p>
            <a:pPr lvl="1">
              <a:lnSpc>
                <a:spcPct val="120000"/>
              </a:lnSpc>
            </a:pPr>
            <a:r>
              <a:rPr lang="zh-CN" altLang="en-US" dirty="0"/>
              <a:t>② 在 </a:t>
            </a:r>
            <a:r>
              <a:rPr lang="en-US" altLang="zh-CN" dirty="0"/>
              <a:t>F </a:t>
            </a:r>
            <a:r>
              <a:rPr lang="zh-CN" altLang="en-US" dirty="0"/>
              <a:t>中删去这两棵二叉树。</a:t>
            </a:r>
            <a:endParaRPr lang="zh-CN" altLang="en-US" dirty="0"/>
          </a:p>
          <a:p>
            <a:pPr lvl="1">
              <a:lnSpc>
                <a:spcPct val="120000"/>
              </a:lnSpc>
            </a:pPr>
            <a:r>
              <a:rPr lang="zh-CN" altLang="en-US" dirty="0"/>
              <a:t>③ 把新的二叉树加入 </a:t>
            </a:r>
            <a:r>
              <a:rPr lang="en-US" altLang="zh-CN" dirty="0"/>
              <a:t>F</a:t>
            </a:r>
            <a:r>
              <a:rPr lang="zh-CN" altLang="en-US" dirty="0"/>
              <a:t>。</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8938" y="1623467"/>
            <a:ext cx="7497763" cy="2176509"/>
            <a:chOff x="395536" y="692696"/>
            <a:chExt cx="7497763" cy="2176509"/>
          </a:xfrm>
        </p:grpSpPr>
        <p:sp>
          <p:nvSpPr>
            <p:cNvPr id="150532" name="Line 17"/>
            <p:cNvSpPr>
              <a:spLocks noChangeShapeType="1"/>
            </p:cNvSpPr>
            <p:nvPr/>
          </p:nvSpPr>
          <p:spPr bwMode="auto">
            <a:xfrm>
              <a:off x="7253536" y="1957933"/>
              <a:ext cx="2286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33" name="Line 16"/>
            <p:cNvSpPr>
              <a:spLocks noChangeShapeType="1"/>
            </p:cNvSpPr>
            <p:nvPr/>
          </p:nvSpPr>
          <p:spPr bwMode="auto">
            <a:xfrm flipH="1">
              <a:off x="6872536" y="1957933"/>
              <a:ext cx="2286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34" name="Text Box 3"/>
            <p:cNvSpPr txBox="1">
              <a:spLocks noChangeArrowheads="1"/>
            </p:cNvSpPr>
            <p:nvPr/>
          </p:nvSpPr>
          <p:spPr bwMode="auto">
            <a:xfrm>
              <a:off x="395536" y="692696"/>
              <a:ext cx="411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endParaRPr kumimoji="1" lang="zh-CN" altLang="zh-CN" sz="2000">
                <a:latin typeface="Times New Roman" panose="02020603050405020304" pitchFamily="18" charset="0"/>
                <a:ea typeface="宋体" panose="02010600030101010101" pitchFamily="2" charset="-122"/>
              </a:endParaRPr>
            </a:p>
          </p:txBody>
        </p:sp>
        <p:sp>
          <p:nvSpPr>
            <p:cNvPr id="150535" name="Text Box 5"/>
            <p:cNvSpPr txBox="1">
              <a:spLocks noChangeArrowheads="1"/>
            </p:cNvSpPr>
            <p:nvPr/>
          </p:nvSpPr>
          <p:spPr bwMode="auto">
            <a:xfrm>
              <a:off x="852736" y="860971"/>
              <a:ext cx="3170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F : {7} {5} {2} {4}</a:t>
              </a:r>
              <a:endParaRPr kumimoji="1" lang="en-US" altLang="zh-CN" sz="2400">
                <a:latin typeface="Times New Roman" panose="02020603050405020304" pitchFamily="18" charset="0"/>
                <a:ea typeface="宋体" panose="02010600030101010101" pitchFamily="2" charset="-122"/>
              </a:endParaRPr>
            </a:p>
          </p:txBody>
        </p:sp>
        <p:sp>
          <p:nvSpPr>
            <p:cNvPr id="150536" name="Rectangle 6"/>
            <p:cNvSpPr>
              <a:spLocks noChangeArrowheads="1"/>
            </p:cNvSpPr>
            <p:nvPr/>
          </p:nvSpPr>
          <p:spPr bwMode="auto">
            <a:xfrm>
              <a:off x="1309936" y="1653133"/>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37" name="Rectangle 7"/>
            <p:cNvSpPr>
              <a:spLocks noChangeArrowheads="1"/>
            </p:cNvSpPr>
            <p:nvPr/>
          </p:nvSpPr>
          <p:spPr bwMode="auto">
            <a:xfrm>
              <a:off x="1919536" y="1653133"/>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38" name="Rectangle 8"/>
            <p:cNvSpPr>
              <a:spLocks noChangeArrowheads="1"/>
            </p:cNvSpPr>
            <p:nvPr/>
          </p:nvSpPr>
          <p:spPr bwMode="auto">
            <a:xfrm>
              <a:off x="2529136" y="1653133"/>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39" name="Rectangle 9"/>
            <p:cNvSpPr>
              <a:spLocks noChangeArrowheads="1"/>
            </p:cNvSpPr>
            <p:nvPr/>
          </p:nvSpPr>
          <p:spPr bwMode="auto">
            <a:xfrm>
              <a:off x="3138736" y="1653133"/>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40" name="Text Box 10"/>
            <p:cNvSpPr txBox="1">
              <a:spLocks noChangeArrowheads="1"/>
            </p:cNvSpPr>
            <p:nvPr/>
          </p:nvSpPr>
          <p:spPr bwMode="auto">
            <a:xfrm>
              <a:off x="5348536" y="845096"/>
              <a:ext cx="2544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F : {7} {5} {6}</a:t>
              </a:r>
              <a:endParaRPr kumimoji="1" lang="en-US" altLang="zh-CN" sz="2400">
                <a:latin typeface="Times New Roman" panose="02020603050405020304" pitchFamily="18" charset="0"/>
                <a:ea typeface="宋体" panose="02010600030101010101" pitchFamily="2" charset="-122"/>
              </a:endParaRPr>
            </a:p>
          </p:txBody>
        </p:sp>
        <p:sp>
          <p:nvSpPr>
            <p:cNvPr id="150541" name="Rectangle 11"/>
            <p:cNvSpPr>
              <a:spLocks noChangeArrowheads="1"/>
            </p:cNvSpPr>
            <p:nvPr/>
          </p:nvSpPr>
          <p:spPr bwMode="auto">
            <a:xfrm>
              <a:off x="5577136" y="1653133"/>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42" name="Rectangle 12"/>
            <p:cNvSpPr>
              <a:spLocks noChangeArrowheads="1"/>
            </p:cNvSpPr>
            <p:nvPr/>
          </p:nvSpPr>
          <p:spPr bwMode="auto">
            <a:xfrm>
              <a:off x="6186736" y="1653133"/>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43" name="Rectangle 13"/>
            <p:cNvSpPr>
              <a:spLocks noChangeArrowheads="1"/>
            </p:cNvSpPr>
            <p:nvPr/>
          </p:nvSpPr>
          <p:spPr bwMode="auto">
            <a:xfrm>
              <a:off x="6643936" y="2338933"/>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44" name="Rectangle 14"/>
            <p:cNvSpPr>
              <a:spLocks noChangeArrowheads="1"/>
            </p:cNvSpPr>
            <p:nvPr/>
          </p:nvSpPr>
          <p:spPr bwMode="auto">
            <a:xfrm>
              <a:off x="7329736" y="2338933"/>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45" name="Oval 15"/>
            <p:cNvSpPr>
              <a:spLocks noChangeArrowheads="1"/>
            </p:cNvSpPr>
            <p:nvPr/>
          </p:nvSpPr>
          <p:spPr bwMode="auto">
            <a:xfrm>
              <a:off x="6948736" y="1576933"/>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46" name="Text Box 18"/>
            <p:cNvSpPr txBox="1">
              <a:spLocks noChangeArrowheads="1"/>
            </p:cNvSpPr>
            <p:nvPr/>
          </p:nvSpPr>
          <p:spPr bwMode="auto">
            <a:xfrm>
              <a:off x="1309936" y="1591221"/>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50547" name="Text Box 19"/>
            <p:cNvSpPr txBox="1">
              <a:spLocks noChangeArrowheads="1"/>
            </p:cNvSpPr>
            <p:nvPr/>
          </p:nvSpPr>
          <p:spPr bwMode="auto">
            <a:xfrm>
              <a:off x="1938586" y="15769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50548" name="Text Box 20"/>
            <p:cNvSpPr txBox="1">
              <a:spLocks noChangeArrowheads="1"/>
            </p:cNvSpPr>
            <p:nvPr/>
          </p:nvSpPr>
          <p:spPr bwMode="auto">
            <a:xfrm>
              <a:off x="2548186" y="15769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50549" name="Text Box 21"/>
            <p:cNvSpPr txBox="1">
              <a:spLocks noChangeArrowheads="1"/>
            </p:cNvSpPr>
            <p:nvPr/>
          </p:nvSpPr>
          <p:spPr bwMode="auto">
            <a:xfrm>
              <a:off x="3157786" y="15769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50550" name="Text Box 22"/>
            <p:cNvSpPr txBox="1">
              <a:spLocks noChangeArrowheads="1"/>
            </p:cNvSpPr>
            <p:nvPr/>
          </p:nvSpPr>
          <p:spPr bwMode="auto">
            <a:xfrm>
              <a:off x="1989386" y="2110333"/>
              <a:ext cx="996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a:solidFill>
                    <a:schemeClr val="accent2"/>
                  </a:solidFill>
                  <a:latin typeface="Times New Roman" panose="02020603050405020304" pitchFamily="18" charset="0"/>
                  <a:ea typeface="隶书" panose="02010509060101010101" pitchFamily="49" charset="-122"/>
                </a:rPr>
                <a:t>初始</a:t>
              </a:r>
              <a:endParaRPr kumimoji="1" lang="zh-CN" altLang="en-US" sz="2400">
                <a:latin typeface="Times New Roman" panose="02020603050405020304" pitchFamily="18" charset="0"/>
                <a:ea typeface="宋体" panose="02010600030101010101" pitchFamily="2" charset="-122"/>
              </a:endParaRPr>
            </a:p>
          </p:txBody>
        </p:sp>
        <p:sp>
          <p:nvSpPr>
            <p:cNvPr id="150551" name="Text Box 23"/>
            <p:cNvSpPr txBox="1">
              <a:spLocks noChangeArrowheads="1"/>
            </p:cNvSpPr>
            <p:nvPr/>
          </p:nvSpPr>
          <p:spPr bwMode="auto">
            <a:xfrm>
              <a:off x="4463837" y="2289768"/>
              <a:ext cx="20002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dirty="0">
                  <a:solidFill>
                    <a:schemeClr val="accent2"/>
                  </a:solidFill>
                  <a:latin typeface="Times New Roman" panose="02020603050405020304" pitchFamily="18" charset="0"/>
                  <a:ea typeface="隶书" panose="02010509060101010101" pitchFamily="49" charset="-122"/>
                </a:rPr>
                <a:t>合并</a:t>
              </a:r>
              <a:r>
                <a:rPr kumimoji="1" lang="en-US" altLang="zh-CN" sz="2800" b="1" dirty="0">
                  <a:solidFill>
                    <a:schemeClr val="tx2"/>
                  </a:solidFill>
                  <a:latin typeface="Times New Roman" panose="02020603050405020304" pitchFamily="18" charset="0"/>
                  <a:ea typeface="宋体" panose="02010600030101010101" pitchFamily="2" charset="-122"/>
                </a:rPr>
                <a:t>{2} {4}</a:t>
              </a:r>
              <a:endParaRPr kumimoji="1" lang="en-US" altLang="zh-CN" sz="2400" dirty="0">
                <a:latin typeface="Times New Roman" panose="02020603050405020304" pitchFamily="18" charset="0"/>
                <a:ea typeface="宋体" panose="02010600030101010101" pitchFamily="2" charset="-122"/>
              </a:endParaRPr>
            </a:p>
          </p:txBody>
        </p:sp>
        <p:sp>
          <p:nvSpPr>
            <p:cNvPr id="150561" name="Text Box 35"/>
            <p:cNvSpPr txBox="1">
              <a:spLocks noChangeArrowheads="1"/>
            </p:cNvSpPr>
            <p:nvPr/>
          </p:nvSpPr>
          <p:spPr bwMode="auto">
            <a:xfrm>
              <a:off x="5596186" y="1591221"/>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50562" name="Text Box 36"/>
            <p:cNvSpPr txBox="1">
              <a:spLocks noChangeArrowheads="1"/>
            </p:cNvSpPr>
            <p:nvPr/>
          </p:nvSpPr>
          <p:spPr bwMode="auto">
            <a:xfrm>
              <a:off x="6205786" y="15769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50563" name="Text Box 37"/>
            <p:cNvSpPr txBox="1">
              <a:spLocks noChangeArrowheads="1"/>
            </p:cNvSpPr>
            <p:nvPr/>
          </p:nvSpPr>
          <p:spPr bwMode="auto">
            <a:xfrm>
              <a:off x="6643936" y="2277021"/>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50564" name="Text Box 38"/>
            <p:cNvSpPr txBox="1">
              <a:spLocks noChangeArrowheads="1"/>
            </p:cNvSpPr>
            <p:nvPr/>
          </p:nvSpPr>
          <p:spPr bwMode="auto">
            <a:xfrm>
              <a:off x="7348786" y="2277021"/>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50569" name="Text Box 43"/>
            <p:cNvSpPr txBox="1">
              <a:spLocks noChangeArrowheads="1"/>
            </p:cNvSpPr>
            <p:nvPr/>
          </p:nvSpPr>
          <p:spPr bwMode="auto">
            <a:xfrm>
              <a:off x="6961436" y="1530896"/>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grpSp>
      <p:grpSp>
        <p:nvGrpSpPr>
          <p:cNvPr id="5" name="组合 4"/>
          <p:cNvGrpSpPr/>
          <p:nvPr/>
        </p:nvGrpSpPr>
        <p:grpSpPr>
          <a:xfrm>
            <a:off x="536138" y="4104776"/>
            <a:ext cx="7672388" cy="2713037"/>
            <a:chOff x="190748" y="3969296"/>
            <a:chExt cx="7672388" cy="2713037"/>
          </a:xfrm>
        </p:grpSpPr>
        <p:sp>
          <p:nvSpPr>
            <p:cNvPr id="150530" name="Line 33"/>
            <p:cNvSpPr>
              <a:spLocks noChangeShapeType="1"/>
            </p:cNvSpPr>
            <p:nvPr/>
          </p:nvSpPr>
          <p:spPr bwMode="auto">
            <a:xfrm flipH="1">
              <a:off x="2376736" y="4472533"/>
              <a:ext cx="2286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31" name="Line 32"/>
            <p:cNvSpPr>
              <a:spLocks noChangeShapeType="1"/>
            </p:cNvSpPr>
            <p:nvPr/>
          </p:nvSpPr>
          <p:spPr bwMode="auto">
            <a:xfrm>
              <a:off x="2757736" y="4472533"/>
              <a:ext cx="2286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52" name="Text Box 24"/>
            <p:cNvSpPr txBox="1">
              <a:spLocks noChangeArrowheads="1"/>
            </p:cNvSpPr>
            <p:nvPr/>
          </p:nvSpPr>
          <p:spPr bwMode="auto">
            <a:xfrm>
              <a:off x="190748" y="4017173"/>
              <a:ext cx="22240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dirty="0">
                  <a:solidFill>
                    <a:schemeClr val="tx2"/>
                  </a:solidFill>
                  <a:latin typeface="Times New Roman" panose="02020603050405020304" pitchFamily="18" charset="0"/>
                  <a:ea typeface="宋体" panose="02010600030101010101" pitchFamily="2" charset="-122"/>
                </a:rPr>
                <a:t>F : {7} {11} </a:t>
              </a:r>
              <a:endParaRPr kumimoji="1" lang="en-US" altLang="zh-CN" sz="2400" dirty="0">
                <a:latin typeface="Times New Roman" panose="02020603050405020304" pitchFamily="18" charset="0"/>
                <a:ea typeface="宋体" panose="02010600030101010101" pitchFamily="2" charset="-122"/>
              </a:endParaRPr>
            </a:p>
          </p:txBody>
        </p:sp>
        <p:sp>
          <p:nvSpPr>
            <p:cNvPr id="150553" name="Line 25"/>
            <p:cNvSpPr>
              <a:spLocks noChangeShapeType="1"/>
            </p:cNvSpPr>
            <p:nvPr/>
          </p:nvSpPr>
          <p:spPr bwMode="auto">
            <a:xfrm>
              <a:off x="3138736" y="5234533"/>
              <a:ext cx="2286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54" name="Line 26"/>
            <p:cNvSpPr>
              <a:spLocks noChangeShapeType="1"/>
            </p:cNvSpPr>
            <p:nvPr/>
          </p:nvSpPr>
          <p:spPr bwMode="auto">
            <a:xfrm flipH="1">
              <a:off x="2757736" y="5144046"/>
              <a:ext cx="2286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55" name="Rectangle 27"/>
            <p:cNvSpPr>
              <a:spLocks noChangeArrowheads="1"/>
            </p:cNvSpPr>
            <p:nvPr/>
          </p:nvSpPr>
          <p:spPr bwMode="auto">
            <a:xfrm>
              <a:off x="1462336" y="4777333"/>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56" name="Rectangle 28"/>
            <p:cNvSpPr>
              <a:spLocks noChangeArrowheads="1"/>
            </p:cNvSpPr>
            <p:nvPr/>
          </p:nvSpPr>
          <p:spPr bwMode="auto">
            <a:xfrm>
              <a:off x="2148136" y="4777333"/>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57" name="Rectangle 29"/>
            <p:cNvSpPr>
              <a:spLocks noChangeArrowheads="1"/>
            </p:cNvSpPr>
            <p:nvPr/>
          </p:nvSpPr>
          <p:spPr bwMode="auto">
            <a:xfrm>
              <a:off x="2529136" y="5525046"/>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58" name="Rectangle 30"/>
            <p:cNvSpPr>
              <a:spLocks noChangeArrowheads="1"/>
            </p:cNvSpPr>
            <p:nvPr/>
          </p:nvSpPr>
          <p:spPr bwMode="auto">
            <a:xfrm>
              <a:off x="3138736" y="5525046"/>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59" name="Oval 31"/>
            <p:cNvSpPr>
              <a:spLocks noChangeArrowheads="1"/>
            </p:cNvSpPr>
            <p:nvPr/>
          </p:nvSpPr>
          <p:spPr bwMode="auto">
            <a:xfrm>
              <a:off x="2833936" y="4763046"/>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60" name="Oval 34"/>
            <p:cNvSpPr>
              <a:spLocks noChangeArrowheads="1"/>
            </p:cNvSpPr>
            <p:nvPr/>
          </p:nvSpPr>
          <p:spPr bwMode="auto">
            <a:xfrm>
              <a:off x="2452936" y="4091533"/>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65" name="Text Box 39"/>
            <p:cNvSpPr txBox="1">
              <a:spLocks noChangeArrowheads="1"/>
            </p:cNvSpPr>
            <p:nvPr/>
          </p:nvSpPr>
          <p:spPr bwMode="auto">
            <a:xfrm>
              <a:off x="1481386" y="4699546"/>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50566" name="Text Box 40"/>
            <p:cNvSpPr txBox="1">
              <a:spLocks noChangeArrowheads="1"/>
            </p:cNvSpPr>
            <p:nvPr/>
          </p:nvSpPr>
          <p:spPr bwMode="auto">
            <a:xfrm>
              <a:off x="2167186" y="4699546"/>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50567" name="Text Box 41"/>
            <p:cNvSpPr txBox="1">
              <a:spLocks noChangeArrowheads="1"/>
            </p:cNvSpPr>
            <p:nvPr/>
          </p:nvSpPr>
          <p:spPr bwMode="auto">
            <a:xfrm>
              <a:off x="2529136" y="54631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50568" name="Text Box 42"/>
            <p:cNvSpPr txBox="1">
              <a:spLocks noChangeArrowheads="1"/>
            </p:cNvSpPr>
            <p:nvPr/>
          </p:nvSpPr>
          <p:spPr bwMode="auto">
            <a:xfrm>
              <a:off x="3157786" y="54631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50570" name="Text Box 44"/>
            <p:cNvSpPr txBox="1">
              <a:spLocks noChangeArrowheads="1"/>
            </p:cNvSpPr>
            <p:nvPr/>
          </p:nvSpPr>
          <p:spPr bwMode="auto">
            <a:xfrm>
              <a:off x="2757736" y="4715421"/>
              <a:ext cx="527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50571" name="Text Box 45"/>
            <p:cNvSpPr txBox="1">
              <a:spLocks noChangeArrowheads="1"/>
            </p:cNvSpPr>
            <p:nvPr/>
          </p:nvSpPr>
          <p:spPr bwMode="auto">
            <a:xfrm>
              <a:off x="2376736" y="4029621"/>
              <a:ext cx="615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11</a:t>
              </a:r>
              <a:endParaRPr kumimoji="1" lang="en-US" altLang="zh-CN" sz="2400">
                <a:latin typeface="Times New Roman" panose="02020603050405020304" pitchFamily="18" charset="0"/>
                <a:ea typeface="宋体" panose="02010600030101010101" pitchFamily="2" charset="-122"/>
              </a:endParaRPr>
            </a:p>
          </p:txBody>
        </p:sp>
        <p:sp>
          <p:nvSpPr>
            <p:cNvPr id="150572" name="Text Box 46"/>
            <p:cNvSpPr txBox="1">
              <a:spLocks noChangeArrowheads="1"/>
            </p:cNvSpPr>
            <p:nvPr/>
          </p:nvSpPr>
          <p:spPr bwMode="auto">
            <a:xfrm>
              <a:off x="1538536" y="5874296"/>
              <a:ext cx="20002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a:solidFill>
                    <a:schemeClr val="accent2"/>
                  </a:solidFill>
                  <a:latin typeface="Times New Roman" panose="02020603050405020304" pitchFamily="18" charset="0"/>
                  <a:ea typeface="隶书" panose="02010509060101010101" pitchFamily="49" charset="-122"/>
                </a:rPr>
                <a:t>合并</a:t>
              </a:r>
              <a:r>
                <a:rPr kumimoji="1" lang="en-US" altLang="zh-CN" sz="2800" b="1">
                  <a:solidFill>
                    <a:schemeClr val="tx2"/>
                  </a:solidFill>
                  <a:latin typeface="Times New Roman" panose="02020603050405020304" pitchFamily="18" charset="0"/>
                  <a:ea typeface="宋体" panose="02010600030101010101" pitchFamily="2" charset="-122"/>
                </a:rPr>
                <a:t>{5} {6}</a:t>
              </a:r>
              <a:endParaRPr kumimoji="1" lang="en-US" altLang="zh-CN" sz="2400">
                <a:latin typeface="Times New Roman" panose="02020603050405020304" pitchFamily="18" charset="0"/>
                <a:ea typeface="宋体" panose="02010600030101010101" pitchFamily="2" charset="-122"/>
              </a:endParaRPr>
            </a:p>
          </p:txBody>
        </p:sp>
        <p:sp>
          <p:nvSpPr>
            <p:cNvPr id="150573" name="Text Box 47"/>
            <p:cNvSpPr txBox="1">
              <a:spLocks noChangeArrowheads="1"/>
            </p:cNvSpPr>
            <p:nvPr/>
          </p:nvSpPr>
          <p:spPr bwMode="auto">
            <a:xfrm>
              <a:off x="4670674" y="3969296"/>
              <a:ext cx="1598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dirty="0">
                  <a:solidFill>
                    <a:schemeClr val="tx2"/>
                  </a:solidFill>
                  <a:latin typeface="Times New Roman" panose="02020603050405020304" pitchFamily="18" charset="0"/>
                  <a:ea typeface="宋体" panose="02010600030101010101" pitchFamily="2" charset="-122"/>
                </a:rPr>
                <a:t>F : {18} </a:t>
              </a:r>
              <a:endParaRPr kumimoji="1" lang="en-US" altLang="zh-CN" sz="2400" dirty="0">
                <a:latin typeface="Times New Roman" panose="02020603050405020304" pitchFamily="18" charset="0"/>
                <a:ea typeface="宋体" panose="02010600030101010101" pitchFamily="2" charset="-122"/>
              </a:endParaRPr>
            </a:p>
          </p:txBody>
        </p:sp>
        <p:sp>
          <p:nvSpPr>
            <p:cNvPr id="150574" name="Line 48"/>
            <p:cNvSpPr>
              <a:spLocks noChangeShapeType="1"/>
            </p:cNvSpPr>
            <p:nvPr/>
          </p:nvSpPr>
          <p:spPr bwMode="auto">
            <a:xfrm flipH="1">
              <a:off x="6262936" y="4472533"/>
              <a:ext cx="2286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75" name="Line 49"/>
            <p:cNvSpPr>
              <a:spLocks noChangeShapeType="1"/>
            </p:cNvSpPr>
            <p:nvPr/>
          </p:nvSpPr>
          <p:spPr bwMode="auto">
            <a:xfrm>
              <a:off x="6643936" y="4396333"/>
              <a:ext cx="2286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76" name="Line 50"/>
            <p:cNvSpPr>
              <a:spLocks noChangeShapeType="1"/>
            </p:cNvSpPr>
            <p:nvPr/>
          </p:nvSpPr>
          <p:spPr bwMode="auto">
            <a:xfrm>
              <a:off x="7024936" y="5158333"/>
              <a:ext cx="2286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77" name="Line 51"/>
            <p:cNvSpPr>
              <a:spLocks noChangeShapeType="1"/>
            </p:cNvSpPr>
            <p:nvPr/>
          </p:nvSpPr>
          <p:spPr bwMode="auto">
            <a:xfrm flipH="1">
              <a:off x="6643936" y="5144046"/>
              <a:ext cx="2286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78" name="Rectangle 53"/>
            <p:cNvSpPr>
              <a:spLocks noChangeArrowheads="1"/>
            </p:cNvSpPr>
            <p:nvPr/>
          </p:nvSpPr>
          <p:spPr bwMode="auto">
            <a:xfrm>
              <a:off x="6034336" y="4777333"/>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79" name="Rectangle 54"/>
            <p:cNvSpPr>
              <a:spLocks noChangeArrowheads="1"/>
            </p:cNvSpPr>
            <p:nvPr/>
          </p:nvSpPr>
          <p:spPr bwMode="auto">
            <a:xfrm>
              <a:off x="6415336" y="5525046"/>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80" name="Oval 56"/>
            <p:cNvSpPr>
              <a:spLocks noChangeArrowheads="1"/>
            </p:cNvSpPr>
            <p:nvPr/>
          </p:nvSpPr>
          <p:spPr bwMode="auto">
            <a:xfrm>
              <a:off x="6720136" y="4763046"/>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81" name="Oval 57"/>
            <p:cNvSpPr>
              <a:spLocks noChangeArrowheads="1"/>
            </p:cNvSpPr>
            <p:nvPr/>
          </p:nvSpPr>
          <p:spPr bwMode="auto">
            <a:xfrm>
              <a:off x="6339136" y="4091533"/>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82" name="Text Box 58"/>
            <p:cNvSpPr txBox="1">
              <a:spLocks noChangeArrowheads="1"/>
            </p:cNvSpPr>
            <p:nvPr/>
          </p:nvSpPr>
          <p:spPr bwMode="auto">
            <a:xfrm>
              <a:off x="6415336" y="54631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50583" name="Text Box 59"/>
            <p:cNvSpPr txBox="1">
              <a:spLocks noChangeArrowheads="1"/>
            </p:cNvSpPr>
            <p:nvPr/>
          </p:nvSpPr>
          <p:spPr bwMode="auto">
            <a:xfrm>
              <a:off x="4326098" y="5871627"/>
              <a:ext cx="21782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dirty="0">
                  <a:solidFill>
                    <a:schemeClr val="accent2"/>
                  </a:solidFill>
                  <a:latin typeface="Times New Roman" panose="02020603050405020304" pitchFamily="18" charset="0"/>
                  <a:ea typeface="隶书" panose="02010509060101010101" pitchFamily="49" charset="-122"/>
                </a:rPr>
                <a:t>合并</a:t>
              </a:r>
              <a:r>
                <a:rPr kumimoji="1" lang="en-US" altLang="zh-CN" sz="2800" b="1" dirty="0">
                  <a:solidFill>
                    <a:schemeClr val="tx2"/>
                  </a:solidFill>
                  <a:latin typeface="Times New Roman" panose="02020603050405020304" pitchFamily="18" charset="0"/>
                  <a:ea typeface="宋体" panose="02010600030101010101" pitchFamily="2" charset="-122"/>
                </a:rPr>
                <a:t>{7} {11}</a:t>
              </a:r>
              <a:endParaRPr kumimoji="1" lang="en-US" altLang="zh-CN" sz="2400" dirty="0">
                <a:latin typeface="Times New Roman" panose="02020603050405020304" pitchFamily="18" charset="0"/>
                <a:ea typeface="宋体" panose="02010600030101010101" pitchFamily="2" charset="-122"/>
              </a:endParaRPr>
            </a:p>
          </p:txBody>
        </p:sp>
        <p:sp>
          <p:nvSpPr>
            <p:cNvPr id="150584" name="Line 60"/>
            <p:cNvSpPr>
              <a:spLocks noChangeShapeType="1"/>
            </p:cNvSpPr>
            <p:nvPr/>
          </p:nvSpPr>
          <p:spPr bwMode="auto">
            <a:xfrm>
              <a:off x="7386886" y="5844133"/>
              <a:ext cx="2286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85" name="Line 61"/>
            <p:cNvSpPr>
              <a:spLocks noChangeShapeType="1"/>
            </p:cNvSpPr>
            <p:nvPr/>
          </p:nvSpPr>
          <p:spPr bwMode="auto">
            <a:xfrm flipH="1">
              <a:off x="7005886" y="5844133"/>
              <a:ext cx="228600" cy="457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86" name="Rectangle 62"/>
            <p:cNvSpPr>
              <a:spLocks noChangeArrowheads="1"/>
            </p:cNvSpPr>
            <p:nvPr/>
          </p:nvSpPr>
          <p:spPr bwMode="auto">
            <a:xfrm>
              <a:off x="6777286" y="6225133"/>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87" name="Rectangle 63"/>
            <p:cNvSpPr>
              <a:spLocks noChangeArrowheads="1"/>
            </p:cNvSpPr>
            <p:nvPr/>
          </p:nvSpPr>
          <p:spPr bwMode="auto">
            <a:xfrm>
              <a:off x="7482136" y="6225133"/>
              <a:ext cx="381000" cy="381000"/>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88" name="Oval 64"/>
            <p:cNvSpPr>
              <a:spLocks noChangeArrowheads="1"/>
            </p:cNvSpPr>
            <p:nvPr/>
          </p:nvSpPr>
          <p:spPr bwMode="auto">
            <a:xfrm>
              <a:off x="7082086" y="5463133"/>
              <a:ext cx="457200" cy="457200"/>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89" name="Text Box 65"/>
            <p:cNvSpPr txBox="1">
              <a:spLocks noChangeArrowheads="1"/>
            </p:cNvSpPr>
            <p:nvPr/>
          </p:nvSpPr>
          <p:spPr bwMode="auto">
            <a:xfrm>
              <a:off x="6777286" y="6163221"/>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50590" name="Text Box 67"/>
            <p:cNvSpPr txBox="1">
              <a:spLocks noChangeArrowheads="1"/>
            </p:cNvSpPr>
            <p:nvPr/>
          </p:nvSpPr>
          <p:spPr bwMode="auto">
            <a:xfrm>
              <a:off x="6034336" y="47011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50591" name="Text Box 68"/>
            <p:cNvSpPr txBox="1">
              <a:spLocks noChangeArrowheads="1"/>
            </p:cNvSpPr>
            <p:nvPr/>
          </p:nvSpPr>
          <p:spPr bwMode="auto">
            <a:xfrm>
              <a:off x="7501186" y="6163221"/>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50592" name="Text Box 69"/>
            <p:cNvSpPr txBox="1">
              <a:spLocks noChangeArrowheads="1"/>
            </p:cNvSpPr>
            <p:nvPr/>
          </p:nvSpPr>
          <p:spPr bwMode="auto">
            <a:xfrm>
              <a:off x="7031286" y="5401221"/>
              <a:ext cx="527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50593" name="Text Box 70"/>
            <p:cNvSpPr txBox="1">
              <a:spLocks noChangeArrowheads="1"/>
            </p:cNvSpPr>
            <p:nvPr/>
          </p:nvSpPr>
          <p:spPr bwMode="auto">
            <a:xfrm>
              <a:off x="6650286" y="4715421"/>
              <a:ext cx="615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11</a:t>
              </a:r>
              <a:endParaRPr kumimoji="1" lang="en-US" altLang="zh-CN" sz="2400">
                <a:latin typeface="Times New Roman" panose="02020603050405020304" pitchFamily="18" charset="0"/>
                <a:ea typeface="宋体" panose="02010600030101010101" pitchFamily="2" charset="-122"/>
              </a:endParaRPr>
            </a:p>
          </p:txBody>
        </p:sp>
        <p:sp>
          <p:nvSpPr>
            <p:cNvPr id="150594" name="Text Box 71"/>
            <p:cNvSpPr txBox="1">
              <a:spLocks noChangeArrowheads="1"/>
            </p:cNvSpPr>
            <p:nvPr/>
          </p:nvSpPr>
          <p:spPr bwMode="auto">
            <a:xfrm>
              <a:off x="6262936" y="4029621"/>
              <a:ext cx="615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18</a:t>
              </a:r>
              <a:endParaRPr kumimoji="1" lang="en-US" altLang="zh-CN" sz="2400">
                <a:latin typeface="Times New Roman" panose="02020603050405020304" pitchFamily="18" charset="0"/>
                <a:ea typeface="宋体" panose="02010600030101010101" pitchFamily="2" charset="-122"/>
              </a:endParaRPr>
            </a:p>
          </p:txBody>
        </p:sp>
      </p:grpSp>
      <p:sp>
        <p:nvSpPr>
          <p:cNvPr id="3" name="标题 2"/>
          <p:cNvSpPr>
            <a:spLocks noGrp="1"/>
          </p:cNvSpPr>
          <p:nvPr>
            <p:ph type="title"/>
          </p:nvPr>
        </p:nvSpPr>
        <p:spPr/>
        <p:txBody>
          <a:bodyPr/>
          <a:lstStyle/>
          <a:p>
            <a:r>
              <a:rPr lang="zh-CN" altLang="en-US" dirty="0"/>
              <a:t>例：</a:t>
            </a:r>
            <a:r>
              <a:rPr lang="en-US" altLang="zh-CN" dirty="0"/>
              <a:t>Huffman</a:t>
            </a:r>
            <a:r>
              <a:rPr lang="zh-CN" altLang="en-US" dirty="0"/>
              <a:t>树的构造过程</a:t>
            </a:r>
            <a:endParaRPr lang="zh-CN" altLang="en-US" dirty="0"/>
          </a:p>
        </p:txBody>
      </p:sp>
      <p:sp>
        <p:nvSpPr>
          <p:cNvPr id="2" name="灯片编号占位符 1"/>
          <p:cNvSpPr>
            <a:spLocks noGrp="1"/>
          </p:cNvSpPr>
          <p:nvPr>
            <p:ph type="sldNum" sz="quarter" idx="12"/>
          </p:nvPr>
        </p:nvSpPr>
        <p:spPr/>
        <p:txBody>
          <a:bodyPr/>
          <a:lstStyle/>
          <a:p>
            <a:pPr>
              <a:defRPr/>
            </a:pPr>
            <a:fld id="{6DFA40DF-1FC0-4A1B-B86F-E962D94EFA14}" type="slidenum">
              <a:rPr lang="en-US" altLang="zh-CN" smtClean="0"/>
            </a:fld>
            <a:endParaRPr lang="en-US" altLang="zh-CN"/>
          </a:p>
        </p:txBody>
      </p:sp>
    </p:spTree>
  </p:cSld>
  <p:clrMapOvr>
    <a:masterClrMapping/>
  </p:clrMapOvr>
  <p:transition>
    <p:split/>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Huffman</a:t>
            </a:r>
            <a:r>
              <a:rPr lang="zh-CN" altLang="en-US" dirty="0"/>
              <a:t>树的类定义</a:t>
            </a:r>
            <a:endParaRPr lang="zh-CN" altLang="en-US" dirty="0"/>
          </a:p>
        </p:txBody>
      </p:sp>
      <p:sp>
        <p:nvSpPr>
          <p:cNvPr id="3" name="内容占位符 2"/>
          <p:cNvSpPr>
            <a:spLocks noGrp="1"/>
          </p:cNvSpPr>
          <p:nvPr>
            <p:ph idx="1"/>
          </p:nvPr>
        </p:nvSpPr>
        <p:spPr>
          <a:xfrm>
            <a:off x="628650" y="1825624"/>
            <a:ext cx="8191822" cy="4843735"/>
          </a:xfrm>
        </p:spPr>
        <p:txBody>
          <a:bodyPr>
            <a:normAutofit fontScale="62500" lnSpcReduction="20000"/>
          </a:bodyPr>
          <a:lstStyle/>
          <a:p>
            <a:pPr marL="0" indent="0">
              <a:buNone/>
            </a:pPr>
            <a:r>
              <a:rPr lang="en-US" altLang="zh-CN" dirty="0"/>
              <a:t>const  int </a:t>
            </a:r>
            <a:r>
              <a:rPr lang="en-US" altLang="zh-CN" dirty="0" err="1"/>
              <a:t>DefaultSize</a:t>
            </a:r>
            <a:r>
              <a:rPr lang="en-US" altLang="zh-CN" dirty="0"/>
              <a:t> = 20; </a:t>
            </a:r>
            <a:endParaRPr lang="en-US" altLang="zh-CN" dirty="0"/>
          </a:p>
          <a:p>
            <a:pPr marL="0" indent="0">
              <a:buNone/>
            </a:pPr>
            <a:endParaRPr lang="en-US" altLang="zh-CN" dirty="0"/>
          </a:p>
          <a:p>
            <a:pPr marL="0" indent="0">
              <a:buNone/>
            </a:pPr>
            <a:r>
              <a:rPr lang="en-US" altLang="zh-CN" dirty="0"/>
              <a:t>//</a:t>
            </a:r>
            <a:r>
              <a:rPr lang="zh-CN" altLang="en-US" dirty="0"/>
              <a:t>结点定义</a:t>
            </a:r>
            <a:endParaRPr lang="en-US" altLang="zh-CN" dirty="0"/>
          </a:p>
          <a:p>
            <a:pPr marL="0" indent="0">
              <a:buNone/>
            </a:pPr>
            <a:r>
              <a:rPr lang="en-US" altLang="zh-CN" dirty="0"/>
              <a:t>template &lt; class E&gt; </a:t>
            </a:r>
            <a:endParaRPr lang="en-US" altLang="zh-CN" dirty="0"/>
          </a:p>
          <a:p>
            <a:pPr marL="0" indent="0">
              <a:buNone/>
            </a:pPr>
            <a:r>
              <a:rPr lang="en-US" altLang="zh-CN" dirty="0"/>
              <a:t>struct </a:t>
            </a:r>
            <a:r>
              <a:rPr lang="en-US" altLang="zh-CN" dirty="0" err="1"/>
              <a:t>HuffmanNode</a:t>
            </a:r>
            <a:r>
              <a:rPr lang="en-US" altLang="zh-CN" dirty="0"/>
              <a:t> {</a:t>
            </a:r>
            <a:endParaRPr lang="en-US" altLang="zh-CN" dirty="0"/>
          </a:p>
          <a:p>
            <a:pPr marL="0" indent="0">
              <a:buNone/>
            </a:pPr>
            <a:r>
              <a:rPr lang="en-US" altLang="zh-CN" dirty="0"/>
              <a:t>    E data;</a:t>
            </a:r>
            <a:endParaRPr lang="en-US" altLang="zh-CN" dirty="0"/>
          </a:p>
          <a:p>
            <a:pPr marL="0" indent="0">
              <a:buNone/>
            </a:pPr>
            <a:r>
              <a:rPr lang="en-US" altLang="zh-CN" dirty="0"/>
              <a:t>    </a:t>
            </a:r>
            <a:r>
              <a:rPr lang="en-US" altLang="zh-CN" dirty="0" err="1"/>
              <a:t>HuffmanNode</a:t>
            </a:r>
            <a:r>
              <a:rPr lang="en-US" altLang="zh-CN" dirty="0"/>
              <a:t>&lt;E&gt; * </a:t>
            </a:r>
            <a:r>
              <a:rPr lang="en-US" altLang="zh-CN" dirty="0" err="1"/>
              <a:t>leftChild</a:t>
            </a:r>
            <a:r>
              <a:rPr lang="en-US" altLang="zh-CN" dirty="0"/>
              <a:t>, * </a:t>
            </a:r>
            <a:r>
              <a:rPr lang="en-US" altLang="zh-CN" dirty="0" err="1"/>
              <a:t>rightChild</a:t>
            </a:r>
            <a:r>
              <a:rPr lang="en-US" altLang="zh-CN" dirty="0"/>
              <a:t>, *parent;</a:t>
            </a:r>
            <a:endParaRPr lang="en-US" altLang="zh-CN" dirty="0"/>
          </a:p>
          <a:p>
            <a:pPr marL="0" indent="0">
              <a:buNone/>
            </a:pPr>
            <a:r>
              <a:rPr lang="en-US" altLang="zh-CN" dirty="0"/>
              <a:t>    </a:t>
            </a:r>
            <a:r>
              <a:rPr lang="en-US" altLang="zh-CN" dirty="0" err="1"/>
              <a:t>HuffmanNode</a:t>
            </a:r>
            <a:r>
              <a:rPr lang="en-US" altLang="zh-CN" dirty="0"/>
              <a:t>(): </a:t>
            </a:r>
            <a:r>
              <a:rPr lang="en-US" altLang="zh-CN" dirty="0" err="1"/>
              <a:t>leftChild</a:t>
            </a:r>
            <a:r>
              <a:rPr lang="en-US" altLang="zh-CN" dirty="0"/>
              <a:t>(NULL), </a:t>
            </a:r>
            <a:r>
              <a:rPr lang="en-US" altLang="zh-CN" dirty="0" err="1"/>
              <a:t>rightChild</a:t>
            </a:r>
            <a:r>
              <a:rPr lang="en-US" altLang="zh-CN" dirty="0"/>
              <a:t>(NULL), parent(NULL) { }</a:t>
            </a:r>
            <a:endParaRPr lang="en-US" altLang="zh-CN" dirty="0"/>
          </a:p>
          <a:p>
            <a:pPr marL="0" indent="0">
              <a:buNone/>
            </a:pPr>
            <a:r>
              <a:rPr lang="en-US" altLang="zh-CN" dirty="0"/>
              <a:t>    </a:t>
            </a:r>
            <a:r>
              <a:rPr lang="en-US" altLang="zh-CN" dirty="0" err="1"/>
              <a:t>HuffmanNode</a:t>
            </a:r>
            <a:r>
              <a:rPr lang="en-US" altLang="zh-CN" dirty="0"/>
              <a:t>(E </a:t>
            </a:r>
            <a:r>
              <a:rPr lang="en-US" altLang="zh-CN" dirty="0" err="1"/>
              <a:t>elem</a:t>
            </a:r>
            <a:r>
              <a:rPr lang="en-US" altLang="zh-CN" dirty="0"/>
              <a:t>, </a:t>
            </a:r>
            <a:r>
              <a:rPr lang="en-US" altLang="zh-CN" dirty="0" err="1"/>
              <a:t>HuffmanNode</a:t>
            </a:r>
            <a:r>
              <a:rPr lang="en-US" altLang="zh-CN" dirty="0"/>
              <a:t>&lt;E&gt; *left = NULL, </a:t>
            </a:r>
            <a:r>
              <a:rPr lang="en-US" altLang="zh-CN" dirty="0" err="1"/>
              <a:t>HuffmanNode</a:t>
            </a:r>
            <a:r>
              <a:rPr lang="en-US" altLang="zh-CN" dirty="0"/>
              <a:t>&lt;E&gt; *right = NULL, </a:t>
            </a:r>
            <a:r>
              <a:rPr lang="en-US" altLang="zh-CN" dirty="0" err="1"/>
              <a:t>HuffmanNode</a:t>
            </a:r>
            <a:r>
              <a:rPr lang="en-US" altLang="zh-CN" dirty="0"/>
              <a:t>&lt;E&gt; *pr = NULL) : data(</a:t>
            </a:r>
            <a:r>
              <a:rPr lang="en-US" altLang="zh-CN" dirty="0" err="1"/>
              <a:t>elem</a:t>
            </a:r>
            <a:r>
              <a:rPr lang="en-US" altLang="zh-CN" dirty="0"/>
              <a:t>), </a:t>
            </a:r>
            <a:r>
              <a:rPr lang="en-US" altLang="zh-CN" dirty="0" err="1"/>
              <a:t>leftChild</a:t>
            </a:r>
            <a:r>
              <a:rPr lang="en-US" altLang="zh-CN" dirty="0"/>
              <a:t>(left), </a:t>
            </a:r>
            <a:r>
              <a:rPr lang="en-US" altLang="zh-CN" dirty="0" err="1"/>
              <a:t>rightChild</a:t>
            </a:r>
            <a:r>
              <a:rPr lang="en-US" altLang="zh-CN" dirty="0"/>
              <a:t>(right), parent(pr) { }</a:t>
            </a:r>
            <a:endParaRPr lang="en-US" altLang="zh-CN" dirty="0"/>
          </a:p>
          <a:p>
            <a:pPr marL="0" indent="0">
              <a:buNone/>
            </a:pPr>
            <a:r>
              <a:rPr lang="en-US" altLang="zh-CN" dirty="0"/>
              <a:t>};</a:t>
            </a:r>
            <a:endParaRPr lang="en-US" altLang="zh-CN" dirty="0"/>
          </a:p>
          <a:p>
            <a:pPr marL="0" indent="0">
              <a:buNone/>
            </a:pPr>
            <a:endParaRPr lang="en-US" altLang="zh-CN" dirty="0"/>
          </a:p>
          <a:p>
            <a:pPr marL="0" indent="0">
              <a:buNone/>
            </a:pP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dirty="0"/>
          </a:p>
        </p:txBody>
      </p:sp>
    </p:spTree>
  </p:cSld>
  <p:clrMapOvr>
    <a:masterClrMapping/>
  </p:clrMapOvr>
  <p:transition>
    <p:split/>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20688"/>
            <a:ext cx="8263830" cy="5832648"/>
          </a:xfrm>
        </p:spPr>
        <p:txBody>
          <a:bodyPr>
            <a:normAutofit fontScale="85000" lnSpcReduction="20000"/>
          </a:bodyPr>
          <a:lstStyle/>
          <a:p>
            <a:pPr marL="0" indent="0">
              <a:buNone/>
            </a:pPr>
            <a:r>
              <a:rPr lang="en-US" altLang="zh-CN" dirty="0"/>
              <a:t>//Huffman</a:t>
            </a:r>
            <a:r>
              <a:rPr lang="zh-CN" altLang="en-US" dirty="0"/>
              <a:t>树的类定义</a:t>
            </a:r>
            <a:endParaRPr lang="en-US" altLang="zh-CN" dirty="0"/>
          </a:p>
          <a:p>
            <a:pPr marL="0" indent="0">
              <a:buNone/>
            </a:pPr>
            <a:r>
              <a:rPr lang="en-US" altLang="zh-CN" dirty="0"/>
              <a:t>template &lt; class E&gt; class </a:t>
            </a:r>
            <a:r>
              <a:rPr lang="en-US" altLang="zh-CN" dirty="0" err="1"/>
              <a:t>HuffmanTree</a:t>
            </a:r>
            <a:r>
              <a:rPr lang="en-US" altLang="zh-CN" dirty="0"/>
              <a:t> {</a:t>
            </a:r>
            <a:endParaRPr lang="en-US" altLang="zh-CN" dirty="0"/>
          </a:p>
          <a:p>
            <a:pPr marL="0" indent="0">
              <a:buNone/>
            </a:pPr>
            <a:r>
              <a:rPr lang="en-US" altLang="zh-CN" dirty="0"/>
              <a:t>  public:</a:t>
            </a:r>
            <a:endParaRPr lang="en-US" altLang="zh-CN" dirty="0"/>
          </a:p>
          <a:p>
            <a:pPr marL="0" indent="0">
              <a:buNone/>
            </a:pPr>
            <a:r>
              <a:rPr lang="en-US" altLang="zh-CN" dirty="0"/>
              <a:t>     </a:t>
            </a:r>
            <a:r>
              <a:rPr lang="en-US" altLang="zh-CN" dirty="0" err="1"/>
              <a:t>HuffmanTree</a:t>
            </a:r>
            <a:r>
              <a:rPr lang="en-US" altLang="zh-CN" dirty="0"/>
              <a:t>(E w[ ], int n);</a:t>
            </a:r>
            <a:endParaRPr lang="en-US" altLang="zh-CN" dirty="0"/>
          </a:p>
          <a:p>
            <a:pPr marL="0" indent="0">
              <a:buNone/>
            </a:pPr>
            <a:r>
              <a:rPr lang="en-US" altLang="zh-CN" dirty="0"/>
              <a:t>     ~</a:t>
            </a:r>
            <a:r>
              <a:rPr lang="en-US" altLang="zh-CN" dirty="0" err="1"/>
              <a:t>HuffmanTree</a:t>
            </a:r>
            <a:r>
              <a:rPr lang="en-US" altLang="zh-CN" dirty="0"/>
              <a:t>( ) {</a:t>
            </a:r>
            <a:r>
              <a:rPr lang="en-US" altLang="zh-CN" dirty="0" err="1"/>
              <a:t>deleteTree</a:t>
            </a:r>
            <a:r>
              <a:rPr lang="en-US" altLang="zh-CN" dirty="0"/>
              <a:t>(root);}</a:t>
            </a:r>
            <a:endParaRPr lang="en-US" altLang="zh-CN" dirty="0"/>
          </a:p>
          <a:p>
            <a:pPr marL="0" indent="0">
              <a:buNone/>
            </a:pPr>
            <a:r>
              <a:rPr lang="en-US" altLang="zh-CN" dirty="0"/>
              <a:t>  protected:</a:t>
            </a:r>
            <a:endParaRPr lang="en-US" altLang="zh-CN" dirty="0"/>
          </a:p>
          <a:p>
            <a:pPr marL="0" indent="0">
              <a:buNone/>
            </a:pPr>
            <a:r>
              <a:rPr lang="en-US" altLang="zh-CN" dirty="0"/>
              <a:t>     </a:t>
            </a:r>
            <a:r>
              <a:rPr lang="en-US" altLang="zh-CN" dirty="0" err="1"/>
              <a:t>HuffmanNode</a:t>
            </a:r>
            <a:r>
              <a:rPr lang="en-US" altLang="zh-CN" dirty="0"/>
              <a:t>&lt;E&gt; *root;   //</a:t>
            </a:r>
            <a:r>
              <a:rPr lang="zh-CN" altLang="en-US" dirty="0"/>
              <a:t>二叉树的根</a:t>
            </a:r>
            <a:endParaRPr lang="zh-CN" altLang="en-US" dirty="0"/>
          </a:p>
          <a:p>
            <a:pPr marL="0" indent="0">
              <a:buNone/>
            </a:pPr>
            <a:r>
              <a:rPr lang="zh-CN" altLang="en-US" dirty="0"/>
              <a:t>     </a:t>
            </a:r>
            <a:r>
              <a:rPr lang="en-US" altLang="zh-CN" dirty="0"/>
              <a:t>void </a:t>
            </a:r>
            <a:r>
              <a:rPr lang="en-US" altLang="zh-CN" dirty="0" err="1"/>
              <a:t>deleteTree</a:t>
            </a:r>
            <a:r>
              <a:rPr lang="en-US" altLang="zh-CN" dirty="0"/>
              <a:t>(</a:t>
            </a:r>
            <a:r>
              <a:rPr lang="en-US" altLang="zh-CN" dirty="0" err="1"/>
              <a:t>HuffmanNode</a:t>
            </a:r>
            <a:r>
              <a:rPr lang="en-US" altLang="zh-CN" dirty="0"/>
              <a:t>&lt;E&gt; *t);</a:t>
            </a:r>
            <a:endParaRPr lang="en-US" altLang="zh-CN" dirty="0"/>
          </a:p>
          <a:p>
            <a:pPr marL="0" indent="0">
              <a:buNone/>
            </a:pPr>
            <a:r>
              <a:rPr lang="en-US" altLang="zh-CN" dirty="0"/>
              <a:t>     void </a:t>
            </a:r>
            <a:r>
              <a:rPr lang="en-US" altLang="zh-CN" dirty="0" err="1"/>
              <a:t>mergeTree</a:t>
            </a:r>
            <a:r>
              <a:rPr lang="en-US" altLang="zh-CN" dirty="0"/>
              <a:t>(</a:t>
            </a:r>
            <a:r>
              <a:rPr lang="en-US" altLang="zh-CN" dirty="0" err="1">
                <a:solidFill>
                  <a:srgbClr val="FF0000"/>
                </a:solidFill>
              </a:rPr>
              <a:t>HuffmanNode</a:t>
            </a:r>
            <a:r>
              <a:rPr lang="en-US" altLang="zh-CN" dirty="0">
                <a:solidFill>
                  <a:srgbClr val="FF0000"/>
                </a:solidFill>
              </a:rPr>
              <a:t>&lt;E&gt;* ht1, </a:t>
            </a:r>
            <a:r>
              <a:rPr lang="en-US" altLang="zh-CN" dirty="0" err="1">
                <a:solidFill>
                  <a:srgbClr val="FF0000"/>
                </a:solidFill>
              </a:rPr>
              <a:t>HuffmanNode</a:t>
            </a:r>
            <a:r>
              <a:rPr lang="en-US" altLang="zh-CN" dirty="0">
                <a:solidFill>
                  <a:srgbClr val="FF0000"/>
                </a:solidFill>
              </a:rPr>
              <a:t>&lt;E&gt;* ht2,  </a:t>
            </a:r>
            <a:r>
              <a:rPr lang="en-US" altLang="zh-CN" dirty="0" err="1">
                <a:solidFill>
                  <a:srgbClr val="FF0000"/>
                </a:solidFill>
              </a:rPr>
              <a:t>HuffmanNode</a:t>
            </a:r>
            <a:r>
              <a:rPr lang="en-US" altLang="zh-CN" dirty="0">
                <a:solidFill>
                  <a:srgbClr val="FF0000"/>
                </a:solidFill>
              </a:rPr>
              <a:t>&lt;E&gt; *&amp;parent</a:t>
            </a:r>
            <a:r>
              <a:rPr lang="en-US" altLang="zh-CN" dirty="0"/>
              <a:t>);</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07504" y="152636"/>
            <a:ext cx="8928992" cy="6552728"/>
          </a:xfrm>
        </p:spPr>
        <p:txBody>
          <a:bodyPr>
            <a:normAutofit fontScale="47500" lnSpcReduction="20000"/>
          </a:bodyPr>
          <a:lstStyle/>
          <a:p>
            <a:pPr marL="0" indent="0">
              <a:buNone/>
            </a:pPr>
            <a:r>
              <a:rPr lang="en-US" altLang="zh-CN" dirty="0"/>
              <a:t>//</a:t>
            </a:r>
            <a:r>
              <a:rPr lang="zh-CN" altLang="en-US" dirty="0"/>
              <a:t>建立</a:t>
            </a:r>
            <a:r>
              <a:rPr lang="en-US" altLang="zh-CN" dirty="0"/>
              <a:t>Huffman</a:t>
            </a:r>
            <a:r>
              <a:rPr lang="zh-CN" altLang="en-US" dirty="0"/>
              <a:t>树的算法</a:t>
            </a:r>
            <a:endParaRPr lang="zh-CN" altLang="en-US" dirty="0"/>
          </a:p>
          <a:p>
            <a:pPr marL="0" indent="0">
              <a:buNone/>
            </a:pPr>
            <a:r>
              <a:rPr lang="en-US" altLang="zh-CN" dirty="0"/>
              <a:t>template &lt; class E&gt; </a:t>
            </a:r>
            <a:endParaRPr lang="en-US" altLang="zh-CN" dirty="0"/>
          </a:p>
          <a:p>
            <a:pPr marL="0" indent="0">
              <a:buNone/>
            </a:pPr>
            <a:r>
              <a:rPr lang="en-US" altLang="zh-CN" dirty="0" err="1"/>
              <a:t>HuffmanTree</a:t>
            </a:r>
            <a:r>
              <a:rPr lang="en-US" altLang="zh-CN" dirty="0"/>
              <a:t> &lt;E&gt;::</a:t>
            </a:r>
            <a:r>
              <a:rPr lang="en-US" altLang="zh-CN" dirty="0" err="1"/>
              <a:t>HuffmanTree</a:t>
            </a:r>
            <a:r>
              <a:rPr lang="en-US" altLang="zh-CN" dirty="0"/>
              <a:t> (E w[ ],  int n ) {</a:t>
            </a:r>
            <a:endParaRPr lang="en-US" altLang="zh-CN" dirty="0"/>
          </a:p>
          <a:p>
            <a:pPr marL="0" indent="0">
              <a:buNone/>
            </a:pPr>
            <a:r>
              <a:rPr lang="en-US" altLang="zh-CN" dirty="0"/>
              <a:t>    </a:t>
            </a:r>
            <a:r>
              <a:rPr lang="en-US" altLang="zh-CN" dirty="0" err="1"/>
              <a:t>MinHeap</a:t>
            </a:r>
            <a:r>
              <a:rPr lang="en-US" altLang="zh-CN" dirty="0"/>
              <a:t>&lt;</a:t>
            </a:r>
            <a:r>
              <a:rPr lang="en-US" altLang="zh-CN" dirty="0" err="1">
                <a:solidFill>
                  <a:srgbClr val="FF0000"/>
                </a:solidFill>
              </a:rPr>
              <a:t>HuffmanNode</a:t>
            </a:r>
            <a:r>
              <a:rPr lang="en-US" altLang="zh-CN" dirty="0">
                <a:solidFill>
                  <a:srgbClr val="FF0000"/>
                </a:solidFill>
              </a:rPr>
              <a:t>&lt;E&gt;</a:t>
            </a:r>
            <a:r>
              <a:rPr lang="en-US" altLang="zh-CN" dirty="0"/>
              <a:t>&gt; hp;</a:t>
            </a:r>
            <a:endParaRPr lang="en-US" altLang="zh-CN" dirty="0"/>
          </a:p>
          <a:p>
            <a:pPr marL="0" indent="0">
              <a:buNone/>
            </a:pPr>
            <a:r>
              <a:rPr lang="en-US" altLang="zh-CN" dirty="0"/>
              <a:t>    </a:t>
            </a:r>
            <a:r>
              <a:rPr lang="en-US" altLang="zh-CN" dirty="0" err="1"/>
              <a:t>HuffmanNode</a:t>
            </a:r>
            <a:r>
              <a:rPr lang="en-US" altLang="zh-CN" dirty="0"/>
              <a:t> &lt;E&gt; *parent, first, second; </a:t>
            </a:r>
            <a:endParaRPr lang="en-US" altLang="zh-CN" dirty="0"/>
          </a:p>
          <a:p>
            <a:pPr marL="0" indent="0">
              <a:buNone/>
            </a:pPr>
            <a:r>
              <a:rPr lang="en-US" altLang="zh-CN" dirty="0"/>
              <a:t>    </a:t>
            </a:r>
            <a:r>
              <a:rPr lang="en-US" altLang="zh-CN" dirty="0" err="1"/>
              <a:t>HuffmanNode</a:t>
            </a:r>
            <a:r>
              <a:rPr lang="en-US" altLang="zh-CN" dirty="0"/>
              <a:t> &lt;E&gt; * </a:t>
            </a:r>
            <a:r>
              <a:rPr lang="en-US" altLang="zh-CN" dirty="0" err="1"/>
              <a:t>NodeList</a:t>
            </a:r>
            <a:r>
              <a:rPr lang="en-US" altLang="zh-CN" dirty="0"/>
              <a:t> = new  </a:t>
            </a:r>
            <a:r>
              <a:rPr lang="en-US" altLang="zh-CN" dirty="0" err="1"/>
              <a:t>HuffmanNode</a:t>
            </a:r>
            <a:r>
              <a:rPr lang="en-US" altLang="zh-CN" dirty="0"/>
              <a:t> &lt;E&gt;[n];</a:t>
            </a:r>
            <a:endParaRPr lang="en-US" altLang="zh-CN" dirty="0"/>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a:t>
            </a:r>
            <a:endParaRPr lang="en-US" altLang="zh-CN" dirty="0"/>
          </a:p>
          <a:p>
            <a:pPr marL="0" indent="0">
              <a:buNone/>
            </a:pPr>
            <a:r>
              <a:rPr lang="en-US" altLang="zh-CN" dirty="0"/>
              <a:t>        </a:t>
            </a:r>
            <a:r>
              <a:rPr lang="en-US" altLang="zh-CN" dirty="0" err="1"/>
              <a:t>NodeList</a:t>
            </a:r>
            <a:r>
              <a:rPr lang="en-US" altLang="zh-CN" dirty="0"/>
              <a:t>[</a:t>
            </a:r>
            <a:r>
              <a:rPr lang="en-US" altLang="zh-CN" dirty="0" err="1"/>
              <a:t>i</a:t>
            </a:r>
            <a:r>
              <a:rPr lang="en-US" altLang="zh-CN" dirty="0"/>
              <a:t>].data = w[</a:t>
            </a:r>
            <a:r>
              <a:rPr lang="en-US" altLang="zh-CN" dirty="0" err="1"/>
              <a:t>i</a:t>
            </a:r>
            <a:r>
              <a:rPr lang="en-US" altLang="zh-CN" dirty="0"/>
              <a:t>];                 </a:t>
            </a:r>
            <a:r>
              <a:rPr lang="en-US" altLang="zh-CN" dirty="0" err="1"/>
              <a:t>NodeList</a:t>
            </a:r>
            <a:r>
              <a:rPr lang="en-US" altLang="zh-CN" dirty="0"/>
              <a:t>[</a:t>
            </a:r>
            <a:r>
              <a:rPr lang="en-US" altLang="zh-CN" dirty="0" err="1"/>
              <a:t>i</a:t>
            </a:r>
            <a:r>
              <a:rPr lang="en-US" altLang="zh-CN" dirty="0"/>
              <a:t>].</a:t>
            </a:r>
            <a:r>
              <a:rPr lang="en-US" altLang="zh-CN" dirty="0" err="1"/>
              <a:t>leftChild</a:t>
            </a:r>
            <a:r>
              <a:rPr lang="en-US" altLang="zh-CN" dirty="0"/>
              <a:t> = NULL;</a:t>
            </a:r>
            <a:endParaRPr lang="en-US" altLang="zh-CN" dirty="0"/>
          </a:p>
          <a:p>
            <a:pPr marL="0" indent="0">
              <a:buNone/>
            </a:pPr>
            <a:r>
              <a:rPr lang="en-US" altLang="zh-CN" dirty="0"/>
              <a:t>        </a:t>
            </a:r>
            <a:r>
              <a:rPr lang="en-US" altLang="zh-CN" dirty="0" err="1"/>
              <a:t>NodeList</a:t>
            </a:r>
            <a:r>
              <a:rPr lang="en-US" altLang="zh-CN" dirty="0"/>
              <a:t>[</a:t>
            </a:r>
            <a:r>
              <a:rPr lang="en-US" altLang="zh-CN" dirty="0" err="1"/>
              <a:t>i</a:t>
            </a:r>
            <a:r>
              <a:rPr lang="en-US" altLang="zh-CN" dirty="0"/>
              <a:t>].</a:t>
            </a:r>
            <a:r>
              <a:rPr lang="en-US" altLang="zh-CN" dirty="0" err="1"/>
              <a:t>rightChild</a:t>
            </a:r>
            <a:r>
              <a:rPr lang="en-US" altLang="zh-CN" dirty="0"/>
              <a:t> = NULL;      </a:t>
            </a:r>
            <a:r>
              <a:rPr lang="en-US" altLang="zh-CN" dirty="0" err="1"/>
              <a:t>NodeList</a:t>
            </a:r>
            <a:r>
              <a:rPr lang="en-US" altLang="zh-CN" dirty="0"/>
              <a:t>[</a:t>
            </a:r>
            <a:r>
              <a:rPr lang="en-US" altLang="zh-CN" dirty="0" err="1"/>
              <a:t>i</a:t>
            </a:r>
            <a:r>
              <a:rPr lang="en-US" altLang="zh-CN" dirty="0"/>
              <a:t>].parent = NULL;</a:t>
            </a:r>
            <a:endParaRPr lang="en-US" altLang="zh-CN" dirty="0"/>
          </a:p>
          <a:p>
            <a:pPr marL="0" indent="0">
              <a:buNone/>
            </a:pPr>
            <a:r>
              <a:rPr lang="en-US" altLang="zh-CN" dirty="0"/>
              <a:t>        </a:t>
            </a:r>
            <a:r>
              <a:rPr lang="en-US" altLang="zh-CN" dirty="0" err="1"/>
              <a:t>hp.Insert</a:t>
            </a:r>
            <a:r>
              <a:rPr lang="en-US" altLang="zh-CN" dirty="0"/>
              <a:t>(</a:t>
            </a:r>
            <a:r>
              <a:rPr lang="en-US" altLang="zh-CN" dirty="0" err="1"/>
              <a:t>NodeList</a:t>
            </a:r>
            <a:r>
              <a:rPr lang="en-US" altLang="zh-CN" dirty="0"/>
              <a:t>[</a:t>
            </a:r>
            <a:r>
              <a:rPr lang="en-US" altLang="zh-CN" dirty="0" err="1"/>
              <a:t>i</a:t>
            </a:r>
            <a:r>
              <a:rPr lang="en-US" altLang="zh-CN" dirty="0"/>
              <a:t>]);</a:t>
            </a:r>
            <a:endParaRPr lang="en-US" altLang="zh-CN" dirty="0"/>
          </a:p>
          <a:p>
            <a:pPr marL="0" indent="0">
              <a:buNone/>
            </a:pPr>
            <a:r>
              <a:rPr lang="en-US" altLang="zh-CN" dirty="0"/>
              <a:t>    }</a:t>
            </a:r>
            <a:endParaRPr lang="en-US" altLang="zh-CN" dirty="0"/>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n-1; </a:t>
            </a:r>
            <a:r>
              <a:rPr lang="en-US" altLang="zh-CN" dirty="0" err="1"/>
              <a:t>i</a:t>
            </a:r>
            <a:r>
              <a:rPr lang="en-US" altLang="zh-CN" dirty="0"/>
              <a:t>++ ) {       //</a:t>
            </a:r>
            <a:r>
              <a:rPr lang="zh-CN" altLang="en-US" dirty="0"/>
              <a:t>做 </a:t>
            </a:r>
            <a:r>
              <a:rPr lang="en-US" altLang="zh-CN" dirty="0"/>
              <a:t>n-1</a:t>
            </a:r>
            <a:r>
              <a:rPr lang="zh-CN" altLang="en-US" dirty="0"/>
              <a:t>趟</a:t>
            </a:r>
            <a:r>
              <a:rPr lang="en-US" altLang="zh-CN" dirty="0"/>
              <a:t>, </a:t>
            </a:r>
            <a:r>
              <a:rPr lang="zh-CN" altLang="en-US" dirty="0"/>
              <a:t>逐步形成霍夫曼树</a:t>
            </a:r>
            <a:endParaRPr lang="zh-CN" altLang="en-US" dirty="0"/>
          </a:p>
          <a:p>
            <a:pPr marL="0" indent="0">
              <a:buNone/>
            </a:pPr>
            <a:r>
              <a:rPr lang="zh-CN" altLang="en-US" dirty="0"/>
              <a:t>        </a:t>
            </a:r>
            <a:r>
              <a:rPr lang="en-US" altLang="zh-CN" dirty="0" err="1"/>
              <a:t>hp.RemoveMin</a:t>
            </a:r>
            <a:r>
              <a:rPr lang="en-US" altLang="zh-CN" dirty="0"/>
              <a:t>( first );   </a:t>
            </a:r>
            <a:r>
              <a:rPr lang="en-US" altLang="zh-CN" dirty="0" err="1"/>
              <a:t>hp.RemoveMin</a:t>
            </a:r>
            <a:r>
              <a:rPr lang="en-US" altLang="zh-CN" dirty="0"/>
              <a:t> ( second );  //</a:t>
            </a:r>
            <a:r>
              <a:rPr lang="zh-CN" altLang="en-US" dirty="0"/>
              <a:t>最小和次小</a:t>
            </a:r>
            <a:endParaRPr lang="zh-CN" altLang="en-US" dirty="0"/>
          </a:p>
          <a:p>
            <a:pPr marL="0" indent="0">
              <a:buNone/>
            </a:pPr>
            <a:r>
              <a:rPr lang="en-US" altLang="zh-CN" dirty="0"/>
              <a:t>        </a:t>
            </a:r>
            <a:r>
              <a:rPr lang="en-US" altLang="zh-CN" dirty="0" err="1">
                <a:solidFill>
                  <a:srgbClr val="FF0000"/>
                </a:solidFill>
              </a:rPr>
              <a:t>mergeTree</a:t>
            </a:r>
            <a:r>
              <a:rPr lang="en-US" altLang="zh-CN" dirty="0">
                <a:solidFill>
                  <a:srgbClr val="FF0000"/>
                </a:solidFill>
              </a:rPr>
              <a:t>(new </a:t>
            </a:r>
            <a:r>
              <a:rPr lang="en-US" altLang="zh-CN" dirty="0" err="1">
                <a:solidFill>
                  <a:srgbClr val="FF0000"/>
                </a:solidFill>
              </a:rPr>
              <a:t>HuffmanNode</a:t>
            </a:r>
            <a:r>
              <a:rPr lang="en-US" altLang="zh-CN" dirty="0">
                <a:solidFill>
                  <a:srgbClr val="FF0000"/>
                </a:solidFill>
              </a:rPr>
              <a:t>&lt;E&gt;(</a:t>
            </a:r>
            <a:r>
              <a:rPr lang="en-US" altLang="zh-CN" dirty="0" err="1">
                <a:solidFill>
                  <a:srgbClr val="FF0000"/>
                </a:solidFill>
              </a:rPr>
              <a:t>first.data</a:t>
            </a:r>
            <a:r>
              <a:rPr lang="en-US" altLang="zh-CN" dirty="0">
                <a:solidFill>
                  <a:srgbClr val="FF0000"/>
                </a:solidFill>
              </a:rPr>
              <a:t>, </a:t>
            </a:r>
            <a:r>
              <a:rPr lang="en-US" altLang="zh-CN" dirty="0" err="1">
                <a:solidFill>
                  <a:srgbClr val="FF0000"/>
                </a:solidFill>
              </a:rPr>
              <a:t>first.leftChild</a:t>
            </a:r>
            <a:r>
              <a:rPr lang="en-US" altLang="zh-CN" dirty="0">
                <a:solidFill>
                  <a:srgbClr val="FF0000"/>
                </a:solidFill>
              </a:rPr>
              <a:t>, </a:t>
            </a:r>
            <a:r>
              <a:rPr lang="en-US" altLang="zh-CN" dirty="0" err="1">
                <a:solidFill>
                  <a:srgbClr val="FF0000"/>
                </a:solidFill>
              </a:rPr>
              <a:t>first.rightChild</a:t>
            </a:r>
            <a:r>
              <a:rPr lang="en-US" altLang="zh-CN" dirty="0">
                <a:solidFill>
                  <a:srgbClr val="FF0000"/>
                </a:solidFill>
              </a:rPr>
              <a:t>, NULL),  </a:t>
            </a:r>
            <a:endParaRPr lang="en-US" altLang="zh-CN" dirty="0">
              <a:solidFill>
                <a:srgbClr val="FF0000"/>
              </a:solidFill>
            </a:endParaRPr>
          </a:p>
          <a:p>
            <a:pPr marL="0" indent="0">
              <a:buNone/>
            </a:pPr>
            <a:r>
              <a:rPr lang="en-US" altLang="zh-CN" dirty="0">
                <a:solidFill>
                  <a:srgbClr val="FF0000"/>
                </a:solidFill>
              </a:rPr>
              <a:t>            new </a:t>
            </a:r>
            <a:r>
              <a:rPr lang="en-US" altLang="zh-CN" dirty="0" err="1">
                <a:solidFill>
                  <a:srgbClr val="FF0000"/>
                </a:solidFill>
              </a:rPr>
              <a:t>HuffmanNode</a:t>
            </a:r>
            <a:r>
              <a:rPr lang="en-US" altLang="zh-CN" dirty="0">
                <a:solidFill>
                  <a:srgbClr val="FF0000"/>
                </a:solidFill>
              </a:rPr>
              <a:t>&lt;E&gt;(</a:t>
            </a:r>
            <a:r>
              <a:rPr lang="en-US" altLang="zh-CN" dirty="0" err="1">
                <a:solidFill>
                  <a:srgbClr val="FF0000"/>
                </a:solidFill>
              </a:rPr>
              <a:t>second.data</a:t>
            </a:r>
            <a:r>
              <a:rPr lang="en-US" altLang="zh-CN" dirty="0">
                <a:solidFill>
                  <a:srgbClr val="FF0000"/>
                </a:solidFill>
              </a:rPr>
              <a:t>, </a:t>
            </a:r>
            <a:r>
              <a:rPr lang="en-US" altLang="zh-CN" dirty="0" err="1">
                <a:solidFill>
                  <a:srgbClr val="FF0000"/>
                </a:solidFill>
              </a:rPr>
              <a:t>second.leftChild</a:t>
            </a:r>
            <a:r>
              <a:rPr lang="en-US" altLang="zh-CN" dirty="0">
                <a:solidFill>
                  <a:srgbClr val="FF0000"/>
                </a:solidFill>
              </a:rPr>
              <a:t>, </a:t>
            </a:r>
            <a:r>
              <a:rPr lang="en-US" altLang="zh-CN" dirty="0" err="1">
                <a:solidFill>
                  <a:srgbClr val="FF0000"/>
                </a:solidFill>
              </a:rPr>
              <a:t>second.rightChild</a:t>
            </a:r>
            <a:r>
              <a:rPr lang="en-US" altLang="zh-CN" dirty="0">
                <a:solidFill>
                  <a:srgbClr val="FF0000"/>
                </a:solidFill>
              </a:rPr>
              <a:t>, NULL), </a:t>
            </a:r>
            <a:endParaRPr lang="en-US" altLang="zh-CN" dirty="0">
              <a:solidFill>
                <a:srgbClr val="FF0000"/>
              </a:solidFill>
            </a:endParaRPr>
          </a:p>
          <a:p>
            <a:pPr marL="0" indent="0">
              <a:buNone/>
            </a:pPr>
            <a:r>
              <a:rPr lang="en-US" altLang="zh-CN" dirty="0">
                <a:solidFill>
                  <a:srgbClr val="FF0000"/>
                </a:solidFill>
              </a:rPr>
              <a:t>            parent);    </a:t>
            </a:r>
            <a:r>
              <a:rPr lang="en-US" altLang="zh-CN" dirty="0"/>
              <a:t>//</a:t>
            </a:r>
            <a:r>
              <a:rPr lang="zh-CN" altLang="en-US" dirty="0"/>
              <a:t>合并</a:t>
            </a:r>
            <a:endParaRPr lang="zh-CN" altLang="en-US" dirty="0"/>
          </a:p>
          <a:p>
            <a:pPr marL="0" indent="0">
              <a:buNone/>
            </a:pPr>
            <a:r>
              <a:rPr lang="zh-CN" altLang="en-US" dirty="0"/>
              <a:t>        </a:t>
            </a:r>
            <a:r>
              <a:rPr lang="en-US" altLang="zh-CN" dirty="0" err="1"/>
              <a:t>hp.Insert</a:t>
            </a:r>
            <a:r>
              <a:rPr lang="en-US" altLang="zh-CN" dirty="0"/>
              <a:t> ( *parent );//</a:t>
            </a:r>
            <a:r>
              <a:rPr lang="zh-CN" altLang="en-US" dirty="0"/>
              <a:t>新的根结点加入最小堆</a:t>
            </a:r>
            <a:endParaRPr lang="zh-CN" altLang="en-US" dirty="0"/>
          </a:p>
          <a:p>
            <a:pPr marL="0" indent="0">
              <a:buNone/>
            </a:pPr>
            <a:r>
              <a:rPr lang="en-US" altLang="zh-CN" dirty="0"/>
              <a:t>    }</a:t>
            </a:r>
            <a:endParaRPr lang="en-US" altLang="zh-CN" dirty="0"/>
          </a:p>
          <a:p>
            <a:pPr marL="0" indent="0">
              <a:buNone/>
            </a:pPr>
            <a:r>
              <a:rPr lang="zh-CN" altLang="en-US" dirty="0"/>
              <a:t>    </a:t>
            </a:r>
            <a:r>
              <a:rPr lang="en-US" altLang="zh-CN" dirty="0"/>
              <a:t>root = parent;</a:t>
            </a:r>
            <a:endParaRPr lang="en-US" altLang="zh-CN" dirty="0"/>
          </a:p>
          <a:p>
            <a:pPr marL="0" indent="0">
              <a:buNone/>
            </a:pPr>
            <a:r>
              <a:rPr lang="en-US" altLang="zh-CN" dirty="0"/>
              <a:t>}</a:t>
            </a:r>
            <a:endParaRPr lang="en-US" altLang="zh-CN"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548680"/>
            <a:ext cx="7886700" cy="5628283"/>
          </a:xfrm>
        </p:spPr>
        <p:txBody>
          <a:bodyPr>
            <a:normAutofit fontScale="85000" lnSpcReduction="10000"/>
          </a:bodyPr>
          <a:lstStyle/>
          <a:p>
            <a:pPr marL="0" indent="0">
              <a:buNone/>
            </a:pPr>
            <a:r>
              <a:rPr lang="en-US" altLang="zh-CN" dirty="0"/>
              <a:t>template &lt;class E&gt;</a:t>
            </a:r>
            <a:endParaRPr lang="en-US" altLang="zh-CN" dirty="0"/>
          </a:p>
          <a:p>
            <a:pPr marL="0" indent="0">
              <a:buNone/>
            </a:pPr>
            <a:r>
              <a:rPr lang="en-US" altLang="zh-CN" dirty="0"/>
              <a:t>void </a:t>
            </a:r>
            <a:r>
              <a:rPr lang="en-US" altLang="zh-CN" dirty="0" err="1"/>
              <a:t>HuffmanTree</a:t>
            </a:r>
            <a:r>
              <a:rPr lang="en-US" altLang="zh-CN" dirty="0"/>
              <a:t>&lt;E&gt;::</a:t>
            </a:r>
            <a:r>
              <a:rPr lang="en-US" altLang="zh-CN" dirty="0" err="1"/>
              <a:t>mergeTree</a:t>
            </a:r>
            <a:r>
              <a:rPr lang="en-US" altLang="zh-CN" dirty="0"/>
              <a:t>(</a:t>
            </a:r>
            <a:r>
              <a:rPr lang="en-US" altLang="zh-CN" dirty="0" err="1">
                <a:solidFill>
                  <a:srgbClr val="FF0000"/>
                </a:solidFill>
              </a:rPr>
              <a:t>HuffmanNode</a:t>
            </a:r>
            <a:r>
              <a:rPr lang="en-US" altLang="zh-CN" dirty="0">
                <a:solidFill>
                  <a:srgbClr val="FF0000"/>
                </a:solidFill>
              </a:rPr>
              <a:t> &lt;E&gt;* bt1,  </a:t>
            </a:r>
            <a:r>
              <a:rPr lang="en-US" altLang="zh-CN" dirty="0" err="1">
                <a:solidFill>
                  <a:srgbClr val="FF0000"/>
                </a:solidFill>
              </a:rPr>
              <a:t>HuffmanNode</a:t>
            </a:r>
            <a:r>
              <a:rPr lang="en-US" altLang="zh-CN" dirty="0">
                <a:solidFill>
                  <a:srgbClr val="FF0000"/>
                </a:solidFill>
              </a:rPr>
              <a:t> &lt;E&gt;* bt2,  </a:t>
            </a:r>
            <a:r>
              <a:rPr lang="en-US" altLang="zh-CN" dirty="0" err="1">
                <a:solidFill>
                  <a:srgbClr val="FF0000"/>
                </a:solidFill>
              </a:rPr>
              <a:t>HuffmanNode</a:t>
            </a:r>
            <a:r>
              <a:rPr lang="en-US" altLang="zh-CN" dirty="0">
                <a:solidFill>
                  <a:srgbClr val="FF0000"/>
                </a:solidFill>
              </a:rPr>
              <a:t> &lt;E&gt; *&amp; parent</a:t>
            </a:r>
            <a:r>
              <a:rPr lang="en-US" altLang="zh-CN" dirty="0"/>
              <a:t>) {</a:t>
            </a:r>
            <a:endParaRPr lang="en-US" altLang="zh-CN" dirty="0"/>
          </a:p>
          <a:p>
            <a:pPr marL="0" indent="0">
              <a:buNone/>
            </a:pPr>
            <a:r>
              <a:rPr lang="en-US" altLang="zh-CN" dirty="0"/>
              <a:t>        </a:t>
            </a:r>
            <a:r>
              <a:rPr lang="en-US" altLang="zh-CN" dirty="0">
                <a:solidFill>
                  <a:srgbClr val="FF0000"/>
                </a:solidFill>
              </a:rPr>
              <a:t>parent = new </a:t>
            </a:r>
            <a:r>
              <a:rPr lang="en-US" altLang="zh-CN" dirty="0" err="1">
                <a:solidFill>
                  <a:srgbClr val="FF0000"/>
                </a:solidFill>
              </a:rPr>
              <a:t>HuffmanNode</a:t>
            </a:r>
            <a:r>
              <a:rPr lang="en-US" altLang="zh-CN" dirty="0">
                <a:solidFill>
                  <a:srgbClr val="FF0000"/>
                </a:solidFill>
              </a:rPr>
              <a:t>&lt;E&gt;;</a:t>
            </a:r>
            <a:endParaRPr lang="en-US" altLang="zh-CN" dirty="0">
              <a:solidFill>
                <a:srgbClr val="FF0000"/>
              </a:solidFill>
            </a:endParaRPr>
          </a:p>
          <a:p>
            <a:pPr marL="0" indent="0">
              <a:buNone/>
            </a:pPr>
            <a:r>
              <a:rPr lang="en-US" altLang="zh-CN" dirty="0">
                <a:solidFill>
                  <a:srgbClr val="FF0000"/>
                </a:solidFill>
              </a:rPr>
              <a:t>        parent-&gt;</a:t>
            </a:r>
            <a:r>
              <a:rPr lang="en-US" altLang="zh-CN" dirty="0" err="1">
                <a:solidFill>
                  <a:srgbClr val="FF0000"/>
                </a:solidFill>
              </a:rPr>
              <a:t>leftChild</a:t>
            </a:r>
            <a:r>
              <a:rPr lang="en-US" altLang="zh-CN" dirty="0">
                <a:solidFill>
                  <a:srgbClr val="FF0000"/>
                </a:solidFill>
              </a:rPr>
              <a:t> = bt1;</a:t>
            </a:r>
            <a:endParaRPr lang="en-US" altLang="zh-CN" dirty="0">
              <a:solidFill>
                <a:srgbClr val="FF0000"/>
              </a:solidFill>
            </a:endParaRPr>
          </a:p>
          <a:p>
            <a:pPr marL="0" indent="0">
              <a:buNone/>
            </a:pPr>
            <a:r>
              <a:rPr lang="en-US" altLang="zh-CN" dirty="0">
                <a:solidFill>
                  <a:srgbClr val="FF0000"/>
                </a:solidFill>
              </a:rPr>
              <a:t>        parent-&gt;</a:t>
            </a:r>
            <a:r>
              <a:rPr lang="en-US" altLang="zh-CN" dirty="0" err="1">
                <a:solidFill>
                  <a:srgbClr val="FF0000"/>
                </a:solidFill>
              </a:rPr>
              <a:t>rightChild</a:t>
            </a:r>
            <a:r>
              <a:rPr lang="en-US" altLang="zh-CN" dirty="0">
                <a:solidFill>
                  <a:srgbClr val="FF0000"/>
                </a:solidFill>
              </a:rPr>
              <a:t> = bt2;</a:t>
            </a:r>
            <a:endParaRPr lang="en-US" altLang="zh-CN" dirty="0">
              <a:solidFill>
                <a:srgbClr val="FF0000"/>
              </a:solidFill>
            </a:endParaRPr>
          </a:p>
          <a:p>
            <a:pPr marL="0" indent="0">
              <a:buNone/>
            </a:pPr>
            <a:r>
              <a:rPr lang="en-US" altLang="zh-CN" dirty="0">
                <a:solidFill>
                  <a:srgbClr val="FF0000"/>
                </a:solidFill>
              </a:rPr>
              <a:t>        parent-&gt;data= bt1-&gt;data + bt2-&gt;data;</a:t>
            </a:r>
            <a:endParaRPr lang="en-US" altLang="zh-CN" dirty="0">
              <a:solidFill>
                <a:srgbClr val="FF0000"/>
              </a:solidFill>
            </a:endParaRPr>
          </a:p>
          <a:p>
            <a:pPr marL="0" indent="0">
              <a:buNone/>
            </a:pPr>
            <a:r>
              <a:rPr lang="en-US" altLang="zh-CN" dirty="0">
                <a:solidFill>
                  <a:srgbClr val="FF0000"/>
                </a:solidFill>
              </a:rPr>
              <a:t>        bt1-&gt;parent = bt2-&gt;parent = parent;</a:t>
            </a:r>
            <a:endParaRPr lang="en-US" altLang="zh-CN" dirty="0">
              <a:solidFill>
                <a:srgbClr val="FF0000"/>
              </a:solidFill>
            </a:endParaRPr>
          </a:p>
          <a:p>
            <a:pPr marL="0" indent="0">
              <a:buNone/>
            </a:pPr>
            <a:r>
              <a:rPr lang="en-US" altLang="zh-CN" dirty="0"/>
              <a:t>}</a:t>
            </a: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5.9.3 Huffman</a:t>
            </a:r>
            <a:r>
              <a:rPr lang="zh-CN" altLang="en-US" dirty="0"/>
              <a:t>树的应用：最优判定树</a:t>
            </a:r>
            <a:r>
              <a:rPr lang="en-US" altLang="zh-CN" dirty="0"/>
              <a:t> </a:t>
            </a:r>
            <a:endParaRPr lang="zh-CN" altLang="en-US" dirty="0"/>
          </a:p>
        </p:txBody>
      </p:sp>
      <p:sp>
        <p:nvSpPr>
          <p:cNvPr id="3" name="内容占位符 2"/>
          <p:cNvSpPr>
            <a:spLocks noGrp="1"/>
          </p:cNvSpPr>
          <p:nvPr>
            <p:ph idx="1"/>
          </p:nvPr>
        </p:nvSpPr>
        <p:spPr/>
        <p:txBody>
          <a:bodyPr/>
          <a:lstStyle/>
          <a:p>
            <a:r>
              <a:rPr lang="zh-CN" altLang="en-US" dirty="0"/>
              <a:t>略</a:t>
            </a:r>
            <a:endParaRPr lang="zh-CN" altLang="en-US" dirty="0"/>
          </a:p>
        </p:txBody>
      </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5.9.4 Huffman</a:t>
            </a:r>
            <a:r>
              <a:rPr lang="zh-CN" altLang="en-US"/>
              <a:t>树的应用： </a:t>
            </a:r>
            <a:r>
              <a:rPr lang="en-US" altLang="zh-CN"/>
              <a:t>Huffman</a:t>
            </a:r>
            <a:r>
              <a:rPr lang="zh-CN" altLang="en-US" dirty="0"/>
              <a:t>编码</a:t>
            </a:r>
            <a:endParaRPr lang="zh-CN" altLang="en-US" dirty="0"/>
          </a:p>
        </p:txBody>
      </p:sp>
      <p:sp>
        <p:nvSpPr>
          <p:cNvPr id="3" name="内容占位符 2"/>
          <p:cNvSpPr>
            <a:spLocks noGrp="1"/>
          </p:cNvSpPr>
          <p:nvPr>
            <p:ph idx="1"/>
          </p:nvPr>
        </p:nvSpPr>
        <p:spPr>
          <a:xfrm>
            <a:off x="251520" y="1825625"/>
            <a:ext cx="8568952" cy="4351338"/>
          </a:xfrm>
        </p:spPr>
        <p:txBody>
          <a:bodyPr>
            <a:normAutofit fontScale="92500" lnSpcReduction="10000"/>
          </a:bodyPr>
          <a:lstStyle/>
          <a:p>
            <a:r>
              <a:rPr lang="zh-CN" altLang="en-US" dirty="0"/>
              <a:t>主要用途是实现数据压缩。    </a:t>
            </a:r>
            <a:endParaRPr lang="zh-CN" altLang="en-US" dirty="0"/>
          </a:p>
          <a:p>
            <a:r>
              <a:rPr lang="zh-CN" altLang="en-US" dirty="0"/>
              <a:t>例：设给出一段报文：</a:t>
            </a:r>
            <a:r>
              <a:rPr lang="en-US" altLang="zh-CN" dirty="0"/>
              <a:t>CAST  </a:t>
            </a:r>
            <a:r>
              <a:rPr lang="en-US" altLang="zh-CN" dirty="0" err="1"/>
              <a:t>CAST</a:t>
            </a:r>
            <a:r>
              <a:rPr lang="en-US" altLang="zh-CN" dirty="0"/>
              <a:t>  SAT  AT  A  TASA</a:t>
            </a:r>
            <a:endParaRPr lang="en-US" altLang="zh-CN" dirty="0"/>
          </a:p>
          <a:p>
            <a:pPr lvl="1"/>
            <a:r>
              <a:rPr lang="zh-CN" altLang="en-US" dirty="0"/>
              <a:t>字符集合是 </a:t>
            </a:r>
            <a:r>
              <a:rPr lang="en-US" altLang="zh-CN" dirty="0"/>
              <a:t>{ C, A, S, T }</a:t>
            </a:r>
            <a:r>
              <a:rPr lang="zh-CN" altLang="en-US" dirty="0"/>
              <a:t>，各个字符出现的频度</a:t>
            </a:r>
            <a:r>
              <a:rPr lang="en-US" altLang="zh-CN" dirty="0"/>
              <a:t>(</a:t>
            </a:r>
            <a:r>
              <a:rPr lang="zh-CN" altLang="en-US" dirty="0"/>
              <a:t>次数</a:t>
            </a:r>
            <a:r>
              <a:rPr lang="en-US" altLang="zh-CN" dirty="0"/>
              <a:t>)</a:t>
            </a:r>
            <a:r>
              <a:rPr lang="zh-CN" altLang="en-US" dirty="0"/>
              <a:t>是 </a:t>
            </a:r>
            <a:r>
              <a:rPr lang="en-US" altLang="zh-CN" dirty="0"/>
              <a:t>W</a:t>
            </a:r>
            <a:r>
              <a:rPr lang="zh-CN" altLang="en-US" dirty="0"/>
              <a:t>＝</a:t>
            </a:r>
            <a:r>
              <a:rPr lang="en-US" altLang="zh-CN" dirty="0"/>
              <a:t>{ 2, 7, 4, 5 }</a:t>
            </a:r>
            <a:r>
              <a:rPr lang="zh-CN" altLang="en-US" dirty="0"/>
              <a:t>。</a:t>
            </a:r>
            <a:endParaRPr lang="zh-CN" altLang="en-US" dirty="0"/>
          </a:p>
          <a:p>
            <a:pPr lvl="1"/>
            <a:r>
              <a:rPr lang="zh-CN" altLang="en-US" dirty="0"/>
              <a:t>若给每个字符以等长编码</a:t>
            </a:r>
            <a:endParaRPr lang="zh-CN" altLang="en-US" dirty="0"/>
          </a:p>
          <a:p>
            <a:pPr marL="342900" lvl="1" indent="0">
              <a:buNone/>
            </a:pPr>
            <a:r>
              <a:rPr lang="zh-CN" altLang="en-US" dirty="0"/>
              <a:t>    </a:t>
            </a:r>
            <a:r>
              <a:rPr lang="en-US" altLang="zh-CN" dirty="0"/>
              <a:t>A : 00   T : 10    C : 01    S : 11</a:t>
            </a:r>
            <a:endParaRPr lang="en-US" altLang="zh-CN" dirty="0"/>
          </a:p>
          <a:p>
            <a:pPr lvl="1"/>
            <a:r>
              <a:rPr lang="zh-CN" altLang="en-US" dirty="0"/>
              <a:t>则平均总编码长度为：</a:t>
            </a:r>
            <a:endParaRPr lang="en-US" altLang="zh-CN" dirty="0"/>
          </a:p>
          <a:p>
            <a:pPr marL="685800" lvl="2" indent="0">
              <a:buNone/>
            </a:pPr>
            <a:r>
              <a:rPr lang="zh-CN" altLang="en-US" dirty="0"/>
              <a:t> </a:t>
            </a:r>
            <a:r>
              <a:rPr lang="en-US" altLang="zh-CN" dirty="0"/>
              <a:t>( 2+7+4+5 ) * 2 = 36</a:t>
            </a:r>
            <a:r>
              <a:rPr lang="zh-CN" altLang="en-US" dirty="0"/>
              <a:t>。 </a:t>
            </a:r>
            <a:endParaRPr lang="zh-CN" altLang="en-US" dirty="0"/>
          </a:p>
        </p:txBody>
      </p:sp>
      <p:grpSp>
        <p:nvGrpSpPr>
          <p:cNvPr id="7" name="组合 6"/>
          <p:cNvGrpSpPr/>
          <p:nvPr/>
        </p:nvGrpSpPr>
        <p:grpSpPr>
          <a:xfrm>
            <a:off x="6305872" y="4437112"/>
            <a:ext cx="2514600" cy="2212975"/>
            <a:chOff x="3352800" y="606425"/>
            <a:chExt cx="2514600" cy="2212975"/>
          </a:xfrm>
        </p:grpSpPr>
        <p:sp>
          <p:nvSpPr>
            <p:cNvPr id="8" name="Line 2"/>
            <p:cNvSpPr>
              <a:spLocks noChangeShapeType="1"/>
            </p:cNvSpPr>
            <p:nvPr/>
          </p:nvSpPr>
          <p:spPr bwMode="auto">
            <a:xfrm flipH="1">
              <a:off x="4953000" y="1673225"/>
              <a:ext cx="152400" cy="3810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4"/>
            <p:cNvSpPr>
              <a:spLocks noChangeShapeType="1"/>
            </p:cNvSpPr>
            <p:nvPr/>
          </p:nvSpPr>
          <p:spPr bwMode="auto">
            <a:xfrm>
              <a:off x="4648200" y="758825"/>
              <a:ext cx="914400" cy="12192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5"/>
            <p:cNvSpPr>
              <a:spLocks noChangeShapeType="1"/>
            </p:cNvSpPr>
            <p:nvPr/>
          </p:nvSpPr>
          <p:spPr bwMode="auto">
            <a:xfrm>
              <a:off x="4191000" y="1444625"/>
              <a:ext cx="152400" cy="5334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6"/>
            <p:cNvSpPr>
              <a:spLocks noChangeShapeType="1"/>
            </p:cNvSpPr>
            <p:nvPr/>
          </p:nvSpPr>
          <p:spPr bwMode="auto">
            <a:xfrm flipH="1">
              <a:off x="3657600" y="911225"/>
              <a:ext cx="838200" cy="1143000"/>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Oval 7"/>
            <p:cNvSpPr>
              <a:spLocks noChangeArrowheads="1"/>
            </p:cNvSpPr>
            <p:nvPr/>
          </p:nvSpPr>
          <p:spPr bwMode="auto">
            <a:xfrm>
              <a:off x="4419600" y="606425"/>
              <a:ext cx="457200" cy="457200"/>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rou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3" name="Oval 8"/>
            <p:cNvSpPr>
              <a:spLocks noChangeArrowheads="1"/>
            </p:cNvSpPr>
            <p:nvPr/>
          </p:nvSpPr>
          <p:spPr bwMode="auto">
            <a:xfrm>
              <a:off x="3886200" y="1216025"/>
              <a:ext cx="457200" cy="457200"/>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rou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 name="Oval 9"/>
            <p:cNvSpPr>
              <a:spLocks noChangeArrowheads="1"/>
            </p:cNvSpPr>
            <p:nvPr/>
          </p:nvSpPr>
          <p:spPr bwMode="auto">
            <a:xfrm>
              <a:off x="4953000" y="1216025"/>
              <a:ext cx="457200" cy="457200"/>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rou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 name="Rectangle 10"/>
            <p:cNvSpPr>
              <a:spLocks noChangeArrowheads="1"/>
            </p:cNvSpPr>
            <p:nvPr/>
          </p:nvSpPr>
          <p:spPr bwMode="auto">
            <a:xfrm>
              <a:off x="3352800" y="1978025"/>
              <a:ext cx="457200" cy="38100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6" name="Text Box 11"/>
            <p:cNvSpPr txBox="1">
              <a:spLocks noChangeArrowheads="1"/>
            </p:cNvSpPr>
            <p:nvPr/>
          </p:nvSpPr>
          <p:spPr bwMode="auto">
            <a:xfrm>
              <a:off x="3429000" y="19018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7" name="Rectangle 12"/>
            <p:cNvSpPr>
              <a:spLocks noChangeArrowheads="1"/>
            </p:cNvSpPr>
            <p:nvPr/>
          </p:nvSpPr>
          <p:spPr bwMode="auto">
            <a:xfrm>
              <a:off x="4038600" y="1978025"/>
              <a:ext cx="457200" cy="38100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8" name="Rectangle 13"/>
            <p:cNvSpPr>
              <a:spLocks noChangeArrowheads="1"/>
            </p:cNvSpPr>
            <p:nvPr/>
          </p:nvSpPr>
          <p:spPr bwMode="auto">
            <a:xfrm>
              <a:off x="5410200" y="1978025"/>
              <a:ext cx="457200" cy="38100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9" name="Rectangle 14"/>
            <p:cNvSpPr>
              <a:spLocks noChangeArrowheads="1"/>
            </p:cNvSpPr>
            <p:nvPr/>
          </p:nvSpPr>
          <p:spPr bwMode="auto">
            <a:xfrm>
              <a:off x="4724400" y="1978025"/>
              <a:ext cx="457200" cy="38100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20" name="Text Box 15"/>
            <p:cNvSpPr txBox="1">
              <a:spLocks noChangeArrowheads="1"/>
            </p:cNvSpPr>
            <p:nvPr/>
          </p:nvSpPr>
          <p:spPr bwMode="auto">
            <a:xfrm>
              <a:off x="4057650" y="19018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21" name="Text Box 16"/>
            <p:cNvSpPr txBox="1">
              <a:spLocks noChangeArrowheads="1"/>
            </p:cNvSpPr>
            <p:nvPr/>
          </p:nvSpPr>
          <p:spPr bwMode="auto">
            <a:xfrm>
              <a:off x="4800600" y="19018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22" name="Text Box 17"/>
            <p:cNvSpPr txBox="1">
              <a:spLocks noChangeArrowheads="1"/>
            </p:cNvSpPr>
            <p:nvPr/>
          </p:nvSpPr>
          <p:spPr bwMode="auto">
            <a:xfrm>
              <a:off x="5429250" y="19161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23" name="Text Box 18"/>
            <p:cNvSpPr txBox="1">
              <a:spLocks noChangeArrowheads="1"/>
            </p:cNvSpPr>
            <p:nvPr/>
          </p:nvSpPr>
          <p:spPr bwMode="auto">
            <a:xfrm>
              <a:off x="4057650" y="6969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24" name="Text Box 19"/>
            <p:cNvSpPr txBox="1">
              <a:spLocks noChangeArrowheads="1"/>
            </p:cNvSpPr>
            <p:nvPr/>
          </p:nvSpPr>
          <p:spPr bwMode="auto">
            <a:xfrm>
              <a:off x="4972050" y="6826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5" name="Text Box 20"/>
            <p:cNvSpPr txBox="1">
              <a:spLocks noChangeArrowheads="1"/>
            </p:cNvSpPr>
            <p:nvPr/>
          </p:nvSpPr>
          <p:spPr bwMode="auto">
            <a:xfrm>
              <a:off x="4724400" y="14446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26" name="Text Box 21"/>
            <p:cNvSpPr txBox="1">
              <a:spLocks noChangeArrowheads="1"/>
            </p:cNvSpPr>
            <p:nvPr/>
          </p:nvSpPr>
          <p:spPr bwMode="auto">
            <a:xfrm>
              <a:off x="3505200" y="14446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27" name="Text Box 22"/>
            <p:cNvSpPr txBox="1">
              <a:spLocks noChangeArrowheads="1"/>
            </p:cNvSpPr>
            <p:nvPr/>
          </p:nvSpPr>
          <p:spPr bwMode="auto">
            <a:xfrm>
              <a:off x="5429250" y="14446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8" name="Text Box 23"/>
            <p:cNvSpPr txBox="1">
              <a:spLocks noChangeArrowheads="1"/>
            </p:cNvSpPr>
            <p:nvPr/>
          </p:nvSpPr>
          <p:spPr bwMode="auto">
            <a:xfrm>
              <a:off x="4267200" y="14446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9" name="Text Box 24"/>
            <p:cNvSpPr txBox="1">
              <a:spLocks noChangeArrowheads="1"/>
            </p:cNvSpPr>
            <p:nvPr/>
          </p:nvSpPr>
          <p:spPr bwMode="auto">
            <a:xfrm>
              <a:off x="3429000" y="2286000"/>
              <a:ext cx="441325" cy="519113"/>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2800">
                  <a:solidFill>
                    <a:schemeClr val="tx2"/>
                  </a:solidFill>
                  <a:effectLst>
                    <a:outerShdw blurRad="38100" dist="38100" dir="2700000" algn="tl">
                      <a:srgbClr val="C0C0C0"/>
                    </a:outerShdw>
                  </a:effectLst>
                  <a:latin typeface="Times New Roman" panose="02020603050405020304" pitchFamily="18" charset="0"/>
                  <a:ea typeface="+mn-ea"/>
                </a:rPr>
                <a:t>A</a:t>
              </a:r>
              <a:endParaRPr lang="en-US" altLang="zh-CN">
                <a:latin typeface="Times New Roman" panose="02020603050405020304" pitchFamily="18" charset="0"/>
                <a:ea typeface="+mn-ea"/>
              </a:endParaRPr>
            </a:p>
          </p:txBody>
        </p:sp>
        <p:sp>
          <p:nvSpPr>
            <p:cNvPr id="30" name="Text Box 25"/>
            <p:cNvSpPr txBox="1">
              <a:spLocks noChangeArrowheads="1"/>
            </p:cNvSpPr>
            <p:nvPr/>
          </p:nvSpPr>
          <p:spPr bwMode="auto">
            <a:xfrm>
              <a:off x="4038600" y="2286000"/>
              <a:ext cx="441325" cy="519113"/>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2800">
                  <a:solidFill>
                    <a:schemeClr val="tx2"/>
                  </a:solidFill>
                  <a:effectLst>
                    <a:outerShdw blurRad="38100" dist="38100" dir="2700000" algn="tl">
                      <a:srgbClr val="C0C0C0"/>
                    </a:outerShdw>
                  </a:effectLst>
                  <a:latin typeface="Times New Roman" panose="02020603050405020304" pitchFamily="18" charset="0"/>
                  <a:ea typeface="+mn-ea"/>
                </a:rPr>
                <a:t>C</a:t>
              </a:r>
              <a:endParaRPr lang="en-US" altLang="zh-CN">
                <a:latin typeface="Times New Roman" panose="02020603050405020304" pitchFamily="18" charset="0"/>
                <a:ea typeface="+mn-ea"/>
              </a:endParaRPr>
            </a:p>
          </p:txBody>
        </p:sp>
        <p:sp>
          <p:nvSpPr>
            <p:cNvPr id="31" name="Text Box 26"/>
            <p:cNvSpPr txBox="1">
              <a:spLocks noChangeArrowheads="1"/>
            </p:cNvSpPr>
            <p:nvPr/>
          </p:nvSpPr>
          <p:spPr bwMode="auto">
            <a:xfrm>
              <a:off x="4749800" y="2300288"/>
              <a:ext cx="420688" cy="519112"/>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2800">
                  <a:solidFill>
                    <a:schemeClr val="tx2"/>
                  </a:solidFill>
                  <a:effectLst>
                    <a:outerShdw blurRad="38100" dist="38100" dir="2700000" algn="tl">
                      <a:srgbClr val="C0C0C0"/>
                    </a:outerShdw>
                  </a:effectLst>
                  <a:latin typeface="Times New Roman" panose="02020603050405020304" pitchFamily="18" charset="0"/>
                  <a:ea typeface="+mn-ea"/>
                </a:rPr>
                <a:t>T</a:t>
              </a:r>
              <a:endParaRPr lang="en-US" altLang="zh-CN">
                <a:latin typeface="Times New Roman" panose="02020603050405020304" pitchFamily="18" charset="0"/>
                <a:ea typeface="+mn-ea"/>
              </a:endParaRPr>
            </a:p>
          </p:txBody>
        </p:sp>
        <p:sp>
          <p:nvSpPr>
            <p:cNvPr id="32" name="Text Box 27"/>
            <p:cNvSpPr txBox="1">
              <a:spLocks noChangeArrowheads="1"/>
            </p:cNvSpPr>
            <p:nvPr/>
          </p:nvSpPr>
          <p:spPr bwMode="auto">
            <a:xfrm>
              <a:off x="5410200" y="2286000"/>
              <a:ext cx="382588" cy="519113"/>
            </a:xfrm>
            <a:prstGeom prst="rect">
              <a:avLst/>
            </a:prstGeom>
            <a:noFill/>
            <a:ln w="38100">
              <a:noFill/>
              <a:miter lim="800000"/>
            </a:ln>
            <a:effectLst/>
          </p:spPr>
          <p:txBody>
            <a:bodyPr wrap="none" anchor="ctr">
              <a:spAutoFit/>
            </a:bodyPr>
            <a:lstStyle/>
            <a:p>
              <a:pPr algn="ctr" eaLnBrk="1" fontAlgn="auto" hangingPunct="1">
                <a:spcBef>
                  <a:spcPts val="0"/>
                </a:spcBef>
                <a:spcAft>
                  <a:spcPts val="0"/>
                </a:spcAft>
                <a:defRPr/>
              </a:pPr>
              <a:r>
                <a:rPr lang="en-US" altLang="zh-CN" sz="2800">
                  <a:solidFill>
                    <a:schemeClr val="tx2"/>
                  </a:solidFill>
                  <a:effectLst>
                    <a:outerShdw blurRad="38100" dist="38100" dir="2700000" algn="tl">
                      <a:srgbClr val="C0C0C0"/>
                    </a:outerShdw>
                  </a:effectLst>
                  <a:latin typeface="Times New Roman" panose="02020603050405020304" pitchFamily="18" charset="0"/>
                  <a:ea typeface="+mn-ea"/>
                </a:rPr>
                <a:t>S</a:t>
              </a:r>
              <a:endParaRPr lang="en-US" altLang="zh-CN">
                <a:latin typeface="Times New Roman" panose="02020603050405020304" pitchFamily="18" charset="0"/>
                <a:ea typeface="+mn-ea"/>
              </a:endParaRPr>
            </a:p>
          </p:txBody>
        </p:sp>
      </p:grpSp>
      <p:sp>
        <p:nvSpPr>
          <p:cNvPr id="4" name="灯片编号占位符 3"/>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改为</a:t>
            </a:r>
            <a:r>
              <a:rPr lang="en-US" altLang="zh-CN" dirty="0"/>
              <a:t>Huffman</a:t>
            </a:r>
            <a:r>
              <a:rPr lang="zh-CN" altLang="en-US" dirty="0"/>
              <a:t>编码</a:t>
            </a:r>
            <a:endParaRPr lang="zh-CN" altLang="en-US" dirty="0"/>
          </a:p>
        </p:txBody>
      </p:sp>
      <p:sp>
        <p:nvSpPr>
          <p:cNvPr id="4" name="内容占位符 3"/>
          <p:cNvSpPr>
            <a:spLocks noGrp="1"/>
          </p:cNvSpPr>
          <p:nvPr>
            <p:ph idx="1"/>
          </p:nvPr>
        </p:nvSpPr>
        <p:spPr>
          <a:xfrm>
            <a:off x="251520" y="1844823"/>
            <a:ext cx="5802510" cy="4648051"/>
          </a:xfrm>
        </p:spPr>
        <p:txBody>
          <a:bodyPr>
            <a:normAutofit fontScale="70000" lnSpcReduction="20000"/>
          </a:bodyPr>
          <a:lstStyle/>
          <a:p>
            <a:r>
              <a:rPr lang="zh-CN" altLang="en-US" dirty="0"/>
              <a:t> 若按各个字符出现的概率而给予不等长编码，可望减少总编码长度。</a:t>
            </a:r>
            <a:endParaRPr lang="zh-CN" altLang="en-US" dirty="0"/>
          </a:p>
          <a:p>
            <a:pPr lvl="1"/>
            <a:r>
              <a:rPr lang="zh-CN" altLang="en-US" dirty="0"/>
              <a:t>例中各字符出现概率为</a:t>
            </a:r>
            <a:r>
              <a:rPr lang="en-US" altLang="zh-CN" dirty="0"/>
              <a:t>{ 2/18, 7/18, 4/18, 5/18 },</a:t>
            </a:r>
            <a:r>
              <a:rPr lang="zh-CN" altLang="en-US" dirty="0"/>
              <a:t>化整为 </a:t>
            </a:r>
            <a:r>
              <a:rPr lang="en-US" altLang="zh-CN" dirty="0"/>
              <a:t>{ 2, 7, 4, 5 }</a:t>
            </a:r>
            <a:r>
              <a:rPr lang="zh-CN" altLang="en-US" dirty="0"/>
              <a:t>。以它们为各叶结点的权值</a:t>
            </a:r>
            <a:r>
              <a:rPr lang="en-US" altLang="zh-CN" dirty="0"/>
              <a:t>, </a:t>
            </a:r>
            <a:r>
              <a:rPr lang="zh-CN" altLang="en-US" dirty="0"/>
              <a:t>建立</a:t>
            </a:r>
            <a:r>
              <a:rPr lang="en-US" altLang="zh-CN" dirty="0"/>
              <a:t>Huffman</a:t>
            </a:r>
            <a:r>
              <a:rPr lang="zh-CN" altLang="en-US" dirty="0"/>
              <a:t>树。左分支赋 </a:t>
            </a:r>
            <a:r>
              <a:rPr lang="en-US" altLang="zh-CN" dirty="0"/>
              <a:t>0</a:t>
            </a:r>
            <a:r>
              <a:rPr lang="zh-CN" altLang="en-US" dirty="0"/>
              <a:t>，右分支赋 </a:t>
            </a:r>
            <a:r>
              <a:rPr lang="en-US" altLang="zh-CN" dirty="0"/>
              <a:t>1</a:t>
            </a:r>
            <a:r>
              <a:rPr lang="zh-CN" altLang="en-US" dirty="0"/>
              <a:t>，得</a:t>
            </a:r>
            <a:r>
              <a:rPr lang="en-US" altLang="zh-CN" dirty="0"/>
              <a:t>Huffman</a:t>
            </a:r>
            <a:r>
              <a:rPr lang="zh-CN" altLang="en-US" dirty="0"/>
              <a:t>编码</a:t>
            </a:r>
            <a:r>
              <a:rPr lang="en-US" altLang="zh-CN" dirty="0"/>
              <a:t>(</a:t>
            </a:r>
            <a:r>
              <a:rPr lang="zh-CN" altLang="en-US" dirty="0"/>
              <a:t>变长编码</a:t>
            </a:r>
            <a:r>
              <a:rPr lang="en-US" altLang="zh-CN" dirty="0"/>
              <a:t>)</a:t>
            </a:r>
            <a:r>
              <a:rPr lang="zh-CN" altLang="en-US" dirty="0"/>
              <a:t> </a:t>
            </a:r>
            <a:endParaRPr lang="en-US" altLang="zh-CN" dirty="0"/>
          </a:p>
          <a:p>
            <a:pPr marL="342900" lvl="1" indent="0">
              <a:buNone/>
            </a:pPr>
            <a:r>
              <a:rPr lang="en-US" altLang="zh-CN" dirty="0"/>
              <a:t>        A : 0    T : 10     C : 110    S : 111</a:t>
            </a:r>
            <a:endParaRPr lang="en-US" altLang="zh-CN" dirty="0"/>
          </a:p>
          <a:p>
            <a:pPr lvl="1"/>
            <a:r>
              <a:rPr lang="zh-CN" altLang="en-US" dirty="0"/>
              <a:t>它的总编码长度（等于</a:t>
            </a:r>
            <a:r>
              <a:rPr lang="en-US" altLang="zh-CN" dirty="0"/>
              <a:t>Huffman</a:t>
            </a:r>
            <a:r>
              <a:rPr lang="zh-CN" altLang="en-US" dirty="0"/>
              <a:t>树的带权路径长度</a:t>
            </a:r>
            <a:r>
              <a:rPr lang="en-US" altLang="zh-CN" dirty="0"/>
              <a:t>WPL </a:t>
            </a:r>
            <a:r>
              <a:rPr lang="zh-CN" altLang="en-US" dirty="0"/>
              <a:t>）：</a:t>
            </a:r>
            <a:endParaRPr lang="en-US" altLang="zh-CN" dirty="0"/>
          </a:p>
          <a:p>
            <a:pPr marL="342900" lvl="1" indent="0">
              <a:buNone/>
            </a:pPr>
            <a:r>
              <a:rPr lang="en-US" altLang="zh-CN" dirty="0"/>
              <a:t>        7*1+5*2+( 2+4 )*3 = 35</a:t>
            </a:r>
            <a:r>
              <a:rPr lang="zh-CN" altLang="en-US" dirty="0"/>
              <a:t>。</a:t>
            </a:r>
            <a:endParaRPr lang="zh-CN" altLang="en-US" dirty="0"/>
          </a:p>
          <a:p>
            <a:pPr lvl="2"/>
            <a:r>
              <a:rPr lang="zh-CN" altLang="en-US" dirty="0"/>
              <a:t>比等长编码的情形要短。</a:t>
            </a:r>
            <a:endParaRPr lang="zh-CN" altLang="en-US" dirty="0"/>
          </a:p>
          <a:p>
            <a:pPr lvl="1"/>
            <a:r>
              <a:rPr lang="zh-CN" altLang="en-US" dirty="0"/>
              <a:t>特点：</a:t>
            </a:r>
            <a:r>
              <a:rPr lang="en-US" altLang="zh-CN" dirty="0"/>
              <a:t>Huffman</a:t>
            </a:r>
            <a:r>
              <a:rPr lang="zh-CN" altLang="en-US" dirty="0"/>
              <a:t>编码是一种前缀编码。解码时不会混淆。</a:t>
            </a:r>
            <a:endParaRPr lang="zh-CN" altLang="en-US" dirty="0"/>
          </a:p>
        </p:txBody>
      </p:sp>
      <p:grpSp>
        <p:nvGrpSpPr>
          <p:cNvPr id="31" name="Group 27"/>
          <p:cNvGrpSpPr/>
          <p:nvPr/>
        </p:nvGrpSpPr>
        <p:grpSpPr bwMode="auto">
          <a:xfrm>
            <a:off x="5844480" y="3314181"/>
            <a:ext cx="3048000" cy="3200400"/>
            <a:chOff x="3456" y="1872"/>
            <a:chExt cx="1920" cy="2016"/>
          </a:xfrm>
        </p:grpSpPr>
        <p:sp>
          <p:nvSpPr>
            <p:cNvPr id="32" name="Text Box 3"/>
            <p:cNvSpPr txBox="1">
              <a:spLocks noChangeArrowheads="1"/>
            </p:cNvSpPr>
            <p:nvPr/>
          </p:nvSpPr>
          <p:spPr bwMode="auto">
            <a:xfrm>
              <a:off x="3456" y="3523"/>
              <a:ext cx="192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8000"/>
                  </a:solidFill>
                  <a:latin typeface="Times New Roman" panose="02020603050405020304" pitchFamily="18" charset="0"/>
                  <a:ea typeface="隶书" panose="02010509060101010101" pitchFamily="49" charset="-122"/>
                </a:rPr>
                <a:t>Huffman</a:t>
              </a:r>
              <a:r>
                <a:rPr kumimoji="1" lang="zh-CN" altLang="en-US" sz="3200" b="1">
                  <a:solidFill>
                    <a:srgbClr val="008000"/>
                  </a:solidFill>
                  <a:latin typeface="Times New Roman" panose="02020603050405020304" pitchFamily="18" charset="0"/>
                  <a:ea typeface="隶书" panose="02010509060101010101" pitchFamily="49" charset="-122"/>
                </a:rPr>
                <a:t>编码树</a:t>
              </a:r>
              <a:endParaRPr kumimoji="1" lang="zh-CN" altLang="en-US" sz="2000">
                <a:latin typeface="Times New Roman" panose="02020603050405020304" pitchFamily="18" charset="0"/>
                <a:ea typeface="仿宋_GB2312" panose="02010609030101010101" pitchFamily="49" charset="-122"/>
              </a:endParaRPr>
            </a:p>
          </p:txBody>
        </p:sp>
        <p:sp>
          <p:nvSpPr>
            <p:cNvPr id="33" name="Line 4"/>
            <p:cNvSpPr>
              <a:spLocks noChangeShapeType="1"/>
            </p:cNvSpPr>
            <p:nvPr/>
          </p:nvSpPr>
          <p:spPr bwMode="auto">
            <a:xfrm flipH="1">
              <a:off x="3840" y="2121"/>
              <a:ext cx="240" cy="288"/>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5"/>
            <p:cNvSpPr>
              <a:spLocks noChangeShapeType="1"/>
            </p:cNvSpPr>
            <p:nvPr/>
          </p:nvSpPr>
          <p:spPr bwMode="auto">
            <a:xfrm flipH="1">
              <a:off x="4176" y="2505"/>
              <a:ext cx="240" cy="288"/>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6"/>
            <p:cNvSpPr>
              <a:spLocks noChangeShapeType="1"/>
            </p:cNvSpPr>
            <p:nvPr/>
          </p:nvSpPr>
          <p:spPr bwMode="auto">
            <a:xfrm flipH="1">
              <a:off x="4464" y="2889"/>
              <a:ext cx="240" cy="288"/>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7"/>
            <p:cNvSpPr>
              <a:spLocks noChangeShapeType="1"/>
            </p:cNvSpPr>
            <p:nvPr/>
          </p:nvSpPr>
          <p:spPr bwMode="auto">
            <a:xfrm>
              <a:off x="4176" y="2025"/>
              <a:ext cx="816" cy="1152"/>
            </a:xfrm>
            <a:prstGeom prst="line">
              <a:avLst/>
            </a:prstGeom>
            <a:noFill/>
            <a:ln w="28575">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Oval 8"/>
            <p:cNvSpPr>
              <a:spLocks noChangeArrowheads="1"/>
            </p:cNvSpPr>
            <p:nvPr/>
          </p:nvSpPr>
          <p:spPr bwMode="auto">
            <a:xfrm>
              <a:off x="3984" y="1872"/>
              <a:ext cx="288" cy="297"/>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rou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38" name="Oval 9"/>
            <p:cNvSpPr>
              <a:spLocks noChangeArrowheads="1"/>
            </p:cNvSpPr>
            <p:nvPr/>
          </p:nvSpPr>
          <p:spPr bwMode="auto">
            <a:xfrm>
              <a:off x="4608" y="2745"/>
              <a:ext cx="288" cy="279"/>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rou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39" name="Oval 10"/>
            <p:cNvSpPr>
              <a:spLocks noChangeArrowheads="1"/>
            </p:cNvSpPr>
            <p:nvPr/>
          </p:nvSpPr>
          <p:spPr bwMode="auto">
            <a:xfrm>
              <a:off x="4320" y="2313"/>
              <a:ext cx="288" cy="279"/>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rou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40" name="Text Box 11"/>
            <p:cNvSpPr txBox="1">
              <a:spLocks noChangeArrowheads="1"/>
            </p:cNvSpPr>
            <p:nvPr/>
          </p:nvSpPr>
          <p:spPr bwMode="auto">
            <a:xfrm>
              <a:off x="3744" y="1977"/>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41" name="Text Box 12"/>
            <p:cNvSpPr txBox="1">
              <a:spLocks noChangeArrowheads="1"/>
            </p:cNvSpPr>
            <p:nvPr/>
          </p:nvSpPr>
          <p:spPr bwMode="auto">
            <a:xfrm>
              <a:off x="4092" y="2409"/>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42" name="Text Box 13"/>
            <p:cNvSpPr txBox="1">
              <a:spLocks noChangeArrowheads="1"/>
            </p:cNvSpPr>
            <p:nvPr/>
          </p:nvSpPr>
          <p:spPr bwMode="auto">
            <a:xfrm>
              <a:off x="4380" y="278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dirty="0">
                  <a:latin typeface="Times New Roman" panose="02020603050405020304" pitchFamily="18" charset="0"/>
                  <a:ea typeface="宋体" panose="02010600030101010101" pitchFamily="2" charset="-122"/>
                </a:rPr>
                <a:t>0</a:t>
              </a:r>
              <a:endParaRPr kumimoji="1" lang="en-US" altLang="zh-CN" sz="2400" dirty="0">
                <a:latin typeface="Times New Roman" panose="02020603050405020304" pitchFamily="18" charset="0"/>
                <a:ea typeface="宋体" panose="02010600030101010101" pitchFamily="2" charset="-122"/>
              </a:endParaRPr>
            </a:p>
          </p:txBody>
        </p:sp>
        <p:sp>
          <p:nvSpPr>
            <p:cNvPr id="43" name="Text Box 14"/>
            <p:cNvSpPr txBox="1">
              <a:spLocks noChangeArrowheads="1"/>
            </p:cNvSpPr>
            <p:nvPr/>
          </p:nvSpPr>
          <p:spPr bwMode="auto">
            <a:xfrm>
              <a:off x="4320" y="196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44" name="Text Box 15"/>
            <p:cNvSpPr txBox="1">
              <a:spLocks noChangeArrowheads="1"/>
            </p:cNvSpPr>
            <p:nvPr/>
          </p:nvSpPr>
          <p:spPr bwMode="auto">
            <a:xfrm>
              <a:off x="4620" y="240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45" name="Text Box 16"/>
            <p:cNvSpPr txBox="1">
              <a:spLocks noChangeArrowheads="1"/>
            </p:cNvSpPr>
            <p:nvPr/>
          </p:nvSpPr>
          <p:spPr bwMode="auto">
            <a:xfrm>
              <a:off x="4848" y="278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46" name="Rectangle 18"/>
            <p:cNvSpPr>
              <a:spLocks noChangeArrowheads="1"/>
            </p:cNvSpPr>
            <p:nvPr/>
          </p:nvSpPr>
          <p:spPr bwMode="auto">
            <a:xfrm>
              <a:off x="3696" y="2313"/>
              <a:ext cx="288" cy="288"/>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47" name="Rectangle 19"/>
            <p:cNvSpPr>
              <a:spLocks noChangeArrowheads="1"/>
            </p:cNvSpPr>
            <p:nvPr/>
          </p:nvSpPr>
          <p:spPr bwMode="auto">
            <a:xfrm>
              <a:off x="3984" y="2745"/>
              <a:ext cx="288" cy="288"/>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48" name="Rectangle 20"/>
            <p:cNvSpPr>
              <a:spLocks noChangeArrowheads="1"/>
            </p:cNvSpPr>
            <p:nvPr/>
          </p:nvSpPr>
          <p:spPr bwMode="auto">
            <a:xfrm>
              <a:off x="4272" y="3177"/>
              <a:ext cx="288" cy="288"/>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49" name="Rectangle 21"/>
            <p:cNvSpPr>
              <a:spLocks noChangeArrowheads="1"/>
            </p:cNvSpPr>
            <p:nvPr/>
          </p:nvSpPr>
          <p:spPr bwMode="auto">
            <a:xfrm>
              <a:off x="4896" y="3177"/>
              <a:ext cx="288" cy="288"/>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50" name="Text Box 22"/>
            <p:cNvSpPr txBox="1">
              <a:spLocks noChangeArrowheads="1"/>
            </p:cNvSpPr>
            <p:nvPr/>
          </p:nvSpPr>
          <p:spPr bwMode="auto">
            <a:xfrm>
              <a:off x="4320" y="313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800">
                <a:latin typeface="Times New Roman" panose="02020603050405020304" pitchFamily="18" charset="0"/>
                <a:ea typeface="宋体" panose="02010600030101010101" pitchFamily="2" charset="-122"/>
              </a:endParaRPr>
            </a:p>
          </p:txBody>
        </p:sp>
        <p:sp>
          <p:nvSpPr>
            <p:cNvPr id="51" name="Text Box 23"/>
            <p:cNvSpPr txBox="1">
              <a:spLocks noChangeArrowheads="1"/>
            </p:cNvSpPr>
            <p:nvPr/>
          </p:nvSpPr>
          <p:spPr bwMode="auto">
            <a:xfrm>
              <a:off x="4908" y="313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800">
                <a:latin typeface="Times New Roman" panose="02020603050405020304" pitchFamily="18" charset="0"/>
                <a:ea typeface="宋体" panose="02010600030101010101" pitchFamily="2" charset="-122"/>
              </a:endParaRPr>
            </a:p>
          </p:txBody>
        </p:sp>
        <p:sp>
          <p:nvSpPr>
            <p:cNvPr id="52" name="Text Box 24"/>
            <p:cNvSpPr txBox="1">
              <a:spLocks noChangeArrowheads="1"/>
            </p:cNvSpPr>
            <p:nvPr/>
          </p:nvSpPr>
          <p:spPr bwMode="auto">
            <a:xfrm>
              <a:off x="4044" y="270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800">
                <a:latin typeface="Times New Roman" panose="02020603050405020304" pitchFamily="18" charset="0"/>
                <a:ea typeface="宋体" panose="02010600030101010101" pitchFamily="2" charset="-122"/>
              </a:endParaRPr>
            </a:p>
          </p:txBody>
        </p:sp>
        <p:sp>
          <p:nvSpPr>
            <p:cNvPr id="53" name="Text Box 25"/>
            <p:cNvSpPr txBox="1">
              <a:spLocks noChangeArrowheads="1"/>
            </p:cNvSpPr>
            <p:nvPr/>
          </p:nvSpPr>
          <p:spPr bwMode="auto">
            <a:xfrm>
              <a:off x="3744" y="227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3130">
                <a:defRPr>
                  <a:solidFill>
                    <a:schemeClr val="tx1"/>
                  </a:solidFill>
                  <a:latin typeface="等线" panose="02010600030101010101" pitchFamily="2" charset="-122"/>
                  <a:ea typeface="等线" panose="02010600030101010101" pitchFamily="2" charset="-122"/>
                </a:defRPr>
              </a:lvl1pPr>
              <a:lvl2pPr marL="742950" indent="-285750" defTabSz="913130">
                <a:defRPr>
                  <a:solidFill>
                    <a:schemeClr val="tx1"/>
                  </a:solidFill>
                  <a:latin typeface="等线" panose="02010600030101010101" pitchFamily="2" charset="-122"/>
                  <a:ea typeface="等线" panose="02010600030101010101" pitchFamily="2" charset="-122"/>
                </a:defRPr>
              </a:lvl2pPr>
              <a:lvl3pPr marL="1143000" indent="-228600" defTabSz="913130">
                <a:defRPr>
                  <a:solidFill>
                    <a:schemeClr val="tx1"/>
                  </a:solidFill>
                  <a:latin typeface="等线" panose="02010600030101010101" pitchFamily="2" charset="-122"/>
                  <a:ea typeface="等线" panose="02010600030101010101" pitchFamily="2" charset="-122"/>
                </a:defRPr>
              </a:lvl3pPr>
              <a:lvl4pPr marL="1600200" indent="-228600" defTabSz="913130">
                <a:defRPr>
                  <a:solidFill>
                    <a:schemeClr val="tx1"/>
                  </a:solidFill>
                  <a:latin typeface="等线" panose="02010600030101010101" pitchFamily="2" charset="-122"/>
                  <a:ea typeface="等线" panose="02010600030101010101" pitchFamily="2" charset="-122"/>
                </a:defRPr>
              </a:lvl4pPr>
              <a:lvl5pPr marL="2057400" indent="-228600" defTabSz="913130">
                <a:defRPr>
                  <a:solidFill>
                    <a:schemeClr val="tx1"/>
                  </a:solidFill>
                  <a:latin typeface="等线" panose="02010600030101010101" pitchFamily="2" charset="-122"/>
                  <a:ea typeface="等线" panose="02010600030101010101" pitchFamily="2" charset="-122"/>
                </a:defRPr>
              </a:lvl5pPr>
              <a:lvl6pPr marL="25146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313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800">
                <a:latin typeface="Times New Roman" panose="02020603050405020304" pitchFamily="18" charset="0"/>
                <a:ea typeface="宋体" panose="02010600030101010101" pitchFamily="2" charset="-122"/>
              </a:endParaRPr>
            </a:p>
          </p:txBody>
        </p:sp>
      </p:gr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r>
              <a:rPr lang="zh-CN" altLang="en-US"/>
              <a:t>小结</a:t>
            </a:r>
            <a:endParaRPr lang="zh-CN" altLang="en-US"/>
          </a:p>
        </p:txBody>
      </p:sp>
      <p:sp>
        <p:nvSpPr>
          <p:cNvPr id="160771" name="Rectangle 3"/>
          <p:cNvSpPr>
            <a:spLocks noGrp="1" noChangeArrowheads="1"/>
          </p:cNvSpPr>
          <p:nvPr>
            <p:ph idx="1"/>
          </p:nvPr>
        </p:nvSpPr>
        <p:spPr/>
        <p:txBody>
          <a:bodyPr>
            <a:normAutofit fontScale="70000" lnSpcReduction="20000"/>
          </a:bodyPr>
          <a:lstStyle/>
          <a:p>
            <a:r>
              <a:rPr lang="zh-CN" altLang="en-US" dirty="0"/>
              <a:t>树、二叉树、二叉树的基本性质</a:t>
            </a:r>
            <a:endParaRPr lang="zh-CN" altLang="en-US" dirty="0"/>
          </a:p>
          <a:p>
            <a:r>
              <a:rPr lang="zh-CN" altLang="en-US" dirty="0"/>
              <a:t>二叉树上的操作</a:t>
            </a:r>
            <a:endParaRPr lang="zh-CN" altLang="en-US" dirty="0"/>
          </a:p>
          <a:p>
            <a:pPr lvl="1"/>
            <a:r>
              <a:rPr lang="zh-CN" altLang="en-US" dirty="0"/>
              <a:t>存储、遍历（前、中、后序）</a:t>
            </a:r>
            <a:endParaRPr lang="zh-CN" altLang="en-US" dirty="0"/>
          </a:p>
          <a:p>
            <a:r>
              <a:rPr lang="zh-CN" altLang="en-US" dirty="0"/>
              <a:t>线索二叉树</a:t>
            </a:r>
            <a:endParaRPr lang="zh-CN" altLang="en-US" dirty="0"/>
          </a:p>
          <a:p>
            <a:pPr lvl="1"/>
            <a:r>
              <a:rPr lang="zh-CN" altLang="en-US" dirty="0"/>
              <a:t>建立线索、遍历、插入删除结点</a:t>
            </a:r>
            <a:endParaRPr lang="zh-CN" altLang="en-US" dirty="0"/>
          </a:p>
          <a:p>
            <a:r>
              <a:rPr lang="zh-CN" altLang="en-US" dirty="0"/>
              <a:t>树和森林的基本操作</a:t>
            </a:r>
            <a:endParaRPr lang="zh-CN" altLang="en-US" dirty="0"/>
          </a:p>
          <a:p>
            <a:pPr lvl="1"/>
            <a:r>
              <a:rPr lang="zh-CN" altLang="en-US" dirty="0"/>
              <a:t>存储、与二叉树的转换、遍历</a:t>
            </a:r>
            <a:endParaRPr lang="zh-CN" altLang="en-US" dirty="0"/>
          </a:p>
          <a:p>
            <a:r>
              <a:rPr lang="zh-CN" altLang="en-US" dirty="0"/>
              <a:t>堆</a:t>
            </a:r>
            <a:endParaRPr lang="zh-CN" altLang="en-US" dirty="0"/>
          </a:p>
          <a:p>
            <a:pPr lvl="1"/>
            <a:r>
              <a:rPr lang="zh-CN" altLang="en-US" dirty="0"/>
              <a:t>建立、删除</a:t>
            </a:r>
            <a:endParaRPr lang="zh-CN" altLang="en-US" dirty="0"/>
          </a:p>
          <a:p>
            <a:r>
              <a:rPr lang="en-US" altLang="zh-CN" dirty="0"/>
              <a:t>Huffman</a:t>
            </a:r>
            <a:r>
              <a:rPr lang="zh-CN" altLang="en-US" dirty="0"/>
              <a:t>树</a:t>
            </a:r>
            <a:endParaRPr lang="zh-CN" altLang="en-US" dirty="0"/>
          </a:p>
          <a:p>
            <a:pPr lvl="1"/>
            <a:r>
              <a:rPr lang="zh-CN" altLang="en-US" dirty="0"/>
              <a:t>建立、应用</a:t>
            </a: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r>
              <a:rPr lang="zh-CN" altLang="en-US" dirty="0"/>
              <a:t>常见题型</a:t>
            </a:r>
            <a:endParaRPr lang="zh-CN" altLang="en-US" dirty="0"/>
          </a:p>
        </p:txBody>
      </p:sp>
      <p:sp>
        <p:nvSpPr>
          <p:cNvPr id="161795" name="Rectangle 3"/>
          <p:cNvSpPr>
            <a:spLocks noGrp="1" noChangeArrowheads="1"/>
          </p:cNvSpPr>
          <p:nvPr>
            <p:ph idx="1"/>
          </p:nvPr>
        </p:nvSpPr>
        <p:spPr>
          <a:xfrm>
            <a:off x="628650" y="1825624"/>
            <a:ext cx="7886700" cy="4816475"/>
          </a:xfrm>
        </p:spPr>
        <p:txBody>
          <a:bodyPr>
            <a:normAutofit fontScale="55000" lnSpcReduction="20000"/>
          </a:bodyPr>
          <a:lstStyle/>
          <a:p>
            <a:r>
              <a:rPr lang="zh-CN" altLang="en-US" dirty="0"/>
              <a:t>树是数据结构中重点考察的内容之一</a:t>
            </a:r>
            <a:endParaRPr lang="zh-CN" altLang="en-US" dirty="0"/>
          </a:p>
          <a:p>
            <a:r>
              <a:rPr lang="zh-CN" altLang="en-US" dirty="0"/>
              <a:t>结点的数量和度、树的高度的关系；例如：</a:t>
            </a:r>
            <a:endParaRPr lang="en-US" altLang="zh-CN" dirty="0"/>
          </a:p>
          <a:p>
            <a:pPr lvl="1"/>
            <a:r>
              <a:rPr lang="zh-CN" altLang="en-US" dirty="0"/>
              <a:t>高度</a:t>
            </a:r>
            <a:r>
              <a:rPr lang="en-US" altLang="zh-CN" dirty="0"/>
              <a:t>h(h&gt;0)</a:t>
            </a:r>
            <a:r>
              <a:rPr lang="zh-CN" altLang="en-US" dirty="0"/>
              <a:t>的二叉树如果只有度为</a:t>
            </a:r>
            <a:r>
              <a:rPr lang="en-US" altLang="zh-CN" dirty="0"/>
              <a:t>0</a:t>
            </a:r>
            <a:r>
              <a:rPr lang="zh-CN" altLang="en-US" dirty="0"/>
              <a:t>和</a:t>
            </a:r>
            <a:r>
              <a:rPr lang="en-US" altLang="zh-CN" dirty="0"/>
              <a:t>2</a:t>
            </a:r>
            <a:r>
              <a:rPr lang="zh-CN" altLang="en-US" dirty="0"/>
              <a:t>的结点，则结点数至少为</a:t>
            </a:r>
            <a:r>
              <a:rPr lang="en-US" altLang="zh-CN" dirty="0"/>
              <a:t>2h-1</a:t>
            </a:r>
            <a:r>
              <a:rPr lang="zh-CN" altLang="en-US" dirty="0"/>
              <a:t> ；高度</a:t>
            </a:r>
            <a:r>
              <a:rPr lang="en-US" altLang="zh-CN" dirty="0"/>
              <a:t>h</a:t>
            </a:r>
            <a:r>
              <a:rPr lang="zh-CN" altLang="en-US" dirty="0"/>
              <a:t>的完全二叉树，结点数至少为</a:t>
            </a:r>
            <a:r>
              <a:rPr lang="en-US" altLang="zh-CN" dirty="0"/>
              <a:t>2</a:t>
            </a:r>
            <a:r>
              <a:rPr lang="en-US" altLang="zh-CN" baseline="30000" dirty="0"/>
              <a:t>h-1</a:t>
            </a:r>
            <a:r>
              <a:rPr lang="zh-CN" altLang="en-US" dirty="0"/>
              <a:t>。已知二叉树有</a:t>
            </a:r>
            <a:r>
              <a:rPr lang="en-US" altLang="zh-CN" dirty="0"/>
              <a:t>50</a:t>
            </a:r>
            <a:r>
              <a:rPr lang="zh-CN" altLang="en-US" dirty="0"/>
              <a:t>个叶子，则它至少有</a:t>
            </a:r>
            <a:r>
              <a:rPr lang="en-US" altLang="zh-CN" dirty="0"/>
              <a:t>99</a:t>
            </a:r>
            <a:r>
              <a:rPr lang="zh-CN" altLang="en-US" dirty="0"/>
              <a:t>个结点。</a:t>
            </a:r>
            <a:endParaRPr lang="en-US" altLang="zh-CN" dirty="0"/>
          </a:p>
          <a:p>
            <a:r>
              <a:rPr lang="zh-CN" altLang="en-US" dirty="0"/>
              <a:t>二叉树</a:t>
            </a:r>
            <a:endParaRPr lang="zh-CN" altLang="en-US" dirty="0"/>
          </a:p>
          <a:p>
            <a:pPr lvl="1"/>
            <a:r>
              <a:rPr lang="zh-CN" altLang="en-US" dirty="0"/>
              <a:t>顺序存储表示与链表存储表示之间的转换；计算结点的存储地址；查找两个指定结点</a:t>
            </a:r>
            <a:r>
              <a:rPr lang="en-US" altLang="zh-CN" dirty="0"/>
              <a:t>u</a:t>
            </a:r>
            <a:r>
              <a:rPr lang="zh-CN" altLang="en-US" dirty="0"/>
              <a:t>和</a:t>
            </a:r>
            <a:r>
              <a:rPr lang="en-US" altLang="zh-CN" dirty="0"/>
              <a:t>v</a:t>
            </a:r>
            <a:r>
              <a:rPr lang="zh-CN" altLang="en-US" dirty="0"/>
              <a:t>的共同祖先；左右子树交换；二叉树的计数；</a:t>
            </a:r>
            <a:r>
              <a:rPr lang="en-US" altLang="zh-CN" dirty="0"/>
              <a:t>…</a:t>
            </a:r>
            <a:endParaRPr lang="en-US" altLang="zh-CN" dirty="0"/>
          </a:p>
          <a:p>
            <a:pPr lvl="1"/>
            <a:r>
              <a:rPr lang="zh-CN" altLang="en-US" dirty="0"/>
              <a:t>遍历：根据某两种遍历序列构造二叉树；遍历也可以反方向进行，例如要求从右到左输出二叉树的叶子结点（从右到左层次遍历）；二叉树遍历与表达式的前中后缀表示的关系。</a:t>
            </a:r>
            <a:endParaRPr lang="zh-CN" altLang="en-US" dirty="0"/>
          </a:p>
          <a:p>
            <a:r>
              <a:rPr lang="zh-CN" altLang="en-US" dirty="0"/>
              <a:t>树和森林与二叉树的相互转换</a:t>
            </a:r>
            <a:endParaRPr lang="en-US" altLang="zh-CN" dirty="0"/>
          </a:p>
          <a:p>
            <a:r>
              <a:rPr lang="zh-CN" altLang="en-US" dirty="0"/>
              <a:t>堆的构造和应用</a:t>
            </a:r>
            <a:endParaRPr lang="zh-CN" altLang="en-US" dirty="0"/>
          </a:p>
          <a:p>
            <a:r>
              <a:rPr lang="en-US" altLang="zh-CN" dirty="0"/>
              <a:t>Huffman</a:t>
            </a:r>
            <a:r>
              <a:rPr lang="zh-CN" altLang="en-US" dirty="0"/>
              <a:t>树</a:t>
            </a:r>
            <a:endParaRPr lang="zh-CN" altLang="en-US" dirty="0"/>
          </a:p>
          <a:p>
            <a:pPr lvl="1"/>
            <a:r>
              <a:rPr lang="zh-CN" altLang="en-US" dirty="0"/>
              <a:t>编码、译码、 </a:t>
            </a:r>
            <a:r>
              <a:rPr lang="en-US" altLang="zh-CN" dirty="0"/>
              <a:t>Huffman</a:t>
            </a:r>
            <a:r>
              <a:rPr lang="zh-CN" altLang="en-US" dirty="0"/>
              <a:t>树的性质（结点数量、叶结点数量）</a:t>
            </a:r>
            <a:endParaRPr lang="zh-CN" altLang="en-US" dirty="0"/>
          </a:p>
        </p:txBody>
      </p:sp>
      <p:sp>
        <p:nvSpPr>
          <p:cNvPr id="2" name="灯片编号占位符 1"/>
          <p:cNvSpPr>
            <a:spLocks noGrp="1"/>
          </p:cNvSpPr>
          <p:nvPr>
            <p:ph type="sldNum" sz="quarter" idx="12"/>
          </p:nvPr>
        </p:nvSpPr>
        <p:spPr/>
        <p:txBody>
          <a:bodyPr/>
          <a:lstStyle/>
          <a:p>
            <a:pPr>
              <a:defRPr/>
            </a:pPr>
            <a:fld id="{A598D83B-EE2A-4F12-B129-1EDE84DF129B}" type="slidenum">
              <a:rPr lang="en-US" altLang="zh-CN" smtClean="0"/>
            </a:fld>
            <a:endParaRPr lang="en-US" altLang="zh-CN"/>
          </a:p>
        </p:txBody>
      </p:sp>
    </p:spTree>
  </p:cSld>
  <p:clrMapOvr>
    <a:masterClrMapping/>
  </p:clrMapOvr>
  <p:transition>
    <p:split/>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p:cNvSpPr>
            <a:spLocks noGrp="1"/>
          </p:cNvSpPr>
          <p:nvPr>
            <p:ph type="title"/>
          </p:nvPr>
        </p:nvSpPr>
        <p:spPr/>
        <p:txBody>
          <a:bodyPr/>
          <a:lstStyle/>
          <a:p>
            <a:r>
              <a:rPr lang="zh-CN" altLang="en-US" dirty="0"/>
              <a:t>第</a:t>
            </a:r>
            <a:r>
              <a:rPr lang="en-US" altLang="zh-CN" dirty="0"/>
              <a:t>5</a:t>
            </a:r>
            <a:r>
              <a:rPr lang="zh-CN" altLang="en-US" dirty="0"/>
              <a:t>章作业</a:t>
            </a:r>
            <a:r>
              <a:rPr lang="en-US" altLang="zh-CN" dirty="0"/>
              <a:t>2</a:t>
            </a:r>
            <a:r>
              <a:rPr lang="zh-CN" altLang="en-US" dirty="0"/>
              <a:t>（</a:t>
            </a:r>
            <a:r>
              <a:rPr lang="en-US" altLang="zh-CN" dirty="0"/>
              <a:t>1</a:t>
            </a:r>
            <a:r>
              <a:rPr lang="zh-CN" altLang="en-US" dirty="0"/>
              <a:t>）</a:t>
            </a:r>
            <a:endParaRPr lang="zh-CN" altLang="en-US" dirty="0"/>
          </a:p>
        </p:txBody>
      </p:sp>
      <p:sp>
        <p:nvSpPr>
          <p:cNvPr id="132099" name="内容占位符 2"/>
          <p:cNvSpPr>
            <a:spLocks noGrp="1"/>
          </p:cNvSpPr>
          <p:nvPr>
            <p:ph idx="1"/>
          </p:nvPr>
        </p:nvSpPr>
        <p:spPr/>
        <p:txBody>
          <a:bodyPr>
            <a:normAutofit fontScale="77500" lnSpcReduction="20000"/>
          </a:bodyPr>
          <a:lstStyle/>
          <a:p>
            <a:r>
              <a:rPr lang="en-US" altLang="zh-CN" dirty="0"/>
              <a:t>1. </a:t>
            </a:r>
            <a:r>
              <a:rPr lang="zh-CN" altLang="en-US" dirty="0"/>
              <a:t>假定用于通信的电文仅由</a:t>
            </a:r>
            <a:r>
              <a:rPr lang="en-US" altLang="zh-CN" dirty="0"/>
              <a:t>8</a:t>
            </a:r>
            <a:r>
              <a:rPr lang="zh-CN" altLang="en-US" dirty="0"/>
              <a:t>种字母</a:t>
            </a:r>
            <a:r>
              <a:rPr lang="en-US" altLang="zh-CN" dirty="0"/>
              <a:t>c1, c2, c3, c4, c5, c6, c7, c8</a:t>
            </a:r>
            <a:r>
              <a:rPr lang="zh-CN" altLang="en-US" dirty="0"/>
              <a:t>组成，各字母在电文中出现的频率分别为</a:t>
            </a:r>
            <a:r>
              <a:rPr lang="en-US" altLang="zh-CN" dirty="0"/>
              <a:t>5, 25, 3, 6, 10, 11, 36, 4</a:t>
            </a:r>
            <a:r>
              <a:rPr lang="zh-CN" altLang="en-US" dirty="0"/>
              <a:t>。试为这些字母设计</a:t>
            </a:r>
            <a:r>
              <a:rPr lang="en-US" altLang="zh-CN" dirty="0"/>
              <a:t>Huffman</a:t>
            </a:r>
            <a:r>
              <a:rPr lang="zh-CN" altLang="en-US" dirty="0"/>
              <a:t>编码，并给出该电文的总编码长度。</a:t>
            </a:r>
            <a:endParaRPr lang="zh-CN" altLang="en-US" dirty="0"/>
          </a:p>
          <a:p>
            <a:r>
              <a:rPr lang="en-US" altLang="zh-CN" dirty="0"/>
              <a:t>2. </a:t>
            </a:r>
            <a:r>
              <a:rPr lang="zh-CN" altLang="en-US" dirty="0"/>
              <a:t>判断以下序列是否是堆？如果不是，将它调整为堆。</a:t>
            </a:r>
            <a:endParaRPr lang="zh-CN" altLang="en-US" dirty="0"/>
          </a:p>
          <a:p>
            <a:pPr lvl="1"/>
            <a:r>
              <a:rPr lang="zh-CN" altLang="en-US" dirty="0"/>
              <a:t>（</a:t>
            </a:r>
            <a:r>
              <a:rPr lang="en-US" altLang="zh-CN" dirty="0"/>
              <a:t>1</a:t>
            </a:r>
            <a:r>
              <a:rPr lang="zh-CN" altLang="en-US" dirty="0"/>
              <a:t>）</a:t>
            </a:r>
            <a:r>
              <a:rPr lang="en-US" altLang="zh-CN" dirty="0"/>
              <a:t>{100,86,48,73,35,39,42,57,66,21}</a:t>
            </a:r>
            <a:endParaRPr lang="zh-CN" altLang="en-US" dirty="0"/>
          </a:p>
          <a:p>
            <a:pPr lvl="1"/>
            <a:r>
              <a:rPr lang="zh-CN" altLang="en-US" dirty="0"/>
              <a:t>（</a:t>
            </a:r>
            <a:r>
              <a:rPr lang="en-US" altLang="zh-CN" dirty="0"/>
              <a:t>2</a:t>
            </a:r>
            <a:r>
              <a:rPr lang="zh-CN" altLang="en-US" dirty="0"/>
              <a:t>）</a:t>
            </a:r>
            <a:r>
              <a:rPr lang="en-US" altLang="zh-CN" dirty="0"/>
              <a:t>{12,70,33,65,24,56,48,92,86,33}</a:t>
            </a:r>
            <a:endParaRPr lang="zh-CN" altLang="en-US" dirty="0"/>
          </a:p>
          <a:p>
            <a:pPr lvl="1"/>
            <a:r>
              <a:rPr lang="zh-CN" altLang="en-US" dirty="0"/>
              <a:t>（</a:t>
            </a:r>
            <a:r>
              <a:rPr lang="en-US" altLang="zh-CN" dirty="0"/>
              <a:t>3</a:t>
            </a:r>
            <a:r>
              <a:rPr lang="zh-CN" altLang="en-US" dirty="0"/>
              <a:t>）</a:t>
            </a:r>
            <a:r>
              <a:rPr lang="en-US" altLang="zh-CN" dirty="0"/>
              <a:t>{103,97,56,38,66,23,42,12,30,52,06,20}</a:t>
            </a:r>
            <a:endParaRPr lang="zh-CN" altLang="en-US" dirty="0"/>
          </a:p>
          <a:p>
            <a:pPr lvl="1"/>
            <a:r>
              <a:rPr lang="zh-CN" altLang="en-US" dirty="0"/>
              <a:t>（</a:t>
            </a:r>
            <a:r>
              <a:rPr lang="en-US" altLang="zh-CN" dirty="0"/>
              <a:t>4</a:t>
            </a:r>
            <a:r>
              <a:rPr lang="zh-CN" altLang="en-US" dirty="0"/>
              <a:t>）</a:t>
            </a:r>
            <a:r>
              <a:rPr lang="en-US" altLang="zh-CN" dirty="0"/>
              <a:t>{05,56,20,23,40,38,29,61,35,76,28,100}</a:t>
            </a:r>
            <a:endParaRPr lang="en-US" altLang="zh-CN" dirty="0"/>
          </a:p>
        </p:txBody>
      </p:sp>
      <p:sp>
        <p:nvSpPr>
          <p:cNvPr id="3" name="灯片编号占位符 2"/>
          <p:cNvSpPr>
            <a:spLocks noGrp="1"/>
          </p:cNvSpPr>
          <p:nvPr>
            <p:ph type="sldNum" sz="quarter" idx="12"/>
          </p:nvPr>
        </p:nvSpPr>
        <p:spPr/>
        <p:txBody>
          <a:bodyPr/>
          <a:lstStyle/>
          <a:p>
            <a:fld id="{04B9363C-368A-45A4-8D49-31EC94012550}" type="slidenum">
              <a:rPr lang="en-US" altLang="zh-CN" smtClean="0"/>
            </a:fld>
            <a:endParaRPr lang="en-US" altLang="zh-CN"/>
          </a:p>
        </p:txBody>
      </p:sp>
    </p:spTree>
  </p:cSld>
  <p:clrMapOvr>
    <a:masterClrMapping/>
  </p:clrMapOvr>
  <p:transition>
    <p:split/>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rtlCol="0">
            <a:normAutofit/>
          </a:bodyPr>
          <a:lstStyle/>
          <a:p>
            <a:pPr eaLnBrk="1" fontAlgn="auto" hangingPunct="1">
              <a:spcAft>
                <a:spcPts val="0"/>
              </a:spcAft>
              <a:defRPr/>
            </a:pPr>
            <a:r>
              <a:rPr lang="zh-CN" altLang="en-US" dirty="0"/>
              <a:t>第</a:t>
            </a:r>
            <a:r>
              <a:rPr lang="en-US" altLang="zh-CN" dirty="0"/>
              <a:t>5</a:t>
            </a:r>
            <a:r>
              <a:rPr lang="zh-CN" altLang="en-US" dirty="0"/>
              <a:t>章作业</a:t>
            </a:r>
            <a:r>
              <a:rPr lang="en-US" altLang="zh-CN" dirty="0"/>
              <a:t>2</a:t>
            </a:r>
            <a:r>
              <a:rPr lang="zh-CN" altLang="en-US" dirty="0"/>
              <a:t>（</a:t>
            </a:r>
            <a:r>
              <a:rPr lang="en-US" altLang="zh-CN" dirty="0"/>
              <a:t>2</a:t>
            </a:r>
            <a:r>
              <a:rPr lang="zh-CN" altLang="en-US" dirty="0"/>
              <a:t>）</a:t>
            </a:r>
            <a:endParaRPr lang="zh-CN" altLang="en-US" dirty="0"/>
          </a:p>
        </p:txBody>
      </p:sp>
      <p:sp>
        <p:nvSpPr>
          <p:cNvPr id="97283" name="Rectangle 3"/>
          <p:cNvSpPr>
            <a:spLocks noGrp="1" noChangeArrowheads="1"/>
          </p:cNvSpPr>
          <p:nvPr>
            <p:ph idx="1"/>
          </p:nvPr>
        </p:nvSpPr>
        <p:spPr>
          <a:xfrm>
            <a:off x="392113" y="1844824"/>
            <a:ext cx="8520112" cy="4511526"/>
          </a:xfrm>
        </p:spPr>
        <p:txBody>
          <a:bodyPr rtlCol="0">
            <a:normAutofit fontScale="62500" lnSpcReduction="20000"/>
          </a:bodyPr>
          <a:lstStyle/>
          <a:p>
            <a:pPr marL="342900" lvl="1" indent="-342900" defTabSz="913130" eaLnBrk="1" fontAlgn="auto" hangingPunct="1">
              <a:spcAft>
                <a:spcPts val="0"/>
              </a:spcAft>
              <a:buFontTx/>
              <a:buChar char="•"/>
              <a:defRPr/>
            </a:pPr>
            <a:r>
              <a:rPr lang="en-US" altLang="zh-CN" dirty="0"/>
              <a:t>3. </a:t>
            </a:r>
            <a:r>
              <a:rPr lang="zh-CN" altLang="en-US" dirty="0"/>
              <a:t>以下题目要求用</a:t>
            </a:r>
            <a:r>
              <a:rPr lang="en-US" altLang="zh-CN" dirty="0"/>
              <a:t>c</a:t>
            </a:r>
            <a:r>
              <a:rPr lang="zh-CN" altLang="en-US" dirty="0"/>
              <a:t>或者</a:t>
            </a:r>
            <a:r>
              <a:rPr lang="en-US" altLang="zh-CN" dirty="0"/>
              <a:t>C++</a:t>
            </a:r>
            <a:r>
              <a:rPr lang="zh-CN" altLang="en-US" dirty="0"/>
              <a:t>写出可执行的程序，源代码中应包括</a:t>
            </a:r>
            <a:r>
              <a:rPr lang="en-US" altLang="zh-CN" dirty="0"/>
              <a:t>main</a:t>
            </a:r>
            <a:r>
              <a:rPr lang="zh-CN" altLang="en-US" dirty="0"/>
              <a:t>函数，提交源代码和生成的</a:t>
            </a:r>
            <a:r>
              <a:rPr lang="en-US" altLang="zh-CN" dirty="0"/>
              <a:t>exe</a:t>
            </a:r>
            <a:r>
              <a:rPr lang="zh-CN" altLang="en-US" dirty="0"/>
              <a:t>文件。</a:t>
            </a:r>
            <a:endParaRPr lang="en-US" altLang="zh-CN" dirty="0"/>
          </a:p>
          <a:p>
            <a:pPr marL="685800" lvl="2" indent="-342900" defTabSz="913130" eaLnBrk="1" fontAlgn="auto" hangingPunct="1">
              <a:spcAft>
                <a:spcPts val="0"/>
              </a:spcAft>
              <a:buFontTx/>
              <a:buChar char="•"/>
              <a:defRPr/>
            </a:pPr>
            <a:r>
              <a:rPr lang="en-US" altLang="zh-CN" dirty="0"/>
              <a:t>1. 1 </a:t>
            </a:r>
            <a:r>
              <a:rPr lang="zh-CN" altLang="en-US" dirty="0"/>
              <a:t>给出用二叉树表示的树的先根遍历非递归算法。遍历中对每个结点的访问就是把结点</a:t>
            </a:r>
            <a:r>
              <a:rPr lang="en-US" altLang="zh-CN" dirty="0"/>
              <a:t>data</a:t>
            </a:r>
            <a:r>
              <a:rPr lang="zh-CN" altLang="en-US" dirty="0"/>
              <a:t>属性中的字符用</a:t>
            </a:r>
            <a:r>
              <a:rPr lang="en-US" altLang="zh-CN" dirty="0" err="1"/>
              <a:t>putchar</a:t>
            </a:r>
            <a:r>
              <a:rPr lang="en-US" altLang="zh-CN" dirty="0"/>
              <a:t>(char c)</a:t>
            </a:r>
            <a:r>
              <a:rPr lang="zh-CN" altLang="en-US" dirty="0"/>
              <a:t>输出。函数声明为：</a:t>
            </a:r>
            <a:r>
              <a:rPr lang="en-US" altLang="zh-CN" dirty="0"/>
              <a:t>void </a:t>
            </a:r>
            <a:r>
              <a:rPr lang="en-US" altLang="zh-CN" dirty="0" err="1"/>
              <a:t>PreOrder</a:t>
            </a:r>
            <a:r>
              <a:rPr lang="en-US" altLang="zh-CN" dirty="0"/>
              <a:t>(</a:t>
            </a:r>
            <a:r>
              <a:rPr lang="en-US" altLang="zh-CN" dirty="0" err="1"/>
              <a:t>BiTNode</a:t>
            </a:r>
            <a:r>
              <a:rPr lang="en-US" altLang="zh-CN" dirty="0"/>
              <a:t> *root)</a:t>
            </a:r>
            <a:r>
              <a:rPr lang="zh-CN" altLang="en-US" dirty="0"/>
              <a:t>。结构</a:t>
            </a:r>
            <a:r>
              <a:rPr lang="en-US" altLang="zh-CN" dirty="0" err="1"/>
              <a:t>BiTNode</a:t>
            </a:r>
            <a:r>
              <a:rPr lang="zh-CN" altLang="en-US" dirty="0"/>
              <a:t>的定义如下：</a:t>
            </a:r>
            <a:endParaRPr lang="en-US" altLang="zh-CN" dirty="0"/>
          </a:p>
          <a:p>
            <a:pPr marL="342900" lvl="2" indent="0" defTabSz="913130" eaLnBrk="1" fontAlgn="auto" hangingPunct="1">
              <a:spcAft>
                <a:spcPts val="0"/>
              </a:spcAft>
              <a:buNone/>
              <a:defRPr/>
            </a:pPr>
            <a:r>
              <a:rPr lang="en-US" altLang="zh-CN" dirty="0"/>
              <a:t>       typedef struct </a:t>
            </a:r>
            <a:r>
              <a:rPr lang="en-US" altLang="zh-CN" dirty="0" err="1"/>
              <a:t>BiTNode</a:t>
            </a:r>
            <a:r>
              <a:rPr lang="en-US" altLang="zh-CN" dirty="0"/>
              <a:t> {</a:t>
            </a:r>
            <a:endParaRPr lang="en-US" altLang="zh-CN" dirty="0"/>
          </a:p>
          <a:p>
            <a:pPr marL="342900" lvl="2" indent="0" defTabSz="913130" eaLnBrk="1" fontAlgn="auto" hangingPunct="1">
              <a:spcAft>
                <a:spcPts val="0"/>
              </a:spcAft>
              <a:buNone/>
              <a:defRPr/>
            </a:pPr>
            <a:r>
              <a:rPr lang="en-US" altLang="zh-CN" dirty="0"/>
              <a:t>             char data;</a:t>
            </a:r>
            <a:endParaRPr lang="en-US" altLang="zh-CN" dirty="0"/>
          </a:p>
          <a:p>
            <a:pPr marL="342900" lvl="2" indent="0" defTabSz="913130" eaLnBrk="1" fontAlgn="auto" hangingPunct="1">
              <a:spcAft>
                <a:spcPts val="0"/>
              </a:spcAft>
              <a:buNone/>
              <a:defRPr/>
            </a:pPr>
            <a:r>
              <a:rPr lang="en-US" altLang="zh-CN" dirty="0"/>
              <a:t>             struct </a:t>
            </a:r>
            <a:r>
              <a:rPr lang="en-US" altLang="zh-CN" dirty="0" err="1"/>
              <a:t>BiTNode</a:t>
            </a:r>
            <a:r>
              <a:rPr lang="en-US" altLang="zh-CN" dirty="0"/>
              <a:t> </a:t>
            </a:r>
            <a:r>
              <a:rPr lang="zh-CN" altLang="en-US" dirty="0"/>
              <a:t>*</a:t>
            </a:r>
            <a:r>
              <a:rPr lang="en-US" altLang="zh-CN" dirty="0" err="1"/>
              <a:t>lchild</a:t>
            </a:r>
            <a:r>
              <a:rPr lang="en-US" altLang="zh-CN" dirty="0"/>
              <a:t>, *</a:t>
            </a:r>
            <a:r>
              <a:rPr lang="en-US" altLang="zh-CN" dirty="0" err="1"/>
              <a:t>rchild</a:t>
            </a:r>
            <a:r>
              <a:rPr lang="en-US" altLang="zh-CN" dirty="0"/>
              <a:t>;</a:t>
            </a:r>
            <a:endParaRPr lang="en-US" altLang="zh-CN" dirty="0"/>
          </a:p>
          <a:p>
            <a:pPr marL="342900" lvl="2" indent="0" defTabSz="913130" eaLnBrk="1" fontAlgn="auto" hangingPunct="1">
              <a:spcAft>
                <a:spcPts val="0"/>
              </a:spcAft>
              <a:buNone/>
              <a:defRPr/>
            </a:pPr>
            <a:r>
              <a:rPr lang="en-US" altLang="zh-CN" dirty="0"/>
              <a:t>       }</a:t>
            </a:r>
            <a:endParaRPr lang="en-US" altLang="zh-CN" dirty="0"/>
          </a:p>
          <a:p>
            <a:pPr marL="685800" lvl="2" indent="-342900" defTabSz="913130">
              <a:buFontTx/>
              <a:buChar char="•"/>
              <a:defRPr/>
            </a:pPr>
            <a:r>
              <a:rPr lang="en-US" altLang="zh-CN" dirty="0"/>
              <a:t>1.2 </a:t>
            </a:r>
            <a:r>
              <a:rPr lang="zh-CN" altLang="en-US" dirty="0"/>
              <a:t>给出在先序线索化二叉树上寻找任一结点</a:t>
            </a:r>
            <a:r>
              <a:rPr lang="en-US" altLang="zh-CN" dirty="0"/>
              <a:t>p</a:t>
            </a:r>
            <a:r>
              <a:rPr lang="zh-CN" altLang="en-US" dirty="0"/>
              <a:t>的后继的算法。函数声明为：</a:t>
            </a:r>
            <a:r>
              <a:rPr lang="en-US" altLang="zh-CN" dirty="0" err="1"/>
              <a:t>BiThrNode</a:t>
            </a:r>
            <a:r>
              <a:rPr lang="en-US" altLang="zh-CN" dirty="0"/>
              <a:t> * </a:t>
            </a:r>
            <a:r>
              <a:rPr lang="en-US" altLang="zh-CN" dirty="0" err="1"/>
              <a:t>PreOrderFindNext</a:t>
            </a:r>
            <a:r>
              <a:rPr lang="en-US" altLang="zh-CN" dirty="0"/>
              <a:t>(</a:t>
            </a:r>
            <a:r>
              <a:rPr lang="en-US" altLang="zh-CN" dirty="0" err="1"/>
              <a:t>BiThrNode</a:t>
            </a:r>
            <a:r>
              <a:rPr lang="en-US" altLang="zh-CN" dirty="0"/>
              <a:t> *node)</a:t>
            </a:r>
            <a:r>
              <a:rPr lang="zh-CN" altLang="en-US" dirty="0"/>
              <a:t>，其中</a:t>
            </a:r>
            <a:r>
              <a:rPr lang="en-US" altLang="zh-CN" dirty="0" err="1"/>
              <a:t>BiThrNode</a:t>
            </a:r>
            <a:r>
              <a:rPr lang="zh-CN" altLang="en-US" dirty="0"/>
              <a:t>的定义如下：</a:t>
            </a:r>
            <a:endParaRPr lang="en-US" altLang="zh-CN" dirty="0"/>
          </a:p>
          <a:p>
            <a:pPr marL="342900" lvl="2" indent="0" defTabSz="913130">
              <a:buNone/>
              <a:defRPr/>
            </a:pPr>
            <a:r>
              <a:rPr lang="en-US" altLang="zh-CN" dirty="0"/>
              <a:t>       typedef struct </a:t>
            </a:r>
            <a:r>
              <a:rPr lang="en-US" altLang="zh-CN" dirty="0" err="1"/>
              <a:t>BiTNode</a:t>
            </a:r>
            <a:r>
              <a:rPr lang="en-US" altLang="zh-CN" dirty="0"/>
              <a:t> {</a:t>
            </a:r>
            <a:endParaRPr lang="en-US" altLang="zh-CN" dirty="0"/>
          </a:p>
          <a:p>
            <a:pPr marL="342900" lvl="2" indent="0" defTabSz="913130">
              <a:buNone/>
              <a:defRPr/>
            </a:pPr>
            <a:r>
              <a:rPr lang="en-US" altLang="zh-CN" dirty="0"/>
              <a:t>             char data;</a:t>
            </a:r>
            <a:endParaRPr lang="en-US" altLang="zh-CN" dirty="0"/>
          </a:p>
          <a:p>
            <a:pPr marL="342900" lvl="2" indent="0" defTabSz="913130">
              <a:buNone/>
              <a:defRPr/>
            </a:pPr>
            <a:r>
              <a:rPr lang="en-US" altLang="zh-CN" dirty="0"/>
              <a:t>             struct </a:t>
            </a:r>
            <a:r>
              <a:rPr lang="en-US" altLang="zh-CN" dirty="0" err="1"/>
              <a:t>BiTNode</a:t>
            </a:r>
            <a:r>
              <a:rPr lang="en-US" altLang="zh-CN" dirty="0"/>
              <a:t> </a:t>
            </a:r>
            <a:r>
              <a:rPr lang="zh-CN" altLang="en-US" dirty="0"/>
              <a:t>*</a:t>
            </a:r>
            <a:r>
              <a:rPr lang="en-US" altLang="zh-CN" dirty="0" err="1"/>
              <a:t>lchild</a:t>
            </a:r>
            <a:r>
              <a:rPr lang="en-US" altLang="zh-CN" dirty="0"/>
              <a:t>, *</a:t>
            </a:r>
            <a:r>
              <a:rPr lang="en-US" altLang="zh-CN" dirty="0" err="1"/>
              <a:t>rchild</a:t>
            </a:r>
            <a:r>
              <a:rPr lang="en-US" altLang="zh-CN" dirty="0"/>
              <a:t>;</a:t>
            </a:r>
            <a:endParaRPr lang="en-US" altLang="zh-CN" dirty="0"/>
          </a:p>
          <a:p>
            <a:pPr marL="342900" lvl="2" indent="0" defTabSz="913130">
              <a:buNone/>
              <a:defRPr/>
            </a:pPr>
            <a:r>
              <a:rPr lang="en-US" altLang="zh-CN" dirty="0"/>
              <a:t>             int </a:t>
            </a:r>
            <a:r>
              <a:rPr lang="en-US" altLang="zh-CN" dirty="0" err="1"/>
              <a:t>ltag</a:t>
            </a:r>
            <a:r>
              <a:rPr lang="en-US" altLang="zh-CN" dirty="0"/>
              <a:t>, </a:t>
            </a:r>
            <a:r>
              <a:rPr lang="en-US" altLang="zh-CN" dirty="0" err="1"/>
              <a:t>rtag</a:t>
            </a:r>
            <a:r>
              <a:rPr lang="en-US" altLang="zh-CN" dirty="0"/>
              <a:t>;   //1</a:t>
            </a:r>
            <a:r>
              <a:rPr lang="zh-CN" altLang="en-US" dirty="0"/>
              <a:t>为线索，</a:t>
            </a:r>
            <a:r>
              <a:rPr lang="en-US" altLang="zh-CN" dirty="0"/>
              <a:t>0</a:t>
            </a:r>
            <a:r>
              <a:rPr lang="zh-CN" altLang="en-US" dirty="0"/>
              <a:t>为孩子</a:t>
            </a:r>
            <a:endParaRPr lang="en-US" altLang="zh-CN" dirty="0"/>
          </a:p>
          <a:p>
            <a:pPr marL="342900" lvl="2" indent="0" defTabSz="913130">
              <a:buNone/>
              <a:defRPr/>
            </a:pPr>
            <a:r>
              <a:rPr lang="en-US" altLang="zh-CN" dirty="0"/>
              <a:t>       }</a:t>
            </a:r>
            <a:endParaRPr lang="en-US" altLang="zh-CN" dirty="0"/>
          </a:p>
        </p:txBody>
      </p:sp>
      <p:sp>
        <p:nvSpPr>
          <p:cNvPr id="3" name="灯片编号占位符 2"/>
          <p:cNvSpPr>
            <a:spLocks noGrp="1"/>
          </p:cNvSpPr>
          <p:nvPr>
            <p:ph type="sldNum" sz="quarter" idx="12"/>
          </p:nvPr>
        </p:nvSpPr>
        <p:spPr/>
        <p:txBody>
          <a:bodyPr/>
          <a:lstStyle/>
          <a:p>
            <a:pPr>
              <a:defRPr/>
            </a:pPr>
            <a:fld id="{04B9363C-368A-45A4-8D49-31EC94012550}" type="slidenum">
              <a:rPr lang="en-US" altLang="zh-CN" smtClean="0"/>
            </a:fld>
            <a:endParaRPr lang="en-US" altLang="zh-CN"/>
          </a:p>
        </p:txBody>
      </p:sp>
    </p:spTree>
  </p:cSld>
  <p:clrMapOvr>
    <a:masterClrMapping/>
  </p:clrMapOvr>
  <p:transition>
    <p:split/>
  </p:transition>
</p:sld>
</file>

<file path=ppt/theme/theme1.xml><?xml version="1.0" encoding="utf-8"?>
<a:theme xmlns:a="http://schemas.openxmlformats.org/drawingml/2006/main" name="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34612</Words>
  <Application>WPS 演示</Application>
  <PresentationFormat>全屏显示(4:3)</PresentationFormat>
  <Paragraphs>3380</Paragraphs>
  <Slides>142</Slides>
  <Notes>16</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9</vt:i4>
      </vt:variant>
      <vt:variant>
        <vt:lpstr>幻灯片标题</vt:lpstr>
      </vt:variant>
      <vt:variant>
        <vt:i4>142</vt:i4>
      </vt:variant>
    </vt:vector>
  </HeadingPairs>
  <TitlesOfParts>
    <vt:vector size="168" baseType="lpstr">
      <vt:lpstr>Arial</vt:lpstr>
      <vt:lpstr>宋体</vt:lpstr>
      <vt:lpstr>Wingdings</vt:lpstr>
      <vt:lpstr>等线</vt:lpstr>
      <vt:lpstr>等线 Light</vt:lpstr>
      <vt:lpstr>Times New Roman</vt:lpstr>
      <vt:lpstr>Symbol</vt:lpstr>
      <vt:lpstr>隶书</vt:lpstr>
      <vt:lpstr>仿宋_GB2312</vt:lpstr>
      <vt:lpstr>微软雅黑</vt:lpstr>
      <vt:lpstr>Arial Unicode MS</vt:lpstr>
      <vt:lpstr>Arial Narrow</vt:lpstr>
      <vt:lpstr>黑体</vt:lpstr>
      <vt:lpstr>Calibri</vt:lpstr>
      <vt:lpstr>楷体_GB2312</vt:lpstr>
      <vt:lpstr>Cambria Math</vt:lpstr>
      <vt:lpstr>Office 主题​​</vt:lpstr>
      <vt:lpstr>Equation.3</vt:lpstr>
      <vt:lpstr>Equation.3</vt:lpstr>
      <vt:lpstr>Equation.3</vt:lpstr>
      <vt:lpstr>Equation.3</vt:lpstr>
      <vt:lpstr>Equation.3</vt:lpstr>
      <vt:lpstr>Equation.3</vt:lpstr>
      <vt:lpstr>Equation.3</vt:lpstr>
      <vt:lpstr>Equation.3</vt:lpstr>
      <vt:lpstr>Equation.3</vt:lpstr>
      <vt:lpstr>第5章  树与二叉树</vt:lpstr>
      <vt:lpstr>5.1 树的基本概念</vt:lpstr>
      <vt:lpstr>有根树</vt:lpstr>
      <vt:lpstr>树的特点</vt:lpstr>
      <vt:lpstr>PowerPoint 演示文稿</vt:lpstr>
      <vt:lpstr>一些概念细节</vt:lpstr>
      <vt:lpstr>5.1.2 树的抽象数据类型</vt:lpstr>
      <vt:lpstr>5.2 二叉树</vt:lpstr>
      <vt:lpstr>5.2.2 二叉树的性质</vt:lpstr>
      <vt:lpstr>PowerPoint 演示文稿</vt:lpstr>
      <vt:lpstr>PowerPoint 演示文稿</vt:lpstr>
      <vt:lpstr>PowerPoint 演示文稿</vt:lpstr>
      <vt:lpstr>PowerPoint 演示文稿</vt:lpstr>
      <vt:lpstr>PowerPoint 演示文稿</vt:lpstr>
      <vt:lpstr>5.2.3 二叉树的抽象数据类型</vt:lpstr>
      <vt:lpstr>5.3 二叉树的存储表示</vt:lpstr>
      <vt:lpstr>5.3.1 二叉树的数组存储表示</vt:lpstr>
      <vt:lpstr>极端情形: 只有右单支的二叉树</vt:lpstr>
      <vt:lpstr>5.3.2 二叉树的链表表示</vt:lpstr>
      <vt:lpstr>三叉链表表示</vt:lpstr>
      <vt:lpstr>二叉树链表表示的示例</vt:lpstr>
      <vt:lpstr>静态三叉链表结构</vt:lpstr>
      <vt:lpstr>二叉链表表示的二叉树结点类</vt:lpstr>
      <vt:lpstr>二叉链表型二叉树的类定义</vt:lpstr>
      <vt:lpstr>5.4 二叉树遍历及其应用</vt:lpstr>
      <vt:lpstr>5.4.1 二叉树遍历的递归算法</vt:lpstr>
      <vt:lpstr>中序遍历</vt:lpstr>
      <vt:lpstr>二叉树中序遍历的递归算法</vt:lpstr>
      <vt:lpstr>前序遍历</vt:lpstr>
      <vt:lpstr>二叉树前序遍历的递归算法</vt:lpstr>
      <vt:lpstr>后序遍历</vt:lpstr>
      <vt:lpstr>二叉树后序遍历的递归算法</vt:lpstr>
      <vt:lpstr>5.4.2 二叉树遍历的应用</vt:lpstr>
      <vt:lpstr>后序遍历计算二叉树的高度</vt:lpstr>
      <vt:lpstr>后序遍历销毁二叉树</vt:lpstr>
      <vt:lpstr>前序遍历输出二叉树</vt:lpstr>
      <vt:lpstr>前序遍历查找结点双亲</vt:lpstr>
      <vt:lpstr>前序遍历以括号形式打印二叉树</vt:lpstr>
      <vt:lpstr>PowerPoint 演示文稿</vt:lpstr>
      <vt:lpstr>前序遍历复制二叉树</vt:lpstr>
      <vt:lpstr>前序遍历判断二叉树相等</vt:lpstr>
      <vt:lpstr>前序遍历按缩进形式输出二叉树</vt:lpstr>
      <vt:lpstr>PowerPoint 演示文稿</vt:lpstr>
      <vt:lpstr>前序遍历建立二叉树</vt:lpstr>
      <vt:lpstr>PowerPoint 演示文稿</vt:lpstr>
      <vt:lpstr>5.4.3 二叉树遍历的非递归算法</vt:lpstr>
      <vt:lpstr>前序遍历非递归算法的改进</vt:lpstr>
      <vt:lpstr>中序遍历非递归算法</vt:lpstr>
      <vt:lpstr>PowerPoint 演示文稿</vt:lpstr>
      <vt:lpstr>后序遍历非递归算法</vt:lpstr>
      <vt:lpstr>PowerPoint 演示文稿</vt:lpstr>
      <vt:lpstr>PowerPoint 演示文稿</vt:lpstr>
      <vt:lpstr>根据二叉树的括号表示建立二叉树 </vt:lpstr>
      <vt:lpstr>建树算法的步骤</vt:lpstr>
      <vt:lpstr>根据括号表示建立二叉树 </vt:lpstr>
      <vt:lpstr>用队列实现层次遍历</vt:lpstr>
      <vt:lpstr> 5.4.4 二叉树的计数</vt:lpstr>
      <vt:lpstr>PowerPoint 演示文稿</vt:lpstr>
      <vt:lpstr>PowerPoint 演示文稿</vt:lpstr>
      <vt:lpstr>不同形态的二叉树数目</vt:lpstr>
      <vt:lpstr>PowerPoint 演示文稿</vt:lpstr>
      <vt:lpstr>有0~4个结点的不同二叉树形态</vt:lpstr>
      <vt:lpstr>计算具有 n 个结点的不同二叉树的棵数</vt:lpstr>
      <vt:lpstr>第5章作业1（1）</vt:lpstr>
      <vt:lpstr>第5章作业1（2）</vt:lpstr>
      <vt:lpstr>5.5 线索二叉树</vt:lpstr>
      <vt:lpstr>线索化二叉树及其二叉链表表示</vt:lpstr>
      <vt:lpstr>5.5.2 中序线索二叉树的建立和遍历</vt:lpstr>
      <vt:lpstr>PowerPoint 演示文稿</vt:lpstr>
      <vt:lpstr> 寻找当前结点在中序下的后继</vt:lpstr>
      <vt:lpstr> 寻找当前结点在中序下的前驱</vt:lpstr>
      <vt:lpstr>部分成员函数的实现</vt:lpstr>
      <vt:lpstr>PowerPoint 演示文稿</vt:lpstr>
      <vt:lpstr>PowerPoint 演示文稿</vt:lpstr>
      <vt:lpstr>PowerPoint 演示文稿</vt:lpstr>
      <vt:lpstr>PowerPoint 演示文稿</vt:lpstr>
      <vt:lpstr>PowerPoint 演示文稿</vt:lpstr>
      <vt:lpstr>PowerPoint 演示文稿</vt:lpstr>
      <vt:lpstr>用中序线索信息实现前序遍历</vt:lpstr>
      <vt:lpstr>PowerPoint 演示文稿</vt:lpstr>
      <vt:lpstr>用中序线索信息实现后序遍历</vt:lpstr>
      <vt:lpstr>通过中序线索实现Parent(t)</vt:lpstr>
      <vt:lpstr>5.5.3 中序线索二叉树的插入与删除（自学）</vt:lpstr>
      <vt:lpstr>5.5.4 前序与后序的线索二叉树</vt:lpstr>
      <vt:lpstr>前序线索化二叉树中找当前结点的后继</vt:lpstr>
      <vt:lpstr>后序线索化二叉树中寻找当前结点的后继</vt:lpstr>
      <vt:lpstr>5.6 树与森林</vt:lpstr>
      <vt:lpstr>双亲表示</vt:lpstr>
      <vt:lpstr>孩子链表表示法</vt:lpstr>
      <vt:lpstr>改进的孩子链表表示—结点大小固定</vt:lpstr>
      <vt:lpstr>孩子-兄弟链表示法</vt:lpstr>
      <vt:lpstr>用左孩子-右兄弟表示实现的树的类定义</vt:lpstr>
      <vt:lpstr>PowerPoint 演示文稿</vt:lpstr>
      <vt:lpstr>根为 t 的树中找p的双亲, 设为当前结点（已知t!=p）</vt:lpstr>
      <vt:lpstr>PowerPoint 演示文稿</vt:lpstr>
      <vt:lpstr>PowerPoint 演示文稿</vt:lpstr>
      <vt:lpstr>5.6.2 森林与二叉树的转换</vt:lpstr>
      <vt:lpstr>(1) 森林转化成二叉树的规则</vt:lpstr>
      <vt:lpstr>(2) 二叉树转换为森林的规则</vt:lpstr>
      <vt:lpstr>5.6.3 树与二叉树的转换</vt:lpstr>
      <vt:lpstr>5.7 树与森林的遍历及其应用</vt:lpstr>
      <vt:lpstr>5.7.1 树与森林的深度优先遍历</vt:lpstr>
      <vt:lpstr>树的后根次序遍历</vt:lpstr>
      <vt:lpstr>(1) 树的先根次序遍历的递归算法</vt:lpstr>
      <vt:lpstr>(2) 树的后根次序遍历的递归算法</vt:lpstr>
      <vt:lpstr>森林的深度优先遍历：规则1--先根次序遍历</vt:lpstr>
      <vt:lpstr>森林的深度优先遍历：规则2--后根次序遍历</vt:lpstr>
      <vt:lpstr>5.7.2 树和森林的广度优先遍历</vt:lpstr>
      <vt:lpstr>森林的广度优先遍历</vt:lpstr>
      <vt:lpstr>5.7.3 树遍历算法的应用</vt:lpstr>
      <vt:lpstr>5.7.4 其它基于遍历序列的几种存储表示（自学）</vt:lpstr>
      <vt:lpstr>5.8 堆</vt:lpstr>
      <vt:lpstr>最小堆的类定义</vt:lpstr>
      <vt:lpstr>5.8.2 堆的建立</vt:lpstr>
      <vt:lpstr>将数组调整成最小堆</vt:lpstr>
      <vt:lpstr>PowerPoint 演示文稿</vt:lpstr>
      <vt:lpstr>PowerPoint 演示文稿</vt:lpstr>
      <vt:lpstr>PowerPoint 演示文稿</vt:lpstr>
      <vt:lpstr>最小堆的下滑调整算法</vt:lpstr>
      <vt:lpstr>5.8.3 堆的插入与删除</vt:lpstr>
      <vt:lpstr>最小堆的向上调整算法</vt:lpstr>
      <vt:lpstr>最小堆的向上调整</vt:lpstr>
      <vt:lpstr>PowerPoint 演示文稿</vt:lpstr>
      <vt:lpstr>最小堆的删除算法</vt:lpstr>
      <vt:lpstr>5.9 Huffman树及其应用</vt:lpstr>
      <vt:lpstr>PowerPoint 演示文稿</vt:lpstr>
      <vt:lpstr>带权路径长度 (Weighted Path Length, WPL)</vt:lpstr>
      <vt:lpstr>具有不同带权路径长度的扩充二叉树</vt:lpstr>
      <vt:lpstr>5.9.2 Huffman树</vt:lpstr>
      <vt:lpstr>Huffman算法</vt:lpstr>
      <vt:lpstr>例：Huffman树的构造过程</vt:lpstr>
      <vt:lpstr>Huffman树的类定义</vt:lpstr>
      <vt:lpstr>PowerPoint 演示文稿</vt:lpstr>
      <vt:lpstr>PowerPoint 演示文稿</vt:lpstr>
      <vt:lpstr>PowerPoint 演示文稿</vt:lpstr>
      <vt:lpstr>5.9.3 Huffman树的应用：最优判定树 </vt:lpstr>
      <vt:lpstr>5.9.4 Huffman树的应用： Huffman编码</vt:lpstr>
      <vt:lpstr>改为Huffman编码</vt:lpstr>
      <vt:lpstr>小结</vt:lpstr>
      <vt:lpstr>常见题型</vt:lpstr>
      <vt:lpstr>第5章作业2（1）</vt:lpstr>
      <vt:lpstr>第5章作业2（2）</vt:lpstr>
    </vt:vector>
  </TitlesOfParts>
  <Company>djzx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djzx</dc:creator>
  <cp:lastModifiedBy>陈莹</cp:lastModifiedBy>
  <cp:revision>276</cp:revision>
  <dcterms:created xsi:type="dcterms:W3CDTF">2000-01-30T08:24:00Z</dcterms:created>
  <dcterms:modified xsi:type="dcterms:W3CDTF">2025-11-15T06:09:47Z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4633D4F5D0B74CB492E693DCC76B7081_12</vt:lpwstr>
  </property>
  <property fmtid="{D5CDD505-2E9C-101B-9397-08002B2CF9AE}" pid="3" name="KSOProductBuildVer">
    <vt:lpwstr>2052-12.1.0.22529</vt:lpwstr>
  </property>
</Properties>
</file>