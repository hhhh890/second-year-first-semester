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77"/>
  </p:notesMasterIdLst>
  <p:sldIdLst>
    <p:sldId id="645" r:id="rId2"/>
    <p:sldId id="496" r:id="rId3"/>
    <p:sldId id="497" r:id="rId4"/>
    <p:sldId id="650" r:id="rId5"/>
    <p:sldId id="498" r:id="rId6"/>
    <p:sldId id="499" r:id="rId7"/>
    <p:sldId id="651" r:id="rId8"/>
    <p:sldId id="653" r:id="rId9"/>
    <p:sldId id="582" r:id="rId10"/>
    <p:sldId id="526" r:id="rId11"/>
    <p:sldId id="492" r:id="rId12"/>
    <p:sldId id="391" r:id="rId13"/>
    <p:sldId id="394" r:id="rId14"/>
    <p:sldId id="263" r:id="rId15"/>
    <p:sldId id="473" r:id="rId16"/>
    <p:sldId id="397" r:id="rId17"/>
    <p:sldId id="268" r:id="rId18"/>
    <p:sldId id="269" r:id="rId19"/>
    <p:sldId id="270" r:id="rId20"/>
    <p:sldId id="644" r:id="rId21"/>
    <p:sldId id="477" r:id="rId22"/>
    <p:sldId id="478" r:id="rId23"/>
    <p:sldId id="479" r:id="rId24"/>
    <p:sldId id="480" r:id="rId25"/>
    <p:sldId id="652" r:id="rId26"/>
    <p:sldId id="654" r:id="rId27"/>
    <p:sldId id="548" r:id="rId28"/>
    <p:sldId id="549" r:id="rId29"/>
    <p:sldId id="550" r:id="rId30"/>
    <p:sldId id="551" r:id="rId31"/>
    <p:sldId id="558" r:id="rId32"/>
    <p:sldId id="553" r:id="rId33"/>
    <p:sldId id="340" r:id="rId34"/>
    <p:sldId id="411" r:id="rId35"/>
    <p:sldId id="412" r:id="rId36"/>
    <p:sldId id="413" r:id="rId37"/>
    <p:sldId id="423" r:id="rId38"/>
    <p:sldId id="300" r:id="rId39"/>
    <p:sldId id="425" r:id="rId40"/>
    <p:sldId id="579" r:id="rId41"/>
    <p:sldId id="433" r:id="rId42"/>
    <p:sldId id="434" r:id="rId43"/>
    <p:sldId id="630" r:id="rId44"/>
    <p:sldId id="471" r:id="rId45"/>
    <p:sldId id="437" r:id="rId46"/>
    <p:sldId id="438" r:id="rId47"/>
    <p:sldId id="439" r:id="rId48"/>
    <p:sldId id="631" r:id="rId49"/>
    <p:sldId id="632" r:id="rId50"/>
    <p:sldId id="633" r:id="rId51"/>
    <p:sldId id="648" r:id="rId52"/>
    <p:sldId id="440" r:id="rId53"/>
    <p:sldId id="583" r:id="rId54"/>
    <p:sldId id="580" r:id="rId55"/>
    <p:sldId id="649" r:id="rId56"/>
    <p:sldId id="585" r:id="rId57"/>
    <p:sldId id="586" r:id="rId58"/>
    <p:sldId id="636" r:id="rId59"/>
    <p:sldId id="637" r:id="rId60"/>
    <p:sldId id="589" r:id="rId61"/>
    <p:sldId id="590" r:id="rId62"/>
    <p:sldId id="593" r:id="rId63"/>
    <p:sldId id="443" r:id="rId64"/>
    <p:sldId id="594" r:id="rId65"/>
    <p:sldId id="595" r:id="rId66"/>
    <p:sldId id="597" r:id="rId67"/>
    <p:sldId id="643" r:id="rId68"/>
    <p:sldId id="323" r:id="rId69"/>
    <p:sldId id="576" r:id="rId70"/>
    <p:sldId id="355" r:id="rId71"/>
    <p:sldId id="599" r:id="rId72"/>
    <p:sldId id="501" r:id="rId73"/>
    <p:sldId id="616" r:id="rId74"/>
    <p:sldId id="642" r:id="rId75"/>
    <p:sldId id="647" r:id="rId7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CC3300"/>
    <a:srgbClr val="0000CC"/>
    <a:srgbClr val="990099"/>
    <a:srgbClr val="66FF33"/>
    <a:srgbClr val="0000FF"/>
    <a:srgbClr val="FF99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05" autoAdjust="0"/>
    <p:restoredTop sz="90929"/>
  </p:normalViewPr>
  <p:slideViewPr>
    <p:cSldViewPr>
      <p:cViewPr varScale="1">
        <p:scale>
          <a:sx n="75" d="100"/>
          <a:sy n="75" d="100"/>
        </p:scale>
        <p:origin x="143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97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69F41E76-A0EB-4900-A62F-8ECD8380B1A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5" name="Rectangle 3">
            <a:extLst>
              <a:ext uri="{FF2B5EF4-FFF2-40B4-BE49-F238E27FC236}">
                <a16:creationId xmlns:a16="http://schemas.microsoft.com/office/drawing/2014/main" id="{D0B42F71-B6D6-493A-9B56-700250E2317F}"/>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endParaRPr lang="en-US" altLang="zh-CN"/>
          </a:p>
        </p:txBody>
      </p:sp>
      <p:sp>
        <p:nvSpPr>
          <p:cNvPr id="4100" name="Rectangle 4">
            <a:extLst>
              <a:ext uri="{FF2B5EF4-FFF2-40B4-BE49-F238E27FC236}">
                <a16:creationId xmlns:a16="http://schemas.microsoft.com/office/drawing/2014/main" id="{C90A7064-E3E8-47E0-A3BC-F3224411BFC7}"/>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9797" name="Rectangle 5">
            <a:extLst>
              <a:ext uri="{FF2B5EF4-FFF2-40B4-BE49-F238E27FC236}">
                <a16:creationId xmlns:a16="http://schemas.microsoft.com/office/drawing/2014/main" id="{BB23A6FE-165D-475C-B0AF-982F768CCC1D}"/>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89798" name="Rectangle 6">
            <a:extLst>
              <a:ext uri="{FF2B5EF4-FFF2-40B4-BE49-F238E27FC236}">
                <a16:creationId xmlns:a16="http://schemas.microsoft.com/office/drawing/2014/main" id="{48794C9C-7857-416B-912D-D7DD8BC1BD15}"/>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defRPr sz="1200">
                <a:latin typeface="+mn-lt"/>
                <a:ea typeface="+mn-ea"/>
              </a:defRPr>
            </a:lvl1pPr>
          </a:lstStyle>
          <a:p>
            <a:pPr>
              <a:defRPr/>
            </a:pPr>
            <a:endParaRPr lang="en-US" altLang="zh-CN"/>
          </a:p>
        </p:txBody>
      </p:sp>
      <p:sp>
        <p:nvSpPr>
          <p:cNvPr id="289799" name="Rectangle 7">
            <a:extLst>
              <a:ext uri="{FF2B5EF4-FFF2-40B4-BE49-F238E27FC236}">
                <a16:creationId xmlns:a16="http://schemas.microsoft.com/office/drawing/2014/main" id="{40AF5F5C-82DE-490B-88C6-EFD4A4A8F48B}"/>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defRPr sz="1200">
                <a:latin typeface="+mn-lt"/>
                <a:ea typeface="+mn-ea"/>
              </a:defRPr>
            </a:lvl1pPr>
          </a:lstStyle>
          <a:p>
            <a:pPr>
              <a:defRPr/>
            </a:pPr>
            <a:fld id="{E4C4436A-5073-4750-93A4-ACB59A03866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D397AF5F-47E2-49C8-8CF8-65F95C51C699}"/>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9B12A36-CBD0-4F39-82DE-BAAB6FC15A89}" type="slidenum">
              <a:rPr lang="en-US" altLang="zh-CN" smtClean="0"/>
              <a:pPr fontAlgn="base">
                <a:spcBef>
                  <a:spcPct val="0"/>
                </a:spcBef>
                <a:spcAft>
                  <a:spcPct val="0"/>
                </a:spcAft>
              </a:pPr>
              <a:t>5</a:t>
            </a:fld>
            <a:endParaRPr lang="en-US" altLang="zh-CN"/>
          </a:p>
        </p:txBody>
      </p:sp>
      <p:sp>
        <p:nvSpPr>
          <p:cNvPr id="8195" name="Rectangle 2">
            <a:extLst>
              <a:ext uri="{FF2B5EF4-FFF2-40B4-BE49-F238E27FC236}">
                <a16:creationId xmlns:a16="http://schemas.microsoft.com/office/drawing/2014/main" id="{71711A0A-EA76-4C32-9989-A18AF16A8F95}"/>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4773D8EA-5553-41DB-8B92-D55161D7D319}"/>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a:extLst>
              <a:ext uri="{FF2B5EF4-FFF2-40B4-BE49-F238E27FC236}">
                <a16:creationId xmlns:a16="http://schemas.microsoft.com/office/drawing/2014/main" id="{1A3BCD34-476B-4C78-8670-7655C17CDF04}"/>
              </a:ext>
            </a:extLst>
          </p:cNvPr>
          <p:cNvSpPr>
            <a:spLocks noGrp="1" noRot="1" noChangeAspect="1" noChangeArrowheads="1" noTextEdit="1"/>
          </p:cNvSpPr>
          <p:nvPr>
            <p:ph type="sldImg"/>
          </p:nvPr>
        </p:nvSpPr>
        <p:spPr>
          <a:ln/>
        </p:spPr>
      </p:sp>
      <p:sp>
        <p:nvSpPr>
          <p:cNvPr id="14339" name="备注占位符 2">
            <a:extLst>
              <a:ext uri="{FF2B5EF4-FFF2-40B4-BE49-F238E27FC236}">
                <a16:creationId xmlns:a16="http://schemas.microsoft.com/office/drawing/2014/main" id="{E079A932-0ADB-48F0-8FDF-88D17F22197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a:extLst>
              <a:ext uri="{FF2B5EF4-FFF2-40B4-BE49-F238E27FC236}">
                <a16:creationId xmlns:a16="http://schemas.microsoft.com/office/drawing/2014/main" id="{6C94D2B3-B4E9-4884-8CC9-64E1B8955A34}"/>
              </a:ext>
            </a:extLst>
          </p:cNvPr>
          <p:cNvSpPr>
            <a:spLocks noGrp="1"/>
          </p:cNvSpPr>
          <p:nvPr>
            <p:ph type="sldNum" sz="quarter" idx="5"/>
          </p:nvPr>
        </p:nvSpPr>
        <p:spPr/>
        <p:txBody>
          <a:bodyPr/>
          <a:lstStyle/>
          <a:p>
            <a:pPr>
              <a:defRPr/>
            </a:pPr>
            <a:fld id="{78830FB2-F4E2-489D-B2B6-5D93034257ED}" type="slidenum">
              <a:rPr lang="en-US" altLang="zh-CN" smtClean="0"/>
              <a:pPr>
                <a:defRPr/>
              </a:pPr>
              <a:t>10</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a:extLst>
              <a:ext uri="{FF2B5EF4-FFF2-40B4-BE49-F238E27FC236}">
                <a16:creationId xmlns:a16="http://schemas.microsoft.com/office/drawing/2014/main" id="{C92C65CB-8775-4387-87DB-88C4650D4199}"/>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4E3E2035-FA86-46F7-9CE9-0C2F2794F6A9}"/>
              </a:ext>
            </a:extLst>
          </p:cNvPr>
          <p:cNvSpPr>
            <a:spLocks noGrp="1"/>
          </p:cNvSpPr>
          <p:nvPr>
            <p:ph type="body" idx="1"/>
          </p:nvPr>
        </p:nvSpPr>
        <p:spPr/>
        <p:txBody>
          <a:bodyPr/>
          <a:lstStyle/>
          <a:p>
            <a:pPr>
              <a:defRPr/>
            </a:pPr>
            <a:endParaRPr lang="zh-CN" altLang="en-US" dirty="0"/>
          </a:p>
        </p:txBody>
      </p:sp>
      <p:sp>
        <p:nvSpPr>
          <p:cNvPr id="4" name="灯片编号占位符 3">
            <a:extLst>
              <a:ext uri="{FF2B5EF4-FFF2-40B4-BE49-F238E27FC236}">
                <a16:creationId xmlns:a16="http://schemas.microsoft.com/office/drawing/2014/main" id="{79FD3A49-ECBE-40D3-91D8-1FB4C0086FB8}"/>
              </a:ext>
            </a:extLst>
          </p:cNvPr>
          <p:cNvSpPr>
            <a:spLocks noGrp="1"/>
          </p:cNvSpPr>
          <p:nvPr>
            <p:ph type="sldNum" sz="quarter" idx="5"/>
          </p:nvPr>
        </p:nvSpPr>
        <p:spPr/>
        <p:txBody>
          <a:bodyPr/>
          <a:lstStyle/>
          <a:p>
            <a:pPr>
              <a:defRPr/>
            </a:pPr>
            <a:fld id="{C9F9C436-A9FD-422E-A499-7FB1F89779C4}" type="slidenum">
              <a:rPr lang="en-US" altLang="zh-CN" smtClean="0"/>
              <a:pPr>
                <a:defRPr/>
              </a:pPr>
              <a:t>11</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a:extLst>
              <a:ext uri="{FF2B5EF4-FFF2-40B4-BE49-F238E27FC236}">
                <a16:creationId xmlns:a16="http://schemas.microsoft.com/office/drawing/2014/main" id="{F6526553-9CD3-463E-9E1A-84EF84A0BC3A}"/>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606ED0E6-316E-4552-AC67-452CC0F138F4}"/>
              </a:ext>
            </a:extLst>
          </p:cNvPr>
          <p:cNvSpPr>
            <a:spLocks noGrp="1"/>
          </p:cNvSpPr>
          <p:nvPr>
            <p:ph type="body" idx="1"/>
          </p:nvPr>
        </p:nvSpPr>
        <p:spPr/>
        <p:txBody>
          <a:bodyPr/>
          <a:lstStyle/>
          <a:p>
            <a:pPr>
              <a:defRPr/>
            </a:pPr>
            <a:endParaRPr lang="zh-CN" altLang="en-US" dirty="0"/>
          </a:p>
        </p:txBody>
      </p:sp>
      <p:sp>
        <p:nvSpPr>
          <p:cNvPr id="4" name="灯片编号占位符 3">
            <a:extLst>
              <a:ext uri="{FF2B5EF4-FFF2-40B4-BE49-F238E27FC236}">
                <a16:creationId xmlns:a16="http://schemas.microsoft.com/office/drawing/2014/main" id="{8E32CA50-8E08-4A2C-9D52-826F6430BC67}"/>
              </a:ext>
            </a:extLst>
          </p:cNvPr>
          <p:cNvSpPr>
            <a:spLocks noGrp="1"/>
          </p:cNvSpPr>
          <p:nvPr>
            <p:ph type="sldNum" sz="quarter" idx="5"/>
          </p:nvPr>
        </p:nvSpPr>
        <p:spPr/>
        <p:txBody>
          <a:bodyPr/>
          <a:lstStyle/>
          <a:p>
            <a:pPr>
              <a:defRPr/>
            </a:pPr>
            <a:fld id="{2A7E449C-F16E-4B53-AADF-1BEA6993F79A}" type="slidenum">
              <a:rPr lang="en-US" altLang="zh-CN" smtClean="0"/>
              <a:pPr>
                <a:defRPr/>
              </a:pPr>
              <a:t>12</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a:extLst>
              <a:ext uri="{FF2B5EF4-FFF2-40B4-BE49-F238E27FC236}">
                <a16:creationId xmlns:a16="http://schemas.microsoft.com/office/drawing/2014/main" id="{612D6D60-F15F-494B-BD1D-51D49B6DC25E}"/>
              </a:ext>
            </a:extLst>
          </p:cNvPr>
          <p:cNvSpPr>
            <a:spLocks noGrp="1" noRot="1" noChangeAspect="1" noChangeArrowheads="1" noTextEdit="1"/>
          </p:cNvSpPr>
          <p:nvPr>
            <p:ph type="sldImg"/>
          </p:nvPr>
        </p:nvSpPr>
        <p:spPr>
          <a:ln/>
        </p:spPr>
      </p:sp>
      <p:sp>
        <p:nvSpPr>
          <p:cNvPr id="25603" name="备注占位符 2">
            <a:extLst>
              <a:ext uri="{FF2B5EF4-FFF2-40B4-BE49-F238E27FC236}">
                <a16:creationId xmlns:a16="http://schemas.microsoft.com/office/drawing/2014/main" id="{1C4E9A74-29E4-4B8E-91EB-44037FF15A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5604" name="灯片编号占位符 3">
            <a:extLst>
              <a:ext uri="{FF2B5EF4-FFF2-40B4-BE49-F238E27FC236}">
                <a16:creationId xmlns:a16="http://schemas.microsoft.com/office/drawing/2014/main" id="{B6F32D3E-80AE-46E7-A4BA-04524CA2626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832FC49B-49E4-40C2-8A78-98D939386F98}" type="slidenum">
              <a:rPr lang="en-US" altLang="zh-CN" smtClean="0">
                <a:latin typeface="Arial" panose="020B0604020202020204" pitchFamily="34" charset="0"/>
                <a:ea typeface="宋体" panose="02010600030101010101" pitchFamily="2" charset="-122"/>
              </a:rPr>
              <a:pPr fontAlgn="base">
                <a:spcBef>
                  <a:spcPct val="0"/>
                </a:spcBef>
                <a:spcAft>
                  <a:spcPct val="0"/>
                </a:spcAft>
              </a:pPr>
              <a:t>14</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a:extLst>
              <a:ext uri="{FF2B5EF4-FFF2-40B4-BE49-F238E27FC236}">
                <a16:creationId xmlns:a16="http://schemas.microsoft.com/office/drawing/2014/main" id="{97530553-84AC-4774-8545-68C94A205543}"/>
              </a:ext>
            </a:extLst>
          </p:cNvPr>
          <p:cNvSpPr>
            <a:spLocks noGrp="1" noRot="1" noChangeAspect="1" noChangeArrowheads="1" noTextEdit="1"/>
          </p:cNvSpPr>
          <p:nvPr>
            <p:ph type="sldImg"/>
          </p:nvPr>
        </p:nvSpPr>
        <p:spPr>
          <a:ln/>
        </p:spPr>
      </p:sp>
      <p:sp>
        <p:nvSpPr>
          <p:cNvPr id="30723" name="备注占位符 2">
            <a:extLst>
              <a:ext uri="{FF2B5EF4-FFF2-40B4-BE49-F238E27FC236}">
                <a16:creationId xmlns:a16="http://schemas.microsoft.com/office/drawing/2014/main" id="{B568C819-B642-4767-9043-4CC555AC2AA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0724" name="灯片编号占位符 3">
            <a:extLst>
              <a:ext uri="{FF2B5EF4-FFF2-40B4-BE49-F238E27FC236}">
                <a16:creationId xmlns:a16="http://schemas.microsoft.com/office/drawing/2014/main" id="{DEA0FAD5-3967-417C-8BA0-50CF128E309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932C3C28-3F4B-4453-94BA-E91BFAB0F6B4}" type="slidenum">
              <a:rPr lang="en-US" altLang="zh-CN" smtClean="0">
                <a:latin typeface="Arial" panose="020B0604020202020204" pitchFamily="34" charset="0"/>
                <a:ea typeface="宋体" panose="02010600030101010101" pitchFamily="2" charset="-122"/>
              </a:rPr>
              <a:pPr fontAlgn="base">
                <a:spcBef>
                  <a:spcPct val="0"/>
                </a:spcBef>
                <a:spcAft>
                  <a:spcPct val="0"/>
                </a:spcAft>
              </a:pPr>
              <a:t>18</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a:extLst>
              <a:ext uri="{FF2B5EF4-FFF2-40B4-BE49-F238E27FC236}">
                <a16:creationId xmlns:a16="http://schemas.microsoft.com/office/drawing/2014/main" id="{64D41DD0-1285-4264-91C6-9DAE341A8FA8}"/>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87A4BECE-BEB5-4F05-9A82-4107C2F1D7B2}"/>
              </a:ext>
            </a:extLst>
          </p:cNvPr>
          <p:cNvSpPr>
            <a:spLocks noGrp="1"/>
          </p:cNvSpPr>
          <p:nvPr>
            <p:ph type="body" idx="1"/>
          </p:nvPr>
        </p:nvSpPr>
        <p:spPr/>
        <p:txBody>
          <a:bodyPr/>
          <a:lstStyle/>
          <a:p>
            <a:pPr algn="just">
              <a:defRPr/>
            </a:pPr>
            <a:endParaRPr lang="zh-CN" altLang="en-US" dirty="0"/>
          </a:p>
        </p:txBody>
      </p:sp>
      <p:sp>
        <p:nvSpPr>
          <p:cNvPr id="32772" name="灯片编号占位符 3">
            <a:extLst>
              <a:ext uri="{FF2B5EF4-FFF2-40B4-BE49-F238E27FC236}">
                <a16:creationId xmlns:a16="http://schemas.microsoft.com/office/drawing/2014/main" id="{BF88CCC6-EC7C-4456-9F80-449D39DEE0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D1FE3560-6133-4E33-93C2-973A9C7F257E}" type="slidenum">
              <a:rPr lang="en-US" altLang="zh-CN" smtClean="0">
                <a:latin typeface="Arial" panose="020B0604020202020204" pitchFamily="34" charset="0"/>
                <a:ea typeface="宋体" panose="02010600030101010101" pitchFamily="2" charset="-122"/>
              </a:rPr>
              <a:pPr fontAlgn="base">
                <a:spcBef>
                  <a:spcPct val="0"/>
                </a:spcBef>
                <a:spcAft>
                  <a:spcPct val="0"/>
                </a:spcAft>
              </a:pPr>
              <a:t>19</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46E8DE0A-2C6F-41C7-BC38-CBB77856D2A2}"/>
              </a:ext>
            </a:extLst>
          </p:cNvPr>
          <p:cNvSpPr>
            <a:spLocks noGrp="1" noRot="1" noChangeAspect="1" noChangeArrowheads="1" noTextEdit="1"/>
          </p:cNvSpPr>
          <p:nvPr>
            <p:ph type="sldImg"/>
          </p:nvPr>
        </p:nvSpPr>
        <p:spPr>
          <a:ln/>
        </p:spPr>
      </p:sp>
      <p:sp>
        <p:nvSpPr>
          <p:cNvPr id="39939" name="备注占位符 2">
            <a:extLst>
              <a:ext uri="{FF2B5EF4-FFF2-40B4-BE49-F238E27FC236}">
                <a16:creationId xmlns:a16="http://schemas.microsoft.com/office/drawing/2014/main" id="{0F4C32F4-CCD1-44F4-9C55-7BC5F698DDA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a:extLst>
              <a:ext uri="{FF2B5EF4-FFF2-40B4-BE49-F238E27FC236}">
                <a16:creationId xmlns:a16="http://schemas.microsoft.com/office/drawing/2014/main" id="{DFB1D481-F5B3-4FCB-AD04-D135515B60BD}"/>
              </a:ext>
            </a:extLst>
          </p:cNvPr>
          <p:cNvSpPr>
            <a:spLocks noGrp="1"/>
          </p:cNvSpPr>
          <p:nvPr>
            <p:ph type="sldNum" sz="quarter" idx="5"/>
          </p:nvPr>
        </p:nvSpPr>
        <p:spPr/>
        <p:txBody>
          <a:bodyPr/>
          <a:lstStyle/>
          <a:p>
            <a:pPr>
              <a:defRPr/>
            </a:pPr>
            <a:fld id="{317F10E3-487E-46AA-8865-B0E5A0B48B82}" type="slidenum">
              <a:rPr lang="en-US" altLang="zh-CN" smtClean="0"/>
              <a:pPr>
                <a:defRPr/>
              </a:pPr>
              <a:t>24</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a:extLst>
              <a:ext uri="{FF2B5EF4-FFF2-40B4-BE49-F238E27FC236}">
                <a16:creationId xmlns:a16="http://schemas.microsoft.com/office/drawing/2014/main" id="{63A15730-AD2A-40FC-8F3A-4B140490F228}"/>
              </a:ext>
            </a:extLst>
          </p:cNvPr>
          <p:cNvSpPr>
            <a:spLocks noGrp="1" noRot="1" noChangeAspect="1" noChangeArrowheads="1" noTextEdit="1"/>
          </p:cNvSpPr>
          <p:nvPr>
            <p:ph type="sldImg"/>
          </p:nvPr>
        </p:nvSpPr>
        <p:spPr>
          <a:ln/>
        </p:spPr>
      </p:sp>
      <p:sp>
        <p:nvSpPr>
          <p:cNvPr id="43011" name="备注占位符 2">
            <a:extLst>
              <a:ext uri="{FF2B5EF4-FFF2-40B4-BE49-F238E27FC236}">
                <a16:creationId xmlns:a16="http://schemas.microsoft.com/office/drawing/2014/main" id="{04C766F7-3628-4D80-A072-7BED1B32C2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a:extLst>
              <a:ext uri="{FF2B5EF4-FFF2-40B4-BE49-F238E27FC236}">
                <a16:creationId xmlns:a16="http://schemas.microsoft.com/office/drawing/2014/main" id="{F06F87CA-829B-4EEC-B5F4-1737EFFA5486}"/>
              </a:ext>
            </a:extLst>
          </p:cNvPr>
          <p:cNvSpPr>
            <a:spLocks noGrp="1"/>
          </p:cNvSpPr>
          <p:nvPr>
            <p:ph type="sldNum" sz="quarter" idx="5"/>
          </p:nvPr>
        </p:nvSpPr>
        <p:spPr/>
        <p:txBody>
          <a:bodyPr/>
          <a:lstStyle/>
          <a:p>
            <a:pPr>
              <a:defRPr/>
            </a:pPr>
            <a:fld id="{1A31E120-6747-4FD7-91BD-40F40E3FBFCB}" type="slidenum">
              <a:rPr lang="en-US" altLang="zh-CN" smtClean="0"/>
              <a:pPr>
                <a:defRPr/>
              </a:pPr>
              <a:t>27</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93FFFFCB-8090-42F0-8799-31314935C6C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3A896906-F21B-4AF5-8C33-FCB04CA43A0E}" type="slidenum">
              <a:rPr lang="en-US" altLang="zh-CN" smtClean="0"/>
              <a:pPr fontAlgn="base">
                <a:spcBef>
                  <a:spcPct val="0"/>
                </a:spcBef>
                <a:spcAft>
                  <a:spcPct val="0"/>
                </a:spcAft>
              </a:pPr>
              <a:t>28</a:t>
            </a:fld>
            <a:endParaRPr lang="en-US" altLang="zh-CN"/>
          </a:p>
        </p:txBody>
      </p:sp>
      <p:sp>
        <p:nvSpPr>
          <p:cNvPr id="45059" name="Rectangle 2">
            <a:extLst>
              <a:ext uri="{FF2B5EF4-FFF2-40B4-BE49-F238E27FC236}">
                <a16:creationId xmlns:a16="http://schemas.microsoft.com/office/drawing/2014/main" id="{D2244A65-E06D-499B-A130-6893215962EB}"/>
              </a:ext>
            </a:extLst>
          </p:cNvPr>
          <p:cNvSpPr>
            <a:spLocks noGrp="1" noRot="1" noChangeAspect="1" noChangeArrowheads="1" noTextEdit="1"/>
          </p:cNvSpPr>
          <p:nvPr>
            <p:ph type="sldImg"/>
          </p:nvPr>
        </p:nvSpPr>
        <p:spPr>
          <a:solidFill>
            <a:srgbClr val="FFFFFF"/>
          </a:solidFill>
          <a:ln/>
        </p:spPr>
      </p:sp>
      <p:sp>
        <p:nvSpPr>
          <p:cNvPr id="353283" name="Rectangle 3">
            <a:extLst>
              <a:ext uri="{FF2B5EF4-FFF2-40B4-BE49-F238E27FC236}">
                <a16:creationId xmlns:a16="http://schemas.microsoft.com/office/drawing/2014/main" id="{339C6E30-1E5C-427A-AD10-5BFF5628CE2D}"/>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defRPr/>
            </a:pPr>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3AF246E-CE3D-4229-BF8C-EDB90EDD771C}"/>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F576DAF4-1B0C-47D2-9508-D6C15F35E230}" type="slidenum">
              <a:rPr lang="en-US" altLang="zh-CN" smtClean="0"/>
              <a:pPr fontAlgn="base">
                <a:spcBef>
                  <a:spcPct val="0"/>
                </a:spcBef>
                <a:spcAft>
                  <a:spcPct val="0"/>
                </a:spcAft>
              </a:pPr>
              <a:t>29</a:t>
            </a:fld>
            <a:endParaRPr lang="en-US" altLang="zh-CN"/>
          </a:p>
        </p:txBody>
      </p:sp>
      <p:sp>
        <p:nvSpPr>
          <p:cNvPr id="47107" name="Rectangle 2">
            <a:extLst>
              <a:ext uri="{FF2B5EF4-FFF2-40B4-BE49-F238E27FC236}">
                <a16:creationId xmlns:a16="http://schemas.microsoft.com/office/drawing/2014/main" id="{D4F1629C-65E6-44B5-96EA-A68917385AB9}"/>
              </a:ext>
            </a:extLst>
          </p:cNvPr>
          <p:cNvSpPr>
            <a:spLocks noGrp="1" noRot="1" noChangeAspect="1" noChangeArrowheads="1" noTextEdit="1"/>
          </p:cNvSpPr>
          <p:nvPr>
            <p:ph type="sldImg"/>
          </p:nvPr>
        </p:nvSpPr>
        <p:spPr>
          <a:solidFill>
            <a:srgbClr val="FFFFFF"/>
          </a:solidFill>
          <a:ln/>
        </p:spPr>
      </p:sp>
      <p:sp>
        <p:nvSpPr>
          <p:cNvPr id="47108" name="Rectangle 3">
            <a:extLst>
              <a:ext uri="{FF2B5EF4-FFF2-40B4-BE49-F238E27FC236}">
                <a16:creationId xmlns:a16="http://schemas.microsoft.com/office/drawing/2014/main" id="{AFFFAE7D-28C8-40E4-BF60-8FDCE5120D23}"/>
              </a:ext>
            </a:extLst>
          </p:cNvPr>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a:extLst>
              <a:ext uri="{FF2B5EF4-FFF2-40B4-BE49-F238E27FC236}">
                <a16:creationId xmlns:a16="http://schemas.microsoft.com/office/drawing/2014/main" id="{03F1EE05-B368-4A63-B44B-E8B40DC58256}"/>
              </a:ext>
            </a:extLst>
          </p:cNvPr>
          <p:cNvSpPr>
            <a:spLocks noGrp="1" noRot="1" noChangeAspect="1" noChangeArrowheads="1" noTextEdit="1"/>
          </p:cNvSpPr>
          <p:nvPr>
            <p:ph type="sldImg"/>
          </p:nvPr>
        </p:nvSpPr>
        <p:spPr>
          <a:ln/>
        </p:spPr>
      </p:sp>
      <p:sp>
        <p:nvSpPr>
          <p:cNvPr id="53251" name="备注占位符 2">
            <a:extLst>
              <a:ext uri="{FF2B5EF4-FFF2-40B4-BE49-F238E27FC236}">
                <a16:creationId xmlns:a16="http://schemas.microsoft.com/office/drawing/2014/main" id="{0A2F29DF-8E8A-4BAF-A691-6DD18EC6C97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ea typeface="等线" panose="02010600030101010101" pitchFamily="2" charset="-122"/>
              <a:cs typeface="Times New Roman" panose="02020603050405020304" pitchFamily="18" charset="0"/>
            </a:endParaRPr>
          </a:p>
        </p:txBody>
      </p:sp>
      <p:sp>
        <p:nvSpPr>
          <p:cNvPr id="53252" name="灯片编号占位符 3">
            <a:extLst>
              <a:ext uri="{FF2B5EF4-FFF2-40B4-BE49-F238E27FC236}">
                <a16:creationId xmlns:a16="http://schemas.microsoft.com/office/drawing/2014/main" id="{2E39E958-1D24-4171-9733-0361B2B6E8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F75D7C84-F700-40A6-BBE6-12106B89D7E7}" type="slidenum">
              <a:rPr lang="en-US" altLang="zh-CN" smtClean="0">
                <a:latin typeface="Arial" panose="020B0604020202020204" pitchFamily="34" charset="0"/>
                <a:ea typeface="宋体" panose="02010600030101010101" pitchFamily="2" charset="-122"/>
              </a:rPr>
              <a:pPr fontAlgn="base">
                <a:spcBef>
                  <a:spcPct val="0"/>
                </a:spcBef>
                <a:spcAft>
                  <a:spcPct val="0"/>
                </a:spcAft>
              </a:pPr>
              <a:t>33</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3AD04B3D-32CB-47B2-B43B-A69679064290}"/>
              </a:ext>
            </a:extLst>
          </p:cNvPr>
          <p:cNvSpPr>
            <a:spLocks noGrp="1" noRot="1" noChangeAspect="1" noChangeArrowheads="1" noTextEdit="1"/>
          </p:cNvSpPr>
          <p:nvPr>
            <p:ph type="sldImg"/>
          </p:nvPr>
        </p:nvSpPr>
        <p:spPr>
          <a:ln/>
        </p:spPr>
      </p:sp>
      <p:sp>
        <p:nvSpPr>
          <p:cNvPr id="62467" name="备注占位符 2">
            <a:extLst>
              <a:ext uri="{FF2B5EF4-FFF2-40B4-BE49-F238E27FC236}">
                <a16:creationId xmlns:a16="http://schemas.microsoft.com/office/drawing/2014/main" id="{2E2C42FD-506E-42DB-8C19-ACC222FAAB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int </a:t>
            </a:r>
            <a:r>
              <a:rPr lang="en-US" altLang="zh-CN" dirty="0" err="1"/>
              <a:t>seqsearch</a:t>
            </a:r>
            <a:r>
              <a:rPr lang="en-US" altLang="zh-CN" dirty="0"/>
              <a:t> ( int a[ ], const int n, const int x ) {  //</a:t>
            </a:r>
            <a:r>
              <a:rPr lang="zh-CN" altLang="en-US" dirty="0"/>
              <a:t>在</a:t>
            </a:r>
            <a:r>
              <a:rPr lang="en-US" altLang="zh-CN" dirty="0"/>
              <a:t>a[0],…,a[n-1]</a:t>
            </a:r>
            <a:r>
              <a:rPr lang="zh-CN" altLang="en-US" dirty="0"/>
              <a:t>中搜索</a:t>
            </a:r>
            <a:r>
              <a:rPr lang="en-US" altLang="zh-CN" dirty="0"/>
              <a:t>x</a:t>
            </a:r>
          </a:p>
          <a:p>
            <a:r>
              <a:rPr lang="en-US" altLang="zh-CN" dirty="0"/>
              <a:t>    int </a:t>
            </a:r>
            <a:r>
              <a:rPr lang="en-US" altLang="zh-CN" dirty="0" err="1"/>
              <a:t>i</a:t>
            </a:r>
            <a:r>
              <a:rPr lang="en-US" altLang="zh-CN" dirty="0"/>
              <a:t> ;</a:t>
            </a:r>
          </a:p>
          <a:p>
            <a:r>
              <a:rPr lang="en-US" altLang="zh-CN" dirty="0"/>
              <a:t>    for (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a:t>
            </a:r>
          </a:p>
          <a:p>
            <a:r>
              <a:rPr lang="en-US" altLang="zh-CN" dirty="0"/>
              <a:t>       if ( a[</a:t>
            </a:r>
            <a:r>
              <a:rPr lang="en-US" altLang="zh-CN" dirty="0" err="1"/>
              <a:t>i</a:t>
            </a:r>
            <a:r>
              <a:rPr lang="en-US" altLang="zh-CN" dirty="0"/>
              <a:t>] == x ) break;</a:t>
            </a:r>
          </a:p>
          <a:p>
            <a:r>
              <a:rPr lang="en-US" altLang="zh-CN" dirty="0"/>
              <a:t>    if ( </a:t>
            </a:r>
            <a:r>
              <a:rPr lang="en-US" altLang="zh-CN" dirty="0" err="1"/>
              <a:t>i</a:t>
            </a:r>
            <a:r>
              <a:rPr lang="en-US" altLang="zh-CN" dirty="0"/>
              <a:t> == n ) return -1;</a:t>
            </a:r>
          </a:p>
          <a:p>
            <a:r>
              <a:rPr lang="en-US" altLang="zh-CN" dirty="0"/>
              <a:t>    else return </a:t>
            </a:r>
            <a:r>
              <a:rPr lang="en-US" altLang="zh-CN" dirty="0" err="1"/>
              <a:t>i</a:t>
            </a:r>
            <a:r>
              <a:rPr lang="en-US" altLang="zh-CN" dirty="0"/>
              <a:t>;</a:t>
            </a:r>
          </a:p>
          <a:p>
            <a:r>
              <a:rPr lang="en-US" altLang="zh-CN" dirty="0"/>
              <a:t>}</a:t>
            </a:r>
            <a:endParaRPr lang="zh-CN" altLang="en-US" dirty="0"/>
          </a:p>
        </p:txBody>
      </p:sp>
      <p:sp>
        <p:nvSpPr>
          <p:cNvPr id="4" name="灯片编号占位符 3">
            <a:extLst>
              <a:ext uri="{FF2B5EF4-FFF2-40B4-BE49-F238E27FC236}">
                <a16:creationId xmlns:a16="http://schemas.microsoft.com/office/drawing/2014/main" id="{1CFD97BC-A321-4D5D-A1F3-046DACA9AF8E}"/>
              </a:ext>
            </a:extLst>
          </p:cNvPr>
          <p:cNvSpPr>
            <a:spLocks noGrp="1"/>
          </p:cNvSpPr>
          <p:nvPr>
            <p:ph type="sldNum" sz="quarter" idx="5"/>
          </p:nvPr>
        </p:nvSpPr>
        <p:spPr/>
        <p:txBody>
          <a:bodyPr/>
          <a:lstStyle/>
          <a:p>
            <a:pPr>
              <a:defRPr/>
            </a:pPr>
            <a:fld id="{2FCB5918-FCA7-4FFD-9452-B295296B3E59}" type="slidenum">
              <a:rPr lang="en-US" altLang="zh-CN" smtClean="0"/>
              <a:pPr>
                <a:defRPr/>
              </a:pPr>
              <a:t>39</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a:extLst>
              <a:ext uri="{FF2B5EF4-FFF2-40B4-BE49-F238E27FC236}">
                <a16:creationId xmlns:a16="http://schemas.microsoft.com/office/drawing/2014/main" id="{E9050198-81FB-47D0-B173-CDC5613AA802}"/>
              </a:ext>
            </a:extLst>
          </p:cNvPr>
          <p:cNvSpPr>
            <a:spLocks noGrp="1" noRot="1" noChangeAspect="1" noChangeArrowheads="1" noTextEdit="1"/>
          </p:cNvSpPr>
          <p:nvPr>
            <p:ph type="sldImg"/>
          </p:nvPr>
        </p:nvSpPr>
        <p:spPr>
          <a:ln/>
        </p:spPr>
      </p:sp>
      <p:sp>
        <p:nvSpPr>
          <p:cNvPr id="66563" name="备注占位符 2">
            <a:extLst>
              <a:ext uri="{FF2B5EF4-FFF2-40B4-BE49-F238E27FC236}">
                <a16:creationId xmlns:a16="http://schemas.microsoft.com/office/drawing/2014/main" id="{E5A4CFF5-E153-41F4-BEA0-897F784911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a:extLst>
              <a:ext uri="{FF2B5EF4-FFF2-40B4-BE49-F238E27FC236}">
                <a16:creationId xmlns:a16="http://schemas.microsoft.com/office/drawing/2014/main" id="{0499783B-24D2-4571-B3FF-00D1C3857B30}"/>
              </a:ext>
            </a:extLst>
          </p:cNvPr>
          <p:cNvSpPr>
            <a:spLocks noGrp="1"/>
          </p:cNvSpPr>
          <p:nvPr>
            <p:ph type="sldNum" sz="quarter" idx="5"/>
          </p:nvPr>
        </p:nvSpPr>
        <p:spPr/>
        <p:txBody>
          <a:bodyPr/>
          <a:lstStyle/>
          <a:p>
            <a:pPr>
              <a:defRPr/>
            </a:pPr>
            <a:fld id="{D4D67383-E144-4F24-94DE-D96AD0E3E523}" type="slidenum">
              <a:rPr lang="en-US" altLang="zh-CN" smtClean="0"/>
              <a:pPr>
                <a:defRPr/>
              </a:pPr>
              <a:t>42</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6D9ADF0C-BA61-4A74-8F8D-E87073560127}"/>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938ABBAA-A944-4590-A188-4A1309BB38AB}"/>
              </a:ext>
            </a:extLst>
          </p:cNvPr>
          <p:cNvSpPr>
            <a:spLocks noGrp="1"/>
          </p:cNvSpPr>
          <p:nvPr>
            <p:ph type="body" idx="1"/>
          </p:nvPr>
        </p:nvSpPr>
        <p:spPr/>
        <p:txBody>
          <a:bodyPr/>
          <a:lstStyle/>
          <a:p>
            <a:pPr>
              <a:defRPr/>
            </a:pPr>
            <a:endParaRPr lang="zh-CN" altLang="en-US" dirty="0"/>
          </a:p>
        </p:txBody>
      </p:sp>
      <p:sp>
        <p:nvSpPr>
          <p:cNvPr id="74756" name="灯片编号占位符 3">
            <a:extLst>
              <a:ext uri="{FF2B5EF4-FFF2-40B4-BE49-F238E27FC236}">
                <a16:creationId xmlns:a16="http://schemas.microsoft.com/office/drawing/2014/main" id="{413CA7E8-2158-4D8B-886C-C945FC710B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CC78BD46-8AA5-4D5B-B43E-9F6F63D42598}" type="slidenum">
              <a:rPr lang="en-US" altLang="zh-CN" smtClean="0">
                <a:latin typeface="Arial" panose="020B0604020202020204" pitchFamily="34" charset="0"/>
                <a:ea typeface="宋体" panose="02010600030101010101" pitchFamily="2" charset="-122"/>
              </a:rPr>
              <a:pPr fontAlgn="base">
                <a:spcBef>
                  <a:spcPct val="0"/>
                </a:spcBef>
                <a:spcAft>
                  <a:spcPct val="0"/>
                </a:spcAft>
              </a:pPr>
              <a:t>49</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a:extLst>
              <a:ext uri="{FF2B5EF4-FFF2-40B4-BE49-F238E27FC236}">
                <a16:creationId xmlns:a16="http://schemas.microsoft.com/office/drawing/2014/main" id="{F8C19874-4298-4FBC-9537-BF8794E00ECD}"/>
              </a:ext>
            </a:extLst>
          </p:cNvPr>
          <p:cNvSpPr>
            <a:spLocks noGrp="1" noRot="1" noChangeAspect="1" noChangeArrowheads="1" noTextEdit="1"/>
          </p:cNvSpPr>
          <p:nvPr>
            <p:ph type="sldImg"/>
          </p:nvPr>
        </p:nvSpPr>
        <p:spPr>
          <a:xfrm>
            <a:off x="992188" y="768350"/>
            <a:ext cx="5114925" cy="3836988"/>
          </a:xfrm>
          <a:ln/>
        </p:spPr>
      </p:sp>
      <p:sp>
        <p:nvSpPr>
          <p:cNvPr id="59395" name="备注占位符 2">
            <a:extLst>
              <a:ext uri="{FF2B5EF4-FFF2-40B4-BE49-F238E27FC236}">
                <a16:creationId xmlns:a16="http://schemas.microsoft.com/office/drawing/2014/main" id="{766E6C30-2075-4371-93C4-9534E571A37E}"/>
              </a:ext>
            </a:extLst>
          </p:cNvPr>
          <p:cNvSpPr>
            <a:spLocks noGrp="1" noChangeArrowheads="1"/>
          </p:cNvSpPr>
          <p:nvPr>
            <p:ph type="body" idx="1"/>
          </p:nvPr>
        </p:nvSpPr>
        <p:spPr/>
        <p:txBody>
          <a:bodyPr/>
          <a:lstStyle/>
          <a:p>
            <a:pPr>
              <a:defRPr/>
            </a:pPr>
            <a:endParaRPr lang="zh-CN" altLang="en-US" dirty="0"/>
          </a:p>
        </p:txBody>
      </p:sp>
      <p:sp>
        <p:nvSpPr>
          <p:cNvPr id="76804" name="灯片编号占位符 3">
            <a:extLst>
              <a:ext uri="{FF2B5EF4-FFF2-40B4-BE49-F238E27FC236}">
                <a16:creationId xmlns:a16="http://schemas.microsoft.com/office/drawing/2014/main" id="{2267EC4A-74D3-4F28-B0FE-3320B20D719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5AF75ABD-1D35-46C5-B9B0-8DC377566CE6}" type="slidenum">
              <a:rPr lang="en-US" altLang="zh-CN" smtClean="0">
                <a:latin typeface="Arial" panose="020B0604020202020204" pitchFamily="34" charset="0"/>
                <a:ea typeface="宋体" panose="02010600030101010101" pitchFamily="2" charset="-122"/>
              </a:rPr>
              <a:pPr fontAlgn="base">
                <a:spcBef>
                  <a:spcPct val="0"/>
                </a:spcBef>
                <a:spcAft>
                  <a:spcPct val="0"/>
                </a:spcAft>
              </a:pPr>
              <a:t>50</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a:extLst>
              <a:ext uri="{FF2B5EF4-FFF2-40B4-BE49-F238E27FC236}">
                <a16:creationId xmlns:a16="http://schemas.microsoft.com/office/drawing/2014/main" id="{F9E99EDE-BAD2-496A-9405-34E3F002BCFC}"/>
              </a:ext>
            </a:extLst>
          </p:cNvPr>
          <p:cNvSpPr>
            <a:spLocks noGrp="1" noRot="1" noChangeAspect="1" noChangeArrowheads="1" noTextEdit="1"/>
          </p:cNvSpPr>
          <p:nvPr>
            <p:ph type="sldImg"/>
          </p:nvPr>
        </p:nvSpPr>
        <p:spPr>
          <a:ln/>
        </p:spPr>
      </p:sp>
      <p:sp>
        <p:nvSpPr>
          <p:cNvPr id="78851" name="备注占位符 2">
            <a:extLst>
              <a:ext uri="{FF2B5EF4-FFF2-40B4-BE49-F238E27FC236}">
                <a16:creationId xmlns:a16="http://schemas.microsoft.com/office/drawing/2014/main" id="{DE8A68AD-DA94-4FE3-A3EE-8FE4C94FE23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a:extLst>
              <a:ext uri="{FF2B5EF4-FFF2-40B4-BE49-F238E27FC236}">
                <a16:creationId xmlns:a16="http://schemas.microsoft.com/office/drawing/2014/main" id="{13E50B71-CCCA-438A-9CD8-63F13C16A5C6}"/>
              </a:ext>
            </a:extLst>
          </p:cNvPr>
          <p:cNvSpPr>
            <a:spLocks noGrp="1"/>
          </p:cNvSpPr>
          <p:nvPr>
            <p:ph type="sldNum" sz="quarter" idx="5"/>
          </p:nvPr>
        </p:nvSpPr>
        <p:spPr/>
        <p:txBody>
          <a:bodyPr/>
          <a:lstStyle/>
          <a:p>
            <a:pPr>
              <a:defRPr/>
            </a:pPr>
            <a:fld id="{8D7C70B9-D0A1-4668-91C3-09029C91F7F3}" type="slidenum">
              <a:rPr lang="en-US" altLang="zh-CN" smtClean="0"/>
              <a:pPr>
                <a:defRPr/>
              </a:pPr>
              <a:t>52</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881560-AFAC-4822-B616-FEB203177C9B}" type="slidenum">
              <a:rPr lang="en-US" altLang="zh-CN"/>
              <a:pPr/>
              <a:t>56</a:t>
            </a:fld>
            <a:endParaRPr lang="en-US" altLang="zh-CN"/>
          </a:p>
        </p:txBody>
      </p:sp>
      <p:sp>
        <p:nvSpPr>
          <p:cNvPr id="362498" name="Rectangle 2"/>
          <p:cNvSpPr>
            <a:spLocks noGrp="1" noRot="1" noChangeAspect="1" noChangeArrowheads="1" noTextEdit="1"/>
          </p:cNvSpPr>
          <p:nvPr>
            <p:ph type="sldImg"/>
          </p:nvPr>
        </p:nvSpPr>
        <p:spPr>
          <a:xfrm>
            <a:off x="992188" y="768350"/>
            <a:ext cx="5114925" cy="3836988"/>
          </a:xfrm>
          <a:ln/>
        </p:spPr>
      </p:sp>
      <p:sp>
        <p:nvSpPr>
          <p:cNvPr id="362499" name="Rectangle 3"/>
          <p:cNvSpPr>
            <a:spLocks noGrp="1" noChangeArrowheads="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实际程序声明中，“</a:t>
            </a:r>
            <a:r>
              <a:rPr lang="en-US" altLang="zh-CN" dirty="0"/>
              <a:t>void </a:t>
            </a:r>
            <a:r>
              <a:rPr lang="en-US" altLang="zh-CN" dirty="0" err="1"/>
              <a:t>MatMul</a:t>
            </a:r>
            <a:r>
              <a:rPr lang="en-US" altLang="zh-CN" dirty="0"/>
              <a:t>(int A[n][n], int B[n][n], int C[n][n])</a:t>
            </a:r>
            <a:r>
              <a:rPr lang="zh-CN" altLang="en-US" dirty="0"/>
              <a:t>”的</a:t>
            </a:r>
            <a:r>
              <a:rPr lang="en-US" altLang="zh-CN" dirty="0"/>
              <a:t>n</a:t>
            </a:r>
            <a:r>
              <a:rPr lang="zh-CN" altLang="en-US" dirty="0"/>
              <a:t>要用常量代替</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9C1413E9-7E7B-4C43-B7DA-4011DA4A93B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5947810-191C-4713-A217-4DF8BEE5DBC0}" type="slidenum">
              <a:rPr lang="en-US" altLang="zh-CN" smtClean="0">
                <a:latin typeface="Arial" panose="020B0604020202020204" pitchFamily="34" charset="0"/>
                <a:ea typeface="宋体" panose="02010600030101010101" pitchFamily="2" charset="-122"/>
              </a:rPr>
              <a:pPr fontAlgn="base">
                <a:spcBef>
                  <a:spcPct val="0"/>
                </a:spcBef>
                <a:spcAft>
                  <a:spcPct val="0"/>
                </a:spcAft>
              </a:pPr>
              <a:t>57</a:t>
            </a:fld>
            <a:endParaRPr lang="en-US" altLang="zh-CN">
              <a:latin typeface="Arial" panose="020B0604020202020204" pitchFamily="34" charset="0"/>
              <a:ea typeface="宋体" panose="02010600030101010101" pitchFamily="2" charset="-122"/>
            </a:endParaRPr>
          </a:p>
        </p:txBody>
      </p:sp>
      <p:sp>
        <p:nvSpPr>
          <p:cNvPr id="84995" name="Rectangle 2">
            <a:extLst>
              <a:ext uri="{FF2B5EF4-FFF2-40B4-BE49-F238E27FC236}">
                <a16:creationId xmlns:a16="http://schemas.microsoft.com/office/drawing/2014/main" id="{BA3AD751-87A3-4EB9-97D5-CE4F0B0C5578}"/>
              </a:ext>
            </a:extLst>
          </p:cNvPr>
          <p:cNvSpPr>
            <a:spLocks noGrp="1" noRot="1" noChangeAspect="1" noChangeArrowheads="1" noTextEdit="1"/>
          </p:cNvSpPr>
          <p:nvPr>
            <p:ph type="sldImg"/>
          </p:nvPr>
        </p:nvSpPr>
        <p:spPr>
          <a:xfrm>
            <a:off x="992188" y="768350"/>
            <a:ext cx="5114925" cy="3836988"/>
          </a:xfrm>
          <a:ln/>
        </p:spPr>
      </p:sp>
      <p:sp>
        <p:nvSpPr>
          <p:cNvPr id="84996" name="Rectangle 3">
            <a:extLst>
              <a:ext uri="{FF2B5EF4-FFF2-40B4-BE49-F238E27FC236}">
                <a16:creationId xmlns:a16="http://schemas.microsoft.com/office/drawing/2014/main" id="{4E24486F-204C-4846-B0B8-0CC172A919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a:extLst>
              <a:ext uri="{FF2B5EF4-FFF2-40B4-BE49-F238E27FC236}">
                <a16:creationId xmlns:a16="http://schemas.microsoft.com/office/drawing/2014/main" id="{AE9B754C-3B40-4339-BB44-56E340E28CB8}"/>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B18290F5-D223-4660-8A77-F8AF1A84DEDC}"/>
              </a:ext>
            </a:extLst>
          </p:cNvPr>
          <p:cNvSpPr>
            <a:spLocks noGrp="1"/>
          </p:cNvSpPr>
          <p:nvPr>
            <p:ph type="body" idx="1"/>
          </p:nvPr>
        </p:nvSpPr>
        <p:spPr/>
        <p:txBody>
          <a:bodyPr/>
          <a:lstStyle/>
          <a:p>
            <a:pPr>
              <a:defRPr/>
            </a:pPr>
            <a:endParaRPr lang="zh-CN" altLang="en-US" dirty="0"/>
          </a:p>
        </p:txBody>
      </p:sp>
      <p:sp>
        <p:nvSpPr>
          <p:cNvPr id="87044" name="灯片编号占位符 3">
            <a:extLst>
              <a:ext uri="{FF2B5EF4-FFF2-40B4-BE49-F238E27FC236}">
                <a16:creationId xmlns:a16="http://schemas.microsoft.com/office/drawing/2014/main" id="{33B59FAA-F084-433E-B4B4-A966D678932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338EC884-57C1-42BF-BE43-B3A13F72C31F}" type="slidenum">
              <a:rPr lang="en-US" altLang="zh-CN" smtClean="0">
                <a:latin typeface="Arial" panose="020B0604020202020204" pitchFamily="34" charset="0"/>
                <a:ea typeface="宋体" panose="02010600030101010101" pitchFamily="2" charset="-122"/>
              </a:rPr>
              <a:pPr fontAlgn="base">
                <a:spcBef>
                  <a:spcPct val="0"/>
                </a:spcBef>
                <a:spcAft>
                  <a:spcPct val="0"/>
                </a:spcAft>
              </a:pPr>
              <a:t>58</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59158E4-DFAF-47BE-8FFA-72F862628B23}" type="slidenum">
              <a:rPr lang="en-US" altLang="zh-CN"/>
              <a:pPr/>
              <a:t>64</a:t>
            </a:fld>
            <a:endParaRPr lang="en-US" altLang="zh-CN"/>
          </a:p>
        </p:txBody>
      </p:sp>
      <p:sp>
        <p:nvSpPr>
          <p:cNvPr id="334850" name="Rectangle 2"/>
          <p:cNvSpPr>
            <a:spLocks noGrp="1" noRot="1" noChangeAspect="1" noChangeArrowheads="1" noTextEdit="1"/>
          </p:cNvSpPr>
          <p:nvPr>
            <p:ph type="sldImg"/>
          </p:nvPr>
        </p:nvSpPr>
        <p:spPr>
          <a:xfrm>
            <a:off x="992188" y="768350"/>
            <a:ext cx="5114925" cy="3836988"/>
          </a:xfrm>
          <a:ln/>
        </p:spPr>
      </p:sp>
      <p:sp>
        <p:nvSpPr>
          <p:cNvPr id="334851"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D5AB9D-BC8A-468B-A2A3-CFB920323EC5}" type="slidenum">
              <a:rPr lang="en-US" altLang="zh-CN"/>
              <a:pPr/>
              <a:t>65</a:t>
            </a:fld>
            <a:endParaRPr lang="en-US" altLang="zh-CN"/>
          </a:p>
        </p:txBody>
      </p:sp>
      <p:sp>
        <p:nvSpPr>
          <p:cNvPr id="336898" name="Rectangle 2"/>
          <p:cNvSpPr>
            <a:spLocks noGrp="1" noRot="1" noChangeAspect="1" noChangeArrowheads="1" noTextEdit="1"/>
          </p:cNvSpPr>
          <p:nvPr>
            <p:ph type="sldImg"/>
          </p:nvPr>
        </p:nvSpPr>
        <p:spPr>
          <a:xfrm>
            <a:off x="992188" y="768350"/>
            <a:ext cx="5114925" cy="3836988"/>
          </a:xfrm>
          <a:ln/>
        </p:spPr>
      </p:sp>
      <p:sp>
        <p:nvSpPr>
          <p:cNvPr id="336899"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a:extLst>
              <a:ext uri="{FF2B5EF4-FFF2-40B4-BE49-F238E27FC236}">
                <a16:creationId xmlns:a16="http://schemas.microsoft.com/office/drawing/2014/main" id="{E59F1E3B-B017-4A6F-9E2F-9ACF5879B62A}"/>
              </a:ext>
            </a:extLst>
          </p:cNvPr>
          <p:cNvSpPr>
            <a:spLocks noGrp="1" noRot="1" noChangeAspect="1" noChangeArrowheads="1" noTextEdit="1"/>
          </p:cNvSpPr>
          <p:nvPr>
            <p:ph type="sldImg"/>
          </p:nvPr>
        </p:nvSpPr>
        <p:spPr>
          <a:ln/>
        </p:spPr>
      </p:sp>
      <p:sp>
        <p:nvSpPr>
          <p:cNvPr id="3" name="备注占位符 2">
            <a:extLst>
              <a:ext uri="{FF2B5EF4-FFF2-40B4-BE49-F238E27FC236}">
                <a16:creationId xmlns:a16="http://schemas.microsoft.com/office/drawing/2014/main" id="{ECF924AE-C776-4330-9BFB-0173A80FB4F8}"/>
              </a:ext>
            </a:extLst>
          </p:cNvPr>
          <p:cNvSpPr>
            <a:spLocks noGrp="1"/>
          </p:cNvSpPr>
          <p:nvPr>
            <p:ph type="body" idx="1"/>
          </p:nvPr>
        </p:nvSpPr>
        <p:spPr/>
        <p:txBody>
          <a:bodyPr/>
          <a:lstStyle/>
          <a:p>
            <a:pPr algn="just">
              <a:defRPr/>
            </a:pPr>
            <a:endParaRPr lang="zh-CN" altLang="zh-CN" sz="18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1779A08-F8BA-4729-BE7A-6E26CCAFBFD8}"/>
              </a:ext>
            </a:extLst>
          </p:cNvPr>
          <p:cNvSpPr>
            <a:spLocks noGrp="1"/>
          </p:cNvSpPr>
          <p:nvPr>
            <p:ph type="sldNum" sz="quarter" idx="5"/>
          </p:nvPr>
        </p:nvSpPr>
        <p:spPr/>
        <p:txBody>
          <a:bodyPr/>
          <a:lstStyle/>
          <a:p>
            <a:pPr>
              <a:defRPr/>
            </a:pPr>
            <a:fld id="{B7B2D111-8268-47A7-9FC9-93655C1A42D4}" type="slidenum">
              <a:rPr lang="en-US" altLang="zh-CN" smtClean="0"/>
              <a:pPr>
                <a:defRPr/>
              </a:pPr>
              <a:t>69</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2E93D2D5-199B-45C3-9854-0FD6CE7E97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414B32B1-C9EC-4520-B479-5BB0B29F71BD}" type="slidenum">
              <a:rPr lang="en-US" altLang="zh-CN" smtClean="0">
                <a:latin typeface="Arial" panose="020B0604020202020204" pitchFamily="34" charset="0"/>
                <a:ea typeface="宋体" panose="02010600030101010101" pitchFamily="2" charset="-122"/>
              </a:rPr>
              <a:pPr fontAlgn="base">
                <a:spcBef>
                  <a:spcPct val="0"/>
                </a:spcBef>
                <a:spcAft>
                  <a:spcPct val="0"/>
                </a:spcAft>
              </a:pPr>
              <a:t>71</a:t>
            </a:fld>
            <a:endParaRPr lang="en-US" altLang="zh-CN">
              <a:latin typeface="Arial" panose="020B0604020202020204" pitchFamily="34" charset="0"/>
              <a:ea typeface="宋体" panose="02010600030101010101" pitchFamily="2" charset="-122"/>
            </a:endParaRPr>
          </a:p>
        </p:txBody>
      </p:sp>
      <p:sp>
        <p:nvSpPr>
          <p:cNvPr id="100355" name="Rectangle 2">
            <a:extLst>
              <a:ext uri="{FF2B5EF4-FFF2-40B4-BE49-F238E27FC236}">
                <a16:creationId xmlns:a16="http://schemas.microsoft.com/office/drawing/2014/main" id="{A68BDA99-05CC-475E-BAA5-29267D55641E}"/>
              </a:ext>
            </a:extLst>
          </p:cNvPr>
          <p:cNvSpPr>
            <a:spLocks noGrp="1" noRot="1" noChangeAspect="1" noChangeArrowheads="1" noTextEdit="1"/>
          </p:cNvSpPr>
          <p:nvPr>
            <p:ph type="sldImg"/>
          </p:nvPr>
        </p:nvSpPr>
        <p:spPr>
          <a:xfrm>
            <a:off x="992188" y="768350"/>
            <a:ext cx="5114925" cy="3836988"/>
          </a:xfrm>
          <a:ln/>
        </p:spPr>
      </p:sp>
      <p:sp>
        <p:nvSpPr>
          <p:cNvPr id="100356" name="Rectangle 3">
            <a:extLst>
              <a:ext uri="{FF2B5EF4-FFF2-40B4-BE49-F238E27FC236}">
                <a16:creationId xmlns:a16="http://schemas.microsoft.com/office/drawing/2014/main" id="{6271BC29-0714-44E0-9597-74D63B5B4AE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a:extLst>
              <a:ext uri="{FF2B5EF4-FFF2-40B4-BE49-F238E27FC236}">
                <a16:creationId xmlns:a16="http://schemas.microsoft.com/office/drawing/2014/main" id="{A96FC1A4-D13A-4252-98D1-19398E69C8ED}"/>
              </a:ext>
            </a:extLst>
          </p:cNvPr>
          <p:cNvSpPr>
            <a:spLocks noGrp="1" noRot="1" noChangeAspect="1" noChangeArrowheads="1" noTextEdit="1"/>
          </p:cNvSpPr>
          <p:nvPr>
            <p:ph type="sldImg"/>
          </p:nvPr>
        </p:nvSpPr>
        <p:spPr>
          <a:ln/>
        </p:spPr>
      </p:sp>
      <p:sp>
        <p:nvSpPr>
          <p:cNvPr id="102403" name="备注占位符 2">
            <a:extLst>
              <a:ext uri="{FF2B5EF4-FFF2-40B4-BE49-F238E27FC236}">
                <a16:creationId xmlns:a16="http://schemas.microsoft.com/office/drawing/2014/main" id="{4554DA72-596C-4EC8-861A-E3AE69DF078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4" name="灯片编号占位符 3">
            <a:extLst>
              <a:ext uri="{FF2B5EF4-FFF2-40B4-BE49-F238E27FC236}">
                <a16:creationId xmlns:a16="http://schemas.microsoft.com/office/drawing/2014/main" id="{B79FF682-DB10-48DB-80DF-42993E88CD5A}"/>
              </a:ext>
            </a:extLst>
          </p:cNvPr>
          <p:cNvSpPr>
            <a:spLocks noGrp="1"/>
          </p:cNvSpPr>
          <p:nvPr>
            <p:ph type="sldNum" sz="quarter" idx="5"/>
          </p:nvPr>
        </p:nvSpPr>
        <p:spPr/>
        <p:txBody>
          <a:bodyPr/>
          <a:lstStyle/>
          <a:p>
            <a:pPr>
              <a:defRPr/>
            </a:pPr>
            <a:fld id="{C73AA0BE-E4AA-4E90-AA3D-0C54817CE5D2}" type="slidenum">
              <a:rPr lang="en-US" altLang="zh-CN" smtClean="0"/>
              <a:pPr>
                <a:defRPr/>
              </a:pPr>
              <a:t>72</a:t>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a:extLst>
              <a:ext uri="{FF2B5EF4-FFF2-40B4-BE49-F238E27FC236}">
                <a16:creationId xmlns:a16="http://schemas.microsoft.com/office/drawing/2014/main" id="{0B145E4A-2FA1-492E-808C-FFA3436D78D7}"/>
              </a:ext>
            </a:extLst>
          </p:cNvPr>
          <p:cNvSpPr>
            <a:spLocks noGrp="1" noRot="1" noChangeAspect="1" noChangeArrowheads="1" noTextEdit="1"/>
          </p:cNvSpPr>
          <p:nvPr>
            <p:ph type="sldImg"/>
          </p:nvPr>
        </p:nvSpPr>
        <p:spPr>
          <a:ln/>
        </p:spPr>
      </p:sp>
      <p:sp>
        <p:nvSpPr>
          <p:cNvPr id="105475" name="备注占位符 2">
            <a:extLst>
              <a:ext uri="{FF2B5EF4-FFF2-40B4-BE49-F238E27FC236}">
                <a16:creationId xmlns:a16="http://schemas.microsoft.com/office/drawing/2014/main" id="{537B7DAE-A3C4-4CC6-A305-F911FB2546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a:extLst>
              <a:ext uri="{FF2B5EF4-FFF2-40B4-BE49-F238E27FC236}">
                <a16:creationId xmlns:a16="http://schemas.microsoft.com/office/drawing/2014/main" id="{D6E80C07-0C73-468D-A633-68EDA55C2B4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EAB8545A-0B8B-47CD-93F3-4D2175310497}" type="slidenum">
              <a:rPr lang="en-US" altLang="zh-CN" smtClean="0">
                <a:latin typeface="Arial" panose="020B0604020202020204" pitchFamily="34" charset="0"/>
                <a:ea typeface="宋体" panose="02010600030101010101" pitchFamily="2" charset="-122"/>
              </a:rPr>
              <a:pPr fontAlgn="base">
                <a:spcBef>
                  <a:spcPct val="0"/>
                </a:spcBef>
                <a:spcAft>
                  <a:spcPct val="0"/>
                </a:spcAft>
              </a:pPr>
              <a:t>74</a:t>
            </a:fld>
            <a:endParaRPr lang="en-US" altLang="zh-CN">
              <a:latin typeface="Arial" panose="020B0604020202020204" pitchFamily="34"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92188" y="768350"/>
            <a:ext cx="5114925" cy="3836988"/>
          </a:xfrm>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60E6BD8-910F-4459-BEB3-45946A596297}" type="slidenum">
              <a:rPr lang="en-US" altLang="zh-CN" smtClean="0"/>
              <a:pPr/>
              <a:t>75</a:t>
            </a:fld>
            <a:endParaRPr lang="en-US" altLang="zh-CN"/>
          </a:p>
        </p:txBody>
      </p:sp>
    </p:spTree>
    <p:extLst>
      <p:ext uri="{BB962C8B-B14F-4D97-AF65-F5344CB8AC3E}">
        <p14:creationId xmlns:p14="http://schemas.microsoft.com/office/powerpoint/2010/main" val="38017456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7DEE42F-13F6-4A04-9666-9F187A4C8895}"/>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BE3DB297-8B41-41F2-B5AE-69C5978B201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B8F34E81-6E3F-4220-AE37-1BE9C96ADAE2}"/>
              </a:ext>
            </a:extLst>
          </p:cNvPr>
          <p:cNvSpPr>
            <a:spLocks noGrp="1"/>
          </p:cNvSpPr>
          <p:nvPr>
            <p:ph type="sldNum" sz="quarter" idx="12"/>
          </p:nvPr>
        </p:nvSpPr>
        <p:spPr/>
        <p:txBody>
          <a:bodyPr/>
          <a:lstStyle>
            <a:lvl1pPr>
              <a:defRPr/>
            </a:lvl1pPr>
          </a:lstStyle>
          <a:p>
            <a:pPr>
              <a:defRPr/>
            </a:pPr>
            <a:fld id="{58F93753-0936-4013-B471-F2B2BA380432}" type="slidenum">
              <a:rPr lang="en-US" altLang="zh-CN"/>
              <a:pPr>
                <a:defRPr/>
              </a:pPr>
              <a:t>‹#›</a:t>
            </a:fld>
            <a:endParaRPr lang="en-US" altLang="zh-CN"/>
          </a:p>
        </p:txBody>
      </p:sp>
    </p:spTree>
    <p:extLst>
      <p:ext uri="{BB962C8B-B14F-4D97-AF65-F5344CB8AC3E}">
        <p14:creationId xmlns:p14="http://schemas.microsoft.com/office/powerpoint/2010/main" val="3517650804"/>
      </p:ext>
    </p:extLst>
  </p:cSld>
  <p:clrMapOvr>
    <a:masterClrMapping/>
  </p:clrMapOvr>
  <p:transition>
    <p:spli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4400"/>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00000"/>
              </a:lnSpc>
              <a:defRPr sz="4000"/>
            </a:lvl1pPr>
            <a:lvl2pPr>
              <a:lnSpc>
                <a:spcPct val="100000"/>
              </a:lnSpc>
              <a:defRPr sz="3200"/>
            </a:lvl2pPr>
            <a:lvl3pPr>
              <a:lnSpc>
                <a:spcPct val="100000"/>
              </a:lnSpc>
              <a:defRPr sz="2800"/>
            </a:lvl3pPr>
            <a:lvl4pPr>
              <a:lnSpc>
                <a:spcPct val="100000"/>
              </a:lnSpc>
              <a:defRPr sz="1600"/>
            </a:lvl4pPr>
            <a:lvl5pPr>
              <a:lnSpc>
                <a:spcPct val="100000"/>
              </a:lnSpc>
              <a:defRPr sz="1600"/>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DFAE4DE4-37D3-4C1A-9DFC-973D2BD6EDDC}"/>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5DBC4F93-B0E0-4E05-80B9-123DC7746C3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37D8AC2B-C257-4FFB-8A83-5C64ECC99286}"/>
              </a:ext>
            </a:extLst>
          </p:cNvPr>
          <p:cNvSpPr>
            <a:spLocks noGrp="1"/>
          </p:cNvSpPr>
          <p:nvPr>
            <p:ph type="sldNum" sz="quarter" idx="12"/>
          </p:nvPr>
        </p:nvSpPr>
        <p:spPr/>
        <p:txBody>
          <a:bodyPr/>
          <a:lstStyle>
            <a:lvl1pPr>
              <a:defRPr/>
            </a:lvl1pPr>
          </a:lstStyle>
          <a:p>
            <a:pPr>
              <a:defRPr/>
            </a:pPr>
            <a:fld id="{91DF78C9-BDB5-4343-8491-3B6F2A8FA5EA}" type="slidenum">
              <a:rPr lang="en-US" altLang="zh-CN"/>
              <a:pPr>
                <a:defRPr/>
              </a:pPr>
              <a:t>‹#›</a:t>
            </a:fld>
            <a:endParaRPr lang="en-US" altLang="zh-CN"/>
          </a:p>
        </p:txBody>
      </p:sp>
    </p:spTree>
    <p:extLst>
      <p:ext uri="{BB962C8B-B14F-4D97-AF65-F5344CB8AC3E}">
        <p14:creationId xmlns:p14="http://schemas.microsoft.com/office/powerpoint/2010/main" val="275161751"/>
      </p:ext>
    </p:extLst>
  </p:cSld>
  <p:clrMapOvr>
    <a:masterClrMapping/>
  </p:clrMapOvr>
  <p:transition>
    <p:spli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6310295-BC06-42FE-8416-5B9080C1070A}"/>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584B292-624A-4F67-98EF-D26EE1C5E811}"/>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AF997EA4-DEFF-46FE-A36E-5D298E01EDD6}"/>
              </a:ext>
            </a:extLst>
          </p:cNvPr>
          <p:cNvSpPr>
            <a:spLocks noGrp="1"/>
          </p:cNvSpPr>
          <p:nvPr>
            <p:ph type="sldNum" sz="quarter" idx="12"/>
          </p:nvPr>
        </p:nvSpPr>
        <p:spPr/>
        <p:txBody>
          <a:bodyPr/>
          <a:lstStyle>
            <a:lvl1pPr>
              <a:defRPr/>
            </a:lvl1pPr>
          </a:lstStyle>
          <a:p>
            <a:pPr>
              <a:defRPr/>
            </a:pPr>
            <a:fld id="{6FE6F7C5-0F13-4804-8C4D-D7612AD545C8}" type="slidenum">
              <a:rPr lang="en-US" altLang="zh-CN"/>
              <a:pPr>
                <a:defRPr/>
              </a:pPr>
              <a:t>‹#›</a:t>
            </a:fld>
            <a:endParaRPr lang="en-US" altLang="zh-CN"/>
          </a:p>
        </p:txBody>
      </p:sp>
    </p:spTree>
    <p:extLst>
      <p:ext uri="{BB962C8B-B14F-4D97-AF65-F5344CB8AC3E}">
        <p14:creationId xmlns:p14="http://schemas.microsoft.com/office/powerpoint/2010/main" val="360268653"/>
      </p:ext>
    </p:extLst>
  </p:cSld>
  <p:clrMapOvr>
    <a:masterClrMapping/>
  </p:clrMapOvr>
  <p:transition>
    <p:spli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日期占位符 3">
            <a:extLst>
              <a:ext uri="{FF2B5EF4-FFF2-40B4-BE49-F238E27FC236}">
                <a16:creationId xmlns:a16="http://schemas.microsoft.com/office/drawing/2014/main" id="{3C45B92C-7527-4ED5-B6F0-AE06D086BDA7}"/>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869134C7-3831-4632-80DB-2FD4EDB2F2DD}"/>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069AA665-EF1B-48B1-A77E-11735F499B15}"/>
              </a:ext>
            </a:extLst>
          </p:cNvPr>
          <p:cNvSpPr>
            <a:spLocks noGrp="1"/>
          </p:cNvSpPr>
          <p:nvPr>
            <p:ph type="sldNum" sz="quarter" idx="12"/>
          </p:nvPr>
        </p:nvSpPr>
        <p:spPr/>
        <p:txBody>
          <a:bodyPr/>
          <a:lstStyle>
            <a:lvl1pPr>
              <a:defRPr/>
            </a:lvl1pPr>
          </a:lstStyle>
          <a:p>
            <a:pPr>
              <a:defRPr/>
            </a:pPr>
            <a:fld id="{015EE2A5-A227-437E-B8F0-24B64D02C631}" type="slidenum">
              <a:rPr lang="en-US" altLang="zh-CN"/>
              <a:pPr>
                <a:defRPr/>
              </a:pPr>
              <a:t>‹#›</a:t>
            </a:fld>
            <a:endParaRPr lang="en-US" altLang="zh-CN"/>
          </a:p>
        </p:txBody>
      </p:sp>
    </p:spTree>
    <p:extLst>
      <p:ext uri="{BB962C8B-B14F-4D97-AF65-F5344CB8AC3E}">
        <p14:creationId xmlns:p14="http://schemas.microsoft.com/office/powerpoint/2010/main" val="223692144"/>
      </p:ext>
    </p:extLst>
  </p:cSld>
  <p:clrMapOvr>
    <a:masterClrMapping/>
  </p:clrMapOvr>
  <p:transition>
    <p:spli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a:extLst>
              <a:ext uri="{FF2B5EF4-FFF2-40B4-BE49-F238E27FC236}">
                <a16:creationId xmlns:a16="http://schemas.microsoft.com/office/drawing/2014/main" id="{F570C5EB-7AD7-49E2-AD3A-91BA3A22E1DA}"/>
              </a:ext>
            </a:extLst>
          </p:cNvPr>
          <p:cNvSpPr>
            <a:spLocks noGrp="1"/>
          </p:cNvSpPr>
          <p:nvPr>
            <p:ph type="dt" sz="half" idx="10"/>
          </p:nvPr>
        </p:nvSpPr>
        <p:spPr/>
        <p:txBody>
          <a:bodyPr/>
          <a:lstStyle>
            <a:lvl1pPr>
              <a:defRPr/>
            </a:lvl1pPr>
          </a:lstStyle>
          <a:p>
            <a:pPr>
              <a:defRPr/>
            </a:pPr>
            <a:endParaRPr lang="en-US" altLang="zh-CN"/>
          </a:p>
        </p:txBody>
      </p:sp>
      <p:sp>
        <p:nvSpPr>
          <p:cNvPr id="8" name="页脚占位符 4">
            <a:extLst>
              <a:ext uri="{FF2B5EF4-FFF2-40B4-BE49-F238E27FC236}">
                <a16:creationId xmlns:a16="http://schemas.microsoft.com/office/drawing/2014/main" id="{C87381CC-E144-439B-BECF-8237C2836FF5}"/>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5">
            <a:extLst>
              <a:ext uri="{FF2B5EF4-FFF2-40B4-BE49-F238E27FC236}">
                <a16:creationId xmlns:a16="http://schemas.microsoft.com/office/drawing/2014/main" id="{EF79568E-5940-4774-A31C-03BC9981EA3A}"/>
              </a:ext>
            </a:extLst>
          </p:cNvPr>
          <p:cNvSpPr>
            <a:spLocks noGrp="1"/>
          </p:cNvSpPr>
          <p:nvPr>
            <p:ph type="sldNum" sz="quarter" idx="12"/>
          </p:nvPr>
        </p:nvSpPr>
        <p:spPr/>
        <p:txBody>
          <a:bodyPr/>
          <a:lstStyle>
            <a:lvl1pPr>
              <a:defRPr/>
            </a:lvl1pPr>
          </a:lstStyle>
          <a:p>
            <a:pPr>
              <a:defRPr/>
            </a:pPr>
            <a:fld id="{477A2FC0-6769-42A8-AD4E-4DA870CD49DF}" type="slidenum">
              <a:rPr lang="en-US" altLang="zh-CN"/>
              <a:pPr>
                <a:defRPr/>
              </a:pPr>
              <a:t>‹#›</a:t>
            </a:fld>
            <a:endParaRPr lang="en-US" altLang="zh-CN"/>
          </a:p>
        </p:txBody>
      </p:sp>
    </p:spTree>
    <p:extLst>
      <p:ext uri="{BB962C8B-B14F-4D97-AF65-F5344CB8AC3E}">
        <p14:creationId xmlns:p14="http://schemas.microsoft.com/office/powerpoint/2010/main" val="299435926"/>
      </p:ext>
    </p:extLst>
  </p:cSld>
  <p:clrMapOvr>
    <a:masterClrMapping/>
  </p:clrMapOvr>
  <p:transition>
    <p:spli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vl1pPr>
          </a:lstStyle>
          <a:p>
            <a:r>
              <a:rPr lang="zh-CN" altLang="en-US" dirty="0"/>
              <a:t>单击此处编辑母版标题样式</a:t>
            </a:r>
          </a:p>
        </p:txBody>
      </p:sp>
      <p:sp>
        <p:nvSpPr>
          <p:cNvPr id="3" name="日期占位符 3">
            <a:extLst>
              <a:ext uri="{FF2B5EF4-FFF2-40B4-BE49-F238E27FC236}">
                <a16:creationId xmlns:a16="http://schemas.microsoft.com/office/drawing/2014/main" id="{52BB514D-E6AA-4B70-BF6C-D90AAB8DE4C9}"/>
              </a:ext>
            </a:extLst>
          </p:cNvPr>
          <p:cNvSpPr>
            <a:spLocks noGrp="1"/>
          </p:cNvSpPr>
          <p:nvPr>
            <p:ph type="dt" sz="half" idx="10"/>
          </p:nvPr>
        </p:nvSpPr>
        <p:spPr/>
        <p:txBody>
          <a:bodyPr/>
          <a:lstStyle>
            <a:lvl1pPr>
              <a:defRPr/>
            </a:lvl1pPr>
          </a:lstStyle>
          <a:p>
            <a:pPr>
              <a:defRPr/>
            </a:pPr>
            <a:endParaRPr lang="en-US" altLang="zh-CN"/>
          </a:p>
        </p:txBody>
      </p:sp>
      <p:sp>
        <p:nvSpPr>
          <p:cNvPr id="4" name="页脚占位符 4">
            <a:extLst>
              <a:ext uri="{FF2B5EF4-FFF2-40B4-BE49-F238E27FC236}">
                <a16:creationId xmlns:a16="http://schemas.microsoft.com/office/drawing/2014/main" id="{FBD0CC44-E6D6-4557-90C9-6A1C71BB506D}"/>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5">
            <a:extLst>
              <a:ext uri="{FF2B5EF4-FFF2-40B4-BE49-F238E27FC236}">
                <a16:creationId xmlns:a16="http://schemas.microsoft.com/office/drawing/2014/main" id="{0A74FFE8-F0D8-4B49-9948-F66694223EF2}"/>
              </a:ext>
            </a:extLst>
          </p:cNvPr>
          <p:cNvSpPr>
            <a:spLocks noGrp="1"/>
          </p:cNvSpPr>
          <p:nvPr>
            <p:ph type="sldNum" sz="quarter" idx="12"/>
          </p:nvPr>
        </p:nvSpPr>
        <p:spPr/>
        <p:txBody>
          <a:bodyPr/>
          <a:lstStyle>
            <a:lvl1pPr>
              <a:defRPr/>
            </a:lvl1pPr>
          </a:lstStyle>
          <a:p>
            <a:pPr>
              <a:defRPr/>
            </a:pPr>
            <a:fld id="{713AB35D-1E6C-48D4-9E9E-34F229AC5C30}" type="slidenum">
              <a:rPr lang="en-US" altLang="zh-CN"/>
              <a:pPr>
                <a:defRPr/>
              </a:pPr>
              <a:t>‹#›</a:t>
            </a:fld>
            <a:endParaRPr lang="en-US" altLang="zh-CN"/>
          </a:p>
        </p:txBody>
      </p:sp>
    </p:spTree>
    <p:extLst>
      <p:ext uri="{BB962C8B-B14F-4D97-AF65-F5344CB8AC3E}">
        <p14:creationId xmlns:p14="http://schemas.microsoft.com/office/powerpoint/2010/main" val="492179038"/>
      </p:ext>
    </p:extLst>
  </p:cSld>
  <p:clrMapOvr>
    <a:masterClrMapping/>
  </p:clrMapOvr>
  <p:transition>
    <p:spli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BB5B6DC-388C-40FF-8AD5-E2F2FC57D2F9}"/>
              </a:ext>
            </a:extLst>
          </p:cNvPr>
          <p:cNvSpPr>
            <a:spLocks noGrp="1"/>
          </p:cNvSpPr>
          <p:nvPr>
            <p:ph type="dt" sz="half" idx="10"/>
          </p:nvPr>
        </p:nvSpPr>
        <p:spPr/>
        <p:txBody>
          <a:bodyPr/>
          <a:lstStyle>
            <a:lvl1pPr>
              <a:defRPr/>
            </a:lvl1pPr>
          </a:lstStyle>
          <a:p>
            <a:pPr>
              <a:defRPr/>
            </a:pPr>
            <a:endParaRPr lang="en-US" altLang="zh-CN"/>
          </a:p>
        </p:txBody>
      </p:sp>
      <p:sp>
        <p:nvSpPr>
          <p:cNvPr id="3" name="页脚占位符 4">
            <a:extLst>
              <a:ext uri="{FF2B5EF4-FFF2-40B4-BE49-F238E27FC236}">
                <a16:creationId xmlns:a16="http://schemas.microsoft.com/office/drawing/2014/main" id="{CB79292E-C9E4-4EC9-9A28-13EAD47C48D4}"/>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5">
            <a:extLst>
              <a:ext uri="{FF2B5EF4-FFF2-40B4-BE49-F238E27FC236}">
                <a16:creationId xmlns:a16="http://schemas.microsoft.com/office/drawing/2014/main" id="{0F0C4FB1-1703-42A1-BEAF-1E3C19AEBFAA}"/>
              </a:ext>
            </a:extLst>
          </p:cNvPr>
          <p:cNvSpPr>
            <a:spLocks noGrp="1"/>
          </p:cNvSpPr>
          <p:nvPr>
            <p:ph type="sldNum" sz="quarter" idx="12"/>
          </p:nvPr>
        </p:nvSpPr>
        <p:spPr/>
        <p:txBody>
          <a:bodyPr/>
          <a:lstStyle>
            <a:lvl1pPr>
              <a:defRPr/>
            </a:lvl1pPr>
          </a:lstStyle>
          <a:p>
            <a:pPr>
              <a:defRPr/>
            </a:pPr>
            <a:fld id="{F6822620-34A2-4E3B-A7DE-5F1F5B465D35}" type="slidenum">
              <a:rPr lang="en-US" altLang="zh-CN"/>
              <a:pPr>
                <a:defRPr/>
              </a:pPr>
              <a:t>‹#›</a:t>
            </a:fld>
            <a:endParaRPr lang="en-US" altLang="zh-CN"/>
          </a:p>
        </p:txBody>
      </p:sp>
    </p:spTree>
    <p:extLst>
      <p:ext uri="{BB962C8B-B14F-4D97-AF65-F5344CB8AC3E}">
        <p14:creationId xmlns:p14="http://schemas.microsoft.com/office/powerpoint/2010/main" val="1321345763"/>
      </p:ext>
    </p:extLst>
  </p:cSld>
  <p:clrMapOvr>
    <a:masterClrMapping/>
  </p:clrMapOvr>
  <p:transition>
    <p:spli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4EDD617D-06E2-45F8-944B-32CE243C1BF0}"/>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1A8A30B5-A0F3-4911-9BA2-B30A9E9AEE75}"/>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336814C9-B3BB-4FA1-8A90-ADBC0C519733}"/>
              </a:ext>
            </a:extLst>
          </p:cNvPr>
          <p:cNvSpPr>
            <a:spLocks noGrp="1"/>
          </p:cNvSpPr>
          <p:nvPr>
            <p:ph type="sldNum" sz="quarter" idx="12"/>
          </p:nvPr>
        </p:nvSpPr>
        <p:spPr/>
        <p:txBody>
          <a:bodyPr/>
          <a:lstStyle>
            <a:lvl1pPr>
              <a:defRPr/>
            </a:lvl1pPr>
          </a:lstStyle>
          <a:p>
            <a:pPr>
              <a:defRPr/>
            </a:pPr>
            <a:fld id="{ACF770E3-8033-4C9F-9D2F-044E20903097}" type="slidenum">
              <a:rPr lang="en-US" altLang="zh-CN"/>
              <a:pPr>
                <a:defRPr/>
              </a:pPr>
              <a:t>‹#›</a:t>
            </a:fld>
            <a:endParaRPr lang="en-US" altLang="zh-CN"/>
          </a:p>
        </p:txBody>
      </p:sp>
    </p:spTree>
    <p:extLst>
      <p:ext uri="{BB962C8B-B14F-4D97-AF65-F5344CB8AC3E}">
        <p14:creationId xmlns:p14="http://schemas.microsoft.com/office/powerpoint/2010/main" val="2731213314"/>
      </p:ext>
    </p:extLst>
  </p:cSld>
  <p:clrMapOvr>
    <a:masterClrMapping/>
  </p:clrMapOvr>
  <p:transition>
    <p:spli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3">
            <a:extLst>
              <a:ext uri="{FF2B5EF4-FFF2-40B4-BE49-F238E27FC236}">
                <a16:creationId xmlns:a16="http://schemas.microsoft.com/office/drawing/2014/main" id="{FEB973F9-C3CC-4DD6-8857-BAAFCE4BB867}"/>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2B446D00-D739-4BBE-A128-3C340ED3B068}"/>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1EBC6A91-CD6B-4611-9CE2-CABB470C2048}"/>
              </a:ext>
            </a:extLst>
          </p:cNvPr>
          <p:cNvSpPr>
            <a:spLocks noGrp="1"/>
          </p:cNvSpPr>
          <p:nvPr>
            <p:ph type="sldNum" sz="quarter" idx="12"/>
          </p:nvPr>
        </p:nvSpPr>
        <p:spPr/>
        <p:txBody>
          <a:bodyPr/>
          <a:lstStyle>
            <a:lvl1pPr>
              <a:defRPr/>
            </a:lvl1pPr>
          </a:lstStyle>
          <a:p>
            <a:pPr>
              <a:defRPr/>
            </a:pPr>
            <a:fld id="{839D5AA7-DDBE-4604-8524-B18912410329}" type="slidenum">
              <a:rPr lang="en-US" altLang="zh-CN"/>
              <a:pPr>
                <a:defRPr/>
              </a:pPr>
              <a:t>‹#›</a:t>
            </a:fld>
            <a:endParaRPr lang="en-US" altLang="zh-CN"/>
          </a:p>
        </p:txBody>
      </p:sp>
    </p:spTree>
    <p:extLst>
      <p:ext uri="{BB962C8B-B14F-4D97-AF65-F5344CB8AC3E}">
        <p14:creationId xmlns:p14="http://schemas.microsoft.com/office/powerpoint/2010/main" val="463815588"/>
      </p:ext>
    </p:extLst>
  </p:cSld>
  <p:clrMapOvr>
    <a:masterClrMapping/>
  </p:clrMapOvr>
  <p:transition>
    <p:spli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7557784-8556-40FC-9A99-85B2420956EE}"/>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DDC48751-744D-46EB-AA07-06779A9BE6E7}"/>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0CB2CC8A-34D8-40DB-A878-3FB33FB273A8}"/>
              </a:ext>
            </a:extLst>
          </p:cNvPr>
          <p:cNvSpPr>
            <a:spLocks noGrp="1"/>
          </p:cNvSpPr>
          <p:nvPr>
            <p:ph type="sldNum" sz="quarter" idx="12"/>
          </p:nvPr>
        </p:nvSpPr>
        <p:spPr/>
        <p:txBody>
          <a:bodyPr/>
          <a:lstStyle>
            <a:lvl1pPr>
              <a:defRPr/>
            </a:lvl1pPr>
          </a:lstStyle>
          <a:p>
            <a:pPr>
              <a:defRPr/>
            </a:pPr>
            <a:fld id="{35EC60A2-5986-44A1-8E2C-B4D2AC78B6AF}" type="slidenum">
              <a:rPr lang="en-US" altLang="zh-CN"/>
              <a:pPr>
                <a:defRPr/>
              </a:pPr>
              <a:t>‹#›</a:t>
            </a:fld>
            <a:endParaRPr lang="en-US" altLang="zh-CN"/>
          </a:p>
        </p:txBody>
      </p:sp>
    </p:spTree>
    <p:extLst>
      <p:ext uri="{BB962C8B-B14F-4D97-AF65-F5344CB8AC3E}">
        <p14:creationId xmlns:p14="http://schemas.microsoft.com/office/powerpoint/2010/main" val="2202149321"/>
      </p:ext>
    </p:extLst>
  </p:cSld>
  <p:clrMapOvr>
    <a:masterClrMapping/>
  </p:clrMapOvr>
  <p:transition>
    <p:spli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F608EE-02F7-4484-8EE5-6954906ACCD9}"/>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4694DFDE-EBE5-4939-9AFD-23AD97127A0B}"/>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5E82A387-323E-4540-82FD-95BA4FF9BE4D}"/>
              </a:ext>
            </a:extLst>
          </p:cNvPr>
          <p:cNvSpPr>
            <a:spLocks noGrp="1"/>
          </p:cNvSpPr>
          <p:nvPr>
            <p:ph type="sldNum" sz="quarter" idx="12"/>
          </p:nvPr>
        </p:nvSpPr>
        <p:spPr/>
        <p:txBody>
          <a:bodyPr/>
          <a:lstStyle>
            <a:lvl1pPr>
              <a:defRPr/>
            </a:lvl1pPr>
          </a:lstStyle>
          <a:p>
            <a:pPr>
              <a:defRPr/>
            </a:pPr>
            <a:fld id="{3F21C78E-0F0C-4A19-888D-1CF2EC456F54}" type="slidenum">
              <a:rPr lang="en-US" altLang="zh-CN"/>
              <a:pPr>
                <a:defRPr/>
              </a:pPr>
              <a:t>‹#›</a:t>
            </a:fld>
            <a:endParaRPr lang="en-US" altLang="zh-CN"/>
          </a:p>
        </p:txBody>
      </p:sp>
    </p:spTree>
    <p:extLst>
      <p:ext uri="{BB962C8B-B14F-4D97-AF65-F5344CB8AC3E}">
        <p14:creationId xmlns:p14="http://schemas.microsoft.com/office/powerpoint/2010/main" val="923005819"/>
      </p:ext>
    </p:extLst>
  </p:cSld>
  <p:clrMapOvr>
    <a:masterClrMapping/>
  </p:clrMapOvr>
  <p:transition>
    <p:split/>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8385AF59-4E82-49E3-A020-C20B930725B1}"/>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62F11D54-46B1-4902-B269-EBDFE8C1F41C}"/>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6583AC1F-3397-48DD-9BD5-26A860897F13}"/>
              </a:ext>
            </a:extLst>
          </p:cNvPr>
          <p:cNvSpPr>
            <a:spLocks noGrp="1"/>
          </p:cNvSpPr>
          <p:nvPr>
            <p:ph type="sldNum" sz="quarter" idx="12"/>
          </p:nvPr>
        </p:nvSpPr>
        <p:spPr>
          <a:xfrm>
            <a:off x="6553200" y="6248400"/>
            <a:ext cx="1905000" cy="457200"/>
          </a:xfrm>
        </p:spPr>
        <p:txBody>
          <a:bodyPr/>
          <a:lstStyle>
            <a:lvl1pPr>
              <a:defRPr/>
            </a:lvl1pPr>
          </a:lstStyle>
          <a:p>
            <a:pPr>
              <a:defRPr/>
            </a:pPr>
            <a:fld id="{60BC954D-BA77-4A9A-8D52-9A0E008F4F88}" type="slidenum">
              <a:rPr lang="en-US" altLang="zh-CN"/>
              <a:pPr>
                <a:defRPr/>
              </a:pPr>
              <a:t>‹#›</a:t>
            </a:fld>
            <a:endParaRPr lang="en-US" altLang="zh-CN"/>
          </a:p>
        </p:txBody>
      </p:sp>
    </p:spTree>
    <p:extLst>
      <p:ext uri="{BB962C8B-B14F-4D97-AF65-F5344CB8AC3E}">
        <p14:creationId xmlns:p14="http://schemas.microsoft.com/office/powerpoint/2010/main" val="1029066391"/>
      </p:ext>
    </p:extLst>
  </p:cSld>
  <p:clrMapOvr>
    <a:masterClrMapping/>
  </p:clrMapOvr>
  <p:transition>
    <p:spli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SmartArt 占位符 2"/>
          <p:cNvSpPr>
            <a:spLocks noGrp="1"/>
          </p:cNvSpPr>
          <p:nvPr>
            <p:ph type="dgm" idx="1"/>
          </p:nvPr>
        </p:nvSpPr>
        <p:spPr>
          <a:xfrm>
            <a:off x="685800" y="1981200"/>
            <a:ext cx="7772400" cy="4114800"/>
          </a:xfrm>
        </p:spPr>
        <p:txBody>
          <a:bodyPr rtlCol="0">
            <a:normAutofit/>
          </a:bodyPr>
          <a:lstStyle/>
          <a:p>
            <a:pPr lvl="0"/>
            <a:endParaRPr lang="zh-CN" altLang="en-US" noProof="0"/>
          </a:p>
        </p:txBody>
      </p:sp>
      <p:sp>
        <p:nvSpPr>
          <p:cNvPr id="4" name="日期占位符 3">
            <a:extLst>
              <a:ext uri="{FF2B5EF4-FFF2-40B4-BE49-F238E27FC236}">
                <a16:creationId xmlns:a16="http://schemas.microsoft.com/office/drawing/2014/main" id="{1C7DE4EA-F28A-4CDA-B809-9AFE417406D8}"/>
              </a:ext>
            </a:extLst>
          </p:cNvPr>
          <p:cNvSpPr>
            <a:spLocks noGrp="1"/>
          </p:cNvSpPr>
          <p:nvPr>
            <p:ph type="dt" sz="half" idx="10"/>
          </p:nvPr>
        </p:nvSpPr>
        <p:spPr>
          <a:xfrm>
            <a:off x="685800" y="6248400"/>
            <a:ext cx="1905000" cy="457200"/>
          </a:xfrm>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911DBF18-75EE-4628-883A-97BFA18C7A7F}"/>
              </a:ext>
            </a:extLst>
          </p:cNvPr>
          <p:cNvSpPr>
            <a:spLocks noGrp="1"/>
          </p:cNvSpPr>
          <p:nvPr>
            <p:ph type="ftr" sz="quarter" idx="11"/>
          </p:nvPr>
        </p:nvSpPr>
        <p:spPr>
          <a:xfrm>
            <a:off x="3124200" y="6248400"/>
            <a:ext cx="2895600" cy="457200"/>
          </a:xfrm>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D1ECCAE9-8117-49FC-8ECE-55EBC174875D}"/>
              </a:ext>
            </a:extLst>
          </p:cNvPr>
          <p:cNvSpPr>
            <a:spLocks noGrp="1"/>
          </p:cNvSpPr>
          <p:nvPr>
            <p:ph type="sldNum" sz="quarter" idx="12"/>
          </p:nvPr>
        </p:nvSpPr>
        <p:spPr>
          <a:xfrm>
            <a:off x="6553200" y="6248400"/>
            <a:ext cx="1905000" cy="457200"/>
          </a:xfrm>
        </p:spPr>
        <p:txBody>
          <a:bodyPr/>
          <a:lstStyle>
            <a:lvl1pPr>
              <a:defRPr/>
            </a:lvl1pPr>
          </a:lstStyle>
          <a:p>
            <a:pPr>
              <a:defRPr/>
            </a:pPr>
            <a:fld id="{DA62A305-B616-4560-ADCB-C48A0AE837A8}" type="slidenum">
              <a:rPr lang="en-US" altLang="zh-CN"/>
              <a:pPr>
                <a:defRPr/>
              </a:pPr>
              <a:t>‹#›</a:t>
            </a:fld>
            <a:endParaRPr lang="en-US" altLang="zh-CN"/>
          </a:p>
        </p:txBody>
      </p:sp>
    </p:spTree>
    <p:extLst>
      <p:ext uri="{BB962C8B-B14F-4D97-AF65-F5344CB8AC3E}">
        <p14:creationId xmlns:p14="http://schemas.microsoft.com/office/powerpoint/2010/main" val="901335706"/>
      </p:ext>
    </p:extLst>
  </p:cSld>
  <p:clrMapOvr>
    <a:masterClrMapping/>
  </p:clrMapOvr>
  <p:transition>
    <p:spli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B0B537D2-927A-4755-A9F6-493ECA393047}"/>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53DBC485-DC3D-40BD-A834-3C88F62DA683}"/>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423DFAC-B227-47C6-9396-E10818AE0721}"/>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5" name="页脚占位符 4">
            <a:extLst>
              <a:ext uri="{FF2B5EF4-FFF2-40B4-BE49-F238E27FC236}">
                <a16:creationId xmlns:a16="http://schemas.microsoft.com/office/drawing/2014/main" id="{53796BAB-EB8C-433C-A326-5FD285D9696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p>
        </p:txBody>
      </p:sp>
      <p:sp>
        <p:nvSpPr>
          <p:cNvPr id="6" name="灯片编号占位符 5">
            <a:extLst>
              <a:ext uri="{FF2B5EF4-FFF2-40B4-BE49-F238E27FC236}">
                <a16:creationId xmlns:a16="http://schemas.microsoft.com/office/drawing/2014/main" id="{9E03B259-F473-4672-9B4E-86A2800D2B6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ea typeface="+mn-ea"/>
              </a:defRPr>
            </a:lvl1pPr>
          </a:lstStyle>
          <a:p>
            <a:pPr>
              <a:defRPr/>
            </a:pPr>
            <a:fld id="{E106DD7B-2469-44F3-AE99-4E81BE6DAD5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Lst>
  <p:transition>
    <p:split/>
  </p:transition>
  <p:hf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mailto:tbchen@fudan.edu.cn"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emf"/></Relationships>
</file>

<file path=ppt/slides/_rels/slide5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803FC5-A5FA-483A-B906-6715315BC295}"/>
              </a:ext>
            </a:extLst>
          </p:cNvPr>
          <p:cNvSpPr>
            <a:spLocks noGrp="1"/>
          </p:cNvSpPr>
          <p:nvPr>
            <p:ph type="ctrTitle"/>
          </p:nvPr>
        </p:nvSpPr>
        <p:spPr/>
        <p:txBody>
          <a:bodyPr/>
          <a:lstStyle/>
          <a:p>
            <a:r>
              <a:rPr lang="zh-CN" altLang="en-US" sz="8000" dirty="0">
                <a:latin typeface="华文新魏" panose="02010800040101010101" pitchFamily="2" charset="-122"/>
                <a:ea typeface="华文新魏" panose="02010800040101010101" pitchFamily="2" charset="-122"/>
              </a:rPr>
              <a:t>数据结构</a:t>
            </a:r>
          </a:p>
        </p:txBody>
      </p:sp>
      <p:sp>
        <p:nvSpPr>
          <p:cNvPr id="3" name="副标题 2">
            <a:extLst>
              <a:ext uri="{FF2B5EF4-FFF2-40B4-BE49-F238E27FC236}">
                <a16:creationId xmlns:a16="http://schemas.microsoft.com/office/drawing/2014/main" id="{E0D7EF1E-F861-43F3-BCA1-D7E18B98488F}"/>
              </a:ext>
            </a:extLst>
          </p:cNvPr>
          <p:cNvSpPr>
            <a:spLocks noGrp="1"/>
          </p:cNvSpPr>
          <p:nvPr>
            <p:ph type="subTitle" idx="1"/>
          </p:nvPr>
        </p:nvSpPr>
        <p:spPr/>
        <p:txBody>
          <a:bodyPr/>
          <a:lstStyle/>
          <a:p>
            <a:endParaRPr lang="zh-CN" altLang="en-US"/>
          </a:p>
        </p:txBody>
      </p:sp>
      <p:sp>
        <p:nvSpPr>
          <p:cNvPr id="4" name="灯片编号占位符 3">
            <a:extLst>
              <a:ext uri="{FF2B5EF4-FFF2-40B4-BE49-F238E27FC236}">
                <a16:creationId xmlns:a16="http://schemas.microsoft.com/office/drawing/2014/main" id="{34052402-4F9D-403E-8A72-77B7FB215EE9}"/>
              </a:ext>
            </a:extLst>
          </p:cNvPr>
          <p:cNvSpPr>
            <a:spLocks noGrp="1"/>
          </p:cNvSpPr>
          <p:nvPr>
            <p:ph type="sldNum" sz="quarter" idx="12"/>
          </p:nvPr>
        </p:nvSpPr>
        <p:spPr/>
        <p:txBody>
          <a:bodyPr/>
          <a:lstStyle/>
          <a:p>
            <a:pPr>
              <a:defRPr/>
            </a:pPr>
            <a:fld id="{58F93753-0936-4013-B471-F2B2BA380432}" type="slidenum">
              <a:rPr lang="en-US" altLang="zh-CN" smtClean="0"/>
              <a:pPr>
                <a:defRPr/>
              </a:pPr>
              <a:t>1</a:t>
            </a:fld>
            <a:endParaRPr lang="en-US" altLang="zh-CN"/>
          </a:p>
        </p:txBody>
      </p:sp>
    </p:spTree>
    <p:extLst>
      <p:ext uri="{BB962C8B-B14F-4D97-AF65-F5344CB8AC3E}">
        <p14:creationId xmlns:p14="http://schemas.microsoft.com/office/powerpoint/2010/main" val="2628095920"/>
      </p:ext>
    </p:extLst>
  </p:cSld>
  <p:clrMapOvr>
    <a:masterClrMapping/>
  </p:clrMapOvr>
  <p:transition>
    <p:spli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050">
            <a:extLst>
              <a:ext uri="{FF2B5EF4-FFF2-40B4-BE49-F238E27FC236}">
                <a16:creationId xmlns:a16="http://schemas.microsoft.com/office/drawing/2014/main" id="{C34BE402-6435-44DD-9A83-3EEF2E327779}"/>
              </a:ext>
            </a:extLst>
          </p:cNvPr>
          <p:cNvSpPr>
            <a:spLocks noGrp="1" noChangeArrowheads="1"/>
          </p:cNvSpPr>
          <p:nvPr>
            <p:ph type="title"/>
          </p:nvPr>
        </p:nvSpPr>
        <p:spPr/>
        <p:txBody>
          <a:bodyPr/>
          <a:lstStyle/>
          <a:p>
            <a:pPr eaLnBrk="1" hangingPunct="1"/>
            <a:r>
              <a:rPr lang="zh-CN" altLang="en-US" dirty="0"/>
              <a:t>学习目的</a:t>
            </a:r>
          </a:p>
        </p:txBody>
      </p:sp>
      <p:sp>
        <p:nvSpPr>
          <p:cNvPr id="5123" name="Rectangle 2051">
            <a:extLst>
              <a:ext uri="{FF2B5EF4-FFF2-40B4-BE49-F238E27FC236}">
                <a16:creationId xmlns:a16="http://schemas.microsoft.com/office/drawing/2014/main" id="{B56B53EE-28FA-4885-B247-469EA0D4BD78}"/>
              </a:ext>
            </a:extLst>
          </p:cNvPr>
          <p:cNvSpPr>
            <a:spLocks noGrp="1" noChangeArrowheads="1"/>
          </p:cNvSpPr>
          <p:nvPr>
            <p:ph idx="1"/>
          </p:nvPr>
        </p:nvSpPr>
        <p:spPr/>
        <p:txBody>
          <a:bodyPr/>
          <a:lstStyle/>
          <a:p>
            <a:pPr eaLnBrk="1" hangingPunct="1"/>
            <a:r>
              <a:rPr lang="zh-CN" altLang="en-US" dirty="0"/>
              <a:t>掌握重要数据结构的概念、使用方法及实现技术；</a:t>
            </a:r>
          </a:p>
          <a:p>
            <a:pPr eaLnBrk="1" hangingPunct="1"/>
            <a:r>
              <a:rPr lang="zh-CN" altLang="en-US" dirty="0"/>
              <a:t>要求会做简单的算法分析，包括算法的时间代价和空间代价。</a:t>
            </a:r>
          </a:p>
        </p:txBody>
      </p:sp>
      <p:sp>
        <p:nvSpPr>
          <p:cNvPr id="2" name="灯片编号占位符 1">
            <a:extLst>
              <a:ext uri="{FF2B5EF4-FFF2-40B4-BE49-F238E27FC236}">
                <a16:creationId xmlns:a16="http://schemas.microsoft.com/office/drawing/2014/main" id="{4419414B-A9A5-48D7-8003-C2C908DAA06E}"/>
              </a:ext>
            </a:extLst>
          </p:cNvPr>
          <p:cNvSpPr>
            <a:spLocks noGrp="1"/>
          </p:cNvSpPr>
          <p:nvPr>
            <p:ph type="sldNum" sz="quarter" idx="12"/>
          </p:nvPr>
        </p:nvSpPr>
        <p:spPr/>
        <p:txBody>
          <a:bodyPr/>
          <a:lstStyle/>
          <a:p>
            <a:pPr>
              <a:defRPr/>
            </a:pPr>
            <a:fld id="{BA598CE4-8FC6-4482-BC96-1951AC141A07}" type="slidenum">
              <a:rPr lang="en-US" altLang="zh-CN" smtClean="0"/>
              <a:pPr>
                <a:defRPr/>
              </a:pPr>
              <a:t>2</a:t>
            </a:fld>
            <a:endParaRPr lang="en-US" altLang="zh-CN"/>
          </a:p>
        </p:txBody>
      </p:sp>
    </p:spTree>
  </p:cSld>
  <p:clrMapOvr>
    <a:masterClrMapping/>
  </p:clrMapOvr>
  <p:transition>
    <p:spli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3B6191C-0A08-48CC-A4C6-E9E7187403E6}"/>
              </a:ext>
            </a:extLst>
          </p:cNvPr>
          <p:cNvSpPr>
            <a:spLocks noGrp="1" noChangeArrowheads="1"/>
          </p:cNvSpPr>
          <p:nvPr>
            <p:ph type="title"/>
          </p:nvPr>
        </p:nvSpPr>
        <p:spPr/>
        <p:txBody>
          <a:bodyPr/>
          <a:lstStyle/>
          <a:p>
            <a:pPr eaLnBrk="1" hangingPunct="1"/>
            <a:r>
              <a:rPr lang="zh-CN" altLang="en-US"/>
              <a:t>课程组织</a:t>
            </a:r>
          </a:p>
        </p:txBody>
      </p:sp>
      <p:sp>
        <p:nvSpPr>
          <p:cNvPr id="6147" name="Rectangle 3">
            <a:extLst>
              <a:ext uri="{FF2B5EF4-FFF2-40B4-BE49-F238E27FC236}">
                <a16:creationId xmlns:a16="http://schemas.microsoft.com/office/drawing/2014/main" id="{60AAD87B-5302-4832-87F5-9829F5827494}"/>
              </a:ext>
            </a:extLst>
          </p:cNvPr>
          <p:cNvSpPr>
            <a:spLocks noGrp="1" noChangeArrowheads="1"/>
          </p:cNvSpPr>
          <p:nvPr>
            <p:ph idx="1"/>
          </p:nvPr>
        </p:nvSpPr>
        <p:spPr/>
        <p:txBody>
          <a:bodyPr/>
          <a:lstStyle/>
          <a:p>
            <a:pPr eaLnBrk="1" hangingPunct="1"/>
            <a:r>
              <a:rPr lang="zh-CN" altLang="en-US" dirty="0"/>
              <a:t>课内讲授</a:t>
            </a:r>
          </a:p>
          <a:p>
            <a:pPr eaLnBrk="1" hangingPunct="1"/>
            <a:r>
              <a:rPr lang="zh-CN" altLang="en-US" dirty="0"/>
              <a:t>上机练习</a:t>
            </a:r>
          </a:p>
          <a:p>
            <a:pPr eaLnBrk="1" hangingPunct="1"/>
            <a:r>
              <a:rPr lang="zh-CN" altLang="en-US" dirty="0"/>
              <a:t>结合课外阅读和实践</a:t>
            </a:r>
          </a:p>
        </p:txBody>
      </p:sp>
      <p:sp>
        <p:nvSpPr>
          <p:cNvPr id="2" name="灯片编号占位符 1">
            <a:extLst>
              <a:ext uri="{FF2B5EF4-FFF2-40B4-BE49-F238E27FC236}">
                <a16:creationId xmlns:a16="http://schemas.microsoft.com/office/drawing/2014/main" id="{415D443B-D87A-43D6-889B-351F9116F134}"/>
              </a:ext>
            </a:extLst>
          </p:cNvPr>
          <p:cNvSpPr>
            <a:spLocks noGrp="1"/>
          </p:cNvSpPr>
          <p:nvPr>
            <p:ph type="sldNum" sz="quarter" idx="12"/>
          </p:nvPr>
        </p:nvSpPr>
        <p:spPr/>
        <p:txBody>
          <a:bodyPr/>
          <a:lstStyle/>
          <a:p>
            <a:pPr>
              <a:defRPr/>
            </a:pPr>
            <a:fld id="{C4F126ED-F4EC-4A76-A535-0682B1830BE5}" type="slidenum">
              <a:rPr lang="en-US" altLang="zh-CN" smtClean="0"/>
              <a:pPr>
                <a:defRPr/>
              </a:pPr>
              <a:t>3</a:t>
            </a:fld>
            <a:endParaRPr lang="en-US" altLang="zh-CN"/>
          </a:p>
        </p:txBody>
      </p:sp>
    </p:spTree>
  </p:cSld>
  <p:clrMapOvr>
    <a:masterClrMapping/>
  </p:clrMapOvr>
  <p:transition>
    <p:spli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1E831A-AC56-F87E-E575-6CECE88D24F7}"/>
              </a:ext>
            </a:extLst>
          </p:cNvPr>
          <p:cNvSpPr>
            <a:spLocks noGrp="1"/>
          </p:cNvSpPr>
          <p:nvPr>
            <p:ph type="title"/>
          </p:nvPr>
        </p:nvSpPr>
        <p:spPr/>
        <p:txBody>
          <a:bodyPr/>
          <a:lstStyle/>
          <a:p>
            <a:r>
              <a:rPr lang="zh-CN" altLang="en-US" dirty="0"/>
              <a:t>教材</a:t>
            </a:r>
          </a:p>
        </p:txBody>
      </p:sp>
      <p:sp>
        <p:nvSpPr>
          <p:cNvPr id="3" name="内容占位符 2">
            <a:extLst>
              <a:ext uri="{FF2B5EF4-FFF2-40B4-BE49-F238E27FC236}">
                <a16:creationId xmlns:a16="http://schemas.microsoft.com/office/drawing/2014/main" id="{BE103ECD-B7F2-F3AD-B5B0-543BE1D06DB3}"/>
              </a:ext>
            </a:extLst>
          </p:cNvPr>
          <p:cNvSpPr>
            <a:spLocks noGrp="1"/>
          </p:cNvSpPr>
          <p:nvPr>
            <p:ph idx="1"/>
          </p:nvPr>
        </p:nvSpPr>
        <p:spPr/>
        <p:txBody>
          <a:bodyPr/>
          <a:lstStyle/>
          <a:p>
            <a:r>
              <a:rPr lang="en-US" altLang="zh-CN" dirty="0"/>
              <a:t>《</a:t>
            </a:r>
            <a:r>
              <a:rPr lang="zh-CN" altLang="en-US" dirty="0"/>
              <a:t>数据结构（用面向对象方法和</a:t>
            </a:r>
            <a:r>
              <a:rPr lang="en-US" altLang="zh-CN" dirty="0"/>
              <a:t>C++</a:t>
            </a:r>
            <a:r>
              <a:rPr lang="zh-CN" altLang="en-US" dirty="0"/>
              <a:t>描述）</a:t>
            </a:r>
            <a:r>
              <a:rPr lang="en-US" altLang="zh-CN" dirty="0"/>
              <a:t>》</a:t>
            </a:r>
            <a:r>
              <a:rPr lang="zh-CN" altLang="en-US" dirty="0"/>
              <a:t>（第</a:t>
            </a:r>
            <a:r>
              <a:rPr lang="en-US" altLang="zh-CN" dirty="0"/>
              <a:t>3 </a:t>
            </a:r>
            <a:r>
              <a:rPr lang="zh-CN" altLang="en-US" dirty="0"/>
              <a:t>版）</a:t>
            </a:r>
            <a:endParaRPr lang="en-US" altLang="zh-CN" dirty="0"/>
          </a:p>
          <a:p>
            <a:pPr lvl="1"/>
            <a:r>
              <a:rPr lang="zh-CN" altLang="en-US" dirty="0"/>
              <a:t>作者：殷人昆</a:t>
            </a:r>
            <a:endParaRPr lang="en-US" altLang="zh-CN" dirty="0"/>
          </a:p>
          <a:p>
            <a:pPr lvl="1"/>
            <a:r>
              <a:rPr lang="zh-CN" altLang="en-US" dirty="0"/>
              <a:t>清华大学出版社，</a:t>
            </a:r>
            <a:r>
              <a:rPr lang="en-US" altLang="zh-CN" dirty="0"/>
              <a:t>2021 </a:t>
            </a:r>
            <a:r>
              <a:rPr lang="zh-CN" altLang="en-US" dirty="0"/>
              <a:t>年</a:t>
            </a:r>
          </a:p>
        </p:txBody>
      </p:sp>
      <p:sp>
        <p:nvSpPr>
          <p:cNvPr id="4" name="灯片编号占位符 3">
            <a:extLst>
              <a:ext uri="{FF2B5EF4-FFF2-40B4-BE49-F238E27FC236}">
                <a16:creationId xmlns:a16="http://schemas.microsoft.com/office/drawing/2014/main" id="{A6860C25-C32F-C776-F4BC-669D2CEF6B4B}"/>
              </a:ext>
            </a:extLst>
          </p:cNvPr>
          <p:cNvSpPr>
            <a:spLocks noGrp="1"/>
          </p:cNvSpPr>
          <p:nvPr>
            <p:ph type="sldNum" sz="quarter" idx="12"/>
          </p:nvPr>
        </p:nvSpPr>
        <p:spPr/>
        <p:txBody>
          <a:bodyPr/>
          <a:lstStyle/>
          <a:p>
            <a:pPr>
              <a:defRPr/>
            </a:pPr>
            <a:fld id="{91DF78C9-BDB5-4343-8491-3B6F2A8FA5EA}" type="slidenum">
              <a:rPr lang="en-US" altLang="zh-CN" smtClean="0"/>
              <a:pPr>
                <a:defRPr/>
              </a:pPr>
              <a:t>4</a:t>
            </a:fld>
            <a:endParaRPr lang="en-US" altLang="zh-CN"/>
          </a:p>
        </p:txBody>
      </p:sp>
    </p:spTree>
    <p:extLst>
      <p:ext uri="{BB962C8B-B14F-4D97-AF65-F5344CB8AC3E}">
        <p14:creationId xmlns:p14="http://schemas.microsoft.com/office/powerpoint/2010/main" val="831079580"/>
      </p:ext>
    </p:extLst>
  </p:cSld>
  <p:clrMapOvr>
    <a:masterClrMapping/>
  </p:clrMapOvr>
  <p:transition>
    <p:spli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79014B93-BAD0-4224-9E06-9F07872E95CE}"/>
              </a:ext>
            </a:extLst>
          </p:cNvPr>
          <p:cNvSpPr>
            <a:spLocks noGrp="1" noChangeArrowheads="1"/>
          </p:cNvSpPr>
          <p:nvPr>
            <p:ph type="title"/>
          </p:nvPr>
        </p:nvSpPr>
        <p:spPr/>
        <p:txBody>
          <a:bodyPr/>
          <a:lstStyle/>
          <a:p>
            <a:pPr eaLnBrk="1" hangingPunct="1"/>
            <a:r>
              <a:rPr lang="zh-CN" altLang="en-US"/>
              <a:t>参考资料</a:t>
            </a:r>
          </a:p>
        </p:txBody>
      </p:sp>
      <p:sp>
        <p:nvSpPr>
          <p:cNvPr id="7171" name="Rectangle 3">
            <a:extLst>
              <a:ext uri="{FF2B5EF4-FFF2-40B4-BE49-F238E27FC236}">
                <a16:creationId xmlns:a16="http://schemas.microsoft.com/office/drawing/2014/main" id="{1A77C980-073C-4EAF-8EFA-C9BA0003B725}"/>
              </a:ext>
            </a:extLst>
          </p:cNvPr>
          <p:cNvSpPr>
            <a:spLocks noGrp="1" noChangeArrowheads="1"/>
          </p:cNvSpPr>
          <p:nvPr>
            <p:ph idx="1"/>
          </p:nvPr>
        </p:nvSpPr>
        <p:spPr/>
        <p:txBody>
          <a:bodyPr/>
          <a:lstStyle/>
          <a:p>
            <a:pPr eaLnBrk="1" hangingPunct="1">
              <a:lnSpc>
                <a:spcPct val="80000"/>
              </a:lnSpc>
            </a:pPr>
            <a:r>
              <a:rPr lang="zh-CN" altLang="en-US" sz="1600" dirty="0"/>
              <a:t>数据结构教程</a:t>
            </a:r>
          </a:p>
          <a:p>
            <a:pPr lvl="1" eaLnBrk="1" hangingPunct="1">
              <a:lnSpc>
                <a:spcPct val="80000"/>
              </a:lnSpc>
            </a:pPr>
            <a:r>
              <a:rPr lang="zh-CN" altLang="en-US" sz="1300" dirty="0"/>
              <a:t>施伯乐等，</a:t>
            </a:r>
            <a:r>
              <a:rPr lang="zh-CN" altLang="en-US" sz="1600" dirty="0"/>
              <a:t>复旦大学出版社</a:t>
            </a:r>
          </a:p>
          <a:p>
            <a:pPr eaLnBrk="1" hangingPunct="1">
              <a:lnSpc>
                <a:spcPct val="80000"/>
              </a:lnSpc>
            </a:pPr>
            <a:r>
              <a:rPr lang="zh-CN" altLang="en-US" sz="1600" dirty="0"/>
              <a:t>数据结构（</a:t>
            </a:r>
            <a:r>
              <a:rPr lang="en-US" altLang="zh-CN" sz="1600" dirty="0"/>
              <a:t>C</a:t>
            </a:r>
            <a:r>
              <a:rPr lang="zh-CN" altLang="en-US" sz="1600" dirty="0"/>
              <a:t>语言版）</a:t>
            </a:r>
          </a:p>
          <a:p>
            <a:pPr lvl="1" eaLnBrk="1" hangingPunct="1">
              <a:lnSpc>
                <a:spcPct val="80000"/>
              </a:lnSpc>
            </a:pPr>
            <a:r>
              <a:rPr lang="zh-CN" altLang="en-US" sz="1300" dirty="0"/>
              <a:t>严蔚敏、吴伟民，</a:t>
            </a:r>
            <a:r>
              <a:rPr lang="zh-CN" altLang="en-US" sz="1600" dirty="0"/>
              <a:t>清华大学出版社</a:t>
            </a:r>
          </a:p>
          <a:p>
            <a:pPr eaLnBrk="1" hangingPunct="1">
              <a:lnSpc>
                <a:spcPct val="80000"/>
              </a:lnSpc>
            </a:pPr>
            <a:r>
              <a:rPr lang="zh-CN" altLang="en-US" sz="1600" dirty="0"/>
              <a:t>数据结构  </a:t>
            </a:r>
            <a:r>
              <a:rPr lang="en-US" altLang="zh-CN" sz="1600" dirty="0"/>
              <a:t>C++</a:t>
            </a:r>
            <a:r>
              <a:rPr lang="zh-CN" altLang="en-US" sz="1600" dirty="0"/>
              <a:t>与面向对象的途径</a:t>
            </a:r>
          </a:p>
          <a:p>
            <a:pPr lvl="1" eaLnBrk="1" hangingPunct="1">
              <a:lnSpc>
                <a:spcPct val="80000"/>
              </a:lnSpc>
            </a:pPr>
            <a:r>
              <a:rPr lang="zh-CN" altLang="en-US" sz="1300" dirty="0"/>
              <a:t>张乃孝、裘忠燕，</a:t>
            </a:r>
            <a:r>
              <a:rPr lang="zh-CN" altLang="en-US" sz="1600" dirty="0"/>
              <a:t>高等教育出版社</a:t>
            </a:r>
          </a:p>
          <a:p>
            <a:pPr eaLnBrk="1" hangingPunct="1">
              <a:lnSpc>
                <a:spcPct val="80000"/>
              </a:lnSpc>
            </a:pPr>
            <a:r>
              <a:rPr lang="zh-CN" altLang="en-US" sz="1600" dirty="0"/>
              <a:t>新编实用算法分析与程序设计</a:t>
            </a:r>
          </a:p>
          <a:p>
            <a:pPr lvl="1" eaLnBrk="1" hangingPunct="1">
              <a:lnSpc>
                <a:spcPct val="80000"/>
              </a:lnSpc>
            </a:pPr>
            <a:r>
              <a:rPr lang="zh-CN" altLang="en-US" sz="1300" dirty="0"/>
              <a:t>王建德、吴永辉，</a:t>
            </a:r>
            <a:r>
              <a:rPr lang="zh-CN" altLang="en-US" sz="1600" dirty="0"/>
              <a:t>人民邮电出版社</a:t>
            </a:r>
          </a:p>
          <a:p>
            <a:pPr eaLnBrk="1" hangingPunct="1">
              <a:lnSpc>
                <a:spcPct val="80000"/>
              </a:lnSpc>
            </a:pPr>
            <a:r>
              <a:rPr lang="zh-CN" altLang="en-US" sz="1600" dirty="0"/>
              <a:t>数据结构</a:t>
            </a:r>
            <a:r>
              <a:rPr lang="en-US" altLang="zh-CN" sz="1600" dirty="0"/>
              <a:t>-Java</a:t>
            </a:r>
            <a:r>
              <a:rPr lang="zh-CN" altLang="en-US" sz="1600" dirty="0"/>
              <a:t>版</a:t>
            </a:r>
          </a:p>
          <a:p>
            <a:pPr lvl="1" eaLnBrk="1" hangingPunct="1">
              <a:lnSpc>
                <a:spcPct val="80000"/>
              </a:lnSpc>
            </a:pPr>
            <a:r>
              <a:rPr lang="zh-CN" altLang="en-US" sz="1300" dirty="0"/>
              <a:t>（美）</a:t>
            </a:r>
            <a:r>
              <a:rPr lang="en-US" altLang="zh-CN" sz="1300" dirty="0" err="1"/>
              <a:t>D.S.Malik</a:t>
            </a:r>
            <a:r>
              <a:rPr lang="en-US" altLang="zh-CN" sz="1300" dirty="0"/>
              <a:t>, </a:t>
            </a:r>
            <a:r>
              <a:rPr lang="en-US" altLang="zh-CN" sz="1300" dirty="0" err="1"/>
              <a:t>P.S.Nair</a:t>
            </a:r>
            <a:r>
              <a:rPr lang="en-US" altLang="zh-CN" sz="1300" dirty="0"/>
              <a:t> </a:t>
            </a:r>
            <a:r>
              <a:rPr lang="zh-CN" altLang="en-US" sz="1300" dirty="0"/>
              <a:t>著，杨浩译，</a:t>
            </a:r>
            <a:r>
              <a:rPr lang="zh-CN" altLang="en-US" sz="1600" dirty="0"/>
              <a:t>清华大学出版社</a:t>
            </a:r>
          </a:p>
          <a:p>
            <a:pPr eaLnBrk="1" hangingPunct="1">
              <a:lnSpc>
                <a:spcPct val="80000"/>
              </a:lnSpc>
            </a:pPr>
            <a:r>
              <a:rPr lang="zh-CN" altLang="en-US" sz="1600" dirty="0"/>
              <a:t>数据结构与算法</a:t>
            </a:r>
            <a:r>
              <a:rPr lang="en-US" altLang="zh-CN" sz="1600" dirty="0"/>
              <a:t>—C++</a:t>
            </a:r>
            <a:r>
              <a:rPr lang="zh-CN" altLang="en-US" sz="1600" dirty="0"/>
              <a:t>版</a:t>
            </a:r>
          </a:p>
          <a:p>
            <a:pPr lvl="1" eaLnBrk="1" hangingPunct="1">
              <a:lnSpc>
                <a:spcPct val="80000"/>
              </a:lnSpc>
            </a:pPr>
            <a:r>
              <a:rPr lang="zh-CN" altLang="en-US" sz="1300" dirty="0"/>
              <a:t>（美）</a:t>
            </a:r>
            <a:r>
              <a:rPr lang="en-US" altLang="zh-CN" sz="1300" dirty="0"/>
              <a:t>Adam Drozdek</a:t>
            </a:r>
            <a:r>
              <a:rPr lang="zh-CN" altLang="en-US" sz="1300" dirty="0"/>
              <a:t>编著，郑岩，战晓苏 翻译，</a:t>
            </a:r>
            <a:r>
              <a:rPr lang="zh-CN" altLang="en-US" sz="1600" dirty="0"/>
              <a:t>清华大学出版社</a:t>
            </a:r>
            <a:endParaRPr lang="zh-CN" altLang="en-US" sz="1400" dirty="0"/>
          </a:p>
        </p:txBody>
      </p:sp>
      <p:sp>
        <p:nvSpPr>
          <p:cNvPr id="2" name="灯片编号占位符 1">
            <a:extLst>
              <a:ext uri="{FF2B5EF4-FFF2-40B4-BE49-F238E27FC236}">
                <a16:creationId xmlns:a16="http://schemas.microsoft.com/office/drawing/2014/main" id="{1A4362CF-22AE-40CA-B810-9138E35D6678}"/>
              </a:ext>
            </a:extLst>
          </p:cNvPr>
          <p:cNvSpPr>
            <a:spLocks noGrp="1"/>
          </p:cNvSpPr>
          <p:nvPr>
            <p:ph type="sldNum" sz="quarter" idx="12"/>
          </p:nvPr>
        </p:nvSpPr>
        <p:spPr/>
        <p:txBody>
          <a:bodyPr/>
          <a:lstStyle/>
          <a:p>
            <a:pPr>
              <a:defRPr/>
            </a:pPr>
            <a:fld id="{83125260-97AD-482A-9402-C777F7C0BE3D}" type="slidenum">
              <a:rPr lang="en-US" altLang="zh-CN" smtClean="0"/>
              <a:pPr>
                <a:defRPr/>
              </a:pPr>
              <a:t>5</a:t>
            </a:fld>
            <a:endParaRPr lang="en-US" altLang="zh-CN"/>
          </a:p>
        </p:txBody>
      </p:sp>
    </p:spTree>
  </p:cSld>
  <p:clrMapOvr>
    <a:masterClrMapping/>
  </p:clrMapOvr>
  <p:transition>
    <p:spli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5CF2B62-1EC5-4025-AF13-8E7E1B6C8ED7}"/>
              </a:ext>
            </a:extLst>
          </p:cNvPr>
          <p:cNvSpPr>
            <a:spLocks noGrp="1" noChangeArrowheads="1"/>
          </p:cNvSpPr>
          <p:nvPr>
            <p:ph type="title"/>
          </p:nvPr>
        </p:nvSpPr>
        <p:spPr/>
        <p:txBody>
          <a:bodyPr/>
          <a:lstStyle/>
          <a:p>
            <a:pPr eaLnBrk="1" hangingPunct="1"/>
            <a:r>
              <a:rPr lang="zh-CN" altLang="en-US"/>
              <a:t>成绩评定</a:t>
            </a:r>
          </a:p>
        </p:txBody>
      </p:sp>
      <p:sp>
        <p:nvSpPr>
          <p:cNvPr id="9219" name="Rectangle 3">
            <a:extLst>
              <a:ext uri="{FF2B5EF4-FFF2-40B4-BE49-F238E27FC236}">
                <a16:creationId xmlns:a16="http://schemas.microsoft.com/office/drawing/2014/main" id="{1D9BABC3-109A-4DB6-8883-86C1E00C1979}"/>
              </a:ext>
            </a:extLst>
          </p:cNvPr>
          <p:cNvSpPr>
            <a:spLocks noGrp="1" noChangeArrowheads="1"/>
          </p:cNvSpPr>
          <p:nvPr>
            <p:ph idx="1"/>
          </p:nvPr>
        </p:nvSpPr>
        <p:spPr/>
        <p:txBody>
          <a:bodyPr>
            <a:normAutofit fontScale="70000" lnSpcReduction="20000"/>
          </a:bodyPr>
          <a:lstStyle/>
          <a:p>
            <a:pPr eaLnBrk="1" hangingPunct="1">
              <a:defRPr/>
            </a:pPr>
            <a:r>
              <a:rPr lang="zh-CN" altLang="en-US" dirty="0"/>
              <a:t>成绩构成</a:t>
            </a:r>
            <a:endParaRPr lang="en-US" altLang="zh-CN" dirty="0"/>
          </a:p>
          <a:p>
            <a:pPr lvl="1" eaLnBrk="1" hangingPunct="1">
              <a:defRPr/>
            </a:pPr>
            <a:r>
              <a:rPr lang="zh-CN" altLang="en-US" dirty="0"/>
              <a:t>期末闭卷笔试（</a:t>
            </a:r>
            <a:r>
              <a:rPr lang="en-US" altLang="zh-CN" dirty="0"/>
              <a:t>50%</a:t>
            </a:r>
            <a:r>
              <a:rPr lang="zh-CN" altLang="en-US" dirty="0"/>
              <a:t>）</a:t>
            </a:r>
          </a:p>
          <a:p>
            <a:pPr lvl="1" eaLnBrk="1" hangingPunct="1">
              <a:defRPr/>
            </a:pPr>
            <a:r>
              <a:rPr lang="zh-CN" altLang="en-US" dirty="0"/>
              <a:t>平时成绩（</a:t>
            </a:r>
            <a:r>
              <a:rPr lang="en-US" altLang="zh-CN" dirty="0"/>
              <a:t>50%</a:t>
            </a:r>
            <a:r>
              <a:rPr lang="zh-CN" altLang="en-US" dirty="0"/>
              <a:t>）</a:t>
            </a:r>
          </a:p>
          <a:p>
            <a:pPr lvl="2" eaLnBrk="1" hangingPunct="1">
              <a:defRPr/>
            </a:pPr>
            <a:r>
              <a:rPr lang="zh-CN" altLang="en-US" dirty="0"/>
              <a:t>期中闭卷笔试（</a:t>
            </a:r>
            <a:r>
              <a:rPr lang="en-US" altLang="zh-CN" dirty="0"/>
              <a:t>15%</a:t>
            </a:r>
            <a:r>
              <a:rPr lang="zh-CN" altLang="en-US" dirty="0"/>
              <a:t>）</a:t>
            </a:r>
          </a:p>
          <a:p>
            <a:pPr lvl="2" eaLnBrk="1" hangingPunct="1">
              <a:defRPr/>
            </a:pPr>
            <a:r>
              <a:rPr lang="zh-CN" altLang="en-US" dirty="0"/>
              <a:t>项目实践（</a:t>
            </a:r>
            <a:r>
              <a:rPr lang="en-US" altLang="zh-CN" dirty="0"/>
              <a:t>10%</a:t>
            </a:r>
            <a:r>
              <a:rPr lang="zh-CN" altLang="en-US" dirty="0"/>
              <a:t>）</a:t>
            </a:r>
          </a:p>
          <a:p>
            <a:pPr lvl="2" eaLnBrk="1" hangingPunct="1">
              <a:defRPr/>
            </a:pPr>
            <a:r>
              <a:rPr lang="zh-CN" altLang="en-US" dirty="0"/>
              <a:t>上机实验（</a:t>
            </a:r>
            <a:r>
              <a:rPr lang="en-US" altLang="zh-CN" dirty="0"/>
              <a:t>10%</a:t>
            </a:r>
            <a:r>
              <a:rPr lang="zh-CN" altLang="en-US" dirty="0"/>
              <a:t>）</a:t>
            </a:r>
          </a:p>
          <a:p>
            <a:pPr lvl="2" eaLnBrk="1" hangingPunct="1">
              <a:defRPr/>
            </a:pPr>
            <a:r>
              <a:rPr lang="zh-CN" altLang="en-US" dirty="0"/>
              <a:t>上机考试（</a:t>
            </a:r>
            <a:r>
              <a:rPr lang="en-US" altLang="zh-CN" dirty="0"/>
              <a:t>10%</a:t>
            </a:r>
            <a:r>
              <a:rPr lang="zh-CN" altLang="en-US" dirty="0"/>
              <a:t>）</a:t>
            </a:r>
          </a:p>
          <a:p>
            <a:pPr lvl="2" eaLnBrk="1" hangingPunct="1">
              <a:defRPr/>
            </a:pPr>
            <a:r>
              <a:rPr lang="zh-CN" altLang="en-US" dirty="0"/>
              <a:t>作业及出勤情况（</a:t>
            </a:r>
            <a:r>
              <a:rPr lang="en-US" altLang="zh-CN" dirty="0"/>
              <a:t>5%</a:t>
            </a:r>
            <a:r>
              <a:rPr lang="zh-CN" altLang="en-US" dirty="0"/>
              <a:t>）</a:t>
            </a:r>
          </a:p>
          <a:p>
            <a:pPr eaLnBrk="1" hangingPunct="1">
              <a:defRPr/>
            </a:pPr>
            <a:r>
              <a:rPr lang="zh-CN" altLang="en-US" dirty="0"/>
              <a:t>注意事项</a:t>
            </a:r>
            <a:endParaRPr lang="en-US" altLang="zh-CN" dirty="0"/>
          </a:p>
          <a:p>
            <a:pPr lvl="1" eaLnBrk="1" hangingPunct="1">
              <a:defRPr/>
            </a:pPr>
            <a:r>
              <a:rPr lang="zh-CN" altLang="en-US" dirty="0"/>
              <a:t>成绩为优者不超过</a:t>
            </a:r>
            <a:r>
              <a:rPr lang="en-US" altLang="zh-CN" dirty="0"/>
              <a:t>30%</a:t>
            </a:r>
          </a:p>
          <a:p>
            <a:pPr lvl="1" eaLnBrk="1" hangingPunct="1">
              <a:defRPr/>
            </a:pPr>
            <a:r>
              <a:rPr lang="zh-CN" altLang="en-US" dirty="0"/>
              <a:t>重修同学注意：</a:t>
            </a:r>
            <a:endParaRPr lang="en-US" altLang="zh-CN" dirty="0"/>
          </a:p>
          <a:p>
            <a:pPr lvl="2" eaLnBrk="1" hangingPunct="1">
              <a:defRPr/>
            </a:pPr>
            <a:r>
              <a:rPr lang="zh-CN" altLang="en-US" dirty="0"/>
              <a:t>要参加期中期末考试、交作业、上机，否则将严重影响成绩。</a:t>
            </a:r>
          </a:p>
        </p:txBody>
      </p:sp>
      <p:sp>
        <p:nvSpPr>
          <p:cNvPr id="2" name="灯片编号占位符 1">
            <a:extLst>
              <a:ext uri="{FF2B5EF4-FFF2-40B4-BE49-F238E27FC236}">
                <a16:creationId xmlns:a16="http://schemas.microsoft.com/office/drawing/2014/main" id="{E8EDB3F5-573F-46B6-8754-FA1FDBA4B775}"/>
              </a:ext>
            </a:extLst>
          </p:cNvPr>
          <p:cNvSpPr>
            <a:spLocks noGrp="1"/>
          </p:cNvSpPr>
          <p:nvPr>
            <p:ph type="sldNum" sz="quarter" idx="12"/>
          </p:nvPr>
        </p:nvSpPr>
        <p:spPr/>
        <p:txBody>
          <a:bodyPr/>
          <a:lstStyle/>
          <a:p>
            <a:pPr>
              <a:defRPr/>
            </a:pPr>
            <a:fld id="{017F329A-ADEB-41A9-A2C5-A7F7A7241EB9}" type="slidenum">
              <a:rPr lang="en-US" altLang="zh-CN" smtClean="0"/>
              <a:pPr>
                <a:defRPr/>
              </a:pPr>
              <a:t>6</a:t>
            </a:fld>
            <a:endParaRPr lang="en-US" altLang="zh-CN"/>
          </a:p>
        </p:txBody>
      </p:sp>
    </p:spTree>
  </p:cSld>
  <p:clrMapOvr>
    <a:masterClrMapping/>
  </p:clrMapOvr>
  <p:transition>
    <p:spli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59684F-DA64-F32E-463A-CBE906A06618}"/>
              </a:ext>
            </a:extLst>
          </p:cNvPr>
          <p:cNvSpPr>
            <a:spLocks noGrp="1"/>
          </p:cNvSpPr>
          <p:nvPr>
            <p:ph type="title"/>
          </p:nvPr>
        </p:nvSpPr>
        <p:spPr/>
        <p:txBody>
          <a:bodyPr/>
          <a:lstStyle/>
          <a:p>
            <a:r>
              <a:rPr lang="zh-CN" altLang="en-US" dirty="0"/>
              <a:t>实验课安排</a:t>
            </a:r>
          </a:p>
        </p:txBody>
      </p:sp>
      <p:sp>
        <p:nvSpPr>
          <p:cNvPr id="3" name="内容占位符 2">
            <a:extLst>
              <a:ext uri="{FF2B5EF4-FFF2-40B4-BE49-F238E27FC236}">
                <a16:creationId xmlns:a16="http://schemas.microsoft.com/office/drawing/2014/main" id="{0AAB6109-0649-7BBB-340A-96D52FA422A2}"/>
              </a:ext>
            </a:extLst>
          </p:cNvPr>
          <p:cNvSpPr>
            <a:spLocks noGrp="1"/>
          </p:cNvSpPr>
          <p:nvPr>
            <p:ph idx="1"/>
          </p:nvPr>
        </p:nvSpPr>
        <p:spPr/>
        <p:txBody>
          <a:bodyPr>
            <a:normAutofit fontScale="85000" lnSpcReduction="10000"/>
          </a:bodyPr>
          <a:lstStyle/>
          <a:p>
            <a:r>
              <a:rPr lang="zh-CN" altLang="en-US" dirty="0"/>
              <a:t>以下为初步安排，具体以每次课助教安排为准，大家也可与助教沟通提出建议</a:t>
            </a:r>
            <a:endParaRPr lang="en-US" altLang="zh-CN" dirty="0"/>
          </a:p>
          <a:p>
            <a:pPr lvl="1"/>
            <a:r>
              <a:rPr lang="zh-CN" altLang="en-US" dirty="0"/>
              <a:t>第</a:t>
            </a:r>
            <a:r>
              <a:rPr lang="en-US" altLang="zh-CN" dirty="0"/>
              <a:t>1</a:t>
            </a:r>
            <a:r>
              <a:rPr lang="zh-CN" altLang="en-US" dirty="0"/>
              <a:t>周：摸底测试</a:t>
            </a:r>
          </a:p>
          <a:p>
            <a:pPr lvl="1"/>
            <a:r>
              <a:rPr lang="zh-CN" altLang="en-US" dirty="0"/>
              <a:t>第</a:t>
            </a:r>
            <a:r>
              <a:rPr lang="en-US" altLang="zh-CN" dirty="0"/>
              <a:t>2</a:t>
            </a:r>
            <a:r>
              <a:rPr lang="zh-CN" altLang="en-US" dirty="0"/>
              <a:t>周：</a:t>
            </a:r>
            <a:r>
              <a:rPr lang="en-US" altLang="zh-CN" dirty="0"/>
              <a:t>C++</a:t>
            </a:r>
            <a:r>
              <a:rPr lang="zh-CN" altLang="en-US" dirty="0"/>
              <a:t>基础知识和开发环境介绍</a:t>
            </a:r>
          </a:p>
          <a:p>
            <a:pPr lvl="1"/>
            <a:r>
              <a:rPr lang="zh-CN" altLang="en-US" dirty="0"/>
              <a:t>第</a:t>
            </a:r>
            <a:r>
              <a:rPr lang="en-US" altLang="zh-CN" dirty="0"/>
              <a:t>3</a:t>
            </a:r>
            <a:r>
              <a:rPr lang="zh-CN" altLang="en-US" dirty="0"/>
              <a:t>周：面向对象的程序设计介绍</a:t>
            </a:r>
          </a:p>
          <a:p>
            <a:pPr lvl="1"/>
            <a:r>
              <a:rPr lang="zh-CN" altLang="en-US" dirty="0"/>
              <a:t>第</a:t>
            </a:r>
            <a:r>
              <a:rPr lang="en-US" altLang="zh-CN" dirty="0"/>
              <a:t>4</a:t>
            </a:r>
            <a:r>
              <a:rPr lang="zh-CN" altLang="en-US" dirty="0"/>
              <a:t>周：常见程序错误解析</a:t>
            </a:r>
          </a:p>
          <a:p>
            <a:pPr lvl="1"/>
            <a:r>
              <a:rPr lang="zh-CN" altLang="en-US" dirty="0"/>
              <a:t>第</a:t>
            </a:r>
            <a:r>
              <a:rPr lang="en-US" altLang="zh-CN" dirty="0"/>
              <a:t>5</a:t>
            </a:r>
            <a:r>
              <a:rPr lang="zh-CN" altLang="en-US" dirty="0"/>
              <a:t>周：程序设计风格及设计实践</a:t>
            </a:r>
            <a:endParaRPr lang="en-US" altLang="zh-CN" dirty="0"/>
          </a:p>
          <a:p>
            <a:pPr lvl="1"/>
            <a:r>
              <a:rPr lang="zh-CN" altLang="en-US" dirty="0"/>
              <a:t>第</a:t>
            </a:r>
            <a:r>
              <a:rPr lang="en-US" altLang="zh-CN" dirty="0"/>
              <a:t>6 ~ 15</a:t>
            </a:r>
            <a:r>
              <a:rPr lang="zh-CN" altLang="en-US" dirty="0"/>
              <a:t>周：正常上机实验</a:t>
            </a:r>
            <a:endParaRPr lang="en-US" altLang="zh-CN" dirty="0"/>
          </a:p>
          <a:p>
            <a:pPr lvl="1"/>
            <a:r>
              <a:rPr lang="zh-CN" altLang="en-US" dirty="0"/>
              <a:t>第</a:t>
            </a:r>
            <a:r>
              <a:rPr lang="en-US" altLang="zh-CN" dirty="0"/>
              <a:t>16</a:t>
            </a:r>
            <a:r>
              <a:rPr lang="zh-CN" altLang="en-US" dirty="0"/>
              <a:t>周（暂定）：上机考试</a:t>
            </a:r>
            <a:endParaRPr lang="en-US" altLang="zh-CN" dirty="0"/>
          </a:p>
          <a:p>
            <a:endParaRPr lang="zh-CN" altLang="en-US" dirty="0"/>
          </a:p>
        </p:txBody>
      </p:sp>
      <p:sp>
        <p:nvSpPr>
          <p:cNvPr id="4" name="灯片编号占位符 3">
            <a:extLst>
              <a:ext uri="{FF2B5EF4-FFF2-40B4-BE49-F238E27FC236}">
                <a16:creationId xmlns:a16="http://schemas.microsoft.com/office/drawing/2014/main" id="{E962C1CF-46D7-4BF7-A4E3-F3CACEE8F9EC}"/>
              </a:ext>
            </a:extLst>
          </p:cNvPr>
          <p:cNvSpPr>
            <a:spLocks noGrp="1"/>
          </p:cNvSpPr>
          <p:nvPr>
            <p:ph type="sldNum" sz="quarter" idx="12"/>
          </p:nvPr>
        </p:nvSpPr>
        <p:spPr/>
        <p:txBody>
          <a:bodyPr/>
          <a:lstStyle/>
          <a:p>
            <a:pPr>
              <a:defRPr/>
            </a:pPr>
            <a:fld id="{91DF78C9-BDB5-4343-8491-3B6F2A8FA5EA}" type="slidenum">
              <a:rPr lang="en-US" altLang="zh-CN" smtClean="0"/>
              <a:pPr>
                <a:defRPr/>
              </a:pPr>
              <a:t>7</a:t>
            </a:fld>
            <a:endParaRPr lang="en-US" altLang="zh-CN"/>
          </a:p>
        </p:txBody>
      </p:sp>
    </p:spTree>
    <p:extLst>
      <p:ext uri="{BB962C8B-B14F-4D97-AF65-F5344CB8AC3E}">
        <p14:creationId xmlns:p14="http://schemas.microsoft.com/office/powerpoint/2010/main" val="2367373855"/>
      </p:ext>
    </p:extLst>
  </p:cSld>
  <p:clrMapOvr>
    <a:masterClrMapping/>
  </p:clrMapOvr>
  <p:transition>
    <p:spli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2CF0AD-5BC2-4F02-BB31-24B639C97359}"/>
              </a:ext>
            </a:extLst>
          </p:cNvPr>
          <p:cNvSpPr>
            <a:spLocks noGrp="1"/>
          </p:cNvSpPr>
          <p:nvPr>
            <p:ph type="title"/>
          </p:nvPr>
        </p:nvSpPr>
        <p:spPr/>
        <p:txBody>
          <a:bodyPr/>
          <a:lstStyle/>
          <a:p>
            <a:r>
              <a:rPr lang="zh-CN" altLang="en-US" dirty="0"/>
              <a:t>联系方式</a:t>
            </a:r>
          </a:p>
        </p:txBody>
      </p:sp>
      <p:sp>
        <p:nvSpPr>
          <p:cNvPr id="3" name="内容占位符 2">
            <a:extLst>
              <a:ext uri="{FF2B5EF4-FFF2-40B4-BE49-F238E27FC236}">
                <a16:creationId xmlns:a16="http://schemas.microsoft.com/office/drawing/2014/main" id="{B5DC8D06-FABE-40F2-9FA0-889572DFE25B}"/>
              </a:ext>
            </a:extLst>
          </p:cNvPr>
          <p:cNvSpPr>
            <a:spLocks noGrp="1"/>
          </p:cNvSpPr>
          <p:nvPr>
            <p:ph idx="1"/>
          </p:nvPr>
        </p:nvSpPr>
        <p:spPr/>
        <p:txBody>
          <a:bodyPr/>
          <a:lstStyle/>
          <a:p>
            <a:r>
              <a:rPr lang="en-US" altLang="zh-CN" dirty="0"/>
              <a:t>email:</a:t>
            </a:r>
          </a:p>
          <a:p>
            <a:pPr lvl="1"/>
            <a:r>
              <a:rPr lang="en-US" altLang="zh-CN" dirty="0">
                <a:hlinkClick r:id="rId2"/>
              </a:rPr>
              <a:t>tbchen@fudan.edu.cn</a:t>
            </a:r>
            <a:endParaRPr lang="en-US" altLang="zh-CN" dirty="0"/>
          </a:p>
          <a:p>
            <a:r>
              <a:rPr lang="en-US" altLang="zh-CN" dirty="0" err="1"/>
              <a:t>Elearning</a:t>
            </a:r>
            <a:r>
              <a:rPr lang="zh-CN" altLang="en-US" dirty="0"/>
              <a:t>上的邮件可以联系我和助教</a:t>
            </a:r>
            <a:endParaRPr lang="en-US" altLang="zh-CN" dirty="0"/>
          </a:p>
          <a:p>
            <a:r>
              <a:rPr lang="en-US" altLang="zh-CN" dirty="0" err="1"/>
              <a:t>Elearning</a:t>
            </a:r>
            <a:r>
              <a:rPr lang="zh-CN" altLang="en-US"/>
              <a:t>上的讨论</a:t>
            </a:r>
            <a:endParaRPr lang="en-US" altLang="zh-CN" dirty="0"/>
          </a:p>
        </p:txBody>
      </p:sp>
      <p:sp>
        <p:nvSpPr>
          <p:cNvPr id="4" name="灯片编号占位符 3">
            <a:extLst>
              <a:ext uri="{FF2B5EF4-FFF2-40B4-BE49-F238E27FC236}">
                <a16:creationId xmlns:a16="http://schemas.microsoft.com/office/drawing/2014/main" id="{66912DC0-1358-49EF-94AC-456423871303}"/>
              </a:ext>
            </a:extLst>
          </p:cNvPr>
          <p:cNvSpPr>
            <a:spLocks noGrp="1"/>
          </p:cNvSpPr>
          <p:nvPr>
            <p:ph type="sldNum" sz="quarter" idx="12"/>
          </p:nvPr>
        </p:nvSpPr>
        <p:spPr/>
        <p:txBody>
          <a:bodyPr/>
          <a:lstStyle/>
          <a:p>
            <a:pPr>
              <a:defRPr/>
            </a:pPr>
            <a:fld id="{91DF78C9-BDB5-4343-8491-3B6F2A8FA5EA}" type="slidenum">
              <a:rPr lang="en-US" altLang="zh-CN" smtClean="0"/>
              <a:pPr>
                <a:defRPr/>
              </a:pPr>
              <a:t>8</a:t>
            </a:fld>
            <a:endParaRPr lang="en-US" altLang="zh-CN"/>
          </a:p>
        </p:txBody>
      </p:sp>
    </p:spTree>
    <p:extLst>
      <p:ext uri="{BB962C8B-B14F-4D97-AF65-F5344CB8AC3E}">
        <p14:creationId xmlns:p14="http://schemas.microsoft.com/office/powerpoint/2010/main" val="1510325298"/>
      </p:ext>
    </p:extLst>
  </p:cSld>
  <p:clrMapOvr>
    <a:masterClrMapping/>
  </p:clrMapOvr>
  <p:transition>
    <p:spli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a:extLst>
              <a:ext uri="{FF2B5EF4-FFF2-40B4-BE49-F238E27FC236}">
                <a16:creationId xmlns:a16="http://schemas.microsoft.com/office/drawing/2014/main" id="{9866CE0D-4667-4648-BC49-11DDA00FA2E7}"/>
              </a:ext>
            </a:extLst>
          </p:cNvPr>
          <p:cNvSpPr>
            <a:spLocks noGrp="1" noChangeArrowheads="1"/>
          </p:cNvSpPr>
          <p:nvPr>
            <p:ph type="title"/>
          </p:nvPr>
        </p:nvSpPr>
        <p:spPr>
          <a:xfrm>
            <a:off x="623888" y="1709738"/>
            <a:ext cx="7886700" cy="2852737"/>
          </a:xfrm>
        </p:spPr>
        <p:txBody>
          <a:bodyPr/>
          <a:lstStyle/>
          <a:p>
            <a:pPr eaLnBrk="1" hangingPunct="1"/>
            <a:r>
              <a:rPr lang="en-US" altLang="zh-CN"/>
              <a:t>Any Question?</a:t>
            </a:r>
            <a:endParaRPr lang="zh-CN" altLang="en-US"/>
          </a:p>
        </p:txBody>
      </p:sp>
      <p:sp>
        <p:nvSpPr>
          <p:cNvPr id="3" name="文本占位符 2">
            <a:extLst>
              <a:ext uri="{FF2B5EF4-FFF2-40B4-BE49-F238E27FC236}">
                <a16:creationId xmlns:a16="http://schemas.microsoft.com/office/drawing/2014/main" id="{F6188C25-CC07-4096-88A9-AD1BB7651B9C}"/>
              </a:ext>
            </a:extLst>
          </p:cNvPr>
          <p:cNvSpPr>
            <a:spLocks noGrp="1"/>
          </p:cNvSpPr>
          <p:nvPr>
            <p:ph type="body" idx="1"/>
          </p:nvPr>
        </p:nvSpPr>
        <p:spPr>
          <a:xfrm>
            <a:off x="623888" y="4589463"/>
            <a:ext cx="7886700" cy="1500187"/>
          </a:xfrm>
        </p:spPr>
        <p:txBody>
          <a:bodyPr rtlCol="0">
            <a:normAutofit/>
          </a:bodyPr>
          <a:lstStyle/>
          <a:p>
            <a:pPr eaLnBrk="1" fontAlgn="auto" hangingPunct="1">
              <a:spcAft>
                <a:spcPts val="0"/>
              </a:spcAft>
              <a:defRPr/>
            </a:pPr>
            <a:endParaRPr lang="zh-CN" altLang="en-US"/>
          </a:p>
        </p:txBody>
      </p:sp>
      <p:sp>
        <p:nvSpPr>
          <p:cNvPr id="2" name="灯片编号占位符 1">
            <a:extLst>
              <a:ext uri="{FF2B5EF4-FFF2-40B4-BE49-F238E27FC236}">
                <a16:creationId xmlns:a16="http://schemas.microsoft.com/office/drawing/2014/main" id="{0F846ED7-E327-4823-B6A1-3EC5CE0120DC}"/>
              </a:ext>
            </a:extLst>
          </p:cNvPr>
          <p:cNvSpPr>
            <a:spLocks noGrp="1"/>
          </p:cNvSpPr>
          <p:nvPr>
            <p:ph type="sldNum" sz="quarter" idx="12"/>
          </p:nvPr>
        </p:nvSpPr>
        <p:spPr/>
        <p:txBody>
          <a:bodyPr/>
          <a:lstStyle/>
          <a:p>
            <a:pPr>
              <a:defRPr/>
            </a:pPr>
            <a:fld id="{3BF20913-0A01-40C7-8664-D3581392E3A9}" type="slidenum">
              <a:rPr lang="en-US" altLang="zh-CN" smtClean="0"/>
              <a:pPr>
                <a:defRPr/>
              </a:pPr>
              <a:t>9</a:t>
            </a:fld>
            <a:endParaRPr lang="en-US" altLang="zh-CN"/>
          </a:p>
        </p:txBody>
      </p:sp>
    </p:spTree>
  </p:cSld>
  <p:clrMapOvr>
    <a:masterClrMapping/>
  </p:clrMapOvr>
  <p:transition>
    <p:spli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EC71F9BD-506B-4BA9-96C5-E6588BE40806}"/>
              </a:ext>
            </a:extLst>
          </p:cNvPr>
          <p:cNvSpPr>
            <a:spLocks noGrp="1" noChangeArrowheads="1"/>
          </p:cNvSpPr>
          <p:nvPr>
            <p:ph type="title"/>
          </p:nvPr>
        </p:nvSpPr>
        <p:spPr/>
        <p:txBody>
          <a:bodyPr/>
          <a:lstStyle/>
          <a:p>
            <a:pPr eaLnBrk="1" hangingPunct="1"/>
            <a:r>
              <a:rPr lang="zh-CN" altLang="en-US"/>
              <a:t>第</a:t>
            </a:r>
            <a:r>
              <a:rPr lang="en-US" altLang="zh-CN"/>
              <a:t>1</a:t>
            </a:r>
            <a:r>
              <a:rPr lang="zh-CN" altLang="en-US"/>
              <a:t>章 数据结构概论</a:t>
            </a:r>
          </a:p>
        </p:txBody>
      </p:sp>
      <p:sp>
        <p:nvSpPr>
          <p:cNvPr id="13315" name="内容占位符 1">
            <a:extLst>
              <a:ext uri="{FF2B5EF4-FFF2-40B4-BE49-F238E27FC236}">
                <a16:creationId xmlns:a16="http://schemas.microsoft.com/office/drawing/2014/main" id="{4702F9EA-9711-43CB-A481-7C8A244BED85}"/>
              </a:ext>
            </a:extLst>
          </p:cNvPr>
          <p:cNvSpPr>
            <a:spLocks noGrp="1" noChangeArrowheads="1"/>
          </p:cNvSpPr>
          <p:nvPr>
            <p:ph idx="1"/>
          </p:nvPr>
        </p:nvSpPr>
        <p:spPr/>
        <p:txBody>
          <a:bodyPr/>
          <a:lstStyle/>
          <a:p>
            <a:r>
              <a:rPr lang="zh-CN" altLang="en-US" dirty="0"/>
              <a:t>数据结构的概念</a:t>
            </a:r>
          </a:p>
          <a:p>
            <a:r>
              <a:rPr lang="zh-CN" altLang="en-US" dirty="0"/>
              <a:t>数据结构的抽象形式</a:t>
            </a:r>
          </a:p>
          <a:p>
            <a:r>
              <a:rPr lang="zh-CN" altLang="en-US" dirty="0"/>
              <a:t>作为</a:t>
            </a:r>
            <a:r>
              <a:rPr lang="en-US" altLang="zh-CN" dirty="0"/>
              <a:t>ADT</a:t>
            </a:r>
            <a:r>
              <a:rPr lang="zh-CN" altLang="en-US" dirty="0"/>
              <a:t>的</a:t>
            </a:r>
            <a:r>
              <a:rPr lang="en-US" altLang="zh-CN" dirty="0"/>
              <a:t>C++</a:t>
            </a:r>
            <a:r>
              <a:rPr lang="zh-CN" altLang="en-US" dirty="0"/>
              <a:t>类</a:t>
            </a:r>
          </a:p>
          <a:p>
            <a:r>
              <a:rPr lang="zh-CN" altLang="en-US" dirty="0"/>
              <a:t>算法定义</a:t>
            </a:r>
          </a:p>
          <a:p>
            <a:r>
              <a:rPr lang="zh-CN" altLang="en-US" dirty="0"/>
              <a:t>算法性能分析与度量</a:t>
            </a:r>
          </a:p>
        </p:txBody>
      </p:sp>
      <p:sp>
        <p:nvSpPr>
          <p:cNvPr id="2" name="灯片编号占位符 1">
            <a:extLst>
              <a:ext uri="{FF2B5EF4-FFF2-40B4-BE49-F238E27FC236}">
                <a16:creationId xmlns:a16="http://schemas.microsoft.com/office/drawing/2014/main" id="{C79DA7EB-5239-4D2B-904F-6A44DC731C6D}"/>
              </a:ext>
            </a:extLst>
          </p:cNvPr>
          <p:cNvSpPr>
            <a:spLocks noGrp="1"/>
          </p:cNvSpPr>
          <p:nvPr>
            <p:ph type="sldNum" sz="quarter" idx="12"/>
          </p:nvPr>
        </p:nvSpPr>
        <p:spPr/>
        <p:txBody>
          <a:bodyPr/>
          <a:lstStyle/>
          <a:p>
            <a:pPr>
              <a:defRPr/>
            </a:pPr>
            <a:fld id="{F4FE67FC-A502-4465-AB4B-58F5454259C6}" type="slidenum">
              <a:rPr lang="en-US" altLang="zh-CN" smtClean="0"/>
              <a:pPr>
                <a:defRPr/>
              </a:pPr>
              <a:t>10</a:t>
            </a:fld>
            <a:endParaRPr lang="en-US" altLang="zh-CN"/>
          </a:p>
        </p:txBody>
      </p:sp>
    </p:spTree>
  </p:cSld>
  <p:clrMapOvr>
    <a:masterClrMapping/>
  </p:clrMapOvr>
  <p:transition>
    <p:spli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026">
            <a:extLst>
              <a:ext uri="{FF2B5EF4-FFF2-40B4-BE49-F238E27FC236}">
                <a16:creationId xmlns:a16="http://schemas.microsoft.com/office/drawing/2014/main" id="{907E1FA0-4F36-4791-A30F-527B83AC640F}"/>
              </a:ext>
            </a:extLst>
          </p:cNvPr>
          <p:cNvSpPr>
            <a:spLocks noGrp="1" noChangeArrowheads="1"/>
          </p:cNvSpPr>
          <p:nvPr>
            <p:ph type="title"/>
          </p:nvPr>
        </p:nvSpPr>
        <p:spPr/>
        <p:txBody>
          <a:bodyPr/>
          <a:lstStyle/>
          <a:p>
            <a:pPr eaLnBrk="1" hangingPunct="1"/>
            <a:r>
              <a:rPr lang="en-US" altLang="zh-CN"/>
              <a:t>1.1 </a:t>
            </a:r>
            <a:r>
              <a:rPr lang="zh-CN" altLang="en-US"/>
              <a:t>数据结构的概念</a:t>
            </a:r>
          </a:p>
        </p:txBody>
      </p:sp>
      <p:sp>
        <p:nvSpPr>
          <p:cNvPr id="15363" name="Rectangle 1027">
            <a:extLst>
              <a:ext uri="{FF2B5EF4-FFF2-40B4-BE49-F238E27FC236}">
                <a16:creationId xmlns:a16="http://schemas.microsoft.com/office/drawing/2014/main" id="{EAE2F037-9E04-4BCB-A9EC-0F2E215C51FB}"/>
              </a:ext>
            </a:extLst>
          </p:cNvPr>
          <p:cNvSpPr>
            <a:spLocks noGrp="1" noChangeArrowheads="1"/>
          </p:cNvSpPr>
          <p:nvPr>
            <p:ph idx="1"/>
          </p:nvPr>
        </p:nvSpPr>
        <p:spPr/>
        <p:txBody>
          <a:bodyPr/>
          <a:lstStyle/>
          <a:p>
            <a:pPr eaLnBrk="1" hangingPunct="1"/>
            <a:r>
              <a:rPr lang="zh-CN" altLang="en-US" dirty="0"/>
              <a:t>数据的组织、存储和传递直接影响着软件的质量。</a:t>
            </a:r>
          </a:p>
          <a:p>
            <a:pPr lvl="1" eaLnBrk="1" hangingPunct="1"/>
            <a:r>
              <a:rPr lang="zh-CN" altLang="en-US" dirty="0"/>
              <a:t>要做到数据的</a:t>
            </a:r>
          </a:p>
          <a:p>
            <a:pPr lvl="2" eaLnBrk="1" hangingPunct="1"/>
            <a:r>
              <a:rPr lang="zh-CN" altLang="en-US" dirty="0"/>
              <a:t>正确</a:t>
            </a:r>
          </a:p>
          <a:p>
            <a:pPr lvl="2" eaLnBrk="1" hangingPunct="1"/>
            <a:r>
              <a:rPr lang="zh-CN" altLang="en-US" dirty="0"/>
              <a:t>高效（时间、空间）使用</a:t>
            </a:r>
          </a:p>
        </p:txBody>
      </p:sp>
      <p:sp>
        <p:nvSpPr>
          <p:cNvPr id="2" name="灯片编号占位符 1">
            <a:extLst>
              <a:ext uri="{FF2B5EF4-FFF2-40B4-BE49-F238E27FC236}">
                <a16:creationId xmlns:a16="http://schemas.microsoft.com/office/drawing/2014/main" id="{CDFFBF36-48C0-45A4-8453-45AE86EF32BC}"/>
              </a:ext>
            </a:extLst>
          </p:cNvPr>
          <p:cNvSpPr>
            <a:spLocks noGrp="1"/>
          </p:cNvSpPr>
          <p:nvPr>
            <p:ph type="sldNum" sz="quarter" idx="12"/>
          </p:nvPr>
        </p:nvSpPr>
        <p:spPr/>
        <p:txBody>
          <a:bodyPr/>
          <a:lstStyle/>
          <a:p>
            <a:pPr>
              <a:defRPr/>
            </a:pPr>
            <a:fld id="{0A5DE10C-7F48-4FCF-8166-EC0514019EE6}" type="slidenum">
              <a:rPr lang="en-US" altLang="zh-CN" smtClean="0"/>
              <a:pPr>
                <a:defRPr/>
              </a:pPr>
              <a:t>11</a:t>
            </a:fld>
            <a:endParaRPr lang="en-US" altLang="zh-CN"/>
          </a:p>
        </p:txBody>
      </p:sp>
    </p:spTree>
  </p:cSld>
  <p:clrMapOvr>
    <a:masterClrMapping/>
  </p:clrMapOvr>
  <p:transition>
    <p:spli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C6AB49DE-71E8-4E42-9F8A-00F323CF3C2D}"/>
              </a:ext>
            </a:extLst>
          </p:cNvPr>
          <p:cNvSpPr>
            <a:spLocks noGrp="1"/>
          </p:cNvSpPr>
          <p:nvPr>
            <p:ph type="title"/>
          </p:nvPr>
        </p:nvSpPr>
        <p:spPr/>
        <p:txBody>
          <a:bodyPr>
            <a:normAutofit/>
          </a:bodyPr>
          <a:lstStyle/>
          <a:p>
            <a:r>
              <a:rPr lang="zh-CN" altLang="en-US" dirty="0"/>
              <a:t>例</a:t>
            </a:r>
            <a:r>
              <a:rPr lang="en-US" altLang="zh-CN" dirty="0"/>
              <a:t>1</a:t>
            </a:r>
            <a:r>
              <a:rPr lang="zh-CN" altLang="en-US" dirty="0"/>
              <a:t>：顺序组织的学生数据</a:t>
            </a:r>
          </a:p>
        </p:txBody>
      </p:sp>
      <p:sp>
        <p:nvSpPr>
          <p:cNvPr id="2" name="灯片编号占位符 1">
            <a:extLst>
              <a:ext uri="{FF2B5EF4-FFF2-40B4-BE49-F238E27FC236}">
                <a16:creationId xmlns:a16="http://schemas.microsoft.com/office/drawing/2014/main" id="{F8402CCC-9031-495D-9C9F-C81B5C3658E6}"/>
              </a:ext>
            </a:extLst>
          </p:cNvPr>
          <p:cNvSpPr>
            <a:spLocks noGrp="1"/>
          </p:cNvSpPr>
          <p:nvPr>
            <p:ph type="sldNum" sz="quarter" idx="12"/>
          </p:nvPr>
        </p:nvSpPr>
        <p:spPr/>
        <p:txBody>
          <a:bodyPr/>
          <a:lstStyle/>
          <a:p>
            <a:pPr>
              <a:defRPr/>
            </a:pPr>
            <a:fld id="{67F11858-C4DA-449D-A891-0C25AF55A315}" type="slidenum">
              <a:rPr lang="en-US" altLang="zh-CN" smtClean="0"/>
              <a:pPr>
                <a:defRPr/>
              </a:pPr>
              <a:t>12</a:t>
            </a:fld>
            <a:endParaRPr lang="en-US" altLang="zh-CN"/>
          </a:p>
        </p:txBody>
      </p:sp>
      <p:sp>
        <p:nvSpPr>
          <p:cNvPr id="8" name="Rectangle 1027">
            <a:extLst>
              <a:ext uri="{FF2B5EF4-FFF2-40B4-BE49-F238E27FC236}">
                <a16:creationId xmlns:a16="http://schemas.microsoft.com/office/drawing/2014/main" id="{70DB4E84-DD6A-48D2-B550-39DB7B0938A9}"/>
              </a:ext>
            </a:extLst>
          </p:cNvPr>
          <p:cNvSpPr txBox="1">
            <a:spLocks noChangeArrowheads="1"/>
          </p:cNvSpPr>
          <p:nvPr/>
        </p:nvSpPr>
        <p:spPr bwMode="auto">
          <a:xfrm>
            <a:off x="628650" y="5445223"/>
            <a:ext cx="7886700" cy="90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40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32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6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eaLnBrk="1" hangingPunct="1"/>
            <a:r>
              <a:rPr lang="zh-CN" altLang="en-US" dirty="0"/>
              <a:t>很适合经常按学号查询的情况，用折半查找可以很快。</a:t>
            </a:r>
            <a:endParaRPr lang="en-US" altLang="zh-CN" dirty="0"/>
          </a:p>
          <a:p>
            <a:pPr eaLnBrk="1" hangingPunct="1"/>
            <a:r>
              <a:rPr lang="zh-CN" altLang="en-US" dirty="0"/>
              <a:t>如果要经常插入、删除，则改用链表较好。</a:t>
            </a:r>
          </a:p>
        </p:txBody>
      </p:sp>
      <p:graphicFrame>
        <p:nvGraphicFramePr>
          <p:cNvPr id="9" name="表格 8">
            <a:extLst>
              <a:ext uri="{FF2B5EF4-FFF2-40B4-BE49-F238E27FC236}">
                <a16:creationId xmlns:a16="http://schemas.microsoft.com/office/drawing/2014/main" id="{8D1D0E9A-4436-42E9-8FD1-8D2BDC37C245}"/>
              </a:ext>
            </a:extLst>
          </p:cNvPr>
          <p:cNvGraphicFramePr>
            <a:graphicFrameLocks noGrp="1"/>
          </p:cNvGraphicFramePr>
          <p:nvPr>
            <p:extLst>
              <p:ext uri="{D42A27DB-BD31-4B8C-83A1-F6EECF244321}">
                <p14:modId xmlns:p14="http://schemas.microsoft.com/office/powerpoint/2010/main" val="874353009"/>
              </p:ext>
            </p:extLst>
          </p:nvPr>
        </p:nvGraphicFramePr>
        <p:xfrm>
          <a:off x="1006562" y="1530576"/>
          <a:ext cx="7130875" cy="3657600"/>
        </p:xfrm>
        <a:graphic>
          <a:graphicData uri="http://schemas.openxmlformats.org/drawingml/2006/table">
            <a:tbl>
              <a:tblPr firstRow="1" firstCol="1" bandRow="1">
                <a:tableStyleId>{5C22544A-7EE6-4342-B048-85BDC9FD1C3A}</a:tableStyleId>
              </a:tblPr>
              <a:tblGrid>
                <a:gridCol w="1426003">
                  <a:extLst>
                    <a:ext uri="{9D8B030D-6E8A-4147-A177-3AD203B41FA5}">
                      <a16:colId xmlns:a16="http://schemas.microsoft.com/office/drawing/2014/main" val="2944731547"/>
                    </a:ext>
                  </a:extLst>
                </a:gridCol>
                <a:gridCol w="1426003">
                  <a:extLst>
                    <a:ext uri="{9D8B030D-6E8A-4147-A177-3AD203B41FA5}">
                      <a16:colId xmlns:a16="http://schemas.microsoft.com/office/drawing/2014/main" val="1093225766"/>
                    </a:ext>
                  </a:extLst>
                </a:gridCol>
                <a:gridCol w="1426003">
                  <a:extLst>
                    <a:ext uri="{9D8B030D-6E8A-4147-A177-3AD203B41FA5}">
                      <a16:colId xmlns:a16="http://schemas.microsoft.com/office/drawing/2014/main" val="434355843"/>
                    </a:ext>
                  </a:extLst>
                </a:gridCol>
                <a:gridCol w="1426003">
                  <a:extLst>
                    <a:ext uri="{9D8B030D-6E8A-4147-A177-3AD203B41FA5}">
                      <a16:colId xmlns:a16="http://schemas.microsoft.com/office/drawing/2014/main" val="774326402"/>
                    </a:ext>
                  </a:extLst>
                </a:gridCol>
                <a:gridCol w="1426863">
                  <a:extLst>
                    <a:ext uri="{9D8B030D-6E8A-4147-A177-3AD203B41FA5}">
                      <a16:colId xmlns:a16="http://schemas.microsoft.com/office/drawing/2014/main" val="4027454738"/>
                    </a:ext>
                  </a:extLst>
                </a:gridCol>
              </a:tblGrid>
              <a:tr h="343654">
                <a:tc>
                  <a:txBody>
                    <a:bodyPr/>
                    <a:lstStyle/>
                    <a:p>
                      <a:pPr algn="just">
                        <a:spcAft>
                          <a:spcPts val="0"/>
                        </a:spcAft>
                      </a:pPr>
                      <a:r>
                        <a:rPr lang="zh-CN" sz="2400" kern="100">
                          <a:effectLst/>
                        </a:rPr>
                        <a:t>学 号</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姓</a:t>
                      </a:r>
                      <a:r>
                        <a:rPr lang="en-US" sz="2400" kern="100">
                          <a:effectLst/>
                        </a:rPr>
                        <a:t>  </a:t>
                      </a:r>
                      <a:r>
                        <a:rPr lang="zh-CN" sz="2400" kern="100">
                          <a:effectLst/>
                        </a:rPr>
                        <a:t>名</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性别</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籍</a:t>
                      </a:r>
                      <a:r>
                        <a:rPr lang="en-US" sz="2400" kern="100">
                          <a:effectLst/>
                        </a:rPr>
                        <a:t>  </a:t>
                      </a:r>
                      <a:r>
                        <a:rPr lang="zh-CN" sz="2400" kern="100">
                          <a:effectLst/>
                        </a:rPr>
                        <a:t>贯</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出生年月</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746772610"/>
                  </a:ext>
                </a:extLst>
              </a:tr>
              <a:tr h="343654">
                <a:tc>
                  <a:txBody>
                    <a:bodyPr/>
                    <a:lstStyle/>
                    <a:p>
                      <a:pPr algn="just">
                        <a:spcAft>
                          <a:spcPts val="0"/>
                        </a:spcAft>
                      </a:pPr>
                      <a:r>
                        <a:rPr lang="en-US" sz="2400" kern="100">
                          <a:effectLst/>
                        </a:rPr>
                        <a:t>98131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刘激扬</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男</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北</a:t>
                      </a:r>
                      <a:r>
                        <a:rPr lang="en-US" sz="2400" kern="100">
                          <a:effectLst/>
                        </a:rPr>
                        <a:t>  </a:t>
                      </a:r>
                      <a:r>
                        <a:rPr lang="zh-CN" sz="2400" kern="100">
                          <a:effectLst/>
                        </a:rPr>
                        <a:t>京</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1979.12 </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88814470"/>
                  </a:ext>
                </a:extLst>
              </a:tr>
              <a:tr h="343654">
                <a:tc>
                  <a:txBody>
                    <a:bodyPr/>
                    <a:lstStyle/>
                    <a:p>
                      <a:pPr algn="just">
                        <a:spcAft>
                          <a:spcPts val="0"/>
                        </a:spcAft>
                      </a:pPr>
                      <a:r>
                        <a:rPr lang="en-US" sz="2400" kern="100">
                          <a:effectLst/>
                        </a:rPr>
                        <a:t>98164</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衣春生</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男</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青</a:t>
                      </a:r>
                      <a:r>
                        <a:rPr lang="en-US" sz="2400" kern="100">
                          <a:effectLst/>
                        </a:rPr>
                        <a:t>  </a:t>
                      </a:r>
                      <a:r>
                        <a:rPr lang="zh-CN" sz="2400" kern="100">
                          <a:effectLst/>
                        </a:rPr>
                        <a:t>岛</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dirty="0">
                          <a:effectLst/>
                        </a:rPr>
                        <a:t>1979.07</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99599679"/>
                  </a:ext>
                </a:extLst>
              </a:tr>
              <a:tr h="343654">
                <a:tc>
                  <a:txBody>
                    <a:bodyPr/>
                    <a:lstStyle/>
                    <a:p>
                      <a:pPr algn="just">
                        <a:spcAft>
                          <a:spcPts val="0"/>
                        </a:spcAft>
                      </a:pPr>
                      <a:r>
                        <a:rPr lang="en-US" sz="2400" kern="100">
                          <a:effectLst/>
                        </a:rPr>
                        <a:t>98165</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卢声凯</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altLang="zh-CN" sz="2400" kern="100" dirty="0">
                          <a:effectLst/>
                        </a:rPr>
                        <a:t> </a:t>
                      </a:r>
                      <a:r>
                        <a:rPr lang="zh-CN" sz="2400" kern="100" dirty="0">
                          <a:effectLst/>
                        </a:rPr>
                        <a:t>男</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天</a:t>
                      </a:r>
                      <a:r>
                        <a:rPr lang="en-US" sz="2400" kern="100">
                          <a:effectLst/>
                        </a:rPr>
                        <a:t>  </a:t>
                      </a:r>
                      <a:r>
                        <a:rPr lang="zh-CN" sz="2400" kern="100">
                          <a:effectLst/>
                        </a:rPr>
                        <a:t>津</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1981.02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3760058"/>
                  </a:ext>
                </a:extLst>
              </a:tr>
              <a:tr h="343654">
                <a:tc>
                  <a:txBody>
                    <a:bodyPr/>
                    <a:lstStyle/>
                    <a:p>
                      <a:pPr algn="just">
                        <a:spcAft>
                          <a:spcPts val="0"/>
                        </a:spcAft>
                      </a:pPr>
                      <a:r>
                        <a:rPr lang="en-US" sz="2400" kern="100">
                          <a:effectLst/>
                        </a:rPr>
                        <a:t>98182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袁秋慧</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女</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广</a:t>
                      </a:r>
                      <a:r>
                        <a:rPr lang="en-US" sz="2400" kern="100">
                          <a:effectLst/>
                        </a:rPr>
                        <a:t>  </a:t>
                      </a:r>
                      <a:r>
                        <a:rPr lang="zh-CN" sz="2400" kern="100">
                          <a:effectLst/>
                        </a:rPr>
                        <a:t>州</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1980.10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2041608"/>
                  </a:ext>
                </a:extLst>
              </a:tr>
              <a:tr h="343654">
                <a:tc>
                  <a:txBody>
                    <a:bodyPr/>
                    <a:lstStyle/>
                    <a:p>
                      <a:pPr algn="just">
                        <a:spcAft>
                          <a:spcPts val="0"/>
                        </a:spcAft>
                      </a:pPr>
                      <a:r>
                        <a:rPr lang="en-US" sz="2400" kern="100">
                          <a:effectLst/>
                        </a:rPr>
                        <a:t>98224</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洪</a:t>
                      </a:r>
                      <a:r>
                        <a:rPr lang="en-US" sz="2400" kern="100">
                          <a:effectLst/>
                        </a:rPr>
                        <a:t>  </a:t>
                      </a:r>
                      <a:r>
                        <a:rPr lang="zh-CN" sz="2400" kern="100">
                          <a:effectLst/>
                        </a:rPr>
                        <a:t>伟</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男</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太</a:t>
                      </a:r>
                      <a:r>
                        <a:rPr lang="en-US" sz="2400" kern="100">
                          <a:effectLst/>
                        </a:rPr>
                        <a:t>  </a:t>
                      </a:r>
                      <a:r>
                        <a:rPr lang="zh-CN" sz="2400" kern="100">
                          <a:effectLst/>
                        </a:rPr>
                        <a:t>原</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1981.01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962949137"/>
                  </a:ext>
                </a:extLst>
              </a:tr>
              <a:tr h="343654">
                <a:tc>
                  <a:txBody>
                    <a:bodyPr/>
                    <a:lstStyle/>
                    <a:p>
                      <a:pPr algn="just">
                        <a:spcAft>
                          <a:spcPts val="0"/>
                        </a:spcAft>
                      </a:pPr>
                      <a:r>
                        <a:rPr lang="en-US" sz="2400" kern="100">
                          <a:effectLst/>
                        </a:rPr>
                        <a:t>98236</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熊南燕</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女</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苏</a:t>
                      </a:r>
                      <a:r>
                        <a:rPr lang="en-US" sz="2400" kern="100">
                          <a:effectLst/>
                        </a:rPr>
                        <a:t>  </a:t>
                      </a:r>
                      <a:r>
                        <a:rPr lang="zh-CN" sz="2400" kern="100">
                          <a:effectLst/>
                        </a:rPr>
                        <a:t>州</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1980.03</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8917941"/>
                  </a:ext>
                </a:extLst>
              </a:tr>
              <a:tr h="343654">
                <a:tc>
                  <a:txBody>
                    <a:bodyPr/>
                    <a:lstStyle/>
                    <a:p>
                      <a:pPr algn="just">
                        <a:spcAft>
                          <a:spcPts val="0"/>
                        </a:spcAft>
                      </a:pPr>
                      <a:r>
                        <a:rPr lang="en-US" sz="2400" kern="100">
                          <a:effectLst/>
                        </a:rPr>
                        <a:t>98297</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宫</a:t>
                      </a:r>
                      <a:r>
                        <a:rPr lang="en-US" sz="2400" kern="100">
                          <a:effectLst/>
                        </a:rPr>
                        <a:t>  </a:t>
                      </a:r>
                      <a:r>
                        <a:rPr lang="zh-CN" sz="2400" kern="100">
                          <a:effectLst/>
                        </a:rPr>
                        <a:t>力</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男</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北</a:t>
                      </a:r>
                      <a:r>
                        <a:rPr lang="en-US" sz="2400" kern="100">
                          <a:effectLst/>
                        </a:rPr>
                        <a:t>  </a:t>
                      </a:r>
                      <a:r>
                        <a:rPr lang="zh-CN" sz="2400" kern="100">
                          <a:effectLst/>
                        </a:rPr>
                        <a:t>京</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1981.01</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09370882"/>
                  </a:ext>
                </a:extLst>
              </a:tr>
              <a:tr h="343654">
                <a:tc>
                  <a:txBody>
                    <a:bodyPr/>
                    <a:lstStyle/>
                    <a:p>
                      <a:pPr algn="just">
                        <a:spcAft>
                          <a:spcPts val="0"/>
                        </a:spcAft>
                      </a:pPr>
                      <a:r>
                        <a:rPr lang="en-US" sz="2400" kern="100">
                          <a:effectLst/>
                        </a:rPr>
                        <a:t>98310</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蔡晓莉</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女</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昆</a:t>
                      </a:r>
                      <a:r>
                        <a:rPr lang="en-US" sz="2400" kern="100">
                          <a:effectLst/>
                        </a:rPr>
                        <a:t>  </a:t>
                      </a:r>
                      <a:r>
                        <a:rPr lang="zh-CN" sz="2400" kern="100">
                          <a:effectLst/>
                        </a:rPr>
                        <a:t>明</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1981.02</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56701329"/>
                  </a:ext>
                </a:extLst>
              </a:tr>
              <a:tr h="343654">
                <a:tc>
                  <a:txBody>
                    <a:bodyPr/>
                    <a:lstStyle/>
                    <a:p>
                      <a:pPr algn="just">
                        <a:spcAft>
                          <a:spcPts val="0"/>
                        </a:spcAft>
                      </a:pPr>
                      <a:r>
                        <a:rPr lang="en-US" sz="2400" kern="100">
                          <a:effectLst/>
                        </a:rPr>
                        <a:t>98318</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陈</a:t>
                      </a:r>
                      <a:r>
                        <a:rPr lang="en-US" sz="2400" kern="100">
                          <a:effectLst/>
                        </a:rPr>
                        <a:t>  </a:t>
                      </a:r>
                      <a:r>
                        <a:rPr lang="zh-CN" sz="2400" kern="100">
                          <a:effectLst/>
                        </a:rPr>
                        <a:t>健</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a:effectLst/>
                        </a:rPr>
                        <a:t> </a:t>
                      </a:r>
                      <a:r>
                        <a:rPr lang="zh-CN" sz="2400" kern="100">
                          <a:effectLst/>
                        </a:rPr>
                        <a:t>男</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2400" kern="100">
                          <a:effectLst/>
                        </a:rPr>
                        <a:t>杭</a:t>
                      </a:r>
                      <a:r>
                        <a:rPr lang="en-US" sz="2400" kern="100">
                          <a:effectLst/>
                        </a:rPr>
                        <a:t>  </a:t>
                      </a:r>
                      <a:r>
                        <a:rPr lang="zh-CN" sz="2400" kern="100">
                          <a:effectLst/>
                        </a:rPr>
                        <a:t>州</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en-US" sz="2400" kern="100" dirty="0">
                          <a:effectLst/>
                        </a:rPr>
                        <a:t>1979.12</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64921200"/>
                  </a:ext>
                </a:extLst>
              </a:tr>
            </a:tbl>
          </a:graphicData>
        </a:graphic>
      </p:graphicFrame>
    </p:spTree>
  </p:cSld>
  <p:clrMapOvr>
    <a:masterClrMapping/>
  </p:clrMapOvr>
  <p:transition>
    <p:spli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
            <a:extLst>
              <a:ext uri="{FF2B5EF4-FFF2-40B4-BE49-F238E27FC236}">
                <a16:creationId xmlns:a16="http://schemas.microsoft.com/office/drawing/2014/main" id="{0A38EA4B-63A9-4077-83BB-D009E14C6BEC}"/>
              </a:ext>
            </a:extLst>
          </p:cNvPr>
          <p:cNvSpPr>
            <a:spLocks noChangeShapeType="1"/>
          </p:cNvSpPr>
          <p:nvPr/>
        </p:nvSpPr>
        <p:spPr bwMode="auto">
          <a:xfrm>
            <a:off x="5067300" y="4508500"/>
            <a:ext cx="1562100" cy="6350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5" name="Line 3">
            <a:extLst>
              <a:ext uri="{FF2B5EF4-FFF2-40B4-BE49-F238E27FC236}">
                <a16:creationId xmlns:a16="http://schemas.microsoft.com/office/drawing/2014/main" id="{55AE25AF-98D4-4F69-ADF8-76A213EE6323}"/>
              </a:ext>
            </a:extLst>
          </p:cNvPr>
          <p:cNvSpPr>
            <a:spLocks noChangeShapeType="1"/>
          </p:cNvSpPr>
          <p:nvPr/>
        </p:nvSpPr>
        <p:spPr bwMode="auto">
          <a:xfrm>
            <a:off x="4902200" y="4483100"/>
            <a:ext cx="977900" cy="8509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6" name="Line 4">
            <a:extLst>
              <a:ext uri="{FF2B5EF4-FFF2-40B4-BE49-F238E27FC236}">
                <a16:creationId xmlns:a16="http://schemas.microsoft.com/office/drawing/2014/main" id="{79C50C5C-26AA-4584-9BBE-5EC245D28806}"/>
              </a:ext>
            </a:extLst>
          </p:cNvPr>
          <p:cNvSpPr>
            <a:spLocks noChangeShapeType="1"/>
          </p:cNvSpPr>
          <p:nvPr/>
        </p:nvSpPr>
        <p:spPr bwMode="auto">
          <a:xfrm flipH="1">
            <a:off x="3835400" y="4457700"/>
            <a:ext cx="850900" cy="8509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7" name="Line 5">
            <a:extLst>
              <a:ext uri="{FF2B5EF4-FFF2-40B4-BE49-F238E27FC236}">
                <a16:creationId xmlns:a16="http://schemas.microsoft.com/office/drawing/2014/main" id="{1B7B50A3-4EB5-45C9-A658-97094949E524}"/>
              </a:ext>
            </a:extLst>
          </p:cNvPr>
          <p:cNvSpPr>
            <a:spLocks noChangeShapeType="1"/>
          </p:cNvSpPr>
          <p:nvPr/>
        </p:nvSpPr>
        <p:spPr bwMode="auto">
          <a:xfrm>
            <a:off x="4775200" y="4470400"/>
            <a:ext cx="88900" cy="8509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8" name="Line 6">
            <a:extLst>
              <a:ext uri="{FF2B5EF4-FFF2-40B4-BE49-F238E27FC236}">
                <a16:creationId xmlns:a16="http://schemas.microsoft.com/office/drawing/2014/main" id="{285FAED6-C14B-4AE8-A4D9-6FEC7EDF6078}"/>
              </a:ext>
            </a:extLst>
          </p:cNvPr>
          <p:cNvSpPr>
            <a:spLocks noChangeShapeType="1"/>
          </p:cNvSpPr>
          <p:nvPr/>
        </p:nvSpPr>
        <p:spPr bwMode="auto">
          <a:xfrm>
            <a:off x="7937500" y="3136900"/>
            <a:ext cx="457200" cy="787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59" name="Line 7">
            <a:extLst>
              <a:ext uri="{FF2B5EF4-FFF2-40B4-BE49-F238E27FC236}">
                <a16:creationId xmlns:a16="http://schemas.microsoft.com/office/drawing/2014/main" id="{406C0032-2998-4E47-8E39-473BB7BB4C6C}"/>
              </a:ext>
            </a:extLst>
          </p:cNvPr>
          <p:cNvSpPr>
            <a:spLocks noChangeShapeType="1"/>
          </p:cNvSpPr>
          <p:nvPr/>
        </p:nvSpPr>
        <p:spPr bwMode="auto">
          <a:xfrm>
            <a:off x="7772400" y="3149600"/>
            <a:ext cx="266700" cy="787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0" name="Line 8">
            <a:extLst>
              <a:ext uri="{FF2B5EF4-FFF2-40B4-BE49-F238E27FC236}">
                <a16:creationId xmlns:a16="http://schemas.microsoft.com/office/drawing/2014/main" id="{20181358-63AF-4C64-A239-0E63EE08AE0B}"/>
              </a:ext>
            </a:extLst>
          </p:cNvPr>
          <p:cNvSpPr>
            <a:spLocks noChangeShapeType="1"/>
          </p:cNvSpPr>
          <p:nvPr/>
        </p:nvSpPr>
        <p:spPr bwMode="auto">
          <a:xfrm>
            <a:off x="7594600" y="3162300"/>
            <a:ext cx="127000" cy="8001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1" name="Line 9">
            <a:extLst>
              <a:ext uri="{FF2B5EF4-FFF2-40B4-BE49-F238E27FC236}">
                <a16:creationId xmlns:a16="http://schemas.microsoft.com/office/drawing/2014/main" id="{3729FDB3-E910-4C65-A810-3B544EC758FE}"/>
              </a:ext>
            </a:extLst>
          </p:cNvPr>
          <p:cNvSpPr>
            <a:spLocks noChangeShapeType="1"/>
          </p:cNvSpPr>
          <p:nvPr/>
        </p:nvSpPr>
        <p:spPr bwMode="auto">
          <a:xfrm flipH="1">
            <a:off x="7112000" y="3124200"/>
            <a:ext cx="215900" cy="8255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2" name="Line 10">
            <a:extLst>
              <a:ext uri="{FF2B5EF4-FFF2-40B4-BE49-F238E27FC236}">
                <a16:creationId xmlns:a16="http://schemas.microsoft.com/office/drawing/2014/main" id="{00FA97B3-FAF3-4F00-96CB-101D47D6B7CF}"/>
              </a:ext>
            </a:extLst>
          </p:cNvPr>
          <p:cNvSpPr>
            <a:spLocks noChangeShapeType="1"/>
          </p:cNvSpPr>
          <p:nvPr/>
        </p:nvSpPr>
        <p:spPr bwMode="auto">
          <a:xfrm flipH="1">
            <a:off x="7366000" y="3124200"/>
            <a:ext cx="114300" cy="8255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3" name="Line 11">
            <a:extLst>
              <a:ext uri="{FF2B5EF4-FFF2-40B4-BE49-F238E27FC236}">
                <a16:creationId xmlns:a16="http://schemas.microsoft.com/office/drawing/2014/main" id="{9FF2AB1D-A181-4F32-8415-8811650748B5}"/>
              </a:ext>
            </a:extLst>
          </p:cNvPr>
          <p:cNvSpPr>
            <a:spLocks noChangeShapeType="1"/>
          </p:cNvSpPr>
          <p:nvPr/>
        </p:nvSpPr>
        <p:spPr bwMode="auto">
          <a:xfrm>
            <a:off x="6032500" y="3124200"/>
            <a:ext cx="457200" cy="9017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4" name="Line 12">
            <a:extLst>
              <a:ext uri="{FF2B5EF4-FFF2-40B4-BE49-F238E27FC236}">
                <a16:creationId xmlns:a16="http://schemas.microsoft.com/office/drawing/2014/main" id="{C5043665-3E66-432B-AC64-2E1EAB42DC97}"/>
              </a:ext>
            </a:extLst>
          </p:cNvPr>
          <p:cNvSpPr>
            <a:spLocks noChangeShapeType="1"/>
          </p:cNvSpPr>
          <p:nvPr/>
        </p:nvSpPr>
        <p:spPr bwMode="auto">
          <a:xfrm flipH="1">
            <a:off x="4991100" y="3098800"/>
            <a:ext cx="596900" cy="939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5" name="Line 13">
            <a:extLst>
              <a:ext uri="{FF2B5EF4-FFF2-40B4-BE49-F238E27FC236}">
                <a16:creationId xmlns:a16="http://schemas.microsoft.com/office/drawing/2014/main" id="{B11A2543-3D63-4BBA-AF96-06CA4E71B5B8}"/>
              </a:ext>
            </a:extLst>
          </p:cNvPr>
          <p:cNvSpPr>
            <a:spLocks noChangeShapeType="1"/>
          </p:cNvSpPr>
          <p:nvPr/>
        </p:nvSpPr>
        <p:spPr bwMode="auto">
          <a:xfrm flipH="1">
            <a:off x="5753100" y="3124200"/>
            <a:ext cx="25400" cy="9017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6" name="Line 14">
            <a:extLst>
              <a:ext uri="{FF2B5EF4-FFF2-40B4-BE49-F238E27FC236}">
                <a16:creationId xmlns:a16="http://schemas.microsoft.com/office/drawing/2014/main" id="{DB162A5C-7BAE-4573-8DD6-041381C19806}"/>
              </a:ext>
            </a:extLst>
          </p:cNvPr>
          <p:cNvSpPr>
            <a:spLocks noChangeShapeType="1"/>
          </p:cNvSpPr>
          <p:nvPr/>
        </p:nvSpPr>
        <p:spPr bwMode="auto">
          <a:xfrm>
            <a:off x="3848100" y="3136900"/>
            <a:ext cx="215900" cy="8255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7" name="Line 15">
            <a:extLst>
              <a:ext uri="{FF2B5EF4-FFF2-40B4-BE49-F238E27FC236}">
                <a16:creationId xmlns:a16="http://schemas.microsoft.com/office/drawing/2014/main" id="{9157FB3B-055B-4DC7-9842-89E9D8FFD1C7}"/>
              </a:ext>
            </a:extLst>
          </p:cNvPr>
          <p:cNvSpPr>
            <a:spLocks noChangeShapeType="1"/>
          </p:cNvSpPr>
          <p:nvPr/>
        </p:nvSpPr>
        <p:spPr bwMode="auto">
          <a:xfrm>
            <a:off x="3632200" y="3136900"/>
            <a:ext cx="101600" cy="838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8" name="Line 16">
            <a:extLst>
              <a:ext uri="{FF2B5EF4-FFF2-40B4-BE49-F238E27FC236}">
                <a16:creationId xmlns:a16="http://schemas.microsoft.com/office/drawing/2014/main" id="{EC0A8F5F-C2F0-4C27-ABE8-B96EE3B43CD9}"/>
              </a:ext>
            </a:extLst>
          </p:cNvPr>
          <p:cNvSpPr>
            <a:spLocks noChangeShapeType="1"/>
          </p:cNvSpPr>
          <p:nvPr/>
        </p:nvSpPr>
        <p:spPr bwMode="auto">
          <a:xfrm flipH="1">
            <a:off x="3403600" y="3111500"/>
            <a:ext cx="76200" cy="8763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9" name="Line 17">
            <a:extLst>
              <a:ext uri="{FF2B5EF4-FFF2-40B4-BE49-F238E27FC236}">
                <a16:creationId xmlns:a16="http://schemas.microsoft.com/office/drawing/2014/main" id="{19C8FEC1-04F3-45FD-8DB4-09A7D5676BDC}"/>
              </a:ext>
            </a:extLst>
          </p:cNvPr>
          <p:cNvSpPr>
            <a:spLocks noChangeShapeType="1"/>
          </p:cNvSpPr>
          <p:nvPr/>
        </p:nvSpPr>
        <p:spPr bwMode="auto">
          <a:xfrm flipH="1">
            <a:off x="3124200" y="3124200"/>
            <a:ext cx="215900" cy="8509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0" name="Line 18">
            <a:extLst>
              <a:ext uri="{FF2B5EF4-FFF2-40B4-BE49-F238E27FC236}">
                <a16:creationId xmlns:a16="http://schemas.microsoft.com/office/drawing/2014/main" id="{DD5F04A0-A203-45A5-A334-43324AC5755D}"/>
              </a:ext>
            </a:extLst>
          </p:cNvPr>
          <p:cNvSpPr>
            <a:spLocks noChangeShapeType="1"/>
          </p:cNvSpPr>
          <p:nvPr/>
        </p:nvSpPr>
        <p:spPr bwMode="auto">
          <a:xfrm>
            <a:off x="2082800" y="3124200"/>
            <a:ext cx="800100" cy="8001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1" name="Line 19">
            <a:extLst>
              <a:ext uri="{FF2B5EF4-FFF2-40B4-BE49-F238E27FC236}">
                <a16:creationId xmlns:a16="http://schemas.microsoft.com/office/drawing/2014/main" id="{EC556945-3AB6-44CF-ADCB-6350A1937338}"/>
              </a:ext>
            </a:extLst>
          </p:cNvPr>
          <p:cNvSpPr>
            <a:spLocks noChangeShapeType="1"/>
          </p:cNvSpPr>
          <p:nvPr/>
        </p:nvSpPr>
        <p:spPr bwMode="auto">
          <a:xfrm>
            <a:off x="1905000" y="3124200"/>
            <a:ext cx="571500" cy="9271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2" name="Line 20">
            <a:extLst>
              <a:ext uri="{FF2B5EF4-FFF2-40B4-BE49-F238E27FC236}">
                <a16:creationId xmlns:a16="http://schemas.microsoft.com/office/drawing/2014/main" id="{3B90CBB1-1FA4-49EF-B956-F82C2A993154}"/>
              </a:ext>
            </a:extLst>
          </p:cNvPr>
          <p:cNvSpPr>
            <a:spLocks noChangeShapeType="1"/>
          </p:cNvSpPr>
          <p:nvPr/>
        </p:nvSpPr>
        <p:spPr bwMode="auto">
          <a:xfrm>
            <a:off x="1689100" y="3124200"/>
            <a:ext cx="0" cy="9271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3" name="Line 21">
            <a:extLst>
              <a:ext uri="{FF2B5EF4-FFF2-40B4-BE49-F238E27FC236}">
                <a16:creationId xmlns:a16="http://schemas.microsoft.com/office/drawing/2014/main" id="{91BF867A-86CB-416D-AB1F-D8E76C876BD9}"/>
              </a:ext>
            </a:extLst>
          </p:cNvPr>
          <p:cNvSpPr>
            <a:spLocks noChangeShapeType="1"/>
          </p:cNvSpPr>
          <p:nvPr/>
        </p:nvSpPr>
        <p:spPr bwMode="auto">
          <a:xfrm flipH="1">
            <a:off x="952500" y="3124200"/>
            <a:ext cx="558800" cy="9271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4" name="Line 22">
            <a:extLst>
              <a:ext uri="{FF2B5EF4-FFF2-40B4-BE49-F238E27FC236}">
                <a16:creationId xmlns:a16="http://schemas.microsoft.com/office/drawing/2014/main" id="{78E303CA-52CF-4240-8ADD-31B4783E8AC4}"/>
              </a:ext>
            </a:extLst>
          </p:cNvPr>
          <p:cNvSpPr>
            <a:spLocks noChangeShapeType="1"/>
          </p:cNvSpPr>
          <p:nvPr/>
        </p:nvSpPr>
        <p:spPr bwMode="auto">
          <a:xfrm>
            <a:off x="5003800" y="1968500"/>
            <a:ext cx="2247900" cy="711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5" name="Line 23">
            <a:extLst>
              <a:ext uri="{FF2B5EF4-FFF2-40B4-BE49-F238E27FC236}">
                <a16:creationId xmlns:a16="http://schemas.microsoft.com/office/drawing/2014/main" id="{05CA3867-5C94-4ED6-AEF7-505D3CD63342}"/>
              </a:ext>
            </a:extLst>
          </p:cNvPr>
          <p:cNvSpPr>
            <a:spLocks noChangeShapeType="1"/>
          </p:cNvSpPr>
          <p:nvPr/>
        </p:nvSpPr>
        <p:spPr bwMode="auto">
          <a:xfrm>
            <a:off x="4597400" y="1968500"/>
            <a:ext cx="1092200" cy="736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6" name="Line 24">
            <a:extLst>
              <a:ext uri="{FF2B5EF4-FFF2-40B4-BE49-F238E27FC236}">
                <a16:creationId xmlns:a16="http://schemas.microsoft.com/office/drawing/2014/main" id="{F1705F0E-6CB0-436E-933A-FA6B8EC12BC0}"/>
              </a:ext>
            </a:extLst>
          </p:cNvPr>
          <p:cNvSpPr>
            <a:spLocks noChangeShapeType="1"/>
          </p:cNvSpPr>
          <p:nvPr/>
        </p:nvSpPr>
        <p:spPr bwMode="auto">
          <a:xfrm flipH="1">
            <a:off x="3594100" y="1955800"/>
            <a:ext cx="723900" cy="7239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7" name="Line 25">
            <a:extLst>
              <a:ext uri="{FF2B5EF4-FFF2-40B4-BE49-F238E27FC236}">
                <a16:creationId xmlns:a16="http://schemas.microsoft.com/office/drawing/2014/main" id="{C5AD1E87-E97E-4C48-B2B4-26EBCEBD1ABA}"/>
              </a:ext>
            </a:extLst>
          </p:cNvPr>
          <p:cNvSpPr>
            <a:spLocks noChangeShapeType="1"/>
          </p:cNvSpPr>
          <p:nvPr/>
        </p:nvSpPr>
        <p:spPr bwMode="auto">
          <a:xfrm flipH="1">
            <a:off x="2120900" y="1955800"/>
            <a:ext cx="1955800" cy="736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8" name="Rectangle 27">
            <a:extLst>
              <a:ext uri="{FF2B5EF4-FFF2-40B4-BE49-F238E27FC236}">
                <a16:creationId xmlns:a16="http://schemas.microsoft.com/office/drawing/2014/main" id="{BBB13FE8-E3DC-4CBF-B31F-77C0167783F7}"/>
              </a:ext>
            </a:extLst>
          </p:cNvPr>
          <p:cNvSpPr>
            <a:spLocks noChangeArrowheads="1"/>
          </p:cNvSpPr>
          <p:nvPr/>
        </p:nvSpPr>
        <p:spPr bwMode="auto">
          <a:xfrm>
            <a:off x="3873500" y="1524000"/>
            <a:ext cx="12827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79" name="Text Box 28">
            <a:extLst>
              <a:ext uri="{FF2B5EF4-FFF2-40B4-BE49-F238E27FC236}">
                <a16:creationId xmlns:a16="http://schemas.microsoft.com/office/drawing/2014/main" id="{8B32B4E1-773A-41A4-95C2-A63CD138EC6A}"/>
              </a:ext>
            </a:extLst>
          </p:cNvPr>
          <p:cNvSpPr txBox="1">
            <a:spLocks noChangeArrowheads="1"/>
          </p:cNvSpPr>
          <p:nvPr/>
        </p:nvSpPr>
        <p:spPr bwMode="auto">
          <a:xfrm>
            <a:off x="4035425" y="1476375"/>
            <a:ext cx="1103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0000CC"/>
                </a:solidFill>
              </a:rPr>
              <a:t>/</a:t>
            </a:r>
            <a:r>
              <a:rPr lang="en-US" altLang="zh-CN" b="1"/>
              <a:t> (root)</a:t>
            </a:r>
            <a:endParaRPr lang="en-US" altLang="zh-CN" sz="3200"/>
          </a:p>
        </p:txBody>
      </p:sp>
      <p:sp>
        <p:nvSpPr>
          <p:cNvPr id="23580" name="Rectangle 29">
            <a:extLst>
              <a:ext uri="{FF2B5EF4-FFF2-40B4-BE49-F238E27FC236}">
                <a16:creationId xmlns:a16="http://schemas.microsoft.com/office/drawing/2014/main" id="{CC6968D8-2689-4513-97BD-C81189E30E58}"/>
              </a:ext>
            </a:extLst>
          </p:cNvPr>
          <p:cNvSpPr>
            <a:spLocks noChangeArrowheads="1"/>
          </p:cNvSpPr>
          <p:nvPr/>
        </p:nvSpPr>
        <p:spPr bwMode="auto">
          <a:xfrm>
            <a:off x="1333500" y="2692400"/>
            <a:ext cx="9017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81" name="Rectangle 30">
            <a:extLst>
              <a:ext uri="{FF2B5EF4-FFF2-40B4-BE49-F238E27FC236}">
                <a16:creationId xmlns:a16="http://schemas.microsoft.com/office/drawing/2014/main" id="{06FD6C32-5FBE-4DEB-9C4C-DCC60DAF0701}"/>
              </a:ext>
            </a:extLst>
          </p:cNvPr>
          <p:cNvSpPr>
            <a:spLocks noChangeArrowheads="1"/>
          </p:cNvSpPr>
          <p:nvPr/>
        </p:nvSpPr>
        <p:spPr bwMode="auto">
          <a:xfrm>
            <a:off x="3136900" y="2692400"/>
            <a:ext cx="9017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82" name="Rectangle 31">
            <a:extLst>
              <a:ext uri="{FF2B5EF4-FFF2-40B4-BE49-F238E27FC236}">
                <a16:creationId xmlns:a16="http://schemas.microsoft.com/office/drawing/2014/main" id="{69C133E8-4574-4C8E-9D60-3A769FFAB2D2}"/>
              </a:ext>
            </a:extLst>
          </p:cNvPr>
          <p:cNvSpPr>
            <a:spLocks noChangeArrowheads="1"/>
          </p:cNvSpPr>
          <p:nvPr/>
        </p:nvSpPr>
        <p:spPr bwMode="auto">
          <a:xfrm>
            <a:off x="5295900" y="2692400"/>
            <a:ext cx="9017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83" name="Rectangle 32">
            <a:extLst>
              <a:ext uri="{FF2B5EF4-FFF2-40B4-BE49-F238E27FC236}">
                <a16:creationId xmlns:a16="http://schemas.microsoft.com/office/drawing/2014/main" id="{F76A72AA-6AA2-4FB2-9177-788A6BCAD7F3}"/>
              </a:ext>
            </a:extLst>
          </p:cNvPr>
          <p:cNvSpPr>
            <a:spLocks noChangeArrowheads="1"/>
          </p:cNvSpPr>
          <p:nvPr/>
        </p:nvSpPr>
        <p:spPr bwMode="auto">
          <a:xfrm>
            <a:off x="7124700" y="2692400"/>
            <a:ext cx="9017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84" name="Text Box 33">
            <a:extLst>
              <a:ext uri="{FF2B5EF4-FFF2-40B4-BE49-F238E27FC236}">
                <a16:creationId xmlns:a16="http://schemas.microsoft.com/office/drawing/2014/main" id="{06FBEDF2-F97D-4E3C-A2EA-492FCD0E80DB}"/>
              </a:ext>
            </a:extLst>
          </p:cNvPr>
          <p:cNvSpPr txBox="1">
            <a:spLocks noChangeArrowheads="1"/>
          </p:cNvSpPr>
          <p:nvPr/>
        </p:nvSpPr>
        <p:spPr bwMode="auto">
          <a:xfrm>
            <a:off x="1444625" y="2632075"/>
            <a:ext cx="679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0000CC"/>
                </a:solidFill>
              </a:rPr>
              <a:t>bin</a:t>
            </a:r>
            <a:endParaRPr lang="en-US" altLang="zh-CN" sz="3200"/>
          </a:p>
        </p:txBody>
      </p:sp>
      <p:sp>
        <p:nvSpPr>
          <p:cNvPr id="23585" name="Text Box 34">
            <a:extLst>
              <a:ext uri="{FF2B5EF4-FFF2-40B4-BE49-F238E27FC236}">
                <a16:creationId xmlns:a16="http://schemas.microsoft.com/office/drawing/2014/main" id="{C0A27424-65F1-4E63-941E-F38D2E06200E}"/>
              </a:ext>
            </a:extLst>
          </p:cNvPr>
          <p:cNvSpPr txBox="1">
            <a:spLocks noChangeArrowheads="1"/>
          </p:cNvSpPr>
          <p:nvPr/>
        </p:nvSpPr>
        <p:spPr bwMode="auto">
          <a:xfrm>
            <a:off x="3298825" y="2644775"/>
            <a:ext cx="579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0000CC"/>
                </a:solidFill>
              </a:rPr>
              <a:t>lib</a:t>
            </a:r>
            <a:endParaRPr lang="en-US" altLang="zh-CN" sz="3200"/>
          </a:p>
        </p:txBody>
      </p:sp>
      <p:sp>
        <p:nvSpPr>
          <p:cNvPr id="23586" name="Text Box 35">
            <a:extLst>
              <a:ext uri="{FF2B5EF4-FFF2-40B4-BE49-F238E27FC236}">
                <a16:creationId xmlns:a16="http://schemas.microsoft.com/office/drawing/2014/main" id="{33C7D0A5-518B-41F1-BBA2-6370923FB6FC}"/>
              </a:ext>
            </a:extLst>
          </p:cNvPr>
          <p:cNvSpPr txBox="1">
            <a:spLocks noChangeArrowheads="1"/>
          </p:cNvSpPr>
          <p:nvPr/>
        </p:nvSpPr>
        <p:spPr bwMode="auto">
          <a:xfrm>
            <a:off x="5343525" y="2619375"/>
            <a:ext cx="835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0000CC"/>
                </a:solidFill>
              </a:rPr>
              <a:t>user</a:t>
            </a:r>
            <a:endParaRPr lang="en-US" altLang="zh-CN" sz="3200"/>
          </a:p>
        </p:txBody>
      </p:sp>
      <p:sp>
        <p:nvSpPr>
          <p:cNvPr id="23587" name="Text Box 36">
            <a:extLst>
              <a:ext uri="{FF2B5EF4-FFF2-40B4-BE49-F238E27FC236}">
                <a16:creationId xmlns:a16="http://schemas.microsoft.com/office/drawing/2014/main" id="{27F7C62C-C9F3-4920-8530-07CCC3E13498}"/>
              </a:ext>
            </a:extLst>
          </p:cNvPr>
          <p:cNvSpPr txBox="1">
            <a:spLocks noChangeArrowheads="1"/>
          </p:cNvSpPr>
          <p:nvPr/>
        </p:nvSpPr>
        <p:spPr bwMode="auto">
          <a:xfrm>
            <a:off x="7286625" y="2632075"/>
            <a:ext cx="617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0000CC"/>
                </a:solidFill>
              </a:rPr>
              <a:t>etc</a:t>
            </a:r>
            <a:endParaRPr lang="en-US" altLang="zh-CN" sz="3200"/>
          </a:p>
        </p:txBody>
      </p:sp>
      <p:sp>
        <p:nvSpPr>
          <p:cNvPr id="23588" name="Rectangle 37">
            <a:extLst>
              <a:ext uri="{FF2B5EF4-FFF2-40B4-BE49-F238E27FC236}">
                <a16:creationId xmlns:a16="http://schemas.microsoft.com/office/drawing/2014/main" id="{A44F6E27-4EDB-42DF-9452-4AA7750B89B8}"/>
              </a:ext>
            </a:extLst>
          </p:cNvPr>
          <p:cNvSpPr>
            <a:spLocks noChangeArrowheads="1"/>
          </p:cNvSpPr>
          <p:nvPr/>
        </p:nvSpPr>
        <p:spPr bwMode="auto">
          <a:xfrm>
            <a:off x="469900" y="4051300"/>
            <a:ext cx="7239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89" name="Rectangle 38">
            <a:extLst>
              <a:ext uri="{FF2B5EF4-FFF2-40B4-BE49-F238E27FC236}">
                <a16:creationId xmlns:a16="http://schemas.microsoft.com/office/drawing/2014/main" id="{016E1343-2EA6-4B2A-AF08-71C270267A6F}"/>
              </a:ext>
            </a:extLst>
          </p:cNvPr>
          <p:cNvSpPr>
            <a:spLocks noChangeArrowheads="1"/>
          </p:cNvSpPr>
          <p:nvPr/>
        </p:nvSpPr>
        <p:spPr bwMode="auto">
          <a:xfrm>
            <a:off x="1371600" y="4051300"/>
            <a:ext cx="7239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90" name="Rectangle 39">
            <a:extLst>
              <a:ext uri="{FF2B5EF4-FFF2-40B4-BE49-F238E27FC236}">
                <a16:creationId xmlns:a16="http://schemas.microsoft.com/office/drawing/2014/main" id="{5E1A429D-3C6C-483C-8423-AE2599EEFA3D}"/>
              </a:ext>
            </a:extLst>
          </p:cNvPr>
          <p:cNvSpPr>
            <a:spLocks noChangeArrowheads="1"/>
          </p:cNvSpPr>
          <p:nvPr/>
        </p:nvSpPr>
        <p:spPr bwMode="auto">
          <a:xfrm>
            <a:off x="2260600" y="4051300"/>
            <a:ext cx="7239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91" name="Rectangle 40">
            <a:extLst>
              <a:ext uri="{FF2B5EF4-FFF2-40B4-BE49-F238E27FC236}">
                <a16:creationId xmlns:a16="http://schemas.microsoft.com/office/drawing/2014/main" id="{2C3B92CA-9F57-4B3A-96A3-42B5206B39AD}"/>
              </a:ext>
            </a:extLst>
          </p:cNvPr>
          <p:cNvSpPr>
            <a:spLocks noChangeArrowheads="1"/>
          </p:cNvSpPr>
          <p:nvPr/>
        </p:nvSpPr>
        <p:spPr bwMode="auto">
          <a:xfrm>
            <a:off x="5397500" y="4038600"/>
            <a:ext cx="7239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92" name="Rectangle 41">
            <a:extLst>
              <a:ext uri="{FF2B5EF4-FFF2-40B4-BE49-F238E27FC236}">
                <a16:creationId xmlns:a16="http://schemas.microsoft.com/office/drawing/2014/main" id="{F39CFBB2-FA6A-4D28-9101-CA6CD9A01EA2}"/>
              </a:ext>
            </a:extLst>
          </p:cNvPr>
          <p:cNvSpPr>
            <a:spLocks noChangeArrowheads="1"/>
          </p:cNvSpPr>
          <p:nvPr/>
        </p:nvSpPr>
        <p:spPr bwMode="auto">
          <a:xfrm>
            <a:off x="4508500" y="4038600"/>
            <a:ext cx="7239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93" name="Rectangle 42">
            <a:extLst>
              <a:ext uri="{FF2B5EF4-FFF2-40B4-BE49-F238E27FC236}">
                <a16:creationId xmlns:a16="http://schemas.microsoft.com/office/drawing/2014/main" id="{F3B7EF5E-EAA8-443B-87D8-85E0E91247C4}"/>
              </a:ext>
            </a:extLst>
          </p:cNvPr>
          <p:cNvSpPr>
            <a:spLocks noChangeArrowheads="1"/>
          </p:cNvSpPr>
          <p:nvPr/>
        </p:nvSpPr>
        <p:spPr bwMode="auto">
          <a:xfrm>
            <a:off x="6273800" y="4025900"/>
            <a:ext cx="7239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594" name="Text Box 43">
            <a:extLst>
              <a:ext uri="{FF2B5EF4-FFF2-40B4-BE49-F238E27FC236}">
                <a16:creationId xmlns:a16="http://schemas.microsoft.com/office/drawing/2014/main" id="{A013E8CF-B966-43FD-AD8E-FFEF148B4264}"/>
              </a:ext>
            </a:extLst>
          </p:cNvPr>
          <p:cNvSpPr txBox="1">
            <a:spLocks noChangeArrowheads="1"/>
          </p:cNvSpPr>
          <p:nvPr/>
        </p:nvSpPr>
        <p:spPr bwMode="auto">
          <a:xfrm>
            <a:off x="403225" y="4016375"/>
            <a:ext cx="862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math</a:t>
            </a:r>
            <a:endParaRPr lang="en-US" altLang="zh-CN" sz="3200"/>
          </a:p>
        </p:txBody>
      </p:sp>
      <p:sp>
        <p:nvSpPr>
          <p:cNvPr id="23595" name="Text Box 44">
            <a:extLst>
              <a:ext uri="{FF2B5EF4-FFF2-40B4-BE49-F238E27FC236}">
                <a16:creationId xmlns:a16="http://schemas.microsoft.com/office/drawing/2014/main" id="{056F4595-EE7C-4D43-B97B-8602A1D206C5}"/>
              </a:ext>
            </a:extLst>
          </p:cNvPr>
          <p:cNvSpPr txBox="1">
            <a:spLocks noChangeArrowheads="1"/>
          </p:cNvSpPr>
          <p:nvPr/>
        </p:nvSpPr>
        <p:spPr bwMode="auto">
          <a:xfrm>
            <a:off x="1495425" y="4029075"/>
            <a:ext cx="4730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ds</a:t>
            </a:r>
            <a:endParaRPr lang="en-US" altLang="zh-CN" sz="3200"/>
          </a:p>
        </p:txBody>
      </p:sp>
      <p:sp>
        <p:nvSpPr>
          <p:cNvPr id="23596" name="Text Box 45">
            <a:extLst>
              <a:ext uri="{FF2B5EF4-FFF2-40B4-BE49-F238E27FC236}">
                <a16:creationId xmlns:a16="http://schemas.microsoft.com/office/drawing/2014/main" id="{444FD1DC-5105-41C3-8E6C-1C30DE8817D4}"/>
              </a:ext>
            </a:extLst>
          </p:cNvPr>
          <p:cNvSpPr txBox="1">
            <a:spLocks noChangeArrowheads="1"/>
          </p:cNvSpPr>
          <p:nvPr/>
        </p:nvSpPr>
        <p:spPr bwMode="auto">
          <a:xfrm>
            <a:off x="2384425" y="4003675"/>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sw</a:t>
            </a:r>
            <a:endParaRPr lang="en-US" altLang="zh-CN" sz="3200"/>
          </a:p>
        </p:txBody>
      </p:sp>
      <p:sp>
        <p:nvSpPr>
          <p:cNvPr id="23597" name="Text Box 46">
            <a:extLst>
              <a:ext uri="{FF2B5EF4-FFF2-40B4-BE49-F238E27FC236}">
                <a16:creationId xmlns:a16="http://schemas.microsoft.com/office/drawing/2014/main" id="{77BF6313-C087-4341-854C-FDFD6E5EFA2B}"/>
              </a:ext>
            </a:extLst>
          </p:cNvPr>
          <p:cNvSpPr txBox="1">
            <a:spLocks noChangeArrowheads="1"/>
          </p:cNvSpPr>
          <p:nvPr/>
        </p:nvSpPr>
        <p:spPr bwMode="auto">
          <a:xfrm>
            <a:off x="4594225" y="4003675"/>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yin</a:t>
            </a:r>
            <a:endParaRPr lang="en-US" altLang="zh-CN" sz="3200"/>
          </a:p>
        </p:txBody>
      </p:sp>
      <p:sp>
        <p:nvSpPr>
          <p:cNvPr id="23598" name="Text Box 47">
            <a:extLst>
              <a:ext uri="{FF2B5EF4-FFF2-40B4-BE49-F238E27FC236}">
                <a16:creationId xmlns:a16="http://schemas.microsoft.com/office/drawing/2014/main" id="{A859469F-86B2-482E-9E8B-C402F1D540EC}"/>
              </a:ext>
            </a:extLst>
          </p:cNvPr>
          <p:cNvSpPr txBox="1">
            <a:spLocks noChangeArrowheads="1"/>
          </p:cNvSpPr>
          <p:nvPr/>
        </p:nvSpPr>
        <p:spPr bwMode="auto">
          <a:xfrm>
            <a:off x="5483225" y="4003675"/>
            <a:ext cx="590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tao</a:t>
            </a:r>
            <a:endParaRPr lang="en-US" altLang="zh-CN" sz="3200"/>
          </a:p>
        </p:txBody>
      </p:sp>
      <p:sp>
        <p:nvSpPr>
          <p:cNvPr id="23599" name="Text Box 48">
            <a:extLst>
              <a:ext uri="{FF2B5EF4-FFF2-40B4-BE49-F238E27FC236}">
                <a16:creationId xmlns:a16="http://schemas.microsoft.com/office/drawing/2014/main" id="{1AE0ADA3-0031-4983-AB48-4BA7BEFCF3A1}"/>
              </a:ext>
            </a:extLst>
          </p:cNvPr>
          <p:cNvSpPr txBox="1">
            <a:spLocks noChangeArrowheads="1"/>
          </p:cNvSpPr>
          <p:nvPr/>
        </p:nvSpPr>
        <p:spPr bwMode="auto">
          <a:xfrm>
            <a:off x="6372225" y="4003675"/>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xie</a:t>
            </a:r>
            <a:endParaRPr lang="en-US" altLang="zh-CN" sz="3200"/>
          </a:p>
        </p:txBody>
      </p:sp>
      <p:sp>
        <p:nvSpPr>
          <p:cNvPr id="23600" name="Rectangle 49">
            <a:extLst>
              <a:ext uri="{FF2B5EF4-FFF2-40B4-BE49-F238E27FC236}">
                <a16:creationId xmlns:a16="http://schemas.microsoft.com/office/drawing/2014/main" id="{FC3E02BD-5D52-4A5B-86F0-ED6D9EA8FF09}"/>
              </a:ext>
            </a:extLst>
          </p:cNvPr>
          <p:cNvSpPr>
            <a:spLocks noChangeArrowheads="1"/>
          </p:cNvSpPr>
          <p:nvPr/>
        </p:nvSpPr>
        <p:spPr bwMode="auto">
          <a:xfrm>
            <a:off x="4152900" y="5334000"/>
            <a:ext cx="14351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601" name="Text Box 50">
            <a:extLst>
              <a:ext uri="{FF2B5EF4-FFF2-40B4-BE49-F238E27FC236}">
                <a16:creationId xmlns:a16="http://schemas.microsoft.com/office/drawing/2014/main" id="{989AF443-93E7-472E-B115-2648B22C4E47}"/>
              </a:ext>
            </a:extLst>
          </p:cNvPr>
          <p:cNvSpPr txBox="1">
            <a:spLocks noChangeArrowheads="1"/>
          </p:cNvSpPr>
          <p:nvPr/>
        </p:nvSpPr>
        <p:spPr bwMode="auto">
          <a:xfrm>
            <a:off x="4162425" y="5299075"/>
            <a:ext cx="1463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Stack.cpp</a:t>
            </a:r>
            <a:endParaRPr lang="en-US" altLang="zh-CN" sz="3200"/>
          </a:p>
        </p:txBody>
      </p:sp>
      <p:sp>
        <p:nvSpPr>
          <p:cNvPr id="23602" name="Rectangle 51">
            <a:extLst>
              <a:ext uri="{FF2B5EF4-FFF2-40B4-BE49-F238E27FC236}">
                <a16:creationId xmlns:a16="http://schemas.microsoft.com/office/drawing/2014/main" id="{84C2AF64-CF30-4095-902B-4CECEE398A3E}"/>
              </a:ext>
            </a:extLst>
          </p:cNvPr>
          <p:cNvSpPr>
            <a:spLocks noChangeArrowheads="1"/>
          </p:cNvSpPr>
          <p:nvPr/>
        </p:nvSpPr>
        <p:spPr bwMode="auto">
          <a:xfrm>
            <a:off x="5765800" y="5334000"/>
            <a:ext cx="13335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603" name="Rectangle 52">
            <a:extLst>
              <a:ext uri="{FF2B5EF4-FFF2-40B4-BE49-F238E27FC236}">
                <a16:creationId xmlns:a16="http://schemas.microsoft.com/office/drawing/2014/main" id="{81AC28A2-FD02-4AF3-9003-E8A62401CCD1}"/>
              </a:ext>
            </a:extLst>
          </p:cNvPr>
          <p:cNvSpPr>
            <a:spLocks noChangeArrowheads="1"/>
          </p:cNvSpPr>
          <p:nvPr/>
        </p:nvSpPr>
        <p:spPr bwMode="auto">
          <a:xfrm>
            <a:off x="2489200" y="5321300"/>
            <a:ext cx="1498600" cy="431800"/>
          </a:xfrm>
          <a:prstGeom prst="rect">
            <a:avLst/>
          </a:prstGeom>
          <a:solidFill>
            <a:schemeClr val="bg1"/>
          </a:solidFill>
          <a:ln w="28575">
            <a:solidFill>
              <a:srgbClr val="FF0000"/>
            </a:solidFill>
            <a:miter lim="800000"/>
            <a:headEnd/>
            <a:tailEnd/>
          </a:ln>
          <a:effectLst>
            <a:outerShdw dist="107763" dir="2700000" algn="ctr" rotWithShape="0">
              <a:schemeClr val="bg2"/>
            </a:outerShdw>
          </a:effec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23604" name="Text Box 53">
            <a:extLst>
              <a:ext uri="{FF2B5EF4-FFF2-40B4-BE49-F238E27FC236}">
                <a16:creationId xmlns:a16="http://schemas.microsoft.com/office/drawing/2014/main" id="{7F601850-71AA-47AA-9D0E-58201637F1C9}"/>
              </a:ext>
            </a:extLst>
          </p:cNvPr>
          <p:cNvSpPr txBox="1">
            <a:spLocks noChangeArrowheads="1"/>
          </p:cNvSpPr>
          <p:nvPr/>
        </p:nvSpPr>
        <p:spPr bwMode="auto">
          <a:xfrm>
            <a:off x="2460625" y="5299075"/>
            <a:ext cx="1581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Queue.cpp</a:t>
            </a:r>
            <a:endParaRPr lang="en-US" altLang="zh-CN" sz="3200"/>
          </a:p>
        </p:txBody>
      </p:sp>
      <p:sp>
        <p:nvSpPr>
          <p:cNvPr id="23605" name="Text Box 54">
            <a:extLst>
              <a:ext uri="{FF2B5EF4-FFF2-40B4-BE49-F238E27FC236}">
                <a16:creationId xmlns:a16="http://schemas.microsoft.com/office/drawing/2014/main" id="{88BF2EF5-F7FD-4DB1-B5AD-9652AAFA70FB}"/>
              </a:ext>
            </a:extLst>
          </p:cNvPr>
          <p:cNvSpPr txBox="1">
            <a:spLocks noChangeArrowheads="1"/>
          </p:cNvSpPr>
          <p:nvPr/>
        </p:nvSpPr>
        <p:spPr bwMode="auto">
          <a:xfrm>
            <a:off x="5762625" y="5311775"/>
            <a:ext cx="1343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0000CC"/>
                </a:solidFill>
              </a:rPr>
              <a:t>Tree.cpp</a:t>
            </a:r>
            <a:endParaRPr lang="en-US" altLang="zh-CN" sz="3200"/>
          </a:p>
        </p:txBody>
      </p:sp>
      <p:sp>
        <p:nvSpPr>
          <p:cNvPr id="23606" name="Line 55">
            <a:extLst>
              <a:ext uri="{FF2B5EF4-FFF2-40B4-BE49-F238E27FC236}">
                <a16:creationId xmlns:a16="http://schemas.microsoft.com/office/drawing/2014/main" id="{F5E8F52B-20A0-4F60-A1DD-2A47D7819ED4}"/>
              </a:ext>
            </a:extLst>
          </p:cNvPr>
          <p:cNvSpPr>
            <a:spLocks noChangeShapeType="1"/>
          </p:cNvSpPr>
          <p:nvPr/>
        </p:nvSpPr>
        <p:spPr bwMode="auto">
          <a:xfrm flipH="1">
            <a:off x="3175000" y="4470400"/>
            <a:ext cx="1358900" cy="711200"/>
          </a:xfrm>
          <a:prstGeom prst="line">
            <a:avLst/>
          </a:prstGeom>
          <a:noFill/>
          <a:ln w="28575">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607" name="Text Box 56">
            <a:extLst>
              <a:ext uri="{FF2B5EF4-FFF2-40B4-BE49-F238E27FC236}">
                <a16:creationId xmlns:a16="http://schemas.microsoft.com/office/drawing/2014/main" id="{7F6F56B0-75F1-46C3-A3E4-DB53D5F4CD28}"/>
              </a:ext>
            </a:extLst>
          </p:cNvPr>
          <p:cNvSpPr txBox="1">
            <a:spLocks noChangeArrowheads="1"/>
          </p:cNvSpPr>
          <p:nvPr/>
        </p:nvSpPr>
        <p:spPr bwMode="auto">
          <a:xfrm>
            <a:off x="914400" y="6019800"/>
            <a:ext cx="723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lang="zh-CN" altLang="en-US" sz="2800" dirty="0"/>
              <a:t>层次结构要用顺序方式组织就不那么自然</a:t>
            </a:r>
          </a:p>
        </p:txBody>
      </p:sp>
      <p:sp>
        <p:nvSpPr>
          <p:cNvPr id="23608" name="标题 3">
            <a:extLst>
              <a:ext uri="{FF2B5EF4-FFF2-40B4-BE49-F238E27FC236}">
                <a16:creationId xmlns:a16="http://schemas.microsoft.com/office/drawing/2014/main" id="{B374EC05-B2A3-49C3-A99D-6D98BCD3F5B0}"/>
              </a:ext>
            </a:extLst>
          </p:cNvPr>
          <p:cNvSpPr>
            <a:spLocks noGrp="1" noChangeArrowheads="1"/>
          </p:cNvSpPr>
          <p:nvPr>
            <p:ph type="title"/>
          </p:nvPr>
        </p:nvSpPr>
        <p:spPr/>
        <p:txBody>
          <a:bodyPr/>
          <a:lstStyle/>
          <a:p>
            <a:r>
              <a:rPr lang="zh-CN" altLang="en-US" dirty="0"/>
              <a:t>例</a:t>
            </a:r>
            <a:r>
              <a:rPr lang="en-US" altLang="zh-CN" dirty="0"/>
              <a:t>2</a:t>
            </a:r>
            <a:r>
              <a:rPr lang="zh-CN" altLang="en-US" dirty="0"/>
              <a:t>： </a:t>
            </a:r>
            <a:r>
              <a:rPr lang="en-US" altLang="zh-CN" dirty="0"/>
              <a:t>UNIX</a:t>
            </a:r>
            <a:r>
              <a:rPr lang="zh-CN" altLang="en-US" dirty="0"/>
              <a:t>文件系统的结构</a:t>
            </a:r>
          </a:p>
        </p:txBody>
      </p:sp>
      <p:sp>
        <p:nvSpPr>
          <p:cNvPr id="2" name="灯片编号占位符 1">
            <a:extLst>
              <a:ext uri="{FF2B5EF4-FFF2-40B4-BE49-F238E27FC236}">
                <a16:creationId xmlns:a16="http://schemas.microsoft.com/office/drawing/2014/main" id="{404A5FAF-7788-49CF-B16B-55957C774777}"/>
              </a:ext>
            </a:extLst>
          </p:cNvPr>
          <p:cNvSpPr>
            <a:spLocks noGrp="1"/>
          </p:cNvSpPr>
          <p:nvPr>
            <p:ph type="sldNum" sz="quarter" idx="12"/>
          </p:nvPr>
        </p:nvSpPr>
        <p:spPr/>
        <p:txBody>
          <a:bodyPr/>
          <a:lstStyle/>
          <a:p>
            <a:pPr>
              <a:defRPr/>
            </a:pPr>
            <a:fld id="{8E7E4D87-098B-489E-96BE-848B054A6618}" type="slidenum">
              <a:rPr lang="en-US" altLang="zh-CN" smtClean="0"/>
              <a:pPr>
                <a:defRPr/>
              </a:pPr>
              <a:t>13</a:t>
            </a:fld>
            <a:endParaRPr lang="en-US" altLang="zh-CN"/>
          </a:p>
        </p:txBody>
      </p:sp>
    </p:spTree>
  </p:cSld>
  <p:clrMapOvr>
    <a:masterClrMapping/>
  </p:clrMapOvr>
  <p:transition>
    <p:spli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30EC6133-611B-4EA3-AD9D-779FADD98C1F}"/>
              </a:ext>
            </a:extLst>
          </p:cNvPr>
          <p:cNvSpPr>
            <a:spLocks noGrp="1" noChangeArrowheads="1"/>
          </p:cNvSpPr>
          <p:nvPr>
            <p:ph type="title"/>
          </p:nvPr>
        </p:nvSpPr>
        <p:spPr/>
        <p:txBody>
          <a:bodyPr/>
          <a:lstStyle/>
          <a:p>
            <a:r>
              <a:rPr lang="zh-CN" altLang="en-US" dirty="0"/>
              <a:t>数据（</a:t>
            </a:r>
            <a:r>
              <a:rPr lang="en-US" altLang="zh-CN" dirty="0"/>
              <a:t>data</a:t>
            </a:r>
            <a:r>
              <a:rPr lang="zh-CN" altLang="en-US" dirty="0"/>
              <a:t>）</a:t>
            </a:r>
          </a:p>
        </p:txBody>
      </p:sp>
      <p:sp>
        <p:nvSpPr>
          <p:cNvPr id="24579" name="内容占位符 2">
            <a:extLst>
              <a:ext uri="{FF2B5EF4-FFF2-40B4-BE49-F238E27FC236}">
                <a16:creationId xmlns:a16="http://schemas.microsoft.com/office/drawing/2014/main" id="{73FF368B-49BE-43FA-BA73-EA7D60292A5A}"/>
              </a:ext>
            </a:extLst>
          </p:cNvPr>
          <p:cNvSpPr>
            <a:spLocks noGrp="1" noChangeArrowheads="1"/>
          </p:cNvSpPr>
          <p:nvPr>
            <p:ph idx="1"/>
          </p:nvPr>
        </p:nvSpPr>
        <p:spPr/>
        <p:txBody>
          <a:bodyPr/>
          <a:lstStyle/>
          <a:p>
            <a:r>
              <a:rPr lang="zh-CN" altLang="en-US" dirty="0"/>
              <a:t>数据是信息的载体，是描述客观事物的数、字符、以及所有能输入到计算机中，被计算机程序识别和处理的符号的集合。</a:t>
            </a:r>
          </a:p>
          <a:p>
            <a:r>
              <a:rPr lang="zh-CN" altLang="en-US" dirty="0"/>
              <a:t>数据的分类：</a:t>
            </a:r>
          </a:p>
          <a:p>
            <a:pPr lvl="1"/>
            <a:r>
              <a:rPr lang="zh-CN" altLang="en-US" dirty="0"/>
              <a:t>数值性数据</a:t>
            </a:r>
          </a:p>
          <a:p>
            <a:pPr lvl="1"/>
            <a:r>
              <a:rPr lang="zh-CN" altLang="en-US" dirty="0"/>
              <a:t>非数值性数据</a:t>
            </a:r>
          </a:p>
        </p:txBody>
      </p:sp>
      <p:sp>
        <p:nvSpPr>
          <p:cNvPr id="2" name="灯片编号占位符 1">
            <a:extLst>
              <a:ext uri="{FF2B5EF4-FFF2-40B4-BE49-F238E27FC236}">
                <a16:creationId xmlns:a16="http://schemas.microsoft.com/office/drawing/2014/main" id="{59A29017-0397-4EAF-A3A4-C952EBB8747F}"/>
              </a:ext>
            </a:extLst>
          </p:cNvPr>
          <p:cNvSpPr>
            <a:spLocks noGrp="1"/>
          </p:cNvSpPr>
          <p:nvPr>
            <p:ph type="sldNum" sz="quarter" idx="12"/>
          </p:nvPr>
        </p:nvSpPr>
        <p:spPr/>
        <p:txBody>
          <a:bodyPr/>
          <a:lstStyle/>
          <a:p>
            <a:pPr>
              <a:defRPr/>
            </a:pPr>
            <a:fld id="{902C0C3C-6ECB-4383-9A37-F4C24FB7AD67}" type="slidenum">
              <a:rPr lang="en-US" altLang="zh-CN" smtClean="0"/>
              <a:pPr>
                <a:defRPr/>
              </a:pPr>
              <a:t>14</a:t>
            </a:fld>
            <a:endParaRPr lang="en-US" altLang="zh-CN" dirty="0"/>
          </a:p>
        </p:txBody>
      </p:sp>
    </p:spTree>
  </p:cSld>
  <p:clrMapOvr>
    <a:masterClrMapping/>
  </p:clrMapOvr>
  <p:transition>
    <p:spli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a:extLst>
              <a:ext uri="{FF2B5EF4-FFF2-40B4-BE49-F238E27FC236}">
                <a16:creationId xmlns:a16="http://schemas.microsoft.com/office/drawing/2014/main" id="{2BCDADF0-7D1D-42F4-B66D-992396C524CC}"/>
              </a:ext>
            </a:extLst>
          </p:cNvPr>
          <p:cNvSpPr>
            <a:spLocks noGrp="1" noChangeArrowheads="1"/>
          </p:cNvSpPr>
          <p:nvPr>
            <p:ph type="title"/>
          </p:nvPr>
        </p:nvSpPr>
        <p:spPr/>
        <p:txBody>
          <a:bodyPr/>
          <a:lstStyle/>
          <a:p>
            <a:r>
              <a:rPr lang="zh-CN" altLang="en-US"/>
              <a:t>数据元素 </a:t>
            </a:r>
            <a:r>
              <a:rPr lang="en-US" altLang="zh-CN"/>
              <a:t>(data element)</a:t>
            </a:r>
            <a:endParaRPr lang="zh-CN" altLang="en-US"/>
          </a:p>
        </p:txBody>
      </p:sp>
      <p:sp>
        <p:nvSpPr>
          <p:cNvPr id="26627" name="内容占位符 2">
            <a:extLst>
              <a:ext uri="{FF2B5EF4-FFF2-40B4-BE49-F238E27FC236}">
                <a16:creationId xmlns:a16="http://schemas.microsoft.com/office/drawing/2014/main" id="{AA93BADB-9A0F-43BA-BB73-1408986C6E93}"/>
              </a:ext>
            </a:extLst>
          </p:cNvPr>
          <p:cNvSpPr>
            <a:spLocks noGrp="1" noChangeArrowheads="1"/>
          </p:cNvSpPr>
          <p:nvPr>
            <p:ph idx="1"/>
          </p:nvPr>
        </p:nvSpPr>
        <p:spPr>
          <a:xfrm>
            <a:off x="628650" y="1825625"/>
            <a:ext cx="8119814" cy="4351338"/>
          </a:xfrm>
        </p:spPr>
        <p:txBody>
          <a:bodyPr>
            <a:normAutofit fontScale="92500"/>
          </a:bodyPr>
          <a:lstStyle/>
          <a:p>
            <a:pPr>
              <a:defRPr/>
            </a:pPr>
            <a:r>
              <a:rPr lang="zh-CN" altLang="en-US" dirty="0"/>
              <a:t>是数据的基本单位。在计算机程序中常作为一个整体进行考虑和处理。</a:t>
            </a:r>
          </a:p>
          <a:p>
            <a:pPr>
              <a:defRPr/>
            </a:pPr>
            <a:r>
              <a:rPr lang="zh-CN" altLang="en-US" dirty="0"/>
              <a:t>有时一个数据元素可以由若干数据项</a:t>
            </a:r>
            <a:r>
              <a:rPr lang="en-US" altLang="zh-CN" dirty="0"/>
              <a:t>(Data Item)</a:t>
            </a:r>
            <a:r>
              <a:rPr lang="zh-CN" altLang="en-US" dirty="0"/>
              <a:t>组成。</a:t>
            </a:r>
          </a:p>
          <a:p>
            <a:pPr lvl="1">
              <a:defRPr/>
            </a:pPr>
            <a:r>
              <a:rPr lang="zh-CN" altLang="en-US" dirty="0"/>
              <a:t>初等项是最小标识单位。</a:t>
            </a:r>
          </a:p>
          <a:p>
            <a:pPr lvl="1">
              <a:defRPr/>
            </a:pPr>
            <a:r>
              <a:rPr lang="zh-CN" altLang="en-US" dirty="0"/>
              <a:t>组合项则由初等项和其它组合项组合而成。</a:t>
            </a:r>
          </a:p>
          <a:p>
            <a:pPr>
              <a:defRPr/>
            </a:pPr>
            <a:r>
              <a:rPr lang="zh-CN" altLang="en-US" dirty="0"/>
              <a:t>数据元素又称为元素、结点、记录。</a:t>
            </a:r>
          </a:p>
        </p:txBody>
      </p:sp>
      <p:sp>
        <p:nvSpPr>
          <p:cNvPr id="2" name="灯片编号占位符 1">
            <a:extLst>
              <a:ext uri="{FF2B5EF4-FFF2-40B4-BE49-F238E27FC236}">
                <a16:creationId xmlns:a16="http://schemas.microsoft.com/office/drawing/2014/main" id="{4C34E5CD-7912-493B-BE25-91D53AFA1C5E}"/>
              </a:ext>
            </a:extLst>
          </p:cNvPr>
          <p:cNvSpPr>
            <a:spLocks noGrp="1"/>
          </p:cNvSpPr>
          <p:nvPr>
            <p:ph type="sldNum" sz="quarter" idx="12"/>
          </p:nvPr>
        </p:nvSpPr>
        <p:spPr/>
        <p:txBody>
          <a:bodyPr/>
          <a:lstStyle/>
          <a:p>
            <a:pPr>
              <a:defRPr/>
            </a:pPr>
            <a:fld id="{BC006C4C-93BE-4AB7-B341-D6B405A53E4C}" type="slidenum">
              <a:rPr lang="en-US" altLang="zh-CN" smtClean="0"/>
              <a:pPr>
                <a:defRPr/>
              </a:pPr>
              <a:t>15</a:t>
            </a:fld>
            <a:endParaRPr lang="en-US" altLang="zh-CN"/>
          </a:p>
        </p:txBody>
      </p:sp>
    </p:spTree>
  </p:cSld>
  <p:clrMapOvr>
    <a:masterClrMapping/>
  </p:clrMapOvr>
  <p:transition>
    <p:spli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a:extLst>
              <a:ext uri="{FF2B5EF4-FFF2-40B4-BE49-F238E27FC236}">
                <a16:creationId xmlns:a16="http://schemas.microsoft.com/office/drawing/2014/main" id="{E6F8F570-3CB0-4BDE-8A15-ABA5E060A21E}"/>
              </a:ext>
            </a:extLst>
          </p:cNvPr>
          <p:cNvSpPr>
            <a:spLocks noGrp="1" noChangeArrowheads="1"/>
          </p:cNvSpPr>
          <p:nvPr>
            <p:ph type="title"/>
          </p:nvPr>
        </p:nvSpPr>
        <p:spPr/>
        <p:txBody>
          <a:bodyPr/>
          <a:lstStyle/>
          <a:p>
            <a:r>
              <a:rPr lang="zh-CN" altLang="en-US" dirty="0"/>
              <a:t>数据结构定义</a:t>
            </a:r>
          </a:p>
        </p:txBody>
      </p:sp>
      <p:sp>
        <p:nvSpPr>
          <p:cNvPr id="27651" name="内容占位符 2">
            <a:extLst>
              <a:ext uri="{FF2B5EF4-FFF2-40B4-BE49-F238E27FC236}">
                <a16:creationId xmlns:a16="http://schemas.microsoft.com/office/drawing/2014/main" id="{235AF5BD-C93E-483A-AABA-84DC6E4AA3BC}"/>
              </a:ext>
            </a:extLst>
          </p:cNvPr>
          <p:cNvSpPr>
            <a:spLocks noGrp="1" noChangeArrowheads="1"/>
          </p:cNvSpPr>
          <p:nvPr>
            <p:ph idx="1"/>
          </p:nvPr>
        </p:nvSpPr>
        <p:spPr/>
        <p:txBody>
          <a:bodyPr/>
          <a:lstStyle/>
          <a:p>
            <a:r>
              <a:rPr lang="zh-CN" altLang="en-US" dirty="0"/>
              <a:t>由某一数据元素集合及其中所有数据元素之间的关系组成。记为</a:t>
            </a:r>
            <a:endParaRPr lang="en-US" altLang="zh-CN" dirty="0"/>
          </a:p>
          <a:p>
            <a:pPr lvl="1"/>
            <a:r>
              <a:rPr lang="en-US" altLang="zh-CN" dirty="0" err="1"/>
              <a:t>Data_Structure</a:t>
            </a:r>
            <a:r>
              <a:rPr lang="en-US" altLang="zh-CN" dirty="0"/>
              <a:t> = {D, R}</a:t>
            </a:r>
          </a:p>
          <a:p>
            <a:pPr lvl="2"/>
            <a:r>
              <a:rPr lang="zh-CN" altLang="en-US" dirty="0"/>
              <a:t>其中，</a:t>
            </a:r>
            <a:r>
              <a:rPr lang="en-US" altLang="zh-CN" dirty="0"/>
              <a:t>D </a:t>
            </a:r>
            <a:r>
              <a:rPr lang="zh-CN" altLang="en-US" dirty="0"/>
              <a:t>是某一数据元素集合，</a:t>
            </a:r>
            <a:r>
              <a:rPr lang="en-US" altLang="zh-CN" dirty="0"/>
              <a:t>R </a:t>
            </a:r>
            <a:r>
              <a:rPr lang="zh-CN" altLang="en-US" dirty="0"/>
              <a:t>是该集合中所有数据成员之间的关系的有限集合。</a:t>
            </a:r>
          </a:p>
        </p:txBody>
      </p:sp>
      <p:sp>
        <p:nvSpPr>
          <p:cNvPr id="2" name="灯片编号占位符 1">
            <a:extLst>
              <a:ext uri="{FF2B5EF4-FFF2-40B4-BE49-F238E27FC236}">
                <a16:creationId xmlns:a16="http://schemas.microsoft.com/office/drawing/2014/main" id="{874A75DE-6AA0-4260-B905-766057498D51}"/>
              </a:ext>
            </a:extLst>
          </p:cNvPr>
          <p:cNvSpPr>
            <a:spLocks noGrp="1"/>
          </p:cNvSpPr>
          <p:nvPr>
            <p:ph type="sldNum" sz="quarter" idx="12"/>
          </p:nvPr>
        </p:nvSpPr>
        <p:spPr/>
        <p:txBody>
          <a:bodyPr/>
          <a:lstStyle/>
          <a:p>
            <a:pPr>
              <a:defRPr/>
            </a:pPr>
            <a:fld id="{C3CD058F-4C48-44C7-9C37-1CAD4BF01DE9}" type="slidenum">
              <a:rPr lang="en-US" altLang="zh-CN" smtClean="0"/>
              <a:pPr>
                <a:defRPr/>
              </a:pPr>
              <a:t>16</a:t>
            </a:fld>
            <a:endParaRPr lang="en-US" altLang="zh-CN"/>
          </a:p>
        </p:txBody>
      </p:sp>
    </p:spTree>
  </p:cSld>
  <p:clrMapOvr>
    <a:masterClrMapping/>
  </p:clrMapOvr>
  <p:transition>
    <p:spli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a:extLst>
              <a:ext uri="{FF2B5EF4-FFF2-40B4-BE49-F238E27FC236}">
                <a16:creationId xmlns:a16="http://schemas.microsoft.com/office/drawing/2014/main" id="{76A3D234-8D36-45CC-8F9A-FC928B2772CB}"/>
              </a:ext>
            </a:extLst>
          </p:cNvPr>
          <p:cNvSpPr>
            <a:spLocks noGrp="1" noChangeArrowheads="1"/>
          </p:cNvSpPr>
          <p:nvPr>
            <p:ph type="title"/>
          </p:nvPr>
        </p:nvSpPr>
        <p:spPr/>
        <p:txBody>
          <a:bodyPr/>
          <a:lstStyle/>
          <a:p>
            <a:r>
              <a:rPr lang="zh-CN" altLang="en-US" dirty="0"/>
              <a:t>数据结构的研究包括三个方面</a:t>
            </a:r>
          </a:p>
        </p:txBody>
      </p:sp>
      <p:sp>
        <p:nvSpPr>
          <p:cNvPr id="28675" name="内容占位符 2">
            <a:extLst>
              <a:ext uri="{FF2B5EF4-FFF2-40B4-BE49-F238E27FC236}">
                <a16:creationId xmlns:a16="http://schemas.microsoft.com/office/drawing/2014/main" id="{AD0AD521-CF2A-471E-AFE7-7797A12423F0}"/>
              </a:ext>
            </a:extLst>
          </p:cNvPr>
          <p:cNvSpPr>
            <a:spLocks noGrp="1" noChangeArrowheads="1"/>
          </p:cNvSpPr>
          <p:nvPr>
            <p:ph idx="1"/>
          </p:nvPr>
        </p:nvSpPr>
        <p:spPr>
          <a:xfrm>
            <a:off x="628650" y="1825625"/>
            <a:ext cx="8299450" cy="4351338"/>
          </a:xfrm>
        </p:spPr>
        <p:txBody>
          <a:bodyPr/>
          <a:lstStyle/>
          <a:p>
            <a:r>
              <a:rPr lang="zh-CN" altLang="en-US" dirty="0"/>
              <a:t>数据元素间的逻辑关系，即数据的逻辑结构；</a:t>
            </a:r>
          </a:p>
          <a:p>
            <a:r>
              <a:rPr lang="zh-CN" altLang="en-US" dirty="0"/>
              <a:t>数据元素及其逻辑关系在计算机存储内的表示，即数据的存储表示；</a:t>
            </a:r>
          </a:p>
          <a:p>
            <a:r>
              <a:rPr lang="zh-CN" altLang="en-US" dirty="0"/>
              <a:t>数据的运算，即对数据元素施加的操作。</a:t>
            </a:r>
          </a:p>
        </p:txBody>
      </p:sp>
      <p:sp>
        <p:nvSpPr>
          <p:cNvPr id="28676" name="Rectangle 2">
            <a:extLst>
              <a:ext uri="{FF2B5EF4-FFF2-40B4-BE49-F238E27FC236}">
                <a16:creationId xmlns:a16="http://schemas.microsoft.com/office/drawing/2014/main" id="{98143A76-CB19-4A98-962C-901658E05777}"/>
              </a:ext>
            </a:extLst>
          </p:cNvPr>
          <p:cNvSpPr>
            <a:spLocks noChangeArrowheads="1"/>
          </p:cNvSpPr>
          <p:nvPr/>
        </p:nvSpPr>
        <p:spPr bwMode="auto">
          <a:xfrm>
            <a:off x="1146175" y="722313"/>
            <a:ext cx="66294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en-US" sz="4000">
              <a:solidFill>
                <a:schemeClr val="tx2"/>
              </a:solidFill>
              <a:latin typeface="Arial" panose="020B0604020202020204" pitchFamily="34" charset="0"/>
              <a:ea typeface="华文新魏" panose="02010800040101010101" pitchFamily="2" charset="-122"/>
            </a:endParaRPr>
          </a:p>
        </p:txBody>
      </p:sp>
      <p:sp>
        <p:nvSpPr>
          <p:cNvPr id="28677" name="Rectangle 3">
            <a:extLst>
              <a:ext uri="{FF2B5EF4-FFF2-40B4-BE49-F238E27FC236}">
                <a16:creationId xmlns:a16="http://schemas.microsoft.com/office/drawing/2014/main" id="{B024624A-3FE4-46C4-884D-753B63959C06}"/>
              </a:ext>
            </a:extLst>
          </p:cNvPr>
          <p:cNvSpPr>
            <a:spLocks noChangeArrowheads="1"/>
          </p:cNvSpPr>
          <p:nvPr/>
        </p:nvSpPr>
        <p:spPr bwMode="auto">
          <a:xfrm>
            <a:off x="831850" y="16192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rgbClr val="800080"/>
              </a:buClr>
              <a:buSzPct val="45000"/>
              <a:buFont typeface="Wingdings" panose="05000000000000000000" pitchFamily="2" charset="2"/>
              <a:buChar char="n"/>
            </a:pPr>
            <a:endParaRPr lang="zh-CN" altLang="en-US" sz="3000">
              <a:solidFill>
                <a:srgbClr val="000099"/>
              </a:solidFill>
              <a:latin typeface="Arial" panose="020B0604020202020204" pitchFamily="34" charset="0"/>
              <a:ea typeface="宋体" panose="02010600030101010101" pitchFamily="2" charset="-122"/>
            </a:endParaRPr>
          </a:p>
        </p:txBody>
      </p:sp>
      <p:sp>
        <p:nvSpPr>
          <p:cNvPr id="4" name="灯片编号占位符 3">
            <a:extLst>
              <a:ext uri="{FF2B5EF4-FFF2-40B4-BE49-F238E27FC236}">
                <a16:creationId xmlns:a16="http://schemas.microsoft.com/office/drawing/2014/main" id="{13E5EA67-B96B-4378-96AD-49093A48AFC1}"/>
              </a:ext>
            </a:extLst>
          </p:cNvPr>
          <p:cNvSpPr>
            <a:spLocks noGrp="1"/>
          </p:cNvSpPr>
          <p:nvPr>
            <p:ph type="sldNum" sz="quarter" idx="12"/>
          </p:nvPr>
        </p:nvSpPr>
        <p:spPr/>
        <p:txBody>
          <a:bodyPr/>
          <a:lstStyle/>
          <a:p>
            <a:pPr>
              <a:defRPr/>
            </a:pPr>
            <a:fld id="{BA2312BB-3F07-482F-9A2C-6818B1C6899E}" type="slidenum">
              <a:rPr lang="en-US" altLang="zh-CN" smtClean="0"/>
              <a:pPr>
                <a:defRPr/>
              </a:pPr>
              <a:t>17</a:t>
            </a:fld>
            <a:endParaRPr lang="en-US" altLang="zh-CN"/>
          </a:p>
        </p:txBody>
      </p:sp>
    </p:spTree>
  </p:cSld>
  <p:clrMapOvr>
    <a:masterClrMapping/>
  </p:clrMapOvr>
  <p:transition>
    <p:spli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a:extLst>
              <a:ext uri="{FF2B5EF4-FFF2-40B4-BE49-F238E27FC236}">
                <a16:creationId xmlns:a16="http://schemas.microsoft.com/office/drawing/2014/main" id="{214D7C04-B024-467C-8BA3-AEBA97CF20E3}"/>
              </a:ext>
            </a:extLst>
          </p:cNvPr>
          <p:cNvSpPr>
            <a:spLocks noGrp="1" noChangeArrowheads="1"/>
          </p:cNvSpPr>
          <p:nvPr>
            <p:ph type="title"/>
          </p:nvPr>
        </p:nvSpPr>
        <p:spPr/>
        <p:txBody>
          <a:bodyPr/>
          <a:lstStyle/>
          <a:p>
            <a:r>
              <a:rPr lang="zh-CN" altLang="en-US" dirty="0"/>
              <a:t>数据逻辑结构的特点</a:t>
            </a:r>
          </a:p>
        </p:txBody>
      </p:sp>
      <p:sp>
        <p:nvSpPr>
          <p:cNvPr id="3" name="内容占位符 2">
            <a:extLst>
              <a:ext uri="{FF2B5EF4-FFF2-40B4-BE49-F238E27FC236}">
                <a16:creationId xmlns:a16="http://schemas.microsoft.com/office/drawing/2014/main" id="{E5C4C2B3-288E-4B58-909D-7041EBE12DCB}"/>
              </a:ext>
            </a:extLst>
          </p:cNvPr>
          <p:cNvSpPr>
            <a:spLocks noGrp="1"/>
          </p:cNvSpPr>
          <p:nvPr>
            <p:ph idx="1"/>
          </p:nvPr>
        </p:nvSpPr>
        <p:spPr/>
        <p:txBody>
          <a:bodyPr>
            <a:normAutofit fontScale="92500" lnSpcReduction="20000"/>
          </a:bodyPr>
          <a:lstStyle/>
          <a:p>
            <a:pPr>
              <a:defRPr/>
            </a:pPr>
            <a:r>
              <a:rPr lang="zh-CN" altLang="en-US" dirty="0"/>
              <a:t>数据的逻辑结构从逻辑关系上描述数据，与</a:t>
            </a:r>
            <a:r>
              <a:rPr lang="zh-CN" altLang="en-US" b="1" dirty="0"/>
              <a:t>数据的存储无关</a:t>
            </a:r>
            <a:r>
              <a:rPr lang="zh-CN" altLang="en-US" dirty="0"/>
              <a:t>；</a:t>
            </a:r>
          </a:p>
          <a:p>
            <a:pPr>
              <a:defRPr/>
            </a:pPr>
            <a:r>
              <a:rPr lang="zh-CN" altLang="en-US" dirty="0"/>
              <a:t>数据的逻辑结构可以看作是从具体问题抽象出来的数据模型；</a:t>
            </a:r>
          </a:p>
          <a:p>
            <a:pPr>
              <a:defRPr/>
            </a:pPr>
            <a:r>
              <a:rPr lang="zh-CN" altLang="en-US" dirty="0"/>
              <a:t>数据的逻辑结构与数据元素本身的表达方式、内容无关；</a:t>
            </a:r>
          </a:p>
          <a:p>
            <a:pPr>
              <a:defRPr/>
            </a:pPr>
            <a:r>
              <a:rPr lang="zh-CN" altLang="en-US" dirty="0"/>
              <a:t>数据的逻辑结构与数据元素的相对存储位置无关。</a:t>
            </a:r>
          </a:p>
        </p:txBody>
      </p:sp>
      <p:sp>
        <p:nvSpPr>
          <p:cNvPr id="29700" name="Rectangle 2">
            <a:extLst>
              <a:ext uri="{FF2B5EF4-FFF2-40B4-BE49-F238E27FC236}">
                <a16:creationId xmlns:a16="http://schemas.microsoft.com/office/drawing/2014/main" id="{AEC801E4-E0A6-4CCC-8B17-37517C6E3298}"/>
              </a:ext>
            </a:extLst>
          </p:cNvPr>
          <p:cNvSpPr>
            <a:spLocks noChangeArrowheads="1"/>
          </p:cNvSpPr>
          <p:nvPr/>
        </p:nvSpPr>
        <p:spPr bwMode="auto">
          <a:xfrm>
            <a:off x="2339975" y="692150"/>
            <a:ext cx="44196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en-US" sz="4000">
              <a:solidFill>
                <a:schemeClr val="tx2"/>
              </a:solidFill>
              <a:latin typeface="Arial" panose="020B0604020202020204" pitchFamily="34" charset="0"/>
              <a:ea typeface="华文新魏" panose="02010800040101010101" pitchFamily="2" charset="-122"/>
            </a:endParaRPr>
          </a:p>
        </p:txBody>
      </p:sp>
      <p:sp>
        <p:nvSpPr>
          <p:cNvPr id="29701" name="Rectangle 3">
            <a:extLst>
              <a:ext uri="{FF2B5EF4-FFF2-40B4-BE49-F238E27FC236}">
                <a16:creationId xmlns:a16="http://schemas.microsoft.com/office/drawing/2014/main" id="{E9DF0847-9C64-47CE-BD23-3218E34173C5}"/>
              </a:ext>
            </a:extLst>
          </p:cNvPr>
          <p:cNvSpPr>
            <a:spLocks noChangeArrowheads="1"/>
          </p:cNvSpPr>
          <p:nvPr/>
        </p:nvSpPr>
        <p:spPr bwMode="auto">
          <a:xfrm>
            <a:off x="838200" y="154622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rgbClr val="800080"/>
              </a:buClr>
              <a:buSzPct val="45000"/>
              <a:buFont typeface="Wingdings" panose="05000000000000000000" pitchFamily="2" charset="2"/>
              <a:buChar char="n"/>
            </a:pPr>
            <a:endParaRPr lang="zh-CN" altLang="en-US" sz="3000" b="1">
              <a:solidFill>
                <a:srgbClr val="000099"/>
              </a:solidFill>
              <a:latin typeface="Arial" panose="020B0604020202020204" pitchFamily="34" charset="0"/>
              <a:ea typeface="仿宋_GB2312" pitchFamily="49" charset="-122"/>
            </a:endParaRPr>
          </a:p>
        </p:txBody>
      </p:sp>
      <p:sp>
        <p:nvSpPr>
          <p:cNvPr id="4" name="灯片编号占位符 3">
            <a:extLst>
              <a:ext uri="{FF2B5EF4-FFF2-40B4-BE49-F238E27FC236}">
                <a16:creationId xmlns:a16="http://schemas.microsoft.com/office/drawing/2014/main" id="{A9D0986E-B0E9-4C66-995F-AEBAD522AA78}"/>
              </a:ext>
            </a:extLst>
          </p:cNvPr>
          <p:cNvSpPr>
            <a:spLocks noGrp="1"/>
          </p:cNvSpPr>
          <p:nvPr>
            <p:ph type="sldNum" sz="quarter" idx="12"/>
          </p:nvPr>
        </p:nvSpPr>
        <p:spPr/>
        <p:txBody>
          <a:bodyPr/>
          <a:lstStyle/>
          <a:p>
            <a:pPr>
              <a:defRPr/>
            </a:pPr>
            <a:fld id="{35D40176-0181-4C17-9AE8-E1941D0582A9}" type="slidenum">
              <a:rPr lang="en-US" altLang="zh-CN" smtClean="0"/>
              <a:pPr>
                <a:defRPr/>
              </a:pPr>
              <a:t>18</a:t>
            </a:fld>
            <a:endParaRPr lang="en-US" altLang="zh-CN"/>
          </a:p>
        </p:txBody>
      </p:sp>
    </p:spTree>
  </p:cSld>
  <p:clrMapOvr>
    <a:masterClrMapping/>
  </p:clrMapOvr>
  <p:transition>
    <p:spli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a:extLst>
              <a:ext uri="{FF2B5EF4-FFF2-40B4-BE49-F238E27FC236}">
                <a16:creationId xmlns:a16="http://schemas.microsoft.com/office/drawing/2014/main" id="{759E65AC-EE0C-4E1C-978E-58732E642B1F}"/>
              </a:ext>
            </a:extLst>
          </p:cNvPr>
          <p:cNvSpPr>
            <a:spLocks noGrp="1" noChangeArrowheads="1"/>
          </p:cNvSpPr>
          <p:nvPr>
            <p:ph type="title"/>
          </p:nvPr>
        </p:nvSpPr>
        <p:spPr/>
        <p:txBody>
          <a:bodyPr/>
          <a:lstStyle/>
          <a:p>
            <a:r>
              <a:rPr lang="zh-CN" altLang="en-US" dirty="0"/>
              <a:t>数据的逻辑结构分类</a:t>
            </a:r>
          </a:p>
        </p:txBody>
      </p:sp>
      <p:sp>
        <p:nvSpPr>
          <p:cNvPr id="31747" name="内容占位符 2">
            <a:extLst>
              <a:ext uri="{FF2B5EF4-FFF2-40B4-BE49-F238E27FC236}">
                <a16:creationId xmlns:a16="http://schemas.microsoft.com/office/drawing/2014/main" id="{2A11A103-A86A-4C4B-ABC9-7513B3B3CEE3}"/>
              </a:ext>
            </a:extLst>
          </p:cNvPr>
          <p:cNvSpPr>
            <a:spLocks noGrp="1" noChangeArrowheads="1"/>
          </p:cNvSpPr>
          <p:nvPr>
            <p:ph idx="1"/>
          </p:nvPr>
        </p:nvSpPr>
        <p:spPr/>
        <p:txBody>
          <a:bodyPr>
            <a:normAutofit fontScale="70000" lnSpcReduction="20000"/>
          </a:bodyPr>
          <a:lstStyle/>
          <a:p>
            <a:r>
              <a:rPr lang="zh-CN" altLang="zh-CN" dirty="0"/>
              <a:t>四种基本逻辑结构</a:t>
            </a:r>
            <a:r>
              <a:rPr lang="zh-CN" altLang="en-US" dirty="0"/>
              <a:t>类型</a:t>
            </a:r>
            <a:endParaRPr lang="en-US" altLang="zh-CN" dirty="0"/>
          </a:p>
          <a:p>
            <a:pPr lvl="1"/>
            <a:r>
              <a:rPr lang="zh-CN" altLang="zh-CN" dirty="0"/>
              <a:t>集合结构</a:t>
            </a:r>
            <a:r>
              <a:rPr lang="zh-CN" altLang="en-US" dirty="0"/>
              <a:t>：元素间的关系未定义</a:t>
            </a:r>
            <a:endParaRPr lang="en-US" altLang="zh-CN" dirty="0"/>
          </a:p>
          <a:p>
            <a:pPr lvl="1"/>
            <a:r>
              <a:rPr lang="zh-CN" altLang="zh-CN" dirty="0"/>
              <a:t>线性结构</a:t>
            </a:r>
            <a:r>
              <a:rPr lang="zh-CN" altLang="en-US" dirty="0"/>
              <a:t>：</a:t>
            </a:r>
            <a:r>
              <a:rPr lang="zh-CN" altLang="en-US" b="1" dirty="0"/>
              <a:t>即线性表</a:t>
            </a:r>
            <a:r>
              <a:rPr lang="zh-CN" altLang="en-US" dirty="0"/>
              <a:t>。根据对其中数据元素访问方法的不同，又可分为：</a:t>
            </a:r>
            <a:endParaRPr lang="en-US" altLang="zh-CN" dirty="0"/>
          </a:p>
          <a:p>
            <a:pPr lvl="2"/>
            <a:r>
              <a:rPr lang="zh-CN" altLang="en-US" dirty="0"/>
              <a:t>直接访问结构：根据数组下标或者记录号找到指定的数据元素（例如数组、文件）</a:t>
            </a:r>
          </a:p>
          <a:p>
            <a:pPr lvl="2"/>
            <a:r>
              <a:rPr lang="zh-CN" altLang="en-US" dirty="0"/>
              <a:t>顺序访问结构：只能从第一个数据元素开始，依次访问每个数据元素</a:t>
            </a:r>
          </a:p>
          <a:p>
            <a:pPr lvl="2"/>
            <a:r>
              <a:rPr lang="zh-CN" altLang="en-US" dirty="0"/>
              <a:t>字典结构：与数组有类似之处，但数组是通过整数下标进行索引，而字典是通过关键码进行索引。</a:t>
            </a:r>
          </a:p>
          <a:p>
            <a:pPr lvl="1"/>
            <a:r>
              <a:rPr lang="zh-CN" altLang="zh-CN" dirty="0"/>
              <a:t>树状结构</a:t>
            </a:r>
            <a:r>
              <a:rPr lang="zh-CN" altLang="en-US" dirty="0"/>
              <a:t>（层次结构）</a:t>
            </a:r>
            <a:endParaRPr lang="en-US" altLang="zh-CN" dirty="0"/>
          </a:p>
          <a:p>
            <a:pPr lvl="1"/>
            <a:r>
              <a:rPr lang="zh-CN" altLang="zh-CN" dirty="0"/>
              <a:t>网络结构</a:t>
            </a:r>
            <a:r>
              <a:rPr lang="zh-CN" altLang="en-US" dirty="0"/>
              <a:t>：图、网络</a:t>
            </a:r>
            <a:endParaRPr lang="zh-CN" altLang="zh-CN" dirty="0"/>
          </a:p>
          <a:p>
            <a:r>
              <a:rPr lang="zh-CN" altLang="zh-CN" dirty="0"/>
              <a:t>树状</a:t>
            </a:r>
            <a:r>
              <a:rPr lang="zh-CN" altLang="en-US" dirty="0"/>
              <a:t>、</a:t>
            </a:r>
            <a:r>
              <a:rPr lang="zh-CN" altLang="zh-CN" dirty="0"/>
              <a:t>网络结构</a:t>
            </a:r>
            <a:r>
              <a:rPr lang="zh-CN" altLang="en-US" dirty="0"/>
              <a:t>都属于非线性结构</a:t>
            </a:r>
          </a:p>
        </p:txBody>
      </p:sp>
      <p:sp>
        <p:nvSpPr>
          <p:cNvPr id="31748" name="Rectangle 2">
            <a:extLst>
              <a:ext uri="{FF2B5EF4-FFF2-40B4-BE49-F238E27FC236}">
                <a16:creationId xmlns:a16="http://schemas.microsoft.com/office/drawing/2014/main" id="{00416372-D7CC-47AB-A6A5-063D30B96086}"/>
              </a:ext>
            </a:extLst>
          </p:cNvPr>
          <p:cNvSpPr>
            <a:spLocks noChangeArrowheads="1"/>
          </p:cNvSpPr>
          <p:nvPr/>
        </p:nvSpPr>
        <p:spPr bwMode="auto">
          <a:xfrm>
            <a:off x="1908175" y="727075"/>
            <a:ext cx="5105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endParaRPr lang="zh-CN" altLang="en-US" sz="4000">
              <a:solidFill>
                <a:schemeClr val="tx2"/>
              </a:solidFill>
              <a:latin typeface="Arial" panose="020B0604020202020204" pitchFamily="34" charset="0"/>
              <a:ea typeface="华文新魏" panose="02010800040101010101" pitchFamily="2" charset="-122"/>
            </a:endParaRPr>
          </a:p>
        </p:txBody>
      </p:sp>
      <p:sp>
        <p:nvSpPr>
          <p:cNvPr id="31749" name="Rectangle 3">
            <a:extLst>
              <a:ext uri="{FF2B5EF4-FFF2-40B4-BE49-F238E27FC236}">
                <a16:creationId xmlns:a16="http://schemas.microsoft.com/office/drawing/2014/main" id="{138EA7A9-F1E1-4B82-959F-8F29DBC6363B}"/>
              </a:ext>
            </a:extLst>
          </p:cNvPr>
          <p:cNvSpPr>
            <a:spLocks noChangeArrowheads="1"/>
          </p:cNvSpPr>
          <p:nvPr/>
        </p:nvSpPr>
        <p:spPr bwMode="auto">
          <a:xfrm>
            <a:off x="827088" y="1619250"/>
            <a:ext cx="7010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rgbClr val="800080"/>
              </a:buClr>
              <a:buSzPct val="50000"/>
              <a:buFont typeface="Wingdings" panose="05000000000000000000" pitchFamily="2" charset="2"/>
              <a:buChar char="n"/>
            </a:pPr>
            <a:endParaRPr lang="zh-CN" altLang="en-US" sz="2400" b="1">
              <a:solidFill>
                <a:srgbClr val="0000CC"/>
              </a:solidFill>
              <a:latin typeface="Arial" panose="020B0604020202020204" pitchFamily="34" charset="0"/>
              <a:ea typeface="仿宋_GB2312" pitchFamily="49" charset="-122"/>
            </a:endParaRPr>
          </a:p>
        </p:txBody>
      </p:sp>
      <p:sp>
        <p:nvSpPr>
          <p:cNvPr id="4" name="灯片编号占位符 3">
            <a:extLst>
              <a:ext uri="{FF2B5EF4-FFF2-40B4-BE49-F238E27FC236}">
                <a16:creationId xmlns:a16="http://schemas.microsoft.com/office/drawing/2014/main" id="{8EE9A46A-663B-4D9B-BE36-E44E86A9A976}"/>
              </a:ext>
            </a:extLst>
          </p:cNvPr>
          <p:cNvSpPr>
            <a:spLocks noGrp="1"/>
          </p:cNvSpPr>
          <p:nvPr>
            <p:ph type="sldNum" sz="quarter" idx="12"/>
          </p:nvPr>
        </p:nvSpPr>
        <p:spPr/>
        <p:txBody>
          <a:bodyPr/>
          <a:lstStyle/>
          <a:p>
            <a:pPr>
              <a:defRPr/>
            </a:pPr>
            <a:fld id="{4AD68413-6162-493F-93DA-318CB0E3F4EC}" type="slidenum">
              <a:rPr lang="en-US" altLang="zh-CN" smtClean="0"/>
              <a:pPr>
                <a:defRPr/>
              </a:pPr>
              <a:t>19</a:t>
            </a:fld>
            <a:endParaRPr lang="en-US" altLang="zh-CN" dirty="0"/>
          </a:p>
        </p:txBody>
      </p:sp>
    </p:spTree>
  </p:cSld>
  <p:clrMapOvr>
    <a:masterClrMapping/>
  </p:clrMapOvr>
  <p:transition>
    <p:spli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Oval 2148">
            <a:extLst>
              <a:ext uri="{FF2B5EF4-FFF2-40B4-BE49-F238E27FC236}">
                <a16:creationId xmlns:a16="http://schemas.microsoft.com/office/drawing/2014/main" id="{A66C3E74-0159-4B85-9A6D-25275E18F5B8}"/>
              </a:ext>
            </a:extLst>
          </p:cNvPr>
          <p:cNvSpPr>
            <a:spLocks noChangeArrowheads="1"/>
          </p:cNvSpPr>
          <p:nvPr/>
        </p:nvSpPr>
        <p:spPr bwMode="auto">
          <a:xfrm>
            <a:off x="981075" y="3502025"/>
            <a:ext cx="736600" cy="546100"/>
          </a:xfrm>
          <a:prstGeom prst="ellipse">
            <a:avLst/>
          </a:prstGeom>
          <a:solidFill>
            <a:schemeClr val="accent1"/>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3795" name="Oval 2149">
            <a:extLst>
              <a:ext uri="{FF2B5EF4-FFF2-40B4-BE49-F238E27FC236}">
                <a16:creationId xmlns:a16="http://schemas.microsoft.com/office/drawing/2014/main" id="{2DBFF7A5-DE05-4A9D-B9E0-0B784FFED612}"/>
              </a:ext>
            </a:extLst>
          </p:cNvPr>
          <p:cNvSpPr>
            <a:spLocks noChangeArrowheads="1"/>
          </p:cNvSpPr>
          <p:nvPr/>
        </p:nvSpPr>
        <p:spPr bwMode="auto">
          <a:xfrm>
            <a:off x="2428875" y="3489325"/>
            <a:ext cx="736600" cy="546100"/>
          </a:xfrm>
          <a:prstGeom prst="ellipse">
            <a:avLst/>
          </a:prstGeom>
          <a:solidFill>
            <a:schemeClr val="accent1"/>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3796" name="Line 2150">
            <a:extLst>
              <a:ext uri="{FF2B5EF4-FFF2-40B4-BE49-F238E27FC236}">
                <a16:creationId xmlns:a16="http://schemas.microsoft.com/office/drawing/2014/main" id="{F45E6216-3DA7-49FD-BE0F-841EE37904FA}"/>
              </a:ext>
            </a:extLst>
          </p:cNvPr>
          <p:cNvSpPr>
            <a:spLocks noChangeShapeType="1"/>
          </p:cNvSpPr>
          <p:nvPr/>
        </p:nvSpPr>
        <p:spPr bwMode="auto">
          <a:xfrm>
            <a:off x="1704975" y="3768725"/>
            <a:ext cx="72390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7" name="Line 2151">
            <a:extLst>
              <a:ext uri="{FF2B5EF4-FFF2-40B4-BE49-F238E27FC236}">
                <a16:creationId xmlns:a16="http://schemas.microsoft.com/office/drawing/2014/main" id="{8ED609F3-0BF0-46E9-ADA7-BA6C97F0FDB3}"/>
              </a:ext>
            </a:extLst>
          </p:cNvPr>
          <p:cNvSpPr>
            <a:spLocks noChangeShapeType="1"/>
          </p:cNvSpPr>
          <p:nvPr/>
        </p:nvSpPr>
        <p:spPr bwMode="auto">
          <a:xfrm>
            <a:off x="3165475" y="3768725"/>
            <a:ext cx="72390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798" name="Oval 2152">
            <a:extLst>
              <a:ext uri="{FF2B5EF4-FFF2-40B4-BE49-F238E27FC236}">
                <a16:creationId xmlns:a16="http://schemas.microsoft.com/office/drawing/2014/main" id="{F57E967B-819D-493D-B895-8B93C4CCC225}"/>
              </a:ext>
            </a:extLst>
          </p:cNvPr>
          <p:cNvSpPr>
            <a:spLocks noChangeArrowheads="1"/>
          </p:cNvSpPr>
          <p:nvPr/>
        </p:nvSpPr>
        <p:spPr bwMode="auto">
          <a:xfrm>
            <a:off x="3889375" y="3489325"/>
            <a:ext cx="736600" cy="546100"/>
          </a:xfrm>
          <a:prstGeom prst="ellipse">
            <a:avLst/>
          </a:prstGeom>
          <a:solidFill>
            <a:schemeClr val="accent1"/>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3799" name="Line 2153">
            <a:extLst>
              <a:ext uri="{FF2B5EF4-FFF2-40B4-BE49-F238E27FC236}">
                <a16:creationId xmlns:a16="http://schemas.microsoft.com/office/drawing/2014/main" id="{0EC0C0B6-F49B-45F2-9CBE-0B81599731BA}"/>
              </a:ext>
            </a:extLst>
          </p:cNvPr>
          <p:cNvSpPr>
            <a:spLocks noChangeShapeType="1"/>
          </p:cNvSpPr>
          <p:nvPr/>
        </p:nvSpPr>
        <p:spPr bwMode="auto">
          <a:xfrm>
            <a:off x="4625975" y="3768725"/>
            <a:ext cx="72390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0" name="Oval 2154">
            <a:extLst>
              <a:ext uri="{FF2B5EF4-FFF2-40B4-BE49-F238E27FC236}">
                <a16:creationId xmlns:a16="http://schemas.microsoft.com/office/drawing/2014/main" id="{5D309435-A1FD-4CB8-BBAA-054827EFDEC9}"/>
              </a:ext>
            </a:extLst>
          </p:cNvPr>
          <p:cNvSpPr>
            <a:spLocks noChangeArrowheads="1"/>
          </p:cNvSpPr>
          <p:nvPr/>
        </p:nvSpPr>
        <p:spPr bwMode="auto">
          <a:xfrm>
            <a:off x="5362575" y="3489325"/>
            <a:ext cx="736600" cy="546100"/>
          </a:xfrm>
          <a:prstGeom prst="ellipse">
            <a:avLst/>
          </a:prstGeom>
          <a:solidFill>
            <a:schemeClr val="accent1"/>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3801" name="Line 2155">
            <a:extLst>
              <a:ext uri="{FF2B5EF4-FFF2-40B4-BE49-F238E27FC236}">
                <a16:creationId xmlns:a16="http://schemas.microsoft.com/office/drawing/2014/main" id="{DE4AD1CC-1720-4673-820E-23B81F33F7A2}"/>
              </a:ext>
            </a:extLst>
          </p:cNvPr>
          <p:cNvSpPr>
            <a:spLocks noChangeShapeType="1"/>
          </p:cNvSpPr>
          <p:nvPr/>
        </p:nvSpPr>
        <p:spPr bwMode="auto">
          <a:xfrm>
            <a:off x="6099175" y="3756025"/>
            <a:ext cx="723900" cy="0"/>
          </a:xfrm>
          <a:prstGeom prst="line">
            <a:avLst/>
          </a:prstGeom>
          <a:noFill/>
          <a:ln w="28575">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802" name="Oval 2156">
            <a:extLst>
              <a:ext uri="{FF2B5EF4-FFF2-40B4-BE49-F238E27FC236}">
                <a16:creationId xmlns:a16="http://schemas.microsoft.com/office/drawing/2014/main" id="{16E40814-5D59-4992-BB1F-CDF849621AD4}"/>
              </a:ext>
            </a:extLst>
          </p:cNvPr>
          <p:cNvSpPr>
            <a:spLocks noChangeArrowheads="1"/>
          </p:cNvSpPr>
          <p:nvPr/>
        </p:nvSpPr>
        <p:spPr bwMode="auto">
          <a:xfrm>
            <a:off x="6823075" y="3463925"/>
            <a:ext cx="736600" cy="546100"/>
          </a:xfrm>
          <a:prstGeom prst="ellipse">
            <a:avLst/>
          </a:prstGeom>
          <a:solidFill>
            <a:schemeClr val="accent1"/>
          </a:solidFill>
          <a:ln w="28575">
            <a:solidFill>
              <a:srgbClr val="0000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3803" name="Text Box 2157">
            <a:extLst>
              <a:ext uri="{FF2B5EF4-FFF2-40B4-BE49-F238E27FC236}">
                <a16:creationId xmlns:a16="http://schemas.microsoft.com/office/drawing/2014/main" id="{08F2DC0F-5E24-409E-87BD-70D676A8DD94}"/>
              </a:ext>
            </a:extLst>
          </p:cNvPr>
          <p:cNvSpPr txBox="1">
            <a:spLocks noChangeArrowheads="1"/>
          </p:cNvSpPr>
          <p:nvPr/>
        </p:nvSpPr>
        <p:spPr bwMode="auto">
          <a:xfrm>
            <a:off x="1003300" y="3492500"/>
            <a:ext cx="679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CC0000"/>
                </a:solidFill>
              </a:rPr>
              <a:t>bin</a:t>
            </a:r>
            <a:endParaRPr lang="en-US" altLang="zh-CN" sz="3200"/>
          </a:p>
        </p:txBody>
      </p:sp>
      <p:sp>
        <p:nvSpPr>
          <p:cNvPr id="33804" name="Text Box 2158">
            <a:extLst>
              <a:ext uri="{FF2B5EF4-FFF2-40B4-BE49-F238E27FC236}">
                <a16:creationId xmlns:a16="http://schemas.microsoft.com/office/drawing/2014/main" id="{D1A439DF-A481-42F3-AF5F-49E2FA6FFE74}"/>
              </a:ext>
            </a:extLst>
          </p:cNvPr>
          <p:cNvSpPr txBox="1">
            <a:spLocks noChangeArrowheads="1"/>
          </p:cNvSpPr>
          <p:nvPr/>
        </p:nvSpPr>
        <p:spPr bwMode="auto">
          <a:xfrm>
            <a:off x="2451100" y="3479800"/>
            <a:ext cx="717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CC0000"/>
                </a:solidFill>
              </a:rPr>
              <a:t>dev</a:t>
            </a:r>
            <a:endParaRPr lang="en-US" altLang="zh-CN" sz="3200"/>
          </a:p>
        </p:txBody>
      </p:sp>
      <p:sp>
        <p:nvSpPr>
          <p:cNvPr id="33805" name="Text Box 2159">
            <a:extLst>
              <a:ext uri="{FF2B5EF4-FFF2-40B4-BE49-F238E27FC236}">
                <a16:creationId xmlns:a16="http://schemas.microsoft.com/office/drawing/2014/main" id="{FC980D8D-83B9-4FCA-A2EA-658A20D8CC1A}"/>
              </a:ext>
            </a:extLst>
          </p:cNvPr>
          <p:cNvSpPr txBox="1">
            <a:spLocks noChangeArrowheads="1"/>
          </p:cNvSpPr>
          <p:nvPr/>
        </p:nvSpPr>
        <p:spPr bwMode="auto">
          <a:xfrm>
            <a:off x="3962400" y="3467100"/>
            <a:ext cx="617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CC0000"/>
                </a:solidFill>
              </a:rPr>
              <a:t>etc</a:t>
            </a:r>
            <a:endParaRPr lang="en-US" altLang="zh-CN" sz="3200"/>
          </a:p>
        </p:txBody>
      </p:sp>
      <p:sp>
        <p:nvSpPr>
          <p:cNvPr id="33806" name="Text Box 2160">
            <a:extLst>
              <a:ext uri="{FF2B5EF4-FFF2-40B4-BE49-F238E27FC236}">
                <a16:creationId xmlns:a16="http://schemas.microsoft.com/office/drawing/2014/main" id="{E7BD34F5-6547-49F5-8B40-D7F1A62D3709}"/>
              </a:ext>
            </a:extLst>
          </p:cNvPr>
          <p:cNvSpPr txBox="1">
            <a:spLocks noChangeArrowheads="1"/>
          </p:cNvSpPr>
          <p:nvPr/>
        </p:nvSpPr>
        <p:spPr bwMode="auto">
          <a:xfrm>
            <a:off x="5435600" y="3492500"/>
            <a:ext cx="579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CC0000"/>
                </a:solidFill>
              </a:rPr>
              <a:t>lib</a:t>
            </a:r>
            <a:endParaRPr lang="en-US" altLang="zh-CN" sz="3200"/>
          </a:p>
        </p:txBody>
      </p:sp>
      <p:sp>
        <p:nvSpPr>
          <p:cNvPr id="33807" name="Text Box 2161">
            <a:extLst>
              <a:ext uri="{FF2B5EF4-FFF2-40B4-BE49-F238E27FC236}">
                <a16:creationId xmlns:a16="http://schemas.microsoft.com/office/drawing/2014/main" id="{631BA246-D13A-452C-B8F8-B14B4C2FF2B7}"/>
              </a:ext>
            </a:extLst>
          </p:cNvPr>
          <p:cNvSpPr txBox="1">
            <a:spLocks noChangeArrowheads="1"/>
          </p:cNvSpPr>
          <p:nvPr/>
        </p:nvSpPr>
        <p:spPr bwMode="auto">
          <a:xfrm>
            <a:off x="6769100" y="3454400"/>
            <a:ext cx="8350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800" b="1">
                <a:solidFill>
                  <a:srgbClr val="CC0000"/>
                </a:solidFill>
              </a:rPr>
              <a:t>user</a:t>
            </a:r>
            <a:endParaRPr lang="en-US" altLang="zh-CN" sz="3200"/>
          </a:p>
        </p:txBody>
      </p:sp>
      <p:sp>
        <p:nvSpPr>
          <p:cNvPr id="33808" name="标题 1">
            <a:extLst>
              <a:ext uri="{FF2B5EF4-FFF2-40B4-BE49-F238E27FC236}">
                <a16:creationId xmlns:a16="http://schemas.microsoft.com/office/drawing/2014/main" id="{323C13C6-791D-45AA-BAFB-949582B5D194}"/>
              </a:ext>
            </a:extLst>
          </p:cNvPr>
          <p:cNvSpPr>
            <a:spLocks noGrp="1" noChangeArrowheads="1"/>
          </p:cNvSpPr>
          <p:nvPr>
            <p:ph type="title"/>
          </p:nvPr>
        </p:nvSpPr>
        <p:spPr/>
        <p:txBody>
          <a:bodyPr/>
          <a:lstStyle/>
          <a:p>
            <a:r>
              <a:rPr lang="zh-CN" altLang="en-US"/>
              <a:t>线性结构</a:t>
            </a:r>
          </a:p>
        </p:txBody>
      </p:sp>
      <p:sp>
        <p:nvSpPr>
          <p:cNvPr id="3" name="灯片编号占位符 2">
            <a:extLst>
              <a:ext uri="{FF2B5EF4-FFF2-40B4-BE49-F238E27FC236}">
                <a16:creationId xmlns:a16="http://schemas.microsoft.com/office/drawing/2014/main" id="{F8F8A05C-8344-4281-B6A1-1E88DD248089}"/>
              </a:ext>
            </a:extLst>
          </p:cNvPr>
          <p:cNvSpPr>
            <a:spLocks noGrp="1"/>
          </p:cNvSpPr>
          <p:nvPr>
            <p:ph type="sldNum" sz="quarter" idx="12"/>
          </p:nvPr>
        </p:nvSpPr>
        <p:spPr/>
        <p:txBody>
          <a:bodyPr/>
          <a:lstStyle/>
          <a:p>
            <a:pPr>
              <a:defRPr/>
            </a:pPr>
            <a:fld id="{7DC1DBCB-FAD2-49EA-A9AE-5BFDB1E6E077}" type="slidenum">
              <a:rPr lang="en-US" altLang="zh-CN" smtClean="0"/>
              <a:pPr>
                <a:defRPr/>
              </a:pPr>
              <a:t>20</a:t>
            </a:fld>
            <a:endParaRPr lang="en-US" altLang="zh-CN"/>
          </a:p>
        </p:txBody>
      </p:sp>
    </p:spTree>
  </p:cSld>
  <p:clrMapOvr>
    <a:masterClrMapping/>
  </p:clrMapOvr>
  <p:transition>
    <p:spli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Line 2050">
            <a:extLst>
              <a:ext uri="{FF2B5EF4-FFF2-40B4-BE49-F238E27FC236}">
                <a16:creationId xmlns:a16="http://schemas.microsoft.com/office/drawing/2014/main" id="{B47C071B-A656-4886-BD92-DCC7E5362D4B}"/>
              </a:ext>
            </a:extLst>
          </p:cNvPr>
          <p:cNvSpPr>
            <a:spLocks noChangeShapeType="1"/>
          </p:cNvSpPr>
          <p:nvPr/>
        </p:nvSpPr>
        <p:spPr bwMode="auto">
          <a:xfrm flipH="1">
            <a:off x="1416050" y="3062288"/>
            <a:ext cx="95250" cy="43815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19" name="Line 2051">
            <a:extLst>
              <a:ext uri="{FF2B5EF4-FFF2-40B4-BE49-F238E27FC236}">
                <a16:creationId xmlns:a16="http://schemas.microsoft.com/office/drawing/2014/main" id="{4F738AD5-C5B4-4C17-B8EF-6F98A0EAA106}"/>
              </a:ext>
            </a:extLst>
          </p:cNvPr>
          <p:cNvSpPr>
            <a:spLocks noChangeShapeType="1"/>
          </p:cNvSpPr>
          <p:nvPr/>
        </p:nvSpPr>
        <p:spPr bwMode="auto">
          <a:xfrm>
            <a:off x="6864350" y="37798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0" name="Line 2052">
            <a:extLst>
              <a:ext uri="{FF2B5EF4-FFF2-40B4-BE49-F238E27FC236}">
                <a16:creationId xmlns:a16="http://schemas.microsoft.com/office/drawing/2014/main" id="{67C97315-6C50-4A53-A1F6-ABCC2863708B}"/>
              </a:ext>
            </a:extLst>
          </p:cNvPr>
          <p:cNvSpPr>
            <a:spLocks noChangeShapeType="1"/>
          </p:cNvSpPr>
          <p:nvPr/>
        </p:nvSpPr>
        <p:spPr bwMode="auto">
          <a:xfrm flipH="1">
            <a:off x="8147050" y="37163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1" name="Line 2053">
            <a:extLst>
              <a:ext uri="{FF2B5EF4-FFF2-40B4-BE49-F238E27FC236}">
                <a16:creationId xmlns:a16="http://schemas.microsoft.com/office/drawing/2014/main" id="{F17BFBBC-C560-4E20-A7F3-3956EAF96EAC}"/>
              </a:ext>
            </a:extLst>
          </p:cNvPr>
          <p:cNvSpPr>
            <a:spLocks noChangeShapeType="1"/>
          </p:cNvSpPr>
          <p:nvPr/>
        </p:nvSpPr>
        <p:spPr bwMode="auto">
          <a:xfrm flipH="1">
            <a:off x="6343650" y="37417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2" name="Line 2054">
            <a:extLst>
              <a:ext uri="{FF2B5EF4-FFF2-40B4-BE49-F238E27FC236}">
                <a16:creationId xmlns:a16="http://schemas.microsoft.com/office/drawing/2014/main" id="{F449ED6D-3D26-4105-94D8-C232DFE7EF1D}"/>
              </a:ext>
            </a:extLst>
          </p:cNvPr>
          <p:cNvSpPr>
            <a:spLocks noChangeShapeType="1"/>
          </p:cNvSpPr>
          <p:nvPr/>
        </p:nvSpPr>
        <p:spPr bwMode="auto">
          <a:xfrm>
            <a:off x="8159750" y="4605338"/>
            <a:ext cx="152400"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3" name="Line 2055">
            <a:extLst>
              <a:ext uri="{FF2B5EF4-FFF2-40B4-BE49-F238E27FC236}">
                <a16:creationId xmlns:a16="http://schemas.microsoft.com/office/drawing/2014/main" id="{EEF8DAC9-5F6E-417B-B1DB-63D9B00BD391}"/>
              </a:ext>
            </a:extLst>
          </p:cNvPr>
          <p:cNvSpPr>
            <a:spLocks noChangeShapeType="1"/>
          </p:cNvSpPr>
          <p:nvPr/>
        </p:nvSpPr>
        <p:spPr bwMode="auto">
          <a:xfrm>
            <a:off x="6394450" y="4554538"/>
            <a:ext cx="152400"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4" name="Line 2056">
            <a:extLst>
              <a:ext uri="{FF2B5EF4-FFF2-40B4-BE49-F238E27FC236}">
                <a16:creationId xmlns:a16="http://schemas.microsoft.com/office/drawing/2014/main" id="{4572BEC8-C142-408D-AB50-4A2C63EB392B}"/>
              </a:ext>
            </a:extLst>
          </p:cNvPr>
          <p:cNvSpPr>
            <a:spLocks noChangeShapeType="1"/>
          </p:cNvSpPr>
          <p:nvPr/>
        </p:nvSpPr>
        <p:spPr bwMode="auto">
          <a:xfrm flipH="1">
            <a:off x="6980238" y="4491038"/>
            <a:ext cx="214312" cy="533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5" name="Line 2057">
            <a:extLst>
              <a:ext uri="{FF2B5EF4-FFF2-40B4-BE49-F238E27FC236}">
                <a16:creationId xmlns:a16="http://schemas.microsoft.com/office/drawing/2014/main" id="{F5952417-9E1D-492F-AABE-D430DF7B7414}"/>
              </a:ext>
            </a:extLst>
          </p:cNvPr>
          <p:cNvSpPr>
            <a:spLocks noChangeShapeType="1"/>
          </p:cNvSpPr>
          <p:nvPr/>
        </p:nvSpPr>
        <p:spPr bwMode="auto">
          <a:xfrm flipH="1">
            <a:off x="6078538" y="4516438"/>
            <a:ext cx="214312" cy="533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6" name="Line 2058">
            <a:extLst>
              <a:ext uri="{FF2B5EF4-FFF2-40B4-BE49-F238E27FC236}">
                <a16:creationId xmlns:a16="http://schemas.microsoft.com/office/drawing/2014/main" id="{F5E2B861-0D02-49CB-8D9A-8E559D2513C3}"/>
              </a:ext>
            </a:extLst>
          </p:cNvPr>
          <p:cNvSpPr>
            <a:spLocks noChangeShapeType="1"/>
          </p:cNvSpPr>
          <p:nvPr/>
        </p:nvSpPr>
        <p:spPr bwMode="auto">
          <a:xfrm>
            <a:off x="7842250" y="3055938"/>
            <a:ext cx="685800" cy="457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7" name="Line 2059">
            <a:extLst>
              <a:ext uri="{FF2B5EF4-FFF2-40B4-BE49-F238E27FC236}">
                <a16:creationId xmlns:a16="http://schemas.microsoft.com/office/drawing/2014/main" id="{8A7A5CED-9A73-4DC4-8EF6-D50E2943153E}"/>
              </a:ext>
            </a:extLst>
          </p:cNvPr>
          <p:cNvSpPr>
            <a:spLocks noChangeShapeType="1"/>
          </p:cNvSpPr>
          <p:nvPr/>
        </p:nvSpPr>
        <p:spPr bwMode="auto">
          <a:xfrm flipH="1">
            <a:off x="6838950" y="3043238"/>
            <a:ext cx="762000" cy="533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8" name="Line 2060">
            <a:extLst>
              <a:ext uri="{FF2B5EF4-FFF2-40B4-BE49-F238E27FC236}">
                <a16:creationId xmlns:a16="http://schemas.microsoft.com/office/drawing/2014/main" id="{2C8903D6-E22B-44AC-9504-D1EF1ABA14DA}"/>
              </a:ext>
            </a:extLst>
          </p:cNvPr>
          <p:cNvSpPr>
            <a:spLocks noChangeShapeType="1"/>
          </p:cNvSpPr>
          <p:nvPr/>
        </p:nvSpPr>
        <p:spPr bwMode="auto">
          <a:xfrm>
            <a:off x="4921250" y="3081338"/>
            <a:ext cx="685800" cy="457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29" name="Line 2061">
            <a:extLst>
              <a:ext uri="{FF2B5EF4-FFF2-40B4-BE49-F238E27FC236}">
                <a16:creationId xmlns:a16="http://schemas.microsoft.com/office/drawing/2014/main" id="{6DC91450-AA76-4767-A0D6-CE3D2B4DD2E4}"/>
              </a:ext>
            </a:extLst>
          </p:cNvPr>
          <p:cNvSpPr>
            <a:spLocks noChangeShapeType="1"/>
          </p:cNvSpPr>
          <p:nvPr/>
        </p:nvSpPr>
        <p:spPr bwMode="auto">
          <a:xfrm flipH="1">
            <a:off x="3930650" y="3081338"/>
            <a:ext cx="762000" cy="533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0" name="Line 2062">
            <a:extLst>
              <a:ext uri="{FF2B5EF4-FFF2-40B4-BE49-F238E27FC236}">
                <a16:creationId xmlns:a16="http://schemas.microsoft.com/office/drawing/2014/main" id="{BC38E987-9772-48E9-B5ED-2F6C18A64D9B}"/>
              </a:ext>
            </a:extLst>
          </p:cNvPr>
          <p:cNvSpPr>
            <a:spLocks noChangeShapeType="1"/>
          </p:cNvSpPr>
          <p:nvPr/>
        </p:nvSpPr>
        <p:spPr bwMode="auto">
          <a:xfrm>
            <a:off x="3930650" y="36909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1" name="Line 2063">
            <a:extLst>
              <a:ext uri="{FF2B5EF4-FFF2-40B4-BE49-F238E27FC236}">
                <a16:creationId xmlns:a16="http://schemas.microsoft.com/office/drawing/2014/main" id="{E25CA791-CE25-4FB8-BE54-3FDB7096E167}"/>
              </a:ext>
            </a:extLst>
          </p:cNvPr>
          <p:cNvSpPr>
            <a:spLocks noChangeShapeType="1"/>
          </p:cNvSpPr>
          <p:nvPr/>
        </p:nvSpPr>
        <p:spPr bwMode="auto">
          <a:xfrm flipH="1">
            <a:off x="5302250" y="36909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2" name="Line 2064">
            <a:extLst>
              <a:ext uri="{FF2B5EF4-FFF2-40B4-BE49-F238E27FC236}">
                <a16:creationId xmlns:a16="http://schemas.microsoft.com/office/drawing/2014/main" id="{08A6219B-FE2D-4090-BA8B-07B532D33F24}"/>
              </a:ext>
            </a:extLst>
          </p:cNvPr>
          <p:cNvSpPr>
            <a:spLocks noChangeShapeType="1"/>
          </p:cNvSpPr>
          <p:nvPr/>
        </p:nvSpPr>
        <p:spPr bwMode="auto">
          <a:xfrm flipH="1">
            <a:off x="3473450" y="36909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3" name="Line 2065">
            <a:extLst>
              <a:ext uri="{FF2B5EF4-FFF2-40B4-BE49-F238E27FC236}">
                <a16:creationId xmlns:a16="http://schemas.microsoft.com/office/drawing/2014/main" id="{BCD1DFB2-4A2D-473C-BB80-533F5CAD460A}"/>
              </a:ext>
            </a:extLst>
          </p:cNvPr>
          <p:cNvSpPr>
            <a:spLocks noChangeShapeType="1"/>
          </p:cNvSpPr>
          <p:nvPr/>
        </p:nvSpPr>
        <p:spPr bwMode="auto">
          <a:xfrm>
            <a:off x="4387850" y="4529138"/>
            <a:ext cx="152400"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4" name="Line 2066">
            <a:extLst>
              <a:ext uri="{FF2B5EF4-FFF2-40B4-BE49-F238E27FC236}">
                <a16:creationId xmlns:a16="http://schemas.microsoft.com/office/drawing/2014/main" id="{044FD074-D02C-40B1-8C70-14373445C790}"/>
              </a:ext>
            </a:extLst>
          </p:cNvPr>
          <p:cNvSpPr>
            <a:spLocks noChangeShapeType="1"/>
          </p:cNvSpPr>
          <p:nvPr/>
        </p:nvSpPr>
        <p:spPr bwMode="auto">
          <a:xfrm>
            <a:off x="3473450" y="4529138"/>
            <a:ext cx="152400"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5" name="Line 2067">
            <a:extLst>
              <a:ext uri="{FF2B5EF4-FFF2-40B4-BE49-F238E27FC236}">
                <a16:creationId xmlns:a16="http://schemas.microsoft.com/office/drawing/2014/main" id="{736302DA-D32E-48E0-B121-D528A54A5CA5}"/>
              </a:ext>
            </a:extLst>
          </p:cNvPr>
          <p:cNvSpPr>
            <a:spLocks noChangeShapeType="1"/>
          </p:cNvSpPr>
          <p:nvPr/>
        </p:nvSpPr>
        <p:spPr bwMode="auto">
          <a:xfrm flipH="1">
            <a:off x="3157538" y="4529138"/>
            <a:ext cx="214312" cy="5334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6" name="Line 2068">
            <a:extLst>
              <a:ext uri="{FF2B5EF4-FFF2-40B4-BE49-F238E27FC236}">
                <a16:creationId xmlns:a16="http://schemas.microsoft.com/office/drawing/2014/main" id="{13E7BFD7-D5FD-4E5D-A24A-EBAE2AC1845A}"/>
              </a:ext>
            </a:extLst>
          </p:cNvPr>
          <p:cNvSpPr>
            <a:spLocks noChangeShapeType="1"/>
          </p:cNvSpPr>
          <p:nvPr/>
        </p:nvSpPr>
        <p:spPr bwMode="auto">
          <a:xfrm>
            <a:off x="1416050" y="4452938"/>
            <a:ext cx="6096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7" name="Line 2069">
            <a:extLst>
              <a:ext uri="{FF2B5EF4-FFF2-40B4-BE49-F238E27FC236}">
                <a16:creationId xmlns:a16="http://schemas.microsoft.com/office/drawing/2014/main" id="{6DE0D829-65D4-4C84-BD8B-93087E8CDBFC}"/>
              </a:ext>
            </a:extLst>
          </p:cNvPr>
          <p:cNvSpPr>
            <a:spLocks noChangeShapeType="1"/>
          </p:cNvSpPr>
          <p:nvPr/>
        </p:nvSpPr>
        <p:spPr bwMode="auto">
          <a:xfrm flipH="1">
            <a:off x="757238" y="4452938"/>
            <a:ext cx="608012"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8" name="Line 2070">
            <a:extLst>
              <a:ext uri="{FF2B5EF4-FFF2-40B4-BE49-F238E27FC236}">
                <a16:creationId xmlns:a16="http://schemas.microsoft.com/office/drawing/2014/main" id="{3AA37F24-5F3C-42EE-958F-245051F54759}"/>
              </a:ext>
            </a:extLst>
          </p:cNvPr>
          <p:cNvSpPr>
            <a:spLocks noChangeShapeType="1"/>
          </p:cNvSpPr>
          <p:nvPr/>
        </p:nvSpPr>
        <p:spPr bwMode="auto">
          <a:xfrm>
            <a:off x="2289175" y="3614738"/>
            <a:ext cx="422275"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39" name="Line 2071">
            <a:extLst>
              <a:ext uri="{FF2B5EF4-FFF2-40B4-BE49-F238E27FC236}">
                <a16:creationId xmlns:a16="http://schemas.microsoft.com/office/drawing/2014/main" id="{2F087FE0-47D6-4AC6-A980-423E576C0D62}"/>
              </a:ext>
            </a:extLst>
          </p:cNvPr>
          <p:cNvSpPr>
            <a:spLocks noChangeShapeType="1"/>
          </p:cNvSpPr>
          <p:nvPr/>
        </p:nvSpPr>
        <p:spPr bwMode="auto">
          <a:xfrm flipH="1">
            <a:off x="1873250" y="3614738"/>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0" name="Line 2072">
            <a:extLst>
              <a:ext uri="{FF2B5EF4-FFF2-40B4-BE49-F238E27FC236}">
                <a16:creationId xmlns:a16="http://schemas.microsoft.com/office/drawing/2014/main" id="{A5BF7B1A-2981-4532-8922-5A33FAF79B1A}"/>
              </a:ext>
            </a:extLst>
          </p:cNvPr>
          <p:cNvSpPr>
            <a:spLocks noChangeShapeType="1"/>
          </p:cNvSpPr>
          <p:nvPr/>
        </p:nvSpPr>
        <p:spPr bwMode="auto">
          <a:xfrm>
            <a:off x="1377950" y="3843338"/>
            <a:ext cx="0"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1" name="Line 2073">
            <a:extLst>
              <a:ext uri="{FF2B5EF4-FFF2-40B4-BE49-F238E27FC236}">
                <a16:creationId xmlns:a16="http://schemas.microsoft.com/office/drawing/2014/main" id="{147C6EEB-8026-4819-8A35-C54BBA7EE881}"/>
              </a:ext>
            </a:extLst>
          </p:cNvPr>
          <p:cNvSpPr>
            <a:spLocks noChangeShapeType="1"/>
          </p:cNvSpPr>
          <p:nvPr/>
        </p:nvSpPr>
        <p:spPr bwMode="auto">
          <a:xfrm>
            <a:off x="730250" y="3843338"/>
            <a:ext cx="134938"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2" name="Line 2074">
            <a:extLst>
              <a:ext uri="{FF2B5EF4-FFF2-40B4-BE49-F238E27FC236}">
                <a16:creationId xmlns:a16="http://schemas.microsoft.com/office/drawing/2014/main" id="{7E214136-4F77-409B-9BE3-DBD6C782E070}"/>
              </a:ext>
            </a:extLst>
          </p:cNvPr>
          <p:cNvSpPr>
            <a:spLocks noChangeShapeType="1"/>
          </p:cNvSpPr>
          <p:nvPr/>
        </p:nvSpPr>
        <p:spPr bwMode="auto">
          <a:xfrm flipH="1">
            <a:off x="539750" y="3843338"/>
            <a:ext cx="112713"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3" name="Line 2075">
            <a:extLst>
              <a:ext uri="{FF2B5EF4-FFF2-40B4-BE49-F238E27FC236}">
                <a16:creationId xmlns:a16="http://schemas.microsoft.com/office/drawing/2014/main" id="{4F0A95A0-B2FB-4454-B428-1ECEC60ECC50}"/>
              </a:ext>
            </a:extLst>
          </p:cNvPr>
          <p:cNvSpPr>
            <a:spLocks noChangeShapeType="1"/>
          </p:cNvSpPr>
          <p:nvPr/>
        </p:nvSpPr>
        <p:spPr bwMode="auto">
          <a:xfrm>
            <a:off x="1644650" y="3030538"/>
            <a:ext cx="609600" cy="584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44" name="Line 2076">
            <a:extLst>
              <a:ext uri="{FF2B5EF4-FFF2-40B4-BE49-F238E27FC236}">
                <a16:creationId xmlns:a16="http://schemas.microsoft.com/office/drawing/2014/main" id="{8BE088F8-B3F8-4693-9511-FB3E1F02D6F8}"/>
              </a:ext>
            </a:extLst>
          </p:cNvPr>
          <p:cNvSpPr>
            <a:spLocks noChangeShapeType="1"/>
          </p:cNvSpPr>
          <p:nvPr/>
        </p:nvSpPr>
        <p:spPr bwMode="auto">
          <a:xfrm flipH="1">
            <a:off x="757238" y="3030538"/>
            <a:ext cx="658812" cy="5842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8079" name="Text Box 2079">
            <a:extLst>
              <a:ext uri="{FF2B5EF4-FFF2-40B4-BE49-F238E27FC236}">
                <a16:creationId xmlns:a16="http://schemas.microsoft.com/office/drawing/2014/main" id="{5085A7B4-A9B0-4A36-9561-C3E6CC2F9581}"/>
              </a:ext>
            </a:extLst>
          </p:cNvPr>
          <p:cNvSpPr txBox="1">
            <a:spLocks noChangeArrowheads="1"/>
          </p:cNvSpPr>
          <p:nvPr/>
        </p:nvSpPr>
        <p:spPr bwMode="auto">
          <a:xfrm>
            <a:off x="1187450" y="2060575"/>
            <a:ext cx="7734300" cy="601663"/>
          </a:xfrm>
          <a:prstGeom prst="rect">
            <a:avLst/>
          </a:prstGeom>
          <a:noFill/>
          <a:ln>
            <a:noFill/>
          </a:ln>
          <a:effectLst/>
        </p:spPr>
        <p:txBody>
          <a:bodyPr lIns="112947" tIns="56473" rIns="112947" bIns="56473">
            <a:spAutoFit/>
          </a:bodyPr>
          <a:lstStyle>
            <a:lvl1pPr defTabSz="1128713">
              <a:defRPr kumimoji="1" sz="2400">
                <a:solidFill>
                  <a:schemeClr val="tx1"/>
                </a:solidFill>
                <a:latin typeface="Times New Roman" panose="02020603050405020304" pitchFamily="18" charset="0"/>
                <a:ea typeface="宋体" panose="02010600030101010101" pitchFamily="2" charset="-122"/>
              </a:defRPr>
            </a:lvl1pPr>
            <a:lvl2pPr marL="565150" defTabSz="1128713">
              <a:defRPr kumimoji="1" sz="2400">
                <a:solidFill>
                  <a:schemeClr val="tx1"/>
                </a:solidFill>
                <a:latin typeface="Times New Roman" panose="02020603050405020304" pitchFamily="18" charset="0"/>
                <a:ea typeface="宋体" panose="02010600030101010101" pitchFamily="2" charset="-122"/>
              </a:defRPr>
            </a:lvl2pPr>
            <a:lvl3pPr marL="1128713" defTabSz="1128713">
              <a:defRPr kumimoji="1" sz="2400">
                <a:solidFill>
                  <a:schemeClr val="tx1"/>
                </a:solidFill>
                <a:latin typeface="Times New Roman" panose="02020603050405020304" pitchFamily="18" charset="0"/>
                <a:ea typeface="宋体" panose="02010600030101010101" pitchFamily="2" charset="-122"/>
              </a:defRPr>
            </a:lvl3pPr>
            <a:lvl4pPr marL="1693863" defTabSz="1128713">
              <a:defRPr kumimoji="1" sz="2400">
                <a:solidFill>
                  <a:schemeClr val="tx1"/>
                </a:solidFill>
                <a:latin typeface="Times New Roman" panose="02020603050405020304" pitchFamily="18" charset="0"/>
                <a:ea typeface="宋体" panose="02010600030101010101" pitchFamily="2" charset="-122"/>
              </a:defRPr>
            </a:lvl4pPr>
            <a:lvl5pPr marL="2259013" defTabSz="1128713">
              <a:defRPr kumimoji="1" sz="2400">
                <a:solidFill>
                  <a:schemeClr val="tx1"/>
                </a:solidFill>
                <a:latin typeface="Times New Roman" panose="02020603050405020304" pitchFamily="18" charset="0"/>
                <a:ea typeface="宋体" panose="02010600030101010101" pitchFamily="2" charset="-122"/>
              </a:defRPr>
            </a:lvl5pPr>
            <a:lvl6pPr marL="27162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4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6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78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3200" b="1">
                <a:solidFill>
                  <a:srgbClr val="FF6600"/>
                </a:solidFill>
                <a:effectLst>
                  <a:outerShdw blurRad="38100" dist="38100" dir="2700000" algn="tl">
                    <a:srgbClr val="C0C0C0"/>
                  </a:outerShdw>
                </a:effectLst>
                <a:latin typeface="仿宋_GB2312" pitchFamily="49" charset="-122"/>
                <a:ea typeface="仿宋_GB2312" pitchFamily="49" charset="-122"/>
              </a:rPr>
              <a:t>树            二叉树      二叉搜索树</a:t>
            </a:r>
            <a:endParaRPr lang="zh-CN" altLang="en-US" sz="3000"/>
          </a:p>
        </p:txBody>
      </p:sp>
      <p:sp>
        <p:nvSpPr>
          <p:cNvPr id="34846" name="Oval 2080">
            <a:extLst>
              <a:ext uri="{FF2B5EF4-FFF2-40B4-BE49-F238E27FC236}">
                <a16:creationId xmlns:a16="http://schemas.microsoft.com/office/drawing/2014/main" id="{CAD0D3B8-85A8-4DD1-8EB6-02C9464C562F}"/>
              </a:ext>
            </a:extLst>
          </p:cNvPr>
          <p:cNvSpPr>
            <a:spLocks noChangeArrowheads="1"/>
          </p:cNvSpPr>
          <p:nvPr/>
        </p:nvSpPr>
        <p:spPr bwMode="auto">
          <a:xfrm>
            <a:off x="2730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47" name="Oval 2081">
            <a:extLst>
              <a:ext uri="{FF2B5EF4-FFF2-40B4-BE49-F238E27FC236}">
                <a16:creationId xmlns:a16="http://schemas.microsoft.com/office/drawing/2014/main" id="{C1A84F59-865D-415E-9078-65BFF94CC6B4}"/>
              </a:ext>
            </a:extLst>
          </p:cNvPr>
          <p:cNvSpPr>
            <a:spLocks noChangeArrowheads="1"/>
          </p:cNvSpPr>
          <p:nvPr/>
        </p:nvSpPr>
        <p:spPr bwMode="auto">
          <a:xfrm>
            <a:off x="7302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48" name="Oval 2082">
            <a:extLst>
              <a:ext uri="{FF2B5EF4-FFF2-40B4-BE49-F238E27FC236}">
                <a16:creationId xmlns:a16="http://schemas.microsoft.com/office/drawing/2014/main" id="{0AF403C8-0F85-46FD-932E-7D7794F43CEE}"/>
              </a:ext>
            </a:extLst>
          </p:cNvPr>
          <p:cNvSpPr>
            <a:spLocks noChangeArrowheads="1"/>
          </p:cNvSpPr>
          <p:nvPr/>
        </p:nvSpPr>
        <p:spPr bwMode="auto">
          <a:xfrm>
            <a:off x="11874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49" name="Oval 2083">
            <a:extLst>
              <a:ext uri="{FF2B5EF4-FFF2-40B4-BE49-F238E27FC236}">
                <a16:creationId xmlns:a16="http://schemas.microsoft.com/office/drawing/2014/main" id="{39DAFCB9-E5AD-41D1-9149-C52310209E56}"/>
              </a:ext>
            </a:extLst>
          </p:cNvPr>
          <p:cNvSpPr>
            <a:spLocks noChangeArrowheads="1"/>
          </p:cNvSpPr>
          <p:nvPr/>
        </p:nvSpPr>
        <p:spPr bwMode="auto">
          <a:xfrm>
            <a:off x="16446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0" name="Oval 2084">
            <a:extLst>
              <a:ext uri="{FF2B5EF4-FFF2-40B4-BE49-F238E27FC236}">
                <a16:creationId xmlns:a16="http://schemas.microsoft.com/office/drawing/2014/main" id="{0AEF034C-5AAB-4356-A780-B069CED36E2A}"/>
              </a:ext>
            </a:extLst>
          </p:cNvPr>
          <p:cNvSpPr>
            <a:spLocks noChangeArrowheads="1"/>
          </p:cNvSpPr>
          <p:nvPr/>
        </p:nvSpPr>
        <p:spPr bwMode="auto">
          <a:xfrm>
            <a:off x="21018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1" name="Oval 2085">
            <a:extLst>
              <a:ext uri="{FF2B5EF4-FFF2-40B4-BE49-F238E27FC236}">
                <a16:creationId xmlns:a16="http://schemas.microsoft.com/office/drawing/2014/main" id="{143337B8-9DCF-4BAF-86D7-E2069703541D}"/>
              </a:ext>
            </a:extLst>
          </p:cNvPr>
          <p:cNvSpPr>
            <a:spLocks noChangeArrowheads="1"/>
          </p:cNvSpPr>
          <p:nvPr/>
        </p:nvSpPr>
        <p:spPr bwMode="auto">
          <a:xfrm>
            <a:off x="25590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2" name="Oval 2086">
            <a:extLst>
              <a:ext uri="{FF2B5EF4-FFF2-40B4-BE49-F238E27FC236}">
                <a16:creationId xmlns:a16="http://schemas.microsoft.com/office/drawing/2014/main" id="{C52E4228-9ACF-48DF-BCAB-7823CBA0AC0B}"/>
              </a:ext>
            </a:extLst>
          </p:cNvPr>
          <p:cNvSpPr>
            <a:spLocks noChangeArrowheads="1"/>
          </p:cNvSpPr>
          <p:nvPr/>
        </p:nvSpPr>
        <p:spPr bwMode="auto">
          <a:xfrm>
            <a:off x="9588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3" name="Oval 2087">
            <a:extLst>
              <a:ext uri="{FF2B5EF4-FFF2-40B4-BE49-F238E27FC236}">
                <a16:creationId xmlns:a16="http://schemas.microsoft.com/office/drawing/2014/main" id="{1F0A586D-2E3D-4250-B975-9CAB2E76143A}"/>
              </a:ext>
            </a:extLst>
          </p:cNvPr>
          <p:cNvSpPr>
            <a:spLocks noChangeArrowheads="1"/>
          </p:cNvSpPr>
          <p:nvPr/>
        </p:nvSpPr>
        <p:spPr bwMode="auto">
          <a:xfrm>
            <a:off x="14160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4" name="Oval 2088">
            <a:extLst>
              <a:ext uri="{FF2B5EF4-FFF2-40B4-BE49-F238E27FC236}">
                <a16:creationId xmlns:a16="http://schemas.microsoft.com/office/drawing/2014/main" id="{3BC22509-84A0-4FA5-92E7-3C9E505B36E5}"/>
              </a:ext>
            </a:extLst>
          </p:cNvPr>
          <p:cNvSpPr>
            <a:spLocks noChangeArrowheads="1"/>
          </p:cNvSpPr>
          <p:nvPr/>
        </p:nvSpPr>
        <p:spPr bwMode="auto">
          <a:xfrm>
            <a:off x="18732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5" name="Oval 2089">
            <a:extLst>
              <a:ext uri="{FF2B5EF4-FFF2-40B4-BE49-F238E27FC236}">
                <a16:creationId xmlns:a16="http://schemas.microsoft.com/office/drawing/2014/main" id="{CB254E3A-3EF9-412F-A30D-538C050D54BA}"/>
              </a:ext>
            </a:extLst>
          </p:cNvPr>
          <p:cNvSpPr>
            <a:spLocks noChangeArrowheads="1"/>
          </p:cNvSpPr>
          <p:nvPr/>
        </p:nvSpPr>
        <p:spPr bwMode="auto">
          <a:xfrm>
            <a:off x="5016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6" name="Oval 2090">
            <a:extLst>
              <a:ext uri="{FF2B5EF4-FFF2-40B4-BE49-F238E27FC236}">
                <a16:creationId xmlns:a16="http://schemas.microsoft.com/office/drawing/2014/main" id="{050A2D83-9294-4C4D-A8E6-22A5975CC2F0}"/>
              </a:ext>
            </a:extLst>
          </p:cNvPr>
          <p:cNvSpPr>
            <a:spLocks noChangeArrowheads="1"/>
          </p:cNvSpPr>
          <p:nvPr/>
        </p:nvSpPr>
        <p:spPr bwMode="auto">
          <a:xfrm>
            <a:off x="501650" y="3462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7" name="Oval 2091">
            <a:extLst>
              <a:ext uri="{FF2B5EF4-FFF2-40B4-BE49-F238E27FC236}">
                <a16:creationId xmlns:a16="http://schemas.microsoft.com/office/drawing/2014/main" id="{37BC92EC-D461-4837-9EA3-0B890FEE877E}"/>
              </a:ext>
            </a:extLst>
          </p:cNvPr>
          <p:cNvSpPr>
            <a:spLocks noChangeArrowheads="1"/>
          </p:cNvSpPr>
          <p:nvPr/>
        </p:nvSpPr>
        <p:spPr bwMode="auto">
          <a:xfrm>
            <a:off x="1187450" y="3462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8" name="Oval 2092">
            <a:extLst>
              <a:ext uri="{FF2B5EF4-FFF2-40B4-BE49-F238E27FC236}">
                <a16:creationId xmlns:a16="http://schemas.microsoft.com/office/drawing/2014/main" id="{71A94599-943F-426B-9BC5-5453C6DCB745}"/>
              </a:ext>
            </a:extLst>
          </p:cNvPr>
          <p:cNvSpPr>
            <a:spLocks noChangeArrowheads="1"/>
          </p:cNvSpPr>
          <p:nvPr/>
        </p:nvSpPr>
        <p:spPr bwMode="auto">
          <a:xfrm>
            <a:off x="2101850" y="3462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59" name="Oval 2093">
            <a:extLst>
              <a:ext uri="{FF2B5EF4-FFF2-40B4-BE49-F238E27FC236}">
                <a16:creationId xmlns:a16="http://schemas.microsoft.com/office/drawing/2014/main" id="{EBC3CB2B-59D4-41DC-9F44-F4A13E4603CA}"/>
              </a:ext>
            </a:extLst>
          </p:cNvPr>
          <p:cNvSpPr>
            <a:spLocks noChangeArrowheads="1"/>
          </p:cNvSpPr>
          <p:nvPr/>
        </p:nvSpPr>
        <p:spPr bwMode="auto">
          <a:xfrm>
            <a:off x="1339850" y="2700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60" name="Text Box 2094">
            <a:extLst>
              <a:ext uri="{FF2B5EF4-FFF2-40B4-BE49-F238E27FC236}">
                <a16:creationId xmlns:a16="http://schemas.microsoft.com/office/drawing/2014/main" id="{BC42C743-A53B-4C21-8189-5BB6F776E3A3}"/>
              </a:ext>
            </a:extLst>
          </p:cNvPr>
          <p:cNvSpPr txBox="1">
            <a:spLocks noChangeArrowheads="1"/>
          </p:cNvSpPr>
          <p:nvPr/>
        </p:nvSpPr>
        <p:spPr bwMode="auto">
          <a:xfrm>
            <a:off x="1822450" y="49101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14</a:t>
            </a:r>
            <a:endParaRPr lang="en-US" altLang="zh-CN" sz="3200"/>
          </a:p>
        </p:txBody>
      </p:sp>
      <p:sp>
        <p:nvSpPr>
          <p:cNvPr id="34861" name="Text Box 2095">
            <a:extLst>
              <a:ext uri="{FF2B5EF4-FFF2-40B4-BE49-F238E27FC236}">
                <a16:creationId xmlns:a16="http://schemas.microsoft.com/office/drawing/2014/main" id="{A30DF939-2F8A-49C7-A9FF-81B38EF53D57}"/>
              </a:ext>
            </a:extLst>
          </p:cNvPr>
          <p:cNvSpPr txBox="1">
            <a:spLocks noChangeArrowheads="1"/>
          </p:cNvSpPr>
          <p:nvPr/>
        </p:nvSpPr>
        <p:spPr bwMode="auto">
          <a:xfrm>
            <a:off x="1365250" y="49101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13</a:t>
            </a:r>
            <a:endParaRPr lang="en-US" altLang="zh-CN" sz="3200"/>
          </a:p>
        </p:txBody>
      </p:sp>
      <p:sp>
        <p:nvSpPr>
          <p:cNvPr id="34862" name="Text Box 2096">
            <a:extLst>
              <a:ext uri="{FF2B5EF4-FFF2-40B4-BE49-F238E27FC236}">
                <a16:creationId xmlns:a16="http://schemas.microsoft.com/office/drawing/2014/main" id="{CB1E9B18-17BB-419C-A8DA-EB55775FB750}"/>
              </a:ext>
            </a:extLst>
          </p:cNvPr>
          <p:cNvSpPr txBox="1">
            <a:spLocks noChangeArrowheads="1"/>
          </p:cNvSpPr>
          <p:nvPr/>
        </p:nvSpPr>
        <p:spPr bwMode="auto">
          <a:xfrm>
            <a:off x="908050" y="49101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12</a:t>
            </a:r>
            <a:endParaRPr lang="en-US" altLang="zh-CN" sz="3200"/>
          </a:p>
        </p:txBody>
      </p:sp>
      <p:sp>
        <p:nvSpPr>
          <p:cNvPr id="34863" name="Text Box 2097">
            <a:extLst>
              <a:ext uri="{FF2B5EF4-FFF2-40B4-BE49-F238E27FC236}">
                <a16:creationId xmlns:a16="http://schemas.microsoft.com/office/drawing/2014/main" id="{827AE0DA-7A9F-49E1-9D7E-665658309480}"/>
              </a:ext>
            </a:extLst>
          </p:cNvPr>
          <p:cNvSpPr txBox="1">
            <a:spLocks noChangeArrowheads="1"/>
          </p:cNvSpPr>
          <p:nvPr/>
        </p:nvSpPr>
        <p:spPr bwMode="auto">
          <a:xfrm>
            <a:off x="463550" y="49101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11</a:t>
            </a:r>
            <a:endParaRPr lang="en-US" altLang="zh-CN" sz="3200"/>
          </a:p>
        </p:txBody>
      </p:sp>
      <p:sp>
        <p:nvSpPr>
          <p:cNvPr id="34864" name="Text Box 2098">
            <a:extLst>
              <a:ext uri="{FF2B5EF4-FFF2-40B4-BE49-F238E27FC236}">
                <a16:creationId xmlns:a16="http://schemas.microsoft.com/office/drawing/2014/main" id="{13373800-00A6-4245-93F6-338D42245646}"/>
              </a:ext>
            </a:extLst>
          </p:cNvPr>
          <p:cNvSpPr txBox="1">
            <a:spLocks noChangeArrowheads="1"/>
          </p:cNvSpPr>
          <p:nvPr/>
        </p:nvSpPr>
        <p:spPr bwMode="auto">
          <a:xfrm>
            <a:off x="539750" y="34464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2</a:t>
            </a:r>
            <a:endParaRPr lang="en-US" altLang="zh-CN" sz="3200"/>
          </a:p>
        </p:txBody>
      </p:sp>
      <p:sp>
        <p:nvSpPr>
          <p:cNvPr id="34865" name="Text Box 2099">
            <a:extLst>
              <a:ext uri="{FF2B5EF4-FFF2-40B4-BE49-F238E27FC236}">
                <a16:creationId xmlns:a16="http://schemas.microsoft.com/office/drawing/2014/main" id="{77F1BF72-52E0-4760-92A6-BB8855021C39}"/>
              </a:ext>
            </a:extLst>
          </p:cNvPr>
          <p:cNvSpPr txBox="1">
            <a:spLocks noChangeArrowheads="1"/>
          </p:cNvSpPr>
          <p:nvPr/>
        </p:nvSpPr>
        <p:spPr bwMode="auto">
          <a:xfrm>
            <a:off x="1204913" y="341471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3</a:t>
            </a:r>
            <a:endParaRPr lang="en-US" altLang="zh-CN"/>
          </a:p>
        </p:txBody>
      </p:sp>
      <p:sp>
        <p:nvSpPr>
          <p:cNvPr id="34866" name="Text Box 2100">
            <a:extLst>
              <a:ext uri="{FF2B5EF4-FFF2-40B4-BE49-F238E27FC236}">
                <a16:creationId xmlns:a16="http://schemas.microsoft.com/office/drawing/2014/main" id="{A2A9DF14-5E5D-4146-A034-0375CA76F1FF}"/>
              </a:ext>
            </a:extLst>
          </p:cNvPr>
          <p:cNvSpPr txBox="1">
            <a:spLocks noChangeArrowheads="1"/>
          </p:cNvSpPr>
          <p:nvPr/>
        </p:nvSpPr>
        <p:spPr bwMode="auto">
          <a:xfrm>
            <a:off x="2114550" y="341153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4</a:t>
            </a:r>
            <a:endParaRPr lang="en-US" altLang="zh-CN"/>
          </a:p>
        </p:txBody>
      </p:sp>
      <p:sp>
        <p:nvSpPr>
          <p:cNvPr id="34867" name="Text Box 2101">
            <a:extLst>
              <a:ext uri="{FF2B5EF4-FFF2-40B4-BE49-F238E27FC236}">
                <a16:creationId xmlns:a16="http://schemas.microsoft.com/office/drawing/2014/main" id="{4FBCD349-45D1-4925-BA6A-345B5AE5A12C}"/>
              </a:ext>
            </a:extLst>
          </p:cNvPr>
          <p:cNvSpPr txBox="1">
            <a:spLocks noChangeArrowheads="1"/>
          </p:cNvSpPr>
          <p:nvPr/>
        </p:nvSpPr>
        <p:spPr bwMode="auto">
          <a:xfrm>
            <a:off x="298450" y="41735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5</a:t>
            </a:r>
          </a:p>
        </p:txBody>
      </p:sp>
      <p:sp>
        <p:nvSpPr>
          <p:cNvPr id="34868" name="Text Box 2102">
            <a:extLst>
              <a:ext uri="{FF2B5EF4-FFF2-40B4-BE49-F238E27FC236}">
                <a16:creationId xmlns:a16="http://schemas.microsoft.com/office/drawing/2014/main" id="{685C941E-580B-46A3-A707-05901913FB23}"/>
              </a:ext>
            </a:extLst>
          </p:cNvPr>
          <p:cNvSpPr txBox="1">
            <a:spLocks noChangeArrowheads="1"/>
          </p:cNvSpPr>
          <p:nvPr/>
        </p:nvSpPr>
        <p:spPr bwMode="auto">
          <a:xfrm>
            <a:off x="757238" y="41735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6</a:t>
            </a:r>
          </a:p>
        </p:txBody>
      </p:sp>
      <p:sp>
        <p:nvSpPr>
          <p:cNvPr id="34869" name="Text Box 2103">
            <a:extLst>
              <a:ext uri="{FF2B5EF4-FFF2-40B4-BE49-F238E27FC236}">
                <a16:creationId xmlns:a16="http://schemas.microsoft.com/office/drawing/2014/main" id="{DB918A41-1069-468C-919E-CBE3946AAF4D}"/>
              </a:ext>
            </a:extLst>
          </p:cNvPr>
          <p:cNvSpPr txBox="1">
            <a:spLocks noChangeArrowheads="1"/>
          </p:cNvSpPr>
          <p:nvPr/>
        </p:nvSpPr>
        <p:spPr bwMode="auto">
          <a:xfrm>
            <a:off x="1214438" y="41862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7</a:t>
            </a:r>
          </a:p>
        </p:txBody>
      </p:sp>
      <p:sp>
        <p:nvSpPr>
          <p:cNvPr id="34870" name="Text Box 2104">
            <a:extLst>
              <a:ext uri="{FF2B5EF4-FFF2-40B4-BE49-F238E27FC236}">
                <a16:creationId xmlns:a16="http://schemas.microsoft.com/office/drawing/2014/main" id="{2768D300-9459-4ED7-A1D3-6D7B664B5B59}"/>
              </a:ext>
            </a:extLst>
          </p:cNvPr>
          <p:cNvSpPr txBox="1">
            <a:spLocks noChangeArrowheads="1"/>
          </p:cNvSpPr>
          <p:nvPr/>
        </p:nvSpPr>
        <p:spPr bwMode="auto">
          <a:xfrm>
            <a:off x="1658938" y="41862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8</a:t>
            </a:r>
          </a:p>
        </p:txBody>
      </p:sp>
      <p:sp>
        <p:nvSpPr>
          <p:cNvPr id="34871" name="Text Box 2105">
            <a:extLst>
              <a:ext uri="{FF2B5EF4-FFF2-40B4-BE49-F238E27FC236}">
                <a16:creationId xmlns:a16="http://schemas.microsoft.com/office/drawing/2014/main" id="{3D133C81-A231-41DE-96D6-B955C45E7489}"/>
              </a:ext>
            </a:extLst>
          </p:cNvPr>
          <p:cNvSpPr txBox="1">
            <a:spLocks noChangeArrowheads="1"/>
          </p:cNvSpPr>
          <p:nvPr/>
        </p:nvSpPr>
        <p:spPr bwMode="auto">
          <a:xfrm>
            <a:off x="2128838" y="41862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9</a:t>
            </a:r>
          </a:p>
        </p:txBody>
      </p:sp>
      <p:sp>
        <p:nvSpPr>
          <p:cNvPr id="34872" name="Text Box 2106">
            <a:extLst>
              <a:ext uri="{FF2B5EF4-FFF2-40B4-BE49-F238E27FC236}">
                <a16:creationId xmlns:a16="http://schemas.microsoft.com/office/drawing/2014/main" id="{D7022CC4-8C9E-43D1-BE8F-83A31FB6F895}"/>
              </a:ext>
            </a:extLst>
          </p:cNvPr>
          <p:cNvSpPr txBox="1">
            <a:spLocks noChangeArrowheads="1"/>
          </p:cNvSpPr>
          <p:nvPr/>
        </p:nvSpPr>
        <p:spPr bwMode="auto">
          <a:xfrm>
            <a:off x="2508250" y="42243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10</a:t>
            </a:r>
            <a:endParaRPr lang="en-US" altLang="zh-CN" b="1">
              <a:solidFill>
                <a:schemeClr val="bg2"/>
              </a:solidFill>
              <a:latin typeface="Arial" panose="020B0604020202020204" pitchFamily="34" charset="0"/>
            </a:endParaRPr>
          </a:p>
        </p:txBody>
      </p:sp>
      <p:sp>
        <p:nvSpPr>
          <p:cNvPr id="34873" name="Line 2107">
            <a:extLst>
              <a:ext uri="{FF2B5EF4-FFF2-40B4-BE49-F238E27FC236}">
                <a16:creationId xmlns:a16="http://schemas.microsoft.com/office/drawing/2014/main" id="{B004865D-BB11-44BD-B7DF-D9D0156A9BCB}"/>
              </a:ext>
            </a:extLst>
          </p:cNvPr>
          <p:cNvSpPr>
            <a:spLocks noChangeShapeType="1"/>
          </p:cNvSpPr>
          <p:nvPr/>
        </p:nvSpPr>
        <p:spPr bwMode="auto">
          <a:xfrm>
            <a:off x="2289175" y="3843338"/>
            <a:ext cx="0" cy="3810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4" name="Line 2108">
            <a:extLst>
              <a:ext uri="{FF2B5EF4-FFF2-40B4-BE49-F238E27FC236}">
                <a16:creationId xmlns:a16="http://schemas.microsoft.com/office/drawing/2014/main" id="{2C89EF5D-8FED-4854-AD90-9DE09615F4F9}"/>
              </a:ext>
            </a:extLst>
          </p:cNvPr>
          <p:cNvSpPr>
            <a:spLocks noChangeShapeType="1"/>
          </p:cNvSpPr>
          <p:nvPr/>
        </p:nvSpPr>
        <p:spPr bwMode="auto">
          <a:xfrm flipH="1">
            <a:off x="1214438" y="4605338"/>
            <a:ext cx="125412" cy="304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5" name="Line 2109">
            <a:extLst>
              <a:ext uri="{FF2B5EF4-FFF2-40B4-BE49-F238E27FC236}">
                <a16:creationId xmlns:a16="http://schemas.microsoft.com/office/drawing/2014/main" id="{F6DAF490-7B5B-448A-A15D-DD1EFA405AB9}"/>
              </a:ext>
            </a:extLst>
          </p:cNvPr>
          <p:cNvSpPr>
            <a:spLocks noChangeShapeType="1"/>
          </p:cNvSpPr>
          <p:nvPr/>
        </p:nvSpPr>
        <p:spPr bwMode="auto">
          <a:xfrm>
            <a:off x="1416050" y="4605338"/>
            <a:ext cx="142875" cy="304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876" name="Oval 2110">
            <a:extLst>
              <a:ext uri="{FF2B5EF4-FFF2-40B4-BE49-F238E27FC236}">
                <a16:creationId xmlns:a16="http://schemas.microsoft.com/office/drawing/2014/main" id="{5FE48965-F94E-4F87-9BEC-D2B6EEC60BBE}"/>
              </a:ext>
            </a:extLst>
          </p:cNvPr>
          <p:cNvSpPr>
            <a:spLocks noChangeArrowheads="1"/>
          </p:cNvSpPr>
          <p:nvPr/>
        </p:nvSpPr>
        <p:spPr bwMode="auto">
          <a:xfrm>
            <a:off x="30162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77" name="Oval 2111">
            <a:extLst>
              <a:ext uri="{FF2B5EF4-FFF2-40B4-BE49-F238E27FC236}">
                <a16:creationId xmlns:a16="http://schemas.microsoft.com/office/drawing/2014/main" id="{05EC4302-D7BD-4D4A-B710-4160B51D81A9}"/>
              </a:ext>
            </a:extLst>
          </p:cNvPr>
          <p:cNvSpPr>
            <a:spLocks noChangeArrowheads="1"/>
          </p:cNvSpPr>
          <p:nvPr/>
        </p:nvSpPr>
        <p:spPr bwMode="auto">
          <a:xfrm>
            <a:off x="34734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78" name="Oval 2112">
            <a:extLst>
              <a:ext uri="{FF2B5EF4-FFF2-40B4-BE49-F238E27FC236}">
                <a16:creationId xmlns:a16="http://schemas.microsoft.com/office/drawing/2014/main" id="{43BFF97C-657E-4122-9301-88ED2AFAEFF1}"/>
              </a:ext>
            </a:extLst>
          </p:cNvPr>
          <p:cNvSpPr>
            <a:spLocks noChangeArrowheads="1"/>
          </p:cNvSpPr>
          <p:nvPr/>
        </p:nvSpPr>
        <p:spPr bwMode="auto">
          <a:xfrm>
            <a:off x="3702050" y="3462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79" name="Oval 2113">
            <a:extLst>
              <a:ext uri="{FF2B5EF4-FFF2-40B4-BE49-F238E27FC236}">
                <a16:creationId xmlns:a16="http://schemas.microsoft.com/office/drawing/2014/main" id="{A2EF5508-5E43-46FC-BEE0-5EAC07711C9A}"/>
              </a:ext>
            </a:extLst>
          </p:cNvPr>
          <p:cNvSpPr>
            <a:spLocks noChangeArrowheads="1"/>
          </p:cNvSpPr>
          <p:nvPr/>
        </p:nvSpPr>
        <p:spPr bwMode="auto">
          <a:xfrm>
            <a:off x="32448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0" name="Oval 2114">
            <a:extLst>
              <a:ext uri="{FF2B5EF4-FFF2-40B4-BE49-F238E27FC236}">
                <a16:creationId xmlns:a16="http://schemas.microsoft.com/office/drawing/2014/main" id="{85FB55D3-3876-49FE-95E8-3B5C5C003ED8}"/>
              </a:ext>
            </a:extLst>
          </p:cNvPr>
          <p:cNvSpPr>
            <a:spLocks noChangeArrowheads="1"/>
          </p:cNvSpPr>
          <p:nvPr/>
        </p:nvSpPr>
        <p:spPr bwMode="auto">
          <a:xfrm>
            <a:off x="43878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1" name="Oval 2115">
            <a:extLst>
              <a:ext uri="{FF2B5EF4-FFF2-40B4-BE49-F238E27FC236}">
                <a16:creationId xmlns:a16="http://schemas.microsoft.com/office/drawing/2014/main" id="{8A74FE93-F353-40F4-B151-4B1D02CE82EC}"/>
              </a:ext>
            </a:extLst>
          </p:cNvPr>
          <p:cNvSpPr>
            <a:spLocks noChangeArrowheads="1"/>
          </p:cNvSpPr>
          <p:nvPr/>
        </p:nvSpPr>
        <p:spPr bwMode="auto">
          <a:xfrm>
            <a:off x="41592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2" name="Oval 2116">
            <a:extLst>
              <a:ext uri="{FF2B5EF4-FFF2-40B4-BE49-F238E27FC236}">
                <a16:creationId xmlns:a16="http://schemas.microsoft.com/office/drawing/2014/main" id="{7DE8B171-E3A4-4A9D-B7DF-0BAE07D96AA9}"/>
              </a:ext>
            </a:extLst>
          </p:cNvPr>
          <p:cNvSpPr>
            <a:spLocks noChangeArrowheads="1"/>
          </p:cNvSpPr>
          <p:nvPr/>
        </p:nvSpPr>
        <p:spPr bwMode="auto">
          <a:xfrm>
            <a:off x="4616450" y="27765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3" name="Oval 2117">
            <a:extLst>
              <a:ext uri="{FF2B5EF4-FFF2-40B4-BE49-F238E27FC236}">
                <a16:creationId xmlns:a16="http://schemas.microsoft.com/office/drawing/2014/main" id="{92D11C65-2266-4225-9A5E-AF2976925633}"/>
              </a:ext>
            </a:extLst>
          </p:cNvPr>
          <p:cNvSpPr>
            <a:spLocks noChangeArrowheads="1"/>
          </p:cNvSpPr>
          <p:nvPr/>
        </p:nvSpPr>
        <p:spPr bwMode="auto">
          <a:xfrm>
            <a:off x="59118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4" name="Oval 2118">
            <a:extLst>
              <a:ext uri="{FF2B5EF4-FFF2-40B4-BE49-F238E27FC236}">
                <a16:creationId xmlns:a16="http://schemas.microsoft.com/office/drawing/2014/main" id="{FE8C3916-73EA-49EC-A583-6C9455740E1A}"/>
              </a:ext>
            </a:extLst>
          </p:cNvPr>
          <p:cNvSpPr>
            <a:spLocks noChangeArrowheads="1"/>
          </p:cNvSpPr>
          <p:nvPr/>
        </p:nvSpPr>
        <p:spPr bwMode="auto">
          <a:xfrm>
            <a:off x="63690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5" name="Oval 2119">
            <a:extLst>
              <a:ext uri="{FF2B5EF4-FFF2-40B4-BE49-F238E27FC236}">
                <a16:creationId xmlns:a16="http://schemas.microsoft.com/office/drawing/2014/main" id="{B166B68A-02E5-4E98-9280-AAB57DE67F40}"/>
              </a:ext>
            </a:extLst>
          </p:cNvPr>
          <p:cNvSpPr>
            <a:spLocks noChangeArrowheads="1"/>
          </p:cNvSpPr>
          <p:nvPr/>
        </p:nvSpPr>
        <p:spPr bwMode="auto">
          <a:xfrm>
            <a:off x="5530850" y="3462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6" name="Oval 2120">
            <a:extLst>
              <a:ext uri="{FF2B5EF4-FFF2-40B4-BE49-F238E27FC236}">
                <a16:creationId xmlns:a16="http://schemas.microsoft.com/office/drawing/2014/main" id="{C13A181A-C06B-449F-8188-9670B51D7A69}"/>
              </a:ext>
            </a:extLst>
          </p:cNvPr>
          <p:cNvSpPr>
            <a:spLocks noChangeArrowheads="1"/>
          </p:cNvSpPr>
          <p:nvPr/>
        </p:nvSpPr>
        <p:spPr bwMode="auto">
          <a:xfrm>
            <a:off x="68135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7" name="Oval 2121">
            <a:extLst>
              <a:ext uri="{FF2B5EF4-FFF2-40B4-BE49-F238E27FC236}">
                <a16:creationId xmlns:a16="http://schemas.microsoft.com/office/drawing/2014/main" id="{2DA07A29-7656-49F1-879E-6944E9D13D1C}"/>
              </a:ext>
            </a:extLst>
          </p:cNvPr>
          <p:cNvSpPr>
            <a:spLocks noChangeArrowheads="1"/>
          </p:cNvSpPr>
          <p:nvPr/>
        </p:nvSpPr>
        <p:spPr bwMode="auto">
          <a:xfrm>
            <a:off x="6584950" y="34496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8" name="Oval 2122">
            <a:extLst>
              <a:ext uri="{FF2B5EF4-FFF2-40B4-BE49-F238E27FC236}">
                <a16:creationId xmlns:a16="http://schemas.microsoft.com/office/drawing/2014/main" id="{F32733D1-4A68-46A3-A43A-7F2C66A59BFA}"/>
              </a:ext>
            </a:extLst>
          </p:cNvPr>
          <p:cNvSpPr>
            <a:spLocks noChangeArrowheads="1"/>
          </p:cNvSpPr>
          <p:nvPr/>
        </p:nvSpPr>
        <p:spPr bwMode="auto">
          <a:xfrm>
            <a:off x="8401050" y="34369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89" name="Oval 2123">
            <a:extLst>
              <a:ext uri="{FF2B5EF4-FFF2-40B4-BE49-F238E27FC236}">
                <a16:creationId xmlns:a16="http://schemas.microsoft.com/office/drawing/2014/main" id="{FDF7F426-FFDA-4C3C-ADCC-4AE26B7B5896}"/>
              </a:ext>
            </a:extLst>
          </p:cNvPr>
          <p:cNvSpPr>
            <a:spLocks noChangeArrowheads="1"/>
          </p:cNvSpPr>
          <p:nvPr/>
        </p:nvSpPr>
        <p:spPr bwMode="auto">
          <a:xfrm>
            <a:off x="8121650" y="49101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90" name="Oval 2124">
            <a:extLst>
              <a:ext uri="{FF2B5EF4-FFF2-40B4-BE49-F238E27FC236}">
                <a16:creationId xmlns:a16="http://schemas.microsoft.com/office/drawing/2014/main" id="{45CB5A89-B511-4BAA-9C94-C7B95D612070}"/>
              </a:ext>
            </a:extLst>
          </p:cNvPr>
          <p:cNvSpPr>
            <a:spLocks noChangeArrowheads="1"/>
          </p:cNvSpPr>
          <p:nvPr/>
        </p:nvSpPr>
        <p:spPr bwMode="auto">
          <a:xfrm>
            <a:off x="7524750" y="27384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91" name="Oval 2125">
            <a:extLst>
              <a:ext uri="{FF2B5EF4-FFF2-40B4-BE49-F238E27FC236}">
                <a16:creationId xmlns:a16="http://schemas.microsoft.com/office/drawing/2014/main" id="{70FE312F-CCC7-403C-BF87-936962DA9F18}"/>
              </a:ext>
            </a:extLst>
          </p:cNvPr>
          <p:cNvSpPr>
            <a:spLocks noChangeArrowheads="1"/>
          </p:cNvSpPr>
          <p:nvPr/>
        </p:nvSpPr>
        <p:spPr bwMode="auto">
          <a:xfrm>
            <a:off x="50736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92" name="Oval 2126">
            <a:extLst>
              <a:ext uri="{FF2B5EF4-FFF2-40B4-BE49-F238E27FC236}">
                <a16:creationId xmlns:a16="http://schemas.microsoft.com/office/drawing/2014/main" id="{5F926138-415F-4143-BD19-8B92435F9D34}"/>
              </a:ext>
            </a:extLst>
          </p:cNvPr>
          <p:cNvSpPr>
            <a:spLocks noChangeArrowheads="1"/>
          </p:cNvSpPr>
          <p:nvPr/>
        </p:nvSpPr>
        <p:spPr bwMode="auto">
          <a:xfrm>
            <a:off x="61404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93" name="Oval 2127">
            <a:extLst>
              <a:ext uri="{FF2B5EF4-FFF2-40B4-BE49-F238E27FC236}">
                <a16:creationId xmlns:a16="http://schemas.microsoft.com/office/drawing/2014/main" id="{D6A82A5D-B815-4D2F-81B6-E4774D177B76}"/>
              </a:ext>
            </a:extLst>
          </p:cNvPr>
          <p:cNvSpPr>
            <a:spLocks noChangeArrowheads="1"/>
          </p:cNvSpPr>
          <p:nvPr/>
        </p:nvSpPr>
        <p:spPr bwMode="auto">
          <a:xfrm>
            <a:off x="70167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94" name="Oval 2128">
            <a:extLst>
              <a:ext uri="{FF2B5EF4-FFF2-40B4-BE49-F238E27FC236}">
                <a16:creationId xmlns:a16="http://schemas.microsoft.com/office/drawing/2014/main" id="{FE277D91-0E3B-4B53-81A3-380A56F73EB2}"/>
              </a:ext>
            </a:extLst>
          </p:cNvPr>
          <p:cNvSpPr>
            <a:spLocks noChangeArrowheads="1"/>
          </p:cNvSpPr>
          <p:nvPr/>
        </p:nvSpPr>
        <p:spPr bwMode="auto">
          <a:xfrm>
            <a:off x="7905750" y="4224338"/>
            <a:ext cx="381000" cy="381000"/>
          </a:xfrm>
          <a:prstGeom prst="ellipse">
            <a:avLst/>
          </a:prstGeom>
          <a:solidFill>
            <a:schemeClr val="accent1"/>
          </a:solidFill>
          <a:ln w="2857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4895" name="Text Box 2129">
            <a:extLst>
              <a:ext uri="{FF2B5EF4-FFF2-40B4-BE49-F238E27FC236}">
                <a16:creationId xmlns:a16="http://schemas.microsoft.com/office/drawing/2014/main" id="{B94C5D90-3079-4F7B-BA38-DA705C27C225}"/>
              </a:ext>
            </a:extLst>
          </p:cNvPr>
          <p:cNvSpPr txBox="1">
            <a:spLocks noChangeArrowheads="1"/>
          </p:cNvSpPr>
          <p:nvPr/>
        </p:nvSpPr>
        <p:spPr bwMode="auto">
          <a:xfrm>
            <a:off x="6167438" y="41862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3</a:t>
            </a:r>
            <a:endParaRPr lang="en-US" altLang="zh-CN"/>
          </a:p>
        </p:txBody>
      </p:sp>
      <p:sp>
        <p:nvSpPr>
          <p:cNvPr id="34896" name="Text Box 2130">
            <a:extLst>
              <a:ext uri="{FF2B5EF4-FFF2-40B4-BE49-F238E27FC236}">
                <a16:creationId xmlns:a16="http://schemas.microsoft.com/office/drawing/2014/main" id="{8BE4B1D2-9EAF-4988-8571-802A6B0EC89F}"/>
              </a:ext>
            </a:extLst>
          </p:cNvPr>
          <p:cNvSpPr txBox="1">
            <a:spLocks noChangeArrowheads="1"/>
          </p:cNvSpPr>
          <p:nvPr/>
        </p:nvSpPr>
        <p:spPr bwMode="auto">
          <a:xfrm>
            <a:off x="5937250" y="48974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a:t>
            </a:r>
            <a:endParaRPr lang="en-US" altLang="zh-CN" sz="3200"/>
          </a:p>
        </p:txBody>
      </p:sp>
      <p:sp>
        <p:nvSpPr>
          <p:cNvPr id="34897" name="Text Box 2131">
            <a:extLst>
              <a:ext uri="{FF2B5EF4-FFF2-40B4-BE49-F238E27FC236}">
                <a16:creationId xmlns:a16="http://schemas.microsoft.com/office/drawing/2014/main" id="{A609341F-7DD8-4212-ABF8-5A884C3DAF21}"/>
              </a:ext>
            </a:extLst>
          </p:cNvPr>
          <p:cNvSpPr txBox="1">
            <a:spLocks noChangeArrowheads="1"/>
          </p:cNvSpPr>
          <p:nvPr/>
        </p:nvSpPr>
        <p:spPr bwMode="auto">
          <a:xfrm>
            <a:off x="6394450" y="48720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5</a:t>
            </a:r>
          </a:p>
        </p:txBody>
      </p:sp>
      <p:sp>
        <p:nvSpPr>
          <p:cNvPr id="34898" name="Text Box 2132">
            <a:extLst>
              <a:ext uri="{FF2B5EF4-FFF2-40B4-BE49-F238E27FC236}">
                <a16:creationId xmlns:a16="http://schemas.microsoft.com/office/drawing/2014/main" id="{3FC781E3-8E76-4243-AE70-821C44E2F86C}"/>
              </a:ext>
            </a:extLst>
          </p:cNvPr>
          <p:cNvSpPr txBox="1">
            <a:spLocks noChangeArrowheads="1"/>
          </p:cNvSpPr>
          <p:nvPr/>
        </p:nvSpPr>
        <p:spPr bwMode="auto">
          <a:xfrm>
            <a:off x="7031038" y="41735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8</a:t>
            </a:r>
          </a:p>
        </p:txBody>
      </p:sp>
      <p:sp>
        <p:nvSpPr>
          <p:cNvPr id="34899" name="Text Box 2133">
            <a:extLst>
              <a:ext uri="{FF2B5EF4-FFF2-40B4-BE49-F238E27FC236}">
                <a16:creationId xmlns:a16="http://schemas.microsoft.com/office/drawing/2014/main" id="{56AC01A3-7A9A-4508-B67A-B2422B9424CC}"/>
              </a:ext>
            </a:extLst>
          </p:cNvPr>
          <p:cNvSpPr txBox="1">
            <a:spLocks noChangeArrowheads="1"/>
          </p:cNvSpPr>
          <p:nvPr/>
        </p:nvSpPr>
        <p:spPr bwMode="auto">
          <a:xfrm>
            <a:off x="6827838" y="48847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7</a:t>
            </a:r>
          </a:p>
        </p:txBody>
      </p:sp>
      <p:sp>
        <p:nvSpPr>
          <p:cNvPr id="34900" name="Text Box 2134">
            <a:extLst>
              <a:ext uri="{FF2B5EF4-FFF2-40B4-BE49-F238E27FC236}">
                <a16:creationId xmlns:a16="http://schemas.microsoft.com/office/drawing/2014/main" id="{4CB6DC35-BF6E-49CF-AE4C-95578A7C6516}"/>
              </a:ext>
            </a:extLst>
          </p:cNvPr>
          <p:cNvSpPr txBox="1">
            <a:spLocks noChangeArrowheads="1"/>
          </p:cNvSpPr>
          <p:nvPr/>
        </p:nvSpPr>
        <p:spPr bwMode="auto">
          <a:xfrm>
            <a:off x="7867650" y="4211638"/>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10</a:t>
            </a:r>
            <a:endParaRPr lang="en-US" altLang="zh-CN" b="1">
              <a:solidFill>
                <a:schemeClr val="bg2"/>
              </a:solidFill>
              <a:latin typeface="Arial" panose="020B0604020202020204" pitchFamily="34" charset="0"/>
            </a:endParaRPr>
          </a:p>
        </p:txBody>
      </p:sp>
      <p:sp>
        <p:nvSpPr>
          <p:cNvPr id="34901" name="Text Box 2135">
            <a:extLst>
              <a:ext uri="{FF2B5EF4-FFF2-40B4-BE49-F238E27FC236}">
                <a16:creationId xmlns:a16="http://schemas.microsoft.com/office/drawing/2014/main" id="{61813818-E2B8-4715-B58C-FE09C9A7FFEE}"/>
              </a:ext>
            </a:extLst>
          </p:cNvPr>
          <p:cNvSpPr txBox="1">
            <a:spLocks noChangeArrowheads="1"/>
          </p:cNvSpPr>
          <p:nvPr/>
        </p:nvSpPr>
        <p:spPr bwMode="auto">
          <a:xfrm>
            <a:off x="8083550" y="49101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11</a:t>
            </a:r>
            <a:endParaRPr lang="en-US" altLang="zh-CN" sz="3200"/>
          </a:p>
        </p:txBody>
      </p:sp>
      <p:sp>
        <p:nvSpPr>
          <p:cNvPr id="34902" name="Text Box 2136">
            <a:extLst>
              <a:ext uri="{FF2B5EF4-FFF2-40B4-BE49-F238E27FC236}">
                <a16:creationId xmlns:a16="http://schemas.microsoft.com/office/drawing/2014/main" id="{184C3327-6CA5-4686-944F-D9E80677E8EB}"/>
              </a:ext>
            </a:extLst>
          </p:cNvPr>
          <p:cNvSpPr txBox="1">
            <a:spLocks noChangeArrowheads="1"/>
          </p:cNvSpPr>
          <p:nvPr/>
        </p:nvSpPr>
        <p:spPr bwMode="auto">
          <a:xfrm>
            <a:off x="7539038" y="27003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9</a:t>
            </a:r>
          </a:p>
        </p:txBody>
      </p:sp>
      <p:sp>
        <p:nvSpPr>
          <p:cNvPr id="34903" name="Text Box 2137">
            <a:extLst>
              <a:ext uri="{FF2B5EF4-FFF2-40B4-BE49-F238E27FC236}">
                <a16:creationId xmlns:a16="http://schemas.microsoft.com/office/drawing/2014/main" id="{949F5867-1ABE-4B34-858D-63F73E4A5FE0}"/>
              </a:ext>
            </a:extLst>
          </p:cNvPr>
          <p:cNvSpPr txBox="1">
            <a:spLocks noChangeArrowheads="1"/>
          </p:cNvSpPr>
          <p:nvPr/>
        </p:nvSpPr>
        <p:spPr bwMode="auto">
          <a:xfrm>
            <a:off x="4414838" y="48720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9</a:t>
            </a:r>
          </a:p>
        </p:txBody>
      </p:sp>
      <p:sp>
        <p:nvSpPr>
          <p:cNvPr id="34904" name="Text Box 2138">
            <a:extLst>
              <a:ext uri="{FF2B5EF4-FFF2-40B4-BE49-F238E27FC236}">
                <a16:creationId xmlns:a16="http://schemas.microsoft.com/office/drawing/2014/main" id="{D3EA8EF4-A8AC-466A-8864-8F72C2EEE54E}"/>
              </a:ext>
            </a:extLst>
          </p:cNvPr>
          <p:cNvSpPr txBox="1">
            <a:spLocks noChangeArrowheads="1"/>
          </p:cNvSpPr>
          <p:nvPr/>
        </p:nvSpPr>
        <p:spPr bwMode="auto">
          <a:xfrm>
            <a:off x="3500438" y="48593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8</a:t>
            </a:r>
          </a:p>
        </p:txBody>
      </p:sp>
      <p:sp>
        <p:nvSpPr>
          <p:cNvPr id="34905" name="Text Box 2139">
            <a:extLst>
              <a:ext uri="{FF2B5EF4-FFF2-40B4-BE49-F238E27FC236}">
                <a16:creationId xmlns:a16="http://schemas.microsoft.com/office/drawing/2014/main" id="{32C7DE5E-57E8-4A80-9FA0-091D7686426D}"/>
              </a:ext>
            </a:extLst>
          </p:cNvPr>
          <p:cNvSpPr txBox="1">
            <a:spLocks noChangeArrowheads="1"/>
          </p:cNvSpPr>
          <p:nvPr/>
        </p:nvSpPr>
        <p:spPr bwMode="auto">
          <a:xfrm>
            <a:off x="3043238" y="48720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7</a:t>
            </a:r>
          </a:p>
        </p:txBody>
      </p:sp>
      <p:sp>
        <p:nvSpPr>
          <p:cNvPr id="34906" name="Text Box 2140">
            <a:extLst>
              <a:ext uri="{FF2B5EF4-FFF2-40B4-BE49-F238E27FC236}">
                <a16:creationId xmlns:a16="http://schemas.microsoft.com/office/drawing/2014/main" id="{B8ED92F7-EDD3-4C68-AE4D-B930F787EEDB}"/>
              </a:ext>
            </a:extLst>
          </p:cNvPr>
          <p:cNvSpPr txBox="1">
            <a:spLocks noChangeArrowheads="1"/>
          </p:cNvSpPr>
          <p:nvPr/>
        </p:nvSpPr>
        <p:spPr bwMode="auto">
          <a:xfrm>
            <a:off x="3270250" y="4198938"/>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4</a:t>
            </a:r>
            <a:endParaRPr lang="en-US" altLang="zh-CN"/>
          </a:p>
        </p:txBody>
      </p:sp>
      <p:sp>
        <p:nvSpPr>
          <p:cNvPr id="34907" name="Text Box 2141">
            <a:extLst>
              <a:ext uri="{FF2B5EF4-FFF2-40B4-BE49-F238E27FC236}">
                <a16:creationId xmlns:a16="http://schemas.microsoft.com/office/drawing/2014/main" id="{B1DBAD15-3D07-40D1-9765-F850AE3AAF95}"/>
              </a:ext>
            </a:extLst>
          </p:cNvPr>
          <p:cNvSpPr txBox="1">
            <a:spLocks noChangeArrowheads="1"/>
          </p:cNvSpPr>
          <p:nvPr/>
        </p:nvSpPr>
        <p:spPr bwMode="auto">
          <a:xfrm>
            <a:off x="4184650" y="418623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5</a:t>
            </a:r>
          </a:p>
        </p:txBody>
      </p:sp>
      <p:sp>
        <p:nvSpPr>
          <p:cNvPr id="34908" name="Text Box 2142">
            <a:extLst>
              <a:ext uri="{FF2B5EF4-FFF2-40B4-BE49-F238E27FC236}">
                <a16:creationId xmlns:a16="http://schemas.microsoft.com/office/drawing/2014/main" id="{CD3A44D5-C146-41F0-B0EB-5F14C1607473}"/>
              </a:ext>
            </a:extLst>
          </p:cNvPr>
          <p:cNvSpPr txBox="1">
            <a:spLocks noChangeArrowheads="1"/>
          </p:cNvSpPr>
          <p:nvPr/>
        </p:nvSpPr>
        <p:spPr bwMode="auto">
          <a:xfrm>
            <a:off x="5087938" y="41735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6</a:t>
            </a:r>
          </a:p>
        </p:txBody>
      </p:sp>
      <p:sp>
        <p:nvSpPr>
          <p:cNvPr id="34909" name="Text Box 2143">
            <a:extLst>
              <a:ext uri="{FF2B5EF4-FFF2-40B4-BE49-F238E27FC236}">
                <a16:creationId xmlns:a16="http://schemas.microsoft.com/office/drawing/2014/main" id="{122449AB-5FBE-4120-9EA8-BBEA669B932C}"/>
              </a:ext>
            </a:extLst>
          </p:cNvPr>
          <p:cNvSpPr txBox="1">
            <a:spLocks noChangeArrowheads="1"/>
          </p:cNvSpPr>
          <p:nvPr/>
        </p:nvSpPr>
        <p:spPr bwMode="auto">
          <a:xfrm>
            <a:off x="6586538" y="339883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6</a:t>
            </a:r>
          </a:p>
        </p:txBody>
      </p:sp>
      <p:sp>
        <p:nvSpPr>
          <p:cNvPr id="34910" name="Text Box 2144">
            <a:extLst>
              <a:ext uri="{FF2B5EF4-FFF2-40B4-BE49-F238E27FC236}">
                <a16:creationId xmlns:a16="http://schemas.microsoft.com/office/drawing/2014/main" id="{68CE435B-A06B-4F8A-A9B2-3DDA99B06E30}"/>
              </a:ext>
            </a:extLst>
          </p:cNvPr>
          <p:cNvSpPr txBox="1">
            <a:spLocks noChangeArrowheads="1"/>
          </p:cNvSpPr>
          <p:nvPr/>
        </p:nvSpPr>
        <p:spPr bwMode="auto">
          <a:xfrm>
            <a:off x="3740150" y="3446463"/>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2</a:t>
            </a:r>
            <a:endParaRPr lang="en-US" altLang="zh-CN" sz="3200"/>
          </a:p>
        </p:txBody>
      </p:sp>
      <p:sp>
        <p:nvSpPr>
          <p:cNvPr id="34911" name="Text Box 2145">
            <a:extLst>
              <a:ext uri="{FF2B5EF4-FFF2-40B4-BE49-F238E27FC236}">
                <a16:creationId xmlns:a16="http://schemas.microsoft.com/office/drawing/2014/main" id="{513FFD2F-0CA3-4F30-B8B9-FB80BBEFFB20}"/>
              </a:ext>
            </a:extLst>
          </p:cNvPr>
          <p:cNvSpPr txBox="1">
            <a:spLocks noChangeArrowheads="1"/>
          </p:cNvSpPr>
          <p:nvPr/>
        </p:nvSpPr>
        <p:spPr bwMode="auto">
          <a:xfrm>
            <a:off x="5548313" y="341471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2"/>
                </a:solidFill>
                <a:latin typeface="Arial" panose="020B0604020202020204" pitchFamily="34" charset="0"/>
              </a:rPr>
              <a:t>3</a:t>
            </a:r>
            <a:endParaRPr lang="en-US" altLang="zh-CN"/>
          </a:p>
        </p:txBody>
      </p:sp>
      <p:sp>
        <p:nvSpPr>
          <p:cNvPr id="34912" name="Text Box 2146">
            <a:extLst>
              <a:ext uri="{FF2B5EF4-FFF2-40B4-BE49-F238E27FC236}">
                <a16:creationId xmlns:a16="http://schemas.microsoft.com/office/drawing/2014/main" id="{B8497024-1F4D-4E86-9222-5111F9F46D7B}"/>
              </a:ext>
            </a:extLst>
          </p:cNvPr>
          <p:cNvSpPr txBox="1">
            <a:spLocks noChangeArrowheads="1"/>
          </p:cNvSpPr>
          <p:nvPr/>
        </p:nvSpPr>
        <p:spPr bwMode="auto">
          <a:xfrm>
            <a:off x="8342313" y="3436938"/>
            <a:ext cx="4667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13</a:t>
            </a:r>
            <a:endParaRPr lang="en-US" altLang="zh-CN"/>
          </a:p>
        </p:txBody>
      </p:sp>
      <p:sp>
        <p:nvSpPr>
          <p:cNvPr id="34913" name="Text Box 2147">
            <a:extLst>
              <a:ext uri="{FF2B5EF4-FFF2-40B4-BE49-F238E27FC236}">
                <a16:creationId xmlns:a16="http://schemas.microsoft.com/office/drawing/2014/main" id="{3749A48C-1124-4DBB-AB48-BED73B0F4824}"/>
              </a:ext>
            </a:extLst>
          </p:cNvPr>
          <p:cNvSpPr txBox="1">
            <a:spLocks noChangeArrowheads="1"/>
          </p:cNvSpPr>
          <p:nvPr/>
        </p:nvSpPr>
        <p:spPr bwMode="auto">
          <a:xfrm>
            <a:off x="4654550" y="2776538"/>
            <a:ext cx="3254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a:t>
            </a:r>
            <a:endParaRPr lang="en-US" altLang="zh-CN" sz="3200"/>
          </a:p>
        </p:txBody>
      </p:sp>
      <p:sp>
        <p:nvSpPr>
          <p:cNvPr id="34914" name="Text Box 2162">
            <a:extLst>
              <a:ext uri="{FF2B5EF4-FFF2-40B4-BE49-F238E27FC236}">
                <a16:creationId xmlns:a16="http://schemas.microsoft.com/office/drawing/2014/main" id="{458A56C1-26A6-4FC9-B06B-45D4D3D30EF1}"/>
              </a:ext>
            </a:extLst>
          </p:cNvPr>
          <p:cNvSpPr txBox="1">
            <a:spLocks noChangeArrowheads="1"/>
          </p:cNvSpPr>
          <p:nvPr/>
        </p:nvSpPr>
        <p:spPr bwMode="auto">
          <a:xfrm>
            <a:off x="1357313" y="2700338"/>
            <a:ext cx="325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sz="2000" b="1">
                <a:solidFill>
                  <a:schemeClr val="bg2"/>
                </a:solidFill>
                <a:latin typeface="Arial" panose="020B0604020202020204" pitchFamily="34" charset="0"/>
              </a:rPr>
              <a:t>1</a:t>
            </a:r>
            <a:endParaRPr lang="en-US" altLang="zh-CN" sz="3200"/>
          </a:p>
        </p:txBody>
      </p:sp>
      <p:sp>
        <p:nvSpPr>
          <p:cNvPr id="34915" name="标题 5">
            <a:extLst>
              <a:ext uri="{FF2B5EF4-FFF2-40B4-BE49-F238E27FC236}">
                <a16:creationId xmlns:a16="http://schemas.microsoft.com/office/drawing/2014/main" id="{958F1912-8CD5-4E19-832B-D72BB33F34D1}"/>
              </a:ext>
            </a:extLst>
          </p:cNvPr>
          <p:cNvSpPr>
            <a:spLocks noGrp="1" noChangeArrowheads="1"/>
          </p:cNvSpPr>
          <p:nvPr>
            <p:ph type="title"/>
          </p:nvPr>
        </p:nvSpPr>
        <p:spPr/>
        <p:txBody>
          <a:bodyPr/>
          <a:lstStyle/>
          <a:p>
            <a:r>
              <a:rPr lang="zh-CN" altLang="en-US"/>
              <a:t>树形结构</a:t>
            </a:r>
          </a:p>
        </p:txBody>
      </p:sp>
      <p:sp>
        <p:nvSpPr>
          <p:cNvPr id="7" name="灯片编号占位符 6">
            <a:extLst>
              <a:ext uri="{FF2B5EF4-FFF2-40B4-BE49-F238E27FC236}">
                <a16:creationId xmlns:a16="http://schemas.microsoft.com/office/drawing/2014/main" id="{72DF1B1A-BA86-4252-8DA5-171D9F5EDD51}"/>
              </a:ext>
            </a:extLst>
          </p:cNvPr>
          <p:cNvSpPr>
            <a:spLocks noGrp="1"/>
          </p:cNvSpPr>
          <p:nvPr>
            <p:ph type="sldNum" sz="quarter" idx="12"/>
          </p:nvPr>
        </p:nvSpPr>
        <p:spPr/>
        <p:txBody>
          <a:bodyPr/>
          <a:lstStyle/>
          <a:p>
            <a:pPr>
              <a:defRPr/>
            </a:pPr>
            <a:fld id="{D9EC404C-8D9C-4A4A-9E0F-A3A1C9ACBE91}" type="slidenum">
              <a:rPr lang="en-US" altLang="zh-CN" smtClean="0"/>
              <a:pPr>
                <a:defRPr/>
              </a:pPr>
              <a:t>21</a:t>
            </a:fld>
            <a:endParaRPr lang="en-US" altLang="zh-CN"/>
          </a:p>
        </p:txBody>
      </p:sp>
    </p:spTree>
  </p:cSld>
  <p:clrMapOvr>
    <a:masterClrMapping/>
  </p:clrMapOvr>
  <p:transition>
    <p:spli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Line 1026">
            <a:extLst>
              <a:ext uri="{FF2B5EF4-FFF2-40B4-BE49-F238E27FC236}">
                <a16:creationId xmlns:a16="http://schemas.microsoft.com/office/drawing/2014/main" id="{507E08AB-A59F-403F-9724-F51760911501}"/>
              </a:ext>
            </a:extLst>
          </p:cNvPr>
          <p:cNvSpPr>
            <a:spLocks noChangeShapeType="1"/>
          </p:cNvSpPr>
          <p:nvPr/>
        </p:nvSpPr>
        <p:spPr bwMode="auto">
          <a:xfrm>
            <a:off x="2971800" y="2057400"/>
            <a:ext cx="762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3" name="Line 1027">
            <a:extLst>
              <a:ext uri="{FF2B5EF4-FFF2-40B4-BE49-F238E27FC236}">
                <a16:creationId xmlns:a16="http://schemas.microsoft.com/office/drawing/2014/main" id="{E3788666-68E8-45D6-A067-8D1305E0D5B8}"/>
              </a:ext>
            </a:extLst>
          </p:cNvPr>
          <p:cNvSpPr>
            <a:spLocks noChangeShapeType="1"/>
          </p:cNvSpPr>
          <p:nvPr/>
        </p:nvSpPr>
        <p:spPr bwMode="auto">
          <a:xfrm flipV="1">
            <a:off x="1981200" y="2057400"/>
            <a:ext cx="762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4" name="Line 1028">
            <a:extLst>
              <a:ext uri="{FF2B5EF4-FFF2-40B4-BE49-F238E27FC236}">
                <a16:creationId xmlns:a16="http://schemas.microsoft.com/office/drawing/2014/main" id="{60E69E73-236F-4303-8AE1-EB325B50888D}"/>
              </a:ext>
            </a:extLst>
          </p:cNvPr>
          <p:cNvSpPr>
            <a:spLocks noChangeShapeType="1"/>
          </p:cNvSpPr>
          <p:nvPr/>
        </p:nvSpPr>
        <p:spPr bwMode="auto">
          <a:xfrm>
            <a:off x="3962400" y="2971800"/>
            <a:ext cx="3048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5" name="Line 1029">
            <a:extLst>
              <a:ext uri="{FF2B5EF4-FFF2-40B4-BE49-F238E27FC236}">
                <a16:creationId xmlns:a16="http://schemas.microsoft.com/office/drawing/2014/main" id="{45CE2BB9-4874-4220-AD3C-3CBF1FC876A9}"/>
              </a:ext>
            </a:extLst>
          </p:cNvPr>
          <p:cNvSpPr>
            <a:spLocks noChangeShapeType="1"/>
          </p:cNvSpPr>
          <p:nvPr/>
        </p:nvSpPr>
        <p:spPr bwMode="auto">
          <a:xfrm flipH="1">
            <a:off x="3505200" y="2971800"/>
            <a:ext cx="3048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6" name="Line 1030">
            <a:extLst>
              <a:ext uri="{FF2B5EF4-FFF2-40B4-BE49-F238E27FC236}">
                <a16:creationId xmlns:a16="http://schemas.microsoft.com/office/drawing/2014/main" id="{50C59052-CEEB-4475-83FC-A71A512DF527}"/>
              </a:ext>
            </a:extLst>
          </p:cNvPr>
          <p:cNvSpPr>
            <a:spLocks noChangeShapeType="1"/>
          </p:cNvSpPr>
          <p:nvPr/>
        </p:nvSpPr>
        <p:spPr bwMode="auto">
          <a:xfrm flipH="1">
            <a:off x="3124200" y="3886200"/>
            <a:ext cx="2286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7" name="Line 1031">
            <a:extLst>
              <a:ext uri="{FF2B5EF4-FFF2-40B4-BE49-F238E27FC236}">
                <a16:creationId xmlns:a16="http://schemas.microsoft.com/office/drawing/2014/main" id="{4D274F39-25ED-437C-9778-095D98338717}"/>
              </a:ext>
            </a:extLst>
          </p:cNvPr>
          <p:cNvSpPr>
            <a:spLocks noChangeShapeType="1"/>
          </p:cNvSpPr>
          <p:nvPr/>
        </p:nvSpPr>
        <p:spPr bwMode="auto">
          <a:xfrm>
            <a:off x="2362200" y="3886200"/>
            <a:ext cx="2286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8" name="Line 1032">
            <a:extLst>
              <a:ext uri="{FF2B5EF4-FFF2-40B4-BE49-F238E27FC236}">
                <a16:creationId xmlns:a16="http://schemas.microsoft.com/office/drawing/2014/main" id="{9B6F116A-ED2A-4475-9F14-42F7FD66AB30}"/>
              </a:ext>
            </a:extLst>
          </p:cNvPr>
          <p:cNvSpPr>
            <a:spLocks noChangeShapeType="1"/>
          </p:cNvSpPr>
          <p:nvPr/>
        </p:nvSpPr>
        <p:spPr bwMode="auto">
          <a:xfrm>
            <a:off x="1905000" y="2895600"/>
            <a:ext cx="3048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49" name="Line 1033">
            <a:extLst>
              <a:ext uri="{FF2B5EF4-FFF2-40B4-BE49-F238E27FC236}">
                <a16:creationId xmlns:a16="http://schemas.microsoft.com/office/drawing/2014/main" id="{A752CF6F-CC3A-4A2A-A341-DCB353165F17}"/>
              </a:ext>
            </a:extLst>
          </p:cNvPr>
          <p:cNvSpPr>
            <a:spLocks noChangeShapeType="1"/>
          </p:cNvSpPr>
          <p:nvPr/>
        </p:nvSpPr>
        <p:spPr bwMode="auto">
          <a:xfrm flipH="1">
            <a:off x="1371600" y="2971800"/>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0" name="Line 1034">
            <a:extLst>
              <a:ext uri="{FF2B5EF4-FFF2-40B4-BE49-F238E27FC236}">
                <a16:creationId xmlns:a16="http://schemas.microsoft.com/office/drawing/2014/main" id="{797E53F3-DBDF-4611-88D6-A91291B91DBA}"/>
              </a:ext>
            </a:extLst>
          </p:cNvPr>
          <p:cNvSpPr>
            <a:spLocks noChangeShapeType="1"/>
          </p:cNvSpPr>
          <p:nvPr/>
        </p:nvSpPr>
        <p:spPr bwMode="auto">
          <a:xfrm>
            <a:off x="1371600" y="3886200"/>
            <a:ext cx="1524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1" name="Line 1035">
            <a:extLst>
              <a:ext uri="{FF2B5EF4-FFF2-40B4-BE49-F238E27FC236}">
                <a16:creationId xmlns:a16="http://schemas.microsoft.com/office/drawing/2014/main" id="{B5D6F4CB-BAF7-46EB-8B6B-9903418198CE}"/>
              </a:ext>
            </a:extLst>
          </p:cNvPr>
          <p:cNvSpPr>
            <a:spLocks noChangeShapeType="1"/>
          </p:cNvSpPr>
          <p:nvPr/>
        </p:nvSpPr>
        <p:spPr bwMode="auto">
          <a:xfrm flipH="1">
            <a:off x="2057400" y="3886200"/>
            <a:ext cx="1524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52" name="Line 1036">
            <a:extLst>
              <a:ext uri="{FF2B5EF4-FFF2-40B4-BE49-F238E27FC236}">
                <a16:creationId xmlns:a16="http://schemas.microsoft.com/office/drawing/2014/main" id="{78F847B2-2D4E-421F-BA03-E5837E0628D6}"/>
              </a:ext>
            </a:extLst>
          </p:cNvPr>
          <p:cNvSpPr>
            <a:spLocks noChangeShapeType="1"/>
          </p:cNvSpPr>
          <p:nvPr/>
        </p:nvSpPr>
        <p:spPr bwMode="auto">
          <a:xfrm flipH="1">
            <a:off x="990600" y="3886200"/>
            <a:ext cx="2286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9086" name="Text Box 1038">
            <a:extLst>
              <a:ext uri="{FF2B5EF4-FFF2-40B4-BE49-F238E27FC236}">
                <a16:creationId xmlns:a16="http://schemas.microsoft.com/office/drawing/2014/main" id="{1B9B9C03-EC2C-4E3B-8AEA-712A23CA0EFB}"/>
              </a:ext>
            </a:extLst>
          </p:cNvPr>
          <p:cNvSpPr txBox="1">
            <a:spLocks noChangeArrowheads="1"/>
          </p:cNvSpPr>
          <p:nvPr/>
        </p:nvSpPr>
        <p:spPr bwMode="auto">
          <a:xfrm>
            <a:off x="962025" y="5105400"/>
            <a:ext cx="6911975" cy="663575"/>
          </a:xfrm>
          <a:prstGeom prst="rect">
            <a:avLst/>
          </a:prstGeom>
          <a:noFill/>
          <a:ln>
            <a:noFill/>
          </a:ln>
          <a:effectLst/>
        </p:spPr>
        <p:txBody>
          <a:bodyPr wrap="none" lIns="112947" tIns="56473" rIns="112947" bIns="56473">
            <a:spAutoFit/>
          </a:bodyPr>
          <a:lstStyle>
            <a:lvl1pPr defTabSz="1128713">
              <a:defRPr kumimoji="1" sz="2400">
                <a:solidFill>
                  <a:schemeClr val="tx1"/>
                </a:solidFill>
                <a:latin typeface="Times New Roman" panose="02020603050405020304" pitchFamily="18" charset="0"/>
                <a:ea typeface="宋体" panose="02010600030101010101" pitchFamily="2" charset="-122"/>
              </a:defRPr>
            </a:lvl1pPr>
            <a:lvl2pPr marL="565150" defTabSz="1128713">
              <a:defRPr kumimoji="1" sz="2400">
                <a:solidFill>
                  <a:schemeClr val="tx1"/>
                </a:solidFill>
                <a:latin typeface="Times New Roman" panose="02020603050405020304" pitchFamily="18" charset="0"/>
                <a:ea typeface="宋体" panose="02010600030101010101" pitchFamily="2" charset="-122"/>
              </a:defRPr>
            </a:lvl2pPr>
            <a:lvl3pPr marL="1128713" defTabSz="1128713">
              <a:defRPr kumimoji="1" sz="2400">
                <a:solidFill>
                  <a:schemeClr val="tx1"/>
                </a:solidFill>
                <a:latin typeface="Times New Roman" panose="02020603050405020304" pitchFamily="18" charset="0"/>
                <a:ea typeface="宋体" panose="02010600030101010101" pitchFamily="2" charset="-122"/>
              </a:defRPr>
            </a:lvl3pPr>
            <a:lvl4pPr marL="1693863" defTabSz="1128713">
              <a:defRPr kumimoji="1" sz="2400">
                <a:solidFill>
                  <a:schemeClr val="tx1"/>
                </a:solidFill>
                <a:latin typeface="Times New Roman" panose="02020603050405020304" pitchFamily="18" charset="0"/>
                <a:ea typeface="宋体" panose="02010600030101010101" pitchFamily="2" charset="-122"/>
              </a:defRPr>
            </a:lvl4pPr>
            <a:lvl5pPr marL="2259013" defTabSz="1128713">
              <a:defRPr kumimoji="1" sz="2400">
                <a:solidFill>
                  <a:schemeClr val="tx1"/>
                </a:solidFill>
                <a:latin typeface="Times New Roman" panose="02020603050405020304" pitchFamily="18" charset="0"/>
                <a:ea typeface="宋体" panose="02010600030101010101" pitchFamily="2" charset="-122"/>
              </a:defRPr>
            </a:lvl5pPr>
            <a:lvl6pPr marL="27162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4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6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78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zh-CN" sz="3600" b="1">
                <a:solidFill>
                  <a:srgbClr val="CC0000"/>
                </a:solidFill>
                <a:effectLst>
                  <a:outerShdw blurRad="38100" dist="38100" dir="2700000" algn="tl">
                    <a:srgbClr val="C0C0C0"/>
                  </a:outerShdw>
                </a:effectLst>
                <a:latin typeface="楷体_GB2312" pitchFamily="49" charset="-122"/>
                <a:ea typeface="楷体_GB2312" pitchFamily="49" charset="-122"/>
              </a:rPr>
              <a:t> </a:t>
            </a:r>
            <a:r>
              <a:rPr lang="zh-CN" altLang="zh-CN" sz="3600" b="1">
                <a:solidFill>
                  <a:srgbClr val="0000CC"/>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3600" b="1">
                <a:solidFill>
                  <a:srgbClr val="0000CC"/>
                </a:solidFill>
                <a:effectLst>
                  <a:outerShdw blurRad="38100" dist="38100" dir="2700000" algn="tl">
                    <a:srgbClr val="C0C0C0"/>
                  </a:outerShdw>
                </a:effectLst>
                <a:latin typeface="隶书" panose="02010509060101010101" pitchFamily="49" charset="-122"/>
                <a:ea typeface="隶书" panose="02010509060101010101" pitchFamily="49" charset="-122"/>
              </a:rPr>
              <a:t>最大”堆        </a:t>
            </a:r>
            <a:r>
              <a:rPr lang="zh-CN" altLang="zh-CN" sz="3600" b="1">
                <a:solidFill>
                  <a:srgbClr val="0000CC"/>
                </a:solidFill>
                <a:effectLst>
                  <a:outerShdw blurRad="38100" dist="38100" dir="2700000" algn="tl">
                    <a:srgbClr val="C0C0C0"/>
                  </a:outerShdw>
                </a:effectLst>
                <a:latin typeface="隶书" panose="02010509060101010101" pitchFamily="49" charset="-122"/>
                <a:ea typeface="隶书" panose="02010509060101010101" pitchFamily="49" charset="-122"/>
              </a:rPr>
              <a:t>“</a:t>
            </a:r>
            <a:r>
              <a:rPr lang="zh-CN" altLang="en-US" sz="3600" b="1">
                <a:solidFill>
                  <a:srgbClr val="0000CC"/>
                </a:solidFill>
                <a:effectLst>
                  <a:outerShdw blurRad="38100" dist="38100" dir="2700000" algn="tl">
                    <a:srgbClr val="C0C0C0"/>
                  </a:outerShdw>
                </a:effectLst>
                <a:latin typeface="隶书" panose="02010509060101010101" pitchFamily="49" charset="-122"/>
                <a:ea typeface="隶书" panose="02010509060101010101" pitchFamily="49" charset="-122"/>
              </a:rPr>
              <a:t>最小”堆</a:t>
            </a:r>
            <a:endParaRPr lang="zh-CN" altLang="en-US" sz="3600">
              <a:latin typeface="隶书" panose="02010509060101010101" pitchFamily="49" charset="-122"/>
              <a:ea typeface="隶书" panose="02010509060101010101" pitchFamily="49" charset="-122"/>
            </a:endParaRPr>
          </a:p>
        </p:txBody>
      </p:sp>
      <p:sp>
        <p:nvSpPr>
          <p:cNvPr id="259087" name="Oval 1039">
            <a:extLst>
              <a:ext uri="{FF2B5EF4-FFF2-40B4-BE49-F238E27FC236}">
                <a16:creationId xmlns:a16="http://schemas.microsoft.com/office/drawing/2014/main" id="{BC2E8560-51AA-4CD8-B06C-0C6ADCF0E07A}"/>
              </a:ext>
            </a:extLst>
          </p:cNvPr>
          <p:cNvSpPr>
            <a:spLocks noChangeArrowheads="1"/>
          </p:cNvSpPr>
          <p:nvPr/>
        </p:nvSpPr>
        <p:spPr bwMode="auto">
          <a:xfrm>
            <a:off x="2667000" y="16764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35855" name="Text Box 1040">
            <a:extLst>
              <a:ext uri="{FF2B5EF4-FFF2-40B4-BE49-F238E27FC236}">
                <a16:creationId xmlns:a16="http://schemas.microsoft.com/office/drawing/2014/main" id="{D4DACF88-CA61-47A8-9EEF-CBD95AFBC6AA}"/>
              </a:ext>
            </a:extLst>
          </p:cNvPr>
          <p:cNvSpPr txBox="1">
            <a:spLocks noChangeArrowheads="1"/>
          </p:cNvSpPr>
          <p:nvPr/>
        </p:nvSpPr>
        <p:spPr bwMode="auto">
          <a:xfrm>
            <a:off x="2628900" y="1676400"/>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12</a:t>
            </a:r>
            <a:endParaRPr lang="en-US" altLang="zh-CN" sz="3200">
              <a:solidFill>
                <a:schemeClr val="bg1"/>
              </a:solidFill>
            </a:endParaRPr>
          </a:p>
        </p:txBody>
      </p:sp>
      <p:sp>
        <p:nvSpPr>
          <p:cNvPr id="259089" name="Oval 1041">
            <a:extLst>
              <a:ext uri="{FF2B5EF4-FFF2-40B4-BE49-F238E27FC236}">
                <a16:creationId xmlns:a16="http://schemas.microsoft.com/office/drawing/2014/main" id="{75668E74-ACE3-4A0B-8B85-E3F3CB54C56A}"/>
              </a:ext>
            </a:extLst>
          </p:cNvPr>
          <p:cNvSpPr>
            <a:spLocks noChangeArrowheads="1"/>
          </p:cNvSpPr>
          <p:nvPr/>
        </p:nvSpPr>
        <p:spPr bwMode="auto">
          <a:xfrm>
            <a:off x="762000" y="4495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090" name="Oval 1042">
            <a:extLst>
              <a:ext uri="{FF2B5EF4-FFF2-40B4-BE49-F238E27FC236}">
                <a16:creationId xmlns:a16="http://schemas.microsoft.com/office/drawing/2014/main" id="{1CD82345-1E0F-42B7-950C-93AA1ABE666F}"/>
              </a:ext>
            </a:extLst>
          </p:cNvPr>
          <p:cNvSpPr>
            <a:spLocks noChangeArrowheads="1"/>
          </p:cNvSpPr>
          <p:nvPr/>
        </p:nvSpPr>
        <p:spPr bwMode="auto">
          <a:xfrm>
            <a:off x="1295400" y="4495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091" name="Oval 1043">
            <a:extLst>
              <a:ext uri="{FF2B5EF4-FFF2-40B4-BE49-F238E27FC236}">
                <a16:creationId xmlns:a16="http://schemas.microsoft.com/office/drawing/2014/main" id="{E66AE5E6-8D55-4652-BB90-D8D2A9DC4687}"/>
              </a:ext>
            </a:extLst>
          </p:cNvPr>
          <p:cNvSpPr>
            <a:spLocks noChangeArrowheads="1"/>
          </p:cNvSpPr>
          <p:nvPr/>
        </p:nvSpPr>
        <p:spPr bwMode="auto">
          <a:xfrm>
            <a:off x="1828800" y="4495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092" name="Oval 1044">
            <a:extLst>
              <a:ext uri="{FF2B5EF4-FFF2-40B4-BE49-F238E27FC236}">
                <a16:creationId xmlns:a16="http://schemas.microsoft.com/office/drawing/2014/main" id="{9FD6D283-C20A-4FF5-8A0A-1A1B278CAB9F}"/>
              </a:ext>
            </a:extLst>
          </p:cNvPr>
          <p:cNvSpPr>
            <a:spLocks noChangeArrowheads="1"/>
          </p:cNvSpPr>
          <p:nvPr/>
        </p:nvSpPr>
        <p:spPr bwMode="auto">
          <a:xfrm>
            <a:off x="2362200" y="4495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093" name="Oval 1045">
            <a:extLst>
              <a:ext uri="{FF2B5EF4-FFF2-40B4-BE49-F238E27FC236}">
                <a16:creationId xmlns:a16="http://schemas.microsoft.com/office/drawing/2014/main" id="{26B46A84-6B16-4C7E-81C8-00CF651B5D5E}"/>
              </a:ext>
            </a:extLst>
          </p:cNvPr>
          <p:cNvSpPr>
            <a:spLocks noChangeArrowheads="1"/>
          </p:cNvSpPr>
          <p:nvPr/>
        </p:nvSpPr>
        <p:spPr bwMode="auto">
          <a:xfrm>
            <a:off x="2895600" y="4495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35861" name="Text Box 1046">
            <a:extLst>
              <a:ext uri="{FF2B5EF4-FFF2-40B4-BE49-F238E27FC236}">
                <a16:creationId xmlns:a16="http://schemas.microsoft.com/office/drawing/2014/main" id="{16076844-BD68-46BC-BD54-ED5A5280E346}"/>
              </a:ext>
            </a:extLst>
          </p:cNvPr>
          <p:cNvSpPr txBox="1">
            <a:spLocks noChangeArrowheads="1"/>
          </p:cNvSpPr>
          <p:nvPr/>
        </p:nvSpPr>
        <p:spPr bwMode="auto">
          <a:xfrm>
            <a:off x="8382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3</a:t>
            </a:r>
            <a:endParaRPr lang="en-US" altLang="zh-CN" sz="3200">
              <a:solidFill>
                <a:schemeClr val="bg1"/>
              </a:solidFill>
            </a:endParaRPr>
          </a:p>
        </p:txBody>
      </p:sp>
      <p:sp>
        <p:nvSpPr>
          <p:cNvPr id="259095" name="Text Box 1047">
            <a:extLst>
              <a:ext uri="{FF2B5EF4-FFF2-40B4-BE49-F238E27FC236}">
                <a16:creationId xmlns:a16="http://schemas.microsoft.com/office/drawing/2014/main" id="{4CA32D37-AE5E-44DA-90D3-158E5D64EF7D}"/>
              </a:ext>
            </a:extLst>
          </p:cNvPr>
          <p:cNvSpPr txBox="1">
            <a:spLocks noChangeArrowheads="1"/>
          </p:cNvSpPr>
          <p:nvPr/>
        </p:nvSpPr>
        <p:spPr bwMode="auto">
          <a:xfrm>
            <a:off x="1358900" y="4495800"/>
            <a:ext cx="354013" cy="457200"/>
          </a:xfrm>
          <a:prstGeom prst="rect">
            <a:avLst/>
          </a:prstGeom>
          <a:noFill/>
          <a:ln>
            <a:noFill/>
          </a:ln>
          <a:effectLst/>
        </p:spPr>
        <p:txBody>
          <a:bodyPr wrap="none">
            <a:spAutoFit/>
          </a:bodyPr>
          <a:lstStyle/>
          <a:p>
            <a:pPr eaLnBrk="1" fontAlgn="auto" hangingPunct="1">
              <a:spcBef>
                <a:spcPts val="0"/>
              </a:spcBef>
              <a:spcAft>
                <a:spcPts val="0"/>
              </a:spcAft>
              <a:defRPr/>
            </a:pPr>
            <a:r>
              <a:rPr lang="en-US" altLang="zh-CN" b="1">
                <a:solidFill>
                  <a:schemeClr val="bg1"/>
                </a:solidFill>
                <a:latin typeface="Arial" panose="020B0604020202020204" pitchFamily="34" charset="0"/>
                <a:ea typeface="+mn-ea"/>
              </a:rPr>
              <a:t>5</a:t>
            </a:r>
            <a:endParaRPr lang="en-US" altLang="zh-CN" sz="3200">
              <a:solidFill>
                <a:schemeClr val="bg1"/>
              </a:solidFill>
              <a:latin typeface="+mn-lt"/>
              <a:ea typeface="+mn-ea"/>
            </a:endParaRPr>
          </a:p>
        </p:txBody>
      </p:sp>
      <p:sp>
        <p:nvSpPr>
          <p:cNvPr id="35863" name="Text Box 1048">
            <a:extLst>
              <a:ext uri="{FF2B5EF4-FFF2-40B4-BE49-F238E27FC236}">
                <a16:creationId xmlns:a16="http://schemas.microsoft.com/office/drawing/2014/main" id="{8715E796-D0FA-4584-A5DB-F18EFCDC1F2E}"/>
              </a:ext>
            </a:extLst>
          </p:cNvPr>
          <p:cNvSpPr txBox="1">
            <a:spLocks noChangeArrowheads="1"/>
          </p:cNvSpPr>
          <p:nvPr/>
        </p:nvSpPr>
        <p:spPr bwMode="auto">
          <a:xfrm>
            <a:off x="18923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4</a:t>
            </a:r>
            <a:endParaRPr lang="en-US" altLang="zh-CN" sz="3200">
              <a:solidFill>
                <a:schemeClr val="bg1"/>
              </a:solidFill>
            </a:endParaRPr>
          </a:p>
        </p:txBody>
      </p:sp>
      <p:sp>
        <p:nvSpPr>
          <p:cNvPr id="35864" name="Text Box 1049">
            <a:extLst>
              <a:ext uri="{FF2B5EF4-FFF2-40B4-BE49-F238E27FC236}">
                <a16:creationId xmlns:a16="http://schemas.microsoft.com/office/drawing/2014/main" id="{C230EFD5-E084-406F-8590-B7DB1C05DE36}"/>
              </a:ext>
            </a:extLst>
          </p:cNvPr>
          <p:cNvSpPr txBox="1">
            <a:spLocks noChangeArrowheads="1"/>
          </p:cNvSpPr>
          <p:nvPr/>
        </p:nvSpPr>
        <p:spPr bwMode="auto">
          <a:xfrm>
            <a:off x="24384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8</a:t>
            </a:r>
            <a:endParaRPr lang="en-US" altLang="zh-CN" sz="3200">
              <a:solidFill>
                <a:schemeClr val="bg1"/>
              </a:solidFill>
            </a:endParaRPr>
          </a:p>
        </p:txBody>
      </p:sp>
      <p:sp>
        <p:nvSpPr>
          <p:cNvPr id="259098" name="Oval 1050">
            <a:extLst>
              <a:ext uri="{FF2B5EF4-FFF2-40B4-BE49-F238E27FC236}">
                <a16:creationId xmlns:a16="http://schemas.microsoft.com/office/drawing/2014/main" id="{74E3D5BD-A3B7-41F5-9692-B5E5EC378D25}"/>
              </a:ext>
            </a:extLst>
          </p:cNvPr>
          <p:cNvSpPr>
            <a:spLocks noChangeArrowheads="1"/>
          </p:cNvSpPr>
          <p:nvPr/>
        </p:nvSpPr>
        <p:spPr bwMode="auto">
          <a:xfrm>
            <a:off x="1066800" y="35052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099" name="Oval 1051">
            <a:extLst>
              <a:ext uri="{FF2B5EF4-FFF2-40B4-BE49-F238E27FC236}">
                <a16:creationId xmlns:a16="http://schemas.microsoft.com/office/drawing/2014/main" id="{4A97CE40-1F1F-4570-A860-BAF5DE8F1C39}"/>
              </a:ext>
            </a:extLst>
          </p:cNvPr>
          <p:cNvSpPr>
            <a:spLocks noChangeArrowheads="1"/>
          </p:cNvSpPr>
          <p:nvPr/>
        </p:nvSpPr>
        <p:spPr bwMode="auto">
          <a:xfrm>
            <a:off x="1600200" y="2590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00" name="Oval 1052">
            <a:extLst>
              <a:ext uri="{FF2B5EF4-FFF2-40B4-BE49-F238E27FC236}">
                <a16:creationId xmlns:a16="http://schemas.microsoft.com/office/drawing/2014/main" id="{E9F23AE5-1F65-462D-8C23-63CBD6A6AEC4}"/>
              </a:ext>
            </a:extLst>
          </p:cNvPr>
          <p:cNvSpPr>
            <a:spLocks noChangeArrowheads="1"/>
          </p:cNvSpPr>
          <p:nvPr/>
        </p:nvSpPr>
        <p:spPr bwMode="auto">
          <a:xfrm>
            <a:off x="2057400" y="35052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35868" name="Text Box 1053">
            <a:extLst>
              <a:ext uri="{FF2B5EF4-FFF2-40B4-BE49-F238E27FC236}">
                <a16:creationId xmlns:a16="http://schemas.microsoft.com/office/drawing/2014/main" id="{325F77E2-E20E-43B3-8E99-09646984B9AB}"/>
              </a:ext>
            </a:extLst>
          </p:cNvPr>
          <p:cNvSpPr txBox="1">
            <a:spLocks noChangeArrowheads="1"/>
          </p:cNvSpPr>
          <p:nvPr/>
        </p:nvSpPr>
        <p:spPr bwMode="auto">
          <a:xfrm>
            <a:off x="1143000" y="35052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7</a:t>
            </a:r>
            <a:endParaRPr lang="en-US" altLang="zh-CN" sz="3200">
              <a:solidFill>
                <a:schemeClr val="bg1"/>
              </a:solidFill>
            </a:endParaRPr>
          </a:p>
        </p:txBody>
      </p:sp>
      <p:sp>
        <p:nvSpPr>
          <p:cNvPr id="35869" name="Text Box 1054">
            <a:extLst>
              <a:ext uri="{FF2B5EF4-FFF2-40B4-BE49-F238E27FC236}">
                <a16:creationId xmlns:a16="http://schemas.microsoft.com/office/drawing/2014/main" id="{0F6D14CE-098E-4B2F-92E4-2FC2C2193643}"/>
              </a:ext>
            </a:extLst>
          </p:cNvPr>
          <p:cNvSpPr txBox="1">
            <a:spLocks noChangeArrowheads="1"/>
          </p:cNvSpPr>
          <p:nvPr/>
        </p:nvSpPr>
        <p:spPr bwMode="auto">
          <a:xfrm>
            <a:off x="1574800" y="2590800"/>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11</a:t>
            </a:r>
            <a:endParaRPr lang="en-US" altLang="zh-CN" sz="3200">
              <a:solidFill>
                <a:schemeClr val="bg1"/>
              </a:solidFill>
            </a:endParaRPr>
          </a:p>
        </p:txBody>
      </p:sp>
      <p:sp>
        <p:nvSpPr>
          <p:cNvPr id="35870" name="Text Box 1055">
            <a:extLst>
              <a:ext uri="{FF2B5EF4-FFF2-40B4-BE49-F238E27FC236}">
                <a16:creationId xmlns:a16="http://schemas.microsoft.com/office/drawing/2014/main" id="{ECDEB32C-162B-41DB-8C1A-6C85E42E8B0F}"/>
              </a:ext>
            </a:extLst>
          </p:cNvPr>
          <p:cNvSpPr txBox="1">
            <a:spLocks noChangeArrowheads="1"/>
          </p:cNvSpPr>
          <p:nvPr/>
        </p:nvSpPr>
        <p:spPr bwMode="auto">
          <a:xfrm>
            <a:off x="2032000" y="3505200"/>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10</a:t>
            </a:r>
            <a:endParaRPr lang="en-US" altLang="zh-CN" sz="3200">
              <a:solidFill>
                <a:schemeClr val="bg1"/>
              </a:solidFill>
            </a:endParaRPr>
          </a:p>
        </p:txBody>
      </p:sp>
      <p:sp>
        <p:nvSpPr>
          <p:cNvPr id="35871" name="Text Box 1056">
            <a:extLst>
              <a:ext uri="{FF2B5EF4-FFF2-40B4-BE49-F238E27FC236}">
                <a16:creationId xmlns:a16="http://schemas.microsoft.com/office/drawing/2014/main" id="{D3E19BC8-9544-4AE7-80B4-15F5EB2A027D}"/>
              </a:ext>
            </a:extLst>
          </p:cNvPr>
          <p:cNvSpPr txBox="1">
            <a:spLocks noChangeArrowheads="1"/>
          </p:cNvSpPr>
          <p:nvPr/>
        </p:nvSpPr>
        <p:spPr bwMode="auto">
          <a:xfrm>
            <a:off x="29591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2</a:t>
            </a:r>
            <a:endParaRPr lang="en-US" altLang="zh-CN" sz="3200">
              <a:solidFill>
                <a:schemeClr val="bg1"/>
              </a:solidFill>
            </a:endParaRPr>
          </a:p>
        </p:txBody>
      </p:sp>
      <p:sp>
        <p:nvSpPr>
          <p:cNvPr id="259105" name="Oval 1057">
            <a:extLst>
              <a:ext uri="{FF2B5EF4-FFF2-40B4-BE49-F238E27FC236}">
                <a16:creationId xmlns:a16="http://schemas.microsoft.com/office/drawing/2014/main" id="{B6FD6CE2-9446-4D39-AF44-8A42BB014402}"/>
              </a:ext>
            </a:extLst>
          </p:cNvPr>
          <p:cNvSpPr>
            <a:spLocks noChangeArrowheads="1"/>
          </p:cNvSpPr>
          <p:nvPr/>
        </p:nvSpPr>
        <p:spPr bwMode="auto">
          <a:xfrm>
            <a:off x="3200400" y="35052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06" name="Oval 1058">
            <a:extLst>
              <a:ext uri="{FF2B5EF4-FFF2-40B4-BE49-F238E27FC236}">
                <a16:creationId xmlns:a16="http://schemas.microsoft.com/office/drawing/2014/main" id="{165E9081-6A8D-4783-997A-5E585F314975}"/>
              </a:ext>
            </a:extLst>
          </p:cNvPr>
          <p:cNvSpPr>
            <a:spLocks noChangeArrowheads="1"/>
          </p:cNvSpPr>
          <p:nvPr/>
        </p:nvSpPr>
        <p:spPr bwMode="auto">
          <a:xfrm>
            <a:off x="3657600" y="25908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07" name="Oval 1059">
            <a:extLst>
              <a:ext uri="{FF2B5EF4-FFF2-40B4-BE49-F238E27FC236}">
                <a16:creationId xmlns:a16="http://schemas.microsoft.com/office/drawing/2014/main" id="{E843B3B4-F11C-4988-84AA-F55BE0231838}"/>
              </a:ext>
            </a:extLst>
          </p:cNvPr>
          <p:cNvSpPr>
            <a:spLocks noChangeArrowheads="1"/>
          </p:cNvSpPr>
          <p:nvPr/>
        </p:nvSpPr>
        <p:spPr bwMode="auto">
          <a:xfrm>
            <a:off x="4114800" y="3505200"/>
            <a:ext cx="457200" cy="457200"/>
          </a:xfrm>
          <a:prstGeom prst="ellipse">
            <a:avLst/>
          </a:prstGeom>
          <a:gradFill rotWithShape="0">
            <a:gsLst>
              <a:gs pos="0">
                <a:schemeClr val="accent1"/>
              </a:gs>
              <a:gs pos="50000">
                <a:schemeClr val="accent1">
                  <a:gamma/>
                  <a:shade val="46275"/>
                  <a:invGamma/>
                </a:schemeClr>
              </a:gs>
              <a:gs pos="100000">
                <a:schemeClr val="accent1"/>
              </a:gs>
            </a:gsLst>
            <a:lin ang="2700000" scaled="1"/>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35875" name="Text Box 1060">
            <a:extLst>
              <a:ext uri="{FF2B5EF4-FFF2-40B4-BE49-F238E27FC236}">
                <a16:creationId xmlns:a16="http://schemas.microsoft.com/office/drawing/2014/main" id="{111BC78F-FD50-4B3A-9597-A9A9E1FF053A}"/>
              </a:ext>
            </a:extLst>
          </p:cNvPr>
          <p:cNvSpPr txBox="1">
            <a:spLocks noChangeArrowheads="1"/>
          </p:cNvSpPr>
          <p:nvPr/>
        </p:nvSpPr>
        <p:spPr bwMode="auto">
          <a:xfrm>
            <a:off x="3733800" y="2590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9</a:t>
            </a:r>
            <a:endParaRPr lang="en-US" altLang="zh-CN" sz="3200">
              <a:solidFill>
                <a:schemeClr val="bg1"/>
              </a:solidFill>
            </a:endParaRPr>
          </a:p>
        </p:txBody>
      </p:sp>
      <p:sp>
        <p:nvSpPr>
          <p:cNvPr id="259109" name="Text Box 1061">
            <a:extLst>
              <a:ext uri="{FF2B5EF4-FFF2-40B4-BE49-F238E27FC236}">
                <a16:creationId xmlns:a16="http://schemas.microsoft.com/office/drawing/2014/main" id="{FBB69433-DBD1-4FCB-B8AD-77FAAF48EE6A}"/>
              </a:ext>
            </a:extLst>
          </p:cNvPr>
          <p:cNvSpPr txBox="1">
            <a:spLocks noChangeArrowheads="1"/>
          </p:cNvSpPr>
          <p:nvPr/>
        </p:nvSpPr>
        <p:spPr bwMode="auto">
          <a:xfrm>
            <a:off x="4178300" y="3505200"/>
            <a:ext cx="354013" cy="457200"/>
          </a:xfrm>
          <a:prstGeom prst="rect">
            <a:avLst/>
          </a:prstGeom>
          <a:noFill/>
          <a:ln>
            <a:noFill/>
          </a:ln>
          <a:effectLst/>
        </p:spPr>
        <p:txBody>
          <a:bodyPr wrap="none">
            <a:spAutoFit/>
          </a:bodyPr>
          <a:lstStyle/>
          <a:p>
            <a:pPr eaLnBrk="1" fontAlgn="auto" hangingPunct="1">
              <a:spcBef>
                <a:spcPts val="0"/>
              </a:spcBef>
              <a:spcAft>
                <a:spcPts val="0"/>
              </a:spcAft>
              <a:defRPr/>
            </a:pPr>
            <a:r>
              <a:rPr lang="en-US" altLang="zh-CN" b="1">
                <a:solidFill>
                  <a:schemeClr val="bg1"/>
                </a:solidFill>
                <a:latin typeface="Arial" panose="020B0604020202020204" pitchFamily="34" charset="0"/>
                <a:ea typeface="+mn-ea"/>
              </a:rPr>
              <a:t>1</a:t>
            </a:r>
            <a:endParaRPr lang="en-US" altLang="zh-CN" sz="3200">
              <a:solidFill>
                <a:schemeClr val="bg1"/>
              </a:solidFill>
              <a:latin typeface="+mn-lt"/>
              <a:ea typeface="+mn-ea"/>
            </a:endParaRPr>
          </a:p>
        </p:txBody>
      </p:sp>
      <p:sp>
        <p:nvSpPr>
          <p:cNvPr id="35877" name="Text Box 1062">
            <a:extLst>
              <a:ext uri="{FF2B5EF4-FFF2-40B4-BE49-F238E27FC236}">
                <a16:creationId xmlns:a16="http://schemas.microsoft.com/office/drawing/2014/main" id="{AC59FCDA-E29A-4E96-A611-65323454ADB4}"/>
              </a:ext>
            </a:extLst>
          </p:cNvPr>
          <p:cNvSpPr txBox="1">
            <a:spLocks noChangeArrowheads="1"/>
          </p:cNvSpPr>
          <p:nvPr/>
        </p:nvSpPr>
        <p:spPr bwMode="auto">
          <a:xfrm>
            <a:off x="3263900" y="35052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chemeClr val="bg1"/>
                </a:solidFill>
                <a:latin typeface="Arial" panose="020B0604020202020204" pitchFamily="34" charset="0"/>
              </a:rPr>
              <a:t>6</a:t>
            </a:r>
            <a:endParaRPr lang="en-US" altLang="zh-CN" sz="3200">
              <a:solidFill>
                <a:schemeClr val="bg1"/>
              </a:solidFill>
            </a:endParaRPr>
          </a:p>
        </p:txBody>
      </p:sp>
      <p:sp>
        <p:nvSpPr>
          <p:cNvPr id="35878" name="Line 1063">
            <a:extLst>
              <a:ext uri="{FF2B5EF4-FFF2-40B4-BE49-F238E27FC236}">
                <a16:creationId xmlns:a16="http://schemas.microsoft.com/office/drawing/2014/main" id="{1E12B616-A6B2-40E9-908E-50F362B85C1E}"/>
              </a:ext>
            </a:extLst>
          </p:cNvPr>
          <p:cNvSpPr>
            <a:spLocks noChangeShapeType="1"/>
          </p:cNvSpPr>
          <p:nvPr/>
        </p:nvSpPr>
        <p:spPr bwMode="auto">
          <a:xfrm>
            <a:off x="6858000" y="2057400"/>
            <a:ext cx="762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79" name="Line 1064">
            <a:extLst>
              <a:ext uri="{FF2B5EF4-FFF2-40B4-BE49-F238E27FC236}">
                <a16:creationId xmlns:a16="http://schemas.microsoft.com/office/drawing/2014/main" id="{702E3759-A2A7-401D-AC57-F2095653849E}"/>
              </a:ext>
            </a:extLst>
          </p:cNvPr>
          <p:cNvSpPr>
            <a:spLocks noChangeShapeType="1"/>
          </p:cNvSpPr>
          <p:nvPr/>
        </p:nvSpPr>
        <p:spPr bwMode="auto">
          <a:xfrm flipV="1">
            <a:off x="5867400" y="2057400"/>
            <a:ext cx="762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0" name="Line 1065">
            <a:extLst>
              <a:ext uri="{FF2B5EF4-FFF2-40B4-BE49-F238E27FC236}">
                <a16:creationId xmlns:a16="http://schemas.microsoft.com/office/drawing/2014/main" id="{E0CB6845-5488-4B63-AF03-7B85E0B6DD6E}"/>
              </a:ext>
            </a:extLst>
          </p:cNvPr>
          <p:cNvSpPr>
            <a:spLocks noChangeShapeType="1"/>
          </p:cNvSpPr>
          <p:nvPr/>
        </p:nvSpPr>
        <p:spPr bwMode="auto">
          <a:xfrm>
            <a:off x="7848600" y="2971800"/>
            <a:ext cx="3048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1" name="Line 1066">
            <a:extLst>
              <a:ext uri="{FF2B5EF4-FFF2-40B4-BE49-F238E27FC236}">
                <a16:creationId xmlns:a16="http://schemas.microsoft.com/office/drawing/2014/main" id="{C1B128E1-4AF7-45F8-BF84-E03CF9DA0B3C}"/>
              </a:ext>
            </a:extLst>
          </p:cNvPr>
          <p:cNvSpPr>
            <a:spLocks noChangeShapeType="1"/>
          </p:cNvSpPr>
          <p:nvPr/>
        </p:nvSpPr>
        <p:spPr bwMode="auto">
          <a:xfrm flipH="1">
            <a:off x="7391400" y="2971800"/>
            <a:ext cx="3048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2" name="Line 1067">
            <a:extLst>
              <a:ext uri="{FF2B5EF4-FFF2-40B4-BE49-F238E27FC236}">
                <a16:creationId xmlns:a16="http://schemas.microsoft.com/office/drawing/2014/main" id="{64F8BB13-94D9-46BF-80CC-C71AD48E3CF3}"/>
              </a:ext>
            </a:extLst>
          </p:cNvPr>
          <p:cNvSpPr>
            <a:spLocks noChangeShapeType="1"/>
          </p:cNvSpPr>
          <p:nvPr/>
        </p:nvSpPr>
        <p:spPr bwMode="auto">
          <a:xfrm flipH="1">
            <a:off x="7010400" y="3886200"/>
            <a:ext cx="2286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3" name="Line 1068">
            <a:extLst>
              <a:ext uri="{FF2B5EF4-FFF2-40B4-BE49-F238E27FC236}">
                <a16:creationId xmlns:a16="http://schemas.microsoft.com/office/drawing/2014/main" id="{9B1905A9-8D1E-4E03-8D4C-84E64E57C36B}"/>
              </a:ext>
            </a:extLst>
          </p:cNvPr>
          <p:cNvSpPr>
            <a:spLocks noChangeShapeType="1"/>
          </p:cNvSpPr>
          <p:nvPr/>
        </p:nvSpPr>
        <p:spPr bwMode="auto">
          <a:xfrm>
            <a:off x="6248400" y="3886200"/>
            <a:ext cx="2286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4" name="Line 1069">
            <a:extLst>
              <a:ext uri="{FF2B5EF4-FFF2-40B4-BE49-F238E27FC236}">
                <a16:creationId xmlns:a16="http://schemas.microsoft.com/office/drawing/2014/main" id="{BA5B7797-421B-4711-B55D-6AB7B790C565}"/>
              </a:ext>
            </a:extLst>
          </p:cNvPr>
          <p:cNvSpPr>
            <a:spLocks noChangeShapeType="1"/>
          </p:cNvSpPr>
          <p:nvPr/>
        </p:nvSpPr>
        <p:spPr bwMode="auto">
          <a:xfrm>
            <a:off x="5791200" y="2895600"/>
            <a:ext cx="3048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5" name="Line 1070">
            <a:extLst>
              <a:ext uri="{FF2B5EF4-FFF2-40B4-BE49-F238E27FC236}">
                <a16:creationId xmlns:a16="http://schemas.microsoft.com/office/drawing/2014/main" id="{8BAA6236-67D1-4E22-BC19-5039DDA7B452}"/>
              </a:ext>
            </a:extLst>
          </p:cNvPr>
          <p:cNvSpPr>
            <a:spLocks noChangeShapeType="1"/>
          </p:cNvSpPr>
          <p:nvPr/>
        </p:nvSpPr>
        <p:spPr bwMode="auto">
          <a:xfrm flipH="1">
            <a:off x="5257800" y="2971800"/>
            <a:ext cx="381000" cy="6096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6" name="Line 1071">
            <a:extLst>
              <a:ext uri="{FF2B5EF4-FFF2-40B4-BE49-F238E27FC236}">
                <a16:creationId xmlns:a16="http://schemas.microsoft.com/office/drawing/2014/main" id="{C576CB49-FD39-4EBC-A8B0-308E1A60362B}"/>
              </a:ext>
            </a:extLst>
          </p:cNvPr>
          <p:cNvSpPr>
            <a:spLocks noChangeShapeType="1"/>
          </p:cNvSpPr>
          <p:nvPr/>
        </p:nvSpPr>
        <p:spPr bwMode="auto">
          <a:xfrm>
            <a:off x="5257800" y="3886200"/>
            <a:ext cx="1524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7" name="Line 1072">
            <a:extLst>
              <a:ext uri="{FF2B5EF4-FFF2-40B4-BE49-F238E27FC236}">
                <a16:creationId xmlns:a16="http://schemas.microsoft.com/office/drawing/2014/main" id="{C4271B9F-8F39-415F-8E08-8E52177C4316}"/>
              </a:ext>
            </a:extLst>
          </p:cNvPr>
          <p:cNvSpPr>
            <a:spLocks noChangeShapeType="1"/>
          </p:cNvSpPr>
          <p:nvPr/>
        </p:nvSpPr>
        <p:spPr bwMode="auto">
          <a:xfrm flipH="1">
            <a:off x="5943600" y="3886200"/>
            <a:ext cx="1524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888" name="Line 1073">
            <a:extLst>
              <a:ext uri="{FF2B5EF4-FFF2-40B4-BE49-F238E27FC236}">
                <a16:creationId xmlns:a16="http://schemas.microsoft.com/office/drawing/2014/main" id="{3240CA4A-CF9A-4959-9AB5-E56692F5ED5D}"/>
              </a:ext>
            </a:extLst>
          </p:cNvPr>
          <p:cNvSpPr>
            <a:spLocks noChangeShapeType="1"/>
          </p:cNvSpPr>
          <p:nvPr/>
        </p:nvSpPr>
        <p:spPr bwMode="auto">
          <a:xfrm flipH="1">
            <a:off x="4876800" y="3886200"/>
            <a:ext cx="228600" cy="68580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9122" name="Oval 1074">
            <a:extLst>
              <a:ext uri="{FF2B5EF4-FFF2-40B4-BE49-F238E27FC236}">
                <a16:creationId xmlns:a16="http://schemas.microsoft.com/office/drawing/2014/main" id="{774788DD-529C-4FDC-810F-DE1E3F67AD79}"/>
              </a:ext>
            </a:extLst>
          </p:cNvPr>
          <p:cNvSpPr>
            <a:spLocks noChangeArrowheads="1"/>
          </p:cNvSpPr>
          <p:nvPr/>
        </p:nvSpPr>
        <p:spPr bwMode="auto">
          <a:xfrm>
            <a:off x="6553200" y="16764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23" name="Oval 1075">
            <a:extLst>
              <a:ext uri="{FF2B5EF4-FFF2-40B4-BE49-F238E27FC236}">
                <a16:creationId xmlns:a16="http://schemas.microsoft.com/office/drawing/2014/main" id="{EFA7CECE-736D-4EF6-9A10-38CBC908CCB1}"/>
              </a:ext>
            </a:extLst>
          </p:cNvPr>
          <p:cNvSpPr>
            <a:spLocks noChangeArrowheads="1"/>
          </p:cNvSpPr>
          <p:nvPr/>
        </p:nvSpPr>
        <p:spPr bwMode="auto">
          <a:xfrm>
            <a:off x="4648200" y="4495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24" name="Oval 1076">
            <a:extLst>
              <a:ext uri="{FF2B5EF4-FFF2-40B4-BE49-F238E27FC236}">
                <a16:creationId xmlns:a16="http://schemas.microsoft.com/office/drawing/2014/main" id="{FD1C0AB0-5A92-44C5-BF12-F62FEFA8118B}"/>
              </a:ext>
            </a:extLst>
          </p:cNvPr>
          <p:cNvSpPr>
            <a:spLocks noChangeArrowheads="1"/>
          </p:cNvSpPr>
          <p:nvPr/>
        </p:nvSpPr>
        <p:spPr bwMode="auto">
          <a:xfrm>
            <a:off x="5181600" y="4495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25" name="Oval 1077">
            <a:extLst>
              <a:ext uri="{FF2B5EF4-FFF2-40B4-BE49-F238E27FC236}">
                <a16:creationId xmlns:a16="http://schemas.microsoft.com/office/drawing/2014/main" id="{634F13BB-5A72-4CE5-86D7-D4803FC8C202}"/>
              </a:ext>
            </a:extLst>
          </p:cNvPr>
          <p:cNvSpPr>
            <a:spLocks noChangeArrowheads="1"/>
          </p:cNvSpPr>
          <p:nvPr/>
        </p:nvSpPr>
        <p:spPr bwMode="auto">
          <a:xfrm>
            <a:off x="5715000" y="4495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26" name="Oval 1078">
            <a:extLst>
              <a:ext uri="{FF2B5EF4-FFF2-40B4-BE49-F238E27FC236}">
                <a16:creationId xmlns:a16="http://schemas.microsoft.com/office/drawing/2014/main" id="{8E493B1B-AD4D-460F-B529-B38D6D46D9D7}"/>
              </a:ext>
            </a:extLst>
          </p:cNvPr>
          <p:cNvSpPr>
            <a:spLocks noChangeArrowheads="1"/>
          </p:cNvSpPr>
          <p:nvPr/>
        </p:nvSpPr>
        <p:spPr bwMode="auto">
          <a:xfrm>
            <a:off x="6248400" y="4495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27" name="Oval 1079">
            <a:extLst>
              <a:ext uri="{FF2B5EF4-FFF2-40B4-BE49-F238E27FC236}">
                <a16:creationId xmlns:a16="http://schemas.microsoft.com/office/drawing/2014/main" id="{D0ABD486-4750-4296-99E0-455B5765B642}"/>
              </a:ext>
            </a:extLst>
          </p:cNvPr>
          <p:cNvSpPr>
            <a:spLocks noChangeArrowheads="1"/>
          </p:cNvSpPr>
          <p:nvPr/>
        </p:nvSpPr>
        <p:spPr bwMode="auto">
          <a:xfrm>
            <a:off x="6781800" y="4495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35895" name="Text Box 1080">
            <a:extLst>
              <a:ext uri="{FF2B5EF4-FFF2-40B4-BE49-F238E27FC236}">
                <a16:creationId xmlns:a16="http://schemas.microsoft.com/office/drawing/2014/main" id="{C21E29CA-8221-4CD7-A6F6-83ED9904D725}"/>
              </a:ext>
            </a:extLst>
          </p:cNvPr>
          <p:cNvSpPr txBox="1">
            <a:spLocks noChangeArrowheads="1"/>
          </p:cNvSpPr>
          <p:nvPr/>
        </p:nvSpPr>
        <p:spPr bwMode="auto">
          <a:xfrm>
            <a:off x="57912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4</a:t>
            </a:r>
            <a:endParaRPr lang="en-US" altLang="zh-CN" sz="3200"/>
          </a:p>
        </p:txBody>
      </p:sp>
      <p:sp>
        <p:nvSpPr>
          <p:cNvPr id="259129" name="Oval 1081">
            <a:extLst>
              <a:ext uri="{FF2B5EF4-FFF2-40B4-BE49-F238E27FC236}">
                <a16:creationId xmlns:a16="http://schemas.microsoft.com/office/drawing/2014/main" id="{9A379631-D5B8-457B-8522-DB960CCD710B}"/>
              </a:ext>
            </a:extLst>
          </p:cNvPr>
          <p:cNvSpPr>
            <a:spLocks noChangeArrowheads="1"/>
          </p:cNvSpPr>
          <p:nvPr/>
        </p:nvSpPr>
        <p:spPr bwMode="auto">
          <a:xfrm>
            <a:off x="4953000" y="35052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30" name="Oval 1082">
            <a:extLst>
              <a:ext uri="{FF2B5EF4-FFF2-40B4-BE49-F238E27FC236}">
                <a16:creationId xmlns:a16="http://schemas.microsoft.com/office/drawing/2014/main" id="{CA4C4BED-0523-4A73-8723-E6FF7EABDE58}"/>
              </a:ext>
            </a:extLst>
          </p:cNvPr>
          <p:cNvSpPr>
            <a:spLocks noChangeArrowheads="1"/>
          </p:cNvSpPr>
          <p:nvPr/>
        </p:nvSpPr>
        <p:spPr bwMode="auto">
          <a:xfrm>
            <a:off x="5486400" y="2590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31" name="Oval 1083">
            <a:extLst>
              <a:ext uri="{FF2B5EF4-FFF2-40B4-BE49-F238E27FC236}">
                <a16:creationId xmlns:a16="http://schemas.microsoft.com/office/drawing/2014/main" id="{8B44E504-602F-4B26-823F-11391B3F421D}"/>
              </a:ext>
            </a:extLst>
          </p:cNvPr>
          <p:cNvSpPr>
            <a:spLocks noChangeArrowheads="1"/>
          </p:cNvSpPr>
          <p:nvPr/>
        </p:nvSpPr>
        <p:spPr bwMode="auto">
          <a:xfrm>
            <a:off x="5943600" y="35052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32" name="Oval 1084">
            <a:extLst>
              <a:ext uri="{FF2B5EF4-FFF2-40B4-BE49-F238E27FC236}">
                <a16:creationId xmlns:a16="http://schemas.microsoft.com/office/drawing/2014/main" id="{DCAA4D08-C736-4DF4-8259-B8D0F9BAABE4}"/>
              </a:ext>
            </a:extLst>
          </p:cNvPr>
          <p:cNvSpPr>
            <a:spLocks noChangeArrowheads="1"/>
          </p:cNvSpPr>
          <p:nvPr/>
        </p:nvSpPr>
        <p:spPr bwMode="auto">
          <a:xfrm>
            <a:off x="7086600" y="35052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33" name="Oval 1085">
            <a:extLst>
              <a:ext uri="{FF2B5EF4-FFF2-40B4-BE49-F238E27FC236}">
                <a16:creationId xmlns:a16="http://schemas.microsoft.com/office/drawing/2014/main" id="{6F918E28-686B-4AF4-9A7D-A4363BAE5F2F}"/>
              </a:ext>
            </a:extLst>
          </p:cNvPr>
          <p:cNvSpPr>
            <a:spLocks noChangeArrowheads="1"/>
          </p:cNvSpPr>
          <p:nvPr/>
        </p:nvSpPr>
        <p:spPr bwMode="auto">
          <a:xfrm>
            <a:off x="7543800" y="25908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259134" name="Oval 1086">
            <a:extLst>
              <a:ext uri="{FF2B5EF4-FFF2-40B4-BE49-F238E27FC236}">
                <a16:creationId xmlns:a16="http://schemas.microsoft.com/office/drawing/2014/main" id="{F527ED1D-EBAC-4295-8F7A-87F3C507FF08}"/>
              </a:ext>
            </a:extLst>
          </p:cNvPr>
          <p:cNvSpPr>
            <a:spLocks noChangeArrowheads="1"/>
          </p:cNvSpPr>
          <p:nvPr/>
        </p:nvSpPr>
        <p:spPr bwMode="auto">
          <a:xfrm>
            <a:off x="8001000" y="3505200"/>
            <a:ext cx="457200" cy="457200"/>
          </a:xfrm>
          <a:prstGeom prst="ellipse">
            <a:avLst/>
          </a:prstGeom>
          <a:gradFill rotWithShape="0">
            <a:gsLst>
              <a:gs pos="0">
                <a:schemeClr val="tx1"/>
              </a:gs>
              <a:gs pos="100000">
                <a:schemeClr val="tx1">
                  <a:gamma/>
                  <a:shade val="46275"/>
                  <a:invGamma/>
                </a:schemeClr>
              </a:gs>
            </a:gsLst>
            <a:path path="rect">
              <a:fillToRect r="100000" b="100000"/>
            </a:path>
          </a:gradFill>
          <a:ln w="9525">
            <a:solidFill>
              <a:schemeClr val="bg1"/>
            </a:solidFill>
            <a:round/>
            <a:headEnd/>
            <a:tailEnd/>
          </a:ln>
          <a:effectLst/>
        </p:spPr>
        <p:txBody>
          <a:bodyPr wrap="none" anchor="ctr"/>
          <a:lstStyle/>
          <a:p>
            <a:pPr eaLnBrk="1" fontAlgn="auto" hangingPunct="1">
              <a:spcBef>
                <a:spcPts val="0"/>
              </a:spcBef>
              <a:spcAft>
                <a:spcPts val="0"/>
              </a:spcAft>
              <a:defRPr/>
            </a:pPr>
            <a:endParaRPr lang="zh-CN" altLang="en-US">
              <a:latin typeface="+mn-lt"/>
              <a:ea typeface="+mn-ea"/>
            </a:endParaRPr>
          </a:p>
        </p:txBody>
      </p:sp>
      <p:sp>
        <p:nvSpPr>
          <p:cNvPr id="35902" name="Text Box 1087">
            <a:extLst>
              <a:ext uri="{FF2B5EF4-FFF2-40B4-BE49-F238E27FC236}">
                <a16:creationId xmlns:a16="http://schemas.microsoft.com/office/drawing/2014/main" id="{36C717D3-7D9D-4237-951D-0640F6C55099}"/>
              </a:ext>
            </a:extLst>
          </p:cNvPr>
          <p:cNvSpPr txBox="1">
            <a:spLocks noChangeArrowheads="1"/>
          </p:cNvSpPr>
          <p:nvPr/>
        </p:nvSpPr>
        <p:spPr bwMode="auto">
          <a:xfrm>
            <a:off x="7058025" y="3505200"/>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10</a:t>
            </a:r>
            <a:endParaRPr lang="en-US" altLang="zh-CN" sz="3200"/>
          </a:p>
        </p:txBody>
      </p:sp>
      <p:sp>
        <p:nvSpPr>
          <p:cNvPr id="35903" name="Text Box 1088">
            <a:extLst>
              <a:ext uri="{FF2B5EF4-FFF2-40B4-BE49-F238E27FC236}">
                <a16:creationId xmlns:a16="http://schemas.microsoft.com/office/drawing/2014/main" id="{5B8DC32C-274C-4E7B-9936-7BDE4546A8DB}"/>
              </a:ext>
            </a:extLst>
          </p:cNvPr>
          <p:cNvSpPr txBox="1">
            <a:spLocks noChangeArrowheads="1"/>
          </p:cNvSpPr>
          <p:nvPr/>
        </p:nvSpPr>
        <p:spPr bwMode="auto">
          <a:xfrm>
            <a:off x="6756400" y="4495800"/>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12</a:t>
            </a:r>
            <a:endParaRPr lang="en-US" altLang="zh-CN" sz="3200"/>
          </a:p>
        </p:txBody>
      </p:sp>
      <p:sp>
        <p:nvSpPr>
          <p:cNvPr id="35904" name="Text Box 1089">
            <a:extLst>
              <a:ext uri="{FF2B5EF4-FFF2-40B4-BE49-F238E27FC236}">
                <a16:creationId xmlns:a16="http://schemas.microsoft.com/office/drawing/2014/main" id="{FD9B6536-A38D-452D-9B05-633F33894704}"/>
              </a:ext>
            </a:extLst>
          </p:cNvPr>
          <p:cNvSpPr txBox="1">
            <a:spLocks noChangeArrowheads="1"/>
          </p:cNvSpPr>
          <p:nvPr/>
        </p:nvSpPr>
        <p:spPr bwMode="auto">
          <a:xfrm>
            <a:off x="6235700" y="4495800"/>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11</a:t>
            </a:r>
            <a:endParaRPr lang="en-US" altLang="zh-CN" sz="3200"/>
          </a:p>
        </p:txBody>
      </p:sp>
      <p:sp>
        <p:nvSpPr>
          <p:cNvPr id="35905" name="Text Box 1090">
            <a:extLst>
              <a:ext uri="{FF2B5EF4-FFF2-40B4-BE49-F238E27FC236}">
                <a16:creationId xmlns:a16="http://schemas.microsoft.com/office/drawing/2014/main" id="{FD8F218A-86DD-4750-80DC-F6785DD1E0C0}"/>
              </a:ext>
            </a:extLst>
          </p:cNvPr>
          <p:cNvSpPr txBox="1">
            <a:spLocks noChangeArrowheads="1"/>
          </p:cNvSpPr>
          <p:nvPr/>
        </p:nvSpPr>
        <p:spPr bwMode="auto">
          <a:xfrm>
            <a:off x="7607300" y="2590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5</a:t>
            </a:r>
            <a:endParaRPr lang="en-US" altLang="zh-CN" sz="3200"/>
          </a:p>
        </p:txBody>
      </p:sp>
      <p:sp>
        <p:nvSpPr>
          <p:cNvPr id="35906" name="Text Box 1091">
            <a:extLst>
              <a:ext uri="{FF2B5EF4-FFF2-40B4-BE49-F238E27FC236}">
                <a16:creationId xmlns:a16="http://schemas.microsoft.com/office/drawing/2014/main" id="{CC64DCC8-882E-4F44-AB73-F57037452903}"/>
              </a:ext>
            </a:extLst>
          </p:cNvPr>
          <p:cNvSpPr txBox="1">
            <a:spLocks noChangeArrowheads="1"/>
          </p:cNvSpPr>
          <p:nvPr/>
        </p:nvSpPr>
        <p:spPr bwMode="auto">
          <a:xfrm>
            <a:off x="6616700" y="16764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1</a:t>
            </a:r>
            <a:endParaRPr lang="en-US" altLang="zh-CN" sz="3200"/>
          </a:p>
        </p:txBody>
      </p:sp>
      <p:sp>
        <p:nvSpPr>
          <p:cNvPr id="35907" name="Text Box 1092">
            <a:extLst>
              <a:ext uri="{FF2B5EF4-FFF2-40B4-BE49-F238E27FC236}">
                <a16:creationId xmlns:a16="http://schemas.microsoft.com/office/drawing/2014/main" id="{866679F3-6889-47D1-B948-451DE89AD9E5}"/>
              </a:ext>
            </a:extLst>
          </p:cNvPr>
          <p:cNvSpPr txBox="1">
            <a:spLocks noChangeArrowheads="1"/>
          </p:cNvSpPr>
          <p:nvPr/>
        </p:nvSpPr>
        <p:spPr bwMode="auto">
          <a:xfrm>
            <a:off x="5549900" y="2590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2</a:t>
            </a:r>
            <a:endParaRPr lang="en-US" altLang="zh-CN" sz="3200"/>
          </a:p>
        </p:txBody>
      </p:sp>
      <p:sp>
        <p:nvSpPr>
          <p:cNvPr id="35908" name="Text Box 1093">
            <a:extLst>
              <a:ext uri="{FF2B5EF4-FFF2-40B4-BE49-F238E27FC236}">
                <a16:creationId xmlns:a16="http://schemas.microsoft.com/office/drawing/2014/main" id="{E852312A-DA7F-4665-8D07-5EA4BDC7E01A}"/>
              </a:ext>
            </a:extLst>
          </p:cNvPr>
          <p:cNvSpPr txBox="1">
            <a:spLocks noChangeArrowheads="1"/>
          </p:cNvSpPr>
          <p:nvPr/>
        </p:nvSpPr>
        <p:spPr bwMode="auto">
          <a:xfrm>
            <a:off x="6007100" y="35052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3</a:t>
            </a:r>
            <a:endParaRPr lang="en-US" altLang="zh-CN" sz="3200"/>
          </a:p>
        </p:txBody>
      </p:sp>
      <p:sp>
        <p:nvSpPr>
          <p:cNvPr id="35909" name="Text Box 1094">
            <a:extLst>
              <a:ext uri="{FF2B5EF4-FFF2-40B4-BE49-F238E27FC236}">
                <a16:creationId xmlns:a16="http://schemas.microsoft.com/office/drawing/2014/main" id="{DC3E6224-0DDD-44B1-89EB-4E5C3048CAD7}"/>
              </a:ext>
            </a:extLst>
          </p:cNvPr>
          <p:cNvSpPr txBox="1">
            <a:spLocks noChangeArrowheads="1"/>
          </p:cNvSpPr>
          <p:nvPr/>
        </p:nvSpPr>
        <p:spPr bwMode="auto">
          <a:xfrm>
            <a:off x="5029200" y="35052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6</a:t>
            </a:r>
            <a:endParaRPr lang="en-US" altLang="zh-CN" sz="3200"/>
          </a:p>
        </p:txBody>
      </p:sp>
      <p:sp>
        <p:nvSpPr>
          <p:cNvPr id="35910" name="Text Box 1095">
            <a:extLst>
              <a:ext uri="{FF2B5EF4-FFF2-40B4-BE49-F238E27FC236}">
                <a16:creationId xmlns:a16="http://schemas.microsoft.com/office/drawing/2014/main" id="{149DD18A-F529-4B48-BFBD-541DDF11A140}"/>
              </a:ext>
            </a:extLst>
          </p:cNvPr>
          <p:cNvSpPr txBox="1">
            <a:spLocks noChangeArrowheads="1"/>
          </p:cNvSpPr>
          <p:nvPr/>
        </p:nvSpPr>
        <p:spPr bwMode="auto">
          <a:xfrm>
            <a:off x="52451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9</a:t>
            </a:r>
            <a:endParaRPr lang="en-US" altLang="zh-CN" sz="3200"/>
          </a:p>
        </p:txBody>
      </p:sp>
      <p:sp>
        <p:nvSpPr>
          <p:cNvPr id="35911" name="Text Box 1096">
            <a:extLst>
              <a:ext uri="{FF2B5EF4-FFF2-40B4-BE49-F238E27FC236}">
                <a16:creationId xmlns:a16="http://schemas.microsoft.com/office/drawing/2014/main" id="{B1CA29BA-C32C-44DA-B9A5-146E3FD9E12B}"/>
              </a:ext>
            </a:extLst>
          </p:cNvPr>
          <p:cNvSpPr txBox="1">
            <a:spLocks noChangeArrowheads="1"/>
          </p:cNvSpPr>
          <p:nvPr/>
        </p:nvSpPr>
        <p:spPr bwMode="auto">
          <a:xfrm>
            <a:off x="4724400" y="44958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8</a:t>
            </a:r>
            <a:endParaRPr lang="en-US" altLang="zh-CN" sz="3200"/>
          </a:p>
        </p:txBody>
      </p:sp>
      <p:sp>
        <p:nvSpPr>
          <p:cNvPr id="35912" name="Text Box 1097">
            <a:extLst>
              <a:ext uri="{FF2B5EF4-FFF2-40B4-BE49-F238E27FC236}">
                <a16:creationId xmlns:a16="http://schemas.microsoft.com/office/drawing/2014/main" id="{E4BDF733-93A8-4622-B86A-A1956776F507}"/>
              </a:ext>
            </a:extLst>
          </p:cNvPr>
          <p:cNvSpPr txBox="1">
            <a:spLocks noChangeArrowheads="1"/>
          </p:cNvSpPr>
          <p:nvPr/>
        </p:nvSpPr>
        <p:spPr bwMode="auto">
          <a:xfrm>
            <a:off x="8064500" y="35052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7</a:t>
            </a:r>
            <a:endParaRPr lang="en-US" altLang="zh-CN" sz="3200"/>
          </a:p>
        </p:txBody>
      </p:sp>
      <p:sp>
        <p:nvSpPr>
          <p:cNvPr id="35913" name="标题 1">
            <a:extLst>
              <a:ext uri="{FF2B5EF4-FFF2-40B4-BE49-F238E27FC236}">
                <a16:creationId xmlns:a16="http://schemas.microsoft.com/office/drawing/2014/main" id="{764F4AC1-5608-4B67-B1BF-BF12B026BF9A}"/>
              </a:ext>
            </a:extLst>
          </p:cNvPr>
          <p:cNvSpPr>
            <a:spLocks noGrp="1" noChangeArrowheads="1"/>
          </p:cNvSpPr>
          <p:nvPr>
            <p:ph type="title"/>
          </p:nvPr>
        </p:nvSpPr>
        <p:spPr/>
        <p:txBody>
          <a:bodyPr/>
          <a:lstStyle/>
          <a:p>
            <a:r>
              <a:rPr lang="zh-CN" altLang="en-US" dirty="0"/>
              <a:t>特殊的树结构</a:t>
            </a:r>
            <a:r>
              <a:rPr lang="en-US" altLang="zh-CN" dirty="0"/>
              <a:t>--</a:t>
            </a:r>
            <a:r>
              <a:rPr lang="zh-CN" altLang="en-US" dirty="0"/>
              <a:t>堆结构</a:t>
            </a:r>
          </a:p>
        </p:txBody>
      </p:sp>
      <p:sp>
        <p:nvSpPr>
          <p:cNvPr id="3" name="灯片编号占位符 2">
            <a:extLst>
              <a:ext uri="{FF2B5EF4-FFF2-40B4-BE49-F238E27FC236}">
                <a16:creationId xmlns:a16="http://schemas.microsoft.com/office/drawing/2014/main" id="{A403071B-7D51-4E0C-88E2-88E0E6BF84EF}"/>
              </a:ext>
            </a:extLst>
          </p:cNvPr>
          <p:cNvSpPr>
            <a:spLocks noGrp="1"/>
          </p:cNvSpPr>
          <p:nvPr>
            <p:ph type="sldNum" sz="quarter" idx="12"/>
          </p:nvPr>
        </p:nvSpPr>
        <p:spPr/>
        <p:txBody>
          <a:bodyPr/>
          <a:lstStyle/>
          <a:p>
            <a:pPr>
              <a:defRPr/>
            </a:pPr>
            <a:fld id="{82DCBBDC-3267-42CC-BE13-A37D0F49A4FE}" type="slidenum">
              <a:rPr lang="en-US" altLang="zh-CN" smtClean="0"/>
              <a:pPr>
                <a:defRPr/>
              </a:pPr>
              <a:t>22</a:t>
            </a:fld>
            <a:endParaRPr lang="en-US" altLang="zh-CN"/>
          </a:p>
        </p:txBody>
      </p:sp>
    </p:spTree>
  </p:cSld>
  <p:clrMapOvr>
    <a:masterClrMapping/>
  </p:clrMapOvr>
  <p:transition>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Line 1026">
            <a:extLst>
              <a:ext uri="{FF2B5EF4-FFF2-40B4-BE49-F238E27FC236}">
                <a16:creationId xmlns:a16="http://schemas.microsoft.com/office/drawing/2014/main" id="{DC71C89F-9FC8-4C63-96DF-5C643E3B9ECC}"/>
              </a:ext>
            </a:extLst>
          </p:cNvPr>
          <p:cNvSpPr>
            <a:spLocks noChangeShapeType="1"/>
          </p:cNvSpPr>
          <p:nvPr/>
        </p:nvSpPr>
        <p:spPr bwMode="auto">
          <a:xfrm flipH="1">
            <a:off x="1882775" y="2455863"/>
            <a:ext cx="533400" cy="7620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7" name="Line 1027">
            <a:extLst>
              <a:ext uri="{FF2B5EF4-FFF2-40B4-BE49-F238E27FC236}">
                <a16:creationId xmlns:a16="http://schemas.microsoft.com/office/drawing/2014/main" id="{777BE79D-2F33-4755-9BC7-FA7EE93D01A9}"/>
              </a:ext>
            </a:extLst>
          </p:cNvPr>
          <p:cNvSpPr>
            <a:spLocks noChangeShapeType="1"/>
          </p:cNvSpPr>
          <p:nvPr/>
        </p:nvSpPr>
        <p:spPr bwMode="auto">
          <a:xfrm flipH="1">
            <a:off x="2720975" y="3598863"/>
            <a:ext cx="685800" cy="9144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8" name="Line 1028">
            <a:extLst>
              <a:ext uri="{FF2B5EF4-FFF2-40B4-BE49-F238E27FC236}">
                <a16:creationId xmlns:a16="http://schemas.microsoft.com/office/drawing/2014/main" id="{3A5AAA60-4C18-460C-B8F2-A9155EF6E913}"/>
              </a:ext>
            </a:extLst>
          </p:cNvPr>
          <p:cNvSpPr>
            <a:spLocks noChangeShapeType="1"/>
          </p:cNvSpPr>
          <p:nvPr/>
        </p:nvSpPr>
        <p:spPr bwMode="auto">
          <a:xfrm flipH="1">
            <a:off x="1044575" y="3522663"/>
            <a:ext cx="609600" cy="9906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69" name="Line 1029">
            <a:extLst>
              <a:ext uri="{FF2B5EF4-FFF2-40B4-BE49-F238E27FC236}">
                <a16:creationId xmlns:a16="http://schemas.microsoft.com/office/drawing/2014/main" id="{AF8ED82B-C8CE-4A82-A239-843A2022C6A0}"/>
              </a:ext>
            </a:extLst>
          </p:cNvPr>
          <p:cNvSpPr>
            <a:spLocks noChangeShapeType="1"/>
          </p:cNvSpPr>
          <p:nvPr/>
        </p:nvSpPr>
        <p:spPr bwMode="auto">
          <a:xfrm>
            <a:off x="1806575" y="3522663"/>
            <a:ext cx="685800" cy="9906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0102" name="Text Box 1030">
            <a:extLst>
              <a:ext uri="{FF2B5EF4-FFF2-40B4-BE49-F238E27FC236}">
                <a16:creationId xmlns:a16="http://schemas.microsoft.com/office/drawing/2014/main" id="{018B9100-9857-4797-87E7-66D40474F25F}"/>
              </a:ext>
            </a:extLst>
          </p:cNvPr>
          <p:cNvSpPr txBox="1">
            <a:spLocks noChangeArrowheads="1"/>
          </p:cNvSpPr>
          <p:nvPr/>
        </p:nvSpPr>
        <p:spPr bwMode="auto">
          <a:xfrm>
            <a:off x="1044575" y="5275263"/>
            <a:ext cx="6781800" cy="663575"/>
          </a:xfrm>
          <a:prstGeom prst="rect">
            <a:avLst/>
          </a:prstGeom>
          <a:noFill/>
          <a:ln>
            <a:noFill/>
          </a:ln>
          <a:effectLst/>
        </p:spPr>
        <p:txBody>
          <a:bodyPr lIns="112947" tIns="56473" rIns="112947" bIns="56473">
            <a:spAutoFit/>
          </a:bodyPr>
          <a:lstStyle>
            <a:lvl1pPr defTabSz="1128713">
              <a:defRPr kumimoji="1" sz="2400">
                <a:solidFill>
                  <a:schemeClr val="tx1"/>
                </a:solidFill>
                <a:latin typeface="Times New Roman" panose="02020603050405020304" pitchFamily="18" charset="0"/>
                <a:ea typeface="宋体" panose="02010600030101010101" pitchFamily="2" charset="-122"/>
              </a:defRPr>
            </a:lvl1pPr>
            <a:lvl2pPr marL="565150" defTabSz="1128713">
              <a:defRPr kumimoji="1" sz="2400">
                <a:solidFill>
                  <a:schemeClr val="tx1"/>
                </a:solidFill>
                <a:latin typeface="Times New Roman" panose="02020603050405020304" pitchFamily="18" charset="0"/>
                <a:ea typeface="宋体" panose="02010600030101010101" pitchFamily="2" charset="-122"/>
              </a:defRPr>
            </a:lvl2pPr>
            <a:lvl3pPr marL="1128713" defTabSz="1128713">
              <a:defRPr kumimoji="1" sz="2400">
                <a:solidFill>
                  <a:schemeClr val="tx1"/>
                </a:solidFill>
                <a:latin typeface="Times New Roman" panose="02020603050405020304" pitchFamily="18" charset="0"/>
                <a:ea typeface="宋体" panose="02010600030101010101" pitchFamily="2" charset="-122"/>
              </a:defRPr>
            </a:lvl3pPr>
            <a:lvl4pPr marL="1693863" defTabSz="1128713">
              <a:defRPr kumimoji="1" sz="2400">
                <a:solidFill>
                  <a:schemeClr val="tx1"/>
                </a:solidFill>
                <a:latin typeface="Times New Roman" panose="02020603050405020304" pitchFamily="18" charset="0"/>
                <a:ea typeface="宋体" panose="02010600030101010101" pitchFamily="2" charset="-122"/>
              </a:defRPr>
            </a:lvl4pPr>
            <a:lvl5pPr marL="2259013" defTabSz="1128713">
              <a:defRPr kumimoji="1" sz="2400">
                <a:solidFill>
                  <a:schemeClr val="tx1"/>
                </a:solidFill>
                <a:latin typeface="Times New Roman" panose="02020603050405020304" pitchFamily="18" charset="0"/>
                <a:ea typeface="宋体" panose="02010600030101010101" pitchFamily="2" charset="-122"/>
              </a:defRPr>
            </a:lvl5pPr>
            <a:lvl6pPr marL="27162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1734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306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87813" defTabSz="1128713"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3600" b="1" dirty="0">
                <a:solidFill>
                  <a:srgbClr val="CC0000"/>
                </a:solidFill>
                <a:effectLst>
                  <a:outerShdw blurRad="38100" dist="38100" dir="2700000" algn="tl">
                    <a:srgbClr val="C0C0C0"/>
                  </a:outerShdw>
                </a:effectLst>
                <a:latin typeface="楷体_GB2312" pitchFamily="49" charset="-122"/>
                <a:ea typeface="楷体_GB2312" pitchFamily="49" charset="-122"/>
              </a:rPr>
              <a:t>图结构                      网络结构</a:t>
            </a:r>
            <a:endParaRPr lang="zh-CN" altLang="en-US" sz="3000" dirty="0"/>
          </a:p>
        </p:txBody>
      </p:sp>
      <p:sp>
        <p:nvSpPr>
          <p:cNvPr id="36871" name="Oval 1031">
            <a:extLst>
              <a:ext uri="{FF2B5EF4-FFF2-40B4-BE49-F238E27FC236}">
                <a16:creationId xmlns:a16="http://schemas.microsoft.com/office/drawing/2014/main" id="{47E2A039-F553-4A48-A256-0A6650999BA7}"/>
              </a:ext>
            </a:extLst>
          </p:cNvPr>
          <p:cNvSpPr>
            <a:spLocks noChangeArrowheads="1"/>
          </p:cNvSpPr>
          <p:nvPr/>
        </p:nvSpPr>
        <p:spPr bwMode="auto">
          <a:xfrm>
            <a:off x="663575" y="20748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72" name="Text Box 1032">
            <a:extLst>
              <a:ext uri="{FF2B5EF4-FFF2-40B4-BE49-F238E27FC236}">
                <a16:creationId xmlns:a16="http://schemas.microsoft.com/office/drawing/2014/main" id="{A13B8CA0-4B1B-4E2C-83D9-BB7B7ABC7406}"/>
              </a:ext>
            </a:extLst>
          </p:cNvPr>
          <p:cNvSpPr txBox="1">
            <a:spLocks noChangeArrowheads="1"/>
          </p:cNvSpPr>
          <p:nvPr/>
        </p:nvSpPr>
        <p:spPr bwMode="auto">
          <a:xfrm>
            <a:off x="739775" y="20732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1</a:t>
            </a:r>
            <a:endParaRPr lang="en-US" altLang="zh-CN" sz="3200"/>
          </a:p>
        </p:txBody>
      </p:sp>
      <p:sp>
        <p:nvSpPr>
          <p:cNvPr id="36873" name="Oval 1033">
            <a:extLst>
              <a:ext uri="{FF2B5EF4-FFF2-40B4-BE49-F238E27FC236}">
                <a16:creationId xmlns:a16="http://schemas.microsoft.com/office/drawing/2014/main" id="{CA9A8DFC-89ED-4426-9FA2-4BF41E3762AD}"/>
              </a:ext>
            </a:extLst>
          </p:cNvPr>
          <p:cNvSpPr>
            <a:spLocks noChangeArrowheads="1"/>
          </p:cNvSpPr>
          <p:nvPr/>
        </p:nvSpPr>
        <p:spPr bwMode="auto">
          <a:xfrm>
            <a:off x="2339975" y="20748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74" name="Oval 1034">
            <a:extLst>
              <a:ext uri="{FF2B5EF4-FFF2-40B4-BE49-F238E27FC236}">
                <a16:creationId xmlns:a16="http://schemas.microsoft.com/office/drawing/2014/main" id="{BA124A12-5AF2-433A-9F65-BBED0D5CAC45}"/>
              </a:ext>
            </a:extLst>
          </p:cNvPr>
          <p:cNvSpPr>
            <a:spLocks noChangeArrowheads="1"/>
          </p:cNvSpPr>
          <p:nvPr/>
        </p:nvSpPr>
        <p:spPr bwMode="auto">
          <a:xfrm>
            <a:off x="663575" y="44370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75" name="Oval 1035">
            <a:extLst>
              <a:ext uri="{FF2B5EF4-FFF2-40B4-BE49-F238E27FC236}">
                <a16:creationId xmlns:a16="http://schemas.microsoft.com/office/drawing/2014/main" id="{706E937B-F4FF-4435-AE6B-AAECC4CC490C}"/>
              </a:ext>
            </a:extLst>
          </p:cNvPr>
          <p:cNvSpPr>
            <a:spLocks noChangeArrowheads="1"/>
          </p:cNvSpPr>
          <p:nvPr/>
        </p:nvSpPr>
        <p:spPr bwMode="auto">
          <a:xfrm>
            <a:off x="2339975" y="44370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76" name="Line 1036">
            <a:extLst>
              <a:ext uri="{FF2B5EF4-FFF2-40B4-BE49-F238E27FC236}">
                <a16:creationId xmlns:a16="http://schemas.microsoft.com/office/drawing/2014/main" id="{FC4758AF-BFE7-42C1-9DE3-4DABADDDB38E}"/>
              </a:ext>
            </a:extLst>
          </p:cNvPr>
          <p:cNvSpPr>
            <a:spLocks noChangeShapeType="1"/>
          </p:cNvSpPr>
          <p:nvPr/>
        </p:nvSpPr>
        <p:spPr bwMode="auto">
          <a:xfrm>
            <a:off x="892175" y="2532063"/>
            <a:ext cx="0" cy="190500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7" name="Line 1037">
            <a:extLst>
              <a:ext uri="{FF2B5EF4-FFF2-40B4-BE49-F238E27FC236}">
                <a16:creationId xmlns:a16="http://schemas.microsoft.com/office/drawing/2014/main" id="{AE8CFFFD-E343-4466-AD15-392AF4E15C6F}"/>
              </a:ext>
            </a:extLst>
          </p:cNvPr>
          <p:cNvSpPr>
            <a:spLocks noChangeShapeType="1"/>
          </p:cNvSpPr>
          <p:nvPr/>
        </p:nvSpPr>
        <p:spPr bwMode="auto">
          <a:xfrm>
            <a:off x="1120775" y="4665663"/>
            <a:ext cx="1219200" cy="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8" name="Line 1038">
            <a:extLst>
              <a:ext uri="{FF2B5EF4-FFF2-40B4-BE49-F238E27FC236}">
                <a16:creationId xmlns:a16="http://schemas.microsoft.com/office/drawing/2014/main" id="{F30ECDCB-0422-4EF0-91A1-0EDBF0E19801}"/>
              </a:ext>
            </a:extLst>
          </p:cNvPr>
          <p:cNvSpPr>
            <a:spLocks noChangeShapeType="1"/>
          </p:cNvSpPr>
          <p:nvPr/>
        </p:nvSpPr>
        <p:spPr bwMode="auto">
          <a:xfrm>
            <a:off x="1120775" y="2303463"/>
            <a:ext cx="1219200" cy="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79" name="Oval 1039">
            <a:extLst>
              <a:ext uri="{FF2B5EF4-FFF2-40B4-BE49-F238E27FC236}">
                <a16:creationId xmlns:a16="http://schemas.microsoft.com/office/drawing/2014/main" id="{62DA3602-9A15-4F9C-9475-4F3E6851AF02}"/>
              </a:ext>
            </a:extLst>
          </p:cNvPr>
          <p:cNvSpPr>
            <a:spLocks noChangeArrowheads="1"/>
          </p:cNvSpPr>
          <p:nvPr/>
        </p:nvSpPr>
        <p:spPr bwMode="auto">
          <a:xfrm>
            <a:off x="1501775" y="31416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80" name="Oval 1040">
            <a:extLst>
              <a:ext uri="{FF2B5EF4-FFF2-40B4-BE49-F238E27FC236}">
                <a16:creationId xmlns:a16="http://schemas.microsoft.com/office/drawing/2014/main" id="{700E8F21-129A-4E41-805F-E37F5417F0C5}"/>
              </a:ext>
            </a:extLst>
          </p:cNvPr>
          <p:cNvSpPr>
            <a:spLocks noChangeArrowheads="1"/>
          </p:cNvSpPr>
          <p:nvPr/>
        </p:nvSpPr>
        <p:spPr bwMode="auto">
          <a:xfrm>
            <a:off x="3254375" y="32178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81" name="Line 1041">
            <a:extLst>
              <a:ext uri="{FF2B5EF4-FFF2-40B4-BE49-F238E27FC236}">
                <a16:creationId xmlns:a16="http://schemas.microsoft.com/office/drawing/2014/main" id="{3FDFB9C6-EDE1-4D8A-9BC9-6E49200F2851}"/>
              </a:ext>
            </a:extLst>
          </p:cNvPr>
          <p:cNvSpPr>
            <a:spLocks noChangeShapeType="1"/>
          </p:cNvSpPr>
          <p:nvPr/>
        </p:nvSpPr>
        <p:spPr bwMode="auto">
          <a:xfrm>
            <a:off x="2720975" y="2455863"/>
            <a:ext cx="609600" cy="8382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2" name="Line 1042">
            <a:extLst>
              <a:ext uri="{FF2B5EF4-FFF2-40B4-BE49-F238E27FC236}">
                <a16:creationId xmlns:a16="http://schemas.microsoft.com/office/drawing/2014/main" id="{09F00C37-AA9D-4C38-9654-3E744B167B78}"/>
              </a:ext>
            </a:extLst>
          </p:cNvPr>
          <p:cNvSpPr>
            <a:spLocks noChangeShapeType="1"/>
          </p:cNvSpPr>
          <p:nvPr/>
        </p:nvSpPr>
        <p:spPr bwMode="auto">
          <a:xfrm>
            <a:off x="1044575" y="2455863"/>
            <a:ext cx="533400" cy="7620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3" name="Line 1043">
            <a:extLst>
              <a:ext uri="{FF2B5EF4-FFF2-40B4-BE49-F238E27FC236}">
                <a16:creationId xmlns:a16="http://schemas.microsoft.com/office/drawing/2014/main" id="{20AC410A-97D4-46BB-9ADA-138362770189}"/>
              </a:ext>
            </a:extLst>
          </p:cNvPr>
          <p:cNvSpPr>
            <a:spLocks noChangeShapeType="1"/>
          </p:cNvSpPr>
          <p:nvPr/>
        </p:nvSpPr>
        <p:spPr bwMode="auto">
          <a:xfrm>
            <a:off x="2568575" y="2532063"/>
            <a:ext cx="0" cy="190500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84" name="Text Box 1044">
            <a:extLst>
              <a:ext uri="{FF2B5EF4-FFF2-40B4-BE49-F238E27FC236}">
                <a16:creationId xmlns:a16="http://schemas.microsoft.com/office/drawing/2014/main" id="{A686CB33-D457-4B5C-B5A2-7D71EC77A613}"/>
              </a:ext>
            </a:extLst>
          </p:cNvPr>
          <p:cNvSpPr txBox="1">
            <a:spLocks noChangeArrowheads="1"/>
          </p:cNvSpPr>
          <p:nvPr/>
        </p:nvSpPr>
        <p:spPr bwMode="auto">
          <a:xfrm>
            <a:off x="2416175" y="20732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2</a:t>
            </a:r>
            <a:endParaRPr lang="en-US" altLang="zh-CN" sz="3200"/>
          </a:p>
        </p:txBody>
      </p:sp>
      <p:sp>
        <p:nvSpPr>
          <p:cNvPr id="36885" name="Text Box 1045">
            <a:extLst>
              <a:ext uri="{FF2B5EF4-FFF2-40B4-BE49-F238E27FC236}">
                <a16:creationId xmlns:a16="http://schemas.microsoft.com/office/drawing/2014/main" id="{677A030F-D98C-42EB-A073-9E69EB148FA8}"/>
              </a:ext>
            </a:extLst>
          </p:cNvPr>
          <p:cNvSpPr txBox="1">
            <a:spLocks noChangeArrowheads="1"/>
          </p:cNvSpPr>
          <p:nvPr/>
        </p:nvSpPr>
        <p:spPr bwMode="auto">
          <a:xfrm>
            <a:off x="739775" y="44370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5</a:t>
            </a:r>
            <a:endParaRPr lang="en-US" altLang="zh-CN" sz="3200"/>
          </a:p>
        </p:txBody>
      </p:sp>
      <p:sp>
        <p:nvSpPr>
          <p:cNvPr id="36886" name="Text Box 1046">
            <a:extLst>
              <a:ext uri="{FF2B5EF4-FFF2-40B4-BE49-F238E27FC236}">
                <a16:creationId xmlns:a16="http://schemas.microsoft.com/office/drawing/2014/main" id="{AE5C8561-E34F-4615-973C-483902AB4D60}"/>
              </a:ext>
            </a:extLst>
          </p:cNvPr>
          <p:cNvSpPr txBox="1">
            <a:spLocks noChangeArrowheads="1"/>
          </p:cNvSpPr>
          <p:nvPr/>
        </p:nvSpPr>
        <p:spPr bwMode="auto">
          <a:xfrm>
            <a:off x="1577975" y="31416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6</a:t>
            </a:r>
            <a:endParaRPr lang="en-US" altLang="zh-CN" sz="3200"/>
          </a:p>
        </p:txBody>
      </p:sp>
      <p:sp>
        <p:nvSpPr>
          <p:cNvPr id="36887" name="Text Box 1047">
            <a:extLst>
              <a:ext uri="{FF2B5EF4-FFF2-40B4-BE49-F238E27FC236}">
                <a16:creationId xmlns:a16="http://schemas.microsoft.com/office/drawing/2014/main" id="{A6829AEA-B81B-4082-B095-3D43A01D69FC}"/>
              </a:ext>
            </a:extLst>
          </p:cNvPr>
          <p:cNvSpPr txBox="1">
            <a:spLocks noChangeArrowheads="1"/>
          </p:cNvSpPr>
          <p:nvPr/>
        </p:nvSpPr>
        <p:spPr bwMode="auto">
          <a:xfrm>
            <a:off x="2416175" y="44370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4</a:t>
            </a:r>
            <a:endParaRPr lang="en-US" altLang="zh-CN" sz="3200"/>
          </a:p>
        </p:txBody>
      </p:sp>
      <p:sp>
        <p:nvSpPr>
          <p:cNvPr id="36888" name="Text Box 1048">
            <a:extLst>
              <a:ext uri="{FF2B5EF4-FFF2-40B4-BE49-F238E27FC236}">
                <a16:creationId xmlns:a16="http://schemas.microsoft.com/office/drawing/2014/main" id="{560EE6D6-75CA-43CC-91F5-273DBAE1EC45}"/>
              </a:ext>
            </a:extLst>
          </p:cNvPr>
          <p:cNvSpPr txBox="1">
            <a:spLocks noChangeArrowheads="1"/>
          </p:cNvSpPr>
          <p:nvPr/>
        </p:nvSpPr>
        <p:spPr bwMode="auto">
          <a:xfrm>
            <a:off x="3330575" y="32178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3</a:t>
            </a:r>
            <a:endParaRPr lang="en-US" altLang="zh-CN" sz="3200"/>
          </a:p>
        </p:txBody>
      </p:sp>
      <p:sp>
        <p:nvSpPr>
          <p:cNvPr id="36889" name="Line 1049">
            <a:extLst>
              <a:ext uri="{FF2B5EF4-FFF2-40B4-BE49-F238E27FC236}">
                <a16:creationId xmlns:a16="http://schemas.microsoft.com/office/drawing/2014/main" id="{8085E4AD-183E-4399-A096-341BD26CE687}"/>
              </a:ext>
            </a:extLst>
          </p:cNvPr>
          <p:cNvSpPr>
            <a:spLocks noChangeShapeType="1"/>
          </p:cNvSpPr>
          <p:nvPr/>
        </p:nvSpPr>
        <p:spPr bwMode="auto">
          <a:xfrm flipH="1">
            <a:off x="6302375" y="2457450"/>
            <a:ext cx="533400" cy="7620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0" name="Line 1050">
            <a:extLst>
              <a:ext uri="{FF2B5EF4-FFF2-40B4-BE49-F238E27FC236}">
                <a16:creationId xmlns:a16="http://schemas.microsoft.com/office/drawing/2014/main" id="{639CC9B0-221B-41A4-8319-83F6C5E95D75}"/>
              </a:ext>
            </a:extLst>
          </p:cNvPr>
          <p:cNvSpPr>
            <a:spLocks noChangeShapeType="1"/>
          </p:cNvSpPr>
          <p:nvPr/>
        </p:nvSpPr>
        <p:spPr bwMode="auto">
          <a:xfrm flipH="1">
            <a:off x="7140575" y="3600450"/>
            <a:ext cx="685800" cy="9144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1" name="Line 1051">
            <a:extLst>
              <a:ext uri="{FF2B5EF4-FFF2-40B4-BE49-F238E27FC236}">
                <a16:creationId xmlns:a16="http://schemas.microsoft.com/office/drawing/2014/main" id="{564B61C8-1A3F-4D8F-AAD7-848401785BF9}"/>
              </a:ext>
            </a:extLst>
          </p:cNvPr>
          <p:cNvSpPr>
            <a:spLocks noChangeShapeType="1"/>
          </p:cNvSpPr>
          <p:nvPr/>
        </p:nvSpPr>
        <p:spPr bwMode="auto">
          <a:xfrm flipH="1">
            <a:off x="5464175" y="3524250"/>
            <a:ext cx="609600" cy="9906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2" name="Line 1052">
            <a:extLst>
              <a:ext uri="{FF2B5EF4-FFF2-40B4-BE49-F238E27FC236}">
                <a16:creationId xmlns:a16="http://schemas.microsoft.com/office/drawing/2014/main" id="{7050D5BD-4344-4D15-B890-860A5FEE1A9C}"/>
              </a:ext>
            </a:extLst>
          </p:cNvPr>
          <p:cNvSpPr>
            <a:spLocks noChangeShapeType="1"/>
          </p:cNvSpPr>
          <p:nvPr/>
        </p:nvSpPr>
        <p:spPr bwMode="auto">
          <a:xfrm>
            <a:off x="6226175" y="3524250"/>
            <a:ext cx="685800" cy="9906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3" name="Oval 1053">
            <a:extLst>
              <a:ext uri="{FF2B5EF4-FFF2-40B4-BE49-F238E27FC236}">
                <a16:creationId xmlns:a16="http://schemas.microsoft.com/office/drawing/2014/main" id="{945F11DC-A706-4AC3-A938-1660A3D85FB9}"/>
              </a:ext>
            </a:extLst>
          </p:cNvPr>
          <p:cNvSpPr>
            <a:spLocks noChangeArrowheads="1"/>
          </p:cNvSpPr>
          <p:nvPr/>
        </p:nvSpPr>
        <p:spPr bwMode="auto">
          <a:xfrm>
            <a:off x="5083175" y="2076450"/>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94" name="Text Box 1054">
            <a:extLst>
              <a:ext uri="{FF2B5EF4-FFF2-40B4-BE49-F238E27FC236}">
                <a16:creationId xmlns:a16="http://schemas.microsoft.com/office/drawing/2014/main" id="{76D9D8C7-F3E6-4D37-8D7E-810F8F0C2333}"/>
              </a:ext>
            </a:extLst>
          </p:cNvPr>
          <p:cNvSpPr txBox="1">
            <a:spLocks noChangeArrowheads="1"/>
          </p:cNvSpPr>
          <p:nvPr/>
        </p:nvSpPr>
        <p:spPr bwMode="auto">
          <a:xfrm>
            <a:off x="5159375" y="20748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1</a:t>
            </a:r>
            <a:endParaRPr lang="en-US" altLang="zh-CN" sz="3200"/>
          </a:p>
        </p:txBody>
      </p:sp>
      <p:sp>
        <p:nvSpPr>
          <p:cNvPr id="36895" name="Oval 1055">
            <a:extLst>
              <a:ext uri="{FF2B5EF4-FFF2-40B4-BE49-F238E27FC236}">
                <a16:creationId xmlns:a16="http://schemas.microsoft.com/office/drawing/2014/main" id="{A7C3D21C-4C23-4E76-93B9-1A45679ECC09}"/>
              </a:ext>
            </a:extLst>
          </p:cNvPr>
          <p:cNvSpPr>
            <a:spLocks noChangeArrowheads="1"/>
          </p:cNvSpPr>
          <p:nvPr/>
        </p:nvSpPr>
        <p:spPr bwMode="auto">
          <a:xfrm>
            <a:off x="6759575" y="2076450"/>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96" name="Oval 1056">
            <a:extLst>
              <a:ext uri="{FF2B5EF4-FFF2-40B4-BE49-F238E27FC236}">
                <a16:creationId xmlns:a16="http://schemas.microsoft.com/office/drawing/2014/main" id="{7E47808E-241A-487A-ABA1-61764F69B4C0}"/>
              </a:ext>
            </a:extLst>
          </p:cNvPr>
          <p:cNvSpPr>
            <a:spLocks noChangeArrowheads="1"/>
          </p:cNvSpPr>
          <p:nvPr/>
        </p:nvSpPr>
        <p:spPr bwMode="auto">
          <a:xfrm>
            <a:off x="5083175" y="4438650"/>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97" name="Oval 1057">
            <a:extLst>
              <a:ext uri="{FF2B5EF4-FFF2-40B4-BE49-F238E27FC236}">
                <a16:creationId xmlns:a16="http://schemas.microsoft.com/office/drawing/2014/main" id="{160E601D-CA28-4109-972F-19DFC661FD42}"/>
              </a:ext>
            </a:extLst>
          </p:cNvPr>
          <p:cNvSpPr>
            <a:spLocks noChangeArrowheads="1"/>
          </p:cNvSpPr>
          <p:nvPr/>
        </p:nvSpPr>
        <p:spPr bwMode="auto">
          <a:xfrm>
            <a:off x="6759575" y="4438650"/>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898" name="Line 1058">
            <a:extLst>
              <a:ext uri="{FF2B5EF4-FFF2-40B4-BE49-F238E27FC236}">
                <a16:creationId xmlns:a16="http://schemas.microsoft.com/office/drawing/2014/main" id="{DCEAE8D1-B24B-4760-8C84-63A5A4E8D7B3}"/>
              </a:ext>
            </a:extLst>
          </p:cNvPr>
          <p:cNvSpPr>
            <a:spLocks noChangeShapeType="1"/>
          </p:cNvSpPr>
          <p:nvPr/>
        </p:nvSpPr>
        <p:spPr bwMode="auto">
          <a:xfrm>
            <a:off x="5311775" y="2533650"/>
            <a:ext cx="0" cy="190500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899" name="Line 1059">
            <a:extLst>
              <a:ext uri="{FF2B5EF4-FFF2-40B4-BE49-F238E27FC236}">
                <a16:creationId xmlns:a16="http://schemas.microsoft.com/office/drawing/2014/main" id="{3C2A05A9-2129-40A7-9E69-50309A133F32}"/>
              </a:ext>
            </a:extLst>
          </p:cNvPr>
          <p:cNvSpPr>
            <a:spLocks noChangeShapeType="1"/>
          </p:cNvSpPr>
          <p:nvPr/>
        </p:nvSpPr>
        <p:spPr bwMode="auto">
          <a:xfrm>
            <a:off x="5540375" y="4667250"/>
            <a:ext cx="1219200" cy="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0" name="Line 1060">
            <a:extLst>
              <a:ext uri="{FF2B5EF4-FFF2-40B4-BE49-F238E27FC236}">
                <a16:creationId xmlns:a16="http://schemas.microsoft.com/office/drawing/2014/main" id="{95D04B8C-C813-4923-8F1F-8FCD5F55B91E}"/>
              </a:ext>
            </a:extLst>
          </p:cNvPr>
          <p:cNvSpPr>
            <a:spLocks noChangeShapeType="1"/>
          </p:cNvSpPr>
          <p:nvPr/>
        </p:nvSpPr>
        <p:spPr bwMode="auto">
          <a:xfrm>
            <a:off x="5540375" y="2305050"/>
            <a:ext cx="1219200" cy="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1" name="Oval 1061">
            <a:extLst>
              <a:ext uri="{FF2B5EF4-FFF2-40B4-BE49-F238E27FC236}">
                <a16:creationId xmlns:a16="http://schemas.microsoft.com/office/drawing/2014/main" id="{6A0B04B7-0DB0-488E-A5C0-4F8447AF75A9}"/>
              </a:ext>
            </a:extLst>
          </p:cNvPr>
          <p:cNvSpPr>
            <a:spLocks noChangeArrowheads="1"/>
          </p:cNvSpPr>
          <p:nvPr/>
        </p:nvSpPr>
        <p:spPr bwMode="auto">
          <a:xfrm>
            <a:off x="7673975" y="3219450"/>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902" name="Line 1062">
            <a:extLst>
              <a:ext uri="{FF2B5EF4-FFF2-40B4-BE49-F238E27FC236}">
                <a16:creationId xmlns:a16="http://schemas.microsoft.com/office/drawing/2014/main" id="{DE8BCCEE-D449-49A0-936E-C8934243E10F}"/>
              </a:ext>
            </a:extLst>
          </p:cNvPr>
          <p:cNvSpPr>
            <a:spLocks noChangeShapeType="1"/>
          </p:cNvSpPr>
          <p:nvPr/>
        </p:nvSpPr>
        <p:spPr bwMode="auto">
          <a:xfrm>
            <a:off x="7140575" y="2457450"/>
            <a:ext cx="609600" cy="8382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3" name="Line 1063">
            <a:extLst>
              <a:ext uri="{FF2B5EF4-FFF2-40B4-BE49-F238E27FC236}">
                <a16:creationId xmlns:a16="http://schemas.microsoft.com/office/drawing/2014/main" id="{4F6892D4-A888-4570-9966-32A1A65A5B4F}"/>
              </a:ext>
            </a:extLst>
          </p:cNvPr>
          <p:cNvSpPr>
            <a:spLocks noChangeShapeType="1"/>
          </p:cNvSpPr>
          <p:nvPr/>
        </p:nvSpPr>
        <p:spPr bwMode="auto">
          <a:xfrm>
            <a:off x="5464175" y="2457450"/>
            <a:ext cx="533400" cy="762000"/>
          </a:xfrm>
          <a:prstGeom prst="line">
            <a:avLst/>
          </a:prstGeom>
          <a:noFill/>
          <a:ln w="38100">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4" name="Line 1064">
            <a:extLst>
              <a:ext uri="{FF2B5EF4-FFF2-40B4-BE49-F238E27FC236}">
                <a16:creationId xmlns:a16="http://schemas.microsoft.com/office/drawing/2014/main" id="{2524C0A2-EB29-41CB-88CA-97E98814CCBD}"/>
              </a:ext>
            </a:extLst>
          </p:cNvPr>
          <p:cNvSpPr>
            <a:spLocks noChangeShapeType="1"/>
          </p:cNvSpPr>
          <p:nvPr/>
        </p:nvSpPr>
        <p:spPr bwMode="auto">
          <a:xfrm>
            <a:off x="6988175" y="2533650"/>
            <a:ext cx="0" cy="190500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905" name="Text Box 1065">
            <a:extLst>
              <a:ext uri="{FF2B5EF4-FFF2-40B4-BE49-F238E27FC236}">
                <a16:creationId xmlns:a16="http://schemas.microsoft.com/office/drawing/2014/main" id="{B5E0DB5A-C819-4355-91A7-E27BDE2DDEB2}"/>
              </a:ext>
            </a:extLst>
          </p:cNvPr>
          <p:cNvSpPr txBox="1">
            <a:spLocks noChangeArrowheads="1"/>
          </p:cNvSpPr>
          <p:nvPr/>
        </p:nvSpPr>
        <p:spPr bwMode="auto">
          <a:xfrm>
            <a:off x="6835775" y="20748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2</a:t>
            </a:r>
            <a:endParaRPr lang="en-US" altLang="zh-CN" sz="3200"/>
          </a:p>
        </p:txBody>
      </p:sp>
      <p:sp>
        <p:nvSpPr>
          <p:cNvPr id="36906" name="Text Box 1066">
            <a:extLst>
              <a:ext uri="{FF2B5EF4-FFF2-40B4-BE49-F238E27FC236}">
                <a16:creationId xmlns:a16="http://schemas.microsoft.com/office/drawing/2014/main" id="{B63D41FD-40F3-43B9-9CE3-676A5137E42F}"/>
              </a:ext>
            </a:extLst>
          </p:cNvPr>
          <p:cNvSpPr txBox="1">
            <a:spLocks noChangeArrowheads="1"/>
          </p:cNvSpPr>
          <p:nvPr/>
        </p:nvSpPr>
        <p:spPr bwMode="auto">
          <a:xfrm>
            <a:off x="5159375" y="443865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5</a:t>
            </a:r>
            <a:endParaRPr lang="en-US" altLang="zh-CN" sz="3200"/>
          </a:p>
        </p:txBody>
      </p:sp>
      <p:sp>
        <p:nvSpPr>
          <p:cNvPr id="36907" name="Text Box 1067">
            <a:extLst>
              <a:ext uri="{FF2B5EF4-FFF2-40B4-BE49-F238E27FC236}">
                <a16:creationId xmlns:a16="http://schemas.microsoft.com/office/drawing/2014/main" id="{D9840BE3-50FA-443E-AA7C-A29C126F7031}"/>
              </a:ext>
            </a:extLst>
          </p:cNvPr>
          <p:cNvSpPr txBox="1">
            <a:spLocks noChangeArrowheads="1"/>
          </p:cNvSpPr>
          <p:nvPr/>
        </p:nvSpPr>
        <p:spPr bwMode="auto">
          <a:xfrm>
            <a:off x="6835775" y="443865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4</a:t>
            </a:r>
            <a:endParaRPr lang="en-US" altLang="zh-CN" sz="3200"/>
          </a:p>
        </p:txBody>
      </p:sp>
      <p:sp>
        <p:nvSpPr>
          <p:cNvPr id="36908" name="Text Box 1068">
            <a:extLst>
              <a:ext uri="{FF2B5EF4-FFF2-40B4-BE49-F238E27FC236}">
                <a16:creationId xmlns:a16="http://schemas.microsoft.com/office/drawing/2014/main" id="{5862C154-7CC8-425B-AE42-94DA2B7B351E}"/>
              </a:ext>
            </a:extLst>
          </p:cNvPr>
          <p:cNvSpPr txBox="1">
            <a:spLocks noChangeArrowheads="1"/>
          </p:cNvSpPr>
          <p:nvPr/>
        </p:nvSpPr>
        <p:spPr bwMode="auto">
          <a:xfrm>
            <a:off x="7750175" y="321945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3</a:t>
            </a:r>
            <a:endParaRPr lang="en-US" altLang="zh-CN" sz="3200"/>
          </a:p>
        </p:txBody>
      </p:sp>
      <p:sp>
        <p:nvSpPr>
          <p:cNvPr id="36909" name="Oval 1069">
            <a:extLst>
              <a:ext uri="{FF2B5EF4-FFF2-40B4-BE49-F238E27FC236}">
                <a16:creationId xmlns:a16="http://schemas.microsoft.com/office/drawing/2014/main" id="{D63C2A75-A451-4BFE-9CD2-AAC1C4A99129}"/>
              </a:ext>
            </a:extLst>
          </p:cNvPr>
          <p:cNvSpPr>
            <a:spLocks noChangeArrowheads="1"/>
          </p:cNvSpPr>
          <p:nvPr/>
        </p:nvSpPr>
        <p:spPr bwMode="auto">
          <a:xfrm>
            <a:off x="5921375" y="3141663"/>
            <a:ext cx="457200" cy="457200"/>
          </a:xfrm>
          <a:prstGeom prst="ellipse">
            <a:avLst/>
          </a:prstGeom>
          <a:gradFill rotWithShape="0">
            <a:gsLst>
              <a:gs pos="0">
                <a:srgbClr val="00CC00"/>
              </a:gs>
              <a:gs pos="100000">
                <a:srgbClr val="005E00"/>
              </a:gs>
            </a:gsLst>
            <a:path path="rect">
              <a:fillToRect r="100000" b="100000"/>
            </a:path>
          </a:gra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endParaRPr lang="zh-CN" altLang="en-US"/>
          </a:p>
        </p:txBody>
      </p:sp>
      <p:sp>
        <p:nvSpPr>
          <p:cNvPr id="36910" name="Text Box 1070">
            <a:extLst>
              <a:ext uri="{FF2B5EF4-FFF2-40B4-BE49-F238E27FC236}">
                <a16:creationId xmlns:a16="http://schemas.microsoft.com/office/drawing/2014/main" id="{DC645860-F444-4976-8B5E-F984A8D9CC8D}"/>
              </a:ext>
            </a:extLst>
          </p:cNvPr>
          <p:cNvSpPr txBox="1">
            <a:spLocks noChangeArrowheads="1"/>
          </p:cNvSpPr>
          <p:nvPr/>
        </p:nvSpPr>
        <p:spPr bwMode="auto">
          <a:xfrm>
            <a:off x="5997575" y="314325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FF99"/>
                </a:solidFill>
                <a:latin typeface="Arial" panose="020B0604020202020204" pitchFamily="34" charset="0"/>
              </a:rPr>
              <a:t>6</a:t>
            </a:r>
            <a:endParaRPr lang="en-US" altLang="zh-CN" sz="3200"/>
          </a:p>
        </p:txBody>
      </p:sp>
      <p:sp>
        <p:nvSpPr>
          <p:cNvPr id="36911" name="Text Box 1071">
            <a:extLst>
              <a:ext uri="{FF2B5EF4-FFF2-40B4-BE49-F238E27FC236}">
                <a16:creationId xmlns:a16="http://schemas.microsoft.com/office/drawing/2014/main" id="{B4AB72F4-6DCB-4795-8D20-EADD0FD05B56}"/>
              </a:ext>
            </a:extLst>
          </p:cNvPr>
          <p:cNvSpPr txBox="1">
            <a:spLocks noChangeArrowheads="1"/>
          </p:cNvSpPr>
          <p:nvPr/>
        </p:nvSpPr>
        <p:spPr bwMode="auto">
          <a:xfrm>
            <a:off x="4787900" y="32178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11</a:t>
            </a:r>
            <a:endParaRPr lang="en-US" altLang="zh-CN" sz="3200"/>
          </a:p>
        </p:txBody>
      </p:sp>
      <p:sp>
        <p:nvSpPr>
          <p:cNvPr id="36912" name="Text Box 1072">
            <a:extLst>
              <a:ext uri="{FF2B5EF4-FFF2-40B4-BE49-F238E27FC236}">
                <a16:creationId xmlns:a16="http://schemas.microsoft.com/office/drawing/2014/main" id="{D2DAD7FE-2E2F-4683-A027-9BF2CFE69CE3}"/>
              </a:ext>
            </a:extLst>
          </p:cNvPr>
          <p:cNvSpPr txBox="1">
            <a:spLocks noChangeArrowheads="1"/>
          </p:cNvSpPr>
          <p:nvPr/>
        </p:nvSpPr>
        <p:spPr bwMode="auto">
          <a:xfrm>
            <a:off x="5397500" y="35988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33</a:t>
            </a:r>
            <a:endParaRPr lang="en-US" altLang="zh-CN" sz="3200"/>
          </a:p>
        </p:txBody>
      </p:sp>
      <p:sp>
        <p:nvSpPr>
          <p:cNvPr id="36913" name="Text Box 1073">
            <a:extLst>
              <a:ext uri="{FF2B5EF4-FFF2-40B4-BE49-F238E27FC236}">
                <a16:creationId xmlns:a16="http://schemas.microsoft.com/office/drawing/2014/main" id="{677620C8-999D-4DD1-812E-5D94F6482D60}"/>
              </a:ext>
            </a:extLst>
          </p:cNvPr>
          <p:cNvSpPr txBox="1">
            <a:spLocks noChangeArrowheads="1"/>
          </p:cNvSpPr>
          <p:nvPr/>
        </p:nvSpPr>
        <p:spPr bwMode="auto">
          <a:xfrm>
            <a:off x="5854700" y="46656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18</a:t>
            </a:r>
            <a:endParaRPr lang="en-US" altLang="zh-CN" sz="3200"/>
          </a:p>
        </p:txBody>
      </p:sp>
      <p:sp>
        <p:nvSpPr>
          <p:cNvPr id="36914" name="Text Box 1074">
            <a:extLst>
              <a:ext uri="{FF2B5EF4-FFF2-40B4-BE49-F238E27FC236}">
                <a16:creationId xmlns:a16="http://schemas.microsoft.com/office/drawing/2014/main" id="{33911C02-7C87-4EA4-88FC-1CC55083298A}"/>
              </a:ext>
            </a:extLst>
          </p:cNvPr>
          <p:cNvSpPr txBox="1">
            <a:spLocks noChangeArrowheads="1"/>
          </p:cNvSpPr>
          <p:nvPr/>
        </p:nvSpPr>
        <p:spPr bwMode="auto">
          <a:xfrm>
            <a:off x="6464300" y="35988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14</a:t>
            </a:r>
            <a:endParaRPr lang="en-US" altLang="zh-CN" sz="3200"/>
          </a:p>
        </p:txBody>
      </p:sp>
      <p:sp>
        <p:nvSpPr>
          <p:cNvPr id="36915" name="Text Box 1075">
            <a:extLst>
              <a:ext uri="{FF2B5EF4-FFF2-40B4-BE49-F238E27FC236}">
                <a16:creationId xmlns:a16="http://schemas.microsoft.com/office/drawing/2014/main" id="{A47D54D4-79E8-425D-AFA0-7CC4E6DF8284}"/>
              </a:ext>
            </a:extLst>
          </p:cNvPr>
          <p:cNvSpPr txBox="1">
            <a:spLocks noChangeArrowheads="1"/>
          </p:cNvSpPr>
          <p:nvPr/>
        </p:nvSpPr>
        <p:spPr bwMode="auto">
          <a:xfrm>
            <a:off x="6997700" y="32178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6</a:t>
            </a:r>
            <a:endParaRPr lang="en-US" altLang="zh-CN" sz="3200"/>
          </a:p>
        </p:txBody>
      </p:sp>
      <p:sp>
        <p:nvSpPr>
          <p:cNvPr id="36916" name="Text Box 1076">
            <a:extLst>
              <a:ext uri="{FF2B5EF4-FFF2-40B4-BE49-F238E27FC236}">
                <a16:creationId xmlns:a16="http://schemas.microsoft.com/office/drawing/2014/main" id="{EF4CCF67-1319-4955-810F-AB3D62FCF612}"/>
              </a:ext>
            </a:extLst>
          </p:cNvPr>
          <p:cNvSpPr txBox="1">
            <a:spLocks noChangeArrowheads="1"/>
          </p:cNvSpPr>
          <p:nvPr/>
        </p:nvSpPr>
        <p:spPr bwMode="auto">
          <a:xfrm>
            <a:off x="7445375" y="39798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6</a:t>
            </a:r>
            <a:endParaRPr lang="en-US" altLang="zh-CN" sz="3200"/>
          </a:p>
        </p:txBody>
      </p:sp>
      <p:sp>
        <p:nvSpPr>
          <p:cNvPr id="36917" name="Text Box 1077">
            <a:extLst>
              <a:ext uri="{FF2B5EF4-FFF2-40B4-BE49-F238E27FC236}">
                <a16:creationId xmlns:a16="http://schemas.microsoft.com/office/drawing/2014/main" id="{44CCD738-6EAC-42FF-A1F8-6E34FEA66C23}"/>
              </a:ext>
            </a:extLst>
          </p:cNvPr>
          <p:cNvSpPr txBox="1">
            <a:spLocks noChangeArrowheads="1"/>
          </p:cNvSpPr>
          <p:nvPr/>
        </p:nvSpPr>
        <p:spPr bwMode="auto">
          <a:xfrm>
            <a:off x="7445375" y="25320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5</a:t>
            </a:r>
            <a:endParaRPr lang="en-US" altLang="zh-CN" sz="3200"/>
          </a:p>
        </p:txBody>
      </p:sp>
      <p:sp>
        <p:nvSpPr>
          <p:cNvPr id="36918" name="Text Box 1078">
            <a:extLst>
              <a:ext uri="{FF2B5EF4-FFF2-40B4-BE49-F238E27FC236}">
                <a16:creationId xmlns:a16="http://schemas.microsoft.com/office/drawing/2014/main" id="{AC4C1114-9A88-4EF7-B347-D8F908E53C91}"/>
              </a:ext>
            </a:extLst>
          </p:cNvPr>
          <p:cNvSpPr txBox="1">
            <a:spLocks noChangeArrowheads="1"/>
          </p:cNvSpPr>
          <p:nvPr/>
        </p:nvSpPr>
        <p:spPr bwMode="auto">
          <a:xfrm>
            <a:off x="5854700" y="18462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16</a:t>
            </a:r>
            <a:endParaRPr lang="en-US" altLang="zh-CN" sz="3200"/>
          </a:p>
        </p:txBody>
      </p:sp>
      <p:sp>
        <p:nvSpPr>
          <p:cNvPr id="36919" name="Text Box 1079">
            <a:extLst>
              <a:ext uri="{FF2B5EF4-FFF2-40B4-BE49-F238E27FC236}">
                <a16:creationId xmlns:a16="http://schemas.microsoft.com/office/drawing/2014/main" id="{D7682BFC-9F4D-4599-B76B-A4B5191B7860}"/>
              </a:ext>
            </a:extLst>
          </p:cNvPr>
          <p:cNvSpPr txBox="1">
            <a:spLocks noChangeArrowheads="1"/>
          </p:cNvSpPr>
          <p:nvPr/>
        </p:nvSpPr>
        <p:spPr bwMode="auto">
          <a:xfrm>
            <a:off x="5311775" y="27606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19</a:t>
            </a:r>
            <a:endParaRPr lang="en-US" altLang="zh-CN" sz="3200"/>
          </a:p>
        </p:txBody>
      </p:sp>
      <p:sp>
        <p:nvSpPr>
          <p:cNvPr id="36920" name="Text Box 1080">
            <a:extLst>
              <a:ext uri="{FF2B5EF4-FFF2-40B4-BE49-F238E27FC236}">
                <a16:creationId xmlns:a16="http://schemas.microsoft.com/office/drawing/2014/main" id="{74621F53-D124-40BD-8B75-A79E910B146F}"/>
              </a:ext>
            </a:extLst>
          </p:cNvPr>
          <p:cNvSpPr txBox="1">
            <a:spLocks noChangeArrowheads="1"/>
          </p:cNvSpPr>
          <p:nvPr/>
        </p:nvSpPr>
        <p:spPr bwMode="auto">
          <a:xfrm>
            <a:off x="6159500" y="2455863"/>
            <a:ext cx="523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en-US" altLang="zh-CN" b="1">
                <a:solidFill>
                  <a:srgbClr val="FF0000"/>
                </a:solidFill>
                <a:latin typeface="Arial" panose="020B0604020202020204" pitchFamily="34" charset="0"/>
              </a:rPr>
              <a:t>21</a:t>
            </a:r>
            <a:endParaRPr lang="en-US" altLang="zh-CN" sz="3200"/>
          </a:p>
        </p:txBody>
      </p:sp>
      <p:sp>
        <p:nvSpPr>
          <p:cNvPr id="36921" name="标题 1">
            <a:extLst>
              <a:ext uri="{FF2B5EF4-FFF2-40B4-BE49-F238E27FC236}">
                <a16:creationId xmlns:a16="http://schemas.microsoft.com/office/drawing/2014/main" id="{68E62065-9CD4-4321-8B09-7DE865C6CE85}"/>
              </a:ext>
            </a:extLst>
          </p:cNvPr>
          <p:cNvSpPr>
            <a:spLocks noGrp="1" noChangeArrowheads="1"/>
          </p:cNvSpPr>
          <p:nvPr>
            <p:ph type="title"/>
          </p:nvPr>
        </p:nvSpPr>
        <p:spPr/>
        <p:txBody>
          <a:bodyPr/>
          <a:lstStyle/>
          <a:p>
            <a:r>
              <a:rPr lang="zh-CN" altLang="en-US"/>
              <a:t>图结构和网络结构</a:t>
            </a:r>
          </a:p>
        </p:txBody>
      </p:sp>
      <p:sp>
        <p:nvSpPr>
          <p:cNvPr id="3" name="灯片编号占位符 2">
            <a:extLst>
              <a:ext uri="{FF2B5EF4-FFF2-40B4-BE49-F238E27FC236}">
                <a16:creationId xmlns:a16="http://schemas.microsoft.com/office/drawing/2014/main" id="{108ADA68-BF11-476E-B4EC-158D714BFA87}"/>
              </a:ext>
            </a:extLst>
          </p:cNvPr>
          <p:cNvSpPr>
            <a:spLocks noGrp="1"/>
          </p:cNvSpPr>
          <p:nvPr>
            <p:ph type="sldNum" sz="quarter" idx="12"/>
          </p:nvPr>
        </p:nvSpPr>
        <p:spPr/>
        <p:txBody>
          <a:bodyPr/>
          <a:lstStyle/>
          <a:p>
            <a:pPr>
              <a:defRPr/>
            </a:pPr>
            <a:fld id="{0B03BC2E-225E-4998-98ED-B58665E5781B}" type="slidenum">
              <a:rPr lang="en-US" altLang="zh-CN" smtClean="0"/>
              <a:pPr>
                <a:defRPr/>
              </a:pPr>
              <a:t>23</a:t>
            </a:fld>
            <a:endParaRPr lang="en-US" altLang="zh-CN"/>
          </a:p>
        </p:txBody>
      </p:sp>
    </p:spTree>
  </p:cSld>
  <p:clrMapOvr>
    <a:masterClrMapping/>
  </p:clrMapOvr>
  <p:transition>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7">
            <a:extLst>
              <a:ext uri="{FF2B5EF4-FFF2-40B4-BE49-F238E27FC236}">
                <a16:creationId xmlns:a16="http://schemas.microsoft.com/office/drawing/2014/main" id="{17C38F38-F1D2-4A28-920C-880A71145579}"/>
              </a:ext>
            </a:extLst>
          </p:cNvPr>
          <p:cNvSpPr>
            <a:spLocks noChangeArrowheads="1"/>
          </p:cNvSpPr>
          <p:nvPr/>
        </p:nvSpPr>
        <p:spPr bwMode="auto">
          <a:xfrm>
            <a:off x="381000" y="1981200"/>
            <a:ext cx="84582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chemeClr val="tx2"/>
              </a:buClr>
              <a:buSzPct val="50000"/>
              <a:buFont typeface="Wingdings" panose="05000000000000000000" pitchFamily="2" charset="2"/>
              <a:buChar char="n"/>
            </a:pPr>
            <a:endParaRPr kumimoji="1" lang="zh-CN" altLang="en-US" sz="3200" b="1">
              <a:latin typeface="Times New Roman" panose="02020603050405020304" pitchFamily="18" charset="0"/>
              <a:ea typeface="仿宋_GB2312" pitchFamily="49" charset="-122"/>
            </a:endParaRPr>
          </a:p>
        </p:txBody>
      </p:sp>
      <p:sp>
        <p:nvSpPr>
          <p:cNvPr id="38915" name="Rectangle 1033">
            <a:extLst>
              <a:ext uri="{FF2B5EF4-FFF2-40B4-BE49-F238E27FC236}">
                <a16:creationId xmlns:a16="http://schemas.microsoft.com/office/drawing/2014/main" id="{73E7ED06-7037-4028-86AE-DABB2BB05B2A}"/>
              </a:ext>
            </a:extLst>
          </p:cNvPr>
          <p:cNvSpPr>
            <a:spLocks noGrp="1" noChangeArrowheads="1"/>
          </p:cNvSpPr>
          <p:nvPr>
            <p:ph type="title"/>
          </p:nvPr>
        </p:nvSpPr>
        <p:spPr/>
        <p:txBody>
          <a:bodyPr/>
          <a:lstStyle/>
          <a:p>
            <a:pPr eaLnBrk="1" hangingPunct="1"/>
            <a:r>
              <a:rPr lang="zh-CN" altLang="en-US" dirty="0"/>
              <a:t>数据的存储结构</a:t>
            </a:r>
          </a:p>
        </p:txBody>
      </p:sp>
      <p:sp>
        <p:nvSpPr>
          <p:cNvPr id="38916" name="内容占位符 1">
            <a:extLst>
              <a:ext uri="{FF2B5EF4-FFF2-40B4-BE49-F238E27FC236}">
                <a16:creationId xmlns:a16="http://schemas.microsoft.com/office/drawing/2014/main" id="{A90511E9-6B4C-43DD-893E-4617A6FB30EE}"/>
              </a:ext>
            </a:extLst>
          </p:cNvPr>
          <p:cNvSpPr>
            <a:spLocks noGrp="1" noChangeArrowheads="1"/>
          </p:cNvSpPr>
          <p:nvPr>
            <p:ph idx="1"/>
          </p:nvPr>
        </p:nvSpPr>
        <p:spPr/>
        <p:txBody>
          <a:bodyPr>
            <a:normAutofit lnSpcReduction="10000"/>
          </a:bodyPr>
          <a:lstStyle/>
          <a:p>
            <a:pPr eaLnBrk="1" hangingPunct="1"/>
            <a:r>
              <a:rPr lang="zh-CN" altLang="en-US" dirty="0"/>
              <a:t>又称为数据的物理结构，是逻辑结构用计算机的实现，包括</a:t>
            </a:r>
          </a:p>
          <a:p>
            <a:pPr lvl="1" eaLnBrk="1" hangingPunct="1"/>
            <a:r>
              <a:rPr lang="zh-CN" altLang="en-US" dirty="0"/>
              <a:t>主要用于内存的存储表示的</a:t>
            </a:r>
          </a:p>
          <a:p>
            <a:pPr lvl="2" eaLnBrk="1" hangingPunct="1"/>
            <a:r>
              <a:rPr lang="zh-CN" altLang="en-US" dirty="0"/>
              <a:t>顺序存储表示：逻辑相邻则物理相邻</a:t>
            </a:r>
          </a:p>
          <a:p>
            <a:pPr lvl="2" eaLnBrk="1" hangingPunct="1"/>
            <a:r>
              <a:rPr lang="zh-CN" altLang="en-US" dirty="0"/>
              <a:t>链接存储表示：逻辑相邻未必物理相邻</a:t>
            </a:r>
          </a:p>
          <a:p>
            <a:pPr lvl="1" eaLnBrk="1" hangingPunct="1"/>
            <a:r>
              <a:rPr lang="zh-CN" altLang="en-US" dirty="0"/>
              <a:t>主要用于外存 </a:t>
            </a:r>
            <a:r>
              <a:rPr lang="en-US" altLang="zh-CN" dirty="0"/>
              <a:t>(</a:t>
            </a:r>
            <a:r>
              <a:rPr lang="zh-CN" altLang="en-US" dirty="0"/>
              <a:t>文件</a:t>
            </a:r>
            <a:r>
              <a:rPr lang="en-US" altLang="zh-CN" dirty="0"/>
              <a:t>) </a:t>
            </a:r>
            <a:r>
              <a:rPr lang="zh-CN" altLang="en-US" dirty="0"/>
              <a:t>的存储表示的</a:t>
            </a:r>
          </a:p>
          <a:p>
            <a:pPr lvl="2" eaLnBrk="1" hangingPunct="1"/>
            <a:r>
              <a:rPr lang="zh-CN" altLang="en-US" dirty="0"/>
              <a:t>索引存储表示：为数据建立索引表</a:t>
            </a:r>
          </a:p>
          <a:p>
            <a:pPr lvl="2" eaLnBrk="1" hangingPunct="1"/>
            <a:r>
              <a:rPr lang="zh-CN" altLang="en-US" dirty="0"/>
              <a:t>散列存储表示：根据数据的关键码用散列函数计算出该数据的存储地址</a:t>
            </a:r>
          </a:p>
        </p:txBody>
      </p:sp>
      <p:sp>
        <p:nvSpPr>
          <p:cNvPr id="2" name="灯片编号占位符 1">
            <a:extLst>
              <a:ext uri="{FF2B5EF4-FFF2-40B4-BE49-F238E27FC236}">
                <a16:creationId xmlns:a16="http://schemas.microsoft.com/office/drawing/2014/main" id="{7E1AB5AE-A8F3-4A74-B9E4-5ECFA5E701F5}"/>
              </a:ext>
            </a:extLst>
          </p:cNvPr>
          <p:cNvSpPr>
            <a:spLocks noGrp="1"/>
          </p:cNvSpPr>
          <p:nvPr>
            <p:ph type="sldNum" sz="quarter" idx="12"/>
          </p:nvPr>
        </p:nvSpPr>
        <p:spPr/>
        <p:txBody>
          <a:bodyPr/>
          <a:lstStyle/>
          <a:p>
            <a:pPr>
              <a:defRPr/>
            </a:pPr>
            <a:fld id="{B0C5C53E-0C2E-4B64-B8BF-13AADC20CF9F}" type="slidenum">
              <a:rPr lang="en-US" altLang="zh-CN" smtClean="0"/>
              <a:pPr>
                <a:defRPr/>
              </a:pPr>
              <a:t>24</a:t>
            </a:fld>
            <a:endParaRPr lang="en-US" altLang="zh-CN"/>
          </a:p>
        </p:txBody>
      </p:sp>
    </p:spTree>
  </p:cSld>
  <p:clrMapOvr>
    <a:masterClrMapping/>
  </p:clrMapOvr>
  <p:transition>
    <p:spli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6C855D-57ED-D00D-65BD-F6A731802516}"/>
              </a:ext>
            </a:extLst>
          </p:cNvPr>
          <p:cNvSpPr>
            <a:spLocks noGrp="1"/>
          </p:cNvSpPr>
          <p:nvPr>
            <p:ph type="title"/>
          </p:nvPr>
        </p:nvSpPr>
        <p:spPr/>
        <p:txBody>
          <a:bodyPr/>
          <a:lstStyle/>
          <a:p>
            <a:r>
              <a:rPr lang="zh-CN" altLang="en-US" dirty="0"/>
              <a:t>存储结构对比</a:t>
            </a:r>
          </a:p>
        </p:txBody>
      </p:sp>
      <p:sp>
        <p:nvSpPr>
          <p:cNvPr id="3" name="灯片编号占位符 2">
            <a:extLst>
              <a:ext uri="{FF2B5EF4-FFF2-40B4-BE49-F238E27FC236}">
                <a16:creationId xmlns:a16="http://schemas.microsoft.com/office/drawing/2014/main" id="{7C5DF696-8C43-DE9B-3EE5-FA47AF9877D7}"/>
              </a:ext>
            </a:extLst>
          </p:cNvPr>
          <p:cNvSpPr>
            <a:spLocks noGrp="1"/>
          </p:cNvSpPr>
          <p:nvPr>
            <p:ph type="sldNum" sz="quarter" idx="12"/>
          </p:nvPr>
        </p:nvSpPr>
        <p:spPr/>
        <p:txBody>
          <a:bodyPr/>
          <a:lstStyle/>
          <a:p>
            <a:pPr>
              <a:defRPr/>
            </a:pPr>
            <a:fld id="{713AB35D-1E6C-48D4-9E9E-34F229AC5C30}" type="slidenum">
              <a:rPr lang="en-US" altLang="zh-CN" smtClean="0"/>
              <a:pPr>
                <a:defRPr/>
              </a:pPr>
              <a:t>25</a:t>
            </a:fld>
            <a:endParaRPr lang="en-US" altLang="zh-CN"/>
          </a:p>
        </p:txBody>
      </p:sp>
      <p:graphicFrame>
        <p:nvGraphicFramePr>
          <p:cNvPr id="4" name="表格 3">
            <a:extLst>
              <a:ext uri="{FF2B5EF4-FFF2-40B4-BE49-F238E27FC236}">
                <a16:creationId xmlns:a16="http://schemas.microsoft.com/office/drawing/2014/main" id="{CEB9FAB6-9286-F007-F653-53F0585DB0D4}"/>
              </a:ext>
            </a:extLst>
          </p:cNvPr>
          <p:cNvGraphicFramePr>
            <a:graphicFrameLocks noGrp="1"/>
          </p:cNvGraphicFramePr>
          <p:nvPr>
            <p:extLst>
              <p:ext uri="{D42A27DB-BD31-4B8C-83A1-F6EECF244321}">
                <p14:modId xmlns:p14="http://schemas.microsoft.com/office/powerpoint/2010/main" val="3523318321"/>
              </p:ext>
            </p:extLst>
          </p:nvPr>
        </p:nvGraphicFramePr>
        <p:xfrm>
          <a:off x="357708" y="2276872"/>
          <a:ext cx="8318748" cy="3312370"/>
        </p:xfrm>
        <a:graphic>
          <a:graphicData uri="http://schemas.openxmlformats.org/drawingml/2006/table">
            <a:tbl>
              <a:tblPr firstRow="1" firstCol="1" bandRow="1">
                <a:tableStyleId>{5C22544A-7EE6-4342-B048-85BDC9FD1C3A}</a:tableStyleId>
              </a:tblPr>
              <a:tblGrid>
                <a:gridCol w="1631127">
                  <a:extLst>
                    <a:ext uri="{9D8B030D-6E8A-4147-A177-3AD203B41FA5}">
                      <a16:colId xmlns:a16="http://schemas.microsoft.com/office/drawing/2014/main" val="799582527"/>
                    </a:ext>
                  </a:extLst>
                </a:gridCol>
                <a:gridCol w="2038909">
                  <a:extLst>
                    <a:ext uri="{9D8B030D-6E8A-4147-A177-3AD203B41FA5}">
                      <a16:colId xmlns:a16="http://schemas.microsoft.com/office/drawing/2014/main" val="3037889342"/>
                    </a:ext>
                  </a:extLst>
                </a:gridCol>
                <a:gridCol w="2344456">
                  <a:extLst>
                    <a:ext uri="{9D8B030D-6E8A-4147-A177-3AD203B41FA5}">
                      <a16:colId xmlns:a16="http://schemas.microsoft.com/office/drawing/2014/main" val="2455669764"/>
                    </a:ext>
                  </a:extLst>
                </a:gridCol>
                <a:gridCol w="2304256">
                  <a:extLst>
                    <a:ext uri="{9D8B030D-6E8A-4147-A177-3AD203B41FA5}">
                      <a16:colId xmlns:a16="http://schemas.microsoft.com/office/drawing/2014/main" val="2818978033"/>
                    </a:ext>
                  </a:extLst>
                </a:gridCol>
              </a:tblGrid>
              <a:tr h="662474">
                <a:tc>
                  <a:txBody>
                    <a:bodyPr/>
                    <a:lstStyle/>
                    <a:p>
                      <a:pPr algn="just">
                        <a:buNone/>
                      </a:pPr>
                      <a:r>
                        <a:rPr lang="zh-CN" sz="2400" kern="100">
                          <a:effectLst/>
                        </a:rPr>
                        <a:t>存储结构</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优点</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缺点</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适用场景</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38437986"/>
                  </a:ext>
                </a:extLst>
              </a:tr>
              <a:tr h="662474">
                <a:tc>
                  <a:txBody>
                    <a:bodyPr/>
                    <a:lstStyle/>
                    <a:p>
                      <a:pPr algn="just">
                        <a:buNone/>
                      </a:pPr>
                      <a:r>
                        <a:rPr lang="zh-CN" sz="2400" kern="100">
                          <a:effectLst/>
                        </a:rPr>
                        <a:t>顺序存储</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dirty="0">
                          <a:effectLst/>
                        </a:rPr>
                        <a:t>随机访问快</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插入删除效率低</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数组、折半查找</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82119870"/>
                  </a:ext>
                </a:extLst>
              </a:tr>
              <a:tr h="662474">
                <a:tc>
                  <a:txBody>
                    <a:bodyPr/>
                    <a:lstStyle/>
                    <a:p>
                      <a:pPr algn="just">
                        <a:buNone/>
                      </a:pPr>
                      <a:r>
                        <a:rPr lang="zh-CN" sz="2400" kern="100">
                          <a:effectLst/>
                        </a:rPr>
                        <a:t>链接存储</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dirty="0">
                          <a:effectLst/>
                        </a:rPr>
                        <a:t>动态扩容</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需额外存储指针</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链表、树</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193525418"/>
                  </a:ext>
                </a:extLst>
              </a:tr>
              <a:tr h="662474">
                <a:tc>
                  <a:txBody>
                    <a:bodyPr/>
                    <a:lstStyle/>
                    <a:p>
                      <a:pPr algn="just">
                        <a:buNone/>
                      </a:pPr>
                      <a:r>
                        <a:rPr lang="zh-CN" sz="2400" kern="100">
                          <a:effectLst/>
                        </a:rPr>
                        <a:t>索引存储</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查询效率高</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占用额外空间</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数据库索</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89661676"/>
                  </a:ext>
                </a:extLst>
              </a:tr>
              <a:tr h="662474">
                <a:tc>
                  <a:txBody>
                    <a:bodyPr/>
                    <a:lstStyle/>
                    <a:p>
                      <a:pPr algn="just">
                        <a:buNone/>
                      </a:pPr>
                      <a:r>
                        <a:rPr lang="zh-CN" sz="2400" kern="100">
                          <a:effectLst/>
                        </a:rPr>
                        <a:t>散列存储</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查找速度快</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a:effectLst/>
                        </a:rPr>
                        <a:t>存在哈希冲突</a:t>
                      </a:r>
                      <a:endParaRPr lang="zh-CN" sz="2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buNone/>
                      </a:pPr>
                      <a:r>
                        <a:rPr lang="zh-CN" sz="2400" kern="100" dirty="0">
                          <a:effectLst/>
                        </a:rPr>
                        <a:t>缓存、字典</a:t>
                      </a:r>
                      <a:endParaRPr lang="zh-CN"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93103207"/>
                  </a:ext>
                </a:extLst>
              </a:tr>
            </a:tbl>
          </a:graphicData>
        </a:graphic>
      </p:graphicFrame>
    </p:spTree>
    <p:extLst>
      <p:ext uri="{BB962C8B-B14F-4D97-AF65-F5344CB8AC3E}">
        <p14:creationId xmlns:p14="http://schemas.microsoft.com/office/powerpoint/2010/main" val="2197702673"/>
      </p:ext>
    </p:extLst>
  </p:cSld>
  <p:clrMapOvr>
    <a:masterClrMapping/>
  </p:clrMapOvr>
  <p:transition>
    <p:spli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标题 1">
            <a:extLst>
              <a:ext uri="{FF2B5EF4-FFF2-40B4-BE49-F238E27FC236}">
                <a16:creationId xmlns:a16="http://schemas.microsoft.com/office/drawing/2014/main" id="{8CE7B4DA-B0A2-4A00-9C1A-DFE8DCEEFD9D}"/>
              </a:ext>
            </a:extLst>
          </p:cNvPr>
          <p:cNvSpPr>
            <a:spLocks noGrp="1" noChangeArrowheads="1"/>
          </p:cNvSpPr>
          <p:nvPr>
            <p:ph type="title"/>
          </p:nvPr>
        </p:nvSpPr>
        <p:spPr/>
        <p:txBody>
          <a:bodyPr/>
          <a:lstStyle/>
          <a:p>
            <a:pPr eaLnBrk="1" hangingPunct="1"/>
            <a:r>
              <a:rPr lang="zh-CN" altLang="en-US"/>
              <a:t>数据结构的课程内容体系</a:t>
            </a:r>
          </a:p>
        </p:txBody>
      </p:sp>
      <p:sp>
        <p:nvSpPr>
          <p:cNvPr id="2" name="灯片编号占位符 1">
            <a:extLst>
              <a:ext uri="{FF2B5EF4-FFF2-40B4-BE49-F238E27FC236}">
                <a16:creationId xmlns:a16="http://schemas.microsoft.com/office/drawing/2014/main" id="{E74CEAEB-51AC-4BAB-8EA1-FB619DC07E14}"/>
              </a:ext>
            </a:extLst>
          </p:cNvPr>
          <p:cNvSpPr>
            <a:spLocks noGrp="1"/>
          </p:cNvSpPr>
          <p:nvPr>
            <p:ph type="sldNum" sz="quarter" idx="12"/>
          </p:nvPr>
        </p:nvSpPr>
        <p:spPr/>
        <p:txBody>
          <a:bodyPr/>
          <a:lstStyle/>
          <a:p>
            <a:pPr>
              <a:defRPr/>
            </a:pPr>
            <a:fld id="{865A1CAB-497B-4285-8AFE-C36C2DCC8DB2}" type="slidenum">
              <a:rPr lang="en-US" altLang="zh-CN" smtClean="0"/>
              <a:pPr>
                <a:defRPr/>
              </a:pPr>
              <a:t>26</a:t>
            </a:fld>
            <a:endParaRPr lang="en-US" altLang="zh-CN"/>
          </a:p>
        </p:txBody>
      </p:sp>
      <p:graphicFrame>
        <p:nvGraphicFramePr>
          <p:cNvPr id="3" name="表格 2">
            <a:extLst>
              <a:ext uri="{FF2B5EF4-FFF2-40B4-BE49-F238E27FC236}">
                <a16:creationId xmlns:a16="http://schemas.microsoft.com/office/drawing/2014/main" id="{2E1067BB-B605-E79E-AA15-3EDBE283DF16}"/>
              </a:ext>
            </a:extLst>
          </p:cNvPr>
          <p:cNvGraphicFramePr>
            <a:graphicFrameLocks noGrp="1"/>
          </p:cNvGraphicFramePr>
          <p:nvPr/>
        </p:nvGraphicFramePr>
        <p:xfrm>
          <a:off x="1524000" y="2052960"/>
          <a:ext cx="6096000" cy="28870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638165199"/>
                    </a:ext>
                  </a:extLst>
                </a:gridCol>
                <a:gridCol w="2032000">
                  <a:extLst>
                    <a:ext uri="{9D8B030D-6E8A-4147-A177-3AD203B41FA5}">
                      <a16:colId xmlns:a16="http://schemas.microsoft.com/office/drawing/2014/main" val="1018617808"/>
                    </a:ext>
                  </a:extLst>
                </a:gridCol>
                <a:gridCol w="2032000">
                  <a:extLst>
                    <a:ext uri="{9D8B030D-6E8A-4147-A177-3AD203B41FA5}">
                      <a16:colId xmlns:a16="http://schemas.microsoft.com/office/drawing/2014/main" val="3366904258"/>
                    </a:ext>
                  </a:extLst>
                </a:gridCol>
              </a:tblGrid>
              <a:tr h="688020">
                <a:tc>
                  <a:txBody>
                    <a:bodyPr/>
                    <a:lstStyle/>
                    <a:p>
                      <a:pPr algn="ctr"/>
                      <a:r>
                        <a:rPr lang="zh-CN" altLang="en-US" sz="2400" dirty="0"/>
                        <a:t>层次</a:t>
                      </a:r>
                    </a:p>
                  </a:txBody>
                  <a:tcPr anchor="ctr">
                    <a:lnTlToBr w="12700" cap="flat" cmpd="sng" algn="ctr">
                      <a:noFill/>
                      <a:prstDash val="solid"/>
                      <a:round/>
                      <a:headEnd type="none" w="med" len="med"/>
                      <a:tailEnd type="none" w="med" len="med"/>
                    </a:lnTlToBr>
                  </a:tcPr>
                </a:tc>
                <a:tc>
                  <a:txBody>
                    <a:bodyPr/>
                    <a:lstStyle/>
                    <a:p>
                      <a:pPr algn="ctr"/>
                      <a:r>
                        <a:rPr lang="zh-CN" altLang="en-US" sz="2400" dirty="0"/>
                        <a:t>数据表示</a:t>
                      </a:r>
                    </a:p>
                  </a:txBody>
                  <a:tcPr anchor="ctr"/>
                </a:tc>
                <a:tc>
                  <a:txBody>
                    <a:bodyPr/>
                    <a:lstStyle/>
                    <a:p>
                      <a:pPr algn="ctr"/>
                      <a:r>
                        <a:rPr lang="zh-CN" altLang="en-US" sz="2400" dirty="0"/>
                        <a:t>数据处理</a:t>
                      </a:r>
                    </a:p>
                  </a:txBody>
                  <a:tcPr anchor="ctr"/>
                </a:tc>
                <a:extLst>
                  <a:ext uri="{0D108BD9-81ED-4DB2-BD59-A6C34878D82A}">
                    <a16:rowId xmlns:a16="http://schemas.microsoft.com/office/drawing/2014/main" val="1559837896"/>
                  </a:ext>
                </a:extLst>
              </a:tr>
              <a:tr h="688020">
                <a:tc>
                  <a:txBody>
                    <a:bodyPr/>
                    <a:lstStyle/>
                    <a:p>
                      <a:pPr algn="ctr"/>
                      <a:r>
                        <a:rPr lang="zh-CN" altLang="en-US" sz="2400" dirty="0"/>
                        <a:t>抽象</a:t>
                      </a:r>
                    </a:p>
                  </a:txBody>
                  <a:tcPr anchor="ctr"/>
                </a:tc>
                <a:tc>
                  <a:txBody>
                    <a:bodyPr/>
                    <a:lstStyle/>
                    <a:p>
                      <a:pPr algn="ctr"/>
                      <a:r>
                        <a:rPr lang="zh-CN" altLang="en-US" sz="2400" dirty="0"/>
                        <a:t>逻辑结构</a:t>
                      </a:r>
                    </a:p>
                  </a:txBody>
                  <a:tcPr anchor="ctr"/>
                </a:tc>
                <a:tc>
                  <a:txBody>
                    <a:bodyPr/>
                    <a:lstStyle/>
                    <a:p>
                      <a:pPr algn="ctr"/>
                      <a:r>
                        <a:rPr lang="zh-CN" altLang="en-US" sz="2400" dirty="0"/>
                        <a:t>基本运算</a:t>
                      </a:r>
                    </a:p>
                  </a:txBody>
                  <a:tcPr anchor="ctr"/>
                </a:tc>
                <a:extLst>
                  <a:ext uri="{0D108BD9-81ED-4DB2-BD59-A6C34878D82A}">
                    <a16:rowId xmlns:a16="http://schemas.microsoft.com/office/drawing/2014/main" val="1188139076"/>
                  </a:ext>
                </a:extLst>
              </a:tr>
              <a:tr h="688020">
                <a:tc>
                  <a:txBody>
                    <a:bodyPr/>
                    <a:lstStyle/>
                    <a:p>
                      <a:pPr algn="ctr"/>
                      <a:r>
                        <a:rPr lang="zh-CN" altLang="en-US" sz="2400" dirty="0"/>
                        <a:t>实现</a:t>
                      </a:r>
                    </a:p>
                  </a:txBody>
                  <a:tcPr anchor="ctr"/>
                </a:tc>
                <a:tc>
                  <a:txBody>
                    <a:bodyPr/>
                    <a:lstStyle/>
                    <a:p>
                      <a:pPr algn="ctr"/>
                      <a:r>
                        <a:rPr lang="zh-CN" altLang="en-US" sz="2400" dirty="0"/>
                        <a:t>存储结构</a:t>
                      </a:r>
                    </a:p>
                  </a:txBody>
                  <a:tcPr anchor="ctr"/>
                </a:tc>
                <a:tc>
                  <a:txBody>
                    <a:bodyPr/>
                    <a:lstStyle/>
                    <a:p>
                      <a:pPr algn="ctr"/>
                      <a:r>
                        <a:rPr lang="zh-CN" altLang="en-US" sz="2400" dirty="0"/>
                        <a:t>算法</a:t>
                      </a:r>
                    </a:p>
                  </a:txBody>
                  <a:tcPr anchor="ctr"/>
                </a:tc>
                <a:extLst>
                  <a:ext uri="{0D108BD9-81ED-4DB2-BD59-A6C34878D82A}">
                    <a16:rowId xmlns:a16="http://schemas.microsoft.com/office/drawing/2014/main" val="3354159346"/>
                  </a:ext>
                </a:extLst>
              </a:tr>
              <a:tr h="688020">
                <a:tc>
                  <a:txBody>
                    <a:bodyPr/>
                    <a:lstStyle/>
                    <a:p>
                      <a:pPr algn="ctr"/>
                      <a:r>
                        <a:rPr lang="zh-CN" altLang="en-US" sz="2400" dirty="0"/>
                        <a:t>评价</a:t>
                      </a:r>
                    </a:p>
                  </a:txBody>
                  <a:tcPr anchor="ctr"/>
                </a:tc>
                <a:tc gridSpan="2">
                  <a:txBody>
                    <a:bodyPr/>
                    <a:lstStyle/>
                    <a:p>
                      <a:pPr algn="ctr"/>
                      <a:r>
                        <a:rPr lang="zh-CN" altLang="en-US" sz="2400" dirty="0"/>
                        <a:t>时间、空间效率等方面分析使用特定数据结构的效果</a:t>
                      </a:r>
                    </a:p>
                  </a:txBody>
                  <a:tcPr anchor="ctr"/>
                </a:tc>
                <a:tc hMerge="1">
                  <a:txBody>
                    <a:bodyPr/>
                    <a:lstStyle/>
                    <a:p>
                      <a:endParaRPr lang="zh-CN" altLang="en-US" dirty="0"/>
                    </a:p>
                  </a:txBody>
                  <a:tcPr/>
                </a:tc>
                <a:extLst>
                  <a:ext uri="{0D108BD9-81ED-4DB2-BD59-A6C34878D82A}">
                    <a16:rowId xmlns:a16="http://schemas.microsoft.com/office/drawing/2014/main" val="2914042529"/>
                  </a:ext>
                </a:extLst>
              </a:tr>
            </a:tbl>
          </a:graphicData>
        </a:graphic>
      </p:graphicFrame>
    </p:spTree>
  </p:cSld>
  <p:clrMapOvr>
    <a:masterClrMapping/>
  </p:clrMapOvr>
  <p:transition>
    <p:spli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a:extLst>
              <a:ext uri="{FF2B5EF4-FFF2-40B4-BE49-F238E27FC236}">
                <a16:creationId xmlns:a16="http://schemas.microsoft.com/office/drawing/2014/main" id="{C29D0FFC-787F-4CCE-BEF4-815A479D3EFF}"/>
              </a:ext>
            </a:extLst>
          </p:cNvPr>
          <p:cNvSpPr>
            <a:spLocks noGrp="1" noChangeArrowheads="1"/>
          </p:cNvSpPr>
          <p:nvPr>
            <p:ph type="title"/>
          </p:nvPr>
        </p:nvSpPr>
        <p:spPr/>
        <p:txBody>
          <a:bodyPr/>
          <a:lstStyle/>
          <a:p>
            <a:r>
              <a:rPr lang="en-US" altLang="zh-CN" dirty="0"/>
              <a:t>1.2 </a:t>
            </a:r>
            <a:r>
              <a:rPr lang="zh-CN" altLang="en-US" dirty="0"/>
              <a:t>数据结构的抽象形式</a:t>
            </a:r>
          </a:p>
        </p:txBody>
      </p:sp>
      <p:sp>
        <p:nvSpPr>
          <p:cNvPr id="41987" name="内容占位符 2">
            <a:extLst>
              <a:ext uri="{FF2B5EF4-FFF2-40B4-BE49-F238E27FC236}">
                <a16:creationId xmlns:a16="http://schemas.microsoft.com/office/drawing/2014/main" id="{9D510C72-4BDE-4457-AF4A-07D006C3C7CF}"/>
              </a:ext>
            </a:extLst>
          </p:cNvPr>
          <p:cNvSpPr>
            <a:spLocks noGrp="1" noChangeArrowheads="1"/>
          </p:cNvSpPr>
          <p:nvPr>
            <p:ph idx="1"/>
          </p:nvPr>
        </p:nvSpPr>
        <p:spPr/>
        <p:txBody>
          <a:bodyPr/>
          <a:lstStyle/>
          <a:p>
            <a:r>
              <a:rPr lang="zh-CN" altLang="en-US" dirty="0"/>
              <a:t>数据类型</a:t>
            </a:r>
            <a:endParaRPr lang="en-US" altLang="zh-CN" dirty="0"/>
          </a:p>
          <a:p>
            <a:pPr lvl="1"/>
            <a:r>
              <a:rPr lang="zh-CN" altLang="en-US" dirty="0"/>
              <a:t>一组性质相同的值的集合，以及定义于这个集合上的一组操作的总称。</a:t>
            </a:r>
          </a:p>
          <a:p>
            <a:r>
              <a:rPr lang="zh-CN" altLang="en-US" dirty="0"/>
              <a:t>例如</a:t>
            </a:r>
            <a:r>
              <a:rPr lang="en-US" altLang="zh-CN" dirty="0"/>
              <a:t>C</a:t>
            </a:r>
            <a:r>
              <a:rPr lang="zh-CN" altLang="en-US" dirty="0"/>
              <a:t>语言中的数据类型。</a:t>
            </a:r>
          </a:p>
        </p:txBody>
      </p:sp>
      <p:graphicFrame>
        <p:nvGraphicFramePr>
          <p:cNvPr id="4" name="表格 4">
            <a:extLst>
              <a:ext uri="{FF2B5EF4-FFF2-40B4-BE49-F238E27FC236}">
                <a16:creationId xmlns:a16="http://schemas.microsoft.com/office/drawing/2014/main" id="{68EBEDAB-79C0-470A-9D70-806B31A5403D}"/>
              </a:ext>
            </a:extLst>
          </p:cNvPr>
          <p:cNvGraphicFramePr>
            <a:graphicFrameLocks noGrp="1"/>
          </p:cNvGraphicFramePr>
          <p:nvPr>
            <p:extLst>
              <p:ext uri="{D42A27DB-BD31-4B8C-83A1-F6EECF244321}">
                <p14:modId xmlns:p14="http://schemas.microsoft.com/office/powerpoint/2010/main" val="2701532169"/>
              </p:ext>
            </p:extLst>
          </p:nvPr>
        </p:nvGraphicFramePr>
        <p:xfrm>
          <a:off x="1007267" y="4509120"/>
          <a:ext cx="7129465" cy="957262"/>
        </p:xfrm>
        <a:graphic>
          <a:graphicData uri="http://schemas.openxmlformats.org/drawingml/2006/table">
            <a:tbl>
              <a:tblPr firstRow="1" bandRow="1">
                <a:tableStyleId>{5C22544A-7EE6-4342-B048-85BDC9FD1C3A}</a:tableStyleId>
              </a:tblPr>
              <a:tblGrid>
                <a:gridCol w="1425893">
                  <a:extLst>
                    <a:ext uri="{9D8B030D-6E8A-4147-A177-3AD203B41FA5}">
                      <a16:colId xmlns:a16="http://schemas.microsoft.com/office/drawing/2014/main" val="20000"/>
                    </a:ext>
                  </a:extLst>
                </a:gridCol>
                <a:gridCol w="1425893">
                  <a:extLst>
                    <a:ext uri="{9D8B030D-6E8A-4147-A177-3AD203B41FA5}">
                      <a16:colId xmlns:a16="http://schemas.microsoft.com/office/drawing/2014/main" val="20001"/>
                    </a:ext>
                  </a:extLst>
                </a:gridCol>
                <a:gridCol w="1425893">
                  <a:extLst>
                    <a:ext uri="{9D8B030D-6E8A-4147-A177-3AD203B41FA5}">
                      <a16:colId xmlns:a16="http://schemas.microsoft.com/office/drawing/2014/main" val="20002"/>
                    </a:ext>
                  </a:extLst>
                </a:gridCol>
                <a:gridCol w="1425893">
                  <a:extLst>
                    <a:ext uri="{9D8B030D-6E8A-4147-A177-3AD203B41FA5}">
                      <a16:colId xmlns:a16="http://schemas.microsoft.com/office/drawing/2014/main" val="20003"/>
                    </a:ext>
                  </a:extLst>
                </a:gridCol>
                <a:gridCol w="1425893">
                  <a:extLst>
                    <a:ext uri="{9D8B030D-6E8A-4147-A177-3AD203B41FA5}">
                      <a16:colId xmlns:a16="http://schemas.microsoft.com/office/drawing/2014/main" val="20004"/>
                    </a:ext>
                  </a:extLst>
                </a:gridCol>
              </a:tblGrid>
              <a:tr h="478631">
                <a:tc>
                  <a:txBody>
                    <a:bodyPr/>
                    <a:lstStyle/>
                    <a:p>
                      <a:r>
                        <a:rPr lang="en-US" altLang="zh-CN" sz="2400" dirty="0"/>
                        <a:t>char</a:t>
                      </a:r>
                      <a:endParaRPr lang="zh-CN" altLang="en-US" sz="2400" dirty="0"/>
                    </a:p>
                  </a:txBody>
                  <a:tcPr marL="91449" marR="91449" marT="45699" marB="45699"/>
                </a:tc>
                <a:tc>
                  <a:txBody>
                    <a:bodyPr/>
                    <a:lstStyle/>
                    <a:p>
                      <a:r>
                        <a:rPr lang="en-US" altLang="zh-CN" sz="2400" dirty="0"/>
                        <a:t>int</a:t>
                      </a:r>
                      <a:endParaRPr lang="zh-CN" altLang="en-US" sz="2400" dirty="0"/>
                    </a:p>
                  </a:txBody>
                  <a:tcPr marL="91449" marR="91449" marT="45699" marB="45699"/>
                </a:tc>
                <a:tc>
                  <a:txBody>
                    <a:bodyPr/>
                    <a:lstStyle/>
                    <a:p>
                      <a:r>
                        <a:rPr lang="en-US" altLang="zh-CN" sz="2400" dirty="0"/>
                        <a:t>float</a:t>
                      </a:r>
                      <a:endParaRPr lang="zh-CN" altLang="en-US" sz="2400" dirty="0"/>
                    </a:p>
                  </a:txBody>
                  <a:tcPr marL="91449" marR="91449" marT="45699" marB="45699"/>
                </a:tc>
                <a:tc>
                  <a:txBody>
                    <a:bodyPr/>
                    <a:lstStyle/>
                    <a:p>
                      <a:r>
                        <a:rPr lang="en-US" altLang="zh-CN" sz="2400" dirty="0"/>
                        <a:t>double</a:t>
                      </a:r>
                      <a:endParaRPr lang="zh-CN" altLang="en-US" sz="2400" dirty="0"/>
                    </a:p>
                  </a:txBody>
                  <a:tcPr marL="91449" marR="91449" marT="45699" marB="45699"/>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2400" dirty="0"/>
                        <a:t>void</a:t>
                      </a:r>
                    </a:p>
                  </a:txBody>
                  <a:tcPr marL="91449" marR="91449" marT="45699" marB="45699"/>
                </a:tc>
                <a:extLst>
                  <a:ext uri="{0D108BD9-81ED-4DB2-BD59-A6C34878D82A}">
                    <a16:rowId xmlns:a16="http://schemas.microsoft.com/office/drawing/2014/main" val="10000"/>
                  </a:ext>
                </a:extLst>
              </a:tr>
              <a:tr h="478631">
                <a:tc>
                  <a:txBody>
                    <a:bodyPr/>
                    <a:lstStyle/>
                    <a:p>
                      <a:r>
                        <a:rPr lang="zh-CN" altLang="en-US" sz="2400" dirty="0"/>
                        <a:t>字符型</a:t>
                      </a:r>
                    </a:p>
                  </a:txBody>
                  <a:tcPr marL="91449" marR="91449" marT="45699" marB="45699"/>
                </a:tc>
                <a:tc>
                  <a:txBody>
                    <a:bodyPr/>
                    <a:lstStyle/>
                    <a:p>
                      <a:r>
                        <a:rPr lang="zh-CN" altLang="en-US" sz="2400" dirty="0"/>
                        <a:t>整型</a:t>
                      </a:r>
                    </a:p>
                  </a:txBody>
                  <a:tcPr marL="91449" marR="91449" marT="45699" marB="45699"/>
                </a:tc>
                <a:tc>
                  <a:txBody>
                    <a:bodyPr/>
                    <a:lstStyle/>
                    <a:p>
                      <a:r>
                        <a:rPr lang="zh-CN" altLang="en-US" sz="2400" dirty="0"/>
                        <a:t>浮点型</a:t>
                      </a:r>
                    </a:p>
                  </a:txBody>
                  <a:tcPr marL="91449" marR="91449" marT="45699" marB="45699"/>
                </a:tc>
                <a:tc>
                  <a:txBody>
                    <a:bodyPr/>
                    <a:lstStyle/>
                    <a:p>
                      <a:r>
                        <a:rPr lang="zh-CN" altLang="en-US" sz="2400" dirty="0"/>
                        <a:t>双精度型</a:t>
                      </a:r>
                    </a:p>
                  </a:txBody>
                  <a:tcPr marL="91449" marR="91449" marT="45699" marB="45699"/>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sz="2400" dirty="0"/>
                        <a:t>空类型 </a:t>
                      </a:r>
                    </a:p>
                  </a:txBody>
                  <a:tcPr marL="91449" marR="91449" marT="45699" marB="45699"/>
                </a:tc>
                <a:extLst>
                  <a:ext uri="{0D108BD9-81ED-4DB2-BD59-A6C34878D82A}">
                    <a16:rowId xmlns:a16="http://schemas.microsoft.com/office/drawing/2014/main" val="10001"/>
                  </a:ext>
                </a:extLst>
              </a:tr>
            </a:tbl>
          </a:graphicData>
        </a:graphic>
      </p:graphicFrame>
      <p:sp>
        <p:nvSpPr>
          <p:cNvPr id="5" name="灯片编号占位符 4">
            <a:extLst>
              <a:ext uri="{FF2B5EF4-FFF2-40B4-BE49-F238E27FC236}">
                <a16:creationId xmlns:a16="http://schemas.microsoft.com/office/drawing/2014/main" id="{37133308-1254-4D88-8F8E-D42FD6572AF8}"/>
              </a:ext>
            </a:extLst>
          </p:cNvPr>
          <p:cNvSpPr>
            <a:spLocks noGrp="1"/>
          </p:cNvSpPr>
          <p:nvPr>
            <p:ph type="sldNum" sz="quarter" idx="12"/>
          </p:nvPr>
        </p:nvSpPr>
        <p:spPr/>
        <p:txBody>
          <a:bodyPr/>
          <a:lstStyle/>
          <a:p>
            <a:pPr>
              <a:defRPr/>
            </a:pPr>
            <a:fld id="{AF558B7A-153B-40BC-AA5C-E6DCF1991A17}" type="slidenum">
              <a:rPr lang="en-US" altLang="zh-CN" smtClean="0"/>
              <a:pPr>
                <a:defRPr/>
              </a:pPr>
              <a:t>27</a:t>
            </a:fld>
            <a:endParaRPr lang="en-US" altLang="zh-CN"/>
          </a:p>
        </p:txBody>
      </p:sp>
    </p:spTree>
  </p:cSld>
  <p:clrMapOvr>
    <a:masterClrMapping/>
  </p:clrMapOvr>
  <p:transition>
    <p:spli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a:extLst>
              <a:ext uri="{FF2B5EF4-FFF2-40B4-BE49-F238E27FC236}">
                <a16:creationId xmlns:a16="http://schemas.microsoft.com/office/drawing/2014/main" id="{28F00B02-7102-43D3-AEDD-42B8D57F1A45}"/>
              </a:ext>
            </a:extLst>
          </p:cNvPr>
          <p:cNvSpPr>
            <a:spLocks noGrp="1" noChangeArrowheads="1"/>
          </p:cNvSpPr>
          <p:nvPr>
            <p:ph type="title"/>
          </p:nvPr>
        </p:nvSpPr>
        <p:spPr/>
        <p:txBody>
          <a:bodyPr/>
          <a:lstStyle/>
          <a:p>
            <a:r>
              <a:rPr lang="zh-CN" altLang="en-US" dirty="0"/>
              <a:t>数据类型与数据结构</a:t>
            </a:r>
          </a:p>
        </p:txBody>
      </p:sp>
      <p:sp>
        <p:nvSpPr>
          <p:cNvPr id="3" name="内容占位符 2">
            <a:extLst>
              <a:ext uri="{FF2B5EF4-FFF2-40B4-BE49-F238E27FC236}">
                <a16:creationId xmlns:a16="http://schemas.microsoft.com/office/drawing/2014/main" id="{E2698EC5-710D-41B6-BF9E-06ADA5B276F8}"/>
              </a:ext>
            </a:extLst>
          </p:cNvPr>
          <p:cNvSpPr>
            <a:spLocks noGrp="1"/>
          </p:cNvSpPr>
          <p:nvPr>
            <p:ph idx="1"/>
          </p:nvPr>
        </p:nvSpPr>
        <p:spPr/>
        <p:txBody>
          <a:bodyPr>
            <a:normAutofit fontScale="92500" lnSpcReduction="20000"/>
          </a:bodyPr>
          <a:lstStyle/>
          <a:p>
            <a:pPr>
              <a:defRPr/>
            </a:pPr>
            <a:r>
              <a:rPr lang="zh-CN" altLang="en-US" dirty="0"/>
              <a:t>数据类型是从编程者角度看到的数据结构。</a:t>
            </a:r>
          </a:p>
          <a:p>
            <a:pPr>
              <a:defRPr/>
            </a:pPr>
            <a:r>
              <a:rPr lang="zh-CN" altLang="en-US" dirty="0"/>
              <a:t>组合数据类型由基本数据类型或组合数据类型组成。</a:t>
            </a:r>
          </a:p>
          <a:p>
            <a:pPr>
              <a:defRPr/>
            </a:pPr>
            <a:r>
              <a:rPr lang="zh-CN" altLang="en-US" dirty="0"/>
              <a:t>基本数据类型可以看作是计算机中已实现的数据结构。</a:t>
            </a:r>
          </a:p>
          <a:p>
            <a:pPr>
              <a:defRPr/>
            </a:pPr>
            <a:r>
              <a:rPr lang="zh-CN" altLang="en-US" dirty="0"/>
              <a:t>数据类型是模板，必须定义属于某种数据类型的变量，才能参加运算。 </a:t>
            </a:r>
          </a:p>
        </p:txBody>
      </p:sp>
      <p:sp>
        <p:nvSpPr>
          <p:cNvPr id="4" name="灯片编号占位符 3">
            <a:extLst>
              <a:ext uri="{FF2B5EF4-FFF2-40B4-BE49-F238E27FC236}">
                <a16:creationId xmlns:a16="http://schemas.microsoft.com/office/drawing/2014/main" id="{391232B1-6BCD-4BDB-8FDA-EA7CEE245712}"/>
              </a:ext>
            </a:extLst>
          </p:cNvPr>
          <p:cNvSpPr>
            <a:spLocks noGrp="1"/>
          </p:cNvSpPr>
          <p:nvPr>
            <p:ph type="sldNum" sz="quarter" idx="12"/>
          </p:nvPr>
        </p:nvSpPr>
        <p:spPr/>
        <p:txBody>
          <a:bodyPr/>
          <a:lstStyle/>
          <a:p>
            <a:pPr>
              <a:defRPr/>
            </a:pPr>
            <a:fld id="{C626A6BE-70CB-4452-A198-BB3F4E51BE20}" type="slidenum">
              <a:rPr lang="en-US" altLang="zh-CN" smtClean="0"/>
              <a:pPr>
                <a:defRPr/>
              </a:pPr>
              <a:t>28</a:t>
            </a:fld>
            <a:endParaRPr lang="en-US" altLang="zh-CN"/>
          </a:p>
        </p:txBody>
      </p:sp>
    </p:spTree>
  </p:cSld>
  <p:clrMapOvr>
    <a:masterClrMapping/>
  </p:clrMapOvr>
  <p:transition>
    <p:spli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a:extLst>
              <a:ext uri="{FF2B5EF4-FFF2-40B4-BE49-F238E27FC236}">
                <a16:creationId xmlns:a16="http://schemas.microsoft.com/office/drawing/2014/main" id="{032C4F82-5E09-4850-B6BE-64722518608D}"/>
              </a:ext>
            </a:extLst>
          </p:cNvPr>
          <p:cNvSpPr>
            <a:spLocks noGrp="1" noChangeArrowheads="1"/>
          </p:cNvSpPr>
          <p:nvPr>
            <p:ph type="title"/>
          </p:nvPr>
        </p:nvSpPr>
        <p:spPr/>
        <p:txBody>
          <a:bodyPr/>
          <a:lstStyle/>
          <a:p>
            <a:r>
              <a:rPr lang="zh-CN" altLang="en-US" dirty="0"/>
              <a:t>数据抽象与抽象数据类型 </a:t>
            </a:r>
          </a:p>
        </p:txBody>
      </p:sp>
      <p:sp>
        <p:nvSpPr>
          <p:cNvPr id="46083" name="内容占位符 2">
            <a:extLst>
              <a:ext uri="{FF2B5EF4-FFF2-40B4-BE49-F238E27FC236}">
                <a16:creationId xmlns:a16="http://schemas.microsoft.com/office/drawing/2014/main" id="{A5ED0973-7C9C-40D4-B956-AD02462C5A8A}"/>
              </a:ext>
            </a:extLst>
          </p:cNvPr>
          <p:cNvSpPr>
            <a:spLocks noGrp="1" noChangeArrowheads="1"/>
          </p:cNvSpPr>
          <p:nvPr>
            <p:ph idx="1"/>
          </p:nvPr>
        </p:nvSpPr>
        <p:spPr/>
        <p:txBody>
          <a:bodyPr>
            <a:normAutofit fontScale="77500" lnSpcReduction="20000"/>
          </a:bodyPr>
          <a:lstStyle/>
          <a:p>
            <a:r>
              <a:rPr lang="zh-CN" altLang="en-US" dirty="0"/>
              <a:t>抽象数据类型是由用户定义，用以表示应用问题的数据模型。</a:t>
            </a:r>
          </a:p>
          <a:p>
            <a:pPr lvl="1"/>
            <a:r>
              <a:rPr lang="zh-CN" altLang="en-US" dirty="0"/>
              <a:t>使设计者在问题分析时先抓住反映问题本质的东西，而避免陷入非本质的细节。</a:t>
            </a:r>
            <a:endParaRPr lang="en-US" altLang="zh-CN" dirty="0"/>
          </a:p>
          <a:p>
            <a:r>
              <a:rPr lang="zh-CN" altLang="en-US" dirty="0"/>
              <a:t>抽象数据类型可用（</a:t>
            </a:r>
            <a:r>
              <a:rPr lang="en-US" altLang="zh-CN" dirty="0"/>
              <a:t>D, S, P</a:t>
            </a:r>
            <a:r>
              <a:rPr lang="zh-CN" altLang="en-US" dirty="0"/>
              <a:t>）三元组表示</a:t>
            </a:r>
            <a:endParaRPr lang="en-US" altLang="zh-CN" dirty="0"/>
          </a:p>
          <a:p>
            <a:pPr lvl="1"/>
            <a:r>
              <a:rPr lang="en-US" altLang="zh-CN" dirty="0"/>
              <a:t>D </a:t>
            </a:r>
            <a:r>
              <a:rPr lang="zh-CN" altLang="en-US" dirty="0"/>
              <a:t>是数据元素的集合、</a:t>
            </a:r>
            <a:r>
              <a:rPr lang="en-US" altLang="zh-CN" dirty="0"/>
              <a:t>S </a:t>
            </a:r>
            <a:r>
              <a:rPr lang="zh-CN" altLang="en-US" dirty="0"/>
              <a:t>是 </a:t>
            </a:r>
            <a:r>
              <a:rPr lang="en-US" altLang="zh-CN" dirty="0"/>
              <a:t>D</a:t>
            </a:r>
            <a:r>
              <a:rPr lang="zh-CN" altLang="en-US" dirty="0"/>
              <a:t>上的关系集合、</a:t>
            </a:r>
            <a:r>
              <a:rPr lang="en-US" altLang="zh-CN" dirty="0"/>
              <a:t>P </a:t>
            </a:r>
            <a:r>
              <a:rPr lang="zh-CN" altLang="en-US" dirty="0"/>
              <a:t>是对 </a:t>
            </a:r>
            <a:r>
              <a:rPr lang="en-US" altLang="zh-CN" dirty="0"/>
              <a:t>D </a:t>
            </a:r>
            <a:r>
              <a:rPr lang="zh-CN" altLang="en-US" dirty="0"/>
              <a:t>的基本操作集合。</a:t>
            </a:r>
            <a:endParaRPr lang="en-US" altLang="zh-CN" dirty="0"/>
          </a:p>
          <a:p>
            <a:pPr lvl="2"/>
            <a:r>
              <a:rPr lang="zh-CN" altLang="en-US" dirty="0"/>
              <a:t>（</a:t>
            </a:r>
            <a:r>
              <a:rPr lang="en-US" altLang="zh-CN" dirty="0"/>
              <a:t>D, S, P</a:t>
            </a:r>
            <a:r>
              <a:rPr lang="zh-CN" altLang="en-US" dirty="0"/>
              <a:t>）又称为数据结构的三要素。</a:t>
            </a:r>
            <a:endParaRPr lang="en-US" altLang="zh-CN" dirty="0"/>
          </a:p>
          <a:p>
            <a:r>
              <a:rPr lang="zh-CN" altLang="en-US" dirty="0"/>
              <a:t>抽象数据类型概念进一步发展</a:t>
            </a:r>
            <a:r>
              <a:rPr lang="en-US" altLang="zh-CN" dirty="0"/>
              <a:t>—</a:t>
            </a:r>
            <a:r>
              <a:rPr lang="zh-CN" altLang="en-US" dirty="0"/>
              <a:t>面向对象概念。</a:t>
            </a:r>
          </a:p>
        </p:txBody>
      </p:sp>
      <p:sp>
        <p:nvSpPr>
          <p:cNvPr id="4" name="灯片编号占位符 3">
            <a:extLst>
              <a:ext uri="{FF2B5EF4-FFF2-40B4-BE49-F238E27FC236}">
                <a16:creationId xmlns:a16="http://schemas.microsoft.com/office/drawing/2014/main" id="{7E454EA7-EFB4-414C-9D28-F2949FA04D8F}"/>
              </a:ext>
            </a:extLst>
          </p:cNvPr>
          <p:cNvSpPr>
            <a:spLocks noGrp="1"/>
          </p:cNvSpPr>
          <p:nvPr>
            <p:ph type="sldNum" sz="quarter" idx="12"/>
          </p:nvPr>
        </p:nvSpPr>
        <p:spPr/>
        <p:txBody>
          <a:bodyPr/>
          <a:lstStyle/>
          <a:p>
            <a:pPr>
              <a:defRPr/>
            </a:pPr>
            <a:fld id="{713D2F79-7C98-4296-B6C1-2E7140C9693A}" type="slidenum">
              <a:rPr lang="en-US" altLang="zh-CN" smtClean="0"/>
              <a:pPr>
                <a:defRPr/>
              </a:pPr>
              <a:t>29</a:t>
            </a:fld>
            <a:endParaRPr lang="en-US" altLang="zh-CN"/>
          </a:p>
        </p:txBody>
      </p:sp>
    </p:spTree>
  </p:cSld>
  <p:clrMapOvr>
    <a:masterClrMapping/>
  </p:clrMapOvr>
  <p:transition>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a:extLst>
              <a:ext uri="{FF2B5EF4-FFF2-40B4-BE49-F238E27FC236}">
                <a16:creationId xmlns:a16="http://schemas.microsoft.com/office/drawing/2014/main" id="{3E02853C-0544-4CA5-84A7-A1B10D3FC7C1}"/>
              </a:ext>
            </a:extLst>
          </p:cNvPr>
          <p:cNvSpPr>
            <a:spLocks noGrp="1" noChangeArrowheads="1"/>
          </p:cNvSpPr>
          <p:nvPr>
            <p:ph type="title"/>
          </p:nvPr>
        </p:nvSpPr>
        <p:spPr/>
        <p:txBody>
          <a:bodyPr/>
          <a:lstStyle/>
          <a:p>
            <a:r>
              <a:rPr lang="zh-CN" altLang="en-US" dirty="0"/>
              <a:t>例：自然数的抽象数据类型定义</a:t>
            </a:r>
          </a:p>
        </p:txBody>
      </p:sp>
      <p:sp>
        <p:nvSpPr>
          <p:cNvPr id="3" name="内容占位符 2">
            <a:extLst>
              <a:ext uri="{FF2B5EF4-FFF2-40B4-BE49-F238E27FC236}">
                <a16:creationId xmlns:a16="http://schemas.microsoft.com/office/drawing/2014/main" id="{855B8384-A87F-4CD9-9455-53175667E4AA}"/>
              </a:ext>
            </a:extLst>
          </p:cNvPr>
          <p:cNvSpPr>
            <a:spLocks noGrp="1"/>
          </p:cNvSpPr>
          <p:nvPr>
            <p:ph sz="half" idx="1"/>
          </p:nvPr>
        </p:nvSpPr>
        <p:spPr>
          <a:solidFill>
            <a:schemeClr val="bg1">
              <a:lumMod val="85000"/>
            </a:schemeClr>
          </a:solidFill>
        </p:spPr>
        <p:txBody>
          <a:bodyPr/>
          <a:lstStyle/>
          <a:p>
            <a:pPr marL="0" indent="0">
              <a:buNone/>
              <a:defRPr/>
            </a:pPr>
            <a:r>
              <a:rPr lang="en-US" altLang="zh-CN" dirty="0"/>
              <a:t>ADT </a:t>
            </a:r>
            <a:r>
              <a:rPr lang="en-US" altLang="zh-CN" dirty="0" err="1"/>
              <a:t>NaturalNumber</a:t>
            </a:r>
            <a:r>
              <a:rPr lang="en-US" altLang="zh-CN" dirty="0"/>
              <a:t> is</a:t>
            </a:r>
          </a:p>
          <a:p>
            <a:pPr marL="0" indent="0">
              <a:buNone/>
              <a:defRPr/>
            </a:pPr>
            <a:r>
              <a:rPr lang="en-US" altLang="zh-CN" dirty="0"/>
              <a:t>objects: </a:t>
            </a:r>
            <a:r>
              <a:rPr lang="zh-CN" altLang="en-US" dirty="0"/>
              <a:t>一个整数的有序子集合</a:t>
            </a:r>
            <a:r>
              <a:rPr lang="en-US" altLang="zh-CN" dirty="0"/>
              <a:t>,</a:t>
            </a:r>
            <a:r>
              <a:rPr lang="zh-CN" altLang="en-US" dirty="0"/>
              <a:t>它开始于</a:t>
            </a:r>
            <a:r>
              <a:rPr lang="en-US" altLang="zh-CN" dirty="0"/>
              <a:t>0</a:t>
            </a:r>
            <a:r>
              <a:rPr lang="zh-CN" altLang="en-US" dirty="0"/>
              <a:t>，结束于机器能表示的最大整数</a:t>
            </a:r>
            <a:r>
              <a:rPr lang="en-US" altLang="zh-CN" dirty="0"/>
              <a:t>(</a:t>
            </a:r>
            <a:r>
              <a:rPr lang="en-US" altLang="zh-CN" dirty="0" err="1"/>
              <a:t>MaxInt</a:t>
            </a:r>
            <a:r>
              <a:rPr lang="en-US" altLang="zh-CN" dirty="0"/>
              <a:t>)</a:t>
            </a:r>
            <a:r>
              <a:rPr lang="zh-CN" altLang="en-US" dirty="0"/>
              <a:t>。</a:t>
            </a:r>
            <a:endParaRPr lang="en-US" altLang="zh-CN" dirty="0"/>
          </a:p>
          <a:p>
            <a:pPr marL="0" indent="0">
              <a:buNone/>
              <a:defRPr/>
            </a:pPr>
            <a:r>
              <a:rPr lang="en-US" altLang="zh-CN" dirty="0"/>
              <a:t>Function:  </a:t>
            </a:r>
            <a:r>
              <a:rPr lang="zh-CN" altLang="en-US" dirty="0"/>
              <a:t>对于所有的 </a:t>
            </a:r>
            <a:r>
              <a:rPr lang="en-US" altLang="zh-CN" dirty="0"/>
              <a:t>x, y </a:t>
            </a:r>
            <a:r>
              <a:rPr lang="en-US" altLang="zh-CN" dirty="0">
                <a:sym typeface="Symbol" panose="05050102010706020507" pitchFamily="18" charset="2"/>
              </a:rPr>
              <a:t></a:t>
            </a:r>
            <a:r>
              <a:rPr lang="en-US" altLang="zh-CN" dirty="0"/>
              <a:t></a:t>
            </a:r>
            <a:r>
              <a:rPr lang="en-US" altLang="zh-CN" dirty="0" err="1"/>
              <a:t>NaturalNumber</a:t>
            </a:r>
            <a:r>
              <a:rPr lang="zh-CN" altLang="en-US" dirty="0"/>
              <a:t>，</a:t>
            </a:r>
            <a:r>
              <a:rPr lang="en-US" altLang="zh-CN" dirty="0"/>
              <a:t>False, True </a:t>
            </a:r>
            <a:r>
              <a:rPr lang="en-US" altLang="zh-CN" dirty="0">
                <a:sym typeface="Symbol" panose="05050102010706020507" pitchFamily="18" charset="2"/>
              </a:rPr>
              <a:t></a:t>
            </a:r>
            <a:r>
              <a:rPr lang="en-US" altLang="zh-CN" dirty="0"/>
              <a:t> Boolean</a:t>
            </a:r>
            <a:r>
              <a:rPr lang="zh-CN" altLang="en-US" dirty="0"/>
              <a:t>，</a:t>
            </a:r>
            <a:r>
              <a:rPr lang="en-US" altLang="zh-CN" dirty="0"/>
              <a:t>+</a:t>
            </a:r>
            <a:r>
              <a:rPr lang="zh-CN" altLang="en-US" dirty="0"/>
              <a:t>、</a:t>
            </a:r>
            <a:r>
              <a:rPr lang="en-US" altLang="zh-CN" dirty="0"/>
              <a:t>-</a:t>
            </a:r>
            <a:r>
              <a:rPr lang="zh-CN" altLang="en-US" dirty="0"/>
              <a:t>、</a:t>
            </a:r>
            <a:r>
              <a:rPr lang="en-US" altLang="zh-CN" dirty="0"/>
              <a:t>&lt;</a:t>
            </a:r>
            <a:r>
              <a:rPr lang="zh-CN" altLang="en-US" dirty="0"/>
              <a:t>、</a:t>
            </a:r>
            <a:r>
              <a:rPr lang="en-US" altLang="zh-CN" dirty="0"/>
              <a:t>==</a:t>
            </a:r>
            <a:r>
              <a:rPr lang="zh-CN" altLang="en-US" dirty="0"/>
              <a:t>、</a:t>
            </a:r>
            <a:r>
              <a:rPr lang="en-US" altLang="zh-CN" dirty="0"/>
              <a:t>=</a:t>
            </a:r>
            <a:r>
              <a:rPr lang="zh-CN" altLang="en-US" dirty="0"/>
              <a:t>等都是可用的服务。</a:t>
            </a:r>
          </a:p>
          <a:p>
            <a:pPr marL="0" indent="0">
              <a:buFont typeface="Arial" panose="020B0604020202020204" pitchFamily="34" charset="0"/>
              <a:buNone/>
              <a:defRPr/>
            </a:pPr>
            <a:r>
              <a:rPr lang="zh-CN" altLang="en-US" dirty="0"/>
              <a:t>     </a:t>
            </a:r>
            <a:r>
              <a:rPr lang="en-US" altLang="zh-CN" dirty="0"/>
              <a:t>Zero( ) : </a:t>
            </a:r>
            <a:r>
              <a:rPr lang="en-US" altLang="zh-CN" dirty="0" err="1"/>
              <a:t>NaturalNumber</a:t>
            </a:r>
            <a:r>
              <a:rPr lang="en-US" altLang="zh-CN" dirty="0"/>
              <a:t>   </a:t>
            </a:r>
            <a:r>
              <a:rPr lang="zh-CN" altLang="en-US" dirty="0"/>
              <a:t>返回</a:t>
            </a:r>
            <a:r>
              <a:rPr lang="en-US" altLang="zh-CN" dirty="0"/>
              <a:t>0 </a:t>
            </a:r>
          </a:p>
          <a:p>
            <a:pPr marL="0" indent="0">
              <a:buFont typeface="Arial" panose="020B0604020202020204" pitchFamily="34" charset="0"/>
              <a:buNone/>
              <a:defRPr/>
            </a:pPr>
            <a:r>
              <a:rPr lang="en-US" altLang="zh-CN" dirty="0"/>
              <a:t>     </a:t>
            </a:r>
            <a:r>
              <a:rPr lang="en-US" altLang="zh-CN" dirty="0" err="1"/>
              <a:t>IsZero</a:t>
            </a:r>
            <a:r>
              <a:rPr lang="en-US" altLang="zh-CN" dirty="0"/>
              <a:t>(x) : Boolean    if (x==0) </a:t>
            </a:r>
            <a:r>
              <a:rPr lang="zh-CN" altLang="en-US" dirty="0"/>
              <a:t>返回</a:t>
            </a:r>
            <a:r>
              <a:rPr lang="en-US" altLang="zh-CN" dirty="0"/>
              <a:t>True      else </a:t>
            </a:r>
            <a:r>
              <a:rPr lang="zh-CN" altLang="en-US" dirty="0"/>
              <a:t>返回</a:t>
            </a:r>
            <a:r>
              <a:rPr lang="en-US" altLang="zh-CN" dirty="0"/>
              <a:t>False</a:t>
            </a:r>
          </a:p>
          <a:p>
            <a:pPr marL="0" indent="0">
              <a:buFont typeface="Arial" panose="020B0604020202020204" pitchFamily="34" charset="0"/>
              <a:buNone/>
              <a:defRPr/>
            </a:pPr>
            <a:endParaRPr lang="en-US" altLang="zh-CN" dirty="0"/>
          </a:p>
          <a:p>
            <a:pPr>
              <a:defRPr/>
            </a:pPr>
            <a:endParaRPr lang="en-US" altLang="zh-CN" dirty="0"/>
          </a:p>
        </p:txBody>
      </p:sp>
      <p:sp>
        <p:nvSpPr>
          <p:cNvPr id="4" name="内容占位符 3">
            <a:extLst>
              <a:ext uri="{FF2B5EF4-FFF2-40B4-BE49-F238E27FC236}">
                <a16:creationId xmlns:a16="http://schemas.microsoft.com/office/drawing/2014/main" id="{B35BCFEA-8B9D-45EC-BD62-00A8FA5C0408}"/>
              </a:ext>
            </a:extLst>
          </p:cNvPr>
          <p:cNvSpPr>
            <a:spLocks noGrp="1"/>
          </p:cNvSpPr>
          <p:nvPr>
            <p:ph sz="half" idx="2"/>
          </p:nvPr>
        </p:nvSpPr>
        <p:spPr>
          <a:solidFill>
            <a:schemeClr val="bg1">
              <a:lumMod val="85000"/>
            </a:schemeClr>
          </a:solidFill>
        </p:spPr>
        <p:txBody>
          <a:bodyPr/>
          <a:lstStyle/>
          <a:p>
            <a:pPr marL="0" indent="0">
              <a:buFont typeface="Arial" panose="020B0604020202020204" pitchFamily="34" charset="0"/>
              <a:buNone/>
              <a:defRPr/>
            </a:pPr>
            <a:r>
              <a:rPr lang="en-US" altLang="zh-CN" dirty="0"/>
              <a:t>     Add (x, y) : </a:t>
            </a:r>
            <a:r>
              <a:rPr lang="en-US" altLang="zh-CN" dirty="0" err="1"/>
              <a:t>NaturalNumber</a:t>
            </a:r>
            <a:r>
              <a:rPr lang="en-US" altLang="zh-CN" dirty="0"/>
              <a:t>            if (</a:t>
            </a:r>
            <a:r>
              <a:rPr lang="en-US" altLang="zh-CN" dirty="0" err="1"/>
              <a:t>x+y</a:t>
            </a:r>
            <a:r>
              <a:rPr lang="en-US" altLang="zh-CN" dirty="0"/>
              <a:t>&lt;=</a:t>
            </a:r>
            <a:r>
              <a:rPr lang="en-US" altLang="zh-CN" dirty="0" err="1"/>
              <a:t>MaxInt</a:t>
            </a:r>
            <a:r>
              <a:rPr lang="en-US" altLang="zh-CN" dirty="0"/>
              <a:t>)</a:t>
            </a:r>
            <a:r>
              <a:rPr lang="zh-CN" altLang="en-US" dirty="0"/>
              <a:t>返回 </a:t>
            </a:r>
            <a:r>
              <a:rPr lang="en-US" altLang="zh-CN" dirty="0" err="1"/>
              <a:t>x+y</a:t>
            </a:r>
            <a:r>
              <a:rPr lang="en-US" altLang="zh-CN" dirty="0"/>
              <a:t>  else </a:t>
            </a:r>
            <a:r>
              <a:rPr lang="zh-CN" altLang="en-US" dirty="0"/>
              <a:t>返回</a:t>
            </a:r>
            <a:r>
              <a:rPr lang="en-US" altLang="zh-CN" dirty="0" err="1"/>
              <a:t>MaxInt</a:t>
            </a:r>
            <a:endParaRPr lang="en-US" altLang="zh-CN" dirty="0"/>
          </a:p>
          <a:p>
            <a:pPr marL="0" indent="0">
              <a:buFont typeface="Arial" panose="020B0604020202020204" pitchFamily="34" charset="0"/>
              <a:buNone/>
              <a:defRPr/>
            </a:pPr>
            <a:r>
              <a:rPr lang="en-US" altLang="zh-CN" dirty="0"/>
              <a:t>     Equal (x, y) : Boolean          if (x==y) </a:t>
            </a:r>
            <a:r>
              <a:rPr lang="zh-CN" altLang="en-US" dirty="0"/>
              <a:t>返回</a:t>
            </a:r>
            <a:r>
              <a:rPr lang="en-US" altLang="zh-CN" dirty="0"/>
              <a:t>True  else </a:t>
            </a:r>
            <a:r>
              <a:rPr lang="zh-CN" altLang="en-US" dirty="0"/>
              <a:t>返回 </a:t>
            </a:r>
            <a:r>
              <a:rPr lang="en-US" altLang="zh-CN" dirty="0"/>
              <a:t>False</a:t>
            </a:r>
          </a:p>
          <a:p>
            <a:pPr marL="0" indent="0">
              <a:buFont typeface="Arial" panose="020B0604020202020204" pitchFamily="34" charset="0"/>
              <a:buNone/>
              <a:defRPr/>
            </a:pPr>
            <a:r>
              <a:rPr lang="en-US" altLang="zh-CN" dirty="0"/>
              <a:t>     Successor (x) : </a:t>
            </a:r>
            <a:r>
              <a:rPr lang="en-US" altLang="zh-CN" dirty="0" err="1"/>
              <a:t>NaturalNumber</a:t>
            </a:r>
            <a:r>
              <a:rPr lang="en-US" altLang="zh-CN" dirty="0"/>
              <a:t>         if (x==</a:t>
            </a:r>
            <a:r>
              <a:rPr lang="en-US" altLang="zh-CN" dirty="0" err="1"/>
              <a:t>MaxInt</a:t>
            </a:r>
            <a:r>
              <a:rPr lang="en-US" altLang="zh-CN" dirty="0"/>
              <a:t>) </a:t>
            </a:r>
            <a:r>
              <a:rPr lang="zh-CN" altLang="en-US" dirty="0"/>
              <a:t>返回 </a:t>
            </a:r>
            <a:r>
              <a:rPr lang="en-US" altLang="zh-CN" dirty="0"/>
              <a:t>x  else  </a:t>
            </a:r>
            <a:r>
              <a:rPr lang="zh-CN" altLang="en-US" dirty="0"/>
              <a:t>返回 </a:t>
            </a:r>
            <a:r>
              <a:rPr lang="en-US" altLang="zh-CN" dirty="0"/>
              <a:t>x+1</a:t>
            </a:r>
          </a:p>
          <a:p>
            <a:pPr marL="0" indent="0">
              <a:buFont typeface="Arial" panose="020B0604020202020204" pitchFamily="34" charset="0"/>
              <a:buNone/>
              <a:defRPr/>
            </a:pPr>
            <a:r>
              <a:rPr lang="en-US" altLang="zh-CN" dirty="0"/>
              <a:t>     Subtract (x, y) : </a:t>
            </a:r>
            <a:r>
              <a:rPr lang="en-US" altLang="zh-CN" dirty="0" err="1"/>
              <a:t>NaturalNumber</a:t>
            </a:r>
            <a:r>
              <a:rPr lang="en-US" altLang="zh-CN" dirty="0"/>
              <a:t>       if (x &lt; y) </a:t>
            </a:r>
            <a:r>
              <a:rPr lang="zh-CN" altLang="en-US" dirty="0"/>
              <a:t>返回 </a:t>
            </a:r>
            <a:r>
              <a:rPr lang="en-US" altLang="zh-CN" dirty="0"/>
              <a:t>0 else </a:t>
            </a:r>
            <a:r>
              <a:rPr lang="zh-CN" altLang="en-US" dirty="0"/>
              <a:t>返回 </a:t>
            </a:r>
            <a:r>
              <a:rPr lang="en-US" altLang="zh-CN" dirty="0"/>
              <a:t>x - y</a:t>
            </a:r>
          </a:p>
        </p:txBody>
      </p:sp>
      <p:sp>
        <p:nvSpPr>
          <p:cNvPr id="5" name="灯片编号占位符 4">
            <a:extLst>
              <a:ext uri="{FF2B5EF4-FFF2-40B4-BE49-F238E27FC236}">
                <a16:creationId xmlns:a16="http://schemas.microsoft.com/office/drawing/2014/main" id="{335AF350-FC2B-42BA-8236-76C3E0686F21}"/>
              </a:ext>
            </a:extLst>
          </p:cNvPr>
          <p:cNvSpPr>
            <a:spLocks noGrp="1"/>
          </p:cNvSpPr>
          <p:nvPr>
            <p:ph type="sldNum" sz="quarter" idx="12"/>
          </p:nvPr>
        </p:nvSpPr>
        <p:spPr/>
        <p:txBody>
          <a:bodyPr/>
          <a:lstStyle/>
          <a:p>
            <a:pPr>
              <a:defRPr/>
            </a:pPr>
            <a:fld id="{A31C477E-C8C7-46AC-8E08-D216C428F23A}" type="slidenum">
              <a:rPr lang="en-US" altLang="zh-CN" smtClean="0"/>
              <a:pPr>
                <a:defRPr/>
              </a:pPr>
              <a:t>30</a:t>
            </a:fld>
            <a:endParaRPr lang="en-US" altLang="zh-CN"/>
          </a:p>
        </p:txBody>
      </p:sp>
    </p:spTree>
  </p:cSld>
  <p:clrMapOvr>
    <a:masterClrMapping/>
  </p:clrMapOvr>
  <p:transition>
    <p:spli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a:extLst>
              <a:ext uri="{FF2B5EF4-FFF2-40B4-BE49-F238E27FC236}">
                <a16:creationId xmlns:a16="http://schemas.microsoft.com/office/drawing/2014/main" id="{2EF17573-3F35-4E81-B71E-2F5000FF9BF9}"/>
              </a:ext>
            </a:extLst>
          </p:cNvPr>
          <p:cNvSpPr>
            <a:spLocks noGrp="1" noChangeArrowheads="1"/>
          </p:cNvSpPr>
          <p:nvPr>
            <p:ph type="title"/>
          </p:nvPr>
        </p:nvSpPr>
        <p:spPr/>
        <p:txBody>
          <a:bodyPr/>
          <a:lstStyle/>
          <a:p>
            <a:pPr eaLnBrk="1" hangingPunct="1"/>
            <a:r>
              <a:rPr lang="en-US" altLang="zh-CN"/>
              <a:t>1.3 </a:t>
            </a:r>
            <a:r>
              <a:rPr lang="zh-CN" altLang="en-US"/>
              <a:t>作为</a:t>
            </a:r>
            <a:r>
              <a:rPr lang="en-US" altLang="zh-CN"/>
              <a:t>ADT</a:t>
            </a:r>
            <a:r>
              <a:rPr lang="zh-CN" altLang="en-US"/>
              <a:t>的</a:t>
            </a:r>
            <a:r>
              <a:rPr lang="en-US" altLang="zh-CN"/>
              <a:t>C++</a:t>
            </a:r>
            <a:r>
              <a:rPr lang="zh-CN" altLang="en-US"/>
              <a:t>类</a:t>
            </a:r>
          </a:p>
        </p:txBody>
      </p:sp>
      <p:sp>
        <p:nvSpPr>
          <p:cNvPr id="363523" name="Rectangle 1027">
            <a:extLst>
              <a:ext uri="{FF2B5EF4-FFF2-40B4-BE49-F238E27FC236}">
                <a16:creationId xmlns:a16="http://schemas.microsoft.com/office/drawing/2014/main" id="{96C48159-CFC0-44D4-A84E-42E16B5979FA}"/>
              </a:ext>
            </a:extLst>
          </p:cNvPr>
          <p:cNvSpPr>
            <a:spLocks noGrp="1" noChangeArrowheads="1"/>
          </p:cNvSpPr>
          <p:nvPr>
            <p:ph idx="1"/>
          </p:nvPr>
        </p:nvSpPr>
        <p:spPr/>
        <p:txBody>
          <a:bodyPr rtlCol="0">
            <a:normAutofit fontScale="92500" lnSpcReduction="10000"/>
          </a:bodyPr>
          <a:lstStyle/>
          <a:p>
            <a:pPr eaLnBrk="1" fontAlgn="auto" hangingPunct="1">
              <a:spcAft>
                <a:spcPts val="0"/>
              </a:spcAft>
              <a:defRPr/>
            </a:pPr>
            <a:r>
              <a:rPr lang="zh-CN" altLang="en-US" sz="2800"/>
              <a:t>面向对象的概念</a:t>
            </a:r>
          </a:p>
          <a:p>
            <a:pPr eaLnBrk="1" fontAlgn="auto" hangingPunct="1">
              <a:spcAft>
                <a:spcPts val="0"/>
              </a:spcAft>
              <a:defRPr/>
            </a:pPr>
            <a:r>
              <a:rPr lang="en-US" altLang="zh-CN" sz="2800"/>
              <a:t>C++</a:t>
            </a:r>
            <a:r>
              <a:rPr lang="zh-CN" altLang="en-US" sz="2800"/>
              <a:t>中的类（略）</a:t>
            </a:r>
          </a:p>
          <a:p>
            <a:pPr eaLnBrk="1" fontAlgn="auto" hangingPunct="1">
              <a:spcAft>
                <a:spcPts val="0"/>
              </a:spcAft>
              <a:defRPr/>
            </a:pPr>
            <a:r>
              <a:rPr lang="en-US" altLang="zh-CN" sz="2800"/>
              <a:t>C++</a:t>
            </a:r>
            <a:r>
              <a:rPr lang="zh-CN" altLang="en-US" sz="2800"/>
              <a:t>中的对象（略）</a:t>
            </a:r>
          </a:p>
          <a:p>
            <a:pPr eaLnBrk="1" fontAlgn="auto" hangingPunct="1">
              <a:spcAft>
                <a:spcPts val="0"/>
              </a:spcAft>
              <a:defRPr/>
            </a:pPr>
            <a:r>
              <a:rPr lang="en-US" altLang="zh-CN" sz="2800"/>
              <a:t>C++</a:t>
            </a:r>
            <a:r>
              <a:rPr lang="zh-CN" altLang="en-US" sz="2800"/>
              <a:t>中的输入输出（略）</a:t>
            </a:r>
          </a:p>
          <a:p>
            <a:pPr eaLnBrk="1" fontAlgn="auto" hangingPunct="1">
              <a:spcAft>
                <a:spcPts val="0"/>
              </a:spcAft>
              <a:defRPr/>
            </a:pPr>
            <a:r>
              <a:rPr lang="en-US" altLang="zh-CN" sz="2800"/>
              <a:t>C++</a:t>
            </a:r>
            <a:r>
              <a:rPr lang="zh-CN" altLang="en-US" sz="2800"/>
              <a:t>中的函数（略）</a:t>
            </a:r>
          </a:p>
          <a:p>
            <a:pPr eaLnBrk="1" fontAlgn="auto" hangingPunct="1">
              <a:spcAft>
                <a:spcPts val="0"/>
              </a:spcAft>
              <a:defRPr/>
            </a:pPr>
            <a:r>
              <a:rPr lang="zh-CN" altLang="en-US" sz="2800"/>
              <a:t>动态存储分配（略）</a:t>
            </a:r>
          </a:p>
          <a:p>
            <a:pPr eaLnBrk="1" fontAlgn="auto" hangingPunct="1">
              <a:spcAft>
                <a:spcPts val="0"/>
              </a:spcAft>
              <a:defRPr/>
            </a:pPr>
            <a:r>
              <a:rPr lang="en-US" altLang="zh-CN" sz="2800"/>
              <a:t>C++</a:t>
            </a:r>
            <a:r>
              <a:rPr lang="zh-CN" altLang="en-US" sz="2800"/>
              <a:t>中的继承（略）</a:t>
            </a:r>
          </a:p>
          <a:p>
            <a:pPr eaLnBrk="1" fontAlgn="auto" hangingPunct="1">
              <a:spcAft>
                <a:spcPts val="0"/>
              </a:spcAft>
              <a:defRPr/>
            </a:pPr>
            <a:r>
              <a:rPr lang="zh-CN" altLang="en-US" sz="2800"/>
              <a:t>多态性（略）</a:t>
            </a:r>
          </a:p>
          <a:p>
            <a:pPr eaLnBrk="1" fontAlgn="auto" hangingPunct="1">
              <a:spcAft>
                <a:spcPts val="0"/>
              </a:spcAft>
              <a:defRPr/>
            </a:pPr>
            <a:r>
              <a:rPr lang="en-US" altLang="zh-CN" sz="2800"/>
              <a:t>C++</a:t>
            </a:r>
            <a:r>
              <a:rPr lang="zh-CN" altLang="en-US" sz="2800"/>
              <a:t>的模板（略）</a:t>
            </a:r>
          </a:p>
        </p:txBody>
      </p:sp>
      <p:sp>
        <p:nvSpPr>
          <p:cNvPr id="2" name="灯片编号占位符 1">
            <a:extLst>
              <a:ext uri="{FF2B5EF4-FFF2-40B4-BE49-F238E27FC236}">
                <a16:creationId xmlns:a16="http://schemas.microsoft.com/office/drawing/2014/main" id="{0F2DF772-F10F-4C25-95C3-D89AD6F61B0A}"/>
              </a:ext>
            </a:extLst>
          </p:cNvPr>
          <p:cNvSpPr>
            <a:spLocks noGrp="1"/>
          </p:cNvSpPr>
          <p:nvPr>
            <p:ph type="sldNum" sz="quarter" idx="12"/>
          </p:nvPr>
        </p:nvSpPr>
        <p:spPr/>
        <p:txBody>
          <a:bodyPr/>
          <a:lstStyle/>
          <a:p>
            <a:pPr>
              <a:defRPr/>
            </a:pPr>
            <a:fld id="{F1F62CBB-A517-4461-AF32-F6D139D6C08D}" type="slidenum">
              <a:rPr lang="en-US" altLang="zh-CN" smtClean="0"/>
              <a:pPr>
                <a:defRPr/>
              </a:pPr>
              <a:t>31</a:t>
            </a:fld>
            <a:endParaRPr lang="en-US" altLang="zh-CN"/>
          </a:p>
        </p:txBody>
      </p:sp>
    </p:spTree>
  </p:cSld>
  <p:clrMapOvr>
    <a:masterClrMapping/>
  </p:clrMapOvr>
  <p:transition>
    <p:spli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3">
            <a:extLst>
              <a:ext uri="{FF2B5EF4-FFF2-40B4-BE49-F238E27FC236}">
                <a16:creationId xmlns:a16="http://schemas.microsoft.com/office/drawing/2014/main" id="{4E7EDC92-40B3-4C78-8831-BBF11EE2DF68}"/>
              </a:ext>
            </a:extLst>
          </p:cNvPr>
          <p:cNvSpPr>
            <a:spLocks noGrp="1" noChangeArrowheads="1"/>
          </p:cNvSpPr>
          <p:nvPr>
            <p:ph type="title"/>
          </p:nvPr>
        </p:nvSpPr>
        <p:spPr/>
        <p:txBody>
          <a:bodyPr/>
          <a:lstStyle/>
          <a:p>
            <a:r>
              <a:rPr lang="zh-CN" altLang="en-US"/>
              <a:t>面向对象的概念</a:t>
            </a:r>
          </a:p>
        </p:txBody>
      </p:sp>
      <p:sp>
        <p:nvSpPr>
          <p:cNvPr id="5" name="内容占位符 4">
            <a:extLst>
              <a:ext uri="{FF2B5EF4-FFF2-40B4-BE49-F238E27FC236}">
                <a16:creationId xmlns:a16="http://schemas.microsoft.com/office/drawing/2014/main" id="{94039942-82D1-43E6-98E7-EC6F501D2707}"/>
              </a:ext>
            </a:extLst>
          </p:cNvPr>
          <p:cNvSpPr>
            <a:spLocks noGrp="1"/>
          </p:cNvSpPr>
          <p:nvPr>
            <p:ph idx="1"/>
          </p:nvPr>
        </p:nvSpPr>
        <p:spPr>
          <a:xfrm>
            <a:off x="215900" y="1825625"/>
            <a:ext cx="8712200" cy="4667250"/>
          </a:xfrm>
        </p:spPr>
        <p:txBody>
          <a:bodyPr>
            <a:normAutofit fontScale="70000" lnSpcReduction="20000"/>
          </a:bodyPr>
          <a:lstStyle/>
          <a:p>
            <a:pPr>
              <a:defRPr/>
            </a:pPr>
            <a:r>
              <a:rPr lang="zh-CN" altLang="en-US" dirty="0"/>
              <a:t>面向对象 </a:t>
            </a:r>
            <a:r>
              <a:rPr lang="en-US" altLang="zh-CN" dirty="0"/>
              <a:t>= </a:t>
            </a:r>
            <a:r>
              <a:rPr lang="zh-CN" altLang="en-US" dirty="0"/>
              <a:t>对象＋类＋继承＋通信</a:t>
            </a:r>
          </a:p>
          <a:p>
            <a:pPr lvl="1">
              <a:defRPr/>
            </a:pPr>
            <a:r>
              <a:rPr lang="zh-CN" altLang="en-US" dirty="0"/>
              <a:t>对象</a:t>
            </a:r>
          </a:p>
          <a:p>
            <a:pPr lvl="2">
              <a:defRPr/>
            </a:pPr>
            <a:r>
              <a:rPr lang="zh-CN" altLang="en-US" dirty="0"/>
              <a:t>在应用问题中出现的各种实体、事件、规格说明等。</a:t>
            </a:r>
          </a:p>
          <a:p>
            <a:pPr lvl="2">
              <a:defRPr/>
            </a:pPr>
            <a:r>
              <a:rPr lang="zh-CN" altLang="en-US" dirty="0"/>
              <a:t>由一组属性值和在这组值上的一组服务（或称操作）构成。</a:t>
            </a:r>
            <a:endParaRPr lang="en-US" altLang="zh-CN" dirty="0"/>
          </a:p>
          <a:p>
            <a:pPr lvl="1">
              <a:defRPr/>
            </a:pPr>
            <a:r>
              <a:rPr lang="zh-CN" altLang="en-US" dirty="0"/>
              <a:t>类 </a:t>
            </a:r>
            <a:r>
              <a:rPr lang="en-US" altLang="zh-CN" dirty="0"/>
              <a:t>(class)</a:t>
            </a:r>
          </a:p>
          <a:p>
            <a:pPr lvl="2">
              <a:defRPr/>
            </a:pPr>
            <a:r>
              <a:rPr lang="zh-CN" altLang="en-US" dirty="0"/>
              <a:t>具有相同属性和服务的对象归于同一集合，形成类。</a:t>
            </a:r>
          </a:p>
          <a:p>
            <a:pPr lvl="1">
              <a:defRPr/>
            </a:pPr>
            <a:r>
              <a:rPr lang="zh-CN" altLang="en-US" dirty="0"/>
              <a:t>实例 </a:t>
            </a:r>
            <a:r>
              <a:rPr lang="en-US" altLang="zh-CN" dirty="0"/>
              <a:t>(instance)</a:t>
            </a:r>
          </a:p>
          <a:p>
            <a:pPr lvl="2">
              <a:defRPr/>
            </a:pPr>
            <a:r>
              <a:rPr lang="zh-CN" altLang="en-US" dirty="0"/>
              <a:t>类中的对象为该类的实例。</a:t>
            </a:r>
          </a:p>
          <a:p>
            <a:pPr lvl="1">
              <a:defRPr/>
            </a:pPr>
            <a:r>
              <a:rPr lang="zh-CN" altLang="en-US" dirty="0"/>
              <a:t>继承</a:t>
            </a:r>
          </a:p>
          <a:p>
            <a:pPr lvl="2">
              <a:defRPr/>
            </a:pPr>
            <a:r>
              <a:rPr lang="zh-CN" altLang="en-US" dirty="0"/>
              <a:t>基类：又称父类 、泛化类</a:t>
            </a:r>
            <a:r>
              <a:rPr lang="en-US" altLang="zh-CN" dirty="0"/>
              <a:t>(</a:t>
            </a:r>
            <a:r>
              <a:rPr lang="zh-CN" altLang="en-US" dirty="0"/>
              <a:t>一般化类</a:t>
            </a:r>
            <a:r>
              <a:rPr lang="en-US" altLang="zh-CN" dirty="0"/>
              <a:t>)</a:t>
            </a:r>
            <a:r>
              <a:rPr lang="zh-CN" altLang="en-US" dirty="0"/>
              <a:t>。例如多边形</a:t>
            </a:r>
          </a:p>
          <a:p>
            <a:pPr lvl="2">
              <a:defRPr/>
            </a:pPr>
            <a:r>
              <a:rPr lang="zh-CN" altLang="en-US" dirty="0"/>
              <a:t>派生类：又称子类、特化类</a:t>
            </a:r>
            <a:r>
              <a:rPr lang="en-US" altLang="zh-CN" dirty="0"/>
              <a:t>(</a:t>
            </a:r>
            <a:r>
              <a:rPr lang="zh-CN" altLang="en-US" dirty="0"/>
              <a:t>特殊化类</a:t>
            </a:r>
            <a:r>
              <a:rPr lang="en-US" altLang="zh-CN" dirty="0"/>
              <a:t>) </a:t>
            </a:r>
            <a:r>
              <a:rPr lang="zh-CN" altLang="en-US" dirty="0"/>
              <a:t>，例如四边形，三角形，</a:t>
            </a:r>
            <a:r>
              <a:rPr lang="en-US" altLang="zh-CN" dirty="0"/>
              <a:t>…</a:t>
            </a:r>
          </a:p>
          <a:p>
            <a:pPr lvl="1">
              <a:defRPr/>
            </a:pPr>
            <a:r>
              <a:rPr lang="zh-CN" altLang="en-US" dirty="0"/>
              <a:t>通信</a:t>
            </a:r>
          </a:p>
          <a:p>
            <a:pPr lvl="2">
              <a:defRPr/>
            </a:pPr>
            <a:r>
              <a:rPr lang="zh-CN" altLang="en-US" dirty="0"/>
              <a:t>消息传递</a:t>
            </a:r>
          </a:p>
        </p:txBody>
      </p:sp>
      <p:sp>
        <p:nvSpPr>
          <p:cNvPr id="6" name="灯片编号占位符 5">
            <a:extLst>
              <a:ext uri="{FF2B5EF4-FFF2-40B4-BE49-F238E27FC236}">
                <a16:creationId xmlns:a16="http://schemas.microsoft.com/office/drawing/2014/main" id="{82BCB25D-7317-4318-B688-9B5921F08004}"/>
              </a:ext>
            </a:extLst>
          </p:cNvPr>
          <p:cNvSpPr>
            <a:spLocks noGrp="1"/>
          </p:cNvSpPr>
          <p:nvPr>
            <p:ph type="sldNum" sz="quarter" idx="12"/>
          </p:nvPr>
        </p:nvSpPr>
        <p:spPr/>
        <p:txBody>
          <a:bodyPr/>
          <a:lstStyle/>
          <a:p>
            <a:pPr>
              <a:defRPr/>
            </a:pPr>
            <a:fld id="{4E4A7EAE-75D0-4395-AA14-CF35C248342E}" type="slidenum">
              <a:rPr lang="en-US" altLang="zh-CN" smtClean="0"/>
              <a:pPr>
                <a:defRPr/>
              </a:pPr>
              <a:t>32</a:t>
            </a:fld>
            <a:endParaRPr lang="en-US" altLang="zh-CN"/>
          </a:p>
        </p:txBody>
      </p:sp>
    </p:spTree>
  </p:cSld>
  <p:clrMapOvr>
    <a:masterClrMapping/>
  </p:clrMapOvr>
  <p:transition>
    <p:spli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a:extLst>
              <a:ext uri="{FF2B5EF4-FFF2-40B4-BE49-F238E27FC236}">
                <a16:creationId xmlns:a16="http://schemas.microsoft.com/office/drawing/2014/main" id="{14CB97F9-42C1-4A22-B65C-3A6933FF8FDA}"/>
              </a:ext>
            </a:extLst>
          </p:cNvPr>
          <p:cNvSpPr>
            <a:spLocks noGrp="1" noChangeArrowheads="1"/>
          </p:cNvSpPr>
          <p:nvPr>
            <p:ph type="title"/>
          </p:nvPr>
        </p:nvSpPr>
        <p:spPr/>
        <p:txBody>
          <a:bodyPr/>
          <a:lstStyle/>
          <a:p>
            <a:pPr eaLnBrk="1" hangingPunct="1"/>
            <a:r>
              <a:rPr lang="en-US" altLang="zh-CN" dirty="0"/>
              <a:t>1.3.2-1.3.9</a:t>
            </a:r>
            <a:r>
              <a:rPr lang="zh-CN" altLang="en-US" dirty="0"/>
              <a:t> （略）</a:t>
            </a:r>
          </a:p>
        </p:txBody>
      </p:sp>
      <p:sp>
        <p:nvSpPr>
          <p:cNvPr id="52227" name="内容占位符 2">
            <a:extLst>
              <a:ext uri="{FF2B5EF4-FFF2-40B4-BE49-F238E27FC236}">
                <a16:creationId xmlns:a16="http://schemas.microsoft.com/office/drawing/2014/main" id="{F0655ED2-5E1D-4BDC-9F0A-7335AEC028F5}"/>
              </a:ext>
            </a:extLst>
          </p:cNvPr>
          <p:cNvSpPr>
            <a:spLocks noGrp="1" noChangeArrowheads="1"/>
          </p:cNvSpPr>
          <p:nvPr>
            <p:ph idx="1"/>
          </p:nvPr>
        </p:nvSpPr>
        <p:spPr/>
        <p:txBody>
          <a:bodyPr/>
          <a:lstStyle/>
          <a:p>
            <a:pPr eaLnBrk="1" hangingPunct="1"/>
            <a:r>
              <a:rPr lang="en-US" altLang="zh-CN" dirty="0"/>
              <a:t>C++</a:t>
            </a:r>
            <a:r>
              <a:rPr lang="zh-CN" altLang="en-US" dirty="0"/>
              <a:t>一些特征介绍</a:t>
            </a:r>
            <a:endParaRPr lang="en-US" altLang="zh-CN" dirty="0"/>
          </a:p>
          <a:p>
            <a:pPr lvl="1" eaLnBrk="1" hangingPunct="1"/>
            <a:r>
              <a:rPr lang="zh-CN" altLang="en-US" dirty="0"/>
              <a:t>主要是一些语法，请同学们课后自学</a:t>
            </a:r>
            <a:endParaRPr lang="en-US" altLang="zh-CN" dirty="0"/>
          </a:p>
          <a:p>
            <a:pPr lvl="2" eaLnBrk="1" hangingPunct="1"/>
            <a:r>
              <a:rPr lang="zh-CN" altLang="en-US" dirty="0"/>
              <a:t>熟悉这些语法的同学大概浏览一下即可</a:t>
            </a:r>
            <a:endParaRPr lang="en-US" altLang="zh-CN" dirty="0"/>
          </a:p>
          <a:p>
            <a:pPr lvl="2" eaLnBrk="1" hangingPunct="1"/>
            <a:r>
              <a:rPr lang="zh-CN" altLang="en-US" dirty="0"/>
              <a:t>不熟悉的同学把每一种语法实际写成程序运行起来看一下效果就理解了。</a:t>
            </a:r>
            <a:endParaRPr lang="en-US" altLang="zh-CN" dirty="0"/>
          </a:p>
          <a:p>
            <a:pPr lvl="2" eaLnBrk="1" hangingPunct="1"/>
            <a:r>
              <a:rPr lang="zh-CN" altLang="en-US" dirty="0"/>
              <a:t>要记住这些语法，因为后面例子程序中经常用</a:t>
            </a:r>
            <a:endParaRPr lang="en-US" altLang="zh-CN" dirty="0"/>
          </a:p>
        </p:txBody>
      </p:sp>
      <p:sp>
        <p:nvSpPr>
          <p:cNvPr id="2" name="灯片编号占位符 1">
            <a:extLst>
              <a:ext uri="{FF2B5EF4-FFF2-40B4-BE49-F238E27FC236}">
                <a16:creationId xmlns:a16="http://schemas.microsoft.com/office/drawing/2014/main" id="{C5BCD3E3-6DC0-44B3-884B-9BD894C76623}"/>
              </a:ext>
            </a:extLst>
          </p:cNvPr>
          <p:cNvSpPr>
            <a:spLocks noGrp="1"/>
          </p:cNvSpPr>
          <p:nvPr>
            <p:ph type="sldNum" sz="quarter" idx="12"/>
          </p:nvPr>
        </p:nvSpPr>
        <p:spPr/>
        <p:txBody>
          <a:bodyPr/>
          <a:lstStyle/>
          <a:p>
            <a:pPr>
              <a:defRPr/>
            </a:pPr>
            <a:fld id="{6B946781-99AA-4BF9-89A0-2713E68CA362}" type="slidenum">
              <a:rPr lang="en-US" altLang="zh-CN" smtClean="0"/>
              <a:pPr>
                <a:defRPr/>
              </a:pPr>
              <a:t>33</a:t>
            </a:fld>
            <a:endParaRPr lang="en-US" altLang="zh-CN"/>
          </a:p>
        </p:txBody>
      </p:sp>
    </p:spTree>
  </p:cSld>
  <p:clrMapOvr>
    <a:masterClrMapping/>
  </p:clrMapOvr>
  <p:transition>
    <p:spli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a:extLst>
              <a:ext uri="{FF2B5EF4-FFF2-40B4-BE49-F238E27FC236}">
                <a16:creationId xmlns:a16="http://schemas.microsoft.com/office/drawing/2014/main" id="{04D200EE-7979-49A9-9B57-913484F6853A}"/>
              </a:ext>
            </a:extLst>
          </p:cNvPr>
          <p:cNvSpPr>
            <a:spLocks noGrp="1" noChangeArrowheads="1"/>
          </p:cNvSpPr>
          <p:nvPr>
            <p:ph type="title"/>
          </p:nvPr>
        </p:nvSpPr>
        <p:spPr/>
        <p:txBody>
          <a:bodyPr/>
          <a:lstStyle/>
          <a:p>
            <a:r>
              <a:rPr lang="en-US" altLang="zh-CN"/>
              <a:t>1.4 </a:t>
            </a:r>
            <a:r>
              <a:rPr lang="zh-CN" altLang="en-US"/>
              <a:t>算法定义</a:t>
            </a:r>
          </a:p>
        </p:txBody>
      </p:sp>
      <p:sp>
        <p:nvSpPr>
          <p:cNvPr id="54275" name="内容占位符 2">
            <a:extLst>
              <a:ext uri="{FF2B5EF4-FFF2-40B4-BE49-F238E27FC236}">
                <a16:creationId xmlns:a16="http://schemas.microsoft.com/office/drawing/2014/main" id="{478C6044-5E6B-4C2B-959E-F31F8DCC84A9}"/>
              </a:ext>
            </a:extLst>
          </p:cNvPr>
          <p:cNvSpPr>
            <a:spLocks noGrp="1" noChangeArrowheads="1"/>
          </p:cNvSpPr>
          <p:nvPr>
            <p:ph idx="1"/>
          </p:nvPr>
        </p:nvSpPr>
        <p:spPr/>
        <p:txBody>
          <a:bodyPr>
            <a:normAutofit fontScale="85000" lnSpcReduction="20000"/>
          </a:bodyPr>
          <a:lstStyle/>
          <a:p>
            <a:r>
              <a:rPr lang="zh-CN" altLang="en-US" dirty="0"/>
              <a:t>定义</a:t>
            </a:r>
            <a:endParaRPr lang="en-US" altLang="zh-CN" dirty="0"/>
          </a:p>
          <a:p>
            <a:pPr lvl="1"/>
            <a:r>
              <a:rPr lang="zh-CN" altLang="en-US" dirty="0"/>
              <a:t>一个有穷的指令集，这些指令为解决某一特定任务规定了一个运算序列。</a:t>
            </a:r>
          </a:p>
          <a:p>
            <a:r>
              <a:rPr lang="zh-CN" altLang="en-US" dirty="0"/>
              <a:t>特性</a:t>
            </a:r>
          </a:p>
          <a:p>
            <a:pPr lvl="1"/>
            <a:r>
              <a:rPr lang="zh-CN" altLang="en-US" dirty="0"/>
              <a:t>输入：有</a:t>
            </a:r>
            <a:r>
              <a:rPr lang="en-US" altLang="zh-CN" dirty="0"/>
              <a:t>0</a:t>
            </a:r>
            <a:r>
              <a:rPr lang="zh-CN" altLang="en-US" dirty="0"/>
              <a:t>个或多个输入；</a:t>
            </a:r>
          </a:p>
          <a:p>
            <a:pPr lvl="1"/>
            <a:r>
              <a:rPr lang="zh-CN" altLang="en-US" dirty="0"/>
              <a:t>输出：有一个或多个输出</a:t>
            </a:r>
            <a:r>
              <a:rPr lang="en-US" altLang="zh-CN" dirty="0"/>
              <a:t>(</a:t>
            </a:r>
            <a:r>
              <a:rPr lang="zh-CN" altLang="en-US" dirty="0"/>
              <a:t>处理结果</a:t>
            </a:r>
            <a:r>
              <a:rPr lang="en-US" altLang="zh-CN" dirty="0"/>
              <a:t>)</a:t>
            </a:r>
            <a:r>
              <a:rPr lang="zh-CN" altLang="en-US" dirty="0"/>
              <a:t>；</a:t>
            </a:r>
          </a:p>
          <a:p>
            <a:pPr lvl="1"/>
            <a:r>
              <a:rPr lang="zh-CN" altLang="en-US" dirty="0"/>
              <a:t>确定性：每步定义都是确切无歧义的；</a:t>
            </a:r>
          </a:p>
          <a:p>
            <a:pPr lvl="1"/>
            <a:r>
              <a:rPr lang="zh-CN" altLang="en-US" dirty="0"/>
              <a:t>有穷性：算法应在执行有穷步后结束；</a:t>
            </a:r>
          </a:p>
          <a:p>
            <a:pPr lvl="1"/>
            <a:r>
              <a:rPr lang="zh-CN" altLang="en-US" dirty="0"/>
              <a:t>有效性（可行性）：算法的每一步都是可行的，即每一步都通过执行有限次基本操作完成。</a:t>
            </a:r>
          </a:p>
        </p:txBody>
      </p:sp>
      <p:sp>
        <p:nvSpPr>
          <p:cNvPr id="4" name="灯片编号占位符 3">
            <a:extLst>
              <a:ext uri="{FF2B5EF4-FFF2-40B4-BE49-F238E27FC236}">
                <a16:creationId xmlns:a16="http://schemas.microsoft.com/office/drawing/2014/main" id="{FBFDB872-726F-406F-8F79-839D2B8A1C8A}"/>
              </a:ext>
            </a:extLst>
          </p:cNvPr>
          <p:cNvSpPr>
            <a:spLocks noGrp="1"/>
          </p:cNvSpPr>
          <p:nvPr>
            <p:ph type="sldNum" sz="quarter" idx="12"/>
          </p:nvPr>
        </p:nvSpPr>
        <p:spPr/>
        <p:txBody>
          <a:bodyPr/>
          <a:lstStyle/>
          <a:p>
            <a:pPr>
              <a:defRPr/>
            </a:pPr>
            <a:fld id="{1403BEB5-4237-4923-818B-4428352D5D21}" type="slidenum">
              <a:rPr lang="en-US" altLang="zh-CN" smtClean="0"/>
              <a:pPr>
                <a:defRPr/>
              </a:pPr>
              <a:t>34</a:t>
            </a:fld>
            <a:endParaRPr lang="en-US" altLang="zh-CN"/>
          </a:p>
        </p:txBody>
      </p:sp>
    </p:spTree>
  </p:cSld>
  <p:clrMapOvr>
    <a:masterClrMapping/>
  </p:clrMapOvr>
  <p:transition>
    <p:spli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282966-3988-4D71-9BA1-500166A70100}"/>
              </a:ext>
            </a:extLst>
          </p:cNvPr>
          <p:cNvSpPr>
            <a:spLocks noGrp="1"/>
          </p:cNvSpPr>
          <p:nvPr>
            <p:ph type="title"/>
          </p:nvPr>
        </p:nvSpPr>
        <p:spPr/>
        <p:txBody>
          <a:bodyPr>
            <a:normAutofit/>
          </a:bodyPr>
          <a:lstStyle/>
          <a:p>
            <a:pPr>
              <a:defRPr/>
            </a:pPr>
            <a:r>
              <a:rPr lang="zh-CN" altLang="en-US" dirty="0"/>
              <a:t>算法设计基本方法</a:t>
            </a:r>
          </a:p>
        </p:txBody>
      </p:sp>
      <p:sp>
        <p:nvSpPr>
          <p:cNvPr id="55299" name="内容占位符 2">
            <a:extLst>
              <a:ext uri="{FF2B5EF4-FFF2-40B4-BE49-F238E27FC236}">
                <a16:creationId xmlns:a16="http://schemas.microsoft.com/office/drawing/2014/main" id="{CA9B192D-05E6-4324-B8EE-3C0B7C5522D5}"/>
              </a:ext>
            </a:extLst>
          </p:cNvPr>
          <p:cNvSpPr>
            <a:spLocks noGrp="1" noChangeArrowheads="1"/>
          </p:cNvSpPr>
          <p:nvPr>
            <p:ph idx="1"/>
          </p:nvPr>
        </p:nvSpPr>
        <p:spPr/>
        <p:txBody>
          <a:bodyPr>
            <a:normAutofit fontScale="92500" lnSpcReduction="20000"/>
          </a:bodyPr>
          <a:lstStyle/>
          <a:p>
            <a:r>
              <a:rPr lang="zh-CN" altLang="en-US" dirty="0"/>
              <a:t>自顶向下，逐步求精</a:t>
            </a:r>
            <a:endParaRPr lang="en-US" altLang="zh-CN" dirty="0"/>
          </a:p>
          <a:p>
            <a:pPr lvl="1"/>
            <a:r>
              <a:rPr lang="zh-CN" altLang="en-US" dirty="0"/>
              <a:t>例：选择排序问题</a:t>
            </a:r>
          </a:p>
          <a:p>
            <a:pPr lvl="2"/>
            <a:r>
              <a:rPr lang="zh-CN" altLang="en-US" dirty="0"/>
              <a:t>进一步明确问题：递增排序。</a:t>
            </a:r>
          </a:p>
          <a:p>
            <a:pPr lvl="2"/>
            <a:r>
              <a:rPr lang="zh-CN" altLang="en-US" dirty="0"/>
              <a:t>进而确定解决方案：逐个选择最小数据。</a:t>
            </a:r>
          </a:p>
          <a:p>
            <a:pPr lvl="2"/>
            <a:r>
              <a:rPr lang="zh-CN" altLang="en-US" dirty="0"/>
              <a:t>细化为算法框架：</a:t>
            </a:r>
            <a:endParaRPr lang="en-US" altLang="zh-CN" dirty="0"/>
          </a:p>
          <a:p>
            <a:pPr marL="342900" lvl="1" indent="0">
              <a:buNone/>
            </a:pPr>
            <a:r>
              <a:rPr lang="en-US" altLang="zh-CN" dirty="0"/>
              <a:t>for ( int </a:t>
            </a:r>
            <a:r>
              <a:rPr lang="en-US" altLang="zh-CN" dirty="0" err="1"/>
              <a:t>i</a:t>
            </a:r>
            <a:r>
              <a:rPr lang="en-US" altLang="zh-CN" dirty="0"/>
              <a:t> = 0; </a:t>
            </a:r>
            <a:r>
              <a:rPr lang="en-US" altLang="zh-CN" dirty="0" err="1"/>
              <a:t>i</a:t>
            </a:r>
            <a:r>
              <a:rPr lang="en-US" altLang="zh-CN" dirty="0"/>
              <a:t> &lt; n-1; </a:t>
            </a:r>
            <a:r>
              <a:rPr lang="en-US" altLang="zh-CN" dirty="0" err="1"/>
              <a:t>i</a:t>
            </a:r>
            <a:r>
              <a:rPr lang="en-US" altLang="zh-CN" dirty="0"/>
              <a:t>++ ) {  //n-1</a:t>
            </a:r>
            <a:r>
              <a:rPr lang="zh-CN" altLang="en-US" dirty="0"/>
              <a:t>趟 </a:t>
            </a:r>
            <a:endParaRPr lang="en-US" altLang="zh-CN" dirty="0"/>
          </a:p>
          <a:p>
            <a:pPr marL="342900" lvl="1" indent="0">
              <a:buNone/>
            </a:pPr>
            <a:r>
              <a:rPr lang="zh-CN" altLang="en-US" dirty="0"/>
              <a:t>	  从</a:t>
            </a:r>
            <a:r>
              <a:rPr lang="en-US" altLang="zh-CN" dirty="0"/>
              <a:t>a[</a:t>
            </a:r>
            <a:r>
              <a:rPr lang="en-US" altLang="zh-CN" dirty="0" err="1"/>
              <a:t>i</a:t>
            </a:r>
            <a:r>
              <a:rPr lang="en-US" altLang="zh-CN" dirty="0"/>
              <a:t>]</a:t>
            </a:r>
            <a:r>
              <a:rPr lang="zh-CN" altLang="en-US" dirty="0"/>
              <a:t>检查到</a:t>
            </a:r>
            <a:r>
              <a:rPr lang="en-US" altLang="zh-CN" dirty="0"/>
              <a:t>a[n-1]</a:t>
            </a:r>
            <a:r>
              <a:rPr lang="zh-CN" altLang="en-US" dirty="0"/>
              <a:t>找最小整数</a:t>
            </a:r>
            <a:r>
              <a:rPr lang="en-US" altLang="zh-CN" dirty="0"/>
              <a:t>a[k];	</a:t>
            </a:r>
          </a:p>
          <a:p>
            <a:pPr marL="342900" lvl="1" indent="0">
              <a:buNone/>
            </a:pPr>
            <a:r>
              <a:rPr lang="en-US" altLang="zh-CN" dirty="0"/>
              <a:t>    </a:t>
            </a:r>
            <a:r>
              <a:rPr lang="zh-CN" altLang="en-US" dirty="0"/>
              <a:t>若</a:t>
            </a:r>
            <a:r>
              <a:rPr lang="en-US" altLang="zh-CN" dirty="0" err="1"/>
              <a:t>i</a:t>
            </a:r>
            <a:r>
              <a:rPr lang="en-US" altLang="zh-CN" dirty="0"/>
              <a:t> != k, </a:t>
            </a:r>
            <a:r>
              <a:rPr lang="zh-CN" altLang="en-US" dirty="0"/>
              <a:t>交换</a:t>
            </a:r>
            <a:r>
              <a:rPr lang="en-US" altLang="zh-CN" dirty="0"/>
              <a:t>a[</a:t>
            </a:r>
            <a:r>
              <a:rPr lang="en-US" altLang="zh-CN" dirty="0" err="1"/>
              <a:t>i</a:t>
            </a:r>
            <a:r>
              <a:rPr lang="en-US" altLang="zh-CN" dirty="0"/>
              <a:t>]</a:t>
            </a:r>
            <a:r>
              <a:rPr lang="zh-CN" altLang="en-US" dirty="0"/>
              <a:t>与</a:t>
            </a:r>
            <a:r>
              <a:rPr lang="en-US" altLang="zh-CN" dirty="0"/>
              <a:t>a[k];</a:t>
            </a:r>
          </a:p>
          <a:p>
            <a:pPr marL="342900" lvl="1" indent="0">
              <a:buNone/>
            </a:pPr>
            <a:r>
              <a:rPr lang="en-US" altLang="zh-CN" dirty="0"/>
              <a:t>}</a:t>
            </a:r>
          </a:p>
          <a:p>
            <a:pPr marL="342900" lvl="1" indent="0">
              <a:buNone/>
            </a:pPr>
            <a:r>
              <a:rPr lang="zh-CN" altLang="en-US" dirty="0"/>
              <a:t>最后细化成程序</a:t>
            </a:r>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AA9B9AF0-95DA-4B7E-BC8A-D9934AEE5D2E}"/>
              </a:ext>
            </a:extLst>
          </p:cNvPr>
          <p:cNvSpPr>
            <a:spLocks noGrp="1"/>
          </p:cNvSpPr>
          <p:nvPr>
            <p:ph type="sldNum" sz="quarter" idx="12"/>
          </p:nvPr>
        </p:nvSpPr>
        <p:spPr/>
        <p:txBody>
          <a:bodyPr/>
          <a:lstStyle/>
          <a:p>
            <a:pPr>
              <a:defRPr/>
            </a:pPr>
            <a:fld id="{20DC6E9D-F57A-461B-8AA8-DE30B221F22B}" type="slidenum">
              <a:rPr lang="en-US" altLang="zh-CN" smtClean="0"/>
              <a:pPr>
                <a:defRPr/>
              </a:pPr>
              <a:t>35</a:t>
            </a:fld>
            <a:endParaRPr lang="en-US" altLang="zh-CN"/>
          </a:p>
        </p:txBody>
      </p:sp>
    </p:spTree>
  </p:cSld>
  <p:clrMapOvr>
    <a:masterClrMapping/>
  </p:clrMapOvr>
  <p:transition>
    <p:spli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a:extLst>
              <a:ext uri="{FF2B5EF4-FFF2-40B4-BE49-F238E27FC236}">
                <a16:creationId xmlns:a16="http://schemas.microsoft.com/office/drawing/2014/main" id="{8A5F8786-3CAC-41F3-BDB2-9BC7A7762CBA}"/>
              </a:ext>
            </a:extLst>
          </p:cNvPr>
          <p:cNvSpPr>
            <a:spLocks noGrp="1" noChangeArrowheads="1"/>
          </p:cNvSpPr>
          <p:nvPr>
            <p:ph type="title"/>
          </p:nvPr>
        </p:nvSpPr>
        <p:spPr/>
        <p:txBody>
          <a:bodyPr/>
          <a:lstStyle/>
          <a:p>
            <a:r>
              <a:rPr lang="zh-CN" altLang="en-US"/>
              <a:t>细化程序：程序 </a:t>
            </a:r>
            <a:r>
              <a:rPr lang="en-US" altLang="zh-CN"/>
              <a:t>SelectSort </a:t>
            </a:r>
            <a:endParaRPr lang="zh-CN" altLang="en-US"/>
          </a:p>
        </p:txBody>
      </p:sp>
      <p:sp>
        <p:nvSpPr>
          <p:cNvPr id="3" name="内容占位符 2">
            <a:extLst>
              <a:ext uri="{FF2B5EF4-FFF2-40B4-BE49-F238E27FC236}">
                <a16:creationId xmlns:a16="http://schemas.microsoft.com/office/drawing/2014/main" id="{B0BD4B3D-B46B-4C6E-B5BD-0DA0C8B0190E}"/>
              </a:ext>
            </a:extLst>
          </p:cNvPr>
          <p:cNvSpPr>
            <a:spLocks noGrp="1"/>
          </p:cNvSpPr>
          <p:nvPr>
            <p:ph idx="1"/>
          </p:nvPr>
        </p:nvSpPr>
        <p:spPr/>
        <p:txBody>
          <a:bodyPr>
            <a:normAutofit fontScale="40000" lnSpcReduction="20000"/>
          </a:bodyPr>
          <a:lstStyle/>
          <a:p>
            <a:pPr marL="0" indent="0">
              <a:buNone/>
              <a:defRPr/>
            </a:pPr>
            <a:r>
              <a:rPr lang="en-US" altLang="zh-CN" dirty="0"/>
              <a:t>void </a:t>
            </a:r>
            <a:r>
              <a:rPr lang="en-US" altLang="zh-CN" dirty="0" err="1"/>
              <a:t>selectSort</a:t>
            </a:r>
            <a:r>
              <a:rPr lang="en-US" altLang="zh-CN" dirty="0"/>
              <a:t> ( int a[ ], const int n ) {</a:t>
            </a:r>
          </a:p>
          <a:p>
            <a:pPr marL="0" indent="0">
              <a:buNone/>
              <a:defRPr/>
            </a:pPr>
            <a:r>
              <a:rPr lang="en-US" altLang="zh-CN" dirty="0"/>
              <a:t> //</a:t>
            </a:r>
            <a:r>
              <a:rPr lang="zh-CN" altLang="en-US" dirty="0"/>
              <a:t>对</a:t>
            </a:r>
            <a:r>
              <a:rPr lang="en-US" altLang="zh-CN" dirty="0"/>
              <a:t>n</a:t>
            </a:r>
            <a:r>
              <a:rPr lang="zh-CN" altLang="en-US" dirty="0"/>
              <a:t>个整数</a:t>
            </a:r>
            <a:r>
              <a:rPr lang="en-US" altLang="zh-CN" dirty="0"/>
              <a:t>a[0],a[1],…,a[n-1]</a:t>
            </a:r>
            <a:r>
              <a:rPr lang="zh-CN" altLang="en-US" dirty="0"/>
              <a:t>按非递减顺序排序</a:t>
            </a:r>
          </a:p>
          <a:p>
            <a:pPr marL="0" indent="0">
              <a:buNone/>
              <a:defRPr/>
            </a:pPr>
            <a:r>
              <a:rPr lang="zh-CN" altLang="en-US" dirty="0"/>
              <a:t>       </a:t>
            </a:r>
            <a:r>
              <a:rPr lang="en-US" altLang="zh-CN" dirty="0"/>
              <a:t>int temp, </a:t>
            </a:r>
            <a:r>
              <a:rPr lang="en-US" altLang="zh-CN" dirty="0" err="1"/>
              <a:t>i</a:t>
            </a:r>
            <a:r>
              <a:rPr lang="en-US" altLang="zh-CN" dirty="0"/>
              <a:t>, j, k;</a:t>
            </a:r>
          </a:p>
          <a:p>
            <a:pPr marL="0" indent="0">
              <a:buNone/>
              <a:defRPr/>
            </a:pPr>
            <a:r>
              <a:rPr lang="en-US" altLang="zh-CN" dirty="0"/>
              <a:t>       for ( </a:t>
            </a:r>
            <a:r>
              <a:rPr lang="en-US" altLang="zh-CN" dirty="0" err="1"/>
              <a:t>i</a:t>
            </a:r>
            <a:r>
              <a:rPr lang="en-US" altLang="zh-CN" dirty="0"/>
              <a:t> = 0; </a:t>
            </a:r>
            <a:r>
              <a:rPr lang="en-US" altLang="zh-CN" dirty="0" err="1"/>
              <a:t>i</a:t>
            </a:r>
            <a:r>
              <a:rPr lang="en-US" altLang="zh-CN" dirty="0"/>
              <a:t> &lt; n-1; </a:t>
            </a:r>
            <a:r>
              <a:rPr lang="en-US" altLang="zh-CN" dirty="0" err="1"/>
              <a:t>i</a:t>
            </a:r>
            <a:r>
              <a:rPr lang="en-US" altLang="zh-CN" dirty="0"/>
              <a:t>++ ) {</a:t>
            </a:r>
          </a:p>
          <a:p>
            <a:pPr marL="0" indent="0">
              <a:buNone/>
              <a:defRPr/>
            </a:pPr>
            <a:r>
              <a:rPr lang="en-US" altLang="zh-CN" dirty="0"/>
              <a:t>            k = </a:t>
            </a:r>
            <a:r>
              <a:rPr lang="en-US" altLang="zh-CN" dirty="0" err="1"/>
              <a:t>i</a:t>
            </a:r>
            <a:r>
              <a:rPr lang="en-US" altLang="zh-CN" dirty="0"/>
              <a:t>;</a:t>
            </a:r>
          </a:p>
          <a:p>
            <a:pPr>
              <a:defRPr/>
            </a:pPr>
            <a:endParaRPr lang="en-US" altLang="zh-CN" dirty="0"/>
          </a:p>
          <a:p>
            <a:pPr marL="0" indent="0">
              <a:buNone/>
              <a:defRPr/>
            </a:pPr>
            <a:r>
              <a:rPr lang="en-US" altLang="zh-CN" dirty="0"/>
              <a:t>            //</a:t>
            </a:r>
            <a:r>
              <a:rPr lang="zh-CN" altLang="en-US" dirty="0"/>
              <a:t>从</a:t>
            </a:r>
            <a:r>
              <a:rPr lang="en-US" altLang="zh-CN" dirty="0"/>
              <a:t>a[i+1]</a:t>
            </a:r>
            <a:r>
              <a:rPr lang="zh-CN" altLang="en-US" dirty="0"/>
              <a:t>查到</a:t>
            </a:r>
            <a:r>
              <a:rPr lang="en-US" altLang="zh-CN" dirty="0"/>
              <a:t>a[n-1], </a:t>
            </a:r>
            <a:r>
              <a:rPr lang="zh-CN" altLang="en-US" dirty="0"/>
              <a:t>找最小整数</a:t>
            </a:r>
            <a:r>
              <a:rPr lang="en-US" altLang="zh-CN" dirty="0"/>
              <a:t>a[k]</a:t>
            </a:r>
          </a:p>
          <a:p>
            <a:pPr marL="0" indent="0">
              <a:buNone/>
              <a:defRPr/>
            </a:pPr>
            <a:r>
              <a:rPr lang="en-US" altLang="zh-CN" dirty="0"/>
              <a:t>            for ( j = i+1; j &lt; n; </a:t>
            </a:r>
            <a:r>
              <a:rPr lang="en-US" altLang="zh-CN" dirty="0" err="1"/>
              <a:t>j++</a:t>
            </a:r>
            <a:r>
              <a:rPr lang="en-US" altLang="zh-CN" dirty="0"/>
              <a:t> )   if ( a[j] &lt; a[k] ) k = j;	</a:t>
            </a:r>
          </a:p>
          <a:p>
            <a:pPr>
              <a:defRPr/>
            </a:pPr>
            <a:endParaRPr lang="en-US" altLang="zh-CN" dirty="0"/>
          </a:p>
          <a:p>
            <a:pPr marL="0" indent="0">
              <a:buNone/>
              <a:defRPr/>
            </a:pPr>
            <a:r>
              <a:rPr lang="en-US" altLang="zh-CN" dirty="0"/>
              <a:t>            if (</a:t>
            </a:r>
            <a:r>
              <a:rPr lang="en-US" altLang="zh-CN" dirty="0" err="1"/>
              <a:t>i</a:t>
            </a:r>
            <a:r>
              <a:rPr lang="en-US" altLang="zh-CN" dirty="0"/>
              <a:t> != k) {</a:t>
            </a:r>
          </a:p>
          <a:p>
            <a:pPr marL="0" indent="0">
              <a:buNone/>
              <a:defRPr/>
            </a:pPr>
            <a:r>
              <a:rPr lang="en-US" altLang="zh-CN" dirty="0"/>
              <a:t>                temp = a[</a:t>
            </a:r>
            <a:r>
              <a:rPr lang="en-US" altLang="zh-CN" dirty="0" err="1"/>
              <a:t>i</a:t>
            </a:r>
            <a:r>
              <a:rPr lang="en-US" altLang="zh-CN" dirty="0"/>
              <a:t>];  a[</a:t>
            </a:r>
            <a:r>
              <a:rPr lang="en-US" altLang="zh-CN" dirty="0" err="1"/>
              <a:t>i</a:t>
            </a:r>
            <a:r>
              <a:rPr lang="en-US" altLang="zh-CN" dirty="0"/>
              <a:t>] = a[k];   a[k] = temp;</a:t>
            </a:r>
          </a:p>
          <a:p>
            <a:pPr marL="0" indent="0">
              <a:buNone/>
              <a:defRPr/>
            </a:pPr>
            <a:r>
              <a:rPr lang="en-US" altLang="zh-CN" dirty="0"/>
              <a:t>            }</a:t>
            </a:r>
          </a:p>
          <a:p>
            <a:pPr marL="0" indent="0">
              <a:buNone/>
              <a:defRPr/>
            </a:pPr>
            <a:r>
              <a:rPr lang="en-US" altLang="zh-CN" dirty="0"/>
              <a:t>      }</a:t>
            </a:r>
          </a:p>
          <a:p>
            <a:pPr marL="0" indent="0">
              <a:buNone/>
              <a:defRPr/>
            </a:pPr>
            <a:r>
              <a:rPr lang="en-US" altLang="zh-CN" dirty="0"/>
              <a:t> }					</a:t>
            </a:r>
          </a:p>
          <a:p>
            <a:pPr>
              <a:defRPr/>
            </a:pPr>
            <a:endParaRPr lang="zh-CN" altLang="en-US" dirty="0"/>
          </a:p>
        </p:txBody>
      </p:sp>
      <p:sp>
        <p:nvSpPr>
          <p:cNvPr id="4" name="灯片编号占位符 3">
            <a:extLst>
              <a:ext uri="{FF2B5EF4-FFF2-40B4-BE49-F238E27FC236}">
                <a16:creationId xmlns:a16="http://schemas.microsoft.com/office/drawing/2014/main" id="{899D57F9-A695-47A7-AA9D-B901552E3EEE}"/>
              </a:ext>
            </a:extLst>
          </p:cNvPr>
          <p:cNvSpPr>
            <a:spLocks noGrp="1"/>
          </p:cNvSpPr>
          <p:nvPr>
            <p:ph type="sldNum" sz="quarter" idx="12"/>
          </p:nvPr>
        </p:nvSpPr>
        <p:spPr/>
        <p:txBody>
          <a:bodyPr/>
          <a:lstStyle/>
          <a:p>
            <a:pPr>
              <a:defRPr/>
            </a:pPr>
            <a:fld id="{2DB49743-3677-48B0-B373-C7BBF4891FA1}" type="slidenum">
              <a:rPr lang="en-US" altLang="zh-CN" smtClean="0"/>
              <a:pPr>
                <a:defRPr/>
              </a:pPr>
              <a:t>36</a:t>
            </a:fld>
            <a:endParaRPr lang="en-US" altLang="zh-CN"/>
          </a:p>
        </p:txBody>
      </p:sp>
    </p:spTree>
  </p:cSld>
  <p:clrMapOvr>
    <a:masterClrMapping/>
  </p:clrMapOvr>
  <p:transition>
    <p:spli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a:extLst>
              <a:ext uri="{FF2B5EF4-FFF2-40B4-BE49-F238E27FC236}">
                <a16:creationId xmlns:a16="http://schemas.microsoft.com/office/drawing/2014/main" id="{BF660E00-8964-41FA-BFAC-D4EAEAE9A18E}"/>
              </a:ext>
            </a:extLst>
          </p:cNvPr>
          <p:cNvSpPr>
            <a:spLocks noGrp="1" noChangeArrowheads="1"/>
          </p:cNvSpPr>
          <p:nvPr>
            <p:ph type="title"/>
          </p:nvPr>
        </p:nvSpPr>
        <p:spPr/>
        <p:txBody>
          <a:bodyPr/>
          <a:lstStyle/>
          <a:p>
            <a:r>
              <a:rPr lang="en-US" altLang="zh-CN"/>
              <a:t>1.5 </a:t>
            </a:r>
            <a:r>
              <a:rPr lang="zh-CN" altLang="en-US"/>
              <a:t>算法性能分析与度量</a:t>
            </a:r>
          </a:p>
        </p:txBody>
      </p:sp>
      <p:sp>
        <p:nvSpPr>
          <p:cNvPr id="59395" name="内容占位符 2">
            <a:extLst>
              <a:ext uri="{FF2B5EF4-FFF2-40B4-BE49-F238E27FC236}">
                <a16:creationId xmlns:a16="http://schemas.microsoft.com/office/drawing/2014/main" id="{16476E16-C085-4E87-B4CA-F7178500F2D5}"/>
              </a:ext>
            </a:extLst>
          </p:cNvPr>
          <p:cNvSpPr>
            <a:spLocks noGrp="1" noChangeArrowheads="1"/>
          </p:cNvSpPr>
          <p:nvPr>
            <p:ph idx="1"/>
          </p:nvPr>
        </p:nvSpPr>
        <p:spPr/>
        <p:txBody>
          <a:bodyPr/>
          <a:lstStyle/>
          <a:p>
            <a:r>
              <a:rPr lang="zh-CN" altLang="en-US" dirty="0"/>
              <a:t>算法的性能标准</a:t>
            </a:r>
          </a:p>
          <a:p>
            <a:r>
              <a:rPr lang="zh-CN" altLang="en-US" dirty="0"/>
              <a:t>算法的后期测试</a:t>
            </a:r>
          </a:p>
          <a:p>
            <a:r>
              <a:rPr lang="zh-CN" altLang="en-US" dirty="0"/>
              <a:t>算法的事前估计</a:t>
            </a:r>
          </a:p>
        </p:txBody>
      </p:sp>
      <p:sp>
        <p:nvSpPr>
          <p:cNvPr id="4" name="灯片编号占位符 3">
            <a:extLst>
              <a:ext uri="{FF2B5EF4-FFF2-40B4-BE49-F238E27FC236}">
                <a16:creationId xmlns:a16="http://schemas.microsoft.com/office/drawing/2014/main" id="{AEEF8650-A823-444E-986D-3E887F12D84C}"/>
              </a:ext>
            </a:extLst>
          </p:cNvPr>
          <p:cNvSpPr>
            <a:spLocks noGrp="1"/>
          </p:cNvSpPr>
          <p:nvPr>
            <p:ph type="sldNum" sz="quarter" idx="12"/>
          </p:nvPr>
        </p:nvSpPr>
        <p:spPr/>
        <p:txBody>
          <a:bodyPr/>
          <a:lstStyle/>
          <a:p>
            <a:pPr>
              <a:defRPr/>
            </a:pPr>
            <a:fld id="{9B743926-B763-4F28-B807-25F31B35889C}" type="slidenum">
              <a:rPr lang="en-US" altLang="zh-CN" smtClean="0"/>
              <a:pPr>
                <a:defRPr/>
              </a:pPr>
              <a:t>37</a:t>
            </a:fld>
            <a:endParaRPr lang="en-US" altLang="zh-CN"/>
          </a:p>
        </p:txBody>
      </p:sp>
    </p:spTree>
  </p:cSld>
  <p:clrMapOvr>
    <a:masterClrMapping/>
  </p:clrMapOvr>
  <p:transition>
    <p:split/>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a:extLst>
              <a:ext uri="{FF2B5EF4-FFF2-40B4-BE49-F238E27FC236}">
                <a16:creationId xmlns:a16="http://schemas.microsoft.com/office/drawing/2014/main" id="{2EFB0819-B1A6-454C-8E48-2F8150565AD6}"/>
              </a:ext>
            </a:extLst>
          </p:cNvPr>
          <p:cNvSpPr>
            <a:spLocks noGrp="1" noChangeArrowheads="1"/>
          </p:cNvSpPr>
          <p:nvPr>
            <p:ph type="title"/>
          </p:nvPr>
        </p:nvSpPr>
        <p:spPr/>
        <p:txBody>
          <a:bodyPr/>
          <a:lstStyle/>
          <a:p>
            <a:r>
              <a:rPr lang="zh-CN" altLang="en-US"/>
              <a:t>算法的性能标准</a:t>
            </a:r>
          </a:p>
        </p:txBody>
      </p:sp>
      <p:sp>
        <p:nvSpPr>
          <p:cNvPr id="3" name="内容占位符 2">
            <a:extLst>
              <a:ext uri="{FF2B5EF4-FFF2-40B4-BE49-F238E27FC236}">
                <a16:creationId xmlns:a16="http://schemas.microsoft.com/office/drawing/2014/main" id="{4B91342B-C80F-4D77-B9E8-251C88A90B34}"/>
              </a:ext>
            </a:extLst>
          </p:cNvPr>
          <p:cNvSpPr>
            <a:spLocks noGrp="1"/>
          </p:cNvSpPr>
          <p:nvPr>
            <p:ph idx="1"/>
          </p:nvPr>
        </p:nvSpPr>
        <p:spPr/>
        <p:txBody>
          <a:bodyPr>
            <a:normAutofit fontScale="55000" lnSpcReduction="20000"/>
          </a:bodyPr>
          <a:lstStyle/>
          <a:p>
            <a:pPr>
              <a:defRPr/>
            </a:pPr>
            <a:r>
              <a:rPr lang="zh-CN" altLang="en-US" dirty="0"/>
              <a:t>正确性 </a:t>
            </a:r>
            <a:r>
              <a:rPr lang="en-US" altLang="zh-CN" dirty="0"/>
              <a:t>(correctness )</a:t>
            </a:r>
          </a:p>
          <a:p>
            <a:pPr lvl="1">
              <a:defRPr/>
            </a:pPr>
            <a:r>
              <a:rPr lang="zh-CN" altLang="en-US" dirty="0"/>
              <a:t>算法能正确地执行预定地功能，满足预定的性能要求。</a:t>
            </a:r>
          </a:p>
          <a:p>
            <a:pPr>
              <a:defRPr/>
            </a:pPr>
            <a:r>
              <a:rPr lang="zh-CN" altLang="en-US" dirty="0"/>
              <a:t>易用性 </a:t>
            </a:r>
            <a:r>
              <a:rPr lang="en-US" altLang="zh-CN" dirty="0"/>
              <a:t>(usability )</a:t>
            </a:r>
          </a:p>
          <a:p>
            <a:pPr lvl="1">
              <a:defRPr/>
            </a:pPr>
            <a:r>
              <a:rPr lang="zh-CN" altLang="en-US" dirty="0"/>
              <a:t>算法能够很方便地被使用。</a:t>
            </a:r>
            <a:r>
              <a:rPr lang="zh-CN" altLang="en-US" sz="3300" dirty="0"/>
              <a:t>也称用户友好性。 </a:t>
            </a:r>
          </a:p>
          <a:p>
            <a:pPr>
              <a:defRPr/>
            </a:pPr>
            <a:r>
              <a:rPr lang="zh-CN" altLang="en-US" dirty="0"/>
              <a:t>可读性</a:t>
            </a:r>
            <a:r>
              <a:rPr lang="en-US" altLang="zh-CN" dirty="0"/>
              <a:t>(Readability)</a:t>
            </a:r>
          </a:p>
          <a:p>
            <a:pPr lvl="1">
              <a:defRPr/>
            </a:pPr>
            <a:r>
              <a:rPr lang="zh-CN" altLang="en-US" dirty="0"/>
              <a:t>算法应该容易阅读。以有利于阅读者对程序的理解。</a:t>
            </a:r>
          </a:p>
          <a:p>
            <a:pPr>
              <a:defRPr/>
            </a:pPr>
            <a:r>
              <a:rPr lang="zh-CN" altLang="en-US" dirty="0"/>
              <a:t>效率</a:t>
            </a:r>
            <a:r>
              <a:rPr lang="en-US" altLang="zh-CN" dirty="0"/>
              <a:t>(efficiency)</a:t>
            </a:r>
          </a:p>
          <a:p>
            <a:pPr lvl="1">
              <a:defRPr/>
            </a:pPr>
            <a:r>
              <a:rPr lang="zh-CN" altLang="en-US" dirty="0"/>
              <a:t>指的是算法执行的时间和空间利用率。</a:t>
            </a:r>
          </a:p>
          <a:p>
            <a:pPr>
              <a:defRPr/>
            </a:pPr>
            <a:r>
              <a:rPr lang="zh-CN" altLang="en-US" dirty="0"/>
              <a:t>健壮性 </a:t>
            </a:r>
            <a:r>
              <a:rPr lang="en-US" altLang="zh-CN" dirty="0"/>
              <a:t>(Robustness)</a:t>
            </a:r>
          </a:p>
          <a:p>
            <a:pPr lvl="1">
              <a:defRPr/>
            </a:pPr>
            <a:r>
              <a:rPr lang="zh-CN" altLang="en-US" dirty="0"/>
              <a:t>算法应具有容错处理的功能。要在算法中加入对输入数据、访问文件等的错误检查和例外处理。</a:t>
            </a:r>
          </a:p>
          <a:p>
            <a:pPr>
              <a:defRPr/>
            </a:pPr>
            <a:r>
              <a:rPr lang="zh-CN" altLang="en-US" dirty="0"/>
              <a:t>简单性 </a:t>
            </a:r>
            <a:r>
              <a:rPr lang="en-US" altLang="zh-CN" dirty="0"/>
              <a:t>(simplicity)</a:t>
            </a:r>
          </a:p>
          <a:p>
            <a:pPr lvl="1">
              <a:defRPr/>
            </a:pPr>
            <a:r>
              <a:rPr lang="zh-CN" altLang="en-US" dirty="0"/>
              <a:t>算法所采用数据结构和方法的简单程度。</a:t>
            </a:r>
          </a:p>
        </p:txBody>
      </p:sp>
      <p:sp>
        <p:nvSpPr>
          <p:cNvPr id="4" name="灯片编号占位符 3">
            <a:extLst>
              <a:ext uri="{FF2B5EF4-FFF2-40B4-BE49-F238E27FC236}">
                <a16:creationId xmlns:a16="http://schemas.microsoft.com/office/drawing/2014/main" id="{9FFC7A99-B987-4F96-BBC2-3B318DD9D634}"/>
              </a:ext>
            </a:extLst>
          </p:cNvPr>
          <p:cNvSpPr>
            <a:spLocks noGrp="1"/>
          </p:cNvSpPr>
          <p:nvPr>
            <p:ph type="sldNum" sz="quarter" idx="12"/>
          </p:nvPr>
        </p:nvSpPr>
        <p:spPr/>
        <p:txBody>
          <a:bodyPr/>
          <a:lstStyle/>
          <a:p>
            <a:pPr>
              <a:defRPr/>
            </a:pPr>
            <a:fld id="{01DBDD44-53D9-4ADF-9607-059FB1BBFEA0}" type="slidenum">
              <a:rPr lang="en-US" altLang="zh-CN" smtClean="0"/>
              <a:pPr>
                <a:defRPr/>
              </a:pPr>
              <a:t>38</a:t>
            </a:fld>
            <a:endParaRPr lang="en-US" altLang="zh-CN"/>
          </a:p>
        </p:txBody>
      </p:sp>
    </p:spTree>
  </p:cSld>
  <p:clrMapOvr>
    <a:masterClrMapping/>
  </p:clrMapOvr>
  <p:transition>
    <p:split/>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a:extLst>
              <a:ext uri="{FF2B5EF4-FFF2-40B4-BE49-F238E27FC236}">
                <a16:creationId xmlns:a16="http://schemas.microsoft.com/office/drawing/2014/main" id="{2494B101-7867-46BA-A9CE-C6B1AF427B66}"/>
              </a:ext>
            </a:extLst>
          </p:cNvPr>
          <p:cNvSpPr>
            <a:spLocks noGrp="1" noChangeArrowheads="1"/>
          </p:cNvSpPr>
          <p:nvPr>
            <p:ph type="title"/>
          </p:nvPr>
        </p:nvSpPr>
        <p:spPr/>
        <p:txBody>
          <a:bodyPr/>
          <a:lstStyle/>
          <a:p>
            <a:r>
              <a:rPr lang="zh-CN" altLang="en-US" dirty="0"/>
              <a:t>算法的后期测试</a:t>
            </a:r>
          </a:p>
        </p:txBody>
      </p:sp>
      <p:sp>
        <p:nvSpPr>
          <p:cNvPr id="3" name="内容占位符 2">
            <a:extLst>
              <a:ext uri="{FF2B5EF4-FFF2-40B4-BE49-F238E27FC236}">
                <a16:creationId xmlns:a16="http://schemas.microsoft.com/office/drawing/2014/main" id="{2573B140-16E0-4BC4-91EE-9C4309E366D4}"/>
              </a:ext>
            </a:extLst>
          </p:cNvPr>
          <p:cNvSpPr>
            <a:spLocks noGrp="1"/>
          </p:cNvSpPr>
          <p:nvPr>
            <p:ph idx="1"/>
          </p:nvPr>
        </p:nvSpPr>
        <p:spPr/>
        <p:txBody>
          <a:bodyPr>
            <a:normAutofit fontScale="70000" lnSpcReduction="20000"/>
          </a:bodyPr>
          <a:lstStyle/>
          <a:p>
            <a:pPr>
              <a:defRPr/>
            </a:pPr>
            <a:r>
              <a:rPr lang="zh-CN" altLang="en-US" dirty="0"/>
              <a:t>在算法中的某些部位插装时间函数</a:t>
            </a:r>
            <a:r>
              <a:rPr lang="en-US" altLang="zh-CN" dirty="0"/>
              <a:t>time ( ) </a:t>
            </a:r>
            <a:r>
              <a:rPr lang="zh-CN" altLang="en-US" dirty="0"/>
              <a:t>测定算法完成某一功能所花费时间。</a:t>
            </a:r>
            <a:endParaRPr lang="en-US" altLang="zh-CN" dirty="0"/>
          </a:p>
          <a:p>
            <a:pPr>
              <a:defRPr/>
            </a:pPr>
            <a:r>
              <a:rPr lang="zh-CN" altLang="en-US" dirty="0"/>
              <a:t>例：</a:t>
            </a:r>
            <a:endParaRPr lang="en-US" altLang="zh-CN" dirty="0"/>
          </a:p>
          <a:p>
            <a:pPr lvl="1">
              <a:defRPr/>
            </a:pPr>
            <a:r>
              <a:rPr lang="zh-CN" altLang="en-US" dirty="0"/>
              <a:t>已知按顺序搜索 </a:t>
            </a:r>
            <a:r>
              <a:rPr lang="en-US" altLang="zh-CN" dirty="0"/>
              <a:t>(</a:t>
            </a:r>
            <a:r>
              <a:rPr lang="en-US" altLang="zh-CN" dirty="0" err="1"/>
              <a:t>Sequenial</a:t>
            </a:r>
            <a:r>
              <a:rPr lang="en-US" altLang="zh-CN" dirty="0"/>
              <a:t> Search)</a:t>
            </a:r>
            <a:r>
              <a:rPr lang="zh-CN" altLang="en-US" dirty="0"/>
              <a:t>算法编写的</a:t>
            </a:r>
            <a:r>
              <a:rPr lang="en-US" altLang="zh-CN" dirty="0"/>
              <a:t>c</a:t>
            </a:r>
            <a:r>
              <a:rPr lang="zh-CN" altLang="en-US" dirty="0"/>
              <a:t>程序函数</a:t>
            </a:r>
            <a:r>
              <a:rPr lang="en-US" altLang="zh-CN" dirty="0" err="1"/>
              <a:t>seqsearch</a:t>
            </a:r>
            <a:r>
              <a:rPr lang="zh-CN" altLang="en-US" dirty="0"/>
              <a:t>，的运行时间。</a:t>
            </a:r>
            <a:endParaRPr lang="en-US" altLang="zh-CN" dirty="0"/>
          </a:p>
          <a:p>
            <a:pPr lvl="1">
              <a:defRPr/>
            </a:pPr>
            <a:r>
              <a:rPr lang="zh-CN" altLang="en-US" dirty="0"/>
              <a:t>通过加入</a:t>
            </a:r>
            <a:r>
              <a:rPr lang="en-US" altLang="zh-CN" dirty="0"/>
              <a:t>time( ) </a:t>
            </a:r>
            <a:r>
              <a:rPr lang="zh-CN" altLang="en-US" dirty="0"/>
              <a:t>对该函数的运行进行计时</a:t>
            </a:r>
          </a:p>
          <a:p>
            <a:pPr marL="342900" lvl="1" indent="0">
              <a:buNone/>
              <a:defRPr/>
            </a:pPr>
            <a:r>
              <a:rPr lang="zh-CN" altLang="en-US" dirty="0"/>
              <a:t>      </a:t>
            </a:r>
            <a:r>
              <a:rPr lang="en-US" altLang="zh-CN" dirty="0"/>
              <a:t>long start, stop;</a:t>
            </a:r>
          </a:p>
          <a:p>
            <a:pPr marL="342900" lvl="1" indent="0">
              <a:buNone/>
              <a:defRPr/>
            </a:pPr>
            <a:r>
              <a:rPr lang="en-US" altLang="zh-CN" dirty="0"/>
              <a:t>      time (&amp;start);	</a:t>
            </a:r>
          </a:p>
          <a:p>
            <a:pPr marL="342900" lvl="1" indent="0">
              <a:buNone/>
              <a:defRPr/>
            </a:pPr>
            <a:r>
              <a:rPr lang="en-US" altLang="zh-CN" dirty="0"/>
              <a:t>      int k = </a:t>
            </a:r>
            <a:r>
              <a:rPr lang="en-US" altLang="zh-CN" dirty="0" err="1"/>
              <a:t>seqsearch</a:t>
            </a:r>
            <a:r>
              <a:rPr lang="en-US" altLang="zh-CN" dirty="0"/>
              <a:t> (a, n, x);</a:t>
            </a:r>
          </a:p>
          <a:p>
            <a:pPr marL="342900" lvl="1" indent="0">
              <a:buNone/>
              <a:defRPr/>
            </a:pPr>
            <a:r>
              <a:rPr lang="en-US" altLang="zh-CN" dirty="0"/>
              <a:t>      time (&amp;stop);			</a:t>
            </a:r>
          </a:p>
          <a:p>
            <a:pPr marL="342900" lvl="1" indent="0">
              <a:buNone/>
              <a:defRPr/>
            </a:pPr>
            <a:r>
              <a:rPr lang="en-US" altLang="zh-CN" dirty="0"/>
              <a:t>      long </a:t>
            </a:r>
            <a:r>
              <a:rPr lang="en-US" altLang="zh-CN" dirty="0" err="1"/>
              <a:t>runTime</a:t>
            </a:r>
            <a:r>
              <a:rPr lang="en-US" altLang="zh-CN" dirty="0"/>
              <a:t> = stop - start;</a:t>
            </a:r>
          </a:p>
          <a:p>
            <a:pPr marL="342900" lvl="1" indent="0">
              <a:buNone/>
              <a:defRPr/>
            </a:pPr>
            <a:r>
              <a:rPr lang="en-US" altLang="zh-CN" dirty="0"/>
              <a:t>      </a:t>
            </a:r>
            <a:r>
              <a:rPr lang="en-US" altLang="zh-CN" dirty="0" err="1"/>
              <a:t>cout</a:t>
            </a:r>
            <a:r>
              <a:rPr lang="en-US" altLang="zh-CN" dirty="0"/>
              <a:t> &lt;&lt; " " &lt;&lt; n &lt;&lt; " " &lt;&lt; </a:t>
            </a:r>
            <a:r>
              <a:rPr lang="en-US" altLang="zh-CN" dirty="0" err="1"/>
              <a:t>runTime</a:t>
            </a:r>
            <a:r>
              <a:rPr lang="en-US" altLang="zh-CN" dirty="0"/>
              <a:t> &lt;&lt; </a:t>
            </a:r>
            <a:r>
              <a:rPr lang="en-US" altLang="zh-CN" dirty="0" err="1"/>
              <a:t>endl</a:t>
            </a:r>
            <a:r>
              <a:rPr lang="en-US" altLang="zh-CN" dirty="0"/>
              <a:t>;</a:t>
            </a:r>
          </a:p>
          <a:p>
            <a:pPr lvl="1">
              <a:defRPr/>
            </a:pPr>
            <a:endParaRPr lang="en-US" altLang="zh-CN" dirty="0"/>
          </a:p>
          <a:p>
            <a:pPr>
              <a:defRPr/>
            </a:pPr>
            <a:endParaRPr lang="zh-CN" altLang="en-US" dirty="0"/>
          </a:p>
        </p:txBody>
      </p:sp>
      <p:sp>
        <p:nvSpPr>
          <p:cNvPr id="4" name="灯片编号占位符 3">
            <a:extLst>
              <a:ext uri="{FF2B5EF4-FFF2-40B4-BE49-F238E27FC236}">
                <a16:creationId xmlns:a16="http://schemas.microsoft.com/office/drawing/2014/main" id="{234D427F-F443-49FB-920C-19DC903ECD1D}"/>
              </a:ext>
            </a:extLst>
          </p:cNvPr>
          <p:cNvSpPr>
            <a:spLocks noGrp="1"/>
          </p:cNvSpPr>
          <p:nvPr>
            <p:ph type="sldNum" sz="quarter" idx="12"/>
          </p:nvPr>
        </p:nvSpPr>
        <p:spPr/>
        <p:txBody>
          <a:bodyPr/>
          <a:lstStyle/>
          <a:p>
            <a:pPr>
              <a:defRPr/>
            </a:pPr>
            <a:fld id="{B456386A-0714-4BCE-98A9-DC2D8A2E0057}" type="slidenum">
              <a:rPr lang="en-US" altLang="zh-CN" smtClean="0"/>
              <a:pPr>
                <a:defRPr/>
              </a:pPr>
              <a:t>39</a:t>
            </a:fld>
            <a:endParaRPr lang="en-US" altLang="zh-CN"/>
          </a:p>
        </p:txBody>
      </p:sp>
    </p:spTree>
  </p:cSld>
  <p:clrMapOvr>
    <a:masterClrMapping/>
  </p:clrMapOvr>
  <p:transition>
    <p:split/>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554A23E2-744F-4C29-8C79-21D4C04E87D5}"/>
              </a:ext>
            </a:extLst>
          </p:cNvPr>
          <p:cNvSpPr>
            <a:spLocks noGrp="1" noChangeArrowheads="1"/>
          </p:cNvSpPr>
          <p:nvPr>
            <p:ph type="title"/>
          </p:nvPr>
        </p:nvSpPr>
        <p:spPr/>
        <p:txBody>
          <a:bodyPr/>
          <a:lstStyle/>
          <a:p>
            <a:r>
              <a:rPr lang="zh-CN" altLang="en-US"/>
              <a:t>后期测试的不足</a:t>
            </a:r>
          </a:p>
        </p:txBody>
      </p:sp>
      <p:sp>
        <p:nvSpPr>
          <p:cNvPr id="63491" name="Rectangle 3">
            <a:extLst>
              <a:ext uri="{FF2B5EF4-FFF2-40B4-BE49-F238E27FC236}">
                <a16:creationId xmlns:a16="http://schemas.microsoft.com/office/drawing/2014/main" id="{533537B2-735E-4AF2-B461-7BC58DBD48C9}"/>
              </a:ext>
            </a:extLst>
          </p:cNvPr>
          <p:cNvSpPr>
            <a:spLocks noGrp="1" noChangeArrowheads="1"/>
          </p:cNvSpPr>
          <p:nvPr>
            <p:ph idx="1"/>
          </p:nvPr>
        </p:nvSpPr>
        <p:spPr/>
        <p:txBody>
          <a:bodyPr/>
          <a:lstStyle/>
          <a:p>
            <a:pPr eaLnBrk="1" hangingPunct="1"/>
            <a:r>
              <a:rPr lang="zh-CN" altLang="en-US" dirty="0"/>
              <a:t>依赖于运行环境：硬件、操作系统、同时运行的其它程序</a:t>
            </a:r>
            <a:r>
              <a:rPr lang="en-US" altLang="zh-CN" dirty="0"/>
              <a:t>…</a:t>
            </a:r>
            <a:r>
              <a:rPr lang="zh-CN" altLang="en-US" dirty="0"/>
              <a:t>。</a:t>
            </a:r>
          </a:p>
          <a:p>
            <a:pPr eaLnBrk="1" hangingPunct="1"/>
            <a:r>
              <a:rPr lang="zh-CN" altLang="en-US" dirty="0"/>
              <a:t>不同的编程语言、不同的编译器也会影响结果。</a:t>
            </a:r>
          </a:p>
        </p:txBody>
      </p:sp>
      <p:sp>
        <p:nvSpPr>
          <p:cNvPr id="3" name="灯片编号占位符 2">
            <a:extLst>
              <a:ext uri="{FF2B5EF4-FFF2-40B4-BE49-F238E27FC236}">
                <a16:creationId xmlns:a16="http://schemas.microsoft.com/office/drawing/2014/main" id="{042F0BEB-2B9F-48F9-8E09-B469B82A3D32}"/>
              </a:ext>
            </a:extLst>
          </p:cNvPr>
          <p:cNvSpPr>
            <a:spLocks noGrp="1"/>
          </p:cNvSpPr>
          <p:nvPr>
            <p:ph type="sldNum" sz="quarter" idx="12"/>
          </p:nvPr>
        </p:nvSpPr>
        <p:spPr/>
        <p:txBody>
          <a:bodyPr/>
          <a:lstStyle/>
          <a:p>
            <a:pPr>
              <a:defRPr/>
            </a:pPr>
            <a:fld id="{561B6629-42A1-4B71-91A2-7B2CDDDDACFF}" type="slidenum">
              <a:rPr lang="en-US" altLang="zh-CN" smtClean="0"/>
              <a:pPr>
                <a:defRPr/>
              </a:pPr>
              <a:t>40</a:t>
            </a:fld>
            <a:endParaRPr lang="en-US" altLang="zh-CN"/>
          </a:p>
        </p:txBody>
      </p:sp>
    </p:spTree>
  </p:cSld>
  <p:clrMapOvr>
    <a:masterClrMapping/>
  </p:clrMapOvr>
  <p:transition>
    <p:spli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644D4913-E95B-4CBE-9868-57BC509F1CE1}"/>
              </a:ext>
            </a:extLst>
          </p:cNvPr>
          <p:cNvSpPr>
            <a:spLocks noGrp="1" noChangeArrowheads="1"/>
          </p:cNvSpPr>
          <p:nvPr>
            <p:ph type="title"/>
          </p:nvPr>
        </p:nvSpPr>
        <p:spPr/>
        <p:txBody>
          <a:bodyPr/>
          <a:lstStyle/>
          <a:p>
            <a:r>
              <a:rPr lang="zh-CN" altLang="en-US"/>
              <a:t>算法的事前估计</a:t>
            </a:r>
          </a:p>
        </p:txBody>
      </p:sp>
      <p:sp>
        <p:nvSpPr>
          <p:cNvPr id="64515" name="内容占位符 2">
            <a:extLst>
              <a:ext uri="{FF2B5EF4-FFF2-40B4-BE49-F238E27FC236}">
                <a16:creationId xmlns:a16="http://schemas.microsoft.com/office/drawing/2014/main" id="{E951A89C-94B6-49CC-B9B5-700F3D0DCA97}"/>
              </a:ext>
            </a:extLst>
          </p:cNvPr>
          <p:cNvSpPr>
            <a:spLocks noGrp="1" noChangeArrowheads="1"/>
          </p:cNvSpPr>
          <p:nvPr>
            <p:ph idx="1"/>
          </p:nvPr>
        </p:nvSpPr>
        <p:spPr/>
        <p:txBody>
          <a:bodyPr>
            <a:normAutofit fontScale="92500" lnSpcReduction="20000"/>
          </a:bodyPr>
          <a:lstStyle/>
          <a:p>
            <a:r>
              <a:rPr lang="zh-CN" altLang="en-US" dirty="0"/>
              <a:t>空间复杂度</a:t>
            </a:r>
          </a:p>
          <a:p>
            <a:pPr lvl="1"/>
            <a:r>
              <a:rPr lang="zh-CN" altLang="en-US" dirty="0"/>
              <a:t>当问题的规模以某种单位从</a:t>
            </a:r>
            <a:r>
              <a:rPr lang="en-US" altLang="zh-CN" dirty="0"/>
              <a:t>1</a:t>
            </a:r>
            <a:r>
              <a:rPr lang="zh-CN" altLang="en-US" dirty="0"/>
              <a:t>增加到</a:t>
            </a:r>
            <a:r>
              <a:rPr lang="en-US" altLang="zh-CN" dirty="0"/>
              <a:t>n</a:t>
            </a:r>
            <a:r>
              <a:rPr lang="zh-CN" altLang="en-US" dirty="0"/>
              <a:t>时，解决这个问题的算法在执行时所占用的存储空间也以某种单位从</a:t>
            </a:r>
            <a:r>
              <a:rPr lang="en-US" altLang="zh-CN" dirty="0"/>
              <a:t>1</a:t>
            </a:r>
            <a:r>
              <a:rPr lang="zh-CN" altLang="en-US" dirty="0"/>
              <a:t>增加到</a:t>
            </a:r>
            <a:r>
              <a:rPr lang="en-US" altLang="zh-CN" dirty="0"/>
              <a:t>S(n)</a:t>
            </a:r>
            <a:r>
              <a:rPr lang="zh-CN" altLang="en-US" dirty="0"/>
              <a:t>，则称此算法的空间复杂度为</a:t>
            </a:r>
            <a:r>
              <a:rPr lang="en-US" altLang="zh-CN" dirty="0"/>
              <a:t>S(n)</a:t>
            </a:r>
          </a:p>
          <a:p>
            <a:r>
              <a:rPr lang="zh-CN" altLang="en-US" dirty="0"/>
              <a:t>时间复杂度</a:t>
            </a:r>
          </a:p>
          <a:p>
            <a:pPr lvl="1"/>
            <a:r>
              <a:rPr lang="zh-CN" altLang="en-US" dirty="0"/>
              <a:t>当问题的规模以某种单位从</a:t>
            </a:r>
            <a:r>
              <a:rPr lang="en-US" altLang="zh-CN" dirty="0"/>
              <a:t>1</a:t>
            </a:r>
            <a:r>
              <a:rPr lang="zh-CN" altLang="en-US" dirty="0"/>
              <a:t>增加到</a:t>
            </a:r>
            <a:r>
              <a:rPr lang="en-US" altLang="zh-CN" dirty="0"/>
              <a:t>n</a:t>
            </a:r>
            <a:r>
              <a:rPr lang="zh-CN" altLang="en-US" dirty="0"/>
              <a:t>时，解决这个问题的算法在执行时所耗费的时间也以某种单位从</a:t>
            </a:r>
            <a:r>
              <a:rPr lang="en-US" altLang="zh-CN" dirty="0"/>
              <a:t>1</a:t>
            </a:r>
            <a:r>
              <a:rPr lang="zh-CN" altLang="en-US" dirty="0"/>
              <a:t>增加到</a:t>
            </a:r>
            <a:r>
              <a:rPr lang="en-US" altLang="zh-CN" dirty="0"/>
              <a:t>T(n)</a:t>
            </a:r>
            <a:r>
              <a:rPr lang="zh-CN" altLang="en-US" dirty="0"/>
              <a:t>，则称此算法的时间复杂度为</a:t>
            </a:r>
            <a:r>
              <a:rPr lang="en-US" altLang="zh-CN" dirty="0"/>
              <a:t>T(n)</a:t>
            </a:r>
          </a:p>
        </p:txBody>
      </p:sp>
      <p:sp>
        <p:nvSpPr>
          <p:cNvPr id="4" name="灯片编号占位符 3">
            <a:extLst>
              <a:ext uri="{FF2B5EF4-FFF2-40B4-BE49-F238E27FC236}">
                <a16:creationId xmlns:a16="http://schemas.microsoft.com/office/drawing/2014/main" id="{C03AFD83-3A92-4827-AC87-1C06C7C9FB31}"/>
              </a:ext>
            </a:extLst>
          </p:cNvPr>
          <p:cNvSpPr>
            <a:spLocks noGrp="1"/>
          </p:cNvSpPr>
          <p:nvPr>
            <p:ph type="sldNum" sz="quarter" idx="12"/>
          </p:nvPr>
        </p:nvSpPr>
        <p:spPr/>
        <p:txBody>
          <a:bodyPr/>
          <a:lstStyle/>
          <a:p>
            <a:pPr>
              <a:defRPr/>
            </a:pPr>
            <a:fld id="{1EDC94B0-A407-488E-BE52-9F02AF3CDA4A}" type="slidenum">
              <a:rPr lang="en-US" altLang="zh-CN" smtClean="0"/>
              <a:pPr>
                <a:defRPr/>
              </a:pPr>
              <a:t>41</a:t>
            </a:fld>
            <a:endParaRPr lang="en-US" altLang="zh-CN"/>
          </a:p>
        </p:txBody>
      </p:sp>
    </p:spTree>
  </p:cSld>
  <p:clrMapOvr>
    <a:masterClrMapping/>
  </p:clrMapOvr>
  <p:transition>
    <p:split/>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E24C5195-A815-40F9-A8B4-B79A48C4218E}"/>
              </a:ext>
            </a:extLst>
          </p:cNvPr>
          <p:cNvSpPr>
            <a:spLocks noGrp="1" noChangeArrowheads="1"/>
          </p:cNvSpPr>
          <p:nvPr>
            <p:ph type="title"/>
          </p:nvPr>
        </p:nvSpPr>
        <p:spPr/>
        <p:txBody>
          <a:bodyPr/>
          <a:lstStyle/>
          <a:p>
            <a:r>
              <a:rPr lang="zh-CN" altLang="en-US" dirty="0"/>
              <a:t>空间复杂度度量</a:t>
            </a:r>
          </a:p>
        </p:txBody>
      </p:sp>
      <p:sp>
        <p:nvSpPr>
          <p:cNvPr id="65539" name="内容占位符 2">
            <a:extLst>
              <a:ext uri="{FF2B5EF4-FFF2-40B4-BE49-F238E27FC236}">
                <a16:creationId xmlns:a16="http://schemas.microsoft.com/office/drawing/2014/main" id="{D7200B42-EDE8-4506-9874-D6C7D5710940}"/>
              </a:ext>
            </a:extLst>
          </p:cNvPr>
          <p:cNvSpPr>
            <a:spLocks noGrp="1" noChangeArrowheads="1"/>
          </p:cNvSpPr>
          <p:nvPr>
            <p:ph idx="1"/>
          </p:nvPr>
        </p:nvSpPr>
        <p:spPr/>
        <p:txBody>
          <a:bodyPr>
            <a:normAutofit fontScale="92500" lnSpcReduction="10000"/>
          </a:bodyPr>
          <a:lstStyle/>
          <a:p>
            <a:r>
              <a:rPr lang="zh-CN" altLang="en-US" dirty="0"/>
              <a:t>存储空间的固定部分</a:t>
            </a:r>
            <a:endParaRPr lang="en-US" altLang="zh-CN" dirty="0"/>
          </a:p>
          <a:p>
            <a:pPr lvl="1"/>
            <a:r>
              <a:rPr lang="zh-CN" altLang="en-US" dirty="0"/>
              <a:t>存放程序指令代码的空间，常数、简单变量、定长成分</a:t>
            </a:r>
            <a:r>
              <a:rPr lang="en-US" altLang="zh-CN" dirty="0"/>
              <a:t>(</a:t>
            </a:r>
            <a:r>
              <a:rPr lang="zh-CN" altLang="en-US" dirty="0"/>
              <a:t>如数组元素、结构成分、对象的数据成员等</a:t>
            </a:r>
            <a:r>
              <a:rPr lang="en-US" altLang="zh-CN" dirty="0"/>
              <a:t>)</a:t>
            </a:r>
            <a:r>
              <a:rPr lang="zh-CN" altLang="en-US" dirty="0"/>
              <a:t>所占空间。往往通过简单统计就可以估算</a:t>
            </a:r>
          </a:p>
          <a:p>
            <a:r>
              <a:rPr lang="zh-CN" altLang="en-US" dirty="0"/>
              <a:t>存储空间的可变部分</a:t>
            </a:r>
            <a:endParaRPr lang="en-US" altLang="zh-CN" dirty="0"/>
          </a:p>
          <a:p>
            <a:pPr lvl="1"/>
            <a:r>
              <a:rPr lang="zh-CN" altLang="en-US" dirty="0"/>
              <a:t>包括与问题规模有关的变量所占空间、引用变量所占空间、递归栈所用空间、通过</a:t>
            </a:r>
            <a:r>
              <a:rPr lang="en-US" altLang="zh-CN" dirty="0"/>
              <a:t>new</a:t>
            </a:r>
            <a:r>
              <a:rPr lang="zh-CN" altLang="en-US" dirty="0"/>
              <a:t>和</a:t>
            </a:r>
            <a:r>
              <a:rPr lang="en-US" altLang="zh-CN" dirty="0"/>
              <a:t>delete</a:t>
            </a:r>
            <a:r>
              <a:rPr lang="zh-CN" altLang="en-US" dirty="0"/>
              <a:t>命令动态使用的空间。</a:t>
            </a:r>
          </a:p>
          <a:p>
            <a:endParaRPr lang="zh-CN" altLang="en-US" dirty="0"/>
          </a:p>
        </p:txBody>
      </p:sp>
      <p:sp>
        <p:nvSpPr>
          <p:cNvPr id="4" name="灯片编号占位符 3">
            <a:extLst>
              <a:ext uri="{FF2B5EF4-FFF2-40B4-BE49-F238E27FC236}">
                <a16:creationId xmlns:a16="http://schemas.microsoft.com/office/drawing/2014/main" id="{50AD6E27-2D94-4676-8C5D-597B350DDCB0}"/>
              </a:ext>
            </a:extLst>
          </p:cNvPr>
          <p:cNvSpPr>
            <a:spLocks noGrp="1"/>
          </p:cNvSpPr>
          <p:nvPr>
            <p:ph type="sldNum" sz="quarter" idx="12"/>
          </p:nvPr>
        </p:nvSpPr>
        <p:spPr/>
        <p:txBody>
          <a:bodyPr/>
          <a:lstStyle/>
          <a:p>
            <a:pPr>
              <a:defRPr/>
            </a:pPr>
            <a:fld id="{1BCCA84A-EFD7-4374-B6FC-9E4097E14F4D}" type="slidenum">
              <a:rPr lang="en-US" altLang="zh-CN" smtClean="0"/>
              <a:pPr>
                <a:defRPr/>
              </a:pPr>
              <a:t>42</a:t>
            </a:fld>
            <a:endParaRPr lang="en-US" altLang="zh-CN"/>
          </a:p>
        </p:txBody>
      </p:sp>
    </p:spTree>
  </p:cSld>
  <p:clrMapOvr>
    <a:masterClrMapping/>
  </p:clrMapOvr>
  <p:transition>
    <p:spli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a:extLst>
              <a:ext uri="{FF2B5EF4-FFF2-40B4-BE49-F238E27FC236}">
                <a16:creationId xmlns:a16="http://schemas.microsoft.com/office/drawing/2014/main" id="{BFD40C79-B679-4A8C-9FF9-DB683BC42E05}"/>
              </a:ext>
            </a:extLst>
          </p:cNvPr>
          <p:cNvSpPr>
            <a:spLocks noGrp="1" noChangeArrowheads="1"/>
          </p:cNvSpPr>
          <p:nvPr>
            <p:ph type="title"/>
          </p:nvPr>
        </p:nvSpPr>
        <p:spPr>
          <a:xfrm>
            <a:off x="628650" y="232778"/>
            <a:ext cx="7886700" cy="1325563"/>
          </a:xfrm>
        </p:spPr>
        <p:txBody>
          <a:bodyPr/>
          <a:lstStyle/>
          <a:p>
            <a:r>
              <a:rPr lang="zh-CN" altLang="en-US"/>
              <a:t>时间复杂度度量</a:t>
            </a:r>
          </a:p>
        </p:txBody>
      </p:sp>
      <p:sp>
        <p:nvSpPr>
          <p:cNvPr id="3" name="内容占位符 2">
            <a:extLst>
              <a:ext uri="{FF2B5EF4-FFF2-40B4-BE49-F238E27FC236}">
                <a16:creationId xmlns:a16="http://schemas.microsoft.com/office/drawing/2014/main" id="{41D6F791-B73B-4938-AF73-81F63D8281BD}"/>
              </a:ext>
            </a:extLst>
          </p:cNvPr>
          <p:cNvSpPr>
            <a:spLocks noGrp="1"/>
          </p:cNvSpPr>
          <p:nvPr>
            <p:ph idx="1"/>
          </p:nvPr>
        </p:nvSpPr>
        <p:spPr>
          <a:xfrm>
            <a:off x="395536" y="1825624"/>
            <a:ext cx="8352928" cy="4667251"/>
          </a:xfrm>
        </p:spPr>
        <p:txBody>
          <a:bodyPr>
            <a:normAutofit fontScale="62500" lnSpcReduction="20000"/>
          </a:bodyPr>
          <a:lstStyle/>
          <a:p>
            <a:pPr>
              <a:defRPr/>
            </a:pPr>
            <a:r>
              <a:rPr lang="zh-CN" altLang="en-US" dirty="0"/>
              <a:t>仅指程序运行（不含编译等准备）时间。</a:t>
            </a:r>
            <a:endParaRPr lang="en-US" altLang="zh-CN" dirty="0"/>
          </a:p>
          <a:p>
            <a:pPr lvl="1">
              <a:defRPr/>
            </a:pPr>
            <a:r>
              <a:rPr lang="zh-CN" altLang="en-US" dirty="0"/>
              <a:t>程序步是基础：</a:t>
            </a:r>
            <a:endParaRPr lang="en-US" altLang="zh-CN" dirty="0"/>
          </a:p>
          <a:p>
            <a:pPr lvl="2">
              <a:defRPr/>
            </a:pPr>
            <a:r>
              <a:rPr lang="zh-CN" altLang="en-US" dirty="0"/>
              <a:t>一个程序步对应语法上或语义上有意义的一段指令序列</a:t>
            </a:r>
          </a:p>
          <a:p>
            <a:pPr lvl="2">
              <a:defRPr/>
            </a:pPr>
            <a:r>
              <a:rPr lang="zh-CN" altLang="en-US" dirty="0"/>
              <a:t>执行时间与操作数取值无关；</a:t>
            </a:r>
            <a:endParaRPr lang="en-US" altLang="zh-CN" dirty="0"/>
          </a:p>
          <a:p>
            <a:pPr>
              <a:defRPr/>
            </a:pPr>
            <a:r>
              <a:rPr lang="zh-CN" altLang="en-US" dirty="0"/>
              <a:t>各种语句的程序步数</a:t>
            </a:r>
          </a:p>
          <a:p>
            <a:pPr lvl="1">
              <a:defRPr/>
            </a:pPr>
            <a:r>
              <a:rPr lang="zh-CN" altLang="en-US" dirty="0"/>
              <a:t>注释、声明语句：程序步数为</a:t>
            </a:r>
            <a:r>
              <a:rPr lang="en-US" altLang="zh-CN" dirty="0"/>
              <a:t>0; </a:t>
            </a:r>
          </a:p>
          <a:p>
            <a:pPr lvl="1">
              <a:defRPr/>
            </a:pPr>
            <a:r>
              <a:rPr lang="zh-CN" altLang="en-US" dirty="0"/>
              <a:t>简单算术表达式：程序步数为</a:t>
            </a:r>
            <a:r>
              <a:rPr lang="en-US" altLang="zh-CN" dirty="0"/>
              <a:t>1</a:t>
            </a:r>
            <a:r>
              <a:rPr lang="zh-CN" altLang="en-US" dirty="0"/>
              <a:t>；</a:t>
            </a:r>
          </a:p>
          <a:p>
            <a:pPr lvl="1">
              <a:defRPr/>
            </a:pPr>
            <a:r>
              <a:rPr lang="zh-CN" altLang="en-US" dirty="0"/>
              <a:t>赋值语句：简单赋值程序步数为</a:t>
            </a:r>
            <a:r>
              <a:rPr lang="en-US" altLang="zh-CN" dirty="0"/>
              <a:t>1</a:t>
            </a:r>
            <a:r>
              <a:rPr lang="zh-CN" altLang="en-US" dirty="0"/>
              <a:t>；数组赋值程序步是数组大小加</a:t>
            </a:r>
            <a:r>
              <a:rPr lang="en-US" altLang="zh-CN" dirty="0"/>
              <a:t>1</a:t>
            </a:r>
            <a:r>
              <a:rPr lang="zh-CN" altLang="en-US" dirty="0"/>
              <a:t>；</a:t>
            </a:r>
          </a:p>
          <a:p>
            <a:pPr lvl="1">
              <a:defRPr/>
            </a:pPr>
            <a:r>
              <a:rPr lang="zh-CN" altLang="en-US" dirty="0"/>
              <a:t>循环语句要看循环次数，以及每次循环具体做的工作，加上循环的初始化</a:t>
            </a:r>
          </a:p>
          <a:p>
            <a:pPr lvl="1">
              <a:defRPr/>
            </a:pPr>
            <a:r>
              <a:rPr lang="en-US" altLang="zh-CN" dirty="0"/>
              <a:t>If-else</a:t>
            </a:r>
            <a:r>
              <a:rPr lang="zh-CN" altLang="en-US" dirty="0"/>
              <a:t>、</a:t>
            </a:r>
            <a:r>
              <a:rPr lang="en-US" altLang="zh-CN" dirty="0"/>
              <a:t>switch</a:t>
            </a:r>
            <a:r>
              <a:rPr lang="zh-CN" altLang="en-US" dirty="0"/>
              <a:t>结构，要根据实际的情况确定程序步，</a:t>
            </a:r>
            <a:endParaRPr lang="en-US" altLang="zh-CN" dirty="0"/>
          </a:p>
          <a:p>
            <a:pPr lvl="1">
              <a:defRPr/>
            </a:pPr>
            <a:r>
              <a:rPr lang="zh-CN" altLang="en-US" dirty="0"/>
              <a:t>函数调用语句：具体函数执行的程序步</a:t>
            </a:r>
          </a:p>
          <a:p>
            <a:pPr lvl="1">
              <a:defRPr/>
            </a:pPr>
            <a:r>
              <a:rPr lang="zh-CN" altLang="en-US" dirty="0"/>
              <a:t>动态存储管理（如</a:t>
            </a:r>
            <a:r>
              <a:rPr lang="en-US" altLang="zh-CN" dirty="0"/>
              <a:t>new</a:t>
            </a:r>
            <a:r>
              <a:rPr lang="zh-CN" altLang="en-US" dirty="0"/>
              <a:t>，</a:t>
            </a:r>
            <a:r>
              <a:rPr lang="en-US" altLang="zh-CN" dirty="0"/>
              <a:t>delete</a:t>
            </a:r>
            <a:r>
              <a:rPr lang="zh-CN" altLang="en-US" dirty="0"/>
              <a:t>等）和转移语句（如</a:t>
            </a:r>
            <a:r>
              <a:rPr lang="en-US" altLang="zh-CN" dirty="0"/>
              <a:t>break</a:t>
            </a:r>
            <a:r>
              <a:rPr lang="zh-CN" altLang="en-US" dirty="0"/>
              <a:t>，</a:t>
            </a:r>
            <a:r>
              <a:rPr lang="en-US" altLang="zh-CN" dirty="0"/>
              <a:t>continue</a:t>
            </a:r>
            <a:r>
              <a:rPr lang="zh-CN" altLang="en-US" dirty="0"/>
              <a:t>等）的程序步为</a:t>
            </a:r>
            <a:r>
              <a:rPr lang="en-US" altLang="zh-CN" dirty="0"/>
              <a:t>1</a:t>
            </a:r>
          </a:p>
        </p:txBody>
      </p:sp>
      <p:sp>
        <p:nvSpPr>
          <p:cNvPr id="7" name="灯片编号占位符 6">
            <a:extLst>
              <a:ext uri="{FF2B5EF4-FFF2-40B4-BE49-F238E27FC236}">
                <a16:creationId xmlns:a16="http://schemas.microsoft.com/office/drawing/2014/main" id="{9D281D9E-961B-44CE-AF62-C6452783C434}"/>
              </a:ext>
            </a:extLst>
          </p:cNvPr>
          <p:cNvSpPr>
            <a:spLocks noGrp="1"/>
          </p:cNvSpPr>
          <p:nvPr>
            <p:ph type="sldNum" sz="quarter" idx="12"/>
          </p:nvPr>
        </p:nvSpPr>
        <p:spPr/>
        <p:txBody>
          <a:bodyPr/>
          <a:lstStyle/>
          <a:p>
            <a:pPr>
              <a:defRPr/>
            </a:pPr>
            <a:fld id="{4CE0B89C-0420-4C75-A764-B1DF17F927D5}" type="slidenum">
              <a:rPr lang="en-US" altLang="zh-CN" smtClean="0"/>
              <a:pPr>
                <a:defRPr/>
              </a:pPr>
              <a:t>43</a:t>
            </a:fld>
            <a:endParaRPr lang="en-US" altLang="zh-CN"/>
          </a:p>
        </p:txBody>
      </p:sp>
    </p:spTree>
  </p:cSld>
  <p:clrMapOvr>
    <a:masterClrMapping/>
  </p:clrMapOvr>
  <p:transition>
    <p:spli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2A8EEA9A-FBB9-4BED-A1C6-DEFF00869871}"/>
              </a:ext>
            </a:extLst>
          </p:cNvPr>
          <p:cNvSpPr>
            <a:spLocks noGrp="1" noChangeArrowheads="1"/>
          </p:cNvSpPr>
          <p:nvPr>
            <p:ph type="title"/>
          </p:nvPr>
        </p:nvSpPr>
        <p:spPr/>
        <p:txBody>
          <a:bodyPr/>
          <a:lstStyle/>
          <a:p>
            <a:r>
              <a:rPr lang="zh-CN" altLang="en-US"/>
              <a:t> 程序步确定方法</a:t>
            </a:r>
          </a:p>
        </p:txBody>
      </p:sp>
      <p:sp>
        <p:nvSpPr>
          <p:cNvPr id="3" name="内容占位符 2">
            <a:extLst>
              <a:ext uri="{FF2B5EF4-FFF2-40B4-BE49-F238E27FC236}">
                <a16:creationId xmlns:a16="http://schemas.microsoft.com/office/drawing/2014/main" id="{ABD7B160-75CE-4A59-BCB9-B553BBFE3075}"/>
              </a:ext>
            </a:extLst>
          </p:cNvPr>
          <p:cNvSpPr>
            <a:spLocks noGrp="1"/>
          </p:cNvSpPr>
          <p:nvPr>
            <p:ph idx="1"/>
          </p:nvPr>
        </p:nvSpPr>
        <p:spPr/>
        <p:txBody>
          <a:bodyPr>
            <a:normAutofit fontScale="62500" lnSpcReduction="20000"/>
          </a:bodyPr>
          <a:lstStyle/>
          <a:p>
            <a:pPr>
              <a:defRPr/>
            </a:pPr>
            <a:r>
              <a:rPr lang="zh-CN" altLang="en-US" dirty="0"/>
              <a:t>方法</a:t>
            </a:r>
            <a:r>
              <a:rPr lang="en-US" altLang="zh-CN" dirty="0"/>
              <a:t>1</a:t>
            </a:r>
            <a:r>
              <a:rPr lang="zh-CN" altLang="en-US" dirty="0"/>
              <a:t>：插入计数全局变量</a:t>
            </a:r>
            <a:r>
              <a:rPr lang="en-US" altLang="zh-CN" dirty="0"/>
              <a:t>count</a:t>
            </a:r>
          </a:p>
          <a:p>
            <a:pPr>
              <a:defRPr/>
            </a:pPr>
            <a:r>
              <a:rPr lang="zh-CN" altLang="en-US" dirty="0"/>
              <a:t>方法</a:t>
            </a:r>
            <a:r>
              <a:rPr lang="en-US" altLang="zh-CN" dirty="0"/>
              <a:t>2</a:t>
            </a:r>
            <a:r>
              <a:rPr lang="zh-CN" altLang="en-US" dirty="0"/>
              <a:t>：建表，列出各语句的程序步</a:t>
            </a:r>
            <a:endParaRPr lang="en-US" altLang="zh-CN" dirty="0"/>
          </a:p>
          <a:p>
            <a:pPr>
              <a:defRPr/>
            </a:pPr>
            <a:endParaRPr lang="en-US" altLang="zh-CN" dirty="0"/>
          </a:p>
          <a:p>
            <a:pPr>
              <a:defRPr/>
            </a:pPr>
            <a:r>
              <a:rPr lang="zh-CN" altLang="en-US" dirty="0"/>
              <a:t>例</a:t>
            </a:r>
            <a:r>
              <a:rPr lang="en-US" altLang="zh-CN" dirty="0"/>
              <a:t>1</a:t>
            </a:r>
            <a:r>
              <a:rPr lang="zh-CN" altLang="en-US" dirty="0"/>
              <a:t>：以迭代方式求累加和的函数</a:t>
            </a:r>
          </a:p>
          <a:p>
            <a:pPr marL="0" indent="0">
              <a:buNone/>
              <a:defRPr/>
            </a:pPr>
            <a:r>
              <a:rPr lang="en-US" altLang="zh-CN" dirty="0"/>
              <a:t>float sum ( float a[ ], const int n ) {</a:t>
            </a:r>
          </a:p>
          <a:p>
            <a:pPr marL="0" indent="0">
              <a:buNone/>
              <a:defRPr/>
            </a:pPr>
            <a:r>
              <a:rPr lang="en-US" altLang="zh-CN" dirty="0"/>
              <a:t>     float s = 0.0;</a:t>
            </a:r>
          </a:p>
          <a:p>
            <a:pPr marL="0" indent="0">
              <a:buNone/>
              <a:defRPr/>
            </a:pPr>
            <a:r>
              <a:rPr lang="en-US" altLang="zh-CN" dirty="0"/>
              <a:t>     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p>
          <a:p>
            <a:pPr marL="0" indent="0">
              <a:buNone/>
              <a:defRPr/>
            </a:pPr>
            <a:r>
              <a:rPr lang="en-US" altLang="zh-CN" dirty="0"/>
              <a:t>         s += a[</a:t>
            </a:r>
            <a:r>
              <a:rPr lang="en-US" altLang="zh-CN" dirty="0" err="1"/>
              <a:t>i</a:t>
            </a:r>
            <a:r>
              <a:rPr lang="en-US" altLang="zh-CN" dirty="0"/>
              <a:t>];			</a:t>
            </a:r>
          </a:p>
          <a:p>
            <a:pPr marL="0" indent="0">
              <a:buNone/>
              <a:defRPr/>
            </a:pPr>
            <a:r>
              <a:rPr lang="en-US" altLang="zh-CN" dirty="0"/>
              <a:t>     return s;</a:t>
            </a:r>
          </a:p>
          <a:p>
            <a:pPr marL="0" indent="0">
              <a:buNone/>
              <a:defRPr/>
            </a:pPr>
            <a:r>
              <a:rPr lang="en-US" altLang="zh-CN" dirty="0"/>
              <a:t>}</a:t>
            </a:r>
          </a:p>
          <a:p>
            <a:pPr>
              <a:defRPr/>
            </a:pPr>
            <a:endParaRPr lang="zh-CN" altLang="en-US" dirty="0"/>
          </a:p>
          <a:p>
            <a:pPr>
              <a:defRPr/>
            </a:pPr>
            <a:endParaRPr lang="zh-CN" altLang="en-US" dirty="0"/>
          </a:p>
        </p:txBody>
      </p:sp>
      <p:sp>
        <p:nvSpPr>
          <p:cNvPr id="4" name="灯片编号占位符 3">
            <a:extLst>
              <a:ext uri="{FF2B5EF4-FFF2-40B4-BE49-F238E27FC236}">
                <a16:creationId xmlns:a16="http://schemas.microsoft.com/office/drawing/2014/main" id="{67879554-8681-4715-B6F0-4E4B34158A27}"/>
              </a:ext>
            </a:extLst>
          </p:cNvPr>
          <p:cNvSpPr>
            <a:spLocks noGrp="1"/>
          </p:cNvSpPr>
          <p:nvPr>
            <p:ph type="sldNum" sz="quarter" idx="12"/>
          </p:nvPr>
        </p:nvSpPr>
        <p:spPr/>
        <p:txBody>
          <a:bodyPr/>
          <a:lstStyle/>
          <a:p>
            <a:pPr>
              <a:defRPr/>
            </a:pPr>
            <a:fld id="{C2661920-4004-4EC2-84FD-7D4FA9712542}" type="slidenum">
              <a:rPr lang="en-US" altLang="zh-CN" smtClean="0"/>
              <a:pPr>
                <a:defRPr/>
              </a:pPr>
              <a:t>44</a:t>
            </a:fld>
            <a:endParaRPr lang="en-US" altLang="zh-CN"/>
          </a:p>
        </p:txBody>
      </p:sp>
    </p:spTree>
  </p:cSld>
  <p:clrMapOvr>
    <a:masterClrMapping/>
  </p:clrMapOvr>
  <p:transition>
    <p:split/>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FD251762-4026-44BF-8024-C3CFB6CBD405}"/>
              </a:ext>
            </a:extLst>
          </p:cNvPr>
          <p:cNvSpPr>
            <a:spLocks noGrp="1" noChangeArrowheads="1"/>
          </p:cNvSpPr>
          <p:nvPr>
            <p:ph type="title"/>
          </p:nvPr>
        </p:nvSpPr>
        <p:spPr/>
        <p:txBody>
          <a:bodyPr/>
          <a:lstStyle/>
          <a:p>
            <a:r>
              <a:rPr lang="zh-CN" altLang="en-US"/>
              <a:t>方法</a:t>
            </a:r>
            <a:r>
              <a:rPr lang="en-US" altLang="zh-CN"/>
              <a:t>1</a:t>
            </a:r>
            <a:r>
              <a:rPr lang="zh-CN" altLang="en-US"/>
              <a:t>：程序中加入</a:t>
            </a:r>
            <a:r>
              <a:rPr lang="en-US" altLang="zh-CN"/>
              <a:t>count</a:t>
            </a:r>
            <a:r>
              <a:rPr lang="zh-CN" altLang="en-US"/>
              <a:t>语句</a:t>
            </a:r>
          </a:p>
        </p:txBody>
      </p:sp>
      <p:sp>
        <p:nvSpPr>
          <p:cNvPr id="3" name="内容占位符 2">
            <a:extLst>
              <a:ext uri="{FF2B5EF4-FFF2-40B4-BE49-F238E27FC236}">
                <a16:creationId xmlns:a16="http://schemas.microsoft.com/office/drawing/2014/main" id="{7D5DFCCF-A604-4D91-900C-AC9B6FA4E21C}"/>
              </a:ext>
            </a:extLst>
          </p:cNvPr>
          <p:cNvSpPr>
            <a:spLocks noGrp="1"/>
          </p:cNvSpPr>
          <p:nvPr>
            <p:ph idx="1"/>
          </p:nvPr>
        </p:nvSpPr>
        <p:spPr/>
        <p:txBody>
          <a:bodyPr>
            <a:normAutofit fontScale="47500" lnSpcReduction="20000"/>
          </a:bodyPr>
          <a:lstStyle/>
          <a:p>
            <a:pPr marL="0" indent="0">
              <a:buNone/>
              <a:defRPr/>
            </a:pPr>
            <a:r>
              <a:rPr lang="en-US" altLang="zh-CN" dirty="0"/>
              <a:t>float sum ( float a[ ], const int n ) {		</a:t>
            </a:r>
          </a:p>
          <a:p>
            <a:pPr marL="0" indent="0">
              <a:buNone/>
              <a:defRPr/>
            </a:pPr>
            <a:r>
              <a:rPr lang="en-US" altLang="zh-CN" dirty="0"/>
              <a:t>       float s = 0.0;</a:t>
            </a:r>
          </a:p>
          <a:p>
            <a:pPr marL="0" indent="0">
              <a:buNone/>
              <a:defRPr/>
            </a:pPr>
            <a:r>
              <a:rPr lang="en-US" altLang="zh-CN" dirty="0"/>
              <a:t>       count++;	//count </a:t>
            </a:r>
            <a:r>
              <a:rPr lang="zh-CN" altLang="en-US" dirty="0"/>
              <a:t>统计执行语句条数</a:t>
            </a:r>
          </a:p>
          <a:p>
            <a:pPr marL="0" indent="0">
              <a:buNone/>
              <a:defRPr/>
            </a:pPr>
            <a:r>
              <a:rPr lang="zh-CN" altLang="en-US" dirty="0"/>
              <a:t>       </a:t>
            </a:r>
            <a:r>
              <a:rPr lang="en-US" altLang="zh-CN" dirty="0"/>
              <a:t>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 {</a:t>
            </a:r>
          </a:p>
          <a:p>
            <a:pPr marL="0" indent="0">
              <a:buNone/>
              <a:defRPr/>
            </a:pPr>
            <a:r>
              <a:rPr lang="en-US" altLang="zh-CN" dirty="0"/>
              <a:t>           count+=2;	//</a:t>
            </a:r>
            <a:r>
              <a:rPr lang="zh-CN" altLang="en-US" dirty="0"/>
              <a:t>针对 </a:t>
            </a:r>
            <a:r>
              <a:rPr lang="en-US" altLang="zh-CN" dirty="0"/>
              <a:t>for </a:t>
            </a:r>
            <a:r>
              <a:rPr lang="zh-CN" altLang="en-US" dirty="0"/>
              <a:t>语句</a:t>
            </a:r>
          </a:p>
          <a:p>
            <a:pPr marL="0" indent="0">
              <a:buNone/>
              <a:defRPr/>
            </a:pPr>
            <a:r>
              <a:rPr lang="zh-CN" altLang="en-US" dirty="0"/>
              <a:t>	    </a:t>
            </a:r>
            <a:r>
              <a:rPr lang="en-US" altLang="zh-CN" dirty="0"/>
              <a:t>s += a[</a:t>
            </a:r>
            <a:r>
              <a:rPr lang="en-US" altLang="zh-CN" dirty="0" err="1"/>
              <a:t>i</a:t>
            </a:r>
            <a:r>
              <a:rPr lang="en-US" altLang="zh-CN" dirty="0"/>
              <a:t>];</a:t>
            </a:r>
          </a:p>
          <a:p>
            <a:pPr marL="0" indent="0">
              <a:buNone/>
              <a:defRPr/>
            </a:pPr>
            <a:r>
              <a:rPr lang="en-US" altLang="zh-CN" dirty="0"/>
              <a:t>	    count++;</a:t>
            </a:r>
          </a:p>
          <a:p>
            <a:pPr marL="0" indent="0">
              <a:buNone/>
              <a:defRPr/>
            </a:pPr>
            <a:r>
              <a:rPr lang="en-US" altLang="zh-CN" dirty="0"/>
              <a:t>       }	//</a:t>
            </a:r>
            <a:r>
              <a:rPr lang="zh-CN" altLang="en-US" dirty="0"/>
              <a:t>针对赋值语句</a:t>
            </a:r>
          </a:p>
          <a:p>
            <a:pPr marL="0" indent="0">
              <a:buNone/>
              <a:defRPr/>
            </a:pPr>
            <a:r>
              <a:rPr lang="zh-CN" altLang="en-US" dirty="0"/>
              <a:t>       </a:t>
            </a:r>
            <a:r>
              <a:rPr lang="en-US" altLang="zh-CN" dirty="0"/>
              <a:t>count+=2;	//</a:t>
            </a:r>
            <a:r>
              <a:rPr lang="zh-CN" altLang="en-US" dirty="0"/>
              <a:t>针对 </a:t>
            </a:r>
            <a:r>
              <a:rPr lang="en-US" altLang="zh-CN" dirty="0"/>
              <a:t>for </a:t>
            </a:r>
            <a:r>
              <a:rPr lang="zh-CN" altLang="en-US" dirty="0"/>
              <a:t>的最后一次</a:t>
            </a:r>
          </a:p>
          <a:p>
            <a:pPr marL="0" indent="0">
              <a:buNone/>
              <a:defRPr/>
            </a:pPr>
            <a:r>
              <a:rPr lang="zh-CN" altLang="en-US" dirty="0"/>
              <a:t>       </a:t>
            </a:r>
            <a:r>
              <a:rPr lang="en-US" altLang="zh-CN" dirty="0"/>
              <a:t>count++;	//</a:t>
            </a:r>
            <a:r>
              <a:rPr lang="zh-CN" altLang="en-US" dirty="0"/>
              <a:t>针对 </a:t>
            </a:r>
            <a:r>
              <a:rPr lang="en-US" altLang="zh-CN" dirty="0"/>
              <a:t>return </a:t>
            </a:r>
            <a:r>
              <a:rPr lang="zh-CN" altLang="en-US" dirty="0"/>
              <a:t>语句</a:t>
            </a:r>
          </a:p>
          <a:p>
            <a:pPr marL="0" indent="0">
              <a:buNone/>
              <a:defRPr/>
            </a:pPr>
            <a:r>
              <a:rPr lang="zh-CN" altLang="en-US" dirty="0"/>
              <a:t>       </a:t>
            </a:r>
            <a:r>
              <a:rPr lang="en-US" altLang="zh-CN" dirty="0"/>
              <a:t>return s;</a:t>
            </a:r>
          </a:p>
          <a:p>
            <a:pPr marL="0" indent="0">
              <a:buNone/>
              <a:defRPr/>
            </a:pPr>
            <a:r>
              <a:rPr lang="en-US" altLang="zh-CN" dirty="0"/>
              <a:t>}       </a:t>
            </a:r>
            <a:r>
              <a:rPr lang="zh-CN" altLang="en-US" dirty="0"/>
              <a:t>执行结束得 程序步数 </a:t>
            </a:r>
            <a:r>
              <a:rPr lang="en-US" altLang="zh-CN" dirty="0"/>
              <a:t>count = 3*n+4</a:t>
            </a:r>
          </a:p>
          <a:p>
            <a:pPr marL="0" indent="0">
              <a:buNone/>
              <a:defRPr/>
            </a:pPr>
            <a:endParaRPr lang="en-US" altLang="zh-CN" dirty="0"/>
          </a:p>
        </p:txBody>
      </p:sp>
      <p:sp>
        <p:nvSpPr>
          <p:cNvPr id="4" name="灯片编号占位符 3">
            <a:extLst>
              <a:ext uri="{FF2B5EF4-FFF2-40B4-BE49-F238E27FC236}">
                <a16:creationId xmlns:a16="http://schemas.microsoft.com/office/drawing/2014/main" id="{57A5E46F-C31C-4DDA-A037-64C49805C445}"/>
              </a:ext>
            </a:extLst>
          </p:cNvPr>
          <p:cNvSpPr>
            <a:spLocks noGrp="1"/>
          </p:cNvSpPr>
          <p:nvPr>
            <p:ph type="sldNum" sz="quarter" idx="12"/>
          </p:nvPr>
        </p:nvSpPr>
        <p:spPr/>
        <p:txBody>
          <a:bodyPr/>
          <a:lstStyle/>
          <a:p>
            <a:pPr>
              <a:defRPr/>
            </a:pPr>
            <a:fld id="{77BE8EB0-8499-459A-8B05-E1AC78D17157}" type="slidenum">
              <a:rPr lang="en-US" altLang="zh-CN" smtClean="0"/>
              <a:pPr>
                <a:defRPr/>
              </a:pPr>
              <a:t>45</a:t>
            </a:fld>
            <a:endParaRPr lang="en-US" altLang="zh-CN"/>
          </a:p>
        </p:txBody>
      </p:sp>
    </p:spTree>
  </p:cSld>
  <p:clrMapOvr>
    <a:masterClrMapping/>
  </p:clrMapOvr>
  <p:transition>
    <p:spli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F882B1EE-D259-4633-8977-D645DE4A95EB}"/>
              </a:ext>
            </a:extLst>
          </p:cNvPr>
          <p:cNvSpPr>
            <a:spLocks noGrp="1" noChangeArrowheads="1"/>
          </p:cNvSpPr>
          <p:nvPr>
            <p:ph type="title"/>
          </p:nvPr>
        </p:nvSpPr>
        <p:spPr/>
        <p:txBody>
          <a:bodyPr/>
          <a:lstStyle/>
          <a:p>
            <a:r>
              <a:rPr lang="zh-CN" altLang="en-US" dirty="0"/>
              <a:t>程序步统计的简化形式</a:t>
            </a:r>
          </a:p>
        </p:txBody>
      </p:sp>
      <p:sp>
        <p:nvSpPr>
          <p:cNvPr id="70659" name="内容占位符 2">
            <a:extLst>
              <a:ext uri="{FF2B5EF4-FFF2-40B4-BE49-F238E27FC236}">
                <a16:creationId xmlns:a16="http://schemas.microsoft.com/office/drawing/2014/main" id="{6AEBB5DA-AFF1-47B0-A4DE-5670FD49B690}"/>
              </a:ext>
            </a:extLst>
          </p:cNvPr>
          <p:cNvSpPr>
            <a:spLocks noGrp="1" noChangeArrowheads="1"/>
          </p:cNvSpPr>
          <p:nvPr>
            <p:ph idx="1"/>
          </p:nvPr>
        </p:nvSpPr>
        <p:spPr/>
        <p:txBody>
          <a:bodyPr/>
          <a:lstStyle/>
          <a:p>
            <a:pPr marL="0" indent="0">
              <a:buNone/>
            </a:pPr>
            <a:r>
              <a:rPr lang="en-US" altLang="zh-CN" dirty="0"/>
              <a:t>void sum ( float a[ ], const int n )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n; </a:t>
            </a:r>
            <a:r>
              <a:rPr lang="en-US" altLang="zh-CN" dirty="0" err="1"/>
              <a:t>i</a:t>
            </a:r>
            <a:r>
              <a:rPr lang="en-US" altLang="zh-CN" dirty="0"/>
              <a:t>++ )</a:t>
            </a:r>
          </a:p>
          <a:p>
            <a:pPr marL="0" indent="0">
              <a:buNone/>
            </a:pPr>
            <a:r>
              <a:rPr lang="en-US" altLang="zh-CN" dirty="0"/>
              <a:t>           count += 3;</a:t>
            </a:r>
          </a:p>
          <a:p>
            <a:pPr marL="0" indent="0">
              <a:buNone/>
            </a:pPr>
            <a:r>
              <a:rPr lang="en-US" altLang="zh-CN" dirty="0"/>
              <a:t>      count += 4;</a:t>
            </a:r>
          </a:p>
          <a:p>
            <a:pPr marL="0" indent="0">
              <a:buNone/>
            </a:pPr>
            <a:r>
              <a:rPr lang="en-US" altLang="zh-CN" dirty="0"/>
              <a:t>}</a:t>
            </a:r>
          </a:p>
          <a:p>
            <a:endParaRPr lang="zh-CN" altLang="en-US" dirty="0"/>
          </a:p>
        </p:txBody>
      </p:sp>
      <p:sp>
        <p:nvSpPr>
          <p:cNvPr id="4" name="灯片编号占位符 3">
            <a:extLst>
              <a:ext uri="{FF2B5EF4-FFF2-40B4-BE49-F238E27FC236}">
                <a16:creationId xmlns:a16="http://schemas.microsoft.com/office/drawing/2014/main" id="{E4B09516-0729-4169-93F4-C56B35491894}"/>
              </a:ext>
            </a:extLst>
          </p:cNvPr>
          <p:cNvSpPr>
            <a:spLocks noGrp="1"/>
          </p:cNvSpPr>
          <p:nvPr>
            <p:ph type="sldNum" sz="quarter" idx="12"/>
          </p:nvPr>
        </p:nvSpPr>
        <p:spPr/>
        <p:txBody>
          <a:bodyPr/>
          <a:lstStyle/>
          <a:p>
            <a:pPr>
              <a:defRPr/>
            </a:pPr>
            <a:fld id="{95BB83FC-67B3-4185-A707-2ECA99264582}" type="slidenum">
              <a:rPr lang="en-US" altLang="zh-CN" smtClean="0"/>
              <a:pPr>
                <a:defRPr/>
              </a:pPr>
              <a:t>46</a:t>
            </a:fld>
            <a:endParaRPr lang="en-US" altLang="zh-CN"/>
          </a:p>
        </p:txBody>
      </p:sp>
    </p:spTree>
  </p:cSld>
  <p:clrMapOvr>
    <a:masterClrMapping/>
  </p:clrMapOvr>
  <p:transition>
    <p:spli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80D4A047-49AE-4E65-9B48-842E5BB1C745}"/>
              </a:ext>
            </a:extLst>
          </p:cNvPr>
          <p:cNvSpPr>
            <a:spLocks noGrp="1" noChangeArrowheads="1"/>
          </p:cNvSpPr>
          <p:nvPr>
            <p:ph type="title"/>
          </p:nvPr>
        </p:nvSpPr>
        <p:spPr/>
        <p:txBody>
          <a:bodyPr/>
          <a:lstStyle/>
          <a:p>
            <a:r>
              <a:rPr lang="zh-CN" altLang="en-US"/>
              <a:t>注意</a:t>
            </a:r>
          </a:p>
        </p:txBody>
      </p:sp>
      <p:sp>
        <p:nvSpPr>
          <p:cNvPr id="71683" name="内容占位符 2">
            <a:extLst>
              <a:ext uri="{FF2B5EF4-FFF2-40B4-BE49-F238E27FC236}">
                <a16:creationId xmlns:a16="http://schemas.microsoft.com/office/drawing/2014/main" id="{20FF6B49-4251-40E9-BEE5-4A0C6028F243}"/>
              </a:ext>
            </a:extLst>
          </p:cNvPr>
          <p:cNvSpPr>
            <a:spLocks noGrp="1" noChangeArrowheads="1"/>
          </p:cNvSpPr>
          <p:nvPr>
            <p:ph idx="1"/>
          </p:nvPr>
        </p:nvSpPr>
        <p:spPr/>
        <p:txBody>
          <a:bodyPr>
            <a:normAutofit fontScale="92500" lnSpcReduction="10000"/>
          </a:bodyPr>
          <a:lstStyle/>
          <a:p>
            <a:r>
              <a:rPr lang="zh-CN" altLang="en-US" dirty="0"/>
              <a:t>一个语句本身的程序步数可能不等于该语句一次执行所具有的程序步数。</a:t>
            </a:r>
          </a:p>
          <a:p>
            <a:r>
              <a:rPr lang="zh-CN" altLang="en-US" dirty="0"/>
              <a:t>例如：</a:t>
            </a:r>
            <a:endParaRPr lang="en-US" altLang="zh-CN" dirty="0"/>
          </a:p>
          <a:p>
            <a:pPr lvl="1"/>
            <a:r>
              <a:rPr lang="zh-CN" altLang="en-US" dirty="0"/>
              <a:t>赋值语句 </a:t>
            </a:r>
            <a:r>
              <a:rPr lang="en-US" altLang="zh-CN" dirty="0"/>
              <a:t>x = sum (R, n) </a:t>
            </a:r>
            <a:r>
              <a:rPr lang="zh-CN" altLang="en-US" dirty="0"/>
              <a:t>，本身的程序步数为 </a:t>
            </a:r>
            <a:r>
              <a:rPr lang="en-US" altLang="zh-CN" dirty="0"/>
              <a:t>1</a:t>
            </a:r>
            <a:r>
              <a:rPr lang="zh-CN" altLang="en-US" dirty="0"/>
              <a:t>；</a:t>
            </a:r>
          </a:p>
          <a:p>
            <a:pPr lvl="1"/>
            <a:r>
              <a:rPr lang="zh-CN" altLang="en-US" dirty="0"/>
              <a:t>一次执行对函数 </a:t>
            </a:r>
            <a:r>
              <a:rPr lang="en-US" altLang="zh-CN" dirty="0"/>
              <a:t>sum (R, n) </a:t>
            </a:r>
            <a:r>
              <a:rPr lang="zh-CN" altLang="en-US" dirty="0"/>
              <a:t>的调用需要的程序步数为 </a:t>
            </a:r>
            <a:r>
              <a:rPr lang="en-US" altLang="zh-CN" dirty="0"/>
              <a:t>3*n+4</a:t>
            </a:r>
            <a:r>
              <a:rPr lang="zh-CN" altLang="en-US" dirty="0"/>
              <a:t>；</a:t>
            </a:r>
          </a:p>
          <a:p>
            <a:pPr lvl="1"/>
            <a:r>
              <a:rPr lang="zh-CN" altLang="en-US" dirty="0"/>
              <a:t>因此，该赋值语句一次执行的程序步数为</a:t>
            </a:r>
            <a:r>
              <a:rPr lang="en-US" altLang="zh-CN" dirty="0"/>
              <a:t>1+3*n+4 = 3*n+5</a:t>
            </a:r>
          </a:p>
        </p:txBody>
      </p:sp>
      <p:sp>
        <p:nvSpPr>
          <p:cNvPr id="4" name="灯片编号占位符 3">
            <a:extLst>
              <a:ext uri="{FF2B5EF4-FFF2-40B4-BE49-F238E27FC236}">
                <a16:creationId xmlns:a16="http://schemas.microsoft.com/office/drawing/2014/main" id="{7C630F8E-EAB1-4876-9309-2CDD59048DEF}"/>
              </a:ext>
            </a:extLst>
          </p:cNvPr>
          <p:cNvSpPr>
            <a:spLocks noGrp="1"/>
          </p:cNvSpPr>
          <p:nvPr>
            <p:ph type="sldNum" sz="quarter" idx="12"/>
          </p:nvPr>
        </p:nvSpPr>
        <p:spPr/>
        <p:txBody>
          <a:bodyPr/>
          <a:lstStyle/>
          <a:p>
            <a:pPr>
              <a:defRPr/>
            </a:pPr>
            <a:fld id="{3F0C6D2A-E75B-46DB-847F-14385FB2F36B}" type="slidenum">
              <a:rPr lang="en-US" altLang="zh-CN" smtClean="0"/>
              <a:pPr>
                <a:defRPr/>
              </a:pPr>
              <a:t>47</a:t>
            </a:fld>
            <a:endParaRPr lang="en-US" altLang="zh-CN"/>
          </a:p>
        </p:txBody>
      </p:sp>
    </p:spTree>
  </p:cSld>
  <p:clrMapOvr>
    <a:masterClrMapping/>
  </p:clrMapOvr>
  <p:transition>
    <p:spli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a:extLst>
              <a:ext uri="{FF2B5EF4-FFF2-40B4-BE49-F238E27FC236}">
                <a16:creationId xmlns:a16="http://schemas.microsoft.com/office/drawing/2014/main" id="{7F5FF834-B14F-4CB6-8742-6CE5611FFDF2}"/>
              </a:ext>
            </a:extLst>
          </p:cNvPr>
          <p:cNvSpPr>
            <a:spLocks noGrp="1" noChangeArrowheads="1"/>
          </p:cNvSpPr>
          <p:nvPr>
            <p:ph type="title"/>
          </p:nvPr>
        </p:nvSpPr>
        <p:spPr/>
        <p:txBody>
          <a:bodyPr/>
          <a:lstStyle/>
          <a:p>
            <a:pPr eaLnBrk="1" hangingPunct="1"/>
            <a:r>
              <a:rPr lang="zh-CN" altLang="en-US" dirty="0"/>
              <a:t>例</a:t>
            </a:r>
            <a:r>
              <a:rPr lang="en-US" altLang="zh-CN" dirty="0"/>
              <a:t>2 </a:t>
            </a:r>
            <a:r>
              <a:rPr lang="zh-CN" altLang="en-US" dirty="0"/>
              <a:t>递归方式累加数组</a:t>
            </a:r>
          </a:p>
        </p:txBody>
      </p:sp>
      <p:sp>
        <p:nvSpPr>
          <p:cNvPr id="72707" name="内容占位符 3">
            <a:extLst>
              <a:ext uri="{FF2B5EF4-FFF2-40B4-BE49-F238E27FC236}">
                <a16:creationId xmlns:a16="http://schemas.microsoft.com/office/drawing/2014/main" id="{B32176A0-31AA-47E9-AA10-75B3405A8DD2}"/>
              </a:ext>
            </a:extLst>
          </p:cNvPr>
          <p:cNvSpPr>
            <a:spLocks noGrp="1" noChangeArrowheads="1"/>
          </p:cNvSpPr>
          <p:nvPr>
            <p:ph idx="1"/>
          </p:nvPr>
        </p:nvSpPr>
        <p:spPr/>
        <p:txBody>
          <a:bodyPr/>
          <a:lstStyle/>
          <a:p>
            <a:pPr marL="0" indent="0" eaLnBrk="1" hangingPunct="1">
              <a:buNone/>
            </a:pPr>
            <a:r>
              <a:rPr lang="en-US" altLang="zh-CN" dirty="0"/>
              <a:t>float </a:t>
            </a:r>
            <a:r>
              <a:rPr lang="en-US" altLang="zh-CN" dirty="0" err="1"/>
              <a:t>rsum</a:t>
            </a:r>
            <a:r>
              <a:rPr lang="en-US" altLang="zh-CN" dirty="0"/>
              <a:t>(float a[ ], const int n)</a:t>
            </a:r>
          </a:p>
          <a:p>
            <a:pPr marL="0" indent="0" eaLnBrk="1" hangingPunct="1">
              <a:buNone/>
            </a:pPr>
            <a:r>
              <a:rPr lang="en-US" altLang="zh-CN" dirty="0"/>
              <a:t>{</a:t>
            </a:r>
          </a:p>
          <a:p>
            <a:pPr marL="0" indent="0" eaLnBrk="1" hangingPunct="1">
              <a:buNone/>
            </a:pPr>
            <a:r>
              <a:rPr lang="en-US" altLang="zh-CN" dirty="0"/>
              <a:t>     if (n&lt;=0)  return 0;</a:t>
            </a:r>
          </a:p>
          <a:p>
            <a:pPr marL="0" indent="0" eaLnBrk="1" hangingPunct="1">
              <a:buNone/>
            </a:pPr>
            <a:r>
              <a:rPr lang="en-US" altLang="zh-CN" dirty="0"/>
              <a:t>     else return </a:t>
            </a:r>
            <a:r>
              <a:rPr lang="en-US" altLang="zh-CN" dirty="0" err="1"/>
              <a:t>rsum</a:t>
            </a:r>
            <a:r>
              <a:rPr lang="en-US" altLang="zh-CN" dirty="0"/>
              <a:t>(a, n-1)+a[n-1];</a:t>
            </a:r>
          </a:p>
          <a:p>
            <a:pPr marL="0" indent="0" eaLnBrk="1" hangingPunct="1">
              <a:buNone/>
            </a:pPr>
            <a:r>
              <a:rPr lang="en-US" altLang="zh-CN" dirty="0"/>
              <a:t>}</a:t>
            </a:r>
          </a:p>
          <a:p>
            <a:pPr marL="0" indent="0" eaLnBrk="1" hangingPunct="1">
              <a:buNone/>
            </a:pPr>
            <a:endParaRPr lang="en-US" altLang="zh-CN" dirty="0"/>
          </a:p>
          <a:p>
            <a:pPr marL="0" indent="0" eaLnBrk="1" hangingPunct="1">
              <a:buNone/>
            </a:pPr>
            <a:endParaRPr lang="zh-CN" altLang="en-US" dirty="0"/>
          </a:p>
        </p:txBody>
      </p:sp>
      <p:sp>
        <p:nvSpPr>
          <p:cNvPr id="2" name="灯片编号占位符 1">
            <a:extLst>
              <a:ext uri="{FF2B5EF4-FFF2-40B4-BE49-F238E27FC236}">
                <a16:creationId xmlns:a16="http://schemas.microsoft.com/office/drawing/2014/main" id="{163EB28B-0F94-4472-9CD6-76FC6223D285}"/>
              </a:ext>
            </a:extLst>
          </p:cNvPr>
          <p:cNvSpPr>
            <a:spLocks noGrp="1"/>
          </p:cNvSpPr>
          <p:nvPr>
            <p:ph type="sldNum" sz="quarter" idx="12"/>
          </p:nvPr>
        </p:nvSpPr>
        <p:spPr/>
        <p:txBody>
          <a:bodyPr/>
          <a:lstStyle/>
          <a:p>
            <a:pPr>
              <a:defRPr/>
            </a:pPr>
            <a:fld id="{485513A4-29D1-4ABF-B998-DE55088030AB}" type="slidenum">
              <a:rPr lang="en-US" altLang="zh-CN" smtClean="0"/>
              <a:pPr>
                <a:defRPr/>
              </a:pPr>
              <a:t>48</a:t>
            </a:fld>
            <a:endParaRPr lang="en-US" altLang="zh-CN"/>
          </a:p>
        </p:txBody>
      </p:sp>
    </p:spTree>
  </p:cSld>
  <p:clrMapOvr>
    <a:masterClrMapping/>
  </p:clrMapOvr>
  <p:transition>
    <p:spli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a:extLst>
              <a:ext uri="{FF2B5EF4-FFF2-40B4-BE49-F238E27FC236}">
                <a16:creationId xmlns:a16="http://schemas.microsoft.com/office/drawing/2014/main" id="{A66021A0-1C7F-46AB-99BE-FFD7D1ECBC22}"/>
              </a:ext>
            </a:extLst>
          </p:cNvPr>
          <p:cNvSpPr>
            <a:spLocks noGrp="1" noChangeArrowheads="1"/>
          </p:cNvSpPr>
          <p:nvPr>
            <p:ph type="title"/>
          </p:nvPr>
        </p:nvSpPr>
        <p:spPr/>
        <p:txBody>
          <a:bodyPr/>
          <a:lstStyle/>
          <a:p>
            <a:pPr eaLnBrk="1" hangingPunct="1"/>
            <a:r>
              <a:rPr lang="zh-CN" altLang="en-US" dirty="0"/>
              <a:t>在递归程序中加入</a:t>
            </a:r>
            <a:r>
              <a:rPr lang="en-US" altLang="zh-CN" dirty="0"/>
              <a:t>count</a:t>
            </a:r>
            <a:r>
              <a:rPr lang="zh-CN" altLang="en-US" dirty="0"/>
              <a:t>语句</a:t>
            </a:r>
          </a:p>
        </p:txBody>
      </p:sp>
      <p:sp>
        <p:nvSpPr>
          <p:cNvPr id="4" name="内容占位符 3">
            <a:extLst>
              <a:ext uri="{FF2B5EF4-FFF2-40B4-BE49-F238E27FC236}">
                <a16:creationId xmlns:a16="http://schemas.microsoft.com/office/drawing/2014/main" id="{FEF60763-986A-4392-A634-AA29B6B794D6}"/>
              </a:ext>
            </a:extLst>
          </p:cNvPr>
          <p:cNvSpPr>
            <a:spLocks noGrp="1"/>
          </p:cNvSpPr>
          <p:nvPr>
            <p:ph idx="1"/>
          </p:nvPr>
        </p:nvSpPr>
        <p:spPr/>
        <p:txBody>
          <a:bodyPr rtlCol="0">
            <a:normAutofit fontScale="47500" lnSpcReduction="20000"/>
          </a:bodyPr>
          <a:lstStyle/>
          <a:p>
            <a:pPr marL="0" indent="0" eaLnBrk="1" hangingPunct="1">
              <a:buNone/>
              <a:defRPr/>
            </a:pPr>
            <a:r>
              <a:rPr lang="en-US" altLang="zh-CN" dirty="0"/>
              <a:t>float </a:t>
            </a:r>
            <a:r>
              <a:rPr lang="en-US" altLang="zh-CN" dirty="0" err="1"/>
              <a:t>rsum</a:t>
            </a:r>
            <a:r>
              <a:rPr lang="en-US" altLang="zh-CN" dirty="0"/>
              <a:t>(float a[ ], const int n)</a:t>
            </a:r>
          </a:p>
          <a:p>
            <a:pPr marL="0" indent="0" eaLnBrk="1" hangingPunct="1">
              <a:buNone/>
              <a:defRPr/>
            </a:pPr>
            <a:r>
              <a:rPr lang="en-US" altLang="zh-CN" dirty="0"/>
              <a:t>{		       </a:t>
            </a:r>
          </a:p>
          <a:p>
            <a:pPr marL="0" indent="0" eaLnBrk="1" hangingPunct="1">
              <a:buNone/>
              <a:defRPr/>
            </a:pPr>
            <a:r>
              <a:rPr lang="en-US" altLang="zh-CN" dirty="0"/>
              <a:t>       count++;  //</a:t>
            </a:r>
            <a:r>
              <a:rPr lang="zh-CN" altLang="en-US" dirty="0"/>
              <a:t>针对</a:t>
            </a:r>
            <a:r>
              <a:rPr lang="en-US" altLang="zh-CN" dirty="0"/>
              <a:t>if</a:t>
            </a:r>
            <a:r>
              <a:rPr lang="zh-CN" altLang="en-US" dirty="0"/>
              <a:t>语句</a:t>
            </a:r>
          </a:p>
          <a:p>
            <a:pPr marL="0" indent="0" eaLnBrk="1" hangingPunct="1">
              <a:buNone/>
              <a:defRPr/>
            </a:pPr>
            <a:r>
              <a:rPr lang="zh-CN" altLang="en-US" dirty="0"/>
              <a:t>       </a:t>
            </a:r>
            <a:r>
              <a:rPr lang="en-US" altLang="zh-CN" dirty="0"/>
              <a:t>if (n&lt;=0) {</a:t>
            </a:r>
          </a:p>
          <a:p>
            <a:pPr marL="0" indent="0" eaLnBrk="1" hangingPunct="1">
              <a:buNone/>
              <a:defRPr/>
            </a:pPr>
            <a:r>
              <a:rPr lang="en-US" altLang="zh-CN" dirty="0"/>
              <a:t>	    count++;  //</a:t>
            </a:r>
            <a:r>
              <a:rPr lang="zh-CN" altLang="en-US" dirty="0"/>
              <a:t>针对 </a:t>
            </a:r>
            <a:r>
              <a:rPr lang="en-US" altLang="zh-CN" dirty="0"/>
              <a:t>return</a:t>
            </a:r>
            <a:r>
              <a:rPr lang="zh-CN" altLang="en-US" dirty="0"/>
              <a:t>语句</a:t>
            </a:r>
          </a:p>
          <a:p>
            <a:pPr marL="0" indent="0" eaLnBrk="1" hangingPunct="1">
              <a:buNone/>
              <a:defRPr/>
            </a:pPr>
            <a:r>
              <a:rPr lang="zh-CN" altLang="en-US" dirty="0"/>
              <a:t>	    </a:t>
            </a:r>
            <a:r>
              <a:rPr lang="en-US" altLang="zh-CN" dirty="0"/>
              <a:t>return 0;</a:t>
            </a:r>
          </a:p>
          <a:p>
            <a:pPr marL="0" indent="0" eaLnBrk="1" hangingPunct="1">
              <a:buNone/>
              <a:defRPr/>
            </a:pPr>
            <a:r>
              <a:rPr lang="en-US" altLang="zh-CN" dirty="0"/>
              <a:t>       }</a:t>
            </a:r>
          </a:p>
          <a:p>
            <a:pPr marL="0" indent="0" eaLnBrk="1" hangingPunct="1">
              <a:buNone/>
              <a:defRPr/>
            </a:pPr>
            <a:r>
              <a:rPr lang="en-US" altLang="zh-CN" dirty="0"/>
              <a:t>       else {</a:t>
            </a:r>
          </a:p>
          <a:p>
            <a:pPr marL="0" indent="0" eaLnBrk="1" hangingPunct="1">
              <a:buNone/>
              <a:defRPr/>
            </a:pPr>
            <a:r>
              <a:rPr lang="en-US" altLang="zh-CN" dirty="0"/>
              <a:t>	    count+=2;  //</a:t>
            </a:r>
            <a:r>
              <a:rPr lang="zh-CN" altLang="en-US" dirty="0"/>
              <a:t>针对</a:t>
            </a:r>
            <a:r>
              <a:rPr lang="en-US" altLang="zh-CN" dirty="0"/>
              <a:t>return</a:t>
            </a:r>
            <a:r>
              <a:rPr lang="zh-CN" altLang="en-US" dirty="0"/>
              <a:t>语句</a:t>
            </a:r>
          </a:p>
          <a:p>
            <a:pPr marL="0" indent="0" eaLnBrk="1" hangingPunct="1">
              <a:buNone/>
              <a:defRPr/>
            </a:pPr>
            <a:r>
              <a:rPr lang="zh-CN" altLang="en-US" dirty="0"/>
              <a:t>	    </a:t>
            </a:r>
            <a:r>
              <a:rPr lang="en-US" altLang="zh-CN" dirty="0"/>
              <a:t>return </a:t>
            </a:r>
            <a:r>
              <a:rPr lang="en-US" altLang="zh-CN" dirty="0" err="1"/>
              <a:t>rsum</a:t>
            </a:r>
            <a:r>
              <a:rPr lang="en-US" altLang="zh-CN" dirty="0"/>
              <a:t>(a, n-1)+a[n-1];</a:t>
            </a:r>
          </a:p>
          <a:p>
            <a:pPr marL="0" indent="0" eaLnBrk="1" hangingPunct="1">
              <a:buNone/>
              <a:defRPr/>
            </a:pPr>
            <a:r>
              <a:rPr lang="en-US" altLang="zh-CN" dirty="0"/>
              <a:t>       }</a:t>
            </a:r>
          </a:p>
          <a:p>
            <a:pPr marL="0" indent="0" eaLnBrk="1" hangingPunct="1">
              <a:buNone/>
              <a:defRPr/>
            </a:pPr>
            <a:r>
              <a:rPr lang="en-US" altLang="zh-CN" dirty="0"/>
              <a:t>} </a:t>
            </a:r>
          </a:p>
          <a:p>
            <a:pPr marL="0" indent="0" eaLnBrk="1" hangingPunct="1">
              <a:buNone/>
              <a:defRPr/>
            </a:pPr>
            <a:endParaRPr lang="zh-CN" altLang="en-US" dirty="0"/>
          </a:p>
        </p:txBody>
      </p:sp>
      <p:sp>
        <p:nvSpPr>
          <p:cNvPr id="2" name="灯片编号占位符 1">
            <a:extLst>
              <a:ext uri="{FF2B5EF4-FFF2-40B4-BE49-F238E27FC236}">
                <a16:creationId xmlns:a16="http://schemas.microsoft.com/office/drawing/2014/main" id="{0BD54AFB-905D-4A7E-8454-0BEFE54CFEA4}"/>
              </a:ext>
            </a:extLst>
          </p:cNvPr>
          <p:cNvSpPr>
            <a:spLocks noGrp="1"/>
          </p:cNvSpPr>
          <p:nvPr>
            <p:ph type="sldNum" sz="quarter" idx="12"/>
          </p:nvPr>
        </p:nvSpPr>
        <p:spPr/>
        <p:txBody>
          <a:bodyPr/>
          <a:lstStyle/>
          <a:p>
            <a:pPr>
              <a:defRPr/>
            </a:pPr>
            <a:fld id="{F5167C1E-566C-429C-B785-3BEA0406EFC4}" type="slidenum">
              <a:rPr lang="en-US" altLang="zh-CN" smtClean="0"/>
              <a:pPr>
                <a:defRPr/>
              </a:pPr>
              <a:t>49</a:t>
            </a:fld>
            <a:endParaRPr lang="en-US" altLang="zh-CN"/>
          </a:p>
        </p:txBody>
      </p:sp>
    </p:spTree>
  </p:cSld>
  <p:clrMapOvr>
    <a:masterClrMapping/>
  </p:clrMapOvr>
  <p:transition>
    <p:spli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91F5A93B-50BE-4D71-9AEB-050356ED5FA3}"/>
              </a:ext>
            </a:extLst>
          </p:cNvPr>
          <p:cNvSpPr>
            <a:spLocks noGrp="1" noChangeArrowheads="1"/>
          </p:cNvSpPr>
          <p:nvPr>
            <p:ph type="title"/>
          </p:nvPr>
        </p:nvSpPr>
        <p:spPr/>
        <p:txBody>
          <a:bodyPr/>
          <a:lstStyle/>
          <a:p>
            <a:pPr eaLnBrk="1" hangingPunct="1"/>
            <a:r>
              <a:rPr lang="zh-CN" altLang="en-US" dirty="0"/>
              <a:t>分析过程</a:t>
            </a:r>
          </a:p>
        </p:txBody>
      </p:sp>
      <p:sp>
        <p:nvSpPr>
          <p:cNvPr id="81923" name="内容占位符 3">
            <a:extLst>
              <a:ext uri="{FF2B5EF4-FFF2-40B4-BE49-F238E27FC236}">
                <a16:creationId xmlns:a16="http://schemas.microsoft.com/office/drawing/2014/main" id="{8EB77C72-E1C4-4901-B2E4-2880E4E9D22E}"/>
              </a:ext>
            </a:extLst>
          </p:cNvPr>
          <p:cNvSpPr>
            <a:spLocks noGrp="1" noChangeArrowheads="1"/>
          </p:cNvSpPr>
          <p:nvPr>
            <p:ph idx="1"/>
          </p:nvPr>
        </p:nvSpPr>
        <p:spPr/>
        <p:txBody>
          <a:bodyPr>
            <a:normAutofit fontScale="77500" lnSpcReduction="20000"/>
          </a:bodyPr>
          <a:lstStyle/>
          <a:p>
            <a:pPr eaLnBrk="1" hangingPunct="1">
              <a:defRPr/>
            </a:pPr>
            <a:r>
              <a:rPr lang="zh-CN" altLang="en-US" dirty="0"/>
              <a:t>设</a:t>
            </a:r>
            <a:r>
              <a:rPr lang="en-US" altLang="zh-CN" dirty="0"/>
              <a:t>count</a:t>
            </a:r>
            <a:r>
              <a:rPr lang="zh-CN" altLang="en-US" dirty="0"/>
              <a:t>初始值为</a:t>
            </a:r>
            <a:r>
              <a:rPr lang="en-US" altLang="zh-CN" dirty="0"/>
              <a:t>0</a:t>
            </a:r>
            <a:r>
              <a:rPr lang="zh-CN" altLang="en-US" dirty="0"/>
              <a:t>，</a:t>
            </a:r>
            <a:r>
              <a:rPr lang="en-US" altLang="zh-CN" dirty="0" err="1"/>
              <a:t>Trsum</a:t>
            </a:r>
            <a:r>
              <a:rPr lang="en-US" altLang="zh-CN" dirty="0"/>
              <a:t>(n)</a:t>
            </a:r>
            <a:r>
              <a:rPr lang="zh-CN" altLang="en-US" dirty="0"/>
              <a:t>是程序执行后的</a:t>
            </a:r>
            <a:r>
              <a:rPr lang="en-US" altLang="zh-CN" dirty="0"/>
              <a:t>count</a:t>
            </a:r>
            <a:r>
              <a:rPr lang="zh-CN" altLang="en-US" dirty="0"/>
              <a:t>值。分析过程如下：</a:t>
            </a:r>
          </a:p>
          <a:p>
            <a:pPr marL="457200" lvl="1" indent="0" eaLnBrk="1" hangingPunct="1">
              <a:buFont typeface="Wingdings" panose="05000000000000000000" pitchFamily="2" charset="2"/>
              <a:buNone/>
              <a:defRPr/>
            </a:pPr>
            <a:r>
              <a:rPr lang="en-US" altLang="zh-CN" dirty="0"/>
              <a:t>n=0</a:t>
            </a:r>
            <a:r>
              <a:rPr lang="zh-CN" altLang="en-US" dirty="0"/>
              <a:t>，</a:t>
            </a:r>
            <a:r>
              <a:rPr lang="en-US" altLang="zh-CN" dirty="0" err="1"/>
              <a:t>Trsum</a:t>
            </a:r>
            <a:r>
              <a:rPr lang="en-US" altLang="zh-CN" dirty="0"/>
              <a:t>(0)=2;</a:t>
            </a:r>
          </a:p>
          <a:p>
            <a:pPr marL="457200" lvl="1" indent="0" eaLnBrk="1" hangingPunct="1">
              <a:buFont typeface="Wingdings" panose="05000000000000000000" pitchFamily="2" charset="2"/>
              <a:buNone/>
              <a:defRPr/>
            </a:pPr>
            <a:r>
              <a:rPr lang="en-US" altLang="zh-CN" dirty="0"/>
              <a:t>n&gt;0</a:t>
            </a:r>
            <a:r>
              <a:rPr lang="zh-CN" altLang="en-US" dirty="0"/>
              <a:t>，</a:t>
            </a:r>
            <a:r>
              <a:rPr lang="en-US" altLang="zh-CN" dirty="0" err="1"/>
              <a:t>Trsum</a:t>
            </a:r>
            <a:r>
              <a:rPr lang="en-US" altLang="zh-CN" dirty="0"/>
              <a:t>(n)=3+Trsum(n-1)</a:t>
            </a:r>
          </a:p>
          <a:p>
            <a:pPr marL="457200" lvl="1" indent="0" eaLnBrk="1" hangingPunct="1">
              <a:buFont typeface="Wingdings" panose="05000000000000000000" pitchFamily="2" charset="2"/>
              <a:buNone/>
              <a:defRPr/>
            </a:pPr>
            <a:r>
              <a:rPr lang="en-US" altLang="zh-CN" dirty="0"/>
              <a:t>=3+3+Trsum(n-2)=3*2+Trsum(n-2)</a:t>
            </a:r>
          </a:p>
          <a:p>
            <a:pPr marL="457200" lvl="1" indent="0" eaLnBrk="1" hangingPunct="1">
              <a:buFont typeface="Wingdings" panose="05000000000000000000" pitchFamily="2" charset="2"/>
              <a:buNone/>
              <a:defRPr/>
            </a:pPr>
            <a:r>
              <a:rPr lang="en-US" altLang="zh-CN" dirty="0"/>
              <a:t>=3+3+3+Trsum(n-3)=3*3+Trsum(n-3)</a:t>
            </a:r>
          </a:p>
          <a:p>
            <a:pPr marL="457200" lvl="1" indent="0" eaLnBrk="1" hangingPunct="1">
              <a:buFont typeface="Wingdings" panose="05000000000000000000" pitchFamily="2" charset="2"/>
              <a:buNone/>
              <a:defRPr/>
            </a:pPr>
            <a:r>
              <a:rPr lang="en-US" altLang="zh-CN" dirty="0"/>
              <a:t>=……=3*</a:t>
            </a:r>
            <a:r>
              <a:rPr lang="en-US" altLang="zh-CN" dirty="0" err="1"/>
              <a:t>n+Trsum</a:t>
            </a:r>
            <a:r>
              <a:rPr lang="en-US" altLang="zh-CN" dirty="0"/>
              <a:t>(0)</a:t>
            </a:r>
          </a:p>
          <a:p>
            <a:pPr marL="457200" lvl="1" indent="0" eaLnBrk="1" hangingPunct="1">
              <a:buFont typeface="Wingdings" panose="05000000000000000000" pitchFamily="2" charset="2"/>
              <a:buNone/>
              <a:defRPr/>
            </a:pPr>
            <a:r>
              <a:rPr lang="en-US" altLang="zh-CN" dirty="0"/>
              <a:t>=3n+2</a:t>
            </a:r>
          </a:p>
          <a:p>
            <a:pPr eaLnBrk="1" hangingPunct="1">
              <a:defRPr/>
            </a:pPr>
            <a:r>
              <a:rPr lang="zh-CN" altLang="en-US" dirty="0"/>
              <a:t>表面上比迭代版程序少了两个程序步，但每次递归调用代价要大于普通程序步，所以实际运行时间要比迭代版的多。</a:t>
            </a:r>
            <a:endParaRPr lang="en-US" altLang="zh-CN" dirty="0"/>
          </a:p>
        </p:txBody>
      </p:sp>
      <p:sp>
        <p:nvSpPr>
          <p:cNvPr id="2" name="灯片编号占位符 1">
            <a:extLst>
              <a:ext uri="{FF2B5EF4-FFF2-40B4-BE49-F238E27FC236}">
                <a16:creationId xmlns:a16="http://schemas.microsoft.com/office/drawing/2014/main" id="{54749270-8607-4C51-A920-5B56629D36C8}"/>
              </a:ext>
            </a:extLst>
          </p:cNvPr>
          <p:cNvSpPr>
            <a:spLocks noGrp="1"/>
          </p:cNvSpPr>
          <p:nvPr>
            <p:ph type="sldNum" sz="quarter" idx="12"/>
          </p:nvPr>
        </p:nvSpPr>
        <p:spPr/>
        <p:txBody>
          <a:bodyPr/>
          <a:lstStyle/>
          <a:p>
            <a:pPr>
              <a:defRPr/>
            </a:pPr>
            <a:fld id="{B1BF186D-66D3-4498-9F10-10310BCD2D88}" type="slidenum">
              <a:rPr lang="en-US" altLang="zh-CN" smtClean="0"/>
              <a:pPr>
                <a:defRPr/>
              </a:pPr>
              <a:t>50</a:t>
            </a:fld>
            <a:endParaRPr lang="en-US" altLang="zh-CN"/>
          </a:p>
        </p:txBody>
      </p:sp>
    </p:spTree>
  </p:cSld>
  <p:clrMapOvr>
    <a:masterClrMapping/>
  </p:clrMapOvr>
  <p:transition>
    <p:spli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a:extLst>
              <a:ext uri="{FF2B5EF4-FFF2-40B4-BE49-F238E27FC236}">
                <a16:creationId xmlns:a16="http://schemas.microsoft.com/office/drawing/2014/main" id="{4277C589-423E-59C3-2A9B-74C7ADBF4933}"/>
              </a:ext>
            </a:extLst>
          </p:cNvPr>
          <p:cNvSpPr>
            <a:spLocks noGrp="1" noChangeArrowheads="1"/>
          </p:cNvSpPr>
          <p:nvPr>
            <p:ph type="title"/>
          </p:nvPr>
        </p:nvSpPr>
        <p:spPr/>
        <p:txBody>
          <a:bodyPr/>
          <a:lstStyle/>
          <a:p>
            <a:r>
              <a:rPr lang="zh-CN" altLang="en-US"/>
              <a:t>以表格方式确定程序步数</a:t>
            </a:r>
          </a:p>
        </p:txBody>
      </p:sp>
      <p:sp>
        <p:nvSpPr>
          <p:cNvPr id="70659" name="内容占位符 2">
            <a:extLst>
              <a:ext uri="{FF2B5EF4-FFF2-40B4-BE49-F238E27FC236}">
                <a16:creationId xmlns:a16="http://schemas.microsoft.com/office/drawing/2014/main" id="{A2E4C0F6-7BF9-9BB9-0F0B-C15BD480D218}"/>
              </a:ext>
            </a:extLst>
          </p:cNvPr>
          <p:cNvSpPr>
            <a:spLocks noGrp="1" noChangeArrowheads="1"/>
          </p:cNvSpPr>
          <p:nvPr>
            <p:ph idx="1"/>
          </p:nvPr>
        </p:nvSpPr>
        <p:spPr/>
        <p:txBody>
          <a:bodyPr/>
          <a:lstStyle/>
          <a:p>
            <a:r>
              <a:rPr lang="zh-CN" altLang="en-US" dirty="0"/>
              <a:t>具体做法</a:t>
            </a:r>
            <a:endParaRPr lang="en-US" altLang="zh-CN" dirty="0"/>
          </a:p>
          <a:p>
            <a:pPr lvl="1"/>
            <a:r>
              <a:rPr lang="zh-CN" altLang="en-US" dirty="0"/>
              <a:t>首先确定每条语句一次执行的程序步数，以及这些语句的执行次数（频度）</a:t>
            </a:r>
            <a:endParaRPr lang="en-US" altLang="zh-CN" dirty="0"/>
          </a:p>
          <a:p>
            <a:pPr lvl="1"/>
            <a:r>
              <a:rPr lang="zh-CN" altLang="en-US" dirty="0"/>
              <a:t>其次计算每条语句在整个程序执行过程中的总程序步数</a:t>
            </a:r>
            <a:endParaRPr lang="en-US" altLang="zh-CN" dirty="0"/>
          </a:p>
          <a:p>
            <a:pPr lvl="1"/>
            <a:r>
              <a:rPr lang="zh-CN" altLang="en-US" dirty="0"/>
              <a:t>最后把所有语句的程序步数相加，得到程序的总程序步数。</a:t>
            </a:r>
          </a:p>
        </p:txBody>
      </p:sp>
      <p:sp>
        <p:nvSpPr>
          <p:cNvPr id="70660" name="灯片编号占位符 3">
            <a:extLst>
              <a:ext uri="{FF2B5EF4-FFF2-40B4-BE49-F238E27FC236}">
                <a16:creationId xmlns:a16="http://schemas.microsoft.com/office/drawing/2014/main" id="{EB6B851B-1E15-5547-FD74-59CBAAED412B}"/>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0E22B4AC-7200-429A-A782-81D0E28017E3}" type="slidenum">
              <a:rPr lang="en-US" altLang="zh-CN" sz="1800" smtClean="0">
                <a:latin typeface="华文新魏" panose="02010800040101010101" pitchFamily="2" charset="-122"/>
                <a:ea typeface="华文新魏" panose="02010800040101010101" pitchFamily="2" charset="-122"/>
              </a:rPr>
              <a:pPr>
                <a:spcBef>
                  <a:spcPct val="0"/>
                </a:spcBef>
                <a:buClrTx/>
                <a:buSzTx/>
                <a:buFontTx/>
                <a:buNone/>
              </a:pPr>
              <a:t>51</a:t>
            </a:fld>
            <a:endParaRPr lang="en-US" altLang="zh-CN" sz="1800">
              <a:latin typeface="华文新魏" panose="02010800040101010101" pitchFamily="2" charset="-122"/>
              <a:ea typeface="华文新魏" panose="02010800040101010101" pitchFamily="2" charset="-122"/>
            </a:endParaRPr>
          </a:p>
        </p:txBody>
      </p:sp>
    </p:spTree>
  </p:cSld>
  <p:clrMapOvr>
    <a:masterClrMapping/>
  </p:clrMapOvr>
  <p:transition>
    <p:spli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标题 1">
            <a:extLst>
              <a:ext uri="{FF2B5EF4-FFF2-40B4-BE49-F238E27FC236}">
                <a16:creationId xmlns:a16="http://schemas.microsoft.com/office/drawing/2014/main" id="{B8950F28-A639-4D1F-B668-A9523A9AF58D}"/>
              </a:ext>
            </a:extLst>
          </p:cNvPr>
          <p:cNvSpPr>
            <a:spLocks noGrp="1" noChangeArrowheads="1"/>
          </p:cNvSpPr>
          <p:nvPr>
            <p:ph type="title"/>
          </p:nvPr>
        </p:nvSpPr>
        <p:spPr/>
        <p:txBody>
          <a:bodyPr/>
          <a:lstStyle/>
          <a:p>
            <a:pPr eaLnBrk="1" hangingPunct="1"/>
            <a:r>
              <a:rPr lang="zh-CN" altLang="en-US" dirty="0"/>
              <a:t>以表格方式确定程序步数</a:t>
            </a:r>
          </a:p>
        </p:txBody>
      </p:sp>
      <p:graphicFrame>
        <p:nvGraphicFramePr>
          <p:cNvPr id="77827" name="Object 3">
            <a:extLst>
              <a:ext uri="{FF2B5EF4-FFF2-40B4-BE49-F238E27FC236}">
                <a16:creationId xmlns:a16="http://schemas.microsoft.com/office/drawing/2014/main" id="{6BA2A205-781E-4515-9302-5D14EC7616D2}"/>
              </a:ext>
            </a:extLst>
          </p:cNvPr>
          <p:cNvGraphicFramePr>
            <a:graphicFrameLocks noGrp="1" noChangeAspect="1"/>
          </p:cNvGraphicFramePr>
          <p:nvPr>
            <p:ph type="tbl" idx="4294967295"/>
            <p:extLst>
              <p:ext uri="{D42A27DB-BD31-4B8C-83A1-F6EECF244321}">
                <p14:modId xmlns:p14="http://schemas.microsoft.com/office/powerpoint/2010/main" val="2124151231"/>
              </p:ext>
            </p:extLst>
          </p:nvPr>
        </p:nvGraphicFramePr>
        <p:xfrm>
          <a:off x="628650" y="1671638"/>
          <a:ext cx="7994650" cy="4813300"/>
        </p:xfrm>
        <a:graphic>
          <a:graphicData uri="http://schemas.openxmlformats.org/presentationml/2006/ole">
            <mc:AlternateContent xmlns:mc="http://schemas.openxmlformats.org/markup-compatibility/2006">
              <mc:Choice xmlns:v="urn:schemas-microsoft-com:vml" Requires="v">
                <p:oleObj name="Document" r:id="rId3" imgW="9939430" imgH="5985108" progId="Word.Document.8">
                  <p:embed/>
                </p:oleObj>
              </mc:Choice>
              <mc:Fallback>
                <p:oleObj name="Document" r:id="rId3" imgW="9939430" imgH="5985108" progId="Word.Document.8">
                  <p:embed/>
                  <p:pic>
                    <p:nvPicPr>
                      <p:cNvPr id="0" name="Object 3"/>
                      <p:cNvPicPr>
                        <a:picLocks noGrp="1" noChangeAspect="1" noChangeArrowheads="1"/>
                      </p:cNvPicPr>
                      <p:nvPr/>
                    </p:nvPicPr>
                    <p:blipFill>
                      <a:blip r:embed="rId4"/>
                      <a:srcRect/>
                      <a:stretch>
                        <a:fillRect/>
                      </a:stretch>
                    </p:blipFill>
                    <p:spPr bwMode="auto">
                      <a:xfrm>
                        <a:off x="628650" y="1671638"/>
                        <a:ext cx="7994650" cy="4813300"/>
                      </a:xfrm>
                      <a:prstGeom prst="rect">
                        <a:avLst/>
                      </a:prstGeom>
                      <a:noFill/>
                      <a:ln>
                        <a:noFill/>
                      </a:ln>
                    </p:spPr>
                  </p:pic>
                </p:oleObj>
              </mc:Fallback>
            </mc:AlternateContent>
          </a:graphicData>
        </a:graphic>
      </p:graphicFrame>
      <p:sp>
        <p:nvSpPr>
          <p:cNvPr id="2" name="灯片编号占位符 1">
            <a:extLst>
              <a:ext uri="{FF2B5EF4-FFF2-40B4-BE49-F238E27FC236}">
                <a16:creationId xmlns:a16="http://schemas.microsoft.com/office/drawing/2014/main" id="{5147E5E5-21A6-40DA-BD7A-870C3D60892B}"/>
              </a:ext>
            </a:extLst>
          </p:cNvPr>
          <p:cNvSpPr>
            <a:spLocks noGrp="1"/>
          </p:cNvSpPr>
          <p:nvPr>
            <p:ph type="sldNum" sz="quarter" idx="12"/>
          </p:nvPr>
        </p:nvSpPr>
        <p:spPr/>
        <p:txBody>
          <a:bodyPr/>
          <a:lstStyle/>
          <a:p>
            <a:pPr>
              <a:defRPr/>
            </a:pPr>
            <a:fld id="{89C096A8-B87A-4D58-8451-6D0EB605851A}" type="slidenum">
              <a:rPr lang="en-US" altLang="zh-CN" smtClean="0"/>
              <a:pPr>
                <a:defRPr/>
              </a:pPr>
              <a:t>52</a:t>
            </a:fld>
            <a:endParaRPr lang="en-US" altLang="zh-CN"/>
          </a:p>
        </p:txBody>
      </p:sp>
    </p:spTree>
  </p:cSld>
  <p:clrMapOvr>
    <a:masterClrMapping/>
  </p:clrMapOvr>
  <p:transition>
    <p:spli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5">
            <a:extLst>
              <a:ext uri="{FF2B5EF4-FFF2-40B4-BE49-F238E27FC236}">
                <a16:creationId xmlns:a16="http://schemas.microsoft.com/office/drawing/2014/main" id="{88AA787E-1D89-44F5-9319-D7673DB6A244}"/>
              </a:ext>
            </a:extLst>
          </p:cNvPr>
          <p:cNvGraphicFramePr>
            <a:graphicFrameLocks noChangeAspect="1"/>
          </p:cNvGraphicFramePr>
          <p:nvPr>
            <p:extLst>
              <p:ext uri="{D42A27DB-BD31-4B8C-83A1-F6EECF244321}">
                <p14:modId xmlns:p14="http://schemas.microsoft.com/office/powerpoint/2010/main" val="1806312347"/>
              </p:ext>
            </p:extLst>
          </p:nvPr>
        </p:nvGraphicFramePr>
        <p:xfrm>
          <a:off x="466725" y="2066925"/>
          <a:ext cx="8458200" cy="4745038"/>
        </p:xfrm>
        <a:graphic>
          <a:graphicData uri="http://schemas.openxmlformats.org/presentationml/2006/ole">
            <mc:AlternateContent xmlns:mc="http://schemas.openxmlformats.org/markup-compatibility/2006">
              <mc:Choice xmlns:v="urn:schemas-microsoft-com:vml" Requires="v">
                <p:oleObj name="Document" r:id="rId2" imgW="10695432" imgH="5990146" progId="Word.Document.8">
                  <p:embed/>
                </p:oleObj>
              </mc:Choice>
              <mc:Fallback>
                <p:oleObj name="Document" r:id="rId2" imgW="10695432" imgH="5990146" progId="Word.Document.8">
                  <p:embed/>
                  <p:pic>
                    <p:nvPicPr>
                      <p:cNvPr id="0" name="Object 5"/>
                      <p:cNvPicPr>
                        <a:picLocks noChangeAspect="1" noChangeArrowheads="1"/>
                      </p:cNvPicPr>
                      <p:nvPr/>
                    </p:nvPicPr>
                    <p:blipFill>
                      <a:blip r:embed="rId3"/>
                      <a:srcRect/>
                      <a:stretch>
                        <a:fillRect/>
                      </a:stretch>
                    </p:blipFill>
                    <p:spPr bwMode="auto">
                      <a:xfrm>
                        <a:off x="466725" y="2066925"/>
                        <a:ext cx="8458200" cy="474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75" name="标题 1">
            <a:extLst>
              <a:ext uri="{FF2B5EF4-FFF2-40B4-BE49-F238E27FC236}">
                <a16:creationId xmlns:a16="http://schemas.microsoft.com/office/drawing/2014/main" id="{1481AABA-1DA1-4DD2-87C8-4A694EC3D2A6}"/>
              </a:ext>
            </a:extLst>
          </p:cNvPr>
          <p:cNvSpPr>
            <a:spLocks noGrp="1" noChangeArrowheads="1"/>
          </p:cNvSpPr>
          <p:nvPr>
            <p:ph type="title"/>
          </p:nvPr>
        </p:nvSpPr>
        <p:spPr/>
        <p:txBody>
          <a:bodyPr/>
          <a:lstStyle/>
          <a:p>
            <a:r>
              <a:rPr lang="zh-CN" altLang="en-US"/>
              <a:t>递归求和函数的程序步数计算工作表格</a:t>
            </a:r>
          </a:p>
        </p:txBody>
      </p:sp>
      <p:sp>
        <p:nvSpPr>
          <p:cNvPr id="3" name="灯片编号占位符 2">
            <a:extLst>
              <a:ext uri="{FF2B5EF4-FFF2-40B4-BE49-F238E27FC236}">
                <a16:creationId xmlns:a16="http://schemas.microsoft.com/office/drawing/2014/main" id="{005728D7-1063-4C94-A5AA-4D970E35F665}"/>
              </a:ext>
            </a:extLst>
          </p:cNvPr>
          <p:cNvSpPr>
            <a:spLocks noGrp="1"/>
          </p:cNvSpPr>
          <p:nvPr>
            <p:ph type="sldNum" sz="quarter" idx="12"/>
          </p:nvPr>
        </p:nvSpPr>
        <p:spPr/>
        <p:txBody>
          <a:bodyPr/>
          <a:lstStyle/>
          <a:p>
            <a:pPr>
              <a:defRPr/>
            </a:pPr>
            <a:fld id="{7E342331-76E2-4C21-92E2-13DD95B73688}" type="slidenum">
              <a:rPr lang="en-US" altLang="zh-CN" smtClean="0"/>
              <a:pPr>
                <a:defRPr/>
              </a:pPr>
              <a:t>53</a:t>
            </a:fld>
            <a:endParaRPr lang="en-US" altLang="zh-CN"/>
          </a:p>
        </p:txBody>
      </p:sp>
    </p:spTree>
  </p:cSld>
  <p:clrMapOvr>
    <a:masterClrMapping/>
  </p:clrMapOvr>
  <p:transition>
    <p:spli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a:extLst>
              <a:ext uri="{FF2B5EF4-FFF2-40B4-BE49-F238E27FC236}">
                <a16:creationId xmlns:a16="http://schemas.microsoft.com/office/drawing/2014/main" id="{6993AD21-D422-4129-99AF-E02DD0714CD1}"/>
              </a:ext>
            </a:extLst>
          </p:cNvPr>
          <p:cNvSpPr>
            <a:spLocks noGrp="1" noChangeArrowheads="1"/>
          </p:cNvSpPr>
          <p:nvPr>
            <p:ph type="title"/>
          </p:nvPr>
        </p:nvSpPr>
        <p:spPr>
          <a:xfrm>
            <a:off x="628650" y="365125"/>
            <a:ext cx="7886700" cy="1325563"/>
          </a:xfrm>
        </p:spPr>
        <p:txBody>
          <a:bodyPr/>
          <a:lstStyle/>
          <a:p>
            <a:r>
              <a:rPr lang="zh-CN" altLang="en-US"/>
              <a:t>程序步方法的不足</a:t>
            </a:r>
          </a:p>
        </p:txBody>
      </p:sp>
      <p:sp>
        <p:nvSpPr>
          <p:cNvPr id="80899" name="Rectangle 1027">
            <a:extLst>
              <a:ext uri="{FF2B5EF4-FFF2-40B4-BE49-F238E27FC236}">
                <a16:creationId xmlns:a16="http://schemas.microsoft.com/office/drawing/2014/main" id="{BC2A98F3-61CB-444B-96EC-01F07F80273F}"/>
              </a:ext>
            </a:extLst>
          </p:cNvPr>
          <p:cNvSpPr>
            <a:spLocks noGrp="1" noChangeArrowheads="1"/>
          </p:cNvSpPr>
          <p:nvPr>
            <p:ph idx="1"/>
          </p:nvPr>
        </p:nvSpPr>
        <p:spPr>
          <a:xfrm>
            <a:off x="628650" y="1825625"/>
            <a:ext cx="7886700" cy="4351338"/>
          </a:xfrm>
        </p:spPr>
        <p:txBody>
          <a:bodyPr>
            <a:normAutofit fontScale="77500" lnSpcReduction="20000"/>
          </a:bodyPr>
          <a:lstStyle/>
          <a:p>
            <a:r>
              <a:rPr lang="zh-CN" altLang="en-US" dirty="0"/>
              <a:t>要确定一个程序的准确的程序步非常困难。</a:t>
            </a:r>
          </a:p>
          <a:p>
            <a:r>
              <a:rPr lang="zh-CN" altLang="en-US" dirty="0"/>
              <a:t>程序步本身不是一个精确的概念</a:t>
            </a:r>
          </a:p>
          <a:p>
            <a:pPr lvl="1"/>
            <a:r>
              <a:rPr lang="zh-CN" altLang="en-US" dirty="0"/>
              <a:t>例如</a:t>
            </a:r>
            <a:r>
              <a:rPr lang="en-US" altLang="zh-CN" dirty="0"/>
              <a:t>x=a</a:t>
            </a:r>
            <a:r>
              <a:rPr lang="zh-CN" altLang="en-US" dirty="0"/>
              <a:t>和</a:t>
            </a:r>
            <a:r>
              <a:rPr lang="en-US" altLang="zh-CN" dirty="0"/>
              <a:t>x=</a:t>
            </a:r>
            <a:r>
              <a:rPr lang="en-US" altLang="zh-CN" dirty="0" err="1"/>
              <a:t>a+b</a:t>
            </a:r>
            <a:r>
              <a:rPr lang="en-US" altLang="zh-CN" dirty="0"/>
              <a:t>*(c-d)-e/f</a:t>
            </a:r>
            <a:r>
              <a:rPr lang="zh-CN" altLang="en-US" dirty="0"/>
              <a:t>居然具有相同的程序步</a:t>
            </a:r>
          </a:p>
          <a:p>
            <a:pPr lvl="1"/>
            <a:r>
              <a:rPr lang="zh-CN" altLang="en-US" dirty="0"/>
              <a:t>因此用精确的程序步数来比较两个程序，结果未必有价值</a:t>
            </a:r>
          </a:p>
          <a:p>
            <a:r>
              <a:rPr lang="zh-CN" altLang="en-US" dirty="0"/>
              <a:t>在多数情况下只要抓住重点，比较关键操作就可以了，这样可以在算法的设计阶段就可以比较两个算法，而不必把完整的程序开发出来。</a:t>
            </a:r>
          </a:p>
          <a:p>
            <a:pPr lvl="1"/>
            <a:r>
              <a:rPr lang="zh-CN" altLang="en-US" dirty="0"/>
              <a:t>关键操作大多是在循环和递归中的操作</a:t>
            </a:r>
          </a:p>
        </p:txBody>
      </p:sp>
      <p:sp>
        <p:nvSpPr>
          <p:cNvPr id="2" name="灯片编号占位符 1">
            <a:extLst>
              <a:ext uri="{FF2B5EF4-FFF2-40B4-BE49-F238E27FC236}">
                <a16:creationId xmlns:a16="http://schemas.microsoft.com/office/drawing/2014/main" id="{D09AFE6C-1E21-4BD3-8028-74D665249DBA}"/>
              </a:ext>
            </a:extLst>
          </p:cNvPr>
          <p:cNvSpPr>
            <a:spLocks noGrp="1"/>
          </p:cNvSpPr>
          <p:nvPr>
            <p:ph type="sldNum" sz="quarter" idx="12"/>
          </p:nvPr>
        </p:nvSpPr>
        <p:spPr>
          <a:xfrm>
            <a:off x="6457950" y="6356350"/>
            <a:ext cx="2057400" cy="365125"/>
          </a:xfrm>
        </p:spPr>
        <p:txBody>
          <a:bodyPr/>
          <a:lstStyle/>
          <a:p>
            <a:fld id="{E15FD53A-876B-4227-BD9D-901604C48055}" type="slidenum">
              <a:rPr lang="en-US" altLang="zh-CN" smtClean="0"/>
              <a:pPr/>
              <a:t>54</a:t>
            </a:fld>
            <a:endParaRPr lang="en-US" altLang="zh-CN"/>
          </a:p>
        </p:txBody>
      </p:sp>
    </p:spTree>
  </p:cSld>
  <p:clrMapOvr>
    <a:masterClrMapping/>
  </p:clrMapOvr>
  <p:transition>
    <p:spli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标题 1">
            <a:extLst>
              <a:ext uri="{FF2B5EF4-FFF2-40B4-BE49-F238E27FC236}">
                <a16:creationId xmlns:a16="http://schemas.microsoft.com/office/drawing/2014/main" id="{18F2C54E-57EC-1AEE-6C10-2F531CAD6132}"/>
              </a:ext>
            </a:extLst>
          </p:cNvPr>
          <p:cNvSpPr>
            <a:spLocks noGrp="1" noChangeArrowheads="1"/>
          </p:cNvSpPr>
          <p:nvPr>
            <p:ph type="title"/>
          </p:nvPr>
        </p:nvSpPr>
        <p:spPr/>
        <p:txBody>
          <a:bodyPr/>
          <a:lstStyle/>
          <a:p>
            <a:r>
              <a:rPr lang="zh-CN" altLang="en-US"/>
              <a:t>算法的渐进分析</a:t>
            </a:r>
            <a:r>
              <a:rPr lang="en-US" altLang="zh-CN"/>
              <a:t>(asymptotic  algorithm analysis)</a:t>
            </a:r>
            <a:endParaRPr lang="zh-CN" altLang="en-US"/>
          </a:p>
        </p:txBody>
      </p:sp>
      <p:sp>
        <p:nvSpPr>
          <p:cNvPr id="75779" name="内容占位符 3">
            <a:extLst>
              <a:ext uri="{FF2B5EF4-FFF2-40B4-BE49-F238E27FC236}">
                <a16:creationId xmlns:a16="http://schemas.microsoft.com/office/drawing/2014/main" id="{C62CD792-29C4-23D5-2D44-6B2E99DA1CBB}"/>
              </a:ext>
            </a:extLst>
          </p:cNvPr>
          <p:cNvSpPr>
            <a:spLocks noGrp="1" noChangeArrowheads="1"/>
          </p:cNvSpPr>
          <p:nvPr>
            <p:ph idx="1"/>
          </p:nvPr>
        </p:nvSpPr>
        <p:spPr/>
        <p:txBody>
          <a:bodyPr/>
          <a:lstStyle/>
          <a:p>
            <a:r>
              <a:rPr lang="zh-CN" altLang="en-US" dirty="0"/>
              <a:t>求算法的时间和空间开销与问题规模</a:t>
            </a:r>
            <a:r>
              <a:rPr lang="en-US" altLang="zh-CN" dirty="0"/>
              <a:t>n</a:t>
            </a:r>
            <a:r>
              <a:rPr lang="zh-CN" altLang="en-US" dirty="0"/>
              <a:t>的关系</a:t>
            </a:r>
            <a:endParaRPr lang="en-US" altLang="zh-CN" dirty="0"/>
          </a:p>
          <a:p>
            <a:pPr lvl="1"/>
            <a:r>
              <a:rPr lang="zh-CN" altLang="en-US" dirty="0"/>
              <a:t>渐进的时间复杂度</a:t>
            </a:r>
            <a:endParaRPr lang="en-US" altLang="zh-CN" dirty="0"/>
          </a:p>
          <a:p>
            <a:pPr lvl="1"/>
            <a:r>
              <a:rPr lang="zh-CN" altLang="en-US" dirty="0"/>
              <a:t>渐进的空间复杂度</a:t>
            </a:r>
            <a:endParaRPr lang="en-US" altLang="zh-CN" dirty="0"/>
          </a:p>
        </p:txBody>
      </p:sp>
      <p:sp>
        <p:nvSpPr>
          <p:cNvPr id="75780" name="灯片编号占位符 2">
            <a:extLst>
              <a:ext uri="{FF2B5EF4-FFF2-40B4-BE49-F238E27FC236}">
                <a16:creationId xmlns:a16="http://schemas.microsoft.com/office/drawing/2014/main" id="{5DC35B5F-791E-D3EE-407F-2D5970E4E633}"/>
              </a:ext>
            </a:extLst>
          </p:cNvPr>
          <p:cNvSpPr>
            <a:spLocks noGrp="1" noChangeArrowheads="1"/>
          </p:cNvSpPr>
          <p:nvPr>
            <p:ph type="sldNum"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fld id="{BD9F0D5A-4587-4D8B-ADA9-25A40D109891}" type="slidenum">
              <a:rPr lang="en-US" altLang="zh-CN" sz="1800" smtClean="0">
                <a:latin typeface="华文新魏" panose="02010800040101010101" pitchFamily="2" charset="-122"/>
                <a:ea typeface="华文新魏" panose="02010800040101010101" pitchFamily="2" charset="-122"/>
              </a:rPr>
              <a:pPr>
                <a:spcBef>
                  <a:spcPct val="0"/>
                </a:spcBef>
                <a:buClrTx/>
                <a:buSzTx/>
                <a:buFontTx/>
                <a:buNone/>
              </a:pPr>
              <a:t>55</a:t>
            </a:fld>
            <a:endParaRPr lang="en-US" altLang="zh-CN" sz="1800">
              <a:latin typeface="华文新魏" panose="02010800040101010101" pitchFamily="2" charset="-122"/>
              <a:ea typeface="华文新魏" panose="02010800040101010101" pitchFamily="2" charset="-122"/>
            </a:endParaRPr>
          </a:p>
        </p:txBody>
      </p:sp>
    </p:spTree>
  </p:cSld>
  <p:clrMapOvr>
    <a:masterClrMapping/>
  </p:clrMapOvr>
  <p:transition>
    <p:spli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02AB136-5842-4321-AF96-25927255778A}"/>
              </a:ext>
            </a:extLst>
          </p:cNvPr>
          <p:cNvSpPr>
            <a:spLocks noGrp="1"/>
          </p:cNvSpPr>
          <p:nvPr>
            <p:ph type="title"/>
          </p:nvPr>
        </p:nvSpPr>
        <p:spPr/>
        <p:txBody>
          <a:bodyPr>
            <a:normAutofit/>
          </a:bodyPr>
          <a:lstStyle/>
          <a:p>
            <a:r>
              <a:rPr lang="zh-CN" altLang="en-US" dirty="0"/>
              <a:t>时间复杂度的渐进表示法</a:t>
            </a:r>
          </a:p>
        </p:txBody>
      </p:sp>
      <p:sp>
        <p:nvSpPr>
          <p:cNvPr id="7" name="内容占位符 6">
            <a:extLst>
              <a:ext uri="{FF2B5EF4-FFF2-40B4-BE49-F238E27FC236}">
                <a16:creationId xmlns:a16="http://schemas.microsoft.com/office/drawing/2014/main" id="{407521F3-5F42-4A1A-B61E-27B6A427E996}"/>
              </a:ext>
            </a:extLst>
          </p:cNvPr>
          <p:cNvSpPr>
            <a:spLocks noGrp="1"/>
          </p:cNvSpPr>
          <p:nvPr>
            <p:ph idx="1"/>
          </p:nvPr>
        </p:nvSpPr>
        <p:spPr>
          <a:xfrm>
            <a:off x="215516" y="1628800"/>
            <a:ext cx="8712968" cy="4525963"/>
          </a:xfrm>
        </p:spPr>
        <p:txBody>
          <a:bodyPr>
            <a:normAutofit fontScale="70000" lnSpcReduction="20000"/>
          </a:bodyPr>
          <a:lstStyle/>
          <a:p>
            <a:r>
              <a:rPr lang="zh-CN" altLang="en-US" dirty="0"/>
              <a:t>例：求两个</a:t>
            </a:r>
            <a:r>
              <a:rPr lang="en-US" altLang="zh-CN" dirty="0"/>
              <a:t>n</a:t>
            </a:r>
            <a:r>
              <a:rPr lang="zh-CN" altLang="en-US" dirty="0"/>
              <a:t>阶方阵的乘积</a:t>
            </a:r>
            <a:r>
              <a:rPr lang="en-US" altLang="zh-CN" dirty="0"/>
              <a:t>C=A</a:t>
            </a:r>
            <a:r>
              <a:rPr lang="en-US" altLang="zh-CN" dirty="0">
                <a:sym typeface="Symbol" panose="05050102010706020507" pitchFamily="18" charset="2"/>
              </a:rPr>
              <a:t></a:t>
            </a:r>
            <a:r>
              <a:rPr lang="en-US" altLang="zh-CN" dirty="0"/>
              <a:t>B</a:t>
            </a:r>
          </a:p>
          <a:p>
            <a:pPr marL="0" indent="0">
              <a:buNone/>
            </a:pPr>
            <a:r>
              <a:rPr lang="en-US" altLang="zh-CN" dirty="0"/>
              <a:t>void </a:t>
            </a:r>
            <a:r>
              <a:rPr lang="en-US" altLang="zh-CN" dirty="0" err="1"/>
              <a:t>MatMul</a:t>
            </a:r>
            <a:r>
              <a:rPr lang="en-US" altLang="zh-CN" dirty="0"/>
              <a:t>(int A[n][n], int B[n][n], int C[n][n]){</a:t>
            </a:r>
          </a:p>
          <a:p>
            <a:pPr marL="0" indent="0">
              <a:buNone/>
            </a:pPr>
            <a:r>
              <a:rPr lang="en-US" altLang="zh-CN" dirty="0"/>
              <a:t>    for (int </a:t>
            </a:r>
            <a:r>
              <a:rPr lang="en-US" altLang="zh-CN" dirty="0" err="1"/>
              <a:t>i</a:t>
            </a:r>
            <a:r>
              <a:rPr lang="en-US" altLang="zh-CN" dirty="0"/>
              <a:t>=0; </a:t>
            </a:r>
            <a:r>
              <a:rPr lang="en-US" altLang="zh-CN" dirty="0" err="1"/>
              <a:t>i</a:t>
            </a:r>
            <a:r>
              <a:rPr lang="en-US" altLang="zh-CN" dirty="0"/>
              <a:t>&lt;n; </a:t>
            </a:r>
            <a:r>
              <a:rPr lang="en-US" altLang="zh-CN" dirty="0" err="1"/>
              <a:t>i</a:t>
            </a:r>
            <a:r>
              <a:rPr lang="en-US" altLang="zh-CN" dirty="0"/>
              <a:t>++)                       //(n+1)*2</a:t>
            </a:r>
            <a:r>
              <a:rPr lang="zh-CN" altLang="en-US" dirty="0"/>
              <a:t>步</a:t>
            </a:r>
            <a:endParaRPr lang="en-US" altLang="zh-CN" dirty="0"/>
          </a:p>
          <a:p>
            <a:pPr marL="0" indent="0">
              <a:buNone/>
            </a:pPr>
            <a:r>
              <a:rPr lang="en-US" altLang="zh-CN" dirty="0"/>
              <a:t>       for (int j=0; j&lt;n; </a:t>
            </a:r>
            <a:r>
              <a:rPr lang="en-US" altLang="zh-CN" dirty="0" err="1"/>
              <a:t>j++</a:t>
            </a:r>
            <a:r>
              <a:rPr lang="en-US" altLang="zh-CN" dirty="0"/>
              <a:t>) {                  //n(n+1)*2</a:t>
            </a:r>
            <a:r>
              <a:rPr lang="zh-CN" altLang="en-US" dirty="0"/>
              <a:t>步</a:t>
            </a:r>
            <a:endParaRPr lang="en-US" altLang="zh-CN" dirty="0"/>
          </a:p>
          <a:p>
            <a:pPr marL="0" indent="0">
              <a:buNone/>
            </a:pPr>
            <a:r>
              <a:rPr lang="en-US" altLang="zh-CN" dirty="0"/>
              <a:t>          C[</a:t>
            </a:r>
            <a:r>
              <a:rPr lang="en-US" altLang="zh-CN" dirty="0" err="1"/>
              <a:t>i</a:t>
            </a:r>
            <a:r>
              <a:rPr lang="en-US" altLang="zh-CN" dirty="0"/>
              <a:t>][j]=0;                                    //n</a:t>
            </a:r>
            <a:r>
              <a:rPr lang="en-US" altLang="zh-CN" baseline="30000" dirty="0"/>
              <a:t>2</a:t>
            </a:r>
            <a:r>
              <a:rPr lang="zh-CN" altLang="en-US" dirty="0"/>
              <a:t>步</a:t>
            </a:r>
            <a:endParaRPr lang="en-US" altLang="zh-CN" baseline="30000" dirty="0"/>
          </a:p>
          <a:p>
            <a:pPr marL="0" indent="0">
              <a:buNone/>
            </a:pPr>
            <a:r>
              <a:rPr lang="en-US" altLang="zh-CN" dirty="0"/>
              <a:t>          for (int k=0; k&lt;n; k++)              //n</a:t>
            </a:r>
            <a:r>
              <a:rPr lang="en-US" altLang="zh-CN" baseline="30000" dirty="0"/>
              <a:t>2</a:t>
            </a:r>
            <a:r>
              <a:rPr lang="en-US" altLang="zh-CN" dirty="0"/>
              <a:t>(n+1)*2</a:t>
            </a:r>
            <a:r>
              <a:rPr lang="zh-CN" altLang="en-US" dirty="0"/>
              <a:t>步</a:t>
            </a:r>
            <a:endParaRPr lang="en-US" altLang="zh-CN" dirty="0"/>
          </a:p>
          <a:p>
            <a:pPr marL="0" indent="0">
              <a:buNone/>
            </a:pPr>
            <a:r>
              <a:rPr lang="en-US" altLang="zh-CN" dirty="0"/>
              <a:t>             C[</a:t>
            </a:r>
            <a:r>
              <a:rPr lang="en-US" altLang="zh-CN" dirty="0" err="1"/>
              <a:t>i</a:t>
            </a:r>
            <a:r>
              <a:rPr lang="en-US" altLang="zh-CN" dirty="0"/>
              <a:t>][j]=C[</a:t>
            </a:r>
            <a:r>
              <a:rPr lang="en-US" altLang="zh-CN" dirty="0" err="1"/>
              <a:t>i</a:t>
            </a:r>
            <a:r>
              <a:rPr lang="en-US" altLang="zh-CN" dirty="0"/>
              <a:t>][j]+A[</a:t>
            </a:r>
            <a:r>
              <a:rPr lang="en-US" altLang="zh-CN" dirty="0" err="1"/>
              <a:t>i</a:t>
            </a:r>
            <a:r>
              <a:rPr lang="en-US" altLang="zh-CN" dirty="0"/>
              <a:t>][k]*B[k][j];     //n</a:t>
            </a:r>
            <a:r>
              <a:rPr lang="en-US" altLang="zh-CN" baseline="30000" dirty="0"/>
              <a:t>3</a:t>
            </a:r>
            <a:r>
              <a:rPr lang="zh-CN" altLang="en-US" dirty="0"/>
              <a:t>步</a:t>
            </a:r>
            <a:endParaRPr lang="en-US" altLang="zh-CN" dirty="0"/>
          </a:p>
          <a:p>
            <a:pPr marL="0" indent="0">
              <a:buNone/>
            </a:pPr>
            <a:r>
              <a:rPr lang="en-US" altLang="zh-CN" dirty="0"/>
              <a:t>       }</a:t>
            </a:r>
          </a:p>
          <a:p>
            <a:pPr marL="0" indent="0">
              <a:buNone/>
            </a:pPr>
            <a:r>
              <a:rPr lang="en-US" altLang="zh-CN" dirty="0"/>
              <a:t>}</a:t>
            </a:r>
          </a:p>
          <a:p>
            <a:r>
              <a:rPr lang="zh-CN" altLang="en-US" dirty="0"/>
              <a:t>程序步数为：</a:t>
            </a:r>
            <a:r>
              <a:rPr lang="en-US" altLang="zh-CN" dirty="0"/>
              <a:t>3n</a:t>
            </a:r>
            <a:r>
              <a:rPr lang="en-US" altLang="zh-CN" baseline="30000" dirty="0"/>
              <a:t>3</a:t>
            </a:r>
            <a:r>
              <a:rPr lang="en-US" altLang="zh-CN" dirty="0"/>
              <a:t>+5n</a:t>
            </a:r>
            <a:r>
              <a:rPr lang="en-US" altLang="zh-CN" baseline="30000" dirty="0"/>
              <a:t>2</a:t>
            </a:r>
            <a:r>
              <a:rPr lang="en-US" altLang="zh-CN" dirty="0"/>
              <a:t>+4n+2</a:t>
            </a:r>
          </a:p>
        </p:txBody>
      </p:sp>
      <p:sp>
        <p:nvSpPr>
          <p:cNvPr id="3" name="灯片编号占位符 2"/>
          <p:cNvSpPr>
            <a:spLocks noGrp="1"/>
          </p:cNvSpPr>
          <p:nvPr>
            <p:ph type="sldNum" sz="quarter" idx="12"/>
          </p:nvPr>
        </p:nvSpPr>
        <p:spPr/>
        <p:txBody>
          <a:bodyPr/>
          <a:lstStyle/>
          <a:p>
            <a:fld id="{12599C96-D00C-4622-8550-25A658741468}" type="slidenum">
              <a:rPr lang="en-US" altLang="zh-CN" smtClean="0"/>
              <a:pPr/>
              <a:t>56</a:t>
            </a:fld>
            <a:endParaRPr lang="en-US" altLang="zh-CN"/>
          </a:p>
        </p:txBody>
      </p:sp>
    </p:spTree>
  </p:cSld>
  <p:clrMapOvr>
    <a:masterClrMapping/>
  </p:clrMapOvr>
  <p:transition>
    <p:spli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标题 4">
            <a:extLst>
              <a:ext uri="{FF2B5EF4-FFF2-40B4-BE49-F238E27FC236}">
                <a16:creationId xmlns:a16="http://schemas.microsoft.com/office/drawing/2014/main" id="{EF810072-EB52-472E-8CE8-6F8AA5DD6CF4}"/>
              </a:ext>
            </a:extLst>
          </p:cNvPr>
          <p:cNvSpPr>
            <a:spLocks noGrp="1" noChangeArrowheads="1"/>
          </p:cNvSpPr>
          <p:nvPr>
            <p:ph type="title"/>
          </p:nvPr>
        </p:nvSpPr>
        <p:spPr/>
        <p:txBody>
          <a:bodyPr/>
          <a:lstStyle/>
          <a:p>
            <a:pPr eaLnBrk="1" hangingPunct="1"/>
            <a:r>
              <a:rPr lang="zh-CN" altLang="en-US"/>
              <a:t>大</a:t>
            </a:r>
            <a:r>
              <a:rPr lang="en-US" altLang="zh-CN"/>
              <a:t>O</a:t>
            </a:r>
            <a:r>
              <a:rPr lang="zh-CN" altLang="en-US"/>
              <a:t>表示法</a:t>
            </a:r>
          </a:p>
        </p:txBody>
      </p:sp>
      <p:sp>
        <p:nvSpPr>
          <p:cNvPr id="83971" name="内容占位符 5">
            <a:extLst>
              <a:ext uri="{FF2B5EF4-FFF2-40B4-BE49-F238E27FC236}">
                <a16:creationId xmlns:a16="http://schemas.microsoft.com/office/drawing/2014/main" id="{B5FD28B4-DDB3-4616-9A05-66B962044A6E}"/>
              </a:ext>
            </a:extLst>
          </p:cNvPr>
          <p:cNvSpPr>
            <a:spLocks noGrp="1" noChangeArrowheads="1"/>
          </p:cNvSpPr>
          <p:nvPr>
            <p:ph idx="1"/>
          </p:nvPr>
        </p:nvSpPr>
        <p:spPr/>
        <p:txBody>
          <a:bodyPr>
            <a:normAutofit lnSpcReduction="10000"/>
          </a:bodyPr>
          <a:lstStyle/>
          <a:p>
            <a:pPr eaLnBrk="1" hangingPunct="1"/>
            <a:r>
              <a:rPr lang="zh-CN" altLang="en-US" dirty="0"/>
              <a:t>一般地，称</a:t>
            </a:r>
            <a:r>
              <a:rPr lang="en-US" altLang="zh-CN" dirty="0"/>
              <a:t>n</a:t>
            </a:r>
            <a:r>
              <a:rPr lang="zh-CN" altLang="en-US" dirty="0"/>
              <a:t>是问题的规模。则时间复杂度</a:t>
            </a:r>
            <a:r>
              <a:rPr lang="en-US" altLang="zh-CN" dirty="0"/>
              <a:t>T(n)</a:t>
            </a:r>
            <a:r>
              <a:rPr lang="zh-CN" altLang="en-US" dirty="0"/>
              <a:t>是问题规模</a:t>
            </a:r>
            <a:r>
              <a:rPr lang="en-US" altLang="zh-CN" dirty="0"/>
              <a:t>n</a:t>
            </a:r>
            <a:r>
              <a:rPr lang="zh-CN" altLang="en-US" dirty="0"/>
              <a:t>的函数。</a:t>
            </a:r>
          </a:p>
          <a:p>
            <a:pPr eaLnBrk="1" hangingPunct="1"/>
            <a:r>
              <a:rPr lang="zh-CN" altLang="en-US" dirty="0"/>
              <a:t>当</a:t>
            </a:r>
            <a:r>
              <a:rPr lang="en-US" altLang="zh-CN" dirty="0"/>
              <a:t>n</a:t>
            </a:r>
            <a:r>
              <a:rPr lang="zh-CN" altLang="en-US" dirty="0"/>
              <a:t>趋于无穷大时，把时间复杂度的数量级（阶）称为算法的渐进时间复杂度。</a:t>
            </a:r>
          </a:p>
          <a:p>
            <a:pPr lvl="1" eaLnBrk="1" hangingPunct="1"/>
            <a:r>
              <a:rPr lang="zh-CN" altLang="en-US" dirty="0"/>
              <a:t>例如两个</a:t>
            </a:r>
            <a:r>
              <a:rPr lang="en-US" altLang="zh-CN" dirty="0"/>
              <a:t>n</a:t>
            </a:r>
            <a:r>
              <a:rPr lang="zh-CN" altLang="en-US" dirty="0"/>
              <a:t>阶方阵乘法的程序步为</a:t>
            </a:r>
            <a:endParaRPr lang="en-US" altLang="zh-CN" dirty="0"/>
          </a:p>
          <a:p>
            <a:pPr lvl="2" eaLnBrk="1" hangingPunct="1"/>
            <a:r>
              <a:rPr lang="en-US" altLang="zh-CN" dirty="0"/>
              <a:t>T(n)=3n</a:t>
            </a:r>
            <a:r>
              <a:rPr lang="en-US" altLang="zh-CN" baseline="30000" dirty="0"/>
              <a:t>3</a:t>
            </a:r>
            <a:r>
              <a:rPr lang="en-US" altLang="zh-CN" dirty="0"/>
              <a:t>+5n</a:t>
            </a:r>
            <a:r>
              <a:rPr lang="en-US" altLang="zh-CN" baseline="30000" dirty="0"/>
              <a:t>2</a:t>
            </a:r>
            <a:r>
              <a:rPr lang="en-US" altLang="zh-CN" dirty="0"/>
              <a:t>+4n+2</a:t>
            </a:r>
          </a:p>
          <a:p>
            <a:pPr lvl="3" eaLnBrk="1" hangingPunct="1"/>
            <a:r>
              <a:rPr lang="zh-CN" altLang="en-US" dirty="0"/>
              <a:t>当</a:t>
            </a:r>
            <a:r>
              <a:rPr lang="en-US" altLang="zh-CN" dirty="0"/>
              <a:t>n</a:t>
            </a:r>
            <a:r>
              <a:rPr lang="zh-CN" altLang="en-US" dirty="0"/>
              <a:t>趋于无穷大时，其数量级为</a:t>
            </a:r>
            <a:r>
              <a:rPr lang="en-US" altLang="zh-CN" dirty="0"/>
              <a:t>n</a:t>
            </a:r>
            <a:r>
              <a:rPr lang="en-US" altLang="zh-CN" baseline="30000" dirty="0"/>
              <a:t>3</a:t>
            </a:r>
            <a:r>
              <a:rPr lang="zh-CN" altLang="en-US" dirty="0"/>
              <a:t>，表示为：</a:t>
            </a:r>
            <a:r>
              <a:rPr lang="en-US" altLang="zh-CN" dirty="0"/>
              <a:t>T(n)=O(n</a:t>
            </a:r>
            <a:r>
              <a:rPr lang="en-US" altLang="zh-CN" baseline="30000" dirty="0"/>
              <a:t>3</a:t>
            </a:r>
            <a:r>
              <a:rPr lang="en-US" altLang="zh-CN" dirty="0"/>
              <a:t>)</a:t>
            </a:r>
            <a:endParaRPr lang="zh-CN" altLang="en-US" dirty="0"/>
          </a:p>
        </p:txBody>
      </p:sp>
      <p:sp>
        <p:nvSpPr>
          <p:cNvPr id="2" name="灯片编号占位符 1">
            <a:extLst>
              <a:ext uri="{FF2B5EF4-FFF2-40B4-BE49-F238E27FC236}">
                <a16:creationId xmlns:a16="http://schemas.microsoft.com/office/drawing/2014/main" id="{08612923-E54E-481C-B2AA-C955AD31236A}"/>
              </a:ext>
            </a:extLst>
          </p:cNvPr>
          <p:cNvSpPr>
            <a:spLocks noGrp="1"/>
          </p:cNvSpPr>
          <p:nvPr>
            <p:ph type="sldNum" sz="quarter" idx="12"/>
          </p:nvPr>
        </p:nvSpPr>
        <p:spPr/>
        <p:txBody>
          <a:bodyPr/>
          <a:lstStyle/>
          <a:p>
            <a:pPr>
              <a:defRPr/>
            </a:pPr>
            <a:fld id="{B3375ACB-714B-4F6B-AFE1-101E6D3C7021}" type="slidenum">
              <a:rPr lang="en-US" altLang="zh-CN" smtClean="0"/>
              <a:pPr>
                <a:defRPr/>
              </a:pPr>
              <a:t>57</a:t>
            </a:fld>
            <a:endParaRPr lang="en-US" altLang="zh-CN"/>
          </a:p>
        </p:txBody>
      </p:sp>
    </p:spTree>
  </p:cSld>
  <p:clrMapOvr>
    <a:masterClrMapping/>
  </p:clrMapOvr>
  <p:transition>
    <p:spli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标题 1">
            <a:extLst>
              <a:ext uri="{FF2B5EF4-FFF2-40B4-BE49-F238E27FC236}">
                <a16:creationId xmlns:a16="http://schemas.microsoft.com/office/drawing/2014/main" id="{779CEEA4-C5C1-4457-9C8C-DE94EC6E6C4E}"/>
              </a:ext>
            </a:extLst>
          </p:cNvPr>
          <p:cNvSpPr>
            <a:spLocks noGrp="1" noChangeArrowheads="1"/>
          </p:cNvSpPr>
          <p:nvPr>
            <p:ph type="title"/>
          </p:nvPr>
        </p:nvSpPr>
        <p:spPr>
          <a:xfrm>
            <a:off x="215900" y="365125"/>
            <a:ext cx="8748588" cy="1325563"/>
          </a:xfrm>
        </p:spPr>
        <p:txBody>
          <a:bodyPr/>
          <a:lstStyle/>
          <a:p>
            <a:pPr eaLnBrk="1" hangingPunct="1"/>
            <a:r>
              <a:rPr lang="zh-CN" altLang="en-US" dirty="0"/>
              <a:t>大</a:t>
            </a:r>
            <a:r>
              <a:rPr lang="en-US" altLang="zh-CN" dirty="0"/>
              <a:t>O</a:t>
            </a:r>
            <a:r>
              <a:rPr lang="zh-CN" altLang="en-US" dirty="0"/>
              <a:t>表示法的确切含义</a:t>
            </a:r>
            <a:r>
              <a:rPr lang="en-US" altLang="zh-CN" dirty="0"/>
              <a:t>—</a:t>
            </a:r>
            <a:r>
              <a:rPr lang="zh-CN" altLang="en-US" dirty="0"/>
              <a:t>最坏情况</a:t>
            </a:r>
          </a:p>
        </p:txBody>
      </p:sp>
      <p:sp>
        <p:nvSpPr>
          <p:cNvPr id="92163" name="内容占位符 2">
            <a:extLst>
              <a:ext uri="{FF2B5EF4-FFF2-40B4-BE49-F238E27FC236}">
                <a16:creationId xmlns:a16="http://schemas.microsoft.com/office/drawing/2014/main" id="{13CE68A9-0EE0-4DD7-9E39-E0233F5A1E3B}"/>
              </a:ext>
            </a:extLst>
          </p:cNvPr>
          <p:cNvSpPr>
            <a:spLocks noGrp="1" noChangeArrowheads="1"/>
          </p:cNvSpPr>
          <p:nvPr>
            <p:ph idx="1"/>
          </p:nvPr>
        </p:nvSpPr>
        <p:spPr>
          <a:xfrm>
            <a:off x="215900" y="1825625"/>
            <a:ext cx="8460556" cy="4667250"/>
          </a:xfrm>
        </p:spPr>
        <p:txBody>
          <a:bodyPr>
            <a:normAutofit fontScale="77500" lnSpcReduction="20000"/>
          </a:bodyPr>
          <a:lstStyle/>
          <a:p>
            <a:pPr eaLnBrk="1" hangingPunct="1">
              <a:lnSpc>
                <a:spcPct val="120000"/>
              </a:lnSpc>
              <a:defRPr/>
            </a:pPr>
            <a:r>
              <a:rPr lang="zh-CN" altLang="en-US" dirty="0"/>
              <a:t>当且仅当存在正数</a:t>
            </a:r>
            <a:r>
              <a:rPr lang="en-US" altLang="zh-CN" dirty="0"/>
              <a:t>c&gt;0</a:t>
            </a:r>
            <a:r>
              <a:rPr lang="zh-CN" altLang="en-US" dirty="0"/>
              <a:t>和</a:t>
            </a:r>
            <a:r>
              <a:rPr lang="en-US" altLang="zh-CN" dirty="0"/>
              <a:t>n</a:t>
            </a:r>
            <a:r>
              <a:rPr lang="en-US" altLang="zh-CN" baseline="-25000" dirty="0"/>
              <a:t>0</a:t>
            </a:r>
            <a:r>
              <a:rPr lang="en-US" altLang="zh-CN" dirty="0"/>
              <a:t>≥0</a:t>
            </a:r>
            <a:r>
              <a:rPr lang="zh-CN" altLang="en-US" dirty="0"/>
              <a:t>，使得</a:t>
            </a:r>
            <a:r>
              <a:rPr lang="en-US" altLang="zh-CN" dirty="0"/>
              <a:t>0≤ T(n)≤</a:t>
            </a:r>
            <a:r>
              <a:rPr lang="en-US" altLang="zh-CN" dirty="0" err="1"/>
              <a:t>cf</a:t>
            </a:r>
            <a:r>
              <a:rPr lang="en-US" altLang="zh-CN" dirty="0"/>
              <a:t>(n)</a:t>
            </a:r>
            <a:r>
              <a:rPr lang="zh-CN" altLang="en-US" dirty="0"/>
              <a:t>对所有的</a:t>
            </a:r>
            <a:r>
              <a:rPr lang="en-US" altLang="zh-CN" dirty="0"/>
              <a:t>n≥n</a:t>
            </a:r>
            <a:r>
              <a:rPr lang="en-US" altLang="zh-CN" baseline="-25000" dirty="0"/>
              <a:t>0</a:t>
            </a:r>
            <a:r>
              <a:rPr lang="zh-CN" altLang="en-US" dirty="0"/>
              <a:t>成立，则称该算法的渐进时间复杂度为</a:t>
            </a:r>
            <a:r>
              <a:rPr lang="en-US" altLang="zh-CN" dirty="0"/>
              <a:t>T(n)=O(f(n))</a:t>
            </a:r>
            <a:r>
              <a:rPr lang="zh-CN" altLang="en-US" dirty="0"/>
              <a:t>。</a:t>
            </a:r>
          </a:p>
          <a:p>
            <a:pPr lvl="1" eaLnBrk="1" hangingPunct="1">
              <a:lnSpc>
                <a:spcPct val="120000"/>
              </a:lnSpc>
              <a:defRPr/>
            </a:pPr>
            <a:r>
              <a:rPr lang="zh-CN" altLang="en-US" dirty="0"/>
              <a:t>也就是说，当实例特性</a:t>
            </a:r>
            <a:r>
              <a:rPr lang="en-US" altLang="zh-CN" dirty="0"/>
              <a:t>n</a:t>
            </a:r>
            <a:r>
              <a:rPr lang="zh-CN" altLang="en-US" dirty="0"/>
              <a:t>充分大时，算法的时间复杂度随</a:t>
            </a:r>
            <a:r>
              <a:rPr lang="en-US" altLang="zh-CN" dirty="0"/>
              <a:t>n</a:t>
            </a:r>
            <a:r>
              <a:rPr lang="zh-CN" altLang="en-US" dirty="0"/>
              <a:t>变化，在最坏情况下若存在一个增长的上界，即</a:t>
            </a:r>
            <a:r>
              <a:rPr lang="en-US" altLang="zh-CN" dirty="0" err="1"/>
              <a:t>cf</a:t>
            </a:r>
            <a:r>
              <a:rPr lang="en-US" altLang="zh-CN" dirty="0"/>
              <a:t>(n)</a:t>
            </a:r>
            <a:r>
              <a:rPr lang="zh-CN" altLang="en-US" dirty="0"/>
              <a:t>，即称该算法的渐进时间复杂度为</a:t>
            </a:r>
            <a:r>
              <a:rPr lang="en-US" altLang="zh-CN" dirty="0"/>
              <a:t>T(n)=O(f(n))</a:t>
            </a:r>
            <a:r>
              <a:rPr lang="zh-CN" altLang="en-US" dirty="0"/>
              <a:t>。</a:t>
            </a:r>
            <a:endParaRPr lang="en-US" altLang="zh-CN" dirty="0"/>
          </a:p>
          <a:p>
            <a:pPr eaLnBrk="1" hangingPunct="1">
              <a:lnSpc>
                <a:spcPct val="120000"/>
              </a:lnSpc>
              <a:defRPr/>
            </a:pPr>
            <a:r>
              <a:rPr lang="zh-CN" altLang="en-US" dirty="0">
                <a:sym typeface="Symbol" panose="05050102010706020507" pitchFamily="18" charset="2"/>
              </a:rPr>
              <a:t>注意，如果</a:t>
            </a:r>
            <a:r>
              <a:rPr lang="en-US" altLang="zh-CN" dirty="0">
                <a:sym typeface="Symbol" panose="05050102010706020507" pitchFamily="18" charset="2"/>
              </a:rPr>
              <a:t>T(n)=O(n)</a:t>
            </a:r>
            <a:r>
              <a:rPr lang="zh-CN" altLang="en-US" dirty="0">
                <a:sym typeface="Symbol" panose="05050102010706020507" pitchFamily="18" charset="2"/>
              </a:rPr>
              <a:t>，那么按这个定义也可以说</a:t>
            </a:r>
            <a:r>
              <a:rPr lang="en-US" altLang="zh-CN" dirty="0">
                <a:sym typeface="Symbol" panose="05050102010706020507" pitchFamily="18" charset="2"/>
              </a:rPr>
              <a:t>T(n)=O(n</a:t>
            </a:r>
            <a:r>
              <a:rPr lang="en-US" altLang="zh-CN" baseline="30000" dirty="0">
                <a:sym typeface="Symbol" panose="05050102010706020507" pitchFamily="18" charset="2"/>
              </a:rPr>
              <a:t>2</a:t>
            </a:r>
            <a:r>
              <a:rPr lang="en-US" altLang="zh-CN" dirty="0">
                <a:sym typeface="Symbol" panose="05050102010706020507" pitchFamily="18" charset="2"/>
              </a:rPr>
              <a:t>)</a:t>
            </a:r>
            <a:r>
              <a:rPr lang="zh-CN" altLang="en-US" dirty="0">
                <a:sym typeface="Symbol" panose="05050102010706020507" pitchFamily="18" charset="2"/>
              </a:rPr>
              <a:t>，但</a:t>
            </a:r>
            <a:r>
              <a:rPr lang="en-US" altLang="zh-CN" dirty="0">
                <a:sym typeface="Symbol" panose="05050102010706020507" pitchFamily="18" charset="2"/>
              </a:rPr>
              <a:t>T(n)=O(n)</a:t>
            </a:r>
            <a:r>
              <a:rPr lang="zh-CN" altLang="en-US" dirty="0">
                <a:sym typeface="Symbol" panose="05050102010706020507" pitchFamily="18" charset="2"/>
              </a:rPr>
              <a:t>是更精确的表达。</a:t>
            </a:r>
          </a:p>
          <a:p>
            <a:pPr lvl="1" eaLnBrk="1" hangingPunct="1">
              <a:lnSpc>
                <a:spcPct val="120000"/>
              </a:lnSpc>
              <a:defRPr/>
            </a:pPr>
            <a:r>
              <a:rPr lang="zh-CN" altLang="en-US" dirty="0">
                <a:sym typeface="Symbol" panose="05050102010706020507" pitchFamily="18" charset="2"/>
              </a:rPr>
              <a:t>本课程中所指都是这种尽量精确的表达</a:t>
            </a:r>
          </a:p>
        </p:txBody>
      </p:sp>
      <p:sp>
        <p:nvSpPr>
          <p:cNvPr id="2" name="灯片编号占位符 1">
            <a:extLst>
              <a:ext uri="{FF2B5EF4-FFF2-40B4-BE49-F238E27FC236}">
                <a16:creationId xmlns:a16="http://schemas.microsoft.com/office/drawing/2014/main" id="{6FD2151E-8841-4C00-99F4-807055DB77B9}"/>
              </a:ext>
            </a:extLst>
          </p:cNvPr>
          <p:cNvSpPr>
            <a:spLocks noGrp="1"/>
          </p:cNvSpPr>
          <p:nvPr>
            <p:ph type="sldNum" sz="quarter" idx="12"/>
          </p:nvPr>
        </p:nvSpPr>
        <p:spPr/>
        <p:txBody>
          <a:bodyPr/>
          <a:lstStyle/>
          <a:p>
            <a:pPr>
              <a:defRPr/>
            </a:pPr>
            <a:fld id="{F28064C9-F70B-4EDB-A1A7-3EC8F863EBD2}" type="slidenum">
              <a:rPr lang="en-US" altLang="zh-CN" smtClean="0"/>
              <a:pPr>
                <a:defRPr/>
              </a:pPr>
              <a:t>58</a:t>
            </a:fld>
            <a:endParaRPr lang="en-US" altLang="zh-CN"/>
          </a:p>
        </p:txBody>
      </p:sp>
    </p:spTree>
  </p:cSld>
  <p:clrMapOvr>
    <a:masterClrMapping/>
  </p:clrMapOvr>
  <p:transition>
    <p:spli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a:extLst>
              <a:ext uri="{FF2B5EF4-FFF2-40B4-BE49-F238E27FC236}">
                <a16:creationId xmlns:a16="http://schemas.microsoft.com/office/drawing/2014/main" id="{5C516775-CD15-4299-9EFF-3C979210E7E9}"/>
              </a:ext>
            </a:extLst>
          </p:cNvPr>
          <p:cNvSpPr>
            <a:spLocks noGrp="1" noChangeArrowheads="1"/>
          </p:cNvSpPr>
          <p:nvPr>
            <p:ph type="title"/>
          </p:nvPr>
        </p:nvSpPr>
        <p:spPr/>
        <p:txBody>
          <a:bodyPr/>
          <a:lstStyle/>
          <a:p>
            <a:pPr eaLnBrk="1" hangingPunct="1"/>
            <a:r>
              <a:rPr lang="zh-CN" altLang="en-US"/>
              <a:t>大</a:t>
            </a:r>
            <a:r>
              <a:rPr lang="en-US" altLang="zh-CN"/>
              <a:t>O</a:t>
            </a:r>
            <a:r>
              <a:rPr lang="zh-CN" altLang="en-US"/>
              <a:t>表示法的使用</a:t>
            </a:r>
          </a:p>
        </p:txBody>
      </p:sp>
      <p:sp>
        <p:nvSpPr>
          <p:cNvPr id="88067" name="内容占位符 2">
            <a:extLst>
              <a:ext uri="{FF2B5EF4-FFF2-40B4-BE49-F238E27FC236}">
                <a16:creationId xmlns:a16="http://schemas.microsoft.com/office/drawing/2014/main" id="{04985EB9-537F-4ABE-9CAB-D624A5551035}"/>
              </a:ext>
            </a:extLst>
          </p:cNvPr>
          <p:cNvSpPr>
            <a:spLocks noGrp="1" noChangeArrowheads="1"/>
          </p:cNvSpPr>
          <p:nvPr>
            <p:ph idx="1"/>
          </p:nvPr>
        </p:nvSpPr>
        <p:spPr/>
        <p:txBody>
          <a:bodyPr/>
          <a:lstStyle/>
          <a:p>
            <a:pPr eaLnBrk="1" hangingPunct="1"/>
            <a:r>
              <a:rPr lang="zh-CN" altLang="en-US" dirty="0"/>
              <a:t>只要考虑关键操作的程序步数。</a:t>
            </a:r>
          </a:p>
          <a:p>
            <a:pPr lvl="1" eaLnBrk="1" hangingPunct="1"/>
            <a:r>
              <a:rPr lang="zh-CN" altLang="en-US" dirty="0"/>
              <a:t>关键操作大多在循环和递归中；</a:t>
            </a:r>
          </a:p>
          <a:p>
            <a:pPr lvl="1" eaLnBrk="1" hangingPunct="1"/>
            <a:r>
              <a:rPr lang="zh-CN" altLang="en-US" dirty="0"/>
              <a:t>因此，如果要求渐进值，可直接考虑关键操作的执行频度，导出其与实例特性</a:t>
            </a:r>
            <a:r>
              <a:rPr lang="en-US" altLang="zh-CN" dirty="0"/>
              <a:t>n</a:t>
            </a:r>
            <a:r>
              <a:rPr lang="zh-CN" altLang="en-US" dirty="0"/>
              <a:t>的函数关系</a:t>
            </a:r>
            <a:r>
              <a:rPr lang="en-US" altLang="zh-CN" dirty="0"/>
              <a:t>g(n)</a:t>
            </a:r>
            <a:r>
              <a:rPr lang="zh-CN" altLang="en-US" dirty="0"/>
              <a:t>。</a:t>
            </a:r>
          </a:p>
        </p:txBody>
      </p:sp>
      <p:sp>
        <p:nvSpPr>
          <p:cNvPr id="2" name="灯片编号占位符 1">
            <a:extLst>
              <a:ext uri="{FF2B5EF4-FFF2-40B4-BE49-F238E27FC236}">
                <a16:creationId xmlns:a16="http://schemas.microsoft.com/office/drawing/2014/main" id="{92BFF586-28FD-45B7-8C32-9A107597FFB1}"/>
              </a:ext>
            </a:extLst>
          </p:cNvPr>
          <p:cNvSpPr>
            <a:spLocks noGrp="1"/>
          </p:cNvSpPr>
          <p:nvPr>
            <p:ph type="sldNum" sz="quarter" idx="12"/>
          </p:nvPr>
        </p:nvSpPr>
        <p:spPr/>
        <p:txBody>
          <a:bodyPr/>
          <a:lstStyle/>
          <a:p>
            <a:pPr>
              <a:defRPr/>
            </a:pPr>
            <a:fld id="{F5A3C499-2E9D-4E8C-8F15-B8DDE58ADE91}" type="slidenum">
              <a:rPr lang="en-US" altLang="zh-CN" smtClean="0"/>
              <a:pPr>
                <a:defRPr/>
              </a:pPr>
              <a:t>59</a:t>
            </a:fld>
            <a:endParaRPr lang="en-US" altLang="zh-CN"/>
          </a:p>
        </p:txBody>
      </p:sp>
    </p:spTree>
  </p:cSld>
  <p:clrMapOvr>
    <a:masterClrMapping/>
  </p:clrMapOvr>
  <p:transition>
    <p:spli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4">
            <a:extLst>
              <a:ext uri="{FF2B5EF4-FFF2-40B4-BE49-F238E27FC236}">
                <a16:creationId xmlns:a16="http://schemas.microsoft.com/office/drawing/2014/main" id="{9E73CCF7-8CD3-4FB0-A216-628ED6D28907}"/>
              </a:ext>
            </a:extLst>
          </p:cNvPr>
          <p:cNvSpPr>
            <a:spLocks noGrp="1" noChangeArrowheads="1"/>
          </p:cNvSpPr>
          <p:nvPr>
            <p:ph type="title"/>
          </p:nvPr>
        </p:nvSpPr>
        <p:spPr/>
        <p:txBody>
          <a:bodyPr/>
          <a:lstStyle/>
          <a:p>
            <a:pPr eaLnBrk="1" hangingPunct="1"/>
            <a:r>
              <a:rPr lang="zh-CN" altLang="en-US"/>
              <a:t>渐进时间复杂度的计算</a:t>
            </a:r>
          </a:p>
        </p:txBody>
      </p:sp>
      <p:sp>
        <p:nvSpPr>
          <p:cNvPr id="95235" name="内容占位符 5">
            <a:extLst>
              <a:ext uri="{FF2B5EF4-FFF2-40B4-BE49-F238E27FC236}">
                <a16:creationId xmlns:a16="http://schemas.microsoft.com/office/drawing/2014/main" id="{D9F6A3AA-4149-4CB2-BBBF-148C066E492E}"/>
              </a:ext>
            </a:extLst>
          </p:cNvPr>
          <p:cNvSpPr>
            <a:spLocks noGrp="1" noChangeArrowheads="1"/>
          </p:cNvSpPr>
          <p:nvPr>
            <p:ph idx="1"/>
          </p:nvPr>
        </p:nvSpPr>
        <p:spPr/>
        <p:txBody>
          <a:bodyPr>
            <a:normAutofit fontScale="85000" lnSpcReduction="20000"/>
          </a:bodyPr>
          <a:lstStyle/>
          <a:p>
            <a:pPr eaLnBrk="1" hangingPunct="1">
              <a:defRPr/>
            </a:pPr>
            <a:r>
              <a:rPr lang="zh-CN" altLang="en-US" dirty="0"/>
              <a:t>单个循环</a:t>
            </a:r>
          </a:p>
          <a:p>
            <a:pPr lvl="1" eaLnBrk="1" hangingPunct="1">
              <a:defRPr/>
            </a:pPr>
            <a:r>
              <a:rPr lang="zh-CN" altLang="en-US" dirty="0"/>
              <a:t>循环内的简单语句即为关键操作，该程序段的渐进时间复杂度应是此关键操作的执行频度的大</a:t>
            </a:r>
            <a:r>
              <a:rPr lang="en-US" altLang="zh-CN" dirty="0"/>
              <a:t>O</a:t>
            </a:r>
            <a:r>
              <a:rPr lang="zh-CN" altLang="en-US" dirty="0"/>
              <a:t>表示。</a:t>
            </a:r>
          </a:p>
          <a:p>
            <a:pPr eaLnBrk="1" hangingPunct="1">
              <a:defRPr/>
            </a:pPr>
            <a:r>
              <a:rPr lang="zh-CN" altLang="en-US" dirty="0"/>
              <a:t>几个并列的循环</a:t>
            </a:r>
          </a:p>
          <a:p>
            <a:pPr lvl="1" eaLnBrk="1" hangingPunct="1">
              <a:defRPr/>
            </a:pPr>
            <a:r>
              <a:rPr lang="zh-CN" altLang="en-US" dirty="0"/>
              <a:t>分析每个循环的渐进时间复杂度，然后利用大 </a:t>
            </a:r>
            <a:r>
              <a:rPr lang="en-US" altLang="zh-CN" dirty="0"/>
              <a:t>O</a:t>
            </a:r>
            <a:r>
              <a:rPr lang="zh-CN" altLang="en-US" dirty="0"/>
              <a:t>表示法的</a:t>
            </a:r>
            <a:r>
              <a:rPr lang="zh-CN" altLang="en-US" b="1" dirty="0"/>
              <a:t>加法规则</a:t>
            </a:r>
            <a:r>
              <a:rPr lang="zh-CN" altLang="en-US" dirty="0"/>
              <a:t>来计算渐进时间复杂度。</a:t>
            </a:r>
          </a:p>
          <a:p>
            <a:pPr eaLnBrk="1" hangingPunct="1">
              <a:defRPr/>
            </a:pPr>
            <a:r>
              <a:rPr lang="zh-CN" altLang="en-US" dirty="0"/>
              <a:t>多层的嵌套循环</a:t>
            </a:r>
          </a:p>
          <a:p>
            <a:pPr lvl="1" eaLnBrk="1" hangingPunct="1">
              <a:defRPr/>
            </a:pPr>
            <a:r>
              <a:rPr lang="zh-CN" altLang="en-US" dirty="0"/>
              <a:t>关键操作应该在最内层循环中，先自外向内，层层分析每层循环的时间渐进复杂度，然后利用大</a:t>
            </a:r>
            <a:r>
              <a:rPr lang="en-US" altLang="zh-CN" dirty="0"/>
              <a:t>O</a:t>
            </a:r>
            <a:r>
              <a:rPr lang="zh-CN" altLang="en-US" dirty="0"/>
              <a:t>表示法的</a:t>
            </a:r>
            <a:r>
              <a:rPr lang="zh-CN" altLang="en-US" b="1" dirty="0"/>
              <a:t>乘法规则</a:t>
            </a:r>
            <a:r>
              <a:rPr lang="zh-CN" altLang="en-US" dirty="0"/>
              <a:t>来计算渐进时间复杂度。</a:t>
            </a:r>
          </a:p>
        </p:txBody>
      </p:sp>
      <p:sp>
        <p:nvSpPr>
          <p:cNvPr id="2" name="灯片编号占位符 1">
            <a:extLst>
              <a:ext uri="{FF2B5EF4-FFF2-40B4-BE49-F238E27FC236}">
                <a16:creationId xmlns:a16="http://schemas.microsoft.com/office/drawing/2014/main" id="{9E627B2D-EDB8-454F-A162-4A1AE2940671}"/>
              </a:ext>
            </a:extLst>
          </p:cNvPr>
          <p:cNvSpPr>
            <a:spLocks noGrp="1"/>
          </p:cNvSpPr>
          <p:nvPr>
            <p:ph type="sldNum" sz="quarter" idx="12"/>
          </p:nvPr>
        </p:nvSpPr>
        <p:spPr/>
        <p:txBody>
          <a:bodyPr/>
          <a:lstStyle/>
          <a:p>
            <a:pPr>
              <a:defRPr/>
            </a:pPr>
            <a:fld id="{1D3AAAB5-8236-44D6-A533-B29CB1E936A4}" type="slidenum">
              <a:rPr lang="en-US" altLang="zh-CN" smtClean="0"/>
              <a:pPr>
                <a:defRPr/>
              </a:pPr>
              <a:t>60</a:t>
            </a:fld>
            <a:endParaRPr lang="en-US" altLang="zh-CN"/>
          </a:p>
        </p:txBody>
      </p:sp>
    </p:spTree>
  </p:cSld>
  <p:clrMapOvr>
    <a:masterClrMapping/>
  </p:clrMapOvr>
  <p:transition>
    <p:spli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4">
            <a:extLst>
              <a:ext uri="{FF2B5EF4-FFF2-40B4-BE49-F238E27FC236}">
                <a16:creationId xmlns:a16="http://schemas.microsoft.com/office/drawing/2014/main" id="{1C2BE521-B264-4DDA-98B5-E2FC2E6310F0}"/>
              </a:ext>
            </a:extLst>
          </p:cNvPr>
          <p:cNvSpPr>
            <a:spLocks noGrp="1" noChangeArrowheads="1"/>
          </p:cNvSpPr>
          <p:nvPr>
            <p:ph type="title"/>
          </p:nvPr>
        </p:nvSpPr>
        <p:spPr/>
        <p:txBody>
          <a:bodyPr/>
          <a:lstStyle/>
          <a:p>
            <a:pPr eaLnBrk="1" hangingPunct="1"/>
            <a:r>
              <a:rPr lang="zh-CN" altLang="en-US"/>
              <a:t>针对并列程序段：加法规则 </a:t>
            </a:r>
          </a:p>
        </p:txBody>
      </p:sp>
      <p:sp>
        <p:nvSpPr>
          <p:cNvPr id="6" name="内容占位符 5">
            <a:extLst>
              <a:ext uri="{FF2B5EF4-FFF2-40B4-BE49-F238E27FC236}">
                <a16:creationId xmlns:a16="http://schemas.microsoft.com/office/drawing/2014/main" id="{5C1BC57C-4687-4098-80E6-0EEF7105E149}"/>
              </a:ext>
            </a:extLst>
          </p:cNvPr>
          <p:cNvSpPr>
            <a:spLocks noGrp="1"/>
          </p:cNvSpPr>
          <p:nvPr>
            <p:ph idx="1"/>
          </p:nvPr>
        </p:nvSpPr>
        <p:spPr/>
        <p:txBody>
          <a:bodyPr rtlCol="0">
            <a:normAutofit fontScale="77500" lnSpcReduction="20000"/>
          </a:bodyPr>
          <a:lstStyle/>
          <a:p>
            <a:pPr eaLnBrk="1" hangingPunct="1">
              <a:defRPr/>
            </a:pPr>
            <a:r>
              <a:rPr lang="en-US" altLang="zh-CN" dirty="0"/>
              <a:t>T(n, m) =T1(n)+T2(m)	</a:t>
            </a:r>
          </a:p>
          <a:p>
            <a:pPr marL="0" indent="0" eaLnBrk="1" hangingPunct="1">
              <a:buFont typeface="Wingdings" panose="05000000000000000000" pitchFamily="2" charset="2"/>
              <a:buNone/>
              <a:defRPr/>
            </a:pPr>
            <a:r>
              <a:rPr lang="en-US" altLang="zh-CN" dirty="0"/>
              <a:t>                =O(max(f(n), g(m)))</a:t>
            </a:r>
          </a:p>
          <a:p>
            <a:pPr eaLnBrk="1" hangingPunct="1">
              <a:defRPr/>
            </a:pPr>
            <a:r>
              <a:rPr lang="en-US" altLang="zh-CN" dirty="0"/>
              <a:t>c &lt; log</a:t>
            </a:r>
            <a:r>
              <a:rPr lang="en-US" altLang="zh-CN" baseline="-25000" dirty="0"/>
              <a:t>2</a:t>
            </a:r>
            <a:r>
              <a:rPr lang="en-US" altLang="zh-CN" dirty="0"/>
              <a:t>n &lt; n &lt; nlog</a:t>
            </a:r>
            <a:r>
              <a:rPr lang="en-US" altLang="zh-CN" baseline="-25000" dirty="0"/>
              <a:t>2</a:t>
            </a:r>
            <a:r>
              <a:rPr lang="en-US" altLang="zh-CN" dirty="0"/>
              <a:t>n &lt; n</a:t>
            </a:r>
            <a:r>
              <a:rPr lang="en-US" altLang="zh-CN" baseline="30000" dirty="0"/>
              <a:t>2</a:t>
            </a:r>
            <a:r>
              <a:rPr lang="en-US" altLang="zh-CN" dirty="0"/>
              <a:t> &lt; n</a:t>
            </a:r>
            <a:r>
              <a:rPr lang="en-US" altLang="zh-CN" baseline="30000" dirty="0"/>
              <a:t>3</a:t>
            </a:r>
            <a:r>
              <a:rPr lang="en-US" altLang="zh-CN" dirty="0"/>
              <a:t> &lt; 2</a:t>
            </a:r>
            <a:r>
              <a:rPr lang="en-US" altLang="zh-CN" baseline="30000" dirty="0"/>
              <a:t>n</a:t>
            </a:r>
            <a:r>
              <a:rPr lang="en-US" altLang="zh-CN" dirty="0"/>
              <a:t> &lt; 3</a:t>
            </a:r>
            <a:r>
              <a:rPr lang="en-US" altLang="zh-CN" baseline="30000" dirty="0"/>
              <a:t>n</a:t>
            </a:r>
            <a:r>
              <a:rPr lang="en-US" altLang="zh-CN" dirty="0"/>
              <a:t> &lt; n!</a:t>
            </a:r>
          </a:p>
          <a:p>
            <a:pPr lvl="1" eaLnBrk="1" hangingPunct="1">
              <a:defRPr/>
            </a:pPr>
            <a:r>
              <a:rPr lang="zh-CN" altLang="en-US" dirty="0"/>
              <a:t>时间效率比较高的算法时间复杂度一般为</a:t>
            </a:r>
            <a:r>
              <a:rPr lang="en-US" altLang="zh-CN" dirty="0"/>
              <a:t>c</a:t>
            </a:r>
            <a:r>
              <a:rPr lang="zh-CN" altLang="en-US" dirty="0"/>
              <a:t>、</a:t>
            </a:r>
            <a:r>
              <a:rPr lang="en-US" altLang="zh-CN" dirty="0"/>
              <a:t>log</a:t>
            </a:r>
            <a:r>
              <a:rPr lang="en-US" altLang="zh-CN" baseline="-25000" dirty="0"/>
              <a:t>2</a:t>
            </a:r>
            <a:r>
              <a:rPr lang="en-US" altLang="zh-CN" dirty="0"/>
              <a:t>n</a:t>
            </a:r>
            <a:r>
              <a:rPr lang="zh-CN" altLang="en-US" dirty="0"/>
              <a:t>、</a:t>
            </a:r>
            <a:r>
              <a:rPr lang="en-US" altLang="zh-CN" dirty="0"/>
              <a:t>n</a:t>
            </a:r>
            <a:r>
              <a:rPr lang="zh-CN" altLang="en-US" dirty="0"/>
              <a:t>、</a:t>
            </a:r>
            <a:r>
              <a:rPr lang="en-US" altLang="zh-CN" dirty="0"/>
              <a:t>nlog</a:t>
            </a:r>
            <a:r>
              <a:rPr lang="en-US" altLang="zh-CN" baseline="-25000" dirty="0"/>
              <a:t>2</a:t>
            </a:r>
            <a:r>
              <a:rPr lang="en-US" altLang="zh-CN" dirty="0"/>
              <a:t>n</a:t>
            </a:r>
            <a:r>
              <a:rPr lang="zh-CN" altLang="en-US" dirty="0"/>
              <a:t>；</a:t>
            </a:r>
          </a:p>
          <a:p>
            <a:pPr lvl="1" eaLnBrk="1" hangingPunct="1">
              <a:defRPr/>
            </a:pPr>
            <a:r>
              <a:rPr lang="zh-CN" altLang="en-US" dirty="0"/>
              <a:t>较为耗时的算法会达到</a:t>
            </a:r>
            <a:r>
              <a:rPr lang="en-US" altLang="zh-CN" dirty="0"/>
              <a:t>n</a:t>
            </a:r>
            <a:r>
              <a:rPr lang="en-US" altLang="zh-CN" baseline="30000" dirty="0"/>
              <a:t>2</a:t>
            </a:r>
            <a:r>
              <a:rPr lang="zh-CN" altLang="en-US" dirty="0"/>
              <a:t>、</a:t>
            </a:r>
            <a:r>
              <a:rPr lang="en-US" altLang="zh-CN" dirty="0"/>
              <a:t>n</a:t>
            </a:r>
            <a:r>
              <a:rPr lang="en-US" altLang="zh-CN" baseline="30000" dirty="0"/>
              <a:t>3</a:t>
            </a:r>
            <a:r>
              <a:rPr lang="zh-CN" altLang="en-US" dirty="0"/>
              <a:t>；例如耗时</a:t>
            </a:r>
            <a:r>
              <a:rPr lang="en-US" altLang="zh-CN" dirty="0"/>
              <a:t>c</a:t>
            </a:r>
            <a:r>
              <a:rPr lang="zh-CN" altLang="en-US" dirty="0"/>
              <a:t>*</a:t>
            </a:r>
            <a:r>
              <a:rPr lang="en-US" altLang="zh-CN" dirty="0"/>
              <a:t>n</a:t>
            </a:r>
            <a:r>
              <a:rPr lang="en-US" altLang="zh-CN" baseline="30000" dirty="0"/>
              <a:t>2</a:t>
            </a:r>
            <a:r>
              <a:rPr lang="zh-CN" altLang="en-US" dirty="0"/>
              <a:t>的排序算法，当</a:t>
            </a:r>
            <a:r>
              <a:rPr lang="en-US" altLang="zh-CN" dirty="0"/>
              <a:t>n</a:t>
            </a:r>
            <a:r>
              <a:rPr lang="zh-CN" altLang="en-US" dirty="0"/>
              <a:t>为</a:t>
            </a:r>
            <a:r>
              <a:rPr lang="en-US" altLang="zh-CN" dirty="0"/>
              <a:t>1000</a:t>
            </a:r>
            <a:r>
              <a:rPr lang="zh-CN" altLang="en-US" dirty="0"/>
              <a:t>时，数据元素之间的比较次数达到</a:t>
            </a:r>
            <a:r>
              <a:rPr lang="en-US" altLang="zh-CN" dirty="0"/>
              <a:t>c*10</a:t>
            </a:r>
            <a:r>
              <a:rPr lang="en-US" altLang="zh-CN" baseline="30000" dirty="0"/>
              <a:t>6</a:t>
            </a:r>
            <a:endParaRPr lang="zh-CN" altLang="en-US" baseline="30000" dirty="0"/>
          </a:p>
          <a:p>
            <a:pPr lvl="1" eaLnBrk="1" hangingPunct="1">
              <a:defRPr/>
            </a:pPr>
            <a:r>
              <a:rPr lang="zh-CN" altLang="en-US" dirty="0"/>
              <a:t>时间代价高，以至不能计算的算法时间复杂度往往是指数级，例如</a:t>
            </a:r>
            <a:r>
              <a:rPr lang="en-US" altLang="zh-CN" dirty="0"/>
              <a:t>2</a:t>
            </a:r>
            <a:r>
              <a:rPr lang="en-US" altLang="zh-CN" baseline="30000" dirty="0"/>
              <a:t>n</a:t>
            </a:r>
            <a:r>
              <a:rPr lang="zh-CN" altLang="en-US" dirty="0"/>
              <a:t>、</a:t>
            </a:r>
            <a:r>
              <a:rPr lang="en-US" altLang="zh-CN" dirty="0"/>
              <a:t>3</a:t>
            </a:r>
            <a:r>
              <a:rPr lang="en-US" altLang="zh-CN" baseline="30000" dirty="0"/>
              <a:t>n</a:t>
            </a:r>
            <a:r>
              <a:rPr lang="zh-CN" altLang="en-US" dirty="0"/>
              <a:t>、</a:t>
            </a:r>
            <a:r>
              <a:rPr lang="en-US" altLang="zh-CN" dirty="0"/>
              <a:t>n!</a:t>
            </a:r>
            <a:r>
              <a:rPr lang="zh-CN" altLang="en-US" dirty="0"/>
              <a:t>。</a:t>
            </a:r>
          </a:p>
        </p:txBody>
      </p:sp>
      <p:sp>
        <p:nvSpPr>
          <p:cNvPr id="2" name="灯片编号占位符 1">
            <a:extLst>
              <a:ext uri="{FF2B5EF4-FFF2-40B4-BE49-F238E27FC236}">
                <a16:creationId xmlns:a16="http://schemas.microsoft.com/office/drawing/2014/main" id="{1CA1C562-2F51-4479-9E11-3A916909B671}"/>
              </a:ext>
            </a:extLst>
          </p:cNvPr>
          <p:cNvSpPr>
            <a:spLocks noGrp="1"/>
          </p:cNvSpPr>
          <p:nvPr>
            <p:ph type="sldNum" sz="quarter" idx="12"/>
          </p:nvPr>
        </p:nvSpPr>
        <p:spPr/>
        <p:txBody>
          <a:bodyPr/>
          <a:lstStyle/>
          <a:p>
            <a:pPr>
              <a:defRPr/>
            </a:pPr>
            <a:fld id="{1F8452E0-A46A-4946-9D0D-38ADE13E32EE}" type="slidenum">
              <a:rPr lang="en-US" altLang="zh-CN" smtClean="0"/>
              <a:pPr>
                <a:defRPr/>
              </a:pPr>
              <a:t>61</a:t>
            </a:fld>
            <a:endParaRPr lang="en-US" altLang="zh-CN"/>
          </a:p>
        </p:txBody>
      </p:sp>
    </p:spTree>
  </p:cSld>
  <p:clrMapOvr>
    <a:masterClrMapping/>
  </p:clrMapOvr>
  <p:transition>
    <p:spli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4">
            <a:extLst>
              <a:ext uri="{FF2B5EF4-FFF2-40B4-BE49-F238E27FC236}">
                <a16:creationId xmlns:a16="http://schemas.microsoft.com/office/drawing/2014/main" id="{B1DEE350-8C75-4AF4-82FE-A4484C97D84D}"/>
              </a:ext>
            </a:extLst>
          </p:cNvPr>
          <p:cNvSpPr txBox="1">
            <a:spLocks noChangeArrowheads="1"/>
          </p:cNvSpPr>
          <p:nvPr/>
        </p:nvSpPr>
        <p:spPr bwMode="auto">
          <a:xfrm>
            <a:off x="533400" y="476250"/>
            <a:ext cx="86106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defTabSz="1128713">
              <a:defRPr>
                <a:solidFill>
                  <a:schemeClr val="tx1"/>
                </a:solidFill>
                <a:latin typeface="等线" panose="02010600030101010101" pitchFamily="2" charset="-122"/>
                <a:ea typeface="等线" panose="02010600030101010101" pitchFamily="2" charset="-122"/>
              </a:defRPr>
            </a:lvl1pPr>
            <a:lvl2pPr marL="742950" indent="-285750" defTabSz="1128713">
              <a:defRPr>
                <a:solidFill>
                  <a:schemeClr val="tx1"/>
                </a:solidFill>
                <a:latin typeface="等线" panose="02010600030101010101" pitchFamily="2" charset="-122"/>
                <a:ea typeface="等线" panose="02010600030101010101" pitchFamily="2" charset="-122"/>
              </a:defRPr>
            </a:lvl2pPr>
            <a:lvl3pPr marL="1143000" indent="-228600" defTabSz="1128713">
              <a:defRPr>
                <a:solidFill>
                  <a:schemeClr val="tx1"/>
                </a:solidFill>
                <a:latin typeface="等线" panose="02010600030101010101" pitchFamily="2" charset="-122"/>
                <a:ea typeface="等线" panose="02010600030101010101" pitchFamily="2" charset="-122"/>
              </a:defRPr>
            </a:lvl3pPr>
            <a:lvl4pPr marL="1600200" indent="-228600" defTabSz="1128713">
              <a:defRPr>
                <a:solidFill>
                  <a:schemeClr val="tx1"/>
                </a:solidFill>
                <a:latin typeface="等线" panose="02010600030101010101" pitchFamily="2" charset="-122"/>
                <a:ea typeface="等线" panose="02010600030101010101" pitchFamily="2" charset="-122"/>
              </a:defRPr>
            </a:lvl4pPr>
            <a:lvl5pPr marL="2057400" indent="-228600" defTabSz="1128713">
              <a:defRPr>
                <a:solidFill>
                  <a:schemeClr val="tx1"/>
                </a:solidFill>
                <a:latin typeface="等线" panose="02010600030101010101" pitchFamily="2" charset="-122"/>
                <a:ea typeface="等线" panose="02010600030101010101" pitchFamily="2" charset="-122"/>
              </a:defRPr>
            </a:lvl5pPr>
            <a:lvl6pPr marL="2514600" indent="-228600" defTabSz="11287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defTabSz="11287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defTabSz="11287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defTabSz="1128713"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endParaRPr kumimoji="1" lang="en-US" altLang="zh-CN">
              <a:solidFill>
                <a:srgbClr val="008000"/>
              </a:solidFill>
              <a:latin typeface="Times New Roman" panose="02020603050405020304" pitchFamily="18" charset="0"/>
              <a:ea typeface="宋体" panose="02010600030101010101" pitchFamily="2" charset="-122"/>
            </a:endParaRPr>
          </a:p>
        </p:txBody>
      </p:sp>
      <p:sp>
        <p:nvSpPr>
          <p:cNvPr id="92163" name="标题 4">
            <a:extLst>
              <a:ext uri="{FF2B5EF4-FFF2-40B4-BE49-F238E27FC236}">
                <a16:creationId xmlns:a16="http://schemas.microsoft.com/office/drawing/2014/main" id="{6FFC7E38-2494-4AE3-B427-FC628422A01C}"/>
              </a:ext>
            </a:extLst>
          </p:cNvPr>
          <p:cNvSpPr>
            <a:spLocks noGrp="1" noChangeArrowheads="1"/>
          </p:cNvSpPr>
          <p:nvPr>
            <p:ph type="title"/>
          </p:nvPr>
        </p:nvSpPr>
        <p:spPr/>
        <p:txBody>
          <a:bodyPr/>
          <a:lstStyle/>
          <a:p>
            <a:pPr eaLnBrk="1" hangingPunct="1"/>
            <a:r>
              <a:rPr lang="zh-CN" altLang="en-US"/>
              <a:t>针对嵌套程序段：乘法规则</a:t>
            </a:r>
          </a:p>
        </p:txBody>
      </p:sp>
      <p:sp>
        <p:nvSpPr>
          <p:cNvPr id="6" name="内容占位符 5">
            <a:extLst>
              <a:ext uri="{FF2B5EF4-FFF2-40B4-BE49-F238E27FC236}">
                <a16:creationId xmlns:a16="http://schemas.microsoft.com/office/drawing/2014/main" id="{3532AD4A-07F7-4B67-865A-752BFBAA80E6}"/>
              </a:ext>
            </a:extLst>
          </p:cNvPr>
          <p:cNvSpPr>
            <a:spLocks noGrp="1"/>
          </p:cNvSpPr>
          <p:nvPr>
            <p:ph idx="1"/>
          </p:nvPr>
        </p:nvSpPr>
        <p:spPr/>
        <p:txBody>
          <a:bodyPr rtlCol="0">
            <a:normAutofit fontScale="92500" lnSpcReduction="10000"/>
          </a:bodyPr>
          <a:lstStyle/>
          <a:p>
            <a:pPr eaLnBrk="1" hangingPunct="1">
              <a:defRPr/>
            </a:pPr>
            <a:r>
              <a:rPr lang="en-US" altLang="zh-CN" dirty="0"/>
              <a:t>T(n, m) = T1(n)*T2(m)</a:t>
            </a:r>
          </a:p>
          <a:p>
            <a:pPr marL="0" indent="0" eaLnBrk="1" hangingPunct="1">
              <a:buFont typeface="Wingdings" panose="05000000000000000000" pitchFamily="2" charset="2"/>
              <a:buNone/>
              <a:defRPr/>
            </a:pPr>
            <a:r>
              <a:rPr lang="en-US" altLang="zh-CN" dirty="0"/>
              <a:t>             = O(f (n)*g(m))</a:t>
            </a:r>
          </a:p>
          <a:p>
            <a:pPr marL="0" indent="0" eaLnBrk="1" hangingPunct="1">
              <a:buFont typeface="Wingdings" panose="05000000000000000000" pitchFamily="2" charset="2"/>
              <a:buNone/>
              <a:defRPr/>
            </a:pPr>
            <a:endParaRPr lang="en-US" altLang="zh-CN" dirty="0"/>
          </a:p>
          <a:p>
            <a:pPr eaLnBrk="1" hangingPunct="1">
              <a:defRPr/>
            </a:pPr>
            <a:r>
              <a:rPr lang="zh-CN" altLang="en-US" dirty="0"/>
              <a:t>如果一个循环中有函数调用语句，被调用的函数中又包含有循环，则也可套用乘法规则</a:t>
            </a:r>
            <a:endParaRPr lang="en-US" altLang="zh-CN" dirty="0"/>
          </a:p>
          <a:p>
            <a:pPr lvl="1" eaLnBrk="1" hangingPunct="1">
              <a:defRPr/>
            </a:pPr>
            <a:r>
              <a:rPr lang="zh-CN" altLang="en-US" dirty="0"/>
              <a:t>在被调用函数内部寻找关键操作，使用乘法规则来计算渐进时间复杂度。</a:t>
            </a:r>
            <a:endParaRPr lang="en-US" altLang="zh-CN" dirty="0"/>
          </a:p>
        </p:txBody>
      </p:sp>
      <p:sp>
        <p:nvSpPr>
          <p:cNvPr id="2" name="灯片编号占位符 1">
            <a:extLst>
              <a:ext uri="{FF2B5EF4-FFF2-40B4-BE49-F238E27FC236}">
                <a16:creationId xmlns:a16="http://schemas.microsoft.com/office/drawing/2014/main" id="{3F2CD296-DD87-465A-B4E4-05EBE5110D48}"/>
              </a:ext>
            </a:extLst>
          </p:cNvPr>
          <p:cNvSpPr>
            <a:spLocks noGrp="1"/>
          </p:cNvSpPr>
          <p:nvPr>
            <p:ph type="sldNum" sz="quarter" idx="12"/>
          </p:nvPr>
        </p:nvSpPr>
        <p:spPr/>
        <p:txBody>
          <a:bodyPr/>
          <a:lstStyle/>
          <a:p>
            <a:pPr>
              <a:defRPr/>
            </a:pPr>
            <a:fld id="{2942828F-3939-476C-AD2B-A053DF81793A}" type="slidenum">
              <a:rPr lang="en-US" altLang="zh-CN" smtClean="0"/>
              <a:pPr>
                <a:defRPr/>
              </a:pPr>
              <a:t>62</a:t>
            </a:fld>
            <a:endParaRPr lang="en-US" altLang="zh-CN"/>
          </a:p>
        </p:txBody>
      </p:sp>
    </p:spTree>
  </p:cSld>
  <p:clrMapOvr>
    <a:masterClrMapping/>
  </p:clrMapOvr>
  <p:transition>
    <p:split/>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标题 1">
            <a:extLst>
              <a:ext uri="{FF2B5EF4-FFF2-40B4-BE49-F238E27FC236}">
                <a16:creationId xmlns:a16="http://schemas.microsoft.com/office/drawing/2014/main" id="{CDDB8F99-0FFF-4408-9FC8-3EB86D3AE2D5}"/>
              </a:ext>
            </a:extLst>
          </p:cNvPr>
          <p:cNvSpPr>
            <a:spLocks noGrp="1" noChangeArrowheads="1"/>
          </p:cNvSpPr>
          <p:nvPr>
            <p:ph type="title"/>
          </p:nvPr>
        </p:nvSpPr>
        <p:spPr/>
        <p:txBody>
          <a:bodyPr/>
          <a:lstStyle/>
          <a:p>
            <a:r>
              <a:rPr lang="zh-CN" altLang="en-US" dirty="0"/>
              <a:t>乘法规则举例</a:t>
            </a:r>
          </a:p>
        </p:txBody>
      </p:sp>
      <p:sp>
        <p:nvSpPr>
          <p:cNvPr id="4" name="内容占位符 3">
            <a:extLst>
              <a:ext uri="{FF2B5EF4-FFF2-40B4-BE49-F238E27FC236}">
                <a16:creationId xmlns:a16="http://schemas.microsoft.com/office/drawing/2014/main" id="{7E364565-7E3C-4ECD-B608-31D1BC24259B}"/>
              </a:ext>
            </a:extLst>
          </p:cNvPr>
          <p:cNvSpPr>
            <a:spLocks noGrp="1"/>
          </p:cNvSpPr>
          <p:nvPr>
            <p:ph idx="1"/>
          </p:nvPr>
        </p:nvSpPr>
        <p:spPr>
          <a:xfrm>
            <a:off x="628650" y="1825625"/>
            <a:ext cx="7886700" cy="4895850"/>
          </a:xfrm>
        </p:spPr>
        <p:txBody>
          <a:bodyPr>
            <a:normAutofit fontScale="55000" lnSpcReduction="20000"/>
          </a:bodyPr>
          <a:lstStyle/>
          <a:p>
            <a:pPr marL="0" indent="0">
              <a:buNone/>
            </a:pPr>
            <a:r>
              <a:rPr lang="en-US" altLang="zh-CN" dirty="0"/>
              <a:t> void exam ( float x[ ][ ], int m, int n ) {</a:t>
            </a:r>
          </a:p>
          <a:p>
            <a:pPr marL="0" indent="0">
              <a:buNone/>
            </a:pPr>
            <a:r>
              <a:rPr lang="en-US" altLang="zh-CN" dirty="0"/>
              <a:t>     float sum [ ];</a:t>
            </a:r>
          </a:p>
          <a:p>
            <a:pPr marL="0" indent="0">
              <a:buNone/>
            </a:pPr>
            <a:r>
              <a:rPr lang="en-US" altLang="zh-CN" dirty="0"/>
              <a:t>     for ( int </a:t>
            </a:r>
            <a:r>
              <a:rPr lang="en-US" altLang="zh-CN" dirty="0" err="1"/>
              <a:t>i</a:t>
            </a:r>
            <a:r>
              <a:rPr lang="en-US" altLang="zh-CN" dirty="0"/>
              <a:t> = 0; </a:t>
            </a:r>
            <a:r>
              <a:rPr lang="en-US" altLang="zh-CN" dirty="0" err="1"/>
              <a:t>i</a:t>
            </a:r>
            <a:r>
              <a:rPr lang="en-US" altLang="zh-CN" dirty="0"/>
              <a:t> &lt; m; </a:t>
            </a:r>
            <a:r>
              <a:rPr lang="en-US" altLang="zh-CN" dirty="0" err="1"/>
              <a:t>i</a:t>
            </a:r>
            <a:r>
              <a:rPr lang="en-US" altLang="zh-CN" dirty="0"/>
              <a:t>++ ) {  //x</a:t>
            </a:r>
            <a:r>
              <a:rPr lang="zh-CN" altLang="en-US" dirty="0"/>
              <a:t>中各行</a:t>
            </a:r>
          </a:p>
          <a:p>
            <a:pPr marL="0" indent="0">
              <a:buNone/>
            </a:pPr>
            <a:r>
              <a:rPr lang="zh-CN" altLang="en-US" dirty="0"/>
              <a:t>         </a:t>
            </a:r>
            <a:r>
              <a:rPr lang="en-US" altLang="zh-CN" dirty="0"/>
              <a:t>sum[</a:t>
            </a:r>
            <a:r>
              <a:rPr lang="en-US" altLang="zh-CN" dirty="0" err="1"/>
              <a:t>i</a:t>
            </a:r>
            <a:r>
              <a:rPr lang="en-US" altLang="zh-CN" dirty="0"/>
              <a:t>] = 0.0;                      </a:t>
            </a:r>
            <a:endParaRPr lang="zh-CN" altLang="en-US" dirty="0"/>
          </a:p>
          <a:p>
            <a:pPr marL="0" indent="0">
              <a:buNone/>
            </a:pPr>
            <a:r>
              <a:rPr lang="zh-CN" altLang="en-US" dirty="0"/>
              <a:t>         </a:t>
            </a:r>
            <a:r>
              <a:rPr lang="en-US" altLang="zh-CN" dirty="0"/>
              <a:t>for ( int j = 0; j &lt; n; </a:t>
            </a:r>
            <a:r>
              <a:rPr lang="en-US" altLang="zh-CN" dirty="0" err="1"/>
              <a:t>j++</a:t>
            </a:r>
            <a:r>
              <a:rPr lang="en-US" altLang="zh-CN" dirty="0"/>
              <a:t> ) </a:t>
            </a:r>
          </a:p>
          <a:p>
            <a:pPr marL="0" indent="0">
              <a:buNone/>
            </a:pPr>
            <a:r>
              <a:rPr lang="en-US" altLang="zh-CN" dirty="0"/>
              <a:t>	    sum[</a:t>
            </a:r>
            <a:r>
              <a:rPr lang="en-US" altLang="zh-CN" dirty="0" err="1"/>
              <a:t>i</a:t>
            </a:r>
            <a:r>
              <a:rPr lang="en-US" altLang="zh-CN" dirty="0"/>
              <a:t>] += x[</a:t>
            </a:r>
            <a:r>
              <a:rPr lang="en-US" altLang="zh-CN" dirty="0" err="1"/>
              <a:t>i</a:t>
            </a:r>
            <a:r>
              <a:rPr lang="en-US" altLang="zh-CN" dirty="0"/>
              <a:t>][j];</a:t>
            </a:r>
          </a:p>
          <a:p>
            <a:pPr marL="0" indent="0">
              <a:buNone/>
            </a:pPr>
            <a:r>
              <a:rPr lang="en-US" altLang="zh-CN" dirty="0"/>
              <a:t>     }</a:t>
            </a:r>
          </a:p>
          <a:p>
            <a:pPr marL="0" indent="0">
              <a:buNone/>
            </a:pPr>
            <a:r>
              <a:rPr lang="en-US" altLang="zh-CN" dirty="0"/>
              <a:t>     for ( </a:t>
            </a:r>
            <a:r>
              <a:rPr lang="en-US" altLang="zh-CN" dirty="0" err="1"/>
              <a:t>i</a:t>
            </a:r>
            <a:r>
              <a:rPr lang="en-US" altLang="zh-CN" dirty="0"/>
              <a:t> = 0; </a:t>
            </a:r>
            <a:r>
              <a:rPr lang="en-US" altLang="zh-CN" dirty="0" err="1"/>
              <a:t>i</a:t>
            </a:r>
            <a:r>
              <a:rPr lang="en-US" altLang="zh-CN" dirty="0"/>
              <a:t> &lt; m; </a:t>
            </a:r>
            <a:r>
              <a:rPr lang="en-US" altLang="zh-CN" dirty="0" err="1"/>
              <a:t>i</a:t>
            </a:r>
            <a:r>
              <a:rPr lang="en-US" altLang="zh-CN" dirty="0"/>
              <a:t>++ )  //</a:t>
            </a:r>
            <a:r>
              <a:rPr lang="zh-CN" altLang="en-US" dirty="0"/>
              <a:t>打印各行数据和</a:t>
            </a:r>
          </a:p>
          <a:p>
            <a:pPr marL="0" indent="0">
              <a:buNone/>
            </a:pPr>
            <a:r>
              <a:rPr lang="zh-CN" altLang="en-US" dirty="0"/>
              <a:t>         </a:t>
            </a:r>
            <a:r>
              <a:rPr lang="en-US" altLang="zh-CN" dirty="0" err="1"/>
              <a:t>cout</a:t>
            </a:r>
            <a:r>
              <a:rPr lang="en-US" altLang="zh-CN" dirty="0"/>
              <a:t> &lt;&lt; </a:t>
            </a:r>
            <a:r>
              <a:rPr lang="en-US" altLang="zh-CN" dirty="0" err="1"/>
              <a:t>i</a:t>
            </a:r>
            <a:r>
              <a:rPr lang="en-US" altLang="zh-CN" dirty="0"/>
              <a:t> &lt;&lt; " : "&lt;&lt;sum [</a:t>
            </a:r>
            <a:r>
              <a:rPr lang="en-US" altLang="zh-CN" dirty="0" err="1"/>
              <a:t>i</a:t>
            </a:r>
            <a:r>
              <a:rPr lang="en-US" altLang="zh-CN" dirty="0"/>
              <a:t>] &lt;&lt; </a:t>
            </a:r>
            <a:r>
              <a:rPr lang="en-US" altLang="zh-CN" dirty="0" err="1"/>
              <a:t>endl</a:t>
            </a:r>
            <a:r>
              <a:rPr lang="en-US" altLang="zh-CN" dirty="0"/>
              <a:t>;</a:t>
            </a:r>
          </a:p>
          <a:p>
            <a:pPr marL="0" indent="0">
              <a:buNone/>
            </a:pPr>
            <a:r>
              <a:rPr lang="en-US" altLang="zh-CN" dirty="0"/>
              <a:t> }        </a:t>
            </a:r>
          </a:p>
          <a:p>
            <a:pPr marL="0" indent="0">
              <a:buNone/>
            </a:pPr>
            <a:r>
              <a:rPr lang="zh-CN" altLang="en-US" dirty="0"/>
              <a:t>前两个</a:t>
            </a:r>
            <a:r>
              <a:rPr lang="en-US" altLang="zh-CN" dirty="0"/>
              <a:t>for</a:t>
            </a:r>
            <a:r>
              <a:rPr lang="zh-CN" altLang="en-US" dirty="0"/>
              <a:t>循环是嵌套关系，适用乘法规则，第</a:t>
            </a:r>
            <a:r>
              <a:rPr lang="en-US" altLang="zh-CN" dirty="0"/>
              <a:t>1</a:t>
            </a:r>
            <a:r>
              <a:rPr lang="zh-CN" altLang="en-US" dirty="0"/>
              <a:t>、</a:t>
            </a:r>
            <a:r>
              <a:rPr lang="en-US" altLang="zh-CN" dirty="0"/>
              <a:t>3</a:t>
            </a:r>
            <a:r>
              <a:rPr lang="zh-CN" altLang="en-US" dirty="0"/>
              <a:t>个</a:t>
            </a:r>
            <a:r>
              <a:rPr lang="en-US" altLang="zh-CN" dirty="0"/>
              <a:t>for</a:t>
            </a:r>
            <a:r>
              <a:rPr lang="zh-CN" altLang="en-US" dirty="0"/>
              <a:t>循环是并列关系，适用加法规则，因此渐进时间复杂度为：</a:t>
            </a:r>
            <a:endParaRPr lang="en-US" altLang="zh-CN" dirty="0"/>
          </a:p>
          <a:p>
            <a:pPr marL="0" indent="0">
              <a:buNone/>
            </a:pPr>
            <a:r>
              <a:rPr lang="zh-CN" altLang="en-US" dirty="0"/>
              <a:t>        </a:t>
            </a:r>
            <a:r>
              <a:rPr lang="en-US" altLang="zh-CN" dirty="0"/>
              <a:t>O(max (m*n, m))</a:t>
            </a:r>
          </a:p>
        </p:txBody>
      </p:sp>
      <p:sp>
        <p:nvSpPr>
          <p:cNvPr id="3" name="灯片编号占位符 2">
            <a:extLst>
              <a:ext uri="{FF2B5EF4-FFF2-40B4-BE49-F238E27FC236}">
                <a16:creationId xmlns:a16="http://schemas.microsoft.com/office/drawing/2014/main" id="{E8CF6440-FDCD-4012-B608-5064D2EF9B7C}"/>
              </a:ext>
            </a:extLst>
          </p:cNvPr>
          <p:cNvSpPr>
            <a:spLocks noGrp="1"/>
          </p:cNvSpPr>
          <p:nvPr>
            <p:ph type="sldNum" sz="quarter" idx="12"/>
          </p:nvPr>
        </p:nvSpPr>
        <p:spPr/>
        <p:txBody>
          <a:bodyPr/>
          <a:lstStyle/>
          <a:p>
            <a:pPr>
              <a:defRPr/>
            </a:pPr>
            <a:fld id="{69799B3B-82E8-4D37-A25D-353B619B3AE5}" type="slidenum">
              <a:rPr lang="en-US" altLang="zh-CN" smtClean="0"/>
              <a:pPr>
                <a:defRPr/>
              </a:pPr>
              <a:t>63</a:t>
            </a:fld>
            <a:endParaRPr lang="en-US" altLang="zh-CN"/>
          </a:p>
        </p:txBody>
      </p:sp>
    </p:spTree>
  </p:cSld>
  <p:clrMapOvr>
    <a:masterClrMapping/>
  </p:clrMapOvr>
  <p:transition>
    <p:spli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644152-CEFF-4D20-A492-8F15CDDE5C0C}"/>
              </a:ext>
            </a:extLst>
          </p:cNvPr>
          <p:cNvSpPr>
            <a:spLocks noGrp="1"/>
          </p:cNvSpPr>
          <p:nvPr>
            <p:ph type="title"/>
          </p:nvPr>
        </p:nvSpPr>
        <p:spPr/>
        <p:txBody>
          <a:bodyPr>
            <a:normAutofit/>
          </a:bodyPr>
          <a:lstStyle/>
          <a:p>
            <a:r>
              <a:rPr lang="zh-CN" altLang="en-US" dirty="0"/>
              <a:t>例：冒泡排序的时间复杂度</a:t>
            </a:r>
          </a:p>
        </p:txBody>
      </p:sp>
      <p:sp>
        <p:nvSpPr>
          <p:cNvPr id="4" name="内容占位符 3">
            <a:extLst>
              <a:ext uri="{FF2B5EF4-FFF2-40B4-BE49-F238E27FC236}">
                <a16:creationId xmlns:a16="http://schemas.microsoft.com/office/drawing/2014/main" id="{EEA0FAFA-1609-46F8-8599-4F500B307661}"/>
              </a:ext>
            </a:extLst>
          </p:cNvPr>
          <p:cNvSpPr>
            <a:spLocks noGrp="1"/>
          </p:cNvSpPr>
          <p:nvPr>
            <p:ph idx="1"/>
          </p:nvPr>
        </p:nvSpPr>
        <p:spPr/>
        <p:txBody>
          <a:bodyPr>
            <a:normAutofit fontScale="92500" lnSpcReduction="20000"/>
          </a:bodyPr>
          <a:lstStyle/>
          <a:p>
            <a:r>
              <a:rPr lang="zh-CN" altLang="en-US" dirty="0"/>
              <a:t>冒泡排序的基本思想</a:t>
            </a:r>
          </a:p>
          <a:p>
            <a:pPr lvl="1"/>
            <a:r>
              <a:rPr lang="zh-CN" altLang="en-US" dirty="0"/>
              <a:t>设待排序对象序列中的对象个数为</a:t>
            </a:r>
            <a:r>
              <a:rPr lang="en-US" altLang="zh-CN" dirty="0"/>
              <a:t>n</a:t>
            </a:r>
            <a:r>
              <a:rPr lang="zh-CN" altLang="en-US" dirty="0"/>
              <a:t>。最多经过</a:t>
            </a:r>
            <a:r>
              <a:rPr lang="en-US" altLang="zh-CN" dirty="0"/>
              <a:t>n-1</a:t>
            </a:r>
            <a:r>
              <a:rPr lang="zh-CN" altLang="en-US" dirty="0"/>
              <a:t>趟冒泡，</a:t>
            </a:r>
            <a:r>
              <a:rPr lang="en-US" altLang="zh-CN" dirty="0" err="1"/>
              <a:t>i</a:t>
            </a:r>
            <a:r>
              <a:rPr lang="en-US" altLang="zh-CN" dirty="0"/>
              <a:t>=1, 2, …, n-1</a:t>
            </a:r>
            <a:r>
              <a:rPr lang="zh-CN" altLang="en-US" dirty="0"/>
              <a:t>。在第</a:t>
            </a:r>
            <a:r>
              <a:rPr lang="en-US" altLang="zh-CN" dirty="0" err="1"/>
              <a:t>i</a:t>
            </a:r>
            <a:r>
              <a:rPr lang="zh-CN" altLang="en-US" dirty="0"/>
              <a:t>趟中从后向前，</a:t>
            </a:r>
            <a:r>
              <a:rPr lang="en-US" altLang="zh-CN" dirty="0"/>
              <a:t>j=n-1, n-2, …,  </a:t>
            </a:r>
            <a:r>
              <a:rPr lang="en-US" altLang="zh-CN" dirty="0" err="1"/>
              <a:t>i</a:t>
            </a:r>
            <a:r>
              <a:rPr lang="zh-CN" altLang="en-US" dirty="0"/>
              <a:t>，依次两两比较</a:t>
            </a:r>
            <a:r>
              <a:rPr lang="en-US" altLang="zh-CN" dirty="0"/>
              <a:t>V[j-1].key</a:t>
            </a:r>
            <a:r>
              <a:rPr lang="zh-CN" altLang="en-US" dirty="0"/>
              <a:t>和</a:t>
            </a:r>
            <a:r>
              <a:rPr lang="en-US" altLang="zh-CN" dirty="0"/>
              <a:t>V[j].key</a:t>
            </a:r>
            <a:r>
              <a:rPr lang="zh-CN" altLang="en-US" dirty="0"/>
              <a:t>。如果发生逆序，则交换</a:t>
            </a:r>
            <a:r>
              <a:rPr lang="en-US" altLang="zh-CN" dirty="0"/>
              <a:t>V[j-1]</a:t>
            </a:r>
            <a:r>
              <a:rPr lang="zh-CN" altLang="en-US" dirty="0"/>
              <a:t>和</a:t>
            </a:r>
            <a:r>
              <a:rPr lang="en-US" altLang="zh-CN" dirty="0"/>
              <a:t>V[j]</a:t>
            </a:r>
            <a:r>
              <a:rPr lang="zh-CN" altLang="en-US" dirty="0"/>
              <a:t>。</a:t>
            </a:r>
            <a:endParaRPr lang="en-US" altLang="zh-CN" dirty="0"/>
          </a:p>
          <a:p>
            <a:pPr lvl="1"/>
            <a:r>
              <a:rPr lang="zh-CN" altLang="en-US" dirty="0"/>
              <a:t>以下程序采用了</a:t>
            </a:r>
            <a:r>
              <a:rPr lang="en-US" altLang="zh-CN" dirty="0"/>
              <a:t>C++</a:t>
            </a:r>
            <a:r>
              <a:rPr lang="zh-CN" altLang="en-US" dirty="0"/>
              <a:t>的模板</a:t>
            </a:r>
            <a:r>
              <a:rPr lang="en-US" altLang="zh-CN" dirty="0"/>
              <a:t>(template)</a:t>
            </a:r>
            <a:r>
              <a:rPr lang="zh-CN" altLang="en-US" dirty="0"/>
              <a:t>，以实现更好的软件重用</a:t>
            </a:r>
          </a:p>
          <a:p>
            <a:pPr lvl="2"/>
            <a:r>
              <a:rPr lang="zh-CN" altLang="en-US" dirty="0"/>
              <a:t>适合多种数据类型的类定义或算法，在特定环境下通过简单地代换，变成针对具体某种数据类型的类定义或算法。</a:t>
            </a:r>
          </a:p>
        </p:txBody>
      </p:sp>
      <p:sp>
        <p:nvSpPr>
          <p:cNvPr id="5" name="灯片编号占位符 4"/>
          <p:cNvSpPr>
            <a:spLocks noGrp="1"/>
          </p:cNvSpPr>
          <p:nvPr>
            <p:ph type="sldNum" sz="quarter" idx="12"/>
          </p:nvPr>
        </p:nvSpPr>
        <p:spPr/>
        <p:txBody>
          <a:bodyPr/>
          <a:lstStyle/>
          <a:p>
            <a:fld id="{12599C96-D00C-4622-8550-25A658741468}" type="slidenum">
              <a:rPr lang="en-US" altLang="zh-CN" smtClean="0"/>
              <a:pPr/>
              <a:t>64</a:t>
            </a:fld>
            <a:endParaRPr lang="en-US" altLang="zh-CN"/>
          </a:p>
        </p:txBody>
      </p:sp>
    </p:spTree>
  </p:cSld>
  <p:clrMapOvr>
    <a:masterClrMapping/>
  </p:clrMapOvr>
  <p:transition>
    <p:spli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DF3B09C-FA46-44C6-A20C-6EDAE4508058}"/>
              </a:ext>
            </a:extLst>
          </p:cNvPr>
          <p:cNvSpPr>
            <a:spLocks noGrp="1"/>
          </p:cNvSpPr>
          <p:nvPr>
            <p:ph type="title"/>
          </p:nvPr>
        </p:nvSpPr>
        <p:spPr/>
        <p:txBody>
          <a:bodyPr/>
          <a:lstStyle/>
          <a:p>
            <a:r>
              <a:rPr lang="zh-CN" altLang="en-US" dirty="0"/>
              <a:t>冒泡排序程序代码</a:t>
            </a:r>
          </a:p>
        </p:txBody>
      </p:sp>
      <p:sp>
        <p:nvSpPr>
          <p:cNvPr id="6" name="内容占位符 5">
            <a:extLst>
              <a:ext uri="{FF2B5EF4-FFF2-40B4-BE49-F238E27FC236}">
                <a16:creationId xmlns:a16="http://schemas.microsoft.com/office/drawing/2014/main" id="{6E22573A-0F2D-4AC2-A955-FFAEEA5FD736}"/>
              </a:ext>
            </a:extLst>
          </p:cNvPr>
          <p:cNvSpPr>
            <a:spLocks noGrp="1"/>
          </p:cNvSpPr>
          <p:nvPr>
            <p:ph idx="1"/>
          </p:nvPr>
        </p:nvSpPr>
        <p:spPr/>
        <p:txBody>
          <a:bodyPr>
            <a:normAutofit fontScale="40000" lnSpcReduction="20000"/>
          </a:bodyPr>
          <a:lstStyle/>
          <a:p>
            <a:pPr marL="0" indent="0">
              <a:buNone/>
            </a:pPr>
            <a:r>
              <a:rPr lang="en-US" altLang="zh-CN" dirty="0"/>
              <a:t>template &lt;class Type&gt; void </a:t>
            </a:r>
            <a:r>
              <a:rPr lang="en-US" altLang="zh-CN" dirty="0" err="1"/>
              <a:t>DataList</a:t>
            </a:r>
            <a:r>
              <a:rPr lang="en-US" altLang="zh-CN" dirty="0"/>
              <a:t> &lt;Type&gt; :: </a:t>
            </a:r>
            <a:r>
              <a:rPr lang="en-US" altLang="zh-CN" dirty="0" err="1"/>
              <a:t>bubbleSort</a:t>
            </a:r>
            <a:r>
              <a:rPr lang="en-US" altLang="zh-CN" dirty="0"/>
              <a:t>( ) {</a:t>
            </a:r>
          </a:p>
          <a:p>
            <a:pPr marL="0" indent="0">
              <a:buNone/>
            </a:pPr>
            <a:r>
              <a:rPr lang="en-US" altLang="zh-CN" dirty="0"/>
              <a:t>    int </a:t>
            </a:r>
            <a:r>
              <a:rPr lang="en-US" altLang="zh-CN" dirty="0" err="1"/>
              <a:t>i</a:t>
            </a:r>
            <a:r>
              <a:rPr lang="en-US" altLang="zh-CN" dirty="0"/>
              <a:t>=1;  int exchange=1;</a:t>
            </a:r>
          </a:p>
          <a:p>
            <a:pPr marL="0" indent="0">
              <a:buNone/>
            </a:pPr>
            <a:r>
              <a:rPr lang="en-US" altLang="zh-CN" dirty="0"/>
              <a:t>    while (</a:t>
            </a:r>
            <a:r>
              <a:rPr lang="en-US" altLang="zh-CN" dirty="0" err="1"/>
              <a:t>i</a:t>
            </a:r>
            <a:r>
              <a:rPr lang="en-US" altLang="zh-CN" dirty="0"/>
              <a:t>&lt;</a:t>
            </a:r>
            <a:r>
              <a:rPr lang="en-US" altLang="zh-CN" dirty="0" err="1"/>
              <a:t>ArraySize</a:t>
            </a:r>
            <a:r>
              <a:rPr lang="en-US" altLang="zh-CN" dirty="0"/>
              <a:t> &amp;&amp; exchange) {// </a:t>
            </a:r>
            <a:r>
              <a:rPr lang="en-US" altLang="zh-CN" dirty="0" err="1"/>
              <a:t>ArraySize</a:t>
            </a:r>
            <a:r>
              <a:rPr lang="zh-CN" altLang="en-US" dirty="0"/>
              <a:t>是表当前长度</a:t>
            </a:r>
          </a:p>
          <a:p>
            <a:pPr marL="0" indent="0">
              <a:buNone/>
            </a:pPr>
            <a:r>
              <a:rPr lang="zh-CN" altLang="en-US" dirty="0"/>
              <a:t>          </a:t>
            </a:r>
            <a:r>
              <a:rPr lang="en-US" altLang="zh-CN" dirty="0" err="1"/>
              <a:t>BubbleExchange</a:t>
            </a:r>
            <a:r>
              <a:rPr lang="en-US" altLang="zh-CN" dirty="0"/>
              <a:t>(</a:t>
            </a:r>
            <a:r>
              <a:rPr lang="en-US" altLang="zh-CN" dirty="0" err="1"/>
              <a:t>i</a:t>
            </a:r>
            <a:r>
              <a:rPr lang="en-US" altLang="zh-CN" dirty="0"/>
              <a:t>, exchange);           </a:t>
            </a:r>
            <a:r>
              <a:rPr lang="en-US" altLang="zh-CN" dirty="0" err="1"/>
              <a:t>i</a:t>
            </a:r>
            <a:r>
              <a:rPr lang="en-US" altLang="zh-CN" dirty="0"/>
              <a:t>++;</a:t>
            </a:r>
          </a:p>
          <a:p>
            <a:pPr marL="0" indent="0">
              <a:buNone/>
            </a:pPr>
            <a:r>
              <a:rPr lang="en-US" altLang="zh-CN" dirty="0"/>
              <a:t>    }</a:t>
            </a:r>
          </a:p>
          <a:p>
            <a:pPr marL="0" indent="0">
              <a:buNone/>
            </a:pPr>
            <a:r>
              <a:rPr lang="en-US" altLang="zh-CN" dirty="0"/>
              <a:t>}</a:t>
            </a:r>
          </a:p>
          <a:p>
            <a:pPr marL="0" indent="0">
              <a:buNone/>
            </a:pPr>
            <a:r>
              <a:rPr lang="en-US" altLang="zh-CN" dirty="0"/>
              <a:t>template &lt;class Type&gt; void </a:t>
            </a:r>
            <a:r>
              <a:rPr lang="en-US" altLang="zh-CN" dirty="0" err="1"/>
              <a:t>DataList</a:t>
            </a:r>
            <a:r>
              <a:rPr lang="en-US" altLang="zh-CN" dirty="0"/>
              <a:t> &lt;Type&gt; ::</a:t>
            </a:r>
            <a:r>
              <a:rPr lang="en-US" altLang="zh-CN" dirty="0" err="1"/>
              <a:t>BubbleExchange</a:t>
            </a:r>
            <a:r>
              <a:rPr lang="en-US" altLang="zh-CN" dirty="0"/>
              <a:t>(int </a:t>
            </a:r>
            <a:r>
              <a:rPr lang="en-US" altLang="zh-CN" dirty="0" err="1"/>
              <a:t>i</a:t>
            </a:r>
            <a:r>
              <a:rPr lang="en-US" altLang="zh-CN" dirty="0"/>
              <a:t>, int &amp;exchange) {</a:t>
            </a:r>
          </a:p>
          <a:p>
            <a:pPr marL="0" indent="0">
              <a:buNone/>
            </a:pPr>
            <a:r>
              <a:rPr lang="en-US" altLang="zh-CN" dirty="0"/>
              <a:t>     exchange=0;</a:t>
            </a:r>
          </a:p>
          <a:p>
            <a:pPr marL="0" indent="0">
              <a:buNone/>
            </a:pPr>
            <a:r>
              <a:rPr lang="en-US" altLang="zh-CN" dirty="0"/>
              <a:t>     for (int j=ArraySize-1; j&gt;=</a:t>
            </a:r>
            <a:r>
              <a:rPr lang="en-US" altLang="zh-CN" dirty="0" err="1"/>
              <a:t>i</a:t>
            </a:r>
            <a:r>
              <a:rPr lang="en-US" altLang="zh-CN" dirty="0"/>
              <a:t>; j--)</a:t>
            </a:r>
          </a:p>
          <a:p>
            <a:pPr marL="0" indent="0">
              <a:buNone/>
            </a:pPr>
            <a:r>
              <a:rPr lang="en-US" altLang="zh-CN" dirty="0"/>
              <a:t>          if (Element[j-1]&gt;Element[j]) {</a:t>
            </a:r>
          </a:p>
          <a:p>
            <a:pPr marL="0" indent="0">
              <a:buNone/>
            </a:pPr>
            <a:r>
              <a:rPr lang="en-US" altLang="zh-CN" dirty="0"/>
              <a:t>	     Swap(j-1, j);   exchange=1;   //</a:t>
            </a:r>
            <a:r>
              <a:rPr lang="zh-CN" altLang="en-US" dirty="0"/>
              <a:t>发生逆序，做交换，设标志</a:t>
            </a:r>
          </a:p>
          <a:p>
            <a:pPr marL="0" indent="0">
              <a:buNone/>
            </a:pPr>
            <a:r>
              <a:rPr lang="zh-CN" altLang="en-US" dirty="0"/>
              <a:t>          </a:t>
            </a:r>
            <a:r>
              <a:rPr lang="en-US" altLang="zh-CN" dirty="0"/>
              <a:t>}</a:t>
            </a:r>
          </a:p>
          <a:p>
            <a:pPr marL="0" indent="0">
              <a:buNone/>
            </a:pPr>
            <a:r>
              <a:rPr lang="en-US" altLang="zh-CN" dirty="0"/>
              <a:t> }</a:t>
            </a:r>
          </a:p>
          <a:p>
            <a:pPr marL="0" indent="0">
              <a:buNone/>
            </a:pPr>
            <a:endParaRPr lang="en-US" altLang="zh-CN" dirty="0"/>
          </a:p>
        </p:txBody>
      </p:sp>
      <p:sp>
        <p:nvSpPr>
          <p:cNvPr id="4" name="灯片编号占位符 3"/>
          <p:cNvSpPr>
            <a:spLocks noGrp="1"/>
          </p:cNvSpPr>
          <p:nvPr>
            <p:ph type="sldNum" sz="quarter" idx="12"/>
          </p:nvPr>
        </p:nvSpPr>
        <p:spPr/>
        <p:txBody>
          <a:bodyPr/>
          <a:lstStyle/>
          <a:p>
            <a:fld id="{C8283BC9-C505-498E-A445-42B3E3C5981A}" type="slidenum">
              <a:rPr lang="en-US" altLang="zh-CN" smtClean="0"/>
              <a:pPr/>
              <a:t>65</a:t>
            </a:fld>
            <a:endParaRPr lang="en-US" altLang="zh-CN"/>
          </a:p>
        </p:txBody>
      </p:sp>
    </p:spTree>
  </p:cSld>
  <p:clrMapOvr>
    <a:masterClrMapping/>
  </p:clrMapOvr>
  <p:transition>
    <p:spli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4692769-FE09-440C-9CF0-7DC229BEC43B}"/>
              </a:ext>
            </a:extLst>
          </p:cNvPr>
          <p:cNvSpPr>
            <a:spLocks noGrp="1"/>
          </p:cNvSpPr>
          <p:nvPr>
            <p:ph type="title"/>
          </p:nvPr>
        </p:nvSpPr>
        <p:spPr/>
        <p:txBody>
          <a:bodyPr>
            <a:normAutofit/>
          </a:bodyPr>
          <a:lstStyle/>
          <a:p>
            <a:r>
              <a:rPr lang="zh-CN" altLang="en-US" dirty="0"/>
              <a:t>渐进时间复杂度</a:t>
            </a: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EE23EB6D-8717-4032-A583-704915879D2A}"/>
                  </a:ext>
                </a:extLst>
              </p:cNvPr>
              <p:cNvSpPr>
                <a:spLocks noGrp="1"/>
              </p:cNvSpPr>
              <p:nvPr>
                <p:ph idx="1"/>
              </p:nvPr>
            </p:nvSpPr>
            <p:spPr/>
            <p:txBody>
              <a:bodyPr>
                <a:normAutofit/>
              </a:bodyPr>
              <a:lstStyle/>
              <a:p>
                <a:r>
                  <a:rPr lang="en-US" altLang="zh-CN" dirty="0"/>
                  <a:t>BubbleSort( )</a:t>
                </a:r>
                <a:r>
                  <a:rPr lang="zh-CN" altLang="en-US" dirty="0"/>
                  <a:t>中的循环：</a:t>
                </a:r>
                <a:r>
                  <a:rPr lang="en-US" altLang="zh-CN" dirty="0"/>
                  <a:t>n-1</a:t>
                </a:r>
                <a:r>
                  <a:rPr lang="zh-CN" altLang="en-US" dirty="0"/>
                  <a:t>趟</a:t>
                </a:r>
              </a:p>
              <a:p>
                <a:pPr lvl="1"/>
                <a:r>
                  <a:rPr lang="zh-CN" altLang="en-US" dirty="0"/>
                  <a:t>每一趟调用</a:t>
                </a:r>
                <a:r>
                  <a:rPr lang="en-US" altLang="zh-CN" dirty="0" err="1"/>
                  <a:t>BubbleExchange</a:t>
                </a:r>
                <a:r>
                  <a:rPr lang="en-US" altLang="zh-CN" dirty="0"/>
                  <a:t>( )</a:t>
                </a:r>
                <a:r>
                  <a:rPr lang="zh-CN" altLang="en-US" dirty="0"/>
                  <a:t>，循环进行</a:t>
                </a:r>
                <a:r>
                  <a:rPr lang="en-US" altLang="zh-CN" dirty="0"/>
                  <a:t>n-</a:t>
                </a:r>
                <a:r>
                  <a:rPr lang="en-US" altLang="zh-CN" dirty="0" err="1"/>
                  <a:t>i</a:t>
                </a:r>
                <a:r>
                  <a:rPr lang="zh-CN" altLang="en-US" dirty="0"/>
                  <a:t>次比较</a:t>
                </a:r>
              </a:p>
              <a:p>
                <a:r>
                  <a:rPr lang="zh-CN" altLang="en-US" dirty="0"/>
                  <a:t>因此有：</a:t>
                </a:r>
                <a:r>
                  <a:rPr lang="en-US" altLang="zh-CN" dirty="0"/>
                  <a:t>O(f(n)*g(n))=O(n</a:t>
                </a:r>
                <a:r>
                  <a:rPr lang="en-US" altLang="zh-CN" baseline="30000" dirty="0"/>
                  <a:t>2</a:t>
                </a:r>
                <a:r>
                  <a:rPr lang="en-US" altLang="zh-CN" dirty="0"/>
                  <a:t>)</a:t>
                </a:r>
              </a:p>
              <a:p>
                <a:pPr lvl="1"/>
                <a:r>
                  <a:rPr lang="zh-CN" altLang="en-US" dirty="0"/>
                  <a:t>更细致的分析得到：</a:t>
                </a:r>
                <a:endParaRPr lang="en-US" altLang="zh-CN" dirty="0"/>
              </a:p>
              <a:p>
                <a:pPr marL="342900" lvl="1" indent="0">
                  <a:buNone/>
                </a:pPr>
                <a14:m>
                  <m:oMathPara xmlns:m="http://schemas.openxmlformats.org/officeDocument/2006/math">
                    <m:oMathParaPr>
                      <m:jc m:val="centerGroup"/>
                    </m:oMathParaPr>
                    <m:oMath xmlns:m="http://schemas.openxmlformats.org/officeDocument/2006/math">
                      <m:nary>
                        <m:naryPr>
                          <m:chr m:val="∑"/>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𝑛</m:t>
                          </m:r>
                          <m:r>
                            <a:rPr lang="en-US" altLang="zh-CN" b="0" i="1" smtClean="0">
                              <a:latin typeface="Cambria Math" panose="02040503050406030204" pitchFamily="18" charset="0"/>
                            </a:rPr>
                            <m:t>−1</m:t>
                          </m:r>
                        </m:sup>
                        <m:e>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r>
                            <a:rPr lang="en-US" altLang="zh-CN" b="0" i="1" smtClean="0">
                              <a:latin typeface="Cambria Math" panose="02040503050406030204" pitchFamily="18" charset="0"/>
                            </a:rPr>
                            <m:t>)</m:t>
                          </m:r>
                        </m:e>
                      </m:nary>
                      <m:r>
                        <a:rPr lang="en-US" altLang="zh-CN" b="0" i="1" smtClean="0">
                          <a:latin typeface="Cambria Math" panose="02040503050406030204" pitchFamily="18" charset="0"/>
                        </a:rPr>
                        <m:t>= </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𝑛</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oMath>
                  </m:oMathPara>
                </a14:m>
                <a:endParaRPr lang="en-US" altLang="zh-CN" dirty="0"/>
              </a:p>
              <a:p>
                <a:endParaRPr lang="en-US" altLang="zh-CN" dirty="0"/>
              </a:p>
              <a:p>
                <a:endParaRPr lang="en-US" altLang="zh-CN" dirty="0"/>
              </a:p>
            </p:txBody>
          </p:sp>
        </mc:Choice>
        <mc:Fallback xmlns="">
          <p:sp>
            <p:nvSpPr>
              <p:cNvPr id="6" name="内容占位符 5">
                <a:extLst>
                  <a:ext uri="{FF2B5EF4-FFF2-40B4-BE49-F238E27FC236}">
                    <a16:creationId xmlns:a16="http://schemas.microsoft.com/office/drawing/2014/main" id="{EE23EB6D-8717-4032-A583-704915879D2A}"/>
                  </a:ext>
                </a:extLst>
              </p:cNvPr>
              <p:cNvSpPr>
                <a:spLocks noGrp="1" noRot="1" noChangeAspect="1" noMove="1" noResize="1" noEditPoints="1" noAdjustHandles="1" noChangeArrowheads="1" noChangeShapeType="1" noTextEdit="1"/>
              </p:cNvSpPr>
              <p:nvPr>
                <p:ph idx="1"/>
              </p:nvPr>
            </p:nvSpPr>
            <p:spPr>
              <a:blipFill>
                <a:blip r:embed="rId2"/>
                <a:stretch>
                  <a:fillRect l="-2473" t="-2521"/>
                </a:stretch>
              </a:blipFill>
            </p:spPr>
            <p:txBody>
              <a:bodyPr/>
              <a:lstStyle/>
              <a:p>
                <a:r>
                  <a:rPr lang="zh-CN" altLang="en-US">
                    <a:noFill/>
                  </a:rPr>
                  <a:t> </a:t>
                </a:r>
              </a:p>
            </p:txBody>
          </p:sp>
        </mc:Fallback>
      </mc:AlternateContent>
      <p:sp>
        <p:nvSpPr>
          <p:cNvPr id="3" name="灯片编号占位符 2"/>
          <p:cNvSpPr>
            <a:spLocks noGrp="1"/>
          </p:cNvSpPr>
          <p:nvPr>
            <p:ph type="sldNum" sz="quarter" idx="12"/>
          </p:nvPr>
        </p:nvSpPr>
        <p:spPr/>
        <p:txBody>
          <a:bodyPr/>
          <a:lstStyle/>
          <a:p>
            <a:fld id="{C8283BC9-C505-498E-A445-42B3E3C5981A}" type="slidenum">
              <a:rPr lang="en-US" altLang="zh-CN" smtClean="0"/>
              <a:pPr/>
              <a:t>66</a:t>
            </a:fld>
            <a:endParaRPr lang="en-US" altLang="zh-CN"/>
          </a:p>
        </p:txBody>
      </p:sp>
    </p:spTree>
  </p:cSld>
  <p:clrMapOvr>
    <a:masterClrMapping/>
  </p:clrMapOvr>
  <p:transition>
    <p:spli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标题 2">
            <a:extLst>
              <a:ext uri="{FF2B5EF4-FFF2-40B4-BE49-F238E27FC236}">
                <a16:creationId xmlns:a16="http://schemas.microsoft.com/office/drawing/2014/main" id="{289AB1C3-D722-464F-9FC4-2219F9998274}"/>
              </a:ext>
            </a:extLst>
          </p:cNvPr>
          <p:cNvSpPr>
            <a:spLocks noGrp="1" noChangeArrowheads="1"/>
          </p:cNvSpPr>
          <p:nvPr>
            <p:ph type="title"/>
          </p:nvPr>
        </p:nvSpPr>
        <p:spPr/>
        <p:txBody>
          <a:bodyPr/>
          <a:lstStyle/>
          <a:p>
            <a:r>
              <a:rPr lang="zh-CN" altLang="en-US" dirty="0"/>
              <a:t>例：算法运行速度的比较</a:t>
            </a:r>
          </a:p>
        </p:txBody>
      </p:sp>
      <p:sp>
        <p:nvSpPr>
          <p:cNvPr id="94211" name="内容占位符 3">
            <a:extLst>
              <a:ext uri="{FF2B5EF4-FFF2-40B4-BE49-F238E27FC236}">
                <a16:creationId xmlns:a16="http://schemas.microsoft.com/office/drawing/2014/main" id="{83B80235-A071-4CC4-87E2-80B334AF31A4}"/>
              </a:ext>
            </a:extLst>
          </p:cNvPr>
          <p:cNvSpPr>
            <a:spLocks noGrp="1" noChangeArrowheads="1"/>
          </p:cNvSpPr>
          <p:nvPr>
            <p:ph idx="1"/>
          </p:nvPr>
        </p:nvSpPr>
        <p:spPr/>
        <p:txBody>
          <a:bodyPr/>
          <a:lstStyle/>
          <a:p>
            <a:r>
              <a:rPr lang="zh-CN" altLang="en-US" dirty="0"/>
              <a:t>设有两个算法在同一机器上运行，其执行时间分别为 </a:t>
            </a:r>
            <a:r>
              <a:rPr lang="en-US" altLang="zh-CN" dirty="0"/>
              <a:t>100n</a:t>
            </a:r>
            <a:r>
              <a:rPr lang="en-US" altLang="zh-CN" baseline="30000" dirty="0"/>
              <a:t>2</a:t>
            </a:r>
            <a:r>
              <a:rPr lang="en-US" altLang="zh-CN" dirty="0"/>
              <a:t> </a:t>
            </a:r>
            <a:r>
              <a:rPr lang="zh-CN" altLang="en-US" dirty="0"/>
              <a:t>和 </a:t>
            </a:r>
            <a:r>
              <a:rPr lang="en-US" altLang="zh-CN" dirty="0"/>
              <a:t>2</a:t>
            </a:r>
            <a:r>
              <a:rPr lang="en-US" altLang="zh-CN" baseline="30000" dirty="0"/>
              <a:t>n</a:t>
            </a:r>
            <a:r>
              <a:rPr lang="zh-CN" altLang="en-US" dirty="0"/>
              <a:t>，</a:t>
            </a:r>
            <a:r>
              <a:rPr lang="en-US" altLang="zh-CN" dirty="0"/>
              <a:t>n</a:t>
            </a:r>
            <a:r>
              <a:rPr lang="zh-CN" altLang="en-US" dirty="0"/>
              <a:t>为整数。问：要使前者快于后者，</a:t>
            </a:r>
            <a:r>
              <a:rPr lang="en-US" altLang="zh-CN" dirty="0"/>
              <a:t>n </a:t>
            </a:r>
            <a:r>
              <a:rPr lang="zh-CN" altLang="en-US" dirty="0"/>
              <a:t>至少要取多大？</a:t>
            </a:r>
          </a:p>
        </p:txBody>
      </p:sp>
      <p:sp>
        <p:nvSpPr>
          <p:cNvPr id="5" name="灯片编号占位符 4">
            <a:extLst>
              <a:ext uri="{FF2B5EF4-FFF2-40B4-BE49-F238E27FC236}">
                <a16:creationId xmlns:a16="http://schemas.microsoft.com/office/drawing/2014/main" id="{99ABBB46-9569-483B-80BA-6AED6EF6E497}"/>
              </a:ext>
            </a:extLst>
          </p:cNvPr>
          <p:cNvSpPr>
            <a:spLocks noGrp="1"/>
          </p:cNvSpPr>
          <p:nvPr>
            <p:ph type="sldNum" sz="quarter" idx="12"/>
          </p:nvPr>
        </p:nvSpPr>
        <p:spPr/>
        <p:txBody>
          <a:bodyPr/>
          <a:lstStyle/>
          <a:p>
            <a:pPr>
              <a:defRPr/>
            </a:pPr>
            <a:fld id="{3800B85C-348A-4208-8483-B7E1FE78B91F}" type="slidenum">
              <a:rPr lang="en-US" altLang="zh-CN" smtClean="0"/>
              <a:pPr>
                <a:defRPr/>
              </a:pPr>
              <a:t>67</a:t>
            </a:fld>
            <a:endParaRPr lang="en-US" altLang="zh-CN"/>
          </a:p>
        </p:txBody>
      </p:sp>
    </p:spTree>
  </p:cSld>
  <p:clrMapOvr>
    <a:masterClrMapping/>
  </p:clrMapOvr>
  <p:transition>
    <p:spli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a:extLst>
              <a:ext uri="{FF2B5EF4-FFF2-40B4-BE49-F238E27FC236}">
                <a16:creationId xmlns:a16="http://schemas.microsoft.com/office/drawing/2014/main" id="{5F354383-0FEA-4F7F-A946-4A8B635C4A12}"/>
              </a:ext>
            </a:extLst>
          </p:cNvPr>
          <p:cNvSpPr>
            <a:spLocks noGrp="1" noChangeArrowheads="1"/>
          </p:cNvSpPr>
          <p:nvPr>
            <p:ph type="title"/>
          </p:nvPr>
        </p:nvSpPr>
        <p:spPr/>
        <p:txBody>
          <a:bodyPr/>
          <a:lstStyle/>
          <a:p>
            <a:r>
              <a:rPr lang="zh-CN" altLang="en-US" dirty="0"/>
              <a:t>解答</a:t>
            </a:r>
          </a:p>
        </p:txBody>
      </p:sp>
      <p:sp>
        <p:nvSpPr>
          <p:cNvPr id="95235" name="内容占位符 2">
            <a:extLst>
              <a:ext uri="{FF2B5EF4-FFF2-40B4-BE49-F238E27FC236}">
                <a16:creationId xmlns:a16="http://schemas.microsoft.com/office/drawing/2014/main" id="{2182D56E-9794-4915-A2EF-16BC22FC7CEF}"/>
              </a:ext>
            </a:extLst>
          </p:cNvPr>
          <p:cNvSpPr>
            <a:spLocks noGrp="1" noChangeArrowheads="1"/>
          </p:cNvSpPr>
          <p:nvPr>
            <p:ph idx="1"/>
          </p:nvPr>
        </p:nvSpPr>
        <p:spPr/>
        <p:txBody>
          <a:bodyPr>
            <a:normAutofit/>
          </a:bodyPr>
          <a:lstStyle/>
          <a:p>
            <a:r>
              <a:rPr lang="zh-CN" altLang="en-US" dirty="0"/>
              <a:t>问题是找出满足 </a:t>
            </a:r>
            <a:r>
              <a:rPr lang="en-US" altLang="zh-CN" dirty="0"/>
              <a:t>100n</a:t>
            </a:r>
            <a:r>
              <a:rPr lang="en-US" altLang="zh-CN" baseline="30000" dirty="0"/>
              <a:t>2</a:t>
            </a:r>
            <a:r>
              <a:rPr lang="en-US" altLang="zh-CN" dirty="0"/>
              <a:t> &lt;= 2</a:t>
            </a:r>
            <a:r>
              <a:rPr lang="en-US" altLang="zh-CN" baseline="30000" dirty="0"/>
              <a:t>n</a:t>
            </a:r>
            <a:r>
              <a:rPr lang="en-US" altLang="zh-CN" dirty="0"/>
              <a:t> </a:t>
            </a:r>
            <a:r>
              <a:rPr lang="zh-CN" altLang="en-US" dirty="0"/>
              <a:t>的最小的</a:t>
            </a:r>
            <a:r>
              <a:rPr lang="en-US" altLang="zh-CN" dirty="0"/>
              <a:t>n</a:t>
            </a:r>
            <a:r>
              <a:rPr lang="zh-CN" altLang="en-US" dirty="0"/>
              <a:t>。</a:t>
            </a:r>
            <a:endParaRPr lang="en-US" altLang="zh-CN" dirty="0"/>
          </a:p>
          <a:p>
            <a:r>
              <a:rPr lang="zh-CN" altLang="en-US" dirty="0"/>
              <a:t>用试探法：</a:t>
            </a:r>
          </a:p>
          <a:p>
            <a:pPr lvl="1"/>
            <a:r>
              <a:rPr lang="en-US" altLang="zh-CN" dirty="0"/>
              <a:t>n = 13</a:t>
            </a:r>
            <a:r>
              <a:rPr lang="zh-CN" altLang="en-US" dirty="0"/>
              <a:t>时，</a:t>
            </a:r>
            <a:r>
              <a:rPr lang="en-US" altLang="zh-CN" dirty="0"/>
              <a:t>100n</a:t>
            </a:r>
            <a:r>
              <a:rPr lang="en-US" altLang="zh-CN" baseline="30000" dirty="0"/>
              <a:t>2</a:t>
            </a:r>
            <a:r>
              <a:rPr lang="en-US" altLang="zh-CN" dirty="0"/>
              <a:t> = 16900 &gt; 2</a:t>
            </a:r>
            <a:r>
              <a:rPr lang="en-US" altLang="zh-CN" baseline="30000" dirty="0"/>
              <a:t>n</a:t>
            </a:r>
            <a:r>
              <a:rPr lang="en-US" altLang="zh-CN" dirty="0"/>
              <a:t> = 8192</a:t>
            </a:r>
          </a:p>
          <a:p>
            <a:pPr lvl="1"/>
            <a:r>
              <a:rPr lang="en-US" altLang="zh-CN" dirty="0"/>
              <a:t>n = 14</a:t>
            </a:r>
            <a:r>
              <a:rPr lang="zh-CN" altLang="en-US" dirty="0"/>
              <a:t>时，</a:t>
            </a:r>
            <a:r>
              <a:rPr lang="en-US" altLang="zh-CN" dirty="0"/>
              <a:t>100n</a:t>
            </a:r>
            <a:r>
              <a:rPr lang="en-US" altLang="zh-CN" baseline="30000" dirty="0"/>
              <a:t>2</a:t>
            </a:r>
            <a:r>
              <a:rPr lang="en-US" altLang="zh-CN" dirty="0"/>
              <a:t> = 19600 &gt; 2</a:t>
            </a:r>
            <a:r>
              <a:rPr lang="en-US" altLang="zh-CN" baseline="30000" dirty="0"/>
              <a:t>n</a:t>
            </a:r>
            <a:r>
              <a:rPr lang="en-US" altLang="zh-CN" dirty="0"/>
              <a:t> = 16384</a:t>
            </a:r>
          </a:p>
          <a:p>
            <a:pPr lvl="1"/>
            <a:r>
              <a:rPr lang="en-US" altLang="zh-CN" dirty="0"/>
              <a:t>n = 15</a:t>
            </a:r>
            <a:r>
              <a:rPr lang="zh-CN" altLang="en-US" dirty="0"/>
              <a:t>时，</a:t>
            </a:r>
            <a:r>
              <a:rPr lang="en-US" altLang="zh-CN" dirty="0"/>
              <a:t>100n</a:t>
            </a:r>
            <a:r>
              <a:rPr lang="en-US" altLang="zh-CN" baseline="30000" dirty="0"/>
              <a:t>2</a:t>
            </a:r>
            <a:r>
              <a:rPr lang="en-US" altLang="zh-CN" dirty="0"/>
              <a:t> = 22500 &lt; 2</a:t>
            </a:r>
            <a:r>
              <a:rPr lang="en-US" altLang="zh-CN" baseline="30000" dirty="0"/>
              <a:t>n</a:t>
            </a:r>
            <a:r>
              <a:rPr lang="en-US" altLang="zh-CN" dirty="0"/>
              <a:t> = 32764</a:t>
            </a:r>
          </a:p>
          <a:p>
            <a:r>
              <a:rPr lang="zh-CN" altLang="en-US" dirty="0"/>
              <a:t>取 </a:t>
            </a:r>
            <a:r>
              <a:rPr lang="en-US" altLang="zh-CN" dirty="0"/>
              <a:t>n = 15 </a:t>
            </a:r>
            <a:r>
              <a:rPr lang="zh-CN" altLang="en-US" dirty="0"/>
              <a:t>满足要求。</a:t>
            </a:r>
          </a:p>
          <a:p>
            <a:endParaRPr lang="zh-CN" altLang="en-US" dirty="0"/>
          </a:p>
        </p:txBody>
      </p:sp>
      <p:sp>
        <p:nvSpPr>
          <p:cNvPr id="4" name="灯片编号占位符 3">
            <a:extLst>
              <a:ext uri="{FF2B5EF4-FFF2-40B4-BE49-F238E27FC236}">
                <a16:creationId xmlns:a16="http://schemas.microsoft.com/office/drawing/2014/main" id="{F3C44CEB-B4F4-4D6B-B169-3643DF5CBF9B}"/>
              </a:ext>
            </a:extLst>
          </p:cNvPr>
          <p:cNvSpPr>
            <a:spLocks noGrp="1"/>
          </p:cNvSpPr>
          <p:nvPr>
            <p:ph type="sldNum" sz="quarter" idx="12"/>
          </p:nvPr>
        </p:nvSpPr>
        <p:spPr/>
        <p:txBody>
          <a:bodyPr/>
          <a:lstStyle/>
          <a:p>
            <a:pPr>
              <a:defRPr/>
            </a:pPr>
            <a:fld id="{A9A48EAE-9FCF-461E-933B-5EE25214D82B}" type="slidenum">
              <a:rPr lang="en-US" altLang="zh-CN" smtClean="0"/>
              <a:pPr>
                <a:defRPr/>
              </a:pPr>
              <a:t>68</a:t>
            </a:fld>
            <a:endParaRPr lang="en-US" altLang="zh-CN"/>
          </a:p>
        </p:txBody>
      </p:sp>
    </p:spTree>
  </p:cSld>
  <p:clrMapOvr>
    <a:masterClrMapping/>
  </p:clrMapOvr>
  <p:transition>
    <p:spli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0B7EBB5-38CC-4074-A35E-954698DD0F38}"/>
              </a:ext>
            </a:extLst>
          </p:cNvPr>
          <p:cNvSpPr>
            <a:spLocks noGrp="1" noChangeArrowheads="1"/>
          </p:cNvSpPr>
          <p:nvPr>
            <p:ph type="title"/>
          </p:nvPr>
        </p:nvSpPr>
        <p:spPr>
          <a:xfrm>
            <a:off x="628650" y="365125"/>
            <a:ext cx="7886700" cy="1325563"/>
          </a:xfrm>
        </p:spPr>
        <p:txBody>
          <a:bodyPr/>
          <a:lstStyle/>
          <a:p>
            <a:r>
              <a:rPr lang="zh-CN" altLang="en-US" dirty="0"/>
              <a:t>最好和平均情况（自学）</a:t>
            </a:r>
          </a:p>
        </p:txBody>
      </p:sp>
      <p:sp>
        <p:nvSpPr>
          <p:cNvPr id="97283" name="Rectangle 3">
            <a:extLst>
              <a:ext uri="{FF2B5EF4-FFF2-40B4-BE49-F238E27FC236}">
                <a16:creationId xmlns:a16="http://schemas.microsoft.com/office/drawing/2014/main" id="{6F3FFEA0-9156-45CF-B3A6-786A1235E735}"/>
              </a:ext>
            </a:extLst>
          </p:cNvPr>
          <p:cNvSpPr>
            <a:spLocks noGrp="1" noChangeArrowheads="1"/>
          </p:cNvSpPr>
          <p:nvPr>
            <p:ph idx="1"/>
          </p:nvPr>
        </p:nvSpPr>
        <p:spPr>
          <a:xfrm>
            <a:off x="628650" y="1825625"/>
            <a:ext cx="7886700" cy="4351338"/>
          </a:xfrm>
        </p:spPr>
        <p:txBody>
          <a:bodyPr>
            <a:normAutofit fontScale="85000" lnSpcReduction="10000"/>
          </a:bodyPr>
          <a:lstStyle/>
          <a:p>
            <a:r>
              <a:rPr lang="zh-CN" altLang="en-US" dirty="0"/>
              <a:t>大</a:t>
            </a:r>
            <a:r>
              <a:rPr lang="en-US" altLang="zh-CN" dirty="0"/>
              <a:t>O</a:t>
            </a:r>
            <a:r>
              <a:rPr lang="zh-CN" altLang="en-US" dirty="0"/>
              <a:t>表示法是上限（最坏）的情况</a:t>
            </a:r>
          </a:p>
          <a:p>
            <a:r>
              <a:rPr lang="zh-CN" altLang="en-US" dirty="0"/>
              <a:t>还可以有最好的情况</a:t>
            </a:r>
            <a:r>
              <a:rPr lang="zh-CN" altLang="en-US" dirty="0">
                <a:sym typeface="Symbol" panose="05050102010706020507" pitchFamily="18" charset="2"/>
              </a:rPr>
              <a:t> </a:t>
            </a:r>
            <a:r>
              <a:rPr lang="zh-CN" altLang="en-US" dirty="0"/>
              <a:t>，例如顺序搜索查找给定值 </a:t>
            </a:r>
            <a:r>
              <a:rPr lang="en-US" altLang="zh-CN" dirty="0"/>
              <a:t>k </a:t>
            </a:r>
            <a:r>
              <a:rPr lang="zh-CN" altLang="en-US" dirty="0"/>
              <a:t>的算法的最好情况是</a:t>
            </a:r>
            <a:r>
              <a:rPr lang="zh-CN" altLang="en-US" dirty="0">
                <a:sym typeface="Symbol" panose="05050102010706020507" pitchFamily="18" charset="2"/>
              </a:rPr>
              <a:t></a:t>
            </a:r>
            <a:r>
              <a:rPr lang="en-US" altLang="zh-CN" dirty="0">
                <a:sym typeface="Symbol" panose="05050102010706020507" pitchFamily="18" charset="2"/>
              </a:rPr>
              <a:t>(1)</a:t>
            </a:r>
            <a:endParaRPr lang="en-US" altLang="zh-CN" dirty="0"/>
          </a:p>
          <a:p>
            <a:pPr lvl="1"/>
            <a:r>
              <a:rPr lang="zh-CN" altLang="en-US" dirty="0"/>
              <a:t>定义类似于大</a:t>
            </a:r>
            <a:r>
              <a:rPr lang="en-US" altLang="zh-CN" dirty="0"/>
              <a:t>O</a:t>
            </a:r>
            <a:r>
              <a:rPr lang="zh-CN" altLang="en-US" dirty="0"/>
              <a:t>表示法</a:t>
            </a:r>
          </a:p>
          <a:p>
            <a:pPr lvl="1"/>
            <a:r>
              <a:rPr lang="zh-CN" altLang="en-US" dirty="0"/>
              <a:t>没有太大的实际意义，因为最好情况的概率一般较小。</a:t>
            </a:r>
          </a:p>
          <a:p>
            <a:r>
              <a:rPr lang="zh-CN" altLang="en-US" dirty="0"/>
              <a:t>平均情况</a:t>
            </a:r>
          </a:p>
          <a:p>
            <a:pPr lvl="1"/>
            <a:r>
              <a:rPr lang="zh-CN" altLang="en-US" dirty="0"/>
              <a:t>最具有实际意义，更能代表算法的时间效率</a:t>
            </a:r>
          </a:p>
          <a:p>
            <a:pPr lvl="1"/>
            <a:r>
              <a:rPr lang="zh-CN" altLang="en-US" dirty="0"/>
              <a:t>推导较困难</a:t>
            </a:r>
          </a:p>
        </p:txBody>
      </p:sp>
      <p:sp>
        <p:nvSpPr>
          <p:cNvPr id="2" name="灯片编号占位符 1">
            <a:extLst>
              <a:ext uri="{FF2B5EF4-FFF2-40B4-BE49-F238E27FC236}">
                <a16:creationId xmlns:a16="http://schemas.microsoft.com/office/drawing/2014/main" id="{18045D7E-9E03-4010-BDD1-0F8D9941A933}"/>
              </a:ext>
            </a:extLst>
          </p:cNvPr>
          <p:cNvSpPr>
            <a:spLocks noGrp="1"/>
          </p:cNvSpPr>
          <p:nvPr>
            <p:ph type="sldNum" sz="quarter" idx="12"/>
          </p:nvPr>
        </p:nvSpPr>
        <p:spPr>
          <a:xfrm>
            <a:off x="6457950" y="6356350"/>
            <a:ext cx="2057400" cy="365125"/>
          </a:xfrm>
        </p:spPr>
        <p:txBody>
          <a:bodyPr/>
          <a:lstStyle/>
          <a:p>
            <a:fld id="{DD143534-61E0-4941-868E-A8BC6E75B7D5}" type="slidenum">
              <a:rPr lang="en-US" altLang="zh-CN" smtClean="0"/>
              <a:pPr/>
              <a:t>69</a:t>
            </a:fld>
            <a:endParaRPr lang="en-US" altLang="zh-CN"/>
          </a:p>
        </p:txBody>
      </p:sp>
    </p:spTree>
  </p:cSld>
  <p:clrMapOvr>
    <a:masterClrMapping/>
  </p:clrMapOvr>
  <p:transition>
    <p:spli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a16="http://schemas.microsoft.com/office/drawing/2014/main" id="{FE28B89A-4B68-C8D0-6A37-AA7663477815}"/>
              </a:ext>
            </a:extLst>
          </p:cNvPr>
          <p:cNvSpPr>
            <a:spLocks noGrp="1" noChangeArrowheads="1"/>
          </p:cNvSpPr>
          <p:nvPr>
            <p:ph type="title"/>
          </p:nvPr>
        </p:nvSpPr>
        <p:spPr>
          <a:xfrm>
            <a:off x="628650" y="365125"/>
            <a:ext cx="7886700" cy="1325563"/>
          </a:xfrm>
        </p:spPr>
        <p:txBody>
          <a:bodyPr/>
          <a:lstStyle/>
          <a:p>
            <a:r>
              <a:rPr lang="el-GR" altLang="zh-CN" dirty="0">
                <a:latin typeface="Times New Roman" panose="02020603050405020304" pitchFamily="18" charset="0"/>
                <a:cs typeface="Times New Roman" panose="02020603050405020304" pitchFamily="18" charset="0"/>
              </a:rPr>
              <a:t>Θ</a:t>
            </a:r>
            <a:r>
              <a:rPr lang="zh-CN" altLang="en-US" dirty="0"/>
              <a:t>记号</a:t>
            </a:r>
          </a:p>
        </p:txBody>
      </p:sp>
      <p:sp>
        <p:nvSpPr>
          <p:cNvPr id="79876" name="Rectangle 3">
            <a:extLst>
              <a:ext uri="{FF2B5EF4-FFF2-40B4-BE49-F238E27FC236}">
                <a16:creationId xmlns:a16="http://schemas.microsoft.com/office/drawing/2014/main" id="{F340014B-C430-D086-3E1E-81B7B25287FD}"/>
              </a:ext>
            </a:extLst>
          </p:cNvPr>
          <p:cNvSpPr>
            <a:spLocks noGrp="1" noChangeArrowheads="1"/>
          </p:cNvSpPr>
          <p:nvPr>
            <p:ph idx="1"/>
          </p:nvPr>
        </p:nvSpPr>
        <p:spPr>
          <a:xfrm>
            <a:off x="628650" y="1825625"/>
            <a:ext cx="7886700" cy="4351338"/>
          </a:xfrm>
        </p:spPr>
        <p:txBody>
          <a:bodyPr>
            <a:normAutofit fontScale="85000" lnSpcReduction="20000"/>
          </a:bodyPr>
          <a:lstStyle/>
          <a:p>
            <a:r>
              <a:rPr lang="zh-CN" altLang="en-US" dirty="0"/>
              <a:t>如果存在正常数 </a:t>
            </a:r>
            <a:r>
              <a:rPr lang="en-US" altLang="zh-CN" dirty="0"/>
              <a:t>a &lt; b, n</a:t>
            </a:r>
            <a:r>
              <a:rPr lang="en-US" altLang="zh-CN" baseline="-25000" dirty="0"/>
              <a:t>0</a:t>
            </a:r>
            <a:r>
              <a:rPr lang="en-US" altLang="zh-CN" dirty="0"/>
              <a:t>, </a:t>
            </a:r>
            <a:r>
              <a:rPr lang="zh-CN" altLang="en-US" dirty="0"/>
              <a:t>和一个函数</a:t>
            </a:r>
            <a:r>
              <a:rPr lang="en-US" altLang="zh-CN" dirty="0"/>
              <a:t>h(n)</a:t>
            </a:r>
            <a:r>
              <a:rPr lang="zh-CN" altLang="en-US" dirty="0"/>
              <a:t>，使得对所有 </a:t>
            </a:r>
            <a:r>
              <a:rPr lang="en-US" altLang="zh-CN" dirty="0"/>
              <a:t>n≥n</a:t>
            </a:r>
            <a:r>
              <a:rPr lang="en-US" altLang="zh-CN" baseline="-25000" dirty="0"/>
              <a:t>0</a:t>
            </a:r>
            <a:r>
              <a:rPr lang="en-US" altLang="zh-CN" dirty="0"/>
              <a:t> , </a:t>
            </a:r>
            <a:r>
              <a:rPr lang="zh-CN" altLang="en-US" dirty="0"/>
              <a:t>都有 </a:t>
            </a:r>
            <a:r>
              <a:rPr lang="en-US" altLang="zh-CN" dirty="0"/>
              <a:t>a*h(n) &lt; T(n) &lt; b*h(n)</a:t>
            </a:r>
            <a:r>
              <a:rPr lang="zh-CN" altLang="en-US" dirty="0"/>
              <a:t>，则称</a:t>
            </a:r>
            <a:r>
              <a:rPr lang="en-US" altLang="zh-CN" dirty="0"/>
              <a:t>h(n) </a:t>
            </a:r>
            <a:r>
              <a:rPr lang="zh-CN" altLang="en-US" dirty="0"/>
              <a:t>给出了</a:t>
            </a:r>
            <a:r>
              <a:rPr lang="en-US" altLang="zh-CN" dirty="0"/>
              <a:t>T(n)</a:t>
            </a:r>
            <a:r>
              <a:rPr lang="zh-CN" altLang="en-US" dirty="0"/>
              <a:t>的一个确界。记为</a:t>
            </a:r>
            <a:r>
              <a:rPr lang="en-US" altLang="zh-CN" dirty="0"/>
              <a:t>T(n)</a:t>
            </a:r>
            <a:r>
              <a:rPr lang="zh-CN" altLang="en-US" dirty="0"/>
              <a:t>＝</a:t>
            </a:r>
            <a:r>
              <a:rPr lang="el-GR" altLang="zh-CN" dirty="0">
                <a:latin typeface="Times New Roman" panose="02020603050405020304" pitchFamily="18" charset="0"/>
                <a:cs typeface="Times New Roman" panose="02020603050405020304" pitchFamily="18" charset="0"/>
              </a:rPr>
              <a:t>Θ</a:t>
            </a:r>
            <a:r>
              <a:rPr lang="en-US" altLang="zh-CN" dirty="0"/>
              <a:t>(h(n))</a:t>
            </a:r>
          </a:p>
          <a:p>
            <a:r>
              <a:rPr lang="el-GR" altLang="zh-CN" dirty="0">
                <a:latin typeface="Times New Roman" panose="02020603050405020304" pitchFamily="18" charset="0"/>
                <a:cs typeface="Times New Roman" panose="02020603050405020304" pitchFamily="18" charset="0"/>
              </a:rPr>
              <a:t>Θ</a:t>
            </a:r>
            <a:r>
              <a:rPr lang="zh-CN" altLang="en-US" dirty="0"/>
              <a:t>记号是对算法效率的一种准确估计，对于规模为 </a:t>
            </a:r>
            <a:r>
              <a:rPr lang="en-US" altLang="zh-CN" dirty="0"/>
              <a:t>n </a:t>
            </a:r>
            <a:r>
              <a:rPr lang="zh-CN" altLang="en-US" dirty="0"/>
              <a:t>的任意输入，算法的运行时间都与</a:t>
            </a:r>
            <a:r>
              <a:rPr lang="el-GR" altLang="zh-CN" dirty="0">
                <a:latin typeface="Times New Roman" panose="02020603050405020304" pitchFamily="18" charset="0"/>
                <a:cs typeface="Times New Roman" panose="02020603050405020304" pitchFamily="18" charset="0"/>
              </a:rPr>
              <a:t>Θ</a:t>
            </a:r>
            <a:r>
              <a:rPr lang="en-US" altLang="zh-CN" dirty="0"/>
              <a:t>(h(n)) </a:t>
            </a:r>
            <a:r>
              <a:rPr lang="zh-CN" altLang="en-US" dirty="0"/>
              <a:t>同阶。</a:t>
            </a:r>
          </a:p>
          <a:p>
            <a:r>
              <a:rPr lang="zh-CN" altLang="en-US" dirty="0">
                <a:latin typeface="Times New Roman" panose="02020603050405020304" pitchFamily="18" charset="0"/>
                <a:cs typeface="Times New Roman" panose="02020603050405020304" pitchFamily="18" charset="0"/>
                <a:sym typeface="Symbol" panose="05050102010706020507" pitchFamily="18" charset="2"/>
              </a:rPr>
              <a:t></a:t>
            </a:r>
            <a:r>
              <a:rPr lang="zh-CN" altLang="en-US" dirty="0"/>
              <a:t>含义的另一种表示</a:t>
            </a:r>
            <a:endParaRPr lang="zh-CN" altLang="en-US" dirty="0">
              <a:sym typeface="Symbol" panose="05050102010706020507" pitchFamily="18" charset="2"/>
            </a:endParaRPr>
          </a:p>
          <a:p>
            <a:pPr lvl="1"/>
            <a:r>
              <a:rPr lang="en-US" altLang="zh-CN" dirty="0">
                <a:sym typeface="Symbol" panose="05050102010706020507" pitchFamily="18" charset="2"/>
              </a:rPr>
              <a:t>T(n) = </a:t>
            </a:r>
            <a:r>
              <a:rPr lang="en-US" altLang="zh-CN" dirty="0">
                <a:latin typeface="Times New Roman" panose="02020603050405020304" pitchFamily="18" charset="0"/>
                <a:cs typeface="Times New Roman" panose="02020603050405020304" pitchFamily="18" charset="0"/>
                <a:sym typeface="Symbol" panose="05050102010706020507" pitchFamily="18" charset="2"/>
              </a:rPr>
              <a:t></a:t>
            </a:r>
            <a:r>
              <a:rPr lang="en-US" altLang="zh-CN" dirty="0">
                <a:sym typeface="Symbol" panose="05050102010706020507" pitchFamily="18" charset="2"/>
              </a:rPr>
              <a:t>(h(n)) </a:t>
            </a:r>
            <a:r>
              <a:rPr lang="zh-CN" altLang="en-US" dirty="0">
                <a:sym typeface="Symbol" panose="05050102010706020507" pitchFamily="18" charset="2"/>
              </a:rPr>
              <a:t>当且仅当</a:t>
            </a:r>
            <a:endParaRPr lang="en-US" altLang="zh-CN" dirty="0">
              <a:sym typeface="Symbol" panose="05050102010706020507" pitchFamily="18" charset="2"/>
            </a:endParaRPr>
          </a:p>
          <a:p>
            <a:pPr lvl="2"/>
            <a:r>
              <a:rPr lang="zh-CN" altLang="en-US" dirty="0">
                <a:sym typeface="Symbol" panose="05050102010706020507" pitchFamily="18" charset="2"/>
              </a:rPr>
              <a:t> </a:t>
            </a:r>
            <a:r>
              <a:rPr lang="en-US" altLang="zh-CN" dirty="0"/>
              <a:t>T(n) = O(h(n))</a:t>
            </a:r>
            <a:r>
              <a:rPr lang="en-US" altLang="zh-CN" dirty="0">
                <a:sym typeface="Symbol" panose="05050102010706020507" pitchFamily="18" charset="2"/>
              </a:rPr>
              <a:t> </a:t>
            </a:r>
            <a:r>
              <a:rPr lang="zh-CN" altLang="en-US" dirty="0">
                <a:sym typeface="Symbol" panose="05050102010706020507" pitchFamily="18" charset="2"/>
              </a:rPr>
              <a:t>且 </a:t>
            </a:r>
            <a:r>
              <a:rPr lang="en-US" altLang="zh-CN" dirty="0">
                <a:sym typeface="Symbol" panose="05050102010706020507" pitchFamily="18" charset="2"/>
              </a:rPr>
              <a:t>T(n) = (h(n)) </a:t>
            </a:r>
          </a:p>
          <a:p>
            <a:pPr lvl="1"/>
            <a:endParaRPr lang="en-US" altLang="zh-CN" dirty="0"/>
          </a:p>
        </p:txBody>
      </p:sp>
      <p:sp>
        <p:nvSpPr>
          <p:cNvPr id="5" name="灯片编号占位符 4">
            <a:extLst>
              <a:ext uri="{FF2B5EF4-FFF2-40B4-BE49-F238E27FC236}">
                <a16:creationId xmlns:a16="http://schemas.microsoft.com/office/drawing/2014/main" id="{BCD5A681-04C6-953F-7C5F-12141AE701B0}"/>
              </a:ext>
            </a:extLst>
          </p:cNvPr>
          <p:cNvSpPr>
            <a:spLocks noGrp="1"/>
          </p:cNvSpPr>
          <p:nvPr>
            <p:ph type="sldNum" sz="quarter" idx="12"/>
          </p:nvPr>
        </p:nvSpPr>
        <p:spPr/>
        <p:txBody>
          <a:bodyPr/>
          <a:lstStyle/>
          <a:p>
            <a:pPr>
              <a:defRPr/>
            </a:pPr>
            <a:fld id="{91DF78C9-BDB5-4343-8491-3B6F2A8FA5EA}" type="slidenum">
              <a:rPr lang="en-US" altLang="zh-CN" smtClean="0"/>
              <a:pPr>
                <a:defRPr/>
              </a:pPr>
              <a:t>70</a:t>
            </a:fld>
            <a:endParaRPr lang="en-US" altLang="zh-CN"/>
          </a:p>
        </p:txBody>
      </p:sp>
    </p:spTree>
  </p:cSld>
  <p:clrMapOvr>
    <a:masterClrMapping/>
  </p:clrMapOvr>
  <p:transition>
    <p:spli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3">
            <a:extLst>
              <a:ext uri="{FF2B5EF4-FFF2-40B4-BE49-F238E27FC236}">
                <a16:creationId xmlns:a16="http://schemas.microsoft.com/office/drawing/2014/main" id="{ACA389F6-8A93-4E68-8F15-FA7C4D86EC7D}"/>
              </a:ext>
            </a:extLst>
          </p:cNvPr>
          <p:cNvSpPr>
            <a:spLocks noGrp="1" noChangeArrowheads="1"/>
          </p:cNvSpPr>
          <p:nvPr>
            <p:ph type="title"/>
          </p:nvPr>
        </p:nvSpPr>
        <p:spPr/>
        <p:txBody>
          <a:bodyPr/>
          <a:lstStyle/>
          <a:p>
            <a:pPr eaLnBrk="1" hangingPunct="1"/>
            <a:r>
              <a:rPr lang="zh-CN" altLang="en-US"/>
              <a:t>渐进的</a:t>
            </a:r>
            <a:r>
              <a:rPr lang="zh-CN" altLang="en-US" b="1"/>
              <a:t>空间</a:t>
            </a:r>
            <a:r>
              <a:rPr lang="zh-CN" altLang="en-US"/>
              <a:t>复杂度</a:t>
            </a:r>
          </a:p>
        </p:txBody>
      </p:sp>
      <p:sp>
        <p:nvSpPr>
          <p:cNvPr id="104451" name="内容占位符 4">
            <a:extLst>
              <a:ext uri="{FF2B5EF4-FFF2-40B4-BE49-F238E27FC236}">
                <a16:creationId xmlns:a16="http://schemas.microsoft.com/office/drawing/2014/main" id="{51519768-DB17-4310-B8DE-CEF37D6619BE}"/>
              </a:ext>
            </a:extLst>
          </p:cNvPr>
          <p:cNvSpPr>
            <a:spLocks noGrp="1" noChangeArrowheads="1"/>
          </p:cNvSpPr>
          <p:nvPr>
            <p:ph idx="1"/>
          </p:nvPr>
        </p:nvSpPr>
        <p:spPr/>
        <p:txBody>
          <a:bodyPr>
            <a:normAutofit fontScale="77500" lnSpcReduction="20000"/>
          </a:bodyPr>
          <a:lstStyle/>
          <a:p>
            <a:pPr eaLnBrk="1" hangingPunct="1">
              <a:defRPr/>
            </a:pPr>
            <a:r>
              <a:rPr lang="zh-CN" altLang="en-US" dirty="0"/>
              <a:t>与时间复杂度的分析方法类似。</a:t>
            </a:r>
          </a:p>
          <a:p>
            <a:pPr lvl="1" eaLnBrk="1" hangingPunct="1">
              <a:defRPr/>
            </a:pPr>
            <a:r>
              <a:rPr lang="zh-CN" altLang="en-US" dirty="0"/>
              <a:t>存储空间大小怎样随着实例特性</a:t>
            </a:r>
            <a:r>
              <a:rPr lang="en-US" altLang="zh-CN" dirty="0"/>
              <a:t>n</a:t>
            </a:r>
            <a:r>
              <a:rPr lang="zh-CN" altLang="en-US" dirty="0"/>
              <a:t>变化</a:t>
            </a:r>
          </a:p>
          <a:p>
            <a:pPr lvl="2" eaLnBrk="1" hangingPunct="1">
              <a:defRPr/>
            </a:pPr>
            <a:r>
              <a:rPr lang="zh-CN" altLang="en-US" dirty="0"/>
              <a:t>主要指为解决问题所需要的辅助存储空间，例如交换数据时所需要的临时存储空间。</a:t>
            </a:r>
          </a:p>
          <a:p>
            <a:pPr lvl="2" eaLnBrk="1" hangingPunct="1">
              <a:defRPr/>
            </a:pPr>
            <a:r>
              <a:rPr lang="zh-CN" altLang="en-US" dirty="0"/>
              <a:t>不包括程序指令</a:t>
            </a:r>
            <a:r>
              <a:rPr lang="zh-CN" altLang="en-US"/>
              <a:t>、常数等</a:t>
            </a:r>
            <a:r>
              <a:rPr lang="zh-CN" altLang="en-US" dirty="0"/>
              <a:t>所需要的存储空间（这些是固定的）；也不包括输入数据所占用的存储空间；</a:t>
            </a:r>
          </a:p>
          <a:p>
            <a:pPr lvl="1" eaLnBrk="1" hangingPunct="1">
              <a:defRPr/>
            </a:pPr>
            <a:r>
              <a:rPr lang="zh-CN" altLang="en-US" dirty="0"/>
              <a:t>同样可用大</a:t>
            </a:r>
            <a:r>
              <a:rPr lang="en-US" altLang="zh-CN" dirty="0"/>
              <a:t>O</a:t>
            </a:r>
            <a:r>
              <a:rPr lang="zh-CN" altLang="en-US" dirty="0"/>
              <a:t>表示法</a:t>
            </a:r>
          </a:p>
          <a:p>
            <a:pPr lvl="2" eaLnBrk="1" hangingPunct="1">
              <a:defRPr/>
            </a:pPr>
            <a:r>
              <a:rPr lang="zh-CN" altLang="en-US" dirty="0"/>
              <a:t>设</a:t>
            </a:r>
            <a:r>
              <a:rPr lang="en-US" altLang="zh-CN" dirty="0"/>
              <a:t>S(n)</a:t>
            </a:r>
            <a:r>
              <a:rPr lang="zh-CN" altLang="en-US" dirty="0"/>
              <a:t>是算法渐进空间复杂度，在最坏情况下，可以表示为</a:t>
            </a:r>
            <a:r>
              <a:rPr lang="en-US" altLang="zh-CN" dirty="0"/>
              <a:t>n</a:t>
            </a:r>
            <a:r>
              <a:rPr lang="zh-CN" altLang="en-US" dirty="0"/>
              <a:t>的某个函数</a:t>
            </a:r>
            <a:r>
              <a:rPr lang="en-US" altLang="zh-CN" dirty="0"/>
              <a:t>f(n)</a:t>
            </a:r>
            <a:r>
              <a:rPr lang="zh-CN" altLang="en-US" dirty="0"/>
              <a:t>的数量级：</a:t>
            </a:r>
            <a:r>
              <a:rPr lang="en-US" altLang="zh-CN" dirty="0"/>
              <a:t>S(n)=O(f(n)) </a:t>
            </a:r>
          </a:p>
          <a:p>
            <a:pPr lvl="1" eaLnBrk="1" hangingPunct="1">
              <a:defRPr/>
            </a:pPr>
            <a:r>
              <a:rPr lang="zh-CN" altLang="en-US" dirty="0"/>
              <a:t>例如前面的程序中</a:t>
            </a:r>
            <a:endParaRPr lang="en-US" altLang="zh-CN" dirty="0"/>
          </a:p>
          <a:p>
            <a:pPr lvl="2" eaLnBrk="1" hangingPunct="1">
              <a:defRPr/>
            </a:pPr>
            <a:r>
              <a:rPr lang="zh-CN" altLang="en-US" dirty="0"/>
              <a:t>迭代求和函数的空间复杂度为</a:t>
            </a:r>
            <a:r>
              <a:rPr lang="en-US" altLang="zh-CN" dirty="0"/>
              <a:t>O(1)</a:t>
            </a:r>
          </a:p>
          <a:p>
            <a:pPr lvl="2" eaLnBrk="1" hangingPunct="1">
              <a:defRPr/>
            </a:pPr>
            <a:r>
              <a:rPr lang="zh-CN" altLang="en-US" dirty="0"/>
              <a:t>递归求和函数由于递归深度为</a:t>
            </a:r>
            <a:r>
              <a:rPr lang="en-US" altLang="zh-CN" dirty="0"/>
              <a:t>n+1</a:t>
            </a:r>
            <a:r>
              <a:rPr lang="zh-CN" altLang="en-US" dirty="0"/>
              <a:t>，其空间复杂度为</a:t>
            </a:r>
            <a:r>
              <a:rPr lang="en-US" altLang="zh-CN" dirty="0"/>
              <a:t>O(n)</a:t>
            </a:r>
          </a:p>
        </p:txBody>
      </p:sp>
      <p:sp>
        <p:nvSpPr>
          <p:cNvPr id="2" name="灯片编号占位符 1">
            <a:extLst>
              <a:ext uri="{FF2B5EF4-FFF2-40B4-BE49-F238E27FC236}">
                <a16:creationId xmlns:a16="http://schemas.microsoft.com/office/drawing/2014/main" id="{182EE43E-4668-4F9A-B881-E22437D2C079}"/>
              </a:ext>
            </a:extLst>
          </p:cNvPr>
          <p:cNvSpPr>
            <a:spLocks noGrp="1"/>
          </p:cNvSpPr>
          <p:nvPr>
            <p:ph type="sldNum" sz="quarter" idx="12"/>
          </p:nvPr>
        </p:nvSpPr>
        <p:spPr/>
        <p:txBody>
          <a:bodyPr/>
          <a:lstStyle/>
          <a:p>
            <a:pPr>
              <a:defRPr/>
            </a:pPr>
            <a:fld id="{B28AB444-EC42-44F5-BA24-3821E97A7B3F}" type="slidenum">
              <a:rPr lang="en-US" altLang="zh-CN" smtClean="0"/>
              <a:pPr>
                <a:defRPr/>
              </a:pPr>
              <a:t>71</a:t>
            </a:fld>
            <a:endParaRPr lang="en-US" altLang="zh-CN"/>
          </a:p>
        </p:txBody>
      </p:sp>
    </p:spTree>
  </p:cSld>
  <p:clrMapOvr>
    <a:masterClrMapping/>
  </p:clrMapOvr>
  <p:transition>
    <p:spli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4428ACCA-38BD-4770-AEF5-F4D8CC4C72D4}"/>
              </a:ext>
            </a:extLst>
          </p:cNvPr>
          <p:cNvSpPr>
            <a:spLocks noGrp="1" noChangeArrowheads="1"/>
          </p:cNvSpPr>
          <p:nvPr>
            <p:ph type="title"/>
          </p:nvPr>
        </p:nvSpPr>
        <p:spPr>
          <a:xfrm>
            <a:off x="628650" y="365125"/>
            <a:ext cx="7886700" cy="1325563"/>
          </a:xfrm>
        </p:spPr>
        <p:txBody>
          <a:bodyPr/>
          <a:lstStyle/>
          <a:p>
            <a:r>
              <a:rPr lang="zh-CN" altLang="en-US" dirty="0"/>
              <a:t>小结</a:t>
            </a:r>
          </a:p>
        </p:txBody>
      </p:sp>
      <p:sp>
        <p:nvSpPr>
          <p:cNvPr id="101379" name="Rectangle 3">
            <a:extLst>
              <a:ext uri="{FF2B5EF4-FFF2-40B4-BE49-F238E27FC236}">
                <a16:creationId xmlns:a16="http://schemas.microsoft.com/office/drawing/2014/main" id="{403CF5EB-A2BE-404C-9493-21F13A06B6D6}"/>
              </a:ext>
            </a:extLst>
          </p:cNvPr>
          <p:cNvSpPr>
            <a:spLocks noGrp="1" noChangeArrowheads="1"/>
          </p:cNvSpPr>
          <p:nvPr>
            <p:ph idx="1"/>
          </p:nvPr>
        </p:nvSpPr>
        <p:spPr>
          <a:xfrm>
            <a:off x="628650" y="1825625"/>
            <a:ext cx="7886700" cy="4351338"/>
          </a:xfrm>
        </p:spPr>
        <p:txBody>
          <a:bodyPr/>
          <a:lstStyle/>
          <a:p>
            <a:r>
              <a:rPr lang="zh-CN" altLang="en-US" dirty="0"/>
              <a:t>本章主要内容</a:t>
            </a:r>
            <a:endParaRPr lang="en-US" altLang="zh-CN" dirty="0"/>
          </a:p>
          <a:p>
            <a:pPr lvl="1"/>
            <a:r>
              <a:rPr lang="zh-CN" altLang="en-US" dirty="0"/>
              <a:t>数据结构的定义，算法的定义，二者的关系。</a:t>
            </a:r>
            <a:endParaRPr lang="en-US" altLang="zh-CN" dirty="0"/>
          </a:p>
          <a:p>
            <a:pPr lvl="1"/>
            <a:r>
              <a:rPr lang="zh-CN" altLang="en-US" dirty="0"/>
              <a:t>算法的性能分析与度量，特别是其中的大</a:t>
            </a:r>
            <a:r>
              <a:rPr lang="en-US" altLang="zh-CN" dirty="0"/>
              <a:t>O</a:t>
            </a:r>
            <a:r>
              <a:rPr lang="zh-CN" altLang="en-US" dirty="0"/>
              <a:t>表示法。</a:t>
            </a:r>
          </a:p>
          <a:p>
            <a:pPr lvl="2"/>
            <a:r>
              <a:rPr lang="zh-CN" altLang="en-US" dirty="0"/>
              <a:t>是本章的重点。</a:t>
            </a:r>
          </a:p>
        </p:txBody>
      </p:sp>
      <p:sp>
        <p:nvSpPr>
          <p:cNvPr id="2" name="灯片编号占位符 1">
            <a:extLst>
              <a:ext uri="{FF2B5EF4-FFF2-40B4-BE49-F238E27FC236}">
                <a16:creationId xmlns:a16="http://schemas.microsoft.com/office/drawing/2014/main" id="{1CF276F4-F25D-4337-90EC-849012765DB1}"/>
              </a:ext>
            </a:extLst>
          </p:cNvPr>
          <p:cNvSpPr>
            <a:spLocks noGrp="1"/>
          </p:cNvSpPr>
          <p:nvPr>
            <p:ph type="sldNum" sz="quarter" idx="12"/>
          </p:nvPr>
        </p:nvSpPr>
        <p:spPr>
          <a:xfrm>
            <a:off x="6457950" y="6356350"/>
            <a:ext cx="2057400" cy="365125"/>
          </a:xfrm>
        </p:spPr>
        <p:txBody>
          <a:bodyPr/>
          <a:lstStyle/>
          <a:p>
            <a:fld id="{D5FAA33A-5C49-44A0-AC72-A180AFF1D430}" type="slidenum">
              <a:rPr lang="en-US" altLang="zh-CN" smtClean="0"/>
              <a:pPr/>
              <a:t>72</a:t>
            </a:fld>
            <a:endParaRPr lang="en-US" altLang="zh-CN"/>
          </a:p>
        </p:txBody>
      </p:sp>
    </p:spTree>
  </p:cSld>
  <p:clrMapOvr>
    <a:masterClrMapping/>
  </p:clrMapOvr>
  <p:transition>
    <p:spli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a:extLst>
              <a:ext uri="{FF2B5EF4-FFF2-40B4-BE49-F238E27FC236}">
                <a16:creationId xmlns:a16="http://schemas.microsoft.com/office/drawing/2014/main" id="{23FC84EA-80D3-4752-B739-3B4A28FCE1D2}"/>
              </a:ext>
            </a:extLst>
          </p:cNvPr>
          <p:cNvSpPr>
            <a:spLocks noGrp="1" noChangeArrowheads="1"/>
          </p:cNvSpPr>
          <p:nvPr>
            <p:ph type="title"/>
          </p:nvPr>
        </p:nvSpPr>
        <p:spPr/>
        <p:txBody>
          <a:bodyPr/>
          <a:lstStyle/>
          <a:p>
            <a:pPr eaLnBrk="1" hangingPunct="1"/>
            <a:r>
              <a:rPr lang="zh-CN" altLang="en-US"/>
              <a:t>常见题型</a:t>
            </a:r>
          </a:p>
        </p:txBody>
      </p:sp>
      <p:sp>
        <p:nvSpPr>
          <p:cNvPr id="103427" name="内容占位符 2">
            <a:extLst>
              <a:ext uri="{FF2B5EF4-FFF2-40B4-BE49-F238E27FC236}">
                <a16:creationId xmlns:a16="http://schemas.microsoft.com/office/drawing/2014/main" id="{89E11631-3E9F-4080-99C5-452DC74F379C}"/>
              </a:ext>
            </a:extLst>
          </p:cNvPr>
          <p:cNvSpPr>
            <a:spLocks noGrp="1" noChangeArrowheads="1"/>
          </p:cNvSpPr>
          <p:nvPr>
            <p:ph idx="1"/>
          </p:nvPr>
        </p:nvSpPr>
        <p:spPr/>
        <p:txBody>
          <a:bodyPr/>
          <a:lstStyle/>
          <a:p>
            <a:pPr eaLnBrk="1" hangingPunct="1"/>
            <a:r>
              <a:rPr lang="zh-CN" altLang="en-US"/>
              <a:t>时间复杂度分析</a:t>
            </a:r>
          </a:p>
        </p:txBody>
      </p:sp>
      <p:sp>
        <p:nvSpPr>
          <p:cNvPr id="2" name="灯片编号占位符 1">
            <a:extLst>
              <a:ext uri="{FF2B5EF4-FFF2-40B4-BE49-F238E27FC236}">
                <a16:creationId xmlns:a16="http://schemas.microsoft.com/office/drawing/2014/main" id="{6FA0F42B-B1A9-4F98-BC2C-AE0B8CB94B64}"/>
              </a:ext>
            </a:extLst>
          </p:cNvPr>
          <p:cNvSpPr>
            <a:spLocks noGrp="1"/>
          </p:cNvSpPr>
          <p:nvPr>
            <p:ph type="sldNum" sz="quarter" idx="12"/>
          </p:nvPr>
        </p:nvSpPr>
        <p:spPr/>
        <p:txBody>
          <a:bodyPr/>
          <a:lstStyle/>
          <a:p>
            <a:pPr>
              <a:defRPr/>
            </a:pPr>
            <a:fld id="{9A0F35CB-3F3A-4888-8259-0E9C10AA28F2}" type="slidenum">
              <a:rPr lang="en-US" altLang="zh-CN" smtClean="0"/>
              <a:pPr>
                <a:defRPr/>
              </a:pPr>
              <a:t>73</a:t>
            </a:fld>
            <a:endParaRPr lang="en-US" altLang="zh-CN"/>
          </a:p>
        </p:txBody>
      </p:sp>
    </p:spTree>
  </p:cSld>
  <p:clrMapOvr>
    <a:masterClrMapping/>
  </p:clrMapOvr>
  <p:transition>
    <p:spli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a:extLst>
              <a:ext uri="{FF2B5EF4-FFF2-40B4-BE49-F238E27FC236}">
                <a16:creationId xmlns:a16="http://schemas.microsoft.com/office/drawing/2014/main" id="{5ED20CE3-062E-48B6-A37D-182186545163}"/>
              </a:ext>
            </a:extLst>
          </p:cNvPr>
          <p:cNvSpPr>
            <a:spLocks noGrp="1" noChangeArrowheads="1"/>
          </p:cNvSpPr>
          <p:nvPr>
            <p:ph type="title"/>
          </p:nvPr>
        </p:nvSpPr>
        <p:spPr/>
        <p:txBody>
          <a:bodyPr/>
          <a:lstStyle/>
          <a:p>
            <a:pPr eaLnBrk="1" hangingPunct="1"/>
            <a:r>
              <a:rPr lang="zh-CN" altLang="en-US" dirty="0"/>
              <a:t>第</a:t>
            </a:r>
            <a:r>
              <a:rPr lang="en-US" altLang="zh-CN" dirty="0"/>
              <a:t>1</a:t>
            </a:r>
            <a:r>
              <a:rPr lang="zh-CN" altLang="en-US" dirty="0"/>
              <a:t>章作业（一）</a:t>
            </a:r>
          </a:p>
        </p:txBody>
      </p:sp>
      <p:sp>
        <p:nvSpPr>
          <p:cNvPr id="3" name="内容占位符 2">
            <a:extLst>
              <a:ext uri="{FF2B5EF4-FFF2-40B4-BE49-F238E27FC236}">
                <a16:creationId xmlns:a16="http://schemas.microsoft.com/office/drawing/2014/main" id="{290C502E-F2F0-4CBE-9BC0-BA66E31F19B9}"/>
              </a:ext>
            </a:extLst>
          </p:cNvPr>
          <p:cNvSpPr>
            <a:spLocks noGrp="1"/>
          </p:cNvSpPr>
          <p:nvPr>
            <p:ph idx="1"/>
          </p:nvPr>
        </p:nvSpPr>
        <p:spPr/>
        <p:txBody>
          <a:bodyPr rtlCol="0">
            <a:normAutofit fontScale="40000" lnSpcReduction="20000"/>
          </a:bodyPr>
          <a:lstStyle/>
          <a:p>
            <a:r>
              <a:rPr lang="zh-CN" altLang="en-US" dirty="0"/>
              <a:t>设</a:t>
            </a:r>
            <a:r>
              <a:rPr lang="en-US" altLang="zh-CN" dirty="0"/>
              <a:t>n</a:t>
            </a:r>
            <a:r>
              <a:rPr lang="zh-CN" altLang="en-US" dirty="0"/>
              <a:t>为正整数，分析下列程序段中加下划线的语句的程序步数</a:t>
            </a:r>
          </a:p>
          <a:p>
            <a:r>
              <a:rPr lang="zh-CN" altLang="en-US" dirty="0"/>
              <a:t>（</a:t>
            </a:r>
            <a:r>
              <a:rPr lang="en-US" altLang="zh-CN" dirty="0"/>
              <a:t>1</a:t>
            </a:r>
            <a:r>
              <a:rPr lang="zh-CN" altLang="en-US" dirty="0"/>
              <a:t>）</a:t>
            </a:r>
            <a:r>
              <a:rPr lang="en-US" altLang="zh-CN" dirty="0"/>
              <a:t>x=0; </a:t>
            </a:r>
          </a:p>
          <a:p>
            <a:pPr marL="0" indent="0">
              <a:buNone/>
            </a:pPr>
            <a:r>
              <a:rPr lang="en-US" altLang="zh-CN" dirty="0"/>
              <a:t>           for(int </a:t>
            </a:r>
            <a:r>
              <a:rPr lang="en-US" altLang="zh-CN" dirty="0" err="1"/>
              <a:t>i</a:t>
            </a:r>
            <a:r>
              <a:rPr lang="en-US" altLang="zh-CN" dirty="0"/>
              <a:t>=1;i&lt;=</a:t>
            </a:r>
            <a:r>
              <a:rPr lang="en-US" altLang="zh-CN" dirty="0" err="1"/>
              <a:t>n;i</a:t>
            </a:r>
            <a:r>
              <a:rPr lang="en-US" altLang="zh-CN" dirty="0"/>
              <a:t>++)</a:t>
            </a:r>
          </a:p>
          <a:p>
            <a:pPr marL="0" indent="0">
              <a:buNone/>
            </a:pPr>
            <a:r>
              <a:rPr lang="en-US" altLang="zh-CN" dirty="0"/>
              <a:t>              for(int j=1;j&lt;=</a:t>
            </a:r>
            <a:r>
              <a:rPr lang="en-US" altLang="zh-CN" dirty="0" err="1"/>
              <a:t>i;j</a:t>
            </a:r>
            <a:r>
              <a:rPr lang="en-US" altLang="zh-CN" dirty="0"/>
              <a:t>++) </a:t>
            </a:r>
            <a:r>
              <a:rPr lang="en-US" altLang="zh-CN" u="sng" dirty="0"/>
              <a:t>x=</a:t>
            </a:r>
            <a:r>
              <a:rPr lang="en-US" altLang="zh-CN" u="sng" dirty="0" err="1"/>
              <a:t>x+i</a:t>
            </a:r>
            <a:r>
              <a:rPr lang="en-US" altLang="zh-CN" dirty="0"/>
              <a:t>;</a:t>
            </a:r>
          </a:p>
          <a:p>
            <a:r>
              <a:rPr lang="zh-CN" altLang="en-US" dirty="0"/>
              <a:t>（</a:t>
            </a:r>
            <a:r>
              <a:rPr lang="en-US" altLang="zh-CN" dirty="0"/>
              <a:t>2</a:t>
            </a:r>
            <a:r>
              <a:rPr lang="zh-CN" altLang="en-US" dirty="0"/>
              <a:t>）</a:t>
            </a:r>
            <a:r>
              <a:rPr lang="en-US" altLang="zh-CN" dirty="0"/>
              <a:t>x=0; y=0;</a:t>
            </a:r>
          </a:p>
          <a:p>
            <a:pPr marL="0" indent="0">
              <a:buNone/>
            </a:pPr>
            <a:r>
              <a:rPr lang="en-US" altLang="zh-CN" dirty="0"/>
              <a:t>           for(int </a:t>
            </a:r>
            <a:r>
              <a:rPr lang="en-US" altLang="zh-CN" dirty="0" err="1"/>
              <a:t>i</a:t>
            </a:r>
            <a:r>
              <a:rPr lang="en-US" altLang="zh-CN" dirty="0"/>
              <a:t>=1;i&lt;=</a:t>
            </a:r>
            <a:r>
              <a:rPr lang="en-US" altLang="zh-CN" dirty="0" err="1"/>
              <a:t>n;i</a:t>
            </a:r>
            <a:r>
              <a:rPr lang="en-US" altLang="zh-CN" dirty="0"/>
              <a:t>++)</a:t>
            </a:r>
          </a:p>
          <a:p>
            <a:pPr marL="0" indent="0">
              <a:buNone/>
            </a:pPr>
            <a:r>
              <a:rPr lang="en-US" altLang="zh-CN" dirty="0"/>
              <a:t>              for(int j=1;j&lt;=</a:t>
            </a:r>
            <a:r>
              <a:rPr lang="en-US" altLang="zh-CN" dirty="0" err="1"/>
              <a:t>i;j</a:t>
            </a:r>
            <a:r>
              <a:rPr lang="en-US" altLang="zh-CN" dirty="0"/>
              <a:t>++)</a:t>
            </a:r>
          </a:p>
          <a:p>
            <a:pPr marL="0" indent="0">
              <a:buNone/>
            </a:pPr>
            <a:r>
              <a:rPr lang="en-US" altLang="zh-CN" dirty="0"/>
              <a:t>                  for(int k=1;k&lt;=</a:t>
            </a:r>
            <a:r>
              <a:rPr lang="en-US" altLang="zh-CN" dirty="0" err="1"/>
              <a:t>j;k</a:t>
            </a:r>
            <a:r>
              <a:rPr lang="en-US" altLang="zh-CN" dirty="0"/>
              <a:t>++)  </a:t>
            </a:r>
            <a:r>
              <a:rPr lang="en-US" altLang="zh-CN" u="sng" dirty="0"/>
              <a:t>x=</a:t>
            </a:r>
            <a:r>
              <a:rPr lang="en-US" altLang="zh-CN" u="sng" dirty="0" err="1"/>
              <a:t>x+y</a:t>
            </a:r>
            <a:r>
              <a:rPr lang="en-US" altLang="zh-CN" dirty="0"/>
              <a:t>;</a:t>
            </a:r>
          </a:p>
          <a:p>
            <a:r>
              <a:rPr lang="zh-CN" altLang="en-US" dirty="0"/>
              <a:t>（</a:t>
            </a:r>
            <a:r>
              <a:rPr lang="en-US" altLang="zh-CN" dirty="0"/>
              <a:t>3</a:t>
            </a:r>
            <a:r>
              <a:rPr lang="zh-CN" altLang="en-US" dirty="0"/>
              <a:t>）</a:t>
            </a:r>
            <a:r>
              <a:rPr lang="en-US" altLang="zh-CN" dirty="0"/>
              <a:t>x=0; </a:t>
            </a:r>
          </a:p>
          <a:p>
            <a:pPr marL="0" indent="0">
              <a:buNone/>
            </a:pPr>
            <a:r>
              <a:rPr lang="en-US" altLang="zh-CN" dirty="0"/>
              <a:t>           for(int </a:t>
            </a:r>
            <a:r>
              <a:rPr lang="en-US" altLang="zh-CN" dirty="0" err="1"/>
              <a:t>i</a:t>
            </a:r>
            <a:r>
              <a:rPr lang="en-US" altLang="zh-CN" dirty="0"/>
              <a:t>=1;i&lt;=</a:t>
            </a:r>
            <a:r>
              <a:rPr lang="en-US" altLang="zh-CN" dirty="0" err="1"/>
              <a:t>n;i</a:t>
            </a:r>
            <a:r>
              <a:rPr lang="en-US" altLang="zh-CN" dirty="0"/>
              <a:t>++)</a:t>
            </a:r>
          </a:p>
          <a:p>
            <a:pPr marL="0" indent="0">
              <a:buNone/>
            </a:pPr>
            <a:r>
              <a:rPr lang="en-US" altLang="zh-CN" dirty="0"/>
              <a:t>              for(int j=1;j&lt;=</a:t>
            </a:r>
            <a:r>
              <a:rPr lang="en-US" altLang="zh-CN" dirty="0" err="1"/>
              <a:t>n;j</a:t>
            </a:r>
            <a:r>
              <a:rPr lang="en-US" altLang="zh-CN" dirty="0"/>
              <a:t>++)</a:t>
            </a:r>
          </a:p>
          <a:p>
            <a:pPr marL="0" indent="0">
              <a:buNone/>
            </a:pPr>
            <a:r>
              <a:rPr lang="en-US" altLang="zh-CN" dirty="0"/>
              <a:t>                  for(int k=1;k&lt;=</a:t>
            </a:r>
            <a:r>
              <a:rPr lang="en-US" altLang="zh-CN" dirty="0" err="1"/>
              <a:t>n;k</a:t>
            </a:r>
            <a:r>
              <a:rPr lang="en-US" altLang="zh-CN" dirty="0"/>
              <a:t>++)  </a:t>
            </a:r>
            <a:r>
              <a:rPr lang="en-US" altLang="zh-CN" u="sng" dirty="0"/>
              <a:t>x=</a:t>
            </a:r>
            <a:r>
              <a:rPr lang="en-US" altLang="zh-CN" u="sng" dirty="0" err="1"/>
              <a:t>x+i</a:t>
            </a:r>
            <a:r>
              <a:rPr lang="en-US" altLang="zh-CN" dirty="0"/>
              <a:t>;</a:t>
            </a:r>
          </a:p>
          <a:p>
            <a:r>
              <a:rPr lang="zh-CN" altLang="en-US" dirty="0"/>
              <a:t>（</a:t>
            </a:r>
            <a:r>
              <a:rPr lang="en-US" altLang="zh-CN" dirty="0"/>
              <a:t>4</a:t>
            </a:r>
            <a:r>
              <a:rPr lang="zh-CN" altLang="en-US" dirty="0"/>
              <a:t>）</a:t>
            </a:r>
            <a:r>
              <a:rPr lang="en-US" altLang="zh-CN" dirty="0"/>
              <a:t>int  </a:t>
            </a:r>
            <a:r>
              <a:rPr lang="en-US" altLang="zh-CN" dirty="0" err="1"/>
              <a:t>i</a:t>
            </a:r>
            <a:r>
              <a:rPr lang="en-US" altLang="zh-CN" dirty="0"/>
              <a:t>=1, j=1;</a:t>
            </a:r>
          </a:p>
          <a:p>
            <a:pPr marL="0" indent="0">
              <a:buNone/>
            </a:pPr>
            <a:r>
              <a:rPr lang="en-US" altLang="zh-CN" dirty="0"/>
              <a:t>           while(</a:t>
            </a:r>
            <a:r>
              <a:rPr lang="en-US" altLang="zh-CN" dirty="0" err="1"/>
              <a:t>i</a:t>
            </a:r>
            <a:r>
              <a:rPr lang="en-US" altLang="zh-CN" dirty="0"/>
              <a:t>&lt;=n&amp;&amp;j&lt;=n) {</a:t>
            </a:r>
            <a:r>
              <a:rPr lang="en-US" altLang="zh-CN" u="sng" dirty="0" err="1"/>
              <a:t>i</a:t>
            </a:r>
            <a:r>
              <a:rPr lang="en-US" altLang="zh-CN" u="sng" dirty="0"/>
              <a:t>=i+1</a:t>
            </a:r>
            <a:r>
              <a:rPr lang="en-US" altLang="zh-CN" dirty="0"/>
              <a:t>; j=</a:t>
            </a:r>
            <a:r>
              <a:rPr lang="en-US" altLang="zh-CN" dirty="0" err="1"/>
              <a:t>j+i</a:t>
            </a:r>
            <a:r>
              <a:rPr lang="en-US" altLang="zh-CN" dirty="0"/>
              <a:t>;  }</a:t>
            </a:r>
          </a:p>
        </p:txBody>
      </p:sp>
      <p:sp>
        <p:nvSpPr>
          <p:cNvPr id="2" name="灯片编号占位符 1">
            <a:extLst>
              <a:ext uri="{FF2B5EF4-FFF2-40B4-BE49-F238E27FC236}">
                <a16:creationId xmlns:a16="http://schemas.microsoft.com/office/drawing/2014/main" id="{9C3670A2-5694-4994-A218-33B5E6AE0DBD}"/>
              </a:ext>
            </a:extLst>
          </p:cNvPr>
          <p:cNvSpPr>
            <a:spLocks noGrp="1"/>
          </p:cNvSpPr>
          <p:nvPr>
            <p:ph type="sldNum" sz="quarter" idx="12"/>
          </p:nvPr>
        </p:nvSpPr>
        <p:spPr/>
        <p:txBody>
          <a:bodyPr/>
          <a:lstStyle/>
          <a:p>
            <a:pPr>
              <a:defRPr/>
            </a:pPr>
            <a:fld id="{4716DB47-F571-487A-B9DC-74A2943D7D21}" type="slidenum">
              <a:rPr lang="en-US" altLang="zh-CN" smtClean="0"/>
              <a:pPr>
                <a:defRPr/>
              </a:pPr>
              <a:t>74</a:t>
            </a:fld>
            <a:endParaRPr lang="en-US" altLang="zh-CN"/>
          </a:p>
        </p:txBody>
      </p:sp>
    </p:spTree>
  </p:cSld>
  <p:clrMapOvr>
    <a:masterClrMapping/>
  </p:clrMapOvr>
  <p:transition>
    <p:spli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3D58A243-341D-4299-A6DA-3428F781F423}"/>
              </a:ext>
            </a:extLst>
          </p:cNvPr>
          <p:cNvSpPr>
            <a:spLocks noGrp="1"/>
          </p:cNvSpPr>
          <p:nvPr>
            <p:ph type="title"/>
          </p:nvPr>
        </p:nvSpPr>
        <p:spPr/>
        <p:txBody>
          <a:bodyPr/>
          <a:lstStyle/>
          <a:p>
            <a:r>
              <a:rPr lang="zh-CN" altLang="en-US" dirty="0"/>
              <a:t>第</a:t>
            </a:r>
            <a:r>
              <a:rPr lang="en-US" altLang="zh-CN" dirty="0"/>
              <a:t>1</a:t>
            </a:r>
            <a:r>
              <a:rPr lang="zh-CN" altLang="en-US" dirty="0"/>
              <a:t>章作业（二）</a:t>
            </a:r>
          </a:p>
        </p:txBody>
      </p:sp>
      <p:sp>
        <p:nvSpPr>
          <p:cNvPr id="4" name="内容占位符 3"/>
          <p:cNvSpPr>
            <a:spLocks noGrp="1"/>
          </p:cNvSpPr>
          <p:nvPr>
            <p:ph idx="1"/>
          </p:nvPr>
        </p:nvSpPr>
        <p:spPr>
          <a:xfrm>
            <a:off x="628650" y="1825625"/>
            <a:ext cx="8119814" cy="4351338"/>
          </a:xfrm>
        </p:spPr>
        <p:txBody>
          <a:bodyPr/>
          <a:lstStyle/>
          <a:p>
            <a:r>
              <a:rPr lang="zh-CN" altLang="zh-CN" sz="2800" dirty="0"/>
              <a:t>求多项式</a:t>
            </a:r>
            <a:r>
              <a:rPr lang="en-US" altLang="zh-CN" sz="2800" dirty="0"/>
              <a:t>A(x)</a:t>
            </a:r>
            <a:r>
              <a:rPr lang="zh-CN" altLang="zh-CN" sz="2800" dirty="0"/>
              <a:t>的算法可根据下列两个公式之一来设计</a:t>
            </a:r>
            <a:r>
              <a:rPr lang="zh-CN" altLang="en-US" sz="2800" dirty="0"/>
              <a:t>，分析</a:t>
            </a:r>
            <a:r>
              <a:rPr lang="zh-CN" altLang="zh-CN" sz="2800" dirty="0"/>
              <a:t>比较这两种算法</a:t>
            </a:r>
            <a:r>
              <a:rPr lang="zh-CN" altLang="en-US" sz="2800"/>
              <a:t>各需要多少次加法和乘法计算</a:t>
            </a:r>
            <a:r>
              <a:rPr lang="zh-CN" altLang="zh-CN" sz="2800"/>
              <a:t>。</a:t>
            </a:r>
            <a:r>
              <a:rPr lang="en-US" altLang="zh-CN" sz="2800" dirty="0"/>
              <a:t> </a:t>
            </a:r>
          </a:p>
          <a:p>
            <a:pPr lvl="1"/>
            <a:r>
              <a:rPr lang="zh-CN" altLang="zh-CN" sz="2000" dirty="0"/>
              <a:t>⑴</a:t>
            </a:r>
            <a:r>
              <a:rPr lang="en-US" altLang="zh-CN" sz="2000" dirty="0"/>
              <a:t> A(x)=a</a:t>
            </a:r>
            <a:r>
              <a:rPr lang="en-US" altLang="zh-CN" sz="2000" baseline="-25000" dirty="0"/>
              <a:t>n</a:t>
            </a:r>
            <a:r>
              <a:rPr lang="en-US" altLang="zh-CN" sz="2000" dirty="0"/>
              <a:t>x</a:t>
            </a:r>
            <a:r>
              <a:rPr lang="en-US" altLang="zh-CN" sz="2000" baseline="30000" dirty="0"/>
              <a:t>n</a:t>
            </a:r>
            <a:r>
              <a:rPr lang="en-US" altLang="zh-CN" sz="2000" dirty="0"/>
              <a:t>+a</a:t>
            </a:r>
            <a:r>
              <a:rPr lang="en-US" altLang="zh-CN" sz="2000" baseline="-25000" dirty="0"/>
              <a:t>n-1</a:t>
            </a:r>
            <a:r>
              <a:rPr lang="en-US" altLang="zh-CN" sz="2000" dirty="0"/>
              <a:t>x</a:t>
            </a:r>
            <a:r>
              <a:rPr lang="en-US" altLang="zh-CN" sz="2000" baseline="30000" dirty="0"/>
              <a:t>n-1</a:t>
            </a:r>
            <a:r>
              <a:rPr lang="en-US" altLang="zh-CN" sz="2000" dirty="0"/>
              <a:t>+…+a</a:t>
            </a:r>
            <a:r>
              <a:rPr lang="en-US" altLang="zh-CN" sz="2000" baseline="-25000" dirty="0"/>
              <a:t>1</a:t>
            </a:r>
            <a:r>
              <a:rPr lang="en-US" altLang="zh-CN" sz="2000" dirty="0"/>
              <a:t>x+a</a:t>
            </a:r>
            <a:r>
              <a:rPr lang="en-US" altLang="zh-CN" sz="2000" baseline="-25000" dirty="0"/>
              <a:t>0</a:t>
            </a:r>
            <a:r>
              <a:rPr lang="en-US" altLang="zh-CN" sz="2000" dirty="0"/>
              <a:t> </a:t>
            </a:r>
          </a:p>
          <a:p>
            <a:pPr lvl="1"/>
            <a:r>
              <a:rPr lang="zh-CN" altLang="zh-CN" sz="2000" dirty="0"/>
              <a:t>⑵</a:t>
            </a:r>
            <a:r>
              <a:rPr lang="en-US" altLang="zh-CN" sz="2000" dirty="0"/>
              <a:t> A(x)=(…(a</a:t>
            </a:r>
            <a:r>
              <a:rPr lang="en-US" altLang="zh-CN" sz="2000" baseline="-25000" dirty="0"/>
              <a:t>n</a:t>
            </a:r>
            <a:r>
              <a:rPr lang="en-US" altLang="zh-CN" sz="2000" dirty="0"/>
              <a:t>x+a</a:t>
            </a:r>
            <a:r>
              <a:rPr lang="en-US" altLang="zh-CN" sz="2000" baseline="-25000" dirty="0"/>
              <a:t>n-1</a:t>
            </a:r>
            <a:r>
              <a:rPr lang="en-US" altLang="zh-CN" sz="2000" dirty="0"/>
              <a:t>)x+…+a</a:t>
            </a:r>
            <a:r>
              <a:rPr lang="en-US" altLang="zh-CN" sz="2000" baseline="-25000" dirty="0"/>
              <a:t>1</a:t>
            </a:r>
            <a:r>
              <a:rPr lang="en-US" altLang="zh-CN" sz="2000" dirty="0"/>
              <a:t>)x+a</a:t>
            </a:r>
            <a:r>
              <a:rPr lang="en-US" altLang="zh-CN" sz="2000" baseline="-25000" dirty="0"/>
              <a:t>0</a:t>
            </a:r>
            <a:r>
              <a:rPr lang="en-US" altLang="zh-CN" sz="2000" dirty="0"/>
              <a:t> </a:t>
            </a:r>
            <a:endParaRPr lang="zh-CN" altLang="zh-CN" dirty="0"/>
          </a:p>
          <a:p>
            <a:r>
              <a:rPr lang="zh-CN" altLang="en-US" sz="2800" dirty="0"/>
              <a:t>作业提交截止日期见</a:t>
            </a:r>
            <a:r>
              <a:rPr lang="en-US" altLang="zh-CN" sz="2800" dirty="0" err="1"/>
              <a:t>elearning</a:t>
            </a:r>
            <a:r>
              <a:rPr lang="zh-CN" altLang="en-US" sz="2800" dirty="0"/>
              <a:t>，提交电子版。</a:t>
            </a:r>
            <a:endParaRPr lang="en-US" altLang="zh-CN" sz="2800" dirty="0"/>
          </a:p>
        </p:txBody>
      </p:sp>
      <p:sp>
        <p:nvSpPr>
          <p:cNvPr id="2" name="灯片编号占位符 1"/>
          <p:cNvSpPr>
            <a:spLocks noGrp="1"/>
          </p:cNvSpPr>
          <p:nvPr>
            <p:ph type="sldNum" sz="quarter" idx="12"/>
          </p:nvPr>
        </p:nvSpPr>
        <p:spPr/>
        <p:txBody>
          <a:bodyPr/>
          <a:lstStyle/>
          <a:p>
            <a:fld id="{C8283BC9-C505-498E-A445-42B3E3C5981A}" type="slidenum">
              <a:rPr lang="en-US" altLang="zh-CN" smtClean="0"/>
              <a:pPr/>
              <a:t>75</a:t>
            </a:fld>
            <a:endParaRPr lang="en-US" altLang="zh-CN"/>
          </a:p>
        </p:txBody>
      </p:sp>
    </p:spTree>
  </p:cSld>
  <p:clrMapOvr>
    <a:masterClrMapping/>
  </p:clrMapOvr>
  <p:transition>
    <p:split/>
  </p:transition>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5918</TotalTime>
  <Words>6027</Words>
  <Application>Microsoft Office PowerPoint</Application>
  <PresentationFormat>全屏显示(4:3)</PresentationFormat>
  <Paragraphs>790</Paragraphs>
  <Slides>75</Slides>
  <Notes>27</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8" baseType="lpstr">
      <vt:lpstr>等线</vt:lpstr>
      <vt:lpstr>等线 Light</vt:lpstr>
      <vt:lpstr>仿宋_GB2312</vt:lpstr>
      <vt:lpstr>华文新魏</vt:lpstr>
      <vt:lpstr>楷体_GB2312</vt:lpstr>
      <vt:lpstr>隶书</vt:lpstr>
      <vt:lpstr>Arial</vt:lpstr>
      <vt:lpstr>Cambria Math</vt:lpstr>
      <vt:lpstr>Symbol</vt:lpstr>
      <vt:lpstr>Times New Roman</vt:lpstr>
      <vt:lpstr>Wingdings</vt:lpstr>
      <vt:lpstr>Office 主题​​</vt:lpstr>
      <vt:lpstr>Document</vt:lpstr>
      <vt:lpstr>数据结构</vt:lpstr>
      <vt:lpstr>学习目的</vt:lpstr>
      <vt:lpstr>课程组织</vt:lpstr>
      <vt:lpstr>教材</vt:lpstr>
      <vt:lpstr>参考资料</vt:lpstr>
      <vt:lpstr>成绩评定</vt:lpstr>
      <vt:lpstr>实验课安排</vt:lpstr>
      <vt:lpstr>联系方式</vt:lpstr>
      <vt:lpstr>Any Question?</vt:lpstr>
      <vt:lpstr>第1章 数据结构概论</vt:lpstr>
      <vt:lpstr>1.1 数据结构的概念</vt:lpstr>
      <vt:lpstr>例1：顺序组织的学生数据</vt:lpstr>
      <vt:lpstr>例2： UNIX文件系统的结构</vt:lpstr>
      <vt:lpstr>数据（data）</vt:lpstr>
      <vt:lpstr>数据元素 (data element)</vt:lpstr>
      <vt:lpstr>数据结构定义</vt:lpstr>
      <vt:lpstr>数据结构的研究包括三个方面</vt:lpstr>
      <vt:lpstr>数据逻辑结构的特点</vt:lpstr>
      <vt:lpstr>数据的逻辑结构分类</vt:lpstr>
      <vt:lpstr>线性结构</vt:lpstr>
      <vt:lpstr>树形结构</vt:lpstr>
      <vt:lpstr>特殊的树结构--堆结构</vt:lpstr>
      <vt:lpstr>图结构和网络结构</vt:lpstr>
      <vt:lpstr>数据的存储结构</vt:lpstr>
      <vt:lpstr>存储结构对比</vt:lpstr>
      <vt:lpstr>数据结构的课程内容体系</vt:lpstr>
      <vt:lpstr>1.2 数据结构的抽象形式</vt:lpstr>
      <vt:lpstr>数据类型与数据结构</vt:lpstr>
      <vt:lpstr>数据抽象与抽象数据类型 </vt:lpstr>
      <vt:lpstr>例：自然数的抽象数据类型定义</vt:lpstr>
      <vt:lpstr>1.3 作为ADT的C++类</vt:lpstr>
      <vt:lpstr>面向对象的概念</vt:lpstr>
      <vt:lpstr>1.3.2-1.3.9 （略）</vt:lpstr>
      <vt:lpstr>1.4 算法定义</vt:lpstr>
      <vt:lpstr>算法设计基本方法</vt:lpstr>
      <vt:lpstr>细化程序：程序 SelectSort </vt:lpstr>
      <vt:lpstr>1.5 算法性能分析与度量</vt:lpstr>
      <vt:lpstr>算法的性能标准</vt:lpstr>
      <vt:lpstr>算法的后期测试</vt:lpstr>
      <vt:lpstr>后期测试的不足</vt:lpstr>
      <vt:lpstr>算法的事前估计</vt:lpstr>
      <vt:lpstr>空间复杂度度量</vt:lpstr>
      <vt:lpstr>时间复杂度度量</vt:lpstr>
      <vt:lpstr> 程序步确定方法</vt:lpstr>
      <vt:lpstr>方法1：程序中加入count语句</vt:lpstr>
      <vt:lpstr>程序步统计的简化形式</vt:lpstr>
      <vt:lpstr>注意</vt:lpstr>
      <vt:lpstr>例2 递归方式累加数组</vt:lpstr>
      <vt:lpstr>在递归程序中加入count语句</vt:lpstr>
      <vt:lpstr>分析过程</vt:lpstr>
      <vt:lpstr>以表格方式确定程序步数</vt:lpstr>
      <vt:lpstr>以表格方式确定程序步数</vt:lpstr>
      <vt:lpstr>递归求和函数的程序步数计算工作表格</vt:lpstr>
      <vt:lpstr>程序步方法的不足</vt:lpstr>
      <vt:lpstr>算法的渐进分析(asymptotic  algorithm analysis)</vt:lpstr>
      <vt:lpstr>时间复杂度的渐进表示法</vt:lpstr>
      <vt:lpstr>大O表示法</vt:lpstr>
      <vt:lpstr>大O表示法的确切含义—最坏情况</vt:lpstr>
      <vt:lpstr>大O表示法的使用</vt:lpstr>
      <vt:lpstr>渐进时间复杂度的计算</vt:lpstr>
      <vt:lpstr>针对并列程序段：加法规则 </vt:lpstr>
      <vt:lpstr>针对嵌套程序段：乘法规则</vt:lpstr>
      <vt:lpstr>乘法规则举例</vt:lpstr>
      <vt:lpstr>例：冒泡排序的时间复杂度</vt:lpstr>
      <vt:lpstr>冒泡排序程序代码</vt:lpstr>
      <vt:lpstr>渐进时间复杂度</vt:lpstr>
      <vt:lpstr>例：算法运行速度的比较</vt:lpstr>
      <vt:lpstr>解答</vt:lpstr>
      <vt:lpstr>最好和平均情况（自学）</vt:lpstr>
      <vt:lpstr>Θ记号</vt:lpstr>
      <vt:lpstr>渐进的空间复杂度</vt:lpstr>
      <vt:lpstr>小结</vt:lpstr>
      <vt:lpstr>常见题型</vt:lpstr>
      <vt:lpstr>第1章作业（一）</vt:lpstr>
      <vt:lpstr>第1章作业（二）</vt:lpstr>
    </vt:vector>
  </TitlesOfParts>
  <Company>djzx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djzx</dc:creator>
  <cp:lastModifiedBy>天天向上</cp:lastModifiedBy>
  <cp:revision>218</cp:revision>
  <dcterms:created xsi:type="dcterms:W3CDTF">2000-01-30T08:24:06Z</dcterms:created>
  <dcterms:modified xsi:type="dcterms:W3CDTF">2025-09-08T13:35:41Z</dcterms:modified>
</cp:coreProperties>
</file>