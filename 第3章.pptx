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62" r:id="rId3"/>
    <p:sldId id="263" r:id="rId4"/>
    <p:sldId id="264" r:id="rId5"/>
    <p:sldId id="265" r:id="rId7"/>
    <p:sldId id="266" r:id="rId8"/>
    <p:sldId id="349" r:id="rId9"/>
    <p:sldId id="267" r:id="rId10"/>
    <p:sldId id="611" r:id="rId11"/>
    <p:sldId id="323" r:id="rId12"/>
    <p:sldId id="269" r:id="rId13"/>
    <p:sldId id="354" r:id="rId14"/>
    <p:sldId id="270" r:id="rId15"/>
    <p:sldId id="330" r:id="rId16"/>
    <p:sldId id="456" r:id="rId17"/>
    <p:sldId id="450" r:id="rId18"/>
    <p:sldId id="274" r:id="rId19"/>
    <p:sldId id="276" r:id="rId20"/>
    <p:sldId id="277" r:id="rId21"/>
    <p:sldId id="459" r:id="rId22"/>
    <p:sldId id="307" r:id="rId23"/>
    <p:sldId id="326" r:id="rId24"/>
    <p:sldId id="308" r:id="rId25"/>
    <p:sldId id="332" r:id="rId26"/>
    <p:sldId id="311" r:id="rId27"/>
    <p:sldId id="312" r:id="rId28"/>
    <p:sldId id="327" r:id="rId29"/>
    <p:sldId id="315" r:id="rId30"/>
    <p:sldId id="333" r:id="rId31"/>
    <p:sldId id="316" r:id="rId32"/>
    <p:sldId id="346" r:id="rId33"/>
    <p:sldId id="317" r:id="rId34"/>
    <p:sldId id="318" r:id="rId35"/>
    <p:sldId id="328" r:id="rId36"/>
    <p:sldId id="344" r:id="rId37"/>
    <p:sldId id="345" r:id="rId38"/>
    <p:sldId id="449" r:id="rId39"/>
    <p:sldId id="292" r:id="rId40"/>
    <p:sldId id="294" r:id="rId41"/>
    <p:sldId id="595" r:id="rId42"/>
    <p:sldId id="602" r:id="rId43"/>
    <p:sldId id="596" r:id="rId44"/>
    <p:sldId id="298" r:id="rId45"/>
    <p:sldId id="598" r:id="rId46"/>
    <p:sldId id="599" r:id="rId47"/>
    <p:sldId id="368" r:id="rId48"/>
    <p:sldId id="369" r:id="rId49"/>
    <p:sldId id="370" r:id="rId50"/>
    <p:sldId id="371" r:id="rId51"/>
    <p:sldId id="372" r:id="rId52"/>
    <p:sldId id="373" r:id="rId53"/>
    <p:sldId id="374" r:id="rId54"/>
    <p:sldId id="375" r:id="rId55"/>
    <p:sldId id="376" r:id="rId56"/>
    <p:sldId id="377" r:id="rId57"/>
    <p:sldId id="448" r:id="rId58"/>
    <p:sldId id="378" r:id="rId59"/>
    <p:sldId id="379" r:id="rId60"/>
    <p:sldId id="338" r:id="rId61"/>
    <p:sldId id="386" r:id="rId62"/>
    <p:sldId id="387" r:id="rId63"/>
    <p:sldId id="341" r:id="rId64"/>
    <p:sldId id="389" r:id="rId65"/>
    <p:sldId id="585" r:id="rId66"/>
    <p:sldId id="352" r:id="rId67"/>
    <p:sldId id="497" r:id="rId68"/>
    <p:sldId id="313" r:id="rId69"/>
    <p:sldId id="337" r:id="rId70"/>
    <p:sldId id="407" r:id="rId71"/>
    <p:sldId id="587" r:id="rId72"/>
    <p:sldId id="588" r:id="rId73"/>
    <p:sldId id="589" r:id="rId74"/>
    <p:sldId id="347" r:id="rId75"/>
    <p:sldId id="590" r:id="rId76"/>
    <p:sldId id="485" r:id="rId77"/>
    <p:sldId id="591" r:id="rId78"/>
    <p:sldId id="592" r:id="rId79"/>
    <p:sldId id="319" r:id="rId80"/>
    <p:sldId id="321" r:id="rId81"/>
    <p:sldId id="402" r:id="rId82"/>
    <p:sldId id="403" r:id="rId83"/>
    <p:sldId id="404" r:id="rId84"/>
    <p:sldId id="405" r:id="rId85"/>
    <p:sldId id="586" r:id="rId86"/>
    <p:sldId id="320" r:id="rId87"/>
    <p:sldId id="424" r:id="rId88"/>
    <p:sldId id="430" r:id="rId89"/>
    <p:sldId id="431" r:id="rId90"/>
    <p:sldId id="432" r:id="rId91"/>
    <p:sldId id="433" r:id="rId92"/>
    <p:sldId id="444" r:id="rId93"/>
    <p:sldId id="435" r:id="rId94"/>
    <p:sldId id="436" r:id="rId95"/>
    <p:sldId id="438" r:id="rId96"/>
    <p:sldId id="440" r:id="rId97"/>
    <p:sldId id="279" r:id="rId98"/>
    <p:sldId id="280" r:id="rId99"/>
    <p:sldId id="283" r:id="rId100"/>
    <p:sldId id="325" r:id="rId101"/>
    <p:sldId id="284" r:id="rId102"/>
    <p:sldId id="285" r:id="rId103"/>
    <p:sldId id="282" r:id="rId104"/>
    <p:sldId id="287" r:id="rId105"/>
    <p:sldId id="288" r:id="rId106"/>
    <p:sldId id="290" r:id="rId107"/>
    <p:sldId id="295" r:id="rId108"/>
    <p:sldId id="296" r:id="rId109"/>
    <p:sldId id="297" r:id="rId110"/>
    <p:sldId id="299" r:id="rId111"/>
    <p:sldId id="426" r:id="rId112"/>
    <p:sldId id="300" r:id="rId113"/>
    <p:sldId id="302" r:id="rId114"/>
    <p:sldId id="324" r:id="rId115"/>
    <p:sldId id="601" r:id="rId116"/>
    <p:sldId id="454" r:id="rId117"/>
    <p:sldId id="427" r:id="rId118"/>
    <p:sldId id="452" r:id="rId119"/>
    <p:sldId id="419" r:id="rId120"/>
    <p:sldId id="421" r:id="rId12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11" autoAdjust="0"/>
    <p:restoredTop sz="86483" autoAdjust="0"/>
  </p:normalViewPr>
  <p:slideViewPr>
    <p:cSldViewPr>
      <p:cViewPr varScale="1">
        <p:scale>
          <a:sx n="71" d="100"/>
          <a:sy n="71" d="100"/>
        </p:scale>
        <p:origin x="1656" y="53"/>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4" Type="http://schemas.openxmlformats.org/officeDocument/2006/relationships/tableStyles" Target="tableStyles.xml"/><Relationship Id="rId123" Type="http://schemas.openxmlformats.org/officeDocument/2006/relationships/viewProps" Target="viewProps.xml"/><Relationship Id="rId122" Type="http://schemas.openxmlformats.org/officeDocument/2006/relationships/presProps" Target="presProps.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979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89798"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fontAlgn="auto" hangingPunct="1">
              <a:spcBef>
                <a:spcPts val="0"/>
              </a:spcBef>
              <a:spcAft>
                <a:spcPts val="0"/>
              </a:spcAft>
              <a:defRPr sz="1200">
                <a:latin typeface="+mn-lt"/>
                <a:ea typeface="+mn-ea"/>
              </a:defRPr>
            </a:lvl1pPr>
          </a:lstStyle>
          <a:p>
            <a:pPr>
              <a:defRPr/>
            </a:pPr>
            <a:fld id="{B508B7A9-1681-4AAB-AA0E-717C03409CC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p:sp>
      <p:sp>
        <p:nvSpPr>
          <p:cNvPr id="1945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因为教材中的“</a:t>
            </a:r>
            <a:r>
              <a:rPr lang="en-US" altLang="zh-CN" dirty="0"/>
              <a:t>Vector</a:t>
            </a:r>
            <a:r>
              <a:rPr lang="zh-CN" altLang="en-US" dirty="0"/>
              <a:t>”字符数太多，放在</a:t>
            </a:r>
            <a:r>
              <a:rPr lang="en-US" altLang="zh-CN" dirty="0"/>
              <a:t>PPT</a:t>
            </a:r>
            <a:r>
              <a:rPr lang="zh-CN" altLang="en-US" dirty="0"/>
              <a:t>中太挤，所以改为了“</a:t>
            </a:r>
            <a:r>
              <a:rPr lang="en-US" altLang="zh-CN" dirty="0"/>
              <a:t>V</a:t>
            </a:r>
            <a:r>
              <a:rPr lang="zh-CN" altLang="en-US" dirty="0"/>
              <a:t>”，下一页的代码中也做了相应的修改。</a:t>
            </a:r>
            <a:endParaRPr lang="zh-CN" altLang="en-US" dirty="0"/>
          </a:p>
        </p:txBody>
      </p:sp>
      <p:sp>
        <p:nvSpPr>
          <p:cNvPr id="194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B68F469E-7F40-45E8-A488-6EAD2513402F}" type="slidenum">
              <a:rPr kumimoji="1" lang="zh-CN" altLang="en-US" smtClean="0">
                <a:latin typeface="Times New Roman" panose="02020603050405020304" pitchFamily="18" charset="0"/>
                <a:ea typeface="宋体" panose="02010600030101010101" pitchFamily="2" charset="-122"/>
              </a:rPr>
            </a:fld>
            <a:endParaRPr kumimoji="1" lang="zh-CN" altLang="en-US">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bool </a:t>
            </a:r>
            <a:r>
              <a:rPr lang="en-US" altLang="zh-CN" dirty="0" err="1"/>
              <a:t>LinkedStack</a:t>
            </a:r>
            <a:r>
              <a:rPr lang="en-US" altLang="zh-CN" dirty="0"/>
              <a:t>&lt;T&gt; :: Pop (T&amp; x) {</a:t>
            </a:r>
            <a:endParaRPr lang="en-US" altLang="zh-CN" dirty="0"/>
          </a:p>
          <a:p>
            <a:pPr marL="0" indent="0">
              <a:buFont typeface="Arial" panose="020B0604020202020204" pitchFamily="34" charset="0"/>
              <a:buNone/>
              <a:defRPr/>
            </a:pPr>
            <a:r>
              <a:rPr lang="en-US" altLang="zh-CN" dirty="0"/>
              <a:t>    if ( </a:t>
            </a:r>
            <a:r>
              <a:rPr lang="en-US" altLang="zh-CN" dirty="0" err="1"/>
              <a:t>IsEmpty</a:t>
            </a:r>
            <a:r>
              <a:rPr lang="en-US" altLang="zh-CN" dirty="0"/>
              <a:t> ( ) == true) return false;	</a:t>
            </a:r>
            <a:endParaRPr lang="en-US" altLang="zh-CN" dirty="0"/>
          </a:p>
          <a:p>
            <a:pPr marL="0" indent="0">
              <a:buFont typeface="Arial" panose="020B0604020202020204" pitchFamily="34" charset="0"/>
              <a:buNone/>
              <a:defRPr/>
            </a:pPr>
            <a:r>
              <a:rPr lang="en-US" altLang="zh-CN" dirty="0"/>
              <a:t>    </a:t>
            </a:r>
            <a:r>
              <a:rPr lang="en-US" altLang="zh-CN" dirty="0" err="1"/>
              <a:t>LinkNode</a:t>
            </a:r>
            <a:r>
              <a:rPr lang="en-US" altLang="zh-CN" dirty="0"/>
              <a:t>&lt;T&gt; *p = top;</a:t>
            </a:r>
            <a:endParaRPr lang="en-US" altLang="zh-CN" dirty="0"/>
          </a:p>
          <a:p>
            <a:pPr marL="0" indent="0">
              <a:buFont typeface="Arial" panose="020B0604020202020204" pitchFamily="34" charset="0"/>
              <a:buNone/>
              <a:defRPr/>
            </a:pPr>
            <a:r>
              <a:rPr lang="en-US" altLang="zh-CN" dirty="0"/>
              <a:t>    x = p-&gt;data;  top = top-&gt;link;   //</a:t>
            </a:r>
            <a:r>
              <a:rPr lang="zh-CN" altLang="en-US" dirty="0"/>
              <a:t>修改栈顶</a:t>
            </a:r>
            <a:endParaRPr lang="zh-CN" altLang="en-US" dirty="0"/>
          </a:p>
          <a:p>
            <a:pPr marL="0" indent="0">
              <a:buFont typeface="Arial" panose="020B0604020202020204" pitchFamily="34" charset="0"/>
              <a:buNone/>
              <a:defRPr/>
            </a:pPr>
            <a:r>
              <a:rPr lang="zh-CN" altLang="en-US" dirty="0"/>
              <a:t>    </a:t>
            </a:r>
            <a:r>
              <a:rPr lang="en-US" altLang="zh-CN" dirty="0"/>
              <a:t>delete p;   return true;                //</a:t>
            </a:r>
            <a:r>
              <a:rPr lang="zh-CN" altLang="en-US" dirty="0"/>
              <a:t>释放</a:t>
            </a:r>
            <a:endParaRPr lang="zh-CN" altLang="en-US"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en-US" altLang="zh-CN" dirty="0"/>
          </a:p>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bool </a:t>
            </a:r>
            <a:r>
              <a:rPr lang="en-US" altLang="zh-CN" dirty="0" err="1"/>
              <a:t>LinkedStack</a:t>
            </a:r>
            <a:r>
              <a:rPr lang="en-US" altLang="zh-CN" dirty="0"/>
              <a:t>&lt;T&gt;:: </a:t>
            </a:r>
            <a:r>
              <a:rPr lang="en-US" altLang="zh-CN" dirty="0" err="1"/>
              <a:t>getTop</a:t>
            </a:r>
            <a:r>
              <a:rPr lang="en-US" altLang="zh-CN" dirty="0"/>
              <a:t> (T&amp; x) const{</a:t>
            </a:r>
            <a:endParaRPr lang="en-US" altLang="zh-CN" dirty="0"/>
          </a:p>
          <a:p>
            <a:pPr marL="0" indent="0">
              <a:buFont typeface="Arial" panose="020B0604020202020204" pitchFamily="34" charset="0"/>
              <a:buNone/>
              <a:defRPr/>
            </a:pPr>
            <a:r>
              <a:rPr lang="en-US" altLang="zh-CN" dirty="0"/>
              <a:t>    if ( </a:t>
            </a:r>
            <a:r>
              <a:rPr lang="en-US" altLang="zh-CN" dirty="0" err="1"/>
              <a:t>IsEmpty</a:t>
            </a:r>
            <a:r>
              <a:rPr lang="en-US" altLang="zh-CN" dirty="0"/>
              <a:t> ( )  ) return false;</a:t>
            </a:r>
            <a:endParaRPr lang="en-US" altLang="zh-CN" dirty="0"/>
          </a:p>
          <a:p>
            <a:pPr marL="0" indent="0">
              <a:buFont typeface="Arial" panose="020B0604020202020204" pitchFamily="34" charset="0"/>
              <a:buNone/>
              <a:defRPr/>
            </a:pPr>
            <a:r>
              <a:rPr lang="en-US" altLang="zh-CN" dirty="0"/>
              <a:t>    x = top-&gt;data;  return true;</a:t>
            </a:r>
            <a:endParaRPr lang="en-US" altLang="zh-CN" dirty="0"/>
          </a:p>
          <a:p>
            <a:pPr marL="0" indent="0">
              <a:buFont typeface="Arial" panose="020B0604020202020204" pitchFamily="34" charset="0"/>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void </a:t>
            </a:r>
            <a:r>
              <a:rPr lang="en-US" altLang="zh-CN" dirty="0" err="1"/>
              <a:t>PrintMatchedPairs</a:t>
            </a:r>
            <a:r>
              <a:rPr lang="en-US" altLang="zh-CN" dirty="0"/>
              <a:t>(char *expression) {  //</a:t>
            </a:r>
            <a:r>
              <a:rPr lang="zh-CN" altLang="en-US" dirty="0"/>
              <a:t>扫描字符串</a:t>
            </a:r>
            <a:r>
              <a:rPr lang="en-US" altLang="zh-CN" dirty="0"/>
              <a:t>expression</a:t>
            </a:r>
            <a:r>
              <a:rPr lang="zh-CN" altLang="en-US" dirty="0"/>
              <a:t>，检查括号匹配情况	</a:t>
            </a:r>
            <a:endParaRPr lang="zh-CN" altLang="en-US" dirty="0"/>
          </a:p>
          <a:p>
            <a:pPr marL="0" indent="0">
              <a:buNone/>
            </a:pPr>
            <a:r>
              <a:rPr lang="zh-CN" altLang="en-US" dirty="0"/>
              <a:t>     </a:t>
            </a:r>
            <a:r>
              <a:rPr lang="en-US" altLang="zh-CN" dirty="0" err="1"/>
              <a:t>SeqStack</a:t>
            </a:r>
            <a:r>
              <a:rPr lang="en-US" altLang="zh-CN" dirty="0"/>
              <a:t>&lt;int&gt; s (</a:t>
            </a:r>
            <a:r>
              <a:rPr lang="en-US" altLang="zh-CN" dirty="0" err="1"/>
              <a:t>maxLength</a:t>
            </a:r>
            <a:r>
              <a:rPr lang="en-US" altLang="zh-CN" dirty="0"/>
              <a:t>);	//</a:t>
            </a:r>
            <a:r>
              <a:rPr lang="zh-CN" altLang="en-US" dirty="0"/>
              <a:t>栈</a:t>
            </a:r>
            <a:r>
              <a:rPr lang="en-US" altLang="zh-CN" dirty="0"/>
              <a:t>s</a:t>
            </a:r>
            <a:r>
              <a:rPr lang="zh-CN" altLang="en-US" dirty="0"/>
              <a:t>存储</a:t>
            </a:r>
            <a:endParaRPr lang="zh-CN" altLang="en-US" dirty="0"/>
          </a:p>
          <a:p>
            <a:pPr marL="0" indent="0">
              <a:buNone/>
            </a:pPr>
            <a:r>
              <a:rPr lang="zh-CN" altLang="en-US" dirty="0"/>
              <a:t>     </a:t>
            </a:r>
            <a:r>
              <a:rPr lang="en-US" altLang="zh-CN" dirty="0"/>
              <a:t>int j, length = </a:t>
            </a:r>
            <a:r>
              <a:rPr lang="en-US" altLang="zh-CN" dirty="0" err="1"/>
              <a:t>strlen</a:t>
            </a:r>
            <a:r>
              <a:rPr lang="en-US" altLang="zh-CN" dirty="0"/>
              <a:t>(expression);	//</a:t>
            </a:r>
            <a:r>
              <a:rPr lang="zh-CN" altLang="en-US" dirty="0"/>
              <a:t>计算串长度</a:t>
            </a:r>
            <a:endParaRPr lang="zh-CN" altLang="en-US" dirty="0"/>
          </a:p>
          <a:p>
            <a:pPr marL="0" indent="0">
              <a:buNone/>
            </a:pPr>
            <a:r>
              <a:rPr lang="zh-CN" altLang="en-US" dirty="0"/>
              <a:t>     </a:t>
            </a:r>
            <a:r>
              <a:rPr lang="en-US" altLang="zh-CN" dirty="0"/>
              <a:t>for ( int </a:t>
            </a:r>
            <a:r>
              <a:rPr lang="en-US" altLang="zh-CN" dirty="0" err="1"/>
              <a:t>i</a:t>
            </a:r>
            <a:r>
              <a:rPr lang="en-US" altLang="zh-CN" dirty="0"/>
              <a:t> = 1; </a:t>
            </a:r>
            <a:r>
              <a:rPr lang="en-US" altLang="zh-CN" dirty="0" err="1"/>
              <a:t>i</a:t>
            </a:r>
            <a:r>
              <a:rPr lang="en-US" altLang="zh-CN" dirty="0"/>
              <a:t> &lt;= length; </a:t>
            </a:r>
            <a:r>
              <a:rPr lang="en-US" altLang="zh-CN" dirty="0" err="1"/>
              <a:t>i</a:t>
            </a:r>
            <a:r>
              <a:rPr lang="en-US" altLang="zh-CN" dirty="0"/>
              <a:t>++ ) {	//</a:t>
            </a:r>
            <a:r>
              <a:rPr lang="zh-CN" altLang="en-US" dirty="0"/>
              <a:t>扫描表达式</a:t>
            </a:r>
            <a:endParaRPr lang="zh-CN" altLang="en-US" dirty="0"/>
          </a:p>
          <a:p>
            <a:pPr marL="0" indent="0">
              <a:buNone/>
            </a:pPr>
            <a:r>
              <a:rPr lang="zh-CN" altLang="en-US" dirty="0"/>
              <a:t>          </a:t>
            </a:r>
            <a:r>
              <a:rPr lang="en-US" altLang="zh-CN" dirty="0"/>
              <a:t>if (expression[i-1] == ‘(’) </a:t>
            </a:r>
            <a:r>
              <a:rPr lang="en-US" altLang="zh-CN" dirty="0" err="1"/>
              <a:t>s.Push</a:t>
            </a:r>
            <a:r>
              <a:rPr lang="en-US" altLang="zh-CN" dirty="0"/>
              <a:t>(</a:t>
            </a:r>
            <a:r>
              <a:rPr lang="en-US" altLang="zh-CN" dirty="0" err="1"/>
              <a:t>i</a:t>
            </a:r>
            <a:r>
              <a:rPr lang="en-US" altLang="zh-CN" dirty="0"/>
              <a:t>); 	 //</a:t>
            </a:r>
            <a:r>
              <a:rPr lang="zh-CN" altLang="en-US" dirty="0"/>
              <a:t>左括号的位置进栈</a:t>
            </a:r>
            <a:endParaRPr lang="zh-CN" altLang="en-US" dirty="0"/>
          </a:p>
          <a:p>
            <a:pPr marL="0" indent="0">
              <a:buNone/>
            </a:pPr>
            <a:r>
              <a:rPr lang="zh-CN" altLang="en-US" dirty="0"/>
              <a:t>          </a:t>
            </a:r>
            <a:r>
              <a:rPr lang="en-US" altLang="zh-CN" dirty="0"/>
              <a:t>else if (expression[i-1] == ‘)’) {	//</a:t>
            </a:r>
            <a:r>
              <a:rPr lang="zh-CN" altLang="en-US" dirty="0"/>
              <a:t>右括号</a:t>
            </a:r>
            <a:endParaRPr lang="zh-CN" altLang="en-US" dirty="0"/>
          </a:p>
          <a:p>
            <a:pPr marL="0" indent="0">
              <a:buNone/>
            </a:pPr>
            <a:r>
              <a:rPr lang="zh-CN" altLang="en-US" dirty="0"/>
              <a:t>	</a:t>
            </a:r>
            <a:r>
              <a:rPr lang="en-US" altLang="zh-CN" dirty="0"/>
              <a:t>if (!</a:t>
            </a:r>
            <a:r>
              <a:rPr lang="en-US" altLang="zh-CN" dirty="0" err="1"/>
              <a:t>s.IsEmpty</a:t>
            </a:r>
            <a:r>
              <a:rPr lang="en-US" altLang="zh-CN" dirty="0"/>
              <a:t>() &amp;&amp; </a:t>
            </a:r>
            <a:r>
              <a:rPr lang="en-US" altLang="zh-CN" dirty="0" err="1"/>
              <a:t>s.Pop</a:t>
            </a:r>
            <a:r>
              <a:rPr lang="en-US" altLang="zh-CN" dirty="0"/>
              <a:t>(j)) </a:t>
            </a:r>
            <a:r>
              <a:rPr lang="en-US" altLang="zh-CN" dirty="0" err="1"/>
              <a:t>cout</a:t>
            </a:r>
            <a:r>
              <a:rPr lang="en-US" altLang="zh-CN" dirty="0"/>
              <a:t> &lt;&lt; j &lt;&lt; "</a:t>
            </a:r>
            <a:r>
              <a:rPr lang="zh-CN" altLang="en-US" dirty="0"/>
              <a:t>与</a:t>
            </a:r>
            <a:r>
              <a:rPr lang="en-US" altLang="zh-CN" dirty="0"/>
              <a:t>"</a:t>
            </a:r>
            <a:r>
              <a:rPr lang="zh-CN" altLang="en-US" dirty="0"/>
              <a:t> </a:t>
            </a:r>
            <a:r>
              <a:rPr lang="en-US" altLang="zh-CN" dirty="0"/>
              <a:t>&lt;&lt; </a:t>
            </a:r>
            <a:r>
              <a:rPr lang="en-US" altLang="zh-CN" dirty="0" err="1"/>
              <a:t>i</a:t>
            </a:r>
            <a:r>
              <a:rPr lang="en-US" altLang="zh-CN" dirty="0"/>
              <a:t> &lt;&lt; "</a:t>
            </a:r>
            <a:r>
              <a:rPr lang="zh-CN" altLang="en-US" dirty="0"/>
              <a:t>匹配</a:t>
            </a:r>
            <a:r>
              <a:rPr lang="en-US" altLang="zh-CN" dirty="0"/>
              <a:t>"</a:t>
            </a:r>
            <a:r>
              <a:rPr lang="zh-CN" altLang="en-US" dirty="0"/>
              <a:t> </a:t>
            </a:r>
            <a:r>
              <a:rPr lang="en-US" altLang="zh-CN" dirty="0"/>
              <a:t>&lt;&lt; </a:t>
            </a:r>
            <a:r>
              <a:rPr lang="en-US" altLang="zh-CN" dirty="0" err="1"/>
              <a:t>endl</a:t>
            </a:r>
            <a:r>
              <a:rPr lang="en-US" altLang="zh-CN" dirty="0"/>
              <a:t>;  //</a:t>
            </a:r>
            <a:r>
              <a:rPr lang="zh-CN" altLang="en-US" dirty="0"/>
              <a:t>栈不空</a:t>
            </a:r>
            <a:r>
              <a:rPr lang="en-US" altLang="zh-CN" dirty="0"/>
              <a:t>,</a:t>
            </a:r>
            <a:r>
              <a:rPr lang="zh-CN" altLang="en-US" dirty="0"/>
              <a:t>退栈</a:t>
            </a:r>
            <a:endParaRPr lang="zh-CN" altLang="en-US" dirty="0"/>
          </a:p>
          <a:p>
            <a:pPr marL="0" indent="0">
              <a:buNone/>
            </a:pPr>
            <a:r>
              <a:rPr lang="en-US" altLang="zh-CN" dirty="0"/>
              <a:t>	else </a:t>
            </a:r>
            <a:r>
              <a:rPr lang="en-US" altLang="zh-CN" dirty="0" err="1"/>
              <a:t>cout</a:t>
            </a:r>
            <a:r>
              <a:rPr lang="en-US" altLang="zh-CN" dirty="0"/>
              <a:t> &lt;&lt; "</a:t>
            </a:r>
            <a:r>
              <a:rPr lang="zh-CN" altLang="en-US" dirty="0"/>
              <a:t>没有与第</a:t>
            </a:r>
            <a:r>
              <a:rPr lang="en-US" altLang="zh-CN" dirty="0"/>
              <a:t>"</a:t>
            </a:r>
            <a:r>
              <a:rPr lang="zh-CN" altLang="en-US" dirty="0"/>
              <a:t> </a:t>
            </a:r>
            <a:r>
              <a:rPr lang="en-US" altLang="zh-CN" dirty="0"/>
              <a:t>&lt;&lt; </a:t>
            </a:r>
            <a:r>
              <a:rPr lang="en-US" altLang="zh-CN" dirty="0" err="1"/>
              <a:t>i</a:t>
            </a:r>
            <a:r>
              <a:rPr lang="en-US" altLang="zh-CN" dirty="0"/>
              <a:t> &lt;&lt; "</a:t>
            </a:r>
            <a:r>
              <a:rPr lang="zh-CN" altLang="en-US" dirty="0"/>
              <a:t>个右括号匹配的左括号！</a:t>
            </a:r>
            <a:r>
              <a:rPr lang="en-US" altLang="zh-CN" dirty="0"/>
              <a:t>"</a:t>
            </a:r>
            <a:r>
              <a:rPr lang="zh-CN" altLang="en-US" dirty="0"/>
              <a:t> </a:t>
            </a:r>
            <a:r>
              <a:rPr lang="en-US" altLang="zh-CN" dirty="0"/>
              <a:t>&lt;&lt; </a:t>
            </a:r>
            <a:r>
              <a:rPr lang="en-US" altLang="zh-CN" dirty="0" err="1"/>
              <a:t>endl</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     } </a:t>
            </a:r>
            <a:endParaRPr lang="en-US" altLang="zh-CN" dirty="0"/>
          </a:p>
          <a:p>
            <a:pPr marL="0" indent="0">
              <a:buNone/>
            </a:pPr>
            <a:r>
              <a:rPr lang="en-US" altLang="zh-CN" dirty="0"/>
              <a:t>     while (!</a:t>
            </a:r>
            <a:r>
              <a:rPr lang="en-US" altLang="zh-CN" dirty="0" err="1"/>
              <a:t>s.IsEmpty</a:t>
            </a:r>
            <a:r>
              <a:rPr lang="en-US" altLang="zh-CN" dirty="0"/>
              <a:t>()) { //</a:t>
            </a:r>
            <a:r>
              <a:rPr lang="zh-CN" altLang="en-US" dirty="0"/>
              <a:t>栈中还有左括号</a:t>
            </a:r>
            <a:endParaRPr lang="en-US" altLang="zh-CN" dirty="0"/>
          </a:p>
          <a:p>
            <a:pPr marL="0" indent="0">
              <a:buNone/>
            </a:pPr>
            <a:r>
              <a:rPr lang="en-US" altLang="zh-CN" dirty="0"/>
              <a:t>            </a:t>
            </a:r>
            <a:r>
              <a:rPr lang="en-US" altLang="zh-CN" dirty="0" err="1"/>
              <a:t>s.Pop</a:t>
            </a:r>
            <a:r>
              <a:rPr lang="en-US" altLang="zh-CN" dirty="0"/>
              <a:t>(j);</a:t>
            </a:r>
            <a:endParaRPr lang="en-US" altLang="zh-CN" dirty="0"/>
          </a:p>
          <a:p>
            <a:pPr marL="0" indent="0">
              <a:buNone/>
            </a:pPr>
            <a:r>
              <a:rPr lang="en-US" altLang="zh-CN" dirty="0"/>
              <a:t>            </a:t>
            </a:r>
            <a:r>
              <a:rPr lang="en-US" altLang="zh-CN" dirty="0" err="1"/>
              <a:t>cout</a:t>
            </a:r>
            <a:r>
              <a:rPr lang="en-US" altLang="zh-CN" dirty="0"/>
              <a:t> &lt;&lt; "</a:t>
            </a:r>
            <a:r>
              <a:rPr lang="zh-CN" altLang="en-US" dirty="0"/>
              <a:t>没有与第</a:t>
            </a:r>
            <a:r>
              <a:rPr lang="en-US" altLang="zh-CN" dirty="0"/>
              <a:t>"</a:t>
            </a:r>
            <a:r>
              <a:rPr lang="zh-CN" altLang="en-US" dirty="0"/>
              <a:t> </a:t>
            </a:r>
            <a:r>
              <a:rPr lang="en-US" altLang="zh-CN" dirty="0"/>
              <a:t>&lt;&lt; j          &lt;&lt; "</a:t>
            </a:r>
            <a:r>
              <a:rPr lang="zh-CN" altLang="en-US" dirty="0"/>
              <a:t>个左括号相匹配的右括号！</a:t>
            </a:r>
            <a:r>
              <a:rPr lang="en-US" altLang="zh-CN" dirty="0"/>
              <a:t>"</a:t>
            </a:r>
            <a:r>
              <a:rPr lang="zh-CN" altLang="en-US" dirty="0"/>
              <a:t> </a:t>
            </a:r>
            <a:r>
              <a:rPr lang="en-US" altLang="zh-CN" dirty="0"/>
              <a:t>&lt;&lt; </a:t>
            </a:r>
            <a:r>
              <a:rPr lang="en-US" altLang="zh-CN" dirty="0" err="1"/>
              <a:t>endl</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p:nvPr>
        </p:nvSpPr>
        <p:spPr/>
      </p:sp>
      <p:sp>
        <p:nvSpPr>
          <p:cNvPr id="12390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0D2C708-E973-470B-AE6A-692D014A5FD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template &lt;class T&gt; </a:t>
            </a:r>
            <a:endParaRPr lang="en-US" altLang="zh-CN" dirty="0"/>
          </a:p>
          <a:p>
            <a:pPr marL="0" indent="0">
              <a:buNone/>
            </a:pPr>
            <a:r>
              <a:rPr lang="en-US" altLang="zh-CN" dirty="0" err="1"/>
              <a:t>SeqQueue</a:t>
            </a:r>
            <a:r>
              <a:rPr lang="en-US" altLang="zh-CN" dirty="0"/>
              <a:t>&lt;T&gt;:: </a:t>
            </a:r>
            <a:r>
              <a:rPr lang="en-US" altLang="zh-CN" dirty="0" err="1"/>
              <a:t>SeqQueue</a:t>
            </a:r>
            <a:r>
              <a:rPr lang="en-US" altLang="zh-CN" dirty="0"/>
              <a:t> (int </a:t>
            </a:r>
            <a:r>
              <a:rPr lang="en-US" altLang="zh-CN" dirty="0" err="1"/>
              <a:t>sz</a:t>
            </a:r>
            <a:r>
              <a:rPr lang="en-US" altLang="zh-CN" dirty="0"/>
              <a:t>) : </a:t>
            </a:r>
            <a:endParaRPr lang="en-US" altLang="zh-CN" dirty="0"/>
          </a:p>
          <a:p>
            <a:pPr marL="0" indent="0">
              <a:buNone/>
            </a:pPr>
            <a:r>
              <a:rPr lang="en-US" altLang="zh-CN" dirty="0"/>
              <a:t>front (0), rear (0), </a:t>
            </a:r>
            <a:r>
              <a:rPr lang="en-US" altLang="zh-CN" dirty="0" err="1"/>
              <a:t>maxSize</a:t>
            </a:r>
            <a:r>
              <a:rPr lang="en-US" altLang="zh-CN" dirty="0"/>
              <a:t> (</a:t>
            </a:r>
            <a:r>
              <a:rPr lang="en-US" altLang="zh-CN" dirty="0" err="1"/>
              <a:t>sz</a:t>
            </a:r>
            <a:r>
              <a:rPr lang="en-US" altLang="zh-CN" dirty="0"/>
              <a:t>) {</a:t>
            </a:r>
            <a:endParaRPr lang="en-US" altLang="zh-CN" dirty="0"/>
          </a:p>
          <a:p>
            <a:pPr marL="0" indent="0">
              <a:buNone/>
            </a:pPr>
            <a:r>
              <a:rPr lang="en-US" altLang="zh-CN" dirty="0"/>
              <a:t>    elements = new T[</a:t>
            </a:r>
            <a:r>
              <a:rPr lang="en-US" altLang="zh-CN" dirty="0" err="1"/>
              <a:t>maxSize</a:t>
            </a:r>
            <a:r>
              <a:rPr lang="en-US" altLang="zh-CN" dirty="0"/>
              <a:t>];		</a:t>
            </a:r>
            <a:endParaRPr lang="en-US" altLang="zh-CN" dirty="0"/>
          </a:p>
          <a:p>
            <a:pPr marL="0" indent="0">
              <a:buNone/>
            </a:pPr>
            <a:r>
              <a:rPr lang="en-US" altLang="zh-CN" dirty="0"/>
              <a:t>    assert ( elements != NULL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 </a:t>
            </a:r>
            <a:endParaRPr lang="en-US" altLang="zh-CN" dirty="0"/>
          </a:p>
          <a:p>
            <a:pPr marL="0" indent="0">
              <a:buNone/>
            </a:pPr>
            <a:r>
              <a:rPr lang="en-US" altLang="zh-CN" dirty="0"/>
              <a:t>bool </a:t>
            </a:r>
            <a:r>
              <a:rPr lang="en-US" altLang="zh-CN" dirty="0" err="1"/>
              <a:t>SeqQueue</a:t>
            </a:r>
            <a:r>
              <a:rPr lang="en-US" altLang="zh-CN" dirty="0"/>
              <a:t>&lt;T&gt;::</a:t>
            </a:r>
            <a:r>
              <a:rPr lang="en-US" altLang="zh-CN" dirty="0" err="1"/>
              <a:t>EnQueue</a:t>
            </a:r>
            <a:r>
              <a:rPr lang="en-US" altLang="zh-CN" dirty="0"/>
              <a:t> (const T&amp; x) {</a:t>
            </a:r>
            <a:endParaRPr lang="en-US" altLang="zh-CN" dirty="0"/>
          </a:p>
          <a:p>
            <a:pPr marL="0" indent="0">
              <a:buNone/>
            </a:pPr>
            <a:r>
              <a:rPr lang="en-US" altLang="zh-CN" dirty="0"/>
              <a:t>     if ( </a:t>
            </a:r>
            <a:r>
              <a:rPr lang="en-US" altLang="zh-CN" dirty="0" err="1"/>
              <a:t>IsFull</a:t>
            </a:r>
            <a:r>
              <a:rPr lang="en-US" altLang="zh-CN" dirty="0"/>
              <a:t> ( ) == true ) return false; </a:t>
            </a:r>
            <a:endParaRPr lang="en-US" altLang="zh-CN" dirty="0"/>
          </a:p>
          <a:p>
            <a:pPr marL="0" indent="0">
              <a:buNone/>
            </a:pPr>
            <a:r>
              <a:rPr lang="en-US" altLang="zh-CN" dirty="0"/>
              <a:t>     elements[rear] = x;	</a:t>
            </a:r>
            <a:endParaRPr lang="en-US" altLang="zh-CN" dirty="0"/>
          </a:p>
          <a:p>
            <a:pPr marL="0" indent="0">
              <a:buNone/>
            </a:pPr>
            <a:r>
              <a:rPr lang="en-US" altLang="zh-CN" dirty="0"/>
              <a:t>     rear = (rear+1) % </a:t>
            </a:r>
            <a:r>
              <a:rPr lang="en-US" altLang="zh-CN" dirty="0" err="1"/>
              <a:t>maxSize</a:t>
            </a:r>
            <a:r>
              <a:rPr lang="en-US" altLang="zh-CN" dirty="0"/>
              <a:t>;	</a:t>
            </a:r>
            <a:endParaRPr lang="en-US" altLang="zh-CN" dirty="0"/>
          </a:p>
          <a:p>
            <a:pPr marL="0" indent="0">
              <a:buNone/>
            </a:pPr>
            <a:r>
              <a:rPr lang="en-US" altLang="zh-CN" dirty="0"/>
              <a:t>     return true;		</a:t>
            </a:r>
            <a:endParaRPr lang="en-US" altLang="zh-CN" dirty="0"/>
          </a:p>
          <a:p>
            <a:pPr marL="0" indent="0">
              <a:buNone/>
            </a:pPr>
            <a:r>
              <a:rPr lang="en-US" altLang="zh-CN" dirty="0"/>
              <a:t>}</a:t>
            </a:r>
            <a:endParaRPr lang="en-US" altLang="zh-CN" dirty="0"/>
          </a:p>
          <a:p>
            <a:pPr marL="0" indent="0">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template &lt;class T&gt; </a:t>
            </a:r>
            <a:endParaRPr lang="en-US" altLang="zh-CN" dirty="0"/>
          </a:p>
          <a:p>
            <a:pPr marL="0" indent="0">
              <a:buNone/>
            </a:pPr>
            <a:r>
              <a:rPr lang="en-US" altLang="zh-CN" dirty="0"/>
              <a:t>bool </a:t>
            </a:r>
            <a:r>
              <a:rPr lang="en-US" altLang="zh-CN" dirty="0" err="1"/>
              <a:t>LinkedQueue</a:t>
            </a:r>
            <a:r>
              <a:rPr lang="en-US" altLang="zh-CN" dirty="0"/>
              <a:t>&lt;T&gt;::</a:t>
            </a:r>
            <a:r>
              <a:rPr lang="en-US" altLang="zh-CN" dirty="0" err="1"/>
              <a:t>EnQueue</a:t>
            </a:r>
            <a:r>
              <a:rPr lang="en-US" altLang="zh-CN" dirty="0"/>
              <a:t> (const T&amp; x) {</a:t>
            </a:r>
            <a:endParaRPr lang="en-US" altLang="zh-CN" dirty="0"/>
          </a:p>
          <a:p>
            <a:pPr marL="0" indent="0">
              <a:buNone/>
            </a:pPr>
            <a:r>
              <a:rPr lang="en-US" altLang="zh-CN" dirty="0"/>
              <a:t>    if ( front == NULL ) {   //</a:t>
            </a:r>
            <a:r>
              <a:rPr lang="zh-CN" altLang="en-US" dirty="0"/>
              <a:t>创建第一个结点</a:t>
            </a:r>
            <a:endParaRPr lang="zh-CN" altLang="en-US" dirty="0"/>
          </a:p>
          <a:p>
            <a:pPr marL="0" indent="0">
              <a:buNone/>
            </a:pPr>
            <a:r>
              <a:rPr lang="zh-CN" altLang="en-US" dirty="0"/>
              <a:t>	   </a:t>
            </a:r>
            <a:r>
              <a:rPr lang="en-US" altLang="zh-CN" dirty="0"/>
              <a:t>front = rear = new </a:t>
            </a:r>
            <a:r>
              <a:rPr lang="en-US" altLang="zh-CN" dirty="0" err="1"/>
              <a:t>LinkedNode</a:t>
            </a:r>
            <a:r>
              <a:rPr lang="en-US" altLang="zh-CN" dirty="0"/>
              <a:t>&lt;T&gt; (x);</a:t>
            </a:r>
            <a:endParaRPr lang="en-US" altLang="zh-CN" dirty="0"/>
          </a:p>
          <a:p>
            <a:pPr marL="0" indent="0">
              <a:buNone/>
            </a:pPr>
            <a:r>
              <a:rPr lang="en-US" altLang="zh-CN" dirty="0"/>
              <a:t>         if ( front == NULL ) return false; </a:t>
            </a:r>
            <a:endParaRPr lang="en-US" altLang="zh-CN" dirty="0"/>
          </a:p>
          <a:p>
            <a:pPr marL="0" indent="0">
              <a:buNone/>
            </a:pPr>
            <a:r>
              <a:rPr lang="en-US" altLang="zh-CN" dirty="0"/>
              <a:t>    }</a:t>
            </a:r>
            <a:endParaRPr lang="en-US" altLang="zh-CN" dirty="0"/>
          </a:p>
          <a:p>
            <a:pPr marL="0" indent="0">
              <a:buNone/>
            </a:pPr>
            <a:r>
              <a:rPr lang="en-US" altLang="zh-CN" dirty="0"/>
              <a:t>    else {    //</a:t>
            </a:r>
            <a:r>
              <a:rPr lang="zh-CN" altLang="en-US" dirty="0"/>
              <a:t>队列不空</a:t>
            </a:r>
            <a:r>
              <a:rPr lang="en-US" altLang="zh-CN" dirty="0"/>
              <a:t>, </a:t>
            </a:r>
            <a:r>
              <a:rPr lang="zh-CN" altLang="en-US" dirty="0"/>
              <a:t>插入</a:t>
            </a:r>
            <a:endParaRPr lang="zh-CN" altLang="en-US" dirty="0"/>
          </a:p>
          <a:p>
            <a:pPr marL="0" indent="0">
              <a:buNone/>
            </a:pPr>
            <a:r>
              <a:rPr lang="zh-CN" altLang="en-US" dirty="0"/>
              <a:t>         </a:t>
            </a:r>
            <a:r>
              <a:rPr lang="en-US" altLang="zh-CN" dirty="0"/>
              <a:t>rear-&gt;link = new </a:t>
            </a:r>
            <a:r>
              <a:rPr lang="en-US" altLang="zh-CN" dirty="0" err="1"/>
              <a:t>LinkNode</a:t>
            </a:r>
            <a:r>
              <a:rPr lang="en-US" altLang="zh-CN" dirty="0"/>
              <a:t> &lt;T&gt; (x);   </a:t>
            </a:r>
            <a:endParaRPr lang="en-US" altLang="zh-CN" dirty="0"/>
          </a:p>
          <a:p>
            <a:pPr marL="0" indent="0">
              <a:buNone/>
            </a:pPr>
            <a:r>
              <a:rPr lang="en-US" altLang="zh-CN" dirty="0"/>
              <a:t>         if(rear-&gt;link == NULL) return false; </a:t>
            </a:r>
            <a:endParaRPr lang="en-US" altLang="zh-CN" dirty="0"/>
          </a:p>
          <a:p>
            <a:pPr marL="0" indent="0">
              <a:buNone/>
            </a:pPr>
            <a:r>
              <a:rPr lang="en-US" altLang="zh-CN" dirty="0"/>
              <a:t>         rear = rear-&gt;link;</a:t>
            </a:r>
            <a:endParaRPr lang="en-US" altLang="zh-CN" dirty="0"/>
          </a:p>
          <a:p>
            <a:pPr marL="0" indent="0">
              <a:buNone/>
            </a:pPr>
            <a:r>
              <a:rPr lang="en-US" altLang="zh-CN" dirty="0"/>
              <a:t>    }</a:t>
            </a:r>
            <a:endParaRPr lang="en-US" altLang="zh-CN" dirty="0"/>
          </a:p>
          <a:p>
            <a:pPr marL="0" indent="0">
              <a:buNone/>
            </a:pPr>
            <a:r>
              <a:rPr lang="en-US" altLang="zh-CN" dirty="0"/>
              <a:t>    return true;</a:t>
            </a:r>
            <a:endParaRPr lang="en-US" altLang="zh-CN" dirty="0"/>
          </a:p>
          <a:p>
            <a:pPr marL="0" indent="0">
              <a:buNone/>
            </a:pPr>
            <a:r>
              <a:rPr lang="en-US" altLang="zh-CN" dirty="0"/>
              <a:t>}</a:t>
            </a:r>
            <a:endParaRPr lang="en-US" altLang="zh-CN" dirty="0"/>
          </a:p>
          <a:p>
            <a:pPr marL="0" indent="0">
              <a:buNone/>
            </a:pPr>
            <a:endParaRPr lang="zh-CN" altLang="en-US" dirty="0"/>
          </a:p>
          <a:p>
            <a:pPr marL="0" indent="0">
              <a:buNone/>
            </a:pPr>
            <a:r>
              <a:rPr lang="en-US" altLang="zh-CN" dirty="0"/>
              <a:t>template &lt;class T&gt; </a:t>
            </a:r>
            <a:endParaRPr lang="en-US" altLang="zh-CN" dirty="0"/>
          </a:p>
          <a:p>
            <a:pPr marL="0" indent="0">
              <a:buNone/>
            </a:pPr>
            <a:r>
              <a:rPr lang="en-US" altLang="zh-CN" dirty="0"/>
              <a:t>bool </a:t>
            </a:r>
            <a:r>
              <a:rPr lang="en-US" altLang="zh-CN" dirty="0" err="1"/>
              <a:t>LinkedQueue</a:t>
            </a:r>
            <a:r>
              <a:rPr lang="en-US" altLang="zh-CN" dirty="0"/>
              <a:t>&lt;T&gt; :: </a:t>
            </a:r>
            <a:r>
              <a:rPr lang="en-US" altLang="zh-CN" dirty="0" err="1"/>
              <a:t>DeQueue</a:t>
            </a:r>
            <a:r>
              <a:rPr lang="en-US" altLang="zh-CN" dirty="0"/>
              <a:t> (T&amp; x) {</a:t>
            </a:r>
            <a:endParaRPr lang="en-US" altLang="zh-CN" dirty="0"/>
          </a:p>
          <a:p>
            <a:pPr marL="0" indent="0">
              <a:buNone/>
            </a:pPr>
            <a:r>
              <a:rPr lang="en-US" altLang="zh-CN" dirty="0"/>
              <a:t>    if ( </a:t>
            </a:r>
            <a:r>
              <a:rPr lang="en-US" altLang="zh-CN" dirty="0" err="1"/>
              <a:t>IsEmpty</a:t>
            </a:r>
            <a:r>
              <a:rPr lang="en-US" altLang="zh-CN" dirty="0"/>
              <a:t> ( )  ) return false; //</a:t>
            </a:r>
            <a:r>
              <a:rPr lang="zh-CN" altLang="en-US" dirty="0"/>
              <a:t>判队空</a:t>
            </a:r>
            <a:endParaRPr lang="zh-CN" altLang="en-US" dirty="0"/>
          </a:p>
          <a:p>
            <a:pPr marL="0" indent="0">
              <a:buNone/>
            </a:pPr>
            <a:r>
              <a:rPr lang="zh-CN" altLang="en-US" dirty="0"/>
              <a:t>    </a:t>
            </a:r>
            <a:r>
              <a:rPr lang="en-US" altLang="zh-CN" dirty="0" err="1"/>
              <a:t>LinkedNode</a:t>
            </a:r>
            <a:r>
              <a:rPr lang="en-US" altLang="zh-CN" dirty="0"/>
              <a:t>&lt;T&gt; *p = front;		</a:t>
            </a:r>
            <a:endParaRPr lang="en-US" altLang="zh-CN" dirty="0"/>
          </a:p>
          <a:p>
            <a:pPr marL="0" indent="0">
              <a:buNone/>
            </a:pPr>
            <a:r>
              <a:rPr lang="en-US" altLang="zh-CN" dirty="0"/>
              <a:t>    x = front-&gt;data;  front = front-&gt;link;   </a:t>
            </a:r>
            <a:endParaRPr lang="en-US" altLang="zh-CN" dirty="0"/>
          </a:p>
          <a:p>
            <a:pPr marL="0" indent="0">
              <a:buNone/>
            </a:pPr>
            <a:r>
              <a:rPr lang="en-US" altLang="zh-CN" dirty="0"/>
              <a:t>    delete p;   return true;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 </a:t>
            </a:r>
            <a:endParaRPr lang="en-US" altLang="zh-CN" dirty="0"/>
          </a:p>
          <a:p>
            <a:pPr marL="0" indent="0">
              <a:buNone/>
            </a:pPr>
            <a:r>
              <a:rPr lang="en-US" altLang="zh-CN" dirty="0"/>
              <a:t>bool </a:t>
            </a:r>
            <a:r>
              <a:rPr lang="en-US" altLang="zh-CN" dirty="0" err="1"/>
              <a:t>LinkedQueue</a:t>
            </a:r>
            <a:r>
              <a:rPr lang="en-US" altLang="zh-CN" dirty="0"/>
              <a:t>&lt;T&gt; :: </a:t>
            </a:r>
            <a:r>
              <a:rPr lang="en-US" altLang="zh-CN" dirty="0" err="1"/>
              <a:t>getFront</a:t>
            </a:r>
            <a:r>
              <a:rPr lang="en-US" altLang="zh-CN" dirty="0"/>
              <a:t> (T&amp; x) const{</a:t>
            </a:r>
            <a:endParaRPr lang="en-US" altLang="zh-CN" dirty="0"/>
          </a:p>
          <a:p>
            <a:pPr marL="0" indent="0">
              <a:buNone/>
            </a:pPr>
            <a:r>
              <a:rPr lang="en-US" altLang="zh-CN" dirty="0"/>
              <a:t>    if ( </a:t>
            </a:r>
            <a:r>
              <a:rPr lang="en-US" altLang="zh-CN" dirty="0" err="1"/>
              <a:t>IsEmpty</a:t>
            </a:r>
            <a:r>
              <a:rPr lang="en-US" altLang="zh-CN" dirty="0"/>
              <a:t> ( ) == true ) return false; 	</a:t>
            </a:r>
            <a:endParaRPr lang="en-US" altLang="zh-CN" dirty="0"/>
          </a:p>
          <a:p>
            <a:pPr marL="0" indent="0">
              <a:buNone/>
            </a:pPr>
            <a:r>
              <a:rPr lang="en-US" altLang="zh-CN" dirty="0"/>
              <a:t>    x = front-&gt;data;  return true;</a:t>
            </a:r>
            <a:endParaRPr lang="en-US" altLang="zh-CN" dirty="0"/>
          </a:p>
          <a:p>
            <a:pPr marL="0" indent="0">
              <a:buNone/>
            </a:pPr>
            <a:r>
              <a:rPr lang="en-US" altLang="zh-CN" dirty="0"/>
              <a:t>} </a:t>
            </a:r>
            <a:endParaRPr lang="en-US" altLang="zh-CN" dirty="0"/>
          </a:p>
          <a:p>
            <a:pPr marL="0" indent="0">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template &lt;class T&gt; </a:t>
            </a:r>
            <a:endParaRPr lang="en-US" altLang="zh-CN" dirty="0"/>
          </a:p>
          <a:p>
            <a:pPr marL="0" indent="0">
              <a:buNone/>
            </a:pPr>
            <a:r>
              <a:rPr lang="en-US" altLang="zh-CN" dirty="0" err="1"/>
              <a:t>PQueue</a:t>
            </a:r>
            <a:r>
              <a:rPr lang="en-US" altLang="zh-CN" dirty="0"/>
              <a:t>&lt;T&gt; :: </a:t>
            </a:r>
            <a:r>
              <a:rPr lang="en-US" altLang="zh-CN" dirty="0" err="1"/>
              <a:t>PQueue</a:t>
            </a:r>
            <a:r>
              <a:rPr lang="en-US" altLang="zh-CN" dirty="0"/>
              <a:t> (int </a:t>
            </a:r>
            <a:r>
              <a:rPr lang="en-US" altLang="zh-CN" dirty="0" err="1"/>
              <a:t>sz</a:t>
            </a:r>
            <a:r>
              <a:rPr lang="en-US" altLang="zh-CN" dirty="0"/>
              <a:t>) : </a:t>
            </a:r>
            <a:r>
              <a:rPr lang="en-US" altLang="zh-CN" dirty="0" err="1"/>
              <a:t>maxSize</a:t>
            </a:r>
            <a:r>
              <a:rPr lang="en-US" altLang="zh-CN" dirty="0"/>
              <a:t>(</a:t>
            </a:r>
            <a:r>
              <a:rPr lang="en-US" altLang="zh-CN" dirty="0" err="1"/>
              <a:t>sz</a:t>
            </a:r>
            <a:r>
              <a:rPr lang="en-US" altLang="zh-CN" dirty="0"/>
              <a:t>), count(0){ </a:t>
            </a:r>
            <a:endParaRPr lang="en-US" altLang="zh-CN" dirty="0"/>
          </a:p>
          <a:p>
            <a:pPr marL="0" indent="0">
              <a:buNone/>
            </a:pPr>
            <a:r>
              <a:rPr lang="en-US" altLang="zh-CN" dirty="0"/>
              <a:t>     </a:t>
            </a:r>
            <a:r>
              <a:rPr lang="en-US" altLang="zh-CN" dirty="0" err="1"/>
              <a:t>pqelements</a:t>
            </a:r>
            <a:r>
              <a:rPr lang="en-US" altLang="zh-CN" dirty="0"/>
              <a:t> = new T[</a:t>
            </a:r>
            <a:r>
              <a:rPr lang="en-US" altLang="zh-CN" dirty="0" err="1"/>
              <a:t>maxSize</a:t>
            </a:r>
            <a:r>
              <a:rPr lang="en-US" altLang="zh-CN" dirty="0"/>
              <a:t>];	</a:t>
            </a:r>
            <a:endParaRPr lang="en-US" altLang="zh-CN" dirty="0"/>
          </a:p>
          <a:p>
            <a:pPr marL="0" indent="0">
              <a:buNone/>
            </a:pPr>
            <a:r>
              <a:rPr lang="en-US" altLang="zh-CN" dirty="0"/>
              <a:t>     assert ( </a:t>
            </a:r>
            <a:r>
              <a:rPr lang="en-US" altLang="zh-CN" dirty="0" err="1"/>
              <a:t>pqelements</a:t>
            </a:r>
            <a:r>
              <a:rPr lang="en-US" altLang="zh-CN" dirty="0"/>
              <a:t> != NULL );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 </a:t>
            </a:r>
            <a:endParaRPr lang="en-US" altLang="zh-CN" dirty="0"/>
          </a:p>
          <a:p>
            <a:pPr marL="0" indent="0">
              <a:buNone/>
            </a:pPr>
            <a:r>
              <a:rPr lang="en-US" altLang="zh-CN" dirty="0"/>
              <a:t>bool </a:t>
            </a:r>
            <a:r>
              <a:rPr lang="en-US" altLang="zh-CN" dirty="0" err="1"/>
              <a:t>PQueue</a:t>
            </a:r>
            <a:r>
              <a:rPr lang="en-US" altLang="zh-CN" dirty="0"/>
              <a:t>&lt;T&gt; :: Insert (T x) {</a:t>
            </a:r>
            <a:endParaRPr lang="en-US" altLang="zh-CN" dirty="0"/>
          </a:p>
          <a:p>
            <a:pPr marL="0" indent="0">
              <a:buNone/>
            </a:pPr>
            <a:r>
              <a:rPr lang="en-US" altLang="zh-CN" dirty="0"/>
              <a:t>     if(</a:t>
            </a:r>
            <a:r>
              <a:rPr lang="en-US" altLang="zh-CN" dirty="0" err="1"/>
              <a:t>IsFull</a:t>
            </a:r>
            <a:r>
              <a:rPr lang="en-US" altLang="zh-CN" dirty="0"/>
              <a:t>() ) return false;      //</a:t>
            </a:r>
            <a:r>
              <a:rPr lang="zh-CN" altLang="en-US" dirty="0"/>
              <a:t>判队满断言</a:t>
            </a:r>
            <a:endParaRPr lang="zh-CN" altLang="en-US" dirty="0"/>
          </a:p>
          <a:p>
            <a:pPr marL="0" indent="0">
              <a:buNone/>
            </a:pPr>
            <a:r>
              <a:rPr lang="zh-CN" altLang="en-US" dirty="0"/>
              <a:t>     </a:t>
            </a:r>
            <a:r>
              <a:rPr lang="en-US" altLang="zh-CN" dirty="0" err="1"/>
              <a:t>pqelements</a:t>
            </a:r>
            <a:r>
              <a:rPr lang="en-US" altLang="zh-CN" dirty="0"/>
              <a:t>[count++] = x;</a:t>
            </a:r>
            <a:endParaRPr lang="en-US" altLang="zh-CN" dirty="0"/>
          </a:p>
          <a:p>
            <a:pPr marL="0" indent="0">
              <a:buNone/>
            </a:pPr>
            <a:r>
              <a:rPr lang="en-US" altLang="zh-CN" dirty="0"/>
              <a:t>     adjust ( );   return true;</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 </a:t>
            </a:r>
            <a:endParaRPr lang="en-US" altLang="zh-CN" dirty="0"/>
          </a:p>
          <a:p>
            <a:pPr marL="0" indent="0">
              <a:buNone/>
            </a:pPr>
            <a:r>
              <a:rPr lang="en-US" altLang="zh-CN" dirty="0"/>
              <a:t>bool </a:t>
            </a:r>
            <a:r>
              <a:rPr lang="en-US" altLang="zh-CN" dirty="0" err="1"/>
              <a:t>PQueue</a:t>
            </a:r>
            <a:r>
              <a:rPr lang="en-US" altLang="zh-CN" dirty="0"/>
              <a:t>&lt;T&gt; :: </a:t>
            </a:r>
            <a:r>
              <a:rPr lang="en-US" altLang="zh-CN" dirty="0" err="1"/>
              <a:t>RemoveMin</a:t>
            </a:r>
            <a:r>
              <a:rPr lang="en-US" altLang="zh-CN" dirty="0"/>
              <a:t> (T&amp; x) {</a:t>
            </a:r>
            <a:endParaRPr lang="en-US" altLang="zh-CN" dirty="0"/>
          </a:p>
          <a:p>
            <a:pPr marL="0" indent="0">
              <a:buNone/>
            </a:pPr>
            <a:r>
              <a:rPr lang="en-US" altLang="zh-CN" dirty="0"/>
              <a:t>     if (</a:t>
            </a:r>
            <a:r>
              <a:rPr lang="en-US" altLang="zh-CN" dirty="0" err="1"/>
              <a:t>IsEmpty</a:t>
            </a:r>
            <a:r>
              <a:rPr lang="en-US" altLang="zh-CN" dirty="0"/>
              <a:t>()) return false;</a:t>
            </a:r>
            <a:endParaRPr lang="en-US" altLang="zh-CN" dirty="0"/>
          </a:p>
          <a:p>
            <a:pPr marL="0" indent="0">
              <a:buNone/>
            </a:pPr>
            <a:r>
              <a:rPr lang="en-US" altLang="zh-CN" dirty="0"/>
              <a:t>     x = </a:t>
            </a:r>
            <a:r>
              <a:rPr lang="en-US" altLang="zh-CN" dirty="0" err="1"/>
              <a:t>pqelements</a:t>
            </a:r>
            <a:r>
              <a:rPr lang="en-US" altLang="zh-CN" dirty="0"/>
              <a:t>[0];       //</a:t>
            </a:r>
            <a:r>
              <a:rPr lang="zh-CN" altLang="en-US" dirty="0"/>
              <a:t>取出</a:t>
            </a:r>
            <a:r>
              <a:rPr lang="en-US" altLang="zh-CN" dirty="0"/>
              <a:t>0</a:t>
            </a:r>
            <a:r>
              <a:rPr lang="zh-CN" altLang="en-US" dirty="0"/>
              <a:t>号元素</a:t>
            </a:r>
            <a:endParaRPr lang="zh-CN" altLang="en-US" dirty="0"/>
          </a:p>
          <a:p>
            <a:pPr marL="0" indent="0">
              <a:buNone/>
            </a:pPr>
            <a:r>
              <a:rPr lang="zh-CN" altLang="en-US" dirty="0"/>
              <a:t>     </a:t>
            </a:r>
            <a:r>
              <a:rPr lang="en-US" altLang="zh-CN" dirty="0"/>
              <a:t>for ( int </a:t>
            </a:r>
            <a:r>
              <a:rPr lang="en-US" altLang="zh-CN" dirty="0" err="1"/>
              <a:t>i</a:t>
            </a:r>
            <a:r>
              <a:rPr lang="en-US" altLang="zh-CN" dirty="0"/>
              <a:t> = 1; </a:t>
            </a:r>
            <a:r>
              <a:rPr lang="en-US" altLang="zh-CN" dirty="0" err="1"/>
              <a:t>i</a:t>
            </a:r>
            <a:r>
              <a:rPr lang="en-US" altLang="zh-CN" dirty="0"/>
              <a:t> &lt; count; </a:t>
            </a:r>
            <a:r>
              <a:rPr lang="en-US" altLang="zh-CN" dirty="0" err="1"/>
              <a:t>i</a:t>
            </a:r>
            <a:r>
              <a:rPr lang="en-US" altLang="zh-CN" dirty="0"/>
              <a:t>++ )</a:t>
            </a:r>
            <a:endParaRPr lang="en-US" altLang="zh-CN" dirty="0"/>
          </a:p>
          <a:p>
            <a:pPr marL="0" indent="0">
              <a:buNone/>
            </a:pPr>
            <a:r>
              <a:rPr lang="en-US" altLang="zh-CN" dirty="0"/>
              <a:t>         </a:t>
            </a:r>
            <a:r>
              <a:rPr lang="en-US" altLang="zh-CN" dirty="0" err="1"/>
              <a:t>pqelements</a:t>
            </a:r>
            <a:r>
              <a:rPr lang="en-US" altLang="zh-CN" dirty="0"/>
              <a:t>[i-1] = </a:t>
            </a:r>
            <a:r>
              <a:rPr lang="en-US" altLang="zh-CN" dirty="0" err="1"/>
              <a:t>pqelements</a:t>
            </a:r>
            <a:r>
              <a:rPr lang="en-US" altLang="zh-CN" dirty="0"/>
              <a:t>[</a:t>
            </a:r>
            <a:r>
              <a:rPr lang="en-US" altLang="zh-CN" dirty="0" err="1"/>
              <a:t>i</a:t>
            </a:r>
            <a:r>
              <a:rPr lang="en-US" altLang="zh-CN" dirty="0"/>
              <a:t>];</a:t>
            </a:r>
            <a:endParaRPr lang="en-US" altLang="zh-CN" dirty="0"/>
          </a:p>
          <a:p>
            <a:pPr marL="0" indent="0">
              <a:buNone/>
            </a:pPr>
            <a:r>
              <a:rPr lang="en-US" altLang="zh-CN" dirty="0"/>
              <a:t>          //</a:t>
            </a:r>
            <a:r>
              <a:rPr lang="zh-CN" altLang="en-US" dirty="0"/>
              <a:t>从后向前逐个移动元素填补空位</a:t>
            </a:r>
            <a:endParaRPr lang="zh-CN" altLang="en-US" dirty="0"/>
          </a:p>
          <a:p>
            <a:pPr marL="0" indent="0">
              <a:buNone/>
            </a:pPr>
            <a:r>
              <a:rPr lang="zh-CN" altLang="en-US" dirty="0"/>
              <a:t>     </a:t>
            </a:r>
            <a:r>
              <a:rPr lang="en-US" altLang="zh-CN" dirty="0"/>
              <a:t>count--;  return true;</a:t>
            </a:r>
            <a:endParaRPr lang="en-US" altLang="zh-CN" dirty="0"/>
          </a:p>
          <a:p>
            <a:pPr marL="0" indent="0">
              <a:buNone/>
            </a:pPr>
            <a:r>
              <a:rPr lang="en-US" altLang="zh-CN" dirty="0"/>
              <a:t>} </a:t>
            </a:r>
            <a:endParaRPr lang="en-US" altLang="zh-CN" dirty="0"/>
          </a:p>
          <a:p>
            <a:endParaRPr lang="en-US" altLang="zh-CN" dirty="0"/>
          </a:p>
          <a:p>
            <a:pPr marL="0" indent="0">
              <a:buNone/>
            </a:pPr>
            <a:r>
              <a:rPr lang="en-US" altLang="zh-CN" dirty="0"/>
              <a:t>template &lt;class T&gt;</a:t>
            </a:r>
            <a:endParaRPr lang="en-US" altLang="zh-CN" dirty="0"/>
          </a:p>
          <a:p>
            <a:pPr marL="0" indent="0">
              <a:buNone/>
            </a:pPr>
            <a:r>
              <a:rPr lang="en-US" altLang="zh-CN" dirty="0"/>
              <a:t>bool </a:t>
            </a:r>
            <a:r>
              <a:rPr lang="en-US" altLang="zh-CN" dirty="0" err="1"/>
              <a:t>PQueue</a:t>
            </a:r>
            <a:r>
              <a:rPr lang="en-US" altLang="zh-CN" dirty="0"/>
              <a:t>&lt;T&gt; :: </a:t>
            </a:r>
            <a:r>
              <a:rPr lang="en-US" altLang="zh-CN" dirty="0" err="1"/>
              <a:t>GetFront</a:t>
            </a:r>
            <a:r>
              <a:rPr lang="en-US" altLang="zh-CN" dirty="0"/>
              <a:t> ( T &amp;x) const{</a:t>
            </a:r>
            <a:endParaRPr lang="en-US" altLang="zh-CN" dirty="0"/>
          </a:p>
          <a:p>
            <a:pPr marL="0" indent="0">
              <a:buNone/>
            </a:pPr>
            <a:r>
              <a:rPr lang="en-US" altLang="zh-CN" dirty="0"/>
              <a:t>     if (</a:t>
            </a:r>
            <a:r>
              <a:rPr lang="en-US" altLang="zh-CN" dirty="0" err="1"/>
              <a:t>IsEmpty</a:t>
            </a:r>
            <a:r>
              <a:rPr lang="en-US" altLang="zh-CN" dirty="0"/>
              <a:t>()) return false;</a:t>
            </a:r>
            <a:endParaRPr lang="en-US" altLang="zh-CN" dirty="0"/>
          </a:p>
          <a:p>
            <a:pPr marL="0" indent="0">
              <a:buNone/>
            </a:pPr>
            <a:r>
              <a:rPr lang="en-US" altLang="zh-CN" dirty="0"/>
              <a:t>     x = </a:t>
            </a:r>
            <a:r>
              <a:rPr lang="en-US" altLang="zh-CN" dirty="0" err="1"/>
              <a:t>pqelements</a:t>
            </a:r>
            <a:r>
              <a:rPr lang="en-US" altLang="zh-CN" dirty="0"/>
              <a:t>[0];</a:t>
            </a:r>
            <a:endParaRPr lang="en-US" altLang="zh-CN" dirty="0"/>
          </a:p>
          <a:p>
            <a:pPr marL="0" indent="0">
              <a:buNone/>
            </a:pPr>
            <a:r>
              <a:rPr lang="en-US" altLang="zh-CN" dirty="0"/>
              <a:t>     return true;</a:t>
            </a:r>
            <a:endParaRPr lang="en-US" altLang="zh-CN" dirty="0"/>
          </a:p>
          <a:p>
            <a:pPr marL="0" indent="0">
              <a:buNone/>
            </a:pPr>
            <a:r>
              <a:rPr lang="en-US" altLang="zh-CN" dirty="0"/>
              <a:t>}</a:t>
            </a:r>
            <a:endParaRPr lang="en-US" altLang="zh-CN" dirty="0"/>
          </a:p>
          <a:p>
            <a:pPr marL="0" indent="0">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508B7A9-1681-4AAB-AA0E-717C03409CCF}"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Consolas" panose="020B0609020204030204" pitchFamily="49" charset="0"/>
            </a:endParaRPr>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DE7397-9F8E-406F-84B8-54B6872837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EEDDC991-A5C2-4F34-ADF9-6945D8B60EAB}" type="slidenum">
              <a:rPr lang="en-US" altLang="zh-CN"/>
            </a:fld>
            <a:endParaRPr lang="en-US" altLang="zh-CN"/>
          </a:p>
        </p:txBody>
      </p:sp>
    </p:spTree>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lnSpc>
                <a:spcPct val="100000"/>
              </a:lnSpc>
              <a:defRPr sz="3600"/>
            </a:lvl1pPr>
            <a:lvl2pPr>
              <a:lnSpc>
                <a:spcPct val="100000"/>
              </a:lnSpc>
              <a:defRPr sz="3200"/>
            </a:lvl2pPr>
            <a:lvl3pPr>
              <a:lnSpc>
                <a:spcPct val="100000"/>
              </a:lnSpc>
              <a:defRPr sz="2800"/>
            </a:lvl3pPr>
            <a:lvl4pPr>
              <a:lnSpc>
                <a:spcPct val="100000"/>
              </a:lnSpc>
              <a:defRPr sz="1600"/>
            </a:lvl4pPr>
            <a:lvl5pPr>
              <a:lnSpc>
                <a:spcPct val="100000"/>
              </a:lnSpc>
              <a:defRPr sz="1600"/>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DF308279-E53A-43DB-B3B3-E0353D0AA00E}" type="slidenum">
              <a:rPr lang="en-US" altLang="zh-CN"/>
            </a:fld>
            <a:endParaRPr lang="en-US" altLang="zh-CN"/>
          </a:p>
        </p:txBody>
      </p:sp>
    </p:spTree>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7C60A255-39C1-46CD-B09B-063871684049}" type="slidenum">
              <a:rPr lang="en-US" altLang="zh-CN"/>
            </a:fld>
            <a:endParaRPr lang="en-US" altLang="zh-CN"/>
          </a:p>
        </p:txBody>
      </p:sp>
    </p:spTree>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503BA03-F491-4556-BF55-C7A0902236EA}" type="slidenum">
              <a:rPr lang="en-US" altLang="zh-CN"/>
            </a:fld>
            <a:endParaRPr lang="en-US" altLang="zh-CN"/>
          </a:p>
        </p:txBody>
      </p:sp>
    </p:spTree>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C06DB3A-5883-40B9-A045-BD8B0EF15A49}" type="slidenum">
              <a:rPr lang="en-US" altLang="zh-CN"/>
            </a:fld>
            <a:endParaRPr lang="en-US" altLang="zh-CN"/>
          </a:p>
        </p:txBody>
      </p:sp>
    </p:spTree>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endParaRPr lang="zh-CN" altLang="en-US" dirty="0"/>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7F8AB9B2-5EB2-4ACE-9D46-4808C0D400F4}" type="slidenum">
              <a:rPr lang="en-US" altLang="zh-CN"/>
            </a:fld>
            <a:endParaRPr lang="en-US" altLang="zh-CN"/>
          </a:p>
        </p:txBody>
      </p:sp>
    </p:spTree>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8213374E-244F-4EF8-8F80-5FAE57EC15DF}" type="slidenum">
              <a:rPr lang="en-US" altLang="zh-CN"/>
            </a:fld>
            <a:endParaRPr lang="en-US" altLang="zh-CN"/>
          </a:p>
        </p:txBody>
      </p:sp>
    </p:spTree>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92585575-0C27-44F5-A411-0816E309CE49}" type="slidenum">
              <a:rPr lang="en-US" altLang="zh-CN"/>
            </a:fld>
            <a:endParaRPr lang="en-US" altLang="zh-CN"/>
          </a:p>
        </p:txBody>
      </p:sp>
    </p:spTree>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DAFD03E-8755-4EDC-8225-7E67BB03F1ED}" type="slidenum">
              <a:rPr lang="en-US" altLang="zh-CN"/>
            </a:fld>
            <a:endParaRPr lang="en-US" altLang="zh-CN"/>
          </a:p>
        </p:txBody>
      </p:sp>
    </p:spTree>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BD3AB28-9C41-4BB8-B6EF-368B2C40D6DA}" type="slidenum">
              <a:rPr lang="en-US" altLang="zh-CN"/>
            </a:fld>
            <a:endParaRPr lang="en-US" altLang="zh-CN"/>
          </a:p>
        </p:txBody>
      </p:sp>
    </p:spTree>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38768F8-D6C3-4F39-B5A8-ABC38361CE69}" type="slidenum">
              <a:rPr lang="en-US" altLang="zh-CN"/>
            </a:fld>
            <a:endParaRPr lang="en-US" altLang="zh-CN"/>
          </a:p>
        </p:txBody>
      </p:sp>
    </p:spTree>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8400"/>
            <a:ext cx="1905000" cy="457200"/>
          </a:xfrm>
        </p:spPr>
        <p:txBody>
          <a:bodyPr/>
          <a:lstStyle>
            <a:lvl1pPr>
              <a:defRPr/>
            </a:lvl1pPr>
          </a:lstStyle>
          <a:p>
            <a:pPr>
              <a:defRPr/>
            </a:pPr>
            <a:fld id="{34D1FB2B-D466-4219-905E-31DA782EDA3F}" type="slidenum">
              <a:rPr lang="en-US" altLang="zh-CN"/>
            </a:fld>
            <a:endParaRPr lang="en-US" altLang="zh-CN"/>
          </a:p>
        </p:txBody>
      </p:sp>
    </p:spTree>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8400"/>
            <a:ext cx="1905000" cy="457200"/>
          </a:xfrm>
        </p:spPr>
        <p:txBody>
          <a:bodyPr/>
          <a:lstStyle>
            <a:lvl1pPr>
              <a:defRPr/>
            </a:lvl1pPr>
          </a:lstStyle>
          <a:p>
            <a:pPr>
              <a:defRPr/>
            </a:pPr>
            <a:fld id="{6ABA1208-2A87-4D8C-A577-1DC3107996DB}" type="slidenum">
              <a:rPr lang="en-US" altLang="zh-CN"/>
            </a:fld>
            <a:endParaRPr lang="en-US" altLang="zh-CN"/>
          </a:p>
        </p:txBody>
      </p:sp>
    </p:spTree>
  </p:cSld>
  <p:clrMapOvr>
    <a:masterClrMapping/>
  </p:clrMapOvr>
  <p:transition>
    <p:spli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CC5E89ED-0039-4B5F-AF22-220F3854BE5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20.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6.emf"/><Relationship Id="rId1"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6.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3.wdp"/><Relationship Id="rId1"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14.wmf"/><Relationship Id="rId1" Type="http://schemas.openxmlformats.org/officeDocument/2006/relationships/oleObject" Target="../embeddings/oleObject7.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8.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6.xml"/><Relationship Id="rId2" Type="http://schemas.openxmlformats.org/officeDocument/2006/relationships/image" Target="../media/image16.wmf"/><Relationship Id="rId1" Type="http://schemas.openxmlformats.org/officeDocument/2006/relationships/oleObject" Target="../embeddings/oleObject9.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10.bin"/></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11.bin"/></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ChangeArrowheads="1"/>
          </p:cNvSpPr>
          <p:nvPr/>
        </p:nvSpPr>
        <p:spPr bwMode="auto">
          <a:xfrm>
            <a:off x="1336675" y="584200"/>
            <a:ext cx="647700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5000"/>
              </a:lnSpc>
              <a:spcBef>
                <a:spcPct val="20000"/>
              </a:spcBef>
              <a:buClr>
                <a:srgbClr val="009900"/>
              </a:buClr>
              <a:buSzPct val="50000"/>
              <a:buFont typeface="Wingdings" panose="05000000000000000000" pitchFamily="2" charset="2"/>
              <a:buChar char="n"/>
            </a:pPr>
            <a:endParaRPr kumimoji="1" lang="zh-CN" altLang="zh-CN" sz="4000">
              <a:latin typeface="Times New Roman" panose="02020603050405020304" pitchFamily="18" charset="0"/>
              <a:ea typeface="仿宋_GB2312" panose="02010609030101010101" pitchFamily="49" charset="-122"/>
              <a:hlinkClick r:id="rId1" action="ppaction://hlinksldjump"/>
            </a:endParaRPr>
          </a:p>
        </p:txBody>
      </p:sp>
      <p:sp>
        <p:nvSpPr>
          <p:cNvPr id="5123" name="标题 1"/>
          <p:cNvSpPr>
            <a:spLocks noGrp="1" noChangeArrowheads="1"/>
          </p:cNvSpPr>
          <p:nvPr>
            <p:ph type="title"/>
          </p:nvPr>
        </p:nvSpPr>
        <p:spPr/>
        <p:txBody>
          <a:bodyPr/>
          <a:lstStyle/>
          <a:p>
            <a:r>
              <a:rPr lang="zh-CN" altLang="en-US" dirty="0"/>
              <a:t>第</a:t>
            </a:r>
            <a:r>
              <a:rPr lang="en-US" altLang="zh-CN" dirty="0"/>
              <a:t>3</a:t>
            </a:r>
            <a:r>
              <a:rPr lang="zh-CN" altLang="en-US" dirty="0"/>
              <a:t>章 栈和队列 </a:t>
            </a:r>
            <a:endParaRPr lang="zh-CN" altLang="en-US" dirty="0"/>
          </a:p>
        </p:txBody>
      </p:sp>
      <p:sp>
        <p:nvSpPr>
          <p:cNvPr id="5124" name="内容占位符 2"/>
          <p:cNvSpPr>
            <a:spLocks noGrp="1" noChangeArrowheads="1"/>
          </p:cNvSpPr>
          <p:nvPr>
            <p:ph idx="1"/>
          </p:nvPr>
        </p:nvSpPr>
        <p:spPr/>
        <p:txBody>
          <a:bodyPr/>
          <a:lstStyle/>
          <a:p>
            <a:r>
              <a:rPr lang="zh-CN" altLang="en-US" dirty="0"/>
              <a:t>运算受限的线性表</a:t>
            </a:r>
            <a:endParaRPr lang="zh-CN" altLang="en-US" dirty="0"/>
          </a:p>
          <a:p>
            <a:pPr lvl="1"/>
            <a:r>
              <a:rPr lang="zh-CN" altLang="en-US" dirty="0"/>
              <a:t>栈</a:t>
            </a:r>
            <a:endParaRPr lang="zh-CN" altLang="en-US" dirty="0"/>
          </a:p>
          <a:p>
            <a:pPr lvl="2"/>
            <a:r>
              <a:rPr lang="zh-CN" altLang="en-US" dirty="0"/>
              <a:t>相关定义</a:t>
            </a:r>
            <a:endParaRPr lang="en-US" altLang="zh-CN" dirty="0"/>
          </a:p>
          <a:p>
            <a:pPr lvl="2"/>
            <a:r>
              <a:rPr lang="zh-CN" altLang="en-US" dirty="0"/>
              <a:t>表达式求值</a:t>
            </a:r>
            <a:endParaRPr lang="zh-CN" altLang="en-US" dirty="0"/>
          </a:p>
          <a:p>
            <a:pPr lvl="2"/>
            <a:r>
              <a:rPr lang="zh-CN" altLang="en-US" dirty="0"/>
              <a:t>栈与递归</a:t>
            </a:r>
            <a:endParaRPr lang="zh-CN" altLang="en-US" dirty="0"/>
          </a:p>
          <a:p>
            <a:pPr lvl="1"/>
            <a:r>
              <a:rPr lang="zh-CN" altLang="en-US" dirty="0"/>
              <a:t>队列 </a:t>
            </a:r>
            <a:endParaRPr lang="zh-CN" altLang="en-US" dirty="0"/>
          </a:p>
          <a:p>
            <a:pPr lvl="2"/>
            <a:r>
              <a:rPr lang="zh-CN" altLang="en-US" dirty="0"/>
              <a:t>相关定义</a:t>
            </a:r>
            <a:endParaRPr lang="en-US" altLang="zh-CN" dirty="0"/>
          </a:p>
          <a:p>
            <a:pPr lvl="2"/>
            <a:r>
              <a:rPr lang="zh-CN" altLang="en-US" dirty="0"/>
              <a:t>队列的应用 </a:t>
            </a:r>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5"/>
          <p:cNvSpPr txBox="1">
            <a:spLocks noChangeArrowheads="1"/>
          </p:cNvSpPr>
          <p:nvPr/>
        </p:nvSpPr>
        <p:spPr bwMode="auto">
          <a:xfrm>
            <a:off x="5651500" y="2133600"/>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a:solidFill>
                  <a:schemeClr val="tx2"/>
                </a:solidFill>
                <a:latin typeface="Times New Roman" panose="02020603050405020304" pitchFamily="18" charset="0"/>
                <a:ea typeface="隶书" panose="02010509060101010101" pitchFamily="49" charset="-122"/>
              </a:rPr>
              <a:t>退栈</a:t>
            </a:r>
            <a:endParaRPr kumimoji="1" lang="zh-CN" altLang="en-US" sz="2400">
              <a:latin typeface="Times New Roman" panose="02020603050405020304" pitchFamily="18" charset="0"/>
              <a:ea typeface="宋体" panose="02010600030101010101" pitchFamily="2" charset="-122"/>
            </a:endParaRPr>
          </a:p>
        </p:txBody>
      </p:sp>
      <p:sp>
        <p:nvSpPr>
          <p:cNvPr id="6147" name="Text Box 6"/>
          <p:cNvSpPr txBox="1">
            <a:spLocks noChangeArrowheads="1"/>
          </p:cNvSpPr>
          <p:nvPr/>
        </p:nvSpPr>
        <p:spPr bwMode="auto">
          <a:xfrm>
            <a:off x="7327900" y="2141538"/>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a:solidFill>
                  <a:schemeClr val="tx2"/>
                </a:solidFill>
                <a:latin typeface="Times New Roman" panose="02020603050405020304" pitchFamily="18" charset="0"/>
                <a:ea typeface="隶书" panose="02010509060101010101" pitchFamily="49" charset="-122"/>
              </a:rPr>
              <a:t>进栈</a:t>
            </a:r>
            <a:endParaRPr kumimoji="1" lang="zh-CN" altLang="en-US" sz="2400">
              <a:latin typeface="Times New Roman" panose="02020603050405020304" pitchFamily="18" charset="0"/>
              <a:ea typeface="宋体" panose="02010600030101010101" pitchFamily="2" charset="-122"/>
            </a:endParaRPr>
          </a:p>
        </p:txBody>
      </p:sp>
      <p:sp>
        <p:nvSpPr>
          <p:cNvPr id="6148" name="Rectangle 7" descr="之字形"/>
          <p:cNvSpPr>
            <a:spLocks noChangeArrowheads="1"/>
          </p:cNvSpPr>
          <p:nvPr/>
        </p:nvSpPr>
        <p:spPr bwMode="auto">
          <a:xfrm>
            <a:off x="6267450" y="3132138"/>
            <a:ext cx="1752600" cy="2209800"/>
          </a:xfrm>
          <a:prstGeom prst="rect">
            <a:avLst/>
          </a:prstGeom>
          <a:blipFill dpi="0" rotWithShape="0">
            <a:blip r:embed="rId1"/>
            <a:srcRect/>
            <a:tile tx="0" ty="0" sx="100000" sy="100000" flip="none" algn="tl"/>
          </a:blipFill>
          <a:ln w="28575">
            <a:solidFill>
              <a:schemeClr val="tx2"/>
            </a:solidFill>
            <a:miter lim="800000"/>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150" name="Text Box 9"/>
          <p:cNvSpPr txBox="1">
            <a:spLocks noChangeArrowheads="1"/>
          </p:cNvSpPr>
          <p:nvPr/>
        </p:nvSpPr>
        <p:spPr bwMode="auto">
          <a:xfrm>
            <a:off x="6889750" y="4732338"/>
            <a:ext cx="520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rgbClr val="0000FF"/>
                </a:solidFill>
                <a:latin typeface="Times New Roman" panose="02020603050405020304" pitchFamily="18" charset="0"/>
                <a:ea typeface="宋体" panose="02010600030101010101" pitchFamily="2" charset="-122"/>
              </a:rPr>
              <a:t>a</a:t>
            </a:r>
            <a:r>
              <a:rPr kumimoji="1" lang="en-US" altLang="zh-CN" sz="3200" b="1" baseline="-25000">
                <a:solidFill>
                  <a:srgbClr val="0000FF"/>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6151" name="Line 10"/>
          <p:cNvSpPr>
            <a:spLocks noChangeShapeType="1"/>
          </p:cNvSpPr>
          <p:nvPr/>
        </p:nvSpPr>
        <p:spPr bwMode="auto">
          <a:xfrm>
            <a:off x="6267450" y="4884738"/>
            <a:ext cx="17526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2" name="Text Box 11"/>
          <p:cNvSpPr txBox="1">
            <a:spLocks noChangeArrowheads="1"/>
          </p:cNvSpPr>
          <p:nvPr/>
        </p:nvSpPr>
        <p:spPr bwMode="auto">
          <a:xfrm>
            <a:off x="6724650" y="3284538"/>
            <a:ext cx="757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rgbClr val="0000FF"/>
                </a:solidFill>
                <a:latin typeface="Times New Roman" panose="02020603050405020304" pitchFamily="18" charset="0"/>
                <a:ea typeface="宋体" panose="02010600030101010101" pitchFamily="2" charset="-122"/>
              </a:rPr>
              <a:t>a</a:t>
            </a:r>
            <a:r>
              <a:rPr kumimoji="1" lang="en-US" altLang="zh-CN" sz="3200" b="1" baseline="-25000">
                <a:solidFill>
                  <a:srgbClr val="0000FF"/>
                </a:solidFill>
                <a:latin typeface="Times New Roman" panose="02020603050405020304" pitchFamily="18" charset="0"/>
                <a:ea typeface="宋体" panose="02010600030101010101" pitchFamily="2" charset="-122"/>
              </a:rPr>
              <a:t>n-1</a:t>
            </a:r>
            <a:endParaRPr kumimoji="1" lang="en-US" altLang="zh-CN" sz="2400">
              <a:latin typeface="Times New Roman" panose="02020603050405020304" pitchFamily="18" charset="0"/>
              <a:ea typeface="宋体" panose="02010600030101010101" pitchFamily="2" charset="-122"/>
            </a:endParaRPr>
          </a:p>
        </p:txBody>
      </p:sp>
      <p:sp>
        <p:nvSpPr>
          <p:cNvPr id="6153" name="Line 12"/>
          <p:cNvSpPr>
            <a:spLocks noChangeShapeType="1"/>
          </p:cNvSpPr>
          <p:nvPr/>
        </p:nvSpPr>
        <p:spPr bwMode="auto">
          <a:xfrm>
            <a:off x="6267450" y="3436938"/>
            <a:ext cx="17526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Line 13"/>
          <p:cNvSpPr>
            <a:spLocks noChangeShapeType="1"/>
          </p:cNvSpPr>
          <p:nvPr/>
        </p:nvSpPr>
        <p:spPr bwMode="auto">
          <a:xfrm>
            <a:off x="6267450" y="3894138"/>
            <a:ext cx="17526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5" name="Text Box 14"/>
          <p:cNvSpPr txBox="1">
            <a:spLocks noChangeArrowheads="1"/>
          </p:cNvSpPr>
          <p:nvPr/>
        </p:nvSpPr>
        <p:spPr bwMode="auto">
          <a:xfrm>
            <a:off x="6724650" y="3741738"/>
            <a:ext cx="757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rgbClr val="0000FF"/>
                </a:solidFill>
                <a:latin typeface="Times New Roman" panose="02020603050405020304" pitchFamily="18" charset="0"/>
                <a:ea typeface="宋体" panose="02010600030101010101" pitchFamily="2" charset="-122"/>
              </a:rPr>
              <a:t>a</a:t>
            </a:r>
            <a:r>
              <a:rPr kumimoji="1" lang="en-US" altLang="zh-CN" sz="3200" b="1" baseline="-25000">
                <a:solidFill>
                  <a:srgbClr val="0000FF"/>
                </a:solidFill>
                <a:latin typeface="Times New Roman" panose="02020603050405020304" pitchFamily="18" charset="0"/>
                <a:ea typeface="宋体" panose="02010600030101010101" pitchFamily="2" charset="-122"/>
              </a:rPr>
              <a:t>n-2</a:t>
            </a:r>
            <a:endParaRPr kumimoji="1" lang="en-US" altLang="zh-CN" sz="2400">
              <a:latin typeface="Times New Roman" panose="02020603050405020304" pitchFamily="18" charset="0"/>
              <a:ea typeface="宋体" panose="02010600030101010101" pitchFamily="2" charset="-122"/>
            </a:endParaRPr>
          </a:p>
        </p:txBody>
      </p:sp>
      <p:sp>
        <p:nvSpPr>
          <p:cNvPr id="6156" name="Line 15"/>
          <p:cNvSpPr>
            <a:spLocks noChangeShapeType="1"/>
          </p:cNvSpPr>
          <p:nvPr/>
        </p:nvSpPr>
        <p:spPr bwMode="auto">
          <a:xfrm>
            <a:off x="6267450" y="4351338"/>
            <a:ext cx="17526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Text Box 16"/>
          <p:cNvSpPr txBox="1">
            <a:spLocks noChangeArrowheads="1"/>
          </p:cNvSpPr>
          <p:nvPr/>
        </p:nvSpPr>
        <p:spPr bwMode="auto">
          <a:xfrm>
            <a:off x="6800850" y="415290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en-US" sz="3200" b="1" i="1">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6158" name="Text Box 17"/>
          <p:cNvSpPr txBox="1">
            <a:spLocks noChangeArrowheads="1"/>
          </p:cNvSpPr>
          <p:nvPr/>
        </p:nvSpPr>
        <p:spPr bwMode="auto">
          <a:xfrm>
            <a:off x="5276850" y="3036888"/>
            <a:ext cx="747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隶书" panose="02010509060101010101" pitchFamily="49" charset="-122"/>
              </a:rPr>
              <a:t>top</a:t>
            </a:r>
            <a:endParaRPr kumimoji="1" lang="en-US" altLang="zh-CN" sz="2400">
              <a:latin typeface="Times New Roman" panose="02020603050405020304" pitchFamily="18" charset="0"/>
              <a:ea typeface="宋体" panose="02010600030101010101" pitchFamily="2" charset="-122"/>
            </a:endParaRPr>
          </a:p>
        </p:txBody>
      </p:sp>
      <p:sp>
        <p:nvSpPr>
          <p:cNvPr id="6159" name="Text Box 18"/>
          <p:cNvSpPr txBox="1">
            <a:spLocks noChangeArrowheads="1"/>
          </p:cNvSpPr>
          <p:nvPr/>
        </p:nvSpPr>
        <p:spPr bwMode="auto">
          <a:xfrm>
            <a:off x="5276850" y="5295900"/>
            <a:ext cx="1423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隶书" panose="02010509060101010101" pitchFamily="49" charset="-122"/>
              </a:rPr>
              <a:t>bottom</a:t>
            </a:r>
            <a:endParaRPr kumimoji="1" lang="en-US" altLang="zh-CN" sz="2400">
              <a:latin typeface="Times New Roman" panose="02020603050405020304" pitchFamily="18" charset="0"/>
              <a:ea typeface="宋体" panose="02010600030101010101" pitchFamily="2" charset="-122"/>
            </a:endParaRPr>
          </a:p>
        </p:txBody>
      </p:sp>
      <p:sp>
        <p:nvSpPr>
          <p:cNvPr id="6160" name="Line 19"/>
          <p:cNvSpPr>
            <a:spLocks noChangeShapeType="1"/>
          </p:cNvSpPr>
          <p:nvPr/>
        </p:nvSpPr>
        <p:spPr bwMode="auto">
          <a:xfrm>
            <a:off x="5734050" y="3665538"/>
            <a:ext cx="533400" cy="0"/>
          </a:xfrm>
          <a:prstGeom prst="line">
            <a:avLst/>
          </a:prstGeom>
          <a:noFill/>
          <a:ln w="38100">
            <a:solidFill>
              <a:srgbClr val="0000FF"/>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20"/>
          <p:cNvSpPr>
            <a:spLocks noChangeShapeType="1"/>
          </p:cNvSpPr>
          <p:nvPr/>
        </p:nvSpPr>
        <p:spPr bwMode="auto">
          <a:xfrm>
            <a:off x="6724650" y="5646738"/>
            <a:ext cx="533400" cy="0"/>
          </a:xfrm>
          <a:prstGeom prst="line">
            <a:avLst/>
          </a:prstGeom>
          <a:noFill/>
          <a:ln w="38100">
            <a:solidFill>
              <a:srgbClr val="0000FF"/>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Line 21"/>
          <p:cNvSpPr>
            <a:spLocks noChangeShapeType="1"/>
          </p:cNvSpPr>
          <p:nvPr/>
        </p:nvSpPr>
        <p:spPr bwMode="auto">
          <a:xfrm flipH="1">
            <a:off x="7410450" y="2674938"/>
            <a:ext cx="3810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3" name="Line 22"/>
          <p:cNvSpPr>
            <a:spLocks noChangeShapeType="1"/>
          </p:cNvSpPr>
          <p:nvPr/>
        </p:nvSpPr>
        <p:spPr bwMode="auto">
          <a:xfrm rot="17440103" flipV="1">
            <a:off x="6381750" y="2674938"/>
            <a:ext cx="381000" cy="609600"/>
          </a:xfrm>
          <a:prstGeom prst="line">
            <a:avLst/>
          </a:prstGeom>
          <a:noFill/>
          <a:ln w="38100">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4" name="标题 1"/>
          <p:cNvSpPr>
            <a:spLocks noGrp="1" noChangeArrowheads="1"/>
          </p:cNvSpPr>
          <p:nvPr>
            <p:ph type="title"/>
          </p:nvPr>
        </p:nvSpPr>
        <p:spPr/>
        <p:txBody>
          <a:bodyPr/>
          <a:lstStyle/>
          <a:p>
            <a:r>
              <a:rPr lang="en-US" altLang="zh-CN"/>
              <a:t>3.1 </a:t>
            </a:r>
            <a:r>
              <a:rPr lang="zh-CN" altLang="en-US"/>
              <a:t>栈</a:t>
            </a:r>
            <a:endParaRPr lang="zh-CN" altLang="en-US"/>
          </a:p>
        </p:txBody>
      </p:sp>
      <p:sp>
        <p:nvSpPr>
          <p:cNvPr id="6165" name="内容占位符 2"/>
          <p:cNvSpPr>
            <a:spLocks noGrp="1" noChangeArrowheads="1"/>
          </p:cNvSpPr>
          <p:nvPr>
            <p:ph idx="1"/>
          </p:nvPr>
        </p:nvSpPr>
        <p:spPr>
          <a:xfrm>
            <a:off x="628650" y="1825625"/>
            <a:ext cx="4456113" cy="4351338"/>
          </a:xfrm>
        </p:spPr>
        <p:txBody>
          <a:bodyPr>
            <a:normAutofit lnSpcReduction="10000"/>
          </a:bodyPr>
          <a:lstStyle/>
          <a:p>
            <a:r>
              <a:rPr lang="zh-CN" altLang="en-US"/>
              <a:t>只允许在一端插入和删除的线性表。</a:t>
            </a:r>
            <a:endParaRPr lang="zh-CN" altLang="en-US"/>
          </a:p>
          <a:p>
            <a:pPr lvl="1"/>
            <a:r>
              <a:rPr lang="zh-CN" altLang="en-US"/>
              <a:t>允许插入和删除的一端称为栈顶</a:t>
            </a:r>
            <a:r>
              <a:rPr lang="en-US" altLang="zh-CN"/>
              <a:t>(top)</a:t>
            </a:r>
            <a:r>
              <a:rPr lang="zh-CN" altLang="en-US"/>
              <a:t>，另一端称为栈底</a:t>
            </a:r>
            <a:r>
              <a:rPr lang="en-US" altLang="zh-CN"/>
              <a:t>(bottom)</a:t>
            </a:r>
            <a:r>
              <a:rPr lang="zh-CN" altLang="en-US"/>
              <a:t>。</a:t>
            </a:r>
            <a:endParaRPr lang="zh-CN" altLang="en-US"/>
          </a:p>
          <a:p>
            <a:r>
              <a:rPr lang="zh-CN" altLang="en-US"/>
              <a:t>特点</a:t>
            </a:r>
            <a:endParaRPr lang="zh-CN" altLang="en-US"/>
          </a:p>
          <a:p>
            <a:pPr lvl="1"/>
            <a:r>
              <a:rPr lang="zh-CN" altLang="en-US"/>
              <a:t>后进先出 </a:t>
            </a:r>
            <a:r>
              <a:rPr lang="en-US" altLang="zh-CN"/>
              <a:t>(LIFO)</a:t>
            </a:r>
            <a:r>
              <a:rPr lang="zh-CN" altLang="en-US"/>
              <a:t>。</a:t>
            </a:r>
            <a:endParaRPr lang="zh-CN" altLang="en-US"/>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noChangeArrowheads="1"/>
          </p:cNvSpPr>
          <p:nvPr>
            <p:ph type="title"/>
          </p:nvPr>
        </p:nvSpPr>
        <p:spPr/>
        <p:txBody>
          <a:bodyPr/>
          <a:lstStyle/>
          <a:p>
            <a:r>
              <a:rPr lang="zh-CN" altLang="en-US"/>
              <a:t>栈的抽象数据类型</a:t>
            </a:r>
            <a:endParaRPr lang="zh-CN" altLang="en-US"/>
          </a:p>
        </p:txBody>
      </p:sp>
      <p:sp>
        <p:nvSpPr>
          <p:cNvPr id="3" name="内容占位符 2"/>
          <p:cNvSpPr>
            <a:spLocks noGrp="1"/>
          </p:cNvSpPr>
          <p:nvPr>
            <p:ph idx="1"/>
          </p:nvPr>
        </p:nvSpPr>
        <p:spPr/>
        <p:txBody>
          <a:bodyPr>
            <a:normAutofit fontScale="85000" lnSpcReduction="20000"/>
          </a:bodyPr>
          <a:lstStyle/>
          <a:p>
            <a:pPr marL="0" indent="0">
              <a:buFont typeface="Arial" panose="020B0604020202020204" pitchFamily="34" charset="0"/>
              <a:buNone/>
              <a:defRPr/>
            </a:pPr>
            <a:r>
              <a:rPr lang="en-US" altLang="zh-CN" dirty="0"/>
              <a:t>template &lt;class T&gt; class Stack {	</a:t>
            </a:r>
            <a:endParaRPr lang="en-US" altLang="zh-CN" dirty="0"/>
          </a:p>
          <a:p>
            <a:pPr marL="0" indent="0">
              <a:buFont typeface="Arial" panose="020B0604020202020204" pitchFamily="34" charset="0"/>
              <a:buNone/>
              <a:defRPr/>
            </a:pPr>
            <a:r>
              <a:rPr lang="en-US" altLang="zh-CN" dirty="0"/>
              <a:t>public:</a:t>
            </a:r>
            <a:endParaRPr lang="en-US" altLang="zh-CN" dirty="0"/>
          </a:p>
          <a:p>
            <a:pPr marL="0" indent="0">
              <a:buFont typeface="Arial" panose="020B0604020202020204" pitchFamily="34" charset="0"/>
              <a:buNone/>
              <a:defRPr/>
            </a:pPr>
            <a:r>
              <a:rPr lang="en-US" altLang="zh-CN" dirty="0"/>
              <a:t>     Stack (  ) { };          </a:t>
            </a:r>
            <a:endParaRPr lang="en-US" altLang="zh-CN" dirty="0"/>
          </a:p>
          <a:p>
            <a:pPr marL="0" indent="0">
              <a:buFont typeface="Arial" panose="020B0604020202020204" pitchFamily="34" charset="0"/>
              <a:buNone/>
              <a:defRPr/>
            </a:pPr>
            <a:r>
              <a:rPr lang="en-US" altLang="zh-CN" dirty="0"/>
              <a:t>     virtual void Push (const T x) = 0;   </a:t>
            </a:r>
            <a:endParaRPr lang="en-US" altLang="zh-CN" dirty="0"/>
          </a:p>
          <a:p>
            <a:pPr marL="0" indent="0">
              <a:buFont typeface="Arial" panose="020B0604020202020204" pitchFamily="34" charset="0"/>
              <a:buNone/>
              <a:defRPr/>
            </a:pPr>
            <a:r>
              <a:rPr lang="en-US" altLang="zh-CN" dirty="0"/>
              <a:t>     virtual bool Pop (T&amp; x) = 0;            </a:t>
            </a:r>
            <a:endParaRPr lang="en-US" altLang="zh-CN" dirty="0"/>
          </a:p>
          <a:p>
            <a:pPr marL="0" indent="0">
              <a:buFont typeface="Arial" panose="020B0604020202020204" pitchFamily="34" charset="0"/>
              <a:buNone/>
              <a:defRPr/>
            </a:pPr>
            <a:r>
              <a:rPr lang="en-US" altLang="zh-CN" dirty="0"/>
              <a:t>     virtual bool </a:t>
            </a:r>
            <a:r>
              <a:rPr lang="en-US" altLang="zh-CN" dirty="0" err="1"/>
              <a:t>getTop</a:t>
            </a:r>
            <a:r>
              <a:rPr lang="en-US" altLang="zh-CN" dirty="0"/>
              <a:t> (T&amp; x) const = 0;      </a:t>
            </a:r>
            <a:endParaRPr lang="en-US" altLang="zh-CN" dirty="0"/>
          </a:p>
          <a:p>
            <a:pPr marL="0" indent="0">
              <a:buFont typeface="Arial" panose="020B0604020202020204" pitchFamily="34" charset="0"/>
              <a:buNone/>
              <a:defRPr/>
            </a:pPr>
            <a:r>
              <a:rPr lang="en-US" altLang="zh-CN" dirty="0"/>
              <a:t>     virtual bool </a:t>
            </a:r>
            <a:r>
              <a:rPr lang="en-US" altLang="zh-CN" dirty="0" err="1"/>
              <a:t>IsEmpty</a:t>
            </a:r>
            <a:r>
              <a:rPr lang="en-US" altLang="zh-CN" dirty="0"/>
              <a:t> ( ) const = 0;         </a:t>
            </a:r>
            <a:endParaRPr lang="en-US" altLang="zh-CN" dirty="0"/>
          </a:p>
          <a:p>
            <a:pPr marL="0" indent="0">
              <a:buFont typeface="Arial" panose="020B0604020202020204" pitchFamily="34" charset="0"/>
              <a:buNone/>
              <a:defRPr/>
            </a:pPr>
            <a:r>
              <a:rPr lang="en-US" altLang="zh-CN" dirty="0"/>
              <a:t>     virtual bool </a:t>
            </a:r>
            <a:r>
              <a:rPr lang="en-US" altLang="zh-CN" dirty="0" err="1"/>
              <a:t>IsFull</a:t>
            </a:r>
            <a:r>
              <a:rPr lang="en-US" altLang="zh-CN" dirty="0"/>
              <a:t> ( ) const = 0;             </a:t>
            </a:r>
            <a:endParaRPr lang="en-US" altLang="zh-CN" dirty="0"/>
          </a:p>
          <a:p>
            <a:pPr marL="0" indent="0">
              <a:buFont typeface="Arial" panose="020B0604020202020204" pitchFamily="34" charset="0"/>
              <a:buNone/>
              <a:defRPr/>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38"/>
          <p:cNvGrpSpPr/>
          <p:nvPr/>
        </p:nvGrpSpPr>
        <p:grpSpPr bwMode="auto">
          <a:xfrm>
            <a:off x="200025" y="2924175"/>
            <a:ext cx="8742363" cy="1641475"/>
            <a:chOff x="27" y="982"/>
            <a:chExt cx="5507" cy="1034"/>
          </a:xfrm>
        </p:grpSpPr>
        <p:sp>
          <p:nvSpPr>
            <p:cNvPr id="8196" name="Rectangle 5"/>
            <p:cNvSpPr>
              <a:spLocks noChangeArrowheads="1"/>
            </p:cNvSpPr>
            <p:nvPr/>
          </p:nvSpPr>
          <p:spPr bwMode="auto">
            <a:xfrm>
              <a:off x="816" y="1366"/>
              <a:ext cx="4320" cy="288"/>
            </a:xfrm>
            <a:prstGeom prst="rect">
              <a:avLst/>
            </a:prstGeom>
            <a:solidFill>
              <a:schemeClr val="folHlink"/>
            </a:solidFill>
            <a:ln w="9525">
              <a:miter lim="800000"/>
            </a:ln>
            <a:scene3d>
              <a:camera prst="legacyObliqueTopRight"/>
              <a:lightRig rig="legacyFlat3" dir="b"/>
            </a:scene3d>
            <a:sp3d extrusionH="430200" prstMaterial="legacyMatte">
              <a:bevelT w="13500" h="13500" prst="angle"/>
              <a:bevelB w="13500" h="13500" prst="angle"/>
              <a:extrusionClr>
                <a:schemeClr val="folHlink"/>
              </a:extrusionClr>
              <a:contourClr>
                <a:schemeClr val="folHlink"/>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197" name="Line 6"/>
            <p:cNvSpPr>
              <a:spLocks noChangeShapeType="1"/>
            </p:cNvSpPr>
            <p:nvPr/>
          </p:nvSpPr>
          <p:spPr bwMode="auto">
            <a:xfrm>
              <a:off x="1104"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8" name="Line 7"/>
            <p:cNvSpPr>
              <a:spLocks noChangeShapeType="1"/>
            </p:cNvSpPr>
            <p:nvPr/>
          </p:nvSpPr>
          <p:spPr bwMode="auto">
            <a:xfrm flipV="1">
              <a:off x="1104"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9" name="Line 8"/>
            <p:cNvSpPr>
              <a:spLocks noChangeShapeType="1"/>
            </p:cNvSpPr>
            <p:nvPr/>
          </p:nvSpPr>
          <p:spPr bwMode="auto">
            <a:xfrm>
              <a:off x="1392"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0" name="Line 9"/>
            <p:cNvSpPr>
              <a:spLocks noChangeShapeType="1"/>
            </p:cNvSpPr>
            <p:nvPr/>
          </p:nvSpPr>
          <p:spPr bwMode="auto">
            <a:xfrm flipV="1">
              <a:off x="1392"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1" name="Line 10"/>
            <p:cNvSpPr>
              <a:spLocks noChangeShapeType="1"/>
            </p:cNvSpPr>
            <p:nvPr/>
          </p:nvSpPr>
          <p:spPr bwMode="auto">
            <a:xfrm>
              <a:off x="1680"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2" name="Line 11"/>
            <p:cNvSpPr>
              <a:spLocks noChangeShapeType="1"/>
            </p:cNvSpPr>
            <p:nvPr/>
          </p:nvSpPr>
          <p:spPr bwMode="auto">
            <a:xfrm flipV="1">
              <a:off x="1680"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3" name="Line 12"/>
            <p:cNvSpPr>
              <a:spLocks noChangeShapeType="1"/>
            </p:cNvSpPr>
            <p:nvPr/>
          </p:nvSpPr>
          <p:spPr bwMode="auto">
            <a:xfrm>
              <a:off x="1968"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4" name="Line 13"/>
            <p:cNvSpPr>
              <a:spLocks noChangeShapeType="1"/>
            </p:cNvSpPr>
            <p:nvPr/>
          </p:nvSpPr>
          <p:spPr bwMode="auto">
            <a:xfrm flipV="1">
              <a:off x="1968"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5" name="Line 14"/>
            <p:cNvSpPr>
              <a:spLocks noChangeShapeType="1"/>
            </p:cNvSpPr>
            <p:nvPr/>
          </p:nvSpPr>
          <p:spPr bwMode="auto">
            <a:xfrm>
              <a:off x="2256"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6" name="Line 15"/>
            <p:cNvSpPr>
              <a:spLocks noChangeShapeType="1"/>
            </p:cNvSpPr>
            <p:nvPr/>
          </p:nvSpPr>
          <p:spPr bwMode="auto">
            <a:xfrm flipV="1">
              <a:off x="2256"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7" name="Line 16"/>
            <p:cNvSpPr>
              <a:spLocks noChangeShapeType="1"/>
            </p:cNvSpPr>
            <p:nvPr/>
          </p:nvSpPr>
          <p:spPr bwMode="auto">
            <a:xfrm>
              <a:off x="2544"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8" name="Line 17"/>
            <p:cNvSpPr>
              <a:spLocks noChangeShapeType="1"/>
            </p:cNvSpPr>
            <p:nvPr/>
          </p:nvSpPr>
          <p:spPr bwMode="auto">
            <a:xfrm flipV="1">
              <a:off x="2544"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9" name="Line 18"/>
            <p:cNvSpPr>
              <a:spLocks noChangeShapeType="1"/>
            </p:cNvSpPr>
            <p:nvPr/>
          </p:nvSpPr>
          <p:spPr bwMode="auto">
            <a:xfrm>
              <a:off x="2832"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0" name="Line 19"/>
            <p:cNvSpPr>
              <a:spLocks noChangeShapeType="1"/>
            </p:cNvSpPr>
            <p:nvPr/>
          </p:nvSpPr>
          <p:spPr bwMode="auto">
            <a:xfrm flipV="1">
              <a:off x="2832"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1" name="Line 20"/>
            <p:cNvSpPr>
              <a:spLocks noChangeShapeType="1"/>
            </p:cNvSpPr>
            <p:nvPr/>
          </p:nvSpPr>
          <p:spPr bwMode="auto">
            <a:xfrm>
              <a:off x="3120"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2" name="Line 21"/>
            <p:cNvSpPr>
              <a:spLocks noChangeShapeType="1"/>
            </p:cNvSpPr>
            <p:nvPr/>
          </p:nvSpPr>
          <p:spPr bwMode="auto">
            <a:xfrm flipV="1">
              <a:off x="3120"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3" name="Line 22"/>
            <p:cNvSpPr>
              <a:spLocks noChangeShapeType="1"/>
            </p:cNvSpPr>
            <p:nvPr/>
          </p:nvSpPr>
          <p:spPr bwMode="auto">
            <a:xfrm>
              <a:off x="3408"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4" name="Line 23"/>
            <p:cNvSpPr>
              <a:spLocks noChangeShapeType="1"/>
            </p:cNvSpPr>
            <p:nvPr/>
          </p:nvSpPr>
          <p:spPr bwMode="auto">
            <a:xfrm flipV="1">
              <a:off x="3408"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5" name="Line 24"/>
            <p:cNvSpPr>
              <a:spLocks noChangeShapeType="1"/>
            </p:cNvSpPr>
            <p:nvPr/>
          </p:nvSpPr>
          <p:spPr bwMode="auto">
            <a:xfrm>
              <a:off x="3696"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6" name="Line 25"/>
            <p:cNvSpPr>
              <a:spLocks noChangeShapeType="1"/>
            </p:cNvSpPr>
            <p:nvPr/>
          </p:nvSpPr>
          <p:spPr bwMode="auto">
            <a:xfrm flipV="1">
              <a:off x="3696"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7" name="Line 26"/>
            <p:cNvSpPr>
              <a:spLocks noChangeShapeType="1"/>
            </p:cNvSpPr>
            <p:nvPr/>
          </p:nvSpPr>
          <p:spPr bwMode="auto">
            <a:xfrm>
              <a:off x="3984"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8" name="Line 27"/>
            <p:cNvSpPr>
              <a:spLocks noChangeShapeType="1"/>
            </p:cNvSpPr>
            <p:nvPr/>
          </p:nvSpPr>
          <p:spPr bwMode="auto">
            <a:xfrm flipV="1">
              <a:off x="3984"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9" name="Line 28"/>
            <p:cNvSpPr>
              <a:spLocks noChangeShapeType="1"/>
            </p:cNvSpPr>
            <p:nvPr/>
          </p:nvSpPr>
          <p:spPr bwMode="auto">
            <a:xfrm>
              <a:off x="4272"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0" name="Line 29"/>
            <p:cNvSpPr>
              <a:spLocks noChangeShapeType="1"/>
            </p:cNvSpPr>
            <p:nvPr/>
          </p:nvSpPr>
          <p:spPr bwMode="auto">
            <a:xfrm flipV="1">
              <a:off x="4272"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1" name="Line 30"/>
            <p:cNvSpPr>
              <a:spLocks noChangeShapeType="1"/>
            </p:cNvSpPr>
            <p:nvPr/>
          </p:nvSpPr>
          <p:spPr bwMode="auto">
            <a:xfrm>
              <a:off x="4560"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2" name="Line 31"/>
            <p:cNvSpPr>
              <a:spLocks noChangeShapeType="1"/>
            </p:cNvSpPr>
            <p:nvPr/>
          </p:nvSpPr>
          <p:spPr bwMode="auto">
            <a:xfrm flipV="1">
              <a:off x="4560"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3" name="Line 32"/>
            <p:cNvSpPr>
              <a:spLocks noChangeShapeType="1"/>
            </p:cNvSpPr>
            <p:nvPr/>
          </p:nvSpPr>
          <p:spPr bwMode="auto">
            <a:xfrm>
              <a:off x="4848" y="1366"/>
              <a:ext cx="0" cy="288"/>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4" name="Line 33"/>
            <p:cNvSpPr>
              <a:spLocks noChangeShapeType="1"/>
            </p:cNvSpPr>
            <p:nvPr/>
          </p:nvSpPr>
          <p:spPr bwMode="auto">
            <a:xfrm flipV="1">
              <a:off x="4848" y="1270"/>
              <a:ext cx="96" cy="96"/>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5" name="Text Box 34"/>
            <p:cNvSpPr txBox="1">
              <a:spLocks noChangeArrowheads="1"/>
            </p:cNvSpPr>
            <p:nvPr/>
          </p:nvSpPr>
          <p:spPr bwMode="auto">
            <a:xfrm>
              <a:off x="902" y="982"/>
              <a:ext cx="4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a:latin typeface="Times New Roman" panose="02020603050405020304" pitchFamily="18" charset="0"/>
                  <a:ea typeface="宋体" panose="02010600030101010101" pitchFamily="2" charset="-122"/>
                </a:rPr>
                <a:t>0   1    2    3    4    5    6    7    8    9                      maxSize-1</a:t>
              </a:r>
              <a:endParaRPr kumimoji="1" lang="en-US" altLang="zh-CN" sz="2400">
                <a:latin typeface="Times New Roman" panose="02020603050405020304" pitchFamily="18" charset="0"/>
                <a:ea typeface="宋体" panose="02010600030101010101" pitchFamily="2" charset="-122"/>
              </a:endParaRPr>
            </a:p>
          </p:txBody>
        </p:sp>
        <p:sp>
          <p:nvSpPr>
            <p:cNvPr id="8226" name="Line 35"/>
            <p:cNvSpPr>
              <a:spLocks noChangeShapeType="1"/>
            </p:cNvSpPr>
            <p:nvPr/>
          </p:nvSpPr>
          <p:spPr bwMode="auto">
            <a:xfrm flipV="1">
              <a:off x="720" y="1654"/>
              <a:ext cx="0" cy="24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6" name="Text Box 36"/>
            <p:cNvSpPr txBox="1">
              <a:spLocks noChangeArrowheads="1"/>
            </p:cNvSpPr>
            <p:nvPr/>
          </p:nvSpPr>
          <p:spPr bwMode="auto">
            <a:xfrm>
              <a:off x="720" y="1728"/>
              <a:ext cx="947" cy="288"/>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b="1">
                  <a:solidFill>
                    <a:schemeClr val="accent2"/>
                  </a:solidFill>
                  <a:latin typeface="+mn-lt"/>
                  <a:ea typeface="+mn-ea"/>
                </a:rPr>
                <a:t>top (</a:t>
              </a:r>
              <a:r>
                <a:rPr lang="zh-CN" altLang="zh-CN" b="1">
                  <a:solidFill>
                    <a:schemeClr val="accent2"/>
                  </a:solidFill>
                  <a:effectLst>
                    <a:outerShdw blurRad="38100" dist="38100" dir="2700000" algn="tl">
                      <a:srgbClr val="C0C0C0"/>
                    </a:outerShdw>
                  </a:effectLst>
                  <a:latin typeface="+mn-lt"/>
                  <a:ea typeface="仿宋_GB2312" panose="02010609030101010101" pitchFamily="49" charset="-122"/>
                </a:rPr>
                <a:t>栈空</a:t>
              </a:r>
              <a:r>
                <a:rPr lang="en-US" altLang="zh-CN" b="1">
                  <a:solidFill>
                    <a:schemeClr val="accent2"/>
                  </a:solidFill>
                  <a:latin typeface="+mn-lt"/>
                  <a:ea typeface="+mn-ea"/>
                </a:rPr>
                <a:t>)</a:t>
              </a:r>
              <a:endParaRPr lang="en-US" altLang="zh-CN">
                <a:latin typeface="+mn-lt"/>
                <a:ea typeface="+mn-ea"/>
              </a:endParaRPr>
            </a:p>
          </p:txBody>
        </p:sp>
        <p:sp>
          <p:nvSpPr>
            <p:cNvPr id="8228" name="Text Box 37"/>
            <p:cNvSpPr txBox="1">
              <a:spLocks noChangeArrowheads="1"/>
            </p:cNvSpPr>
            <p:nvPr/>
          </p:nvSpPr>
          <p:spPr bwMode="auto">
            <a:xfrm>
              <a:off x="27" y="1296"/>
              <a:ext cx="8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accent2"/>
                  </a:solidFill>
                  <a:latin typeface="Times New Roman" panose="02020603050405020304" pitchFamily="18" charset="0"/>
                  <a:ea typeface="宋体" panose="02010600030101010101" pitchFamily="2" charset="-122"/>
                </a:rPr>
                <a:t>elements</a:t>
              </a:r>
              <a:endParaRPr kumimoji="1" lang="en-US" altLang="zh-CN" sz="2400">
                <a:latin typeface="Times New Roman" panose="02020603050405020304" pitchFamily="18" charset="0"/>
                <a:ea typeface="宋体" panose="02010600030101010101" pitchFamily="2" charset="-122"/>
              </a:endParaRPr>
            </a:p>
          </p:txBody>
        </p:sp>
      </p:grpSp>
      <p:sp>
        <p:nvSpPr>
          <p:cNvPr id="8195" name="标题 1"/>
          <p:cNvSpPr>
            <a:spLocks noGrp="1" noChangeArrowheads="1"/>
          </p:cNvSpPr>
          <p:nvPr>
            <p:ph type="title"/>
          </p:nvPr>
        </p:nvSpPr>
        <p:spPr/>
        <p:txBody>
          <a:bodyPr/>
          <a:lstStyle/>
          <a:p>
            <a:r>
              <a:rPr lang="zh-CN" altLang="en-US"/>
              <a:t>栈的数组存储表示 </a:t>
            </a:r>
            <a:r>
              <a:rPr lang="en-US" altLang="zh-CN"/>
              <a:t>— </a:t>
            </a:r>
            <a:r>
              <a:rPr lang="zh-CN" altLang="en-US"/>
              <a:t>顺序栈</a:t>
            </a:r>
            <a:endParaRPr lang="zh-CN" altLang="en-US"/>
          </a:p>
        </p:txBody>
      </p:sp>
      <p:sp>
        <p:nvSpPr>
          <p:cNvPr id="3" name="灯片编号占位符 2"/>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60648"/>
            <a:ext cx="7886700" cy="6264695"/>
          </a:xfrm>
        </p:spPr>
        <p:txBody>
          <a:bodyPr>
            <a:normAutofit fontScale="55000" lnSpcReduction="20000"/>
          </a:bodyPr>
          <a:lstStyle/>
          <a:p>
            <a:pPr marL="0" indent="0">
              <a:buFont typeface="Arial" panose="020B0604020202020204" pitchFamily="34" charset="0"/>
              <a:buNone/>
              <a:defRPr/>
            </a:pPr>
            <a:r>
              <a:rPr lang="en-US" altLang="zh-CN" dirty="0"/>
              <a:t>template &lt;class T&gt;  class </a:t>
            </a:r>
            <a:r>
              <a:rPr lang="en-US" altLang="zh-CN" dirty="0" err="1"/>
              <a:t>SeqStack</a:t>
            </a:r>
            <a:r>
              <a:rPr lang="en-US" altLang="zh-CN" dirty="0"/>
              <a:t> : public Stack&lt;T&gt; {</a:t>
            </a:r>
            <a:endParaRPr lang="en-US" altLang="zh-CN" dirty="0"/>
          </a:p>
          <a:p>
            <a:pPr marL="0" indent="0">
              <a:buFont typeface="Arial" panose="020B0604020202020204" pitchFamily="34" charset="0"/>
              <a:buNone/>
              <a:defRPr/>
            </a:pPr>
            <a:r>
              <a:rPr lang="en-US" altLang="zh-CN" dirty="0"/>
              <a:t>private:</a:t>
            </a:r>
            <a:endParaRPr lang="en-US" altLang="zh-CN" dirty="0"/>
          </a:p>
          <a:p>
            <a:pPr marL="0" indent="0">
              <a:buFont typeface="Arial" panose="020B0604020202020204" pitchFamily="34" charset="0"/>
              <a:buNone/>
              <a:defRPr/>
            </a:pPr>
            <a:r>
              <a:rPr lang="en-US" altLang="zh-CN" dirty="0"/>
              <a:t>    T *elements;	                                   //</a:t>
            </a:r>
            <a:r>
              <a:rPr lang="zh-CN" altLang="en-US" dirty="0"/>
              <a:t>栈元素数组</a:t>
            </a:r>
            <a:endParaRPr lang="zh-CN" altLang="en-US" dirty="0"/>
          </a:p>
          <a:p>
            <a:pPr marL="0" indent="0">
              <a:buFont typeface="Arial" panose="020B0604020202020204" pitchFamily="34" charset="0"/>
              <a:buNone/>
              <a:defRPr/>
            </a:pPr>
            <a:r>
              <a:rPr lang="zh-CN" altLang="en-US" dirty="0"/>
              <a:t>    </a:t>
            </a:r>
            <a:r>
              <a:rPr lang="en-US" altLang="zh-CN" dirty="0"/>
              <a:t>int top;	                                             //</a:t>
            </a:r>
            <a:r>
              <a:rPr lang="zh-CN" altLang="en-US" dirty="0"/>
              <a:t>栈顶指针</a:t>
            </a:r>
            <a:endParaRPr lang="zh-CN" altLang="en-US" dirty="0"/>
          </a:p>
          <a:p>
            <a:pPr marL="0" indent="0">
              <a:buFont typeface="Arial" panose="020B0604020202020204" pitchFamily="34" charset="0"/>
              <a:buNone/>
              <a:defRPr/>
            </a:pPr>
            <a:r>
              <a:rPr lang="zh-CN" altLang="en-US" dirty="0"/>
              <a:t>    </a:t>
            </a:r>
            <a:r>
              <a:rPr lang="en-US" altLang="zh-CN" dirty="0"/>
              <a:t>int </a:t>
            </a:r>
            <a:r>
              <a:rPr lang="en-US" altLang="zh-CN" dirty="0" err="1"/>
              <a:t>maxSize</a:t>
            </a:r>
            <a:r>
              <a:rPr lang="en-US" altLang="zh-CN" dirty="0"/>
              <a:t>;	                                   //</a:t>
            </a:r>
            <a:r>
              <a:rPr lang="zh-CN" altLang="en-US" dirty="0"/>
              <a:t>栈最大容量</a:t>
            </a:r>
            <a:endParaRPr lang="zh-CN" altLang="en-US" dirty="0"/>
          </a:p>
          <a:p>
            <a:pPr marL="0" indent="0">
              <a:buFont typeface="Arial" panose="020B0604020202020204" pitchFamily="34" charset="0"/>
              <a:buNone/>
              <a:defRPr/>
            </a:pPr>
            <a:r>
              <a:rPr lang="zh-CN" altLang="en-US" dirty="0"/>
              <a:t>    </a:t>
            </a:r>
            <a:r>
              <a:rPr lang="en-US" altLang="zh-CN" dirty="0"/>
              <a:t>void </a:t>
            </a:r>
            <a:r>
              <a:rPr lang="en-US" altLang="zh-CN" dirty="0" err="1"/>
              <a:t>overflowProcess</a:t>
            </a:r>
            <a:r>
              <a:rPr lang="en-US" altLang="zh-CN" dirty="0"/>
              <a:t>( );                        //</a:t>
            </a:r>
            <a:r>
              <a:rPr lang="zh-CN" altLang="en-US" dirty="0"/>
              <a:t>溢出处理</a:t>
            </a:r>
            <a:endParaRPr lang="zh-CN" altLang="en-US" dirty="0"/>
          </a:p>
          <a:p>
            <a:pPr marL="0" indent="0">
              <a:buFont typeface="Arial" panose="020B0604020202020204" pitchFamily="34" charset="0"/>
              <a:buNone/>
              <a:defRPr/>
            </a:pPr>
            <a:r>
              <a:rPr lang="zh-CN" altLang="en-US" dirty="0"/>
              <a:t> </a:t>
            </a:r>
            <a:r>
              <a:rPr lang="en-US" altLang="zh-CN" dirty="0"/>
              <a:t>public:</a:t>
            </a:r>
            <a:endParaRPr lang="en-US" altLang="zh-CN" dirty="0"/>
          </a:p>
          <a:p>
            <a:pPr marL="0" indent="0">
              <a:buFont typeface="Arial" panose="020B0604020202020204" pitchFamily="34" charset="0"/>
              <a:buNone/>
              <a:defRPr/>
            </a:pPr>
            <a:r>
              <a:rPr lang="en-US" altLang="zh-CN" dirty="0"/>
              <a:t>    </a:t>
            </a:r>
            <a:r>
              <a:rPr lang="en-US" altLang="zh-CN" dirty="0" err="1"/>
              <a:t>SeqStack</a:t>
            </a:r>
            <a:r>
              <a:rPr lang="en-US" altLang="zh-CN" dirty="0"/>
              <a:t> (int </a:t>
            </a:r>
            <a:r>
              <a:rPr lang="en-US" altLang="zh-CN" dirty="0" err="1"/>
              <a:t>sz</a:t>
            </a:r>
            <a:r>
              <a:rPr lang="en-US" altLang="zh-CN" dirty="0"/>
              <a:t> = </a:t>
            </a:r>
            <a:r>
              <a:rPr lang="en-US" altLang="zh-CN" dirty="0" err="1"/>
              <a:t>maxStack</a:t>
            </a:r>
            <a:r>
              <a:rPr lang="en-US" altLang="zh-CN" dirty="0"/>
              <a:t>);                //</a:t>
            </a:r>
            <a:r>
              <a:rPr lang="zh-CN" altLang="en-US" dirty="0"/>
              <a:t>构造函数    </a:t>
            </a:r>
            <a:endParaRPr lang="zh-CN" altLang="en-US" dirty="0"/>
          </a:p>
          <a:p>
            <a:pPr marL="0" indent="0">
              <a:buFont typeface="Arial" panose="020B0604020202020204" pitchFamily="34" charset="0"/>
              <a:buNone/>
              <a:defRPr/>
            </a:pPr>
            <a:r>
              <a:rPr lang="zh-CN" altLang="en-US" dirty="0"/>
              <a:t>    </a:t>
            </a:r>
            <a:r>
              <a:rPr lang="en-US" altLang="zh-CN" dirty="0"/>
              <a:t>~</a:t>
            </a:r>
            <a:r>
              <a:rPr lang="en-US" altLang="zh-CN" dirty="0" err="1"/>
              <a:t>SeqStack</a:t>
            </a:r>
            <a:r>
              <a:rPr lang="en-US" altLang="zh-CN" dirty="0"/>
              <a:t> ( ) { delete [ ] elements; }</a:t>
            </a:r>
            <a:endParaRPr lang="en-US" altLang="zh-CN" dirty="0"/>
          </a:p>
          <a:p>
            <a:pPr marL="0" indent="0">
              <a:buFont typeface="Arial" panose="020B0604020202020204" pitchFamily="34" charset="0"/>
              <a:buNone/>
              <a:defRPr/>
            </a:pPr>
            <a:r>
              <a:rPr lang="en-US" altLang="zh-CN" dirty="0"/>
              <a:t>    void Push (const T x);                            //</a:t>
            </a:r>
            <a:r>
              <a:rPr lang="zh-CN" altLang="en-US" dirty="0"/>
              <a:t>进栈    </a:t>
            </a:r>
            <a:endParaRPr lang="zh-CN" altLang="en-US" dirty="0"/>
          </a:p>
          <a:p>
            <a:pPr marL="0" indent="0">
              <a:buFont typeface="Arial" panose="020B0604020202020204" pitchFamily="34" charset="0"/>
              <a:buNone/>
              <a:defRPr/>
            </a:pPr>
            <a:r>
              <a:rPr lang="zh-CN" altLang="en-US" dirty="0"/>
              <a:t>    </a:t>
            </a:r>
            <a:r>
              <a:rPr lang="en-US" altLang="zh-CN" dirty="0"/>
              <a:t>bool Pop (T&amp; x);                                    //</a:t>
            </a:r>
            <a:r>
              <a:rPr lang="zh-CN" altLang="en-US" dirty="0"/>
              <a:t>出栈</a:t>
            </a:r>
            <a:endParaRPr lang="zh-CN" altLang="en-US" dirty="0"/>
          </a:p>
          <a:p>
            <a:pPr marL="0" indent="0">
              <a:buFont typeface="Arial" panose="020B0604020202020204" pitchFamily="34" charset="0"/>
              <a:buNone/>
              <a:defRPr/>
            </a:pPr>
            <a:r>
              <a:rPr lang="zh-CN" altLang="en-US" dirty="0"/>
              <a:t>    </a:t>
            </a:r>
            <a:r>
              <a:rPr lang="en-US" altLang="zh-CN" dirty="0"/>
              <a:t>bool </a:t>
            </a:r>
            <a:r>
              <a:rPr lang="en-US" altLang="zh-CN" dirty="0" err="1"/>
              <a:t>getTop</a:t>
            </a:r>
            <a:r>
              <a:rPr lang="en-US" altLang="zh-CN" dirty="0"/>
              <a:t> (T&amp; x);                               //</a:t>
            </a:r>
            <a:r>
              <a:rPr lang="zh-CN" altLang="en-US" dirty="0"/>
              <a:t>取栈顶</a:t>
            </a:r>
            <a:endParaRPr lang="zh-CN" altLang="en-US" dirty="0"/>
          </a:p>
          <a:p>
            <a:pPr marL="0" indent="0">
              <a:buFont typeface="Arial" panose="020B0604020202020204" pitchFamily="34" charset="0"/>
              <a:buNone/>
              <a:defRPr/>
            </a:pPr>
            <a:r>
              <a:rPr lang="zh-CN" altLang="en-US" dirty="0"/>
              <a:t>    </a:t>
            </a:r>
            <a:r>
              <a:rPr lang="en-US" altLang="zh-CN" dirty="0"/>
              <a:t>bool </a:t>
            </a:r>
            <a:r>
              <a:rPr lang="en-US" altLang="zh-CN" dirty="0" err="1"/>
              <a:t>IsEmpty</a:t>
            </a:r>
            <a:r>
              <a:rPr lang="en-US" altLang="zh-CN" dirty="0"/>
              <a:t> ( ) const { return top == -1; } </a:t>
            </a:r>
            <a:endParaRPr lang="en-US" altLang="zh-CN" dirty="0"/>
          </a:p>
          <a:p>
            <a:pPr marL="0" indent="0">
              <a:buFont typeface="Arial" panose="020B0604020202020204" pitchFamily="34" charset="0"/>
              <a:buNone/>
              <a:defRPr/>
            </a:pPr>
            <a:r>
              <a:rPr lang="en-US" altLang="zh-CN" dirty="0"/>
              <a:t>    bool </a:t>
            </a:r>
            <a:r>
              <a:rPr lang="en-US" altLang="zh-CN" dirty="0" err="1"/>
              <a:t>IsFull</a:t>
            </a:r>
            <a:r>
              <a:rPr lang="en-US" altLang="zh-CN" dirty="0"/>
              <a:t> ( ) const { return top == </a:t>
            </a:r>
            <a:r>
              <a:rPr lang="en-US" altLang="zh-CN" dirty="0" err="1"/>
              <a:t>maxSize</a:t>
            </a:r>
            <a:r>
              <a:rPr lang="en-US" altLang="zh-CN" dirty="0"/>
              <a:t> - 1; } </a:t>
            </a:r>
            <a:endParaRPr lang="en-US" altLang="zh-CN" dirty="0"/>
          </a:p>
          <a:p>
            <a:pPr marL="0" indent="0">
              <a:buFont typeface="Arial" panose="020B0604020202020204" pitchFamily="34" charset="0"/>
              <a:buNone/>
              <a:defRPr/>
            </a:pPr>
            <a:r>
              <a:rPr lang="en-US" altLang="zh-CN" dirty="0"/>
              <a:t>    int </a:t>
            </a:r>
            <a:r>
              <a:rPr lang="en-US" altLang="zh-CN" dirty="0" err="1"/>
              <a:t>getSize</a:t>
            </a:r>
            <a:r>
              <a:rPr lang="en-US" altLang="zh-CN" dirty="0"/>
              <a:t> ( ) const {return top +</a:t>
            </a:r>
            <a:r>
              <a:rPr lang="zh-CN" altLang="en-US" dirty="0"/>
              <a:t> </a:t>
            </a:r>
            <a:r>
              <a:rPr lang="en-US" altLang="zh-CN" dirty="0"/>
              <a:t>1;} </a:t>
            </a:r>
            <a:endParaRPr lang="en-US" altLang="zh-CN" dirty="0"/>
          </a:p>
          <a:p>
            <a:pPr marL="0" indent="0">
              <a:buFont typeface="Arial" panose="020B0604020202020204" pitchFamily="34" charset="0"/>
              <a:buNone/>
              <a:defRPr/>
            </a:pPr>
            <a:r>
              <a:rPr lang="en-US" altLang="zh-CN" dirty="0"/>
              <a:t>    void </a:t>
            </a:r>
            <a:r>
              <a:rPr lang="en-US" altLang="zh-CN" dirty="0" err="1"/>
              <a:t>MakeEmpty</a:t>
            </a:r>
            <a:r>
              <a:rPr lang="en-US" altLang="zh-CN" dirty="0"/>
              <a:t>( ) { top = -1; }</a:t>
            </a:r>
            <a:endParaRPr lang="en-US" altLang="zh-CN" dirty="0"/>
          </a:p>
          <a:p>
            <a:pPr marL="0" indent="0">
              <a:buFont typeface="Arial" panose="020B0604020202020204" pitchFamily="34" charset="0"/>
              <a:buNone/>
              <a:defRPr/>
            </a:pPr>
            <a:r>
              <a:rPr lang="en-US" altLang="zh-CN" dirty="0"/>
              <a:t>    …</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noChangeArrowheads="1"/>
          </p:cNvSpPr>
          <p:nvPr>
            <p:ph type="title"/>
          </p:nvPr>
        </p:nvSpPr>
        <p:spPr/>
        <p:txBody>
          <a:bodyPr/>
          <a:lstStyle/>
          <a:p>
            <a:r>
              <a:rPr lang="zh-CN" altLang="en-US"/>
              <a:t>进栈操作</a:t>
            </a:r>
            <a:endParaRPr lang="zh-CN" altLang="en-US"/>
          </a:p>
        </p:txBody>
      </p:sp>
      <p:sp>
        <p:nvSpPr>
          <p:cNvPr id="10243" name="内容占位符 2"/>
          <p:cNvSpPr>
            <a:spLocks noGrp="1" noChangeArrowheads="1"/>
          </p:cNvSpPr>
          <p:nvPr>
            <p:ph idx="1"/>
          </p:nvPr>
        </p:nvSpPr>
        <p:spPr>
          <a:xfrm>
            <a:off x="468313" y="1825625"/>
            <a:ext cx="8207375" cy="4351338"/>
          </a:xfrm>
        </p:spPr>
        <p:txBody>
          <a:bodyPr>
            <a:normAutofit lnSpcReduction="10000"/>
          </a:bodyPr>
          <a:lstStyle/>
          <a:p>
            <a:r>
              <a:rPr lang="zh-CN" altLang="en-US" dirty="0"/>
              <a:t>先判断栈是否已满（设栈的最后允许存放位置为</a:t>
            </a:r>
            <a:r>
              <a:rPr lang="en-US" altLang="zh-CN" dirty="0"/>
              <a:t>maxSize-1 </a:t>
            </a:r>
            <a:r>
              <a:rPr lang="zh-CN" altLang="en-US" dirty="0"/>
              <a:t>）</a:t>
            </a:r>
            <a:endParaRPr lang="zh-CN" altLang="en-US" dirty="0"/>
          </a:p>
          <a:p>
            <a:pPr lvl="1"/>
            <a:r>
              <a:rPr lang="zh-CN" altLang="en-US" dirty="0"/>
              <a:t>如果栈顶指针</a:t>
            </a:r>
            <a:r>
              <a:rPr lang="en-US" altLang="zh-CN" dirty="0"/>
              <a:t>top == maxSize-1</a:t>
            </a:r>
            <a:r>
              <a:rPr lang="zh-CN" altLang="en-US" dirty="0"/>
              <a:t>，程序转入溢出处理。</a:t>
            </a:r>
            <a:endParaRPr lang="zh-CN" altLang="en-US" dirty="0"/>
          </a:p>
          <a:p>
            <a:pPr lvl="2"/>
            <a:r>
              <a:rPr lang="zh-CN" altLang="en-US" dirty="0"/>
              <a:t>因为栈中已无空位</a:t>
            </a:r>
            <a:endParaRPr lang="en-US" altLang="zh-CN" dirty="0"/>
          </a:p>
          <a:p>
            <a:pPr lvl="1"/>
            <a:r>
              <a:rPr lang="zh-CN" altLang="en-US" dirty="0"/>
              <a:t>如果</a:t>
            </a:r>
            <a:r>
              <a:rPr lang="en-US" altLang="zh-CN" dirty="0"/>
              <a:t>top &lt; maxSize-1</a:t>
            </a:r>
            <a:r>
              <a:rPr lang="zh-CN" altLang="en-US" dirty="0"/>
              <a:t>，则先让栈顶指针加</a:t>
            </a:r>
            <a:r>
              <a:rPr lang="en-US" altLang="zh-CN" dirty="0"/>
              <a:t>1</a:t>
            </a:r>
            <a:r>
              <a:rPr lang="zh-CN" altLang="en-US" dirty="0"/>
              <a:t>，指到当前可加入新元素的位置，在这个位置插入新元素，该元素成为新的栈顶元素。</a:t>
            </a:r>
            <a:endParaRPr lang="zh-CN" altLang="en-US" dirty="0"/>
          </a:p>
          <a:p>
            <a:endParaRPr lang="zh-CN" altLang="en-US"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auto">
          <a:xfrm>
            <a:off x="3076575" y="5867400"/>
            <a:ext cx="56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a:latin typeface="Times New Roman" panose="02020603050405020304" pitchFamily="18" charset="0"/>
                <a:ea typeface="宋体" panose="02010600030101010101" pitchFamily="2" charset="-122"/>
              </a:rPr>
              <a:t>     </a:t>
            </a:r>
            <a:endParaRPr kumimoji="1" lang="en-US" altLang="zh-CN" sz="2400">
              <a:latin typeface="Times New Roman" panose="02020603050405020304" pitchFamily="18" charset="0"/>
              <a:ea typeface="宋体" panose="02010600030101010101" pitchFamily="2" charset="-122"/>
            </a:endParaRPr>
          </a:p>
        </p:txBody>
      </p:sp>
      <p:sp>
        <p:nvSpPr>
          <p:cNvPr id="11267" name="Rectangle 6"/>
          <p:cNvSpPr>
            <a:spLocks noChangeArrowheads="1"/>
          </p:cNvSpPr>
          <p:nvPr/>
        </p:nvSpPr>
        <p:spPr bwMode="auto">
          <a:xfrm>
            <a:off x="1600200" y="7620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268" name="Line 7"/>
          <p:cNvSpPr>
            <a:spLocks noChangeShapeType="1"/>
          </p:cNvSpPr>
          <p:nvPr/>
        </p:nvSpPr>
        <p:spPr bwMode="auto">
          <a:xfrm>
            <a:off x="1600200" y="2286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9" name="Line 8"/>
          <p:cNvSpPr>
            <a:spLocks noChangeShapeType="1"/>
          </p:cNvSpPr>
          <p:nvPr/>
        </p:nvSpPr>
        <p:spPr bwMode="auto">
          <a:xfrm flipV="1">
            <a:off x="2590800" y="2133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11"/>
          <p:cNvSpPr>
            <a:spLocks noChangeShapeType="1"/>
          </p:cNvSpPr>
          <p:nvPr/>
        </p:nvSpPr>
        <p:spPr bwMode="auto">
          <a:xfrm>
            <a:off x="1600200" y="1143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 name="Line 12"/>
          <p:cNvSpPr>
            <a:spLocks noChangeShapeType="1"/>
          </p:cNvSpPr>
          <p:nvPr/>
        </p:nvSpPr>
        <p:spPr bwMode="auto">
          <a:xfrm flipV="1">
            <a:off x="2590800" y="990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2" name="Line 13"/>
          <p:cNvSpPr>
            <a:spLocks noChangeShapeType="1"/>
          </p:cNvSpPr>
          <p:nvPr/>
        </p:nvSpPr>
        <p:spPr bwMode="auto">
          <a:xfrm>
            <a:off x="1600200" y="1524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 name="Line 14"/>
          <p:cNvSpPr>
            <a:spLocks noChangeShapeType="1"/>
          </p:cNvSpPr>
          <p:nvPr/>
        </p:nvSpPr>
        <p:spPr bwMode="auto">
          <a:xfrm flipV="1">
            <a:off x="2590800" y="1371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4" name="Line 15"/>
          <p:cNvSpPr>
            <a:spLocks noChangeShapeType="1"/>
          </p:cNvSpPr>
          <p:nvPr/>
        </p:nvSpPr>
        <p:spPr bwMode="auto">
          <a:xfrm>
            <a:off x="1600200" y="1905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5" name="Line 16"/>
          <p:cNvSpPr>
            <a:spLocks noChangeShapeType="1"/>
          </p:cNvSpPr>
          <p:nvPr/>
        </p:nvSpPr>
        <p:spPr bwMode="auto">
          <a:xfrm flipV="1">
            <a:off x="2590800" y="175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6" name="Text Box 17"/>
          <p:cNvSpPr txBox="1">
            <a:spLocks noChangeArrowheads="1"/>
          </p:cNvSpPr>
          <p:nvPr/>
        </p:nvSpPr>
        <p:spPr bwMode="auto">
          <a:xfrm>
            <a:off x="669925" y="2505075"/>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1277" name="Line 18"/>
          <p:cNvSpPr>
            <a:spLocks noChangeShapeType="1"/>
          </p:cNvSpPr>
          <p:nvPr/>
        </p:nvSpPr>
        <p:spPr bwMode="auto">
          <a:xfrm>
            <a:off x="1295400" y="2819400"/>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8" name="Text Box 19"/>
          <p:cNvSpPr txBox="1">
            <a:spLocks noChangeArrowheads="1"/>
          </p:cNvSpPr>
          <p:nvPr/>
        </p:nvSpPr>
        <p:spPr bwMode="auto">
          <a:xfrm>
            <a:off x="1676400" y="2605088"/>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solidFill>
                  <a:srgbClr val="0000FF"/>
                </a:solidFill>
                <a:latin typeface="Times New Roman" panose="02020603050405020304" pitchFamily="18" charset="0"/>
                <a:ea typeface="隶书" panose="02010509060101010101" pitchFamily="49" charset="-122"/>
              </a:rPr>
              <a:t>空栈</a:t>
            </a:r>
            <a:endParaRPr kumimoji="1" lang="zh-CN" altLang="en-US" sz="2400">
              <a:latin typeface="Times New Roman" panose="02020603050405020304" pitchFamily="18" charset="0"/>
              <a:ea typeface="宋体" panose="02010600030101010101" pitchFamily="2" charset="-122"/>
            </a:endParaRPr>
          </a:p>
        </p:txBody>
      </p:sp>
      <p:sp>
        <p:nvSpPr>
          <p:cNvPr id="11279" name="Text Box 20"/>
          <p:cNvSpPr txBox="1">
            <a:spLocks noChangeArrowheads="1"/>
          </p:cNvSpPr>
          <p:nvPr/>
        </p:nvSpPr>
        <p:spPr bwMode="auto">
          <a:xfrm>
            <a:off x="3108325" y="21478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1280" name="Line 21"/>
          <p:cNvSpPr>
            <a:spLocks noChangeShapeType="1"/>
          </p:cNvSpPr>
          <p:nvPr/>
        </p:nvSpPr>
        <p:spPr bwMode="auto">
          <a:xfrm>
            <a:off x="3733800" y="2462213"/>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1" name="Rectangle 22"/>
          <p:cNvSpPr>
            <a:spLocks noChangeArrowheads="1"/>
          </p:cNvSpPr>
          <p:nvPr/>
        </p:nvSpPr>
        <p:spPr bwMode="auto">
          <a:xfrm>
            <a:off x="4038600" y="7620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282" name="Line 23"/>
          <p:cNvSpPr>
            <a:spLocks noChangeShapeType="1"/>
          </p:cNvSpPr>
          <p:nvPr/>
        </p:nvSpPr>
        <p:spPr bwMode="auto">
          <a:xfrm>
            <a:off x="4038600" y="2286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3" name="Line 24"/>
          <p:cNvSpPr>
            <a:spLocks noChangeShapeType="1"/>
          </p:cNvSpPr>
          <p:nvPr/>
        </p:nvSpPr>
        <p:spPr bwMode="auto">
          <a:xfrm flipV="1">
            <a:off x="5029200" y="2133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4" name="Line 27"/>
          <p:cNvSpPr>
            <a:spLocks noChangeShapeType="1"/>
          </p:cNvSpPr>
          <p:nvPr/>
        </p:nvSpPr>
        <p:spPr bwMode="auto">
          <a:xfrm>
            <a:off x="4038600" y="1143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28"/>
          <p:cNvSpPr>
            <a:spLocks noChangeShapeType="1"/>
          </p:cNvSpPr>
          <p:nvPr/>
        </p:nvSpPr>
        <p:spPr bwMode="auto">
          <a:xfrm flipV="1">
            <a:off x="5029200" y="990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6" name="Line 29"/>
          <p:cNvSpPr>
            <a:spLocks noChangeShapeType="1"/>
          </p:cNvSpPr>
          <p:nvPr/>
        </p:nvSpPr>
        <p:spPr bwMode="auto">
          <a:xfrm>
            <a:off x="4038600" y="1524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7" name="Line 30"/>
          <p:cNvSpPr>
            <a:spLocks noChangeShapeType="1"/>
          </p:cNvSpPr>
          <p:nvPr/>
        </p:nvSpPr>
        <p:spPr bwMode="auto">
          <a:xfrm flipV="1">
            <a:off x="5029200" y="1371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8" name="Line 31"/>
          <p:cNvSpPr>
            <a:spLocks noChangeShapeType="1"/>
          </p:cNvSpPr>
          <p:nvPr/>
        </p:nvSpPr>
        <p:spPr bwMode="auto">
          <a:xfrm>
            <a:off x="4038600" y="1905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9" name="Line 32"/>
          <p:cNvSpPr>
            <a:spLocks noChangeShapeType="1"/>
          </p:cNvSpPr>
          <p:nvPr/>
        </p:nvSpPr>
        <p:spPr bwMode="auto">
          <a:xfrm flipV="1">
            <a:off x="5029200" y="175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Text Box 33"/>
          <p:cNvSpPr txBox="1">
            <a:spLocks noChangeArrowheads="1"/>
          </p:cNvSpPr>
          <p:nvPr/>
        </p:nvSpPr>
        <p:spPr bwMode="auto">
          <a:xfrm>
            <a:off x="5562600" y="18430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1291" name="Line 34"/>
          <p:cNvSpPr>
            <a:spLocks noChangeShapeType="1"/>
          </p:cNvSpPr>
          <p:nvPr/>
        </p:nvSpPr>
        <p:spPr bwMode="auto">
          <a:xfrm>
            <a:off x="6172200" y="2133600"/>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 name="Rectangle 35"/>
          <p:cNvSpPr>
            <a:spLocks noChangeArrowheads="1"/>
          </p:cNvSpPr>
          <p:nvPr/>
        </p:nvSpPr>
        <p:spPr bwMode="auto">
          <a:xfrm>
            <a:off x="6477000" y="7620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293" name="Line 36"/>
          <p:cNvSpPr>
            <a:spLocks noChangeShapeType="1"/>
          </p:cNvSpPr>
          <p:nvPr/>
        </p:nvSpPr>
        <p:spPr bwMode="auto">
          <a:xfrm>
            <a:off x="6477000" y="2286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4" name="Line 37"/>
          <p:cNvSpPr>
            <a:spLocks noChangeShapeType="1"/>
          </p:cNvSpPr>
          <p:nvPr/>
        </p:nvSpPr>
        <p:spPr bwMode="auto">
          <a:xfrm flipV="1">
            <a:off x="7467600" y="2133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 name="Line 40"/>
          <p:cNvSpPr>
            <a:spLocks noChangeShapeType="1"/>
          </p:cNvSpPr>
          <p:nvPr/>
        </p:nvSpPr>
        <p:spPr bwMode="auto">
          <a:xfrm>
            <a:off x="6477000" y="1143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6" name="Line 41"/>
          <p:cNvSpPr>
            <a:spLocks noChangeShapeType="1"/>
          </p:cNvSpPr>
          <p:nvPr/>
        </p:nvSpPr>
        <p:spPr bwMode="auto">
          <a:xfrm flipV="1">
            <a:off x="7467600" y="990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7" name="Line 42"/>
          <p:cNvSpPr>
            <a:spLocks noChangeShapeType="1"/>
          </p:cNvSpPr>
          <p:nvPr/>
        </p:nvSpPr>
        <p:spPr bwMode="auto">
          <a:xfrm>
            <a:off x="6477000" y="1524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8" name="Line 43"/>
          <p:cNvSpPr>
            <a:spLocks noChangeShapeType="1"/>
          </p:cNvSpPr>
          <p:nvPr/>
        </p:nvSpPr>
        <p:spPr bwMode="auto">
          <a:xfrm flipV="1">
            <a:off x="7467600" y="1371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9" name="Line 44"/>
          <p:cNvSpPr>
            <a:spLocks noChangeShapeType="1"/>
          </p:cNvSpPr>
          <p:nvPr/>
        </p:nvSpPr>
        <p:spPr bwMode="auto">
          <a:xfrm>
            <a:off x="6477000" y="1905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0" name="Line 45"/>
          <p:cNvSpPr>
            <a:spLocks noChangeShapeType="1"/>
          </p:cNvSpPr>
          <p:nvPr/>
        </p:nvSpPr>
        <p:spPr bwMode="auto">
          <a:xfrm flipV="1">
            <a:off x="7467600" y="175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1" name="Text Box 46"/>
          <p:cNvSpPr txBox="1">
            <a:spLocks noChangeArrowheads="1"/>
          </p:cNvSpPr>
          <p:nvPr/>
        </p:nvSpPr>
        <p:spPr bwMode="auto">
          <a:xfrm>
            <a:off x="3108325" y="35052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1302" name="Line 47"/>
          <p:cNvSpPr>
            <a:spLocks noChangeShapeType="1"/>
          </p:cNvSpPr>
          <p:nvPr/>
        </p:nvSpPr>
        <p:spPr bwMode="auto">
          <a:xfrm>
            <a:off x="3733800" y="3819525"/>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3" name="Rectangle 48"/>
          <p:cNvSpPr>
            <a:spLocks noChangeArrowheads="1"/>
          </p:cNvSpPr>
          <p:nvPr/>
        </p:nvSpPr>
        <p:spPr bwMode="auto">
          <a:xfrm>
            <a:off x="4038600" y="36576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304" name="Line 49"/>
          <p:cNvSpPr>
            <a:spLocks noChangeShapeType="1"/>
          </p:cNvSpPr>
          <p:nvPr/>
        </p:nvSpPr>
        <p:spPr bwMode="auto">
          <a:xfrm>
            <a:off x="4038600" y="5181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5" name="Line 50"/>
          <p:cNvSpPr>
            <a:spLocks noChangeShapeType="1"/>
          </p:cNvSpPr>
          <p:nvPr/>
        </p:nvSpPr>
        <p:spPr bwMode="auto">
          <a:xfrm flipV="1">
            <a:off x="5029200" y="5029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6" name="Line 51"/>
          <p:cNvSpPr>
            <a:spLocks noChangeShapeType="1"/>
          </p:cNvSpPr>
          <p:nvPr/>
        </p:nvSpPr>
        <p:spPr bwMode="auto">
          <a:xfrm>
            <a:off x="4038600" y="4038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7" name="Line 52"/>
          <p:cNvSpPr>
            <a:spLocks noChangeShapeType="1"/>
          </p:cNvSpPr>
          <p:nvPr/>
        </p:nvSpPr>
        <p:spPr bwMode="auto">
          <a:xfrm flipV="1">
            <a:off x="5029200" y="3886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8" name="Line 55"/>
          <p:cNvSpPr>
            <a:spLocks noChangeShapeType="1"/>
          </p:cNvSpPr>
          <p:nvPr/>
        </p:nvSpPr>
        <p:spPr bwMode="auto">
          <a:xfrm>
            <a:off x="4038600" y="4419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9" name="Line 56"/>
          <p:cNvSpPr>
            <a:spLocks noChangeShapeType="1"/>
          </p:cNvSpPr>
          <p:nvPr/>
        </p:nvSpPr>
        <p:spPr bwMode="auto">
          <a:xfrm flipV="1">
            <a:off x="5029200" y="42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0" name="Line 57"/>
          <p:cNvSpPr>
            <a:spLocks noChangeShapeType="1"/>
          </p:cNvSpPr>
          <p:nvPr/>
        </p:nvSpPr>
        <p:spPr bwMode="auto">
          <a:xfrm>
            <a:off x="4038600" y="4800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1" name="Line 58"/>
          <p:cNvSpPr>
            <a:spLocks noChangeShapeType="1"/>
          </p:cNvSpPr>
          <p:nvPr/>
        </p:nvSpPr>
        <p:spPr bwMode="auto">
          <a:xfrm flipV="1">
            <a:off x="5029200" y="4648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2" name="Text Box 59"/>
          <p:cNvSpPr txBox="1">
            <a:spLocks noChangeArrowheads="1"/>
          </p:cNvSpPr>
          <p:nvPr/>
        </p:nvSpPr>
        <p:spPr bwMode="auto">
          <a:xfrm>
            <a:off x="669925" y="35052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1313" name="Line 60"/>
          <p:cNvSpPr>
            <a:spLocks noChangeShapeType="1"/>
          </p:cNvSpPr>
          <p:nvPr/>
        </p:nvSpPr>
        <p:spPr bwMode="auto">
          <a:xfrm>
            <a:off x="1295400" y="3819525"/>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4" name="Rectangle 61"/>
          <p:cNvSpPr>
            <a:spLocks noChangeArrowheads="1"/>
          </p:cNvSpPr>
          <p:nvPr/>
        </p:nvSpPr>
        <p:spPr bwMode="auto">
          <a:xfrm>
            <a:off x="1600200" y="36576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315" name="Line 62"/>
          <p:cNvSpPr>
            <a:spLocks noChangeShapeType="1"/>
          </p:cNvSpPr>
          <p:nvPr/>
        </p:nvSpPr>
        <p:spPr bwMode="auto">
          <a:xfrm>
            <a:off x="1600200" y="5181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6" name="Line 63"/>
          <p:cNvSpPr>
            <a:spLocks noChangeShapeType="1"/>
          </p:cNvSpPr>
          <p:nvPr/>
        </p:nvSpPr>
        <p:spPr bwMode="auto">
          <a:xfrm flipV="1">
            <a:off x="2590800" y="5029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7" name="Line 64"/>
          <p:cNvSpPr>
            <a:spLocks noChangeShapeType="1"/>
          </p:cNvSpPr>
          <p:nvPr/>
        </p:nvSpPr>
        <p:spPr bwMode="auto">
          <a:xfrm>
            <a:off x="1600200" y="4038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8" name="Line 65"/>
          <p:cNvSpPr>
            <a:spLocks noChangeShapeType="1"/>
          </p:cNvSpPr>
          <p:nvPr/>
        </p:nvSpPr>
        <p:spPr bwMode="auto">
          <a:xfrm flipV="1">
            <a:off x="2590800" y="3886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9" name="Line 68"/>
          <p:cNvSpPr>
            <a:spLocks noChangeShapeType="1"/>
          </p:cNvSpPr>
          <p:nvPr/>
        </p:nvSpPr>
        <p:spPr bwMode="auto">
          <a:xfrm>
            <a:off x="1600200" y="4419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0" name="Line 69"/>
          <p:cNvSpPr>
            <a:spLocks noChangeShapeType="1"/>
          </p:cNvSpPr>
          <p:nvPr/>
        </p:nvSpPr>
        <p:spPr bwMode="auto">
          <a:xfrm flipV="1">
            <a:off x="2590800" y="42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1" name="Line 70"/>
          <p:cNvSpPr>
            <a:spLocks noChangeShapeType="1"/>
          </p:cNvSpPr>
          <p:nvPr/>
        </p:nvSpPr>
        <p:spPr bwMode="auto">
          <a:xfrm>
            <a:off x="1600200" y="4800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2" name="Line 71"/>
          <p:cNvSpPr>
            <a:spLocks noChangeShapeType="1"/>
          </p:cNvSpPr>
          <p:nvPr/>
        </p:nvSpPr>
        <p:spPr bwMode="auto">
          <a:xfrm flipV="1">
            <a:off x="2590800" y="4648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3" name="Text Box 72"/>
          <p:cNvSpPr txBox="1">
            <a:spLocks noChangeArrowheads="1"/>
          </p:cNvSpPr>
          <p:nvPr/>
        </p:nvSpPr>
        <p:spPr bwMode="auto">
          <a:xfrm>
            <a:off x="5546725" y="38862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1324" name="Line 73"/>
          <p:cNvSpPr>
            <a:spLocks noChangeShapeType="1"/>
          </p:cNvSpPr>
          <p:nvPr/>
        </p:nvSpPr>
        <p:spPr bwMode="auto">
          <a:xfrm>
            <a:off x="6172200" y="4200525"/>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5" name="Rectangle 74"/>
          <p:cNvSpPr>
            <a:spLocks noChangeArrowheads="1"/>
          </p:cNvSpPr>
          <p:nvPr/>
        </p:nvSpPr>
        <p:spPr bwMode="auto">
          <a:xfrm>
            <a:off x="6477000" y="36576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326" name="Line 75"/>
          <p:cNvSpPr>
            <a:spLocks noChangeShapeType="1"/>
          </p:cNvSpPr>
          <p:nvPr/>
        </p:nvSpPr>
        <p:spPr bwMode="auto">
          <a:xfrm>
            <a:off x="6477000" y="5181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7" name="Line 76"/>
          <p:cNvSpPr>
            <a:spLocks noChangeShapeType="1"/>
          </p:cNvSpPr>
          <p:nvPr/>
        </p:nvSpPr>
        <p:spPr bwMode="auto">
          <a:xfrm flipV="1">
            <a:off x="7467600" y="5029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8" name="Line 77"/>
          <p:cNvSpPr>
            <a:spLocks noChangeShapeType="1"/>
          </p:cNvSpPr>
          <p:nvPr/>
        </p:nvSpPr>
        <p:spPr bwMode="auto">
          <a:xfrm>
            <a:off x="6477000" y="4038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9" name="Line 78"/>
          <p:cNvSpPr>
            <a:spLocks noChangeShapeType="1"/>
          </p:cNvSpPr>
          <p:nvPr/>
        </p:nvSpPr>
        <p:spPr bwMode="auto">
          <a:xfrm flipV="1">
            <a:off x="7467600" y="3886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30" name="Line 81"/>
          <p:cNvSpPr>
            <a:spLocks noChangeShapeType="1"/>
          </p:cNvSpPr>
          <p:nvPr/>
        </p:nvSpPr>
        <p:spPr bwMode="auto">
          <a:xfrm>
            <a:off x="6477000" y="4419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31" name="Line 82"/>
          <p:cNvSpPr>
            <a:spLocks noChangeShapeType="1"/>
          </p:cNvSpPr>
          <p:nvPr/>
        </p:nvSpPr>
        <p:spPr bwMode="auto">
          <a:xfrm flipV="1">
            <a:off x="7467600" y="42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32" name="Line 83"/>
          <p:cNvSpPr>
            <a:spLocks noChangeShapeType="1"/>
          </p:cNvSpPr>
          <p:nvPr/>
        </p:nvSpPr>
        <p:spPr bwMode="auto">
          <a:xfrm>
            <a:off x="6477000" y="4800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33" name="Line 84"/>
          <p:cNvSpPr>
            <a:spLocks noChangeShapeType="1"/>
          </p:cNvSpPr>
          <p:nvPr/>
        </p:nvSpPr>
        <p:spPr bwMode="auto">
          <a:xfrm flipV="1">
            <a:off x="7467600" y="4648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34" name="Text Box 85"/>
          <p:cNvSpPr txBox="1">
            <a:spLocks noChangeArrowheads="1"/>
          </p:cNvSpPr>
          <p:nvPr/>
        </p:nvSpPr>
        <p:spPr bwMode="auto">
          <a:xfrm>
            <a:off x="4038600" y="2667000"/>
            <a:ext cx="116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a </a:t>
            </a:r>
            <a:r>
              <a:rPr kumimoji="1" lang="zh-CN" altLang="en-US" sz="2800">
                <a:solidFill>
                  <a:srgbClr val="0000FF"/>
                </a:solidFill>
                <a:latin typeface="Times New Roman" panose="02020603050405020304" pitchFamily="18" charset="0"/>
                <a:ea typeface="隶书" panose="02010509060101010101" pitchFamily="49" charset="-122"/>
              </a:rPr>
              <a:t>进栈</a:t>
            </a:r>
            <a:endParaRPr kumimoji="1" lang="zh-CN" altLang="en-US" sz="2400">
              <a:latin typeface="Times New Roman" panose="02020603050405020304" pitchFamily="18" charset="0"/>
              <a:ea typeface="宋体" panose="02010600030101010101" pitchFamily="2" charset="-122"/>
            </a:endParaRPr>
          </a:p>
        </p:txBody>
      </p:sp>
      <p:sp>
        <p:nvSpPr>
          <p:cNvPr id="11335" name="Text Box 86"/>
          <p:cNvSpPr txBox="1">
            <a:spLocks noChangeArrowheads="1"/>
          </p:cNvSpPr>
          <p:nvPr/>
        </p:nvSpPr>
        <p:spPr bwMode="auto">
          <a:xfrm>
            <a:off x="6457950" y="2681288"/>
            <a:ext cx="116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b </a:t>
            </a:r>
            <a:r>
              <a:rPr kumimoji="1" lang="zh-CN" altLang="en-US" sz="2800">
                <a:solidFill>
                  <a:srgbClr val="0000FF"/>
                </a:solidFill>
                <a:latin typeface="Times New Roman" panose="02020603050405020304" pitchFamily="18" charset="0"/>
                <a:ea typeface="隶书" panose="02010509060101010101" pitchFamily="49" charset="-122"/>
              </a:rPr>
              <a:t>进栈</a:t>
            </a:r>
            <a:endParaRPr kumimoji="1" lang="zh-CN" altLang="en-US" sz="2400">
              <a:latin typeface="Times New Roman" panose="02020603050405020304" pitchFamily="18" charset="0"/>
              <a:ea typeface="宋体" panose="02010600030101010101" pitchFamily="2" charset="-122"/>
            </a:endParaRPr>
          </a:p>
        </p:txBody>
      </p:sp>
      <p:sp>
        <p:nvSpPr>
          <p:cNvPr id="11336" name="Text Box 87"/>
          <p:cNvSpPr txBox="1">
            <a:spLocks noChangeArrowheads="1"/>
          </p:cNvSpPr>
          <p:nvPr/>
        </p:nvSpPr>
        <p:spPr bwMode="auto">
          <a:xfrm>
            <a:off x="43624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337" name="Text Box 88"/>
          <p:cNvSpPr txBox="1">
            <a:spLocks noChangeArrowheads="1"/>
          </p:cNvSpPr>
          <p:nvPr/>
        </p:nvSpPr>
        <p:spPr bwMode="auto">
          <a:xfrm>
            <a:off x="68008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338" name="Text Box 89"/>
          <p:cNvSpPr txBox="1">
            <a:spLocks noChangeArrowheads="1"/>
          </p:cNvSpPr>
          <p:nvPr/>
        </p:nvSpPr>
        <p:spPr bwMode="auto">
          <a:xfrm>
            <a:off x="6800850" y="184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339" name="Text Box 92"/>
          <p:cNvSpPr txBox="1">
            <a:spLocks noChangeArrowheads="1"/>
          </p:cNvSpPr>
          <p:nvPr/>
        </p:nvSpPr>
        <p:spPr bwMode="auto">
          <a:xfrm>
            <a:off x="1924050" y="5029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340" name="Text Box 93"/>
          <p:cNvSpPr txBox="1">
            <a:spLocks noChangeArrowheads="1"/>
          </p:cNvSpPr>
          <p:nvPr/>
        </p:nvSpPr>
        <p:spPr bwMode="auto">
          <a:xfrm>
            <a:off x="1924050" y="4724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341" name="Line 94"/>
          <p:cNvSpPr>
            <a:spLocks noChangeShapeType="1"/>
          </p:cNvSpPr>
          <p:nvPr/>
        </p:nvSpPr>
        <p:spPr bwMode="auto">
          <a:xfrm>
            <a:off x="1600200" y="6853238"/>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42" name="Text Box 95"/>
          <p:cNvSpPr txBox="1">
            <a:spLocks noChangeArrowheads="1"/>
          </p:cNvSpPr>
          <p:nvPr/>
        </p:nvSpPr>
        <p:spPr bwMode="auto">
          <a:xfrm>
            <a:off x="1905000" y="4281488"/>
            <a:ext cx="341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343" name="Text Box 96"/>
          <p:cNvSpPr txBox="1">
            <a:spLocks noChangeArrowheads="1"/>
          </p:cNvSpPr>
          <p:nvPr/>
        </p:nvSpPr>
        <p:spPr bwMode="auto">
          <a:xfrm>
            <a:off x="1905000" y="3962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344" name="Text Box 97"/>
          <p:cNvSpPr txBox="1">
            <a:spLocks noChangeArrowheads="1"/>
          </p:cNvSpPr>
          <p:nvPr/>
        </p:nvSpPr>
        <p:spPr bwMode="auto">
          <a:xfrm>
            <a:off x="1905000" y="3581400"/>
            <a:ext cx="341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345" name="Text Box 98"/>
          <p:cNvSpPr txBox="1">
            <a:spLocks noChangeArrowheads="1"/>
          </p:cNvSpPr>
          <p:nvPr/>
        </p:nvSpPr>
        <p:spPr bwMode="auto">
          <a:xfrm>
            <a:off x="1524000" y="5562600"/>
            <a:ext cx="1141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e </a:t>
            </a:r>
            <a:r>
              <a:rPr kumimoji="1" lang="zh-CN" altLang="en-US" sz="2800">
                <a:solidFill>
                  <a:srgbClr val="0000FF"/>
                </a:solidFill>
                <a:latin typeface="Times New Roman" panose="02020603050405020304" pitchFamily="18" charset="0"/>
                <a:ea typeface="隶书" panose="02010509060101010101" pitchFamily="49" charset="-122"/>
              </a:rPr>
              <a:t>进栈</a:t>
            </a:r>
            <a:endParaRPr kumimoji="1" lang="zh-CN" altLang="en-US" sz="2400">
              <a:latin typeface="Times New Roman" panose="02020603050405020304" pitchFamily="18" charset="0"/>
              <a:ea typeface="宋体" panose="02010600030101010101" pitchFamily="2" charset="-122"/>
            </a:endParaRPr>
          </a:p>
        </p:txBody>
      </p:sp>
      <p:sp>
        <p:nvSpPr>
          <p:cNvPr id="11346" name="Text Box 99"/>
          <p:cNvSpPr txBox="1">
            <a:spLocks noChangeArrowheads="1"/>
          </p:cNvSpPr>
          <p:nvPr/>
        </p:nvSpPr>
        <p:spPr bwMode="auto">
          <a:xfrm>
            <a:off x="4364038" y="5029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347" name="Text Box 100"/>
          <p:cNvSpPr txBox="1">
            <a:spLocks noChangeArrowheads="1"/>
          </p:cNvSpPr>
          <p:nvPr/>
        </p:nvSpPr>
        <p:spPr bwMode="auto">
          <a:xfrm>
            <a:off x="4364038" y="4724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348" name="Text Box 101"/>
          <p:cNvSpPr txBox="1">
            <a:spLocks noChangeArrowheads="1"/>
          </p:cNvSpPr>
          <p:nvPr/>
        </p:nvSpPr>
        <p:spPr bwMode="auto">
          <a:xfrm>
            <a:off x="4344988" y="4281488"/>
            <a:ext cx="341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349" name="Text Box 102"/>
          <p:cNvSpPr txBox="1">
            <a:spLocks noChangeArrowheads="1"/>
          </p:cNvSpPr>
          <p:nvPr/>
        </p:nvSpPr>
        <p:spPr bwMode="auto">
          <a:xfrm>
            <a:off x="4344988" y="3962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350" name="Text Box 103"/>
          <p:cNvSpPr txBox="1">
            <a:spLocks noChangeArrowheads="1"/>
          </p:cNvSpPr>
          <p:nvPr/>
        </p:nvSpPr>
        <p:spPr bwMode="auto">
          <a:xfrm>
            <a:off x="4344988" y="3581400"/>
            <a:ext cx="341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351" name="Text Box 104"/>
          <p:cNvSpPr txBox="1">
            <a:spLocks noChangeArrowheads="1"/>
          </p:cNvSpPr>
          <p:nvPr/>
        </p:nvSpPr>
        <p:spPr bwMode="auto">
          <a:xfrm>
            <a:off x="3671888" y="5562600"/>
            <a:ext cx="1814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f </a:t>
            </a:r>
            <a:r>
              <a:rPr kumimoji="1" lang="zh-CN" altLang="en-US" sz="2800">
                <a:solidFill>
                  <a:srgbClr val="0000FF"/>
                </a:solidFill>
                <a:latin typeface="Times New Roman" panose="02020603050405020304" pitchFamily="18" charset="0"/>
                <a:ea typeface="隶书" panose="02010509060101010101" pitchFamily="49" charset="-122"/>
              </a:rPr>
              <a:t>进栈溢出</a:t>
            </a:r>
            <a:endParaRPr kumimoji="1" lang="zh-CN" altLang="en-US" sz="2400">
              <a:latin typeface="Times New Roman" panose="02020603050405020304" pitchFamily="18" charset="0"/>
              <a:ea typeface="宋体" panose="02010600030101010101" pitchFamily="2" charset="-122"/>
            </a:endParaRPr>
          </a:p>
        </p:txBody>
      </p:sp>
      <p:sp>
        <p:nvSpPr>
          <p:cNvPr id="11352" name="Text Box 105"/>
          <p:cNvSpPr txBox="1">
            <a:spLocks noChangeArrowheads="1"/>
          </p:cNvSpPr>
          <p:nvPr/>
        </p:nvSpPr>
        <p:spPr bwMode="auto">
          <a:xfrm>
            <a:off x="6802438" y="5029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353" name="Text Box 106"/>
          <p:cNvSpPr txBox="1">
            <a:spLocks noChangeArrowheads="1"/>
          </p:cNvSpPr>
          <p:nvPr/>
        </p:nvSpPr>
        <p:spPr bwMode="auto">
          <a:xfrm>
            <a:off x="6802438" y="4724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354" name="Text Box 107"/>
          <p:cNvSpPr txBox="1">
            <a:spLocks noChangeArrowheads="1"/>
          </p:cNvSpPr>
          <p:nvPr/>
        </p:nvSpPr>
        <p:spPr bwMode="auto">
          <a:xfrm>
            <a:off x="6783388" y="3962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355" name="Text Box 108"/>
          <p:cNvSpPr txBox="1">
            <a:spLocks noChangeArrowheads="1"/>
          </p:cNvSpPr>
          <p:nvPr/>
        </p:nvSpPr>
        <p:spPr bwMode="auto">
          <a:xfrm>
            <a:off x="6783388" y="3581400"/>
            <a:ext cx="341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356" name="Text Box 109"/>
          <p:cNvSpPr txBox="1">
            <a:spLocks noChangeArrowheads="1"/>
          </p:cNvSpPr>
          <p:nvPr/>
        </p:nvSpPr>
        <p:spPr bwMode="auto">
          <a:xfrm>
            <a:off x="6478588" y="5562600"/>
            <a:ext cx="1141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e </a:t>
            </a:r>
            <a:r>
              <a:rPr kumimoji="1" lang="zh-CN" altLang="en-US" sz="2800">
                <a:solidFill>
                  <a:srgbClr val="0000FF"/>
                </a:solidFill>
                <a:latin typeface="Times New Roman" panose="02020603050405020304" pitchFamily="18" charset="0"/>
                <a:ea typeface="隶书" panose="02010509060101010101" pitchFamily="49" charset="-122"/>
              </a:rPr>
              <a:t>退栈</a:t>
            </a:r>
            <a:endParaRPr kumimoji="1" lang="zh-CN" altLang="en-US" sz="2400">
              <a:latin typeface="Times New Roman" panose="02020603050405020304" pitchFamily="18" charset="0"/>
              <a:ea typeface="宋体" panose="02010600030101010101" pitchFamily="2" charset="-122"/>
            </a:endParaRPr>
          </a:p>
        </p:txBody>
      </p:sp>
      <p:sp>
        <p:nvSpPr>
          <p:cNvPr id="11357" name="Text Box 110"/>
          <p:cNvSpPr txBox="1">
            <a:spLocks noChangeArrowheads="1"/>
          </p:cNvSpPr>
          <p:nvPr/>
        </p:nvSpPr>
        <p:spPr bwMode="auto">
          <a:xfrm>
            <a:off x="6781800" y="4281488"/>
            <a:ext cx="341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358" name="Line 111"/>
          <p:cNvSpPr>
            <a:spLocks noChangeShapeType="1"/>
          </p:cNvSpPr>
          <p:nvPr/>
        </p:nvSpPr>
        <p:spPr bwMode="auto">
          <a:xfrm flipV="1">
            <a:off x="6248400" y="2209800"/>
            <a:ext cx="0" cy="304800"/>
          </a:xfrm>
          <a:prstGeom prst="line">
            <a:avLst/>
          </a:prstGeom>
          <a:noFill/>
          <a:ln w="28575">
            <a:solidFill>
              <a:srgbClr val="FF66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9" name="Line 112"/>
          <p:cNvSpPr>
            <a:spLocks noChangeShapeType="1"/>
          </p:cNvSpPr>
          <p:nvPr/>
        </p:nvSpPr>
        <p:spPr bwMode="auto">
          <a:xfrm flipV="1">
            <a:off x="1371600" y="3886200"/>
            <a:ext cx="0" cy="304800"/>
          </a:xfrm>
          <a:prstGeom prst="line">
            <a:avLst/>
          </a:prstGeom>
          <a:noFill/>
          <a:ln w="28575">
            <a:solidFill>
              <a:srgbClr val="FF66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0" name="Line 113"/>
          <p:cNvSpPr>
            <a:spLocks noChangeShapeType="1"/>
          </p:cNvSpPr>
          <p:nvPr/>
        </p:nvSpPr>
        <p:spPr bwMode="auto">
          <a:xfrm flipV="1">
            <a:off x="6248400" y="3810000"/>
            <a:ext cx="0" cy="304800"/>
          </a:xfrm>
          <a:prstGeom prst="line">
            <a:avLst/>
          </a:prstGeom>
          <a:noFill/>
          <a:ln w="28575">
            <a:solidFill>
              <a:srgbClr val="FF6600"/>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灯片编号占位符 2"/>
          <p:cNvSpPr>
            <a:spLocks noGrp="1"/>
          </p:cNvSpPr>
          <p:nvPr>
            <p:ph type="sldNum" sz="quarter" idx="12"/>
          </p:nvPr>
        </p:nvSpPr>
        <p:spPr/>
        <p:txBody>
          <a:bodyPr/>
          <a:lstStyle/>
          <a:p>
            <a:pPr>
              <a:defRPr/>
            </a:pPr>
            <a:fld id="{8213374E-244F-4EF8-8F80-5FAE57EC15DF}" type="slidenum">
              <a:rPr lang="en-US" altLang="zh-CN" smtClean="0"/>
            </a:fld>
            <a:endParaRPr lang="en-US" altLang="zh-CN"/>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noChangeArrowheads="1"/>
          </p:cNvSpPr>
          <p:nvPr>
            <p:ph type="title"/>
          </p:nvPr>
        </p:nvSpPr>
        <p:spPr/>
        <p:txBody>
          <a:bodyPr/>
          <a:lstStyle/>
          <a:p>
            <a:r>
              <a:rPr lang="zh-CN" altLang="en-US"/>
              <a:t>退栈操作</a:t>
            </a:r>
            <a:endParaRPr lang="zh-CN" altLang="en-US"/>
          </a:p>
        </p:txBody>
      </p:sp>
      <p:sp>
        <p:nvSpPr>
          <p:cNvPr id="12291" name="内容占位符 2"/>
          <p:cNvSpPr>
            <a:spLocks noGrp="1" noChangeArrowheads="1"/>
          </p:cNvSpPr>
          <p:nvPr>
            <p:ph idx="1"/>
          </p:nvPr>
        </p:nvSpPr>
        <p:spPr/>
        <p:txBody>
          <a:bodyPr/>
          <a:lstStyle/>
          <a:p>
            <a:r>
              <a:rPr lang="zh-CN" altLang="en-US" dirty="0"/>
              <a:t>如果</a:t>
            </a:r>
            <a:r>
              <a:rPr lang="en-US" altLang="zh-CN" dirty="0"/>
              <a:t>top &gt;= 0</a:t>
            </a:r>
            <a:r>
              <a:rPr lang="zh-CN" altLang="en-US" dirty="0"/>
              <a:t>，则栈顶指针减</a:t>
            </a:r>
            <a:r>
              <a:rPr lang="en-US" altLang="zh-CN" dirty="0"/>
              <a:t>1</a:t>
            </a:r>
            <a:r>
              <a:rPr lang="zh-CN" altLang="en-US" dirty="0"/>
              <a:t>，让栈顶退回到次栈顶位置。</a:t>
            </a:r>
            <a:endParaRPr lang="zh-CN" altLang="en-US" dirty="0"/>
          </a:p>
          <a:p>
            <a:r>
              <a:rPr lang="zh-CN" altLang="en-US" dirty="0"/>
              <a:t>极端情况出现在栈底：</a:t>
            </a:r>
            <a:endParaRPr lang="zh-CN" altLang="en-US" dirty="0"/>
          </a:p>
          <a:p>
            <a:pPr lvl="1"/>
            <a:r>
              <a:rPr lang="zh-CN" altLang="en-US" dirty="0"/>
              <a:t>如果</a:t>
            </a:r>
            <a:r>
              <a:rPr lang="en-US" altLang="zh-CN" dirty="0"/>
              <a:t>top == -1</a:t>
            </a:r>
            <a:r>
              <a:rPr lang="zh-CN" altLang="en-US" dirty="0"/>
              <a:t>（在退栈时发现是空栈），则执行栈空处理。</a:t>
            </a:r>
            <a:endParaRPr lang="zh-CN" altLang="en-US" dirty="0"/>
          </a:p>
          <a:p>
            <a:pPr lvl="2"/>
            <a:r>
              <a:rPr lang="zh-CN" altLang="en-US" dirty="0"/>
              <a:t>通常在使用该栈的算法结束时发生。</a:t>
            </a:r>
            <a:endParaRPr lang="zh-CN" altLang="en-US" dirty="0"/>
          </a:p>
          <a:p>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051"/>
          <p:cNvSpPr>
            <a:spLocks noChangeArrowheads="1"/>
          </p:cNvSpPr>
          <p:nvPr/>
        </p:nvSpPr>
        <p:spPr bwMode="auto">
          <a:xfrm>
            <a:off x="1600200" y="7620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3315" name="Line 2052"/>
          <p:cNvSpPr>
            <a:spLocks noChangeShapeType="1"/>
          </p:cNvSpPr>
          <p:nvPr/>
        </p:nvSpPr>
        <p:spPr bwMode="auto">
          <a:xfrm>
            <a:off x="1600200" y="2286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6" name="Line 2053"/>
          <p:cNvSpPr>
            <a:spLocks noChangeShapeType="1"/>
          </p:cNvSpPr>
          <p:nvPr/>
        </p:nvSpPr>
        <p:spPr bwMode="auto">
          <a:xfrm flipV="1">
            <a:off x="2590800" y="2133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7" name="Line 2054"/>
          <p:cNvSpPr>
            <a:spLocks noChangeShapeType="1"/>
          </p:cNvSpPr>
          <p:nvPr/>
        </p:nvSpPr>
        <p:spPr bwMode="auto">
          <a:xfrm>
            <a:off x="1600200" y="1143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 name="Line 2055"/>
          <p:cNvSpPr>
            <a:spLocks noChangeShapeType="1"/>
          </p:cNvSpPr>
          <p:nvPr/>
        </p:nvSpPr>
        <p:spPr bwMode="auto">
          <a:xfrm flipV="1">
            <a:off x="2590800" y="990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9" name="Line 2056"/>
          <p:cNvSpPr>
            <a:spLocks noChangeShapeType="1"/>
          </p:cNvSpPr>
          <p:nvPr/>
        </p:nvSpPr>
        <p:spPr bwMode="auto">
          <a:xfrm>
            <a:off x="1600200" y="1524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0" name="Line 2057"/>
          <p:cNvSpPr>
            <a:spLocks noChangeShapeType="1"/>
          </p:cNvSpPr>
          <p:nvPr/>
        </p:nvSpPr>
        <p:spPr bwMode="auto">
          <a:xfrm flipV="1">
            <a:off x="2590800" y="1371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1" name="Line 2058"/>
          <p:cNvSpPr>
            <a:spLocks noChangeShapeType="1"/>
          </p:cNvSpPr>
          <p:nvPr/>
        </p:nvSpPr>
        <p:spPr bwMode="auto">
          <a:xfrm>
            <a:off x="1600200" y="1905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2" name="Line 2059"/>
          <p:cNvSpPr>
            <a:spLocks noChangeShapeType="1"/>
          </p:cNvSpPr>
          <p:nvPr/>
        </p:nvSpPr>
        <p:spPr bwMode="auto">
          <a:xfrm flipV="1">
            <a:off x="2590800" y="175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3" name="Rectangle 2065"/>
          <p:cNvSpPr>
            <a:spLocks noChangeArrowheads="1"/>
          </p:cNvSpPr>
          <p:nvPr/>
        </p:nvSpPr>
        <p:spPr bwMode="auto">
          <a:xfrm>
            <a:off x="4038600" y="7620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3324" name="Line 2066"/>
          <p:cNvSpPr>
            <a:spLocks noChangeShapeType="1"/>
          </p:cNvSpPr>
          <p:nvPr/>
        </p:nvSpPr>
        <p:spPr bwMode="auto">
          <a:xfrm>
            <a:off x="4038600" y="2286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5" name="Line 2067"/>
          <p:cNvSpPr>
            <a:spLocks noChangeShapeType="1"/>
          </p:cNvSpPr>
          <p:nvPr/>
        </p:nvSpPr>
        <p:spPr bwMode="auto">
          <a:xfrm flipV="1">
            <a:off x="5029200" y="2133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6" name="Line 2068"/>
          <p:cNvSpPr>
            <a:spLocks noChangeShapeType="1"/>
          </p:cNvSpPr>
          <p:nvPr/>
        </p:nvSpPr>
        <p:spPr bwMode="auto">
          <a:xfrm>
            <a:off x="4038600" y="1143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7" name="Line 2069"/>
          <p:cNvSpPr>
            <a:spLocks noChangeShapeType="1"/>
          </p:cNvSpPr>
          <p:nvPr/>
        </p:nvSpPr>
        <p:spPr bwMode="auto">
          <a:xfrm flipV="1">
            <a:off x="5029200" y="990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8" name="Line 2070"/>
          <p:cNvSpPr>
            <a:spLocks noChangeShapeType="1"/>
          </p:cNvSpPr>
          <p:nvPr/>
        </p:nvSpPr>
        <p:spPr bwMode="auto">
          <a:xfrm>
            <a:off x="4038600" y="1524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9" name="Line 2071"/>
          <p:cNvSpPr>
            <a:spLocks noChangeShapeType="1"/>
          </p:cNvSpPr>
          <p:nvPr/>
        </p:nvSpPr>
        <p:spPr bwMode="auto">
          <a:xfrm flipV="1">
            <a:off x="5029200" y="1371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0" name="Line 2072"/>
          <p:cNvSpPr>
            <a:spLocks noChangeShapeType="1"/>
          </p:cNvSpPr>
          <p:nvPr/>
        </p:nvSpPr>
        <p:spPr bwMode="auto">
          <a:xfrm>
            <a:off x="4038600" y="1905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1" name="Line 2073"/>
          <p:cNvSpPr>
            <a:spLocks noChangeShapeType="1"/>
          </p:cNvSpPr>
          <p:nvPr/>
        </p:nvSpPr>
        <p:spPr bwMode="auto">
          <a:xfrm flipV="1">
            <a:off x="5029200" y="175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2" name="Rectangle 2076"/>
          <p:cNvSpPr>
            <a:spLocks noChangeArrowheads="1"/>
          </p:cNvSpPr>
          <p:nvPr/>
        </p:nvSpPr>
        <p:spPr bwMode="auto">
          <a:xfrm>
            <a:off x="6477000" y="7620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3333" name="Line 2077"/>
          <p:cNvSpPr>
            <a:spLocks noChangeShapeType="1"/>
          </p:cNvSpPr>
          <p:nvPr/>
        </p:nvSpPr>
        <p:spPr bwMode="auto">
          <a:xfrm>
            <a:off x="6477000" y="2286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4" name="Line 2078"/>
          <p:cNvSpPr>
            <a:spLocks noChangeShapeType="1"/>
          </p:cNvSpPr>
          <p:nvPr/>
        </p:nvSpPr>
        <p:spPr bwMode="auto">
          <a:xfrm flipV="1">
            <a:off x="7467600" y="2133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5" name="Line 2079"/>
          <p:cNvSpPr>
            <a:spLocks noChangeShapeType="1"/>
          </p:cNvSpPr>
          <p:nvPr/>
        </p:nvSpPr>
        <p:spPr bwMode="auto">
          <a:xfrm>
            <a:off x="6477000" y="1143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Line 2080"/>
          <p:cNvSpPr>
            <a:spLocks noChangeShapeType="1"/>
          </p:cNvSpPr>
          <p:nvPr/>
        </p:nvSpPr>
        <p:spPr bwMode="auto">
          <a:xfrm flipV="1">
            <a:off x="7467600" y="990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7" name="Line 2081"/>
          <p:cNvSpPr>
            <a:spLocks noChangeShapeType="1"/>
          </p:cNvSpPr>
          <p:nvPr/>
        </p:nvSpPr>
        <p:spPr bwMode="auto">
          <a:xfrm>
            <a:off x="6477000" y="1524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8" name="Line 2082"/>
          <p:cNvSpPr>
            <a:spLocks noChangeShapeType="1"/>
          </p:cNvSpPr>
          <p:nvPr/>
        </p:nvSpPr>
        <p:spPr bwMode="auto">
          <a:xfrm flipV="1">
            <a:off x="7467600" y="1371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9" name="Line 2083"/>
          <p:cNvSpPr>
            <a:spLocks noChangeShapeType="1"/>
          </p:cNvSpPr>
          <p:nvPr/>
        </p:nvSpPr>
        <p:spPr bwMode="auto">
          <a:xfrm>
            <a:off x="6477000" y="19050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Line 2084"/>
          <p:cNvSpPr>
            <a:spLocks noChangeShapeType="1"/>
          </p:cNvSpPr>
          <p:nvPr/>
        </p:nvSpPr>
        <p:spPr bwMode="auto">
          <a:xfrm flipV="1">
            <a:off x="7467600" y="175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1" name="Text Box 2085"/>
          <p:cNvSpPr txBox="1">
            <a:spLocks noChangeArrowheads="1"/>
          </p:cNvSpPr>
          <p:nvPr/>
        </p:nvSpPr>
        <p:spPr bwMode="auto">
          <a:xfrm>
            <a:off x="3184525" y="55006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3342" name="Line 2086"/>
          <p:cNvSpPr>
            <a:spLocks noChangeShapeType="1"/>
          </p:cNvSpPr>
          <p:nvPr/>
        </p:nvSpPr>
        <p:spPr bwMode="auto">
          <a:xfrm>
            <a:off x="3810000" y="5815013"/>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3" name="Rectangle 2087"/>
          <p:cNvSpPr>
            <a:spLocks noChangeArrowheads="1"/>
          </p:cNvSpPr>
          <p:nvPr/>
        </p:nvSpPr>
        <p:spPr bwMode="auto">
          <a:xfrm>
            <a:off x="4038600" y="36576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3344" name="Line 2088"/>
          <p:cNvSpPr>
            <a:spLocks noChangeShapeType="1"/>
          </p:cNvSpPr>
          <p:nvPr/>
        </p:nvSpPr>
        <p:spPr bwMode="auto">
          <a:xfrm>
            <a:off x="4038600" y="5181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5" name="Line 2089"/>
          <p:cNvSpPr>
            <a:spLocks noChangeShapeType="1"/>
          </p:cNvSpPr>
          <p:nvPr/>
        </p:nvSpPr>
        <p:spPr bwMode="auto">
          <a:xfrm flipV="1">
            <a:off x="5029200" y="5029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6" name="Line 2090"/>
          <p:cNvSpPr>
            <a:spLocks noChangeShapeType="1"/>
          </p:cNvSpPr>
          <p:nvPr/>
        </p:nvSpPr>
        <p:spPr bwMode="auto">
          <a:xfrm>
            <a:off x="4038600" y="4038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7" name="Line 2091"/>
          <p:cNvSpPr>
            <a:spLocks noChangeShapeType="1"/>
          </p:cNvSpPr>
          <p:nvPr/>
        </p:nvSpPr>
        <p:spPr bwMode="auto">
          <a:xfrm flipV="1">
            <a:off x="5029200" y="3886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8" name="Line 2092"/>
          <p:cNvSpPr>
            <a:spLocks noChangeShapeType="1"/>
          </p:cNvSpPr>
          <p:nvPr/>
        </p:nvSpPr>
        <p:spPr bwMode="auto">
          <a:xfrm>
            <a:off x="4038600" y="4419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9" name="Line 2093"/>
          <p:cNvSpPr>
            <a:spLocks noChangeShapeType="1"/>
          </p:cNvSpPr>
          <p:nvPr/>
        </p:nvSpPr>
        <p:spPr bwMode="auto">
          <a:xfrm flipV="1">
            <a:off x="5029200" y="42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0" name="Line 2094"/>
          <p:cNvSpPr>
            <a:spLocks noChangeShapeType="1"/>
          </p:cNvSpPr>
          <p:nvPr/>
        </p:nvSpPr>
        <p:spPr bwMode="auto">
          <a:xfrm>
            <a:off x="4038600" y="4800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1" name="Line 2095"/>
          <p:cNvSpPr>
            <a:spLocks noChangeShapeType="1"/>
          </p:cNvSpPr>
          <p:nvPr/>
        </p:nvSpPr>
        <p:spPr bwMode="auto">
          <a:xfrm flipV="1">
            <a:off x="5029200" y="4648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2" name="Rectangle 2098"/>
          <p:cNvSpPr>
            <a:spLocks noChangeArrowheads="1"/>
          </p:cNvSpPr>
          <p:nvPr/>
        </p:nvSpPr>
        <p:spPr bwMode="auto">
          <a:xfrm>
            <a:off x="1600200" y="3657600"/>
            <a:ext cx="990600" cy="19050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3353" name="Line 2099"/>
          <p:cNvSpPr>
            <a:spLocks noChangeShapeType="1"/>
          </p:cNvSpPr>
          <p:nvPr/>
        </p:nvSpPr>
        <p:spPr bwMode="auto">
          <a:xfrm>
            <a:off x="1600200" y="5181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4" name="Line 2100"/>
          <p:cNvSpPr>
            <a:spLocks noChangeShapeType="1"/>
          </p:cNvSpPr>
          <p:nvPr/>
        </p:nvSpPr>
        <p:spPr bwMode="auto">
          <a:xfrm flipV="1">
            <a:off x="2590800" y="5029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5" name="Line 2101"/>
          <p:cNvSpPr>
            <a:spLocks noChangeShapeType="1"/>
          </p:cNvSpPr>
          <p:nvPr/>
        </p:nvSpPr>
        <p:spPr bwMode="auto">
          <a:xfrm>
            <a:off x="1600200" y="4038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6" name="Line 2102"/>
          <p:cNvSpPr>
            <a:spLocks noChangeShapeType="1"/>
          </p:cNvSpPr>
          <p:nvPr/>
        </p:nvSpPr>
        <p:spPr bwMode="auto">
          <a:xfrm flipV="1">
            <a:off x="2590800" y="3886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7" name="Line 2103"/>
          <p:cNvSpPr>
            <a:spLocks noChangeShapeType="1"/>
          </p:cNvSpPr>
          <p:nvPr/>
        </p:nvSpPr>
        <p:spPr bwMode="auto">
          <a:xfrm>
            <a:off x="1600200" y="4419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8" name="Line 2104"/>
          <p:cNvSpPr>
            <a:spLocks noChangeShapeType="1"/>
          </p:cNvSpPr>
          <p:nvPr/>
        </p:nvSpPr>
        <p:spPr bwMode="auto">
          <a:xfrm flipV="1">
            <a:off x="2590800" y="42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9" name="Line 2105"/>
          <p:cNvSpPr>
            <a:spLocks noChangeShapeType="1"/>
          </p:cNvSpPr>
          <p:nvPr/>
        </p:nvSpPr>
        <p:spPr bwMode="auto">
          <a:xfrm>
            <a:off x="1600200" y="4800600"/>
            <a:ext cx="99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0" name="Line 2106"/>
          <p:cNvSpPr>
            <a:spLocks noChangeShapeType="1"/>
          </p:cNvSpPr>
          <p:nvPr/>
        </p:nvSpPr>
        <p:spPr bwMode="auto">
          <a:xfrm flipV="1">
            <a:off x="2590800" y="4648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1" name="Text Box 2118"/>
          <p:cNvSpPr txBox="1">
            <a:spLocks noChangeArrowheads="1"/>
          </p:cNvSpPr>
          <p:nvPr/>
        </p:nvSpPr>
        <p:spPr bwMode="auto">
          <a:xfrm>
            <a:off x="4038600" y="2667000"/>
            <a:ext cx="1141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c </a:t>
            </a:r>
            <a:r>
              <a:rPr kumimoji="1" lang="zh-CN" altLang="en-US" sz="2800">
                <a:solidFill>
                  <a:srgbClr val="0000FF"/>
                </a:solidFill>
                <a:latin typeface="Times New Roman" panose="02020603050405020304" pitchFamily="18" charset="0"/>
                <a:ea typeface="隶书" panose="02010509060101010101" pitchFamily="49" charset="-122"/>
              </a:rPr>
              <a:t>退栈</a:t>
            </a:r>
            <a:endParaRPr kumimoji="1" lang="zh-CN" altLang="en-US" sz="2400">
              <a:latin typeface="Times New Roman" panose="02020603050405020304" pitchFamily="18" charset="0"/>
              <a:ea typeface="宋体" panose="02010600030101010101" pitchFamily="2" charset="-122"/>
            </a:endParaRPr>
          </a:p>
        </p:txBody>
      </p:sp>
      <p:sp>
        <p:nvSpPr>
          <p:cNvPr id="13362" name="Text Box 2119"/>
          <p:cNvSpPr txBox="1">
            <a:spLocks noChangeArrowheads="1"/>
          </p:cNvSpPr>
          <p:nvPr/>
        </p:nvSpPr>
        <p:spPr bwMode="auto">
          <a:xfrm>
            <a:off x="6457950" y="2681288"/>
            <a:ext cx="1162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b </a:t>
            </a:r>
            <a:r>
              <a:rPr kumimoji="1" lang="zh-CN" altLang="en-US" sz="2800">
                <a:solidFill>
                  <a:srgbClr val="0000FF"/>
                </a:solidFill>
                <a:latin typeface="Times New Roman" panose="02020603050405020304" pitchFamily="18" charset="0"/>
                <a:ea typeface="隶书" panose="02010509060101010101" pitchFamily="49" charset="-122"/>
              </a:rPr>
              <a:t>退栈</a:t>
            </a:r>
            <a:endParaRPr kumimoji="1" lang="zh-CN" altLang="en-US" sz="2400">
              <a:latin typeface="Times New Roman" panose="02020603050405020304" pitchFamily="18" charset="0"/>
              <a:ea typeface="宋体" panose="02010600030101010101" pitchFamily="2" charset="-122"/>
            </a:endParaRPr>
          </a:p>
        </p:txBody>
      </p:sp>
      <p:sp>
        <p:nvSpPr>
          <p:cNvPr id="13363" name="Text Box 2121"/>
          <p:cNvSpPr txBox="1">
            <a:spLocks noChangeArrowheads="1"/>
          </p:cNvSpPr>
          <p:nvPr/>
        </p:nvSpPr>
        <p:spPr bwMode="auto">
          <a:xfrm>
            <a:off x="68008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3364" name="Text Box 2122"/>
          <p:cNvSpPr txBox="1">
            <a:spLocks noChangeArrowheads="1"/>
          </p:cNvSpPr>
          <p:nvPr/>
        </p:nvSpPr>
        <p:spPr bwMode="auto">
          <a:xfrm>
            <a:off x="6800850" y="184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3365" name="Text Box 2123"/>
          <p:cNvSpPr txBox="1">
            <a:spLocks noChangeArrowheads="1"/>
          </p:cNvSpPr>
          <p:nvPr/>
        </p:nvSpPr>
        <p:spPr bwMode="auto">
          <a:xfrm>
            <a:off x="1924050" y="5029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3367" name="Text Box 2129"/>
          <p:cNvSpPr txBox="1">
            <a:spLocks noChangeArrowheads="1"/>
          </p:cNvSpPr>
          <p:nvPr/>
        </p:nvSpPr>
        <p:spPr bwMode="auto">
          <a:xfrm>
            <a:off x="1524000" y="5562600"/>
            <a:ext cx="116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a </a:t>
            </a:r>
            <a:r>
              <a:rPr kumimoji="1" lang="zh-CN" altLang="en-US" sz="2800">
                <a:solidFill>
                  <a:srgbClr val="0000FF"/>
                </a:solidFill>
                <a:latin typeface="Times New Roman" panose="02020603050405020304" pitchFamily="18" charset="0"/>
                <a:ea typeface="隶书" panose="02010509060101010101" pitchFamily="49" charset="-122"/>
              </a:rPr>
              <a:t>退栈</a:t>
            </a:r>
            <a:endParaRPr kumimoji="1" lang="zh-CN" altLang="en-US" sz="2400">
              <a:latin typeface="Times New Roman" panose="02020603050405020304" pitchFamily="18" charset="0"/>
              <a:ea typeface="宋体" panose="02010600030101010101" pitchFamily="2" charset="-122"/>
            </a:endParaRPr>
          </a:p>
        </p:txBody>
      </p:sp>
      <p:sp>
        <p:nvSpPr>
          <p:cNvPr id="13368" name="Text Box 2135"/>
          <p:cNvSpPr txBox="1">
            <a:spLocks noChangeArrowheads="1"/>
          </p:cNvSpPr>
          <p:nvPr/>
        </p:nvSpPr>
        <p:spPr bwMode="auto">
          <a:xfrm>
            <a:off x="4130675" y="554037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隶书" panose="02010509060101010101" pitchFamily="49" charset="-122"/>
              </a:rPr>
              <a:t>空</a:t>
            </a:r>
            <a:r>
              <a:rPr kumimoji="1" lang="zh-CN" altLang="en-US" sz="2800">
                <a:solidFill>
                  <a:srgbClr val="0000FF"/>
                </a:solidFill>
                <a:latin typeface="Times New Roman" panose="02020603050405020304" pitchFamily="18" charset="0"/>
                <a:ea typeface="隶书" panose="02010509060101010101" pitchFamily="49" charset="-122"/>
              </a:rPr>
              <a:t>栈</a:t>
            </a:r>
            <a:endParaRPr kumimoji="1" lang="zh-CN" altLang="en-US" sz="2400">
              <a:latin typeface="Times New Roman" panose="02020603050405020304" pitchFamily="18" charset="0"/>
              <a:ea typeface="宋体" panose="02010600030101010101" pitchFamily="2" charset="-122"/>
            </a:endParaRPr>
          </a:p>
        </p:txBody>
      </p:sp>
      <p:sp>
        <p:nvSpPr>
          <p:cNvPr id="13369" name="Text Box 2145"/>
          <p:cNvSpPr txBox="1">
            <a:spLocks noChangeArrowheads="1"/>
          </p:cNvSpPr>
          <p:nvPr/>
        </p:nvSpPr>
        <p:spPr bwMode="auto">
          <a:xfrm>
            <a:off x="685800" y="13858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3370" name="Line 2146"/>
          <p:cNvSpPr>
            <a:spLocks noChangeShapeType="1"/>
          </p:cNvSpPr>
          <p:nvPr/>
        </p:nvSpPr>
        <p:spPr bwMode="auto">
          <a:xfrm>
            <a:off x="1311275" y="1700213"/>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1" name="Text Box 2147"/>
          <p:cNvSpPr txBox="1">
            <a:spLocks noChangeArrowheads="1"/>
          </p:cNvSpPr>
          <p:nvPr/>
        </p:nvSpPr>
        <p:spPr bwMode="auto">
          <a:xfrm>
            <a:off x="1941513"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3372" name="Text Box 2148"/>
          <p:cNvSpPr txBox="1">
            <a:spLocks noChangeArrowheads="1"/>
          </p:cNvSpPr>
          <p:nvPr/>
        </p:nvSpPr>
        <p:spPr bwMode="auto">
          <a:xfrm>
            <a:off x="1941513" y="184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3373" name="Text Box 2149"/>
          <p:cNvSpPr txBox="1">
            <a:spLocks noChangeArrowheads="1"/>
          </p:cNvSpPr>
          <p:nvPr/>
        </p:nvSpPr>
        <p:spPr bwMode="auto">
          <a:xfrm>
            <a:off x="1922463" y="1081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3374" name="Text Box 2151"/>
          <p:cNvSpPr txBox="1">
            <a:spLocks noChangeArrowheads="1"/>
          </p:cNvSpPr>
          <p:nvPr/>
        </p:nvSpPr>
        <p:spPr bwMode="auto">
          <a:xfrm>
            <a:off x="1524000" y="2667000"/>
            <a:ext cx="1162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隶书" panose="02010509060101010101" pitchFamily="49" charset="-122"/>
              </a:rPr>
              <a:t>d </a:t>
            </a:r>
            <a:r>
              <a:rPr kumimoji="1" lang="zh-CN" altLang="en-US" sz="2800">
                <a:solidFill>
                  <a:srgbClr val="0000FF"/>
                </a:solidFill>
                <a:latin typeface="Times New Roman" panose="02020603050405020304" pitchFamily="18" charset="0"/>
                <a:ea typeface="隶书" panose="02010509060101010101" pitchFamily="49" charset="-122"/>
              </a:rPr>
              <a:t>退栈</a:t>
            </a:r>
            <a:endParaRPr kumimoji="1" lang="zh-CN" altLang="en-US" sz="2400">
              <a:latin typeface="Times New Roman" panose="02020603050405020304" pitchFamily="18" charset="0"/>
              <a:ea typeface="宋体" panose="02010600030101010101" pitchFamily="2" charset="-122"/>
            </a:endParaRPr>
          </a:p>
        </p:txBody>
      </p:sp>
      <p:sp>
        <p:nvSpPr>
          <p:cNvPr id="13375" name="Text Box 2152"/>
          <p:cNvSpPr txBox="1">
            <a:spLocks noChangeArrowheads="1"/>
          </p:cNvSpPr>
          <p:nvPr/>
        </p:nvSpPr>
        <p:spPr bwMode="auto">
          <a:xfrm>
            <a:off x="1920875" y="1400175"/>
            <a:ext cx="341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3376" name="Line 2153"/>
          <p:cNvSpPr>
            <a:spLocks noChangeShapeType="1"/>
          </p:cNvSpPr>
          <p:nvPr/>
        </p:nvSpPr>
        <p:spPr bwMode="auto">
          <a:xfrm flipV="1">
            <a:off x="1387475" y="1309688"/>
            <a:ext cx="0" cy="304800"/>
          </a:xfrm>
          <a:prstGeom prst="line">
            <a:avLst/>
          </a:prstGeom>
          <a:noFill/>
          <a:ln w="28575">
            <a:solidFill>
              <a:srgbClr val="FF6600"/>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7" name="Text Box 2154"/>
          <p:cNvSpPr txBox="1">
            <a:spLocks noChangeArrowheads="1"/>
          </p:cNvSpPr>
          <p:nvPr/>
        </p:nvSpPr>
        <p:spPr bwMode="auto">
          <a:xfrm>
            <a:off x="3106738" y="17668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3378" name="Line 2155"/>
          <p:cNvSpPr>
            <a:spLocks noChangeShapeType="1"/>
          </p:cNvSpPr>
          <p:nvPr/>
        </p:nvSpPr>
        <p:spPr bwMode="auto">
          <a:xfrm>
            <a:off x="3732213" y="2081213"/>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9" name="Text Box 2156"/>
          <p:cNvSpPr txBox="1">
            <a:spLocks noChangeArrowheads="1"/>
          </p:cNvSpPr>
          <p:nvPr/>
        </p:nvSpPr>
        <p:spPr bwMode="auto">
          <a:xfrm>
            <a:off x="43624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3380" name="Text Box 2157"/>
          <p:cNvSpPr txBox="1">
            <a:spLocks noChangeArrowheads="1"/>
          </p:cNvSpPr>
          <p:nvPr/>
        </p:nvSpPr>
        <p:spPr bwMode="auto">
          <a:xfrm>
            <a:off x="4362450" y="184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3381" name="Text Box 2158"/>
          <p:cNvSpPr txBox="1">
            <a:spLocks noChangeArrowheads="1"/>
          </p:cNvSpPr>
          <p:nvPr/>
        </p:nvSpPr>
        <p:spPr bwMode="auto">
          <a:xfrm>
            <a:off x="4341813" y="1400175"/>
            <a:ext cx="341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3382" name="Line 2159"/>
          <p:cNvSpPr>
            <a:spLocks noChangeShapeType="1"/>
          </p:cNvSpPr>
          <p:nvPr/>
        </p:nvSpPr>
        <p:spPr bwMode="auto">
          <a:xfrm flipV="1">
            <a:off x="3808413" y="1690688"/>
            <a:ext cx="0" cy="304800"/>
          </a:xfrm>
          <a:prstGeom prst="line">
            <a:avLst/>
          </a:prstGeom>
          <a:noFill/>
          <a:ln w="28575">
            <a:solidFill>
              <a:srgbClr val="FF6600"/>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3" name="Text Box 2160"/>
          <p:cNvSpPr txBox="1">
            <a:spLocks noChangeArrowheads="1"/>
          </p:cNvSpPr>
          <p:nvPr/>
        </p:nvSpPr>
        <p:spPr bwMode="auto">
          <a:xfrm>
            <a:off x="5562600" y="21478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3384" name="Line 2161"/>
          <p:cNvSpPr>
            <a:spLocks noChangeShapeType="1"/>
          </p:cNvSpPr>
          <p:nvPr/>
        </p:nvSpPr>
        <p:spPr bwMode="auto">
          <a:xfrm>
            <a:off x="6188075" y="2462213"/>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5" name="Line 2162"/>
          <p:cNvSpPr>
            <a:spLocks noChangeShapeType="1"/>
          </p:cNvSpPr>
          <p:nvPr/>
        </p:nvSpPr>
        <p:spPr bwMode="auto">
          <a:xfrm flipV="1">
            <a:off x="6264275" y="2071688"/>
            <a:ext cx="0" cy="304800"/>
          </a:xfrm>
          <a:prstGeom prst="line">
            <a:avLst/>
          </a:prstGeom>
          <a:noFill/>
          <a:ln w="28575">
            <a:solidFill>
              <a:srgbClr val="FF6600"/>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6" name="Text Box 2163"/>
          <p:cNvSpPr txBox="1">
            <a:spLocks noChangeArrowheads="1"/>
          </p:cNvSpPr>
          <p:nvPr/>
        </p:nvSpPr>
        <p:spPr bwMode="auto">
          <a:xfrm>
            <a:off x="685800" y="54864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3387" name="Line 2164"/>
          <p:cNvSpPr>
            <a:spLocks noChangeShapeType="1"/>
          </p:cNvSpPr>
          <p:nvPr/>
        </p:nvSpPr>
        <p:spPr bwMode="auto">
          <a:xfrm>
            <a:off x="1311275" y="5800725"/>
            <a:ext cx="3048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8" name="Line 2165"/>
          <p:cNvSpPr>
            <a:spLocks noChangeShapeType="1"/>
          </p:cNvSpPr>
          <p:nvPr/>
        </p:nvSpPr>
        <p:spPr bwMode="auto">
          <a:xfrm flipV="1">
            <a:off x="1387475" y="5410200"/>
            <a:ext cx="0" cy="304800"/>
          </a:xfrm>
          <a:prstGeom prst="line">
            <a:avLst/>
          </a:prstGeom>
          <a:noFill/>
          <a:ln w="28575">
            <a:solidFill>
              <a:srgbClr val="FF6600"/>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灯片编号占位符 2"/>
          <p:cNvSpPr>
            <a:spLocks noGrp="1"/>
          </p:cNvSpPr>
          <p:nvPr>
            <p:ph type="sldNum" sz="quarter" idx="12"/>
          </p:nvPr>
        </p:nvSpPr>
        <p:spPr/>
        <p:txBody>
          <a:bodyPr/>
          <a:lstStyle/>
          <a:p>
            <a:pPr>
              <a:defRPr/>
            </a:pPr>
            <a:fld id="{8213374E-244F-4EF8-8F80-5FAE57EC15DF}" type="slidenum">
              <a:rPr lang="en-US" altLang="zh-CN" smtClean="0"/>
            </a:fld>
            <a:endParaRPr lang="en-US" altLang="zh-CN"/>
          </a:p>
        </p:txBody>
      </p:sp>
    </p:spTree>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836613"/>
            <a:ext cx="7886700" cy="5340350"/>
          </a:xfrm>
        </p:spPr>
        <p:txBody>
          <a:bodyPr>
            <a:normAutofit fontScale="77500" lnSpcReduction="20000"/>
          </a:bodyPr>
          <a:lstStyle/>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err="1"/>
              <a:t>SeqStack</a:t>
            </a:r>
            <a:r>
              <a:rPr lang="en-US" altLang="zh-CN" dirty="0"/>
              <a:t>&lt;T&gt; :: </a:t>
            </a:r>
            <a:r>
              <a:rPr lang="en-US" altLang="zh-CN" dirty="0" err="1"/>
              <a:t>SeqStack</a:t>
            </a:r>
            <a:r>
              <a:rPr lang="en-US" altLang="zh-CN" dirty="0"/>
              <a:t> (int </a:t>
            </a:r>
            <a:r>
              <a:rPr lang="en-US" altLang="zh-CN" dirty="0" err="1"/>
              <a:t>sz</a:t>
            </a:r>
            <a:r>
              <a:rPr lang="en-US" altLang="zh-CN" dirty="0"/>
              <a:t>) </a:t>
            </a:r>
            <a:endParaRPr lang="en-US" altLang="zh-CN" dirty="0"/>
          </a:p>
          <a:p>
            <a:pPr marL="0" indent="0">
              <a:buFont typeface="Arial" panose="020B0604020202020204" pitchFamily="34" charset="0"/>
              <a:buNone/>
              <a:defRPr/>
            </a:pPr>
            <a:r>
              <a:rPr lang="en-US" altLang="zh-CN" dirty="0"/>
              <a:t> : top (-1), </a:t>
            </a:r>
            <a:r>
              <a:rPr lang="en-US" altLang="zh-CN" dirty="0" err="1"/>
              <a:t>maxSize</a:t>
            </a:r>
            <a:r>
              <a:rPr lang="en-US" altLang="zh-CN" dirty="0"/>
              <a:t> (</a:t>
            </a:r>
            <a:r>
              <a:rPr lang="en-US" altLang="zh-CN" dirty="0" err="1"/>
              <a:t>sz</a:t>
            </a:r>
            <a:r>
              <a:rPr lang="en-US" altLang="zh-CN" dirty="0"/>
              <a:t>) {</a:t>
            </a:r>
            <a:endParaRPr lang="en-US" altLang="zh-CN" dirty="0"/>
          </a:p>
          <a:p>
            <a:pPr marL="0" indent="0">
              <a:buFont typeface="Arial" panose="020B0604020202020204" pitchFamily="34" charset="0"/>
              <a:buNone/>
              <a:defRPr/>
            </a:pPr>
            <a:r>
              <a:rPr lang="en-US" altLang="zh-CN" dirty="0"/>
              <a:t>    elements = new T[</a:t>
            </a:r>
            <a:r>
              <a:rPr lang="en-US" altLang="zh-CN" dirty="0" err="1"/>
              <a:t>maxSize</a:t>
            </a:r>
            <a:r>
              <a:rPr lang="en-US" altLang="zh-CN" dirty="0"/>
              <a:t>];		</a:t>
            </a:r>
            <a:endParaRPr lang="en-US" altLang="zh-CN" dirty="0"/>
          </a:p>
          <a:p>
            <a:pPr marL="0" indent="0">
              <a:buFont typeface="Arial" panose="020B0604020202020204" pitchFamily="34" charset="0"/>
              <a:buNone/>
              <a:defRPr/>
            </a:pPr>
            <a:r>
              <a:rPr lang="en-US" altLang="zh-CN" dirty="0"/>
              <a:t>    assert ( elements != NULL );        //</a:t>
            </a:r>
            <a:r>
              <a:rPr lang="zh-CN" altLang="en-US" dirty="0"/>
              <a:t>断言</a:t>
            </a:r>
            <a:endParaRPr lang="zh-CN" altLang="en-US"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en-US" altLang="zh-CN" dirty="0"/>
          </a:p>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void </a:t>
            </a:r>
            <a:r>
              <a:rPr lang="en-US" altLang="zh-CN" dirty="0" err="1"/>
              <a:t>SeqStack</a:t>
            </a:r>
            <a:r>
              <a:rPr lang="en-US" altLang="zh-CN" dirty="0"/>
              <a:t>&lt;T&gt; :: Push (const T x) {   </a:t>
            </a:r>
            <a:endParaRPr lang="en-US" altLang="zh-CN" dirty="0"/>
          </a:p>
          <a:p>
            <a:pPr marL="0" indent="0">
              <a:buFont typeface="Arial" panose="020B0604020202020204" pitchFamily="34" charset="0"/>
              <a:buNone/>
              <a:defRPr/>
            </a:pPr>
            <a:r>
              <a:rPr lang="en-US" altLang="zh-CN" dirty="0"/>
              <a:t>    if ( </a:t>
            </a:r>
            <a:r>
              <a:rPr lang="en-US" altLang="zh-CN" dirty="0" err="1"/>
              <a:t>IsFull</a:t>
            </a:r>
            <a:r>
              <a:rPr lang="en-US" altLang="zh-CN" dirty="0"/>
              <a:t> ( )  ) </a:t>
            </a:r>
            <a:r>
              <a:rPr lang="en-US" altLang="zh-CN" dirty="0" err="1"/>
              <a:t>overflowProcess</a:t>
            </a:r>
            <a:r>
              <a:rPr lang="en-US" altLang="zh-CN" dirty="0"/>
              <a:t>( );	  </a:t>
            </a:r>
            <a:endParaRPr lang="en-US" altLang="zh-CN" dirty="0"/>
          </a:p>
          <a:p>
            <a:pPr marL="0" indent="0">
              <a:buFont typeface="Arial" panose="020B0604020202020204" pitchFamily="34" charset="0"/>
              <a:buNone/>
              <a:defRPr/>
            </a:pPr>
            <a:r>
              <a:rPr lang="en-US" altLang="zh-CN" dirty="0"/>
              <a:t>    elements[++top] = x;          //</a:t>
            </a:r>
            <a:r>
              <a:rPr lang="zh-CN" altLang="en-US" dirty="0"/>
              <a:t>加入新元素</a:t>
            </a:r>
            <a:endParaRPr lang="zh-CN" altLang="en-US"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052513"/>
            <a:ext cx="7886700" cy="5124450"/>
          </a:xfrm>
        </p:spPr>
        <p:txBody>
          <a:bodyPr>
            <a:normAutofit fontScale="85000" lnSpcReduction="20000"/>
          </a:bodyPr>
          <a:lstStyle/>
          <a:p>
            <a:pPr eaLnBrk="1" fontAlgn="auto" hangingPunct="1">
              <a:lnSpc>
                <a:spcPct val="105000"/>
              </a:lnSpc>
              <a:spcBef>
                <a:spcPct val="0"/>
              </a:spcBef>
              <a:spcAft>
                <a:spcPts val="0"/>
              </a:spcAft>
              <a:buFontTx/>
              <a:buNone/>
              <a:defRPr/>
            </a:pPr>
            <a:r>
              <a:rPr lang="en-US" altLang="zh-CN" dirty="0">
                <a:solidFill>
                  <a:schemeClr val="tx2"/>
                </a:solidFill>
                <a:ea typeface="仿宋_GB2312" panose="02010609030101010101" pitchFamily="49" charset="-122"/>
              </a:rPr>
              <a:t>template &lt;class T&gt; </a:t>
            </a:r>
            <a:endParaRPr lang="en-US" altLang="zh-CN" dirty="0">
              <a:solidFill>
                <a:schemeClr val="tx2"/>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chemeClr val="tx2"/>
                </a:solidFill>
                <a:ea typeface="仿宋_GB2312" panose="02010609030101010101" pitchFamily="49" charset="-122"/>
              </a:rPr>
              <a:t>void </a:t>
            </a:r>
            <a:r>
              <a:rPr lang="en-US" altLang="zh-CN" dirty="0" err="1">
                <a:solidFill>
                  <a:schemeClr val="tx2"/>
                </a:solidFill>
                <a:ea typeface="仿宋_GB2312" panose="02010609030101010101" pitchFamily="49" charset="-122"/>
              </a:rPr>
              <a:t>SeqStack</a:t>
            </a:r>
            <a:r>
              <a:rPr lang="en-US" altLang="zh-CN" dirty="0">
                <a:solidFill>
                  <a:schemeClr val="tx2"/>
                </a:solidFill>
                <a:ea typeface="仿宋_GB2312" panose="02010609030101010101" pitchFamily="49" charset="-122"/>
              </a:rPr>
              <a:t>&lt;T&gt; :: </a:t>
            </a:r>
            <a:r>
              <a:rPr lang="en-US" altLang="zh-CN" dirty="0" err="1">
                <a:solidFill>
                  <a:schemeClr val="tx2"/>
                </a:solidFill>
                <a:ea typeface="仿宋_GB2312" panose="02010609030101010101" pitchFamily="49" charset="-122"/>
              </a:rPr>
              <a:t>overflowProcess</a:t>
            </a:r>
            <a:r>
              <a:rPr lang="en-US" altLang="zh-CN" dirty="0">
                <a:solidFill>
                  <a:schemeClr val="tx2"/>
                </a:solidFill>
                <a:ea typeface="仿宋_GB2312" panose="02010609030101010101" pitchFamily="49" charset="-122"/>
              </a:rPr>
              <a:t> ( ) {   </a:t>
            </a:r>
            <a:endParaRPr lang="en-US" altLang="zh-CN" dirty="0">
              <a:solidFill>
                <a:schemeClr val="tx2"/>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chemeClr val="tx2"/>
                </a:solidFill>
                <a:ea typeface="仿宋_GB2312" panose="02010609030101010101" pitchFamily="49" charset="-122"/>
              </a:rPr>
              <a:t>    T *</a:t>
            </a:r>
            <a:r>
              <a:rPr lang="en-US" altLang="zh-CN" dirty="0" err="1">
                <a:solidFill>
                  <a:schemeClr val="tx2"/>
                </a:solidFill>
                <a:ea typeface="仿宋_GB2312" panose="02010609030101010101" pitchFamily="49" charset="-122"/>
              </a:rPr>
              <a:t>newArray</a:t>
            </a:r>
            <a:r>
              <a:rPr lang="en-US" altLang="zh-CN" dirty="0">
                <a:solidFill>
                  <a:schemeClr val="tx2"/>
                </a:solidFill>
                <a:ea typeface="仿宋_GB2312" panose="02010609030101010101" pitchFamily="49" charset="-122"/>
              </a:rPr>
              <a:t> = new T[</a:t>
            </a:r>
            <a:r>
              <a:rPr lang="en-US" altLang="zh-CN" dirty="0" err="1">
                <a:solidFill>
                  <a:schemeClr val="tx2"/>
                </a:solidFill>
                <a:ea typeface="仿宋_GB2312" panose="02010609030101010101" pitchFamily="49" charset="-122"/>
              </a:rPr>
              <a:t>maxSize</a:t>
            </a:r>
            <a:r>
              <a:rPr lang="en-US" altLang="zh-CN" dirty="0">
                <a:solidFill>
                  <a:schemeClr val="tx2"/>
                </a:solidFill>
                <a:ea typeface="仿宋_GB2312" panose="02010609030101010101" pitchFamily="49" charset="-122"/>
              </a:rPr>
              <a:t> + </a:t>
            </a:r>
            <a:r>
              <a:rPr lang="en-US" altLang="zh-CN" dirty="0" err="1">
                <a:solidFill>
                  <a:schemeClr val="tx2"/>
                </a:solidFill>
                <a:ea typeface="仿宋_GB2312" panose="02010609030101010101" pitchFamily="49" charset="-122"/>
              </a:rPr>
              <a:t>stackIncreament</a:t>
            </a:r>
            <a:r>
              <a:rPr lang="en-US" altLang="zh-CN" dirty="0">
                <a:solidFill>
                  <a:schemeClr val="tx2"/>
                </a:solidFill>
                <a:ea typeface="仿宋_GB2312" panose="02010609030101010101" pitchFamily="49" charset="-122"/>
              </a:rPr>
              <a:t>];</a:t>
            </a:r>
            <a:endParaRPr lang="en-US" altLang="zh-CN" dirty="0">
              <a:solidFill>
                <a:schemeClr val="tx2"/>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chemeClr val="tx2"/>
                </a:solidFill>
                <a:ea typeface="仿宋_GB2312" panose="02010609030101010101" pitchFamily="49" charset="-122"/>
              </a:rPr>
              <a:t>    if ( </a:t>
            </a:r>
            <a:r>
              <a:rPr lang="en-US" altLang="zh-CN" dirty="0" err="1">
                <a:solidFill>
                  <a:schemeClr val="tx2"/>
                </a:solidFill>
                <a:ea typeface="仿宋_GB2312" panose="02010609030101010101" pitchFamily="49" charset="-122"/>
              </a:rPr>
              <a:t>newArray</a:t>
            </a:r>
            <a:r>
              <a:rPr lang="en-US" altLang="zh-CN" dirty="0">
                <a:solidFill>
                  <a:schemeClr val="tx2"/>
                </a:solidFill>
                <a:ea typeface="仿宋_GB2312" panose="02010609030101010101" pitchFamily="49" charset="-122"/>
              </a:rPr>
              <a:t> == NULL ) {</a:t>
            </a:r>
            <a:r>
              <a:rPr lang="en-US" altLang="zh-CN" dirty="0" err="1">
                <a:solidFill>
                  <a:schemeClr val="tx2"/>
                </a:solidFill>
                <a:ea typeface="仿宋_GB2312" panose="02010609030101010101" pitchFamily="49" charset="-122"/>
              </a:rPr>
              <a:t>cerr</a:t>
            </a:r>
            <a:r>
              <a:rPr lang="en-US" altLang="zh-CN" dirty="0">
                <a:solidFill>
                  <a:schemeClr val="tx2"/>
                </a:solidFill>
                <a:ea typeface="仿宋_GB2312" panose="02010609030101010101" pitchFamily="49" charset="-122"/>
              </a:rPr>
              <a:t>&lt;&lt;"</a:t>
            </a:r>
            <a:r>
              <a:rPr lang="zh-CN" altLang="en-US" dirty="0">
                <a:solidFill>
                  <a:schemeClr val="tx2"/>
                </a:solidFill>
                <a:ea typeface="仿宋_GB2312" panose="02010609030101010101" pitchFamily="49" charset="-122"/>
              </a:rPr>
              <a:t>存储分配失败！</a:t>
            </a:r>
            <a:r>
              <a:rPr lang="en-US" altLang="zh-CN" dirty="0">
                <a:solidFill>
                  <a:schemeClr val="tx2"/>
                </a:solidFill>
                <a:ea typeface="仿宋_GB2312" panose="02010609030101010101" pitchFamily="49" charset="-122"/>
              </a:rPr>
              <a:t>"&lt;&lt; </a:t>
            </a:r>
            <a:r>
              <a:rPr lang="en-US" altLang="zh-CN" dirty="0" err="1">
                <a:solidFill>
                  <a:schemeClr val="tx2"/>
                </a:solidFill>
                <a:ea typeface="仿宋_GB2312" panose="02010609030101010101" pitchFamily="49" charset="-122"/>
              </a:rPr>
              <a:t>endl</a:t>
            </a:r>
            <a:r>
              <a:rPr lang="en-US" altLang="zh-CN" dirty="0">
                <a:solidFill>
                  <a:schemeClr val="tx2"/>
                </a:solidFill>
                <a:ea typeface="仿宋_GB2312" panose="02010609030101010101" pitchFamily="49" charset="-122"/>
              </a:rPr>
              <a:t>; exit(1); }</a:t>
            </a:r>
            <a:endParaRPr lang="en-US" altLang="zh-CN" dirty="0">
              <a:solidFill>
                <a:schemeClr val="tx2"/>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chemeClr val="tx2"/>
                </a:solidFill>
                <a:ea typeface="仿宋_GB2312" panose="02010609030101010101" pitchFamily="49" charset="-122"/>
              </a:rPr>
              <a:t>    for ( int </a:t>
            </a:r>
            <a:r>
              <a:rPr lang="en-US" altLang="zh-CN" dirty="0" err="1">
                <a:solidFill>
                  <a:schemeClr val="tx2"/>
                </a:solidFill>
                <a:ea typeface="仿宋_GB2312" panose="02010609030101010101" pitchFamily="49" charset="-122"/>
              </a:rPr>
              <a:t>i</a:t>
            </a:r>
            <a:r>
              <a:rPr lang="en-US" altLang="zh-CN" dirty="0">
                <a:solidFill>
                  <a:schemeClr val="tx2"/>
                </a:solidFill>
                <a:ea typeface="仿宋_GB2312" panose="02010609030101010101" pitchFamily="49" charset="-122"/>
              </a:rPr>
              <a:t> = 0; </a:t>
            </a:r>
            <a:r>
              <a:rPr lang="en-US" altLang="zh-CN" dirty="0" err="1">
                <a:solidFill>
                  <a:schemeClr val="tx2"/>
                </a:solidFill>
                <a:ea typeface="仿宋_GB2312" panose="02010609030101010101" pitchFamily="49" charset="-122"/>
              </a:rPr>
              <a:t>i</a:t>
            </a:r>
            <a:r>
              <a:rPr lang="en-US" altLang="zh-CN" dirty="0">
                <a:solidFill>
                  <a:schemeClr val="tx2"/>
                </a:solidFill>
                <a:ea typeface="仿宋_GB2312" panose="02010609030101010101" pitchFamily="49" charset="-122"/>
              </a:rPr>
              <a:t>&lt;=top; </a:t>
            </a:r>
            <a:r>
              <a:rPr lang="en-US" altLang="zh-CN" dirty="0" err="1">
                <a:solidFill>
                  <a:schemeClr val="tx2"/>
                </a:solidFill>
                <a:ea typeface="仿宋_GB2312" panose="02010609030101010101" pitchFamily="49" charset="-122"/>
              </a:rPr>
              <a:t>i</a:t>
            </a:r>
            <a:r>
              <a:rPr lang="en-US" altLang="zh-CN" dirty="0">
                <a:solidFill>
                  <a:schemeClr val="tx2"/>
                </a:solidFill>
                <a:ea typeface="仿宋_GB2312" panose="02010609030101010101" pitchFamily="49" charset="-122"/>
              </a:rPr>
              <a:t>++) </a:t>
            </a:r>
            <a:r>
              <a:rPr lang="en-US" altLang="zh-CN" dirty="0" err="1">
                <a:solidFill>
                  <a:schemeClr val="tx2"/>
                </a:solidFill>
                <a:ea typeface="仿宋_GB2312" panose="02010609030101010101" pitchFamily="49" charset="-122"/>
              </a:rPr>
              <a:t>newArray</a:t>
            </a:r>
            <a:r>
              <a:rPr lang="en-US" altLang="zh-CN" dirty="0">
                <a:solidFill>
                  <a:schemeClr val="tx2"/>
                </a:solidFill>
                <a:ea typeface="仿宋_GB2312" panose="02010609030101010101" pitchFamily="49" charset="-122"/>
              </a:rPr>
              <a:t>[</a:t>
            </a:r>
            <a:r>
              <a:rPr lang="en-US" altLang="zh-CN" dirty="0" err="1">
                <a:solidFill>
                  <a:schemeClr val="tx2"/>
                </a:solidFill>
                <a:ea typeface="仿宋_GB2312" panose="02010609030101010101" pitchFamily="49" charset="-122"/>
              </a:rPr>
              <a:t>i</a:t>
            </a:r>
            <a:r>
              <a:rPr lang="en-US" altLang="zh-CN" dirty="0">
                <a:solidFill>
                  <a:schemeClr val="tx2"/>
                </a:solidFill>
                <a:ea typeface="仿宋_GB2312" panose="02010609030101010101" pitchFamily="49" charset="-122"/>
              </a:rPr>
              <a:t>] = elements[</a:t>
            </a:r>
            <a:r>
              <a:rPr lang="en-US" altLang="zh-CN" dirty="0" err="1">
                <a:solidFill>
                  <a:schemeClr val="tx2"/>
                </a:solidFill>
                <a:ea typeface="仿宋_GB2312" panose="02010609030101010101" pitchFamily="49" charset="-122"/>
              </a:rPr>
              <a:t>i</a:t>
            </a:r>
            <a:r>
              <a:rPr lang="en-US" altLang="zh-CN" dirty="0">
                <a:solidFill>
                  <a:schemeClr val="tx2"/>
                </a:solidFill>
                <a:ea typeface="仿宋_GB2312" panose="02010609030101010101" pitchFamily="49" charset="-122"/>
              </a:rPr>
              <a:t>]; </a:t>
            </a:r>
            <a:r>
              <a:rPr lang="en-US" altLang="zh-CN" dirty="0">
                <a:solidFill>
                  <a:srgbClr val="CC3300"/>
                </a:solidFill>
                <a:ea typeface="仿宋_GB2312" panose="02010609030101010101" pitchFamily="49" charset="-122"/>
              </a:rPr>
              <a:t>	</a:t>
            </a:r>
            <a:endParaRPr lang="en-US" altLang="zh-CN" dirty="0">
              <a:solidFill>
                <a:srgbClr val="CC3300"/>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rgbClr val="CC3300"/>
                </a:solidFill>
                <a:ea typeface="仿宋_GB2312" panose="02010609030101010101" pitchFamily="49" charset="-122"/>
              </a:rPr>
              <a:t> </a:t>
            </a:r>
            <a:r>
              <a:rPr lang="en-US" altLang="zh-CN" dirty="0">
                <a:solidFill>
                  <a:schemeClr val="tx2"/>
                </a:solidFill>
                <a:ea typeface="仿宋_GB2312" panose="02010609030101010101" pitchFamily="49" charset="-122"/>
              </a:rPr>
              <a:t>   </a:t>
            </a:r>
            <a:r>
              <a:rPr lang="en-US" altLang="zh-CN" dirty="0" err="1">
                <a:solidFill>
                  <a:schemeClr val="tx2"/>
                </a:solidFill>
                <a:ea typeface="仿宋_GB2312" panose="02010609030101010101" pitchFamily="49" charset="-122"/>
              </a:rPr>
              <a:t>maxSize</a:t>
            </a:r>
            <a:r>
              <a:rPr lang="en-US" altLang="zh-CN" dirty="0">
                <a:solidFill>
                  <a:schemeClr val="tx2"/>
                </a:solidFill>
                <a:ea typeface="仿宋_GB2312" panose="02010609030101010101" pitchFamily="49" charset="-122"/>
              </a:rPr>
              <a:t> = </a:t>
            </a:r>
            <a:r>
              <a:rPr lang="en-US" altLang="zh-CN" dirty="0" err="1">
                <a:solidFill>
                  <a:schemeClr val="tx2"/>
                </a:solidFill>
                <a:ea typeface="仿宋_GB2312" panose="02010609030101010101" pitchFamily="49" charset="-122"/>
              </a:rPr>
              <a:t>maxSize</a:t>
            </a:r>
            <a:r>
              <a:rPr lang="en-US" altLang="zh-CN" dirty="0">
                <a:solidFill>
                  <a:schemeClr val="tx2"/>
                </a:solidFill>
                <a:ea typeface="仿宋_GB2312" panose="02010609030101010101" pitchFamily="49" charset="-122"/>
              </a:rPr>
              <a:t> + </a:t>
            </a:r>
            <a:r>
              <a:rPr lang="en-US" altLang="zh-CN" dirty="0" err="1">
                <a:solidFill>
                  <a:schemeClr val="tx2"/>
                </a:solidFill>
                <a:ea typeface="仿宋_GB2312" panose="02010609030101010101" pitchFamily="49" charset="-122"/>
              </a:rPr>
              <a:t>stackIncreament</a:t>
            </a:r>
            <a:r>
              <a:rPr lang="en-US" altLang="zh-CN" dirty="0">
                <a:solidFill>
                  <a:schemeClr val="tx2"/>
                </a:solidFill>
                <a:ea typeface="仿宋_GB2312" panose="02010609030101010101" pitchFamily="49" charset="-122"/>
              </a:rPr>
              <a:t>;</a:t>
            </a:r>
            <a:endParaRPr lang="en-US" altLang="zh-CN" dirty="0">
              <a:solidFill>
                <a:srgbClr val="CC3300"/>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rgbClr val="CC3300"/>
                </a:solidFill>
                <a:ea typeface="仿宋_GB2312" panose="02010609030101010101" pitchFamily="49" charset="-122"/>
              </a:rPr>
              <a:t>    </a:t>
            </a:r>
            <a:r>
              <a:rPr lang="en-US" altLang="zh-CN" dirty="0">
                <a:solidFill>
                  <a:schemeClr val="tx2"/>
                </a:solidFill>
                <a:ea typeface="仿宋_GB2312" panose="02010609030101010101" pitchFamily="49" charset="-122"/>
              </a:rPr>
              <a:t>delete []elements;</a:t>
            </a:r>
            <a:r>
              <a:rPr lang="en-US" altLang="zh-CN" dirty="0">
                <a:solidFill>
                  <a:srgbClr val="CC3300"/>
                </a:solidFill>
                <a:ea typeface="仿宋_GB2312" panose="02010609030101010101" pitchFamily="49" charset="-122"/>
              </a:rPr>
              <a:t>          </a:t>
            </a:r>
            <a:endParaRPr lang="en-US" altLang="zh-CN" dirty="0">
              <a:solidFill>
                <a:srgbClr val="CC3300"/>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rgbClr val="CC3300"/>
                </a:solidFill>
                <a:ea typeface="仿宋_GB2312" panose="02010609030101010101" pitchFamily="49" charset="-122"/>
              </a:rPr>
              <a:t> </a:t>
            </a:r>
            <a:r>
              <a:rPr lang="en-US" altLang="zh-CN" dirty="0">
                <a:solidFill>
                  <a:schemeClr val="tx2"/>
                </a:solidFill>
                <a:ea typeface="仿宋_GB2312" panose="02010609030101010101" pitchFamily="49" charset="-122"/>
              </a:rPr>
              <a:t>   elements = </a:t>
            </a:r>
            <a:r>
              <a:rPr lang="en-US" altLang="zh-CN" dirty="0" err="1">
                <a:solidFill>
                  <a:schemeClr val="tx2"/>
                </a:solidFill>
                <a:ea typeface="仿宋_GB2312" panose="02010609030101010101" pitchFamily="49" charset="-122"/>
              </a:rPr>
              <a:t>newArray</a:t>
            </a:r>
            <a:r>
              <a:rPr lang="en-US" altLang="zh-CN" dirty="0">
                <a:solidFill>
                  <a:schemeClr val="tx2"/>
                </a:solidFill>
                <a:ea typeface="仿宋_GB2312" panose="02010609030101010101" pitchFamily="49" charset="-122"/>
              </a:rPr>
              <a:t>;</a:t>
            </a:r>
            <a:r>
              <a:rPr lang="en-US" altLang="zh-CN" dirty="0">
                <a:solidFill>
                  <a:srgbClr val="CC3300"/>
                </a:solidFill>
                <a:ea typeface="仿宋_GB2312" panose="02010609030101010101" pitchFamily="49" charset="-122"/>
              </a:rPr>
              <a:t> </a:t>
            </a:r>
            <a:endParaRPr lang="en-US" altLang="zh-CN" dirty="0">
              <a:solidFill>
                <a:srgbClr val="CC3300"/>
              </a:solidFill>
              <a:ea typeface="仿宋_GB2312" panose="02010609030101010101" pitchFamily="49" charset="-122"/>
            </a:endParaRPr>
          </a:p>
          <a:p>
            <a:pPr eaLnBrk="1" fontAlgn="auto" hangingPunct="1">
              <a:lnSpc>
                <a:spcPct val="105000"/>
              </a:lnSpc>
              <a:spcBef>
                <a:spcPct val="0"/>
              </a:spcBef>
              <a:spcAft>
                <a:spcPts val="0"/>
              </a:spcAft>
              <a:buFontTx/>
              <a:buNone/>
              <a:defRPr/>
            </a:pPr>
            <a:r>
              <a:rPr lang="en-US" altLang="zh-CN" dirty="0">
                <a:solidFill>
                  <a:schemeClr val="tx2"/>
                </a:solidFill>
                <a:ea typeface="仿宋_GB2312" panose="02010609030101010101" pitchFamily="49" charset="-122"/>
              </a:rPr>
              <a:t>}</a:t>
            </a:r>
            <a:endParaRPr lang="en-US" altLang="zh-CN" dirty="0"/>
          </a:p>
          <a:p>
            <a:pPr>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20713"/>
            <a:ext cx="7886700" cy="5556250"/>
          </a:xfrm>
        </p:spPr>
        <p:txBody>
          <a:bodyPr>
            <a:normAutofit fontScale="70000" lnSpcReduction="20000"/>
          </a:bodyPr>
          <a:lstStyle/>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bool </a:t>
            </a:r>
            <a:r>
              <a:rPr lang="en-US" altLang="zh-CN" dirty="0" err="1"/>
              <a:t>SeqStack</a:t>
            </a:r>
            <a:r>
              <a:rPr lang="en-US" altLang="zh-CN" dirty="0"/>
              <a:t>&lt;T&gt; :: Pop (T&amp; x) {</a:t>
            </a:r>
            <a:endParaRPr lang="en-US" altLang="zh-CN" dirty="0"/>
          </a:p>
          <a:p>
            <a:pPr marL="0" indent="0">
              <a:buFont typeface="Arial" panose="020B0604020202020204" pitchFamily="34" charset="0"/>
              <a:buNone/>
              <a:defRPr/>
            </a:pPr>
            <a:r>
              <a:rPr lang="en-US" altLang="zh-CN" dirty="0"/>
              <a:t>    if ( </a:t>
            </a:r>
            <a:r>
              <a:rPr lang="en-US" altLang="zh-CN" dirty="0" err="1"/>
              <a:t>IsEmpty</a:t>
            </a:r>
            <a:r>
              <a:rPr lang="en-US" altLang="zh-CN" dirty="0"/>
              <a:t> ( ) == true) return false;  </a:t>
            </a:r>
            <a:endParaRPr lang="en-US" altLang="zh-CN" dirty="0"/>
          </a:p>
          <a:p>
            <a:pPr marL="0" indent="0">
              <a:buFont typeface="Arial" panose="020B0604020202020204" pitchFamily="34" charset="0"/>
              <a:buNone/>
              <a:defRPr/>
            </a:pPr>
            <a:r>
              <a:rPr lang="en-US" altLang="zh-CN" dirty="0"/>
              <a:t>    x = elements[top--];     </a:t>
            </a:r>
            <a:endParaRPr lang="en-US" altLang="zh-CN" dirty="0"/>
          </a:p>
          <a:p>
            <a:pPr marL="0" indent="0">
              <a:buFont typeface="Arial" panose="020B0604020202020204" pitchFamily="34" charset="0"/>
              <a:buNone/>
              <a:defRPr/>
            </a:pPr>
            <a:r>
              <a:rPr lang="en-US" altLang="zh-CN" dirty="0"/>
              <a:t>    return true;                             </a:t>
            </a:r>
            <a:endParaRPr lang="en-US" altLang="zh-CN" dirty="0"/>
          </a:p>
          <a:p>
            <a:pPr marL="0" indent="0">
              <a:buFont typeface="Arial" panose="020B0604020202020204" pitchFamily="34" charset="0"/>
              <a:buNone/>
              <a:defRPr/>
            </a:pPr>
            <a:r>
              <a:rPr lang="en-US" altLang="zh-CN" dirty="0"/>
              <a:t>} 	</a:t>
            </a:r>
            <a:endParaRPr lang="en-US" altLang="zh-CN" dirty="0"/>
          </a:p>
          <a:p>
            <a:pPr marL="0" indent="0">
              <a:buFont typeface="Arial" panose="020B0604020202020204" pitchFamily="34" charset="0"/>
              <a:buNone/>
              <a:defRPr/>
            </a:pPr>
            <a:endParaRPr lang="en-US" altLang="zh-CN" dirty="0"/>
          </a:p>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bool </a:t>
            </a:r>
            <a:r>
              <a:rPr lang="en-US" altLang="zh-CN" dirty="0" err="1"/>
              <a:t>SeqStack</a:t>
            </a:r>
            <a:r>
              <a:rPr lang="en-US" altLang="zh-CN" dirty="0"/>
              <a:t>&lt;T&gt; :: </a:t>
            </a:r>
            <a:r>
              <a:rPr lang="en-US" altLang="zh-CN" dirty="0" err="1"/>
              <a:t>getTop</a:t>
            </a:r>
            <a:r>
              <a:rPr lang="en-US" altLang="zh-CN" dirty="0"/>
              <a:t> (T&amp; x) const {</a:t>
            </a:r>
            <a:endParaRPr lang="en-US" altLang="zh-CN" dirty="0"/>
          </a:p>
          <a:p>
            <a:pPr marL="0" indent="0">
              <a:buFont typeface="Arial" panose="020B0604020202020204" pitchFamily="34" charset="0"/>
              <a:buNone/>
              <a:defRPr/>
            </a:pPr>
            <a:r>
              <a:rPr lang="en-US" altLang="zh-CN" dirty="0"/>
              <a:t>    if ( </a:t>
            </a:r>
            <a:r>
              <a:rPr lang="en-US" altLang="zh-CN" dirty="0" err="1"/>
              <a:t>IsEmpty</a:t>
            </a:r>
            <a:r>
              <a:rPr lang="en-US" altLang="zh-CN" dirty="0"/>
              <a:t> ( ) ) return false;  </a:t>
            </a:r>
            <a:endParaRPr lang="en-US" altLang="zh-CN" dirty="0"/>
          </a:p>
          <a:p>
            <a:pPr marL="0" indent="0">
              <a:buFont typeface="Arial" panose="020B0604020202020204" pitchFamily="34" charset="0"/>
              <a:buNone/>
              <a:defRPr/>
            </a:pPr>
            <a:r>
              <a:rPr lang="en-US" altLang="zh-CN" dirty="0"/>
              <a:t>    x = elements[top];            </a:t>
            </a:r>
            <a:endParaRPr lang="en-US" altLang="zh-CN" dirty="0"/>
          </a:p>
          <a:p>
            <a:pPr marL="0" indent="0">
              <a:buFont typeface="Arial" panose="020B0604020202020204" pitchFamily="34" charset="0"/>
              <a:buNone/>
              <a:defRPr/>
            </a:pPr>
            <a:r>
              <a:rPr lang="en-US" altLang="zh-CN" dirty="0"/>
              <a:t>    return true;</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027"/>
          <p:cNvSpPr txBox="1">
            <a:spLocks noChangeArrowheads="1"/>
          </p:cNvSpPr>
          <p:nvPr/>
        </p:nvSpPr>
        <p:spPr bwMode="auto">
          <a:xfrm>
            <a:off x="609600" y="2681288"/>
            <a:ext cx="782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FF"/>
                </a:solidFill>
                <a:latin typeface="Times New Roman" panose="02020603050405020304" pitchFamily="18" charset="0"/>
                <a:ea typeface="宋体" panose="02010600030101010101" pitchFamily="2" charset="-122"/>
              </a:rPr>
              <a:t>b</a:t>
            </a:r>
            <a:r>
              <a:rPr kumimoji="1" lang="en-US" altLang="zh-CN" sz="2800" b="1">
                <a:solidFill>
                  <a:srgbClr val="0000FF"/>
                </a:solidFill>
                <a:latin typeface="Times New Roman" panose="02020603050405020304" pitchFamily="18" charset="0"/>
                <a:ea typeface="宋体" panose="02010600030101010101" pitchFamily="2" charset="-122"/>
              </a:rPr>
              <a:t>[0]                               </a:t>
            </a:r>
            <a:r>
              <a:rPr kumimoji="1" lang="en-US" altLang="zh-CN" sz="2800" b="1" i="1">
                <a:solidFill>
                  <a:srgbClr val="0000FF"/>
                </a:solidFill>
                <a:latin typeface="Times New Roman" panose="02020603050405020304" pitchFamily="18" charset="0"/>
                <a:ea typeface="宋体" panose="02010600030101010101" pitchFamily="2" charset="-122"/>
              </a:rPr>
              <a:t>t</a:t>
            </a:r>
            <a:r>
              <a:rPr kumimoji="1" lang="en-US" altLang="zh-CN" sz="2800" b="1">
                <a:solidFill>
                  <a:srgbClr val="0000FF"/>
                </a:solidFill>
                <a:latin typeface="Times New Roman" panose="02020603050405020304" pitchFamily="18" charset="0"/>
                <a:ea typeface="宋体" panose="02010600030101010101" pitchFamily="2" charset="-122"/>
              </a:rPr>
              <a:t>[0]     </a:t>
            </a:r>
            <a:r>
              <a:rPr kumimoji="1" lang="en-US" altLang="zh-CN" sz="2800" b="1" i="1">
                <a:solidFill>
                  <a:srgbClr val="0000FF"/>
                </a:solidFill>
                <a:latin typeface="Times New Roman" panose="02020603050405020304" pitchFamily="18" charset="0"/>
                <a:ea typeface="宋体" panose="02010600030101010101" pitchFamily="2" charset="-122"/>
              </a:rPr>
              <a:t>t</a:t>
            </a:r>
            <a:r>
              <a:rPr kumimoji="1" lang="en-US" altLang="zh-CN" sz="2800" b="1">
                <a:solidFill>
                  <a:srgbClr val="0000FF"/>
                </a:solidFill>
                <a:latin typeface="Times New Roman" panose="02020603050405020304" pitchFamily="18" charset="0"/>
                <a:ea typeface="宋体" panose="02010600030101010101" pitchFamily="2" charset="-122"/>
              </a:rPr>
              <a:t>[1]                         </a:t>
            </a:r>
            <a:r>
              <a:rPr kumimoji="1" lang="en-US" altLang="zh-CN" sz="2800" b="1" i="1">
                <a:solidFill>
                  <a:srgbClr val="0000FF"/>
                </a:solidFill>
                <a:latin typeface="Times New Roman" panose="02020603050405020304" pitchFamily="18" charset="0"/>
                <a:ea typeface="宋体" panose="02010600030101010101" pitchFamily="2" charset="-122"/>
              </a:rPr>
              <a:t>b</a:t>
            </a:r>
            <a:r>
              <a:rPr kumimoji="1" lang="en-US" altLang="zh-CN" sz="2800" b="1">
                <a:solidFill>
                  <a:srgbClr val="0000FF"/>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8435" name="Line 1028"/>
          <p:cNvSpPr>
            <a:spLocks noChangeShapeType="1"/>
          </p:cNvSpPr>
          <p:nvPr/>
        </p:nvSpPr>
        <p:spPr bwMode="auto">
          <a:xfrm flipV="1">
            <a:off x="914400" y="2376488"/>
            <a:ext cx="0" cy="38100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6" name="Line 1029"/>
          <p:cNvSpPr>
            <a:spLocks noChangeShapeType="1"/>
          </p:cNvSpPr>
          <p:nvPr/>
        </p:nvSpPr>
        <p:spPr bwMode="auto">
          <a:xfrm flipV="1">
            <a:off x="4191000" y="2376488"/>
            <a:ext cx="0" cy="38100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7" name="Line 1030"/>
          <p:cNvSpPr>
            <a:spLocks noChangeShapeType="1"/>
          </p:cNvSpPr>
          <p:nvPr/>
        </p:nvSpPr>
        <p:spPr bwMode="auto">
          <a:xfrm flipV="1">
            <a:off x="5181600" y="2376488"/>
            <a:ext cx="0" cy="38100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8" name="Line 1031"/>
          <p:cNvSpPr>
            <a:spLocks noChangeShapeType="1"/>
          </p:cNvSpPr>
          <p:nvPr/>
        </p:nvSpPr>
        <p:spPr bwMode="auto">
          <a:xfrm flipV="1">
            <a:off x="8153400" y="2376488"/>
            <a:ext cx="0" cy="38100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9" name="Rectangle 1032"/>
          <p:cNvSpPr>
            <a:spLocks noChangeArrowheads="1"/>
          </p:cNvSpPr>
          <p:nvPr/>
        </p:nvSpPr>
        <p:spPr bwMode="auto">
          <a:xfrm>
            <a:off x="1066800" y="1843088"/>
            <a:ext cx="32766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40" name="Rectangle 1033"/>
          <p:cNvSpPr>
            <a:spLocks noChangeArrowheads="1"/>
          </p:cNvSpPr>
          <p:nvPr/>
        </p:nvSpPr>
        <p:spPr bwMode="auto">
          <a:xfrm>
            <a:off x="4343400" y="1843088"/>
            <a:ext cx="6858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41" name="Rectangle 1034"/>
          <p:cNvSpPr>
            <a:spLocks noChangeArrowheads="1"/>
          </p:cNvSpPr>
          <p:nvPr/>
        </p:nvSpPr>
        <p:spPr bwMode="auto">
          <a:xfrm>
            <a:off x="5029200" y="1843088"/>
            <a:ext cx="2743200" cy="533400"/>
          </a:xfrm>
          <a:prstGeom prst="rect">
            <a:avLst/>
          </a:prstGeom>
          <a:solidFill>
            <a:schemeClr val="accent2"/>
          </a:solidFill>
          <a:ln w="9525">
            <a:miter lim="800000"/>
          </a:ln>
          <a:scene3d>
            <a:camera prst="legacyObliqueTopRight"/>
            <a:lightRig rig="legacyFlat3" dir="b"/>
          </a:scene3d>
          <a:sp3d extrusionH="430200" prstMaterial="legacyMatte">
            <a:bevelT w="13500" h="13500" prst="angle"/>
            <a:bevelB w="13500" h="13500" prst="angle"/>
            <a:extrusionClr>
              <a:schemeClr val="accent2"/>
            </a:extrusionClr>
            <a:contourClr>
              <a:schemeClr val="accent2"/>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42" name="Text Box 1035"/>
          <p:cNvSpPr txBox="1">
            <a:spLocks noChangeArrowheads="1"/>
          </p:cNvSpPr>
          <p:nvPr/>
        </p:nvSpPr>
        <p:spPr bwMode="auto">
          <a:xfrm>
            <a:off x="1143000" y="1171575"/>
            <a:ext cx="7345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0                                                             maxSize-1</a:t>
            </a:r>
            <a:endParaRPr kumimoji="1" lang="en-US" altLang="zh-CN" sz="2400">
              <a:latin typeface="Times New Roman" panose="02020603050405020304" pitchFamily="18" charset="0"/>
              <a:ea typeface="宋体" panose="02010600030101010101" pitchFamily="2" charset="-122"/>
            </a:endParaRPr>
          </a:p>
        </p:txBody>
      </p:sp>
      <p:sp>
        <p:nvSpPr>
          <p:cNvPr id="18443" name="Text Box 1036"/>
          <p:cNvSpPr txBox="1">
            <a:spLocks noChangeArrowheads="1"/>
          </p:cNvSpPr>
          <p:nvPr/>
        </p:nvSpPr>
        <p:spPr bwMode="auto">
          <a:xfrm>
            <a:off x="593725" y="1797050"/>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FF"/>
                </a:solidFill>
                <a:latin typeface="Times New Roman" panose="02020603050405020304" pitchFamily="18" charset="0"/>
                <a:ea typeface="宋体" panose="02010600030101010101" pitchFamily="2" charset="-122"/>
              </a:rPr>
              <a:t>V</a:t>
            </a:r>
            <a:endParaRPr kumimoji="1" lang="en-US" altLang="zh-CN" sz="2400">
              <a:latin typeface="Times New Roman" panose="02020603050405020304" pitchFamily="18" charset="0"/>
              <a:ea typeface="宋体" panose="02010600030101010101" pitchFamily="2" charset="-122"/>
            </a:endParaRPr>
          </a:p>
        </p:txBody>
      </p:sp>
      <p:sp>
        <p:nvSpPr>
          <p:cNvPr id="18444" name="Line 1037"/>
          <p:cNvSpPr>
            <a:spLocks noChangeShapeType="1"/>
          </p:cNvSpPr>
          <p:nvPr/>
        </p:nvSpPr>
        <p:spPr bwMode="auto">
          <a:xfrm>
            <a:off x="1143000" y="2071688"/>
            <a:ext cx="3124200" cy="0"/>
          </a:xfrm>
          <a:prstGeom prst="line">
            <a:avLst/>
          </a:prstGeom>
          <a:noFill/>
          <a:ln w="38100">
            <a:solidFill>
              <a:srgbClr val="96969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5" name="Line 1038"/>
          <p:cNvSpPr>
            <a:spLocks noChangeShapeType="1"/>
          </p:cNvSpPr>
          <p:nvPr/>
        </p:nvSpPr>
        <p:spPr bwMode="auto">
          <a:xfrm>
            <a:off x="5105400" y="2071688"/>
            <a:ext cx="2590800" cy="0"/>
          </a:xfrm>
          <a:prstGeom prst="line">
            <a:avLst/>
          </a:prstGeom>
          <a:noFill/>
          <a:ln w="38100">
            <a:solidFill>
              <a:srgbClr val="969696"/>
            </a:solidFill>
            <a:round/>
            <a:headEnd type="triangle" w="med"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6" name="标题 1"/>
          <p:cNvSpPr>
            <a:spLocks noGrp="1" noChangeArrowheads="1"/>
          </p:cNvSpPr>
          <p:nvPr>
            <p:ph type="title"/>
          </p:nvPr>
        </p:nvSpPr>
        <p:spPr/>
        <p:txBody>
          <a:bodyPr/>
          <a:lstStyle/>
          <a:p>
            <a:r>
              <a:rPr lang="zh-CN" altLang="en-US"/>
              <a:t>双栈共享一个栈空间</a:t>
            </a:r>
            <a:endParaRPr lang="zh-CN" altLang="en-US"/>
          </a:p>
        </p:txBody>
      </p:sp>
      <p:sp>
        <p:nvSpPr>
          <p:cNvPr id="3" name="内容占位符 2"/>
          <p:cNvSpPr>
            <a:spLocks noGrp="1"/>
          </p:cNvSpPr>
          <p:nvPr>
            <p:ph idx="1"/>
          </p:nvPr>
        </p:nvSpPr>
        <p:spPr>
          <a:xfrm>
            <a:off x="628650" y="3429000"/>
            <a:ext cx="7886700" cy="2927350"/>
          </a:xfrm>
        </p:spPr>
        <p:txBody>
          <a:bodyPr>
            <a:normAutofit fontScale="70000" lnSpcReduction="20000"/>
          </a:bodyPr>
          <a:lstStyle/>
          <a:p>
            <a:r>
              <a:rPr lang="zh-CN" altLang="en-US" dirty="0"/>
              <a:t>需要两个有一定关联的，大小此消彼长的栈时，可定义一个足够大的栈空间</a:t>
            </a:r>
            <a:r>
              <a:rPr lang="en-US" altLang="zh-CN" dirty="0"/>
              <a:t>V[</a:t>
            </a:r>
            <a:r>
              <a:rPr lang="en-US" altLang="zh-CN" dirty="0" err="1"/>
              <a:t>maxSize</a:t>
            </a:r>
            <a:r>
              <a:rPr lang="en-US" altLang="zh-CN" dirty="0"/>
              <a:t>] </a:t>
            </a:r>
            <a:r>
              <a:rPr lang="zh-CN" altLang="en-US" dirty="0"/>
              <a:t>。</a:t>
            </a:r>
            <a:endParaRPr lang="zh-CN" altLang="en-US" dirty="0"/>
          </a:p>
          <a:p>
            <a:pPr lvl="1"/>
            <a:r>
              <a:rPr lang="zh-CN" altLang="en-US" dirty="0"/>
              <a:t>两个栈顶相遇时，才发生溢出。</a:t>
            </a:r>
            <a:endParaRPr lang="en-US" altLang="zh-CN" dirty="0"/>
          </a:p>
          <a:p>
            <a:pPr lvl="1"/>
            <a:r>
              <a:rPr lang="zh-CN" altLang="en-US" dirty="0"/>
              <a:t>设立栈顶指针数组 </a:t>
            </a:r>
            <a:r>
              <a:rPr lang="en-US" altLang="zh-CN" dirty="0"/>
              <a:t>t[2] </a:t>
            </a:r>
            <a:r>
              <a:rPr lang="zh-CN" altLang="en-US" dirty="0"/>
              <a:t>和栈底指针数组 </a:t>
            </a:r>
            <a:r>
              <a:rPr lang="en-US" altLang="zh-CN" dirty="0"/>
              <a:t>b[2]</a:t>
            </a:r>
            <a:endParaRPr lang="en-US" altLang="zh-CN" dirty="0"/>
          </a:p>
          <a:p>
            <a:pPr lvl="1">
              <a:defRPr/>
            </a:pPr>
            <a:r>
              <a:rPr lang="en-US" altLang="zh-CN" dirty="0"/>
              <a:t>t[</a:t>
            </a:r>
            <a:r>
              <a:rPr lang="en-US" altLang="zh-CN" dirty="0" err="1"/>
              <a:t>i</a:t>
            </a:r>
            <a:r>
              <a:rPr lang="en-US" altLang="zh-CN" dirty="0"/>
              <a:t>]</a:t>
            </a:r>
            <a:r>
              <a:rPr lang="zh-CN" altLang="en-US" dirty="0"/>
              <a:t>和</a:t>
            </a:r>
            <a:r>
              <a:rPr lang="en-US" altLang="zh-CN" dirty="0"/>
              <a:t>b[</a:t>
            </a:r>
            <a:r>
              <a:rPr lang="en-US" altLang="zh-CN" dirty="0" err="1"/>
              <a:t>i</a:t>
            </a:r>
            <a:r>
              <a:rPr lang="en-US" altLang="zh-CN" dirty="0"/>
              <a:t>]</a:t>
            </a:r>
            <a:r>
              <a:rPr lang="zh-CN" altLang="en-US" dirty="0"/>
              <a:t>分别指示第 </a:t>
            </a:r>
            <a:r>
              <a:rPr lang="en-US" altLang="zh-CN" dirty="0" err="1"/>
              <a:t>i</a:t>
            </a:r>
            <a:r>
              <a:rPr lang="en-US" altLang="zh-CN" dirty="0"/>
              <a:t> </a:t>
            </a:r>
            <a:r>
              <a:rPr lang="zh-CN" altLang="en-US" dirty="0"/>
              <a:t>个栈的栈顶与栈底。</a:t>
            </a:r>
            <a:endParaRPr lang="zh-CN" altLang="en-US" dirty="0"/>
          </a:p>
          <a:p>
            <a:pPr lvl="1">
              <a:defRPr/>
            </a:pPr>
            <a:r>
              <a:rPr lang="zh-CN" altLang="en-US" dirty="0"/>
              <a:t>初始 </a:t>
            </a:r>
            <a:r>
              <a:rPr lang="en-US" altLang="zh-CN" dirty="0"/>
              <a:t>t[0] = b[0] = -1,   t[1] = b[1] = </a:t>
            </a:r>
            <a:r>
              <a:rPr lang="en-US" altLang="zh-CN" dirty="0" err="1"/>
              <a:t>maxSize</a:t>
            </a:r>
            <a:r>
              <a:rPr lang="en-US" altLang="zh-CN" dirty="0"/>
              <a:t> </a:t>
            </a:r>
            <a:r>
              <a:rPr lang="zh-CN" altLang="en-US" dirty="0"/>
              <a:t>。 </a:t>
            </a:r>
            <a:endParaRPr lang="zh-CN" altLang="en-US" dirty="0"/>
          </a:p>
          <a:p>
            <a:pPr lvl="1">
              <a:defRPr/>
            </a:pPr>
            <a:r>
              <a:rPr lang="zh-CN" altLang="en-US" dirty="0"/>
              <a:t>栈满条件：</a:t>
            </a:r>
            <a:r>
              <a:rPr lang="en-US" altLang="zh-CN" dirty="0"/>
              <a:t>t[0]+1 == t[1]      //</a:t>
            </a:r>
            <a:r>
              <a:rPr lang="zh-CN" altLang="en-US" dirty="0"/>
              <a:t>栈顶指针相遇</a:t>
            </a:r>
            <a:endParaRPr lang="zh-CN" altLang="en-US" dirty="0"/>
          </a:p>
          <a:p>
            <a:pPr lvl="1">
              <a:defRPr/>
            </a:pPr>
            <a:r>
              <a:rPr lang="zh-CN" altLang="en-US" dirty="0"/>
              <a:t>栈空条件：</a:t>
            </a:r>
            <a:r>
              <a:rPr lang="en-US" altLang="zh-CN" dirty="0"/>
              <a:t>t[0] = b[0]</a:t>
            </a:r>
            <a:r>
              <a:rPr lang="zh-CN" altLang="en-US" dirty="0"/>
              <a:t>，第一个栈空；</a:t>
            </a:r>
            <a:r>
              <a:rPr lang="en-US" altLang="zh-CN" dirty="0"/>
              <a:t>t[1] = b[1]</a:t>
            </a:r>
            <a:r>
              <a:rPr lang="zh-CN" altLang="en-US" dirty="0"/>
              <a:t>，第二个栈空。</a:t>
            </a:r>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r>
              <a:rPr lang="zh-CN" altLang="en-US"/>
              <a:t>双栈（</a:t>
            </a:r>
            <a:r>
              <a:rPr lang="en-US" altLang="zh-CN"/>
              <a:t>DualStack</a:t>
            </a:r>
            <a:r>
              <a:rPr lang="zh-CN" altLang="en-US"/>
              <a:t>）的结构定义</a:t>
            </a:r>
            <a:endParaRPr lang="zh-CN" altLang="en-US"/>
          </a:p>
        </p:txBody>
      </p:sp>
      <p:sp>
        <p:nvSpPr>
          <p:cNvPr id="551939" name="Rectangle 3"/>
          <p:cNvSpPr>
            <a:spLocks noGrp="1" noChangeArrowheads="1"/>
          </p:cNvSpPr>
          <p:nvPr>
            <p:ph idx="1"/>
          </p:nvPr>
        </p:nvSpPr>
        <p:spPr>
          <a:xfrm>
            <a:off x="628650" y="1825624"/>
            <a:ext cx="8407846" cy="4627712"/>
          </a:xfrm>
        </p:spPr>
        <p:txBody>
          <a:bodyPr>
            <a:normAutofit fontScale="47500" lnSpcReduction="20000"/>
          </a:bodyPr>
          <a:lstStyle/>
          <a:p>
            <a:pPr marL="0" indent="0">
              <a:buNone/>
            </a:pPr>
            <a:r>
              <a:rPr lang="en-US" altLang="zh-CN" dirty="0"/>
              <a:t>template &lt;class T&gt;   struct </a:t>
            </a:r>
            <a:r>
              <a:rPr lang="en-US" altLang="zh-CN" dirty="0" err="1"/>
              <a:t>DualStack</a:t>
            </a:r>
            <a:r>
              <a:rPr lang="en-US" altLang="zh-CN" dirty="0"/>
              <a:t> {	 //</a:t>
            </a:r>
            <a:r>
              <a:rPr lang="zh-CN" altLang="en-US" dirty="0"/>
              <a:t>双栈的类定义</a:t>
            </a:r>
            <a:endParaRPr lang="zh-CN" altLang="en-US" dirty="0"/>
          </a:p>
          <a:p>
            <a:pPr marL="0" indent="0">
              <a:buNone/>
            </a:pPr>
            <a:r>
              <a:rPr lang="zh-CN" altLang="en-US" dirty="0"/>
              <a:t>     </a:t>
            </a:r>
            <a:r>
              <a:rPr lang="en-US" altLang="zh-CN" dirty="0"/>
              <a:t>int top[2], bot[2];	 //</a:t>
            </a:r>
            <a:r>
              <a:rPr lang="zh-CN" altLang="en-US" dirty="0"/>
              <a:t>栈顶和栈底指针</a:t>
            </a:r>
            <a:endParaRPr lang="zh-CN" altLang="en-US" dirty="0"/>
          </a:p>
          <a:p>
            <a:pPr marL="0" indent="0">
              <a:buNone/>
            </a:pPr>
            <a:r>
              <a:rPr lang="zh-CN" altLang="en-US" dirty="0"/>
              <a:t>     </a:t>
            </a:r>
            <a:r>
              <a:rPr lang="en-US" altLang="zh-CN" dirty="0"/>
              <a:t>T V[</a:t>
            </a:r>
            <a:r>
              <a:rPr lang="en-US" altLang="zh-CN" dirty="0" err="1"/>
              <a:t>maxSz</a:t>
            </a:r>
            <a:r>
              <a:rPr lang="en-US" altLang="zh-CN" dirty="0"/>
              <a:t>];	 //</a:t>
            </a:r>
            <a:r>
              <a:rPr lang="zh-CN" altLang="en-US" dirty="0"/>
              <a:t>栈数组</a:t>
            </a:r>
            <a:endParaRPr lang="zh-CN" altLang="en-US" dirty="0"/>
          </a:p>
          <a:p>
            <a:pPr marL="0" indent="0">
              <a:buNone/>
            </a:pPr>
            <a:endParaRPr lang="zh-CN" altLang="en-US" dirty="0"/>
          </a:p>
          <a:p>
            <a:pPr marL="0" indent="0">
              <a:buNone/>
            </a:pPr>
            <a:r>
              <a:rPr lang="en-US" altLang="zh-CN" dirty="0"/>
              <a:t>     void </a:t>
            </a:r>
            <a:r>
              <a:rPr lang="en-US" altLang="zh-CN" dirty="0" err="1"/>
              <a:t>initStack</a:t>
            </a:r>
            <a:r>
              <a:rPr lang="en-US" altLang="zh-CN" dirty="0"/>
              <a:t> (  ) {   top[0] = bot[0] = -1;    top[1] = bot[1] = </a:t>
            </a:r>
            <a:r>
              <a:rPr lang="en-US" altLang="zh-CN" dirty="0" err="1"/>
              <a:t>maxSz</a:t>
            </a:r>
            <a:r>
              <a:rPr lang="en-US" altLang="zh-CN" dirty="0"/>
              <a:t>; }   //</a:t>
            </a:r>
            <a:r>
              <a:rPr lang="zh-CN" altLang="en-US" dirty="0"/>
              <a:t>初始化</a:t>
            </a:r>
            <a:r>
              <a:rPr lang="en-US" altLang="zh-CN" dirty="0"/>
              <a:t>:</a:t>
            </a:r>
            <a:endParaRPr lang="zh-CN" altLang="en-US" dirty="0"/>
          </a:p>
          <a:p>
            <a:pPr marL="0" indent="0">
              <a:buNone/>
            </a:pPr>
            <a:r>
              <a:rPr lang="en-US" altLang="zh-CN" dirty="0"/>
              <a:t>     bool Push ( T x, int d) {</a:t>
            </a:r>
            <a:endParaRPr lang="en-US" altLang="zh-CN" dirty="0"/>
          </a:p>
          <a:p>
            <a:pPr marL="0" indent="0">
              <a:buNone/>
            </a:pPr>
            <a:r>
              <a:rPr lang="en-US" altLang="zh-CN" dirty="0"/>
              <a:t>           if ( top[0]+1 == top[1] ) return false;</a:t>
            </a:r>
            <a:endParaRPr lang="en-US" altLang="zh-CN" dirty="0"/>
          </a:p>
          <a:p>
            <a:pPr marL="0" indent="0">
              <a:buNone/>
            </a:pPr>
            <a:r>
              <a:rPr lang="en-US" altLang="zh-CN" dirty="0"/>
              <a:t>           if ( d == 0 ) top[0]++; else top[1]--;        V[top[d]] = x;       return true;</a:t>
            </a:r>
            <a:endParaRPr lang="en-US" altLang="zh-CN" dirty="0"/>
          </a:p>
          <a:p>
            <a:pPr marL="0" indent="0">
              <a:buNone/>
            </a:pPr>
            <a:r>
              <a:rPr lang="en-US" altLang="zh-CN" dirty="0"/>
              <a:t>     }</a:t>
            </a:r>
            <a:endParaRPr lang="en-US" altLang="zh-CN" dirty="0"/>
          </a:p>
          <a:p>
            <a:pPr marL="0" indent="0">
              <a:buNone/>
            </a:pPr>
            <a:r>
              <a:rPr lang="en-US" altLang="zh-CN" dirty="0"/>
              <a:t>     bool Pop ( T&amp; x, int d) {</a:t>
            </a:r>
            <a:endParaRPr lang="en-US" altLang="zh-CN" dirty="0"/>
          </a:p>
          <a:p>
            <a:pPr marL="0" indent="0">
              <a:buNone/>
            </a:pPr>
            <a:r>
              <a:rPr lang="en-US" altLang="zh-CN" dirty="0"/>
              <a:t>           if ( top[d] == bot[d] ) return false;              x = V[top[d]];</a:t>
            </a:r>
            <a:endParaRPr lang="en-US" altLang="zh-CN" dirty="0"/>
          </a:p>
          <a:p>
            <a:pPr marL="0" indent="0">
              <a:buNone/>
            </a:pPr>
            <a:r>
              <a:rPr lang="en-US" altLang="zh-CN" dirty="0"/>
              <a:t>           if ( d == 0 ) top[0]--; else top[1]++;           return true;</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endParaRPr lang="zh-CN" altLang="en-US" dirty="0"/>
          </a:p>
          <a:p>
            <a:pPr marL="0" indent="0">
              <a:buNone/>
            </a:pPr>
            <a:endParaRPr lang="en-US" altLang="zh-CN" dirty="0"/>
          </a:p>
          <a:p>
            <a:pPr marL="0" indent="0">
              <a:buNone/>
            </a:pPr>
            <a:endParaRPr lang="en-US" altLang="zh-CN" dirty="0"/>
          </a:p>
          <a:p>
            <a:pPr marL="0" indent="0">
              <a:buNone/>
            </a:pPr>
            <a:endParaRPr lang="en-US" altLang="zh-CN" dirty="0"/>
          </a:p>
        </p:txBody>
      </p:sp>
      <p:sp>
        <p:nvSpPr>
          <p:cNvPr id="3" name="灯片编号占位符 4"/>
          <p:cNvSpPr>
            <a:spLocks noGrp="1"/>
          </p:cNvSpPr>
          <p:nvPr>
            <p:ph type="ftr" sz="quarter" idx="11"/>
          </p:nvPr>
        </p:nvSpPr>
        <p:spPr/>
        <p:txBody>
          <a:bodyPr/>
          <a:lstStyle/>
          <a:p>
            <a:fld id="{BF91F264-D7C9-48C5-804F-C1B8E4EB3F3B}" type="slidenum">
              <a:rPr lang="en-US" altLang="zh-CN"/>
            </a:fld>
            <a:endParaRPr lang="en-US" altLang="zh-CN"/>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p:txBody>
          <a:bodyPr/>
          <a:lstStyle/>
          <a:p>
            <a:r>
              <a:rPr lang="zh-CN" altLang="en-US" dirty="0"/>
              <a:t>链式栈</a:t>
            </a:r>
            <a:endParaRPr lang="zh-CN" altLang="en-US" dirty="0"/>
          </a:p>
        </p:txBody>
      </p:sp>
      <p:sp>
        <p:nvSpPr>
          <p:cNvPr id="22531" name="内容占位符 2"/>
          <p:cNvSpPr>
            <a:spLocks noGrp="1" noChangeArrowheads="1"/>
          </p:cNvSpPr>
          <p:nvPr>
            <p:ph idx="1"/>
          </p:nvPr>
        </p:nvSpPr>
        <p:spPr/>
        <p:txBody>
          <a:bodyPr>
            <a:normAutofit/>
          </a:bodyPr>
          <a:lstStyle/>
          <a:p>
            <a:r>
              <a:rPr lang="zh-CN" altLang="en-US" dirty="0"/>
              <a:t>顺序栈的缺点之一是不容易确定分配空间的大小，分配多了可能浪费空间，分配少了可能很快就溢出，需要重新分配空间等额外操作。</a:t>
            </a:r>
            <a:endParaRPr lang="en-US" altLang="zh-CN" dirty="0"/>
          </a:p>
          <a:p>
            <a:pPr lvl="1"/>
            <a:r>
              <a:rPr lang="zh-CN" altLang="en-US" dirty="0"/>
              <a:t>采用链式栈有时能较好解决这个问题</a:t>
            </a:r>
            <a:endParaRPr lang="zh-CN" altLang="en-US"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5"/>
          <p:cNvSpPr txBox="1">
            <a:spLocks noChangeArrowheads="1"/>
          </p:cNvSpPr>
          <p:nvPr/>
        </p:nvSpPr>
        <p:spPr bwMode="auto">
          <a:xfrm>
            <a:off x="593725" y="1600200"/>
            <a:ext cx="747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hlink"/>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23555" name="Line 6"/>
          <p:cNvSpPr>
            <a:spLocks noChangeShapeType="1"/>
          </p:cNvSpPr>
          <p:nvPr/>
        </p:nvSpPr>
        <p:spPr bwMode="auto">
          <a:xfrm>
            <a:off x="1295400" y="1962150"/>
            <a:ext cx="381000" cy="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Rectangle 7"/>
          <p:cNvSpPr>
            <a:spLocks noChangeArrowheads="1"/>
          </p:cNvSpPr>
          <p:nvPr/>
        </p:nvSpPr>
        <p:spPr bwMode="auto">
          <a:xfrm>
            <a:off x="1676400" y="1828800"/>
            <a:ext cx="914400" cy="457200"/>
          </a:xfrm>
          <a:prstGeom prst="rect">
            <a:avLst/>
          </a:prstGeom>
          <a:solidFill>
            <a:srgbClr val="FF9900"/>
          </a:solidFill>
          <a:ln w="9525">
            <a:miter lim="800000"/>
          </a:ln>
          <a:scene3d>
            <a:camera prst="legacyObliqueTopRight"/>
            <a:lightRig rig="legacyFlat3" dir="b"/>
          </a:scene3d>
          <a:sp3d extrusionH="430200" prstMaterial="legacyMatte">
            <a:bevelT w="13500" h="13500" prst="angle"/>
            <a:bevelB w="13500" h="13500" prst="angle"/>
            <a:extrusionClr>
              <a:srgbClr val="FF9900"/>
            </a:extrusionClr>
            <a:contourClr>
              <a:srgbClr val="FF9900"/>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23557" name="Line 8"/>
          <p:cNvSpPr>
            <a:spLocks noChangeShapeType="1"/>
          </p:cNvSpPr>
          <p:nvPr/>
        </p:nvSpPr>
        <p:spPr bwMode="auto">
          <a:xfrm>
            <a:off x="2209800" y="1828800"/>
            <a:ext cx="0" cy="4572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9"/>
          <p:cNvSpPr>
            <a:spLocks noChangeShapeType="1"/>
          </p:cNvSpPr>
          <p:nvPr/>
        </p:nvSpPr>
        <p:spPr bwMode="auto">
          <a:xfrm flipV="1">
            <a:off x="2209800" y="1676400"/>
            <a:ext cx="152400" cy="1524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Rectangle 10"/>
          <p:cNvSpPr>
            <a:spLocks noChangeArrowheads="1"/>
          </p:cNvSpPr>
          <p:nvPr/>
        </p:nvSpPr>
        <p:spPr bwMode="auto">
          <a:xfrm>
            <a:off x="3048000" y="1828800"/>
            <a:ext cx="914400" cy="457200"/>
          </a:xfrm>
          <a:prstGeom prst="rect">
            <a:avLst/>
          </a:prstGeom>
          <a:solidFill>
            <a:srgbClr val="FF9900"/>
          </a:solidFill>
          <a:ln w="9525">
            <a:miter lim="800000"/>
          </a:ln>
          <a:scene3d>
            <a:camera prst="legacyObliqueTopRight"/>
            <a:lightRig rig="legacyFlat3" dir="b"/>
          </a:scene3d>
          <a:sp3d extrusionH="430200" prstMaterial="legacyMatte">
            <a:bevelT w="13500" h="13500" prst="angle"/>
            <a:bevelB w="13500" h="13500" prst="angle"/>
            <a:extrusionClr>
              <a:srgbClr val="FF9900"/>
            </a:extrusionClr>
            <a:contourClr>
              <a:srgbClr val="FF9900"/>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23560" name="Line 11"/>
          <p:cNvSpPr>
            <a:spLocks noChangeShapeType="1"/>
          </p:cNvSpPr>
          <p:nvPr/>
        </p:nvSpPr>
        <p:spPr bwMode="auto">
          <a:xfrm>
            <a:off x="3581400" y="1828800"/>
            <a:ext cx="0" cy="4572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1" name="Line 12"/>
          <p:cNvSpPr>
            <a:spLocks noChangeShapeType="1"/>
          </p:cNvSpPr>
          <p:nvPr/>
        </p:nvSpPr>
        <p:spPr bwMode="auto">
          <a:xfrm flipV="1">
            <a:off x="3581400" y="1676400"/>
            <a:ext cx="152400" cy="1524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2" name="Rectangle 13"/>
          <p:cNvSpPr>
            <a:spLocks noChangeArrowheads="1"/>
          </p:cNvSpPr>
          <p:nvPr/>
        </p:nvSpPr>
        <p:spPr bwMode="auto">
          <a:xfrm>
            <a:off x="4419600" y="1828800"/>
            <a:ext cx="914400" cy="457200"/>
          </a:xfrm>
          <a:prstGeom prst="rect">
            <a:avLst/>
          </a:prstGeom>
          <a:solidFill>
            <a:srgbClr val="FF9900"/>
          </a:solidFill>
          <a:ln w="9525">
            <a:miter lim="800000"/>
          </a:ln>
          <a:scene3d>
            <a:camera prst="legacyObliqueTopRight"/>
            <a:lightRig rig="legacyFlat3" dir="b"/>
          </a:scene3d>
          <a:sp3d extrusionH="430200" prstMaterial="legacyMatte">
            <a:bevelT w="13500" h="13500" prst="angle"/>
            <a:bevelB w="13500" h="13500" prst="angle"/>
            <a:extrusionClr>
              <a:srgbClr val="FF9900"/>
            </a:extrusionClr>
            <a:contourClr>
              <a:srgbClr val="FF9900"/>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23563" name="Line 14"/>
          <p:cNvSpPr>
            <a:spLocks noChangeShapeType="1"/>
          </p:cNvSpPr>
          <p:nvPr/>
        </p:nvSpPr>
        <p:spPr bwMode="auto">
          <a:xfrm>
            <a:off x="4953000" y="1828800"/>
            <a:ext cx="0" cy="4572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4" name="Line 15"/>
          <p:cNvSpPr>
            <a:spLocks noChangeShapeType="1"/>
          </p:cNvSpPr>
          <p:nvPr/>
        </p:nvSpPr>
        <p:spPr bwMode="auto">
          <a:xfrm flipV="1">
            <a:off x="4953000" y="1676400"/>
            <a:ext cx="152400" cy="1524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5" name="Rectangle 16"/>
          <p:cNvSpPr>
            <a:spLocks noChangeArrowheads="1"/>
          </p:cNvSpPr>
          <p:nvPr/>
        </p:nvSpPr>
        <p:spPr bwMode="auto">
          <a:xfrm>
            <a:off x="6934200" y="1828800"/>
            <a:ext cx="914400" cy="457200"/>
          </a:xfrm>
          <a:prstGeom prst="rect">
            <a:avLst/>
          </a:prstGeom>
          <a:solidFill>
            <a:srgbClr val="FF9900"/>
          </a:solidFill>
          <a:ln w="9525">
            <a:miter lim="800000"/>
          </a:ln>
          <a:scene3d>
            <a:camera prst="legacyObliqueTopRight"/>
            <a:lightRig rig="legacyFlat3" dir="b"/>
          </a:scene3d>
          <a:sp3d extrusionH="430200" prstMaterial="legacyMatte">
            <a:bevelT w="13500" h="13500" prst="angle"/>
            <a:bevelB w="13500" h="13500" prst="angle"/>
            <a:extrusionClr>
              <a:srgbClr val="FF9900"/>
            </a:extrusionClr>
            <a:contourClr>
              <a:srgbClr val="FF9900"/>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23566" name="Line 17"/>
          <p:cNvSpPr>
            <a:spLocks noChangeShapeType="1"/>
          </p:cNvSpPr>
          <p:nvPr/>
        </p:nvSpPr>
        <p:spPr bwMode="auto">
          <a:xfrm>
            <a:off x="7467600" y="1828800"/>
            <a:ext cx="0" cy="4572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7" name="Line 18"/>
          <p:cNvSpPr>
            <a:spLocks noChangeShapeType="1"/>
          </p:cNvSpPr>
          <p:nvPr/>
        </p:nvSpPr>
        <p:spPr bwMode="auto">
          <a:xfrm flipV="1">
            <a:off x="7467600" y="1676400"/>
            <a:ext cx="152400" cy="152400"/>
          </a:xfrm>
          <a:prstGeom prst="line">
            <a:avLst/>
          </a:prstGeom>
          <a:noFill/>
          <a:ln w="1905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8" name="Line 19"/>
          <p:cNvSpPr>
            <a:spLocks noChangeShapeType="1"/>
          </p:cNvSpPr>
          <p:nvPr/>
        </p:nvSpPr>
        <p:spPr bwMode="auto">
          <a:xfrm>
            <a:off x="2667000" y="1981200"/>
            <a:ext cx="381000" cy="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9" name="Line 20"/>
          <p:cNvSpPr>
            <a:spLocks noChangeShapeType="1"/>
          </p:cNvSpPr>
          <p:nvPr/>
        </p:nvSpPr>
        <p:spPr bwMode="auto">
          <a:xfrm>
            <a:off x="4038600" y="1981200"/>
            <a:ext cx="381000" cy="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0" name="Line 21"/>
          <p:cNvSpPr>
            <a:spLocks noChangeShapeType="1"/>
          </p:cNvSpPr>
          <p:nvPr/>
        </p:nvSpPr>
        <p:spPr bwMode="auto">
          <a:xfrm>
            <a:off x="5410200" y="1981200"/>
            <a:ext cx="457200" cy="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1" name="Line 22"/>
          <p:cNvSpPr>
            <a:spLocks noChangeShapeType="1"/>
          </p:cNvSpPr>
          <p:nvPr/>
        </p:nvSpPr>
        <p:spPr bwMode="auto">
          <a:xfrm>
            <a:off x="6477000" y="1981200"/>
            <a:ext cx="457200" cy="0"/>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2" name="Line 23"/>
          <p:cNvSpPr>
            <a:spLocks noChangeShapeType="1"/>
          </p:cNvSpPr>
          <p:nvPr/>
        </p:nvSpPr>
        <p:spPr bwMode="auto">
          <a:xfrm>
            <a:off x="5867400" y="1981200"/>
            <a:ext cx="609600" cy="0"/>
          </a:xfrm>
          <a:prstGeom prst="line">
            <a:avLst/>
          </a:prstGeom>
          <a:noFill/>
          <a:ln w="19050" cap="rnd">
            <a:solidFill>
              <a:srgbClr val="0000FF"/>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3" name="标题 1"/>
          <p:cNvSpPr>
            <a:spLocks noGrp="1" noChangeArrowheads="1"/>
          </p:cNvSpPr>
          <p:nvPr>
            <p:ph type="title"/>
          </p:nvPr>
        </p:nvSpPr>
        <p:spPr/>
        <p:txBody>
          <a:bodyPr/>
          <a:lstStyle/>
          <a:p>
            <a:r>
              <a:rPr lang="zh-CN" altLang="en-US" dirty="0"/>
              <a:t>栈的链接存储表示 </a:t>
            </a:r>
            <a:r>
              <a:rPr lang="en-US" altLang="zh-CN" dirty="0"/>
              <a:t>— </a:t>
            </a:r>
            <a:r>
              <a:rPr lang="zh-CN" altLang="en-US" dirty="0"/>
              <a:t>链式栈</a:t>
            </a:r>
            <a:endParaRPr lang="zh-CN" altLang="en-US" dirty="0"/>
          </a:p>
        </p:txBody>
      </p:sp>
      <p:sp>
        <p:nvSpPr>
          <p:cNvPr id="23574" name="内容占位符 2"/>
          <p:cNvSpPr>
            <a:spLocks noGrp="1" noChangeArrowheads="1"/>
          </p:cNvSpPr>
          <p:nvPr>
            <p:ph idx="1"/>
          </p:nvPr>
        </p:nvSpPr>
        <p:spPr>
          <a:xfrm>
            <a:off x="628650" y="2781300"/>
            <a:ext cx="7886700" cy="3395663"/>
          </a:xfrm>
        </p:spPr>
        <p:txBody>
          <a:bodyPr/>
          <a:lstStyle/>
          <a:p>
            <a:r>
              <a:rPr lang="zh-CN" altLang="en-US"/>
              <a:t>链式栈无栈满问题，空间可扩充；</a:t>
            </a:r>
            <a:endParaRPr lang="zh-CN" altLang="en-US"/>
          </a:p>
          <a:p>
            <a:r>
              <a:rPr lang="zh-CN" altLang="en-US"/>
              <a:t>插入与删除仅在栈顶处执行；</a:t>
            </a:r>
            <a:endParaRPr lang="zh-CN" altLang="en-US"/>
          </a:p>
          <a:p>
            <a:r>
              <a:rPr lang="zh-CN" altLang="en-US"/>
              <a:t>链式栈的栈顶在链头；</a:t>
            </a:r>
            <a:endParaRPr lang="zh-CN" altLang="en-US"/>
          </a:p>
          <a:p>
            <a:r>
              <a:rPr lang="zh-CN" altLang="en-US"/>
              <a:t>适合于多栈操作。</a:t>
            </a:r>
            <a:endParaRPr lang="zh-CN" altLang="en-US"/>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链式栈 </a:t>
            </a:r>
            <a:r>
              <a:rPr lang="en-US" altLang="zh-CN" dirty="0"/>
              <a:t>(</a:t>
            </a:r>
            <a:r>
              <a:rPr lang="en-US" altLang="zh-CN" dirty="0" err="1"/>
              <a:t>LinkedStack</a:t>
            </a:r>
            <a:r>
              <a:rPr lang="en-US" altLang="zh-CN" dirty="0"/>
              <a:t>)</a:t>
            </a:r>
            <a:r>
              <a:rPr lang="zh-CN" altLang="en-US" dirty="0"/>
              <a:t>类的定义</a:t>
            </a:r>
            <a:endParaRPr lang="zh-CN" altLang="en-US" dirty="0"/>
          </a:p>
        </p:txBody>
      </p:sp>
      <p:sp>
        <p:nvSpPr>
          <p:cNvPr id="3" name="内容占位符 2"/>
          <p:cNvSpPr>
            <a:spLocks noGrp="1"/>
          </p:cNvSpPr>
          <p:nvPr>
            <p:ph idx="1"/>
          </p:nvPr>
        </p:nvSpPr>
        <p:spPr>
          <a:xfrm>
            <a:off x="628650" y="1825624"/>
            <a:ext cx="7886700" cy="4530725"/>
          </a:xfrm>
        </p:spPr>
        <p:txBody>
          <a:bodyPr>
            <a:normAutofit fontScale="55000" lnSpcReduction="20000"/>
          </a:bodyPr>
          <a:lstStyle/>
          <a:p>
            <a:pPr marL="0" indent="0">
              <a:buFont typeface="Arial" panose="020B0604020202020204" pitchFamily="34" charset="0"/>
              <a:buNone/>
              <a:defRPr/>
            </a:pPr>
            <a:r>
              <a:rPr lang="en-US" altLang="zh-CN" dirty="0"/>
              <a:t>template &lt;class T&gt; class </a:t>
            </a:r>
            <a:r>
              <a:rPr lang="en-US" altLang="zh-CN" dirty="0" err="1"/>
              <a:t>LinkedStack</a:t>
            </a:r>
            <a:r>
              <a:rPr lang="en-US" altLang="zh-CN" dirty="0"/>
              <a:t> : public Stack&lt;T&gt; {</a:t>
            </a:r>
            <a:endParaRPr lang="en-US" altLang="zh-CN" dirty="0"/>
          </a:p>
          <a:p>
            <a:pPr marL="0" indent="0">
              <a:buFont typeface="Arial" panose="020B0604020202020204" pitchFamily="34" charset="0"/>
              <a:buNone/>
              <a:defRPr/>
            </a:pPr>
            <a:r>
              <a:rPr lang="en-US" altLang="zh-CN" dirty="0"/>
              <a:t>private:</a:t>
            </a:r>
            <a:endParaRPr lang="en-US" altLang="zh-CN" dirty="0"/>
          </a:p>
          <a:p>
            <a:pPr marL="0" indent="0">
              <a:buFont typeface="Arial" panose="020B0604020202020204" pitchFamily="34" charset="0"/>
              <a:buNone/>
              <a:defRPr/>
            </a:pPr>
            <a:r>
              <a:rPr lang="en-US" altLang="zh-CN" dirty="0"/>
              <a:t>    </a:t>
            </a:r>
            <a:r>
              <a:rPr lang="en-US" altLang="zh-CN" dirty="0" err="1"/>
              <a:t>LinkNode</a:t>
            </a:r>
            <a:r>
              <a:rPr lang="en-US" altLang="zh-CN" dirty="0"/>
              <a:t>&lt;T&gt; *top;       //</a:t>
            </a:r>
            <a:r>
              <a:rPr lang="zh-CN" altLang="en-US" dirty="0"/>
              <a:t>栈顶指针</a:t>
            </a:r>
            <a:endParaRPr lang="zh-CN" altLang="en-US" dirty="0"/>
          </a:p>
          <a:p>
            <a:pPr marL="0" indent="0">
              <a:buFont typeface="Arial" panose="020B0604020202020204" pitchFamily="34" charset="0"/>
              <a:buNone/>
              <a:defRPr/>
            </a:pPr>
            <a:r>
              <a:rPr lang="en-US" altLang="zh-CN" dirty="0"/>
              <a:t>public:</a:t>
            </a:r>
            <a:endParaRPr lang="en-US" altLang="zh-CN" dirty="0"/>
          </a:p>
          <a:p>
            <a:pPr marL="0" indent="0">
              <a:buFont typeface="Arial" panose="020B0604020202020204" pitchFamily="34" charset="0"/>
              <a:buNone/>
              <a:defRPr/>
            </a:pPr>
            <a:r>
              <a:rPr lang="en-US" altLang="zh-CN" dirty="0"/>
              <a:t>    </a:t>
            </a:r>
            <a:r>
              <a:rPr lang="en-US" altLang="zh-CN" dirty="0" err="1"/>
              <a:t>LinkedStack</a:t>
            </a:r>
            <a:r>
              <a:rPr lang="en-US" altLang="zh-CN" dirty="0"/>
              <a:t> ( ) : top ( NULL ) { }</a:t>
            </a:r>
            <a:endParaRPr lang="en-US" altLang="zh-CN" dirty="0"/>
          </a:p>
          <a:p>
            <a:pPr marL="0" indent="0">
              <a:buFont typeface="Arial" panose="020B0604020202020204" pitchFamily="34" charset="0"/>
              <a:buNone/>
              <a:defRPr/>
            </a:pPr>
            <a:r>
              <a:rPr lang="en-US" altLang="zh-CN" dirty="0"/>
              <a:t>    ~</a:t>
            </a:r>
            <a:r>
              <a:rPr lang="en-US" altLang="zh-CN" dirty="0" err="1"/>
              <a:t>LinkedStack</a:t>
            </a:r>
            <a:r>
              <a:rPr lang="en-US" altLang="zh-CN" dirty="0"/>
              <a:t> ( ) {</a:t>
            </a:r>
            <a:r>
              <a:rPr lang="en-US" altLang="zh-CN" dirty="0" err="1"/>
              <a:t>makeEmpty</a:t>
            </a:r>
            <a:r>
              <a:rPr lang="en-US" altLang="zh-CN" dirty="0"/>
              <a:t>( );};</a:t>
            </a:r>
            <a:endParaRPr lang="en-US" altLang="zh-CN" dirty="0"/>
          </a:p>
          <a:p>
            <a:pPr marL="0" indent="0">
              <a:buFont typeface="Arial" panose="020B0604020202020204" pitchFamily="34" charset="0"/>
              <a:buNone/>
              <a:defRPr/>
            </a:pPr>
            <a:r>
              <a:rPr lang="en-US" altLang="zh-CN" dirty="0"/>
              <a:t>    void Push (const T x);              //</a:t>
            </a:r>
            <a:r>
              <a:rPr lang="zh-CN" altLang="en-US" dirty="0"/>
              <a:t>进栈</a:t>
            </a:r>
            <a:endParaRPr lang="zh-CN" altLang="en-US" dirty="0"/>
          </a:p>
          <a:p>
            <a:pPr marL="0" indent="0">
              <a:buFont typeface="Arial" panose="020B0604020202020204" pitchFamily="34" charset="0"/>
              <a:buNone/>
              <a:defRPr/>
            </a:pPr>
            <a:r>
              <a:rPr lang="zh-CN" altLang="en-US" dirty="0"/>
              <a:t>    </a:t>
            </a:r>
            <a:r>
              <a:rPr lang="en-US" altLang="zh-CN" dirty="0"/>
              <a:t>bool Pop (T&amp; x);                     //</a:t>
            </a:r>
            <a:r>
              <a:rPr lang="zh-CN" altLang="en-US" dirty="0"/>
              <a:t>退栈，</a:t>
            </a:r>
            <a:r>
              <a:rPr lang="zh-CN" altLang="en-US" b="1" dirty="0"/>
              <a:t>代码见备注</a:t>
            </a:r>
            <a:endParaRPr lang="zh-CN" altLang="en-US" b="1" dirty="0"/>
          </a:p>
          <a:p>
            <a:pPr marL="0" indent="0">
              <a:buNone/>
              <a:defRPr/>
            </a:pPr>
            <a:r>
              <a:rPr lang="zh-CN" altLang="en-US" dirty="0"/>
              <a:t>    </a:t>
            </a:r>
            <a:r>
              <a:rPr lang="en-US" altLang="zh-CN" dirty="0"/>
              <a:t>bool </a:t>
            </a:r>
            <a:r>
              <a:rPr lang="en-US" altLang="zh-CN" dirty="0" err="1"/>
              <a:t>getTop</a:t>
            </a:r>
            <a:r>
              <a:rPr lang="en-US" altLang="zh-CN" dirty="0"/>
              <a:t> (T&amp; x) const;      //</a:t>
            </a:r>
            <a:r>
              <a:rPr lang="zh-CN" altLang="en-US" dirty="0"/>
              <a:t>读取栈顶元素，</a:t>
            </a:r>
            <a:r>
              <a:rPr lang="zh-CN" altLang="en-US" b="1" dirty="0"/>
              <a:t>代码见备注</a:t>
            </a:r>
            <a:endParaRPr lang="zh-CN" altLang="en-US" b="1" dirty="0"/>
          </a:p>
          <a:p>
            <a:pPr marL="0" indent="0">
              <a:buFont typeface="Arial" panose="020B0604020202020204" pitchFamily="34" charset="0"/>
              <a:buNone/>
              <a:defRPr/>
            </a:pPr>
            <a:r>
              <a:rPr lang="zh-CN" altLang="en-US" dirty="0"/>
              <a:t>    </a:t>
            </a:r>
            <a:r>
              <a:rPr lang="en-US" altLang="zh-CN" dirty="0"/>
              <a:t>bool </a:t>
            </a:r>
            <a:r>
              <a:rPr lang="en-US" altLang="zh-CN" dirty="0" err="1"/>
              <a:t>IsEmpty</a:t>
            </a:r>
            <a:r>
              <a:rPr lang="en-US" altLang="zh-CN" dirty="0"/>
              <a:t> ( ) const { return top == NULL; }</a:t>
            </a:r>
            <a:endParaRPr lang="en-US" altLang="zh-CN" dirty="0"/>
          </a:p>
          <a:p>
            <a:pPr marL="0" indent="0">
              <a:buFont typeface="Arial" panose="020B0604020202020204" pitchFamily="34" charset="0"/>
              <a:buNone/>
              <a:defRPr/>
            </a:pPr>
            <a:r>
              <a:rPr lang="en-US" altLang="zh-CN" dirty="0"/>
              <a:t>    void </a:t>
            </a:r>
            <a:r>
              <a:rPr lang="en-US" altLang="zh-CN" dirty="0" err="1"/>
              <a:t>makeEmpty</a:t>
            </a:r>
            <a:r>
              <a:rPr lang="en-US" altLang="zh-CN" dirty="0"/>
              <a:t> ( );              //</a:t>
            </a:r>
            <a:r>
              <a:rPr lang="zh-CN" altLang="en-US" dirty="0"/>
              <a:t>清空栈</a:t>
            </a:r>
            <a:endParaRPr lang="zh-CN" altLang="en-US" dirty="0"/>
          </a:p>
          <a:p>
            <a:pPr marL="0" indent="0">
              <a:buFont typeface="Arial" panose="020B0604020202020204" pitchFamily="34" charset="0"/>
              <a:buNone/>
              <a:defRPr/>
            </a:pPr>
            <a:r>
              <a:rPr lang="zh-CN" altLang="en-US" dirty="0"/>
              <a:t>    </a:t>
            </a:r>
            <a:r>
              <a:rPr lang="en-US" altLang="zh-CN" dirty="0"/>
              <a:t>…</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49275"/>
            <a:ext cx="7886700" cy="5627688"/>
          </a:xfrm>
        </p:spPr>
        <p:txBody>
          <a:bodyPr>
            <a:normAutofit fontScale="62500" lnSpcReduction="20000"/>
          </a:bodyPr>
          <a:lstStyle/>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void </a:t>
            </a:r>
            <a:r>
              <a:rPr lang="en-US" altLang="zh-CN" dirty="0" err="1"/>
              <a:t>LinkedStack</a:t>
            </a:r>
            <a:r>
              <a:rPr lang="en-US" altLang="zh-CN" dirty="0"/>
              <a:t>&lt;T&gt; :: </a:t>
            </a:r>
            <a:r>
              <a:rPr lang="en-US" altLang="zh-CN" dirty="0" err="1"/>
              <a:t>makeEmpty</a:t>
            </a:r>
            <a:r>
              <a:rPr lang="en-US" altLang="zh-CN" dirty="0"/>
              <a:t> ( ) {</a:t>
            </a:r>
            <a:endParaRPr lang="en-US" altLang="zh-CN" dirty="0"/>
          </a:p>
          <a:p>
            <a:pPr marL="0" indent="0">
              <a:buFont typeface="Arial" panose="020B0604020202020204" pitchFamily="34" charset="0"/>
              <a:buNone/>
              <a:defRPr/>
            </a:pPr>
            <a:r>
              <a:rPr lang="en-US" altLang="zh-CN" dirty="0"/>
              <a:t>     </a:t>
            </a:r>
            <a:r>
              <a:rPr lang="en-US" altLang="zh-CN" dirty="0" err="1"/>
              <a:t>LinkNode</a:t>
            </a:r>
            <a:r>
              <a:rPr lang="en-US" altLang="zh-CN" dirty="0"/>
              <a:t>&lt;T&gt; *p;</a:t>
            </a:r>
            <a:endParaRPr lang="en-US" altLang="zh-CN" dirty="0"/>
          </a:p>
          <a:p>
            <a:pPr marL="0" indent="0">
              <a:buFont typeface="Arial" panose="020B0604020202020204" pitchFamily="34" charset="0"/>
              <a:buNone/>
              <a:defRPr/>
            </a:pPr>
            <a:r>
              <a:rPr lang="en-US" altLang="zh-CN" dirty="0"/>
              <a:t>     while ( top != NULL )       //</a:t>
            </a:r>
            <a:r>
              <a:rPr lang="zh-CN" altLang="en-US" dirty="0"/>
              <a:t>逐结点回收</a:t>
            </a:r>
            <a:endParaRPr lang="zh-CN" altLang="en-US" dirty="0"/>
          </a:p>
          <a:p>
            <a:pPr marL="0" indent="0">
              <a:buFont typeface="Arial" panose="020B0604020202020204" pitchFamily="34" charset="0"/>
              <a:buNone/>
              <a:defRPr/>
            </a:pPr>
            <a:r>
              <a:rPr lang="zh-CN" altLang="en-US" dirty="0"/>
              <a:t> 	 </a:t>
            </a:r>
            <a:r>
              <a:rPr lang="en-US" altLang="zh-CN" dirty="0"/>
              <a:t>{ p = top;  top = top-&gt;link;  delete p; }</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en-US" altLang="zh-CN" dirty="0"/>
          </a:p>
          <a:p>
            <a:pPr marL="0" indent="0">
              <a:buFont typeface="Arial" panose="020B0604020202020204" pitchFamily="34" charset="0"/>
              <a:buNone/>
              <a:defRPr/>
            </a:pPr>
            <a:r>
              <a:rPr lang="en-US" altLang="zh-CN" dirty="0"/>
              <a:t>template &lt;class T&gt; </a:t>
            </a:r>
            <a:endParaRPr lang="en-US" altLang="zh-CN" dirty="0"/>
          </a:p>
          <a:p>
            <a:pPr marL="0" indent="0">
              <a:buFont typeface="Arial" panose="020B0604020202020204" pitchFamily="34" charset="0"/>
              <a:buNone/>
              <a:defRPr/>
            </a:pPr>
            <a:r>
              <a:rPr lang="en-US" altLang="zh-CN" dirty="0"/>
              <a:t>void </a:t>
            </a:r>
            <a:r>
              <a:rPr lang="en-US" altLang="zh-CN" dirty="0" err="1"/>
              <a:t>LinkedStack</a:t>
            </a:r>
            <a:r>
              <a:rPr lang="en-US" altLang="zh-CN" dirty="0"/>
              <a:t>&lt;T&gt; :: Push (const T x) {  </a:t>
            </a:r>
            <a:endParaRPr lang="en-US" altLang="zh-CN" dirty="0"/>
          </a:p>
          <a:p>
            <a:pPr marL="0" indent="0">
              <a:buFont typeface="Arial" panose="020B0604020202020204" pitchFamily="34" charset="0"/>
              <a:buNone/>
              <a:defRPr/>
            </a:pPr>
            <a:r>
              <a:rPr lang="en-US" altLang="zh-CN" dirty="0"/>
              <a:t>//</a:t>
            </a:r>
            <a:r>
              <a:rPr lang="zh-CN" altLang="en-US" dirty="0"/>
              <a:t>新结点链入*</a:t>
            </a:r>
            <a:r>
              <a:rPr lang="en-US" altLang="zh-CN" dirty="0"/>
              <a:t>top</a:t>
            </a:r>
            <a:r>
              <a:rPr lang="zh-CN" altLang="en-US" dirty="0"/>
              <a:t>之前</a:t>
            </a:r>
            <a:r>
              <a:rPr lang="en-US" altLang="zh-CN" dirty="0"/>
              <a:t>, </a:t>
            </a:r>
            <a:r>
              <a:rPr lang="zh-CN" altLang="en-US" dirty="0"/>
              <a:t>并成为新栈顶</a:t>
            </a:r>
            <a:endParaRPr lang="en-US" altLang="zh-CN" dirty="0"/>
          </a:p>
          <a:p>
            <a:pPr marL="0" indent="0">
              <a:buNone/>
              <a:defRPr/>
            </a:pPr>
            <a:r>
              <a:rPr lang="en-US" altLang="zh-CN" dirty="0"/>
              <a:t>    </a:t>
            </a:r>
            <a:r>
              <a:rPr lang="en-US" altLang="zh-CN" dirty="0" err="1"/>
              <a:t>LinkNode</a:t>
            </a:r>
            <a:r>
              <a:rPr lang="en-US" altLang="zh-CN" dirty="0"/>
              <a:t>&lt;T&gt; *p = new </a:t>
            </a:r>
            <a:r>
              <a:rPr lang="en-US" altLang="zh-CN" dirty="0" err="1"/>
              <a:t>LinkNode</a:t>
            </a:r>
            <a:r>
              <a:rPr lang="en-US" altLang="zh-CN" dirty="0"/>
              <a:t>&lt;T&gt; (x, top);</a:t>
            </a:r>
            <a:endParaRPr lang="en-US" altLang="zh-CN" dirty="0"/>
          </a:p>
          <a:p>
            <a:pPr marL="0" indent="0">
              <a:buFont typeface="Arial" panose="020B0604020202020204" pitchFamily="34" charset="0"/>
              <a:buNone/>
              <a:defRPr/>
            </a:pPr>
            <a:r>
              <a:rPr lang="en-US" altLang="zh-CN" dirty="0"/>
              <a:t>    assert(p != NULL);</a:t>
            </a:r>
            <a:endParaRPr lang="zh-CN" altLang="en-US" dirty="0"/>
          </a:p>
          <a:p>
            <a:pPr marL="0" indent="0">
              <a:buFont typeface="Arial" panose="020B0604020202020204" pitchFamily="34" charset="0"/>
              <a:buNone/>
              <a:defRPr/>
            </a:pPr>
            <a:r>
              <a:rPr lang="zh-CN" altLang="en-US" dirty="0"/>
              <a:t>    </a:t>
            </a:r>
            <a:r>
              <a:rPr lang="en-US" altLang="zh-CN" dirty="0"/>
              <a:t>top = p;</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628650" y="365125"/>
            <a:ext cx="7886700" cy="1325563"/>
          </a:xfrm>
        </p:spPr>
        <p:txBody>
          <a:bodyPr/>
          <a:lstStyle/>
          <a:p>
            <a:r>
              <a:rPr lang="zh-CN" altLang="en-US" dirty="0"/>
              <a:t>栈的应用：简单的括号匹配</a:t>
            </a:r>
            <a:br>
              <a:rPr lang="en-US" altLang="zh-CN" dirty="0"/>
            </a:br>
            <a:r>
              <a:rPr lang="zh-CN" altLang="en-US" dirty="0"/>
              <a:t>（自学，代码参考本页备注）</a:t>
            </a:r>
            <a:endParaRPr lang="zh-CN" altLang="en-US" dirty="0"/>
          </a:p>
        </p:txBody>
      </p:sp>
      <p:sp>
        <p:nvSpPr>
          <p:cNvPr id="555011" name="Rectangle 3"/>
          <p:cNvSpPr>
            <a:spLocks noGrp="1" noChangeArrowheads="1"/>
          </p:cNvSpPr>
          <p:nvPr>
            <p:ph idx="1"/>
          </p:nvPr>
        </p:nvSpPr>
        <p:spPr>
          <a:xfrm>
            <a:off x="628650" y="1825624"/>
            <a:ext cx="7886700" cy="4530725"/>
          </a:xfrm>
        </p:spPr>
        <p:txBody>
          <a:bodyPr>
            <a:normAutofit fontScale="70000" lnSpcReduction="20000"/>
          </a:bodyPr>
          <a:lstStyle/>
          <a:p>
            <a:r>
              <a:rPr lang="zh-CN" altLang="en-US" dirty="0"/>
              <a:t>利用栈可判断一个字符串中是否括号匹配。</a:t>
            </a:r>
            <a:endParaRPr lang="en-US" altLang="zh-CN" dirty="0"/>
          </a:p>
          <a:p>
            <a:pPr lvl="1"/>
            <a:r>
              <a:rPr lang="zh-CN" altLang="en-US" dirty="0"/>
              <a:t>例如字符串“</a:t>
            </a:r>
            <a:r>
              <a:rPr lang="en-US" altLang="zh-CN" dirty="0"/>
              <a:t>(</a:t>
            </a:r>
            <a:r>
              <a:rPr lang="en-US" altLang="zh-CN" dirty="0" err="1"/>
              <a:t>a+b</a:t>
            </a:r>
            <a:r>
              <a:rPr lang="en-US" altLang="zh-CN" dirty="0"/>
              <a:t>*(c-d)-e/f)”</a:t>
            </a:r>
            <a:r>
              <a:rPr lang="zh-CN" altLang="en-US" dirty="0"/>
              <a:t>中左、右括号是匹配的。</a:t>
            </a:r>
            <a:endParaRPr lang="en-US" altLang="zh-CN" dirty="0"/>
          </a:p>
          <a:p>
            <a:r>
              <a:rPr lang="zh-CN" altLang="en-US" dirty="0"/>
              <a:t>算法思路如下：</a:t>
            </a:r>
            <a:endParaRPr lang="zh-CN" altLang="en-US" dirty="0"/>
          </a:p>
          <a:p>
            <a:pPr lvl="1"/>
            <a:r>
              <a:rPr lang="en-US" altLang="zh-CN" dirty="0"/>
              <a:t>1. </a:t>
            </a:r>
            <a:r>
              <a:rPr lang="zh-CN" altLang="en-US" dirty="0"/>
              <a:t>置栈空；</a:t>
            </a:r>
            <a:endParaRPr lang="zh-CN" altLang="en-US" dirty="0"/>
          </a:p>
          <a:p>
            <a:pPr lvl="1"/>
            <a:r>
              <a:rPr lang="en-US" altLang="zh-CN" dirty="0"/>
              <a:t>2. </a:t>
            </a:r>
            <a:r>
              <a:rPr lang="zh-CN" altLang="en-US" dirty="0"/>
              <a:t>自左向右逐个扫描字符串的每个字符：</a:t>
            </a:r>
            <a:endParaRPr lang="zh-CN" altLang="en-US" dirty="0"/>
          </a:p>
          <a:p>
            <a:pPr lvl="2"/>
            <a:r>
              <a:rPr lang="en-US" altLang="zh-CN" dirty="0"/>
              <a:t>(1) </a:t>
            </a:r>
            <a:r>
              <a:rPr lang="zh-CN" altLang="en-US" dirty="0"/>
              <a:t>若是左括号“</a:t>
            </a:r>
            <a:r>
              <a:rPr lang="en-US" altLang="zh-CN" dirty="0"/>
              <a:t>(”</a:t>
            </a:r>
            <a:r>
              <a:rPr lang="zh-CN" altLang="en-US" dirty="0"/>
              <a:t>，进栈，读下一字符；</a:t>
            </a:r>
            <a:endParaRPr lang="zh-CN" altLang="en-US" dirty="0"/>
          </a:p>
          <a:p>
            <a:pPr lvl="2"/>
            <a:r>
              <a:rPr lang="en-US" altLang="zh-CN" dirty="0"/>
              <a:t>(2) </a:t>
            </a:r>
            <a:r>
              <a:rPr lang="zh-CN" altLang="en-US" dirty="0"/>
              <a:t>若是右括号“</a:t>
            </a:r>
            <a:r>
              <a:rPr lang="en-US" altLang="zh-CN" dirty="0"/>
              <a:t>)”</a:t>
            </a:r>
            <a:r>
              <a:rPr lang="zh-CN" altLang="en-US" dirty="0"/>
              <a:t>，</a:t>
            </a:r>
            <a:endParaRPr lang="zh-CN" altLang="en-US" dirty="0"/>
          </a:p>
          <a:p>
            <a:pPr lvl="3"/>
            <a:r>
              <a:rPr lang="zh-CN" altLang="en-US" dirty="0"/>
              <a:t>若栈不空，退栈，读下一字符；</a:t>
            </a:r>
            <a:endParaRPr lang="zh-CN" altLang="en-US" dirty="0"/>
          </a:p>
          <a:p>
            <a:pPr lvl="3"/>
            <a:r>
              <a:rPr lang="zh-CN" altLang="en-US" dirty="0"/>
              <a:t>若栈空，“</a:t>
            </a:r>
            <a:r>
              <a:rPr lang="en-US" altLang="zh-CN" dirty="0"/>
              <a:t>)”</a:t>
            </a:r>
            <a:r>
              <a:rPr lang="zh-CN" altLang="en-US" dirty="0"/>
              <a:t>没有匹配的“</a:t>
            </a:r>
            <a:r>
              <a:rPr lang="en-US" altLang="zh-CN" dirty="0"/>
              <a:t>(”</a:t>
            </a:r>
            <a:r>
              <a:rPr lang="zh-CN" altLang="en-US" dirty="0"/>
              <a:t>，出错；</a:t>
            </a:r>
            <a:endParaRPr lang="zh-CN" altLang="en-US" dirty="0"/>
          </a:p>
          <a:p>
            <a:pPr lvl="2"/>
            <a:r>
              <a:rPr lang="en-US" altLang="zh-CN" dirty="0"/>
              <a:t>(3) </a:t>
            </a:r>
            <a:r>
              <a:rPr lang="zh-CN" altLang="en-US" dirty="0"/>
              <a:t>若不是括号，跳过，读下一字符；</a:t>
            </a:r>
            <a:endParaRPr lang="en-US" altLang="zh-CN" dirty="0"/>
          </a:p>
          <a:p>
            <a:pPr lvl="1"/>
            <a:r>
              <a:rPr lang="en-US" altLang="zh-CN" dirty="0"/>
              <a:t>3. </a:t>
            </a:r>
            <a:r>
              <a:rPr lang="zh-CN" altLang="en-US" dirty="0"/>
              <a:t>若字符串扫描完，判断：</a:t>
            </a:r>
            <a:endParaRPr lang="zh-CN" altLang="en-US" dirty="0"/>
          </a:p>
          <a:p>
            <a:pPr lvl="2"/>
            <a:r>
              <a:rPr lang="en-US" altLang="zh-CN" dirty="0"/>
              <a:t>(1) </a:t>
            </a:r>
            <a:r>
              <a:rPr lang="zh-CN" altLang="en-US" dirty="0"/>
              <a:t>若栈空，则括号完全匹配；</a:t>
            </a:r>
            <a:endParaRPr lang="zh-CN" altLang="en-US" dirty="0"/>
          </a:p>
          <a:p>
            <a:pPr lvl="2"/>
            <a:r>
              <a:rPr lang="en-US" altLang="zh-CN" dirty="0"/>
              <a:t>(2) </a:t>
            </a:r>
            <a:r>
              <a:rPr lang="zh-CN" altLang="en-US" dirty="0"/>
              <a:t>若栈不空。则还有“</a:t>
            </a:r>
            <a:r>
              <a:rPr lang="en-US" altLang="zh-CN" dirty="0"/>
              <a:t>(”</a:t>
            </a:r>
            <a:r>
              <a:rPr lang="zh-CN" altLang="en-US" dirty="0"/>
              <a:t>没有匹配，出错。</a:t>
            </a:r>
            <a:endParaRPr lang="zh-CN" altLang="en-US" dirty="0"/>
          </a:p>
        </p:txBody>
      </p:sp>
      <p:sp>
        <p:nvSpPr>
          <p:cNvPr id="3" name="灯片编号占位符 4"/>
          <p:cNvSpPr>
            <a:spLocks noGrp="1"/>
          </p:cNvSpPr>
          <p:nvPr>
            <p:ph type="ftr" sz="quarter" idx="11"/>
          </p:nvPr>
        </p:nvSpPr>
        <p:spPr>
          <a:xfrm>
            <a:off x="3028950" y="6356350"/>
            <a:ext cx="3086100" cy="365125"/>
          </a:xfrm>
        </p:spPr>
        <p:txBody>
          <a:bodyPr/>
          <a:lstStyle/>
          <a:p>
            <a:fld id="{F2D5AD8B-4E2B-46A6-9197-185F45E98222}" type="slidenum">
              <a:rPr lang="en-US" altLang="zh-CN"/>
            </a:fld>
            <a:endParaRPr lang="en-US" altLang="zh-CN"/>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p:txBody>
          <a:bodyPr/>
          <a:lstStyle/>
          <a:p>
            <a:r>
              <a:rPr lang="zh-CN" altLang="en-US" dirty="0"/>
              <a:t>栈的应用：表达式求值</a:t>
            </a:r>
            <a:endParaRPr lang="zh-CN" altLang="en-US" dirty="0"/>
          </a:p>
        </p:txBody>
      </p:sp>
      <p:sp>
        <p:nvSpPr>
          <p:cNvPr id="3" name="内容占位符 2"/>
          <p:cNvSpPr>
            <a:spLocks noGrp="1"/>
          </p:cNvSpPr>
          <p:nvPr>
            <p:ph idx="1"/>
          </p:nvPr>
        </p:nvSpPr>
        <p:spPr/>
        <p:txBody>
          <a:bodyPr>
            <a:normAutofit fontScale="92500" lnSpcReduction="10000"/>
          </a:bodyPr>
          <a:lstStyle/>
          <a:p>
            <a:pPr>
              <a:defRPr/>
            </a:pPr>
            <a:r>
              <a:rPr lang="zh-CN" altLang="en-US" dirty="0"/>
              <a:t>一个表达式由操作数、操作符 </a:t>
            </a:r>
            <a:r>
              <a:rPr lang="en-US" altLang="zh-CN" dirty="0"/>
              <a:t>(</a:t>
            </a:r>
            <a:r>
              <a:rPr lang="zh-CN" altLang="en-US" dirty="0"/>
              <a:t>即运算符</a:t>
            </a:r>
            <a:r>
              <a:rPr lang="en-US" altLang="zh-CN" dirty="0"/>
              <a:t>) </a:t>
            </a:r>
            <a:r>
              <a:rPr lang="zh-CN" altLang="en-US" dirty="0"/>
              <a:t>和分界符（标记表达式的两端）组成。</a:t>
            </a:r>
            <a:endParaRPr lang="zh-CN" altLang="en-US" dirty="0"/>
          </a:p>
          <a:p>
            <a:pPr>
              <a:defRPr/>
            </a:pPr>
            <a:r>
              <a:rPr lang="zh-CN" altLang="en-US" dirty="0"/>
              <a:t>算术表达式有三种表示：</a:t>
            </a:r>
            <a:endParaRPr lang="zh-CN" altLang="en-US" dirty="0"/>
          </a:p>
          <a:p>
            <a:pPr lvl="1">
              <a:defRPr/>
            </a:pPr>
            <a:r>
              <a:rPr lang="zh-CN" altLang="en-US" dirty="0"/>
              <a:t>中缀</a:t>
            </a:r>
            <a:r>
              <a:rPr lang="en-US" altLang="zh-CN" dirty="0"/>
              <a:t>(infix)</a:t>
            </a:r>
            <a:r>
              <a:rPr lang="zh-CN" altLang="en-US" dirty="0"/>
              <a:t>表示：</a:t>
            </a:r>
            <a:endParaRPr lang="en-US" altLang="zh-CN" dirty="0"/>
          </a:p>
          <a:p>
            <a:pPr lvl="2">
              <a:defRPr/>
            </a:pPr>
            <a:r>
              <a:rPr lang="en-US" altLang="zh-CN" dirty="0"/>
              <a:t>&lt;</a:t>
            </a:r>
            <a:r>
              <a:rPr lang="zh-CN" altLang="en-US" dirty="0"/>
              <a:t>操作数</a:t>
            </a:r>
            <a:r>
              <a:rPr lang="en-US" altLang="zh-CN" dirty="0"/>
              <a:t>&gt; &lt;</a:t>
            </a:r>
            <a:r>
              <a:rPr lang="zh-CN" altLang="en-US" dirty="0"/>
              <a:t>操作符</a:t>
            </a:r>
            <a:r>
              <a:rPr lang="en-US" altLang="zh-CN" dirty="0"/>
              <a:t>&gt; &lt;</a:t>
            </a:r>
            <a:r>
              <a:rPr lang="zh-CN" altLang="en-US" dirty="0"/>
              <a:t>操作数</a:t>
            </a:r>
            <a:r>
              <a:rPr lang="en-US" altLang="zh-CN" dirty="0"/>
              <a:t>&gt;</a:t>
            </a:r>
            <a:r>
              <a:rPr lang="zh-CN" altLang="en-US" dirty="0"/>
              <a:t>，如 </a:t>
            </a:r>
            <a:r>
              <a:rPr lang="en-US" altLang="zh-CN" dirty="0"/>
              <a:t>A+B</a:t>
            </a:r>
            <a:r>
              <a:rPr lang="zh-CN" altLang="en-US" dirty="0"/>
              <a:t>；</a:t>
            </a:r>
            <a:endParaRPr lang="zh-CN" altLang="en-US" dirty="0"/>
          </a:p>
          <a:p>
            <a:pPr lvl="1">
              <a:defRPr/>
            </a:pPr>
            <a:r>
              <a:rPr lang="zh-CN" altLang="en-US" dirty="0"/>
              <a:t>前缀</a:t>
            </a:r>
            <a:r>
              <a:rPr lang="en-US" altLang="zh-CN" dirty="0"/>
              <a:t>(prefix)</a:t>
            </a:r>
            <a:r>
              <a:rPr lang="zh-CN" altLang="en-US" dirty="0"/>
              <a:t>表示：</a:t>
            </a:r>
            <a:endParaRPr lang="en-US" altLang="zh-CN" dirty="0"/>
          </a:p>
          <a:p>
            <a:pPr lvl="2">
              <a:defRPr/>
            </a:pPr>
            <a:r>
              <a:rPr lang="en-US" altLang="zh-CN" dirty="0"/>
              <a:t>&lt;</a:t>
            </a:r>
            <a:r>
              <a:rPr lang="zh-CN" altLang="en-US" dirty="0"/>
              <a:t>操作符</a:t>
            </a:r>
            <a:r>
              <a:rPr lang="en-US" altLang="zh-CN" dirty="0"/>
              <a:t>&gt; &lt;</a:t>
            </a:r>
            <a:r>
              <a:rPr lang="zh-CN" altLang="en-US" dirty="0"/>
              <a:t>操作数</a:t>
            </a:r>
            <a:r>
              <a:rPr lang="en-US" altLang="zh-CN" dirty="0"/>
              <a:t>&gt; &lt;</a:t>
            </a:r>
            <a:r>
              <a:rPr lang="zh-CN" altLang="en-US" dirty="0"/>
              <a:t>操作数</a:t>
            </a:r>
            <a:r>
              <a:rPr lang="en-US" altLang="zh-CN" dirty="0"/>
              <a:t>&gt;</a:t>
            </a:r>
            <a:r>
              <a:rPr lang="zh-CN" altLang="en-US" dirty="0"/>
              <a:t>，如 </a:t>
            </a:r>
            <a:r>
              <a:rPr lang="en-US" altLang="zh-CN" dirty="0"/>
              <a:t>+AB</a:t>
            </a:r>
            <a:r>
              <a:rPr lang="zh-CN" altLang="en-US" dirty="0"/>
              <a:t>；</a:t>
            </a:r>
            <a:endParaRPr lang="zh-CN" altLang="en-US" dirty="0"/>
          </a:p>
          <a:p>
            <a:pPr lvl="1">
              <a:defRPr/>
            </a:pPr>
            <a:r>
              <a:rPr lang="zh-CN" altLang="en-US" dirty="0"/>
              <a:t>后缀</a:t>
            </a:r>
            <a:r>
              <a:rPr lang="en-US" altLang="zh-CN" dirty="0"/>
              <a:t>(postfix)</a:t>
            </a:r>
            <a:r>
              <a:rPr lang="zh-CN" altLang="en-US" dirty="0"/>
              <a:t>表示：</a:t>
            </a:r>
            <a:endParaRPr lang="en-US" altLang="zh-CN" dirty="0"/>
          </a:p>
          <a:p>
            <a:pPr lvl="2">
              <a:defRPr/>
            </a:pPr>
            <a:r>
              <a:rPr lang="en-US" altLang="zh-CN" dirty="0"/>
              <a:t>&lt;</a:t>
            </a:r>
            <a:r>
              <a:rPr lang="zh-CN" altLang="en-US" dirty="0"/>
              <a:t>操作数</a:t>
            </a:r>
            <a:r>
              <a:rPr lang="en-US" altLang="zh-CN" dirty="0"/>
              <a:t>&gt; &lt;</a:t>
            </a:r>
            <a:r>
              <a:rPr lang="zh-CN" altLang="en-US" dirty="0"/>
              <a:t>操作数</a:t>
            </a:r>
            <a:r>
              <a:rPr lang="en-US" altLang="zh-CN" dirty="0"/>
              <a:t>&gt; &lt;</a:t>
            </a:r>
            <a:r>
              <a:rPr lang="zh-CN" altLang="en-US" dirty="0"/>
              <a:t>操作符</a:t>
            </a:r>
            <a:r>
              <a:rPr lang="en-US" altLang="zh-CN" dirty="0"/>
              <a:t>&gt;</a:t>
            </a:r>
            <a:r>
              <a:rPr lang="zh-CN" altLang="en-US" dirty="0"/>
              <a:t>，如 </a:t>
            </a:r>
            <a:r>
              <a:rPr lang="en-US" altLang="zh-CN" dirty="0"/>
              <a:t>AB+</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p:nvPr>
        </p:nvSpPr>
        <p:spPr/>
        <p:txBody>
          <a:bodyPr/>
          <a:lstStyle/>
          <a:p>
            <a:r>
              <a:rPr lang="zh-CN" altLang="en-US" dirty="0"/>
              <a:t>常见的</a:t>
            </a:r>
            <a:r>
              <a:rPr lang="en-US" altLang="zh-CN" dirty="0"/>
              <a:t>4</a:t>
            </a:r>
            <a:r>
              <a:rPr lang="zh-CN" altLang="en-US" dirty="0"/>
              <a:t>类操作符</a:t>
            </a:r>
            <a:endParaRPr lang="zh-CN" altLang="en-US" dirty="0"/>
          </a:p>
        </p:txBody>
      </p:sp>
      <p:sp>
        <p:nvSpPr>
          <p:cNvPr id="3" name="内容占位符 2"/>
          <p:cNvSpPr>
            <a:spLocks noGrp="1"/>
          </p:cNvSpPr>
          <p:nvPr>
            <p:ph idx="1"/>
          </p:nvPr>
        </p:nvSpPr>
        <p:spPr/>
        <p:txBody>
          <a:bodyPr>
            <a:normAutofit fontScale="85000" lnSpcReduction="20000"/>
          </a:bodyPr>
          <a:lstStyle/>
          <a:p>
            <a:pPr>
              <a:defRPr/>
            </a:pPr>
            <a:r>
              <a:rPr lang="zh-CN" altLang="en-US" dirty="0"/>
              <a:t>算术操作符</a:t>
            </a:r>
            <a:endParaRPr lang="en-US" altLang="zh-CN" dirty="0"/>
          </a:p>
          <a:p>
            <a:pPr lvl="1">
              <a:defRPr/>
            </a:pPr>
            <a:r>
              <a:rPr lang="zh-CN" altLang="en-US" dirty="0"/>
              <a:t>如双目操作符（</a:t>
            </a:r>
            <a:r>
              <a:rPr lang="en-US" altLang="zh-CN" dirty="0"/>
              <a:t>+</a:t>
            </a:r>
            <a:r>
              <a:rPr lang="zh-CN" altLang="en-US" dirty="0"/>
              <a:t>、</a:t>
            </a:r>
            <a:r>
              <a:rPr lang="en-US" altLang="zh-CN" dirty="0"/>
              <a:t>-</a:t>
            </a:r>
            <a:r>
              <a:rPr lang="zh-CN" altLang="en-US" dirty="0"/>
              <a:t>、*、</a:t>
            </a:r>
            <a:r>
              <a:rPr lang="en-US" altLang="zh-CN" dirty="0"/>
              <a:t>/ </a:t>
            </a:r>
            <a:r>
              <a:rPr lang="zh-CN" altLang="en-US" dirty="0"/>
              <a:t>和</a:t>
            </a:r>
            <a:r>
              <a:rPr lang="en-US" altLang="zh-CN" dirty="0"/>
              <a:t>%</a:t>
            </a:r>
            <a:r>
              <a:rPr lang="zh-CN" altLang="en-US" dirty="0"/>
              <a:t>）以及单目操作符（</a:t>
            </a:r>
            <a:r>
              <a:rPr lang="en-US" altLang="zh-CN" dirty="0"/>
              <a:t>-</a:t>
            </a:r>
            <a:r>
              <a:rPr lang="zh-CN" altLang="en-US" dirty="0"/>
              <a:t>）。</a:t>
            </a:r>
            <a:endParaRPr lang="zh-CN" altLang="en-US" dirty="0"/>
          </a:p>
          <a:p>
            <a:pPr>
              <a:defRPr/>
            </a:pPr>
            <a:r>
              <a:rPr lang="zh-CN" altLang="en-US" dirty="0"/>
              <a:t>关系操作符</a:t>
            </a:r>
            <a:endParaRPr lang="en-US" altLang="zh-CN" dirty="0"/>
          </a:p>
          <a:p>
            <a:pPr lvl="1">
              <a:defRPr/>
            </a:pPr>
            <a:r>
              <a:rPr lang="zh-CN" altLang="en-US" dirty="0"/>
              <a:t>包括</a:t>
            </a:r>
            <a:r>
              <a:rPr lang="en-US" altLang="zh-CN" dirty="0"/>
              <a:t>&lt;</a:t>
            </a:r>
            <a:r>
              <a:rPr lang="zh-CN" altLang="en-US" dirty="0"/>
              <a:t>、</a:t>
            </a:r>
            <a:r>
              <a:rPr lang="en-US" altLang="zh-CN" dirty="0"/>
              <a:t>&lt;=</a:t>
            </a:r>
            <a:r>
              <a:rPr lang="zh-CN" altLang="en-US" dirty="0"/>
              <a:t>、</a:t>
            </a:r>
            <a:r>
              <a:rPr lang="en-US" altLang="zh-CN" dirty="0"/>
              <a:t>==</a:t>
            </a:r>
            <a:r>
              <a:rPr lang="zh-CN" altLang="en-US" dirty="0"/>
              <a:t>、</a:t>
            </a:r>
            <a:r>
              <a:rPr lang="en-US" altLang="zh-CN" dirty="0"/>
              <a:t>!=</a:t>
            </a:r>
            <a:r>
              <a:rPr lang="zh-CN" altLang="en-US" dirty="0"/>
              <a:t>、</a:t>
            </a:r>
            <a:r>
              <a:rPr lang="en-US" altLang="zh-CN" dirty="0"/>
              <a:t>&gt;=</a:t>
            </a:r>
            <a:r>
              <a:rPr lang="zh-CN" altLang="en-US" dirty="0"/>
              <a:t>、</a:t>
            </a:r>
            <a:r>
              <a:rPr lang="en-US" altLang="zh-CN" dirty="0"/>
              <a:t>&gt;</a:t>
            </a:r>
            <a:r>
              <a:rPr lang="zh-CN" altLang="en-US" dirty="0"/>
              <a:t>。这些操作符主要用于比较。</a:t>
            </a:r>
            <a:endParaRPr lang="zh-CN" altLang="en-US" dirty="0"/>
          </a:p>
          <a:p>
            <a:pPr>
              <a:defRPr/>
            </a:pPr>
            <a:r>
              <a:rPr lang="zh-CN" altLang="en-US" dirty="0"/>
              <a:t>逻辑操作符</a:t>
            </a:r>
            <a:endParaRPr lang="en-US" altLang="zh-CN" dirty="0"/>
          </a:p>
          <a:p>
            <a:pPr lvl="1">
              <a:defRPr/>
            </a:pPr>
            <a:r>
              <a:rPr lang="zh-CN" altLang="en-US" dirty="0"/>
              <a:t>如与</a:t>
            </a:r>
            <a:r>
              <a:rPr lang="en-US" altLang="zh-CN" dirty="0"/>
              <a:t>(&amp;&amp;)</a:t>
            </a:r>
            <a:r>
              <a:rPr lang="zh-CN" altLang="en-US" dirty="0"/>
              <a:t>、或</a:t>
            </a:r>
            <a:r>
              <a:rPr lang="en-US" altLang="zh-CN" dirty="0"/>
              <a:t>(||)</a:t>
            </a:r>
            <a:r>
              <a:rPr lang="zh-CN" altLang="en-US" dirty="0"/>
              <a:t>、非</a:t>
            </a:r>
            <a:r>
              <a:rPr lang="en-US" altLang="zh-CN" dirty="0"/>
              <a:t>(!)</a:t>
            </a:r>
            <a:r>
              <a:rPr lang="zh-CN" altLang="en-US" dirty="0"/>
              <a:t>。</a:t>
            </a:r>
            <a:endParaRPr lang="zh-CN" altLang="en-US" dirty="0"/>
          </a:p>
          <a:p>
            <a:pPr>
              <a:defRPr/>
            </a:pPr>
            <a:r>
              <a:rPr lang="zh-CN" altLang="en-US" dirty="0"/>
              <a:t>括号‘</a:t>
            </a:r>
            <a:r>
              <a:rPr lang="en-US" altLang="zh-CN" dirty="0"/>
              <a:t>(’</a:t>
            </a:r>
            <a:r>
              <a:rPr lang="zh-CN" altLang="en-US" dirty="0"/>
              <a:t>和‘</a:t>
            </a:r>
            <a:r>
              <a:rPr lang="en-US" altLang="zh-CN" dirty="0"/>
              <a:t>)’   </a:t>
            </a:r>
            <a:endParaRPr lang="en-US" altLang="zh-CN" dirty="0"/>
          </a:p>
          <a:p>
            <a:pPr lvl="1">
              <a:defRPr/>
            </a:pPr>
            <a:r>
              <a:rPr lang="zh-CN" altLang="en-US" dirty="0"/>
              <a:t>它们的作用是改变运算顺序。</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zh-CN" altLang="en-US"/>
              <a:t>表达式示例</a:t>
            </a:r>
            <a:endParaRPr lang="zh-CN" altLang="en-US"/>
          </a:p>
        </p:txBody>
      </p:sp>
      <p:sp>
        <p:nvSpPr>
          <p:cNvPr id="3" name="内容占位符 2"/>
          <p:cNvSpPr>
            <a:spLocks noGrp="1"/>
          </p:cNvSpPr>
          <p:nvPr>
            <p:ph idx="1"/>
          </p:nvPr>
        </p:nvSpPr>
        <p:spPr/>
        <p:txBody>
          <a:bodyPr>
            <a:normAutofit fontScale="92500" lnSpcReduction="20000"/>
          </a:bodyPr>
          <a:lstStyle/>
          <a:p>
            <a:pPr>
              <a:defRPr/>
            </a:pPr>
            <a:r>
              <a:rPr lang="zh-CN" altLang="en-US" dirty="0"/>
              <a:t>中缀表达式    </a:t>
            </a:r>
            <a:r>
              <a:rPr lang="en-US" altLang="zh-CN" dirty="0"/>
              <a:t>a + b * ( c - d ) – e ^ f / g</a:t>
            </a:r>
            <a:endParaRPr lang="en-US" altLang="zh-CN" dirty="0"/>
          </a:p>
          <a:p>
            <a:pPr>
              <a:defRPr/>
            </a:pPr>
            <a:r>
              <a:rPr lang="zh-CN" altLang="en-US" dirty="0"/>
              <a:t>后缀表达式    </a:t>
            </a:r>
            <a:r>
              <a:rPr lang="en-US" altLang="zh-CN" dirty="0"/>
              <a:t>a b c d - * + e f ^ g / -</a:t>
            </a:r>
            <a:endParaRPr lang="en-US" altLang="zh-CN" dirty="0"/>
          </a:p>
          <a:p>
            <a:pPr>
              <a:defRPr/>
            </a:pPr>
            <a:r>
              <a:rPr lang="zh-CN" altLang="en-US" dirty="0"/>
              <a:t>前缀表达式    </a:t>
            </a:r>
            <a:r>
              <a:rPr lang="en-US" altLang="zh-CN" dirty="0"/>
              <a:t>- + a * b – c d / ^ e f g</a:t>
            </a:r>
            <a:endParaRPr lang="en-US" altLang="zh-CN" dirty="0"/>
          </a:p>
          <a:p>
            <a:pPr>
              <a:defRPr/>
            </a:pPr>
            <a:endParaRPr lang="en-US" altLang="zh-CN" dirty="0"/>
          </a:p>
          <a:p>
            <a:pPr>
              <a:defRPr/>
            </a:pPr>
            <a:r>
              <a:rPr lang="zh-CN" altLang="en-US" dirty="0"/>
              <a:t>中缀表达式中相邻两个操作符的计算次序为：</a:t>
            </a:r>
            <a:endParaRPr lang="zh-CN" altLang="en-US" dirty="0"/>
          </a:p>
          <a:p>
            <a:pPr lvl="1">
              <a:defRPr/>
            </a:pPr>
            <a:r>
              <a:rPr lang="zh-CN" altLang="en-US" dirty="0"/>
              <a:t>优先级高的先计算；</a:t>
            </a:r>
            <a:endParaRPr lang="zh-CN" altLang="en-US" dirty="0"/>
          </a:p>
          <a:p>
            <a:pPr lvl="1">
              <a:defRPr/>
            </a:pPr>
            <a:r>
              <a:rPr lang="zh-CN" altLang="en-US" dirty="0"/>
              <a:t>优先级相同的自左向右计算；</a:t>
            </a:r>
            <a:endParaRPr lang="zh-CN" altLang="en-US" dirty="0"/>
          </a:p>
          <a:p>
            <a:pPr lvl="1">
              <a:defRPr/>
            </a:pPr>
            <a:r>
              <a:rPr lang="zh-CN" altLang="en-US" dirty="0"/>
              <a:t>当使用括号时从最内层括号开始计算。</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6"/>
          <p:cNvSpPr/>
          <p:nvPr/>
        </p:nvSpPr>
        <p:spPr bwMode="auto">
          <a:xfrm rot="-5400000">
            <a:off x="3503613" y="4175125"/>
            <a:ext cx="152400" cy="838200"/>
          </a:xfrm>
          <a:prstGeom prst="leftBrace">
            <a:avLst>
              <a:gd name="adj1" fmla="val 45833"/>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0723" name="Text Box 7"/>
          <p:cNvSpPr txBox="1">
            <a:spLocks noChangeArrowheads="1"/>
          </p:cNvSpPr>
          <p:nvPr/>
        </p:nvSpPr>
        <p:spPr bwMode="auto">
          <a:xfrm>
            <a:off x="3236913" y="4518025"/>
            <a:ext cx="776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宋体" panose="02010600030101010101" pitchFamily="2" charset="-122"/>
              </a:rPr>
              <a:t>rst1</a:t>
            </a:r>
            <a:endParaRPr kumimoji="1" lang="en-US" altLang="zh-CN" sz="2400">
              <a:latin typeface="Times New Roman" panose="02020603050405020304" pitchFamily="18" charset="0"/>
              <a:ea typeface="宋体" panose="02010600030101010101" pitchFamily="2" charset="-122"/>
            </a:endParaRPr>
          </a:p>
        </p:txBody>
      </p:sp>
      <p:sp>
        <p:nvSpPr>
          <p:cNvPr id="30724" name="AutoShape 8"/>
          <p:cNvSpPr/>
          <p:nvPr/>
        </p:nvSpPr>
        <p:spPr bwMode="auto">
          <a:xfrm rot="-5400000">
            <a:off x="3500438" y="4241800"/>
            <a:ext cx="115888" cy="1430337"/>
          </a:xfrm>
          <a:prstGeom prst="leftBrace">
            <a:avLst>
              <a:gd name="adj1" fmla="val 70740"/>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0725" name="Text Box 9"/>
          <p:cNvSpPr txBox="1">
            <a:spLocks noChangeArrowheads="1"/>
          </p:cNvSpPr>
          <p:nvPr/>
        </p:nvSpPr>
        <p:spPr bwMode="auto">
          <a:xfrm>
            <a:off x="3236913" y="4913313"/>
            <a:ext cx="776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宋体" panose="02010600030101010101" pitchFamily="2" charset="-122"/>
              </a:rPr>
              <a:t>rst2</a:t>
            </a:r>
            <a:endParaRPr kumimoji="1" lang="en-US" altLang="zh-CN" sz="2400">
              <a:latin typeface="Times New Roman" panose="02020603050405020304" pitchFamily="18" charset="0"/>
              <a:ea typeface="宋体" panose="02010600030101010101" pitchFamily="2" charset="-122"/>
            </a:endParaRPr>
          </a:p>
        </p:txBody>
      </p:sp>
      <p:sp>
        <p:nvSpPr>
          <p:cNvPr id="30726" name="AutoShape 10"/>
          <p:cNvSpPr/>
          <p:nvPr/>
        </p:nvSpPr>
        <p:spPr bwMode="auto">
          <a:xfrm rot="-5400000">
            <a:off x="3526632" y="4237831"/>
            <a:ext cx="115888" cy="2200275"/>
          </a:xfrm>
          <a:prstGeom prst="leftBrace">
            <a:avLst>
              <a:gd name="adj1" fmla="val 112247"/>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0727" name="Text Box 11"/>
          <p:cNvSpPr txBox="1">
            <a:spLocks noChangeArrowheads="1"/>
          </p:cNvSpPr>
          <p:nvPr/>
        </p:nvSpPr>
        <p:spPr bwMode="auto">
          <a:xfrm>
            <a:off x="3298825" y="5294313"/>
            <a:ext cx="776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宋体" panose="02010600030101010101" pitchFamily="2" charset="-122"/>
              </a:rPr>
              <a:t>rst3</a:t>
            </a:r>
            <a:endParaRPr kumimoji="1" lang="en-US" altLang="zh-CN" sz="2400">
              <a:latin typeface="Times New Roman" panose="02020603050405020304" pitchFamily="18" charset="0"/>
              <a:ea typeface="宋体" panose="02010600030101010101" pitchFamily="2" charset="-122"/>
            </a:endParaRPr>
          </a:p>
        </p:txBody>
      </p:sp>
      <p:sp>
        <p:nvSpPr>
          <p:cNvPr id="30728" name="AutoShape 12"/>
          <p:cNvSpPr/>
          <p:nvPr/>
        </p:nvSpPr>
        <p:spPr bwMode="auto">
          <a:xfrm rot="-5400000">
            <a:off x="5178425" y="4191000"/>
            <a:ext cx="152400" cy="762000"/>
          </a:xfrm>
          <a:prstGeom prst="leftBrace">
            <a:avLst>
              <a:gd name="adj1" fmla="val 41667"/>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0729" name="Text Box 13"/>
          <p:cNvSpPr txBox="1">
            <a:spLocks noChangeArrowheads="1"/>
          </p:cNvSpPr>
          <p:nvPr/>
        </p:nvSpPr>
        <p:spPr bwMode="auto">
          <a:xfrm>
            <a:off x="4822825" y="4518025"/>
            <a:ext cx="776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宋体" panose="02010600030101010101" pitchFamily="2" charset="-122"/>
              </a:rPr>
              <a:t>rst4</a:t>
            </a:r>
            <a:endParaRPr kumimoji="1" lang="en-US" altLang="zh-CN" sz="2400">
              <a:latin typeface="Times New Roman" panose="02020603050405020304" pitchFamily="18" charset="0"/>
              <a:ea typeface="宋体" panose="02010600030101010101" pitchFamily="2" charset="-122"/>
            </a:endParaRPr>
          </a:p>
        </p:txBody>
      </p:sp>
      <p:sp>
        <p:nvSpPr>
          <p:cNvPr id="30730" name="AutoShape 14"/>
          <p:cNvSpPr/>
          <p:nvPr/>
        </p:nvSpPr>
        <p:spPr bwMode="auto">
          <a:xfrm rot="-5400000">
            <a:off x="5511800" y="4210050"/>
            <a:ext cx="160338" cy="1538288"/>
          </a:xfrm>
          <a:prstGeom prst="leftBrace">
            <a:avLst>
              <a:gd name="adj1" fmla="val 70934"/>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0731" name="Text Box 15"/>
          <p:cNvSpPr txBox="1">
            <a:spLocks noChangeArrowheads="1"/>
          </p:cNvSpPr>
          <p:nvPr/>
        </p:nvSpPr>
        <p:spPr bwMode="auto">
          <a:xfrm>
            <a:off x="5065713" y="4913313"/>
            <a:ext cx="776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宋体" panose="02010600030101010101" pitchFamily="2" charset="-122"/>
              </a:rPr>
              <a:t>rst5</a:t>
            </a:r>
            <a:endParaRPr kumimoji="1" lang="en-US" altLang="zh-CN" sz="2400">
              <a:latin typeface="Times New Roman" panose="02020603050405020304" pitchFamily="18" charset="0"/>
              <a:ea typeface="宋体" panose="02010600030101010101" pitchFamily="2" charset="-122"/>
            </a:endParaRPr>
          </a:p>
        </p:txBody>
      </p:sp>
      <p:sp>
        <p:nvSpPr>
          <p:cNvPr id="30732" name="AutoShape 16"/>
          <p:cNvSpPr/>
          <p:nvPr/>
        </p:nvSpPr>
        <p:spPr bwMode="auto">
          <a:xfrm rot="-5400000">
            <a:off x="4462463" y="3687763"/>
            <a:ext cx="147637" cy="4103687"/>
          </a:xfrm>
          <a:prstGeom prst="leftBrace">
            <a:avLst>
              <a:gd name="adj1" fmla="val 203321"/>
              <a:gd name="adj2" fmla="val 50000"/>
            </a:avLst>
          </a:pr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0733" name="Text Box 17"/>
          <p:cNvSpPr txBox="1">
            <a:spLocks noChangeArrowheads="1"/>
          </p:cNvSpPr>
          <p:nvPr/>
        </p:nvSpPr>
        <p:spPr bwMode="auto">
          <a:xfrm>
            <a:off x="4213225" y="5675313"/>
            <a:ext cx="776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宋体" panose="02010600030101010101" pitchFamily="2" charset="-122"/>
              </a:rPr>
              <a:t>rst6</a:t>
            </a:r>
            <a:endParaRPr kumimoji="1" lang="en-US" altLang="zh-CN" sz="2400">
              <a:latin typeface="Times New Roman" panose="02020603050405020304" pitchFamily="18" charset="0"/>
              <a:ea typeface="宋体" panose="02010600030101010101" pitchFamily="2" charset="-122"/>
            </a:endParaRPr>
          </a:p>
        </p:txBody>
      </p:sp>
      <p:sp>
        <p:nvSpPr>
          <p:cNvPr id="30734" name="标题 1"/>
          <p:cNvSpPr>
            <a:spLocks noGrp="1" noChangeArrowheads="1"/>
          </p:cNvSpPr>
          <p:nvPr>
            <p:ph type="title"/>
          </p:nvPr>
        </p:nvSpPr>
        <p:spPr/>
        <p:txBody>
          <a:bodyPr/>
          <a:lstStyle/>
          <a:p>
            <a:r>
              <a:rPr lang="zh-CN" altLang="en-US"/>
              <a:t>应用后缀表示计算表达式的值</a:t>
            </a:r>
            <a:endParaRPr lang="zh-CN" altLang="en-US"/>
          </a:p>
        </p:txBody>
      </p:sp>
      <p:sp>
        <p:nvSpPr>
          <p:cNvPr id="3" name="内容占位符 2"/>
          <p:cNvSpPr>
            <a:spLocks noGrp="1"/>
          </p:cNvSpPr>
          <p:nvPr>
            <p:ph idx="1"/>
          </p:nvPr>
        </p:nvSpPr>
        <p:spPr>
          <a:xfrm>
            <a:off x="628650" y="1825625"/>
            <a:ext cx="7886700" cy="2822575"/>
          </a:xfrm>
        </p:spPr>
        <p:txBody>
          <a:bodyPr>
            <a:normAutofit fontScale="92500" lnSpcReduction="20000"/>
          </a:bodyPr>
          <a:lstStyle/>
          <a:p>
            <a:pPr>
              <a:defRPr/>
            </a:pPr>
            <a:r>
              <a:rPr lang="zh-CN" altLang="en-US" dirty="0"/>
              <a:t>从左向右顺序地扫描表达式，并用一个栈暂存扫描到的操作数或计算结果。</a:t>
            </a:r>
            <a:endParaRPr lang="zh-CN" altLang="en-US" dirty="0"/>
          </a:p>
          <a:p>
            <a:pPr>
              <a:defRPr/>
            </a:pPr>
            <a:r>
              <a:rPr lang="zh-CN" altLang="en-US" dirty="0"/>
              <a:t>在后缀表达式的计算顺序中已隐含了加括号的优先次序，括号在后缀表达式中不出现。</a:t>
            </a:r>
            <a:endParaRPr lang="zh-CN" altLang="en-US" dirty="0"/>
          </a:p>
          <a:p>
            <a:pPr>
              <a:defRPr/>
            </a:pPr>
            <a:r>
              <a:rPr lang="zh-CN" altLang="en-US" dirty="0"/>
              <a:t>计算例  </a:t>
            </a:r>
            <a:r>
              <a:rPr lang="en-US" altLang="zh-CN" dirty="0"/>
              <a:t>a b c d - * + e f ^ g / -</a:t>
            </a:r>
            <a:endParaRPr lang="en-US" altLang="zh-CN"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r>
              <a:rPr lang="zh-CN" altLang="en-US"/>
              <a:t>通过后缀表示计算表达式值的过程</a:t>
            </a:r>
            <a:endParaRPr lang="zh-CN" altLang="en-US"/>
          </a:p>
        </p:txBody>
      </p:sp>
      <p:sp>
        <p:nvSpPr>
          <p:cNvPr id="32771" name="内容占位符 2"/>
          <p:cNvSpPr>
            <a:spLocks noGrp="1" noChangeArrowheads="1"/>
          </p:cNvSpPr>
          <p:nvPr>
            <p:ph idx="1"/>
          </p:nvPr>
        </p:nvSpPr>
        <p:spPr/>
        <p:txBody>
          <a:bodyPr/>
          <a:lstStyle/>
          <a:p>
            <a:r>
              <a:rPr lang="zh-CN" altLang="en-US" dirty="0"/>
              <a:t>顺序扫描表达式的每一项，根据它的类型做如下相应操作：</a:t>
            </a:r>
            <a:endParaRPr lang="zh-CN" altLang="en-US" dirty="0"/>
          </a:p>
          <a:p>
            <a:pPr lvl="1"/>
            <a:r>
              <a:rPr lang="zh-CN" altLang="en-US" dirty="0"/>
              <a:t>若该项是操作数，则将其压栈；</a:t>
            </a:r>
            <a:endParaRPr lang="zh-CN" altLang="en-US" dirty="0"/>
          </a:p>
          <a:p>
            <a:pPr lvl="1"/>
            <a:r>
              <a:rPr lang="zh-CN" altLang="en-US" dirty="0"/>
              <a:t>若该项是操作符</a:t>
            </a:r>
            <a:r>
              <a:rPr lang="en-US" altLang="zh-CN" dirty="0"/>
              <a:t>&lt;op&gt;</a:t>
            </a:r>
            <a:r>
              <a:rPr lang="zh-CN" altLang="en-US" dirty="0"/>
              <a:t>，则连续从栈中退出两个操作数</a:t>
            </a:r>
            <a:r>
              <a:rPr lang="en-US" altLang="zh-CN" dirty="0"/>
              <a:t>Y</a:t>
            </a:r>
            <a:r>
              <a:rPr lang="zh-CN" altLang="en-US" dirty="0"/>
              <a:t>和</a:t>
            </a:r>
            <a:r>
              <a:rPr lang="en-US" altLang="zh-CN" dirty="0"/>
              <a:t>X</a:t>
            </a:r>
            <a:r>
              <a:rPr lang="zh-CN" altLang="en-US" dirty="0"/>
              <a:t>，形成运算指令</a:t>
            </a:r>
            <a:r>
              <a:rPr lang="en-US" altLang="zh-CN" dirty="0"/>
              <a:t>X&lt;op&gt;Y</a:t>
            </a:r>
            <a:r>
              <a:rPr lang="zh-CN" altLang="en-US" dirty="0"/>
              <a:t>，并将计算结果重新压栈。</a:t>
            </a:r>
            <a:endParaRPr lang="zh-CN" altLang="en-US" dirty="0"/>
          </a:p>
          <a:p>
            <a:pPr lvl="1"/>
            <a:r>
              <a:rPr lang="zh-CN" altLang="en-US" dirty="0"/>
              <a:t>当表达式的所有项都扫描并处理完后，栈顶存放的就是最后的计算结果。</a:t>
            </a:r>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5"/>
          <p:cNvGraphicFramePr>
            <a:graphicFrameLocks noChangeAspect="1"/>
          </p:cNvGraphicFramePr>
          <p:nvPr/>
        </p:nvGraphicFramePr>
        <p:xfrm>
          <a:off x="635000" y="546100"/>
          <a:ext cx="7632700" cy="5810250"/>
        </p:xfrm>
        <a:graphic>
          <a:graphicData uri="http://schemas.openxmlformats.org/presentationml/2006/ole">
            <mc:AlternateContent xmlns:mc="http://schemas.openxmlformats.org/markup-compatibility/2006">
              <mc:Choice xmlns:v="urn:schemas-microsoft-com:vml" Requires="v">
                <p:oleObj spid="_x0000_s2" name="Document" r:id="rId1" imgW="7768590" imgH="7683500" progId="Word.Document.8">
                  <p:embed/>
                </p:oleObj>
              </mc:Choice>
              <mc:Fallback>
                <p:oleObj name="Document" r:id="rId1" imgW="7768590" imgH="7683500" progId="Word.Document.8">
                  <p:embed/>
                  <p:pic>
                    <p:nvPicPr>
                      <p:cNvPr id="0" name="Object 5"/>
                      <p:cNvPicPr>
                        <a:picLocks noChangeAspect="1" noChangeArrowheads="1"/>
                      </p:cNvPicPr>
                      <p:nvPr/>
                    </p:nvPicPr>
                    <p:blipFill>
                      <a:blip r:embed="rId2"/>
                      <a:srcRect/>
                      <a:stretch>
                        <a:fillRect/>
                      </a:stretch>
                    </p:blipFill>
                    <p:spPr bwMode="auto">
                      <a:xfrm>
                        <a:off x="635000" y="546100"/>
                        <a:ext cx="7632700" cy="5810250"/>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Object 3"/>
          <p:cNvGraphicFramePr>
            <a:graphicFrameLocks noChangeAspect="1"/>
          </p:cNvGraphicFramePr>
          <p:nvPr/>
        </p:nvGraphicFramePr>
        <p:xfrm>
          <a:off x="711200" y="647700"/>
          <a:ext cx="7632700" cy="5949652"/>
        </p:xfrm>
        <a:graphic>
          <a:graphicData uri="http://schemas.openxmlformats.org/presentationml/2006/ole">
            <mc:AlternateContent xmlns:mc="http://schemas.openxmlformats.org/markup-compatibility/2006">
              <mc:Choice xmlns:v="urn:schemas-microsoft-com:vml" Requires="v">
                <p:oleObj spid="_x0000_s2" name="Document" r:id="rId1" imgW="7768590" imgH="6459220" progId="Word.Document.8">
                  <p:embed/>
                </p:oleObj>
              </mc:Choice>
              <mc:Fallback>
                <p:oleObj name="Document" r:id="rId1" imgW="7768590" imgH="6459220" progId="Word.Document.8">
                  <p:embed/>
                  <p:pic>
                    <p:nvPicPr>
                      <p:cNvPr id="0" name="Object 3"/>
                      <p:cNvPicPr>
                        <a:picLocks noChangeAspect="1" noChangeArrowheads="1"/>
                      </p:cNvPicPr>
                      <p:nvPr/>
                    </p:nvPicPr>
                    <p:blipFill>
                      <a:blip r:embed="rId2"/>
                      <a:srcRect/>
                      <a:stretch>
                        <a:fillRect/>
                      </a:stretch>
                    </p:blipFill>
                    <p:spPr bwMode="auto">
                      <a:xfrm>
                        <a:off x="711200" y="647700"/>
                        <a:ext cx="7632700" cy="5949652"/>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92150"/>
            <a:ext cx="7886700" cy="5484813"/>
          </a:xfrm>
        </p:spPr>
        <p:txBody>
          <a:bodyPr>
            <a:normAutofit fontScale="70000" lnSpcReduction="20000"/>
          </a:bodyPr>
          <a:lstStyle/>
          <a:p>
            <a:pPr marL="0" indent="0">
              <a:buFont typeface="Arial" panose="020B0604020202020204" pitchFamily="34" charset="0"/>
              <a:buNone/>
              <a:defRPr/>
            </a:pPr>
            <a:r>
              <a:rPr lang="en-US" altLang="zh-CN" dirty="0"/>
              <a:t>void Calculator :: Run ( ) {</a:t>
            </a:r>
            <a:endParaRPr lang="en-US" altLang="zh-CN" dirty="0"/>
          </a:p>
          <a:p>
            <a:pPr marL="0" indent="0">
              <a:buFont typeface="Arial" panose="020B0604020202020204" pitchFamily="34" charset="0"/>
              <a:buNone/>
              <a:defRPr/>
            </a:pPr>
            <a:r>
              <a:rPr lang="en-US" altLang="zh-CN" dirty="0"/>
              <a:t>   char </a:t>
            </a:r>
            <a:r>
              <a:rPr lang="en-US" altLang="zh-CN" dirty="0" err="1"/>
              <a:t>ch</a:t>
            </a:r>
            <a:r>
              <a:rPr lang="en-US" altLang="zh-CN" dirty="0"/>
              <a:t>;   double </a:t>
            </a:r>
            <a:r>
              <a:rPr lang="en-US" altLang="zh-CN" dirty="0" err="1"/>
              <a:t>newoperand</a:t>
            </a:r>
            <a:r>
              <a:rPr lang="en-US" altLang="zh-CN" dirty="0"/>
              <a:t>;</a:t>
            </a:r>
            <a:endParaRPr lang="en-US" altLang="zh-CN" dirty="0"/>
          </a:p>
          <a:p>
            <a:pPr marL="0" indent="0">
              <a:buFont typeface="Arial" panose="020B0604020202020204" pitchFamily="34" charset="0"/>
              <a:buNone/>
              <a:defRPr/>
            </a:pPr>
            <a:r>
              <a:rPr lang="en-US" altLang="zh-CN" dirty="0"/>
              <a:t>   while ( </a:t>
            </a:r>
            <a:r>
              <a:rPr lang="en-US" altLang="zh-CN" dirty="0" err="1"/>
              <a:t>cin</a:t>
            </a:r>
            <a:r>
              <a:rPr lang="en-US" altLang="zh-CN" dirty="0"/>
              <a:t> &gt;&gt; </a:t>
            </a:r>
            <a:r>
              <a:rPr lang="en-US" altLang="zh-CN" dirty="0" err="1"/>
              <a:t>ch</a:t>
            </a:r>
            <a:r>
              <a:rPr lang="en-US" altLang="zh-CN" dirty="0"/>
              <a:t>,  </a:t>
            </a:r>
            <a:r>
              <a:rPr lang="en-US" altLang="zh-CN" dirty="0" err="1"/>
              <a:t>ch</a:t>
            </a:r>
            <a:r>
              <a:rPr lang="en-US" altLang="zh-CN" dirty="0"/>
              <a:t> != ‘#’ ) { </a:t>
            </a:r>
            <a:endParaRPr lang="en-US" altLang="zh-CN" dirty="0"/>
          </a:p>
          <a:p>
            <a:pPr marL="0" indent="0">
              <a:buFont typeface="Arial" panose="020B0604020202020204" pitchFamily="34" charset="0"/>
              <a:buNone/>
              <a:defRPr/>
            </a:pPr>
            <a:r>
              <a:rPr lang="en-US" altLang="zh-CN" dirty="0"/>
              <a:t>      switch ( </a:t>
            </a:r>
            <a:r>
              <a:rPr lang="en-US" altLang="zh-CN" dirty="0" err="1"/>
              <a:t>ch</a:t>
            </a:r>
            <a:r>
              <a:rPr lang="en-US" altLang="zh-CN" dirty="0"/>
              <a:t> ) {</a:t>
            </a:r>
            <a:endParaRPr lang="en-US" altLang="zh-CN" dirty="0"/>
          </a:p>
          <a:p>
            <a:pPr marL="0" indent="0">
              <a:buFont typeface="Arial" panose="020B0604020202020204" pitchFamily="34" charset="0"/>
              <a:buNone/>
              <a:defRPr/>
            </a:pPr>
            <a:r>
              <a:rPr lang="en-US" altLang="zh-CN" dirty="0"/>
              <a:t>        case ‘+’ :  case ‘-’ :   case ‘*’ :   case ‘/’ : </a:t>
            </a:r>
            <a:endParaRPr lang="en-US" altLang="zh-CN" dirty="0"/>
          </a:p>
          <a:p>
            <a:pPr marL="0" indent="0">
              <a:buFont typeface="Arial" panose="020B0604020202020204" pitchFamily="34" charset="0"/>
              <a:buNone/>
              <a:defRPr/>
            </a:pPr>
            <a:r>
              <a:rPr lang="en-US" altLang="zh-CN" dirty="0"/>
              <a:t>	    </a:t>
            </a:r>
            <a:r>
              <a:rPr lang="en-US" altLang="zh-CN" dirty="0" err="1"/>
              <a:t>DoOperator</a:t>
            </a:r>
            <a:r>
              <a:rPr lang="en-US" altLang="zh-CN" dirty="0"/>
              <a:t> ( </a:t>
            </a:r>
            <a:r>
              <a:rPr lang="en-US" altLang="zh-CN" dirty="0" err="1"/>
              <a:t>ch</a:t>
            </a:r>
            <a:r>
              <a:rPr lang="en-US" altLang="zh-CN" dirty="0"/>
              <a:t> );  break;   //</a:t>
            </a:r>
            <a:r>
              <a:rPr lang="zh-CN" altLang="en-US" dirty="0"/>
              <a:t>计算</a:t>
            </a:r>
            <a:endParaRPr lang="zh-CN" altLang="en-US" dirty="0"/>
          </a:p>
          <a:p>
            <a:pPr marL="0" indent="0">
              <a:buFont typeface="Arial" panose="020B0604020202020204" pitchFamily="34" charset="0"/>
              <a:buNone/>
              <a:defRPr/>
            </a:pPr>
            <a:r>
              <a:rPr lang="zh-CN" altLang="en-US" dirty="0"/>
              <a:t>        </a:t>
            </a:r>
            <a:r>
              <a:rPr lang="en-US" altLang="zh-CN" dirty="0"/>
              <a:t>default :  </a:t>
            </a:r>
            <a:endParaRPr lang="en-US" altLang="zh-CN" dirty="0"/>
          </a:p>
          <a:p>
            <a:pPr marL="0" indent="0">
              <a:buFont typeface="Arial" panose="020B0604020202020204" pitchFamily="34" charset="0"/>
              <a:buNone/>
              <a:defRPr/>
            </a:pPr>
            <a:r>
              <a:rPr lang="en-US" altLang="zh-CN" dirty="0"/>
              <a:t>            </a:t>
            </a:r>
            <a:r>
              <a:rPr lang="en-US" altLang="zh-CN" dirty="0" err="1"/>
              <a:t>cin.putback</a:t>
            </a:r>
            <a:r>
              <a:rPr lang="en-US" altLang="zh-CN" dirty="0"/>
              <a:t> ( </a:t>
            </a:r>
            <a:r>
              <a:rPr lang="en-US" altLang="zh-CN" dirty="0" err="1"/>
              <a:t>ch</a:t>
            </a:r>
            <a:r>
              <a:rPr lang="en-US" altLang="zh-CN" dirty="0"/>
              <a:t> );    //</a:t>
            </a:r>
            <a:r>
              <a:rPr lang="zh-CN" altLang="en-US" dirty="0"/>
              <a:t>将字符放回输入流</a:t>
            </a:r>
            <a:endParaRPr lang="zh-CN" altLang="en-US" dirty="0"/>
          </a:p>
          <a:p>
            <a:pPr marL="0" indent="0">
              <a:buFont typeface="Arial" panose="020B0604020202020204" pitchFamily="34" charset="0"/>
              <a:buNone/>
              <a:defRPr/>
            </a:pPr>
            <a:r>
              <a:rPr lang="zh-CN" altLang="en-US" dirty="0"/>
              <a:t>            </a:t>
            </a:r>
            <a:r>
              <a:rPr lang="en-US" altLang="zh-CN" dirty="0" err="1"/>
              <a:t>cin</a:t>
            </a:r>
            <a:r>
              <a:rPr lang="en-US" altLang="zh-CN" dirty="0"/>
              <a:t> &gt;&gt; </a:t>
            </a:r>
            <a:r>
              <a:rPr lang="en-US" altLang="zh-CN" dirty="0" err="1"/>
              <a:t>newoperand</a:t>
            </a:r>
            <a:r>
              <a:rPr lang="en-US" altLang="zh-CN" dirty="0"/>
              <a:t>;  //</a:t>
            </a:r>
            <a:r>
              <a:rPr lang="zh-CN" altLang="en-US" dirty="0"/>
              <a:t>读操作数</a:t>
            </a:r>
            <a:endParaRPr lang="zh-CN" altLang="en-US" dirty="0"/>
          </a:p>
          <a:p>
            <a:pPr marL="0" indent="0">
              <a:buFont typeface="Arial" panose="020B0604020202020204" pitchFamily="34" charset="0"/>
              <a:buNone/>
              <a:defRPr/>
            </a:pPr>
            <a:r>
              <a:rPr lang="zh-CN" altLang="en-US" dirty="0"/>
              <a:t>            </a:t>
            </a:r>
            <a:r>
              <a:rPr lang="en-US" altLang="zh-CN" dirty="0" err="1"/>
              <a:t>AddOperand</a:t>
            </a:r>
            <a:r>
              <a:rPr lang="en-US" altLang="zh-CN" dirty="0"/>
              <a:t>( </a:t>
            </a:r>
            <a:r>
              <a:rPr lang="en-US" altLang="zh-CN" dirty="0" err="1"/>
              <a:t>newoperand</a:t>
            </a:r>
            <a:r>
              <a:rPr lang="en-US" altLang="zh-CN" dirty="0"/>
              <a:t> ); //</a:t>
            </a:r>
            <a:r>
              <a:rPr lang="zh-CN" altLang="en-US" dirty="0"/>
              <a:t>操作数入栈</a:t>
            </a:r>
            <a:endParaRPr lang="zh-CN" altLang="en-US" dirty="0"/>
          </a:p>
          <a:p>
            <a:pPr marL="0" indent="0">
              <a:buFont typeface="Arial" panose="020B0604020202020204" pitchFamily="34" charset="0"/>
              <a:buNone/>
              <a:defRPr/>
            </a:pPr>
            <a:r>
              <a:rPr lang="zh-CN" altLang="en-US" dirty="0"/>
              <a:t>      </a:t>
            </a:r>
            <a:r>
              <a:rPr lang="en-US" altLang="zh-CN" dirty="0"/>
              <a:t>}</a:t>
            </a:r>
            <a:endParaRPr lang="en-US" altLang="zh-CN" dirty="0"/>
          </a:p>
          <a:p>
            <a:pPr marL="0" indent="0">
              <a:buFont typeface="Arial" panose="020B0604020202020204" pitchFamily="34" charset="0"/>
              <a:buNone/>
              <a:defRPr/>
            </a:pPr>
            <a:r>
              <a:rPr lang="en-US" altLang="zh-CN" dirty="0"/>
              <a:t>   }</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92150"/>
            <a:ext cx="7886700" cy="5761038"/>
          </a:xfrm>
        </p:spPr>
        <p:txBody>
          <a:bodyPr>
            <a:normAutofit fontScale="62500" lnSpcReduction="20000"/>
          </a:bodyPr>
          <a:lstStyle/>
          <a:p>
            <a:pPr marL="0" indent="0">
              <a:buFont typeface="Arial" panose="020B0604020202020204" pitchFamily="34" charset="0"/>
              <a:buNone/>
              <a:defRPr/>
            </a:pPr>
            <a:r>
              <a:rPr lang="en-US" altLang="zh-CN" dirty="0"/>
              <a:t>void Calculator :: </a:t>
            </a:r>
            <a:r>
              <a:rPr lang="en-US" altLang="zh-CN" dirty="0" err="1"/>
              <a:t>DoOperator</a:t>
            </a:r>
            <a:r>
              <a:rPr lang="en-US" altLang="zh-CN" dirty="0"/>
              <a:t> ( char op ) {</a:t>
            </a:r>
            <a:endParaRPr lang="en-US" altLang="zh-CN" dirty="0"/>
          </a:p>
          <a:p>
            <a:pPr marL="0" indent="0">
              <a:buFont typeface="Arial" panose="020B0604020202020204" pitchFamily="34" charset="0"/>
              <a:buNone/>
              <a:defRPr/>
            </a:pPr>
            <a:r>
              <a:rPr lang="en-US" altLang="zh-CN" dirty="0"/>
              <a:t>    double left, right; bool result;</a:t>
            </a:r>
            <a:endParaRPr lang="en-US" altLang="zh-CN" dirty="0"/>
          </a:p>
          <a:p>
            <a:pPr marL="0" indent="0">
              <a:buFont typeface="Arial" panose="020B0604020202020204" pitchFamily="34" charset="0"/>
              <a:buNone/>
              <a:defRPr/>
            </a:pPr>
            <a:r>
              <a:rPr lang="en-US" altLang="zh-CN" dirty="0"/>
              <a:t>    result = Get2Operands(left, right); //</a:t>
            </a:r>
            <a:r>
              <a:rPr lang="zh-CN" altLang="en-US" dirty="0"/>
              <a:t>取得两个操作数</a:t>
            </a:r>
            <a:endParaRPr lang="en-US" altLang="zh-CN" dirty="0"/>
          </a:p>
          <a:p>
            <a:pPr marL="0" indent="0">
              <a:buFont typeface="Arial" panose="020B0604020202020204" pitchFamily="34" charset="0"/>
              <a:buNone/>
              <a:defRPr/>
            </a:pPr>
            <a:r>
              <a:rPr lang="en-US" altLang="zh-CN" dirty="0"/>
              <a:t>    if ( result == true ) </a:t>
            </a:r>
            <a:endParaRPr lang="en-US" altLang="zh-CN" dirty="0"/>
          </a:p>
          <a:p>
            <a:pPr marL="0" indent="0">
              <a:buFont typeface="Arial" panose="020B0604020202020204" pitchFamily="34" charset="0"/>
              <a:buNone/>
              <a:defRPr/>
            </a:pPr>
            <a:r>
              <a:rPr lang="en-US" altLang="zh-CN" dirty="0"/>
              <a:t>       switch ( op ) {</a:t>
            </a:r>
            <a:endParaRPr lang="en-US" altLang="zh-CN" dirty="0"/>
          </a:p>
          <a:p>
            <a:pPr marL="0" indent="0">
              <a:buFont typeface="Arial" panose="020B0604020202020204" pitchFamily="34" charset="0"/>
              <a:buNone/>
              <a:defRPr/>
            </a:pPr>
            <a:r>
              <a:rPr lang="en-US" altLang="zh-CN" dirty="0"/>
              <a:t>          case ‘+’: </a:t>
            </a:r>
            <a:r>
              <a:rPr lang="en-US" altLang="zh-CN" dirty="0" err="1"/>
              <a:t>S.Push</a:t>
            </a:r>
            <a:r>
              <a:rPr lang="en-US" altLang="zh-CN" dirty="0"/>
              <a:t> ( left + right);  break;     //</a:t>
            </a:r>
            <a:r>
              <a:rPr lang="zh-CN" altLang="en-US" dirty="0"/>
              <a:t>加</a:t>
            </a:r>
            <a:endParaRPr lang="zh-CN" altLang="en-US" dirty="0"/>
          </a:p>
          <a:p>
            <a:pPr marL="0" indent="0">
              <a:buFont typeface="Arial" panose="020B0604020202020204" pitchFamily="34" charset="0"/>
              <a:buNone/>
              <a:defRPr/>
            </a:pPr>
            <a:r>
              <a:rPr lang="zh-CN" altLang="en-US" dirty="0"/>
              <a:t>          </a:t>
            </a:r>
            <a:r>
              <a:rPr lang="en-US" altLang="zh-CN" dirty="0"/>
              <a:t>case ‘-’: </a:t>
            </a:r>
            <a:r>
              <a:rPr lang="en-US" altLang="zh-CN" dirty="0" err="1"/>
              <a:t>S.Push</a:t>
            </a:r>
            <a:r>
              <a:rPr lang="en-US" altLang="zh-CN" dirty="0"/>
              <a:t> ( left - right);  break;     //</a:t>
            </a:r>
            <a:r>
              <a:rPr lang="zh-CN" altLang="en-US" dirty="0"/>
              <a:t>减</a:t>
            </a:r>
            <a:endParaRPr lang="zh-CN" altLang="en-US" dirty="0"/>
          </a:p>
          <a:p>
            <a:pPr marL="0" indent="0">
              <a:buFont typeface="Arial" panose="020B0604020202020204" pitchFamily="34" charset="0"/>
              <a:buNone/>
              <a:defRPr/>
            </a:pPr>
            <a:r>
              <a:rPr lang="zh-CN" altLang="en-US" dirty="0"/>
              <a:t>          </a:t>
            </a:r>
            <a:r>
              <a:rPr lang="en-US" altLang="zh-CN" dirty="0"/>
              <a:t>case ‘*’: </a:t>
            </a:r>
            <a:r>
              <a:rPr lang="en-US" altLang="zh-CN" dirty="0" err="1"/>
              <a:t>S.Push</a:t>
            </a:r>
            <a:r>
              <a:rPr lang="en-US" altLang="zh-CN" dirty="0"/>
              <a:t> ( left * right);  break;      //</a:t>
            </a:r>
            <a:r>
              <a:rPr lang="zh-CN" altLang="en-US" dirty="0"/>
              <a:t>乘</a:t>
            </a:r>
            <a:endParaRPr lang="zh-CN" altLang="en-US" dirty="0"/>
          </a:p>
          <a:p>
            <a:pPr marL="0" indent="0">
              <a:buFont typeface="Arial" panose="020B0604020202020204" pitchFamily="34" charset="0"/>
              <a:buNone/>
              <a:defRPr/>
            </a:pPr>
            <a:r>
              <a:rPr lang="zh-CN" altLang="en-US" dirty="0"/>
              <a:t>          </a:t>
            </a:r>
            <a:r>
              <a:rPr lang="en-US" altLang="zh-CN" dirty="0"/>
              <a:t>case ‘/’:</a:t>
            </a:r>
            <a:endParaRPr lang="en-US" altLang="zh-CN" dirty="0"/>
          </a:p>
          <a:p>
            <a:pPr marL="0" indent="0">
              <a:buFont typeface="Arial" panose="020B0604020202020204" pitchFamily="34" charset="0"/>
              <a:buNone/>
              <a:defRPr/>
            </a:pPr>
            <a:r>
              <a:rPr lang="en-US" altLang="zh-CN" dirty="0"/>
              <a:t>                if ( right != 0.0 ) </a:t>
            </a:r>
            <a:r>
              <a:rPr lang="en-US" altLang="zh-CN" dirty="0" err="1"/>
              <a:t>S.Push</a:t>
            </a:r>
            <a:r>
              <a:rPr lang="en-US" altLang="zh-CN" dirty="0"/>
              <a:t> ( left / right); //</a:t>
            </a:r>
            <a:r>
              <a:rPr lang="zh-CN" altLang="en-US" dirty="0"/>
              <a:t>除</a:t>
            </a:r>
            <a:endParaRPr lang="zh-CN" altLang="en-US" dirty="0"/>
          </a:p>
          <a:p>
            <a:pPr marL="0" indent="0">
              <a:buFont typeface="Arial" panose="020B0604020202020204" pitchFamily="34" charset="0"/>
              <a:buNone/>
              <a:defRPr/>
            </a:pPr>
            <a:r>
              <a:rPr lang="zh-CN" altLang="en-US" dirty="0"/>
              <a:t>                </a:t>
            </a:r>
            <a:r>
              <a:rPr lang="en-US" altLang="zh-CN" dirty="0"/>
              <a:t>else {</a:t>
            </a:r>
            <a:r>
              <a:rPr lang="en-US" altLang="zh-CN" dirty="0" err="1"/>
              <a:t>cerr</a:t>
            </a:r>
            <a:r>
              <a:rPr lang="en-US" altLang="zh-CN" dirty="0"/>
              <a:t> &lt;&lt; "</a:t>
            </a:r>
            <a:r>
              <a:rPr lang="zh-CN" altLang="en-US" dirty="0"/>
              <a:t>除数为</a:t>
            </a:r>
            <a:r>
              <a:rPr lang="en-US" altLang="zh-CN" dirty="0"/>
              <a:t>0!" &lt;&lt; </a:t>
            </a:r>
            <a:r>
              <a:rPr lang="en-US" altLang="zh-CN" dirty="0" err="1"/>
              <a:t>endl</a:t>
            </a:r>
            <a:r>
              <a:rPr lang="en-US" altLang="zh-CN" dirty="0"/>
              <a:t>; Clear( ); }</a:t>
            </a:r>
            <a:endParaRPr lang="en-US" altLang="zh-CN" dirty="0"/>
          </a:p>
          <a:p>
            <a:pPr marL="0" indent="0">
              <a:buFont typeface="Arial" panose="020B0604020202020204" pitchFamily="34" charset="0"/>
              <a:buNone/>
              <a:defRPr/>
            </a:pPr>
            <a:r>
              <a:rPr lang="en-US" altLang="zh-CN" dirty="0"/>
              <a:t>                break;</a:t>
            </a:r>
            <a:endParaRPr lang="en-US" altLang="zh-CN" dirty="0"/>
          </a:p>
          <a:p>
            <a:pPr marL="0" indent="0">
              <a:buFont typeface="Arial" panose="020B0604020202020204" pitchFamily="34" charset="0"/>
              <a:buNone/>
              <a:defRPr/>
            </a:pPr>
            <a:r>
              <a:rPr lang="en-US" altLang="zh-CN" dirty="0"/>
              <a:t>       }</a:t>
            </a:r>
            <a:endParaRPr lang="en-US" altLang="zh-CN" dirty="0"/>
          </a:p>
          <a:p>
            <a:pPr marL="0" indent="0">
              <a:buFont typeface="Arial" panose="020B0604020202020204" pitchFamily="34" charset="0"/>
              <a:buNone/>
              <a:defRPr/>
            </a:pPr>
            <a:r>
              <a:rPr lang="en-US" altLang="zh-CN" dirty="0"/>
              <a:t>    else Clear( );  //</a:t>
            </a:r>
            <a:r>
              <a:rPr lang="zh-CN" altLang="en-US" dirty="0"/>
              <a:t>清空栈</a:t>
            </a:r>
            <a:r>
              <a:rPr lang="en-US" altLang="zh-CN" dirty="0"/>
              <a:t>S</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p:txBody>
          <a:bodyPr/>
          <a:lstStyle/>
          <a:p>
            <a:r>
              <a:rPr lang="zh-CN" altLang="en-US" dirty="0"/>
              <a:t>利用栈将中缀表示转换为后缀表示</a:t>
            </a:r>
            <a:endParaRPr lang="zh-CN" altLang="en-US" dirty="0"/>
          </a:p>
        </p:txBody>
      </p:sp>
      <p:sp>
        <p:nvSpPr>
          <p:cNvPr id="37891" name="内容占位符 2"/>
          <p:cNvSpPr>
            <a:spLocks noGrp="1" noChangeArrowheads="1"/>
          </p:cNvSpPr>
          <p:nvPr>
            <p:ph idx="1"/>
          </p:nvPr>
        </p:nvSpPr>
        <p:spPr/>
        <p:txBody>
          <a:bodyPr/>
          <a:lstStyle/>
          <a:p>
            <a:r>
              <a:rPr lang="zh-CN" altLang="en-US" dirty="0"/>
              <a:t>使用栈可将表达式的中缀表示转换成它的前缀表示和后缀表示。</a:t>
            </a:r>
            <a:endParaRPr lang="zh-CN" altLang="en-US" dirty="0"/>
          </a:p>
          <a:p>
            <a:r>
              <a:rPr lang="zh-CN" altLang="en-US" dirty="0"/>
              <a:t>为了实现这种转换，需要考虑各操作符的优先级。</a:t>
            </a:r>
            <a:endParaRPr lang="zh-CN" altLang="en-US"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p:txBody>
          <a:bodyPr/>
          <a:lstStyle/>
          <a:p>
            <a:r>
              <a:rPr lang="en-US" altLang="zh-CN" dirty="0"/>
              <a:t>C++</a:t>
            </a:r>
            <a:r>
              <a:rPr lang="zh-CN" altLang="en-US" dirty="0"/>
              <a:t>中操作符的优先级</a:t>
            </a:r>
            <a:endParaRPr lang="zh-CN" altLang="en-US" dirty="0"/>
          </a:p>
        </p:txBody>
      </p:sp>
      <p:sp>
        <p:nvSpPr>
          <p:cNvPr id="3" name="内容占位符 2"/>
          <p:cNvSpPr>
            <a:spLocks noGrp="1"/>
          </p:cNvSpPr>
          <p:nvPr>
            <p:ph idx="1"/>
          </p:nvPr>
        </p:nvSpPr>
        <p:spPr/>
        <p:txBody>
          <a:bodyPr>
            <a:normAutofit lnSpcReduction="10000"/>
          </a:bodyPr>
          <a:lstStyle/>
          <a:p>
            <a:pPr>
              <a:defRPr/>
            </a:pPr>
            <a:r>
              <a:rPr lang="zh-CN" altLang="en-US" dirty="0"/>
              <a:t> 单目：</a:t>
            </a:r>
            <a:r>
              <a:rPr lang="en-US" altLang="zh-CN" dirty="0"/>
              <a:t>-</a:t>
            </a:r>
            <a:r>
              <a:rPr lang="zh-CN" altLang="en-US" dirty="0"/>
              <a:t>、！</a:t>
            </a:r>
            <a:endParaRPr lang="zh-CN" altLang="en-US" dirty="0"/>
          </a:p>
          <a:p>
            <a:pPr>
              <a:defRPr/>
            </a:pPr>
            <a:r>
              <a:rPr lang="zh-CN" altLang="en-US" dirty="0"/>
              <a:t> *、</a:t>
            </a:r>
            <a:r>
              <a:rPr lang="en-US" altLang="zh-CN" dirty="0"/>
              <a:t>/</a:t>
            </a:r>
            <a:r>
              <a:rPr lang="zh-CN" altLang="en-US" dirty="0"/>
              <a:t>、</a:t>
            </a:r>
            <a:r>
              <a:rPr lang="en-US" altLang="zh-CN" dirty="0"/>
              <a:t>%	</a:t>
            </a:r>
            <a:endParaRPr lang="en-US" altLang="zh-CN" dirty="0"/>
          </a:p>
          <a:p>
            <a:pPr>
              <a:defRPr/>
            </a:pPr>
            <a:r>
              <a:rPr lang="en-US" altLang="zh-CN" dirty="0"/>
              <a:t> +</a:t>
            </a:r>
            <a:r>
              <a:rPr lang="zh-CN" altLang="en-US" dirty="0"/>
              <a:t>、</a:t>
            </a:r>
            <a:r>
              <a:rPr lang="en-US" altLang="zh-CN" dirty="0"/>
              <a:t>-	</a:t>
            </a:r>
            <a:endParaRPr lang="en-US" altLang="zh-CN" dirty="0"/>
          </a:p>
          <a:p>
            <a:pPr>
              <a:defRPr/>
            </a:pPr>
            <a:r>
              <a:rPr lang="en-US" altLang="zh-CN" dirty="0"/>
              <a:t> &lt;</a:t>
            </a:r>
            <a:r>
              <a:rPr lang="zh-CN" altLang="en-US" dirty="0"/>
              <a:t>、</a:t>
            </a:r>
            <a:r>
              <a:rPr lang="en-US" altLang="zh-CN" dirty="0"/>
              <a:t>&lt;=</a:t>
            </a:r>
            <a:r>
              <a:rPr lang="zh-CN" altLang="en-US" dirty="0"/>
              <a:t>、</a:t>
            </a:r>
            <a:r>
              <a:rPr lang="en-US" altLang="zh-CN" dirty="0"/>
              <a:t>&gt;</a:t>
            </a:r>
            <a:r>
              <a:rPr lang="zh-CN" altLang="en-US" dirty="0"/>
              <a:t>、</a:t>
            </a:r>
            <a:r>
              <a:rPr lang="en-US" altLang="zh-CN" dirty="0"/>
              <a:t>&gt;= </a:t>
            </a:r>
            <a:endParaRPr lang="en-US" altLang="zh-CN" dirty="0"/>
          </a:p>
          <a:p>
            <a:pPr>
              <a:defRPr/>
            </a:pPr>
            <a:r>
              <a:rPr lang="en-US" altLang="zh-CN" dirty="0"/>
              <a:t> ==</a:t>
            </a:r>
            <a:r>
              <a:rPr lang="zh-CN" altLang="en-US" dirty="0"/>
              <a:t>、</a:t>
            </a:r>
            <a:r>
              <a:rPr lang="en-US" altLang="zh-CN" dirty="0"/>
              <a:t>!=	</a:t>
            </a:r>
            <a:endParaRPr lang="en-US" altLang="zh-CN" dirty="0"/>
          </a:p>
          <a:p>
            <a:pPr>
              <a:defRPr/>
            </a:pPr>
            <a:r>
              <a:rPr lang="en-US" altLang="zh-CN" dirty="0"/>
              <a:t> &amp;&amp;	</a:t>
            </a:r>
            <a:endParaRPr lang="en-US" altLang="zh-CN" dirty="0"/>
          </a:p>
          <a:p>
            <a:pPr>
              <a:defRPr/>
            </a:pPr>
            <a:r>
              <a:rPr lang="en-US" altLang="zh-CN" dirty="0"/>
              <a:t> ||	 </a:t>
            </a:r>
            <a:endParaRPr lang="en-US" altLang="zh-CN"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4"/>
          <p:cNvGraphicFramePr>
            <a:graphicFrameLocks noChangeAspect="1"/>
          </p:cNvGraphicFramePr>
          <p:nvPr/>
        </p:nvGraphicFramePr>
        <p:xfrm>
          <a:off x="900113" y="1768475"/>
          <a:ext cx="7089775" cy="2279650"/>
        </p:xfrm>
        <a:graphic>
          <a:graphicData uri="http://schemas.openxmlformats.org/presentationml/2006/ole">
            <mc:AlternateContent xmlns:mc="http://schemas.openxmlformats.org/markup-compatibility/2006">
              <mc:Choice xmlns:v="urn:schemas-microsoft-com:vml" Requires="v">
                <p:oleObj spid="_x0000_s2" name="Document" r:id="rId1" imgW="6739255" imgH="2165350" progId="Word.Document.8">
                  <p:embed/>
                </p:oleObj>
              </mc:Choice>
              <mc:Fallback>
                <p:oleObj name="Document" r:id="rId1" imgW="6739255" imgH="2165350" progId="Word.Document.8">
                  <p:embed/>
                  <p:pic>
                    <p:nvPicPr>
                      <p:cNvPr id="0" name="Object 4"/>
                      <p:cNvPicPr>
                        <a:picLocks noChangeAspect="1" noChangeArrowheads="1"/>
                      </p:cNvPicPr>
                      <p:nvPr/>
                    </p:nvPicPr>
                    <p:blipFill>
                      <a:blip r:embed="rId2"/>
                      <a:srcRect/>
                      <a:stretch>
                        <a:fillRect/>
                      </a:stretch>
                    </p:blipFill>
                    <p:spPr bwMode="auto">
                      <a:xfrm>
                        <a:off x="900113" y="1768475"/>
                        <a:ext cx="7089775" cy="227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39" name="标题 1"/>
          <p:cNvSpPr>
            <a:spLocks noGrp="1" noChangeArrowheads="1"/>
          </p:cNvSpPr>
          <p:nvPr>
            <p:ph type="title"/>
          </p:nvPr>
        </p:nvSpPr>
        <p:spPr/>
        <p:txBody>
          <a:bodyPr/>
          <a:lstStyle/>
          <a:p>
            <a:r>
              <a:rPr lang="zh-CN" altLang="en-US" dirty="0"/>
              <a:t>算术操作符优先级的表示</a:t>
            </a:r>
            <a:endParaRPr lang="zh-CN" altLang="en-US" dirty="0"/>
          </a:p>
        </p:txBody>
      </p:sp>
      <p:sp>
        <p:nvSpPr>
          <p:cNvPr id="3" name="内容占位符 2"/>
          <p:cNvSpPr>
            <a:spLocks noGrp="1"/>
          </p:cNvSpPr>
          <p:nvPr>
            <p:ph idx="1"/>
          </p:nvPr>
        </p:nvSpPr>
        <p:spPr>
          <a:xfrm>
            <a:off x="628650" y="3716338"/>
            <a:ext cx="7886700" cy="2460625"/>
          </a:xfrm>
        </p:spPr>
        <p:txBody>
          <a:bodyPr>
            <a:normAutofit fontScale="85000" lnSpcReduction="20000"/>
          </a:bodyPr>
          <a:lstStyle/>
          <a:p>
            <a:pPr>
              <a:defRPr/>
            </a:pPr>
            <a:r>
              <a:rPr lang="zh-CN" altLang="en-US" dirty="0"/>
              <a:t>值越大表示优先级越高。</a:t>
            </a:r>
            <a:endParaRPr lang="en-US" altLang="zh-CN" dirty="0"/>
          </a:p>
          <a:p>
            <a:pPr>
              <a:defRPr/>
            </a:pPr>
            <a:r>
              <a:rPr lang="en-US" altLang="zh-CN" dirty="0"/>
              <a:t>isp</a:t>
            </a:r>
            <a:r>
              <a:rPr lang="zh-CN" altLang="en-US" dirty="0"/>
              <a:t>叫做栈内</a:t>
            </a:r>
            <a:r>
              <a:rPr lang="en-US" altLang="zh-CN" dirty="0"/>
              <a:t>(in stack priority)</a:t>
            </a:r>
            <a:r>
              <a:rPr lang="zh-CN" altLang="en-US" dirty="0"/>
              <a:t>优先数。</a:t>
            </a:r>
            <a:endParaRPr lang="zh-CN" altLang="en-US" dirty="0"/>
          </a:p>
          <a:p>
            <a:pPr>
              <a:defRPr/>
            </a:pPr>
            <a:r>
              <a:rPr lang="en-US" altLang="zh-CN" dirty="0" err="1"/>
              <a:t>icp</a:t>
            </a:r>
            <a:r>
              <a:rPr lang="zh-CN" altLang="en-US" dirty="0"/>
              <a:t>叫做栈外</a:t>
            </a:r>
            <a:r>
              <a:rPr lang="en-US" altLang="zh-CN" dirty="0"/>
              <a:t>(in coming priority)</a:t>
            </a:r>
            <a:r>
              <a:rPr lang="zh-CN" altLang="en-US" dirty="0"/>
              <a:t>优先数。</a:t>
            </a:r>
            <a:endParaRPr lang="zh-CN" altLang="en-US" dirty="0"/>
          </a:p>
          <a:p>
            <a:pPr>
              <a:defRPr/>
            </a:pPr>
            <a:r>
              <a:rPr lang="zh-CN" altLang="en-US" dirty="0"/>
              <a:t>操作符优先数相等的情况只出现在括号配对或栈底的‘</a:t>
            </a:r>
            <a:r>
              <a:rPr lang="en-US" altLang="zh-CN" dirty="0"/>
              <a:t>#’</a:t>
            </a:r>
            <a:r>
              <a:rPr lang="zh-CN" altLang="en-US" dirty="0"/>
              <a:t>号与输入流最后的‘</a:t>
            </a:r>
            <a:r>
              <a:rPr lang="en-US" altLang="zh-CN" dirty="0"/>
              <a:t>#’</a:t>
            </a:r>
            <a:r>
              <a:rPr lang="zh-CN" altLang="en-US" dirty="0"/>
              <a:t>号配对时。</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p:txBody>
          <a:bodyPr/>
          <a:lstStyle/>
          <a:p>
            <a:r>
              <a:rPr lang="zh-CN" altLang="en-US"/>
              <a:t>中缀表达式转换为后缀表达式的算法</a:t>
            </a:r>
            <a:endParaRPr lang="zh-CN" altLang="en-US"/>
          </a:p>
        </p:txBody>
      </p:sp>
      <p:sp>
        <p:nvSpPr>
          <p:cNvPr id="3" name="内容占位符 2"/>
          <p:cNvSpPr>
            <a:spLocks noGrp="1"/>
          </p:cNvSpPr>
          <p:nvPr>
            <p:ph idx="1"/>
          </p:nvPr>
        </p:nvSpPr>
        <p:spPr/>
        <p:txBody>
          <a:bodyPr>
            <a:normAutofit fontScale="70000" lnSpcReduction="20000"/>
          </a:bodyPr>
          <a:lstStyle/>
          <a:p>
            <a:pPr>
              <a:defRPr/>
            </a:pPr>
            <a:r>
              <a:rPr lang="zh-CN" altLang="en-US" dirty="0"/>
              <a:t>操作符栈初始化，将结束符‘</a:t>
            </a:r>
            <a:r>
              <a:rPr lang="en-US" altLang="zh-CN" dirty="0"/>
              <a:t>#’</a:t>
            </a:r>
            <a:r>
              <a:rPr lang="zh-CN" altLang="en-US" dirty="0"/>
              <a:t>进栈。然后读入中缀表达式字符流的首字符</a:t>
            </a:r>
            <a:r>
              <a:rPr lang="en-US" altLang="zh-CN" dirty="0" err="1"/>
              <a:t>ch</a:t>
            </a:r>
            <a:r>
              <a:rPr lang="zh-CN" altLang="en-US" dirty="0"/>
              <a:t>。</a:t>
            </a:r>
            <a:endParaRPr lang="zh-CN" altLang="en-US" dirty="0"/>
          </a:p>
          <a:p>
            <a:pPr>
              <a:defRPr/>
            </a:pPr>
            <a:r>
              <a:rPr lang="zh-CN" altLang="en-US" dirty="0"/>
              <a:t>重复执行以下步骤，直到</a:t>
            </a:r>
            <a:r>
              <a:rPr lang="en-US" altLang="zh-CN" dirty="0" err="1"/>
              <a:t>ch</a:t>
            </a:r>
            <a:r>
              <a:rPr lang="en-US" altLang="zh-CN" dirty="0"/>
              <a:t> = ‘#’</a:t>
            </a:r>
            <a:r>
              <a:rPr lang="zh-CN" altLang="en-US" dirty="0"/>
              <a:t>，同时栈顶的操作符也是‘</a:t>
            </a:r>
            <a:r>
              <a:rPr lang="en-US" altLang="zh-CN" dirty="0"/>
              <a:t>#’</a:t>
            </a:r>
            <a:r>
              <a:rPr lang="zh-CN" altLang="en-US" dirty="0"/>
              <a:t>，停止循环。</a:t>
            </a:r>
            <a:endParaRPr lang="zh-CN" altLang="en-US" dirty="0"/>
          </a:p>
          <a:p>
            <a:pPr>
              <a:defRPr/>
            </a:pPr>
            <a:r>
              <a:rPr lang="zh-CN" altLang="en-US" dirty="0"/>
              <a:t>若</a:t>
            </a:r>
            <a:r>
              <a:rPr lang="en-US" altLang="zh-CN" dirty="0" err="1"/>
              <a:t>ch</a:t>
            </a:r>
            <a:r>
              <a:rPr lang="zh-CN" altLang="en-US" dirty="0"/>
              <a:t>是操作数直接输出，读入下一个字符</a:t>
            </a:r>
            <a:r>
              <a:rPr lang="en-US" altLang="zh-CN" dirty="0" err="1"/>
              <a:t>ch</a:t>
            </a:r>
            <a:r>
              <a:rPr lang="zh-CN" altLang="en-US" dirty="0"/>
              <a:t>。</a:t>
            </a:r>
            <a:endParaRPr lang="zh-CN" altLang="en-US" dirty="0"/>
          </a:p>
          <a:p>
            <a:pPr>
              <a:defRPr/>
            </a:pPr>
            <a:r>
              <a:rPr lang="zh-CN" altLang="en-US" dirty="0"/>
              <a:t>若</a:t>
            </a:r>
            <a:r>
              <a:rPr lang="en-US" altLang="zh-CN" dirty="0" err="1"/>
              <a:t>ch</a:t>
            </a:r>
            <a:r>
              <a:rPr lang="zh-CN" altLang="en-US" dirty="0"/>
              <a:t>是操作符，判断</a:t>
            </a:r>
            <a:r>
              <a:rPr lang="en-US" altLang="zh-CN" dirty="0" err="1"/>
              <a:t>ch</a:t>
            </a:r>
            <a:r>
              <a:rPr lang="zh-CN" altLang="en-US" dirty="0"/>
              <a:t>的优先级</a:t>
            </a:r>
            <a:r>
              <a:rPr lang="en-US" altLang="zh-CN" dirty="0" err="1"/>
              <a:t>icp</a:t>
            </a:r>
            <a:r>
              <a:rPr lang="zh-CN" altLang="en-US" dirty="0"/>
              <a:t>和位于栈顶的操作符</a:t>
            </a:r>
            <a:r>
              <a:rPr lang="en-US" altLang="zh-CN" dirty="0"/>
              <a:t>op</a:t>
            </a:r>
            <a:r>
              <a:rPr lang="zh-CN" altLang="en-US" dirty="0"/>
              <a:t>的优先级</a:t>
            </a:r>
            <a:r>
              <a:rPr lang="en-US" altLang="zh-CN" dirty="0" err="1"/>
              <a:t>isp</a:t>
            </a:r>
            <a:r>
              <a:rPr lang="zh-CN" altLang="en-US" dirty="0"/>
              <a:t>：</a:t>
            </a:r>
            <a:endParaRPr lang="en-US" altLang="zh-CN" dirty="0"/>
          </a:p>
          <a:p>
            <a:pPr lvl="1">
              <a:defRPr/>
            </a:pPr>
            <a:r>
              <a:rPr lang="zh-CN" altLang="en-US" dirty="0"/>
              <a:t>若 </a:t>
            </a:r>
            <a:r>
              <a:rPr lang="en-US" altLang="zh-CN" dirty="0" err="1"/>
              <a:t>icp</a:t>
            </a:r>
            <a:r>
              <a:rPr lang="en-US" altLang="zh-CN" dirty="0"/>
              <a:t> (</a:t>
            </a:r>
            <a:r>
              <a:rPr lang="en-US" altLang="zh-CN" dirty="0" err="1"/>
              <a:t>ch</a:t>
            </a:r>
            <a:r>
              <a:rPr lang="en-US" altLang="zh-CN" dirty="0"/>
              <a:t>) &gt; </a:t>
            </a:r>
            <a:r>
              <a:rPr lang="en-US" altLang="zh-CN" dirty="0" err="1"/>
              <a:t>isp</a:t>
            </a:r>
            <a:r>
              <a:rPr lang="en-US" altLang="zh-CN" dirty="0"/>
              <a:t> (op)</a:t>
            </a:r>
            <a:r>
              <a:rPr lang="zh-CN" altLang="en-US" dirty="0"/>
              <a:t>，令</a:t>
            </a:r>
            <a:r>
              <a:rPr lang="en-US" altLang="zh-CN" dirty="0" err="1"/>
              <a:t>ch</a:t>
            </a:r>
            <a:r>
              <a:rPr lang="zh-CN" altLang="en-US" dirty="0"/>
              <a:t>进栈，读入下一个字符</a:t>
            </a:r>
            <a:r>
              <a:rPr lang="en-US" altLang="zh-CN" dirty="0" err="1"/>
              <a:t>ch</a:t>
            </a:r>
            <a:r>
              <a:rPr lang="zh-CN" altLang="en-US" dirty="0"/>
              <a:t>。</a:t>
            </a:r>
            <a:endParaRPr lang="zh-CN" altLang="en-US" dirty="0"/>
          </a:p>
          <a:p>
            <a:pPr lvl="1">
              <a:defRPr/>
            </a:pPr>
            <a:r>
              <a:rPr lang="zh-CN" altLang="en-US" dirty="0"/>
              <a:t>若 </a:t>
            </a:r>
            <a:r>
              <a:rPr lang="en-US" altLang="zh-CN" dirty="0" err="1"/>
              <a:t>icp</a:t>
            </a:r>
            <a:r>
              <a:rPr lang="en-US" altLang="zh-CN" dirty="0"/>
              <a:t> (</a:t>
            </a:r>
            <a:r>
              <a:rPr lang="en-US" altLang="zh-CN" dirty="0" err="1"/>
              <a:t>ch</a:t>
            </a:r>
            <a:r>
              <a:rPr lang="en-US" altLang="zh-CN" dirty="0"/>
              <a:t>) &lt; </a:t>
            </a:r>
            <a:r>
              <a:rPr lang="en-US" altLang="zh-CN" dirty="0" err="1"/>
              <a:t>isp</a:t>
            </a:r>
            <a:r>
              <a:rPr lang="en-US" altLang="zh-CN" dirty="0"/>
              <a:t> (op)</a:t>
            </a:r>
            <a:r>
              <a:rPr lang="zh-CN" altLang="en-US" dirty="0"/>
              <a:t>，退栈并输出。</a:t>
            </a:r>
            <a:endParaRPr lang="zh-CN" altLang="en-US" dirty="0"/>
          </a:p>
          <a:p>
            <a:pPr lvl="1">
              <a:defRPr/>
            </a:pPr>
            <a:r>
              <a:rPr lang="zh-CN" altLang="en-US" dirty="0"/>
              <a:t>若 </a:t>
            </a:r>
            <a:r>
              <a:rPr lang="en-US" altLang="zh-CN" dirty="0" err="1"/>
              <a:t>icp</a:t>
            </a:r>
            <a:r>
              <a:rPr lang="en-US" altLang="zh-CN" dirty="0"/>
              <a:t> (</a:t>
            </a:r>
            <a:r>
              <a:rPr lang="en-US" altLang="zh-CN" dirty="0" err="1"/>
              <a:t>ch</a:t>
            </a:r>
            <a:r>
              <a:rPr lang="en-US" altLang="zh-CN" dirty="0"/>
              <a:t>) == </a:t>
            </a:r>
            <a:r>
              <a:rPr lang="en-US" altLang="zh-CN" dirty="0" err="1"/>
              <a:t>isp</a:t>
            </a:r>
            <a:r>
              <a:rPr lang="en-US" altLang="zh-CN" dirty="0"/>
              <a:t> (op)</a:t>
            </a:r>
            <a:r>
              <a:rPr lang="zh-CN" altLang="en-US" dirty="0"/>
              <a:t>，退栈但不输出，若退出的是‘</a:t>
            </a:r>
            <a:r>
              <a:rPr lang="en-US" altLang="zh-CN" dirty="0"/>
              <a:t>(’</a:t>
            </a:r>
            <a:r>
              <a:rPr lang="zh-CN" altLang="en-US" dirty="0"/>
              <a:t>号读入下一个字符</a:t>
            </a:r>
            <a:r>
              <a:rPr lang="en-US" altLang="zh-CN" dirty="0" err="1"/>
              <a:t>ch</a:t>
            </a:r>
            <a:r>
              <a:rPr lang="zh-CN" altLang="en-US" dirty="0"/>
              <a:t>。</a:t>
            </a:r>
            <a:endParaRPr lang="zh-CN" altLang="en-US" dirty="0"/>
          </a:p>
          <a:p>
            <a:pPr>
              <a:defRPr/>
            </a:pPr>
            <a:r>
              <a:rPr lang="zh-CN" altLang="en-US" dirty="0"/>
              <a:t>算法结束，输出序列即为所需的后缀表达式。</a:t>
            </a:r>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0825" y="620713"/>
            <a:ext cx="8713788" cy="5688012"/>
          </a:xfrm>
        </p:spPr>
        <p:txBody>
          <a:bodyPr>
            <a:normAutofit fontScale="70000" lnSpcReduction="20000"/>
          </a:bodyPr>
          <a:lstStyle/>
          <a:p>
            <a:pPr marL="0" indent="0">
              <a:buFont typeface="Arial" panose="020B0604020202020204" pitchFamily="34" charset="0"/>
              <a:buNone/>
              <a:defRPr/>
            </a:pPr>
            <a:r>
              <a:rPr lang="en-US" altLang="zh-CN" dirty="0"/>
              <a:t>void postfix ( ) {</a:t>
            </a:r>
            <a:endParaRPr lang="en-US" altLang="zh-CN" dirty="0"/>
          </a:p>
          <a:p>
            <a:pPr marL="0" indent="0">
              <a:buFont typeface="Arial" panose="020B0604020202020204" pitchFamily="34" charset="0"/>
              <a:buNone/>
              <a:defRPr/>
            </a:pPr>
            <a:r>
              <a:rPr lang="en-US" altLang="zh-CN" dirty="0"/>
              <a:t>	Stack&lt;char&gt; s;   char </a:t>
            </a:r>
            <a:r>
              <a:rPr lang="en-US" altLang="zh-CN" dirty="0" err="1"/>
              <a:t>ch</a:t>
            </a:r>
            <a:r>
              <a:rPr lang="en-US" altLang="zh-CN" dirty="0"/>
              <a:t>=‘#’, ch1, op;</a:t>
            </a:r>
            <a:endParaRPr lang="en-US" altLang="zh-CN" dirty="0"/>
          </a:p>
          <a:p>
            <a:pPr marL="0" indent="0">
              <a:buFont typeface="Arial" panose="020B0604020202020204" pitchFamily="34" charset="0"/>
              <a:buNone/>
              <a:defRPr/>
            </a:pPr>
            <a:r>
              <a:rPr lang="en-US" altLang="zh-CN" dirty="0"/>
              <a:t>	</a:t>
            </a:r>
            <a:r>
              <a:rPr lang="en-US" altLang="zh-CN" dirty="0" err="1"/>
              <a:t>s.Push</a:t>
            </a:r>
            <a:r>
              <a:rPr lang="en-US" altLang="zh-CN" dirty="0"/>
              <a:t> ( </a:t>
            </a:r>
            <a:r>
              <a:rPr lang="en-US" altLang="zh-CN" dirty="0" err="1"/>
              <a:t>ch</a:t>
            </a:r>
            <a:r>
              <a:rPr lang="en-US" altLang="zh-CN" dirty="0"/>
              <a:t> );	  </a:t>
            </a:r>
            <a:r>
              <a:rPr lang="en-US" altLang="zh-CN" dirty="0" err="1"/>
              <a:t>cin</a:t>
            </a:r>
            <a:r>
              <a:rPr lang="en-US" altLang="zh-CN" dirty="0"/>
              <a:t> &gt;&gt; </a:t>
            </a:r>
            <a:r>
              <a:rPr lang="en-US" altLang="zh-CN" dirty="0" err="1"/>
              <a:t>ch</a:t>
            </a:r>
            <a:r>
              <a:rPr lang="en-US" altLang="zh-CN" dirty="0"/>
              <a:t> ;</a:t>
            </a:r>
            <a:endParaRPr lang="en-US" altLang="zh-CN" dirty="0"/>
          </a:p>
          <a:p>
            <a:pPr marL="0" indent="0">
              <a:buFont typeface="Arial" panose="020B0604020202020204" pitchFamily="34" charset="0"/>
              <a:buNone/>
              <a:defRPr/>
            </a:pPr>
            <a:r>
              <a:rPr lang="en-US" altLang="zh-CN" dirty="0"/>
              <a:t>	while ( </a:t>
            </a:r>
            <a:r>
              <a:rPr lang="en-US" altLang="zh-CN" dirty="0" err="1"/>
              <a:t>s.IsEmpty</a:t>
            </a:r>
            <a:r>
              <a:rPr lang="en-US" altLang="zh-CN" dirty="0"/>
              <a:t>( ) == false || </a:t>
            </a:r>
            <a:r>
              <a:rPr lang="en-US" altLang="zh-CN" dirty="0" err="1"/>
              <a:t>ch</a:t>
            </a:r>
            <a:r>
              <a:rPr lang="en-US" altLang="zh-CN" dirty="0"/>
              <a:t> != ‘#' )</a:t>
            </a:r>
            <a:endParaRPr lang="en-US" altLang="zh-CN" dirty="0"/>
          </a:p>
          <a:p>
            <a:pPr marL="0" indent="0">
              <a:buFont typeface="Arial" panose="020B0604020202020204" pitchFamily="34" charset="0"/>
              <a:buNone/>
              <a:defRPr/>
            </a:pPr>
            <a:r>
              <a:rPr lang="en-US" altLang="zh-CN" dirty="0"/>
              <a:t>            if ( </a:t>
            </a:r>
            <a:r>
              <a:rPr lang="en-US" altLang="zh-CN" dirty="0" err="1"/>
              <a:t>isdigit</a:t>
            </a:r>
            <a:r>
              <a:rPr lang="en-US" altLang="zh-CN" dirty="0"/>
              <a:t> ( </a:t>
            </a:r>
            <a:r>
              <a:rPr lang="en-US" altLang="zh-CN" dirty="0" err="1"/>
              <a:t>ch</a:t>
            </a:r>
            <a:r>
              <a:rPr lang="en-US" altLang="zh-CN" dirty="0"/>
              <a:t> ) )    { </a:t>
            </a:r>
            <a:r>
              <a:rPr lang="en-US" altLang="zh-CN" dirty="0" err="1"/>
              <a:t>cout</a:t>
            </a:r>
            <a:r>
              <a:rPr lang="en-US" altLang="zh-CN" dirty="0"/>
              <a:t> &lt;&lt; </a:t>
            </a:r>
            <a:r>
              <a:rPr lang="en-US" altLang="zh-CN" dirty="0" err="1"/>
              <a:t>ch</a:t>
            </a:r>
            <a:r>
              <a:rPr lang="en-US" altLang="zh-CN" dirty="0"/>
              <a:t>;  </a:t>
            </a:r>
            <a:r>
              <a:rPr lang="en-US" altLang="zh-CN" dirty="0" err="1"/>
              <a:t>cin</a:t>
            </a:r>
            <a:r>
              <a:rPr lang="en-US" altLang="zh-CN" dirty="0"/>
              <a:t> &gt;&gt; </a:t>
            </a:r>
            <a:r>
              <a:rPr lang="en-US" altLang="zh-CN" dirty="0" err="1"/>
              <a:t>ch</a:t>
            </a:r>
            <a:r>
              <a:rPr lang="en-US" altLang="zh-CN" dirty="0"/>
              <a:t>; }</a:t>
            </a:r>
            <a:endParaRPr lang="en-US" altLang="zh-CN" dirty="0"/>
          </a:p>
          <a:p>
            <a:pPr marL="0" indent="0">
              <a:buFont typeface="Arial" panose="020B0604020202020204" pitchFamily="34" charset="0"/>
              <a:buNone/>
              <a:defRPr/>
            </a:pPr>
            <a:r>
              <a:rPr lang="en-US" altLang="zh-CN" dirty="0"/>
              <a:t>            else {  </a:t>
            </a:r>
            <a:endParaRPr lang="en-US" altLang="zh-CN" dirty="0"/>
          </a:p>
          <a:p>
            <a:pPr marL="0" indent="0">
              <a:buFont typeface="Arial" panose="020B0604020202020204" pitchFamily="34" charset="0"/>
              <a:buNone/>
              <a:defRPr/>
            </a:pPr>
            <a:r>
              <a:rPr lang="en-US" altLang="zh-CN" dirty="0"/>
              <a:t>               </a:t>
            </a:r>
            <a:r>
              <a:rPr lang="en-US" altLang="zh-CN" dirty="0" err="1"/>
              <a:t>s.getTop</a:t>
            </a:r>
            <a:r>
              <a:rPr lang="en-US" altLang="zh-CN" dirty="0"/>
              <a:t>(ch1);</a:t>
            </a:r>
            <a:endParaRPr lang="en-US" altLang="zh-CN" dirty="0"/>
          </a:p>
          <a:p>
            <a:pPr marL="0" indent="0">
              <a:buFont typeface="Arial" panose="020B0604020202020204" pitchFamily="34" charset="0"/>
              <a:buNone/>
              <a:defRPr/>
            </a:pPr>
            <a:r>
              <a:rPr lang="en-US" altLang="zh-CN" dirty="0"/>
              <a:t>               if ( </a:t>
            </a:r>
            <a:r>
              <a:rPr lang="en-US" altLang="zh-CN" dirty="0" err="1"/>
              <a:t>isp</a:t>
            </a:r>
            <a:r>
              <a:rPr lang="en-US" altLang="zh-CN" dirty="0"/>
              <a:t> ( ch1 ) &lt; </a:t>
            </a:r>
            <a:r>
              <a:rPr lang="en-US" altLang="zh-CN" dirty="0" err="1"/>
              <a:t>icp</a:t>
            </a:r>
            <a:r>
              <a:rPr lang="en-US" altLang="zh-CN" dirty="0"/>
              <a:t> ( </a:t>
            </a:r>
            <a:r>
              <a:rPr lang="en-US" altLang="zh-CN" dirty="0" err="1"/>
              <a:t>ch</a:t>
            </a:r>
            <a:r>
              <a:rPr lang="en-US" altLang="zh-CN" dirty="0"/>
              <a:t> ) ) </a:t>
            </a:r>
            <a:endParaRPr lang="en-US" altLang="zh-CN" dirty="0"/>
          </a:p>
          <a:p>
            <a:pPr marL="0" indent="0">
              <a:buFont typeface="Arial" panose="020B0604020202020204" pitchFamily="34" charset="0"/>
              <a:buNone/>
              <a:defRPr/>
            </a:pPr>
            <a:r>
              <a:rPr lang="en-US" altLang="zh-CN" dirty="0"/>
              <a:t>                   { </a:t>
            </a:r>
            <a:r>
              <a:rPr lang="en-US" altLang="zh-CN" dirty="0" err="1"/>
              <a:t>s.Push</a:t>
            </a:r>
            <a:r>
              <a:rPr lang="en-US" altLang="zh-CN" dirty="0"/>
              <a:t> ( </a:t>
            </a:r>
            <a:r>
              <a:rPr lang="en-US" altLang="zh-CN" dirty="0" err="1"/>
              <a:t>ch</a:t>
            </a:r>
            <a:r>
              <a:rPr lang="en-US" altLang="zh-CN" dirty="0"/>
              <a:t> );  </a:t>
            </a:r>
            <a:r>
              <a:rPr lang="en-US" altLang="zh-CN" dirty="0" err="1"/>
              <a:t>cin</a:t>
            </a:r>
            <a:r>
              <a:rPr lang="en-US" altLang="zh-CN" dirty="0"/>
              <a:t> &gt;&gt; </a:t>
            </a:r>
            <a:r>
              <a:rPr lang="en-US" altLang="zh-CN" dirty="0" err="1"/>
              <a:t>ch</a:t>
            </a:r>
            <a:r>
              <a:rPr lang="en-US" altLang="zh-CN" dirty="0"/>
              <a:t> ; }</a:t>
            </a:r>
            <a:endParaRPr lang="en-US" altLang="zh-CN" dirty="0"/>
          </a:p>
          <a:p>
            <a:pPr marL="0" indent="0">
              <a:buFont typeface="Arial" panose="020B0604020202020204" pitchFamily="34" charset="0"/>
              <a:buNone/>
              <a:defRPr/>
            </a:pPr>
            <a:r>
              <a:rPr lang="en-US" altLang="zh-CN" dirty="0"/>
              <a:t>               else if ( </a:t>
            </a:r>
            <a:r>
              <a:rPr lang="en-US" altLang="zh-CN" dirty="0" err="1"/>
              <a:t>isp</a:t>
            </a:r>
            <a:r>
              <a:rPr lang="en-US" altLang="zh-CN" dirty="0"/>
              <a:t> ( ch1 ) &gt; </a:t>
            </a:r>
            <a:r>
              <a:rPr lang="en-US" altLang="zh-CN" dirty="0" err="1"/>
              <a:t>icp</a:t>
            </a:r>
            <a:r>
              <a:rPr lang="en-US" altLang="zh-CN" dirty="0"/>
              <a:t> ( </a:t>
            </a:r>
            <a:r>
              <a:rPr lang="en-US" altLang="zh-CN" dirty="0" err="1"/>
              <a:t>ch</a:t>
            </a:r>
            <a:r>
              <a:rPr lang="en-US" altLang="zh-CN" dirty="0"/>
              <a:t> ) ) </a:t>
            </a:r>
            <a:endParaRPr lang="en-US" altLang="zh-CN" dirty="0"/>
          </a:p>
          <a:p>
            <a:pPr marL="0" indent="0">
              <a:buFont typeface="Arial" panose="020B0604020202020204" pitchFamily="34" charset="0"/>
              <a:buNone/>
              <a:defRPr/>
            </a:pPr>
            <a:r>
              <a:rPr lang="en-US" altLang="zh-CN" dirty="0"/>
              <a:t>                   { </a:t>
            </a:r>
            <a:r>
              <a:rPr lang="en-US" altLang="zh-CN" dirty="0" err="1"/>
              <a:t>s.Pop</a:t>
            </a:r>
            <a:r>
              <a:rPr lang="en-US" altLang="zh-CN" dirty="0"/>
              <a:t>( op ); </a:t>
            </a:r>
            <a:r>
              <a:rPr lang="en-US" altLang="zh-CN" dirty="0" err="1"/>
              <a:t>cout</a:t>
            </a:r>
            <a:r>
              <a:rPr lang="en-US" altLang="zh-CN" dirty="0"/>
              <a:t> &lt;&lt; op; }</a:t>
            </a:r>
            <a:endParaRPr lang="en-US" altLang="zh-CN" dirty="0"/>
          </a:p>
          <a:p>
            <a:pPr marL="0" indent="0">
              <a:buFont typeface="Arial" panose="020B0604020202020204" pitchFamily="34" charset="0"/>
              <a:buNone/>
              <a:defRPr/>
            </a:pPr>
            <a:r>
              <a:rPr lang="en-US" altLang="zh-CN" dirty="0"/>
              <a:t>   	       else  { </a:t>
            </a:r>
            <a:r>
              <a:rPr lang="en-US" altLang="zh-CN" dirty="0" err="1"/>
              <a:t>s.Pop</a:t>
            </a:r>
            <a:r>
              <a:rPr lang="en-US" altLang="zh-CN" dirty="0"/>
              <a:t>( op );  if ( op == ‘(’ ) </a:t>
            </a:r>
            <a:r>
              <a:rPr lang="en-US" altLang="zh-CN" dirty="0" err="1"/>
              <a:t>cin</a:t>
            </a:r>
            <a:r>
              <a:rPr lang="en-US" altLang="zh-CN" dirty="0"/>
              <a:t> &gt;&gt; </a:t>
            </a:r>
            <a:r>
              <a:rPr lang="en-US" altLang="zh-CN" dirty="0" err="1"/>
              <a:t>ch</a:t>
            </a:r>
            <a:r>
              <a:rPr lang="en-US" altLang="zh-CN" dirty="0"/>
              <a:t> ; } </a:t>
            </a:r>
            <a:endParaRPr lang="en-US" altLang="zh-CN" dirty="0"/>
          </a:p>
          <a:p>
            <a:pPr marL="0" indent="0">
              <a:buFont typeface="Arial" panose="020B0604020202020204" pitchFamily="34" charset="0"/>
              <a:buNone/>
              <a:defRPr/>
            </a:pPr>
            <a:r>
              <a:rPr lang="en-US" altLang="zh-CN" dirty="0"/>
              <a:t>            }//if</a:t>
            </a:r>
            <a:endParaRPr lang="en-US" altLang="zh-CN" dirty="0"/>
          </a:p>
          <a:p>
            <a:pPr marL="0" indent="0">
              <a:buFont typeface="Arial" panose="020B0604020202020204" pitchFamily="34" charset="0"/>
              <a:buNone/>
              <a:defRPr/>
            </a:pPr>
            <a:r>
              <a:rPr lang="en-US" altLang="zh-CN" dirty="0"/>
              <a:t>}// postfix 	</a:t>
            </a:r>
            <a:endParaRPr lang="en-US" altLang="zh-CN" dirty="0"/>
          </a:p>
          <a:p>
            <a:pPr marL="0" indent="0">
              <a:buFont typeface="Arial" panose="020B0604020202020204" pitchFamily="34" charset="0"/>
              <a:buNone/>
              <a:defRPr/>
            </a:pPr>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1024"/>
          <p:cNvGraphicFramePr>
            <a:graphicFrameLocks noChangeAspect="1"/>
          </p:cNvGraphicFramePr>
          <p:nvPr/>
        </p:nvGraphicFramePr>
        <p:xfrm>
          <a:off x="467544" y="1484784"/>
          <a:ext cx="8392864" cy="6030044"/>
        </p:xfrm>
        <a:graphic>
          <a:graphicData uri="http://schemas.openxmlformats.org/presentationml/2006/ole">
            <mc:AlternateContent xmlns:mc="http://schemas.openxmlformats.org/markup-compatibility/2006">
              <mc:Choice xmlns:v="urn:schemas-microsoft-com:vml" Requires="v">
                <p:oleObj spid="_x0000_s2" name="Document" r:id="rId1" imgW="8947150" imgH="8208010" progId="Word.Document.8">
                  <p:embed/>
                </p:oleObj>
              </mc:Choice>
              <mc:Fallback>
                <p:oleObj name="Document" r:id="rId1" imgW="8947150" imgH="8208010" progId="Word.Document.8">
                  <p:embed/>
                  <p:pic>
                    <p:nvPicPr>
                      <p:cNvPr id="0" name="Object 1024"/>
                      <p:cNvPicPr>
                        <a:picLocks noChangeAspect="1" noChangeArrowheads="1"/>
                      </p:cNvPicPr>
                      <p:nvPr/>
                    </p:nvPicPr>
                    <p:blipFill>
                      <a:blip r:embed="rId2"/>
                      <a:srcRect/>
                      <a:stretch>
                        <a:fillRect/>
                      </a:stretch>
                    </p:blipFill>
                    <p:spPr bwMode="auto">
                      <a:xfrm>
                        <a:off x="467544" y="1484784"/>
                        <a:ext cx="8392864" cy="6030044"/>
                      </a:xfrm>
                      <a:prstGeom prst="rect">
                        <a:avLst/>
                      </a:prstGeom>
                      <a:noFill/>
                      <a:ln>
                        <a:noFill/>
                      </a:ln>
                      <a:effectLst/>
                    </p:spPr>
                  </p:pic>
                </p:oleObj>
              </mc:Fallback>
            </mc:AlternateContent>
          </a:graphicData>
        </a:graphic>
      </p:graphicFrame>
      <p:sp>
        <p:nvSpPr>
          <p:cNvPr id="3" name="标题 2"/>
          <p:cNvSpPr>
            <a:spLocks noGrp="1"/>
          </p:cNvSpPr>
          <p:nvPr>
            <p:ph type="title"/>
          </p:nvPr>
        </p:nvSpPr>
        <p:spPr>
          <a:xfrm>
            <a:off x="628650" y="365125"/>
            <a:ext cx="7886700" cy="975643"/>
          </a:xfrm>
        </p:spPr>
        <p:txBody>
          <a:bodyPr>
            <a:normAutofit fontScale="90000"/>
          </a:bodyPr>
          <a:lstStyle/>
          <a:p>
            <a:r>
              <a:rPr lang="zh-CN" altLang="en-US" dirty="0"/>
              <a:t>中缀表达式</a:t>
            </a:r>
            <a:r>
              <a:rPr lang="en-US" altLang="zh-CN" dirty="0"/>
              <a:t>”</a:t>
            </a:r>
            <a:r>
              <a:rPr lang="pt-BR" altLang="zh-CN" dirty="0"/>
              <a:t> a + b * (c - d) - e / f;</a:t>
            </a:r>
            <a:r>
              <a:rPr lang="en-US" altLang="zh-CN" dirty="0"/>
              <a:t>”</a:t>
            </a:r>
            <a:r>
              <a:rPr lang="zh-CN" altLang="en-US" dirty="0"/>
              <a:t>转成后缀表达式的过程</a:t>
            </a:r>
            <a:endParaRPr lang="zh-CN" altLang="en-US" dirty="0"/>
          </a:p>
        </p:txBody>
      </p:sp>
      <p:sp>
        <p:nvSpPr>
          <p:cNvPr id="4" name="灯片编号占位符 3"/>
          <p:cNvSpPr>
            <a:spLocks noGrp="1"/>
          </p:cNvSpPr>
          <p:nvPr>
            <p:ph type="sldNum" sz="quarter" idx="12"/>
          </p:nvPr>
        </p:nvSpPr>
        <p:spPr/>
        <p:txBody>
          <a:bodyPr/>
          <a:lstStyle/>
          <a:p>
            <a:pPr>
              <a:defRPr/>
            </a:pPr>
            <a:fld id="{8213374E-244F-4EF8-8F80-5FAE57EC15DF}" type="slidenum">
              <a:rPr lang="en-US" altLang="zh-CN" smtClean="0"/>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1024"/>
          <p:cNvGraphicFramePr>
            <a:graphicFrameLocks noChangeAspect="1"/>
          </p:cNvGraphicFramePr>
          <p:nvPr/>
        </p:nvGraphicFramePr>
        <p:xfrm>
          <a:off x="304800" y="215900"/>
          <a:ext cx="8242300" cy="6021412"/>
        </p:xfrm>
        <a:graphic>
          <a:graphicData uri="http://schemas.openxmlformats.org/presentationml/2006/ole">
            <mc:AlternateContent xmlns:mc="http://schemas.openxmlformats.org/markup-compatibility/2006">
              <mc:Choice xmlns:v="urn:schemas-microsoft-com:vml" Requires="v">
                <p:oleObj spid="_x0000_s2" name="Document" r:id="rId1" imgW="8382635" imgH="7821295" progId="Word.Document.8">
                  <p:embed/>
                </p:oleObj>
              </mc:Choice>
              <mc:Fallback>
                <p:oleObj name="Document" r:id="rId1" imgW="8382635" imgH="7821295" progId="Word.Document.8">
                  <p:embed/>
                  <p:pic>
                    <p:nvPicPr>
                      <p:cNvPr id="0" name="Object 1024"/>
                      <p:cNvPicPr>
                        <a:picLocks noChangeAspect="1" noChangeArrowheads="1"/>
                      </p:cNvPicPr>
                      <p:nvPr/>
                    </p:nvPicPr>
                    <p:blipFill>
                      <a:blip r:embed="rId2"/>
                      <a:srcRect/>
                      <a:stretch>
                        <a:fillRect/>
                      </a:stretch>
                    </p:blipFill>
                    <p:spPr bwMode="auto">
                      <a:xfrm>
                        <a:off x="304800" y="215900"/>
                        <a:ext cx="8242300" cy="6021412"/>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8213374E-244F-4EF8-8F80-5FAE57EC15DF}" type="slidenum">
              <a:rPr lang="en-US" altLang="zh-CN" smtClean="0"/>
            </a:fld>
            <a:endParaRPr lang="en-US" altLang="zh-CN"/>
          </a:p>
        </p:txBody>
      </p:sp>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p:cNvSpPr>
            <a:spLocks noGrp="1" noChangeArrowheads="1"/>
          </p:cNvSpPr>
          <p:nvPr>
            <p:ph type="title"/>
          </p:nvPr>
        </p:nvSpPr>
        <p:spPr/>
        <p:txBody>
          <a:bodyPr/>
          <a:lstStyle/>
          <a:p>
            <a:pPr eaLnBrk="1" hangingPunct="1"/>
            <a:r>
              <a:rPr lang="zh-CN" altLang="en-US"/>
              <a:t>思考</a:t>
            </a:r>
            <a:endParaRPr lang="zh-CN" altLang="en-US"/>
          </a:p>
        </p:txBody>
      </p:sp>
      <p:sp>
        <p:nvSpPr>
          <p:cNvPr id="45059" name="Rectangle 1027"/>
          <p:cNvSpPr>
            <a:spLocks noGrp="1" noChangeArrowheads="1"/>
          </p:cNvSpPr>
          <p:nvPr>
            <p:ph idx="1"/>
          </p:nvPr>
        </p:nvSpPr>
        <p:spPr/>
        <p:txBody>
          <a:bodyPr/>
          <a:lstStyle/>
          <a:p>
            <a:pPr eaLnBrk="1" hangingPunct="1"/>
            <a:r>
              <a:rPr lang="zh-CN" altLang="en-US"/>
              <a:t>如果直接根据中缀表达式计算应该怎么做？</a:t>
            </a:r>
            <a:endParaRPr lang="zh-CN" altLang="en-US"/>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dirty="0"/>
              <a:t>应用中缀表示计算表达式的值</a:t>
            </a:r>
            <a:endParaRPr lang="zh-CN" altLang="en-US" dirty="0"/>
          </a:p>
        </p:txBody>
      </p:sp>
      <p:sp>
        <p:nvSpPr>
          <p:cNvPr id="4" name="内容占位符 3"/>
          <p:cNvSpPr>
            <a:spLocks noGrp="1"/>
          </p:cNvSpPr>
          <p:nvPr>
            <p:ph idx="1"/>
          </p:nvPr>
        </p:nvSpPr>
        <p:spPr>
          <a:xfrm>
            <a:off x="628650" y="3935413"/>
            <a:ext cx="7886700" cy="2241549"/>
          </a:xfrm>
        </p:spPr>
        <p:txBody>
          <a:bodyPr>
            <a:normAutofit lnSpcReduction="10000"/>
          </a:bodyPr>
          <a:lstStyle/>
          <a:p>
            <a:r>
              <a:rPr lang="zh-CN" altLang="en-US" dirty="0"/>
              <a:t>使用两个栈，操作符栈</a:t>
            </a:r>
            <a:r>
              <a:rPr lang="en-US" altLang="zh-CN" dirty="0"/>
              <a:t>OPTR (operator)</a:t>
            </a:r>
            <a:r>
              <a:rPr lang="zh-CN" altLang="en-US" dirty="0"/>
              <a:t>，操作数栈</a:t>
            </a:r>
            <a:r>
              <a:rPr lang="en-US" altLang="zh-CN" dirty="0"/>
              <a:t>OPND(operand)</a:t>
            </a:r>
            <a:endParaRPr lang="en-US" altLang="zh-CN" dirty="0"/>
          </a:p>
          <a:p>
            <a:r>
              <a:rPr lang="zh-CN" altLang="en-US" dirty="0"/>
              <a:t>为了实现这种计算，仍然需要考虑各操作符的优先级</a:t>
            </a:r>
            <a:endParaRPr lang="zh-CN" altLang="en-US" dirty="0"/>
          </a:p>
          <a:p>
            <a:endParaRPr lang="zh-CN" altLang="en-US" dirty="0"/>
          </a:p>
        </p:txBody>
      </p:sp>
      <p:sp>
        <p:nvSpPr>
          <p:cNvPr id="3" name="灯片编号占位符 2"/>
          <p:cNvSpPr>
            <a:spLocks noGrp="1"/>
          </p:cNvSpPr>
          <p:nvPr>
            <p:ph type="sldNum" sz="quarter" idx="12"/>
          </p:nvPr>
        </p:nvSpPr>
        <p:spPr>
          <a:xfrm>
            <a:off x="6457950" y="6356350"/>
            <a:ext cx="2057400" cy="365125"/>
          </a:xfrm>
        </p:spPr>
        <p:txBody>
          <a:bodyPr/>
          <a:lstStyle/>
          <a:p>
            <a:fld id="{F03D3615-B250-4BC0-AD10-72A4284AD33A}" type="slidenum">
              <a:rPr lang="en-US" altLang="zh-CN"/>
            </a:fld>
            <a:endParaRPr lang="en-US" altLang="zh-CN"/>
          </a:p>
        </p:txBody>
      </p:sp>
      <p:grpSp>
        <p:nvGrpSpPr>
          <p:cNvPr id="272401" name="Group 17"/>
          <p:cNvGrpSpPr/>
          <p:nvPr/>
        </p:nvGrpSpPr>
        <p:grpSpPr bwMode="auto">
          <a:xfrm>
            <a:off x="2368550" y="1304925"/>
            <a:ext cx="4327525" cy="2540000"/>
            <a:chOff x="970" y="752"/>
            <a:chExt cx="2726" cy="1600"/>
          </a:xfrm>
        </p:grpSpPr>
        <p:sp>
          <p:nvSpPr>
            <p:cNvPr id="272388" name="AutoShape 4"/>
            <p:cNvSpPr/>
            <p:nvPr/>
          </p:nvSpPr>
          <p:spPr bwMode="auto">
            <a:xfrm rot="-5400000">
              <a:off x="2208" y="775"/>
              <a:ext cx="96" cy="768"/>
            </a:xfrm>
            <a:prstGeom prst="leftBrace">
              <a:avLst>
                <a:gd name="adj1" fmla="val 66667"/>
                <a:gd name="adj2" fmla="val 5112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aseline="0">
                <a:solidFill>
                  <a:srgbClr val="008000"/>
                </a:solidFill>
                <a:latin typeface="Times New Roman" panose="02020603050405020304" pitchFamily="18" charset="0"/>
              </a:endParaRPr>
            </a:p>
          </p:txBody>
        </p:sp>
        <p:sp>
          <p:nvSpPr>
            <p:cNvPr id="272389" name="Text Box 5"/>
            <p:cNvSpPr txBox="1">
              <a:spLocks noChangeArrowheads="1"/>
            </p:cNvSpPr>
            <p:nvPr/>
          </p:nvSpPr>
          <p:spPr bwMode="auto">
            <a:xfrm>
              <a:off x="2055" y="1130"/>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baseline="0">
                  <a:solidFill>
                    <a:srgbClr val="0000FF"/>
                  </a:solidFill>
                  <a:latin typeface="Times New Roman" panose="02020603050405020304" pitchFamily="18" charset="0"/>
                </a:rPr>
                <a:t>rst1</a:t>
              </a:r>
              <a:endParaRPr kumimoji="1" lang="en-US" altLang="zh-CN" sz="2400" baseline="0">
                <a:latin typeface="Times New Roman" panose="02020603050405020304" pitchFamily="18" charset="0"/>
              </a:endParaRPr>
            </a:p>
          </p:txBody>
        </p:sp>
        <p:sp>
          <p:nvSpPr>
            <p:cNvPr id="272390" name="AutoShape 6"/>
            <p:cNvSpPr/>
            <p:nvPr/>
          </p:nvSpPr>
          <p:spPr bwMode="auto">
            <a:xfrm rot="-5400000">
              <a:off x="1992" y="854"/>
              <a:ext cx="144" cy="1152"/>
            </a:xfrm>
            <a:prstGeom prst="leftBrace">
              <a:avLst>
                <a:gd name="adj1" fmla="val 66667"/>
                <a:gd name="adj2" fmla="val 51037"/>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1" baseline="0">
                <a:solidFill>
                  <a:srgbClr val="008000"/>
                </a:solidFill>
                <a:latin typeface="Times New Roman" panose="02020603050405020304" pitchFamily="18" charset="0"/>
              </a:endParaRPr>
            </a:p>
          </p:txBody>
        </p:sp>
        <p:sp>
          <p:nvSpPr>
            <p:cNvPr id="272391" name="Text Box 7"/>
            <p:cNvSpPr txBox="1">
              <a:spLocks noChangeArrowheads="1"/>
            </p:cNvSpPr>
            <p:nvPr/>
          </p:nvSpPr>
          <p:spPr bwMode="auto">
            <a:xfrm>
              <a:off x="1863" y="1425"/>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baseline="0">
                  <a:solidFill>
                    <a:srgbClr val="0000FF"/>
                  </a:solidFill>
                  <a:latin typeface="Times New Roman" panose="02020603050405020304" pitchFamily="18" charset="0"/>
                </a:rPr>
                <a:t>rst2</a:t>
              </a:r>
              <a:endParaRPr kumimoji="1" lang="en-US" altLang="zh-CN" sz="2400" baseline="0">
                <a:latin typeface="Times New Roman" panose="02020603050405020304" pitchFamily="18" charset="0"/>
              </a:endParaRPr>
            </a:p>
          </p:txBody>
        </p:sp>
        <p:sp>
          <p:nvSpPr>
            <p:cNvPr id="272392" name="AutoShape 8"/>
            <p:cNvSpPr/>
            <p:nvPr/>
          </p:nvSpPr>
          <p:spPr bwMode="auto">
            <a:xfrm rot="-5400000">
              <a:off x="1800" y="957"/>
              <a:ext cx="144" cy="1536"/>
            </a:xfrm>
            <a:prstGeom prst="leftBrace">
              <a:avLst>
                <a:gd name="adj1" fmla="val 88889"/>
                <a:gd name="adj2" fmla="val 51037"/>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1" baseline="0">
                <a:solidFill>
                  <a:srgbClr val="008000"/>
                </a:solidFill>
                <a:latin typeface="Times New Roman" panose="02020603050405020304" pitchFamily="18" charset="0"/>
              </a:endParaRPr>
            </a:p>
          </p:txBody>
        </p:sp>
        <p:sp>
          <p:nvSpPr>
            <p:cNvPr id="272393" name="Text Box 9"/>
            <p:cNvSpPr txBox="1">
              <a:spLocks noChangeArrowheads="1"/>
            </p:cNvSpPr>
            <p:nvPr/>
          </p:nvSpPr>
          <p:spPr bwMode="auto">
            <a:xfrm>
              <a:off x="1680" y="1697"/>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baseline="0">
                  <a:solidFill>
                    <a:srgbClr val="0000FF"/>
                  </a:solidFill>
                  <a:latin typeface="Times New Roman" panose="02020603050405020304" pitchFamily="18" charset="0"/>
                </a:rPr>
                <a:t>rst3</a:t>
              </a:r>
              <a:endParaRPr kumimoji="1" lang="en-US" altLang="zh-CN" sz="2400" baseline="0">
                <a:latin typeface="Times New Roman" panose="02020603050405020304" pitchFamily="18" charset="0"/>
              </a:endParaRPr>
            </a:p>
          </p:txBody>
        </p:sp>
        <p:sp>
          <p:nvSpPr>
            <p:cNvPr id="272394" name="AutoShape 10"/>
            <p:cNvSpPr/>
            <p:nvPr/>
          </p:nvSpPr>
          <p:spPr bwMode="auto">
            <a:xfrm rot="-5400000">
              <a:off x="3096" y="936"/>
              <a:ext cx="96" cy="432"/>
            </a:xfrm>
            <a:prstGeom prst="leftBrace">
              <a:avLst>
                <a:gd name="adj1" fmla="val 37500"/>
                <a:gd name="adj2" fmla="val 5112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aseline="0">
                <a:solidFill>
                  <a:srgbClr val="008000"/>
                </a:solidFill>
                <a:latin typeface="Times New Roman" panose="02020603050405020304" pitchFamily="18" charset="0"/>
              </a:endParaRPr>
            </a:p>
          </p:txBody>
        </p:sp>
        <p:sp>
          <p:nvSpPr>
            <p:cNvPr id="272395" name="Text Box 11"/>
            <p:cNvSpPr txBox="1">
              <a:spLocks noChangeArrowheads="1"/>
            </p:cNvSpPr>
            <p:nvPr/>
          </p:nvSpPr>
          <p:spPr bwMode="auto">
            <a:xfrm>
              <a:off x="2919" y="1130"/>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baseline="0">
                  <a:solidFill>
                    <a:srgbClr val="0000FF"/>
                  </a:solidFill>
                  <a:latin typeface="Times New Roman" panose="02020603050405020304" pitchFamily="18" charset="0"/>
                </a:rPr>
                <a:t>rst4</a:t>
              </a:r>
              <a:endParaRPr kumimoji="1" lang="en-US" altLang="zh-CN" sz="2400" baseline="0">
                <a:latin typeface="Times New Roman" panose="02020603050405020304" pitchFamily="18" charset="0"/>
              </a:endParaRPr>
            </a:p>
          </p:txBody>
        </p:sp>
        <p:sp>
          <p:nvSpPr>
            <p:cNvPr id="272398" name="AutoShape 14"/>
            <p:cNvSpPr/>
            <p:nvPr/>
          </p:nvSpPr>
          <p:spPr bwMode="auto">
            <a:xfrm rot="-5400000">
              <a:off x="2352" y="720"/>
              <a:ext cx="96" cy="2592"/>
            </a:xfrm>
            <a:prstGeom prst="leftBrace">
              <a:avLst>
                <a:gd name="adj1" fmla="val 225000"/>
                <a:gd name="adj2" fmla="val 51037"/>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1" baseline="0">
                <a:solidFill>
                  <a:srgbClr val="008000"/>
                </a:solidFill>
                <a:latin typeface="Times New Roman" panose="02020603050405020304" pitchFamily="18" charset="0"/>
              </a:endParaRPr>
            </a:p>
          </p:txBody>
        </p:sp>
        <p:sp>
          <p:nvSpPr>
            <p:cNvPr id="272399" name="Text Box 15"/>
            <p:cNvSpPr txBox="1">
              <a:spLocks noChangeArrowheads="1"/>
            </p:cNvSpPr>
            <p:nvPr/>
          </p:nvSpPr>
          <p:spPr bwMode="auto">
            <a:xfrm>
              <a:off x="2199" y="2025"/>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baseline="0">
                  <a:solidFill>
                    <a:srgbClr val="0000FF"/>
                  </a:solidFill>
                  <a:latin typeface="Times New Roman" panose="02020603050405020304" pitchFamily="18" charset="0"/>
                </a:rPr>
                <a:t>rst5</a:t>
              </a:r>
              <a:endParaRPr kumimoji="1" lang="en-US" altLang="zh-CN" sz="2400" baseline="0">
                <a:latin typeface="Times New Roman" panose="02020603050405020304" pitchFamily="18" charset="0"/>
              </a:endParaRPr>
            </a:p>
          </p:txBody>
        </p:sp>
        <p:sp>
          <p:nvSpPr>
            <p:cNvPr id="272400" name="Rectangle 16"/>
            <p:cNvSpPr>
              <a:spLocks noChangeArrowheads="1"/>
            </p:cNvSpPr>
            <p:nvPr/>
          </p:nvSpPr>
          <p:spPr bwMode="auto">
            <a:xfrm>
              <a:off x="970" y="752"/>
              <a:ext cx="2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rPr>
                <a:t>a </a:t>
              </a:r>
              <a:r>
                <a:rPr kumimoji="1" lang="en-US" altLang="zh-CN" sz="3200" b="1" baseline="0">
                  <a:solidFill>
                    <a:srgbClr val="008000"/>
                  </a:solidFill>
                  <a:effectLst>
                    <a:outerShdw blurRad="38100" dist="38100" dir="2700000" algn="tl">
                      <a:srgbClr val="C0C0C0"/>
                    </a:outerShdw>
                  </a:effectLst>
                  <a:latin typeface="Times New Roman" panose="02020603050405020304" pitchFamily="18" charset="0"/>
                </a:rPr>
                <a:t>+</a:t>
              </a:r>
              <a:r>
                <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rPr>
                <a:t> b </a:t>
              </a:r>
              <a:r>
                <a:rPr kumimoji="1" lang="en-US" altLang="zh-CN" sz="3200" b="1" baseline="0">
                  <a:solidFill>
                    <a:srgbClr val="008000"/>
                  </a:solidFill>
                  <a:effectLst>
                    <a:outerShdw blurRad="38100" dist="38100" dir="2700000" algn="tl">
                      <a:srgbClr val="C0C0C0"/>
                    </a:outerShdw>
                  </a:effectLst>
                  <a:latin typeface="Times New Roman" panose="02020603050405020304" pitchFamily="18" charset="0"/>
                </a:rPr>
                <a:t>*</a:t>
              </a:r>
              <a:r>
                <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rPr>
                <a:t> </a:t>
              </a:r>
              <a:r>
                <a:rPr kumimoji="1" lang="en-US" altLang="zh-CN" sz="3200" b="1" baseline="0">
                  <a:solidFill>
                    <a:srgbClr val="008000"/>
                  </a:solidFill>
                  <a:effectLst>
                    <a:outerShdw blurRad="38100" dist="38100" dir="2700000" algn="tl">
                      <a:srgbClr val="C0C0C0"/>
                    </a:outerShdw>
                  </a:effectLst>
                  <a:latin typeface="Times New Roman" panose="02020603050405020304" pitchFamily="18" charset="0"/>
                </a:rPr>
                <a:t>(</a:t>
              </a:r>
              <a:r>
                <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rPr>
                <a:t> c </a:t>
              </a:r>
              <a:r>
                <a:rPr kumimoji="1" lang="en-US" altLang="zh-CN" sz="3200" b="1" baseline="0">
                  <a:solidFill>
                    <a:srgbClr val="008000"/>
                  </a:solidFill>
                  <a:effectLst>
                    <a:outerShdw blurRad="38100" dist="38100" dir="2700000" algn="tl">
                      <a:srgbClr val="C0C0C0"/>
                    </a:outerShdw>
                  </a:effectLst>
                  <a:latin typeface="Courier New" panose="02070309020205020404" pitchFamily="49" charset="0"/>
                </a:rPr>
                <a:t>-</a:t>
              </a:r>
              <a:r>
                <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rPr>
                <a:t> d </a:t>
              </a:r>
              <a:r>
                <a:rPr kumimoji="1" lang="en-US" altLang="zh-CN" sz="3200" b="1" baseline="0">
                  <a:solidFill>
                    <a:srgbClr val="008000"/>
                  </a:solidFill>
                  <a:effectLst>
                    <a:outerShdw blurRad="38100" dist="38100" dir="2700000" algn="tl">
                      <a:srgbClr val="C0C0C0"/>
                    </a:outerShdw>
                  </a:effectLst>
                  <a:latin typeface="Times New Roman" panose="02020603050405020304" pitchFamily="18" charset="0"/>
                </a:rPr>
                <a:t>) </a:t>
              </a:r>
              <a:r>
                <a:rPr kumimoji="1" lang="en-US" altLang="zh-CN" sz="3200" b="1" baseline="0">
                  <a:solidFill>
                    <a:srgbClr val="008000"/>
                  </a:solidFill>
                  <a:effectLst>
                    <a:outerShdw blurRad="38100" dist="38100" dir="2700000" algn="tl">
                      <a:srgbClr val="C0C0C0"/>
                    </a:outerShdw>
                  </a:effectLst>
                  <a:latin typeface="Courier New" panose="02070309020205020404" pitchFamily="49" charset="0"/>
                </a:rPr>
                <a:t>-</a:t>
              </a:r>
              <a:r>
                <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rPr>
                <a:t> e / f</a:t>
              </a:r>
              <a:endParaRPr kumimoji="1" lang="en-US" altLang="zh-CN" sz="3200" b="1" baseline="0">
                <a:solidFill>
                  <a:srgbClr val="0000FF"/>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23528" y="365125"/>
            <a:ext cx="8496944" cy="1325563"/>
          </a:xfrm>
        </p:spPr>
        <p:txBody>
          <a:bodyPr/>
          <a:lstStyle/>
          <a:p>
            <a:r>
              <a:rPr lang="zh-CN" altLang="en-US" dirty="0"/>
              <a:t>中缀算术表达式求值</a:t>
            </a:r>
            <a:r>
              <a:rPr lang="en-US" altLang="zh-CN" dirty="0"/>
              <a:t>(1)</a:t>
            </a:r>
            <a:endParaRPr lang="zh-CN" altLang="en-US" dirty="0"/>
          </a:p>
        </p:txBody>
      </p:sp>
      <p:sp>
        <p:nvSpPr>
          <p:cNvPr id="7" name="内容占位符 6"/>
          <p:cNvSpPr>
            <a:spLocks noGrp="1"/>
          </p:cNvSpPr>
          <p:nvPr>
            <p:ph idx="1"/>
          </p:nvPr>
        </p:nvSpPr>
        <p:spPr>
          <a:xfrm>
            <a:off x="628650" y="1825625"/>
            <a:ext cx="7886700" cy="4351338"/>
          </a:xfrm>
        </p:spPr>
        <p:txBody>
          <a:bodyPr>
            <a:normAutofit/>
          </a:bodyPr>
          <a:lstStyle/>
          <a:p>
            <a:r>
              <a:rPr lang="zh-CN" altLang="en-US" dirty="0"/>
              <a:t>对中缀表达式求值的一般规则：</a:t>
            </a:r>
            <a:endParaRPr lang="zh-CN" altLang="en-US" dirty="0"/>
          </a:p>
          <a:p>
            <a:pPr lvl="1"/>
            <a:r>
              <a:rPr lang="zh-CN" altLang="en-US" dirty="0"/>
              <a:t>建立并初始化</a:t>
            </a:r>
            <a:r>
              <a:rPr lang="en-US" altLang="zh-CN" dirty="0"/>
              <a:t>OPTR</a:t>
            </a:r>
            <a:r>
              <a:rPr lang="zh-CN" altLang="en-US" dirty="0"/>
              <a:t>栈和</a:t>
            </a:r>
            <a:r>
              <a:rPr lang="en-US" altLang="zh-CN" dirty="0"/>
              <a:t>OPND</a:t>
            </a:r>
            <a:r>
              <a:rPr lang="zh-CN" altLang="en-US" dirty="0"/>
              <a:t>栈，然后在</a:t>
            </a:r>
            <a:r>
              <a:rPr lang="en-US" altLang="zh-CN" dirty="0"/>
              <a:t>OPTR</a:t>
            </a:r>
            <a:r>
              <a:rPr lang="zh-CN" altLang="en-US" dirty="0"/>
              <a:t>栈中压入一个“</a:t>
            </a:r>
            <a:r>
              <a:rPr lang="en-US" altLang="zh-CN" dirty="0"/>
              <a:t>#”</a:t>
            </a:r>
            <a:endParaRPr lang="en-US" altLang="zh-CN" dirty="0"/>
          </a:p>
          <a:p>
            <a:pPr lvl="1"/>
            <a:r>
              <a:rPr lang="zh-CN" altLang="en-US" dirty="0"/>
              <a:t>扫描中缀表达式，取一字符送入</a:t>
            </a:r>
            <a:r>
              <a:rPr lang="en-US" altLang="zh-CN" dirty="0" err="1"/>
              <a:t>ch</a:t>
            </a:r>
            <a:r>
              <a:rPr lang="zh-CN" altLang="en-US" dirty="0"/>
              <a:t>。</a:t>
            </a:r>
            <a:endParaRPr lang="zh-CN" altLang="en-US" dirty="0"/>
          </a:p>
          <a:p>
            <a:pPr lvl="1"/>
            <a:r>
              <a:rPr lang="zh-CN" altLang="en-US" dirty="0"/>
              <a:t>当</a:t>
            </a:r>
            <a:r>
              <a:rPr lang="en-US" altLang="zh-CN" dirty="0"/>
              <a:t>((</a:t>
            </a:r>
            <a:r>
              <a:rPr lang="en-US" altLang="zh-CN" dirty="0" err="1"/>
              <a:t>ch</a:t>
            </a:r>
            <a:r>
              <a:rPr lang="en-US" altLang="zh-CN" dirty="0"/>
              <a:t> != ‘#’ )||(OPTR</a:t>
            </a:r>
            <a:r>
              <a:rPr lang="zh-CN" altLang="en-US" dirty="0"/>
              <a:t>栈的栈顶 </a:t>
            </a:r>
            <a:r>
              <a:rPr lang="en-US" altLang="zh-CN" dirty="0"/>
              <a:t>!= ‘#’))</a:t>
            </a:r>
            <a:r>
              <a:rPr lang="zh-CN" altLang="en-US" dirty="0"/>
              <a:t>时</a:t>
            </a:r>
            <a:r>
              <a:rPr lang="en-US" altLang="zh-CN" dirty="0"/>
              <a:t>, </a:t>
            </a:r>
            <a:r>
              <a:rPr lang="zh-CN" altLang="en-US" dirty="0"/>
              <a:t>执行以下工作</a:t>
            </a:r>
            <a:r>
              <a:rPr lang="en-US" altLang="zh-CN" dirty="0"/>
              <a:t>, </a:t>
            </a:r>
            <a:r>
              <a:rPr lang="zh-CN" altLang="en-US" dirty="0"/>
              <a:t>否则结束算法。</a:t>
            </a:r>
            <a:endParaRPr lang="zh-CN" altLang="en-US" dirty="0"/>
          </a:p>
          <a:p>
            <a:pPr lvl="2"/>
            <a:r>
              <a:rPr lang="zh-CN" altLang="en-US" dirty="0"/>
              <a:t>若</a:t>
            </a:r>
            <a:r>
              <a:rPr lang="en-US" altLang="zh-CN" dirty="0" err="1"/>
              <a:t>ch</a:t>
            </a:r>
            <a:r>
              <a:rPr lang="zh-CN" altLang="en-US" dirty="0"/>
              <a:t>是操作数，进</a:t>
            </a:r>
            <a:r>
              <a:rPr lang="en-US" altLang="zh-CN" dirty="0"/>
              <a:t>OPND</a:t>
            </a:r>
            <a:r>
              <a:rPr lang="zh-CN" altLang="en-US" dirty="0"/>
              <a:t>栈，从中缀表达式取下一字符送入</a:t>
            </a:r>
            <a:r>
              <a:rPr lang="en-US" altLang="zh-CN" dirty="0" err="1"/>
              <a:t>ch</a:t>
            </a:r>
            <a:r>
              <a:rPr lang="zh-CN" altLang="en-US" dirty="0"/>
              <a:t>； </a:t>
            </a:r>
            <a:endParaRPr lang="zh-CN" altLang="en-US" dirty="0"/>
          </a:p>
        </p:txBody>
      </p:sp>
      <p:sp>
        <p:nvSpPr>
          <p:cNvPr id="3" name="灯片编号占位符 2"/>
          <p:cNvSpPr>
            <a:spLocks noGrp="1"/>
          </p:cNvSpPr>
          <p:nvPr>
            <p:ph type="ftr" sz="quarter" idx="11"/>
          </p:nvPr>
        </p:nvSpPr>
        <p:spPr>
          <a:xfrm>
            <a:off x="3028950" y="6356350"/>
            <a:ext cx="3086100" cy="365125"/>
          </a:xfrm>
        </p:spPr>
        <p:txBody>
          <a:bodyPr/>
          <a:lstStyle/>
          <a:p>
            <a:fld id="{0EF6543A-95EC-45BC-8519-08702355ECF6}" type="slidenum">
              <a:rPr lang="en-US" altLang="zh-CN"/>
            </a:fld>
            <a:endParaRPr lang="en-US" altLang="zh-CN"/>
          </a:p>
        </p:txBody>
      </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251520" y="365125"/>
            <a:ext cx="8568952" cy="1325563"/>
          </a:xfrm>
        </p:spPr>
        <p:txBody>
          <a:bodyPr/>
          <a:lstStyle/>
          <a:p>
            <a:r>
              <a:rPr lang="zh-CN" altLang="en-US" dirty="0"/>
              <a:t>中缀算术表达式求值</a:t>
            </a:r>
            <a:r>
              <a:rPr lang="en-US" altLang="zh-CN" dirty="0"/>
              <a:t>(2)</a:t>
            </a:r>
            <a:endParaRPr lang="zh-CN" altLang="en-US" dirty="0"/>
          </a:p>
        </p:txBody>
      </p:sp>
      <p:sp>
        <p:nvSpPr>
          <p:cNvPr id="4" name="内容占位符 3"/>
          <p:cNvSpPr>
            <a:spLocks noGrp="1"/>
          </p:cNvSpPr>
          <p:nvPr>
            <p:ph idx="1"/>
          </p:nvPr>
        </p:nvSpPr>
        <p:spPr>
          <a:xfrm>
            <a:off x="628650" y="1825625"/>
            <a:ext cx="7886700" cy="4351338"/>
          </a:xfrm>
        </p:spPr>
        <p:txBody>
          <a:bodyPr>
            <a:normAutofit lnSpcReduction="10000"/>
          </a:bodyPr>
          <a:lstStyle/>
          <a:p>
            <a:pPr lvl="1"/>
            <a:r>
              <a:rPr lang="zh-CN" altLang="en-US" dirty="0"/>
              <a:t>若</a:t>
            </a:r>
            <a:r>
              <a:rPr lang="en-US" altLang="zh-CN" dirty="0" err="1"/>
              <a:t>ch</a:t>
            </a:r>
            <a:r>
              <a:rPr lang="zh-CN" altLang="en-US" dirty="0"/>
              <a:t>是操作符，比较</a:t>
            </a:r>
            <a:r>
              <a:rPr lang="en-US" altLang="zh-CN" dirty="0" err="1"/>
              <a:t>icp</a:t>
            </a:r>
            <a:r>
              <a:rPr lang="en-US" altLang="zh-CN" dirty="0"/>
              <a:t>(</a:t>
            </a:r>
            <a:r>
              <a:rPr lang="en-US" altLang="zh-CN" dirty="0" err="1"/>
              <a:t>ch</a:t>
            </a:r>
            <a:r>
              <a:rPr lang="en-US" altLang="zh-CN" dirty="0"/>
              <a:t>)</a:t>
            </a:r>
            <a:r>
              <a:rPr lang="zh-CN" altLang="en-US" dirty="0"/>
              <a:t>的优先级和</a:t>
            </a:r>
            <a:r>
              <a:rPr lang="en-US" altLang="zh-CN" dirty="0" err="1"/>
              <a:t>isp</a:t>
            </a:r>
            <a:r>
              <a:rPr lang="en-US" altLang="zh-CN" dirty="0"/>
              <a:t>(OPTR)</a:t>
            </a:r>
            <a:r>
              <a:rPr lang="zh-CN" altLang="en-US" dirty="0"/>
              <a:t>的优先级：</a:t>
            </a:r>
            <a:endParaRPr lang="zh-CN" altLang="en-US" dirty="0"/>
          </a:p>
          <a:p>
            <a:pPr lvl="2"/>
            <a:r>
              <a:rPr lang="zh-CN" altLang="en-US" dirty="0"/>
              <a:t>若</a:t>
            </a:r>
            <a:r>
              <a:rPr lang="en-US" altLang="zh-CN" dirty="0" err="1"/>
              <a:t>icp</a:t>
            </a:r>
            <a:r>
              <a:rPr lang="en-US" altLang="zh-CN" dirty="0"/>
              <a:t>(</a:t>
            </a:r>
            <a:r>
              <a:rPr lang="en-US" altLang="zh-CN" dirty="0" err="1"/>
              <a:t>ch</a:t>
            </a:r>
            <a:r>
              <a:rPr lang="en-US" altLang="zh-CN" dirty="0"/>
              <a:t>) &gt; </a:t>
            </a:r>
            <a:r>
              <a:rPr lang="en-US" altLang="zh-CN" dirty="0" err="1"/>
              <a:t>isp</a:t>
            </a:r>
            <a:r>
              <a:rPr lang="en-US" altLang="zh-CN" dirty="0"/>
              <a:t>(OPTR)</a:t>
            </a:r>
            <a:r>
              <a:rPr lang="zh-CN" altLang="en-US" dirty="0"/>
              <a:t>，则</a:t>
            </a:r>
            <a:r>
              <a:rPr lang="en-US" altLang="zh-CN" dirty="0" err="1"/>
              <a:t>ch</a:t>
            </a:r>
            <a:r>
              <a:rPr lang="zh-CN" altLang="en-US" dirty="0"/>
              <a:t>进</a:t>
            </a:r>
            <a:r>
              <a:rPr lang="en-US" altLang="zh-CN" dirty="0"/>
              <a:t>OPTR</a:t>
            </a:r>
            <a:r>
              <a:rPr lang="zh-CN" altLang="en-US" dirty="0"/>
              <a:t>栈，从中缀表达式取下一字符送入</a:t>
            </a:r>
            <a:r>
              <a:rPr lang="en-US" altLang="zh-CN" dirty="0" err="1"/>
              <a:t>ch</a:t>
            </a:r>
            <a:r>
              <a:rPr lang="zh-CN" altLang="en-US" dirty="0"/>
              <a:t>；</a:t>
            </a:r>
            <a:endParaRPr lang="zh-CN" altLang="en-US" dirty="0"/>
          </a:p>
          <a:p>
            <a:pPr lvl="2"/>
            <a:r>
              <a:rPr lang="zh-CN" altLang="en-US" dirty="0"/>
              <a:t>若</a:t>
            </a:r>
            <a:r>
              <a:rPr lang="en-US" altLang="zh-CN" dirty="0" err="1"/>
              <a:t>icp</a:t>
            </a:r>
            <a:r>
              <a:rPr lang="en-US" altLang="zh-CN" dirty="0"/>
              <a:t>(</a:t>
            </a:r>
            <a:r>
              <a:rPr lang="en-US" altLang="zh-CN" dirty="0" err="1"/>
              <a:t>ch</a:t>
            </a:r>
            <a:r>
              <a:rPr lang="en-US" altLang="zh-CN" dirty="0"/>
              <a:t>) &lt; </a:t>
            </a:r>
            <a:r>
              <a:rPr lang="en-US" altLang="zh-CN" dirty="0" err="1"/>
              <a:t>isp</a:t>
            </a:r>
            <a:r>
              <a:rPr lang="en-US" altLang="zh-CN" dirty="0"/>
              <a:t>(OPTR)</a:t>
            </a:r>
            <a:r>
              <a:rPr lang="zh-CN" altLang="en-US" dirty="0"/>
              <a:t>，则从</a:t>
            </a:r>
            <a:r>
              <a:rPr lang="en-US" altLang="zh-CN" dirty="0"/>
              <a:t>OPND</a:t>
            </a:r>
            <a:r>
              <a:rPr lang="zh-CN" altLang="en-US" dirty="0"/>
              <a:t>栈退出</a:t>
            </a:r>
            <a:r>
              <a:rPr lang="en-US" altLang="zh-CN" dirty="0"/>
              <a:t>a2</a:t>
            </a:r>
            <a:r>
              <a:rPr lang="zh-CN" altLang="en-US" dirty="0"/>
              <a:t>和</a:t>
            </a:r>
            <a:r>
              <a:rPr lang="en-US" altLang="zh-CN" dirty="0"/>
              <a:t>a1</a:t>
            </a:r>
            <a:r>
              <a:rPr lang="zh-CN" altLang="en-US" dirty="0"/>
              <a:t>，从</a:t>
            </a:r>
            <a:r>
              <a:rPr lang="en-US" altLang="zh-CN" dirty="0"/>
              <a:t>OPTR</a:t>
            </a:r>
            <a:r>
              <a:rPr lang="zh-CN" altLang="en-US" dirty="0"/>
              <a:t>栈退出</a:t>
            </a:r>
            <a:r>
              <a:rPr lang="en-US" altLang="zh-CN" dirty="0"/>
              <a:t>θ, </a:t>
            </a:r>
            <a:r>
              <a:rPr lang="zh-CN" altLang="en-US" dirty="0"/>
              <a:t>形成运算指令 </a:t>
            </a:r>
            <a:r>
              <a:rPr lang="en-US" altLang="zh-CN" dirty="0"/>
              <a:t>(a1)θ(a2)</a:t>
            </a:r>
            <a:r>
              <a:rPr lang="zh-CN" altLang="en-US" dirty="0"/>
              <a:t>，运算结果进</a:t>
            </a:r>
            <a:r>
              <a:rPr lang="en-US" altLang="zh-CN" dirty="0"/>
              <a:t>OPND</a:t>
            </a:r>
            <a:r>
              <a:rPr lang="zh-CN" altLang="en-US" dirty="0"/>
              <a:t>栈；</a:t>
            </a:r>
            <a:endParaRPr lang="zh-CN" altLang="en-US" dirty="0"/>
          </a:p>
          <a:p>
            <a:pPr lvl="2"/>
            <a:r>
              <a:rPr lang="zh-CN" altLang="en-US" dirty="0"/>
              <a:t>若</a:t>
            </a:r>
            <a:r>
              <a:rPr lang="en-US" altLang="zh-CN" dirty="0" err="1"/>
              <a:t>icp</a:t>
            </a:r>
            <a:r>
              <a:rPr lang="en-US" altLang="zh-CN" dirty="0"/>
              <a:t>(</a:t>
            </a:r>
            <a:r>
              <a:rPr lang="en-US" altLang="zh-CN" dirty="0" err="1"/>
              <a:t>ch</a:t>
            </a:r>
            <a:r>
              <a:rPr lang="en-US" altLang="zh-CN" dirty="0"/>
              <a:t>) == </a:t>
            </a:r>
            <a:r>
              <a:rPr lang="en-US" altLang="zh-CN" dirty="0" err="1"/>
              <a:t>isp</a:t>
            </a:r>
            <a:r>
              <a:rPr lang="en-US" altLang="zh-CN" dirty="0"/>
              <a:t>(OPTR) </a:t>
            </a:r>
            <a:r>
              <a:rPr lang="zh-CN" altLang="en-US" dirty="0"/>
              <a:t>且</a:t>
            </a:r>
            <a:r>
              <a:rPr lang="en-US" altLang="zh-CN" dirty="0" err="1"/>
              <a:t>ch</a:t>
            </a:r>
            <a:r>
              <a:rPr lang="en-US" altLang="zh-CN" dirty="0"/>
              <a:t> == ')'</a:t>
            </a:r>
            <a:r>
              <a:rPr lang="zh-CN" altLang="en-US" dirty="0"/>
              <a:t>，则从</a:t>
            </a:r>
            <a:r>
              <a:rPr lang="en-US" altLang="zh-CN" dirty="0"/>
              <a:t>OPTR</a:t>
            </a:r>
            <a:r>
              <a:rPr lang="zh-CN" altLang="en-US" dirty="0"/>
              <a:t>栈退出</a:t>
            </a:r>
            <a:r>
              <a:rPr lang="en-US" altLang="zh-CN" dirty="0"/>
              <a:t>'('</a:t>
            </a:r>
            <a:r>
              <a:rPr lang="zh-CN" altLang="en-US" dirty="0"/>
              <a:t>，对消括号，然后从中缀表达式取下一字符送入</a:t>
            </a:r>
            <a:r>
              <a:rPr lang="en-US" altLang="zh-CN" dirty="0" err="1"/>
              <a:t>ch</a:t>
            </a:r>
            <a:r>
              <a:rPr lang="zh-CN" altLang="en-US" dirty="0"/>
              <a:t>；</a:t>
            </a:r>
            <a:endParaRPr lang="zh-CN" altLang="en-US" dirty="0"/>
          </a:p>
        </p:txBody>
      </p:sp>
      <p:sp>
        <p:nvSpPr>
          <p:cNvPr id="3" name="灯片编号占位符 2"/>
          <p:cNvSpPr>
            <a:spLocks noGrp="1"/>
          </p:cNvSpPr>
          <p:nvPr>
            <p:ph type="sldNum" sz="quarter" idx="12"/>
          </p:nvPr>
        </p:nvSpPr>
        <p:spPr>
          <a:xfrm>
            <a:off x="6457950" y="6356350"/>
            <a:ext cx="2057400" cy="365125"/>
          </a:xfrm>
        </p:spPr>
        <p:txBody>
          <a:bodyPr/>
          <a:lstStyle/>
          <a:p>
            <a:fld id="{8B96CEC3-B01B-4985-AD2A-5C05B362EF75}" type="slidenum">
              <a:rPr lang="en-US" altLang="zh-CN"/>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0722" y="365125"/>
            <a:ext cx="8475734" cy="1325563"/>
          </a:xfrm>
        </p:spPr>
        <p:txBody>
          <a:bodyPr/>
          <a:lstStyle/>
          <a:p>
            <a:r>
              <a:rPr lang="zh-CN" altLang="en-US" dirty="0"/>
              <a:t>中缀算术表达式求值</a:t>
            </a:r>
            <a:r>
              <a:rPr lang="en-US" altLang="zh-CN" dirty="0"/>
              <a:t>(3)</a:t>
            </a:r>
            <a:endParaRPr lang="zh-CN" altLang="en-US" dirty="0"/>
          </a:p>
        </p:txBody>
      </p:sp>
      <p:sp>
        <p:nvSpPr>
          <p:cNvPr id="3" name="内容占位符 2"/>
          <p:cNvSpPr>
            <a:spLocks noGrp="1"/>
          </p:cNvSpPr>
          <p:nvPr>
            <p:ph idx="1"/>
          </p:nvPr>
        </p:nvSpPr>
        <p:spPr/>
        <p:txBody>
          <a:bodyPr>
            <a:normAutofit fontScale="92500"/>
          </a:bodyPr>
          <a:lstStyle/>
          <a:p>
            <a:r>
              <a:rPr lang="zh-CN" altLang="en-US" dirty="0"/>
              <a:t>程序正常结束时，在</a:t>
            </a:r>
            <a:r>
              <a:rPr lang="en-US" altLang="zh-CN" dirty="0"/>
              <a:t>OPND</a:t>
            </a:r>
            <a:r>
              <a:rPr lang="zh-CN" altLang="en-US" dirty="0"/>
              <a:t>栈的栈顶得到运算结果。</a:t>
            </a:r>
            <a:endParaRPr lang="en-US" altLang="zh-CN" dirty="0"/>
          </a:p>
          <a:p>
            <a:r>
              <a:rPr lang="zh-CN" altLang="en-US" dirty="0"/>
              <a:t>为简化程序，假设算术表达式中的操作数都是</a:t>
            </a:r>
            <a:r>
              <a:rPr lang="en-US" altLang="zh-CN" dirty="0"/>
              <a:t>1</a:t>
            </a:r>
            <a:r>
              <a:rPr lang="zh-CN" altLang="en-US" dirty="0"/>
              <a:t>位整数。</a:t>
            </a:r>
            <a:endParaRPr lang="en-US" altLang="zh-CN" dirty="0"/>
          </a:p>
          <a:p>
            <a:pPr lvl="1"/>
            <a:r>
              <a:rPr lang="zh-CN" altLang="en-US" dirty="0"/>
              <a:t>因此，语句“</a:t>
            </a:r>
            <a:r>
              <a:rPr lang="en-US" altLang="zh-CN" dirty="0" err="1"/>
              <a:t>cin</a:t>
            </a:r>
            <a:r>
              <a:rPr lang="en-US" altLang="zh-CN" dirty="0"/>
              <a:t> &gt;&gt; </a:t>
            </a:r>
            <a:r>
              <a:rPr lang="en-US" altLang="zh-CN" dirty="0" err="1"/>
              <a:t>ch</a:t>
            </a:r>
            <a:r>
              <a:rPr lang="zh-CN" altLang="en-US" dirty="0"/>
              <a:t>”读入的</a:t>
            </a:r>
            <a:r>
              <a:rPr lang="en-US" altLang="zh-CN" dirty="0" err="1"/>
              <a:t>ch</a:t>
            </a:r>
            <a:r>
              <a:rPr lang="zh-CN" altLang="en-US" dirty="0"/>
              <a:t>只可能是运算符或者代表一个操作数的数字字符。</a:t>
            </a:r>
            <a:endParaRPr lang="en-US" altLang="zh-CN" dirty="0"/>
          </a:p>
          <a:p>
            <a:pPr lvl="1"/>
            <a:r>
              <a:rPr lang="zh-CN" altLang="en-US" dirty="0"/>
              <a:t>如果</a:t>
            </a:r>
            <a:r>
              <a:rPr lang="en-US" altLang="zh-CN" dirty="0" err="1"/>
              <a:t>ch</a:t>
            </a:r>
            <a:r>
              <a:rPr lang="zh-CN" altLang="en-US" dirty="0"/>
              <a:t>中是一个数字字符，语句“</a:t>
            </a:r>
            <a:r>
              <a:rPr lang="en-US" altLang="zh-CN" dirty="0" err="1"/>
              <a:t>ch</a:t>
            </a:r>
            <a:r>
              <a:rPr lang="en-US" altLang="zh-CN" dirty="0"/>
              <a:t> – ‘0’</a:t>
            </a:r>
            <a:r>
              <a:rPr lang="zh-CN" altLang="en-US" dirty="0"/>
              <a:t>”得到的就是这个数字字符对应的整数值。</a:t>
            </a:r>
            <a:endParaRPr lang="en-US" altLang="zh-CN"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half" idx="1"/>
          </p:nvPr>
        </p:nvSpPr>
        <p:spPr>
          <a:xfrm>
            <a:off x="251520" y="548680"/>
            <a:ext cx="4263330" cy="5628283"/>
          </a:xfrm>
          <a:solidFill>
            <a:schemeClr val="bg2">
              <a:lumMod val="90000"/>
            </a:schemeClr>
          </a:solidFill>
        </p:spPr>
        <p:txBody>
          <a:bodyPr>
            <a:normAutofit fontScale="85000" lnSpcReduction="20000"/>
          </a:bodyPr>
          <a:lstStyle/>
          <a:p>
            <a:pPr marL="0" indent="0">
              <a:buNone/>
            </a:pPr>
            <a:r>
              <a:rPr lang="en-US" altLang="zh-CN" dirty="0"/>
              <a:t>void </a:t>
            </a:r>
            <a:r>
              <a:rPr lang="en-US" altLang="zh-CN" dirty="0" err="1"/>
              <a:t>InFixRun</a:t>
            </a:r>
            <a:r>
              <a:rPr lang="en-US" altLang="zh-CN" dirty="0"/>
              <a:t>() {</a:t>
            </a:r>
            <a:endParaRPr lang="en-US" altLang="zh-CN" dirty="0"/>
          </a:p>
          <a:p>
            <a:pPr marL="0" indent="0">
              <a:buNone/>
            </a:pPr>
            <a:r>
              <a:rPr lang="en-US" altLang="zh-CN" dirty="0"/>
              <a:t>     Stack&lt;char&gt; OPTR;</a:t>
            </a:r>
            <a:endParaRPr lang="en-US" altLang="zh-CN" dirty="0"/>
          </a:p>
          <a:p>
            <a:pPr marL="0" indent="0">
              <a:buNone/>
            </a:pPr>
            <a:r>
              <a:rPr lang="en-US" altLang="zh-CN" dirty="0"/>
              <a:t>     Stack&lt;int&gt; OPND;</a:t>
            </a:r>
            <a:endParaRPr lang="en-US" altLang="zh-CN" dirty="0"/>
          </a:p>
          <a:p>
            <a:pPr marL="0" indent="0">
              <a:buNone/>
            </a:pPr>
            <a:r>
              <a:rPr lang="en-US" altLang="zh-CN" dirty="0"/>
              <a:t>     char </a:t>
            </a:r>
            <a:r>
              <a:rPr lang="en-US" altLang="zh-CN" dirty="0" err="1"/>
              <a:t>ch</a:t>
            </a:r>
            <a:r>
              <a:rPr lang="en-US" altLang="zh-CN" dirty="0"/>
              <a:t>, op;</a:t>
            </a:r>
            <a:endParaRPr lang="en-US" altLang="zh-CN" dirty="0"/>
          </a:p>
          <a:p>
            <a:pPr marL="0" indent="0">
              <a:buNone/>
            </a:pPr>
            <a:r>
              <a:rPr lang="en-US" altLang="zh-CN" dirty="0"/>
              <a:t>     </a:t>
            </a:r>
            <a:r>
              <a:rPr lang="en-US" altLang="zh-CN" dirty="0" err="1"/>
              <a:t>OPTR.MakeEmpty</a:t>
            </a:r>
            <a:r>
              <a:rPr lang="en-US" altLang="zh-CN" dirty="0"/>
              <a:t>();    </a:t>
            </a:r>
            <a:endParaRPr lang="en-US" altLang="zh-CN" dirty="0"/>
          </a:p>
          <a:p>
            <a:pPr marL="0" indent="0">
              <a:buNone/>
            </a:pPr>
            <a:r>
              <a:rPr lang="en-US" altLang="zh-CN" dirty="0"/>
              <a:t>     </a:t>
            </a:r>
            <a:r>
              <a:rPr lang="en-US" altLang="zh-CN" dirty="0" err="1"/>
              <a:t>OPND.MakeEmpty</a:t>
            </a:r>
            <a:r>
              <a:rPr lang="en-US" altLang="zh-CN" dirty="0"/>
              <a:t>();</a:t>
            </a:r>
            <a:endParaRPr lang="en-US" altLang="zh-CN" dirty="0"/>
          </a:p>
          <a:p>
            <a:pPr marL="0" indent="0">
              <a:buNone/>
            </a:pPr>
            <a:r>
              <a:rPr lang="en-US" altLang="zh-CN" dirty="0"/>
              <a:t>     </a:t>
            </a:r>
            <a:r>
              <a:rPr lang="en-US" altLang="zh-CN" dirty="0" err="1"/>
              <a:t>OPTR.Push</a:t>
            </a:r>
            <a:r>
              <a:rPr lang="en-US" altLang="zh-CN" dirty="0"/>
              <a:t>(‘#’);</a:t>
            </a:r>
            <a:endParaRPr lang="zh-CN" altLang="en-US" dirty="0"/>
          </a:p>
          <a:p>
            <a:pPr marL="0" indent="0">
              <a:buNone/>
            </a:pPr>
            <a:r>
              <a:rPr lang="zh-CN" altLang="en-US" dirty="0"/>
              <a:t>     </a:t>
            </a:r>
            <a:r>
              <a:rPr lang="en-US" altLang="zh-CN" dirty="0" err="1"/>
              <a:t>cin</a:t>
            </a:r>
            <a:r>
              <a:rPr lang="en-US" altLang="zh-CN" dirty="0"/>
              <a:t> &gt;&gt; </a:t>
            </a:r>
            <a:r>
              <a:rPr lang="en-US" altLang="zh-CN" dirty="0" err="1"/>
              <a:t>ch</a:t>
            </a:r>
            <a:r>
              <a:rPr lang="en-US" altLang="zh-CN" dirty="0"/>
              <a:t>;</a:t>
            </a:r>
            <a:endParaRPr lang="zh-CN" altLang="en-US" dirty="0"/>
          </a:p>
          <a:p>
            <a:pPr marL="0" indent="0">
              <a:buNone/>
            </a:pPr>
            <a:r>
              <a:rPr lang="zh-CN" altLang="en-US" dirty="0"/>
              <a:t>     </a:t>
            </a:r>
            <a:r>
              <a:rPr lang="en-US" altLang="zh-CN" dirty="0"/>
              <a:t>op = '#' ;</a:t>
            </a:r>
            <a:endParaRPr lang="en-US" altLang="zh-CN" dirty="0"/>
          </a:p>
          <a:p>
            <a:pPr marL="0" indent="0">
              <a:buNone/>
            </a:pPr>
            <a:r>
              <a:rPr lang="en-US" altLang="zh-CN" dirty="0"/>
              <a:t>     while (</a:t>
            </a:r>
            <a:r>
              <a:rPr lang="en-US" altLang="zh-CN" dirty="0" err="1"/>
              <a:t>ch</a:t>
            </a:r>
            <a:r>
              <a:rPr lang="en-US" altLang="zh-CN" dirty="0"/>
              <a:t> != '#' || op != '#') {</a:t>
            </a:r>
            <a:endParaRPr lang="en-US" altLang="zh-CN" dirty="0"/>
          </a:p>
          <a:p>
            <a:pPr marL="0" indent="0">
              <a:buNone/>
            </a:pPr>
            <a:r>
              <a:rPr lang="en-US" altLang="zh-CN" dirty="0"/>
              <a:t>          if (</a:t>
            </a:r>
            <a:r>
              <a:rPr lang="en-US" altLang="zh-CN" dirty="0" err="1"/>
              <a:t>isdigit</a:t>
            </a:r>
            <a:r>
              <a:rPr lang="en-US" altLang="zh-CN" dirty="0"/>
              <a:t>(</a:t>
            </a:r>
            <a:r>
              <a:rPr lang="en-US" altLang="zh-CN" dirty="0" err="1"/>
              <a:t>ch</a:t>
            </a:r>
            <a:r>
              <a:rPr lang="en-US" altLang="zh-CN" dirty="0"/>
              <a:t>))    //</a:t>
            </a:r>
            <a:r>
              <a:rPr lang="zh-CN" altLang="en-US" dirty="0"/>
              <a:t>是操作数</a:t>
            </a:r>
            <a:r>
              <a:rPr lang="en-US" altLang="zh-CN" dirty="0"/>
              <a:t>, </a:t>
            </a:r>
            <a:r>
              <a:rPr lang="zh-CN" altLang="en-US" dirty="0"/>
              <a:t>进栈</a:t>
            </a:r>
            <a:endParaRPr lang="zh-CN" altLang="en-US" dirty="0"/>
          </a:p>
          <a:p>
            <a:pPr marL="0" indent="0">
              <a:buNone/>
            </a:pPr>
            <a:r>
              <a:rPr lang="zh-CN" altLang="en-US" dirty="0"/>
              <a:t>          </a:t>
            </a:r>
            <a:r>
              <a:rPr lang="en-US" altLang="zh-CN" dirty="0"/>
              <a:t>{ </a:t>
            </a:r>
            <a:endParaRPr lang="en-US" altLang="zh-CN" dirty="0"/>
          </a:p>
          <a:p>
            <a:pPr marL="0" indent="0">
              <a:buNone/>
            </a:pPr>
            <a:r>
              <a:rPr lang="en-US" altLang="zh-CN" dirty="0"/>
              <a:t>               </a:t>
            </a:r>
            <a:r>
              <a:rPr lang="en-US" altLang="zh-CN" dirty="0" err="1"/>
              <a:t>OPND.Push</a:t>
            </a:r>
            <a:r>
              <a:rPr lang="en-US" altLang="zh-CN" dirty="0"/>
              <a:t>(</a:t>
            </a:r>
            <a:r>
              <a:rPr lang="en-US" altLang="zh-CN" dirty="0" err="1"/>
              <a:t>ch</a:t>
            </a:r>
            <a:r>
              <a:rPr lang="en-US" altLang="zh-CN" dirty="0"/>
              <a:t> – ‘0’);  </a:t>
            </a:r>
            <a:endParaRPr lang="en-US" altLang="zh-CN" dirty="0"/>
          </a:p>
          <a:p>
            <a:pPr marL="0" indent="0">
              <a:buNone/>
            </a:pPr>
            <a:r>
              <a:rPr lang="en-US" altLang="zh-CN" dirty="0"/>
              <a:t>               </a:t>
            </a:r>
            <a:r>
              <a:rPr lang="en-US" altLang="zh-CN" dirty="0" err="1"/>
              <a:t>cin</a:t>
            </a:r>
            <a:r>
              <a:rPr lang="en-US" altLang="zh-CN" dirty="0"/>
              <a:t> &gt;&gt; </a:t>
            </a:r>
            <a:r>
              <a:rPr lang="en-US" altLang="zh-CN" dirty="0" err="1"/>
              <a:t>ch</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else {    //</a:t>
            </a:r>
            <a:r>
              <a:rPr lang="zh-CN" altLang="en-US" dirty="0"/>
              <a:t>是操作符</a:t>
            </a:r>
            <a:r>
              <a:rPr lang="en-US" altLang="zh-CN" dirty="0"/>
              <a:t>, </a:t>
            </a:r>
            <a:r>
              <a:rPr lang="zh-CN" altLang="en-US" dirty="0"/>
              <a:t>比较优先级</a:t>
            </a:r>
            <a:endParaRPr lang="zh-CN" altLang="en-US" dirty="0"/>
          </a:p>
          <a:p>
            <a:pPr marL="0" indent="0">
              <a:buNone/>
            </a:pPr>
            <a:r>
              <a:rPr lang="zh-CN" altLang="en-US" dirty="0"/>
              <a:t>               </a:t>
            </a:r>
            <a:r>
              <a:rPr lang="en-US" altLang="zh-CN" dirty="0" err="1"/>
              <a:t>OPTR.getTop</a:t>
            </a:r>
            <a:r>
              <a:rPr lang="en-US" altLang="zh-CN" dirty="0"/>
              <a:t>(op);   </a:t>
            </a:r>
            <a:endParaRPr lang="en-US" altLang="zh-CN" dirty="0"/>
          </a:p>
          <a:p>
            <a:pPr marL="0" indent="0">
              <a:buNone/>
            </a:pPr>
            <a:r>
              <a:rPr lang="en-US" altLang="zh-CN" dirty="0"/>
              <a:t>                     //</a:t>
            </a:r>
            <a:r>
              <a:rPr lang="zh-CN" altLang="en-US" dirty="0"/>
              <a:t>取操作符栈顶</a:t>
            </a:r>
            <a:endParaRPr lang="zh-CN" altLang="en-US" dirty="0"/>
          </a:p>
        </p:txBody>
      </p:sp>
      <p:sp>
        <p:nvSpPr>
          <p:cNvPr id="5" name="内容占位符 4"/>
          <p:cNvSpPr>
            <a:spLocks noGrp="1"/>
          </p:cNvSpPr>
          <p:nvPr>
            <p:ph sz="half" idx="2"/>
          </p:nvPr>
        </p:nvSpPr>
        <p:spPr>
          <a:xfrm>
            <a:off x="4629150" y="548680"/>
            <a:ext cx="4263330" cy="5628283"/>
          </a:xfrm>
          <a:solidFill>
            <a:schemeClr val="bg2">
              <a:lumMod val="90000"/>
            </a:schemeClr>
          </a:solidFill>
        </p:spPr>
        <p:txBody>
          <a:bodyPr>
            <a:normAutofit fontScale="85000" lnSpcReduction="20000"/>
          </a:bodyPr>
          <a:lstStyle/>
          <a:p>
            <a:pPr marL="0" indent="0">
              <a:buNone/>
            </a:pPr>
            <a:r>
              <a:rPr lang="en-US" altLang="zh-CN" dirty="0"/>
              <a:t>                if (</a:t>
            </a:r>
            <a:r>
              <a:rPr lang="en-US" altLang="zh-CN" dirty="0" err="1"/>
              <a:t>icp</a:t>
            </a:r>
            <a:r>
              <a:rPr lang="en-US" altLang="zh-CN" dirty="0"/>
              <a:t>(</a:t>
            </a:r>
            <a:r>
              <a:rPr lang="en-US" altLang="zh-CN" dirty="0" err="1"/>
              <a:t>ch</a:t>
            </a:r>
            <a:r>
              <a:rPr lang="en-US" altLang="zh-CN" dirty="0"/>
              <a:t>) &gt; </a:t>
            </a:r>
            <a:r>
              <a:rPr lang="en-US" altLang="zh-CN" dirty="0" err="1"/>
              <a:t>isp</a:t>
            </a:r>
            <a:r>
              <a:rPr lang="en-US" altLang="zh-CN" dirty="0"/>
              <a:t>(op))</a:t>
            </a:r>
            <a:endParaRPr lang="zh-CN" altLang="en-US" dirty="0"/>
          </a:p>
          <a:p>
            <a:pPr marL="0" indent="0">
              <a:buNone/>
            </a:pPr>
            <a:r>
              <a:rPr lang="zh-CN" altLang="en-US" dirty="0"/>
              <a:t>                </a:t>
            </a:r>
            <a:r>
              <a:rPr lang="en-US" altLang="zh-CN" dirty="0"/>
              <a:t>{//</a:t>
            </a:r>
            <a:r>
              <a:rPr lang="zh-CN" altLang="en-US" dirty="0"/>
              <a:t>栈顶优先级低</a:t>
            </a:r>
            <a:endParaRPr lang="en-US" altLang="zh-CN" dirty="0"/>
          </a:p>
          <a:p>
            <a:pPr marL="0" indent="0">
              <a:buNone/>
            </a:pPr>
            <a:r>
              <a:rPr lang="en-US" altLang="zh-CN" dirty="0"/>
              <a:t>                     </a:t>
            </a:r>
            <a:r>
              <a:rPr lang="en-US" altLang="zh-CN" dirty="0" err="1"/>
              <a:t>OPTR.Push</a:t>
            </a:r>
            <a:r>
              <a:rPr lang="en-US" altLang="zh-CN" dirty="0"/>
              <a:t> (</a:t>
            </a:r>
            <a:r>
              <a:rPr lang="en-US" altLang="zh-CN" dirty="0" err="1"/>
              <a:t>ch</a:t>
            </a:r>
            <a:r>
              <a:rPr lang="en-US" altLang="zh-CN" dirty="0"/>
              <a:t>);  </a:t>
            </a:r>
            <a:endParaRPr lang="en-US" altLang="zh-CN" dirty="0"/>
          </a:p>
          <a:p>
            <a:pPr marL="0" indent="0">
              <a:buNone/>
            </a:pPr>
            <a:r>
              <a:rPr lang="en-US" altLang="zh-CN" dirty="0"/>
              <a:t>                     </a:t>
            </a:r>
            <a:r>
              <a:rPr lang="en-US" altLang="zh-CN" dirty="0" err="1"/>
              <a:t>cin</a:t>
            </a:r>
            <a:r>
              <a:rPr lang="en-US" altLang="zh-CN" dirty="0"/>
              <a:t> &gt;&gt; </a:t>
            </a:r>
            <a:r>
              <a:rPr lang="en-US" altLang="zh-CN" dirty="0" err="1"/>
              <a:t>ch</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else if (</a:t>
            </a:r>
            <a:r>
              <a:rPr lang="en-US" altLang="zh-CN" dirty="0" err="1"/>
              <a:t>icp</a:t>
            </a:r>
            <a:r>
              <a:rPr lang="en-US" altLang="zh-CN" dirty="0"/>
              <a:t>(</a:t>
            </a:r>
            <a:r>
              <a:rPr lang="en-US" altLang="zh-CN" dirty="0" err="1"/>
              <a:t>ch</a:t>
            </a:r>
            <a:r>
              <a:rPr lang="en-US" altLang="zh-CN" dirty="0"/>
              <a:t>) &lt; </a:t>
            </a:r>
            <a:r>
              <a:rPr lang="en-US" altLang="zh-CN" dirty="0" err="1"/>
              <a:t>isp</a:t>
            </a:r>
            <a:r>
              <a:rPr lang="en-US" altLang="zh-CN" dirty="0"/>
              <a:t>(op)) </a:t>
            </a:r>
            <a:endParaRPr lang="en-US" altLang="zh-CN" dirty="0"/>
          </a:p>
          <a:p>
            <a:pPr marL="0" indent="0">
              <a:buNone/>
            </a:pPr>
            <a:r>
              <a:rPr lang="en-US" altLang="zh-CN" dirty="0"/>
              <a:t>                {//</a:t>
            </a:r>
            <a:r>
              <a:rPr lang="zh-CN" altLang="en-US" dirty="0"/>
              <a:t>栈顶优先级高</a:t>
            </a:r>
            <a:endParaRPr lang="en-US" altLang="zh-CN" dirty="0"/>
          </a:p>
          <a:p>
            <a:pPr marL="0" indent="0">
              <a:buNone/>
            </a:pPr>
            <a:r>
              <a:rPr lang="en-US" altLang="zh-CN" dirty="0"/>
              <a:t>                     </a:t>
            </a:r>
            <a:r>
              <a:rPr lang="en-US" altLang="zh-CN" dirty="0" err="1"/>
              <a:t>OPTR.Pop</a:t>
            </a:r>
            <a:r>
              <a:rPr lang="en-US" altLang="zh-CN" dirty="0"/>
              <a:t>(op);          </a:t>
            </a:r>
            <a:endParaRPr lang="zh-CN" altLang="en-US" dirty="0"/>
          </a:p>
          <a:p>
            <a:pPr marL="0" indent="0">
              <a:buNone/>
            </a:pPr>
            <a:r>
              <a:rPr lang="en-US" altLang="zh-CN" dirty="0"/>
              <a:t>                     </a:t>
            </a:r>
            <a:r>
              <a:rPr lang="en-US" altLang="zh-CN" dirty="0" err="1"/>
              <a:t>DoOperator</a:t>
            </a:r>
            <a:r>
              <a:rPr lang="en-US" altLang="zh-CN" dirty="0"/>
              <a:t>(OPND, op);</a:t>
            </a:r>
            <a:endParaRPr lang="en-US" altLang="zh-CN" dirty="0"/>
          </a:p>
          <a:p>
            <a:pPr marL="0" indent="0">
              <a:buNone/>
            </a:pPr>
            <a:r>
              <a:rPr lang="en-US" altLang="zh-CN" dirty="0"/>
              <a:t>                }</a:t>
            </a:r>
            <a:endParaRPr lang="en-US" altLang="zh-CN" dirty="0"/>
          </a:p>
          <a:p>
            <a:pPr marL="0" indent="0">
              <a:buNone/>
            </a:pPr>
            <a:r>
              <a:rPr lang="en-US" altLang="zh-CN" dirty="0"/>
              <a:t>	     else if (</a:t>
            </a:r>
            <a:r>
              <a:rPr lang="en-US" altLang="zh-CN" dirty="0" err="1"/>
              <a:t>ch</a:t>
            </a:r>
            <a:r>
              <a:rPr lang="en-US" altLang="zh-CN" dirty="0"/>
              <a:t> == ‘)’) </a:t>
            </a:r>
            <a:endParaRPr lang="zh-CN" altLang="en-US" dirty="0"/>
          </a:p>
          <a:p>
            <a:pPr marL="0" indent="0">
              <a:buNone/>
            </a:pPr>
            <a:r>
              <a:rPr lang="zh-CN" altLang="en-US" dirty="0"/>
              <a:t>                </a:t>
            </a:r>
            <a:r>
              <a:rPr lang="en-US" altLang="zh-CN" dirty="0"/>
              <a:t>{//</a:t>
            </a:r>
            <a:r>
              <a:rPr lang="zh-CN" altLang="en-US" dirty="0"/>
              <a:t>优先级相等</a:t>
            </a:r>
            <a:endParaRPr lang="en-US" altLang="zh-CN" dirty="0"/>
          </a:p>
          <a:p>
            <a:pPr marL="0" indent="0">
              <a:buNone/>
            </a:pPr>
            <a:r>
              <a:rPr lang="en-US" altLang="zh-CN" dirty="0"/>
              <a:t>                     </a:t>
            </a:r>
            <a:r>
              <a:rPr lang="en-US" altLang="zh-CN" dirty="0" err="1"/>
              <a:t>OPTR.Pop</a:t>
            </a:r>
            <a:r>
              <a:rPr lang="en-US" altLang="zh-CN" dirty="0"/>
              <a:t>(op); </a:t>
            </a:r>
            <a:endParaRPr lang="en-US" altLang="zh-CN" dirty="0"/>
          </a:p>
          <a:p>
            <a:pPr marL="0" indent="0">
              <a:buNone/>
            </a:pPr>
            <a:r>
              <a:rPr lang="en-US" altLang="zh-CN" dirty="0"/>
              <a:t>                     </a:t>
            </a:r>
            <a:r>
              <a:rPr lang="en-US" altLang="zh-CN" dirty="0" err="1"/>
              <a:t>cin</a:t>
            </a:r>
            <a:r>
              <a:rPr lang="en-US" altLang="zh-CN" dirty="0"/>
              <a:t> &gt;&gt; </a:t>
            </a:r>
            <a:r>
              <a:rPr lang="en-US" altLang="zh-CN" dirty="0" err="1"/>
              <a:t>ch</a:t>
            </a: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          </a:t>
            </a:r>
            <a:r>
              <a:rPr lang="en-US" altLang="zh-CN" dirty="0" err="1"/>
              <a:t>OPTR.getTop</a:t>
            </a:r>
            <a:r>
              <a:rPr lang="en-US" altLang="zh-CN" dirty="0"/>
              <a:t>(op);</a:t>
            </a:r>
            <a:endParaRPr lang="en-US" altLang="zh-CN" dirty="0"/>
          </a:p>
          <a:p>
            <a:pPr marL="0" indent="0">
              <a:buNone/>
            </a:pPr>
            <a:r>
              <a:rPr lang="en-US" altLang="zh-CN" dirty="0"/>
              <a:t>     }   /*end of while*/</a:t>
            </a:r>
            <a:endParaRPr lang="en-US" altLang="zh-CN" dirty="0"/>
          </a:p>
          <a:p>
            <a:pPr marL="0" indent="0">
              <a:buNone/>
            </a:pPr>
            <a:r>
              <a:rPr lang="en-US" altLang="zh-CN" dirty="0"/>
              <a:t>}</a:t>
            </a:r>
            <a:endParaRPr lang="zh-CN" altLang="en-US" dirty="0"/>
          </a:p>
        </p:txBody>
      </p:sp>
      <p:sp>
        <p:nvSpPr>
          <p:cNvPr id="3" name="灯片编号占位符 2"/>
          <p:cNvSpPr>
            <a:spLocks noGrp="1"/>
          </p:cNvSpPr>
          <p:nvPr>
            <p:ph type="sldNum" sz="quarter" idx="12"/>
          </p:nvPr>
        </p:nvSpPr>
        <p:spPr/>
        <p:txBody>
          <a:bodyPr/>
          <a:lstStyle/>
          <a:p>
            <a:fld id="{FBA36CD3-B007-48CD-8430-C9E4B93BCBBA}" type="slidenum">
              <a:rPr lang="en-US" altLang="zh-CN"/>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875A5BC4-3C6C-4042-9290-88AB6520CFE4}" type="slidenum">
              <a:rPr lang="en-US" altLang="zh-CN"/>
            </a:fld>
            <a:endParaRPr lang="en-US" altLang="zh-CN"/>
          </a:p>
        </p:txBody>
      </p:sp>
      <p:graphicFrame>
        <p:nvGraphicFramePr>
          <p:cNvPr id="278877" name="Group 349"/>
          <p:cNvGraphicFramePr>
            <a:graphicFrameLocks noGrp="1"/>
          </p:cNvGraphicFramePr>
          <p:nvPr/>
        </p:nvGraphicFramePr>
        <p:xfrm>
          <a:off x="342106" y="781410"/>
          <a:ext cx="8459788" cy="5638800"/>
        </p:xfrm>
        <a:graphic>
          <a:graphicData uri="http://schemas.openxmlformats.org/drawingml/2006/table">
            <a:tbl>
              <a:tblPr/>
              <a:tblGrid>
                <a:gridCol w="531813"/>
                <a:gridCol w="836612"/>
                <a:gridCol w="1404938"/>
                <a:gridCol w="1223962"/>
                <a:gridCol w="1079500"/>
                <a:gridCol w="3382963"/>
              </a:tblGrid>
              <a:tr h="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步</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28575"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输入</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28575"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OPND</a:t>
                      </a:r>
                      <a:endPar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28575"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OPTR</a:t>
                      </a:r>
                      <a:endPar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28575"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语义</a:t>
                      </a:r>
                      <a:endParaRPr kumimoji="0" lang="zh-CN" altLang="en-US" sz="2500" b="0"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28575"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动作</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28575"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r>
              <a:tr h="4635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栈初始化</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5334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2</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操作数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98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3</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&gt;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操作符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98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4</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B</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操作数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B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83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5</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&gt;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操作符 </a:t>
                      </a:r>
                      <a:r>
                        <a:rPr kumimoji="0" lang="zh-CN" altLang="en-US"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206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6</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&gt;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操作符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98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7</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C</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 C</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操作数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C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98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8</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 C</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&gt;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操作符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83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9</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D</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 C D</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操作数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D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3698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10</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AB 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1</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dirty="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dirty="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&lt;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D</a:t>
                      </a:r>
                      <a:r>
                        <a:rPr kumimoji="0" lang="zh-CN" altLang="en-US"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C</a:t>
                      </a:r>
                      <a:r>
                        <a:rPr kumimoji="0" lang="zh-CN" altLang="en-US"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dirty="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退栈，计算 </a:t>
                      </a:r>
                      <a:r>
                        <a:rPr kumimoji="0" lang="en-US" altLang="zh-CN"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C</a:t>
                      </a:r>
                      <a:r>
                        <a:rPr kumimoji="0" lang="en-US" altLang="zh-CN" sz="2500" b="1" i="0" u="none" strike="noStrike" cap="none" normalizeH="0" baseline="0" dirty="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D</a:t>
                      </a:r>
                      <a:r>
                        <a:rPr kumimoji="0" lang="zh-CN" altLang="en-US"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，结果 </a:t>
                      </a:r>
                      <a:r>
                        <a:rPr kumimoji="0" lang="en-US" altLang="zh-CN"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dirty="0">
                          <a:ln>
                            <a:noFill/>
                          </a:ln>
                          <a:solidFill>
                            <a:schemeClr val="tx1"/>
                          </a:solidFill>
                          <a:effectLst/>
                          <a:latin typeface="Times New Roman" panose="02020603050405020304" pitchFamily="18" charset="0"/>
                          <a:ea typeface="仿宋_GB2312" panose="02010609030101010101" pitchFamily="49" charset="-122"/>
                        </a:rPr>
                        <a:t>1 </a:t>
                      </a:r>
                      <a:r>
                        <a:rPr kumimoji="0" lang="zh-CN" altLang="en-US"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进栈</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bl>
          </a:graphicData>
        </a:graphic>
      </p:graphicFrame>
      <p:sp>
        <p:nvSpPr>
          <p:cNvPr id="2" name="标题 2"/>
          <p:cNvSpPr txBox="1"/>
          <p:nvPr/>
        </p:nvSpPr>
        <p:spPr>
          <a:xfrm>
            <a:off x="179512" y="136525"/>
            <a:ext cx="8712968" cy="628179"/>
          </a:xfrm>
          <a:prstGeom prst="rect">
            <a:avLst/>
          </a:prstGeom>
        </p:spPr>
        <p:txBody>
          <a:bodyPr>
            <a:normAutofit fontScale="97500"/>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a:lstStyle>
          <a:p>
            <a:r>
              <a:rPr lang="zh-CN" altLang="en-US" dirty="0"/>
              <a:t>中缀表达式</a:t>
            </a:r>
            <a:r>
              <a:rPr lang="en-US" altLang="zh-CN" dirty="0"/>
              <a:t>”</a:t>
            </a:r>
            <a:r>
              <a:rPr lang="pt-BR" altLang="zh-CN" dirty="0"/>
              <a:t> a + b * (c - d) - e / f;</a:t>
            </a:r>
            <a:r>
              <a:rPr lang="en-US" altLang="zh-CN" dirty="0"/>
              <a:t>”</a:t>
            </a:r>
            <a:r>
              <a:rPr lang="zh-CN" altLang="en-US" dirty="0"/>
              <a:t> 的计算过程</a:t>
            </a:r>
            <a:endParaRPr lang="zh-CN" altLang="en-US" dirty="0"/>
          </a:p>
        </p:txBody>
      </p:sp>
    </p:spTree>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325EFA99-6811-4C4E-962C-9008F9337C38}" type="slidenum">
              <a:rPr lang="en-US" altLang="zh-CN"/>
            </a:fld>
            <a:endParaRPr lang="en-US" altLang="zh-CN"/>
          </a:p>
        </p:txBody>
      </p:sp>
      <p:graphicFrame>
        <p:nvGraphicFramePr>
          <p:cNvPr id="280037" name="Group 485"/>
          <p:cNvGraphicFramePr>
            <a:graphicFrameLocks noGrp="1"/>
          </p:cNvGraphicFramePr>
          <p:nvPr/>
        </p:nvGraphicFramePr>
        <p:xfrm>
          <a:off x="358775" y="765175"/>
          <a:ext cx="8461375" cy="5414645"/>
        </p:xfrm>
        <a:graphic>
          <a:graphicData uri="http://schemas.openxmlformats.org/drawingml/2006/table">
            <a:tbl>
              <a:tblPr/>
              <a:tblGrid>
                <a:gridCol w="504825"/>
                <a:gridCol w="863600"/>
                <a:gridCol w="1152525"/>
                <a:gridCol w="1152525"/>
                <a:gridCol w="1008063"/>
                <a:gridCol w="3779837"/>
              </a:tblGrid>
              <a:tr h="2889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步</a:t>
                      </a:r>
                      <a:endParaRPr kumimoji="0" lang="zh-CN" altLang="en-US" sz="25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输入</a:t>
                      </a:r>
                      <a:endParaRPr kumimoji="0" lang="zh-CN" altLang="en-US" sz="25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OPND</a:t>
                      </a:r>
                      <a:endPar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OPTR</a:t>
                      </a:r>
                      <a:endPar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语义</a:t>
                      </a:r>
                      <a:endParaRPr kumimoji="0" lang="zh-CN" altLang="en-US" sz="25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动作</a:t>
                      </a:r>
                      <a:endParaRPr kumimoji="0" lang="zh-CN" altLang="en-US" sz="25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r>
              <a:tr h="265113">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10</a:t>
                      </a:r>
                      <a:endPar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AB r</a:t>
                      </a:r>
                      <a:r>
                        <a:rPr kumimoji="0" lang="en-US" altLang="zh-CN" sz="2500" b="1" i="0" u="none" strike="noStrike" cap="none" normalizeH="0" baseline="-25000">
                          <a:ln>
                            <a:noFill/>
                          </a:ln>
                          <a:solidFill>
                            <a:schemeClr val="tx2"/>
                          </a:solidFill>
                          <a:effectLst/>
                          <a:latin typeface="Times New Roman" panose="02020603050405020304" pitchFamily="18" charset="0"/>
                          <a:ea typeface="仿宋_GB2312" panose="02010609030101010101" pitchFamily="49" charset="-122"/>
                        </a:rPr>
                        <a:t>1</a:t>
                      </a:r>
                      <a:endParaRPr kumimoji="0" lang="en-US" altLang="zh-CN" sz="2500" b="1" i="0" u="none" strike="noStrike" cap="none" normalizeH="0" baseline="-2500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&lt;</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D</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C</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退栈，计算 </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C</a:t>
                      </a: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D</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，结果 </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2"/>
                          </a:solidFill>
                          <a:effectLst/>
                          <a:latin typeface="Times New Roman" panose="02020603050405020304" pitchFamily="18" charset="0"/>
                          <a:ea typeface="仿宋_GB2312" panose="02010609030101010101" pitchFamily="49" charset="-122"/>
                        </a:rPr>
                        <a:t>1 </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进栈</a:t>
                      </a:r>
                      <a:endPar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r>
              <a:tr h="265113">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11</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B 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1</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退栈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消括号</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508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12</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 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2</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&lt;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1</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B</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退栈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计算</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B*r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1</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结果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2</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524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13</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&lt;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2</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退栈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计算</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2</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结果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508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14</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&gt;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操作符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 </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921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15</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E</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E</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操作数</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E</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508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16</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E</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&gt;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操作符</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524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17</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F</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E F</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操作数</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F</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bl>
          </a:graphicData>
        </a:graphic>
      </p:graphicFrame>
    </p:spTree>
  </p:cSld>
  <p:clrMapOvr>
    <a:masterClrMapping/>
  </p:clrMapOvr>
  <p:transition>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E84EC328-3BC9-44DB-BF38-5F9430A3983B}" type="slidenum">
              <a:rPr lang="en-US" altLang="zh-CN"/>
            </a:fld>
            <a:endParaRPr lang="en-US" altLang="zh-CN"/>
          </a:p>
        </p:txBody>
      </p:sp>
      <p:graphicFrame>
        <p:nvGraphicFramePr>
          <p:cNvPr id="280762" name="Group 186"/>
          <p:cNvGraphicFramePr>
            <a:graphicFrameLocks noGrp="1"/>
          </p:cNvGraphicFramePr>
          <p:nvPr/>
        </p:nvGraphicFramePr>
        <p:xfrm>
          <a:off x="323850" y="800100"/>
          <a:ext cx="8424863" cy="3147060"/>
        </p:xfrm>
        <a:graphic>
          <a:graphicData uri="http://schemas.openxmlformats.org/drawingml/2006/table">
            <a:tbl>
              <a:tblPr/>
              <a:tblGrid>
                <a:gridCol w="539750"/>
                <a:gridCol w="828675"/>
                <a:gridCol w="1150938"/>
                <a:gridCol w="1081087"/>
                <a:gridCol w="1116013"/>
                <a:gridCol w="3708400"/>
              </a:tblGrid>
              <a:tr h="26828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步</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输入</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OPND</a:t>
                      </a:r>
                      <a:endPar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OPTR</a:t>
                      </a:r>
                      <a:endParaRPr kumimoji="0" lang="en-US" altLang="zh-CN"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语义</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rPr>
                        <a:t>动作</a:t>
                      </a:r>
                      <a:endParaRPr kumimoji="0" lang="zh-CN" altLang="en-US" sz="25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FFFF99"/>
                    </a:solidFill>
                  </a:tcPr>
                </a:tc>
              </a:tr>
              <a:tr h="2127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17</a:t>
                      </a:r>
                      <a:endPar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F</a:t>
                      </a:r>
                      <a:endPar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2"/>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 E F</a:t>
                      </a:r>
                      <a:endPar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2"/>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操作数</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F</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进栈</a:t>
                      </a:r>
                      <a:r>
                        <a:rPr kumimoji="0" lang="en-US" altLang="zh-CN"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rPr>
                        <a:t>读字符</a:t>
                      </a:r>
                      <a:endParaRPr kumimoji="0" lang="zh-CN" altLang="en-US" sz="2500" b="1" i="0" u="none" strike="noStrike" cap="none" normalizeH="0" baseline="0">
                        <a:ln>
                          <a:noFill/>
                        </a:ln>
                        <a:solidFill>
                          <a:schemeClr val="tx2"/>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solidFill>
                      <a:srgbClr val="CCFF99"/>
                    </a:solidFill>
                  </a:tcPr>
                </a:tc>
              </a:tr>
              <a:tr h="2127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18</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4</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&lt;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F</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E</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退栈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计算</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E</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F,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结果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4</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7307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19</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5</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&lt;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4</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退栈</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计算</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3</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4</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结果 </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5</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进栈</a:t>
                      </a:r>
                      <a:endPar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12700" cap="flat" cmpd="sng" algn="ctr">
                      <a:solidFill>
                        <a:schemeClr val="tx1"/>
                      </a:solidFill>
                      <a:prstDash val="solid"/>
                      <a:round/>
                      <a:headEnd type="none" w="lg" len="lg"/>
                      <a:tailEnd type="none" w="med" len="med"/>
                    </a:lnB>
                    <a:lnTlToBr>
                      <a:noFill/>
                    </a:lnTlToBr>
                    <a:lnBlToTr>
                      <a:noFill/>
                    </a:lnBlToTr>
                    <a:noFill/>
                  </a:tcPr>
                </a:tc>
              </a:tr>
              <a:tr h="4953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20</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cap="flat">
                      <a:noFill/>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28575"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28575"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r</a:t>
                      </a:r>
                      <a:r>
                        <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rPr>
                        <a:t>5</a:t>
                      </a:r>
                      <a:endParaRPr kumimoji="0" lang="en-US" altLang="zh-CN" sz="2500" b="1" i="0" u="none" strike="noStrike" cap="none" normalizeH="0" baseline="-2500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28575"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28575"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 </a:t>
                      </a:r>
                      <a:r>
                        <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rPr>
                        <a:t>#</a:t>
                      </a:r>
                      <a:endParaRPr kumimoji="0" lang="en-US" altLang="zh-CN" sz="2500" b="1" i="0" u="none" strike="noStrike" cap="none" normalizeH="0" baseline="0">
                        <a:ln>
                          <a:noFill/>
                        </a:ln>
                        <a:solidFill>
                          <a:schemeClr val="tx1"/>
                        </a:solidFill>
                        <a:effectLst/>
                        <a:latin typeface="Courier New" panose="02070309020205020404" pitchFamily="49"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w="12700" cap="flat" cmpd="sng" algn="ctr">
                      <a:solidFill>
                        <a:schemeClr val="tx1"/>
                      </a:solidFill>
                      <a:prstDash val="solid"/>
                      <a:round/>
                      <a:headEnd type="none" w="lg" len="lg"/>
                      <a:tailEnd type="none" w="med" len="med"/>
                    </a:lnR>
                    <a:lnT w="12700" cap="flat" cmpd="sng" algn="ctr">
                      <a:solidFill>
                        <a:schemeClr val="tx1"/>
                      </a:solidFill>
                      <a:prstDash val="solid"/>
                      <a:round/>
                      <a:headEnd type="none" w="lg" len="lg"/>
                      <a:tailEnd type="none" w="med" len="med"/>
                    </a:lnT>
                    <a:lnB w="28575" cap="flat" cmpd="sng" algn="ctr">
                      <a:solidFill>
                        <a:schemeClr val="tx1"/>
                      </a:solidFill>
                      <a:prstDash val="solid"/>
                      <a:round/>
                      <a:headEnd type="none" w="lg" len="lg"/>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算法结束，结果在</a:t>
                      </a:r>
                      <a:r>
                        <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OPND</a:t>
                      </a:r>
                      <a:endParaRPr kumimoji="0" lang="en-US" altLang="zh-CN" sz="2500" b="1"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horzOverflow="overflow">
                    <a:lnL w="12700" cap="flat" cmpd="sng" algn="ctr">
                      <a:solidFill>
                        <a:schemeClr val="tx1"/>
                      </a:solidFill>
                      <a:prstDash val="solid"/>
                      <a:round/>
                      <a:headEnd type="none" w="lg" len="lg"/>
                      <a:tailEnd type="none" w="med" len="med"/>
                    </a:lnL>
                    <a:lnR cap="flat">
                      <a:noFill/>
                    </a:lnR>
                    <a:lnT w="12700" cap="flat" cmpd="sng" algn="ctr">
                      <a:solidFill>
                        <a:schemeClr val="tx1"/>
                      </a:solidFill>
                      <a:prstDash val="solid"/>
                      <a:round/>
                      <a:headEnd type="none" w="lg" len="lg"/>
                      <a:tailEnd type="none" w="med" len="med"/>
                    </a:lnT>
                    <a:lnB w="28575" cap="flat" cmpd="sng" algn="ctr">
                      <a:solidFill>
                        <a:schemeClr val="tx1"/>
                      </a:solidFill>
                      <a:prstDash val="solid"/>
                      <a:round/>
                      <a:headEnd type="none" w="lg" len="lg"/>
                      <a:tailEnd type="none" w="med" len="med"/>
                    </a:lnB>
                    <a:lnTlToBr>
                      <a:noFill/>
                    </a:lnTlToBr>
                    <a:lnBlToTr>
                      <a:noFill/>
                    </a:lnBlToTr>
                    <a:noFill/>
                  </a:tcPr>
                </a:tc>
              </a:tr>
            </a:tbl>
          </a:graphicData>
        </a:graphic>
      </p:graphicFrame>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p:nvPr>
        </p:nvSpPr>
        <p:spPr/>
        <p:txBody>
          <a:bodyPr/>
          <a:lstStyle/>
          <a:p>
            <a:r>
              <a:rPr lang="en-US" altLang="zh-CN" dirty="0"/>
              <a:t>3.2 </a:t>
            </a:r>
            <a:r>
              <a:rPr lang="zh-CN" altLang="en-US" dirty="0"/>
              <a:t>栈与递归</a:t>
            </a:r>
            <a:endParaRPr lang="zh-CN" altLang="en-US" dirty="0"/>
          </a:p>
        </p:txBody>
      </p:sp>
      <p:sp>
        <p:nvSpPr>
          <p:cNvPr id="46083" name="内容占位符 2"/>
          <p:cNvSpPr>
            <a:spLocks noGrp="1" noChangeArrowheads="1"/>
          </p:cNvSpPr>
          <p:nvPr>
            <p:ph idx="1"/>
          </p:nvPr>
        </p:nvSpPr>
        <p:spPr>
          <a:xfrm>
            <a:off x="628650" y="1825625"/>
            <a:ext cx="8047038" cy="4351338"/>
          </a:xfrm>
        </p:spPr>
        <p:txBody>
          <a:bodyPr>
            <a:normAutofit fontScale="92500" lnSpcReduction="10000"/>
          </a:bodyPr>
          <a:lstStyle/>
          <a:p>
            <a:r>
              <a:rPr lang="zh-CN" altLang="en-US" dirty="0"/>
              <a:t>递归的概念</a:t>
            </a:r>
            <a:endParaRPr lang="zh-CN" altLang="en-US" dirty="0"/>
          </a:p>
          <a:p>
            <a:pPr lvl="1"/>
            <a:r>
              <a:rPr lang="zh-CN" altLang="en-US" dirty="0"/>
              <a:t>若一个对象部分地包含它自己，或用它自己给自己定义，则称这个对象是递归的；</a:t>
            </a:r>
            <a:endParaRPr lang="en-US" altLang="zh-CN" dirty="0"/>
          </a:p>
          <a:p>
            <a:pPr lvl="1"/>
            <a:r>
              <a:rPr lang="zh-CN" altLang="en-US" dirty="0"/>
              <a:t>若一个过程直接或间接地调用自己，则称这个过程是递归的过程。</a:t>
            </a:r>
            <a:endParaRPr lang="zh-CN" altLang="en-US" dirty="0"/>
          </a:p>
          <a:p>
            <a:r>
              <a:rPr lang="zh-CN" altLang="en-US" dirty="0"/>
              <a:t>递归方法的常用场景</a:t>
            </a:r>
            <a:endParaRPr lang="zh-CN" altLang="en-US" dirty="0"/>
          </a:p>
          <a:p>
            <a:pPr lvl="1"/>
            <a:r>
              <a:rPr lang="zh-CN" altLang="en-US" dirty="0"/>
              <a:t>定义是递归的</a:t>
            </a:r>
            <a:endParaRPr lang="zh-CN" altLang="en-US" dirty="0"/>
          </a:p>
          <a:p>
            <a:pPr lvl="1"/>
            <a:r>
              <a:rPr lang="zh-CN" altLang="en-US" dirty="0"/>
              <a:t>数据结构是递归的</a:t>
            </a:r>
            <a:endParaRPr lang="zh-CN" altLang="en-US" dirty="0"/>
          </a:p>
          <a:p>
            <a:pPr lvl="1"/>
            <a:r>
              <a:rPr lang="zh-CN" altLang="en-US" dirty="0"/>
              <a:t>问题的解法是递归的</a:t>
            </a:r>
            <a:endParaRPr lang="zh-CN" altLang="en-US" dirty="0"/>
          </a:p>
        </p:txBody>
      </p:sp>
      <p:sp>
        <p:nvSpPr>
          <p:cNvPr id="2" name="灯片编号占位符 1"/>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5"/>
          <p:cNvGraphicFramePr>
            <a:graphicFrameLocks noChangeAspect="1"/>
          </p:cNvGraphicFramePr>
          <p:nvPr/>
        </p:nvGraphicFramePr>
        <p:xfrm>
          <a:off x="1187624" y="2169538"/>
          <a:ext cx="5743575" cy="1255713"/>
        </p:xfrm>
        <a:graphic>
          <a:graphicData uri="http://schemas.openxmlformats.org/presentationml/2006/ole">
            <mc:AlternateContent xmlns:mc="http://schemas.openxmlformats.org/markup-compatibility/2006">
              <mc:Choice xmlns:v="urn:schemas-microsoft-com:vml" Requires="v">
                <p:oleObj spid="_x0000_s2" name="公式" r:id="rId1" imgW="1765300" imgH="482600" progId="Equation.3">
                  <p:embed/>
                </p:oleObj>
              </mc:Choice>
              <mc:Fallback>
                <p:oleObj name="公式" r:id="rId1" imgW="1765300" imgH="482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169538"/>
                        <a:ext cx="5743575" cy="1255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7" name="标题 1"/>
          <p:cNvSpPr>
            <a:spLocks noGrp="1" noChangeArrowheads="1"/>
          </p:cNvSpPr>
          <p:nvPr>
            <p:ph type="title"/>
          </p:nvPr>
        </p:nvSpPr>
        <p:spPr/>
        <p:txBody>
          <a:bodyPr/>
          <a:lstStyle/>
          <a:p>
            <a:r>
              <a:rPr lang="zh-CN" altLang="en-US" dirty="0"/>
              <a:t>场景</a:t>
            </a:r>
            <a:r>
              <a:rPr lang="en-US" altLang="zh-CN" dirty="0"/>
              <a:t>1</a:t>
            </a:r>
            <a:r>
              <a:rPr lang="zh-CN" altLang="en-US" dirty="0"/>
              <a:t>：定义是递归的</a:t>
            </a:r>
            <a:endParaRPr lang="zh-CN" altLang="en-US" dirty="0"/>
          </a:p>
        </p:txBody>
      </p:sp>
      <p:sp>
        <p:nvSpPr>
          <p:cNvPr id="3" name="内容占位符 2"/>
          <p:cNvSpPr>
            <a:spLocks noGrp="1"/>
          </p:cNvSpPr>
          <p:nvPr>
            <p:ph idx="1"/>
          </p:nvPr>
        </p:nvSpPr>
        <p:spPr/>
        <p:txBody>
          <a:bodyPr>
            <a:normAutofit fontScale="70000" lnSpcReduction="20000"/>
          </a:bodyPr>
          <a:lstStyle/>
          <a:p>
            <a:pPr>
              <a:defRPr/>
            </a:pPr>
            <a:r>
              <a:rPr lang="zh-CN" altLang="en-US" dirty="0"/>
              <a:t>例如，阶乘函数</a:t>
            </a:r>
            <a:endParaRPr lang="zh-CN" altLang="en-US" dirty="0"/>
          </a:p>
          <a:p>
            <a:pPr>
              <a:defRPr/>
            </a:pPr>
            <a:endParaRPr lang="en-US" altLang="zh-CN" dirty="0"/>
          </a:p>
          <a:p>
            <a:pPr>
              <a:defRPr/>
            </a:pPr>
            <a:endParaRPr lang="en-US" altLang="zh-CN" dirty="0"/>
          </a:p>
          <a:p>
            <a:pPr>
              <a:defRPr/>
            </a:pPr>
            <a:endParaRPr lang="en-US" altLang="zh-CN" dirty="0"/>
          </a:p>
          <a:p>
            <a:pPr>
              <a:defRPr/>
            </a:pPr>
            <a:r>
              <a:rPr lang="zh-CN" altLang="en-US" dirty="0"/>
              <a:t>求解阶乘函数的递归算法</a:t>
            </a:r>
            <a:endParaRPr lang="zh-CN" altLang="en-US" dirty="0"/>
          </a:p>
          <a:p>
            <a:pPr marL="0" indent="0">
              <a:buFont typeface="Arial" panose="020B0604020202020204" pitchFamily="34" charset="0"/>
              <a:buNone/>
              <a:defRPr/>
            </a:pPr>
            <a:r>
              <a:rPr lang="en-US" altLang="zh-CN" dirty="0"/>
              <a:t>long Factorial ( long n ) {</a:t>
            </a:r>
            <a:endParaRPr lang="en-US" altLang="zh-CN" dirty="0"/>
          </a:p>
          <a:p>
            <a:pPr marL="0" indent="0">
              <a:buFont typeface="Arial" panose="020B0604020202020204" pitchFamily="34" charset="0"/>
              <a:buNone/>
              <a:defRPr/>
            </a:pPr>
            <a:r>
              <a:rPr lang="en-US" altLang="zh-CN" dirty="0"/>
              <a:t>    if (n &lt; 0) exit(0);</a:t>
            </a:r>
            <a:endParaRPr lang="en-US" altLang="zh-CN" dirty="0"/>
          </a:p>
          <a:p>
            <a:pPr marL="0" indent="0">
              <a:buFont typeface="Arial" panose="020B0604020202020204" pitchFamily="34" charset="0"/>
              <a:buNone/>
              <a:defRPr/>
            </a:pPr>
            <a:r>
              <a:rPr lang="en-US" altLang="zh-CN" dirty="0"/>
              <a:t>    if ( n == 0 ) return 1;</a:t>
            </a:r>
            <a:endParaRPr lang="en-US" altLang="zh-CN" dirty="0"/>
          </a:p>
          <a:p>
            <a:pPr marL="0" indent="0">
              <a:buFont typeface="Arial" panose="020B0604020202020204" pitchFamily="34" charset="0"/>
              <a:buNone/>
              <a:defRPr/>
            </a:pPr>
            <a:r>
              <a:rPr lang="en-US" altLang="zh-CN" dirty="0"/>
              <a:t>    else return n * Factorial (n-1);</a:t>
            </a:r>
            <a:endParaRPr lang="en-US" altLang="zh-CN" dirty="0"/>
          </a:p>
          <a:p>
            <a:pPr marL="0" indent="0">
              <a:buFont typeface="Arial" panose="020B0604020202020204" pitchFamily="34" charset="0"/>
              <a:buNone/>
              <a:defRPr/>
            </a:pPr>
            <a:r>
              <a:rPr lang="en-US" altLang="zh-CN" dirty="0"/>
              <a:t>}</a:t>
            </a:r>
            <a:endParaRPr lang="en-US" altLang="zh-CN" dirty="0"/>
          </a:p>
          <a:p>
            <a:pPr>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ChangeArrowheads="1"/>
          </p:cNvSpPr>
          <p:nvPr/>
        </p:nvSpPr>
        <p:spPr bwMode="auto">
          <a:xfrm>
            <a:off x="1866900" y="1557338"/>
            <a:ext cx="5410200" cy="609600"/>
          </a:xfrm>
          <a:prstGeom prst="rect">
            <a:avLst/>
          </a:prstGeom>
          <a:gradFill rotWithShape="0">
            <a:gsLst>
              <a:gs pos="0">
                <a:srgbClr val="FFFFCC"/>
              </a:gs>
              <a:gs pos="100000">
                <a:srgbClr val="76765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68964" name="Text Box 4"/>
          <p:cNvSpPr txBox="1">
            <a:spLocks noChangeArrowheads="1"/>
          </p:cNvSpPr>
          <p:nvPr/>
        </p:nvSpPr>
        <p:spPr bwMode="auto">
          <a:xfrm>
            <a:off x="2781300" y="1557338"/>
            <a:ext cx="3406775" cy="519112"/>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zh-CN" altLang="en-US" sz="2800" b="1">
                <a:solidFill>
                  <a:schemeClr val="accent2"/>
                </a:solidFill>
                <a:effectLst>
                  <a:outerShdw blurRad="38100" dist="38100" dir="2700000" algn="tl">
                    <a:srgbClr val="C0C0C0"/>
                  </a:outerShdw>
                </a:effectLst>
                <a:latin typeface="+mn-lt"/>
                <a:ea typeface="仿宋_GB2312" panose="02010609030101010101" pitchFamily="49" charset="-122"/>
              </a:rPr>
              <a:t>主程序</a:t>
            </a:r>
            <a:r>
              <a:rPr lang="zh-CN" altLang="en-US" sz="2800" b="1">
                <a:solidFill>
                  <a:schemeClr val="accent2"/>
                </a:solidFill>
                <a:latin typeface="+mn-lt"/>
                <a:ea typeface="+mn-ea"/>
              </a:rPr>
              <a:t> </a:t>
            </a:r>
            <a:r>
              <a:rPr lang="en-US" altLang="zh-CN" sz="2800" b="1">
                <a:solidFill>
                  <a:schemeClr val="accent2"/>
                </a:solidFill>
                <a:latin typeface="+mn-lt"/>
                <a:ea typeface="+mn-ea"/>
              </a:rPr>
              <a:t>main : </a:t>
            </a:r>
            <a:r>
              <a:rPr lang="en-US" altLang="zh-CN" sz="2800" b="1">
                <a:solidFill>
                  <a:srgbClr val="FFFFCC"/>
                </a:solidFill>
                <a:latin typeface="+mn-lt"/>
                <a:ea typeface="+mn-ea"/>
              </a:rPr>
              <a:t>fact(4)</a:t>
            </a:r>
            <a:endParaRPr lang="en-US" altLang="zh-CN">
              <a:latin typeface="+mn-lt"/>
              <a:ea typeface="+mn-ea"/>
            </a:endParaRPr>
          </a:p>
        </p:txBody>
      </p:sp>
      <p:sp>
        <p:nvSpPr>
          <p:cNvPr id="48132" name="Rectangle 5"/>
          <p:cNvSpPr>
            <a:spLocks noChangeArrowheads="1"/>
          </p:cNvSpPr>
          <p:nvPr/>
        </p:nvSpPr>
        <p:spPr bwMode="auto">
          <a:xfrm>
            <a:off x="1866900" y="2395538"/>
            <a:ext cx="5410200" cy="609600"/>
          </a:xfrm>
          <a:prstGeom prst="rect">
            <a:avLst/>
          </a:prstGeom>
          <a:gradFill rotWithShape="0">
            <a:gsLst>
              <a:gs pos="0">
                <a:srgbClr val="FFFFCC"/>
              </a:gs>
              <a:gs pos="100000">
                <a:srgbClr val="76765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8133" name="Text Box 6"/>
          <p:cNvSpPr txBox="1">
            <a:spLocks noChangeArrowheads="1"/>
          </p:cNvSpPr>
          <p:nvPr/>
        </p:nvSpPr>
        <p:spPr bwMode="auto">
          <a:xfrm>
            <a:off x="1943100" y="2471738"/>
            <a:ext cx="5192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chemeClr val="accent2"/>
                </a:solidFill>
                <a:latin typeface="Times New Roman" panose="02020603050405020304" pitchFamily="18" charset="0"/>
                <a:ea typeface="仿宋_GB2312" panose="02010609030101010101" pitchFamily="49" charset="-122"/>
              </a:rPr>
              <a:t>参数 </a:t>
            </a:r>
            <a:r>
              <a:rPr kumimoji="1" lang="en-US" altLang="zh-CN" sz="2800" b="1">
                <a:solidFill>
                  <a:schemeClr val="accent2"/>
                </a:solidFill>
                <a:latin typeface="Times New Roman" panose="02020603050405020304" pitchFamily="18" charset="0"/>
                <a:ea typeface="仿宋_GB2312" panose="02010609030101010101" pitchFamily="49" charset="-122"/>
              </a:rPr>
              <a:t>4    </a:t>
            </a:r>
            <a:r>
              <a:rPr kumimoji="1" lang="zh-CN" altLang="en-US" sz="2800" b="1">
                <a:solidFill>
                  <a:schemeClr val="accent2"/>
                </a:solidFill>
                <a:latin typeface="Times New Roman" panose="02020603050405020304" pitchFamily="18" charset="0"/>
                <a:ea typeface="仿宋_GB2312" panose="02010609030101010101" pitchFamily="49" charset="-122"/>
              </a:rPr>
              <a:t>计算 </a:t>
            </a:r>
            <a:r>
              <a:rPr kumimoji="1" lang="en-US" altLang="zh-CN" sz="2800" b="1">
                <a:solidFill>
                  <a:schemeClr val="accent2"/>
                </a:solidFill>
                <a:latin typeface="Times New Roman" panose="02020603050405020304" pitchFamily="18" charset="0"/>
                <a:ea typeface="仿宋_GB2312" panose="02010609030101010101" pitchFamily="49" charset="-122"/>
              </a:rPr>
              <a:t>4*fact(3)</a:t>
            </a:r>
            <a:r>
              <a:rPr kumimoji="1" lang="en-US" altLang="zh-CN" sz="2800" b="1">
                <a:latin typeface="Times New Roman" panose="02020603050405020304" pitchFamily="18" charset="0"/>
                <a:ea typeface="仿宋_GB2312" panose="02010609030101010101" pitchFamily="49" charset="-122"/>
              </a:rPr>
              <a:t>    </a:t>
            </a:r>
            <a:r>
              <a:rPr kumimoji="1" lang="zh-CN" altLang="en-US" sz="2800" b="1">
                <a:solidFill>
                  <a:srgbClr val="FFFFCC"/>
                </a:solidFill>
                <a:latin typeface="Times New Roman" panose="02020603050405020304" pitchFamily="18" charset="0"/>
                <a:ea typeface="仿宋_GB2312" panose="02010609030101010101" pitchFamily="49" charset="-122"/>
              </a:rPr>
              <a:t>返回 </a:t>
            </a:r>
            <a:r>
              <a:rPr kumimoji="1" lang="en-US" altLang="zh-CN" sz="2800" b="1">
                <a:solidFill>
                  <a:srgbClr val="FFFFCC"/>
                </a:solidFill>
                <a:latin typeface="Times New Roman" panose="02020603050405020304" pitchFamily="18" charset="0"/>
                <a:ea typeface="仿宋_GB2312" panose="02010609030101010101" pitchFamily="49" charset="-122"/>
              </a:rPr>
              <a:t>24</a:t>
            </a:r>
            <a:endParaRPr kumimoji="1" lang="en-US" altLang="zh-CN" sz="2400">
              <a:latin typeface="Times New Roman" panose="02020603050405020304" pitchFamily="18" charset="0"/>
              <a:ea typeface="宋体" panose="02010600030101010101" pitchFamily="2" charset="-122"/>
            </a:endParaRPr>
          </a:p>
        </p:txBody>
      </p:sp>
      <p:sp>
        <p:nvSpPr>
          <p:cNvPr id="48134" name="Line 7"/>
          <p:cNvSpPr>
            <a:spLocks noChangeShapeType="1"/>
          </p:cNvSpPr>
          <p:nvPr/>
        </p:nvSpPr>
        <p:spPr bwMode="auto">
          <a:xfrm flipH="1">
            <a:off x="1562100" y="20145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5" name="Line 8"/>
          <p:cNvSpPr>
            <a:spLocks noChangeShapeType="1"/>
          </p:cNvSpPr>
          <p:nvPr/>
        </p:nvSpPr>
        <p:spPr bwMode="auto">
          <a:xfrm>
            <a:off x="1562100" y="2547938"/>
            <a:ext cx="304800" cy="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6" name="Line 9"/>
          <p:cNvSpPr>
            <a:spLocks noChangeShapeType="1"/>
          </p:cNvSpPr>
          <p:nvPr/>
        </p:nvSpPr>
        <p:spPr bwMode="auto">
          <a:xfrm flipV="1">
            <a:off x="1562100" y="20145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7" name="Line 10"/>
          <p:cNvSpPr>
            <a:spLocks noChangeShapeType="1"/>
          </p:cNvSpPr>
          <p:nvPr/>
        </p:nvSpPr>
        <p:spPr bwMode="auto">
          <a:xfrm flipH="1">
            <a:off x="7277100" y="25479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8" name="Line 11"/>
          <p:cNvSpPr>
            <a:spLocks noChangeShapeType="1"/>
          </p:cNvSpPr>
          <p:nvPr/>
        </p:nvSpPr>
        <p:spPr bwMode="auto">
          <a:xfrm>
            <a:off x="7277100" y="2014538"/>
            <a:ext cx="304800" cy="0"/>
          </a:xfrm>
          <a:prstGeom prst="line">
            <a:avLst/>
          </a:prstGeom>
          <a:noFill/>
          <a:ln w="28575">
            <a:solidFill>
              <a:schemeClr val="tx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9" name="Line 12"/>
          <p:cNvSpPr>
            <a:spLocks noChangeShapeType="1"/>
          </p:cNvSpPr>
          <p:nvPr/>
        </p:nvSpPr>
        <p:spPr bwMode="auto">
          <a:xfrm flipV="1">
            <a:off x="7581900" y="20145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0" name="Rectangle 13"/>
          <p:cNvSpPr>
            <a:spLocks noChangeArrowheads="1"/>
          </p:cNvSpPr>
          <p:nvPr/>
        </p:nvSpPr>
        <p:spPr bwMode="auto">
          <a:xfrm>
            <a:off x="1866900" y="3233738"/>
            <a:ext cx="5410200" cy="609600"/>
          </a:xfrm>
          <a:prstGeom prst="rect">
            <a:avLst/>
          </a:prstGeom>
          <a:gradFill rotWithShape="0">
            <a:gsLst>
              <a:gs pos="0">
                <a:srgbClr val="FFFFCC"/>
              </a:gs>
              <a:gs pos="100000">
                <a:srgbClr val="76765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8141" name="Text Box 14"/>
          <p:cNvSpPr txBox="1">
            <a:spLocks noChangeArrowheads="1"/>
          </p:cNvSpPr>
          <p:nvPr/>
        </p:nvSpPr>
        <p:spPr bwMode="auto">
          <a:xfrm>
            <a:off x="1943100" y="3309938"/>
            <a:ext cx="501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chemeClr val="accent2"/>
                </a:solidFill>
                <a:latin typeface="Times New Roman" panose="02020603050405020304" pitchFamily="18" charset="0"/>
                <a:ea typeface="仿宋_GB2312" panose="02010609030101010101" pitchFamily="49" charset="-122"/>
              </a:rPr>
              <a:t>参数 </a:t>
            </a:r>
            <a:r>
              <a:rPr kumimoji="1" lang="en-US" altLang="zh-CN" sz="2800" b="1">
                <a:solidFill>
                  <a:schemeClr val="accent2"/>
                </a:solidFill>
                <a:latin typeface="Times New Roman" panose="02020603050405020304" pitchFamily="18" charset="0"/>
                <a:ea typeface="仿宋_GB2312" panose="02010609030101010101" pitchFamily="49" charset="-122"/>
              </a:rPr>
              <a:t>3    </a:t>
            </a:r>
            <a:r>
              <a:rPr kumimoji="1" lang="zh-CN" altLang="en-US" sz="2800" b="1">
                <a:solidFill>
                  <a:schemeClr val="accent2"/>
                </a:solidFill>
                <a:latin typeface="Times New Roman" panose="02020603050405020304" pitchFamily="18" charset="0"/>
                <a:ea typeface="仿宋_GB2312" panose="02010609030101010101" pitchFamily="49" charset="-122"/>
              </a:rPr>
              <a:t>计算 </a:t>
            </a:r>
            <a:r>
              <a:rPr kumimoji="1" lang="en-US" altLang="zh-CN" sz="2800" b="1">
                <a:solidFill>
                  <a:schemeClr val="accent2"/>
                </a:solidFill>
                <a:latin typeface="Times New Roman" panose="02020603050405020304" pitchFamily="18" charset="0"/>
                <a:ea typeface="仿宋_GB2312" panose="02010609030101010101" pitchFamily="49" charset="-122"/>
              </a:rPr>
              <a:t>3*fact(2)</a:t>
            </a:r>
            <a:r>
              <a:rPr kumimoji="1" lang="en-US" altLang="zh-CN" sz="2800" b="1">
                <a:latin typeface="Times New Roman" panose="02020603050405020304" pitchFamily="18" charset="0"/>
                <a:ea typeface="仿宋_GB2312" panose="02010609030101010101" pitchFamily="49" charset="-122"/>
              </a:rPr>
              <a:t>    </a:t>
            </a:r>
            <a:r>
              <a:rPr kumimoji="1" lang="zh-CN" altLang="en-US" sz="2800" b="1">
                <a:solidFill>
                  <a:srgbClr val="FFFFCC"/>
                </a:solidFill>
                <a:latin typeface="Times New Roman" panose="02020603050405020304" pitchFamily="18" charset="0"/>
                <a:ea typeface="仿宋_GB2312" panose="02010609030101010101" pitchFamily="49" charset="-122"/>
              </a:rPr>
              <a:t>返回 </a:t>
            </a:r>
            <a:r>
              <a:rPr kumimoji="1" lang="en-US" altLang="zh-CN" sz="2800" b="1">
                <a:solidFill>
                  <a:srgbClr val="FFFFCC"/>
                </a:solidFill>
                <a:latin typeface="Times New Roman" panose="02020603050405020304" pitchFamily="18" charset="0"/>
                <a:ea typeface="仿宋_GB2312" panose="02010609030101010101" pitchFamily="49" charset="-122"/>
              </a:rPr>
              <a:t>6</a:t>
            </a:r>
            <a:endParaRPr kumimoji="1" lang="en-US" altLang="zh-CN" sz="2400">
              <a:latin typeface="Times New Roman" panose="02020603050405020304" pitchFamily="18" charset="0"/>
              <a:ea typeface="宋体" panose="02010600030101010101" pitchFamily="2" charset="-122"/>
            </a:endParaRPr>
          </a:p>
        </p:txBody>
      </p:sp>
      <p:sp>
        <p:nvSpPr>
          <p:cNvPr id="48142" name="Line 15"/>
          <p:cNvSpPr>
            <a:spLocks noChangeShapeType="1"/>
          </p:cNvSpPr>
          <p:nvPr/>
        </p:nvSpPr>
        <p:spPr bwMode="auto">
          <a:xfrm flipH="1">
            <a:off x="1562100" y="28527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3" name="Line 16"/>
          <p:cNvSpPr>
            <a:spLocks noChangeShapeType="1"/>
          </p:cNvSpPr>
          <p:nvPr/>
        </p:nvSpPr>
        <p:spPr bwMode="auto">
          <a:xfrm>
            <a:off x="1562100" y="3386138"/>
            <a:ext cx="304800" cy="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4" name="Line 17"/>
          <p:cNvSpPr>
            <a:spLocks noChangeShapeType="1"/>
          </p:cNvSpPr>
          <p:nvPr/>
        </p:nvSpPr>
        <p:spPr bwMode="auto">
          <a:xfrm flipV="1">
            <a:off x="1562100" y="28527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5" name="Line 18"/>
          <p:cNvSpPr>
            <a:spLocks noChangeShapeType="1"/>
          </p:cNvSpPr>
          <p:nvPr/>
        </p:nvSpPr>
        <p:spPr bwMode="auto">
          <a:xfrm flipH="1">
            <a:off x="7277100" y="33861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6" name="Line 19"/>
          <p:cNvSpPr>
            <a:spLocks noChangeShapeType="1"/>
          </p:cNvSpPr>
          <p:nvPr/>
        </p:nvSpPr>
        <p:spPr bwMode="auto">
          <a:xfrm>
            <a:off x="7277100" y="2852738"/>
            <a:ext cx="304800" cy="0"/>
          </a:xfrm>
          <a:prstGeom prst="line">
            <a:avLst/>
          </a:prstGeom>
          <a:noFill/>
          <a:ln w="28575">
            <a:solidFill>
              <a:schemeClr val="tx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7" name="Line 20"/>
          <p:cNvSpPr>
            <a:spLocks noChangeShapeType="1"/>
          </p:cNvSpPr>
          <p:nvPr/>
        </p:nvSpPr>
        <p:spPr bwMode="auto">
          <a:xfrm flipV="1">
            <a:off x="7581900" y="28527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8" name="Rectangle 21"/>
          <p:cNvSpPr>
            <a:spLocks noChangeArrowheads="1"/>
          </p:cNvSpPr>
          <p:nvPr/>
        </p:nvSpPr>
        <p:spPr bwMode="auto">
          <a:xfrm>
            <a:off x="1866900" y="4071938"/>
            <a:ext cx="5410200" cy="609600"/>
          </a:xfrm>
          <a:prstGeom prst="rect">
            <a:avLst/>
          </a:prstGeom>
          <a:gradFill rotWithShape="0">
            <a:gsLst>
              <a:gs pos="0">
                <a:srgbClr val="FFFFCC"/>
              </a:gs>
              <a:gs pos="100000">
                <a:srgbClr val="76765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8149" name="Text Box 22"/>
          <p:cNvSpPr txBox="1">
            <a:spLocks noChangeArrowheads="1"/>
          </p:cNvSpPr>
          <p:nvPr/>
        </p:nvSpPr>
        <p:spPr bwMode="auto">
          <a:xfrm>
            <a:off x="1943100" y="4148138"/>
            <a:ext cx="501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chemeClr val="accent2"/>
                </a:solidFill>
                <a:latin typeface="Times New Roman" panose="02020603050405020304" pitchFamily="18" charset="0"/>
                <a:ea typeface="仿宋_GB2312" panose="02010609030101010101" pitchFamily="49" charset="-122"/>
              </a:rPr>
              <a:t>参数 </a:t>
            </a:r>
            <a:r>
              <a:rPr kumimoji="1" lang="en-US" altLang="zh-CN" sz="2800" b="1">
                <a:solidFill>
                  <a:schemeClr val="accent2"/>
                </a:solidFill>
                <a:latin typeface="Times New Roman" panose="02020603050405020304" pitchFamily="18" charset="0"/>
                <a:ea typeface="仿宋_GB2312" panose="02010609030101010101" pitchFamily="49" charset="-122"/>
              </a:rPr>
              <a:t>2    </a:t>
            </a:r>
            <a:r>
              <a:rPr kumimoji="1" lang="zh-CN" altLang="en-US" sz="2800" b="1">
                <a:solidFill>
                  <a:schemeClr val="accent2"/>
                </a:solidFill>
                <a:latin typeface="Times New Roman" panose="02020603050405020304" pitchFamily="18" charset="0"/>
                <a:ea typeface="仿宋_GB2312" panose="02010609030101010101" pitchFamily="49" charset="-122"/>
              </a:rPr>
              <a:t>计算 </a:t>
            </a:r>
            <a:r>
              <a:rPr kumimoji="1" lang="en-US" altLang="zh-CN" sz="2800" b="1">
                <a:solidFill>
                  <a:schemeClr val="accent2"/>
                </a:solidFill>
                <a:latin typeface="Times New Roman" panose="02020603050405020304" pitchFamily="18" charset="0"/>
                <a:ea typeface="仿宋_GB2312" panose="02010609030101010101" pitchFamily="49" charset="-122"/>
              </a:rPr>
              <a:t>2*fact(1)</a:t>
            </a:r>
            <a:r>
              <a:rPr kumimoji="1" lang="en-US" altLang="zh-CN" sz="2800" b="1">
                <a:latin typeface="Times New Roman" panose="02020603050405020304" pitchFamily="18" charset="0"/>
                <a:ea typeface="仿宋_GB2312" panose="02010609030101010101" pitchFamily="49" charset="-122"/>
              </a:rPr>
              <a:t>    </a:t>
            </a:r>
            <a:r>
              <a:rPr kumimoji="1" lang="zh-CN" altLang="en-US" sz="2800" b="1">
                <a:solidFill>
                  <a:srgbClr val="FFFFCC"/>
                </a:solidFill>
                <a:latin typeface="Times New Roman" panose="02020603050405020304" pitchFamily="18" charset="0"/>
                <a:ea typeface="仿宋_GB2312" panose="02010609030101010101" pitchFamily="49" charset="-122"/>
              </a:rPr>
              <a:t>返回 </a:t>
            </a:r>
            <a:r>
              <a:rPr kumimoji="1" lang="en-US" altLang="zh-CN" sz="2800" b="1">
                <a:solidFill>
                  <a:srgbClr val="FFFFCC"/>
                </a:solidFill>
                <a:latin typeface="Times New Roman" panose="02020603050405020304" pitchFamily="18" charset="0"/>
                <a:ea typeface="仿宋_GB2312" panose="02010609030101010101" pitchFamily="49" charset="-122"/>
              </a:rPr>
              <a:t>2</a:t>
            </a:r>
            <a:endParaRPr kumimoji="1" lang="en-US" altLang="zh-CN" sz="2400">
              <a:latin typeface="Times New Roman" panose="02020603050405020304" pitchFamily="18" charset="0"/>
              <a:ea typeface="宋体" panose="02010600030101010101" pitchFamily="2" charset="-122"/>
            </a:endParaRPr>
          </a:p>
        </p:txBody>
      </p:sp>
      <p:sp>
        <p:nvSpPr>
          <p:cNvPr id="48150" name="Line 23"/>
          <p:cNvSpPr>
            <a:spLocks noChangeShapeType="1"/>
          </p:cNvSpPr>
          <p:nvPr/>
        </p:nvSpPr>
        <p:spPr bwMode="auto">
          <a:xfrm flipH="1">
            <a:off x="1562100" y="36909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1" name="Line 24"/>
          <p:cNvSpPr>
            <a:spLocks noChangeShapeType="1"/>
          </p:cNvSpPr>
          <p:nvPr/>
        </p:nvSpPr>
        <p:spPr bwMode="auto">
          <a:xfrm>
            <a:off x="1562100" y="4224338"/>
            <a:ext cx="304800" cy="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2" name="Line 25"/>
          <p:cNvSpPr>
            <a:spLocks noChangeShapeType="1"/>
          </p:cNvSpPr>
          <p:nvPr/>
        </p:nvSpPr>
        <p:spPr bwMode="auto">
          <a:xfrm flipV="1">
            <a:off x="1562100" y="36909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3" name="Line 26"/>
          <p:cNvSpPr>
            <a:spLocks noChangeShapeType="1"/>
          </p:cNvSpPr>
          <p:nvPr/>
        </p:nvSpPr>
        <p:spPr bwMode="auto">
          <a:xfrm flipH="1">
            <a:off x="7277100" y="42243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4" name="Line 27"/>
          <p:cNvSpPr>
            <a:spLocks noChangeShapeType="1"/>
          </p:cNvSpPr>
          <p:nvPr/>
        </p:nvSpPr>
        <p:spPr bwMode="auto">
          <a:xfrm>
            <a:off x="7277100" y="3690938"/>
            <a:ext cx="304800" cy="0"/>
          </a:xfrm>
          <a:prstGeom prst="line">
            <a:avLst/>
          </a:prstGeom>
          <a:noFill/>
          <a:ln w="28575">
            <a:solidFill>
              <a:schemeClr val="tx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5" name="Line 28"/>
          <p:cNvSpPr>
            <a:spLocks noChangeShapeType="1"/>
          </p:cNvSpPr>
          <p:nvPr/>
        </p:nvSpPr>
        <p:spPr bwMode="auto">
          <a:xfrm flipV="1">
            <a:off x="7581900" y="36909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6" name="Rectangle 29"/>
          <p:cNvSpPr>
            <a:spLocks noChangeArrowheads="1"/>
          </p:cNvSpPr>
          <p:nvPr/>
        </p:nvSpPr>
        <p:spPr bwMode="auto">
          <a:xfrm>
            <a:off x="1866900" y="4910138"/>
            <a:ext cx="5410200" cy="609600"/>
          </a:xfrm>
          <a:prstGeom prst="rect">
            <a:avLst/>
          </a:prstGeom>
          <a:gradFill rotWithShape="0">
            <a:gsLst>
              <a:gs pos="0">
                <a:srgbClr val="FFFFCC"/>
              </a:gs>
              <a:gs pos="100000">
                <a:srgbClr val="76765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8157" name="Text Box 30"/>
          <p:cNvSpPr txBox="1">
            <a:spLocks noChangeArrowheads="1"/>
          </p:cNvSpPr>
          <p:nvPr/>
        </p:nvSpPr>
        <p:spPr bwMode="auto">
          <a:xfrm>
            <a:off x="1943100" y="4986338"/>
            <a:ext cx="501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chemeClr val="accent2"/>
                </a:solidFill>
                <a:latin typeface="Times New Roman" panose="02020603050405020304" pitchFamily="18" charset="0"/>
                <a:ea typeface="仿宋_GB2312" panose="02010609030101010101" pitchFamily="49" charset="-122"/>
              </a:rPr>
              <a:t>参数 </a:t>
            </a:r>
            <a:r>
              <a:rPr kumimoji="1" lang="en-US" altLang="zh-CN" sz="2800" b="1">
                <a:solidFill>
                  <a:schemeClr val="accent2"/>
                </a:solidFill>
                <a:latin typeface="Times New Roman" panose="02020603050405020304" pitchFamily="18" charset="0"/>
                <a:ea typeface="仿宋_GB2312" panose="02010609030101010101" pitchFamily="49" charset="-122"/>
              </a:rPr>
              <a:t>1    </a:t>
            </a:r>
            <a:r>
              <a:rPr kumimoji="1" lang="zh-CN" altLang="en-US" sz="2800" b="1">
                <a:solidFill>
                  <a:schemeClr val="accent2"/>
                </a:solidFill>
                <a:latin typeface="Times New Roman" panose="02020603050405020304" pitchFamily="18" charset="0"/>
                <a:ea typeface="仿宋_GB2312" panose="02010609030101010101" pitchFamily="49" charset="-122"/>
              </a:rPr>
              <a:t>计算 </a:t>
            </a:r>
            <a:r>
              <a:rPr kumimoji="1" lang="en-US" altLang="zh-CN" sz="2800" b="1">
                <a:solidFill>
                  <a:schemeClr val="accent2"/>
                </a:solidFill>
                <a:latin typeface="Times New Roman" panose="02020603050405020304" pitchFamily="18" charset="0"/>
                <a:ea typeface="仿宋_GB2312" panose="02010609030101010101" pitchFamily="49" charset="-122"/>
              </a:rPr>
              <a:t>1*fact(0)</a:t>
            </a:r>
            <a:r>
              <a:rPr kumimoji="1" lang="en-US" altLang="zh-CN" sz="2800" b="1">
                <a:latin typeface="Times New Roman" panose="02020603050405020304" pitchFamily="18" charset="0"/>
                <a:ea typeface="仿宋_GB2312" panose="02010609030101010101" pitchFamily="49" charset="-122"/>
              </a:rPr>
              <a:t>    </a:t>
            </a:r>
            <a:r>
              <a:rPr kumimoji="1" lang="zh-CN" altLang="en-US" sz="2800" b="1">
                <a:solidFill>
                  <a:srgbClr val="FFFFCC"/>
                </a:solidFill>
                <a:latin typeface="Times New Roman" panose="02020603050405020304" pitchFamily="18" charset="0"/>
                <a:ea typeface="仿宋_GB2312" panose="02010609030101010101" pitchFamily="49" charset="-122"/>
              </a:rPr>
              <a:t>返回 </a:t>
            </a:r>
            <a:r>
              <a:rPr kumimoji="1" lang="en-US" altLang="zh-CN" sz="2800" b="1">
                <a:solidFill>
                  <a:srgbClr val="FFFFCC"/>
                </a:solidFill>
                <a:latin typeface="Times New Roman" panose="02020603050405020304" pitchFamily="18" charset="0"/>
                <a:ea typeface="仿宋_GB2312" panose="02010609030101010101" pitchFamily="49" charset="-122"/>
              </a:rPr>
              <a:t>1</a:t>
            </a:r>
            <a:endParaRPr kumimoji="1" lang="en-US" altLang="zh-CN" sz="2400">
              <a:latin typeface="Times New Roman" panose="02020603050405020304" pitchFamily="18" charset="0"/>
              <a:ea typeface="宋体" panose="02010600030101010101" pitchFamily="2" charset="-122"/>
            </a:endParaRPr>
          </a:p>
        </p:txBody>
      </p:sp>
      <p:sp>
        <p:nvSpPr>
          <p:cNvPr id="48158" name="Line 31"/>
          <p:cNvSpPr>
            <a:spLocks noChangeShapeType="1"/>
          </p:cNvSpPr>
          <p:nvPr/>
        </p:nvSpPr>
        <p:spPr bwMode="auto">
          <a:xfrm flipH="1">
            <a:off x="1562100" y="45291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9" name="Line 32"/>
          <p:cNvSpPr>
            <a:spLocks noChangeShapeType="1"/>
          </p:cNvSpPr>
          <p:nvPr/>
        </p:nvSpPr>
        <p:spPr bwMode="auto">
          <a:xfrm>
            <a:off x="1562100" y="5062538"/>
            <a:ext cx="304800" cy="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0" name="Line 33"/>
          <p:cNvSpPr>
            <a:spLocks noChangeShapeType="1"/>
          </p:cNvSpPr>
          <p:nvPr/>
        </p:nvSpPr>
        <p:spPr bwMode="auto">
          <a:xfrm flipV="1">
            <a:off x="1562100" y="45291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1" name="Line 34"/>
          <p:cNvSpPr>
            <a:spLocks noChangeShapeType="1"/>
          </p:cNvSpPr>
          <p:nvPr/>
        </p:nvSpPr>
        <p:spPr bwMode="auto">
          <a:xfrm flipH="1">
            <a:off x="7277100" y="50625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2" name="Line 35"/>
          <p:cNvSpPr>
            <a:spLocks noChangeShapeType="1"/>
          </p:cNvSpPr>
          <p:nvPr/>
        </p:nvSpPr>
        <p:spPr bwMode="auto">
          <a:xfrm>
            <a:off x="7277100" y="4529138"/>
            <a:ext cx="304800" cy="0"/>
          </a:xfrm>
          <a:prstGeom prst="line">
            <a:avLst/>
          </a:prstGeom>
          <a:noFill/>
          <a:ln w="28575">
            <a:solidFill>
              <a:schemeClr val="tx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3" name="Line 36"/>
          <p:cNvSpPr>
            <a:spLocks noChangeShapeType="1"/>
          </p:cNvSpPr>
          <p:nvPr/>
        </p:nvSpPr>
        <p:spPr bwMode="auto">
          <a:xfrm flipV="1">
            <a:off x="7581900" y="45291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4" name="Rectangle 37"/>
          <p:cNvSpPr>
            <a:spLocks noChangeArrowheads="1"/>
          </p:cNvSpPr>
          <p:nvPr/>
        </p:nvSpPr>
        <p:spPr bwMode="auto">
          <a:xfrm>
            <a:off x="1866900" y="5748338"/>
            <a:ext cx="5410200" cy="609600"/>
          </a:xfrm>
          <a:prstGeom prst="rect">
            <a:avLst/>
          </a:prstGeom>
          <a:gradFill rotWithShape="0">
            <a:gsLst>
              <a:gs pos="0">
                <a:srgbClr val="FFFFCC"/>
              </a:gs>
              <a:gs pos="100000">
                <a:srgbClr val="76765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8165" name="Text Box 38"/>
          <p:cNvSpPr txBox="1">
            <a:spLocks noChangeArrowheads="1"/>
          </p:cNvSpPr>
          <p:nvPr/>
        </p:nvSpPr>
        <p:spPr bwMode="auto">
          <a:xfrm>
            <a:off x="1943100" y="5824538"/>
            <a:ext cx="4946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chemeClr val="accent2"/>
                </a:solidFill>
                <a:latin typeface="Times New Roman" panose="02020603050405020304" pitchFamily="18" charset="0"/>
                <a:ea typeface="仿宋_GB2312" panose="02010609030101010101" pitchFamily="49" charset="-122"/>
              </a:rPr>
              <a:t>参数 </a:t>
            </a:r>
            <a:r>
              <a:rPr kumimoji="1" lang="en-US" altLang="zh-CN" sz="2800" b="1">
                <a:solidFill>
                  <a:schemeClr val="accent2"/>
                </a:solidFill>
                <a:latin typeface="Times New Roman" panose="02020603050405020304" pitchFamily="18" charset="0"/>
                <a:ea typeface="仿宋_GB2312" panose="02010609030101010101" pitchFamily="49" charset="-122"/>
              </a:rPr>
              <a:t>0    </a:t>
            </a:r>
            <a:r>
              <a:rPr kumimoji="1" lang="zh-CN" altLang="en-US" sz="2800" b="1">
                <a:solidFill>
                  <a:schemeClr val="accent2"/>
                </a:solidFill>
                <a:latin typeface="Times New Roman" panose="02020603050405020304" pitchFamily="18" charset="0"/>
                <a:ea typeface="仿宋_GB2312" panose="02010609030101010101" pitchFamily="49" charset="-122"/>
              </a:rPr>
              <a:t>直接定值 </a:t>
            </a:r>
            <a:r>
              <a:rPr kumimoji="1" lang="en-US" altLang="zh-CN" sz="2800" b="1">
                <a:solidFill>
                  <a:schemeClr val="accent2"/>
                </a:solidFill>
                <a:latin typeface="Times New Roman" panose="02020603050405020304" pitchFamily="18" charset="0"/>
                <a:ea typeface="仿宋_GB2312" panose="02010609030101010101" pitchFamily="49" charset="-122"/>
              </a:rPr>
              <a:t>= 1 </a:t>
            </a:r>
            <a:r>
              <a:rPr kumimoji="1" lang="en-US" altLang="en-US" sz="2800" b="1">
                <a:latin typeface="Times New Roman" panose="02020603050405020304" pitchFamily="18" charset="0"/>
                <a:ea typeface="仿宋_GB2312" panose="02010609030101010101" pitchFamily="49" charset="-122"/>
              </a:rPr>
              <a:t>    </a:t>
            </a:r>
            <a:r>
              <a:rPr kumimoji="1" lang="zh-CN" altLang="en-US" sz="2800" b="1">
                <a:solidFill>
                  <a:srgbClr val="FFFFCC"/>
                </a:solidFill>
                <a:latin typeface="Times New Roman" panose="02020603050405020304" pitchFamily="18" charset="0"/>
                <a:ea typeface="仿宋_GB2312" panose="02010609030101010101" pitchFamily="49" charset="-122"/>
              </a:rPr>
              <a:t>返回 </a:t>
            </a:r>
            <a:r>
              <a:rPr kumimoji="1" lang="en-US" altLang="zh-CN" sz="2800" b="1">
                <a:solidFill>
                  <a:srgbClr val="FFFFCC"/>
                </a:solidFill>
                <a:latin typeface="Times New Roman" panose="02020603050405020304" pitchFamily="18" charset="0"/>
                <a:ea typeface="仿宋_GB2312" panose="02010609030101010101" pitchFamily="49" charset="-122"/>
              </a:rPr>
              <a:t>1</a:t>
            </a:r>
            <a:endParaRPr kumimoji="1" lang="en-US" altLang="zh-CN" sz="2400">
              <a:latin typeface="Times New Roman" panose="02020603050405020304" pitchFamily="18" charset="0"/>
              <a:ea typeface="宋体" panose="02010600030101010101" pitchFamily="2" charset="-122"/>
            </a:endParaRPr>
          </a:p>
        </p:txBody>
      </p:sp>
      <p:sp>
        <p:nvSpPr>
          <p:cNvPr id="48166" name="Line 39"/>
          <p:cNvSpPr>
            <a:spLocks noChangeShapeType="1"/>
          </p:cNvSpPr>
          <p:nvPr/>
        </p:nvSpPr>
        <p:spPr bwMode="auto">
          <a:xfrm flipH="1">
            <a:off x="1562100" y="53673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7" name="Line 40"/>
          <p:cNvSpPr>
            <a:spLocks noChangeShapeType="1"/>
          </p:cNvSpPr>
          <p:nvPr/>
        </p:nvSpPr>
        <p:spPr bwMode="auto">
          <a:xfrm>
            <a:off x="1562100" y="5900738"/>
            <a:ext cx="304800" cy="0"/>
          </a:xfrm>
          <a:prstGeom prst="line">
            <a:avLst/>
          </a:prstGeom>
          <a:noFill/>
          <a:ln w="28575">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8" name="Line 41"/>
          <p:cNvSpPr>
            <a:spLocks noChangeShapeType="1"/>
          </p:cNvSpPr>
          <p:nvPr/>
        </p:nvSpPr>
        <p:spPr bwMode="auto">
          <a:xfrm flipV="1">
            <a:off x="1562100" y="53673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9" name="Line 42"/>
          <p:cNvSpPr>
            <a:spLocks noChangeShapeType="1"/>
          </p:cNvSpPr>
          <p:nvPr/>
        </p:nvSpPr>
        <p:spPr bwMode="auto">
          <a:xfrm flipH="1">
            <a:off x="7277100" y="5900738"/>
            <a:ext cx="304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0" name="Line 43"/>
          <p:cNvSpPr>
            <a:spLocks noChangeShapeType="1"/>
          </p:cNvSpPr>
          <p:nvPr/>
        </p:nvSpPr>
        <p:spPr bwMode="auto">
          <a:xfrm>
            <a:off x="7277100" y="5367338"/>
            <a:ext cx="304800" cy="0"/>
          </a:xfrm>
          <a:prstGeom prst="line">
            <a:avLst/>
          </a:prstGeom>
          <a:noFill/>
          <a:ln w="28575">
            <a:solidFill>
              <a:schemeClr val="tx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1" name="Line 44"/>
          <p:cNvSpPr>
            <a:spLocks noChangeShapeType="1"/>
          </p:cNvSpPr>
          <p:nvPr/>
        </p:nvSpPr>
        <p:spPr bwMode="auto">
          <a:xfrm flipV="1">
            <a:off x="7581900" y="5367338"/>
            <a:ext cx="0" cy="53340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005" name="Text Box 45"/>
          <p:cNvSpPr txBox="1">
            <a:spLocks noChangeArrowheads="1"/>
          </p:cNvSpPr>
          <p:nvPr/>
        </p:nvSpPr>
        <p:spPr bwMode="auto">
          <a:xfrm>
            <a:off x="1012825" y="2957513"/>
            <a:ext cx="625475" cy="1800225"/>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2800" b="1">
                <a:solidFill>
                  <a:schemeClr val="hlink"/>
                </a:solidFill>
                <a:effectLst>
                  <a:outerShdw blurRad="38100" dist="38100" dir="2700000" algn="tl">
                    <a:srgbClr val="C0C0C0"/>
                  </a:outerShdw>
                </a:effectLst>
                <a:latin typeface="+mn-lt"/>
                <a:ea typeface="仿宋_GB2312" panose="02010609030101010101" pitchFamily="49" charset="-122"/>
              </a:rPr>
              <a:t>参数传递</a:t>
            </a:r>
            <a:endParaRPr lang="zh-CN" altLang="en-US">
              <a:latin typeface="+mn-lt"/>
              <a:ea typeface="+mn-ea"/>
            </a:endParaRPr>
          </a:p>
        </p:txBody>
      </p:sp>
      <p:sp>
        <p:nvSpPr>
          <p:cNvPr id="169006" name="Text Box 46"/>
          <p:cNvSpPr txBox="1">
            <a:spLocks noChangeArrowheads="1"/>
          </p:cNvSpPr>
          <p:nvPr/>
        </p:nvSpPr>
        <p:spPr bwMode="auto">
          <a:xfrm>
            <a:off x="7581900" y="3005138"/>
            <a:ext cx="549275" cy="1800225"/>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2800" b="1">
                <a:solidFill>
                  <a:schemeClr val="hlink"/>
                </a:solidFill>
                <a:effectLst>
                  <a:outerShdw blurRad="38100" dist="38100" dir="2700000" algn="tl">
                    <a:srgbClr val="C0C0C0"/>
                  </a:outerShdw>
                </a:effectLst>
                <a:latin typeface="+mn-lt"/>
                <a:ea typeface="仿宋_GB2312" panose="02010609030101010101" pitchFamily="49" charset="-122"/>
              </a:rPr>
              <a:t>结果返回</a:t>
            </a:r>
            <a:endParaRPr lang="zh-CN" altLang="en-US">
              <a:latin typeface="+mn-lt"/>
              <a:ea typeface="+mn-ea"/>
            </a:endParaRPr>
          </a:p>
        </p:txBody>
      </p:sp>
      <p:sp>
        <p:nvSpPr>
          <p:cNvPr id="48174" name="Line 47"/>
          <p:cNvSpPr>
            <a:spLocks noChangeShapeType="1"/>
          </p:cNvSpPr>
          <p:nvPr/>
        </p:nvSpPr>
        <p:spPr bwMode="auto">
          <a:xfrm>
            <a:off x="1028700" y="2014538"/>
            <a:ext cx="0" cy="39624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008" name="Text Box 48"/>
          <p:cNvSpPr txBox="1">
            <a:spLocks noChangeArrowheads="1"/>
          </p:cNvSpPr>
          <p:nvPr/>
        </p:nvSpPr>
        <p:spPr bwMode="auto">
          <a:xfrm>
            <a:off x="479425" y="2957513"/>
            <a:ext cx="625475" cy="1800225"/>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2800" b="1">
                <a:solidFill>
                  <a:schemeClr val="accent2"/>
                </a:solidFill>
                <a:effectLst>
                  <a:outerShdw blurRad="38100" dist="38100" dir="2700000" algn="tl">
                    <a:srgbClr val="C0C0C0"/>
                  </a:outerShdw>
                </a:effectLst>
                <a:latin typeface="+mn-lt"/>
                <a:ea typeface="仿宋_GB2312" panose="02010609030101010101" pitchFamily="49" charset="-122"/>
              </a:rPr>
              <a:t>递归调用</a:t>
            </a:r>
            <a:endParaRPr lang="zh-CN" altLang="en-US">
              <a:latin typeface="+mn-lt"/>
              <a:ea typeface="+mn-ea"/>
            </a:endParaRPr>
          </a:p>
        </p:txBody>
      </p:sp>
      <p:sp>
        <p:nvSpPr>
          <p:cNvPr id="48176" name="Line 49"/>
          <p:cNvSpPr>
            <a:spLocks noChangeShapeType="1"/>
          </p:cNvSpPr>
          <p:nvPr/>
        </p:nvSpPr>
        <p:spPr bwMode="auto">
          <a:xfrm>
            <a:off x="8115300" y="2014538"/>
            <a:ext cx="0" cy="3962400"/>
          </a:xfrm>
          <a:prstGeom prst="line">
            <a:avLst/>
          </a:prstGeom>
          <a:noFill/>
          <a:ln w="28575">
            <a:solidFill>
              <a:schemeClr val="accent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010" name="Text Box 50"/>
          <p:cNvSpPr txBox="1">
            <a:spLocks noChangeArrowheads="1"/>
          </p:cNvSpPr>
          <p:nvPr/>
        </p:nvSpPr>
        <p:spPr bwMode="auto">
          <a:xfrm>
            <a:off x="8115300" y="2957513"/>
            <a:ext cx="625475" cy="1800225"/>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2800" b="1">
                <a:solidFill>
                  <a:schemeClr val="accent2"/>
                </a:solidFill>
                <a:effectLst>
                  <a:outerShdw blurRad="38100" dist="38100" dir="2700000" algn="tl">
                    <a:srgbClr val="C0C0C0"/>
                  </a:outerShdw>
                </a:effectLst>
                <a:latin typeface="+mn-lt"/>
                <a:ea typeface="仿宋_GB2312" panose="02010609030101010101" pitchFamily="49" charset="-122"/>
              </a:rPr>
              <a:t>回归求值</a:t>
            </a:r>
            <a:endParaRPr lang="zh-CN" altLang="en-US">
              <a:latin typeface="+mn-lt"/>
              <a:ea typeface="+mn-ea"/>
            </a:endParaRPr>
          </a:p>
        </p:txBody>
      </p:sp>
      <p:sp>
        <p:nvSpPr>
          <p:cNvPr id="48178" name="标题 1"/>
          <p:cNvSpPr>
            <a:spLocks noGrp="1" noChangeArrowheads="1"/>
          </p:cNvSpPr>
          <p:nvPr>
            <p:ph type="title"/>
          </p:nvPr>
        </p:nvSpPr>
        <p:spPr/>
        <p:txBody>
          <a:bodyPr/>
          <a:lstStyle/>
          <a:p>
            <a:r>
              <a:rPr lang="zh-CN" altLang="en-US"/>
              <a:t>求解阶乘 </a:t>
            </a:r>
            <a:r>
              <a:rPr lang="en-US" altLang="zh-CN"/>
              <a:t>n! </a:t>
            </a:r>
            <a:r>
              <a:rPr lang="zh-CN" altLang="en-US"/>
              <a:t>的过程</a:t>
            </a:r>
            <a:endParaRPr lang="zh-CN" altLang="en-US"/>
          </a:p>
        </p:txBody>
      </p:sp>
      <p:sp>
        <p:nvSpPr>
          <p:cNvPr id="3" name="灯片编号占位符 2"/>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descr="羊皮纸"/>
          <p:cNvSpPr>
            <a:spLocks noChangeArrowheads="1"/>
          </p:cNvSpPr>
          <p:nvPr/>
        </p:nvSpPr>
        <p:spPr bwMode="auto">
          <a:xfrm>
            <a:off x="1907704" y="3115072"/>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9155" name="Line 6"/>
          <p:cNvSpPr>
            <a:spLocks noChangeShapeType="1"/>
          </p:cNvSpPr>
          <p:nvPr/>
        </p:nvSpPr>
        <p:spPr bwMode="auto">
          <a:xfrm>
            <a:off x="2441104" y="3115072"/>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56" name="Line 7"/>
          <p:cNvSpPr>
            <a:spLocks noChangeShapeType="1"/>
          </p:cNvSpPr>
          <p:nvPr/>
        </p:nvSpPr>
        <p:spPr bwMode="auto">
          <a:xfrm>
            <a:off x="1450504" y="3419872"/>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57" name="Rectangle 8" descr="羊皮纸"/>
          <p:cNvSpPr>
            <a:spLocks noChangeArrowheads="1"/>
          </p:cNvSpPr>
          <p:nvPr/>
        </p:nvSpPr>
        <p:spPr bwMode="auto">
          <a:xfrm>
            <a:off x="3279304" y="3115072"/>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9158" name="Line 9"/>
          <p:cNvSpPr>
            <a:spLocks noChangeShapeType="1"/>
          </p:cNvSpPr>
          <p:nvPr/>
        </p:nvSpPr>
        <p:spPr bwMode="auto">
          <a:xfrm>
            <a:off x="3812704" y="3115072"/>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59" name="Line 10"/>
          <p:cNvSpPr>
            <a:spLocks noChangeShapeType="1"/>
          </p:cNvSpPr>
          <p:nvPr/>
        </p:nvSpPr>
        <p:spPr bwMode="auto">
          <a:xfrm>
            <a:off x="2669704" y="3419872"/>
            <a:ext cx="6096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0" name="Rectangle 11" descr="羊皮纸"/>
          <p:cNvSpPr>
            <a:spLocks noChangeArrowheads="1"/>
          </p:cNvSpPr>
          <p:nvPr/>
        </p:nvSpPr>
        <p:spPr bwMode="auto">
          <a:xfrm>
            <a:off x="4650904" y="3115072"/>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9161" name="Line 12"/>
          <p:cNvSpPr>
            <a:spLocks noChangeShapeType="1"/>
          </p:cNvSpPr>
          <p:nvPr/>
        </p:nvSpPr>
        <p:spPr bwMode="auto">
          <a:xfrm>
            <a:off x="5184304" y="3115072"/>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2" name="Line 13"/>
          <p:cNvSpPr>
            <a:spLocks noChangeShapeType="1"/>
          </p:cNvSpPr>
          <p:nvPr/>
        </p:nvSpPr>
        <p:spPr bwMode="auto">
          <a:xfrm>
            <a:off x="4041304" y="3419872"/>
            <a:ext cx="6096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3" name="Rectangle 14" descr="羊皮纸"/>
          <p:cNvSpPr>
            <a:spLocks noChangeArrowheads="1"/>
          </p:cNvSpPr>
          <p:nvPr/>
        </p:nvSpPr>
        <p:spPr bwMode="auto">
          <a:xfrm>
            <a:off x="6022504" y="3115072"/>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9164" name="Line 15"/>
          <p:cNvSpPr>
            <a:spLocks noChangeShapeType="1"/>
          </p:cNvSpPr>
          <p:nvPr/>
        </p:nvSpPr>
        <p:spPr bwMode="auto">
          <a:xfrm>
            <a:off x="6555904" y="3115072"/>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5" name="Line 16"/>
          <p:cNvSpPr>
            <a:spLocks noChangeShapeType="1"/>
          </p:cNvSpPr>
          <p:nvPr/>
        </p:nvSpPr>
        <p:spPr bwMode="auto">
          <a:xfrm>
            <a:off x="5412904" y="3419872"/>
            <a:ext cx="6096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6" name="Text Box 17"/>
          <p:cNvSpPr txBox="1">
            <a:spLocks noChangeArrowheads="1"/>
          </p:cNvSpPr>
          <p:nvPr/>
        </p:nvSpPr>
        <p:spPr bwMode="auto">
          <a:xfrm>
            <a:off x="1106017" y="3115072"/>
            <a:ext cx="42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49167" name="Text Box 18"/>
          <p:cNvSpPr txBox="1">
            <a:spLocks noChangeArrowheads="1"/>
          </p:cNvSpPr>
          <p:nvPr/>
        </p:nvSpPr>
        <p:spPr bwMode="auto">
          <a:xfrm>
            <a:off x="6538442" y="3053159"/>
            <a:ext cx="398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49168" name="Rectangle 19" descr="羊皮纸"/>
          <p:cNvSpPr>
            <a:spLocks noChangeArrowheads="1"/>
          </p:cNvSpPr>
          <p:nvPr/>
        </p:nvSpPr>
        <p:spPr bwMode="auto">
          <a:xfrm>
            <a:off x="1907704" y="2276872"/>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9169" name="Line 20"/>
          <p:cNvSpPr>
            <a:spLocks noChangeShapeType="1"/>
          </p:cNvSpPr>
          <p:nvPr/>
        </p:nvSpPr>
        <p:spPr bwMode="auto">
          <a:xfrm>
            <a:off x="2441104" y="2276872"/>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0" name="Line 21"/>
          <p:cNvSpPr>
            <a:spLocks noChangeShapeType="1"/>
          </p:cNvSpPr>
          <p:nvPr/>
        </p:nvSpPr>
        <p:spPr bwMode="auto">
          <a:xfrm>
            <a:off x="1450504" y="2581672"/>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1" name="Text Box 22"/>
          <p:cNvSpPr txBox="1">
            <a:spLocks noChangeArrowheads="1"/>
          </p:cNvSpPr>
          <p:nvPr/>
        </p:nvSpPr>
        <p:spPr bwMode="auto">
          <a:xfrm>
            <a:off x="1106017" y="2276872"/>
            <a:ext cx="42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49172" name="Text Box 23"/>
          <p:cNvSpPr txBox="1">
            <a:spLocks noChangeArrowheads="1"/>
          </p:cNvSpPr>
          <p:nvPr/>
        </p:nvSpPr>
        <p:spPr bwMode="auto">
          <a:xfrm>
            <a:off x="2423642" y="2214959"/>
            <a:ext cx="398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49173" name="标题 1"/>
          <p:cNvSpPr>
            <a:spLocks noGrp="1" noChangeArrowheads="1"/>
          </p:cNvSpPr>
          <p:nvPr>
            <p:ph type="title"/>
          </p:nvPr>
        </p:nvSpPr>
        <p:spPr/>
        <p:txBody>
          <a:bodyPr/>
          <a:lstStyle/>
          <a:p>
            <a:r>
              <a:rPr lang="zh-CN" altLang="en-US" dirty="0"/>
              <a:t>场景</a:t>
            </a:r>
            <a:r>
              <a:rPr lang="en-US" altLang="zh-CN" dirty="0"/>
              <a:t>2</a:t>
            </a:r>
            <a:r>
              <a:rPr lang="zh-CN" altLang="en-US" dirty="0"/>
              <a:t>：数据结构是递归的</a:t>
            </a:r>
            <a:endParaRPr lang="zh-CN" altLang="en-US" dirty="0"/>
          </a:p>
        </p:txBody>
      </p:sp>
      <p:sp>
        <p:nvSpPr>
          <p:cNvPr id="3" name="内容占位符 2"/>
          <p:cNvSpPr>
            <a:spLocks noGrp="1"/>
          </p:cNvSpPr>
          <p:nvPr>
            <p:ph idx="1"/>
          </p:nvPr>
        </p:nvSpPr>
        <p:spPr/>
        <p:txBody>
          <a:bodyPr>
            <a:normAutofit fontScale="92500" lnSpcReduction="20000"/>
          </a:bodyPr>
          <a:lstStyle/>
          <a:p>
            <a:pPr>
              <a:defRPr/>
            </a:pPr>
            <a:r>
              <a:rPr lang="zh-CN" altLang="en-US" dirty="0"/>
              <a:t>例如，单链表结构</a:t>
            </a:r>
            <a:endParaRPr lang="zh-CN" altLang="en-US" dirty="0"/>
          </a:p>
          <a:p>
            <a:pPr>
              <a:defRPr/>
            </a:pPr>
            <a:endParaRPr lang="zh-CN" altLang="en-US" dirty="0"/>
          </a:p>
          <a:p>
            <a:pPr marL="0" indent="0">
              <a:buFont typeface="Arial" panose="020B0604020202020204" pitchFamily="34" charset="0"/>
              <a:buNone/>
              <a:defRPr/>
            </a:pPr>
            <a:r>
              <a:rPr lang="zh-CN" altLang="en-US" dirty="0"/>
              <a:t> </a:t>
            </a:r>
            <a:endParaRPr lang="en-US" altLang="zh-CN" dirty="0"/>
          </a:p>
          <a:p>
            <a:pPr>
              <a:defRPr/>
            </a:pPr>
            <a:endParaRPr lang="en-US" altLang="zh-CN" dirty="0"/>
          </a:p>
          <a:p>
            <a:pPr lvl="1">
              <a:defRPr/>
            </a:pPr>
            <a:r>
              <a:rPr lang="zh-CN" altLang="en-US" dirty="0"/>
              <a:t>一个结点，它的指针域为</a:t>
            </a:r>
            <a:r>
              <a:rPr lang="en-US" altLang="zh-CN" dirty="0"/>
              <a:t>NULL</a:t>
            </a:r>
            <a:r>
              <a:rPr lang="zh-CN" altLang="en-US" dirty="0"/>
              <a:t>，这是一个单链表</a:t>
            </a:r>
            <a:r>
              <a:rPr lang="en-US" altLang="zh-CN" dirty="0"/>
              <a:t>;</a:t>
            </a:r>
            <a:endParaRPr lang="en-US" altLang="zh-CN" dirty="0"/>
          </a:p>
          <a:p>
            <a:pPr lvl="1">
              <a:defRPr/>
            </a:pPr>
            <a:r>
              <a:rPr lang="zh-CN" altLang="en-US" dirty="0"/>
              <a:t>一个结点，它的指针域指向一个单链表，则该结点与这个单链表构成一个更大的单链表。</a:t>
            </a:r>
            <a:endParaRPr lang="zh-CN" altLang="en-US" dirty="0"/>
          </a:p>
          <a:p>
            <a:pPr>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7" descr="羊皮纸"/>
          <p:cNvSpPr>
            <a:spLocks noChangeArrowheads="1"/>
          </p:cNvSpPr>
          <p:nvPr/>
        </p:nvSpPr>
        <p:spPr bwMode="auto">
          <a:xfrm>
            <a:off x="1828800" y="4876800"/>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0179" name="Line 1028"/>
          <p:cNvSpPr>
            <a:spLocks noChangeShapeType="1"/>
          </p:cNvSpPr>
          <p:nvPr/>
        </p:nvSpPr>
        <p:spPr bwMode="auto">
          <a:xfrm>
            <a:off x="2362200" y="4876800"/>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0" name="Line 1029"/>
          <p:cNvSpPr>
            <a:spLocks noChangeShapeType="1"/>
          </p:cNvSpPr>
          <p:nvPr/>
        </p:nvSpPr>
        <p:spPr bwMode="auto">
          <a:xfrm>
            <a:off x="1447800" y="5181600"/>
            <a:ext cx="3810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1" name="Rectangle 1030" descr="羊皮纸"/>
          <p:cNvSpPr>
            <a:spLocks noChangeArrowheads="1"/>
          </p:cNvSpPr>
          <p:nvPr/>
        </p:nvSpPr>
        <p:spPr bwMode="auto">
          <a:xfrm>
            <a:off x="2971800" y="4876800"/>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0182" name="Line 1031"/>
          <p:cNvSpPr>
            <a:spLocks noChangeShapeType="1"/>
          </p:cNvSpPr>
          <p:nvPr/>
        </p:nvSpPr>
        <p:spPr bwMode="auto">
          <a:xfrm>
            <a:off x="3505200" y="4876800"/>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3" name="Line 1032"/>
          <p:cNvSpPr>
            <a:spLocks noChangeShapeType="1"/>
          </p:cNvSpPr>
          <p:nvPr/>
        </p:nvSpPr>
        <p:spPr bwMode="auto">
          <a:xfrm>
            <a:off x="2514600" y="5181600"/>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4" name="Rectangle 1033" descr="羊皮纸"/>
          <p:cNvSpPr>
            <a:spLocks noChangeArrowheads="1"/>
          </p:cNvSpPr>
          <p:nvPr/>
        </p:nvSpPr>
        <p:spPr bwMode="auto">
          <a:xfrm>
            <a:off x="4114800" y="4876800"/>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0185" name="Line 1034"/>
          <p:cNvSpPr>
            <a:spLocks noChangeShapeType="1"/>
          </p:cNvSpPr>
          <p:nvPr/>
        </p:nvSpPr>
        <p:spPr bwMode="auto">
          <a:xfrm>
            <a:off x="4648200" y="4876800"/>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6" name="Line 1035"/>
          <p:cNvSpPr>
            <a:spLocks noChangeShapeType="1"/>
          </p:cNvSpPr>
          <p:nvPr/>
        </p:nvSpPr>
        <p:spPr bwMode="auto">
          <a:xfrm>
            <a:off x="3657600" y="5181600"/>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7" name="Rectangle 1036" descr="羊皮纸"/>
          <p:cNvSpPr>
            <a:spLocks noChangeArrowheads="1"/>
          </p:cNvSpPr>
          <p:nvPr/>
        </p:nvSpPr>
        <p:spPr bwMode="auto">
          <a:xfrm>
            <a:off x="5257800" y="4876800"/>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0188" name="Line 1037"/>
          <p:cNvSpPr>
            <a:spLocks noChangeShapeType="1"/>
          </p:cNvSpPr>
          <p:nvPr/>
        </p:nvSpPr>
        <p:spPr bwMode="auto">
          <a:xfrm>
            <a:off x="5791200" y="4876800"/>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9" name="Line 1038"/>
          <p:cNvSpPr>
            <a:spLocks noChangeShapeType="1"/>
          </p:cNvSpPr>
          <p:nvPr/>
        </p:nvSpPr>
        <p:spPr bwMode="auto">
          <a:xfrm>
            <a:off x="4800600" y="5181600"/>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0" name="Rectangle 1039" descr="羊皮纸"/>
          <p:cNvSpPr>
            <a:spLocks noChangeArrowheads="1"/>
          </p:cNvSpPr>
          <p:nvPr/>
        </p:nvSpPr>
        <p:spPr bwMode="auto">
          <a:xfrm>
            <a:off x="6400800" y="4876800"/>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0191" name="Line 1040"/>
          <p:cNvSpPr>
            <a:spLocks noChangeShapeType="1"/>
          </p:cNvSpPr>
          <p:nvPr/>
        </p:nvSpPr>
        <p:spPr bwMode="auto">
          <a:xfrm>
            <a:off x="6934200" y="4876800"/>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2" name="Line 1041"/>
          <p:cNvSpPr>
            <a:spLocks noChangeShapeType="1"/>
          </p:cNvSpPr>
          <p:nvPr/>
        </p:nvSpPr>
        <p:spPr bwMode="auto">
          <a:xfrm>
            <a:off x="5943600" y="5181600"/>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3" name="Text Box 1042"/>
          <p:cNvSpPr txBox="1">
            <a:spLocks noChangeArrowheads="1"/>
          </p:cNvSpPr>
          <p:nvPr/>
        </p:nvSpPr>
        <p:spPr bwMode="auto">
          <a:xfrm>
            <a:off x="1128713" y="4876800"/>
            <a:ext cx="4206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0194" name="Line 1043"/>
          <p:cNvSpPr>
            <a:spLocks noChangeShapeType="1"/>
          </p:cNvSpPr>
          <p:nvPr/>
        </p:nvSpPr>
        <p:spPr bwMode="auto">
          <a:xfrm flipH="1">
            <a:off x="2667000" y="5334000"/>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5" name="Text Box 1044"/>
          <p:cNvSpPr txBox="1">
            <a:spLocks noChangeArrowheads="1"/>
          </p:cNvSpPr>
          <p:nvPr/>
        </p:nvSpPr>
        <p:spPr bwMode="auto">
          <a:xfrm>
            <a:off x="2322513" y="5486400"/>
            <a:ext cx="4206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0196" name="Line 1045"/>
          <p:cNvSpPr>
            <a:spLocks noChangeShapeType="1"/>
          </p:cNvSpPr>
          <p:nvPr/>
        </p:nvSpPr>
        <p:spPr bwMode="auto">
          <a:xfrm flipH="1">
            <a:off x="3810000" y="5334000"/>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7" name="Text Box 1046"/>
          <p:cNvSpPr txBox="1">
            <a:spLocks noChangeArrowheads="1"/>
          </p:cNvSpPr>
          <p:nvPr/>
        </p:nvSpPr>
        <p:spPr bwMode="auto">
          <a:xfrm>
            <a:off x="3465513" y="5486400"/>
            <a:ext cx="4206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0198" name="Line 1047"/>
          <p:cNvSpPr>
            <a:spLocks noChangeShapeType="1"/>
          </p:cNvSpPr>
          <p:nvPr/>
        </p:nvSpPr>
        <p:spPr bwMode="auto">
          <a:xfrm flipH="1">
            <a:off x="4953000" y="5334000"/>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9" name="Text Box 1048"/>
          <p:cNvSpPr txBox="1">
            <a:spLocks noChangeArrowheads="1"/>
          </p:cNvSpPr>
          <p:nvPr/>
        </p:nvSpPr>
        <p:spPr bwMode="auto">
          <a:xfrm>
            <a:off x="4608513" y="5486400"/>
            <a:ext cx="4206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0200" name="Line 1049"/>
          <p:cNvSpPr>
            <a:spLocks noChangeShapeType="1"/>
          </p:cNvSpPr>
          <p:nvPr/>
        </p:nvSpPr>
        <p:spPr bwMode="auto">
          <a:xfrm flipH="1">
            <a:off x="6096000" y="5334000"/>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01" name="Text Box 1050"/>
          <p:cNvSpPr txBox="1">
            <a:spLocks noChangeArrowheads="1"/>
          </p:cNvSpPr>
          <p:nvPr/>
        </p:nvSpPr>
        <p:spPr bwMode="auto">
          <a:xfrm>
            <a:off x="5751513" y="5486400"/>
            <a:ext cx="4206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0202" name="Text Box 1051"/>
          <p:cNvSpPr txBox="1">
            <a:spLocks noChangeArrowheads="1"/>
          </p:cNvSpPr>
          <p:nvPr/>
        </p:nvSpPr>
        <p:spPr bwMode="auto">
          <a:xfrm>
            <a:off x="6916738" y="4876800"/>
            <a:ext cx="398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50203" name="Line 1052"/>
          <p:cNvSpPr>
            <a:spLocks noChangeShapeType="1"/>
          </p:cNvSpPr>
          <p:nvPr/>
        </p:nvSpPr>
        <p:spPr bwMode="auto">
          <a:xfrm>
            <a:off x="2286000" y="4724400"/>
            <a:ext cx="4343400" cy="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04" name="Text Box 1053"/>
          <p:cNvSpPr txBox="1">
            <a:spLocks noChangeArrowheads="1"/>
          </p:cNvSpPr>
          <p:nvPr/>
        </p:nvSpPr>
        <p:spPr bwMode="auto">
          <a:xfrm>
            <a:off x="1841500" y="4800600"/>
            <a:ext cx="52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r>
              <a:rPr kumimoji="1" lang="en-US" altLang="zh-CN" sz="3200" b="1" baseline="-25000">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50205" name="Text Box 1054"/>
          <p:cNvSpPr txBox="1">
            <a:spLocks noChangeArrowheads="1"/>
          </p:cNvSpPr>
          <p:nvPr/>
        </p:nvSpPr>
        <p:spPr bwMode="auto">
          <a:xfrm>
            <a:off x="2984500" y="4800600"/>
            <a:ext cx="52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r>
              <a:rPr kumimoji="1" lang="en-US" altLang="zh-CN" sz="3200" b="1" baseline="-25000">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50206" name="Text Box 1055"/>
          <p:cNvSpPr txBox="1">
            <a:spLocks noChangeArrowheads="1"/>
          </p:cNvSpPr>
          <p:nvPr/>
        </p:nvSpPr>
        <p:spPr bwMode="auto">
          <a:xfrm>
            <a:off x="4127500" y="4800600"/>
            <a:ext cx="52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r>
              <a:rPr kumimoji="1" lang="en-US" altLang="zh-CN" sz="3200" b="1" baseline="-25000">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50207" name="Text Box 1056"/>
          <p:cNvSpPr txBox="1">
            <a:spLocks noChangeArrowheads="1"/>
          </p:cNvSpPr>
          <p:nvPr/>
        </p:nvSpPr>
        <p:spPr bwMode="auto">
          <a:xfrm>
            <a:off x="5270500" y="4800600"/>
            <a:ext cx="52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r>
              <a:rPr kumimoji="1" lang="en-US" altLang="zh-CN" sz="3200" b="1" baseline="-25000">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0208" name="Text Box 1057"/>
          <p:cNvSpPr txBox="1">
            <a:spLocks noChangeArrowheads="1"/>
          </p:cNvSpPr>
          <p:nvPr/>
        </p:nvSpPr>
        <p:spPr bwMode="auto">
          <a:xfrm>
            <a:off x="6413500" y="4800600"/>
            <a:ext cx="52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r>
              <a:rPr kumimoji="1" lang="en-US" altLang="zh-CN" sz="3200" b="1" baseline="-25000">
                <a:solidFill>
                  <a:schemeClr val="accent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50209" name="Text Box 1058"/>
          <p:cNvSpPr txBox="1">
            <a:spLocks noChangeArrowheads="1"/>
          </p:cNvSpPr>
          <p:nvPr/>
        </p:nvSpPr>
        <p:spPr bwMode="auto">
          <a:xfrm>
            <a:off x="3108325" y="4144963"/>
            <a:ext cx="2216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a:solidFill>
                  <a:srgbClr val="009900"/>
                </a:solidFill>
                <a:latin typeface="Times New Roman" panose="02020603050405020304" pitchFamily="18" charset="0"/>
                <a:ea typeface="隶书" panose="02010509060101010101" pitchFamily="49" charset="-122"/>
              </a:rPr>
              <a:t>递归找链尾</a:t>
            </a:r>
            <a:endParaRPr kumimoji="1" lang="zh-CN" altLang="en-US" sz="2400">
              <a:latin typeface="Times New Roman" panose="02020603050405020304" pitchFamily="18" charset="0"/>
              <a:ea typeface="宋体" panose="02010600030101010101" pitchFamily="2" charset="-122"/>
            </a:endParaRPr>
          </a:p>
        </p:txBody>
      </p:sp>
      <p:sp>
        <p:nvSpPr>
          <p:cNvPr id="50210" name="标题 1"/>
          <p:cNvSpPr>
            <a:spLocks noGrp="1" noChangeArrowheads="1"/>
          </p:cNvSpPr>
          <p:nvPr>
            <p:ph type="title"/>
          </p:nvPr>
        </p:nvSpPr>
        <p:spPr/>
        <p:txBody>
          <a:bodyPr/>
          <a:lstStyle/>
          <a:p>
            <a:r>
              <a:rPr lang="zh-CN" altLang="en-US" dirty="0"/>
              <a:t>递归搜索链表最后一个结点</a:t>
            </a:r>
            <a:endParaRPr lang="zh-CN" altLang="en-US" dirty="0"/>
          </a:p>
        </p:txBody>
      </p:sp>
      <p:sp>
        <p:nvSpPr>
          <p:cNvPr id="3" name="内容占位符 2"/>
          <p:cNvSpPr>
            <a:spLocks noGrp="1"/>
          </p:cNvSpPr>
          <p:nvPr>
            <p:ph idx="1"/>
          </p:nvPr>
        </p:nvSpPr>
        <p:spPr>
          <a:xfrm>
            <a:off x="628650" y="1825625"/>
            <a:ext cx="7886700" cy="2746375"/>
          </a:xfrm>
        </p:spPr>
        <p:txBody>
          <a:bodyPr>
            <a:normAutofit fontScale="92500" lnSpcReduction="20000"/>
          </a:bodyPr>
          <a:lstStyle/>
          <a:p>
            <a:pPr marL="0" indent="0">
              <a:buNone/>
              <a:defRPr/>
            </a:pPr>
            <a:r>
              <a:rPr lang="en-US" altLang="zh-CN" dirty="0" err="1"/>
              <a:t>LinkNode</a:t>
            </a:r>
            <a:r>
              <a:rPr lang="en-US" altLang="zh-CN" dirty="0"/>
              <a:t> *</a:t>
            </a:r>
            <a:r>
              <a:rPr lang="en-US" altLang="zh-CN" dirty="0" err="1"/>
              <a:t>FindRear</a:t>
            </a:r>
            <a:r>
              <a:rPr lang="en-US" altLang="zh-CN" dirty="0"/>
              <a:t> ( </a:t>
            </a:r>
            <a:r>
              <a:rPr lang="en-US" altLang="zh-CN" dirty="0" err="1"/>
              <a:t>LinkNode</a:t>
            </a:r>
            <a:r>
              <a:rPr lang="en-US" altLang="zh-CN" dirty="0"/>
              <a:t> *f ) {</a:t>
            </a:r>
            <a:endParaRPr lang="en-US" altLang="zh-CN" dirty="0"/>
          </a:p>
          <a:p>
            <a:pPr marL="0" indent="0">
              <a:buNone/>
              <a:defRPr/>
            </a:pPr>
            <a:r>
              <a:rPr lang="en-US" altLang="zh-CN" dirty="0"/>
              <a:t>    if (f == NULL) return NULL;</a:t>
            </a:r>
            <a:endParaRPr lang="en-US" altLang="zh-CN" dirty="0"/>
          </a:p>
          <a:p>
            <a:pPr marL="0" indent="0">
              <a:buNone/>
              <a:defRPr/>
            </a:pPr>
            <a:r>
              <a:rPr lang="en-US" altLang="zh-CN" dirty="0"/>
              <a:t>    else if ( f -&gt;link == NULL ) return f;</a:t>
            </a:r>
            <a:endParaRPr lang="en-US" altLang="zh-CN" dirty="0"/>
          </a:p>
          <a:p>
            <a:pPr marL="0" indent="0">
              <a:buNone/>
              <a:defRPr/>
            </a:pPr>
            <a:r>
              <a:rPr lang="en-US" altLang="zh-CN" dirty="0"/>
              <a:t>           else return </a:t>
            </a:r>
            <a:r>
              <a:rPr lang="en-US" altLang="zh-CN" dirty="0" err="1"/>
              <a:t>FindRear</a:t>
            </a:r>
            <a:r>
              <a:rPr lang="en-US" altLang="zh-CN" dirty="0"/>
              <a:t> ( f -&gt;link );</a:t>
            </a:r>
            <a:endParaRPr lang="en-US" altLang="zh-CN" dirty="0"/>
          </a:p>
          <a:p>
            <a:pPr marL="0" indent="0">
              <a:buNone/>
              <a:defRPr/>
            </a:pPr>
            <a:r>
              <a:rPr lang="en-US" altLang="zh-CN" dirty="0"/>
              <a:t>}</a:t>
            </a:r>
            <a:endParaRPr lang="en-US" altLang="zh-CN"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7" descr="羊皮纸"/>
          <p:cNvSpPr>
            <a:spLocks noChangeArrowheads="1"/>
          </p:cNvSpPr>
          <p:nvPr/>
        </p:nvSpPr>
        <p:spPr bwMode="auto">
          <a:xfrm>
            <a:off x="2286000" y="5227638"/>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1203" name="Line 1028"/>
          <p:cNvSpPr>
            <a:spLocks noChangeShapeType="1"/>
          </p:cNvSpPr>
          <p:nvPr/>
        </p:nvSpPr>
        <p:spPr bwMode="auto">
          <a:xfrm>
            <a:off x="2819400" y="5227638"/>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4" name="Line 1029"/>
          <p:cNvSpPr>
            <a:spLocks noChangeShapeType="1"/>
          </p:cNvSpPr>
          <p:nvPr/>
        </p:nvSpPr>
        <p:spPr bwMode="auto">
          <a:xfrm>
            <a:off x="1905000" y="5532438"/>
            <a:ext cx="3810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5" name="Rectangle 1030" descr="羊皮纸"/>
          <p:cNvSpPr>
            <a:spLocks noChangeArrowheads="1"/>
          </p:cNvSpPr>
          <p:nvPr/>
        </p:nvSpPr>
        <p:spPr bwMode="auto">
          <a:xfrm>
            <a:off x="3429000" y="5227638"/>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1206" name="Line 1031"/>
          <p:cNvSpPr>
            <a:spLocks noChangeShapeType="1"/>
          </p:cNvSpPr>
          <p:nvPr/>
        </p:nvSpPr>
        <p:spPr bwMode="auto">
          <a:xfrm>
            <a:off x="3962400" y="5227638"/>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7" name="Line 1032"/>
          <p:cNvSpPr>
            <a:spLocks noChangeShapeType="1"/>
          </p:cNvSpPr>
          <p:nvPr/>
        </p:nvSpPr>
        <p:spPr bwMode="auto">
          <a:xfrm>
            <a:off x="2971800" y="5532438"/>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8" name="Rectangle 1033" descr="羊皮纸"/>
          <p:cNvSpPr>
            <a:spLocks noChangeArrowheads="1"/>
          </p:cNvSpPr>
          <p:nvPr/>
        </p:nvSpPr>
        <p:spPr bwMode="auto">
          <a:xfrm>
            <a:off x="4572000" y="5227638"/>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1209" name="Line 1034"/>
          <p:cNvSpPr>
            <a:spLocks noChangeShapeType="1"/>
          </p:cNvSpPr>
          <p:nvPr/>
        </p:nvSpPr>
        <p:spPr bwMode="auto">
          <a:xfrm>
            <a:off x="5105400" y="5227638"/>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0" name="Line 1035"/>
          <p:cNvSpPr>
            <a:spLocks noChangeShapeType="1"/>
          </p:cNvSpPr>
          <p:nvPr/>
        </p:nvSpPr>
        <p:spPr bwMode="auto">
          <a:xfrm>
            <a:off x="4114800" y="5532438"/>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1" name="Rectangle 1036" descr="羊皮纸"/>
          <p:cNvSpPr>
            <a:spLocks noChangeArrowheads="1"/>
          </p:cNvSpPr>
          <p:nvPr/>
        </p:nvSpPr>
        <p:spPr bwMode="auto">
          <a:xfrm>
            <a:off x="5715000" y="5227638"/>
            <a:ext cx="8382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1212" name="Line 1037"/>
          <p:cNvSpPr>
            <a:spLocks noChangeShapeType="1"/>
          </p:cNvSpPr>
          <p:nvPr/>
        </p:nvSpPr>
        <p:spPr bwMode="auto">
          <a:xfrm>
            <a:off x="6248400" y="5227638"/>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3" name="Line 1038"/>
          <p:cNvSpPr>
            <a:spLocks noChangeShapeType="1"/>
          </p:cNvSpPr>
          <p:nvPr/>
        </p:nvSpPr>
        <p:spPr bwMode="auto">
          <a:xfrm>
            <a:off x="5257800" y="5532438"/>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4" name="Rectangle 1039" descr="羊皮纸"/>
          <p:cNvSpPr>
            <a:spLocks noChangeArrowheads="1"/>
          </p:cNvSpPr>
          <p:nvPr/>
        </p:nvSpPr>
        <p:spPr bwMode="auto">
          <a:xfrm>
            <a:off x="6858000" y="5227638"/>
            <a:ext cx="914400" cy="533400"/>
          </a:xfrm>
          <a:prstGeom prst="rect">
            <a:avLst/>
          </a:prstGeom>
          <a:blipFill dpi="0" rotWithShape="0">
            <a:blip r:embed="rId1"/>
            <a:srcRect/>
            <a:tile tx="0" ty="0" sx="100000" sy="100000" flip="none" algn="tl"/>
          </a:blipFill>
          <a:ln w="9525">
            <a:solidFill>
              <a:schemeClr val="accent2"/>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1215" name="Line 1040"/>
          <p:cNvSpPr>
            <a:spLocks noChangeShapeType="1"/>
          </p:cNvSpPr>
          <p:nvPr/>
        </p:nvSpPr>
        <p:spPr bwMode="auto">
          <a:xfrm>
            <a:off x="6400800" y="5532438"/>
            <a:ext cx="457200" cy="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6" name="Text Box 1041"/>
          <p:cNvSpPr txBox="1">
            <a:spLocks noChangeArrowheads="1"/>
          </p:cNvSpPr>
          <p:nvPr/>
        </p:nvSpPr>
        <p:spPr bwMode="auto">
          <a:xfrm>
            <a:off x="1585913" y="5227638"/>
            <a:ext cx="42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1217" name="Line 1042"/>
          <p:cNvSpPr>
            <a:spLocks noChangeShapeType="1"/>
          </p:cNvSpPr>
          <p:nvPr/>
        </p:nvSpPr>
        <p:spPr bwMode="auto">
          <a:xfrm flipH="1">
            <a:off x="3124200" y="5684838"/>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8" name="Text Box 1043"/>
          <p:cNvSpPr txBox="1">
            <a:spLocks noChangeArrowheads="1"/>
          </p:cNvSpPr>
          <p:nvPr/>
        </p:nvSpPr>
        <p:spPr bwMode="auto">
          <a:xfrm>
            <a:off x="2779713" y="5837238"/>
            <a:ext cx="42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1219" name="Line 1044"/>
          <p:cNvSpPr>
            <a:spLocks noChangeShapeType="1"/>
          </p:cNvSpPr>
          <p:nvPr/>
        </p:nvSpPr>
        <p:spPr bwMode="auto">
          <a:xfrm flipH="1">
            <a:off x="4267200" y="5684838"/>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0" name="Text Box 1045"/>
          <p:cNvSpPr txBox="1">
            <a:spLocks noChangeArrowheads="1"/>
          </p:cNvSpPr>
          <p:nvPr/>
        </p:nvSpPr>
        <p:spPr bwMode="auto">
          <a:xfrm>
            <a:off x="3922713" y="5837238"/>
            <a:ext cx="42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1221" name="Line 1046"/>
          <p:cNvSpPr>
            <a:spLocks noChangeShapeType="1"/>
          </p:cNvSpPr>
          <p:nvPr/>
        </p:nvSpPr>
        <p:spPr bwMode="auto">
          <a:xfrm flipH="1">
            <a:off x="5410200" y="5684838"/>
            <a:ext cx="304800" cy="381000"/>
          </a:xfrm>
          <a:prstGeom prst="line">
            <a:avLst/>
          </a:prstGeom>
          <a:noFill/>
          <a:ln w="28575">
            <a:solidFill>
              <a:schemeClr val="tx2"/>
            </a:solidFill>
            <a:round/>
            <a:head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2" name="Text Box 1047"/>
          <p:cNvSpPr txBox="1">
            <a:spLocks noChangeArrowheads="1"/>
          </p:cNvSpPr>
          <p:nvPr/>
        </p:nvSpPr>
        <p:spPr bwMode="auto">
          <a:xfrm>
            <a:off x="5065713" y="5837238"/>
            <a:ext cx="42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Times New Roman" panose="02020603050405020304" pitchFamily="18" charset="0"/>
                <a:ea typeface="宋体" panose="02010600030101010101" pitchFamily="2" charset="-122"/>
              </a:rPr>
              <a:t>f </a:t>
            </a:r>
            <a:endParaRPr kumimoji="1" lang="en-US" altLang="zh-CN" sz="3200">
              <a:solidFill>
                <a:schemeClr val="tx2"/>
              </a:solidFill>
              <a:latin typeface="Times New Roman" panose="02020603050405020304" pitchFamily="18" charset="0"/>
              <a:ea typeface="宋体" panose="02010600030101010101" pitchFamily="2" charset="-122"/>
            </a:endParaRPr>
          </a:p>
        </p:txBody>
      </p:sp>
      <p:sp>
        <p:nvSpPr>
          <p:cNvPr id="51223" name="Text Box 1048"/>
          <p:cNvSpPr txBox="1">
            <a:spLocks noChangeArrowheads="1"/>
          </p:cNvSpPr>
          <p:nvPr/>
        </p:nvSpPr>
        <p:spPr bwMode="auto">
          <a:xfrm>
            <a:off x="7373938" y="522763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51224" name="Line 1049"/>
          <p:cNvSpPr>
            <a:spLocks noChangeShapeType="1"/>
          </p:cNvSpPr>
          <p:nvPr/>
        </p:nvSpPr>
        <p:spPr bwMode="auto">
          <a:xfrm>
            <a:off x="2743200" y="5075238"/>
            <a:ext cx="4343400" cy="0"/>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5" name="Text Box 1050"/>
          <p:cNvSpPr txBox="1">
            <a:spLocks noChangeArrowheads="1"/>
          </p:cNvSpPr>
          <p:nvPr/>
        </p:nvSpPr>
        <p:spPr bwMode="auto">
          <a:xfrm>
            <a:off x="3048000" y="4522788"/>
            <a:ext cx="3616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a:solidFill>
                  <a:srgbClr val="009900"/>
                </a:solidFill>
                <a:latin typeface="Times New Roman" panose="02020603050405020304" pitchFamily="18" charset="0"/>
                <a:ea typeface="隶书" panose="02010509060101010101" pitchFamily="49" charset="-122"/>
              </a:rPr>
              <a:t>递归找含</a:t>
            </a:r>
            <a:r>
              <a:rPr kumimoji="1" lang="en-US" altLang="zh-CN" sz="3200" i="1">
                <a:solidFill>
                  <a:srgbClr val="FF5050"/>
                </a:solidFill>
                <a:latin typeface="Times New Roman" panose="02020603050405020304" pitchFamily="18" charset="0"/>
                <a:ea typeface="隶书" panose="02010509060101010101" pitchFamily="49" charset="-122"/>
              </a:rPr>
              <a:t>x</a:t>
            </a:r>
            <a:r>
              <a:rPr kumimoji="1" lang="zh-CN" altLang="en-US" sz="3200">
                <a:solidFill>
                  <a:srgbClr val="009900"/>
                </a:solidFill>
                <a:latin typeface="Times New Roman" panose="02020603050405020304" pitchFamily="18" charset="0"/>
                <a:ea typeface="隶书" panose="02010509060101010101" pitchFamily="49" charset="-122"/>
              </a:rPr>
              <a:t>值的结点</a:t>
            </a:r>
            <a:endParaRPr kumimoji="1" lang="zh-CN" altLang="en-US" sz="2400">
              <a:latin typeface="Times New Roman" panose="02020603050405020304" pitchFamily="18" charset="0"/>
              <a:ea typeface="宋体" panose="02010600030101010101" pitchFamily="2" charset="-122"/>
            </a:endParaRPr>
          </a:p>
        </p:txBody>
      </p:sp>
      <p:sp>
        <p:nvSpPr>
          <p:cNvPr id="51226" name="Line 1051"/>
          <p:cNvSpPr>
            <a:spLocks noChangeShapeType="1"/>
          </p:cNvSpPr>
          <p:nvPr/>
        </p:nvSpPr>
        <p:spPr bwMode="auto">
          <a:xfrm>
            <a:off x="7391400" y="5257800"/>
            <a:ext cx="0" cy="5334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7" name="Text Box 1052"/>
          <p:cNvSpPr txBox="1">
            <a:spLocks noChangeArrowheads="1"/>
          </p:cNvSpPr>
          <p:nvPr/>
        </p:nvSpPr>
        <p:spPr bwMode="auto">
          <a:xfrm>
            <a:off x="5791200" y="5211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x</a:t>
            </a:r>
            <a:endParaRPr kumimoji="1" lang="en-US" altLang="zh-CN" sz="2400">
              <a:latin typeface="Times New Roman" panose="02020603050405020304" pitchFamily="18" charset="0"/>
              <a:ea typeface="宋体" panose="02010600030101010101" pitchFamily="2" charset="-122"/>
            </a:endParaRPr>
          </a:p>
        </p:txBody>
      </p:sp>
      <p:sp>
        <p:nvSpPr>
          <p:cNvPr id="51228" name="标题 1"/>
          <p:cNvSpPr>
            <a:spLocks noGrp="1" noChangeArrowheads="1"/>
          </p:cNvSpPr>
          <p:nvPr>
            <p:ph type="title"/>
          </p:nvPr>
        </p:nvSpPr>
        <p:spPr/>
        <p:txBody>
          <a:bodyPr/>
          <a:lstStyle/>
          <a:p>
            <a:r>
              <a:rPr lang="zh-CN" altLang="en-US" dirty="0"/>
              <a:t>递归搜索链表中特定值的结点</a:t>
            </a:r>
            <a:endParaRPr lang="zh-CN" altLang="en-US" dirty="0"/>
          </a:p>
        </p:txBody>
      </p:sp>
      <p:sp>
        <p:nvSpPr>
          <p:cNvPr id="3" name="内容占位符 2"/>
          <p:cNvSpPr>
            <a:spLocks noGrp="1"/>
          </p:cNvSpPr>
          <p:nvPr>
            <p:ph idx="1"/>
          </p:nvPr>
        </p:nvSpPr>
        <p:spPr>
          <a:xfrm>
            <a:off x="628650" y="1825625"/>
            <a:ext cx="7886700" cy="2776538"/>
          </a:xfrm>
        </p:spPr>
        <p:txBody>
          <a:bodyPr>
            <a:normAutofit fontScale="92500"/>
          </a:bodyPr>
          <a:lstStyle/>
          <a:p>
            <a:pPr marL="0" indent="0">
              <a:buFont typeface="Arial" panose="020B0604020202020204" pitchFamily="34" charset="0"/>
              <a:buNone/>
              <a:defRPr/>
            </a:pPr>
            <a:r>
              <a:rPr lang="en-US" altLang="zh-CN" dirty="0" err="1"/>
              <a:t>LinkNode</a:t>
            </a:r>
            <a:r>
              <a:rPr lang="en-US" altLang="zh-CN" dirty="0"/>
              <a:t> *Search ( </a:t>
            </a:r>
            <a:r>
              <a:rPr lang="en-US" altLang="zh-CN" dirty="0" err="1"/>
              <a:t>LinkNode</a:t>
            </a:r>
            <a:r>
              <a:rPr lang="en-US" altLang="zh-CN" dirty="0"/>
              <a:t> *f, T&amp; x ) {</a:t>
            </a:r>
            <a:br>
              <a:rPr lang="en-US" altLang="zh-CN" dirty="0"/>
            </a:br>
            <a:r>
              <a:rPr lang="en-US" altLang="zh-CN" dirty="0"/>
              <a:t>    if ( f == NULL ) return NULL;</a:t>
            </a:r>
            <a:br>
              <a:rPr lang="en-US" altLang="zh-CN" dirty="0"/>
            </a:br>
            <a:r>
              <a:rPr lang="en-US" altLang="zh-CN" dirty="0"/>
              <a:t>    else if ( f -&gt; data == x ) return f;</a:t>
            </a:r>
            <a:br>
              <a:rPr lang="en-US" altLang="zh-CN" dirty="0"/>
            </a:br>
            <a:r>
              <a:rPr lang="en-US" altLang="zh-CN" dirty="0"/>
              <a:t>    else Search ( f -&gt; link, x );</a:t>
            </a:r>
            <a:br>
              <a:rPr lang="en-US" altLang="zh-CN" dirty="0"/>
            </a:br>
            <a:r>
              <a:rPr lang="en-US" altLang="zh-CN" dirty="0"/>
              <a:t>}</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dirty="0"/>
              <a:t>场景</a:t>
            </a:r>
            <a:r>
              <a:rPr lang="en-US" altLang="zh-CN" dirty="0"/>
              <a:t>3</a:t>
            </a:r>
            <a:r>
              <a:rPr lang="zh-CN" altLang="en-US" dirty="0"/>
              <a:t>：问题的解法是递归的</a:t>
            </a:r>
            <a:endParaRPr lang="zh-CN" altLang="en-US" dirty="0"/>
          </a:p>
        </p:txBody>
      </p:sp>
      <p:sp>
        <p:nvSpPr>
          <p:cNvPr id="52227" name="内容占位符 2"/>
          <p:cNvSpPr>
            <a:spLocks noGrp="1" noChangeArrowheads="1"/>
          </p:cNvSpPr>
          <p:nvPr>
            <p:ph idx="1"/>
          </p:nvPr>
        </p:nvSpPr>
        <p:spPr/>
        <p:txBody>
          <a:bodyPr>
            <a:normAutofit lnSpcReduction="10000"/>
          </a:bodyPr>
          <a:lstStyle/>
          <a:p>
            <a:r>
              <a:rPr lang="zh-CN" altLang="en-US" dirty="0"/>
              <a:t>例如，汉诺塔</a:t>
            </a:r>
            <a:r>
              <a:rPr lang="en-US" altLang="zh-CN" dirty="0"/>
              <a:t>(Tower of Hanoi)</a:t>
            </a:r>
            <a:r>
              <a:rPr lang="zh-CN" altLang="en-US" dirty="0"/>
              <a:t>问题的解法：</a:t>
            </a:r>
            <a:endParaRPr lang="zh-CN" altLang="en-US" dirty="0"/>
          </a:p>
          <a:p>
            <a:pPr lvl="1"/>
            <a:r>
              <a:rPr lang="zh-CN" altLang="en-US" dirty="0"/>
              <a:t>如果 </a:t>
            </a:r>
            <a:r>
              <a:rPr lang="en-US" altLang="zh-CN" dirty="0"/>
              <a:t>n = 1</a:t>
            </a:r>
            <a:r>
              <a:rPr lang="zh-CN" altLang="en-US" dirty="0"/>
              <a:t>，则将这一个盘子直接从 </a:t>
            </a:r>
            <a:r>
              <a:rPr lang="en-US" altLang="zh-CN" dirty="0"/>
              <a:t>A </a:t>
            </a:r>
            <a:r>
              <a:rPr lang="zh-CN" altLang="en-US" dirty="0"/>
              <a:t>柱移到 </a:t>
            </a:r>
            <a:r>
              <a:rPr lang="en-US" altLang="zh-CN" dirty="0"/>
              <a:t>C </a:t>
            </a:r>
            <a:r>
              <a:rPr lang="zh-CN" altLang="en-US" dirty="0"/>
              <a:t>柱上。否则，执行以下三步：</a:t>
            </a:r>
            <a:endParaRPr lang="zh-CN" altLang="en-US" dirty="0"/>
          </a:p>
          <a:p>
            <a:pPr lvl="2"/>
            <a:r>
              <a:rPr lang="zh-CN" altLang="en-US" dirty="0"/>
              <a:t>用 </a:t>
            </a:r>
            <a:r>
              <a:rPr lang="en-US" altLang="zh-CN" dirty="0"/>
              <a:t>C </a:t>
            </a:r>
            <a:r>
              <a:rPr lang="zh-CN" altLang="en-US" dirty="0"/>
              <a:t>柱做过渡，将 </a:t>
            </a:r>
            <a:r>
              <a:rPr lang="en-US" altLang="zh-CN" dirty="0"/>
              <a:t>A </a:t>
            </a:r>
            <a:r>
              <a:rPr lang="zh-CN" altLang="en-US" dirty="0"/>
              <a:t>柱上的 </a:t>
            </a:r>
            <a:r>
              <a:rPr lang="en-US" altLang="zh-CN" dirty="0"/>
              <a:t>(n-1) </a:t>
            </a:r>
            <a:r>
              <a:rPr lang="zh-CN" altLang="en-US" dirty="0"/>
              <a:t>个盘子移到 </a:t>
            </a:r>
            <a:r>
              <a:rPr lang="en-US" altLang="zh-CN" dirty="0"/>
              <a:t>B </a:t>
            </a:r>
            <a:r>
              <a:rPr lang="zh-CN" altLang="en-US" dirty="0"/>
              <a:t>柱上；</a:t>
            </a:r>
            <a:endParaRPr lang="zh-CN" altLang="en-US" dirty="0"/>
          </a:p>
          <a:p>
            <a:pPr lvl="2"/>
            <a:r>
              <a:rPr lang="zh-CN" altLang="en-US" dirty="0"/>
              <a:t>将 </a:t>
            </a:r>
            <a:r>
              <a:rPr lang="en-US" altLang="zh-CN" dirty="0"/>
              <a:t>A </a:t>
            </a:r>
            <a:r>
              <a:rPr lang="zh-CN" altLang="en-US" dirty="0"/>
              <a:t>柱上最后一个盘子直接移到 </a:t>
            </a:r>
            <a:r>
              <a:rPr lang="en-US" altLang="zh-CN" dirty="0"/>
              <a:t>C </a:t>
            </a:r>
            <a:r>
              <a:rPr lang="zh-CN" altLang="en-US" dirty="0"/>
              <a:t>柱上；</a:t>
            </a:r>
            <a:endParaRPr lang="zh-CN" altLang="en-US" dirty="0"/>
          </a:p>
          <a:p>
            <a:pPr lvl="2"/>
            <a:r>
              <a:rPr lang="zh-CN" altLang="en-US" dirty="0"/>
              <a:t>用 </a:t>
            </a:r>
            <a:r>
              <a:rPr lang="en-US" altLang="zh-CN" dirty="0"/>
              <a:t>A </a:t>
            </a:r>
            <a:r>
              <a:rPr lang="zh-CN" altLang="en-US" dirty="0"/>
              <a:t>柱做过渡，将 </a:t>
            </a:r>
            <a:r>
              <a:rPr lang="en-US" altLang="zh-CN" dirty="0"/>
              <a:t>B </a:t>
            </a:r>
            <a:r>
              <a:rPr lang="zh-CN" altLang="en-US" dirty="0"/>
              <a:t>柱上的 </a:t>
            </a:r>
            <a:r>
              <a:rPr lang="en-US" altLang="zh-CN" dirty="0"/>
              <a:t>(n-1) </a:t>
            </a:r>
            <a:r>
              <a:rPr lang="zh-CN" altLang="en-US" dirty="0"/>
              <a:t>个盘子移到 </a:t>
            </a:r>
            <a:r>
              <a:rPr lang="en-US" altLang="zh-CN" dirty="0"/>
              <a:t>C </a:t>
            </a:r>
            <a:r>
              <a:rPr lang="zh-CN" altLang="en-US" dirty="0"/>
              <a:t>柱上。</a:t>
            </a:r>
            <a:endParaRPr lang="zh-CN" altLang="en-US"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02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152400"/>
            <a:ext cx="701040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026"/>
          <p:cNvSpPr txBox="1">
            <a:spLocks noChangeArrowheads="1"/>
          </p:cNvSpPr>
          <p:nvPr/>
        </p:nvSpPr>
        <p:spPr bwMode="auto">
          <a:xfrm>
            <a:off x="636588" y="685800"/>
            <a:ext cx="7712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endParaRPr kumimoji="1" lang="zh-CN" altLang="zh-CN" sz="2400">
              <a:latin typeface="Times New Roman" panose="02020603050405020304" pitchFamily="18" charset="0"/>
              <a:ea typeface="宋体" panose="02010600030101010101" pitchFamily="2" charset="-122"/>
            </a:endParaRPr>
          </a:p>
        </p:txBody>
      </p:sp>
      <p:sp>
        <p:nvSpPr>
          <p:cNvPr id="3" name="内容占位符 2"/>
          <p:cNvSpPr>
            <a:spLocks noGrp="1"/>
          </p:cNvSpPr>
          <p:nvPr>
            <p:ph idx="1"/>
          </p:nvPr>
        </p:nvSpPr>
        <p:spPr>
          <a:xfrm>
            <a:off x="628650" y="685800"/>
            <a:ext cx="7886700" cy="5491163"/>
          </a:xfrm>
        </p:spPr>
        <p:txBody>
          <a:bodyPr>
            <a:normAutofit fontScale="70000" lnSpcReduction="20000"/>
          </a:bodyPr>
          <a:lstStyle/>
          <a:p>
            <a:pPr marL="0" indent="0">
              <a:buFont typeface="Arial" panose="020B0604020202020204" pitchFamily="34" charset="0"/>
              <a:buNone/>
              <a:defRPr/>
            </a:pPr>
            <a:r>
              <a:rPr lang="en-US" altLang="zh-CN" dirty="0"/>
              <a:t>#include &lt;iostream&gt;</a:t>
            </a:r>
            <a:endParaRPr lang="en-US" altLang="zh-CN" dirty="0"/>
          </a:p>
          <a:p>
            <a:pPr marL="0" indent="0">
              <a:buFont typeface="Arial" panose="020B0604020202020204" pitchFamily="34" charset="0"/>
              <a:buNone/>
              <a:defRPr/>
            </a:pPr>
            <a:r>
              <a:rPr lang="en-US" altLang="zh-CN" dirty="0"/>
              <a:t>#include &lt;</a:t>
            </a:r>
            <a:r>
              <a:rPr lang="en-US" altLang="zh-CN" dirty="0" err="1"/>
              <a:t>string.h</a:t>
            </a:r>
            <a:r>
              <a:rPr lang="en-US" altLang="zh-CN" dirty="0"/>
              <a:t>&gt;</a:t>
            </a:r>
            <a:endParaRPr lang="en-US" altLang="zh-CN" dirty="0"/>
          </a:p>
          <a:p>
            <a:pPr marL="0" indent="0">
              <a:buFont typeface="Arial" panose="020B0604020202020204" pitchFamily="34" charset="0"/>
              <a:buNone/>
              <a:defRPr/>
            </a:pPr>
            <a:r>
              <a:rPr lang="en-US" altLang="zh-CN" dirty="0"/>
              <a:t>void Hanoi (int n, string A, string B, string C) {</a:t>
            </a:r>
            <a:endParaRPr lang="en-US" altLang="zh-CN" dirty="0"/>
          </a:p>
          <a:p>
            <a:pPr marL="0" indent="0">
              <a:buFont typeface="Arial" panose="020B0604020202020204" pitchFamily="34" charset="0"/>
              <a:buNone/>
              <a:defRPr/>
            </a:pPr>
            <a:r>
              <a:rPr lang="en-US" altLang="zh-CN" dirty="0"/>
              <a:t> //</a:t>
            </a:r>
            <a:r>
              <a:rPr lang="zh-CN" altLang="en-US" dirty="0"/>
              <a:t>解决汉诺塔问题的算法</a:t>
            </a:r>
            <a:endParaRPr lang="zh-CN" altLang="en-US" dirty="0"/>
          </a:p>
          <a:p>
            <a:pPr marL="0" indent="0">
              <a:buFont typeface="Arial" panose="020B0604020202020204" pitchFamily="34" charset="0"/>
              <a:buNone/>
              <a:defRPr/>
            </a:pPr>
            <a:r>
              <a:rPr lang="zh-CN" altLang="en-US" dirty="0"/>
              <a:t>    </a:t>
            </a:r>
            <a:r>
              <a:rPr lang="en-US" altLang="zh-CN" dirty="0"/>
              <a:t>if ( n == 1 ) </a:t>
            </a:r>
            <a:r>
              <a:rPr lang="en-US" altLang="zh-CN" dirty="0" err="1"/>
              <a:t>cout</a:t>
            </a:r>
            <a:r>
              <a:rPr lang="en-US" altLang="zh-CN" dirty="0"/>
              <a:t> &lt;&lt; " move " &lt;&lt; A &lt;&lt; " to  "</a:t>
            </a:r>
            <a:endParaRPr lang="en-US" altLang="zh-CN" dirty="0"/>
          </a:p>
          <a:p>
            <a:pPr marL="0" indent="0">
              <a:buFont typeface="Arial" panose="020B0604020202020204" pitchFamily="34" charset="0"/>
              <a:buNone/>
              <a:defRPr/>
            </a:pPr>
            <a:r>
              <a:rPr lang="en-US" altLang="zh-CN" dirty="0"/>
              <a:t>          &lt;&lt; C &lt;&lt; </a:t>
            </a:r>
            <a:r>
              <a:rPr lang="en-US" altLang="zh-CN" dirty="0" err="1"/>
              <a:t>endl</a:t>
            </a:r>
            <a:r>
              <a:rPr lang="en-US" altLang="zh-CN" dirty="0"/>
              <a:t>;	   </a:t>
            </a:r>
            <a:endParaRPr lang="en-US" altLang="zh-CN" dirty="0"/>
          </a:p>
          <a:p>
            <a:pPr marL="0" indent="0">
              <a:buFont typeface="Arial" panose="020B0604020202020204" pitchFamily="34" charset="0"/>
              <a:buNone/>
              <a:defRPr/>
            </a:pPr>
            <a:r>
              <a:rPr lang="en-US" altLang="zh-CN" dirty="0"/>
              <a:t>    else {</a:t>
            </a:r>
            <a:endParaRPr lang="en-US" altLang="zh-CN" dirty="0"/>
          </a:p>
          <a:p>
            <a:pPr marL="0" indent="0">
              <a:buFont typeface="Arial" panose="020B0604020202020204" pitchFamily="34" charset="0"/>
              <a:buNone/>
              <a:defRPr/>
            </a:pPr>
            <a:r>
              <a:rPr lang="en-US" altLang="zh-CN" dirty="0"/>
              <a:t>               Hanoi ( n-1, A, C, B );</a:t>
            </a:r>
            <a:endParaRPr lang="en-US" altLang="zh-CN" dirty="0"/>
          </a:p>
          <a:p>
            <a:pPr marL="0" indent="0">
              <a:buFont typeface="Arial" panose="020B0604020202020204" pitchFamily="34" charset="0"/>
              <a:buNone/>
              <a:defRPr/>
            </a:pPr>
            <a:r>
              <a:rPr lang="en-US" altLang="zh-CN" dirty="0"/>
              <a:t>               </a:t>
            </a:r>
            <a:r>
              <a:rPr lang="en-US" altLang="zh-CN" dirty="0" err="1"/>
              <a:t>cout</a:t>
            </a:r>
            <a:r>
              <a:rPr lang="en-US" altLang="zh-CN" dirty="0"/>
              <a:t> &lt;&lt; " move " &lt;&lt; A &lt;&lt; " to " &lt;&lt; C</a:t>
            </a:r>
            <a:endParaRPr lang="en-US" altLang="zh-CN" dirty="0"/>
          </a:p>
          <a:p>
            <a:pPr marL="0" indent="0">
              <a:buFont typeface="Arial" panose="020B0604020202020204" pitchFamily="34" charset="0"/>
              <a:buNone/>
              <a:defRPr/>
            </a:pPr>
            <a:r>
              <a:rPr lang="en-US" altLang="zh-CN" dirty="0"/>
              <a:t>                       &lt;&lt; </a:t>
            </a:r>
            <a:r>
              <a:rPr lang="en-US" altLang="zh-CN" dirty="0" err="1"/>
              <a:t>endl</a:t>
            </a:r>
            <a:r>
              <a:rPr lang="en-US" altLang="zh-CN" dirty="0"/>
              <a:t>;	</a:t>
            </a:r>
            <a:endParaRPr lang="en-US" altLang="zh-CN" dirty="0"/>
          </a:p>
          <a:p>
            <a:pPr marL="0" indent="0">
              <a:buFont typeface="Arial" panose="020B0604020202020204" pitchFamily="34" charset="0"/>
              <a:buNone/>
              <a:defRPr/>
            </a:pPr>
            <a:r>
              <a:rPr lang="en-US" altLang="zh-CN" dirty="0"/>
              <a:t>               Hanoi ( n-1, B, A, C );</a:t>
            </a:r>
            <a:endParaRPr lang="en-US" altLang="zh-CN" dirty="0"/>
          </a:p>
          <a:p>
            <a:pPr marL="0" indent="0">
              <a:buFont typeface="Arial" panose="020B0604020202020204" pitchFamily="34" charset="0"/>
              <a:buNone/>
              <a:defRPr/>
            </a:pPr>
            <a:r>
              <a:rPr lang="en-US" altLang="zh-CN" dirty="0"/>
              <a:t>     }</a:t>
            </a:r>
            <a:endParaRPr lang="en-US" altLang="zh-CN" dirty="0"/>
          </a:p>
          <a:p>
            <a:pPr marL="0" indent="0">
              <a:buFont typeface="Arial" panose="020B0604020202020204" pitchFamily="34" charset="0"/>
              <a:buNone/>
              <a:defRPr/>
            </a:pPr>
            <a:r>
              <a:rPr lang="en-US" altLang="zh-CN" dirty="0"/>
              <a:t>}</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3613150" y="495300"/>
            <a:ext cx="1752600" cy="5334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299" name="Rectangle 3"/>
          <p:cNvSpPr>
            <a:spLocks noChangeArrowheads="1"/>
          </p:cNvSpPr>
          <p:nvPr/>
        </p:nvSpPr>
        <p:spPr bwMode="auto">
          <a:xfrm>
            <a:off x="1516063" y="1646238"/>
            <a:ext cx="1627187" cy="5207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00" name="Text Box 4"/>
          <p:cNvSpPr txBox="1">
            <a:spLocks noChangeArrowheads="1"/>
          </p:cNvSpPr>
          <p:nvPr/>
        </p:nvSpPr>
        <p:spPr bwMode="auto">
          <a:xfrm>
            <a:off x="3765550" y="495300"/>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a:latin typeface="Arial" panose="020B0604020202020204" pitchFamily="34" charset="0"/>
                <a:ea typeface="宋体" panose="02010600030101010101" pitchFamily="2" charset="-122"/>
              </a:rPr>
              <a:t>(3,A,B,C)</a:t>
            </a:r>
            <a:endParaRPr kumimoji="1" lang="en-US" altLang="zh-CN" sz="2600" b="1">
              <a:latin typeface="Arial" panose="020B0604020202020204" pitchFamily="34" charset="0"/>
              <a:ea typeface="宋体" panose="02010600030101010101" pitchFamily="2" charset="-122"/>
            </a:endParaRPr>
          </a:p>
        </p:txBody>
      </p:sp>
      <p:sp>
        <p:nvSpPr>
          <p:cNvPr id="55301" name="Text Box 5"/>
          <p:cNvSpPr txBox="1">
            <a:spLocks noChangeArrowheads="1"/>
          </p:cNvSpPr>
          <p:nvPr/>
        </p:nvSpPr>
        <p:spPr bwMode="auto">
          <a:xfrm>
            <a:off x="1554163" y="1622425"/>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a:latin typeface="Arial" panose="020B0604020202020204" pitchFamily="34" charset="0"/>
                <a:ea typeface="宋体" panose="02010600030101010101" pitchFamily="2" charset="-122"/>
              </a:rPr>
              <a:t>(2,A,C,B)</a:t>
            </a:r>
            <a:endParaRPr kumimoji="1" lang="en-US" altLang="zh-CN" sz="2600" b="1">
              <a:latin typeface="Arial" panose="020B0604020202020204" pitchFamily="34" charset="0"/>
              <a:ea typeface="宋体" panose="02010600030101010101" pitchFamily="2" charset="-122"/>
            </a:endParaRPr>
          </a:p>
        </p:txBody>
      </p:sp>
      <p:sp>
        <p:nvSpPr>
          <p:cNvPr id="55302" name="AutoShape 6" descr="白色大理石"/>
          <p:cNvSpPr>
            <a:spLocks noChangeArrowheads="1"/>
          </p:cNvSpPr>
          <p:nvPr/>
        </p:nvSpPr>
        <p:spPr bwMode="auto">
          <a:xfrm>
            <a:off x="3846513" y="1639888"/>
            <a:ext cx="1325562"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03" name="Text Box 7"/>
          <p:cNvSpPr txBox="1">
            <a:spLocks noChangeArrowheads="1"/>
          </p:cNvSpPr>
          <p:nvPr/>
        </p:nvSpPr>
        <p:spPr bwMode="auto">
          <a:xfrm>
            <a:off x="4070350" y="1649413"/>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a:latin typeface="Arial" panose="020B0604020202020204" pitchFamily="34" charset="0"/>
                <a:ea typeface="宋体" panose="02010600030101010101" pitchFamily="2" charset="-122"/>
              </a:rPr>
              <a:t>A</a:t>
            </a:r>
            <a:r>
              <a:rPr kumimoji="1" lang="en-US" altLang="zh-CN" sz="2600" b="1">
                <a:latin typeface="楷体_GB2312" panose="02010609030101010101" pitchFamily="49" charset="-122"/>
                <a:ea typeface="楷体_GB2312" panose="02010609030101010101" pitchFamily="49" charset="-122"/>
              </a:rPr>
              <a:t>-&gt;</a:t>
            </a:r>
            <a:r>
              <a:rPr kumimoji="1" lang="en-US" altLang="zh-CN" sz="2600" b="1">
                <a:latin typeface="Arial" panose="020B0604020202020204" pitchFamily="34" charset="0"/>
                <a:ea typeface="宋体" panose="02010600030101010101" pitchFamily="2" charset="-122"/>
              </a:rPr>
              <a:t>C</a:t>
            </a:r>
            <a:endParaRPr kumimoji="1" lang="en-US" altLang="zh-CN" sz="2600" b="1">
              <a:latin typeface="Arial" panose="020B0604020202020204" pitchFamily="34" charset="0"/>
              <a:ea typeface="宋体" panose="02010600030101010101" pitchFamily="2" charset="-122"/>
            </a:endParaRPr>
          </a:p>
        </p:txBody>
      </p:sp>
      <p:sp>
        <p:nvSpPr>
          <p:cNvPr id="55304" name="Text Box 8"/>
          <p:cNvSpPr txBox="1">
            <a:spLocks noChangeArrowheads="1"/>
          </p:cNvSpPr>
          <p:nvPr/>
        </p:nvSpPr>
        <p:spPr bwMode="auto">
          <a:xfrm>
            <a:off x="1955800" y="1235075"/>
            <a:ext cx="1047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a:solidFill>
                  <a:schemeClr val="hlink"/>
                </a:solidFill>
                <a:latin typeface="Arial" panose="020B0604020202020204" pitchFamily="34" charset="0"/>
                <a:ea typeface="宋体" panose="02010600030101010101" pitchFamily="2" charset="-122"/>
              </a:rPr>
              <a:t>A,B,C</a:t>
            </a:r>
            <a:endParaRPr kumimoji="1" lang="en-US" altLang="zh-CN" sz="2600">
              <a:solidFill>
                <a:schemeClr val="hlink"/>
              </a:solidFill>
              <a:latin typeface="Arial" panose="020B0604020202020204" pitchFamily="34" charset="0"/>
              <a:ea typeface="宋体" panose="02010600030101010101" pitchFamily="2" charset="-122"/>
            </a:endParaRPr>
          </a:p>
        </p:txBody>
      </p:sp>
      <p:sp>
        <p:nvSpPr>
          <p:cNvPr id="55305" name="Rectangle 9"/>
          <p:cNvSpPr>
            <a:spLocks noChangeArrowheads="1"/>
          </p:cNvSpPr>
          <p:nvPr/>
        </p:nvSpPr>
        <p:spPr bwMode="auto">
          <a:xfrm>
            <a:off x="407988" y="3160713"/>
            <a:ext cx="1593850" cy="5207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06" name="Text Box 10"/>
          <p:cNvSpPr txBox="1">
            <a:spLocks noChangeArrowheads="1"/>
          </p:cNvSpPr>
          <p:nvPr/>
        </p:nvSpPr>
        <p:spPr bwMode="auto">
          <a:xfrm>
            <a:off x="444500" y="3167063"/>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chemeClr val="hlink"/>
                </a:solidFill>
                <a:latin typeface="Arial" panose="020B0604020202020204" pitchFamily="34" charset="0"/>
                <a:ea typeface="宋体" panose="02010600030101010101" pitchFamily="2" charset="-122"/>
              </a:rPr>
              <a:t>(1,A,B,C)</a:t>
            </a:r>
            <a:endParaRPr kumimoji="1" lang="en-US" altLang="zh-CN" sz="2600" b="1" dirty="0">
              <a:solidFill>
                <a:schemeClr val="hlink"/>
              </a:solidFill>
              <a:latin typeface="Arial" panose="020B0604020202020204" pitchFamily="34" charset="0"/>
              <a:ea typeface="宋体" panose="02010600030101010101" pitchFamily="2" charset="-122"/>
            </a:endParaRPr>
          </a:p>
        </p:txBody>
      </p:sp>
      <p:sp>
        <p:nvSpPr>
          <p:cNvPr id="55307" name="Text Box 11"/>
          <p:cNvSpPr txBox="1">
            <a:spLocks noChangeArrowheads="1"/>
          </p:cNvSpPr>
          <p:nvPr/>
        </p:nvSpPr>
        <p:spPr bwMode="auto">
          <a:xfrm>
            <a:off x="847725" y="2743200"/>
            <a:ext cx="1047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a:solidFill>
                  <a:srgbClr val="009900"/>
                </a:solidFill>
                <a:latin typeface="Arial" panose="020B0604020202020204" pitchFamily="34" charset="0"/>
                <a:ea typeface="宋体" panose="02010600030101010101" pitchFamily="2" charset="-122"/>
              </a:rPr>
              <a:t>A,B,C</a:t>
            </a:r>
            <a:endParaRPr kumimoji="1" lang="en-US" altLang="zh-CN" sz="2600">
              <a:solidFill>
                <a:srgbClr val="009900"/>
              </a:solidFill>
              <a:latin typeface="Arial" panose="020B0604020202020204" pitchFamily="34" charset="0"/>
              <a:ea typeface="宋体" panose="02010600030101010101" pitchFamily="2" charset="-122"/>
            </a:endParaRPr>
          </a:p>
        </p:txBody>
      </p:sp>
      <p:sp>
        <p:nvSpPr>
          <p:cNvPr id="55308" name="AutoShape 12" descr="白色大理石"/>
          <p:cNvSpPr>
            <a:spLocks noChangeArrowheads="1"/>
          </p:cNvSpPr>
          <p:nvPr/>
        </p:nvSpPr>
        <p:spPr bwMode="auto">
          <a:xfrm>
            <a:off x="371475" y="5068888"/>
            <a:ext cx="1325563"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09" name="Text Box 13"/>
          <p:cNvSpPr txBox="1">
            <a:spLocks noChangeArrowheads="1"/>
          </p:cNvSpPr>
          <p:nvPr/>
        </p:nvSpPr>
        <p:spPr bwMode="auto">
          <a:xfrm>
            <a:off x="565150" y="5078413"/>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a:solidFill>
                  <a:srgbClr val="009900"/>
                </a:solidFill>
                <a:latin typeface="Arial" panose="020B0604020202020204" pitchFamily="34" charset="0"/>
                <a:ea typeface="宋体" panose="02010600030101010101" pitchFamily="2" charset="-122"/>
              </a:rPr>
              <a:t>A</a:t>
            </a:r>
            <a:r>
              <a:rPr kumimoji="1" lang="en-US" altLang="zh-CN" sz="2600" b="1">
                <a:solidFill>
                  <a:srgbClr val="009900"/>
                </a:solidFill>
                <a:latin typeface="楷体_GB2312" panose="02010609030101010101" pitchFamily="49" charset="-122"/>
                <a:ea typeface="楷体_GB2312" panose="02010609030101010101" pitchFamily="49" charset="-122"/>
              </a:rPr>
              <a:t>-&gt;</a:t>
            </a:r>
            <a:r>
              <a:rPr kumimoji="1" lang="en-US" altLang="zh-CN" sz="2600" b="1">
                <a:solidFill>
                  <a:srgbClr val="009900"/>
                </a:solidFill>
                <a:latin typeface="Arial" panose="020B0604020202020204" pitchFamily="34" charset="0"/>
                <a:ea typeface="宋体" panose="02010600030101010101" pitchFamily="2" charset="-122"/>
              </a:rPr>
              <a:t>C</a:t>
            </a:r>
            <a:endParaRPr kumimoji="1" lang="en-US" altLang="zh-CN" sz="2600" b="1">
              <a:solidFill>
                <a:srgbClr val="009900"/>
              </a:solidFill>
              <a:latin typeface="Arial" panose="020B0604020202020204" pitchFamily="34" charset="0"/>
              <a:ea typeface="宋体" panose="02010600030101010101" pitchFamily="2" charset="-122"/>
            </a:endParaRPr>
          </a:p>
        </p:txBody>
      </p:sp>
      <p:sp>
        <p:nvSpPr>
          <p:cNvPr id="55310" name="Line 14"/>
          <p:cNvSpPr>
            <a:spLocks noChangeShapeType="1"/>
          </p:cNvSpPr>
          <p:nvPr/>
        </p:nvSpPr>
        <p:spPr bwMode="auto">
          <a:xfrm>
            <a:off x="882650" y="3686175"/>
            <a:ext cx="0" cy="1387475"/>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1" name="Line 15"/>
          <p:cNvSpPr>
            <a:spLocks noChangeShapeType="1"/>
          </p:cNvSpPr>
          <p:nvPr/>
        </p:nvSpPr>
        <p:spPr bwMode="auto">
          <a:xfrm flipH="1">
            <a:off x="1198563" y="2171700"/>
            <a:ext cx="787400" cy="693738"/>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2" name="AutoShape 16" descr="白色大理石"/>
          <p:cNvSpPr>
            <a:spLocks noChangeArrowheads="1"/>
          </p:cNvSpPr>
          <p:nvPr/>
        </p:nvSpPr>
        <p:spPr bwMode="auto">
          <a:xfrm>
            <a:off x="1565275" y="3925888"/>
            <a:ext cx="1325563"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13" name="Text Box 17"/>
          <p:cNvSpPr txBox="1">
            <a:spLocks noChangeArrowheads="1"/>
          </p:cNvSpPr>
          <p:nvPr/>
        </p:nvSpPr>
        <p:spPr bwMode="auto">
          <a:xfrm>
            <a:off x="1758950" y="3935413"/>
            <a:ext cx="106471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chemeClr val="hlink"/>
                </a:solidFill>
                <a:latin typeface="Arial" panose="020B0604020202020204" pitchFamily="34" charset="0"/>
                <a:ea typeface="宋体" panose="02010600030101010101" pitchFamily="2" charset="-122"/>
              </a:rPr>
              <a:t>A</a:t>
            </a:r>
            <a:r>
              <a:rPr kumimoji="1" lang="en-US" altLang="zh-CN" sz="2600" b="1" dirty="0">
                <a:solidFill>
                  <a:schemeClr val="hlink"/>
                </a:solidFill>
                <a:latin typeface="楷体_GB2312" panose="02010609030101010101" pitchFamily="49" charset="-122"/>
                <a:ea typeface="楷体_GB2312" panose="02010609030101010101" pitchFamily="49" charset="-122"/>
              </a:rPr>
              <a:t>-&gt;</a:t>
            </a:r>
            <a:r>
              <a:rPr kumimoji="1" lang="en-US" altLang="zh-CN" sz="2600" b="1" dirty="0">
                <a:solidFill>
                  <a:schemeClr val="hlink"/>
                </a:solidFill>
                <a:latin typeface="Arial" panose="020B0604020202020204" pitchFamily="34" charset="0"/>
                <a:ea typeface="宋体" panose="02010600030101010101" pitchFamily="2" charset="-122"/>
              </a:rPr>
              <a:t>B</a:t>
            </a:r>
            <a:endParaRPr kumimoji="1" lang="en-US" altLang="zh-CN" sz="2600" b="1" dirty="0">
              <a:solidFill>
                <a:schemeClr val="hlink"/>
              </a:solidFill>
              <a:latin typeface="Arial" panose="020B0604020202020204" pitchFamily="34" charset="0"/>
              <a:ea typeface="宋体" panose="02010600030101010101" pitchFamily="2" charset="-122"/>
            </a:endParaRPr>
          </a:p>
        </p:txBody>
      </p:sp>
      <p:sp>
        <p:nvSpPr>
          <p:cNvPr id="55314" name="Line 18"/>
          <p:cNvSpPr>
            <a:spLocks noChangeShapeType="1"/>
          </p:cNvSpPr>
          <p:nvPr/>
        </p:nvSpPr>
        <p:spPr bwMode="auto">
          <a:xfrm>
            <a:off x="2266950" y="2198688"/>
            <a:ext cx="0" cy="1765300"/>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5" name="Rectangle 19"/>
          <p:cNvSpPr>
            <a:spLocks noChangeArrowheads="1"/>
          </p:cNvSpPr>
          <p:nvPr/>
        </p:nvSpPr>
        <p:spPr bwMode="auto">
          <a:xfrm>
            <a:off x="2528888" y="3186113"/>
            <a:ext cx="1593850" cy="5207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16" name="Text Box 20"/>
          <p:cNvSpPr txBox="1">
            <a:spLocks noChangeArrowheads="1"/>
          </p:cNvSpPr>
          <p:nvPr/>
        </p:nvSpPr>
        <p:spPr bwMode="auto">
          <a:xfrm>
            <a:off x="2565400" y="3192463"/>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chemeClr val="hlink"/>
                </a:solidFill>
                <a:latin typeface="Arial" panose="020B0604020202020204" pitchFamily="34" charset="0"/>
                <a:ea typeface="宋体" panose="02010600030101010101" pitchFamily="2" charset="-122"/>
              </a:rPr>
              <a:t>(1,C,A,B)</a:t>
            </a:r>
            <a:endParaRPr kumimoji="1" lang="en-US" altLang="zh-CN" sz="2600" b="1" dirty="0">
              <a:solidFill>
                <a:schemeClr val="hlink"/>
              </a:solidFill>
              <a:latin typeface="Arial" panose="020B0604020202020204" pitchFamily="34" charset="0"/>
              <a:ea typeface="宋体" panose="02010600030101010101" pitchFamily="2" charset="-122"/>
            </a:endParaRPr>
          </a:p>
        </p:txBody>
      </p:sp>
      <p:sp>
        <p:nvSpPr>
          <p:cNvPr id="55317" name="Text Box 21"/>
          <p:cNvSpPr txBox="1">
            <a:spLocks noChangeArrowheads="1"/>
          </p:cNvSpPr>
          <p:nvPr/>
        </p:nvSpPr>
        <p:spPr bwMode="auto">
          <a:xfrm>
            <a:off x="2968625" y="2768600"/>
            <a:ext cx="1047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a:solidFill>
                  <a:srgbClr val="009900"/>
                </a:solidFill>
                <a:latin typeface="Arial" panose="020B0604020202020204" pitchFamily="34" charset="0"/>
                <a:ea typeface="宋体" panose="02010600030101010101" pitchFamily="2" charset="-122"/>
              </a:rPr>
              <a:t>A,B,C</a:t>
            </a:r>
            <a:endParaRPr kumimoji="1" lang="en-US" altLang="zh-CN" sz="2600">
              <a:solidFill>
                <a:srgbClr val="009900"/>
              </a:solidFill>
              <a:latin typeface="Arial" panose="020B0604020202020204" pitchFamily="34" charset="0"/>
              <a:ea typeface="宋体" panose="02010600030101010101" pitchFamily="2" charset="-122"/>
            </a:endParaRPr>
          </a:p>
        </p:txBody>
      </p:sp>
      <p:sp>
        <p:nvSpPr>
          <p:cNvPr id="55318" name="AutoShape 22" descr="白色大理石"/>
          <p:cNvSpPr>
            <a:spLocks noChangeArrowheads="1"/>
          </p:cNvSpPr>
          <p:nvPr/>
        </p:nvSpPr>
        <p:spPr bwMode="auto">
          <a:xfrm>
            <a:off x="2651125" y="5094288"/>
            <a:ext cx="1325563"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19" name="Text Box 23"/>
          <p:cNvSpPr txBox="1">
            <a:spLocks noChangeArrowheads="1"/>
          </p:cNvSpPr>
          <p:nvPr/>
        </p:nvSpPr>
        <p:spPr bwMode="auto">
          <a:xfrm>
            <a:off x="2844800" y="5103813"/>
            <a:ext cx="106471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rgbClr val="009900"/>
                </a:solidFill>
                <a:latin typeface="Arial" panose="020B0604020202020204" pitchFamily="34" charset="0"/>
                <a:ea typeface="宋体" panose="02010600030101010101" pitchFamily="2" charset="-122"/>
              </a:rPr>
              <a:t>C</a:t>
            </a:r>
            <a:r>
              <a:rPr kumimoji="1" lang="en-US" altLang="zh-CN" sz="2600" b="1" dirty="0">
                <a:solidFill>
                  <a:srgbClr val="009900"/>
                </a:solidFill>
                <a:latin typeface="楷体_GB2312" panose="02010609030101010101" pitchFamily="49" charset="-122"/>
                <a:ea typeface="楷体_GB2312" panose="02010609030101010101" pitchFamily="49" charset="-122"/>
              </a:rPr>
              <a:t>-&gt;</a:t>
            </a:r>
            <a:r>
              <a:rPr kumimoji="1" lang="en-US" altLang="zh-CN" sz="2600" b="1" dirty="0">
                <a:solidFill>
                  <a:srgbClr val="009900"/>
                </a:solidFill>
                <a:latin typeface="Arial" panose="020B0604020202020204" pitchFamily="34" charset="0"/>
                <a:ea typeface="宋体" panose="02010600030101010101" pitchFamily="2" charset="-122"/>
              </a:rPr>
              <a:t>B</a:t>
            </a:r>
            <a:endParaRPr kumimoji="1" lang="en-US" altLang="zh-CN" sz="2600" b="1" dirty="0">
              <a:solidFill>
                <a:srgbClr val="009900"/>
              </a:solidFill>
              <a:latin typeface="Arial" panose="020B0604020202020204" pitchFamily="34" charset="0"/>
              <a:ea typeface="宋体" panose="02010600030101010101" pitchFamily="2" charset="-122"/>
            </a:endParaRPr>
          </a:p>
        </p:txBody>
      </p:sp>
      <p:sp>
        <p:nvSpPr>
          <p:cNvPr id="55320" name="Line 24"/>
          <p:cNvSpPr>
            <a:spLocks noChangeShapeType="1"/>
          </p:cNvSpPr>
          <p:nvPr/>
        </p:nvSpPr>
        <p:spPr bwMode="auto">
          <a:xfrm>
            <a:off x="2617788" y="2206625"/>
            <a:ext cx="725487" cy="661988"/>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1" name="Line 25"/>
          <p:cNvSpPr>
            <a:spLocks noChangeShapeType="1"/>
          </p:cNvSpPr>
          <p:nvPr/>
        </p:nvSpPr>
        <p:spPr bwMode="auto">
          <a:xfrm>
            <a:off x="3463925" y="3744913"/>
            <a:ext cx="0" cy="1387475"/>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6" name="Rectangle 30"/>
          <p:cNvSpPr>
            <a:spLocks noChangeArrowheads="1"/>
          </p:cNvSpPr>
          <p:nvPr/>
        </p:nvSpPr>
        <p:spPr bwMode="auto">
          <a:xfrm>
            <a:off x="5940425" y="1679575"/>
            <a:ext cx="1627188" cy="5207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27" name="Text Box 31"/>
          <p:cNvSpPr txBox="1">
            <a:spLocks noChangeArrowheads="1"/>
          </p:cNvSpPr>
          <p:nvPr/>
        </p:nvSpPr>
        <p:spPr bwMode="auto">
          <a:xfrm>
            <a:off x="5978525" y="1655763"/>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a:latin typeface="Arial" panose="020B0604020202020204" pitchFamily="34" charset="0"/>
                <a:ea typeface="宋体" panose="02010600030101010101" pitchFamily="2" charset="-122"/>
              </a:rPr>
              <a:t>(2,B,A,C)</a:t>
            </a:r>
            <a:endParaRPr kumimoji="1" lang="en-US" altLang="zh-CN" sz="2600" b="1">
              <a:latin typeface="Arial" panose="020B0604020202020204" pitchFamily="34" charset="0"/>
              <a:ea typeface="宋体" panose="02010600030101010101" pitchFamily="2" charset="-122"/>
            </a:endParaRPr>
          </a:p>
        </p:txBody>
      </p:sp>
      <p:sp>
        <p:nvSpPr>
          <p:cNvPr id="55328" name="Text Box 32"/>
          <p:cNvSpPr txBox="1">
            <a:spLocks noChangeArrowheads="1"/>
          </p:cNvSpPr>
          <p:nvPr/>
        </p:nvSpPr>
        <p:spPr bwMode="auto">
          <a:xfrm>
            <a:off x="6380163" y="1268413"/>
            <a:ext cx="1047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a:solidFill>
                  <a:schemeClr val="hlink"/>
                </a:solidFill>
                <a:latin typeface="Arial" panose="020B0604020202020204" pitchFamily="34" charset="0"/>
                <a:ea typeface="宋体" panose="02010600030101010101" pitchFamily="2" charset="-122"/>
              </a:rPr>
              <a:t>A,B,C</a:t>
            </a:r>
            <a:endParaRPr kumimoji="1" lang="en-US" altLang="zh-CN" sz="2600">
              <a:solidFill>
                <a:schemeClr val="hlink"/>
              </a:solidFill>
              <a:latin typeface="Arial" panose="020B0604020202020204" pitchFamily="34" charset="0"/>
              <a:ea typeface="宋体" panose="02010600030101010101" pitchFamily="2" charset="-122"/>
            </a:endParaRPr>
          </a:p>
        </p:txBody>
      </p:sp>
      <p:sp>
        <p:nvSpPr>
          <p:cNvPr id="55329" name="Rectangle 33"/>
          <p:cNvSpPr>
            <a:spLocks noChangeArrowheads="1"/>
          </p:cNvSpPr>
          <p:nvPr/>
        </p:nvSpPr>
        <p:spPr bwMode="auto">
          <a:xfrm>
            <a:off x="4832350" y="3194050"/>
            <a:ext cx="1593850" cy="5207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30" name="Text Box 34"/>
          <p:cNvSpPr txBox="1">
            <a:spLocks noChangeArrowheads="1"/>
          </p:cNvSpPr>
          <p:nvPr/>
        </p:nvSpPr>
        <p:spPr bwMode="auto">
          <a:xfrm>
            <a:off x="4868863" y="3200400"/>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chemeClr val="hlink"/>
                </a:solidFill>
                <a:latin typeface="Arial" panose="020B0604020202020204" pitchFamily="34" charset="0"/>
                <a:ea typeface="宋体" panose="02010600030101010101" pitchFamily="2" charset="-122"/>
              </a:rPr>
              <a:t>(1,B,C,A)</a:t>
            </a:r>
            <a:endParaRPr kumimoji="1" lang="en-US" altLang="zh-CN" sz="2600" b="1" dirty="0">
              <a:solidFill>
                <a:schemeClr val="hlink"/>
              </a:solidFill>
              <a:latin typeface="Arial" panose="020B0604020202020204" pitchFamily="34" charset="0"/>
              <a:ea typeface="宋体" panose="02010600030101010101" pitchFamily="2" charset="-122"/>
            </a:endParaRPr>
          </a:p>
        </p:txBody>
      </p:sp>
      <p:sp>
        <p:nvSpPr>
          <p:cNvPr id="55331" name="Text Box 35"/>
          <p:cNvSpPr txBox="1">
            <a:spLocks noChangeArrowheads="1"/>
          </p:cNvSpPr>
          <p:nvPr/>
        </p:nvSpPr>
        <p:spPr bwMode="auto">
          <a:xfrm>
            <a:off x="5272088" y="2776538"/>
            <a:ext cx="1047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a:solidFill>
                  <a:srgbClr val="009900"/>
                </a:solidFill>
                <a:latin typeface="Arial" panose="020B0604020202020204" pitchFamily="34" charset="0"/>
                <a:ea typeface="宋体" panose="02010600030101010101" pitchFamily="2" charset="-122"/>
              </a:rPr>
              <a:t>A,B,C</a:t>
            </a:r>
            <a:endParaRPr kumimoji="1" lang="en-US" altLang="zh-CN" sz="2600">
              <a:solidFill>
                <a:srgbClr val="009900"/>
              </a:solidFill>
              <a:latin typeface="Arial" panose="020B0604020202020204" pitchFamily="34" charset="0"/>
              <a:ea typeface="宋体" panose="02010600030101010101" pitchFamily="2" charset="-122"/>
            </a:endParaRPr>
          </a:p>
        </p:txBody>
      </p:sp>
      <p:sp>
        <p:nvSpPr>
          <p:cNvPr id="55332" name="AutoShape 36" descr="白色大理石"/>
          <p:cNvSpPr>
            <a:spLocks noChangeArrowheads="1"/>
          </p:cNvSpPr>
          <p:nvPr/>
        </p:nvSpPr>
        <p:spPr bwMode="auto">
          <a:xfrm>
            <a:off x="4795838" y="5102225"/>
            <a:ext cx="1325562"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33" name="Text Box 37"/>
          <p:cNvSpPr txBox="1">
            <a:spLocks noChangeArrowheads="1"/>
          </p:cNvSpPr>
          <p:nvPr/>
        </p:nvSpPr>
        <p:spPr bwMode="auto">
          <a:xfrm>
            <a:off x="4989513" y="5111750"/>
            <a:ext cx="106471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rgbClr val="009900"/>
                </a:solidFill>
                <a:latin typeface="Arial" panose="020B0604020202020204" pitchFamily="34" charset="0"/>
                <a:ea typeface="宋体" panose="02010600030101010101" pitchFamily="2" charset="-122"/>
              </a:rPr>
              <a:t>B</a:t>
            </a:r>
            <a:r>
              <a:rPr kumimoji="1" lang="en-US" altLang="zh-CN" sz="2600" b="1" dirty="0">
                <a:solidFill>
                  <a:srgbClr val="009900"/>
                </a:solidFill>
                <a:latin typeface="楷体_GB2312" panose="02010609030101010101" pitchFamily="49" charset="-122"/>
                <a:ea typeface="楷体_GB2312" panose="02010609030101010101" pitchFamily="49" charset="-122"/>
              </a:rPr>
              <a:t>-&gt;</a:t>
            </a:r>
            <a:r>
              <a:rPr kumimoji="1" lang="en-US" altLang="zh-CN" sz="2600" b="1" dirty="0">
                <a:solidFill>
                  <a:srgbClr val="009900"/>
                </a:solidFill>
                <a:latin typeface="Arial" panose="020B0604020202020204" pitchFamily="34" charset="0"/>
                <a:ea typeface="宋体" panose="02010600030101010101" pitchFamily="2" charset="-122"/>
              </a:rPr>
              <a:t>A</a:t>
            </a:r>
            <a:endParaRPr kumimoji="1" lang="en-US" altLang="zh-CN" sz="2600" b="1" dirty="0">
              <a:solidFill>
                <a:srgbClr val="009900"/>
              </a:solidFill>
              <a:latin typeface="Arial" panose="020B0604020202020204" pitchFamily="34" charset="0"/>
              <a:ea typeface="宋体" panose="02010600030101010101" pitchFamily="2" charset="-122"/>
            </a:endParaRPr>
          </a:p>
        </p:txBody>
      </p:sp>
      <p:sp>
        <p:nvSpPr>
          <p:cNvPr id="55334" name="Line 38"/>
          <p:cNvSpPr>
            <a:spLocks noChangeShapeType="1"/>
          </p:cNvSpPr>
          <p:nvPr/>
        </p:nvSpPr>
        <p:spPr bwMode="auto">
          <a:xfrm>
            <a:off x="5307013" y="3719513"/>
            <a:ext cx="0" cy="1387475"/>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5" name="Line 39"/>
          <p:cNvSpPr>
            <a:spLocks noChangeShapeType="1"/>
          </p:cNvSpPr>
          <p:nvPr/>
        </p:nvSpPr>
        <p:spPr bwMode="auto">
          <a:xfrm flipH="1">
            <a:off x="5622925" y="2205038"/>
            <a:ext cx="787400" cy="693737"/>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6" name="AutoShape 40" descr="白色大理石"/>
          <p:cNvSpPr>
            <a:spLocks noChangeArrowheads="1"/>
          </p:cNvSpPr>
          <p:nvPr/>
        </p:nvSpPr>
        <p:spPr bwMode="auto">
          <a:xfrm>
            <a:off x="5989638" y="3959225"/>
            <a:ext cx="1325562"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37" name="Text Box 41"/>
          <p:cNvSpPr txBox="1">
            <a:spLocks noChangeArrowheads="1"/>
          </p:cNvSpPr>
          <p:nvPr/>
        </p:nvSpPr>
        <p:spPr bwMode="auto">
          <a:xfrm>
            <a:off x="6183313" y="3968750"/>
            <a:ext cx="106471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chemeClr val="hlink"/>
                </a:solidFill>
                <a:latin typeface="Arial" panose="020B0604020202020204" pitchFamily="34" charset="0"/>
                <a:ea typeface="宋体" panose="02010600030101010101" pitchFamily="2" charset="-122"/>
              </a:rPr>
              <a:t>B</a:t>
            </a:r>
            <a:r>
              <a:rPr kumimoji="1" lang="en-US" altLang="zh-CN" sz="2600" b="1" dirty="0">
                <a:solidFill>
                  <a:schemeClr val="hlink"/>
                </a:solidFill>
                <a:latin typeface="楷体_GB2312" panose="02010609030101010101" pitchFamily="49" charset="-122"/>
                <a:ea typeface="楷体_GB2312" panose="02010609030101010101" pitchFamily="49" charset="-122"/>
              </a:rPr>
              <a:t>-&gt;</a:t>
            </a:r>
            <a:r>
              <a:rPr kumimoji="1" lang="en-US" altLang="zh-CN" sz="2600" b="1" dirty="0">
                <a:solidFill>
                  <a:schemeClr val="hlink"/>
                </a:solidFill>
                <a:latin typeface="Arial" panose="020B0604020202020204" pitchFamily="34" charset="0"/>
                <a:ea typeface="宋体" panose="02010600030101010101" pitchFamily="2" charset="-122"/>
              </a:rPr>
              <a:t>C</a:t>
            </a:r>
            <a:endParaRPr kumimoji="1" lang="en-US" altLang="zh-CN" sz="2600" b="1" dirty="0">
              <a:solidFill>
                <a:schemeClr val="hlink"/>
              </a:solidFill>
              <a:latin typeface="Arial" panose="020B0604020202020204" pitchFamily="34" charset="0"/>
              <a:ea typeface="宋体" panose="02010600030101010101" pitchFamily="2" charset="-122"/>
            </a:endParaRPr>
          </a:p>
        </p:txBody>
      </p:sp>
      <p:sp>
        <p:nvSpPr>
          <p:cNvPr id="55338" name="Line 42"/>
          <p:cNvSpPr>
            <a:spLocks noChangeShapeType="1"/>
          </p:cNvSpPr>
          <p:nvPr/>
        </p:nvSpPr>
        <p:spPr bwMode="auto">
          <a:xfrm>
            <a:off x="6691313" y="2232025"/>
            <a:ext cx="0" cy="1765300"/>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9" name="Rectangle 43"/>
          <p:cNvSpPr>
            <a:spLocks noChangeArrowheads="1"/>
          </p:cNvSpPr>
          <p:nvPr/>
        </p:nvSpPr>
        <p:spPr bwMode="auto">
          <a:xfrm>
            <a:off x="6953250" y="3219450"/>
            <a:ext cx="1593850" cy="52070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40" name="Text Box 44"/>
          <p:cNvSpPr txBox="1">
            <a:spLocks noChangeArrowheads="1"/>
          </p:cNvSpPr>
          <p:nvPr/>
        </p:nvSpPr>
        <p:spPr bwMode="auto">
          <a:xfrm>
            <a:off x="6989763" y="3225800"/>
            <a:ext cx="1844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dirty="0">
                <a:solidFill>
                  <a:schemeClr val="hlink"/>
                </a:solidFill>
                <a:latin typeface="Arial" panose="020B0604020202020204" pitchFamily="34" charset="0"/>
                <a:ea typeface="宋体" panose="02010600030101010101" pitchFamily="2" charset="-122"/>
              </a:rPr>
              <a:t>(1,A,B,C)</a:t>
            </a:r>
            <a:endParaRPr kumimoji="1" lang="en-US" altLang="zh-CN" sz="2600" b="1" dirty="0">
              <a:solidFill>
                <a:schemeClr val="hlink"/>
              </a:solidFill>
              <a:latin typeface="Arial" panose="020B0604020202020204" pitchFamily="34" charset="0"/>
              <a:ea typeface="宋体" panose="02010600030101010101" pitchFamily="2" charset="-122"/>
            </a:endParaRPr>
          </a:p>
        </p:txBody>
      </p:sp>
      <p:sp>
        <p:nvSpPr>
          <p:cNvPr id="55341" name="Text Box 45"/>
          <p:cNvSpPr txBox="1">
            <a:spLocks noChangeArrowheads="1"/>
          </p:cNvSpPr>
          <p:nvPr/>
        </p:nvSpPr>
        <p:spPr bwMode="auto">
          <a:xfrm>
            <a:off x="7392988" y="2801938"/>
            <a:ext cx="1047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a:solidFill>
                  <a:srgbClr val="009900"/>
                </a:solidFill>
                <a:latin typeface="Arial" panose="020B0604020202020204" pitchFamily="34" charset="0"/>
                <a:ea typeface="宋体" panose="02010600030101010101" pitchFamily="2" charset="-122"/>
              </a:rPr>
              <a:t>A,B,C</a:t>
            </a:r>
            <a:endParaRPr kumimoji="1" lang="en-US" altLang="zh-CN" sz="2600">
              <a:solidFill>
                <a:srgbClr val="009900"/>
              </a:solidFill>
              <a:latin typeface="Arial" panose="020B0604020202020204" pitchFamily="34" charset="0"/>
              <a:ea typeface="宋体" panose="02010600030101010101" pitchFamily="2" charset="-122"/>
            </a:endParaRPr>
          </a:p>
        </p:txBody>
      </p:sp>
      <p:sp>
        <p:nvSpPr>
          <p:cNvPr id="55342" name="AutoShape 46" descr="白色大理石"/>
          <p:cNvSpPr>
            <a:spLocks noChangeArrowheads="1"/>
          </p:cNvSpPr>
          <p:nvPr/>
        </p:nvSpPr>
        <p:spPr bwMode="auto">
          <a:xfrm>
            <a:off x="7075488" y="5127625"/>
            <a:ext cx="1325562" cy="504825"/>
          </a:xfrm>
          <a:prstGeom prst="flowChartTerminator">
            <a:avLst/>
          </a:prstGeom>
          <a:blipFill dpi="0" rotWithShape="0">
            <a:blip r:embed="rId1"/>
            <a:srcRect/>
            <a:tile tx="0" ty="0" sx="100000" sy="100000" flip="none" algn="tl"/>
          </a:blip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55343" name="Text Box 47"/>
          <p:cNvSpPr txBox="1">
            <a:spLocks noChangeArrowheads="1"/>
          </p:cNvSpPr>
          <p:nvPr/>
        </p:nvSpPr>
        <p:spPr bwMode="auto">
          <a:xfrm>
            <a:off x="7269163" y="5137150"/>
            <a:ext cx="99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600" b="1">
                <a:solidFill>
                  <a:srgbClr val="009900"/>
                </a:solidFill>
                <a:latin typeface="Arial" panose="020B0604020202020204" pitchFamily="34" charset="0"/>
                <a:ea typeface="宋体" panose="02010600030101010101" pitchFamily="2" charset="-122"/>
              </a:rPr>
              <a:t>A</a:t>
            </a:r>
            <a:r>
              <a:rPr kumimoji="1" lang="en-US" altLang="zh-CN" sz="2600" b="1">
                <a:solidFill>
                  <a:srgbClr val="009900"/>
                </a:solidFill>
                <a:latin typeface="楷体_GB2312" panose="02010609030101010101" pitchFamily="49" charset="-122"/>
                <a:ea typeface="楷体_GB2312" panose="02010609030101010101" pitchFamily="49" charset="-122"/>
              </a:rPr>
              <a:t>-&gt;</a:t>
            </a:r>
            <a:r>
              <a:rPr kumimoji="1" lang="en-US" altLang="zh-CN" sz="2600" b="1">
                <a:solidFill>
                  <a:srgbClr val="009900"/>
                </a:solidFill>
                <a:latin typeface="Arial" panose="020B0604020202020204" pitchFamily="34" charset="0"/>
                <a:ea typeface="宋体" panose="02010600030101010101" pitchFamily="2" charset="-122"/>
              </a:rPr>
              <a:t>C</a:t>
            </a:r>
            <a:endParaRPr kumimoji="1" lang="en-US" altLang="zh-CN" sz="2600" b="1">
              <a:solidFill>
                <a:srgbClr val="009900"/>
              </a:solidFill>
              <a:latin typeface="Arial" panose="020B0604020202020204" pitchFamily="34" charset="0"/>
              <a:ea typeface="宋体" panose="02010600030101010101" pitchFamily="2" charset="-122"/>
            </a:endParaRPr>
          </a:p>
        </p:txBody>
      </p:sp>
      <p:sp>
        <p:nvSpPr>
          <p:cNvPr id="55344" name="Line 48"/>
          <p:cNvSpPr>
            <a:spLocks noChangeShapeType="1"/>
          </p:cNvSpPr>
          <p:nvPr/>
        </p:nvSpPr>
        <p:spPr bwMode="auto">
          <a:xfrm>
            <a:off x="7042150" y="2239963"/>
            <a:ext cx="725488" cy="661987"/>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45" name="Line 49"/>
          <p:cNvSpPr>
            <a:spLocks noChangeShapeType="1"/>
          </p:cNvSpPr>
          <p:nvPr/>
        </p:nvSpPr>
        <p:spPr bwMode="auto">
          <a:xfrm>
            <a:off x="7888288" y="3778250"/>
            <a:ext cx="0" cy="1387475"/>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49" name="Line 53"/>
          <p:cNvSpPr>
            <a:spLocks noChangeShapeType="1"/>
          </p:cNvSpPr>
          <p:nvPr/>
        </p:nvSpPr>
        <p:spPr bwMode="auto">
          <a:xfrm flipH="1">
            <a:off x="4538663" y="1069975"/>
            <a:ext cx="1587" cy="568325"/>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50" name="Line 54"/>
          <p:cNvSpPr>
            <a:spLocks noChangeShapeType="1"/>
          </p:cNvSpPr>
          <p:nvPr/>
        </p:nvSpPr>
        <p:spPr bwMode="auto">
          <a:xfrm flipH="1">
            <a:off x="2933700" y="1069975"/>
            <a:ext cx="1071563" cy="347663"/>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51" name="Line 55"/>
          <p:cNvSpPr>
            <a:spLocks noChangeShapeType="1"/>
          </p:cNvSpPr>
          <p:nvPr/>
        </p:nvSpPr>
        <p:spPr bwMode="auto">
          <a:xfrm>
            <a:off x="4981575" y="1039813"/>
            <a:ext cx="1198563" cy="503237"/>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 name="灯片编号占位符 2"/>
          <p:cNvSpPr>
            <a:spLocks noGrp="1"/>
          </p:cNvSpPr>
          <p:nvPr>
            <p:ph type="sldNum" sz="quarter" idx="12"/>
          </p:nvPr>
        </p:nvSpPr>
        <p:spPr/>
        <p:txBody>
          <a:bodyPr/>
          <a:lstStyle/>
          <a:p>
            <a:pPr>
              <a:defRPr/>
            </a:pPr>
            <a:fld id="{8213374E-244F-4EF8-8F80-5FAE57EC15DF}" type="slidenum">
              <a:rPr lang="en-US" altLang="zh-CN" smtClean="0"/>
            </a:fld>
            <a:endParaRPr lang="en-US" altLang="zh-CN"/>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ChangeArrowheads="1"/>
          </p:cNvSpPr>
          <p:nvPr>
            <p:ph type="title"/>
          </p:nvPr>
        </p:nvSpPr>
        <p:spPr/>
        <p:txBody>
          <a:bodyPr/>
          <a:lstStyle/>
          <a:p>
            <a:pPr eaLnBrk="1" hangingPunct="1"/>
            <a:r>
              <a:rPr lang="zh-CN" altLang="en-US" dirty="0"/>
              <a:t>运算时间</a:t>
            </a:r>
            <a:endParaRPr lang="zh-CN" altLang="en-US" dirty="0"/>
          </a:p>
        </p:txBody>
      </p:sp>
      <p:sp>
        <p:nvSpPr>
          <p:cNvPr id="56323" name="Rectangle 1027"/>
          <p:cNvSpPr>
            <a:spLocks noGrp="1" noChangeArrowheads="1"/>
          </p:cNvSpPr>
          <p:nvPr>
            <p:ph idx="1"/>
          </p:nvPr>
        </p:nvSpPr>
        <p:spPr/>
        <p:txBody>
          <a:bodyPr/>
          <a:lstStyle/>
          <a:p>
            <a:pPr eaLnBrk="1" hangingPunct="1"/>
            <a:r>
              <a:rPr lang="zh-CN" altLang="en-US" dirty="0"/>
              <a:t>当</a:t>
            </a:r>
            <a:r>
              <a:rPr lang="en-US" altLang="zh-CN" dirty="0"/>
              <a:t>n=0</a:t>
            </a:r>
            <a:r>
              <a:rPr lang="zh-CN" altLang="en-US" dirty="0"/>
              <a:t>时，</a:t>
            </a:r>
            <a:r>
              <a:rPr lang="en-US" altLang="zh-CN" dirty="0"/>
              <a:t>T(n) = 0</a:t>
            </a:r>
            <a:r>
              <a:rPr lang="zh-CN" altLang="en-US" dirty="0"/>
              <a:t>；</a:t>
            </a:r>
            <a:endParaRPr lang="zh-CN" altLang="en-US" dirty="0"/>
          </a:p>
          <a:p>
            <a:pPr eaLnBrk="1" hangingPunct="1"/>
            <a:r>
              <a:rPr lang="zh-CN" altLang="en-US" dirty="0"/>
              <a:t>当</a:t>
            </a:r>
            <a:r>
              <a:rPr lang="en-US" altLang="zh-CN" dirty="0"/>
              <a:t>n&gt;0</a:t>
            </a:r>
            <a:r>
              <a:rPr lang="zh-CN" altLang="en-US" dirty="0"/>
              <a:t>时，</a:t>
            </a:r>
            <a:r>
              <a:rPr lang="en-US" altLang="zh-CN" dirty="0"/>
              <a:t>T(n) = 2T(n-1) + 1</a:t>
            </a:r>
            <a:r>
              <a:rPr lang="zh-CN" altLang="en-US" dirty="0"/>
              <a:t>； </a:t>
            </a:r>
            <a:endParaRPr lang="zh-CN" altLang="en-US" dirty="0"/>
          </a:p>
          <a:p>
            <a:pPr lvl="1" eaLnBrk="1" hangingPunct="1"/>
            <a:r>
              <a:rPr lang="en-US" altLang="zh-CN" dirty="0"/>
              <a:t>T(n) = 2T(n-1) + 1=2(2T(n-2) + 1) + 1 = …</a:t>
            </a:r>
            <a:endParaRPr lang="en-US" altLang="zh-CN" dirty="0"/>
          </a:p>
          <a:p>
            <a:pPr lvl="1" eaLnBrk="1" hangingPunct="1">
              <a:buFontTx/>
              <a:buNone/>
            </a:pPr>
            <a:r>
              <a:rPr lang="en-US" altLang="zh-CN" dirty="0"/>
              <a:t>  =2</a:t>
            </a:r>
            <a:r>
              <a:rPr lang="en-US" altLang="zh-CN" baseline="30000" dirty="0"/>
              <a:t>n-1 </a:t>
            </a:r>
            <a:r>
              <a:rPr lang="en-US" altLang="zh-CN" dirty="0"/>
              <a:t>+ 2 </a:t>
            </a:r>
            <a:r>
              <a:rPr lang="en-US" altLang="zh-CN" baseline="30000" dirty="0"/>
              <a:t>n-2 </a:t>
            </a:r>
            <a:r>
              <a:rPr lang="en-US" altLang="zh-CN" dirty="0"/>
              <a:t>+ … + 1= 2</a:t>
            </a:r>
            <a:r>
              <a:rPr lang="en-US" altLang="zh-CN" baseline="30000" dirty="0"/>
              <a:t>n  </a:t>
            </a:r>
            <a:r>
              <a:rPr lang="en-US" altLang="zh-CN" dirty="0"/>
              <a:t>- 1</a:t>
            </a:r>
            <a:endParaRPr lang="en-US" altLang="zh-CN"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636588" y="685800"/>
            <a:ext cx="7712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endParaRPr kumimoji="1" lang="zh-CN" altLang="zh-CN" sz="2400">
              <a:latin typeface="Times New Roman" panose="02020603050405020304" pitchFamily="18" charset="0"/>
              <a:ea typeface="宋体" panose="02010600030101010101" pitchFamily="2" charset="-122"/>
            </a:endParaRPr>
          </a:p>
        </p:txBody>
      </p:sp>
      <p:sp>
        <p:nvSpPr>
          <p:cNvPr id="177156" name="Rectangle 4"/>
          <p:cNvSpPr>
            <a:spLocks noChangeArrowheads="1"/>
          </p:cNvSpPr>
          <p:nvPr/>
        </p:nvSpPr>
        <p:spPr bwMode="auto">
          <a:xfrm>
            <a:off x="838200" y="1219200"/>
            <a:ext cx="7772400" cy="4876800"/>
          </a:xfrm>
          <a:prstGeom prst="rect">
            <a:avLst/>
          </a:prstGeom>
          <a:noFill/>
          <a:ln w="9525">
            <a:noFill/>
            <a:miter lim="800000"/>
          </a:ln>
          <a:effectLst/>
        </p:spPr>
        <p:txBody>
          <a:bodyPr/>
          <a:lstStyle/>
          <a:p>
            <a:pPr marL="342900" indent="-342900" eaLnBrk="1" fontAlgn="auto" hangingPunct="1">
              <a:spcBef>
                <a:spcPct val="20000"/>
              </a:spcBef>
              <a:spcAft>
                <a:spcPts val="0"/>
              </a:spcAft>
              <a:buClr>
                <a:srgbClr val="FF6600"/>
              </a:buClr>
              <a:buSzPct val="50000"/>
              <a:buFont typeface="Wingdings" panose="05000000000000000000" pitchFamily="2" charset="2"/>
              <a:buChar char="n"/>
              <a:defRPr/>
            </a:pPr>
            <a:endParaRPr lang="zh-CN" altLang="en-US" sz="3200" dirty="0">
              <a:latin typeface="+mn-lt"/>
              <a:ea typeface="+mn-ea"/>
            </a:endParaRPr>
          </a:p>
        </p:txBody>
      </p:sp>
      <p:sp>
        <p:nvSpPr>
          <p:cNvPr id="57348" name="标题 1"/>
          <p:cNvSpPr>
            <a:spLocks noGrp="1" noChangeArrowheads="1"/>
          </p:cNvSpPr>
          <p:nvPr>
            <p:ph type="title"/>
          </p:nvPr>
        </p:nvSpPr>
        <p:spPr>
          <a:xfrm>
            <a:off x="323528" y="365125"/>
            <a:ext cx="8424936" cy="1325563"/>
          </a:xfrm>
        </p:spPr>
        <p:txBody>
          <a:bodyPr/>
          <a:lstStyle/>
          <a:p>
            <a:r>
              <a:rPr lang="zh-CN" altLang="en-US" dirty="0"/>
              <a:t>自顶向下、逐步分解的递归策略</a:t>
            </a:r>
            <a:endParaRPr lang="zh-CN" altLang="en-US" dirty="0"/>
          </a:p>
        </p:txBody>
      </p:sp>
      <p:sp>
        <p:nvSpPr>
          <p:cNvPr id="3" name="内容占位符 2"/>
          <p:cNvSpPr>
            <a:spLocks noGrp="1"/>
          </p:cNvSpPr>
          <p:nvPr>
            <p:ph idx="1"/>
          </p:nvPr>
        </p:nvSpPr>
        <p:spPr/>
        <p:txBody>
          <a:bodyPr>
            <a:normAutofit/>
          </a:bodyPr>
          <a:lstStyle/>
          <a:p>
            <a:pPr>
              <a:defRPr/>
            </a:pPr>
            <a:r>
              <a:rPr lang="zh-CN" altLang="en-US" dirty="0"/>
              <a:t>递归策略是把一个规模比较大的问题分解为一个或若干规模比较小的问题，分别对这些比较小的问题求解，再综合它们的结果，从而得到原问题的解。 </a:t>
            </a:r>
            <a:endParaRPr lang="en-US" altLang="zh-CN" dirty="0"/>
          </a:p>
          <a:p>
            <a:pPr lvl="1">
              <a:defRPr/>
            </a:pPr>
            <a:r>
              <a:rPr lang="zh-CN" altLang="en-US" dirty="0"/>
              <a:t>这些比较小的问题的求解方法与原来问题的求解方法一样，或者更为简单。</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noChangeArrowheads="1"/>
          </p:cNvSpPr>
          <p:nvPr>
            <p:ph type="title"/>
          </p:nvPr>
        </p:nvSpPr>
        <p:spPr/>
        <p:txBody>
          <a:bodyPr/>
          <a:lstStyle/>
          <a:p>
            <a:r>
              <a:rPr lang="zh-CN" altLang="en-US" dirty="0"/>
              <a:t>递归终止条件</a:t>
            </a:r>
            <a:endParaRPr lang="zh-CN" altLang="en-US" dirty="0"/>
          </a:p>
        </p:txBody>
      </p:sp>
      <p:sp>
        <p:nvSpPr>
          <p:cNvPr id="3" name="内容占位符 2"/>
          <p:cNvSpPr>
            <a:spLocks noGrp="1"/>
          </p:cNvSpPr>
          <p:nvPr>
            <p:ph idx="1"/>
          </p:nvPr>
        </p:nvSpPr>
        <p:spPr/>
        <p:txBody>
          <a:bodyPr>
            <a:normAutofit fontScale="77500" lnSpcReduction="20000"/>
          </a:bodyPr>
          <a:lstStyle/>
          <a:p>
            <a:pPr>
              <a:defRPr/>
            </a:pPr>
            <a:r>
              <a:rPr lang="zh-CN" altLang="en-US" dirty="0"/>
              <a:t>不能无限制地递归调用，必须有至少一个出口，化简为非递归状况直接处理。程序结构如下：</a:t>
            </a:r>
            <a:endParaRPr lang="zh-CN" altLang="en-US" dirty="0"/>
          </a:p>
          <a:p>
            <a:pPr marL="0" indent="0">
              <a:buFont typeface="Arial" panose="020B0604020202020204" pitchFamily="34" charset="0"/>
              <a:buNone/>
              <a:defRPr/>
            </a:pPr>
            <a:endParaRPr lang="en-US" altLang="zh-CN" dirty="0"/>
          </a:p>
          <a:p>
            <a:pPr marL="0" indent="0">
              <a:buFont typeface="Arial" panose="020B0604020202020204" pitchFamily="34" charset="0"/>
              <a:buNone/>
              <a:defRPr/>
            </a:pPr>
            <a:r>
              <a:rPr lang="en-US" altLang="zh-CN" dirty="0"/>
              <a:t>    Procedure &lt;name&gt; ( &lt;parameter list&gt; ) {</a:t>
            </a:r>
            <a:endParaRPr lang="en-US" altLang="zh-CN" dirty="0"/>
          </a:p>
          <a:p>
            <a:pPr marL="0" indent="0">
              <a:buFont typeface="Arial" panose="020B0604020202020204" pitchFamily="34" charset="0"/>
              <a:buNone/>
              <a:defRPr/>
            </a:pPr>
            <a:r>
              <a:rPr lang="en-US" altLang="zh-CN" dirty="0"/>
              <a:t>       if ( &lt; initial condition&gt; )</a:t>
            </a:r>
            <a:endParaRPr lang="en-US" altLang="zh-CN" dirty="0"/>
          </a:p>
          <a:p>
            <a:pPr marL="0" indent="0">
              <a:buFont typeface="Arial" panose="020B0604020202020204" pitchFamily="34" charset="0"/>
              <a:buNone/>
              <a:defRPr/>
            </a:pPr>
            <a:r>
              <a:rPr lang="en-US" altLang="zh-CN" dirty="0"/>
              <a:t>         return ( initial value );</a:t>
            </a:r>
            <a:endParaRPr lang="en-US" altLang="zh-CN" dirty="0"/>
          </a:p>
          <a:p>
            <a:pPr marL="0" indent="0">
              <a:buFont typeface="Arial" panose="020B0604020202020204" pitchFamily="34" charset="0"/>
              <a:buNone/>
              <a:defRPr/>
            </a:pPr>
            <a:r>
              <a:rPr lang="en-US" altLang="zh-CN" dirty="0"/>
              <a:t>       else</a:t>
            </a:r>
            <a:endParaRPr lang="en-US" altLang="zh-CN" dirty="0"/>
          </a:p>
          <a:p>
            <a:pPr marL="0" indent="0">
              <a:buFont typeface="Arial" panose="020B0604020202020204" pitchFamily="34" charset="0"/>
              <a:buNone/>
              <a:defRPr/>
            </a:pPr>
            <a:r>
              <a:rPr lang="en-US" altLang="zh-CN" dirty="0"/>
              <a:t>         return (&lt;name&gt; ( parameter exchange ));</a:t>
            </a:r>
            <a:endParaRPr lang="en-US" altLang="zh-CN" dirty="0"/>
          </a:p>
          <a:p>
            <a:pPr marL="0" indent="0">
              <a:buFont typeface="Arial" panose="020B0604020202020204" pitchFamily="34" charset="0"/>
              <a:buNone/>
              <a:defRPr/>
            </a:pPr>
            <a:r>
              <a:rPr lang="en-US" altLang="zh-CN" dirty="0"/>
              <a:t>    }</a:t>
            </a:r>
            <a:endParaRPr lang="en-US" altLang="zh-CN" dirty="0"/>
          </a:p>
          <a:p>
            <a:pPr marL="0" indent="0">
              <a:buFont typeface="Arial" panose="020B0604020202020204" pitchFamily="34" charset="0"/>
              <a:buNone/>
              <a:defRPr/>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752600" y="1295400"/>
            <a:ext cx="5724525" cy="396875"/>
          </a:xfrm>
          <a:prstGeom prst="rect">
            <a:avLst/>
          </a:prstGeom>
          <a:noFill/>
          <a:ln w="9525">
            <a:noFill/>
            <a:miter lim="800000"/>
          </a:ln>
        </p:spPr>
        <p:txBody>
          <a:bodyPr>
            <a:spAutoFit/>
          </a:bodyPr>
          <a:lstStyle/>
          <a:p>
            <a:pPr>
              <a:spcBef>
                <a:spcPct val="50000"/>
              </a:spcBef>
            </a:pPr>
            <a:endParaRPr lang="zh-CN" altLang="zh-CN" sz="2000">
              <a:latin typeface="宋体" panose="02010600030101010101" pitchFamily="2" charset="-122"/>
            </a:endParaRPr>
          </a:p>
        </p:txBody>
      </p:sp>
      <p:sp>
        <p:nvSpPr>
          <p:cNvPr id="184323" name="Rectangle 3"/>
          <p:cNvSpPr>
            <a:spLocks noGrp="1" noChangeArrowheads="1"/>
          </p:cNvSpPr>
          <p:nvPr>
            <p:ph type="title"/>
          </p:nvPr>
        </p:nvSpPr>
        <p:spPr/>
        <p:txBody>
          <a:bodyPr/>
          <a:lstStyle/>
          <a:p>
            <a:r>
              <a:rPr lang="zh-CN" altLang="en-US" dirty="0"/>
              <a:t>递归过程</a:t>
            </a:r>
            <a:endParaRPr lang="zh-CN" altLang="en-US" dirty="0"/>
          </a:p>
        </p:txBody>
      </p:sp>
      <p:sp>
        <p:nvSpPr>
          <p:cNvPr id="184324" name="Rectangle 4"/>
          <p:cNvSpPr>
            <a:spLocks noGrp="1" noChangeArrowheads="1"/>
          </p:cNvSpPr>
          <p:nvPr>
            <p:ph idx="1"/>
          </p:nvPr>
        </p:nvSpPr>
        <p:spPr>
          <a:xfrm>
            <a:off x="628650" y="1825625"/>
            <a:ext cx="8119814" cy="4351338"/>
          </a:xfrm>
        </p:spPr>
        <p:txBody>
          <a:bodyPr>
            <a:normAutofit/>
          </a:bodyPr>
          <a:lstStyle/>
          <a:p>
            <a:r>
              <a:rPr lang="zh-CN" altLang="en-US" dirty="0"/>
              <a:t>主程序第一次调用递归过程称为外部调用。</a:t>
            </a:r>
            <a:endParaRPr lang="zh-CN" altLang="en-US" dirty="0"/>
          </a:p>
          <a:p>
            <a:r>
              <a:rPr lang="zh-CN" altLang="en-US" dirty="0"/>
              <a:t>递归过程每次直接或者间接调用自己称为内部调用。</a:t>
            </a:r>
            <a:endParaRPr lang="en-US" altLang="zh-CN" dirty="0"/>
          </a:p>
          <a:p>
            <a:pPr lvl="1"/>
            <a:r>
              <a:rPr lang="zh-CN" altLang="en-US" dirty="0"/>
              <a:t>层层向下递归，直到满足递归终止条件。</a:t>
            </a:r>
            <a:endParaRPr lang="zh-CN" altLang="en-US" dirty="0"/>
          </a:p>
          <a:p>
            <a:pPr lvl="1"/>
            <a:r>
              <a:rPr lang="zh-CN" altLang="en-US" dirty="0"/>
              <a:t>然后层层退出，退出的次序与递归调用的顺序正好相反</a:t>
            </a:r>
            <a:endParaRPr lang="zh-CN" altLang="en-US" dirty="0"/>
          </a:p>
        </p:txBody>
      </p: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752600" y="1295400"/>
            <a:ext cx="5724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endParaRPr kumimoji="1" lang="zh-CN" altLang="zh-CN" sz="2000">
              <a:latin typeface="宋体" panose="02010600030101010101" pitchFamily="2" charset="-122"/>
              <a:ea typeface="宋体" panose="02010600030101010101" pitchFamily="2" charset="-122"/>
            </a:endParaRPr>
          </a:p>
        </p:txBody>
      </p:sp>
      <p:sp>
        <p:nvSpPr>
          <p:cNvPr id="60419" name="Rectangle 5"/>
          <p:cNvSpPr>
            <a:spLocks noChangeArrowheads="1"/>
          </p:cNvSpPr>
          <p:nvPr/>
        </p:nvSpPr>
        <p:spPr bwMode="auto">
          <a:xfrm>
            <a:off x="3200400" y="3962400"/>
            <a:ext cx="2514600" cy="17526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0420" name="Line 6"/>
          <p:cNvSpPr>
            <a:spLocks noChangeShapeType="1"/>
          </p:cNvSpPr>
          <p:nvPr/>
        </p:nvSpPr>
        <p:spPr bwMode="auto">
          <a:xfrm>
            <a:off x="3200400" y="4495800"/>
            <a:ext cx="2514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1" name="Line 7"/>
          <p:cNvSpPr>
            <a:spLocks noChangeShapeType="1"/>
          </p:cNvSpPr>
          <p:nvPr/>
        </p:nvSpPr>
        <p:spPr bwMode="auto">
          <a:xfrm flipV="1">
            <a:off x="5715000" y="4343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2" name="Line 8"/>
          <p:cNvSpPr>
            <a:spLocks noChangeShapeType="1"/>
          </p:cNvSpPr>
          <p:nvPr/>
        </p:nvSpPr>
        <p:spPr bwMode="auto">
          <a:xfrm>
            <a:off x="3200400" y="5105400"/>
            <a:ext cx="2514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3" name="Line 9"/>
          <p:cNvSpPr>
            <a:spLocks noChangeShapeType="1"/>
          </p:cNvSpPr>
          <p:nvPr/>
        </p:nvSpPr>
        <p:spPr bwMode="auto">
          <a:xfrm flipV="1">
            <a:off x="5715000" y="49530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54" name="Text Box 10"/>
          <p:cNvSpPr txBox="1">
            <a:spLocks noChangeArrowheads="1"/>
          </p:cNvSpPr>
          <p:nvPr/>
        </p:nvSpPr>
        <p:spPr bwMode="auto">
          <a:xfrm>
            <a:off x="3511550" y="3886200"/>
            <a:ext cx="2051050" cy="1751013"/>
          </a:xfrm>
          <a:prstGeom prst="rect">
            <a:avLst/>
          </a:prstGeom>
          <a:noFill/>
          <a:ln w="9525">
            <a:noFill/>
            <a:miter lim="800000"/>
          </a:ln>
          <a:effectLst/>
        </p:spPr>
        <p:txBody>
          <a:bodyPr>
            <a:spAutoFit/>
          </a:bodyPr>
          <a:lstStyle/>
          <a:p>
            <a:pPr eaLnBrk="1" fontAlgn="auto" hangingPunct="1">
              <a:lnSpc>
                <a:spcPct val="110000"/>
              </a:lnSpc>
              <a:spcBef>
                <a:spcPct val="10000"/>
              </a:spcBef>
              <a:spcAft>
                <a:spcPts val="0"/>
              </a:spcAft>
              <a:defRPr/>
            </a:pPr>
            <a:r>
              <a:rPr lang="zh-CN" altLang="en-US" sz="3200" b="1">
                <a:solidFill>
                  <a:schemeClr val="tx2"/>
                </a:solidFill>
                <a:effectLst>
                  <a:outerShdw blurRad="38100" dist="38100" dir="2700000" algn="tl">
                    <a:srgbClr val="C0C0C0"/>
                  </a:outerShdw>
                </a:effectLst>
                <a:latin typeface="+mn-lt"/>
                <a:ea typeface="仿宋_GB2312" panose="02010609030101010101" pitchFamily="49" charset="-122"/>
              </a:rPr>
              <a:t>返回地址局部变量</a:t>
            </a:r>
            <a:endParaRPr lang="zh-CN" altLang="en-US" sz="3200" b="1">
              <a:solidFill>
                <a:schemeClr val="tx2"/>
              </a:solidFill>
              <a:effectLst>
                <a:outerShdw blurRad="38100" dist="38100" dir="2700000" algn="tl">
                  <a:srgbClr val="C0C0C0"/>
                </a:outerShdw>
              </a:effectLst>
              <a:latin typeface="+mn-lt"/>
              <a:ea typeface="仿宋_GB2312" panose="02010609030101010101" pitchFamily="49" charset="-122"/>
            </a:endParaRPr>
          </a:p>
          <a:p>
            <a:pPr eaLnBrk="1" fontAlgn="auto" hangingPunct="1">
              <a:lnSpc>
                <a:spcPct val="110000"/>
              </a:lnSpc>
              <a:spcBef>
                <a:spcPct val="10000"/>
              </a:spcBef>
              <a:spcAft>
                <a:spcPts val="0"/>
              </a:spcAft>
              <a:defRPr/>
            </a:pPr>
            <a:r>
              <a:rPr lang="zh-CN" altLang="en-US" sz="3200" b="1">
                <a:solidFill>
                  <a:schemeClr val="tx2"/>
                </a:solidFill>
                <a:effectLst>
                  <a:outerShdw blurRad="38100" dist="38100" dir="2700000" algn="tl">
                    <a:srgbClr val="C0C0C0"/>
                  </a:outerShdw>
                </a:effectLst>
                <a:latin typeface="+mn-lt"/>
                <a:ea typeface="仿宋_GB2312" panose="02010609030101010101" pitchFamily="49" charset="-122"/>
              </a:rPr>
              <a:t>参        数</a:t>
            </a:r>
            <a:endParaRPr lang="zh-CN" altLang="en-US" sz="3200" b="1">
              <a:solidFill>
                <a:schemeClr val="tx2"/>
              </a:solidFill>
              <a:effectLst>
                <a:outerShdw blurRad="38100" dist="38100" dir="2700000" algn="tl">
                  <a:srgbClr val="C0C0C0"/>
                </a:outerShdw>
              </a:effectLst>
              <a:latin typeface="+mn-lt"/>
              <a:ea typeface="仿宋_GB2312" panose="02010609030101010101" pitchFamily="49" charset="-122"/>
            </a:endParaRPr>
          </a:p>
        </p:txBody>
      </p:sp>
      <p:sp>
        <p:nvSpPr>
          <p:cNvPr id="60425" name="AutoShape 11"/>
          <p:cNvSpPr/>
          <p:nvPr/>
        </p:nvSpPr>
        <p:spPr bwMode="auto">
          <a:xfrm>
            <a:off x="2743200" y="3962400"/>
            <a:ext cx="228600" cy="1752600"/>
          </a:xfrm>
          <a:prstGeom prst="leftBrace">
            <a:avLst>
              <a:gd name="adj1" fmla="val 63889"/>
              <a:gd name="adj2" fmla="val 50995"/>
            </a:avLst>
          </a:prstGeom>
          <a:noFill/>
          <a:ln w="38100">
            <a:solidFill>
              <a:srgbClr val="0099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5356" name="Text Box 12"/>
          <p:cNvSpPr txBox="1">
            <a:spLocks noChangeArrowheads="1"/>
          </p:cNvSpPr>
          <p:nvPr/>
        </p:nvSpPr>
        <p:spPr bwMode="auto">
          <a:xfrm>
            <a:off x="1660525" y="4084638"/>
            <a:ext cx="1082675" cy="1554162"/>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3200" b="1">
                <a:solidFill>
                  <a:srgbClr val="333399"/>
                </a:solidFill>
                <a:effectLst>
                  <a:outerShdw blurRad="38100" dist="38100" dir="2700000" algn="tl">
                    <a:srgbClr val="C0C0C0"/>
                  </a:outerShdw>
                </a:effectLst>
                <a:latin typeface="+mn-lt"/>
                <a:ea typeface="仿宋_GB2312" panose="02010609030101010101" pitchFamily="49" charset="-122"/>
              </a:rPr>
              <a:t>活动记录框架</a:t>
            </a:r>
            <a:endParaRPr lang="zh-CN" altLang="en-US">
              <a:latin typeface="+mn-lt"/>
              <a:ea typeface="+mn-ea"/>
            </a:endParaRPr>
          </a:p>
        </p:txBody>
      </p:sp>
      <p:sp>
        <p:nvSpPr>
          <p:cNvPr id="60427" name="Text Box 13"/>
          <p:cNvSpPr txBox="1">
            <a:spLocks noChangeArrowheads="1"/>
          </p:cNvSpPr>
          <p:nvPr/>
        </p:nvSpPr>
        <p:spPr bwMode="auto">
          <a:xfrm>
            <a:off x="6108700" y="4114800"/>
            <a:ext cx="18224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b="1">
                <a:solidFill>
                  <a:srgbClr val="009900"/>
                </a:solidFill>
                <a:latin typeface="Times New Roman" panose="02020603050405020304" pitchFamily="18" charset="0"/>
                <a:ea typeface="隶书" panose="02010509060101010101" pitchFamily="49" charset="-122"/>
              </a:rPr>
              <a:t>递归</a:t>
            </a:r>
            <a:endParaRPr kumimoji="1" lang="zh-CN" altLang="en-US" sz="3200" b="1">
              <a:solidFill>
                <a:srgbClr val="009900"/>
              </a:solidFill>
              <a:latin typeface="Times New Roman" panose="02020603050405020304" pitchFamily="18" charset="0"/>
              <a:ea typeface="隶书" panose="02010509060101010101" pitchFamily="49" charset="-122"/>
            </a:endParaRPr>
          </a:p>
          <a:p>
            <a:pPr algn="ctr" eaLnBrk="1" hangingPunct="1"/>
            <a:r>
              <a:rPr kumimoji="1" lang="zh-CN" altLang="en-US" sz="3200" b="1">
                <a:solidFill>
                  <a:srgbClr val="009900"/>
                </a:solidFill>
                <a:latin typeface="Times New Roman" panose="02020603050405020304" pitchFamily="18" charset="0"/>
                <a:ea typeface="隶书" panose="02010509060101010101" pitchFamily="49" charset="-122"/>
              </a:rPr>
              <a:t>工作记录</a:t>
            </a:r>
            <a:endParaRPr kumimoji="1" lang="zh-CN" altLang="en-US" sz="2400">
              <a:latin typeface="Times New Roman" panose="02020603050405020304" pitchFamily="18" charset="0"/>
              <a:ea typeface="宋体" panose="02010600030101010101" pitchFamily="2" charset="-122"/>
            </a:endParaRPr>
          </a:p>
        </p:txBody>
      </p:sp>
      <p:sp>
        <p:nvSpPr>
          <p:cNvPr id="60428" name="标题 1"/>
          <p:cNvSpPr>
            <a:spLocks noGrp="1" noChangeArrowheads="1"/>
          </p:cNvSpPr>
          <p:nvPr>
            <p:ph type="title"/>
          </p:nvPr>
        </p:nvSpPr>
        <p:spPr/>
        <p:txBody>
          <a:bodyPr/>
          <a:lstStyle/>
          <a:p>
            <a:r>
              <a:rPr lang="zh-CN" altLang="en-US"/>
              <a:t>递归工作栈</a:t>
            </a:r>
            <a:endParaRPr lang="zh-CN" altLang="en-US"/>
          </a:p>
        </p:txBody>
      </p:sp>
      <p:sp>
        <p:nvSpPr>
          <p:cNvPr id="3" name="内容占位符 2"/>
          <p:cNvSpPr>
            <a:spLocks noGrp="1"/>
          </p:cNvSpPr>
          <p:nvPr>
            <p:ph idx="1"/>
          </p:nvPr>
        </p:nvSpPr>
        <p:spPr>
          <a:xfrm>
            <a:off x="628650" y="1825625"/>
            <a:ext cx="7886700" cy="1727200"/>
          </a:xfrm>
        </p:spPr>
        <p:txBody>
          <a:bodyPr>
            <a:normAutofit fontScale="85000" lnSpcReduction="20000"/>
          </a:bodyPr>
          <a:lstStyle/>
          <a:p>
            <a:pPr>
              <a:defRPr/>
            </a:pPr>
            <a:r>
              <a:rPr lang="zh-CN" altLang="en-US" dirty="0"/>
              <a:t>每一次递归函数调用，</a:t>
            </a:r>
            <a:r>
              <a:rPr lang="zh-CN" altLang="en-US"/>
              <a:t>需要为函数中的</a:t>
            </a:r>
            <a:r>
              <a:rPr lang="zh-CN" altLang="en-US" dirty="0"/>
              <a:t>参数、局部变量等另外分配存储空间。</a:t>
            </a:r>
            <a:endParaRPr lang="zh-CN" altLang="en-US" dirty="0"/>
          </a:p>
          <a:p>
            <a:pPr>
              <a:defRPr/>
            </a:pPr>
            <a:r>
              <a:rPr lang="zh-CN" altLang="en-US" dirty="0"/>
              <a:t>每层递归调用需分配的空间形成递归工作记录，按后进先出的栈组织。   </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3059113" y="1690688"/>
            <a:ext cx="4419600" cy="15240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1443" name="Text Box 4"/>
          <p:cNvSpPr txBox="1">
            <a:spLocks noChangeArrowheads="1"/>
          </p:cNvSpPr>
          <p:nvPr/>
        </p:nvSpPr>
        <p:spPr bwMode="auto">
          <a:xfrm>
            <a:off x="3440113" y="1919288"/>
            <a:ext cx="27241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99"/>
                </a:solidFill>
                <a:latin typeface="Times New Roman" panose="02020603050405020304" pitchFamily="18" charset="0"/>
                <a:ea typeface="宋体" panose="02010600030101010101" pitchFamily="2" charset="-122"/>
              </a:rPr>
              <a:t>……………….</a:t>
            </a:r>
            <a:endParaRPr kumimoji="1" lang="en-US" altLang="zh-CN" sz="3200" b="1">
              <a:solidFill>
                <a:srgbClr val="333399"/>
              </a:solidFill>
              <a:latin typeface="Times New Roman" panose="02020603050405020304" pitchFamily="18" charset="0"/>
              <a:ea typeface="宋体" panose="02010600030101010101" pitchFamily="2" charset="-122"/>
            </a:endParaRPr>
          </a:p>
          <a:p>
            <a:pPr eaLnBrk="1" hangingPunct="1"/>
            <a:r>
              <a:rPr kumimoji="1" lang="en-US" altLang="zh-CN" sz="3200" b="1">
                <a:solidFill>
                  <a:srgbClr val="333399"/>
                </a:solidFill>
                <a:latin typeface="Times New Roman" panose="02020603050405020304" pitchFamily="18" charset="0"/>
                <a:ea typeface="宋体" panose="02010600030101010101" pitchFamily="2" charset="-122"/>
              </a:rPr>
              <a:t>&lt;</a:t>
            </a:r>
            <a:r>
              <a:rPr kumimoji="1" lang="zh-CN" altLang="en-US" sz="3200">
                <a:solidFill>
                  <a:srgbClr val="333399"/>
                </a:solidFill>
                <a:latin typeface="Times New Roman" panose="02020603050405020304" pitchFamily="18" charset="0"/>
                <a:ea typeface="隶书" panose="02010509060101010101" pitchFamily="49" charset="-122"/>
              </a:rPr>
              <a:t>下一条指令</a:t>
            </a:r>
            <a:r>
              <a:rPr kumimoji="1" lang="en-US" altLang="zh-CN" sz="3200" b="1">
                <a:solidFill>
                  <a:srgbClr val="333399"/>
                </a:solidFill>
                <a:latin typeface="Times New Roman" panose="02020603050405020304" pitchFamily="18" charset="0"/>
                <a:ea typeface="宋体" panose="02010600030101010101" pitchFamily="2" charset="-122"/>
              </a:rPr>
              <a:t>&gt;</a:t>
            </a:r>
            <a:endParaRPr kumimoji="1" lang="en-US" altLang="zh-CN" sz="3200" b="1">
              <a:solidFill>
                <a:srgbClr val="333399"/>
              </a:solidFill>
              <a:latin typeface="Times New Roman" panose="02020603050405020304" pitchFamily="18" charset="0"/>
              <a:ea typeface="宋体" panose="02010600030101010101" pitchFamily="2" charset="-122"/>
            </a:endParaRPr>
          </a:p>
        </p:txBody>
      </p:sp>
      <p:sp>
        <p:nvSpPr>
          <p:cNvPr id="61444" name="Rectangle 5"/>
          <p:cNvSpPr>
            <a:spLocks noChangeArrowheads="1"/>
          </p:cNvSpPr>
          <p:nvPr/>
        </p:nvSpPr>
        <p:spPr bwMode="auto">
          <a:xfrm>
            <a:off x="3059113" y="3443288"/>
            <a:ext cx="4419600" cy="1676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1445" name="Text Box 6"/>
          <p:cNvSpPr txBox="1">
            <a:spLocks noChangeArrowheads="1"/>
          </p:cNvSpPr>
          <p:nvPr/>
        </p:nvSpPr>
        <p:spPr bwMode="auto">
          <a:xfrm>
            <a:off x="3440113" y="3519488"/>
            <a:ext cx="3692525"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dirty="0">
                <a:solidFill>
                  <a:srgbClr val="333399"/>
                </a:solidFill>
                <a:latin typeface="Times New Roman" panose="02020603050405020304" pitchFamily="18" charset="0"/>
                <a:ea typeface="宋体" panose="02010600030101010101" pitchFamily="2" charset="-122"/>
              </a:rPr>
              <a:t>Function(&lt;</a:t>
            </a:r>
            <a:r>
              <a:rPr kumimoji="1" lang="zh-CN" altLang="en-US" sz="3200" dirty="0">
                <a:solidFill>
                  <a:srgbClr val="333399"/>
                </a:solidFill>
                <a:latin typeface="Times New Roman" panose="02020603050405020304" pitchFamily="18" charset="0"/>
                <a:ea typeface="隶书" panose="02010509060101010101" pitchFamily="49" charset="-122"/>
              </a:rPr>
              <a:t>参数表</a:t>
            </a:r>
            <a:r>
              <a:rPr kumimoji="1" lang="en-US" altLang="zh-CN" sz="3200" b="1" dirty="0">
                <a:solidFill>
                  <a:srgbClr val="333399"/>
                </a:solidFill>
                <a:latin typeface="Times New Roman" panose="02020603050405020304" pitchFamily="18" charset="0"/>
                <a:ea typeface="宋体" panose="02010600030101010101" pitchFamily="2" charset="-122"/>
              </a:rPr>
              <a:t>&gt;)</a:t>
            </a:r>
            <a:endParaRPr kumimoji="1" lang="en-US" altLang="zh-CN" sz="3200" b="1" dirty="0">
              <a:solidFill>
                <a:srgbClr val="333399"/>
              </a:solidFill>
              <a:latin typeface="Times New Roman" panose="02020603050405020304" pitchFamily="18" charset="0"/>
              <a:ea typeface="宋体" panose="02010600030101010101" pitchFamily="2" charset="-122"/>
            </a:endParaRPr>
          </a:p>
          <a:p>
            <a:pPr eaLnBrk="1" hangingPunct="1"/>
            <a:r>
              <a:rPr kumimoji="1" lang="en-US" altLang="zh-CN" sz="3200" b="1" dirty="0">
                <a:solidFill>
                  <a:srgbClr val="333399"/>
                </a:solidFill>
                <a:latin typeface="Times New Roman" panose="02020603050405020304" pitchFamily="18" charset="0"/>
                <a:ea typeface="宋体" panose="02010600030101010101" pitchFamily="2" charset="-122"/>
              </a:rPr>
              <a:t>   ……………….</a:t>
            </a:r>
            <a:endParaRPr kumimoji="1" lang="en-US" altLang="zh-CN" sz="2800" b="1" dirty="0">
              <a:solidFill>
                <a:srgbClr val="333399"/>
              </a:solidFill>
              <a:latin typeface="Times New Roman" panose="02020603050405020304" pitchFamily="18" charset="0"/>
              <a:ea typeface="宋体" panose="02010600030101010101" pitchFamily="2" charset="-122"/>
            </a:endParaRPr>
          </a:p>
          <a:p>
            <a:pPr eaLnBrk="1" hangingPunct="1"/>
            <a:r>
              <a:rPr kumimoji="1" lang="en-US" altLang="zh-CN" sz="3200" b="1" dirty="0">
                <a:solidFill>
                  <a:srgbClr val="333399"/>
                </a:solidFill>
                <a:latin typeface="Times New Roman" panose="02020603050405020304" pitchFamily="18" charset="0"/>
                <a:ea typeface="宋体" panose="02010600030101010101" pitchFamily="2" charset="-122"/>
              </a:rPr>
              <a:t>&lt;return&gt;</a:t>
            </a:r>
            <a:endParaRPr kumimoji="1" lang="en-US" altLang="zh-CN" sz="3200" b="1" dirty="0">
              <a:solidFill>
                <a:srgbClr val="333399"/>
              </a:solidFill>
              <a:latin typeface="Times New Roman" panose="02020603050405020304" pitchFamily="18" charset="0"/>
              <a:ea typeface="宋体" panose="02010600030101010101" pitchFamily="2" charset="-122"/>
            </a:endParaRPr>
          </a:p>
        </p:txBody>
      </p:sp>
      <p:sp>
        <p:nvSpPr>
          <p:cNvPr id="61446" name="Line 7"/>
          <p:cNvSpPr>
            <a:spLocks noChangeShapeType="1"/>
          </p:cNvSpPr>
          <p:nvPr/>
        </p:nvSpPr>
        <p:spPr bwMode="auto">
          <a:xfrm flipH="1">
            <a:off x="6259513" y="2681288"/>
            <a:ext cx="1676400" cy="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47" name="Line 8"/>
          <p:cNvSpPr>
            <a:spLocks noChangeShapeType="1"/>
          </p:cNvSpPr>
          <p:nvPr/>
        </p:nvSpPr>
        <p:spPr bwMode="auto">
          <a:xfrm>
            <a:off x="7935913" y="2681288"/>
            <a:ext cx="0" cy="21336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48" name="Line 9"/>
          <p:cNvSpPr>
            <a:spLocks noChangeShapeType="1"/>
          </p:cNvSpPr>
          <p:nvPr/>
        </p:nvSpPr>
        <p:spPr bwMode="auto">
          <a:xfrm>
            <a:off x="5268913" y="4814888"/>
            <a:ext cx="26670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49" name="Line 10"/>
          <p:cNvSpPr>
            <a:spLocks noChangeShapeType="1"/>
          </p:cNvSpPr>
          <p:nvPr/>
        </p:nvSpPr>
        <p:spPr bwMode="auto">
          <a:xfrm flipH="1">
            <a:off x="2601913" y="2300288"/>
            <a:ext cx="609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0" name="Line 11"/>
          <p:cNvSpPr>
            <a:spLocks noChangeShapeType="1"/>
          </p:cNvSpPr>
          <p:nvPr/>
        </p:nvSpPr>
        <p:spPr bwMode="auto">
          <a:xfrm>
            <a:off x="2601913" y="3824288"/>
            <a:ext cx="609600" cy="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1" name="Line 12"/>
          <p:cNvSpPr>
            <a:spLocks noChangeShapeType="1"/>
          </p:cNvSpPr>
          <p:nvPr/>
        </p:nvSpPr>
        <p:spPr bwMode="auto">
          <a:xfrm>
            <a:off x="2601913" y="2300288"/>
            <a:ext cx="0" cy="1524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2" name="Text Box 13"/>
          <p:cNvSpPr txBox="1">
            <a:spLocks noChangeArrowheads="1"/>
          </p:cNvSpPr>
          <p:nvPr/>
        </p:nvSpPr>
        <p:spPr bwMode="auto">
          <a:xfrm>
            <a:off x="1366838" y="1658938"/>
            <a:ext cx="155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a:solidFill>
                  <a:srgbClr val="333399"/>
                </a:solidFill>
                <a:latin typeface="Times New Roman" panose="02020603050405020304" pitchFamily="18" charset="0"/>
                <a:ea typeface="隶书" panose="02010509060101010101" pitchFamily="49" charset="-122"/>
              </a:rPr>
              <a:t>调用块</a:t>
            </a:r>
            <a:endParaRPr kumimoji="1" lang="zh-CN" altLang="en-US" sz="3600">
              <a:solidFill>
                <a:srgbClr val="333399"/>
              </a:solidFill>
              <a:latin typeface="Times New Roman" panose="02020603050405020304" pitchFamily="18" charset="0"/>
              <a:ea typeface="隶书" panose="02010509060101010101" pitchFamily="49" charset="-122"/>
            </a:endParaRPr>
          </a:p>
        </p:txBody>
      </p:sp>
      <p:sp>
        <p:nvSpPr>
          <p:cNvPr id="61453" name="Text Box 14"/>
          <p:cNvSpPr txBox="1">
            <a:spLocks noChangeArrowheads="1"/>
          </p:cNvSpPr>
          <p:nvPr/>
        </p:nvSpPr>
        <p:spPr bwMode="auto">
          <a:xfrm>
            <a:off x="1382713" y="3792538"/>
            <a:ext cx="155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a:solidFill>
                  <a:srgbClr val="333399"/>
                </a:solidFill>
                <a:latin typeface="Times New Roman" panose="02020603050405020304" pitchFamily="18" charset="0"/>
                <a:ea typeface="隶书" panose="02010509060101010101" pitchFamily="49" charset="-122"/>
              </a:rPr>
              <a:t>函数块</a:t>
            </a:r>
            <a:endParaRPr kumimoji="1" lang="zh-CN" altLang="en-US" sz="3600">
              <a:solidFill>
                <a:srgbClr val="333399"/>
              </a:solidFill>
              <a:latin typeface="Times New Roman" panose="02020603050405020304" pitchFamily="18" charset="0"/>
              <a:ea typeface="隶书" panose="02010509060101010101" pitchFamily="49" charset="-122"/>
            </a:endParaRPr>
          </a:p>
        </p:txBody>
      </p:sp>
      <p:sp>
        <p:nvSpPr>
          <p:cNvPr id="61454" name="Rectangle 15" descr="白色大理石"/>
          <p:cNvSpPr>
            <a:spLocks noChangeArrowheads="1"/>
          </p:cNvSpPr>
          <p:nvPr/>
        </p:nvSpPr>
        <p:spPr bwMode="auto">
          <a:xfrm>
            <a:off x="773113" y="5729288"/>
            <a:ext cx="75438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FF"/>
            </a:extrusionClr>
            <a:contourClr>
              <a:srgbClr val="FFFFFF"/>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6384" name="Text Box 16"/>
          <p:cNvSpPr txBox="1">
            <a:spLocks noChangeArrowheads="1"/>
          </p:cNvSpPr>
          <p:nvPr/>
        </p:nvSpPr>
        <p:spPr bwMode="auto">
          <a:xfrm>
            <a:off x="925513" y="5683250"/>
            <a:ext cx="7159625" cy="579438"/>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zh-CN" altLang="en-US" sz="3200">
                <a:solidFill>
                  <a:schemeClr val="tx2"/>
                </a:solidFill>
                <a:effectLst>
                  <a:outerShdw blurRad="38100" dist="38100" dir="2700000" algn="tl">
                    <a:srgbClr val="C0C0C0"/>
                  </a:outerShdw>
                </a:effectLst>
                <a:latin typeface="+mn-lt"/>
                <a:ea typeface="隶书" panose="02010509060101010101" pitchFamily="49" charset="-122"/>
              </a:rPr>
              <a:t>返回地址</a:t>
            </a:r>
            <a:r>
              <a:rPr lang="en-US" altLang="zh-CN" sz="3200">
                <a:solidFill>
                  <a:schemeClr val="tx2"/>
                </a:solidFill>
                <a:effectLst>
                  <a:outerShdw blurRad="38100" dist="38100" dir="2700000" algn="tl">
                    <a:srgbClr val="C0C0C0"/>
                  </a:outerShdw>
                </a:effectLst>
                <a:latin typeface="+mn-lt"/>
                <a:ea typeface="隶书" panose="02010509060101010101" pitchFamily="49" charset="-122"/>
              </a:rPr>
              <a:t>(</a:t>
            </a:r>
            <a:r>
              <a:rPr lang="zh-CN" altLang="en-US" sz="3200">
                <a:solidFill>
                  <a:schemeClr val="tx2"/>
                </a:solidFill>
                <a:effectLst>
                  <a:outerShdw blurRad="38100" dist="38100" dir="2700000" algn="tl">
                    <a:srgbClr val="C0C0C0"/>
                  </a:outerShdw>
                </a:effectLst>
                <a:latin typeface="+mn-lt"/>
                <a:ea typeface="隶书" panose="02010509060101010101" pitchFamily="49" charset="-122"/>
              </a:rPr>
              <a:t>下一条指令</a:t>
            </a:r>
            <a:r>
              <a:rPr lang="en-US" altLang="zh-CN" sz="3200">
                <a:solidFill>
                  <a:schemeClr val="tx2"/>
                </a:solidFill>
                <a:effectLst>
                  <a:outerShdw blurRad="38100" dist="38100" dir="2700000" algn="tl">
                    <a:srgbClr val="C0C0C0"/>
                  </a:outerShdw>
                </a:effectLst>
                <a:latin typeface="+mn-lt"/>
                <a:ea typeface="隶书" panose="02010509060101010101" pitchFamily="49" charset="-122"/>
              </a:rPr>
              <a:t>)   </a:t>
            </a:r>
            <a:r>
              <a:rPr lang="zh-CN" altLang="en-US" sz="3200">
                <a:solidFill>
                  <a:schemeClr val="tx2"/>
                </a:solidFill>
                <a:effectLst>
                  <a:outerShdw blurRad="38100" dist="38100" dir="2700000" algn="tl">
                    <a:srgbClr val="C0C0C0"/>
                  </a:outerShdw>
                </a:effectLst>
                <a:latin typeface="+mn-lt"/>
                <a:ea typeface="隶书" panose="02010509060101010101" pitchFamily="49" charset="-122"/>
              </a:rPr>
              <a:t>局部变量   参数</a:t>
            </a:r>
            <a:endParaRPr lang="zh-CN" altLang="en-US">
              <a:latin typeface="+mn-lt"/>
              <a:ea typeface="+mn-ea"/>
            </a:endParaRPr>
          </a:p>
        </p:txBody>
      </p:sp>
      <p:sp>
        <p:nvSpPr>
          <p:cNvPr id="61456" name="Line 17"/>
          <p:cNvSpPr>
            <a:spLocks noChangeShapeType="1"/>
          </p:cNvSpPr>
          <p:nvPr/>
        </p:nvSpPr>
        <p:spPr bwMode="auto">
          <a:xfrm>
            <a:off x="5116513" y="572928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7" name="Line 18"/>
          <p:cNvSpPr>
            <a:spLocks noChangeShapeType="1"/>
          </p:cNvSpPr>
          <p:nvPr/>
        </p:nvSpPr>
        <p:spPr bwMode="auto">
          <a:xfrm flipV="1">
            <a:off x="5116513" y="5576888"/>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8" name="Line 19"/>
          <p:cNvSpPr>
            <a:spLocks noChangeShapeType="1"/>
          </p:cNvSpPr>
          <p:nvPr/>
        </p:nvSpPr>
        <p:spPr bwMode="auto">
          <a:xfrm>
            <a:off x="7021513" y="572928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9" name="Line 20"/>
          <p:cNvSpPr>
            <a:spLocks noChangeShapeType="1"/>
          </p:cNvSpPr>
          <p:nvPr/>
        </p:nvSpPr>
        <p:spPr bwMode="auto">
          <a:xfrm flipV="1">
            <a:off x="7021513" y="5576888"/>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0" name="标题 1"/>
          <p:cNvSpPr>
            <a:spLocks noGrp="1" noChangeArrowheads="1"/>
          </p:cNvSpPr>
          <p:nvPr>
            <p:ph type="title"/>
          </p:nvPr>
        </p:nvSpPr>
        <p:spPr/>
        <p:txBody>
          <a:bodyPr/>
          <a:lstStyle/>
          <a:p>
            <a:r>
              <a:rPr lang="zh-CN" altLang="en-US"/>
              <a:t>函数递归时的活动记录</a:t>
            </a:r>
            <a:endParaRPr lang="zh-CN" altLang="en-US"/>
          </a:p>
        </p:txBody>
      </p:sp>
      <p:sp>
        <p:nvSpPr>
          <p:cNvPr id="2" name="灯片编号占位符 1"/>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026"/>
          <p:cNvSpPr txBox="1">
            <a:spLocks noChangeArrowheads="1"/>
          </p:cNvSpPr>
          <p:nvPr/>
        </p:nvSpPr>
        <p:spPr bwMode="auto">
          <a:xfrm>
            <a:off x="500034" y="1857364"/>
            <a:ext cx="8072494" cy="2357454"/>
          </a:xfrm>
          <a:prstGeom prst="rect">
            <a:avLst/>
          </a:prstGeom>
          <a:noFill/>
          <a:ln w="9525">
            <a:solidFill>
              <a:schemeClr val="tx1"/>
            </a:solidFill>
            <a:miter lim="800000"/>
          </a:ln>
        </p:spPr>
        <p:txBody>
          <a:bodyPr wrap="square">
            <a:spAutoFit/>
          </a:bodyPr>
          <a:lstStyle/>
          <a:p>
            <a:pPr>
              <a:lnSpc>
                <a:spcPct val="90000"/>
              </a:lnSpc>
            </a:pPr>
            <a:r>
              <a:rPr lang="en-US" altLang="zh-CN" sz="3600" b="1" dirty="0">
                <a:solidFill>
                  <a:schemeClr val="hlink"/>
                </a:solidFill>
              </a:rPr>
              <a:t>                  </a:t>
            </a:r>
            <a:r>
              <a:rPr lang="en-US" altLang="zh-CN" sz="3200" b="1" dirty="0">
                <a:solidFill>
                  <a:schemeClr val="tx2"/>
                </a:solidFill>
              </a:rPr>
              <a:t>long</a:t>
            </a:r>
            <a:r>
              <a:rPr lang="en-US" altLang="zh-CN" sz="3200" dirty="0">
                <a:solidFill>
                  <a:schemeClr val="tx2"/>
                </a:solidFill>
              </a:rPr>
              <a:t> Fact ( </a:t>
            </a:r>
            <a:r>
              <a:rPr lang="en-US" altLang="zh-CN" sz="3200" b="1" dirty="0">
                <a:solidFill>
                  <a:schemeClr val="tx2"/>
                </a:solidFill>
              </a:rPr>
              <a:t>long</a:t>
            </a:r>
            <a:r>
              <a:rPr lang="en-US" altLang="zh-CN" sz="3200" dirty="0">
                <a:solidFill>
                  <a:schemeClr val="tx2"/>
                </a:solidFill>
              </a:rPr>
              <a:t> n ) </a:t>
            </a:r>
            <a:r>
              <a:rPr lang="en-US" altLang="zh-CN" sz="3200" b="1" dirty="0">
                <a:solidFill>
                  <a:schemeClr val="tx2"/>
                </a:solidFill>
              </a:rPr>
              <a:t>{</a:t>
            </a:r>
            <a:endParaRPr lang="en-US" altLang="zh-CN" sz="3200" dirty="0">
              <a:solidFill>
                <a:schemeClr val="tx2"/>
              </a:solidFill>
            </a:endParaRPr>
          </a:p>
          <a:p>
            <a:pPr>
              <a:lnSpc>
                <a:spcPct val="90000"/>
              </a:lnSpc>
            </a:pPr>
            <a:r>
              <a:rPr lang="en-US" altLang="zh-CN" sz="3200" b="1" dirty="0">
                <a:solidFill>
                  <a:schemeClr val="tx2"/>
                </a:solidFill>
              </a:rPr>
              <a:t>                        if</a:t>
            </a:r>
            <a:r>
              <a:rPr lang="en-US" altLang="zh-CN" sz="3200" dirty="0">
                <a:solidFill>
                  <a:schemeClr val="tx2"/>
                </a:solidFill>
              </a:rPr>
              <a:t> ( n</a:t>
            </a:r>
            <a:r>
              <a:rPr lang="en-US" altLang="zh-CN" sz="3200" i="1" dirty="0">
                <a:solidFill>
                  <a:schemeClr val="tx2"/>
                </a:solidFill>
              </a:rPr>
              <a:t> </a:t>
            </a:r>
            <a:r>
              <a:rPr lang="en-US" altLang="zh-CN" sz="3200" dirty="0">
                <a:solidFill>
                  <a:schemeClr val="tx2"/>
                </a:solidFill>
              </a:rPr>
              <a:t>== 0 ) </a:t>
            </a:r>
            <a:r>
              <a:rPr lang="en-US" altLang="zh-CN" sz="3200" b="1" dirty="0">
                <a:solidFill>
                  <a:schemeClr val="tx2"/>
                </a:solidFill>
              </a:rPr>
              <a:t>return</a:t>
            </a:r>
            <a:r>
              <a:rPr lang="en-US" altLang="zh-CN" sz="3200" dirty="0">
                <a:solidFill>
                  <a:schemeClr val="tx2"/>
                </a:solidFill>
              </a:rPr>
              <a:t> 1</a:t>
            </a:r>
            <a:r>
              <a:rPr lang="en-US" altLang="zh-CN" sz="3200" b="1" dirty="0">
                <a:solidFill>
                  <a:schemeClr val="tx2"/>
                </a:solidFill>
              </a:rPr>
              <a:t>;</a:t>
            </a:r>
            <a:endParaRPr lang="en-US" altLang="zh-CN" sz="3200" b="1" dirty="0">
              <a:solidFill>
                <a:schemeClr val="tx2"/>
              </a:solidFill>
            </a:endParaRPr>
          </a:p>
          <a:p>
            <a:pPr>
              <a:lnSpc>
                <a:spcPct val="90000"/>
              </a:lnSpc>
            </a:pPr>
            <a:r>
              <a:rPr lang="en-US" altLang="zh-CN" sz="3200" b="1" dirty="0">
                <a:solidFill>
                  <a:schemeClr val="tx2"/>
                </a:solidFill>
              </a:rPr>
              <a:t>                        else</a:t>
            </a:r>
            <a:r>
              <a:rPr lang="en-US" altLang="zh-CN" sz="3200" dirty="0">
                <a:solidFill>
                  <a:schemeClr val="tx2"/>
                </a:solidFill>
              </a:rPr>
              <a:t> </a:t>
            </a:r>
            <a:r>
              <a:rPr lang="en-US" altLang="zh-CN" sz="3200" b="1" dirty="0">
                <a:solidFill>
                  <a:schemeClr val="tx2"/>
                </a:solidFill>
              </a:rPr>
              <a:t>return</a:t>
            </a:r>
            <a:r>
              <a:rPr lang="en-US" altLang="zh-CN" sz="3200" dirty="0">
                <a:solidFill>
                  <a:schemeClr val="tx2"/>
                </a:solidFill>
              </a:rPr>
              <a:t> n * Fact (n</a:t>
            </a:r>
            <a:r>
              <a:rPr lang="en-US" altLang="zh-CN" sz="3200" dirty="0">
                <a:solidFill>
                  <a:schemeClr val="tx2"/>
                </a:solidFill>
                <a:latin typeface="仿宋_GB2312" panose="02010609030101010101" pitchFamily="49" charset="-122"/>
                <a:ea typeface="仿宋_GB2312" panose="02010609030101010101" pitchFamily="49" charset="-122"/>
              </a:rPr>
              <a:t>-</a:t>
            </a:r>
            <a:r>
              <a:rPr lang="en-US" altLang="zh-CN" sz="3200" dirty="0">
                <a:solidFill>
                  <a:schemeClr val="tx2"/>
                </a:solidFill>
              </a:rPr>
              <a:t>1)</a:t>
            </a:r>
            <a:r>
              <a:rPr lang="en-US" altLang="zh-CN" sz="3200" b="1" dirty="0">
                <a:solidFill>
                  <a:schemeClr val="tx2"/>
                </a:solidFill>
              </a:rPr>
              <a:t>;</a:t>
            </a:r>
            <a:endParaRPr lang="en-US" altLang="zh-CN" sz="3200" b="1" dirty="0">
              <a:solidFill>
                <a:schemeClr val="tx2"/>
              </a:solidFill>
            </a:endParaRPr>
          </a:p>
          <a:p>
            <a:pPr>
              <a:lnSpc>
                <a:spcPct val="90000"/>
              </a:lnSpc>
            </a:pPr>
            <a:r>
              <a:rPr lang="en-US" altLang="zh-CN" sz="3200" i="1" dirty="0">
                <a:solidFill>
                  <a:schemeClr val="tx2"/>
                </a:solidFill>
              </a:rPr>
              <a:t>    </a:t>
            </a:r>
            <a:endParaRPr lang="en-US" altLang="zh-CN" sz="3200" dirty="0">
              <a:solidFill>
                <a:schemeClr val="hlink"/>
              </a:solidFill>
            </a:endParaRPr>
          </a:p>
          <a:p>
            <a:pPr>
              <a:lnSpc>
                <a:spcPct val="90000"/>
              </a:lnSpc>
            </a:pPr>
            <a:r>
              <a:rPr lang="en-US" altLang="zh-CN" sz="3200" b="1" dirty="0">
                <a:solidFill>
                  <a:schemeClr val="tx2"/>
                </a:solidFill>
              </a:rPr>
              <a:t>		  }</a:t>
            </a:r>
            <a:endParaRPr lang="en-US" altLang="zh-CN" sz="3200" dirty="0">
              <a:solidFill>
                <a:schemeClr val="tx2"/>
              </a:solidFill>
            </a:endParaRPr>
          </a:p>
        </p:txBody>
      </p:sp>
      <p:sp>
        <p:nvSpPr>
          <p:cNvPr id="63491" name="Text Box 1027"/>
          <p:cNvSpPr txBox="1">
            <a:spLocks noChangeArrowheads="1"/>
          </p:cNvSpPr>
          <p:nvPr/>
        </p:nvSpPr>
        <p:spPr bwMode="auto">
          <a:xfrm>
            <a:off x="500034" y="4386266"/>
            <a:ext cx="8072494" cy="1865126"/>
          </a:xfrm>
          <a:prstGeom prst="rect">
            <a:avLst/>
          </a:prstGeom>
          <a:noFill/>
          <a:ln w="9525">
            <a:solidFill>
              <a:schemeClr val="tx1"/>
            </a:solidFill>
            <a:miter lim="800000"/>
          </a:ln>
        </p:spPr>
        <p:txBody>
          <a:bodyPr wrap="square">
            <a:spAutoFit/>
          </a:bodyPr>
          <a:lstStyle/>
          <a:p>
            <a:pPr>
              <a:lnSpc>
                <a:spcPct val="90000"/>
              </a:lnSpc>
            </a:pPr>
            <a:r>
              <a:rPr lang="en-US" altLang="zh-CN" sz="1800" b="1" dirty="0"/>
              <a:t>	</a:t>
            </a:r>
            <a:r>
              <a:rPr lang="en-US" altLang="zh-CN" sz="2000" b="1" dirty="0"/>
              <a:t>	 </a:t>
            </a:r>
            <a:r>
              <a:rPr lang="en-US" altLang="zh-CN" sz="3200" b="1" dirty="0">
                <a:solidFill>
                  <a:schemeClr val="tx2"/>
                </a:solidFill>
              </a:rPr>
              <a:t>long</a:t>
            </a:r>
            <a:r>
              <a:rPr lang="en-US" altLang="zh-CN" sz="3200" dirty="0">
                <a:solidFill>
                  <a:schemeClr val="tx2"/>
                </a:solidFill>
              </a:rPr>
              <a:t> Fact ( </a:t>
            </a:r>
            <a:r>
              <a:rPr lang="en-US" altLang="zh-CN" sz="3200" b="1" dirty="0">
                <a:solidFill>
                  <a:schemeClr val="tx2"/>
                </a:solidFill>
              </a:rPr>
              <a:t>long</a:t>
            </a:r>
            <a:r>
              <a:rPr lang="en-US" altLang="zh-CN" sz="3200" dirty="0">
                <a:solidFill>
                  <a:schemeClr val="tx2"/>
                </a:solidFill>
              </a:rPr>
              <a:t> n ) </a:t>
            </a:r>
            <a:r>
              <a:rPr lang="en-US" altLang="zh-CN" sz="3200" b="1" dirty="0">
                <a:solidFill>
                  <a:schemeClr val="tx2"/>
                </a:solidFill>
              </a:rPr>
              <a:t>{</a:t>
            </a:r>
            <a:endParaRPr lang="en-US" altLang="zh-CN" sz="3200" dirty="0">
              <a:solidFill>
                <a:schemeClr val="tx2"/>
              </a:solidFill>
            </a:endParaRPr>
          </a:p>
          <a:p>
            <a:pPr>
              <a:lnSpc>
                <a:spcPct val="90000"/>
              </a:lnSpc>
            </a:pPr>
            <a:r>
              <a:rPr lang="en-US" altLang="zh-CN" sz="3200" b="1" dirty="0">
                <a:solidFill>
                  <a:schemeClr val="tx2"/>
                </a:solidFill>
              </a:rPr>
              <a:t>                        if</a:t>
            </a:r>
            <a:r>
              <a:rPr lang="en-US" altLang="zh-CN" sz="3200" dirty="0">
                <a:solidFill>
                  <a:schemeClr val="tx2"/>
                </a:solidFill>
              </a:rPr>
              <a:t> ( n</a:t>
            </a:r>
            <a:r>
              <a:rPr lang="en-US" altLang="zh-CN" sz="3200" i="1" dirty="0">
                <a:solidFill>
                  <a:schemeClr val="tx2"/>
                </a:solidFill>
              </a:rPr>
              <a:t> </a:t>
            </a:r>
            <a:r>
              <a:rPr lang="en-US" altLang="zh-CN" sz="3200" dirty="0">
                <a:solidFill>
                  <a:schemeClr val="tx2"/>
                </a:solidFill>
              </a:rPr>
              <a:t>== 0 ) </a:t>
            </a:r>
            <a:r>
              <a:rPr lang="en-US" altLang="zh-CN" sz="3200" b="1" dirty="0">
                <a:solidFill>
                  <a:schemeClr val="tx2"/>
                </a:solidFill>
              </a:rPr>
              <a:t>return</a:t>
            </a:r>
            <a:r>
              <a:rPr lang="en-US" altLang="zh-CN" sz="3200" dirty="0">
                <a:solidFill>
                  <a:schemeClr val="tx2"/>
                </a:solidFill>
              </a:rPr>
              <a:t> 1</a:t>
            </a:r>
            <a:r>
              <a:rPr lang="en-US" altLang="zh-CN" sz="3200" b="1" dirty="0">
                <a:solidFill>
                  <a:schemeClr val="tx2"/>
                </a:solidFill>
              </a:rPr>
              <a:t>;</a:t>
            </a:r>
            <a:endParaRPr lang="en-US" altLang="zh-CN" sz="3200" b="1" dirty="0">
              <a:solidFill>
                <a:schemeClr val="tx2"/>
              </a:solidFill>
            </a:endParaRPr>
          </a:p>
          <a:p>
            <a:pPr>
              <a:lnSpc>
                <a:spcPct val="90000"/>
              </a:lnSpc>
            </a:pPr>
            <a:r>
              <a:rPr lang="en-US" altLang="zh-CN" sz="3200" b="1" dirty="0">
                <a:solidFill>
                  <a:schemeClr val="tx2"/>
                </a:solidFill>
              </a:rPr>
              <a:t>                        else</a:t>
            </a:r>
            <a:r>
              <a:rPr lang="en-US" altLang="zh-CN" sz="3200" dirty="0">
                <a:solidFill>
                  <a:schemeClr val="tx2"/>
                </a:solidFill>
              </a:rPr>
              <a:t> </a:t>
            </a:r>
            <a:r>
              <a:rPr lang="en-US" altLang="zh-CN" sz="3200" b="1" dirty="0">
                <a:solidFill>
                  <a:schemeClr val="tx2"/>
                </a:solidFill>
              </a:rPr>
              <a:t>return</a:t>
            </a:r>
            <a:r>
              <a:rPr lang="en-US" altLang="zh-CN" sz="3200" dirty="0">
                <a:solidFill>
                  <a:schemeClr val="tx2"/>
                </a:solidFill>
              </a:rPr>
              <a:t> n * Fact (n</a:t>
            </a:r>
            <a:r>
              <a:rPr lang="en-US" altLang="zh-CN" sz="3200" dirty="0">
                <a:solidFill>
                  <a:schemeClr val="tx2"/>
                </a:solidFill>
                <a:latin typeface="仿宋_GB2312" panose="02010609030101010101" pitchFamily="49" charset="-122"/>
                <a:ea typeface="仿宋_GB2312" panose="02010609030101010101" pitchFamily="49" charset="-122"/>
              </a:rPr>
              <a:t>-</a:t>
            </a:r>
            <a:r>
              <a:rPr lang="en-US" altLang="zh-CN" sz="3200" dirty="0">
                <a:solidFill>
                  <a:schemeClr val="tx2"/>
                </a:solidFill>
              </a:rPr>
              <a:t>1)</a:t>
            </a:r>
            <a:r>
              <a:rPr lang="en-US" altLang="zh-CN" sz="3200" b="1" dirty="0">
                <a:solidFill>
                  <a:schemeClr val="tx2"/>
                </a:solidFill>
              </a:rPr>
              <a:t>;</a:t>
            </a:r>
            <a:endParaRPr lang="en-US" altLang="zh-CN" sz="3200" b="1" dirty="0">
              <a:solidFill>
                <a:schemeClr val="tx2"/>
              </a:solidFill>
            </a:endParaRPr>
          </a:p>
          <a:p>
            <a:pPr>
              <a:lnSpc>
                <a:spcPct val="90000"/>
              </a:lnSpc>
            </a:pPr>
            <a:r>
              <a:rPr lang="en-US" altLang="zh-CN" sz="3200" b="1" dirty="0">
                <a:solidFill>
                  <a:schemeClr val="tx2"/>
                </a:solidFill>
              </a:rPr>
              <a:t>		  }</a:t>
            </a:r>
            <a:endParaRPr lang="en-US" altLang="zh-CN" sz="3200" dirty="0">
              <a:solidFill>
                <a:schemeClr val="tx2"/>
              </a:solidFill>
            </a:endParaRPr>
          </a:p>
        </p:txBody>
      </p:sp>
      <p:cxnSp>
        <p:nvCxnSpPr>
          <p:cNvPr id="9" name="直接连接符 8"/>
          <p:cNvCxnSpPr/>
          <p:nvPr/>
        </p:nvCxnSpPr>
        <p:spPr>
          <a:xfrm rot="5400000">
            <a:off x="6625877" y="3321049"/>
            <a:ext cx="21431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1785918" y="3429000"/>
            <a:ext cx="49463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a:off x="1178695" y="4036223"/>
            <a:ext cx="121444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785918" y="4643446"/>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4036215" y="5750735"/>
            <a:ext cx="7143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0800000">
            <a:off x="1214414" y="5786454"/>
            <a:ext cx="285752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flipH="1" flipV="1">
            <a:off x="-35751" y="4536289"/>
            <a:ext cx="250033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214414" y="3286124"/>
            <a:ext cx="45711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5785540" y="3128962"/>
            <a:ext cx="1588" cy="157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Rectangle 2"/>
          <p:cNvSpPr>
            <a:spLocks noGrp="1" noChangeArrowheads="1"/>
          </p:cNvSpPr>
          <p:nvPr>
            <p:ph type="title"/>
          </p:nvPr>
        </p:nvSpPr>
        <p:spPr/>
        <p:txBody>
          <a:bodyPr/>
          <a:lstStyle/>
          <a:p>
            <a:r>
              <a:rPr lang="zh-CN" altLang="en-US" dirty="0"/>
              <a:t>以求阶乘为例</a:t>
            </a:r>
            <a:endParaRPr lang="zh-CN" altLang="en-US" dirty="0"/>
          </a:p>
        </p:txBody>
      </p: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Text Box 3"/>
          <p:cNvSpPr txBox="1">
            <a:spLocks noChangeArrowheads="1"/>
          </p:cNvSpPr>
          <p:nvPr/>
        </p:nvSpPr>
        <p:spPr bwMode="auto">
          <a:xfrm>
            <a:off x="500063" y="2682875"/>
            <a:ext cx="549275" cy="3016250"/>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3200" b="1">
                <a:solidFill>
                  <a:schemeClr val="hlink"/>
                </a:solidFill>
                <a:effectLst>
                  <a:outerShdw blurRad="38100" dist="38100" dir="2700000" algn="tl">
                    <a:srgbClr val="C0C0C0"/>
                  </a:outerShdw>
                </a:effectLst>
                <a:latin typeface="+mn-lt"/>
                <a:ea typeface="仿宋_GB2312" panose="02010609030101010101" pitchFamily="49" charset="-122"/>
              </a:rPr>
              <a:t>递归调用序列</a:t>
            </a:r>
            <a:endParaRPr lang="zh-CN" altLang="en-US">
              <a:solidFill>
                <a:schemeClr val="hlink"/>
              </a:solidFill>
              <a:latin typeface="+mn-lt"/>
              <a:ea typeface="+mn-ea"/>
            </a:endParaRPr>
          </a:p>
        </p:txBody>
      </p:sp>
      <p:sp>
        <p:nvSpPr>
          <p:cNvPr id="63491" name="Rectangle 4" descr="再生纸"/>
          <p:cNvSpPr>
            <a:spLocks noChangeArrowheads="1"/>
          </p:cNvSpPr>
          <p:nvPr/>
        </p:nvSpPr>
        <p:spPr bwMode="auto">
          <a:xfrm>
            <a:off x="1185863" y="5927725"/>
            <a:ext cx="35814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FF"/>
            </a:extrusionClr>
            <a:contourClr>
              <a:srgbClr val="FFFFFF"/>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3492" name="Line 5"/>
          <p:cNvSpPr>
            <a:spLocks noChangeShapeType="1"/>
          </p:cNvSpPr>
          <p:nvPr/>
        </p:nvSpPr>
        <p:spPr bwMode="auto">
          <a:xfrm>
            <a:off x="1871663" y="59277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3" name="Line 6"/>
          <p:cNvSpPr>
            <a:spLocks noChangeShapeType="1"/>
          </p:cNvSpPr>
          <p:nvPr/>
        </p:nvSpPr>
        <p:spPr bwMode="auto">
          <a:xfrm flipV="1">
            <a:off x="1871663" y="57753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4" name="Text Box 7"/>
          <p:cNvSpPr txBox="1">
            <a:spLocks noChangeArrowheads="1"/>
          </p:cNvSpPr>
          <p:nvPr/>
        </p:nvSpPr>
        <p:spPr bwMode="auto">
          <a:xfrm>
            <a:off x="1344613" y="5927725"/>
            <a:ext cx="3422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0           </a:t>
            </a:r>
            <a:r>
              <a:rPr kumimoji="1" lang="en-US" altLang="zh-CN" sz="2800" b="1">
                <a:solidFill>
                  <a:srgbClr val="009900"/>
                </a:solidFill>
                <a:latin typeface="Times New Roman" panose="02020603050405020304" pitchFamily="18" charset="0"/>
                <a:ea typeface="宋体" panose="02010600030101010101" pitchFamily="2" charset="-122"/>
              </a:rPr>
              <a:t>1</a:t>
            </a:r>
            <a:r>
              <a:rPr kumimoji="1" lang="en-US" altLang="zh-CN" sz="2800" b="1">
                <a:solidFill>
                  <a:schemeClr val="tx2"/>
                </a:solidFill>
                <a:latin typeface="Times New Roman" panose="02020603050405020304" pitchFamily="18" charset="0"/>
                <a:ea typeface="宋体" panose="02010600030101010101" pitchFamily="2" charset="-122"/>
              </a:rPr>
              <a:t>       RetLoc2</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63495" name="Rectangle 8" descr="再生纸"/>
          <p:cNvSpPr>
            <a:spLocks noChangeArrowheads="1"/>
          </p:cNvSpPr>
          <p:nvPr/>
        </p:nvSpPr>
        <p:spPr bwMode="auto">
          <a:xfrm>
            <a:off x="1185863" y="5013325"/>
            <a:ext cx="35814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FF"/>
            </a:extrusionClr>
            <a:contourClr>
              <a:srgbClr val="FFFFFF"/>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3496" name="Line 9"/>
          <p:cNvSpPr>
            <a:spLocks noChangeShapeType="1"/>
          </p:cNvSpPr>
          <p:nvPr/>
        </p:nvSpPr>
        <p:spPr bwMode="auto">
          <a:xfrm>
            <a:off x="1871663" y="50133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7" name="Line 10"/>
          <p:cNvSpPr>
            <a:spLocks noChangeShapeType="1"/>
          </p:cNvSpPr>
          <p:nvPr/>
        </p:nvSpPr>
        <p:spPr bwMode="auto">
          <a:xfrm flipV="1">
            <a:off x="1871663" y="48609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8" name="Text Box 11"/>
          <p:cNvSpPr txBox="1">
            <a:spLocks noChangeArrowheads="1"/>
          </p:cNvSpPr>
          <p:nvPr/>
        </p:nvSpPr>
        <p:spPr bwMode="auto">
          <a:xfrm>
            <a:off x="1344613" y="5013325"/>
            <a:ext cx="3498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1           </a:t>
            </a:r>
            <a:r>
              <a:rPr kumimoji="1" lang="en-US" altLang="zh-CN" sz="2800" b="1">
                <a:solidFill>
                  <a:srgbClr val="009900"/>
                </a:solidFill>
                <a:latin typeface="Times New Roman" panose="02020603050405020304" pitchFamily="18" charset="0"/>
                <a:ea typeface="宋体" panose="02010600030101010101" pitchFamily="2" charset="-122"/>
              </a:rPr>
              <a:t>1</a:t>
            </a:r>
            <a:r>
              <a:rPr kumimoji="1" lang="en-US" altLang="zh-CN" sz="2800" b="1">
                <a:solidFill>
                  <a:schemeClr val="tx2"/>
                </a:solidFill>
                <a:latin typeface="Times New Roman" panose="02020603050405020304" pitchFamily="18" charset="0"/>
                <a:ea typeface="宋体" panose="02010600030101010101" pitchFamily="2" charset="-122"/>
              </a:rPr>
              <a:t>       RetLoc2</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63499" name="Rectangle 12" descr="再生纸"/>
          <p:cNvSpPr>
            <a:spLocks noChangeArrowheads="1"/>
          </p:cNvSpPr>
          <p:nvPr/>
        </p:nvSpPr>
        <p:spPr bwMode="auto">
          <a:xfrm>
            <a:off x="1185863" y="4098925"/>
            <a:ext cx="35814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FF"/>
            </a:extrusionClr>
            <a:contourClr>
              <a:srgbClr val="FFFFFF"/>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3500" name="Line 13"/>
          <p:cNvSpPr>
            <a:spLocks noChangeShapeType="1"/>
          </p:cNvSpPr>
          <p:nvPr/>
        </p:nvSpPr>
        <p:spPr bwMode="auto">
          <a:xfrm>
            <a:off x="1871663" y="40989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1" name="Line 14"/>
          <p:cNvSpPr>
            <a:spLocks noChangeShapeType="1"/>
          </p:cNvSpPr>
          <p:nvPr/>
        </p:nvSpPr>
        <p:spPr bwMode="auto">
          <a:xfrm flipV="1">
            <a:off x="1871663" y="39465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2" name="Text Box 15"/>
          <p:cNvSpPr txBox="1">
            <a:spLocks noChangeArrowheads="1"/>
          </p:cNvSpPr>
          <p:nvPr/>
        </p:nvSpPr>
        <p:spPr bwMode="auto">
          <a:xfrm>
            <a:off x="1344613" y="4098925"/>
            <a:ext cx="3422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2           </a:t>
            </a:r>
            <a:r>
              <a:rPr kumimoji="1" lang="en-US" altLang="zh-CN" sz="2800" b="1">
                <a:solidFill>
                  <a:srgbClr val="009900"/>
                </a:solidFill>
                <a:latin typeface="Times New Roman" panose="02020603050405020304" pitchFamily="18" charset="0"/>
                <a:ea typeface="宋体" panose="02010600030101010101" pitchFamily="2" charset="-122"/>
              </a:rPr>
              <a:t>2</a:t>
            </a:r>
            <a:r>
              <a:rPr kumimoji="1" lang="en-US" altLang="zh-CN" sz="2800" b="1">
                <a:solidFill>
                  <a:schemeClr val="tx2"/>
                </a:solidFill>
                <a:latin typeface="Times New Roman" panose="02020603050405020304" pitchFamily="18" charset="0"/>
                <a:ea typeface="宋体" panose="02010600030101010101" pitchFamily="2" charset="-122"/>
              </a:rPr>
              <a:t>       RetLoc2</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63503" name="Rectangle 16" descr="再生纸"/>
          <p:cNvSpPr>
            <a:spLocks noChangeArrowheads="1"/>
          </p:cNvSpPr>
          <p:nvPr/>
        </p:nvSpPr>
        <p:spPr bwMode="auto">
          <a:xfrm>
            <a:off x="1185863" y="3184525"/>
            <a:ext cx="35814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FF"/>
            </a:extrusionClr>
            <a:contourClr>
              <a:srgbClr val="FFFFFF"/>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3504" name="Line 17"/>
          <p:cNvSpPr>
            <a:spLocks noChangeShapeType="1"/>
          </p:cNvSpPr>
          <p:nvPr/>
        </p:nvSpPr>
        <p:spPr bwMode="auto">
          <a:xfrm>
            <a:off x="1871663" y="31845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5" name="Line 18"/>
          <p:cNvSpPr>
            <a:spLocks noChangeShapeType="1"/>
          </p:cNvSpPr>
          <p:nvPr/>
        </p:nvSpPr>
        <p:spPr bwMode="auto">
          <a:xfrm flipV="1">
            <a:off x="1871663" y="30321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6" name="Text Box 19"/>
          <p:cNvSpPr txBox="1">
            <a:spLocks noChangeArrowheads="1"/>
          </p:cNvSpPr>
          <p:nvPr/>
        </p:nvSpPr>
        <p:spPr bwMode="auto">
          <a:xfrm>
            <a:off x="1344613" y="3184525"/>
            <a:ext cx="3422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3           </a:t>
            </a:r>
            <a:r>
              <a:rPr kumimoji="1" lang="en-US" altLang="zh-CN" sz="2800" b="1">
                <a:solidFill>
                  <a:srgbClr val="009900"/>
                </a:solidFill>
                <a:latin typeface="Times New Roman" panose="02020603050405020304" pitchFamily="18" charset="0"/>
                <a:ea typeface="宋体" panose="02010600030101010101" pitchFamily="2" charset="-122"/>
              </a:rPr>
              <a:t>6</a:t>
            </a:r>
            <a:r>
              <a:rPr kumimoji="1" lang="en-US" altLang="zh-CN" sz="2800" b="1">
                <a:solidFill>
                  <a:schemeClr val="tx2"/>
                </a:solidFill>
                <a:latin typeface="Times New Roman" panose="02020603050405020304" pitchFamily="18" charset="0"/>
                <a:ea typeface="宋体" panose="02010600030101010101" pitchFamily="2" charset="-122"/>
              </a:rPr>
              <a:t>       RetLoc2</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63507" name="Rectangle 20" descr="再生纸"/>
          <p:cNvSpPr>
            <a:spLocks noChangeArrowheads="1"/>
          </p:cNvSpPr>
          <p:nvPr/>
        </p:nvSpPr>
        <p:spPr bwMode="auto">
          <a:xfrm>
            <a:off x="1185863" y="2270125"/>
            <a:ext cx="35814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FF"/>
            </a:extrusionClr>
            <a:contourClr>
              <a:srgbClr val="FFFFFF"/>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3508" name="Line 21"/>
          <p:cNvSpPr>
            <a:spLocks noChangeShapeType="1"/>
          </p:cNvSpPr>
          <p:nvPr/>
        </p:nvSpPr>
        <p:spPr bwMode="auto">
          <a:xfrm>
            <a:off x="1871663" y="22701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9" name="Line 22"/>
          <p:cNvSpPr>
            <a:spLocks noChangeShapeType="1"/>
          </p:cNvSpPr>
          <p:nvPr/>
        </p:nvSpPr>
        <p:spPr bwMode="auto">
          <a:xfrm flipV="1">
            <a:off x="1871663" y="21177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10" name="Text Box 23"/>
          <p:cNvSpPr txBox="1">
            <a:spLocks noChangeArrowheads="1"/>
          </p:cNvSpPr>
          <p:nvPr/>
        </p:nvSpPr>
        <p:spPr bwMode="auto">
          <a:xfrm>
            <a:off x="1338263" y="2270125"/>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4          </a:t>
            </a:r>
            <a:r>
              <a:rPr kumimoji="1" lang="en-US" altLang="zh-CN" sz="2800" b="1">
                <a:solidFill>
                  <a:srgbClr val="009900"/>
                </a:solidFill>
                <a:latin typeface="Times New Roman" panose="02020603050405020304" pitchFamily="18" charset="0"/>
                <a:ea typeface="宋体" panose="02010600030101010101" pitchFamily="2" charset="-122"/>
              </a:rPr>
              <a:t>24</a:t>
            </a:r>
            <a:r>
              <a:rPr kumimoji="1" lang="en-US" altLang="zh-CN" sz="2800" b="1">
                <a:solidFill>
                  <a:schemeClr val="tx2"/>
                </a:solidFill>
                <a:latin typeface="Times New Roman" panose="02020603050405020304" pitchFamily="18" charset="0"/>
                <a:ea typeface="宋体" panose="02010600030101010101" pitchFamily="2" charset="-122"/>
              </a:rPr>
              <a:t>      RetLoc1</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188440" name="Text Box 24"/>
          <p:cNvSpPr txBox="1">
            <a:spLocks noChangeArrowheads="1"/>
          </p:cNvSpPr>
          <p:nvPr/>
        </p:nvSpPr>
        <p:spPr bwMode="auto">
          <a:xfrm>
            <a:off x="1109663" y="1522413"/>
            <a:ext cx="7315200" cy="519112"/>
          </a:xfrm>
          <a:prstGeom prst="rect">
            <a:avLst/>
          </a:prstGeom>
          <a:noFill/>
          <a:ln w="9525">
            <a:noFill/>
            <a:miter lim="800000"/>
          </a:ln>
          <a:effectLst/>
        </p:spPr>
        <p:txBody>
          <a:bodyPr>
            <a:spAutoFit/>
          </a:bodyPr>
          <a:lstStyle/>
          <a:p>
            <a:pPr eaLnBrk="1" fontAlgn="auto" hangingPunct="1">
              <a:spcBef>
                <a:spcPts val="0"/>
              </a:spcBef>
              <a:spcAft>
                <a:spcPts val="0"/>
              </a:spcAft>
              <a:defRPr/>
            </a:pPr>
            <a:r>
              <a:rPr lang="zh-CN" altLang="en-US" sz="2800" b="1">
                <a:solidFill>
                  <a:schemeClr val="hlink"/>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参数 返回值 返回地址     返回时的指令</a:t>
            </a:r>
            <a:endParaRPr lang="zh-CN" altLang="en-US">
              <a:solidFill>
                <a:schemeClr val="hlink"/>
              </a:solidFill>
              <a:latin typeface="+mn-lt"/>
              <a:ea typeface="+mn-ea"/>
            </a:endParaRPr>
          </a:p>
        </p:txBody>
      </p:sp>
      <p:sp>
        <p:nvSpPr>
          <p:cNvPr id="188441" name="Text Box 25"/>
          <p:cNvSpPr txBox="1">
            <a:spLocks noChangeArrowheads="1"/>
          </p:cNvSpPr>
          <p:nvPr/>
        </p:nvSpPr>
        <p:spPr bwMode="auto">
          <a:xfrm>
            <a:off x="5148263" y="2208213"/>
            <a:ext cx="3508375" cy="519112"/>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2800" b="1" dirty="0">
                <a:solidFill>
                  <a:schemeClr val="hlink"/>
                </a:solidFill>
                <a:latin typeface="+mn-lt"/>
                <a:ea typeface="+mn-ea"/>
              </a:rPr>
              <a:t>return 4*</a:t>
            </a:r>
            <a:r>
              <a:rPr lang="en-US" altLang="zh-CN" sz="2800" b="1" dirty="0">
                <a:solidFill>
                  <a:schemeClr val="tx2"/>
                </a:solidFill>
                <a:latin typeface="+mn-lt"/>
                <a:ea typeface="+mn-ea"/>
              </a:rPr>
              <a:t>6  </a:t>
            </a:r>
            <a:r>
              <a:rPr lang="en-US" altLang="zh-CN" sz="2800" b="1" dirty="0">
                <a:solidFill>
                  <a:srgbClr val="800080"/>
                </a:solidFill>
                <a:latin typeface="+mn-lt"/>
                <a:ea typeface="+mn-ea"/>
              </a:rPr>
              <a:t>//</a:t>
            </a:r>
            <a:r>
              <a:rPr lang="zh-CN" altLang="en-US" sz="2800" b="1" dirty="0">
                <a:solidFill>
                  <a:srgbClr val="800080"/>
                </a:solidFill>
                <a:effectLst>
                  <a:outerShdw blurRad="38100" dist="38100" dir="2700000" algn="tl">
                    <a:srgbClr val="C0C0C0"/>
                  </a:outerShdw>
                </a:effectLst>
                <a:latin typeface="+mn-lt"/>
                <a:ea typeface="仿宋_GB2312" panose="02010609030101010101" pitchFamily="49" charset="-122"/>
              </a:rPr>
              <a:t>返回</a:t>
            </a:r>
            <a:r>
              <a:rPr lang="zh-CN" altLang="en-US" sz="2800" b="1" dirty="0">
                <a:solidFill>
                  <a:srgbClr val="009900"/>
                </a:solidFill>
                <a:effectLst>
                  <a:outerShdw blurRad="38100" dist="38100" dir="2700000" algn="tl">
                    <a:srgbClr val="C0C0C0"/>
                  </a:outerShdw>
                </a:effectLst>
                <a:latin typeface="+mn-lt"/>
                <a:ea typeface="仿宋_GB2312" panose="02010609030101010101" pitchFamily="49" charset="-122"/>
              </a:rPr>
              <a:t> </a:t>
            </a:r>
            <a:r>
              <a:rPr lang="en-US" altLang="zh-CN" sz="2800" b="1" dirty="0">
                <a:solidFill>
                  <a:srgbClr val="009900"/>
                </a:solidFill>
                <a:effectLst>
                  <a:outerShdw blurRad="38100" dist="38100" dir="2700000" algn="tl">
                    <a:srgbClr val="C0C0C0"/>
                  </a:outerShdw>
                </a:effectLst>
                <a:latin typeface="+mn-lt"/>
                <a:ea typeface="仿宋_GB2312" panose="02010609030101010101" pitchFamily="49" charset="-122"/>
              </a:rPr>
              <a:t>24</a:t>
            </a:r>
            <a:r>
              <a:rPr lang="en-US" altLang="en-US" sz="2800" b="1" dirty="0">
                <a:solidFill>
                  <a:schemeClr val="tx2"/>
                </a:solidFill>
                <a:latin typeface="+mn-lt"/>
                <a:ea typeface="+mn-ea"/>
              </a:rPr>
              <a:t>  </a:t>
            </a:r>
            <a:endParaRPr lang="en-US" altLang="zh-CN" dirty="0">
              <a:latin typeface="+mn-lt"/>
              <a:ea typeface="+mn-ea"/>
            </a:endParaRPr>
          </a:p>
        </p:txBody>
      </p:sp>
      <p:sp>
        <p:nvSpPr>
          <p:cNvPr id="188442" name="Text Box 26"/>
          <p:cNvSpPr txBox="1">
            <a:spLocks noChangeArrowheads="1"/>
          </p:cNvSpPr>
          <p:nvPr/>
        </p:nvSpPr>
        <p:spPr bwMode="auto">
          <a:xfrm>
            <a:off x="5148263" y="3122613"/>
            <a:ext cx="3241675" cy="519112"/>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2800" b="1" dirty="0">
                <a:solidFill>
                  <a:schemeClr val="hlink"/>
                </a:solidFill>
                <a:latin typeface="+mn-lt"/>
                <a:ea typeface="+mn-ea"/>
              </a:rPr>
              <a:t>return 3*</a:t>
            </a:r>
            <a:r>
              <a:rPr lang="en-US" altLang="zh-CN" sz="2800" b="1" dirty="0">
                <a:solidFill>
                  <a:schemeClr val="tx2"/>
                </a:solidFill>
                <a:latin typeface="+mn-lt"/>
                <a:ea typeface="+mn-ea"/>
              </a:rPr>
              <a:t>2  </a:t>
            </a:r>
            <a:r>
              <a:rPr lang="en-US" altLang="zh-CN" sz="2800" b="1" dirty="0">
                <a:solidFill>
                  <a:srgbClr val="800080"/>
                </a:solidFill>
                <a:latin typeface="+mn-lt"/>
                <a:ea typeface="+mn-ea"/>
              </a:rPr>
              <a:t>//</a:t>
            </a:r>
            <a:r>
              <a:rPr lang="zh-CN" altLang="en-US" sz="2800" b="1" dirty="0">
                <a:solidFill>
                  <a:srgbClr val="800080"/>
                </a:solidFill>
                <a:effectLst>
                  <a:outerShdw blurRad="38100" dist="38100" dir="2700000" algn="tl">
                    <a:srgbClr val="C0C0C0"/>
                  </a:outerShdw>
                </a:effectLst>
                <a:latin typeface="+mn-lt"/>
                <a:ea typeface="仿宋_GB2312" panose="02010609030101010101" pitchFamily="49" charset="-122"/>
              </a:rPr>
              <a:t>返回</a:t>
            </a:r>
            <a:r>
              <a:rPr lang="zh-CN" altLang="en-US" sz="2800" b="1" dirty="0">
                <a:solidFill>
                  <a:srgbClr val="009900"/>
                </a:solidFill>
                <a:effectLst>
                  <a:outerShdw blurRad="38100" dist="38100" dir="2700000" algn="tl">
                    <a:srgbClr val="C0C0C0"/>
                  </a:outerShdw>
                </a:effectLst>
                <a:latin typeface="+mn-lt"/>
                <a:ea typeface="仿宋_GB2312" panose="02010609030101010101" pitchFamily="49" charset="-122"/>
              </a:rPr>
              <a:t> </a:t>
            </a:r>
            <a:r>
              <a:rPr lang="en-US" altLang="zh-CN" sz="2800" b="1" dirty="0">
                <a:solidFill>
                  <a:srgbClr val="009900"/>
                </a:solidFill>
                <a:effectLst>
                  <a:outerShdw blurRad="38100" dist="38100" dir="2700000" algn="tl">
                    <a:srgbClr val="C0C0C0"/>
                  </a:outerShdw>
                </a:effectLst>
                <a:latin typeface="+mn-lt"/>
                <a:ea typeface="仿宋_GB2312" panose="02010609030101010101" pitchFamily="49" charset="-122"/>
              </a:rPr>
              <a:t>6</a:t>
            </a:r>
            <a:r>
              <a:rPr lang="en-US" altLang="en-US" sz="2800" b="1" dirty="0">
                <a:solidFill>
                  <a:schemeClr val="tx2"/>
                </a:solidFill>
                <a:latin typeface="+mn-lt"/>
                <a:ea typeface="+mn-ea"/>
              </a:rPr>
              <a:t> </a:t>
            </a:r>
            <a:endParaRPr lang="en-US" altLang="zh-CN" sz="2800" b="1" dirty="0">
              <a:solidFill>
                <a:schemeClr val="tx2"/>
              </a:solidFill>
              <a:latin typeface="+mn-lt"/>
              <a:ea typeface="+mn-ea"/>
            </a:endParaRPr>
          </a:p>
        </p:txBody>
      </p:sp>
      <p:sp>
        <p:nvSpPr>
          <p:cNvPr id="188443" name="Text Box 27"/>
          <p:cNvSpPr txBox="1">
            <a:spLocks noChangeArrowheads="1"/>
          </p:cNvSpPr>
          <p:nvPr/>
        </p:nvSpPr>
        <p:spPr bwMode="auto">
          <a:xfrm>
            <a:off x="5148263" y="5927725"/>
            <a:ext cx="3241675" cy="519113"/>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2800" b="1" dirty="0">
                <a:solidFill>
                  <a:schemeClr val="hlink"/>
                </a:solidFill>
                <a:latin typeface="+mn-lt"/>
                <a:ea typeface="+mn-ea"/>
              </a:rPr>
              <a:t>return</a:t>
            </a:r>
            <a:r>
              <a:rPr lang="en-US" altLang="zh-CN" sz="2800" b="1" dirty="0">
                <a:solidFill>
                  <a:schemeClr val="accent2"/>
                </a:solidFill>
                <a:latin typeface="+mn-lt"/>
                <a:ea typeface="+mn-ea"/>
              </a:rPr>
              <a:t> </a:t>
            </a:r>
            <a:r>
              <a:rPr lang="en-US" altLang="zh-CN" sz="2800" b="1" dirty="0">
                <a:solidFill>
                  <a:schemeClr val="tx2"/>
                </a:solidFill>
                <a:latin typeface="+mn-lt"/>
                <a:ea typeface="+mn-ea"/>
              </a:rPr>
              <a:t>1      </a:t>
            </a:r>
            <a:r>
              <a:rPr lang="en-US" altLang="zh-CN" sz="2800" b="1" dirty="0">
                <a:solidFill>
                  <a:srgbClr val="800080"/>
                </a:solidFill>
                <a:latin typeface="+mn-lt"/>
                <a:ea typeface="+mn-ea"/>
              </a:rPr>
              <a:t>//</a:t>
            </a:r>
            <a:r>
              <a:rPr lang="zh-CN" altLang="en-US" sz="2800" b="1" dirty="0">
                <a:solidFill>
                  <a:srgbClr val="800080"/>
                </a:solidFill>
                <a:effectLst>
                  <a:outerShdw blurRad="38100" dist="38100" dir="2700000" algn="tl">
                    <a:srgbClr val="C0C0C0"/>
                  </a:outerShdw>
                </a:effectLst>
                <a:latin typeface="+mn-lt"/>
                <a:ea typeface="仿宋_GB2312" panose="02010609030101010101" pitchFamily="49" charset="-122"/>
              </a:rPr>
              <a:t>返回</a:t>
            </a:r>
            <a:r>
              <a:rPr lang="zh-CN" altLang="en-US" sz="2800" b="1" dirty="0">
                <a:solidFill>
                  <a:srgbClr val="009900"/>
                </a:solidFill>
                <a:effectLst>
                  <a:outerShdw blurRad="38100" dist="38100" dir="2700000" algn="tl">
                    <a:srgbClr val="C0C0C0"/>
                  </a:outerShdw>
                </a:effectLst>
                <a:latin typeface="+mn-lt"/>
                <a:ea typeface="仿宋_GB2312" panose="02010609030101010101" pitchFamily="49" charset="-122"/>
              </a:rPr>
              <a:t> </a:t>
            </a:r>
            <a:r>
              <a:rPr lang="en-US" altLang="zh-CN" sz="2800" b="1" dirty="0">
                <a:solidFill>
                  <a:srgbClr val="009900"/>
                </a:solidFill>
                <a:effectLst>
                  <a:outerShdw blurRad="38100" dist="38100" dir="2700000" algn="tl">
                    <a:srgbClr val="C0C0C0"/>
                  </a:outerShdw>
                </a:effectLst>
                <a:latin typeface="+mn-lt"/>
                <a:ea typeface="仿宋_GB2312" panose="02010609030101010101" pitchFamily="49" charset="-122"/>
              </a:rPr>
              <a:t>1</a:t>
            </a:r>
            <a:r>
              <a:rPr lang="en-US" altLang="en-US" sz="2800" b="1" dirty="0">
                <a:solidFill>
                  <a:schemeClr val="tx2"/>
                </a:solidFill>
                <a:latin typeface="+mn-lt"/>
                <a:ea typeface="+mn-ea"/>
              </a:rPr>
              <a:t> </a:t>
            </a:r>
            <a:endParaRPr lang="en-US" altLang="zh-CN" sz="2800" b="1" dirty="0">
              <a:solidFill>
                <a:schemeClr val="tx2"/>
              </a:solidFill>
              <a:latin typeface="+mn-lt"/>
              <a:ea typeface="+mn-ea"/>
            </a:endParaRPr>
          </a:p>
        </p:txBody>
      </p:sp>
      <p:sp>
        <p:nvSpPr>
          <p:cNvPr id="188444" name="Text Box 28"/>
          <p:cNvSpPr txBox="1">
            <a:spLocks noChangeArrowheads="1"/>
          </p:cNvSpPr>
          <p:nvPr/>
        </p:nvSpPr>
        <p:spPr bwMode="auto">
          <a:xfrm>
            <a:off x="5148263" y="5013325"/>
            <a:ext cx="3241675" cy="519113"/>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2800" b="1" dirty="0">
                <a:solidFill>
                  <a:schemeClr val="hlink"/>
                </a:solidFill>
                <a:latin typeface="+mn-lt"/>
                <a:ea typeface="+mn-ea"/>
              </a:rPr>
              <a:t>return 1*</a:t>
            </a:r>
            <a:r>
              <a:rPr lang="en-US" altLang="zh-CN" sz="2800" b="1" dirty="0">
                <a:solidFill>
                  <a:schemeClr val="tx2"/>
                </a:solidFill>
                <a:latin typeface="+mn-lt"/>
                <a:ea typeface="+mn-ea"/>
              </a:rPr>
              <a:t>1  </a:t>
            </a:r>
            <a:r>
              <a:rPr lang="en-US" altLang="zh-CN" sz="2800" b="1" dirty="0">
                <a:solidFill>
                  <a:srgbClr val="800080"/>
                </a:solidFill>
                <a:latin typeface="+mn-lt"/>
                <a:ea typeface="+mn-ea"/>
              </a:rPr>
              <a:t>//</a:t>
            </a:r>
            <a:r>
              <a:rPr lang="zh-CN" altLang="en-US" sz="2800" b="1" dirty="0">
                <a:solidFill>
                  <a:srgbClr val="800080"/>
                </a:solidFill>
                <a:effectLst>
                  <a:outerShdw blurRad="38100" dist="38100" dir="2700000" algn="tl">
                    <a:srgbClr val="C0C0C0"/>
                  </a:outerShdw>
                </a:effectLst>
                <a:latin typeface="+mn-lt"/>
                <a:ea typeface="仿宋_GB2312" panose="02010609030101010101" pitchFamily="49" charset="-122"/>
              </a:rPr>
              <a:t>返回</a:t>
            </a:r>
            <a:r>
              <a:rPr lang="zh-CN" altLang="en-US" sz="2800" b="1" dirty="0">
                <a:solidFill>
                  <a:srgbClr val="009900"/>
                </a:solidFill>
                <a:effectLst>
                  <a:outerShdw blurRad="38100" dist="38100" dir="2700000" algn="tl">
                    <a:srgbClr val="C0C0C0"/>
                  </a:outerShdw>
                </a:effectLst>
                <a:latin typeface="+mn-lt"/>
                <a:ea typeface="仿宋_GB2312" panose="02010609030101010101" pitchFamily="49" charset="-122"/>
              </a:rPr>
              <a:t> </a:t>
            </a:r>
            <a:r>
              <a:rPr lang="en-US" altLang="zh-CN" sz="2800" b="1" dirty="0">
                <a:solidFill>
                  <a:srgbClr val="009900"/>
                </a:solidFill>
                <a:effectLst>
                  <a:outerShdw blurRad="38100" dist="38100" dir="2700000" algn="tl">
                    <a:srgbClr val="C0C0C0"/>
                  </a:outerShdw>
                </a:effectLst>
                <a:latin typeface="+mn-lt"/>
                <a:ea typeface="仿宋_GB2312" panose="02010609030101010101" pitchFamily="49" charset="-122"/>
              </a:rPr>
              <a:t>1</a:t>
            </a:r>
            <a:r>
              <a:rPr lang="en-US" altLang="en-US" sz="2800" b="1" dirty="0">
                <a:solidFill>
                  <a:schemeClr val="tx2"/>
                </a:solidFill>
                <a:latin typeface="+mn-lt"/>
                <a:ea typeface="+mn-ea"/>
              </a:rPr>
              <a:t> </a:t>
            </a:r>
            <a:endParaRPr lang="en-US" altLang="zh-CN" sz="2800" b="1" dirty="0">
              <a:solidFill>
                <a:schemeClr val="tx2"/>
              </a:solidFill>
              <a:latin typeface="+mn-lt"/>
              <a:ea typeface="+mn-ea"/>
            </a:endParaRPr>
          </a:p>
        </p:txBody>
      </p:sp>
      <p:sp>
        <p:nvSpPr>
          <p:cNvPr id="188445" name="Text Box 29"/>
          <p:cNvSpPr txBox="1">
            <a:spLocks noChangeArrowheads="1"/>
          </p:cNvSpPr>
          <p:nvPr/>
        </p:nvSpPr>
        <p:spPr bwMode="auto">
          <a:xfrm>
            <a:off x="5148263" y="4098925"/>
            <a:ext cx="3241675" cy="519113"/>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en-US" altLang="zh-CN" sz="2800" b="1" dirty="0">
                <a:solidFill>
                  <a:schemeClr val="hlink"/>
                </a:solidFill>
                <a:latin typeface="+mn-lt"/>
                <a:ea typeface="+mn-ea"/>
              </a:rPr>
              <a:t>return 2*</a:t>
            </a:r>
            <a:r>
              <a:rPr lang="en-US" altLang="zh-CN" sz="2800" b="1" dirty="0">
                <a:solidFill>
                  <a:schemeClr val="tx2"/>
                </a:solidFill>
                <a:latin typeface="+mn-lt"/>
                <a:ea typeface="+mn-ea"/>
              </a:rPr>
              <a:t>1  </a:t>
            </a:r>
            <a:r>
              <a:rPr lang="en-US" altLang="zh-CN" sz="2800" b="1" dirty="0">
                <a:solidFill>
                  <a:srgbClr val="800080"/>
                </a:solidFill>
                <a:latin typeface="+mn-lt"/>
                <a:ea typeface="+mn-ea"/>
              </a:rPr>
              <a:t>//</a:t>
            </a:r>
            <a:r>
              <a:rPr lang="zh-CN" altLang="en-US" sz="2800" b="1" dirty="0">
                <a:solidFill>
                  <a:srgbClr val="800080"/>
                </a:solidFill>
                <a:effectLst>
                  <a:outerShdw blurRad="38100" dist="38100" dir="2700000" algn="tl">
                    <a:srgbClr val="C0C0C0"/>
                  </a:outerShdw>
                </a:effectLst>
                <a:latin typeface="+mn-lt"/>
                <a:ea typeface="仿宋_GB2312" panose="02010609030101010101" pitchFamily="49" charset="-122"/>
              </a:rPr>
              <a:t>返回</a:t>
            </a:r>
            <a:r>
              <a:rPr lang="zh-CN" altLang="en-US" sz="2800" b="1" dirty="0">
                <a:solidFill>
                  <a:srgbClr val="009900"/>
                </a:solidFill>
                <a:effectLst>
                  <a:outerShdw blurRad="38100" dist="38100" dir="2700000" algn="tl">
                    <a:srgbClr val="C0C0C0"/>
                  </a:outerShdw>
                </a:effectLst>
                <a:latin typeface="+mn-lt"/>
                <a:ea typeface="仿宋_GB2312" panose="02010609030101010101" pitchFamily="49" charset="-122"/>
              </a:rPr>
              <a:t> </a:t>
            </a:r>
            <a:r>
              <a:rPr lang="en-US" altLang="zh-CN" sz="2800" b="1" dirty="0">
                <a:solidFill>
                  <a:srgbClr val="009900"/>
                </a:solidFill>
                <a:effectLst>
                  <a:outerShdw blurRad="38100" dist="38100" dir="2700000" algn="tl">
                    <a:srgbClr val="C0C0C0"/>
                  </a:outerShdw>
                </a:effectLst>
                <a:latin typeface="+mn-lt"/>
                <a:ea typeface="仿宋_GB2312" panose="02010609030101010101" pitchFamily="49" charset="-122"/>
              </a:rPr>
              <a:t>2</a:t>
            </a:r>
            <a:r>
              <a:rPr lang="en-US" altLang="en-US" sz="2800" b="1" dirty="0">
                <a:solidFill>
                  <a:schemeClr val="tx2"/>
                </a:solidFill>
                <a:latin typeface="+mn-lt"/>
                <a:ea typeface="+mn-ea"/>
              </a:rPr>
              <a:t> </a:t>
            </a:r>
            <a:endParaRPr lang="en-US" altLang="zh-CN" sz="2800" b="1" dirty="0">
              <a:solidFill>
                <a:schemeClr val="tx2"/>
              </a:solidFill>
              <a:latin typeface="+mn-lt"/>
              <a:ea typeface="+mn-ea"/>
            </a:endParaRPr>
          </a:p>
        </p:txBody>
      </p:sp>
      <p:sp>
        <p:nvSpPr>
          <p:cNvPr id="63517" name="Line 30"/>
          <p:cNvSpPr>
            <a:spLocks noChangeShapeType="1"/>
          </p:cNvSpPr>
          <p:nvPr/>
        </p:nvSpPr>
        <p:spPr bwMode="auto">
          <a:xfrm>
            <a:off x="3243263" y="22701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18" name="Line 31"/>
          <p:cNvSpPr>
            <a:spLocks noChangeShapeType="1"/>
          </p:cNvSpPr>
          <p:nvPr/>
        </p:nvSpPr>
        <p:spPr bwMode="auto">
          <a:xfrm flipV="1">
            <a:off x="3243263" y="21177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19" name="Line 32"/>
          <p:cNvSpPr>
            <a:spLocks noChangeShapeType="1"/>
          </p:cNvSpPr>
          <p:nvPr/>
        </p:nvSpPr>
        <p:spPr bwMode="auto">
          <a:xfrm>
            <a:off x="3243263" y="31845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0" name="Line 33"/>
          <p:cNvSpPr>
            <a:spLocks noChangeShapeType="1"/>
          </p:cNvSpPr>
          <p:nvPr/>
        </p:nvSpPr>
        <p:spPr bwMode="auto">
          <a:xfrm flipV="1">
            <a:off x="3243263" y="30321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1" name="Line 34"/>
          <p:cNvSpPr>
            <a:spLocks noChangeShapeType="1"/>
          </p:cNvSpPr>
          <p:nvPr/>
        </p:nvSpPr>
        <p:spPr bwMode="auto">
          <a:xfrm>
            <a:off x="3243263" y="40989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2" name="Line 35"/>
          <p:cNvSpPr>
            <a:spLocks noChangeShapeType="1"/>
          </p:cNvSpPr>
          <p:nvPr/>
        </p:nvSpPr>
        <p:spPr bwMode="auto">
          <a:xfrm flipV="1">
            <a:off x="3243263" y="39465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3" name="Line 36"/>
          <p:cNvSpPr>
            <a:spLocks noChangeShapeType="1"/>
          </p:cNvSpPr>
          <p:nvPr/>
        </p:nvSpPr>
        <p:spPr bwMode="auto">
          <a:xfrm>
            <a:off x="3243263" y="50133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4" name="Line 37"/>
          <p:cNvSpPr>
            <a:spLocks noChangeShapeType="1"/>
          </p:cNvSpPr>
          <p:nvPr/>
        </p:nvSpPr>
        <p:spPr bwMode="auto">
          <a:xfrm flipV="1">
            <a:off x="3243263" y="48609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5" name="Line 38"/>
          <p:cNvSpPr>
            <a:spLocks noChangeShapeType="1"/>
          </p:cNvSpPr>
          <p:nvPr/>
        </p:nvSpPr>
        <p:spPr bwMode="auto">
          <a:xfrm>
            <a:off x="3243263" y="5927725"/>
            <a:ext cx="0" cy="533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6" name="Line 39"/>
          <p:cNvSpPr>
            <a:spLocks noChangeShapeType="1"/>
          </p:cNvSpPr>
          <p:nvPr/>
        </p:nvSpPr>
        <p:spPr bwMode="auto">
          <a:xfrm flipV="1">
            <a:off x="3243263" y="5775325"/>
            <a:ext cx="152400" cy="152400"/>
          </a:xfrm>
          <a:prstGeom prst="line">
            <a:avLst/>
          </a:prstGeom>
          <a:noFill/>
          <a:ln w="952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27" name="标题 1"/>
          <p:cNvSpPr>
            <a:spLocks noGrp="1" noChangeArrowheads="1"/>
          </p:cNvSpPr>
          <p:nvPr>
            <p:ph type="title"/>
          </p:nvPr>
        </p:nvSpPr>
        <p:spPr/>
        <p:txBody>
          <a:bodyPr/>
          <a:lstStyle/>
          <a:p>
            <a:r>
              <a:rPr lang="zh-CN" altLang="en-US" dirty="0"/>
              <a:t>计算</a:t>
            </a:r>
            <a:r>
              <a:rPr lang="en-US" altLang="zh-CN" dirty="0"/>
              <a:t>Fact</a:t>
            </a:r>
            <a:r>
              <a:rPr lang="zh-CN" altLang="en-US" dirty="0"/>
              <a:t>时活动记录的内容</a:t>
            </a:r>
            <a:endParaRPr lang="zh-CN" altLang="en-US" dirty="0"/>
          </a:p>
        </p:txBody>
      </p:sp>
      <p:sp>
        <p:nvSpPr>
          <p:cNvPr id="3" name="灯片编号占位符 2"/>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证明递归算法的正确性</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递归算法在结构上与常见的数学归纳法类似，往往可以用数学归纳法来证明其正确性。证明分为两个部分</a:t>
            </a:r>
            <a:endParaRPr lang="en-US" altLang="zh-CN" dirty="0"/>
          </a:p>
          <a:p>
            <a:pPr lvl="1"/>
            <a:r>
              <a:rPr lang="zh-CN" altLang="en-US" dirty="0"/>
              <a:t>一个是递归的基础，也就是作为递归终止状态的最基础的情况</a:t>
            </a:r>
            <a:endParaRPr lang="en-US" altLang="zh-CN" dirty="0"/>
          </a:p>
          <a:p>
            <a:pPr lvl="2"/>
            <a:r>
              <a:rPr lang="zh-CN" altLang="en-US" dirty="0"/>
              <a:t>例如在</a:t>
            </a:r>
            <a:r>
              <a:rPr lang="en-US" altLang="zh-CN" dirty="0"/>
              <a:t>Hanoi</a:t>
            </a:r>
            <a:r>
              <a:rPr lang="zh-CN" altLang="en-US" dirty="0"/>
              <a:t>塔问题中，</a:t>
            </a:r>
            <a:r>
              <a:rPr lang="en-US" altLang="zh-CN" dirty="0"/>
              <a:t>n=1</a:t>
            </a:r>
            <a:r>
              <a:rPr lang="zh-CN" altLang="en-US" dirty="0"/>
              <a:t>的情况。</a:t>
            </a:r>
            <a:endParaRPr lang="en-US" altLang="zh-CN" dirty="0"/>
          </a:p>
          <a:p>
            <a:pPr lvl="1"/>
            <a:r>
              <a:rPr lang="zh-CN" altLang="en-US" dirty="0"/>
              <a:t>假设</a:t>
            </a:r>
            <a:r>
              <a:rPr lang="en-US" altLang="zh-CN" dirty="0"/>
              <a:t>n = k-1</a:t>
            </a:r>
            <a:r>
              <a:rPr lang="zh-CN" altLang="en-US" dirty="0"/>
              <a:t>时算法正确，接下来证明</a:t>
            </a:r>
            <a:r>
              <a:rPr lang="en-US" altLang="zh-CN" dirty="0"/>
              <a:t>n = k</a:t>
            </a:r>
            <a:r>
              <a:rPr lang="zh-CN" altLang="en-US" dirty="0"/>
              <a:t>的情况</a:t>
            </a:r>
            <a:endParaRPr lang="en-US" altLang="zh-CN" dirty="0"/>
          </a:p>
          <a:p>
            <a:pPr lvl="2"/>
            <a:r>
              <a:rPr lang="zh-CN" altLang="en-US" dirty="0"/>
              <a:t>例如证明</a:t>
            </a:r>
            <a:r>
              <a:rPr lang="en-US" altLang="zh-CN" dirty="0"/>
              <a:t>n=k</a:t>
            </a:r>
            <a:r>
              <a:rPr lang="zh-CN" altLang="en-US" dirty="0"/>
              <a:t>规模的</a:t>
            </a:r>
            <a:r>
              <a:rPr lang="en-US" altLang="zh-CN" dirty="0"/>
              <a:t>Hanoi</a:t>
            </a:r>
            <a:r>
              <a:rPr lang="zh-CN" altLang="en-US" dirty="0"/>
              <a:t>塔问题的解法正确。</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递归应用</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递归与回溯常用于搜索过程</a:t>
            </a:r>
            <a:endParaRPr lang="zh-CN" altLang="en-US" dirty="0"/>
          </a:p>
          <a:p>
            <a:pPr lvl="1"/>
            <a:r>
              <a:rPr lang="zh-CN" altLang="en-US" dirty="0"/>
              <a:t>搜索空间通常包含许多结点，且每个结点有多个分支，每次选择一个分支搜索。</a:t>
            </a:r>
            <a:endParaRPr lang="en-US" altLang="zh-CN" dirty="0"/>
          </a:p>
          <a:p>
            <a:pPr lvl="1"/>
            <a:r>
              <a:rPr lang="zh-CN" altLang="en-US" dirty="0"/>
              <a:t>当搜索到某一结点无法继续搜索下去时，则沿搜索路径回退到前一结点，选择另一分支继续搜索。这种回退并选择下一个方向的过程称为回溯</a:t>
            </a:r>
            <a:endParaRPr lang="zh-CN" altLang="en-US" dirty="0"/>
          </a:p>
          <a:p>
            <a:pPr lvl="1"/>
            <a:r>
              <a:rPr lang="zh-CN" altLang="en-US" dirty="0"/>
              <a:t>如果回退到的结点没有其它选择，则沿搜索路径继续回退，直到找到新的搜索分支，或者搜索到问题的解，或者搜索完全部可搜索的分支没有找到解。</a:t>
            </a:r>
            <a:endParaRPr lang="en-US" altLang="zh-CN" dirty="0"/>
          </a:p>
          <a:p>
            <a:r>
              <a:rPr lang="zh-CN" altLang="en-US" dirty="0"/>
              <a:t>上述过程的特点是逐一枚举和检验候选解</a:t>
            </a:r>
            <a:endParaRPr lang="zh-CN" altLang="en-US" dirty="0"/>
          </a:p>
          <a:p>
            <a:pPr lvl="1"/>
            <a:r>
              <a:rPr lang="zh-CN" altLang="en-US" dirty="0"/>
              <a:t>常采用递归过程实现</a:t>
            </a:r>
            <a:endParaRPr lang="en-US" altLang="zh-CN" dirty="0"/>
          </a:p>
          <a:p>
            <a:pPr lvl="1"/>
            <a:r>
              <a:rPr lang="zh-CN" altLang="en-US" dirty="0"/>
              <a:t>也可用栈配合循环的方式求解。</a:t>
            </a:r>
            <a:endParaRPr lang="en-US" altLang="zh-CN"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noChangeArrowheads="1"/>
          </p:cNvSpPr>
          <p:nvPr>
            <p:ph type="title"/>
          </p:nvPr>
        </p:nvSpPr>
        <p:spPr/>
        <p:txBody>
          <a:bodyPr/>
          <a:lstStyle/>
          <a:p>
            <a:pPr eaLnBrk="1" hangingPunct="1"/>
            <a:r>
              <a:rPr lang="zh-CN" altLang="en-US" dirty="0"/>
              <a:t>第</a:t>
            </a:r>
            <a:r>
              <a:rPr lang="en-US" altLang="zh-CN" dirty="0"/>
              <a:t>3</a:t>
            </a:r>
            <a:r>
              <a:rPr lang="zh-CN" altLang="en-US" dirty="0"/>
              <a:t>章作业</a:t>
            </a:r>
            <a:r>
              <a:rPr lang="en-US" altLang="zh-CN" dirty="0"/>
              <a:t>1</a:t>
            </a:r>
            <a:endParaRPr lang="zh-CN" altLang="en-US" dirty="0"/>
          </a:p>
        </p:txBody>
      </p:sp>
      <p:sp>
        <p:nvSpPr>
          <p:cNvPr id="3" name="内容占位符 2"/>
          <p:cNvSpPr>
            <a:spLocks noGrp="1"/>
          </p:cNvSpPr>
          <p:nvPr>
            <p:ph idx="1"/>
          </p:nvPr>
        </p:nvSpPr>
        <p:spPr>
          <a:xfrm>
            <a:off x="628650" y="1825624"/>
            <a:ext cx="7886700" cy="4530725"/>
          </a:xfrm>
        </p:spPr>
        <p:txBody>
          <a:bodyPr rtlCol="0">
            <a:normAutofit fontScale="62500" lnSpcReduction="20000"/>
          </a:bodyPr>
          <a:lstStyle/>
          <a:p>
            <a:pPr eaLnBrk="1" hangingPunct="1">
              <a:defRPr/>
            </a:pPr>
            <a:r>
              <a:rPr lang="en-US" altLang="zh-CN" dirty="0"/>
              <a:t>1</a:t>
            </a:r>
            <a:r>
              <a:rPr lang="zh-CN" altLang="en-US" dirty="0"/>
              <a:t>、一个栈的入栈序列为</a:t>
            </a:r>
            <a:r>
              <a:rPr lang="en-US" altLang="zh-CN" dirty="0"/>
              <a:t>1,2,3, ,n</a:t>
            </a:r>
            <a:r>
              <a:rPr lang="zh-CN" altLang="en-US" dirty="0"/>
              <a:t>，其出栈序列是</a:t>
            </a:r>
            <a:r>
              <a:rPr lang="en-US" altLang="zh-CN" dirty="0"/>
              <a:t>p1, p2, p3, , </a:t>
            </a:r>
            <a:r>
              <a:rPr lang="en-US" altLang="zh-CN" dirty="0" err="1"/>
              <a:t>pn</a:t>
            </a:r>
            <a:r>
              <a:rPr lang="zh-CN" altLang="en-US" dirty="0"/>
              <a:t>。若 </a:t>
            </a:r>
            <a:r>
              <a:rPr lang="en-US" altLang="zh-CN" dirty="0"/>
              <a:t>p2 = 3</a:t>
            </a:r>
            <a:r>
              <a:rPr lang="zh-CN" altLang="en-US" dirty="0"/>
              <a:t>，则</a:t>
            </a:r>
            <a:r>
              <a:rPr lang="en-US" altLang="zh-CN" dirty="0"/>
              <a:t>p3</a:t>
            </a:r>
            <a:r>
              <a:rPr lang="zh-CN" altLang="en-US" dirty="0"/>
              <a:t>可能取值的个数是，请解释理由：    </a:t>
            </a:r>
            <a:endParaRPr lang="en-US" altLang="zh-CN" dirty="0"/>
          </a:p>
          <a:p>
            <a:pPr lvl="1" eaLnBrk="1" hangingPunct="1">
              <a:defRPr/>
            </a:pPr>
            <a:r>
              <a:rPr lang="en-US" altLang="zh-CN" dirty="0"/>
              <a:t>A. n – 3      B. n – 2      C. n – 1     D. </a:t>
            </a:r>
            <a:r>
              <a:rPr lang="zh-CN" altLang="en-US" dirty="0"/>
              <a:t>无法确定 </a:t>
            </a:r>
            <a:endParaRPr lang="en-US" altLang="zh-CN" dirty="0"/>
          </a:p>
          <a:p>
            <a:pPr eaLnBrk="1" hangingPunct="1">
              <a:defRPr/>
            </a:pPr>
            <a:r>
              <a:rPr lang="en-US" altLang="zh-CN" dirty="0"/>
              <a:t>2</a:t>
            </a:r>
            <a:r>
              <a:rPr lang="zh-CN" altLang="en-US" dirty="0"/>
              <a:t>、写出以下表达式的后缀表达式</a:t>
            </a:r>
            <a:endParaRPr lang="en-US" altLang="zh-CN" dirty="0"/>
          </a:p>
          <a:p>
            <a:pPr lvl="1" eaLnBrk="1" hangingPunct="1">
              <a:defRPr/>
            </a:pPr>
            <a:r>
              <a:rPr lang="zh-CN" altLang="en-US" dirty="0"/>
              <a:t>（</a:t>
            </a:r>
            <a:r>
              <a:rPr lang="en-US" altLang="zh-CN" dirty="0"/>
              <a:t>1</a:t>
            </a:r>
            <a:r>
              <a:rPr lang="zh-CN" altLang="en-US" dirty="0"/>
              <a:t>）</a:t>
            </a:r>
            <a:r>
              <a:rPr lang="en-US" altLang="zh-CN" dirty="0"/>
              <a:t>a*(</a:t>
            </a:r>
            <a:r>
              <a:rPr lang="en-US" altLang="zh-CN" dirty="0" err="1"/>
              <a:t>b+c</a:t>
            </a:r>
            <a:r>
              <a:rPr lang="en-US" altLang="zh-CN" dirty="0"/>
              <a:t>)-d</a:t>
            </a:r>
            <a:endParaRPr lang="en-US" altLang="zh-CN" dirty="0"/>
          </a:p>
          <a:p>
            <a:pPr lvl="1" eaLnBrk="1" hangingPunct="1">
              <a:defRPr/>
            </a:pPr>
            <a:r>
              <a:rPr lang="zh-CN" altLang="en-US" dirty="0"/>
              <a:t>（</a:t>
            </a:r>
            <a:r>
              <a:rPr lang="en-US" altLang="zh-CN" dirty="0"/>
              <a:t>2</a:t>
            </a:r>
            <a:r>
              <a:rPr lang="zh-CN" altLang="en-US" dirty="0"/>
              <a:t>）</a:t>
            </a:r>
            <a:r>
              <a:rPr lang="en-US" altLang="zh-CN" dirty="0"/>
              <a:t>(</a:t>
            </a:r>
            <a:r>
              <a:rPr lang="en-US" altLang="zh-CN" dirty="0" err="1"/>
              <a:t>a+a</a:t>
            </a:r>
            <a:r>
              <a:rPr lang="en-US" altLang="zh-CN" dirty="0"/>
              <a:t>*b)*</a:t>
            </a:r>
            <a:r>
              <a:rPr lang="en-US" altLang="zh-CN" dirty="0" err="1"/>
              <a:t>a+c</a:t>
            </a:r>
            <a:r>
              <a:rPr lang="en-US" altLang="zh-CN" dirty="0"/>
              <a:t>*b/a</a:t>
            </a:r>
            <a:endParaRPr lang="en-US" altLang="zh-CN" dirty="0"/>
          </a:p>
          <a:p>
            <a:pPr lvl="1" eaLnBrk="1" hangingPunct="1">
              <a:defRPr/>
            </a:pPr>
            <a:r>
              <a:rPr lang="zh-CN" altLang="en-US" dirty="0"/>
              <a:t>（</a:t>
            </a:r>
            <a:r>
              <a:rPr lang="en-US" altLang="zh-CN" dirty="0"/>
              <a:t>3</a:t>
            </a:r>
            <a:r>
              <a:rPr lang="zh-CN" altLang="en-US" dirty="0"/>
              <a:t>）</a:t>
            </a:r>
            <a:r>
              <a:rPr lang="en-US" altLang="zh-CN" dirty="0"/>
              <a:t>a+((b*c-d)/</a:t>
            </a:r>
            <a:r>
              <a:rPr lang="en-US" altLang="zh-CN" dirty="0" err="1"/>
              <a:t>e+f</a:t>
            </a:r>
            <a:r>
              <a:rPr lang="en-US" altLang="zh-CN" dirty="0"/>
              <a:t>*g/h)+</a:t>
            </a:r>
            <a:r>
              <a:rPr lang="en-US" altLang="zh-CN" dirty="0" err="1"/>
              <a:t>i</a:t>
            </a:r>
            <a:r>
              <a:rPr lang="en-US" altLang="zh-CN" dirty="0"/>
              <a:t>/j</a:t>
            </a:r>
            <a:endParaRPr lang="en-US" altLang="zh-CN" dirty="0"/>
          </a:p>
          <a:p>
            <a:pPr eaLnBrk="1" hangingPunct="1">
              <a:defRPr/>
            </a:pPr>
            <a:r>
              <a:rPr lang="en-US" altLang="zh-CN" dirty="0"/>
              <a:t>3</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pPr lvl="1" eaLnBrk="1" hangingPunct="1">
              <a:defRPr/>
            </a:pPr>
            <a:r>
              <a:rPr lang="en-US" altLang="zh-CN" dirty="0"/>
              <a:t>3.1</a:t>
            </a:r>
            <a:r>
              <a:rPr lang="zh-CN" altLang="en-US" dirty="0"/>
              <a:t>、给定整数顺序表</a:t>
            </a:r>
            <a:r>
              <a:rPr lang="en-US" altLang="zh-CN" dirty="0"/>
              <a:t>A</a:t>
            </a:r>
            <a:r>
              <a:rPr lang="zh-CN" altLang="en-US" dirty="0"/>
              <a:t>和</a:t>
            </a:r>
            <a:r>
              <a:rPr lang="en-US" altLang="zh-CN" dirty="0"/>
              <a:t>B</a:t>
            </a:r>
            <a:r>
              <a:rPr lang="zh-CN" altLang="en-US" dirty="0"/>
              <a:t>，写程序判断能否利用栈从</a:t>
            </a:r>
            <a:r>
              <a:rPr lang="en-US" altLang="zh-CN" dirty="0"/>
              <a:t>A</a:t>
            </a:r>
            <a:r>
              <a:rPr lang="zh-CN" altLang="en-US" dirty="0"/>
              <a:t>得到</a:t>
            </a:r>
            <a:r>
              <a:rPr lang="en-US" altLang="zh-CN" dirty="0"/>
              <a:t>B</a:t>
            </a:r>
            <a:r>
              <a:rPr lang="zh-CN" altLang="en-US" dirty="0"/>
              <a:t>。例如顺序表</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6}</a:t>
            </a:r>
            <a:r>
              <a:rPr lang="zh-CN" altLang="en-US" dirty="0"/>
              <a:t>，通过栈可以得到</a:t>
            </a:r>
            <a:r>
              <a:rPr lang="en-US" altLang="zh-CN" dirty="0"/>
              <a:t>{3</a:t>
            </a:r>
            <a:r>
              <a:rPr lang="zh-CN" altLang="en-US" dirty="0"/>
              <a:t>，</a:t>
            </a:r>
            <a:r>
              <a:rPr lang="en-US" altLang="zh-CN" dirty="0"/>
              <a:t>2</a:t>
            </a:r>
            <a:r>
              <a:rPr lang="zh-CN" altLang="en-US" dirty="0"/>
              <a:t>，</a:t>
            </a:r>
            <a:r>
              <a:rPr lang="en-US" altLang="zh-CN" dirty="0"/>
              <a:t>5</a:t>
            </a:r>
            <a:r>
              <a:rPr lang="zh-CN" altLang="en-US" dirty="0"/>
              <a:t>，</a:t>
            </a:r>
            <a:r>
              <a:rPr lang="en-US" altLang="zh-CN" dirty="0"/>
              <a:t>6</a:t>
            </a:r>
            <a:r>
              <a:rPr lang="zh-CN" altLang="en-US" dirty="0"/>
              <a:t>，</a:t>
            </a:r>
            <a:r>
              <a:rPr lang="en-US" altLang="zh-CN" dirty="0"/>
              <a:t>4</a:t>
            </a:r>
            <a:r>
              <a:rPr lang="zh-CN" altLang="en-US" dirty="0"/>
              <a:t>，</a:t>
            </a:r>
            <a:r>
              <a:rPr lang="en-US" altLang="zh-CN" dirty="0"/>
              <a:t>1}</a:t>
            </a:r>
            <a:r>
              <a:rPr lang="zh-CN" altLang="en-US" dirty="0"/>
              <a:t>，但不能得到</a:t>
            </a:r>
            <a:r>
              <a:rPr lang="en-US" altLang="zh-CN" dirty="0"/>
              <a:t>{1</a:t>
            </a:r>
            <a:r>
              <a:rPr lang="zh-CN" altLang="en-US" dirty="0"/>
              <a:t>，</a:t>
            </a:r>
            <a:r>
              <a:rPr lang="en-US" altLang="zh-CN" dirty="0"/>
              <a:t>5</a:t>
            </a:r>
            <a:r>
              <a:rPr lang="zh-CN" altLang="en-US" dirty="0"/>
              <a:t>，</a:t>
            </a:r>
            <a:r>
              <a:rPr lang="en-US" altLang="zh-CN" dirty="0"/>
              <a:t>4</a:t>
            </a:r>
            <a:r>
              <a:rPr lang="zh-CN" altLang="en-US" dirty="0"/>
              <a:t>，</a:t>
            </a:r>
            <a:r>
              <a:rPr lang="en-US" altLang="zh-CN" dirty="0"/>
              <a:t>6</a:t>
            </a:r>
            <a:r>
              <a:rPr lang="zh-CN" altLang="en-US" dirty="0"/>
              <a:t>，</a:t>
            </a:r>
            <a:r>
              <a:rPr lang="en-US" altLang="zh-CN" dirty="0"/>
              <a:t>2</a:t>
            </a:r>
            <a:r>
              <a:rPr lang="zh-CN" altLang="en-US" dirty="0"/>
              <a:t>，</a:t>
            </a:r>
            <a:r>
              <a:rPr lang="en-US" altLang="zh-CN" dirty="0"/>
              <a:t>3}</a:t>
            </a:r>
            <a:r>
              <a:rPr lang="zh-CN" altLang="en-US" dirty="0"/>
              <a:t>。规定一个顺序表内不包含重复的整数。</a:t>
            </a:r>
            <a:endParaRPr lang="en-US" altLang="zh-CN" dirty="0"/>
          </a:p>
          <a:p>
            <a:pPr lvl="1" eaLnBrk="1" hangingPunct="1">
              <a:defRPr/>
            </a:pPr>
            <a:r>
              <a:rPr lang="en-US" altLang="zh-CN" dirty="0"/>
              <a:t>3.2</a:t>
            </a:r>
            <a:r>
              <a:rPr lang="zh-CN" altLang="en-US" dirty="0"/>
              <a:t>、设计一个递归算法，输出从自然数</a:t>
            </a:r>
            <a:r>
              <a:rPr lang="en-US" altLang="zh-CN" dirty="0"/>
              <a:t>1</a:t>
            </a:r>
            <a:r>
              <a:rPr lang="zh-CN" altLang="en-US" dirty="0"/>
              <a:t>、</a:t>
            </a:r>
            <a:r>
              <a:rPr lang="en-US" altLang="zh-CN" dirty="0"/>
              <a:t>2</a:t>
            </a:r>
            <a:r>
              <a:rPr lang="zh-CN" altLang="en-US" dirty="0"/>
              <a:t>、</a:t>
            </a:r>
            <a:r>
              <a:rPr lang="en-US" altLang="zh-CN" dirty="0"/>
              <a:t>…</a:t>
            </a:r>
            <a:r>
              <a:rPr lang="zh-CN" altLang="en-US" dirty="0"/>
              <a:t>、</a:t>
            </a:r>
            <a:r>
              <a:rPr lang="en-US" altLang="zh-CN" dirty="0"/>
              <a:t>m</a:t>
            </a:r>
            <a:r>
              <a:rPr lang="zh-CN" altLang="en-US" dirty="0"/>
              <a:t>中任取</a:t>
            </a:r>
            <a:r>
              <a:rPr lang="en-US" altLang="zh-CN" dirty="0"/>
              <a:t>k</a:t>
            </a:r>
            <a:r>
              <a:rPr lang="zh-CN" altLang="en-US" dirty="0"/>
              <a:t>个数的所有组合</a:t>
            </a:r>
            <a:endParaRPr lang="zh-CN" altLang="en-US" dirty="0"/>
          </a:p>
        </p:txBody>
      </p:sp>
      <p:sp>
        <p:nvSpPr>
          <p:cNvPr id="4" name="灯片编号占位符 3"/>
          <p:cNvSpPr>
            <a:spLocks noGrp="1"/>
          </p:cNvSpPr>
          <p:nvPr>
            <p:ph type="sldNum" sz="quarter" idx="12"/>
          </p:nvPr>
        </p:nvSpPr>
        <p:spPr/>
        <p:txBody>
          <a:bodyPr/>
          <a:lstStyle/>
          <a:p>
            <a:pPr>
              <a:defRPr/>
            </a:pPr>
            <a:fld id="{B5BC911E-3F47-467D-8870-16B0A2E850D8}" type="slidenum">
              <a:rPr lang="en-US" altLang="zh-CN" smtClean="0"/>
            </a:fld>
            <a:endParaRPr lang="en-US" altLang="zh-CN"/>
          </a:p>
        </p:txBody>
      </p:sp>
    </p:spTree>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递归方法的缺点</a:t>
            </a:r>
            <a:endParaRPr lang="zh-CN" altLang="en-US" dirty="0"/>
          </a:p>
        </p:txBody>
      </p:sp>
      <p:sp>
        <p:nvSpPr>
          <p:cNvPr id="3" name="内容占位符 2"/>
          <p:cNvSpPr>
            <a:spLocks noGrp="1"/>
          </p:cNvSpPr>
          <p:nvPr>
            <p:ph idx="1"/>
          </p:nvPr>
        </p:nvSpPr>
        <p:spPr/>
        <p:txBody>
          <a:bodyPr>
            <a:normAutofit/>
          </a:bodyPr>
          <a:lstStyle/>
          <a:p>
            <a:r>
              <a:rPr lang="zh-CN" altLang="en-US" dirty="0"/>
              <a:t>递归方法是一种很有效很自然的分析和描述问题的方法</a:t>
            </a:r>
            <a:endParaRPr lang="en-US" altLang="zh-CN" dirty="0"/>
          </a:p>
          <a:p>
            <a:pPr lvl="1"/>
            <a:r>
              <a:rPr lang="zh-CN" altLang="en-US" dirty="0"/>
              <a:t>但由于反复函数调用，会导致效率低、重复计算等问题，有时需要先用递归的思想分析和描述问题，然后转化成为非递归算法以提高运算效率。</a:t>
            </a:r>
            <a:endParaRPr lang="en-US" altLang="zh-CN"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递归转非递归的方法</a:t>
            </a:r>
            <a:endParaRPr lang="zh-CN" altLang="en-US" dirty="0"/>
          </a:p>
        </p:txBody>
      </p:sp>
      <p:sp>
        <p:nvSpPr>
          <p:cNvPr id="3" name="内容占位符 2"/>
          <p:cNvSpPr>
            <a:spLocks noGrp="1"/>
          </p:cNvSpPr>
          <p:nvPr>
            <p:ph idx="1"/>
          </p:nvPr>
        </p:nvSpPr>
        <p:spPr/>
        <p:txBody>
          <a:bodyPr>
            <a:normAutofit fontScale="92500"/>
          </a:bodyPr>
          <a:lstStyle/>
          <a:p>
            <a:r>
              <a:rPr lang="zh-CN" altLang="en-US" dirty="0"/>
              <a:t>思路</a:t>
            </a:r>
            <a:r>
              <a:rPr lang="en-US" altLang="zh-CN" dirty="0"/>
              <a:t>1</a:t>
            </a:r>
            <a:r>
              <a:rPr lang="zh-CN" altLang="en-US" dirty="0"/>
              <a:t>：寻找与递归算法思路完全不同的非递归算法，这有时候比较困难。</a:t>
            </a:r>
            <a:endParaRPr lang="en-US" altLang="zh-CN" dirty="0"/>
          </a:p>
          <a:p>
            <a:r>
              <a:rPr lang="zh-CN" altLang="en-US" dirty="0"/>
              <a:t>思路</a:t>
            </a:r>
            <a:r>
              <a:rPr lang="en-US" altLang="zh-CN" dirty="0"/>
              <a:t>2</a:t>
            </a:r>
            <a:r>
              <a:rPr lang="zh-CN" altLang="en-US" dirty="0"/>
              <a:t>：改用循环，把递归过程中的每次递归调用替换为入栈递归工作记录，每次递归返回替换为出栈递归工作记录，就可以构造出对应的非递归算法。</a:t>
            </a:r>
            <a:endParaRPr lang="en-US" altLang="zh-CN" dirty="0"/>
          </a:p>
          <a:p>
            <a:pPr lvl="1"/>
            <a:r>
              <a:rPr lang="zh-CN" altLang="en-US" dirty="0"/>
              <a:t>在此基础上，进一步消除循环结构中的多余操作和递归工作记录中的多余数据。</a:t>
            </a:r>
            <a:endParaRPr lang="en-US" altLang="zh-CN"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例：</a:t>
            </a:r>
            <a:r>
              <a:rPr lang="en-US" altLang="zh-CN" dirty="0"/>
              <a:t>Fib</a:t>
            </a:r>
            <a:r>
              <a:rPr lang="zh-CN" altLang="en-US" dirty="0"/>
              <a:t>函数的非递归算法</a:t>
            </a:r>
            <a:endParaRPr lang="zh-CN" altLang="en-US" dirty="0"/>
          </a:p>
        </p:txBody>
      </p:sp>
      <p:sp>
        <p:nvSpPr>
          <p:cNvPr id="3" name="内容占位符 2"/>
          <p:cNvSpPr>
            <a:spLocks noGrp="1"/>
          </p:cNvSpPr>
          <p:nvPr>
            <p:ph idx="1"/>
          </p:nvPr>
        </p:nvSpPr>
        <p:spPr/>
        <p:txBody>
          <a:bodyPr/>
          <a:lstStyle/>
          <a:p>
            <a:r>
              <a:rPr lang="zh-CN" altLang="en-US" dirty="0"/>
              <a:t>根据求斐波那契数的递归算法</a:t>
            </a:r>
            <a:endParaRPr lang="en-US" altLang="zh-CN" dirty="0"/>
          </a:p>
          <a:p>
            <a:pPr marL="342900" lvl="1" indent="0">
              <a:buNone/>
            </a:pPr>
            <a:r>
              <a:rPr lang="en-US" altLang="zh-CN" dirty="0"/>
              <a:t>long Fib( long n ) {</a:t>
            </a:r>
            <a:endParaRPr lang="en-US" altLang="zh-CN" dirty="0"/>
          </a:p>
          <a:p>
            <a:pPr marL="342900" lvl="1" indent="0">
              <a:buNone/>
            </a:pPr>
            <a:r>
              <a:rPr lang="en-US" altLang="zh-CN" dirty="0"/>
              <a:t>      if (( n == 0 )||( n == 1 )) return n;</a:t>
            </a:r>
            <a:endParaRPr lang="en-US" altLang="zh-CN" dirty="0"/>
          </a:p>
          <a:p>
            <a:pPr marL="342900" lvl="1" indent="0">
              <a:buNone/>
            </a:pPr>
            <a:r>
              <a:rPr lang="en-US" altLang="zh-CN" dirty="0"/>
              <a:t>      else return Fib(n-1) + Fib(n-2);</a:t>
            </a:r>
            <a:endParaRPr lang="en-US" altLang="zh-CN" dirty="0"/>
          </a:p>
          <a:p>
            <a:pPr marL="342900" lvl="1" indent="0">
              <a:buNone/>
            </a:pPr>
            <a:r>
              <a:rPr lang="en-US" altLang="zh-CN" dirty="0"/>
              <a:t>}</a:t>
            </a:r>
            <a:endParaRPr lang="en-US" altLang="zh-CN" dirty="0"/>
          </a:p>
          <a:p>
            <a:r>
              <a:rPr lang="zh-CN" altLang="en-US" dirty="0"/>
              <a:t>可以得到以下的递归调用树</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Line 2"/>
          <p:cNvSpPr>
            <a:spLocks noChangeShapeType="1"/>
          </p:cNvSpPr>
          <p:nvPr/>
        </p:nvSpPr>
        <p:spPr bwMode="auto">
          <a:xfrm>
            <a:off x="1981200" y="3810000"/>
            <a:ext cx="381000" cy="381000"/>
          </a:xfrm>
          <a:prstGeom prst="line">
            <a:avLst/>
          </a:prstGeom>
          <a:noFill/>
          <a:ln w="28575">
            <a:solidFill>
              <a:schemeClr val="accent6"/>
            </a:solidFill>
            <a:round/>
          </a:ln>
        </p:spPr>
        <p:txBody>
          <a:bodyPr wrap="none" anchor="ctr"/>
          <a:lstStyle/>
          <a:p>
            <a:endParaRPr lang="zh-CN" altLang="en-US"/>
          </a:p>
        </p:txBody>
      </p:sp>
      <p:sp>
        <p:nvSpPr>
          <p:cNvPr id="66563" name="Line 3"/>
          <p:cNvSpPr>
            <a:spLocks noChangeShapeType="1"/>
          </p:cNvSpPr>
          <p:nvPr/>
        </p:nvSpPr>
        <p:spPr bwMode="auto">
          <a:xfrm flipH="1">
            <a:off x="1143000" y="3810000"/>
            <a:ext cx="381000" cy="381000"/>
          </a:xfrm>
          <a:prstGeom prst="line">
            <a:avLst/>
          </a:prstGeom>
          <a:noFill/>
          <a:ln w="28575">
            <a:solidFill>
              <a:schemeClr val="accent6"/>
            </a:solidFill>
            <a:round/>
          </a:ln>
        </p:spPr>
        <p:txBody>
          <a:bodyPr wrap="none" anchor="ctr"/>
          <a:lstStyle/>
          <a:p>
            <a:endParaRPr lang="zh-CN" altLang="en-US"/>
          </a:p>
        </p:txBody>
      </p:sp>
      <p:sp>
        <p:nvSpPr>
          <p:cNvPr id="66564" name="Line 4"/>
          <p:cNvSpPr>
            <a:spLocks noChangeShapeType="1"/>
          </p:cNvSpPr>
          <p:nvPr/>
        </p:nvSpPr>
        <p:spPr bwMode="auto">
          <a:xfrm>
            <a:off x="2590800" y="2895600"/>
            <a:ext cx="381000" cy="381000"/>
          </a:xfrm>
          <a:prstGeom prst="line">
            <a:avLst/>
          </a:prstGeom>
          <a:noFill/>
          <a:ln w="28575">
            <a:solidFill>
              <a:schemeClr val="accent6"/>
            </a:solidFill>
            <a:round/>
          </a:ln>
        </p:spPr>
        <p:txBody>
          <a:bodyPr wrap="none" anchor="ctr"/>
          <a:lstStyle/>
          <a:p>
            <a:endParaRPr lang="zh-CN" altLang="en-US"/>
          </a:p>
        </p:txBody>
      </p:sp>
      <p:sp>
        <p:nvSpPr>
          <p:cNvPr id="66565" name="Line 5"/>
          <p:cNvSpPr>
            <a:spLocks noChangeShapeType="1"/>
          </p:cNvSpPr>
          <p:nvPr/>
        </p:nvSpPr>
        <p:spPr bwMode="auto">
          <a:xfrm flipH="1">
            <a:off x="1752600" y="2895600"/>
            <a:ext cx="381000" cy="381000"/>
          </a:xfrm>
          <a:prstGeom prst="line">
            <a:avLst/>
          </a:prstGeom>
          <a:noFill/>
          <a:ln w="28575">
            <a:solidFill>
              <a:schemeClr val="accent6"/>
            </a:solidFill>
            <a:round/>
          </a:ln>
        </p:spPr>
        <p:txBody>
          <a:bodyPr wrap="none" anchor="ctr"/>
          <a:lstStyle/>
          <a:p>
            <a:endParaRPr lang="zh-CN" altLang="en-US"/>
          </a:p>
        </p:txBody>
      </p:sp>
      <p:sp>
        <p:nvSpPr>
          <p:cNvPr id="66566" name="Line 6"/>
          <p:cNvSpPr>
            <a:spLocks noChangeShapeType="1"/>
          </p:cNvSpPr>
          <p:nvPr/>
        </p:nvSpPr>
        <p:spPr bwMode="auto">
          <a:xfrm>
            <a:off x="4800600" y="2895600"/>
            <a:ext cx="381000" cy="381000"/>
          </a:xfrm>
          <a:prstGeom prst="line">
            <a:avLst/>
          </a:prstGeom>
          <a:noFill/>
          <a:ln w="28575">
            <a:solidFill>
              <a:schemeClr val="accent6"/>
            </a:solidFill>
            <a:round/>
          </a:ln>
        </p:spPr>
        <p:txBody>
          <a:bodyPr wrap="none" anchor="ctr"/>
          <a:lstStyle/>
          <a:p>
            <a:endParaRPr lang="zh-CN" altLang="en-US"/>
          </a:p>
        </p:txBody>
      </p:sp>
      <p:sp>
        <p:nvSpPr>
          <p:cNvPr id="66567" name="Line 7"/>
          <p:cNvSpPr>
            <a:spLocks noChangeShapeType="1"/>
          </p:cNvSpPr>
          <p:nvPr/>
        </p:nvSpPr>
        <p:spPr bwMode="auto">
          <a:xfrm flipH="1">
            <a:off x="3962400" y="2895600"/>
            <a:ext cx="381000" cy="381000"/>
          </a:xfrm>
          <a:prstGeom prst="line">
            <a:avLst/>
          </a:prstGeom>
          <a:noFill/>
          <a:ln w="28575">
            <a:solidFill>
              <a:schemeClr val="accent6"/>
            </a:solidFill>
            <a:round/>
          </a:ln>
        </p:spPr>
        <p:txBody>
          <a:bodyPr wrap="none" anchor="ctr"/>
          <a:lstStyle/>
          <a:p>
            <a:endParaRPr lang="zh-CN" altLang="en-US"/>
          </a:p>
        </p:txBody>
      </p:sp>
      <p:sp>
        <p:nvSpPr>
          <p:cNvPr id="66568" name="Line 8"/>
          <p:cNvSpPr>
            <a:spLocks noChangeShapeType="1"/>
          </p:cNvSpPr>
          <p:nvPr/>
        </p:nvSpPr>
        <p:spPr bwMode="auto">
          <a:xfrm>
            <a:off x="7086600" y="2895600"/>
            <a:ext cx="381000" cy="381000"/>
          </a:xfrm>
          <a:prstGeom prst="line">
            <a:avLst/>
          </a:prstGeom>
          <a:noFill/>
          <a:ln w="28575">
            <a:solidFill>
              <a:schemeClr val="accent6"/>
            </a:solidFill>
            <a:round/>
          </a:ln>
        </p:spPr>
        <p:txBody>
          <a:bodyPr wrap="none" anchor="ctr"/>
          <a:lstStyle/>
          <a:p>
            <a:endParaRPr lang="zh-CN" altLang="en-US"/>
          </a:p>
        </p:txBody>
      </p:sp>
      <p:sp>
        <p:nvSpPr>
          <p:cNvPr id="66569" name="Line 9"/>
          <p:cNvSpPr>
            <a:spLocks noChangeShapeType="1"/>
          </p:cNvSpPr>
          <p:nvPr/>
        </p:nvSpPr>
        <p:spPr bwMode="auto">
          <a:xfrm flipH="1">
            <a:off x="6248400" y="2895600"/>
            <a:ext cx="381000" cy="381000"/>
          </a:xfrm>
          <a:prstGeom prst="line">
            <a:avLst/>
          </a:prstGeom>
          <a:noFill/>
          <a:ln w="28575">
            <a:solidFill>
              <a:schemeClr val="accent6"/>
            </a:solidFill>
            <a:round/>
          </a:ln>
        </p:spPr>
        <p:txBody>
          <a:bodyPr wrap="none" anchor="ctr"/>
          <a:lstStyle/>
          <a:p>
            <a:endParaRPr lang="zh-CN" altLang="en-US"/>
          </a:p>
        </p:txBody>
      </p:sp>
      <p:sp>
        <p:nvSpPr>
          <p:cNvPr id="66570" name="Line 10"/>
          <p:cNvSpPr>
            <a:spLocks noChangeShapeType="1"/>
          </p:cNvSpPr>
          <p:nvPr/>
        </p:nvSpPr>
        <p:spPr bwMode="auto">
          <a:xfrm>
            <a:off x="7620000" y="1981200"/>
            <a:ext cx="381000" cy="381000"/>
          </a:xfrm>
          <a:prstGeom prst="line">
            <a:avLst/>
          </a:prstGeom>
          <a:noFill/>
          <a:ln w="28575">
            <a:solidFill>
              <a:schemeClr val="accent6"/>
            </a:solidFill>
            <a:round/>
          </a:ln>
        </p:spPr>
        <p:txBody>
          <a:bodyPr wrap="none" anchor="ctr"/>
          <a:lstStyle/>
          <a:p>
            <a:endParaRPr lang="zh-CN" altLang="en-US"/>
          </a:p>
        </p:txBody>
      </p:sp>
      <p:sp>
        <p:nvSpPr>
          <p:cNvPr id="66571" name="Line 11"/>
          <p:cNvSpPr>
            <a:spLocks noChangeShapeType="1"/>
          </p:cNvSpPr>
          <p:nvPr/>
        </p:nvSpPr>
        <p:spPr bwMode="auto">
          <a:xfrm flipH="1">
            <a:off x="6781800" y="1981200"/>
            <a:ext cx="381000" cy="381000"/>
          </a:xfrm>
          <a:prstGeom prst="line">
            <a:avLst/>
          </a:prstGeom>
          <a:noFill/>
          <a:ln w="28575">
            <a:solidFill>
              <a:schemeClr val="accent6"/>
            </a:solidFill>
            <a:round/>
          </a:ln>
        </p:spPr>
        <p:txBody>
          <a:bodyPr wrap="none" anchor="ctr"/>
          <a:lstStyle/>
          <a:p>
            <a:endParaRPr lang="zh-CN" altLang="en-US"/>
          </a:p>
        </p:txBody>
      </p:sp>
      <p:sp>
        <p:nvSpPr>
          <p:cNvPr id="66572" name="Line 12"/>
          <p:cNvSpPr>
            <a:spLocks noChangeShapeType="1"/>
          </p:cNvSpPr>
          <p:nvPr/>
        </p:nvSpPr>
        <p:spPr bwMode="auto">
          <a:xfrm>
            <a:off x="3810000" y="1981200"/>
            <a:ext cx="533400" cy="381000"/>
          </a:xfrm>
          <a:prstGeom prst="line">
            <a:avLst/>
          </a:prstGeom>
          <a:noFill/>
          <a:ln w="28575">
            <a:solidFill>
              <a:schemeClr val="accent6"/>
            </a:solidFill>
            <a:round/>
          </a:ln>
        </p:spPr>
        <p:txBody>
          <a:bodyPr wrap="none" anchor="ctr"/>
          <a:lstStyle/>
          <a:p>
            <a:endParaRPr lang="zh-CN" altLang="en-US"/>
          </a:p>
        </p:txBody>
      </p:sp>
      <p:sp>
        <p:nvSpPr>
          <p:cNvPr id="66573" name="Line 13"/>
          <p:cNvSpPr>
            <a:spLocks noChangeShapeType="1"/>
          </p:cNvSpPr>
          <p:nvPr/>
        </p:nvSpPr>
        <p:spPr bwMode="auto">
          <a:xfrm>
            <a:off x="5867400" y="1143000"/>
            <a:ext cx="1066800" cy="304800"/>
          </a:xfrm>
          <a:prstGeom prst="line">
            <a:avLst/>
          </a:prstGeom>
          <a:noFill/>
          <a:ln w="28575">
            <a:solidFill>
              <a:schemeClr val="accent6"/>
            </a:solidFill>
            <a:round/>
          </a:ln>
        </p:spPr>
        <p:txBody>
          <a:bodyPr wrap="none" anchor="ctr"/>
          <a:lstStyle/>
          <a:p>
            <a:endParaRPr lang="zh-CN" altLang="en-US"/>
          </a:p>
        </p:txBody>
      </p:sp>
      <p:sp>
        <p:nvSpPr>
          <p:cNvPr id="66574" name="Line 14"/>
          <p:cNvSpPr>
            <a:spLocks noChangeShapeType="1"/>
          </p:cNvSpPr>
          <p:nvPr/>
        </p:nvSpPr>
        <p:spPr bwMode="auto">
          <a:xfrm flipH="1">
            <a:off x="2514600" y="1981200"/>
            <a:ext cx="685800" cy="381000"/>
          </a:xfrm>
          <a:prstGeom prst="line">
            <a:avLst/>
          </a:prstGeom>
          <a:noFill/>
          <a:ln w="28575">
            <a:solidFill>
              <a:schemeClr val="accent6"/>
            </a:solidFill>
            <a:round/>
          </a:ln>
        </p:spPr>
        <p:txBody>
          <a:bodyPr wrap="none" anchor="ctr"/>
          <a:lstStyle/>
          <a:p>
            <a:endParaRPr lang="zh-CN" altLang="en-US"/>
          </a:p>
        </p:txBody>
      </p:sp>
      <p:sp>
        <p:nvSpPr>
          <p:cNvPr id="66576" name="Text Box 16"/>
          <p:cNvSpPr txBox="1">
            <a:spLocks noChangeArrowheads="1"/>
          </p:cNvSpPr>
          <p:nvPr/>
        </p:nvSpPr>
        <p:spPr bwMode="auto">
          <a:xfrm>
            <a:off x="220663" y="569913"/>
            <a:ext cx="4405312" cy="1066800"/>
          </a:xfrm>
          <a:prstGeom prst="rect">
            <a:avLst/>
          </a:prstGeom>
          <a:noFill/>
          <a:ln w="9525">
            <a:noFill/>
            <a:miter lim="800000"/>
          </a:ln>
        </p:spPr>
        <p:txBody>
          <a:bodyPr>
            <a:spAutoFit/>
          </a:bodyPr>
          <a:lstStyle/>
          <a:p>
            <a:r>
              <a:rPr lang="zh-CN" altLang="en-US" sz="3200" b="1" dirty="0">
                <a:solidFill>
                  <a:srgbClr val="333399"/>
                </a:solidFill>
                <a:latin typeface="仿宋_GB2312" panose="02010609030101010101" pitchFamily="49" charset="-122"/>
                <a:ea typeface="仿宋_GB2312" panose="02010609030101010101" pitchFamily="49" charset="-122"/>
              </a:rPr>
              <a:t>斐波那契数列的递归调用树</a:t>
            </a:r>
            <a:endParaRPr lang="zh-CN" altLang="en-US" sz="2000" dirty="0"/>
          </a:p>
        </p:txBody>
      </p:sp>
      <p:sp>
        <p:nvSpPr>
          <p:cNvPr id="191505" name="Rectangle 17"/>
          <p:cNvSpPr>
            <a:spLocks noChangeArrowheads="1"/>
          </p:cNvSpPr>
          <p:nvPr/>
        </p:nvSpPr>
        <p:spPr bwMode="auto">
          <a:xfrm>
            <a:off x="1219200" y="3276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06" name="Rectangle 18"/>
          <p:cNvSpPr>
            <a:spLocks noChangeArrowheads="1"/>
          </p:cNvSpPr>
          <p:nvPr/>
        </p:nvSpPr>
        <p:spPr bwMode="auto">
          <a:xfrm>
            <a:off x="2362200" y="3276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07" name="Rectangle 19"/>
          <p:cNvSpPr>
            <a:spLocks noChangeArrowheads="1"/>
          </p:cNvSpPr>
          <p:nvPr/>
        </p:nvSpPr>
        <p:spPr bwMode="auto">
          <a:xfrm>
            <a:off x="3505200" y="3276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08" name="Rectangle 20"/>
          <p:cNvSpPr>
            <a:spLocks noChangeArrowheads="1"/>
          </p:cNvSpPr>
          <p:nvPr/>
        </p:nvSpPr>
        <p:spPr bwMode="auto">
          <a:xfrm>
            <a:off x="4648200" y="3276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09" name="Rectangle 21"/>
          <p:cNvSpPr>
            <a:spLocks noChangeArrowheads="1"/>
          </p:cNvSpPr>
          <p:nvPr/>
        </p:nvSpPr>
        <p:spPr bwMode="auto">
          <a:xfrm>
            <a:off x="5791200" y="3276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0" name="Rectangle 22"/>
          <p:cNvSpPr>
            <a:spLocks noChangeArrowheads="1"/>
          </p:cNvSpPr>
          <p:nvPr/>
        </p:nvSpPr>
        <p:spPr bwMode="auto">
          <a:xfrm>
            <a:off x="6934200" y="3276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1" name="Rectangle 23"/>
          <p:cNvSpPr>
            <a:spLocks noChangeArrowheads="1"/>
          </p:cNvSpPr>
          <p:nvPr/>
        </p:nvSpPr>
        <p:spPr bwMode="auto">
          <a:xfrm>
            <a:off x="6324600" y="23622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2" name="Rectangle 24"/>
          <p:cNvSpPr>
            <a:spLocks noChangeArrowheads="1"/>
          </p:cNvSpPr>
          <p:nvPr/>
        </p:nvSpPr>
        <p:spPr bwMode="auto">
          <a:xfrm>
            <a:off x="7467600" y="23622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3" name="Rectangle 25"/>
          <p:cNvSpPr>
            <a:spLocks noChangeArrowheads="1"/>
          </p:cNvSpPr>
          <p:nvPr/>
        </p:nvSpPr>
        <p:spPr bwMode="auto">
          <a:xfrm>
            <a:off x="685800" y="41910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4" name="Rectangle 26"/>
          <p:cNvSpPr>
            <a:spLocks noChangeArrowheads="1"/>
          </p:cNvSpPr>
          <p:nvPr/>
        </p:nvSpPr>
        <p:spPr bwMode="auto">
          <a:xfrm>
            <a:off x="1828800" y="41910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5" name="Rectangle 27"/>
          <p:cNvSpPr>
            <a:spLocks noChangeArrowheads="1"/>
          </p:cNvSpPr>
          <p:nvPr/>
        </p:nvSpPr>
        <p:spPr bwMode="auto">
          <a:xfrm>
            <a:off x="1828800" y="23622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6" name="Rectangle 28"/>
          <p:cNvSpPr>
            <a:spLocks noChangeArrowheads="1"/>
          </p:cNvSpPr>
          <p:nvPr/>
        </p:nvSpPr>
        <p:spPr bwMode="auto">
          <a:xfrm>
            <a:off x="4038600" y="23622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7" name="Rectangle 29"/>
          <p:cNvSpPr>
            <a:spLocks noChangeArrowheads="1"/>
          </p:cNvSpPr>
          <p:nvPr/>
        </p:nvSpPr>
        <p:spPr bwMode="auto">
          <a:xfrm>
            <a:off x="2971800" y="14478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8" name="Rectangle 30"/>
          <p:cNvSpPr>
            <a:spLocks noChangeArrowheads="1"/>
          </p:cNvSpPr>
          <p:nvPr/>
        </p:nvSpPr>
        <p:spPr bwMode="auto">
          <a:xfrm>
            <a:off x="6858000" y="14478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1519" name="Rectangle 31"/>
          <p:cNvSpPr>
            <a:spLocks noChangeArrowheads="1"/>
          </p:cNvSpPr>
          <p:nvPr/>
        </p:nvSpPr>
        <p:spPr bwMode="auto">
          <a:xfrm>
            <a:off x="4876800" y="609600"/>
            <a:ext cx="9906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6592" name="Line 32"/>
          <p:cNvSpPr>
            <a:spLocks noChangeShapeType="1"/>
          </p:cNvSpPr>
          <p:nvPr/>
        </p:nvSpPr>
        <p:spPr bwMode="auto">
          <a:xfrm flipH="1">
            <a:off x="3962400" y="1143000"/>
            <a:ext cx="1066800" cy="304800"/>
          </a:xfrm>
          <a:prstGeom prst="line">
            <a:avLst/>
          </a:prstGeom>
          <a:noFill/>
          <a:ln w="28575">
            <a:solidFill>
              <a:schemeClr val="accent6"/>
            </a:solidFill>
            <a:round/>
          </a:ln>
        </p:spPr>
        <p:txBody>
          <a:bodyPr wrap="none" anchor="ctr"/>
          <a:lstStyle/>
          <a:p>
            <a:endParaRPr lang="zh-CN" altLang="en-US"/>
          </a:p>
        </p:txBody>
      </p:sp>
      <p:sp>
        <p:nvSpPr>
          <p:cNvPr id="66593" name="Text Box 33"/>
          <p:cNvSpPr txBox="1">
            <a:spLocks noChangeArrowheads="1"/>
          </p:cNvSpPr>
          <p:nvPr/>
        </p:nvSpPr>
        <p:spPr bwMode="auto">
          <a:xfrm>
            <a:off x="762000" y="4191000"/>
            <a:ext cx="976313"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Fib(1)</a:t>
            </a:r>
            <a:endParaRPr lang="en-US" altLang="zh-CN" sz="2800" b="1">
              <a:solidFill>
                <a:schemeClr val="accent2"/>
              </a:solidFill>
              <a:latin typeface="Arial Narrow" panose="020B0606020202030204" pitchFamily="34" charset="0"/>
            </a:endParaRPr>
          </a:p>
        </p:txBody>
      </p:sp>
      <p:sp>
        <p:nvSpPr>
          <p:cNvPr id="66594" name="Text Box 34"/>
          <p:cNvSpPr txBox="1">
            <a:spLocks noChangeArrowheads="1"/>
          </p:cNvSpPr>
          <p:nvPr/>
        </p:nvSpPr>
        <p:spPr bwMode="auto">
          <a:xfrm>
            <a:off x="1843088" y="41910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Fib(0)</a:t>
            </a:r>
            <a:endParaRPr lang="en-US" altLang="zh-CN" sz="2800" b="1">
              <a:solidFill>
                <a:schemeClr val="accent2"/>
              </a:solidFill>
              <a:latin typeface="Arial Narrow" panose="020B0606020202030204" pitchFamily="34" charset="0"/>
            </a:endParaRPr>
          </a:p>
        </p:txBody>
      </p:sp>
      <p:sp>
        <p:nvSpPr>
          <p:cNvPr id="66595" name="Text Box 35"/>
          <p:cNvSpPr txBox="1">
            <a:spLocks noChangeArrowheads="1"/>
          </p:cNvSpPr>
          <p:nvPr/>
        </p:nvSpPr>
        <p:spPr bwMode="auto">
          <a:xfrm>
            <a:off x="2376488" y="32766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Fib(1)</a:t>
            </a:r>
            <a:endParaRPr lang="en-US" altLang="zh-CN" sz="2800" b="1">
              <a:solidFill>
                <a:schemeClr val="accent2"/>
              </a:solidFill>
              <a:latin typeface="Arial Narrow" panose="020B0606020202030204" pitchFamily="34" charset="0"/>
            </a:endParaRPr>
          </a:p>
        </p:txBody>
      </p:sp>
      <p:sp>
        <p:nvSpPr>
          <p:cNvPr id="66596" name="Text Box 36"/>
          <p:cNvSpPr txBox="1">
            <a:spLocks noChangeArrowheads="1"/>
          </p:cNvSpPr>
          <p:nvPr/>
        </p:nvSpPr>
        <p:spPr bwMode="auto">
          <a:xfrm>
            <a:off x="1233488" y="32766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Fib(2)</a:t>
            </a:r>
            <a:endParaRPr lang="en-US" altLang="zh-CN" sz="2800" b="1">
              <a:solidFill>
                <a:schemeClr val="accent2"/>
              </a:solidFill>
              <a:latin typeface="Arial Narrow" panose="020B0606020202030204" pitchFamily="34" charset="0"/>
            </a:endParaRPr>
          </a:p>
        </p:txBody>
      </p:sp>
      <p:sp>
        <p:nvSpPr>
          <p:cNvPr id="66597" name="Text Box 37"/>
          <p:cNvSpPr txBox="1">
            <a:spLocks noChangeArrowheads="1"/>
          </p:cNvSpPr>
          <p:nvPr/>
        </p:nvSpPr>
        <p:spPr bwMode="auto">
          <a:xfrm>
            <a:off x="1843088" y="23622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Fib(3)</a:t>
            </a:r>
            <a:endParaRPr lang="en-US" altLang="zh-CN" sz="2800" b="1">
              <a:solidFill>
                <a:schemeClr val="accent2"/>
              </a:solidFill>
              <a:latin typeface="Arial Narrow" panose="020B0606020202030204" pitchFamily="34" charset="0"/>
            </a:endParaRPr>
          </a:p>
        </p:txBody>
      </p:sp>
      <p:sp>
        <p:nvSpPr>
          <p:cNvPr id="66598" name="Text Box 38"/>
          <p:cNvSpPr txBox="1">
            <a:spLocks noChangeArrowheads="1"/>
          </p:cNvSpPr>
          <p:nvPr/>
        </p:nvSpPr>
        <p:spPr bwMode="auto">
          <a:xfrm>
            <a:off x="2986088" y="1462088"/>
            <a:ext cx="976312" cy="519112"/>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Fib(4)</a:t>
            </a:r>
            <a:endParaRPr lang="en-US" altLang="zh-CN" sz="2800" b="1">
              <a:solidFill>
                <a:schemeClr val="accent2"/>
              </a:solidFill>
              <a:latin typeface="Arial Narrow" panose="020B0606020202030204" pitchFamily="34" charset="0"/>
            </a:endParaRPr>
          </a:p>
        </p:txBody>
      </p:sp>
      <p:sp>
        <p:nvSpPr>
          <p:cNvPr id="66599" name="Text Box 39"/>
          <p:cNvSpPr txBox="1">
            <a:spLocks noChangeArrowheads="1"/>
          </p:cNvSpPr>
          <p:nvPr/>
        </p:nvSpPr>
        <p:spPr bwMode="auto">
          <a:xfrm>
            <a:off x="3581400" y="3276600"/>
            <a:ext cx="976313"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Fib(1)</a:t>
            </a:r>
            <a:endParaRPr lang="en-US" altLang="zh-CN" sz="2800" b="1">
              <a:solidFill>
                <a:schemeClr val="accent2"/>
              </a:solidFill>
              <a:latin typeface="Arial Narrow" panose="020B0606020202030204" pitchFamily="34" charset="0"/>
            </a:endParaRPr>
          </a:p>
        </p:txBody>
      </p:sp>
      <p:sp>
        <p:nvSpPr>
          <p:cNvPr id="66600" name="Text Box 40"/>
          <p:cNvSpPr txBox="1">
            <a:spLocks noChangeArrowheads="1"/>
          </p:cNvSpPr>
          <p:nvPr/>
        </p:nvSpPr>
        <p:spPr bwMode="auto">
          <a:xfrm>
            <a:off x="4662488" y="32766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Fib(0)</a:t>
            </a:r>
            <a:endParaRPr lang="en-US" altLang="zh-CN" sz="2800" b="1">
              <a:solidFill>
                <a:schemeClr val="accent2"/>
              </a:solidFill>
              <a:latin typeface="Arial Narrow" panose="020B0606020202030204" pitchFamily="34" charset="0"/>
            </a:endParaRPr>
          </a:p>
        </p:txBody>
      </p:sp>
      <p:sp>
        <p:nvSpPr>
          <p:cNvPr id="66601" name="Text Box 41"/>
          <p:cNvSpPr txBox="1">
            <a:spLocks noChangeArrowheads="1"/>
          </p:cNvSpPr>
          <p:nvPr/>
        </p:nvSpPr>
        <p:spPr bwMode="auto">
          <a:xfrm>
            <a:off x="4052888" y="23622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Fib(2)</a:t>
            </a:r>
            <a:endParaRPr lang="en-US" altLang="zh-CN" sz="2800" b="1">
              <a:solidFill>
                <a:schemeClr val="accent2"/>
              </a:solidFill>
              <a:latin typeface="Arial Narrow" panose="020B0606020202030204" pitchFamily="34" charset="0"/>
            </a:endParaRPr>
          </a:p>
        </p:txBody>
      </p:sp>
      <p:sp>
        <p:nvSpPr>
          <p:cNvPr id="66602" name="Text Box 42"/>
          <p:cNvSpPr txBox="1">
            <a:spLocks noChangeArrowheads="1"/>
          </p:cNvSpPr>
          <p:nvPr/>
        </p:nvSpPr>
        <p:spPr bwMode="auto">
          <a:xfrm>
            <a:off x="5791200" y="3290888"/>
            <a:ext cx="976313" cy="519112"/>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Fib(1)</a:t>
            </a:r>
            <a:endParaRPr lang="en-US" altLang="zh-CN" sz="2800" b="1">
              <a:solidFill>
                <a:schemeClr val="accent2"/>
              </a:solidFill>
              <a:latin typeface="Arial Narrow" panose="020B0606020202030204" pitchFamily="34" charset="0"/>
            </a:endParaRPr>
          </a:p>
        </p:txBody>
      </p:sp>
      <p:sp>
        <p:nvSpPr>
          <p:cNvPr id="66603" name="Text Box 43"/>
          <p:cNvSpPr txBox="1">
            <a:spLocks noChangeArrowheads="1"/>
          </p:cNvSpPr>
          <p:nvPr/>
        </p:nvSpPr>
        <p:spPr bwMode="auto">
          <a:xfrm>
            <a:off x="6948488" y="3290888"/>
            <a:ext cx="976312" cy="519112"/>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Fib(0)</a:t>
            </a:r>
            <a:endParaRPr lang="en-US" altLang="zh-CN" sz="2800" b="1">
              <a:solidFill>
                <a:schemeClr val="accent2"/>
              </a:solidFill>
              <a:latin typeface="Arial Narrow" panose="020B0606020202030204" pitchFamily="34" charset="0"/>
            </a:endParaRPr>
          </a:p>
        </p:txBody>
      </p:sp>
      <p:sp>
        <p:nvSpPr>
          <p:cNvPr id="66604" name="Text Box 44"/>
          <p:cNvSpPr txBox="1">
            <a:spLocks noChangeArrowheads="1"/>
          </p:cNvSpPr>
          <p:nvPr/>
        </p:nvSpPr>
        <p:spPr bwMode="auto">
          <a:xfrm>
            <a:off x="7481888" y="2376488"/>
            <a:ext cx="976312" cy="519112"/>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Fib(1)</a:t>
            </a:r>
            <a:endParaRPr lang="en-US" altLang="zh-CN" sz="2800" b="1">
              <a:solidFill>
                <a:schemeClr val="accent2"/>
              </a:solidFill>
              <a:latin typeface="Arial Narrow" panose="020B0606020202030204" pitchFamily="34" charset="0"/>
            </a:endParaRPr>
          </a:p>
        </p:txBody>
      </p:sp>
      <p:sp>
        <p:nvSpPr>
          <p:cNvPr id="66605" name="Text Box 45"/>
          <p:cNvSpPr txBox="1">
            <a:spLocks noChangeArrowheads="1"/>
          </p:cNvSpPr>
          <p:nvPr/>
        </p:nvSpPr>
        <p:spPr bwMode="auto">
          <a:xfrm>
            <a:off x="6338888" y="2376488"/>
            <a:ext cx="976312" cy="519112"/>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Fib(2)</a:t>
            </a:r>
            <a:endParaRPr lang="en-US" altLang="zh-CN" sz="2800" b="1">
              <a:solidFill>
                <a:schemeClr val="accent2"/>
              </a:solidFill>
              <a:latin typeface="Arial Narrow" panose="020B0606020202030204" pitchFamily="34" charset="0"/>
            </a:endParaRPr>
          </a:p>
        </p:txBody>
      </p:sp>
      <p:sp>
        <p:nvSpPr>
          <p:cNvPr id="66606" name="Text Box 46"/>
          <p:cNvSpPr txBox="1">
            <a:spLocks noChangeArrowheads="1"/>
          </p:cNvSpPr>
          <p:nvPr/>
        </p:nvSpPr>
        <p:spPr bwMode="auto">
          <a:xfrm>
            <a:off x="6934200" y="1462088"/>
            <a:ext cx="976313" cy="519112"/>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Fib(3)</a:t>
            </a:r>
            <a:endParaRPr lang="en-US" altLang="zh-CN" sz="2800" b="1">
              <a:solidFill>
                <a:schemeClr val="accent2"/>
              </a:solidFill>
              <a:latin typeface="Arial Narrow" panose="020B0606020202030204" pitchFamily="34" charset="0"/>
            </a:endParaRPr>
          </a:p>
        </p:txBody>
      </p:sp>
      <p:sp>
        <p:nvSpPr>
          <p:cNvPr id="66607" name="Text Box 47"/>
          <p:cNvSpPr txBox="1">
            <a:spLocks noChangeArrowheads="1"/>
          </p:cNvSpPr>
          <p:nvPr/>
        </p:nvSpPr>
        <p:spPr bwMode="auto">
          <a:xfrm>
            <a:off x="4891088" y="609600"/>
            <a:ext cx="976312" cy="519113"/>
          </a:xfrm>
          <a:prstGeom prst="rect">
            <a:avLst/>
          </a:prstGeom>
          <a:noFill/>
          <a:ln w="9525">
            <a:noFill/>
            <a:miter lim="800000"/>
          </a:ln>
        </p:spPr>
        <p:txBody>
          <a:bodyPr wrap="none">
            <a:spAutoFit/>
          </a:bodyPr>
          <a:lstStyle/>
          <a:p>
            <a:r>
              <a:rPr lang="en-US" altLang="zh-CN" sz="2800" b="1">
                <a:solidFill>
                  <a:schemeClr val="accent2"/>
                </a:solidFill>
                <a:latin typeface="Arial Narrow" panose="020B0606020202030204" pitchFamily="34" charset="0"/>
              </a:rPr>
              <a:t>Fib(5)</a:t>
            </a:r>
            <a:endParaRPr lang="en-US" altLang="zh-CN" sz="2800" b="1">
              <a:solidFill>
                <a:schemeClr val="accent2"/>
              </a:solidFill>
              <a:latin typeface="Arial Narrow" panose="020B0606020202030204" pitchFamily="34" charset="0"/>
            </a:endParaRPr>
          </a:p>
        </p:txBody>
      </p:sp>
      <p:sp>
        <p:nvSpPr>
          <p:cNvPr id="3" name="内容占位符 2"/>
          <p:cNvSpPr>
            <a:spLocks noGrp="1"/>
          </p:cNvSpPr>
          <p:nvPr>
            <p:ph idx="1"/>
          </p:nvPr>
        </p:nvSpPr>
        <p:spPr>
          <a:xfrm>
            <a:off x="457200" y="5054600"/>
            <a:ext cx="8229600" cy="1587500"/>
          </a:xfrm>
        </p:spPr>
        <p:txBody>
          <a:bodyPr>
            <a:normAutofit fontScale="70000" lnSpcReduction="20000"/>
          </a:bodyPr>
          <a:lstStyle/>
          <a:p>
            <a:r>
              <a:rPr lang="zh-CN" altLang="en-US" dirty="0"/>
              <a:t>可用归纳法证明：</a:t>
            </a:r>
            <a:endParaRPr lang="en-US" altLang="zh-CN" dirty="0"/>
          </a:p>
          <a:p>
            <a:pPr lvl="1"/>
            <a:r>
              <a:rPr lang="zh-CN" altLang="en-US" dirty="0"/>
              <a:t>调用次数  </a:t>
            </a:r>
            <a:r>
              <a:rPr lang="en-US" altLang="zh-CN" dirty="0" err="1"/>
              <a:t>NumCall</a:t>
            </a:r>
            <a:r>
              <a:rPr lang="en-US" altLang="zh-CN" dirty="0"/>
              <a:t>(k) = 2*Fib(k+1) - 1</a:t>
            </a:r>
            <a:r>
              <a:rPr lang="zh-CN" altLang="en-US" dirty="0"/>
              <a:t>。</a:t>
            </a:r>
            <a:endParaRPr lang="zh-CN" altLang="en-US" dirty="0"/>
          </a:p>
          <a:p>
            <a:endParaRPr lang="en-US" altLang="zh-CN" dirty="0"/>
          </a:p>
          <a:p>
            <a:r>
              <a:rPr lang="zh-CN" altLang="en-US" dirty="0"/>
              <a:t>怎样用非递归完成这棵调用树？</a:t>
            </a:r>
            <a:endParaRPr lang="zh-CN" altLang="en-US" dirty="0"/>
          </a:p>
        </p:txBody>
      </p: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Line 2"/>
          <p:cNvSpPr>
            <a:spLocks noChangeShapeType="1"/>
          </p:cNvSpPr>
          <p:nvPr/>
        </p:nvSpPr>
        <p:spPr bwMode="auto">
          <a:xfrm>
            <a:off x="3429000" y="2133600"/>
            <a:ext cx="381000" cy="381000"/>
          </a:xfrm>
          <a:prstGeom prst="line">
            <a:avLst/>
          </a:prstGeom>
          <a:noFill/>
          <a:ln w="28575">
            <a:solidFill>
              <a:schemeClr val="bg2"/>
            </a:solidFill>
            <a:round/>
          </a:ln>
        </p:spPr>
        <p:txBody>
          <a:bodyPr wrap="none" anchor="ctr"/>
          <a:lstStyle/>
          <a:p>
            <a:endParaRPr lang="zh-CN" altLang="en-US"/>
          </a:p>
        </p:txBody>
      </p:sp>
      <p:sp>
        <p:nvSpPr>
          <p:cNvPr id="68611" name="Line 3"/>
          <p:cNvSpPr>
            <a:spLocks noChangeShapeType="1"/>
          </p:cNvSpPr>
          <p:nvPr/>
        </p:nvSpPr>
        <p:spPr bwMode="auto">
          <a:xfrm>
            <a:off x="2743200" y="3048000"/>
            <a:ext cx="381000" cy="381000"/>
          </a:xfrm>
          <a:prstGeom prst="line">
            <a:avLst/>
          </a:prstGeom>
          <a:noFill/>
          <a:ln w="28575">
            <a:solidFill>
              <a:schemeClr val="bg2"/>
            </a:solidFill>
            <a:round/>
          </a:ln>
        </p:spPr>
        <p:txBody>
          <a:bodyPr wrap="none" anchor="ctr"/>
          <a:lstStyle/>
          <a:p>
            <a:endParaRPr lang="zh-CN" altLang="en-US"/>
          </a:p>
        </p:txBody>
      </p:sp>
      <p:sp>
        <p:nvSpPr>
          <p:cNvPr id="68612" name="Line 4"/>
          <p:cNvSpPr>
            <a:spLocks noChangeShapeType="1"/>
          </p:cNvSpPr>
          <p:nvPr/>
        </p:nvSpPr>
        <p:spPr bwMode="auto">
          <a:xfrm flipH="1">
            <a:off x="1752600" y="3048000"/>
            <a:ext cx="381000" cy="381000"/>
          </a:xfrm>
          <a:prstGeom prst="line">
            <a:avLst/>
          </a:prstGeom>
          <a:noFill/>
          <a:ln w="28575">
            <a:solidFill>
              <a:schemeClr val="bg2"/>
            </a:solidFill>
            <a:round/>
          </a:ln>
        </p:spPr>
        <p:txBody>
          <a:bodyPr wrap="none" anchor="ctr"/>
          <a:lstStyle/>
          <a:p>
            <a:endParaRPr lang="zh-CN" altLang="en-US"/>
          </a:p>
        </p:txBody>
      </p:sp>
      <p:sp>
        <p:nvSpPr>
          <p:cNvPr id="68613" name="Line 5"/>
          <p:cNvSpPr>
            <a:spLocks noChangeShapeType="1"/>
          </p:cNvSpPr>
          <p:nvPr/>
        </p:nvSpPr>
        <p:spPr bwMode="auto">
          <a:xfrm flipH="1">
            <a:off x="2590800" y="2133600"/>
            <a:ext cx="381000" cy="381000"/>
          </a:xfrm>
          <a:prstGeom prst="line">
            <a:avLst/>
          </a:prstGeom>
          <a:noFill/>
          <a:ln w="28575">
            <a:solidFill>
              <a:schemeClr val="bg2"/>
            </a:solidFill>
            <a:round/>
          </a:ln>
        </p:spPr>
        <p:txBody>
          <a:bodyPr wrap="none" anchor="ctr"/>
          <a:lstStyle/>
          <a:p>
            <a:endParaRPr lang="zh-CN" altLang="en-US"/>
          </a:p>
        </p:txBody>
      </p:sp>
      <p:sp>
        <p:nvSpPr>
          <p:cNvPr id="68614" name="Line 6"/>
          <p:cNvSpPr>
            <a:spLocks noChangeShapeType="1"/>
          </p:cNvSpPr>
          <p:nvPr/>
        </p:nvSpPr>
        <p:spPr bwMode="auto">
          <a:xfrm>
            <a:off x="5105400" y="1219200"/>
            <a:ext cx="762000" cy="381000"/>
          </a:xfrm>
          <a:prstGeom prst="line">
            <a:avLst/>
          </a:prstGeom>
          <a:noFill/>
          <a:ln w="28575">
            <a:solidFill>
              <a:schemeClr val="bg2"/>
            </a:solidFill>
            <a:round/>
          </a:ln>
        </p:spPr>
        <p:txBody>
          <a:bodyPr wrap="none" anchor="ctr"/>
          <a:lstStyle/>
          <a:p>
            <a:endParaRPr lang="zh-CN" altLang="en-US"/>
          </a:p>
        </p:txBody>
      </p:sp>
      <p:sp>
        <p:nvSpPr>
          <p:cNvPr id="68615" name="Line 7"/>
          <p:cNvSpPr>
            <a:spLocks noChangeShapeType="1"/>
          </p:cNvSpPr>
          <p:nvPr/>
        </p:nvSpPr>
        <p:spPr bwMode="auto">
          <a:xfrm flipH="1">
            <a:off x="3657600" y="1219200"/>
            <a:ext cx="685800" cy="381000"/>
          </a:xfrm>
          <a:prstGeom prst="line">
            <a:avLst/>
          </a:prstGeom>
          <a:noFill/>
          <a:ln w="28575">
            <a:solidFill>
              <a:schemeClr val="bg2"/>
            </a:solidFill>
            <a:round/>
          </a:ln>
        </p:spPr>
        <p:txBody>
          <a:bodyPr wrap="none" anchor="ctr"/>
          <a:lstStyle/>
          <a:p>
            <a:endParaRPr lang="zh-CN" altLang="en-US"/>
          </a:p>
        </p:txBody>
      </p:sp>
      <p:sp>
        <p:nvSpPr>
          <p:cNvPr id="192520" name="Rectangle 8"/>
          <p:cNvSpPr>
            <a:spLocks noChangeArrowheads="1"/>
          </p:cNvSpPr>
          <p:nvPr/>
        </p:nvSpPr>
        <p:spPr bwMode="auto">
          <a:xfrm>
            <a:off x="1752600" y="25146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2521" name="Rectangle 9"/>
          <p:cNvSpPr>
            <a:spLocks noChangeArrowheads="1"/>
          </p:cNvSpPr>
          <p:nvPr/>
        </p:nvSpPr>
        <p:spPr bwMode="auto">
          <a:xfrm>
            <a:off x="1066800" y="34290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2522" name="Rectangle 10"/>
          <p:cNvSpPr>
            <a:spLocks noChangeArrowheads="1"/>
          </p:cNvSpPr>
          <p:nvPr/>
        </p:nvSpPr>
        <p:spPr bwMode="auto">
          <a:xfrm>
            <a:off x="2590800" y="34290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8619" name="Text Box 11"/>
          <p:cNvSpPr txBox="1">
            <a:spLocks noChangeArrowheads="1"/>
          </p:cNvSpPr>
          <p:nvPr/>
        </p:nvSpPr>
        <p:spPr bwMode="auto">
          <a:xfrm>
            <a:off x="1095375" y="34337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endParaRPr>
          </a:p>
        </p:txBody>
      </p:sp>
      <p:sp>
        <p:nvSpPr>
          <p:cNvPr id="68620" name="Text Box 12"/>
          <p:cNvSpPr txBox="1">
            <a:spLocks noChangeArrowheads="1"/>
          </p:cNvSpPr>
          <p:nvPr/>
        </p:nvSpPr>
        <p:spPr bwMode="auto">
          <a:xfrm>
            <a:off x="2619375" y="3433763"/>
            <a:ext cx="1114425" cy="519112"/>
          </a:xfrm>
          <a:prstGeom prst="rect">
            <a:avLst/>
          </a:prstGeom>
          <a:noFill/>
          <a:ln w="9525">
            <a:noFill/>
            <a:miter lim="800000"/>
          </a:ln>
        </p:spPr>
        <p:txBody>
          <a:bodyPr wrap="none">
            <a:spAutoFit/>
          </a:bodyPr>
          <a:lstStyle/>
          <a:p>
            <a:r>
              <a:rPr lang="en-US" altLang="zh-CN" sz="2800" b="1">
                <a:solidFill>
                  <a:schemeClr val="accent2"/>
                </a:solidFill>
              </a:rPr>
              <a:t>Fib(0)</a:t>
            </a:r>
            <a:endParaRPr lang="en-US" altLang="zh-CN" sz="2800" b="1">
              <a:solidFill>
                <a:schemeClr val="accent2"/>
              </a:solidFill>
              <a:latin typeface="Arial Narrow" panose="020B0606020202030204" pitchFamily="34" charset="0"/>
            </a:endParaRPr>
          </a:p>
        </p:txBody>
      </p:sp>
      <p:sp>
        <p:nvSpPr>
          <p:cNvPr id="68621" name="Text Box 13"/>
          <p:cNvSpPr txBox="1">
            <a:spLocks noChangeArrowheads="1"/>
          </p:cNvSpPr>
          <p:nvPr/>
        </p:nvSpPr>
        <p:spPr bwMode="auto">
          <a:xfrm>
            <a:off x="1828800" y="2519363"/>
            <a:ext cx="1114425" cy="519112"/>
          </a:xfrm>
          <a:prstGeom prst="rect">
            <a:avLst/>
          </a:prstGeom>
          <a:noFill/>
          <a:ln w="9525">
            <a:noFill/>
            <a:miter lim="800000"/>
          </a:ln>
        </p:spPr>
        <p:txBody>
          <a:bodyPr wrap="none">
            <a:spAutoFit/>
          </a:bodyPr>
          <a:lstStyle/>
          <a:p>
            <a:r>
              <a:rPr lang="en-US" altLang="zh-CN" sz="2800" b="1">
                <a:solidFill>
                  <a:schemeClr val="accent2"/>
                </a:solidFill>
              </a:rPr>
              <a:t>Fib(2)</a:t>
            </a:r>
            <a:endParaRPr lang="en-US" altLang="zh-CN" sz="2800" b="1">
              <a:solidFill>
                <a:schemeClr val="accent2"/>
              </a:solidFill>
              <a:latin typeface="Arial Narrow" panose="020B0606020202030204" pitchFamily="34" charset="0"/>
            </a:endParaRPr>
          </a:p>
        </p:txBody>
      </p:sp>
      <p:sp>
        <p:nvSpPr>
          <p:cNvPr id="68622" name="Line 14"/>
          <p:cNvSpPr>
            <a:spLocks noChangeShapeType="1"/>
          </p:cNvSpPr>
          <p:nvPr/>
        </p:nvSpPr>
        <p:spPr bwMode="auto">
          <a:xfrm>
            <a:off x="6629400" y="2133600"/>
            <a:ext cx="457200" cy="457200"/>
          </a:xfrm>
          <a:prstGeom prst="line">
            <a:avLst/>
          </a:prstGeom>
          <a:noFill/>
          <a:ln w="28575">
            <a:solidFill>
              <a:schemeClr val="bg2"/>
            </a:solidFill>
            <a:round/>
          </a:ln>
        </p:spPr>
        <p:txBody>
          <a:bodyPr wrap="none" anchor="ctr"/>
          <a:lstStyle/>
          <a:p>
            <a:endParaRPr lang="zh-CN" altLang="en-US"/>
          </a:p>
        </p:txBody>
      </p:sp>
      <p:sp>
        <p:nvSpPr>
          <p:cNvPr id="68623" name="Line 15"/>
          <p:cNvSpPr>
            <a:spLocks noChangeShapeType="1"/>
          </p:cNvSpPr>
          <p:nvPr/>
        </p:nvSpPr>
        <p:spPr bwMode="auto">
          <a:xfrm flipH="1">
            <a:off x="5715000" y="2133600"/>
            <a:ext cx="381000" cy="381000"/>
          </a:xfrm>
          <a:prstGeom prst="line">
            <a:avLst/>
          </a:prstGeom>
          <a:noFill/>
          <a:ln w="28575">
            <a:solidFill>
              <a:schemeClr val="bg2"/>
            </a:solidFill>
            <a:round/>
          </a:ln>
        </p:spPr>
        <p:txBody>
          <a:bodyPr wrap="none" anchor="ctr"/>
          <a:lstStyle/>
          <a:p>
            <a:endParaRPr lang="zh-CN" altLang="en-US"/>
          </a:p>
        </p:txBody>
      </p:sp>
      <p:sp>
        <p:nvSpPr>
          <p:cNvPr id="192528" name="Rectangle 16"/>
          <p:cNvSpPr>
            <a:spLocks noChangeArrowheads="1"/>
          </p:cNvSpPr>
          <p:nvPr/>
        </p:nvSpPr>
        <p:spPr bwMode="auto">
          <a:xfrm>
            <a:off x="5715000" y="16002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2529" name="Rectangle 17"/>
          <p:cNvSpPr>
            <a:spLocks noChangeArrowheads="1"/>
          </p:cNvSpPr>
          <p:nvPr/>
        </p:nvSpPr>
        <p:spPr bwMode="auto">
          <a:xfrm>
            <a:off x="5029200" y="25146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2530" name="Rectangle 18"/>
          <p:cNvSpPr>
            <a:spLocks noChangeArrowheads="1"/>
          </p:cNvSpPr>
          <p:nvPr/>
        </p:nvSpPr>
        <p:spPr bwMode="auto">
          <a:xfrm>
            <a:off x="6553200" y="25146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8627" name="Text Box 19"/>
          <p:cNvSpPr txBox="1">
            <a:spLocks noChangeArrowheads="1"/>
          </p:cNvSpPr>
          <p:nvPr/>
        </p:nvSpPr>
        <p:spPr bwMode="auto">
          <a:xfrm>
            <a:off x="5057775" y="25193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endParaRPr>
          </a:p>
        </p:txBody>
      </p:sp>
      <p:sp>
        <p:nvSpPr>
          <p:cNvPr id="68628" name="Text Box 20"/>
          <p:cNvSpPr txBox="1">
            <a:spLocks noChangeArrowheads="1"/>
          </p:cNvSpPr>
          <p:nvPr/>
        </p:nvSpPr>
        <p:spPr bwMode="auto">
          <a:xfrm>
            <a:off x="6581775" y="2519363"/>
            <a:ext cx="1114425" cy="519112"/>
          </a:xfrm>
          <a:prstGeom prst="rect">
            <a:avLst/>
          </a:prstGeom>
          <a:noFill/>
          <a:ln w="9525">
            <a:noFill/>
            <a:miter lim="800000"/>
          </a:ln>
        </p:spPr>
        <p:txBody>
          <a:bodyPr wrap="none">
            <a:spAutoFit/>
          </a:bodyPr>
          <a:lstStyle/>
          <a:p>
            <a:r>
              <a:rPr lang="en-US" altLang="zh-CN" sz="2800" b="1">
                <a:solidFill>
                  <a:schemeClr val="accent2"/>
                </a:solidFill>
              </a:rPr>
              <a:t>Fib(0)</a:t>
            </a:r>
            <a:endParaRPr lang="en-US" altLang="zh-CN" sz="2800" b="1">
              <a:solidFill>
                <a:schemeClr val="accent2"/>
              </a:solidFill>
              <a:latin typeface="Arial Narrow" panose="020B0606020202030204" pitchFamily="34" charset="0"/>
            </a:endParaRPr>
          </a:p>
        </p:txBody>
      </p:sp>
      <p:sp>
        <p:nvSpPr>
          <p:cNvPr id="68629" name="Text Box 21"/>
          <p:cNvSpPr txBox="1">
            <a:spLocks noChangeArrowheads="1"/>
          </p:cNvSpPr>
          <p:nvPr/>
        </p:nvSpPr>
        <p:spPr bwMode="auto">
          <a:xfrm>
            <a:off x="5791200" y="1604963"/>
            <a:ext cx="1114425" cy="519112"/>
          </a:xfrm>
          <a:prstGeom prst="rect">
            <a:avLst/>
          </a:prstGeom>
          <a:noFill/>
          <a:ln w="9525">
            <a:noFill/>
            <a:miter lim="800000"/>
          </a:ln>
        </p:spPr>
        <p:txBody>
          <a:bodyPr wrap="none">
            <a:spAutoFit/>
          </a:bodyPr>
          <a:lstStyle/>
          <a:p>
            <a:r>
              <a:rPr lang="en-US" altLang="zh-CN" sz="2800" b="1">
                <a:solidFill>
                  <a:schemeClr val="accent2"/>
                </a:solidFill>
              </a:rPr>
              <a:t>Fib(2)</a:t>
            </a:r>
            <a:endParaRPr lang="en-US" altLang="zh-CN" sz="2800" b="1">
              <a:solidFill>
                <a:schemeClr val="accent2"/>
              </a:solidFill>
              <a:latin typeface="Arial Narrow" panose="020B0606020202030204" pitchFamily="34" charset="0"/>
            </a:endParaRPr>
          </a:p>
        </p:txBody>
      </p:sp>
      <p:sp>
        <p:nvSpPr>
          <p:cNvPr id="192534" name="Rectangle 22"/>
          <p:cNvSpPr>
            <a:spLocks noChangeArrowheads="1"/>
          </p:cNvSpPr>
          <p:nvPr/>
        </p:nvSpPr>
        <p:spPr bwMode="auto">
          <a:xfrm>
            <a:off x="3276600" y="25146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8631" name="Text Box 23"/>
          <p:cNvSpPr txBox="1">
            <a:spLocks noChangeArrowheads="1"/>
          </p:cNvSpPr>
          <p:nvPr/>
        </p:nvSpPr>
        <p:spPr bwMode="auto">
          <a:xfrm>
            <a:off x="3352800" y="25193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latin typeface="Arial Narrow" panose="020B0606020202030204" pitchFamily="34" charset="0"/>
            </a:endParaRPr>
          </a:p>
        </p:txBody>
      </p:sp>
      <p:sp>
        <p:nvSpPr>
          <p:cNvPr id="192536" name="Rectangle 24"/>
          <p:cNvSpPr>
            <a:spLocks noChangeArrowheads="1"/>
          </p:cNvSpPr>
          <p:nvPr/>
        </p:nvSpPr>
        <p:spPr bwMode="auto">
          <a:xfrm>
            <a:off x="2590800" y="16002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8633" name="Text Box 25"/>
          <p:cNvSpPr txBox="1">
            <a:spLocks noChangeArrowheads="1"/>
          </p:cNvSpPr>
          <p:nvPr/>
        </p:nvSpPr>
        <p:spPr bwMode="auto">
          <a:xfrm>
            <a:off x="2667000" y="1604963"/>
            <a:ext cx="1114425" cy="519112"/>
          </a:xfrm>
          <a:prstGeom prst="rect">
            <a:avLst/>
          </a:prstGeom>
          <a:noFill/>
          <a:ln w="9525">
            <a:noFill/>
            <a:miter lim="800000"/>
          </a:ln>
        </p:spPr>
        <p:txBody>
          <a:bodyPr wrap="none">
            <a:spAutoFit/>
          </a:bodyPr>
          <a:lstStyle/>
          <a:p>
            <a:r>
              <a:rPr lang="en-US" altLang="zh-CN" sz="2800" b="1">
                <a:solidFill>
                  <a:schemeClr val="accent2"/>
                </a:solidFill>
              </a:rPr>
              <a:t>Fib(3)</a:t>
            </a:r>
            <a:endParaRPr lang="en-US" altLang="zh-CN" sz="2800" b="1">
              <a:solidFill>
                <a:schemeClr val="accent2"/>
              </a:solidFill>
              <a:latin typeface="Arial Narrow" panose="020B0606020202030204" pitchFamily="34" charset="0"/>
            </a:endParaRPr>
          </a:p>
        </p:txBody>
      </p:sp>
      <p:sp>
        <p:nvSpPr>
          <p:cNvPr id="192538" name="Rectangle 26"/>
          <p:cNvSpPr>
            <a:spLocks noChangeArrowheads="1"/>
          </p:cNvSpPr>
          <p:nvPr/>
        </p:nvSpPr>
        <p:spPr bwMode="auto">
          <a:xfrm>
            <a:off x="4114800" y="6858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8635" name="Text Box 27"/>
          <p:cNvSpPr txBox="1">
            <a:spLocks noChangeArrowheads="1"/>
          </p:cNvSpPr>
          <p:nvPr/>
        </p:nvSpPr>
        <p:spPr bwMode="auto">
          <a:xfrm>
            <a:off x="4191000" y="690563"/>
            <a:ext cx="1114425" cy="519112"/>
          </a:xfrm>
          <a:prstGeom prst="rect">
            <a:avLst/>
          </a:prstGeom>
          <a:noFill/>
          <a:ln w="9525">
            <a:noFill/>
            <a:miter lim="800000"/>
          </a:ln>
        </p:spPr>
        <p:txBody>
          <a:bodyPr wrap="none">
            <a:spAutoFit/>
          </a:bodyPr>
          <a:lstStyle/>
          <a:p>
            <a:r>
              <a:rPr lang="en-US" altLang="zh-CN" sz="2800" b="1">
                <a:solidFill>
                  <a:schemeClr val="accent2"/>
                </a:solidFill>
              </a:rPr>
              <a:t>Fib(4)</a:t>
            </a:r>
            <a:endParaRPr lang="en-US" altLang="zh-CN" sz="2800" b="1">
              <a:solidFill>
                <a:schemeClr val="accent2"/>
              </a:solidFill>
              <a:latin typeface="Arial Narrow" panose="020B0606020202030204" pitchFamily="34" charset="0"/>
            </a:endParaRPr>
          </a:p>
        </p:txBody>
      </p:sp>
      <p:sp>
        <p:nvSpPr>
          <p:cNvPr id="68636" name="Text Box 28"/>
          <p:cNvSpPr txBox="1">
            <a:spLocks noChangeArrowheads="1"/>
          </p:cNvSpPr>
          <p:nvPr/>
        </p:nvSpPr>
        <p:spPr bwMode="auto">
          <a:xfrm>
            <a:off x="990600" y="30162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8637" name="Text Box 29"/>
          <p:cNvSpPr txBox="1">
            <a:spLocks noChangeArrowheads="1"/>
          </p:cNvSpPr>
          <p:nvPr/>
        </p:nvSpPr>
        <p:spPr bwMode="auto">
          <a:xfrm>
            <a:off x="3276600" y="30480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8638" name="Text Box 30"/>
          <p:cNvSpPr txBox="1">
            <a:spLocks noChangeArrowheads="1"/>
          </p:cNvSpPr>
          <p:nvPr/>
        </p:nvSpPr>
        <p:spPr bwMode="auto">
          <a:xfrm>
            <a:off x="1676400" y="21336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8639" name="Rectangle 31"/>
          <p:cNvSpPr>
            <a:spLocks noChangeArrowheads="1"/>
          </p:cNvSpPr>
          <p:nvPr/>
        </p:nvSpPr>
        <p:spPr bwMode="auto">
          <a:xfrm>
            <a:off x="4038600" y="2057400"/>
            <a:ext cx="592138" cy="641350"/>
          </a:xfrm>
          <a:prstGeom prst="rect">
            <a:avLst/>
          </a:prstGeom>
          <a:noFill/>
          <a:ln w="2857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8640" name="Rectangle 32"/>
          <p:cNvSpPr>
            <a:spLocks noChangeArrowheads="1"/>
          </p:cNvSpPr>
          <p:nvPr/>
        </p:nvSpPr>
        <p:spPr bwMode="auto">
          <a:xfrm>
            <a:off x="2514600" y="12192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8641" name="Rectangle 33"/>
          <p:cNvSpPr>
            <a:spLocks noChangeArrowheads="1"/>
          </p:cNvSpPr>
          <p:nvPr/>
        </p:nvSpPr>
        <p:spPr bwMode="auto">
          <a:xfrm>
            <a:off x="4970463" y="21336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8642" name="Rectangle 34"/>
          <p:cNvSpPr>
            <a:spLocks noChangeArrowheads="1"/>
          </p:cNvSpPr>
          <p:nvPr/>
        </p:nvSpPr>
        <p:spPr bwMode="auto">
          <a:xfrm>
            <a:off x="6400800" y="1217613"/>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8643" name="Rectangle 35"/>
          <p:cNvSpPr>
            <a:spLocks noChangeArrowheads="1"/>
          </p:cNvSpPr>
          <p:nvPr/>
        </p:nvSpPr>
        <p:spPr bwMode="auto">
          <a:xfrm>
            <a:off x="7180263" y="21336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8644" name="Rectangle 36"/>
          <p:cNvSpPr>
            <a:spLocks noChangeArrowheads="1"/>
          </p:cNvSpPr>
          <p:nvPr/>
        </p:nvSpPr>
        <p:spPr bwMode="auto">
          <a:xfrm>
            <a:off x="4495800" y="3048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8645" name="Line 37"/>
          <p:cNvSpPr>
            <a:spLocks noChangeShapeType="1"/>
          </p:cNvSpPr>
          <p:nvPr/>
        </p:nvSpPr>
        <p:spPr bwMode="auto">
          <a:xfrm flipH="1">
            <a:off x="3276600" y="1143000"/>
            <a:ext cx="685800" cy="381000"/>
          </a:xfrm>
          <a:prstGeom prst="line">
            <a:avLst/>
          </a:prstGeom>
          <a:noFill/>
          <a:ln w="28575">
            <a:solidFill>
              <a:srgbClr val="CC3300"/>
            </a:solidFill>
            <a:round/>
            <a:tailEnd type="triangle" w="sm" len="med"/>
          </a:ln>
        </p:spPr>
        <p:txBody>
          <a:bodyPr wrap="none" anchor="ctr"/>
          <a:lstStyle/>
          <a:p>
            <a:endParaRPr lang="zh-CN" altLang="en-US"/>
          </a:p>
        </p:txBody>
      </p:sp>
      <p:sp>
        <p:nvSpPr>
          <p:cNvPr id="68646" name="Line 38"/>
          <p:cNvSpPr>
            <a:spLocks noChangeShapeType="1"/>
          </p:cNvSpPr>
          <p:nvPr/>
        </p:nvSpPr>
        <p:spPr bwMode="auto">
          <a:xfrm flipH="1">
            <a:off x="2362200" y="22098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8647" name="Line 39"/>
          <p:cNvSpPr>
            <a:spLocks noChangeShapeType="1"/>
          </p:cNvSpPr>
          <p:nvPr/>
        </p:nvSpPr>
        <p:spPr bwMode="auto">
          <a:xfrm flipH="1">
            <a:off x="1524000" y="3124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8648" name="Freeform 40"/>
          <p:cNvSpPr/>
          <p:nvPr/>
        </p:nvSpPr>
        <p:spPr bwMode="auto">
          <a:xfrm flipV="1">
            <a:off x="1981200" y="3276600"/>
            <a:ext cx="9144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8649" name="Line 41"/>
          <p:cNvSpPr>
            <a:spLocks noChangeShapeType="1"/>
          </p:cNvSpPr>
          <p:nvPr/>
        </p:nvSpPr>
        <p:spPr bwMode="auto">
          <a:xfrm flipH="1" flipV="1">
            <a:off x="3048000" y="3124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8650" name="Freeform 42"/>
          <p:cNvSpPr/>
          <p:nvPr/>
        </p:nvSpPr>
        <p:spPr bwMode="auto">
          <a:xfrm flipV="1">
            <a:off x="2819400" y="2362200"/>
            <a:ext cx="8382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8651" name="Line 43"/>
          <p:cNvSpPr>
            <a:spLocks noChangeShapeType="1"/>
          </p:cNvSpPr>
          <p:nvPr/>
        </p:nvSpPr>
        <p:spPr bwMode="auto">
          <a:xfrm flipH="1" flipV="1">
            <a:off x="3733800" y="22098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8652" name="Freeform 44"/>
          <p:cNvSpPr/>
          <p:nvPr/>
        </p:nvSpPr>
        <p:spPr bwMode="auto">
          <a:xfrm flipV="1">
            <a:off x="5943600" y="2362200"/>
            <a:ext cx="8382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8653" name="Line 45"/>
          <p:cNvSpPr>
            <a:spLocks noChangeShapeType="1"/>
          </p:cNvSpPr>
          <p:nvPr/>
        </p:nvSpPr>
        <p:spPr bwMode="auto">
          <a:xfrm flipH="1">
            <a:off x="5486400" y="22098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8654" name="Line 46"/>
          <p:cNvSpPr>
            <a:spLocks noChangeShapeType="1"/>
          </p:cNvSpPr>
          <p:nvPr/>
        </p:nvSpPr>
        <p:spPr bwMode="auto">
          <a:xfrm flipH="1" flipV="1">
            <a:off x="6934200" y="22098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8655" name="Line 47"/>
          <p:cNvSpPr>
            <a:spLocks noChangeShapeType="1"/>
          </p:cNvSpPr>
          <p:nvPr/>
        </p:nvSpPr>
        <p:spPr bwMode="auto">
          <a:xfrm flipH="1" flipV="1">
            <a:off x="5486400" y="1143000"/>
            <a:ext cx="609600" cy="381000"/>
          </a:xfrm>
          <a:prstGeom prst="line">
            <a:avLst/>
          </a:prstGeom>
          <a:noFill/>
          <a:ln w="28575">
            <a:solidFill>
              <a:srgbClr val="CC3300"/>
            </a:solidFill>
            <a:round/>
            <a:tailEnd type="triangle" w="sm" len="med"/>
          </a:ln>
        </p:spPr>
        <p:txBody>
          <a:bodyPr wrap="none" anchor="ctr"/>
          <a:lstStyle/>
          <a:p>
            <a:endParaRPr lang="zh-CN" altLang="en-US"/>
          </a:p>
        </p:txBody>
      </p:sp>
      <p:sp>
        <p:nvSpPr>
          <p:cNvPr id="68656" name="Freeform 48"/>
          <p:cNvSpPr/>
          <p:nvPr/>
        </p:nvSpPr>
        <p:spPr bwMode="auto">
          <a:xfrm flipV="1">
            <a:off x="3886200" y="1447800"/>
            <a:ext cx="17526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192561" name="Text Box 49"/>
          <p:cNvSpPr txBox="1">
            <a:spLocks noChangeArrowheads="1"/>
          </p:cNvSpPr>
          <p:nvPr/>
        </p:nvSpPr>
        <p:spPr bwMode="auto">
          <a:xfrm>
            <a:off x="990600" y="4297363"/>
            <a:ext cx="1412875" cy="579437"/>
          </a:xfrm>
          <a:prstGeom prst="rect">
            <a:avLst/>
          </a:prstGeom>
          <a:noFill/>
          <a:ln w="9525">
            <a:noFill/>
            <a:miter lim="800000"/>
          </a:ln>
          <a:effectLst/>
        </p:spPr>
        <p:txBody>
          <a:bodyPr wrap="none">
            <a:spAutoFit/>
          </a:bodyPr>
          <a:lstStyle/>
          <a:p>
            <a:pPr>
              <a:defRPr/>
            </a:pPr>
            <a:r>
              <a:rPr lang="zh-CN" altLang="en-US" sz="3200" b="1" u="sng">
                <a:solidFill>
                  <a:schemeClr val="accent2"/>
                </a:solidFill>
                <a:effectLst>
                  <a:outerShdw blurRad="38100" dist="38100" dir="2700000" algn="tl">
                    <a:srgbClr val="C0C0C0"/>
                  </a:outerShdw>
                </a:effectLst>
                <a:ea typeface="仿宋_GB2312" panose="02010609030101010101" pitchFamily="49" charset="-122"/>
              </a:rPr>
              <a:t>栈结点</a:t>
            </a:r>
            <a:endParaRPr lang="zh-CN" altLang="en-US"/>
          </a:p>
        </p:txBody>
      </p:sp>
      <p:sp>
        <p:nvSpPr>
          <p:cNvPr id="192562" name="Rectangle 50"/>
          <p:cNvSpPr>
            <a:spLocks noChangeArrowheads="1"/>
          </p:cNvSpPr>
          <p:nvPr/>
        </p:nvSpPr>
        <p:spPr bwMode="auto">
          <a:xfrm>
            <a:off x="2743200" y="4419600"/>
            <a:ext cx="2286000" cy="5334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8659" name="Line 51"/>
          <p:cNvSpPr>
            <a:spLocks noChangeShapeType="1"/>
          </p:cNvSpPr>
          <p:nvPr/>
        </p:nvSpPr>
        <p:spPr bwMode="auto">
          <a:xfrm>
            <a:off x="3886200" y="4419600"/>
            <a:ext cx="0" cy="533400"/>
          </a:xfrm>
          <a:prstGeom prst="line">
            <a:avLst/>
          </a:prstGeom>
          <a:noFill/>
          <a:ln w="9525">
            <a:solidFill>
              <a:schemeClr val="tx1"/>
            </a:solidFill>
            <a:round/>
          </a:ln>
        </p:spPr>
        <p:txBody>
          <a:bodyPr wrap="none" anchor="ctr"/>
          <a:lstStyle/>
          <a:p>
            <a:endParaRPr lang="zh-CN" altLang="en-US"/>
          </a:p>
        </p:txBody>
      </p:sp>
      <p:sp>
        <p:nvSpPr>
          <p:cNvPr id="68660" name="Text Box 52"/>
          <p:cNvSpPr txBox="1">
            <a:spLocks noChangeArrowheads="1"/>
          </p:cNvSpPr>
          <p:nvPr/>
        </p:nvSpPr>
        <p:spPr bwMode="auto">
          <a:xfrm>
            <a:off x="3124200" y="4373563"/>
            <a:ext cx="1662113" cy="579437"/>
          </a:xfrm>
          <a:prstGeom prst="rect">
            <a:avLst/>
          </a:prstGeom>
          <a:noFill/>
          <a:ln w="9525">
            <a:noFill/>
            <a:miter lim="800000"/>
          </a:ln>
        </p:spPr>
        <p:txBody>
          <a:bodyPr wrap="none">
            <a:spAutoFit/>
          </a:bodyPr>
          <a:lstStyle/>
          <a:p>
            <a:r>
              <a:rPr lang="en-US" altLang="zh-CN" sz="3200" b="1" dirty="0">
                <a:solidFill>
                  <a:schemeClr val="tx2"/>
                </a:solidFill>
              </a:rPr>
              <a:t>n       tag</a:t>
            </a:r>
            <a:endParaRPr lang="en-US" altLang="zh-CN" dirty="0"/>
          </a:p>
        </p:txBody>
      </p:sp>
      <p:sp>
        <p:nvSpPr>
          <p:cNvPr id="68661" name="Text Box 53"/>
          <p:cNvSpPr txBox="1">
            <a:spLocks noChangeArrowheads="1"/>
          </p:cNvSpPr>
          <p:nvPr/>
        </p:nvSpPr>
        <p:spPr bwMode="auto">
          <a:xfrm>
            <a:off x="1219200" y="5181600"/>
            <a:ext cx="7023013" cy="584775"/>
          </a:xfrm>
          <a:prstGeom prst="rect">
            <a:avLst/>
          </a:prstGeom>
          <a:noFill/>
          <a:ln w="9525">
            <a:noFill/>
            <a:miter lim="800000"/>
          </a:ln>
        </p:spPr>
        <p:txBody>
          <a:bodyPr wrap="none">
            <a:spAutoFit/>
          </a:bodyPr>
          <a:lstStyle/>
          <a:p>
            <a:r>
              <a:rPr lang="en-US" altLang="zh-CN" sz="3200" b="1" dirty="0">
                <a:solidFill>
                  <a:schemeClr val="tx2"/>
                </a:solidFill>
                <a:ea typeface="仿宋_GB2312" panose="02010609030101010101" pitchFamily="49" charset="-122"/>
              </a:rPr>
              <a:t>tag = 1</a:t>
            </a:r>
            <a:r>
              <a:rPr lang="en-US" altLang="zh-CN" sz="3200" b="1" dirty="0">
                <a:solidFill>
                  <a:schemeClr val="accent2"/>
                </a:solidFill>
                <a:ea typeface="仿宋_GB2312" panose="02010609030101010101" pitchFamily="49" charset="-122"/>
              </a:rPr>
              <a:t>, </a:t>
            </a:r>
            <a:r>
              <a:rPr lang="zh-CN" altLang="zh-CN" sz="3200" b="1" dirty="0">
                <a:solidFill>
                  <a:schemeClr val="accent2"/>
                </a:solidFill>
                <a:ea typeface="仿宋_GB2312" panose="02010609030101010101" pitchFamily="49" charset="-122"/>
              </a:rPr>
              <a:t>向左递归；</a:t>
            </a:r>
            <a:r>
              <a:rPr lang="en-US" altLang="zh-CN" sz="3200" b="1" dirty="0">
                <a:solidFill>
                  <a:schemeClr val="tx2"/>
                </a:solidFill>
                <a:ea typeface="仿宋_GB2312" panose="02010609030101010101" pitchFamily="49" charset="-122"/>
              </a:rPr>
              <a:t>tag = 2</a:t>
            </a:r>
            <a:r>
              <a:rPr lang="en-US" altLang="zh-CN" sz="3200" b="1" dirty="0">
                <a:solidFill>
                  <a:schemeClr val="accent2"/>
                </a:solidFill>
                <a:ea typeface="仿宋_GB2312" panose="02010609030101010101" pitchFamily="49" charset="-122"/>
              </a:rPr>
              <a:t>, </a:t>
            </a:r>
            <a:r>
              <a:rPr lang="zh-CN" altLang="en-US" sz="3200" b="1" dirty="0">
                <a:solidFill>
                  <a:schemeClr val="accent2"/>
                </a:solidFill>
                <a:ea typeface="仿宋_GB2312" panose="02010609030101010101" pitchFamily="49" charset="-122"/>
              </a:rPr>
              <a:t>向右递归。</a:t>
            </a:r>
            <a:endParaRPr lang="zh-CN" altLang="en-US" dirty="0"/>
          </a:p>
        </p:txBody>
      </p:sp>
      <p:sp>
        <p:nvSpPr>
          <p:cNvPr id="55" name="内容占位符 2"/>
          <p:cNvSpPr txBox="1"/>
          <p:nvPr/>
        </p:nvSpPr>
        <p:spPr>
          <a:xfrm>
            <a:off x="4677692" y="3667125"/>
            <a:ext cx="3808166" cy="463452"/>
          </a:xfrm>
          <a:prstGeom prst="rect">
            <a:avLst/>
          </a:prstGeom>
          <a:solidFill>
            <a:srgbClr val="92D050"/>
          </a:solidFill>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dirty="0"/>
              <a:t>这些标号是什么意思？</a:t>
            </a:r>
            <a:endParaRPr lang="zh-CN" altLang="en-US" dirty="0"/>
          </a:p>
        </p:txBody>
      </p:sp>
      <p:cxnSp>
        <p:nvCxnSpPr>
          <p:cNvPr id="3" name="直接箭头连接符 2"/>
          <p:cNvCxnSpPr/>
          <p:nvPr/>
        </p:nvCxnSpPr>
        <p:spPr>
          <a:xfrm flipH="1" flipV="1">
            <a:off x="3733800" y="3343275"/>
            <a:ext cx="943892" cy="352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descr="羊皮纸"/>
          <p:cNvSpPr>
            <a:spLocks noChangeArrowheads="1"/>
          </p:cNvSpPr>
          <p:nvPr/>
        </p:nvSpPr>
        <p:spPr bwMode="auto">
          <a:xfrm>
            <a:off x="183515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69635" name="Line 3"/>
          <p:cNvSpPr>
            <a:spLocks noChangeShapeType="1"/>
          </p:cNvSpPr>
          <p:nvPr/>
        </p:nvSpPr>
        <p:spPr bwMode="auto">
          <a:xfrm>
            <a:off x="3429000" y="1905000"/>
            <a:ext cx="381000" cy="381000"/>
          </a:xfrm>
          <a:prstGeom prst="line">
            <a:avLst/>
          </a:prstGeom>
          <a:noFill/>
          <a:ln w="28575">
            <a:solidFill>
              <a:schemeClr val="bg2"/>
            </a:solidFill>
            <a:round/>
          </a:ln>
        </p:spPr>
        <p:txBody>
          <a:bodyPr wrap="none" anchor="ctr"/>
          <a:lstStyle/>
          <a:p>
            <a:endParaRPr lang="zh-CN" altLang="en-US"/>
          </a:p>
        </p:txBody>
      </p:sp>
      <p:sp>
        <p:nvSpPr>
          <p:cNvPr id="69636" name="Line 4"/>
          <p:cNvSpPr>
            <a:spLocks noChangeShapeType="1"/>
          </p:cNvSpPr>
          <p:nvPr/>
        </p:nvSpPr>
        <p:spPr bwMode="auto">
          <a:xfrm>
            <a:off x="2743200" y="2819400"/>
            <a:ext cx="381000" cy="381000"/>
          </a:xfrm>
          <a:prstGeom prst="line">
            <a:avLst/>
          </a:prstGeom>
          <a:noFill/>
          <a:ln w="28575">
            <a:solidFill>
              <a:schemeClr val="bg2"/>
            </a:solidFill>
            <a:round/>
          </a:ln>
        </p:spPr>
        <p:txBody>
          <a:bodyPr wrap="none" anchor="ctr"/>
          <a:lstStyle/>
          <a:p>
            <a:endParaRPr lang="zh-CN" altLang="en-US"/>
          </a:p>
        </p:txBody>
      </p:sp>
      <p:sp>
        <p:nvSpPr>
          <p:cNvPr id="69637" name="Line 5"/>
          <p:cNvSpPr>
            <a:spLocks noChangeShapeType="1"/>
          </p:cNvSpPr>
          <p:nvPr/>
        </p:nvSpPr>
        <p:spPr bwMode="auto">
          <a:xfrm flipH="1">
            <a:off x="1752600" y="2819400"/>
            <a:ext cx="381000" cy="381000"/>
          </a:xfrm>
          <a:prstGeom prst="line">
            <a:avLst/>
          </a:prstGeom>
          <a:noFill/>
          <a:ln w="28575">
            <a:solidFill>
              <a:schemeClr val="bg2"/>
            </a:solidFill>
            <a:round/>
          </a:ln>
        </p:spPr>
        <p:txBody>
          <a:bodyPr wrap="none" anchor="ctr"/>
          <a:lstStyle/>
          <a:p>
            <a:endParaRPr lang="zh-CN" altLang="en-US"/>
          </a:p>
        </p:txBody>
      </p:sp>
      <p:sp>
        <p:nvSpPr>
          <p:cNvPr id="69638" name="Line 6"/>
          <p:cNvSpPr>
            <a:spLocks noChangeShapeType="1"/>
          </p:cNvSpPr>
          <p:nvPr/>
        </p:nvSpPr>
        <p:spPr bwMode="auto">
          <a:xfrm flipH="1">
            <a:off x="2590800" y="1905000"/>
            <a:ext cx="381000" cy="381000"/>
          </a:xfrm>
          <a:prstGeom prst="line">
            <a:avLst/>
          </a:prstGeom>
          <a:noFill/>
          <a:ln w="28575">
            <a:solidFill>
              <a:schemeClr val="bg2"/>
            </a:solidFill>
            <a:round/>
          </a:ln>
        </p:spPr>
        <p:txBody>
          <a:bodyPr wrap="none" anchor="ctr"/>
          <a:lstStyle/>
          <a:p>
            <a:endParaRPr lang="zh-CN" altLang="en-US"/>
          </a:p>
        </p:txBody>
      </p:sp>
      <p:sp>
        <p:nvSpPr>
          <p:cNvPr id="69639" name="Line 7"/>
          <p:cNvSpPr>
            <a:spLocks noChangeShapeType="1"/>
          </p:cNvSpPr>
          <p:nvPr/>
        </p:nvSpPr>
        <p:spPr bwMode="auto">
          <a:xfrm>
            <a:off x="5105400" y="990600"/>
            <a:ext cx="762000" cy="381000"/>
          </a:xfrm>
          <a:prstGeom prst="line">
            <a:avLst/>
          </a:prstGeom>
          <a:noFill/>
          <a:ln w="28575">
            <a:solidFill>
              <a:schemeClr val="bg2"/>
            </a:solidFill>
            <a:round/>
          </a:ln>
        </p:spPr>
        <p:txBody>
          <a:bodyPr wrap="none" anchor="ctr"/>
          <a:lstStyle/>
          <a:p>
            <a:endParaRPr lang="zh-CN" altLang="en-US"/>
          </a:p>
        </p:txBody>
      </p:sp>
      <p:sp>
        <p:nvSpPr>
          <p:cNvPr id="69640" name="Line 8"/>
          <p:cNvSpPr>
            <a:spLocks noChangeShapeType="1"/>
          </p:cNvSpPr>
          <p:nvPr/>
        </p:nvSpPr>
        <p:spPr bwMode="auto">
          <a:xfrm flipH="1">
            <a:off x="3657600" y="990600"/>
            <a:ext cx="685800" cy="381000"/>
          </a:xfrm>
          <a:prstGeom prst="line">
            <a:avLst/>
          </a:prstGeom>
          <a:noFill/>
          <a:ln w="28575">
            <a:solidFill>
              <a:schemeClr val="bg2"/>
            </a:solidFill>
            <a:round/>
          </a:ln>
        </p:spPr>
        <p:txBody>
          <a:bodyPr wrap="none" anchor="ctr"/>
          <a:lstStyle/>
          <a:p>
            <a:endParaRPr lang="zh-CN" altLang="en-US"/>
          </a:p>
        </p:txBody>
      </p:sp>
      <p:sp>
        <p:nvSpPr>
          <p:cNvPr id="193545" name="Rectangle 9"/>
          <p:cNvSpPr>
            <a:spLocks noChangeArrowheads="1"/>
          </p:cNvSpPr>
          <p:nvPr/>
        </p:nvSpPr>
        <p:spPr bwMode="auto">
          <a:xfrm>
            <a:off x="1752600" y="22860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3546" name="Rectangle 10"/>
          <p:cNvSpPr>
            <a:spLocks noChangeArrowheads="1"/>
          </p:cNvSpPr>
          <p:nvPr/>
        </p:nvSpPr>
        <p:spPr bwMode="auto">
          <a:xfrm>
            <a:off x="1066800" y="32004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3547" name="Rectangle 11"/>
          <p:cNvSpPr>
            <a:spLocks noChangeArrowheads="1"/>
          </p:cNvSpPr>
          <p:nvPr/>
        </p:nvSpPr>
        <p:spPr bwMode="auto">
          <a:xfrm>
            <a:off x="2590800" y="32004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9644" name="Text Box 12"/>
          <p:cNvSpPr txBox="1">
            <a:spLocks noChangeArrowheads="1"/>
          </p:cNvSpPr>
          <p:nvPr/>
        </p:nvSpPr>
        <p:spPr bwMode="auto">
          <a:xfrm>
            <a:off x="1095375" y="32051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endParaRPr>
          </a:p>
        </p:txBody>
      </p:sp>
      <p:sp>
        <p:nvSpPr>
          <p:cNvPr id="69645" name="Text Box 13"/>
          <p:cNvSpPr txBox="1">
            <a:spLocks noChangeArrowheads="1"/>
          </p:cNvSpPr>
          <p:nvPr/>
        </p:nvSpPr>
        <p:spPr bwMode="auto">
          <a:xfrm>
            <a:off x="2619375" y="3205163"/>
            <a:ext cx="1114425" cy="519112"/>
          </a:xfrm>
          <a:prstGeom prst="rect">
            <a:avLst/>
          </a:prstGeom>
          <a:noFill/>
          <a:ln w="9525">
            <a:noFill/>
            <a:miter lim="800000"/>
          </a:ln>
        </p:spPr>
        <p:txBody>
          <a:bodyPr wrap="none">
            <a:spAutoFit/>
          </a:bodyPr>
          <a:lstStyle/>
          <a:p>
            <a:r>
              <a:rPr lang="en-US" altLang="zh-CN" sz="2800" b="1">
                <a:solidFill>
                  <a:schemeClr val="accent2"/>
                </a:solidFill>
              </a:rPr>
              <a:t>Fib(0)</a:t>
            </a:r>
            <a:endParaRPr lang="en-US" altLang="zh-CN" sz="2800" b="1">
              <a:solidFill>
                <a:schemeClr val="accent2"/>
              </a:solidFill>
              <a:latin typeface="Arial Narrow" panose="020B0606020202030204" pitchFamily="34" charset="0"/>
            </a:endParaRPr>
          </a:p>
        </p:txBody>
      </p:sp>
      <p:sp>
        <p:nvSpPr>
          <p:cNvPr id="69646" name="Text Box 14"/>
          <p:cNvSpPr txBox="1">
            <a:spLocks noChangeArrowheads="1"/>
          </p:cNvSpPr>
          <p:nvPr/>
        </p:nvSpPr>
        <p:spPr bwMode="auto">
          <a:xfrm>
            <a:off x="1828800" y="2290763"/>
            <a:ext cx="1114425" cy="519112"/>
          </a:xfrm>
          <a:prstGeom prst="rect">
            <a:avLst/>
          </a:prstGeom>
          <a:noFill/>
          <a:ln w="9525">
            <a:noFill/>
            <a:miter lim="800000"/>
          </a:ln>
        </p:spPr>
        <p:txBody>
          <a:bodyPr wrap="none">
            <a:spAutoFit/>
          </a:bodyPr>
          <a:lstStyle/>
          <a:p>
            <a:r>
              <a:rPr lang="en-US" altLang="zh-CN" sz="2800" b="1">
                <a:solidFill>
                  <a:schemeClr val="accent2"/>
                </a:solidFill>
              </a:rPr>
              <a:t>Fib(2)</a:t>
            </a:r>
            <a:endParaRPr lang="en-US" altLang="zh-CN" sz="2800" b="1">
              <a:solidFill>
                <a:schemeClr val="accent2"/>
              </a:solidFill>
              <a:latin typeface="Arial Narrow" panose="020B0606020202030204" pitchFamily="34" charset="0"/>
            </a:endParaRPr>
          </a:p>
        </p:txBody>
      </p:sp>
      <p:sp>
        <p:nvSpPr>
          <p:cNvPr id="69647" name="Line 15"/>
          <p:cNvSpPr>
            <a:spLocks noChangeShapeType="1"/>
          </p:cNvSpPr>
          <p:nvPr/>
        </p:nvSpPr>
        <p:spPr bwMode="auto">
          <a:xfrm>
            <a:off x="6629400" y="1905000"/>
            <a:ext cx="457200" cy="457200"/>
          </a:xfrm>
          <a:prstGeom prst="line">
            <a:avLst/>
          </a:prstGeom>
          <a:noFill/>
          <a:ln w="28575">
            <a:solidFill>
              <a:schemeClr val="bg2"/>
            </a:solidFill>
            <a:round/>
          </a:ln>
        </p:spPr>
        <p:txBody>
          <a:bodyPr wrap="none" anchor="ctr"/>
          <a:lstStyle/>
          <a:p>
            <a:endParaRPr lang="zh-CN" altLang="en-US"/>
          </a:p>
        </p:txBody>
      </p:sp>
      <p:sp>
        <p:nvSpPr>
          <p:cNvPr id="69648" name="Line 16"/>
          <p:cNvSpPr>
            <a:spLocks noChangeShapeType="1"/>
          </p:cNvSpPr>
          <p:nvPr/>
        </p:nvSpPr>
        <p:spPr bwMode="auto">
          <a:xfrm flipH="1">
            <a:off x="5715000" y="1905000"/>
            <a:ext cx="381000" cy="381000"/>
          </a:xfrm>
          <a:prstGeom prst="line">
            <a:avLst/>
          </a:prstGeom>
          <a:noFill/>
          <a:ln w="28575">
            <a:solidFill>
              <a:schemeClr val="bg2"/>
            </a:solidFill>
            <a:round/>
          </a:ln>
        </p:spPr>
        <p:txBody>
          <a:bodyPr wrap="none" anchor="ctr"/>
          <a:lstStyle/>
          <a:p>
            <a:endParaRPr lang="zh-CN" altLang="en-US"/>
          </a:p>
        </p:txBody>
      </p:sp>
      <p:sp>
        <p:nvSpPr>
          <p:cNvPr id="193553" name="Rectangle 17"/>
          <p:cNvSpPr>
            <a:spLocks noChangeArrowheads="1"/>
          </p:cNvSpPr>
          <p:nvPr/>
        </p:nvSpPr>
        <p:spPr bwMode="auto">
          <a:xfrm>
            <a:off x="5715000" y="13716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3554" name="Rectangle 18"/>
          <p:cNvSpPr>
            <a:spLocks noChangeArrowheads="1"/>
          </p:cNvSpPr>
          <p:nvPr/>
        </p:nvSpPr>
        <p:spPr bwMode="auto">
          <a:xfrm>
            <a:off x="5029200" y="22860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3555" name="Rectangle 19"/>
          <p:cNvSpPr>
            <a:spLocks noChangeArrowheads="1"/>
          </p:cNvSpPr>
          <p:nvPr/>
        </p:nvSpPr>
        <p:spPr bwMode="auto">
          <a:xfrm>
            <a:off x="6553200" y="22860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9652" name="Text Box 20"/>
          <p:cNvSpPr txBox="1">
            <a:spLocks noChangeArrowheads="1"/>
          </p:cNvSpPr>
          <p:nvPr/>
        </p:nvSpPr>
        <p:spPr bwMode="auto">
          <a:xfrm>
            <a:off x="5057775" y="22907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endParaRPr>
          </a:p>
        </p:txBody>
      </p:sp>
      <p:sp>
        <p:nvSpPr>
          <p:cNvPr id="69653" name="Text Box 21"/>
          <p:cNvSpPr txBox="1">
            <a:spLocks noChangeArrowheads="1"/>
          </p:cNvSpPr>
          <p:nvPr/>
        </p:nvSpPr>
        <p:spPr bwMode="auto">
          <a:xfrm>
            <a:off x="6581775" y="2290763"/>
            <a:ext cx="1114425" cy="519112"/>
          </a:xfrm>
          <a:prstGeom prst="rect">
            <a:avLst/>
          </a:prstGeom>
          <a:noFill/>
          <a:ln w="9525">
            <a:noFill/>
            <a:miter lim="800000"/>
          </a:ln>
        </p:spPr>
        <p:txBody>
          <a:bodyPr wrap="none">
            <a:spAutoFit/>
          </a:bodyPr>
          <a:lstStyle/>
          <a:p>
            <a:r>
              <a:rPr lang="en-US" altLang="zh-CN" sz="2800" b="1">
                <a:solidFill>
                  <a:schemeClr val="accent2"/>
                </a:solidFill>
              </a:rPr>
              <a:t>Fib(0)</a:t>
            </a:r>
            <a:endParaRPr lang="en-US" altLang="zh-CN" sz="2800" b="1">
              <a:solidFill>
                <a:schemeClr val="accent2"/>
              </a:solidFill>
              <a:latin typeface="Arial Narrow" panose="020B0606020202030204" pitchFamily="34" charset="0"/>
            </a:endParaRPr>
          </a:p>
        </p:txBody>
      </p:sp>
      <p:sp>
        <p:nvSpPr>
          <p:cNvPr id="69654" name="Text Box 22"/>
          <p:cNvSpPr txBox="1">
            <a:spLocks noChangeArrowheads="1"/>
          </p:cNvSpPr>
          <p:nvPr/>
        </p:nvSpPr>
        <p:spPr bwMode="auto">
          <a:xfrm>
            <a:off x="5791200" y="1376363"/>
            <a:ext cx="1114425" cy="519112"/>
          </a:xfrm>
          <a:prstGeom prst="rect">
            <a:avLst/>
          </a:prstGeom>
          <a:noFill/>
          <a:ln w="9525">
            <a:noFill/>
            <a:miter lim="800000"/>
          </a:ln>
        </p:spPr>
        <p:txBody>
          <a:bodyPr wrap="none">
            <a:spAutoFit/>
          </a:bodyPr>
          <a:lstStyle/>
          <a:p>
            <a:r>
              <a:rPr lang="en-US" altLang="zh-CN" sz="2800" b="1">
                <a:solidFill>
                  <a:schemeClr val="accent2"/>
                </a:solidFill>
              </a:rPr>
              <a:t>Fib(2)</a:t>
            </a:r>
            <a:endParaRPr lang="en-US" altLang="zh-CN" sz="2800" b="1">
              <a:solidFill>
                <a:schemeClr val="accent2"/>
              </a:solidFill>
              <a:latin typeface="Arial Narrow" panose="020B0606020202030204" pitchFamily="34" charset="0"/>
            </a:endParaRPr>
          </a:p>
        </p:txBody>
      </p:sp>
      <p:sp>
        <p:nvSpPr>
          <p:cNvPr id="193559" name="Rectangle 23"/>
          <p:cNvSpPr>
            <a:spLocks noChangeArrowheads="1"/>
          </p:cNvSpPr>
          <p:nvPr/>
        </p:nvSpPr>
        <p:spPr bwMode="auto">
          <a:xfrm>
            <a:off x="3276600" y="22860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9656" name="Text Box 24"/>
          <p:cNvSpPr txBox="1">
            <a:spLocks noChangeArrowheads="1"/>
          </p:cNvSpPr>
          <p:nvPr/>
        </p:nvSpPr>
        <p:spPr bwMode="auto">
          <a:xfrm>
            <a:off x="3352800" y="22907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latin typeface="Arial Narrow" panose="020B0606020202030204" pitchFamily="34" charset="0"/>
            </a:endParaRPr>
          </a:p>
        </p:txBody>
      </p:sp>
      <p:sp>
        <p:nvSpPr>
          <p:cNvPr id="193561" name="Rectangle 25"/>
          <p:cNvSpPr>
            <a:spLocks noChangeArrowheads="1"/>
          </p:cNvSpPr>
          <p:nvPr/>
        </p:nvSpPr>
        <p:spPr bwMode="auto">
          <a:xfrm>
            <a:off x="2590800" y="13716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9658" name="Text Box 26"/>
          <p:cNvSpPr txBox="1">
            <a:spLocks noChangeArrowheads="1"/>
          </p:cNvSpPr>
          <p:nvPr/>
        </p:nvSpPr>
        <p:spPr bwMode="auto">
          <a:xfrm>
            <a:off x="2667000" y="1376363"/>
            <a:ext cx="1114425" cy="519112"/>
          </a:xfrm>
          <a:prstGeom prst="rect">
            <a:avLst/>
          </a:prstGeom>
          <a:noFill/>
          <a:ln w="9525">
            <a:noFill/>
            <a:miter lim="800000"/>
          </a:ln>
        </p:spPr>
        <p:txBody>
          <a:bodyPr wrap="none">
            <a:spAutoFit/>
          </a:bodyPr>
          <a:lstStyle/>
          <a:p>
            <a:r>
              <a:rPr lang="en-US" altLang="zh-CN" sz="2800" b="1">
                <a:solidFill>
                  <a:schemeClr val="accent2"/>
                </a:solidFill>
              </a:rPr>
              <a:t>Fib(3)</a:t>
            </a:r>
            <a:endParaRPr lang="en-US" altLang="zh-CN" sz="2800" b="1">
              <a:solidFill>
                <a:schemeClr val="accent2"/>
              </a:solidFill>
              <a:latin typeface="Arial Narrow" panose="020B0606020202030204" pitchFamily="34" charset="0"/>
            </a:endParaRPr>
          </a:p>
        </p:txBody>
      </p:sp>
      <p:sp>
        <p:nvSpPr>
          <p:cNvPr id="193563" name="Rectangle 27"/>
          <p:cNvSpPr>
            <a:spLocks noChangeArrowheads="1"/>
          </p:cNvSpPr>
          <p:nvPr/>
        </p:nvSpPr>
        <p:spPr bwMode="auto">
          <a:xfrm>
            <a:off x="4114800" y="4572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69660" name="Text Box 28"/>
          <p:cNvSpPr txBox="1">
            <a:spLocks noChangeArrowheads="1"/>
          </p:cNvSpPr>
          <p:nvPr/>
        </p:nvSpPr>
        <p:spPr bwMode="auto">
          <a:xfrm>
            <a:off x="4191000" y="461963"/>
            <a:ext cx="1114425" cy="519112"/>
          </a:xfrm>
          <a:prstGeom prst="rect">
            <a:avLst/>
          </a:prstGeom>
          <a:noFill/>
          <a:ln w="9525">
            <a:noFill/>
            <a:miter lim="800000"/>
          </a:ln>
        </p:spPr>
        <p:txBody>
          <a:bodyPr wrap="none">
            <a:spAutoFit/>
          </a:bodyPr>
          <a:lstStyle/>
          <a:p>
            <a:r>
              <a:rPr lang="en-US" altLang="zh-CN" sz="2800" b="1">
                <a:solidFill>
                  <a:schemeClr val="accent2"/>
                </a:solidFill>
              </a:rPr>
              <a:t>Fib(4)</a:t>
            </a:r>
            <a:endParaRPr lang="en-US" altLang="zh-CN" sz="2800" b="1">
              <a:solidFill>
                <a:schemeClr val="accent2"/>
              </a:solidFill>
              <a:latin typeface="Arial Narrow" panose="020B0606020202030204" pitchFamily="34" charset="0"/>
            </a:endParaRPr>
          </a:p>
        </p:txBody>
      </p:sp>
      <p:sp>
        <p:nvSpPr>
          <p:cNvPr id="69661" name="Text Box 29"/>
          <p:cNvSpPr txBox="1">
            <a:spLocks noChangeArrowheads="1"/>
          </p:cNvSpPr>
          <p:nvPr/>
        </p:nvSpPr>
        <p:spPr bwMode="auto">
          <a:xfrm>
            <a:off x="990600" y="27876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662" name="Text Box 30"/>
          <p:cNvSpPr txBox="1">
            <a:spLocks noChangeArrowheads="1"/>
          </p:cNvSpPr>
          <p:nvPr/>
        </p:nvSpPr>
        <p:spPr bwMode="auto">
          <a:xfrm>
            <a:off x="3276600" y="28194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663" name="Text Box 31"/>
          <p:cNvSpPr txBox="1">
            <a:spLocks noChangeArrowheads="1"/>
          </p:cNvSpPr>
          <p:nvPr/>
        </p:nvSpPr>
        <p:spPr bwMode="auto">
          <a:xfrm>
            <a:off x="1676400" y="19050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664" name="Rectangle 32"/>
          <p:cNvSpPr>
            <a:spLocks noChangeArrowheads="1"/>
          </p:cNvSpPr>
          <p:nvPr/>
        </p:nvSpPr>
        <p:spPr bwMode="auto">
          <a:xfrm>
            <a:off x="4038600" y="1828800"/>
            <a:ext cx="592138" cy="641350"/>
          </a:xfrm>
          <a:prstGeom prst="rect">
            <a:avLst/>
          </a:prstGeom>
          <a:noFill/>
          <a:ln w="2857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665" name="Rectangle 33"/>
          <p:cNvSpPr>
            <a:spLocks noChangeArrowheads="1"/>
          </p:cNvSpPr>
          <p:nvPr/>
        </p:nvSpPr>
        <p:spPr bwMode="auto">
          <a:xfrm>
            <a:off x="2514600" y="9906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666" name="Rectangle 34"/>
          <p:cNvSpPr>
            <a:spLocks noChangeArrowheads="1"/>
          </p:cNvSpPr>
          <p:nvPr/>
        </p:nvSpPr>
        <p:spPr bwMode="auto">
          <a:xfrm>
            <a:off x="4970463" y="19050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667" name="Rectangle 35"/>
          <p:cNvSpPr>
            <a:spLocks noChangeArrowheads="1"/>
          </p:cNvSpPr>
          <p:nvPr/>
        </p:nvSpPr>
        <p:spPr bwMode="auto">
          <a:xfrm>
            <a:off x="6400800" y="989013"/>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668" name="Rectangle 36"/>
          <p:cNvSpPr>
            <a:spLocks noChangeArrowheads="1"/>
          </p:cNvSpPr>
          <p:nvPr/>
        </p:nvSpPr>
        <p:spPr bwMode="auto">
          <a:xfrm>
            <a:off x="7180263" y="19050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669" name="Rectangle 37"/>
          <p:cNvSpPr>
            <a:spLocks noChangeArrowheads="1"/>
          </p:cNvSpPr>
          <p:nvPr/>
        </p:nvSpPr>
        <p:spPr bwMode="auto">
          <a:xfrm>
            <a:off x="4495800" y="762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670" name="Line 38"/>
          <p:cNvSpPr>
            <a:spLocks noChangeShapeType="1"/>
          </p:cNvSpPr>
          <p:nvPr/>
        </p:nvSpPr>
        <p:spPr bwMode="auto">
          <a:xfrm flipH="1">
            <a:off x="3276600" y="914400"/>
            <a:ext cx="685800" cy="381000"/>
          </a:xfrm>
          <a:prstGeom prst="line">
            <a:avLst/>
          </a:prstGeom>
          <a:noFill/>
          <a:ln w="28575">
            <a:solidFill>
              <a:srgbClr val="CC3300"/>
            </a:solidFill>
            <a:round/>
            <a:tailEnd type="triangle" w="sm" len="med"/>
          </a:ln>
        </p:spPr>
        <p:txBody>
          <a:bodyPr wrap="none" anchor="ctr"/>
          <a:lstStyle/>
          <a:p>
            <a:endParaRPr lang="zh-CN" altLang="en-US"/>
          </a:p>
        </p:txBody>
      </p:sp>
      <p:sp>
        <p:nvSpPr>
          <p:cNvPr id="69671" name="Line 39"/>
          <p:cNvSpPr>
            <a:spLocks noChangeShapeType="1"/>
          </p:cNvSpPr>
          <p:nvPr/>
        </p:nvSpPr>
        <p:spPr bwMode="auto">
          <a:xfrm flipH="1">
            <a:off x="23622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9672" name="Line 40"/>
          <p:cNvSpPr>
            <a:spLocks noChangeShapeType="1"/>
          </p:cNvSpPr>
          <p:nvPr/>
        </p:nvSpPr>
        <p:spPr bwMode="auto">
          <a:xfrm flipH="1">
            <a:off x="1524000" y="28956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9673" name="Freeform 41"/>
          <p:cNvSpPr/>
          <p:nvPr/>
        </p:nvSpPr>
        <p:spPr bwMode="auto">
          <a:xfrm flipV="1">
            <a:off x="1981200" y="3048000"/>
            <a:ext cx="9144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9674" name="Line 42"/>
          <p:cNvSpPr>
            <a:spLocks noChangeShapeType="1"/>
          </p:cNvSpPr>
          <p:nvPr/>
        </p:nvSpPr>
        <p:spPr bwMode="auto">
          <a:xfrm flipH="1" flipV="1">
            <a:off x="3048000" y="28956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9675" name="Freeform 43"/>
          <p:cNvSpPr/>
          <p:nvPr/>
        </p:nvSpPr>
        <p:spPr bwMode="auto">
          <a:xfrm flipV="1">
            <a:off x="2819400" y="2133600"/>
            <a:ext cx="8382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9676" name="Line 44"/>
          <p:cNvSpPr>
            <a:spLocks noChangeShapeType="1"/>
          </p:cNvSpPr>
          <p:nvPr/>
        </p:nvSpPr>
        <p:spPr bwMode="auto">
          <a:xfrm flipH="1" flipV="1">
            <a:off x="37338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9677" name="Freeform 45"/>
          <p:cNvSpPr/>
          <p:nvPr/>
        </p:nvSpPr>
        <p:spPr bwMode="auto">
          <a:xfrm flipV="1">
            <a:off x="5943600" y="2133600"/>
            <a:ext cx="8382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9678" name="Line 46"/>
          <p:cNvSpPr>
            <a:spLocks noChangeShapeType="1"/>
          </p:cNvSpPr>
          <p:nvPr/>
        </p:nvSpPr>
        <p:spPr bwMode="auto">
          <a:xfrm flipH="1">
            <a:off x="54864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9679" name="Line 47"/>
          <p:cNvSpPr>
            <a:spLocks noChangeShapeType="1"/>
          </p:cNvSpPr>
          <p:nvPr/>
        </p:nvSpPr>
        <p:spPr bwMode="auto">
          <a:xfrm flipH="1" flipV="1">
            <a:off x="69342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69680" name="Line 48"/>
          <p:cNvSpPr>
            <a:spLocks noChangeShapeType="1"/>
          </p:cNvSpPr>
          <p:nvPr/>
        </p:nvSpPr>
        <p:spPr bwMode="auto">
          <a:xfrm flipH="1" flipV="1">
            <a:off x="5486400" y="914400"/>
            <a:ext cx="609600" cy="381000"/>
          </a:xfrm>
          <a:prstGeom prst="line">
            <a:avLst/>
          </a:prstGeom>
          <a:noFill/>
          <a:ln w="28575">
            <a:solidFill>
              <a:srgbClr val="CC3300"/>
            </a:solidFill>
            <a:round/>
            <a:tailEnd type="triangle" w="sm" len="med"/>
          </a:ln>
        </p:spPr>
        <p:txBody>
          <a:bodyPr wrap="none" anchor="ctr"/>
          <a:lstStyle/>
          <a:p>
            <a:endParaRPr lang="zh-CN" altLang="en-US"/>
          </a:p>
        </p:txBody>
      </p:sp>
      <p:sp>
        <p:nvSpPr>
          <p:cNvPr id="69681" name="Freeform 49"/>
          <p:cNvSpPr/>
          <p:nvPr/>
        </p:nvSpPr>
        <p:spPr bwMode="auto">
          <a:xfrm flipV="1">
            <a:off x="3886200" y="1219200"/>
            <a:ext cx="17526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69682" name="Rectangle 50" descr="羊皮纸"/>
          <p:cNvSpPr>
            <a:spLocks noChangeArrowheads="1"/>
          </p:cNvSpPr>
          <p:nvPr/>
        </p:nvSpPr>
        <p:spPr bwMode="auto">
          <a:xfrm>
            <a:off x="53975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69683" name="Line 51"/>
          <p:cNvSpPr>
            <a:spLocks noChangeShapeType="1"/>
          </p:cNvSpPr>
          <p:nvPr/>
        </p:nvSpPr>
        <p:spPr bwMode="auto">
          <a:xfrm>
            <a:off x="539750" y="4191000"/>
            <a:ext cx="0" cy="1447800"/>
          </a:xfrm>
          <a:prstGeom prst="line">
            <a:avLst/>
          </a:prstGeom>
          <a:noFill/>
          <a:ln w="9525">
            <a:solidFill>
              <a:schemeClr val="tx1"/>
            </a:solidFill>
            <a:round/>
          </a:ln>
        </p:spPr>
        <p:txBody>
          <a:bodyPr wrap="none" anchor="ctr"/>
          <a:lstStyle/>
          <a:p>
            <a:endParaRPr lang="zh-CN" altLang="en-US"/>
          </a:p>
        </p:txBody>
      </p:sp>
      <p:sp>
        <p:nvSpPr>
          <p:cNvPr id="69684" name="Line 52"/>
          <p:cNvSpPr>
            <a:spLocks noChangeShapeType="1"/>
          </p:cNvSpPr>
          <p:nvPr/>
        </p:nvSpPr>
        <p:spPr bwMode="auto">
          <a:xfrm>
            <a:off x="533400" y="5638800"/>
            <a:ext cx="1066800" cy="0"/>
          </a:xfrm>
          <a:prstGeom prst="line">
            <a:avLst/>
          </a:prstGeom>
          <a:noFill/>
          <a:ln w="9525">
            <a:solidFill>
              <a:schemeClr val="tx1"/>
            </a:solidFill>
            <a:round/>
          </a:ln>
        </p:spPr>
        <p:txBody>
          <a:bodyPr wrap="none" anchor="ctr"/>
          <a:lstStyle/>
          <a:p>
            <a:endParaRPr lang="zh-CN" altLang="en-US"/>
          </a:p>
        </p:txBody>
      </p:sp>
      <p:sp>
        <p:nvSpPr>
          <p:cNvPr id="69685" name="Line 53"/>
          <p:cNvSpPr>
            <a:spLocks noChangeShapeType="1"/>
          </p:cNvSpPr>
          <p:nvPr/>
        </p:nvSpPr>
        <p:spPr bwMode="auto">
          <a:xfrm flipV="1">
            <a:off x="1606550" y="4191000"/>
            <a:ext cx="0" cy="1447800"/>
          </a:xfrm>
          <a:prstGeom prst="line">
            <a:avLst/>
          </a:prstGeom>
          <a:noFill/>
          <a:ln w="9525">
            <a:solidFill>
              <a:schemeClr val="tx1"/>
            </a:solidFill>
            <a:round/>
          </a:ln>
        </p:spPr>
        <p:txBody>
          <a:bodyPr wrap="none" anchor="ctr"/>
          <a:lstStyle/>
          <a:p>
            <a:endParaRPr lang="zh-CN" altLang="en-US"/>
          </a:p>
        </p:txBody>
      </p:sp>
      <p:sp>
        <p:nvSpPr>
          <p:cNvPr id="69686" name="Line 54"/>
          <p:cNvSpPr>
            <a:spLocks noChangeShapeType="1"/>
          </p:cNvSpPr>
          <p:nvPr/>
        </p:nvSpPr>
        <p:spPr bwMode="auto">
          <a:xfrm flipV="1">
            <a:off x="1073150" y="4191000"/>
            <a:ext cx="0" cy="1447800"/>
          </a:xfrm>
          <a:prstGeom prst="line">
            <a:avLst/>
          </a:prstGeom>
          <a:noFill/>
          <a:ln w="9525">
            <a:solidFill>
              <a:schemeClr val="tx1"/>
            </a:solidFill>
            <a:round/>
          </a:ln>
        </p:spPr>
        <p:txBody>
          <a:bodyPr wrap="none" anchor="ctr"/>
          <a:lstStyle/>
          <a:p>
            <a:endParaRPr lang="zh-CN" altLang="en-US"/>
          </a:p>
        </p:txBody>
      </p:sp>
      <p:sp>
        <p:nvSpPr>
          <p:cNvPr id="69687" name="Line 55"/>
          <p:cNvSpPr>
            <a:spLocks noChangeShapeType="1"/>
          </p:cNvSpPr>
          <p:nvPr/>
        </p:nvSpPr>
        <p:spPr bwMode="auto">
          <a:xfrm>
            <a:off x="533400" y="5181600"/>
            <a:ext cx="1066800" cy="0"/>
          </a:xfrm>
          <a:prstGeom prst="line">
            <a:avLst/>
          </a:prstGeom>
          <a:noFill/>
          <a:ln w="9525">
            <a:solidFill>
              <a:schemeClr val="tx1"/>
            </a:solidFill>
            <a:round/>
          </a:ln>
        </p:spPr>
        <p:txBody>
          <a:bodyPr wrap="none" anchor="ctr"/>
          <a:lstStyle/>
          <a:p>
            <a:endParaRPr lang="zh-CN" altLang="en-US"/>
          </a:p>
        </p:txBody>
      </p:sp>
      <p:sp>
        <p:nvSpPr>
          <p:cNvPr id="69688" name="Line 56"/>
          <p:cNvSpPr>
            <a:spLocks noChangeShapeType="1"/>
          </p:cNvSpPr>
          <p:nvPr/>
        </p:nvSpPr>
        <p:spPr bwMode="auto">
          <a:xfrm>
            <a:off x="533400" y="4267200"/>
            <a:ext cx="1066800" cy="0"/>
          </a:xfrm>
          <a:prstGeom prst="line">
            <a:avLst/>
          </a:prstGeom>
          <a:noFill/>
          <a:ln w="9525">
            <a:solidFill>
              <a:schemeClr val="tx1"/>
            </a:solidFill>
            <a:round/>
          </a:ln>
        </p:spPr>
        <p:txBody>
          <a:bodyPr wrap="none" anchor="ctr"/>
          <a:lstStyle/>
          <a:p>
            <a:endParaRPr lang="zh-CN" altLang="en-US"/>
          </a:p>
        </p:txBody>
      </p:sp>
      <p:sp>
        <p:nvSpPr>
          <p:cNvPr id="69689" name="Line 57"/>
          <p:cNvSpPr>
            <a:spLocks noChangeShapeType="1"/>
          </p:cNvSpPr>
          <p:nvPr/>
        </p:nvSpPr>
        <p:spPr bwMode="auto">
          <a:xfrm>
            <a:off x="533400" y="4724400"/>
            <a:ext cx="1066800" cy="0"/>
          </a:xfrm>
          <a:prstGeom prst="line">
            <a:avLst/>
          </a:prstGeom>
          <a:noFill/>
          <a:ln w="9525">
            <a:solidFill>
              <a:schemeClr val="tx1"/>
            </a:solidFill>
            <a:round/>
          </a:ln>
        </p:spPr>
        <p:txBody>
          <a:bodyPr wrap="none" anchor="ctr"/>
          <a:lstStyle/>
          <a:p>
            <a:endParaRPr lang="zh-CN" altLang="en-US"/>
          </a:p>
        </p:txBody>
      </p:sp>
      <p:sp>
        <p:nvSpPr>
          <p:cNvPr id="69690" name="Text Box 58"/>
          <p:cNvSpPr txBox="1">
            <a:spLocks noChangeArrowheads="1"/>
          </p:cNvSpPr>
          <p:nvPr/>
        </p:nvSpPr>
        <p:spPr bwMode="auto">
          <a:xfrm>
            <a:off x="654050" y="4265613"/>
            <a:ext cx="895350" cy="1373187"/>
          </a:xfrm>
          <a:prstGeom prst="rect">
            <a:avLst/>
          </a:prstGeom>
          <a:noFill/>
          <a:ln w="9525">
            <a:noFill/>
            <a:miter lim="800000"/>
          </a:ln>
        </p:spPr>
        <p:txBody>
          <a:bodyPr wrap="none">
            <a:spAutoFit/>
          </a:bodyPr>
          <a:lstStyle/>
          <a:p>
            <a:r>
              <a:rPr lang="en-US" altLang="zh-CN" sz="2800"/>
              <a:t>2    </a:t>
            </a:r>
            <a:r>
              <a:rPr lang="en-US" altLang="zh-CN" sz="2800">
                <a:solidFill>
                  <a:schemeClr val="accent2"/>
                </a:solidFill>
              </a:rPr>
              <a:t>1</a:t>
            </a:r>
            <a:endParaRPr lang="en-US" altLang="zh-CN" sz="2800"/>
          </a:p>
          <a:p>
            <a:r>
              <a:rPr lang="en-US" altLang="zh-CN" sz="2800"/>
              <a:t>3    </a:t>
            </a:r>
            <a:r>
              <a:rPr lang="en-US" altLang="zh-CN" sz="2800">
                <a:solidFill>
                  <a:schemeClr val="accent2"/>
                </a:solidFill>
              </a:rPr>
              <a:t>1</a:t>
            </a:r>
            <a:endParaRPr lang="en-US" altLang="zh-CN" sz="2800"/>
          </a:p>
          <a:p>
            <a:r>
              <a:rPr lang="en-US" altLang="zh-CN" sz="2800"/>
              <a:t>4    </a:t>
            </a:r>
            <a:r>
              <a:rPr lang="en-US" altLang="zh-CN" sz="2800">
                <a:solidFill>
                  <a:schemeClr val="accent2"/>
                </a:solidFill>
              </a:rPr>
              <a:t>1</a:t>
            </a:r>
            <a:endParaRPr lang="en-US" altLang="zh-CN"/>
          </a:p>
        </p:txBody>
      </p:sp>
      <p:sp>
        <p:nvSpPr>
          <p:cNvPr id="69691" name="Text Box 59"/>
          <p:cNvSpPr txBox="1">
            <a:spLocks noChangeArrowheads="1"/>
          </p:cNvSpPr>
          <p:nvPr/>
        </p:nvSpPr>
        <p:spPr bwMode="auto">
          <a:xfrm>
            <a:off x="381000" y="5603875"/>
            <a:ext cx="1377950" cy="822325"/>
          </a:xfrm>
          <a:prstGeom prst="rect">
            <a:avLst/>
          </a:prstGeom>
          <a:noFill/>
          <a:ln w="9525">
            <a:noFill/>
            <a:miter lim="800000"/>
          </a:ln>
        </p:spPr>
        <p:txBody>
          <a:bodyPr wrap="none">
            <a:spAutoFit/>
          </a:bodyPr>
          <a:lstStyle/>
          <a:p>
            <a:pPr algn="ctr"/>
            <a:r>
              <a:rPr lang="en-US" altLang="zh-CN" b="1">
                <a:solidFill>
                  <a:srgbClr val="333399"/>
                </a:solidFill>
              </a:rPr>
              <a:t>      n=1</a:t>
            </a:r>
            <a:endParaRPr lang="en-US" altLang="zh-CN" b="1">
              <a:solidFill>
                <a:srgbClr val="333399"/>
              </a:solidFill>
            </a:endParaRPr>
          </a:p>
          <a:p>
            <a:pPr algn="ctr"/>
            <a:r>
              <a:rPr lang="en-US" altLang="zh-CN" b="1">
                <a:solidFill>
                  <a:srgbClr val="333399"/>
                </a:solidFill>
              </a:rPr>
              <a:t>sum=0+1</a:t>
            </a:r>
            <a:endParaRPr lang="en-US" altLang="zh-CN"/>
          </a:p>
        </p:txBody>
      </p:sp>
      <p:sp>
        <p:nvSpPr>
          <p:cNvPr id="69692" name="Line 60"/>
          <p:cNvSpPr>
            <a:spLocks noChangeShapeType="1"/>
          </p:cNvSpPr>
          <p:nvPr/>
        </p:nvSpPr>
        <p:spPr bwMode="auto">
          <a:xfrm>
            <a:off x="1828800" y="4191000"/>
            <a:ext cx="0" cy="1447800"/>
          </a:xfrm>
          <a:prstGeom prst="line">
            <a:avLst/>
          </a:prstGeom>
          <a:noFill/>
          <a:ln w="9525">
            <a:solidFill>
              <a:schemeClr val="tx1"/>
            </a:solidFill>
            <a:round/>
          </a:ln>
        </p:spPr>
        <p:txBody>
          <a:bodyPr wrap="none" anchor="ctr"/>
          <a:lstStyle/>
          <a:p>
            <a:endParaRPr lang="zh-CN" altLang="en-US"/>
          </a:p>
        </p:txBody>
      </p:sp>
      <p:sp>
        <p:nvSpPr>
          <p:cNvPr id="69693" name="Line 61"/>
          <p:cNvSpPr>
            <a:spLocks noChangeShapeType="1"/>
          </p:cNvSpPr>
          <p:nvPr/>
        </p:nvSpPr>
        <p:spPr bwMode="auto">
          <a:xfrm flipV="1">
            <a:off x="2895600" y="4191000"/>
            <a:ext cx="0" cy="1447800"/>
          </a:xfrm>
          <a:prstGeom prst="line">
            <a:avLst/>
          </a:prstGeom>
          <a:noFill/>
          <a:ln w="9525">
            <a:solidFill>
              <a:schemeClr val="tx1"/>
            </a:solidFill>
            <a:round/>
          </a:ln>
        </p:spPr>
        <p:txBody>
          <a:bodyPr wrap="none" anchor="ctr"/>
          <a:lstStyle/>
          <a:p>
            <a:endParaRPr lang="zh-CN" altLang="en-US"/>
          </a:p>
        </p:txBody>
      </p:sp>
      <p:sp>
        <p:nvSpPr>
          <p:cNvPr id="69694" name="Line 62"/>
          <p:cNvSpPr>
            <a:spLocks noChangeShapeType="1"/>
          </p:cNvSpPr>
          <p:nvPr/>
        </p:nvSpPr>
        <p:spPr bwMode="auto">
          <a:xfrm flipV="1">
            <a:off x="2374900" y="4191000"/>
            <a:ext cx="0" cy="1447800"/>
          </a:xfrm>
          <a:prstGeom prst="line">
            <a:avLst/>
          </a:prstGeom>
          <a:noFill/>
          <a:ln w="9525">
            <a:solidFill>
              <a:schemeClr val="tx1"/>
            </a:solidFill>
            <a:round/>
          </a:ln>
        </p:spPr>
        <p:txBody>
          <a:bodyPr wrap="none" anchor="ctr"/>
          <a:lstStyle/>
          <a:p>
            <a:endParaRPr lang="zh-CN" altLang="en-US"/>
          </a:p>
        </p:txBody>
      </p:sp>
      <p:sp>
        <p:nvSpPr>
          <p:cNvPr id="69695" name="Line 63"/>
          <p:cNvSpPr>
            <a:spLocks noChangeShapeType="1"/>
          </p:cNvSpPr>
          <p:nvPr/>
        </p:nvSpPr>
        <p:spPr bwMode="auto">
          <a:xfrm>
            <a:off x="1835150" y="4267200"/>
            <a:ext cx="1066800" cy="0"/>
          </a:xfrm>
          <a:prstGeom prst="line">
            <a:avLst/>
          </a:prstGeom>
          <a:noFill/>
          <a:ln w="9525">
            <a:solidFill>
              <a:schemeClr val="tx1"/>
            </a:solidFill>
            <a:round/>
          </a:ln>
        </p:spPr>
        <p:txBody>
          <a:bodyPr wrap="none" anchor="ctr"/>
          <a:lstStyle/>
          <a:p>
            <a:endParaRPr lang="zh-CN" altLang="en-US"/>
          </a:p>
        </p:txBody>
      </p:sp>
      <p:sp>
        <p:nvSpPr>
          <p:cNvPr id="69696" name="Text Box 64"/>
          <p:cNvSpPr txBox="1">
            <a:spLocks noChangeArrowheads="1"/>
          </p:cNvSpPr>
          <p:nvPr/>
        </p:nvSpPr>
        <p:spPr bwMode="auto">
          <a:xfrm>
            <a:off x="1955800" y="4265613"/>
            <a:ext cx="895350" cy="1373187"/>
          </a:xfrm>
          <a:prstGeom prst="rect">
            <a:avLst/>
          </a:prstGeom>
          <a:noFill/>
          <a:ln w="9525">
            <a:noFill/>
            <a:miter lim="800000"/>
          </a:ln>
        </p:spPr>
        <p:txBody>
          <a:bodyPr wrap="none">
            <a:spAutoFit/>
          </a:bodyPr>
          <a:lstStyle/>
          <a:p>
            <a:r>
              <a:rPr lang="en-US" altLang="zh-CN" sz="2800"/>
              <a:t>2    </a:t>
            </a:r>
            <a:r>
              <a:rPr lang="en-US" altLang="zh-CN" sz="2800">
                <a:solidFill>
                  <a:schemeClr val="tx2"/>
                </a:solidFill>
              </a:rPr>
              <a:t>2</a:t>
            </a:r>
            <a:endParaRPr lang="en-US" altLang="zh-CN" sz="2800"/>
          </a:p>
          <a:p>
            <a:r>
              <a:rPr lang="en-US" altLang="zh-CN" sz="2800"/>
              <a:t>3    </a:t>
            </a:r>
            <a:r>
              <a:rPr lang="en-US" altLang="zh-CN" sz="2800">
                <a:solidFill>
                  <a:schemeClr val="accent2"/>
                </a:solidFill>
              </a:rPr>
              <a:t>1</a:t>
            </a:r>
            <a:endParaRPr lang="en-US" altLang="zh-CN" sz="2800"/>
          </a:p>
          <a:p>
            <a:r>
              <a:rPr lang="en-US" altLang="zh-CN" sz="2800"/>
              <a:t>4    </a:t>
            </a:r>
            <a:r>
              <a:rPr lang="en-US" altLang="zh-CN" sz="2800">
                <a:solidFill>
                  <a:schemeClr val="accent2"/>
                </a:solidFill>
              </a:rPr>
              <a:t>1</a:t>
            </a:r>
            <a:endParaRPr lang="en-US" altLang="zh-CN"/>
          </a:p>
        </p:txBody>
      </p:sp>
      <p:sp>
        <p:nvSpPr>
          <p:cNvPr id="69697" name="Text Box 65"/>
          <p:cNvSpPr txBox="1">
            <a:spLocks noChangeArrowheads="1"/>
          </p:cNvSpPr>
          <p:nvPr/>
        </p:nvSpPr>
        <p:spPr bwMode="auto">
          <a:xfrm>
            <a:off x="1912938" y="5943600"/>
            <a:ext cx="933450" cy="457200"/>
          </a:xfrm>
          <a:prstGeom prst="rect">
            <a:avLst/>
          </a:prstGeom>
          <a:noFill/>
          <a:ln w="9525">
            <a:noFill/>
            <a:miter lim="800000"/>
          </a:ln>
        </p:spPr>
        <p:txBody>
          <a:bodyPr wrap="none">
            <a:spAutoFit/>
          </a:bodyPr>
          <a:lstStyle/>
          <a:p>
            <a:pPr algn="ctr"/>
            <a:r>
              <a:rPr lang="en-US" altLang="zh-CN" b="1">
                <a:solidFill>
                  <a:srgbClr val="333399"/>
                </a:solidFill>
              </a:rPr>
              <a:t>n=2-2</a:t>
            </a:r>
            <a:endParaRPr lang="en-US" altLang="zh-CN"/>
          </a:p>
        </p:txBody>
      </p:sp>
      <p:sp>
        <p:nvSpPr>
          <p:cNvPr id="69698" name="Line 66"/>
          <p:cNvSpPr>
            <a:spLocks noChangeShapeType="1"/>
          </p:cNvSpPr>
          <p:nvPr/>
        </p:nvSpPr>
        <p:spPr bwMode="auto">
          <a:xfrm>
            <a:off x="1828800" y="4724400"/>
            <a:ext cx="1066800" cy="0"/>
          </a:xfrm>
          <a:prstGeom prst="line">
            <a:avLst/>
          </a:prstGeom>
          <a:noFill/>
          <a:ln w="9525">
            <a:solidFill>
              <a:schemeClr val="tx1"/>
            </a:solidFill>
            <a:round/>
          </a:ln>
        </p:spPr>
        <p:txBody>
          <a:bodyPr wrap="none" anchor="ctr"/>
          <a:lstStyle/>
          <a:p>
            <a:endParaRPr lang="zh-CN" altLang="en-US"/>
          </a:p>
        </p:txBody>
      </p:sp>
      <p:sp>
        <p:nvSpPr>
          <p:cNvPr id="69699" name="Line 67"/>
          <p:cNvSpPr>
            <a:spLocks noChangeShapeType="1"/>
          </p:cNvSpPr>
          <p:nvPr/>
        </p:nvSpPr>
        <p:spPr bwMode="auto">
          <a:xfrm>
            <a:off x="1828800" y="5181600"/>
            <a:ext cx="1066800" cy="0"/>
          </a:xfrm>
          <a:prstGeom prst="line">
            <a:avLst/>
          </a:prstGeom>
          <a:noFill/>
          <a:ln w="9525">
            <a:solidFill>
              <a:schemeClr val="tx1"/>
            </a:solidFill>
            <a:round/>
          </a:ln>
        </p:spPr>
        <p:txBody>
          <a:bodyPr wrap="none" anchor="ctr"/>
          <a:lstStyle/>
          <a:p>
            <a:endParaRPr lang="zh-CN" altLang="en-US"/>
          </a:p>
        </p:txBody>
      </p:sp>
      <p:sp>
        <p:nvSpPr>
          <p:cNvPr id="69700" name="Line 68"/>
          <p:cNvSpPr>
            <a:spLocks noChangeShapeType="1"/>
          </p:cNvSpPr>
          <p:nvPr/>
        </p:nvSpPr>
        <p:spPr bwMode="auto">
          <a:xfrm>
            <a:off x="1828800" y="5638800"/>
            <a:ext cx="1066800" cy="0"/>
          </a:xfrm>
          <a:prstGeom prst="line">
            <a:avLst/>
          </a:prstGeom>
          <a:noFill/>
          <a:ln w="9525">
            <a:solidFill>
              <a:schemeClr val="tx1"/>
            </a:solidFill>
            <a:round/>
          </a:ln>
        </p:spPr>
        <p:txBody>
          <a:bodyPr wrap="none" anchor="ctr"/>
          <a:lstStyle/>
          <a:p>
            <a:endParaRPr lang="zh-CN" altLang="en-US"/>
          </a:p>
        </p:txBody>
      </p:sp>
      <p:sp>
        <p:nvSpPr>
          <p:cNvPr id="69701" name="Rectangle 69" descr="羊皮纸"/>
          <p:cNvSpPr>
            <a:spLocks noChangeArrowheads="1"/>
          </p:cNvSpPr>
          <p:nvPr/>
        </p:nvSpPr>
        <p:spPr bwMode="auto">
          <a:xfrm>
            <a:off x="449580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69702" name="Rectangle 70" descr="羊皮纸"/>
          <p:cNvSpPr>
            <a:spLocks noChangeArrowheads="1"/>
          </p:cNvSpPr>
          <p:nvPr/>
        </p:nvSpPr>
        <p:spPr bwMode="auto">
          <a:xfrm>
            <a:off x="320040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69703" name="Text Box 71"/>
          <p:cNvSpPr txBox="1">
            <a:spLocks noChangeArrowheads="1"/>
          </p:cNvSpPr>
          <p:nvPr/>
        </p:nvSpPr>
        <p:spPr bwMode="auto">
          <a:xfrm>
            <a:off x="3314700" y="4692650"/>
            <a:ext cx="895350" cy="946150"/>
          </a:xfrm>
          <a:prstGeom prst="rect">
            <a:avLst/>
          </a:prstGeom>
          <a:noFill/>
          <a:ln w="9525">
            <a:noFill/>
            <a:miter lim="800000"/>
          </a:ln>
        </p:spPr>
        <p:txBody>
          <a:bodyPr wrap="none">
            <a:spAutoFit/>
          </a:bodyPr>
          <a:lstStyle/>
          <a:p>
            <a:r>
              <a:rPr lang="en-US" altLang="zh-CN" sz="2800"/>
              <a:t>3    </a:t>
            </a:r>
            <a:r>
              <a:rPr lang="en-US" altLang="zh-CN" sz="2800">
                <a:solidFill>
                  <a:schemeClr val="accent2"/>
                </a:solidFill>
              </a:rPr>
              <a:t>1</a:t>
            </a:r>
            <a:endParaRPr lang="en-US" altLang="zh-CN" sz="2800"/>
          </a:p>
          <a:p>
            <a:r>
              <a:rPr lang="en-US" altLang="zh-CN" sz="2800"/>
              <a:t>4    </a:t>
            </a:r>
            <a:r>
              <a:rPr lang="en-US" altLang="zh-CN" sz="2800">
                <a:solidFill>
                  <a:schemeClr val="accent2"/>
                </a:solidFill>
              </a:rPr>
              <a:t>1</a:t>
            </a:r>
            <a:endParaRPr lang="en-US" altLang="zh-CN"/>
          </a:p>
        </p:txBody>
      </p:sp>
      <p:sp>
        <p:nvSpPr>
          <p:cNvPr id="69704" name="Text Box 72"/>
          <p:cNvSpPr txBox="1">
            <a:spLocks noChangeArrowheads="1"/>
          </p:cNvSpPr>
          <p:nvPr/>
        </p:nvSpPr>
        <p:spPr bwMode="auto">
          <a:xfrm>
            <a:off x="3117850" y="5635625"/>
            <a:ext cx="1377950" cy="822325"/>
          </a:xfrm>
          <a:prstGeom prst="rect">
            <a:avLst/>
          </a:prstGeom>
          <a:noFill/>
          <a:ln w="9525">
            <a:noFill/>
            <a:miter lim="800000"/>
          </a:ln>
        </p:spPr>
        <p:txBody>
          <a:bodyPr wrap="none">
            <a:spAutoFit/>
          </a:bodyPr>
          <a:lstStyle/>
          <a:p>
            <a:pPr algn="ctr"/>
            <a:r>
              <a:rPr lang="en-US" altLang="zh-CN" b="1">
                <a:solidFill>
                  <a:srgbClr val="333399"/>
                </a:solidFill>
              </a:rPr>
              <a:t>    n=0</a:t>
            </a:r>
            <a:endParaRPr lang="en-US" altLang="zh-CN" b="1">
              <a:solidFill>
                <a:srgbClr val="333399"/>
              </a:solidFill>
            </a:endParaRPr>
          </a:p>
          <a:p>
            <a:pPr algn="ctr"/>
            <a:r>
              <a:rPr lang="en-US" altLang="zh-CN" b="1">
                <a:solidFill>
                  <a:srgbClr val="333399"/>
                </a:solidFill>
              </a:rPr>
              <a:t>sum=1+0</a:t>
            </a:r>
            <a:endParaRPr lang="en-US" altLang="zh-CN"/>
          </a:p>
        </p:txBody>
      </p:sp>
      <p:sp>
        <p:nvSpPr>
          <p:cNvPr id="69705" name="Text Box 73"/>
          <p:cNvSpPr txBox="1">
            <a:spLocks noChangeArrowheads="1"/>
          </p:cNvSpPr>
          <p:nvPr/>
        </p:nvSpPr>
        <p:spPr bwMode="auto">
          <a:xfrm>
            <a:off x="4616450" y="4692650"/>
            <a:ext cx="895350" cy="946150"/>
          </a:xfrm>
          <a:prstGeom prst="rect">
            <a:avLst/>
          </a:prstGeom>
          <a:noFill/>
          <a:ln w="9525">
            <a:noFill/>
            <a:miter lim="800000"/>
          </a:ln>
        </p:spPr>
        <p:txBody>
          <a:bodyPr wrap="none">
            <a:spAutoFit/>
          </a:bodyPr>
          <a:lstStyle/>
          <a:p>
            <a:r>
              <a:rPr lang="en-US" altLang="zh-CN" sz="2800"/>
              <a:t>3   </a:t>
            </a:r>
            <a:r>
              <a:rPr lang="en-US" altLang="zh-CN" sz="2800">
                <a:solidFill>
                  <a:schemeClr val="tx2"/>
                </a:solidFill>
              </a:rPr>
              <a:t> 2</a:t>
            </a:r>
            <a:endParaRPr lang="en-US" altLang="zh-CN" sz="2800"/>
          </a:p>
          <a:p>
            <a:r>
              <a:rPr lang="en-US" altLang="zh-CN" sz="2800"/>
              <a:t>4    </a:t>
            </a:r>
            <a:r>
              <a:rPr lang="en-US" altLang="zh-CN" sz="2800">
                <a:solidFill>
                  <a:schemeClr val="accent2"/>
                </a:solidFill>
              </a:rPr>
              <a:t>1</a:t>
            </a:r>
            <a:endParaRPr lang="en-US" altLang="zh-CN"/>
          </a:p>
        </p:txBody>
      </p:sp>
      <p:sp>
        <p:nvSpPr>
          <p:cNvPr id="69706" name="Text Box 74"/>
          <p:cNvSpPr txBox="1">
            <a:spLocks noChangeArrowheads="1"/>
          </p:cNvSpPr>
          <p:nvPr/>
        </p:nvSpPr>
        <p:spPr bwMode="auto">
          <a:xfrm>
            <a:off x="4564063" y="5943600"/>
            <a:ext cx="933450" cy="457200"/>
          </a:xfrm>
          <a:prstGeom prst="rect">
            <a:avLst/>
          </a:prstGeom>
          <a:noFill/>
          <a:ln w="9525">
            <a:noFill/>
            <a:miter lim="800000"/>
          </a:ln>
        </p:spPr>
        <p:txBody>
          <a:bodyPr wrap="none">
            <a:spAutoFit/>
          </a:bodyPr>
          <a:lstStyle/>
          <a:p>
            <a:pPr algn="ctr"/>
            <a:r>
              <a:rPr lang="en-US" altLang="zh-CN" b="1">
                <a:solidFill>
                  <a:srgbClr val="333399"/>
                </a:solidFill>
              </a:rPr>
              <a:t>n=3-2</a:t>
            </a:r>
            <a:endParaRPr lang="en-US" altLang="zh-CN"/>
          </a:p>
        </p:txBody>
      </p:sp>
      <p:sp>
        <p:nvSpPr>
          <p:cNvPr id="69707" name="Line 75"/>
          <p:cNvSpPr>
            <a:spLocks noChangeShapeType="1"/>
          </p:cNvSpPr>
          <p:nvPr/>
        </p:nvSpPr>
        <p:spPr bwMode="auto">
          <a:xfrm flipV="1">
            <a:off x="3200400" y="4191000"/>
            <a:ext cx="0" cy="1447800"/>
          </a:xfrm>
          <a:prstGeom prst="line">
            <a:avLst/>
          </a:prstGeom>
          <a:noFill/>
          <a:ln w="9525">
            <a:solidFill>
              <a:schemeClr val="tx1"/>
            </a:solidFill>
            <a:round/>
          </a:ln>
        </p:spPr>
        <p:txBody>
          <a:bodyPr wrap="none" anchor="ctr"/>
          <a:lstStyle/>
          <a:p>
            <a:endParaRPr lang="zh-CN" altLang="en-US"/>
          </a:p>
        </p:txBody>
      </p:sp>
      <p:sp>
        <p:nvSpPr>
          <p:cNvPr id="69708" name="Line 76"/>
          <p:cNvSpPr>
            <a:spLocks noChangeShapeType="1"/>
          </p:cNvSpPr>
          <p:nvPr/>
        </p:nvSpPr>
        <p:spPr bwMode="auto">
          <a:xfrm flipV="1">
            <a:off x="4267200" y="4191000"/>
            <a:ext cx="0" cy="1447800"/>
          </a:xfrm>
          <a:prstGeom prst="line">
            <a:avLst/>
          </a:prstGeom>
          <a:noFill/>
          <a:ln w="9525">
            <a:solidFill>
              <a:schemeClr val="tx1"/>
            </a:solidFill>
            <a:round/>
          </a:ln>
        </p:spPr>
        <p:txBody>
          <a:bodyPr wrap="none" anchor="ctr"/>
          <a:lstStyle/>
          <a:p>
            <a:endParaRPr lang="zh-CN" altLang="en-US"/>
          </a:p>
        </p:txBody>
      </p:sp>
      <p:sp>
        <p:nvSpPr>
          <p:cNvPr id="69709" name="Line 77"/>
          <p:cNvSpPr>
            <a:spLocks noChangeShapeType="1"/>
          </p:cNvSpPr>
          <p:nvPr/>
        </p:nvSpPr>
        <p:spPr bwMode="auto">
          <a:xfrm flipV="1">
            <a:off x="4495800" y="4191000"/>
            <a:ext cx="0" cy="1447800"/>
          </a:xfrm>
          <a:prstGeom prst="line">
            <a:avLst/>
          </a:prstGeom>
          <a:noFill/>
          <a:ln w="9525">
            <a:solidFill>
              <a:schemeClr val="tx1"/>
            </a:solidFill>
            <a:round/>
          </a:ln>
        </p:spPr>
        <p:txBody>
          <a:bodyPr wrap="none" anchor="ctr"/>
          <a:lstStyle/>
          <a:p>
            <a:endParaRPr lang="zh-CN" altLang="en-US"/>
          </a:p>
        </p:txBody>
      </p:sp>
      <p:sp>
        <p:nvSpPr>
          <p:cNvPr id="69710" name="Line 78"/>
          <p:cNvSpPr>
            <a:spLocks noChangeShapeType="1"/>
          </p:cNvSpPr>
          <p:nvPr/>
        </p:nvSpPr>
        <p:spPr bwMode="auto">
          <a:xfrm flipV="1">
            <a:off x="5562600" y="4191000"/>
            <a:ext cx="0" cy="1447800"/>
          </a:xfrm>
          <a:prstGeom prst="line">
            <a:avLst/>
          </a:prstGeom>
          <a:noFill/>
          <a:ln w="9525">
            <a:solidFill>
              <a:schemeClr val="tx1"/>
            </a:solidFill>
            <a:round/>
          </a:ln>
        </p:spPr>
        <p:txBody>
          <a:bodyPr wrap="none" anchor="ctr"/>
          <a:lstStyle/>
          <a:p>
            <a:endParaRPr lang="zh-CN" altLang="en-US"/>
          </a:p>
        </p:txBody>
      </p:sp>
      <p:sp>
        <p:nvSpPr>
          <p:cNvPr id="69711" name="Line 79"/>
          <p:cNvSpPr>
            <a:spLocks noChangeShapeType="1"/>
          </p:cNvSpPr>
          <p:nvPr/>
        </p:nvSpPr>
        <p:spPr bwMode="auto">
          <a:xfrm>
            <a:off x="3200400" y="4267200"/>
            <a:ext cx="1066800" cy="0"/>
          </a:xfrm>
          <a:prstGeom prst="line">
            <a:avLst/>
          </a:prstGeom>
          <a:noFill/>
          <a:ln w="9525">
            <a:solidFill>
              <a:schemeClr val="tx1"/>
            </a:solidFill>
            <a:round/>
          </a:ln>
        </p:spPr>
        <p:txBody>
          <a:bodyPr wrap="none" anchor="ctr"/>
          <a:lstStyle/>
          <a:p>
            <a:endParaRPr lang="zh-CN" altLang="en-US"/>
          </a:p>
        </p:txBody>
      </p:sp>
      <p:sp>
        <p:nvSpPr>
          <p:cNvPr id="69712" name="Line 80"/>
          <p:cNvSpPr>
            <a:spLocks noChangeShapeType="1"/>
          </p:cNvSpPr>
          <p:nvPr/>
        </p:nvSpPr>
        <p:spPr bwMode="auto">
          <a:xfrm>
            <a:off x="3194050" y="4724400"/>
            <a:ext cx="1066800" cy="0"/>
          </a:xfrm>
          <a:prstGeom prst="line">
            <a:avLst/>
          </a:prstGeom>
          <a:noFill/>
          <a:ln w="9525">
            <a:solidFill>
              <a:schemeClr val="tx1"/>
            </a:solidFill>
            <a:round/>
          </a:ln>
        </p:spPr>
        <p:txBody>
          <a:bodyPr wrap="none" anchor="ctr"/>
          <a:lstStyle/>
          <a:p>
            <a:endParaRPr lang="zh-CN" altLang="en-US"/>
          </a:p>
        </p:txBody>
      </p:sp>
      <p:sp>
        <p:nvSpPr>
          <p:cNvPr id="69713" name="Line 81"/>
          <p:cNvSpPr>
            <a:spLocks noChangeShapeType="1"/>
          </p:cNvSpPr>
          <p:nvPr/>
        </p:nvSpPr>
        <p:spPr bwMode="auto">
          <a:xfrm>
            <a:off x="3194050" y="5181600"/>
            <a:ext cx="1066800" cy="0"/>
          </a:xfrm>
          <a:prstGeom prst="line">
            <a:avLst/>
          </a:prstGeom>
          <a:noFill/>
          <a:ln w="9525">
            <a:solidFill>
              <a:schemeClr val="tx1"/>
            </a:solidFill>
            <a:round/>
          </a:ln>
        </p:spPr>
        <p:txBody>
          <a:bodyPr wrap="none" anchor="ctr"/>
          <a:lstStyle/>
          <a:p>
            <a:endParaRPr lang="zh-CN" altLang="en-US"/>
          </a:p>
        </p:txBody>
      </p:sp>
      <p:sp>
        <p:nvSpPr>
          <p:cNvPr id="69714" name="Line 82"/>
          <p:cNvSpPr>
            <a:spLocks noChangeShapeType="1"/>
          </p:cNvSpPr>
          <p:nvPr/>
        </p:nvSpPr>
        <p:spPr bwMode="auto">
          <a:xfrm>
            <a:off x="3194050" y="5638800"/>
            <a:ext cx="1066800" cy="0"/>
          </a:xfrm>
          <a:prstGeom prst="line">
            <a:avLst/>
          </a:prstGeom>
          <a:noFill/>
          <a:ln w="9525">
            <a:solidFill>
              <a:schemeClr val="tx1"/>
            </a:solidFill>
            <a:round/>
          </a:ln>
        </p:spPr>
        <p:txBody>
          <a:bodyPr wrap="none" anchor="ctr"/>
          <a:lstStyle/>
          <a:p>
            <a:endParaRPr lang="zh-CN" altLang="en-US"/>
          </a:p>
        </p:txBody>
      </p:sp>
      <p:sp>
        <p:nvSpPr>
          <p:cNvPr id="69715" name="Line 83"/>
          <p:cNvSpPr>
            <a:spLocks noChangeShapeType="1"/>
          </p:cNvSpPr>
          <p:nvPr/>
        </p:nvSpPr>
        <p:spPr bwMode="auto">
          <a:xfrm>
            <a:off x="4495800" y="4267200"/>
            <a:ext cx="1066800" cy="0"/>
          </a:xfrm>
          <a:prstGeom prst="line">
            <a:avLst/>
          </a:prstGeom>
          <a:noFill/>
          <a:ln w="9525">
            <a:solidFill>
              <a:schemeClr val="tx1"/>
            </a:solidFill>
            <a:round/>
          </a:ln>
        </p:spPr>
        <p:txBody>
          <a:bodyPr wrap="none" anchor="ctr"/>
          <a:lstStyle/>
          <a:p>
            <a:endParaRPr lang="zh-CN" altLang="en-US"/>
          </a:p>
        </p:txBody>
      </p:sp>
      <p:sp>
        <p:nvSpPr>
          <p:cNvPr id="69716" name="Line 84"/>
          <p:cNvSpPr>
            <a:spLocks noChangeShapeType="1"/>
          </p:cNvSpPr>
          <p:nvPr/>
        </p:nvSpPr>
        <p:spPr bwMode="auto">
          <a:xfrm>
            <a:off x="4489450" y="4724400"/>
            <a:ext cx="1066800" cy="0"/>
          </a:xfrm>
          <a:prstGeom prst="line">
            <a:avLst/>
          </a:prstGeom>
          <a:noFill/>
          <a:ln w="9525">
            <a:solidFill>
              <a:schemeClr val="tx1"/>
            </a:solidFill>
            <a:round/>
          </a:ln>
        </p:spPr>
        <p:txBody>
          <a:bodyPr wrap="none" anchor="ctr"/>
          <a:lstStyle/>
          <a:p>
            <a:endParaRPr lang="zh-CN" altLang="en-US"/>
          </a:p>
        </p:txBody>
      </p:sp>
      <p:sp>
        <p:nvSpPr>
          <p:cNvPr id="69717" name="Line 85"/>
          <p:cNvSpPr>
            <a:spLocks noChangeShapeType="1"/>
          </p:cNvSpPr>
          <p:nvPr/>
        </p:nvSpPr>
        <p:spPr bwMode="auto">
          <a:xfrm>
            <a:off x="4489450" y="5181600"/>
            <a:ext cx="1066800" cy="0"/>
          </a:xfrm>
          <a:prstGeom prst="line">
            <a:avLst/>
          </a:prstGeom>
          <a:noFill/>
          <a:ln w="9525">
            <a:solidFill>
              <a:schemeClr val="tx1"/>
            </a:solidFill>
            <a:round/>
          </a:ln>
        </p:spPr>
        <p:txBody>
          <a:bodyPr wrap="none" anchor="ctr"/>
          <a:lstStyle/>
          <a:p>
            <a:endParaRPr lang="zh-CN" altLang="en-US"/>
          </a:p>
        </p:txBody>
      </p:sp>
      <p:sp>
        <p:nvSpPr>
          <p:cNvPr id="69718" name="Line 86"/>
          <p:cNvSpPr>
            <a:spLocks noChangeShapeType="1"/>
          </p:cNvSpPr>
          <p:nvPr/>
        </p:nvSpPr>
        <p:spPr bwMode="auto">
          <a:xfrm>
            <a:off x="4489450" y="5638800"/>
            <a:ext cx="1066800" cy="0"/>
          </a:xfrm>
          <a:prstGeom prst="line">
            <a:avLst/>
          </a:prstGeom>
          <a:noFill/>
          <a:ln w="9525">
            <a:solidFill>
              <a:schemeClr val="tx1"/>
            </a:solidFill>
            <a:round/>
          </a:ln>
        </p:spPr>
        <p:txBody>
          <a:bodyPr wrap="none" anchor="ctr"/>
          <a:lstStyle/>
          <a:p>
            <a:endParaRPr lang="zh-CN" altLang="en-US"/>
          </a:p>
        </p:txBody>
      </p:sp>
      <p:sp>
        <p:nvSpPr>
          <p:cNvPr id="69719" name="Line 87"/>
          <p:cNvSpPr>
            <a:spLocks noChangeShapeType="1"/>
          </p:cNvSpPr>
          <p:nvPr/>
        </p:nvSpPr>
        <p:spPr bwMode="auto">
          <a:xfrm flipV="1">
            <a:off x="3727450" y="4191000"/>
            <a:ext cx="0" cy="1447800"/>
          </a:xfrm>
          <a:prstGeom prst="line">
            <a:avLst/>
          </a:prstGeom>
          <a:noFill/>
          <a:ln w="9525">
            <a:solidFill>
              <a:schemeClr val="tx1"/>
            </a:solidFill>
            <a:round/>
          </a:ln>
        </p:spPr>
        <p:txBody>
          <a:bodyPr wrap="none" anchor="ctr"/>
          <a:lstStyle/>
          <a:p>
            <a:endParaRPr lang="zh-CN" altLang="en-US"/>
          </a:p>
        </p:txBody>
      </p:sp>
      <p:sp>
        <p:nvSpPr>
          <p:cNvPr id="69720" name="Line 88"/>
          <p:cNvSpPr>
            <a:spLocks noChangeShapeType="1"/>
          </p:cNvSpPr>
          <p:nvPr/>
        </p:nvSpPr>
        <p:spPr bwMode="auto">
          <a:xfrm flipV="1">
            <a:off x="5029200" y="4191000"/>
            <a:ext cx="0" cy="1447800"/>
          </a:xfrm>
          <a:prstGeom prst="line">
            <a:avLst/>
          </a:prstGeom>
          <a:noFill/>
          <a:ln w="9525">
            <a:solidFill>
              <a:schemeClr val="tx1"/>
            </a:solidFill>
            <a:round/>
          </a:ln>
        </p:spPr>
        <p:txBody>
          <a:bodyPr wrap="none" anchor="ctr"/>
          <a:lstStyle/>
          <a:p>
            <a:endParaRPr lang="zh-CN" altLang="en-US"/>
          </a:p>
        </p:txBody>
      </p:sp>
      <p:sp>
        <p:nvSpPr>
          <p:cNvPr id="69721" name="Text Box 89"/>
          <p:cNvSpPr txBox="1">
            <a:spLocks noChangeArrowheads="1"/>
          </p:cNvSpPr>
          <p:nvPr/>
        </p:nvSpPr>
        <p:spPr bwMode="auto">
          <a:xfrm>
            <a:off x="474663" y="55308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722" name="Text Box 90"/>
          <p:cNvSpPr txBox="1">
            <a:spLocks noChangeArrowheads="1"/>
          </p:cNvSpPr>
          <p:nvPr/>
        </p:nvSpPr>
        <p:spPr bwMode="auto">
          <a:xfrm>
            <a:off x="1752600" y="55308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723" name="Text Box 91"/>
          <p:cNvSpPr txBox="1">
            <a:spLocks noChangeArrowheads="1"/>
          </p:cNvSpPr>
          <p:nvPr/>
        </p:nvSpPr>
        <p:spPr bwMode="auto">
          <a:xfrm>
            <a:off x="3065463" y="55308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724" name="Rectangle 92"/>
          <p:cNvSpPr>
            <a:spLocks noChangeArrowheads="1"/>
          </p:cNvSpPr>
          <p:nvPr/>
        </p:nvSpPr>
        <p:spPr bwMode="auto">
          <a:xfrm>
            <a:off x="4437063" y="5530850"/>
            <a:ext cx="592137" cy="641350"/>
          </a:xfrm>
          <a:prstGeom prst="rect">
            <a:avLst/>
          </a:prstGeom>
          <a:noFill/>
          <a:ln w="2857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25" name="Rectangle 93" descr="羊皮纸"/>
          <p:cNvSpPr>
            <a:spLocks noChangeArrowheads="1"/>
          </p:cNvSpPr>
          <p:nvPr/>
        </p:nvSpPr>
        <p:spPr bwMode="auto">
          <a:xfrm>
            <a:off x="716915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69726" name="Rectangle 94" descr="羊皮纸"/>
          <p:cNvSpPr>
            <a:spLocks noChangeArrowheads="1"/>
          </p:cNvSpPr>
          <p:nvPr/>
        </p:nvSpPr>
        <p:spPr bwMode="auto">
          <a:xfrm>
            <a:off x="587375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69727" name="Text Box 95"/>
          <p:cNvSpPr txBox="1">
            <a:spLocks noChangeArrowheads="1"/>
          </p:cNvSpPr>
          <p:nvPr/>
        </p:nvSpPr>
        <p:spPr bwMode="auto">
          <a:xfrm>
            <a:off x="5988050" y="5119688"/>
            <a:ext cx="895350" cy="519112"/>
          </a:xfrm>
          <a:prstGeom prst="rect">
            <a:avLst/>
          </a:prstGeom>
          <a:noFill/>
          <a:ln w="9525">
            <a:noFill/>
            <a:miter lim="800000"/>
          </a:ln>
        </p:spPr>
        <p:txBody>
          <a:bodyPr wrap="none">
            <a:spAutoFit/>
          </a:bodyPr>
          <a:lstStyle/>
          <a:p>
            <a:r>
              <a:rPr lang="en-US" altLang="zh-CN" sz="2800"/>
              <a:t>4    </a:t>
            </a:r>
            <a:r>
              <a:rPr lang="en-US" altLang="zh-CN" sz="2800">
                <a:solidFill>
                  <a:schemeClr val="accent2"/>
                </a:solidFill>
              </a:rPr>
              <a:t>1</a:t>
            </a:r>
            <a:endParaRPr lang="en-US" altLang="zh-CN"/>
          </a:p>
        </p:txBody>
      </p:sp>
      <p:sp>
        <p:nvSpPr>
          <p:cNvPr id="69728" name="Text Box 96"/>
          <p:cNvSpPr txBox="1">
            <a:spLocks noChangeArrowheads="1"/>
          </p:cNvSpPr>
          <p:nvPr/>
        </p:nvSpPr>
        <p:spPr bwMode="auto">
          <a:xfrm>
            <a:off x="5715000" y="5603875"/>
            <a:ext cx="1377950" cy="822325"/>
          </a:xfrm>
          <a:prstGeom prst="rect">
            <a:avLst/>
          </a:prstGeom>
          <a:noFill/>
          <a:ln w="9525">
            <a:noFill/>
            <a:miter lim="800000"/>
          </a:ln>
        </p:spPr>
        <p:txBody>
          <a:bodyPr wrap="none">
            <a:spAutoFit/>
          </a:bodyPr>
          <a:lstStyle/>
          <a:p>
            <a:pPr algn="ctr"/>
            <a:r>
              <a:rPr lang="en-US" altLang="zh-CN" b="1">
                <a:solidFill>
                  <a:srgbClr val="333399"/>
                </a:solidFill>
              </a:rPr>
              <a:t>    n=1</a:t>
            </a:r>
            <a:endParaRPr lang="en-US" altLang="zh-CN" b="1">
              <a:solidFill>
                <a:srgbClr val="333399"/>
              </a:solidFill>
            </a:endParaRPr>
          </a:p>
          <a:p>
            <a:pPr algn="ctr"/>
            <a:r>
              <a:rPr lang="en-US" altLang="zh-CN" b="1">
                <a:solidFill>
                  <a:srgbClr val="333399"/>
                </a:solidFill>
              </a:rPr>
              <a:t>sum=1+1</a:t>
            </a:r>
            <a:endParaRPr lang="en-US" altLang="zh-CN"/>
          </a:p>
        </p:txBody>
      </p:sp>
      <p:sp>
        <p:nvSpPr>
          <p:cNvPr id="69729" name="Text Box 97"/>
          <p:cNvSpPr txBox="1">
            <a:spLocks noChangeArrowheads="1"/>
          </p:cNvSpPr>
          <p:nvPr/>
        </p:nvSpPr>
        <p:spPr bwMode="auto">
          <a:xfrm>
            <a:off x="7289800" y="5105400"/>
            <a:ext cx="895350" cy="519113"/>
          </a:xfrm>
          <a:prstGeom prst="rect">
            <a:avLst/>
          </a:prstGeom>
          <a:noFill/>
          <a:ln w="9525">
            <a:noFill/>
            <a:miter lim="800000"/>
          </a:ln>
        </p:spPr>
        <p:txBody>
          <a:bodyPr wrap="none">
            <a:spAutoFit/>
          </a:bodyPr>
          <a:lstStyle/>
          <a:p>
            <a:r>
              <a:rPr lang="en-US" altLang="zh-CN" sz="2800"/>
              <a:t>4    </a:t>
            </a:r>
            <a:r>
              <a:rPr lang="en-US" altLang="zh-CN" sz="2800">
                <a:solidFill>
                  <a:schemeClr val="tx2"/>
                </a:solidFill>
              </a:rPr>
              <a:t>2</a:t>
            </a:r>
            <a:endParaRPr lang="en-US" altLang="zh-CN"/>
          </a:p>
        </p:txBody>
      </p:sp>
      <p:sp>
        <p:nvSpPr>
          <p:cNvPr id="69730" name="Line 98"/>
          <p:cNvSpPr>
            <a:spLocks noChangeShapeType="1"/>
          </p:cNvSpPr>
          <p:nvPr/>
        </p:nvSpPr>
        <p:spPr bwMode="auto">
          <a:xfrm flipV="1">
            <a:off x="5873750" y="4191000"/>
            <a:ext cx="0" cy="1447800"/>
          </a:xfrm>
          <a:prstGeom prst="line">
            <a:avLst/>
          </a:prstGeom>
          <a:noFill/>
          <a:ln w="9525">
            <a:solidFill>
              <a:schemeClr val="tx1"/>
            </a:solidFill>
            <a:round/>
          </a:ln>
        </p:spPr>
        <p:txBody>
          <a:bodyPr wrap="none" anchor="ctr"/>
          <a:lstStyle/>
          <a:p>
            <a:endParaRPr lang="zh-CN" altLang="en-US"/>
          </a:p>
        </p:txBody>
      </p:sp>
      <p:sp>
        <p:nvSpPr>
          <p:cNvPr id="69731" name="Line 99"/>
          <p:cNvSpPr>
            <a:spLocks noChangeShapeType="1"/>
          </p:cNvSpPr>
          <p:nvPr/>
        </p:nvSpPr>
        <p:spPr bwMode="auto">
          <a:xfrm flipV="1">
            <a:off x="6940550" y="4191000"/>
            <a:ext cx="0" cy="1447800"/>
          </a:xfrm>
          <a:prstGeom prst="line">
            <a:avLst/>
          </a:prstGeom>
          <a:noFill/>
          <a:ln w="9525">
            <a:solidFill>
              <a:schemeClr val="tx1"/>
            </a:solidFill>
            <a:round/>
          </a:ln>
        </p:spPr>
        <p:txBody>
          <a:bodyPr wrap="none" anchor="ctr"/>
          <a:lstStyle/>
          <a:p>
            <a:endParaRPr lang="zh-CN" altLang="en-US"/>
          </a:p>
        </p:txBody>
      </p:sp>
      <p:sp>
        <p:nvSpPr>
          <p:cNvPr id="69732" name="Line 100"/>
          <p:cNvSpPr>
            <a:spLocks noChangeShapeType="1"/>
          </p:cNvSpPr>
          <p:nvPr/>
        </p:nvSpPr>
        <p:spPr bwMode="auto">
          <a:xfrm flipV="1">
            <a:off x="7169150" y="4191000"/>
            <a:ext cx="0" cy="1447800"/>
          </a:xfrm>
          <a:prstGeom prst="line">
            <a:avLst/>
          </a:prstGeom>
          <a:noFill/>
          <a:ln w="9525">
            <a:solidFill>
              <a:schemeClr val="tx1"/>
            </a:solidFill>
            <a:round/>
          </a:ln>
        </p:spPr>
        <p:txBody>
          <a:bodyPr wrap="none" anchor="ctr"/>
          <a:lstStyle/>
          <a:p>
            <a:endParaRPr lang="zh-CN" altLang="en-US"/>
          </a:p>
        </p:txBody>
      </p:sp>
      <p:sp>
        <p:nvSpPr>
          <p:cNvPr id="69733" name="Line 101"/>
          <p:cNvSpPr>
            <a:spLocks noChangeShapeType="1"/>
          </p:cNvSpPr>
          <p:nvPr/>
        </p:nvSpPr>
        <p:spPr bwMode="auto">
          <a:xfrm flipV="1">
            <a:off x="8235950" y="4191000"/>
            <a:ext cx="0" cy="1447800"/>
          </a:xfrm>
          <a:prstGeom prst="line">
            <a:avLst/>
          </a:prstGeom>
          <a:noFill/>
          <a:ln w="9525">
            <a:solidFill>
              <a:schemeClr val="tx1"/>
            </a:solidFill>
            <a:round/>
          </a:ln>
        </p:spPr>
        <p:txBody>
          <a:bodyPr wrap="none" anchor="ctr"/>
          <a:lstStyle/>
          <a:p>
            <a:endParaRPr lang="zh-CN" altLang="en-US"/>
          </a:p>
        </p:txBody>
      </p:sp>
      <p:sp>
        <p:nvSpPr>
          <p:cNvPr id="69734" name="Line 102"/>
          <p:cNvSpPr>
            <a:spLocks noChangeShapeType="1"/>
          </p:cNvSpPr>
          <p:nvPr/>
        </p:nvSpPr>
        <p:spPr bwMode="auto">
          <a:xfrm>
            <a:off x="5873750" y="4267200"/>
            <a:ext cx="1066800" cy="0"/>
          </a:xfrm>
          <a:prstGeom prst="line">
            <a:avLst/>
          </a:prstGeom>
          <a:noFill/>
          <a:ln w="9525">
            <a:solidFill>
              <a:schemeClr val="tx1"/>
            </a:solidFill>
            <a:round/>
          </a:ln>
        </p:spPr>
        <p:txBody>
          <a:bodyPr wrap="none" anchor="ctr"/>
          <a:lstStyle/>
          <a:p>
            <a:endParaRPr lang="zh-CN" altLang="en-US"/>
          </a:p>
        </p:txBody>
      </p:sp>
      <p:sp>
        <p:nvSpPr>
          <p:cNvPr id="69735" name="Line 103"/>
          <p:cNvSpPr>
            <a:spLocks noChangeShapeType="1"/>
          </p:cNvSpPr>
          <p:nvPr/>
        </p:nvSpPr>
        <p:spPr bwMode="auto">
          <a:xfrm>
            <a:off x="5867400" y="4724400"/>
            <a:ext cx="1066800" cy="0"/>
          </a:xfrm>
          <a:prstGeom prst="line">
            <a:avLst/>
          </a:prstGeom>
          <a:noFill/>
          <a:ln w="9525">
            <a:solidFill>
              <a:schemeClr val="tx1"/>
            </a:solidFill>
            <a:round/>
          </a:ln>
        </p:spPr>
        <p:txBody>
          <a:bodyPr wrap="none" anchor="ctr"/>
          <a:lstStyle/>
          <a:p>
            <a:endParaRPr lang="zh-CN" altLang="en-US"/>
          </a:p>
        </p:txBody>
      </p:sp>
      <p:sp>
        <p:nvSpPr>
          <p:cNvPr id="69736" name="Line 104"/>
          <p:cNvSpPr>
            <a:spLocks noChangeShapeType="1"/>
          </p:cNvSpPr>
          <p:nvPr/>
        </p:nvSpPr>
        <p:spPr bwMode="auto">
          <a:xfrm>
            <a:off x="5867400" y="5181600"/>
            <a:ext cx="1066800" cy="0"/>
          </a:xfrm>
          <a:prstGeom prst="line">
            <a:avLst/>
          </a:prstGeom>
          <a:noFill/>
          <a:ln w="9525">
            <a:solidFill>
              <a:schemeClr val="tx1"/>
            </a:solidFill>
            <a:round/>
          </a:ln>
        </p:spPr>
        <p:txBody>
          <a:bodyPr wrap="none" anchor="ctr"/>
          <a:lstStyle/>
          <a:p>
            <a:endParaRPr lang="zh-CN" altLang="en-US"/>
          </a:p>
        </p:txBody>
      </p:sp>
      <p:sp>
        <p:nvSpPr>
          <p:cNvPr id="69737" name="Line 105"/>
          <p:cNvSpPr>
            <a:spLocks noChangeShapeType="1"/>
          </p:cNvSpPr>
          <p:nvPr/>
        </p:nvSpPr>
        <p:spPr bwMode="auto">
          <a:xfrm>
            <a:off x="7169150" y="4267200"/>
            <a:ext cx="1066800" cy="0"/>
          </a:xfrm>
          <a:prstGeom prst="line">
            <a:avLst/>
          </a:prstGeom>
          <a:noFill/>
          <a:ln w="9525">
            <a:solidFill>
              <a:schemeClr val="tx1"/>
            </a:solidFill>
            <a:round/>
          </a:ln>
        </p:spPr>
        <p:txBody>
          <a:bodyPr wrap="none" anchor="ctr"/>
          <a:lstStyle/>
          <a:p>
            <a:endParaRPr lang="zh-CN" altLang="en-US"/>
          </a:p>
        </p:txBody>
      </p:sp>
      <p:sp>
        <p:nvSpPr>
          <p:cNvPr id="69738" name="Line 106"/>
          <p:cNvSpPr>
            <a:spLocks noChangeShapeType="1"/>
          </p:cNvSpPr>
          <p:nvPr/>
        </p:nvSpPr>
        <p:spPr bwMode="auto">
          <a:xfrm>
            <a:off x="7162800" y="4724400"/>
            <a:ext cx="1066800" cy="0"/>
          </a:xfrm>
          <a:prstGeom prst="line">
            <a:avLst/>
          </a:prstGeom>
          <a:noFill/>
          <a:ln w="9525">
            <a:solidFill>
              <a:schemeClr val="tx1"/>
            </a:solidFill>
            <a:round/>
          </a:ln>
        </p:spPr>
        <p:txBody>
          <a:bodyPr wrap="none" anchor="ctr"/>
          <a:lstStyle/>
          <a:p>
            <a:endParaRPr lang="zh-CN" altLang="en-US"/>
          </a:p>
        </p:txBody>
      </p:sp>
      <p:sp>
        <p:nvSpPr>
          <p:cNvPr id="69739" name="Line 107"/>
          <p:cNvSpPr>
            <a:spLocks noChangeShapeType="1"/>
          </p:cNvSpPr>
          <p:nvPr/>
        </p:nvSpPr>
        <p:spPr bwMode="auto">
          <a:xfrm>
            <a:off x="7162800" y="5181600"/>
            <a:ext cx="1066800" cy="0"/>
          </a:xfrm>
          <a:prstGeom prst="line">
            <a:avLst/>
          </a:prstGeom>
          <a:noFill/>
          <a:ln w="9525">
            <a:solidFill>
              <a:schemeClr val="tx1"/>
            </a:solidFill>
            <a:round/>
          </a:ln>
        </p:spPr>
        <p:txBody>
          <a:bodyPr wrap="none" anchor="ctr"/>
          <a:lstStyle/>
          <a:p>
            <a:endParaRPr lang="zh-CN" altLang="en-US"/>
          </a:p>
        </p:txBody>
      </p:sp>
      <p:sp>
        <p:nvSpPr>
          <p:cNvPr id="69740" name="Line 108"/>
          <p:cNvSpPr>
            <a:spLocks noChangeShapeType="1"/>
          </p:cNvSpPr>
          <p:nvPr/>
        </p:nvSpPr>
        <p:spPr bwMode="auto">
          <a:xfrm flipV="1">
            <a:off x="6400800" y="4191000"/>
            <a:ext cx="0" cy="1447800"/>
          </a:xfrm>
          <a:prstGeom prst="line">
            <a:avLst/>
          </a:prstGeom>
          <a:noFill/>
          <a:ln w="9525">
            <a:solidFill>
              <a:schemeClr val="tx1"/>
            </a:solidFill>
            <a:round/>
          </a:ln>
        </p:spPr>
        <p:txBody>
          <a:bodyPr wrap="none" anchor="ctr"/>
          <a:lstStyle/>
          <a:p>
            <a:endParaRPr lang="zh-CN" altLang="en-US"/>
          </a:p>
        </p:txBody>
      </p:sp>
      <p:sp>
        <p:nvSpPr>
          <p:cNvPr id="69741" name="Line 109"/>
          <p:cNvSpPr>
            <a:spLocks noChangeShapeType="1"/>
          </p:cNvSpPr>
          <p:nvPr/>
        </p:nvSpPr>
        <p:spPr bwMode="auto">
          <a:xfrm flipV="1">
            <a:off x="7702550" y="4191000"/>
            <a:ext cx="0" cy="1447800"/>
          </a:xfrm>
          <a:prstGeom prst="line">
            <a:avLst/>
          </a:prstGeom>
          <a:noFill/>
          <a:ln w="9525">
            <a:solidFill>
              <a:schemeClr val="tx1"/>
            </a:solidFill>
            <a:round/>
          </a:ln>
        </p:spPr>
        <p:txBody>
          <a:bodyPr wrap="none" anchor="ctr"/>
          <a:lstStyle/>
          <a:p>
            <a:endParaRPr lang="zh-CN" altLang="en-US"/>
          </a:p>
        </p:txBody>
      </p:sp>
      <p:sp>
        <p:nvSpPr>
          <p:cNvPr id="69742" name="Line 110"/>
          <p:cNvSpPr>
            <a:spLocks noChangeShapeType="1"/>
          </p:cNvSpPr>
          <p:nvPr/>
        </p:nvSpPr>
        <p:spPr bwMode="auto">
          <a:xfrm>
            <a:off x="5867400" y="5638800"/>
            <a:ext cx="1066800" cy="0"/>
          </a:xfrm>
          <a:prstGeom prst="line">
            <a:avLst/>
          </a:prstGeom>
          <a:noFill/>
          <a:ln w="9525">
            <a:solidFill>
              <a:schemeClr val="tx1"/>
            </a:solidFill>
            <a:round/>
          </a:ln>
        </p:spPr>
        <p:txBody>
          <a:bodyPr wrap="none" anchor="ctr"/>
          <a:lstStyle/>
          <a:p>
            <a:endParaRPr lang="zh-CN" altLang="en-US"/>
          </a:p>
        </p:txBody>
      </p:sp>
      <p:sp>
        <p:nvSpPr>
          <p:cNvPr id="69743" name="Line 111"/>
          <p:cNvSpPr>
            <a:spLocks noChangeShapeType="1"/>
          </p:cNvSpPr>
          <p:nvPr/>
        </p:nvSpPr>
        <p:spPr bwMode="auto">
          <a:xfrm>
            <a:off x="7162800" y="5638800"/>
            <a:ext cx="1066800" cy="0"/>
          </a:xfrm>
          <a:prstGeom prst="line">
            <a:avLst/>
          </a:prstGeom>
          <a:noFill/>
          <a:ln w="9525">
            <a:solidFill>
              <a:schemeClr val="tx1"/>
            </a:solidFill>
            <a:round/>
          </a:ln>
        </p:spPr>
        <p:txBody>
          <a:bodyPr wrap="none" anchor="ctr"/>
          <a:lstStyle/>
          <a:p>
            <a:endParaRPr lang="zh-CN" altLang="en-US"/>
          </a:p>
        </p:txBody>
      </p:sp>
      <p:sp>
        <p:nvSpPr>
          <p:cNvPr id="69744" name="Rectangle 112"/>
          <p:cNvSpPr>
            <a:spLocks noChangeArrowheads="1"/>
          </p:cNvSpPr>
          <p:nvPr/>
        </p:nvSpPr>
        <p:spPr bwMode="auto">
          <a:xfrm>
            <a:off x="5808663" y="5530850"/>
            <a:ext cx="592137" cy="641350"/>
          </a:xfrm>
          <a:prstGeom prst="rect">
            <a:avLst/>
          </a:prstGeom>
          <a:noFill/>
          <a:ln w="2857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45" name="Text Box 113"/>
          <p:cNvSpPr txBox="1">
            <a:spLocks noChangeArrowheads="1"/>
          </p:cNvSpPr>
          <p:nvPr/>
        </p:nvSpPr>
        <p:spPr bwMode="auto">
          <a:xfrm>
            <a:off x="7296150" y="5943600"/>
            <a:ext cx="933450" cy="457200"/>
          </a:xfrm>
          <a:prstGeom prst="rect">
            <a:avLst/>
          </a:prstGeom>
          <a:noFill/>
          <a:ln w="9525">
            <a:noFill/>
            <a:miter lim="800000"/>
          </a:ln>
        </p:spPr>
        <p:txBody>
          <a:bodyPr wrap="none">
            <a:spAutoFit/>
          </a:bodyPr>
          <a:lstStyle/>
          <a:p>
            <a:pPr algn="ctr"/>
            <a:r>
              <a:rPr lang="en-US" altLang="zh-CN" b="1">
                <a:solidFill>
                  <a:srgbClr val="333399"/>
                </a:solidFill>
              </a:rPr>
              <a:t>n=4-2</a:t>
            </a:r>
            <a:endParaRPr lang="en-US" altLang="zh-CN"/>
          </a:p>
        </p:txBody>
      </p:sp>
      <p:sp>
        <p:nvSpPr>
          <p:cNvPr id="69746" name="Rectangle 114"/>
          <p:cNvSpPr>
            <a:spLocks noChangeArrowheads="1"/>
          </p:cNvSpPr>
          <p:nvPr/>
        </p:nvSpPr>
        <p:spPr bwMode="auto">
          <a:xfrm>
            <a:off x="7104063" y="55308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47" name="Rectangle 115"/>
          <p:cNvSpPr>
            <a:spLocks noChangeArrowheads="1"/>
          </p:cNvSpPr>
          <p:nvPr/>
        </p:nvSpPr>
        <p:spPr bwMode="auto">
          <a:xfrm>
            <a:off x="246063" y="51371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48" name="Rectangle 116"/>
          <p:cNvSpPr>
            <a:spLocks noChangeArrowheads="1"/>
          </p:cNvSpPr>
          <p:nvPr/>
        </p:nvSpPr>
        <p:spPr bwMode="auto">
          <a:xfrm>
            <a:off x="246063" y="46482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49" name="Text Box 117"/>
          <p:cNvSpPr txBox="1">
            <a:spLocks noChangeArrowheads="1"/>
          </p:cNvSpPr>
          <p:nvPr/>
        </p:nvSpPr>
        <p:spPr bwMode="auto">
          <a:xfrm>
            <a:off x="246063" y="41910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750" name="Rectangle 118"/>
          <p:cNvSpPr>
            <a:spLocks noChangeArrowheads="1"/>
          </p:cNvSpPr>
          <p:nvPr/>
        </p:nvSpPr>
        <p:spPr bwMode="auto">
          <a:xfrm>
            <a:off x="1524000" y="51371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1" name="Rectangle 119"/>
          <p:cNvSpPr>
            <a:spLocks noChangeArrowheads="1"/>
          </p:cNvSpPr>
          <p:nvPr/>
        </p:nvSpPr>
        <p:spPr bwMode="auto">
          <a:xfrm>
            <a:off x="1524000" y="46482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2" name="Text Box 120"/>
          <p:cNvSpPr txBox="1">
            <a:spLocks noChangeArrowheads="1"/>
          </p:cNvSpPr>
          <p:nvPr/>
        </p:nvSpPr>
        <p:spPr bwMode="auto">
          <a:xfrm>
            <a:off x="1524000" y="41910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69753" name="Rectangle 121"/>
          <p:cNvSpPr>
            <a:spLocks noChangeArrowheads="1"/>
          </p:cNvSpPr>
          <p:nvPr/>
        </p:nvSpPr>
        <p:spPr bwMode="auto">
          <a:xfrm>
            <a:off x="2913063" y="51371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4" name="Rectangle 122"/>
          <p:cNvSpPr>
            <a:spLocks noChangeArrowheads="1"/>
          </p:cNvSpPr>
          <p:nvPr/>
        </p:nvSpPr>
        <p:spPr bwMode="auto">
          <a:xfrm>
            <a:off x="2913063" y="46482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5" name="Rectangle 123"/>
          <p:cNvSpPr>
            <a:spLocks noChangeArrowheads="1"/>
          </p:cNvSpPr>
          <p:nvPr/>
        </p:nvSpPr>
        <p:spPr bwMode="auto">
          <a:xfrm>
            <a:off x="4208463" y="51371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6" name="Rectangle 124"/>
          <p:cNvSpPr>
            <a:spLocks noChangeArrowheads="1"/>
          </p:cNvSpPr>
          <p:nvPr/>
        </p:nvSpPr>
        <p:spPr bwMode="auto">
          <a:xfrm>
            <a:off x="4208463" y="46482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7" name="Rectangle 125"/>
          <p:cNvSpPr>
            <a:spLocks noChangeArrowheads="1"/>
          </p:cNvSpPr>
          <p:nvPr/>
        </p:nvSpPr>
        <p:spPr bwMode="auto">
          <a:xfrm>
            <a:off x="5562600" y="51054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69758" name="Rectangle 126"/>
          <p:cNvSpPr>
            <a:spLocks noChangeArrowheads="1"/>
          </p:cNvSpPr>
          <p:nvPr/>
        </p:nvSpPr>
        <p:spPr bwMode="auto">
          <a:xfrm>
            <a:off x="6858000" y="51054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3" name="文本框 2"/>
          <p:cNvSpPr txBox="1"/>
          <p:nvPr/>
        </p:nvSpPr>
        <p:spPr>
          <a:xfrm>
            <a:off x="4794249" y="3284984"/>
            <a:ext cx="3882207" cy="646331"/>
          </a:xfrm>
          <a:prstGeom prst="rect">
            <a:avLst/>
          </a:prstGeom>
          <a:noFill/>
        </p:spPr>
        <p:txBody>
          <a:bodyPr wrap="square" rtlCol="0">
            <a:spAutoFit/>
          </a:bodyPr>
          <a:lstStyle/>
          <a:p>
            <a:r>
              <a:rPr lang="zh-CN" altLang="en-US" dirty="0"/>
              <a:t>圆中的数字表示返回结果的次序</a:t>
            </a:r>
            <a:endParaRPr lang="zh-CN" altLang="en-US" dirty="0"/>
          </a:p>
          <a:p>
            <a:endParaRPr lang="zh-CN" altLang="en-US" dirty="0"/>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descr="羊皮纸"/>
          <p:cNvSpPr>
            <a:spLocks noChangeArrowheads="1"/>
          </p:cNvSpPr>
          <p:nvPr/>
        </p:nvSpPr>
        <p:spPr bwMode="auto">
          <a:xfrm>
            <a:off x="183515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70659" name="Line 3"/>
          <p:cNvSpPr>
            <a:spLocks noChangeShapeType="1"/>
          </p:cNvSpPr>
          <p:nvPr/>
        </p:nvSpPr>
        <p:spPr bwMode="auto">
          <a:xfrm>
            <a:off x="3429000" y="1905000"/>
            <a:ext cx="381000" cy="381000"/>
          </a:xfrm>
          <a:prstGeom prst="line">
            <a:avLst/>
          </a:prstGeom>
          <a:noFill/>
          <a:ln w="28575">
            <a:solidFill>
              <a:schemeClr val="bg2"/>
            </a:solidFill>
            <a:round/>
          </a:ln>
        </p:spPr>
        <p:txBody>
          <a:bodyPr wrap="none" anchor="ctr"/>
          <a:lstStyle/>
          <a:p>
            <a:endParaRPr lang="zh-CN" altLang="en-US"/>
          </a:p>
        </p:txBody>
      </p:sp>
      <p:sp>
        <p:nvSpPr>
          <p:cNvPr id="70660" name="Line 4"/>
          <p:cNvSpPr>
            <a:spLocks noChangeShapeType="1"/>
          </p:cNvSpPr>
          <p:nvPr/>
        </p:nvSpPr>
        <p:spPr bwMode="auto">
          <a:xfrm>
            <a:off x="2743200" y="2819400"/>
            <a:ext cx="381000" cy="381000"/>
          </a:xfrm>
          <a:prstGeom prst="line">
            <a:avLst/>
          </a:prstGeom>
          <a:noFill/>
          <a:ln w="28575">
            <a:solidFill>
              <a:schemeClr val="bg2"/>
            </a:solidFill>
            <a:round/>
          </a:ln>
        </p:spPr>
        <p:txBody>
          <a:bodyPr wrap="none" anchor="ctr"/>
          <a:lstStyle/>
          <a:p>
            <a:endParaRPr lang="zh-CN" altLang="en-US"/>
          </a:p>
        </p:txBody>
      </p:sp>
      <p:sp>
        <p:nvSpPr>
          <p:cNvPr id="70661" name="Line 5"/>
          <p:cNvSpPr>
            <a:spLocks noChangeShapeType="1"/>
          </p:cNvSpPr>
          <p:nvPr/>
        </p:nvSpPr>
        <p:spPr bwMode="auto">
          <a:xfrm flipH="1">
            <a:off x="1752600" y="2819400"/>
            <a:ext cx="381000" cy="381000"/>
          </a:xfrm>
          <a:prstGeom prst="line">
            <a:avLst/>
          </a:prstGeom>
          <a:noFill/>
          <a:ln w="28575">
            <a:solidFill>
              <a:schemeClr val="bg2"/>
            </a:solidFill>
            <a:round/>
          </a:ln>
        </p:spPr>
        <p:txBody>
          <a:bodyPr wrap="none" anchor="ctr"/>
          <a:lstStyle/>
          <a:p>
            <a:endParaRPr lang="zh-CN" altLang="en-US"/>
          </a:p>
        </p:txBody>
      </p:sp>
      <p:sp>
        <p:nvSpPr>
          <p:cNvPr id="70662" name="Line 6"/>
          <p:cNvSpPr>
            <a:spLocks noChangeShapeType="1"/>
          </p:cNvSpPr>
          <p:nvPr/>
        </p:nvSpPr>
        <p:spPr bwMode="auto">
          <a:xfrm flipH="1">
            <a:off x="2590800" y="1905000"/>
            <a:ext cx="381000" cy="381000"/>
          </a:xfrm>
          <a:prstGeom prst="line">
            <a:avLst/>
          </a:prstGeom>
          <a:noFill/>
          <a:ln w="28575">
            <a:solidFill>
              <a:schemeClr val="bg2"/>
            </a:solidFill>
            <a:round/>
          </a:ln>
        </p:spPr>
        <p:txBody>
          <a:bodyPr wrap="none" anchor="ctr"/>
          <a:lstStyle/>
          <a:p>
            <a:endParaRPr lang="zh-CN" altLang="en-US"/>
          </a:p>
        </p:txBody>
      </p:sp>
      <p:sp>
        <p:nvSpPr>
          <p:cNvPr id="70663" name="Line 7"/>
          <p:cNvSpPr>
            <a:spLocks noChangeShapeType="1"/>
          </p:cNvSpPr>
          <p:nvPr/>
        </p:nvSpPr>
        <p:spPr bwMode="auto">
          <a:xfrm>
            <a:off x="5105400" y="990600"/>
            <a:ext cx="762000" cy="381000"/>
          </a:xfrm>
          <a:prstGeom prst="line">
            <a:avLst/>
          </a:prstGeom>
          <a:noFill/>
          <a:ln w="28575">
            <a:solidFill>
              <a:schemeClr val="bg2"/>
            </a:solidFill>
            <a:round/>
          </a:ln>
        </p:spPr>
        <p:txBody>
          <a:bodyPr wrap="none" anchor="ctr"/>
          <a:lstStyle/>
          <a:p>
            <a:endParaRPr lang="zh-CN" altLang="en-US"/>
          </a:p>
        </p:txBody>
      </p:sp>
      <p:sp>
        <p:nvSpPr>
          <p:cNvPr id="70664" name="Line 8"/>
          <p:cNvSpPr>
            <a:spLocks noChangeShapeType="1"/>
          </p:cNvSpPr>
          <p:nvPr/>
        </p:nvSpPr>
        <p:spPr bwMode="auto">
          <a:xfrm flipH="1">
            <a:off x="3657600" y="990600"/>
            <a:ext cx="685800" cy="381000"/>
          </a:xfrm>
          <a:prstGeom prst="line">
            <a:avLst/>
          </a:prstGeom>
          <a:noFill/>
          <a:ln w="28575">
            <a:solidFill>
              <a:schemeClr val="bg2"/>
            </a:solidFill>
            <a:round/>
          </a:ln>
        </p:spPr>
        <p:txBody>
          <a:bodyPr wrap="none" anchor="ctr"/>
          <a:lstStyle/>
          <a:p>
            <a:endParaRPr lang="zh-CN" altLang="en-US"/>
          </a:p>
        </p:txBody>
      </p:sp>
      <p:sp>
        <p:nvSpPr>
          <p:cNvPr id="194569" name="Rectangle 9"/>
          <p:cNvSpPr>
            <a:spLocks noChangeArrowheads="1"/>
          </p:cNvSpPr>
          <p:nvPr/>
        </p:nvSpPr>
        <p:spPr bwMode="auto">
          <a:xfrm>
            <a:off x="1752600" y="22860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4570" name="Rectangle 10"/>
          <p:cNvSpPr>
            <a:spLocks noChangeArrowheads="1"/>
          </p:cNvSpPr>
          <p:nvPr/>
        </p:nvSpPr>
        <p:spPr bwMode="auto">
          <a:xfrm>
            <a:off x="1066800" y="32004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4571" name="Rectangle 11"/>
          <p:cNvSpPr>
            <a:spLocks noChangeArrowheads="1"/>
          </p:cNvSpPr>
          <p:nvPr/>
        </p:nvSpPr>
        <p:spPr bwMode="auto">
          <a:xfrm>
            <a:off x="2590800" y="32004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70668" name="Text Box 12"/>
          <p:cNvSpPr txBox="1">
            <a:spLocks noChangeArrowheads="1"/>
          </p:cNvSpPr>
          <p:nvPr/>
        </p:nvSpPr>
        <p:spPr bwMode="auto">
          <a:xfrm>
            <a:off x="1095375" y="32051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endParaRPr>
          </a:p>
        </p:txBody>
      </p:sp>
      <p:sp>
        <p:nvSpPr>
          <p:cNvPr id="70669" name="Text Box 13"/>
          <p:cNvSpPr txBox="1">
            <a:spLocks noChangeArrowheads="1"/>
          </p:cNvSpPr>
          <p:nvPr/>
        </p:nvSpPr>
        <p:spPr bwMode="auto">
          <a:xfrm>
            <a:off x="2619375" y="3205163"/>
            <a:ext cx="1114425" cy="519112"/>
          </a:xfrm>
          <a:prstGeom prst="rect">
            <a:avLst/>
          </a:prstGeom>
          <a:noFill/>
          <a:ln w="9525">
            <a:noFill/>
            <a:miter lim="800000"/>
          </a:ln>
        </p:spPr>
        <p:txBody>
          <a:bodyPr wrap="none">
            <a:spAutoFit/>
          </a:bodyPr>
          <a:lstStyle/>
          <a:p>
            <a:r>
              <a:rPr lang="en-US" altLang="zh-CN" sz="2800" b="1">
                <a:solidFill>
                  <a:schemeClr val="accent2"/>
                </a:solidFill>
              </a:rPr>
              <a:t>Fib(0)</a:t>
            </a:r>
            <a:endParaRPr lang="en-US" altLang="zh-CN" sz="2800" b="1">
              <a:solidFill>
                <a:schemeClr val="accent2"/>
              </a:solidFill>
              <a:latin typeface="Arial Narrow" panose="020B0606020202030204" pitchFamily="34" charset="0"/>
            </a:endParaRPr>
          </a:p>
        </p:txBody>
      </p:sp>
      <p:sp>
        <p:nvSpPr>
          <p:cNvPr id="70670" name="Text Box 14"/>
          <p:cNvSpPr txBox="1">
            <a:spLocks noChangeArrowheads="1"/>
          </p:cNvSpPr>
          <p:nvPr/>
        </p:nvSpPr>
        <p:spPr bwMode="auto">
          <a:xfrm>
            <a:off x="1828800" y="2290763"/>
            <a:ext cx="1114425" cy="519112"/>
          </a:xfrm>
          <a:prstGeom prst="rect">
            <a:avLst/>
          </a:prstGeom>
          <a:noFill/>
          <a:ln w="9525">
            <a:noFill/>
            <a:miter lim="800000"/>
          </a:ln>
        </p:spPr>
        <p:txBody>
          <a:bodyPr wrap="none">
            <a:spAutoFit/>
          </a:bodyPr>
          <a:lstStyle/>
          <a:p>
            <a:r>
              <a:rPr lang="en-US" altLang="zh-CN" sz="2800" b="1">
                <a:solidFill>
                  <a:schemeClr val="accent2"/>
                </a:solidFill>
              </a:rPr>
              <a:t>Fib(2)</a:t>
            </a:r>
            <a:endParaRPr lang="en-US" altLang="zh-CN" sz="2800" b="1">
              <a:solidFill>
                <a:schemeClr val="accent2"/>
              </a:solidFill>
              <a:latin typeface="Arial Narrow" panose="020B0606020202030204" pitchFamily="34" charset="0"/>
            </a:endParaRPr>
          </a:p>
        </p:txBody>
      </p:sp>
      <p:sp>
        <p:nvSpPr>
          <p:cNvPr id="70671" name="Line 15"/>
          <p:cNvSpPr>
            <a:spLocks noChangeShapeType="1"/>
          </p:cNvSpPr>
          <p:nvPr/>
        </p:nvSpPr>
        <p:spPr bwMode="auto">
          <a:xfrm>
            <a:off x="6629400" y="1905000"/>
            <a:ext cx="457200" cy="457200"/>
          </a:xfrm>
          <a:prstGeom prst="line">
            <a:avLst/>
          </a:prstGeom>
          <a:noFill/>
          <a:ln w="28575">
            <a:solidFill>
              <a:schemeClr val="bg2"/>
            </a:solidFill>
            <a:round/>
          </a:ln>
        </p:spPr>
        <p:txBody>
          <a:bodyPr wrap="none" anchor="ctr"/>
          <a:lstStyle/>
          <a:p>
            <a:endParaRPr lang="zh-CN" altLang="en-US"/>
          </a:p>
        </p:txBody>
      </p:sp>
      <p:sp>
        <p:nvSpPr>
          <p:cNvPr id="70672" name="Line 16"/>
          <p:cNvSpPr>
            <a:spLocks noChangeShapeType="1"/>
          </p:cNvSpPr>
          <p:nvPr/>
        </p:nvSpPr>
        <p:spPr bwMode="auto">
          <a:xfrm flipH="1">
            <a:off x="5715000" y="1905000"/>
            <a:ext cx="381000" cy="381000"/>
          </a:xfrm>
          <a:prstGeom prst="line">
            <a:avLst/>
          </a:prstGeom>
          <a:noFill/>
          <a:ln w="28575">
            <a:solidFill>
              <a:schemeClr val="bg2"/>
            </a:solidFill>
            <a:round/>
          </a:ln>
        </p:spPr>
        <p:txBody>
          <a:bodyPr wrap="none" anchor="ctr"/>
          <a:lstStyle/>
          <a:p>
            <a:endParaRPr lang="zh-CN" altLang="en-US"/>
          </a:p>
        </p:txBody>
      </p:sp>
      <p:sp>
        <p:nvSpPr>
          <p:cNvPr id="194577" name="Rectangle 17"/>
          <p:cNvSpPr>
            <a:spLocks noChangeArrowheads="1"/>
          </p:cNvSpPr>
          <p:nvPr/>
        </p:nvSpPr>
        <p:spPr bwMode="auto">
          <a:xfrm>
            <a:off x="5715000" y="13716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4578" name="Rectangle 18"/>
          <p:cNvSpPr>
            <a:spLocks noChangeArrowheads="1"/>
          </p:cNvSpPr>
          <p:nvPr/>
        </p:nvSpPr>
        <p:spPr bwMode="auto">
          <a:xfrm>
            <a:off x="5029200" y="22860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194579" name="Rectangle 19"/>
          <p:cNvSpPr>
            <a:spLocks noChangeArrowheads="1"/>
          </p:cNvSpPr>
          <p:nvPr/>
        </p:nvSpPr>
        <p:spPr bwMode="auto">
          <a:xfrm>
            <a:off x="6553200" y="2286000"/>
            <a:ext cx="11430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70676" name="Text Box 20"/>
          <p:cNvSpPr txBox="1">
            <a:spLocks noChangeArrowheads="1"/>
          </p:cNvSpPr>
          <p:nvPr/>
        </p:nvSpPr>
        <p:spPr bwMode="auto">
          <a:xfrm>
            <a:off x="5057775" y="22907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endParaRPr>
          </a:p>
        </p:txBody>
      </p:sp>
      <p:sp>
        <p:nvSpPr>
          <p:cNvPr id="70677" name="Text Box 21"/>
          <p:cNvSpPr txBox="1">
            <a:spLocks noChangeArrowheads="1"/>
          </p:cNvSpPr>
          <p:nvPr/>
        </p:nvSpPr>
        <p:spPr bwMode="auto">
          <a:xfrm>
            <a:off x="6581775" y="2290763"/>
            <a:ext cx="1114425" cy="519112"/>
          </a:xfrm>
          <a:prstGeom prst="rect">
            <a:avLst/>
          </a:prstGeom>
          <a:noFill/>
          <a:ln w="9525">
            <a:noFill/>
            <a:miter lim="800000"/>
          </a:ln>
        </p:spPr>
        <p:txBody>
          <a:bodyPr wrap="none">
            <a:spAutoFit/>
          </a:bodyPr>
          <a:lstStyle/>
          <a:p>
            <a:r>
              <a:rPr lang="en-US" altLang="zh-CN" sz="2800" b="1">
                <a:solidFill>
                  <a:schemeClr val="accent2"/>
                </a:solidFill>
              </a:rPr>
              <a:t>Fib(0)</a:t>
            </a:r>
            <a:endParaRPr lang="en-US" altLang="zh-CN" sz="2800" b="1">
              <a:solidFill>
                <a:schemeClr val="accent2"/>
              </a:solidFill>
              <a:latin typeface="Arial Narrow" panose="020B0606020202030204" pitchFamily="34" charset="0"/>
            </a:endParaRPr>
          </a:p>
        </p:txBody>
      </p:sp>
      <p:sp>
        <p:nvSpPr>
          <p:cNvPr id="70678" name="Text Box 22"/>
          <p:cNvSpPr txBox="1">
            <a:spLocks noChangeArrowheads="1"/>
          </p:cNvSpPr>
          <p:nvPr/>
        </p:nvSpPr>
        <p:spPr bwMode="auto">
          <a:xfrm>
            <a:off x="5791200" y="1376363"/>
            <a:ext cx="1114425" cy="519112"/>
          </a:xfrm>
          <a:prstGeom prst="rect">
            <a:avLst/>
          </a:prstGeom>
          <a:noFill/>
          <a:ln w="9525">
            <a:noFill/>
            <a:miter lim="800000"/>
          </a:ln>
        </p:spPr>
        <p:txBody>
          <a:bodyPr wrap="none">
            <a:spAutoFit/>
          </a:bodyPr>
          <a:lstStyle/>
          <a:p>
            <a:r>
              <a:rPr lang="en-US" altLang="zh-CN" sz="2800" b="1">
                <a:solidFill>
                  <a:schemeClr val="accent2"/>
                </a:solidFill>
              </a:rPr>
              <a:t>Fib(2)</a:t>
            </a:r>
            <a:endParaRPr lang="en-US" altLang="zh-CN" sz="2800" b="1">
              <a:solidFill>
                <a:schemeClr val="accent2"/>
              </a:solidFill>
              <a:latin typeface="Arial Narrow" panose="020B0606020202030204" pitchFamily="34" charset="0"/>
            </a:endParaRPr>
          </a:p>
        </p:txBody>
      </p:sp>
      <p:sp>
        <p:nvSpPr>
          <p:cNvPr id="194583" name="Rectangle 23"/>
          <p:cNvSpPr>
            <a:spLocks noChangeArrowheads="1"/>
          </p:cNvSpPr>
          <p:nvPr/>
        </p:nvSpPr>
        <p:spPr bwMode="auto">
          <a:xfrm>
            <a:off x="3276600" y="22860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70680" name="Text Box 24"/>
          <p:cNvSpPr txBox="1">
            <a:spLocks noChangeArrowheads="1"/>
          </p:cNvSpPr>
          <p:nvPr/>
        </p:nvSpPr>
        <p:spPr bwMode="auto">
          <a:xfrm>
            <a:off x="3352800" y="2290763"/>
            <a:ext cx="1114425" cy="519112"/>
          </a:xfrm>
          <a:prstGeom prst="rect">
            <a:avLst/>
          </a:prstGeom>
          <a:noFill/>
          <a:ln w="9525">
            <a:noFill/>
            <a:miter lim="800000"/>
          </a:ln>
        </p:spPr>
        <p:txBody>
          <a:bodyPr wrap="none">
            <a:spAutoFit/>
          </a:bodyPr>
          <a:lstStyle/>
          <a:p>
            <a:r>
              <a:rPr lang="en-US" altLang="zh-CN" sz="2800" b="1">
                <a:solidFill>
                  <a:schemeClr val="accent2"/>
                </a:solidFill>
              </a:rPr>
              <a:t>Fib(1)</a:t>
            </a:r>
            <a:endParaRPr lang="en-US" altLang="zh-CN" sz="2800" b="1">
              <a:solidFill>
                <a:schemeClr val="accent2"/>
              </a:solidFill>
              <a:latin typeface="Arial Narrow" panose="020B0606020202030204" pitchFamily="34" charset="0"/>
            </a:endParaRPr>
          </a:p>
        </p:txBody>
      </p:sp>
      <p:sp>
        <p:nvSpPr>
          <p:cNvPr id="194585" name="Rectangle 25"/>
          <p:cNvSpPr>
            <a:spLocks noChangeArrowheads="1"/>
          </p:cNvSpPr>
          <p:nvPr/>
        </p:nvSpPr>
        <p:spPr bwMode="auto">
          <a:xfrm>
            <a:off x="2590800" y="13716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70682" name="Text Box 26"/>
          <p:cNvSpPr txBox="1">
            <a:spLocks noChangeArrowheads="1"/>
          </p:cNvSpPr>
          <p:nvPr/>
        </p:nvSpPr>
        <p:spPr bwMode="auto">
          <a:xfrm>
            <a:off x="2667000" y="1376363"/>
            <a:ext cx="1114425" cy="519112"/>
          </a:xfrm>
          <a:prstGeom prst="rect">
            <a:avLst/>
          </a:prstGeom>
          <a:noFill/>
          <a:ln w="9525">
            <a:noFill/>
            <a:miter lim="800000"/>
          </a:ln>
        </p:spPr>
        <p:txBody>
          <a:bodyPr wrap="none">
            <a:spAutoFit/>
          </a:bodyPr>
          <a:lstStyle/>
          <a:p>
            <a:r>
              <a:rPr lang="en-US" altLang="zh-CN" sz="2800" b="1">
                <a:solidFill>
                  <a:schemeClr val="accent2"/>
                </a:solidFill>
              </a:rPr>
              <a:t>Fib(3)</a:t>
            </a:r>
            <a:endParaRPr lang="en-US" altLang="zh-CN" sz="2800" b="1">
              <a:solidFill>
                <a:schemeClr val="accent2"/>
              </a:solidFill>
              <a:latin typeface="Arial Narrow" panose="020B0606020202030204" pitchFamily="34" charset="0"/>
            </a:endParaRPr>
          </a:p>
        </p:txBody>
      </p:sp>
      <p:sp>
        <p:nvSpPr>
          <p:cNvPr id="194587" name="Rectangle 27"/>
          <p:cNvSpPr>
            <a:spLocks noChangeArrowheads="1"/>
          </p:cNvSpPr>
          <p:nvPr/>
        </p:nvSpPr>
        <p:spPr bwMode="auto">
          <a:xfrm>
            <a:off x="4114800" y="457200"/>
            <a:ext cx="12192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p>
        </p:txBody>
      </p:sp>
      <p:sp>
        <p:nvSpPr>
          <p:cNvPr id="70684" name="Text Box 28"/>
          <p:cNvSpPr txBox="1">
            <a:spLocks noChangeArrowheads="1"/>
          </p:cNvSpPr>
          <p:nvPr/>
        </p:nvSpPr>
        <p:spPr bwMode="auto">
          <a:xfrm>
            <a:off x="4191000" y="461963"/>
            <a:ext cx="1114425" cy="519112"/>
          </a:xfrm>
          <a:prstGeom prst="rect">
            <a:avLst/>
          </a:prstGeom>
          <a:noFill/>
          <a:ln w="9525">
            <a:noFill/>
            <a:miter lim="800000"/>
          </a:ln>
        </p:spPr>
        <p:txBody>
          <a:bodyPr wrap="none">
            <a:spAutoFit/>
          </a:bodyPr>
          <a:lstStyle/>
          <a:p>
            <a:r>
              <a:rPr lang="en-US" altLang="zh-CN" sz="2800" b="1">
                <a:solidFill>
                  <a:schemeClr val="accent2"/>
                </a:solidFill>
              </a:rPr>
              <a:t>Fib(4)</a:t>
            </a:r>
            <a:endParaRPr lang="en-US" altLang="zh-CN" sz="2800" b="1">
              <a:solidFill>
                <a:schemeClr val="accent2"/>
              </a:solidFill>
              <a:latin typeface="Arial Narrow" panose="020B0606020202030204" pitchFamily="34" charset="0"/>
            </a:endParaRPr>
          </a:p>
        </p:txBody>
      </p:sp>
      <p:sp>
        <p:nvSpPr>
          <p:cNvPr id="70685" name="Text Box 29"/>
          <p:cNvSpPr txBox="1">
            <a:spLocks noChangeArrowheads="1"/>
          </p:cNvSpPr>
          <p:nvPr/>
        </p:nvSpPr>
        <p:spPr bwMode="auto">
          <a:xfrm>
            <a:off x="990600" y="27876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70686" name="Text Box 30"/>
          <p:cNvSpPr txBox="1">
            <a:spLocks noChangeArrowheads="1"/>
          </p:cNvSpPr>
          <p:nvPr/>
        </p:nvSpPr>
        <p:spPr bwMode="auto">
          <a:xfrm>
            <a:off x="3276600" y="28194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70687" name="Text Box 31"/>
          <p:cNvSpPr txBox="1">
            <a:spLocks noChangeArrowheads="1"/>
          </p:cNvSpPr>
          <p:nvPr/>
        </p:nvSpPr>
        <p:spPr bwMode="auto">
          <a:xfrm>
            <a:off x="1676400" y="19050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a:p>
        </p:txBody>
      </p:sp>
      <p:sp>
        <p:nvSpPr>
          <p:cNvPr id="70688" name="Rectangle 32"/>
          <p:cNvSpPr>
            <a:spLocks noChangeArrowheads="1"/>
          </p:cNvSpPr>
          <p:nvPr/>
        </p:nvSpPr>
        <p:spPr bwMode="auto">
          <a:xfrm>
            <a:off x="4038600" y="1828800"/>
            <a:ext cx="592138" cy="641350"/>
          </a:xfrm>
          <a:prstGeom prst="rect">
            <a:avLst/>
          </a:prstGeom>
          <a:noFill/>
          <a:ln w="2857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689" name="Rectangle 33"/>
          <p:cNvSpPr>
            <a:spLocks noChangeArrowheads="1"/>
          </p:cNvSpPr>
          <p:nvPr/>
        </p:nvSpPr>
        <p:spPr bwMode="auto">
          <a:xfrm>
            <a:off x="2514600" y="9906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690" name="Rectangle 34"/>
          <p:cNvSpPr>
            <a:spLocks noChangeArrowheads="1"/>
          </p:cNvSpPr>
          <p:nvPr/>
        </p:nvSpPr>
        <p:spPr bwMode="auto">
          <a:xfrm>
            <a:off x="4970463" y="19050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691" name="Rectangle 35"/>
          <p:cNvSpPr>
            <a:spLocks noChangeArrowheads="1"/>
          </p:cNvSpPr>
          <p:nvPr/>
        </p:nvSpPr>
        <p:spPr bwMode="auto">
          <a:xfrm>
            <a:off x="6400800" y="989013"/>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692" name="Rectangle 36"/>
          <p:cNvSpPr>
            <a:spLocks noChangeArrowheads="1"/>
          </p:cNvSpPr>
          <p:nvPr/>
        </p:nvSpPr>
        <p:spPr bwMode="auto">
          <a:xfrm>
            <a:off x="7180263" y="190500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693" name="Rectangle 37"/>
          <p:cNvSpPr>
            <a:spLocks noChangeArrowheads="1"/>
          </p:cNvSpPr>
          <p:nvPr/>
        </p:nvSpPr>
        <p:spPr bwMode="auto">
          <a:xfrm>
            <a:off x="4495800" y="762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694" name="Line 38"/>
          <p:cNvSpPr>
            <a:spLocks noChangeShapeType="1"/>
          </p:cNvSpPr>
          <p:nvPr/>
        </p:nvSpPr>
        <p:spPr bwMode="auto">
          <a:xfrm flipH="1">
            <a:off x="3276600" y="914400"/>
            <a:ext cx="685800" cy="381000"/>
          </a:xfrm>
          <a:prstGeom prst="line">
            <a:avLst/>
          </a:prstGeom>
          <a:noFill/>
          <a:ln w="28575">
            <a:solidFill>
              <a:srgbClr val="CC3300"/>
            </a:solidFill>
            <a:round/>
            <a:tailEnd type="triangle" w="sm" len="med"/>
          </a:ln>
        </p:spPr>
        <p:txBody>
          <a:bodyPr wrap="none" anchor="ctr"/>
          <a:lstStyle/>
          <a:p>
            <a:endParaRPr lang="zh-CN" altLang="en-US"/>
          </a:p>
        </p:txBody>
      </p:sp>
      <p:sp>
        <p:nvSpPr>
          <p:cNvPr id="70695" name="Line 39"/>
          <p:cNvSpPr>
            <a:spLocks noChangeShapeType="1"/>
          </p:cNvSpPr>
          <p:nvPr/>
        </p:nvSpPr>
        <p:spPr bwMode="auto">
          <a:xfrm flipH="1">
            <a:off x="23622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70696" name="Line 40"/>
          <p:cNvSpPr>
            <a:spLocks noChangeShapeType="1"/>
          </p:cNvSpPr>
          <p:nvPr/>
        </p:nvSpPr>
        <p:spPr bwMode="auto">
          <a:xfrm flipH="1">
            <a:off x="1524000" y="28956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70697" name="Freeform 41"/>
          <p:cNvSpPr/>
          <p:nvPr/>
        </p:nvSpPr>
        <p:spPr bwMode="auto">
          <a:xfrm flipV="1">
            <a:off x="1981200" y="3048000"/>
            <a:ext cx="9144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70698" name="Line 42"/>
          <p:cNvSpPr>
            <a:spLocks noChangeShapeType="1"/>
          </p:cNvSpPr>
          <p:nvPr/>
        </p:nvSpPr>
        <p:spPr bwMode="auto">
          <a:xfrm flipH="1" flipV="1">
            <a:off x="3048000" y="28956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70699" name="Freeform 43"/>
          <p:cNvSpPr/>
          <p:nvPr/>
        </p:nvSpPr>
        <p:spPr bwMode="auto">
          <a:xfrm flipV="1">
            <a:off x="2819400" y="2133600"/>
            <a:ext cx="8382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70700" name="Line 44"/>
          <p:cNvSpPr>
            <a:spLocks noChangeShapeType="1"/>
          </p:cNvSpPr>
          <p:nvPr/>
        </p:nvSpPr>
        <p:spPr bwMode="auto">
          <a:xfrm flipH="1" flipV="1">
            <a:off x="37338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70701" name="Freeform 45"/>
          <p:cNvSpPr/>
          <p:nvPr/>
        </p:nvSpPr>
        <p:spPr bwMode="auto">
          <a:xfrm flipV="1">
            <a:off x="5943600" y="2133600"/>
            <a:ext cx="8382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70702" name="Line 46"/>
          <p:cNvSpPr>
            <a:spLocks noChangeShapeType="1"/>
          </p:cNvSpPr>
          <p:nvPr/>
        </p:nvSpPr>
        <p:spPr bwMode="auto">
          <a:xfrm flipH="1">
            <a:off x="54864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70703" name="Line 47"/>
          <p:cNvSpPr>
            <a:spLocks noChangeShapeType="1"/>
          </p:cNvSpPr>
          <p:nvPr/>
        </p:nvSpPr>
        <p:spPr bwMode="auto">
          <a:xfrm flipH="1" flipV="1">
            <a:off x="6934200" y="1981200"/>
            <a:ext cx="228600" cy="228600"/>
          </a:xfrm>
          <a:prstGeom prst="line">
            <a:avLst/>
          </a:prstGeom>
          <a:noFill/>
          <a:ln w="28575">
            <a:solidFill>
              <a:srgbClr val="CC3300"/>
            </a:solidFill>
            <a:round/>
            <a:tailEnd type="triangle" w="sm" len="med"/>
          </a:ln>
        </p:spPr>
        <p:txBody>
          <a:bodyPr wrap="none" anchor="ctr"/>
          <a:lstStyle/>
          <a:p>
            <a:endParaRPr lang="zh-CN" altLang="en-US"/>
          </a:p>
        </p:txBody>
      </p:sp>
      <p:sp>
        <p:nvSpPr>
          <p:cNvPr id="70704" name="Line 48"/>
          <p:cNvSpPr>
            <a:spLocks noChangeShapeType="1"/>
          </p:cNvSpPr>
          <p:nvPr/>
        </p:nvSpPr>
        <p:spPr bwMode="auto">
          <a:xfrm flipH="1" flipV="1">
            <a:off x="5486400" y="914400"/>
            <a:ext cx="609600" cy="381000"/>
          </a:xfrm>
          <a:prstGeom prst="line">
            <a:avLst/>
          </a:prstGeom>
          <a:noFill/>
          <a:ln w="28575">
            <a:solidFill>
              <a:srgbClr val="CC3300"/>
            </a:solidFill>
            <a:round/>
            <a:tailEnd type="triangle" w="sm" len="med"/>
          </a:ln>
        </p:spPr>
        <p:txBody>
          <a:bodyPr wrap="none" anchor="ctr"/>
          <a:lstStyle/>
          <a:p>
            <a:endParaRPr lang="zh-CN" altLang="en-US"/>
          </a:p>
        </p:txBody>
      </p:sp>
      <p:sp>
        <p:nvSpPr>
          <p:cNvPr id="70705" name="Freeform 49"/>
          <p:cNvSpPr/>
          <p:nvPr/>
        </p:nvSpPr>
        <p:spPr bwMode="auto">
          <a:xfrm flipV="1">
            <a:off x="3886200" y="1219200"/>
            <a:ext cx="1752600" cy="152400"/>
          </a:xfrm>
          <a:custGeom>
            <a:avLst/>
            <a:gdLst>
              <a:gd name="T0" fmla="*/ 0 w 480"/>
              <a:gd name="T1" fmla="*/ 0 h 112"/>
              <a:gd name="T2" fmla="*/ 2147483647 w 480"/>
              <a:gd name="T3" fmla="*/ 2147483647 h 112"/>
              <a:gd name="T4" fmla="*/ 2147483647 w 480"/>
              <a:gd name="T5" fmla="*/ 2147483647 h 112"/>
              <a:gd name="T6" fmla="*/ 2147483647 w 480"/>
              <a:gd name="T7" fmla="*/ 0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0" y="0"/>
                </a:moveTo>
                <a:cubicBezTo>
                  <a:pt x="20" y="40"/>
                  <a:pt x="40" y="80"/>
                  <a:pt x="96" y="96"/>
                </a:cubicBezTo>
                <a:cubicBezTo>
                  <a:pt x="152" y="112"/>
                  <a:pt x="272" y="112"/>
                  <a:pt x="336" y="96"/>
                </a:cubicBezTo>
                <a:cubicBezTo>
                  <a:pt x="400" y="80"/>
                  <a:pt x="456" y="16"/>
                  <a:pt x="480" y="0"/>
                </a:cubicBezTo>
              </a:path>
            </a:pathLst>
          </a:custGeom>
          <a:noFill/>
          <a:ln w="28575">
            <a:solidFill>
              <a:srgbClr val="CC3300"/>
            </a:solidFill>
            <a:round/>
            <a:tailEnd type="triangle" w="sm" len="med"/>
          </a:ln>
        </p:spPr>
        <p:txBody>
          <a:bodyPr wrap="none" anchor="ctr"/>
          <a:lstStyle/>
          <a:p>
            <a:endParaRPr lang="zh-CN" altLang="en-US"/>
          </a:p>
        </p:txBody>
      </p:sp>
      <p:sp>
        <p:nvSpPr>
          <p:cNvPr id="70706" name="Rectangle 50" descr="羊皮纸"/>
          <p:cNvSpPr>
            <a:spLocks noChangeArrowheads="1"/>
          </p:cNvSpPr>
          <p:nvPr/>
        </p:nvSpPr>
        <p:spPr bwMode="auto">
          <a:xfrm>
            <a:off x="53975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70707" name="Line 51"/>
          <p:cNvSpPr>
            <a:spLocks noChangeShapeType="1"/>
          </p:cNvSpPr>
          <p:nvPr/>
        </p:nvSpPr>
        <p:spPr bwMode="auto">
          <a:xfrm>
            <a:off x="539750" y="4191000"/>
            <a:ext cx="0" cy="1447800"/>
          </a:xfrm>
          <a:prstGeom prst="line">
            <a:avLst/>
          </a:prstGeom>
          <a:noFill/>
          <a:ln w="9525">
            <a:solidFill>
              <a:schemeClr val="tx1"/>
            </a:solidFill>
            <a:round/>
          </a:ln>
        </p:spPr>
        <p:txBody>
          <a:bodyPr wrap="none" anchor="ctr"/>
          <a:lstStyle/>
          <a:p>
            <a:endParaRPr lang="zh-CN" altLang="en-US"/>
          </a:p>
        </p:txBody>
      </p:sp>
      <p:sp>
        <p:nvSpPr>
          <p:cNvPr id="70708" name="Line 52"/>
          <p:cNvSpPr>
            <a:spLocks noChangeShapeType="1"/>
          </p:cNvSpPr>
          <p:nvPr/>
        </p:nvSpPr>
        <p:spPr bwMode="auto">
          <a:xfrm>
            <a:off x="533400" y="5638800"/>
            <a:ext cx="1066800" cy="0"/>
          </a:xfrm>
          <a:prstGeom prst="line">
            <a:avLst/>
          </a:prstGeom>
          <a:noFill/>
          <a:ln w="9525">
            <a:solidFill>
              <a:schemeClr val="tx1"/>
            </a:solidFill>
            <a:round/>
          </a:ln>
        </p:spPr>
        <p:txBody>
          <a:bodyPr wrap="none" anchor="ctr"/>
          <a:lstStyle/>
          <a:p>
            <a:endParaRPr lang="zh-CN" altLang="en-US"/>
          </a:p>
        </p:txBody>
      </p:sp>
      <p:sp>
        <p:nvSpPr>
          <p:cNvPr id="70709" name="Line 53"/>
          <p:cNvSpPr>
            <a:spLocks noChangeShapeType="1"/>
          </p:cNvSpPr>
          <p:nvPr/>
        </p:nvSpPr>
        <p:spPr bwMode="auto">
          <a:xfrm flipV="1">
            <a:off x="1606550" y="4191000"/>
            <a:ext cx="0" cy="1447800"/>
          </a:xfrm>
          <a:prstGeom prst="line">
            <a:avLst/>
          </a:prstGeom>
          <a:noFill/>
          <a:ln w="9525">
            <a:solidFill>
              <a:schemeClr val="tx1"/>
            </a:solidFill>
            <a:round/>
          </a:ln>
        </p:spPr>
        <p:txBody>
          <a:bodyPr wrap="none" anchor="ctr"/>
          <a:lstStyle/>
          <a:p>
            <a:endParaRPr lang="zh-CN" altLang="en-US"/>
          </a:p>
        </p:txBody>
      </p:sp>
      <p:sp>
        <p:nvSpPr>
          <p:cNvPr id="70710" name="Line 54"/>
          <p:cNvSpPr>
            <a:spLocks noChangeShapeType="1"/>
          </p:cNvSpPr>
          <p:nvPr/>
        </p:nvSpPr>
        <p:spPr bwMode="auto">
          <a:xfrm flipV="1">
            <a:off x="1073150" y="4191000"/>
            <a:ext cx="0" cy="1447800"/>
          </a:xfrm>
          <a:prstGeom prst="line">
            <a:avLst/>
          </a:prstGeom>
          <a:noFill/>
          <a:ln w="9525">
            <a:solidFill>
              <a:schemeClr val="tx1"/>
            </a:solidFill>
            <a:round/>
          </a:ln>
        </p:spPr>
        <p:txBody>
          <a:bodyPr wrap="none" anchor="ctr"/>
          <a:lstStyle/>
          <a:p>
            <a:endParaRPr lang="zh-CN" altLang="en-US"/>
          </a:p>
        </p:txBody>
      </p:sp>
      <p:sp>
        <p:nvSpPr>
          <p:cNvPr id="70711" name="Line 55"/>
          <p:cNvSpPr>
            <a:spLocks noChangeShapeType="1"/>
          </p:cNvSpPr>
          <p:nvPr/>
        </p:nvSpPr>
        <p:spPr bwMode="auto">
          <a:xfrm>
            <a:off x="533400" y="5181600"/>
            <a:ext cx="1066800" cy="0"/>
          </a:xfrm>
          <a:prstGeom prst="line">
            <a:avLst/>
          </a:prstGeom>
          <a:noFill/>
          <a:ln w="9525">
            <a:solidFill>
              <a:schemeClr val="tx1"/>
            </a:solidFill>
            <a:round/>
          </a:ln>
        </p:spPr>
        <p:txBody>
          <a:bodyPr wrap="none" anchor="ctr"/>
          <a:lstStyle/>
          <a:p>
            <a:endParaRPr lang="zh-CN" altLang="en-US"/>
          </a:p>
        </p:txBody>
      </p:sp>
      <p:sp>
        <p:nvSpPr>
          <p:cNvPr id="70712" name="Line 56"/>
          <p:cNvSpPr>
            <a:spLocks noChangeShapeType="1"/>
          </p:cNvSpPr>
          <p:nvPr/>
        </p:nvSpPr>
        <p:spPr bwMode="auto">
          <a:xfrm>
            <a:off x="533400" y="4267200"/>
            <a:ext cx="1066800" cy="0"/>
          </a:xfrm>
          <a:prstGeom prst="line">
            <a:avLst/>
          </a:prstGeom>
          <a:noFill/>
          <a:ln w="9525">
            <a:solidFill>
              <a:schemeClr val="tx1"/>
            </a:solidFill>
            <a:round/>
          </a:ln>
        </p:spPr>
        <p:txBody>
          <a:bodyPr wrap="none" anchor="ctr"/>
          <a:lstStyle/>
          <a:p>
            <a:endParaRPr lang="zh-CN" altLang="en-US"/>
          </a:p>
        </p:txBody>
      </p:sp>
      <p:sp>
        <p:nvSpPr>
          <p:cNvPr id="70713" name="Line 57"/>
          <p:cNvSpPr>
            <a:spLocks noChangeShapeType="1"/>
          </p:cNvSpPr>
          <p:nvPr/>
        </p:nvSpPr>
        <p:spPr bwMode="auto">
          <a:xfrm>
            <a:off x="533400" y="4724400"/>
            <a:ext cx="1066800" cy="0"/>
          </a:xfrm>
          <a:prstGeom prst="line">
            <a:avLst/>
          </a:prstGeom>
          <a:noFill/>
          <a:ln w="9525">
            <a:solidFill>
              <a:schemeClr val="tx1"/>
            </a:solidFill>
            <a:round/>
          </a:ln>
        </p:spPr>
        <p:txBody>
          <a:bodyPr wrap="none" anchor="ctr"/>
          <a:lstStyle/>
          <a:p>
            <a:endParaRPr lang="zh-CN" altLang="en-US"/>
          </a:p>
        </p:txBody>
      </p:sp>
      <p:sp>
        <p:nvSpPr>
          <p:cNvPr id="70714" name="Text Box 58"/>
          <p:cNvSpPr txBox="1">
            <a:spLocks noChangeArrowheads="1"/>
          </p:cNvSpPr>
          <p:nvPr/>
        </p:nvSpPr>
        <p:spPr bwMode="auto">
          <a:xfrm>
            <a:off x="654050" y="4692650"/>
            <a:ext cx="895350" cy="946150"/>
          </a:xfrm>
          <a:prstGeom prst="rect">
            <a:avLst/>
          </a:prstGeom>
          <a:noFill/>
          <a:ln w="9525">
            <a:noFill/>
            <a:miter lim="800000"/>
          </a:ln>
        </p:spPr>
        <p:txBody>
          <a:bodyPr wrap="none">
            <a:spAutoFit/>
          </a:bodyPr>
          <a:lstStyle/>
          <a:p>
            <a:r>
              <a:rPr lang="en-US" altLang="zh-CN" sz="2800"/>
              <a:t>2    </a:t>
            </a:r>
            <a:r>
              <a:rPr lang="en-US" altLang="zh-CN" sz="2800">
                <a:solidFill>
                  <a:schemeClr val="accent2"/>
                </a:solidFill>
              </a:rPr>
              <a:t>1</a:t>
            </a:r>
            <a:endParaRPr lang="en-US" altLang="zh-CN" sz="2800"/>
          </a:p>
          <a:p>
            <a:r>
              <a:rPr lang="en-US" altLang="zh-CN" sz="2800"/>
              <a:t>4    </a:t>
            </a:r>
            <a:r>
              <a:rPr lang="en-US" altLang="zh-CN" sz="2800">
                <a:solidFill>
                  <a:schemeClr val="tx2"/>
                </a:solidFill>
              </a:rPr>
              <a:t>2</a:t>
            </a:r>
            <a:endParaRPr lang="en-US" altLang="zh-CN"/>
          </a:p>
        </p:txBody>
      </p:sp>
      <p:sp>
        <p:nvSpPr>
          <p:cNvPr id="70715" name="Text Box 59"/>
          <p:cNvSpPr txBox="1">
            <a:spLocks noChangeArrowheads="1"/>
          </p:cNvSpPr>
          <p:nvPr/>
        </p:nvSpPr>
        <p:spPr bwMode="auto">
          <a:xfrm>
            <a:off x="381000" y="5603875"/>
            <a:ext cx="1377950" cy="822325"/>
          </a:xfrm>
          <a:prstGeom prst="rect">
            <a:avLst/>
          </a:prstGeom>
          <a:noFill/>
          <a:ln w="9525">
            <a:noFill/>
            <a:miter lim="800000"/>
          </a:ln>
        </p:spPr>
        <p:txBody>
          <a:bodyPr wrap="none">
            <a:spAutoFit/>
          </a:bodyPr>
          <a:lstStyle/>
          <a:p>
            <a:pPr algn="ctr"/>
            <a:r>
              <a:rPr lang="en-US" altLang="zh-CN" b="1">
                <a:solidFill>
                  <a:srgbClr val="333399"/>
                </a:solidFill>
              </a:rPr>
              <a:t>      n=1</a:t>
            </a:r>
            <a:endParaRPr lang="en-US" altLang="zh-CN" b="1">
              <a:solidFill>
                <a:srgbClr val="333399"/>
              </a:solidFill>
            </a:endParaRPr>
          </a:p>
          <a:p>
            <a:pPr algn="ctr"/>
            <a:r>
              <a:rPr lang="en-US" altLang="zh-CN" b="1">
                <a:solidFill>
                  <a:srgbClr val="333399"/>
                </a:solidFill>
              </a:rPr>
              <a:t>sum=2+1</a:t>
            </a:r>
            <a:endParaRPr lang="en-US" altLang="zh-CN"/>
          </a:p>
        </p:txBody>
      </p:sp>
      <p:sp>
        <p:nvSpPr>
          <p:cNvPr id="70716" name="Line 60"/>
          <p:cNvSpPr>
            <a:spLocks noChangeShapeType="1"/>
          </p:cNvSpPr>
          <p:nvPr/>
        </p:nvSpPr>
        <p:spPr bwMode="auto">
          <a:xfrm>
            <a:off x="1828800" y="4191000"/>
            <a:ext cx="0" cy="1447800"/>
          </a:xfrm>
          <a:prstGeom prst="line">
            <a:avLst/>
          </a:prstGeom>
          <a:noFill/>
          <a:ln w="9525">
            <a:solidFill>
              <a:schemeClr val="tx1"/>
            </a:solidFill>
            <a:round/>
          </a:ln>
        </p:spPr>
        <p:txBody>
          <a:bodyPr wrap="none" anchor="ctr"/>
          <a:lstStyle/>
          <a:p>
            <a:endParaRPr lang="zh-CN" altLang="en-US"/>
          </a:p>
        </p:txBody>
      </p:sp>
      <p:sp>
        <p:nvSpPr>
          <p:cNvPr id="70717" name="Line 61"/>
          <p:cNvSpPr>
            <a:spLocks noChangeShapeType="1"/>
          </p:cNvSpPr>
          <p:nvPr/>
        </p:nvSpPr>
        <p:spPr bwMode="auto">
          <a:xfrm flipV="1">
            <a:off x="2895600" y="4191000"/>
            <a:ext cx="0" cy="1447800"/>
          </a:xfrm>
          <a:prstGeom prst="line">
            <a:avLst/>
          </a:prstGeom>
          <a:noFill/>
          <a:ln w="9525">
            <a:solidFill>
              <a:schemeClr val="tx1"/>
            </a:solidFill>
            <a:round/>
          </a:ln>
        </p:spPr>
        <p:txBody>
          <a:bodyPr wrap="none" anchor="ctr"/>
          <a:lstStyle/>
          <a:p>
            <a:endParaRPr lang="zh-CN" altLang="en-US"/>
          </a:p>
        </p:txBody>
      </p:sp>
      <p:sp>
        <p:nvSpPr>
          <p:cNvPr id="70718" name="Line 62"/>
          <p:cNvSpPr>
            <a:spLocks noChangeShapeType="1"/>
          </p:cNvSpPr>
          <p:nvPr/>
        </p:nvSpPr>
        <p:spPr bwMode="auto">
          <a:xfrm flipV="1">
            <a:off x="2374900" y="4191000"/>
            <a:ext cx="0" cy="1447800"/>
          </a:xfrm>
          <a:prstGeom prst="line">
            <a:avLst/>
          </a:prstGeom>
          <a:noFill/>
          <a:ln w="9525">
            <a:solidFill>
              <a:schemeClr val="tx1"/>
            </a:solidFill>
            <a:round/>
          </a:ln>
        </p:spPr>
        <p:txBody>
          <a:bodyPr wrap="none" anchor="ctr"/>
          <a:lstStyle/>
          <a:p>
            <a:endParaRPr lang="zh-CN" altLang="en-US"/>
          </a:p>
        </p:txBody>
      </p:sp>
      <p:sp>
        <p:nvSpPr>
          <p:cNvPr id="70719" name="Line 63"/>
          <p:cNvSpPr>
            <a:spLocks noChangeShapeType="1"/>
          </p:cNvSpPr>
          <p:nvPr/>
        </p:nvSpPr>
        <p:spPr bwMode="auto">
          <a:xfrm>
            <a:off x="1835150" y="4267200"/>
            <a:ext cx="1066800" cy="0"/>
          </a:xfrm>
          <a:prstGeom prst="line">
            <a:avLst/>
          </a:prstGeom>
          <a:noFill/>
          <a:ln w="9525">
            <a:solidFill>
              <a:schemeClr val="tx1"/>
            </a:solidFill>
            <a:round/>
          </a:ln>
        </p:spPr>
        <p:txBody>
          <a:bodyPr wrap="none" anchor="ctr"/>
          <a:lstStyle/>
          <a:p>
            <a:endParaRPr lang="zh-CN" altLang="en-US"/>
          </a:p>
        </p:txBody>
      </p:sp>
      <p:sp>
        <p:nvSpPr>
          <p:cNvPr id="70720" name="Text Box 64"/>
          <p:cNvSpPr txBox="1">
            <a:spLocks noChangeArrowheads="1"/>
          </p:cNvSpPr>
          <p:nvPr/>
        </p:nvSpPr>
        <p:spPr bwMode="auto">
          <a:xfrm>
            <a:off x="1955800" y="4692650"/>
            <a:ext cx="895350" cy="946150"/>
          </a:xfrm>
          <a:prstGeom prst="rect">
            <a:avLst/>
          </a:prstGeom>
          <a:noFill/>
          <a:ln w="9525">
            <a:noFill/>
            <a:miter lim="800000"/>
          </a:ln>
        </p:spPr>
        <p:txBody>
          <a:bodyPr wrap="none">
            <a:spAutoFit/>
          </a:bodyPr>
          <a:lstStyle/>
          <a:p>
            <a:r>
              <a:rPr lang="en-US" altLang="zh-CN" sz="2800"/>
              <a:t>2    </a:t>
            </a:r>
            <a:r>
              <a:rPr lang="en-US" altLang="zh-CN" sz="2800">
                <a:solidFill>
                  <a:schemeClr val="tx2"/>
                </a:solidFill>
              </a:rPr>
              <a:t>2</a:t>
            </a:r>
            <a:endParaRPr lang="en-US" altLang="zh-CN" sz="2800"/>
          </a:p>
          <a:p>
            <a:r>
              <a:rPr lang="en-US" altLang="zh-CN" sz="2800"/>
              <a:t>4    </a:t>
            </a:r>
            <a:r>
              <a:rPr lang="en-US" altLang="zh-CN" sz="2800">
                <a:solidFill>
                  <a:schemeClr val="tx2"/>
                </a:solidFill>
              </a:rPr>
              <a:t>2</a:t>
            </a:r>
            <a:endParaRPr lang="en-US" altLang="zh-CN"/>
          </a:p>
        </p:txBody>
      </p:sp>
      <p:sp>
        <p:nvSpPr>
          <p:cNvPr id="70721" name="Text Box 65"/>
          <p:cNvSpPr txBox="1">
            <a:spLocks noChangeArrowheads="1"/>
          </p:cNvSpPr>
          <p:nvPr/>
        </p:nvSpPr>
        <p:spPr bwMode="auto">
          <a:xfrm>
            <a:off x="1912938" y="5943600"/>
            <a:ext cx="933450" cy="457200"/>
          </a:xfrm>
          <a:prstGeom prst="rect">
            <a:avLst/>
          </a:prstGeom>
          <a:noFill/>
          <a:ln w="9525">
            <a:noFill/>
            <a:miter lim="800000"/>
          </a:ln>
        </p:spPr>
        <p:txBody>
          <a:bodyPr wrap="none">
            <a:spAutoFit/>
          </a:bodyPr>
          <a:lstStyle/>
          <a:p>
            <a:pPr algn="ctr"/>
            <a:r>
              <a:rPr lang="en-US" altLang="zh-CN" b="1">
                <a:solidFill>
                  <a:srgbClr val="333399"/>
                </a:solidFill>
              </a:rPr>
              <a:t>n=2-2</a:t>
            </a:r>
            <a:endParaRPr lang="en-US" altLang="zh-CN"/>
          </a:p>
        </p:txBody>
      </p:sp>
      <p:sp>
        <p:nvSpPr>
          <p:cNvPr id="70722" name="Line 66"/>
          <p:cNvSpPr>
            <a:spLocks noChangeShapeType="1"/>
          </p:cNvSpPr>
          <p:nvPr/>
        </p:nvSpPr>
        <p:spPr bwMode="auto">
          <a:xfrm>
            <a:off x="1828800" y="4724400"/>
            <a:ext cx="1066800" cy="0"/>
          </a:xfrm>
          <a:prstGeom prst="line">
            <a:avLst/>
          </a:prstGeom>
          <a:noFill/>
          <a:ln w="9525">
            <a:solidFill>
              <a:schemeClr val="tx1"/>
            </a:solidFill>
            <a:round/>
          </a:ln>
        </p:spPr>
        <p:txBody>
          <a:bodyPr wrap="none" anchor="ctr"/>
          <a:lstStyle/>
          <a:p>
            <a:endParaRPr lang="zh-CN" altLang="en-US"/>
          </a:p>
        </p:txBody>
      </p:sp>
      <p:sp>
        <p:nvSpPr>
          <p:cNvPr id="70723" name="Line 67"/>
          <p:cNvSpPr>
            <a:spLocks noChangeShapeType="1"/>
          </p:cNvSpPr>
          <p:nvPr/>
        </p:nvSpPr>
        <p:spPr bwMode="auto">
          <a:xfrm>
            <a:off x="1828800" y="5181600"/>
            <a:ext cx="1066800" cy="0"/>
          </a:xfrm>
          <a:prstGeom prst="line">
            <a:avLst/>
          </a:prstGeom>
          <a:noFill/>
          <a:ln w="9525">
            <a:solidFill>
              <a:schemeClr val="tx1"/>
            </a:solidFill>
            <a:round/>
          </a:ln>
        </p:spPr>
        <p:txBody>
          <a:bodyPr wrap="none" anchor="ctr"/>
          <a:lstStyle/>
          <a:p>
            <a:endParaRPr lang="zh-CN" altLang="en-US"/>
          </a:p>
        </p:txBody>
      </p:sp>
      <p:sp>
        <p:nvSpPr>
          <p:cNvPr id="70724" name="Line 68"/>
          <p:cNvSpPr>
            <a:spLocks noChangeShapeType="1"/>
          </p:cNvSpPr>
          <p:nvPr/>
        </p:nvSpPr>
        <p:spPr bwMode="auto">
          <a:xfrm>
            <a:off x="1828800" y="5638800"/>
            <a:ext cx="1066800" cy="0"/>
          </a:xfrm>
          <a:prstGeom prst="line">
            <a:avLst/>
          </a:prstGeom>
          <a:noFill/>
          <a:ln w="9525">
            <a:solidFill>
              <a:schemeClr val="tx1"/>
            </a:solidFill>
            <a:round/>
          </a:ln>
        </p:spPr>
        <p:txBody>
          <a:bodyPr wrap="none" anchor="ctr"/>
          <a:lstStyle/>
          <a:p>
            <a:endParaRPr lang="zh-CN" altLang="en-US"/>
          </a:p>
        </p:txBody>
      </p:sp>
      <p:sp>
        <p:nvSpPr>
          <p:cNvPr id="70725" name="Rectangle 69" descr="羊皮纸"/>
          <p:cNvSpPr>
            <a:spLocks noChangeArrowheads="1"/>
          </p:cNvSpPr>
          <p:nvPr/>
        </p:nvSpPr>
        <p:spPr bwMode="auto">
          <a:xfrm>
            <a:off x="449580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70726" name="Rectangle 70" descr="羊皮纸"/>
          <p:cNvSpPr>
            <a:spLocks noChangeArrowheads="1"/>
          </p:cNvSpPr>
          <p:nvPr/>
        </p:nvSpPr>
        <p:spPr bwMode="auto">
          <a:xfrm>
            <a:off x="3200400" y="4191000"/>
            <a:ext cx="1066800" cy="1447800"/>
          </a:xfrm>
          <a:prstGeom prst="rect">
            <a:avLst/>
          </a:prstGeom>
          <a:blipFill dpi="0" rotWithShape="0">
            <a:blip r:embed="rId1"/>
            <a:srcRect/>
            <a:tile tx="0" ty="0" sx="100000" sy="100000" flip="none" algn="tl"/>
          </a:blipFill>
          <a:ln w="19050">
            <a:noFill/>
            <a:miter lim="800000"/>
          </a:ln>
        </p:spPr>
        <p:txBody>
          <a:bodyPr wrap="none" anchor="ctr"/>
          <a:lstStyle/>
          <a:p>
            <a:endParaRPr lang="zh-CN" altLang="en-US"/>
          </a:p>
        </p:txBody>
      </p:sp>
      <p:sp>
        <p:nvSpPr>
          <p:cNvPr id="70727" name="Text Box 71"/>
          <p:cNvSpPr txBox="1">
            <a:spLocks noChangeArrowheads="1"/>
          </p:cNvSpPr>
          <p:nvPr/>
        </p:nvSpPr>
        <p:spPr bwMode="auto">
          <a:xfrm>
            <a:off x="3314700" y="5119688"/>
            <a:ext cx="895350" cy="519112"/>
          </a:xfrm>
          <a:prstGeom prst="rect">
            <a:avLst/>
          </a:prstGeom>
          <a:noFill/>
          <a:ln w="9525">
            <a:noFill/>
            <a:miter lim="800000"/>
          </a:ln>
        </p:spPr>
        <p:txBody>
          <a:bodyPr wrap="none">
            <a:spAutoFit/>
          </a:bodyPr>
          <a:lstStyle/>
          <a:p>
            <a:r>
              <a:rPr lang="en-US" altLang="zh-CN" sz="2800"/>
              <a:t>4    </a:t>
            </a:r>
            <a:r>
              <a:rPr lang="en-US" altLang="zh-CN" sz="2800">
                <a:solidFill>
                  <a:schemeClr val="tx2"/>
                </a:solidFill>
              </a:rPr>
              <a:t>2</a:t>
            </a:r>
            <a:endParaRPr lang="en-US" altLang="zh-CN"/>
          </a:p>
        </p:txBody>
      </p:sp>
      <p:sp>
        <p:nvSpPr>
          <p:cNvPr id="70728" name="Text Box 72"/>
          <p:cNvSpPr txBox="1">
            <a:spLocks noChangeArrowheads="1"/>
          </p:cNvSpPr>
          <p:nvPr/>
        </p:nvSpPr>
        <p:spPr bwMode="auto">
          <a:xfrm>
            <a:off x="3041650" y="5603875"/>
            <a:ext cx="1377950" cy="822325"/>
          </a:xfrm>
          <a:prstGeom prst="rect">
            <a:avLst/>
          </a:prstGeom>
          <a:noFill/>
          <a:ln w="9525">
            <a:noFill/>
            <a:miter lim="800000"/>
          </a:ln>
        </p:spPr>
        <p:txBody>
          <a:bodyPr wrap="none">
            <a:spAutoFit/>
          </a:bodyPr>
          <a:lstStyle/>
          <a:p>
            <a:pPr algn="ctr"/>
            <a:r>
              <a:rPr lang="en-US" altLang="zh-CN" b="1">
                <a:solidFill>
                  <a:srgbClr val="333399"/>
                </a:solidFill>
              </a:rPr>
              <a:t>    n=0</a:t>
            </a:r>
            <a:endParaRPr lang="en-US" altLang="zh-CN" b="1">
              <a:solidFill>
                <a:srgbClr val="333399"/>
              </a:solidFill>
            </a:endParaRPr>
          </a:p>
          <a:p>
            <a:pPr algn="ctr"/>
            <a:r>
              <a:rPr lang="en-US" altLang="zh-CN" b="1">
                <a:solidFill>
                  <a:srgbClr val="333399"/>
                </a:solidFill>
              </a:rPr>
              <a:t>sum=3+0</a:t>
            </a:r>
            <a:endParaRPr lang="en-US" altLang="zh-CN"/>
          </a:p>
        </p:txBody>
      </p:sp>
      <p:sp>
        <p:nvSpPr>
          <p:cNvPr id="70729" name="Line 73"/>
          <p:cNvSpPr>
            <a:spLocks noChangeShapeType="1"/>
          </p:cNvSpPr>
          <p:nvPr/>
        </p:nvSpPr>
        <p:spPr bwMode="auto">
          <a:xfrm flipV="1">
            <a:off x="3200400" y="4191000"/>
            <a:ext cx="0" cy="1447800"/>
          </a:xfrm>
          <a:prstGeom prst="line">
            <a:avLst/>
          </a:prstGeom>
          <a:noFill/>
          <a:ln w="9525">
            <a:solidFill>
              <a:schemeClr val="tx1"/>
            </a:solidFill>
            <a:round/>
          </a:ln>
        </p:spPr>
        <p:txBody>
          <a:bodyPr wrap="none" anchor="ctr"/>
          <a:lstStyle/>
          <a:p>
            <a:endParaRPr lang="zh-CN" altLang="en-US"/>
          </a:p>
        </p:txBody>
      </p:sp>
      <p:sp>
        <p:nvSpPr>
          <p:cNvPr id="70730" name="Line 74"/>
          <p:cNvSpPr>
            <a:spLocks noChangeShapeType="1"/>
          </p:cNvSpPr>
          <p:nvPr/>
        </p:nvSpPr>
        <p:spPr bwMode="auto">
          <a:xfrm flipV="1">
            <a:off x="4267200" y="4191000"/>
            <a:ext cx="0" cy="1447800"/>
          </a:xfrm>
          <a:prstGeom prst="line">
            <a:avLst/>
          </a:prstGeom>
          <a:noFill/>
          <a:ln w="9525">
            <a:solidFill>
              <a:schemeClr val="tx1"/>
            </a:solidFill>
            <a:round/>
          </a:ln>
        </p:spPr>
        <p:txBody>
          <a:bodyPr wrap="none" anchor="ctr"/>
          <a:lstStyle/>
          <a:p>
            <a:endParaRPr lang="zh-CN" altLang="en-US"/>
          </a:p>
        </p:txBody>
      </p:sp>
      <p:sp>
        <p:nvSpPr>
          <p:cNvPr id="70731" name="Line 75"/>
          <p:cNvSpPr>
            <a:spLocks noChangeShapeType="1"/>
          </p:cNvSpPr>
          <p:nvPr/>
        </p:nvSpPr>
        <p:spPr bwMode="auto">
          <a:xfrm flipV="1">
            <a:off x="4495800" y="4191000"/>
            <a:ext cx="0" cy="1447800"/>
          </a:xfrm>
          <a:prstGeom prst="line">
            <a:avLst/>
          </a:prstGeom>
          <a:noFill/>
          <a:ln w="9525">
            <a:solidFill>
              <a:schemeClr val="tx1"/>
            </a:solidFill>
            <a:round/>
          </a:ln>
        </p:spPr>
        <p:txBody>
          <a:bodyPr wrap="none" anchor="ctr"/>
          <a:lstStyle/>
          <a:p>
            <a:endParaRPr lang="zh-CN" altLang="en-US"/>
          </a:p>
        </p:txBody>
      </p:sp>
      <p:sp>
        <p:nvSpPr>
          <p:cNvPr id="70732" name="Line 76"/>
          <p:cNvSpPr>
            <a:spLocks noChangeShapeType="1"/>
          </p:cNvSpPr>
          <p:nvPr/>
        </p:nvSpPr>
        <p:spPr bwMode="auto">
          <a:xfrm flipV="1">
            <a:off x="5562600" y="4191000"/>
            <a:ext cx="0" cy="1447800"/>
          </a:xfrm>
          <a:prstGeom prst="line">
            <a:avLst/>
          </a:prstGeom>
          <a:noFill/>
          <a:ln w="9525">
            <a:solidFill>
              <a:schemeClr val="tx1"/>
            </a:solidFill>
            <a:round/>
          </a:ln>
        </p:spPr>
        <p:txBody>
          <a:bodyPr wrap="none" anchor="ctr"/>
          <a:lstStyle/>
          <a:p>
            <a:endParaRPr lang="zh-CN" altLang="en-US"/>
          </a:p>
        </p:txBody>
      </p:sp>
      <p:sp>
        <p:nvSpPr>
          <p:cNvPr id="70733" name="Line 77"/>
          <p:cNvSpPr>
            <a:spLocks noChangeShapeType="1"/>
          </p:cNvSpPr>
          <p:nvPr/>
        </p:nvSpPr>
        <p:spPr bwMode="auto">
          <a:xfrm>
            <a:off x="3200400" y="4267200"/>
            <a:ext cx="1066800" cy="0"/>
          </a:xfrm>
          <a:prstGeom prst="line">
            <a:avLst/>
          </a:prstGeom>
          <a:noFill/>
          <a:ln w="9525">
            <a:solidFill>
              <a:schemeClr val="tx1"/>
            </a:solidFill>
            <a:round/>
          </a:ln>
        </p:spPr>
        <p:txBody>
          <a:bodyPr wrap="none" anchor="ctr"/>
          <a:lstStyle/>
          <a:p>
            <a:endParaRPr lang="zh-CN" altLang="en-US"/>
          </a:p>
        </p:txBody>
      </p:sp>
      <p:sp>
        <p:nvSpPr>
          <p:cNvPr id="70734" name="Line 78"/>
          <p:cNvSpPr>
            <a:spLocks noChangeShapeType="1"/>
          </p:cNvSpPr>
          <p:nvPr/>
        </p:nvSpPr>
        <p:spPr bwMode="auto">
          <a:xfrm>
            <a:off x="3194050" y="4724400"/>
            <a:ext cx="1066800" cy="0"/>
          </a:xfrm>
          <a:prstGeom prst="line">
            <a:avLst/>
          </a:prstGeom>
          <a:noFill/>
          <a:ln w="9525">
            <a:solidFill>
              <a:schemeClr val="tx1"/>
            </a:solidFill>
            <a:round/>
          </a:ln>
        </p:spPr>
        <p:txBody>
          <a:bodyPr wrap="none" anchor="ctr"/>
          <a:lstStyle/>
          <a:p>
            <a:endParaRPr lang="zh-CN" altLang="en-US"/>
          </a:p>
        </p:txBody>
      </p:sp>
      <p:sp>
        <p:nvSpPr>
          <p:cNvPr id="70735" name="Line 79"/>
          <p:cNvSpPr>
            <a:spLocks noChangeShapeType="1"/>
          </p:cNvSpPr>
          <p:nvPr/>
        </p:nvSpPr>
        <p:spPr bwMode="auto">
          <a:xfrm>
            <a:off x="3194050" y="5181600"/>
            <a:ext cx="1066800" cy="0"/>
          </a:xfrm>
          <a:prstGeom prst="line">
            <a:avLst/>
          </a:prstGeom>
          <a:noFill/>
          <a:ln w="9525">
            <a:solidFill>
              <a:schemeClr val="tx1"/>
            </a:solidFill>
            <a:round/>
          </a:ln>
        </p:spPr>
        <p:txBody>
          <a:bodyPr wrap="none" anchor="ctr"/>
          <a:lstStyle/>
          <a:p>
            <a:endParaRPr lang="zh-CN" altLang="en-US"/>
          </a:p>
        </p:txBody>
      </p:sp>
      <p:sp>
        <p:nvSpPr>
          <p:cNvPr id="70736" name="Line 80"/>
          <p:cNvSpPr>
            <a:spLocks noChangeShapeType="1"/>
          </p:cNvSpPr>
          <p:nvPr/>
        </p:nvSpPr>
        <p:spPr bwMode="auto">
          <a:xfrm>
            <a:off x="3194050" y="5638800"/>
            <a:ext cx="1066800" cy="0"/>
          </a:xfrm>
          <a:prstGeom prst="line">
            <a:avLst/>
          </a:prstGeom>
          <a:noFill/>
          <a:ln w="9525">
            <a:solidFill>
              <a:schemeClr val="tx1"/>
            </a:solidFill>
            <a:round/>
          </a:ln>
        </p:spPr>
        <p:txBody>
          <a:bodyPr wrap="none" anchor="ctr"/>
          <a:lstStyle/>
          <a:p>
            <a:endParaRPr lang="zh-CN" altLang="en-US"/>
          </a:p>
        </p:txBody>
      </p:sp>
      <p:sp>
        <p:nvSpPr>
          <p:cNvPr id="70737" name="Line 81"/>
          <p:cNvSpPr>
            <a:spLocks noChangeShapeType="1"/>
          </p:cNvSpPr>
          <p:nvPr/>
        </p:nvSpPr>
        <p:spPr bwMode="auto">
          <a:xfrm>
            <a:off x="4495800" y="4267200"/>
            <a:ext cx="1066800" cy="0"/>
          </a:xfrm>
          <a:prstGeom prst="line">
            <a:avLst/>
          </a:prstGeom>
          <a:noFill/>
          <a:ln w="9525">
            <a:solidFill>
              <a:schemeClr val="tx1"/>
            </a:solidFill>
            <a:round/>
          </a:ln>
        </p:spPr>
        <p:txBody>
          <a:bodyPr wrap="none" anchor="ctr"/>
          <a:lstStyle/>
          <a:p>
            <a:endParaRPr lang="zh-CN" altLang="en-US"/>
          </a:p>
        </p:txBody>
      </p:sp>
      <p:sp>
        <p:nvSpPr>
          <p:cNvPr id="70738" name="Line 82"/>
          <p:cNvSpPr>
            <a:spLocks noChangeShapeType="1"/>
          </p:cNvSpPr>
          <p:nvPr/>
        </p:nvSpPr>
        <p:spPr bwMode="auto">
          <a:xfrm>
            <a:off x="4489450" y="4724400"/>
            <a:ext cx="1066800" cy="0"/>
          </a:xfrm>
          <a:prstGeom prst="line">
            <a:avLst/>
          </a:prstGeom>
          <a:noFill/>
          <a:ln w="9525">
            <a:solidFill>
              <a:schemeClr val="tx1"/>
            </a:solidFill>
            <a:round/>
          </a:ln>
        </p:spPr>
        <p:txBody>
          <a:bodyPr wrap="none" anchor="ctr"/>
          <a:lstStyle/>
          <a:p>
            <a:endParaRPr lang="zh-CN" altLang="en-US"/>
          </a:p>
        </p:txBody>
      </p:sp>
      <p:sp>
        <p:nvSpPr>
          <p:cNvPr id="70739" name="Line 83"/>
          <p:cNvSpPr>
            <a:spLocks noChangeShapeType="1"/>
          </p:cNvSpPr>
          <p:nvPr/>
        </p:nvSpPr>
        <p:spPr bwMode="auto">
          <a:xfrm>
            <a:off x="4489450" y="5181600"/>
            <a:ext cx="1066800" cy="0"/>
          </a:xfrm>
          <a:prstGeom prst="line">
            <a:avLst/>
          </a:prstGeom>
          <a:noFill/>
          <a:ln w="9525">
            <a:solidFill>
              <a:schemeClr val="tx1"/>
            </a:solidFill>
            <a:round/>
          </a:ln>
        </p:spPr>
        <p:txBody>
          <a:bodyPr wrap="none" anchor="ctr"/>
          <a:lstStyle/>
          <a:p>
            <a:endParaRPr lang="zh-CN" altLang="en-US"/>
          </a:p>
        </p:txBody>
      </p:sp>
      <p:sp>
        <p:nvSpPr>
          <p:cNvPr id="70740" name="Line 84"/>
          <p:cNvSpPr>
            <a:spLocks noChangeShapeType="1"/>
          </p:cNvSpPr>
          <p:nvPr/>
        </p:nvSpPr>
        <p:spPr bwMode="auto">
          <a:xfrm>
            <a:off x="4489450" y="5638800"/>
            <a:ext cx="1066800" cy="0"/>
          </a:xfrm>
          <a:prstGeom prst="line">
            <a:avLst/>
          </a:prstGeom>
          <a:noFill/>
          <a:ln w="9525">
            <a:solidFill>
              <a:schemeClr val="tx1"/>
            </a:solidFill>
            <a:round/>
          </a:ln>
        </p:spPr>
        <p:txBody>
          <a:bodyPr wrap="none" anchor="ctr"/>
          <a:lstStyle/>
          <a:p>
            <a:endParaRPr lang="zh-CN" altLang="en-US"/>
          </a:p>
        </p:txBody>
      </p:sp>
      <p:sp>
        <p:nvSpPr>
          <p:cNvPr id="70741" name="Line 85"/>
          <p:cNvSpPr>
            <a:spLocks noChangeShapeType="1"/>
          </p:cNvSpPr>
          <p:nvPr/>
        </p:nvSpPr>
        <p:spPr bwMode="auto">
          <a:xfrm flipV="1">
            <a:off x="3727450" y="4191000"/>
            <a:ext cx="0" cy="1447800"/>
          </a:xfrm>
          <a:prstGeom prst="line">
            <a:avLst/>
          </a:prstGeom>
          <a:noFill/>
          <a:ln w="9525">
            <a:solidFill>
              <a:schemeClr val="tx1"/>
            </a:solidFill>
            <a:round/>
          </a:ln>
        </p:spPr>
        <p:txBody>
          <a:bodyPr wrap="none" anchor="ctr"/>
          <a:lstStyle/>
          <a:p>
            <a:endParaRPr lang="zh-CN" altLang="en-US"/>
          </a:p>
        </p:txBody>
      </p:sp>
      <p:sp>
        <p:nvSpPr>
          <p:cNvPr id="70742" name="Line 86"/>
          <p:cNvSpPr>
            <a:spLocks noChangeShapeType="1"/>
          </p:cNvSpPr>
          <p:nvPr/>
        </p:nvSpPr>
        <p:spPr bwMode="auto">
          <a:xfrm flipV="1">
            <a:off x="5029200" y="4191000"/>
            <a:ext cx="0" cy="1447800"/>
          </a:xfrm>
          <a:prstGeom prst="line">
            <a:avLst/>
          </a:prstGeom>
          <a:noFill/>
          <a:ln w="9525">
            <a:solidFill>
              <a:schemeClr val="tx1"/>
            </a:solidFill>
            <a:round/>
          </a:ln>
        </p:spPr>
        <p:txBody>
          <a:bodyPr wrap="none" anchor="ctr"/>
          <a:lstStyle/>
          <a:p>
            <a:endParaRPr lang="zh-CN" altLang="en-US"/>
          </a:p>
        </p:txBody>
      </p:sp>
      <p:sp>
        <p:nvSpPr>
          <p:cNvPr id="70743" name="Rectangle 87"/>
          <p:cNvSpPr>
            <a:spLocks noChangeArrowheads="1"/>
          </p:cNvSpPr>
          <p:nvPr/>
        </p:nvSpPr>
        <p:spPr bwMode="auto">
          <a:xfrm>
            <a:off x="228600" y="46482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44" name="Rectangle 88"/>
          <p:cNvSpPr>
            <a:spLocks noChangeArrowheads="1"/>
          </p:cNvSpPr>
          <p:nvPr/>
        </p:nvSpPr>
        <p:spPr bwMode="auto">
          <a:xfrm>
            <a:off x="457200" y="55308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45" name="Rectangle 89"/>
          <p:cNvSpPr>
            <a:spLocks noChangeArrowheads="1"/>
          </p:cNvSpPr>
          <p:nvPr/>
        </p:nvSpPr>
        <p:spPr bwMode="auto">
          <a:xfrm>
            <a:off x="1770063" y="5530850"/>
            <a:ext cx="592137"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46" name="Rectangle 90"/>
          <p:cNvSpPr>
            <a:spLocks noChangeArrowheads="1"/>
          </p:cNvSpPr>
          <p:nvPr/>
        </p:nvSpPr>
        <p:spPr bwMode="auto">
          <a:xfrm>
            <a:off x="3124200" y="55308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47" name="Rectangle 91"/>
          <p:cNvSpPr>
            <a:spLocks noChangeArrowheads="1"/>
          </p:cNvSpPr>
          <p:nvPr/>
        </p:nvSpPr>
        <p:spPr bwMode="auto">
          <a:xfrm>
            <a:off x="228600" y="50736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48" name="Rectangle 92"/>
          <p:cNvSpPr>
            <a:spLocks noChangeArrowheads="1"/>
          </p:cNvSpPr>
          <p:nvPr/>
        </p:nvSpPr>
        <p:spPr bwMode="auto">
          <a:xfrm>
            <a:off x="1524000" y="46482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49" name="Rectangle 93"/>
          <p:cNvSpPr>
            <a:spLocks noChangeArrowheads="1"/>
          </p:cNvSpPr>
          <p:nvPr/>
        </p:nvSpPr>
        <p:spPr bwMode="auto">
          <a:xfrm>
            <a:off x="1524000" y="507365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70750" name="Rectangle 94"/>
          <p:cNvSpPr>
            <a:spLocks noChangeArrowheads="1"/>
          </p:cNvSpPr>
          <p:nvPr/>
        </p:nvSpPr>
        <p:spPr bwMode="auto">
          <a:xfrm>
            <a:off x="2895600" y="5105400"/>
            <a:ext cx="592138" cy="641350"/>
          </a:xfrm>
          <a:prstGeom prst="rect">
            <a:avLst/>
          </a:prstGeom>
          <a:noFill/>
          <a:ln w="9525">
            <a:noFill/>
            <a:miter lim="800000"/>
          </a:ln>
        </p:spPr>
        <p:txBody>
          <a:bodyPr wrap="none">
            <a:spAutoFit/>
          </a:bodyPr>
          <a:lstStyle/>
          <a:p>
            <a:r>
              <a:rPr lang="en-US" altLang="zh-CN" sz="3600">
                <a:solidFill>
                  <a:schemeClr val="tx2"/>
                </a:solidFill>
                <a:sym typeface="Wingdings" panose="05000000000000000000" pitchFamily="2" charset="2"/>
              </a:rPr>
              <a:t></a:t>
            </a:r>
            <a:endParaRPr lang="en-US" altLang="zh-CN" sz="3600">
              <a:solidFill>
                <a:schemeClr val="tx2"/>
              </a:solidFill>
              <a:sym typeface="Wingdings" panose="05000000000000000000" pitchFamily="2" charset="2"/>
            </a:endParaRPr>
          </a:p>
        </p:txBody>
      </p: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Fib</a:t>
            </a:r>
            <a:r>
              <a:rPr lang="zh-CN" altLang="en-US" dirty="0"/>
              <a:t>函数的非递归算法</a:t>
            </a:r>
            <a:endParaRPr lang="zh-CN" altLang="en-US" dirty="0"/>
          </a:p>
        </p:txBody>
      </p:sp>
      <p:sp>
        <p:nvSpPr>
          <p:cNvPr id="71682" name="Rectangle 2"/>
          <p:cNvSpPr>
            <a:spLocks noGrp="1" noChangeArrowheads="1"/>
          </p:cNvSpPr>
          <p:nvPr>
            <p:ph idx="1"/>
          </p:nvPr>
        </p:nvSpPr>
        <p:spPr>
          <a:xfrm>
            <a:off x="215900" y="1600200"/>
            <a:ext cx="8820596" cy="5069160"/>
          </a:xfrm>
        </p:spPr>
        <p:txBody>
          <a:bodyPr>
            <a:normAutofit fontScale="62500" lnSpcReduction="20000"/>
          </a:bodyPr>
          <a:lstStyle/>
          <a:p>
            <a:pPr algn="just" eaLnBrk="1" hangingPunct="1">
              <a:lnSpc>
                <a:spcPct val="105000"/>
              </a:lnSpc>
              <a:spcBef>
                <a:spcPct val="0"/>
              </a:spcBef>
              <a:buFontTx/>
              <a:buNone/>
            </a:pPr>
            <a:r>
              <a:rPr lang="en-US" altLang="zh-CN" dirty="0">
                <a:solidFill>
                  <a:schemeClr val="tx2"/>
                </a:solidFill>
              </a:rPr>
              <a:t>long </a:t>
            </a:r>
            <a:r>
              <a:rPr lang="en-US" altLang="zh-CN" dirty="0" err="1">
                <a:solidFill>
                  <a:schemeClr val="tx2"/>
                </a:solidFill>
              </a:rPr>
              <a:t>Fibnacci</a:t>
            </a:r>
            <a:r>
              <a:rPr lang="en-US" altLang="zh-CN" dirty="0">
                <a:solidFill>
                  <a:schemeClr val="tx2"/>
                </a:solidFill>
              </a:rPr>
              <a:t> ( long n ) {</a:t>
            </a:r>
            <a:endParaRPr lang="en-US" altLang="zh-CN" dirty="0">
              <a:solidFill>
                <a:schemeClr val="tx2"/>
              </a:solidFill>
            </a:endParaRPr>
          </a:p>
          <a:p>
            <a:pPr algn="just" eaLnBrk="1" hangingPunct="1">
              <a:lnSpc>
                <a:spcPct val="105000"/>
              </a:lnSpc>
              <a:spcBef>
                <a:spcPct val="0"/>
              </a:spcBef>
              <a:buFontTx/>
              <a:buNone/>
            </a:pPr>
            <a:r>
              <a:rPr lang="en-US" altLang="zh-CN" dirty="0">
                <a:solidFill>
                  <a:schemeClr val="tx2"/>
                </a:solidFill>
              </a:rPr>
              <a:t>	 Stack&lt;Node&gt; S;   Node w;  long sum = 0;</a:t>
            </a:r>
            <a:endParaRPr lang="en-US" altLang="zh-CN" dirty="0">
              <a:solidFill>
                <a:schemeClr val="tx2"/>
              </a:solidFill>
            </a:endParaRPr>
          </a:p>
          <a:p>
            <a:pPr algn="just" eaLnBrk="1" hangingPunct="1">
              <a:lnSpc>
                <a:spcPct val="105000"/>
              </a:lnSpc>
              <a:spcBef>
                <a:spcPct val="0"/>
              </a:spcBef>
              <a:buFontTx/>
              <a:buNone/>
            </a:pPr>
            <a:r>
              <a:rPr lang="zh-CN" altLang="en-US" dirty="0">
                <a:solidFill>
                  <a:srgbClr val="CC3300"/>
                </a:solidFill>
              </a:rPr>
              <a:t>	 </a:t>
            </a:r>
            <a:r>
              <a:rPr lang="en-US" altLang="zh-CN" dirty="0">
                <a:solidFill>
                  <a:schemeClr val="tx2"/>
                </a:solidFill>
              </a:rPr>
              <a:t>do {</a:t>
            </a:r>
            <a:endParaRPr lang="en-US" altLang="zh-CN" dirty="0">
              <a:solidFill>
                <a:schemeClr val="tx2"/>
              </a:solidFill>
            </a:endParaRPr>
          </a:p>
          <a:p>
            <a:pPr algn="just" eaLnBrk="1" hangingPunct="1">
              <a:lnSpc>
                <a:spcPct val="105000"/>
              </a:lnSpc>
              <a:spcBef>
                <a:spcPct val="0"/>
              </a:spcBef>
              <a:buFontTx/>
              <a:buNone/>
            </a:pPr>
            <a:r>
              <a:rPr lang="en-US" altLang="zh-CN" dirty="0">
                <a:solidFill>
                  <a:schemeClr val="tx2"/>
                </a:solidFill>
              </a:rPr>
              <a:t>	       while ( n &gt; 1 ) {   </a:t>
            </a:r>
            <a:r>
              <a:rPr lang="en-US" altLang="zh-CN" dirty="0" err="1">
                <a:solidFill>
                  <a:schemeClr val="tx2"/>
                </a:solidFill>
              </a:rPr>
              <a:t>w.n</a:t>
            </a:r>
            <a:r>
              <a:rPr lang="en-US" altLang="zh-CN" dirty="0">
                <a:solidFill>
                  <a:schemeClr val="tx2"/>
                </a:solidFill>
              </a:rPr>
              <a:t> = n;  </a:t>
            </a:r>
            <a:r>
              <a:rPr lang="en-US" altLang="zh-CN" dirty="0" err="1">
                <a:solidFill>
                  <a:schemeClr val="tx2"/>
                </a:solidFill>
              </a:rPr>
              <a:t>w.tag</a:t>
            </a:r>
            <a:r>
              <a:rPr lang="en-US" altLang="zh-CN" dirty="0">
                <a:solidFill>
                  <a:schemeClr val="tx2"/>
                </a:solidFill>
              </a:rPr>
              <a:t> = 1;  </a:t>
            </a:r>
            <a:r>
              <a:rPr lang="en-US" altLang="zh-CN" dirty="0" err="1">
                <a:solidFill>
                  <a:schemeClr val="tx2"/>
                </a:solidFill>
              </a:rPr>
              <a:t>S.push</a:t>
            </a:r>
            <a:r>
              <a:rPr lang="en-US" altLang="zh-CN" dirty="0">
                <a:solidFill>
                  <a:schemeClr val="tx2"/>
                </a:solidFill>
              </a:rPr>
              <a:t> ( w );      n</a:t>
            </a:r>
            <a:r>
              <a:rPr lang="en-US" altLang="zh-CN" dirty="0">
                <a:solidFill>
                  <a:schemeClr val="tx2"/>
                </a:solidFill>
                <a:latin typeface="宋体" panose="02010600030101010101" pitchFamily="2" charset="-122"/>
              </a:rPr>
              <a:t>--</a:t>
            </a:r>
            <a:r>
              <a:rPr lang="en-US" altLang="zh-CN" dirty="0">
                <a:solidFill>
                  <a:schemeClr val="tx2"/>
                </a:solidFill>
              </a:rPr>
              <a:t>;   }</a:t>
            </a:r>
            <a:r>
              <a:rPr lang="en-US" altLang="zh-CN" dirty="0">
                <a:solidFill>
                  <a:srgbClr val="CC3300"/>
                </a:solidFill>
              </a:rPr>
              <a:t>  </a:t>
            </a:r>
            <a:endParaRPr lang="en-US" altLang="zh-CN" dirty="0">
              <a:solidFill>
                <a:srgbClr val="CC3300"/>
              </a:solidFill>
            </a:endParaRPr>
          </a:p>
          <a:p>
            <a:pPr algn="just" eaLnBrk="1" hangingPunct="1">
              <a:lnSpc>
                <a:spcPct val="105000"/>
              </a:lnSpc>
              <a:spcBef>
                <a:spcPct val="0"/>
              </a:spcBef>
              <a:buFontTx/>
              <a:buNone/>
            </a:pPr>
            <a:r>
              <a:rPr lang="en-US" altLang="zh-CN" dirty="0">
                <a:solidFill>
                  <a:srgbClr val="CC3300"/>
                </a:solidFill>
              </a:rPr>
              <a:t>               </a:t>
            </a:r>
            <a:r>
              <a:rPr lang="en-US" altLang="zh-CN" dirty="0">
                <a:solidFill>
                  <a:schemeClr val="hlink"/>
                </a:solidFill>
              </a:rPr>
              <a:t>//</a:t>
            </a:r>
            <a:r>
              <a:rPr lang="zh-CN" altLang="en-US" dirty="0">
                <a:solidFill>
                  <a:schemeClr val="hlink"/>
                </a:solidFill>
              </a:rPr>
              <a:t>沿</a:t>
            </a:r>
            <a:r>
              <a:rPr lang="zh-CN" altLang="zh-CN" dirty="0">
                <a:solidFill>
                  <a:schemeClr val="hlink"/>
                </a:solidFill>
              </a:rPr>
              <a:t>向左递归</a:t>
            </a:r>
            <a:r>
              <a:rPr lang="zh-CN" altLang="en-US" dirty="0">
                <a:solidFill>
                  <a:schemeClr val="hlink"/>
                </a:solidFill>
              </a:rPr>
              <a:t>的路径一直</a:t>
            </a:r>
            <a:r>
              <a:rPr lang="zh-CN" altLang="zh-CN" dirty="0">
                <a:solidFill>
                  <a:schemeClr val="hlink"/>
                </a:solidFill>
              </a:rPr>
              <a:t>到底</a:t>
            </a:r>
            <a:r>
              <a:rPr lang="en-US" altLang="zh-CN" dirty="0">
                <a:solidFill>
                  <a:schemeClr val="hlink"/>
                </a:solidFill>
              </a:rPr>
              <a:t>, </a:t>
            </a:r>
            <a:r>
              <a:rPr lang="zh-CN" altLang="en-US" dirty="0">
                <a:solidFill>
                  <a:schemeClr val="hlink"/>
                </a:solidFill>
              </a:rPr>
              <a:t>边走边进栈</a:t>
            </a:r>
            <a:endParaRPr lang="en-US" altLang="zh-CN" dirty="0">
              <a:solidFill>
                <a:schemeClr val="hlink"/>
              </a:solidFill>
            </a:endParaRPr>
          </a:p>
          <a:p>
            <a:pPr algn="just" eaLnBrk="1" hangingPunct="1">
              <a:lnSpc>
                <a:spcPct val="105000"/>
              </a:lnSpc>
              <a:spcBef>
                <a:spcPct val="0"/>
              </a:spcBef>
              <a:buFontTx/>
              <a:buNone/>
            </a:pPr>
            <a:r>
              <a:rPr lang="zh-CN" altLang="en-US" dirty="0">
                <a:solidFill>
                  <a:srgbClr val="CC3300"/>
                </a:solidFill>
              </a:rPr>
              <a:t>         </a:t>
            </a:r>
            <a:r>
              <a:rPr lang="en-US" altLang="zh-CN" dirty="0">
                <a:solidFill>
                  <a:schemeClr val="tx2"/>
                </a:solidFill>
              </a:rPr>
              <a:t>sum = sum + n;</a:t>
            </a:r>
            <a:r>
              <a:rPr lang="en-US" altLang="zh-CN" dirty="0">
                <a:solidFill>
                  <a:srgbClr val="CC3300"/>
                </a:solidFill>
              </a:rPr>
              <a:t> </a:t>
            </a:r>
            <a:endParaRPr lang="en-US" altLang="zh-CN" dirty="0">
              <a:solidFill>
                <a:srgbClr val="CC3300"/>
              </a:solidFill>
            </a:endParaRPr>
          </a:p>
          <a:p>
            <a:pPr algn="just">
              <a:lnSpc>
                <a:spcPct val="105000"/>
              </a:lnSpc>
              <a:spcBef>
                <a:spcPct val="0"/>
              </a:spcBef>
              <a:buNone/>
            </a:pPr>
            <a:r>
              <a:rPr lang="zh-CN" altLang="en-US" dirty="0">
                <a:solidFill>
                  <a:schemeClr val="tx2"/>
                </a:solidFill>
              </a:rPr>
              <a:t>         </a:t>
            </a:r>
            <a:r>
              <a:rPr lang="en-US" altLang="zh-CN" dirty="0">
                <a:solidFill>
                  <a:schemeClr val="tx2"/>
                </a:solidFill>
              </a:rPr>
              <a:t>while ( </a:t>
            </a:r>
            <a:r>
              <a:rPr lang="en-US" altLang="zh-CN" dirty="0" err="1">
                <a:solidFill>
                  <a:schemeClr val="tx2"/>
                </a:solidFill>
              </a:rPr>
              <a:t>S.IsEmpty</a:t>
            </a:r>
            <a:r>
              <a:rPr lang="en-US" altLang="zh-CN" dirty="0">
                <a:solidFill>
                  <a:schemeClr val="tx2"/>
                </a:solidFill>
              </a:rPr>
              <a:t>( ) == false ) {</a:t>
            </a:r>
            <a:endParaRPr lang="en-US" altLang="zh-CN" dirty="0">
              <a:solidFill>
                <a:schemeClr val="tx2"/>
              </a:solidFill>
            </a:endParaRPr>
          </a:p>
          <a:p>
            <a:pPr algn="just">
              <a:lnSpc>
                <a:spcPct val="105000"/>
              </a:lnSpc>
              <a:spcBef>
                <a:spcPct val="0"/>
              </a:spcBef>
              <a:buNone/>
            </a:pPr>
            <a:r>
              <a:rPr lang="en-US" altLang="zh-CN" dirty="0">
                <a:solidFill>
                  <a:schemeClr val="tx2"/>
                </a:solidFill>
              </a:rPr>
              <a:t>			</a:t>
            </a:r>
            <a:r>
              <a:rPr lang="en-US" altLang="zh-CN" dirty="0" err="1">
                <a:solidFill>
                  <a:schemeClr val="tx2"/>
                </a:solidFill>
              </a:rPr>
              <a:t>S.Pop</a:t>
            </a:r>
            <a:r>
              <a:rPr lang="en-US" altLang="zh-CN" dirty="0">
                <a:solidFill>
                  <a:schemeClr val="tx2"/>
                </a:solidFill>
              </a:rPr>
              <a:t>( w );</a:t>
            </a:r>
            <a:endParaRPr lang="en-US" altLang="zh-CN" dirty="0">
              <a:solidFill>
                <a:schemeClr val="tx2"/>
              </a:solidFill>
            </a:endParaRPr>
          </a:p>
          <a:p>
            <a:pPr algn="just">
              <a:lnSpc>
                <a:spcPct val="105000"/>
              </a:lnSpc>
              <a:spcBef>
                <a:spcPct val="0"/>
              </a:spcBef>
              <a:buNone/>
            </a:pPr>
            <a:r>
              <a:rPr lang="en-US" altLang="zh-CN" dirty="0">
                <a:solidFill>
                  <a:schemeClr val="tx2"/>
                </a:solidFill>
              </a:rPr>
              <a:t>			if ( </a:t>
            </a:r>
            <a:r>
              <a:rPr lang="en-US" altLang="zh-CN" dirty="0" err="1">
                <a:solidFill>
                  <a:schemeClr val="tx2"/>
                </a:solidFill>
              </a:rPr>
              <a:t>w.tag</a:t>
            </a:r>
            <a:r>
              <a:rPr lang="en-US" altLang="zh-CN" dirty="0">
                <a:solidFill>
                  <a:schemeClr val="tx2"/>
                </a:solidFill>
              </a:rPr>
              <a:t> </a:t>
            </a:r>
            <a:r>
              <a:rPr lang="en-US" altLang="zh-CN" i="1" dirty="0">
                <a:solidFill>
                  <a:schemeClr val="tx2"/>
                </a:solidFill>
              </a:rPr>
              <a:t>==</a:t>
            </a:r>
            <a:r>
              <a:rPr lang="en-US" altLang="zh-CN" dirty="0">
                <a:solidFill>
                  <a:schemeClr val="tx2"/>
                </a:solidFill>
              </a:rPr>
              <a:t> 1 ) {     </a:t>
            </a:r>
            <a:r>
              <a:rPr lang="en-US" altLang="zh-CN" dirty="0">
                <a:solidFill>
                  <a:schemeClr val="hlink"/>
                </a:solidFill>
              </a:rPr>
              <a:t>//</a:t>
            </a:r>
            <a:r>
              <a:rPr lang="zh-CN" altLang="en-US" dirty="0">
                <a:solidFill>
                  <a:schemeClr val="hlink"/>
                </a:solidFill>
              </a:rPr>
              <a:t>改为向右递归</a:t>
            </a:r>
            <a:endParaRPr lang="zh-CN" altLang="en-US" dirty="0">
              <a:solidFill>
                <a:schemeClr val="hlink"/>
              </a:solidFill>
            </a:endParaRPr>
          </a:p>
          <a:p>
            <a:pPr algn="just">
              <a:lnSpc>
                <a:spcPct val="105000"/>
              </a:lnSpc>
              <a:spcBef>
                <a:spcPct val="0"/>
              </a:spcBef>
              <a:buNone/>
            </a:pPr>
            <a:r>
              <a:rPr lang="zh-CN" altLang="en-US" dirty="0">
                <a:solidFill>
                  <a:schemeClr val="tx2"/>
                </a:solidFill>
              </a:rPr>
              <a:t>                       </a:t>
            </a:r>
            <a:r>
              <a:rPr lang="en-US" altLang="zh-CN" dirty="0" err="1">
                <a:solidFill>
                  <a:schemeClr val="tx2"/>
                </a:solidFill>
              </a:rPr>
              <a:t>w.tag</a:t>
            </a:r>
            <a:r>
              <a:rPr lang="en-US" altLang="zh-CN" dirty="0">
                <a:solidFill>
                  <a:schemeClr val="tx2"/>
                </a:solidFill>
              </a:rPr>
              <a:t> = 2;   </a:t>
            </a:r>
            <a:r>
              <a:rPr lang="en-US" altLang="zh-CN" dirty="0" err="1">
                <a:solidFill>
                  <a:schemeClr val="tx2"/>
                </a:solidFill>
              </a:rPr>
              <a:t>S.push</a:t>
            </a:r>
            <a:r>
              <a:rPr lang="en-US" altLang="zh-CN" dirty="0">
                <a:solidFill>
                  <a:schemeClr val="tx2"/>
                </a:solidFill>
              </a:rPr>
              <a:t> ( w );   n = </a:t>
            </a:r>
            <a:r>
              <a:rPr lang="en-US" altLang="zh-CN" dirty="0" err="1">
                <a:solidFill>
                  <a:schemeClr val="tx2"/>
                </a:solidFill>
              </a:rPr>
              <a:t>w.n</a:t>
            </a:r>
            <a:r>
              <a:rPr lang="en-US" altLang="zh-CN" dirty="0">
                <a:solidFill>
                  <a:schemeClr val="tx2"/>
                </a:solidFill>
              </a:rPr>
              <a:t> – 2;  </a:t>
            </a:r>
            <a:r>
              <a:rPr lang="en-US" altLang="zh-CN" dirty="0">
                <a:solidFill>
                  <a:schemeClr val="hlink"/>
                </a:solidFill>
              </a:rPr>
              <a:t>//</a:t>
            </a:r>
            <a:r>
              <a:rPr lang="zh-CN" altLang="zh-CN" dirty="0">
                <a:solidFill>
                  <a:schemeClr val="hlink"/>
                </a:solidFill>
              </a:rPr>
              <a:t>右侧为</a:t>
            </a:r>
            <a:r>
              <a:rPr lang="en-US" altLang="zh-CN" dirty="0">
                <a:solidFill>
                  <a:schemeClr val="hlink"/>
                </a:solidFill>
              </a:rPr>
              <a:t>F(n-2)</a:t>
            </a:r>
            <a:endParaRPr lang="en-US" altLang="zh-CN" dirty="0">
              <a:solidFill>
                <a:schemeClr val="tx2"/>
              </a:solidFill>
            </a:endParaRPr>
          </a:p>
          <a:p>
            <a:pPr algn="just">
              <a:lnSpc>
                <a:spcPct val="105000"/>
              </a:lnSpc>
              <a:spcBef>
                <a:spcPct val="0"/>
              </a:spcBef>
              <a:buNone/>
            </a:pPr>
            <a:r>
              <a:rPr lang="en-US" altLang="zh-CN" dirty="0">
                <a:solidFill>
                  <a:schemeClr val="tx2"/>
                </a:solidFill>
              </a:rPr>
              <a:t>			      break; </a:t>
            </a:r>
            <a:endParaRPr lang="en-US" altLang="zh-CN" dirty="0">
              <a:solidFill>
                <a:schemeClr val="tx2"/>
              </a:solidFill>
            </a:endParaRPr>
          </a:p>
          <a:p>
            <a:pPr algn="just">
              <a:lnSpc>
                <a:spcPct val="105000"/>
              </a:lnSpc>
              <a:spcBef>
                <a:spcPct val="0"/>
              </a:spcBef>
              <a:buNone/>
            </a:pPr>
            <a:r>
              <a:rPr lang="en-US" altLang="zh-CN" dirty="0">
                <a:solidFill>
                  <a:schemeClr val="tx2"/>
                </a:solidFill>
              </a:rPr>
              <a:t>         	}</a:t>
            </a:r>
            <a:endParaRPr lang="en-US" altLang="zh-CN" dirty="0">
              <a:solidFill>
                <a:schemeClr val="tx2"/>
              </a:solidFill>
            </a:endParaRPr>
          </a:p>
          <a:p>
            <a:pPr algn="just">
              <a:lnSpc>
                <a:spcPct val="105000"/>
              </a:lnSpc>
              <a:spcBef>
                <a:spcPct val="0"/>
              </a:spcBef>
              <a:buNone/>
            </a:pPr>
            <a:r>
              <a:rPr lang="en-US" altLang="zh-CN" dirty="0">
                <a:solidFill>
                  <a:schemeClr val="tx2"/>
                </a:solidFill>
              </a:rPr>
              <a:t>		}</a:t>
            </a:r>
            <a:endParaRPr lang="en-US" altLang="zh-CN" dirty="0">
              <a:solidFill>
                <a:schemeClr val="tx2"/>
              </a:solidFill>
            </a:endParaRPr>
          </a:p>
          <a:p>
            <a:pPr algn="just">
              <a:lnSpc>
                <a:spcPct val="105000"/>
              </a:lnSpc>
              <a:spcBef>
                <a:spcPct val="0"/>
              </a:spcBef>
              <a:buNone/>
            </a:pPr>
            <a:r>
              <a:rPr lang="en-US" altLang="zh-CN" dirty="0">
                <a:solidFill>
                  <a:schemeClr val="tx2"/>
                </a:solidFill>
              </a:rPr>
              <a:t>   } while ( </a:t>
            </a:r>
            <a:r>
              <a:rPr lang="en-US" altLang="zh-CN" dirty="0" err="1">
                <a:solidFill>
                  <a:schemeClr val="tx2"/>
                </a:solidFill>
              </a:rPr>
              <a:t>S.IsEmpty</a:t>
            </a:r>
            <a:r>
              <a:rPr lang="en-US" altLang="zh-CN" dirty="0">
                <a:solidFill>
                  <a:schemeClr val="tx2"/>
                </a:solidFill>
              </a:rPr>
              <a:t>( ) == false );</a:t>
            </a:r>
            <a:endParaRPr lang="en-US" altLang="zh-CN" dirty="0">
              <a:solidFill>
                <a:schemeClr val="tx2"/>
              </a:solidFill>
            </a:endParaRPr>
          </a:p>
          <a:p>
            <a:pPr algn="just">
              <a:lnSpc>
                <a:spcPct val="105000"/>
              </a:lnSpc>
              <a:spcBef>
                <a:spcPct val="0"/>
              </a:spcBef>
              <a:buNone/>
            </a:pPr>
            <a:r>
              <a:rPr lang="en-US" altLang="zh-CN" dirty="0">
                <a:solidFill>
                  <a:schemeClr val="tx2"/>
                </a:solidFill>
              </a:rPr>
              <a:t>	 return sum;</a:t>
            </a:r>
            <a:endParaRPr lang="en-US" altLang="zh-CN" dirty="0">
              <a:solidFill>
                <a:schemeClr val="tx2"/>
              </a:solidFill>
            </a:endParaRPr>
          </a:p>
          <a:p>
            <a:pPr algn="just">
              <a:lnSpc>
                <a:spcPct val="105000"/>
              </a:lnSpc>
              <a:spcBef>
                <a:spcPct val="0"/>
              </a:spcBef>
              <a:buNone/>
            </a:pPr>
            <a:r>
              <a:rPr lang="en-US" altLang="zh-CN" dirty="0">
                <a:solidFill>
                  <a:schemeClr val="tx2"/>
                </a:solidFill>
              </a:rPr>
              <a:t>}</a:t>
            </a:r>
            <a:r>
              <a:rPr lang="zh-CN" altLang="en-US" dirty="0">
                <a:solidFill>
                  <a:srgbClr val="CC3300"/>
                </a:solidFill>
              </a:rPr>
              <a:t>  </a:t>
            </a:r>
            <a:endParaRPr lang="zh-CN" altLang="en-US" dirty="0">
              <a:solidFill>
                <a:srgbClr val="CC3300"/>
              </a:solidFill>
            </a:endParaRPr>
          </a:p>
        </p:txBody>
      </p:sp>
      <p:sp>
        <p:nvSpPr>
          <p:cNvPr id="2" name="灯片编号占位符 1"/>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5" name="内容占位符 2"/>
          <p:cNvSpPr txBox="1"/>
          <p:nvPr/>
        </p:nvSpPr>
        <p:spPr>
          <a:xfrm>
            <a:off x="5796136" y="5240475"/>
            <a:ext cx="2160240" cy="763632"/>
          </a:xfrm>
          <a:prstGeom prst="rect">
            <a:avLst/>
          </a:prstGeom>
          <a:solidFill>
            <a:srgbClr val="92D050"/>
          </a:solid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dirty="0"/>
              <a:t>怎么改进？</a:t>
            </a:r>
            <a:endParaRPr lang="zh-CN" altLang="en-US" dirty="0"/>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a:xfrm>
            <a:off x="628650" y="365125"/>
            <a:ext cx="7886700" cy="1325563"/>
          </a:xfrm>
        </p:spPr>
        <p:txBody>
          <a:bodyPr/>
          <a:lstStyle/>
          <a:p>
            <a:r>
              <a:rPr lang="zh-CN" altLang="en-US" dirty="0"/>
              <a:t>单向递归</a:t>
            </a:r>
            <a:endParaRPr lang="zh-CN" altLang="en-US" dirty="0"/>
          </a:p>
        </p:txBody>
      </p:sp>
      <p:sp>
        <p:nvSpPr>
          <p:cNvPr id="583683" name="Rectangle 3"/>
          <p:cNvSpPr>
            <a:spLocks noGrp="1" noChangeArrowheads="1"/>
          </p:cNvSpPr>
          <p:nvPr>
            <p:ph idx="1"/>
          </p:nvPr>
        </p:nvSpPr>
        <p:spPr>
          <a:xfrm>
            <a:off x="628650" y="1825625"/>
            <a:ext cx="7886700" cy="4351338"/>
          </a:xfrm>
        </p:spPr>
        <p:txBody>
          <a:bodyPr>
            <a:normAutofit lnSpcReduction="10000"/>
          </a:bodyPr>
          <a:lstStyle/>
          <a:p>
            <a:r>
              <a:rPr lang="zh-CN" altLang="en-US" dirty="0"/>
              <a:t>单向递归是指递归函数体中即使会有多个递归调用，这些调用之间也互不影响，已经计算出的局部结果可被后续计算重复利用。</a:t>
            </a:r>
            <a:endParaRPr lang="zh-CN" altLang="en-US" dirty="0"/>
          </a:p>
          <a:p>
            <a:r>
              <a:rPr lang="zh-CN" altLang="en-US" dirty="0"/>
              <a:t>斐波那契数计算是典型例子</a:t>
            </a:r>
            <a:endParaRPr lang="zh-CN" altLang="en-US" dirty="0"/>
          </a:p>
          <a:p>
            <a:pPr lvl="1"/>
            <a:r>
              <a:rPr lang="en-US" altLang="zh-CN" dirty="0"/>
              <a:t>F(</a:t>
            </a:r>
            <a:r>
              <a:rPr lang="en-US" altLang="zh-CN" dirty="0" err="1"/>
              <a:t>i</a:t>
            </a:r>
            <a:r>
              <a:rPr lang="en-US" altLang="zh-CN" dirty="0"/>
              <a:t>) = F(i-1)+F(i-2),  </a:t>
            </a:r>
            <a:r>
              <a:rPr lang="en-US" altLang="zh-CN" dirty="0" err="1"/>
              <a:t>i</a:t>
            </a:r>
            <a:r>
              <a:rPr lang="en-US" altLang="zh-CN" dirty="0"/>
              <a:t> = 2, 3, …,  </a:t>
            </a:r>
            <a:endParaRPr lang="en-US" altLang="zh-CN" dirty="0"/>
          </a:p>
          <a:p>
            <a:pPr lvl="1"/>
            <a:r>
              <a:rPr lang="zh-CN" altLang="en-US" dirty="0"/>
              <a:t>只要保存前两次计算的结果，就可以做后续计算。无需使用栈。</a:t>
            </a:r>
            <a:endParaRPr lang="zh-CN" altLang="en-US" dirty="0"/>
          </a:p>
        </p:txBody>
      </p:sp>
      <p:sp>
        <p:nvSpPr>
          <p:cNvPr id="3" name="灯片编号占位符 4"/>
          <p:cNvSpPr>
            <a:spLocks noGrp="1"/>
          </p:cNvSpPr>
          <p:nvPr>
            <p:ph type="sldNum" sz="quarter" idx="12"/>
          </p:nvPr>
        </p:nvSpPr>
        <p:spPr>
          <a:xfrm>
            <a:off x="6457950" y="6356350"/>
            <a:ext cx="2057400" cy="365125"/>
          </a:xfrm>
        </p:spPr>
        <p:txBody>
          <a:bodyPr/>
          <a:lstStyle/>
          <a:p>
            <a:fld id="{6291EFAE-D818-4D8F-B70F-84F0573A54CE}" type="slidenum">
              <a:rPr lang="en-US" altLang="zh-CN"/>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单向递归可以很容易转为循环</a:t>
            </a:r>
            <a:endParaRPr lang="zh-CN" altLang="en-US" dirty="0"/>
          </a:p>
        </p:txBody>
      </p:sp>
      <p:sp>
        <p:nvSpPr>
          <p:cNvPr id="3" name="内容占位符 2"/>
          <p:cNvSpPr>
            <a:spLocks noGrp="1"/>
          </p:cNvSpPr>
          <p:nvPr>
            <p:ph idx="1"/>
          </p:nvPr>
        </p:nvSpPr>
        <p:spPr>
          <a:xfrm>
            <a:off x="457200" y="1600200"/>
            <a:ext cx="8229600" cy="4756150"/>
          </a:xfrm>
        </p:spPr>
        <p:txBody>
          <a:bodyPr>
            <a:normAutofit fontScale="77500" lnSpcReduction="20000"/>
          </a:bodyPr>
          <a:lstStyle/>
          <a:p>
            <a:pPr marL="0" indent="0">
              <a:buNone/>
            </a:pPr>
            <a:r>
              <a:rPr lang="en-US" altLang="zh-CN" dirty="0"/>
              <a:t>long </a:t>
            </a:r>
            <a:r>
              <a:rPr lang="en-US" altLang="zh-CN" dirty="0" err="1"/>
              <a:t>fib_NRcv</a:t>
            </a:r>
            <a:r>
              <a:rPr lang="en-US" altLang="zh-CN" dirty="0"/>
              <a:t> ( long n ) {</a:t>
            </a:r>
            <a:endParaRPr lang="en-US" altLang="zh-CN" dirty="0"/>
          </a:p>
          <a:p>
            <a:pPr marL="0" indent="0">
              <a:buNone/>
            </a:pPr>
            <a:r>
              <a:rPr lang="en-US" altLang="zh-CN" dirty="0"/>
              <a:t>    if (( n == 0 )||( n == 1 )) return n;	</a:t>
            </a:r>
            <a:endParaRPr lang="en-US" altLang="zh-CN" dirty="0"/>
          </a:p>
          <a:p>
            <a:pPr marL="0" indent="0">
              <a:buNone/>
            </a:pPr>
            <a:r>
              <a:rPr lang="en-US" altLang="zh-CN" dirty="0"/>
              <a:t>    long f2 = 0,  f1 = 1,  current;</a:t>
            </a:r>
            <a:endParaRPr lang="en-US" altLang="zh-CN" dirty="0"/>
          </a:p>
          <a:p>
            <a:pPr marL="0" indent="0">
              <a:buNone/>
            </a:pPr>
            <a:r>
              <a:rPr lang="en-US" altLang="zh-CN" dirty="0"/>
              <a:t>    for ( int </a:t>
            </a:r>
            <a:r>
              <a:rPr lang="en-US" altLang="zh-CN" dirty="0" err="1"/>
              <a:t>i</a:t>
            </a:r>
            <a:r>
              <a:rPr lang="en-US" altLang="zh-CN" dirty="0"/>
              <a:t> = 2; </a:t>
            </a:r>
            <a:r>
              <a:rPr lang="en-US" altLang="zh-CN" dirty="0" err="1"/>
              <a:t>i</a:t>
            </a:r>
            <a:r>
              <a:rPr lang="en-US" altLang="zh-CN" dirty="0"/>
              <a:t> &lt;= n; </a:t>
            </a:r>
            <a:r>
              <a:rPr lang="en-US" altLang="zh-CN" dirty="0" err="1"/>
              <a:t>i</a:t>
            </a:r>
            <a:r>
              <a:rPr lang="en-US" altLang="zh-CN" dirty="0"/>
              <a:t>++ ) { </a:t>
            </a:r>
            <a:endParaRPr lang="en-US" altLang="zh-CN" dirty="0"/>
          </a:p>
          <a:p>
            <a:pPr marL="0" indent="0">
              <a:buNone/>
            </a:pPr>
            <a:r>
              <a:rPr lang="en-US" altLang="zh-CN" dirty="0"/>
              <a:t>         current = f2 + f1;     </a:t>
            </a:r>
            <a:endParaRPr lang="en-US" altLang="zh-CN" dirty="0"/>
          </a:p>
          <a:p>
            <a:pPr marL="0" indent="0">
              <a:buNone/>
            </a:pPr>
            <a:r>
              <a:rPr lang="en-US" altLang="zh-CN" dirty="0"/>
              <a:t>         f2 = f1;     f1 = current;  </a:t>
            </a:r>
            <a:endParaRPr lang="en-US" altLang="zh-CN" dirty="0"/>
          </a:p>
          <a:p>
            <a:pPr marL="0" indent="0">
              <a:buNone/>
            </a:pPr>
            <a:r>
              <a:rPr lang="en-US" altLang="zh-CN" dirty="0"/>
              <a:t>    }</a:t>
            </a:r>
            <a:endParaRPr lang="en-US" altLang="zh-CN" dirty="0"/>
          </a:p>
          <a:p>
            <a:pPr marL="0" indent="0">
              <a:buNone/>
            </a:pPr>
            <a:r>
              <a:rPr lang="en-US" altLang="zh-CN" dirty="0"/>
              <a:t>    return current;</a:t>
            </a:r>
            <a:endParaRPr lang="en-US" altLang="zh-CN" dirty="0"/>
          </a:p>
          <a:p>
            <a:pPr marL="0" indent="0">
              <a:buNone/>
            </a:pPr>
            <a:r>
              <a:rPr lang="en-US" altLang="zh-CN" dirty="0"/>
              <a:t>}</a:t>
            </a:r>
            <a:endParaRPr lang="en-US" altLang="zh-CN" dirty="0"/>
          </a:p>
          <a:p>
            <a:pPr marL="0" indent="0">
              <a:buNone/>
            </a:pPr>
            <a:r>
              <a:rPr lang="zh-CN" altLang="en-US" dirty="0"/>
              <a:t>时间复杂度：</a:t>
            </a:r>
            <a:r>
              <a:rPr lang="en-US" altLang="zh-CN" dirty="0"/>
              <a:t>O(n)</a:t>
            </a:r>
            <a:endParaRPr lang="en-US" altLang="zh-CN"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更进一步的改进</a:t>
            </a:r>
            <a:endParaRPr lang="zh-CN" altLang="en-US" dirty="0"/>
          </a:p>
        </p:txBody>
      </p:sp>
      <p:sp>
        <p:nvSpPr>
          <p:cNvPr id="3" name="内容占位符 2"/>
          <p:cNvSpPr>
            <a:spLocks noGrp="1"/>
          </p:cNvSpPr>
          <p:nvPr>
            <p:ph idx="1"/>
          </p:nvPr>
        </p:nvSpPr>
        <p:spPr>
          <a:xfrm>
            <a:off x="628650" y="1825625"/>
            <a:ext cx="7886700" cy="3043535"/>
          </a:xfrm>
        </p:spPr>
        <p:txBody>
          <a:bodyPr/>
          <a:lstStyle/>
          <a:p>
            <a:r>
              <a:rPr lang="zh-CN" altLang="en-US" dirty="0"/>
              <a:t>用矩阵乘法，可达到</a:t>
            </a:r>
            <a:r>
              <a:rPr lang="en-US" altLang="zh-CN" dirty="0"/>
              <a:t>O(</a:t>
            </a:r>
            <a:r>
              <a:rPr lang="en-US" altLang="zh-CN" dirty="0" err="1"/>
              <a:t>logn</a:t>
            </a:r>
            <a:r>
              <a:rPr lang="en-US" altLang="zh-CN" dirty="0"/>
              <a:t>)</a:t>
            </a:r>
            <a:r>
              <a:rPr lang="zh-CN" altLang="en-US" dirty="0"/>
              <a:t>。（略）</a:t>
            </a:r>
            <a:endParaRPr lang="en-US" altLang="zh-CN" dirty="0"/>
          </a:p>
          <a:p>
            <a:r>
              <a:rPr lang="zh-CN" altLang="en-US" dirty="0"/>
              <a:t>用以下公式更直接</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20000" contrast="40000"/>
                    </a14:imgEffect>
                  </a14:imgLayer>
                </a14:imgProps>
              </a:ext>
            </a:extLst>
          </a:blip>
          <a:stretch>
            <a:fillRect/>
          </a:stretch>
        </p:blipFill>
        <p:spPr>
          <a:xfrm>
            <a:off x="971600" y="3399758"/>
            <a:ext cx="6198478" cy="978707"/>
          </a:xfrm>
          <a:prstGeom prst="rect">
            <a:avLst/>
          </a:prstGeom>
        </p:spPr>
      </p:pic>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一些更简单的单向递归</a:t>
            </a:r>
            <a:endParaRPr lang="zh-CN" altLang="en-US" dirty="0"/>
          </a:p>
        </p:txBody>
      </p:sp>
      <p:sp>
        <p:nvSpPr>
          <p:cNvPr id="3" name="内容占位符 2"/>
          <p:cNvSpPr>
            <a:spLocks noGrp="1"/>
          </p:cNvSpPr>
          <p:nvPr>
            <p:ph idx="1"/>
          </p:nvPr>
        </p:nvSpPr>
        <p:spPr/>
        <p:txBody>
          <a:bodyPr>
            <a:normAutofit/>
          </a:bodyPr>
          <a:lstStyle/>
          <a:p>
            <a:r>
              <a:rPr lang="zh-CN" altLang="en-US" dirty="0"/>
              <a:t>尾递归</a:t>
            </a:r>
            <a:endParaRPr lang="en-US" altLang="zh-CN" dirty="0"/>
          </a:p>
          <a:p>
            <a:r>
              <a:rPr lang="zh-CN" altLang="en-US" dirty="0"/>
              <a:t>线性递归</a:t>
            </a:r>
            <a:endParaRPr lang="en-US" altLang="zh-CN"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尾递归</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a:t>如果递归函数中只有一次递归调用，并且该调用是递归函数返回前的最后一条语句，这种情况称为尾递归。例如在数组中的搜索可以表示为尾递归</a:t>
            </a:r>
            <a:endParaRPr lang="en-US" altLang="zh-CN" dirty="0"/>
          </a:p>
          <a:p>
            <a:pPr marL="342900" lvl="1" indent="0">
              <a:buNone/>
            </a:pPr>
            <a:r>
              <a:rPr lang="en-US" altLang="zh-CN" dirty="0"/>
              <a:t>Employee  * find ( </a:t>
            </a:r>
            <a:r>
              <a:rPr lang="en-US" altLang="zh-CN" dirty="0" err="1"/>
              <a:t>int</a:t>
            </a:r>
            <a:r>
              <a:rPr lang="en-US" altLang="zh-CN" dirty="0"/>
              <a:t>  x, Employee e[], </a:t>
            </a:r>
            <a:r>
              <a:rPr lang="en-US" altLang="zh-CN" dirty="0" err="1"/>
              <a:t>int</a:t>
            </a:r>
            <a:r>
              <a:rPr lang="en-US" altLang="zh-CN" dirty="0"/>
              <a:t> n ) {</a:t>
            </a:r>
            <a:endParaRPr lang="en-US" altLang="zh-CN" dirty="0"/>
          </a:p>
          <a:p>
            <a:pPr marL="342900" lvl="1" indent="0">
              <a:buNone/>
            </a:pPr>
            <a:r>
              <a:rPr lang="en-US" altLang="zh-CN" dirty="0"/>
              <a:t>    if(e[0].</a:t>
            </a:r>
            <a:r>
              <a:rPr lang="en-US" altLang="zh-CN" dirty="0" err="1"/>
              <a:t>num</a:t>
            </a:r>
            <a:r>
              <a:rPr lang="en-US" altLang="zh-CN" dirty="0"/>
              <a:t> == x) return &amp;e[0];</a:t>
            </a:r>
            <a:endParaRPr lang="en-US" altLang="zh-CN" dirty="0"/>
          </a:p>
          <a:p>
            <a:pPr marL="342900" lvl="1" indent="0">
              <a:buNone/>
            </a:pPr>
            <a:r>
              <a:rPr lang="en-US" altLang="zh-CN" dirty="0"/>
              <a:t>    if(n == 1) return NULL;</a:t>
            </a:r>
            <a:endParaRPr lang="en-US" altLang="zh-CN" dirty="0"/>
          </a:p>
          <a:p>
            <a:pPr marL="342900" lvl="1" indent="0">
              <a:buNone/>
            </a:pPr>
            <a:r>
              <a:rPr lang="en-US" altLang="zh-CN" dirty="0"/>
              <a:t>    return find(x, &amp;e[1], n-1);</a:t>
            </a:r>
            <a:endParaRPr lang="en-US" altLang="zh-CN" dirty="0"/>
          </a:p>
          <a:p>
            <a:pPr marL="342900" lvl="1" indent="0">
              <a:buNone/>
            </a:pPr>
            <a:r>
              <a:rPr lang="en-US" altLang="zh-CN" dirty="0"/>
              <a:t>}</a:t>
            </a:r>
            <a:endParaRPr lang="en-US" altLang="zh-CN" dirty="0"/>
          </a:p>
          <a:p>
            <a:r>
              <a:rPr lang="zh-CN" altLang="en-US" dirty="0"/>
              <a:t>可以很容易转化为循环，例如：</a:t>
            </a:r>
            <a:endParaRPr lang="en-US" altLang="zh-CN" dirty="0"/>
          </a:p>
          <a:p>
            <a:pPr marL="342900" lvl="1" indent="0">
              <a:buNone/>
            </a:pPr>
            <a:r>
              <a:rPr lang="en-US" altLang="zh-CN" dirty="0"/>
              <a:t>Employee  * find ( </a:t>
            </a:r>
            <a:r>
              <a:rPr lang="en-US" altLang="zh-CN" dirty="0" err="1"/>
              <a:t>int</a:t>
            </a:r>
            <a:r>
              <a:rPr lang="en-US" altLang="zh-CN" dirty="0"/>
              <a:t>  x, Employee e[], </a:t>
            </a:r>
            <a:r>
              <a:rPr lang="en-US" altLang="zh-CN" dirty="0" err="1"/>
              <a:t>int</a:t>
            </a:r>
            <a:r>
              <a:rPr lang="en-US" altLang="zh-CN" dirty="0"/>
              <a:t> n ) {</a:t>
            </a:r>
            <a:endParaRPr lang="en-US" altLang="zh-CN" dirty="0"/>
          </a:p>
          <a:p>
            <a:pPr marL="342900" lvl="1" indent="0">
              <a:buNone/>
            </a:pPr>
            <a:r>
              <a:rPr lang="en-US" altLang="zh-CN" dirty="0"/>
              <a:t>    for(</a:t>
            </a:r>
            <a:r>
              <a:rPr lang="en-US" altLang="zh-CN" dirty="0" err="1"/>
              <a:t>int</a:t>
            </a:r>
            <a:r>
              <a:rPr lang="en-US" altLang="zh-CN" dirty="0"/>
              <a:t> </a:t>
            </a:r>
            <a:r>
              <a:rPr lang="en-US" altLang="zh-CN" dirty="0" err="1"/>
              <a:t>i</a:t>
            </a:r>
            <a:r>
              <a:rPr lang="en-US" altLang="zh-CN" dirty="0"/>
              <a:t>=0;i&lt;</a:t>
            </a:r>
            <a:r>
              <a:rPr lang="en-US" altLang="zh-CN" dirty="0" err="1"/>
              <a:t>n;i</a:t>
            </a:r>
            <a:r>
              <a:rPr lang="en-US" altLang="zh-CN" dirty="0"/>
              <a:t>++) if(e[</a:t>
            </a:r>
            <a:r>
              <a:rPr lang="en-US" altLang="zh-CN" dirty="0" err="1"/>
              <a:t>i</a:t>
            </a:r>
            <a:r>
              <a:rPr lang="en-US" altLang="zh-CN" dirty="0"/>
              <a:t>].</a:t>
            </a:r>
            <a:r>
              <a:rPr lang="en-US" altLang="zh-CN" dirty="0" err="1"/>
              <a:t>num</a:t>
            </a:r>
            <a:r>
              <a:rPr lang="en-US" altLang="zh-CN" dirty="0"/>
              <a:t> == x) return &amp;e[</a:t>
            </a:r>
            <a:r>
              <a:rPr lang="en-US" altLang="zh-CN" dirty="0" err="1"/>
              <a:t>i</a:t>
            </a:r>
            <a:r>
              <a:rPr lang="en-US" altLang="zh-CN" dirty="0"/>
              <a:t>];</a:t>
            </a:r>
            <a:endParaRPr lang="en-US" altLang="zh-CN" dirty="0"/>
          </a:p>
          <a:p>
            <a:pPr marL="342900" lvl="1" indent="0">
              <a:buNone/>
            </a:pPr>
            <a:r>
              <a:rPr lang="en-US" altLang="zh-CN" dirty="0"/>
              <a:t>    return  NULL;</a:t>
            </a:r>
            <a:endParaRPr lang="en-US" altLang="zh-CN" dirty="0"/>
          </a:p>
          <a:p>
            <a:pPr marL="342900" lvl="1" indent="0">
              <a:buNone/>
            </a:pPr>
            <a:r>
              <a:rPr lang="en-US" altLang="zh-CN" dirty="0"/>
              <a:t>}</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5" name="内容占位符 2"/>
          <p:cNvSpPr txBox="1"/>
          <p:nvPr/>
        </p:nvSpPr>
        <p:spPr>
          <a:xfrm>
            <a:off x="3363390" y="5422899"/>
            <a:ext cx="3808166" cy="609601"/>
          </a:xfrm>
          <a:prstGeom prst="rect">
            <a:avLst/>
          </a:prstGeom>
          <a:solidFill>
            <a:srgbClr val="92D050"/>
          </a:solid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dirty="0"/>
              <a:t>为什么不需要栈？</a:t>
            </a:r>
            <a:endParaRPr lang="zh-CN" altLang="en-US" dirty="0"/>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线性递归</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b="1" dirty="0"/>
              <a:t>线性递归</a:t>
            </a:r>
            <a:r>
              <a:rPr lang="zh-CN" altLang="en-US" dirty="0"/>
              <a:t>（</a:t>
            </a:r>
            <a:r>
              <a:rPr lang="en-US" dirty="0"/>
              <a:t>linear recursive</a:t>
            </a:r>
            <a:r>
              <a:rPr lang="zh-CN" altLang="en-US" dirty="0"/>
              <a:t>）算法的一般形式如下：</a:t>
            </a:r>
            <a:endParaRPr lang="zh-CN" altLang="en-US" dirty="0"/>
          </a:p>
          <a:p>
            <a:pPr marL="342900" lvl="1" indent="0">
              <a:buNone/>
            </a:pPr>
            <a:r>
              <a:rPr lang="en-US" dirty="0"/>
              <a:t>proc(</a:t>
            </a:r>
            <a:r>
              <a:rPr lang="en-US" b="1" dirty="0"/>
              <a:t>int</a:t>
            </a:r>
            <a:r>
              <a:rPr lang="en-US" dirty="0"/>
              <a:t> n){</a:t>
            </a:r>
            <a:endParaRPr lang="zh-CN" altLang="en-US" dirty="0"/>
          </a:p>
          <a:p>
            <a:pPr marL="342900" lvl="1" indent="0">
              <a:buNone/>
            </a:pPr>
            <a:r>
              <a:rPr lang="en-US" dirty="0"/>
              <a:t>       Stms1(n);</a:t>
            </a:r>
            <a:endParaRPr lang="zh-CN" altLang="en-US" dirty="0"/>
          </a:p>
          <a:p>
            <a:pPr marL="342900" lvl="1" indent="0">
              <a:buNone/>
            </a:pPr>
            <a:r>
              <a:rPr lang="en-US" dirty="0"/>
              <a:t>       </a:t>
            </a:r>
            <a:r>
              <a:rPr lang="en-US" b="1" dirty="0"/>
              <a:t>if</a:t>
            </a:r>
            <a:r>
              <a:rPr lang="en-US" dirty="0"/>
              <a:t> (</a:t>
            </a:r>
            <a:r>
              <a:rPr lang="en-US" dirty="0" err="1"/>
              <a:t>Eval</a:t>
            </a:r>
            <a:r>
              <a:rPr lang="en-US" dirty="0"/>
              <a:t>(n)) {</a:t>
            </a:r>
            <a:endParaRPr lang="zh-CN" altLang="en-US" dirty="0"/>
          </a:p>
          <a:p>
            <a:pPr marL="342900" lvl="1" indent="0">
              <a:buNone/>
            </a:pPr>
            <a:r>
              <a:rPr lang="en-US" dirty="0"/>
              <a:t>         proc(n-1);  //</a:t>
            </a:r>
            <a:r>
              <a:rPr lang="zh-CN" altLang="en-US" dirty="0"/>
              <a:t>递归调用</a:t>
            </a:r>
            <a:endParaRPr lang="zh-CN" altLang="en-US" dirty="0"/>
          </a:p>
          <a:p>
            <a:pPr marL="342900" lvl="1" indent="0">
              <a:buNone/>
            </a:pPr>
            <a:r>
              <a:rPr lang="en-US" dirty="0"/>
              <a:t>         Stms2(n);</a:t>
            </a:r>
            <a:endParaRPr lang="zh-CN" altLang="en-US" dirty="0"/>
          </a:p>
          <a:p>
            <a:pPr marL="342900" lvl="1" indent="0">
              <a:buNone/>
            </a:pPr>
            <a:r>
              <a:rPr lang="en-US" dirty="0"/>
              <a:t>       }</a:t>
            </a:r>
            <a:endParaRPr lang="zh-CN" altLang="en-US" dirty="0"/>
          </a:p>
          <a:p>
            <a:pPr marL="342900" lvl="1" indent="0">
              <a:buNone/>
            </a:pPr>
            <a:r>
              <a:rPr lang="en-US" dirty="0"/>
              <a:t>       </a:t>
            </a:r>
            <a:r>
              <a:rPr lang="en-US" b="1" dirty="0"/>
              <a:t>else</a:t>
            </a:r>
            <a:r>
              <a:rPr lang="en-US" dirty="0"/>
              <a:t>  Stms3(n);</a:t>
            </a:r>
            <a:endParaRPr lang="zh-CN" altLang="en-US" dirty="0"/>
          </a:p>
          <a:p>
            <a:pPr marL="342900" lvl="1" indent="0">
              <a:buNone/>
            </a:pPr>
            <a:r>
              <a:rPr lang="en-US" dirty="0"/>
              <a:t>}</a:t>
            </a:r>
            <a:endParaRPr lang="zh-CN" altLang="en-US" dirty="0"/>
          </a:p>
          <a:p>
            <a:r>
              <a:rPr lang="zh-CN" altLang="en-US" dirty="0"/>
              <a:t>其中，</a:t>
            </a:r>
            <a:r>
              <a:rPr lang="en-US" dirty="0"/>
              <a:t>Stms1(</a:t>
            </a:r>
            <a:r>
              <a:rPr lang="en-US" i="1" dirty="0"/>
              <a:t>n</a:t>
            </a:r>
            <a:r>
              <a:rPr lang="en-US" dirty="0"/>
              <a:t>)</a:t>
            </a:r>
            <a:r>
              <a:rPr lang="zh-CN" altLang="en-US" dirty="0"/>
              <a:t>、</a:t>
            </a:r>
            <a:r>
              <a:rPr lang="en-US" dirty="0" err="1"/>
              <a:t>Eval</a:t>
            </a:r>
            <a:r>
              <a:rPr lang="en-US" dirty="0"/>
              <a:t>(</a:t>
            </a:r>
            <a:r>
              <a:rPr lang="en-US" i="1" dirty="0"/>
              <a:t>n</a:t>
            </a:r>
            <a:r>
              <a:rPr lang="en-US" dirty="0"/>
              <a:t>)</a:t>
            </a:r>
            <a:r>
              <a:rPr lang="zh-CN" altLang="en-US" dirty="0"/>
              <a:t>、</a:t>
            </a:r>
            <a:r>
              <a:rPr lang="en-US" dirty="0"/>
              <a:t>Stms2(</a:t>
            </a:r>
            <a:r>
              <a:rPr lang="en-US" i="1" dirty="0"/>
              <a:t>n</a:t>
            </a:r>
            <a:r>
              <a:rPr lang="en-US" dirty="0"/>
              <a:t>)</a:t>
            </a:r>
            <a:r>
              <a:rPr lang="zh-CN" altLang="en-US" dirty="0"/>
              <a:t>和</a:t>
            </a:r>
            <a:r>
              <a:rPr lang="en-US" dirty="0"/>
              <a:t>Stms3(</a:t>
            </a:r>
            <a:r>
              <a:rPr lang="en-US" i="1" dirty="0"/>
              <a:t>n</a:t>
            </a:r>
            <a:r>
              <a:rPr lang="en-US" dirty="0"/>
              <a:t>) </a:t>
            </a:r>
            <a:r>
              <a:rPr lang="zh-CN" altLang="en-US" dirty="0"/>
              <a:t>是可能与</a:t>
            </a:r>
            <a:r>
              <a:rPr lang="en-US" i="1" dirty="0"/>
              <a:t>n</a:t>
            </a:r>
            <a:r>
              <a:rPr lang="zh-CN" altLang="en-US" dirty="0"/>
              <a:t>有关的非递归计算的代码段</a:t>
            </a:r>
            <a:endParaRPr lang="en-US" altLang="zh-CN" dirty="0"/>
          </a:p>
          <a:p>
            <a:pPr lvl="1"/>
            <a:r>
              <a:rPr lang="zh-CN" altLang="en-US" dirty="0"/>
              <a:t>也可能为空。</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5" name="内容占位符 2"/>
          <p:cNvSpPr txBox="1"/>
          <p:nvPr/>
        </p:nvSpPr>
        <p:spPr>
          <a:xfrm>
            <a:off x="4999284" y="2564904"/>
            <a:ext cx="3808166" cy="1143000"/>
          </a:xfrm>
          <a:prstGeom prst="rect">
            <a:avLst/>
          </a:prstGeom>
          <a:solidFill>
            <a:srgbClr val="92D050"/>
          </a:solid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dirty="0"/>
              <a:t>怎么转非递归？几层循环？</a:t>
            </a:r>
            <a:endParaRPr lang="zh-CN" altLang="en-US" dirty="0"/>
          </a:p>
        </p:txBody>
      </p:sp>
    </p:spTree>
  </p:cSld>
  <p:clrMapOvr>
    <a:masterClrMapping/>
  </p:clrMapOvr>
  <p:transition>
    <p:spli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线性递归转换成非递归</a:t>
            </a:r>
            <a:endParaRPr lang="zh-CN" altLang="en-US" dirty="0"/>
          </a:p>
        </p:txBody>
      </p:sp>
      <p:sp>
        <p:nvSpPr>
          <p:cNvPr id="3" name="内容占位符 2"/>
          <p:cNvSpPr>
            <a:spLocks noGrp="1"/>
          </p:cNvSpPr>
          <p:nvPr>
            <p:ph idx="1"/>
          </p:nvPr>
        </p:nvSpPr>
        <p:spPr/>
        <p:txBody>
          <a:bodyPr>
            <a:normAutofit fontScale="47500" lnSpcReduction="20000"/>
          </a:bodyPr>
          <a:lstStyle/>
          <a:p>
            <a:r>
              <a:rPr lang="zh-CN" altLang="en-US" dirty="0"/>
              <a:t>线性递归能机械地被转换成一个功能等价的非递归描述：</a:t>
            </a:r>
            <a:endParaRPr lang="en-US" altLang="zh-CN" dirty="0"/>
          </a:p>
          <a:p>
            <a:pPr marL="0" indent="0">
              <a:buNone/>
            </a:pPr>
            <a:r>
              <a:rPr lang="en-US" altLang="zh-CN" dirty="0"/>
              <a:t> proc(int n){</a:t>
            </a:r>
            <a:endParaRPr lang="en-US" altLang="zh-CN" dirty="0"/>
          </a:p>
          <a:p>
            <a:pPr marL="0" indent="0">
              <a:buNone/>
            </a:pPr>
            <a:r>
              <a:rPr lang="en-US" altLang="zh-CN" dirty="0"/>
              <a:t>       int k = n+1;</a:t>
            </a:r>
            <a:endParaRPr lang="en-US" altLang="zh-CN" dirty="0"/>
          </a:p>
          <a:p>
            <a:pPr marL="0" indent="0">
              <a:buNone/>
            </a:pPr>
            <a:r>
              <a:rPr lang="en-US" altLang="zh-CN" dirty="0"/>
              <a:t>       do {</a:t>
            </a:r>
            <a:endParaRPr lang="en-US" altLang="zh-CN" dirty="0"/>
          </a:p>
          <a:p>
            <a:pPr marL="0" indent="0">
              <a:buNone/>
            </a:pPr>
            <a:r>
              <a:rPr lang="en-US" altLang="zh-CN" dirty="0"/>
              <a:t>           k--;    </a:t>
            </a:r>
            <a:endParaRPr lang="en-US" altLang="zh-CN" dirty="0"/>
          </a:p>
          <a:p>
            <a:pPr marL="0" indent="0">
              <a:buNone/>
            </a:pPr>
            <a:r>
              <a:rPr lang="en-US" altLang="zh-CN" dirty="0"/>
              <a:t>           Stms1(k);</a:t>
            </a:r>
            <a:endParaRPr lang="en-US" altLang="zh-CN" dirty="0"/>
          </a:p>
          <a:p>
            <a:pPr marL="0" indent="0">
              <a:buNone/>
            </a:pPr>
            <a:r>
              <a:rPr lang="en-US" altLang="zh-CN" dirty="0"/>
              <a:t>       } while Eval(k);</a:t>
            </a:r>
            <a:endParaRPr lang="en-US" altLang="zh-CN" dirty="0"/>
          </a:p>
          <a:p>
            <a:pPr marL="0" indent="0">
              <a:buNone/>
            </a:pPr>
            <a:r>
              <a:rPr lang="en-US" altLang="zh-CN" dirty="0"/>
              <a:t>       Stms3(k);</a:t>
            </a:r>
            <a:endParaRPr lang="en-US" altLang="zh-CN" dirty="0"/>
          </a:p>
          <a:p>
            <a:pPr marL="0" indent="0">
              <a:buNone/>
            </a:pPr>
            <a:r>
              <a:rPr lang="en-US" altLang="zh-CN" dirty="0"/>
              <a:t>       while (k&lt;n) {</a:t>
            </a:r>
            <a:endParaRPr lang="en-US" altLang="zh-CN" dirty="0"/>
          </a:p>
          <a:p>
            <a:pPr marL="0" indent="0">
              <a:buNone/>
            </a:pPr>
            <a:r>
              <a:rPr lang="en-US" altLang="zh-CN" dirty="0"/>
              <a:t>           k++;   </a:t>
            </a:r>
            <a:endParaRPr lang="en-US" altLang="zh-CN" dirty="0"/>
          </a:p>
          <a:p>
            <a:pPr marL="0" indent="0">
              <a:buNone/>
            </a:pPr>
            <a:r>
              <a:rPr lang="en-US" altLang="zh-CN" dirty="0"/>
              <a:t>           Stms2(k);</a:t>
            </a:r>
            <a:endParaRPr lang="en-US" altLang="zh-CN" dirty="0"/>
          </a:p>
          <a:p>
            <a:pPr marL="0" indent="0">
              <a:buNone/>
            </a:pPr>
            <a:r>
              <a:rPr lang="en-US" altLang="zh-CN" dirty="0"/>
              <a:t>       }</a:t>
            </a:r>
            <a:endParaRPr lang="en-US" altLang="zh-CN" dirty="0"/>
          </a:p>
          <a:p>
            <a:pPr marL="0" indent="0">
              <a:buNone/>
            </a:pPr>
            <a:r>
              <a:rPr lang="en-US" altLang="zh-CN" dirty="0"/>
              <a:t>}</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线性递归转换成非递归举例</a:t>
            </a:r>
            <a:endParaRPr lang="zh-CN" altLang="en-US" dirty="0"/>
          </a:p>
        </p:txBody>
      </p:sp>
      <p:sp>
        <p:nvSpPr>
          <p:cNvPr id="3" name="内容占位符 2"/>
          <p:cNvSpPr>
            <a:spLocks noGrp="1"/>
          </p:cNvSpPr>
          <p:nvPr>
            <p:ph idx="1"/>
          </p:nvPr>
        </p:nvSpPr>
        <p:spPr>
          <a:xfrm>
            <a:off x="457200" y="1600200"/>
            <a:ext cx="8229600" cy="4756150"/>
          </a:xfrm>
        </p:spPr>
        <p:txBody>
          <a:bodyPr>
            <a:normAutofit fontScale="70000" lnSpcReduction="20000"/>
          </a:bodyPr>
          <a:lstStyle/>
          <a:p>
            <a:r>
              <a:rPr lang="zh-CN" altLang="en-US" dirty="0"/>
              <a:t>例如求阶乘，为预防计算过程中发生溢出等异常，改写为如下的递归程序：</a:t>
            </a:r>
            <a:endParaRPr lang="zh-CN" altLang="en-US" dirty="0"/>
          </a:p>
          <a:p>
            <a:pPr marL="342900" lvl="1" indent="0">
              <a:buNone/>
            </a:pPr>
            <a:r>
              <a:rPr lang="en-US" altLang="zh-CN" dirty="0"/>
              <a:t>void factorial ( int n, int &amp;temp ) {</a:t>
            </a:r>
            <a:endParaRPr lang="en-US" altLang="zh-CN" dirty="0"/>
          </a:p>
          <a:p>
            <a:pPr marL="342900" lvl="1" indent="0">
              <a:buNone/>
            </a:pPr>
            <a:r>
              <a:rPr lang="en-US" altLang="zh-CN" dirty="0"/>
              <a:t>    if ( n &lt; 0 ) { </a:t>
            </a:r>
            <a:r>
              <a:rPr lang="en-US" altLang="zh-CN" dirty="0" err="1"/>
              <a:t>cerr</a:t>
            </a:r>
            <a:r>
              <a:rPr lang="en-US" altLang="zh-CN" dirty="0"/>
              <a:t> &lt;&lt; n &lt;&lt; "</a:t>
            </a:r>
            <a:r>
              <a:rPr lang="zh-CN" altLang="en-US" dirty="0"/>
              <a:t>不能为负数</a:t>
            </a:r>
            <a:r>
              <a:rPr lang="en-US" altLang="zh-CN" dirty="0"/>
              <a:t>" &lt;&lt; </a:t>
            </a:r>
            <a:r>
              <a:rPr lang="en-US" altLang="zh-CN" dirty="0" err="1"/>
              <a:t>endl</a:t>
            </a:r>
            <a:r>
              <a:rPr lang="en-US" altLang="zh-CN" dirty="0"/>
              <a:t>;  exit(1); }</a:t>
            </a:r>
            <a:endParaRPr lang="en-US" altLang="zh-CN" dirty="0"/>
          </a:p>
          <a:p>
            <a:pPr marL="342900" lvl="1" indent="0">
              <a:buNone/>
            </a:pPr>
            <a:r>
              <a:rPr lang="en-US" altLang="zh-CN" dirty="0"/>
              <a:t>    if ( n &gt; 0 ) {</a:t>
            </a:r>
            <a:endParaRPr lang="en-US" altLang="zh-CN" dirty="0"/>
          </a:p>
          <a:p>
            <a:pPr marL="342900" lvl="1" indent="0">
              <a:buNone/>
            </a:pPr>
            <a:r>
              <a:rPr lang="en-US" altLang="zh-CN" dirty="0"/>
              <a:t>       factorial ( n-1, temp );</a:t>
            </a:r>
            <a:endParaRPr lang="en-US" altLang="zh-CN" dirty="0"/>
          </a:p>
          <a:p>
            <a:pPr marL="342900" lvl="1" indent="0">
              <a:buNone/>
            </a:pPr>
            <a:r>
              <a:rPr lang="en-US" altLang="zh-CN" dirty="0"/>
              <a:t>       if (Max / temp &gt; n) { temp = temp * n; }  </a:t>
            </a:r>
            <a:endParaRPr lang="en-US" altLang="zh-CN" dirty="0"/>
          </a:p>
          <a:p>
            <a:pPr marL="342900" lvl="1" indent="0">
              <a:buNone/>
            </a:pPr>
            <a:r>
              <a:rPr lang="en-US" altLang="zh-CN" dirty="0"/>
              <a:t>              //Max</a:t>
            </a:r>
            <a:r>
              <a:rPr lang="zh-CN" altLang="en-US" dirty="0"/>
              <a:t>为最大整数值</a:t>
            </a:r>
            <a:endParaRPr lang="zh-CN" altLang="en-US" dirty="0"/>
          </a:p>
          <a:p>
            <a:pPr marL="342900" lvl="1" indent="0">
              <a:buNone/>
            </a:pPr>
            <a:r>
              <a:rPr lang="zh-CN" altLang="en-US" dirty="0"/>
              <a:t>       </a:t>
            </a:r>
            <a:r>
              <a:rPr lang="en-US" altLang="zh-CN" dirty="0"/>
              <a:t>else { </a:t>
            </a:r>
            <a:r>
              <a:rPr lang="en-US" altLang="zh-CN" dirty="0" err="1"/>
              <a:t>cerr</a:t>
            </a:r>
            <a:r>
              <a:rPr lang="en-US" altLang="zh-CN" dirty="0"/>
              <a:t> &lt;&lt; "</a:t>
            </a:r>
            <a:r>
              <a:rPr lang="zh-CN" altLang="en-US" dirty="0"/>
              <a:t>计算结果溢出</a:t>
            </a:r>
            <a:r>
              <a:rPr lang="en-US" altLang="zh-CN" dirty="0"/>
              <a:t>" &lt;&lt; </a:t>
            </a:r>
            <a:r>
              <a:rPr lang="en-US" altLang="zh-CN" dirty="0" err="1"/>
              <a:t>endl</a:t>
            </a:r>
            <a:r>
              <a:rPr lang="en-US" altLang="zh-CN" dirty="0"/>
              <a:t>;  exit(1); }</a:t>
            </a:r>
            <a:endParaRPr lang="en-US" altLang="zh-CN" dirty="0"/>
          </a:p>
          <a:p>
            <a:pPr marL="342900" lvl="1" indent="0">
              <a:buNone/>
            </a:pPr>
            <a:r>
              <a:rPr lang="en-US" altLang="zh-CN" dirty="0"/>
              <a:t>    }</a:t>
            </a:r>
            <a:endParaRPr lang="en-US" altLang="zh-CN" dirty="0"/>
          </a:p>
          <a:p>
            <a:pPr marL="342900" lvl="1" indent="0">
              <a:buNone/>
            </a:pPr>
            <a:r>
              <a:rPr lang="en-US" altLang="zh-CN" dirty="0"/>
              <a:t>    else temp=1;</a:t>
            </a:r>
            <a:endParaRPr lang="en-US" altLang="zh-CN" dirty="0"/>
          </a:p>
          <a:p>
            <a:pPr marL="342900" lvl="1" indent="0">
              <a:buNone/>
            </a:pPr>
            <a:r>
              <a:rPr lang="en-US" altLang="zh-CN" dirty="0"/>
              <a:t>}</a:t>
            </a:r>
            <a:endParaRPr lang="en-US" altLang="zh-CN" dirty="0"/>
          </a:p>
          <a:p>
            <a:r>
              <a:rPr lang="zh-CN" altLang="en-US" dirty="0"/>
              <a:t>恰好其结构符合线性递归的一般形式</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6" name="内容占位符 2"/>
          <p:cNvSpPr txBox="1"/>
          <p:nvPr/>
        </p:nvSpPr>
        <p:spPr>
          <a:xfrm>
            <a:off x="5220072" y="3140968"/>
            <a:ext cx="3808166" cy="463452"/>
          </a:xfrm>
          <a:prstGeom prst="rect">
            <a:avLst/>
          </a:prstGeom>
          <a:solidFill>
            <a:srgbClr val="92D050"/>
          </a:solidFill>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dirty="0"/>
              <a:t>为什么做这个判定？</a:t>
            </a:r>
            <a:endParaRPr lang="zh-CN" altLang="en-US" dirty="0"/>
          </a:p>
        </p:txBody>
      </p:sp>
      <p:cxnSp>
        <p:nvCxnSpPr>
          <p:cNvPr id="7" name="直接箭头连接符 6"/>
          <p:cNvCxnSpPr/>
          <p:nvPr/>
        </p:nvCxnSpPr>
        <p:spPr>
          <a:xfrm flipH="1">
            <a:off x="3419872" y="3372694"/>
            <a:ext cx="1800200" cy="534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pli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转换结果</a:t>
            </a:r>
            <a:endParaRPr lang="zh-CN" altLang="en-US" dirty="0"/>
          </a:p>
        </p:txBody>
      </p:sp>
      <p:sp>
        <p:nvSpPr>
          <p:cNvPr id="3" name="内容占位符 2"/>
          <p:cNvSpPr>
            <a:spLocks noGrp="1"/>
          </p:cNvSpPr>
          <p:nvPr>
            <p:ph idx="1"/>
          </p:nvPr>
        </p:nvSpPr>
        <p:spPr>
          <a:xfrm>
            <a:off x="628650" y="1825624"/>
            <a:ext cx="7886700" cy="4530725"/>
          </a:xfrm>
        </p:spPr>
        <p:txBody>
          <a:bodyPr>
            <a:normAutofit fontScale="55000" lnSpcReduction="20000"/>
          </a:bodyPr>
          <a:lstStyle/>
          <a:p>
            <a:pPr marL="0" indent="0">
              <a:buNone/>
            </a:pPr>
            <a:r>
              <a:rPr lang="en-US" b="1" dirty="0"/>
              <a:t>void</a:t>
            </a:r>
            <a:r>
              <a:rPr lang="en-US" dirty="0"/>
              <a:t> factorial ( </a:t>
            </a:r>
            <a:r>
              <a:rPr lang="en-US" b="1" dirty="0" err="1"/>
              <a:t>int</a:t>
            </a:r>
            <a:r>
              <a:rPr lang="en-US" dirty="0"/>
              <a:t> n, </a:t>
            </a:r>
            <a:r>
              <a:rPr lang="en-US" b="1" dirty="0" err="1"/>
              <a:t>int</a:t>
            </a:r>
            <a:r>
              <a:rPr lang="en-US" dirty="0"/>
              <a:t> &amp;temp ) {</a:t>
            </a:r>
            <a:endParaRPr lang="zh-CN" altLang="en-US" dirty="0"/>
          </a:p>
          <a:p>
            <a:pPr marL="0" indent="0">
              <a:buNone/>
            </a:pPr>
            <a:r>
              <a:rPr lang="en-US" dirty="0"/>
              <a:t>    </a:t>
            </a:r>
            <a:r>
              <a:rPr lang="en-US" b="1" dirty="0" err="1"/>
              <a:t>int</a:t>
            </a:r>
            <a:r>
              <a:rPr lang="en-US" dirty="0"/>
              <a:t> k = n + 1;</a:t>
            </a:r>
            <a:endParaRPr lang="zh-CN" altLang="en-US" dirty="0"/>
          </a:p>
          <a:p>
            <a:pPr marL="0" indent="0">
              <a:buNone/>
            </a:pPr>
            <a:r>
              <a:rPr lang="en-US" dirty="0"/>
              <a:t>    </a:t>
            </a:r>
            <a:r>
              <a:rPr lang="en-US" b="1" dirty="0"/>
              <a:t>do</a:t>
            </a:r>
            <a:r>
              <a:rPr lang="en-US" dirty="0"/>
              <a:t> {</a:t>
            </a:r>
            <a:endParaRPr lang="zh-CN" altLang="en-US" dirty="0"/>
          </a:p>
          <a:p>
            <a:pPr marL="0" indent="0">
              <a:buNone/>
            </a:pPr>
            <a:r>
              <a:rPr lang="en-US" dirty="0"/>
              <a:t>       k--;</a:t>
            </a:r>
            <a:endParaRPr lang="zh-CN" altLang="en-US" dirty="0"/>
          </a:p>
          <a:p>
            <a:pPr marL="0" indent="0">
              <a:buNone/>
            </a:pPr>
            <a:r>
              <a:rPr lang="en-US" dirty="0"/>
              <a:t>       </a:t>
            </a:r>
            <a:r>
              <a:rPr lang="en-US" b="1" dirty="0"/>
              <a:t>if</a:t>
            </a:r>
            <a:r>
              <a:rPr lang="en-US" dirty="0"/>
              <a:t> ( k &lt; 0 ) { </a:t>
            </a:r>
            <a:r>
              <a:rPr lang="en-US" dirty="0" err="1"/>
              <a:t>cerr</a:t>
            </a:r>
            <a:r>
              <a:rPr lang="en-US" dirty="0"/>
              <a:t> &lt;&lt; k &lt;&lt; "</a:t>
            </a:r>
            <a:r>
              <a:rPr lang="zh-CN" altLang="en-US" dirty="0"/>
              <a:t>不能为负数</a:t>
            </a:r>
            <a:r>
              <a:rPr lang="en-US" dirty="0"/>
              <a:t>" &lt;&lt; </a:t>
            </a:r>
            <a:r>
              <a:rPr lang="en-US" dirty="0" err="1"/>
              <a:t>endl</a:t>
            </a:r>
            <a:r>
              <a:rPr lang="en-US" dirty="0"/>
              <a:t>;  exit(1); }</a:t>
            </a:r>
            <a:endParaRPr lang="zh-CN" altLang="en-US" dirty="0"/>
          </a:p>
          <a:p>
            <a:pPr marL="0" indent="0">
              <a:buNone/>
            </a:pPr>
            <a:r>
              <a:rPr lang="en-US" dirty="0"/>
              <a:t>    } </a:t>
            </a:r>
            <a:r>
              <a:rPr lang="en-US" b="1" dirty="0"/>
              <a:t>while</a:t>
            </a:r>
            <a:r>
              <a:rPr lang="en-US" dirty="0"/>
              <a:t> ( k &gt; 0 ) ;</a:t>
            </a:r>
            <a:endParaRPr lang="zh-CN" altLang="en-US" dirty="0"/>
          </a:p>
          <a:p>
            <a:pPr marL="0" indent="0">
              <a:buNone/>
            </a:pPr>
            <a:r>
              <a:rPr lang="en-US" dirty="0"/>
              <a:t>    temp=1;</a:t>
            </a:r>
            <a:endParaRPr lang="zh-CN" altLang="en-US" dirty="0"/>
          </a:p>
          <a:p>
            <a:pPr marL="0" indent="0">
              <a:buNone/>
            </a:pPr>
            <a:r>
              <a:rPr lang="en-US" b="1" dirty="0"/>
              <a:t>    while</a:t>
            </a:r>
            <a:r>
              <a:rPr lang="en-US" dirty="0"/>
              <a:t>( k &lt; n ) {</a:t>
            </a:r>
            <a:endParaRPr lang="zh-CN" altLang="en-US" dirty="0"/>
          </a:p>
          <a:p>
            <a:pPr marL="0" indent="0">
              <a:buNone/>
            </a:pPr>
            <a:r>
              <a:rPr lang="en-US" dirty="0"/>
              <a:t>       k++;</a:t>
            </a:r>
            <a:endParaRPr lang="zh-CN" altLang="en-US" dirty="0"/>
          </a:p>
          <a:p>
            <a:pPr marL="0" indent="0">
              <a:buNone/>
            </a:pPr>
            <a:r>
              <a:rPr lang="en-US" dirty="0"/>
              <a:t>       </a:t>
            </a:r>
            <a:r>
              <a:rPr lang="en-US" b="1" dirty="0"/>
              <a:t>if</a:t>
            </a:r>
            <a:r>
              <a:rPr lang="en-US" dirty="0"/>
              <a:t> (Max / temp &gt; k) temp = temp * k;</a:t>
            </a:r>
            <a:endParaRPr lang="zh-CN" altLang="en-US" dirty="0"/>
          </a:p>
          <a:p>
            <a:pPr marL="0" indent="0">
              <a:buNone/>
            </a:pPr>
            <a:r>
              <a:rPr lang="en-US" dirty="0"/>
              <a:t>       </a:t>
            </a:r>
            <a:r>
              <a:rPr lang="en-US" b="1" dirty="0"/>
              <a:t>else</a:t>
            </a:r>
            <a:r>
              <a:rPr lang="en-US" dirty="0"/>
              <a:t> { </a:t>
            </a:r>
            <a:r>
              <a:rPr lang="en-US" dirty="0" err="1"/>
              <a:t>cerr</a:t>
            </a:r>
            <a:r>
              <a:rPr lang="en-US" dirty="0"/>
              <a:t> &lt;&lt; "</a:t>
            </a:r>
            <a:r>
              <a:rPr lang="zh-CN" altLang="en-US" dirty="0"/>
              <a:t>计算结果溢出</a:t>
            </a:r>
            <a:r>
              <a:rPr lang="en-US" dirty="0"/>
              <a:t>" &lt;&lt; </a:t>
            </a:r>
            <a:r>
              <a:rPr lang="en-US" dirty="0" err="1"/>
              <a:t>endl</a:t>
            </a:r>
            <a:r>
              <a:rPr lang="en-US" dirty="0"/>
              <a:t>;  exit(1); }</a:t>
            </a:r>
            <a:endParaRPr lang="zh-CN" altLang="en-US" dirty="0"/>
          </a:p>
          <a:p>
            <a:pPr marL="0" indent="0">
              <a:buNone/>
            </a:pPr>
            <a:r>
              <a:rPr lang="en-US" dirty="0"/>
              <a:t>   }</a:t>
            </a:r>
            <a:endParaRPr lang="zh-CN" altLang="en-US" dirty="0"/>
          </a:p>
          <a:p>
            <a:pPr marL="0" indent="0">
              <a:buNone/>
            </a:pPr>
            <a:r>
              <a:rPr lang="en-US" dirty="0"/>
              <a:t>}</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Tree>
  </p:cSld>
  <p:clrMapOvr>
    <a:masterClrMapping/>
  </p:clrMapOvr>
  <p:transition>
    <p:spli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05656"/>
            <a:ext cx="7886700" cy="1325563"/>
          </a:xfrm>
        </p:spPr>
        <p:txBody>
          <a:bodyPr>
            <a:normAutofit/>
          </a:bodyPr>
          <a:lstStyle/>
          <a:p>
            <a:r>
              <a:rPr lang="zh-CN" altLang="en-US" dirty="0"/>
              <a:t>非单向递归例子：</a:t>
            </a:r>
            <a:r>
              <a:rPr lang="en-US" altLang="zh-CN" dirty="0"/>
              <a:t>Hanoi</a:t>
            </a:r>
            <a:r>
              <a:rPr lang="zh-CN" altLang="en-US" dirty="0"/>
              <a:t>塔问题</a:t>
            </a:r>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5" name="内容占位符 2"/>
          <p:cNvSpPr txBox="1"/>
          <p:nvPr/>
        </p:nvSpPr>
        <p:spPr>
          <a:xfrm>
            <a:off x="107504" y="1268760"/>
            <a:ext cx="8568952" cy="5383584"/>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400" dirty="0"/>
              <a:t>Hanoi(4,A,B,C);</a:t>
            </a:r>
            <a:endParaRPr lang="en-US" altLang="zh-CN" sz="2400" dirty="0"/>
          </a:p>
          <a:p>
            <a:r>
              <a:rPr lang="en-US" altLang="zh-CN" sz="2400" dirty="0"/>
              <a:t>       Hanoi(3,A,C,B);</a:t>
            </a:r>
            <a:endParaRPr lang="en-US" altLang="zh-CN" sz="2400" dirty="0"/>
          </a:p>
          <a:p>
            <a:r>
              <a:rPr lang="en-US" altLang="zh-CN" sz="2400" dirty="0"/>
              <a:t>              Hanoi(2,A,B,C);</a:t>
            </a:r>
            <a:endParaRPr lang="en-US" altLang="zh-CN" sz="2400" dirty="0"/>
          </a:p>
          <a:p>
            <a:r>
              <a:rPr lang="en-US" altLang="zh-CN" sz="2400" dirty="0"/>
              <a:t>                     Hanoi(1,A,C,B);</a:t>
            </a:r>
            <a:endParaRPr lang="en-US" altLang="zh-CN" sz="2400" dirty="0"/>
          </a:p>
          <a:p>
            <a:r>
              <a:rPr lang="en-US" altLang="zh-CN" sz="2400" dirty="0"/>
              <a:t>                           if(n == 1) </a:t>
            </a:r>
            <a:r>
              <a:rPr lang="en-US" altLang="zh-CN" sz="2400" dirty="0" err="1"/>
              <a:t>printf</a:t>
            </a:r>
            <a:r>
              <a:rPr lang="en-US" altLang="zh-CN" sz="2400" dirty="0"/>
              <a:t>("\n %d -&gt; %d\</a:t>
            </a:r>
            <a:r>
              <a:rPr lang="en-US" altLang="zh-CN" sz="2400" dirty="0" err="1"/>
              <a:t>n",A,B</a:t>
            </a:r>
            <a:r>
              <a:rPr lang="en-US" altLang="zh-CN" sz="2400" dirty="0"/>
              <a:t>);</a:t>
            </a:r>
            <a:endParaRPr lang="en-US" altLang="zh-CN" sz="2400" dirty="0"/>
          </a:p>
          <a:p>
            <a:r>
              <a:rPr lang="en-US" altLang="zh-CN" sz="2400" dirty="0"/>
              <a:t>                     </a:t>
            </a:r>
            <a:r>
              <a:rPr lang="en-US" altLang="zh-CN" sz="2400" dirty="0" err="1"/>
              <a:t>printf</a:t>
            </a:r>
            <a:r>
              <a:rPr lang="en-US" altLang="zh-CN" sz="2400" dirty="0"/>
              <a:t>("\n %d -&gt; %d\</a:t>
            </a:r>
            <a:r>
              <a:rPr lang="en-US" altLang="zh-CN" sz="2400" dirty="0" err="1"/>
              <a:t>n",A,C</a:t>
            </a:r>
            <a:r>
              <a:rPr lang="en-US" altLang="zh-CN" sz="2400" dirty="0"/>
              <a:t>)</a:t>
            </a:r>
            <a:endParaRPr lang="en-US" altLang="zh-CN" sz="2400" dirty="0"/>
          </a:p>
          <a:p>
            <a:r>
              <a:rPr lang="en-US" altLang="zh-CN" sz="2400" dirty="0"/>
              <a:t>                     Hanoi(1,B,A,C);</a:t>
            </a:r>
            <a:endParaRPr lang="en-US" altLang="zh-CN" sz="2400" dirty="0"/>
          </a:p>
          <a:p>
            <a:r>
              <a:rPr lang="en-US" altLang="zh-CN" sz="2400" dirty="0"/>
              <a:t>               </a:t>
            </a:r>
            <a:r>
              <a:rPr lang="en-US" altLang="zh-CN" sz="2400" dirty="0" err="1"/>
              <a:t>printf</a:t>
            </a:r>
            <a:r>
              <a:rPr lang="en-US" altLang="zh-CN" sz="2400" dirty="0"/>
              <a:t>("\n %d -&gt; %d\</a:t>
            </a:r>
            <a:r>
              <a:rPr lang="en-US" altLang="zh-CN" sz="2400" dirty="0" err="1"/>
              <a:t>n",A,B</a:t>
            </a:r>
            <a:r>
              <a:rPr lang="en-US" altLang="zh-CN" sz="2400" dirty="0"/>
              <a:t>)</a:t>
            </a:r>
            <a:endParaRPr lang="en-US" altLang="zh-CN" sz="2400" dirty="0"/>
          </a:p>
          <a:p>
            <a:r>
              <a:rPr lang="en-US" altLang="zh-CN" sz="2400" dirty="0"/>
              <a:t>               Hanoi(2,C,A,B);</a:t>
            </a:r>
            <a:endParaRPr lang="en-US" altLang="zh-CN" sz="2400" dirty="0"/>
          </a:p>
          <a:p>
            <a:r>
              <a:rPr lang="en-US" altLang="zh-CN" sz="2400" dirty="0"/>
              <a:t>         </a:t>
            </a:r>
            <a:r>
              <a:rPr lang="en-US" altLang="zh-CN" sz="2400" dirty="0" err="1"/>
              <a:t>printf</a:t>
            </a:r>
            <a:r>
              <a:rPr lang="en-US" altLang="zh-CN" sz="2400" dirty="0"/>
              <a:t>("\n %d -&gt; %d\</a:t>
            </a:r>
            <a:r>
              <a:rPr lang="en-US" altLang="zh-CN" sz="2400" dirty="0" err="1"/>
              <a:t>n",A,C</a:t>
            </a:r>
            <a:r>
              <a:rPr lang="en-US" altLang="zh-CN" sz="2400" dirty="0"/>
              <a:t>)</a:t>
            </a:r>
            <a:endParaRPr lang="en-US" altLang="zh-CN" sz="2400" dirty="0"/>
          </a:p>
          <a:p>
            <a:r>
              <a:rPr lang="en-US" altLang="zh-CN" sz="2400" dirty="0"/>
              <a:t>         Hanoi(3,B,A ,C);</a:t>
            </a:r>
            <a:endParaRPr lang="en-US" altLang="zh-CN" sz="2400" dirty="0"/>
          </a:p>
          <a:p>
            <a:endParaRPr lang="en-US" altLang="zh-CN" sz="2400" dirty="0"/>
          </a:p>
          <a:p>
            <a:r>
              <a:rPr lang="zh-CN" altLang="en-US" sz="2400" dirty="0"/>
              <a:t>转非递归需要几层循环？</a:t>
            </a:r>
            <a:endParaRPr lang="en-US" altLang="zh-CN" sz="2400" dirty="0"/>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Hanoi</a:t>
            </a:r>
            <a:r>
              <a:rPr lang="zh-CN" altLang="en-US" dirty="0"/>
              <a:t>塔问题的非递归算法</a:t>
            </a:r>
            <a:endParaRPr lang="zh-CN" altLang="en-US" dirty="0"/>
          </a:p>
        </p:txBody>
      </p:sp>
      <p:sp>
        <p:nvSpPr>
          <p:cNvPr id="3" name="内容占位符 2"/>
          <p:cNvSpPr>
            <a:spLocks noGrp="1"/>
          </p:cNvSpPr>
          <p:nvPr>
            <p:ph idx="1"/>
          </p:nvPr>
        </p:nvSpPr>
        <p:spPr>
          <a:xfrm>
            <a:off x="107504" y="1412777"/>
            <a:ext cx="8856984" cy="5308698"/>
          </a:xfrm>
        </p:spPr>
        <p:txBody>
          <a:bodyPr>
            <a:normAutofit fontScale="55000" lnSpcReduction="20000"/>
          </a:bodyPr>
          <a:lstStyle/>
          <a:p>
            <a:pPr marL="0" indent="0">
              <a:buNone/>
            </a:pPr>
            <a:r>
              <a:rPr lang="en-US" altLang="zh-CN" dirty="0"/>
              <a:t>void </a:t>
            </a:r>
            <a:r>
              <a:rPr lang="en-US" altLang="zh-CN" dirty="0" err="1"/>
              <a:t>NRCVHanoi</a:t>
            </a:r>
            <a:r>
              <a:rPr lang="en-US" altLang="zh-CN" dirty="0"/>
              <a:t>(</a:t>
            </a:r>
            <a:r>
              <a:rPr lang="en-US" altLang="zh-CN" dirty="0" err="1"/>
              <a:t>HElement</a:t>
            </a:r>
            <a:r>
              <a:rPr lang="en-US" altLang="zh-CN" dirty="0"/>
              <a:t> h)   {  //</a:t>
            </a:r>
            <a:r>
              <a:rPr lang="zh-CN" altLang="en-US" dirty="0"/>
              <a:t>非递归版</a:t>
            </a:r>
            <a:r>
              <a:rPr lang="en-US" altLang="zh-CN" dirty="0"/>
              <a:t>Hanoi</a:t>
            </a:r>
            <a:r>
              <a:rPr lang="zh-CN" altLang="en-US" dirty="0"/>
              <a:t>算法</a:t>
            </a:r>
            <a:endParaRPr lang="zh-CN" altLang="en-US" dirty="0"/>
          </a:p>
          <a:p>
            <a:pPr marL="0" indent="0">
              <a:buNone/>
            </a:pPr>
            <a:r>
              <a:rPr lang="zh-CN" altLang="en-US" dirty="0"/>
              <a:t>    </a:t>
            </a:r>
            <a:r>
              <a:rPr lang="en-US" altLang="zh-CN" dirty="0"/>
              <a:t>stack&lt;</a:t>
            </a:r>
            <a:r>
              <a:rPr lang="en-US" altLang="zh-CN" dirty="0" err="1"/>
              <a:t>HElement</a:t>
            </a:r>
            <a:r>
              <a:rPr lang="en-US" altLang="zh-CN" dirty="0"/>
              <a:t>&gt; s;       int done = false;       string </a:t>
            </a:r>
            <a:r>
              <a:rPr lang="en-US" altLang="zh-CN" dirty="0" err="1"/>
              <a:t>tmp</a:t>
            </a:r>
            <a:r>
              <a:rPr lang="en-US" altLang="zh-CN" dirty="0"/>
              <a:t>;</a:t>
            </a:r>
            <a:endParaRPr lang="en-US" altLang="zh-CN" dirty="0"/>
          </a:p>
          <a:p>
            <a:endParaRPr lang="en-US" altLang="zh-CN" dirty="0"/>
          </a:p>
          <a:p>
            <a:pPr marL="0" indent="0">
              <a:buNone/>
            </a:pPr>
            <a:r>
              <a:rPr lang="en-US" altLang="zh-CN" dirty="0"/>
              <a:t>    while(!done) {</a:t>
            </a:r>
            <a:endParaRPr lang="en-US" altLang="zh-CN" dirty="0"/>
          </a:p>
          <a:p>
            <a:pPr marL="0" indent="0">
              <a:buNone/>
            </a:pPr>
            <a:r>
              <a:rPr lang="en-US" altLang="zh-CN" dirty="0"/>
              <a:t>       while(</a:t>
            </a:r>
            <a:r>
              <a:rPr lang="en-US" altLang="zh-CN" dirty="0" err="1"/>
              <a:t>h.n</a:t>
            </a:r>
            <a:r>
              <a:rPr lang="en-US" altLang="zh-CN" dirty="0"/>
              <a:t> &gt; 1) { </a:t>
            </a:r>
            <a:r>
              <a:rPr lang="en-US" altLang="zh-CN" dirty="0" err="1"/>
              <a:t>s.push</a:t>
            </a:r>
            <a:r>
              <a:rPr lang="en-US" altLang="zh-CN" dirty="0"/>
              <a:t>(h);         </a:t>
            </a:r>
            <a:r>
              <a:rPr lang="en-US" altLang="zh-CN" dirty="0" err="1"/>
              <a:t>h.n</a:t>
            </a:r>
            <a:r>
              <a:rPr lang="en-US" altLang="zh-CN" dirty="0"/>
              <a:t>--; </a:t>
            </a:r>
            <a:r>
              <a:rPr lang="en-US" altLang="zh-CN" dirty="0" err="1"/>
              <a:t>tmp</a:t>
            </a:r>
            <a:r>
              <a:rPr lang="en-US" altLang="zh-CN" dirty="0"/>
              <a:t> = </a:t>
            </a:r>
            <a:r>
              <a:rPr lang="en-US" altLang="zh-CN" dirty="0" err="1"/>
              <a:t>h.B</a:t>
            </a:r>
            <a:r>
              <a:rPr lang="en-US" altLang="zh-CN" dirty="0"/>
              <a:t>;  </a:t>
            </a:r>
            <a:r>
              <a:rPr lang="en-US" altLang="zh-CN" dirty="0" err="1"/>
              <a:t>h.B</a:t>
            </a:r>
            <a:r>
              <a:rPr lang="en-US" altLang="zh-CN" dirty="0"/>
              <a:t> = </a:t>
            </a:r>
            <a:r>
              <a:rPr lang="en-US" altLang="zh-CN" dirty="0" err="1"/>
              <a:t>h.C</a:t>
            </a:r>
            <a:r>
              <a:rPr lang="en-US" altLang="zh-CN" dirty="0"/>
              <a:t>; </a:t>
            </a:r>
            <a:r>
              <a:rPr lang="en-US" altLang="zh-CN" dirty="0" err="1"/>
              <a:t>h.C</a:t>
            </a:r>
            <a:r>
              <a:rPr lang="en-US" altLang="zh-CN" dirty="0"/>
              <a:t> = </a:t>
            </a:r>
            <a:r>
              <a:rPr lang="en-US" altLang="zh-CN" dirty="0" err="1"/>
              <a:t>tmp</a:t>
            </a:r>
            <a:r>
              <a:rPr lang="en-US" altLang="zh-CN" dirty="0"/>
              <a:t>;    }</a:t>
            </a:r>
            <a:endParaRPr lang="en-US" altLang="zh-CN" dirty="0"/>
          </a:p>
          <a:p>
            <a:pPr marL="0" indent="0">
              <a:buNone/>
            </a:pPr>
            <a:r>
              <a:rPr lang="en-US" altLang="zh-CN" dirty="0"/>
              <a:t>       </a:t>
            </a:r>
            <a:r>
              <a:rPr lang="en-US" altLang="zh-CN" dirty="0" err="1"/>
              <a:t>cout</a:t>
            </a:r>
            <a:r>
              <a:rPr lang="en-US" altLang="zh-CN" dirty="0"/>
              <a:t> &lt;&lt; </a:t>
            </a:r>
            <a:r>
              <a:rPr lang="en-US" altLang="zh-CN" dirty="0" err="1"/>
              <a:t>h.n</a:t>
            </a:r>
            <a:r>
              <a:rPr lang="en-US" altLang="zh-CN" dirty="0"/>
              <a:t> &lt;&lt; ":" &lt;&lt; </a:t>
            </a:r>
            <a:r>
              <a:rPr lang="en-US" altLang="zh-CN" dirty="0" err="1"/>
              <a:t>h.A</a:t>
            </a:r>
            <a:r>
              <a:rPr lang="en-US" altLang="zh-CN" dirty="0"/>
              <a:t> &lt;&lt;" -&gt; " &lt;&lt; </a:t>
            </a:r>
            <a:r>
              <a:rPr lang="en-US" altLang="zh-CN" dirty="0" err="1"/>
              <a:t>h.C</a:t>
            </a:r>
            <a:r>
              <a:rPr lang="en-US" altLang="zh-CN" dirty="0"/>
              <a:t> &lt;&lt; </a:t>
            </a:r>
            <a:r>
              <a:rPr lang="en-US" altLang="zh-CN" dirty="0" err="1"/>
              <a:t>endl</a:t>
            </a:r>
            <a:r>
              <a:rPr lang="en-US" altLang="zh-CN" dirty="0"/>
              <a:t>;   //</a:t>
            </a:r>
            <a:r>
              <a:rPr lang="zh-CN" altLang="en-US" dirty="0"/>
              <a:t>对应递归终止情况</a:t>
            </a:r>
            <a:endParaRPr lang="zh-CN" altLang="en-US" dirty="0"/>
          </a:p>
          <a:p>
            <a:pPr marL="0" indent="0">
              <a:buNone/>
            </a:pPr>
            <a:r>
              <a:rPr lang="zh-CN" altLang="en-US" dirty="0"/>
              <a:t>       </a:t>
            </a:r>
            <a:r>
              <a:rPr lang="en-US" altLang="zh-CN" dirty="0"/>
              <a:t>if(!</a:t>
            </a:r>
            <a:r>
              <a:rPr lang="en-US" altLang="zh-CN" dirty="0" err="1"/>
              <a:t>s.empty</a:t>
            </a:r>
            <a:r>
              <a:rPr lang="en-US" altLang="zh-CN" dirty="0"/>
              <a:t>())  {</a:t>
            </a:r>
            <a:endParaRPr lang="en-US" altLang="zh-CN" dirty="0"/>
          </a:p>
          <a:p>
            <a:pPr marL="0" indent="0">
              <a:buNone/>
            </a:pPr>
            <a:r>
              <a:rPr lang="en-US" altLang="zh-CN" dirty="0"/>
              <a:t>               h = </a:t>
            </a:r>
            <a:r>
              <a:rPr lang="en-US" altLang="zh-CN" dirty="0" err="1"/>
              <a:t>s.top</a:t>
            </a:r>
            <a:r>
              <a:rPr lang="en-US" altLang="zh-CN" dirty="0"/>
              <a:t>();    </a:t>
            </a:r>
            <a:r>
              <a:rPr lang="en-US" altLang="zh-CN" dirty="0" err="1"/>
              <a:t>s.pop</a:t>
            </a:r>
            <a:r>
              <a:rPr lang="en-US" altLang="zh-CN" dirty="0"/>
              <a:t>();</a:t>
            </a:r>
            <a:endParaRPr lang="en-US" altLang="zh-CN" dirty="0"/>
          </a:p>
          <a:p>
            <a:pPr marL="0" indent="0">
              <a:buNone/>
            </a:pPr>
            <a:r>
              <a:rPr lang="en-US" altLang="zh-CN" dirty="0"/>
              <a:t>               </a:t>
            </a:r>
            <a:r>
              <a:rPr lang="en-US" altLang="zh-CN" dirty="0" err="1"/>
              <a:t>cout</a:t>
            </a:r>
            <a:r>
              <a:rPr lang="en-US" altLang="zh-CN" dirty="0"/>
              <a:t> &lt;&lt; </a:t>
            </a:r>
            <a:r>
              <a:rPr lang="en-US" altLang="zh-CN" dirty="0" err="1"/>
              <a:t>h.n</a:t>
            </a:r>
            <a:r>
              <a:rPr lang="en-US" altLang="zh-CN" dirty="0"/>
              <a:t> &lt;&lt; ":" &lt;&lt; </a:t>
            </a:r>
            <a:r>
              <a:rPr lang="en-US" altLang="zh-CN" dirty="0" err="1"/>
              <a:t>h.A</a:t>
            </a:r>
            <a:r>
              <a:rPr lang="en-US" altLang="zh-CN" dirty="0"/>
              <a:t> &lt;&lt;" -&gt; " &lt;&lt; </a:t>
            </a:r>
            <a:r>
              <a:rPr lang="en-US" altLang="zh-CN" dirty="0" err="1"/>
              <a:t>h.C</a:t>
            </a:r>
            <a:r>
              <a:rPr lang="en-US" altLang="zh-CN" dirty="0"/>
              <a:t> &lt;&lt; </a:t>
            </a:r>
            <a:r>
              <a:rPr lang="en-US" altLang="zh-CN" dirty="0" err="1"/>
              <a:t>endl</a:t>
            </a:r>
            <a:r>
              <a:rPr lang="en-US" altLang="zh-CN" dirty="0"/>
              <a:t>;</a:t>
            </a:r>
            <a:endParaRPr lang="en-US" altLang="zh-CN" dirty="0"/>
          </a:p>
          <a:p>
            <a:pPr marL="0" indent="0">
              <a:buNone/>
            </a:pPr>
            <a:r>
              <a:rPr lang="en-US" altLang="zh-CN" dirty="0"/>
              <a:t>               </a:t>
            </a:r>
            <a:r>
              <a:rPr lang="en-US" altLang="zh-CN" dirty="0" err="1"/>
              <a:t>h.n</a:t>
            </a:r>
            <a:r>
              <a:rPr lang="en-US" altLang="zh-CN" dirty="0"/>
              <a:t>--; </a:t>
            </a:r>
            <a:r>
              <a:rPr lang="en-US" altLang="zh-CN" dirty="0" err="1"/>
              <a:t>tmp</a:t>
            </a:r>
            <a:r>
              <a:rPr lang="en-US" altLang="zh-CN" dirty="0"/>
              <a:t> =  </a:t>
            </a:r>
            <a:r>
              <a:rPr lang="en-US" altLang="zh-CN" dirty="0" err="1"/>
              <a:t>h.B</a:t>
            </a:r>
            <a:r>
              <a:rPr lang="en-US" altLang="zh-CN" dirty="0"/>
              <a:t>;  </a:t>
            </a:r>
            <a:r>
              <a:rPr lang="en-US" altLang="zh-CN" dirty="0" err="1"/>
              <a:t>h.B</a:t>
            </a:r>
            <a:r>
              <a:rPr lang="en-US" altLang="zh-CN" dirty="0"/>
              <a:t> = </a:t>
            </a:r>
            <a:r>
              <a:rPr lang="en-US" altLang="zh-CN" dirty="0" err="1"/>
              <a:t>h.A</a:t>
            </a:r>
            <a:r>
              <a:rPr lang="en-US" altLang="zh-CN" dirty="0"/>
              <a:t>; </a:t>
            </a:r>
            <a:r>
              <a:rPr lang="en-US" altLang="zh-CN" dirty="0" err="1"/>
              <a:t>h.A</a:t>
            </a:r>
            <a:r>
              <a:rPr lang="en-US" altLang="zh-CN" dirty="0"/>
              <a:t> = </a:t>
            </a:r>
            <a:r>
              <a:rPr lang="en-US" altLang="zh-CN" dirty="0" err="1"/>
              <a:t>tmp</a:t>
            </a:r>
            <a:r>
              <a:rPr lang="en-US" altLang="zh-CN" dirty="0"/>
              <a:t>;</a:t>
            </a:r>
            <a:endParaRPr lang="en-US" altLang="zh-CN" dirty="0"/>
          </a:p>
          <a:p>
            <a:pPr marL="0" indent="0">
              <a:buNone/>
            </a:pPr>
            <a:r>
              <a:rPr lang="en-US" altLang="zh-CN" dirty="0"/>
              <a:t>         }</a:t>
            </a:r>
            <a:endParaRPr lang="en-US" altLang="zh-CN" dirty="0"/>
          </a:p>
          <a:p>
            <a:pPr marL="0" indent="0">
              <a:buNone/>
            </a:pPr>
            <a:r>
              <a:rPr lang="en-US" altLang="zh-CN" dirty="0"/>
              <a:t>         else done = true;</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sp>
        <p:nvSpPr>
          <p:cNvPr id="6" name="内容占位符 2"/>
          <p:cNvSpPr txBox="1"/>
          <p:nvPr/>
        </p:nvSpPr>
        <p:spPr>
          <a:xfrm>
            <a:off x="6229117" y="4776687"/>
            <a:ext cx="2286233" cy="1716188"/>
          </a:xfrm>
          <a:prstGeom prst="rect">
            <a:avLst/>
          </a:prstGeom>
          <a:solidFill>
            <a:srgbClr val="92D050"/>
          </a:solidFill>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dirty="0"/>
              <a:t>struct </a:t>
            </a:r>
            <a:r>
              <a:rPr lang="en-US" altLang="zh-CN" dirty="0" err="1"/>
              <a:t>HElement</a:t>
            </a:r>
            <a:r>
              <a:rPr lang="en-US" altLang="zh-CN" dirty="0"/>
              <a:t>{</a:t>
            </a:r>
            <a:endParaRPr lang="en-US" altLang="zh-CN" dirty="0"/>
          </a:p>
          <a:p>
            <a:pPr marL="0" indent="0">
              <a:buNone/>
            </a:pPr>
            <a:r>
              <a:rPr lang="en-US" altLang="zh-CN" dirty="0"/>
              <a:t>    int n;</a:t>
            </a:r>
            <a:endParaRPr lang="en-US" altLang="zh-CN" dirty="0"/>
          </a:p>
          <a:p>
            <a:pPr marL="0" indent="0">
              <a:buNone/>
            </a:pPr>
            <a:r>
              <a:rPr lang="en-US" altLang="zh-CN" dirty="0"/>
              <a:t>    string A;</a:t>
            </a:r>
            <a:endParaRPr lang="en-US" altLang="zh-CN" dirty="0"/>
          </a:p>
          <a:p>
            <a:pPr marL="0" indent="0">
              <a:buNone/>
            </a:pPr>
            <a:r>
              <a:rPr lang="en-US" altLang="zh-CN" dirty="0"/>
              <a:t>    string B;</a:t>
            </a:r>
            <a:endParaRPr lang="en-US" altLang="zh-CN" dirty="0"/>
          </a:p>
          <a:p>
            <a:pPr marL="0" indent="0">
              <a:buNone/>
            </a:pPr>
            <a:r>
              <a:rPr lang="en-US" altLang="zh-CN" dirty="0"/>
              <a:t>    string C;</a:t>
            </a:r>
            <a:endParaRPr lang="en-US" altLang="zh-CN" dirty="0"/>
          </a:p>
          <a:p>
            <a:pPr marL="0" indent="0">
              <a:buNone/>
            </a:pPr>
            <a:r>
              <a:rPr lang="en-US" altLang="zh-CN" dirty="0"/>
              <a:t>};</a:t>
            </a:r>
            <a:endParaRPr lang="en-US" altLang="zh-CN" dirty="0"/>
          </a:p>
        </p:txBody>
      </p:sp>
    </p:spTree>
  </p:cSld>
  <p:clrMapOvr>
    <a:masterClrMapping/>
  </p:clrMapOvr>
  <p:transition>
    <p:spli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回溯法</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将问题的候选解按某种顺序逐一枚举和检验</a:t>
            </a:r>
            <a:endParaRPr lang="zh-CN" altLang="en-US" dirty="0"/>
          </a:p>
          <a:p>
            <a:pPr lvl="1"/>
            <a:r>
              <a:rPr lang="zh-CN" altLang="en-US" dirty="0"/>
              <a:t>当发现当前的候选解不可能是解时，就放弃它而选择下一个候选解。这称为回溯</a:t>
            </a:r>
            <a:endParaRPr lang="zh-CN" altLang="en-US" dirty="0"/>
          </a:p>
          <a:p>
            <a:r>
              <a:rPr lang="zh-CN" altLang="en-US" dirty="0"/>
              <a:t>用回溯法求解问题时常常使用递归方法进行试探，或使用栈帮助向前试探和回溯。</a:t>
            </a: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例：用回溯法求解迷宫问题</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迷宫问题：迷宫中有多处障碍。要找到一条从迷宫的唯一入口到唯一出口，途中不出现行进方向错误的路线。</a:t>
            </a:r>
            <a:endParaRPr lang="zh-CN" altLang="en-US" dirty="0"/>
          </a:p>
          <a:p>
            <a:r>
              <a:rPr lang="zh-CN" altLang="en-US" dirty="0"/>
              <a:t>迷宫可用二维数组</a:t>
            </a:r>
            <a:r>
              <a:rPr lang="en-US" altLang="zh-CN" dirty="0"/>
              <a:t>maze[m+2][p+2]</a:t>
            </a:r>
            <a:r>
              <a:rPr lang="zh-CN" altLang="en-US" dirty="0"/>
              <a:t>表示</a:t>
            </a:r>
            <a:endParaRPr lang="zh-CN" altLang="en-US" dirty="0"/>
          </a:p>
          <a:p>
            <a:pPr lvl="1"/>
            <a:r>
              <a:rPr lang="en-US" altLang="zh-CN" dirty="0"/>
              <a:t>maze[</a:t>
            </a:r>
            <a:r>
              <a:rPr lang="en-US" altLang="zh-CN" dirty="0" err="1"/>
              <a:t>i</a:t>
            </a:r>
            <a:r>
              <a:rPr lang="en-US" altLang="zh-CN" dirty="0"/>
              <a:t>][j]</a:t>
            </a:r>
            <a:r>
              <a:rPr lang="zh-CN" altLang="en-US" dirty="0"/>
              <a:t>为</a:t>
            </a:r>
            <a:r>
              <a:rPr lang="en-US" altLang="zh-CN" dirty="0"/>
              <a:t>1</a:t>
            </a:r>
            <a:r>
              <a:rPr lang="zh-CN" altLang="en-US" dirty="0"/>
              <a:t>表示该位置是墙壁，不通</a:t>
            </a:r>
            <a:r>
              <a:rPr lang="en-US" altLang="zh-CN" dirty="0"/>
              <a:t>; </a:t>
            </a:r>
            <a:endParaRPr lang="en-US" altLang="zh-CN" dirty="0"/>
          </a:p>
          <a:p>
            <a:pPr lvl="1"/>
            <a:r>
              <a:rPr lang="en-US" altLang="zh-CN" dirty="0"/>
              <a:t>maze[</a:t>
            </a:r>
            <a:r>
              <a:rPr lang="en-US" altLang="zh-CN" dirty="0" err="1"/>
              <a:t>i</a:t>
            </a:r>
            <a:r>
              <a:rPr lang="en-US" altLang="zh-CN" dirty="0"/>
              <a:t>][j]</a:t>
            </a:r>
            <a:r>
              <a:rPr lang="zh-CN" altLang="en-US" dirty="0"/>
              <a:t>为</a:t>
            </a:r>
            <a:r>
              <a:rPr lang="en-US" altLang="zh-CN" dirty="0"/>
              <a:t>0</a:t>
            </a:r>
            <a:r>
              <a:rPr lang="zh-CN" altLang="en-US" dirty="0"/>
              <a:t>表示该位置是通路</a:t>
            </a:r>
            <a:r>
              <a:rPr lang="en-US" altLang="zh-CN" dirty="0"/>
              <a:t>; </a:t>
            </a:r>
            <a:endParaRPr lang="en-US" altLang="zh-CN" dirty="0"/>
          </a:p>
          <a:p>
            <a:pPr lvl="1"/>
            <a:r>
              <a:rPr lang="en-US" altLang="zh-CN" dirty="0"/>
              <a:t>1&lt;= </a:t>
            </a:r>
            <a:r>
              <a:rPr lang="en-US" altLang="zh-CN" dirty="0" err="1"/>
              <a:t>i</a:t>
            </a:r>
            <a:r>
              <a:rPr lang="en-US" altLang="zh-CN" dirty="0"/>
              <a:t> &lt;=m, 1 &lt;=j &lt;= p</a:t>
            </a:r>
            <a:endParaRPr lang="en-US" altLang="zh-CN" dirty="0"/>
          </a:p>
          <a:p>
            <a:pPr lvl="1"/>
            <a:r>
              <a:rPr lang="zh-CN" altLang="en-US" dirty="0"/>
              <a:t>数组的第</a:t>
            </a:r>
            <a:r>
              <a:rPr lang="en-US" altLang="zh-CN" dirty="0"/>
              <a:t>0</a:t>
            </a:r>
            <a:r>
              <a:rPr lang="zh-CN" altLang="en-US" dirty="0"/>
              <a:t>行和第 </a:t>
            </a:r>
            <a:r>
              <a:rPr lang="en-US" altLang="zh-CN" dirty="0"/>
              <a:t>m+1 </a:t>
            </a:r>
            <a:r>
              <a:rPr lang="zh-CN" altLang="en-US" dirty="0"/>
              <a:t>行、第</a:t>
            </a:r>
            <a:r>
              <a:rPr lang="en-US" altLang="zh-CN" dirty="0"/>
              <a:t>0</a:t>
            </a:r>
            <a:r>
              <a:rPr lang="zh-CN" altLang="en-US" dirty="0"/>
              <a:t>列和第 </a:t>
            </a:r>
            <a:r>
              <a:rPr lang="en-US" altLang="zh-CN" dirty="0"/>
              <a:t>p+1 </a:t>
            </a:r>
            <a:r>
              <a:rPr lang="zh-CN" altLang="en-US" dirty="0"/>
              <a:t>列是迷宫的围墙。</a:t>
            </a: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用二维数组表示的迷宫</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            1 1 1 1 1 1 1 1 1 1</a:t>
            </a:r>
            <a:endParaRPr lang="en-US" altLang="zh-CN" dirty="0"/>
          </a:p>
          <a:p>
            <a:pPr marL="0" indent="0">
              <a:buNone/>
            </a:pPr>
            <a:r>
              <a:rPr lang="zh-CN" altLang="en-US" dirty="0"/>
              <a:t>入口     </a:t>
            </a:r>
            <a:r>
              <a:rPr lang="en-US" altLang="zh-CN" dirty="0"/>
              <a:t>0 0 1 0 0 0 1 1 0 1</a:t>
            </a:r>
            <a:endParaRPr lang="en-US" altLang="zh-CN" dirty="0"/>
          </a:p>
          <a:p>
            <a:pPr marL="0" indent="0">
              <a:buNone/>
            </a:pPr>
            <a:r>
              <a:rPr lang="en-US" altLang="zh-CN" dirty="0"/>
              <a:t>            1 1 0 0 0 1 1 0 1 1</a:t>
            </a:r>
            <a:endParaRPr lang="en-US" altLang="zh-CN" dirty="0"/>
          </a:p>
          <a:p>
            <a:pPr marL="0" indent="0">
              <a:buNone/>
            </a:pPr>
            <a:r>
              <a:rPr lang="en-US" altLang="zh-CN" dirty="0"/>
              <a:t>            1 0 1 1 1 0 0 1 1 1 </a:t>
            </a:r>
            <a:endParaRPr lang="en-US" altLang="zh-CN" dirty="0"/>
          </a:p>
          <a:p>
            <a:pPr marL="0" indent="0">
              <a:buNone/>
            </a:pPr>
            <a:r>
              <a:rPr lang="en-US" altLang="zh-CN" dirty="0"/>
              <a:t>            1 0 1 0 1 1 1 0 0 0  </a:t>
            </a:r>
            <a:r>
              <a:rPr lang="zh-CN" altLang="en-US" dirty="0"/>
              <a:t>出口</a:t>
            </a:r>
            <a:endParaRPr lang="zh-CN" altLang="en-US" dirty="0"/>
          </a:p>
          <a:p>
            <a:pPr marL="0" indent="0">
              <a:buNone/>
            </a:pPr>
            <a:r>
              <a:rPr lang="zh-CN" altLang="en-US" dirty="0"/>
              <a:t>            </a:t>
            </a:r>
            <a:r>
              <a:rPr lang="en-US" altLang="zh-CN" dirty="0"/>
              <a:t>1 1 1 1 1 1 1 1 1 1</a:t>
            </a:r>
            <a:endParaRPr lang="en-US" altLang="zh-CN" dirty="0"/>
          </a:p>
          <a:p>
            <a:pPr marL="0" indent="0">
              <a:buNone/>
            </a:pPr>
            <a:endParaRPr lang="en-US" altLang="zh-CN" dirty="0"/>
          </a:p>
          <a:p>
            <a:pPr marL="0" indent="0">
              <a:buNone/>
            </a:pPr>
            <a:r>
              <a:rPr lang="zh-CN" altLang="en-US" dirty="0"/>
              <a:t>在迷宫中任一时刻的位置可用数组下标</a:t>
            </a:r>
            <a:endParaRPr lang="zh-CN" altLang="en-US" dirty="0"/>
          </a:p>
          <a:p>
            <a:pPr marL="0" indent="0">
              <a:buNone/>
            </a:pPr>
            <a:r>
              <a:rPr lang="en-US" altLang="zh-CN" dirty="0" err="1"/>
              <a:t>i</a:t>
            </a:r>
            <a:r>
              <a:rPr lang="zh-CN" altLang="en-US" dirty="0"/>
              <a:t>与</a:t>
            </a:r>
            <a:r>
              <a:rPr lang="en-US" altLang="zh-CN" dirty="0"/>
              <a:t>j</a:t>
            </a:r>
            <a:r>
              <a:rPr lang="zh-CN" altLang="en-US" dirty="0"/>
              <a:t>来表示。</a:t>
            </a:r>
            <a:endParaRPr lang="zh-CN" altLang="en-US" dirty="0"/>
          </a:p>
          <a:p>
            <a:pPr marL="0" indent="0">
              <a:buNone/>
            </a:pP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a:t>
            </a:r>
            <a:r>
              <a:rPr lang="zh-CN" altLang="en-US" dirty="0"/>
              <a:t>个可能的前进方向</a:t>
            </a:r>
            <a:endParaRPr lang="zh-CN" altLang="en-US" dirty="0"/>
          </a:p>
        </p:txBody>
      </p:sp>
      <p:graphicFrame>
        <p:nvGraphicFramePr>
          <p:cNvPr id="80899" name="Object 0"/>
          <p:cNvGraphicFramePr>
            <a:graphicFrameLocks noGrp="1" noChangeAspect="1"/>
          </p:cNvGraphicFramePr>
          <p:nvPr>
            <p:ph idx="4294967295"/>
          </p:nvPr>
        </p:nvGraphicFramePr>
        <p:xfrm>
          <a:off x="639617" y="1692061"/>
          <a:ext cx="7916862" cy="2879725"/>
        </p:xfrm>
        <a:graphic>
          <a:graphicData uri="http://schemas.openxmlformats.org/presentationml/2006/ole">
            <mc:AlternateContent xmlns:mc="http://schemas.openxmlformats.org/markup-compatibility/2006">
              <mc:Choice xmlns:v="urn:schemas-microsoft-com:vml" Requires="v">
                <p:oleObj spid="_x0000_s3" name="Document" r:id="rId1" imgW="5603875" imgH="2038985" progId="Word.Document.8">
                  <p:embed/>
                </p:oleObj>
              </mc:Choice>
              <mc:Fallback>
                <p:oleObj name="Document" r:id="rId1" imgW="5603875" imgH="2038985" progId="Word.Document.8">
                  <p:embed/>
                  <p:pic>
                    <p:nvPicPr>
                      <p:cNvPr id="0" name="Object 0"/>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617" y="1692061"/>
                        <a:ext cx="7916862"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00" name="Text Box 4"/>
          <p:cNvSpPr txBox="1">
            <a:spLocks noChangeArrowheads="1"/>
          </p:cNvSpPr>
          <p:nvPr/>
        </p:nvSpPr>
        <p:spPr bwMode="auto">
          <a:xfrm>
            <a:off x="1731355" y="4937339"/>
            <a:ext cx="6792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dirty="0">
                <a:latin typeface="Times New Roman" panose="02020603050405020304" pitchFamily="18" charset="0"/>
                <a:ea typeface="宋体" panose="02010600030101010101" pitchFamily="2" charset="-122"/>
              </a:rPr>
              <a:t>用前进方向表来表示这</a:t>
            </a:r>
            <a:r>
              <a:rPr kumimoji="1" lang="en-US" altLang="zh-CN" sz="2400" dirty="0">
                <a:latin typeface="Times New Roman" panose="02020603050405020304" pitchFamily="18" charset="0"/>
                <a:ea typeface="宋体" panose="02010600030101010101" pitchFamily="2" charset="-122"/>
              </a:rPr>
              <a:t>8</a:t>
            </a:r>
            <a:r>
              <a:rPr kumimoji="1" lang="zh-CN" altLang="en-US" sz="2400" dirty="0">
                <a:latin typeface="Times New Roman" panose="02020603050405020304" pitchFamily="18" charset="0"/>
                <a:ea typeface="宋体" panose="02010600030101010101" pitchFamily="2" charset="-122"/>
              </a:rPr>
              <a:t>个可能的前进方向</a:t>
            </a:r>
            <a:endParaRPr kumimoji="1" lang="zh-CN" altLang="en-US" sz="2400" dirty="0">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前进方向表</a:t>
            </a:r>
            <a:endParaRPr lang="zh-CN" altLang="en-US" dirty="0"/>
          </a:p>
        </p:txBody>
      </p:sp>
      <p:graphicFrame>
        <p:nvGraphicFramePr>
          <p:cNvPr id="81923" name="Object 0"/>
          <p:cNvGraphicFramePr>
            <a:graphicFrameLocks noGrp="1" noChangeAspect="1"/>
          </p:cNvGraphicFramePr>
          <p:nvPr>
            <p:ph idx="1"/>
          </p:nvPr>
        </p:nvGraphicFramePr>
        <p:xfrm>
          <a:off x="971600" y="1690688"/>
          <a:ext cx="6746875" cy="3240088"/>
        </p:xfrm>
        <a:graphic>
          <a:graphicData uri="http://schemas.openxmlformats.org/presentationml/2006/ole">
            <mc:AlternateContent xmlns:mc="http://schemas.openxmlformats.org/markup-compatibility/2006">
              <mc:Choice xmlns:v="urn:schemas-microsoft-com:vml" Requires="v">
                <p:oleObj spid="_x0000_s2" name="Document" r:id="rId1" imgW="6746875" imgH="3239770" progId="Word.Document.8">
                  <p:embed/>
                </p:oleObj>
              </mc:Choice>
              <mc:Fallback>
                <p:oleObj name="Document" r:id="rId1" imgW="6746875" imgH="3239770" progId="Word.Document.8">
                  <p:embed/>
                  <p:pic>
                    <p:nvPicPr>
                      <p:cNvPr id="0" name="Object 0"/>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690688"/>
                        <a:ext cx="6746875" cy="3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4"/>
          <p:cNvSpPr txBox="1">
            <a:spLocks noChangeArrowheads="1"/>
          </p:cNvSpPr>
          <p:nvPr/>
        </p:nvSpPr>
        <p:spPr bwMode="auto">
          <a:xfrm>
            <a:off x="467544" y="4930776"/>
            <a:ext cx="842493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dirty="0">
                <a:latin typeface="Times New Roman" panose="02020603050405020304" pitchFamily="18" charset="0"/>
                <a:ea typeface="宋体" panose="02010600030101010101" pitchFamily="2" charset="-122"/>
              </a:rPr>
              <a:t>当前位置在</a:t>
            </a:r>
            <a:r>
              <a:rPr kumimoji="1" lang="en-US" altLang="zh-CN" sz="2400" dirty="0">
                <a:latin typeface="Times New Roman" panose="02020603050405020304" pitchFamily="18" charset="0"/>
                <a:ea typeface="宋体" panose="02010600030101010101" pitchFamily="2" charset="-122"/>
              </a:rPr>
              <a:t>[</a:t>
            </a:r>
            <a:r>
              <a:rPr kumimoji="1" lang="en-US" altLang="zh-CN" sz="2400" dirty="0" err="1">
                <a:latin typeface="Times New Roman" panose="02020603050405020304" pitchFamily="18" charset="0"/>
                <a:ea typeface="宋体" panose="02010600030101010101" pitchFamily="2" charset="-122"/>
              </a:rPr>
              <a:t>i</a:t>
            </a:r>
            <a:r>
              <a:rPr kumimoji="1" lang="en-US" altLang="zh-CN" sz="2400" dirty="0">
                <a:latin typeface="Times New Roman" panose="02020603050405020304" pitchFamily="18" charset="0"/>
                <a:ea typeface="宋体" panose="02010600030101010101" pitchFamily="2" charset="-122"/>
              </a:rPr>
              <a:t>][j]</a:t>
            </a:r>
            <a:r>
              <a:rPr kumimoji="1" lang="zh-CN" altLang="en-US" sz="2400" dirty="0">
                <a:latin typeface="Times New Roman" panose="02020603050405020304" pitchFamily="18" charset="0"/>
                <a:ea typeface="宋体" panose="02010600030101010101" pitchFamily="2" charset="-122"/>
              </a:rPr>
              <a:t>时，若向西南方向走，下一相邻位置</a:t>
            </a:r>
            <a:r>
              <a:rPr kumimoji="1" lang="en-US" altLang="zh-CN" sz="2400" dirty="0">
                <a:latin typeface="Times New Roman" panose="02020603050405020304" pitchFamily="18" charset="0"/>
                <a:ea typeface="宋体" panose="02010600030101010101" pitchFamily="2" charset="-122"/>
              </a:rPr>
              <a:t>[g][h]</a:t>
            </a:r>
            <a:r>
              <a:rPr kumimoji="1" lang="zh-CN" altLang="en-US" sz="2400" dirty="0">
                <a:latin typeface="Times New Roman" panose="02020603050405020304" pitchFamily="18" charset="0"/>
                <a:ea typeface="宋体" panose="02010600030101010101" pitchFamily="2" charset="-122"/>
              </a:rPr>
              <a:t>为：</a:t>
            </a:r>
            <a:endParaRPr kumimoji="1" lang="zh-CN" altLang="en-US" sz="2400" dirty="0">
              <a:latin typeface="Times New Roman" panose="02020603050405020304" pitchFamily="18" charset="0"/>
              <a:ea typeface="宋体" panose="02010600030101010101" pitchFamily="2" charset="-122"/>
            </a:endParaRPr>
          </a:p>
          <a:p>
            <a:pPr eaLnBrk="1" hangingPunct="1">
              <a:spcBef>
                <a:spcPct val="50000"/>
              </a:spcBef>
            </a:pPr>
            <a:r>
              <a:rPr kumimoji="1" lang="en-US" altLang="zh-CN" sz="2400" dirty="0">
                <a:latin typeface="Times New Roman" panose="02020603050405020304" pitchFamily="18" charset="0"/>
                <a:ea typeface="宋体" panose="02010600030101010101" pitchFamily="2" charset="-122"/>
              </a:rPr>
              <a:t>g = </a:t>
            </a:r>
            <a:r>
              <a:rPr kumimoji="1" lang="en-US" altLang="zh-CN" sz="2400" dirty="0" err="1">
                <a:latin typeface="Times New Roman" panose="02020603050405020304" pitchFamily="18" charset="0"/>
                <a:ea typeface="宋体" panose="02010600030101010101" pitchFamily="2" charset="-122"/>
              </a:rPr>
              <a:t>i+move</a:t>
            </a:r>
            <a:r>
              <a:rPr kumimoji="1" lang="en-US" altLang="zh-CN" sz="2400" dirty="0">
                <a:latin typeface="Times New Roman" panose="02020603050405020304" pitchFamily="18" charset="0"/>
                <a:ea typeface="宋体" panose="02010600030101010101" pitchFamily="2" charset="-122"/>
              </a:rPr>
              <a:t>[5].a = i+1;    h = </a:t>
            </a:r>
            <a:r>
              <a:rPr kumimoji="1" lang="en-US" altLang="zh-CN" sz="2400" dirty="0" err="1">
                <a:latin typeface="Times New Roman" panose="02020603050405020304" pitchFamily="18" charset="0"/>
                <a:ea typeface="宋体" panose="02010600030101010101" pitchFamily="2" charset="-122"/>
              </a:rPr>
              <a:t>j+move</a:t>
            </a:r>
            <a:r>
              <a:rPr kumimoji="1" lang="en-US" altLang="zh-CN" sz="2400" dirty="0">
                <a:latin typeface="Times New Roman" panose="02020603050405020304" pitchFamily="18" charset="0"/>
                <a:ea typeface="宋体" panose="02010600030101010101" pitchFamily="2" charset="-122"/>
              </a:rPr>
              <a:t>[5].b = j-1;</a:t>
            </a:r>
            <a:endParaRPr kumimoji="1" lang="en-US" altLang="zh-CN" sz="2400" dirty="0">
              <a:latin typeface="Times New Roman" panose="02020603050405020304" pitchFamily="18" charset="0"/>
              <a:ea typeface="宋体" panose="02010600030101010101" pitchFamily="2" charset="-122"/>
            </a:endParaRPr>
          </a:p>
          <a:p>
            <a:pPr eaLnBrk="1" hangingPunct="1">
              <a:spcBef>
                <a:spcPct val="50000"/>
              </a:spcBef>
            </a:pPr>
            <a:r>
              <a:rPr kumimoji="1" lang="en-US" altLang="zh-CN" sz="2400" dirty="0">
                <a:latin typeface="Times New Roman" panose="02020603050405020304" pitchFamily="18" charset="0"/>
                <a:ea typeface="宋体" panose="02010600030101010101" pitchFamily="2" charset="-122"/>
              </a:rPr>
              <a:t>d = move[5].</a:t>
            </a:r>
            <a:r>
              <a:rPr kumimoji="1" lang="en-US" altLang="zh-CN" sz="2400" dirty="0" err="1">
                <a:latin typeface="Times New Roman" panose="02020603050405020304" pitchFamily="18" charset="0"/>
                <a:ea typeface="宋体" panose="02010600030101010101" pitchFamily="2" charset="-122"/>
              </a:rPr>
              <a:t>dir</a:t>
            </a:r>
            <a:r>
              <a:rPr kumimoji="1" lang="en-US" altLang="zh-CN" sz="2400" dirty="0">
                <a:latin typeface="Times New Roman" panose="02020603050405020304" pitchFamily="18" charset="0"/>
                <a:ea typeface="宋体" panose="02010600030101010101" pitchFamily="2" charset="-122"/>
              </a:rPr>
              <a:t>;</a:t>
            </a:r>
            <a:endParaRPr kumimoji="1" lang="zh-CN" altLang="en-US" sz="2400" dirty="0">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标志矩阵</a:t>
            </a:r>
            <a:r>
              <a:rPr lang="en-US" altLang="zh-CN" dirty="0"/>
              <a:t>mark</a:t>
            </a:r>
            <a:r>
              <a:rPr lang="zh-CN" altLang="en-US" dirty="0"/>
              <a:t>防止走重复路</a:t>
            </a:r>
            <a:endParaRPr lang="zh-CN" altLang="en-US" dirty="0"/>
          </a:p>
        </p:txBody>
      </p:sp>
      <p:sp>
        <p:nvSpPr>
          <p:cNvPr id="3" name="内容占位符 2"/>
          <p:cNvSpPr>
            <a:spLocks noGrp="1"/>
          </p:cNvSpPr>
          <p:nvPr>
            <p:ph idx="1"/>
          </p:nvPr>
        </p:nvSpPr>
        <p:spPr/>
        <p:txBody>
          <a:bodyPr>
            <a:normAutofit/>
          </a:bodyPr>
          <a:lstStyle/>
          <a:p>
            <a:r>
              <a:rPr lang="en-US" altLang="zh-CN" dirty="0"/>
              <a:t>int mark[m+2][p+2]</a:t>
            </a:r>
            <a:endParaRPr lang="en-US" altLang="zh-CN" dirty="0"/>
          </a:p>
          <a:p>
            <a:pPr lvl="1"/>
            <a:r>
              <a:rPr lang="zh-CN" altLang="en-US" dirty="0"/>
              <a:t>其中所有元素都初始化为</a:t>
            </a:r>
            <a:r>
              <a:rPr lang="en-US" altLang="zh-CN" dirty="0"/>
              <a:t>0</a:t>
            </a:r>
            <a:r>
              <a:rPr lang="zh-CN" altLang="en-US" dirty="0"/>
              <a:t>。</a:t>
            </a:r>
            <a:endParaRPr lang="zh-CN" altLang="en-US" dirty="0"/>
          </a:p>
          <a:p>
            <a:pPr lvl="1"/>
            <a:r>
              <a:rPr lang="zh-CN" altLang="en-US" dirty="0"/>
              <a:t>标志矩阵的含义</a:t>
            </a:r>
            <a:endParaRPr lang="zh-CN" altLang="en-US" dirty="0"/>
          </a:p>
          <a:p>
            <a:pPr lvl="2"/>
            <a:r>
              <a:rPr lang="en-US" altLang="zh-CN" dirty="0"/>
              <a:t>mark[</a:t>
            </a:r>
            <a:r>
              <a:rPr lang="en-US" altLang="zh-CN" dirty="0" err="1"/>
              <a:t>i</a:t>
            </a:r>
            <a:r>
              <a:rPr lang="en-US" altLang="zh-CN" dirty="0"/>
              <a:t>][j] </a:t>
            </a:r>
            <a:r>
              <a:rPr lang="zh-CN" altLang="en-US" dirty="0"/>
              <a:t>为</a:t>
            </a:r>
            <a:r>
              <a:rPr lang="en-US" altLang="zh-CN" dirty="0"/>
              <a:t>1</a:t>
            </a:r>
            <a:r>
              <a:rPr lang="zh-CN" altLang="en-US" dirty="0"/>
              <a:t>表示该位置已走过</a:t>
            </a:r>
            <a:r>
              <a:rPr lang="en-US" altLang="zh-CN" dirty="0"/>
              <a:t>; </a:t>
            </a:r>
            <a:endParaRPr lang="en-US" altLang="zh-CN" dirty="0"/>
          </a:p>
          <a:p>
            <a:pPr lvl="2"/>
            <a:r>
              <a:rPr lang="en-US" altLang="zh-CN" dirty="0"/>
              <a:t>mark[</a:t>
            </a:r>
            <a:r>
              <a:rPr lang="en-US" altLang="zh-CN" dirty="0" err="1"/>
              <a:t>i</a:t>
            </a:r>
            <a:r>
              <a:rPr lang="en-US" altLang="zh-CN" dirty="0"/>
              <a:t>][j] </a:t>
            </a:r>
            <a:r>
              <a:rPr lang="zh-CN" altLang="en-US" dirty="0"/>
              <a:t>为</a:t>
            </a:r>
            <a:r>
              <a:rPr lang="en-US" altLang="zh-CN" dirty="0"/>
              <a:t>0</a:t>
            </a:r>
            <a:r>
              <a:rPr lang="zh-CN" altLang="en-US" dirty="0"/>
              <a:t>表示该位置尚未走过。</a:t>
            </a: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dirty="0"/>
              <a:t>迷宫问题的递归算法伪代码</a:t>
            </a:r>
            <a:endParaRPr lang="zh-CN" altLang="en-US" dirty="0"/>
          </a:p>
        </p:txBody>
      </p:sp>
      <p:sp>
        <p:nvSpPr>
          <p:cNvPr id="83971" name="Rectangle 3"/>
          <p:cNvSpPr>
            <a:spLocks noGrp="1" noChangeArrowheads="1"/>
          </p:cNvSpPr>
          <p:nvPr>
            <p:ph idx="1"/>
          </p:nvPr>
        </p:nvSpPr>
        <p:spPr/>
        <p:txBody>
          <a:bodyPr>
            <a:normAutofit fontScale="40000" lnSpcReduction="20000"/>
          </a:bodyPr>
          <a:lstStyle/>
          <a:p>
            <a:pPr marL="0" indent="0" eaLnBrk="1" hangingPunct="1">
              <a:buNone/>
            </a:pPr>
            <a:r>
              <a:rPr lang="en-US" altLang="zh-CN" dirty="0"/>
              <a:t>bool </a:t>
            </a:r>
            <a:r>
              <a:rPr lang="en-US" altLang="zh-CN" dirty="0" err="1"/>
              <a:t>pathRcv</a:t>
            </a:r>
            <a:r>
              <a:rPr lang="en-US" altLang="zh-CN" dirty="0"/>
              <a:t>(int </a:t>
            </a:r>
            <a:r>
              <a:rPr lang="en-US" altLang="zh-CN" dirty="0" err="1"/>
              <a:t>startx,int</a:t>
            </a:r>
            <a:r>
              <a:rPr lang="en-US" altLang="zh-CN" dirty="0"/>
              <a:t> </a:t>
            </a:r>
            <a:r>
              <a:rPr lang="en-US" altLang="zh-CN" dirty="0" err="1"/>
              <a:t>starty</a:t>
            </a:r>
            <a:r>
              <a:rPr lang="en-US" altLang="zh-CN" dirty="0"/>
              <a:t>, int m, int p)  {     //</a:t>
            </a:r>
            <a:r>
              <a:rPr lang="zh-CN" altLang="en-US" dirty="0"/>
              <a:t>算法输出迷宫的一条路径。</a:t>
            </a:r>
            <a:endParaRPr lang="zh-CN" altLang="en-US" dirty="0"/>
          </a:p>
          <a:p>
            <a:pPr marL="0" indent="0" eaLnBrk="1" hangingPunct="1">
              <a:buNone/>
            </a:pPr>
            <a:r>
              <a:rPr lang="zh-CN" altLang="en-US" dirty="0"/>
              <a:t>    </a:t>
            </a:r>
            <a:r>
              <a:rPr lang="en-US" altLang="zh-CN" dirty="0"/>
              <a:t>...   //</a:t>
            </a:r>
            <a:r>
              <a:rPr lang="zh-CN" altLang="en-US" dirty="0"/>
              <a:t>各种变量定义和初始化</a:t>
            </a:r>
            <a:endParaRPr lang="zh-CN" altLang="en-US" dirty="0"/>
          </a:p>
          <a:p>
            <a:pPr marL="0" indent="0" eaLnBrk="1" hangingPunct="1">
              <a:buNone/>
            </a:pPr>
            <a:r>
              <a:rPr lang="zh-CN" altLang="en-US" dirty="0"/>
              <a:t>    </a:t>
            </a:r>
            <a:r>
              <a:rPr lang="en-US" altLang="zh-CN" dirty="0"/>
              <a:t>if (</a:t>
            </a:r>
            <a:r>
              <a:rPr lang="en-US" altLang="zh-CN" dirty="0" err="1"/>
              <a:t>startx</a:t>
            </a:r>
            <a:r>
              <a:rPr lang="en-US" altLang="zh-CN" dirty="0"/>
              <a:t>==m &amp;&amp; </a:t>
            </a:r>
            <a:r>
              <a:rPr lang="en-US" altLang="zh-CN" dirty="0" err="1"/>
              <a:t>starty</a:t>
            </a:r>
            <a:r>
              <a:rPr lang="en-US" altLang="zh-CN" dirty="0"/>
              <a:t>==p)	{  //</a:t>
            </a:r>
            <a:r>
              <a:rPr lang="zh-CN" altLang="en-US" dirty="0"/>
              <a:t>达到出口</a:t>
            </a:r>
            <a:endParaRPr lang="zh-CN" altLang="en-US" dirty="0"/>
          </a:p>
          <a:p>
            <a:pPr marL="0" indent="0" eaLnBrk="1" hangingPunct="1">
              <a:buNone/>
            </a:pPr>
            <a:r>
              <a:rPr lang="zh-CN" altLang="en-US" dirty="0"/>
              <a:t>        </a:t>
            </a:r>
            <a:r>
              <a:rPr lang="en-US" altLang="zh-CN" dirty="0"/>
              <a:t>...//</a:t>
            </a:r>
            <a:r>
              <a:rPr lang="zh-CN" altLang="en-US" dirty="0"/>
              <a:t>输出栈中保存的路径</a:t>
            </a:r>
            <a:endParaRPr lang="zh-CN" altLang="en-US" dirty="0"/>
          </a:p>
          <a:p>
            <a:pPr marL="0" indent="0" eaLnBrk="1" hangingPunct="1">
              <a:buNone/>
            </a:pPr>
            <a:r>
              <a:rPr lang="zh-CN" altLang="en-US" dirty="0"/>
              <a:t>        </a:t>
            </a:r>
            <a:r>
              <a:rPr lang="en-US" altLang="zh-CN" dirty="0"/>
              <a:t>return true;</a:t>
            </a:r>
            <a:endParaRPr lang="en-US" altLang="zh-CN" dirty="0"/>
          </a:p>
          <a:p>
            <a:pPr marL="0" indent="0" eaLnBrk="1" hangingPunct="1">
              <a:buNone/>
            </a:pPr>
            <a:r>
              <a:rPr lang="en-US" altLang="zh-CN" dirty="0"/>
              <a:t>    }</a:t>
            </a:r>
            <a:endParaRPr lang="en-US" altLang="zh-CN" dirty="0"/>
          </a:p>
          <a:p>
            <a:pPr marL="0" indent="0" eaLnBrk="1" hangingPunct="1">
              <a:buNone/>
            </a:pPr>
            <a:r>
              <a:rPr lang="en-US" altLang="zh-CN" dirty="0"/>
              <a:t>    if (Maze[</a:t>
            </a:r>
            <a:r>
              <a:rPr lang="en-US" altLang="zh-CN" dirty="0" err="1"/>
              <a:t>startx</a:t>
            </a:r>
            <a:r>
              <a:rPr lang="en-US" altLang="zh-CN" dirty="0"/>
              <a:t>][</a:t>
            </a:r>
            <a:r>
              <a:rPr lang="en-US" altLang="zh-CN" dirty="0" err="1"/>
              <a:t>starty</a:t>
            </a:r>
            <a:r>
              <a:rPr lang="en-US" altLang="zh-CN" dirty="0"/>
              <a:t>] == 0 &amp;&amp; mark[</a:t>
            </a:r>
            <a:r>
              <a:rPr lang="en-US" altLang="zh-CN" dirty="0" err="1"/>
              <a:t>startx</a:t>
            </a:r>
            <a:r>
              <a:rPr lang="en-US" altLang="zh-CN" dirty="0"/>
              <a:t>][</a:t>
            </a:r>
            <a:r>
              <a:rPr lang="en-US" altLang="zh-CN" dirty="0" err="1"/>
              <a:t>starty</a:t>
            </a:r>
            <a:r>
              <a:rPr lang="en-US" altLang="zh-CN" dirty="0"/>
              <a:t>] == 0 )        mark[</a:t>
            </a:r>
            <a:r>
              <a:rPr lang="en-US" altLang="zh-CN" dirty="0" err="1"/>
              <a:t>startx</a:t>
            </a:r>
            <a:r>
              <a:rPr lang="en-US" altLang="zh-CN" dirty="0"/>
              <a:t>][</a:t>
            </a:r>
            <a:r>
              <a:rPr lang="en-US" altLang="zh-CN" dirty="0" err="1"/>
              <a:t>starty</a:t>
            </a:r>
            <a:r>
              <a:rPr lang="en-US" altLang="zh-CN" dirty="0"/>
              <a:t>]=1;</a:t>
            </a:r>
            <a:endParaRPr lang="en-US" altLang="zh-CN" dirty="0"/>
          </a:p>
          <a:p>
            <a:pPr marL="0" indent="0" eaLnBrk="1" hangingPunct="1">
              <a:buNone/>
            </a:pPr>
            <a:r>
              <a:rPr lang="en-US" altLang="zh-CN" dirty="0"/>
              <a:t>    else return false;     //</a:t>
            </a:r>
            <a:r>
              <a:rPr lang="zh-CN" altLang="en-US" dirty="0"/>
              <a:t>之前已经试探过</a:t>
            </a:r>
            <a:endParaRPr lang="zh-CN" altLang="en-US" dirty="0"/>
          </a:p>
          <a:p>
            <a:pPr marL="0" indent="0" eaLnBrk="1" hangingPunct="1">
              <a:buNone/>
            </a:pPr>
            <a:endParaRPr lang="zh-CN" altLang="en-US" dirty="0"/>
          </a:p>
          <a:p>
            <a:pPr marL="0" indent="0" eaLnBrk="1" hangingPunct="1">
              <a:buNone/>
            </a:pPr>
            <a:r>
              <a:rPr lang="zh-CN" altLang="en-US" dirty="0"/>
              <a:t>    </a:t>
            </a:r>
            <a:r>
              <a:rPr lang="en-US" altLang="zh-CN" dirty="0"/>
              <a:t>for(</a:t>
            </a:r>
            <a:r>
              <a:rPr lang="en-US" altLang="zh-CN" dirty="0" err="1"/>
              <a:t>i</a:t>
            </a:r>
            <a:r>
              <a:rPr lang="en-US" altLang="zh-CN" dirty="0"/>
              <a:t>=0;i&lt;=7;i++) {</a:t>
            </a:r>
            <a:endParaRPr lang="en-US" altLang="zh-CN" dirty="0"/>
          </a:p>
          <a:p>
            <a:pPr marL="0" indent="0" eaLnBrk="1" hangingPunct="1">
              <a:buNone/>
            </a:pPr>
            <a:r>
              <a:rPr lang="en-US" altLang="zh-CN" dirty="0"/>
              <a:t>        g=</a:t>
            </a:r>
            <a:r>
              <a:rPr lang="en-US" altLang="zh-CN" dirty="0" err="1"/>
              <a:t>startx+move</a:t>
            </a:r>
            <a:r>
              <a:rPr lang="en-US" altLang="zh-CN" dirty="0"/>
              <a:t>[</a:t>
            </a:r>
            <a:r>
              <a:rPr lang="en-US" altLang="zh-CN" dirty="0" err="1"/>
              <a:t>i</a:t>
            </a:r>
            <a:r>
              <a:rPr lang="en-US" altLang="zh-CN" dirty="0"/>
              <a:t>].a; h=</a:t>
            </a:r>
            <a:r>
              <a:rPr lang="en-US" altLang="zh-CN" dirty="0" err="1"/>
              <a:t>starty+move</a:t>
            </a:r>
            <a:r>
              <a:rPr lang="en-US" altLang="zh-CN" dirty="0"/>
              <a:t>[</a:t>
            </a:r>
            <a:r>
              <a:rPr lang="en-US" altLang="zh-CN" dirty="0" err="1"/>
              <a:t>i</a:t>
            </a:r>
            <a:r>
              <a:rPr lang="en-US" altLang="zh-CN" dirty="0"/>
              <a:t>].b;    //</a:t>
            </a:r>
            <a:r>
              <a:rPr lang="zh-CN" altLang="en-US" dirty="0"/>
              <a:t>找下一位置</a:t>
            </a:r>
            <a:r>
              <a:rPr lang="en-US" altLang="zh-CN" dirty="0"/>
              <a:t>[g][h]</a:t>
            </a:r>
            <a:endParaRPr lang="en-US" altLang="zh-CN" dirty="0"/>
          </a:p>
          <a:p>
            <a:pPr marL="0" indent="0" eaLnBrk="1" hangingPunct="1">
              <a:buNone/>
            </a:pPr>
            <a:r>
              <a:rPr lang="en-US" altLang="zh-CN" dirty="0"/>
              <a:t>        if(</a:t>
            </a:r>
            <a:r>
              <a:rPr lang="en-US" altLang="zh-CN" dirty="0" err="1"/>
              <a:t>pathRcv</a:t>
            </a:r>
            <a:r>
              <a:rPr lang="en-US" altLang="zh-CN" dirty="0"/>
              <a:t>(</a:t>
            </a:r>
            <a:r>
              <a:rPr lang="en-US" altLang="zh-CN" dirty="0" err="1"/>
              <a:t>g,h</a:t>
            </a:r>
            <a:r>
              <a:rPr lang="en-US" altLang="zh-CN" dirty="0"/>
              <a:t>, </a:t>
            </a:r>
            <a:r>
              <a:rPr lang="en-US" altLang="zh-CN" dirty="0" err="1"/>
              <a:t>m,p</a:t>
            </a:r>
            <a:r>
              <a:rPr lang="en-US" altLang="zh-CN" dirty="0"/>
              <a:t>)) return true;</a:t>
            </a:r>
            <a:endParaRPr lang="en-US" altLang="zh-CN" dirty="0"/>
          </a:p>
          <a:p>
            <a:pPr marL="0" indent="0" eaLnBrk="1" hangingPunct="1">
              <a:buNone/>
            </a:pPr>
            <a:r>
              <a:rPr lang="en-US" altLang="zh-CN" dirty="0"/>
              <a:t>    }</a:t>
            </a:r>
            <a:endParaRPr lang="en-US" altLang="zh-CN" dirty="0"/>
          </a:p>
          <a:p>
            <a:pPr marL="0" indent="0" eaLnBrk="1" hangingPunct="1">
              <a:buNone/>
            </a:pPr>
            <a:r>
              <a:rPr lang="en-US" altLang="zh-CN" dirty="0"/>
              <a:t>   return false;</a:t>
            </a:r>
            <a:endParaRPr lang="en-US" altLang="zh-CN" dirty="0"/>
          </a:p>
          <a:p>
            <a:pPr marL="0" indent="0" eaLnBrk="1" hangingPunct="1">
              <a:buNone/>
            </a:pPr>
            <a:r>
              <a:rPr lang="en-US" altLang="zh-CN" dirty="0"/>
              <a:t>}</a:t>
            </a:r>
            <a:endParaRPr lang="en-US" altLang="zh-CN"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非递归算法</a:t>
            </a:r>
            <a:endParaRPr lang="zh-CN" altLang="en-US" dirty="0"/>
          </a:p>
        </p:txBody>
      </p:sp>
      <p:sp>
        <p:nvSpPr>
          <p:cNvPr id="3" name="内容占位符 2"/>
          <p:cNvSpPr>
            <a:spLocks noGrp="1"/>
          </p:cNvSpPr>
          <p:nvPr>
            <p:ph idx="1"/>
          </p:nvPr>
        </p:nvSpPr>
        <p:spPr>
          <a:xfrm>
            <a:off x="628650" y="1825625"/>
            <a:ext cx="8119814" cy="4351338"/>
          </a:xfrm>
        </p:spPr>
        <p:txBody>
          <a:bodyPr>
            <a:normAutofit fontScale="92500" lnSpcReduction="10000"/>
          </a:bodyPr>
          <a:lstStyle/>
          <a:p>
            <a:r>
              <a:rPr lang="zh-CN" altLang="en-US" dirty="0"/>
              <a:t>用栈存储试探过程中所走过的路径。一旦需要回退，可以根据栈中保存的记录进行回溯，再尝试其它方向。</a:t>
            </a:r>
            <a:endParaRPr lang="zh-CN" altLang="en-US" dirty="0"/>
          </a:p>
          <a:p>
            <a:r>
              <a:rPr lang="zh-CN" altLang="en-US" dirty="0"/>
              <a:t>如果栈空，则表示已经回退到开始位置。</a:t>
            </a:r>
            <a:endParaRPr lang="zh-CN" altLang="en-US" dirty="0"/>
          </a:p>
          <a:p>
            <a:r>
              <a:rPr lang="zh-CN" altLang="en-US" dirty="0"/>
              <a:t>栈中数据可用如下三元组表示：</a:t>
            </a:r>
            <a:endParaRPr lang="en-US" altLang="zh-CN" dirty="0"/>
          </a:p>
          <a:p>
            <a:pPr marL="0" indent="0">
              <a:buNone/>
            </a:pPr>
            <a:r>
              <a:rPr lang="en-US" altLang="zh-CN" dirty="0"/>
              <a:t>  struct items { //</a:t>
            </a:r>
            <a:r>
              <a:rPr lang="zh-CN" altLang="en-US" dirty="0"/>
              <a:t>栈中的三元组结构</a:t>
            </a:r>
            <a:endParaRPr lang="zh-CN" altLang="en-US" dirty="0"/>
          </a:p>
          <a:p>
            <a:pPr marL="0" indent="0">
              <a:buNone/>
            </a:pPr>
            <a:r>
              <a:rPr lang="zh-CN" altLang="en-US" dirty="0"/>
              <a:t>      </a:t>
            </a:r>
            <a:r>
              <a:rPr lang="en-US" altLang="zh-CN" dirty="0"/>
              <a:t>int x, y, </a:t>
            </a:r>
            <a:r>
              <a:rPr lang="en-US" altLang="zh-CN" dirty="0" err="1"/>
              <a:t>dir</a:t>
            </a:r>
            <a:r>
              <a:rPr lang="en-US" altLang="zh-CN" dirty="0"/>
              <a:t>; </a:t>
            </a:r>
            <a:endParaRPr lang="en-US" altLang="zh-CN" dirty="0"/>
          </a:p>
          <a:p>
            <a:pPr marL="0" indent="0">
              <a:buNone/>
            </a:pPr>
            <a:r>
              <a:rPr lang="en-US" altLang="zh-CN" dirty="0"/>
              <a:t>  }</a:t>
            </a:r>
            <a:endParaRPr lang="en-US" altLang="zh-CN"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迷宫算法框架</a:t>
            </a:r>
            <a:endParaRPr lang="zh-CN" altLang="en-US" dirty="0"/>
          </a:p>
        </p:txBody>
      </p:sp>
      <p:sp>
        <p:nvSpPr>
          <p:cNvPr id="3" name="内容占位符 2"/>
          <p:cNvSpPr>
            <a:spLocks noGrp="1"/>
          </p:cNvSpPr>
          <p:nvPr>
            <p:ph idx="1"/>
          </p:nvPr>
        </p:nvSpPr>
        <p:spPr>
          <a:xfrm>
            <a:off x="179512" y="1556792"/>
            <a:ext cx="8784976" cy="5112568"/>
          </a:xfrm>
        </p:spPr>
        <p:txBody>
          <a:bodyPr>
            <a:normAutofit fontScale="92500" lnSpcReduction="10000"/>
          </a:bodyPr>
          <a:lstStyle/>
          <a:p>
            <a:r>
              <a:rPr lang="zh-CN" altLang="en-US" sz="1800" dirty="0"/>
              <a:t>先初始化工作栈、迷宫入口坐标和“</a:t>
            </a:r>
            <a:r>
              <a:rPr lang="en-US" altLang="zh-CN" sz="1800" dirty="0"/>
              <a:t>E”</a:t>
            </a:r>
            <a:r>
              <a:rPr lang="zh-CN" altLang="en-US" sz="1800" dirty="0"/>
              <a:t>方向进栈。初始化</a:t>
            </a:r>
            <a:r>
              <a:rPr lang="en-US" altLang="zh-CN" sz="1800" dirty="0"/>
              <a:t>mark[m+2][p+2]</a:t>
            </a:r>
            <a:r>
              <a:rPr lang="zh-CN" altLang="en-US" sz="1800" dirty="0"/>
              <a:t>数组为</a:t>
            </a:r>
            <a:r>
              <a:rPr lang="en-US" altLang="zh-CN" sz="1800" dirty="0"/>
              <a:t>0</a:t>
            </a:r>
            <a:endParaRPr lang="en-US" altLang="zh-CN" sz="1800" dirty="0"/>
          </a:p>
          <a:p>
            <a:r>
              <a:rPr lang="zh-CN" altLang="en-US" sz="1800" dirty="0"/>
              <a:t>然后做以下循环</a:t>
            </a:r>
            <a:endParaRPr lang="en-US" altLang="zh-CN" sz="1800" dirty="0"/>
          </a:p>
          <a:p>
            <a:pPr marL="0" indent="0">
              <a:buNone/>
            </a:pPr>
            <a:r>
              <a:rPr lang="en-US" altLang="zh-CN" sz="1800" dirty="0"/>
              <a:t>  while  (</a:t>
            </a:r>
            <a:r>
              <a:rPr lang="zh-CN" altLang="en-US" sz="1800" dirty="0"/>
              <a:t>栈非空</a:t>
            </a:r>
            <a:r>
              <a:rPr lang="en-US" altLang="zh-CN" sz="1800" dirty="0"/>
              <a:t>)  {</a:t>
            </a:r>
            <a:endParaRPr lang="en-US" altLang="zh-CN" sz="1800" dirty="0"/>
          </a:p>
          <a:p>
            <a:pPr marL="0" indent="0">
              <a:buNone/>
            </a:pPr>
            <a:r>
              <a:rPr lang="en-US" altLang="zh-CN" sz="1800" dirty="0"/>
              <a:t>      (</a:t>
            </a:r>
            <a:r>
              <a:rPr lang="en-US" altLang="zh-CN" sz="1800" dirty="0" err="1"/>
              <a:t>i,j,dir</a:t>
            </a:r>
            <a:r>
              <a:rPr lang="en-US" altLang="zh-CN" sz="1800" dirty="0"/>
              <a:t>) </a:t>
            </a:r>
            <a:r>
              <a:rPr lang="zh-CN" altLang="en-US" sz="1800" dirty="0"/>
              <a:t>为从栈顶退出的坐标和方向</a:t>
            </a:r>
            <a:r>
              <a:rPr lang="en-US" altLang="zh-CN" sz="1800" dirty="0"/>
              <a:t>;</a:t>
            </a:r>
            <a:endParaRPr lang="en-US" altLang="zh-CN" sz="1800" dirty="0"/>
          </a:p>
          <a:p>
            <a:pPr marL="0" indent="0">
              <a:buNone/>
            </a:pPr>
            <a:r>
              <a:rPr lang="en-US" altLang="zh-CN" sz="1800" dirty="0"/>
              <a:t>      while  (</a:t>
            </a:r>
            <a:r>
              <a:rPr lang="zh-CN" altLang="en-US" sz="1800" dirty="0"/>
              <a:t>还有待试探的方向</a:t>
            </a:r>
            <a:r>
              <a:rPr lang="en-US" altLang="zh-CN" sz="1800" dirty="0"/>
              <a:t>)  {</a:t>
            </a:r>
            <a:endParaRPr lang="en-US" altLang="zh-CN" sz="1800" dirty="0"/>
          </a:p>
          <a:p>
            <a:pPr marL="0" indent="0">
              <a:buNone/>
            </a:pPr>
            <a:r>
              <a:rPr lang="en-US" altLang="zh-CN" sz="1800" dirty="0"/>
              <a:t>          (</a:t>
            </a:r>
            <a:r>
              <a:rPr lang="en-US" altLang="zh-CN" sz="1800" dirty="0" err="1"/>
              <a:t>g,h</a:t>
            </a:r>
            <a:r>
              <a:rPr lang="en-US" altLang="zh-CN" sz="1800" dirty="0"/>
              <a:t>) </a:t>
            </a:r>
            <a:r>
              <a:rPr lang="zh-CN" altLang="en-US" sz="1800" dirty="0"/>
              <a:t>为下一试探的坐标</a:t>
            </a:r>
            <a:r>
              <a:rPr lang="en-US" altLang="zh-CN" sz="1800" dirty="0"/>
              <a:t>;</a:t>
            </a:r>
            <a:endParaRPr lang="en-US" altLang="zh-CN" sz="1800" dirty="0"/>
          </a:p>
          <a:p>
            <a:pPr marL="0" indent="0">
              <a:buNone/>
            </a:pPr>
            <a:r>
              <a:rPr lang="en-US" altLang="zh-CN" sz="1800" dirty="0"/>
              <a:t>          if (g == m &amp;&amp; h == p)  </a:t>
            </a:r>
            <a:r>
              <a:rPr lang="zh-CN" altLang="en-US" sz="1800" dirty="0"/>
              <a:t>迷宫搜索成功，返回；</a:t>
            </a:r>
            <a:r>
              <a:rPr lang="en-US" altLang="zh-CN" sz="1800" dirty="0"/>
              <a:t>//</a:t>
            </a:r>
            <a:r>
              <a:rPr lang="zh-CN" altLang="en-US" sz="1800" dirty="0"/>
              <a:t>出口在</a:t>
            </a:r>
            <a:r>
              <a:rPr lang="en-US" altLang="zh-CN" sz="1800" dirty="0"/>
              <a:t>maze[m][p] </a:t>
            </a:r>
            <a:endParaRPr lang="en-US" altLang="zh-CN" sz="1800" dirty="0"/>
          </a:p>
          <a:p>
            <a:pPr marL="0" indent="0">
              <a:buNone/>
            </a:pPr>
            <a:r>
              <a:rPr lang="en-US" altLang="zh-CN" sz="1800" dirty="0"/>
              <a:t>          if (!maze[g][h] &amp;&amp; !mark[g][h]){     //</a:t>
            </a:r>
            <a:r>
              <a:rPr lang="zh-CN" altLang="en-US" sz="1800" dirty="0"/>
              <a:t>合法的移动且从未走过</a:t>
            </a:r>
            <a:endParaRPr lang="zh-CN" altLang="en-US" sz="1800" dirty="0"/>
          </a:p>
          <a:p>
            <a:pPr marL="0" indent="0">
              <a:buNone/>
            </a:pPr>
            <a:r>
              <a:rPr lang="zh-CN" altLang="en-US" sz="1800" dirty="0"/>
              <a:t>                </a:t>
            </a:r>
            <a:r>
              <a:rPr lang="en-US" altLang="zh-CN" sz="1800" dirty="0"/>
              <a:t>mark[g][h] = 1;       </a:t>
            </a:r>
            <a:r>
              <a:rPr lang="en-US" altLang="zh-CN" sz="1800" dirty="0" err="1"/>
              <a:t>dir</a:t>
            </a:r>
            <a:r>
              <a:rPr lang="en-US" altLang="zh-CN" sz="1800" dirty="0"/>
              <a:t> = </a:t>
            </a:r>
            <a:r>
              <a:rPr lang="zh-CN" altLang="en-US" sz="1800" dirty="0"/>
              <a:t>下一次将要移动的方向；</a:t>
            </a:r>
            <a:endParaRPr lang="zh-CN" altLang="en-US" sz="1800" dirty="0"/>
          </a:p>
          <a:p>
            <a:pPr marL="0" indent="0">
              <a:buNone/>
            </a:pPr>
            <a:r>
              <a:rPr lang="zh-CN" altLang="en-US" sz="1800" dirty="0"/>
              <a:t>                </a:t>
            </a:r>
            <a:r>
              <a:rPr lang="en-US" altLang="zh-CN" sz="1800" dirty="0"/>
              <a:t>(</a:t>
            </a:r>
            <a:r>
              <a:rPr lang="en-US" altLang="zh-CN" sz="1800" dirty="0" err="1"/>
              <a:t>i,j,dir</a:t>
            </a:r>
            <a:r>
              <a:rPr lang="en-US" altLang="zh-CN" sz="1800" dirty="0"/>
              <a:t>) </a:t>
            </a:r>
            <a:r>
              <a:rPr lang="zh-CN" altLang="en-US" sz="1800" dirty="0"/>
              <a:t>进栈；  </a:t>
            </a:r>
            <a:r>
              <a:rPr lang="en-US" altLang="zh-CN" sz="1800" dirty="0" err="1"/>
              <a:t>i</a:t>
            </a:r>
            <a:r>
              <a:rPr lang="en-US" altLang="zh-CN" sz="1800" dirty="0"/>
              <a:t> = g;   j = h;	//</a:t>
            </a:r>
            <a:r>
              <a:rPr lang="zh-CN" altLang="en-US" sz="1800" dirty="0"/>
              <a:t>当前位置</a:t>
            </a:r>
            <a:r>
              <a:rPr lang="en-US" altLang="zh-CN" sz="1800" dirty="0"/>
              <a:t>[</a:t>
            </a:r>
            <a:r>
              <a:rPr lang="en-US" altLang="zh-CN" sz="1800" dirty="0" err="1"/>
              <a:t>i</a:t>
            </a:r>
            <a:r>
              <a:rPr lang="en-US" altLang="zh-CN" sz="1800" dirty="0"/>
              <a:t>][j]</a:t>
            </a:r>
            <a:r>
              <a:rPr lang="zh-CN" altLang="en-US" sz="1800" dirty="0"/>
              <a:t>移到</a:t>
            </a:r>
            <a:r>
              <a:rPr lang="en-US" altLang="zh-CN" sz="1800" dirty="0"/>
              <a:t>[g][h]</a:t>
            </a:r>
            <a:r>
              <a:rPr lang="zh-CN" altLang="en-US" sz="1800" dirty="0"/>
              <a:t>位置</a:t>
            </a:r>
            <a:endParaRPr lang="zh-CN" altLang="en-US" sz="1800" dirty="0"/>
          </a:p>
          <a:p>
            <a:pPr marL="0" indent="0">
              <a:buNone/>
            </a:pPr>
            <a:r>
              <a:rPr lang="zh-CN" altLang="en-US" sz="1800" dirty="0"/>
              <a:t>                </a:t>
            </a:r>
            <a:r>
              <a:rPr lang="en-US" altLang="zh-CN" sz="1800" dirty="0"/>
              <a:t>d = 0;		//</a:t>
            </a:r>
            <a:r>
              <a:rPr lang="zh-CN" altLang="en-US" sz="1800" dirty="0"/>
              <a:t>方向置“北”</a:t>
            </a:r>
            <a:endParaRPr lang="zh-CN" altLang="en-US" sz="1800" dirty="0"/>
          </a:p>
          <a:p>
            <a:pPr marL="0" indent="0">
              <a:buNone/>
            </a:pPr>
            <a:r>
              <a:rPr lang="zh-CN" altLang="en-US" sz="1800" dirty="0"/>
              <a:t>          </a:t>
            </a:r>
            <a:r>
              <a:rPr lang="en-US" altLang="zh-CN" sz="1800" dirty="0"/>
              <a:t>}</a:t>
            </a:r>
            <a:endParaRPr lang="en-US" altLang="zh-CN" sz="1800" dirty="0"/>
          </a:p>
          <a:p>
            <a:pPr marL="0" indent="0">
              <a:buNone/>
            </a:pPr>
            <a:r>
              <a:rPr lang="en-US" altLang="zh-CN" sz="1800" dirty="0"/>
              <a:t>          else d++;</a:t>
            </a:r>
            <a:endParaRPr lang="en-US" altLang="zh-CN" sz="1800" dirty="0"/>
          </a:p>
          <a:p>
            <a:pPr marL="0" indent="0">
              <a:buNone/>
            </a:pPr>
            <a:r>
              <a:rPr lang="en-US" altLang="zh-CN" sz="1800" dirty="0"/>
              <a:t>      }</a:t>
            </a:r>
            <a:endParaRPr lang="en-US" altLang="zh-CN" sz="1800" dirty="0"/>
          </a:p>
          <a:p>
            <a:pPr marL="0" indent="0">
              <a:buNone/>
            </a:pPr>
            <a:r>
              <a:rPr lang="en-US" altLang="zh-CN" sz="1800" dirty="0"/>
              <a:t>  }</a:t>
            </a:r>
            <a:endParaRPr lang="en-US" altLang="zh-CN" sz="1800"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flipH="1">
            <a:off x="215900" y="116633"/>
            <a:ext cx="467668" cy="6336703"/>
          </a:xfrm>
        </p:spPr>
        <p:txBody>
          <a:bodyPr>
            <a:noAutofit/>
          </a:bodyPr>
          <a:lstStyle/>
          <a:p>
            <a:pPr algn="ctr"/>
            <a:r>
              <a:rPr lang="zh-CN" altLang="en-US" sz="3200" dirty="0"/>
              <a:t>迷宫问题算法的程序实现</a:t>
            </a:r>
            <a:endParaRPr lang="zh-CN" altLang="en-US" sz="3200" dirty="0"/>
          </a:p>
        </p:txBody>
      </p:sp>
      <p:sp>
        <p:nvSpPr>
          <p:cNvPr id="3" name="内容占位符 2"/>
          <p:cNvSpPr>
            <a:spLocks noGrp="1"/>
          </p:cNvSpPr>
          <p:nvPr>
            <p:ph idx="1"/>
          </p:nvPr>
        </p:nvSpPr>
        <p:spPr>
          <a:xfrm>
            <a:off x="899592" y="116634"/>
            <a:ext cx="8028508" cy="6624736"/>
          </a:xfrm>
        </p:spPr>
        <p:txBody>
          <a:bodyPr>
            <a:normAutofit fontScale="92500" lnSpcReduction="20000"/>
          </a:bodyPr>
          <a:lstStyle/>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void path(int m, int p)  {     //</a:t>
            </a:r>
            <a:r>
              <a:rPr kumimoji="1" lang="zh-CN" altLang="en-US" sz="1800" dirty="0">
                <a:solidFill>
                  <a:schemeClr val="tx2"/>
                </a:solidFill>
                <a:latin typeface="Times New Roman" panose="02020603050405020304" pitchFamily="18" charset="0"/>
                <a:ea typeface="楷体_GB2312" panose="02010609030101010101" pitchFamily="49" charset="-122"/>
              </a:rPr>
              <a:t>算法输出迷宫的一条路径。</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int </a:t>
            </a:r>
            <a:r>
              <a:rPr kumimoji="1" lang="en-US" altLang="zh-CN" sz="1800" dirty="0" err="1">
                <a:solidFill>
                  <a:schemeClr val="tx2"/>
                </a:solidFill>
                <a:latin typeface="Times New Roman" panose="02020603050405020304" pitchFamily="18" charset="0"/>
                <a:ea typeface="楷体_GB2312" panose="02010609030101010101" pitchFamily="49" charset="-122"/>
              </a:rPr>
              <a:t>i</a:t>
            </a:r>
            <a:r>
              <a:rPr kumimoji="1" lang="en-US" altLang="zh-CN" sz="1800" dirty="0">
                <a:solidFill>
                  <a:schemeClr val="tx2"/>
                </a:solidFill>
                <a:latin typeface="Times New Roman" panose="02020603050405020304" pitchFamily="18" charset="0"/>
                <a:ea typeface="楷体_GB2312" panose="02010609030101010101" pitchFamily="49" charset="-122"/>
              </a:rPr>
              <a:t>, j, d, g, h;   mark[1][0]=1;    //(1,0)</a:t>
            </a:r>
            <a:r>
              <a:rPr kumimoji="1" lang="zh-CN" altLang="en-US" sz="1800" dirty="0">
                <a:solidFill>
                  <a:schemeClr val="tx2"/>
                </a:solidFill>
                <a:latin typeface="Times New Roman" panose="02020603050405020304" pitchFamily="18" charset="0"/>
                <a:ea typeface="楷体_GB2312" panose="02010609030101010101" pitchFamily="49" charset="-122"/>
              </a:rPr>
              <a:t>是入口</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items </a:t>
            </a:r>
            <a:r>
              <a:rPr kumimoji="1" lang="en-US" altLang="zh-CN" sz="1800" dirty="0" err="1">
                <a:solidFill>
                  <a:schemeClr val="tx2"/>
                </a:solidFill>
                <a:latin typeface="Times New Roman" panose="02020603050405020304" pitchFamily="18" charset="0"/>
                <a:ea typeface="楷体_GB2312" panose="02010609030101010101" pitchFamily="49" charset="-122"/>
              </a:rPr>
              <a:t>tmp</a:t>
            </a: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tmp.x</a:t>
            </a:r>
            <a:r>
              <a:rPr kumimoji="1" lang="en-US" altLang="zh-CN" sz="1800" dirty="0">
                <a:solidFill>
                  <a:schemeClr val="tx2"/>
                </a:solidFill>
                <a:latin typeface="Times New Roman" panose="02020603050405020304" pitchFamily="18" charset="0"/>
                <a:ea typeface="楷体_GB2312" panose="02010609030101010101" pitchFamily="49" charset="-122"/>
              </a:rPr>
              <a:t>=1; </a:t>
            </a:r>
            <a:r>
              <a:rPr kumimoji="1" lang="en-US" altLang="zh-CN" sz="1800" dirty="0" err="1">
                <a:solidFill>
                  <a:schemeClr val="tx2"/>
                </a:solidFill>
                <a:latin typeface="Times New Roman" panose="02020603050405020304" pitchFamily="18" charset="0"/>
                <a:ea typeface="楷体_GB2312" panose="02010609030101010101" pitchFamily="49" charset="-122"/>
              </a:rPr>
              <a:t>tmp.y</a:t>
            </a:r>
            <a:r>
              <a:rPr kumimoji="1" lang="en-US" altLang="zh-CN" sz="1800" dirty="0">
                <a:solidFill>
                  <a:schemeClr val="tx2"/>
                </a:solidFill>
                <a:latin typeface="Times New Roman" panose="02020603050405020304" pitchFamily="18" charset="0"/>
                <a:ea typeface="楷体_GB2312" panose="02010609030101010101" pitchFamily="49" charset="-122"/>
              </a:rPr>
              <a:t>=0; </a:t>
            </a:r>
            <a:r>
              <a:rPr kumimoji="1" lang="en-US" altLang="zh-CN" sz="1800" dirty="0" err="1">
                <a:solidFill>
                  <a:schemeClr val="tx2"/>
                </a:solidFill>
                <a:latin typeface="Times New Roman" panose="02020603050405020304" pitchFamily="18" charset="0"/>
                <a:ea typeface="楷体_GB2312" panose="02010609030101010101" pitchFamily="49" charset="-122"/>
              </a:rPr>
              <a:t>tmp.dir</a:t>
            </a:r>
            <a:r>
              <a:rPr kumimoji="1" lang="en-US" altLang="zh-CN" sz="1800" dirty="0">
                <a:solidFill>
                  <a:schemeClr val="tx2"/>
                </a:solidFill>
                <a:latin typeface="Times New Roman" panose="02020603050405020304" pitchFamily="18" charset="0"/>
                <a:ea typeface="楷体_GB2312" panose="02010609030101010101" pitchFamily="49" charset="-122"/>
              </a:rPr>
              <a:t>=2; //</a:t>
            </a:r>
            <a:r>
              <a:rPr kumimoji="1" lang="zh-CN" altLang="en-US" sz="1800" dirty="0">
                <a:solidFill>
                  <a:schemeClr val="tx2"/>
                </a:solidFill>
                <a:latin typeface="Times New Roman" panose="02020603050405020304" pitchFamily="18" charset="0"/>
                <a:ea typeface="楷体_GB2312" panose="02010609030101010101" pitchFamily="49" charset="-122"/>
              </a:rPr>
              <a:t>初始坐标三元组</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Stack&lt;items&gt; </a:t>
            </a:r>
            <a:r>
              <a:rPr kumimoji="1" lang="en-US" altLang="zh-CN" sz="1800" dirty="0" err="1">
                <a:solidFill>
                  <a:schemeClr val="tx2"/>
                </a:solidFill>
                <a:latin typeface="Times New Roman" panose="02020603050405020304" pitchFamily="18" charset="0"/>
                <a:ea typeface="楷体_GB2312" panose="02010609030101010101" pitchFamily="49" charset="-122"/>
              </a:rPr>
              <a:t>st</a:t>
            </a:r>
            <a:r>
              <a:rPr kumimoji="1" lang="en-US" altLang="zh-CN" sz="1800" dirty="0">
                <a:solidFill>
                  <a:schemeClr val="tx2"/>
                </a:solidFill>
                <a:latin typeface="Times New Roman" panose="02020603050405020304" pitchFamily="18" charset="0"/>
                <a:ea typeface="楷体_GB2312" panose="02010609030101010101" pitchFamily="49" charset="-122"/>
              </a:rPr>
              <a:t> (m * p) ;</a:t>
            </a: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st.Push</a:t>
            </a:r>
            <a:r>
              <a:rPr kumimoji="1" lang="en-US" altLang="zh-CN" sz="1800" dirty="0">
                <a:solidFill>
                  <a:schemeClr val="tx2"/>
                </a:solidFill>
                <a:latin typeface="Times New Roman" panose="02020603050405020304" pitchFamily="18" charset="0"/>
                <a:ea typeface="楷体_GB2312" panose="02010609030101010101" pitchFamily="49" charset="-122"/>
              </a:rPr>
              <a:t>(</a:t>
            </a:r>
            <a:r>
              <a:rPr kumimoji="1" lang="en-US" altLang="zh-CN" sz="1800" dirty="0" err="1">
                <a:solidFill>
                  <a:schemeClr val="tx2"/>
                </a:solidFill>
                <a:latin typeface="Times New Roman" panose="02020603050405020304" pitchFamily="18" charset="0"/>
                <a:ea typeface="楷体_GB2312" panose="02010609030101010101" pitchFamily="49" charset="-122"/>
              </a:rPr>
              <a:t>tmp</a:t>
            </a:r>
            <a:r>
              <a:rPr kumimoji="1" lang="en-US" altLang="zh-CN" sz="1800" dirty="0">
                <a:solidFill>
                  <a:schemeClr val="tx2"/>
                </a:solidFill>
                <a:latin typeface="Times New Roman" panose="02020603050405020304" pitchFamily="18" charset="0"/>
                <a:ea typeface="楷体_GB2312" panose="02010609030101010101" pitchFamily="49" charset="-122"/>
              </a:rPr>
              <a:t>);   // </a:t>
            </a:r>
            <a:r>
              <a:rPr kumimoji="1" lang="zh-CN" altLang="en-US" sz="1800" dirty="0">
                <a:solidFill>
                  <a:schemeClr val="tx2"/>
                </a:solidFill>
                <a:latin typeface="Times New Roman" panose="02020603050405020304" pitchFamily="18" charset="0"/>
                <a:ea typeface="楷体_GB2312" panose="02010609030101010101" pitchFamily="49" charset="-122"/>
              </a:rPr>
              <a:t>设置工作栈，进栈</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while ( !</a:t>
            </a:r>
            <a:r>
              <a:rPr kumimoji="1" lang="en-US" altLang="zh-CN" sz="1800" dirty="0" err="1">
                <a:solidFill>
                  <a:schemeClr val="tx2"/>
                </a:solidFill>
                <a:latin typeface="Times New Roman" panose="02020603050405020304" pitchFamily="18" charset="0"/>
                <a:ea typeface="楷体_GB2312" panose="02010609030101010101" pitchFamily="49" charset="-122"/>
              </a:rPr>
              <a:t>st.empty</a:t>
            </a:r>
            <a:r>
              <a:rPr kumimoji="1" lang="en-US" altLang="zh-CN" sz="1800" dirty="0">
                <a:solidFill>
                  <a:schemeClr val="tx2"/>
                </a:solidFill>
                <a:latin typeface="Times New Roman" panose="02020603050405020304" pitchFamily="18" charset="0"/>
                <a:ea typeface="楷体_GB2312" panose="02010609030101010101" pitchFamily="49" charset="-122"/>
              </a:rPr>
              <a:t>() == false)	{  //</a:t>
            </a:r>
            <a:r>
              <a:rPr kumimoji="1" lang="zh-CN" altLang="en-US" sz="1800" dirty="0">
                <a:solidFill>
                  <a:schemeClr val="tx2"/>
                </a:solidFill>
                <a:latin typeface="Times New Roman" panose="02020603050405020304" pitchFamily="18" charset="0"/>
                <a:ea typeface="楷体_GB2312" panose="02010609030101010101" pitchFamily="49" charset="-122"/>
              </a:rPr>
              <a:t>栈非空，继续前进</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st.Pop</a:t>
            </a:r>
            <a:r>
              <a:rPr kumimoji="1" lang="en-US" altLang="zh-CN" sz="1800" dirty="0">
                <a:solidFill>
                  <a:schemeClr val="tx2"/>
                </a:solidFill>
                <a:latin typeface="Times New Roman" panose="02020603050405020304" pitchFamily="18" charset="0"/>
                <a:ea typeface="楷体_GB2312" panose="02010609030101010101" pitchFamily="49" charset="-122"/>
              </a:rPr>
              <a:t>(</a:t>
            </a:r>
            <a:r>
              <a:rPr kumimoji="1" lang="en-US" altLang="zh-CN" sz="1800" dirty="0" err="1">
                <a:solidFill>
                  <a:schemeClr val="tx2"/>
                </a:solidFill>
                <a:latin typeface="Times New Roman" panose="02020603050405020304" pitchFamily="18" charset="0"/>
                <a:ea typeface="楷体_GB2312" panose="02010609030101010101" pitchFamily="49" charset="-122"/>
              </a:rPr>
              <a:t>tmp</a:t>
            </a: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i</a:t>
            </a:r>
            <a:r>
              <a:rPr kumimoji="1" lang="en-US" altLang="zh-CN" sz="1800" dirty="0">
                <a:solidFill>
                  <a:schemeClr val="tx2"/>
                </a:solidFill>
                <a:latin typeface="Times New Roman" panose="02020603050405020304" pitchFamily="18" charset="0"/>
                <a:ea typeface="楷体_GB2312" panose="02010609030101010101" pitchFamily="49" charset="-122"/>
              </a:rPr>
              <a:t>=</a:t>
            </a:r>
            <a:r>
              <a:rPr kumimoji="1" lang="en-US" altLang="zh-CN" sz="1800" dirty="0" err="1">
                <a:solidFill>
                  <a:schemeClr val="tx2"/>
                </a:solidFill>
                <a:latin typeface="Times New Roman" panose="02020603050405020304" pitchFamily="18" charset="0"/>
                <a:ea typeface="楷体_GB2312" panose="02010609030101010101" pitchFamily="49" charset="-122"/>
              </a:rPr>
              <a:t>tmp.x</a:t>
            </a:r>
            <a:r>
              <a:rPr kumimoji="1" lang="en-US" altLang="zh-CN" sz="1800" dirty="0">
                <a:solidFill>
                  <a:schemeClr val="tx2"/>
                </a:solidFill>
                <a:latin typeface="Times New Roman" panose="02020603050405020304" pitchFamily="18" charset="0"/>
                <a:ea typeface="楷体_GB2312" panose="02010609030101010101" pitchFamily="49" charset="-122"/>
              </a:rPr>
              <a:t>; j=</a:t>
            </a:r>
            <a:r>
              <a:rPr kumimoji="1" lang="en-US" altLang="zh-CN" sz="1800" dirty="0" err="1">
                <a:solidFill>
                  <a:schemeClr val="tx2"/>
                </a:solidFill>
                <a:latin typeface="Times New Roman" panose="02020603050405020304" pitchFamily="18" charset="0"/>
                <a:ea typeface="楷体_GB2312" panose="02010609030101010101" pitchFamily="49" charset="-122"/>
              </a:rPr>
              <a:t>tmp.y</a:t>
            </a:r>
            <a:r>
              <a:rPr kumimoji="1" lang="en-US" altLang="zh-CN" sz="1800" dirty="0">
                <a:solidFill>
                  <a:schemeClr val="tx2"/>
                </a:solidFill>
                <a:latin typeface="Times New Roman" panose="02020603050405020304" pitchFamily="18" charset="0"/>
                <a:ea typeface="楷体_GB2312" panose="02010609030101010101" pitchFamily="49" charset="-122"/>
              </a:rPr>
              <a:t>; d=</a:t>
            </a:r>
            <a:r>
              <a:rPr kumimoji="1" lang="en-US" altLang="zh-CN" sz="1800" dirty="0" err="1">
                <a:solidFill>
                  <a:schemeClr val="tx2"/>
                </a:solidFill>
                <a:latin typeface="Times New Roman" panose="02020603050405020304" pitchFamily="18" charset="0"/>
                <a:ea typeface="楷体_GB2312" panose="02010609030101010101" pitchFamily="49" charset="-122"/>
              </a:rPr>
              <a:t>tmp.dir</a:t>
            </a:r>
            <a:r>
              <a:rPr kumimoji="1" lang="en-US" altLang="zh-CN" sz="1800" dirty="0">
                <a:solidFill>
                  <a:schemeClr val="tx2"/>
                </a:solidFill>
                <a:latin typeface="Times New Roman" panose="02020603050405020304" pitchFamily="18" charset="0"/>
                <a:ea typeface="楷体_GB2312" panose="02010609030101010101" pitchFamily="49" charset="-122"/>
              </a:rPr>
              <a:t>; //d</a:t>
            </a:r>
            <a:r>
              <a:rPr kumimoji="1" lang="zh-CN" altLang="en-US" sz="1800" dirty="0">
                <a:solidFill>
                  <a:schemeClr val="tx2"/>
                </a:solidFill>
                <a:latin typeface="Times New Roman" panose="02020603050405020304" pitchFamily="18" charset="0"/>
                <a:ea typeface="楷体_GB2312" panose="02010609030101010101" pitchFamily="49" charset="-122"/>
              </a:rPr>
              <a:t>为偏移表下标</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while (d&lt;8)	{  //</a:t>
            </a:r>
            <a:r>
              <a:rPr kumimoji="1" lang="zh-CN" altLang="en-US" sz="1800" dirty="0">
                <a:solidFill>
                  <a:schemeClr val="tx2"/>
                </a:solidFill>
                <a:latin typeface="Times New Roman" panose="02020603050405020304" pitchFamily="18" charset="0"/>
                <a:ea typeface="楷体_GB2312" panose="02010609030101010101" pitchFamily="49" charset="-122"/>
              </a:rPr>
              <a:t>还有移动，继续移动</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g=</a:t>
            </a:r>
            <a:r>
              <a:rPr kumimoji="1" lang="en-US" altLang="zh-CN" sz="1800" dirty="0" err="1">
                <a:solidFill>
                  <a:schemeClr val="tx2"/>
                </a:solidFill>
                <a:latin typeface="Times New Roman" panose="02020603050405020304" pitchFamily="18" charset="0"/>
                <a:ea typeface="楷体_GB2312" panose="02010609030101010101" pitchFamily="49" charset="-122"/>
              </a:rPr>
              <a:t>i+move</a:t>
            </a:r>
            <a:r>
              <a:rPr kumimoji="1" lang="en-US" altLang="zh-CN" sz="1800" dirty="0">
                <a:solidFill>
                  <a:schemeClr val="tx2"/>
                </a:solidFill>
                <a:latin typeface="Times New Roman" panose="02020603050405020304" pitchFamily="18" charset="0"/>
                <a:ea typeface="楷体_GB2312" panose="02010609030101010101" pitchFamily="49" charset="-122"/>
              </a:rPr>
              <a:t>[d].a; h=</a:t>
            </a:r>
            <a:r>
              <a:rPr kumimoji="1" lang="en-US" altLang="zh-CN" sz="1800" dirty="0" err="1">
                <a:solidFill>
                  <a:schemeClr val="tx2"/>
                </a:solidFill>
                <a:latin typeface="Times New Roman" panose="02020603050405020304" pitchFamily="18" charset="0"/>
                <a:ea typeface="楷体_GB2312" panose="02010609030101010101" pitchFamily="49" charset="-122"/>
              </a:rPr>
              <a:t>j+move</a:t>
            </a:r>
            <a:r>
              <a:rPr kumimoji="1" lang="en-US" altLang="zh-CN" sz="1800" dirty="0">
                <a:solidFill>
                  <a:schemeClr val="tx2"/>
                </a:solidFill>
                <a:latin typeface="Times New Roman" panose="02020603050405020304" pitchFamily="18" charset="0"/>
                <a:ea typeface="楷体_GB2312" panose="02010609030101010101" pitchFamily="49" charset="-122"/>
              </a:rPr>
              <a:t>[d].b;    //</a:t>
            </a:r>
            <a:r>
              <a:rPr kumimoji="1" lang="zh-CN" altLang="en-US" sz="1800" dirty="0">
                <a:solidFill>
                  <a:schemeClr val="tx2"/>
                </a:solidFill>
                <a:latin typeface="Times New Roman" panose="02020603050405020304" pitchFamily="18" charset="0"/>
                <a:ea typeface="楷体_GB2312" panose="02010609030101010101" pitchFamily="49" charset="-122"/>
              </a:rPr>
              <a:t>找下一位置</a:t>
            </a:r>
            <a:r>
              <a:rPr kumimoji="1" lang="en-US" altLang="zh-CN" sz="1800" dirty="0">
                <a:solidFill>
                  <a:schemeClr val="tx2"/>
                </a:solidFill>
                <a:latin typeface="Times New Roman" panose="02020603050405020304" pitchFamily="18" charset="0"/>
                <a:ea typeface="楷体_GB2312" panose="02010609030101010101" pitchFamily="49" charset="-122"/>
              </a:rPr>
              <a:t>[g][h]</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if (g==m &amp;&amp; h==p)	{  //</a:t>
            </a:r>
            <a:r>
              <a:rPr kumimoji="1" lang="zh-CN" altLang="en-US" sz="1800" dirty="0">
                <a:solidFill>
                  <a:schemeClr val="tx2"/>
                </a:solidFill>
                <a:latin typeface="Times New Roman" panose="02020603050405020304" pitchFamily="18" charset="0"/>
                <a:ea typeface="楷体_GB2312" panose="02010609030101010101" pitchFamily="49" charset="-122"/>
              </a:rPr>
              <a:t>达到出口</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cout</a:t>
            </a:r>
            <a:r>
              <a:rPr kumimoji="1" lang="en-US" altLang="zh-CN" sz="1800" dirty="0">
                <a:solidFill>
                  <a:schemeClr val="tx2"/>
                </a:solidFill>
                <a:latin typeface="Times New Roman" panose="02020603050405020304" pitchFamily="18" charset="0"/>
                <a:ea typeface="楷体_GB2312" panose="02010609030101010101" pitchFamily="49" charset="-122"/>
              </a:rPr>
              <a:t> &lt;&lt; </a:t>
            </a:r>
            <a:r>
              <a:rPr kumimoji="1" lang="en-US" altLang="zh-CN" sz="1800" dirty="0" err="1">
                <a:solidFill>
                  <a:schemeClr val="tx2"/>
                </a:solidFill>
                <a:latin typeface="Times New Roman" panose="02020603050405020304" pitchFamily="18" charset="0"/>
                <a:ea typeface="楷体_GB2312" panose="02010609030101010101" pitchFamily="49" charset="-122"/>
              </a:rPr>
              <a:t>st</a:t>
            </a: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zh-CN" altLang="en-US" sz="1800" dirty="0">
                <a:solidFill>
                  <a:schemeClr val="tx2"/>
                </a:solidFill>
                <a:latin typeface="Times New Roman" panose="02020603050405020304" pitchFamily="18" charset="0"/>
                <a:ea typeface="楷体_GB2312" panose="02010609030101010101" pitchFamily="49" charset="-122"/>
              </a:rPr>
              <a:t>重载操作：输出栈中保存的路径</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cout</a:t>
            </a:r>
            <a:r>
              <a:rPr kumimoji="1" lang="en-US" altLang="zh-CN" sz="1800" dirty="0">
                <a:solidFill>
                  <a:schemeClr val="tx2"/>
                </a:solidFill>
                <a:latin typeface="Times New Roman" panose="02020603050405020304" pitchFamily="18" charset="0"/>
                <a:ea typeface="楷体_GB2312" panose="02010609030101010101" pitchFamily="49" charset="-122"/>
              </a:rPr>
              <a:t> &lt;&lt; m &lt;&lt; </a:t>
            </a:r>
            <a:r>
              <a:rPr kumimoji="1" lang="en-US" altLang="zh-CN" sz="1800" dirty="0">
                <a:latin typeface="Times New Roman" panose="02020603050405020304" pitchFamily="18" charset="0"/>
              </a:rPr>
              <a:t>"</a:t>
            </a: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latin typeface="Times New Roman" panose="02020603050405020304" pitchFamily="18" charset="0"/>
              </a:rPr>
              <a:t>"</a:t>
            </a:r>
            <a:r>
              <a:rPr kumimoji="1" lang="en-US" altLang="zh-CN" sz="1800" dirty="0">
                <a:solidFill>
                  <a:schemeClr val="tx2"/>
                </a:solidFill>
                <a:latin typeface="Times New Roman" panose="02020603050405020304" pitchFamily="18" charset="0"/>
                <a:ea typeface="楷体_GB2312" panose="02010609030101010101" pitchFamily="49" charset="-122"/>
              </a:rPr>
              <a:t> &lt;&lt; p &lt;&lt; </a:t>
            </a:r>
            <a:r>
              <a:rPr kumimoji="1" lang="en-US" altLang="zh-CN" sz="1800" dirty="0" err="1">
                <a:solidFill>
                  <a:schemeClr val="tx2"/>
                </a:solidFill>
                <a:latin typeface="Times New Roman" panose="02020603050405020304" pitchFamily="18" charset="0"/>
                <a:ea typeface="楷体_GB2312" panose="02010609030101010101" pitchFamily="49" charset="-122"/>
              </a:rPr>
              <a:t>endl</a:t>
            </a:r>
            <a:r>
              <a:rPr kumimoji="1" lang="en-US" altLang="zh-CN" sz="1800" dirty="0">
                <a:solidFill>
                  <a:schemeClr val="tx2"/>
                </a:solidFill>
                <a:latin typeface="Times New Roman" panose="02020603050405020304" pitchFamily="18" charset="0"/>
                <a:ea typeface="楷体_GB2312" panose="02010609030101010101" pitchFamily="49" charset="-122"/>
              </a:rPr>
              <a:t>;	return;</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		</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if (Maze[g][h] == 0 &amp;&amp; mark[g][h] == 0 ) { //</a:t>
            </a:r>
            <a:r>
              <a:rPr kumimoji="1" lang="zh-CN" altLang="en-US" sz="1800" dirty="0">
                <a:solidFill>
                  <a:schemeClr val="tx2"/>
                </a:solidFill>
                <a:latin typeface="Times New Roman" panose="02020603050405020304" pitchFamily="18" charset="0"/>
                <a:ea typeface="楷体_GB2312" panose="02010609030101010101" pitchFamily="49" charset="-122"/>
              </a:rPr>
              <a:t>未到达出口，新的位置</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mark[g][h]=1;         </a:t>
            </a:r>
            <a:r>
              <a:rPr kumimoji="1" lang="en-US" altLang="zh-CN" sz="1800" dirty="0" err="1">
                <a:solidFill>
                  <a:schemeClr val="tx2"/>
                </a:solidFill>
                <a:latin typeface="Times New Roman" panose="02020603050405020304" pitchFamily="18" charset="0"/>
                <a:ea typeface="楷体_GB2312" panose="02010609030101010101" pitchFamily="49" charset="-122"/>
              </a:rPr>
              <a:t>tmp.x</a:t>
            </a:r>
            <a:r>
              <a:rPr kumimoji="1" lang="en-US" altLang="zh-CN" sz="1800" dirty="0">
                <a:solidFill>
                  <a:schemeClr val="tx2"/>
                </a:solidFill>
                <a:latin typeface="Times New Roman" panose="02020603050405020304" pitchFamily="18" charset="0"/>
                <a:ea typeface="楷体_GB2312" panose="02010609030101010101" pitchFamily="49" charset="-122"/>
              </a:rPr>
              <a:t>=</a:t>
            </a:r>
            <a:r>
              <a:rPr kumimoji="1" lang="en-US" altLang="zh-CN" sz="1800" dirty="0" err="1">
                <a:solidFill>
                  <a:schemeClr val="tx2"/>
                </a:solidFill>
                <a:latin typeface="Times New Roman" panose="02020603050405020304" pitchFamily="18" charset="0"/>
                <a:ea typeface="楷体_GB2312" panose="02010609030101010101" pitchFamily="49" charset="-122"/>
              </a:rPr>
              <a:t>i</a:t>
            </a: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tmp.y</a:t>
            </a:r>
            <a:r>
              <a:rPr kumimoji="1" lang="en-US" altLang="zh-CN" sz="1800" dirty="0">
                <a:solidFill>
                  <a:schemeClr val="tx2"/>
                </a:solidFill>
                <a:latin typeface="Times New Roman" panose="02020603050405020304" pitchFamily="18" charset="0"/>
                <a:ea typeface="楷体_GB2312" panose="02010609030101010101" pitchFamily="49" charset="-122"/>
              </a:rPr>
              <a:t>=j; </a:t>
            </a:r>
            <a:r>
              <a:rPr kumimoji="1" lang="en-US" altLang="zh-CN" sz="1800" dirty="0" err="1">
                <a:solidFill>
                  <a:schemeClr val="tx2"/>
                </a:solidFill>
                <a:latin typeface="Times New Roman" panose="02020603050405020304" pitchFamily="18" charset="0"/>
                <a:ea typeface="楷体_GB2312" panose="02010609030101010101" pitchFamily="49" charset="-122"/>
              </a:rPr>
              <a:t>tmp.dir</a:t>
            </a:r>
            <a:r>
              <a:rPr kumimoji="1" lang="en-US" altLang="zh-CN" sz="1800" dirty="0">
                <a:solidFill>
                  <a:schemeClr val="tx2"/>
                </a:solidFill>
                <a:latin typeface="Times New Roman" panose="02020603050405020304" pitchFamily="18" charset="0"/>
                <a:ea typeface="楷体_GB2312" panose="02010609030101010101" pitchFamily="49" charset="-122"/>
              </a:rPr>
              <a:t>=d;   </a:t>
            </a:r>
            <a:r>
              <a:rPr kumimoji="1" lang="en-US" altLang="zh-CN" sz="1800" dirty="0" err="1">
                <a:solidFill>
                  <a:schemeClr val="tx2"/>
                </a:solidFill>
                <a:latin typeface="Times New Roman" panose="02020603050405020304" pitchFamily="18" charset="0"/>
                <a:ea typeface="楷体_GB2312" panose="02010609030101010101" pitchFamily="49" charset="-122"/>
              </a:rPr>
              <a:t>st.Push</a:t>
            </a:r>
            <a:r>
              <a:rPr kumimoji="1" lang="en-US" altLang="zh-CN" sz="1800" dirty="0">
                <a:solidFill>
                  <a:schemeClr val="tx2"/>
                </a:solidFill>
                <a:latin typeface="Times New Roman" panose="02020603050405020304" pitchFamily="18" charset="0"/>
                <a:ea typeface="楷体_GB2312" panose="02010609030101010101" pitchFamily="49" charset="-122"/>
              </a:rPr>
              <a:t>(</a:t>
            </a:r>
            <a:r>
              <a:rPr kumimoji="1" lang="en-US" altLang="zh-CN" sz="1800" dirty="0" err="1">
                <a:solidFill>
                  <a:schemeClr val="tx2"/>
                </a:solidFill>
                <a:latin typeface="Times New Roman" panose="02020603050405020304" pitchFamily="18" charset="0"/>
                <a:ea typeface="楷体_GB2312" panose="02010609030101010101" pitchFamily="49" charset="-122"/>
              </a:rPr>
              <a:t>tmp</a:t>
            </a:r>
            <a:r>
              <a:rPr kumimoji="1" lang="en-US" altLang="zh-CN" sz="1800" dirty="0">
                <a:solidFill>
                  <a:schemeClr val="tx2"/>
                </a:solidFill>
                <a:latin typeface="Times New Roman" panose="02020603050405020304" pitchFamily="18" charset="0"/>
                <a:ea typeface="楷体_GB2312" panose="02010609030101010101" pitchFamily="49" charset="-122"/>
              </a:rPr>
              <a:t>);      </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i</a:t>
            </a:r>
            <a:r>
              <a:rPr kumimoji="1" lang="en-US" altLang="zh-CN" sz="1800" dirty="0">
                <a:solidFill>
                  <a:schemeClr val="tx2"/>
                </a:solidFill>
                <a:latin typeface="Times New Roman" panose="02020603050405020304" pitchFamily="18" charset="0"/>
                <a:ea typeface="楷体_GB2312" panose="02010609030101010101" pitchFamily="49" charset="-122"/>
              </a:rPr>
              <a:t>=g; j=h; d=0;    //</a:t>
            </a:r>
            <a:r>
              <a:rPr kumimoji="1" lang="zh-CN" altLang="en-US" sz="1800" dirty="0">
                <a:solidFill>
                  <a:schemeClr val="tx2"/>
                </a:solidFill>
                <a:latin typeface="Times New Roman" panose="02020603050405020304" pitchFamily="18" charset="0"/>
                <a:ea typeface="楷体_GB2312" panose="02010609030101010101" pitchFamily="49" charset="-122"/>
              </a:rPr>
              <a:t>移动到</a:t>
            </a:r>
            <a:r>
              <a:rPr kumimoji="1" lang="en-US" altLang="zh-CN" sz="1800" dirty="0">
                <a:solidFill>
                  <a:schemeClr val="tx2"/>
                </a:solidFill>
                <a:latin typeface="Times New Roman" panose="02020603050405020304" pitchFamily="18" charset="0"/>
                <a:ea typeface="楷体_GB2312" panose="02010609030101010101" pitchFamily="49" charset="-122"/>
              </a:rPr>
              <a:t>[g][h]</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else d++;	 //</a:t>
            </a:r>
            <a:r>
              <a:rPr kumimoji="1" lang="zh-CN" altLang="en-US" sz="1800" dirty="0">
                <a:solidFill>
                  <a:schemeClr val="tx2"/>
                </a:solidFill>
                <a:latin typeface="Times New Roman" panose="02020603050405020304" pitchFamily="18" charset="0"/>
                <a:ea typeface="楷体_GB2312" panose="02010609030101010101" pitchFamily="49" charset="-122"/>
              </a:rPr>
              <a:t>尝试下一个方向</a:t>
            </a:r>
            <a:endParaRPr kumimoji="1" lang="zh-CN" altLang="en-US"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zh-CN" altLang="en-US"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a:solidFill>
                  <a:schemeClr val="tx2"/>
                </a:solidFill>
                <a:latin typeface="Times New Roman" panose="02020603050405020304" pitchFamily="18" charset="0"/>
                <a:ea typeface="楷体_GB2312" panose="02010609030101010101" pitchFamily="49" charset="-122"/>
              </a:rPr>
              <a:t>}//while (d&lt;8)</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}//while ( </a:t>
            </a:r>
            <a:r>
              <a:rPr kumimoji="1" lang="en-US" altLang="zh-CN" sz="1800" dirty="0" err="1">
                <a:solidFill>
                  <a:schemeClr val="tx2"/>
                </a:solidFill>
                <a:latin typeface="Times New Roman" panose="02020603050405020304" pitchFamily="18" charset="0"/>
                <a:ea typeface="楷体_GB2312" panose="02010609030101010101" pitchFamily="49" charset="-122"/>
              </a:rPr>
              <a:t>st.IsEmpty</a:t>
            </a:r>
            <a:r>
              <a:rPr kumimoji="1" lang="en-US" altLang="zh-CN" sz="1800" dirty="0">
                <a:solidFill>
                  <a:schemeClr val="tx2"/>
                </a:solidFill>
                <a:latin typeface="Times New Roman" panose="02020603050405020304" pitchFamily="18" charset="0"/>
                <a:ea typeface="楷体_GB2312" panose="02010609030101010101" pitchFamily="49" charset="-122"/>
              </a:rPr>
              <a:t>() == false)	</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   </a:t>
            </a:r>
            <a:r>
              <a:rPr kumimoji="1" lang="en-US" altLang="zh-CN" sz="1800" dirty="0" err="1">
                <a:solidFill>
                  <a:schemeClr val="tx2"/>
                </a:solidFill>
                <a:latin typeface="Times New Roman" panose="02020603050405020304" pitchFamily="18" charset="0"/>
                <a:ea typeface="楷体_GB2312" panose="02010609030101010101" pitchFamily="49" charset="-122"/>
              </a:rPr>
              <a:t>cout</a:t>
            </a:r>
            <a:r>
              <a:rPr kumimoji="1" lang="en-US" altLang="zh-CN" sz="1800" dirty="0">
                <a:solidFill>
                  <a:schemeClr val="tx2"/>
                </a:solidFill>
                <a:latin typeface="Times New Roman" panose="02020603050405020304" pitchFamily="18" charset="0"/>
                <a:ea typeface="楷体_GB2312" panose="02010609030101010101" pitchFamily="49" charset="-122"/>
              </a:rPr>
              <a:t> &lt;&lt; </a:t>
            </a:r>
            <a:r>
              <a:rPr kumimoji="1" lang="en-US" altLang="zh-CN" sz="1800" dirty="0">
                <a:latin typeface="Times New Roman" panose="02020603050405020304" pitchFamily="18" charset="0"/>
              </a:rPr>
              <a:t>"</a:t>
            </a:r>
            <a:r>
              <a:rPr kumimoji="1" lang="en-US" altLang="zh-CN" sz="1800" dirty="0">
                <a:solidFill>
                  <a:schemeClr val="tx2"/>
                </a:solidFill>
                <a:latin typeface="Times New Roman" panose="02020603050405020304" pitchFamily="18" charset="0"/>
                <a:ea typeface="楷体_GB2312" panose="02010609030101010101" pitchFamily="49" charset="-122"/>
              </a:rPr>
              <a:t>no path in maze</a:t>
            </a:r>
            <a:r>
              <a:rPr kumimoji="1" lang="en-US" altLang="zh-CN" sz="1800" dirty="0">
                <a:latin typeface="Times New Roman" panose="02020603050405020304" pitchFamily="18" charset="0"/>
              </a:rPr>
              <a:t>"</a:t>
            </a:r>
            <a:r>
              <a:rPr kumimoji="1" lang="en-US" altLang="zh-CN" sz="1800" dirty="0">
                <a:solidFill>
                  <a:schemeClr val="tx2"/>
                </a:solidFill>
                <a:latin typeface="Times New Roman" panose="02020603050405020304" pitchFamily="18" charset="0"/>
                <a:ea typeface="楷体_GB2312" panose="02010609030101010101" pitchFamily="49" charset="-122"/>
              </a:rPr>
              <a:t> &lt;&lt;</a:t>
            </a:r>
            <a:r>
              <a:rPr kumimoji="1" lang="en-US" altLang="zh-CN" sz="1800" dirty="0" err="1">
                <a:solidFill>
                  <a:schemeClr val="tx2"/>
                </a:solidFill>
                <a:latin typeface="Times New Roman" panose="02020603050405020304" pitchFamily="18" charset="0"/>
                <a:ea typeface="楷体_GB2312" panose="02010609030101010101" pitchFamily="49" charset="-122"/>
              </a:rPr>
              <a:t>endl</a:t>
            </a:r>
            <a:r>
              <a:rPr kumimoji="1" lang="en-US" altLang="zh-CN" sz="1800" dirty="0">
                <a:solidFill>
                  <a:schemeClr val="tx2"/>
                </a:solidFill>
                <a:latin typeface="Times New Roman" panose="02020603050405020304" pitchFamily="18" charset="0"/>
                <a:ea typeface="楷体_GB2312" panose="02010609030101010101" pitchFamily="49" charset="-122"/>
              </a:rPr>
              <a:t>;	    </a:t>
            </a:r>
            <a:endParaRPr kumimoji="1" lang="en-US" altLang="zh-CN" sz="1800" dirty="0">
              <a:solidFill>
                <a:schemeClr val="tx2"/>
              </a:solidFill>
              <a:latin typeface="Times New Roman" panose="02020603050405020304" pitchFamily="18" charset="0"/>
              <a:ea typeface="楷体_GB2312" panose="02010609030101010101" pitchFamily="49" charset="-122"/>
            </a:endParaRPr>
          </a:p>
          <a:p>
            <a:pPr marL="0" indent="0">
              <a:buNone/>
            </a:pPr>
            <a:r>
              <a:rPr kumimoji="1" lang="en-US" altLang="zh-CN" sz="1800" dirty="0">
                <a:solidFill>
                  <a:schemeClr val="tx2"/>
                </a:solidFill>
                <a:latin typeface="Times New Roman" panose="02020603050405020304" pitchFamily="18" charset="0"/>
                <a:ea typeface="楷体_GB2312" panose="02010609030101010101" pitchFamily="49" charset="-122"/>
              </a:rPr>
              <a:t>}</a:t>
            </a:r>
            <a:endParaRPr kumimoji="1" lang="en-US" altLang="zh-CN" sz="1800" dirty="0">
              <a:solidFill>
                <a:schemeClr val="tx2"/>
              </a:solidFill>
              <a:latin typeface="Times New Roman" panose="02020603050405020304" pitchFamily="18" charset="0"/>
              <a:ea typeface="楷体_GB2312" panose="02010609030101010101" pitchFamily="49" charset="-122"/>
            </a:endParaRPr>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1146200" y="2117237"/>
            <a:ext cx="6872288"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1141" name="Line 6"/>
          <p:cNvSpPr>
            <a:spLocks noChangeShapeType="1"/>
          </p:cNvSpPr>
          <p:nvPr/>
        </p:nvSpPr>
        <p:spPr bwMode="auto">
          <a:xfrm>
            <a:off x="2594000" y="1736237"/>
            <a:ext cx="4191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2" name="Line 7"/>
          <p:cNvSpPr>
            <a:spLocks noChangeShapeType="1"/>
          </p:cNvSpPr>
          <p:nvPr/>
        </p:nvSpPr>
        <p:spPr bwMode="auto">
          <a:xfrm>
            <a:off x="2594000" y="2269637"/>
            <a:ext cx="41910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3" name="Text Box 8"/>
          <p:cNvSpPr txBox="1">
            <a:spLocks noChangeArrowheads="1"/>
          </p:cNvSpPr>
          <p:nvPr/>
        </p:nvSpPr>
        <p:spPr bwMode="auto">
          <a:xfrm>
            <a:off x="2771800" y="1660037"/>
            <a:ext cx="3798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rgbClr val="0000FF"/>
                </a:solidFill>
                <a:latin typeface="Times New Roman" panose="02020603050405020304" pitchFamily="18" charset="0"/>
                <a:ea typeface="宋体" panose="02010600030101010101" pitchFamily="2" charset="-122"/>
              </a:rPr>
              <a:t>a</a:t>
            </a:r>
            <a:r>
              <a:rPr kumimoji="1" lang="en-US" altLang="zh-CN" sz="3200" b="1" baseline="-25000">
                <a:solidFill>
                  <a:srgbClr val="0000FF"/>
                </a:solidFill>
                <a:latin typeface="Times New Roman" panose="02020603050405020304" pitchFamily="18" charset="0"/>
                <a:ea typeface="宋体" panose="02010600030101010101" pitchFamily="2" charset="-122"/>
              </a:rPr>
              <a:t>0</a:t>
            </a:r>
            <a:r>
              <a:rPr kumimoji="1" lang="en-US" altLang="zh-CN" sz="3200" b="1">
                <a:solidFill>
                  <a:srgbClr val="0000FF"/>
                </a:solidFill>
                <a:latin typeface="Times New Roman" panose="02020603050405020304" pitchFamily="18" charset="0"/>
                <a:ea typeface="宋体" panose="02010600030101010101" pitchFamily="2" charset="-122"/>
              </a:rPr>
              <a:t>   </a:t>
            </a:r>
            <a:r>
              <a:rPr kumimoji="1" lang="en-US" altLang="zh-CN" sz="3200" b="1" i="1">
                <a:solidFill>
                  <a:srgbClr val="0000FF"/>
                </a:solidFill>
                <a:latin typeface="Times New Roman" panose="02020603050405020304" pitchFamily="18" charset="0"/>
                <a:ea typeface="宋体" panose="02010600030101010101" pitchFamily="2" charset="-122"/>
              </a:rPr>
              <a:t>a</a:t>
            </a:r>
            <a:r>
              <a:rPr kumimoji="1" lang="en-US" altLang="zh-CN" sz="3200" b="1" baseline="-25000">
                <a:solidFill>
                  <a:srgbClr val="0000FF"/>
                </a:solidFill>
                <a:latin typeface="Times New Roman" panose="02020603050405020304" pitchFamily="18" charset="0"/>
                <a:ea typeface="宋体" panose="02010600030101010101" pitchFamily="2" charset="-122"/>
              </a:rPr>
              <a:t>1</a:t>
            </a:r>
            <a:r>
              <a:rPr kumimoji="1" lang="en-US" altLang="zh-CN" sz="3200" b="1">
                <a:solidFill>
                  <a:srgbClr val="0000FF"/>
                </a:solidFill>
                <a:latin typeface="Times New Roman" panose="02020603050405020304" pitchFamily="18" charset="0"/>
                <a:ea typeface="宋体" panose="02010600030101010101" pitchFamily="2" charset="-122"/>
              </a:rPr>
              <a:t>   </a:t>
            </a:r>
            <a:r>
              <a:rPr kumimoji="1" lang="en-US" altLang="zh-CN" sz="3200" b="1" i="1">
                <a:solidFill>
                  <a:srgbClr val="0000FF"/>
                </a:solidFill>
                <a:latin typeface="Times New Roman" panose="02020603050405020304" pitchFamily="18" charset="0"/>
                <a:ea typeface="宋体" panose="02010600030101010101" pitchFamily="2" charset="-122"/>
              </a:rPr>
              <a:t>a</a:t>
            </a:r>
            <a:r>
              <a:rPr kumimoji="1" lang="en-US" altLang="zh-CN" sz="3200" b="1" baseline="-25000">
                <a:solidFill>
                  <a:srgbClr val="0000FF"/>
                </a:solidFill>
                <a:latin typeface="Times New Roman" panose="02020603050405020304" pitchFamily="18" charset="0"/>
                <a:ea typeface="宋体" panose="02010600030101010101" pitchFamily="2" charset="-122"/>
              </a:rPr>
              <a:t>2</a:t>
            </a:r>
            <a:r>
              <a:rPr kumimoji="1" lang="en-US" altLang="zh-CN" sz="3200" b="1">
                <a:solidFill>
                  <a:srgbClr val="0000FF"/>
                </a:solidFill>
                <a:latin typeface="Times New Roman" panose="02020603050405020304" pitchFamily="18" charset="0"/>
                <a:ea typeface="宋体" panose="02010600030101010101" pitchFamily="2" charset="-122"/>
              </a:rPr>
              <a:t>     </a:t>
            </a:r>
            <a:r>
              <a:rPr kumimoji="1" lang="en-US" altLang="zh-CN" sz="3200" b="1">
                <a:solidFill>
                  <a:srgbClr val="0000FF"/>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1" i="1">
                <a:solidFill>
                  <a:srgbClr val="0000FF"/>
                </a:solidFill>
                <a:latin typeface="Times New Roman" panose="02020603050405020304" pitchFamily="18" charset="0"/>
                <a:ea typeface="宋体" panose="02010600030101010101" pitchFamily="2" charset="-122"/>
                <a:sym typeface="Symbol" panose="05050102010706020507" pitchFamily="18" charset="2"/>
              </a:rPr>
              <a:t> a</a:t>
            </a:r>
            <a:r>
              <a:rPr kumimoji="1" lang="en-US" altLang="zh-CN" sz="3200" b="1" i="1" baseline="-25000">
                <a:solidFill>
                  <a:srgbClr val="0000FF"/>
                </a:solidFill>
                <a:latin typeface="Times New Roman" panose="02020603050405020304" pitchFamily="18" charset="0"/>
                <a:ea typeface="宋体" panose="02010600030101010101" pitchFamily="2" charset="-122"/>
                <a:sym typeface="Symbol" panose="05050102010706020507" pitchFamily="18" charset="2"/>
              </a:rPr>
              <a:t>n</a:t>
            </a:r>
            <a:r>
              <a:rPr kumimoji="1" lang="en-US" altLang="zh-CN" sz="3200" b="1" baseline="-25000">
                <a:solidFill>
                  <a:srgbClr val="0000FF"/>
                </a:solidFill>
                <a:latin typeface="Times New Roman" panose="02020603050405020304" pitchFamily="18" charset="0"/>
                <a:ea typeface="宋体" panose="02010600030101010101" pitchFamily="2" charset="-122"/>
                <a:sym typeface="Symbol" panose="05050102010706020507" pitchFamily="18" charset="2"/>
              </a:rPr>
              <a:t>-1</a:t>
            </a:r>
            <a:endParaRPr kumimoji="1" lang="en-US" altLang="zh-CN" sz="2400">
              <a:latin typeface="Times New Roman" panose="02020603050405020304" pitchFamily="18" charset="0"/>
              <a:ea typeface="宋体" panose="02010600030101010101" pitchFamily="2" charset="-122"/>
            </a:endParaRPr>
          </a:p>
        </p:txBody>
      </p:sp>
      <p:sp>
        <p:nvSpPr>
          <p:cNvPr id="91144" name="Text Box 9"/>
          <p:cNvSpPr txBox="1">
            <a:spLocks noChangeArrowheads="1"/>
          </p:cNvSpPr>
          <p:nvPr/>
        </p:nvSpPr>
        <p:spPr bwMode="auto">
          <a:xfrm>
            <a:off x="1282725" y="2147400"/>
            <a:ext cx="1019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1145" name="Text Box 10"/>
          <p:cNvSpPr txBox="1">
            <a:spLocks noChangeArrowheads="1"/>
          </p:cNvSpPr>
          <p:nvPr/>
        </p:nvSpPr>
        <p:spPr bwMode="auto">
          <a:xfrm>
            <a:off x="7118375" y="2147400"/>
            <a:ext cx="885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1146" name="Line 14"/>
          <p:cNvSpPr>
            <a:spLocks noChangeShapeType="1"/>
          </p:cNvSpPr>
          <p:nvPr/>
        </p:nvSpPr>
        <p:spPr bwMode="auto">
          <a:xfrm flipH="1">
            <a:off x="1832000" y="1964837"/>
            <a:ext cx="914400" cy="304800"/>
          </a:xfrm>
          <a:prstGeom prst="line">
            <a:avLst/>
          </a:prstGeom>
          <a:noFill/>
          <a:ln w="38100">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7" name="Line 15"/>
          <p:cNvSpPr>
            <a:spLocks noChangeShapeType="1"/>
          </p:cNvSpPr>
          <p:nvPr/>
        </p:nvSpPr>
        <p:spPr bwMode="auto">
          <a:xfrm flipH="1" flipV="1">
            <a:off x="6632600" y="1964837"/>
            <a:ext cx="914400" cy="304800"/>
          </a:xfrm>
          <a:prstGeom prst="line">
            <a:avLst/>
          </a:prstGeom>
          <a:noFill/>
          <a:ln w="38100">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8" name="Text Box 16"/>
          <p:cNvSpPr txBox="1">
            <a:spLocks noChangeArrowheads="1"/>
          </p:cNvSpPr>
          <p:nvPr/>
        </p:nvSpPr>
        <p:spPr bwMode="auto">
          <a:xfrm>
            <a:off x="4864125" y="1660037"/>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 name="标题 1"/>
          <p:cNvSpPr>
            <a:spLocks noGrp="1"/>
          </p:cNvSpPr>
          <p:nvPr>
            <p:ph type="title"/>
          </p:nvPr>
        </p:nvSpPr>
        <p:spPr/>
        <p:txBody>
          <a:bodyPr/>
          <a:lstStyle/>
          <a:p>
            <a:r>
              <a:rPr lang="en-US" altLang="zh-CN" dirty="0"/>
              <a:t>3.3 </a:t>
            </a:r>
            <a:r>
              <a:rPr lang="zh-CN" altLang="en-US" dirty="0"/>
              <a:t>队列 </a:t>
            </a:r>
            <a:r>
              <a:rPr lang="en-US" altLang="zh-CN" dirty="0"/>
              <a:t>( Queue )</a:t>
            </a:r>
            <a:endParaRPr lang="zh-CN" altLang="en-US" dirty="0"/>
          </a:p>
        </p:txBody>
      </p:sp>
      <p:sp>
        <p:nvSpPr>
          <p:cNvPr id="3" name="内容占位符 2"/>
          <p:cNvSpPr>
            <a:spLocks noGrp="1"/>
          </p:cNvSpPr>
          <p:nvPr>
            <p:ph idx="1"/>
          </p:nvPr>
        </p:nvSpPr>
        <p:spPr>
          <a:xfrm>
            <a:off x="628650" y="2756998"/>
            <a:ext cx="7886700" cy="3840353"/>
          </a:xfrm>
        </p:spPr>
        <p:txBody>
          <a:bodyPr>
            <a:normAutofit/>
          </a:bodyPr>
          <a:lstStyle/>
          <a:p>
            <a:r>
              <a:rPr lang="zh-CN" altLang="en-US" dirty="0"/>
              <a:t>定义</a:t>
            </a:r>
            <a:endParaRPr lang="zh-CN" altLang="en-US" dirty="0"/>
          </a:p>
          <a:p>
            <a:pPr lvl="1"/>
            <a:r>
              <a:rPr lang="zh-CN" altLang="en-US" dirty="0"/>
              <a:t>队列是只允许在一端删除，在另一端插入的线性表。</a:t>
            </a:r>
            <a:endParaRPr lang="zh-CN" altLang="en-US" dirty="0"/>
          </a:p>
          <a:p>
            <a:pPr lvl="2"/>
            <a:r>
              <a:rPr lang="zh-CN" altLang="en-US" dirty="0"/>
              <a:t>允许删除的一端叫做队头</a:t>
            </a:r>
            <a:r>
              <a:rPr lang="en-US" altLang="zh-CN" dirty="0"/>
              <a:t>(front)</a:t>
            </a:r>
            <a:r>
              <a:rPr lang="zh-CN" altLang="en-US" dirty="0"/>
              <a:t>，允许插入的一端叫做队尾</a:t>
            </a:r>
            <a:r>
              <a:rPr lang="en-US" altLang="zh-CN" dirty="0"/>
              <a:t>(rear)</a:t>
            </a:r>
            <a:r>
              <a:rPr lang="zh-CN" altLang="en-US" dirty="0"/>
              <a:t>。</a:t>
            </a:r>
            <a:endParaRPr lang="zh-CN" altLang="en-US" dirty="0"/>
          </a:p>
          <a:p>
            <a:r>
              <a:rPr lang="zh-CN" altLang="en-US" dirty="0"/>
              <a:t>特性</a:t>
            </a:r>
            <a:endParaRPr lang="zh-CN" altLang="en-US" dirty="0"/>
          </a:p>
          <a:p>
            <a:pPr lvl="1"/>
            <a:r>
              <a:rPr lang="zh-CN" altLang="en-US" dirty="0"/>
              <a:t>先进先出</a:t>
            </a:r>
            <a:r>
              <a:rPr lang="en-US" altLang="zh-CN" dirty="0"/>
              <a:t>(FIFO, First In First Out)</a:t>
            </a:r>
            <a:endParaRPr lang="en-US" altLang="zh-CN"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队列的抽象数据类型</a:t>
            </a:r>
            <a:endParaRPr lang="zh-CN" altLang="en-US" dirty="0"/>
          </a:p>
        </p:txBody>
      </p:sp>
      <p:sp>
        <p:nvSpPr>
          <p:cNvPr id="3" name="内容占位符 2"/>
          <p:cNvSpPr>
            <a:spLocks noGrp="1"/>
          </p:cNvSpPr>
          <p:nvPr>
            <p:ph idx="1"/>
          </p:nvPr>
        </p:nvSpPr>
        <p:spPr/>
        <p:txBody>
          <a:bodyPr>
            <a:normAutofit fontScale="62500" lnSpcReduction="20000"/>
          </a:bodyPr>
          <a:lstStyle/>
          <a:p>
            <a:pPr marL="0" indent="0">
              <a:buNone/>
            </a:pPr>
            <a:r>
              <a:rPr lang="en-US" altLang="zh-CN" dirty="0"/>
              <a:t>template &lt;class T&gt; class Queue {	</a:t>
            </a:r>
            <a:endParaRPr lang="en-US" altLang="zh-CN" dirty="0"/>
          </a:p>
          <a:p>
            <a:pPr marL="0" indent="0">
              <a:buNone/>
            </a:pPr>
            <a:r>
              <a:rPr lang="en-US" altLang="zh-CN" dirty="0"/>
              <a:t>public: </a:t>
            </a:r>
            <a:endParaRPr lang="en-US" altLang="zh-CN" dirty="0"/>
          </a:p>
          <a:p>
            <a:pPr marL="0" indent="0">
              <a:buNone/>
            </a:pPr>
            <a:r>
              <a:rPr lang="en-US" altLang="zh-CN" dirty="0"/>
              <a:t>    Queue ( ) {};		   //</a:t>
            </a:r>
            <a:r>
              <a:rPr lang="zh-CN" altLang="en-US" dirty="0"/>
              <a:t>构造函数</a:t>
            </a:r>
            <a:endParaRPr lang="zh-CN" altLang="en-US" dirty="0"/>
          </a:p>
          <a:p>
            <a:pPr marL="0" indent="0">
              <a:buNone/>
            </a:pPr>
            <a:r>
              <a:rPr lang="zh-CN" altLang="en-US" dirty="0"/>
              <a:t>    </a:t>
            </a:r>
            <a:r>
              <a:rPr lang="en-US" altLang="zh-CN" dirty="0"/>
              <a:t>~Queue ( ) {};		   //</a:t>
            </a:r>
            <a:r>
              <a:rPr lang="zh-CN" altLang="en-US" dirty="0"/>
              <a:t>析构函数</a:t>
            </a:r>
            <a:endParaRPr lang="zh-CN" altLang="en-US" dirty="0"/>
          </a:p>
          <a:p>
            <a:pPr marL="0" indent="0">
              <a:buNone/>
            </a:pPr>
            <a:r>
              <a:rPr lang="zh-CN" altLang="en-US" dirty="0"/>
              <a:t>    </a:t>
            </a:r>
            <a:r>
              <a:rPr lang="en-US" altLang="zh-CN" dirty="0"/>
              <a:t>virtual bool </a:t>
            </a:r>
            <a:r>
              <a:rPr lang="en-US" altLang="zh-CN" dirty="0" err="1"/>
              <a:t>EnQueue</a:t>
            </a:r>
            <a:r>
              <a:rPr lang="en-US" altLang="zh-CN" dirty="0"/>
              <a:t> (const T x) = 0;    //</a:t>
            </a:r>
            <a:r>
              <a:rPr lang="zh-CN" altLang="en-US" dirty="0"/>
              <a:t>进队</a:t>
            </a:r>
            <a:endParaRPr lang="zh-CN" altLang="en-US" dirty="0"/>
          </a:p>
          <a:p>
            <a:pPr marL="0" indent="0">
              <a:buNone/>
            </a:pPr>
            <a:r>
              <a:rPr lang="zh-CN" altLang="en-US" dirty="0"/>
              <a:t>    </a:t>
            </a:r>
            <a:r>
              <a:rPr lang="en-US" altLang="zh-CN" dirty="0"/>
              <a:t>virtual bool </a:t>
            </a:r>
            <a:r>
              <a:rPr lang="en-US" altLang="zh-CN" dirty="0" err="1"/>
              <a:t>DeQueue</a:t>
            </a:r>
            <a:r>
              <a:rPr lang="en-US" altLang="zh-CN" dirty="0"/>
              <a:t> (T&amp; x) = 0;   //</a:t>
            </a:r>
            <a:r>
              <a:rPr lang="zh-CN" altLang="en-US" dirty="0"/>
              <a:t>出队	</a:t>
            </a:r>
            <a:endParaRPr lang="zh-CN" altLang="en-US" dirty="0"/>
          </a:p>
          <a:p>
            <a:pPr marL="0" indent="0">
              <a:buNone/>
            </a:pPr>
            <a:r>
              <a:rPr lang="zh-CN" altLang="en-US" dirty="0"/>
              <a:t>    </a:t>
            </a:r>
            <a:r>
              <a:rPr lang="en-US" altLang="zh-CN" dirty="0"/>
              <a:t>virtual bool </a:t>
            </a:r>
            <a:r>
              <a:rPr lang="en-US" altLang="zh-CN" dirty="0" err="1"/>
              <a:t>getFront</a:t>
            </a:r>
            <a:r>
              <a:rPr lang="en-US" altLang="zh-CN" dirty="0"/>
              <a:t> (T&amp; x) = 0;    //</a:t>
            </a:r>
            <a:r>
              <a:rPr lang="zh-CN" altLang="en-US" dirty="0"/>
              <a:t>取队头元素值</a:t>
            </a:r>
            <a:endParaRPr lang="zh-CN" altLang="en-US" dirty="0"/>
          </a:p>
          <a:p>
            <a:pPr marL="0" indent="0">
              <a:buNone/>
            </a:pPr>
            <a:r>
              <a:rPr lang="zh-CN" altLang="en-US" dirty="0"/>
              <a:t>    </a:t>
            </a:r>
            <a:r>
              <a:rPr lang="en-US" altLang="zh-CN" dirty="0"/>
              <a:t>virtual bool </a:t>
            </a:r>
            <a:r>
              <a:rPr lang="en-US" altLang="zh-CN" dirty="0" err="1"/>
              <a:t>IsEmpty</a:t>
            </a:r>
            <a:r>
              <a:rPr lang="en-US" altLang="zh-CN" dirty="0"/>
              <a:t> ( ) const = 0;  //</a:t>
            </a:r>
            <a:r>
              <a:rPr lang="zh-CN" altLang="en-US" dirty="0"/>
              <a:t>判队列空否</a:t>
            </a:r>
            <a:endParaRPr lang="zh-CN" altLang="en-US" dirty="0"/>
          </a:p>
          <a:p>
            <a:pPr marL="0" indent="0">
              <a:buNone/>
            </a:pPr>
            <a:r>
              <a:rPr lang="zh-CN" altLang="en-US" dirty="0"/>
              <a:t>    </a:t>
            </a:r>
            <a:r>
              <a:rPr lang="en-US" altLang="zh-CN" dirty="0"/>
              <a:t>virtual bool </a:t>
            </a:r>
            <a:r>
              <a:rPr lang="en-US" altLang="zh-CN" dirty="0" err="1"/>
              <a:t>IsFull</a:t>
            </a:r>
            <a:r>
              <a:rPr lang="en-US" altLang="zh-CN" dirty="0"/>
              <a:t> ( ) const = 0;      //</a:t>
            </a:r>
            <a:r>
              <a:rPr lang="zh-CN" altLang="en-US" dirty="0"/>
              <a:t>判队列满否</a:t>
            </a:r>
            <a:endParaRPr lang="zh-CN" altLang="en-US" dirty="0"/>
          </a:p>
          <a:p>
            <a:pPr marL="0" indent="0">
              <a:buNone/>
            </a:pPr>
            <a:r>
              <a:rPr lang="zh-CN" altLang="en-US" dirty="0"/>
              <a:t>    </a:t>
            </a:r>
            <a:r>
              <a:rPr lang="en-US" altLang="zh-CN" dirty="0"/>
              <a:t>virtual int </a:t>
            </a:r>
            <a:r>
              <a:rPr lang="en-US" altLang="zh-CN" dirty="0" err="1"/>
              <a:t>getSize</a:t>
            </a:r>
            <a:r>
              <a:rPr lang="en-US" altLang="zh-CN" dirty="0"/>
              <a:t> ( ) const = 0;      //</a:t>
            </a:r>
            <a:r>
              <a:rPr lang="zh-CN" altLang="en-US" dirty="0"/>
              <a:t>求队列大小	</a:t>
            </a:r>
            <a:endParaRPr lang="zh-CN" altLang="en-US" dirty="0"/>
          </a:p>
          <a:p>
            <a:pPr marL="0" indent="0">
              <a:buNone/>
            </a:pPr>
            <a:r>
              <a:rPr lang="en-US" altLang="zh-CN" dirty="0"/>
              <a:t>}</a:t>
            </a:r>
            <a:endParaRPr lang="en-US" altLang="zh-CN"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70"/>
          <p:cNvSpPr>
            <a:spLocks noChangeArrowheads="1"/>
          </p:cNvSpPr>
          <p:nvPr/>
        </p:nvSpPr>
        <p:spPr bwMode="auto">
          <a:xfrm>
            <a:off x="4641776" y="5515000"/>
            <a:ext cx="914400" cy="4572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187" name="Rectangle 168"/>
          <p:cNvSpPr>
            <a:spLocks noChangeArrowheads="1"/>
          </p:cNvSpPr>
          <p:nvPr/>
        </p:nvSpPr>
        <p:spPr bwMode="auto">
          <a:xfrm>
            <a:off x="755576" y="5515000"/>
            <a:ext cx="914400" cy="4572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188" name="Rectangle 162"/>
          <p:cNvSpPr>
            <a:spLocks noChangeArrowheads="1"/>
          </p:cNvSpPr>
          <p:nvPr/>
        </p:nvSpPr>
        <p:spPr bwMode="auto">
          <a:xfrm>
            <a:off x="4641776" y="4219600"/>
            <a:ext cx="914400" cy="4572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189" name="Rectangle 155"/>
          <p:cNvSpPr>
            <a:spLocks noChangeArrowheads="1"/>
          </p:cNvSpPr>
          <p:nvPr/>
        </p:nvSpPr>
        <p:spPr bwMode="auto">
          <a:xfrm>
            <a:off x="755576" y="4219600"/>
            <a:ext cx="457200" cy="457200"/>
          </a:xfrm>
          <a:prstGeom prst="rect">
            <a:avLst/>
          </a:prstGeom>
          <a:solidFill>
            <a:srgbClr val="969696"/>
          </a:solidFill>
          <a:ln w="9525">
            <a:miter lim="800000"/>
          </a:ln>
          <a:scene3d>
            <a:camera prst="legacyObliqueTopRight"/>
            <a:lightRig rig="legacyFlat3" dir="b"/>
          </a:scene3d>
          <a:sp3d extrusionH="430200" prstMaterial="legacyMatte">
            <a:bevelT w="13500" h="13500" prst="angle"/>
            <a:bevelB w="13500" h="13500" prst="angle"/>
            <a:extrusionClr>
              <a:srgbClr val="969696"/>
            </a:extrusionClr>
            <a:contourClr>
              <a:srgbClr val="96969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191" name="Rectangle 5"/>
          <p:cNvSpPr>
            <a:spLocks noChangeArrowheads="1"/>
          </p:cNvSpPr>
          <p:nvPr/>
        </p:nvSpPr>
        <p:spPr bwMode="auto">
          <a:xfrm>
            <a:off x="755576" y="1628800"/>
            <a:ext cx="32004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192" name="Line 9"/>
          <p:cNvSpPr>
            <a:spLocks noChangeShapeType="1"/>
          </p:cNvSpPr>
          <p:nvPr/>
        </p:nvSpPr>
        <p:spPr bwMode="auto">
          <a:xfrm>
            <a:off x="12127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3" name="Line 10"/>
          <p:cNvSpPr>
            <a:spLocks noChangeShapeType="1"/>
          </p:cNvSpPr>
          <p:nvPr/>
        </p:nvSpPr>
        <p:spPr bwMode="auto">
          <a:xfrm flipV="1">
            <a:off x="12127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4" name="Line 11"/>
          <p:cNvSpPr>
            <a:spLocks noChangeShapeType="1"/>
          </p:cNvSpPr>
          <p:nvPr/>
        </p:nvSpPr>
        <p:spPr bwMode="auto">
          <a:xfrm>
            <a:off x="16699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5" name="Line 12"/>
          <p:cNvSpPr>
            <a:spLocks noChangeShapeType="1"/>
          </p:cNvSpPr>
          <p:nvPr/>
        </p:nvSpPr>
        <p:spPr bwMode="auto">
          <a:xfrm flipV="1">
            <a:off x="16699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6" name="Line 13"/>
          <p:cNvSpPr>
            <a:spLocks noChangeShapeType="1"/>
          </p:cNvSpPr>
          <p:nvPr/>
        </p:nvSpPr>
        <p:spPr bwMode="auto">
          <a:xfrm>
            <a:off x="21271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7" name="Line 14"/>
          <p:cNvSpPr>
            <a:spLocks noChangeShapeType="1"/>
          </p:cNvSpPr>
          <p:nvPr/>
        </p:nvSpPr>
        <p:spPr bwMode="auto">
          <a:xfrm flipV="1">
            <a:off x="21271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8" name="Line 15"/>
          <p:cNvSpPr>
            <a:spLocks noChangeShapeType="1"/>
          </p:cNvSpPr>
          <p:nvPr/>
        </p:nvSpPr>
        <p:spPr bwMode="auto">
          <a:xfrm>
            <a:off x="25843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9" name="Line 16"/>
          <p:cNvSpPr>
            <a:spLocks noChangeShapeType="1"/>
          </p:cNvSpPr>
          <p:nvPr/>
        </p:nvSpPr>
        <p:spPr bwMode="auto">
          <a:xfrm flipV="1">
            <a:off x="25843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0" name="Line 17"/>
          <p:cNvSpPr>
            <a:spLocks noChangeShapeType="1"/>
          </p:cNvSpPr>
          <p:nvPr/>
        </p:nvSpPr>
        <p:spPr bwMode="auto">
          <a:xfrm>
            <a:off x="30415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1" name="Line 18"/>
          <p:cNvSpPr>
            <a:spLocks noChangeShapeType="1"/>
          </p:cNvSpPr>
          <p:nvPr/>
        </p:nvSpPr>
        <p:spPr bwMode="auto">
          <a:xfrm flipV="1">
            <a:off x="30415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2" name="Line 19"/>
          <p:cNvSpPr>
            <a:spLocks noChangeShapeType="1"/>
          </p:cNvSpPr>
          <p:nvPr/>
        </p:nvSpPr>
        <p:spPr bwMode="auto">
          <a:xfrm>
            <a:off x="34987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3" name="Line 20"/>
          <p:cNvSpPr>
            <a:spLocks noChangeShapeType="1"/>
          </p:cNvSpPr>
          <p:nvPr/>
        </p:nvSpPr>
        <p:spPr bwMode="auto">
          <a:xfrm flipV="1">
            <a:off x="34987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4" name="Rectangle 21"/>
          <p:cNvSpPr>
            <a:spLocks noChangeArrowheads="1"/>
          </p:cNvSpPr>
          <p:nvPr/>
        </p:nvSpPr>
        <p:spPr bwMode="auto">
          <a:xfrm>
            <a:off x="4641776" y="1628800"/>
            <a:ext cx="32004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93205" name="Line 22"/>
          <p:cNvSpPr>
            <a:spLocks noChangeShapeType="1"/>
          </p:cNvSpPr>
          <p:nvPr/>
        </p:nvSpPr>
        <p:spPr bwMode="auto">
          <a:xfrm>
            <a:off x="50989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6" name="Line 23"/>
          <p:cNvSpPr>
            <a:spLocks noChangeShapeType="1"/>
          </p:cNvSpPr>
          <p:nvPr/>
        </p:nvSpPr>
        <p:spPr bwMode="auto">
          <a:xfrm flipV="1">
            <a:off x="50989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7" name="Line 24"/>
          <p:cNvSpPr>
            <a:spLocks noChangeShapeType="1"/>
          </p:cNvSpPr>
          <p:nvPr/>
        </p:nvSpPr>
        <p:spPr bwMode="auto">
          <a:xfrm>
            <a:off x="55561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8" name="Line 25"/>
          <p:cNvSpPr>
            <a:spLocks noChangeShapeType="1"/>
          </p:cNvSpPr>
          <p:nvPr/>
        </p:nvSpPr>
        <p:spPr bwMode="auto">
          <a:xfrm flipV="1">
            <a:off x="55561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9" name="Line 26"/>
          <p:cNvSpPr>
            <a:spLocks noChangeShapeType="1"/>
          </p:cNvSpPr>
          <p:nvPr/>
        </p:nvSpPr>
        <p:spPr bwMode="auto">
          <a:xfrm>
            <a:off x="60133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0" name="Line 27"/>
          <p:cNvSpPr>
            <a:spLocks noChangeShapeType="1"/>
          </p:cNvSpPr>
          <p:nvPr/>
        </p:nvSpPr>
        <p:spPr bwMode="auto">
          <a:xfrm flipV="1">
            <a:off x="60133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1" name="Line 28"/>
          <p:cNvSpPr>
            <a:spLocks noChangeShapeType="1"/>
          </p:cNvSpPr>
          <p:nvPr/>
        </p:nvSpPr>
        <p:spPr bwMode="auto">
          <a:xfrm>
            <a:off x="64705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2" name="Line 29"/>
          <p:cNvSpPr>
            <a:spLocks noChangeShapeType="1"/>
          </p:cNvSpPr>
          <p:nvPr/>
        </p:nvSpPr>
        <p:spPr bwMode="auto">
          <a:xfrm flipV="1">
            <a:off x="64705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3" name="Line 30"/>
          <p:cNvSpPr>
            <a:spLocks noChangeShapeType="1"/>
          </p:cNvSpPr>
          <p:nvPr/>
        </p:nvSpPr>
        <p:spPr bwMode="auto">
          <a:xfrm>
            <a:off x="69277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4" name="Line 31"/>
          <p:cNvSpPr>
            <a:spLocks noChangeShapeType="1"/>
          </p:cNvSpPr>
          <p:nvPr/>
        </p:nvSpPr>
        <p:spPr bwMode="auto">
          <a:xfrm flipV="1">
            <a:off x="69277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5" name="Line 32"/>
          <p:cNvSpPr>
            <a:spLocks noChangeShapeType="1"/>
          </p:cNvSpPr>
          <p:nvPr/>
        </p:nvSpPr>
        <p:spPr bwMode="auto">
          <a:xfrm>
            <a:off x="7384976" y="162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6" name="Line 33"/>
          <p:cNvSpPr>
            <a:spLocks noChangeShapeType="1"/>
          </p:cNvSpPr>
          <p:nvPr/>
        </p:nvSpPr>
        <p:spPr bwMode="auto">
          <a:xfrm flipV="1">
            <a:off x="7384976" y="147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7" name="Rectangle 34"/>
          <p:cNvSpPr>
            <a:spLocks noChangeArrowheads="1"/>
          </p:cNvSpPr>
          <p:nvPr/>
        </p:nvSpPr>
        <p:spPr bwMode="auto">
          <a:xfrm>
            <a:off x="755576" y="2924200"/>
            <a:ext cx="32004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218" name="Line 35"/>
          <p:cNvSpPr>
            <a:spLocks noChangeShapeType="1"/>
          </p:cNvSpPr>
          <p:nvPr/>
        </p:nvSpPr>
        <p:spPr bwMode="auto">
          <a:xfrm>
            <a:off x="12127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9" name="Line 36"/>
          <p:cNvSpPr>
            <a:spLocks noChangeShapeType="1"/>
          </p:cNvSpPr>
          <p:nvPr/>
        </p:nvSpPr>
        <p:spPr bwMode="auto">
          <a:xfrm flipV="1">
            <a:off x="12127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0" name="Line 37"/>
          <p:cNvSpPr>
            <a:spLocks noChangeShapeType="1"/>
          </p:cNvSpPr>
          <p:nvPr/>
        </p:nvSpPr>
        <p:spPr bwMode="auto">
          <a:xfrm>
            <a:off x="16699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1" name="Line 38"/>
          <p:cNvSpPr>
            <a:spLocks noChangeShapeType="1"/>
          </p:cNvSpPr>
          <p:nvPr/>
        </p:nvSpPr>
        <p:spPr bwMode="auto">
          <a:xfrm flipV="1">
            <a:off x="16699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2" name="Line 39"/>
          <p:cNvSpPr>
            <a:spLocks noChangeShapeType="1"/>
          </p:cNvSpPr>
          <p:nvPr/>
        </p:nvSpPr>
        <p:spPr bwMode="auto">
          <a:xfrm>
            <a:off x="21271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3" name="Line 40"/>
          <p:cNvSpPr>
            <a:spLocks noChangeShapeType="1"/>
          </p:cNvSpPr>
          <p:nvPr/>
        </p:nvSpPr>
        <p:spPr bwMode="auto">
          <a:xfrm flipV="1">
            <a:off x="21271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4" name="Line 41"/>
          <p:cNvSpPr>
            <a:spLocks noChangeShapeType="1"/>
          </p:cNvSpPr>
          <p:nvPr/>
        </p:nvSpPr>
        <p:spPr bwMode="auto">
          <a:xfrm>
            <a:off x="25843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5" name="Line 42"/>
          <p:cNvSpPr>
            <a:spLocks noChangeShapeType="1"/>
          </p:cNvSpPr>
          <p:nvPr/>
        </p:nvSpPr>
        <p:spPr bwMode="auto">
          <a:xfrm flipV="1">
            <a:off x="25843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6" name="Line 43"/>
          <p:cNvSpPr>
            <a:spLocks noChangeShapeType="1"/>
          </p:cNvSpPr>
          <p:nvPr/>
        </p:nvSpPr>
        <p:spPr bwMode="auto">
          <a:xfrm>
            <a:off x="30415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7" name="Line 44"/>
          <p:cNvSpPr>
            <a:spLocks noChangeShapeType="1"/>
          </p:cNvSpPr>
          <p:nvPr/>
        </p:nvSpPr>
        <p:spPr bwMode="auto">
          <a:xfrm flipV="1">
            <a:off x="30415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8" name="Line 45"/>
          <p:cNvSpPr>
            <a:spLocks noChangeShapeType="1"/>
          </p:cNvSpPr>
          <p:nvPr/>
        </p:nvSpPr>
        <p:spPr bwMode="auto">
          <a:xfrm>
            <a:off x="34987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29" name="Line 46"/>
          <p:cNvSpPr>
            <a:spLocks noChangeShapeType="1"/>
          </p:cNvSpPr>
          <p:nvPr/>
        </p:nvSpPr>
        <p:spPr bwMode="auto">
          <a:xfrm flipV="1">
            <a:off x="34987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0" name="Rectangle 47"/>
          <p:cNvSpPr>
            <a:spLocks noChangeArrowheads="1"/>
          </p:cNvSpPr>
          <p:nvPr/>
        </p:nvSpPr>
        <p:spPr bwMode="auto">
          <a:xfrm>
            <a:off x="1212776" y="4219600"/>
            <a:ext cx="27432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231" name="Line 48"/>
          <p:cNvSpPr>
            <a:spLocks noChangeShapeType="1"/>
          </p:cNvSpPr>
          <p:nvPr/>
        </p:nvSpPr>
        <p:spPr bwMode="auto">
          <a:xfrm>
            <a:off x="12127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2" name="Line 49"/>
          <p:cNvSpPr>
            <a:spLocks noChangeShapeType="1"/>
          </p:cNvSpPr>
          <p:nvPr/>
        </p:nvSpPr>
        <p:spPr bwMode="auto">
          <a:xfrm flipV="1">
            <a:off x="12127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3" name="Line 50"/>
          <p:cNvSpPr>
            <a:spLocks noChangeShapeType="1"/>
          </p:cNvSpPr>
          <p:nvPr/>
        </p:nvSpPr>
        <p:spPr bwMode="auto">
          <a:xfrm>
            <a:off x="16699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4" name="Line 51"/>
          <p:cNvSpPr>
            <a:spLocks noChangeShapeType="1"/>
          </p:cNvSpPr>
          <p:nvPr/>
        </p:nvSpPr>
        <p:spPr bwMode="auto">
          <a:xfrm flipV="1">
            <a:off x="16699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5" name="Line 52"/>
          <p:cNvSpPr>
            <a:spLocks noChangeShapeType="1"/>
          </p:cNvSpPr>
          <p:nvPr/>
        </p:nvSpPr>
        <p:spPr bwMode="auto">
          <a:xfrm>
            <a:off x="21271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6" name="Line 53"/>
          <p:cNvSpPr>
            <a:spLocks noChangeShapeType="1"/>
          </p:cNvSpPr>
          <p:nvPr/>
        </p:nvSpPr>
        <p:spPr bwMode="auto">
          <a:xfrm flipV="1">
            <a:off x="21271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7" name="Line 54"/>
          <p:cNvSpPr>
            <a:spLocks noChangeShapeType="1"/>
          </p:cNvSpPr>
          <p:nvPr/>
        </p:nvSpPr>
        <p:spPr bwMode="auto">
          <a:xfrm>
            <a:off x="25843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8" name="Line 55"/>
          <p:cNvSpPr>
            <a:spLocks noChangeShapeType="1"/>
          </p:cNvSpPr>
          <p:nvPr/>
        </p:nvSpPr>
        <p:spPr bwMode="auto">
          <a:xfrm flipV="1">
            <a:off x="25843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39" name="Line 56"/>
          <p:cNvSpPr>
            <a:spLocks noChangeShapeType="1"/>
          </p:cNvSpPr>
          <p:nvPr/>
        </p:nvSpPr>
        <p:spPr bwMode="auto">
          <a:xfrm>
            <a:off x="30415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0" name="Line 57"/>
          <p:cNvSpPr>
            <a:spLocks noChangeShapeType="1"/>
          </p:cNvSpPr>
          <p:nvPr/>
        </p:nvSpPr>
        <p:spPr bwMode="auto">
          <a:xfrm flipV="1">
            <a:off x="30415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1" name="Line 58"/>
          <p:cNvSpPr>
            <a:spLocks noChangeShapeType="1"/>
          </p:cNvSpPr>
          <p:nvPr/>
        </p:nvSpPr>
        <p:spPr bwMode="auto">
          <a:xfrm>
            <a:off x="34987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2" name="Line 59"/>
          <p:cNvSpPr>
            <a:spLocks noChangeShapeType="1"/>
          </p:cNvSpPr>
          <p:nvPr/>
        </p:nvSpPr>
        <p:spPr bwMode="auto">
          <a:xfrm flipV="1">
            <a:off x="34987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3" name="Rectangle 60"/>
          <p:cNvSpPr>
            <a:spLocks noChangeArrowheads="1"/>
          </p:cNvSpPr>
          <p:nvPr/>
        </p:nvSpPr>
        <p:spPr bwMode="auto">
          <a:xfrm>
            <a:off x="4641776" y="2924200"/>
            <a:ext cx="32004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244" name="Line 61"/>
          <p:cNvSpPr>
            <a:spLocks noChangeShapeType="1"/>
          </p:cNvSpPr>
          <p:nvPr/>
        </p:nvSpPr>
        <p:spPr bwMode="auto">
          <a:xfrm>
            <a:off x="50989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5" name="Line 62"/>
          <p:cNvSpPr>
            <a:spLocks noChangeShapeType="1"/>
          </p:cNvSpPr>
          <p:nvPr/>
        </p:nvSpPr>
        <p:spPr bwMode="auto">
          <a:xfrm flipV="1">
            <a:off x="50989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6" name="Line 63"/>
          <p:cNvSpPr>
            <a:spLocks noChangeShapeType="1"/>
          </p:cNvSpPr>
          <p:nvPr/>
        </p:nvSpPr>
        <p:spPr bwMode="auto">
          <a:xfrm>
            <a:off x="55561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7" name="Line 64"/>
          <p:cNvSpPr>
            <a:spLocks noChangeShapeType="1"/>
          </p:cNvSpPr>
          <p:nvPr/>
        </p:nvSpPr>
        <p:spPr bwMode="auto">
          <a:xfrm flipV="1">
            <a:off x="55561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8" name="Line 65"/>
          <p:cNvSpPr>
            <a:spLocks noChangeShapeType="1"/>
          </p:cNvSpPr>
          <p:nvPr/>
        </p:nvSpPr>
        <p:spPr bwMode="auto">
          <a:xfrm>
            <a:off x="60133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49" name="Line 66"/>
          <p:cNvSpPr>
            <a:spLocks noChangeShapeType="1"/>
          </p:cNvSpPr>
          <p:nvPr/>
        </p:nvSpPr>
        <p:spPr bwMode="auto">
          <a:xfrm flipV="1">
            <a:off x="60133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0" name="Line 67"/>
          <p:cNvSpPr>
            <a:spLocks noChangeShapeType="1"/>
          </p:cNvSpPr>
          <p:nvPr/>
        </p:nvSpPr>
        <p:spPr bwMode="auto">
          <a:xfrm>
            <a:off x="64705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1" name="Line 68"/>
          <p:cNvSpPr>
            <a:spLocks noChangeShapeType="1"/>
          </p:cNvSpPr>
          <p:nvPr/>
        </p:nvSpPr>
        <p:spPr bwMode="auto">
          <a:xfrm flipV="1">
            <a:off x="64705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2" name="Line 69"/>
          <p:cNvSpPr>
            <a:spLocks noChangeShapeType="1"/>
          </p:cNvSpPr>
          <p:nvPr/>
        </p:nvSpPr>
        <p:spPr bwMode="auto">
          <a:xfrm>
            <a:off x="69277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3" name="Line 70"/>
          <p:cNvSpPr>
            <a:spLocks noChangeShapeType="1"/>
          </p:cNvSpPr>
          <p:nvPr/>
        </p:nvSpPr>
        <p:spPr bwMode="auto">
          <a:xfrm flipV="1">
            <a:off x="69277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4" name="Line 71"/>
          <p:cNvSpPr>
            <a:spLocks noChangeShapeType="1"/>
          </p:cNvSpPr>
          <p:nvPr/>
        </p:nvSpPr>
        <p:spPr bwMode="auto">
          <a:xfrm>
            <a:off x="7384976" y="2924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5" name="Line 72"/>
          <p:cNvSpPr>
            <a:spLocks noChangeShapeType="1"/>
          </p:cNvSpPr>
          <p:nvPr/>
        </p:nvSpPr>
        <p:spPr bwMode="auto">
          <a:xfrm flipV="1">
            <a:off x="7384976" y="27718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6" name="Rectangle 73"/>
          <p:cNvSpPr>
            <a:spLocks noChangeArrowheads="1"/>
          </p:cNvSpPr>
          <p:nvPr/>
        </p:nvSpPr>
        <p:spPr bwMode="auto">
          <a:xfrm>
            <a:off x="5556176" y="4219600"/>
            <a:ext cx="22860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257" name="Line 74"/>
          <p:cNvSpPr>
            <a:spLocks noChangeShapeType="1"/>
          </p:cNvSpPr>
          <p:nvPr/>
        </p:nvSpPr>
        <p:spPr bwMode="auto">
          <a:xfrm>
            <a:off x="50989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8" name="Line 75"/>
          <p:cNvSpPr>
            <a:spLocks noChangeShapeType="1"/>
          </p:cNvSpPr>
          <p:nvPr/>
        </p:nvSpPr>
        <p:spPr bwMode="auto">
          <a:xfrm flipV="1">
            <a:off x="50989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59" name="Line 76"/>
          <p:cNvSpPr>
            <a:spLocks noChangeShapeType="1"/>
          </p:cNvSpPr>
          <p:nvPr/>
        </p:nvSpPr>
        <p:spPr bwMode="auto">
          <a:xfrm>
            <a:off x="55561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0" name="Line 77"/>
          <p:cNvSpPr>
            <a:spLocks noChangeShapeType="1"/>
          </p:cNvSpPr>
          <p:nvPr/>
        </p:nvSpPr>
        <p:spPr bwMode="auto">
          <a:xfrm flipV="1">
            <a:off x="55561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1" name="Line 78"/>
          <p:cNvSpPr>
            <a:spLocks noChangeShapeType="1"/>
          </p:cNvSpPr>
          <p:nvPr/>
        </p:nvSpPr>
        <p:spPr bwMode="auto">
          <a:xfrm>
            <a:off x="60133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2" name="Line 79"/>
          <p:cNvSpPr>
            <a:spLocks noChangeShapeType="1"/>
          </p:cNvSpPr>
          <p:nvPr/>
        </p:nvSpPr>
        <p:spPr bwMode="auto">
          <a:xfrm flipV="1">
            <a:off x="60133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3" name="Line 80"/>
          <p:cNvSpPr>
            <a:spLocks noChangeShapeType="1"/>
          </p:cNvSpPr>
          <p:nvPr/>
        </p:nvSpPr>
        <p:spPr bwMode="auto">
          <a:xfrm>
            <a:off x="64705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4" name="Line 81"/>
          <p:cNvSpPr>
            <a:spLocks noChangeShapeType="1"/>
          </p:cNvSpPr>
          <p:nvPr/>
        </p:nvSpPr>
        <p:spPr bwMode="auto">
          <a:xfrm flipV="1">
            <a:off x="64705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5" name="Line 82"/>
          <p:cNvSpPr>
            <a:spLocks noChangeShapeType="1"/>
          </p:cNvSpPr>
          <p:nvPr/>
        </p:nvSpPr>
        <p:spPr bwMode="auto">
          <a:xfrm>
            <a:off x="69277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6" name="Line 83"/>
          <p:cNvSpPr>
            <a:spLocks noChangeShapeType="1"/>
          </p:cNvSpPr>
          <p:nvPr/>
        </p:nvSpPr>
        <p:spPr bwMode="auto">
          <a:xfrm flipV="1">
            <a:off x="69277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7" name="Line 84"/>
          <p:cNvSpPr>
            <a:spLocks noChangeShapeType="1"/>
          </p:cNvSpPr>
          <p:nvPr/>
        </p:nvSpPr>
        <p:spPr bwMode="auto">
          <a:xfrm>
            <a:off x="7384976" y="4219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8" name="Line 85"/>
          <p:cNvSpPr>
            <a:spLocks noChangeShapeType="1"/>
          </p:cNvSpPr>
          <p:nvPr/>
        </p:nvSpPr>
        <p:spPr bwMode="auto">
          <a:xfrm flipV="1">
            <a:off x="7384976" y="4067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69" name="Rectangle 86"/>
          <p:cNvSpPr>
            <a:spLocks noChangeArrowheads="1"/>
          </p:cNvSpPr>
          <p:nvPr/>
        </p:nvSpPr>
        <p:spPr bwMode="auto">
          <a:xfrm>
            <a:off x="5556176" y="5515000"/>
            <a:ext cx="22860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270" name="Line 87"/>
          <p:cNvSpPr>
            <a:spLocks noChangeShapeType="1"/>
          </p:cNvSpPr>
          <p:nvPr/>
        </p:nvSpPr>
        <p:spPr bwMode="auto">
          <a:xfrm>
            <a:off x="50989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1" name="Line 88"/>
          <p:cNvSpPr>
            <a:spLocks noChangeShapeType="1"/>
          </p:cNvSpPr>
          <p:nvPr/>
        </p:nvSpPr>
        <p:spPr bwMode="auto">
          <a:xfrm flipV="1">
            <a:off x="50989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2" name="Line 89"/>
          <p:cNvSpPr>
            <a:spLocks noChangeShapeType="1"/>
          </p:cNvSpPr>
          <p:nvPr/>
        </p:nvSpPr>
        <p:spPr bwMode="auto">
          <a:xfrm>
            <a:off x="55561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3" name="Line 90"/>
          <p:cNvSpPr>
            <a:spLocks noChangeShapeType="1"/>
          </p:cNvSpPr>
          <p:nvPr/>
        </p:nvSpPr>
        <p:spPr bwMode="auto">
          <a:xfrm flipV="1">
            <a:off x="55561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4" name="Line 91"/>
          <p:cNvSpPr>
            <a:spLocks noChangeShapeType="1"/>
          </p:cNvSpPr>
          <p:nvPr/>
        </p:nvSpPr>
        <p:spPr bwMode="auto">
          <a:xfrm>
            <a:off x="60133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5" name="Line 92"/>
          <p:cNvSpPr>
            <a:spLocks noChangeShapeType="1"/>
          </p:cNvSpPr>
          <p:nvPr/>
        </p:nvSpPr>
        <p:spPr bwMode="auto">
          <a:xfrm flipV="1">
            <a:off x="60133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6" name="Line 93"/>
          <p:cNvSpPr>
            <a:spLocks noChangeShapeType="1"/>
          </p:cNvSpPr>
          <p:nvPr/>
        </p:nvSpPr>
        <p:spPr bwMode="auto">
          <a:xfrm>
            <a:off x="64705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7" name="Line 94"/>
          <p:cNvSpPr>
            <a:spLocks noChangeShapeType="1"/>
          </p:cNvSpPr>
          <p:nvPr/>
        </p:nvSpPr>
        <p:spPr bwMode="auto">
          <a:xfrm flipV="1">
            <a:off x="64705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8" name="Line 95"/>
          <p:cNvSpPr>
            <a:spLocks noChangeShapeType="1"/>
          </p:cNvSpPr>
          <p:nvPr/>
        </p:nvSpPr>
        <p:spPr bwMode="auto">
          <a:xfrm>
            <a:off x="69277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79" name="Line 96"/>
          <p:cNvSpPr>
            <a:spLocks noChangeShapeType="1"/>
          </p:cNvSpPr>
          <p:nvPr/>
        </p:nvSpPr>
        <p:spPr bwMode="auto">
          <a:xfrm flipV="1">
            <a:off x="69277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0" name="Line 97"/>
          <p:cNvSpPr>
            <a:spLocks noChangeShapeType="1"/>
          </p:cNvSpPr>
          <p:nvPr/>
        </p:nvSpPr>
        <p:spPr bwMode="auto">
          <a:xfrm>
            <a:off x="73849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1" name="Line 98"/>
          <p:cNvSpPr>
            <a:spLocks noChangeShapeType="1"/>
          </p:cNvSpPr>
          <p:nvPr/>
        </p:nvSpPr>
        <p:spPr bwMode="auto">
          <a:xfrm flipV="1">
            <a:off x="73849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2" name="Rectangle 99"/>
          <p:cNvSpPr>
            <a:spLocks noChangeArrowheads="1"/>
          </p:cNvSpPr>
          <p:nvPr/>
        </p:nvSpPr>
        <p:spPr bwMode="auto">
          <a:xfrm>
            <a:off x="1669976" y="5515000"/>
            <a:ext cx="2286000" cy="457200"/>
          </a:xfrm>
          <a:prstGeom prst="rect">
            <a:avLst/>
          </a:prstGeom>
          <a:solidFill>
            <a:schemeClr val="bg1"/>
          </a:solidFill>
          <a:ln w="9525">
            <a:miter lim="800000"/>
          </a:ln>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3283" name="Line 100"/>
          <p:cNvSpPr>
            <a:spLocks noChangeShapeType="1"/>
          </p:cNvSpPr>
          <p:nvPr/>
        </p:nvSpPr>
        <p:spPr bwMode="auto">
          <a:xfrm>
            <a:off x="12127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4" name="Line 101"/>
          <p:cNvSpPr>
            <a:spLocks noChangeShapeType="1"/>
          </p:cNvSpPr>
          <p:nvPr/>
        </p:nvSpPr>
        <p:spPr bwMode="auto">
          <a:xfrm flipV="1">
            <a:off x="12127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5" name="Line 102"/>
          <p:cNvSpPr>
            <a:spLocks noChangeShapeType="1"/>
          </p:cNvSpPr>
          <p:nvPr/>
        </p:nvSpPr>
        <p:spPr bwMode="auto">
          <a:xfrm>
            <a:off x="16699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6" name="Line 103"/>
          <p:cNvSpPr>
            <a:spLocks noChangeShapeType="1"/>
          </p:cNvSpPr>
          <p:nvPr/>
        </p:nvSpPr>
        <p:spPr bwMode="auto">
          <a:xfrm flipV="1">
            <a:off x="16699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7" name="Line 104"/>
          <p:cNvSpPr>
            <a:spLocks noChangeShapeType="1"/>
          </p:cNvSpPr>
          <p:nvPr/>
        </p:nvSpPr>
        <p:spPr bwMode="auto">
          <a:xfrm>
            <a:off x="21271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8" name="Line 105"/>
          <p:cNvSpPr>
            <a:spLocks noChangeShapeType="1"/>
          </p:cNvSpPr>
          <p:nvPr/>
        </p:nvSpPr>
        <p:spPr bwMode="auto">
          <a:xfrm flipV="1">
            <a:off x="21271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89" name="Line 106"/>
          <p:cNvSpPr>
            <a:spLocks noChangeShapeType="1"/>
          </p:cNvSpPr>
          <p:nvPr/>
        </p:nvSpPr>
        <p:spPr bwMode="auto">
          <a:xfrm>
            <a:off x="25843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0" name="Line 107"/>
          <p:cNvSpPr>
            <a:spLocks noChangeShapeType="1"/>
          </p:cNvSpPr>
          <p:nvPr/>
        </p:nvSpPr>
        <p:spPr bwMode="auto">
          <a:xfrm flipV="1">
            <a:off x="25843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1" name="Line 108"/>
          <p:cNvSpPr>
            <a:spLocks noChangeShapeType="1"/>
          </p:cNvSpPr>
          <p:nvPr/>
        </p:nvSpPr>
        <p:spPr bwMode="auto">
          <a:xfrm>
            <a:off x="30415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2" name="Line 109"/>
          <p:cNvSpPr>
            <a:spLocks noChangeShapeType="1"/>
          </p:cNvSpPr>
          <p:nvPr/>
        </p:nvSpPr>
        <p:spPr bwMode="auto">
          <a:xfrm flipV="1">
            <a:off x="30415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3" name="Line 110"/>
          <p:cNvSpPr>
            <a:spLocks noChangeShapeType="1"/>
          </p:cNvSpPr>
          <p:nvPr/>
        </p:nvSpPr>
        <p:spPr bwMode="auto">
          <a:xfrm>
            <a:off x="3498776" y="5515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4" name="Line 111"/>
          <p:cNvSpPr>
            <a:spLocks noChangeShapeType="1"/>
          </p:cNvSpPr>
          <p:nvPr/>
        </p:nvSpPr>
        <p:spPr bwMode="auto">
          <a:xfrm flipV="1">
            <a:off x="3498776" y="53626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5" name="Text Box 112"/>
          <p:cNvSpPr txBox="1">
            <a:spLocks noChangeArrowheads="1"/>
          </p:cNvSpPr>
          <p:nvPr/>
        </p:nvSpPr>
        <p:spPr bwMode="auto">
          <a:xfrm>
            <a:off x="665089" y="22384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296" name="Text Box 126"/>
          <p:cNvSpPr txBox="1">
            <a:spLocks noChangeArrowheads="1"/>
          </p:cNvSpPr>
          <p:nvPr/>
        </p:nvSpPr>
        <p:spPr bwMode="auto">
          <a:xfrm>
            <a:off x="1511226" y="22384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297" name="Line 127"/>
          <p:cNvSpPr>
            <a:spLocks noChangeShapeType="1"/>
          </p:cNvSpPr>
          <p:nvPr/>
        </p:nvSpPr>
        <p:spPr bwMode="auto">
          <a:xfrm flipH="1">
            <a:off x="831776" y="2147913"/>
            <a:ext cx="90488" cy="242887"/>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8" name="Line 128"/>
          <p:cNvSpPr>
            <a:spLocks noChangeShapeType="1"/>
          </p:cNvSpPr>
          <p:nvPr/>
        </p:nvSpPr>
        <p:spPr bwMode="auto">
          <a:xfrm flipH="1" flipV="1">
            <a:off x="1071489" y="2162200"/>
            <a:ext cx="522287" cy="228600"/>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99" name="Text Box 129"/>
          <p:cNvSpPr txBox="1">
            <a:spLocks noChangeArrowheads="1"/>
          </p:cNvSpPr>
          <p:nvPr/>
        </p:nvSpPr>
        <p:spPr bwMode="auto">
          <a:xfrm>
            <a:off x="2203376" y="2176488"/>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solidFill>
                  <a:srgbClr val="0000FF"/>
                </a:solidFill>
                <a:latin typeface="Times New Roman" panose="02020603050405020304" pitchFamily="18" charset="0"/>
                <a:ea typeface="隶书" panose="02010509060101010101" pitchFamily="49" charset="-122"/>
              </a:rPr>
              <a:t>空队列</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00" name="Text Box 130"/>
          <p:cNvSpPr txBox="1">
            <a:spLocks noChangeArrowheads="1"/>
          </p:cNvSpPr>
          <p:nvPr/>
        </p:nvSpPr>
        <p:spPr bwMode="auto">
          <a:xfrm>
            <a:off x="4595739" y="22384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01" name="Text Box 131"/>
          <p:cNvSpPr txBox="1">
            <a:spLocks noChangeArrowheads="1"/>
          </p:cNvSpPr>
          <p:nvPr/>
        </p:nvSpPr>
        <p:spPr bwMode="auto">
          <a:xfrm>
            <a:off x="5441876" y="22384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02" name="Line 132"/>
          <p:cNvSpPr>
            <a:spLocks noChangeShapeType="1"/>
          </p:cNvSpPr>
          <p:nvPr/>
        </p:nvSpPr>
        <p:spPr bwMode="auto">
          <a:xfrm flipH="1">
            <a:off x="4762426" y="2128863"/>
            <a:ext cx="76200" cy="261937"/>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03" name="Line 133"/>
          <p:cNvSpPr>
            <a:spLocks noChangeShapeType="1"/>
          </p:cNvSpPr>
          <p:nvPr/>
        </p:nvSpPr>
        <p:spPr bwMode="auto">
          <a:xfrm flipH="1" flipV="1">
            <a:off x="5319639" y="2114575"/>
            <a:ext cx="204787" cy="276225"/>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04" name="Text Box 134"/>
          <p:cNvSpPr txBox="1">
            <a:spLocks noChangeArrowheads="1"/>
          </p:cNvSpPr>
          <p:nvPr/>
        </p:nvSpPr>
        <p:spPr bwMode="auto">
          <a:xfrm>
            <a:off x="6134026" y="2198713"/>
            <a:ext cx="1152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A</a:t>
            </a:r>
            <a:r>
              <a:rPr kumimoji="1" lang="zh-CN" altLang="en-US" sz="2800">
                <a:solidFill>
                  <a:srgbClr val="0000FF"/>
                </a:solidFill>
                <a:latin typeface="Times New Roman" panose="02020603050405020304" pitchFamily="18" charset="0"/>
                <a:ea typeface="隶书" panose="02010509060101010101" pitchFamily="49" charset="-122"/>
              </a:rPr>
              <a:t>进队</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05" name="Text Box 136"/>
          <p:cNvSpPr txBox="1">
            <a:spLocks noChangeArrowheads="1"/>
          </p:cNvSpPr>
          <p:nvPr/>
        </p:nvSpPr>
        <p:spPr bwMode="auto">
          <a:xfrm>
            <a:off x="4657651" y="1566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3306" name="Text Box 137"/>
          <p:cNvSpPr txBox="1">
            <a:spLocks noChangeArrowheads="1"/>
          </p:cNvSpPr>
          <p:nvPr/>
        </p:nvSpPr>
        <p:spPr bwMode="auto">
          <a:xfrm>
            <a:off x="709539" y="35338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07" name="Text Box 138"/>
          <p:cNvSpPr txBox="1">
            <a:spLocks noChangeArrowheads="1"/>
          </p:cNvSpPr>
          <p:nvPr/>
        </p:nvSpPr>
        <p:spPr bwMode="auto">
          <a:xfrm>
            <a:off x="1555676" y="35338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08" name="Line 139"/>
          <p:cNvSpPr>
            <a:spLocks noChangeShapeType="1"/>
          </p:cNvSpPr>
          <p:nvPr/>
        </p:nvSpPr>
        <p:spPr bwMode="auto">
          <a:xfrm>
            <a:off x="936551" y="3381400"/>
            <a:ext cx="273050" cy="304800"/>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09" name="Line 140"/>
          <p:cNvSpPr>
            <a:spLocks noChangeShapeType="1"/>
          </p:cNvSpPr>
          <p:nvPr/>
        </p:nvSpPr>
        <p:spPr bwMode="auto">
          <a:xfrm flipV="1">
            <a:off x="1669976" y="3367113"/>
            <a:ext cx="233363" cy="319087"/>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10" name="Text Box 141"/>
          <p:cNvSpPr txBox="1">
            <a:spLocks noChangeArrowheads="1"/>
          </p:cNvSpPr>
          <p:nvPr/>
        </p:nvSpPr>
        <p:spPr bwMode="auto">
          <a:xfrm>
            <a:off x="2247826" y="3494113"/>
            <a:ext cx="1131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B</a:t>
            </a:r>
            <a:r>
              <a:rPr kumimoji="1" lang="zh-CN" altLang="en-US" sz="2800">
                <a:solidFill>
                  <a:srgbClr val="0000FF"/>
                </a:solidFill>
                <a:latin typeface="Times New Roman" panose="02020603050405020304" pitchFamily="18" charset="0"/>
                <a:ea typeface="隶书" panose="02010509060101010101" pitchFamily="49" charset="-122"/>
              </a:rPr>
              <a:t>进队</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11" name="Text Box 142"/>
          <p:cNvSpPr txBox="1">
            <a:spLocks noChangeArrowheads="1"/>
          </p:cNvSpPr>
          <p:nvPr/>
        </p:nvSpPr>
        <p:spPr bwMode="auto">
          <a:xfrm>
            <a:off x="814314" y="2862288"/>
            <a:ext cx="8556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A  B</a:t>
            </a:r>
            <a:endParaRPr kumimoji="1" lang="en-US" altLang="zh-CN" sz="2400">
              <a:latin typeface="Times New Roman" panose="02020603050405020304" pitchFamily="18" charset="0"/>
              <a:ea typeface="宋体" panose="02010600030101010101" pitchFamily="2" charset="-122"/>
            </a:endParaRPr>
          </a:p>
        </p:txBody>
      </p:sp>
      <p:sp>
        <p:nvSpPr>
          <p:cNvPr id="93312" name="Text Box 143"/>
          <p:cNvSpPr txBox="1">
            <a:spLocks noChangeArrowheads="1"/>
          </p:cNvSpPr>
          <p:nvPr/>
        </p:nvSpPr>
        <p:spPr bwMode="auto">
          <a:xfrm>
            <a:off x="4562401" y="3519513"/>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13" name="Text Box 144"/>
          <p:cNvSpPr txBox="1">
            <a:spLocks noChangeArrowheads="1"/>
          </p:cNvSpPr>
          <p:nvPr/>
        </p:nvSpPr>
        <p:spPr bwMode="auto">
          <a:xfrm>
            <a:off x="5408539" y="3519513"/>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14" name="Line 145"/>
          <p:cNvSpPr>
            <a:spLocks noChangeShapeType="1"/>
          </p:cNvSpPr>
          <p:nvPr/>
        </p:nvSpPr>
        <p:spPr bwMode="auto">
          <a:xfrm>
            <a:off x="4760839" y="3381400"/>
            <a:ext cx="273050" cy="304800"/>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15" name="Line 146"/>
          <p:cNvSpPr>
            <a:spLocks noChangeShapeType="1"/>
          </p:cNvSpPr>
          <p:nvPr/>
        </p:nvSpPr>
        <p:spPr bwMode="auto">
          <a:xfrm flipV="1">
            <a:off x="5708576" y="3367113"/>
            <a:ext cx="981075" cy="319087"/>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16" name="Text Box 147"/>
          <p:cNvSpPr txBox="1">
            <a:spLocks noChangeArrowheads="1"/>
          </p:cNvSpPr>
          <p:nvPr/>
        </p:nvSpPr>
        <p:spPr bwMode="auto">
          <a:xfrm>
            <a:off x="6100689" y="3479825"/>
            <a:ext cx="1587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C, D</a:t>
            </a:r>
            <a:r>
              <a:rPr kumimoji="1" lang="zh-CN" altLang="en-US" sz="2800">
                <a:solidFill>
                  <a:srgbClr val="0000FF"/>
                </a:solidFill>
                <a:latin typeface="Times New Roman" panose="02020603050405020304" pitchFamily="18" charset="0"/>
                <a:ea typeface="隶书" panose="02010509060101010101" pitchFamily="49" charset="-122"/>
              </a:rPr>
              <a:t>进队</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17" name="Text Box 148"/>
          <p:cNvSpPr txBox="1">
            <a:spLocks noChangeArrowheads="1"/>
          </p:cNvSpPr>
          <p:nvPr/>
        </p:nvSpPr>
        <p:spPr bwMode="auto">
          <a:xfrm>
            <a:off x="4667176" y="2862288"/>
            <a:ext cx="1814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A  B   C  D</a:t>
            </a:r>
            <a:endParaRPr kumimoji="1" lang="en-US" altLang="zh-CN" sz="2400">
              <a:latin typeface="Times New Roman" panose="02020603050405020304" pitchFamily="18" charset="0"/>
              <a:ea typeface="宋体" panose="02010600030101010101" pitchFamily="2" charset="-122"/>
            </a:endParaRPr>
          </a:p>
        </p:txBody>
      </p:sp>
      <p:sp>
        <p:nvSpPr>
          <p:cNvPr id="93318" name="Text Box 149"/>
          <p:cNvSpPr txBox="1">
            <a:spLocks noChangeArrowheads="1"/>
          </p:cNvSpPr>
          <p:nvPr/>
        </p:nvSpPr>
        <p:spPr bwMode="auto">
          <a:xfrm>
            <a:off x="709539" y="4814913"/>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19" name="Text Box 150"/>
          <p:cNvSpPr txBox="1">
            <a:spLocks noChangeArrowheads="1"/>
          </p:cNvSpPr>
          <p:nvPr/>
        </p:nvSpPr>
        <p:spPr bwMode="auto">
          <a:xfrm>
            <a:off x="1555676" y="4814913"/>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20" name="Line 151"/>
          <p:cNvSpPr>
            <a:spLocks noChangeShapeType="1"/>
          </p:cNvSpPr>
          <p:nvPr/>
        </p:nvSpPr>
        <p:spPr bwMode="auto">
          <a:xfrm flipH="1">
            <a:off x="1155626" y="4676800"/>
            <a:ext cx="298450" cy="274638"/>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21" name="Line 152"/>
          <p:cNvSpPr>
            <a:spLocks noChangeShapeType="1"/>
          </p:cNvSpPr>
          <p:nvPr/>
        </p:nvSpPr>
        <p:spPr bwMode="auto">
          <a:xfrm flipV="1">
            <a:off x="1974776" y="4676800"/>
            <a:ext cx="903288" cy="304800"/>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22" name="Text Box 153"/>
          <p:cNvSpPr txBox="1">
            <a:spLocks noChangeArrowheads="1"/>
          </p:cNvSpPr>
          <p:nvPr/>
        </p:nvSpPr>
        <p:spPr bwMode="auto">
          <a:xfrm>
            <a:off x="2247826" y="4775225"/>
            <a:ext cx="115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A</a:t>
            </a:r>
            <a:r>
              <a:rPr kumimoji="1" lang="zh-CN" altLang="en-US" sz="2800">
                <a:solidFill>
                  <a:srgbClr val="0000FF"/>
                </a:solidFill>
                <a:latin typeface="Times New Roman" panose="02020603050405020304" pitchFamily="18" charset="0"/>
                <a:ea typeface="隶书" panose="02010509060101010101" pitchFamily="49" charset="-122"/>
              </a:rPr>
              <a:t>退队</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23" name="Text Box 154"/>
          <p:cNvSpPr txBox="1">
            <a:spLocks noChangeArrowheads="1"/>
          </p:cNvSpPr>
          <p:nvPr/>
        </p:nvSpPr>
        <p:spPr bwMode="auto">
          <a:xfrm>
            <a:off x="1217539" y="4143400"/>
            <a:ext cx="1290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B  C  D</a:t>
            </a:r>
            <a:endParaRPr kumimoji="1" lang="en-US" altLang="zh-CN" sz="2400">
              <a:latin typeface="Times New Roman" panose="02020603050405020304" pitchFamily="18" charset="0"/>
              <a:ea typeface="宋体" panose="02010600030101010101" pitchFamily="2" charset="-122"/>
            </a:endParaRPr>
          </a:p>
        </p:txBody>
      </p:sp>
      <p:sp>
        <p:nvSpPr>
          <p:cNvPr id="93324" name="Text Box 156"/>
          <p:cNvSpPr txBox="1">
            <a:spLocks noChangeArrowheads="1"/>
          </p:cNvSpPr>
          <p:nvPr/>
        </p:nvSpPr>
        <p:spPr bwMode="auto">
          <a:xfrm>
            <a:off x="4562401" y="4814913"/>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25" name="Text Box 157"/>
          <p:cNvSpPr txBox="1">
            <a:spLocks noChangeArrowheads="1"/>
          </p:cNvSpPr>
          <p:nvPr/>
        </p:nvSpPr>
        <p:spPr bwMode="auto">
          <a:xfrm>
            <a:off x="5408539" y="4814913"/>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26" name="Line 158"/>
          <p:cNvSpPr>
            <a:spLocks noChangeShapeType="1"/>
          </p:cNvSpPr>
          <p:nvPr/>
        </p:nvSpPr>
        <p:spPr bwMode="auto">
          <a:xfrm flipH="1">
            <a:off x="5065639" y="4633938"/>
            <a:ext cx="725487" cy="347662"/>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27" name="Line 159"/>
          <p:cNvSpPr>
            <a:spLocks noChangeShapeType="1"/>
          </p:cNvSpPr>
          <p:nvPr/>
        </p:nvSpPr>
        <p:spPr bwMode="auto">
          <a:xfrm flipV="1">
            <a:off x="5827639" y="4676800"/>
            <a:ext cx="846137" cy="304800"/>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28" name="Text Box 160"/>
          <p:cNvSpPr txBox="1">
            <a:spLocks noChangeArrowheads="1"/>
          </p:cNvSpPr>
          <p:nvPr/>
        </p:nvSpPr>
        <p:spPr bwMode="auto">
          <a:xfrm>
            <a:off x="6100689" y="4775225"/>
            <a:ext cx="1131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B</a:t>
            </a:r>
            <a:r>
              <a:rPr kumimoji="1" lang="zh-CN" altLang="en-US" sz="2800">
                <a:solidFill>
                  <a:srgbClr val="0000FF"/>
                </a:solidFill>
                <a:latin typeface="Times New Roman" panose="02020603050405020304" pitchFamily="18" charset="0"/>
                <a:ea typeface="隶书" panose="02010509060101010101" pitchFamily="49" charset="-122"/>
              </a:rPr>
              <a:t>退队</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29" name="Text Box 161"/>
          <p:cNvSpPr txBox="1">
            <a:spLocks noChangeArrowheads="1"/>
          </p:cNvSpPr>
          <p:nvPr/>
        </p:nvSpPr>
        <p:spPr bwMode="auto">
          <a:xfrm>
            <a:off x="5594276" y="4143400"/>
            <a:ext cx="876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C  D</a:t>
            </a:r>
            <a:endParaRPr kumimoji="1" lang="en-US" altLang="zh-CN" sz="2400">
              <a:latin typeface="Times New Roman" panose="02020603050405020304" pitchFamily="18" charset="0"/>
              <a:ea typeface="宋体" panose="02010600030101010101" pitchFamily="2" charset="-122"/>
            </a:endParaRPr>
          </a:p>
        </p:txBody>
      </p:sp>
      <p:sp>
        <p:nvSpPr>
          <p:cNvPr id="93330" name="Text Box 163"/>
          <p:cNvSpPr txBox="1">
            <a:spLocks noChangeArrowheads="1"/>
          </p:cNvSpPr>
          <p:nvPr/>
        </p:nvSpPr>
        <p:spPr bwMode="auto">
          <a:xfrm>
            <a:off x="679376" y="6110313"/>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31" name="Text Box 164"/>
          <p:cNvSpPr txBox="1">
            <a:spLocks noChangeArrowheads="1"/>
          </p:cNvSpPr>
          <p:nvPr/>
        </p:nvSpPr>
        <p:spPr bwMode="auto">
          <a:xfrm>
            <a:off x="1525514" y="6110313"/>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32" name="Line 165"/>
          <p:cNvSpPr>
            <a:spLocks noChangeShapeType="1"/>
          </p:cNvSpPr>
          <p:nvPr/>
        </p:nvSpPr>
        <p:spPr bwMode="auto">
          <a:xfrm flipH="1">
            <a:off x="1182614" y="5986488"/>
            <a:ext cx="682625" cy="290512"/>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33" name="Line 166"/>
          <p:cNvSpPr>
            <a:spLocks noChangeShapeType="1"/>
          </p:cNvSpPr>
          <p:nvPr/>
        </p:nvSpPr>
        <p:spPr bwMode="auto">
          <a:xfrm flipV="1">
            <a:off x="1944614" y="5943625"/>
            <a:ext cx="2290762" cy="333375"/>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34" name="Text Box 167"/>
          <p:cNvSpPr txBox="1">
            <a:spLocks noChangeArrowheads="1"/>
          </p:cNvSpPr>
          <p:nvPr/>
        </p:nvSpPr>
        <p:spPr bwMode="auto">
          <a:xfrm>
            <a:off x="2217664" y="6070625"/>
            <a:ext cx="1806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E,F,G</a:t>
            </a:r>
            <a:r>
              <a:rPr kumimoji="1" lang="zh-CN" altLang="en-US" sz="2800" b="1">
                <a:solidFill>
                  <a:srgbClr val="0000FF"/>
                </a:solidFill>
                <a:latin typeface="Times New Roman" panose="02020603050405020304" pitchFamily="18" charset="0"/>
                <a:ea typeface="隶书" panose="02010509060101010101" pitchFamily="49" charset="-122"/>
              </a:rPr>
              <a:t>进</a:t>
            </a:r>
            <a:r>
              <a:rPr kumimoji="1" lang="zh-CN" altLang="en-US" sz="2800">
                <a:solidFill>
                  <a:srgbClr val="0000FF"/>
                </a:solidFill>
                <a:latin typeface="Times New Roman" panose="02020603050405020304" pitchFamily="18" charset="0"/>
                <a:ea typeface="隶书" panose="02010509060101010101" pitchFamily="49" charset="-122"/>
              </a:rPr>
              <a:t>队</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93335" name="Text Box 169"/>
          <p:cNvSpPr txBox="1">
            <a:spLocks noChangeArrowheads="1"/>
          </p:cNvSpPr>
          <p:nvPr/>
        </p:nvSpPr>
        <p:spPr bwMode="auto">
          <a:xfrm>
            <a:off x="1708076" y="5453088"/>
            <a:ext cx="2228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C  D  E  F   G</a:t>
            </a:r>
            <a:endParaRPr kumimoji="1" lang="en-US" altLang="zh-CN" sz="2400">
              <a:latin typeface="Times New Roman" panose="02020603050405020304" pitchFamily="18" charset="0"/>
              <a:ea typeface="宋体" panose="02010600030101010101" pitchFamily="2" charset="-122"/>
            </a:endParaRPr>
          </a:p>
        </p:txBody>
      </p:sp>
      <p:sp>
        <p:nvSpPr>
          <p:cNvPr id="93336" name="Text Box 171"/>
          <p:cNvSpPr txBox="1">
            <a:spLocks noChangeArrowheads="1"/>
          </p:cNvSpPr>
          <p:nvPr/>
        </p:nvSpPr>
        <p:spPr bwMode="auto">
          <a:xfrm>
            <a:off x="5632376" y="5453088"/>
            <a:ext cx="2228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ea typeface="宋体" panose="02010600030101010101" pitchFamily="2" charset="-122"/>
              </a:rPr>
              <a:t>C  D  E  F   G</a:t>
            </a:r>
            <a:endParaRPr kumimoji="1" lang="en-US" altLang="zh-CN" sz="2400">
              <a:latin typeface="Times New Roman" panose="02020603050405020304" pitchFamily="18" charset="0"/>
              <a:ea typeface="宋体" panose="02010600030101010101" pitchFamily="2" charset="-122"/>
            </a:endParaRPr>
          </a:p>
        </p:txBody>
      </p:sp>
      <p:sp>
        <p:nvSpPr>
          <p:cNvPr id="93337" name="Text Box 172"/>
          <p:cNvSpPr txBox="1">
            <a:spLocks noChangeArrowheads="1"/>
          </p:cNvSpPr>
          <p:nvPr/>
        </p:nvSpPr>
        <p:spPr bwMode="auto">
          <a:xfrm>
            <a:off x="4546526" y="6096025"/>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3338" name="Text Box 173"/>
          <p:cNvSpPr txBox="1">
            <a:spLocks noChangeArrowheads="1"/>
          </p:cNvSpPr>
          <p:nvPr/>
        </p:nvSpPr>
        <p:spPr bwMode="auto">
          <a:xfrm>
            <a:off x="5392664" y="6096025"/>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3339" name="Line 174"/>
          <p:cNvSpPr>
            <a:spLocks noChangeShapeType="1"/>
          </p:cNvSpPr>
          <p:nvPr/>
        </p:nvSpPr>
        <p:spPr bwMode="auto">
          <a:xfrm flipH="1">
            <a:off x="5094214" y="5972200"/>
            <a:ext cx="711200" cy="261938"/>
          </a:xfrm>
          <a:prstGeom prst="line">
            <a:avLst/>
          </a:prstGeom>
          <a:noFill/>
          <a:ln w="28575">
            <a:solidFill>
              <a:srgbClr val="008000"/>
            </a:solidFill>
            <a:round/>
            <a:head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40" name="Line 175"/>
          <p:cNvSpPr>
            <a:spLocks noChangeShapeType="1"/>
          </p:cNvSpPr>
          <p:nvPr/>
        </p:nvSpPr>
        <p:spPr bwMode="auto">
          <a:xfrm flipV="1">
            <a:off x="5811764" y="5957913"/>
            <a:ext cx="2406650" cy="304800"/>
          </a:xfrm>
          <a:prstGeom prst="line">
            <a:avLst/>
          </a:prstGeom>
          <a:noFill/>
          <a:ln w="28575">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41" name="Text Box 176"/>
          <p:cNvSpPr txBox="1">
            <a:spLocks noChangeArrowheads="1"/>
          </p:cNvSpPr>
          <p:nvPr/>
        </p:nvSpPr>
        <p:spPr bwMode="auto">
          <a:xfrm>
            <a:off x="6476926" y="6056338"/>
            <a:ext cx="1974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隶书" panose="02010509060101010101" pitchFamily="49" charset="-122"/>
              </a:rPr>
              <a:t>H</a:t>
            </a:r>
            <a:r>
              <a:rPr kumimoji="1" lang="zh-CN" altLang="en-US" sz="2800" b="1">
                <a:solidFill>
                  <a:srgbClr val="0000FF"/>
                </a:solidFill>
                <a:latin typeface="Times New Roman" panose="02020603050405020304" pitchFamily="18" charset="0"/>
                <a:ea typeface="隶书" panose="02010509060101010101" pitchFamily="49" charset="-122"/>
              </a:rPr>
              <a:t>进</a:t>
            </a:r>
            <a:r>
              <a:rPr kumimoji="1" lang="zh-CN" altLang="en-US" sz="2800">
                <a:solidFill>
                  <a:srgbClr val="0000FF"/>
                </a:solidFill>
                <a:latin typeface="Times New Roman" panose="02020603050405020304" pitchFamily="18" charset="0"/>
                <a:ea typeface="隶书" panose="02010509060101010101" pitchFamily="49" charset="-122"/>
              </a:rPr>
              <a:t>队</a:t>
            </a:r>
            <a:r>
              <a:rPr kumimoji="1" lang="en-US" altLang="zh-CN" sz="2800">
                <a:solidFill>
                  <a:srgbClr val="0000FF"/>
                </a:solidFill>
                <a:latin typeface="Times New Roman" panose="02020603050405020304" pitchFamily="18" charset="0"/>
                <a:ea typeface="隶书" panose="02010509060101010101" pitchFamily="49" charset="-122"/>
              </a:rPr>
              <a:t>,</a:t>
            </a:r>
            <a:r>
              <a:rPr kumimoji="1" lang="zh-CN" altLang="en-US" sz="2800">
                <a:solidFill>
                  <a:srgbClr val="0000FF"/>
                </a:solidFill>
                <a:latin typeface="Times New Roman" panose="02020603050405020304" pitchFamily="18" charset="0"/>
                <a:ea typeface="隶书" panose="02010509060101010101" pitchFamily="49" charset="-122"/>
              </a:rPr>
              <a:t>溢出</a:t>
            </a:r>
            <a:endParaRPr kumimoji="1" lang="zh-CN" altLang="en-US" sz="2800">
              <a:solidFill>
                <a:srgbClr val="0000FF"/>
              </a:solidFill>
              <a:latin typeface="Times New Roman" panose="02020603050405020304" pitchFamily="18" charset="0"/>
              <a:ea typeface="隶书" panose="02010509060101010101" pitchFamily="49" charset="-122"/>
            </a:endParaRPr>
          </a:p>
        </p:txBody>
      </p:sp>
      <p:sp>
        <p:nvSpPr>
          <p:cNvPr id="2" name="标题 1"/>
          <p:cNvSpPr>
            <a:spLocks noGrp="1"/>
          </p:cNvSpPr>
          <p:nvPr>
            <p:ph type="title"/>
          </p:nvPr>
        </p:nvSpPr>
        <p:spPr/>
        <p:txBody>
          <a:bodyPr/>
          <a:lstStyle/>
          <a:p>
            <a:r>
              <a:rPr lang="zh-CN" altLang="en-US" dirty="0"/>
              <a:t>队列的顺序存储表示 </a:t>
            </a:r>
            <a:endParaRPr lang="zh-CN" altLang="en-US" dirty="0"/>
          </a:p>
        </p:txBody>
      </p:sp>
      <p:sp>
        <p:nvSpPr>
          <p:cNvPr id="3" name="灯片编号占位符 2"/>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spli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队列的进队和出队原则</a:t>
            </a:r>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a:t>进队时将新元素按 </a:t>
            </a:r>
            <a:r>
              <a:rPr lang="en-US" altLang="zh-CN" dirty="0"/>
              <a:t>rear </a:t>
            </a:r>
            <a:r>
              <a:rPr lang="zh-CN" altLang="en-US" dirty="0"/>
              <a:t>指示位置加入，再将队尾指针加</a:t>
            </a:r>
            <a:r>
              <a:rPr lang="en-US" altLang="zh-CN" dirty="0"/>
              <a:t>1</a:t>
            </a:r>
            <a:r>
              <a:rPr lang="zh-CN" altLang="en-US" dirty="0"/>
              <a:t>：</a:t>
            </a:r>
            <a:r>
              <a:rPr lang="en-US" altLang="zh-CN" dirty="0"/>
              <a:t>rear = rear + 1 </a:t>
            </a:r>
            <a:r>
              <a:rPr lang="zh-CN" altLang="en-US" dirty="0"/>
              <a:t>。</a:t>
            </a:r>
            <a:endParaRPr lang="zh-CN" altLang="en-US" dirty="0"/>
          </a:p>
          <a:p>
            <a:pPr lvl="1"/>
            <a:r>
              <a:rPr lang="zh-CN" altLang="en-US" dirty="0"/>
              <a:t>队尾指针指示实际队尾的后一位置。</a:t>
            </a:r>
            <a:endParaRPr lang="zh-CN" altLang="en-US" dirty="0"/>
          </a:p>
          <a:p>
            <a:r>
              <a:rPr lang="zh-CN" altLang="en-US" dirty="0"/>
              <a:t>出队时下标为 </a:t>
            </a:r>
            <a:r>
              <a:rPr lang="en-US" altLang="zh-CN" dirty="0"/>
              <a:t>front </a:t>
            </a:r>
            <a:r>
              <a:rPr lang="zh-CN" altLang="en-US" dirty="0"/>
              <a:t>的元素取出，再将队头指针加</a:t>
            </a:r>
            <a:r>
              <a:rPr lang="en-US" altLang="zh-CN" dirty="0"/>
              <a:t>1</a:t>
            </a:r>
            <a:r>
              <a:rPr lang="zh-CN" altLang="en-US" dirty="0"/>
              <a:t>：</a:t>
            </a:r>
            <a:r>
              <a:rPr lang="en-US" altLang="zh-CN" dirty="0"/>
              <a:t>front = front + 1 </a:t>
            </a:r>
            <a:r>
              <a:rPr lang="zh-CN" altLang="en-US" dirty="0"/>
              <a:t>。</a:t>
            </a:r>
            <a:endParaRPr lang="zh-CN" altLang="en-US" dirty="0"/>
          </a:p>
          <a:p>
            <a:pPr lvl="1"/>
            <a:r>
              <a:rPr lang="zh-CN" altLang="en-US" dirty="0"/>
              <a:t>队头指针指示实际队头的位置。</a:t>
            </a:r>
            <a:endParaRPr lang="zh-CN" altLang="en-US" dirty="0"/>
          </a:p>
          <a:p>
            <a:r>
              <a:rPr lang="zh-CN" altLang="en-US" dirty="0"/>
              <a:t>队空时：</a:t>
            </a:r>
            <a:r>
              <a:rPr lang="en-US" altLang="zh-CN" dirty="0"/>
              <a:t>front == rear </a:t>
            </a:r>
            <a:r>
              <a:rPr lang="zh-CN" altLang="en-US" dirty="0"/>
              <a:t>。</a:t>
            </a:r>
            <a:endParaRPr lang="zh-CN" altLang="en-US" dirty="0"/>
          </a:p>
          <a:p>
            <a:r>
              <a:rPr lang="zh-CN" altLang="en-US" dirty="0"/>
              <a:t>队满时：</a:t>
            </a:r>
            <a:r>
              <a:rPr lang="en-US" altLang="zh-CN" dirty="0"/>
              <a:t>rear == </a:t>
            </a:r>
            <a:r>
              <a:rPr lang="en-US" altLang="zh-CN" dirty="0" err="1"/>
              <a:t>maxSize</a:t>
            </a:r>
            <a:r>
              <a:rPr lang="zh-CN" altLang="en-US" dirty="0"/>
              <a:t>。</a:t>
            </a:r>
            <a:endParaRPr lang="en-US" altLang="zh-CN" dirty="0"/>
          </a:p>
          <a:p>
            <a:pPr lvl="1"/>
            <a:r>
              <a:rPr lang="zh-CN" altLang="en-US" dirty="0"/>
              <a:t>再进队将溢出，但可能是假溢出，因为前端可能有空间；</a:t>
            </a:r>
            <a:endParaRPr lang="zh-CN" altLang="en-US" dirty="0"/>
          </a:p>
          <a:p>
            <a:pPr lvl="1"/>
            <a:r>
              <a:rPr lang="zh-CN" altLang="en-US" dirty="0"/>
              <a:t>解决办法之一：将队列首尾相接，形成循环</a:t>
            </a:r>
            <a:r>
              <a:rPr lang="en-US" altLang="zh-CN" dirty="0"/>
              <a:t>(</a:t>
            </a:r>
            <a:r>
              <a:rPr lang="zh-CN" altLang="en-US" dirty="0"/>
              <a:t>环形</a:t>
            </a:r>
            <a:r>
              <a:rPr lang="en-US" altLang="zh-CN" dirty="0"/>
              <a:t>)</a:t>
            </a:r>
            <a:r>
              <a:rPr lang="zh-CN" altLang="en-US" dirty="0"/>
              <a:t>队列。 </a:t>
            </a: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循环队列 </a:t>
            </a:r>
            <a:r>
              <a:rPr lang="en-US" altLang="zh-CN" dirty="0"/>
              <a:t>(Circular Queue)</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队列存放数组被当作首尾相接的表处理。</a:t>
            </a:r>
            <a:endParaRPr lang="zh-CN" altLang="en-US" dirty="0"/>
          </a:p>
          <a:p>
            <a:r>
              <a:rPr lang="zh-CN" altLang="en-US" dirty="0"/>
              <a:t>队头、队尾指针加</a:t>
            </a:r>
            <a:r>
              <a:rPr lang="en-US" altLang="zh-CN" dirty="0"/>
              <a:t>1</a:t>
            </a:r>
            <a:r>
              <a:rPr lang="zh-CN" altLang="en-US" dirty="0"/>
              <a:t>时从</a:t>
            </a:r>
            <a:r>
              <a:rPr lang="en-US" altLang="zh-CN" dirty="0" err="1"/>
              <a:t>maxSize</a:t>
            </a:r>
            <a:r>
              <a:rPr lang="en-US" altLang="zh-CN" dirty="0"/>
              <a:t> -1</a:t>
            </a:r>
            <a:r>
              <a:rPr lang="zh-CN" altLang="en-US" dirty="0"/>
              <a:t>直接进到</a:t>
            </a:r>
            <a:r>
              <a:rPr lang="en-US" altLang="zh-CN" dirty="0"/>
              <a:t>0</a:t>
            </a:r>
            <a:r>
              <a:rPr lang="zh-CN" altLang="en-US" dirty="0"/>
              <a:t>，可用取模</a:t>
            </a:r>
            <a:r>
              <a:rPr lang="en-US" altLang="zh-CN" dirty="0"/>
              <a:t>(</a:t>
            </a:r>
            <a:r>
              <a:rPr lang="zh-CN" altLang="en-US" dirty="0"/>
              <a:t>余数</a:t>
            </a:r>
            <a:r>
              <a:rPr lang="en-US" altLang="zh-CN" dirty="0"/>
              <a:t>)</a:t>
            </a:r>
            <a:r>
              <a:rPr lang="zh-CN" altLang="en-US" dirty="0"/>
              <a:t>运算实现。</a:t>
            </a:r>
            <a:endParaRPr lang="zh-CN" altLang="en-US" dirty="0"/>
          </a:p>
          <a:p>
            <a:r>
              <a:rPr lang="zh-CN" altLang="en-US" dirty="0"/>
              <a:t>队头指针进</a:t>
            </a:r>
            <a:r>
              <a:rPr lang="en-US" altLang="zh-CN" dirty="0"/>
              <a:t>1:  front = (front+1) % </a:t>
            </a:r>
            <a:r>
              <a:rPr lang="en-US" altLang="zh-CN" dirty="0" err="1"/>
              <a:t>maxSize</a:t>
            </a:r>
            <a:r>
              <a:rPr lang="en-US" altLang="zh-CN" dirty="0"/>
              <a:t>;</a:t>
            </a:r>
            <a:endParaRPr lang="en-US" altLang="zh-CN" dirty="0"/>
          </a:p>
          <a:p>
            <a:r>
              <a:rPr lang="zh-CN" altLang="en-US" dirty="0"/>
              <a:t>队尾指针进</a:t>
            </a:r>
            <a:r>
              <a:rPr lang="en-US" altLang="zh-CN" dirty="0"/>
              <a:t>1:  rear = (rear+1) % </a:t>
            </a:r>
            <a:r>
              <a:rPr lang="en-US" altLang="zh-CN" dirty="0" err="1"/>
              <a:t>maxSize</a:t>
            </a:r>
            <a:r>
              <a:rPr lang="en-US" altLang="zh-CN" dirty="0"/>
              <a:t>;</a:t>
            </a:r>
            <a:endParaRPr lang="en-US" altLang="zh-CN" dirty="0"/>
          </a:p>
          <a:p>
            <a:r>
              <a:rPr lang="zh-CN" altLang="en-US" dirty="0"/>
              <a:t>队列初始化：</a:t>
            </a:r>
            <a:r>
              <a:rPr lang="en-US" altLang="zh-CN" dirty="0"/>
              <a:t>front = rear = 0;</a:t>
            </a:r>
            <a:endParaRPr lang="en-US" altLang="zh-CN" dirty="0"/>
          </a:p>
          <a:p>
            <a:r>
              <a:rPr lang="zh-CN" altLang="en-US" dirty="0"/>
              <a:t>队空条件：</a:t>
            </a:r>
            <a:r>
              <a:rPr lang="en-US" altLang="zh-CN" dirty="0"/>
              <a:t>front == rear;</a:t>
            </a:r>
            <a:endParaRPr lang="en-US" altLang="zh-CN" dirty="0"/>
          </a:p>
          <a:p>
            <a:r>
              <a:rPr lang="zh-CN" altLang="en-US" dirty="0"/>
              <a:t>队满条件：</a:t>
            </a:r>
            <a:r>
              <a:rPr lang="en-US" altLang="zh-CN" dirty="0"/>
              <a:t>(rear+1) % </a:t>
            </a:r>
            <a:r>
              <a:rPr lang="en-US" altLang="zh-CN" dirty="0" err="1"/>
              <a:t>maxSize</a:t>
            </a:r>
            <a:r>
              <a:rPr lang="en-US" altLang="zh-CN" dirty="0"/>
              <a:t> == front </a:t>
            </a:r>
            <a:endParaRPr lang="en-US" altLang="zh-CN"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Oval 5" descr="再生纸"/>
          <p:cNvSpPr>
            <a:spLocks noChangeArrowheads="1"/>
          </p:cNvSpPr>
          <p:nvPr/>
        </p:nvSpPr>
        <p:spPr bwMode="auto">
          <a:xfrm>
            <a:off x="990600" y="838200"/>
            <a:ext cx="1828800" cy="1828800"/>
          </a:xfrm>
          <a:prstGeom prst="ellipse">
            <a:avLst/>
          </a:prstGeom>
          <a:blipFill dpi="0" rotWithShape="0">
            <a:blip r:embed="rId1"/>
            <a:srcRect/>
            <a:tile tx="0" ty="0" sx="100000" sy="100000" flip="none" algn="tl"/>
          </a:blip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259" name="Line 7"/>
          <p:cNvSpPr>
            <a:spLocks noChangeShapeType="1"/>
          </p:cNvSpPr>
          <p:nvPr/>
        </p:nvSpPr>
        <p:spPr bwMode="auto">
          <a:xfrm>
            <a:off x="1905000" y="838200"/>
            <a:ext cx="0" cy="1828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0" name="Line 8"/>
          <p:cNvSpPr>
            <a:spLocks noChangeShapeType="1"/>
          </p:cNvSpPr>
          <p:nvPr/>
        </p:nvSpPr>
        <p:spPr bwMode="auto">
          <a:xfrm>
            <a:off x="990600" y="1752600"/>
            <a:ext cx="18288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1" name="Line 9"/>
          <p:cNvSpPr>
            <a:spLocks noChangeShapeType="1"/>
          </p:cNvSpPr>
          <p:nvPr/>
        </p:nvSpPr>
        <p:spPr bwMode="auto">
          <a:xfrm>
            <a:off x="1295400" y="10668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2" name="Line 10"/>
          <p:cNvSpPr>
            <a:spLocks noChangeShapeType="1"/>
          </p:cNvSpPr>
          <p:nvPr/>
        </p:nvSpPr>
        <p:spPr bwMode="auto">
          <a:xfrm flipH="1">
            <a:off x="1295400" y="10668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3" name="Oval 6"/>
          <p:cNvSpPr>
            <a:spLocks noChangeArrowheads="1"/>
          </p:cNvSpPr>
          <p:nvPr/>
        </p:nvSpPr>
        <p:spPr bwMode="auto">
          <a:xfrm>
            <a:off x="1447800" y="1295400"/>
            <a:ext cx="914400" cy="914400"/>
          </a:xfrm>
          <a:prstGeom prst="ellipse">
            <a:avLst/>
          </a:prstGeom>
          <a:solidFill>
            <a:schemeClr val="bg1"/>
          </a:solid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264" name="Text Box 11"/>
          <p:cNvSpPr txBox="1">
            <a:spLocks noChangeArrowheads="1"/>
          </p:cNvSpPr>
          <p:nvPr/>
        </p:nvSpPr>
        <p:spPr bwMode="auto">
          <a:xfrm>
            <a:off x="2743200" y="121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96265" name="Text Box 12"/>
          <p:cNvSpPr txBox="1">
            <a:spLocks noChangeArrowheads="1"/>
          </p:cNvSpPr>
          <p:nvPr/>
        </p:nvSpPr>
        <p:spPr bwMode="auto">
          <a:xfrm>
            <a:off x="2711450"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266" name="Rectangle 13"/>
          <p:cNvSpPr>
            <a:spLocks noChangeArrowheads="1"/>
          </p:cNvSpPr>
          <p:nvPr/>
        </p:nvSpPr>
        <p:spPr bwMode="auto">
          <a:xfrm>
            <a:off x="2101850"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2</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67" name="Rectangle 14"/>
          <p:cNvSpPr>
            <a:spLocks noChangeArrowheads="1"/>
          </p:cNvSpPr>
          <p:nvPr/>
        </p:nvSpPr>
        <p:spPr bwMode="auto">
          <a:xfrm>
            <a:off x="1295400"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3</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68" name="Rectangle 15"/>
          <p:cNvSpPr>
            <a:spLocks noChangeArrowheads="1"/>
          </p:cNvSpPr>
          <p:nvPr/>
        </p:nvSpPr>
        <p:spPr bwMode="auto">
          <a:xfrm>
            <a:off x="762000"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4</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69" name="Rectangle 16"/>
          <p:cNvSpPr>
            <a:spLocks noChangeArrowheads="1"/>
          </p:cNvSpPr>
          <p:nvPr/>
        </p:nvSpPr>
        <p:spPr bwMode="auto">
          <a:xfrm>
            <a:off x="762000" y="1066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5</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70" name="Rectangle 17"/>
          <p:cNvSpPr>
            <a:spLocks noChangeArrowheads="1"/>
          </p:cNvSpPr>
          <p:nvPr/>
        </p:nvSpPr>
        <p:spPr bwMode="auto">
          <a:xfrm>
            <a:off x="1295400" y="53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6</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71" name="Rectangle 18"/>
          <p:cNvSpPr>
            <a:spLocks noChangeArrowheads="1"/>
          </p:cNvSpPr>
          <p:nvPr/>
        </p:nvSpPr>
        <p:spPr bwMode="auto">
          <a:xfrm>
            <a:off x="2209800" y="53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7</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72" name="Line 20"/>
          <p:cNvSpPr>
            <a:spLocks noChangeShapeType="1"/>
          </p:cNvSpPr>
          <p:nvPr/>
        </p:nvSpPr>
        <p:spPr bwMode="auto">
          <a:xfrm flipH="1">
            <a:off x="2667000" y="838200"/>
            <a:ext cx="228600" cy="3810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3" name="Text Box 21"/>
          <p:cNvSpPr txBox="1">
            <a:spLocks noChangeArrowheads="1"/>
          </p:cNvSpPr>
          <p:nvPr/>
        </p:nvSpPr>
        <p:spPr bwMode="auto">
          <a:xfrm>
            <a:off x="2514600" y="4572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6274" name="Oval 23" descr="再生纸"/>
          <p:cNvSpPr>
            <a:spLocks noChangeArrowheads="1"/>
          </p:cNvSpPr>
          <p:nvPr/>
        </p:nvSpPr>
        <p:spPr bwMode="auto">
          <a:xfrm>
            <a:off x="5876925" y="838200"/>
            <a:ext cx="1828800" cy="1828800"/>
          </a:xfrm>
          <a:prstGeom prst="ellipse">
            <a:avLst/>
          </a:prstGeom>
          <a:blipFill dpi="0" rotWithShape="0">
            <a:blip r:embed="rId1"/>
            <a:srcRect/>
            <a:tile tx="0" ty="0" sx="100000" sy="100000" flip="none" algn="tl"/>
          </a:blip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275" name="Line 24"/>
          <p:cNvSpPr>
            <a:spLocks noChangeShapeType="1"/>
          </p:cNvSpPr>
          <p:nvPr/>
        </p:nvSpPr>
        <p:spPr bwMode="auto">
          <a:xfrm>
            <a:off x="5876925" y="1752600"/>
            <a:ext cx="18288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6" name="Line 25"/>
          <p:cNvSpPr>
            <a:spLocks noChangeShapeType="1"/>
          </p:cNvSpPr>
          <p:nvPr/>
        </p:nvSpPr>
        <p:spPr bwMode="auto">
          <a:xfrm>
            <a:off x="6181725" y="10668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7" name="Line 26"/>
          <p:cNvSpPr>
            <a:spLocks noChangeShapeType="1"/>
          </p:cNvSpPr>
          <p:nvPr/>
        </p:nvSpPr>
        <p:spPr bwMode="auto">
          <a:xfrm flipH="1">
            <a:off x="6181725" y="10668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8" name="Text Box 28"/>
          <p:cNvSpPr txBox="1">
            <a:spLocks noChangeArrowheads="1"/>
          </p:cNvSpPr>
          <p:nvPr/>
        </p:nvSpPr>
        <p:spPr bwMode="auto">
          <a:xfrm>
            <a:off x="7629525" y="1108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96279" name="Text Box 29"/>
          <p:cNvSpPr txBox="1">
            <a:spLocks noChangeArrowheads="1"/>
          </p:cNvSpPr>
          <p:nvPr/>
        </p:nvSpPr>
        <p:spPr bwMode="auto">
          <a:xfrm>
            <a:off x="7597775"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280" name="Rectangle 30"/>
          <p:cNvSpPr>
            <a:spLocks noChangeArrowheads="1"/>
          </p:cNvSpPr>
          <p:nvPr/>
        </p:nvSpPr>
        <p:spPr bwMode="auto">
          <a:xfrm>
            <a:off x="6988175"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2</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81" name="Rectangle 31"/>
          <p:cNvSpPr>
            <a:spLocks noChangeArrowheads="1"/>
          </p:cNvSpPr>
          <p:nvPr/>
        </p:nvSpPr>
        <p:spPr bwMode="auto">
          <a:xfrm>
            <a:off x="6292850" y="259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3</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82" name="Rectangle 32"/>
          <p:cNvSpPr>
            <a:spLocks noChangeArrowheads="1"/>
          </p:cNvSpPr>
          <p:nvPr/>
        </p:nvSpPr>
        <p:spPr bwMode="auto">
          <a:xfrm>
            <a:off x="5648325"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4</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83" name="Rectangle 33"/>
          <p:cNvSpPr>
            <a:spLocks noChangeArrowheads="1"/>
          </p:cNvSpPr>
          <p:nvPr/>
        </p:nvSpPr>
        <p:spPr bwMode="auto">
          <a:xfrm>
            <a:off x="5648325" y="1066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5</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84" name="Rectangle 34"/>
          <p:cNvSpPr>
            <a:spLocks noChangeArrowheads="1"/>
          </p:cNvSpPr>
          <p:nvPr/>
        </p:nvSpPr>
        <p:spPr bwMode="auto">
          <a:xfrm>
            <a:off x="6181725" y="53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6</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85" name="Rectangle 35"/>
          <p:cNvSpPr>
            <a:spLocks noChangeArrowheads="1"/>
          </p:cNvSpPr>
          <p:nvPr/>
        </p:nvSpPr>
        <p:spPr bwMode="auto">
          <a:xfrm>
            <a:off x="7096125" y="53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7</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86" name="Line 36"/>
          <p:cNvSpPr>
            <a:spLocks noChangeShapeType="1"/>
          </p:cNvSpPr>
          <p:nvPr/>
        </p:nvSpPr>
        <p:spPr bwMode="auto">
          <a:xfrm flipH="1">
            <a:off x="7543800" y="914400"/>
            <a:ext cx="304800" cy="3048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87" name="Text Box 37"/>
          <p:cNvSpPr txBox="1">
            <a:spLocks noChangeArrowheads="1"/>
          </p:cNvSpPr>
          <p:nvPr/>
        </p:nvSpPr>
        <p:spPr bwMode="auto">
          <a:xfrm>
            <a:off x="7543800" y="5334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6288" name="Oval 38" descr="再生纸"/>
          <p:cNvSpPr>
            <a:spLocks noChangeArrowheads="1"/>
          </p:cNvSpPr>
          <p:nvPr/>
        </p:nvSpPr>
        <p:spPr bwMode="auto">
          <a:xfrm>
            <a:off x="3438525" y="838200"/>
            <a:ext cx="1828800" cy="1828800"/>
          </a:xfrm>
          <a:prstGeom prst="ellipse">
            <a:avLst/>
          </a:prstGeom>
          <a:blipFill dpi="0" rotWithShape="0">
            <a:blip r:embed="rId1"/>
            <a:srcRect/>
            <a:tile tx="0" ty="0" sx="100000" sy="100000" flip="none" algn="tl"/>
          </a:blip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289" name="Line 39"/>
          <p:cNvSpPr>
            <a:spLocks noChangeShapeType="1"/>
          </p:cNvSpPr>
          <p:nvPr/>
        </p:nvSpPr>
        <p:spPr bwMode="auto">
          <a:xfrm>
            <a:off x="3438525" y="1752600"/>
            <a:ext cx="18288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90" name="Line 40"/>
          <p:cNvSpPr>
            <a:spLocks noChangeShapeType="1"/>
          </p:cNvSpPr>
          <p:nvPr/>
        </p:nvSpPr>
        <p:spPr bwMode="auto">
          <a:xfrm>
            <a:off x="3743325" y="10668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91" name="Line 41"/>
          <p:cNvSpPr>
            <a:spLocks noChangeShapeType="1"/>
          </p:cNvSpPr>
          <p:nvPr/>
        </p:nvSpPr>
        <p:spPr bwMode="auto">
          <a:xfrm flipH="1">
            <a:off x="3743325" y="10668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92" name="Text Box 43"/>
          <p:cNvSpPr txBox="1">
            <a:spLocks noChangeArrowheads="1"/>
          </p:cNvSpPr>
          <p:nvPr/>
        </p:nvSpPr>
        <p:spPr bwMode="auto">
          <a:xfrm>
            <a:off x="5191125" y="1108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96293" name="Text Box 44"/>
          <p:cNvSpPr txBox="1">
            <a:spLocks noChangeArrowheads="1"/>
          </p:cNvSpPr>
          <p:nvPr/>
        </p:nvSpPr>
        <p:spPr bwMode="auto">
          <a:xfrm>
            <a:off x="5159375"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294" name="Rectangle 45"/>
          <p:cNvSpPr>
            <a:spLocks noChangeArrowheads="1"/>
          </p:cNvSpPr>
          <p:nvPr/>
        </p:nvSpPr>
        <p:spPr bwMode="auto">
          <a:xfrm>
            <a:off x="4549775"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2</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95" name="Rectangle 46"/>
          <p:cNvSpPr>
            <a:spLocks noChangeArrowheads="1"/>
          </p:cNvSpPr>
          <p:nvPr/>
        </p:nvSpPr>
        <p:spPr bwMode="auto">
          <a:xfrm>
            <a:off x="3743325"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3</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96" name="Rectangle 47"/>
          <p:cNvSpPr>
            <a:spLocks noChangeArrowheads="1"/>
          </p:cNvSpPr>
          <p:nvPr/>
        </p:nvSpPr>
        <p:spPr bwMode="auto">
          <a:xfrm>
            <a:off x="3209925"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4</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97" name="Rectangle 48"/>
          <p:cNvSpPr>
            <a:spLocks noChangeArrowheads="1"/>
          </p:cNvSpPr>
          <p:nvPr/>
        </p:nvSpPr>
        <p:spPr bwMode="auto">
          <a:xfrm>
            <a:off x="3209925" y="1066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5</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98" name="Rectangle 49"/>
          <p:cNvSpPr>
            <a:spLocks noChangeArrowheads="1"/>
          </p:cNvSpPr>
          <p:nvPr/>
        </p:nvSpPr>
        <p:spPr bwMode="auto">
          <a:xfrm>
            <a:off x="3743325" y="53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6</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299" name="Rectangle 50"/>
          <p:cNvSpPr>
            <a:spLocks noChangeArrowheads="1"/>
          </p:cNvSpPr>
          <p:nvPr/>
        </p:nvSpPr>
        <p:spPr bwMode="auto">
          <a:xfrm>
            <a:off x="4657725" y="53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7</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00" name="Line 51"/>
          <p:cNvSpPr>
            <a:spLocks noChangeShapeType="1"/>
          </p:cNvSpPr>
          <p:nvPr/>
        </p:nvSpPr>
        <p:spPr bwMode="auto">
          <a:xfrm flipH="1">
            <a:off x="5105400" y="914400"/>
            <a:ext cx="304800" cy="3048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01" name="Text Box 52"/>
          <p:cNvSpPr txBox="1">
            <a:spLocks noChangeArrowheads="1"/>
          </p:cNvSpPr>
          <p:nvPr/>
        </p:nvSpPr>
        <p:spPr bwMode="auto">
          <a:xfrm>
            <a:off x="5105400" y="5334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6302" name="Text Box 53"/>
          <p:cNvSpPr txBox="1">
            <a:spLocks noChangeArrowheads="1"/>
          </p:cNvSpPr>
          <p:nvPr/>
        </p:nvSpPr>
        <p:spPr bwMode="auto">
          <a:xfrm>
            <a:off x="2813050" y="7620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6303" name="Line 54"/>
          <p:cNvSpPr>
            <a:spLocks noChangeShapeType="1"/>
          </p:cNvSpPr>
          <p:nvPr/>
        </p:nvSpPr>
        <p:spPr bwMode="auto">
          <a:xfrm flipH="1">
            <a:off x="2667000" y="1143000"/>
            <a:ext cx="381000" cy="1524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04" name="Line 55"/>
          <p:cNvSpPr>
            <a:spLocks noChangeShapeType="1"/>
          </p:cNvSpPr>
          <p:nvPr/>
        </p:nvSpPr>
        <p:spPr bwMode="auto">
          <a:xfrm>
            <a:off x="4343400" y="838200"/>
            <a:ext cx="0" cy="1828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05" name="Oval 42"/>
          <p:cNvSpPr>
            <a:spLocks noChangeArrowheads="1"/>
          </p:cNvSpPr>
          <p:nvPr/>
        </p:nvSpPr>
        <p:spPr bwMode="auto">
          <a:xfrm>
            <a:off x="3895725" y="1295400"/>
            <a:ext cx="914400" cy="914400"/>
          </a:xfrm>
          <a:prstGeom prst="ellipse">
            <a:avLst/>
          </a:prstGeom>
          <a:solidFill>
            <a:schemeClr val="bg1"/>
          </a:solid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06" name="Line 56"/>
          <p:cNvSpPr>
            <a:spLocks noChangeShapeType="1"/>
          </p:cNvSpPr>
          <p:nvPr/>
        </p:nvSpPr>
        <p:spPr bwMode="auto">
          <a:xfrm>
            <a:off x="6781800" y="838200"/>
            <a:ext cx="0" cy="1828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07" name="Oval 27"/>
          <p:cNvSpPr>
            <a:spLocks noChangeArrowheads="1"/>
          </p:cNvSpPr>
          <p:nvPr/>
        </p:nvSpPr>
        <p:spPr bwMode="auto">
          <a:xfrm>
            <a:off x="6334125" y="1295400"/>
            <a:ext cx="914400" cy="914400"/>
          </a:xfrm>
          <a:prstGeom prst="ellipse">
            <a:avLst/>
          </a:prstGeom>
          <a:solidFill>
            <a:schemeClr val="bg1"/>
          </a:solid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08" name="Text Box 57"/>
          <p:cNvSpPr txBox="1">
            <a:spLocks noChangeArrowheads="1"/>
          </p:cNvSpPr>
          <p:nvPr/>
        </p:nvSpPr>
        <p:spPr bwMode="auto">
          <a:xfrm>
            <a:off x="4724400" y="1241425"/>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6309" name="Text Box 58"/>
          <p:cNvSpPr txBox="1">
            <a:spLocks noChangeArrowheads="1"/>
          </p:cNvSpPr>
          <p:nvPr/>
        </p:nvSpPr>
        <p:spPr bwMode="auto">
          <a:xfrm>
            <a:off x="7192963" y="1241425"/>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6310" name="Text Box 59"/>
          <p:cNvSpPr txBox="1">
            <a:spLocks noChangeArrowheads="1"/>
          </p:cNvSpPr>
          <p:nvPr/>
        </p:nvSpPr>
        <p:spPr bwMode="auto">
          <a:xfrm>
            <a:off x="7216775" y="1768475"/>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6311" name="Text Box 60"/>
          <p:cNvSpPr txBox="1">
            <a:spLocks noChangeArrowheads="1"/>
          </p:cNvSpPr>
          <p:nvPr/>
        </p:nvSpPr>
        <p:spPr bwMode="auto">
          <a:xfrm>
            <a:off x="6781800" y="2101850"/>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6312" name="Text Box 61"/>
          <p:cNvSpPr txBox="1">
            <a:spLocks noChangeArrowheads="1"/>
          </p:cNvSpPr>
          <p:nvPr/>
        </p:nvSpPr>
        <p:spPr bwMode="auto">
          <a:xfrm>
            <a:off x="5029200" y="23622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6313" name="Line 62"/>
          <p:cNvSpPr>
            <a:spLocks noChangeShapeType="1"/>
          </p:cNvSpPr>
          <p:nvPr/>
        </p:nvSpPr>
        <p:spPr bwMode="auto">
          <a:xfrm flipH="1" flipV="1">
            <a:off x="5105400" y="2286000"/>
            <a:ext cx="304800" cy="2286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14" name="Text Box 63"/>
          <p:cNvSpPr txBox="1">
            <a:spLocks noChangeArrowheads="1"/>
          </p:cNvSpPr>
          <p:nvPr/>
        </p:nvSpPr>
        <p:spPr bwMode="auto">
          <a:xfrm>
            <a:off x="5583238" y="2590800"/>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6315" name="Line 64"/>
          <p:cNvSpPr>
            <a:spLocks noChangeShapeType="1"/>
          </p:cNvSpPr>
          <p:nvPr/>
        </p:nvSpPr>
        <p:spPr bwMode="auto">
          <a:xfrm flipV="1">
            <a:off x="6096000" y="2590800"/>
            <a:ext cx="304800" cy="1524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16" name="Text Box 65"/>
          <p:cNvSpPr txBox="1">
            <a:spLocks noChangeArrowheads="1"/>
          </p:cNvSpPr>
          <p:nvPr/>
        </p:nvSpPr>
        <p:spPr bwMode="auto">
          <a:xfrm>
            <a:off x="1279525" y="28194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b="1">
                <a:solidFill>
                  <a:srgbClr val="000099"/>
                </a:solidFill>
                <a:latin typeface="Times New Roman" panose="02020603050405020304" pitchFamily="18" charset="0"/>
                <a:ea typeface="隶书" panose="02010509060101010101" pitchFamily="49" charset="-122"/>
              </a:rPr>
              <a:t>空队列</a:t>
            </a:r>
            <a:endParaRPr kumimoji="1" lang="zh-CN" altLang="en-US" sz="2400">
              <a:latin typeface="Times New Roman" panose="02020603050405020304" pitchFamily="18" charset="0"/>
              <a:ea typeface="宋体" panose="02010600030101010101" pitchFamily="2" charset="-122"/>
            </a:endParaRPr>
          </a:p>
        </p:txBody>
      </p:sp>
      <p:sp>
        <p:nvSpPr>
          <p:cNvPr id="96317" name="Text Box 66"/>
          <p:cNvSpPr txBox="1">
            <a:spLocks noChangeArrowheads="1"/>
          </p:cNvSpPr>
          <p:nvPr/>
        </p:nvSpPr>
        <p:spPr bwMode="auto">
          <a:xfrm>
            <a:off x="3768725" y="2841625"/>
            <a:ext cx="115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隶书" panose="02010509060101010101" pitchFamily="49" charset="-122"/>
              </a:rPr>
              <a:t>A</a:t>
            </a:r>
            <a:r>
              <a:rPr kumimoji="1" lang="zh-CN" altLang="zh-CN" sz="2800" b="1">
                <a:solidFill>
                  <a:srgbClr val="000099"/>
                </a:solidFill>
                <a:latin typeface="Times New Roman" panose="02020603050405020304" pitchFamily="18" charset="0"/>
                <a:ea typeface="隶书" panose="02010509060101010101" pitchFamily="49" charset="-122"/>
              </a:rPr>
              <a:t>进</a:t>
            </a:r>
            <a:r>
              <a:rPr kumimoji="1" lang="zh-CN" altLang="en-US" sz="2800" b="1">
                <a:solidFill>
                  <a:srgbClr val="000099"/>
                </a:solidFill>
                <a:latin typeface="Times New Roman" panose="02020603050405020304" pitchFamily="18" charset="0"/>
                <a:ea typeface="隶书" panose="02010509060101010101" pitchFamily="49" charset="-122"/>
              </a:rPr>
              <a:t>队</a:t>
            </a:r>
            <a:endParaRPr kumimoji="1" lang="zh-CN" altLang="en-US" sz="2400">
              <a:latin typeface="Times New Roman" panose="02020603050405020304" pitchFamily="18" charset="0"/>
              <a:ea typeface="宋体" panose="02010600030101010101" pitchFamily="2" charset="-122"/>
            </a:endParaRPr>
          </a:p>
        </p:txBody>
      </p:sp>
      <p:sp>
        <p:nvSpPr>
          <p:cNvPr id="96318" name="Text Box 67"/>
          <p:cNvSpPr txBox="1">
            <a:spLocks noChangeArrowheads="1"/>
          </p:cNvSpPr>
          <p:nvPr/>
        </p:nvSpPr>
        <p:spPr bwMode="auto">
          <a:xfrm>
            <a:off x="6308725" y="2833688"/>
            <a:ext cx="1573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隶书" panose="02010509060101010101" pitchFamily="49" charset="-122"/>
              </a:rPr>
              <a:t>B, C</a:t>
            </a:r>
            <a:r>
              <a:rPr kumimoji="1" lang="zh-CN" altLang="zh-CN" sz="2800" b="1">
                <a:solidFill>
                  <a:srgbClr val="000099"/>
                </a:solidFill>
                <a:latin typeface="Times New Roman" panose="02020603050405020304" pitchFamily="18" charset="0"/>
                <a:ea typeface="隶书" panose="02010509060101010101" pitchFamily="49" charset="-122"/>
              </a:rPr>
              <a:t>进</a:t>
            </a:r>
            <a:r>
              <a:rPr kumimoji="1" lang="zh-CN" altLang="en-US" sz="2800" b="1">
                <a:solidFill>
                  <a:srgbClr val="000099"/>
                </a:solidFill>
                <a:latin typeface="Times New Roman" panose="02020603050405020304" pitchFamily="18" charset="0"/>
                <a:ea typeface="隶书" panose="02010509060101010101" pitchFamily="49" charset="-122"/>
              </a:rPr>
              <a:t>队</a:t>
            </a:r>
            <a:endParaRPr kumimoji="1" lang="zh-CN" altLang="en-US" sz="2400">
              <a:latin typeface="Times New Roman" panose="02020603050405020304" pitchFamily="18" charset="0"/>
              <a:ea typeface="宋体" panose="02010600030101010101" pitchFamily="2" charset="-122"/>
            </a:endParaRPr>
          </a:p>
        </p:txBody>
      </p:sp>
      <p:sp>
        <p:nvSpPr>
          <p:cNvPr id="96319" name="Oval 68" descr="再生纸"/>
          <p:cNvSpPr>
            <a:spLocks noChangeArrowheads="1"/>
          </p:cNvSpPr>
          <p:nvPr/>
        </p:nvSpPr>
        <p:spPr bwMode="auto">
          <a:xfrm>
            <a:off x="949325" y="3657600"/>
            <a:ext cx="1828800" cy="1828800"/>
          </a:xfrm>
          <a:prstGeom prst="ellipse">
            <a:avLst/>
          </a:prstGeom>
          <a:blipFill dpi="0" rotWithShape="0">
            <a:blip r:embed="rId1"/>
            <a:srcRect/>
            <a:tile tx="0" ty="0" sx="100000" sy="100000" flip="none" algn="tl"/>
          </a:blip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20" name="Line 69"/>
          <p:cNvSpPr>
            <a:spLocks noChangeShapeType="1"/>
          </p:cNvSpPr>
          <p:nvPr/>
        </p:nvSpPr>
        <p:spPr bwMode="auto">
          <a:xfrm>
            <a:off x="1863725" y="3657600"/>
            <a:ext cx="0" cy="1828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21" name="Line 70"/>
          <p:cNvSpPr>
            <a:spLocks noChangeShapeType="1"/>
          </p:cNvSpPr>
          <p:nvPr/>
        </p:nvSpPr>
        <p:spPr bwMode="auto">
          <a:xfrm>
            <a:off x="949325" y="4572000"/>
            <a:ext cx="18288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22" name="Line 71"/>
          <p:cNvSpPr>
            <a:spLocks noChangeShapeType="1"/>
          </p:cNvSpPr>
          <p:nvPr/>
        </p:nvSpPr>
        <p:spPr bwMode="auto">
          <a:xfrm>
            <a:off x="1254125" y="38862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23" name="Line 72"/>
          <p:cNvSpPr>
            <a:spLocks noChangeShapeType="1"/>
          </p:cNvSpPr>
          <p:nvPr/>
        </p:nvSpPr>
        <p:spPr bwMode="auto">
          <a:xfrm flipH="1">
            <a:off x="1254125" y="38862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24" name="Oval 73"/>
          <p:cNvSpPr>
            <a:spLocks noChangeArrowheads="1"/>
          </p:cNvSpPr>
          <p:nvPr/>
        </p:nvSpPr>
        <p:spPr bwMode="auto">
          <a:xfrm>
            <a:off x="1406525" y="4114800"/>
            <a:ext cx="914400" cy="914400"/>
          </a:xfrm>
          <a:prstGeom prst="ellipse">
            <a:avLst/>
          </a:prstGeom>
          <a:solidFill>
            <a:schemeClr val="bg1"/>
          </a:solid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25" name="Text Box 74"/>
          <p:cNvSpPr txBox="1">
            <a:spLocks noChangeArrowheads="1"/>
          </p:cNvSpPr>
          <p:nvPr/>
        </p:nvSpPr>
        <p:spPr bwMode="auto">
          <a:xfrm>
            <a:off x="2701925"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96326" name="Text Box 75"/>
          <p:cNvSpPr txBox="1">
            <a:spLocks noChangeArrowheads="1"/>
          </p:cNvSpPr>
          <p:nvPr/>
        </p:nvSpPr>
        <p:spPr bwMode="auto">
          <a:xfrm>
            <a:off x="2670175" y="4800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327" name="Rectangle 76"/>
          <p:cNvSpPr>
            <a:spLocks noChangeArrowheads="1"/>
          </p:cNvSpPr>
          <p:nvPr/>
        </p:nvSpPr>
        <p:spPr bwMode="auto">
          <a:xfrm>
            <a:off x="2060575" y="533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2</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28" name="Rectangle 77"/>
          <p:cNvSpPr>
            <a:spLocks noChangeArrowheads="1"/>
          </p:cNvSpPr>
          <p:nvPr/>
        </p:nvSpPr>
        <p:spPr bwMode="auto">
          <a:xfrm>
            <a:off x="1416050" y="5410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3</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29" name="Rectangle 78"/>
          <p:cNvSpPr>
            <a:spLocks noChangeArrowheads="1"/>
          </p:cNvSpPr>
          <p:nvPr/>
        </p:nvSpPr>
        <p:spPr bwMode="auto">
          <a:xfrm>
            <a:off x="720725" y="4800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4</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30" name="Rectangle 79"/>
          <p:cNvSpPr>
            <a:spLocks noChangeArrowheads="1"/>
          </p:cNvSpPr>
          <p:nvPr/>
        </p:nvSpPr>
        <p:spPr bwMode="auto">
          <a:xfrm>
            <a:off x="720725" y="3886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5</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31" name="Rectangle 80"/>
          <p:cNvSpPr>
            <a:spLocks noChangeArrowheads="1"/>
          </p:cNvSpPr>
          <p:nvPr/>
        </p:nvSpPr>
        <p:spPr bwMode="auto">
          <a:xfrm>
            <a:off x="12541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6</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32" name="Rectangle 81"/>
          <p:cNvSpPr>
            <a:spLocks noChangeArrowheads="1"/>
          </p:cNvSpPr>
          <p:nvPr/>
        </p:nvSpPr>
        <p:spPr bwMode="auto">
          <a:xfrm>
            <a:off x="2168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7</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33" name="Oval 82" descr="再生纸"/>
          <p:cNvSpPr>
            <a:spLocks noChangeArrowheads="1"/>
          </p:cNvSpPr>
          <p:nvPr/>
        </p:nvSpPr>
        <p:spPr bwMode="auto">
          <a:xfrm>
            <a:off x="3397250" y="3657600"/>
            <a:ext cx="1828800" cy="1828800"/>
          </a:xfrm>
          <a:prstGeom prst="ellipse">
            <a:avLst/>
          </a:prstGeom>
          <a:blipFill dpi="0" rotWithShape="0">
            <a:blip r:embed="rId1"/>
            <a:srcRect/>
            <a:tile tx="0" ty="0" sx="100000" sy="100000" flip="none" algn="tl"/>
          </a:blip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34" name="Line 83"/>
          <p:cNvSpPr>
            <a:spLocks noChangeShapeType="1"/>
          </p:cNvSpPr>
          <p:nvPr/>
        </p:nvSpPr>
        <p:spPr bwMode="auto">
          <a:xfrm>
            <a:off x="3397250" y="4572000"/>
            <a:ext cx="18288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35" name="Line 84"/>
          <p:cNvSpPr>
            <a:spLocks noChangeShapeType="1"/>
          </p:cNvSpPr>
          <p:nvPr/>
        </p:nvSpPr>
        <p:spPr bwMode="auto">
          <a:xfrm>
            <a:off x="3702050" y="38862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36" name="Line 85"/>
          <p:cNvSpPr>
            <a:spLocks noChangeShapeType="1"/>
          </p:cNvSpPr>
          <p:nvPr/>
        </p:nvSpPr>
        <p:spPr bwMode="auto">
          <a:xfrm flipH="1">
            <a:off x="3702050" y="38862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37" name="Text Box 86"/>
          <p:cNvSpPr txBox="1">
            <a:spLocks noChangeArrowheads="1"/>
          </p:cNvSpPr>
          <p:nvPr/>
        </p:nvSpPr>
        <p:spPr bwMode="auto">
          <a:xfrm>
            <a:off x="5149850" y="39274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96338" name="Text Box 87"/>
          <p:cNvSpPr txBox="1">
            <a:spLocks noChangeArrowheads="1"/>
          </p:cNvSpPr>
          <p:nvPr/>
        </p:nvSpPr>
        <p:spPr bwMode="auto">
          <a:xfrm>
            <a:off x="5118100" y="4800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339" name="Rectangle 88"/>
          <p:cNvSpPr>
            <a:spLocks noChangeArrowheads="1"/>
          </p:cNvSpPr>
          <p:nvPr/>
        </p:nvSpPr>
        <p:spPr bwMode="auto">
          <a:xfrm>
            <a:off x="4508500" y="533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2</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40" name="Rectangle 89"/>
          <p:cNvSpPr>
            <a:spLocks noChangeArrowheads="1"/>
          </p:cNvSpPr>
          <p:nvPr/>
        </p:nvSpPr>
        <p:spPr bwMode="auto">
          <a:xfrm>
            <a:off x="3778250" y="5410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3</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41" name="Rectangle 90"/>
          <p:cNvSpPr>
            <a:spLocks noChangeArrowheads="1"/>
          </p:cNvSpPr>
          <p:nvPr/>
        </p:nvSpPr>
        <p:spPr bwMode="auto">
          <a:xfrm>
            <a:off x="3168650" y="4800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4</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42" name="Rectangle 91"/>
          <p:cNvSpPr>
            <a:spLocks noChangeArrowheads="1"/>
          </p:cNvSpPr>
          <p:nvPr/>
        </p:nvSpPr>
        <p:spPr bwMode="auto">
          <a:xfrm>
            <a:off x="3168650" y="3886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5</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43" name="Rectangle 92"/>
          <p:cNvSpPr>
            <a:spLocks noChangeArrowheads="1"/>
          </p:cNvSpPr>
          <p:nvPr/>
        </p:nvSpPr>
        <p:spPr bwMode="auto">
          <a:xfrm>
            <a:off x="3702050"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6</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44" name="Rectangle 93"/>
          <p:cNvSpPr>
            <a:spLocks noChangeArrowheads="1"/>
          </p:cNvSpPr>
          <p:nvPr/>
        </p:nvSpPr>
        <p:spPr bwMode="auto">
          <a:xfrm>
            <a:off x="4616450"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7</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45" name="Line 94"/>
          <p:cNvSpPr>
            <a:spLocks noChangeShapeType="1"/>
          </p:cNvSpPr>
          <p:nvPr/>
        </p:nvSpPr>
        <p:spPr bwMode="auto">
          <a:xfrm>
            <a:off x="4302125" y="3657600"/>
            <a:ext cx="0" cy="1828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46" name="Oval 95"/>
          <p:cNvSpPr>
            <a:spLocks noChangeArrowheads="1"/>
          </p:cNvSpPr>
          <p:nvPr/>
        </p:nvSpPr>
        <p:spPr bwMode="auto">
          <a:xfrm>
            <a:off x="3854450" y="4114800"/>
            <a:ext cx="914400" cy="914400"/>
          </a:xfrm>
          <a:prstGeom prst="ellipse">
            <a:avLst/>
          </a:prstGeom>
          <a:solidFill>
            <a:schemeClr val="bg1"/>
          </a:solid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47" name="Text Box 96"/>
          <p:cNvSpPr txBox="1">
            <a:spLocks noChangeArrowheads="1"/>
          </p:cNvSpPr>
          <p:nvPr/>
        </p:nvSpPr>
        <p:spPr bwMode="auto">
          <a:xfrm>
            <a:off x="1238250" y="5729288"/>
            <a:ext cx="1158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隶书" panose="02010509060101010101" pitchFamily="49" charset="-122"/>
              </a:rPr>
              <a:t>A</a:t>
            </a:r>
            <a:r>
              <a:rPr kumimoji="1" lang="zh-CN" altLang="zh-CN" sz="2800" b="1">
                <a:solidFill>
                  <a:srgbClr val="000099"/>
                </a:solidFill>
                <a:latin typeface="Times New Roman" panose="02020603050405020304" pitchFamily="18" charset="0"/>
                <a:ea typeface="隶书" panose="02010509060101010101" pitchFamily="49" charset="-122"/>
              </a:rPr>
              <a:t>退</a:t>
            </a:r>
            <a:r>
              <a:rPr kumimoji="1" lang="zh-CN" altLang="en-US" sz="2800" b="1">
                <a:solidFill>
                  <a:srgbClr val="000099"/>
                </a:solidFill>
                <a:latin typeface="Times New Roman" panose="02020603050405020304" pitchFamily="18" charset="0"/>
                <a:ea typeface="隶书" panose="02010509060101010101" pitchFamily="49" charset="-122"/>
              </a:rPr>
              <a:t>队</a:t>
            </a:r>
            <a:endParaRPr kumimoji="1" lang="zh-CN" altLang="en-US" sz="2400">
              <a:latin typeface="Times New Roman" panose="02020603050405020304" pitchFamily="18" charset="0"/>
              <a:ea typeface="宋体" panose="02010600030101010101" pitchFamily="2" charset="-122"/>
            </a:endParaRPr>
          </a:p>
        </p:txBody>
      </p:sp>
      <p:sp>
        <p:nvSpPr>
          <p:cNvPr id="96348" name="Text Box 97"/>
          <p:cNvSpPr txBox="1">
            <a:spLocks noChangeArrowheads="1"/>
          </p:cNvSpPr>
          <p:nvPr/>
        </p:nvSpPr>
        <p:spPr bwMode="auto">
          <a:xfrm>
            <a:off x="3890963" y="5729288"/>
            <a:ext cx="1138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隶书" panose="02010509060101010101" pitchFamily="49" charset="-122"/>
              </a:rPr>
              <a:t>B</a:t>
            </a:r>
            <a:r>
              <a:rPr kumimoji="1" lang="zh-CN" altLang="zh-CN" sz="2800" b="1">
                <a:solidFill>
                  <a:srgbClr val="000099"/>
                </a:solidFill>
                <a:latin typeface="Times New Roman" panose="02020603050405020304" pitchFamily="18" charset="0"/>
                <a:ea typeface="隶书" panose="02010509060101010101" pitchFamily="49" charset="-122"/>
              </a:rPr>
              <a:t>退</a:t>
            </a:r>
            <a:r>
              <a:rPr kumimoji="1" lang="zh-CN" altLang="en-US" sz="2800" b="1">
                <a:solidFill>
                  <a:srgbClr val="000099"/>
                </a:solidFill>
                <a:latin typeface="Times New Roman" panose="02020603050405020304" pitchFamily="18" charset="0"/>
                <a:ea typeface="隶书" panose="02010509060101010101" pitchFamily="49" charset="-122"/>
              </a:rPr>
              <a:t>队</a:t>
            </a:r>
            <a:endParaRPr kumimoji="1" lang="zh-CN" altLang="en-US" sz="2400">
              <a:latin typeface="Times New Roman" panose="02020603050405020304" pitchFamily="18" charset="0"/>
              <a:ea typeface="宋体" panose="02010600030101010101" pitchFamily="2" charset="-122"/>
            </a:endParaRPr>
          </a:p>
        </p:txBody>
      </p:sp>
      <p:sp>
        <p:nvSpPr>
          <p:cNvPr id="96349" name="Oval 98" descr="再生纸"/>
          <p:cNvSpPr>
            <a:spLocks noChangeArrowheads="1"/>
          </p:cNvSpPr>
          <p:nvPr/>
        </p:nvSpPr>
        <p:spPr bwMode="auto">
          <a:xfrm>
            <a:off x="5902325" y="3657600"/>
            <a:ext cx="1828800" cy="1828800"/>
          </a:xfrm>
          <a:prstGeom prst="ellipse">
            <a:avLst/>
          </a:prstGeom>
          <a:blipFill dpi="0" rotWithShape="0">
            <a:blip r:embed="rId1"/>
            <a:srcRect/>
            <a:tile tx="0" ty="0" sx="100000" sy="100000" flip="none" algn="tl"/>
          </a:blip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50" name="Line 99"/>
          <p:cNvSpPr>
            <a:spLocks noChangeShapeType="1"/>
          </p:cNvSpPr>
          <p:nvPr/>
        </p:nvSpPr>
        <p:spPr bwMode="auto">
          <a:xfrm>
            <a:off x="6816725" y="3657600"/>
            <a:ext cx="0" cy="18288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51" name="Line 100"/>
          <p:cNvSpPr>
            <a:spLocks noChangeShapeType="1"/>
          </p:cNvSpPr>
          <p:nvPr/>
        </p:nvSpPr>
        <p:spPr bwMode="auto">
          <a:xfrm>
            <a:off x="5902325" y="4572000"/>
            <a:ext cx="18288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52" name="Line 101"/>
          <p:cNvSpPr>
            <a:spLocks noChangeShapeType="1"/>
          </p:cNvSpPr>
          <p:nvPr/>
        </p:nvSpPr>
        <p:spPr bwMode="auto">
          <a:xfrm>
            <a:off x="6207125" y="38862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53" name="Line 102"/>
          <p:cNvSpPr>
            <a:spLocks noChangeShapeType="1"/>
          </p:cNvSpPr>
          <p:nvPr/>
        </p:nvSpPr>
        <p:spPr bwMode="auto">
          <a:xfrm flipH="1">
            <a:off x="6207125" y="3886200"/>
            <a:ext cx="1219200" cy="13716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54" name="Oval 103"/>
          <p:cNvSpPr>
            <a:spLocks noChangeArrowheads="1"/>
          </p:cNvSpPr>
          <p:nvPr/>
        </p:nvSpPr>
        <p:spPr bwMode="auto">
          <a:xfrm>
            <a:off x="6359525" y="4114800"/>
            <a:ext cx="914400" cy="914400"/>
          </a:xfrm>
          <a:prstGeom prst="ellipse">
            <a:avLst/>
          </a:prstGeom>
          <a:solidFill>
            <a:schemeClr val="bg1"/>
          </a:solidFill>
          <a:ln w="28575">
            <a:solidFill>
              <a:schemeClr val="accent2"/>
            </a:solidFill>
            <a:rou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6355" name="Text Box 104"/>
          <p:cNvSpPr txBox="1">
            <a:spLocks noChangeArrowheads="1"/>
          </p:cNvSpPr>
          <p:nvPr/>
        </p:nvSpPr>
        <p:spPr bwMode="auto">
          <a:xfrm>
            <a:off x="7654925"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96356" name="Text Box 105"/>
          <p:cNvSpPr txBox="1">
            <a:spLocks noChangeArrowheads="1"/>
          </p:cNvSpPr>
          <p:nvPr/>
        </p:nvSpPr>
        <p:spPr bwMode="auto">
          <a:xfrm>
            <a:off x="7623175" y="4800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357" name="Rectangle 106"/>
          <p:cNvSpPr>
            <a:spLocks noChangeArrowheads="1"/>
          </p:cNvSpPr>
          <p:nvPr/>
        </p:nvSpPr>
        <p:spPr bwMode="auto">
          <a:xfrm>
            <a:off x="7013575" y="533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2</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58" name="Rectangle 107"/>
          <p:cNvSpPr>
            <a:spLocks noChangeArrowheads="1"/>
          </p:cNvSpPr>
          <p:nvPr/>
        </p:nvSpPr>
        <p:spPr bwMode="auto">
          <a:xfrm>
            <a:off x="6207125" y="533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3</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59" name="Rectangle 108"/>
          <p:cNvSpPr>
            <a:spLocks noChangeArrowheads="1"/>
          </p:cNvSpPr>
          <p:nvPr/>
        </p:nvSpPr>
        <p:spPr bwMode="auto">
          <a:xfrm>
            <a:off x="5673725" y="4800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4</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60" name="Rectangle 109"/>
          <p:cNvSpPr>
            <a:spLocks noChangeArrowheads="1"/>
          </p:cNvSpPr>
          <p:nvPr/>
        </p:nvSpPr>
        <p:spPr bwMode="auto">
          <a:xfrm>
            <a:off x="5673725" y="3886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5</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61" name="Rectangle 110"/>
          <p:cNvSpPr>
            <a:spLocks noChangeArrowheads="1"/>
          </p:cNvSpPr>
          <p:nvPr/>
        </p:nvSpPr>
        <p:spPr bwMode="auto">
          <a:xfrm>
            <a:off x="62071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6</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62" name="Rectangle 111"/>
          <p:cNvSpPr>
            <a:spLocks noChangeArrowheads="1"/>
          </p:cNvSpPr>
          <p:nvPr/>
        </p:nvSpPr>
        <p:spPr bwMode="auto">
          <a:xfrm>
            <a:off x="7121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7</a:t>
            </a:r>
            <a:endParaRPr kumimoji="1" lang="en-US" altLang="zh-CN" sz="2400" b="1">
              <a:solidFill>
                <a:srgbClr val="000099"/>
              </a:solidFill>
              <a:latin typeface="Times New Roman" panose="02020603050405020304" pitchFamily="18" charset="0"/>
              <a:ea typeface="宋体" panose="02010600030101010101" pitchFamily="2" charset="-122"/>
            </a:endParaRPr>
          </a:p>
        </p:txBody>
      </p:sp>
      <p:sp>
        <p:nvSpPr>
          <p:cNvPr id="96363" name="Text Box 126"/>
          <p:cNvSpPr txBox="1">
            <a:spLocks noChangeArrowheads="1"/>
          </p:cNvSpPr>
          <p:nvPr/>
        </p:nvSpPr>
        <p:spPr bwMode="auto">
          <a:xfrm>
            <a:off x="5715000" y="5729288"/>
            <a:ext cx="2830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99"/>
                </a:solidFill>
                <a:latin typeface="Times New Roman" panose="02020603050405020304" pitchFamily="18" charset="0"/>
                <a:ea typeface="隶书" panose="02010509060101010101" pitchFamily="49" charset="-122"/>
              </a:rPr>
              <a:t>D,E,F,G,H,I </a:t>
            </a:r>
            <a:r>
              <a:rPr kumimoji="1" lang="zh-CN" altLang="zh-CN" sz="2800" b="1">
                <a:solidFill>
                  <a:srgbClr val="000099"/>
                </a:solidFill>
                <a:latin typeface="Times New Roman" panose="02020603050405020304" pitchFamily="18" charset="0"/>
                <a:ea typeface="隶书" panose="02010509060101010101" pitchFamily="49" charset="-122"/>
              </a:rPr>
              <a:t>进</a:t>
            </a:r>
            <a:r>
              <a:rPr kumimoji="1" lang="zh-CN" altLang="en-US" sz="2800" b="1">
                <a:solidFill>
                  <a:srgbClr val="000099"/>
                </a:solidFill>
                <a:latin typeface="Times New Roman" panose="02020603050405020304" pitchFamily="18" charset="0"/>
                <a:ea typeface="隶书" panose="02010509060101010101" pitchFamily="49" charset="-122"/>
              </a:rPr>
              <a:t>队</a:t>
            </a:r>
            <a:endParaRPr kumimoji="1" lang="zh-CN" altLang="en-US" sz="2400">
              <a:latin typeface="Times New Roman" panose="02020603050405020304" pitchFamily="18" charset="0"/>
              <a:ea typeface="宋体" panose="02010600030101010101" pitchFamily="2" charset="-122"/>
            </a:endParaRPr>
          </a:p>
        </p:txBody>
      </p:sp>
      <p:sp>
        <p:nvSpPr>
          <p:cNvPr id="96364" name="Line 128"/>
          <p:cNvSpPr>
            <a:spLocks noChangeShapeType="1"/>
          </p:cNvSpPr>
          <p:nvPr/>
        </p:nvSpPr>
        <p:spPr bwMode="auto">
          <a:xfrm flipH="1" flipV="1">
            <a:off x="2590800" y="5105400"/>
            <a:ext cx="304800" cy="2286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65" name="Text Box 129"/>
          <p:cNvSpPr txBox="1">
            <a:spLocks noChangeArrowheads="1"/>
          </p:cNvSpPr>
          <p:nvPr/>
        </p:nvSpPr>
        <p:spPr bwMode="auto">
          <a:xfrm>
            <a:off x="2438400" y="51816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6366" name="Text Box 130"/>
          <p:cNvSpPr txBox="1">
            <a:spLocks noChangeArrowheads="1"/>
          </p:cNvSpPr>
          <p:nvPr/>
        </p:nvSpPr>
        <p:spPr bwMode="auto">
          <a:xfrm>
            <a:off x="2305050" y="4587875"/>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6367" name="Text Box 131"/>
          <p:cNvSpPr txBox="1">
            <a:spLocks noChangeArrowheads="1"/>
          </p:cNvSpPr>
          <p:nvPr/>
        </p:nvSpPr>
        <p:spPr bwMode="auto">
          <a:xfrm>
            <a:off x="1828800" y="4949825"/>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6368" name="Text Box 132"/>
          <p:cNvSpPr txBox="1">
            <a:spLocks noChangeArrowheads="1"/>
          </p:cNvSpPr>
          <p:nvPr/>
        </p:nvSpPr>
        <p:spPr bwMode="auto">
          <a:xfrm>
            <a:off x="685800" y="54102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6369" name="Line 133"/>
          <p:cNvSpPr>
            <a:spLocks noChangeShapeType="1"/>
          </p:cNvSpPr>
          <p:nvPr/>
        </p:nvSpPr>
        <p:spPr bwMode="auto">
          <a:xfrm flipV="1">
            <a:off x="1198563" y="5410200"/>
            <a:ext cx="304800" cy="1524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70" name="Text Box 135"/>
          <p:cNvSpPr txBox="1">
            <a:spLocks noChangeArrowheads="1"/>
          </p:cNvSpPr>
          <p:nvPr/>
        </p:nvSpPr>
        <p:spPr bwMode="auto">
          <a:xfrm>
            <a:off x="4800600" y="54102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6371" name="Text Box 136"/>
          <p:cNvSpPr txBox="1">
            <a:spLocks noChangeArrowheads="1"/>
          </p:cNvSpPr>
          <p:nvPr/>
        </p:nvSpPr>
        <p:spPr bwMode="auto">
          <a:xfrm>
            <a:off x="4316413" y="4906963"/>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FFFF66"/>
                </a:solidFill>
                <a:latin typeface="Times New Roman" panose="02020603050405020304" pitchFamily="18" charset="0"/>
                <a:ea typeface="宋体" panose="02010600030101010101" pitchFamily="2" charset="-122"/>
              </a:rPr>
              <a:t>B</a:t>
            </a:r>
            <a:endParaRPr kumimoji="1" lang="en-US" altLang="zh-CN" sz="2400">
              <a:solidFill>
                <a:srgbClr val="FFFF66"/>
              </a:solidFill>
              <a:latin typeface="Times New Roman" panose="02020603050405020304" pitchFamily="18" charset="0"/>
              <a:ea typeface="宋体" panose="02010600030101010101" pitchFamily="2" charset="-122"/>
            </a:endParaRPr>
          </a:p>
        </p:txBody>
      </p:sp>
      <p:sp>
        <p:nvSpPr>
          <p:cNvPr id="96372" name="Text Box 137"/>
          <p:cNvSpPr txBox="1">
            <a:spLocks noChangeArrowheads="1"/>
          </p:cNvSpPr>
          <p:nvPr/>
        </p:nvSpPr>
        <p:spPr bwMode="auto">
          <a:xfrm>
            <a:off x="4289425" y="4964113"/>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6373" name="Text Box 138"/>
          <p:cNvSpPr txBox="1">
            <a:spLocks noChangeArrowheads="1"/>
          </p:cNvSpPr>
          <p:nvPr/>
        </p:nvSpPr>
        <p:spPr bwMode="auto">
          <a:xfrm>
            <a:off x="3117850" y="5410200"/>
            <a:ext cx="74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6374" name="Line 139"/>
          <p:cNvSpPr>
            <a:spLocks noChangeShapeType="1"/>
          </p:cNvSpPr>
          <p:nvPr/>
        </p:nvSpPr>
        <p:spPr bwMode="auto">
          <a:xfrm flipV="1">
            <a:off x="3630613" y="5410200"/>
            <a:ext cx="304800" cy="1524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75" name="Line 140"/>
          <p:cNvSpPr>
            <a:spLocks noChangeShapeType="1"/>
          </p:cNvSpPr>
          <p:nvPr/>
        </p:nvSpPr>
        <p:spPr bwMode="auto">
          <a:xfrm flipH="1" flipV="1">
            <a:off x="4800600" y="5334000"/>
            <a:ext cx="381000" cy="2286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76" name="Text Box 141"/>
          <p:cNvSpPr txBox="1">
            <a:spLocks noChangeArrowheads="1"/>
          </p:cNvSpPr>
          <p:nvPr/>
        </p:nvSpPr>
        <p:spPr bwMode="auto">
          <a:xfrm>
            <a:off x="7308850" y="5410200"/>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96377" name="Text Box 142"/>
          <p:cNvSpPr txBox="1">
            <a:spLocks noChangeArrowheads="1"/>
          </p:cNvSpPr>
          <p:nvPr/>
        </p:nvSpPr>
        <p:spPr bwMode="auto">
          <a:xfrm>
            <a:off x="6840538" y="4994275"/>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6378" name="Text Box 143"/>
          <p:cNvSpPr txBox="1">
            <a:spLocks noChangeArrowheads="1"/>
          </p:cNvSpPr>
          <p:nvPr/>
        </p:nvSpPr>
        <p:spPr bwMode="auto">
          <a:xfrm>
            <a:off x="8021638" y="4572000"/>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96379" name="Line 144"/>
          <p:cNvSpPr>
            <a:spLocks noChangeShapeType="1"/>
          </p:cNvSpPr>
          <p:nvPr/>
        </p:nvSpPr>
        <p:spPr bwMode="auto">
          <a:xfrm flipH="1">
            <a:off x="7696200" y="4800600"/>
            <a:ext cx="381000" cy="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80" name="Line 145"/>
          <p:cNvSpPr>
            <a:spLocks noChangeShapeType="1"/>
          </p:cNvSpPr>
          <p:nvPr/>
        </p:nvSpPr>
        <p:spPr bwMode="auto">
          <a:xfrm flipH="1" flipV="1">
            <a:off x="7308850" y="5334000"/>
            <a:ext cx="381000" cy="228600"/>
          </a:xfrm>
          <a:prstGeom prst="line">
            <a:avLst/>
          </a:prstGeom>
          <a:noFill/>
          <a:ln w="28575">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81" name="Text Box 146"/>
          <p:cNvSpPr txBox="1">
            <a:spLocks noChangeArrowheads="1"/>
          </p:cNvSpPr>
          <p:nvPr/>
        </p:nvSpPr>
        <p:spPr bwMode="auto">
          <a:xfrm>
            <a:off x="6364288" y="4960938"/>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6382" name="Text Box 147"/>
          <p:cNvSpPr txBox="1">
            <a:spLocks noChangeArrowheads="1"/>
          </p:cNvSpPr>
          <p:nvPr/>
        </p:nvSpPr>
        <p:spPr bwMode="auto">
          <a:xfrm>
            <a:off x="5929313" y="4532313"/>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6383" name="Text Box 148"/>
          <p:cNvSpPr txBox="1">
            <a:spLocks noChangeArrowheads="1"/>
          </p:cNvSpPr>
          <p:nvPr/>
        </p:nvSpPr>
        <p:spPr bwMode="auto">
          <a:xfrm>
            <a:off x="5988050" y="4019550"/>
            <a:ext cx="43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96384" name="Text Box 149"/>
          <p:cNvSpPr txBox="1">
            <a:spLocks noChangeArrowheads="1"/>
          </p:cNvSpPr>
          <p:nvPr/>
        </p:nvSpPr>
        <p:spPr bwMode="auto">
          <a:xfrm>
            <a:off x="6329363" y="3687763"/>
            <a:ext cx="5000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96385" name="Text Box 150"/>
          <p:cNvSpPr txBox="1">
            <a:spLocks noChangeArrowheads="1"/>
          </p:cNvSpPr>
          <p:nvPr/>
        </p:nvSpPr>
        <p:spPr bwMode="auto">
          <a:xfrm>
            <a:off x="6819900" y="3646488"/>
            <a:ext cx="50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96386" name="Text Box 151"/>
          <p:cNvSpPr txBox="1">
            <a:spLocks noChangeArrowheads="1"/>
          </p:cNvSpPr>
          <p:nvPr/>
        </p:nvSpPr>
        <p:spPr bwMode="auto">
          <a:xfrm>
            <a:off x="7283450" y="3946525"/>
            <a:ext cx="342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620688"/>
            <a:ext cx="8928992" cy="6048672"/>
          </a:xfrm>
        </p:spPr>
        <p:txBody>
          <a:bodyPr>
            <a:normAutofit fontScale="55000" lnSpcReduction="20000"/>
          </a:bodyPr>
          <a:lstStyle/>
          <a:p>
            <a:pPr marL="0" indent="0">
              <a:buNone/>
            </a:pPr>
            <a:r>
              <a:rPr lang="en-US" altLang="zh-CN" dirty="0"/>
              <a:t>template &lt;class T&gt;   class </a:t>
            </a:r>
            <a:r>
              <a:rPr lang="en-US" altLang="zh-CN" dirty="0" err="1"/>
              <a:t>SeqQueue</a:t>
            </a:r>
            <a:r>
              <a:rPr lang="en-US" altLang="zh-CN" dirty="0"/>
              <a:t>: public Queue&lt;T&gt; {		</a:t>
            </a:r>
            <a:endParaRPr lang="en-US" altLang="zh-CN" dirty="0"/>
          </a:p>
          <a:p>
            <a:pPr marL="0" indent="0">
              <a:buNone/>
            </a:pPr>
            <a:r>
              <a:rPr lang="en-US" altLang="zh-CN" dirty="0"/>
              <a:t>protected:</a:t>
            </a:r>
            <a:endParaRPr lang="en-US" altLang="zh-CN" dirty="0"/>
          </a:p>
          <a:p>
            <a:pPr marL="0" indent="0">
              <a:buNone/>
            </a:pPr>
            <a:r>
              <a:rPr lang="en-US" altLang="zh-CN" dirty="0"/>
              <a:t>    int rear, front;	         //</a:t>
            </a:r>
            <a:r>
              <a:rPr lang="zh-CN" altLang="en-US" dirty="0"/>
              <a:t>队尾</a:t>
            </a:r>
            <a:r>
              <a:rPr lang="en-US" altLang="zh-CN" dirty="0"/>
              <a:t>, </a:t>
            </a:r>
            <a:r>
              <a:rPr lang="zh-CN" altLang="en-US" dirty="0"/>
              <a:t>队头指针</a:t>
            </a:r>
            <a:endParaRPr lang="zh-CN" altLang="en-US" dirty="0"/>
          </a:p>
          <a:p>
            <a:pPr marL="0" indent="0">
              <a:buNone/>
            </a:pPr>
            <a:r>
              <a:rPr lang="zh-CN" altLang="en-US" dirty="0"/>
              <a:t>    </a:t>
            </a:r>
            <a:r>
              <a:rPr lang="en-US" altLang="zh-CN" dirty="0"/>
              <a:t>T *elements; 	         //</a:t>
            </a:r>
            <a:r>
              <a:rPr lang="zh-CN" altLang="en-US" dirty="0"/>
              <a:t>队列元素数组	</a:t>
            </a:r>
            <a:endParaRPr lang="zh-CN" altLang="en-US" dirty="0"/>
          </a:p>
          <a:p>
            <a:pPr marL="0" indent="0">
              <a:buNone/>
            </a:pPr>
            <a:r>
              <a:rPr lang="zh-CN" altLang="en-US" dirty="0"/>
              <a:t>    </a:t>
            </a:r>
            <a:r>
              <a:rPr lang="en-US" altLang="zh-CN" dirty="0"/>
              <a:t>int </a:t>
            </a:r>
            <a:r>
              <a:rPr lang="en-US" altLang="zh-CN" dirty="0" err="1"/>
              <a:t>maxSize</a:t>
            </a:r>
            <a:r>
              <a:rPr lang="en-US" altLang="zh-CN" dirty="0"/>
              <a:t>;                  //</a:t>
            </a:r>
            <a:r>
              <a:rPr lang="zh-CN" altLang="en-US" dirty="0"/>
              <a:t>最大元素个数</a:t>
            </a:r>
            <a:endParaRPr lang="zh-CN" altLang="en-US" dirty="0"/>
          </a:p>
          <a:p>
            <a:pPr marL="0" indent="0">
              <a:buNone/>
            </a:pPr>
            <a:r>
              <a:rPr lang="en-US" altLang="zh-CN" dirty="0"/>
              <a:t>public: </a:t>
            </a:r>
            <a:endParaRPr lang="en-US" altLang="zh-CN" dirty="0"/>
          </a:p>
          <a:p>
            <a:pPr marL="0" indent="0">
              <a:buNone/>
            </a:pPr>
            <a:r>
              <a:rPr lang="en-US" altLang="zh-CN" dirty="0"/>
              <a:t>    </a:t>
            </a:r>
            <a:r>
              <a:rPr lang="en-US" altLang="zh-CN" dirty="0" err="1"/>
              <a:t>SeqQueue</a:t>
            </a:r>
            <a:r>
              <a:rPr lang="en-US" altLang="zh-CN" dirty="0"/>
              <a:t> (int </a:t>
            </a:r>
            <a:r>
              <a:rPr lang="en-US" altLang="zh-CN" dirty="0" err="1"/>
              <a:t>sz</a:t>
            </a:r>
            <a:r>
              <a:rPr lang="en-US" altLang="zh-CN" dirty="0"/>
              <a:t> = 10);  //</a:t>
            </a:r>
            <a:r>
              <a:rPr lang="zh-CN" altLang="en-US" dirty="0"/>
              <a:t>代码见备注</a:t>
            </a:r>
            <a:endParaRPr lang="en-US" altLang="zh-CN" dirty="0"/>
          </a:p>
          <a:p>
            <a:pPr marL="0" indent="0">
              <a:buNone/>
            </a:pPr>
            <a:r>
              <a:rPr lang="en-US" altLang="zh-CN" dirty="0"/>
              <a:t>    ~</a:t>
            </a:r>
            <a:r>
              <a:rPr lang="en-US" altLang="zh-CN" dirty="0" err="1"/>
              <a:t>SeqQueue</a:t>
            </a:r>
            <a:r>
              <a:rPr lang="en-US" altLang="zh-CN" dirty="0"/>
              <a:t> ( ) { delete [ ] elements; }</a:t>
            </a:r>
            <a:endParaRPr lang="en-US" altLang="zh-CN" dirty="0"/>
          </a:p>
          <a:p>
            <a:pPr marL="0" indent="0">
              <a:buNone/>
            </a:pPr>
            <a:r>
              <a:rPr lang="en-US" altLang="zh-CN" dirty="0"/>
              <a:t>    bool </a:t>
            </a:r>
            <a:r>
              <a:rPr lang="en-US" altLang="zh-CN" dirty="0" err="1"/>
              <a:t>EnQueue</a:t>
            </a:r>
            <a:r>
              <a:rPr lang="en-US" altLang="zh-CN" dirty="0"/>
              <a:t> (const T x);   //</a:t>
            </a:r>
            <a:r>
              <a:rPr lang="zh-CN" altLang="en-US" dirty="0"/>
              <a:t>进队，代码见备注</a:t>
            </a:r>
            <a:endParaRPr lang="zh-CN" altLang="en-US" dirty="0"/>
          </a:p>
          <a:p>
            <a:pPr marL="0" indent="0">
              <a:buNone/>
            </a:pPr>
            <a:r>
              <a:rPr lang="zh-CN" altLang="en-US" dirty="0"/>
              <a:t>    </a:t>
            </a:r>
            <a:r>
              <a:rPr lang="en-US" altLang="zh-CN" dirty="0"/>
              <a:t>bool </a:t>
            </a:r>
            <a:r>
              <a:rPr lang="en-US" altLang="zh-CN" dirty="0" err="1"/>
              <a:t>DeQueue</a:t>
            </a:r>
            <a:r>
              <a:rPr lang="en-US" altLang="zh-CN" dirty="0"/>
              <a:t> (T&amp; x);      //</a:t>
            </a:r>
            <a:r>
              <a:rPr lang="zh-CN" altLang="en-US" dirty="0"/>
              <a:t>退队</a:t>
            </a:r>
            <a:endParaRPr lang="zh-CN" altLang="en-US" dirty="0"/>
          </a:p>
          <a:p>
            <a:pPr marL="0" indent="0">
              <a:buNone/>
            </a:pPr>
            <a:r>
              <a:rPr lang="zh-CN" altLang="en-US" dirty="0"/>
              <a:t>    </a:t>
            </a:r>
            <a:r>
              <a:rPr lang="en-US" altLang="zh-CN" dirty="0"/>
              <a:t>bool </a:t>
            </a:r>
            <a:r>
              <a:rPr lang="en-US" altLang="zh-CN" dirty="0" err="1"/>
              <a:t>getFront</a:t>
            </a:r>
            <a:r>
              <a:rPr lang="en-US" altLang="zh-CN" dirty="0"/>
              <a:t> (T&amp; x);       //</a:t>
            </a:r>
            <a:r>
              <a:rPr lang="zh-CN" altLang="en-US" dirty="0"/>
              <a:t>取队头元素</a:t>
            </a:r>
            <a:endParaRPr lang="zh-CN" altLang="en-US" dirty="0"/>
          </a:p>
          <a:p>
            <a:pPr marL="0" indent="0">
              <a:buNone/>
            </a:pPr>
            <a:r>
              <a:rPr lang="zh-CN" altLang="en-US" dirty="0"/>
              <a:t>    </a:t>
            </a:r>
            <a:r>
              <a:rPr lang="en-US" altLang="zh-CN" dirty="0"/>
              <a:t>void </a:t>
            </a:r>
            <a:r>
              <a:rPr lang="en-US" altLang="zh-CN" dirty="0" err="1"/>
              <a:t>makeEmpty</a:t>
            </a:r>
            <a:r>
              <a:rPr lang="en-US" altLang="zh-CN" dirty="0"/>
              <a:t> ( ) { front = rear = 0; }</a:t>
            </a:r>
            <a:endParaRPr lang="en-US" altLang="zh-CN" dirty="0"/>
          </a:p>
          <a:p>
            <a:pPr marL="0" indent="0">
              <a:buNone/>
            </a:pPr>
            <a:r>
              <a:rPr lang="en-US" altLang="zh-CN" dirty="0"/>
              <a:t>    bool </a:t>
            </a:r>
            <a:r>
              <a:rPr lang="en-US" altLang="zh-CN" dirty="0" err="1"/>
              <a:t>IsEmpty</a:t>
            </a:r>
            <a:r>
              <a:rPr lang="en-US" altLang="zh-CN" dirty="0"/>
              <a:t> ( ) const   { return front == rear; }</a:t>
            </a:r>
            <a:endParaRPr lang="en-US" altLang="zh-CN" dirty="0"/>
          </a:p>
          <a:p>
            <a:pPr marL="0" indent="0">
              <a:buNone/>
            </a:pPr>
            <a:r>
              <a:rPr lang="en-US" altLang="zh-CN" dirty="0"/>
              <a:t>    bool </a:t>
            </a:r>
            <a:r>
              <a:rPr lang="en-US" altLang="zh-CN" dirty="0" err="1"/>
              <a:t>IsFull</a:t>
            </a:r>
            <a:r>
              <a:rPr lang="en-US" altLang="zh-CN" dirty="0"/>
              <a:t> ( ) const { return (rear+1) % </a:t>
            </a:r>
            <a:r>
              <a:rPr lang="en-US" altLang="zh-CN" dirty="0" err="1"/>
              <a:t>maxSize</a:t>
            </a:r>
            <a:r>
              <a:rPr lang="en-US" altLang="zh-CN" dirty="0"/>
              <a:t>==front; }</a:t>
            </a:r>
            <a:endParaRPr lang="en-US" altLang="zh-CN" dirty="0"/>
          </a:p>
          <a:p>
            <a:pPr marL="0" indent="0">
              <a:buNone/>
            </a:pPr>
            <a:r>
              <a:rPr lang="en-US" altLang="zh-CN" dirty="0"/>
              <a:t>    int </a:t>
            </a:r>
            <a:r>
              <a:rPr lang="en-US" altLang="zh-CN" dirty="0" err="1"/>
              <a:t>getSize</a:t>
            </a:r>
            <a:r>
              <a:rPr lang="en-US" altLang="zh-CN" dirty="0"/>
              <a:t> ( ) const   { return (</a:t>
            </a:r>
            <a:r>
              <a:rPr lang="en-US" altLang="zh-CN" dirty="0" err="1"/>
              <a:t>rear-front+maxSize</a:t>
            </a:r>
            <a:r>
              <a:rPr lang="en-US" altLang="zh-CN" dirty="0"/>
              <a:t>) % </a:t>
            </a:r>
            <a:r>
              <a:rPr lang="en-US" altLang="zh-CN" dirty="0" err="1"/>
              <a:t>maxSize</a:t>
            </a:r>
            <a:r>
              <a:rPr lang="en-US" altLang="zh-CN" dirty="0"/>
              <a:t>;}</a:t>
            </a:r>
            <a:endParaRPr lang="en-US" altLang="zh-CN" dirty="0"/>
          </a:p>
          <a:p>
            <a:pPr marL="0" indent="0">
              <a:buNone/>
            </a:pPr>
            <a:r>
              <a:rPr lang="en-US" altLang="zh-CN" dirty="0"/>
              <a:t>    friend </a:t>
            </a:r>
            <a:r>
              <a:rPr lang="en-US" altLang="zh-CN" dirty="0" err="1"/>
              <a:t>ostream</a:t>
            </a:r>
            <a:r>
              <a:rPr lang="en-US" altLang="zh-CN" dirty="0"/>
              <a:t>&amp;  operator &lt;&lt; (</a:t>
            </a:r>
            <a:r>
              <a:rPr lang="en-US" altLang="zh-CN" dirty="0" err="1"/>
              <a:t>ostream</a:t>
            </a:r>
            <a:r>
              <a:rPr lang="en-US" altLang="zh-CN" dirty="0"/>
              <a:t>&amp; </a:t>
            </a:r>
            <a:r>
              <a:rPr lang="en-US" altLang="zh-CN" dirty="0" err="1"/>
              <a:t>os</a:t>
            </a:r>
            <a:r>
              <a:rPr lang="en-US" altLang="zh-CN" dirty="0"/>
              <a:t>, </a:t>
            </a:r>
            <a:r>
              <a:rPr lang="en-US" altLang="zh-CN" dirty="0" err="1"/>
              <a:t>SeqQueue</a:t>
            </a:r>
            <a:r>
              <a:rPr lang="en-US" altLang="zh-CN" dirty="0"/>
              <a:t>&lt;T&gt;&amp; Q);</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88640"/>
            <a:ext cx="8568952" cy="6336704"/>
          </a:xfrm>
        </p:spPr>
        <p:txBody>
          <a:bodyPr>
            <a:normAutofit fontScale="85000" lnSpcReduction="20000"/>
          </a:bodyPr>
          <a:lstStyle/>
          <a:p>
            <a:pPr marL="0" indent="0">
              <a:buNone/>
            </a:pPr>
            <a:r>
              <a:rPr lang="en-US" altLang="zh-CN" dirty="0"/>
              <a:t>template &lt;class T&gt;</a:t>
            </a:r>
            <a:endParaRPr lang="en-US" altLang="zh-CN" dirty="0"/>
          </a:p>
          <a:p>
            <a:pPr marL="0" indent="0">
              <a:buNone/>
            </a:pPr>
            <a:r>
              <a:rPr lang="en-US" altLang="zh-CN" dirty="0"/>
              <a:t>bool </a:t>
            </a:r>
            <a:r>
              <a:rPr lang="en-US" altLang="zh-CN" dirty="0" err="1"/>
              <a:t>SeqQueue</a:t>
            </a:r>
            <a:r>
              <a:rPr lang="en-US" altLang="zh-CN" dirty="0"/>
              <a:t>&lt;T&gt; :: </a:t>
            </a:r>
            <a:r>
              <a:rPr lang="en-US" altLang="zh-CN" dirty="0" err="1"/>
              <a:t>DeQueue</a:t>
            </a:r>
            <a:r>
              <a:rPr lang="en-US" altLang="zh-CN" dirty="0"/>
              <a:t> (T&amp; x) {</a:t>
            </a:r>
            <a:endParaRPr lang="en-US" altLang="zh-CN" dirty="0"/>
          </a:p>
          <a:p>
            <a:pPr marL="0" indent="0">
              <a:buNone/>
            </a:pPr>
            <a:r>
              <a:rPr lang="en-US" altLang="zh-CN" dirty="0"/>
              <a:t>     if ( </a:t>
            </a:r>
            <a:r>
              <a:rPr lang="en-US" altLang="zh-CN" dirty="0" err="1"/>
              <a:t>IsEmpty</a:t>
            </a:r>
            <a:r>
              <a:rPr lang="en-US" altLang="zh-CN" dirty="0"/>
              <a:t> ( )  ) return false; 	</a:t>
            </a:r>
            <a:endParaRPr lang="en-US" altLang="zh-CN" dirty="0"/>
          </a:p>
          <a:p>
            <a:pPr marL="0" indent="0">
              <a:buNone/>
            </a:pPr>
            <a:r>
              <a:rPr lang="en-US" altLang="zh-CN" dirty="0"/>
              <a:t>     x = elements[front];  </a:t>
            </a:r>
            <a:endParaRPr lang="en-US" altLang="zh-CN" dirty="0"/>
          </a:p>
          <a:p>
            <a:pPr marL="0" indent="0">
              <a:buNone/>
            </a:pPr>
            <a:r>
              <a:rPr lang="en-US" altLang="zh-CN" dirty="0"/>
              <a:t>     front = (front+1) % </a:t>
            </a:r>
            <a:r>
              <a:rPr lang="en-US" altLang="zh-CN" dirty="0" err="1"/>
              <a:t>maxSize</a:t>
            </a:r>
            <a:r>
              <a:rPr lang="en-US" altLang="zh-CN" dirty="0"/>
              <a:t>;</a:t>
            </a:r>
            <a:endParaRPr lang="en-US" altLang="zh-CN" dirty="0"/>
          </a:p>
          <a:p>
            <a:pPr marL="0" indent="0">
              <a:buNone/>
            </a:pPr>
            <a:r>
              <a:rPr lang="en-US" altLang="zh-CN" dirty="0"/>
              <a:t>     return true;</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r>
              <a:rPr lang="en-US" altLang="zh-CN" dirty="0"/>
              <a:t>template &lt;class T&gt; </a:t>
            </a:r>
            <a:endParaRPr lang="en-US" altLang="zh-CN" dirty="0"/>
          </a:p>
          <a:p>
            <a:pPr marL="0" indent="0">
              <a:buNone/>
            </a:pPr>
            <a:r>
              <a:rPr lang="en-US" altLang="zh-CN" dirty="0"/>
              <a:t>bool </a:t>
            </a:r>
            <a:r>
              <a:rPr lang="en-US" altLang="zh-CN" dirty="0" err="1"/>
              <a:t>SeqQueue</a:t>
            </a:r>
            <a:r>
              <a:rPr lang="en-US" altLang="zh-CN" dirty="0"/>
              <a:t>&lt;T&gt; :: </a:t>
            </a:r>
            <a:r>
              <a:rPr lang="en-US" altLang="zh-CN" dirty="0" err="1"/>
              <a:t>GetFront</a:t>
            </a:r>
            <a:r>
              <a:rPr lang="en-US" altLang="zh-CN" dirty="0"/>
              <a:t> (T&amp; x) const{</a:t>
            </a:r>
            <a:endParaRPr lang="en-US" altLang="zh-CN" dirty="0"/>
          </a:p>
          <a:p>
            <a:pPr marL="0" indent="0">
              <a:buNone/>
            </a:pPr>
            <a:r>
              <a:rPr lang="en-US" altLang="zh-CN" dirty="0"/>
              <a:t>     if ( </a:t>
            </a:r>
            <a:r>
              <a:rPr lang="en-US" altLang="zh-CN" dirty="0" err="1"/>
              <a:t>IsEmpty</a:t>
            </a:r>
            <a:r>
              <a:rPr lang="en-US" altLang="zh-CN" dirty="0"/>
              <a:t> ( )  ) return false;	</a:t>
            </a:r>
            <a:endParaRPr lang="en-US" altLang="zh-CN" dirty="0"/>
          </a:p>
          <a:p>
            <a:pPr marL="0" indent="0">
              <a:buNone/>
            </a:pPr>
            <a:r>
              <a:rPr lang="en-US" altLang="zh-CN" dirty="0"/>
              <a:t>     x = elements[front];        return true;</a:t>
            </a:r>
            <a:endParaRPr lang="en-US" altLang="zh-CN" dirty="0"/>
          </a:p>
          <a:p>
            <a:pPr marL="0" indent="0">
              <a:buNone/>
            </a:pPr>
            <a:r>
              <a:rPr lang="en-US" altLang="zh-CN" dirty="0"/>
              <a:t>}</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5"/>
          <p:cNvSpPr>
            <a:spLocks noChangeArrowheads="1"/>
          </p:cNvSpPr>
          <p:nvPr/>
        </p:nvSpPr>
        <p:spPr bwMode="auto">
          <a:xfrm>
            <a:off x="304800" y="4543425"/>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3600" b="1">
              <a:solidFill>
                <a:srgbClr val="CC3300"/>
              </a:solidFill>
              <a:latin typeface="Times New Roman" panose="02020603050405020304" pitchFamily="18" charset="0"/>
              <a:ea typeface="宋体" panose="02010600030101010101" pitchFamily="2" charset="-122"/>
            </a:endParaRPr>
          </a:p>
        </p:txBody>
      </p:sp>
      <p:sp>
        <p:nvSpPr>
          <p:cNvPr id="101381" name="Rectangle 6"/>
          <p:cNvSpPr>
            <a:spLocks noChangeArrowheads="1"/>
          </p:cNvSpPr>
          <p:nvPr/>
        </p:nvSpPr>
        <p:spPr bwMode="auto">
          <a:xfrm>
            <a:off x="1981200" y="1752600"/>
            <a:ext cx="838200" cy="457200"/>
          </a:xfrm>
          <a:prstGeom prst="rect">
            <a:avLst/>
          </a:prstGeom>
          <a:solidFill>
            <a:srgbClr val="FFFF66"/>
          </a:solidFill>
          <a:ln w="9525">
            <a:miter lim="800000"/>
          </a:ln>
          <a:scene3d>
            <a:camera prst="legacyObliqueTopRight"/>
            <a:lightRig rig="legacyFlat3" dir="b"/>
          </a:scene3d>
          <a:sp3d extrusionH="430200" prstMaterial="legacyMatte">
            <a:bevelT w="13500" h="13500" prst="angle"/>
            <a:bevelB w="13500" h="13500" prst="angle"/>
            <a:extrusionClr>
              <a:srgbClr val="FFFF66"/>
            </a:extrusionClr>
            <a:contourClr>
              <a:srgbClr val="FFFF6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01382" name="Text Box 7"/>
          <p:cNvSpPr txBox="1">
            <a:spLocks noChangeArrowheads="1"/>
          </p:cNvSpPr>
          <p:nvPr/>
        </p:nvSpPr>
        <p:spPr bwMode="auto">
          <a:xfrm>
            <a:off x="685800" y="1600200"/>
            <a:ext cx="955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front</a:t>
            </a:r>
            <a:endParaRPr kumimoji="1" lang="en-US" altLang="zh-CN" sz="2400">
              <a:latin typeface="Times New Roman" panose="02020603050405020304" pitchFamily="18" charset="0"/>
              <a:ea typeface="宋体" panose="02010600030101010101" pitchFamily="2" charset="-122"/>
            </a:endParaRPr>
          </a:p>
        </p:txBody>
      </p:sp>
      <p:sp>
        <p:nvSpPr>
          <p:cNvPr id="101383" name="Line 8"/>
          <p:cNvSpPr>
            <a:spLocks noChangeShapeType="1"/>
          </p:cNvSpPr>
          <p:nvPr/>
        </p:nvSpPr>
        <p:spPr bwMode="auto">
          <a:xfrm>
            <a:off x="1600200" y="1905000"/>
            <a:ext cx="381000" cy="0"/>
          </a:xfrm>
          <a:prstGeom prst="line">
            <a:avLst/>
          </a:prstGeom>
          <a:noFill/>
          <a:ln w="38100">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4" name="Line 9"/>
          <p:cNvSpPr>
            <a:spLocks noChangeShapeType="1"/>
          </p:cNvSpPr>
          <p:nvPr/>
        </p:nvSpPr>
        <p:spPr bwMode="auto">
          <a:xfrm>
            <a:off x="2514600" y="1752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5" name="Line 10"/>
          <p:cNvSpPr>
            <a:spLocks noChangeShapeType="1"/>
          </p:cNvSpPr>
          <p:nvPr/>
        </p:nvSpPr>
        <p:spPr bwMode="auto">
          <a:xfrm flipV="1">
            <a:off x="2514600" y="1600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6" name="Rectangle 11"/>
          <p:cNvSpPr>
            <a:spLocks noChangeArrowheads="1"/>
          </p:cNvSpPr>
          <p:nvPr/>
        </p:nvSpPr>
        <p:spPr bwMode="auto">
          <a:xfrm>
            <a:off x="3276600" y="1752600"/>
            <a:ext cx="838200" cy="457200"/>
          </a:xfrm>
          <a:prstGeom prst="rect">
            <a:avLst/>
          </a:prstGeom>
          <a:solidFill>
            <a:srgbClr val="FFFF66"/>
          </a:solidFill>
          <a:ln w="9525">
            <a:miter lim="800000"/>
          </a:ln>
          <a:scene3d>
            <a:camera prst="legacyObliqueTopRight"/>
            <a:lightRig rig="legacyFlat3" dir="b"/>
          </a:scene3d>
          <a:sp3d extrusionH="430200" prstMaterial="legacyMatte">
            <a:bevelT w="13500" h="13500" prst="angle"/>
            <a:bevelB w="13500" h="13500" prst="angle"/>
            <a:extrusionClr>
              <a:srgbClr val="FFFF66"/>
            </a:extrusionClr>
            <a:contourClr>
              <a:srgbClr val="FFFF6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01387" name="Line 12"/>
          <p:cNvSpPr>
            <a:spLocks noChangeShapeType="1"/>
          </p:cNvSpPr>
          <p:nvPr/>
        </p:nvSpPr>
        <p:spPr bwMode="auto">
          <a:xfrm>
            <a:off x="2895600" y="1905000"/>
            <a:ext cx="3810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8" name="Line 13"/>
          <p:cNvSpPr>
            <a:spLocks noChangeShapeType="1"/>
          </p:cNvSpPr>
          <p:nvPr/>
        </p:nvSpPr>
        <p:spPr bwMode="auto">
          <a:xfrm>
            <a:off x="3810000" y="1752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9" name="Line 14"/>
          <p:cNvSpPr>
            <a:spLocks noChangeShapeType="1"/>
          </p:cNvSpPr>
          <p:nvPr/>
        </p:nvSpPr>
        <p:spPr bwMode="auto">
          <a:xfrm flipV="1">
            <a:off x="3810000" y="1600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0" name="Rectangle 15"/>
          <p:cNvSpPr>
            <a:spLocks noChangeArrowheads="1"/>
          </p:cNvSpPr>
          <p:nvPr/>
        </p:nvSpPr>
        <p:spPr bwMode="auto">
          <a:xfrm>
            <a:off x="4572000" y="1752600"/>
            <a:ext cx="838200" cy="457200"/>
          </a:xfrm>
          <a:prstGeom prst="rect">
            <a:avLst/>
          </a:prstGeom>
          <a:solidFill>
            <a:srgbClr val="FFFF66"/>
          </a:solidFill>
          <a:ln w="9525">
            <a:miter lim="800000"/>
          </a:ln>
          <a:scene3d>
            <a:camera prst="legacyObliqueTopRight"/>
            <a:lightRig rig="legacyFlat3" dir="b"/>
          </a:scene3d>
          <a:sp3d extrusionH="430200" prstMaterial="legacyMatte">
            <a:bevelT w="13500" h="13500" prst="angle"/>
            <a:bevelB w="13500" h="13500" prst="angle"/>
            <a:extrusionClr>
              <a:srgbClr val="FFFF66"/>
            </a:extrusionClr>
            <a:contourClr>
              <a:srgbClr val="FFFF6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01391" name="Line 16"/>
          <p:cNvSpPr>
            <a:spLocks noChangeShapeType="1"/>
          </p:cNvSpPr>
          <p:nvPr/>
        </p:nvSpPr>
        <p:spPr bwMode="auto">
          <a:xfrm>
            <a:off x="4191000" y="1905000"/>
            <a:ext cx="3810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2" name="Line 17"/>
          <p:cNvSpPr>
            <a:spLocks noChangeShapeType="1"/>
          </p:cNvSpPr>
          <p:nvPr/>
        </p:nvSpPr>
        <p:spPr bwMode="auto">
          <a:xfrm>
            <a:off x="5105400" y="1752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3" name="Line 18"/>
          <p:cNvSpPr>
            <a:spLocks noChangeShapeType="1"/>
          </p:cNvSpPr>
          <p:nvPr/>
        </p:nvSpPr>
        <p:spPr bwMode="auto">
          <a:xfrm flipV="1">
            <a:off x="5105400" y="1600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4" name="Rectangle 19"/>
          <p:cNvSpPr>
            <a:spLocks noChangeArrowheads="1"/>
          </p:cNvSpPr>
          <p:nvPr/>
        </p:nvSpPr>
        <p:spPr bwMode="auto">
          <a:xfrm>
            <a:off x="7010400" y="1752600"/>
            <a:ext cx="838200" cy="457200"/>
          </a:xfrm>
          <a:prstGeom prst="rect">
            <a:avLst/>
          </a:prstGeom>
          <a:solidFill>
            <a:srgbClr val="FFFF66"/>
          </a:solidFill>
          <a:ln w="9525">
            <a:miter lim="800000"/>
          </a:ln>
          <a:scene3d>
            <a:camera prst="legacyObliqueTopRight"/>
            <a:lightRig rig="legacyFlat3" dir="b"/>
          </a:scene3d>
          <a:sp3d extrusionH="430200" prstMaterial="legacyMatte">
            <a:bevelT w="13500" h="13500" prst="angle"/>
            <a:bevelB w="13500" h="13500" prst="angle"/>
            <a:extrusionClr>
              <a:srgbClr val="FFFF66"/>
            </a:extrusionClr>
            <a:contourClr>
              <a:srgbClr val="FFFF66"/>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01395" name="Line 20"/>
          <p:cNvSpPr>
            <a:spLocks noChangeShapeType="1"/>
          </p:cNvSpPr>
          <p:nvPr/>
        </p:nvSpPr>
        <p:spPr bwMode="auto">
          <a:xfrm>
            <a:off x="6629400" y="1905000"/>
            <a:ext cx="3810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6" name="Line 21"/>
          <p:cNvSpPr>
            <a:spLocks noChangeShapeType="1"/>
          </p:cNvSpPr>
          <p:nvPr/>
        </p:nvSpPr>
        <p:spPr bwMode="auto">
          <a:xfrm>
            <a:off x="7543800" y="1752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7" name="Line 22"/>
          <p:cNvSpPr>
            <a:spLocks noChangeShapeType="1"/>
          </p:cNvSpPr>
          <p:nvPr/>
        </p:nvSpPr>
        <p:spPr bwMode="auto">
          <a:xfrm flipV="1">
            <a:off x="7543800" y="16002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8" name="Line 23"/>
          <p:cNvSpPr>
            <a:spLocks noChangeShapeType="1"/>
          </p:cNvSpPr>
          <p:nvPr/>
        </p:nvSpPr>
        <p:spPr bwMode="auto">
          <a:xfrm>
            <a:off x="5486400" y="1905000"/>
            <a:ext cx="381000" cy="0"/>
          </a:xfrm>
          <a:prstGeom prst="line">
            <a:avLst/>
          </a:prstGeom>
          <a:noFill/>
          <a:ln w="38100">
            <a:solidFill>
              <a:schemeClr val="tx2"/>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9" name="Line 24"/>
          <p:cNvSpPr>
            <a:spLocks noChangeShapeType="1"/>
          </p:cNvSpPr>
          <p:nvPr/>
        </p:nvSpPr>
        <p:spPr bwMode="auto">
          <a:xfrm>
            <a:off x="5867400" y="1905000"/>
            <a:ext cx="762000" cy="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0" name="Text Box 25"/>
          <p:cNvSpPr txBox="1">
            <a:spLocks noChangeArrowheads="1"/>
          </p:cNvSpPr>
          <p:nvPr/>
        </p:nvSpPr>
        <p:spPr bwMode="auto">
          <a:xfrm>
            <a:off x="6019800" y="2133600"/>
            <a:ext cx="833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rear</a:t>
            </a:r>
            <a:endParaRPr kumimoji="1" lang="en-US" altLang="zh-CN" sz="2400">
              <a:latin typeface="Times New Roman" panose="02020603050405020304" pitchFamily="18" charset="0"/>
              <a:ea typeface="宋体" panose="02010600030101010101" pitchFamily="2" charset="-122"/>
            </a:endParaRPr>
          </a:p>
        </p:txBody>
      </p:sp>
      <p:sp>
        <p:nvSpPr>
          <p:cNvPr id="101401" name="Line 26"/>
          <p:cNvSpPr>
            <a:spLocks noChangeShapeType="1"/>
          </p:cNvSpPr>
          <p:nvPr/>
        </p:nvSpPr>
        <p:spPr bwMode="auto">
          <a:xfrm flipV="1">
            <a:off x="6477000" y="2057400"/>
            <a:ext cx="533400" cy="228600"/>
          </a:xfrm>
          <a:prstGeom prst="line">
            <a:avLst/>
          </a:prstGeom>
          <a:noFill/>
          <a:ln w="38100">
            <a:solidFill>
              <a:srgbClr val="008000"/>
            </a:solidFill>
            <a:rou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p:cNvSpPr>
            <a:spLocks noGrp="1"/>
          </p:cNvSpPr>
          <p:nvPr>
            <p:ph type="title"/>
          </p:nvPr>
        </p:nvSpPr>
        <p:spPr>
          <a:xfrm>
            <a:off x="488950" y="365125"/>
            <a:ext cx="8331522" cy="1325563"/>
          </a:xfrm>
        </p:spPr>
        <p:txBody>
          <a:bodyPr/>
          <a:lstStyle/>
          <a:p>
            <a:r>
              <a:rPr lang="zh-CN" altLang="en-US" dirty="0"/>
              <a:t>队列的链接存储表示 </a:t>
            </a:r>
            <a:r>
              <a:rPr lang="en-US" altLang="zh-CN" dirty="0"/>
              <a:t>— </a:t>
            </a:r>
            <a:r>
              <a:rPr lang="zh-CN" altLang="en-US" dirty="0"/>
              <a:t>链式队列</a:t>
            </a:r>
            <a:endParaRPr lang="zh-CN" altLang="en-US" dirty="0"/>
          </a:p>
        </p:txBody>
      </p:sp>
      <p:sp>
        <p:nvSpPr>
          <p:cNvPr id="3" name="内容占位符 2"/>
          <p:cNvSpPr>
            <a:spLocks noGrp="1"/>
          </p:cNvSpPr>
          <p:nvPr>
            <p:ph idx="1"/>
          </p:nvPr>
        </p:nvSpPr>
        <p:spPr>
          <a:xfrm>
            <a:off x="628650" y="2728913"/>
            <a:ext cx="7886700" cy="3448050"/>
          </a:xfrm>
        </p:spPr>
        <p:txBody>
          <a:bodyPr>
            <a:normAutofit/>
          </a:bodyPr>
          <a:lstStyle/>
          <a:p>
            <a:r>
              <a:rPr lang="zh-CN" altLang="en-US" dirty="0"/>
              <a:t>队头在链头，队尾在链尾。</a:t>
            </a:r>
            <a:endParaRPr lang="zh-CN" altLang="en-US" dirty="0"/>
          </a:p>
          <a:p>
            <a:r>
              <a:rPr lang="zh-CN" altLang="en-US" dirty="0"/>
              <a:t>链式队列在进队时无队满问题，但有队空问题。</a:t>
            </a:r>
            <a:endParaRPr lang="zh-CN" altLang="en-US" dirty="0"/>
          </a:p>
          <a:p>
            <a:r>
              <a:rPr lang="zh-CN" altLang="en-US" dirty="0"/>
              <a:t>队空条件为 </a:t>
            </a:r>
            <a:r>
              <a:rPr lang="en-US" altLang="zh-CN" dirty="0"/>
              <a:t>front == NULL </a:t>
            </a:r>
            <a:r>
              <a:rPr lang="zh-CN" altLang="en-US" dirty="0"/>
              <a:t>。</a:t>
            </a: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ChangeArrowheads="1"/>
          </p:cNvSpPr>
          <p:nvPr/>
        </p:nvSpPr>
        <p:spPr bwMode="auto">
          <a:xfrm>
            <a:off x="76200" y="4473575"/>
            <a:ext cx="9144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0000"/>
              </a:lnSpc>
            </a:pPr>
            <a:endParaRPr kumimoji="1" lang="zh-CN" altLang="zh-CN" sz="3600" b="1">
              <a:solidFill>
                <a:srgbClr val="0000FF"/>
              </a:solidFill>
              <a:latin typeface="Times New Roman" panose="02020603050405020304" pitchFamily="18" charset="0"/>
              <a:ea typeface="隶书" panose="02010509060101010101" pitchFamily="49" charset="-122"/>
            </a:endParaRPr>
          </a:p>
        </p:txBody>
      </p:sp>
      <p:sp>
        <p:nvSpPr>
          <p:cNvPr id="2" name="标题 1"/>
          <p:cNvSpPr>
            <a:spLocks noGrp="1"/>
          </p:cNvSpPr>
          <p:nvPr>
            <p:ph type="title"/>
          </p:nvPr>
        </p:nvSpPr>
        <p:spPr/>
        <p:txBody>
          <a:bodyPr/>
          <a:lstStyle/>
          <a:p>
            <a:r>
              <a:rPr lang="zh-CN" altLang="en-US" dirty="0"/>
              <a:t>链式队列类的定义</a:t>
            </a:r>
            <a:endParaRPr lang="zh-CN" altLang="en-US" dirty="0"/>
          </a:p>
        </p:txBody>
      </p:sp>
      <p:sp>
        <p:nvSpPr>
          <p:cNvPr id="3" name="内容占位符 2"/>
          <p:cNvSpPr>
            <a:spLocks noGrp="1"/>
          </p:cNvSpPr>
          <p:nvPr>
            <p:ph idx="1"/>
          </p:nvPr>
        </p:nvSpPr>
        <p:spPr>
          <a:xfrm>
            <a:off x="628650" y="1628800"/>
            <a:ext cx="7886700" cy="4864075"/>
          </a:xfrm>
        </p:spPr>
        <p:txBody>
          <a:bodyPr>
            <a:normAutofit fontScale="47500" lnSpcReduction="20000"/>
          </a:bodyPr>
          <a:lstStyle/>
          <a:p>
            <a:pPr marL="0" indent="0">
              <a:buNone/>
            </a:pPr>
            <a:r>
              <a:rPr lang="en-US" altLang="zh-CN" dirty="0"/>
              <a:t>template &lt;class T&gt; class </a:t>
            </a:r>
            <a:r>
              <a:rPr lang="en-US" altLang="zh-CN" dirty="0" err="1"/>
              <a:t>LinkedQueue</a:t>
            </a:r>
            <a:r>
              <a:rPr lang="en-US" altLang="zh-CN" dirty="0"/>
              <a:t> : public Queue&lt;T&gt; {	</a:t>
            </a:r>
            <a:endParaRPr lang="en-US" altLang="zh-CN" dirty="0"/>
          </a:p>
          <a:p>
            <a:pPr marL="0" indent="0">
              <a:buNone/>
            </a:pPr>
            <a:r>
              <a:rPr lang="en-US" altLang="zh-CN" dirty="0"/>
              <a:t>protected: </a:t>
            </a:r>
            <a:endParaRPr lang="en-US" altLang="zh-CN" dirty="0"/>
          </a:p>
          <a:p>
            <a:pPr marL="0" indent="0">
              <a:buNone/>
            </a:pPr>
            <a:r>
              <a:rPr lang="en-US" altLang="zh-CN" dirty="0"/>
              <a:t>    </a:t>
            </a:r>
            <a:r>
              <a:rPr lang="en-US" altLang="zh-CN" dirty="0" err="1"/>
              <a:t>LinkedNode</a:t>
            </a:r>
            <a:r>
              <a:rPr lang="en-US" altLang="zh-CN" dirty="0"/>
              <a:t>&lt;T&gt; *front, *rear;   //</a:t>
            </a:r>
            <a:r>
              <a:rPr lang="zh-CN" altLang="en-US" dirty="0"/>
              <a:t>队头、队尾指针</a:t>
            </a:r>
            <a:endParaRPr lang="zh-CN" altLang="en-US" dirty="0"/>
          </a:p>
          <a:p>
            <a:pPr marL="0" indent="0">
              <a:buNone/>
            </a:pPr>
            <a:r>
              <a:rPr lang="en-US" altLang="zh-CN" dirty="0"/>
              <a:t>public: </a:t>
            </a:r>
            <a:endParaRPr lang="en-US" altLang="zh-CN" dirty="0"/>
          </a:p>
          <a:p>
            <a:pPr marL="0" indent="0">
              <a:buNone/>
            </a:pPr>
            <a:r>
              <a:rPr lang="en-US" altLang="zh-CN" dirty="0"/>
              <a:t>    </a:t>
            </a:r>
            <a:r>
              <a:rPr lang="en-US" altLang="zh-CN" dirty="0" err="1"/>
              <a:t>LinkedQueue</a:t>
            </a:r>
            <a:r>
              <a:rPr lang="en-US" altLang="zh-CN" dirty="0"/>
              <a:t> ( ) : rear ( NULL ), front ( NULL ) { }</a:t>
            </a:r>
            <a:endParaRPr lang="en-US" altLang="zh-CN" dirty="0"/>
          </a:p>
          <a:p>
            <a:pPr marL="0" indent="0">
              <a:buNone/>
            </a:pPr>
            <a:r>
              <a:rPr lang="en-US" altLang="zh-CN" dirty="0"/>
              <a:t>    ~</a:t>
            </a:r>
            <a:r>
              <a:rPr lang="en-US" altLang="zh-CN" dirty="0" err="1"/>
              <a:t>LinkedQueue</a:t>
            </a:r>
            <a:r>
              <a:rPr lang="en-US" altLang="zh-CN" dirty="0"/>
              <a:t> ( </a:t>
            </a:r>
            <a:r>
              <a:rPr lang="en-US" altLang="zh-CN" dirty="0" err="1"/>
              <a:t>makeEmpty</a:t>
            </a:r>
            <a:r>
              <a:rPr lang="en-US" altLang="zh-CN" dirty="0"/>
              <a:t> ( ) );</a:t>
            </a:r>
            <a:endParaRPr lang="en-US" altLang="zh-CN" dirty="0"/>
          </a:p>
          <a:p>
            <a:pPr marL="0" indent="0">
              <a:buNone/>
            </a:pPr>
            <a:r>
              <a:rPr lang="en-US" altLang="zh-CN" dirty="0"/>
              <a:t>    bool </a:t>
            </a:r>
            <a:r>
              <a:rPr lang="en-US" altLang="zh-CN" dirty="0" err="1"/>
              <a:t>EnQueue</a:t>
            </a:r>
            <a:r>
              <a:rPr lang="en-US" altLang="zh-CN" dirty="0"/>
              <a:t> (const T x);   //</a:t>
            </a:r>
            <a:r>
              <a:rPr lang="zh-CN" altLang="en-US" dirty="0"/>
              <a:t>代码见备注</a:t>
            </a:r>
            <a:endParaRPr lang="en-US" altLang="zh-CN" dirty="0"/>
          </a:p>
          <a:p>
            <a:pPr marL="0" indent="0">
              <a:buNone/>
            </a:pPr>
            <a:r>
              <a:rPr lang="en-US" altLang="zh-CN" dirty="0"/>
              <a:t>    bool </a:t>
            </a:r>
            <a:r>
              <a:rPr lang="en-US" altLang="zh-CN" dirty="0" err="1"/>
              <a:t>DeQueue</a:t>
            </a:r>
            <a:r>
              <a:rPr lang="en-US" altLang="zh-CN" dirty="0"/>
              <a:t> (T&amp; x);	 //</a:t>
            </a:r>
            <a:r>
              <a:rPr lang="zh-CN" altLang="en-US" dirty="0"/>
              <a:t>代码见备注</a:t>
            </a:r>
            <a:r>
              <a:rPr lang="en-US" altLang="zh-CN" dirty="0"/>
              <a:t>		</a:t>
            </a:r>
            <a:endParaRPr lang="en-US" altLang="zh-CN" dirty="0"/>
          </a:p>
          <a:p>
            <a:pPr marL="0" indent="0">
              <a:buNone/>
            </a:pPr>
            <a:r>
              <a:rPr lang="en-US" altLang="zh-CN" dirty="0"/>
              <a:t>    bool </a:t>
            </a:r>
            <a:r>
              <a:rPr lang="en-US" altLang="zh-CN" dirty="0" err="1"/>
              <a:t>getFront</a:t>
            </a:r>
            <a:r>
              <a:rPr lang="en-US" altLang="zh-CN" dirty="0"/>
              <a:t> (T&amp; x) const;		 //</a:t>
            </a:r>
            <a:r>
              <a:rPr lang="zh-CN" altLang="en-US" dirty="0"/>
              <a:t>代码见备注</a:t>
            </a:r>
            <a:r>
              <a:rPr lang="en-US" altLang="zh-CN" dirty="0"/>
              <a:t>	</a:t>
            </a:r>
            <a:endParaRPr lang="en-US" altLang="zh-CN" dirty="0"/>
          </a:p>
          <a:p>
            <a:pPr marL="0" indent="0">
              <a:buNone/>
            </a:pPr>
            <a:r>
              <a:rPr lang="en-US" altLang="zh-CN" dirty="0"/>
              <a:t>    void </a:t>
            </a:r>
            <a:r>
              <a:rPr lang="en-US" altLang="zh-CN" dirty="0" err="1"/>
              <a:t>makeEmpty</a:t>
            </a:r>
            <a:r>
              <a:rPr lang="en-US" altLang="zh-CN" dirty="0"/>
              <a:t> ( );  </a:t>
            </a:r>
            <a:endParaRPr lang="en-US" altLang="zh-CN" dirty="0"/>
          </a:p>
          <a:p>
            <a:pPr marL="0" indent="0">
              <a:buNone/>
            </a:pPr>
            <a:r>
              <a:rPr lang="en-US" altLang="zh-CN" dirty="0"/>
              <a:t>    bool </a:t>
            </a:r>
            <a:r>
              <a:rPr lang="en-US" altLang="zh-CN" dirty="0" err="1"/>
              <a:t>IsEmpty</a:t>
            </a:r>
            <a:r>
              <a:rPr lang="en-US" altLang="zh-CN" dirty="0"/>
              <a:t> ( ) const   { return front == NULL; }</a:t>
            </a:r>
            <a:endParaRPr lang="en-US" altLang="zh-CN" dirty="0"/>
          </a:p>
          <a:p>
            <a:pPr marL="0" indent="0">
              <a:buNone/>
            </a:pPr>
            <a:r>
              <a:rPr lang="en-US" altLang="zh-CN" dirty="0"/>
              <a:t>    bool </a:t>
            </a:r>
            <a:r>
              <a:rPr lang="en-US" altLang="zh-CN" dirty="0" err="1"/>
              <a:t>IsFull</a:t>
            </a:r>
            <a:r>
              <a:rPr lang="en-US" altLang="zh-CN" dirty="0"/>
              <a:t>() const { return false; } //</a:t>
            </a:r>
            <a:r>
              <a:rPr lang="zh-CN" altLang="en-US" dirty="0"/>
              <a:t>判队列满否</a:t>
            </a:r>
            <a:endParaRPr lang="en-US" altLang="zh-CN" dirty="0"/>
          </a:p>
          <a:p>
            <a:pPr marL="0" indent="0">
              <a:buNone/>
            </a:pPr>
            <a:r>
              <a:rPr lang="en-US" altLang="zh-CN" dirty="0"/>
              <a:t>    int </a:t>
            </a:r>
            <a:r>
              <a:rPr lang="en-US" altLang="zh-CN" dirty="0" err="1"/>
              <a:t>getSize</a:t>
            </a:r>
            <a:r>
              <a:rPr lang="en-US" altLang="zh-CN" dirty="0"/>
              <a:t>( ) const;</a:t>
            </a:r>
            <a:endParaRPr lang="en-US" altLang="zh-CN" dirty="0"/>
          </a:p>
          <a:p>
            <a:pPr marL="0" indent="0">
              <a:buNone/>
            </a:pPr>
            <a:r>
              <a:rPr lang="en-US" altLang="zh-CN" dirty="0"/>
              <a:t>    friend </a:t>
            </a:r>
            <a:r>
              <a:rPr lang="en-US" altLang="zh-CN" dirty="0" err="1"/>
              <a:t>ostream</a:t>
            </a:r>
            <a:r>
              <a:rPr lang="en-US" altLang="zh-CN" dirty="0"/>
              <a:t>&amp; operator &lt;&lt; (</a:t>
            </a:r>
            <a:r>
              <a:rPr lang="en-US" altLang="zh-CN" dirty="0" err="1"/>
              <a:t>ostream</a:t>
            </a:r>
            <a:r>
              <a:rPr lang="en-US" altLang="zh-CN" dirty="0"/>
              <a:t>&amp; </a:t>
            </a:r>
            <a:r>
              <a:rPr lang="en-US" altLang="zh-CN" dirty="0" err="1"/>
              <a:t>os</a:t>
            </a:r>
            <a:r>
              <a:rPr lang="en-US" altLang="zh-CN" dirty="0"/>
              <a:t>, </a:t>
            </a:r>
            <a:r>
              <a:rPr lang="en-US" altLang="zh-CN" dirty="0" err="1"/>
              <a:t>LinkedQueue</a:t>
            </a:r>
            <a:r>
              <a:rPr lang="en-US" altLang="zh-CN" dirty="0"/>
              <a:t>&lt;T&gt;&amp; Q);	</a:t>
            </a:r>
            <a:endParaRPr lang="en-US" altLang="zh-CN" dirty="0"/>
          </a:p>
          <a:p>
            <a:pPr marL="0" indent="0">
              <a:buNone/>
            </a:pPr>
            <a:r>
              <a:rPr lang="en-US" altLang="zh-CN" dirty="0"/>
              <a:t>};</a:t>
            </a:r>
            <a:endParaRPr lang="en-US" altLang="zh-CN" dirty="0"/>
          </a:p>
          <a:p>
            <a:pPr marL="0" indent="0">
              <a:buNone/>
            </a:pPr>
            <a:endParaRPr lang="en-US" altLang="zh-CN" dirty="0"/>
          </a:p>
          <a:p>
            <a:pPr marL="0" indent="0">
              <a:buNone/>
            </a:pP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498" name="Object 1024"/>
          <p:cNvGraphicFramePr>
            <a:graphicFrameLocks noChangeAspect="1"/>
          </p:cNvGraphicFramePr>
          <p:nvPr/>
        </p:nvGraphicFramePr>
        <p:xfrm>
          <a:off x="0" y="2466975"/>
          <a:ext cx="8450263" cy="4803775"/>
        </p:xfrm>
        <a:graphic>
          <a:graphicData uri="http://schemas.openxmlformats.org/presentationml/2006/ole">
            <mc:AlternateContent xmlns:mc="http://schemas.openxmlformats.org/markup-compatibility/2006">
              <mc:Choice xmlns:v="urn:schemas-microsoft-com:vml" Requires="v">
                <p:oleObj spid="_x0000_s2" name="Document" r:id="rId1" imgW="2657475" imgH="1504950" progId="Word.Document.8">
                  <p:embed/>
                </p:oleObj>
              </mc:Choice>
              <mc:Fallback>
                <p:oleObj name="Document" r:id="rId1" imgW="2657475" imgH="1504950" progId="Word.Document.8">
                  <p:embed/>
                  <p:pic>
                    <p:nvPicPr>
                      <p:cNvPr id="0" name="Object 10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66975"/>
                        <a:ext cx="8450263" cy="480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5" name="Rectangle 5"/>
          <p:cNvSpPr>
            <a:spLocks noChangeArrowheads="1"/>
          </p:cNvSpPr>
          <p:nvPr/>
        </p:nvSpPr>
        <p:spPr bwMode="auto">
          <a:xfrm>
            <a:off x="1828800" y="1866900"/>
            <a:ext cx="5662613" cy="579438"/>
          </a:xfrm>
          <a:prstGeom prst="rect">
            <a:avLst/>
          </a:prstGeom>
          <a:noFill/>
          <a:ln w="9525">
            <a:noFill/>
            <a:miter lim="800000"/>
          </a:ln>
          <a:effectLst/>
        </p:spPr>
        <p:txBody>
          <a:bodyPr wrap="none">
            <a:spAutoFit/>
          </a:bodyPr>
          <a:lstStyle/>
          <a:p>
            <a:pPr eaLnBrk="1" fontAlgn="auto" hangingPunct="1">
              <a:spcBef>
                <a:spcPts val="0"/>
              </a:spcBef>
              <a:spcAft>
                <a:spcPts val="0"/>
              </a:spcAft>
              <a:defRPr/>
            </a:pPr>
            <a:r>
              <a:rPr lang="zh-CN" altLang="en-US" sz="3200" b="1">
                <a:solidFill>
                  <a:srgbClr val="336600"/>
                </a:solidFill>
                <a:effectLst>
                  <a:outerShdw blurRad="38100" dist="38100" dir="2700000" algn="tl">
                    <a:srgbClr val="C0C0C0"/>
                  </a:outerShdw>
                </a:effectLst>
                <a:latin typeface="仿宋_GB2312" panose="02010609030101010101" pitchFamily="49" charset="-122"/>
                <a:ea typeface="仿宋_GB2312" panose="02010609030101010101" pitchFamily="49" charset="-122"/>
              </a:rPr>
              <a:t>杨辉三角形 </a:t>
            </a:r>
            <a:r>
              <a:rPr lang="zh-CN" altLang="en-US" sz="3200" b="1">
                <a:solidFill>
                  <a:srgbClr val="336600"/>
                </a:solidFill>
                <a:effectLst>
                  <a:outerShdw blurRad="38100" dist="38100" dir="2700000" algn="tl">
                    <a:srgbClr val="C0C0C0"/>
                  </a:outerShdw>
                </a:effectLst>
                <a:latin typeface="+mn-lt"/>
                <a:ea typeface="+mn-ea"/>
              </a:rPr>
              <a:t> </a:t>
            </a:r>
            <a:r>
              <a:rPr lang="en-US" altLang="zh-CN" sz="3200" b="1">
                <a:solidFill>
                  <a:srgbClr val="336600"/>
                </a:solidFill>
                <a:effectLst>
                  <a:outerShdw blurRad="38100" dist="38100" dir="2700000" algn="tl">
                    <a:srgbClr val="C0C0C0"/>
                  </a:outerShdw>
                </a:effectLst>
                <a:latin typeface="+mn-lt"/>
                <a:ea typeface="+mn-ea"/>
              </a:rPr>
              <a:t>(Pascal’s triangle)</a:t>
            </a:r>
            <a:endParaRPr lang="en-US" altLang="zh-CN">
              <a:latin typeface="+mn-lt"/>
              <a:ea typeface="+mn-ea"/>
            </a:endParaRPr>
          </a:p>
        </p:txBody>
      </p:sp>
      <p:sp>
        <p:nvSpPr>
          <p:cNvPr id="3" name="标题 2"/>
          <p:cNvSpPr>
            <a:spLocks noGrp="1"/>
          </p:cNvSpPr>
          <p:nvPr>
            <p:ph type="title"/>
          </p:nvPr>
        </p:nvSpPr>
        <p:spPr/>
        <p:txBody>
          <a:bodyPr/>
          <a:lstStyle/>
          <a:p>
            <a:r>
              <a:rPr lang="zh-CN" altLang="en-US" dirty="0"/>
              <a:t>队列应用举例  </a:t>
            </a:r>
            <a:r>
              <a:rPr lang="en-US" altLang="zh-CN" dirty="0"/>
              <a:t>— </a:t>
            </a:r>
            <a:r>
              <a:rPr lang="zh-CN" altLang="en-US" dirty="0"/>
              <a:t>逐行打印</a:t>
            </a:r>
            <a:br>
              <a:rPr lang="zh-CN" altLang="en-US" dirty="0"/>
            </a:br>
            <a:r>
              <a:rPr lang="zh-CN" altLang="en-US" dirty="0"/>
              <a:t>二项展开式 </a:t>
            </a:r>
            <a:r>
              <a:rPr lang="en-US" altLang="zh-CN" dirty="0"/>
              <a:t>(a + b)</a:t>
            </a:r>
            <a:r>
              <a:rPr lang="en-US" altLang="zh-CN" baseline="30000" dirty="0" err="1"/>
              <a:t>i</a:t>
            </a:r>
            <a:r>
              <a:rPr lang="en-US" altLang="zh-CN" dirty="0"/>
              <a:t> </a:t>
            </a:r>
            <a:r>
              <a:rPr lang="zh-CN" altLang="en-US" dirty="0"/>
              <a:t>的系数</a:t>
            </a:r>
            <a:endParaRPr lang="zh-CN" altLang="en-US" dirty="0"/>
          </a:p>
        </p:txBody>
      </p:sp>
      <p:sp>
        <p:nvSpPr>
          <p:cNvPr id="4" name="灯片编号占位符 3"/>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spli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Text Box 4"/>
          <p:cNvSpPr txBox="1">
            <a:spLocks noChangeArrowheads="1"/>
          </p:cNvSpPr>
          <p:nvPr/>
        </p:nvSpPr>
        <p:spPr bwMode="auto">
          <a:xfrm>
            <a:off x="1180841" y="5913437"/>
            <a:ext cx="7315200" cy="579438"/>
          </a:xfrm>
          <a:prstGeom prst="rect">
            <a:avLst/>
          </a:prstGeom>
          <a:noFill/>
          <a:ln w="9525">
            <a:noFill/>
            <a:miter lim="800000"/>
          </a:ln>
          <a:effectLst/>
        </p:spPr>
        <p:txBody>
          <a:bodyPr>
            <a:spAutoFit/>
          </a:bodyPr>
          <a:lstStyle/>
          <a:p>
            <a:pPr eaLnBrk="1" fontAlgn="auto" hangingPunct="1">
              <a:spcBef>
                <a:spcPct val="50000"/>
              </a:spcBef>
              <a:spcAft>
                <a:spcPts val="0"/>
              </a:spcAft>
              <a:defRPr/>
            </a:pPr>
            <a:r>
              <a:rPr lang="zh-CN" altLang="en-US" sz="3200" b="1">
                <a:solidFill>
                  <a:srgbClr val="FF3300"/>
                </a:solidFill>
                <a:effectLst>
                  <a:outerShdw blurRad="38100" dist="38100" dir="2700000" algn="tl">
                    <a:srgbClr val="C0C0C0"/>
                  </a:outerShdw>
                </a:effectLst>
                <a:latin typeface="+mn-lt"/>
                <a:ea typeface="仿宋_GB2312" panose="02010609030101010101" pitchFamily="49" charset="-122"/>
              </a:rPr>
              <a:t>从前一行的数据可以计算下一行的数据</a:t>
            </a:r>
            <a:endParaRPr lang="zh-CN" altLang="en-US">
              <a:latin typeface="+mn-lt"/>
              <a:ea typeface="+mn-ea"/>
            </a:endParaRPr>
          </a:p>
        </p:txBody>
      </p:sp>
      <p:sp>
        <p:nvSpPr>
          <p:cNvPr id="107524" name="Text Box 5"/>
          <p:cNvSpPr txBox="1">
            <a:spLocks noChangeArrowheads="1"/>
          </p:cNvSpPr>
          <p:nvPr/>
        </p:nvSpPr>
        <p:spPr bwMode="auto">
          <a:xfrm>
            <a:off x="952241" y="2895600"/>
            <a:ext cx="9350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hlink"/>
                </a:solidFill>
                <a:latin typeface="Times New Roman" panose="02020603050405020304" pitchFamily="18" charset="0"/>
                <a:ea typeface="宋体" panose="02010600030101010101" pitchFamily="2" charset="-122"/>
              </a:rPr>
              <a:t>i = 2</a:t>
            </a:r>
            <a:endParaRPr kumimoji="1" lang="en-US" altLang="zh-CN" sz="2400">
              <a:latin typeface="Times New Roman" panose="02020603050405020304" pitchFamily="18" charset="0"/>
              <a:ea typeface="宋体" panose="02010600030101010101" pitchFamily="2" charset="-122"/>
            </a:endParaRPr>
          </a:p>
        </p:txBody>
      </p:sp>
      <p:sp>
        <p:nvSpPr>
          <p:cNvPr id="107525" name="Rectangle 6"/>
          <p:cNvSpPr>
            <a:spLocks noChangeArrowheads="1"/>
          </p:cNvSpPr>
          <p:nvPr/>
        </p:nvSpPr>
        <p:spPr bwMode="auto">
          <a:xfrm>
            <a:off x="952241" y="4008437"/>
            <a:ext cx="935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hlink"/>
                </a:solidFill>
                <a:latin typeface="Times New Roman" panose="02020603050405020304" pitchFamily="18" charset="0"/>
                <a:ea typeface="宋体" panose="02010600030101010101" pitchFamily="2" charset="-122"/>
              </a:rPr>
              <a:t>i = 3</a:t>
            </a:r>
            <a:endParaRPr kumimoji="1" lang="en-US" altLang="zh-CN" sz="3200" b="1">
              <a:solidFill>
                <a:schemeClr val="hlink"/>
              </a:solidFill>
              <a:latin typeface="Times New Roman" panose="02020603050405020304" pitchFamily="18" charset="0"/>
              <a:ea typeface="宋体" panose="02010600030101010101" pitchFamily="2" charset="-122"/>
            </a:endParaRPr>
          </a:p>
        </p:txBody>
      </p:sp>
      <p:sp>
        <p:nvSpPr>
          <p:cNvPr id="107526" name="Rectangle 7"/>
          <p:cNvSpPr>
            <a:spLocks noChangeArrowheads="1"/>
          </p:cNvSpPr>
          <p:nvPr/>
        </p:nvSpPr>
        <p:spPr bwMode="auto">
          <a:xfrm>
            <a:off x="931604" y="5105400"/>
            <a:ext cx="9350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hlink"/>
                </a:solidFill>
                <a:latin typeface="Times New Roman" panose="02020603050405020304" pitchFamily="18" charset="0"/>
                <a:ea typeface="宋体" panose="02010600030101010101" pitchFamily="2" charset="-122"/>
              </a:rPr>
              <a:t>i = 4</a:t>
            </a:r>
            <a:endParaRPr kumimoji="1" lang="en-US" altLang="zh-CN" sz="3200" b="1">
              <a:solidFill>
                <a:schemeClr val="hlink"/>
              </a:solidFill>
              <a:latin typeface="Times New Roman" panose="02020603050405020304" pitchFamily="18" charset="0"/>
              <a:ea typeface="宋体" panose="02010600030101010101" pitchFamily="2" charset="-122"/>
            </a:endParaRPr>
          </a:p>
        </p:txBody>
      </p:sp>
      <p:sp>
        <p:nvSpPr>
          <p:cNvPr id="107527" name="Line 8"/>
          <p:cNvSpPr>
            <a:spLocks noChangeShapeType="1"/>
          </p:cNvSpPr>
          <p:nvPr/>
        </p:nvSpPr>
        <p:spPr bwMode="auto">
          <a:xfrm>
            <a:off x="1409441" y="3475037"/>
            <a:ext cx="0" cy="533400"/>
          </a:xfrm>
          <a:prstGeom prst="line">
            <a:avLst/>
          </a:prstGeom>
          <a:noFill/>
          <a:ln w="38100">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8" name="Line 9"/>
          <p:cNvSpPr>
            <a:spLocks noChangeShapeType="1"/>
          </p:cNvSpPr>
          <p:nvPr/>
        </p:nvSpPr>
        <p:spPr bwMode="auto">
          <a:xfrm>
            <a:off x="1409441" y="4618037"/>
            <a:ext cx="0" cy="533400"/>
          </a:xfrm>
          <a:prstGeom prst="line">
            <a:avLst/>
          </a:prstGeom>
          <a:noFill/>
          <a:ln w="38100">
            <a:solidFill>
              <a:srgbClr val="0080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9" name="Text Box 10"/>
          <p:cNvSpPr txBox="1">
            <a:spLocks noChangeArrowheads="1"/>
          </p:cNvSpPr>
          <p:nvPr/>
        </p:nvSpPr>
        <p:spPr bwMode="auto">
          <a:xfrm>
            <a:off x="2444491" y="4038600"/>
            <a:ext cx="5060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0       1       3       3       1        0</a:t>
            </a:r>
            <a:endParaRPr kumimoji="1" lang="en-US" altLang="zh-CN" sz="2400">
              <a:latin typeface="Times New Roman" panose="02020603050405020304" pitchFamily="18" charset="0"/>
              <a:ea typeface="宋体" panose="02010600030101010101" pitchFamily="2" charset="-122"/>
            </a:endParaRPr>
          </a:p>
        </p:txBody>
      </p:sp>
      <p:sp>
        <p:nvSpPr>
          <p:cNvPr id="107530" name="Text Box 11"/>
          <p:cNvSpPr txBox="1">
            <a:spLocks noChangeArrowheads="1"/>
          </p:cNvSpPr>
          <p:nvPr/>
        </p:nvSpPr>
        <p:spPr bwMode="auto">
          <a:xfrm>
            <a:off x="2901691" y="5075237"/>
            <a:ext cx="4146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1       4       6       4        1</a:t>
            </a:r>
            <a:endParaRPr kumimoji="1" lang="en-US" altLang="zh-CN" sz="2400">
              <a:latin typeface="Times New Roman" panose="02020603050405020304" pitchFamily="18" charset="0"/>
              <a:ea typeface="宋体" panose="02010600030101010101" pitchFamily="2" charset="-122"/>
            </a:endParaRPr>
          </a:p>
        </p:txBody>
      </p:sp>
      <p:sp>
        <p:nvSpPr>
          <p:cNvPr id="107531" name="Text Box 12"/>
          <p:cNvSpPr txBox="1">
            <a:spLocks noChangeArrowheads="1"/>
          </p:cNvSpPr>
          <p:nvPr/>
        </p:nvSpPr>
        <p:spPr bwMode="auto">
          <a:xfrm>
            <a:off x="2901691" y="2895600"/>
            <a:ext cx="4044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0       1       2       1       0</a:t>
            </a:r>
            <a:endParaRPr kumimoji="1" lang="en-US" altLang="zh-CN" sz="2400">
              <a:latin typeface="Times New Roman" panose="02020603050405020304" pitchFamily="18" charset="0"/>
              <a:ea typeface="宋体" panose="02010600030101010101" pitchFamily="2" charset="-122"/>
            </a:endParaRPr>
          </a:p>
        </p:txBody>
      </p:sp>
      <p:sp>
        <p:nvSpPr>
          <p:cNvPr id="107532" name="Text Box 13"/>
          <p:cNvSpPr txBox="1">
            <a:spLocks noChangeArrowheads="1"/>
          </p:cNvSpPr>
          <p:nvPr/>
        </p:nvSpPr>
        <p:spPr bwMode="auto">
          <a:xfrm>
            <a:off x="3384291" y="1722437"/>
            <a:ext cx="313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0       1       1       0</a:t>
            </a:r>
            <a:endParaRPr kumimoji="1" lang="en-US" altLang="zh-CN" sz="2400">
              <a:latin typeface="Times New Roman" panose="02020603050405020304" pitchFamily="18" charset="0"/>
              <a:ea typeface="宋体" panose="02010600030101010101" pitchFamily="2" charset="-122"/>
            </a:endParaRPr>
          </a:p>
        </p:txBody>
      </p:sp>
      <p:sp>
        <p:nvSpPr>
          <p:cNvPr id="107533" name="Line 14"/>
          <p:cNvSpPr>
            <a:spLocks noChangeShapeType="1"/>
          </p:cNvSpPr>
          <p:nvPr/>
        </p:nvSpPr>
        <p:spPr bwMode="auto">
          <a:xfrm>
            <a:off x="2704841" y="2560637"/>
            <a:ext cx="1143000" cy="5334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4" name="Text Box 15"/>
          <p:cNvSpPr txBox="1">
            <a:spLocks noChangeArrowheads="1"/>
          </p:cNvSpPr>
          <p:nvPr/>
        </p:nvSpPr>
        <p:spPr bwMode="auto">
          <a:xfrm>
            <a:off x="2323841" y="2103437"/>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i="1">
                <a:solidFill>
                  <a:schemeClr val="tx2"/>
                </a:solidFill>
                <a:latin typeface="Times New Roman" panose="02020603050405020304" pitchFamily="18" charset="0"/>
                <a:ea typeface="宋体" panose="02010600030101010101" pitchFamily="2" charset="-122"/>
              </a:rPr>
              <a:t>s</a:t>
            </a:r>
            <a:endParaRPr kumimoji="1" lang="en-US" altLang="zh-CN" sz="2400">
              <a:latin typeface="Times New Roman" panose="02020603050405020304" pitchFamily="18" charset="0"/>
              <a:ea typeface="宋体" panose="02010600030101010101" pitchFamily="2" charset="-122"/>
            </a:endParaRPr>
          </a:p>
        </p:txBody>
      </p:sp>
      <p:sp>
        <p:nvSpPr>
          <p:cNvPr id="107535" name="Line 16"/>
          <p:cNvSpPr>
            <a:spLocks noChangeShapeType="1"/>
          </p:cNvSpPr>
          <p:nvPr/>
        </p:nvSpPr>
        <p:spPr bwMode="auto">
          <a:xfrm flipH="1">
            <a:off x="5143241" y="2408237"/>
            <a:ext cx="1676400" cy="6858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6" name="Text Box 17"/>
          <p:cNvSpPr txBox="1">
            <a:spLocks noChangeArrowheads="1"/>
          </p:cNvSpPr>
          <p:nvPr/>
        </p:nvSpPr>
        <p:spPr bwMode="auto">
          <a:xfrm>
            <a:off x="6819641" y="2027237"/>
            <a:ext cx="311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i="1">
                <a:solidFill>
                  <a:schemeClr val="tx2"/>
                </a:solidFill>
                <a:latin typeface="Times New Roman" panose="02020603050405020304" pitchFamily="18" charset="0"/>
                <a:ea typeface="宋体" panose="02010600030101010101" pitchFamily="2" charset="-122"/>
              </a:rPr>
              <a:t>t</a:t>
            </a:r>
            <a:endParaRPr kumimoji="1" lang="en-US" altLang="zh-CN" sz="2400">
              <a:latin typeface="Times New Roman" panose="02020603050405020304" pitchFamily="18" charset="0"/>
              <a:ea typeface="宋体" panose="02010600030101010101" pitchFamily="2" charset="-122"/>
            </a:endParaRPr>
          </a:p>
        </p:txBody>
      </p:sp>
      <p:sp>
        <p:nvSpPr>
          <p:cNvPr id="107537" name="Line 18"/>
          <p:cNvSpPr>
            <a:spLocks noChangeShapeType="1"/>
          </p:cNvSpPr>
          <p:nvPr/>
        </p:nvSpPr>
        <p:spPr bwMode="auto">
          <a:xfrm flipH="1">
            <a:off x="4609841" y="3170237"/>
            <a:ext cx="3124200" cy="990600"/>
          </a:xfrm>
          <a:prstGeom prst="line">
            <a:avLst/>
          </a:prstGeom>
          <a:noFill/>
          <a:ln w="28575">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8" name="Text Box 19"/>
          <p:cNvSpPr txBox="1">
            <a:spLocks noChangeArrowheads="1"/>
          </p:cNvSpPr>
          <p:nvPr/>
        </p:nvSpPr>
        <p:spPr bwMode="auto">
          <a:xfrm>
            <a:off x="7581641" y="2560637"/>
            <a:ext cx="749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i="1">
                <a:solidFill>
                  <a:schemeClr val="tx2"/>
                </a:solidFill>
                <a:latin typeface="Times New Roman" panose="02020603050405020304" pitchFamily="18" charset="0"/>
                <a:ea typeface="宋体" panose="02010600030101010101" pitchFamily="2" charset="-122"/>
              </a:rPr>
              <a:t>s+t</a:t>
            </a:r>
            <a:endParaRPr kumimoji="1" lang="en-US" altLang="zh-CN" sz="2400">
              <a:latin typeface="Times New Roman" panose="02020603050405020304" pitchFamily="18" charset="0"/>
              <a:ea typeface="宋体" panose="02010600030101010101" pitchFamily="2" charset="-122"/>
            </a:endParaRPr>
          </a:p>
        </p:txBody>
      </p:sp>
      <p:sp>
        <p:nvSpPr>
          <p:cNvPr id="107539" name="Line 20"/>
          <p:cNvSpPr>
            <a:spLocks noChangeShapeType="1"/>
          </p:cNvSpPr>
          <p:nvPr/>
        </p:nvSpPr>
        <p:spPr bwMode="auto">
          <a:xfrm>
            <a:off x="3619241" y="2255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0" name="Line 21"/>
          <p:cNvSpPr>
            <a:spLocks noChangeShapeType="1"/>
          </p:cNvSpPr>
          <p:nvPr/>
        </p:nvSpPr>
        <p:spPr bwMode="auto">
          <a:xfrm>
            <a:off x="3162041" y="3398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1" name="Line 22"/>
          <p:cNvSpPr>
            <a:spLocks noChangeShapeType="1"/>
          </p:cNvSpPr>
          <p:nvPr/>
        </p:nvSpPr>
        <p:spPr bwMode="auto">
          <a:xfrm>
            <a:off x="2704841" y="4541837"/>
            <a:ext cx="304800" cy="6096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2" name="Line 23"/>
          <p:cNvSpPr>
            <a:spLocks noChangeShapeType="1"/>
          </p:cNvSpPr>
          <p:nvPr/>
        </p:nvSpPr>
        <p:spPr bwMode="auto">
          <a:xfrm>
            <a:off x="36192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3" name="Line 24"/>
          <p:cNvSpPr>
            <a:spLocks noChangeShapeType="1"/>
          </p:cNvSpPr>
          <p:nvPr/>
        </p:nvSpPr>
        <p:spPr bwMode="auto">
          <a:xfrm>
            <a:off x="4533641" y="2179637"/>
            <a:ext cx="304800" cy="8382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4" name="Line 25"/>
          <p:cNvSpPr>
            <a:spLocks noChangeShapeType="1"/>
          </p:cNvSpPr>
          <p:nvPr/>
        </p:nvSpPr>
        <p:spPr bwMode="auto">
          <a:xfrm>
            <a:off x="5448041" y="2255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5" name="Line 26"/>
          <p:cNvSpPr>
            <a:spLocks noChangeShapeType="1"/>
          </p:cNvSpPr>
          <p:nvPr/>
        </p:nvSpPr>
        <p:spPr bwMode="auto">
          <a:xfrm>
            <a:off x="4076441" y="3398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6" name="Line 27"/>
          <p:cNvSpPr>
            <a:spLocks noChangeShapeType="1"/>
          </p:cNvSpPr>
          <p:nvPr/>
        </p:nvSpPr>
        <p:spPr bwMode="auto">
          <a:xfrm>
            <a:off x="4990841" y="3398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7" name="Line 28"/>
          <p:cNvSpPr>
            <a:spLocks noChangeShapeType="1"/>
          </p:cNvSpPr>
          <p:nvPr/>
        </p:nvSpPr>
        <p:spPr bwMode="auto">
          <a:xfrm>
            <a:off x="5905241" y="3398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8" name="Line 29"/>
          <p:cNvSpPr>
            <a:spLocks noChangeShapeType="1"/>
          </p:cNvSpPr>
          <p:nvPr/>
        </p:nvSpPr>
        <p:spPr bwMode="auto">
          <a:xfrm>
            <a:off x="45336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9" name="Line 30"/>
          <p:cNvSpPr>
            <a:spLocks noChangeShapeType="1"/>
          </p:cNvSpPr>
          <p:nvPr/>
        </p:nvSpPr>
        <p:spPr bwMode="auto">
          <a:xfrm>
            <a:off x="54480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0" name="Line 31"/>
          <p:cNvSpPr>
            <a:spLocks noChangeShapeType="1"/>
          </p:cNvSpPr>
          <p:nvPr/>
        </p:nvSpPr>
        <p:spPr bwMode="auto">
          <a:xfrm>
            <a:off x="64386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1" name="Line 32"/>
          <p:cNvSpPr>
            <a:spLocks noChangeShapeType="1"/>
          </p:cNvSpPr>
          <p:nvPr/>
        </p:nvSpPr>
        <p:spPr bwMode="auto">
          <a:xfrm flipH="1">
            <a:off x="3619241" y="3398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2" name="Line 33"/>
          <p:cNvSpPr>
            <a:spLocks noChangeShapeType="1"/>
          </p:cNvSpPr>
          <p:nvPr/>
        </p:nvSpPr>
        <p:spPr bwMode="auto">
          <a:xfrm flipH="1">
            <a:off x="4533641" y="33226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3" name="Line 34"/>
          <p:cNvSpPr>
            <a:spLocks noChangeShapeType="1"/>
          </p:cNvSpPr>
          <p:nvPr/>
        </p:nvSpPr>
        <p:spPr bwMode="auto">
          <a:xfrm flipH="1">
            <a:off x="5448041" y="3398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4" name="Line 35"/>
          <p:cNvSpPr>
            <a:spLocks noChangeShapeType="1"/>
          </p:cNvSpPr>
          <p:nvPr/>
        </p:nvSpPr>
        <p:spPr bwMode="auto">
          <a:xfrm flipH="1">
            <a:off x="6362441" y="3398837"/>
            <a:ext cx="3048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5" name="Line 36"/>
          <p:cNvSpPr>
            <a:spLocks noChangeShapeType="1"/>
          </p:cNvSpPr>
          <p:nvPr/>
        </p:nvSpPr>
        <p:spPr bwMode="auto">
          <a:xfrm flipH="1">
            <a:off x="31620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6" name="Line 37"/>
          <p:cNvSpPr>
            <a:spLocks noChangeShapeType="1"/>
          </p:cNvSpPr>
          <p:nvPr/>
        </p:nvSpPr>
        <p:spPr bwMode="auto">
          <a:xfrm flipH="1">
            <a:off x="41526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7" name="Line 38"/>
          <p:cNvSpPr>
            <a:spLocks noChangeShapeType="1"/>
          </p:cNvSpPr>
          <p:nvPr/>
        </p:nvSpPr>
        <p:spPr bwMode="auto">
          <a:xfrm flipH="1">
            <a:off x="49908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8" name="Line 39"/>
          <p:cNvSpPr>
            <a:spLocks noChangeShapeType="1"/>
          </p:cNvSpPr>
          <p:nvPr/>
        </p:nvSpPr>
        <p:spPr bwMode="auto">
          <a:xfrm flipH="1">
            <a:off x="6972041" y="4541837"/>
            <a:ext cx="304800" cy="6858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9" name="Line 40"/>
          <p:cNvSpPr>
            <a:spLocks noChangeShapeType="1"/>
          </p:cNvSpPr>
          <p:nvPr/>
        </p:nvSpPr>
        <p:spPr bwMode="auto">
          <a:xfrm flipH="1">
            <a:off x="4076441" y="2255837"/>
            <a:ext cx="3810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60" name="Line 41"/>
          <p:cNvSpPr>
            <a:spLocks noChangeShapeType="1"/>
          </p:cNvSpPr>
          <p:nvPr/>
        </p:nvSpPr>
        <p:spPr bwMode="auto">
          <a:xfrm flipH="1">
            <a:off x="4990841" y="2255837"/>
            <a:ext cx="381000" cy="7620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61" name="Line 42"/>
          <p:cNvSpPr>
            <a:spLocks noChangeShapeType="1"/>
          </p:cNvSpPr>
          <p:nvPr/>
        </p:nvSpPr>
        <p:spPr bwMode="auto">
          <a:xfrm flipH="1">
            <a:off x="5905241" y="2179637"/>
            <a:ext cx="381000" cy="838200"/>
          </a:xfrm>
          <a:prstGeom prst="line">
            <a:avLst/>
          </a:prstGeom>
          <a:noFill/>
          <a:ln w="38100" cap="rnd">
            <a:solidFill>
              <a:srgbClr val="008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标题 2"/>
          <p:cNvSpPr>
            <a:spLocks noGrp="1"/>
          </p:cNvSpPr>
          <p:nvPr>
            <p:ph type="title"/>
          </p:nvPr>
        </p:nvSpPr>
        <p:spPr/>
        <p:txBody>
          <a:bodyPr/>
          <a:lstStyle/>
          <a:p>
            <a:r>
              <a:rPr lang="zh-CN" altLang="en-US" dirty="0"/>
              <a:t>分析第 </a:t>
            </a:r>
            <a:r>
              <a:rPr lang="en-US" altLang="zh-CN" dirty="0" err="1"/>
              <a:t>i</a:t>
            </a:r>
            <a:r>
              <a:rPr lang="en-US" altLang="zh-CN" dirty="0"/>
              <a:t> </a:t>
            </a:r>
            <a:r>
              <a:rPr lang="zh-CN" altLang="en-US" dirty="0"/>
              <a:t>行元素与第 </a:t>
            </a:r>
            <a:r>
              <a:rPr lang="en-US" altLang="zh-CN" dirty="0"/>
              <a:t>i+1</a:t>
            </a:r>
            <a:r>
              <a:rPr lang="zh-CN" altLang="en-US" dirty="0"/>
              <a:t>行元素的关系</a:t>
            </a:r>
            <a:endParaRPr lang="zh-CN" altLang="en-US" dirty="0"/>
          </a:p>
        </p:txBody>
      </p:sp>
      <p:sp>
        <p:nvSpPr>
          <p:cNvPr id="4" name="灯片编号占位符 3"/>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spli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Line 4"/>
          <p:cNvSpPr>
            <a:spLocks noChangeShapeType="1"/>
          </p:cNvSpPr>
          <p:nvPr/>
        </p:nvSpPr>
        <p:spPr bwMode="auto">
          <a:xfrm>
            <a:off x="792933" y="2040632"/>
            <a:ext cx="7696200" cy="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48" name="Line 5"/>
          <p:cNvSpPr>
            <a:spLocks noChangeShapeType="1"/>
          </p:cNvSpPr>
          <p:nvPr/>
        </p:nvSpPr>
        <p:spPr bwMode="auto">
          <a:xfrm>
            <a:off x="792933" y="2574032"/>
            <a:ext cx="7696200" cy="0"/>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49" name="Line 6"/>
          <p:cNvSpPr>
            <a:spLocks noChangeShapeType="1"/>
          </p:cNvSpPr>
          <p:nvPr/>
        </p:nvSpPr>
        <p:spPr bwMode="auto">
          <a:xfrm>
            <a:off x="10977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0" name="Line 7"/>
          <p:cNvSpPr>
            <a:spLocks noChangeShapeType="1"/>
          </p:cNvSpPr>
          <p:nvPr/>
        </p:nvSpPr>
        <p:spPr bwMode="auto">
          <a:xfrm>
            <a:off x="17073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1" name="Line 8"/>
          <p:cNvSpPr>
            <a:spLocks noChangeShapeType="1"/>
          </p:cNvSpPr>
          <p:nvPr/>
        </p:nvSpPr>
        <p:spPr bwMode="auto">
          <a:xfrm>
            <a:off x="23169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2" name="Line 9"/>
          <p:cNvSpPr>
            <a:spLocks noChangeShapeType="1"/>
          </p:cNvSpPr>
          <p:nvPr/>
        </p:nvSpPr>
        <p:spPr bwMode="auto">
          <a:xfrm>
            <a:off x="29265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3" name="Line 10"/>
          <p:cNvSpPr>
            <a:spLocks noChangeShapeType="1"/>
          </p:cNvSpPr>
          <p:nvPr/>
        </p:nvSpPr>
        <p:spPr bwMode="auto">
          <a:xfrm>
            <a:off x="35361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4" name="Line 11"/>
          <p:cNvSpPr>
            <a:spLocks noChangeShapeType="1"/>
          </p:cNvSpPr>
          <p:nvPr/>
        </p:nvSpPr>
        <p:spPr bwMode="auto">
          <a:xfrm>
            <a:off x="41457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5" name="Line 13"/>
          <p:cNvSpPr>
            <a:spLocks noChangeShapeType="1"/>
          </p:cNvSpPr>
          <p:nvPr/>
        </p:nvSpPr>
        <p:spPr bwMode="auto">
          <a:xfrm>
            <a:off x="47553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6" name="Line 14"/>
          <p:cNvSpPr>
            <a:spLocks noChangeShapeType="1"/>
          </p:cNvSpPr>
          <p:nvPr/>
        </p:nvSpPr>
        <p:spPr bwMode="auto">
          <a:xfrm>
            <a:off x="53649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7" name="Line 15"/>
          <p:cNvSpPr>
            <a:spLocks noChangeShapeType="1"/>
          </p:cNvSpPr>
          <p:nvPr/>
        </p:nvSpPr>
        <p:spPr bwMode="auto">
          <a:xfrm>
            <a:off x="59745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8" name="Line 16"/>
          <p:cNvSpPr>
            <a:spLocks noChangeShapeType="1"/>
          </p:cNvSpPr>
          <p:nvPr/>
        </p:nvSpPr>
        <p:spPr bwMode="auto">
          <a:xfrm>
            <a:off x="65841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9" name="Line 17"/>
          <p:cNvSpPr>
            <a:spLocks noChangeShapeType="1"/>
          </p:cNvSpPr>
          <p:nvPr/>
        </p:nvSpPr>
        <p:spPr bwMode="auto">
          <a:xfrm>
            <a:off x="71937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0" name="Line 19"/>
          <p:cNvSpPr>
            <a:spLocks noChangeShapeType="1"/>
          </p:cNvSpPr>
          <p:nvPr/>
        </p:nvSpPr>
        <p:spPr bwMode="auto">
          <a:xfrm>
            <a:off x="78033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1" name="Line 20"/>
          <p:cNvSpPr>
            <a:spLocks noChangeShapeType="1"/>
          </p:cNvSpPr>
          <p:nvPr/>
        </p:nvSpPr>
        <p:spPr bwMode="auto">
          <a:xfrm>
            <a:off x="8412933" y="2040632"/>
            <a:ext cx="0" cy="533400"/>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2" name="Text Box 21"/>
          <p:cNvSpPr txBox="1">
            <a:spLocks noChangeArrowheads="1"/>
          </p:cNvSpPr>
          <p:nvPr/>
        </p:nvSpPr>
        <p:spPr bwMode="auto">
          <a:xfrm>
            <a:off x="1208858" y="2040632"/>
            <a:ext cx="7108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6600"/>
                </a:solidFill>
                <a:latin typeface="Arial Narrow" panose="020B0606020202030204" pitchFamily="34" charset="0"/>
                <a:ea typeface="宋体" panose="02010600030101010101" pitchFamily="2" charset="-122"/>
              </a:rPr>
              <a:t>1     2    1     0    </a:t>
            </a:r>
            <a:r>
              <a:rPr kumimoji="1" lang="en-US" altLang="zh-CN" sz="3200" b="1">
                <a:solidFill>
                  <a:srgbClr val="800080"/>
                </a:solidFill>
                <a:latin typeface="Arial Narrow" panose="020B0606020202030204" pitchFamily="34" charset="0"/>
                <a:ea typeface="宋体" panose="02010600030101010101" pitchFamily="2" charset="-122"/>
              </a:rPr>
              <a:t>1     3     3    1     0</a:t>
            </a:r>
            <a:r>
              <a:rPr kumimoji="1" lang="en-US" altLang="zh-CN" sz="3200" b="1">
                <a:solidFill>
                  <a:srgbClr val="006600"/>
                </a:solidFill>
                <a:latin typeface="Arial Narrow" panose="020B0606020202030204" pitchFamily="34" charset="0"/>
                <a:ea typeface="宋体" panose="02010600030101010101" pitchFamily="2" charset="-122"/>
              </a:rPr>
              <a:t>     </a:t>
            </a:r>
            <a:r>
              <a:rPr kumimoji="1" lang="en-US" altLang="zh-CN" sz="3200" b="1">
                <a:solidFill>
                  <a:srgbClr val="000099"/>
                </a:solidFill>
                <a:latin typeface="Arial Narrow" panose="020B0606020202030204" pitchFamily="34" charset="0"/>
                <a:ea typeface="宋体" panose="02010600030101010101" pitchFamily="2" charset="-122"/>
              </a:rPr>
              <a:t>1    4     6</a:t>
            </a:r>
            <a:endParaRPr kumimoji="1" lang="en-US" altLang="zh-CN" sz="3200">
              <a:latin typeface="Times New Roman" panose="02020603050405020304" pitchFamily="18" charset="0"/>
              <a:ea typeface="宋体" panose="02010600030101010101" pitchFamily="2" charset="-122"/>
            </a:endParaRPr>
          </a:p>
        </p:txBody>
      </p:sp>
      <p:sp>
        <p:nvSpPr>
          <p:cNvPr id="108563" name="Text Box 22"/>
          <p:cNvSpPr txBox="1">
            <a:spLocks noChangeArrowheads="1"/>
          </p:cNvSpPr>
          <p:nvPr/>
        </p:nvSpPr>
        <p:spPr bwMode="auto">
          <a:xfrm>
            <a:off x="624658" y="2650232"/>
            <a:ext cx="672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chemeClr val="hlink"/>
                </a:solidFill>
                <a:latin typeface="Times New Roman" panose="02020603050405020304" pitchFamily="18" charset="0"/>
                <a:ea typeface="宋体" panose="02010600030101010101" pitchFamily="2" charset="-122"/>
              </a:rPr>
              <a:t>s=0</a:t>
            </a:r>
            <a:r>
              <a:rPr kumimoji="1" lang="en-US" altLang="zh-CN" sz="2400" b="1">
                <a:solidFill>
                  <a:srgbClr val="006600"/>
                </a:solidFill>
                <a:latin typeface="Times New Roman" panose="02020603050405020304" pitchFamily="18" charset="0"/>
                <a:ea typeface="宋体" panose="02010600030101010101" pitchFamily="2" charset="-122"/>
              </a:rPr>
              <a:t> t=1  t=2   t=1  t=0   t=1   t=3   t=3  t=1   t=0  t=1</a:t>
            </a:r>
            <a:endParaRPr kumimoji="1" lang="en-US" altLang="zh-CN" sz="2400">
              <a:latin typeface="Times New Roman" panose="02020603050405020304" pitchFamily="18" charset="0"/>
              <a:ea typeface="宋体" panose="02010600030101010101" pitchFamily="2" charset="-122"/>
            </a:endParaRPr>
          </a:p>
        </p:txBody>
      </p:sp>
      <p:sp>
        <p:nvSpPr>
          <p:cNvPr id="108564" name="Text Box 23"/>
          <p:cNvSpPr txBox="1">
            <a:spLocks noChangeArrowheads="1"/>
          </p:cNvSpPr>
          <p:nvPr/>
        </p:nvSpPr>
        <p:spPr bwMode="auto">
          <a:xfrm>
            <a:off x="700858" y="2955032"/>
            <a:ext cx="563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s+t</a:t>
            </a:r>
            <a:r>
              <a:rPr kumimoji="1" lang="en-US" altLang="zh-CN" sz="2400" b="1">
                <a:solidFill>
                  <a:schemeClr val="hlink"/>
                </a:solidFill>
                <a:latin typeface="Times New Roman" panose="02020603050405020304" pitchFamily="18" charset="0"/>
                <a:ea typeface="宋体" panose="02010600030101010101" pitchFamily="2" charset="-122"/>
              </a:rPr>
              <a:t>  s=t   s=t   s=t   s=t   s=t   s=t    s=t    s=t</a:t>
            </a:r>
            <a:endParaRPr kumimoji="1" lang="en-US" altLang="zh-CN" sz="2400">
              <a:latin typeface="Times New Roman" panose="02020603050405020304" pitchFamily="18" charset="0"/>
              <a:ea typeface="宋体" panose="02010600030101010101" pitchFamily="2" charset="-122"/>
            </a:endParaRPr>
          </a:p>
        </p:txBody>
      </p:sp>
      <p:sp>
        <p:nvSpPr>
          <p:cNvPr id="108565" name="Line 24"/>
          <p:cNvSpPr>
            <a:spLocks noChangeShapeType="1"/>
          </p:cNvSpPr>
          <p:nvPr/>
        </p:nvSpPr>
        <p:spPr bwMode="auto">
          <a:xfrm>
            <a:off x="1021533" y="3564632"/>
            <a:ext cx="0" cy="30480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6" name="Line 25"/>
          <p:cNvSpPr>
            <a:spLocks noChangeShapeType="1"/>
          </p:cNvSpPr>
          <p:nvPr/>
        </p:nvSpPr>
        <p:spPr bwMode="auto">
          <a:xfrm>
            <a:off x="1021533" y="3869432"/>
            <a:ext cx="2667000" cy="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7" name="Line 26"/>
          <p:cNvSpPr>
            <a:spLocks noChangeShapeType="1"/>
          </p:cNvSpPr>
          <p:nvPr/>
        </p:nvSpPr>
        <p:spPr bwMode="auto">
          <a:xfrm flipV="1">
            <a:off x="3688533" y="2650232"/>
            <a:ext cx="0" cy="1219200"/>
          </a:xfrm>
          <a:prstGeom prst="line">
            <a:avLst/>
          </a:prstGeom>
          <a:noFill/>
          <a:ln w="2857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8" name="Line 27"/>
          <p:cNvSpPr>
            <a:spLocks noChangeShapeType="1"/>
          </p:cNvSpPr>
          <p:nvPr/>
        </p:nvSpPr>
        <p:spPr bwMode="auto">
          <a:xfrm>
            <a:off x="1783533" y="3717032"/>
            <a:ext cx="0" cy="38100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9" name="Line 28"/>
          <p:cNvSpPr>
            <a:spLocks noChangeShapeType="1"/>
          </p:cNvSpPr>
          <p:nvPr/>
        </p:nvSpPr>
        <p:spPr bwMode="auto">
          <a:xfrm>
            <a:off x="1783533" y="4098032"/>
            <a:ext cx="2590800" cy="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0" name="Line 29"/>
          <p:cNvSpPr>
            <a:spLocks noChangeShapeType="1"/>
          </p:cNvSpPr>
          <p:nvPr/>
        </p:nvSpPr>
        <p:spPr bwMode="auto">
          <a:xfrm flipV="1">
            <a:off x="4374333" y="2650232"/>
            <a:ext cx="0" cy="1447800"/>
          </a:xfrm>
          <a:prstGeom prst="line">
            <a:avLst/>
          </a:prstGeom>
          <a:noFill/>
          <a:ln w="2857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1" name="Line 30"/>
          <p:cNvSpPr>
            <a:spLocks noChangeShapeType="1"/>
          </p:cNvSpPr>
          <p:nvPr/>
        </p:nvSpPr>
        <p:spPr bwMode="auto">
          <a:xfrm>
            <a:off x="2393133" y="3717032"/>
            <a:ext cx="0" cy="60960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2" name="Text Box 31"/>
          <p:cNvSpPr txBox="1">
            <a:spLocks noChangeArrowheads="1"/>
          </p:cNvSpPr>
          <p:nvPr/>
        </p:nvSpPr>
        <p:spPr bwMode="auto">
          <a:xfrm>
            <a:off x="1472383" y="3336032"/>
            <a:ext cx="501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b="1">
                <a:solidFill>
                  <a:srgbClr val="000099"/>
                </a:solidFill>
                <a:latin typeface="Times New Roman" panose="02020603050405020304" pitchFamily="18" charset="0"/>
                <a:ea typeface="宋体" panose="02010600030101010101" pitchFamily="2" charset="-122"/>
              </a:rPr>
              <a:t>s+t</a:t>
            </a:r>
            <a:r>
              <a:rPr kumimoji="1" lang="en-US" altLang="zh-CN" sz="2400" b="1">
                <a:solidFill>
                  <a:schemeClr val="hlink"/>
                </a:solidFill>
                <a:latin typeface="Times New Roman" panose="02020603050405020304" pitchFamily="18" charset="0"/>
                <a:ea typeface="宋体" panose="02010600030101010101" pitchFamily="2" charset="-122"/>
              </a:rPr>
              <a:t>   </a:t>
            </a:r>
            <a:r>
              <a:rPr kumimoji="1" lang="en-US" altLang="zh-CN" sz="2400" b="1">
                <a:solidFill>
                  <a:srgbClr val="000099"/>
                </a:solidFill>
                <a:latin typeface="Times New Roman" panose="02020603050405020304" pitchFamily="18" charset="0"/>
                <a:ea typeface="宋体" panose="02010600030101010101" pitchFamily="2" charset="-122"/>
              </a:rPr>
              <a:t>s+t</a:t>
            </a:r>
            <a:r>
              <a:rPr kumimoji="1" lang="en-US" altLang="zh-CN" sz="2400" b="1">
                <a:solidFill>
                  <a:schemeClr val="hlink"/>
                </a:solidFill>
                <a:latin typeface="Times New Roman" panose="02020603050405020304" pitchFamily="18" charset="0"/>
                <a:ea typeface="宋体" panose="02010600030101010101" pitchFamily="2" charset="-122"/>
              </a:rPr>
              <a:t>   </a:t>
            </a:r>
            <a:r>
              <a:rPr kumimoji="1" lang="en-US" altLang="zh-CN" sz="2400" b="1">
                <a:solidFill>
                  <a:srgbClr val="000099"/>
                </a:solidFill>
                <a:latin typeface="Times New Roman" panose="02020603050405020304" pitchFamily="18" charset="0"/>
                <a:ea typeface="宋体" panose="02010600030101010101" pitchFamily="2" charset="-122"/>
              </a:rPr>
              <a:t>s+t</a:t>
            </a:r>
            <a:r>
              <a:rPr kumimoji="1" lang="en-US" altLang="zh-CN" sz="2400" b="1">
                <a:solidFill>
                  <a:schemeClr val="hlink"/>
                </a:solidFill>
                <a:latin typeface="Times New Roman" panose="02020603050405020304" pitchFamily="18" charset="0"/>
                <a:ea typeface="宋体" panose="02010600030101010101" pitchFamily="2" charset="-122"/>
              </a:rPr>
              <a:t>   </a:t>
            </a:r>
            <a:r>
              <a:rPr kumimoji="1" lang="en-US" altLang="zh-CN" sz="2400" b="1">
                <a:solidFill>
                  <a:srgbClr val="000099"/>
                </a:solidFill>
                <a:latin typeface="Times New Roman" panose="02020603050405020304" pitchFamily="18" charset="0"/>
                <a:ea typeface="宋体" panose="02010600030101010101" pitchFamily="2" charset="-122"/>
              </a:rPr>
              <a:t>s+t</a:t>
            </a:r>
            <a:r>
              <a:rPr kumimoji="1" lang="en-US" altLang="zh-CN" sz="2400" b="1">
                <a:solidFill>
                  <a:schemeClr val="hlink"/>
                </a:solidFill>
                <a:latin typeface="Times New Roman" panose="02020603050405020304" pitchFamily="18" charset="0"/>
                <a:ea typeface="宋体" panose="02010600030101010101" pitchFamily="2" charset="-122"/>
              </a:rPr>
              <a:t>   </a:t>
            </a:r>
            <a:r>
              <a:rPr kumimoji="1" lang="en-US" altLang="zh-CN" sz="2400" b="1">
                <a:solidFill>
                  <a:srgbClr val="000099"/>
                </a:solidFill>
                <a:latin typeface="Times New Roman" panose="02020603050405020304" pitchFamily="18" charset="0"/>
                <a:ea typeface="宋体" panose="02010600030101010101" pitchFamily="2" charset="-122"/>
              </a:rPr>
              <a:t>s+t</a:t>
            </a:r>
            <a:r>
              <a:rPr kumimoji="1" lang="en-US" altLang="zh-CN" sz="2400" b="1">
                <a:solidFill>
                  <a:schemeClr val="hlink"/>
                </a:solidFill>
                <a:latin typeface="Times New Roman" panose="02020603050405020304" pitchFamily="18" charset="0"/>
                <a:ea typeface="宋体" panose="02010600030101010101" pitchFamily="2" charset="-122"/>
              </a:rPr>
              <a:t>   </a:t>
            </a:r>
            <a:r>
              <a:rPr kumimoji="1" lang="en-US" altLang="zh-CN" sz="2400" b="1">
                <a:solidFill>
                  <a:srgbClr val="000099"/>
                </a:solidFill>
                <a:latin typeface="Times New Roman" panose="02020603050405020304" pitchFamily="18" charset="0"/>
                <a:ea typeface="宋体" panose="02010600030101010101" pitchFamily="2" charset="-122"/>
              </a:rPr>
              <a:t>s+t   s+t    s+t</a:t>
            </a:r>
            <a:endParaRPr kumimoji="1" lang="en-US" altLang="zh-CN" sz="2400">
              <a:latin typeface="Times New Roman" panose="02020603050405020304" pitchFamily="18" charset="0"/>
              <a:ea typeface="宋体" panose="02010600030101010101" pitchFamily="2" charset="-122"/>
            </a:endParaRPr>
          </a:p>
        </p:txBody>
      </p:sp>
      <p:sp>
        <p:nvSpPr>
          <p:cNvPr id="108573" name="Line 32"/>
          <p:cNvSpPr>
            <a:spLocks noChangeShapeType="1"/>
          </p:cNvSpPr>
          <p:nvPr/>
        </p:nvSpPr>
        <p:spPr bwMode="auto">
          <a:xfrm>
            <a:off x="2393133" y="4326632"/>
            <a:ext cx="2590800" cy="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4" name="Line 33"/>
          <p:cNvSpPr>
            <a:spLocks noChangeShapeType="1"/>
          </p:cNvSpPr>
          <p:nvPr/>
        </p:nvSpPr>
        <p:spPr bwMode="auto">
          <a:xfrm flipV="1">
            <a:off x="4983933" y="2650232"/>
            <a:ext cx="0" cy="1676400"/>
          </a:xfrm>
          <a:prstGeom prst="line">
            <a:avLst/>
          </a:prstGeom>
          <a:noFill/>
          <a:ln w="2857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5" name="Line 34"/>
          <p:cNvSpPr>
            <a:spLocks noChangeShapeType="1"/>
          </p:cNvSpPr>
          <p:nvPr/>
        </p:nvSpPr>
        <p:spPr bwMode="auto">
          <a:xfrm>
            <a:off x="3002733" y="3717032"/>
            <a:ext cx="0" cy="83820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6" name="Line 35"/>
          <p:cNvSpPr>
            <a:spLocks noChangeShapeType="1"/>
          </p:cNvSpPr>
          <p:nvPr/>
        </p:nvSpPr>
        <p:spPr bwMode="auto">
          <a:xfrm>
            <a:off x="3002733" y="4555232"/>
            <a:ext cx="2590800" cy="0"/>
          </a:xfrm>
          <a:prstGeom prst="line">
            <a:avLst/>
          </a:prstGeom>
          <a:noFill/>
          <a:ln w="28575">
            <a:solidFill>
              <a:srgbClr val="800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7" name="Line 36"/>
          <p:cNvSpPr>
            <a:spLocks noChangeShapeType="1"/>
          </p:cNvSpPr>
          <p:nvPr/>
        </p:nvSpPr>
        <p:spPr bwMode="auto">
          <a:xfrm flipV="1">
            <a:off x="5593533" y="2650232"/>
            <a:ext cx="0" cy="1905000"/>
          </a:xfrm>
          <a:prstGeom prst="line">
            <a:avLst/>
          </a:prstGeom>
          <a:noFill/>
          <a:ln w="2857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8" name="Line 37"/>
          <p:cNvSpPr>
            <a:spLocks noChangeShapeType="1"/>
          </p:cNvSpPr>
          <p:nvPr/>
        </p:nvSpPr>
        <p:spPr bwMode="auto">
          <a:xfrm>
            <a:off x="3612333" y="3717032"/>
            <a:ext cx="0" cy="106680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9" name="Line 38"/>
          <p:cNvSpPr>
            <a:spLocks noChangeShapeType="1"/>
          </p:cNvSpPr>
          <p:nvPr/>
        </p:nvSpPr>
        <p:spPr bwMode="auto">
          <a:xfrm>
            <a:off x="3612333" y="4783832"/>
            <a:ext cx="3200400" cy="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0" name="Line 39"/>
          <p:cNvSpPr>
            <a:spLocks noChangeShapeType="1"/>
          </p:cNvSpPr>
          <p:nvPr/>
        </p:nvSpPr>
        <p:spPr bwMode="auto">
          <a:xfrm flipV="1">
            <a:off x="6812733" y="2650232"/>
            <a:ext cx="0" cy="2133600"/>
          </a:xfrm>
          <a:prstGeom prst="line">
            <a:avLst/>
          </a:prstGeom>
          <a:noFill/>
          <a:ln w="28575">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1" name="Line 40"/>
          <p:cNvSpPr>
            <a:spLocks noChangeShapeType="1"/>
          </p:cNvSpPr>
          <p:nvPr/>
        </p:nvSpPr>
        <p:spPr bwMode="auto">
          <a:xfrm>
            <a:off x="4221933" y="3717032"/>
            <a:ext cx="0" cy="129540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2" name="Line 41"/>
          <p:cNvSpPr>
            <a:spLocks noChangeShapeType="1"/>
          </p:cNvSpPr>
          <p:nvPr/>
        </p:nvSpPr>
        <p:spPr bwMode="auto">
          <a:xfrm>
            <a:off x="4221933" y="5012432"/>
            <a:ext cx="3200400" cy="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3" name="Line 42"/>
          <p:cNvSpPr>
            <a:spLocks noChangeShapeType="1"/>
          </p:cNvSpPr>
          <p:nvPr/>
        </p:nvSpPr>
        <p:spPr bwMode="auto">
          <a:xfrm flipV="1">
            <a:off x="7422333" y="2650232"/>
            <a:ext cx="0" cy="2362200"/>
          </a:xfrm>
          <a:prstGeom prst="line">
            <a:avLst/>
          </a:prstGeom>
          <a:noFill/>
          <a:ln w="28575">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4" name="Line 43"/>
          <p:cNvSpPr>
            <a:spLocks noChangeShapeType="1"/>
          </p:cNvSpPr>
          <p:nvPr/>
        </p:nvSpPr>
        <p:spPr bwMode="auto">
          <a:xfrm>
            <a:off x="4831533" y="3717032"/>
            <a:ext cx="0" cy="160020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5" name="Line 44"/>
          <p:cNvSpPr>
            <a:spLocks noChangeShapeType="1"/>
          </p:cNvSpPr>
          <p:nvPr/>
        </p:nvSpPr>
        <p:spPr bwMode="auto">
          <a:xfrm>
            <a:off x="4831533" y="5317232"/>
            <a:ext cx="3200400" cy="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6" name="Line 45"/>
          <p:cNvSpPr>
            <a:spLocks noChangeShapeType="1"/>
          </p:cNvSpPr>
          <p:nvPr/>
        </p:nvSpPr>
        <p:spPr bwMode="auto">
          <a:xfrm flipV="1">
            <a:off x="8031933" y="2650232"/>
            <a:ext cx="0" cy="2667000"/>
          </a:xfrm>
          <a:prstGeom prst="line">
            <a:avLst/>
          </a:prstGeom>
          <a:noFill/>
          <a:ln w="28575">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7" name="Line 46"/>
          <p:cNvSpPr>
            <a:spLocks noChangeShapeType="1"/>
          </p:cNvSpPr>
          <p:nvPr/>
        </p:nvSpPr>
        <p:spPr bwMode="auto">
          <a:xfrm>
            <a:off x="5441133" y="3717032"/>
            <a:ext cx="0" cy="190500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8" name="Line 47"/>
          <p:cNvSpPr>
            <a:spLocks noChangeShapeType="1"/>
          </p:cNvSpPr>
          <p:nvPr/>
        </p:nvSpPr>
        <p:spPr bwMode="auto">
          <a:xfrm>
            <a:off x="5441133" y="5622032"/>
            <a:ext cx="2819400" cy="0"/>
          </a:xfrm>
          <a:prstGeom prst="line">
            <a:avLst/>
          </a:prstGeom>
          <a:noFill/>
          <a:ln w="28575">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9" name="Line 48"/>
          <p:cNvSpPr>
            <a:spLocks noChangeShapeType="1"/>
          </p:cNvSpPr>
          <p:nvPr/>
        </p:nvSpPr>
        <p:spPr bwMode="auto">
          <a:xfrm>
            <a:off x="6203133" y="5926832"/>
            <a:ext cx="2057400" cy="0"/>
          </a:xfrm>
          <a:prstGeom prst="line">
            <a:avLst/>
          </a:prstGeom>
          <a:noFill/>
          <a:ln w="28575">
            <a:solidFill>
              <a:srgbClr val="000099"/>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90" name="Line 49"/>
          <p:cNvSpPr>
            <a:spLocks noChangeShapeType="1"/>
          </p:cNvSpPr>
          <p:nvPr/>
        </p:nvSpPr>
        <p:spPr bwMode="auto">
          <a:xfrm>
            <a:off x="6203133" y="3717032"/>
            <a:ext cx="0" cy="220980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91" name="Line 48"/>
          <p:cNvSpPr>
            <a:spLocks noChangeShapeType="1"/>
          </p:cNvSpPr>
          <p:nvPr/>
        </p:nvSpPr>
        <p:spPr bwMode="auto">
          <a:xfrm>
            <a:off x="872308" y="2994720"/>
            <a:ext cx="115888" cy="101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2" name="Line 49"/>
          <p:cNvSpPr>
            <a:spLocks noChangeShapeType="1"/>
          </p:cNvSpPr>
          <p:nvPr/>
        </p:nvSpPr>
        <p:spPr bwMode="auto">
          <a:xfrm flipH="1">
            <a:off x="1089796" y="2994720"/>
            <a:ext cx="304800" cy="101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3" name="Line 50"/>
          <p:cNvSpPr>
            <a:spLocks noChangeShapeType="1"/>
          </p:cNvSpPr>
          <p:nvPr/>
        </p:nvSpPr>
        <p:spPr bwMode="auto">
          <a:xfrm>
            <a:off x="1597796" y="3285232"/>
            <a:ext cx="101600" cy="1603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4" name="Line 51"/>
          <p:cNvSpPr>
            <a:spLocks noChangeShapeType="1"/>
          </p:cNvSpPr>
          <p:nvPr/>
        </p:nvSpPr>
        <p:spPr bwMode="auto">
          <a:xfrm flipH="1">
            <a:off x="1758133" y="2994720"/>
            <a:ext cx="217488" cy="4206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5" name="Line 52"/>
          <p:cNvSpPr>
            <a:spLocks noChangeShapeType="1"/>
          </p:cNvSpPr>
          <p:nvPr/>
        </p:nvSpPr>
        <p:spPr bwMode="auto">
          <a:xfrm>
            <a:off x="2193108" y="3299520"/>
            <a:ext cx="131763" cy="146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6" name="Line 53"/>
          <p:cNvSpPr>
            <a:spLocks noChangeShapeType="1"/>
          </p:cNvSpPr>
          <p:nvPr/>
        </p:nvSpPr>
        <p:spPr bwMode="auto">
          <a:xfrm flipH="1">
            <a:off x="2396308" y="2980432"/>
            <a:ext cx="174625" cy="4651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7" name="Line 54"/>
          <p:cNvSpPr>
            <a:spLocks noChangeShapeType="1"/>
          </p:cNvSpPr>
          <p:nvPr/>
        </p:nvSpPr>
        <p:spPr bwMode="auto">
          <a:xfrm>
            <a:off x="2788421" y="3299520"/>
            <a:ext cx="115887" cy="1603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8" name="Line 55"/>
          <p:cNvSpPr>
            <a:spLocks noChangeShapeType="1"/>
          </p:cNvSpPr>
          <p:nvPr/>
        </p:nvSpPr>
        <p:spPr bwMode="auto">
          <a:xfrm flipH="1">
            <a:off x="3050358" y="2980432"/>
            <a:ext cx="203200" cy="49371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599" name="Line 56"/>
          <p:cNvSpPr>
            <a:spLocks noChangeShapeType="1"/>
          </p:cNvSpPr>
          <p:nvPr/>
        </p:nvSpPr>
        <p:spPr bwMode="auto">
          <a:xfrm>
            <a:off x="3355158" y="3270945"/>
            <a:ext cx="158750" cy="203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0" name="Line 57"/>
          <p:cNvSpPr>
            <a:spLocks noChangeShapeType="1"/>
          </p:cNvSpPr>
          <p:nvPr/>
        </p:nvSpPr>
        <p:spPr bwMode="auto">
          <a:xfrm flipH="1">
            <a:off x="3731396" y="3009007"/>
            <a:ext cx="117475" cy="4206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1" name="Line 58"/>
          <p:cNvSpPr>
            <a:spLocks noChangeShapeType="1"/>
          </p:cNvSpPr>
          <p:nvPr/>
        </p:nvSpPr>
        <p:spPr bwMode="auto">
          <a:xfrm>
            <a:off x="4052071" y="3343970"/>
            <a:ext cx="101600" cy="1158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2" name="Line 59"/>
          <p:cNvSpPr>
            <a:spLocks noChangeShapeType="1"/>
          </p:cNvSpPr>
          <p:nvPr/>
        </p:nvSpPr>
        <p:spPr bwMode="auto">
          <a:xfrm flipH="1">
            <a:off x="4255271" y="3023295"/>
            <a:ext cx="187325" cy="406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3" name="Line 60"/>
          <p:cNvSpPr>
            <a:spLocks noChangeShapeType="1"/>
          </p:cNvSpPr>
          <p:nvPr/>
        </p:nvSpPr>
        <p:spPr bwMode="auto">
          <a:xfrm>
            <a:off x="4617221" y="3313807"/>
            <a:ext cx="130175" cy="1603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4" name="Line 61"/>
          <p:cNvSpPr>
            <a:spLocks noChangeShapeType="1"/>
          </p:cNvSpPr>
          <p:nvPr/>
        </p:nvSpPr>
        <p:spPr bwMode="auto">
          <a:xfrm flipH="1">
            <a:off x="4848996" y="3009007"/>
            <a:ext cx="320675" cy="4651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5" name="Line 62"/>
          <p:cNvSpPr>
            <a:spLocks noChangeShapeType="1"/>
          </p:cNvSpPr>
          <p:nvPr/>
        </p:nvSpPr>
        <p:spPr bwMode="auto">
          <a:xfrm>
            <a:off x="5299846" y="3313807"/>
            <a:ext cx="87312" cy="146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6" name="Line 63"/>
          <p:cNvSpPr>
            <a:spLocks noChangeShapeType="1"/>
          </p:cNvSpPr>
          <p:nvPr/>
        </p:nvSpPr>
        <p:spPr bwMode="auto">
          <a:xfrm flipH="1">
            <a:off x="5503046" y="2994720"/>
            <a:ext cx="290512" cy="4651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7" name="Line 64"/>
          <p:cNvSpPr>
            <a:spLocks noChangeShapeType="1"/>
          </p:cNvSpPr>
          <p:nvPr/>
        </p:nvSpPr>
        <p:spPr bwMode="auto">
          <a:xfrm>
            <a:off x="6025333" y="3343970"/>
            <a:ext cx="73025" cy="1301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608" name="Line 65"/>
          <p:cNvSpPr>
            <a:spLocks noChangeShapeType="1"/>
          </p:cNvSpPr>
          <p:nvPr/>
        </p:nvSpPr>
        <p:spPr bwMode="auto">
          <a:xfrm flipH="1">
            <a:off x="6242821" y="2994720"/>
            <a:ext cx="231775" cy="4508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p:txBody>
          <a:bodyPr/>
          <a:lstStyle/>
          <a:p>
            <a:r>
              <a:rPr lang="zh-CN" altLang="en-US" dirty="0"/>
              <a:t>从第 </a:t>
            </a:r>
            <a:r>
              <a:rPr lang="en-US" altLang="zh-CN" dirty="0" err="1"/>
              <a:t>i</a:t>
            </a:r>
            <a:r>
              <a:rPr lang="en-US" altLang="zh-CN" dirty="0"/>
              <a:t> </a:t>
            </a:r>
            <a:r>
              <a:rPr lang="zh-CN" altLang="en-US" dirty="0"/>
              <a:t>行数据计算并存放第 </a:t>
            </a:r>
            <a:r>
              <a:rPr lang="en-US" altLang="zh-CN" dirty="0"/>
              <a:t>i+1 </a:t>
            </a:r>
            <a:r>
              <a:rPr lang="zh-CN" altLang="en-US" dirty="0"/>
              <a:t>行数据</a:t>
            </a:r>
            <a:endParaRPr lang="zh-CN" altLang="en-US" dirty="0"/>
          </a:p>
        </p:txBody>
      </p:sp>
      <p:sp>
        <p:nvSpPr>
          <p:cNvPr id="3" name="灯片编号占位符 2"/>
          <p:cNvSpPr>
            <a:spLocks noGrp="1"/>
          </p:cNvSpPr>
          <p:nvPr>
            <p:ph type="sldNum" sz="quarter" idx="12"/>
          </p:nvPr>
        </p:nvSpPr>
        <p:spPr/>
        <p:txBody>
          <a:bodyPr/>
          <a:lstStyle/>
          <a:p>
            <a:pPr>
              <a:defRPr/>
            </a:pPr>
            <a:fld id="{7F8AB9B2-5EB2-4ACE-9D46-4808C0D400F4}" type="slidenum">
              <a:rPr lang="en-US" altLang="zh-CN" smtClean="0"/>
            </a:fld>
            <a:endParaRPr lang="en-US" altLang="zh-CN"/>
          </a:p>
        </p:txBody>
      </p:sp>
    </p:spTree>
  </p:cSld>
  <p:clrMapOvr>
    <a:masterClrMapping/>
  </p:clrMapOvr>
  <p:transition>
    <p:spli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利用队列打印二项展开式系数的程序</a:t>
            </a:r>
            <a:endParaRPr lang="zh-CN" altLang="en-US" dirty="0"/>
          </a:p>
        </p:txBody>
      </p:sp>
      <p:sp>
        <p:nvSpPr>
          <p:cNvPr id="3" name="内容占位符 2"/>
          <p:cNvSpPr>
            <a:spLocks noGrp="1"/>
          </p:cNvSpPr>
          <p:nvPr>
            <p:ph idx="1"/>
          </p:nvPr>
        </p:nvSpPr>
        <p:spPr>
          <a:xfrm>
            <a:off x="628650" y="1825625"/>
            <a:ext cx="7886700" cy="4667250"/>
          </a:xfrm>
        </p:spPr>
        <p:txBody>
          <a:bodyPr>
            <a:normAutofit fontScale="62500" lnSpcReduction="20000"/>
          </a:bodyPr>
          <a:lstStyle/>
          <a:p>
            <a:pPr marL="0" indent="0">
              <a:buNone/>
            </a:pPr>
            <a:r>
              <a:rPr lang="en-US" altLang="zh-CN" dirty="0"/>
              <a:t>void YANGHVI ( int n ) {</a:t>
            </a:r>
            <a:endParaRPr lang="en-US" altLang="zh-CN" dirty="0"/>
          </a:p>
          <a:p>
            <a:pPr marL="0" indent="0">
              <a:buNone/>
            </a:pPr>
            <a:r>
              <a:rPr lang="en-US" altLang="zh-CN" dirty="0"/>
              <a:t>    Queue&lt;int&gt; q(n+1);                     //</a:t>
            </a:r>
            <a:r>
              <a:rPr lang="zh-CN" altLang="en-US" dirty="0"/>
              <a:t>队列初始化</a:t>
            </a:r>
            <a:endParaRPr lang="zh-CN" altLang="en-US" dirty="0"/>
          </a:p>
          <a:p>
            <a:pPr marL="0" indent="0">
              <a:buNone/>
            </a:pPr>
            <a:r>
              <a:rPr lang="zh-CN" altLang="en-US" dirty="0"/>
              <a:t>    </a:t>
            </a:r>
            <a:r>
              <a:rPr lang="en-US" altLang="zh-CN" dirty="0"/>
              <a:t>int </a:t>
            </a:r>
            <a:r>
              <a:rPr lang="en-US" altLang="zh-CN" dirty="0" err="1"/>
              <a:t>i</a:t>
            </a:r>
            <a:r>
              <a:rPr lang="en-US" altLang="zh-CN" dirty="0"/>
              <a:t> = 1, j, s =0,  k = 0, t, u;    </a:t>
            </a:r>
            <a:endParaRPr lang="en-US" altLang="zh-CN" dirty="0"/>
          </a:p>
          <a:p>
            <a:pPr marL="0" indent="0">
              <a:buNone/>
            </a:pPr>
            <a:r>
              <a:rPr lang="en-US" altLang="zh-CN" dirty="0"/>
              <a:t>    </a:t>
            </a:r>
            <a:r>
              <a:rPr lang="en-US" altLang="zh-CN" dirty="0" err="1"/>
              <a:t>q.EnQueue</a:t>
            </a:r>
            <a:r>
              <a:rPr lang="en-US" altLang="zh-CN" dirty="0"/>
              <a:t> (</a:t>
            </a:r>
            <a:r>
              <a:rPr lang="en-US" altLang="zh-CN" dirty="0" err="1"/>
              <a:t>i</a:t>
            </a:r>
            <a:r>
              <a:rPr lang="en-US" altLang="zh-CN" dirty="0"/>
              <a:t>);  </a:t>
            </a:r>
            <a:r>
              <a:rPr lang="en-US" altLang="zh-CN" dirty="0" err="1"/>
              <a:t>q.EnQueue</a:t>
            </a:r>
            <a:r>
              <a:rPr lang="en-US" altLang="zh-CN" dirty="0"/>
              <a:t> (</a:t>
            </a:r>
            <a:r>
              <a:rPr lang="en-US" altLang="zh-CN" dirty="0" err="1"/>
              <a:t>i</a:t>
            </a:r>
            <a:r>
              <a:rPr lang="en-US" altLang="zh-CN" dirty="0"/>
              <a:t>);	</a:t>
            </a:r>
            <a:endParaRPr lang="en-US" altLang="zh-CN" dirty="0"/>
          </a:p>
          <a:p>
            <a:pPr marL="0" indent="0">
              <a:buNone/>
            </a:pPr>
            <a:r>
              <a:rPr lang="en-US" altLang="zh-CN" dirty="0"/>
              <a:t>    for ( </a:t>
            </a:r>
            <a:r>
              <a:rPr lang="en-US" altLang="zh-CN" dirty="0" err="1"/>
              <a:t>i</a:t>
            </a:r>
            <a:r>
              <a:rPr lang="en-US" altLang="zh-CN" dirty="0"/>
              <a:t> = 1; </a:t>
            </a:r>
            <a:r>
              <a:rPr lang="en-US" altLang="zh-CN" dirty="0" err="1"/>
              <a:t>i</a:t>
            </a:r>
            <a:r>
              <a:rPr lang="en-US" altLang="zh-CN" dirty="0"/>
              <a:t> &lt;= n; </a:t>
            </a:r>
            <a:r>
              <a:rPr lang="en-US" altLang="zh-CN" dirty="0" err="1"/>
              <a:t>i</a:t>
            </a:r>
            <a:r>
              <a:rPr lang="en-US" altLang="zh-CN" dirty="0"/>
              <a:t>++ ) {      //</a:t>
            </a:r>
            <a:r>
              <a:rPr lang="zh-CN" altLang="en-US" dirty="0"/>
              <a:t>逐行计算</a:t>
            </a:r>
            <a:endParaRPr lang="zh-CN" altLang="en-US" dirty="0"/>
          </a:p>
          <a:p>
            <a:pPr marL="0" indent="0">
              <a:buNone/>
            </a:pPr>
            <a:r>
              <a:rPr lang="zh-CN" altLang="en-US" dirty="0"/>
              <a:t>        </a:t>
            </a:r>
            <a:r>
              <a:rPr lang="en-US" altLang="zh-CN" dirty="0" err="1"/>
              <a:t>cout</a:t>
            </a:r>
            <a:r>
              <a:rPr lang="en-US" altLang="zh-CN" dirty="0"/>
              <a:t> &lt;&lt; </a:t>
            </a:r>
            <a:r>
              <a:rPr lang="en-US" altLang="zh-CN" dirty="0" err="1"/>
              <a:t>endl</a:t>
            </a:r>
            <a:r>
              <a:rPr lang="en-US" altLang="zh-CN" dirty="0"/>
              <a:t>;	</a:t>
            </a:r>
            <a:r>
              <a:rPr lang="en-US" altLang="zh-CN" dirty="0" err="1"/>
              <a:t>q.EnQueue</a:t>
            </a:r>
            <a:r>
              <a:rPr lang="en-US" altLang="zh-CN" dirty="0"/>
              <a:t> (k);					</a:t>
            </a:r>
            <a:endParaRPr lang="en-US" altLang="zh-CN" dirty="0"/>
          </a:p>
          <a:p>
            <a:pPr marL="0" indent="0">
              <a:buNone/>
            </a:pPr>
            <a:r>
              <a:rPr lang="en-US" altLang="zh-CN" dirty="0"/>
              <a:t>        for ( j = 1; j &lt;= i+2; </a:t>
            </a:r>
            <a:r>
              <a:rPr lang="en-US" altLang="zh-CN" dirty="0" err="1"/>
              <a:t>j++</a:t>
            </a:r>
            <a:r>
              <a:rPr lang="en-US" altLang="zh-CN" dirty="0"/>
              <a:t> ) {  //</a:t>
            </a:r>
            <a:r>
              <a:rPr lang="zh-CN" altLang="en-US" dirty="0"/>
              <a:t>下一行</a:t>
            </a:r>
            <a:endParaRPr lang="zh-CN" altLang="en-US" dirty="0"/>
          </a:p>
          <a:p>
            <a:pPr marL="0" indent="0">
              <a:buNone/>
            </a:pPr>
            <a:r>
              <a:rPr lang="zh-CN" altLang="en-US" dirty="0"/>
              <a:t>            </a:t>
            </a:r>
            <a:r>
              <a:rPr lang="en-US" altLang="zh-CN" dirty="0" err="1"/>
              <a:t>q.DeQueue</a:t>
            </a:r>
            <a:r>
              <a:rPr lang="en-US" altLang="zh-CN" dirty="0"/>
              <a:t> (t);   u = s + t;  </a:t>
            </a:r>
            <a:r>
              <a:rPr lang="en-US" altLang="zh-CN" dirty="0" err="1"/>
              <a:t>q.EnQueue</a:t>
            </a:r>
            <a:r>
              <a:rPr lang="en-US" altLang="zh-CN" dirty="0"/>
              <a:t> (u);  s = t;</a:t>
            </a:r>
            <a:endParaRPr lang="en-US" altLang="zh-CN" dirty="0"/>
          </a:p>
          <a:p>
            <a:pPr marL="0" indent="0">
              <a:buNone/>
            </a:pPr>
            <a:r>
              <a:rPr lang="en-US" altLang="zh-CN" dirty="0"/>
              <a:t>            if ( j != i+2 ) </a:t>
            </a:r>
            <a:r>
              <a:rPr lang="en-US" altLang="zh-CN" dirty="0" err="1"/>
              <a:t>cout</a:t>
            </a:r>
            <a:r>
              <a:rPr lang="en-US" altLang="zh-CN" dirty="0"/>
              <a:t> &lt;&lt; s &lt;&lt; ' ';		</a:t>
            </a:r>
            <a:endParaRPr lang="en-US" altLang="zh-CN" dirty="0"/>
          </a:p>
          <a:p>
            <a:pPr marL="0" indent="0">
              <a:buNone/>
            </a:pPr>
            <a:r>
              <a:rPr lang="en-US" altLang="zh-CN" dirty="0"/>
              <a:t>        }</a:t>
            </a:r>
            <a:endParaRPr lang="en-US" altLang="zh-CN" dirty="0"/>
          </a:p>
          <a:p>
            <a:pPr marL="0" indent="0">
              <a:buNone/>
            </a:pPr>
            <a:r>
              <a:rPr lang="en-US" altLang="zh-CN" dirty="0"/>
              <a:t>    }</a:t>
            </a:r>
            <a:endParaRPr lang="en-US" altLang="zh-CN" dirty="0"/>
          </a:p>
          <a:p>
            <a:pPr marL="0" indent="0">
              <a:buNone/>
            </a:pPr>
            <a:r>
              <a:rPr lang="en-US" altLang="zh-CN" dirty="0"/>
              <a:t>}</a:t>
            </a:r>
            <a:endParaRPr lang="en-US" altLang="zh-CN"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CN" altLang="en-US"/>
              <a:t>队列应用举例：电路布线</a:t>
            </a:r>
            <a:endParaRPr lang="zh-CN" altLang="en-US"/>
          </a:p>
        </p:txBody>
      </p:sp>
      <p:sp>
        <p:nvSpPr>
          <p:cNvPr id="111619" name="Rectangle 3"/>
          <p:cNvSpPr>
            <a:spLocks noGrp="1" noChangeArrowheads="1"/>
          </p:cNvSpPr>
          <p:nvPr>
            <p:ph idx="1"/>
          </p:nvPr>
        </p:nvSpPr>
        <p:spPr/>
        <p:txBody>
          <a:bodyPr/>
          <a:lstStyle/>
          <a:p>
            <a:pPr eaLnBrk="1" hangingPunct="1"/>
            <a:r>
              <a:rPr lang="zh-CN" altLang="en-US" dirty="0"/>
              <a:t>（自学）</a:t>
            </a:r>
            <a:endParaRPr lang="zh-CN" altLang="en-US"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42" name="Object 0"/>
          <p:cNvGraphicFramePr>
            <a:graphicFrameLocks noChangeAspect="1"/>
          </p:cNvGraphicFramePr>
          <p:nvPr/>
        </p:nvGraphicFramePr>
        <p:xfrm>
          <a:off x="960437" y="4149080"/>
          <a:ext cx="7223125" cy="1768475"/>
        </p:xfrm>
        <a:graphic>
          <a:graphicData uri="http://schemas.openxmlformats.org/presentationml/2006/ole">
            <mc:AlternateContent xmlns:mc="http://schemas.openxmlformats.org/markup-compatibility/2006">
              <mc:Choice xmlns:v="urn:schemas-microsoft-com:vml" Requires="v">
                <p:oleObj spid="_x0000_s2" name="Document" r:id="rId1" imgW="7124700" imgH="1743075" progId="Word.Document.8">
                  <p:embed/>
                </p:oleObj>
              </mc:Choice>
              <mc:Fallback>
                <p:oleObj name="Document" r:id="rId1" imgW="7124700" imgH="1743075" progId="Word.Document.8">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437" y="4149080"/>
                        <a:ext cx="722312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标题 2"/>
          <p:cNvSpPr>
            <a:spLocks noGrp="1"/>
          </p:cNvSpPr>
          <p:nvPr>
            <p:ph type="title"/>
          </p:nvPr>
        </p:nvSpPr>
        <p:spPr/>
        <p:txBody>
          <a:bodyPr/>
          <a:lstStyle/>
          <a:p>
            <a:r>
              <a:rPr lang="en-US" altLang="zh-CN" dirty="0"/>
              <a:t>3.4 </a:t>
            </a:r>
            <a:r>
              <a:rPr lang="zh-CN" altLang="en-US" dirty="0"/>
              <a:t>优先级队列</a:t>
            </a:r>
            <a:endParaRPr lang="zh-CN" altLang="en-US" dirty="0"/>
          </a:p>
        </p:txBody>
      </p:sp>
      <p:sp>
        <p:nvSpPr>
          <p:cNvPr id="4" name="内容占位符 3"/>
          <p:cNvSpPr>
            <a:spLocks noGrp="1"/>
          </p:cNvSpPr>
          <p:nvPr>
            <p:ph idx="1"/>
          </p:nvPr>
        </p:nvSpPr>
        <p:spPr>
          <a:xfrm>
            <a:off x="628650" y="1825625"/>
            <a:ext cx="7886700" cy="1884660"/>
          </a:xfrm>
        </p:spPr>
        <p:txBody>
          <a:bodyPr>
            <a:normAutofit fontScale="85000" lnSpcReduction="20000"/>
          </a:bodyPr>
          <a:lstStyle/>
          <a:p>
            <a:r>
              <a:rPr lang="zh-CN" altLang="en-US" dirty="0"/>
              <a:t>优先级队列   每次从队列中取出的是具有最高优先级的元素。</a:t>
            </a:r>
            <a:endParaRPr lang="zh-CN" altLang="en-US" dirty="0"/>
          </a:p>
          <a:p>
            <a:r>
              <a:rPr lang="zh-CN" altLang="en-US" dirty="0"/>
              <a:t>如下表：任务优先级及执行顺序的关系（数值越小代表优先级越高）。</a:t>
            </a:r>
            <a:endParaRPr lang="zh-CN" altLang="en-US" dirty="0"/>
          </a:p>
        </p:txBody>
      </p:sp>
      <p:sp>
        <p:nvSpPr>
          <p:cNvPr id="5" name="灯片编号占位符 4"/>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优先级队列的定义</a:t>
            </a:r>
            <a:endParaRPr lang="zh-CN" altLang="en-US" dirty="0"/>
          </a:p>
        </p:txBody>
      </p:sp>
      <p:sp>
        <p:nvSpPr>
          <p:cNvPr id="3" name="内容占位符 2"/>
          <p:cNvSpPr>
            <a:spLocks noGrp="1"/>
          </p:cNvSpPr>
          <p:nvPr>
            <p:ph idx="1"/>
          </p:nvPr>
        </p:nvSpPr>
        <p:spPr>
          <a:xfrm>
            <a:off x="628650" y="1340768"/>
            <a:ext cx="7886700" cy="5380707"/>
          </a:xfrm>
          <a:solidFill>
            <a:schemeClr val="bg2">
              <a:lumMod val="90000"/>
            </a:schemeClr>
          </a:solidFill>
        </p:spPr>
        <p:txBody>
          <a:bodyPr>
            <a:normAutofit fontScale="47500" lnSpcReduction="20000"/>
          </a:bodyPr>
          <a:lstStyle/>
          <a:p>
            <a:pPr marL="0" indent="0">
              <a:buNone/>
            </a:pPr>
            <a:r>
              <a:rPr lang="en-US" altLang="zh-CN" dirty="0"/>
              <a:t>template &lt;class T&gt; class </a:t>
            </a:r>
            <a:r>
              <a:rPr lang="en-US" altLang="zh-CN" dirty="0" err="1"/>
              <a:t>PQueue</a:t>
            </a:r>
            <a:r>
              <a:rPr lang="en-US" altLang="zh-CN" dirty="0"/>
              <a:t> {</a:t>
            </a:r>
            <a:endParaRPr lang="en-US" altLang="zh-CN" dirty="0"/>
          </a:p>
          <a:p>
            <a:pPr marL="0" indent="0">
              <a:buNone/>
            </a:pPr>
            <a:r>
              <a:rPr lang="en-US" altLang="zh-CN" dirty="0"/>
              <a:t>protected:</a:t>
            </a:r>
            <a:endParaRPr lang="en-US" altLang="zh-CN" dirty="0"/>
          </a:p>
          <a:p>
            <a:pPr marL="0" indent="0">
              <a:buNone/>
            </a:pPr>
            <a:r>
              <a:rPr lang="en-US" altLang="zh-CN" dirty="0"/>
              <a:t>    T *</a:t>
            </a:r>
            <a:r>
              <a:rPr lang="en-US" altLang="zh-CN" dirty="0" err="1"/>
              <a:t>pqelements</a:t>
            </a:r>
            <a:r>
              <a:rPr lang="en-US" altLang="zh-CN" dirty="0"/>
              <a:t>;                      //</a:t>
            </a:r>
            <a:r>
              <a:rPr lang="zh-CN" altLang="en-US" dirty="0"/>
              <a:t>存放数组</a:t>
            </a:r>
            <a:endParaRPr lang="zh-CN" altLang="en-US" dirty="0"/>
          </a:p>
          <a:p>
            <a:pPr marL="0" indent="0">
              <a:buNone/>
            </a:pPr>
            <a:r>
              <a:rPr lang="zh-CN" altLang="en-US" dirty="0"/>
              <a:t>    </a:t>
            </a:r>
            <a:r>
              <a:rPr lang="en-US" altLang="zh-CN" dirty="0"/>
              <a:t>int count;	                          //</a:t>
            </a:r>
            <a:r>
              <a:rPr lang="zh-CN" altLang="en-US" dirty="0"/>
              <a:t>队列元素计数</a:t>
            </a:r>
            <a:endParaRPr lang="zh-CN" altLang="en-US" dirty="0"/>
          </a:p>
          <a:p>
            <a:pPr marL="0" indent="0">
              <a:buNone/>
            </a:pPr>
            <a:r>
              <a:rPr lang="zh-CN" altLang="en-US" dirty="0"/>
              <a:t>    </a:t>
            </a:r>
            <a:r>
              <a:rPr lang="en-US" altLang="zh-CN" dirty="0"/>
              <a:t>int </a:t>
            </a:r>
            <a:r>
              <a:rPr lang="en-US" altLang="zh-CN" dirty="0" err="1"/>
              <a:t>maxSize</a:t>
            </a:r>
            <a:r>
              <a:rPr lang="en-US" altLang="zh-CN" dirty="0"/>
              <a:t>;                           //</a:t>
            </a:r>
            <a:r>
              <a:rPr lang="zh-CN" altLang="en-US" dirty="0"/>
              <a:t>最大元素个数</a:t>
            </a:r>
            <a:endParaRPr lang="zh-CN" altLang="en-US" dirty="0"/>
          </a:p>
          <a:p>
            <a:pPr marL="0" indent="0">
              <a:buNone/>
            </a:pPr>
            <a:r>
              <a:rPr lang="zh-CN" altLang="en-US" dirty="0"/>
              <a:t>    </a:t>
            </a:r>
            <a:r>
              <a:rPr lang="en-US" altLang="zh-CN" dirty="0"/>
              <a:t>void adjust( );                        //</a:t>
            </a:r>
            <a:r>
              <a:rPr lang="zh-CN" altLang="en-US" dirty="0"/>
              <a:t>调整</a:t>
            </a:r>
            <a:endParaRPr lang="en-US" altLang="zh-CN" dirty="0"/>
          </a:p>
          <a:p>
            <a:pPr marL="0" indent="0">
              <a:buNone/>
            </a:pPr>
            <a:r>
              <a:rPr lang="en-US" altLang="zh-CN" dirty="0"/>
              <a:t>public:</a:t>
            </a:r>
            <a:endParaRPr lang="en-US" altLang="zh-CN" dirty="0"/>
          </a:p>
          <a:p>
            <a:pPr marL="0" indent="0">
              <a:buNone/>
            </a:pPr>
            <a:r>
              <a:rPr lang="en-US" altLang="zh-CN" dirty="0"/>
              <a:t>    </a:t>
            </a:r>
            <a:r>
              <a:rPr lang="en-US" altLang="zh-CN" dirty="0" err="1"/>
              <a:t>PQueue</a:t>
            </a:r>
            <a:r>
              <a:rPr lang="en-US" altLang="zh-CN" dirty="0"/>
              <a:t> (int </a:t>
            </a:r>
            <a:r>
              <a:rPr lang="en-US" altLang="zh-CN" dirty="0" err="1"/>
              <a:t>sz</a:t>
            </a:r>
            <a:r>
              <a:rPr lang="en-US" altLang="zh-CN" dirty="0"/>
              <a:t> = </a:t>
            </a:r>
            <a:r>
              <a:rPr lang="en-US" altLang="zh-CN" dirty="0" err="1"/>
              <a:t>DefaultPQSize</a:t>
            </a:r>
            <a:r>
              <a:rPr lang="en-US" altLang="zh-CN" dirty="0"/>
              <a:t>);      //</a:t>
            </a:r>
            <a:r>
              <a:rPr lang="zh-CN" altLang="en-US" dirty="0"/>
              <a:t>代码见备注</a:t>
            </a:r>
            <a:endParaRPr lang="en-US" altLang="zh-CN" dirty="0"/>
          </a:p>
          <a:p>
            <a:pPr marL="0" indent="0">
              <a:buNone/>
            </a:pPr>
            <a:r>
              <a:rPr lang="en-US" altLang="zh-CN" dirty="0"/>
              <a:t>    ~</a:t>
            </a:r>
            <a:r>
              <a:rPr lang="en-US" altLang="zh-CN" dirty="0" err="1"/>
              <a:t>PQueue</a:t>
            </a:r>
            <a:r>
              <a:rPr lang="en-US" altLang="zh-CN" dirty="0"/>
              <a:t> ( ) { delete [ ] </a:t>
            </a:r>
            <a:r>
              <a:rPr lang="en-US" altLang="zh-CN" dirty="0" err="1"/>
              <a:t>pqelements</a:t>
            </a:r>
            <a:r>
              <a:rPr lang="en-US" altLang="zh-CN" dirty="0"/>
              <a:t>; } </a:t>
            </a:r>
            <a:endParaRPr lang="en-US" altLang="zh-CN" dirty="0"/>
          </a:p>
          <a:p>
            <a:pPr marL="0" indent="0">
              <a:buNone/>
            </a:pPr>
            <a:r>
              <a:rPr lang="en-US" altLang="zh-CN" dirty="0"/>
              <a:t>    bool Insert (const T x);             //</a:t>
            </a:r>
            <a:r>
              <a:rPr lang="zh-CN" altLang="en-US" dirty="0"/>
              <a:t>代码见备注</a:t>
            </a:r>
            <a:endParaRPr lang="en-US" altLang="zh-CN" dirty="0"/>
          </a:p>
          <a:p>
            <a:pPr marL="0" indent="0">
              <a:buNone/>
            </a:pPr>
            <a:r>
              <a:rPr lang="en-US" altLang="zh-CN" dirty="0"/>
              <a:t>    bool </a:t>
            </a:r>
            <a:r>
              <a:rPr lang="en-US" altLang="zh-CN" dirty="0" err="1"/>
              <a:t>RemoveMin</a:t>
            </a:r>
            <a:r>
              <a:rPr lang="en-US" altLang="zh-CN" dirty="0"/>
              <a:t> (T&amp; x);         //</a:t>
            </a:r>
            <a:r>
              <a:rPr lang="zh-CN" altLang="en-US" dirty="0"/>
              <a:t>代码见备注</a:t>
            </a:r>
            <a:endParaRPr lang="en-US" altLang="zh-CN" dirty="0"/>
          </a:p>
          <a:p>
            <a:pPr marL="0" indent="0">
              <a:buNone/>
            </a:pPr>
            <a:r>
              <a:rPr lang="en-US" altLang="zh-CN" dirty="0"/>
              <a:t>    bool </a:t>
            </a:r>
            <a:r>
              <a:rPr lang="en-US" altLang="zh-CN" dirty="0" err="1"/>
              <a:t>GetFront</a:t>
            </a:r>
            <a:r>
              <a:rPr lang="en-US" altLang="zh-CN" dirty="0"/>
              <a:t> (T&amp; x) const;     //</a:t>
            </a:r>
            <a:r>
              <a:rPr lang="zh-CN" altLang="en-US" dirty="0"/>
              <a:t>代码见备注</a:t>
            </a:r>
            <a:endParaRPr lang="en-US" altLang="zh-CN" dirty="0"/>
          </a:p>
          <a:p>
            <a:pPr marL="0" indent="0">
              <a:buNone/>
            </a:pPr>
            <a:r>
              <a:rPr lang="en-US" altLang="zh-CN" dirty="0"/>
              <a:t>    void </a:t>
            </a:r>
            <a:r>
              <a:rPr lang="en-US" altLang="zh-CN" dirty="0" err="1"/>
              <a:t>MakeEmpty</a:t>
            </a:r>
            <a:r>
              <a:rPr lang="en-US" altLang="zh-CN" dirty="0"/>
              <a:t> ( ) { count = 0; }</a:t>
            </a:r>
            <a:endParaRPr lang="en-US" altLang="zh-CN" dirty="0"/>
          </a:p>
          <a:p>
            <a:pPr marL="0" indent="0">
              <a:buNone/>
            </a:pPr>
            <a:r>
              <a:rPr lang="en-US" altLang="zh-CN" dirty="0"/>
              <a:t>    bool </a:t>
            </a:r>
            <a:r>
              <a:rPr lang="en-US" altLang="zh-CN" dirty="0" err="1"/>
              <a:t>IsEmpty</a:t>
            </a:r>
            <a:r>
              <a:rPr lang="en-US" altLang="zh-CN" dirty="0"/>
              <a:t> ( ) const { return count == 0; }</a:t>
            </a:r>
            <a:endParaRPr lang="en-US" altLang="zh-CN" dirty="0"/>
          </a:p>
          <a:p>
            <a:pPr marL="0" indent="0">
              <a:buNone/>
            </a:pPr>
            <a:r>
              <a:rPr lang="en-US" altLang="zh-CN" dirty="0"/>
              <a:t>    bool </a:t>
            </a:r>
            <a:r>
              <a:rPr lang="en-US" altLang="zh-CN" dirty="0" err="1"/>
              <a:t>IsFull</a:t>
            </a:r>
            <a:r>
              <a:rPr lang="en-US" altLang="zh-CN" dirty="0"/>
              <a:t> ( ) const   { return  count == </a:t>
            </a:r>
            <a:r>
              <a:rPr lang="en-US" altLang="zh-CN" dirty="0" err="1"/>
              <a:t>maxSize</a:t>
            </a:r>
            <a:r>
              <a:rPr lang="en-US" altLang="zh-CN" dirty="0"/>
              <a:t>; }</a:t>
            </a:r>
            <a:endParaRPr lang="en-US" altLang="zh-CN" dirty="0"/>
          </a:p>
          <a:p>
            <a:pPr marL="0" indent="0">
              <a:buNone/>
            </a:pPr>
            <a:r>
              <a:rPr lang="en-US" altLang="zh-CN" dirty="0"/>
              <a:t>    int </a:t>
            </a:r>
            <a:r>
              <a:rPr lang="en-US" altLang="zh-CN" dirty="0" err="1"/>
              <a:t>getSize</a:t>
            </a:r>
            <a:r>
              <a:rPr lang="en-US" altLang="zh-CN" dirty="0"/>
              <a:t> ( ) const { return count; }</a:t>
            </a:r>
            <a:endParaRPr lang="en-US" altLang="zh-CN" dirty="0"/>
          </a:p>
          <a:p>
            <a:pPr marL="0" indent="0">
              <a:buNone/>
            </a:pPr>
            <a:r>
              <a:rPr lang="en-US" altLang="zh-CN" dirty="0"/>
              <a:t>}</a:t>
            </a:r>
            <a:endParaRPr lang="zh-CN" altLang="en-US" dirty="0"/>
          </a:p>
          <a:p>
            <a:pPr marL="0" indent="0">
              <a:buNone/>
            </a:pPr>
            <a:endParaRPr lang="zh-CN" altLang="en-US" dirty="0"/>
          </a:p>
          <a:p>
            <a:pPr marL="0" indent="0">
              <a:buNone/>
            </a:pPr>
            <a:endParaRPr lang="en-US" altLang="zh-CN" dirty="0"/>
          </a:p>
          <a:p>
            <a:pPr marL="0" indent="0">
              <a:buNone/>
            </a:pPr>
            <a:endParaRPr lang="zh-CN" altLang="en-US" dirty="0"/>
          </a:p>
        </p:txBody>
      </p:sp>
      <p:sp>
        <p:nvSpPr>
          <p:cNvPr id="6" name="灯片编号占位符 5"/>
          <p:cNvSpPr>
            <a:spLocks noGrp="1"/>
          </p:cNvSpPr>
          <p:nvPr>
            <p:ph type="sldNum" sz="quarter" idx="12"/>
          </p:nvPr>
        </p:nvSpPr>
        <p:spPr/>
        <p:txBody>
          <a:bodyPr/>
          <a:lstStyle/>
          <a:p>
            <a:pPr>
              <a:defRPr/>
            </a:pPr>
            <a:fld id="{4503BA03-F491-4556-BF55-C7A0902236EA}" type="slidenum">
              <a:rPr lang="en-US" altLang="zh-CN" smtClean="0"/>
            </a:fld>
            <a:endParaRPr lang="en-US" altLang="zh-CN"/>
          </a:p>
        </p:txBody>
      </p:sp>
    </p:spTree>
  </p:cSld>
  <p:clrMapOvr>
    <a:masterClrMapping/>
  </p:clrMapOvr>
  <p:transition>
    <p:spli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20688"/>
            <a:ext cx="8191822" cy="5556275"/>
          </a:xfrm>
        </p:spPr>
        <p:txBody>
          <a:bodyPr>
            <a:normAutofit lnSpcReduction="10000"/>
          </a:bodyPr>
          <a:lstStyle/>
          <a:p>
            <a:pPr marL="0" indent="0">
              <a:buNone/>
            </a:pPr>
            <a:r>
              <a:rPr lang="en-US" altLang="zh-CN" sz="3200" dirty="0"/>
              <a:t>template &lt;class T&gt; </a:t>
            </a:r>
            <a:endParaRPr lang="en-US" altLang="zh-CN" sz="3200" dirty="0"/>
          </a:p>
          <a:p>
            <a:pPr marL="0" indent="0">
              <a:buNone/>
            </a:pPr>
            <a:r>
              <a:rPr lang="en-US" altLang="zh-CN" sz="3200" dirty="0"/>
              <a:t>void </a:t>
            </a:r>
            <a:r>
              <a:rPr lang="en-US" altLang="zh-CN" sz="3200" dirty="0" err="1"/>
              <a:t>PQueue</a:t>
            </a:r>
            <a:r>
              <a:rPr lang="en-US" altLang="zh-CN" sz="3200" dirty="0"/>
              <a:t>&lt;T&gt; ::Adjust ( ) {</a:t>
            </a:r>
            <a:endParaRPr lang="en-US" altLang="zh-CN" sz="3200" dirty="0"/>
          </a:p>
          <a:p>
            <a:pPr marL="0" indent="0">
              <a:buNone/>
            </a:pPr>
            <a:r>
              <a:rPr lang="en-US" altLang="zh-CN" sz="3200" dirty="0"/>
              <a:t>    T temp = </a:t>
            </a:r>
            <a:r>
              <a:rPr lang="en-US" altLang="zh-CN" sz="3200" dirty="0" err="1"/>
              <a:t>pqelements</a:t>
            </a:r>
            <a:r>
              <a:rPr lang="en-US" altLang="zh-CN" sz="3200" dirty="0"/>
              <a:t>[count-1];</a:t>
            </a:r>
            <a:endParaRPr lang="en-US" altLang="zh-CN" sz="3200" dirty="0"/>
          </a:p>
          <a:p>
            <a:pPr marL="0" indent="0">
              <a:buNone/>
            </a:pPr>
            <a:r>
              <a:rPr lang="en-US" altLang="zh-CN" sz="3200" dirty="0"/>
              <a:t>     //</a:t>
            </a:r>
            <a:r>
              <a:rPr lang="zh-CN" altLang="en-US" sz="3200" dirty="0"/>
              <a:t>将最后元素暂存再从后向前找插入位置</a:t>
            </a:r>
            <a:endParaRPr lang="zh-CN" altLang="en-US" sz="3200" dirty="0"/>
          </a:p>
          <a:p>
            <a:pPr marL="0" indent="0">
              <a:buNone/>
            </a:pPr>
            <a:r>
              <a:rPr lang="zh-CN" altLang="en-US" sz="3200" dirty="0"/>
              <a:t>    </a:t>
            </a:r>
            <a:r>
              <a:rPr lang="en-US" altLang="zh-CN" sz="3200" dirty="0"/>
              <a:t>int j ;</a:t>
            </a:r>
            <a:endParaRPr lang="en-US" altLang="zh-CN" sz="3200" dirty="0"/>
          </a:p>
          <a:p>
            <a:pPr marL="0" indent="0">
              <a:buNone/>
            </a:pPr>
            <a:r>
              <a:rPr lang="en-US" altLang="zh-CN" sz="3200" dirty="0"/>
              <a:t>    for ( j = count-2;  j &gt;= 0;  j-- )</a:t>
            </a:r>
            <a:endParaRPr lang="en-US" altLang="zh-CN" sz="3200" dirty="0"/>
          </a:p>
          <a:p>
            <a:pPr marL="0" indent="0">
              <a:buNone/>
            </a:pPr>
            <a:r>
              <a:rPr lang="en-US" altLang="zh-CN" sz="3200" dirty="0"/>
              <a:t>        if ( </a:t>
            </a:r>
            <a:r>
              <a:rPr lang="en-US" altLang="zh-CN" sz="3200" dirty="0" err="1"/>
              <a:t>pqelements</a:t>
            </a:r>
            <a:r>
              <a:rPr lang="en-US" altLang="zh-CN" sz="3200" dirty="0"/>
              <a:t>[j] &lt;= temp ) break; </a:t>
            </a:r>
            <a:endParaRPr lang="en-US" altLang="zh-CN" sz="3200" dirty="0"/>
          </a:p>
          <a:p>
            <a:pPr marL="0" indent="0">
              <a:buNone/>
            </a:pPr>
            <a:r>
              <a:rPr lang="en-US" altLang="zh-CN" sz="3200" dirty="0"/>
              <a:t>        else </a:t>
            </a:r>
            <a:r>
              <a:rPr lang="en-US" altLang="zh-CN" sz="3200" dirty="0" err="1"/>
              <a:t>pqelements</a:t>
            </a:r>
            <a:r>
              <a:rPr lang="en-US" altLang="zh-CN" sz="3200" dirty="0"/>
              <a:t>[j+1] = </a:t>
            </a:r>
            <a:r>
              <a:rPr lang="en-US" altLang="zh-CN" sz="3200" dirty="0" err="1"/>
              <a:t>pqelements</a:t>
            </a:r>
            <a:r>
              <a:rPr lang="en-US" altLang="zh-CN" sz="3200" dirty="0"/>
              <a:t>[j];</a:t>
            </a:r>
            <a:endParaRPr lang="en-US" altLang="zh-CN" sz="3200" dirty="0"/>
          </a:p>
          <a:p>
            <a:pPr marL="0" indent="0">
              <a:buNone/>
            </a:pPr>
            <a:r>
              <a:rPr lang="en-US" altLang="zh-CN" sz="3200" dirty="0"/>
              <a:t>     </a:t>
            </a:r>
            <a:r>
              <a:rPr lang="en-US" altLang="zh-CN" sz="3200" dirty="0" err="1"/>
              <a:t>pqelements</a:t>
            </a:r>
            <a:r>
              <a:rPr lang="en-US" altLang="zh-CN" sz="3200" dirty="0"/>
              <a:t>[j+1] = temp;</a:t>
            </a:r>
            <a:endParaRPr lang="en-US" altLang="zh-CN" sz="3200" dirty="0"/>
          </a:p>
          <a:p>
            <a:pPr marL="0" indent="0">
              <a:buNone/>
            </a:pPr>
            <a:r>
              <a:rPr lang="en-US" altLang="zh-CN" sz="3200" dirty="0"/>
              <a:t>}</a:t>
            </a:r>
            <a:endParaRPr lang="en-US" altLang="zh-CN" sz="3200" dirty="0"/>
          </a:p>
          <a:p>
            <a:pPr marL="0" indent="0">
              <a:buNone/>
            </a:pPr>
            <a:endParaRPr lang="zh-CN" altLang="en-US" sz="3200" dirty="0"/>
          </a:p>
        </p:txBody>
      </p:sp>
      <p:sp>
        <p:nvSpPr>
          <p:cNvPr id="4" name="灯片编号占位符 3"/>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2"/>
          <p:cNvSpPr>
            <a:spLocks noGrp="1" noChangeArrowheads="1"/>
          </p:cNvSpPr>
          <p:nvPr>
            <p:ph type="title"/>
          </p:nvPr>
        </p:nvSpPr>
        <p:spPr>
          <a:xfrm>
            <a:off x="628650" y="365125"/>
            <a:ext cx="7886700" cy="1325563"/>
          </a:xfrm>
        </p:spPr>
        <p:txBody>
          <a:bodyPr>
            <a:normAutofit/>
          </a:bodyPr>
          <a:lstStyle/>
          <a:p>
            <a:r>
              <a:rPr lang="en-US" altLang="zh-CN" dirty="0"/>
              <a:t>3.5 </a:t>
            </a:r>
            <a:r>
              <a:rPr lang="zh-CN" altLang="en-US" dirty="0"/>
              <a:t>双端队列（</a:t>
            </a:r>
            <a:r>
              <a:rPr lang="en-US" altLang="zh-CN" dirty="0"/>
              <a:t>Deque</a:t>
            </a:r>
            <a:r>
              <a:rPr lang="zh-CN" altLang="en-US" dirty="0"/>
              <a:t>）（自学）</a:t>
            </a:r>
            <a:endParaRPr lang="zh-CN" altLang="en-US" dirty="0"/>
          </a:p>
        </p:txBody>
      </p:sp>
      <p:sp>
        <p:nvSpPr>
          <p:cNvPr id="139268" name="Rectangle 3"/>
          <p:cNvSpPr>
            <a:spLocks noGrp="1" noChangeArrowheads="1"/>
          </p:cNvSpPr>
          <p:nvPr>
            <p:ph idx="1"/>
          </p:nvPr>
        </p:nvSpPr>
        <p:spPr>
          <a:xfrm>
            <a:off x="628650" y="1825625"/>
            <a:ext cx="7886700" cy="4351338"/>
          </a:xfrm>
        </p:spPr>
        <p:txBody>
          <a:bodyPr>
            <a:normAutofit fontScale="85000" lnSpcReduction="20000"/>
          </a:bodyPr>
          <a:lstStyle/>
          <a:p>
            <a:r>
              <a:rPr lang="zh-CN" altLang="en-US" dirty="0"/>
              <a:t>定义：可以在队列的两端进行插入和删除。英文全称 是</a:t>
            </a:r>
            <a:r>
              <a:rPr lang="en-US" altLang="zh-CN" dirty="0"/>
              <a:t>Double-ended queue</a:t>
            </a:r>
            <a:r>
              <a:rPr lang="zh-CN" altLang="en-US" dirty="0"/>
              <a:t>。</a:t>
            </a:r>
            <a:endParaRPr lang="zh-CN" altLang="en-US" dirty="0"/>
          </a:p>
          <a:p>
            <a:r>
              <a:rPr lang="zh-CN" altLang="en-US" dirty="0"/>
              <a:t>访问函数有 </a:t>
            </a:r>
            <a:r>
              <a:rPr lang="en-US" altLang="zh-CN" dirty="0"/>
              <a:t>6 </a:t>
            </a:r>
            <a:r>
              <a:rPr lang="zh-CN" altLang="en-US" dirty="0"/>
              <a:t>个，包括</a:t>
            </a:r>
            <a:endParaRPr lang="zh-CN" altLang="en-US" dirty="0"/>
          </a:p>
          <a:p>
            <a:pPr lvl="1"/>
            <a:r>
              <a:rPr lang="en-US" altLang="zh-CN" dirty="0"/>
              <a:t>bool </a:t>
            </a:r>
            <a:r>
              <a:rPr lang="en-US" altLang="zh-CN" dirty="0" err="1"/>
              <a:t>getHead</a:t>
            </a:r>
            <a:r>
              <a:rPr lang="en-US" altLang="zh-CN" dirty="0"/>
              <a:t>(E&amp; x)      	      //</a:t>
            </a:r>
            <a:r>
              <a:rPr lang="zh-CN" altLang="en-US" dirty="0"/>
              <a:t>读队头元素 </a:t>
            </a:r>
            <a:endParaRPr lang="zh-CN" altLang="en-US" dirty="0"/>
          </a:p>
          <a:p>
            <a:pPr lvl="1"/>
            <a:r>
              <a:rPr lang="en-US" altLang="zh-CN" dirty="0"/>
              <a:t>bool </a:t>
            </a:r>
            <a:r>
              <a:rPr lang="en-US" altLang="zh-CN" dirty="0" err="1"/>
              <a:t>EnQueueHead</a:t>
            </a:r>
            <a:r>
              <a:rPr lang="en-US" altLang="zh-CN" dirty="0"/>
              <a:t>(E x)       //</a:t>
            </a:r>
            <a:r>
              <a:rPr lang="zh-CN" altLang="en-US" dirty="0"/>
              <a:t>在队头插入</a:t>
            </a:r>
            <a:endParaRPr lang="zh-CN" altLang="en-US" dirty="0"/>
          </a:p>
          <a:p>
            <a:pPr lvl="1"/>
            <a:r>
              <a:rPr lang="en-US" altLang="zh-CN" dirty="0"/>
              <a:t>bool </a:t>
            </a:r>
            <a:r>
              <a:rPr lang="en-US" altLang="zh-CN" dirty="0" err="1"/>
              <a:t>DeQueueHead</a:t>
            </a:r>
            <a:r>
              <a:rPr lang="en-US" altLang="zh-CN" dirty="0"/>
              <a:t>(E&amp; x)    //</a:t>
            </a:r>
            <a:r>
              <a:rPr lang="zh-CN" altLang="en-US" dirty="0"/>
              <a:t>删除队头元素 </a:t>
            </a:r>
            <a:endParaRPr lang="zh-CN" altLang="en-US" dirty="0"/>
          </a:p>
          <a:p>
            <a:pPr lvl="1"/>
            <a:endParaRPr lang="zh-CN" altLang="en-US" dirty="0"/>
          </a:p>
          <a:p>
            <a:pPr lvl="1"/>
            <a:r>
              <a:rPr lang="en-US" altLang="zh-CN" dirty="0"/>
              <a:t>bool </a:t>
            </a:r>
            <a:r>
              <a:rPr lang="en-US" altLang="zh-CN" dirty="0" err="1"/>
              <a:t>getTail</a:t>
            </a:r>
            <a:r>
              <a:rPr lang="en-US" altLang="zh-CN" dirty="0"/>
              <a:t>(E&amp; x)                 //</a:t>
            </a:r>
            <a:r>
              <a:rPr lang="zh-CN" altLang="en-US" dirty="0"/>
              <a:t>读队尾元素 </a:t>
            </a:r>
            <a:endParaRPr lang="zh-CN" altLang="en-US" dirty="0"/>
          </a:p>
          <a:p>
            <a:pPr lvl="1"/>
            <a:r>
              <a:rPr lang="en-US" altLang="zh-CN" dirty="0"/>
              <a:t>bool </a:t>
            </a:r>
            <a:r>
              <a:rPr lang="en-US" altLang="zh-CN" dirty="0" err="1"/>
              <a:t>EnQueueTail</a:t>
            </a:r>
            <a:r>
              <a:rPr lang="en-US" altLang="zh-CN" dirty="0"/>
              <a:t>(E x)  	      //</a:t>
            </a:r>
            <a:r>
              <a:rPr lang="zh-CN" altLang="en-US" dirty="0"/>
              <a:t>在队尾插入</a:t>
            </a:r>
            <a:endParaRPr lang="zh-CN" altLang="en-US" dirty="0"/>
          </a:p>
          <a:p>
            <a:pPr lvl="1"/>
            <a:r>
              <a:rPr lang="en-US" altLang="zh-CN" dirty="0"/>
              <a:t>bool </a:t>
            </a:r>
            <a:r>
              <a:rPr lang="en-US" altLang="zh-CN" dirty="0" err="1"/>
              <a:t>DeQueueTail</a:t>
            </a:r>
            <a:r>
              <a:rPr lang="en-US" altLang="zh-CN" dirty="0"/>
              <a:t>(E&amp; x)       //</a:t>
            </a:r>
            <a:r>
              <a:rPr lang="zh-CN" altLang="en-US" dirty="0"/>
              <a:t>删除队尾元素</a:t>
            </a:r>
            <a:endParaRPr lang="zh-CN" altLang="en-US" dirty="0"/>
          </a:p>
        </p:txBody>
      </p:sp>
      <p:sp>
        <p:nvSpPr>
          <p:cNvPr id="139266" name="灯片编号占位符 4"/>
          <p:cNvSpPr>
            <a:spLocks noGrp="1"/>
          </p:cNvSpPr>
          <p:nvPr>
            <p:ph type="ftr" sz="quarter" idx="11"/>
          </p:nvPr>
        </p:nvSpPr>
        <p:spPr>
          <a:xfrm>
            <a:off x="3028950" y="6356350"/>
            <a:ext cx="3086100" cy="3651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fld id="{76B4EDBB-0669-4E24-B19D-110DE905D9E0}" type="slidenum">
              <a:rPr lang="en-US" altLang="zh-CN"/>
            </a:fld>
            <a:endParaRPr lang="en-US" altLang="zh-CN"/>
          </a:p>
        </p:txBody>
      </p:sp>
    </p:spTree>
  </p:cSld>
  <p:clrMapOvr>
    <a:masterClrMapping/>
  </p:clrMapOvr>
  <p:transition>
    <p:spli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2"/>
          <p:cNvSpPr>
            <a:spLocks noGrp="1" noChangeArrowheads="1"/>
          </p:cNvSpPr>
          <p:nvPr>
            <p:ph type="title"/>
          </p:nvPr>
        </p:nvSpPr>
        <p:spPr/>
        <p:txBody>
          <a:bodyPr/>
          <a:lstStyle/>
          <a:p>
            <a:r>
              <a:rPr lang="zh-CN" altLang="en-US" dirty="0"/>
              <a:t>双端队列的基本操作（自学） </a:t>
            </a:r>
            <a:endParaRPr lang="zh-CN" altLang="en-US" dirty="0"/>
          </a:p>
        </p:txBody>
      </p:sp>
      <p:sp>
        <p:nvSpPr>
          <p:cNvPr id="140290" name="灯片编号占位符 4"/>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fld id="{E608B070-8AE1-4F2E-99F6-7ABFB211FDA9}" type="slidenum">
              <a:rPr lang="en-US" altLang="zh-CN"/>
            </a:fld>
            <a:endParaRPr lang="en-US" altLang="zh-CN"/>
          </a:p>
        </p:txBody>
      </p:sp>
      <p:sp>
        <p:nvSpPr>
          <p:cNvPr id="140292" name="Text Box 13"/>
          <p:cNvSpPr txBox="1">
            <a:spLocks noChangeArrowheads="1"/>
          </p:cNvSpPr>
          <p:nvPr/>
        </p:nvSpPr>
        <p:spPr bwMode="auto">
          <a:xfrm>
            <a:off x="3490913" y="2133600"/>
            <a:ext cx="2628900"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baseline="0">
                <a:latin typeface="Times New Roman" panose="02020603050405020304" pitchFamily="18" charset="0"/>
                <a:ea typeface="Mangal" panose="02040503050203030202" pitchFamily="18" charset="0"/>
              </a:rPr>
              <a:t>EnQueueHead(3)</a:t>
            </a:r>
            <a:endParaRPr lang="en-US" altLang="zh-CN" sz="2400" b="1" baseline="0">
              <a:latin typeface="Times New Roman" panose="02020603050405020304" pitchFamily="18" charset="0"/>
            </a:endParaRPr>
          </a:p>
        </p:txBody>
      </p:sp>
      <p:sp>
        <p:nvSpPr>
          <p:cNvPr id="140293" name="Text Box 23"/>
          <p:cNvSpPr txBox="1">
            <a:spLocks noChangeArrowheads="1"/>
          </p:cNvSpPr>
          <p:nvPr/>
        </p:nvSpPr>
        <p:spPr bwMode="auto">
          <a:xfrm>
            <a:off x="6119813" y="2133600"/>
            <a:ext cx="2339975" cy="763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baseline="0">
                <a:latin typeface="Times New Roman" panose="02020603050405020304" pitchFamily="18" charset="0"/>
                <a:ea typeface="Mangal" panose="02040503050203030202" pitchFamily="18" charset="0"/>
              </a:rPr>
              <a:t>EnQueueTail(5)</a:t>
            </a:r>
            <a:endParaRPr lang="en-US" altLang="zh-CN" sz="2400" b="1" baseline="0">
              <a:latin typeface="Times New Roman" panose="02020603050405020304" pitchFamily="18" charset="0"/>
            </a:endParaRPr>
          </a:p>
        </p:txBody>
      </p:sp>
      <p:sp>
        <p:nvSpPr>
          <p:cNvPr id="140294" name="Text Box 34"/>
          <p:cNvSpPr txBox="1">
            <a:spLocks noChangeArrowheads="1"/>
          </p:cNvSpPr>
          <p:nvPr/>
        </p:nvSpPr>
        <p:spPr bwMode="auto">
          <a:xfrm>
            <a:off x="2124075" y="3689350"/>
            <a:ext cx="2590800" cy="763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lnSpc>
                <a:spcPct val="85000"/>
              </a:lnSpc>
            </a:pPr>
            <a:r>
              <a:rPr lang="en-US" altLang="zh-CN" sz="2400" b="1" baseline="0">
                <a:latin typeface="Times New Roman" panose="02020603050405020304" pitchFamily="18" charset="0"/>
                <a:ea typeface="Mangal" panose="02040503050203030202" pitchFamily="18" charset="0"/>
              </a:rPr>
              <a:t>DeQueueHead(t)</a:t>
            </a:r>
            <a:endParaRPr lang="en-US" altLang="zh-CN" sz="2400" b="1" baseline="0">
              <a:latin typeface="Times New Roman" panose="02020603050405020304" pitchFamily="18" charset="0"/>
              <a:ea typeface="Mangal" panose="02040503050203030202" pitchFamily="18" charset="0"/>
            </a:endParaRPr>
          </a:p>
          <a:p>
            <a:pPr algn="just" eaLnBrk="1" hangingPunct="1">
              <a:lnSpc>
                <a:spcPct val="85000"/>
              </a:lnSpc>
            </a:pPr>
            <a:r>
              <a:rPr lang="en-US" altLang="zh-CN" sz="2400" b="1" baseline="0">
                <a:latin typeface="Times New Roman" panose="02020603050405020304" pitchFamily="18" charset="0"/>
                <a:ea typeface="Mangal" panose="02040503050203030202" pitchFamily="18" charset="0"/>
              </a:rPr>
              <a:t>3</a:t>
            </a:r>
            <a:r>
              <a:rPr lang="en-US" altLang="zh-CN" sz="2400" b="1" baseline="0">
                <a:latin typeface="Times New Roman" panose="02020603050405020304" pitchFamily="18" charset="0"/>
                <a:cs typeface="Times New Roman" panose="02020603050405020304" pitchFamily="18" charset="0"/>
              </a:rPr>
              <a:t>→</a:t>
            </a:r>
            <a:r>
              <a:rPr lang="en-US" altLang="zh-CN" sz="2400" b="1" baseline="0">
                <a:latin typeface="Times New Roman" panose="02020603050405020304" pitchFamily="18" charset="0"/>
                <a:ea typeface="Mangal" panose="02040503050203030202" pitchFamily="18" charset="0"/>
              </a:rPr>
              <a:t>t</a:t>
            </a:r>
            <a:endParaRPr lang="en-US" altLang="zh-CN" sz="2400" b="1" baseline="0">
              <a:latin typeface="Times New Roman" panose="02020603050405020304" pitchFamily="18" charset="0"/>
            </a:endParaRPr>
          </a:p>
        </p:txBody>
      </p:sp>
      <p:sp>
        <p:nvSpPr>
          <p:cNvPr id="140295" name="AutoShape 44"/>
          <p:cNvSpPr>
            <a:spLocks noChangeArrowheads="1"/>
          </p:cNvSpPr>
          <p:nvPr/>
        </p:nvSpPr>
        <p:spPr bwMode="auto">
          <a:xfrm rot="-5400000">
            <a:off x="3067844" y="2016919"/>
            <a:ext cx="704850" cy="144462"/>
          </a:xfrm>
          <a:prstGeom prst="curvedDownArrow">
            <a:avLst>
              <a:gd name="adj1" fmla="val 97583"/>
              <a:gd name="adj2" fmla="val 195166"/>
              <a:gd name="adj3" fmla="val 33333"/>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296" name="AutoShape 45"/>
          <p:cNvSpPr>
            <a:spLocks noChangeArrowheads="1"/>
          </p:cNvSpPr>
          <p:nvPr/>
        </p:nvSpPr>
        <p:spPr bwMode="auto">
          <a:xfrm rot="-5400000">
            <a:off x="8155781" y="1969295"/>
            <a:ext cx="752475" cy="144462"/>
          </a:xfrm>
          <a:prstGeom prst="curvedUpArrow">
            <a:avLst>
              <a:gd name="adj1" fmla="val 104176"/>
              <a:gd name="adj2" fmla="val 208352"/>
              <a:gd name="adj3" fmla="val 33333"/>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297" name="AutoShape 46"/>
          <p:cNvSpPr>
            <a:spLocks noChangeArrowheads="1"/>
          </p:cNvSpPr>
          <p:nvPr/>
        </p:nvSpPr>
        <p:spPr bwMode="auto">
          <a:xfrm rot="-5400000" flipH="1" flipV="1">
            <a:off x="1693069" y="3621882"/>
            <a:ext cx="752475" cy="109537"/>
          </a:xfrm>
          <a:prstGeom prst="curvedUpArrow">
            <a:avLst>
              <a:gd name="adj1" fmla="val 137392"/>
              <a:gd name="adj2" fmla="val 274784"/>
              <a:gd name="adj3" fmla="val 33333"/>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298" name="Text Box 47"/>
          <p:cNvSpPr txBox="1">
            <a:spLocks noChangeArrowheads="1"/>
          </p:cNvSpPr>
          <p:nvPr/>
        </p:nvSpPr>
        <p:spPr bwMode="auto">
          <a:xfrm>
            <a:off x="539750" y="2230437"/>
            <a:ext cx="2595559"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lnSpc>
                <a:spcPct val="85000"/>
              </a:lnSpc>
            </a:pPr>
            <a:r>
              <a:rPr lang="en-US" altLang="zh-CN" sz="1200" baseline="0" dirty="0">
                <a:latin typeface="Courier New" panose="02070309020205020404" pitchFamily="49" charset="0"/>
                <a:ea typeface="Mangal" panose="02040503050203030202" pitchFamily="18" charset="0"/>
              </a:rPr>
              <a:t>  </a:t>
            </a:r>
            <a:r>
              <a:rPr lang="zh-CN" altLang="en-US" sz="2400" b="1" baseline="0" dirty="0">
                <a:latin typeface="Times New Roman" panose="02020603050405020304" pitchFamily="18" charset="0"/>
                <a:ea typeface="Mangal" panose="02040503050203030202" pitchFamily="18" charset="0"/>
              </a:rPr>
              <a:t>假设的初始状态</a:t>
            </a:r>
            <a:endParaRPr lang="en-US" altLang="zh-CN" sz="2400" b="1" baseline="0" dirty="0">
              <a:latin typeface="Times New Roman" panose="02020603050405020304" pitchFamily="18" charset="0"/>
            </a:endParaRPr>
          </a:p>
        </p:txBody>
      </p:sp>
      <p:sp>
        <p:nvSpPr>
          <p:cNvPr id="140299" name="Text Box 48"/>
          <p:cNvSpPr txBox="1">
            <a:spLocks noChangeArrowheads="1"/>
          </p:cNvSpPr>
          <p:nvPr/>
        </p:nvSpPr>
        <p:spPr bwMode="auto">
          <a:xfrm>
            <a:off x="4679950" y="3660775"/>
            <a:ext cx="244792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pPr>
            <a:r>
              <a:rPr lang="en-US" altLang="zh-CN" sz="2400" b="1" baseline="0">
                <a:latin typeface="Times New Roman" panose="02020603050405020304" pitchFamily="18" charset="0"/>
                <a:ea typeface="Mangal" panose="02040503050203030202" pitchFamily="18" charset="0"/>
              </a:rPr>
              <a:t>DeQueueTail(t)</a:t>
            </a:r>
            <a:endParaRPr lang="en-US" altLang="zh-CN" sz="2400" b="1" baseline="0">
              <a:latin typeface="Times New Roman" panose="02020603050405020304" pitchFamily="18" charset="0"/>
              <a:ea typeface="Mangal" panose="02040503050203030202" pitchFamily="18" charset="0"/>
            </a:endParaRPr>
          </a:p>
          <a:p>
            <a:pPr algn="just" eaLnBrk="1" hangingPunct="1">
              <a:lnSpc>
                <a:spcPct val="90000"/>
              </a:lnSpc>
            </a:pPr>
            <a:r>
              <a:rPr lang="en-US" altLang="zh-CN" sz="2400" b="1" baseline="0">
                <a:latin typeface="Times New Roman" panose="02020603050405020304" pitchFamily="18" charset="0"/>
                <a:ea typeface="Mangal" panose="02040503050203030202" pitchFamily="18" charset="0"/>
              </a:rPr>
              <a:t>5</a:t>
            </a:r>
            <a:r>
              <a:rPr lang="en-US" altLang="zh-CN" sz="2400" b="1" baseline="0"/>
              <a:t>→</a:t>
            </a:r>
            <a:r>
              <a:rPr lang="en-US" altLang="zh-CN" sz="2400" b="1" baseline="0">
                <a:latin typeface="Times New Roman" panose="02020603050405020304" pitchFamily="18" charset="0"/>
              </a:rPr>
              <a:t>t</a:t>
            </a:r>
            <a:endParaRPr lang="en-US" altLang="zh-CN" sz="2400" b="1" baseline="0">
              <a:latin typeface="Times New Roman" panose="02020603050405020304" pitchFamily="18" charset="0"/>
            </a:endParaRPr>
          </a:p>
        </p:txBody>
      </p:sp>
      <p:sp>
        <p:nvSpPr>
          <p:cNvPr id="140300" name="AutoShape 57"/>
          <p:cNvSpPr>
            <a:spLocks noChangeArrowheads="1"/>
          </p:cNvSpPr>
          <p:nvPr/>
        </p:nvSpPr>
        <p:spPr bwMode="auto">
          <a:xfrm rot="5400000" flipV="1">
            <a:off x="6569869" y="3534569"/>
            <a:ext cx="792163" cy="180975"/>
          </a:xfrm>
          <a:prstGeom prst="curvedUpArrow">
            <a:avLst>
              <a:gd name="adj1" fmla="val 87544"/>
              <a:gd name="adj2" fmla="val 175088"/>
              <a:gd name="adj3" fmla="val 33333"/>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01" name="Text Box 58"/>
          <p:cNvSpPr txBox="1">
            <a:spLocks noChangeArrowheads="1"/>
          </p:cNvSpPr>
          <p:nvPr/>
        </p:nvSpPr>
        <p:spPr bwMode="auto">
          <a:xfrm>
            <a:off x="2352675" y="5294313"/>
            <a:ext cx="1655763" cy="76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baseline="0">
                <a:latin typeface="Times New Roman" panose="02020603050405020304" pitchFamily="18" charset="0"/>
                <a:ea typeface="Mangal" panose="02040503050203030202" pitchFamily="18" charset="0"/>
              </a:rPr>
              <a:t>GetHead(t)1</a:t>
            </a:r>
            <a:r>
              <a:rPr lang="en-US" altLang="zh-CN" sz="2400" b="1" baseline="0">
                <a:latin typeface="Times New Roman" panose="02020603050405020304" pitchFamily="18" charset="0"/>
                <a:cs typeface="Times New Roman" panose="02020603050405020304" pitchFamily="18" charset="0"/>
              </a:rPr>
              <a:t>→</a:t>
            </a:r>
            <a:r>
              <a:rPr lang="en-US" altLang="zh-CN" sz="2400" b="1" baseline="0">
                <a:latin typeface="Times New Roman" panose="02020603050405020304" pitchFamily="18" charset="0"/>
                <a:ea typeface="Mangal" panose="02040503050203030202" pitchFamily="18" charset="0"/>
                <a:cs typeface="Times New Roman" panose="02020603050405020304" pitchFamily="18" charset="0"/>
              </a:rPr>
              <a:t>t</a:t>
            </a:r>
            <a:endParaRPr lang="en-US" altLang="zh-CN" sz="2400" b="1" baseline="0">
              <a:latin typeface="Times New Roman" panose="02020603050405020304" pitchFamily="18" charset="0"/>
            </a:endParaRPr>
          </a:p>
        </p:txBody>
      </p:sp>
      <p:sp>
        <p:nvSpPr>
          <p:cNvPr id="140302" name="AutoShape 67"/>
          <p:cNvSpPr>
            <a:spLocks noChangeArrowheads="1"/>
          </p:cNvSpPr>
          <p:nvPr/>
        </p:nvSpPr>
        <p:spPr bwMode="auto">
          <a:xfrm rot="5400000" flipV="1">
            <a:off x="6439694" y="5239544"/>
            <a:ext cx="706438" cy="95250"/>
          </a:xfrm>
          <a:prstGeom prst="curvedUpArrow">
            <a:avLst>
              <a:gd name="adj1" fmla="val 148333"/>
              <a:gd name="adj2" fmla="val 296667"/>
              <a:gd name="adj3" fmla="val 33333"/>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03" name="AutoShape 68"/>
          <p:cNvSpPr>
            <a:spLocks noChangeArrowheads="1"/>
          </p:cNvSpPr>
          <p:nvPr/>
        </p:nvSpPr>
        <p:spPr bwMode="auto">
          <a:xfrm rot="-5400000" flipH="1" flipV="1">
            <a:off x="1889919" y="5141119"/>
            <a:ext cx="706438" cy="95250"/>
          </a:xfrm>
          <a:prstGeom prst="curvedUpArrow">
            <a:avLst>
              <a:gd name="adj1" fmla="val 148333"/>
              <a:gd name="adj2" fmla="val 296667"/>
              <a:gd name="adj3" fmla="val 33333"/>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04" name="Text Box 69"/>
          <p:cNvSpPr txBox="1">
            <a:spLocks noChangeArrowheads="1"/>
          </p:cNvSpPr>
          <p:nvPr/>
        </p:nvSpPr>
        <p:spPr bwMode="auto">
          <a:xfrm>
            <a:off x="5160963" y="5329238"/>
            <a:ext cx="1655762" cy="76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baseline="0">
                <a:latin typeface="Times New Roman" panose="02020603050405020304" pitchFamily="18" charset="0"/>
                <a:ea typeface="Mangal" panose="02040503050203030202" pitchFamily="18" charset="0"/>
              </a:rPr>
              <a:t>GetTail(t)</a:t>
            </a:r>
            <a:endParaRPr lang="en-US" altLang="zh-CN" sz="2400" b="1" baseline="0">
              <a:latin typeface="Times New Roman" panose="02020603050405020304" pitchFamily="18" charset="0"/>
              <a:ea typeface="Mangal" panose="02040503050203030202" pitchFamily="18" charset="0"/>
            </a:endParaRPr>
          </a:p>
          <a:p>
            <a:pPr algn="just" eaLnBrk="1" hangingPunct="1"/>
            <a:r>
              <a:rPr lang="en-US" altLang="zh-CN" sz="2400" b="1" baseline="0">
                <a:latin typeface="Times New Roman" panose="02020603050405020304" pitchFamily="18" charset="0"/>
                <a:ea typeface="Mangal" panose="02040503050203030202" pitchFamily="18" charset="0"/>
              </a:rPr>
              <a:t>2</a:t>
            </a:r>
            <a:r>
              <a:rPr lang="en-US" altLang="zh-CN" sz="2400" b="1" baseline="0">
                <a:latin typeface="Times New Roman" panose="02020603050405020304" pitchFamily="18" charset="0"/>
                <a:cs typeface="Times New Roman" panose="02020603050405020304" pitchFamily="18" charset="0"/>
              </a:rPr>
              <a:t>→</a:t>
            </a:r>
            <a:r>
              <a:rPr lang="en-US" altLang="zh-CN" sz="2400" b="1" baseline="0">
                <a:latin typeface="Times New Roman" panose="02020603050405020304" pitchFamily="18" charset="0"/>
                <a:ea typeface="Mangal" panose="02040503050203030202" pitchFamily="18" charset="0"/>
                <a:cs typeface="Times New Roman" panose="02020603050405020304" pitchFamily="18" charset="0"/>
              </a:rPr>
              <a:t>t</a:t>
            </a:r>
            <a:endParaRPr lang="en-US" altLang="zh-CN" sz="2400" b="1" baseline="0">
              <a:latin typeface="Times New Roman" panose="02020603050405020304" pitchFamily="18" charset="0"/>
              <a:cs typeface="Times New Roman" panose="02020603050405020304" pitchFamily="18" charset="0"/>
            </a:endParaRPr>
          </a:p>
        </p:txBody>
      </p:sp>
      <p:grpSp>
        <p:nvGrpSpPr>
          <p:cNvPr id="140305" name="Group 154"/>
          <p:cNvGrpSpPr/>
          <p:nvPr/>
        </p:nvGrpSpPr>
        <p:grpSpPr bwMode="auto">
          <a:xfrm>
            <a:off x="1185863" y="1557338"/>
            <a:ext cx="1441450" cy="539750"/>
            <a:chOff x="589" y="981"/>
            <a:chExt cx="908" cy="340"/>
          </a:xfrm>
        </p:grpSpPr>
        <p:grpSp>
          <p:nvGrpSpPr>
            <p:cNvPr id="140375" name="Group 152"/>
            <p:cNvGrpSpPr/>
            <p:nvPr/>
          </p:nvGrpSpPr>
          <p:grpSpPr bwMode="auto">
            <a:xfrm>
              <a:off x="589" y="981"/>
              <a:ext cx="908" cy="340"/>
              <a:chOff x="589" y="981"/>
              <a:chExt cx="908" cy="340"/>
            </a:xfrm>
          </p:grpSpPr>
          <p:grpSp>
            <p:nvGrpSpPr>
              <p:cNvPr id="140377" name="Group 151"/>
              <p:cNvGrpSpPr/>
              <p:nvPr/>
            </p:nvGrpSpPr>
            <p:grpSpPr bwMode="auto">
              <a:xfrm>
                <a:off x="589" y="981"/>
                <a:ext cx="908" cy="340"/>
                <a:chOff x="589" y="981"/>
                <a:chExt cx="1338" cy="340"/>
              </a:xfrm>
            </p:grpSpPr>
            <p:sp>
              <p:nvSpPr>
                <p:cNvPr id="140382" name="Rectangle 79"/>
                <p:cNvSpPr>
                  <a:spLocks noChangeArrowheads="1"/>
                </p:cNvSpPr>
                <p:nvPr/>
              </p:nvSpPr>
              <p:spPr bwMode="auto">
                <a:xfrm>
                  <a:off x="590" y="981"/>
                  <a:ext cx="1337" cy="340"/>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83" name="Line 86"/>
                <p:cNvSpPr>
                  <a:spLocks noChangeShapeType="1"/>
                </p:cNvSpPr>
                <p:nvPr/>
              </p:nvSpPr>
              <p:spPr bwMode="auto">
                <a:xfrm>
                  <a:off x="589" y="98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84" name="Line 87"/>
                <p:cNvSpPr>
                  <a:spLocks noChangeShapeType="1"/>
                </p:cNvSpPr>
                <p:nvPr/>
              </p:nvSpPr>
              <p:spPr bwMode="auto">
                <a:xfrm>
                  <a:off x="589" y="132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78" name="Line 80"/>
              <p:cNvSpPr>
                <a:spLocks noChangeShapeType="1"/>
              </p:cNvSpPr>
              <p:nvPr/>
            </p:nvSpPr>
            <p:spPr bwMode="auto">
              <a:xfrm>
                <a:off x="71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79" name="Line 81"/>
              <p:cNvSpPr>
                <a:spLocks noChangeShapeType="1"/>
              </p:cNvSpPr>
              <p:nvPr/>
            </p:nvSpPr>
            <p:spPr bwMode="auto">
              <a:xfrm>
                <a:off x="935"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80" name="Line 82"/>
              <p:cNvSpPr>
                <a:spLocks noChangeShapeType="1"/>
              </p:cNvSpPr>
              <p:nvPr/>
            </p:nvSpPr>
            <p:spPr bwMode="auto">
              <a:xfrm>
                <a:off x="1159"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81" name="Line 83"/>
              <p:cNvSpPr>
                <a:spLocks noChangeShapeType="1"/>
              </p:cNvSpPr>
              <p:nvPr/>
            </p:nvSpPr>
            <p:spPr bwMode="auto">
              <a:xfrm>
                <a:off x="138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76" name="Text Box 88"/>
            <p:cNvSpPr txBox="1">
              <a:spLocks noChangeArrowheads="1"/>
            </p:cNvSpPr>
            <p:nvPr/>
          </p:nvSpPr>
          <p:spPr bwMode="auto">
            <a:xfrm>
              <a:off x="707" y="981"/>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latin typeface="Times New Roman" panose="02020603050405020304" pitchFamily="18" charset="0"/>
                </a:rPr>
                <a:t>1  4  2</a:t>
              </a:r>
              <a:endParaRPr lang="en-US" altLang="zh-CN" sz="2800" b="1" baseline="0">
                <a:latin typeface="Times New Roman" panose="02020603050405020304" pitchFamily="18" charset="0"/>
              </a:endParaRPr>
            </a:p>
          </p:txBody>
        </p:sp>
      </p:grpSp>
      <p:grpSp>
        <p:nvGrpSpPr>
          <p:cNvPr id="140306" name="Group 157"/>
          <p:cNvGrpSpPr/>
          <p:nvPr/>
        </p:nvGrpSpPr>
        <p:grpSpPr bwMode="auto">
          <a:xfrm>
            <a:off x="3600450" y="1557338"/>
            <a:ext cx="1800225" cy="539750"/>
            <a:chOff x="2268" y="981"/>
            <a:chExt cx="1134" cy="340"/>
          </a:xfrm>
        </p:grpSpPr>
        <p:grpSp>
          <p:nvGrpSpPr>
            <p:cNvPr id="140364" name="Group 156"/>
            <p:cNvGrpSpPr/>
            <p:nvPr/>
          </p:nvGrpSpPr>
          <p:grpSpPr bwMode="auto">
            <a:xfrm>
              <a:off x="2268" y="981"/>
              <a:ext cx="1134" cy="340"/>
              <a:chOff x="2268" y="981"/>
              <a:chExt cx="1134" cy="340"/>
            </a:xfrm>
          </p:grpSpPr>
          <p:grpSp>
            <p:nvGrpSpPr>
              <p:cNvPr id="140366" name="Group 155"/>
              <p:cNvGrpSpPr/>
              <p:nvPr/>
            </p:nvGrpSpPr>
            <p:grpSpPr bwMode="auto">
              <a:xfrm>
                <a:off x="2268" y="981"/>
                <a:ext cx="1134" cy="340"/>
                <a:chOff x="2268" y="981"/>
                <a:chExt cx="1338" cy="340"/>
              </a:xfrm>
            </p:grpSpPr>
            <p:sp>
              <p:nvSpPr>
                <p:cNvPr id="140372" name="Rectangle 93"/>
                <p:cNvSpPr>
                  <a:spLocks noChangeArrowheads="1"/>
                </p:cNvSpPr>
                <p:nvPr/>
              </p:nvSpPr>
              <p:spPr bwMode="auto">
                <a:xfrm>
                  <a:off x="2269" y="981"/>
                  <a:ext cx="1337" cy="340"/>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73" name="Line 100"/>
                <p:cNvSpPr>
                  <a:spLocks noChangeShapeType="1"/>
                </p:cNvSpPr>
                <p:nvPr/>
              </p:nvSpPr>
              <p:spPr bwMode="auto">
                <a:xfrm>
                  <a:off x="2268" y="98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74" name="Line 101"/>
                <p:cNvSpPr>
                  <a:spLocks noChangeShapeType="1"/>
                </p:cNvSpPr>
                <p:nvPr/>
              </p:nvSpPr>
              <p:spPr bwMode="auto">
                <a:xfrm>
                  <a:off x="2268" y="132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67" name="Line 94"/>
              <p:cNvSpPr>
                <a:spLocks noChangeShapeType="1"/>
              </p:cNvSpPr>
              <p:nvPr/>
            </p:nvSpPr>
            <p:spPr bwMode="auto">
              <a:xfrm>
                <a:off x="2391"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68" name="Line 95"/>
              <p:cNvSpPr>
                <a:spLocks noChangeShapeType="1"/>
              </p:cNvSpPr>
              <p:nvPr/>
            </p:nvSpPr>
            <p:spPr bwMode="auto">
              <a:xfrm>
                <a:off x="2614"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69" name="Line 96"/>
              <p:cNvSpPr>
                <a:spLocks noChangeShapeType="1"/>
              </p:cNvSpPr>
              <p:nvPr/>
            </p:nvSpPr>
            <p:spPr bwMode="auto">
              <a:xfrm>
                <a:off x="2838"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70" name="Line 97"/>
              <p:cNvSpPr>
                <a:spLocks noChangeShapeType="1"/>
              </p:cNvSpPr>
              <p:nvPr/>
            </p:nvSpPr>
            <p:spPr bwMode="auto">
              <a:xfrm>
                <a:off x="3061"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71" name="Line 98"/>
              <p:cNvSpPr>
                <a:spLocks noChangeShapeType="1"/>
              </p:cNvSpPr>
              <p:nvPr/>
            </p:nvSpPr>
            <p:spPr bwMode="auto">
              <a:xfrm>
                <a:off x="3283"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65" name="Text Box 102"/>
            <p:cNvSpPr txBox="1">
              <a:spLocks noChangeArrowheads="1"/>
            </p:cNvSpPr>
            <p:nvPr/>
          </p:nvSpPr>
          <p:spPr bwMode="auto">
            <a:xfrm>
              <a:off x="2381" y="981"/>
              <a:ext cx="9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solidFill>
                    <a:schemeClr val="tx2"/>
                  </a:solidFill>
                  <a:latin typeface="Times New Roman" panose="02020603050405020304" pitchFamily="18" charset="0"/>
                </a:rPr>
                <a:t>3</a:t>
              </a:r>
              <a:r>
                <a:rPr lang="en-US" altLang="zh-CN" sz="2800" b="1" baseline="0">
                  <a:latin typeface="Times New Roman" panose="02020603050405020304" pitchFamily="18" charset="0"/>
                </a:rPr>
                <a:t>  1  4  2</a:t>
              </a:r>
              <a:endParaRPr lang="en-US" altLang="zh-CN" sz="2800" b="1" baseline="0">
                <a:latin typeface="Times New Roman" panose="02020603050405020304" pitchFamily="18" charset="0"/>
              </a:endParaRPr>
            </a:p>
          </p:txBody>
        </p:sp>
      </p:grpSp>
      <p:grpSp>
        <p:nvGrpSpPr>
          <p:cNvPr id="140307" name="Group 115"/>
          <p:cNvGrpSpPr/>
          <p:nvPr/>
        </p:nvGrpSpPr>
        <p:grpSpPr bwMode="auto">
          <a:xfrm>
            <a:off x="6192838" y="1557338"/>
            <a:ext cx="2124075" cy="539750"/>
            <a:chOff x="3901" y="981"/>
            <a:chExt cx="1338" cy="340"/>
          </a:xfrm>
        </p:grpSpPr>
        <p:grpSp>
          <p:nvGrpSpPr>
            <p:cNvPr id="140353" name="Group 104"/>
            <p:cNvGrpSpPr/>
            <p:nvPr/>
          </p:nvGrpSpPr>
          <p:grpSpPr bwMode="auto">
            <a:xfrm>
              <a:off x="3901" y="981"/>
              <a:ext cx="1338" cy="340"/>
              <a:chOff x="1043" y="2024"/>
              <a:chExt cx="1225" cy="249"/>
            </a:xfrm>
          </p:grpSpPr>
          <p:sp>
            <p:nvSpPr>
              <p:cNvPr id="140355" name="Rectangle 105"/>
              <p:cNvSpPr>
                <a:spLocks noChangeArrowheads="1"/>
              </p:cNvSpPr>
              <p:nvPr/>
            </p:nvSpPr>
            <p:spPr bwMode="auto">
              <a:xfrm>
                <a:off x="1044" y="2024"/>
                <a:ext cx="1224" cy="249"/>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56" name="Line 106"/>
              <p:cNvSpPr>
                <a:spLocks noChangeShapeType="1"/>
              </p:cNvSpPr>
              <p:nvPr/>
            </p:nvSpPr>
            <p:spPr bwMode="auto">
              <a:xfrm>
                <a:off x="1156" y="2024"/>
                <a:ext cx="0" cy="249"/>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57" name="Line 107"/>
              <p:cNvSpPr>
                <a:spLocks noChangeShapeType="1"/>
              </p:cNvSpPr>
              <p:nvPr/>
            </p:nvSpPr>
            <p:spPr bwMode="auto">
              <a:xfrm>
                <a:off x="1360" y="2024"/>
                <a:ext cx="0" cy="249"/>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58" name="Line 108"/>
              <p:cNvSpPr>
                <a:spLocks noChangeShapeType="1"/>
              </p:cNvSpPr>
              <p:nvPr/>
            </p:nvSpPr>
            <p:spPr bwMode="auto">
              <a:xfrm>
                <a:off x="1565" y="2024"/>
                <a:ext cx="0" cy="249"/>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59" name="Line 109"/>
              <p:cNvSpPr>
                <a:spLocks noChangeShapeType="1"/>
              </p:cNvSpPr>
              <p:nvPr/>
            </p:nvSpPr>
            <p:spPr bwMode="auto">
              <a:xfrm>
                <a:off x="1769" y="2024"/>
                <a:ext cx="0" cy="249"/>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60" name="Line 110"/>
              <p:cNvSpPr>
                <a:spLocks noChangeShapeType="1"/>
              </p:cNvSpPr>
              <p:nvPr/>
            </p:nvSpPr>
            <p:spPr bwMode="auto">
              <a:xfrm>
                <a:off x="1972" y="2024"/>
                <a:ext cx="0" cy="249"/>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61" name="Line 111"/>
              <p:cNvSpPr>
                <a:spLocks noChangeShapeType="1"/>
              </p:cNvSpPr>
              <p:nvPr/>
            </p:nvSpPr>
            <p:spPr bwMode="auto">
              <a:xfrm>
                <a:off x="2176" y="2024"/>
                <a:ext cx="0" cy="249"/>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62" name="Line 112"/>
              <p:cNvSpPr>
                <a:spLocks noChangeShapeType="1"/>
              </p:cNvSpPr>
              <p:nvPr/>
            </p:nvSpPr>
            <p:spPr bwMode="auto">
              <a:xfrm>
                <a:off x="1043" y="2024"/>
                <a:ext cx="1225"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63" name="Line 113"/>
              <p:cNvSpPr>
                <a:spLocks noChangeShapeType="1"/>
              </p:cNvSpPr>
              <p:nvPr/>
            </p:nvSpPr>
            <p:spPr bwMode="auto">
              <a:xfrm>
                <a:off x="1043" y="2273"/>
                <a:ext cx="1225"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54" name="Text Box 114"/>
            <p:cNvSpPr txBox="1">
              <a:spLocks noChangeArrowheads="1"/>
            </p:cNvSpPr>
            <p:nvPr/>
          </p:nvSpPr>
          <p:spPr bwMode="auto">
            <a:xfrm>
              <a:off x="4015" y="981"/>
              <a:ext cx="11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latin typeface="Times New Roman" panose="02020603050405020304" pitchFamily="18" charset="0"/>
                </a:rPr>
                <a:t>3  1  4  2  </a:t>
              </a:r>
              <a:r>
                <a:rPr lang="en-US" altLang="zh-CN" sz="2800" b="1" baseline="0">
                  <a:solidFill>
                    <a:schemeClr val="tx2"/>
                  </a:solidFill>
                  <a:latin typeface="Times New Roman" panose="02020603050405020304" pitchFamily="18" charset="0"/>
                </a:rPr>
                <a:t>5</a:t>
              </a:r>
              <a:endParaRPr lang="en-US" altLang="zh-CN" sz="2800" b="1" baseline="0">
                <a:solidFill>
                  <a:schemeClr val="tx2"/>
                </a:solidFill>
                <a:latin typeface="Times New Roman" panose="02020603050405020304" pitchFamily="18" charset="0"/>
              </a:endParaRPr>
            </a:p>
          </p:txBody>
        </p:sp>
      </p:grpSp>
      <p:grpSp>
        <p:nvGrpSpPr>
          <p:cNvPr id="140308" name="Group 160"/>
          <p:cNvGrpSpPr/>
          <p:nvPr/>
        </p:nvGrpSpPr>
        <p:grpSpPr bwMode="auto">
          <a:xfrm>
            <a:off x="2266950" y="2997200"/>
            <a:ext cx="1836738" cy="554038"/>
            <a:chOff x="612" y="1833"/>
            <a:chExt cx="1157" cy="349"/>
          </a:xfrm>
        </p:grpSpPr>
        <p:grpSp>
          <p:nvGrpSpPr>
            <p:cNvPr id="140342" name="Group 159"/>
            <p:cNvGrpSpPr/>
            <p:nvPr/>
          </p:nvGrpSpPr>
          <p:grpSpPr bwMode="auto">
            <a:xfrm>
              <a:off x="612" y="1842"/>
              <a:ext cx="1157" cy="340"/>
              <a:chOff x="612" y="1842"/>
              <a:chExt cx="1157" cy="340"/>
            </a:xfrm>
          </p:grpSpPr>
          <p:grpSp>
            <p:nvGrpSpPr>
              <p:cNvPr id="140344" name="Group 158"/>
              <p:cNvGrpSpPr/>
              <p:nvPr/>
            </p:nvGrpSpPr>
            <p:grpSpPr bwMode="auto">
              <a:xfrm>
                <a:off x="612" y="1842"/>
                <a:ext cx="1157" cy="340"/>
                <a:chOff x="612" y="1842"/>
                <a:chExt cx="1338" cy="340"/>
              </a:xfrm>
            </p:grpSpPr>
            <p:sp>
              <p:nvSpPr>
                <p:cNvPr id="140350" name="Rectangle 118"/>
                <p:cNvSpPr>
                  <a:spLocks noChangeArrowheads="1"/>
                </p:cNvSpPr>
                <p:nvPr/>
              </p:nvSpPr>
              <p:spPr bwMode="auto">
                <a:xfrm>
                  <a:off x="613" y="1842"/>
                  <a:ext cx="1337" cy="340"/>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51" name="Line 125"/>
                <p:cNvSpPr>
                  <a:spLocks noChangeShapeType="1"/>
                </p:cNvSpPr>
                <p:nvPr/>
              </p:nvSpPr>
              <p:spPr bwMode="auto">
                <a:xfrm>
                  <a:off x="612" y="1842"/>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52" name="Line 126"/>
                <p:cNvSpPr>
                  <a:spLocks noChangeShapeType="1"/>
                </p:cNvSpPr>
                <p:nvPr/>
              </p:nvSpPr>
              <p:spPr bwMode="auto">
                <a:xfrm>
                  <a:off x="612" y="2182"/>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45" name="Line 119"/>
              <p:cNvSpPr>
                <a:spLocks noChangeShapeType="1"/>
              </p:cNvSpPr>
              <p:nvPr/>
            </p:nvSpPr>
            <p:spPr bwMode="auto">
              <a:xfrm>
                <a:off x="735" y="1842"/>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6" name="Line 120"/>
              <p:cNvSpPr>
                <a:spLocks noChangeShapeType="1"/>
              </p:cNvSpPr>
              <p:nvPr/>
            </p:nvSpPr>
            <p:spPr bwMode="auto">
              <a:xfrm>
                <a:off x="958" y="1842"/>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7" name="Line 121"/>
              <p:cNvSpPr>
                <a:spLocks noChangeShapeType="1"/>
              </p:cNvSpPr>
              <p:nvPr/>
            </p:nvSpPr>
            <p:spPr bwMode="auto">
              <a:xfrm>
                <a:off x="1182" y="1842"/>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8" name="Line 122"/>
              <p:cNvSpPr>
                <a:spLocks noChangeShapeType="1"/>
              </p:cNvSpPr>
              <p:nvPr/>
            </p:nvSpPr>
            <p:spPr bwMode="auto">
              <a:xfrm>
                <a:off x="1405" y="1842"/>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9" name="Line 123"/>
              <p:cNvSpPr>
                <a:spLocks noChangeShapeType="1"/>
              </p:cNvSpPr>
              <p:nvPr/>
            </p:nvSpPr>
            <p:spPr bwMode="auto">
              <a:xfrm>
                <a:off x="1627" y="1842"/>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43" name="Text Box 127"/>
            <p:cNvSpPr txBox="1">
              <a:spLocks noChangeArrowheads="1"/>
            </p:cNvSpPr>
            <p:nvPr/>
          </p:nvSpPr>
          <p:spPr bwMode="auto">
            <a:xfrm>
              <a:off x="733" y="1833"/>
              <a:ext cx="9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latin typeface="Times New Roman" panose="02020603050405020304" pitchFamily="18" charset="0"/>
                </a:rPr>
                <a:t>1  4  2  5</a:t>
              </a:r>
              <a:endParaRPr lang="en-US" altLang="zh-CN" sz="2800" b="1" baseline="0">
                <a:latin typeface="Times New Roman" panose="02020603050405020304" pitchFamily="18" charset="0"/>
              </a:endParaRPr>
            </a:p>
          </p:txBody>
        </p:sp>
      </p:grpSp>
      <p:grpSp>
        <p:nvGrpSpPr>
          <p:cNvPr id="140309" name="Group 161"/>
          <p:cNvGrpSpPr/>
          <p:nvPr/>
        </p:nvGrpSpPr>
        <p:grpSpPr bwMode="auto">
          <a:xfrm>
            <a:off x="5219700" y="3013075"/>
            <a:ext cx="1441450" cy="539750"/>
            <a:chOff x="589" y="981"/>
            <a:chExt cx="908" cy="340"/>
          </a:xfrm>
        </p:grpSpPr>
        <p:grpSp>
          <p:nvGrpSpPr>
            <p:cNvPr id="140332" name="Group 162"/>
            <p:cNvGrpSpPr/>
            <p:nvPr/>
          </p:nvGrpSpPr>
          <p:grpSpPr bwMode="auto">
            <a:xfrm>
              <a:off x="589" y="981"/>
              <a:ext cx="908" cy="340"/>
              <a:chOff x="589" y="981"/>
              <a:chExt cx="908" cy="340"/>
            </a:xfrm>
          </p:grpSpPr>
          <p:grpSp>
            <p:nvGrpSpPr>
              <p:cNvPr id="140334" name="Group 163"/>
              <p:cNvGrpSpPr/>
              <p:nvPr/>
            </p:nvGrpSpPr>
            <p:grpSpPr bwMode="auto">
              <a:xfrm>
                <a:off x="589" y="981"/>
                <a:ext cx="908" cy="340"/>
                <a:chOff x="589" y="981"/>
                <a:chExt cx="1338" cy="340"/>
              </a:xfrm>
            </p:grpSpPr>
            <p:sp>
              <p:nvSpPr>
                <p:cNvPr id="140339" name="Rectangle 164"/>
                <p:cNvSpPr>
                  <a:spLocks noChangeArrowheads="1"/>
                </p:cNvSpPr>
                <p:nvPr/>
              </p:nvSpPr>
              <p:spPr bwMode="auto">
                <a:xfrm>
                  <a:off x="590" y="981"/>
                  <a:ext cx="1337" cy="340"/>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40" name="Line 165"/>
                <p:cNvSpPr>
                  <a:spLocks noChangeShapeType="1"/>
                </p:cNvSpPr>
                <p:nvPr/>
              </p:nvSpPr>
              <p:spPr bwMode="auto">
                <a:xfrm>
                  <a:off x="589" y="98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41" name="Line 166"/>
                <p:cNvSpPr>
                  <a:spLocks noChangeShapeType="1"/>
                </p:cNvSpPr>
                <p:nvPr/>
              </p:nvSpPr>
              <p:spPr bwMode="auto">
                <a:xfrm>
                  <a:off x="589" y="132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35" name="Line 167"/>
              <p:cNvSpPr>
                <a:spLocks noChangeShapeType="1"/>
              </p:cNvSpPr>
              <p:nvPr/>
            </p:nvSpPr>
            <p:spPr bwMode="auto">
              <a:xfrm>
                <a:off x="71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36" name="Line 168"/>
              <p:cNvSpPr>
                <a:spLocks noChangeShapeType="1"/>
              </p:cNvSpPr>
              <p:nvPr/>
            </p:nvSpPr>
            <p:spPr bwMode="auto">
              <a:xfrm>
                <a:off x="935"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37" name="Line 169"/>
              <p:cNvSpPr>
                <a:spLocks noChangeShapeType="1"/>
              </p:cNvSpPr>
              <p:nvPr/>
            </p:nvSpPr>
            <p:spPr bwMode="auto">
              <a:xfrm>
                <a:off x="1159"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38" name="Line 170"/>
              <p:cNvSpPr>
                <a:spLocks noChangeShapeType="1"/>
              </p:cNvSpPr>
              <p:nvPr/>
            </p:nvSpPr>
            <p:spPr bwMode="auto">
              <a:xfrm>
                <a:off x="138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33" name="Text Box 171"/>
            <p:cNvSpPr txBox="1">
              <a:spLocks noChangeArrowheads="1"/>
            </p:cNvSpPr>
            <p:nvPr/>
          </p:nvSpPr>
          <p:spPr bwMode="auto">
            <a:xfrm>
              <a:off x="707" y="981"/>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latin typeface="Times New Roman" panose="02020603050405020304" pitchFamily="18" charset="0"/>
                </a:rPr>
                <a:t>1  4  2</a:t>
              </a:r>
              <a:endParaRPr lang="en-US" altLang="zh-CN" sz="2800" b="1" baseline="0">
                <a:latin typeface="Times New Roman" panose="02020603050405020304" pitchFamily="18" charset="0"/>
              </a:endParaRPr>
            </a:p>
          </p:txBody>
        </p:sp>
      </p:grpSp>
      <p:grpSp>
        <p:nvGrpSpPr>
          <p:cNvPr id="140310" name="Group 172"/>
          <p:cNvGrpSpPr/>
          <p:nvPr/>
        </p:nvGrpSpPr>
        <p:grpSpPr bwMode="auto">
          <a:xfrm>
            <a:off x="2425700" y="4681538"/>
            <a:ext cx="1441450" cy="539750"/>
            <a:chOff x="589" y="981"/>
            <a:chExt cx="908" cy="340"/>
          </a:xfrm>
        </p:grpSpPr>
        <p:grpSp>
          <p:nvGrpSpPr>
            <p:cNvPr id="140322" name="Group 173"/>
            <p:cNvGrpSpPr/>
            <p:nvPr/>
          </p:nvGrpSpPr>
          <p:grpSpPr bwMode="auto">
            <a:xfrm>
              <a:off x="589" y="981"/>
              <a:ext cx="908" cy="340"/>
              <a:chOff x="589" y="981"/>
              <a:chExt cx="908" cy="340"/>
            </a:xfrm>
          </p:grpSpPr>
          <p:grpSp>
            <p:nvGrpSpPr>
              <p:cNvPr id="140324" name="Group 174"/>
              <p:cNvGrpSpPr/>
              <p:nvPr/>
            </p:nvGrpSpPr>
            <p:grpSpPr bwMode="auto">
              <a:xfrm>
                <a:off x="589" y="981"/>
                <a:ext cx="908" cy="340"/>
                <a:chOff x="589" y="981"/>
                <a:chExt cx="1338" cy="340"/>
              </a:xfrm>
            </p:grpSpPr>
            <p:sp>
              <p:nvSpPr>
                <p:cNvPr id="140329" name="Rectangle 175"/>
                <p:cNvSpPr>
                  <a:spLocks noChangeArrowheads="1"/>
                </p:cNvSpPr>
                <p:nvPr/>
              </p:nvSpPr>
              <p:spPr bwMode="auto">
                <a:xfrm>
                  <a:off x="590" y="981"/>
                  <a:ext cx="1337" cy="340"/>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30" name="Line 176"/>
                <p:cNvSpPr>
                  <a:spLocks noChangeShapeType="1"/>
                </p:cNvSpPr>
                <p:nvPr/>
              </p:nvSpPr>
              <p:spPr bwMode="auto">
                <a:xfrm>
                  <a:off x="589" y="98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31" name="Line 177"/>
                <p:cNvSpPr>
                  <a:spLocks noChangeShapeType="1"/>
                </p:cNvSpPr>
                <p:nvPr/>
              </p:nvSpPr>
              <p:spPr bwMode="auto">
                <a:xfrm>
                  <a:off x="589" y="132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25" name="Line 178"/>
              <p:cNvSpPr>
                <a:spLocks noChangeShapeType="1"/>
              </p:cNvSpPr>
              <p:nvPr/>
            </p:nvSpPr>
            <p:spPr bwMode="auto">
              <a:xfrm>
                <a:off x="71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26" name="Line 179"/>
              <p:cNvSpPr>
                <a:spLocks noChangeShapeType="1"/>
              </p:cNvSpPr>
              <p:nvPr/>
            </p:nvSpPr>
            <p:spPr bwMode="auto">
              <a:xfrm>
                <a:off x="935"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27" name="Line 180"/>
              <p:cNvSpPr>
                <a:spLocks noChangeShapeType="1"/>
              </p:cNvSpPr>
              <p:nvPr/>
            </p:nvSpPr>
            <p:spPr bwMode="auto">
              <a:xfrm>
                <a:off x="1159"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28" name="Line 181"/>
              <p:cNvSpPr>
                <a:spLocks noChangeShapeType="1"/>
              </p:cNvSpPr>
              <p:nvPr/>
            </p:nvSpPr>
            <p:spPr bwMode="auto">
              <a:xfrm>
                <a:off x="138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23" name="Text Box 182"/>
            <p:cNvSpPr txBox="1">
              <a:spLocks noChangeArrowheads="1"/>
            </p:cNvSpPr>
            <p:nvPr/>
          </p:nvSpPr>
          <p:spPr bwMode="auto">
            <a:xfrm>
              <a:off x="707" y="981"/>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latin typeface="Times New Roman" panose="02020603050405020304" pitchFamily="18" charset="0"/>
                </a:rPr>
                <a:t>1  4  2</a:t>
              </a:r>
              <a:endParaRPr lang="en-US" altLang="zh-CN" sz="2800" b="1" baseline="0">
                <a:latin typeface="Times New Roman" panose="02020603050405020304" pitchFamily="18" charset="0"/>
              </a:endParaRPr>
            </a:p>
          </p:txBody>
        </p:sp>
      </p:grpSp>
      <p:grpSp>
        <p:nvGrpSpPr>
          <p:cNvPr id="140311" name="Group 183"/>
          <p:cNvGrpSpPr/>
          <p:nvPr/>
        </p:nvGrpSpPr>
        <p:grpSpPr bwMode="auto">
          <a:xfrm>
            <a:off x="5233988" y="4681538"/>
            <a:ext cx="1441450" cy="539750"/>
            <a:chOff x="589" y="981"/>
            <a:chExt cx="908" cy="340"/>
          </a:xfrm>
        </p:grpSpPr>
        <p:grpSp>
          <p:nvGrpSpPr>
            <p:cNvPr id="140312" name="Group 184"/>
            <p:cNvGrpSpPr/>
            <p:nvPr/>
          </p:nvGrpSpPr>
          <p:grpSpPr bwMode="auto">
            <a:xfrm>
              <a:off x="589" y="981"/>
              <a:ext cx="908" cy="340"/>
              <a:chOff x="589" y="981"/>
              <a:chExt cx="908" cy="340"/>
            </a:xfrm>
          </p:grpSpPr>
          <p:grpSp>
            <p:nvGrpSpPr>
              <p:cNvPr id="140314" name="Group 185"/>
              <p:cNvGrpSpPr/>
              <p:nvPr/>
            </p:nvGrpSpPr>
            <p:grpSpPr bwMode="auto">
              <a:xfrm>
                <a:off x="589" y="981"/>
                <a:ext cx="908" cy="340"/>
                <a:chOff x="589" y="981"/>
                <a:chExt cx="1338" cy="340"/>
              </a:xfrm>
            </p:grpSpPr>
            <p:sp>
              <p:nvSpPr>
                <p:cNvPr id="140319" name="Rectangle 186"/>
                <p:cNvSpPr>
                  <a:spLocks noChangeArrowheads="1"/>
                </p:cNvSpPr>
                <p:nvPr/>
              </p:nvSpPr>
              <p:spPr bwMode="auto">
                <a:xfrm>
                  <a:off x="590" y="981"/>
                  <a:ext cx="1337" cy="340"/>
                </a:xfrm>
                <a:prstGeom prst="rect">
                  <a:avLst/>
                </a:prstGeom>
                <a:solidFill>
                  <a:srgbClr val="FFFF99"/>
                </a:solidFill>
                <a:ln>
                  <a:noFill/>
                </a:ln>
                <a:effectLst/>
                <a:extLs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0320" name="Line 187"/>
                <p:cNvSpPr>
                  <a:spLocks noChangeShapeType="1"/>
                </p:cNvSpPr>
                <p:nvPr/>
              </p:nvSpPr>
              <p:spPr bwMode="auto">
                <a:xfrm>
                  <a:off x="589" y="98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21" name="Line 188"/>
                <p:cNvSpPr>
                  <a:spLocks noChangeShapeType="1"/>
                </p:cNvSpPr>
                <p:nvPr/>
              </p:nvSpPr>
              <p:spPr bwMode="auto">
                <a:xfrm>
                  <a:off x="589" y="1321"/>
                  <a:ext cx="1338" cy="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15" name="Line 189"/>
              <p:cNvSpPr>
                <a:spLocks noChangeShapeType="1"/>
              </p:cNvSpPr>
              <p:nvPr/>
            </p:nvSpPr>
            <p:spPr bwMode="auto">
              <a:xfrm>
                <a:off x="71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16" name="Line 190"/>
              <p:cNvSpPr>
                <a:spLocks noChangeShapeType="1"/>
              </p:cNvSpPr>
              <p:nvPr/>
            </p:nvSpPr>
            <p:spPr bwMode="auto">
              <a:xfrm>
                <a:off x="935"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17" name="Line 191"/>
              <p:cNvSpPr>
                <a:spLocks noChangeShapeType="1"/>
              </p:cNvSpPr>
              <p:nvPr/>
            </p:nvSpPr>
            <p:spPr bwMode="auto">
              <a:xfrm>
                <a:off x="1159"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18" name="Line 192"/>
              <p:cNvSpPr>
                <a:spLocks noChangeShapeType="1"/>
              </p:cNvSpPr>
              <p:nvPr/>
            </p:nvSpPr>
            <p:spPr bwMode="auto">
              <a:xfrm>
                <a:off x="1382" y="981"/>
                <a:ext cx="0" cy="340"/>
              </a:xfrm>
              <a:prstGeom prst="line">
                <a:avLst/>
              </a:prstGeom>
              <a:noFill/>
              <a:ln w="19050">
                <a:solidFill>
                  <a:srgbClr val="008000"/>
                </a:solidFill>
                <a:round/>
                <a:head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13" name="Text Box 193"/>
            <p:cNvSpPr txBox="1">
              <a:spLocks noChangeArrowheads="1"/>
            </p:cNvSpPr>
            <p:nvPr/>
          </p:nvSpPr>
          <p:spPr bwMode="auto">
            <a:xfrm>
              <a:off x="707" y="981"/>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8000"/>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aseline="30000">
                  <a:solidFill>
                    <a:schemeClr val="tx1"/>
                  </a:solidFill>
                  <a:latin typeface="Arial" panose="020B0604020202020204" pitchFamily="34" charset="0"/>
                  <a:ea typeface="宋体" panose="02010600030101010101" pitchFamily="2" charset="-122"/>
                </a:defRPr>
              </a:lvl1pPr>
              <a:lvl2pPr marL="742950" indent="-285750">
                <a:defRPr baseline="30000">
                  <a:solidFill>
                    <a:schemeClr val="tx1"/>
                  </a:solidFill>
                  <a:latin typeface="Arial" panose="020B0604020202020204" pitchFamily="34" charset="0"/>
                  <a:ea typeface="宋体" panose="02010600030101010101" pitchFamily="2" charset="-122"/>
                </a:defRPr>
              </a:lvl2pPr>
              <a:lvl3pPr marL="1143000" indent="-228600">
                <a:defRPr baseline="30000">
                  <a:solidFill>
                    <a:schemeClr val="tx1"/>
                  </a:solidFill>
                  <a:latin typeface="Arial" panose="020B0604020202020204" pitchFamily="34" charset="0"/>
                  <a:ea typeface="宋体" panose="02010600030101010101" pitchFamily="2" charset="-122"/>
                </a:defRPr>
              </a:lvl3pPr>
              <a:lvl4pPr marL="1600200" indent="-228600">
                <a:defRPr baseline="30000">
                  <a:solidFill>
                    <a:schemeClr val="tx1"/>
                  </a:solidFill>
                  <a:latin typeface="Arial" panose="020B0604020202020204" pitchFamily="34" charset="0"/>
                  <a:ea typeface="宋体" panose="02010600030101010101" pitchFamily="2" charset="-122"/>
                </a:defRPr>
              </a:lvl4pPr>
              <a:lvl5pPr marL="2057400" indent="-228600">
                <a:defRPr baseline="30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baseline="0">
                  <a:latin typeface="Times New Roman" panose="02020603050405020304" pitchFamily="18" charset="0"/>
                </a:rPr>
                <a:t>1  4  2</a:t>
              </a:r>
              <a:endParaRPr lang="en-US" altLang="zh-CN" sz="2800" b="1" baseline="0">
                <a:latin typeface="Times New Roman" panose="02020603050405020304" pitchFamily="18" charset="0"/>
              </a:endParaRPr>
            </a:p>
          </p:txBody>
        </p:sp>
      </p:grpSp>
    </p:spTree>
  </p:cSld>
  <p:clrMapOvr>
    <a:masterClrMapping/>
  </p:clrMapOvr>
  <p:transition>
    <p:spli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zh-CN" altLang="en-US"/>
              <a:t>小结</a:t>
            </a:r>
            <a:endParaRPr lang="zh-CN" altLang="en-US"/>
          </a:p>
        </p:txBody>
      </p:sp>
      <p:sp>
        <p:nvSpPr>
          <p:cNvPr id="120835" name="Rectangle 3"/>
          <p:cNvSpPr>
            <a:spLocks noGrp="1" noChangeArrowheads="1"/>
          </p:cNvSpPr>
          <p:nvPr>
            <p:ph idx="1"/>
          </p:nvPr>
        </p:nvSpPr>
        <p:spPr/>
        <p:txBody>
          <a:bodyPr>
            <a:normAutofit lnSpcReduction="10000"/>
          </a:bodyPr>
          <a:lstStyle/>
          <a:p>
            <a:pPr eaLnBrk="1" hangingPunct="1"/>
            <a:r>
              <a:rPr lang="zh-CN" altLang="en-US" dirty="0"/>
              <a:t>栈</a:t>
            </a:r>
            <a:endParaRPr lang="zh-CN" altLang="en-US" dirty="0"/>
          </a:p>
          <a:p>
            <a:pPr lvl="1" eaLnBrk="1" hangingPunct="1"/>
            <a:r>
              <a:rPr lang="zh-CN" altLang="en-US" dirty="0"/>
              <a:t>表达式求值</a:t>
            </a:r>
            <a:endParaRPr lang="en-US" altLang="zh-CN" dirty="0"/>
          </a:p>
          <a:p>
            <a:pPr lvl="1" eaLnBrk="1" hangingPunct="1"/>
            <a:r>
              <a:rPr lang="zh-CN" altLang="en-US" dirty="0"/>
              <a:t>栈与递归</a:t>
            </a:r>
            <a:endParaRPr lang="zh-CN" altLang="en-US" dirty="0"/>
          </a:p>
          <a:p>
            <a:pPr lvl="1" eaLnBrk="1" hangingPunct="1"/>
            <a:r>
              <a:rPr lang="zh-CN" altLang="en-US" dirty="0"/>
              <a:t>搜索与回溯</a:t>
            </a:r>
            <a:endParaRPr lang="zh-CN" altLang="en-US" dirty="0"/>
          </a:p>
          <a:p>
            <a:pPr eaLnBrk="1" hangingPunct="1"/>
            <a:r>
              <a:rPr lang="zh-CN" altLang="en-US" dirty="0"/>
              <a:t>队列</a:t>
            </a:r>
            <a:endParaRPr lang="zh-CN" altLang="en-US" dirty="0"/>
          </a:p>
          <a:p>
            <a:pPr lvl="1" eaLnBrk="1" hangingPunct="1"/>
            <a:r>
              <a:rPr lang="zh-CN" altLang="en-US" dirty="0"/>
              <a:t>普通队列</a:t>
            </a:r>
            <a:endParaRPr lang="zh-CN" altLang="en-US" dirty="0"/>
          </a:p>
          <a:p>
            <a:pPr lvl="1" eaLnBrk="1" hangingPunct="1"/>
            <a:r>
              <a:rPr lang="zh-CN" altLang="en-US" dirty="0"/>
              <a:t>优先级队列</a:t>
            </a:r>
            <a:endParaRPr lang="zh-CN" altLang="en-US" dirty="0"/>
          </a:p>
          <a:p>
            <a:pPr lvl="1" eaLnBrk="1" hangingPunct="1"/>
            <a:r>
              <a:rPr lang="zh-CN" altLang="en-US" dirty="0"/>
              <a:t>双端队列</a:t>
            </a:r>
            <a:endParaRPr lang="zh-CN" altLang="en-US"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zh-CN" altLang="en-US"/>
              <a:t>常见题型</a:t>
            </a:r>
            <a:endParaRPr lang="zh-CN" altLang="en-US"/>
          </a:p>
        </p:txBody>
      </p:sp>
      <p:sp>
        <p:nvSpPr>
          <p:cNvPr id="121859" name="Rectangle 3"/>
          <p:cNvSpPr>
            <a:spLocks noGrp="1" noChangeArrowheads="1"/>
          </p:cNvSpPr>
          <p:nvPr>
            <p:ph idx="1"/>
          </p:nvPr>
        </p:nvSpPr>
        <p:spPr/>
        <p:txBody>
          <a:bodyPr/>
          <a:lstStyle/>
          <a:p>
            <a:pPr eaLnBrk="1" hangingPunct="1">
              <a:lnSpc>
                <a:spcPct val="80000"/>
              </a:lnSpc>
            </a:pPr>
            <a:r>
              <a:rPr lang="zh-CN" altLang="en-US" sz="1800" dirty="0"/>
              <a:t>栈</a:t>
            </a:r>
            <a:endParaRPr lang="zh-CN" altLang="en-US" sz="1800" dirty="0"/>
          </a:p>
          <a:p>
            <a:pPr lvl="1" eaLnBrk="1" hangingPunct="1">
              <a:lnSpc>
                <a:spcPct val="80000"/>
              </a:lnSpc>
            </a:pPr>
            <a:r>
              <a:rPr lang="zh-CN" altLang="en-US" sz="1600" dirty="0"/>
              <a:t>进栈出栈分析（给定入栈顺序求合法的出栈顺序、判断栈的大小</a:t>
            </a:r>
            <a:r>
              <a:rPr lang="en-US" altLang="zh-CN" sz="1600" dirty="0"/>
              <a:t>…</a:t>
            </a:r>
            <a:r>
              <a:rPr lang="zh-CN" altLang="en-US" sz="1600" dirty="0"/>
              <a:t>）</a:t>
            </a:r>
            <a:endParaRPr lang="zh-CN" altLang="en-US" sz="1600" dirty="0"/>
          </a:p>
          <a:p>
            <a:pPr lvl="2" eaLnBrk="1" hangingPunct="1">
              <a:lnSpc>
                <a:spcPct val="80000"/>
              </a:lnSpc>
              <a:buFontTx/>
              <a:buNone/>
            </a:pPr>
            <a:r>
              <a:rPr lang="zh-CN" altLang="en-US" sz="1600" dirty="0"/>
              <a:t>例如：数制转换，表达式计算，中缀转后缀</a:t>
            </a:r>
            <a:endParaRPr lang="zh-CN" altLang="en-US" sz="1600" dirty="0"/>
          </a:p>
          <a:p>
            <a:pPr lvl="1" eaLnBrk="1" hangingPunct="1">
              <a:lnSpc>
                <a:spcPct val="80000"/>
              </a:lnSpc>
            </a:pPr>
            <a:r>
              <a:rPr lang="zh-CN" altLang="en-US" sz="1600" dirty="0"/>
              <a:t>递归算法时间复杂度分析</a:t>
            </a:r>
            <a:endParaRPr lang="zh-CN" altLang="en-US" sz="1600" dirty="0"/>
          </a:p>
          <a:p>
            <a:pPr lvl="1" eaLnBrk="1" hangingPunct="1">
              <a:lnSpc>
                <a:spcPct val="80000"/>
              </a:lnSpc>
            </a:pPr>
            <a:r>
              <a:rPr lang="zh-CN" altLang="en-US" sz="1600" dirty="0"/>
              <a:t>递归算法设计，搜索和回溯问题</a:t>
            </a:r>
            <a:endParaRPr lang="zh-CN" altLang="en-US" sz="1600" dirty="0"/>
          </a:p>
          <a:p>
            <a:pPr lvl="1" eaLnBrk="1" hangingPunct="1">
              <a:lnSpc>
                <a:spcPct val="80000"/>
              </a:lnSpc>
            </a:pPr>
            <a:r>
              <a:rPr lang="zh-CN" altLang="en-US" sz="1600" dirty="0"/>
              <a:t>递归转非递归</a:t>
            </a:r>
            <a:endParaRPr lang="zh-CN" altLang="en-US" sz="1600" dirty="0"/>
          </a:p>
          <a:p>
            <a:pPr eaLnBrk="1" hangingPunct="1">
              <a:lnSpc>
                <a:spcPct val="80000"/>
              </a:lnSpc>
            </a:pPr>
            <a:r>
              <a:rPr lang="zh-CN" altLang="en-US" sz="1800" dirty="0"/>
              <a:t>队列</a:t>
            </a:r>
            <a:endParaRPr lang="zh-CN" altLang="en-US" sz="1800" dirty="0"/>
          </a:p>
          <a:p>
            <a:pPr lvl="1" eaLnBrk="1" hangingPunct="1">
              <a:lnSpc>
                <a:spcPct val="80000"/>
              </a:lnSpc>
            </a:pPr>
            <a:r>
              <a:rPr lang="zh-CN" altLang="en-US" sz="1600" dirty="0"/>
              <a:t>入队出队分析</a:t>
            </a:r>
            <a:endParaRPr lang="zh-CN" altLang="en-US" sz="1600" dirty="0"/>
          </a:p>
          <a:p>
            <a:pPr lvl="1" eaLnBrk="1" hangingPunct="1">
              <a:lnSpc>
                <a:spcPct val="80000"/>
              </a:lnSpc>
            </a:pPr>
            <a:r>
              <a:rPr lang="zh-CN" altLang="en-US" sz="1600" dirty="0"/>
              <a:t>队列头尾位置计算</a:t>
            </a:r>
            <a:endParaRPr lang="zh-CN" altLang="en-US" sz="1600" dirty="0"/>
          </a:p>
          <a:p>
            <a:pPr lvl="2" eaLnBrk="1" hangingPunct="1">
              <a:lnSpc>
                <a:spcPct val="80000"/>
              </a:lnSpc>
            </a:pPr>
            <a:r>
              <a:rPr lang="zh-CN" altLang="en-US" sz="1400" dirty="0"/>
              <a:t>例如：用数组</a:t>
            </a:r>
            <a:r>
              <a:rPr lang="en-US" altLang="zh-CN" sz="1400" dirty="0"/>
              <a:t>a[21]</a:t>
            </a:r>
            <a:r>
              <a:rPr lang="zh-CN" altLang="en-US" sz="1400" dirty="0"/>
              <a:t>实现循环队列，当前队头和队尾指针分别指向</a:t>
            </a:r>
            <a:r>
              <a:rPr lang="en-US" altLang="zh-CN" sz="1400" dirty="0"/>
              <a:t>8</a:t>
            </a:r>
            <a:r>
              <a:rPr lang="zh-CN" altLang="en-US" sz="1400" dirty="0"/>
              <a:t>和</a:t>
            </a:r>
            <a:r>
              <a:rPr lang="en-US" altLang="zh-CN" sz="1400" dirty="0"/>
              <a:t>3</a:t>
            </a:r>
            <a:r>
              <a:rPr lang="zh-CN" altLang="en-US" sz="1400" dirty="0"/>
              <a:t>，求该队列的当前长度。（</a:t>
            </a:r>
            <a:r>
              <a:rPr lang="zh-CN" altLang="en-US" sz="1200" dirty="0"/>
              <a:t>答：</a:t>
            </a:r>
            <a:r>
              <a:rPr lang="en-US" altLang="zh-CN" sz="1200" dirty="0"/>
              <a:t>16</a:t>
            </a:r>
            <a:r>
              <a:rPr lang="zh-CN" altLang="en-US" sz="1200" dirty="0"/>
              <a:t>）</a:t>
            </a:r>
            <a:endParaRPr lang="en-US" altLang="zh-CN" sz="1200" dirty="0"/>
          </a:p>
          <a:p>
            <a:pPr eaLnBrk="1" hangingPunct="1">
              <a:lnSpc>
                <a:spcPct val="80000"/>
              </a:lnSpc>
            </a:pPr>
            <a:r>
              <a:rPr lang="zh-CN" altLang="en-US" sz="1800" dirty="0"/>
              <a:t>栈和队列</a:t>
            </a:r>
            <a:endParaRPr lang="zh-CN" altLang="en-US" sz="1800" dirty="0"/>
          </a:p>
          <a:p>
            <a:pPr lvl="1" eaLnBrk="1" hangingPunct="1">
              <a:lnSpc>
                <a:spcPct val="80000"/>
              </a:lnSpc>
            </a:pPr>
            <a:r>
              <a:rPr lang="zh-CN" altLang="en-US" sz="1600" dirty="0"/>
              <a:t>例：用两个栈实现队列操作，在队中插入或删除一个元素的时间复杂度（</a:t>
            </a:r>
            <a:r>
              <a:rPr lang="en-US" altLang="zh-CN" sz="1400" dirty="0"/>
              <a:t>O(n)</a:t>
            </a:r>
            <a:r>
              <a:rPr lang="zh-CN" altLang="en-US" sz="1400" dirty="0"/>
              <a:t>） 。</a:t>
            </a:r>
            <a:endParaRPr lang="en-US" altLang="zh-CN" sz="1400" dirty="0"/>
          </a:p>
        </p:txBody>
      </p:sp>
      <p:sp>
        <p:nvSpPr>
          <p:cNvPr id="3" name="灯片编号占位符 2"/>
          <p:cNvSpPr>
            <a:spLocks noGrp="1"/>
          </p:cNvSpPr>
          <p:nvPr>
            <p:ph type="sldNum" sz="quarter" idx="12"/>
          </p:nvPr>
        </p:nvSpPr>
        <p:spPr/>
        <p:txBody>
          <a:bodyPr/>
          <a:lstStyle/>
          <a:p>
            <a:pPr>
              <a:defRPr/>
            </a:pPr>
            <a:fld id="{DF308279-E53A-43DB-B3B3-E0353D0AA00E}" type="slidenum">
              <a:rPr lang="en-US" altLang="zh-CN" smtClean="0"/>
            </a:fld>
            <a:endParaRPr lang="en-US" altLang="zh-CN"/>
          </a:p>
        </p:txBody>
      </p:sp>
    </p:spTree>
  </p:cSld>
  <p:clrMapOvr>
    <a:masterClrMapping/>
  </p:clrMapOvr>
  <p:transition>
    <p:spli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第</a:t>
            </a:r>
            <a:r>
              <a:rPr lang="en-US" altLang="zh-CN" dirty="0"/>
              <a:t>3</a:t>
            </a:r>
            <a:r>
              <a:rPr lang="zh-CN" altLang="en-US" dirty="0"/>
              <a:t>章作业</a:t>
            </a:r>
            <a:r>
              <a:rPr lang="en-US" altLang="zh-CN" dirty="0"/>
              <a:t>2</a:t>
            </a:r>
            <a:r>
              <a:rPr lang="zh-CN" altLang="en-US" dirty="0"/>
              <a:t>（</a:t>
            </a:r>
            <a:r>
              <a:rPr lang="en-US" altLang="zh-CN" dirty="0"/>
              <a:t>1</a:t>
            </a:r>
            <a:r>
              <a:rPr lang="zh-CN" altLang="en-US" dirty="0"/>
              <a:t>）</a:t>
            </a:r>
            <a:endParaRPr lang="zh-CN" altLang="en-US" dirty="0"/>
          </a:p>
        </p:txBody>
      </p:sp>
      <p:sp>
        <p:nvSpPr>
          <p:cNvPr id="6" name="内容占位符 5"/>
          <p:cNvSpPr>
            <a:spLocks noGrp="1"/>
          </p:cNvSpPr>
          <p:nvPr>
            <p:ph idx="1"/>
          </p:nvPr>
        </p:nvSpPr>
        <p:spPr>
          <a:xfrm>
            <a:off x="628650" y="1825625"/>
            <a:ext cx="7886700" cy="4667250"/>
          </a:xfrm>
        </p:spPr>
        <p:txBody>
          <a:bodyPr>
            <a:normAutofit fontScale="70000" lnSpcReduction="20000"/>
          </a:bodyPr>
          <a:lstStyle/>
          <a:p>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r>
              <a:rPr lang="en-US" altLang="zh-CN" dirty="0"/>
              <a:t>1. </a:t>
            </a:r>
            <a:r>
              <a:rPr lang="zh-CN" altLang="en-US" dirty="0"/>
              <a:t>已知</a:t>
            </a:r>
            <a:r>
              <a:rPr lang="en-US" altLang="zh-CN" dirty="0"/>
              <a:t>Ackerman</a:t>
            </a:r>
            <a:r>
              <a:rPr lang="zh-CN" altLang="en-US" dirty="0"/>
              <a:t>函数定义如下：</a:t>
            </a:r>
            <a:endParaRPr lang="zh-CN" altLang="en-US" dirty="0"/>
          </a:p>
          <a:p>
            <a:pPr lvl="1"/>
            <a:r>
              <a:rPr lang="en-US" altLang="zh-CN" dirty="0"/>
              <a:t>(1) </a:t>
            </a:r>
            <a:r>
              <a:rPr lang="zh-CN" altLang="en-US" dirty="0"/>
              <a:t>写出递归算法；</a:t>
            </a:r>
            <a:endParaRPr lang="zh-CN" altLang="en-US" dirty="0"/>
          </a:p>
          <a:p>
            <a:pPr lvl="1"/>
            <a:r>
              <a:rPr lang="en-US" altLang="zh-CN" dirty="0"/>
              <a:t>(2) </a:t>
            </a:r>
            <a:r>
              <a:rPr lang="zh-CN" altLang="en-US" dirty="0"/>
              <a:t>利用栈，写出非递归算法；</a:t>
            </a:r>
            <a:endParaRPr lang="zh-CN" altLang="en-US" dirty="0"/>
          </a:p>
          <a:p>
            <a:endParaRPr lang="en-US" altLang="zh-CN" dirty="0"/>
          </a:p>
          <a:p>
            <a:endParaRPr lang="en-US" altLang="zh-CN" dirty="0"/>
          </a:p>
          <a:p>
            <a:endParaRPr lang="en-US" altLang="zh-CN" dirty="0"/>
          </a:p>
          <a:p>
            <a:endParaRPr lang="en-US" altLang="zh-CN" dirty="0"/>
          </a:p>
          <a:p>
            <a:r>
              <a:rPr lang="en-US" altLang="zh-CN" dirty="0"/>
              <a:t>2. </a:t>
            </a:r>
            <a:r>
              <a:rPr lang="zh-CN" altLang="en-US" dirty="0"/>
              <a:t>参考</a:t>
            </a:r>
            <a:r>
              <a:rPr lang="en-US" altLang="zh-CN" dirty="0"/>
              <a:t>PPT</a:t>
            </a:r>
            <a:r>
              <a:rPr lang="zh-CN" altLang="en-US" dirty="0"/>
              <a:t>的</a:t>
            </a:r>
            <a:r>
              <a:rPr lang="en-US" altLang="zh-CN" dirty="0" err="1"/>
              <a:t>LinkedQueue</a:t>
            </a:r>
            <a:r>
              <a:rPr lang="zh-CN" altLang="en-US" dirty="0"/>
              <a:t>和优先级队列</a:t>
            </a:r>
            <a:r>
              <a:rPr lang="en-US" altLang="zh-CN" dirty="0" err="1"/>
              <a:t>PQueue</a:t>
            </a:r>
            <a:r>
              <a:rPr lang="zh-CN" altLang="en-US" dirty="0"/>
              <a:t>的定义，给出链式优先级队列</a:t>
            </a:r>
            <a:r>
              <a:rPr lang="en-US" altLang="zh-CN" dirty="0" err="1"/>
              <a:t>LinkedPrQueue</a:t>
            </a:r>
            <a:r>
              <a:rPr lang="zh-CN" altLang="en-US" dirty="0"/>
              <a:t>的类定义及其入队和出队操作。</a:t>
            </a:r>
            <a:endParaRPr lang="en-US" altLang="zh-CN" dirty="0"/>
          </a:p>
          <a:p>
            <a:endParaRPr lang="zh-CN" altLang="en-US" dirty="0"/>
          </a:p>
        </p:txBody>
      </p:sp>
      <p:sp>
        <p:nvSpPr>
          <p:cNvPr id="3" name="灯片编号占位符 2"/>
          <p:cNvSpPr>
            <a:spLocks noGrp="1"/>
          </p:cNvSpPr>
          <p:nvPr>
            <p:ph type="sldNum" sz="quarter" idx="12"/>
          </p:nvPr>
        </p:nvSpPr>
        <p:spPr/>
        <p:txBody>
          <a:bodyPr/>
          <a:lstStyle/>
          <a:p>
            <a:fld id="{F8797D24-BD3E-4AE6-B8C6-197600D909F3}" type="slidenum">
              <a:rPr lang="en-US" altLang="zh-CN" smtClean="0"/>
            </a:fld>
            <a:endParaRPr lang="en-US" altLang="zh-CN"/>
          </a:p>
        </p:txBody>
      </p:sp>
      <p:graphicFrame>
        <p:nvGraphicFramePr>
          <p:cNvPr id="141314" name="Object 2"/>
          <p:cNvGraphicFramePr>
            <a:graphicFrameLocks noChangeAspect="1"/>
          </p:cNvGraphicFramePr>
          <p:nvPr/>
        </p:nvGraphicFramePr>
        <p:xfrm>
          <a:off x="971600" y="3645024"/>
          <a:ext cx="6768874" cy="1512168"/>
        </p:xfrm>
        <a:graphic>
          <a:graphicData uri="http://schemas.openxmlformats.org/presentationml/2006/ole">
            <mc:AlternateContent xmlns:mc="http://schemas.openxmlformats.org/markup-compatibility/2006">
              <mc:Choice xmlns:v="urn:schemas-microsoft-com:vml" Requires="v">
                <p:oleObj spid="_x0000_s0" name="公式" r:id="rId1" imgW="3199130" imgH="711200" progId="Equation.3">
                  <p:embed/>
                </p:oleObj>
              </mc:Choice>
              <mc:Fallback>
                <p:oleObj name="公式" r:id="rId1" imgW="3199130" imgH="711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645024"/>
                        <a:ext cx="6768874" cy="1512168"/>
                      </a:xfrm>
                      <a:prstGeom prst="rect">
                        <a:avLst/>
                      </a:prstGeom>
                      <a:noFill/>
                    </p:spPr>
                  </p:pic>
                </p:oleObj>
              </mc:Fallback>
            </mc:AlternateContent>
          </a:graphicData>
        </a:graphic>
      </p:graphicFrame>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3</a:t>
            </a:r>
            <a:r>
              <a:rPr lang="zh-CN" altLang="en-US" dirty="0"/>
              <a:t>章作业</a:t>
            </a:r>
            <a:r>
              <a:rPr lang="en-US" altLang="zh-CN" dirty="0"/>
              <a:t>2</a:t>
            </a:r>
            <a:r>
              <a:rPr lang="zh-CN" altLang="en-US" dirty="0"/>
              <a:t>（</a:t>
            </a:r>
            <a:r>
              <a:rPr lang="en-US" altLang="zh-CN" dirty="0"/>
              <a:t>2</a:t>
            </a:r>
            <a:r>
              <a:rPr lang="zh-CN" altLang="en-US" dirty="0"/>
              <a:t>）</a:t>
            </a:r>
            <a:endParaRPr lang="zh-CN" altLang="en-US" dirty="0"/>
          </a:p>
        </p:txBody>
      </p:sp>
      <p:sp>
        <p:nvSpPr>
          <p:cNvPr id="3" name="内容占位符 2"/>
          <p:cNvSpPr>
            <a:spLocks noGrp="1"/>
          </p:cNvSpPr>
          <p:nvPr>
            <p:ph idx="1"/>
          </p:nvPr>
        </p:nvSpPr>
        <p:spPr>
          <a:xfrm>
            <a:off x="628650" y="1589768"/>
            <a:ext cx="7886700" cy="1603375"/>
          </a:xfrm>
        </p:spPr>
        <p:txBody>
          <a:bodyPr>
            <a:normAutofit fontScale="62500" lnSpcReduction="20000"/>
          </a:bodyPr>
          <a:lstStyle/>
          <a:p>
            <a:r>
              <a:rPr lang="en-US" altLang="zh-CN" dirty="0"/>
              <a:t>3. n</a:t>
            </a:r>
            <a:r>
              <a:rPr lang="zh-CN" altLang="en-US" dirty="0"/>
              <a:t>皇后问题：用 </a:t>
            </a:r>
            <a:r>
              <a:rPr lang="en-US" altLang="zh-CN" dirty="0"/>
              <a:t>n </a:t>
            </a:r>
            <a:r>
              <a:rPr lang="zh-CN" altLang="en-US" dirty="0"/>
              <a:t>行 </a:t>
            </a:r>
            <a:r>
              <a:rPr lang="en-US" altLang="zh-CN" dirty="0"/>
              <a:t>n </a:t>
            </a:r>
            <a:r>
              <a:rPr lang="zh-CN" altLang="en-US" dirty="0"/>
              <a:t>列的矩阵表示一个国际象棋棋盘，若两个皇后位于同一行、同一列、同一对角线上（包括下图所示的各主对角线和次对角线），则称它们为互相攻击。</a:t>
            </a:r>
            <a:r>
              <a:rPr lang="en-US" altLang="zh-CN" dirty="0"/>
              <a:t>n</a:t>
            </a:r>
            <a:r>
              <a:rPr lang="zh-CN" altLang="en-US" dirty="0"/>
              <a:t>皇后问题是指找到这 </a:t>
            </a:r>
            <a:r>
              <a:rPr lang="en-US" altLang="zh-CN" dirty="0"/>
              <a:t>n </a:t>
            </a:r>
            <a:r>
              <a:rPr lang="zh-CN" altLang="en-US" dirty="0"/>
              <a:t>个皇后的互不攻击的布局。请给出解决这个问题的递归算法。（参考下图）</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FF4CE2EE-2F8F-4CB9-AE01-D7F636B92A76}"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972506" y="3084590"/>
            <a:ext cx="5198987" cy="3538609"/>
          </a:xfrm>
          <a:prstGeom prst="rect">
            <a:avLst/>
          </a:prstGeom>
        </p:spPr>
      </p:pic>
    </p:spTree>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26567</Words>
  <Application>WPS 演示</Application>
  <PresentationFormat>全屏显示(4:3)</PresentationFormat>
  <Paragraphs>2459</Paragraphs>
  <Slides>118</Slides>
  <Notes>41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11</vt:i4>
      </vt:variant>
      <vt:variant>
        <vt:lpstr>幻灯片标题</vt:lpstr>
      </vt:variant>
      <vt:variant>
        <vt:i4>118</vt:i4>
      </vt:variant>
    </vt:vector>
  </HeadingPairs>
  <TitlesOfParts>
    <vt:vector size="148" baseType="lpstr">
      <vt:lpstr>Arial</vt:lpstr>
      <vt:lpstr>宋体</vt:lpstr>
      <vt:lpstr>Wingdings</vt:lpstr>
      <vt:lpstr>等线</vt:lpstr>
      <vt:lpstr>等线 Light</vt:lpstr>
      <vt:lpstr>Times New Roman</vt:lpstr>
      <vt:lpstr>仿宋_GB2312</vt:lpstr>
      <vt:lpstr>隶书</vt:lpstr>
      <vt:lpstr>Symbol</vt:lpstr>
      <vt:lpstr>微软雅黑</vt:lpstr>
      <vt:lpstr>Arial Unicode MS</vt:lpstr>
      <vt:lpstr>Courier New</vt:lpstr>
      <vt:lpstr>黑体</vt:lpstr>
      <vt:lpstr>楷体_GB2312</vt:lpstr>
      <vt:lpstr>Arial Narrow</vt:lpstr>
      <vt:lpstr>Mangal</vt:lpstr>
      <vt:lpstr>DejaVu Math TeX Gyre</vt:lpstr>
      <vt:lpstr>Consolas</vt:lpstr>
      <vt:lpstr>Office 主题​​</vt:lpstr>
      <vt:lpstr>Word.Document.8</vt:lpstr>
      <vt:lpstr>Word.Document.8</vt:lpstr>
      <vt:lpstr>Equation.3</vt:lpstr>
      <vt:lpstr>Word.Document.8</vt:lpstr>
      <vt:lpstr>Word.Document.8</vt:lpstr>
      <vt:lpstr>Word.Document.8</vt:lpstr>
      <vt:lpstr>Word.Document.8</vt:lpstr>
      <vt:lpstr>Equation.3</vt:lpstr>
      <vt:lpstr>Word.Document.8</vt:lpstr>
      <vt:lpstr>Word.Document.8</vt:lpstr>
      <vt:lpstr>Word.Document.8</vt:lpstr>
      <vt:lpstr>第3章 栈和队列 </vt:lpstr>
      <vt:lpstr>3.1 栈</vt:lpstr>
      <vt:lpstr>栈的抽象数据类型</vt:lpstr>
      <vt:lpstr>栈的数组存储表示 — 顺序栈</vt:lpstr>
      <vt:lpstr>PowerPoint 演示文稿</vt:lpstr>
      <vt:lpstr>进栈操作</vt:lpstr>
      <vt:lpstr>PowerPoint 演示文稿</vt:lpstr>
      <vt:lpstr>退栈操作</vt:lpstr>
      <vt:lpstr>PowerPoint 演示文稿</vt:lpstr>
      <vt:lpstr>PowerPoint 演示文稿</vt:lpstr>
      <vt:lpstr>PowerPoint 演示文稿</vt:lpstr>
      <vt:lpstr>PowerPoint 演示文稿</vt:lpstr>
      <vt:lpstr>双栈共享一个栈空间</vt:lpstr>
      <vt:lpstr>双栈（DualStack）的结构定义</vt:lpstr>
      <vt:lpstr>链式栈</vt:lpstr>
      <vt:lpstr>栈的链接存储表示 — 链式栈</vt:lpstr>
      <vt:lpstr>链式栈 (LinkedStack)类的定义</vt:lpstr>
      <vt:lpstr>PowerPoint 演示文稿</vt:lpstr>
      <vt:lpstr>栈的应用：简单的括号匹配 （自学，代码参考本页备注）</vt:lpstr>
      <vt:lpstr>栈的应用：表达式求值</vt:lpstr>
      <vt:lpstr>常见的4类操作符</vt:lpstr>
      <vt:lpstr>表达式示例</vt:lpstr>
      <vt:lpstr>应用后缀表示计算表达式的值</vt:lpstr>
      <vt:lpstr>通过后缀表示计算表达式值的过程</vt:lpstr>
      <vt:lpstr>PowerPoint 演示文稿</vt:lpstr>
      <vt:lpstr>PowerPoint 演示文稿</vt:lpstr>
      <vt:lpstr>PowerPoint 演示文稿</vt:lpstr>
      <vt:lpstr>PowerPoint 演示文稿</vt:lpstr>
      <vt:lpstr>利用栈将中缀表示转换为后缀表示</vt:lpstr>
      <vt:lpstr>C++中操作符的优先级</vt:lpstr>
      <vt:lpstr>算术操作符优先级的表示</vt:lpstr>
      <vt:lpstr>中缀表达式转换为后缀表达式的算法</vt:lpstr>
      <vt:lpstr>PowerPoint 演示文稿</vt:lpstr>
      <vt:lpstr>中缀表达式” a + b * (c - d) - e / f;”转成后缀表达式的过程</vt:lpstr>
      <vt:lpstr>PowerPoint 演示文稿</vt:lpstr>
      <vt:lpstr>思考</vt:lpstr>
      <vt:lpstr>应用中缀表示计算表达式的值</vt:lpstr>
      <vt:lpstr>中缀算术表达式求值(1)</vt:lpstr>
      <vt:lpstr>中缀算术表达式求值(2)</vt:lpstr>
      <vt:lpstr>中缀算术表达式求值(3)</vt:lpstr>
      <vt:lpstr>PowerPoint 演示文稿</vt:lpstr>
      <vt:lpstr>PowerPoint 演示文稿</vt:lpstr>
      <vt:lpstr>PowerPoint 演示文稿</vt:lpstr>
      <vt:lpstr>PowerPoint 演示文稿</vt:lpstr>
      <vt:lpstr>3.2 栈与递归</vt:lpstr>
      <vt:lpstr>场景1：定义是递归的</vt:lpstr>
      <vt:lpstr>求解阶乘 n! 的过程</vt:lpstr>
      <vt:lpstr>场景2：数据结构是递归的</vt:lpstr>
      <vt:lpstr>递归搜索链表最后一个结点</vt:lpstr>
      <vt:lpstr>递归搜索链表中特定值的结点</vt:lpstr>
      <vt:lpstr>场景3：问题的解法是递归的</vt:lpstr>
      <vt:lpstr>PowerPoint 演示文稿</vt:lpstr>
      <vt:lpstr>PowerPoint 演示文稿</vt:lpstr>
      <vt:lpstr>PowerPoint 演示文稿</vt:lpstr>
      <vt:lpstr>运算时间</vt:lpstr>
      <vt:lpstr>自顶向下、逐步分解的递归策略</vt:lpstr>
      <vt:lpstr>递归终止条件</vt:lpstr>
      <vt:lpstr>递归过程</vt:lpstr>
      <vt:lpstr>递归工作栈</vt:lpstr>
      <vt:lpstr>函数递归时的活动记录</vt:lpstr>
      <vt:lpstr>以求阶乘为例</vt:lpstr>
      <vt:lpstr>计算Fact时活动记录的内容</vt:lpstr>
      <vt:lpstr>证明递归算法的正确性</vt:lpstr>
      <vt:lpstr>递归应用</vt:lpstr>
      <vt:lpstr>第3章作业1</vt:lpstr>
      <vt:lpstr>递归方法的缺点</vt:lpstr>
      <vt:lpstr>递归转非递归的方法</vt:lpstr>
      <vt:lpstr>例：Fib函数的非递归算法</vt:lpstr>
      <vt:lpstr>PowerPoint 演示文稿</vt:lpstr>
      <vt:lpstr>PowerPoint 演示文稿</vt:lpstr>
      <vt:lpstr>PowerPoint 演示文稿</vt:lpstr>
      <vt:lpstr>PowerPoint 演示文稿</vt:lpstr>
      <vt:lpstr>Fib函数的非递归算法</vt:lpstr>
      <vt:lpstr>单向递归</vt:lpstr>
      <vt:lpstr>单向递归可以很容易转为循环</vt:lpstr>
      <vt:lpstr>更进一步的改进</vt:lpstr>
      <vt:lpstr>一些更简单的单向递归</vt:lpstr>
      <vt:lpstr>尾递归</vt:lpstr>
      <vt:lpstr>线性递归</vt:lpstr>
      <vt:lpstr>线性递归转换成非递归</vt:lpstr>
      <vt:lpstr>线性递归转换成非递归举例</vt:lpstr>
      <vt:lpstr>转换结果</vt:lpstr>
      <vt:lpstr>非单向递归例子：Hanoi塔问题</vt:lpstr>
      <vt:lpstr>Hanoi塔问题的非递归算法</vt:lpstr>
      <vt:lpstr>回溯法</vt:lpstr>
      <vt:lpstr>例：用回溯法求解迷宫问题</vt:lpstr>
      <vt:lpstr>用二维数组表示的迷宫</vt:lpstr>
      <vt:lpstr>8个可能的前进方向</vt:lpstr>
      <vt:lpstr>前进方向表</vt:lpstr>
      <vt:lpstr>标志矩阵mark防止走重复路</vt:lpstr>
      <vt:lpstr>迷宫问题的递归算法伪代码</vt:lpstr>
      <vt:lpstr>非递归算法</vt:lpstr>
      <vt:lpstr>迷宫算法框架</vt:lpstr>
      <vt:lpstr>迷宫问题算法的程序实现</vt:lpstr>
      <vt:lpstr>3.3 队列 ( Queue )</vt:lpstr>
      <vt:lpstr>队列的抽象数据类型</vt:lpstr>
      <vt:lpstr>队列的顺序存储表示 </vt:lpstr>
      <vt:lpstr>队列的进队和出队原则</vt:lpstr>
      <vt:lpstr>循环队列 (Circular Queue)</vt:lpstr>
      <vt:lpstr>PowerPoint 演示文稿</vt:lpstr>
      <vt:lpstr>PowerPoint 演示文稿</vt:lpstr>
      <vt:lpstr>PowerPoint 演示文稿</vt:lpstr>
      <vt:lpstr>队列的链接存储表示 — 链式队列</vt:lpstr>
      <vt:lpstr>链式队列类的定义</vt:lpstr>
      <vt:lpstr>队列应用举例  — 逐行打印 二项展开式 (a + b)i 的系数</vt:lpstr>
      <vt:lpstr>分析第 i 行元素与第 i+1行元素的关系</vt:lpstr>
      <vt:lpstr>从第 i 行数据计算并存放第 i+1 行数据</vt:lpstr>
      <vt:lpstr>利用队列打印二项展开式系数的程序</vt:lpstr>
      <vt:lpstr>队列应用举例：电路布线</vt:lpstr>
      <vt:lpstr>3.4 优先级队列</vt:lpstr>
      <vt:lpstr>优先级队列的定义</vt:lpstr>
      <vt:lpstr>PowerPoint 演示文稿</vt:lpstr>
      <vt:lpstr>3.5 双端队列（Deque）（自学）</vt:lpstr>
      <vt:lpstr>双端队列的基本操作（自学） </vt:lpstr>
      <vt:lpstr>小结</vt:lpstr>
      <vt:lpstr>常见题型</vt:lpstr>
      <vt:lpstr>第3章作业2（1）</vt:lpstr>
      <vt:lpstr>第3章作业2（2）</vt:lpstr>
    </vt:vector>
  </TitlesOfParts>
  <Company>djzx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陈莹</cp:lastModifiedBy>
  <cp:revision>239</cp:revision>
  <dcterms:created xsi:type="dcterms:W3CDTF">2000-01-30T08:24:00Z</dcterms:created>
  <dcterms:modified xsi:type="dcterms:W3CDTF">2025-09-24T02:46:00Z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66E572849A6440B585C213430074C25A_12</vt:lpwstr>
  </property>
  <property fmtid="{D5CDD505-2E9C-101B-9397-08002B2CF9AE}" pid="3" name="KSOProductBuildVer">
    <vt:lpwstr>2052-12.1.0.22529</vt:lpwstr>
  </property>
</Properties>
</file>