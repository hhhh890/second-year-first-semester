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0070C0"/>
    <a:srgbClr val="3E4095"/>
    <a:srgbClr val="7A7A7A"/>
    <a:srgbClr val="003399"/>
    <a:srgbClr val="0066CC"/>
    <a:srgbClr val="3E40A9"/>
    <a:srgbClr val="073291"/>
    <a:srgbClr val="595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7" autoAdjust="0"/>
    <p:restoredTop sz="68233" autoAdjust="0"/>
  </p:normalViewPr>
  <p:slideViewPr>
    <p:cSldViewPr snapToGrid="0">
      <p:cViewPr varScale="1">
        <p:scale>
          <a:sx n="86" d="100"/>
          <a:sy n="86" d="100"/>
        </p:scale>
        <p:origin x="44" y="356"/>
      </p:cViewPr>
      <p:guideLst>
        <p:guide orient="horz" pos="504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476A4-C51F-48B2-92DF-DED52320BF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8BEDE-8E85-48AE-9BA5-005F8B263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182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947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635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18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TCP</a:t>
            </a:r>
            <a:r>
              <a:rPr lang="zh-CN" altLang="en-US" sz="1200" dirty="0"/>
              <a:t>的基本特性，提供面向字节流的双向可靠数据传输服务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722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，了解</a:t>
            </a:r>
            <a:r>
              <a:rPr lang="en-US" altLang="zh-CN" sz="1200" dirty="0"/>
              <a:t>IP</a:t>
            </a:r>
            <a:r>
              <a:rPr lang="zh-CN" altLang="en-US" sz="1200" dirty="0"/>
              <a:t>选项的局限性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316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5271F8-ADAA-4BC6-B039-DB7B2D996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5DEA4D-643D-43ED-BE97-429D0C86F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CCF1AF-5468-4355-B694-C00DBFB6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F6C85E-D82D-4AF1-94A1-3FE614B6F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D36B1-BF9A-470D-A44B-8FC66E83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7730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D9D1AFC0-80D2-4D2C-A7C8-5A0F0248062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527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A00AD-4D4F-4A90-BB82-AC6BB960E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46" y="40957"/>
            <a:ext cx="11662953" cy="644434"/>
          </a:xfrm>
          <a:solidFill>
            <a:schemeClr val="bg2"/>
          </a:solidFill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EBE1D3-8CB4-440D-96F8-3A5A40092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5617710"/>
          </a:xfrm>
        </p:spPr>
        <p:txBody>
          <a:bodyPr/>
          <a:lstStyle>
            <a:lvl1pPr>
              <a:lnSpc>
                <a:spcPct val="110000"/>
              </a:lnSpc>
              <a:defRPr sz="2000"/>
            </a:lvl1pPr>
            <a:lvl2pPr>
              <a:lnSpc>
                <a:spcPct val="110000"/>
              </a:lnSpc>
              <a:defRPr sz="1800"/>
            </a:lvl2pPr>
            <a:lvl3pPr>
              <a:lnSpc>
                <a:spcPct val="110000"/>
              </a:lnSpc>
              <a:defRPr sz="20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562687-6CC3-480C-A73D-EE1D10A971F1}"/>
              </a:ext>
            </a:extLst>
          </p:cNvPr>
          <p:cNvSpPr/>
          <p:nvPr userDrawn="1"/>
        </p:nvSpPr>
        <p:spPr>
          <a:xfrm>
            <a:off x="-1" y="6581000"/>
            <a:ext cx="12192000" cy="277000"/>
          </a:xfrm>
          <a:prstGeom prst="rect">
            <a:avLst/>
          </a:prstGeom>
          <a:solidFill>
            <a:srgbClr val="0732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AD84667-4FD6-4606-849A-1BF3E2FE82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95" y="6565660"/>
            <a:ext cx="989557" cy="3057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D4173F8-B1CD-42EF-9E48-F2930C6A7A39}"/>
              </a:ext>
            </a:extLst>
          </p:cNvPr>
          <p:cNvSpPr txBox="1"/>
          <p:nvPr userDrawn="1"/>
        </p:nvSpPr>
        <p:spPr>
          <a:xfrm>
            <a:off x="11752125" y="6569455"/>
            <a:ext cx="701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858DE9-7500-4A07-AB29-178CE3CB0F4B}" type="slidenum">
              <a:rPr lang="zh-CN" altLang="en-US" sz="1200" smtClean="0">
                <a:solidFill>
                  <a:schemeClr val="bg1"/>
                </a:solidFill>
              </a:rPr>
              <a:t>‹#›</a:t>
            </a:fld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13951BC-260C-499F-82DB-61C1253AEE5B}"/>
              </a:ext>
            </a:extLst>
          </p:cNvPr>
          <p:cNvSpPr/>
          <p:nvPr userDrawn="1"/>
        </p:nvSpPr>
        <p:spPr>
          <a:xfrm>
            <a:off x="-3175" y="6581000"/>
            <a:ext cx="82070" cy="27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45550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FA8CE-5F8C-4DE1-87BD-093A6E24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3F1409-4385-4250-9C8E-F94D36678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C6C0E-E4EF-4A4D-BE1C-58FAB5BC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492EA3-AF0B-493E-9B0D-6FFA93BD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587CD8-17FC-4A1C-9596-4BE1466A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548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D759C-CAC7-44DB-A2A1-179FFBD0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79CBD2-432B-4197-A0A7-A8CF40F9E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42AF22-2B75-407F-9DA6-6C8D7740E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841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66661-C9E2-44CD-9E22-5236E0CC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994966-33A5-4B7A-AE10-287ABBEC2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982C2D-3A7D-4ECE-AE9C-88AD01616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7D59F6-2004-46FB-B8E2-3B2996E13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38B0D6-0F3F-48DE-90CB-10601126D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7AAB63-44C1-43C0-9E29-1CE2A877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DEB992-8983-4137-B343-9E810A176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933040-8B6C-4EC9-AF2F-F480C93B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982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73C7F-50E3-4BBF-85D6-233D5808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4AE306-DA55-49B6-A4F5-9BC5BD99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72DE92-F9C8-44FC-9D87-F5FDC0F5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4EF772-7C58-4A65-ACA5-1724610A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284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1148BA-DB11-4E0E-8E84-CB97E33D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F9FEEE-D1E2-4D36-9631-39DEFC6BD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C9E12C-0A7A-46FC-9CD3-0EC0953D3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47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7B2E0-0AEC-4EED-8E88-72D6F3658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EA969-0295-421C-B922-773C494DD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59360D-CF28-46AC-A66E-42E06595A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3F285A-3F8E-461E-A89F-A60002C0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F31183-DE59-4E06-AB9F-8F2DBEFCB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40690-90D5-4601-BCCE-D12889A3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62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09D14-DF52-43BA-9308-8764F1B4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ADE875-3691-49BB-B137-2384AE6DB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8757DE-F15A-4122-9D9B-BCA08D695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337275-CA15-4E2B-8DAC-B7F73CE8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93D2A6-B1EC-4360-A791-F14D2F089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2B45CD-5E1A-4D23-A6DD-5F0AC901A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2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28FF4-8519-4A3B-84B8-49FE0F26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BC59F1-2F07-481E-B96E-76E652747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F68CD0-637B-4C5D-AD13-9F661E91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5777F0-BFA4-4D59-9742-58F33D13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DE815D-F543-47C8-8F3F-805B792D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09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7620AA-9EC9-44E0-B36A-983568BE7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B95DE6-91DB-4FBB-8D97-409B4FFAD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6DBB3E-0E8F-4DB5-B64E-DACDB45C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81F01-086D-45F2-91B3-2D4837DEE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8AD2CF-84BE-4854-9F14-8A28F055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917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D38D05-C945-4C95-8247-A7EC749401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F98940-E298-4C02-A0D4-EC8249AE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1A8DA3-B2F1-43F6-897D-782D57B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ED6B269-64D1-4AFD-BD73-423CE2A27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FB4B007-3A57-4669-A29C-3B63E446D9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296" y="2039143"/>
            <a:ext cx="4694110" cy="2414587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E9EF51A8-F688-42F7-A9AF-08AE9C8D4F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2162175"/>
            <a:ext cx="4962525" cy="22907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表格占位符 10">
            <a:extLst>
              <a:ext uri="{FF2B5EF4-FFF2-40B4-BE49-F238E27FC236}">
                <a16:creationId xmlns:a16="http://schemas.microsoft.com/office/drawing/2014/main" id="{16B2782A-B31D-4B08-A189-B980E4E84FDA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838200" y="4522791"/>
            <a:ext cx="4694110" cy="159067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298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57410-BF23-4BDC-9C93-E5015099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D15446-AA20-4FF9-BA81-111F0643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682CA3-C599-4E7B-AA33-7DD0EE8E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0573FF-627A-4482-9875-D0D84D52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02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B730CA-185A-422F-85F7-CE4083E4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46" y="40957"/>
            <a:ext cx="11203577" cy="6444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AC8DB3-1DD4-42B6-9E78-E0296777C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046" y="905691"/>
            <a:ext cx="11203577" cy="5661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41A53A-B1DB-47B0-9130-DDC4854034D1}"/>
              </a:ext>
            </a:extLst>
          </p:cNvPr>
          <p:cNvSpPr/>
          <p:nvPr userDrawn="1"/>
        </p:nvSpPr>
        <p:spPr>
          <a:xfrm>
            <a:off x="11662257" y="6517865"/>
            <a:ext cx="4395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99400D7-9113-4B59-A3BD-69C3B8176E59}" type="slidenum">
              <a:rPr lang="zh-CN" altLang="en-US" sz="1200" smtClean="0">
                <a:solidFill>
                  <a:schemeClr val="bg1"/>
                </a:solidFill>
              </a:rPr>
              <a:t>‹#›</a:t>
            </a:fld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49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655" r:id="rId12"/>
    <p:sldLayoutId id="214748380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570" userDrawn="1">
          <p15:clr>
            <a:srgbClr val="F26B43"/>
          </p15:clr>
        </p15:guide>
        <p15:guide id="4" orient="horz" pos="459" userDrawn="1">
          <p15:clr>
            <a:srgbClr val="F26B43"/>
          </p15:clr>
        </p15:guide>
        <p15:guide id="6" pos="7401" userDrawn="1">
          <p15:clr>
            <a:srgbClr val="F26B43"/>
          </p15:clr>
        </p15:guide>
        <p15:guide id="7" pos="279" userDrawn="1">
          <p15:clr>
            <a:srgbClr val="F26B43"/>
          </p15:clr>
        </p15:guide>
        <p15:guide id="8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23517-31E8-495B-8CDB-2902853BE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复习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B487F-27AF-49D5-AB76-51C4D08718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50839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80478-E4BF-7EFC-55AE-CCC5D87A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考试信息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9F1831-0564-89DB-FCD3-73DE7677D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考试时间：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7</a:t>
            </a:r>
            <a:r>
              <a:rPr lang="zh-CN" altLang="en-US" dirty="0"/>
              <a:t>日 </a:t>
            </a:r>
            <a:r>
              <a:rPr lang="en-US" altLang="zh-CN" dirty="0"/>
              <a:t>8:30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10:30</a:t>
            </a:r>
          </a:p>
          <a:p>
            <a:r>
              <a:rPr lang="zh-CN" altLang="en-US" dirty="0"/>
              <a:t>考试地点：</a:t>
            </a:r>
            <a:r>
              <a:rPr lang="en-US" altLang="zh-CN" dirty="0"/>
              <a:t>HGX208</a:t>
            </a:r>
            <a:r>
              <a:rPr lang="zh-CN" altLang="en-US" dirty="0"/>
              <a:t>， </a:t>
            </a:r>
            <a:r>
              <a:rPr lang="en-US" altLang="zh-CN" dirty="0"/>
              <a:t>HGX210</a:t>
            </a:r>
          </a:p>
          <a:p>
            <a:r>
              <a:rPr lang="zh-CN" altLang="en-US" dirty="0"/>
              <a:t>闭卷考试，可以携带没有通信功能的计算器</a:t>
            </a:r>
            <a:endParaRPr lang="en-US" altLang="zh-CN" dirty="0"/>
          </a:p>
          <a:p>
            <a:r>
              <a:rPr lang="zh-CN" altLang="en-US" dirty="0"/>
              <a:t>考察范围：</a:t>
            </a:r>
            <a:endParaRPr lang="en-US" altLang="zh-CN" dirty="0"/>
          </a:p>
          <a:p>
            <a:pPr lvl="1"/>
            <a:r>
              <a:rPr lang="zh-CN" altLang="en-US" sz="2000" dirty="0"/>
              <a:t>课堂覆盖的教材内容 </a:t>
            </a:r>
            <a:r>
              <a:rPr lang="en-US" altLang="zh-CN" sz="2000" dirty="0"/>
              <a:t>+ </a:t>
            </a:r>
            <a:r>
              <a:rPr lang="zh-CN" altLang="en-US" sz="2000" dirty="0"/>
              <a:t>部分补充内容</a:t>
            </a:r>
            <a:endParaRPr lang="en-US" altLang="zh-CN" sz="2000" dirty="0"/>
          </a:p>
          <a:p>
            <a:r>
              <a:rPr lang="zh-CN" altLang="en-US" dirty="0"/>
              <a:t>主要题型</a:t>
            </a:r>
            <a:endParaRPr lang="en-US" altLang="zh-CN" dirty="0"/>
          </a:p>
          <a:p>
            <a:pPr lvl="1"/>
            <a:r>
              <a:rPr lang="zh-CN" altLang="en-US" sz="2000" dirty="0"/>
              <a:t>选择题（单项）</a:t>
            </a:r>
            <a:endParaRPr lang="en-US" altLang="zh-CN" sz="2000" dirty="0"/>
          </a:p>
          <a:p>
            <a:pPr lvl="2"/>
            <a:r>
              <a:rPr lang="zh-CN" altLang="en-US" dirty="0"/>
              <a:t>题目描述 </a:t>
            </a:r>
            <a:r>
              <a:rPr lang="en-US" altLang="zh-CN" dirty="0"/>
              <a:t>+ 2</a:t>
            </a:r>
            <a:r>
              <a:rPr lang="zh-CN" altLang="en-US" dirty="0"/>
              <a:t>个以上选项，选择其中某个</a:t>
            </a:r>
            <a:endParaRPr lang="en-US" altLang="zh-CN" dirty="0"/>
          </a:p>
          <a:p>
            <a:pPr lvl="1"/>
            <a:r>
              <a:rPr lang="zh-CN" altLang="en-US" sz="2000" dirty="0"/>
              <a:t>简答题：</a:t>
            </a:r>
            <a:endParaRPr lang="en-US" altLang="zh-CN" sz="2000" dirty="0"/>
          </a:p>
          <a:p>
            <a:pPr lvl="2"/>
            <a:r>
              <a:rPr lang="zh-CN" altLang="en-US" dirty="0"/>
              <a:t>无线局域网为什么不能采用</a:t>
            </a:r>
            <a:r>
              <a:rPr lang="en-US" altLang="zh-CN" dirty="0"/>
              <a:t>CSMA/CD</a:t>
            </a:r>
            <a:r>
              <a:rPr lang="zh-CN" altLang="en-US" dirty="0"/>
              <a:t>机制？</a:t>
            </a:r>
            <a:endParaRPr lang="en-US" altLang="zh-CN" dirty="0"/>
          </a:p>
          <a:p>
            <a:pPr lvl="1"/>
            <a:r>
              <a:rPr lang="zh-CN" altLang="en-US" sz="2000" dirty="0"/>
              <a:t>综合应用题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7208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FF41E-726A-2C85-7485-E3DFBE12D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计算机网络和</a:t>
            </a:r>
            <a:r>
              <a:rPr lang="en-US" altLang="zh-CN" dirty="0"/>
              <a:t>Internet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2C544ED-9EDB-32F3-7CF6-019899B160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sz="1800" dirty="0"/>
                  <a:t>什么是主机和端系统？什么是网络协议？</a:t>
                </a:r>
                <a:endParaRPr lang="en-US" altLang="zh-CN" sz="1800" dirty="0"/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sz="1800" dirty="0"/>
                  <a:t>不考接入网和传输媒体</a:t>
                </a:r>
                <a:endParaRPr lang="en-US" altLang="zh-CN" sz="1800" dirty="0"/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sz="1800" dirty="0"/>
                  <a:t>网络核心：多路复用；掌握分组交换</a:t>
                </a:r>
                <a:r>
                  <a:rPr lang="en-US" altLang="zh-CN" sz="1800" dirty="0"/>
                  <a:t>(</a:t>
                </a:r>
                <a:r>
                  <a:rPr lang="zh-CN" altLang="en-US" sz="1800" dirty="0"/>
                  <a:t>报文交换</a:t>
                </a:r>
                <a:r>
                  <a:rPr lang="en-US" altLang="zh-CN" sz="1800" dirty="0"/>
                  <a:t>)</a:t>
                </a:r>
                <a:r>
                  <a:rPr lang="zh-CN" altLang="en-US" sz="1800" dirty="0"/>
                  <a:t>和电路交换的工作方式</a:t>
                </a:r>
                <a:endParaRPr lang="en-US" altLang="zh-CN" sz="1800" dirty="0"/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sz="1800" dirty="0"/>
                  <a:t>计算机网络的度量：掌握如何计算延迟，如何计算吞吐率等</a:t>
                </a:r>
                <a:endParaRPr lang="en-US" altLang="zh-CN" sz="1800" dirty="0"/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dirty="0"/>
                  <a:t>延迟：传输延迟、传播延迟、处理延迟和排队延迟， </a:t>
                </a:r>
                <a:r>
                  <a:rPr lang="en-US" altLang="zh-CN" dirty="0"/>
                  <a:t>RTT</a:t>
                </a:r>
                <a:r>
                  <a:rPr lang="zh-CN" altLang="en-US" dirty="0"/>
                  <a:t>。  不考</a:t>
                </a:r>
                <a:r>
                  <a:rPr lang="zh-CN" altLang="en-US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平均排队延迟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dirty="0"/>
                  <a:t>分组丢失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dirty="0"/>
                  <a:t>带宽、吞吐率和瓶颈链路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sz="1800" dirty="0"/>
                  <a:t>层次模型：</a:t>
                </a:r>
                <a:endParaRPr lang="en-US" altLang="zh-CN" sz="1800" dirty="0"/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dirty="0"/>
                  <a:t>为什么要采用层次模型？掌握层次模型的封装和解封装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dirty="0"/>
                  <a:t>不考</a:t>
                </a:r>
                <a:r>
                  <a:rPr lang="en-US" altLang="zh-CN" dirty="0"/>
                  <a:t>OSI</a:t>
                </a:r>
                <a:r>
                  <a:rPr lang="zh-CN" altLang="en-US" dirty="0"/>
                  <a:t>层次模型的术语：</a:t>
                </a:r>
                <a:r>
                  <a:rPr lang="en-US" altLang="zh-CN" dirty="0"/>
                  <a:t>SAP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SDU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PDU</a:t>
                </a:r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dirty="0"/>
                  <a:t>OSI 7</a:t>
                </a:r>
                <a:r>
                  <a:rPr lang="zh-CN" altLang="en-US" dirty="0"/>
                  <a:t>层模型，每层大概的功能</a:t>
                </a:r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dirty="0"/>
                  <a:t>Internet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层模型，与</a:t>
                </a:r>
                <a:r>
                  <a:rPr lang="en-US" altLang="zh-CN" dirty="0"/>
                  <a:t>OSI</a:t>
                </a:r>
                <a:r>
                  <a:rPr lang="zh-CN" altLang="en-US" dirty="0"/>
                  <a:t>模型的对应</a:t>
                </a:r>
                <a:endParaRPr lang="en-US" altLang="zh-CN" dirty="0"/>
              </a:p>
              <a:p>
                <a:r>
                  <a:rPr lang="zh-CN" altLang="en-US" sz="1800" dirty="0"/>
                  <a:t>不考：面对攻击的网络、计算机网络和</a:t>
                </a:r>
                <a:r>
                  <a:rPr lang="en-US" altLang="zh-CN" sz="1800" dirty="0"/>
                  <a:t>Internet</a:t>
                </a:r>
                <a:r>
                  <a:rPr lang="zh-CN" altLang="en-US" sz="1800" dirty="0"/>
                  <a:t>的定义、计算机网络和</a:t>
                </a:r>
                <a:r>
                  <a:rPr lang="en-US" altLang="zh-CN" sz="1800" dirty="0"/>
                  <a:t>Internet</a:t>
                </a:r>
                <a:r>
                  <a:rPr lang="zh-CN" altLang="en-US" sz="1800" dirty="0"/>
                  <a:t>的历史、国际标准化组织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2C544ED-9EDB-32F3-7CF6-019899B16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78" t="-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415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02DF6-79CF-A699-1F79-92CBEBCCD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应用层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B1C2DB-23F7-1E67-FD76-1D5EF7810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网络应用体系结构：如何在端系统上组织应用程序</a:t>
            </a:r>
            <a:endParaRPr lang="en-US" altLang="zh-CN" dirty="0"/>
          </a:p>
          <a:p>
            <a:pPr lvl="1"/>
            <a:r>
              <a:rPr lang="zh-CN" altLang="en-US" sz="2000" dirty="0"/>
              <a:t>了解</a:t>
            </a:r>
            <a:r>
              <a:rPr lang="en-US" altLang="zh-CN" sz="2000" dirty="0"/>
              <a:t>C/S</a:t>
            </a:r>
            <a:r>
              <a:rPr lang="zh-CN" altLang="en-US" sz="2000" dirty="0"/>
              <a:t>和</a:t>
            </a:r>
            <a:r>
              <a:rPr lang="en-US" altLang="zh-CN" sz="2000" dirty="0"/>
              <a:t>P2P</a:t>
            </a:r>
            <a:r>
              <a:rPr lang="zh-CN" altLang="en-US" sz="2000" dirty="0"/>
              <a:t>体系结构</a:t>
            </a:r>
            <a:endParaRPr lang="en-US" altLang="zh-CN" sz="2000" dirty="0"/>
          </a:p>
          <a:p>
            <a:r>
              <a:rPr lang="en-US" altLang="zh-CN" dirty="0"/>
              <a:t>Web</a:t>
            </a:r>
            <a:r>
              <a:rPr lang="zh-CN" altLang="en-US" dirty="0"/>
              <a:t>和</a:t>
            </a:r>
            <a:r>
              <a:rPr lang="en-US" altLang="zh-CN" dirty="0"/>
              <a:t>HTTP</a:t>
            </a:r>
          </a:p>
          <a:p>
            <a:pPr lvl="1"/>
            <a:r>
              <a:rPr lang="zh-CN" altLang="en-US" sz="2000" dirty="0"/>
              <a:t>无状态和</a:t>
            </a:r>
            <a:r>
              <a:rPr lang="en-US" altLang="zh-CN" sz="2000" dirty="0"/>
              <a:t>Cookie</a:t>
            </a:r>
            <a:r>
              <a:rPr lang="zh-CN" altLang="en-US" sz="2000" dirty="0"/>
              <a:t>机制（不考补充的</a:t>
            </a:r>
            <a:r>
              <a:rPr lang="en-US" altLang="zh-CN" sz="2000" dirty="0"/>
              <a:t>Cookie</a:t>
            </a:r>
            <a:r>
              <a:rPr lang="zh-CN" altLang="en-US" sz="2000" dirty="0"/>
              <a:t>属性，即</a:t>
            </a:r>
            <a:r>
              <a:rPr lang="en-US" altLang="zh-CN" sz="2000" dirty="0"/>
              <a:t>Domain/Path/Expires/Max-Age</a:t>
            </a:r>
            <a:r>
              <a:rPr lang="zh-CN" altLang="en-US" sz="2000" dirty="0"/>
              <a:t>等）</a:t>
            </a:r>
            <a:r>
              <a:rPr lang="en-US" altLang="zh-CN" sz="2000" dirty="0"/>
              <a:t>:Cookie</a:t>
            </a:r>
            <a:r>
              <a:rPr lang="zh-CN" altLang="en-US" sz="2000" dirty="0"/>
              <a:t>和</a:t>
            </a:r>
            <a:r>
              <a:rPr lang="en-US" altLang="zh-CN" sz="2000" dirty="0"/>
              <a:t>Set-Cookie</a:t>
            </a:r>
          </a:p>
          <a:p>
            <a:pPr lvl="1"/>
            <a:r>
              <a:rPr lang="zh-CN" altLang="en-US" sz="2000" dirty="0"/>
              <a:t>非持续连接、持续连接（</a:t>
            </a:r>
            <a:r>
              <a:rPr lang="en-US" altLang="zh-CN" sz="2000" dirty="0"/>
              <a:t>+</a:t>
            </a:r>
            <a:r>
              <a:rPr lang="zh-CN" altLang="en-US" sz="2000" dirty="0"/>
              <a:t>流水线模式）、并行连接</a:t>
            </a:r>
            <a:endParaRPr lang="en-US" altLang="zh-CN" sz="2000" dirty="0"/>
          </a:p>
          <a:p>
            <a:pPr lvl="1"/>
            <a:r>
              <a:rPr lang="en-US" altLang="zh-CN" sz="2000" dirty="0"/>
              <a:t>HTTP</a:t>
            </a:r>
            <a:r>
              <a:rPr lang="zh-CN" altLang="en-US" sz="2000" dirty="0"/>
              <a:t>请求和响应</a:t>
            </a:r>
            <a:r>
              <a:rPr lang="en-US" altLang="zh-CN" sz="2000" dirty="0"/>
              <a:t>: Host, User-Agent, Connection, Server, Date,  Last-Modified, Content-Type, Content-Length</a:t>
            </a:r>
            <a:r>
              <a:rPr lang="zh-CN" altLang="en-US" sz="2000" dirty="0"/>
              <a:t>等</a:t>
            </a:r>
            <a:endParaRPr lang="en-US" altLang="zh-CN" sz="2000" dirty="0"/>
          </a:p>
          <a:p>
            <a:pPr lvl="1"/>
            <a:r>
              <a:rPr lang="zh-CN" altLang="en-US" sz="2000" dirty="0"/>
              <a:t>不考</a:t>
            </a:r>
            <a:r>
              <a:rPr lang="en-US" altLang="zh-CN" sz="2000" dirty="0"/>
              <a:t>POST</a:t>
            </a:r>
            <a:r>
              <a:rPr lang="zh-CN" altLang="en-US" sz="2000" dirty="0"/>
              <a:t>方法和块编码</a:t>
            </a:r>
            <a:endParaRPr lang="en-US" altLang="zh-CN" sz="2000" dirty="0"/>
          </a:p>
          <a:p>
            <a:pPr lvl="1"/>
            <a:r>
              <a:rPr lang="en-US" altLang="zh-CN" sz="2000" dirty="0"/>
              <a:t>Web</a:t>
            </a:r>
            <a:r>
              <a:rPr lang="zh-CN" altLang="en-US" sz="2000" dirty="0"/>
              <a:t>缓存：</a:t>
            </a:r>
            <a:endParaRPr lang="en-US" altLang="zh-CN" sz="2000" dirty="0"/>
          </a:p>
          <a:p>
            <a:pPr lvl="2"/>
            <a:r>
              <a:rPr lang="zh-CN" altLang="en-US" dirty="0"/>
              <a:t>为什么引入缓存？缓存命中率</a:t>
            </a:r>
            <a:endParaRPr lang="en-US" altLang="zh-CN" dirty="0"/>
          </a:p>
          <a:p>
            <a:pPr lvl="2"/>
            <a:r>
              <a:rPr lang="zh-CN" altLang="en-US" dirty="0"/>
              <a:t>缓存控制：</a:t>
            </a:r>
            <a:r>
              <a:rPr lang="en-US" altLang="zh-CN" dirty="0"/>
              <a:t>Cache-Control(no-store, no-cache, max-age)</a:t>
            </a:r>
          </a:p>
          <a:p>
            <a:pPr lvl="2"/>
            <a:r>
              <a:rPr lang="zh-CN" altLang="en-US" dirty="0"/>
              <a:t>条件</a:t>
            </a:r>
            <a:r>
              <a:rPr lang="en-US" altLang="zh-CN" dirty="0"/>
              <a:t>GET</a:t>
            </a:r>
            <a:r>
              <a:rPr lang="zh-CN" altLang="en-US" dirty="0"/>
              <a:t>：</a:t>
            </a:r>
            <a:r>
              <a:rPr lang="en-US" altLang="zh-CN" dirty="0" err="1"/>
              <a:t>Etag</a:t>
            </a:r>
            <a:r>
              <a:rPr lang="en-US" altLang="zh-CN" dirty="0"/>
              <a:t>, Last-Modified,  If-None-Match, If-Modified-Since</a:t>
            </a:r>
          </a:p>
          <a:p>
            <a:pPr lvl="1"/>
            <a:r>
              <a:rPr lang="zh-CN" altLang="en-US" sz="2000" dirty="0"/>
              <a:t>不考</a:t>
            </a:r>
            <a:r>
              <a:rPr lang="en-US" altLang="zh-CN" sz="2000" dirty="0"/>
              <a:t>HTTP/2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648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88E87-CC9A-4D7C-28F6-69CA8219D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应用层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7B691-74EA-1FFD-83DC-11AA36061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电子邮件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sz="2000" dirty="0"/>
              <a:t>主要部件：用户代理、邮件服务器、</a:t>
            </a:r>
            <a:r>
              <a:rPr lang="en-US" altLang="zh-CN" sz="2000" dirty="0"/>
              <a:t>SMTP</a:t>
            </a:r>
            <a:r>
              <a:rPr lang="zh-CN" altLang="en-US" sz="2000" dirty="0"/>
              <a:t>和邮件访问协议</a:t>
            </a:r>
            <a:endParaRPr lang="en-US" altLang="zh-CN" sz="2000" dirty="0"/>
          </a:p>
          <a:p>
            <a:pPr lvl="1"/>
            <a:r>
              <a:rPr lang="en-US" altLang="zh-CN" sz="2000" dirty="0"/>
              <a:t>SMTP</a:t>
            </a:r>
            <a:r>
              <a:rPr lang="zh-CN" altLang="en-US" sz="2000" dirty="0"/>
              <a:t>协议</a:t>
            </a:r>
            <a:endParaRPr lang="en-US" altLang="zh-CN" sz="2000" dirty="0"/>
          </a:p>
          <a:p>
            <a:pPr lvl="1"/>
            <a:r>
              <a:rPr lang="zh-CN" altLang="en-US" sz="2000" dirty="0"/>
              <a:t>邮件格式</a:t>
            </a:r>
            <a:endParaRPr lang="en-US" altLang="zh-CN" sz="2000" dirty="0"/>
          </a:p>
          <a:p>
            <a:pPr lvl="1"/>
            <a:r>
              <a:rPr lang="zh-CN" altLang="en-US" sz="2000" dirty="0"/>
              <a:t>邮件访问协议：</a:t>
            </a:r>
            <a:r>
              <a:rPr lang="en-US" altLang="zh-CN" sz="2000" dirty="0"/>
              <a:t>POP3</a:t>
            </a:r>
            <a:r>
              <a:rPr lang="zh-CN" altLang="en-US" sz="2000" dirty="0"/>
              <a:t>和</a:t>
            </a:r>
            <a:r>
              <a:rPr lang="en-US" altLang="zh-CN" sz="2000" dirty="0"/>
              <a:t>IMAP</a:t>
            </a:r>
          </a:p>
          <a:p>
            <a:pPr lvl="1"/>
            <a:r>
              <a:rPr lang="zh-CN" altLang="en-US" sz="2000" dirty="0"/>
              <a:t>不考补充的</a:t>
            </a:r>
            <a:r>
              <a:rPr lang="en-US" altLang="zh-CN" sz="2000" dirty="0"/>
              <a:t>MIME</a:t>
            </a:r>
          </a:p>
          <a:p>
            <a:r>
              <a:rPr lang="en-US" altLang="zh-CN" dirty="0"/>
              <a:t>DNS</a:t>
            </a:r>
          </a:p>
          <a:p>
            <a:pPr lvl="1"/>
            <a:r>
              <a:rPr lang="zh-CN" altLang="en-US" sz="2000" dirty="0"/>
              <a:t>如何维护域名树：</a:t>
            </a:r>
            <a:r>
              <a:rPr lang="en-US" altLang="zh-CN" sz="2000" dirty="0"/>
              <a:t>NS</a:t>
            </a:r>
            <a:r>
              <a:rPr lang="zh-CN" altLang="en-US" sz="2000" dirty="0"/>
              <a:t>资源记录、域名和区域的概念</a:t>
            </a:r>
            <a:endParaRPr lang="en-US" altLang="zh-CN" sz="2000" dirty="0"/>
          </a:p>
          <a:p>
            <a:pPr lvl="1"/>
            <a:r>
              <a:rPr lang="zh-CN" altLang="en-US" sz="2000" dirty="0"/>
              <a:t>常用的资源纪录：</a:t>
            </a:r>
            <a:r>
              <a:rPr lang="en-US" altLang="zh-CN" sz="2000" dirty="0"/>
              <a:t>NS/A/AAAA</a:t>
            </a:r>
            <a:r>
              <a:rPr lang="zh-CN" altLang="en-US" sz="2000" dirty="0"/>
              <a:t>，</a:t>
            </a:r>
            <a:r>
              <a:rPr lang="en-US" altLang="zh-CN" sz="2000" dirty="0"/>
              <a:t>CNAME</a:t>
            </a:r>
            <a:r>
              <a:rPr lang="zh-CN" altLang="en-US" sz="2000" dirty="0"/>
              <a:t>和</a:t>
            </a:r>
            <a:r>
              <a:rPr lang="en-US" altLang="zh-CN" sz="2000" dirty="0"/>
              <a:t>MX</a:t>
            </a:r>
          </a:p>
          <a:p>
            <a:pPr lvl="2"/>
            <a:r>
              <a:rPr lang="zh-CN" altLang="en-US" dirty="0"/>
              <a:t>了解发送电子邮件时怎样与</a:t>
            </a:r>
            <a:r>
              <a:rPr lang="en-US" altLang="zh-CN" dirty="0"/>
              <a:t>DNS</a:t>
            </a:r>
            <a:r>
              <a:rPr lang="zh-CN" altLang="en-US" dirty="0"/>
              <a:t>结合（不考</a:t>
            </a:r>
            <a:r>
              <a:rPr lang="en-US" altLang="zh-CN" dirty="0"/>
              <a:t>MX</a:t>
            </a:r>
            <a:r>
              <a:rPr lang="zh-CN" altLang="en-US" dirty="0"/>
              <a:t>的具体格式）</a:t>
            </a:r>
            <a:endParaRPr lang="en-US" altLang="zh-CN" dirty="0"/>
          </a:p>
          <a:p>
            <a:pPr lvl="1"/>
            <a:r>
              <a:rPr lang="zh-CN" altLang="en-US" sz="2000" dirty="0"/>
              <a:t>域名解析：递归和迭代查找过程以及域名缓存</a:t>
            </a:r>
            <a:endParaRPr lang="en-US" altLang="zh-CN" sz="2000" dirty="0"/>
          </a:p>
          <a:p>
            <a:pPr lvl="1"/>
            <a:r>
              <a:rPr lang="zh-CN" altLang="en-US" sz="2000" dirty="0"/>
              <a:t>不考</a:t>
            </a:r>
            <a:r>
              <a:rPr lang="en-US" altLang="zh-CN" sz="2000" dirty="0"/>
              <a:t>DNS</a:t>
            </a:r>
            <a:r>
              <a:rPr lang="zh-CN" altLang="en-US" sz="2000" dirty="0"/>
              <a:t>消息的具体格式以及</a:t>
            </a:r>
            <a:r>
              <a:rPr lang="en-US" altLang="zh-CN" sz="2000" dirty="0"/>
              <a:t>DNS</a:t>
            </a:r>
            <a:r>
              <a:rPr lang="zh-CN" altLang="en-US" sz="2000" dirty="0"/>
              <a:t>安全</a:t>
            </a:r>
            <a:endParaRPr lang="en-US" altLang="zh-CN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497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4D0C09-1F9F-BCB7-440A-2611D5385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运输层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E9F329-AA1C-F9EB-D235-59C2B70E8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UDP</a:t>
            </a:r>
            <a:r>
              <a:rPr lang="zh-CN" altLang="en-US" sz="2400" dirty="0"/>
              <a:t>协议：</a:t>
            </a:r>
            <a:endParaRPr lang="en-US" altLang="zh-CN" sz="2400" dirty="0"/>
          </a:p>
          <a:p>
            <a:pPr lvl="1"/>
            <a:r>
              <a:rPr lang="en-US" altLang="zh-CN" sz="2400" dirty="0"/>
              <a:t>UDP</a:t>
            </a:r>
            <a:r>
              <a:rPr lang="zh-CN" altLang="en-US" sz="2400" dirty="0"/>
              <a:t>提供的服务</a:t>
            </a:r>
            <a:endParaRPr lang="en-US" altLang="zh-CN" sz="2400" dirty="0"/>
          </a:p>
          <a:p>
            <a:pPr lvl="1"/>
            <a:r>
              <a:rPr lang="en-US" altLang="zh-CN" sz="2400" dirty="0"/>
              <a:t>Internet</a:t>
            </a:r>
            <a:r>
              <a:rPr lang="zh-CN" altLang="en-US" sz="2400" dirty="0"/>
              <a:t>检验和算法</a:t>
            </a:r>
            <a:endParaRPr lang="en-US" altLang="zh-CN" sz="2400" dirty="0"/>
          </a:p>
          <a:p>
            <a:r>
              <a:rPr lang="zh-CN" altLang="en-US" sz="2400" dirty="0"/>
              <a:t>可靠数据传输</a:t>
            </a:r>
            <a:endParaRPr lang="en-US" altLang="zh-CN" sz="2400" dirty="0"/>
          </a:p>
          <a:p>
            <a:pPr lvl="1"/>
            <a:r>
              <a:rPr lang="zh-CN" altLang="en-US" sz="2400" dirty="0"/>
              <a:t>基本原理：顺序号 </a:t>
            </a:r>
            <a:r>
              <a:rPr lang="en-US" altLang="zh-CN" sz="2400" dirty="0"/>
              <a:t>+ ACK + </a:t>
            </a:r>
            <a:r>
              <a:rPr lang="zh-CN" altLang="en-US" sz="2400" dirty="0"/>
              <a:t>重传  </a:t>
            </a:r>
            <a:r>
              <a:rPr lang="en-US" altLang="zh-CN" sz="2400" dirty="0"/>
              <a:t>+  </a:t>
            </a:r>
            <a:r>
              <a:rPr lang="zh-CN" altLang="en-US" sz="2400" dirty="0"/>
              <a:t>超时，如何处理分组丢失、失序以及</a:t>
            </a:r>
            <a:r>
              <a:rPr lang="en-US" altLang="zh-CN" sz="2400" dirty="0"/>
              <a:t>ACK</a:t>
            </a:r>
            <a:r>
              <a:rPr lang="zh-CN" altLang="en-US" sz="2400" dirty="0"/>
              <a:t>帧的丢失等</a:t>
            </a:r>
            <a:endParaRPr lang="en-US" altLang="zh-CN" sz="2400" dirty="0"/>
          </a:p>
          <a:p>
            <a:pPr lvl="1"/>
            <a:r>
              <a:rPr lang="zh-CN" altLang="en-US" sz="2400" dirty="0"/>
              <a:t>停等协议</a:t>
            </a:r>
            <a:r>
              <a:rPr lang="en-US" altLang="zh-CN" sz="2400" dirty="0"/>
              <a:t>/</a:t>
            </a:r>
            <a:r>
              <a:rPr lang="zh-CN" altLang="en-US" sz="2400" dirty="0"/>
              <a:t>滑动窗口协议的性能分析方法：不要死记公式，考虑其他因素？比如头部开销、</a:t>
            </a:r>
            <a:r>
              <a:rPr lang="en-US" altLang="zh-CN" sz="2400" dirty="0"/>
              <a:t>ACK</a:t>
            </a:r>
            <a:r>
              <a:rPr lang="zh-CN" altLang="en-US" sz="2400" dirty="0"/>
              <a:t>传输开销等</a:t>
            </a:r>
            <a:endParaRPr lang="en-US" altLang="zh-CN" sz="2400" dirty="0"/>
          </a:p>
          <a:p>
            <a:pPr lvl="1"/>
            <a:r>
              <a:rPr lang="en-US" altLang="zh-CN" sz="2400" dirty="0"/>
              <a:t>GBN</a:t>
            </a:r>
            <a:r>
              <a:rPr lang="zh-CN" altLang="en-US" sz="2400" dirty="0"/>
              <a:t>、选择重传</a:t>
            </a:r>
            <a:endParaRPr lang="en-US" altLang="zh-CN" sz="2400" dirty="0"/>
          </a:p>
          <a:p>
            <a:pPr lvl="1"/>
            <a:r>
              <a:rPr lang="zh-CN" altLang="en-US" sz="2400" dirty="0"/>
              <a:t>发送窗口和接收窗口的大小与顺序号空间的大小之间的关系？</a:t>
            </a:r>
            <a:endParaRPr lang="en-US" altLang="zh-CN" sz="2400" dirty="0"/>
          </a:p>
          <a:p>
            <a:pPr marL="457200" lvl="1" indent="0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37682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6562E6-1202-BCF2-72B3-700EFFAAF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运输层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1CECD-EF19-9221-60DD-EBFEB5BCE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800" dirty="0"/>
              <a:t>TCP</a:t>
            </a:r>
            <a:r>
              <a:rPr lang="zh-CN" altLang="en-US" sz="1800" dirty="0"/>
              <a:t>段主要字段</a:t>
            </a:r>
            <a:endParaRPr lang="en-US" altLang="zh-CN" sz="1800" dirty="0"/>
          </a:p>
          <a:p>
            <a:pPr lvl="1"/>
            <a:r>
              <a:rPr lang="zh-CN" altLang="en-US" dirty="0"/>
              <a:t>顺序号和确认号，窗口大小，</a:t>
            </a:r>
            <a:r>
              <a:rPr lang="en-US" altLang="zh-CN" dirty="0"/>
              <a:t>SYN/FIN/ACK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en-US" altLang="zh-CN" dirty="0"/>
              <a:t>MTU</a:t>
            </a:r>
            <a:r>
              <a:rPr lang="zh-CN" altLang="en-US" dirty="0"/>
              <a:t>和</a:t>
            </a:r>
            <a:r>
              <a:rPr lang="en-US" altLang="zh-CN" dirty="0"/>
              <a:t>MSS</a:t>
            </a:r>
          </a:p>
          <a:p>
            <a:pPr lvl="1"/>
            <a:r>
              <a:rPr lang="zh-CN" altLang="en-US" dirty="0"/>
              <a:t>（不考）</a:t>
            </a:r>
            <a:r>
              <a:rPr lang="en-US" altLang="zh-CN" dirty="0"/>
              <a:t>PUSH</a:t>
            </a:r>
            <a:r>
              <a:rPr lang="zh-CN" altLang="en-US" dirty="0"/>
              <a:t>以及</a:t>
            </a:r>
            <a:r>
              <a:rPr lang="en-US" altLang="zh-CN" dirty="0"/>
              <a:t>TCP</a:t>
            </a:r>
            <a:r>
              <a:rPr lang="zh-CN" altLang="en-US" dirty="0"/>
              <a:t>紧急数据</a:t>
            </a:r>
            <a:endParaRPr lang="en-US" altLang="zh-CN" dirty="0"/>
          </a:p>
          <a:p>
            <a:r>
              <a:rPr lang="en-US" altLang="zh-CN" sz="1800" dirty="0"/>
              <a:t>TCP</a:t>
            </a:r>
            <a:r>
              <a:rPr lang="zh-CN" altLang="en-US" sz="1800" dirty="0"/>
              <a:t>往返时间</a:t>
            </a:r>
            <a:r>
              <a:rPr lang="en-US" altLang="zh-CN" sz="1800" dirty="0"/>
              <a:t>RTT</a:t>
            </a:r>
            <a:r>
              <a:rPr lang="zh-CN" altLang="en-US" sz="1800" dirty="0"/>
              <a:t>和超时：</a:t>
            </a:r>
            <a:endParaRPr lang="en-US" altLang="zh-CN" sz="1800" dirty="0"/>
          </a:p>
          <a:p>
            <a:pPr lvl="1"/>
            <a:r>
              <a:rPr lang="zh-CN" altLang="en-US" dirty="0"/>
              <a:t>如何采样</a:t>
            </a:r>
            <a:r>
              <a:rPr lang="en-US" altLang="zh-CN" dirty="0"/>
              <a:t>RTT</a:t>
            </a:r>
            <a:r>
              <a:rPr lang="zh-CN" altLang="en-US" dirty="0"/>
              <a:t>，如何计算平均</a:t>
            </a:r>
            <a:r>
              <a:rPr lang="en-US" altLang="zh-CN" dirty="0"/>
              <a:t>RTT</a:t>
            </a:r>
            <a:r>
              <a:rPr lang="zh-CN" altLang="en-US" dirty="0"/>
              <a:t>，重传的</a:t>
            </a:r>
            <a:r>
              <a:rPr lang="en-US" altLang="zh-CN" dirty="0"/>
              <a:t>TCP</a:t>
            </a:r>
            <a:r>
              <a:rPr lang="zh-CN" altLang="en-US" dirty="0"/>
              <a:t>段是否采样</a:t>
            </a:r>
            <a:endParaRPr lang="en-US" altLang="zh-CN" dirty="0"/>
          </a:p>
          <a:p>
            <a:pPr lvl="1"/>
            <a:r>
              <a:rPr lang="zh-CN" altLang="en-US" dirty="0"/>
              <a:t>如何计算平均绝对偏差，如何计算重传超时</a:t>
            </a:r>
            <a:endParaRPr lang="en-US" altLang="zh-CN" dirty="0"/>
          </a:p>
          <a:p>
            <a:pPr lvl="1"/>
            <a:r>
              <a:rPr lang="zh-CN" altLang="en-US" dirty="0"/>
              <a:t>不考时间戳选项</a:t>
            </a:r>
            <a:endParaRPr lang="en-US" altLang="zh-CN" dirty="0"/>
          </a:p>
          <a:p>
            <a:r>
              <a:rPr lang="en-US" altLang="zh-CN" sz="1800" dirty="0" err="1"/>
              <a:t>TCp</a:t>
            </a:r>
            <a:r>
              <a:rPr lang="zh-CN" altLang="en-US" sz="1800" dirty="0"/>
              <a:t>的可靠数据传输：</a:t>
            </a:r>
            <a:endParaRPr lang="en-US" altLang="zh-CN" sz="1800" dirty="0"/>
          </a:p>
          <a:p>
            <a:pPr lvl="1"/>
            <a:r>
              <a:rPr lang="zh-CN" altLang="en-US" dirty="0"/>
              <a:t>快速重传</a:t>
            </a:r>
            <a:endParaRPr lang="en-US" altLang="zh-CN" dirty="0"/>
          </a:p>
          <a:p>
            <a:pPr lvl="1"/>
            <a:r>
              <a:rPr lang="zh-CN" altLang="en-US" dirty="0"/>
              <a:t>可变窗口的滑动窗口协议</a:t>
            </a:r>
            <a:endParaRPr lang="en-US" altLang="zh-CN" dirty="0"/>
          </a:p>
          <a:p>
            <a:pPr lvl="1"/>
            <a:r>
              <a:rPr lang="zh-CN" altLang="en-US" dirty="0"/>
              <a:t>不考延迟</a:t>
            </a:r>
            <a:r>
              <a:rPr lang="en-US" altLang="zh-CN" dirty="0"/>
              <a:t>ACK</a:t>
            </a:r>
            <a:r>
              <a:rPr lang="zh-CN" altLang="en-US" dirty="0"/>
              <a:t>的具体细节</a:t>
            </a:r>
            <a:endParaRPr lang="en-US" altLang="zh-CN" dirty="0"/>
          </a:p>
          <a:p>
            <a:pPr eaLnBrk="1" hangingPunct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920092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0066F-FC7C-6612-0224-BCC4F518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运输层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1851B9-613D-8DC6-1F5B-98E58A5F6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连接管理：不用记忆</a:t>
            </a:r>
            <a:r>
              <a:rPr lang="en-US" altLang="zh-CN" dirty="0"/>
              <a:t>TCP</a:t>
            </a:r>
            <a:r>
              <a:rPr lang="zh-CN" altLang="en-US" dirty="0"/>
              <a:t>连接的各个具体状态</a:t>
            </a:r>
            <a:endParaRPr lang="en-US" altLang="zh-CN" dirty="0"/>
          </a:p>
          <a:p>
            <a:pPr lvl="1"/>
            <a:r>
              <a:rPr lang="zh-CN" altLang="en-US" sz="2000" dirty="0"/>
              <a:t>掌握三次握手的连接建立过程</a:t>
            </a:r>
          </a:p>
          <a:p>
            <a:pPr lvl="1"/>
            <a:r>
              <a:rPr lang="zh-CN" altLang="en-US" sz="2000" dirty="0"/>
              <a:t>连接释放过程，什么是</a:t>
            </a:r>
            <a:r>
              <a:rPr lang="en-US" altLang="zh-CN" sz="2000" dirty="0"/>
              <a:t>TIME-WAIT</a:t>
            </a:r>
            <a:r>
              <a:rPr lang="zh-CN" altLang="en-US" sz="2000" dirty="0"/>
              <a:t>状态</a:t>
            </a:r>
            <a:endParaRPr lang="en-US" altLang="zh-CN" sz="2000" dirty="0"/>
          </a:p>
          <a:p>
            <a:pPr lvl="1"/>
            <a:r>
              <a:rPr lang="zh-CN" altLang="en-US" sz="2000" dirty="0"/>
              <a:t>通过</a:t>
            </a:r>
            <a:r>
              <a:rPr lang="en-US" altLang="zh-CN" sz="2000" dirty="0"/>
              <a:t>RST</a:t>
            </a:r>
            <a:r>
              <a:rPr lang="zh-CN" altLang="en-US" sz="2000" dirty="0"/>
              <a:t>重置连接：不考</a:t>
            </a:r>
            <a:r>
              <a:rPr lang="en-US" altLang="zh-CN" sz="2000" dirty="0"/>
              <a:t>SO_LINGER</a:t>
            </a:r>
            <a:r>
              <a:rPr lang="zh-CN" altLang="en-US" sz="2000" dirty="0"/>
              <a:t>选项</a:t>
            </a:r>
            <a:endParaRPr lang="en-US" altLang="zh-CN" sz="2000" dirty="0"/>
          </a:p>
          <a:p>
            <a:pPr lvl="1"/>
            <a:r>
              <a:rPr lang="zh-CN" altLang="en-US" sz="2000" dirty="0"/>
              <a:t>不考</a:t>
            </a:r>
            <a:r>
              <a:rPr lang="en-US" altLang="zh-CN" sz="2000" dirty="0"/>
              <a:t>IP</a:t>
            </a:r>
            <a:r>
              <a:rPr lang="zh-CN" altLang="en-US" sz="2000" dirty="0"/>
              <a:t>伪装攻击、</a:t>
            </a:r>
            <a:r>
              <a:rPr lang="en-US" altLang="zh-CN" sz="2000" dirty="0"/>
              <a:t>SYN Flooding</a:t>
            </a:r>
            <a:r>
              <a:rPr lang="zh-CN" altLang="en-US" sz="2000" dirty="0"/>
              <a:t>攻击等</a:t>
            </a:r>
            <a:endParaRPr lang="en-US" altLang="zh-CN" sz="2000" dirty="0"/>
          </a:p>
          <a:p>
            <a:r>
              <a:rPr lang="en-US" altLang="zh-CN" dirty="0"/>
              <a:t>TCP</a:t>
            </a:r>
            <a:r>
              <a:rPr lang="zh-CN" altLang="en-US" dirty="0"/>
              <a:t>拥塞控制：</a:t>
            </a:r>
            <a:endParaRPr lang="en-US" altLang="zh-CN" dirty="0"/>
          </a:p>
          <a:p>
            <a:pPr lvl="1"/>
            <a:r>
              <a:rPr lang="zh-CN" altLang="en-US" sz="2000" dirty="0"/>
              <a:t>慢启动、拥塞避免、快速重传、快速恢复</a:t>
            </a:r>
            <a:endParaRPr lang="en-US" altLang="zh-CN" sz="2000" dirty="0"/>
          </a:p>
          <a:p>
            <a:pPr lvl="1"/>
            <a:r>
              <a:rPr lang="en-US" altLang="zh-CN" sz="2000" dirty="0"/>
              <a:t>ECN</a:t>
            </a:r>
          </a:p>
          <a:p>
            <a:pPr lvl="1"/>
            <a:r>
              <a:rPr lang="zh-CN" altLang="en-US" sz="2000" dirty="0"/>
              <a:t>不考</a:t>
            </a:r>
            <a:r>
              <a:rPr lang="en-US" altLang="zh-CN" sz="2000" dirty="0"/>
              <a:t>TCP CUBIC</a:t>
            </a:r>
            <a:r>
              <a:rPr lang="zh-CN" altLang="en-US" sz="2000" dirty="0"/>
              <a:t>和</a:t>
            </a:r>
            <a:r>
              <a:rPr lang="en-US" altLang="zh-CN" sz="2000" dirty="0"/>
              <a:t>TCP Vegas</a:t>
            </a:r>
          </a:p>
          <a:p>
            <a:pPr lvl="1"/>
            <a:r>
              <a:rPr lang="en-US" altLang="zh-CN" sz="2000" dirty="0"/>
              <a:t>TCP</a:t>
            </a:r>
            <a:r>
              <a:rPr lang="zh-CN" altLang="en-US" sz="2000" dirty="0"/>
              <a:t>吞吐率模型和公平性</a:t>
            </a:r>
          </a:p>
        </p:txBody>
      </p:sp>
    </p:spTree>
    <p:extLst>
      <p:ext uri="{BB962C8B-B14F-4D97-AF65-F5344CB8AC3E}">
        <p14:creationId xmlns:p14="http://schemas.microsoft.com/office/powerpoint/2010/main" val="1054255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CBADD-073B-EEF8-725E-BD4B2D818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 网络层：数据平面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D464DF-CC8B-AB04-C141-A69D2F1CD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路由器工作原理：</a:t>
            </a:r>
            <a:endParaRPr lang="en-US" altLang="zh-CN" dirty="0"/>
          </a:p>
          <a:p>
            <a:pPr lvl="1"/>
            <a:r>
              <a:rPr lang="zh-CN" altLang="en-US" sz="2000" dirty="0"/>
              <a:t>了解输入端口、输出端口的主要功能，输入输出排队和队列管理</a:t>
            </a:r>
            <a:endParaRPr lang="en-US" altLang="zh-CN" sz="2000" dirty="0"/>
          </a:p>
          <a:p>
            <a:pPr lvl="1"/>
            <a:r>
              <a:rPr lang="zh-CN" altLang="en-US" sz="2000" dirty="0"/>
              <a:t>最长前缀匹配</a:t>
            </a:r>
            <a:endParaRPr lang="en-US" altLang="zh-CN" sz="2000" dirty="0"/>
          </a:p>
          <a:p>
            <a:pPr lvl="1"/>
            <a:r>
              <a:rPr lang="zh-CN" altLang="en-US" sz="2000" dirty="0"/>
              <a:t>不考缓冲区大小</a:t>
            </a:r>
            <a:endParaRPr lang="en-US" altLang="zh-CN" sz="2000" dirty="0"/>
          </a:p>
          <a:p>
            <a:r>
              <a:rPr lang="en-US" altLang="zh-CN" dirty="0"/>
              <a:t>IP</a:t>
            </a:r>
            <a:r>
              <a:rPr lang="zh-CN" altLang="en-US" dirty="0"/>
              <a:t>分组格式：</a:t>
            </a:r>
            <a:endParaRPr lang="en-US" altLang="zh-CN" dirty="0"/>
          </a:p>
          <a:p>
            <a:pPr lvl="1"/>
            <a:r>
              <a:rPr lang="zh-CN" altLang="en-US" sz="2000" dirty="0"/>
              <a:t>主要字段的作用，包括</a:t>
            </a:r>
            <a:r>
              <a:rPr lang="en-US" altLang="zh-CN" sz="2000" dirty="0"/>
              <a:t>TTL/</a:t>
            </a:r>
            <a:r>
              <a:rPr lang="zh-CN" altLang="en-US" sz="2000" dirty="0"/>
              <a:t>总长度</a:t>
            </a:r>
            <a:r>
              <a:rPr lang="en-US" altLang="zh-CN" sz="2000" dirty="0"/>
              <a:t>/</a:t>
            </a:r>
            <a:r>
              <a:rPr lang="zh-CN" altLang="en-US" sz="2000" dirty="0"/>
              <a:t>头部长度</a:t>
            </a:r>
            <a:r>
              <a:rPr lang="en-US" altLang="zh-CN" sz="2000" dirty="0"/>
              <a:t>/Checksum</a:t>
            </a:r>
            <a:r>
              <a:rPr lang="zh-CN" altLang="en-US" sz="2000" dirty="0"/>
              <a:t>等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分段和重组：分段</a:t>
            </a:r>
            <a:r>
              <a:rPr lang="en-US" altLang="zh-CN" sz="2000" dirty="0"/>
              <a:t>ID/</a:t>
            </a:r>
            <a:r>
              <a:rPr lang="zh-CN" altLang="en-US" sz="2000" dirty="0"/>
              <a:t>分段偏移</a:t>
            </a:r>
            <a:r>
              <a:rPr lang="en-US" altLang="zh-CN" sz="2000" dirty="0"/>
              <a:t>/</a:t>
            </a:r>
            <a:r>
              <a:rPr lang="zh-CN" altLang="en-US" sz="2000" dirty="0"/>
              <a:t>长度</a:t>
            </a:r>
            <a:r>
              <a:rPr lang="en-US" altLang="zh-CN" sz="2000" dirty="0"/>
              <a:t>/More Flag/Don't Fragment Flag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dirty="0"/>
              <a:t>IPv4</a:t>
            </a:r>
            <a:r>
              <a:rPr lang="zh-CN" altLang="en-US" dirty="0"/>
              <a:t>地址：地址类</a:t>
            </a:r>
            <a:r>
              <a:rPr lang="en-US" altLang="zh-CN" dirty="0"/>
              <a:t>--&gt; </a:t>
            </a:r>
            <a:r>
              <a:rPr lang="zh-CN" altLang="en-US" dirty="0"/>
              <a:t>子网 </a:t>
            </a:r>
            <a:r>
              <a:rPr lang="en-US" altLang="zh-CN" dirty="0"/>
              <a:t>--&gt; CIDR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了解</a:t>
            </a:r>
            <a:r>
              <a:rPr lang="en-US" altLang="zh-CN" sz="2000" dirty="0"/>
              <a:t>A/B/C</a:t>
            </a:r>
            <a:r>
              <a:rPr lang="zh-CN" altLang="en-US" sz="2000" dirty="0"/>
              <a:t>和</a:t>
            </a:r>
            <a:r>
              <a:rPr lang="en-US" altLang="zh-CN" sz="2000" dirty="0"/>
              <a:t>D</a:t>
            </a:r>
            <a:r>
              <a:rPr lang="zh-CN" altLang="en-US" sz="2000" dirty="0"/>
              <a:t>类地址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特殊</a:t>
            </a:r>
            <a:r>
              <a:rPr lang="en-US" altLang="zh-CN" sz="2000" dirty="0"/>
              <a:t>IP</a:t>
            </a:r>
            <a:r>
              <a:rPr lang="zh-CN" altLang="en-US" sz="2000" dirty="0"/>
              <a:t>地址：全</a:t>
            </a:r>
            <a:r>
              <a:rPr lang="en-US" altLang="zh-CN" sz="2000" dirty="0"/>
              <a:t>0</a:t>
            </a:r>
            <a:r>
              <a:rPr lang="zh-CN" altLang="en-US" sz="2000" dirty="0"/>
              <a:t>、全</a:t>
            </a:r>
            <a:r>
              <a:rPr lang="en-US" altLang="zh-CN" sz="2000" dirty="0"/>
              <a:t>1</a:t>
            </a:r>
            <a:r>
              <a:rPr lang="zh-CN" altLang="en-US" sz="2000" dirty="0"/>
              <a:t>以及</a:t>
            </a:r>
            <a:r>
              <a:rPr lang="en-US" altLang="zh-CN" sz="2000" dirty="0"/>
              <a:t>loopback</a:t>
            </a:r>
            <a:r>
              <a:rPr lang="zh-CN" altLang="en-US" sz="2000" dirty="0"/>
              <a:t>地址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掌握子网分配方案，包括变长子网掩码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CIDR</a:t>
            </a:r>
            <a:r>
              <a:rPr lang="zh-CN" altLang="en-US" sz="2000" dirty="0"/>
              <a:t>：掌握如何进行地址聚合</a:t>
            </a:r>
            <a:endParaRPr lang="en-US" altLang="zh-CN" sz="2000" dirty="0"/>
          </a:p>
          <a:p>
            <a:r>
              <a:rPr lang="en-US" altLang="zh-CN" dirty="0"/>
              <a:t>IP</a:t>
            </a:r>
            <a:r>
              <a:rPr lang="zh-CN" altLang="en-US" dirty="0"/>
              <a:t>转发： 基本过程，如何进行最长前缀匹配</a:t>
            </a:r>
          </a:p>
        </p:txBody>
      </p:sp>
    </p:spTree>
    <p:extLst>
      <p:ext uri="{BB962C8B-B14F-4D97-AF65-F5344CB8AC3E}">
        <p14:creationId xmlns:p14="http://schemas.microsoft.com/office/powerpoint/2010/main" val="2587248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3984E-E859-033E-D7AB-8A5EB3206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 网络层：数据平面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8A15D1-0CAA-B40A-15C9-543DABCBC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/>
              <a:t>DHCP</a:t>
            </a:r>
            <a:r>
              <a:rPr lang="zh-CN" altLang="en-US" dirty="0"/>
              <a:t>的基本工作过程：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DHCPDISCOVER/OFFER/REQUEST/ACK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不考</a:t>
            </a:r>
            <a:r>
              <a:rPr lang="en-US" altLang="zh-CN" sz="2000" dirty="0"/>
              <a:t>DHCP Relay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ICMP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ICMP</a:t>
            </a:r>
            <a:r>
              <a:rPr lang="zh-CN" altLang="en-US" sz="2000" dirty="0"/>
              <a:t>差错报告：那些</a:t>
            </a:r>
            <a:r>
              <a:rPr lang="en-US" altLang="zh-CN" sz="2000" dirty="0"/>
              <a:t>IP</a:t>
            </a:r>
            <a:r>
              <a:rPr lang="zh-CN" altLang="en-US" sz="2000" dirty="0"/>
              <a:t>分组会发送差错报告，差错报告包含哪些信息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Ping/traceroute</a:t>
            </a:r>
            <a:r>
              <a:rPr lang="zh-CN" altLang="en-US" sz="2000" dirty="0"/>
              <a:t>如何实现？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dirty="0"/>
              <a:t>网络地址转换：</a:t>
            </a:r>
            <a:r>
              <a:rPr lang="en-US" altLang="zh-CN" dirty="0"/>
              <a:t>NAPT</a:t>
            </a:r>
            <a:r>
              <a:rPr lang="zh-CN" altLang="en-US" dirty="0"/>
              <a:t>的工作原理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IPv6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IPv6</a:t>
            </a:r>
            <a:r>
              <a:rPr lang="zh-CN" altLang="en-US" sz="2000" dirty="0"/>
              <a:t>相比</a:t>
            </a:r>
            <a:r>
              <a:rPr lang="en-US" altLang="zh-CN" sz="2000" dirty="0"/>
              <a:t>IPv4</a:t>
            </a:r>
            <a:r>
              <a:rPr lang="zh-CN" altLang="en-US" sz="2000" dirty="0"/>
              <a:t>的改进，分组格式之间的变化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IPv6</a:t>
            </a:r>
            <a:r>
              <a:rPr lang="zh-CN" altLang="en-US" sz="2000" dirty="0"/>
              <a:t>地址的书写格式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不考</a:t>
            </a:r>
            <a:r>
              <a:rPr lang="en-US" altLang="zh-CN" sz="2000" dirty="0"/>
              <a:t>IPv6</a:t>
            </a:r>
            <a:r>
              <a:rPr lang="zh-CN" altLang="en-US" sz="2000" dirty="0"/>
              <a:t>扩展头部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隧道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dirty="0"/>
              <a:t>泛化转发和</a:t>
            </a:r>
            <a:r>
              <a:rPr lang="en-US" altLang="zh-CN" dirty="0"/>
              <a:t>SDN</a:t>
            </a:r>
            <a:r>
              <a:rPr lang="zh-CN" altLang="en-US" dirty="0"/>
              <a:t>：了解</a:t>
            </a:r>
            <a:r>
              <a:rPr lang="en-US" altLang="zh-CN" dirty="0"/>
              <a:t>SDN</a:t>
            </a:r>
            <a:r>
              <a:rPr lang="zh-CN" altLang="en-US" dirty="0"/>
              <a:t>和泛化转发的基本思想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92148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A7BE5-8FBE-CF65-ED28-8EA761D0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章 网络层：控制平面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AF96CF-AB15-21D3-072F-CCCAD774B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链路状态路由算法：</a:t>
            </a:r>
            <a:endParaRPr lang="en-US" altLang="zh-CN" dirty="0"/>
          </a:p>
          <a:p>
            <a:pPr lvl="1"/>
            <a:r>
              <a:rPr lang="en-US" altLang="zh-CN" sz="2000" dirty="0"/>
              <a:t>Dijkstra</a:t>
            </a:r>
            <a:r>
              <a:rPr lang="zh-CN" altLang="en-US" sz="2000" dirty="0"/>
              <a:t>算法基本工作过程</a:t>
            </a:r>
            <a:endParaRPr lang="en-US" altLang="zh-CN" sz="2000" dirty="0"/>
          </a:p>
          <a:p>
            <a:pPr lvl="1"/>
            <a:r>
              <a:rPr lang="zh-CN" altLang="en-US" sz="2000" dirty="0"/>
              <a:t>了解</a:t>
            </a:r>
            <a:r>
              <a:rPr lang="en-US" altLang="zh-CN" sz="2000" dirty="0"/>
              <a:t>OSPF</a:t>
            </a:r>
            <a:r>
              <a:rPr lang="zh-CN" altLang="en-US" sz="2000" dirty="0"/>
              <a:t>协议，不考</a:t>
            </a:r>
            <a:r>
              <a:rPr lang="en-US" altLang="zh-CN" sz="2000" dirty="0"/>
              <a:t>OSPF</a:t>
            </a:r>
            <a:r>
              <a:rPr lang="zh-CN" altLang="en-US" sz="2000" dirty="0"/>
              <a:t>区域的具体细节（本地区域、主干区域、</a:t>
            </a:r>
            <a:r>
              <a:rPr lang="en-US" altLang="zh-CN" sz="2000" dirty="0"/>
              <a:t>ABR</a:t>
            </a:r>
            <a:r>
              <a:rPr lang="zh-CN" altLang="en-US" sz="2000" dirty="0"/>
              <a:t>和</a:t>
            </a:r>
            <a:r>
              <a:rPr lang="en-US" altLang="zh-CN" sz="2000" dirty="0"/>
              <a:t>ASBR</a:t>
            </a:r>
            <a:r>
              <a:rPr lang="zh-CN" altLang="en-US" sz="2000" dirty="0"/>
              <a:t>等）</a:t>
            </a:r>
            <a:endParaRPr lang="en-US" altLang="zh-CN" sz="2000" dirty="0"/>
          </a:p>
          <a:p>
            <a:r>
              <a:rPr lang="zh-CN" altLang="en-US" dirty="0"/>
              <a:t>距离向量路由算法：</a:t>
            </a:r>
            <a:endParaRPr lang="en-US" altLang="zh-CN" dirty="0"/>
          </a:p>
          <a:p>
            <a:pPr lvl="1"/>
            <a:r>
              <a:rPr lang="zh-CN" altLang="en-US" sz="2000" dirty="0"/>
              <a:t>基本原理：距离表</a:t>
            </a:r>
            <a:endParaRPr lang="en-US" altLang="zh-CN" sz="2000" dirty="0"/>
          </a:p>
          <a:p>
            <a:pPr lvl="1"/>
            <a:r>
              <a:rPr lang="zh-CN" altLang="en-US" sz="2000" dirty="0"/>
              <a:t>无穷计数和反向抑制的水平分割</a:t>
            </a:r>
            <a:endParaRPr lang="en-US" altLang="zh-CN" sz="2000" dirty="0"/>
          </a:p>
          <a:p>
            <a:pPr lvl="1"/>
            <a:r>
              <a:rPr lang="zh-CN" altLang="en-US" sz="2000" dirty="0"/>
              <a:t>不考</a:t>
            </a:r>
            <a:r>
              <a:rPr lang="en-US" altLang="zh-CN" sz="2000" dirty="0"/>
              <a:t>RIP</a:t>
            </a:r>
          </a:p>
          <a:p>
            <a:r>
              <a:rPr lang="en-US" altLang="zh-CN" dirty="0"/>
              <a:t>BGP</a:t>
            </a:r>
            <a:r>
              <a:rPr lang="zh-CN" altLang="en-US" dirty="0"/>
              <a:t>路由协议</a:t>
            </a:r>
            <a:endParaRPr lang="en-US" altLang="zh-CN" dirty="0"/>
          </a:p>
          <a:p>
            <a:pPr lvl="1"/>
            <a:r>
              <a:rPr lang="zh-CN" altLang="en-US" sz="2000" dirty="0"/>
              <a:t>主要原理</a:t>
            </a:r>
            <a:endParaRPr lang="en-US" altLang="zh-CN" sz="2000" dirty="0"/>
          </a:p>
          <a:p>
            <a:pPr lvl="1"/>
            <a:r>
              <a:rPr lang="en-US" altLang="zh-CN" sz="2000" dirty="0"/>
              <a:t>eBGP</a:t>
            </a:r>
            <a:r>
              <a:rPr lang="zh-CN" altLang="en-US" sz="2000" dirty="0"/>
              <a:t>和</a:t>
            </a:r>
            <a:r>
              <a:rPr lang="en-US" altLang="zh-CN" sz="2000" dirty="0"/>
              <a:t>iBGP</a:t>
            </a:r>
          </a:p>
          <a:p>
            <a:pPr lvl="1"/>
            <a:r>
              <a:rPr lang="en-US" altLang="zh-CN" sz="2000" dirty="0"/>
              <a:t>NEXT-HOP</a:t>
            </a:r>
            <a:r>
              <a:rPr lang="zh-CN" altLang="en-US" sz="2000" dirty="0"/>
              <a:t>路径属性</a:t>
            </a:r>
            <a:endParaRPr lang="en-US" altLang="zh-CN" sz="2000" dirty="0"/>
          </a:p>
          <a:p>
            <a:pPr lvl="1"/>
            <a:r>
              <a:rPr lang="zh-CN" altLang="en-US" sz="2000" dirty="0"/>
              <a:t>不考热土豆路由、路由决策过程和路由选择策略</a:t>
            </a:r>
            <a:endParaRPr lang="en-US" altLang="zh-CN" sz="2000" dirty="0"/>
          </a:p>
          <a:p>
            <a:pPr lvl="1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22023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BB427-FDA5-7B9E-7088-F8293AAC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链路层和局域网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044D94-B1D7-17D1-1D30-8970F0A3F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不考补充的帧同步机制</a:t>
            </a:r>
            <a:endParaRPr lang="en-US" altLang="zh-CN" dirty="0"/>
          </a:p>
          <a:p>
            <a:r>
              <a:rPr lang="zh-CN" altLang="en-US" dirty="0"/>
              <a:t>差错检测和校正</a:t>
            </a:r>
            <a:endParaRPr lang="en-US" altLang="zh-CN" dirty="0"/>
          </a:p>
          <a:p>
            <a:pPr lvl="1"/>
            <a:r>
              <a:rPr lang="zh-CN" altLang="en-US" sz="2000" dirty="0"/>
              <a:t>随机差错和突发差错</a:t>
            </a:r>
            <a:endParaRPr lang="en-US" altLang="zh-CN" sz="2000" dirty="0"/>
          </a:p>
          <a:p>
            <a:pPr lvl="1"/>
            <a:r>
              <a:rPr lang="en-US" altLang="zh-CN" sz="2000" dirty="0"/>
              <a:t>CRC</a:t>
            </a:r>
          </a:p>
          <a:p>
            <a:pPr lvl="2">
              <a:lnSpc>
                <a:spcPct val="90000"/>
              </a:lnSpc>
            </a:pPr>
            <a:r>
              <a:rPr lang="zh-CN" altLang="en-US" dirty="0"/>
              <a:t>如何进行编码</a:t>
            </a:r>
          </a:p>
          <a:p>
            <a:pPr lvl="2">
              <a:lnSpc>
                <a:spcPct val="90000"/>
              </a:lnSpc>
            </a:pPr>
            <a:r>
              <a:rPr lang="zh-CN" altLang="en-US" dirty="0"/>
              <a:t>如何判断出错？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zh-CN" altLang="en-US" dirty="0"/>
              <a:t>差错多项式：掌握判断检错（漏检）能力的基本原理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媒体访问控制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Slotted ALOHA</a:t>
            </a:r>
            <a:r>
              <a:rPr lang="zh-CN" altLang="en-US" sz="2000" dirty="0"/>
              <a:t>和</a:t>
            </a:r>
            <a:r>
              <a:rPr lang="en-US" altLang="zh-CN" sz="2000" dirty="0"/>
              <a:t>ALOHA</a:t>
            </a:r>
            <a:r>
              <a:rPr lang="zh-CN" altLang="en-US" sz="2000" dirty="0"/>
              <a:t>协议：冲突危险区，性能分析方法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CSMA</a:t>
            </a:r>
            <a:r>
              <a:rPr lang="zh-CN" altLang="en-US" sz="2000" dirty="0"/>
              <a:t>，</a:t>
            </a:r>
            <a:r>
              <a:rPr lang="en-US" altLang="zh-CN" sz="2000" dirty="0"/>
              <a:t>CSMA/CD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2">
              <a:lnSpc>
                <a:spcPct val="90000"/>
              </a:lnSpc>
            </a:pPr>
            <a:r>
              <a:rPr lang="zh-CN" altLang="en-US" dirty="0"/>
              <a:t>冲突检测和最小帧长限制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zh-CN" altLang="en-US" dirty="0"/>
              <a:t>二进制指数退避算法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全双工以太网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轮询和令牌传递</a:t>
            </a:r>
          </a:p>
        </p:txBody>
      </p:sp>
    </p:spTree>
    <p:extLst>
      <p:ext uri="{BB962C8B-B14F-4D97-AF65-F5344CB8AC3E}">
        <p14:creationId xmlns:p14="http://schemas.microsoft.com/office/powerpoint/2010/main" val="2756431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F8F4B-A8FE-2F30-7083-7E044956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链路层和局域网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CA574A-DD9E-5FB3-F951-648F3B061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/>
              <a:t>MAC</a:t>
            </a:r>
            <a:r>
              <a:rPr lang="zh-CN" altLang="en-US" sz="1800" dirty="0"/>
              <a:t>地址：</a:t>
            </a:r>
            <a:r>
              <a:rPr lang="en-US" altLang="zh-CN" sz="1800" dirty="0"/>
              <a:t>OUI + OUA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不考组播地址以及组播帧的处理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sz="1800" dirty="0"/>
              <a:t>ARP</a:t>
            </a:r>
            <a:r>
              <a:rPr lang="zh-CN" altLang="en-US" sz="1800" dirty="0"/>
              <a:t>：</a:t>
            </a:r>
            <a:r>
              <a:rPr lang="zh-CN" altLang="en-US" dirty="0"/>
              <a:t>掌握</a:t>
            </a:r>
            <a:r>
              <a:rPr lang="en-US" altLang="zh-CN" dirty="0"/>
              <a:t>ARP</a:t>
            </a:r>
            <a:r>
              <a:rPr lang="zh-CN" altLang="en-US" dirty="0"/>
              <a:t>的基本操作过程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了解什么是</a:t>
            </a:r>
            <a:r>
              <a:rPr lang="en-US" altLang="zh-CN" dirty="0" err="1"/>
              <a:t>gratutious</a:t>
            </a:r>
            <a:r>
              <a:rPr lang="en-US" altLang="zh-CN" dirty="0"/>
              <a:t> ARP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不考</a:t>
            </a:r>
            <a:r>
              <a:rPr lang="en-US" altLang="zh-CN" dirty="0"/>
              <a:t>ARP</a:t>
            </a:r>
            <a:r>
              <a:rPr lang="zh-CN" altLang="en-US" dirty="0"/>
              <a:t>伪装攻击</a:t>
            </a:r>
          </a:p>
          <a:p>
            <a:r>
              <a:rPr lang="zh-CN" altLang="en-US" sz="1800" dirty="0"/>
              <a:t>以太网</a:t>
            </a:r>
            <a:endParaRPr lang="en-US" altLang="zh-CN" sz="1800" dirty="0"/>
          </a:p>
          <a:p>
            <a:pPr lvl="1"/>
            <a:r>
              <a:rPr lang="zh-CN" altLang="en-US" dirty="0"/>
              <a:t>媒体选项命名策略</a:t>
            </a:r>
            <a:endParaRPr lang="en-US" altLang="zh-CN" dirty="0"/>
          </a:p>
          <a:p>
            <a:pPr lvl="1"/>
            <a:r>
              <a:rPr lang="zh-CN" altLang="en-US" dirty="0"/>
              <a:t>以太网帧格式：仅仅考虑</a:t>
            </a:r>
            <a:r>
              <a:rPr lang="en-US" altLang="zh-CN" dirty="0"/>
              <a:t>Ethernet-II</a:t>
            </a:r>
            <a:r>
              <a:rPr lang="zh-CN" altLang="en-US" dirty="0"/>
              <a:t>帧格式</a:t>
            </a:r>
            <a:endParaRPr lang="en-US" altLang="zh-CN" dirty="0"/>
          </a:p>
          <a:p>
            <a:pPr lvl="1"/>
            <a:r>
              <a:rPr lang="zh-CN" altLang="en-US" dirty="0"/>
              <a:t>物理层互联设备：转发器和集线器</a:t>
            </a:r>
            <a:endParaRPr lang="en-US" altLang="zh-CN" dirty="0"/>
          </a:p>
          <a:p>
            <a:pPr lvl="1"/>
            <a:r>
              <a:rPr lang="zh-CN" altLang="en-US" dirty="0"/>
              <a:t>链路层互联设备：网桥和交换机</a:t>
            </a:r>
            <a:endParaRPr lang="en-US" altLang="zh-CN" dirty="0"/>
          </a:p>
          <a:p>
            <a:pPr lvl="2"/>
            <a:r>
              <a:rPr lang="zh-CN" altLang="en-US" sz="1800" dirty="0"/>
              <a:t>交换机的基本工作原理</a:t>
            </a:r>
            <a:endParaRPr lang="en-US" altLang="zh-CN" sz="1800" dirty="0"/>
          </a:p>
          <a:p>
            <a:pPr lvl="2"/>
            <a:r>
              <a:rPr lang="zh-CN" altLang="en-US" sz="1800" dirty="0"/>
              <a:t>生成树算法</a:t>
            </a:r>
            <a:endParaRPr lang="en-US" altLang="zh-CN" sz="1800" dirty="0"/>
          </a:p>
          <a:p>
            <a:pPr lvl="1"/>
            <a:r>
              <a:rPr lang="zh-CN" altLang="en-US" dirty="0"/>
              <a:t>虚拟局域网：仅考虑基于端口的</a:t>
            </a:r>
            <a:r>
              <a:rPr lang="en-US" altLang="zh-CN" dirty="0"/>
              <a:t>VLAN</a:t>
            </a:r>
          </a:p>
          <a:p>
            <a:pPr lvl="2"/>
            <a:r>
              <a:rPr lang="zh-CN" altLang="en-US" sz="1800" dirty="0"/>
              <a:t>基本原理</a:t>
            </a:r>
            <a:endParaRPr lang="en-US" altLang="zh-CN" sz="1800" dirty="0"/>
          </a:p>
          <a:p>
            <a:pPr lvl="2"/>
            <a:r>
              <a:rPr lang="zh-CN" altLang="en-US" sz="1800" dirty="0"/>
              <a:t>干线链路和接入链路的应用场景：不考虑混合链路</a:t>
            </a:r>
            <a:endParaRPr lang="en-US" altLang="zh-CN" sz="1800" dirty="0"/>
          </a:p>
          <a:p>
            <a:pPr marL="914400" lvl="2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14647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8C092A-2FF3-0148-445A-C3AA1468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补充：物理层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F9739E-A3D5-C251-6736-955F5119A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香农定理和那奎斯特定理的应用</a:t>
            </a:r>
            <a:endParaRPr lang="en-US" altLang="zh-CN" dirty="0"/>
          </a:p>
          <a:p>
            <a:r>
              <a:rPr lang="zh-CN" altLang="en-US" dirty="0"/>
              <a:t>数字编码：</a:t>
            </a:r>
            <a:endParaRPr lang="en-US" altLang="zh-CN" dirty="0"/>
          </a:p>
          <a:p>
            <a:pPr lvl="1"/>
            <a:r>
              <a:rPr lang="en-US" altLang="zh-CN" dirty="0"/>
              <a:t>NRZ</a:t>
            </a:r>
            <a:r>
              <a:rPr lang="zh-CN" altLang="en-US" dirty="0"/>
              <a:t>、</a:t>
            </a:r>
            <a:r>
              <a:rPr lang="en-US" altLang="zh-CN" dirty="0"/>
              <a:t>NRZI</a:t>
            </a:r>
            <a:r>
              <a:rPr lang="zh-CN" altLang="en-US" dirty="0"/>
              <a:t>、曼彻斯特和差分曼彻斯特编码</a:t>
            </a:r>
            <a:endParaRPr lang="en-US" altLang="zh-CN" dirty="0"/>
          </a:p>
          <a:p>
            <a:pPr lvl="1"/>
            <a:r>
              <a:rPr lang="en-US" altLang="zh-CN" dirty="0"/>
              <a:t>4B5B</a:t>
            </a:r>
            <a:r>
              <a:rPr lang="zh-CN" altLang="en-US" dirty="0"/>
              <a:t>编码原理： 不需要记忆具体的</a:t>
            </a:r>
            <a:r>
              <a:rPr lang="en-US" altLang="zh-CN" dirty="0"/>
              <a:t>4B5B</a:t>
            </a:r>
            <a:r>
              <a:rPr lang="zh-CN" altLang="en-US" dirty="0"/>
              <a:t>映射表</a:t>
            </a:r>
            <a:endParaRPr lang="en-US" altLang="zh-CN" dirty="0"/>
          </a:p>
          <a:p>
            <a:r>
              <a:rPr lang="zh-CN" altLang="en-US" dirty="0"/>
              <a:t>数字调制：</a:t>
            </a:r>
            <a:endParaRPr lang="en-US" altLang="zh-CN" dirty="0"/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种基本方法：频率、幅度、相位</a:t>
            </a:r>
            <a:endParaRPr lang="en-US" altLang="zh-CN" dirty="0"/>
          </a:p>
          <a:p>
            <a:pPr lvl="1"/>
            <a:r>
              <a:rPr lang="zh-CN" altLang="en-US" dirty="0"/>
              <a:t>正交调制</a:t>
            </a:r>
            <a:r>
              <a:rPr lang="en-US" altLang="zh-CN" dirty="0"/>
              <a:t>QAM</a:t>
            </a:r>
            <a:r>
              <a:rPr lang="zh-CN" altLang="en-US" dirty="0"/>
              <a:t>：星座图</a:t>
            </a:r>
          </a:p>
        </p:txBody>
      </p:sp>
    </p:spTree>
    <p:extLst>
      <p:ext uri="{BB962C8B-B14F-4D97-AF65-F5344CB8AC3E}">
        <p14:creationId xmlns:p14="http://schemas.microsoft.com/office/powerpoint/2010/main" val="2514959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2">
      <a:dk1>
        <a:srgbClr val="1E1E1E"/>
      </a:dk1>
      <a:lt1>
        <a:sysClr val="window" lastClr="FFFFFF"/>
      </a:lt1>
      <a:dk2>
        <a:srgbClr val="0F1E3C"/>
      </a:dk2>
      <a:lt2>
        <a:srgbClr val="F0F0F0"/>
      </a:lt2>
      <a:accent1>
        <a:srgbClr val="0066CC"/>
      </a:accent1>
      <a:accent2>
        <a:srgbClr val="009999"/>
      </a:accent2>
      <a:accent3>
        <a:srgbClr val="00CC66"/>
      </a:accent3>
      <a:accent4>
        <a:srgbClr val="FF6600"/>
      </a:accent4>
      <a:accent5>
        <a:srgbClr val="9933CC"/>
      </a:accent5>
      <a:accent6>
        <a:srgbClr val="666666"/>
      </a:accent6>
      <a:hlink>
        <a:srgbClr val="0066CC"/>
      </a:hlink>
      <a:folHlink>
        <a:srgbClr val="663399"/>
      </a:folHlink>
    </a:clrScheme>
    <a:fontScheme name="主题字体">
      <a:majorFont>
        <a:latin typeface="Consolas"/>
        <a:ea typeface="华文楷体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81173</TotalTime>
  <Words>1270</Words>
  <Application>Microsoft Office PowerPoint</Application>
  <PresentationFormat>宽屏</PresentationFormat>
  <Paragraphs>173</Paragraphs>
  <Slides>14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Arial</vt:lpstr>
      <vt:lpstr>Calibri</vt:lpstr>
      <vt:lpstr>Cambria Math</vt:lpstr>
      <vt:lpstr>Consolas</vt:lpstr>
      <vt:lpstr>Office 主题​​</vt:lpstr>
      <vt:lpstr>复习</vt:lpstr>
      <vt:lpstr>考试信息</vt:lpstr>
      <vt:lpstr>第1章 计算机网络和Internet</vt:lpstr>
      <vt:lpstr>第2章 应用层</vt:lpstr>
      <vt:lpstr>第2章 应用层</vt:lpstr>
      <vt:lpstr>第3章 运输层 </vt:lpstr>
      <vt:lpstr>第3章 运输层 </vt:lpstr>
      <vt:lpstr>第3章 运输层 </vt:lpstr>
      <vt:lpstr>第4章 网络层：数据平面</vt:lpstr>
      <vt:lpstr>第4章 网络层：数据平面</vt:lpstr>
      <vt:lpstr>第5章 网络层：控制平面</vt:lpstr>
      <vt:lpstr>第6章 链路层和局域网</vt:lpstr>
      <vt:lpstr>第6章 链路层和局域网</vt:lpstr>
      <vt:lpstr>补充：物理层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Mao Dilin</dc:creator>
  <cp:lastModifiedBy>Dilin Mao</cp:lastModifiedBy>
  <cp:revision>711</cp:revision>
  <dcterms:created xsi:type="dcterms:W3CDTF">2021-07-08T12:06:32Z</dcterms:created>
  <dcterms:modified xsi:type="dcterms:W3CDTF">2025-12-25T16:42:50Z</dcterms:modified>
</cp:coreProperties>
</file>