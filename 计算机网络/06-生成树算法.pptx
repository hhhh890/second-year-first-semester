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notesMasterIdLst>
    <p:notesMasterId r:id="rId9"/>
  </p:notesMasterIdLst>
  <p:sldIdLst>
    <p:sldId id="256" r:id="rId2"/>
    <p:sldId id="266" r:id="rId3"/>
    <p:sldId id="265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0070C0"/>
    <a:srgbClr val="3E4095"/>
    <a:srgbClr val="7A7A7A"/>
    <a:srgbClr val="003399"/>
    <a:srgbClr val="0066CC"/>
    <a:srgbClr val="3E40A9"/>
    <a:srgbClr val="073291"/>
    <a:srgbClr val="595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7" autoAdjust="0"/>
    <p:restoredTop sz="68233" autoAdjust="0"/>
  </p:normalViewPr>
  <p:slideViewPr>
    <p:cSldViewPr snapToGrid="0">
      <p:cViewPr varScale="1">
        <p:scale>
          <a:sx n="78" d="100"/>
          <a:sy n="78" d="100"/>
        </p:scale>
        <p:origin x="1244" y="48"/>
      </p:cViewPr>
      <p:guideLst>
        <p:guide orient="horz" pos="504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76A4-C51F-48B2-92DF-DED52320BFCA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08BEDE-8E85-48AE-9BA5-005F8B263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182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947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fontAlgn="t" latinLnBrk="0" hangingPunct="1"/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根据数据速率配置端口花费</a:t>
            </a:r>
            <a:endParaRPr lang="en-US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t" latinLnBrk="0" hangingPunct="1"/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10Mbps   100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100Mbps  19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1Gbps       4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10Gbps     2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fontAlgn="auto" latinLnBrk="0" hangingPunct="1"/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&gt;10Gbps   1</a:t>
            </a:r>
            <a:endParaRPr lang="zh-CN" altLang="zh-CN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528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47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sudo</a:t>
            </a:r>
            <a:r>
              <a:rPr lang="en-US" altLang="zh-CN" dirty="0"/>
              <a:t> </a:t>
            </a:r>
            <a:r>
              <a:rPr lang="en-US" altLang="zh-CN" dirty="0" err="1"/>
              <a:t>tcpdump</a:t>
            </a:r>
            <a:r>
              <a:rPr lang="en-US" altLang="zh-CN" dirty="0"/>
              <a:t> -</a:t>
            </a:r>
            <a:r>
              <a:rPr lang="en-US" altLang="zh-CN" dirty="0" err="1"/>
              <a:t>i</a:t>
            </a:r>
            <a:r>
              <a:rPr lang="en-US" altLang="zh-CN" dirty="0"/>
              <a:t> eno1 ether </a:t>
            </a:r>
            <a:r>
              <a:rPr lang="en-US" altLang="zh-CN" dirty="0" err="1"/>
              <a:t>dst</a:t>
            </a:r>
            <a:r>
              <a:rPr lang="en-US" altLang="zh-CN" dirty="0"/>
              <a:t> 01:80:c2:00:00:00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829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139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08BEDE-8E85-48AE-9BA5-005F8B2638F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085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271F8-ADAA-4BC6-B039-DB7B2D996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5DEA4D-643D-43ED-BE97-429D0C86F4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CCF1AF-5468-4355-B694-C00DBFB6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F6C85E-D82D-4AF1-94A1-3FE614B6F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9D36B1-BF9A-470D-A44B-8FC66E83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7730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9D1AFC0-80D2-4D2C-A7C8-5A0F0248062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52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A00AD-4D4F-4A90-BB82-AC6BB960E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662953" cy="644434"/>
          </a:xfrm>
          <a:solidFill>
            <a:schemeClr val="bg2"/>
          </a:solidFill>
        </p:spPr>
        <p:txBody>
          <a:bodyPr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EBE1D3-8CB4-440D-96F8-3A5A40092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11289710" cy="5617710"/>
          </a:xfrm>
        </p:spPr>
        <p:txBody>
          <a:bodyPr/>
          <a:lstStyle>
            <a:lvl1pPr>
              <a:lnSpc>
                <a:spcPct val="110000"/>
              </a:lnSpc>
              <a:defRPr sz="2000"/>
            </a:lvl1pPr>
            <a:lvl2pPr>
              <a:lnSpc>
                <a:spcPct val="110000"/>
              </a:lnSpc>
              <a:defRPr sz="1800"/>
            </a:lvl2pPr>
            <a:lvl3pPr>
              <a:lnSpc>
                <a:spcPct val="110000"/>
              </a:lnSpc>
              <a:defRPr sz="20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562687-6CC3-480C-A73D-EE1D10A971F1}"/>
              </a:ext>
            </a:extLst>
          </p:cNvPr>
          <p:cNvSpPr/>
          <p:nvPr userDrawn="1"/>
        </p:nvSpPr>
        <p:spPr>
          <a:xfrm>
            <a:off x="-1" y="6581000"/>
            <a:ext cx="12192000" cy="277000"/>
          </a:xfrm>
          <a:prstGeom prst="rect">
            <a:avLst/>
          </a:prstGeom>
          <a:solidFill>
            <a:srgbClr val="07329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AD84667-4FD6-4606-849A-1BF3E2FE82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5" y="6565660"/>
            <a:ext cx="989557" cy="3057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D4173F8-B1CD-42EF-9E48-F2930C6A7A39}"/>
              </a:ext>
            </a:extLst>
          </p:cNvPr>
          <p:cNvSpPr txBox="1"/>
          <p:nvPr userDrawn="1"/>
        </p:nvSpPr>
        <p:spPr>
          <a:xfrm>
            <a:off x="11752125" y="6569455"/>
            <a:ext cx="701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3858DE9-7500-4A07-AB29-178CE3CB0F4B}" type="slidenum">
              <a:rPr lang="zh-CN" altLang="en-US" sz="1200" smtClean="0">
                <a:solidFill>
                  <a:schemeClr val="bg1"/>
                </a:solidFill>
              </a:rPr>
              <a:t>‹#›</a:t>
            </a:fld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613951BC-260C-499F-82DB-61C1253AEE5B}"/>
              </a:ext>
            </a:extLst>
          </p:cNvPr>
          <p:cNvSpPr/>
          <p:nvPr userDrawn="1"/>
        </p:nvSpPr>
        <p:spPr>
          <a:xfrm>
            <a:off x="-3175" y="6581000"/>
            <a:ext cx="82070" cy="27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555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FA8CE-5F8C-4DE1-87BD-093A6E24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3F1409-4385-4250-9C8E-F94D36678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0C6C0E-E4EF-4A4D-BE1C-58FAB5B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492EA3-AF0B-493E-9B0D-6FFA93BD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87CD8-17FC-4A1C-9596-4BE1466A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548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7D759C-CAC7-44DB-A2A1-179FFBD0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79CBD2-432B-4197-A0A7-A8CF40F9E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42AF22-2B75-407F-9DA6-6C8D7740E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841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66661-C9E2-44CD-9E22-5236E0CC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994966-33A5-4B7A-AE10-287ABBEC2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982C2D-3A7D-4ECE-AE9C-88AD01616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7D59F6-2004-46FB-B8E2-3B2996E13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38B0D6-0F3F-48DE-90CB-10601126D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7AAB63-44C1-43C0-9E29-1CE2A877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DEB992-8983-4137-B343-9E810A176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933040-8B6C-4EC9-AF2F-F480C93B9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98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73C7F-50E3-4BBF-85D6-233D5808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4AE306-DA55-49B6-A4F5-9BC5BD99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72DE92-F9C8-44FC-9D87-F5FDC0F5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4EF772-7C58-4A65-ACA5-1724610A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28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1148BA-DB11-4E0E-8E84-CB97E33D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F9FEEE-D1E2-4D36-9631-39DEFC6BD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9E12C-0A7A-46FC-9CD3-0EC0953D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47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7B2E0-0AEC-4EED-8E88-72D6F3658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EA969-0295-421C-B922-773C494DD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59360D-CF28-46AC-A66E-42E06595A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F285A-3F8E-461E-A89F-A60002C0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F31183-DE59-4E06-AB9F-8F2DBEFC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40690-90D5-4601-BCCE-D12889A3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62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09D14-DF52-43BA-9308-8764F1B4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ADE875-3691-49BB-B137-2384AE6DB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8757DE-F15A-4122-9D9B-BCA08D695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337275-CA15-4E2B-8DAC-B7F73CE8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93D2A6-B1EC-4360-A791-F14D2F089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2B45CD-5E1A-4D23-A6DD-5F0AC901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2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28FF4-8519-4A3B-84B8-49FE0F268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C59F1-2F07-481E-B96E-76E652747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F68CD0-637B-4C5D-AD13-9F661E91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5777F0-BFA4-4D59-9742-58F33D13C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E815D-F543-47C8-8F3F-805B792D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09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7620AA-9EC9-44E0-B36A-983568BE7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B95DE6-91DB-4FBB-8D97-409B4FFAD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6DBB3E-0E8F-4DB5-B64E-DACDB45C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81F01-086D-45F2-91B3-2D4837DEE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8AD2CF-84BE-4854-9F14-8A28F055D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917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D38D05-C945-4C95-8247-A7EC74940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F98940-E298-4C02-A0D4-EC8249AEF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1A8DA3-B2F1-43F6-897D-782D57B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AED6B269-64D1-4AFD-BD73-423CE2A27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FB4B007-3A57-4669-A29C-3B63E446D9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296" y="2039143"/>
            <a:ext cx="4694110" cy="2414587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E9EF51A8-F688-42F7-A9AF-08AE9C8D4F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0300" y="2162175"/>
            <a:ext cx="4962525" cy="22907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" name="表格占位符 10">
            <a:extLst>
              <a:ext uri="{FF2B5EF4-FFF2-40B4-BE49-F238E27FC236}">
                <a16:creationId xmlns:a16="http://schemas.microsoft.com/office/drawing/2014/main" id="{16B2782A-B31D-4B08-A189-B980E4E84FDA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838200" y="4522791"/>
            <a:ext cx="4694110" cy="159067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298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57410-BF23-4BDC-9C93-E5015099D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D15446-AA20-4FF9-BA81-111F0643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682CA3-C599-4E7B-AA33-7DD0EE8E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0573FF-627A-4482-9875-D0D84D52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D1AFC0-80D2-4D2C-A7C8-5A0F024806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02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B730CA-185A-422F-85F7-CE4083E4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203577" cy="6444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AC8DB3-1DD4-42B6-9E78-E0296777C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046" y="905691"/>
            <a:ext cx="11203577" cy="5661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041A53A-B1DB-47B0-9130-DDC4854034D1}"/>
              </a:ext>
            </a:extLst>
          </p:cNvPr>
          <p:cNvSpPr/>
          <p:nvPr userDrawn="1"/>
        </p:nvSpPr>
        <p:spPr>
          <a:xfrm>
            <a:off x="11662257" y="6517865"/>
            <a:ext cx="4395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99400D7-9113-4B59-A3BD-69C3B8176E59}" type="slidenum">
              <a:rPr lang="zh-CN" altLang="en-US" sz="1200" smtClean="0">
                <a:solidFill>
                  <a:schemeClr val="bg1"/>
                </a:solidFill>
              </a:rPr>
              <a:t>‹#›</a:t>
            </a:fld>
            <a:endParaRPr lang="zh-CN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49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655" r:id="rId12"/>
    <p:sldLayoutId id="214748380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570" userDrawn="1">
          <p15:clr>
            <a:srgbClr val="F26B43"/>
          </p15:clr>
        </p15:guide>
        <p15:guide id="4" orient="horz" pos="459" userDrawn="1">
          <p15:clr>
            <a:srgbClr val="F26B43"/>
          </p15:clr>
        </p15:guide>
        <p15:guide id="6" pos="7401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23517-31E8-495B-8CDB-2902853BE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链路层和局域网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补充</a:t>
            </a:r>
            <a:r>
              <a:rPr lang="en-US" altLang="zh-CN" dirty="0"/>
              <a:t>)</a:t>
            </a:r>
            <a:r>
              <a:rPr lang="zh-CN" altLang="en-US" dirty="0"/>
              <a:t>生成树算法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B487F-27AF-49D5-AB76-51C4D08718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5083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049C77-E107-4BC1-AB0B-F6E120D6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046" y="40957"/>
            <a:ext cx="11203577" cy="644434"/>
          </a:xfrm>
        </p:spPr>
        <p:txBody>
          <a:bodyPr/>
          <a:lstStyle/>
          <a:p>
            <a:r>
              <a:rPr lang="zh-CN" altLang="en-US" dirty="0"/>
              <a:t>生成树算法：概述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16B5D7-1A86-43A6-BA27-1252D5E66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8054500" cy="5850400"/>
          </a:xfrm>
        </p:spPr>
        <p:txBody>
          <a:bodyPr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dirty="0"/>
              <a:t>路由回路不可能完全避免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复杂的网络很容易错误配置导致回路出现</a:t>
            </a:r>
            <a:endParaRPr lang="en-US" altLang="zh-CN" sz="2000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多条路径存在可以提供冗余以提高可靠性</a:t>
            </a:r>
            <a:endParaRPr lang="en-US" altLang="zh-CN" sz="2000" dirty="0"/>
          </a:p>
          <a:p>
            <a:pPr>
              <a:lnSpc>
                <a:spcPct val="95000"/>
              </a:lnSpc>
            </a:pPr>
            <a:r>
              <a:rPr lang="zh-CN" altLang="en-US" dirty="0"/>
              <a:t>通过网桥连接的互联网可看成一个图，图中的节点是网桥和局域网，而网桥和局域网连接的端口为图中的边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构建一颗生成树来覆盖所有局域网，生成树的根为某个网桥</a:t>
            </a:r>
            <a:endParaRPr lang="en-US" altLang="zh-CN" sz="2000" dirty="0"/>
          </a:p>
          <a:p>
            <a:pPr lvl="2">
              <a:lnSpc>
                <a:spcPct val="95000"/>
              </a:lnSpc>
            </a:pPr>
            <a:r>
              <a:rPr lang="zh-CN" altLang="en-US" dirty="0"/>
              <a:t>主要目标为避免路由回路而不考虑性能方面的因素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扩散和转发都限制在生成树上，只在那些属于生成树的端口之间扩散和转发</a:t>
            </a:r>
            <a:endParaRPr lang="en-US" altLang="zh-CN" sz="2000" dirty="0"/>
          </a:p>
          <a:p>
            <a:pPr>
              <a:lnSpc>
                <a:spcPct val="95000"/>
              </a:lnSpc>
            </a:pPr>
            <a:r>
              <a:rPr lang="zh-CN" altLang="en-US" dirty="0"/>
              <a:t>每个网桥配置：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网桥</a:t>
            </a:r>
            <a:r>
              <a:rPr lang="en-US" altLang="zh-CN" sz="2000" dirty="0"/>
              <a:t>ID</a:t>
            </a:r>
            <a:r>
              <a:rPr lang="zh-CN" altLang="en-US" sz="2000" dirty="0"/>
              <a:t>（</a:t>
            </a:r>
            <a:r>
              <a:rPr lang="en-US" altLang="zh-CN" sz="2000" dirty="0"/>
              <a:t>BID</a:t>
            </a:r>
            <a:r>
              <a:rPr lang="zh-CN" altLang="en-US" sz="2000" dirty="0"/>
              <a:t>）：</a:t>
            </a:r>
            <a:r>
              <a:rPr lang="en-US" altLang="zh-CN" sz="2000" dirty="0"/>
              <a:t>2</a:t>
            </a:r>
            <a:r>
              <a:rPr lang="zh-CN" altLang="en-US" sz="2000" dirty="0"/>
              <a:t>字节的优先级</a:t>
            </a:r>
            <a:r>
              <a:rPr lang="en-US" altLang="zh-CN" sz="2000" dirty="0"/>
              <a:t>+6</a:t>
            </a:r>
            <a:r>
              <a:rPr lang="zh-CN" altLang="en-US" sz="2000" dirty="0"/>
              <a:t>字节的</a:t>
            </a:r>
            <a:r>
              <a:rPr lang="en-US" altLang="zh-CN" sz="2000" dirty="0"/>
              <a:t>MAC</a:t>
            </a:r>
            <a:r>
              <a:rPr lang="zh-CN" altLang="en-US" sz="2000" dirty="0"/>
              <a:t>地址</a:t>
            </a:r>
            <a:endParaRPr lang="en-US" altLang="zh-CN" sz="2000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每个端口分配</a:t>
            </a:r>
            <a:r>
              <a:rPr lang="en-US" altLang="zh-CN" sz="2000" dirty="0"/>
              <a:t>16</a:t>
            </a:r>
            <a:r>
              <a:rPr lang="zh-CN" altLang="en-US" sz="2000" dirty="0"/>
              <a:t>比特的端口号以及端口花费</a:t>
            </a:r>
            <a:r>
              <a:rPr lang="en-US" altLang="zh-CN" sz="2000" dirty="0"/>
              <a:t>(</a:t>
            </a:r>
            <a:r>
              <a:rPr lang="zh-CN" altLang="en-US" sz="2000" dirty="0"/>
              <a:t>手工配置或根据数据速率计算）</a:t>
            </a:r>
            <a:endParaRPr lang="en-US" altLang="zh-CN" sz="2000" dirty="0"/>
          </a:p>
          <a:p>
            <a:pPr>
              <a:lnSpc>
                <a:spcPct val="95000"/>
              </a:lnSpc>
            </a:pPr>
            <a:r>
              <a:rPr lang="zh-CN" altLang="en-US" dirty="0"/>
              <a:t>网桥之间：</a:t>
            </a:r>
            <a:endParaRPr lang="en-US" altLang="zh-CN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通过</a:t>
            </a:r>
            <a:r>
              <a:rPr lang="en-US" altLang="zh-CN" sz="2000" dirty="0"/>
              <a:t>BPDU(Bridge Protocol Data Unit)</a:t>
            </a:r>
            <a:r>
              <a:rPr lang="zh-CN" altLang="en-US" sz="2000" dirty="0"/>
              <a:t>消息的交换来构造生成树</a:t>
            </a:r>
            <a:endParaRPr lang="en-US" altLang="zh-CN" sz="2000" dirty="0"/>
          </a:p>
          <a:p>
            <a:pPr lvl="1">
              <a:lnSpc>
                <a:spcPct val="95000"/>
              </a:lnSpc>
            </a:pPr>
            <a:r>
              <a:rPr lang="zh-CN" altLang="en-US" sz="2000" dirty="0"/>
              <a:t>新网桥加入或者故障时自动发现拓扑变化，重新生成新的生成树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BD6F8DD-9837-4257-A62F-00515D4B7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37" y="278937"/>
            <a:ext cx="770164" cy="2818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EA70CF2-EDF1-4CCE-A8C6-DBF33C31E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31" y="273648"/>
            <a:ext cx="770164" cy="2818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F118CC3-1E87-4155-A34E-F1B580386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852" y="1110100"/>
            <a:ext cx="770164" cy="28188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5E006E3-3D6A-4DDB-8389-AFCCDBAC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617" y="1109042"/>
            <a:ext cx="770164" cy="281883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AD2D2A1-B60B-4992-824A-6E92A453ED9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 flipV="1">
            <a:off x="6772781" y="1249984"/>
            <a:ext cx="668071" cy="10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61F39CB-7C47-4F6C-9456-90C3C077EDD7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6759901" y="414590"/>
            <a:ext cx="679630" cy="52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0091789-2D79-420D-92F8-4C049CB53D2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824613" y="555531"/>
            <a:ext cx="1321" cy="554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DE7AE11-37C6-4FC6-ADE9-7736CA2CBD2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6363511" y="560820"/>
            <a:ext cx="11308" cy="5386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363D16C1-9885-4398-B8F1-712395142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075" y="273648"/>
            <a:ext cx="770164" cy="28188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7F4C8993-7A80-47A1-9174-66CA05A69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869" y="268359"/>
            <a:ext cx="770164" cy="281883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CAD47A86-8ED5-4E80-8735-630EE97C9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8190" y="1104811"/>
            <a:ext cx="770164" cy="281883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65B039F5-07E5-48FE-94E0-F1B9DC831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955" y="1103753"/>
            <a:ext cx="770164" cy="281883"/>
          </a:xfrm>
          <a:prstGeom prst="rect">
            <a:avLst/>
          </a:prstGeom>
        </p:spPr>
      </p:pic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C33A0FF-76B1-4A81-B3B4-74026985C637}"/>
              </a:ext>
            </a:extLst>
          </p:cNvPr>
          <p:cNvCxnSpPr>
            <a:cxnSpLocks/>
            <a:stCxn id="41" idx="1"/>
            <a:endCxn id="42" idx="3"/>
          </p:cNvCxnSpPr>
          <p:nvPr/>
        </p:nvCxnSpPr>
        <p:spPr>
          <a:xfrm flipH="1" flipV="1">
            <a:off x="10100119" y="1244695"/>
            <a:ext cx="668071" cy="10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A03782B-D47B-43C7-999E-A704061ED921}"/>
              </a:ext>
            </a:extLst>
          </p:cNvPr>
          <p:cNvCxnSpPr>
            <a:cxnSpLocks/>
            <a:stCxn id="40" idx="1"/>
            <a:endCxn id="39" idx="3"/>
          </p:cNvCxnSpPr>
          <p:nvPr/>
        </p:nvCxnSpPr>
        <p:spPr>
          <a:xfrm flipH="1">
            <a:off x="10087239" y="409301"/>
            <a:ext cx="679630" cy="52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9D65920-2A16-4BB1-BF19-9D51CBF4BAA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11151951" y="550242"/>
            <a:ext cx="1321" cy="5545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06539A5-E649-4B76-9F3D-56E1585A6767}"/>
              </a:ext>
            </a:extLst>
          </p:cNvPr>
          <p:cNvCxnSpPr>
            <a:cxnSpLocks/>
            <a:stCxn id="39" idx="2"/>
          </p:cNvCxnSpPr>
          <p:nvPr/>
        </p:nvCxnSpPr>
        <p:spPr>
          <a:xfrm flipH="1">
            <a:off x="9690849" y="555531"/>
            <a:ext cx="11308" cy="5386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FB23F44F-F91D-41DE-95BC-28934CD27C9D}"/>
              </a:ext>
            </a:extLst>
          </p:cNvPr>
          <p:cNvSpPr txBox="1"/>
          <p:nvPr/>
        </p:nvSpPr>
        <p:spPr>
          <a:xfrm>
            <a:off x="10886491" y="-40387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B2</a:t>
            </a:r>
            <a:endParaRPr lang="zh-CN" altLang="en-US" b="1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811A5CF-877C-49F5-B671-B9F9319EDA4B}"/>
              </a:ext>
            </a:extLst>
          </p:cNvPr>
          <p:cNvSpPr txBox="1"/>
          <p:nvPr/>
        </p:nvSpPr>
        <p:spPr>
          <a:xfrm>
            <a:off x="9427754" y="-40387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B1</a:t>
            </a:r>
            <a:endParaRPr lang="zh-CN" altLang="en-US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A0653B-43D8-47B6-8F09-828E2534F947}"/>
              </a:ext>
            </a:extLst>
          </p:cNvPr>
          <p:cNvSpPr txBox="1"/>
          <p:nvPr/>
        </p:nvSpPr>
        <p:spPr>
          <a:xfrm>
            <a:off x="9255646" y="789798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B3</a:t>
            </a:r>
            <a:endParaRPr lang="zh-CN" altLang="en-US" b="1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A2435A1-98A1-40E9-A9E4-64480820D176}"/>
              </a:ext>
            </a:extLst>
          </p:cNvPr>
          <p:cNvSpPr txBox="1"/>
          <p:nvPr/>
        </p:nvSpPr>
        <p:spPr>
          <a:xfrm>
            <a:off x="10731077" y="810563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B4</a:t>
            </a:r>
            <a:endParaRPr lang="zh-CN" altLang="en-US" b="1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BDE52F0-1140-4B67-B6D9-9DA8155F15E2}"/>
              </a:ext>
            </a:extLst>
          </p:cNvPr>
          <p:cNvSpPr txBox="1"/>
          <p:nvPr/>
        </p:nvSpPr>
        <p:spPr>
          <a:xfrm>
            <a:off x="8751578" y="17687"/>
            <a:ext cx="676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根桥</a:t>
            </a:r>
          </a:p>
        </p:txBody>
      </p:sp>
      <p:sp>
        <p:nvSpPr>
          <p:cNvPr id="54" name="乘号 53">
            <a:extLst>
              <a:ext uri="{FF2B5EF4-FFF2-40B4-BE49-F238E27FC236}">
                <a16:creationId xmlns:a16="http://schemas.microsoft.com/office/drawing/2014/main" id="{61B58473-C0C0-41D0-B757-5E8FA823CBFA}"/>
              </a:ext>
            </a:extLst>
          </p:cNvPr>
          <p:cNvSpPr/>
          <p:nvPr/>
        </p:nvSpPr>
        <p:spPr>
          <a:xfrm>
            <a:off x="10559118" y="1066869"/>
            <a:ext cx="253248" cy="317126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ADB91A-B95E-4BE1-A998-D093C30C2490}"/>
              </a:ext>
            </a:extLst>
          </p:cNvPr>
          <p:cNvSpPr txBox="1"/>
          <p:nvPr/>
        </p:nvSpPr>
        <p:spPr>
          <a:xfrm>
            <a:off x="8513355" y="2218876"/>
            <a:ext cx="3472361" cy="44551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I think that I shall never see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A graph more lovely than a tree.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A tree whose crucial property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Is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loop-free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connectivity.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A tree which must be sure to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span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So packets can reach every LAN.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First the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Root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must be selected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By ID it is elected.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Least cost paths 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from Root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are traced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In the tree these paths are placed.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A mesh  is made by folks like me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Then bridges find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a spanning tree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Adobe Arabic" panose="02040503050201020203" pitchFamily="18" charset="-78"/>
              </a:rPr>
              <a:t>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3115DE-81C4-4C4E-B16B-384106A2DE27}"/>
              </a:ext>
            </a:extLst>
          </p:cNvPr>
          <p:cNvSpPr/>
          <p:nvPr/>
        </p:nvSpPr>
        <p:spPr>
          <a:xfrm>
            <a:off x="8497413" y="1521330"/>
            <a:ext cx="36646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1983</a:t>
            </a:r>
            <a:r>
              <a:rPr lang="zh-CN" altLang="en-US" dirty="0"/>
              <a:t>年</a:t>
            </a:r>
            <a:r>
              <a:rPr lang="en-US" altLang="zh-CN" dirty="0" err="1">
                <a:solidFill>
                  <a:srgbClr val="000000"/>
                </a:solidFill>
                <a:ea typeface="黑体" panose="02010609060101010101" pitchFamily="49" charset="-122"/>
              </a:rPr>
              <a:t>Radia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 Perlman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发明了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STP</a:t>
            </a:r>
            <a:r>
              <a:rPr lang="zh-CN" altLang="en-US" dirty="0">
                <a:solidFill>
                  <a:srgbClr val="000000"/>
                </a:solidFill>
                <a:ea typeface="黑体" panose="02010609060101010101" pitchFamily="49" charset="-122"/>
              </a:rPr>
              <a:t>协议</a:t>
            </a:r>
            <a:r>
              <a:rPr lang="en-US" altLang="zh-CN" dirty="0">
                <a:solidFill>
                  <a:srgbClr val="000000"/>
                </a:solidFill>
                <a:ea typeface="黑体" panose="02010609060101010101" pitchFamily="49" charset="-122"/>
              </a:rPr>
              <a:t>(Spanning Tree Protocol)</a:t>
            </a:r>
            <a:endParaRPr lang="en-US" altLang="zh-CN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AA25C5-8A94-4524-91D6-8EBB333C2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125892"/>
              </p:ext>
            </p:extLst>
          </p:nvPr>
        </p:nvGraphicFramePr>
        <p:xfrm>
          <a:off x="3629116" y="3666455"/>
          <a:ext cx="302800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4667">
                  <a:extLst>
                    <a:ext uri="{9D8B030D-6E8A-4147-A177-3AD203B41FA5}">
                      <a16:colId xmlns:a16="http://schemas.microsoft.com/office/drawing/2014/main" val="1373162745"/>
                    </a:ext>
                  </a:extLst>
                </a:gridCol>
                <a:gridCol w="2033337">
                  <a:extLst>
                    <a:ext uri="{9D8B030D-6E8A-4147-A177-3AD203B41FA5}">
                      <a16:colId xmlns:a16="http://schemas.microsoft.com/office/drawing/2014/main" val="27799227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优先级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MAC</a:t>
                      </a:r>
                      <a:r>
                        <a:rPr lang="zh-CN" altLang="en-US" dirty="0"/>
                        <a:t>地址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036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60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0EDDAB-6D9C-4984-A94E-E1236CF5D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生成树算法：根桥、根端口和选取端口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E7F84-C01C-4409-9177-B0F67522A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9764994" cy="5617710"/>
          </a:xfrm>
        </p:spPr>
        <p:txBody>
          <a:bodyPr>
            <a:normAutofit/>
          </a:bodyPr>
          <a:lstStyle/>
          <a:p>
            <a:pPr>
              <a:lnSpc>
                <a:spcPts val="2200"/>
              </a:lnSpc>
            </a:pPr>
            <a:r>
              <a:rPr lang="zh-CN" altLang="en-US" sz="1800" u="sng" dirty="0">
                <a:solidFill>
                  <a:srgbClr val="FF0000"/>
                </a:solidFill>
              </a:rPr>
              <a:t>生成树的根桥</a:t>
            </a:r>
            <a:r>
              <a:rPr lang="zh-CN" altLang="en-US" sz="1800" dirty="0"/>
              <a:t>为</a:t>
            </a:r>
            <a:r>
              <a:rPr lang="en-US" altLang="zh-CN" sz="1800" dirty="0"/>
              <a:t>BID</a:t>
            </a:r>
            <a:r>
              <a:rPr lang="zh-CN" altLang="en-US" sz="1800" dirty="0"/>
              <a:t>最小的网桥： </a:t>
            </a:r>
            <a:r>
              <a:rPr lang="en-US" altLang="zh-CN" sz="1800" dirty="0"/>
              <a:t>2</a:t>
            </a:r>
            <a:r>
              <a:rPr lang="zh-CN" altLang="en-US" sz="1800" dirty="0"/>
              <a:t>字节的优先级</a:t>
            </a:r>
            <a:r>
              <a:rPr lang="en-US" altLang="zh-CN" sz="1800" dirty="0"/>
              <a:t>+6</a:t>
            </a:r>
            <a:r>
              <a:rPr lang="zh-CN" altLang="en-US" sz="1800" dirty="0"/>
              <a:t>字节的</a:t>
            </a:r>
            <a:r>
              <a:rPr lang="en-US" altLang="zh-CN" sz="1800" dirty="0"/>
              <a:t>MAC</a:t>
            </a:r>
            <a:r>
              <a:rPr lang="zh-CN" altLang="en-US" sz="1800" dirty="0"/>
              <a:t>地址</a:t>
            </a:r>
            <a:endParaRPr lang="en-US" altLang="zh-CN" sz="1800" dirty="0"/>
          </a:p>
          <a:p>
            <a:pPr lvl="1">
              <a:lnSpc>
                <a:spcPts val="2200"/>
              </a:lnSpc>
            </a:pPr>
            <a:r>
              <a:rPr lang="zh-CN" altLang="en-US" dirty="0"/>
              <a:t>优先级越低，越有可能成为根桥，相同时比较</a:t>
            </a:r>
            <a:r>
              <a:rPr lang="en-US" altLang="zh-CN" dirty="0"/>
              <a:t>MAC</a:t>
            </a:r>
            <a:r>
              <a:rPr lang="zh-CN" altLang="en-US" dirty="0"/>
              <a:t>地址</a:t>
            </a:r>
            <a:endParaRPr lang="en-US" altLang="zh-CN" dirty="0"/>
          </a:p>
          <a:p>
            <a:pPr>
              <a:lnSpc>
                <a:spcPts val="2200"/>
              </a:lnSpc>
            </a:pPr>
            <a:r>
              <a:rPr lang="zh-CN" altLang="en-US" sz="1800" dirty="0"/>
              <a:t>每个网桥可以了解</a:t>
            </a:r>
            <a:r>
              <a:rPr lang="zh-CN" altLang="en-US" sz="1800" b="1" u="sng" dirty="0">
                <a:solidFill>
                  <a:srgbClr val="FF0000"/>
                </a:solidFill>
              </a:rPr>
              <a:t>到根桥方向的路径花费</a:t>
            </a:r>
            <a:endParaRPr lang="en-US" altLang="zh-CN" sz="1800" b="1" u="sng" dirty="0">
              <a:solidFill>
                <a:srgbClr val="FF0000"/>
              </a:solidFill>
            </a:endParaRPr>
          </a:p>
          <a:p>
            <a:pPr lvl="1">
              <a:lnSpc>
                <a:spcPts val="2200"/>
              </a:lnSpc>
            </a:pPr>
            <a:r>
              <a:rPr lang="zh-CN" altLang="en-US" dirty="0"/>
              <a:t>等于路径上经过的那些连接到另外一个网桥的端口花费之和</a:t>
            </a:r>
            <a:endParaRPr lang="en-US" altLang="zh-CN" dirty="0"/>
          </a:p>
          <a:p>
            <a:pPr lvl="1">
              <a:lnSpc>
                <a:spcPts val="2200"/>
              </a:lnSpc>
            </a:pPr>
            <a:r>
              <a:rPr lang="zh-CN" altLang="en-US" dirty="0"/>
              <a:t>网桥到根桥具有最少花费的路径上的第一个跳段所使用的端口为</a:t>
            </a:r>
            <a:r>
              <a:rPr lang="zh-CN" altLang="en-US" b="1" dirty="0">
                <a:solidFill>
                  <a:srgbClr val="FF0000"/>
                </a:solidFill>
              </a:rPr>
              <a:t>根端口</a:t>
            </a:r>
            <a:r>
              <a:rPr lang="zh-CN" altLang="en-US" dirty="0"/>
              <a:t>，路径花费为</a:t>
            </a:r>
            <a:r>
              <a:rPr lang="zh-CN" altLang="en-US" b="1" dirty="0">
                <a:solidFill>
                  <a:srgbClr val="FF0000"/>
                </a:solidFill>
              </a:rPr>
              <a:t>根路径花费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ts val="2200"/>
              </a:lnSpc>
            </a:pPr>
            <a:r>
              <a:rPr lang="zh-CN" altLang="en-US" sz="1800" dirty="0"/>
              <a:t>如果有多条最少花费路径时，具有</a:t>
            </a:r>
            <a:r>
              <a:rPr lang="zh-CN" altLang="en-US" sz="1800" b="1" dirty="0">
                <a:solidFill>
                  <a:srgbClr val="FF0000"/>
                </a:solidFill>
              </a:rPr>
              <a:t>更低端口号的端口</a:t>
            </a:r>
            <a:r>
              <a:rPr lang="zh-CN" altLang="en-US" sz="1800" dirty="0"/>
              <a:t>为根端口</a:t>
            </a:r>
            <a:endParaRPr lang="en-US" altLang="zh-CN" sz="1800" dirty="0"/>
          </a:p>
          <a:p>
            <a:pPr lvl="2">
              <a:lnSpc>
                <a:spcPts val="2200"/>
              </a:lnSpc>
            </a:pPr>
            <a:r>
              <a:rPr lang="zh-CN" altLang="en-US" sz="1800" dirty="0"/>
              <a:t>根桥没有根端口</a:t>
            </a:r>
            <a:endParaRPr lang="en-US" altLang="zh-CN" sz="1800" dirty="0"/>
          </a:p>
          <a:p>
            <a:pPr>
              <a:lnSpc>
                <a:spcPts val="2200"/>
              </a:lnSpc>
            </a:pPr>
            <a:r>
              <a:rPr lang="zh-CN" altLang="en-US" sz="1800" dirty="0"/>
              <a:t>每个局域网上到根桥的根路径花费最少（</a:t>
            </a:r>
            <a:r>
              <a:rPr lang="zh-CN" altLang="en-US" sz="1800" b="1" u="sng" dirty="0">
                <a:solidFill>
                  <a:srgbClr val="FF0000"/>
                </a:solidFill>
              </a:rPr>
              <a:t>最靠近根桥</a:t>
            </a:r>
            <a:r>
              <a:rPr lang="zh-CN" altLang="en-US" sz="1800" dirty="0"/>
              <a:t>）的那个网桥为</a:t>
            </a:r>
            <a:r>
              <a:rPr lang="zh-CN" altLang="en-US" sz="1800" b="1" u="sng" dirty="0">
                <a:solidFill>
                  <a:srgbClr val="FF0000"/>
                </a:solidFill>
              </a:rPr>
              <a:t>选取桥</a:t>
            </a:r>
            <a:endParaRPr lang="en-US" altLang="zh-CN" sz="1800" b="1" u="sng" dirty="0">
              <a:solidFill>
                <a:srgbClr val="FF0000"/>
              </a:solidFill>
            </a:endParaRPr>
          </a:p>
          <a:p>
            <a:pPr lvl="1">
              <a:lnSpc>
                <a:spcPts val="2200"/>
              </a:lnSpc>
            </a:pPr>
            <a:r>
              <a:rPr lang="zh-CN" altLang="en-US" dirty="0"/>
              <a:t>如果有多个可选的网桥时</a:t>
            </a:r>
            <a:r>
              <a:rPr lang="en-US" altLang="zh-CN" b="1" dirty="0">
                <a:solidFill>
                  <a:srgbClr val="FF0000"/>
                </a:solidFill>
              </a:rPr>
              <a:t>BID</a:t>
            </a:r>
            <a:r>
              <a:rPr lang="zh-CN" altLang="en-US" b="1" dirty="0">
                <a:solidFill>
                  <a:srgbClr val="FF0000"/>
                </a:solidFill>
              </a:rPr>
              <a:t>最低</a:t>
            </a:r>
            <a:r>
              <a:rPr lang="zh-CN" altLang="en-US" dirty="0"/>
              <a:t>的为选取桥</a:t>
            </a:r>
            <a:endParaRPr lang="en-US" altLang="zh-CN" dirty="0"/>
          </a:p>
          <a:p>
            <a:pPr lvl="1">
              <a:lnSpc>
                <a:spcPts val="2200"/>
              </a:lnSpc>
            </a:pPr>
            <a:r>
              <a:rPr lang="zh-CN" altLang="en-US" dirty="0"/>
              <a:t>选取桥连接到该局域网上的端口为</a:t>
            </a:r>
            <a:r>
              <a:rPr lang="zh-CN" altLang="en-US" b="1" dirty="0">
                <a:solidFill>
                  <a:srgbClr val="FF0000"/>
                </a:solidFill>
              </a:rPr>
              <a:t>选取端口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ts val="2200"/>
              </a:lnSpc>
            </a:pPr>
            <a:r>
              <a:rPr lang="zh-CN" altLang="en-US" sz="1800" dirty="0"/>
              <a:t>如果有多个端口连接到同一个局域网上，</a:t>
            </a:r>
            <a:r>
              <a:rPr lang="zh-CN" altLang="en-US" sz="1800" b="1" dirty="0">
                <a:solidFill>
                  <a:srgbClr val="FF0000"/>
                </a:solidFill>
              </a:rPr>
              <a:t>端口号最低的端口</a:t>
            </a:r>
            <a:r>
              <a:rPr lang="zh-CN" altLang="en-US" sz="1800" dirty="0"/>
              <a:t>为选取端口</a:t>
            </a:r>
            <a:endParaRPr lang="en-US" altLang="zh-CN" sz="1800" dirty="0"/>
          </a:p>
          <a:p>
            <a:pPr>
              <a:lnSpc>
                <a:spcPts val="2200"/>
              </a:lnSpc>
            </a:pPr>
            <a:r>
              <a:rPr lang="zh-CN" altLang="en-US" sz="1800" dirty="0"/>
              <a:t>生成树由所有</a:t>
            </a:r>
            <a:r>
              <a:rPr lang="zh-CN" altLang="en-US" sz="1800" b="1" u="sng" dirty="0">
                <a:solidFill>
                  <a:srgbClr val="FF0000"/>
                </a:solidFill>
              </a:rPr>
              <a:t>局域网和网桥</a:t>
            </a:r>
            <a:r>
              <a:rPr lang="zh-CN" altLang="en-US" sz="1800" dirty="0"/>
              <a:t>以及所有网桥的</a:t>
            </a:r>
            <a:r>
              <a:rPr lang="zh-CN" altLang="en-US" sz="1800" b="1" u="sng" dirty="0">
                <a:solidFill>
                  <a:srgbClr val="FF0000"/>
                </a:solidFill>
              </a:rPr>
              <a:t>根端口和选取端口</a:t>
            </a:r>
            <a:r>
              <a:rPr lang="zh-CN" altLang="en-US" sz="1800" dirty="0"/>
              <a:t>组成</a:t>
            </a:r>
            <a:endParaRPr lang="en-US" altLang="zh-CN" sz="1800" dirty="0"/>
          </a:p>
          <a:p>
            <a:pPr lvl="1">
              <a:lnSpc>
                <a:spcPts val="2200"/>
              </a:lnSpc>
            </a:pPr>
            <a:r>
              <a:rPr lang="zh-CN" altLang="en-US" dirty="0"/>
              <a:t>根端口和选取端口为转发状态</a:t>
            </a:r>
            <a:endParaRPr lang="en-US" altLang="zh-CN" dirty="0"/>
          </a:p>
          <a:p>
            <a:pPr lvl="1">
              <a:lnSpc>
                <a:spcPts val="2200"/>
              </a:lnSpc>
            </a:pPr>
            <a:r>
              <a:rPr lang="zh-CN" altLang="en-US" dirty="0"/>
              <a:t>其他端口为</a:t>
            </a:r>
            <a:r>
              <a:rPr lang="zh-CN" altLang="en-US" b="1" dirty="0">
                <a:solidFill>
                  <a:srgbClr val="FF0000"/>
                </a:solidFill>
              </a:rPr>
              <a:t>阻塞状态</a:t>
            </a:r>
            <a:r>
              <a:rPr lang="zh-CN" altLang="en-US" dirty="0"/>
              <a:t>，不允许往该端口转发帧，忽略从该端口接收到的帧（不包括</a:t>
            </a:r>
            <a:r>
              <a:rPr lang="en-US" altLang="zh-CN" dirty="0"/>
              <a:t>BPDU</a:t>
            </a:r>
            <a:r>
              <a:rPr lang="zh-CN" altLang="en-US" dirty="0"/>
              <a:t>帧）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2FF4A5-4C0E-43CA-BE68-0AEB20049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172" y="6046778"/>
            <a:ext cx="524792" cy="43593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820CFEA7-B8AC-4CD3-A289-82D8823DB185}"/>
              </a:ext>
            </a:extLst>
          </p:cNvPr>
          <p:cNvGrpSpPr/>
          <p:nvPr/>
        </p:nvGrpSpPr>
        <p:grpSpPr>
          <a:xfrm>
            <a:off x="10893929" y="660429"/>
            <a:ext cx="844953" cy="4636388"/>
            <a:chOff x="10893929" y="660429"/>
            <a:chExt cx="844953" cy="463638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55BE282-B3F8-4652-A8A8-3CE82570E5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68718" y="660429"/>
              <a:ext cx="770164" cy="28188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FD0CD2B-DE7C-42B4-8C92-E02A61AE2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37111" y="2097403"/>
              <a:ext cx="770164" cy="281883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2902F51-0B86-4436-ACBA-B68FFF59D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93929" y="3582399"/>
              <a:ext cx="770164" cy="281883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E0D2428-D9DF-4C2D-BEDB-40C401E0C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04539" y="5014934"/>
              <a:ext cx="770164" cy="281883"/>
            </a:xfrm>
            <a:prstGeom prst="rect">
              <a:avLst/>
            </a:prstGeom>
          </p:spPr>
        </p:pic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94C141EF-E8A7-43D5-8CA4-EE6ADA04A30E}"/>
                </a:ext>
              </a:extLst>
            </p:cNvPr>
            <p:cNvSpPr/>
            <p:nvPr/>
          </p:nvSpPr>
          <p:spPr>
            <a:xfrm>
              <a:off x="11279011" y="884439"/>
              <a:ext cx="249374" cy="1212964"/>
            </a:xfrm>
            <a:custGeom>
              <a:avLst/>
              <a:gdLst>
                <a:gd name="connsiteX0" fmla="*/ 0 w 428264"/>
                <a:gd name="connsiteY0" fmla="*/ 0 h 1319514"/>
                <a:gd name="connsiteX1" fmla="*/ 428264 w 428264"/>
                <a:gd name="connsiteY1" fmla="*/ 613458 h 1319514"/>
                <a:gd name="connsiteX2" fmla="*/ 11575 w 428264"/>
                <a:gd name="connsiteY2" fmla="*/ 810228 h 1319514"/>
                <a:gd name="connsiteX3" fmla="*/ 196770 w 428264"/>
                <a:gd name="connsiteY3" fmla="*/ 1319514 h 131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264" h="1319514">
                  <a:moveTo>
                    <a:pt x="0" y="0"/>
                  </a:moveTo>
                  <a:lnTo>
                    <a:pt x="428264" y="613458"/>
                  </a:lnTo>
                  <a:lnTo>
                    <a:pt x="11575" y="810228"/>
                  </a:lnTo>
                  <a:lnTo>
                    <a:pt x="196770" y="131951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7F80A1F-6D66-4BB9-8817-C1EB22CD269A}"/>
                </a:ext>
              </a:extLst>
            </p:cNvPr>
            <p:cNvSpPr/>
            <p:nvPr/>
          </p:nvSpPr>
          <p:spPr>
            <a:xfrm>
              <a:off x="11279011" y="2379286"/>
              <a:ext cx="249374" cy="1212964"/>
            </a:xfrm>
            <a:custGeom>
              <a:avLst/>
              <a:gdLst>
                <a:gd name="connsiteX0" fmla="*/ 0 w 428264"/>
                <a:gd name="connsiteY0" fmla="*/ 0 h 1319514"/>
                <a:gd name="connsiteX1" fmla="*/ 428264 w 428264"/>
                <a:gd name="connsiteY1" fmla="*/ 613458 h 1319514"/>
                <a:gd name="connsiteX2" fmla="*/ 11575 w 428264"/>
                <a:gd name="connsiteY2" fmla="*/ 810228 h 1319514"/>
                <a:gd name="connsiteX3" fmla="*/ 196770 w 428264"/>
                <a:gd name="connsiteY3" fmla="*/ 1319514 h 131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264" h="1319514">
                  <a:moveTo>
                    <a:pt x="0" y="0"/>
                  </a:moveTo>
                  <a:lnTo>
                    <a:pt x="428264" y="613458"/>
                  </a:lnTo>
                  <a:lnTo>
                    <a:pt x="11575" y="810228"/>
                  </a:lnTo>
                  <a:lnTo>
                    <a:pt x="196770" y="131951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8EC6CDA6-1AAE-4E04-8471-1FBC33494C0E}"/>
                </a:ext>
              </a:extLst>
            </p:cNvPr>
            <p:cNvSpPr/>
            <p:nvPr/>
          </p:nvSpPr>
          <p:spPr>
            <a:xfrm>
              <a:off x="11289621" y="3801970"/>
              <a:ext cx="249374" cy="1212964"/>
            </a:xfrm>
            <a:custGeom>
              <a:avLst/>
              <a:gdLst>
                <a:gd name="connsiteX0" fmla="*/ 0 w 428264"/>
                <a:gd name="connsiteY0" fmla="*/ 0 h 1319514"/>
                <a:gd name="connsiteX1" fmla="*/ 428264 w 428264"/>
                <a:gd name="connsiteY1" fmla="*/ 613458 h 1319514"/>
                <a:gd name="connsiteX2" fmla="*/ 11575 w 428264"/>
                <a:gd name="connsiteY2" fmla="*/ 810228 h 1319514"/>
                <a:gd name="connsiteX3" fmla="*/ 196770 w 428264"/>
                <a:gd name="connsiteY3" fmla="*/ 1319514 h 1319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8264" h="1319514">
                  <a:moveTo>
                    <a:pt x="0" y="0"/>
                  </a:moveTo>
                  <a:lnTo>
                    <a:pt x="428264" y="613458"/>
                  </a:lnTo>
                  <a:lnTo>
                    <a:pt x="11575" y="810228"/>
                  </a:lnTo>
                  <a:lnTo>
                    <a:pt x="196770" y="1319514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D748D26-29B5-496C-B89F-450014A2514E}"/>
              </a:ext>
            </a:extLst>
          </p:cNvPr>
          <p:cNvSpPr txBox="1"/>
          <p:nvPr/>
        </p:nvSpPr>
        <p:spPr>
          <a:xfrm>
            <a:off x="10335710" y="572980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根桥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D2A6E7E-D28E-4AA5-A4E9-6F365D71805B}"/>
              </a:ext>
            </a:extLst>
          </p:cNvPr>
          <p:cNvSpPr txBox="1"/>
          <p:nvPr/>
        </p:nvSpPr>
        <p:spPr>
          <a:xfrm>
            <a:off x="10243595" y="914833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选取端口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A76390-741D-4059-956E-8CA459E11BAE}"/>
              </a:ext>
            </a:extLst>
          </p:cNvPr>
          <p:cNvSpPr txBox="1"/>
          <p:nvPr/>
        </p:nvSpPr>
        <p:spPr>
          <a:xfrm>
            <a:off x="10437212" y="1723632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根端口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113DD0-3209-4169-98B2-698B0B2955ED}"/>
              </a:ext>
            </a:extLst>
          </p:cNvPr>
          <p:cNvSpPr txBox="1"/>
          <p:nvPr/>
        </p:nvSpPr>
        <p:spPr>
          <a:xfrm>
            <a:off x="10296904" y="2374256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选取端口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7D6D05-927D-4BD1-BE0C-A590EFBB251D}"/>
              </a:ext>
            </a:extLst>
          </p:cNvPr>
          <p:cNvSpPr txBox="1"/>
          <p:nvPr/>
        </p:nvSpPr>
        <p:spPr>
          <a:xfrm>
            <a:off x="10490521" y="3183055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根端口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1CABE5-6F60-4998-A624-FED2FF42599C}"/>
              </a:ext>
            </a:extLst>
          </p:cNvPr>
          <p:cNvSpPr txBox="1"/>
          <p:nvPr/>
        </p:nvSpPr>
        <p:spPr>
          <a:xfrm>
            <a:off x="10169453" y="3902591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选取端口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9A5E593-4C84-4DE4-992C-BBEF5E02C263}"/>
              </a:ext>
            </a:extLst>
          </p:cNvPr>
          <p:cNvSpPr txBox="1"/>
          <p:nvPr/>
        </p:nvSpPr>
        <p:spPr>
          <a:xfrm>
            <a:off x="10363070" y="4711390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根端口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3B1B17-4871-4A39-9BFE-C8C56A12C781}"/>
              </a:ext>
            </a:extLst>
          </p:cNvPr>
          <p:cNvSpPr txBox="1"/>
          <p:nvPr/>
        </p:nvSpPr>
        <p:spPr>
          <a:xfrm>
            <a:off x="11636086" y="3524654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B3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4EB81B9-9850-49D4-9EF2-3BAF00A55A03}"/>
              </a:ext>
            </a:extLst>
          </p:cNvPr>
          <p:cNvSpPr txBox="1"/>
          <p:nvPr/>
        </p:nvSpPr>
        <p:spPr>
          <a:xfrm>
            <a:off x="11647661" y="2062415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B2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8A9F19-5837-44F2-8C9C-E2D72DDDEA51}"/>
              </a:ext>
            </a:extLst>
          </p:cNvPr>
          <p:cNvSpPr txBox="1"/>
          <p:nvPr/>
        </p:nvSpPr>
        <p:spPr>
          <a:xfrm>
            <a:off x="11695700" y="616704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B1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B331139-D7B9-402D-9492-E44C9E6EBBB4}"/>
              </a:ext>
            </a:extLst>
          </p:cNvPr>
          <p:cNvSpPr txBox="1"/>
          <p:nvPr/>
        </p:nvSpPr>
        <p:spPr>
          <a:xfrm>
            <a:off x="11600726" y="4971209"/>
            <a:ext cx="73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B4</a:t>
            </a:r>
            <a:endParaRPr lang="zh-CN" altLang="en-US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C99AA22-5604-4F81-8330-CA05971A88BB}"/>
              </a:ext>
            </a:extLst>
          </p:cNvPr>
          <p:cNvCxnSpPr>
            <a:stCxn id="4" idx="0"/>
            <a:endCxn id="9" idx="2"/>
          </p:cNvCxnSpPr>
          <p:nvPr/>
        </p:nvCxnSpPr>
        <p:spPr>
          <a:xfrm flipV="1">
            <a:off x="11180568" y="5296817"/>
            <a:ext cx="109053" cy="7499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20529C0F-1892-435E-8A03-77C4567BEAA2}"/>
              </a:ext>
            </a:extLst>
          </p:cNvPr>
          <p:cNvSpPr txBox="1"/>
          <p:nvPr/>
        </p:nvSpPr>
        <p:spPr>
          <a:xfrm>
            <a:off x="10124889" y="5302465"/>
            <a:ext cx="111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</a:rPr>
              <a:t>选取端口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2F3173-C1E2-4730-9BD3-9AF8277CE2F4}"/>
              </a:ext>
            </a:extLst>
          </p:cNvPr>
          <p:cNvSpPr txBox="1"/>
          <p:nvPr/>
        </p:nvSpPr>
        <p:spPr>
          <a:xfrm>
            <a:off x="2727300" y="6087913"/>
            <a:ext cx="7978317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root path cost(B4) = cost(B4</a:t>
            </a:r>
            <a:r>
              <a:rPr lang="en-US" altLang="zh-CN" dirty="0">
                <a:latin typeface="Consolas" panose="020B0609020204030204" pitchFamily="49" charset="0"/>
                <a:sym typeface="Wingdings" panose="05000000000000000000" pitchFamily="2" charset="2"/>
              </a:rPr>
              <a:t>B3) + cost(B3B2) + cost(B2B1)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06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62028-A87D-49D0-96E2-B5EDF80BE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BPDU</a:t>
            </a:r>
            <a:r>
              <a:rPr lang="zh-CN" altLang="en-US" dirty="0"/>
              <a:t>消息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377E-8DC5-493A-9C1D-FD7C4E9B2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BPDU</a:t>
            </a:r>
            <a:r>
              <a:rPr lang="zh-CN" altLang="en-US" dirty="0"/>
              <a:t>消息的目的</a:t>
            </a:r>
            <a:r>
              <a:rPr lang="en-US" altLang="zh-CN" dirty="0"/>
              <a:t>MAC</a:t>
            </a:r>
            <a:r>
              <a:rPr lang="zh-CN" altLang="en-US" dirty="0"/>
              <a:t>地址为 </a:t>
            </a:r>
            <a:r>
              <a:rPr lang="en-US" altLang="zh-CN" dirty="0"/>
              <a:t>01-80-C2-00-00-00</a:t>
            </a:r>
            <a:r>
              <a:rPr lang="zh-CN" altLang="en-US" dirty="0"/>
              <a:t>，称为</a:t>
            </a:r>
            <a:r>
              <a:rPr lang="en-US" altLang="zh-CN" dirty="0">
                <a:solidFill>
                  <a:srgbClr val="4F4F4F"/>
                </a:solidFill>
                <a:latin typeface="-apple-system"/>
              </a:rPr>
              <a:t>IEEE Std 802.1D Bridge Group Address</a:t>
            </a:r>
            <a:r>
              <a:rPr lang="zh-CN" altLang="en-US" dirty="0">
                <a:solidFill>
                  <a:srgbClr val="4F4F4F"/>
                </a:solidFill>
                <a:latin typeface="-apple-system"/>
              </a:rPr>
              <a:t>，表示链路上的网桥，不会被转发到其他链路上</a:t>
            </a:r>
            <a:endParaRPr lang="en-US" altLang="zh-CN" dirty="0">
              <a:solidFill>
                <a:srgbClr val="4F4F4F"/>
              </a:solidFill>
              <a:latin typeface="-apple-system"/>
            </a:endParaRPr>
          </a:p>
          <a:p>
            <a:r>
              <a:rPr lang="en-US" altLang="zh-CN" dirty="0">
                <a:solidFill>
                  <a:srgbClr val="4F4F4F"/>
                </a:solidFill>
                <a:latin typeface="-apple-system"/>
              </a:rPr>
              <a:t>LLC SAP=0x42</a:t>
            </a:r>
            <a:r>
              <a:rPr lang="zh-CN" altLang="en-US" dirty="0">
                <a:solidFill>
                  <a:srgbClr val="4F4F4F"/>
                </a:solidFill>
                <a:latin typeface="-apple-system"/>
              </a:rPr>
              <a:t>，表示</a:t>
            </a:r>
            <a:r>
              <a:rPr lang="en-US" altLang="zh-CN" dirty="0">
                <a:solidFill>
                  <a:srgbClr val="4F4F4F"/>
                </a:solidFill>
                <a:latin typeface="-apple-system"/>
              </a:rPr>
              <a:t>BPDU</a:t>
            </a:r>
            <a:r>
              <a:rPr lang="zh-CN" altLang="en-US" dirty="0">
                <a:solidFill>
                  <a:srgbClr val="4F4F4F"/>
                </a:solidFill>
                <a:latin typeface="-apple-system"/>
              </a:rPr>
              <a:t>消息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865220E-C3D3-4D2D-B090-237FA8C457F8}"/>
              </a:ext>
            </a:extLst>
          </p:cNvPr>
          <p:cNvGraphicFramePr>
            <a:graphicFrameLocks/>
          </p:cNvGraphicFramePr>
          <p:nvPr/>
        </p:nvGraphicFramePr>
        <p:xfrm>
          <a:off x="703664" y="2368733"/>
          <a:ext cx="2130083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0083">
                  <a:extLst>
                    <a:ext uri="{9D8B030D-6E8A-4147-A177-3AD203B41FA5}">
                      <a16:colId xmlns:a16="http://schemas.microsoft.com/office/drawing/2014/main" val="1447042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端口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MAC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地址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585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01-80-C2-00-00-00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300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长度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553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DSAP = 0x42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709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SSAP = 0x42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712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Control = 0x03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21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检验和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996857"/>
                  </a:ext>
                </a:extLst>
              </a:tr>
            </a:tbl>
          </a:graphicData>
        </a:graphic>
      </p:graphicFrame>
      <p:graphicFrame>
        <p:nvGraphicFramePr>
          <p:cNvPr id="5" name="内容占位符 3">
            <a:extLst>
              <a:ext uri="{FF2B5EF4-FFF2-40B4-BE49-F238E27FC236}">
                <a16:creationId xmlns:a16="http://schemas.microsoft.com/office/drawing/2014/main" id="{6794E493-F19E-4A0A-856D-88DFA79628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2510542"/>
              </p:ext>
            </p:extLst>
          </p:nvPr>
        </p:nvGraphicFramePr>
        <p:xfrm>
          <a:off x="4362261" y="1627053"/>
          <a:ext cx="7829739" cy="4719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3481">
                  <a:extLst>
                    <a:ext uri="{9D8B030D-6E8A-4147-A177-3AD203B41FA5}">
                      <a16:colId xmlns:a16="http://schemas.microsoft.com/office/drawing/2014/main" val="1447042756"/>
                    </a:ext>
                  </a:extLst>
                </a:gridCol>
                <a:gridCol w="5586258">
                  <a:extLst>
                    <a:ext uri="{9D8B030D-6E8A-4147-A177-3AD203B41FA5}">
                      <a16:colId xmlns:a16="http://schemas.microsoft.com/office/drawing/2014/main" val="597783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协议</a:t>
                      </a:r>
                      <a:r>
                        <a:rPr lang="en-US" altLang="zh-CN" dirty="0"/>
                        <a:t>ID(0)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3585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版本号</a:t>
                      </a:r>
                      <a:r>
                        <a:rPr lang="en-US" altLang="zh-CN" dirty="0"/>
                        <a:t>(0)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3007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消息类型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0=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配置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BPDU  </a:t>
                      </a:r>
                      <a:r>
                        <a:rPr lang="en-US" altLang="zh-CN" dirty="0"/>
                        <a:t>80=TCN(</a:t>
                      </a:r>
                      <a:r>
                        <a:rPr lang="zh-CN" altLang="en-US" dirty="0"/>
                        <a:t>拓扑变化通知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7553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Flags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最低位为拓扑变化位，最高位为拓扑变化确认位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3709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根桥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4712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根路径花费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发送该消息的网桥到根桥的最短路径花费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55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发送者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9921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端口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199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消息</a:t>
                      </a:r>
                      <a:r>
                        <a:rPr lang="en-US" altLang="zh-CN" dirty="0"/>
                        <a:t>age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根桥最初发送与本消息相关的</a:t>
                      </a:r>
                      <a:r>
                        <a:rPr lang="en-US" altLang="zh-CN" dirty="0"/>
                        <a:t>BPDU</a:t>
                      </a:r>
                      <a:r>
                        <a:rPr lang="zh-CN" altLang="en-US" dirty="0"/>
                        <a:t>的时刻到现在的时间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1945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最大</a:t>
                      </a:r>
                      <a:r>
                        <a:rPr lang="en-US" altLang="zh-CN" dirty="0"/>
                        <a:t>age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BPDU</a:t>
                      </a:r>
                      <a:r>
                        <a:rPr lang="zh-CN" altLang="en-US" dirty="0"/>
                        <a:t>消息的最大生命期，缺省</a:t>
                      </a:r>
                      <a:r>
                        <a:rPr lang="en-US" altLang="zh-CN" dirty="0"/>
                        <a:t>20</a:t>
                      </a:r>
                      <a:r>
                        <a:rPr lang="zh-CN" altLang="en-US" dirty="0"/>
                        <a:t>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8519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Hello</a:t>
                      </a:r>
                      <a:r>
                        <a:rPr lang="zh-CN" altLang="en-US" dirty="0"/>
                        <a:t>时间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根桥定期发送</a:t>
                      </a:r>
                      <a:r>
                        <a:rPr lang="en-US" altLang="zh-CN" dirty="0"/>
                        <a:t>BPDU</a:t>
                      </a:r>
                      <a:r>
                        <a:rPr lang="zh-CN" altLang="en-US" dirty="0"/>
                        <a:t>消息的间隔，缺省</a:t>
                      </a:r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412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转发延迟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0766862"/>
                  </a:ext>
                </a:extLst>
              </a:tr>
            </a:tbl>
          </a:graphicData>
        </a:graphic>
      </p:graphicFrame>
      <p:sp>
        <p:nvSpPr>
          <p:cNvPr id="6" name="任意多边形 8">
            <a:extLst>
              <a:ext uri="{FF2B5EF4-FFF2-40B4-BE49-F238E27FC236}">
                <a16:creationId xmlns:a16="http://schemas.microsoft.com/office/drawing/2014/main" id="{EBE9512B-EBFB-4485-890C-AD0D497D403D}"/>
              </a:ext>
            </a:extLst>
          </p:cNvPr>
          <p:cNvSpPr/>
          <p:nvPr/>
        </p:nvSpPr>
        <p:spPr>
          <a:xfrm>
            <a:off x="2833748" y="1618889"/>
            <a:ext cx="1528513" cy="4730884"/>
          </a:xfrm>
          <a:custGeom>
            <a:avLst/>
            <a:gdLst>
              <a:gd name="connsiteX0" fmla="*/ 0 w 1548581"/>
              <a:gd name="connsiteY0" fmla="*/ 3347884 h 4468762"/>
              <a:gd name="connsiteX1" fmla="*/ 1548581 w 1548581"/>
              <a:gd name="connsiteY1" fmla="*/ 4468762 h 4468762"/>
              <a:gd name="connsiteX2" fmla="*/ 1533832 w 1548581"/>
              <a:gd name="connsiteY2" fmla="*/ 0 h 4468762"/>
              <a:gd name="connsiteX3" fmla="*/ 14748 w 1548581"/>
              <a:gd name="connsiteY3" fmla="*/ 2964426 h 4468762"/>
              <a:gd name="connsiteX4" fmla="*/ 14748 w 1548581"/>
              <a:gd name="connsiteY4" fmla="*/ 2964426 h 4468762"/>
              <a:gd name="connsiteX5" fmla="*/ 14748 w 1548581"/>
              <a:gd name="connsiteY5" fmla="*/ 2964426 h 4468762"/>
              <a:gd name="connsiteX0" fmla="*/ 0 w 1582125"/>
              <a:gd name="connsiteY0" fmla="*/ 3347884 h 4627156"/>
              <a:gd name="connsiteX1" fmla="*/ 1582125 w 1582125"/>
              <a:gd name="connsiteY1" fmla="*/ 4627156 h 4627156"/>
              <a:gd name="connsiteX2" fmla="*/ 1533832 w 1582125"/>
              <a:gd name="connsiteY2" fmla="*/ 0 h 4627156"/>
              <a:gd name="connsiteX3" fmla="*/ 14748 w 1582125"/>
              <a:gd name="connsiteY3" fmla="*/ 2964426 h 4627156"/>
              <a:gd name="connsiteX4" fmla="*/ 14748 w 1582125"/>
              <a:gd name="connsiteY4" fmla="*/ 2964426 h 4627156"/>
              <a:gd name="connsiteX5" fmla="*/ 14748 w 1582125"/>
              <a:gd name="connsiteY5" fmla="*/ 2964426 h 4627156"/>
              <a:gd name="connsiteX0" fmla="*/ 0 w 1582125"/>
              <a:gd name="connsiteY0" fmla="*/ 3347884 h 4682594"/>
              <a:gd name="connsiteX1" fmla="*/ 1582125 w 1582125"/>
              <a:gd name="connsiteY1" fmla="*/ 4682594 h 4682594"/>
              <a:gd name="connsiteX2" fmla="*/ 1533832 w 1582125"/>
              <a:gd name="connsiteY2" fmla="*/ 0 h 4682594"/>
              <a:gd name="connsiteX3" fmla="*/ 14748 w 1582125"/>
              <a:gd name="connsiteY3" fmla="*/ 2964426 h 4682594"/>
              <a:gd name="connsiteX4" fmla="*/ 14748 w 1582125"/>
              <a:gd name="connsiteY4" fmla="*/ 2964426 h 4682594"/>
              <a:gd name="connsiteX5" fmla="*/ 14748 w 1582125"/>
              <a:gd name="connsiteY5" fmla="*/ 2964426 h 4682594"/>
              <a:gd name="connsiteX0" fmla="*/ 0 w 1582125"/>
              <a:gd name="connsiteY0" fmla="*/ 3355979 h 4690689"/>
              <a:gd name="connsiteX1" fmla="*/ 1582125 w 1582125"/>
              <a:gd name="connsiteY1" fmla="*/ 4690689 h 4690689"/>
              <a:gd name="connsiteX2" fmla="*/ 1576086 w 1582125"/>
              <a:gd name="connsiteY2" fmla="*/ 0 h 4690689"/>
              <a:gd name="connsiteX3" fmla="*/ 14748 w 1582125"/>
              <a:gd name="connsiteY3" fmla="*/ 2972521 h 4690689"/>
              <a:gd name="connsiteX4" fmla="*/ 14748 w 1582125"/>
              <a:gd name="connsiteY4" fmla="*/ 2972521 h 4690689"/>
              <a:gd name="connsiteX5" fmla="*/ 14748 w 1582125"/>
              <a:gd name="connsiteY5" fmla="*/ 2972521 h 4690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2125" h="4690689">
                <a:moveTo>
                  <a:pt x="0" y="3355979"/>
                </a:moveTo>
                <a:cubicBezTo>
                  <a:pt x="516194" y="3729605"/>
                  <a:pt x="1065931" y="4317063"/>
                  <a:pt x="1582125" y="4690689"/>
                </a:cubicBezTo>
                <a:cubicBezTo>
                  <a:pt x="1577209" y="3201102"/>
                  <a:pt x="1581002" y="1489587"/>
                  <a:pt x="1576086" y="0"/>
                </a:cubicBezTo>
                <a:lnTo>
                  <a:pt x="14748" y="2972521"/>
                </a:lnTo>
                <a:lnTo>
                  <a:pt x="14748" y="2972521"/>
                </a:lnTo>
                <a:lnTo>
                  <a:pt x="14748" y="2972521"/>
                </a:lnTo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907111-F4F0-4779-99CF-EFC45797F024}"/>
              </a:ext>
            </a:extLst>
          </p:cNvPr>
          <p:cNvSpPr txBox="1"/>
          <p:nvPr/>
        </p:nvSpPr>
        <p:spPr>
          <a:xfrm>
            <a:off x="1085461" y="1996001"/>
            <a:ext cx="136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MAC Frame</a:t>
            </a:r>
            <a:endParaRPr lang="zh-CN" altLang="en-US" dirty="0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E53F3C2B-FC83-450B-9675-A2A6AA948D5F}"/>
              </a:ext>
            </a:extLst>
          </p:cNvPr>
          <p:cNvSpPr/>
          <p:nvPr/>
        </p:nvSpPr>
        <p:spPr>
          <a:xfrm>
            <a:off x="422042" y="3473334"/>
            <a:ext cx="231494" cy="1862119"/>
          </a:xfrm>
          <a:prstGeom prst="leftBrace">
            <a:avLst>
              <a:gd name="adj1" fmla="val 8333"/>
              <a:gd name="adj2" fmla="val 4627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829C48-AA5D-4EBA-9498-C18E4AA7D09C}"/>
              </a:ext>
            </a:extLst>
          </p:cNvPr>
          <p:cNvSpPr txBox="1"/>
          <p:nvPr/>
        </p:nvSpPr>
        <p:spPr>
          <a:xfrm>
            <a:off x="-39623" y="3831806"/>
            <a:ext cx="461665" cy="12127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LLC PDU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A27B96-760B-531E-D9C7-472BFA6C4992}"/>
              </a:ext>
            </a:extLst>
          </p:cNvPr>
          <p:cNvSpPr txBox="1"/>
          <p:nvPr/>
        </p:nvSpPr>
        <p:spPr>
          <a:xfrm>
            <a:off x="5404524" y="1236085"/>
            <a:ext cx="85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BPDU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914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325419BA-F29C-4BBE-9BEE-AE5F7A89B0AE}"/>
              </a:ext>
            </a:extLst>
          </p:cNvPr>
          <p:cNvSpPr/>
          <p:nvPr/>
        </p:nvSpPr>
        <p:spPr>
          <a:xfrm>
            <a:off x="406801" y="5796162"/>
            <a:ext cx="11684872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根桥定期（每隔</a:t>
            </a:r>
            <a:r>
              <a:rPr lang="en-US" altLang="zh-CN" dirty="0"/>
              <a:t>2</a:t>
            </a:r>
            <a:r>
              <a:rPr lang="zh-CN" altLang="en-US" dirty="0"/>
              <a:t>秒， </a:t>
            </a:r>
            <a:r>
              <a:rPr lang="en-US" altLang="zh-CN" dirty="0"/>
              <a:t>Hello Time</a:t>
            </a:r>
            <a:r>
              <a:rPr lang="zh-CN" altLang="en-US" dirty="0"/>
              <a:t>）生成新的</a:t>
            </a:r>
            <a:r>
              <a:rPr lang="en-US" altLang="zh-CN" dirty="0"/>
              <a:t>BPDU</a:t>
            </a:r>
            <a:r>
              <a:rPr lang="zh-CN" altLang="en-US" dirty="0"/>
              <a:t>消息</a:t>
            </a: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网桥从根端口接收</a:t>
            </a:r>
            <a:r>
              <a:rPr lang="en-US" altLang="zh-CN" dirty="0"/>
              <a:t>BPDU</a:t>
            </a:r>
            <a:r>
              <a:rPr lang="zh-CN" altLang="en-US" dirty="0"/>
              <a:t>消息后更新自身的</a:t>
            </a:r>
            <a:r>
              <a:rPr lang="en-US" altLang="zh-CN" dirty="0"/>
              <a:t>BPDU</a:t>
            </a:r>
            <a:r>
              <a:rPr lang="zh-CN" altLang="en-US" dirty="0"/>
              <a:t>消息，然后往选取端口发送自身的</a:t>
            </a:r>
            <a:r>
              <a:rPr lang="en-US" altLang="zh-CN" dirty="0"/>
              <a:t>BPDU</a:t>
            </a:r>
            <a:r>
              <a:rPr lang="zh-CN" altLang="en-US" dirty="0"/>
              <a:t>消息</a:t>
            </a:r>
            <a:endParaRPr lang="en-US" altLang="zh-CN" dirty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dirty="0"/>
              <a:t>网桥保存的</a:t>
            </a:r>
            <a:r>
              <a:rPr lang="en-US" altLang="zh-CN" dirty="0"/>
              <a:t>BPDU</a:t>
            </a:r>
            <a:r>
              <a:rPr lang="zh-CN" altLang="en-US" dirty="0"/>
              <a:t>消息的</a:t>
            </a:r>
            <a:r>
              <a:rPr lang="en-US" altLang="zh-CN" dirty="0"/>
              <a:t>age</a:t>
            </a:r>
            <a:r>
              <a:rPr lang="zh-CN" altLang="en-US" dirty="0"/>
              <a:t>随时间的增加而增加，如果到达最大生命期</a:t>
            </a:r>
            <a:r>
              <a:rPr lang="en-US" altLang="zh-CN" dirty="0"/>
              <a:t>(</a:t>
            </a:r>
            <a:r>
              <a:rPr lang="en-US" altLang="zh-CN" dirty="0" err="1"/>
              <a:t>MaxAge</a:t>
            </a:r>
            <a:r>
              <a:rPr lang="en-US" altLang="zh-CN" dirty="0"/>
              <a:t>)</a:t>
            </a:r>
            <a:r>
              <a:rPr lang="zh-CN" altLang="en-US" dirty="0"/>
              <a:t>，则宣称自己是根桥，重新计算</a:t>
            </a:r>
            <a:endParaRPr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C466742-8E48-456F-BFB7-3E20540A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生成树算法：更好的</a:t>
            </a:r>
            <a:r>
              <a:rPr lang="en-US" altLang="zh-CN" dirty="0"/>
              <a:t>BPDU</a:t>
            </a:r>
            <a:r>
              <a:rPr lang="zh-CN" altLang="en-US" dirty="0"/>
              <a:t>消息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3BBED2-6067-45EF-BE87-8BA02B7C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8505144" cy="5819094"/>
          </a:xfrm>
        </p:spPr>
        <p:txBody>
          <a:bodyPr>
            <a:normAutofit/>
          </a:bodyPr>
          <a:lstStyle/>
          <a:p>
            <a:pPr>
              <a:lnSpc>
                <a:spcPts val="2100"/>
              </a:lnSpc>
            </a:pPr>
            <a:r>
              <a:rPr lang="zh-CN" altLang="en-US" sz="1800" dirty="0"/>
              <a:t>新的网桥启动时认为自己是根桥，发布</a:t>
            </a:r>
            <a:r>
              <a:rPr lang="en-US" altLang="zh-CN" sz="1800" dirty="0"/>
              <a:t>BPDU</a:t>
            </a:r>
            <a:r>
              <a:rPr lang="zh-CN" altLang="en-US" sz="1800" dirty="0"/>
              <a:t>消息</a:t>
            </a:r>
            <a:endParaRPr lang="en-US" altLang="zh-CN" sz="1800" dirty="0"/>
          </a:p>
          <a:p>
            <a:pPr>
              <a:lnSpc>
                <a:spcPts val="2100"/>
              </a:lnSpc>
            </a:pPr>
            <a:r>
              <a:rPr lang="zh-CN" altLang="zh-CN" sz="1800" dirty="0"/>
              <a:t>从端口收到</a:t>
            </a:r>
            <a:r>
              <a:rPr lang="en-US" altLang="zh-CN" sz="1800" dirty="0"/>
              <a:t>BPDU</a:t>
            </a:r>
            <a:r>
              <a:rPr lang="zh-CN" altLang="zh-CN" sz="1800" dirty="0"/>
              <a:t>消息都会和自身</a:t>
            </a:r>
            <a:r>
              <a:rPr lang="en-US" altLang="zh-CN" sz="1800" dirty="0"/>
              <a:t>(</a:t>
            </a:r>
            <a:r>
              <a:rPr lang="zh-CN" altLang="zh-CN" sz="1800" dirty="0"/>
              <a:t>准备发送</a:t>
            </a:r>
            <a:r>
              <a:rPr lang="en-US" altLang="zh-CN" sz="1800" dirty="0"/>
              <a:t>)</a:t>
            </a:r>
            <a:r>
              <a:rPr lang="zh-CN" altLang="zh-CN" sz="1800" dirty="0"/>
              <a:t>的</a:t>
            </a:r>
            <a:r>
              <a:rPr lang="en-US" altLang="zh-CN" sz="1800" dirty="0"/>
              <a:t>BPDU</a:t>
            </a:r>
            <a:r>
              <a:rPr lang="zh-CN" altLang="zh-CN" sz="1800" dirty="0"/>
              <a:t>消息比较，判断是否收到</a:t>
            </a:r>
            <a:r>
              <a:rPr lang="en-US" altLang="zh-CN" sz="1800" b="1" dirty="0">
                <a:solidFill>
                  <a:srgbClr val="FF0000"/>
                </a:solidFill>
              </a:rPr>
              <a:t>“</a:t>
            </a:r>
            <a:r>
              <a:rPr lang="zh-CN" altLang="zh-CN" sz="1800" b="1" dirty="0">
                <a:solidFill>
                  <a:srgbClr val="FF0000"/>
                </a:solidFill>
              </a:rPr>
              <a:t>更好</a:t>
            </a:r>
            <a:r>
              <a:rPr lang="en-US" altLang="zh-CN" sz="1800" b="1" dirty="0">
                <a:solidFill>
                  <a:srgbClr val="FF0000"/>
                </a:solidFill>
              </a:rPr>
              <a:t>”</a:t>
            </a:r>
            <a:r>
              <a:rPr lang="zh-CN" altLang="zh-CN" sz="1800" b="1" dirty="0">
                <a:solidFill>
                  <a:srgbClr val="FF0000"/>
                </a:solidFill>
              </a:rPr>
              <a:t>的</a:t>
            </a:r>
            <a:r>
              <a:rPr lang="en-US" altLang="zh-CN" sz="1800" b="1" dirty="0">
                <a:solidFill>
                  <a:srgbClr val="FF0000"/>
                </a:solidFill>
              </a:rPr>
              <a:t>BPDU</a:t>
            </a:r>
            <a:r>
              <a:rPr lang="zh-CN" altLang="zh-CN" sz="1800" b="1" dirty="0">
                <a:solidFill>
                  <a:srgbClr val="FF0000"/>
                </a:solidFill>
              </a:rPr>
              <a:t>消息</a:t>
            </a:r>
            <a:r>
              <a:rPr lang="zh-CN" altLang="en-US" sz="1800" b="1" dirty="0">
                <a:solidFill>
                  <a:srgbClr val="FF0000"/>
                </a:solidFill>
              </a:rPr>
              <a:t>（该端口是否有另一个桥更适合作为选取桥）</a:t>
            </a:r>
            <a:r>
              <a:rPr lang="zh-CN" altLang="en-US" sz="1800" dirty="0"/>
              <a:t>：</a:t>
            </a:r>
            <a:endParaRPr lang="en-US" altLang="zh-CN" sz="1800" dirty="0"/>
          </a:p>
          <a:p>
            <a:pPr lvl="1">
              <a:lnSpc>
                <a:spcPts val="2100"/>
              </a:lnSpc>
            </a:pPr>
            <a:r>
              <a:rPr lang="zh-CN" altLang="zh-CN" dirty="0"/>
              <a:t>收到的</a:t>
            </a:r>
            <a:r>
              <a:rPr lang="en-US" altLang="zh-CN" dirty="0"/>
              <a:t>BPDU</a:t>
            </a:r>
            <a:r>
              <a:rPr lang="zh-CN" altLang="zh-CN" dirty="0"/>
              <a:t>标识一个具有更小</a:t>
            </a:r>
            <a:r>
              <a:rPr lang="en-US" altLang="zh-CN" dirty="0"/>
              <a:t>BID</a:t>
            </a:r>
            <a:r>
              <a:rPr lang="zh-CN" altLang="zh-CN" dirty="0"/>
              <a:t>的根桥</a:t>
            </a:r>
          </a:p>
          <a:p>
            <a:pPr lvl="1">
              <a:lnSpc>
                <a:spcPts val="2100"/>
              </a:lnSpc>
            </a:pPr>
            <a:r>
              <a:rPr lang="zh-CN" altLang="zh-CN" dirty="0"/>
              <a:t>收到的</a:t>
            </a:r>
            <a:r>
              <a:rPr lang="en-US" altLang="zh-CN" dirty="0"/>
              <a:t>BPDU</a:t>
            </a:r>
            <a:r>
              <a:rPr lang="zh-CN" altLang="zh-CN" dirty="0"/>
              <a:t>标识同一个根桥，但是具有更小的根路径花费</a:t>
            </a:r>
          </a:p>
          <a:p>
            <a:pPr lvl="1">
              <a:lnSpc>
                <a:spcPts val="2100"/>
              </a:lnSpc>
            </a:pPr>
            <a:r>
              <a:rPr lang="zh-CN" altLang="zh-CN" dirty="0"/>
              <a:t>收到的</a:t>
            </a:r>
            <a:r>
              <a:rPr lang="en-US" altLang="zh-CN" dirty="0"/>
              <a:t>BPDU</a:t>
            </a:r>
            <a:r>
              <a:rPr lang="zh-CN" altLang="zh-CN" dirty="0"/>
              <a:t>的根桥</a:t>
            </a:r>
            <a:r>
              <a:rPr lang="en-US" altLang="zh-CN" dirty="0"/>
              <a:t>BID</a:t>
            </a:r>
            <a:r>
              <a:rPr lang="zh-CN" altLang="zh-CN" dirty="0"/>
              <a:t>和路径花费相同，但发送该</a:t>
            </a:r>
            <a:r>
              <a:rPr lang="en-US" altLang="zh-CN" dirty="0"/>
              <a:t>BPDU</a:t>
            </a:r>
            <a:r>
              <a:rPr lang="zh-CN" altLang="zh-CN" dirty="0"/>
              <a:t>的桥</a:t>
            </a:r>
            <a:r>
              <a:rPr lang="en-US" altLang="zh-CN" dirty="0"/>
              <a:t>BID</a:t>
            </a:r>
            <a:r>
              <a:rPr lang="zh-CN" altLang="zh-CN" dirty="0"/>
              <a:t>更小</a:t>
            </a:r>
          </a:p>
          <a:p>
            <a:pPr lvl="1">
              <a:lnSpc>
                <a:spcPts val="2100"/>
              </a:lnSpc>
            </a:pPr>
            <a:r>
              <a:rPr lang="zh-CN" altLang="zh-CN" dirty="0"/>
              <a:t>收到的</a:t>
            </a:r>
            <a:r>
              <a:rPr lang="en-US" altLang="zh-CN" dirty="0"/>
              <a:t>BPDU</a:t>
            </a:r>
            <a:r>
              <a:rPr lang="zh-CN" altLang="zh-CN" dirty="0"/>
              <a:t>的根桥</a:t>
            </a:r>
            <a:r>
              <a:rPr lang="en-US" altLang="zh-CN" dirty="0"/>
              <a:t>BID</a:t>
            </a:r>
            <a:r>
              <a:rPr lang="zh-CN" altLang="zh-CN" dirty="0"/>
              <a:t>、路径花费和发送消息的桥</a:t>
            </a:r>
            <a:r>
              <a:rPr lang="en-US" altLang="zh-CN" dirty="0"/>
              <a:t>BID</a:t>
            </a:r>
            <a:r>
              <a:rPr lang="zh-CN" altLang="zh-CN" dirty="0"/>
              <a:t>相同，但是端口号更小</a:t>
            </a:r>
            <a:endParaRPr lang="en-US" altLang="zh-CN" dirty="0"/>
          </a:p>
          <a:p>
            <a:pPr marL="342900" indent="-342900">
              <a:lnSpc>
                <a:spcPts val="2100"/>
              </a:lnSpc>
            </a:pPr>
            <a:r>
              <a:rPr lang="zh-CN" altLang="en-US" sz="1800" dirty="0"/>
              <a:t>如果自身的</a:t>
            </a:r>
            <a:r>
              <a:rPr lang="en-US" altLang="zh-CN" sz="1800" dirty="0"/>
              <a:t>BPDU</a:t>
            </a:r>
            <a:r>
              <a:rPr lang="zh-CN" altLang="en-US" sz="1800" dirty="0"/>
              <a:t>消息更好，则往该端口发布自身的</a:t>
            </a:r>
            <a:r>
              <a:rPr lang="en-US" altLang="zh-CN" sz="1800" dirty="0"/>
              <a:t>BPDU</a:t>
            </a:r>
            <a:r>
              <a:rPr lang="zh-CN" altLang="en-US" sz="1800" dirty="0"/>
              <a:t>消息</a:t>
            </a:r>
            <a:endParaRPr lang="en-US" altLang="zh-CN" sz="1800" dirty="0"/>
          </a:p>
          <a:p>
            <a:pPr marL="342900" indent="-342900">
              <a:lnSpc>
                <a:spcPts val="2100"/>
              </a:lnSpc>
            </a:pPr>
            <a:r>
              <a:rPr lang="zh-CN" altLang="zh-CN" sz="1800" dirty="0"/>
              <a:t>如果</a:t>
            </a:r>
            <a:r>
              <a:rPr lang="zh-CN" altLang="en-US" sz="1800" dirty="0"/>
              <a:t>收到</a:t>
            </a:r>
            <a:r>
              <a:rPr lang="zh-CN" altLang="zh-CN" sz="1800" dirty="0"/>
              <a:t>一个</a:t>
            </a:r>
            <a:r>
              <a:rPr lang="en-US" altLang="zh-CN" sz="1800" dirty="0"/>
              <a:t>“</a:t>
            </a:r>
            <a:r>
              <a:rPr lang="zh-CN" altLang="zh-CN" sz="1800" dirty="0"/>
              <a:t>更好</a:t>
            </a:r>
            <a:r>
              <a:rPr lang="en-US" altLang="zh-CN" sz="1800" dirty="0"/>
              <a:t>”</a:t>
            </a:r>
            <a:r>
              <a:rPr lang="zh-CN" altLang="zh-CN" sz="1800" dirty="0"/>
              <a:t>的消息</a:t>
            </a:r>
            <a:endParaRPr lang="en-US" altLang="zh-CN" sz="1800" dirty="0"/>
          </a:p>
          <a:p>
            <a:pPr marL="800100" lvl="1" indent="-342900">
              <a:lnSpc>
                <a:spcPts val="2100"/>
              </a:lnSpc>
            </a:pPr>
            <a:r>
              <a:rPr lang="zh-CN" altLang="en-US" dirty="0"/>
              <a:t>说明其不是该端口的选取桥，对应的</a:t>
            </a:r>
            <a:r>
              <a:rPr lang="zh-CN" altLang="en-US" b="1" u="sng" dirty="0">
                <a:solidFill>
                  <a:srgbClr val="FF0000"/>
                </a:solidFill>
              </a:rPr>
              <a:t>端口不是选取端口</a:t>
            </a:r>
            <a:endParaRPr lang="en-US" altLang="zh-CN" b="1" dirty="0"/>
          </a:p>
          <a:p>
            <a:pPr marL="800100" lvl="1" indent="-342900">
              <a:lnSpc>
                <a:spcPts val="2100"/>
              </a:lnSpc>
            </a:pPr>
            <a:r>
              <a:rPr lang="zh-CN" altLang="en-US" dirty="0"/>
              <a:t>检查该端口是否为根端口？ </a:t>
            </a:r>
            <a:endParaRPr lang="en-US" altLang="zh-CN" dirty="0"/>
          </a:p>
          <a:p>
            <a:pPr marL="1200150" lvl="2" indent="-285750">
              <a:lnSpc>
                <a:spcPts val="2100"/>
              </a:lnSpc>
            </a:pPr>
            <a:r>
              <a:rPr lang="zh-CN" altLang="en-US" sz="1800" dirty="0"/>
              <a:t>通过其到根桥的路径花费</a:t>
            </a:r>
            <a:r>
              <a:rPr lang="en-US" altLang="zh-CN" sz="1800" dirty="0"/>
              <a:t>=</a:t>
            </a:r>
            <a:r>
              <a:rPr lang="zh-CN" altLang="en-US" sz="1800" dirty="0"/>
              <a:t>该端口的花费</a:t>
            </a:r>
            <a:r>
              <a:rPr lang="en-US" altLang="zh-CN" sz="1800" dirty="0"/>
              <a:t>+BPDU</a:t>
            </a:r>
            <a:r>
              <a:rPr lang="zh-CN" altLang="en-US" sz="1800" dirty="0"/>
              <a:t>消息中的根路径花费</a:t>
            </a:r>
            <a:endParaRPr lang="en-US" altLang="zh-CN" sz="1800" dirty="0"/>
          </a:p>
          <a:p>
            <a:pPr marL="1200150" lvl="2" indent="-285750">
              <a:lnSpc>
                <a:spcPts val="2100"/>
              </a:lnSpc>
            </a:pPr>
            <a:r>
              <a:rPr lang="zh-CN" altLang="en-US" sz="1800" dirty="0"/>
              <a:t>如果通过该端口到根桥的路径花费更好（短），说明为根端口，则</a:t>
            </a:r>
            <a:endParaRPr lang="en-US" altLang="zh-CN" sz="1800" dirty="0"/>
          </a:p>
          <a:p>
            <a:pPr marL="1657350" lvl="3" indent="-285750">
              <a:lnSpc>
                <a:spcPts val="2100"/>
              </a:lnSpc>
            </a:pPr>
            <a:r>
              <a:rPr lang="zh-CN" altLang="zh-CN" sz="1800" b="1" u="sng" dirty="0">
                <a:solidFill>
                  <a:srgbClr val="FF0000"/>
                </a:solidFill>
              </a:rPr>
              <a:t>更新自身的</a:t>
            </a:r>
            <a:r>
              <a:rPr lang="en-US" altLang="zh-CN" sz="1800" b="1" u="sng" dirty="0">
                <a:solidFill>
                  <a:srgbClr val="FF0000"/>
                </a:solidFill>
              </a:rPr>
              <a:t>BPDU</a:t>
            </a:r>
            <a:r>
              <a:rPr lang="zh-CN" altLang="zh-CN" sz="1800" b="1" u="sng" dirty="0">
                <a:solidFill>
                  <a:srgbClr val="FF0000"/>
                </a:solidFill>
              </a:rPr>
              <a:t>消息</a:t>
            </a:r>
            <a:r>
              <a:rPr lang="zh-CN" altLang="zh-CN" sz="1800" dirty="0"/>
              <a:t>，根路径花费</a:t>
            </a:r>
            <a:r>
              <a:rPr lang="zh-CN" altLang="en-US" sz="1800" dirty="0"/>
              <a:t>也相应更新</a:t>
            </a:r>
            <a:endParaRPr lang="en-US" altLang="zh-CN" sz="1800" dirty="0"/>
          </a:p>
          <a:p>
            <a:pPr marL="1657350" lvl="3" indent="-285750">
              <a:lnSpc>
                <a:spcPts val="2100"/>
              </a:lnSpc>
            </a:pPr>
            <a:r>
              <a:rPr lang="zh-CN" altLang="en-US" sz="1800" dirty="0"/>
              <a:t>往该网桥的所有</a:t>
            </a:r>
            <a:r>
              <a:rPr lang="zh-CN" altLang="en-US" sz="1800" b="1" dirty="0">
                <a:solidFill>
                  <a:srgbClr val="FF0000"/>
                </a:solidFill>
              </a:rPr>
              <a:t>选取端口发送自身的</a:t>
            </a:r>
            <a:r>
              <a:rPr lang="en-US" altLang="zh-CN" sz="1800" b="1" dirty="0">
                <a:solidFill>
                  <a:srgbClr val="FF0000"/>
                </a:solidFill>
              </a:rPr>
              <a:t>BPDU</a:t>
            </a:r>
            <a:r>
              <a:rPr lang="zh-CN" altLang="en-US" sz="1800" b="1" dirty="0">
                <a:solidFill>
                  <a:srgbClr val="FF0000"/>
                </a:solidFill>
              </a:rPr>
              <a:t>消息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32E28A5-5C63-4AC2-8250-AD3ABE44A12A}"/>
              </a:ext>
            </a:extLst>
          </p:cNvPr>
          <p:cNvGrpSpPr/>
          <p:nvPr/>
        </p:nvGrpSpPr>
        <p:grpSpPr>
          <a:xfrm>
            <a:off x="8858459" y="1020002"/>
            <a:ext cx="3475780" cy="1755330"/>
            <a:chOff x="4618048" y="2508944"/>
            <a:chExt cx="3475780" cy="1755330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74B04CA-1967-402B-8CDF-42DE213472FA}"/>
                </a:ext>
              </a:extLst>
            </p:cNvPr>
            <p:cNvSpPr txBox="1"/>
            <p:nvPr/>
          </p:nvSpPr>
          <p:spPr>
            <a:xfrm>
              <a:off x="4618048" y="2555612"/>
              <a:ext cx="1568387" cy="3693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Root BID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45ED1E2-7989-48E3-9E86-C5E290E09C66}"/>
                </a:ext>
              </a:extLst>
            </p:cNvPr>
            <p:cNvSpPr txBox="1"/>
            <p:nvPr/>
          </p:nvSpPr>
          <p:spPr>
            <a:xfrm>
              <a:off x="4618048" y="2915652"/>
              <a:ext cx="1568387" cy="37862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Root Path Cost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B06FB5C-0486-40CB-ADAD-808200DFB334}"/>
                </a:ext>
              </a:extLst>
            </p:cNvPr>
            <p:cNvSpPr txBox="1"/>
            <p:nvPr/>
          </p:nvSpPr>
          <p:spPr>
            <a:xfrm>
              <a:off x="4618048" y="3284984"/>
              <a:ext cx="1568387" cy="3693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Sender BID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178C42D-644D-44AD-8D9A-1DD49F71131F}"/>
                </a:ext>
              </a:extLst>
            </p:cNvPr>
            <p:cNvSpPr txBox="1"/>
            <p:nvPr/>
          </p:nvSpPr>
          <p:spPr>
            <a:xfrm>
              <a:off x="4618048" y="3654316"/>
              <a:ext cx="1568387" cy="369332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Port ID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AE20459-DF85-43A3-AEFA-F5954B66B100}"/>
                </a:ext>
              </a:extLst>
            </p:cNvPr>
            <p:cNvSpPr txBox="1"/>
            <p:nvPr/>
          </p:nvSpPr>
          <p:spPr>
            <a:xfrm>
              <a:off x="6254550" y="2508944"/>
              <a:ext cx="1224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谁是根桥</a:t>
              </a:r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1994F15-D398-40D6-A69E-30AB71240817}"/>
                </a:ext>
              </a:extLst>
            </p:cNvPr>
            <p:cNvSpPr txBox="1"/>
            <p:nvPr/>
          </p:nvSpPr>
          <p:spPr>
            <a:xfrm>
              <a:off x="6255656" y="2879279"/>
              <a:ext cx="1583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到根桥的距离</a:t>
              </a:r>
              <a:r>
                <a:rPr lang="en-US" altLang="zh-CN" dirty="0"/>
                <a:t>?</a:t>
              </a:r>
              <a:endParaRPr lang="zh-CN" altLang="en-US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40758FD-E444-4555-9416-E10B4B436FE8}"/>
                </a:ext>
              </a:extLst>
            </p:cNvPr>
            <p:cNvSpPr txBox="1"/>
            <p:nvPr/>
          </p:nvSpPr>
          <p:spPr>
            <a:xfrm>
              <a:off x="6255656" y="3248611"/>
              <a:ext cx="1838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谁发送的</a:t>
              </a:r>
              <a:r>
                <a:rPr lang="en-US" altLang="zh-CN" dirty="0"/>
                <a:t>BPDU?</a:t>
              </a:r>
              <a:endParaRPr lang="zh-CN" altLang="en-US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CE9BF7E-0C24-4C32-BE81-C85AD8F299E6}"/>
                </a:ext>
              </a:extLst>
            </p:cNvPr>
            <p:cNvSpPr txBox="1"/>
            <p:nvPr/>
          </p:nvSpPr>
          <p:spPr>
            <a:xfrm>
              <a:off x="6268192" y="3617943"/>
              <a:ext cx="15830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通过</a:t>
              </a:r>
              <a:r>
                <a:rPr lang="en-US" altLang="zh-CN" dirty="0"/>
                <a:t>Sender</a:t>
              </a:r>
              <a:r>
                <a:rPr lang="zh-CN" altLang="en-US" dirty="0"/>
                <a:t>的哪个端口发送？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5F1D1D2-4DCE-4DFB-8416-B4BBA9BD12FA}"/>
              </a:ext>
            </a:extLst>
          </p:cNvPr>
          <p:cNvGrpSpPr/>
          <p:nvPr/>
        </p:nvGrpSpPr>
        <p:grpSpPr>
          <a:xfrm>
            <a:off x="10207375" y="2992846"/>
            <a:ext cx="1577824" cy="3018381"/>
            <a:chOff x="9985178" y="2313806"/>
            <a:chExt cx="1577824" cy="3018381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5E0E241-F1F7-4FF2-B1A8-89E3ACDAA1EC}"/>
                </a:ext>
              </a:extLst>
            </p:cNvPr>
            <p:cNvSpPr txBox="1"/>
            <p:nvPr/>
          </p:nvSpPr>
          <p:spPr>
            <a:xfrm>
              <a:off x="10077293" y="2313806"/>
              <a:ext cx="739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根桥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CF15006-AA0B-46D1-94E8-EE8E3B2059AB}"/>
                </a:ext>
              </a:extLst>
            </p:cNvPr>
            <p:cNvSpPr txBox="1"/>
            <p:nvPr/>
          </p:nvSpPr>
          <p:spPr>
            <a:xfrm>
              <a:off x="9985178" y="2655659"/>
              <a:ext cx="1110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>
                      <a:lumMod val="75000"/>
                    </a:schemeClr>
                  </a:solidFill>
                </a:rPr>
                <a:t>选取端口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CFF9AFB-422A-4306-9226-51B531B9A5B2}"/>
                </a:ext>
              </a:extLst>
            </p:cNvPr>
            <p:cNvSpPr txBox="1"/>
            <p:nvPr/>
          </p:nvSpPr>
          <p:spPr>
            <a:xfrm>
              <a:off x="10178795" y="3464458"/>
              <a:ext cx="1110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根端口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7DD43F-B104-41E1-8A80-0E6CB97521B5}"/>
                </a:ext>
              </a:extLst>
            </p:cNvPr>
            <p:cNvSpPr txBox="1"/>
            <p:nvPr/>
          </p:nvSpPr>
          <p:spPr>
            <a:xfrm>
              <a:off x="10038487" y="4115082"/>
              <a:ext cx="1110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2">
                      <a:lumMod val="75000"/>
                    </a:schemeClr>
                  </a:solidFill>
                </a:rPr>
                <a:t>选取端口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2EAE82A1-BD38-4E98-B5F7-9F4803B53D22}"/>
                </a:ext>
              </a:extLst>
            </p:cNvPr>
            <p:cNvGrpSpPr/>
            <p:nvPr/>
          </p:nvGrpSpPr>
          <p:grpSpPr>
            <a:xfrm>
              <a:off x="10761231" y="2438042"/>
              <a:ext cx="801771" cy="2894145"/>
              <a:chOff x="10937111" y="660429"/>
              <a:chExt cx="801771" cy="2894145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3705657F-F318-4CEC-BDC6-353639656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8718" y="660429"/>
                <a:ext cx="770164" cy="281883"/>
              </a:xfrm>
              <a:prstGeom prst="rect">
                <a:avLst/>
              </a:prstGeom>
            </p:spPr>
          </p:pic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83111291-3AE1-4586-9838-0F398CF35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37111" y="2097403"/>
                <a:ext cx="770164" cy="281883"/>
              </a:xfrm>
              <a:prstGeom prst="rect">
                <a:avLst/>
              </a:prstGeom>
            </p:spPr>
          </p:pic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59B51AAD-5865-48E3-B005-2086A380BE3C}"/>
                  </a:ext>
                </a:extLst>
              </p:cNvPr>
              <p:cNvSpPr/>
              <p:nvPr/>
            </p:nvSpPr>
            <p:spPr>
              <a:xfrm>
                <a:off x="11279011" y="884439"/>
                <a:ext cx="249374" cy="1212964"/>
              </a:xfrm>
              <a:custGeom>
                <a:avLst/>
                <a:gdLst>
                  <a:gd name="connsiteX0" fmla="*/ 0 w 428264"/>
                  <a:gd name="connsiteY0" fmla="*/ 0 h 1319514"/>
                  <a:gd name="connsiteX1" fmla="*/ 428264 w 428264"/>
                  <a:gd name="connsiteY1" fmla="*/ 613458 h 1319514"/>
                  <a:gd name="connsiteX2" fmla="*/ 11575 w 428264"/>
                  <a:gd name="connsiteY2" fmla="*/ 810228 h 1319514"/>
                  <a:gd name="connsiteX3" fmla="*/ 196770 w 428264"/>
                  <a:gd name="connsiteY3" fmla="*/ 1319514 h 1319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264" h="1319514">
                    <a:moveTo>
                      <a:pt x="0" y="0"/>
                    </a:moveTo>
                    <a:lnTo>
                      <a:pt x="428264" y="613458"/>
                    </a:lnTo>
                    <a:lnTo>
                      <a:pt x="11575" y="810228"/>
                    </a:lnTo>
                    <a:lnTo>
                      <a:pt x="196770" y="131951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29AB1CE6-F7D6-4529-B0AA-27C612D4F216}"/>
                  </a:ext>
                </a:extLst>
              </p:cNvPr>
              <p:cNvSpPr/>
              <p:nvPr/>
            </p:nvSpPr>
            <p:spPr>
              <a:xfrm>
                <a:off x="11279011" y="2379286"/>
                <a:ext cx="185869" cy="873208"/>
              </a:xfrm>
              <a:custGeom>
                <a:avLst/>
                <a:gdLst>
                  <a:gd name="connsiteX0" fmla="*/ 0 w 428264"/>
                  <a:gd name="connsiteY0" fmla="*/ 0 h 1319514"/>
                  <a:gd name="connsiteX1" fmla="*/ 428264 w 428264"/>
                  <a:gd name="connsiteY1" fmla="*/ 613458 h 1319514"/>
                  <a:gd name="connsiteX2" fmla="*/ 11575 w 428264"/>
                  <a:gd name="connsiteY2" fmla="*/ 810228 h 1319514"/>
                  <a:gd name="connsiteX3" fmla="*/ 196770 w 428264"/>
                  <a:gd name="connsiteY3" fmla="*/ 1319514 h 1319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264" h="1319514">
                    <a:moveTo>
                      <a:pt x="0" y="0"/>
                    </a:moveTo>
                    <a:lnTo>
                      <a:pt x="428264" y="613458"/>
                    </a:lnTo>
                    <a:lnTo>
                      <a:pt x="11575" y="810228"/>
                    </a:lnTo>
                    <a:lnTo>
                      <a:pt x="196770" y="1319514"/>
                    </a:ln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83F451DE-A029-46E6-8333-701329949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8718" y="3272691"/>
                <a:ext cx="770164" cy="28188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52292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FBE48A-BBF4-4D8B-9142-4ECC444B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生成树算法：示例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304418-F7C3-4DEA-BC44-771939FE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BPDU</a:t>
            </a:r>
            <a:r>
              <a:rPr lang="zh-CN" altLang="en-US" dirty="0"/>
              <a:t>消息</a:t>
            </a:r>
            <a:r>
              <a:rPr lang="en-US" altLang="zh-CN" dirty="0"/>
              <a:t>(</a:t>
            </a:r>
            <a:r>
              <a:rPr lang="zh-CN" altLang="zh-CN" dirty="0"/>
              <a:t>根桥，花费，发送者</a:t>
            </a:r>
            <a:r>
              <a:rPr lang="en-US" altLang="zh-CN" dirty="0"/>
              <a:t>)</a:t>
            </a:r>
            <a:r>
              <a:rPr lang="zh-CN" altLang="zh-CN" dirty="0"/>
              <a:t>表示是哪个网桥发送的，到根桥的花费为多少</a:t>
            </a:r>
            <a:endParaRPr lang="en-US" altLang="zh-CN" dirty="0"/>
          </a:p>
          <a:p>
            <a:pPr lvl="1"/>
            <a:r>
              <a:rPr lang="en-US" altLang="zh-CN" sz="2000" dirty="0"/>
              <a:t>B1</a:t>
            </a:r>
            <a:r>
              <a:rPr lang="zh-CN" altLang="en-US" sz="2000" dirty="0"/>
              <a:t>为根桥</a:t>
            </a:r>
            <a:endParaRPr lang="en-US" altLang="zh-CN" sz="2000" dirty="0"/>
          </a:p>
          <a:p>
            <a:pPr lvl="1"/>
            <a:r>
              <a:rPr lang="en-US" altLang="zh-CN" sz="2000" dirty="0"/>
              <a:t>RP</a:t>
            </a:r>
            <a:r>
              <a:rPr lang="zh-CN" altLang="en-US" sz="2000" dirty="0"/>
              <a:t>表示网桥的根端口</a:t>
            </a:r>
            <a:r>
              <a:rPr lang="en-US" altLang="zh-CN" sz="2000" dirty="0"/>
              <a:t>(Root  Port)</a:t>
            </a:r>
          </a:p>
          <a:p>
            <a:pPr lvl="1"/>
            <a:r>
              <a:rPr lang="en-US" altLang="zh-CN" sz="2000" dirty="0"/>
              <a:t>DP</a:t>
            </a:r>
            <a:r>
              <a:rPr lang="zh-CN" altLang="en-US" sz="2000" dirty="0"/>
              <a:t>表示局域网上的选取桥的选取端口</a:t>
            </a:r>
            <a:r>
              <a:rPr lang="en-US" altLang="zh-CN" sz="2000" dirty="0"/>
              <a:t>(Designated Port)</a:t>
            </a:r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E9269A6-5BC0-430D-99BD-8BBD32A83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571535"/>
              </p:ext>
            </p:extLst>
          </p:nvPr>
        </p:nvGraphicFramePr>
        <p:xfrm>
          <a:off x="5307899" y="1633159"/>
          <a:ext cx="6951367" cy="4713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675534" imgH="4518713" progId="Visio.Drawing.11">
                  <p:embed/>
                </p:oleObj>
              </mc:Choice>
              <mc:Fallback>
                <p:oleObj name="Visio" r:id="rId2" imgW="6675534" imgH="4518713" progId="Visio.Drawing.11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E9269A6-5BC0-430D-99BD-8BBD32A838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7899" y="1633159"/>
                        <a:ext cx="6951367" cy="4713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609AF01-31A6-475A-A66A-77F2B83A287E}"/>
              </a:ext>
            </a:extLst>
          </p:cNvPr>
          <p:cNvSpPr/>
          <p:nvPr/>
        </p:nvSpPr>
        <p:spPr>
          <a:xfrm>
            <a:off x="337831" y="2533158"/>
            <a:ext cx="507515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稳定状态下单播帧和广播帧的扩散和转发沿着生成树进行：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节点Z发送帧到节点W，会沿着生成树扩散到所有链路，选取桥会学习到Z的位置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节点W发送帧到节点Z时，由于已经学习到Z的位置，W</a:t>
            </a:r>
            <a:r>
              <a:rPr lang="en-US" altLang="zh-CN" sz="2000" dirty="0"/>
              <a:t>---</a:t>
            </a:r>
            <a:r>
              <a:rPr lang="zh-CN" altLang="en-US" sz="2000" dirty="0"/>
              <a:t>B4</a:t>
            </a:r>
            <a:r>
              <a:rPr lang="en-US" altLang="zh-CN" sz="2000" dirty="0"/>
              <a:t>----</a:t>
            </a:r>
            <a:r>
              <a:rPr lang="zh-CN" altLang="en-US" sz="2000" dirty="0"/>
              <a:t>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组播帧可以基于</a:t>
            </a:r>
            <a:r>
              <a:rPr lang="zh-CN" altLang="en-US" sz="2000" b="0" i="0" dirty="0">
                <a:effectLst/>
                <a:latin typeface="-apple-system"/>
              </a:rPr>
              <a:t>通用组播注册</a:t>
            </a:r>
            <a:r>
              <a:rPr lang="en-US" altLang="zh-CN" sz="2000" dirty="0"/>
              <a:t>GMRP</a:t>
            </a:r>
            <a:r>
              <a:rPr lang="zh-CN" altLang="en-US" sz="2000" dirty="0"/>
              <a:t>协议</a:t>
            </a:r>
            <a:r>
              <a:rPr lang="en-US" altLang="zh-CN" sz="2000" dirty="0"/>
              <a:t>(</a:t>
            </a:r>
            <a:r>
              <a:rPr lang="en-US" altLang="zh-CN" sz="2000" b="1" i="0" dirty="0">
                <a:effectLst/>
                <a:latin typeface="-apple-system"/>
              </a:rPr>
              <a:t>Generic Multicast Registration Protocol</a:t>
            </a:r>
            <a:r>
              <a:rPr lang="en-US" altLang="zh-CN" sz="2000" b="0" i="0" dirty="0">
                <a:effectLst/>
                <a:latin typeface="-apple-system"/>
              </a:rPr>
              <a:t>)</a:t>
            </a:r>
            <a:r>
              <a:rPr lang="zh-CN" altLang="en-US" sz="2000" dirty="0"/>
              <a:t>进一步优化</a:t>
            </a:r>
          </a:p>
        </p:txBody>
      </p:sp>
    </p:spTree>
    <p:extLst>
      <p:ext uri="{BB962C8B-B14F-4D97-AF65-F5344CB8AC3E}">
        <p14:creationId xmlns:p14="http://schemas.microsoft.com/office/powerpoint/2010/main" val="3314485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E8AD0-DC8F-4A7E-A3BD-4633512B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生成树算法：拓扑变化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282C3-8F7F-402E-9805-7DC809EB2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728663"/>
            <a:ext cx="9263242" cy="5964228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生成树收敛过程中新旧拓扑混合在一起：</a:t>
            </a:r>
            <a:endParaRPr lang="en-US" altLang="zh-CN" dirty="0"/>
          </a:p>
          <a:p>
            <a:r>
              <a:rPr lang="zh-CN" altLang="zh-CN" dirty="0"/>
              <a:t>原来属于转发状态的端口经过计算后发现不是转发状态，在这段重新计算的时间内可能出现</a:t>
            </a:r>
            <a:r>
              <a:rPr lang="zh-CN" altLang="zh-CN" b="1" dirty="0">
                <a:solidFill>
                  <a:srgbClr val="FF0000"/>
                </a:solidFill>
              </a:rPr>
              <a:t>网络分割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zh-CN" dirty="0"/>
              <a:t>原来不是转发状态的端口在</a:t>
            </a:r>
            <a:r>
              <a:rPr lang="zh-CN" altLang="zh-CN" b="1" dirty="0">
                <a:solidFill>
                  <a:srgbClr val="FF0000"/>
                </a:solidFill>
              </a:rPr>
              <a:t>新的拓扑中变为转发状态</a:t>
            </a:r>
            <a:r>
              <a:rPr lang="zh-CN" altLang="zh-CN" dirty="0"/>
              <a:t>时可能会出现</a:t>
            </a:r>
            <a:r>
              <a:rPr lang="zh-CN" altLang="zh-CN" b="1" dirty="0">
                <a:solidFill>
                  <a:srgbClr val="FF0000"/>
                </a:solidFill>
              </a:rPr>
              <a:t>路由回路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/>
              <a:t>允许短暂的网络分割，但应该尽量避免出现路由回路：</a:t>
            </a:r>
            <a:endParaRPr lang="en-US" altLang="zh-CN" dirty="0"/>
          </a:p>
          <a:p>
            <a:pPr lvl="1"/>
            <a:r>
              <a:rPr lang="zh-CN" altLang="en-US" sz="2000" b="1" dirty="0">
                <a:solidFill>
                  <a:srgbClr val="FF0000"/>
                </a:solidFill>
              </a:rPr>
              <a:t>阻塞状态</a:t>
            </a:r>
            <a:r>
              <a:rPr lang="zh-CN" altLang="en-US" sz="2000" dirty="0"/>
              <a:t>到</a:t>
            </a:r>
            <a:r>
              <a:rPr lang="zh-CN" altLang="en-US" sz="2000" b="1" dirty="0">
                <a:solidFill>
                  <a:srgbClr val="FF0000"/>
                </a:solidFill>
              </a:rPr>
              <a:t>转发状态</a:t>
            </a:r>
            <a:r>
              <a:rPr lang="zh-CN" altLang="en-US" sz="2000" dirty="0"/>
              <a:t>时不是立即迁移，而是等待足够时间（</a:t>
            </a:r>
            <a:r>
              <a:rPr lang="en-US" altLang="zh-CN" sz="2000" dirty="0"/>
              <a:t>BPDU</a:t>
            </a:r>
            <a:r>
              <a:rPr lang="zh-CN" altLang="en-US" sz="2000" dirty="0"/>
              <a:t>消息传遍网络时间</a:t>
            </a:r>
            <a:r>
              <a:rPr lang="en-US" altLang="zh-CN" sz="2000" dirty="0"/>
              <a:t>T</a:t>
            </a:r>
            <a:r>
              <a:rPr lang="zh-CN" altLang="en-US" sz="2000" dirty="0"/>
              <a:t>的一倍），保证新拓扑信息传遍所有局域网</a:t>
            </a:r>
            <a:endParaRPr lang="en-US" altLang="zh-CN" sz="2000" dirty="0"/>
          </a:p>
          <a:p>
            <a:pPr lvl="2"/>
            <a:r>
              <a:rPr lang="zh-CN" altLang="en-US" dirty="0"/>
              <a:t>考虑老拓扑中根桥</a:t>
            </a:r>
            <a:r>
              <a:rPr lang="en-US" altLang="zh-CN" dirty="0"/>
              <a:t>B</a:t>
            </a:r>
            <a:r>
              <a:rPr lang="zh-CN" altLang="en-US" dirty="0"/>
              <a:t>附近故障，经过</a:t>
            </a:r>
            <a:r>
              <a:rPr lang="en-US" altLang="zh-CN" dirty="0"/>
              <a:t>T</a:t>
            </a:r>
            <a:r>
              <a:rPr lang="zh-CN" altLang="en-US" dirty="0"/>
              <a:t>到达最远的地方</a:t>
            </a:r>
            <a:r>
              <a:rPr lang="en-US" altLang="zh-CN" dirty="0"/>
              <a:t>A</a:t>
            </a:r>
            <a:r>
              <a:rPr lang="zh-CN" altLang="en-US" dirty="0"/>
              <a:t>，而新拓扑的根桥为</a:t>
            </a:r>
            <a:r>
              <a:rPr lang="en-US" altLang="zh-CN" dirty="0"/>
              <a:t>A</a:t>
            </a:r>
            <a:r>
              <a:rPr lang="zh-CN" altLang="en-US" dirty="0"/>
              <a:t>，新的拓扑信息经过</a:t>
            </a:r>
            <a:r>
              <a:rPr lang="en-US" altLang="zh-CN" dirty="0"/>
              <a:t>T</a:t>
            </a:r>
            <a:r>
              <a:rPr lang="zh-CN" altLang="en-US" dirty="0"/>
              <a:t>到达</a:t>
            </a:r>
            <a:r>
              <a:rPr lang="en-US" altLang="zh-CN" dirty="0"/>
              <a:t>B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转发延迟</a:t>
            </a:r>
            <a:r>
              <a:rPr lang="en-US" altLang="zh-CN" dirty="0"/>
              <a:t>=BPDU</a:t>
            </a:r>
            <a:r>
              <a:rPr lang="zh-CN" altLang="en-US" dirty="0"/>
              <a:t>消息传遍网络的时间，缺省</a:t>
            </a:r>
            <a:r>
              <a:rPr lang="en-US" altLang="zh-CN" dirty="0"/>
              <a:t>15</a:t>
            </a:r>
            <a:r>
              <a:rPr lang="zh-CN" altLang="en-US" dirty="0"/>
              <a:t>秒</a:t>
            </a:r>
            <a:endParaRPr lang="en-US" altLang="zh-CN" dirty="0"/>
          </a:p>
          <a:p>
            <a:pPr lvl="1"/>
            <a:r>
              <a:rPr lang="zh-CN" altLang="en-US" sz="2000" dirty="0"/>
              <a:t>引入两个新的状态：监听和学习状态，等待转发延迟后迁移到下一状态</a:t>
            </a:r>
            <a:endParaRPr lang="en-US" altLang="zh-CN" sz="2000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监听状态</a:t>
            </a:r>
            <a:r>
              <a:rPr lang="zh-CN" altLang="en-US" dirty="0"/>
              <a:t>：不转发帧，转发</a:t>
            </a:r>
            <a:r>
              <a:rPr lang="en-US" altLang="zh-CN" dirty="0"/>
              <a:t>(</a:t>
            </a:r>
            <a:r>
              <a:rPr lang="zh-CN" altLang="en-US" dirty="0"/>
              <a:t>接收和发送）</a:t>
            </a:r>
            <a:r>
              <a:rPr lang="en-US" altLang="zh-CN" dirty="0"/>
              <a:t>BPDU</a:t>
            </a:r>
            <a:r>
              <a:rPr lang="zh-CN" altLang="en-US" dirty="0"/>
              <a:t>消息，不学习节点位置</a:t>
            </a:r>
            <a:endParaRPr lang="en-US" altLang="zh-CN" dirty="0"/>
          </a:p>
          <a:p>
            <a:pPr lvl="2"/>
            <a:r>
              <a:rPr lang="zh-CN" altLang="en-US" b="1" dirty="0">
                <a:solidFill>
                  <a:srgbClr val="FF0000"/>
                </a:solidFill>
              </a:rPr>
              <a:t>学习状态</a:t>
            </a:r>
            <a:r>
              <a:rPr lang="zh-CN" altLang="en-US" dirty="0"/>
              <a:t>：不转发帧，转发</a:t>
            </a:r>
            <a:r>
              <a:rPr lang="en-US" altLang="zh-CN" dirty="0"/>
              <a:t>(</a:t>
            </a:r>
            <a:r>
              <a:rPr lang="zh-CN" altLang="en-US" dirty="0"/>
              <a:t>接收和发送） </a:t>
            </a:r>
            <a:r>
              <a:rPr lang="en-US" altLang="zh-CN" dirty="0"/>
              <a:t>BPDU</a:t>
            </a:r>
            <a:r>
              <a:rPr lang="zh-CN" altLang="en-US" dirty="0"/>
              <a:t>消息，</a:t>
            </a:r>
            <a:r>
              <a:rPr lang="zh-CN" altLang="en-US" b="1" dirty="0">
                <a:solidFill>
                  <a:srgbClr val="FF0000"/>
                </a:solidFill>
              </a:rPr>
              <a:t>学习节点位置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zh-CN" altLang="en-US" b="1" dirty="0">
                <a:solidFill>
                  <a:schemeClr val="accent3"/>
                </a:solidFill>
              </a:rPr>
              <a:t>关闭状态</a:t>
            </a:r>
            <a:r>
              <a:rPr lang="zh-CN" altLang="en-US" dirty="0"/>
              <a:t>：该端口关闭，不使用</a:t>
            </a:r>
            <a:endParaRPr lang="en-US" altLang="zh-CN" dirty="0"/>
          </a:p>
          <a:p>
            <a:pPr lvl="2"/>
            <a:r>
              <a:rPr lang="zh-CN" altLang="en-US" dirty="0"/>
              <a:t>阻塞状态：不转发帧，接收但不发送</a:t>
            </a:r>
            <a:r>
              <a:rPr lang="en-US" altLang="zh-CN" dirty="0"/>
              <a:t>BPDU</a:t>
            </a:r>
            <a:r>
              <a:rPr lang="zh-CN" altLang="en-US" dirty="0"/>
              <a:t>消息，不学习节点位置</a:t>
            </a:r>
            <a:endParaRPr lang="en-US" altLang="zh-CN" dirty="0"/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D18F8C-C251-4A9F-B932-A198F884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9771" y="3953378"/>
            <a:ext cx="862433" cy="3156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BF84E1B-CC34-4C5B-9C02-650F982BF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972" y="1344428"/>
            <a:ext cx="862433" cy="315654"/>
          </a:xfrm>
          <a:prstGeom prst="rect">
            <a:avLst/>
          </a:prstGeom>
        </p:spPr>
      </p:pic>
      <p:sp>
        <p:nvSpPr>
          <p:cNvPr id="6" name="左弧形箭头 6">
            <a:extLst>
              <a:ext uri="{FF2B5EF4-FFF2-40B4-BE49-F238E27FC236}">
                <a16:creationId xmlns:a16="http://schemas.microsoft.com/office/drawing/2014/main" id="{7CD5F720-ACDF-4F69-B692-DB4F94AF5A5B}"/>
              </a:ext>
            </a:extLst>
          </p:cNvPr>
          <p:cNvSpPr/>
          <p:nvPr/>
        </p:nvSpPr>
        <p:spPr>
          <a:xfrm>
            <a:off x="9799501" y="966938"/>
            <a:ext cx="591486" cy="2986440"/>
          </a:xfrm>
          <a:prstGeom prst="curv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9E408B-1ACC-4F4C-A153-EB9D30854E6B}"/>
              </a:ext>
            </a:extLst>
          </p:cNvPr>
          <p:cNvSpPr txBox="1"/>
          <p:nvPr/>
        </p:nvSpPr>
        <p:spPr>
          <a:xfrm>
            <a:off x="10862979" y="3899700"/>
            <a:ext cx="102381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新根桥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710872-204B-4570-9F15-FBDAF6F98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7729" y="759545"/>
            <a:ext cx="862433" cy="315654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8BABB6-5E54-4169-98BC-8FD2E730908D}"/>
              </a:ext>
            </a:extLst>
          </p:cNvPr>
          <p:cNvCxnSpPr>
            <a:endCxn id="8" idx="2"/>
          </p:cNvCxnSpPr>
          <p:nvPr/>
        </p:nvCxnSpPr>
        <p:spPr>
          <a:xfrm flipV="1">
            <a:off x="10390987" y="1075199"/>
            <a:ext cx="267959" cy="3864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左弧形箭头 10">
            <a:extLst>
              <a:ext uri="{FF2B5EF4-FFF2-40B4-BE49-F238E27FC236}">
                <a16:creationId xmlns:a16="http://schemas.microsoft.com/office/drawing/2014/main" id="{87AEC1DC-EA8C-4FD0-B1AB-6A59D53F776F}"/>
              </a:ext>
            </a:extLst>
          </p:cNvPr>
          <p:cNvSpPr/>
          <p:nvPr/>
        </p:nvSpPr>
        <p:spPr>
          <a:xfrm rot="10489335">
            <a:off x="10524178" y="961251"/>
            <a:ext cx="1103319" cy="2894570"/>
          </a:xfrm>
          <a:prstGeom prst="curvedRightArrow">
            <a:avLst>
              <a:gd name="adj1" fmla="val 25000"/>
              <a:gd name="adj2" fmla="val 50000"/>
              <a:gd name="adj3" fmla="val 235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乘号 10">
            <a:extLst>
              <a:ext uri="{FF2B5EF4-FFF2-40B4-BE49-F238E27FC236}">
                <a16:creationId xmlns:a16="http://schemas.microsoft.com/office/drawing/2014/main" id="{26E27DA2-107A-4170-AE4A-D6B04195DEB0}"/>
              </a:ext>
            </a:extLst>
          </p:cNvPr>
          <p:cNvSpPr/>
          <p:nvPr/>
        </p:nvSpPr>
        <p:spPr>
          <a:xfrm>
            <a:off x="10024779" y="1128024"/>
            <a:ext cx="630817" cy="672245"/>
          </a:xfrm>
          <a:prstGeom prst="mathMultiply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B9A5F1-A339-48ED-B78E-CF96CFB9AE57}"/>
              </a:ext>
            </a:extLst>
          </p:cNvPr>
          <p:cNvSpPr txBox="1"/>
          <p:nvPr/>
        </p:nvSpPr>
        <p:spPr>
          <a:xfrm>
            <a:off x="10935700" y="515485"/>
            <a:ext cx="102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老根桥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9FFFF1-6BDD-4E18-A482-A9A95D3DAA74}"/>
              </a:ext>
            </a:extLst>
          </p:cNvPr>
          <p:cNvSpPr/>
          <p:nvPr/>
        </p:nvSpPr>
        <p:spPr>
          <a:xfrm>
            <a:off x="9566139" y="4446122"/>
            <a:ext cx="2510098" cy="22467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2000" dirty="0"/>
              <a:t>收敛速度最坏需要</a:t>
            </a:r>
            <a:r>
              <a:rPr lang="en-US" altLang="zh-CN" sz="2000" dirty="0"/>
              <a:t>50</a:t>
            </a:r>
            <a:r>
              <a:rPr lang="zh-CN" altLang="en-US" sz="2000" dirty="0"/>
              <a:t>秒</a:t>
            </a: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判断需要重新计算：</a:t>
            </a:r>
            <a:r>
              <a:rPr lang="en-US" altLang="zh-CN" sz="2000" dirty="0"/>
              <a:t>BPDU</a:t>
            </a:r>
            <a:r>
              <a:rPr lang="zh-CN" altLang="en-US" sz="2000" dirty="0"/>
              <a:t>消息超时（</a:t>
            </a:r>
            <a:r>
              <a:rPr lang="en-US" altLang="zh-CN" sz="2000" dirty="0"/>
              <a:t>20s)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000" dirty="0"/>
              <a:t>端口状态从阻塞到转发状态（</a:t>
            </a:r>
            <a:r>
              <a:rPr lang="en-US" altLang="zh-CN" sz="2000" dirty="0"/>
              <a:t>2*15s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2AC5F4-1740-41D2-8935-1FABD2D4E322}"/>
              </a:ext>
            </a:extLst>
          </p:cNvPr>
          <p:cNvSpPr txBox="1"/>
          <p:nvPr/>
        </p:nvSpPr>
        <p:spPr>
          <a:xfrm>
            <a:off x="9883342" y="2180925"/>
            <a:ext cx="1012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T=15</a:t>
            </a:r>
            <a:r>
              <a:rPr lang="zh-CN" altLang="en-US" dirty="0"/>
              <a:t>秒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3C166C-F328-4B1D-9B40-07285D7D4516}"/>
              </a:ext>
            </a:extLst>
          </p:cNvPr>
          <p:cNvSpPr txBox="1"/>
          <p:nvPr/>
        </p:nvSpPr>
        <p:spPr>
          <a:xfrm>
            <a:off x="10209158" y="1622755"/>
            <a:ext cx="55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3B3FB6-5424-429E-8F29-C06EB8E27A83}"/>
              </a:ext>
            </a:extLst>
          </p:cNvPr>
          <p:cNvSpPr txBox="1"/>
          <p:nvPr/>
        </p:nvSpPr>
        <p:spPr>
          <a:xfrm>
            <a:off x="9631017" y="3625190"/>
            <a:ext cx="555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224BE1D-C146-43A4-AC46-FAD32EE78C83}"/>
              </a:ext>
            </a:extLst>
          </p:cNvPr>
          <p:cNvSpPr/>
          <p:nvPr/>
        </p:nvSpPr>
        <p:spPr>
          <a:xfrm>
            <a:off x="5029326" y="165109"/>
            <a:ext cx="862433" cy="4299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阻塞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4A12AC5-A618-43F9-91EA-EBF8DA9E86D9}"/>
              </a:ext>
            </a:extLst>
          </p:cNvPr>
          <p:cNvSpPr/>
          <p:nvPr/>
        </p:nvSpPr>
        <p:spPr>
          <a:xfrm>
            <a:off x="6372275" y="160370"/>
            <a:ext cx="862433" cy="4299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监听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7F7169C-7ED8-4098-9435-4874E07CD94A}"/>
              </a:ext>
            </a:extLst>
          </p:cNvPr>
          <p:cNvSpPr/>
          <p:nvPr/>
        </p:nvSpPr>
        <p:spPr>
          <a:xfrm>
            <a:off x="7709500" y="145970"/>
            <a:ext cx="862433" cy="4299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C56B76E-DEBD-4B63-8D1B-29BEE436FA5E}"/>
              </a:ext>
            </a:extLst>
          </p:cNvPr>
          <p:cNvSpPr/>
          <p:nvPr/>
        </p:nvSpPr>
        <p:spPr>
          <a:xfrm>
            <a:off x="9191020" y="153170"/>
            <a:ext cx="862433" cy="42993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转发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D760D09-3F20-41E2-A25F-423D332C769E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5891759" y="375336"/>
            <a:ext cx="480516" cy="473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ACD5F7D-62C2-4DBE-AE18-F924CE11827E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7234708" y="360936"/>
            <a:ext cx="474792" cy="144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F02D13C-7AB2-4716-AD6A-BD09B1BF0022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8571933" y="360936"/>
            <a:ext cx="619087" cy="720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22940C35-7F4D-45F4-9E4A-9CC3DEAAC7A5}"/>
              </a:ext>
            </a:extLst>
          </p:cNvPr>
          <p:cNvSpPr txBox="1"/>
          <p:nvPr/>
        </p:nvSpPr>
        <p:spPr>
          <a:xfrm>
            <a:off x="9252178" y="582398"/>
            <a:ext cx="11354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转发帧</a:t>
            </a:r>
            <a:endParaRPr lang="en-US" altLang="zh-CN" sz="1400" dirty="0"/>
          </a:p>
          <a:p>
            <a:r>
              <a:rPr lang="zh-CN" altLang="en-US" sz="1400" dirty="0"/>
              <a:t>处理</a:t>
            </a:r>
            <a:r>
              <a:rPr lang="en-US" altLang="zh-CN" sz="1400" dirty="0"/>
              <a:t>BPDU</a:t>
            </a:r>
          </a:p>
          <a:p>
            <a:r>
              <a:rPr lang="zh-CN" altLang="en-US" sz="1400" dirty="0"/>
              <a:t>学习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45B5CFA-A2B2-401E-B5BD-0A24E521B98F}"/>
              </a:ext>
            </a:extLst>
          </p:cNvPr>
          <p:cNvSpPr txBox="1"/>
          <p:nvPr/>
        </p:nvSpPr>
        <p:spPr>
          <a:xfrm>
            <a:off x="7805183" y="548039"/>
            <a:ext cx="975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处理</a:t>
            </a:r>
            <a:r>
              <a:rPr lang="en-US" altLang="zh-CN" sz="1400" dirty="0"/>
              <a:t>BPDU</a:t>
            </a:r>
          </a:p>
          <a:p>
            <a:r>
              <a:rPr lang="zh-CN" altLang="en-US" sz="1400" dirty="0"/>
              <a:t>学习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563CE26-E4BE-4340-A616-FE4F1A462580}"/>
              </a:ext>
            </a:extLst>
          </p:cNvPr>
          <p:cNvSpPr txBox="1"/>
          <p:nvPr/>
        </p:nvSpPr>
        <p:spPr>
          <a:xfrm>
            <a:off x="6497101" y="655761"/>
            <a:ext cx="975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处理</a:t>
            </a:r>
            <a:r>
              <a:rPr lang="en-US" altLang="zh-CN" sz="1400" dirty="0"/>
              <a:t>BPDU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9F84D80-686C-4925-9915-CC4575D22127}"/>
              </a:ext>
            </a:extLst>
          </p:cNvPr>
          <p:cNvSpPr txBox="1"/>
          <p:nvPr/>
        </p:nvSpPr>
        <p:spPr>
          <a:xfrm>
            <a:off x="5050106" y="684161"/>
            <a:ext cx="975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接收</a:t>
            </a:r>
            <a:r>
              <a:rPr lang="en-US" altLang="zh-CN" sz="1400" dirty="0"/>
              <a:t>BPDU</a:t>
            </a:r>
          </a:p>
        </p:txBody>
      </p:sp>
      <p:pic>
        <p:nvPicPr>
          <p:cNvPr id="37" name="Picture 252">
            <a:extLst>
              <a:ext uri="{FF2B5EF4-FFF2-40B4-BE49-F238E27FC236}">
                <a16:creationId xmlns:a16="http://schemas.microsoft.com/office/drawing/2014/main" id="{547AF9D8-5C55-4FC3-923C-AF972C7C2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91994" y="-53043"/>
            <a:ext cx="415925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8" name="Picture 252">
            <a:extLst>
              <a:ext uri="{FF2B5EF4-FFF2-40B4-BE49-F238E27FC236}">
                <a16:creationId xmlns:a16="http://schemas.microsoft.com/office/drawing/2014/main" id="{FCED668A-F44D-4657-817D-7298E2F80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71933" y="-60066"/>
            <a:ext cx="415925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8592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">
      <a:dk1>
        <a:srgbClr val="1E1E1E"/>
      </a:dk1>
      <a:lt1>
        <a:sysClr val="window" lastClr="FFFFFF"/>
      </a:lt1>
      <a:dk2>
        <a:srgbClr val="0F1E3C"/>
      </a:dk2>
      <a:lt2>
        <a:srgbClr val="F0F0F0"/>
      </a:lt2>
      <a:accent1>
        <a:srgbClr val="0066CC"/>
      </a:accent1>
      <a:accent2>
        <a:srgbClr val="009999"/>
      </a:accent2>
      <a:accent3>
        <a:srgbClr val="00CC66"/>
      </a:accent3>
      <a:accent4>
        <a:srgbClr val="FF6600"/>
      </a:accent4>
      <a:accent5>
        <a:srgbClr val="9933CC"/>
      </a:accent5>
      <a:accent6>
        <a:srgbClr val="666666"/>
      </a:accent6>
      <a:hlink>
        <a:srgbClr val="0066CC"/>
      </a:hlink>
      <a:folHlink>
        <a:srgbClr val="663399"/>
      </a:folHlink>
    </a:clrScheme>
    <a:fontScheme name="主题字体">
      <a:majorFont>
        <a:latin typeface="Consolas"/>
        <a:ea typeface="华文楷体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80311</TotalTime>
  <Words>1601</Words>
  <Application>Microsoft Office PowerPoint</Application>
  <PresentationFormat>宽屏</PresentationFormat>
  <Paragraphs>178</Paragraphs>
  <Slides>7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-apple-system</vt:lpstr>
      <vt:lpstr>等线</vt:lpstr>
      <vt:lpstr>黑体</vt:lpstr>
      <vt:lpstr>微软雅黑</vt:lpstr>
      <vt:lpstr>Arial</vt:lpstr>
      <vt:lpstr>Calibri</vt:lpstr>
      <vt:lpstr>Consolas</vt:lpstr>
      <vt:lpstr>Office 主题​​</vt:lpstr>
      <vt:lpstr>Visio</vt:lpstr>
      <vt:lpstr>第6章 链路层和局域网 (补充)生成树算法</vt:lpstr>
      <vt:lpstr>生成树算法：概述</vt:lpstr>
      <vt:lpstr>生成树算法：根桥、根端口和选取端口</vt:lpstr>
      <vt:lpstr>BPDU消息</vt:lpstr>
      <vt:lpstr>生成树算法：更好的BPDU消息</vt:lpstr>
      <vt:lpstr>生成树算法：示例</vt:lpstr>
      <vt:lpstr>生成树算法：拓扑变化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Mao Dilin</dc:creator>
  <cp:lastModifiedBy>Dilin Mao</cp:lastModifiedBy>
  <cp:revision>693</cp:revision>
  <dcterms:created xsi:type="dcterms:W3CDTF">2021-07-08T12:06:32Z</dcterms:created>
  <dcterms:modified xsi:type="dcterms:W3CDTF">2025-12-18T12:41:37Z</dcterms:modified>
</cp:coreProperties>
</file>