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42"/>
  </p:notesMasterIdLst>
  <p:sldIdLst>
    <p:sldId id="256" r:id="rId2"/>
    <p:sldId id="257" r:id="rId3"/>
    <p:sldId id="451" r:id="rId4"/>
    <p:sldId id="452" r:id="rId5"/>
    <p:sldId id="453" r:id="rId6"/>
    <p:sldId id="454" r:id="rId7"/>
    <p:sldId id="455" r:id="rId8"/>
    <p:sldId id="464" r:id="rId9"/>
    <p:sldId id="456" r:id="rId10"/>
    <p:sldId id="457" r:id="rId11"/>
    <p:sldId id="458" r:id="rId12"/>
    <p:sldId id="460" r:id="rId13"/>
    <p:sldId id="461" r:id="rId14"/>
    <p:sldId id="462" r:id="rId15"/>
    <p:sldId id="465" r:id="rId16"/>
    <p:sldId id="463" r:id="rId17"/>
    <p:sldId id="466" r:id="rId18"/>
    <p:sldId id="798" r:id="rId19"/>
    <p:sldId id="467" r:id="rId20"/>
    <p:sldId id="799" r:id="rId21"/>
    <p:sldId id="800" r:id="rId22"/>
    <p:sldId id="801" r:id="rId23"/>
    <p:sldId id="802" r:id="rId24"/>
    <p:sldId id="803" r:id="rId25"/>
    <p:sldId id="804" r:id="rId26"/>
    <p:sldId id="805" r:id="rId27"/>
    <p:sldId id="806" r:id="rId28"/>
    <p:sldId id="807" r:id="rId29"/>
    <p:sldId id="808" r:id="rId30"/>
    <p:sldId id="809" r:id="rId31"/>
    <p:sldId id="810" r:id="rId32"/>
    <p:sldId id="811" r:id="rId33"/>
    <p:sldId id="812" r:id="rId34"/>
    <p:sldId id="813" r:id="rId35"/>
    <p:sldId id="814" r:id="rId36"/>
    <p:sldId id="816" r:id="rId37"/>
    <p:sldId id="815" r:id="rId38"/>
    <p:sldId id="405" r:id="rId39"/>
    <p:sldId id="817" r:id="rId40"/>
    <p:sldId id="818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4095"/>
    <a:srgbClr val="0066CC"/>
    <a:srgbClr val="0070C0"/>
    <a:srgbClr val="D9D9D9"/>
    <a:srgbClr val="FFFFFF"/>
    <a:srgbClr val="7A7A7A"/>
    <a:srgbClr val="003399"/>
    <a:srgbClr val="3E40A9"/>
    <a:srgbClr val="073291"/>
    <a:srgbClr val="595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5" autoAdjust="0"/>
    <p:restoredTop sz="88571" autoAdjust="0"/>
  </p:normalViewPr>
  <p:slideViewPr>
    <p:cSldViewPr snapToGrid="0">
      <p:cViewPr varScale="1">
        <p:scale>
          <a:sx n="148" d="100"/>
          <a:sy n="148" d="100"/>
        </p:scale>
        <p:origin x="632" y="68"/>
      </p:cViewPr>
      <p:guideLst>
        <p:guide orient="horz" pos="504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76A4-C51F-48B2-92DF-DED52320BFCA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8BEDE-8E85-48AE-9BA5-005F8B263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182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47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路径中的第一条链路连接到源</a:t>
            </a:r>
            <a:r>
              <a:rPr lang="en-US" altLang="zh-CN" dirty="0"/>
              <a:t>S</a:t>
            </a:r>
          </a:p>
          <a:p>
            <a:r>
              <a:rPr lang="zh-CN" altLang="en-US" dirty="0"/>
              <a:t>路径中的最后一条链路连接到目的地</a:t>
            </a:r>
            <a:r>
              <a:rPr lang="en-US" altLang="zh-CN" dirty="0"/>
              <a:t>D</a:t>
            </a:r>
          </a:p>
          <a:p>
            <a:r>
              <a:rPr lang="zh-CN" altLang="en-US" dirty="0"/>
              <a:t>对所有的</a:t>
            </a:r>
            <a:r>
              <a:rPr lang="en-US" altLang="zh-CN" dirty="0" err="1"/>
              <a:t>i</a:t>
            </a:r>
            <a:r>
              <a:rPr lang="zh-CN" altLang="en-US" dirty="0"/>
              <a:t>，路径中的第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i-1</a:t>
            </a:r>
            <a:r>
              <a:rPr lang="zh-CN" altLang="en-US" dirty="0"/>
              <a:t>条链路连接到同一个节点</a:t>
            </a:r>
            <a:endParaRPr lang="en-US" altLang="zh-CN" dirty="0"/>
          </a:p>
          <a:p>
            <a:endParaRPr lang="en-US" altLang="zh-CN" sz="2000" dirty="0"/>
          </a:p>
          <a:p>
            <a:r>
              <a:rPr lang="zh-CN" altLang="en-US" sz="2000" dirty="0"/>
              <a:t>网络通过节点连接：节点间的路径花费</a:t>
            </a:r>
            <a:r>
              <a:rPr lang="en-US" altLang="zh-CN" sz="2000" dirty="0"/>
              <a:t>+</a:t>
            </a:r>
            <a:r>
              <a:rPr lang="zh-CN" altLang="en-US" sz="2000" dirty="0"/>
              <a:t>最后一跳连接到网络的花费</a:t>
            </a:r>
            <a:endParaRPr lang="en-US" altLang="zh-CN" sz="2000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677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after </a:t>
            </a:r>
            <a:r>
              <a:rPr lang="en-US" altLang="zh-CN" i="1" dirty="0"/>
              <a:t>k</a:t>
            </a:r>
            <a:r>
              <a:rPr lang="en-US" altLang="zh-CN" dirty="0"/>
              <a:t> iterations, know least cost path to </a:t>
            </a:r>
            <a:r>
              <a:rPr lang="en-US" altLang="zh-CN" i="1" dirty="0"/>
              <a:t>k </a:t>
            </a:r>
            <a:r>
              <a:rPr lang="en-US" altLang="zh-CN" dirty="0"/>
              <a:t>destinations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831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/* compute </a:t>
            </a:r>
            <a:r>
              <a:rPr lang="en-US" altLang="zh-CN" sz="1200" dirty="0"/>
              <a:t>least cost path from u </a:t>
            </a:r>
            <a:r>
              <a:rPr lang="en-US" altLang="ja-JP" sz="1200" dirty="0"/>
              <a:t>to all other nodes */</a:t>
            </a:r>
            <a:endParaRPr lang="en-US" altLang="zh-CN" dirty="0">
              <a:latin typeface="+mn-lt"/>
            </a:endParaRPr>
          </a:p>
          <a:p>
            <a:r>
              <a:rPr lang="en-US" altLang="zh-CN" sz="1200" dirty="0">
                <a:latin typeface="+mn-lt"/>
              </a:rPr>
              <a:t>/* </a:t>
            </a:r>
            <a:r>
              <a:rPr lang="en-US" altLang="zh-CN" sz="1200" i="1" dirty="0">
                <a:latin typeface="+mn-lt"/>
              </a:rPr>
              <a:t>u </a:t>
            </a:r>
            <a:r>
              <a:rPr lang="en-US" altLang="zh-CN" sz="1200" dirty="0">
                <a:latin typeface="+mn-lt"/>
              </a:rPr>
              <a:t>initially</a:t>
            </a:r>
            <a:r>
              <a:rPr lang="en-US" altLang="zh-CN" sz="1200" i="1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knows direct-path-cost only to  direct neighbors    */</a:t>
            </a:r>
          </a:p>
          <a:p>
            <a:r>
              <a:rPr lang="en-US" altLang="zh-CN" sz="1200" baseline="-25000" dirty="0">
                <a:latin typeface="+mn-lt"/>
              </a:rPr>
              <a:t> </a:t>
            </a:r>
            <a:r>
              <a:rPr lang="en-US" altLang="zh-CN" sz="1200" dirty="0">
                <a:latin typeface="+mn-lt"/>
              </a:rPr>
              <a:t>/* but may not be </a:t>
            </a:r>
            <a:r>
              <a:rPr lang="en-US" altLang="zh-CN" sz="1200" i="1" dirty="0">
                <a:latin typeface="+mn-lt"/>
              </a:rPr>
              <a:t>minimum</a:t>
            </a:r>
            <a:r>
              <a:rPr lang="en-US" altLang="zh-CN" sz="1200" dirty="0">
                <a:latin typeface="+mn-lt"/>
              </a:rPr>
              <a:t> cost!                                                    */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664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966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由于节点到</a:t>
            </a:r>
            <a:r>
              <a:rPr lang="en-US" altLang="zh-CN" sz="1200" dirty="0"/>
              <a:t>S</a:t>
            </a:r>
            <a:r>
              <a:rPr lang="zh-CN" altLang="en-US" sz="1200" dirty="0"/>
              <a:t>的最短距离为非递增的，</a:t>
            </a:r>
            <a:r>
              <a:rPr lang="en-US" altLang="zh-CN" sz="1200" dirty="0"/>
              <a:t>k</a:t>
            </a:r>
            <a:r>
              <a:rPr lang="zh-CN" altLang="en-US" sz="1200" dirty="0"/>
              <a:t>轮计算的距离为</a:t>
            </a:r>
            <a:r>
              <a:rPr lang="zh-CN" altLang="en-US" sz="1200" u="sng" dirty="0">
                <a:solidFill>
                  <a:srgbClr val="FF0000"/>
                </a:solidFill>
              </a:rPr>
              <a:t>最多经过</a:t>
            </a:r>
            <a:r>
              <a:rPr lang="en-US" altLang="zh-CN" sz="1200" u="sng" dirty="0">
                <a:solidFill>
                  <a:srgbClr val="FF0000"/>
                </a:solidFill>
              </a:rPr>
              <a:t>k</a:t>
            </a:r>
            <a:r>
              <a:rPr lang="zh-CN" altLang="en-US" sz="1200" u="sng" dirty="0">
                <a:solidFill>
                  <a:srgbClr val="FF0000"/>
                </a:solidFill>
              </a:rPr>
              <a:t>跳</a:t>
            </a:r>
            <a:r>
              <a:rPr lang="zh-CN" altLang="en-US" sz="1200" dirty="0"/>
              <a:t>的最小花费路径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283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</a:t>
            </a:r>
            <a:r>
              <a:rPr lang="en-US" altLang="zh-CN" dirty="0"/>
              <a:t>(</a:t>
            </a:r>
            <a:r>
              <a:rPr lang="en-US" altLang="zh-CN" dirty="0" err="1"/>
              <a:t>x,z</a:t>
            </a:r>
            <a:r>
              <a:rPr lang="en-US" altLang="zh-CN" dirty="0"/>
              <a:t>)</a:t>
            </a:r>
            <a:r>
              <a:rPr lang="zh-CN" altLang="en-US" dirty="0"/>
              <a:t>花费很大比如</a:t>
            </a:r>
            <a:r>
              <a:rPr lang="en-US" altLang="zh-CN" dirty="0"/>
              <a:t>9999</a:t>
            </a:r>
            <a:r>
              <a:rPr lang="zh-CN" altLang="en-US" dirty="0"/>
              <a:t>，而</a:t>
            </a:r>
            <a:r>
              <a:rPr lang="en-US" altLang="zh-CN" dirty="0" err="1"/>
              <a:t>x,y</a:t>
            </a:r>
            <a:r>
              <a:rPr lang="zh-CN" altLang="en-US" dirty="0"/>
              <a:t>从</a:t>
            </a:r>
            <a:r>
              <a:rPr lang="en-US" altLang="zh-CN" dirty="0"/>
              <a:t>4</a:t>
            </a:r>
            <a:r>
              <a:rPr lang="zh-CN" altLang="en-US" dirty="0"/>
              <a:t>变为</a:t>
            </a:r>
            <a:r>
              <a:rPr lang="en-US" altLang="zh-CN" dirty="0"/>
              <a:t>10000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748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(y, x)=4-&gt;60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138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性能： 专注性能，专注策略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24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AS</a:t>
            </a:r>
            <a:r>
              <a:rPr lang="zh-CN" altLang="en-US" dirty="0"/>
              <a:t>内部的网络（汇集后）发布到其他</a:t>
            </a:r>
            <a:r>
              <a:rPr lang="en-US" altLang="zh-CN" dirty="0"/>
              <a:t>AS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30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accent6"/>
                </a:solidFill>
              </a:rPr>
              <a:t>支持各种路由，允许交换通过其他途径了解到的路由信息，比如到外部的路由</a:t>
            </a:r>
            <a:endParaRPr lang="en-US" altLang="zh-CN" sz="1200" b="1" dirty="0">
              <a:solidFill>
                <a:schemeClr val="accent6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582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973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zh-CN" dirty="0"/>
              <a:t>自治系统可能有</a:t>
            </a:r>
            <a:r>
              <a:rPr lang="zh-CN" altLang="zh-CN" b="1" dirty="0">
                <a:solidFill>
                  <a:srgbClr val="FF0000"/>
                </a:solidFill>
              </a:rPr>
              <a:t>多个</a:t>
            </a:r>
            <a:r>
              <a:rPr lang="en-US" altLang="zh-CN" b="1" dirty="0">
                <a:solidFill>
                  <a:srgbClr val="FF0000"/>
                </a:solidFill>
              </a:rPr>
              <a:t>BGP</a:t>
            </a:r>
            <a:r>
              <a:rPr lang="zh-CN" altLang="zh-CN" b="1" dirty="0">
                <a:solidFill>
                  <a:srgbClr val="FF0000"/>
                </a:solidFill>
              </a:rPr>
              <a:t>路由器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/>
              <a:t>E-BGP</a:t>
            </a:r>
            <a:r>
              <a:rPr lang="zh-CN" altLang="en-US" dirty="0"/>
              <a:t>（</a:t>
            </a:r>
            <a:r>
              <a:rPr lang="en-US" altLang="zh-CN" dirty="0"/>
              <a:t>External BGP):</a:t>
            </a:r>
            <a:r>
              <a:rPr lang="zh-CN" altLang="zh-CN" dirty="0"/>
              <a:t>不同自治系统的</a:t>
            </a:r>
            <a:r>
              <a:rPr lang="en-US" altLang="zh-CN" dirty="0"/>
              <a:t>BGP</a:t>
            </a:r>
            <a:r>
              <a:rPr lang="zh-CN" altLang="zh-CN" dirty="0"/>
              <a:t>路由器间的</a:t>
            </a:r>
            <a:r>
              <a:rPr lang="en-US" altLang="zh-CN" dirty="0"/>
              <a:t>BGP</a:t>
            </a:r>
            <a:r>
              <a:rPr lang="zh-CN" altLang="zh-CN" dirty="0"/>
              <a:t>协议</a:t>
            </a:r>
            <a:r>
              <a:rPr lang="zh-CN" altLang="en-US" dirty="0"/>
              <a:t>，</a:t>
            </a:r>
            <a:r>
              <a:rPr kumimoji="1" lang="zh-CN" altLang="en-US" dirty="0"/>
              <a:t>从相邻的</a:t>
            </a:r>
            <a:r>
              <a:rPr kumimoji="1" lang="en-US" altLang="zh-CN" dirty="0"/>
              <a:t>AS</a:t>
            </a:r>
            <a:r>
              <a:rPr kumimoji="1" lang="zh-CN" altLang="en-US" dirty="0"/>
              <a:t>获得网络可达信息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路由发布到</a:t>
            </a:r>
            <a:r>
              <a:rPr lang="en-US" altLang="zh-CN" sz="2000" dirty="0"/>
              <a:t>E-BGP</a:t>
            </a:r>
            <a:r>
              <a:rPr lang="zh-CN" altLang="en-US" sz="2000" dirty="0"/>
              <a:t>邻居时添加自身的</a:t>
            </a:r>
            <a:r>
              <a:rPr lang="en-US" altLang="zh-CN" sz="2000" dirty="0"/>
              <a:t>AS</a:t>
            </a:r>
            <a:r>
              <a:rPr lang="zh-CN" altLang="en-US" sz="2000" dirty="0"/>
              <a:t>编号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en-US" altLang="zh-CN" dirty="0"/>
              <a:t>I-BGP</a:t>
            </a:r>
            <a:r>
              <a:rPr lang="zh-CN" altLang="en-US" dirty="0"/>
              <a:t>（</a:t>
            </a:r>
            <a:r>
              <a:rPr lang="en-US" altLang="zh-CN" dirty="0"/>
              <a:t>Internal BGP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zh-CN" dirty="0"/>
              <a:t>同一个自治系统的</a:t>
            </a:r>
            <a:r>
              <a:rPr lang="en-US" altLang="zh-CN" dirty="0"/>
              <a:t>BGP</a:t>
            </a:r>
            <a:r>
              <a:rPr lang="zh-CN" altLang="zh-CN" dirty="0"/>
              <a:t>路由器间</a:t>
            </a:r>
            <a:r>
              <a:rPr lang="zh-CN" altLang="en-US" dirty="0"/>
              <a:t>的</a:t>
            </a:r>
            <a:r>
              <a:rPr lang="zh-CN" altLang="zh-CN" dirty="0"/>
              <a:t>协议</a:t>
            </a:r>
            <a:endParaRPr kumimoji="1"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从</a:t>
            </a:r>
            <a:r>
              <a:rPr lang="en-US" altLang="zh-CN" sz="2000" dirty="0"/>
              <a:t>E-BGP</a:t>
            </a:r>
            <a:r>
              <a:rPr lang="zh-CN" altLang="en-US" sz="2000" dirty="0"/>
              <a:t>邻居了解到的网络可达信息要传播给</a:t>
            </a:r>
            <a:r>
              <a:rPr lang="en-US" altLang="zh-CN" sz="2000" dirty="0"/>
              <a:t>AS</a:t>
            </a:r>
            <a:r>
              <a:rPr lang="zh-CN" altLang="en-US" sz="2000" dirty="0"/>
              <a:t>内部的其他</a:t>
            </a:r>
            <a:r>
              <a:rPr lang="en-US" altLang="zh-CN" sz="2000" dirty="0"/>
              <a:t>I-BGP</a:t>
            </a:r>
            <a:r>
              <a:rPr lang="zh-CN" altLang="en-US" sz="2000" dirty="0"/>
              <a:t>路由器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endParaRPr lang="zh-CN" altLang="en-US" dirty="0"/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不建议采用</a:t>
            </a:r>
            <a:r>
              <a:rPr lang="en-US" altLang="zh-CN" sz="2000" dirty="0"/>
              <a:t>RIP</a:t>
            </a:r>
            <a:r>
              <a:rPr lang="zh-CN" altLang="en-US" sz="2000" dirty="0"/>
              <a:t>和</a:t>
            </a:r>
            <a:r>
              <a:rPr lang="en-US" altLang="zh-CN" sz="2000" dirty="0"/>
              <a:t>OSPF</a:t>
            </a:r>
            <a:r>
              <a:rPr lang="zh-CN" altLang="en-US" sz="2000" dirty="0"/>
              <a:t>协议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需要传递网络不可达信息，包含多个路径属性，需要进行扩展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网络不可达信息非常多，开销太大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自治系统内部的路由器一般不需要了解到</a:t>
            </a:r>
            <a:r>
              <a:rPr lang="en-US" altLang="zh-CN" sz="2000" dirty="0"/>
              <a:t>Internet</a:t>
            </a:r>
            <a:r>
              <a:rPr lang="zh-CN" altLang="en-US" sz="2000" dirty="0"/>
              <a:t>的各个</a:t>
            </a:r>
            <a:r>
              <a:rPr lang="en-US" altLang="zh-CN" sz="2000" dirty="0"/>
              <a:t>AS</a:t>
            </a:r>
            <a:r>
              <a:rPr lang="zh-CN" altLang="en-US" sz="2000" dirty="0"/>
              <a:t>的信息，采用缺省路由即可</a:t>
            </a:r>
            <a:endParaRPr lang="en-US" altLang="zh-CN" sz="2000" dirty="0"/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I-BGP</a:t>
            </a:r>
            <a:r>
              <a:rPr lang="zh-CN" altLang="en-US" sz="2000" dirty="0"/>
              <a:t>和</a:t>
            </a:r>
            <a:r>
              <a:rPr lang="en-US" altLang="zh-CN" sz="2000" dirty="0"/>
              <a:t>E-BGP</a:t>
            </a:r>
            <a:r>
              <a:rPr lang="zh-CN" altLang="en-US" sz="2000" dirty="0"/>
              <a:t>采用相同消息格式和相同状态机，</a:t>
            </a:r>
            <a:r>
              <a:rPr lang="zh-CN" altLang="en-US" sz="2000" b="1" dirty="0">
                <a:solidFill>
                  <a:srgbClr val="FF0000"/>
                </a:solidFill>
              </a:rPr>
              <a:t>区别在路由发布的限制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规则</a:t>
            </a:r>
            <a:r>
              <a:rPr lang="en-US" altLang="zh-CN" sz="2000" dirty="0"/>
              <a:t>1</a:t>
            </a:r>
            <a:r>
              <a:rPr lang="zh-CN" altLang="en-US" sz="2000" dirty="0"/>
              <a:t>： </a:t>
            </a:r>
            <a:r>
              <a:rPr lang="zh-CN" altLang="zh-CN" sz="2000" dirty="0"/>
              <a:t>通过</a:t>
            </a:r>
            <a:r>
              <a:rPr lang="en-US" altLang="zh-CN" sz="2000" dirty="0"/>
              <a:t>E-BGP</a:t>
            </a:r>
            <a:r>
              <a:rPr lang="zh-CN" altLang="zh-CN" sz="2000" dirty="0"/>
              <a:t>邻居了解到的路由再通过</a:t>
            </a:r>
            <a:r>
              <a:rPr lang="en-US" altLang="zh-CN" sz="2000" dirty="0"/>
              <a:t>I-BGP</a:t>
            </a:r>
            <a:r>
              <a:rPr lang="zh-CN" altLang="zh-CN" sz="2000" dirty="0"/>
              <a:t>发布给自治系统内部的其他</a:t>
            </a:r>
            <a:r>
              <a:rPr lang="en-US" altLang="zh-CN" sz="2000" dirty="0"/>
              <a:t>I-BGP</a:t>
            </a:r>
            <a:r>
              <a:rPr lang="zh-CN" altLang="zh-CN" sz="2000" dirty="0"/>
              <a:t>邻居</a:t>
            </a:r>
            <a:r>
              <a:rPr lang="zh-CN" altLang="en-US" sz="2000" dirty="0"/>
              <a:t>；</a:t>
            </a:r>
            <a:r>
              <a:rPr lang="zh-CN" altLang="zh-CN" sz="2000" dirty="0"/>
              <a:t>从</a:t>
            </a:r>
            <a:r>
              <a:rPr lang="en-US" altLang="zh-CN" sz="2000" dirty="0"/>
              <a:t>I-BGP</a:t>
            </a:r>
            <a:r>
              <a:rPr lang="zh-CN" altLang="zh-CN" sz="2000" dirty="0"/>
              <a:t>邻居了解到的路由通过</a:t>
            </a:r>
            <a:r>
              <a:rPr lang="en-US" altLang="zh-CN" sz="2000" dirty="0"/>
              <a:t>E-BGP</a:t>
            </a:r>
            <a:r>
              <a:rPr lang="zh-CN" altLang="zh-CN" sz="2000" dirty="0"/>
              <a:t>发布给其他自治系统的</a:t>
            </a:r>
            <a:r>
              <a:rPr lang="en-US" altLang="zh-CN" sz="2000" dirty="0"/>
              <a:t>BGP</a:t>
            </a:r>
            <a:r>
              <a:rPr lang="zh-CN" altLang="zh-CN" sz="2000" dirty="0"/>
              <a:t>路由器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u="sng" dirty="0">
                <a:solidFill>
                  <a:srgbClr val="FF0000"/>
                </a:solidFill>
              </a:rPr>
              <a:t>规则</a:t>
            </a:r>
            <a:r>
              <a:rPr lang="en-US" altLang="zh-CN" sz="2000" u="sng" dirty="0">
                <a:solidFill>
                  <a:srgbClr val="FF0000"/>
                </a:solidFill>
              </a:rPr>
              <a:t>2</a:t>
            </a:r>
            <a:r>
              <a:rPr lang="zh-CN" altLang="en-US" sz="2000" u="sng" dirty="0">
                <a:solidFill>
                  <a:srgbClr val="FF0000"/>
                </a:solidFill>
              </a:rPr>
              <a:t>： </a:t>
            </a:r>
            <a:r>
              <a:rPr lang="zh-CN" altLang="zh-CN" sz="2000" u="sng" dirty="0">
                <a:solidFill>
                  <a:srgbClr val="FF0000"/>
                </a:solidFill>
              </a:rPr>
              <a:t>从</a:t>
            </a:r>
            <a:r>
              <a:rPr lang="en-US" altLang="zh-CN" sz="2000" u="sng" dirty="0">
                <a:solidFill>
                  <a:srgbClr val="FF0000"/>
                </a:solidFill>
              </a:rPr>
              <a:t>I-BGP</a:t>
            </a:r>
            <a:r>
              <a:rPr lang="zh-CN" altLang="zh-CN" sz="2000" u="sng" dirty="0">
                <a:solidFill>
                  <a:srgbClr val="FF0000"/>
                </a:solidFill>
              </a:rPr>
              <a:t>邻居了解到的路由不允许发布给其他</a:t>
            </a:r>
            <a:r>
              <a:rPr lang="en-US" altLang="zh-CN" sz="2000" u="sng" dirty="0">
                <a:solidFill>
                  <a:srgbClr val="FF0000"/>
                </a:solidFill>
              </a:rPr>
              <a:t>I-BGP</a:t>
            </a:r>
            <a:r>
              <a:rPr lang="zh-CN" altLang="zh-CN" sz="2000" u="sng" dirty="0">
                <a:solidFill>
                  <a:srgbClr val="FF0000"/>
                </a:solidFill>
              </a:rPr>
              <a:t>邻居</a:t>
            </a:r>
            <a:r>
              <a:rPr lang="en-US" altLang="zh-CN" sz="2000" dirty="0"/>
              <a:t>(</a:t>
            </a:r>
            <a:r>
              <a:rPr lang="zh-CN" altLang="en-US" sz="2000" dirty="0"/>
              <a:t>下一页</a:t>
            </a:r>
            <a:r>
              <a:rPr lang="en-US" altLang="zh-CN" sz="2000" dirty="0"/>
              <a:t>slide)</a:t>
            </a:r>
            <a:endParaRPr lang="en-US" altLang="zh-CN" sz="2000" dirty="0">
              <a:sym typeface="Wingdings" pitchFamily="2" charset="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规则</a:t>
            </a:r>
            <a:r>
              <a:rPr lang="en-US" altLang="zh-CN" u="sng" dirty="0">
                <a:solidFill>
                  <a:srgbClr val="FF0000"/>
                </a:solidFill>
              </a:rPr>
              <a:t>2</a:t>
            </a:r>
            <a:r>
              <a:rPr lang="zh-CN" altLang="en-US" u="sng" dirty="0">
                <a:solidFill>
                  <a:srgbClr val="FF0000"/>
                </a:solidFill>
              </a:rPr>
              <a:t>： </a:t>
            </a:r>
            <a:r>
              <a:rPr lang="zh-CN" altLang="zh-CN" u="sng" dirty="0">
                <a:solidFill>
                  <a:srgbClr val="FF0000"/>
                </a:solidFill>
              </a:rPr>
              <a:t>从</a:t>
            </a:r>
            <a:r>
              <a:rPr lang="en-US" altLang="zh-CN" u="sng" dirty="0">
                <a:solidFill>
                  <a:srgbClr val="FF0000"/>
                </a:solidFill>
              </a:rPr>
              <a:t>I-BGP</a:t>
            </a:r>
            <a:r>
              <a:rPr lang="zh-CN" altLang="zh-CN" u="sng" dirty="0">
                <a:solidFill>
                  <a:srgbClr val="FF0000"/>
                </a:solidFill>
              </a:rPr>
              <a:t>邻居了解到的路由不允许发布给其他</a:t>
            </a:r>
            <a:r>
              <a:rPr lang="en-US" altLang="zh-CN" u="sng" dirty="0">
                <a:solidFill>
                  <a:srgbClr val="FF0000"/>
                </a:solidFill>
              </a:rPr>
              <a:t>I-BGP</a:t>
            </a:r>
            <a:r>
              <a:rPr lang="zh-CN" altLang="zh-CN" u="sng" dirty="0">
                <a:solidFill>
                  <a:srgbClr val="FF0000"/>
                </a:solidFill>
              </a:rPr>
              <a:t>邻居</a:t>
            </a:r>
            <a:endParaRPr lang="en-US" altLang="zh-CN" dirty="0"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zh-CN" altLang="en-US" dirty="0"/>
              <a:t>路由发布到</a:t>
            </a:r>
            <a:r>
              <a:rPr lang="en-US" altLang="zh-CN" dirty="0"/>
              <a:t>E-BGP</a:t>
            </a:r>
            <a:r>
              <a:rPr lang="zh-CN" altLang="en-US" dirty="0"/>
              <a:t>邻居时添加自身的</a:t>
            </a:r>
            <a:r>
              <a:rPr lang="en-US" altLang="zh-CN" dirty="0"/>
              <a:t>AS</a:t>
            </a:r>
            <a:r>
              <a:rPr lang="zh-CN" altLang="en-US" dirty="0"/>
              <a:t>编号，可以通过检查自己是否出现在</a:t>
            </a:r>
            <a:r>
              <a:rPr lang="en-US" altLang="zh-CN" dirty="0"/>
              <a:t>AS PATH</a:t>
            </a:r>
            <a:r>
              <a:rPr lang="zh-CN" altLang="en-US" dirty="0"/>
              <a:t>中检测回路</a:t>
            </a:r>
            <a:endParaRPr lang="en-US" altLang="zh-CN" dirty="0"/>
          </a:p>
          <a:p>
            <a:pPr marL="285750" indent="-285750">
              <a:lnSpc>
                <a:spcPct val="100000"/>
              </a:lnSpc>
            </a:pPr>
            <a:r>
              <a:rPr lang="zh-CN" altLang="en-US" dirty="0">
                <a:sym typeface="Wingdings" pitchFamily="2" charset="2"/>
              </a:rPr>
              <a:t>路由发布到</a:t>
            </a:r>
            <a:r>
              <a:rPr lang="en-US" altLang="zh-CN" dirty="0">
                <a:sym typeface="Wingdings" pitchFamily="2" charset="2"/>
              </a:rPr>
              <a:t>I-BGP</a:t>
            </a:r>
            <a:r>
              <a:rPr lang="zh-CN" altLang="en-US" dirty="0">
                <a:sym typeface="Wingdings" pitchFamily="2" charset="2"/>
              </a:rPr>
              <a:t>邻居时，</a:t>
            </a:r>
            <a:r>
              <a:rPr lang="en-US" altLang="zh-CN" dirty="0">
                <a:sym typeface="Wingdings" pitchFamily="2" charset="2"/>
              </a:rPr>
              <a:t>AS PATH</a:t>
            </a:r>
            <a:r>
              <a:rPr lang="zh-CN" altLang="en-US" dirty="0">
                <a:sym typeface="Wingdings" pitchFamily="2" charset="2"/>
              </a:rPr>
              <a:t>不变 </a:t>
            </a:r>
            <a:r>
              <a:rPr lang="en-US" altLang="zh-CN" dirty="0">
                <a:sym typeface="Wingdings" pitchFamily="2" charset="2"/>
              </a:rPr>
              <a:t>---&gt; 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AS</a:t>
            </a:r>
            <a:r>
              <a:rPr lang="zh-CN" altLang="en-US" dirty="0">
                <a:sym typeface="Wingdings" pitchFamily="2" charset="2"/>
              </a:rPr>
              <a:t>内部的</a:t>
            </a:r>
            <a:r>
              <a:rPr lang="en-US" altLang="zh-CN" dirty="0">
                <a:sym typeface="Wingdings" pitchFamily="2" charset="2"/>
              </a:rPr>
              <a:t>I-BGP</a:t>
            </a:r>
            <a:r>
              <a:rPr lang="zh-CN" altLang="en-US" dirty="0">
                <a:sym typeface="Wingdings" pitchFamily="2" charset="2"/>
              </a:rPr>
              <a:t>邻居之间无法通过</a:t>
            </a:r>
            <a:r>
              <a:rPr lang="en-US" altLang="zh-CN" dirty="0">
                <a:sym typeface="Wingdings" pitchFamily="2" charset="2"/>
              </a:rPr>
              <a:t>AS PATH</a:t>
            </a:r>
            <a:r>
              <a:rPr lang="zh-CN" altLang="en-US" dirty="0">
                <a:sym typeface="Wingdings" pitchFamily="2" charset="2"/>
              </a:rPr>
              <a:t>检测回路</a:t>
            </a:r>
            <a:endParaRPr lang="en-US" altLang="zh-CN" dirty="0">
              <a:sym typeface="Wingdings" pitchFamily="2" charset="2"/>
            </a:endParaRPr>
          </a:p>
          <a:p>
            <a:pPr marL="285750" indent="-285750">
              <a:lnSpc>
                <a:spcPct val="100000"/>
              </a:lnSpc>
            </a:pPr>
            <a:r>
              <a:rPr lang="zh-CN" altLang="en-US" dirty="0">
                <a:sym typeface="Wingdings" pitchFamily="2" charset="2"/>
              </a:rPr>
              <a:t>规则</a:t>
            </a:r>
            <a:r>
              <a:rPr lang="en-US" altLang="zh-CN" dirty="0">
                <a:sym typeface="Wingdings" pitchFamily="2" charset="2"/>
              </a:rPr>
              <a:t>2</a:t>
            </a:r>
            <a:r>
              <a:rPr lang="zh-CN" altLang="en-US" dirty="0">
                <a:sym typeface="Wingdings" pitchFamily="2" charset="2"/>
              </a:rPr>
              <a:t> 意味着自治系统的</a:t>
            </a:r>
            <a:r>
              <a:rPr lang="en-US" altLang="zh-CN" dirty="0">
                <a:sym typeface="Wingdings" pitchFamily="2" charset="2"/>
              </a:rPr>
              <a:t>BGP</a:t>
            </a:r>
            <a:r>
              <a:rPr lang="zh-CN" altLang="en-US" dirty="0">
                <a:sym typeface="Wingdings" pitchFamily="2" charset="2"/>
              </a:rPr>
              <a:t>路由器两两建立</a:t>
            </a:r>
            <a:r>
              <a:rPr lang="en-US" altLang="zh-CN" dirty="0">
                <a:sym typeface="Wingdings" pitchFamily="2" charset="2"/>
              </a:rPr>
              <a:t>I-BGP</a:t>
            </a:r>
            <a:r>
              <a:rPr lang="zh-CN" altLang="en-US" dirty="0">
                <a:sym typeface="Wingdings" pitchFamily="2" charset="2"/>
              </a:rPr>
              <a:t>会话，即全连接</a:t>
            </a:r>
            <a:r>
              <a:rPr lang="en-US" altLang="zh-CN" dirty="0">
                <a:sym typeface="Wingdings" pitchFamily="2" charset="2"/>
              </a:rPr>
              <a:t>(full mesh)</a:t>
            </a:r>
            <a:r>
              <a:rPr lang="zh-CN" altLang="en-US" dirty="0">
                <a:sym typeface="Wingdings" pitchFamily="2" charset="2"/>
              </a:rPr>
              <a:t>的方式</a:t>
            </a:r>
            <a:endParaRPr lang="en-US" altLang="zh-CN" dirty="0">
              <a:sym typeface="Wingdings" pitchFamily="2" charset="2"/>
            </a:endParaRPr>
          </a:p>
          <a:p>
            <a:pPr marL="742950" lvl="1" indent="-285750">
              <a:lnSpc>
                <a:spcPct val="100000"/>
              </a:lnSpc>
            </a:pPr>
            <a:r>
              <a:rPr lang="en-US" altLang="zh-CN" sz="2000" dirty="0">
                <a:sym typeface="Wingdings" pitchFamily="2" charset="2"/>
              </a:rPr>
              <a:t>AS</a:t>
            </a:r>
            <a:r>
              <a:rPr lang="zh-CN" altLang="en-US" sz="2000" dirty="0">
                <a:sym typeface="Wingdings" pitchFamily="2" charset="2"/>
              </a:rPr>
              <a:t>系统中的</a:t>
            </a:r>
            <a:r>
              <a:rPr lang="en-US" altLang="zh-CN" sz="2000" dirty="0">
                <a:sym typeface="Wingdings" pitchFamily="2" charset="2"/>
              </a:rPr>
              <a:t>IBGP</a:t>
            </a:r>
            <a:r>
              <a:rPr lang="zh-CN" altLang="en-US" sz="2000" dirty="0">
                <a:sym typeface="Wingdings" pitchFamily="2" charset="2"/>
              </a:rPr>
              <a:t>路由器较多时，太多的</a:t>
            </a:r>
            <a:r>
              <a:rPr lang="en-US" altLang="zh-CN" sz="2000" dirty="0">
                <a:sym typeface="Wingdings" pitchFamily="2" charset="2"/>
              </a:rPr>
              <a:t>IGBP</a:t>
            </a:r>
            <a:r>
              <a:rPr lang="zh-CN" altLang="en-US" sz="2000" dirty="0">
                <a:sym typeface="Wingdings" pitchFamily="2" charset="2"/>
              </a:rPr>
              <a:t>会话。</a:t>
            </a:r>
            <a:r>
              <a:rPr lang="en-US" altLang="zh-CN" sz="2000" dirty="0">
                <a:sym typeface="Wingdings" pitchFamily="2" charset="2"/>
              </a:rPr>
              <a:t>IETF</a:t>
            </a:r>
            <a:r>
              <a:rPr lang="zh-CN" altLang="en-US" sz="2000" dirty="0">
                <a:sym typeface="Wingdings" pitchFamily="2" charset="2"/>
              </a:rPr>
              <a:t>引入了路由反射器和</a:t>
            </a:r>
            <a:r>
              <a:rPr lang="en-US" altLang="zh-CN" sz="2000" dirty="0">
                <a:sym typeface="Wingdings" pitchFamily="2" charset="2"/>
              </a:rPr>
              <a:t>BGP</a:t>
            </a:r>
            <a:r>
              <a:rPr lang="zh-CN" altLang="en-US" sz="2000" dirty="0">
                <a:sym typeface="Wingdings" pitchFamily="2" charset="2"/>
              </a:rPr>
              <a:t>联邦等解决这个问题（不介绍）</a:t>
            </a:r>
            <a:endParaRPr lang="en-US" altLang="zh-CN" sz="2000" dirty="0">
              <a:sym typeface="Wingdings" pitchFamily="2" charset="2"/>
            </a:endParaRPr>
          </a:p>
          <a:p>
            <a:pPr marL="285750" indent="-285750">
              <a:lnSpc>
                <a:spcPct val="100000"/>
              </a:lnSpc>
            </a:pPr>
            <a:r>
              <a:rPr lang="en-US" altLang="zh-CN" dirty="0">
                <a:sym typeface="Wingdings" pitchFamily="2" charset="2"/>
              </a:rPr>
              <a:t>IBGP</a:t>
            </a:r>
            <a:r>
              <a:rPr lang="zh-CN" altLang="en-US" dirty="0">
                <a:sym typeface="Wingdings" pitchFamily="2" charset="2"/>
              </a:rPr>
              <a:t>邻居之间可能经过多跳</a:t>
            </a:r>
            <a:endParaRPr lang="en-US" altLang="zh-CN" dirty="0">
              <a:sym typeface="Wingdings" pitchFamily="2" charset="2"/>
            </a:endParaRPr>
          </a:p>
          <a:p>
            <a:pPr marL="285750" indent="-285750">
              <a:lnSpc>
                <a:spcPct val="100000"/>
              </a:lnSpc>
            </a:pPr>
            <a:r>
              <a:rPr lang="en-US" altLang="zh-CN" dirty="0">
                <a:sym typeface="Wingdings" pitchFamily="2" charset="2"/>
              </a:rPr>
              <a:t>EBGP</a:t>
            </a:r>
            <a:r>
              <a:rPr lang="zh-CN" altLang="en-US" dirty="0">
                <a:sym typeface="Wingdings" pitchFamily="2" charset="2"/>
              </a:rPr>
              <a:t>邻居之间一般通过直接连接的链路相连，也允许通过多跳相连</a:t>
            </a:r>
            <a:endParaRPr lang="en-US" altLang="zh-CN" dirty="0">
              <a:sym typeface="Wingdings" pitchFamily="2" charset="2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590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zh-CN" dirty="0"/>
              <a:t>自治系统可能有</a:t>
            </a:r>
            <a:r>
              <a:rPr lang="zh-CN" altLang="zh-CN" b="1" dirty="0">
                <a:solidFill>
                  <a:srgbClr val="FF0000"/>
                </a:solidFill>
              </a:rPr>
              <a:t>多个</a:t>
            </a:r>
            <a:r>
              <a:rPr lang="en-US" altLang="zh-CN" b="1" dirty="0">
                <a:solidFill>
                  <a:srgbClr val="FF0000"/>
                </a:solidFill>
              </a:rPr>
              <a:t>BGP</a:t>
            </a:r>
            <a:r>
              <a:rPr lang="zh-CN" altLang="zh-CN" b="1" dirty="0">
                <a:solidFill>
                  <a:srgbClr val="FF0000"/>
                </a:solidFill>
              </a:rPr>
              <a:t>路由器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/>
              <a:t>E-BGP</a:t>
            </a:r>
            <a:r>
              <a:rPr lang="zh-CN" altLang="en-US" dirty="0"/>
              <a:t>（</a:t>
            </a:r>
            <a:r>
              <a:rPr lang="en-US" altLang="zh-CN" dirty="0"/>
              <a:t>External BGP):</a:t>
            </a:r>
            <a:r>
              <a:rPr lang="zh-CN" altLang="zh-CN" dirty="0"/>
              <a:t>不同自治系统的</a:t>
            </a:r>
            <a:r>
              <a:rPr lang="en-US" altLang="zh-CN" dirty="0"/>
              <a:t>BGP</a:t>
            </a:r>
            <a:r>
              <a:rPr lang="zh-CN" altLang="zh-CN" dirty="0"/>
              <a:t>路由器间的</a:t>
            </a:r>
            <a:r>
              <a:rPr lang="en-US" altLang="zh-CN" dirty="0"/>
              <a:t>BGP</a:t>
            </a:r>
            <a:r>
              <a:rPr lang="zh-CN" altLang="zh-CN" dirty="0"/>
              <a:t>协议</a:t>
            </a:r>
            <a:r>
              <a:rPr lang="zh-CN" altLang="en-US" dirty="0"/>
              <a:t>，</a:t>
            </a:r>
            <a:r>
              <a:rPr kumimoji="1" lang="zh-CN" altLang="en-US" dirty="0"/>
              <a:t>从相邻的</a:t>
            </a:r>
            <a:r>
              <a:rPr kumimoji="1" lang="en-US" altLang="zh-CN" dirty="0"/>
              <a:t>AS</a:t>
            </a:r>
            <a:r>
              <a:rPr kumimoji="1" lang="zh-CN" altLang="en-US" dirty="0"/>
              <a:t>获得网络可达信息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路由发布到</a:t>
            </a:r>
            <a:r>
              <a:rPr lang="en-US" altLang="zh-CN" sz="2000" dirty="0"/>
              <a:t>E-BGP</a:t>
            </a:r>
            <a:r>
              <a:rPr lang="zh-CN" altLang="en-US" sz="2000" dirty="0"/>
              <a:t>邻居时添加自身的</a:t>
            </a:r>
            <a:r>
              <a:rPr lang="en-US" altLang="zh-CN" sz="2000" dirty="0"/>
              <a:t>AS</a:t>
            </a:r>
            <a:r>
              <a:rPr lang="zh-CN" altLang="en-US" sz="2000" dirty="0"/>
              <a:t>编号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en-US" altLang="zh-CN" dirty="0"/>
              <a:t>I-BGP</a:t>
            </a:r>
            <a:r>
              <a:rPr lang="zh-CN" altLang="en-US" dirty="0"/>
              <a:t>（</a:t>
            </a:r>
            <a:r>
              <a:rPr lang="en-US" altLang="zh-CN" dirty="0"/>
              <a:t>Internal BGP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zh-CN" dirty="0"/>
              <a:t>同一个自治系统的</a:t>
            </a:r>
            <a:r>
              <a:rPr lang="en-US" altLang="zh-CN" dirty="0"/>
              <a:t>BGP</a:t>
            </a:r>
            <a:r>
              <a:rPr lang="zh-CN" altLang="zh-CN" dirty="0"/>
              <a:t>路由器间</a:t>
            </a:r>
            <a:r>
              <a:rPr lang="zh-CN" altLang="en-US" dirty="0"/>
              <a:t>的</a:t>
            </a:r>
            <a:r>
              <a:rPr lang="zh-CN" altLang="zh-CN" dirty="0"/>
              <a:t>协议</a:t>
            </a:r>
            <a:endParaRPr kumimoji="1"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从</a:t>
            </a:r>
            <a:r>
              <a:rPr lang="en-US" altLang="zh-CN" sz="2000" dirty="0"/>
              <a:t>E-BGP</a:t>
            </a:r>
            <a:r>
              <a:rPr lang="zh-CN" altLang="en-US" sz="2000" dirty="0"/>
              <a:t>邻居了解到的网络可达信息要传播给</a:t>
            </a:r>
            <a:r>
              <a:rPr lang="en-US" altLang="zh-CN" sz="2000" dirty="0"/>
              <a:t>AS</a:t>
            </a:r>
            <a:r>
              <a:rPr lang="zh-CN" altLang="en-US" sz="2000" dirty="0"/>
              <a:t>内部的其他</a:t>
            </a:r>
            <a:r>
              <a:rPr lang="en-US" altLang="zh-CN" sz="2000" dirty="0"/>
              <a:t>I-BGP</a:t>
            </a:r>
            <a:r>
              <a:rPr lang="zh-CN" altLang="en-US" sz="2000" dirty="0"/>
              <a:t>路由器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endParaRPr lang="zh-CN" altLang="en-US" dirty="0"/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不建议采用</a:t>
            </a:r>
            <a:r>
              <a:rPr lang="en-US" altLang="zh-CN" sz="2000" dirty="0"/>
              <a:t>RIP</a:t>
            </a:r>
            <a:r>
              <a:rPr lang="zh-CN" altLang="en-US" sz="2000" dirty="0"/>
              <a:t>和</a:t>
            </a:r>
            <a:r>
              <a:rPr lang="en-US" altLang="zh-CN" sz="2000" dirty="0"/>
              <a:t>OSPF</a:t>
            </a:r>
            <a:r>
              <a:rPr lang="zh-CN" altLang="en-US" sz="2000" dirty="0"/>
              <a:t>协议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需要传递网络不可达信息，包含多个路径属性，需要进行扩展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网络不可达信息非常多，开销太大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自治系统内部的路由器一般不需要了解到</a:t>
            </a:r>
            <a:r>
              <a:rPr lang="en-US" altLang="zh-CN" sz="2000" dirty="0"/>
              <a:t>Internet</a:t>
            </a:r>
            <a:r>
              <a:rPr lang="zh-CN" altLang="en-US" sz="2000" dirty="0"/>
              <a:t>的各个</a:t>
            </a:r>
            <a:r>
              <a:rPr lang="en-US" altLang="zh-CN" sz="2000" dirty="0"/>
              <a:t>AS</a:t>
            </a:r>
            <a:r>
              <a:rPr lang="zh-CN" altLang="en-US" sz="2000" dirty="0"/>
              <a:t>的信息，采用缺省路由即可</a:t>
            </a:r>
            <a:endParaRPr lang="en-US" altLang="zh-CN" sz="2000" dirty="0"/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I-BGP</a:t>
            </a:r>
            <a:r>
              <a:rPr lang="zh-CN" altLang="en-US" sz="2000" dirty="0"/>
              <a:t>和</a:t>
            </a:r>
            <a:r>
              <a:rPr lang="en-US" altLang="zh-CN" sz="2000" dirty="0"/>
              <a:t>E-BGP</a:t>
            </a:r>
            <a:r>
              <a:rPr lang="zh-CN" altLang="en-US" sz="2000" dirty="0"/>
              <a:t>采用相同消息格式和相同状态机，</a:t>
            </a:r>
            <a:r>
              <a:rPr lang="zh-CN" altLang="en-US" sz="2000" b="1" dirty="0">
                <a:solidFill>
                  <a:srgbClr val="FF0000"/>
                </a:solidFill>
              </a:rPr>
              <a:t>区别在路由发布的限制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规则</a:t>
            </a:r>
            <a:r>
              <a:rPr lang="en-US" altLang="zh-CN" sz="2000" dirty="0"/>
              <a:t>1</a:t>
            </a:r>
            <a:r>
              <a:rPr lang="zh-CN" altLang="en-US" sz="2000" dirty="0"/>
              <a:t>： </a:t>
            </a:r>
            <a:r>
              <a:rPr lang="zh-CN" altLang="zh-CN" sz="2000" dirty="0"/>
              <a:t>通过</a:t>
            </a:r>
            <a:r>
              <a:rPr lang="en-US" altLang="zh-CN" sz="2000" dirty="0"/>
              <a:t>E-BGP</a:t>
            </a:r>
            <a:r>
              <a:rPr lang="zh-CN" altLang="zh-CN" sz="2000" dirty="0"/>
              <a:t>邻居了解到的路由再通过</a:t>
            </a:r>
            <a:r>
              <a:rPr lang="en-US" altLang="zh-CN" sz="2000" dirty="0"/>
              <a:t>I-BGP</a:t>
            </a:r>
            <a:r>
              <a:rPr lang="zh-CN" altLang="zh-CN" sz="2000" dirty="0"/>
              <a:t>发布给自治系统内部的其他</a:t>
            </a:r>
            <a:r>
              <a:rPr lang="en-US" altLang="zh-CN" sz="2000" dirty="0"/>
              <a:t>I-BGP</a:t>
            </a:r>
            <a:r>
              <a:rPr lang="zh-CN" altLang="zh-CN" sz="2000" dirty="0"/>
              <a:t>邻居</a:t>
            </a:r>
            <a:r>
              <a:rPr lang="zh-CN" altLang="en-US" sz="2000" dirty="0"/>
              <a:t>；</a:t>
            </a:r>
            <a:r>
              <a:rPr lang="zh-CN" altLang="zh-CN" sz="2000" dirty="0"/>
              <a:t>从</a:t>
            </a:r>
            <a:r>
              <a:rPr lang="en-US" altLang="zh-CN" sz="2000" dirty="0"/>
              <a:t>I-BGP</a:t>
            </a:r>
            <a:r>
              <a:rPr lang="zh-CN" altLang="zh-CN" sz="2000" dirty="0"/>
              <a:t>邻居了解到的路由通过</a:t>
            </a:r>
            <a:r>
              <a:rPr lang="en-US" altLang="zh-CN" sz="2000" dirty="0"/>
              <a:t>E-BGP</a:t>
            </a:r>
            <a:r>
              <a:rPr lang="zh-CN" altLang="zh-CN" sz="2000" dirty="0"/>
              <a:t>发布给其他自治系统的</a:t>
            </a:r>
            <a:r>
              <a:rPr lang="en-US" altLang="zh-CN" sz="2000" dirty="0"/>
              <a:t>BGP</a:t>
            </a:r>
            <a:r>
              <a:rPr lang="zh-CN" altLang="zh-CN" sz="2000" dirty="0"/>
              <a:t>路由器</a:t>
            </a:r>
            <a:endParaRPr lang="en-US" altLang="zh-CN" sz="2000" dirty="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u="sng" dirty="0">
                <a:solidFill>
                  <a:srgbClr val="FF0000"/>
                </a:solidFill>
              </a:rPr>
              <a:t>规则</a:t>
            </a:r>
            <a:r>
              <a:rPr lang="en-US" altLang="zh-CN" sz="2000" u="sng" dirty="0">
                <a:solidFill>
                  <a:srgbClr val="FF0000"/>
                </a:solidFill>
              </a:rPr>
              <a:t>2</a:t>
            </a:r>
            <a:r>
              <a:rPr lang="zh-CN" altLang="en-US" sz="2000" u="sng" dirty="0">
                <a:solidFill>
                  <a:srgbClr val="FF0000"/>
                </a:solidFill>
              </a:rPr>
              <a:t>： </a:t>
            </a:r>
            <a:r>
              <a:rPr lang="zh-CN" altLang="zh-CN" sz="2000" u="sng" dirty="0">
                <a:solidFill>
                  <a:srgbClr val="FF0000"/>
                </a:solidFill>
              </a:rPr>
              <a:t>从</a:t>
            </a:r>
            <a:r>
              <a:rPr lang="en-US" altLang="zh-CN" sz="2000" u="sng" dirty="0">
                <a:solidFill>
                  <a:srgbClr val="FF0000"/>
                </a:solidFill>
              </a:rPr>
              <a:t>I-BGP</a:t>
            </a:r>
            <a:r>
              <a:rPr lang="zh-CN" altLang="zh-CN" sz="2000" u="sng" dirty="0">
                <a:solidFill>
                  <a:srgbClr val="FF0000"/>
                </a:solidFill>
              </a:rPr>
              <a:t>邻居了解到的路由不允许发布给其他</a:t>
            </a:r>
            <a:r>
              <a:rPr lang="en-US" altLang="zh-CN" sz="2000" u="sng" dirty="0">
                <a:solidFill>
                  <a:srgbClr val="FF0000"/>
                </a:solidFill>
              </a:rPr>
              <a:t>I-BGP</a:t>
            </a:r>
            <a:r>
              <a:rPr lang="zh-CN" altLang="zh-CN" sz="2000" u="sng" dirty="0">
                <a:solidFill>
                  <a:srgbClr val="FF0000"/>
                </a:solidFill>
              </a:rPr>
              <a:t>邻居</a:t>
            </a:r>
            <a:r>
              <a:rPr lang="en-US" altLang="zh-CN" sz="2000" dirty="0"/>
              <a:t>(</a:t>
            </a:r>
            <a:r>
              <a:rPr lang="zh-CN" altLang="en-US" sz="2000" dirty="0"/>
              <a:t>下一页</a:t>
            </a:r>
            <a:r>
              <a:rPr lang="en-US" altLang="zh-CN" sz="2000" dirty="0"/>
              <a:t>slide)</a:t>
            </a:r>
            <a:endParaRPr lang="en-US" altLang="zh-CN" sz="2000" dirty="0">
              <a:sym typeface="Wingdings" pitchFamily="2" charset="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规则</a:t>
            </a:r>
            <a:r>
              <a:rPr lang="en-US" altLang="zh-CN" u="sng" dirty="0">
                <a:solidFill>
                  <a:srgbClr val="FF0000"/>
                </a:solidFill>
              </a:rPr>
              <a:t>2</a:t>
            </a:r>
            <a:r>
              <a:rPr lang="zh-CN" altLang="en-US" u="sng" dirty="0">
                <a:solidFill>
                  <a:srgbClr val="FF0000"/>
                </a:solidFill>
              </a:rPr>
              <a:t>： </a:t>
            </a:r>
            <a:r>
              <a:rPr lang="zh-CN" altLang="zh-CN" u="sng" dirty="0">
                <a:solidFill>
                  <a:srgbClr val="FF0000"/>
                </a:solidFill>
              </a:rPr>
              <a:t>从</a:t>
            </a:r>
            <a:r>
              <a:rPr lang="en-US" altLang="zh-CN" u="sng" dirty="0">
                <a:solidFill>
                  <a:srgbClr val="FF0000"/>
                </a:solidFill>
              </a:rPr>
              <a:t>I-BGP</a:t>
            </a:r>
            <a:r>
              <a:rPr lang="zh-CN" altLang="zh-CN" u="sng" dirty="0">
                <a:solidFill>
                  <a:srgbClr val="FF0000"/>
                </a:solidFill>
              </a:rPr>
              <a:t>邻居了解到的路由不允许发布给其他</a:t>
            </a:r>
            <a:r>
              <a:rPr lang="en-US" altLang="zh-CN" u="sng" dirty="0">
                <a:solidFill>
                  <a:srgbClr val="FF0000"/>
                </a:solidFill>
              </a:rPr>
              <a:t>I-BGP</a:t>
            </a:r>
            <a:r>
              <a:rPr lang="zh-CN" altLang="zh-CN" u="sng" dirty="0">
                <a:solidFill>
                  <a:srgbClr val="FF0000"/>
                </a:solidFill>
              </a:rPr>
              <a:t>邻居</a:t>
            </a:r>
            <a:endParaRPr lang="en-US" altLang="zh-CN" dirty="0"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zh-CN" altLang="en-US" dirty="0"/>
              <a:t>路由发布到</a:t>
            </a:r>
            <a:r>
              <a:rPr lang="en-US" altLang="zh-CN" dirty="0"/>
              <a:t>E-BGP</a:t>
            </a:r>
            <a:r>
              <a:rPr lang="zh-CN" altLang="en-US" dirty="0"/>
              <a:t>邻居时添加自身的</a:t>
            </a:r>
            <a:r>
              <a:rPr lang="en-US" altLang="zh-CN" dirty="0"/>
              <a:t>AS</a:t>
            </a:r>
            <a:r>
              <a:rPr lang="zh-CN" altLang="en-US" dirty="0"/>
              <a:t>编号，可以通过检查自己是否出现在</a:t>
            </a:r>
            <a:r>
              <a:rPr lang="en-US" altLang="zh-CN" dirty="0"/>
              <a:t>AS PATH</a:t>
            </a:r>
            <a:r>
              <a:rPr lang="zh-CN" altLang="en-US" dirty="0"/>
              <a:t>中检测回路</a:t>
            </a:r>
            <a:endParaRPr lang="en-US" altLang="zh-CN" dirty="0"/>
          </a:p>
          <a:p>
            <a:pPr marL="285750" indent="-285750">
              <a:lnSpc>
                <a:spcPct val="100000"/>
              </a:lnSpc>
            </a:pPr>
            <a:r>
              <a:rPr lang="zh-CN" altLang="en-US" dirty="0">
                <a:sym typeface="Wingdings" pitchFamily="2" charset="2"/>
              </a:rPr>
              <a:t>路由发布到</a:t>
            </a:r>
            <a:r>
              <a:rPr lang="en-US" altLang="zh-CN" dirty="0">
                <a:sym typeface="Wingdings" pitchFamily="2" charset="2"/>
              </a:rPr>
              <a:t>I-BGP</a:t>
            </a:r>
            <a:r>
              <a:rPr lang="zh-CN" altLang="en-US" dirty="0">
                <a:sym typeface="Wingdings" pitchFamily="2" charset="2"/>
              </a:rPr>
              <a:t>邻居时，</a:t>
            </a:r>
            <a:r>
              <a:rPr lang="en-US" altLang="zh-CN" dirty="0">
                <a:sym typeface="Wingdings" pitchFamily="2" charset="2"/>
              </a:rPr>
              <a:t>AS PATH</a:t>
            </a:r>
            <a:r>
              <a:rPr lang="zh-CN" altLang="en-US" dirty="0">
                <a:sym typeface="Wingdings" pitchFamily="2" charset="2"/>
              </a:rPr>
              <a:t>不变 </a:t>
            </a:r>
            <a:r>
              <a:rPr lang="en-US" altLang="zh-CN" dirty="0">
                <a:sym typeface="Wingdings" pitchFamily="2" charset="2"/>
              </a:rPr>
              <a:t>---&gt; 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AS</a:t>
            </a:r>
            <a:r>
              <a:rPr lang="zh-CN" altLang="en-US" dirty="0">
                <a:sym typeface="Wingdings" pitchFamily="2" charset="2"/>
              </a:rPr>
              <a:t>内部的</a:t>
            </a:r>
            <a:r>
              <a:rPr lang="en-US" altLang="zh-CN" dirty="0">
                <a:sym typeface="Wingdings" pitchFamily="2" charset="2"/>
              </a:rPr>
              <a:t>I-BGP</a:t>
            </a:r>
            <a:r>
              <a:rPr lang="zh-CN" altLang="en-US" dirty="0">
                <a:sym typeface="Wingdings" pitchFamily="2" charset="2"/>
              </a:rPr>
              <a:t>邻居之间无法通过</a:t>
            </a:r>
            <a:r>
              <a:rPr lang="en-US" altLang="zh-CN" dirty="0">
                <a:sym typeface="Wingdings" pitchFamily="2" charset="2"/>
              </a:rPr>
              <a:t>AS PATH</a:t>
            </a:r>
            <a:r>
              <a:rPr lang="zh-CN" altLang="en-US" dirty="0">
                <a:sym typeface="Wingdings" pitchFamily="2" charset="2"/>
              </a:rPr>
              <a:t>检测回路</a:t>
            </a:r>
            <a:endParaRPr lang="en-US" altLang="zh-CN" dirty="0">
              <a:sym typeface="Wingdings" pitchFamily="2" charset="2"/>
            </a:endParaRPr>
          </a:p>
          <a:p>
            <a:pPr marL="285750" indent="-285750">
              <a:lnSpc>
                <a:spcPct val="100000"/>
              </a:lnSpc>
            </a:pPr>
            <a:r>
              <a:rPr lang="zh-CN" altLang="en-US" dirty="0">
                <a:sym typeface="Wingdings" pitchFamily="2" charset="2"/>
              </a:rPr>
              <a:t>规则</a:t>
            </a:r>
            <a:r>
              <a:rPr lang="en-US" altLang="zh-CN" dirty="0">
                <a:sym typeface="Wingdings" pitchFamily="2" charset="2"/>
              </a:rPr>
              <a:t>2</a:t>
            </a:r>
            <a:r>
              <a:rPr lang="zh-CN" altLang="en-US" dirty="0">
                <a:sym typeface="Wingdings" pitchFamily="2" charset="2"/>
              </a:rPr>
              <a:t> 意味着自治系统的</a:t>
            </a:r>
            <a:r>
              <a:rPr lang="en-US" altLang="zh-CN" dirty="0">
                <a:sym typeface="Wingdings" pitchFamily="2" charset="2"/>
              </a:rPr>
              <a:t>BGP</a:t>
            </a:r>
            <a:r>
              <a:rPr lang="zh-CN" altLang="en-US" dirty="0">
                <a:sym typeface="Wingdings" pitchFamily="2" charset="2"/>
              </a:rPr>
              <a:t>路由器两两建立</a:t>
            </a:r>
            <a:r>
              <a:rPr lang="en-US" altLang="zh-CN" dirty="0">
                <a:sym typeface="Wingdings" pitchFamily="2" charset="2"/>
              </a:rPr>
              <a:t>I-BGP</a:t>
            </a:r>
            <a:r>
              <a:rPr lang="zh-CN" altLang="en-US" dirty="0">
                <a:sym typeface="Wingdings" pitchFamily="2" charset="2"/>
              </a:rPr>
              <a:t>会话，即全连接</a:t>
            </a:r>
            <a:r>
              <a:rPr lang="en-US" altLang="zh-CN" dirty="0">
                <a:sym typeface="Wingdings" pitchFamily="2" charset="2"/>
              </a:rPr>
              <a:t>(full mesh)</a:t>
            </a:r>
            <a:r>
              <a:rPr lang="zh-CN" altLang="en-US" dirty="0">
                <a:sym typeface="Wingdings" pitchFamily="2" charset="2"/>
              </a:rPr>
              <a:t>的方式</a:t>
            </a:r>
            <a:endParaRPr lang="en-US" altLang="zh-CN" dirty="0">
              <a:sym typeface="Wingdings" pitchFamily="2" charset="2"/>
            </a:endParaRPr>
          </a:p>
          <a:p>
            <a:pPr marL="742950" lvl="1" indent="-285750">
              <a:lnSpc>
                <a:spcPct val="100000"/>
              </a:lnSpc>
            </a:pPr>
            <a:r>
              <a:rPr lang="en-US" altLang="zh-CN" sz="2000" dirty="0">
                <a:sym typeface="Wingdings" pitchFamily="2" charset="2"/>
              </a:rPr>
              <a:t>AS</a:t>
            </a:r>
            <a:r>
              <a:rPr lang="zh-CN" altLang="en-US" sz="2000" dirty="0">
                <a:sym typeface="Wingdings" pitchFamily="2" charset="2"/>
              </a:rPr>
              <a:t>系统中的</a:t>
            </a:r>
            <a:r>
              <a:rPr lang="en-US" altLang="zh-CN" sz="2000" dirty="0">
                <a:sym typeface="Wingdings" pitchFamily="2" charset="2"/>
              </a:rPr>
              <a:t>IBGP</a:t>
            </a:r>
            <a:r>
              <a:rPr lang="zh-CN" altLang="en-US" sz="2000" dirty="0">
                <a:sym typeface="Wingdings" pitchFamily="2" charset="2"/>
              </a:rPr>
              <a:t>路由器较多时，太多的</a:t>
            </a:r>
            <a:r>
              <a:rPr lang="en-US" altLang="zh-CN" sz="2000" dirty="0">
                <a:sym typeface="Wingdings" pitchFamily="2" charset="2"/>
              </a:rPr>
              <a:t>IGBP</a:t>
            </a:r>
            <a:r>
              <a:rPr lang="zh-CN" altLang="en-US" sz="2000" dirty="0">
                <a:sym typeface="Wingdings" pitchFamily="2" charset="2"/>
              </a:rPr>
              <a:t>会话。</a:t>
            </a:r>
            <a:r>
              <a:rPr lang="en-US" altLang="zh-CN" sz="2000" dirty="0">
                <a:sym typeface="Wingdings" pitchFamily="2" charset="2"/>
              </a:rPr>
              <a:t>IETF</a:t>
            </a:r>
            <a:r>
              <a:rPr lang="zh-CN" altLang="en-US" sz="2000" dirty="0">
                <a:sym typeface="Wingdings" pitchFamily="2" charset="2"/>
              </a:rPr>
              <a:t>引入了路由反射器和</a:t>
            </a:r>
            <a:r>
              <a:rPr lang="en-US" altLang="zh-CN" sz="2000" dirty="0">
                <a:sym typeface="Wingdings" pitchFamily="2" charset="2"/>
              </a:rPr>
              <a:t>BGP</a:t>
            </a:r>
            <a:r>
              <a:rPr lang="zh-CN" altLang="en-US" sz="2000" dirty="0">
                <a:sym typeface="Wingdings" pitchFamily="2" charset="2"/>
              </a:rPr>
              <a:t>联邦等解决这个问题（不介绍）</a:t>
            </a:r>
            <a:endParaRPr lang="en-US" altLang="zh-CN" sz="2000" dirty="0">
              <a:sym typeface="Wingdings" pitchFamily="2" charset="2"/>
            </a:endParaRPr>
          </a:p>
          <a:p>
            <a:pPr marL="285750" indent="-285750">
              <a:lnSpc>
                <a:spcPct val="100000"/>
              </a:lnSpc>
            </a:pPr>
            <a:r>
              <a:rPr lang="en-US" altLang="zh-CN" dirty="0">
                <a:sym typeface="Wingdings" pitchFamily="2" charset="2"/>
              </a:rPr>
              <a:t>IBGP</a:t>
            </a:r>
            <a:r>
              <a:rPr lang="zh-CN" altLang="en-US" dirty="0">
                <a:sym typeface="Wingdings" pitchFamily="2" charset="2"/>
              </a:rPr>
              <a:t>邻居之间可能经过多跳</a:t>
            </a:r>
            <a:endParaRPr lang="en-US" altLang="zh-CN" dirty="0">
              <a:sym typeface="Wingdings" pitchFamily="2" charset="2"/>
            </a:endParaRPr>
          </a:p>
          <a:p>
            <a:pPr marL="285750" indent="-285750">
              <a:lnSpc>
                <a:spcPct val="100000"/>
              </a:lnSpc>
            </a:pPr>
            <a:r>
              <a:rPr lang="en-US" altLang="zh-CN" dirty="0">
                <a:sym typeface="Wingdings" pitchFamily="2" charset="2"/>
              </a:rPr>
              <a:t>EBGP</a:t>
            </a:r>
            <a:r>
              <a:rPr lang="zh-CN" altLang="en-US" dirty="0">
                <a:sym typeface="Wingdings" pitchFamily="2" charset="2"/>
              </a:rPr>
              <a:t>邻居之间一般通过直接连接的链路相连，也允许通过多跳相连</a:t>
            </a:r>
            <a:endParaRPr lang="en-US" altLang="zh-CN" dirty="0">
              <a:sym typeface="Wingdings" pitchFamily="2" charset="2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913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271F8-ADAA-4BC6-B039-DB7B2D996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5DEA4D-643D-43ED-BE97-429D0C86F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CCF1AF-5468-4355-B694-C00DBFB6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F6C85E-D82D-4AF1-94A1-3FE614B6F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D36B1-BF9A-470D-A44B-8FC66E83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7730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D9D1AFC0-80D2-4D2C-A7C8-5A0F0248062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52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A00AD-4D4F-4A90-BB82-AC6BB960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46" y="40957"/>
            <a:ext cx="11662953" cy="644434"/>
          </a:xfrm>
          <a:solidFill>
            <a:schemeClr val="bg2"/>
          </a:solidFill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EBE1D3-8CB4-440D-96F8-3A5A40092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5617710"/>
          </a:xfrm>
        </p:spPr>
        <p:txBody>
          <a:bodyPr/>
          <a:lstStyle>
            <a:lvl1pPr>
              <a:lnSpc>
                <a:spcPct val="110000"/>
              </a:lnSpc>
              <a:defRPr sz="2000"/>
            </a:lvl1pPr>
            <a:lvl2pPr>
              <a:lnSpc>
                <a:spcPct val="110000"/>
              </a:lnSpc>
              <a:defRPr sz="1800"/>
            </a:lvl2pPr>
            <a:lvl3pPr>
              <a:lnSpc>
                <a:spcPct val="110000"/>
              </a:lnSpc>
              <a:defRPr sz="20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562687-6CC3-480C-A73D-EE1D10A971F1}"/>
              </a:ext>
            </a:extLst>
          </p:cNvPr>
          <p:cNvSpPr/>
          <p:nvPr userDrawn="1"/>
        </p:nvSpPr>
        <p:spPr>
          <a:xfrm>
            <a:off x="-1" y="6581000"/>
            <a:ext cx="12192000" cy="277000"/>
          </a:xfrm>
          <a:prstGeom prst="rect">
            <a:avLst/>
          </a:prstGeom>
          <a:solidFill>
            <a:srgbClr val="0732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AD84667-4FD6-4606-849A-1BF3E2FE82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5" y="6565660"/>
            <a:ext cx="989557" cy="3057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D4173F8-B1CD-42EF-9E48-F2930C6A7A39}"/>
              </a:ext>
            </a:extLst>
          </p:cNvPr>
          <p:cNvSpPr txBox="1"/>
          <p:nvPr userDrawn="1"/>
        </p:nvSpPr>
        <p:spPr>
          <a:xfrm>
            <a:off x="11752125" y="6569455"/>
            <a:ext cx="701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858DE9-7500-4A07-AB29-178CE3CB0F4B}" type="slidenum">
              <a:rPr lang="zh-CN" altLang="en-US" sz="1200" smtClean="0">
                <a:solidFill>
                  <a:schemeClr val="bg1"/>
                </a:solidFill>
              </a:rPr>
              <a:t>‹#›</a:t>
            </a:fld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13951BC-260C-499F-82DB-61C1253AEE5B}"/>
              </a:ext>
            </a:extLst>
          </p:cNvPr>
          <p:cNvSpPr/>
          <p:nvPr userDrawn="1"/>
        </p:nvSpPr>
        <p:spPr>
          <a:xfrm>
            <a:off x="-3175" y="6581000"/>
            <a:ext cx="82070" cy="27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555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FA8CE-5F8C-4DE1-87BD-093A6E24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3F1409-4385-4250-9C8E-F94D36678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C6C0E-E4EF-4A4D-BE1C-58FAB5BC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92EA3-AF0B-493E-9B0D-6FFA93BD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87CD8-17FC-4A1C-9596-4BE1466A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54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D759C-CAC7-44DB-A2A1-179FFBD0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79CBD2-432B-4197-A0A7-A8CF40F9E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42AF22-2B75-407F-9DA6-6C8D7740E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841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66661-C9E2-44CD-9E22-5236E0CC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994966-33A5-4B7A-AE10-287ABBEC2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982C2D-3A7D-4ECE-AE9C-88AD01616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7D59F6-2004-46FB-B8E2-3B2996E13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38B0D6-0F3F-48DE-90CB-10601126D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7AAB63-44C1-43C0-9E29-1CE2A877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DEB992-8983-4137-B343-9E810A17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933040-8B6C-4EC9-AF2F-F480C93B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982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73C7F-50E3-4BBF-85D6-233D5808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4AE306-DA55-49B6-A4F5-9BC5BD99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72DE92-F9C8-44FC-9D87-F5FDC0F5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4EF772-7C58-4A65-ACA5-1724610A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28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1148BA-DB11-4E0E-8E84-CB97E33D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F9FEEE-D1E2-4D36-9631-39DEFC6B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C9E12C-0A7A-46FC-9CD3-0EC0953D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47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7B2E0-0AEC-4EED-8E88-72D6F3658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EA969-0295-421C-B922-773C494DD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59360D-CF28-46AC-A66E-42E06595A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F285A-3F8E-461E-A89F-A60002C0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F31183-DE59-4E06-AB9F-8F2DBEFC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40690-90D5-4601-BCCE-D12889A3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62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09D14-DF52-43BA-9308-8764F1B4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ADE875-3691-49BB-B137-2384AE6DB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8757DE-F15A-4122-9D9B-BCA08D695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337275-CA15-4E2B-8DAC-B7F73CE8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93D2A6-B1EC-4360-A791-F14D2F089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2B45CD-5E1A-4D23-A6DD-5F0AC901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2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28FF4-8519-4A3B-84B8-49FE0F26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BC59F1-2F07-481E-B96E-76E652747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F68CD0-637B-4C5D-AD13-9F661E91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5777F0-BFA4-4D59-9742-58F33D13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E815D-F543-47C8-8F3F-805B792D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09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7620AA-9EC9-44E0-B36A-983568BE7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B95DE6-91DB-4FBB-8D97-409B4FFAD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6DBB3E-0E8F-4DB5-B64E-DACDB45C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81F01-086D-45F2-91B3-2D4837DE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8AD2CF-84BE-4854-9F14-8A28F055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917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D38D05-C945-4C95-8247-A7EC74940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F98940-E298-4C02-A0D4-EC8249AE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1A8DA3-B2F1-43F6-897D-782D57B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ED6B269-64D1-4AFD-BD73-423CE2A27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FB4B007-3A57-4669-A29C-3B63E446D9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296" y="2039143"/>
            <a:ext cx="4694110" cy="2414587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E9EF51A8-F688-42F7-A9AF-08AE9C8D4F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2162175"/>
            <a:ext cx="4962525" cy="22907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表格占位符 10">
            <a:extLst>
              <a:ext uri="{FF2B5EF4-FFF2-40B4-BE49-F238E27FC236}">
                <a16:creationId xmlns:a16="http://schemas.microsoft.com/office/drawing/2014/main" id="{16B2782A-B31D-4B08-A189-B980E4E84FD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838200" y="4522791"/>
            <a:ext cx="4694110" cy="159067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298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57410-BF23-4BDC-9C93-E5015099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D15446-AA20-4FF9-BA81-111F0643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682CA3-C599-4E7B-AA33-7DD0EE8E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0573FF-627A-4482-9875-D0D84D52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02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B730CA-185A-422F-85F7-CE4083E4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46" y="40957"/>
            <a:ext cx="11203577" cy="6444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AC8DB3-1DD4-42B6-9E78-E0296777C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046" y="905691"/>
            <a:ext cx="11203577" cy="5661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41A53A-B1DB-47B0-9130-DDC4854034D1}"/>
              </a:ext>
            </a:extLst>
          </p:cNvPr>
          <p:cNvSpPr/>
          <p:nvPr userDrawn="1"/>
        </p:nvSpPr>
        <p:spPr>
          <a:xfrm>
            <a:off x="11662257" y="6517865"/>
            <a:ext cx="4395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99400D7-9113-4B59-A3BD-69C3B8176E59}" type="slidenum">
              <a:rPr lang="zh-CN" altLang="en-US" sz="1200" smtClean="0">
                <a:solidFill>
                  <a:schemeClr val="bg1"/>
                </a:solidFill>
              </a:rPr>
              <a:t>‹#›</a:t>
            </a:fld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49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655" r:id="rId12"/>
    <p:sldLayoutId id="214748380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570" userDrawn="1">
          <p15:clr>
            <a:srgbClr val="F26B43"/>
          </p15:clr>
        </p15:guide>
        <p15:guide id="4" orient="horz" pos="459" userDrawn="1">
          <p15:clr>
            <a:srgbClr val="F26B43"/>
          </p15:clr>
        </p15:guide>
        <p15:guide id="6" pos="7401" userDrawn="1">
          <p15:clr>
            <a:srgbClr val="F26B43"/>
          </p15:clr>
        </p15:guide>
        <p15:guide id="7" pos="279" userDrawn="1">
          <p15:clr>
            <a:srgbClr val="F26B43"/>
          </p15:clr>
        </p15:guide>
        <p15:guide id="8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23517-31E8-495B-8CDB-2902853BE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 网络层：控制平面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B487F-27AF-49D5-AB76-51C4D0871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50839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FD699-35B3-9F56-7150-A571CE2A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49D00-2FD4-3901-5C75-C02D4C82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5.1 </a:t>
            </a:r>
            <a:r>
              <a:rPr lang="zh-CN" altLang="en-US" sz="2800" dirty="0"/>
              <a:t>概述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5.2 </a:t>
            </a:r>
            <a:r>
              <a:rPr lang="zh-CN" altLang="en-US" sz="2800" dirty="0"/>
              <a:t>路由选择算法：链路状态和距离向量路由算法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5.3 Internet</a:t>
            </a:r>
            <a:r>
              <a:rPr lang="zh-CN" altLang="en-US" sz="2800" dirty="0"/>
              <a:t>中自治系统的路由：</a:t>
            </a:r>
            <a:r>
              <a:rPr lang="en-US" altLang="zh-CN" sz="2800" dirty="0"/>
              <a:t>OSPF</a:t>
            </a:r>
          </a:p>
          <a:p>
            <a:pPr marL="0" indent="0">
              <a:buNone/>
            </a:pPr>
            <a:r>
              <a:rPr lang="en-US" altLang="zh-CN" sz="2800" dirty="0"/>
              <a:t>5.4 ISP</a:t>
            </a:r>
            <a:r>
              <a:rPr lang="zh-CN" altLang="en-US" sz="2800" dirty="0"/>
              <a:t>之间的路由选择：</a:t>
            </a:r>
            <a:r>
              <a:rPr lang="en-US" altLang="zh-CN" sz="2800" dirty="0"/>
              <a:t>BGP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5.5 SDN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控制平面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5.6 ICMP(</a:t>
            </a:r>
            <a:r>
              <a:rPr lang="zh-CN" altLang="en-US" sz="2800" dirty="0"/>
              <a:t>已介绍</a:t>
            </a:r>
            <a:r>
              <a:rPr lang="en-US" altLang="zh-CN" sz="2800" dirty="0"/>
              <a:t>)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5.8 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网络管理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0571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297A7-0DB1-9BB8-B264-7FA3C438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回顾：网络层控制平面：传统方法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76B9C-77D2-7369-E687-67F5E3D22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1801177"/>
          </a:xfrm>
        </p:spPr>
        <p:txBody>
          <a:bodyPr/>
          <a:lstStyle/>
          <a:p>
            <a:r>
              <a:rPr lang="zh-CN" altLang="en-US" dirty="0"/>
              <a:t>每个路由器都实现了数据平面和控制平面</a:t>
            </a:r>
            <a:endParaRPr lang="en-US" altLang="zh-CN" dirty="0"/>
          </a:p>
          <a:p>
            <a:r>
              <a:rPr lang="zh-CN" altLang="en-US" dirty="0"/>
              <a:t>管理员静态配置：无法应对网络拓扑的变化</a:t>
            </a:r>
            <a:endParaRPr lang="en-US" altLang="zh-CN" dirty="0"/>
          </a:p>
          <a:p>
            <a:r>
              <a:rPr lang="zh-CN" altLang="en-US" dirty="0"/>
              <a:t>控制平面的路由协议通过与其他路由器的交互，了解网络拓扑情况，运行路由算法，</a:t>
            </a:r>
            <a:r>
              <a:rPr lang="zh-CN" altLang="en-US" dirty="0">
                <a:cs typeface="微软雅黑" panose="020B0503020204020204" pitchFamily="34" charset="-122"/>
              </a:rPr>
              <a:t>产生路由表，构造本地转发表</a:t>
            </a:r>
            <a:endParaRPr lang="en-US" altLang="zh-CN" dirty="0">
              <a:cs typeface="微软雅黑" panose="020B0503020204020204" pitchFamily="34" charset="-122"/>
            </a:endParaRPr>
          </a:p>
          <a:p>
            <a:endParaRPr lang="zh-CN" altLang="en-US" dirty="0"/>
          </a:p>
        </p:txBody>
      </p:sp>
      <p:grpSp>
        <p:nvGrpSpPr>
          <p:cNvPr id="236" name="组合 235">
            <a:extLst>
              <a:ext uri="{FF2B5EF4-FFF2-40B4-BE49-F238E27FC236}">
                <a16:creationId xmlns:a16="http://schemas.microsoft.com/office/drawing/2014/main" id="{1DFC56BA-C395-576C-BC5F-9BFD75FD1610}"/>
              </a:ext>
            </a:extLst>
          </p:cNvPr>
          <p:cNvGrpSpPr/>
          <p:nvPr/>
        </p:nvGrpSpPr>
        <p:grpSpPr>
          <a:xfrm>
            <a:off x="2549110" y="2304892"/>
            <a:ext cx="7735888" cy="4046538"/>
            <a:chOff x="2213830" y="2324099"/>
            <a:chExt cx="7735888" cy="4046538"/>
          </a:xfrm>
        </p:grpSpPr>
        <p:sp>
          <p:nvSpPr>
            <p:cNvPr id="4" name="Freeform 2">
              <a:extLst>
                <a:ext uri="{FF2B5EF4-FFF2-40B4-BE49-F238E27FC236}">
                  <a16:creationId xmlns:a16="http://schemas.microsoft.com/office/drawing/2014/main" id="{D4C3D230-0465-ACC3-E7EA-F26D65EB7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368" y="5430837"/>
              <a:ext cx="4027487" cy="939800"/>
            </a:xfrm>
            <a:custGeom>
              <a:avLst/>
              <a:gdLst>
                <a:gd name="T0" fmla="*/ 2147483647 w 10001"/>
                <a:gd name="T1" fmla="*/ 2147483647 h 10125"/>
                <a:gd name="T2" fmla="*/ 2147483647 w 10001"/>
                <a:gd name="T3" fmla="*/ 2147483647 h 10125"/>
                <a:gd name="T4" fmla="*/ 2147483647 w 10001"/>
                <a:gd name="T5" fmla="*/ 2147483647 h 10125"/>
                <a:gd name="T6" fmla="*/ 2147483647 w 10001"/>
                <a:gd name="T7" fmla="*/ 0 h 10125"/>
                <a:gd name="T8" fmla="*/ 2147483647 w 10001"/>
                <a:gd name="T9" fmla="*/ 2147483647 h 10125"/>
                <a:gd name="T10" fmla="*/ 2147483647 w 10001"/>
                <a:gd name="T11" fmla="*/ 2147483647 h 10125"/>
                <a:gd name="T12" fmla="*/ 2147483647 w 10001"/>
                <a:gd name="T13" fmla="*/ 2147483647 h 10125"/>
                <a:gd name="T14" fmla="*/ 2147483647 w 10001"/>
                <a:gd name="T15" fmla="*/ 2147483647 h 10125"/>
                <a:gd name="T16" fmla="*/ 2147483647 w 10001"/>
                <a:gd name="T17" fmla="*/ 2147483647 h 10125"/>
                <a:gd name="T18" fmla="*/ 2147483647 w 10001"/>
                <a:gd name="T19" fmla="*/ 2147483647 h 10125"/>
                <a:gd name="T20" fmla="*/ 2147483647 w 10001"/>
                <a:gd name="T21" fmla="*/ 2147483647 h 10125"/>
                <a:gd name="T22" fmla="*/ 2147483647 w 10001"/>
                <a:gd name="T23" fmla="*/ 2147483647 h 10125"/>
                <a:gd name="T24" fmla="*/ 2147483647 w 10001"/>
                <a:gd name="T25" fmla="*/ 2147483647 h 10125"/>
                <a:gd name="T26" fmla="*/ 2147483647 w 10001"/>
                <a:gd name="T27" fmla="*/ 2147483647 h 10125"/>
                <a:gd name="T28" fmla="*/ 2147483647 w 10001"/>
                <a:gd name="T29" fmla="*/ 2147483647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5" name="Straight Connector 238">
              <a:extLst>
                <a:ext uri="{FF2B5EF4-FFF2-40B4-BE49-F238E27FC236}">
                  <a16:creationId xmlns:a16="http://schemas.microsoft.com/office/drawing/2014/main" id="{D14605BB-2C5A-5F72-E91F-5A05B0EEA640}"/>
                </a:ext>
              </a:extLst>
            </p:cNvPr>
            <p:cNvCxnSpPr/>
            <p:nvPr/>
          </p:nvCxnSpPr>
          <p:spPr>
            <a:xfrm flipV="1">
              <a:off x="5239605" y="5583237"/>
              <a:ext cx="1316038" cy="131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6" name="Straight Connector 239">
              <a:extLst>
                <a:ext uri="{FF2B5EF4-FFF2-40B4-BE49-F238E27FC236}">
                  <a16:creationId xmlns:a16="http://schemas.microsoft.com/office/drawing/2014/main" id="{A7D91075-3D35-173A-1B53-EE3D70D27EB6}"/>
                </a:ext>
              </a:extLst>
            </p:cNvPr>
            <p:cNvCxnSpPr/>
            <p:nvPr/>
          </p:nvCxnSpPr>
          <p:spPr>
            <a:xfrm>
              <a:off x="5128480" y="5768974"/>
              <a:ext cx="2259013" cy="300038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7" name="Straight Connector 240">
              <a:extLst>
                <a:ext uri="{FF2B5EF4-FFF2-40B4-BE49-F238E27FC236}">
                  <a16:creationId xmlns:a16="http://schemas.microsoft.com/office/drawing/2014/main" id="{565E5256-9202-0AF9-C214-A623BDD01683}"/>
                </a:ext>
              </a:extLst>
            </p:cNvPr>
            <p:cNvCxnSpPr/>
            <p:nvPr/>
          </p:nvCxnSpPr>
          <p:spPr>
            <a:xfrm>
              <a:off x="5141180" y="5875337"/>
              <a:ext cx="714375" cy="274637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" name="Straight Connector 241">
              <a:extLst>
                <a:ext uri="{FF2B5EF4-FFF2-40B4-BE49-F238E27FC236}">
                  <a16:creationId xmlns:a16="http://schemas.microsoft.com/office/drawing/2014/main" id="{A0B8D5F4-DF92-E6CF-B7DB-337C10ACCAC2}"/>
                </a:ext>
              </a:extLst>
            </p:cNvPr>
            <p:cNvCxnSpPr/>
            <p:nvPr/>
          </p:nvCxnSpPr>
          <p:spPr>
            <a:xfrm flipV="1">
              <a:off x="6158768" y="6069012"/>
              <a:ext cx="1247775" cy="809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9" name="Straight Connector 242">
              <a:extLst>
                <a:ext uri="{FF2B5EF4-FFF2-40B4-BE49-F238E27FC236}">
                  <a16:creationId xmlns:a16="http://schemas.microsoft.com/office/drawing/2014/main" id="{A13C909F-17EC-67D2-18FC-2F2DBF85AD58}"/>
                </a:ext>
              </a:extLst>
            </p:cNvPr>
            <p:cNvCxnSpPr/>
            <p:nvPr/>
          </p:nvCxnSpPr>
          <p:spPr>
            <a:xfrm>
              <a:off x="6819168" y="5614987"/>
              <a:ext cx="1057275" cy="1238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0" name="Straight Connector 243">
              <a:extLst>
                <a:ext uri="{FF2B5EF4-FFF2-40B4-BE49-F238E27FC236}">
                  <a16:creationId xmlns:a16="http://schemas.microsoft.com/office/drawing/2014/main" id="{F30AD2BF-E20F-153C-CBB6-5F06F2B2874A}"/>
                </a:ext>
              </a:extLst>
            </p:cNvPr>
            <p:cNvCxnSpPr/>
            <p:nvPr/>
          </p:nvCxnSpPr>
          <p:spPr>
            <a:xfrm flipV="1">
              <a:off x="6103205" y="5768974"/>
              <a:ext cx="1790700" cy="300038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1" name="Straight Connector 244">
              <a:extLst>
                <a:ext uri="{FF2B5EF4-FFF2-40B4-BE49-F238E27FC236}">
                  <a16:creationId xmlns:a16="http://schemas.microsoft.com/office/drawing/2014/main" id="{197CD7EF-7138-5A9F-80A7-27EA7344A26F}"/>
                </a:ext>
              </a:extLst>
            </p:cNvPr>
            <p:cNvCxnSpPr/>
            <p:nvPr/>
          </p:nvCxnSpPr>
          <p:spPr>
            <a:xfrm flipV="1">
              <a:off x="7430355" y="5797549"/>
              <a:ext cx="588963" cy="271463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2" name="Straight Connector 245">
              <a:extLst>
                <a:ext uri="{FF2B5EF4-FFF2-40B4-BE49-F238E27FC236}">
                  <a16:creationId xmlns:a16="http://schemas.microsoft.com/office/drawing/2014/main" id="{835358F3-8C2E-865F-C466-F23BC611D2CA}"/>
                </a:ext>
              </a:extLst>
            </p:cNvPr>
            <p:cNvCxnSpPr/>
            <p:nvPr/>
          </p:nvCxnSpPr>
          <p:spPr>
            <a:xfrm>
              <a:off x="6573105" y="5583237"/>
              <a:ext cx="814388" cy="4000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13" name="Group 7">
              <a:extLst>
                <a:ext uri="{FF2B5EF4-FFF2-40B4-BE49-F238E27FC236}">
                  <a16:creationId xmlns:a16="http://schemas.microsoft.com/office/drawing/2014/main" id="{36D7BA2F-5FC3-97E7-1061-16DF33B52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8393" y="6008687"/>
              <a:ext cx="563562" cy="293687"/>
              <a:chOff x="1871277" y="1576300"/>
              <a:chExt cx="1128371" cy="437861"/>
            </a:xfrm>
          </p:grpSpPr>
          <p:sp>
            <p:nvSpPr>
              <p:cNvPr id="14" name="Oval 247">
                <a:extLst>
                  <a:ext uri="{FF2B5EF4-FFF2-40B4-BE49-F238E27FC236}">
                    <a16:creationId xmlns:a16="http://schemas.microsoft.com/office/drawing/2014/main" id="{F42C0EC5-AFE0-7FAF-1A35-07BF7EDE2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55" y="1694641"/>
                <a:ext cx="1125193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" name="Rectangle 248">
                <a:extLst>
                  <a:ext uri="{FF2B5EF4-FFF2-40B4-BE49-F238E27FC236}">
                    <a16:creationId xmlns:a16="http://schemas.microsoft.com/office/drawing/2014/main" id="{F357BC7A-0239-1B24-6A88-1DA99F59CEAD}"/>
                  </a:ext>
                </a:extLst>
              </p:cNvPr>
              <p:cNvSpPr/>
              <p:nvPr/>
            </p:nvSpPr>
            <p:spPr bwMode="auto">
              <a:xfrm>
                <a:off x="1871277" y="1739610"/>
                <a:ext cx="1128371" cy="1159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6" name="Oval 249">
                <a:extLst>
                  <a:ext uri="{FF2B5EF4-FFF2-40B4-BE49-F238E27FC236}">
                    <a16:creationId xmlns:a16="http://schemas.microsoft.com/office/drawing/2014/main" id="{E2083EFB-5347-62FD-F655-0E7474C24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193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" name="Freeform 250">
                <a:extLst>
                  <a:ext uri="{FF2B5EF4-FFF2-40B4-BE49-F238E27FC236}">
                    <a16:creationId xmlns:a16="http://schemas.microsoft.com/office/drawing/2014/main" id="{94F34D62-13E9-4EB1-0B63-13E4B7FDA68D}"/>
                  </a:ext>
                </a:extLst>
              </p:cNvPr>
              <p:cNvSpPr/>
              <p:nvPr/>
            </p:nvSpPr>
            <p:spPr bwMode="auto">
              <a:xfrm>
                <a:off x="2160521" y="1673339"/>
                <a:ext cx="546704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8" name="Freeform 251">
                <a:extLst>
                  <a:ext uri="{FF2B5EF4-FFF2-40B4-BE49-F238E27FC236}">
                    <a16:creationId xmlns:a16="http://schemas.microsoft.com/office/drawing/2014/main" id="{ED22FB20-22A5-28DF-6BEF-B4302B49BA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3307" y="1633104"/>
                <a:ext cx="661131" cy="111240"/>
              </a:xfrm>
              <a:custGeom>
                <a:avLst/>
                <a:gdLst>
                  <a:gd name="T0" fmla="*/ 0 w 3723451"/>
                  <a:gd name="T1" fmla="*/ 27215 h 932950"/>
                  <a:gd name="T2" fmla="*/ 116331 w 3723451"/>
                  <a:gd name="T3" fmla="*/ 321 h 932950"/>
                  <a:gd name="T4" fmla="*/ 329509 w 3723451"/>
                  <a:gd name="T5" fmla="*/ 62069 h 932950"/>
                  <a:gd name="T6" fmla="*/ 532884 w 3723451"/>
                  <a:gd name="T7" fmla="*/ 0 h 932950"/>
                  <a:gd name="T8" fmla="*/ 661131 w 3723451"/>
                  <a:gd name="T9" fmla="*/ 24699 h 932950"/>
                  <a:gd name="T10" fmla="*/ 565716 w 3723451"/>
                  <a:gd name="T11" fmla="*/ 55071 h 932950"/>
                  <a:gd name="T12" fmla="*/ 534996 w 3723451"/>
                  <a:gd name="T13" fmla="*/ 46883 h 932950"/>
                  <a:gd name="T14" fmla="*/ 333255 w 3723451"/>
                  <a:gd name="T15" fmla="*/ 111240 h 932950"/>
                  <a:gd name="T16" fmla="*/ 126353 w 3723451"/>
                  <a:gd name="T17" fmla="*/ 49250 h 932950"/>
                  <a:gd name="T18" fmla="*/ 92901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" name="Freeform 252">
                <a:extLst>
                  <a:ext uri="{FF2B5EF4-FFF2-40B4-BE49-F238E27FC236}">
                    <a16:creationId xmlns:a16="http://schemas.microsoft.com/office/drawing/2014/main" id="{33CAF3D9-DE28-D09A-54BC-59C4EE069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8765" y="1727776"/>
                <a:ext cx="241567" cy="97039"/>
              </a:xfrm>
              <a:custGeom>
                <a:avLst/>
                <a:gdLst>
                  <a:gd name="T0" fmla="*/ 0 w 1366596"/>
                  <a:gd name="T1" fmla="*/ 0 h 809868"/>
                  <a:gd name="T2" fmla="*/ 241567 w 1366596"/>
                  <a:gd name="T3" fmla="*/ 74985 h 809868"/>
                  <a:gd name="T4" fmla="*/ 152911 w 1366596"/>
                  <a:gd name="T5" fmla="*/ 97039 h 809868"/>
                  <a:gd name="T6" fmla="*/ 813 w 1366596"/>
                  <a:gd name="T7" fmla="*/ 5127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" name="Freeform 253">
                <a:extLst>
                  <a:ext uri="{FF2B5EF4-FFF2-40B4-BE49-F238E27FC236}">
                    <a16:creationId xmlns:a16="http://schemas.microsoft.com/office/drawing/2014/main" id="{1D53900F-BE87-0293-9AA0-0AE7CAFDD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593" y="1730143"/>
                <a:ext cx="238389" cy="97040"/>
              </a:xfrm>
              <a:custGeom>
                <a:avLst/>
                <a:gdLst>
                  <a:gd name="T0" fmla="*/ 235135 w 1348191"/>
                  <a:gd name="T1" fmla="*/ 0 h 791462"/>
                  <a:gd name="T2" fmla="*/ 238389 w 1348191"/>
                  <a:gd name="T3" fmla="*/ 46827 h 791462"/>
                  <a:gd name="T4" fmla="*/ 86243 w 1348191"/>
                  <a:gd name="T5" fmla="*/ 97040 h 791462"/>
                  <a:gd name="T6" fmla="*/ 0 w 1348191"/>
                  <a:gd name="T7" fmla="*/ 75037 h 791462"/>
                  <a:gd name="T8" fmla="*/ 235135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1" name="Straight Connector 254">
                <a:extLst>
                  <a:ext uri="{FF2B5EF4-FFF2-40B4-BE49-F238E27FC236}">
                    <a16:creationId xmlns:a16="http://schemas.microsoft.com/office/drawing/2014/main" id="{584BDBB3-00CA-D5B2-A412-A76CC39CC1A1}"/>
                  </a:ext>
                </a:extLst>
              </p:cNvPr>
              <p:cNvCxnSpPr>
                <a:cxnSpLocks noChangeShapeType="1"/>
                <a:endCxn id="16" idx="2"/>
              </p:cNvCxnSpPr>
              <p:nvPr/>
            </p:nvCxnSpPr>
            <p:spPr bwMode="auto">
              <a:xfrm flipH="1" flipV="1">
                <a:off x="1871277" y="1737244"/>
                <a:ext cx="3178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Straight Connector 255">
                <a:extLst>
                  <a:ext uri="{FF2B5EF4-FFF2-40B4-BE49-F238E27FC236}">
                    <a16:creationId xmlns:a16="http://schemas.microsoft.com/office/drawing/2014/main" id="{EF037A2B-6B19-3C52-F079-E4F760033BC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0" y="1734876"/>
                <a:ext cx="3178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3" name="Group 327">
              <a:extLst>
                <a:ext uri="{FF2B5EF4-FFF2-40B4-BE49-F238E27FC236}">
                  <a16:creationId xmlns:a16="http://schemas.microsoft.com/office/drawing/2014/main" id="{300B7D87-1715-E66F-4062-DA8CBB65A2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93718" y="5467349"/>
              <a:ext cx="565150" cy="292100"/>
              <a:chOff x="1871277" y="1576300"/>
              <a:chExt cx="1128371" cy="437861"/>
            </a:xfrm>
          </p:grpSpPr>
          <p:sp>
            <p:nvSpPr>
              <p:cNvPr id="24" name="Oval 257">
                <a:extLst>
                  <a:ext uri="{FF2B5EF4-FFF2-40B4-BE49-F238E27FC236}">
                    <a16:creationId xmlns:a16="http://schemas.microsoft.com/office/drawing/2014/main" id="{98B376D0-D72F-4289-F531-F2EAFA0E6C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258">
                <a:extLst>
                  <a:ext uri="{FF2B5EF4-FFF2-40B4-BE49-F238E27FC236}">
                    <a16:creationId xmlns:a16="http://schemas.microsoft.com/office/drawing/2014/main" id="{94DB95CA-DA8B-0BB6-CE88-BA5CA9111D74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" name="Oval 259">
                <a:extLst>
                  <a:ext uri="{FF2B5EF4-FFF2-40B4-BE49-F238E27FC236}">
                    <a16:creationId xmlns:a16="http://schemas.microsoft.com/office/drawing/2014/main" id="{1D1B3D2F-0D55-FDFD-2CB7-1611AEF55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" name="Freeform 260">
                <a:extLst>
                  <a:ext uri="{FF2B5EF4-FFF2-40B4-BE49-F238E27FC236}">
                    <a16:creationId xmlns:a16="http://schemas.microsoft.com/office/drawing/2014/main" id="{8A4B78A8-CFFB-A722-23BF-596E75B520B9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" name="Freeform 261">
                <a:extLst>
                  <a:ext uri="{FF2B5EF4-FFF2-40B4-BE49-F238E27FC236}">
                    <a16:creationId xmlns:a16="http://schemas.microsoft.com/office/drawing/2014/main" id="{3F1B0427-6B79-B1F8-F815-BCCC24F6D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T0" fmla="*/ 0 w 3723451"/>
                  <a:gd name="T1" fmla="*/ 27363 h 932950"/>
                  <a:gd name="T2" fmla="*/ 116562 w 3723451"/>
                  <a:gd name="T3" fmla="*/ 322 h 932950"/>
                  <a:gd name="T4" fmla="*/ 330164 w 3723451"/>
                  <a:gd name="T5" fmla="*/ 62407 h 932950"/>
                  <a:gd name="T6" fmla="*/ 533943 w 3723451"/>
                  <a:gd name="T7" fmla="*/ 0 h 932950"/>
                  <a:gd name="T8" fmla="*/ 662444 w 3723451"/>
                  <a:gd name="T9" fmla="*/ 24834 h 932950"/>
                  <a:gd name="T10" fmla="*/ 566839 w 3723451"/>
                  <a:gd name="T11" fmla="*/ 55371 h 932950"/>
                  <a:gd name="T12" fmla="*/ 536059 w 3723451"/>
                  <a:gd name="T13" fmla="*/ 47138 h 932950"/>
                  <a:gd name="T14" fmla="*/ 333917 w 3723451"/>
                  <a:gd name="T15" fmla="*/ 111846 h 932950"/>
                  <a:gd name="T16" fmla="*/ 126604 w 3723451"/>
                  <a:gd name="T17" fmla="*/ 49519 h 932950"/>
                  <a:gd name="T18" fmla="*/ 93086 w 3723451"/>
                  <a:gd name="T19" fmla="*/ 56246 h 932950"/>
                  <a:gd name="T20" fmla="*/ 0 w 3723451"/>
                  <a:gd name="T21" fmla="*/ 27363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" name="Freeform 262">
                <a:extLst>
                  <a:ext uri="{FF2B5EF4-FFF2-40B4-BE49-F238E27FC236}">
                    <a16:creationId xmlns:a16="http://schemas.microsoft.com/office/drawing/2014/main" id="{6D58FFAA-E67D-D446-B5E1-FE5F5346D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5393 h 809868"/>
                  <a:gd name="T4" fmla="*/ 154487 w 1366596"/>
                  <a:gd name="T5" fmla="*/ 97568 h 809868"/>
                  <a:gd name="T6" fmla="*/ 822 w 1366596"/>
                  <a:gd name="T7" fmla="*/ 5155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Freeform 263">
                <a:extLst>
                  <a:ext uri="{FF2B5EF4-FFF2-40B4-BE49-F238E27FC236}">
                    <a16:creationId xmlns:a16="http://schemas.microsoft.com/office/drawing/2014/main" id="{333CE5DA-D6FA-D9D6-6C66-5D291E055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5933 h 791462"/>
                  <a:gd name="T4" fmla="*/ 87147 w 1348191"/>
                  <a:gd name="T5" fmla="*/ 95187 h 791462"/>
                  <a:gd name="T6" fmla="*/ 0 w 1348191"/>
                  <a:gd name="T7" fmla="*/ 73604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31" name="Straight Connector 264">
                <a:extLst>
                  <a:ext uri="{FF2B5EF4-FFF2-40B4-BE49-F238E27FC236}">
                    <a16:creationId xmlns:a16="http://schemas.microsoft.com/office/drawing/2014/main" id="{E003D8B1-76BA-ED13-C8A0-5A3914259627}"/>
                  </a:ext>
                </a:extLst>
              </p:cNvPr>
              <p:cNvCxnSpPr>
                <a:cxnSpLocks noChangeShapeType="1"/>
                <a:endCxn id="2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Straight Connector 265">
                <a:extLst>
                  <a:ext uri="{FF2B5EF4-FFF2-40B4-BE49-F238E27FC236}">
                    <a16:creationId xmlns:a16="http://schemas.microsoft.com/office/drawing/2014/main" id="{E2DF15AC-9F92-2B0C-95FA-5813731979D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3" name="Group 337">
              <a:extLst>
                <a:ext uri="{FF2B5EF4-FFF2-40B4-BE49-F238E27FC236}">
                  <a16:creationId xmlns:a16="http://schemas.microsoft.com/office/drawing/2014/main" id="{586ED78F-550C-1637-1B57-A9B369FEB6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6655" y="5921374"/>
              <a:ext cx="563563" cy="293688"/>
              <a:chOff x="1871277" y="1576300"/>
              <a:chExt cx="1128371" cy="437861"/>
            </a:xfrm>
          </p:grpSpPr>
          <p:sp>
            <p:nvSpPr>
              <p:cNvPr id="34" name="Oval 267">
                <a:extLst>
                  <a:ext uri="{FF2B5EF4-FFF2-40B4-BE49-F238E27FC236}">
                    <a16:creationId xmlns:a16="http://schemas.microsoft.com/office/drawing/2014/main" id="{37F2AF6C-183E-2141-036F-B426D8BC2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57" y="1694641"/>
                <a:ext cx="1125191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Rectangle 268">
                <a:extLst>
                  <a:ext uri="{FF2B5EF4-FFF2-40B4-BE49-F238E27FC236}">
                    <a16:creationId xmlns:a16="http://schemas.microsoft.com/office/drawing/2014/main" id="{FB772EA4-20F8-6F03-30AA-010BEEC52103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6" name="Oval 269">
                <a:extLst>
                  <a:ext uri="{FF2B5EF4-FFF2-40B4-BE49-F238E27FC236}">
                    <a16:creationId xmlns:a16="http://schemas.microsoft.com/office/drawing/2014/main" id="{B0FAA85B-4A1E-51A9-602E-3DC794781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191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Freeform 270">
                <a:extLst>
                  <a:ext uri="{FF2B5EF4-FFF2-40B4-BE49-F238E27FC236}">
                    <a16:creationId xmlns:a16="http://schemas.microsoft.com/office/drawing/2014/main" id="{F5D4EC29-2E9F-488C-4F5F-13A083C5499F}"/>
                  </a:ext>
                </a:extLst>
              </p:cNvPr>
              <p:cNvSpPr/>
              <p:nvPr/>
            </p:nvSpPr>
            <p:spPr bwMode="auto">
              <a:xfrm>
                <a:off x="2160522" y="1673340"/>
                <a:ext cx="546703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8" name="Freeform 271">
                <a:extLst>
                  <a:ext uri="{FF2B5EF4-FFF2-40B4-BE49-F238E27FC236}">
                    <a16:creationId xmlns:a16="http://schemas.microsoft.com/office/drawing/2014/main" id="{BCD4F343-0FD3-04F4-8B6A-9163D51B5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3309" y="1633103"/>
                <a:ext cx="661129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330 w 3723451"/>
                  <a:gd name="T3" fmla="*/ 321 h 932950"/>
                  <a:gd name="T4" fmla="*/ 329508 w 3723451"/>
                  <a:gd name="T5" fmla="*/ 62070 h 932950"/>
                  <a:gd name="T6" fmla="*/ 532883 w 3723451"/>
                  <a:gd name="T7" fmla="*/ 0 h 932950"/>
                  <a:gd name="T8" fmla="*/ 661129 w 3723451"/>
                  <a:gd name="T9" fmla="*/ 24700 h 932950"/>
                  <a:gd name="T10" fmla="*/ 565714 w 3723451"/>
                  <a:gd name="T11" fmla="*/ 55072 h 932950"/>
                  <a:gd name="T12" fmla="*/ 534995 w 3723451"/>
                  <a:gd name="T13" fmla="*/ 46883 h 932950"/>
                  <a:gd name="T14" fmla="*/ 333254 w 3723451"/>
                  <a:gd name="T15" fmla="*/ 111241 h 932950"/>
                  <a:gd name="T16" fmla="*/ 126353 w 3723451"/>
                  <a:gd name="T17" fmla="*/ 49251 h 932950"/>
                  <a:gd name="T18" fmla="*/ 92901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Freeform 272">
                <a:extLst>
                  <a:ext uri="{FF2B5EF4-FFF2-40B4-BE49-F238E27FC236}">
                    <a16:creationId xmlns:a16="http://schemas.microsoft.com/office/drawing/2014/main" id="{D8579716-D539-11B8-5BA0-0EED096F2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8763" y="1727776"/>
                <a:ext cx="24156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1567 w 1366596"/>
                  <a:gd name="T3" fmla="*/ 74985 h 809868"/>
                  <a:gd name="T4" fmla="*/ 152911 w 1366596"/>
                  <a:gd name="T5" fmla="*/ 97040 h 809868"/>
                  <a:gd name="T6" fmla="*/ 813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" name="Freeform 273">
                <a:extLst>
                  <a:ext uri="{FF2B5EF4-FFF2-40B4-BE49-F238E27FC236}">
                    <a16:creationId xmlns:a16="http://schemas.microsoft.com/office/drawing/2014/main" id="{DF36A237-1828-4E84-1DB1-DC49AF4713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595" y="1730144"/>
                <a:ext cx="238387" cy="97039"/>
              </a:xfrm>
              <a:custGeom>
                <a:avLst/>
                <a:gdLst>
                  <a:gd name="T0" fmla="*/ 235133 w 1348191"/>
                  <a:gd name="T1" fmla="*/ 0 h 791462"/>
                  <a:gd name="T2" fmla="*/ 238387 w 1348191"/>
                  <a:gd name="T3" fmla="*/ 46827 h 791462"/>
                  <a:gd name="T4" fmla="*/ 86242 w 1348191"/>
                  <a:gd name="T5" fmla="*/ 97039 h 791462"/>
                  <a:gd name="T6" fmla="*/ 0 w 1348191"/>
                  <a:gd name="T7" fmla="*/ 75036 h 791462"/>
                  <a:gd name="T8" fmla="*/ 235133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1" name="Straight Connector 274">
                <a:extLst>
                  <a:ext uri="{FF2B5EF4-FFF2-40B4-BE49-F238E27FC236}">
                    <a16:creationId xmlns:a16="http://schemas.microsoft.com/office/drawing/2014/main" id="{094A2A73-87BD-2CC3-3B91-F46766792775}"/>
                  </a:ext>
                </a:extLst>
              </p:cNvPr>
              <p:cNvCxnSpPr>
                <a:cxnSpLocks noChangeShapeType="1"/>
                <a:endCxn id="36" idx="2"/>
              </p:cNvCxnSpPr>
              <p:nvPr/>
            </p:nvCxnSpPr>
            <p:spPr bwMode="auto">
              <a:xfrm flipH="1" flipV="1">
                <a:off x="1871277" y="1737243"/>
                <a:ext cx="3180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Straight Connector 275">
                <a:extLst>
                  <a:ext uri="{FF2B5EF4-FFF2-40B4-BE49-F238E27FC236}">
                    <a16:creationId xmlns:a16="http://schemas.microsoft.com/office/drawing/2014/main" id="{EC734DF9-7A91-C4D4-3413-A15FCB1326A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68" y="1734877"/>
                <a:ext cx="3180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3" name="Group 347">
              <a:extLst>
                <a:ext uri="{FF2B5EF4-FFF2-40B4-BE49-F238E27FC236}">
                  <a16:creationId xmlns:a16="http://schemas.microsoft.com/office/drawing/2014/main" id="{56E760DD-065F-1645-FAE6-6B4BE4F2D2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8968" y="5607049"/>
              <a:ext cx="565150" cy="293688"/>
              <a:chOff x="1871277" y="1576300"/>
              <a:chExt cx="1128371" cy="437861"/>
            </a:xfrm>
          </p:grpSpPr>
          <p:sp>
            <p:nvSpPr>
              <p:cNvPr id="44" name="Oval 277">
                <a:extLst>
                  <a:ext uri="{FF2B5EF4-FFF2-40B4-BE49-F238E27FC236}">
                    <a16:creationId xmlns:a16="http://schemas.microsoft.com/office/drawing/2014/main" id="{0CDB37E8-2945-585F-A86B-EEF22832B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Rectangle 278">
                <a:extLst>
                  <a:ext uri="{FF2B5EF4-FFF2-40B4-BE49-F238E27FC236}">
                    <a16:creationId xmlns:a16="http://schemas.microsoft.com/office/drawing/2014/main" id="{E90B77BC-37DA-B010-A7EC-4DE29C9B3899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" name="Oval 279">
                <a:extLst>
                  <a:ext uri="{FF2B5EF4-FFF2-40B4-BE49-F238E27FC236}">
                    <a16:creationId xmlns:a16="http://schemas.microsoft.com/office/drawing/2014/main" id="{1060B506-4FA8-2DA4-8855-B9B9C21F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" name="Freeform 280">
                <a:extLst>
                  <a:ext uri="{FF2B5EF4-FFF2-40B4-BE49-F238E27FC236}">
                    <a16:creationId xmlns:a16="http://schemas.microsoft.com/office/drawing/2014/main" id="{AB527357-9F81-5C82-3232-339ED552449E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8" name="Freeform 281">
                <a:extLst>
                  <a:ext uri="{FF2B5EF4-FFF2-40B4-BE49-F238E27FC236}">
                    <a16:creationId xmlns:a16="http://schemas.microsoft.com/office/drawing/2014/main" id="{16116727-0E5A-F1CC-7310-6D2733E5C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Freeform 282">
                <a:extLst>
                  <a:ext uri="{FF2B5EF4-FFF2-40B4-BE49-F238E27FC236}">
                    <a16:creationId xmlns:a16="http://schemas.microsoft.com/office/drawing/2014/main" id="{2C023B94-C842-ACDE-E71A-B3FDFD6CB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Freeform 283">
                <a:extLst>
                  <a:ext uri="{FF2B5EF4-FFF2-40B4-BE49-F238E27FC236}">
                    <a16:creationId xmlns:a16="http://schemas.microsoft.com/office/drawing/2014/main" id="{57C97C30-3FE4-EF9D-D999-0A958D68D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51" name="Straight Connector 284">
                <a:extLst>
                  <a:ext uri="{FF2B5EF4-FFF2-40B4-BE49-F238E27FC236}">
                    <a16:creationId xmlns:a16="http://schemas.microsoft.com/office/drawing/2014/main" id="{CD52597D-DBC7-B95D-CC9A-13F69D5EC955}"/>
                  </a:ext>
                </a:extLst>
              </p:cNvPr>
              <p:cNvCxnSpPr>
                <a:cxnSpLocks noChangeShapeType="1"/>
                <a:endCxn id="46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Straight Connector 285">
                <a:extLst>
                  <a:ext uri="{FF2B5EF4-FFF2-40B4-BE49-F238E27FC236}">
                    <a16:creationId xmlns:a16="http://schemas.microsoft.com/office/drawing/2014/main" id="{38C4C3AF-B656-5F01-B7E9-9ABFA82498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3" name="Group 286">
              <a:extLst>
                <a:ext uri="{FF2B5EF4-FFF2-40B4-BE49-F238E27FC236}">
                  <a16:creationId xmlns:a16="http://schemas.microsoft.com/office/drawing/2014/main" id="{C2953CE3-E1BF-9FB7-B329-4876C63B32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4343" y="2324099"/>
              <a:ext cx="5270500" cy="3805238"/>
              <a:chOff x="1757805" y="2331054"/>
              <a:chExt cx="5270058" cy="3804634"/>
            </a:xfrm>
          </p:grpSpPr>
          <p:sp>
            <p:nvSpPr>
              <p:cNvPr id="54" name="Freeform 287">
                <a:extLst>
                  <a:ext uri="{FF2B5EF4-FFF2-40B4-BE49-F238E27FC236}">
                    <a16:creationId xmlns:a16="http://schemas.microsoft.com/office/drawing/2014/main" id="{465F7BC9-5A2C-62ED-4614-082AE7E0E0CC}"/>
                  </a:ext>
                </a:extLst>
              </p:cNvPr>
              <p:cNvSpPr/>
              <p:nvPr/>
            </p:nvSpPr>
            <p:spPr>
              <a:xfrm>
                <a:off x="1776853" y="4829382"/>
                <a:ext cx="1220685" cy="920604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0510" h="921649">
                    <a:moveTo>
                      <a:pt x="1060159" y="921649"/>
                    </a:moveTo>
                    <a:cubicBezTo>
                      <a:pt x="166591" y="183345"/>
                      <a:pt x="908943" y="790884"/>
                      <a:pt x="0" y="51716"/>
                    </a:cubicBezTo>
                    <a:cubicBezTo>
                      <a:pt x="346878" y="57311"/>
                      <a:pt x="712340" y="-5240"/>
                      <a:pt x="1059218" y="355"/>
                    </a:cubicBezTo>
                    <a:cubicBezTo>
                      <a:pt x="1192967" y="751903"/>
                      <a:pt x="1090859" y="157699"/>
                      <a:pt x="1220510" y="849923"/>
                    </a:cubicBezTo>
                    <a:cubicBezTo>
                      <a:pt x="1126090" y="855456"/>
                      <a:pt x="1222187" y="863235"/>
                      <a:pt x="1060159" y="92164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5" name="Freeform 288">
                <a:extLst>
                  <a:ext uri="{FF2B5EF4-FFF2-40B4-BE49-F238E27FC236}">
                    <a16:creationId xmlns:a16="http://schemas.microsoft.com/office/drawing/2014/main" id="{22C18D70-D2CB-984D-3935-C190E6D692C1}"/>
                  </a:ext>
                </a:extLst>
              </p:cNvPr>
              <p:cNvSpPr/>
              <p:nvPr/>
            </p:nvSpPr>
            <p:spPr>
              <a:xfrm>
                <a:off x="6102428" y="4916682"/>
                <a:ext cx="925435" cy="75711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6304" h="758185">
                    <a:moveTo>
                      <a:pt x="0" y="735614"/>
                    </a:moveTo>
                    <a:cubicBezTo>
                      <a:pt x="309918" y="169731"/>
                      <a:pt x="59088" y="622691"/>
                      <a:pt x="405840" y="13939"/>
                    </a:cubicBezTo>
                    <a:cubicBezTo>
                      <a:pt x="580581" y="18247"/>
                      <a:pt x="751563" y="-3745"/>
                      <a:pt x="926304" y="563"/>
                    </a:cubicBezTo>
                    <a:cubicBezTo>
                      <a:pt x="312762" y="607705"/>
                      <a:pt x="474902" y="459041"/>
                      <a:pt x="183705" y="758185"/>
                    </a:cubicBezTo>
                    <a:cubicBezTo>
                      <a:pt x="49420" y="729549"/>
                      <a:pt x="196198" y="734148"/>
                      <a:pt x="0" y="735614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6" name="Freeform 289">
                <a:extLst>
                  <a:ext uri="{FF2B5EF4-FFF2-40B4-BE49-F238E27FC236}">
                    <a16:creationId xmlns:a16="http://schemas.microsoft.com/office/drawing/2014/main" id="{9ED70EB3-BF02-610A-B2DF-478452D85FAA}"/>
                  </a:ext>
                </a:extLst>
              </p:cNvPr>
              <p:cNvSpPr/>
              <p:nvPr/>
            </p:nvSpPr>
            <p:spPr>
              <a:xfrm>
                <a:off x="5288109" y="4937315"/>
                <a:ext cx="725426" cy="1099963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5009" h="1101479">
                    <a:moveTo>
                      <a:pt x="0" y="1073986"/>
                    </a:moveTo>
                    <a:cubicBezTo>
                      <a:pt x="95638" y="589814"/>
                      <a:pt x="96800" y="618448"/>
                      <a:pt x="206612" y="1724"/>
                    </a:cubicBezTo>
                    <a:cubicBezTo>
                      <a:pt x="451440" y="14348"/>
                      <a:pt x="499346" y="35256"/>
                      <a:pt x="725009" y="0"/>
                    </a:cubicBezTo>
                    <a:cubicBezTo>
                      <a:pt x="326141" y="749497"/>
                      <a:pt x="642687" y="159790"/>
                      <a:pt x="159092" y="1101479"/>
                    </a:cubicBezTo>
                    <a:cubicBezTo>
                      <a:pt x="24807" y="1072843"/>
                      <a:pt x="92525" y="1088071"/>
                      <a:pt x="0" y="107398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7" name="Freeform 290">
                <a:extLst>
                  <a:ext uri="{FF2B5EF4-FFF2-40B4-BE49-F238E27FC236}">
                    <a16:creationId xmlns:a16="http://schemas.microsoft.com/office/drawing/2014/main" id="{B75B9FBD-ECDA-2505-A4F9-66EC1F6F8B26}"/>
                  </a:ext>
                </a:extLst>
              </p:cNvPr>
              <p:cNvSpPr/>
              <p:nvPr/>
            </p:nvSpPr>
            <p:spPr>
              <a:xfrm>
                <a:off x="4300767" y="4956362"/>
                <a:ext cx="514307" cy="57775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578353">
                    <a:moveTo>
                      <a:pt x="135770" y="577341"/>
                    </a:moveTo>
                    <a:cubicBezTo>
                      <a:pt x="50587" y="214237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26658" y="280104"/>
                      <a:pt x="339280" y="576561"/>
                    </a:cubicBezTo>
                    <a:cubicBezTo>
                      <a:pt x="292835" y="580865"/>
                      <a:pt x="203869" y="575875"/>
                      <a:pt x="135770" y="57734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8" name="Freeform 291">
                <a:extLst>
                  <a:ext uri="{FF2B5EF4-FFF2-40B4-BE49-F238E27FC236}">
                    <a16:creationId xmlns:a16="http://schemas.microsoft.com/office/drawing/2014/main" id="{0EE17446-E975-235D-4F21-C717522C10D9}"/>
                  </a:ext>
                </a:extLst>
              </p:cNvPr>
              <p:cNvSpPr/>
              <p:nvPr/>
            </p:nvSpPr>
            <p:spPr>
              <a:xfrm>
                <a:off x="3521369" y="4919856"/>
                <a:ext cx="593675" cy="1215832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4113" h="1215612">
                    <a:moveTo>
                      <a:pt x="403236" y="1215612"/>
                    </a:moveTo>
                    <a:cubicBezTo>
                      <a:pt x="223947" y="663007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57486" y="515061"/>
                      <a:pt x="594113" y="1179818"/>
                    </a:cubicBezTo>
                    <a:cubicBezTo>
                      <a:pt x="496428" y="1184123"/>
                      <a:pt x="599434" y="1214146"/>
                      <a:pt x="403236" y="121561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59" name="Group 17">
                <a:extLst>
                  <a:ext uri="{FF2B5EF4-FFF2-40B4-BE49-F238E27FC236}">
                    <a16:creationId xmlns:a16="http://schemas.microsoft.com/office/drawing/2014/main" id="{1539F26A-9304-C5C4-16CD-A5C051E7C7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2674334"/>
                <a:chOff x="1757805" y="2331054"/>
                <a:chExt cx="1079500" cy="2674334"/>
              </a:xfrm>
            </p:grpSpPr>
            <p:sp>
              <p:nvSpPr>
                <p:cNvPr id="146" name="Rectangle 379">
                  <a:extLst>
                    <a:ext uri="{FF2B5EF4-FFF2-40B4-BE49-F238E27FC236}">
                      <a16:creationId xmlns:a16="http://schemas.microsoft.com/office/drawing/2014/main" id="{E49E85C5-CD44-A6F1-50A3-98B6F977CFEF}"/>
                    </a:ext>
                  </a:extLst>
                </p:cNvPr>
                <p:cNvSpPr/>
                <p:nvPr/>
              </p:nvSpPr>
              <p:spPr bwMode="auto">
                <a:xfrm rot="10800000">
                  <a:off x="1789552" y="2580252"/>
                  <a:ext cx="1027025" cy="10840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04">
                  <a:extLst>
                    <a:ext uri="{FF2B5EF4-FFF2-40B4-BE49-F238E27FC236}">
                      <a16:creationId xmlns:a16="http://schemas.microsoft.com/office/drawing/2014/main" id="{C64C9110-AA0F-AB4F-4053-E784D90298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82739" y="4616206"/>
                  <a:ext cx="1034710" cy="389182"/>
                  <a:chOff x="4128636" y="3606589"/>
                  <a:chExt cx="568145" cy="338667"/>
                </a:xfrm>
              </p:grpSpPr>
              <p:sp>
                <p:nvSpPr>
                  <p:cNvPr id="161" name="Oval 394">
                    <a:extLst>
                      <a:ext uri="{FF2B5EF4-FFF2-40B4-BE49-F238E27FC236}">
                        <a16:creationId xmlns:a16="http://schemas.microsoft.com/office/drawing/2014/main" id="{B8FAE043-6B18-647F-C4D2-01B82ACBEA96}"/>
                      </a:ext>
                    </a:extLst>
                  </p:cNvPr>
                  <p:cNvSpPr/>
                  <p:nvPr/>
                </p:nvSpPr>
                <p:spPr>
                  <a:xfrm>
                    <a:off x="4128891" y="3720271"/>
                    <a:ext cx="565669" cy="22514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Rectangle 395">
                    <a:extLst>
                      <a:ext uri="{FF2B5EF4-FFF2-40B4-BE49-F238E27FC236}">
                        <a16:creationId xmlns:a16="http://schemas.microsoft.com/office/drawing/2014/main" id="{A0F852B0-8D93-2FAE-9E24-8D4CE17F398D}"/>
                      </a:ext>
                    </a:extLst>
                  </p:cNvPr>
                  <p:cNvSpPr/>
                  <p:nvPr/>
                </p:nvSpPr>
                <p:spPr>
                  <a:xfrm>
                    <a:off x="4128891" y="3720271"/>
                    <a:ext cx="565669" cy="111880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Oval 396">
                    <a:extLst>
                      <a:ext uri="{FF2B5EF4-FFF2-40B4-BE49-F238E27FC236}">
                        <a16:creationId xmlns:a16="http://schemas.microsoft.com/office/drawing/2014/main" id="{062E7F88-8F5D-19FB-9634-7F2C8582D8D4}"/>
                      </a:ext>
                    </a:extLst>
                  </p:cNvPr>
                  <p:cNvSpPr/>
                  <p:nvPr/>
                </p:nvSpPr>
                <p:spPr>
                  <a:xfrm>
                    <a:off x="4128891" y="3607011"/>
                    <a:ext cx="565669" cy="225140"/>
                  </a:xfrm>
                  <a:prstGeom prst="ellipse">
                    <a:avLst/>
                  </a:prstGeom>
                  <a:solidFill>
                    <a:srgbClr val="3333CC">
                      <a:lumMod val="60000"/>
                      <a:lumOff val="40000"/>
                      <a:alpha val="7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64" name="Straight Connector 397">
                    <a:extLst>
                      <a:ext uri="{FF2B5EF4-FFF2-40B4-BE49-F238E27FC236}">
                        <a16:creationId xmlns:a16="http://schemas.microsoft.com/office/drawing/2014/main" id="{2E5B1626-5317-AC42-A051-3969487027B0}"/>
                      </a:ext>
                    </a:extLst>
                  </p:cNvPr>
                  <p:cNvCxnSpPr/>
                  <p:nvPr/>
                </p:nvCxnSpPr>
                <p:spPr>
                  <a:xfrm>
                    <a:off x="4694560" y="3720271"/>
                    <a:ext cx="0" cy="11188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5" name="Straight Connector 398">
                    <a:extLst>
                      <a:ext uri="{FF2B5EF4-FFF2-40B4-BE49-F238E27FC236}">
                        <a16:creationId xmlns:a16="http://schemas.microsoft.com/office/drawing/2014/main" id="{7873A505-B747-25CB-A885-CBF2C62532A3}"/>
                      </a:ext>
                    </a:extLst>
                  </p:cNvPr>
                  <p:cNvCxnSpPr/>
                  <p:nvPr/>
                </p:nvCxnSpPr>
                <p:spPr>
                  <a:xfrm>
                    <a:off x="4128891" y="3720271"/>
                    <a:ext cx="0" cy="11188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8" name="Rectangle 381">
                  <a:extLst>
                    <a:ext uri="{FF2B5EF4-FFF2-40B4-BE49-F238E27FC236}">
                      <a16:creationId xmlns:a16="http://schemas.microsoft.com/office/drawing/2014/main" id="{60AF8A2D-8802-6945-F2E9-24FAF2AA7064}"/>
                    </a:ext>
                  </a:extLst>
                </p:cNvPr>
                <p:cNvSpPr/>
                <p:nvPr/>
              </p:nvSpPr>
              <p:spPr bwMode="auto">
                <a:xfrm>
                  <a:off x="1802251" y="3602440"/>
                  <a:ext cx="1027025" cy="116345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49" name="Straight Connector 382">
                  <a:extLst>
                    <a:ext uri="{FF2B5EF4-FFF2-40B4-BE49-F238E27FC236}">
                      <a16:creationId xmlns:a16="http://schemas.microsoft.com/office/drawing/2014/main" id="{59B14B66-525A-0D4E-12A8-1E005E1F82B5}"/>
                    </a:ext>
                  </a:extLst>
                </p:cNvPr>
                <p:cNvCxnSpPr/>
                <p:nvPr/>
              </p:nvCxnSpPr>
              <p:spPr bwMode="auto">
                <a:xfrm>
                  <a:off x="1781615" y="2805642"/>
                  <a:ext cx="20636" cy="202056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cxnSp>
              <p:nvCxnSpPr>
                <p:cNvPr id="150" name="Straight Connector 383">
                  <a:extLst>
                    <a:ext uri="{FF2B5EF4-FFF2-40B4-BE49-F238E27FC236}">
                      <a16:creationId xmlns:a16="http://schemas.microsoft.com/office/drawing/2014/main" id="{9E1C5785-55CD-9B9A-2096-27EDAA9465E7}"/>
                    </a:ext>
                  </a:extLst>
                </p:cNvPr>
                <p:cNvCxnSpPr/>
                <p:nvPr/>
              </p:nvCxnSpPr>
              <p:spPr bwMode="auto">
                <a:xfrm flipH="1">
                  <a:off x="2818166" y="2805642"/>
                  <a:ext cx="4762" cy="1976123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151" name="Group 9">
                  <a:extLst>
                    <a:ext uri="{FF2B5EF4-FFF2-40B4-BE49-F238E27FC236}">
                      <a16:creationId xmlns:a16="http://schemas.microsoft.com/office/drawing/2014/main" id="{4790402F-DB2F-8669-4AE1-CD923FBA48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57805" y="2331054"/>
                  <a:ext cx="1079500" cy="430213"/>
                  <a:chOff x="2183302" y="1574638"/>
                  <a:chExt cx="1200154" cy="430181"/>
                </a:xfrm>
              </p:grpSpPr>
              <p:sp>
                <p:nvSpPr>
                  <p:cNvPr id="152" name="Oval 385">
                    <a:extLst>
                      <a:ext uri="{FF2B5EF4-FFF2-40B4-BE49-F238E27FC236}">
                        <a16:creationId xmlns:a16="http://schemas.microsoft.com/office/drawing/2014/main" id="{B140AA94-0FBE-B756-B444-57456E3FCBF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6832" y="1690499"/>
                    <a:ext cx="1194758" cy="31425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20000"/>
                          <a:lumOff val="80000"/>
                        </a:srgbClr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3" name="Rectangle 386">
                    <a:extLst>
                      <a:ext uri="{FF2B5EF4-FFF2-40B4-BE49-F238E27FC236}">
                        <a16:creationId xmlns:a16="http://schemas.microsoft.com/office/drawing/2014/main" id="{A4724C65-E024-1331-5E46-04607925CC9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302" y="1734939"/>
                    <a:ext cx="1198287" cy="112686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4" name="Oval 387">
                    <a:extLst>
                      <a:ext uri="{FF2B5EF4-FFF2-40B4-BE49-F238E27FC236}">
                        <a16:creationId xmlns:a16="http://schemas.microsoft.com/office/drawing/2014/main" id="{EAC1AB4A-D501-4DCC-D6DA-968DB48045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302" y="1574638"/>
                    <a:ext cx="1196523" cy="314252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55" name="Freeform 388">
                    <a:extLst>
                      <a:ext uri="{FF2B5EF4-FFF2-40B4-BE49-F238E27FC236}">
                        <a16:creationId xmlns:a16="http://schemas.microsoft.com/office/drawing/2014/main" id="{EE634E6D-C618-2C76-F521-CC9C30CE5C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0374" y="1671453"/>
                    <a:ext cx="582379" cy="157125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6" name="Freeform 389">
                    <a:extLst>
                      <a:ext uri="{FF2B5EF4-FFF2-40B4-BE49-F238E27FC236}">
                        <a16:creationId xmlns:a16="http://schemas.microsoft.com/office/drawing/2014/main" id="{EB1F638A-A45A-6A60-522F-E0AB5083F4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372" y="1630188"/>
                    <a:ext cx="702384" cy="109512"/>
                  </a:xfrm>
                  <a:custGeom>
                    <a:avLst/>
                    <a:gdLst>
                      <a:gd name="T0" fmla="*/ 0 w 3723451"/>
                      <a:gd name="T1" fmla="*/ 26792 h 932950"/>
                      <a:gd name="T2" fmla="*/ 123590 w 3723451"/>
                      <a:gd name="T3" fmla="*/ 316 h 932950"/>
                      <a:gd name="T4" fmla="*/ 350070 w 3723451"/>
                      <a:gd name="T5" fmla="*/ 61105 h 932950"/>
                      <a:gd name="T6" fmla="*/ 566135 w 3723451"/>
                      <a:gd name="T7" fmla="*/ 0 h 932950"/>
                      <a:gd name="T8" fmla="*/ 702384 w 3723451"/>
                      <a:gd name="T9" fmla="*/ 24316 h 932950"/>
                      <a:gd name="T10" fmla="*/ 601015 w 3723451"/>
                      <a:gd name="T11" fmla="*/ 54216 h 932950"/>
                      <a:gd name="T12" fmla="*/ 568379 w 3723451"/>
                      <a:gd name="T13" fmla="*/ 46155 h 932950"/>
                      <a:gd name="T14" fmla="*/ 354049 w 3723451"/>
                      <a:gd name="T15" fmla="*/ 109512 h 932950"/>
                      <a:gd name="T16" fmla="*/ 134237 w 3723451"/>
                      <a:gd name="T17" fmla="*/ 48485 h 932950"/>
                      <a:gd name="T18" fmla="*/ 98698 w 3723451"/>
                      <a:gd name="T19" fmla="*/ 55072 h 932950"/>
                      <a:gd name="T20" fmla="*/ 0 w 3723451"/>
                      <a:gd name="T21" fmla="*/ 2679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57" name="Freeform 390">
                    <a:extLst>
                      <a:ext uri="{FF2B5EF4-FFF2-40B4-BE49-F238E27FC236}">
                        <a16:creationId xmlns:a16="http://schemas.microsoft.com/office/drawing/2014/main" id="{3C6DFAF3-6801-920F-89AC-6F8DA78C22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745" y="1723828"/>
                    <a:ext cx="257658" cy="95228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7658 w 1366596"/>
                      <a:gd name="T3" fmla="*/ 73585 h 809868"/>
                      <a:gd name="T4" fmla="*/ 163097 w 1366596"/>
                      <a:gd name="T5" fmla="*/ 95228 h 809868"/>
                      <a:gd name="T6" fmla="*/ 867 w 1366596"/>
                      <a:gd name="T7" fmla="*/ 5031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58" name="Freeform 391">
                    <a:extLst>
                      <a:ext uri="{FF2B5EF4-FFF2-40B4-BE49-F238E27FC236}">
                        <a16:creationId xmlns:a16="http://schemas.microsoft.com/office/drawing/2014/main" id="{AB60DDE6-7762-42FE-652D-C62F7C05FC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8018" y="1725416"/>
                    <a:ext cx="254129" cy="95228"/>
                  </a:xfrm>
                  <a:custGeom>
                    <a:avLst/>
                    <a:gdLst>
                      <a:gd name="T0" fmla="*/ 250660 w 1348191"/>
                      <a:gd name="T1" fmla="*/ 0 h 791462"/>
                      <a:gd name="T2" fmla="*/ 254129 w 1348191"/>
                      <a:gd name="T3" fmla="*/ 45953 h 791462"/>
                      <a:gd name="T4" fmla="*/ 91938 w 1348191"/>
                      <a:gd name="T5" fmla="*/ 95228 h 791462"/>
                      <a:gd name="T6" fmla="*/ 0 w 1348191"/>
                      <a:gd name="T7" fmla="*/ 73636 h 791462"/>
                      <a:gd name="T8" fmla="*/ 250660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159" name="Straight Connector 392">
                    <a:extLst>
                      <a:ext uri="{FF2B5EF4-FFF2-40B4-BE49-F238E27FC236}">
                        <a16:creationId xmlns:a16="http://schemas.microsoft.com/office/drawing/2014/main" id="{297AE947-5B3E-F00B-F9C5-B9F5D853D015}"/>
                      </a:ext>
                    </a:extLst>
                  </p:cNvPr>
                  <p:cNvCxnSpPr>
                    <a:cxnSpLocks noChangeShapeType="1"/>
                    <a:endCxn id="154" idx="2"/>
                  </p:cNvCxnSpPr>
                  <p:nvPr/>
                </p:nvCxnSpPr>
                <p:spPr bwMode="auto">
                  <a:xfrm flipH="1" flipV="1">
                    <a:off x="2183302" y="1731764"/>
                    <a:ext cx="3530" cy="12220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60" name="Straight Connector 393">
                    <a:extLst>
                      <a:ext uri="{FF2B5EF4-FFF2-40B4-BE49-F238E27FC236}">
                        <a16:creationId xmlns:a16="http://schemas.microsoft.com/office/drawing/2014/main" id="{35DA0D9A-8EA1-7436-F453-0B03F02D004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25" y="1728590"/>
                    <a:ext cx="3530" cy="12220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60" name="Group 18">
                <a:extLst>
                  <a:ext uri="{FF2B5EF4-FFF2-40B4-BE49-F238E27FC236}">
                    <a16:creationId xmlns:a16="http://schemas.microsoft.com/office/drawing/2014/main" id="{CB26405F-05DE-619A-B98E-25D2CF53E5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0438" y="3174091"/>
                <a:ext cx="522287" cy="1831297"/>
                <a:chOff x="3500438" y="3174091"/>
                <a:chExt cx="522287" cy="1831297"/>
              </a:xfrm>
            </p:grpSpPr>
            <p:sp>
              <p:nvSpPr>
                <p:cNvPr id="125" name="Rectangle 358">
                  <a:extLst>
                    <a:ext uri="{FF2B5EF4-FFF2-40B4-BE49-F238E27FC236}">
                      <a16:creationId xmlns:a16="http://schemas.microsoft.com/office/drawing/2014/main" id="{6401221C-1EF2-5022-B0FE-45EDC91D8B41}"/>
                    </a:ext>
                  </a:extLst>
                </p:cNvPr>
                <p:cNvSpPr/>
                <p:nvPr/>
              </p:nvSpPr>
              <p:spPr bwMode="auto">
                <a:xfrm rot="10800000">
                  <a:off x="3507320" y="3287221"/>
                  <a:ext cx="498349" cy="30662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26" name="Straight Connector 359">
                  <a:extLst>
                    <a:ext uri="{FF2B5EF4-FFF2-40B4-BE49-F238E27FC236}">
                      <a16:creationId xmlns:a16="http://schemas.microsoft.com/office/drawing/2014/main" id="{75E73366-B9B3-698E-2C22-CF087B1C90A7}"/>
                    </a:ext>
                  </a:extLst>
                </p:cNvPr>
                <p:cNvCxnSpPr/>
                <p:nvPr/>
              </p:nvCxnSpPr>
              <p:spPr bwMode="auto">
                <a:xfrm flipH="1">
                  <a:off x="4019802" y="3321497"/>
                  <a:ext cx="1588" cy="153645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pic>
              <p:nvPicPr>
                <p:cNvPr id="127" name="Picture 86" descr="router_top.png">
                  <a:extLst>
                    <a:ext uri="{FF2B5EF4-FFF2-40B4-BE49-F238E27FC236}">
                      <a16:creationId xmlns:a16="http://schemas.microsoft.com/office/drawing/2014/main" id="{C288C82F-1853-F88B-8341-055AB511BE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500438" y="3194292"/>
                  <a:ext cx="522287" cy="2204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128" name="Group 82">
                  <a:extLst>
                    <a:ext uri="{FF2B5EF4-FFF2-40B4-BE49-F238E27FC236}">
                      <a16:creationId xmlns:a16="http://schemas.microsoft.com/office/drawing/2014/main" id="{1E34818F-B9DF-05F8-74C6-C835D0CB15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11442" y="4783543"/>
                  <a:ext cx="507858" cy="221845"/>
                  <a:chOff x="4128636" y="3606589"/>
                  <a:chExt cx="568145" cy="338667"/>
                </a:xfrm>
              </p:grpSpPr>
              <p:sp>
                <p:nvSpPr>
                  <p:cNvPr id="141" name="Oval 374">
                    <a:extLst>
                      <a:ext uri="{FF2B5EF4-FFF2-40B4-BE49-F238E27FC236}">
                        <a16:creationId xmlns:a16="http://schemas.microsoft.com/office/drawing/2014/main" id="{F5AFFB56-980E-7280-93B7-3122F33D7E25}"/>
                      </a:ext>
                    </a:extLst>
                  </p:cNvPr>
                  <p:cNvSpPr/>
                  <p:nvPr/>
                </p:nvSpPr>
                <p:spPr>
                  <a:xfrm>
                    <a:off x="4129087" y="3720182"/>
                    <a:ext cx="568256" cy="225348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2" name="Rectangle 375">
                    <a:extLst>
                      <a:ext uri="{FF2B5EF4-FFF2-40B4-BE49-F238E27FC236}">
                        <a16:creationId xmlns:a16="http://schemas.microsoft.com/office/drawing/2014/main" id="{6DF6C1A2-8A96-A4AB-C07E-0F519FC6729C}"/>
                      </a:ext>
                    </a:extLst>
                  </p:cNvPr>
                  <p:cNvSpPr/>
                  <p:nvPr/>
                </p:nvSpPr>
                <p:spPr>
                  <a:xfrm>
                    <a:off x="4129087" y="3720182"/>
                    <a:ext cx="568256" cy="111462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3" name="Oval 376">
                    <a:extLst>
                      <a:ext uri="{FF2B5EF4-FFF2-40B4-BE49-F238E27FC236}">
                        <a16:creationId xmlns:a16="http://schemas.microsoft.com/office/drawing/2014/main" id="{AC42CCB1-9470-5D76-3063-3C4A0B8832C1}"/>
                      </a:ext>
                    </a:extLst>
                  </p:cNvPr>
                  <p:cNvSpPr/>
                  <p:nvPr/>
                </p:nvSpPr>
                <p:spPr>
                  <a:xfrm>
                    <a:off x="4129087" y="3606297"/>
                    <a:ext cx="568256" cy="225346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44" name="Straight Connector 377">
                    <a:extLst>
                      <a:ext uri="{FF2B5EF4-FFF2-40B4-BE49-F238E27FC236}">
                        <a16:creationId xmlns:a16="http://schemas.microsoft.com/office/drawing/2014/main" id="{04719C10-E9FE-57DD-564C-1A50E30E6887}"/>
                      </a:ext>
                    </a:extLst>
                  </p:cNvPr>
                  <p:cNvCxnSpPr/>
                  <p:nvPr/>
                </p:nvCxnSpPr>
                <p:spPr>
                  <a:xfrm>
                    <a:off x="4697343" y="3720182"/>
                    <a:ext cx="0" cy="111462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5" name="Straight Connector 378">
                    <a:extLst>
                      <a:ext uri="{FF2B5EF4-FFF2-40B4-BE49-F238E27FC236}">
                        <a16:creationId xmlns:a16="http://schemas.microsoft.com/office/drawing/2014/main" id="{7728F4DE-DC9D-B7E4-C715-628201AF2191}"/>
                      </a:ext>
                    </a:extLst>
                  </p:cNvPr>
                  <p:cNvCxnSpPr/>
                  <p:nvPr/>
                </p:nvCxnSpPr>
                <p:spPr>
                  <a:xfrm>
                    <a:off x="4129087" y="3720182"/>
                    <a:ext cx="0" cy="111462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9" name="Rectangle 362">
                  <a:extLst>
                    <a:ext uri="{FF2B5EF4-FFF2-40B4-BE49-F238E27FC236}">
                      <a16:creationId xmlns:a16="http://schemas.microsoft.com/office/drawing/2014/main" id="{E4DB80AD-13BC-CBD9-DD8D-D016BD876091}"/>
                    </a:ext>
                  </a:extLst>
                </p:cNvPr>
                <p:cNvSpPr/>
                <p:nvPr/>
              </p:nvSpPr>
              <p:spPr bwMode="auto">
                <a:xfrm>
                  <a:off x="3516608" y="3697675"/>
                  <a:ext cx="498433" cy="116345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30" name="Straight Connector 363">
                  <a:extLst>
                    <a:ext uri="{FF2B5EF4-FFF2-40B4-BE49-F238E27FC236}">
                      <a16:creationId xmlns:a16="http://schemas.microsoft.com/office/drawing/2014/main" id="{F4AD1670-4651-9111-DA01-DF4A5BDE1E8A}"/>
                    </a:ext>
                  </a:extLst>
                </p:cNvPr>
                <p:cNvCxnSpPr>
                  <a:stCxn id="134" idx="2"/>
                </p:cNvCxnSpPr>
                <p:nvPr/>
              </p:nvCxnSpPr>
              <p:spPr bwMode="auto">
                <a:xfrm flipH="1">
                  <a:off x="3507083" y="3262769"/>
                  <a:ext cx="4762" cy="168883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131" name="Group 377">
                  <a:extLst>
                    <a:ext uri="{FF2B5EF4-FFF2-40B4-BE49-F238E27FC236}">
                      <a16:creationId xmlns:a16="http://schemas.microsoft.com/office/drawing/2014/main" id="{3A8BC69D-824D-B796-9041-3D743A8697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11057" y="3174091"/>
                  <a:ext cx="504096" cy="242719"/>
                  <a:chOff x="2183302" y="1574638"/>
                  <a:chExt cx="1200154" cy="430218"/>
                </a:xfrm>
              </p:grpSpPr>
              <p:sp>
                <p:nvSpPr>
                  <p:cNvPr id="132" name="Oval 365">
                    <a:extLst>
                      <a:ext uri="{FF2B5EF4-FFF2-40B4-BE49-F238E27FC236}">
                        <a16:creationId xmlns:a16="http://schemas.microsoft.com/office/drawing/2014/main" id="{C25737FE-CBC9-AE4A-D2AA-11A113A83F9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958" y="1689617"/>
                    <a:ext cx="1194231" cy="31509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3" name="Rectangle 366">
                    <a:extLst>
                      <a:ext uri="{FF2B5EF4-FFF2-40B4-BE49-F238E27FC236}">
                        <a16:creationId xmlns:a16="http://schemas.microsoft.com/office/drawing/2014/main" id="{17827385-D5C1-32A7-0068-0AE372EADB5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5178" y="1734631"/>
                    <a:ext cx="1198011" cy="11253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4" name="Oval 367">
                    <a:extLst>
                      <a:ext uri="{FF2B5EF4-FFF2-40B4-BE49-F238E27FC236}">
                        <a16:creationId xmlns:a16="http://schemas.microsoft.com/office/drawing/2014/main" id="{73F5993E-14EC-6D29-A9BA-D5950A7489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5178" y="1574269"/>
                    <a:ext cx="1194231" cy="315099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35" name="Freeform 368">
                    <a:extLst>
                      <a:ext uri="{FF2B5EF4-FFF2-40B4-BE49-F238E27FC236}">
                        <a16:creationId xmlns:a16="http://schemas.microsoft.com/office/drawing/2014/main" id="{93FCFCCE-1C0D-B261-D225-17CD855849D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295" y="1669924"/>
                    <a:ext cx="581999" cy="157549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6" name="Freeform 369">
                    <a:extLst>
                      <a:ext uri="{FF2B5EF4-FFF2-40B4-BE49-F238E27FC236}">
                        <a16:creationId xmlns:a16="http://schemas.microsoft.com/office/drawing/2014/main" id="{415FF195-D07E-2A40-4C02-5FFE649902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828" y="1630537"/>
                    <a:ext cx="702933" cy="109721"/>
                  </a:xfrm>
                  <a:custGeom>
                    <a:avLst/>
                    <a:gdLst>
                      <a:gd name="T0" fmla="*/ 0 w 3723451"/>
                      <a:gd name="T1" fmla="*/ 26843 h 932950"/>
                      <a:gd name="T2" fmla="*/ 123686 w 3723451"/>
                      <a:gd name="T3" fmla="*/ 316 h 932950"/>
                      <a:gd name="T4" fmla="*/ 350344 w 3723451"/>
                      <a:gd name="T5" fmla="*/ 61221 h 932950"/>
                      <a:gd name="T6" fmla="*/ 566578 w 3723451"/>
                      <a:gd name="T7" fmla="*/ 0 h 932950"/>
                      <a:gd name="T8" fmla="*/ 702933 w 3723451"/>
                      <a:gd name="T9" fmla="*/ 24362 h 932950"/>
                      <a:gd name="T10" fmla="*/ 601485 w 3723451"/>
                      <a:gd name="T11" fmla="*/ 54319 h 932950"/>
                      <a:gd name="T12" fmla="*/ 568823 w 3723451"/>
                      <a:gd name="T13" fmla="*/ 46243 h 932950"/>
                      <a:gd name="T14" fmla="*/ 354326 w 3723451"/>
                      <a:gd name="T15" fmla="*/ 109721 h 932950"/>
                      <a:gd name="T16" fmla="*/ 134342 w 3723451"/>
                      <a:gd name="T17" fmla="*/ 48578 h 932950"/>
                      <a:gd name="T18" fmla="*/ 98775 w 3723451"/>
                      <a:gd name="T19" fmla="*/ 55177 h 932950"/>
                      <a:gd name="T20" fmla="*/ 0 w 3723451"/>
                      <a:gd name="T21" fmla="*/ 26843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37" name="Freeform 370">
                    <a:extLst>
                      <a:ext uri="{FF2B5EF4-FFF2-40B4-BE49-F238E27FC236}">
                        <a16:creationId xmlns:a16="http://schemas.microsoft.com/office/drawing/2014/main" id="{D1DFFE94-B753-B756-A6F9-5C02565587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1892" y="1723378"/>
                    <a:ext cx="260764" cy="95655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764 w 1366596"/>
                      <a:gd name="T3" fmla="*/ 73915 h 809868"/>
                      <a:gd name="T4" fmla="*/ 165063 w 1366596"/>
                      <a:gd name="T5" fmla="*/ 95655 h 809868"/>
                      <a:gd name="T6" fmla="*/ 878 w 1366596"/>
                      <a:gd name="T7" fmla="*/ 5054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38" name="Freeform 371">
                    <a:extLst>
                      <a:ext uri="{FF2B5EF4-FFF2-40B4-BE49-F238E27FC236}">
                        <a16:creationId xmlns:a16="http://schemas.microsoft.com/office/drawing/2014/main" id="{C5E1B3A1-C7AE-C0AB-4A63-D60607CCC2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489" y="1726192"/>
                    <a:ext cx="253208" cy="92841"/>
                  </a:xfrm>
                  <a:custGeom>
                    <a:avLst/>
                    <a:gdLst>
                      <a:gd name="T0" fmla="*/ 249751 w 1348191"/>
                      <a:gd name="T1" fmla="*/ 0 h 791462"/>
                      <a:gd name="T2" fmla="*/ 253208 w 1348191"/>
                      <a:gd name="T3" fmla="*/ 44801 h 791462"/>
                      <a:gd name="T4" fmla="*/ 91604 w 1348191"/>
                      <a:gd name="T5" fmla="*/ 92841 h 791462"/>
                      <a:gd name="T6" fmla="*/ 0 w 1348191"/>
                      <a:gd name="T7" fmla="*/ 71790 h 791462"/>
                      <a:gd name="T8" fmla="*/ 249751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139" name="Straight Connector 372">
                    <a:extLst>
                      <a:ext uri="{FF2B5EF4-FFF2-40B4-BE49-F238E27FC236}">
                        <a16:creationId xmlns:a16="http://schemas.microsoft.com/office/drawing/2014/main" id="{1C6B1BC4-748D-35BC-7205-B4C55D9D2C7E}"/>
                      </a:ext>
                    </a:extLst>
                  </p:cNvPr>
                  <p:cNvCxnSpPr>
                    <a:cxnSpLocks noChangeShapeType="1"/>
                    <a:endCxn id="134" idx="2"/>
                  </p:cNvCxnSpPr>
                  <p:nvPr/>
                </p:nvCxnSpPr>
                <p:spPr bwMode="auto">
                  <a:xfrm flipH="1" flipV="1">
                    <a:off x="2185178" y="1731819"/>
                    <a:ext cx="3780" cy="120975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40" name="Straight Connector 373">
                    <a:extLst>
                      <a:ext uri="{FF2B5EF4-FFF2-40B4-BE49-F238E27FC236}">
                        <a16:creationId xmlns:a16="http://schemas.microsoft.com/office/drawing/2014/main" id="{35E5EBD3-A608-6082-022D-D9DDCBF731A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409" y="1729005"/>
                    <a:ext cx="3780" cy="120976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61" name="Group 19">
                <a:extLst>
                  <a:ext uri="{FF2B5EF4-FFF2-40B4-BE49-F238E27FC236}">
                    <a16:creationId xmlns:a16="http://schemas.microsoft.com/office/drawing/2014/main" id="{FA89F958-DCA2-9FED-438B-951BA86247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28376" cy="2517292"/>
                <a:chOff x="4299212" y="2486508"/>
                <a:chExt cx="528376" cy="2517292"/>
              </a:xfrm>
            </p:grpSpPr>
            <p:sp>
              <p:nvSpPr>
                <p:cNvPr id="105" name="Rectangle 338">
                  <a:extLst>
                    <a:ext uri="{FF2B5EF4-FFF2-40B4-BE49-F238E27FC236}">
                      <a16:creationId xmlns:a16="http://schemas.microsoft.com/office/drawing/2014/main" id="{DE0635BF-FC96-E057-3ADB-CB30A5B5321B}"/>
                    </a:ext>
                  </a:extLst>
                </p:cNvPr>
                <p:cNvSpPr/>
                <p:nvPr/>
              </p:nvSpPr>
              <p:spPr bwMode="auto">
                <a:xfrm rot="10800000">
                  <a:off x="4315358" y="2675960"/>
                  <a:ext cx="498350" cy="91657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6" name="Straight Connector 339">
                  <a:extLst>
                    <a:ext uri="{FF2B5EF4-FFF2-40B4-BE49-F238E27FC236}">
                      <a16:creationId xmlns:a16="http://schemas.microsoft.com/office/drawing/2014/main" id="{9C1DB7D9-B17C-735C-EFFE-9E732866E483}"/>
                    </a:ext>
                  </a:extLst>
                </p:cNvPr>
                <p:cNvCxnSpPr/>
                <p:nvPr/>
              </p:nvCxnSpPr>
              <p:spPr bwMode="auto">
                <a:xfrm>
                  <a:off x="4821424" y="2642154"/>
                  <a:ext cx="6349" cy="2214211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107" name="Group 442">
                  <a:extLst>
                    <a:ext uri="{FF2B5EF4-FFF2-40B4-BE49-F238E27FC236}">
                      <a16:creationId xmlns:a16="http://schemas.microsoft.com/office/drawing/2014/main" id="{1DCE29F0-2131-550E-BAA3-255A85840F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19479" y="4781999"/>
                  <a:ext cx="507859" cy="221801"/>
                  <a:chOff x="4128636" y="3606589"/>
                  <a:chExt cx="568145" cy="338667"/>
                </a:xfrm>
              </p:grpSpPr>
              <p:sp>
                <p:nvSpPr>
                  <p:cNvPr id="120" name="Oval 353">
                    <a:extLst>
                      <a:ext uri="{FF2B5EF4-FFF2-40B4-BE49-F238E27FC236}">
                        <a16:creationId xmlns:a16="http://schemas.microsoft.com/office/drawing/2014/main" id="{2D36292D-91EF-F4E0-B7AD-F7F96A749E4F}"/>
                      </a:ext>
                    </a:extLst>
                  </p:cNvPr>
                  <p:cNvSpPr/>
                  <p:nvPr/>
                </p:nvSpPr>
                <p:spPr>
                  <a:xfrm>
                    <a:off x="4129012" y="3720139"/>
                    <a:ext cx="568256" cy="225391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" name="Rectangle 354">
                    <a:extLst>
                      <a:ext uri="{FF2B5EF4-FFF2-40B4-BE49-F238E27FC236}">
                        <a16:creationId xmlns:a16="http://schemas.microsoft.com/office/drawing/2014/main" id="{234DFDB8-5F23-47CA-F2F1-B4E00CBBF1D5}"/>
                      </a:ext>
                    </a:extLst>
                  </p:cNvPr>
                  <p:cNvSpPr/>
                  <p:nvPr/>
                </p:nvSpPr>
                <p:spPr>
                  <a:xfrm>
                    <a:off x="4129012" y="3720139"/>
                    <a:ext cx="568256" cy="111484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" name="Oval 355">
                    <a:extLst>
                      <a:ext uri="{FF2B5EF4-FFF2-40B4-BE49-F238E27FC236}">
                        <a16:creationId xmlns:a16="http://schemas.microsoft.com/office/drawing/2014/main" id="{63840F39-951C-6327-E933-850BFD0611CA}"/>
                      </a:ext>
                    </a:extLst>
                  </p:cNvPr>
                  <p:cNvSpPr/>
                  <p:nvPr/>
                </p:nvSpPr>
                <p:spPr>
                  <a:xfrm>
                    <a:off x="4129012" y="3606230"/>
                    <a:ext cx="568256" cy="225392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23" name="Straight Connector 356">
                    <a:extLst>
                      <a:ext uri="{FF2B5EF4-FFF2-40B4-BE49-F238E27FC236}">
                        <a16:creationId xmlns:a16="http://schemas.microsoft.com/office/drawing/2014/main" id="{21B3D425-0EDC-FC21-C7DE-476B155CAC26}"/>
                      </a:ext>
                    </a:extLst>
                  </p:cNvPr>
                  <p:cNvCxnSpPr/>
                  <p:nvPr/>
                </p:nvCxnSpPr>
                <p:spPr>
                  <a:xfrm>
                    <a:off x="4697268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4" name="Straight Connector 357">
                    <a:extLst>
                      <a:ext uri="{FF2B5EF4-FFF2-40B4-BE49-F238E27FC236}">
                        <a16:creationId xmlns:a16="http://schemas.microsoft.com/office/drawing/2014/main" id="{30376ED0-AD4A-5C08-8D26-07AF494CD25F}"/>
                      </a:ext>
                    </a:extLst>
                  </p:cNvPr>
                  <p:cNvCxnSpPr/>
                  <p:nvPr/>
                </p:nvCxnSpPr>
                <p:spPr>
                  <a:xfrm>
                    <a:off x="4129012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8" name="Rectangle 341">
                  <a:extLst>
                    <a:ext uri="{FF2B5EF4-FFF2-40B4-BE49-F238E27FC236}">
                      <a16:creationId xmlns:a16="http://schemas.microsoft.com/office/drawing/2014/main" id="{0F954C71-61DA-3C74-BA93-921C6CF62A7C}"/>
                    </a:ext>
                  </a:extLst>
                </p:cNvPr>
                <p:cNvSpPr/>
                <p:nvPr/>
              </p:nvSpPr>
              <p:spPr bwMode="auto">
                <a:xfrm>
                  <a:off x="4324577" y="3696087"/>
                  <a:ext cx="498433" cy="116345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9" name="Straight Connector 342">
                  <a:extLst>
                    <a:ext uri="{FF2B5EF4-FFF2-40B4-BE49-F238E27FC236}">
                      <a16:creationId xmlns:a16="http://schemas.microsoft.com/office/drawing/2014/main" id="{654DC801-73A0-5389-7790-675B4BED28B3}"/>
                    </a:ext>
                  </a:extLst>
                </p:cNvPr>
                <p:cNvCxnSpPr>
                  <a:stCxn id="111" idx="2"/>
                </p:cNvCxnSpPr>
                <p:nvPr/>
              </p:nvCxnSpPr>
              <p:spPr bwMode="auto">
                <a:xfrm>
                  <a:off x="4300767" y="2640568"/>
                  <a:ext cx="14286" cy="23094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110" name="Group 456">
                  <a:extLst>
                    <a:ext uri="{FF2B5EF4-FFF2-40B4-BE49-F238E27FC236}">
                      <a16:creationId xmlns:a16="http://schemas.microsoft.com/office/drawing/2014/main" id="{354445CC-6C79-1E3D-AE5F-F8DFEEC34C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99212" y="2486508"/>
                  <a:ext cx="504825" cy="242888"/>
                  <a:chOff x="2183302" y="1574638"/>
                  <a:chExt cx="1200154" cy="430218"/>
                </a:xfrm>
              </p:grpSpPr>
              <p:sp>
                <p:nvSpPr>
                  <p:cNvPr id="111" name="Oval 344">
                    <a:extLst>
                      <a:ext uri="{FF2B5EF4-FFF2-40B4-BE49-F238E27FC236}">
                        <a16:creationId xmlns:a16="http://schemas.microsoft.com/office/drawing/2014/main" id="{9E5C4564-8BC1-F2B2-391D-BFC65A9789C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6998" y="1690077"/>
                    <a:ext cx="1196279" cy="31488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 345">
                    <a:extLst>
                      <a:ext uri="{FF2B5EF4-FFF2-40B4-BE49-F238E27FC236}">
                        <a16:creationId xmlns:a16="http://schemas.microsoft.com/office/drawing/2014/main" id="{F4FCEA3B-BA13-3ACB-BDBF-BC8C2576E33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224" y="1735060"/>
                    <a:ext cx="1200054" cy="11245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3" name="Oval 346">
                    <a:extLst>
                      <a:ext uri="{FF2B5EF4-FFF2-40B4-BE49-F238E27FC236}">
                        <a16:creationId xmlns:a16="http://schemas.microsoft.com/office/drawing/2014/main" id="{971EEE98-FF17-9E56-3711-D41CDFA2AC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224" y="1574808"/>
                    <a:ext cx="1196282" cy="3148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4" name="Freeform 347">
                    <a:extLst>
                      <a:ext uri="{FF2B5EF4-FFF2-40B4-BE49-F238E27FC236}">
                        <a16:creationId xmlns:a16="http://schemas.microsoft.com/office/drawing/2014/main" id="{28514E81-3198-0C8F-44BC-6032E9A3DC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8899" y="1670396"/>
                    <a:ext cx="584931" cy="1574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5" name="Freeform 348">
                    <a:extLst>
                      <a:ext uri="{FF2B5EF4-FFF2-40B4-BE49-F238E27FC236}">
                        <a16:creationId xmlns:a16="http://schemas.microsoft.com/office/drawing/2014/main" id="{31918D92-66CF-D80E-6859-EB40A19E73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8519" y="1631037"/>
                    <a:ext cx="705691" cy="109646"/>
                  </a:xfrm>
                  <a:custGeom>
                    <a:avLst/>
                    <a:gdLst>
                      <a:gd name="T0" fmla="*/ 0 w 3723451"/>
                      <a:gd name="T1" fmla="*/ 26825 h 932950"/>
                      <a:gd name="T2" fmla="*/ 124171 w 3723451"/>
                      <a:gd name="T3" fmla="*/ 316 h 932950"/>
                      <a:gd name="T4" fmla="*/ 351718 w 3723451"/>
                      <a:gd name="T5" fmla="*/ 61180 h 932950"/>
                      <a:gd name="T6" fmla="*/ 568801 w 3723451"/>
                      <a:gd name="T7" fmla="*/ 0 h 932950"/>
                      <a:gd name="T8" fmla="*/ 705691 w 3723451"/>
                      <a:gd name="T9" fmla="*/ 24345 h 932950"/>
                      <a:gd name="T10" fmla="*/ 603845 w 3723451"/>
                      <a:gd name="T11" fmla="*/ 54282 h 932950"/>
                      <a:gd name="T12" fmla="*/ 571055 w 3723451"/>
                      <a:gd name="T13" fmla="*/ 46211 h 932950"/>
                      <a:gd name="T14" fmla="*/ 355716 w 3723451"/>
                      <a:gd name="T15" fmla="*/ 109646 h 932950"/>
                      <a:gd name="T16" fmla="*/ 134869 w 3723451"/>
                      <a:gd name="T17" fmla="*/ 48545 h 932950"/>
                      <a:gd name="T18" fmla="*/ 99163 w 3723451"/>
                      <a:gd name="T19" fmla="*/ 55139 h 932950"/>
                      <a:gd name="T20" fmla="*/ 0 w 3723451"/>
                      <a:gd name="T21" fmla="*/ 26825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6" name="Freeform 349">
                    <a:extLst>
                      <a:ext uri="{FF2B5EF4-FFF2-40B4-BE49-F238E27FC236}">
                        <a16:creationId xmlns:a16="http://schemas.microsoft.com/office/drawing/2014/main" id="{6B20A3F7-3BE5-70E1-EB6C-20891AF638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690" y="1723814"/>
                    <a:ext cx="256615" cy="95588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6615 w 1366596"/>
                      <a:gd name="T3" fmla="*/ 73863 h 809868"/>
                      <a:gd name="T4" fmla="*/ 162436 w 1366596"/>
                      <a:gd name="T5" fmla="*/ 95588 h 809868"/>
                      <a:gd name="T6" fmla="*/ 864 w 1366596"/>
                      <a:gd name="T7" fmla="*/ 50510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7" name="Freeform 350">
                    <a:extLst>
                      <a:ext uri="{FF2B5EF4-FFF2-40B4-BE49-F238E27FC236}">
                        <a16:creationId xmlns:a16="http://schemas.microsoft.com/office/drawing/2014/main" id="{AE4F804C-C857-C77A-721E-5D2A7A9CF6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7196" y="1726625"/>
                    <a:ext cx="252843" cy="92778"/>
                  </a:xfrm>
                  <a:custGeom>
                    <a:avLst/>
                    <a:gdLst>
                      <a:gd name="T0" fmla="*/ 249391 w 1348191"/>
                      <a:gd name="T1" fmla="*/ 0 h 791462"/>
                      <a:gd name="T2" fmla="*/ 252843 w 1348191"/>
                      <a:gd name="T3" fmla="*/ 44771 h 791462"/>
                      <a:gd name="T4" fmla="*/ 91472 w 1348191"/>
                      <a:gd name="T5" fmla="*/ 92778 h 791462"/>
                      <a:gd name="T6" fmla="*/ 0 w 1348191"/>
                      <a:gd name="T7" fmla="*/ 71741 h 791462"/>
                      <a:gd name="T8" fmla="*/ 249391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118" name="Straight Connector 351">
                    <a:extLst>
                      <a:ext uri="{FF2B5EF4-FFF2-40B4-BE49-F238E27FC236}">
                        <a16:creationId xmlns:a16="http://schemas.microsoft.com/office/drawing/2014/main" id="{4E7196BF-8628-D041-F57B-46590C069536}"/>
                      </a:ext>
                    </a:extLst>
                  </p:cNvPr>
                  <p:cNvCxnSpPr>
                    <a:cxnSpLocks noChangeShapeType="1"/>
                    <a:endCxn id="113" idx="2"/>
                  </p:cNvCxnSpPr>
                  <p:nvPr/>
                </p:nvCxnSpPr>
                <p:spPr bwMode="auto">
                  <a:xfrm flipH="1" flipV="1">
                    <a:off x="2183224" y="1732248"/>
                    <a:ext cx="3775" cy="120892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19" name="Straight Connector 352">
                    <a:extLst>
                      <a:ext uri="{FF2B5EF4-FFF2-40B4-BE49-F238E27FC236}">
                        <a16:creationId xmlns:a16="http://schemas.microsoft.com/office/drawing/2014/main" id="{37DB46A6-5AA3-22A5-8C61-F1B391D6AD7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505" y="1729437"/>
                    <a:ext cx="3773" cy="120890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62" name="Group 20">
                <a:extLst>
                  <a:ext uri="{FF2B5EF4-FFF2-40B4-BE49-F238E27FC236}">
                    <a16:creationId xmlns:a16="http://schemas.microsoft.com/office/drawing/2014/main" id="{9161331E-94EE-B695-7E8C-71F2B21F53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91163" y="3179295"/>
                <a:ext cx="522287" cy="1824505"/>
                <a:chOff x="5491163" y="3179295"/>
                <a:chExt cx="522287" cy="1824505"/>
              </a:xfrm>
            </p:grpSpPr>
            <p:sp>
              <p:nvSpPr>
                <p:cNvPr id="84" name="Rectangle 317">
                  <a:extLst>
                    <a:ext uri="{FF2B5EF4-FFF2-40B4-BE49-F238E27FC236}">
                      <a16:creationId xmlns:a16="http://schemas.microsoft.com/office/drawing/2014/main" id="{4D8E356D-8AF1-C665-67EF-242DBEBF4159}"/>
                    </a:ext>
                  </a:extLst>
                </p:cNvPr>
                <p:cNvSpPr/>
                <p:nvPr/>
              </p:nvSpPr>
              <p:spPr bwMode="auto">
                <a:xfrm rot="10800000">
                  <a:off x="5498044" y="3266845"/>
                  <a:ext cx="498349" cy="325689"/>
                </a:xfrm>
                <a:prstGeom prst="rect">
                  <a:avLst/>
                </a:prstGeom>
                <a:gradFill rotWithShape="1">
                  <a:gsLst>
                    <a:gs pos="100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85" name="Straight Connector 318">
                  <a:extLst>
                    <a:ext uri="{FF2B5EF4-FFF2-40B4-BE49-F238E27FC236}">
                      <a16:creationId xmlns:a16="http://schemas.microsoft.com/office/drawing/2014/main" id="{5142629B-C5B6-C68F-EB18-62D8369A49D7}"/>
                    </a:ext>
                  </a:extLst>
                </p:cNvPr>
                <p:cNvCxnSpPr>
                  <a:stCxn id="93" idx="6"/>
                </p:cNvCxnSpPr>
                <p:nvPr/>
              </p:nvCxnSpPr>
              <p:spPr bwMode="auto">
                <a:xfrm>
                  <a:off x="6004011" y="3267530"/>
                  <a:ext cx="6349" cy="158248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pic>
              <p:nvPicPr>
                <p:cNvPr id="86" name="Picture 469" descr="router_top.png">
                  <a:extLst>
                    <a:ext uri="{FF2B5EF4-FFF2-40B4-BE49-F238E27FC236}">
                      <a16:creationId xmlns:a16="http://schemas.microsoft.com/office/drawing/2014/main" id="{D30CCD74-50C5-0DCE-7DB3-3D4F3D2FCD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91163" y="3206725"/>
                  <a:ext cx="522287" cy="2204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87" name="Group 471">
                  <a:extLst>
                    <a:ext uri="{FF2B5EF4-FFF2-40B4-BE49-F238E27FC236}">
                      <a16:creationId xmlns:a16="http://schemas.microsoft.com/office/drawing/2014/main" id="{871C2EA2-7528-C118-6176-95B7A7CD52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02167" y="4781999"/>
                  <a:ext cx="507858" cy="221801"/>
                  <a:chOff x="4128636" y="3606589"/>
                  <a:chExt cx="568145" cy="338667"/>
                </a:xfrm>
              </p:grpSpPr>
              <p:sp>
                <p:nvSpPr>
                  <p:cNvPr id="100" name="Oval 333">
                    <a:extLst>
                      <a:ext uri="{FF2B5EF4-FFF2-40B4-BE49-F238E27FC236}">
                        <a16:creationId xmlns:a16="http://schemas.microsoft.com/office/drawing/2014/main" id="{B05BD564-2E49-DC84-0EA0-111710398A82}"/>
                      </a:ext>
                    </a:extLst>
                  </p:cNvPr>
                  <p:cNvSpPr/>
                  <p:nvPr/>
                </p:nvSpPr>
                <p:spPr>
                  <a:xfrm>
                    <a:off x="4128900" y="3720139"/>
                    <a:ext cx="568256" cy="225391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 334">
                    <a:extLst>
                      <a:ext uri="{FF2B5EF4-FFF2-40B4-BE49-F238E27FC236}">
                        <a16:creationId xmlns:a16="http://schemas.microsoft.com/office/drawing/2014/main" id="{CF136347-FF1D-DB1A-ED4F-7AA5A3711836}"/>
                      </a:ext>
                    </a:extLst>
                  </p:cNvPr>
                  <p:cNvSpPr/>
                  <p:nvPr/>
                </p:nvSpPr>
                <p:spPr>
                  <a:xfrm>
                    <a:off x="4128900" y="3720139"/>
                    <a:ext cx="568256" cy="111484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" name="Oval 335">
                    <a:extLst>
                      <a:ext uri="{FF2B5EF4-FFF2-40B4-BE49-F238E27FC236}">
                        <a16:creationId xmlns:a16="http://schemas.microsoft.com/office/drawing/2014/main" id="{469AE9AE-CA81-2A51-DEBE-271B799E30B0}"/>
                      </a:ext>
                    </a:extLst>
                  </p:cNvPr>
                  <p:cNvSpPr/>
                  <p:nvPr/>
                </p:nvSpPr>
                <p:spPr>
                  <a:xfrm>
                    <a:off x="4128900" y="3606230"/>
                    <a:ext cx="568256" cy="225392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03" name="Straight Connector 336">
                    <a:extLst>
                      <a:ext uri="{FF2B5EF4-FFF2-40B4-BE49-F238E27FC236}">
                        <a16:creationId xmlns:a16="http://schemas.microsoft.com/office/drawing/2014/main" id="{78B430EE-9B2A-91B2-B527-AD41B36DC753}"/>
                      </a:ext>
                    </a:extLst>
                  </p:cNvPr>
                  <p:cNvCxnSpPr/>
                  <p:nvPr/>
                </p:nvCxnSpPr>
                <p:spPr>
                  <a:xfrm>
                    <a:off x="4697156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4" name="Straight Connector 337">
                    <a:extLst>
                      <a:ext uri="{FF2B5EF4-FFF2-40B4-BE49-F238E27FC236}">
                        <a16:creationId xmlns:a16="http://schemas.microsoft.com/office/drawing/2014/main" id="{40D07836-12A5-DA00-ABF7-C7F00F4E0634}"/>
                      </a:ext>
                    </a:extLst>
                  </p:cNvPr>
                  <p:cNvCxnSpPr/>
                  <p:nvPr/>
                </p:nvCxnSpPr>
                <p:spPr>
                  <a:xfrm>
                    <a:off x="4128900" y="3720139"/>
                    <a:ext cx="0" cy="11148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8" name="Rectangle 321">
                  <a:extLst>
                    <a:ext uri="{FF2B5EF4-FFF2-40B4-BE49-F238E27FC236}">
                      <a16:creationId xmlns:a16="http://schemas.microsoft.com/office/drawing/2014/main" id="{37001716-6217-64B2-01B1-5B59BC600ABB}"/>
                    </a:ext>
                  </a:extLst>
                </p:cNvPr>
                <p:cNvSpPr/>
                <p:nvPr/>
              </p:nvSpPr>
              <p:spPr bwMode="auto">
                <a:xfrm>
                  <a:off x="5507166" y="3694500"/>
                  <a:ext cx="498433" cy="116504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89" name="Straight Connector 322">
                  <a:extLst>
                    <a:ext uri="{FF2B5EF4-FFF2-40B4-BE49-F238E27FC236}">
                      <a16:creationId xmlns:a16="http://schemas.microsoft.com/office/drawing/2014/main" id="{5557F04B-9706-10D7-007B-1ACEF94961F1}"/>
                    </a:ext>
                  </a:extLst>
                </p:cNvPr>
                <p:cNvCxnSpPr>
                  <a:stCxn id="86" idx="1"/>
                </p:cNvCxnSpPr>
                <p:nvPr/>
              </p:nvCxnSpPr>
              <p:spPr bwMode="auto">
                <a:xfrm>
                  <a:off x="5491292" y="3316735"/>
                  <a:ext cx="6349" cy="163327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90" name="Group 485">
                  <a:extLst>
                    <a:ext uri="{FF2B5EF4-FFF2-40B4-BE49-F238E27FC236}">
                      <a16:creationId xmlns:a16="http://schemas.microsoft.com/office/drawing/2014/main" id="{1F0DEDE8-94A6-8C86-9958-36CD7EB4EA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00688" y="3179295"/>
                  <a:ext cx="504825" cy="242888"/>
                  <a:chOff x="2183302" y="1574638"/>
                  <a:chExt cx="1200154" cy="430218"/>
                </a:xfrm>
              </p:grpSpPr>
              <p:sp>
                <p:nvSpPr>
                  <p:cNvPr id="91" name="Oval 324">
                    <a:extLst>
                      <a:ext uri="{FF2B5EF4-FFF2-40B4-BE49-F238E27FC236}">
                        <a16:creationId xmlns:a16="http://schemas.microsoft.com/office/drawing/2014/main" id="{41C0B90B-3DC1-1ED2-8D2F-FBE7A37E5D2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7379" y="1688754"/>
                    <a:ext cx="1196279" cy="314880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" name="Rectangle 325">
                    <a:extLst>
                      <a:ext uri="{FF2B5EF4-FFF2-40B4-BE49-F238E27FC236}">
                        <a16:creationId xmlns:a16="http://schemas.microsoft.com/office/drawing/2014/main" id="{8126F10A-1D04-6E40-498A-2BC6C9B835E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606" y="1733737"/>
                    <a:ext cx="1200052" cy="11245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Oval 326">
                    <a:extLst>
                      <a:ext uri="{FF2B5EF4-FFF2-40B4-BE49-F238E27FC236}">
                        <a16:creationId xmlns:a16="http://schemas.microsoft.com/office/drawing/2014/main" id="{392AAB1E-3A9E-32A7-0094-A155FECE6F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606" y="1573485"/>
                    <a:ext cx="1196277" cy="3148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4" name="Freeform 327">
                    <a:extLst>
                      <a:ext uri="{FF2B5EF4-FFF2-40B4-BE49-F238E27FC236}">
                        <a16:creationId xmlns:a16="http://schemas.microsoft.com/office/drawing/2014/main" id="{DEB7904C-D195-A0CC-1A59-FDBB48D7E7A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9279" y="1669074"/>
                    <a:ext cx="584932" cy="1574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" name="Freeform 328">
                    <a:extLst>
                      <a:ext uri="{FF2B5EF4-FFF2-40B4-BE49-F238E27FC236}">
                        <a16:creationId xmlns:a16="http://schemas.microsoft.com/office/drawing/2014/main" id="{98825496-45CD-E2ED-5B3E-742C6D2914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8899" y="1629714"/>
                    <a:ext cx="705692" cy="109646"/>
                  </a:xfrm>
                  <a:custGeom>
                    <a:avLst/>
                    <a:gdLst>
                      <a:gd name="T0" fmla="*/ 0 w 3723451"/>
                      <a:gd name="T1" fmla="*/ 26825 h 932950"/>
                      <a:gd name="T2" fmla="*/ 124172 w 3723451"/>
                      <a:gd name="T3" fmla="*/ 316 h 932950"/>
                      <a:gd name="T4" fmla="*/ 351719 w 3723451"/>
                      <a:gd name="T5" fmla="*/ 61180 h 932950"/>
                      <a:gd name="T6" fmla="*/ 568801 w 3723451"/>
                      <a:gd name="T7" fmla="*/ 0 h 932950"/>
                      <a:gd name="T8" fmla="*/ 705692 w 3723451"/>
                      <a:gd name="T9" fmla="*/ 24345 h 932950"/>
                      <a:gd name="T10" fmla="*/ 603846 w 3723451"/>
                      <a:gd name="T11" fmla="*/ 54282 h 932950"/>
                      <a:gd name="T12" fmla="*/ 571056 w 3723451"/>
                      <a:gd name="T13" fmla="*/ 46211 h 932950"/>
                      <a:gd name="T14" fmla="*/ 355717 w 3723451"/>
                      <a:gd name="T15" fmla="*/ 109646 h 932950"/>
                      <a:gd name="T16" fmla="*/ 134869 w 3723451"/>
                      <a:gd name="T17" fmla="*/ 48545 h 932950"/>
                      <a:gd name="T18" fmla="*/ 99163 w 3723451"/>
                      <a:gd name="T19" fmla="*/ 55139 h 932950"/>
                      <a:gd name="T20" fmla="*/ 0 w 3723451"/>
                      <a:gd name="T21" fmla="*/ 26825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6" name="Freeform 329">
                    <a:extLst>
                      <a:ext uri="{FF2B5EF4-FFF2-40B4-BE49-F238E27FC236}">
                        <a16:creationId xmlns:a16="http://schemas.microsoft.com/office/drawing/2014/main" id="{D2129834-6793-DB24-8540-B8BD41E520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3071" y="1722492"/>
                    <a:ext cx="256615" cy="95588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6615 w 1366596"/>
                      <a:gd name="T3" fmla="*/ 73863 h 809868"/>
                      <a:gd name="T4" fmla="*/ 162436 w 1366596"/>
                      <a:gd name="T5" fmla="*/ 95588 h 809868"/>
                      <a:gd name="T6" fmla="*/ 864 w 1366596"/>
                      <a:gd name="T7" fmla="*/ 50510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97" name="Freeform 330">
                    <a:extLst>
                      <a:ext uri="{FF2B5EF4-FFF2-40B4-BE49-F238E27FC236}">
                        <a16:creationId xmlns:a16="http://schemas.microsoft.com/office/drawing/2014/main" id="{4AFF143F-BD67-6F55-D3DA-FBD1038A6B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7579" y="1725302"/>
                    <a:ext cx="252840" cy="92778"/>
                  </a:xfrm>
                  <a:custGeom>
                    <a:avLst/>
                    <a:gdLst>
                      <a:gd name="T0" fmla="*/ 249388 w 1348191"/>
                      <a:gd name="T1" fmla="*/ 0 h 791462"/>
                      <a:gd name="T2" fmla="*/ 252840 w 1348191"/>
                      <a:gd name="T3" fmla="*/ 44771 h 791462"/>
                      <a:gd name="T4" fmla="*/ 91471 w 1348191"/>
                      <a:gd name="T5" fmla="*/ 92778 h 791462"/>
                      <a:gd name="T6" fmla="*/ 0 w 1348191"/>
                      <a:gd name="T7" fmla="*/ 71741 h 791462"/>
                      <a:gd name="T8" fmla="*/ 249388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98" name="Straight Connector 331">
                    <a:extLst>
                      <a:ext uri="{FF2B5EF4-FFF2-40B4-BE49-F238E27FC236}">
                        <a16:creationId xmlns:a16="http://schemas.microsoft.com/office/drawing/2014/main" id="{69FFF879-B6E2-4550-15B0-E40484604D6F}"/>
                      </a:ext>
                    </a:extLst>
                  </p:cNvPr>
                  <p:cNvCxnSpPr>
                    <a:cxnSpLocks noChangeShapeType="1"/>
                    <a:endCxn id="93" idx="2"/>
                  </p:cNvCxnSpPr>
                  <p:nvPr/>
                </p:nvCxnSpPr>
                <p:spPr bwMode="auto">
                  <a:xfrm flipH="1" flipV="1">
                    <a:off x="2183606" y="1730925"/>
                    <a:ext cx="3773" cy="120892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9" name="Straight Connector 332">
                    <a:extLst>
                      <a:ext uri="{FF2B5EF4-FFF2-40B4-BE49-F238E27FC236}">
                        <a16:creationId xmlns:a16="http://schemas.microsoft.com/office/drawing/2014/main" id="{58494269-D12A-49DB-0C33-5D9B404B944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83" y="1728114"/>
                    <a:ext cx="3775" cy="120890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63" name="Group 21">
                <a:extLst>
                  <a:ext uri="{FF2B5EF4-FFF2-40B4-BE49-F238E27FC236}">
                    <a16:creationId xmlns:a16="http://schemas.microsoft.com/office/drawing/2014/main" id="{A4BD970E-137F-8047-A9B5-5C3C493460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2366" y="2647932"/>
                <a:ext cx="522159" cy="2354282"/>
                <a:chOff x="6472366" y="2647932"/>
                <a:chExt cx="522159" cy="2354282"/>
              </a:xfrm>
            </p:grpSpPr>
            <p:sp>
              <p:nvSpPr>
                <p:cNvPr id="64" name="Rectangle 297">
                  <a:extLst>
                    <a:ext uri="{FF2B5EF4-FFF2-40B4-BE49-F238E27FC236}">
                      <a16:creationId xmlns:a16="http://schemas.microsoft.com/office/drawing/2014/main" id="{C5D5EAAD-A09E-A119-0FA3-EEF36E821B6A}"/>
                    </a:ext>
                  </a:extLst>
                </p:cNvPr>
                <p:cNvSpPr/>
                <p:nvPr/>
              </p:nvSpPr>
              <p:spPr bwMode="auto">
                <a:xfrm rot="10800000">
                  <a:off x="6482296" y="2777838"/>
                  <a:ext cx="498349" cy="72203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65" name="Straight Connector 298">
                  <a:extLst>
                    <a:ext uri="{FF2B5EF4-FFF2-40B4-BE49-F238E27FC236}">
                      <a16:creationId xmlns:a16="http://schemas.microsoft.com/office/drawing/2014/main" id="{CED61FF1-4E2A-2F6D-74F1-3AE48D98F9AA}"/>
                    </a:ext>
                  </a:extLst>
                </p:cNvPr>
                <p:cNvCxnSpPr/>
                <p:nvPr/>
              </p:nvCxnSpPr>
              <p:spPr bwMode="auto">
                <a:xfrm>
                  <a:off x="6994528" y="2846910"/>
                  <a:ext cx="0" cy="19983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66" name="Group 500">
                  <a:extLst>
                    <a:ext uri="{FF2B5EF4-FFF2-40B4-BE49-F238E27FC236}">
                      <a16:creationId xmlns:a16="http://schemas.microsoft.com/office/drawing/2014/main" id="{DCAE7028-08AB-DE8E-E628-498AC30947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86417" y="4766099"/>
                  <a:ext cx="507858" cy="236115"/>
                  <a:chOff x="4128636" y="3606589"/>
                  <a:chExt cx="568145" cy="338667"/>
                </a:xfrm>
              </p:grpSpPr>
              <p:sp>
                <p:nvSpPr>
                  <p:cNvPr id="79" name="Oval 312">
                    <a:extLst>
                      <a:ext uri="{FF2B5EF4-FFF2-40B4-BE49-F238E27FC236}">
                        <a16:creationId xmlns:a16="http://schemas.microsoft.com/office/drawing/2014/main" id="{C45CCE62-7C8D-CF8A-AF5D-93BC82C3A90A}"/>
                      </a:ext>
                    </a:extLst>
                  </p:cNvPr>
                  <p:cNvSpPr/>
                  <p:nvPr/>
                </p:nvSpPr>
                <p:spPr>
                  <a:xfrm>
                    <a:off x="4128808" y="3720125"/>
                    <a:ext cx="568256" cy="225387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" name="Rectangle 313">
                    <a:extLst>
                      <a:ext uri="{FF2B5EF4-FFF2-40B4-BE49-F238E27FC236}">
                        <a16:creationId xmlns:a16="http://schemas.microsoft.com/office/drawing/2014/main" id="{85E5A332-E674-177D-ABB1-8874B30BE5AA}"/>
                      </a:ext>
                    </a:extLst>
                  </p:cNvPr>
                  <p:cNvSpPr/>
                  <p:nvPr/>
                </p:nvSpPr>
                <p:spPr>
                  <a:xfrm>
                    <a:off x="4128808" y="3720125"/>
                    <a:ext cx="568256" cy="111556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Oval 314">
                    <a:extLst>
                      <a:ext uri="{FF2B5EF4-FFF2-40B4-BE49-F238E27FC236}">
                        <a16:creationId xmlns:a16="http://schemas.microsoft.com/office/drawing/2014/main" id="{FC7441D8-AC37-D2AE-5DCD-8D89CC8B472E}"/>
                      </a:ext>
                    </a:extLst>
                  </p:cNvPr>
                  <p:cNvSpPr/>
                  <p:nvPr/>
                </p:nvSpPr>
                <p:spPr>
                  <a:xfrm>
                    <a:off x="4128808" y="3606294"/>
                    <a:ext cx="568256" cy="225387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82" name="Straight Connector 315">
                    <a:extLst>
                      <a:ext uri="{FF2B5EF4-FFF2-40B4-BE49-F238E27FC236}">
                        <a16:creationId xmlns:a16="http://schemas.microsoft.com/office/drawing/2014/main" id="{92A76BAA-BBC3-6CDE-F4CF-28C0DD83766C}"/>
                      </a:ext>
                    </a:extLst>
                  </p:cNvPr>
                  <p:cNvCxnSpPr/>
                  <p:nvPr/>
                </p:nvCxnSpPr>
                <p:spPr>
                  <a:xfrm>
                    <a:off x="4697064" y="3720125"/>
                    <a:ext cx="0" cy="11155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3" name="Straight Connector 316">
                    <a:extLst>
                      <a:ext uri="{FF2B5EF4-FFF2-40B4-BE49-F238E27FC236}">
                        <a16:creationId xmlns:a16="http://schemas.microsoft.com/office/drawing/2014/main" id="{B6085D62-2EBD-0F24-BA6D-EB8785E9B7B7}"/>
                      </a:ext>
                    </a:extLst>
                  </p:cNvPr>
                  <p:cNvCxnSpPr/>
                  <p:nvPr/>
                </p:nvCxnSpPr>
                <p:spPr>
                  <a:xfrm>
                    <a:off x="4128808" y="3720125"/>
                    <a:ext cx="0" cy="11155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7" name="Rectangle 300">
                  <a:extLst>
                    <a:ext uri="{FF2B5EF4-FFF2-40B4-BE49-F238E27FC236}">
                      <a16:creationId xmlns:a16="http://schemas.microsoft.com/office/drawing/2014/main" id="{4C90FB1F-A21E-8AB3-35FA-3EF3AC8EBC83}"/>
                    </a:ext>
                  </a:extLst>
                </p:cNvPr>
                <p:cNvSpPr/>
                <p:nvPr/>
              </p:nvSpPr>
              <p:spPr bwMode="auto">
                <a:xfrm>
                  <a:off x="6491333" y="3610376"/>
                  <a:ext cx="498433" cy="123805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68" name="Straight Connector 301">
                  <a:extLst>
                    <a:ext uri="{FF2B5EF4-FFF2-40B4-BE49-F238E27FC236}">
                      <a16:creationId xmlns:a16="http://schemas.microsoft.com/office/drawing/2014/main" id="{1F9F9980-79A9-D932-A64D-32A161517DF1}"/>
                    </a:ext>
                  </a:extLst>
                </p:cNvPr>
                <p:cNvCxnSpPr/>
                <p:nvPr/>
              </p:nvCxnSpPr>
              <p:spPr bwMode="auto">
                <a:xfrm>
                  <a:off x="6472285" y="2818340"/>
                  <a:ext cx="9524" cy="212691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69" name="Group 514">
                  <a:extLst>
                    <a:ext uri="{FF2B5EF4-FFF2-40B4-BE49-F238E27FC236}">
                      <a16:creationId xmlns:a16="http://schemas.microsoft.com/office/drawing/2014/main" id="{AA1B52EA-8AB7-0CFA-9CBC-E7161A8986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478146" y="2647932"/>
                  <a:ext cx="504825" cy="242887"/>
                  <a:chOff x="2183302" y="1574638"/>
                  <a:chExt cx="1200154" cy="430218"/>
                </a:xfrm>
              </p:grpSpPr>
              <p:sp>
                <p:nvSpPr>
                  <p:cNvPr id="70" name="Oval 303">
                    <a:extLst>
                      <a:ext uri="{FF2B5EF4-FFF2-40B4-BE49-F238E27FC236}">
                        <a16:creationId xmlns:a16="http://schemas.microsoft.com/office/drawing/2014/main" id="{84124D39-A049-FCC3-9D54-21230713444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237" y="1690921"/>
                    <a:ext cx="1196279" cy="314881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" name="Rectangle 304">
                    <a:extLst>
                      <a:ext uri="{FF2B5EF4-FFF2-40B4-BE49-F238E27FC236}">
                        <a16:creationId xmlns:a16="http://schemas.microsoft.com/office/drawing/2014/main" id="{84F20765-DE5B-6A0F-7DF9-A8F8DBA20A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464" y="1735904"/>
                    <a:ext cx="1200052" cy="11245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" name="Oval 305">
                    <a:extLst>
                      <a:ext uri="{FF2B5EF4-FFF2-40B4-BE49-F238E27FC236}">
                        <a16:creationId xmlns:a16="http://schemas.microsoft.com/office/drawing/2014/main" id="{D2FF8E44-9556-9F69-B477-34FE6B5A84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464" y="1575651"/>
                    <a:ext cx="1196277" cy="314881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73" name="Freeform 306">
                    <a:extLst>
                      <a:ext uri="{FF2B5EF4-FFF2-40B4-BE49-F238E27FC236}">
                        <a16:creationId xmlns:a16="http://schemas.microsoft.com/office/drawing/2014/main" id="{8D27C2C1-74DD-C501-A809-6C81E5E3F60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0137" y="1671240"/>
                    <a:ext cx="584932" cy="1574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" name="Freeform 307">
                    <a:extLst>
                      <a:ext uri="{FF2B5EF4-FFF2-40B4-BE49-F238E27FC236}">
                        <a16:creationId xmlns:a16="http://schemas.microsoft.com/office/drawing/2014/main" id="{3C95EA23-570E-A253-2726-F2506848FC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9757" y="1631880"/>
                    <a:ext cx="705692" cy="109647"/>
                  </a:xfrm>
                  <a:custGeom>
                    <a:avLst/>
                    <a:gdLst>
                      <a:gd name="T0" fmla="*/ 0 w 3723451"/>
                      <a:gd name="T1" fmla="*/ 26825 h 932950"/>
                      <a:gd name="T2" fmla="*/ 124172 w 3723451"/>
                      <a:gd name="T3" fmla="*/ 316 h 932950"/>
                      <a:gd name="T4" fmla="*/ 351719 w 3723451"/>
                      <a:gd name="T5" fmla="*/ 61180 h 932950"/>
                      <a:gd name="T6" fmla="*/ 568801 w 3723451"/>
                      <a:gd name="T7" fmla="*/ 0 h 932950"/>
                      <a:gd name="T8" fmla="*/ 705692 w 3723451"/>
                      <a:gd name="T9" fmla="*/ 24346 h 932950"/>
                      <a:gd name="T10" fmla="*/ 603846 w 3723451"/>
                      <a:gd name="T11" fmla="*/ 54283 h 932950"/>
                      <a:gd name="T12" fmla="*/ 571056 w 3723451"/>
                      <a:gd name="T13" fmla="*/ 46212 h 932950"/>
                      <a:gd name="T14" fmla="*/ 355717 w 3723451"/>
                      <a:gd name="T15" fmla="*/ 109647 h 932950"/>
                      <a:gd name="T16" fmla="*/ 134869 w 3723451"/>
                      <a:gd name="T17" fmla="*/ 48545 h 932950"/>
                      <a:gd name="T18" fmla="*/ 99163 w 3723451"/>
                      <a:gd name="T19" fmla="*/ 55140 h 932950"/>
                      <a:gd name="T20" fmla="*/ 0 w 3723451"/>
                      <a:gd name="T21" fmla="*/ 26825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75" name="Freeform 308">
                    <a:extLst>
                      <a:ext uri="{FF2B5EF4-FFF2-40B4-BE49-F238E27FC236}">
                        <a16:creationId xmlns:a16="http://schemas.microsoft.com/office/drawing/2014/main" id="{0D93AACB-FE4C-8939-CB8B-B29025D79D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3929" y="1724658"/>
                    <a:ext cx="256615" cy="95589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6615 w 1366596"/>
                      <a:gd name="T3" fmla="*/ 73864 h 809868"/>
                      <a:gd name="T4" fmla="*/ 162436 w 1366596"/>
                      <a:gd name="T5" fmla="*/ 95589 h 809868"/>
                      <a:gd name="T6" fmla="*/ 864 w 1366596"/>
                      <a:gd name="T7" fmla="*/ 50510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76" name="Freeform 309">
                    <a:extLst>
                      <a:ext uri="{FF2B5EF4-FFF2-40B4-BE49-F238E27FC236}">
                        <a16:creationId xmlns:a16="http://schemas.microsoft.com/office/drawing/2014/main" id="{39C89380-394A-56CE-ED6E-99AB3DC062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8437" y="1727469"/>
                    <a:ext cx="252840" cy="92778"/>
                  </a:xfrm>
                  <a:custGeom>
                    <a:avLst/>
                    <a:gdLst>
                      <a:gd name="T0" fmla="*/ 249388 w 1348191"/>
                      <a:gd name="T1" fmla="*/ 0 h 791462"/>
                      <a:gd name="T2" fmla="*/ 252840 w 1348191"/>
                      <a:gd name="T3" fmla="*/ 44771 h 791462"/>
                      <a:gd name="T4" fmla="*/ 91471 w 1348191"/>
                      <a:gd name="T5" fmla="*/ 92778 h 791462"/>
                      <a:gd name="T6" fmla="*/ 0 w 1348191"/>
                      <a:gd name="T7" fmla="*/ 71741 h 791462"/>
                      <a:gd name="T8" fmla="*/ 249388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77" name="Straight Connector 310">
                    <a:extLst>
                      <a:ext uri="{FF2B5EF4-FFF2-40B4-BE49-F238E27FC236}">
                        <a16:creationId xmlns:a16="http://schemas.microsoft.com/office/drawing/2014/main" id="{3B1C77A0-A1D6-4863-4146-91B167A9612E}"/>
                      </a:ext>
                    </a:extLst>
                  </p:cNvPr>
                  <p:cNvCxnSpPr>
                    <a:cxnSpLocks noChangeShapeType="1"/>
                    <a:endCxn id="72" idx="2"/>
                  </p:cNvCxnSpPr>
                  <p:nvPr/>
                </p:nvCxnSpPr>
                <p:spPr bwMode="auto">
                  <a:xfrm flipH="1" flipV="1">
                    <a:off x="2184464" y="1733091"/>
                    <a:ext cx="3773" cy="1208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8" name="Straight Connector 311">
                    <a:extLst>
                      <a:ext uri="{FF2B5EF4-FFF2-40B4-BE49-F238E27FC236}">
                        <a16:creationId xmlns:a16="http://schemas.microsoft.com/office/drawing/2014/main" id="{7F51D6F7-FD20-9BE0-4F15-C38EF43263C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80741" y="1730281"/>
                    <a:ext cx="3775" cy="120891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</p:grpSp>
        <p:grpSp>
          <p:nvGrpSpPr>
            <p:cNvPr id="166" name="Group 399">
              <a:extLst>
                <a:ext uri="{FF2B5EF4-FFF2-40B4-BE49-F238E27FC236}">
                  <a16:creationId xmlns:a16="http://schemas.microsoft.com/office/drawing/2014/main" id="{09E664D7-AF22-E02C-8273-17FF89FA18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5780" y="2679699"/>
              <a:ext cx="5111750" cy="879475"/>
              <a:chOff x="1866825" y="707349"/>
              <a:chExt cx="5112820" cy="879389"/>
            </a:xfrm>
          </p:grpSpPr>
          <p:sp>
            <p:nvSpPr>
              <p:cNvPr id="167" name="Oval 400">
                <a:extLst>
                  <a:ext uri="{FF2B5EF4-FFF2-40B4-BE49-F238E27FC236}">
                    <a16:creationId xmlns:a16="http://schemas.microsoft.com/office/drawing/2014/main" id="{9DC765F0-4DE9-45A3-2FD1-24EF8F499B0F}"/>
                  </a:ext>
                </a:extLst>
              </p:cNvPr>
              <p:cNvSpPr/>
              <p:nvPr/>
            </p:nvSpPr>
            <p:spPr>
              <a:xfrm>
                <a:off x="1866825" y="785129"/>
                <a:ext cx="954288" cy="492077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68" name="TextBox 233">
                <a:extLst>
                  <a:ext uri="{FF2B5EF4-FFF2-40B4-BE49-F238E27FC236}">
                    <a16:creationId xmlns:a16="http://schemas.microsoft.com/office/drawing/2014/main" id="{7D1A0FA7-B7C1-04A9-E80F-FD16153F7D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1781" y="783191"/>
                <a:ext cx="910613" cy="476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Routing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Algorithm</a:t>
                </a:r>
              </a:p>
            </p:txBody>
          </p:sp>
          <p:cxnSp>
            <p:nvCxnSpPr>
              <p:cNvPr id="169" name="Straight Arrow Connector 402">
                <a:extLst>
                  <a:ext uri="{FF2B5EF4-FFF2-40B4-BE49-F238E27FC236}">
                    <a16:creationId xmlns:a16="http://schemas.microsoft.com/office/drawing/2014/main" id="{7E7BE3B9-31CE-C858-4576-604CD66A2F82}"/>
                  </a:ext>
                </a:extLst>
              </p:cNvPr>
              <p:cNvCxnSpPr/>
              <p:nvPr/>
            </p:nvCxnSpPr>
            <p:spPr>
              <a:xfrm flipV="1">
                <a:off x="2833815" y="807352"/>
                <a:ext cx="1517968" cy="214291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70" name="Straight Arrow Connector 403">
                <a:extLst>
                  <a:ext uri="{FF2B5EF4-FFF2-40B4-BE49-F238E27FC236}">
                    <a16:creationId xmlns:a16="http://schemas.microsoft.com/office/drawing/2014/main" id="{326DEF53-3D52-AC7A-623F-00A2BE66C8E4}"/>
                  </a:ext>
                </a:extLst>
              </p:cNvPr>
              <p:cNvCxnSpPr/>
              <p:nvPr/>
            </p:nvCxnSpPr>
            <p:spPr>
              <a:xfrm>
                <a:off x="2751248" y="1201014"/>
                <a:ext cx="797092" cy="279373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71" name="Straight Arrow Connector 404">
                <a:extLst>
                  <a:ext uri="{FF2B5EF4-FFF2-40B4-BE49-F238E27FC236}">
                    <a16:creationId xmlns:a16="http://schemas.microsoft.com/office/drawing/2014/main" id="{9F043D76-104D-639E-7B74-0BE69BFAE33C}"/>
                  </a:ext>
                </a:extLst>
              </p:cNvPr>
              <p:cNvCxnSpPr/>
              <p:nvPr/>
            </p:nvCxnSpPr>
            <p:spPr>
              <a:xfrm>
                <a:off x="4685228" y="894656"/>
                <a:ext cx="892362" cy="509538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72" name="Straight Arrow Connector 405">
                <a:extLst>
                  <a:ext uri="{FF2B5EF4-FFF2-40B4-BE49-F238E27FC236}">
                    <a16:creationId xmlns:a16="http://schemas.microsoft.com/office/drawing/2014/main" id="{D615FCCE-60DB-01AF-E163-078D3007FB70}"/>
                  </a:ext>
                </a:extLst>
              </p:cNvPr>
              <p:cNvCxnSpPr/>
              <p:nvPr/>
            </p:nvCxnSpPr>
            <p:spPr>
              <a:xfrm>
                <a:off x="4801139" y="801003"/>
                <a:ext cx="1695805" cy="130162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sp>
            <p:nvSpPr>
              <p:cNvPr id="173" name="Oval 406">
                <a:extLst>
                  <a:ext uri="{FF2B5EF4-FFF2-40B4-BE49-F238E27FC236}">
                    <a16:creationId xmlns:a16="http://schemas.microsoft.com/office/drawing/2014/main" id="{97E6F997-BE34-0976-B43B-7975D98733C7}"/>
                  </a:ext>
                </a:extLst>
              </p:cNvPr>
              <p:cNvSpPr/>
              <p:nvPr/>
            </p:nvSpPr>
            <p:spPr>
              <a:xfrm>
                <a:off x="6558870" y="894656"/>
                <a:ext cx="420775" cy="180957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74" name="Oval 407">
                <a:extLst>
                  <a:ext uri="{FF2B5EF4-FFF2-40B4-BE49-F238E27FC236}">
                    <a16:creationId xmlns:a16="http://schemas.microsoft.com/office/drawing/2014/main" id="{FDEB3DCB-19B7-8604-5DDF-D05E3F821278}"/>
                  </a:ext>
                </a:extLst>
              </p:cNvPr>
              <p:cNvSpPr/>
              <p:nvPr/>
            </p:nvSpPr>
            <p:spPr>
              <a:xfrm>
                <a:off x="5572826" y="1404194"/>
                <a:ext cx="420776" cy="182544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75" name="Oval 408">
                <a:extLst>
                  <a:ext uri="{FF2B5EF4-FFF2-40B4-BE49-F238E27FC236}">
                    <a16:creationId xmlns:a16="http://schemas.microsoft.com/office/drawing/2014/main" id="{B3C7691A-2581-5657-2F37-8C912433BA9E}"/>
                  </a:ext>
                </a:extLst>
              </p:cNvPr>
              <p:cNvSpPr/>
              <p:nvPr/>
            </p:nvSpPr>
            <p:spPr>
              <a:xfrm>
                <a:off x="4367661" y="707349"/>
                <a:ext cx="420775" cy="182545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76" name="Oval 409">
                <a:extLst>
                  <a:ext uri="{FF2B5EF4-FFF2-40B4-BE49-F238E27FC236}">
                    <a16:creationId xmlns:a16="http://schemas.microsoft.com/office/drawing/2014/main" id="{196260B8-24CA-9C68-B46A-A310B17EB537}"/>
                  </a:ext>
                </a:extLst>
              </p:cNvPr>
              <p:cNvSpPr/>
              <p:nvPr/>
            </p:nvSpPr>
            <p:spPr>
              <a:xfrm>
                <a:off x="3572157" y="1402606"/>
                <a:ext cx="420776" cy="180957"/>
              </a:xfrm>
              <a:prstGeom prst="ellipse">
                <a:avLst/>
              </a:prstGeom>
              <a:solidFill>
                <a:srgbClr val="CC0000">
                  <a:alpha val="28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77" name="Straight Arrow Connector 410">
                <a:extLst>
                  <a:ext uri="{FF2B5EF4-FFF2-40B4-BE49-F238E27FC236}">
                    <a16:creationId xmlns:a16="http://schemas.microsoft.com/office/drawing/2014/main" id="{B70F1302-5ABA-D58D-D627-FD18B14090EA}"/>
                  </a:ext>
                </a:extLst>
              </p:cNvPr>
              <p:cNvCxnSpPr/>
              <p:nvPr/>
            </p:nvCxnSpPr>
            <p:spPr>
              <a:xfrm>
                <a:off x="2821113" y="1105773"/>
                <a:ext cx="2739010" cy="339692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78" name="Straight Arrow Connector 411">
                <a:extLst>
                  <a:ext uri="{FF2B5EF4-FFF2-40B4-BE49-F238E27FC236}">
                    <a16:creationId xmlns:a16="http://schemas.microsoft.com/office/drawing/2014/main" id="{3B1F65F7-6C5D-E4BE-90A9-350C6423610A}"/>
                  </a:ext>
                </a:extLst>
              </p:cNvPr>
              <p:cNvCxnSpPr>
                <a:endCxn id="173" idx="2"/>
              </p:cNvCxnSpPr>
              <p:nvPr/>
            </p:nvCxnSpPr>
            <p:spPr>
              <a:xfrm flipV="1">
                <a:off x="3997696" y="985135"/>
                <a:ext cx="2561174" cy="469854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79" name="Straight Arrow Connector 412">
                <a:extLst>
                  <a:ext uri="{FF2B5EF4-FFF2-40B4-BE49-F238E27FC236}">
                    <a16:creationId xmlns:a16="http://schemas.microsoft.com/office/drawing/2014/main" id="{4BE9FBA6-E2A4-D8B9-D2D1-C4CDFDEB4AD7}"/>
                  </a:ext>
                </a:extLst>
              </p:cNvPr>
              <p:cNvCxnSpPr/>
              <p:nvPr/>
            </p:nvCxnSpPr>
            <p:spPr>
              <a:xfrm flipV="1">
                <a:off x="3991345" y="1508959"/>
                <a:ext cx="1581481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180" name="Straight Arrow Connector 413">
                <a:extLst>
                  <a:ext uri="{FF2B5EF4-FFF2-40B4-BE49-F238E27FC236}">
                    <a16:creationId xmlns:a16="http://schemas.microsoft.com/office/drawing/2014/main" id="{18F823B7-363B-5920-E243-49FE4FA9D453}"/>
                  </a:ext>
                </a:extLst>
              </p:cNvPr>
              <p:cNvCxnSpPr/>
              <p:nvPr/>
            </p:nvCxnSpPr>
            <p:spPr>
              <a:xfrm flipV="1">
                <a:off x="5996777" y="1083550"/>
                <a:ext cx="751044" cy="396836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181" name="Group 414">
              <a:extLst>
                <a:ext uri="{FF2B5EF4-FFF2-40B4-BE49-F238E27FC236}">
                  <a16:creationId xmlns:a16="http://schemas.microsoft.com/office/drawing/2014/main" id="{251B3962-1673-D90B-4BDF-1D03D1897C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4318" y="3068637"/>
              <a:ext cx="6375400" cy="1047750"/>
              <a:chOff x="1557338" y="3074988"/>
              <a:chExt cx="6375400" cy="1047750"/>
            </a:xfrm>
          </p:grpSpPr>
          <p:sp>
            <p:nvSpPr>
              <p:cNvPr id="182" name="TextBox 232">
                <a:extLst>
                  <a:ext uri="{FF2B5EF4-FFF2-40B4-BE49-F238E27FC236}">
                    <a16:creationId xmlns:a16="http://schemas.microsoft.com/office/drawing/2014/main" id="{400D7886-14A6-BA85-958B-E2814E77A9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92975" y="3651250"/>
                <a:ext cx="595313" cy="471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sp>
            <p:nvSpPr>
              <p:cNvPr id="183" name="TextBox 233">
                <a:extLst>
                  <a:ext uri="{FF2B5EF4-FFF2-40B4-BE49-F238E27FC236}">
                    <a16:creationId xmlns:a16="http://schemas.microsoft.com/office/drawing/2014/main" id="{0A1BB657-5F47-3034-C93C-7C34B7BF03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4713" y="3074988"/>
                <a:ext cx="708025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control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cxnSp>
            <p:nvCxnSpPr>
              <p:cNvPr id="184" name="Straight Connector 417">
                <a:extLst>
                  <a:ext uri="{FF2B5EF4-FFF2-40B4-BE49-F238E27FC236}">
                    <a16:creationId xmlns:a16="http://schemas.microsoft.com/office/drawing/2014/main" id="{87E0F18D-4825-7476-C45F-60E56E1151EE}"/>
                  </a:ext>
                </a:extLst>
              </p:cNvPr>
              <p:cNvCxnSpPr/>
              <p:nvPr/>
            </p:nvCxnSpPr>
            <p:spPr>
              <a:xfrm>
                <a:off x="1557338" y="3613150"/>
                <a:ext cx="6207125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</p:grpSp>
        <p:grpSp>
          <p:nvGrpSpPr>
            <p:cNvPr id="185" name="Group 418">
              <a:extLst>
                <a:ext uri="{FF2B5EF4-FFF2-40B4-BE49-F238E27FC236}">
                  <a16:creationId xmlns:a16="http://schemas.microsoft.com/office/drawing/2014/main" id="{978B02E3-C4CA-0A65-CF91-EC77D86442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5780" y="3695699"/>
              <a:ext cx="5126038" cy="1120775"/>
              <a:chOff x="-4746102" y="4471477"/>
              <a:chExt cx="5126173" cy="1120753"/>
            </a:xfrm>
          </p:grpSpPr>
          <p:pic>
            <p:nvPicPr>
              <p:cNvPr id="186" name="Picture 10" descr="fig42_table.pdf">
                <a:extLst>
                  <a:ext uri="{FF2B5EF4-FFF2-40B4-BE49-F238E27FC236}">
                    <a16:creationId xmlns:a16="http://schemas.microsoft.com/office/drawing/2014/main" id="{423621A8-61ED-8006-CF28-05B1312FF1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746102" y="4471477"/>
                <a:ext cx="966463" cy="966962"/>
              </a:xfrm>
              <a:prstGeom prst="rect">
                <a:avLst/>
              </a:prstGeom>
              <a:noFill/>
              <a:ln w="9525">
                <a:solidFill>
                  <a:srgbClr val="CC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87" name="Group 25">
                <a:extLst>
                  <a:ext uri="{FF2B5EF4-FFF2-40B4-BE49-F238E27FC236}">
                    <a16:creationId xmlns:a16="http://schemas.microsoft.com/office/drawing/2014/main" id="{FEB472FD-A8AD-1B09-DA68-B76467A5E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025264" y="5228984"/>
                <a:ext cx="3405335" cy="363246"/>
                <a:chOff x="-3025264" y="5228984"/>
                <a:chExt cx="3405335" cy="363246"/>
              </a:xfrm>
            </p:grpSpPr>
            <p:grpSp>
              <p:nvGrpSpPr>
                <p:cNvPr id="188" name="Group 241">
                  <a:extLst>
                    <a:ext uri="{FF2B5EF4-FFF2-40B4-BE49-F238E27FC236}">
                      <a16:creationId xmlns:a16="http://schemas.microsoft.com/office/drawing/2014/main" id="{FA1AC58B-8739-113B-BB2C-EFDBDA0D2A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3025264" y="5262858"/>
                  <a:ext cx="430360" cy="329372"/>
                  <a:chOff x="2931664" y="3912603"/>
                  <a:chExt cx="430450" cy="329314"/>
                </a:xfrm>
              </p:grpSpPr>
              <p:sp>
                <p:nvSpPr>
                  <p:cNvPr id="204" name="Rectangle 437">
                    <a:extLst>
                      <a:ext uri="{FF2B5EF4-FFF2-40B4-BE49-F238E27FC236}">
                        <a16:creationId xmlns:a16="http://schemas.microsoft.com/office/drawing/2014/main" id="{F4B36941-191B-302A-77CE-436F67E6B866}"/>
                      </a:ext>
                    </a:extLst>
                  </p:cNvPr>
                  <p:cNvSpPr/>
                  <p:nvPr/>
                </p:nvSpPr>
                <p:spPr>
                  <a:xfrm>
                    <a:off x="2936485" y="3908607"/>
                    <a:ext cx="425550" cy="333310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05" name="Straight Connector 438">
                    <a:extLst>
                      <a:ext uri="{FF2B5EF4-FFF2-40B4-BE49-F238E27FC236}">
                        <a16:creationId xmlns:a16="http://schemas.microsoft.com/office/drawing/2014/main" id="{A469138D-5D22-C4B5-65A9-04BACEE41B2F}"/>
                      </a:ext>
                    </a:extLst>
                  </p:cNvPr>
                  <p:cNvCxnSpPr/>
                  <p:nvPr/>
                </p:nvCxnSpPr>
                <p:spPr>
                  <a:xfrm>
                    <a:off x="2931721" y="4003838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Straight Connector 439">
                    <a:extLst>
                      <a:ext uri="{FF2B5EF4-FFF2-40B4-BE49-F238E27FC236}">
                        <a16:creationId xmlns:a16="http://schemas.microsoft.com/office/drawing/2014/main" id="{3CBAE281-02D2-281E-6DB6-1A08F5B83615}"/>
                      </a:ext>
                    </a:extLst>
                  </p:cNvPr>
                  <p:cNvCxnSpPr/>
                  <p:nvPr/>
                </p:nvCxnSpPr>
                <p:spPr>
                  <a:xfrm>
                    <a:off x="2931721" y="4067326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Straight Connector 440">
                    <a:extLst>
                      <a:ext uri="{FF2B5EF4-FFF2-40B4-BE49-F238E27FC236}">
                        <a16:creationId xmlns:a16="http://schemas.microsoft.com/office/drawing/2014/main" id="{DF91840F-8E58-3F0E-51F6-FC73D97824E7}"/>
                      </a:ext>
                    </a:extLst>
                  </p:cNvPr>
                  <p:cNvCxnSpPr>
                    <a:stCxn id="204" idx="2"/>
                  </p:cNvCxnSpPr>
                  <p:nvPr/>
                </p:nvCxnSpPr>
                <p:spPr>
                  <a:xfrm flipH="1" flipV="1">
                    <a:off x="3147672" y="4003838"/>
                    <a:ext cx="1588" cy="238079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189" name="Group 444">
                  <a:extLst>
                    <a:ext uri="{FF2B5EF4-FFF2-40B4-BE49-F238E27FC236}">
                      <a16:creationId xmlns:a16="http://schemas.microsoft.com/office/drawing/2014/main" id="{4186625E-BFBD-705B-2054-E1EF1FDFB6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2217227" y="5261364"/>
                  <a:ext cx="430361" cy="329307"/>
                  <a:chOff x="2931664" y="3912603"/>
                  <a:chExt cx="430450" cy="329314"/>
                </a:xfrm>
              </p:grpSpPr>
              <p:sp>
                <p:nvSpPr>
                  <p:cNvPr id="200" name="Rectangle 433">
                    <a:extLst>
                      <a:ext uri="{FF2B5EF4-FFF2-40B4-BE49-F238E27FC236}">
                        <a16:creationId xmlns:a16="http://schemas.microsoft.com/office/drawing/2014/main" id="{9152DE04-ADE5-2314-E291-700D43F5D538}"/>
                      </a:ext>
                    </a:extLst>
                  </p:cNvPr>
                  <p:cNvSpPr/>
                  <p:nvPr/>
                </p:nvSpPr>
                <p:spPr>
                  <a:xfrm>
                    <a:off x="2936506" y="3908513"/>
                    <a:ext cx="425549" cy="333376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01" name="Straight Connector 434">
                    <a:extLst>
                      <a:ext uri="{FF2B5EF4-FFF2-40B4-BE49-F238E27FC236}">
                        <a16:creationId xmlns:a16="http://schemas.microsoft.com/office/drawing/2014/main" id="{03AB589E-9494-26F4-F928-881D7731A700}"/>
                      </a:ext>
                    </a:extLst>
                  </p:cNvPr>
                  <p:cNvCxnSpPr/>
                  <p:nvPr/>
                </p:nvCxnSpPr>
                <p:spPr>
                  <a:xfrm>
                    <a:off x="2931743" y="4003763"/>
                    <a:ext cx="425549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2" name="Straight Connector 435">
                    <a:extLst>
                      <a:ext uri="{FF2B5EF4-FFF2-40B4-BE49-F238E27FC236}">
                        <a16:creationId xmlns:a16="http://schemas.microsoft.com/office/drawing/2014/main" id="{4AC3245A-62A0-C0B4-0F26-E4A3EA7431B9}"/>
                      </a:ext>
                    </a:extLst>
                  </p:cNvPr>
                  <p:cNvCxnSpPr/>
                  <p:nvPr/>
                </p:nvCxnSpPr>
                <p:spPr>
                  <a:xfrm>
                    <a:off x="2931743" y="4067263"/>
                    <a:ext cx="425549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3" name="Straight Connector 436">
                    <a:extLst>
                      <a:ext uri="{FF2B5EF4-FFF2-40B4-BE49-F238E27FC236}">
                        <a16:creationId xmlns:a16="http://schemas.microsoft.com/office/drawing/2014/main" id="{2124116C-D10E-1D11-AE95-E73045288F2A}"/>
                      </a:ext>
                    </a:extLst>
                  </p:cNvPr>
                  <p:cNvCxnSpPr>
                    <a:stCxn id="200" idx="2"/>
                  </p:cNvCxnSpPr>
                  <p:nvPr/>
                </p:nvCxnSpPr>
                <p:spPr>
                  <a:xfrm flipH="1" flipV="1">
                    <a:off x="3147693" y="4003763"/>
                    <a:ext cx="1587" cy="238126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190" name="Group 473">
                  <a:extLst>
                    <a:ext uri="{FF2B5EF4-FFF2-40B4-BE49-F238E27FC236}">
                      <a16:creationId xmlns:a16="http://schemas.microsoft.com/office/drawing/2014/main" id="{C01DF501-2A01-C68F-6D03-FD95C9BE1B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034539" y="5261364"/>
                  <a:ext cx="430360" cy="329307"/>
                  <a:chOff x="2931664" y="3912603"/>
                  <a:chExt cx="430450" cy="329314"/>
                </a:xfrm>
              </p:grpSpPr>
              <p:sp>
                <p:nvSpPr>
                  <p:cNvPr id="196" name="Rectangle 429">
                    <a:extLst>
                      <a:ext uri="{FF2B5EF4-FFF2-40B4-BE49-F238E27FC236}">
                        <a16:creationId xmlns:a16="http://schemas.microsoft.com/office/drawing/2014/main" id="{2F2E759E-7E9F-573F-8933-CEA4BF80599F}"/>
                      </a:ext>
                    </a:extLst>
                  </p:cNvPr>
                  <p:cNvSpPr/>
                  <p:nvPr/>
                </p:nvSpPr>
                <p:spPr>
                  <a:xfrm>
                    <a:off x="2936538" y="3908513"/>
                    <a:ext cx="425550" cy="333376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97" name="Straight Connector 430">
                    <a:extLst>
                      <a:ext uri="{FF2B5EF4-FFF2-40B4-BE49-F238E27FC236}">
                        <a16:creationId xmlns:a16="http://schemas.microsoft.com/office/drawing/2014/main" id="{D08F833B-F047-96B2-173C-B3DEEBD8E388}"/>
                      </a:ext>
                    </a:extLst>
                  </p:cNvPr>
                  <p:cNvCxnSpPr/>
                  <p:nvPr/>
                </p:nvCxnSpPr>
                <p:spPr>
                  <a:xfrm>
                    <a:off x="2931774" y="4003763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Straight Connector 431">
                    <a:extLst>
                      <a:ext uri="{FF2B5EF4-FFF2-40B4-BE49-F238E27FC236}">
                        <a16:creationId xmlns:a16="http://schemas.microsoft.com/office/drawing/2014/main" id="{32F2DC0E-B7F6-0774-D5EE-3053F67BDBD1}"/>
                      </a:ext>
                    </a:extLst>
                  </p:cNvPr>
                  <p:cNvCxnSpPr/>
                  <p:nvPr/>
                </p:nvCxnSpPr>
                <p:spPr>
                  <a:xfrm>
                    <a:off x="2931774" y="4067263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Straight Connector 432">
                    <a:extLst>
                      <a:ext uri="{FF2B5EF4-FFF2-40B4-BE49-F238E27FC236}">
                        <a16:creationId xmlns:a16="http://schemas.microsoft.com/office/drawing/2014/main" id="{55429F4B-156E-A971-9B0A-11F3076A481F}"/>
                      </a:ext>
                    </a:extLst>
                  </p:cNvPr>
                  <p:cNvCxnSpPr>
                    <a:stCxn id="196" idx="2"/>
                  </p:cNvCxnSpPr>
                  <p:nvPr/>
                </p:nvCxnSpPr>
                <p:spPr>
                  <a:xfrm flipH="1" flipV="1">
                    <a:off x="3147725" y="4003763"/>
                    <a:ext cx="1588" cy="238126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grpSp>
              <p:nvGrpSpPr>
                <p:cNvPr id="191" name="Group 502">
                  <a:extLst>
                    <a:ext uri="{FF2B5EF4-FFF2-40B4-BE49-F238E27FC236}">
                      <a16:creationId xmlns:a16="http://schemas.microsoft.com/office/drawing/2014/main" id="{BB10C232-9A59-B66F-F7AD-EC7E7E4E40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50289" y="5228984"/>
                  <a:ext cx="430360" cy="350559"/>
                  <a:chOff x="2931664" y="3912603"/>
                  <a:chExt cx="430450" cy="329314"/>
                </a:xfrm>
              </p:grpSpPr>
              <p:sp>
                <p:nvSpPr>
                  <p:cNvPr id="192" name="Rectangle 425">
                    <a:extLst>
                      <a:ext uri="{FF2B5EF4-FFF2-40B4-BE49-F238E27FC236}">
                        <a16:creationId xmlns:a16="http://schemas.microsoft.com/office/drawing/2014/main" id="{9F368664-0287-9A08-EF9C-FD6D5CE0825B}"/>
                      </a:ext>
                    </a:extLst>
                  </p:cNvPr>
                  <p:cNvSpPr/>
                  <p:nvPr/>
                </p:nvSpPr>
                <p:spPr>
                  <a:xfrm>
                    <a:off x="2936564" y="3912336"/>
                    <a:ext cx="425550" cy="329569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93" name="Straight Connector 426">
                    <a:extLst>
                      <a:ext uri="{FF2B5EF4-FFF2-40B4-BE49-F238E27FC236}">
                        <a16:creationId xmlns:a16="http://schemas.microsoft.com/office/drawing/2014/main" id="{35F319F4-88DD-C442-84D3-81BCD2CBA9AA}"/>
                      </a:ext>
                    </a:extLst>
                  </p:cNvPr>
                  <p:cNvCxnSpPr/>
                  <p:nvPr/>
                </p:nvCxnSpPr>
                <p:spPr>
                  <a:xfrm>
                    <a:off x="2931800" y="4003303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4" name="Straight Connector 427">
                    <a:extLst>
                      <a:ext uri="{FF2B5EF4-FFF2-40B4-BE49-F238E27FC236}">
                        <a16:creationId xmlns:a16="http://schemas.microsoft.com/office/drawing/2014/main" id="{70D11227-E333-6E26-DB3E-2BE76FD9D3CC}"/>
                      </a:ext>
                    </a:extLst>
                  </p:cNvPr>
                  <p:cNvCxnSpPr/>
                  <p:nvPr/>
                </p:nvCxnSpPr>
                <p:spPr>
                  <a:xfrm>
                    <a:off x="2931800" y="4067428"/>
                    <a:ext cx="425550" cy="0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5" name="Straight Connector 428">
                    <a:extLst>
                      <a:ext uri="{FF2B5EF4-FFF2-40B4-BE49-F238E27FC236}">
                        <a16:creationId xmlns:a16="http://schemas.microsoft.com/office/drawing/2014/main" id="{49E8EC81-864D-EA66-A062-A1649024BD10}"/>
                      </a:ext>
                    </a:extLst>
                  </p:cNvPr>
                  <p:cNvCxnSpPr>
                    <a:stCxn id="192" idx="2"/>
                  </p:cNvCxnSpPr>
                  <p:nvPr/>
                </p:nvCxnSpPr>
                <p:spPr>
                  <a:xfrm flipH="1" flipV="1">
                    <a:off x="3147751" y="4003303"/>
                    <a:ext cx="1588" cy="238602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</p:grpSp>
        </p:grpSp>
        <p:grpSp>
          <p:nvGrpSpPr>
            <p:cNvPr id="208" name="Group 441">
              <a:extLst>
                <a:ext uri="{FF2B5EF4-FFF2-40B4-BE49-F238E27FC236}">
                  <a16:creationId xmlns:a16="http://schemas.microsoft.com/office/drawing/2014/main" id="{6DA4C601-5413-8B6F-34FD-7F5DD85E0F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9805" y="2876549"/>
              <a:ext cx="4437063" cy="1577975"/>
              <a:chOff x="-4267279" y="3655204"/>
              <a:chExt cx="4437063" cy="1578510"/>
            </a:xfrm>
          </p:grpSpPr>
          <p:cxnSp>
            <p:nvCxnSpPr>
              <p:cNvPr id="209" name="Straight Arrow Connector 442">
                <a:extLst>
                  <a:ext uri="{FF2B5EF4-FFF2-40B4-BE49-F238E27FC236}">
                    <a16:creationId xmlns:a16="http://schemas.microsoft.com/office/drawing/2014/main" id="{241AC27C-B0C4-2A84-E0B8-605040132544}"/>
                  </a:ext>
                </a:extLst>
              </p:cNvPr>
              <p:cNvCxnSpPr/>
              <p:nvPr/>
            </p:nvCxnSpPr>
            <p:spPr bwMode="auto">
              <a:xfrm>
                <a:off x="-4267279" y="4047450"/>
                <a:ext cx="0" cy="422418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210" name="Straight Arrow Connector 443">
                <a:extLst>
                  <a:ext uri="{FF2B5EF4-FFF2-40B4-BE49-F238E27FC236}">
                    <a16:creationId xmlns:a16="http://schemas.microsoft.com/office/drawing/2014/main" id="{3EFF14E6-6C22-B8F7-17F5-68958593BE7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-2808366" y="4361882"/>
                <a:ext cx="0" cy="87183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1" name="Straight Arrow Connector 444">
                <a:extLst>
                  <a:ext uri="{FF2B5EF4-FFF2-40B4-BE49-F238E27FC236}">
                    <a16:creationId xmlns:a16="http://schemas.microsoft.com/office/drawing/2014/main" id="{D2218B94-384F-2A21-E1AE-61A3035369C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2006679" y="3655204"/>
                <a:ext cx="6350" cy="157692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" name="Straight Arrow Connector 445">
                <a:extLst>
                  <a:ext uri="{FF2B5EF4-FFF2-40B4-BE49-F238E27FC236}">
                    <a16:creationId xmlns:a16="http://schemas.microsoft.com/office/drawing/2014/main" id="{2FC739C4-C696-B49E-808C-93E689C2EA6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823991" y="4326945"/>
                <a:ext cx="6350" cy="90518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3" name="Straight Arrow Connector 446">
                <a:extLst>
                  <a:ext uri="{FF2B5EF4-FFF2-40B4-BE49-F238E27FC236}">
                    <a16:creationId xmlns:a16="http://schemas.microsoft.com/office/drawing/2014/main" id="{38168A9A-A7A6-5271-7F8E-B38E7A82EA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66609" y="3798127"/>
                <a:ext cx="3175" cy="1399062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14" name="Straight Connector 447">
              <a:extLst>
                <a:ext uri="{FF2B5EF4-FFF2-40B4-BE49-F238E27FC236}">
                  <a16:creationId xmlns:a16="http://schemas.microsoft.com/office/drawing/2014/main" id="{1DA664C5-B2DD-0A7C-23EB-F7081546D34B}"/>
                </a:ext>
              </a:extLst>
            </p:cNvPr>
            <p:cNvCxnSpPr/>
            <p:nvPr/>
          </p:nvCxnSpPr>
          <p:spPr>
            <a:xfrm flipH="1">
              <a:off x="3299680" y="5795962"/>
              <a:ext cx="1508125" cy="1587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215" name="TextBox 265">
              <a:extLst>
                <a:ext uri="{FF2B5EF4-FFF2-40B4-BE49-F238E27FC236}">
                  <a16:creationId xmlns:a16="http://schemas.microsoft.com/office/drawing/2014/main" id="{A184FDAE-2547-014C-B47B-FA4E9940D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5793" y="5467349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216" name="TextBox 281">
              <a:extLst>
                <a:ext uri="{FF2B5EF4-FFF2-40B4-BE49-F238E27FC236}">
                  <a16:creationId xmlns:a16="http://schemas.microsoft.com/office/drawing/2014/main" id="{578E020C-DBAD-898C-23A8-B5C245456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0418" y="5754687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grpSp>
          <p:nvGrpSpPr>
            <p:cNvPr id="217" name="Group 5">
              <a:extLst>
                <a:ext uri="{FF2B5EF4-FFF2-40B4-BE49-F238E27FC236}">
                  <a16:creationId xmlns:a16="http://schemas.microsoft.com/office/drawing/2014/main" id="{5624804F-0A0D-60B6-70A3-A2673BABC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5193" y="5230812"/>
              <a:ext cx="1616075" cy="487362"/>
              <a:chOff x="-4079003" y="2717403"/>
              <a:chExt cx="1616718" cy="488475"/>
            </a:xfrm>
          </p:grpSpPr>
          <p:sp>
            <p:nvSpPr>
              <p:cNvPr id="218" name="Rectangle 98">
                <a:extLst>
                  <a:ext uri="{FF2B5EF4-FFF2-40B4-BE49-F238E27FC236}">
                    <a16:creationId xmlns:a16="http://schemas.microsoft.com/office/drawing/2014/main" id="{23647E17-AB45-0BF3-983E-2EE0570F3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9" name="Line 99">
                <a:extLst>
                  <a:ext uri="{FF2B5EF4-FFF2-40B4-BE49-F238E27FC236}">
                    <a16:creationId xmlns:a16="http://schemas.microsoft.com/office/drawing/2014/main" id="{B86BBD7B-E9B1-612C-CE26-53583B406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0" name="Rectangle 104">
                <a:extLst>
                  <a:ext uri="{FF2B5EF4-FFF2-40B4-BE49-F238E27FC236}">
                    <a16:creationId xmlns:a16="http://schemas.microsoft.com/office/drawing/2014/main" id="{C6626F8A-4ED7-F349-B240-1E6AFBBB3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1" name="Text Box 105">
                <a:extLst>
                  <a:ext uri="{FF2B5EF4-FFF2-40B4-BE49-F238E27FC236}">
                    <a16:creationId xmlns:a16="http://schemas.microsoft.com/office/drawing/2014/main" id="{B2811E4B-4D03-2FD9-23FF-23E77DDE3F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0111</a:t>
                </a:r>
              </a:p>
            </p:txBody>
          </p:sp>
          <p:sp>
            <p:nvSpPr>
              <p:cNvPr id="222" name="Line 119">
                <a:extLst>
                  <a:ext uri="{FF2B5EF4-FFF2-40B4-BE49-F238E27FC236}">
                    <a16:creationId xmlns:a16="http://schemas.microsoft.com/office/drawing/2014/main" id="{E41818D6-5216-6A6A-BED0-7CBC86A610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3" name="Freeform 120">
              <a:extLst>
                <a:ext uri="{FF2B5EF4-FFF2-40B4-BE49-F238E27FC236}">
                  <a16:creationId xmlns:a16="http://schemas.microsoft.com/office/drawing/2014/main" id="{1653E74C-B1C0-075E-389F-EE401C532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943" y="5662612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24" name="Group 357">
              <a:extLst>
                <a:ext uri="{FF2B5EF4-FFF2-40B4-BE49-F238E27FC236}">
                  <a16:creationId xmlns:a16="http://schemas.microsoft.com/office/drawing/2014/main" id="{1100F514-D0C8-816E-FD33-74150DD274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1605" y="5653087"/>
              <a:ext cx="565150" cy="293687"/>
              <a:chOff x="1871277" y="1576300"/>
              <a:chExt cx="1128371" cy="437861"/>
            </a:xfrm>
          </p:grpSpPr>
          <p:sp>
            <p:nvSpPr>
              <p:cNvPr id="225" name="Oval 459">
                <a:extLst>
                  <a:ext uri="{FF2B5EF4-FFF2-40B4-BE49-F238E27FC236}">
                    <a16:creationId xmlns:a16="http://schemas.microsoft.com/office/drawing/2014/main" id="{A8624F83-00C8-0CBD-31FD-C26AFE0F1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8" y="1694641"/>
                <a:ext cx="1125200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Rectangle 460">
                <a:extLst>
                  <a:ext uri="{FF2B5EF4-FFF2-40B4-BE49-F238E27FC236}">
                    <a16:creationId xmlns:a16="http://schemas.microsoft.com/office/drawing/2014/main" id="{6F915829-B95F-3E60-C342-FE23C6532FF6}"/>
                  </a:ext>
                </a:extLst>
              </p:cNvPr>
              <p:cNvSpPr/>
              <p:nvPr/>
            </p:nvSpPr>
            <p:spPr bwMode="auto">
              <a:xfrm>
                <a:off x="1871277" y="1739610"/>
                <a:ext cx="1128371" cy="1159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27" name="Oval 461">
                <a:extLst>
                  <a:ext uri="{FF2B5EF4-FFF2-40B4-BE49-F238E27FC236}">
                    <a16:creationId xmlns:a16="http://schemas.microsoft.com/office/drawing/2014/main" id="{983CF6CF-7ADB-0BB6-3DB8-DD33E4EED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2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8" name="Freeform 462">
                <a:extLst>
                  <a:ext uri="{FF2B5EF4-FFF2-40B4-BE49-F238E27FC236}">
                    <a16:creationId xmlns:a16="http://schemas.microsoft.com/office/drawing/2014/main" id="{6569D7A9-BC57-B5F0-1EAC-2F75DB091E40}"/>
                  </a:ext>
                </a:extLst>
              </p:cNvPr>
              <p:cNvSpPr/>
              <p:nvPr/>
            </p:nvSpPr>
            <p:spPr bwMode="auto">
              <a:xfrm>
                <a:off x="2159710" y="1673339"/>
                <a:ext cx="548337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29" name="Freeform 463">
                <a:extLst>
                  <a:ext uri="{FF2B5EF4-FFF2-40B4-BE49-F238E27FC236}">
                    <a16:creationId xmlns:a16="http://schemas.microsoft.com/office/drawing/2014/main" id="{98901C31-1FE0-9D60-1D0F-EEA0791D1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7" y="1633104"/>
                <a:ext cx="662442" cy="111240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69 h 932950"/>
                  <a:gd name="T6" fmla="*/ 533941 w 3723451"/>
                  <a:gd name="T7" fmla="*/ 0 h 932950"/>
                  <a:gd name="T8" fmla="*/ 662442 w 3723451"/>
                  <a:gd name="T9" fmla="*/ 24699 h 932950"/>
                  <a:gd name="T10" fmla="*/ 566838 w 3723451"/>
                  <a:gd name="T11" fmla="*/ 55071 h 932950"/>
                  <a:gd name="T12" fmla="*/ 536057 w 3723451"/>
                  <a:gd name="T13" fmla="*/ 46883 h 932950"/>
                  <a:gd name="T14" fmla="*/ 333916 w 3723451"/>
                  <a:gd name="T15" fmla="*/ 111240 h 932950"/>
                  <a:gd name="T16" fmla="*/ 126604 w 3723451"/>
                  <a:gd name="T17" fmla="*/ 49250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0" name="Freeform 464">
                <a:extLst>
                  <a:ext uri="{FF2B5EF4-FFF2-40B4-BE49-F238E27FC236}">
                    <a16:creationId xmlns:a16="http://schemas.microsoft.com/office/drawing/2014/main" id="{3196B533-B3F7-48CE-8C79-BA2F47EA0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9" cy="97039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39 h 809868"/>
                  <a:gd name="T6" fmla="*/ 822 w 1366596"/>
                  <a:gd name="T7" fmla="*/ 5127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Freeform 465">
                <a:extLst>
                  <a:ext uri="{FF2B5EF4-FFF2-40B4-BE49-F238E27FC236}">
                    <a16:creationId xmlns:a16="http://schemas.microsoft.com/office/drawing/2014/main" id="{5DD0C52B-ACFE-33C8-A3A6-F058B8FBF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9" y="1730143"/>
                <a:ext cx="240888" cy="97040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40 h 791462"/>
                  <a:gd name="T6" fmla="*/ 0 w 1348191"/>
                  <a:gd name="T7" fmla="*/ 75037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232" name="Straight Connector 466">
                <a:extLst>
                  <a:ext uri="{FF2B5EF4-FFF2-40B4-BE49-F238E27FC236}">
                    <a16:creationId xmlns:a16="http://schemas.microsoft.com/office/drawing/2014/main" id="{36857848-A4DA-1EF4-9154-498D438D08C0}"/>
                  </a:ext>
                </a:extLst>
              </p:cNvPr>
              <p:cNvCxnSpPr>
                <a:cxnSpLocks noChangeShapeType="1"/>
                <a:endCxn id="227" idx="2"/>
              </p:cNvCxnSpPr>
              <p:nvPr/>
            </p:nvCxnSpPr>
            <p:spPr bwMode="auto">
              <a:xfrm flipH="1" flipV="1">
                <a:off x="1871277" y="1737244"/>
                <a:ext cx="3171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3" name="Straight Connector 467">
                <a:extLst>
                  <a:ext uri="{FF2B5EF4-FFF2-40B4-BE49-F238E27FC236}">
                    <a16:creationId xmlns:a16="http://schemas.microsoft.com/office/drawing/2014/main" id="{50C7DFE4-31CF-9F11-C627-19EA67A3C4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9" y="1734876"/>
                <a:ext cx="3169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34" name="TextBox 6">
              <a:extLst>
                <a:ext uri="{FF2B5EF4-FFF2-40B4-BE49-F238E27FC236}">
                  <a16:creationId xmlns:a16="http://schemas.microsoft.com/office/drawing/2014/main" id="{1F59ECC3-821B-67CF-ED05-6B750A1F7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3830" y="4897437"/>
              <a:ext cx="19923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values in arriving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packet header</a:t>
              </a: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5" name="TextBox 282">
              <a:extLst>
                <a:ext uri="{FF2B5EF4-FFF2-40B4-BE49-F238E27FC236}">
                  <a16:creationId xmlns:a16="http://schemas.microsoft.com/office/drawing/2014/main" id="{01CDF2D2-3871-A76C-1710-572D3672C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5618" y="5856287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45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EDC44F-5FF4-F911-FCA3-CFFA3594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回顾：网络控制平面：</a:t>
            </a:r>
            <a:r>
              <a:rPr lang="en-US" altLang="zh-CN" dirty="0"/>
              <a:t>SDN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E5064-85D6-ADB0-A6F2-7D1C4E1B1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1601788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软件定义网络</a:t>
            </a:r>
            <a:r>
              <a:rPr lang="en-US" altLang="zh-CN" sz="1800" dirty="0"/>
              <a:t>SDN(Software-Defined</a:t>
            </a:r>
            <a:r>
              <a:rPr lang="zh-CN" altLang="en-US" sz="1800" dirty="0"/>
              <a:t> </a:t>
            </a:r>
            <a:r>
              <a:rPr lang="en-US" altLang="zh-CN" sz="1800" dirty="0"/>
              <a:t>Networking</a:t>
            </a:r>
            <a:r>
              <a:rPr lang="zh-CN" altLang="en-US" sz="1800" dirty="0"/>
              <a:t>）：数据平面和控制平面分离</a:t>
            </a:r>
            <a:endParaRPr lang="en-US" altLang="zh-CN" sz="1800" dirty="0"/>
          </a:p>
          <a:p>
            <a:r>
              <a:rPr lang="zh-CN" altLang="en-US" sz="1800" dirty="0"/>
              <a:t>控制器：逻辑上集中，维护网络设备的全局状态信息，实现了网络操作系统（</a:t>
            </a:r>
            <a:r>
              <a:rPr lang="en-US" altLang="zh-CN" sz="1800" dirty="0"/>
              <a:t>NOS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/>
            <a:r>
              <a:rPr lang="zh-CN" altLang="en-US" dirty="0"/>
              <a:t>软件定义，可以通过“编程”以满足具体的网络应用需求</a:t>
            </a:r>
            <a:endParaRPr lang="en-US" altLang="zh-CN" dirty="0"/>
          </a:p>
          <a:p>
            <a:pPr lvl="1"/>
            <a:r>
              <a:rPr lang="en-US" altLang="zh-CN" dirty="0"/>
              <a:t>2008</a:t>
            </a:r>
            <a:r>
              <a:rPr lang="zh-CN" altLang="en-US" dirty="0"/>
              <a:t>年</a:t>
            </a:r>
            <a:r>
              <a:rPr lang="en-US" altLang="zh-CN" dirty="0" err="1"/>
              <a:t>openflow</a:t>
            </a:r>
            <a:r>
              <a:rPr lang="zh-CN" altLang="en-US" dirty="0"/>
              <a:t>协议：</a:t>
            </a:r>
            <a:r>
              <a:rPr lang="en-US" altLang="zh-CN" dirty="0"/>
              <a:t>SDN</a:t>
            </a:r>
            <a:r>
              <a:rPr lang="zh-CN" altLang="en-US" dirty="0"/>
              <a:t>交换机与控制器之间的标准接口</a:t>
            </a:r>
          </a:p>
        </p:txBody>
      </p:sp>
      <p:grpSp>
        <p:nvGrpSpPr>
          <p:cNvPr id="696" name="组合 695">
            <a:extLst>
              <a:ext uri="{FF2B5EF4-FFF2-40B4-BE49-F238E27FC236}">
                <a16:creationId xmlns:a16="http://schemas.microsoft.com/office/drawing/2014/main" id="{72D0DB45-ED58-67B8-4868-B0E4238DC0BE}"/>
              </a:ext>
            </a:extLst>
          </p:cNvPr>
          <p:cNvGrpSpPr/>
          <p:nvPr/>
        </p:nvGrpSpPr>
        <p:grpSpPr>
          <a:xfrm>
            <a:off x="1338229" y="2129346"/>
            <a:ext cx="8698472" cy="4668840"/>
            <a:chOff x="1555046" y="1967877"/>
            <a:chExt cx="8698472" cy="4668840"/>
          </a:xfrm>
        </p:grpSpPr>
        <p:grpSp>
          <p:nvGrpSpPr>
            <p:cNvPr id="302" name="Group 816">
              <a:extLst>
                <a:ext uri="{FF2B5EF4-FFF2-40B4-BE49-F238E27FC236}">
                  <a16:creationId xmlns:a16="http://schemas.microsoft.com/office/drawing/2014/main" id="{9A45F9DC-36E9-4C3A-8443-64FED21F9C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3430" y="1967877"/>
              <a:ext cx="6027738" cy="1439862"/>
              <a:chOff x="1492879" y="2061336"/>
              <a:chExt cx="6027737" cy="1440135"/>
            </a:xfrm>
          </p:grpSpPr>
          <p:sp>
            <p:nvSpPr>
              <p:cNvPr id="303" name="Rectangle 817">
                <a:extLst>
                  <a:ext uri="{FF2B5EF4-FFF2-40B4-BE49-F238E27FC236}">
                    <a16:creationId xmlns:a16="http://schemas.microsoft.com/office/drawing/2014/main" id="{E7327976-2061-6E9C-E811-DE891685E917}"/>
                  </a:ext>
                </a:extLst>
              </p:cNvPr>
              <p:cNvSpPr/>
              <p:nvPr/>
            </p:nvSpPr>
            <p:spPr bwMode="auto">
              <a:xfrm>
                <a:off x="1926267" y="2332852"/>
                <a:ext cx="5043486" cy="950030"/>
              </a:xfrm>
              <a:prstGeom prst="rect">
                <a:avLst/>
              </a:prstGeom>
              <a:solidFill>
                <a:srgbClr val="2D2DB9">
                  <a:lumMod val="20000"/>
                  <a:lumOff val="80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04" name="Freeform 818">
                <a:extLst>
                  <a:ext uri="{FF2B5EF4-FFF2-40B4-BE49-F238E27FC236}">
                    <a16:creationId xmlns:a16="http://schemas.microsoft.com/office/drawing/2014/main" id="{0157818F-85AC-E030-13AC-B128C01B12EB}"/>
                  </a:ext>
                </a:extLst>
              </p:cNvPr>
              <p:cNvSpPr/>
              <p:nvPr/>
            </p:nvSpPr>
            <p:spPr bwMode="auto">
              <a:xfrm>
                <a:off x="1740529" y="2067687"/>
                <a:ext cx="198438" cy="1386150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855" h="1385496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2D2DB9">
                      <a:lumMod val="20000"/>
                      <a:lumOff val="80000"/>
                    </a:srgbClr>
                  </a:gs>
                </a:gsLst>
                <a:lin ang="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05" name="Freeform 819">
                <a:extLst>
                  <a:ext uri="{FF2B5EF4-FFF2-40B4-BE49-F238E27FC236}">
                    <a16:creationId xmlns:a16="http://schemas.microsoft.com/office/drawing/2014/main" id="{CD9607DF-7029-05A3-731B-2B5174206F22}"/>
                  </a:ext>
                </a:extLst>
              </p:cNvPr>
              <p:cNvSpPr/>
              <p:nvPr/>
            </p:nvSpPr>
            <p:spPr bwMode="auto">
              <a:xfrm flipH="1">
                <a:off x="6969753" y="2061336"/>
                <a:ext cx="219075" cy="1370272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0 w 219519"/>
                  <a:gd name="connsiteY0" fmla="*/ 730359 h 1370199"/>
                  <a:gd name="connsiteX1" fmla="*/ 219401 w 219519"/>
                  <a:gd name="connsiteY1" fmla="*/ 0 h 1370199"/>
                  <a:gd name="connsiteX2" fmla="*/ 199855 w 219519"/>
                  <a:gd name="connsiteY2" fmla="*/ 1012572 h 1370199"/>
                  <a:gd name="connsiteX3" fmla="*/ 4471 w 219519"/>
                  <a:gd name="connsiteY3" fmla="*/ 1370199 h 1370199"/>
                  <a:gd name="connsiteX4" fmla="*/ 0 w 219519"/>
                  <a:gd name="connsiteY4" fmla="*/ 730359 h 1370199"/>
                  <a:gd name="connsiteX0" fmla="*/ 0 w 219602"/>
                  <a:gd name="connsiteY0" fmla="*/ 730359 h 1370199"/>
                  <a:gd name="connsiteX1" fmla="*/ 219401 w 219602"/>
                  <a:gd name="connsiteY1" fmla="*/ 0 h 1370199"/>
                  <a:gd name="connsiteX2" fmla="*/ 210047 w 219602"/>
                  <a:gd name="connsiteY2" fmla="*/ 1007473 h 1370199"/>
                  <a:gd name="connsiteX3" fmla="*/ 4471 w 219602"/>
                  <a:gd name="connsiteY3" fmla="*/ 1370199 h 1370199"/>
                  <a:gd name="connsiteX4" fmla="*/ 0 w 219602"/>
                  <a:gd name="connsiteY4" fmla="*/ 730359 h 1370199"/>
                  <a:gd name="connsiteX0" fmla="*/ 0 w 220239"/>
                  <a:gd name="connsiteY0" fmla="*/ 730359 h 1370199"/>
                  <a:gd name="connsiteX1" fmla="*/ 219401 w 220239"/>
                  <a:gd name="connsiteY1" fmla="*/ 0 h 1370199"/>
                  <a:gd name="connsiteX2" fmla="*/ 220239 w 220239"/>
                  <a:gd name="connsiteY2" fmla="*/ 1007473 h 1370199"/>
                  <a:gd name="connsiteX3" fmla="*/ 4471 w 220239"/>
                  <a:gd name="connsiteY3" fmla="*/ 1370199 h 1370199"/>
                  <a:gd name="connsiteX4" fmla="*/ 0 w 220239"/>
                  <a:gd name="connsiteY4" fmla="*/ 730359 h 137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239" h="137019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2DB9">
                      <a:lumMod val="20000"/>
                      <a:lumOff val="80000"/>
                    </a:srgbClr>
                  </a:gs>
                  <a:gs pos="100000">
                    <a:srgbClr val="FFFFFF"/>
                  </a:gs>
                </a:gsLst>
                <a:lin ang="108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307" name="Group 950">
                <a:extLst>
                  <a:ext uri="{FF2B5EF4-FFF2-40B4-BE49-F238E27FC236}">
                    <a16:creationId xmlns:a16="http://schemas.microsoft.com/office/drawing/2014/main" id="{1BF2EBD6-2959-DFF2-1B3E-40EB0E5334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384" name="Freeform 951">
                  <a:extLst>
                    <a:ext uri="{FF2B5EF4-FFF2-40B4-BE49-F238E27FC236}">
                      <a16:creationId xmlns:a16="http://schemas.microsoft.com/office/drawing/2014/main" id="{36116CAD-F98B-24A2-8CAC-EBCF94AF86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8 w 354"/>
                    <a:gd name="T3" fmla="*/ 16 h 2742"/>
                    <a:gd name="T4" fmla="*/ 8 w 354"/>
                    <a:gd name="T5" fmla="*/ 119 h 2742"/>
                    <a:gd name="T6" fmla="*/ 0 w 354"/>
                    <a:gd name="T7" fmla="*/ 124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5" name="Rectangle 952">
                  <a:extLst>
                    <a:ext uri="{FF2B5EF4-FFF2-40B4-BE49-F238E27FC236}">
                      <a16:creationId xmlns:a16="http://schemas.microsoft.com/office/drawing/2014/main" id="{26640817-268D-44E4-2F5D-1DA9B4748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6" name="Freeform 953">
                  <a:extLst>
                    <a:ext uri="{FF2B5EF4-FFF2-40B4-BE49-F238E27FC236}">
                      <a16:creationId xmlns:a16="http://schemas.microsoft.com/office/drawing/2014/main" id="{A455CE62-C3D7-9152-1BA6-16E4CBD2D1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5 w 211"/>
                    <a:gd name="T3" fmla="*/ 11 h 2537"/>
                    <a:gd name="T4" fmla="*/ 2 w 211"/>
                    <a:gd name="T5" fmla="*/ 11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7" name="Freeform 954">
                  <a:extLst>
                    <a:ext uri="{FF2B5EF4-FFF2-40B4-BE49-F238E27FC236}">
                      <a16:creationId xmlns:a16="http://schemas.microsoft.com/office/drawing/2014/main" id="{7B97234B-1874-F104-E469-53BB05FADD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7 h 226"/>
                    <a:gd name="T4" fmla="*/ 7 w 328"/>
                    <a:gd name="T5" fmla="*/ 11 h 226"/>
                    <a:gd name="T6" fmla="*/ 0 w 328"/>
                    <a:gd name="T7" fmla="*/ 5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8" name="Rectangle 955">
                  <a:extLst>
                    <a:ext uri="{FF2B5EF4-FFF2-40B4-BE49-F238E27FC236}">
                      <a16:creationId xmlns:a16="http://schemas.microsoft.com/office/drawing/2014/main" id="{D3320C1B-6346-2529-4877-5E42D9D11D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89" name="Group 956">
                  <a:extLst>
                    <a:ext uri="{FF2B5EF4-FFF2-40B4-BE49-F238E27FC236}">
                      <a16:creationId xmlns:a16="http://schemas.microsoft.com/office/drawing/2014/main" id="{35EC99CB-E886-065C-192B-992DBA7208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14" name="AutoShape 957">
                    <a:extLst>
                      <a:ext uri="{FF2B5EF4-FFF2-40B4-BE49-F238E27FC236}">
                        <a16:creationId xmlns:a16="http://schemas.microsoft.com/office/drawing/2014/main" id="{59202E6C-079E-DC63-A663-0FFD45105A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15" name="AutoShape 958">
                    <a:extLst>
                      <a:ext uri="{FF2B5EF4-FFF2-40B4-BE49-F238E27FC236}">
                        <a16:creationId xmlns:a16="http://schemas.microsoft.com/office/drawing/2014/main" id="{AF514EA2-D2DE-0CCA-1201-FFC1A0E080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90" name="Rectangle 959">
                  <a:extLst>
                    <a:ext uri="{FF2B5EF4-FFF2-40B4-BE49-F238E27FC236}">
                      <a16:creationId xmlns:a16="http://schemas.microsoft.com/office/drawing/2014/main" id="{37162992-88F4-ED10-7BE2-D0701994F8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91" name="Group 960">
                  <a:extLst>
                    <a:ext uri="{FF2B5EF4-FFF2-40B4-BE49-F238E27FC236}">
                      <a16:creationId xmlns:a16="http://schemas.microsoft.com/office/drawing/2014/main" id="{FEA6B026-1D69-7F06-8758-C8D6CE7C05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12" name="AutoShape 961">
                    <a:extLst>
                      <a:ext uri="{FF2B5EF4-FFF2-40B4-BE49-F238E27FC236}">
                        <a16:creationId xmlns:a16="http://schemas.microsoft.com/office/drawing/2014/main" id="{7FACD73A-CFE5-56CC-4110-692B991747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13" name="AutoShape 962">
                    <a:extLst>
                      <a:ext uri="{FF2B5EF4-FFF2-40B4-BE49-F238E27FC236}">
                        <a16:creationId xmlns:a16="http://schemas.microsoft.com/office/drawing/2014/main" id="{BF81FC25-DB67-D567-C617-C4120176D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92" name="Rectangle 963">
                  <a:extLst>
                    <a:ext uri="{FF2B5EF4-FFF2-40B4-BE49-F238E27FC236}">
                      <a16:creationId xmlns:a16="http://schemas.microsoft.com/office/drawing/2014/main" id="{4D4A6487-628A-0AE6-4691-792EA41720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3" name="Rectangle 964">
                  <a:extLst>
                    <a:ext uri="{FF2B5EF4-FFF2-40B4-BE49-F238E27FC236}">
                      <a16:creationId xmlns:a16="http://schemas.microsoft.com/office/drawing/2014/main" id="{22000567-74B7-2A56-EB3E-C6B9FF0DD3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94" name="Group 965">
                  <a:extLst>
                    <a:ext uri="{FF2B5EF4-FFF2-40B4-BE49-F238E27FC236}">
                      <a16:creationId xmlns:a16="http://schemas.microsoft.com/office/drawing/2014/main" id="{AD398AA4-F697-C7E0-4B7B-E6834E0661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10" name="AutoShape 966">
                    <a:extLst>
                      <a:ext uri="{FF2B5EF4-FFF2-40B4-BE49-F238E27FC236}">
                        <a16:creationId xmlns:a16="http://schemas.microsoft.com/office/drawing/2014/main" id="{EB28DDA1-77F3-DA32-81E2-C80DFE3E45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11" name="AutoShape 967">
                    <a:extLst>
                      <a:ext uri="{FF2B5EF4-FFF2-40B4-BE49-F238E27FC236}">
                        <a16:creationId xmlns:a16="http://schemas.microsoft.com/office/drawing/2014/main" id="{119337B6-702D-240D-1EB7-FC2F2175E0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95" name="Freeform 968">
                  <a:extLst>
                    <a:ext uri="{FF2B5EF4-FFF2-40B4-BE49-F238E27FC236}">
                      <a16:creationId xmlns:a16="http://schemas.microsoft.com/office/drawing/2014/main" id="{ED2264DA-F818-0316-6C6E-DE4B184271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6 h 226"/>
                    <a:gd name="T4" fmla="*/ 7 w 328"/>
                    <a:gd name="T5" fmla="*/ 10 h 226"/>
                    <a:gd name="T6" fmla="*/ 0 w 328"/>
                    <a:gd name="T7" fmla="*/ 4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96" name="Group 969">
                  <a:extLst>
                    <a:ext uri="{FF2B5EF4-FFF2-40B4-BE49-F238E27FC236}">
                      <a16:creationId xmlns:a16="http://schemas.microsoft.com/office/drawing/2014/main" id="{679D3963-EAC7-96B7-7AFC-0F6F4A40AF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08" name="AutoShape 970">
                    <a:extLst>
                      <a:ext uri="{FF2B5EF4-FFF2-40B4-BE49-F238E27FC236}">
                        <a16:creationId xmlns:a16="http://schemas.microsoft.com/office/drawing/2014/main" id="{AB11E668-3C9B-0521-66BF-94F5D458F9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09" name="AutoShape 971">
                    <a:extLst>
                      <a:ext uri="{FF2B5EF4-FFF2-40B4-BE49-F238E27FC236}">
                        <a16:creationId xmlns:a16="http://schemas.microsoft.com/office/drawing/2014/main" id="{3630E968-7FE3-7408-097A-C8B79F41B8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97" name="Rectangle 972">
                  <a:extLst>
                    <a:ext uri="{FF2B5EF4-FFF2-40B4-BE49-F238E27FC236}">
                      <a16:creationId xmlns:a16="http://schemas.microsoft.com/office/drawing/2014/main" id="{3AFA077A-12B5-3634-E06A-14A4D832C4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8" name="Freeform 973">
                  <a:extLst>
                    <a:ext uri="{FF2B5EF4-FFF2-40B4-BE49-F238E27FC236}">
                      <a16:creationId xmlns:a16="http://schemas.microsoft.com/office/drawing/2014/main" id="{85C4551E-4E75-2A6D-C41D-DF1829DB10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7 w 296"/>
                    <a:gd name="T3" fmla="*/ 6 h 256"/>
                    <a:gd name="T4" fmla="*/ 7 w 296"/>
                    <a:gd name="T5" fmla="*/ 11 h 256"/>
                    <a:gd name="T6" fmla="*/ 0 w 296"/>
                    <a:gd name="T7" fmla="*/ 4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9" name="Freeform 974">
                  <a:extLst>
                    <a:ext uri="{FF2B5EF4-FFF2-40B4-BE49-F238E27FC236}">
                      <a16:creationId xmlns:a16="http://schemas.microsoft.com/office/drawing/2014/main" id="{096A23F8-BE17-3752-BC5D-BF726070C8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7 w 304"/>
                    <a:gd name="T3" fmla="*/ 8 h 288"/>
                    <a:gd name="T4" fmla="*/ 6 w 304"/>
                    <a:gd name="T5" fmla="*/ 13 h 288"/>
                    <a:gd name="T6" fmla="*/ 2 w 304"/>
                    <a:gd name="T7" fmla="*/ 6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0" name="Oval 975">
                  <a:extLst>
                    <a:ext uri="{FF2B5EF4-FFF2-40B4-BE49-F238E27FC236}">
                      <a16:creationId xmlns:a16="http://schemas.microsoft.com/office/drawing/2014/main" id="{5AA3B53F-F3B4-5DF4-1708-55B88E8B84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1" name="Freeform 976">
                  <a:extLst>
                    <a:ext uri="{FF2B5EF4-FFF2-40B4-BE49-F238E27FC236}">
                      <a16:creationId xmlns:a16="http://schemas.microsoft.com/office/drawing/2014/main" id="{AA5DDD54-988F-BE9E-92A0-4C69078F2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6 h 240"/>
                    <a:gd name="T2" fmla="*/ 2 w 306"/>
                    <a:gd name="T3" fmla="*/ 11 h 240"/>
                    <a:gd name="T4" fmla="*/ 7 w 306"/>
                    <a:gd name="T5" fmla="*/ 6 h 240"/>
                    <a:gd name="T6" fmla="*/ 7 w 306"/>
                    <a:gd name="T7" fmla="*/ 0 h 240"/>
                    <a:gd name="T8" fmla="*/ 0 w 306"/>
                    <a:gd name="T9" fmla="*/ 6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2" name="AutoShape 977">
                  <a:extLst>
                    <a:ext uri="{FF2B5EF4-FFF2-40B4-BE49-F238E27FC236}">
                      <a16:creationId xmlns:a16="http://schemas.microsoft.com/office/drawing/2014/main" id="{3348B5B8-5F84-29B2-E2F3-03A50966B5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3" name="AutoShape 978">
                  <a:extLst>
                    <a:ext uri="{FF2B5EF4-FFF2-40B4-BE49-F238E27FC236}">
                      <a16:creationId xmlns:a16="http://schemas.microsoft.com/office/drawing/2014/main" id="{1E128FB9-5CA9-D026-52D9-45E46E8AAB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4" name="Oval 979">
                  <a:extLst>
                    <a:ext uri="{FF2B5EF4-FFF2-40B4-BE49-F238E27FC236}">
                      <a16:creationId xmlns:a16="http://schemas.microsoft.com/office/drawing/2014/main" id="{7D9C77FF-90BB-B255-1A42-1BCCD02B39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5" name="Oval 980">
                  <a:extLst>
                    <a:ext uri="{FF2B5EF4-FFF2-40B4-BE49-F238E27FC236}">
                      <a16:creationId xmlns:a16="http://schemas.microsoft.com/office/drawing/2014/main" id="{53027BEF-4493-C96E-2A31-C3F080E8E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6" name="Oval 981">
                  <a:extLst>
                    <a:ext uri="{FF2B5EF4-FFF2-40B4-BE49-F238E27FC236}">
                      <a16:creationId xmlns:a16="http://schemas.microsoft.com/office/drawing/2014/main" id="{DC18AE59-6468-90F9-09CD-EBA5F6E672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7" name="Rectangle 982">
                  <a:extLst>
                    <a:ext uri="{FF2B5EF4-FFF2-40B4-BE49-F238E27FC236}">
                      <a16:creationId xmlns:a16="http://schemas.microsoft.com/office/drawing/2014/main" id="{550780D2-85FA-2B1E-3696-DAE8550FA8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11" name="Group 950">
                <a:extLst>
                  <a:ext uri="{FF2B5EF4-FFF2-40B4-BE49-F238E27FC236}">
                    <a16:creationId xmlns:a16="http://schemas.microsoft.com/office/drawing/2014/main" id="{13E8E8DE-33D2-1E15-6760-9216FD39A7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315" name="Freeform 951">
                  <a:extLst>
                    <a:ext uri="{FF2B5EF4-FFF2-40B4-BE49-F238E27FC236}">
                      <a16:creationId xmlns:a16="http://schemas.microsoft.com/office/drawing/2014/main" id="{252AAC68-89C9-7289-5B1E-679FEDBABA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8 w 354"/>
                    <a:gd name="T3" fmla="*/ 16 h 2742"/>
                    <a:gd name="T4" fmla="*/ 8 w 354"/>
                    <a:gd name="T5" fmla="*/ 119 h 2742"/>
                    <a:gd name="T6" fmla="*/ 0 w 354"/>
                    <a:gd name="T7" fmla="*/ 124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9" name="Rectangle 952">
                  <a:extLst>
                    <a:ext uri="{FF2B5EF4-FFF2-40B4-BE49-F238E27FC236}">
                      <a16:creationId xmlns:a16="http://schemas.microsoft.com/office/drawing/2014/main" id="{40F1BEB0-822D-0579-9467-726EEF71E5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24" name="Freeform 953">
                  <a:extLst>
                    <a:ext uri="{FF2B5EF4-FFF2-40B4-BE49-F238E27FC236}">
                      <a16:creationId xmlns:a16="http://schemas.microsoft.com/office/drawing/2014/main" id="{11D9C67C-E409-6C64-C45F-8C50F8D9FA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5 w 211"/>
                    <a:gd name="T3" fmla="*/ 11 h 2537"/>
                    <a:gd name="T4" fmla="*/ 2 w 211"/>
                    <a:gd name="T5" fmla="*/ 11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5" name="Freeform 954">
                  <a:extLst>
                    <a:ext uri="{FF2B5EF4-FFF2-40B4-BE49-F238E27FC236}">
                      <a16:creationId xmlns:a16="http://schemas.microsoft.com/office/drawing/2014/main" id="{FB0F4439-D239-436E-CF3D-42042E7A7E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7 h 226"/>
                    <a:gd name="T4" fmla="*/ 7 w 328"/>
                    <a:gd name="T5" fmla="*/ 11 h 226"/>
                    <a:gd name="T6" fmla="*/ 0 w 328"/>
                    <a:gd name="T7" fmla="*/ 5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6" name="Rectangle 955">
                  <a:extLst>
                    <a:ext uri="{FF2B5EF4-FFF2-40B4-BE49-F238E27FC236}">
                      <a16:creationId xmlns:a16="http://schemas.microsoft.com/office/drawing/2014/main" id="{B1745984-00A9-1A8F-50F5-8CB12112F9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57" name="Group 956">
                  <a:extLst>
                    <a:ext uri="{FF2B5EF4-FFF2-40B4-BE49-F238E27FC236}">
                      <a16:creationId xmlns:a16="http://schemas.microsoft.com/office/drawing/2014/main" id="{1FB9AD9A-C165-CB1B-8EC5-799965FC36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382" name="AutoShape 957">
                    <a:extLst>
                      <a:ext uri="{FF2B5EF4-FFF2-40B4-BE49-F238E27FC236}">
                        <a16:creationId xmlns:a16="http://schemas.microsoft.com/office/drawing/2014/main" id="{3BDE28E5-CD3E-0DA9-BAB7-EB0ED93A8E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83" name="AutoShape 958">
                    <a:extLst>
                      <a:ext uri="{FF2B5EF4-FFF2-40B4-BE49-F238E27FC236}">
                        <a16:creationId xmlns:a16="http://schemas.microsoft.com/office/drawing/2014/main" id="{E39E97A1-6DC3-10FC-C23C-8DC49B8AE0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58" name="Rectangle 959">
                  <a:extLst>
                    <a:ext uri="{FF2B5EF4-FFF2-40B4-BE49-F238E27FC236}">
                      <a16:creationId xmlns:a16="http://schemas.microsoft.com/office/drawing/2014/main" id="{16E66BE6-57AB-82AB-ACB0-7CD0E06E72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59" name="Group 960">
                  <a:extLst>
                    <a:ext uri="{FF2B5EF4-FFF2-40B4-BE49-F238E27FC236}">
                      <a16:creationId xmlns:a16="http://schemas.microsoft.com/office/drawing/2014/main" id="{0D0846C1-ED10-6395-316A-E84CD55F68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380" name="AutoShape 961">
                    <a:extLst>
                      <a:ext uri="{FF2B5EF4-FFF2-40B4-BE49-F238E27FC236}">
                        <a16:creationId xmlns:a16="http://schemas.microsoft.com/office/drawing/2014/main" id="{0C6ABF51-5142-BB2E-CD6F-DADB51C02F9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81" name="AutoShape 962">
                    <a:extLst>
                      <a:ext uri="{FF2B5EF4-FFF2-40B4-BE49-F238E27FC236}">
                        <a16:creationId xmlns:a16="http://schemas.microsoft.com/office/drawing/2014/main" id="{837AE713-639A-6AC6-4CB9-073432FC8A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60" name="Rectangle 963">
                  <a:extLst>
                    <a:ext uri="{FF2B5EF4-FFF2-40B4-BE49-F238E27FC236}">
                      <a16:creationId xmlns:a16="http://schemas.microsoft.com/office/drawing/2014/main" id="{B61F73DD-00E8-10CC-2446-CB57A15D9C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1" name="Rectangle 964">
                  <a:extLst>
                    <a:ext uri="{FF2B5EF4-FFF2-40B4-BE49-F238E27FC236}">
                      <a16:creationId xmlns:a16="http://schemas.microsoft.com/office/drawing/2014/main" id="{98BA1F50-38CE-AD09-2C2C-1B21FC1407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62" name="Group 965">
                  <a:extLst>
                    <a:ext uri="{FF2B5EF4-FFF2-40B4-BE49-F238E27FC236}">
                      <a16:creationId xmlns:a16="http://schemas.microsoft.com/office/drawing/2014/main" id="{211555E9-0323-B2D2-0D44-F0C852D485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378" name="AutoShape 966">
                    <a:extLst>
                      <a:ext uri="{FF2B5EF4-FFF2-40B4-BE49-F238E27FC236}">
                        <a16:creationId xmlns:a16="http://schemas.microsoft.com/office/drawing/2014/main" id="{BA663C69-684E-9F0F-F35D-1FC89FD690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79" name="AutoShape 967">
                    <a:extLst>
                      <a:ext uri="{FF2B5EF4-FFF2-40B4-BE49-F238E27FC236}">
                        <a16:creationId xmlns:a16="http://schemas.microsoft.com/office/drawing/2014/main" id="{3DB5DEF4-D4C3-AE4C-117F-48ECCEA1A3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63" name="Freeform 968">
                  <a:extLst>
                    <a:ext uri="{FF2B5EF4-FFF2-40B4-BE49-F238E27FC236}">
                      <a16:creationId xmlns:a16="http://schemas.microsoft.com/office/drawing/2014/main" id="{D809CFAC-271C-7E76-7B79-6FCA21C8BF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7 w 328"/>
                    <a:gd name="T3" fmla="*/ 6 h 226"/>
                    <a:gd name="T4" fmla="*/ 7 w 328"/>
                    <a:gd name="T5" fmla="*/ 10 h 226"/>
                    <a:gd name="T6" fmla="*/ 0 w 328"/>
                    <a:gd name="T7" fmla="*/ 4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64" name="Group 969">
                  <a:extLst>
                    <a:ext uri="{FF2B5EF4-FFF2-40B4-BE49-F238E27FC236}">
                      <a16:creationId xmlns:a16="http://schemas.microsoft.com/office/drawing/2014/main" id="{E53A411E-1BB8-194D-E429-F67FE6A155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376" name="AutoShape 970">
                    <a:extLst>
                      <a:ext uri="{FF2B5EF4-FFF2-40B4-BE49-F238E27FC236}">
                        <a16:creationId xmlns:a16="http://schemas.microsoft.com/office/drawing/2014/main" id="{00C3A712-0D3E-C575-A7BB-851940B7B4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77" name="AutoShape 971">
                    <a:extLst>
                      <a:ext uri="{FF2B5EF4-FFF2-40B4-BE49-F238E27FC236}">
                        <a16:creationId xmlns:a16="http://schemas.microsoft.com/office/drawing/2014/main" id="{2B4FE89C-E30A-736E-5047-D501D5A6D6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65" name="Rectangle 972">
                  <a:extLst>
                    <a:ext uri="{FF2B5EF4-FFF2-40B4-BE49-F238E27FC236}">
                      <a16:creationId xmlns:a16="http://schemas.microsoft.com/office/drawing/2014/main" id="{1C110ECB-D6D6-1DC1-FC3E-A9C78C8A1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6" name="Freeform 973">
                  <a:extLst>
                    <a:ext uri="{FF2B5EF4-FFF2-40B4-BE49-F238E27FC236}">
                      <a16:creationId xmlns:a16="http://schemas.microsoft.com/office/drawing/2014/main" id="{D46D0992-9135-8F7D-15E8-F727614E12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7 w 296"/>
                    <a:gd name="T3" fmla="*/ 6 h 256"/>
                    <a:gd name="T4" fmla="*/ 7 w 296"/>
                    <a:gd name="T5" fmla="*/ 11 h 256"/>
                    <a:gd name="T6" fmla="*/ 0 w 296"/>
                    <a:gd name="T7" fmla="*/ 4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7" name="Freeform 974">
                  <a:extLst>
                    <a:ext uri="{FF2B5EF4-FFF2-40B4-BE49-F238E27FC236}">
                      <a16:creationId xmlns:a16="http://schemas.microsoft.com/office/drawing/2014/main" id="{AD559C74-5167-32DC-C8F3-1696D06DF5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7 w 304"/>
                    <a:gd name="T3" fmla="*/ 8 h 288"/>
                    <a:gd name="T4" fmla="*/ 6 w 304"/>
                    <a:gd name="T5" fmla="*/ 13 h 288"/>
                    <a:gd name="T6" fmla="*/ 2 w 304"/>
                    <a:gd name="T7" fmla="*/ 6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8" name="Oval 975">
                  <a:extLst>
                    <a:ext uri="{FF2B5EF4-FFF2-40B4-BE49-F238E27FC236}">
                      <a16:creationId xmlns:a16="http://schemas.microsoft.com/office/drawing/2014/main" id="{4B40C580-C43E-23ED-7F2C-52BD2C530F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9" name="Freeform 976">
                  <a:extLst>
                    <a:ext uri="{FF2B5EF4-FFF2-40B4-BE49-F238E27FC236}">
                      <a16:creationId xmlns:a16="http://schemas.microsoft.com/office/drawing/2014/main" id="{6018C663-E821-8B1B-9929-6F2AE5DCBB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6 h 240"/>
                    <a:gd name="T2" fmla="*/ 2 w 306"/>
                    <a:gd name="T3" fmla="*/ 11 h 240"/>
                    <a:gd name="T4" fmla="*/ 7 w 306"/>
                    <a:gd name="T5" fmla="*/ 6 h 240"/>
                    <a:gd name="T6" fmla="*/ 7 w 306"/>
                    <a:gd name="T7" fmla="*/ 0 h 240"/>
                    <a:gd name="T8" fmla="*/ 0 w 306"/>
                    <a:gd name="T9" fmla="*/ 6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0" name="AutoShape 977">
                  <a:extLst>
                    <a:ext uri="{FF2B5EF4-FFF2-40B4-BE49-F238E27FC236}">
                      <a16:creationId xmlns:a16="http://schemas.microsoft.com/office/drawing/2014/main" id="{3EF6F8F9-7938-9C77-EC74-71932575A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1" name="AutoShape 978">
                  <a:extLst>
                    <a:ext uri="{FF2B5EF4-FFF2-40B4-BE49-F238E27FC236}">
                      <a16:creationId xmlns:a16="http://schemas.microsoft.com/office/drawing/2014/main" id="{37035267-B85A-F0E5-B2C9-D1E81B7230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2" name="Oval 979">
                  <a:extLst>
                    <a:ext uri="{FF2B5EF4-FFF2-40B4-BE49-F238E27FC236}">
                      <a16:creationId xmlns:a16="http://schemas.microsoft.com/office/drawing/2014/main" id="{2D752D18-8649-6EAD-755F-39F65FE405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3" name="Oval 980">
                  <a:extLst>
                    <a:ext uri="{FF2B5EF4-FFF2-40B4-BE49-F238E27FC236}">
                      <a16:creationId xmlns:a16="http://schemas.microsoft.com/office/drawing/2014/main" id="{AA18E72F-4E2C-ED00-7FEE-6C2DD2F9AC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4" name="Oval 981">
                  <a:extLst>
                    <a:ext uri="{FF2B5EF4-FFF2-40B4-BE49-F238E27FC236}">
                      <a16:creationId xmlns:a16="http://schemas.microsoft.com/office/drawing/2014/main" id="{5D753D80-23A4-D28B-2605-467847515E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5" name="Rectangle 982">
                  <a:extLst>
                    <a:ext uri="{FF2B5EF4-FFF2-40B4-BE49-F238E27FC236}">
                      <a16:creationId xmlns:a16="http://schemas.microsoft.com/office/drawing/2014/main" id="{12015D47-B522-1901-8F55-2C9221FDD0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416" name="Freeform 2">
              <a:extLst>
                <a:ext uri="{FF2B5EF4-FFF2-40B4-BE49-F238E27FC236}">
                  <a16:creationId xmlns:a16="http://schemas.microsoft.com/office/drawing/2014/main" id="{715C5172-5A5A-0312-9C85-A38DACB0B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668" y="5696917"/>
              <a:ext cx="4027487" cy="939800"/>
            </a:xfrm>
            <a:custGeom>
              <a:avLst/>
              <a:gdLst>
                <a:gd name="T0" fmla="*/ 2147483647 w 10001"/>
                <a:gd name="T1" fmla="*/ 2147483647 h 10125"/>
                <a:gd name="T2" fmla="*/ 2147483647 w 10001"/>
                <a:gd name="T3" fmla="*/ 2147483647 h 10125"/>
                <a:gd name="T4" fmla="*/ 2147483647 w 10001"/>
                <a:gd name="T5" fmla="*/ 2147483647 h 10125"/>
                <a:gd name="T6" fmla="*/ 2147483647 w 10001"/>
                <a:gd name="T7" fmla="*/ 0 h 10125"/>
                <a:gd name="T8" fmla="*/ 2147483647 w 10001"/>
                <a:gd name="T9" fmla="*/ 2147483647 h 10125"/>
                <a:gd name="T10" fmla="*/ 2147483647 w 10001"/>
                <a:gd name="T11" fmla="*/ 2147483647 h 10125"/>
                <a:gd name="T12" fmla="*/ 2147483647 w 10001"/>
                <a:gd name="T13" fmla="*/ 2147483647 h 10125"/>
                <a:gd name="T14" fmla="*/ 2147483647 w 10001"/>
                <a:gd name="T15" fmla="*/ 2147483647 h 10125"/>
                <a:gd name="T16" fmla="*/ 2147483647 w 10001"/>
                <a:gd name="T17" fmla="*/ 2147483647 h 10125"/>
                <a:gd name="T18" fmla="*/ 2147483647 w 10001"/>
                <a:gd name="T19" fmla="*/ 2147483647 h 10125"/>
                <a:gd name="T20" fmla="*/ 2147483647 w 10001"/>
                <a:gd name="T21" fmla="*/ 2147483647 h 10125"/>
                <a:gd name="T22" fmla="*/ 2147483647 w 10001"/>
                <a:gd name="T23" fmla="*/ 2147483647 h 10125"/>
                <a:gd name="T24" fmla="*/ 2147483647 w 10001"/>
                <a:gd name="T25" fmla="*/ 2147483647 h 10125"/>
                <a:gd name="T26" fmla="*/ 2147483647 w 10001"/>
                <a:gd name="T27" fmla="*/ 2147483647 h 10125"/>
                <a:gd name="T28" fmla="*/ 2147483647 w 10001"/>
                <a:gd name="T29" fmla="*/ 2147483647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17" name="Straight Connector 887">
              <a:extLst>
                <a:ext uri="{FF2B5EF4-FFF2-40B4-BE49-F238E27FC236}">
                  <a16:creationId xmlns:a16="http://schemas.microsoft.com/office/drawing/2014/main" id="{EA0780B0-1F20-C7EC-49CA-054F30425D68}"/>
                </a:ext>
              </a:extLst>
            </p:cNvPr>
            <p:cNvCxnSpPr/>
            <p:nvPr/>
          </p:nvCxnSpPr>
          <p:spPr>
            <a:xfrm flipV="1">
              <a:off x="5011593" y="5847730"/>
              <a:ext cx="1316037" cy="131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18" name="Straight Connector 888">
              <a:extLst>
                <a:ext uri="{FF2B5EF4-FFF2-40B4-BE49-F238E27FC236}">
                  <a16:creationId xmlns:a16="http://schemas.microsoft.com/office/drawing/2014/main" id="{3F6D9EE6-ED25-F20A-F664-A0EA5FAF2932}"/>
                </a:ext>
              </a:extLst>
            </p:cNvPr>
            <p:cNvCxnSpPr/>
            <p:nvPr/>
          </p:nvCxnSpPr>
          <p:spPr>
            <a:xfrm>
              <a:off x="4900468" y="6035055"/>
              <a:ext cx="2259012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19" name="Straight Connector 889">
              <a:extLst>
                <a:ext uri="{FF2B5EF4-FFF2-40B4-BE49-F238E27FC236}">
                  <a16:creationId xmlns:a16="http://schemas.microsoft.com/office/drawing/2014/main" id="{DD08EEAD-4080-0192-8DEB-05DD14DFB4FB}"/>
                </a:ext>
              </a:extLst>
            </p:cNvPr>
            <p:cNvCxnSpPr/>
            <p:nvPr/>
          </p:nvCxnSpPr>
          <p:spPr>
            <a:xfrm>
              <a:off x="4913168" y="6139830"/>
              <a:ext cx="714375" cy="2762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20" name="Straight Connector 890">
              <a:extLst>
                <a:ext uri="{FF2B5EF4-FFF2-40B4-BE49-F238E27FC236}">
                  <a16:creationId xmlns:a16="http://schemas.microsoft.com/office/drawing/2014/main" id="{680FE642-F5FF-B3C8-4E3C-14F4CB66C31E}"/>
                </a:ext>
              </a:extLst>
            </p:cNvPr>
            <p:cNvCxnSpPr/>
            <p:nvPr/>
          </p:nvCxnSpPr>
          <p:spPr>
            <a:xfrm flipV="1">
              <a:off x="5930755" y="6333505"/>
              <a:ext cx="1247775" cy="825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21" name="Straight Connector 891">
              <a:extLst>
                <a:ext uri="{FF2B5EF4-FFF2-40B4-BE49-F238E27FC236}">
                  <a16:creationId xmlns:a16="http://schemas.microsoft.com/office/drawing/2014/main" id="{51FFE390-4DA0-E932-CE6B-B86F724E876B}"/>
                </a:ext>
              </a:extLst>
            </p:cNvPr>
            <p:cNvCxnSpPr/>
            <p:nvPr/>
          </p:nvCxnSpPr>
          <p:spPr>
            <a:xfrm>
              <a:off x="6591155" y="5881067"/>
              <a:ext cx="1057275" cy="1238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22" name="Straight Connector 892">
              <a:extLst>
                <a:ext uri="{FF2B5EF4-FFF2-40B4-BE49-F238E27FC236}">
                  <a16:creationId xmlns:a16="http://schemas.microsoft.com/office/drawing/2014/main" id="{F0443F23-5CC6-8E41-B32C-5BE217A174ED}"/>
                </a:ext>
              </a:extLst>
            </p:cNvPr>
            <p:cNvCxnSpPr/>
            <p:nvPr/>
          </p:nvCxnSpPr>
          <p:spPr>
            <a:xfrm flipV="1">
              <a:off x="5875193" y="6035055"/>
              <a:ext cx="1790700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23" name="Straight Connector 893">
              <a:extLst>
                <a:ext uri="{FF2B5EF4-FFF2-40B4-BE49-F238E27FC236}">
                  <a16:creationId xmlns:a16="http://schemas.microsoft.com/office/drawing/2014/main" id="{12AD3769-94DB-5F86-CEB8-0BA0DE0A5317}"/>
                </a:ext>
              </a:extLst>
            </p:cNvPr>
            <p:cNvCxnSpPr/>
            <p:nvPr/>
          </p:nvCxnSpPr>
          <p:spPr>
            <a:xfrm flipV="1">
              <a:off x="7202343" y="6063630"/>
              <a:ext cx="588962" cy="26987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424" name="Straight Connector 894">
              <a:extLst>
                <a:ext uri="{FF2B5EF4-FFF2-40B4-BE49-F238E27FC236}">
                  <a16:creationId xmlns:a16="http://schemas.microsoft.com/office/drawing/2014/main" id="{CA366E7D-998D-B79E-A7C8-4AC8FC1F5FB9}"/>
                </a:ext>
              </a:extLst>
            </p:cNvPr>
            <p:cNvCxnSpPr/>
            <p:nvPr/>
          </p:nvCxnSpPr>
          <p:spPr>
            <a:xfrm>
              <a:off x="6345093" y="5847730"/>
              <a:ext cx="814387" cy="401637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425" name="Group 895">
              <a:extLst>
                <a:ext uri="{FF2B5EF4-FFF2-40B4-BE49-F238E27FC236}">
                  <a16:creationId xmlns:a16="http://schemas.microsoft.com/office/drawing/2014/main" id="{1C884054-5330-6157-F13B-FF2A68BC6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5046" y="2950541"/>
              <a:ext cx="8698472" cy="1557885"/>
              <a:chOff x="-193456" y="3003498"/>
              <a:chExt cx="8697713" cy="1557884"/>
            </a:xfrm>
          </p:grpSpPr>
          <p:sp>
            <p:nvSpPr>
              <p:cNvPr id="426" name="TextBox 399">
                <a:extLst>
                  <a:ext uri="{FF2B5EF4-FFF2-40B4-BE49-F238E27FC236}">
                    <a16:creationId xmlns:a16="http://schemas.microsoft.com/office/drawing/2014/main" id="{3FA53E6A-61C8-2B45-4159-7A5E49CD6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sp>
            <p:nvSpPr>
              <p:cNvPr id="427" name="TextBox 400">
                <a:extLst>
                  <a:ext uri="{FF2B5EF4-FFF2-40B4-BE49-F238E27FC236}">
                    <a16:creationId xmlns:a16="http://schemas.microsoft.com/office/drawing/2014/main" id="{7BC70F2C-D309-BB32-5CE0-0F35EA843B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control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plane</a:t>
                </a:r>
              </a:p>
            </p:txBody>
          </p:sp>
          <p:cxnSp>
            <p:nvCxnSpPr>
              <p:cNvPr id="428" name="Straight Connector 898">
                <a:extLst>
                  <a:ext uri="{FF2B5EF4-FFF2-40B4-BE49-F238E27FC236}">
                    <a16:creationId xmlns:a16="http://schemas.microsoft.com/office/drawing/2014/main" id="{90B57232-79F5-BF2E-CBAF-E159FB931B95}"/>
                  </a:ext>
                </a:extLst>
              </p:cNvPr>
              <p:cNvCxnSpPr/>
              <p:nvPr/>
            </p:nvCxnSpPr>
            <p:spPr bwMode="auto">
              <a:xfrm flipV="1">
                <a:off x="1526216" y="3579760"/>
                <a:ext cx="6978041" cy="11112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  <p:sp>
            <p:nvSpPr>
              <p:cNvPr id="698" name="TextBox 399">
                <a:extLst>
                  <a:ext uri="{FF2B5EF4-FFF2-40B4-BE49-F238E27FC236}">
                    <a16:creationId xmlns:a16="http://schemas.microsoft.com/office/drawing/2014/main" id="{BD787BA9-E306-B7A9-F297-B17E83E59C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3456" y="4276689"/>
                <a:ext cx="1867656" cy="28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： 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Controller Agent</a:t>
                </a:r>
                <a:endPara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29" name="Group 899">
              <a:extLst>
                <a:ext uri="{FF2B5EF4-FFF2-40B4-BE49-F238E27FC236}">
                  <a16:creationId xmlns:a16="http://schemas.microsoft.com/office/drawing/2014/main" id="{C8D44DD0-70A9-A4D1-B497-BD3AD43D02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6093" y="2682255"/>
              <a:ext cx="4295775" cy="320675"/>
              <a:chOff x="2433511" y="2792111"/>
              <a:chExt cx="4296530" cy="320561"/>
            </a:xfrm>
          </p:grpSpPr>
          <p:grpSp>
            <p:nvGrpSpPr>
              <p:cNvPr id="430" name="Group 401">
                <a:extLst>
                  <a:ext uri="{FF2B5EF4-FFF2-40B4-BE49-F238E27FC236}">
                    <a16:creationId xmlns:a16="http://schemas.microsoft.com/office/drawing/2014/main" id="{1F258ACE-04B3-2FD4-4835-EA6647C8BF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3511" y="2794083"/>
                <a:ext cx="349250" cy="317387"/>
                <a:chOff x="2931664" y="3912603"/>
                <a:chExt cx="430450" cy="329314"/>
              </a:xfrm>
            </p:grpSpPr>
            <p:sp>
              <p:nvSpPr>
                <p:cNvPr id="451" name="Rectangle 921">
                  <a:extLst>
                    <a:ext uri="{FF2B5EF4-FFF2-40B4-BE49-F238E27FC236}">
                      <a16:creationId xmlns:a16="http://schemas.microsoft.com/office/drawing/2014/main" id="{30CF0CE6-55BE-CFEB-1DF3-5F3CCB787798}"/>
                    </a:ext>
                  </a:extLst>
                </p:cNvPr>
                <p:cNvSpPr/>
                <p:nvPr/>
              </p:nvSpPr>
              <p:spPr>
                <a:xfrm>
                  <a:off x="2937534" y="3912203"/>
                  <a:ext cx="424655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52" name="Straight Connector 922">
                  <a:extLst>
                    <a:ext uri="{FF2B5EF4-FFF2-40B4-BE49-F238E27FC236}">
                      <a16:creationId xmlns:a16="http://schemas.microsoft.com/office/drawing/2014/main" id="{00F25F6C-FF16-14B5-76D5-A5C274D28F7F}"/>
                    </a:ext>
                  </a:extLst>
                </p:cNvPr>
                <p:cNvCxnSpPr/>
                <p:nvPr/>
              </p:nvCxnSpPr>
              <p:spPr>
                <a:xfrm>
                  <a:off x="2931664" y="4004411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53" name="Straight Connector 923">
                  <a:extLst>
                    <a:ext uri="{FF2B5EF4-FFF2-40B4-BE49-F238E27FC236}">
                      <a16:creationId xmlns:a16="http://schemas.microsoft.com/office/drawing/2014/main" id="{3F3F9D95-2615-3A32-192E-24876B431C02}"/>
                    </a:ext>
                  </a:extLst>
                </p:cNvPr>
                <p:cNvCxnSpPr/>
                <p:nvPr/>
              </p:nvCxnSpPr>
              <p:spPr>
                <a:xfrm>
                  <a:off x="2931664" y="4066980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54" name="Straight Connector 924">
                  <a:extLst>
                    <a:ext uri="{FF2B5EF4-FFF2-40B4-BE49-F238E27FC236}">
                      <a16:creationId xmlns:a16="http://schemas.microsoft.com/office/drawing/2014/main" id="{F22C848E-2F43-9DB8-AC5A-9A949933A41B}"/>
                    </a:ext>
                  </a:extLst>
                </p:cNvPr>
                <p:cNvCxnSpPr>
                  <a:stCxn id="451" idx="2"/>
                </p:cNvCxnSpPr>
                <p:nvPr/>
              </p:nvCxnSpPr>
              <p:spPr>
                <a:xfrm flipH="1" flipV="1">
                  <a:off x="3148883" y="4004411"/>
                  <a:ext cx="0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31" name="Group 406">
                <a:extLst>
                  <a:ext uri="{FF2B5EF4-FFF2-40B4-BE49-F238E27FC236}">
                    <a16:creationId xmlns:a16="http://schemas.microsoft.com/office/drawing/2014/main" id="{735A4DE0-89F9-2948-1E06-000BEE7281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8666" y="2792111"/>
                <a:ext cx="350838" cy="317387"/>
                <a:chOff x="2931664" y="3912603"/>
                <a:chExt cx="430450" cy="329314"/>
              </a:xfrm>
            </p:grpSpPr>
            <p:sp>
              <p:nvSpPr>
                <p:cNvPr id="447" name="Rectangle 917">
                  <a:extLst>
                    <a:ext uri="{FF2B5EF4-FFF2-40B4-BE49-F238E27FC236}">
                      <a16:creationId xmlns:a16="http://schemas.microsoft.com/office/drawing/2014/main" id="{3152E3DA-9537-2D74-AB72-6377CF2D3719}"/>
                    </a:ext>
                  </a:extLst>
                </p:cNvPr>
                <p:cNvSpPr/>
                <p:nvPr/>
              </p:nvSpPr>
              <p:spPr>
                <a:xfrm>
                  <a:off x="2936779" y="3912603"/>
                  <a:ext cx="424681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48" name="Straight Connector 918">
                  <a:extLst>
                    <a:ext uri="{FF2B5EF4-FFF2-40B4-BE49-F238E27FC236}">
                      <a16:creationId xmlns:a16="http://schemas.microsoft.com/office/drawing/2014/main" id="{D4715B04-299F-79B9-BADA-9D66D29E0206}"/>
                    </a:ext>
                  </a:extLst>
                </p:cNvPr>
                <p:cNvCxnSpPr/>
                <p:nvPr/>
              </p:nvCxnSpPr>
              <p:spPr>
                <a:xfrm>
                  <a:off x="2930935" y="4004811"/>
                  <a:ext cx="4246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49" name="Straight Connector 919">
                  <a:extLst>
                    <a:ext uri="{FF2B5EF4-FFF2-40B4-BE49-F238E27FC236}">
                      <a16:creationId xmlns:a16="http://schemas.microsoft.com/office/drawing/2014/main" id="{5F5620C9-94CC-D042-D0B4-BA5DC28A9844}"/>
                    </a:ext>
                  </a:extLst>
                </p:cNvPr>
                <p:cNvCxnSpPr/>
                <p:nvPr/>
              </p:nvCxnSpPr>
              <p:spPr>
                <a:xfrm>
                  <a:off x="2930935" y="4067381"/>
                  <a:ext cx="4246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50" name="Straight Connector 920">
                  <a:extLst>
                    <a:ext uri="{FF2B5EF4-FFF2-40B4-BE49-F238E27FC236}">
                      <a16:creationId xmlns:a16="http://schemas.microsoft.com/office/drawing/2014/main" id="{C1EC2726-F8EC-CF4A-64EB-02ADEEA134D3}"/>
                    </a:ext>
                  </a:extLst>
                </p:cNvPr>
                <p:cNvCxnSpPr>
                  <a:stCxn id="447" idx="2"/>
                </p:cNvCxnSpPr>
                <p:nvPr/>
              </p:nvCxnSpPr>
              <p:spPr>
                <a:xfrm flipH="1" flipV="1">
                  <a:off x="3147171" y="4004811"/>
                  <a:ext cx="1949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32" name="Group 411">
                <a:extLst>
                  <a:ext uri="{FF2B5EF4-FFF2-40B4-BE49-F238E27FC236}">
                    <a16:creationId xmlns:a16="http://schemas.microsoft.com/office/drawing/2014/main" id="{3BDE10D8-A261-964D-1D29-95778FDADC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821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443" name="Rectangle 913">
                  <a:extLst>
                    <a:ext uri="{FF2B5EF4-FFF2-40B4-BE49-F238E27FC236}">
                      <a16:creationId xmlns:a16="http://schemas.microsoft.com/office/drawing/2014/main" id="{298924CE-7B95-909A-75F2-A3A0278B1F2F}"/>
                    </a:ext>
                  </a:extLst>
                </p:cNvPr>
                <p:cNvSpPr/>
                <p:nvPr/>
              </p:nvSpPr>
              <p:spPr>
                <a:xfrm>
                  <a:off x="2936958" y="3912603"/>
                  <a:ext cx="424682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44" name="Straight Connector 914">
                  <a:extLst>
                    <a:ext uri="{FF2B5EF4-FFF2-40B4-BE49-F238E27FC236}">
                      <a16:creationId xmlns:a16="http://schemas.microsoft.com/office/drawing/2014/main" id="{11503980-4E15-A1E4-06FC-0641DAFFDA91}"/>
                    </a:ext>
                  </a:extLst>
                </p:cNvPr>
                <p:cNvCxnSpPr/>
                <p:nvPr/>
              </p:nvCxnSpPr>
              <p:spPr>
                <a:xfrm>
                  <a:off x="2931113" y="400481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45" name="Straight Connector 915">
                  <a:extLst>
                    <a:ext uri="{FF2B5EF4-FFF2-40B4-BE49-F238E27FC236}">
                      <a16:creationId xmlns:a16="http://schemas.microsoft.com/office/drawing/2014/main" id="{707AAAC3-ED23-C5BC-A154-ECD0A758BC61}"/>
                    </a:ext>
                  </a:extLst>
                </p:cNvPr>
                <p:cNvCxnSpPr/>
                <p:nvPr/>
              </p:nvCxnSpPr>
              <p:spPr>
                <a:xfrm>
                  <a:off x="2931113" y="406738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46" name="Straight Connector 916">
                  <a:extLst>
                    <a:ext uri="{FF2B5EF4-FFF2-40B4-BE49-F238E27FC236}">
                      <a16:creationId xmlns:a16="http://schemas.microsoft.com/office/drawing/2014/main" id="{AC27A04A-EFA5-3628-F595-F0245DB4C7BD}"/>
                    </a:ext>
                  </a:extLst>
                </p:cNvPr>
                <p:cNvCxnSpPr>
                  <a:stCxn id="443" idx="2"/>
                </p:cNvCxnSpPr>
                <p:nvPr/>
              </p:nvCxnSpPr>
              <p:spPr>
                <a:xfrm flipH="1" flipV="1">
                  <a:off x="3147351" y="4004811"/>
                  <a:ext cx="1947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33" name="Group 416">
                <a:extLst>
                  <a:ext uri="{FF2B5EF4-FFF2-40B4-BE49-F238E27FC236}">
                    <a16:creationId xmlns:a16="http://schemas.microsoft.com/office/drawing/2014/main" id="{4E7ACC41-E258-27EA-96DF-8F570243F6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4316" y="2795285"/>
                <a:ext cx="349250" cy="317387"/>
                <a:chOff x="2931664" y="3912603"/>
                <a:chExt cx="430450" cy="329314"/>
              </a:xfrm>
            </p:grpSpPr>
            <p:sp>
              <p:nvSpPr>
                <p:cNvPr id="439" name="Rectangle 909">
                  <a:extLst>
                    <a:ext uri="{FF2B5EF4-FFF2-40B4-BE49-F238E27FC236}">
                      <a16:creationId xmlns:a16="http://schemas.microsoft.com/office/drawing/2014/main" id="{46BEDED1-8792-01D6-F98E-C70AFD7E5D25}"/>
                    </a:ext>
                  </a:extLst>
                </p:cNvPr>
                <p:cNvSpPr/>
                <p:nvPr/>
              </p:nvSpPr>
              <p:spPr>
                <a:xfrm>
                  <a:off x="2937241" y="3912603"/>
                  <a:ext cx="424655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40" name="Straight Connector 910">
                  <a:extLst>
                    <a:ext uri="{FF2B5EF4-FFF2-40B4-BE49-F238E27FC236}">
                      <a16:creationId xmlns:a16="http://schemas.microsoft.com/office/drawing/2014/main" id="{4D77472D-FEEC-60D2-8867-FF859336BC00}"/>
                    </a:ext>
                  </a:extLst>
                </p:cNvPr>
                <p:cNvCxnSpPr/>
                <p:nvPr/>
              </p:nvCxnSpPr>
              <p:spPr>
                <a:xfrm>
                  <a:off x="2931371" y="4004811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41" name="Straight Connector 911">
                  <a:extLst>
                    <a:ext uri="{FF2B5EF4-FFF2-40B4-BE49-F238E27FC236}">
                      <a16:creationId xmlns:a16="http://schemas.microsoft.com/office/drawing/2014/main" id="{F2517D67-0C60-4DB5-D42C-2FD8117634FB}"/>
                    </a:ext>
                  </a:extLst>
                </p:cNvPr>
                <p:cNvCxnSpPr/>
                <p:nvPr/>
              </p:nvCxnSpPr>
              <p:spPr>
                <a:xfrm>
                  <a:off x="2931371" y="4067381"/>
                  <a:ext cx="424654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42" name="Straight Connector 912">
                  <a:extLst>
                    <a:ext uri="{FF2B5EF4-FFF2-40B4-BE49-F238E27FC236}">
                      <a16:creationId xmlns:a16="http://schemas.microsoft.com/office/drawing/2014/main" id="{DEFD4C4D-7DAF-F921-2134-1BC7837DB4E9}"/>
                    </a:ext>
                  </a:extLst>
                </p:cNvPr>
                <p:cNvCxnSpPr>
                  <a:stCxn id="439" idx="2"/>
                </p:cNvCxnSpPr>
                <p:nvPr/>
              </p:nvCxnSpPr>
              <p:spPr>
                <a:xfrm flipH="1" flipV="1">
                  <a:off x="3148590" y="4004811"/>
                  <a:ext cx="0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34" name="Group 421">
                <a:extLst>
                  <a:ext uri="{FF2B5EF4-FFF2-40B4-BE49-F238E27FC236}">
                    <a16:creationId xmlns:a16="http://schemas.microsoft.com/office/drawing/2014/main" id="{6007251D-BCF8-1AE5-A5CB-15D6C8BA87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792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435" name="Rectangle 905">
                  <a:extLst>
                    <a:ext uri="{FF2B5EF4-FFF2-40B4-BE49-F238E27FC236}">
                      <a16:creationId xmlns:a16="http://schemas.microsoft.com/office/drawing/2014/main" id="{1D76A7A6-7135-1BDF-DB7B-E342F41AAC0A}"/>
                    </a:ext>
                  </a:extLst>
                </p:cNvPr>
                <p:cNvSpPr/>
                <p:nvPr/>
              </p:nvSpPr>
              <p:spPr>
                <a:xfrm>
                  <a:off x="2937432" y="3912603"/>
                  <a:ext cx="424682" cy="329314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6" name="Straight Connector 906">
                  <a:extLst>
                    <a:ext uri="{FF2B5EF4-FFF2-40B4-BE49-F238E27FC236}">
                      <a16:creationId xmlns:a16="http://schemas.microsoft.com/office/drawing/2014/main" id="{2D14CE91-3AF5-76D5-3A23-AA736CA06F1C}"/>
                    </a:ext>
                  </a:extLst>
                </p:cNvPr>
                <p:cNvCxnSpPr/>
                <p:nvPr/>
              </p:nvCxnSpPr>
              <p:spPr>
                <a:xfrm>
                  <a:off x="2931587" y="400481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37" name="Straight Connector 907">
                  <a:extLst>
                    <a:ext uri="{FF2B5EF4-FFF2-40B4-BE49-F238E27FC236}">
                      <a16:creationId xmlns:a16="http://schemas.microsoft.com/office/drawing/2014/main" id="{719B35C3-87A7-1218-01CD-5565DB64B488}"/>
                    </a:ext>
                  </a:extLst>
                </p:cNvPr>
                <p:cNvCxnSpPr/>
                <p:nvPr/>
              </p:nvCxnSpPr>
              <p:spPr>
                <a:xfrm>
                  <a:off x="2931587" y="4067381"/>
                  <a:ext cx="424682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38" name="Straight Connector 908">
                  <a:extLst>
                    <a:ext uri="{FF2B5EF4-FFF2-40B4-BE49-F238E27FC236}">
                      <a16:creationId xmlns:a16="http://schemas.microsoft.com/office/drawing/2014/main" id="{94F5343F-A2B0-F7EF-ECA3-12A95BB88CC9}"/>
                    </a:ext>
                  </a:extLst>
                </p:cNvPr>
                <p:cNvCxnSpPr>
                  <a:stCxn id="435" idx="2"/>
                </p:cNvCxnSpPr>
                <p:nvPr/>
              </p:nvCxnSpPr>
              <p:spPr>
                <a:xfrm flipH="1" flipV="1">
                  <a:off x="3147825" y="4004811"/>
                  <a:ext cx="1947" cy="23710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455" name="Group 925">
              <a:extLst>
                <a:ext uri="{FF2B5EF4-FFF2-40B4-BE49-F238E27FC236}">
                  <a16:creationId xmlns:a16="http://schemas.microsoft.com/office/drawing/2014/main" id="{73C7902E-7E3A-597B-DE76-76E532DA1B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5068" y="3656980"/>
              <a:ext cx="5211762" cy="2740025"/>
              <a:chOff x="1856416" y="3709935"/>
              <a:chExt cx="5211763" cy="2739614"/>
            </a:xfrm>
          </p:grpSpPr>
          <p:sp>
            <p:nvSpPr>
              <p:cNvPr id="456" name="Freeform 926">
                <a:extLst>
                  <a:ext uri="{FF2B5EF4-FFF2-40B4-BE49-F238E27FC236}">
                    <a16:creationId xmlns:a16="http://schemas.microsoft.com/office/drawing/2014/main" id="{0C15A77C-4415-F70B-E90B-35442E95855C}"/>
                  </a:ext>
                </a:extLst>
              </p:cNvPr>
              <p:cNvSpPr/>
              <p:nvPr/>
            </p:nvSpPr>
            <p:spPr>
              <a:xfrm>
                <a:off x="1877053" y="5330529"/>
                <a:ext cx="1281113" cy="758711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499" h="759828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7" name="Freeform 927">
                <a:extLst>
                  <a:ext uri="{FF2B5EF4-FFF2-40B4-BE49-F238E27FC236}">
                    <a16:creationId xmlns:a16="http://schemas.microsoft.com/office/drawing/2014/main" id="{F2D64EC4-A171-20BC-81D9-036773B87D10}"/>
                  </a:ext>
                </a:extLst>
              </p:cNvPr>
              <p:cNvSpPr/>
              <p:nvPr/>
            </p:nvSpPr>
            <p:spPr>
              <a:xfrm>
                <a:off x="6202992" y="5428939"/>
                <a:ext cx="865187" cy="553955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1011379"/>
                  <a:gd name="connsiteY0" fmla="*/ 605727 h 758185"/>
                  <a:gd name="connsiteX1" fmla="*/ 490915 w 1011379"/>
                  <a:gd name="connsiteY1" fmla="*/ 13939 h 758185"/>
                  <a:gd name="connsiteX2" fmla="*/ 1011379 w 1011379"/>
                  <a:gd name="connsiteY2" fmla="*/ 563 h 758185"/>
                  <a:gd name="connsiteX3" fmla="*/ 268780 w 1011379"/>
                  <a:gd name="connsiteY3" fmla="*/ 758185 h 758185"/>
                  <a:gd name="connsiteX4" fmla="*/ 0 w 1011379"/>
                  <a:gd name="connsiteY4" fmla="*/ 605727 h 758185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05727"/>
                  <a:gd name="connsiteX1" fmla="*/ 490915 w 1011379"/>
                  <a:gd name="connsiteY1" fmla="*/ 13939 h 605727"/>
                  <a:gd name="connsiteX2" fmla="*/ 1011379 w 1011379"/>
                  <a:gd name="connsiteY2" fmla="*/ 563 h 605727"/>
                  <a:gd name="connsiteX3" fmla="*/ 318823 w 1011379"/>
                  <a:gd name="connsiteY3" fmla="*/ 553361 h 605727"/>
                  <a:gd name="connsiteX4" fmla="*/ 0 w 1011379"/>
                  <a:gd name="connsiteY4" fmla="*/ 605727 h 605727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251" h="55336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8" name="Freeform 928">
                <a:extLst>
                  <a:ext uri="{FF2B5EF4-FFF2-40B4-BE49-F238E27FC236}">
                    <a16:creationId xmlns:a16="http://schemas.microsoft.com/office/drawing/2014/main" id="{23405698-B324-D4A3-EBA8-EFE5E2F40207}"/>
                  </a:ext>
                </a:extLst>
              </p:cNvPr>
              <p:cNvSpPr/>
              <p:nvPr/>
            </p:nvSpPr>
            <p:spPr>
              <a:xfrm>
                <a:off x="5377492" y="5449574"/>
                <a:ext cx="676275" cy="896802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675040"/>
                  <a:gd name="connsiteY0" fmla="*/ 894029 h 896577"/>
                  <a:gd name="connsiteX1" fmla="*/ 15664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  <a:gd name="connsiteX0" fmla="*/ 0 w 675040"/>
                  <a:gd name="connsiteY0" fmla="*/ 894029 h 896577"/>
                  <a:gd name="connsiteX1" fmla="*/ 18662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040" h="896577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9" name="Freeform 929">
                <a:extLst>
                  <a:ext uri="{FF2B5EF4-FFF2-40B4-BE49-F238E27FC236}">
                    <a16:creationId xmlns:a16="http://schemas.microsoft.com/office/drawing/2014/main" id="{5762F06E-1174-DFCD-EE18-61F3F09E97A6}"/>
                  </a:ext>
                </a:extLst>
              </p:cNvPr>
              <p:cNvSpPr/>
              <p:nvPr/>
            </p:nvSpPr>
            <p:spPr>
              <a:xfrm>
                <a:off x="4340853" y="5470208"/>
                <a:ext cx="514350" cy="40157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7341"/>
                  <a:gd name="connsiteX1" fmla="*/ 0 w 514180"/>
                  <a:gd name="connsiteY1" fmla="*/ 0 h 577341"/>
                  <a:gd name="connsiteX2" fmla="*/ 514180 w 514180"/>
                  <a:gd name="connsiteY2" fmla="*/ 10891 h 577341"/>
                  <a:gd name="connsiteX3" fmla="*/ 404259 w 514180"/>
                  <a:gd name="connsiteY3" fmla="*/ 386400 h 577341"/>
                  <a:gd name="connsiteX4" fmla="*/ 135770 w 514180"/>
                  <a:gd name="connsiteY4" fmla="*/ 577341 h 577341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02193 h 402193"/>
                  <a:gd name="connsiteX1" fmla="*/ 0 w 514180"/>
                  <a:gd name="connsiteY1" fmla="*/ 0 h 402193"/>
                  <a:gd name="connsiteX2" fmla="*/ 514180 w 514180"/>
                  <a:gd name="connsiteY2" fmla="*/ 10891 h 402193"/>
                  <a:gd name="connsiteX3" fmla="*/ 404259 w 514180"/>
                  <a:gd name="connsiteY3" fmla="*/ 386400 h 402193"/>
                  <a:gd name="connsiteX4" fmla="*/ 100781 w 514180"/>
                  <a:gd name="connsiteY4" fmla="*/ 402193 h 402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402193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0" name="Freeform 930">
                <a:extLst>
                  <a:ext uri="{FF2B5EF4-FFF2-40B4-BE49-F238E27FC236}">
                    <a16:creationId xmlns:a16="http://schemas.microsoft.com/office/drawing/2014/main" id="{4CE06F22-CB81-E524-860D-3F2123C95BBE}"/>
                  </a:ext>
                </a:extLst>
              </p:cNvPr>
              <p:cNvSpPr/>
              <p:nvPr/>
            </p:nvSpPr>
            <p:spPr>
              <a:xfrm>
                <a:off x="3561391" y="5433701"/>
                <a:ext cx="573087" cy="101584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  <a:gd name="connsiteX0" fmla="*/ 403236 w 574100"/>
                  <a:gd name="connsiteY0" fmla="*/ 1215612 h 1215612"/>
                  <a:gd name="connsiteX1" fmla="*/ 0 w 574100"/>
                  <a:gd name="connsiteY1" fmla="*/ 4757 h 1215612"/>
                  <a:gd name="connsiteX2" fmla="*/ 502783 w 574100"/>
                  <a:gd name="connsiteY2" fmla="*/ 0 h 1215612"/>
                  <a:gd name="connsiteX3" fmla="*/ 574100 w 574100"/>
                  <a:gd name="connsiteY3" fmla="*/ 1014877 h 1215612"/>
                  <a:gd name="connsiteX4" fmla="*/ 403236 w 574100"/>
                  <a:gd name="connsiteY4" fmla="*/ 1215612 h 1215612"/>
                  <a:gd name="connsiteX0" fmla="*/ 333190 w 574100"/>
                  <a:gd name="connsiteY0" fmla="*/ 985695 h 1015244"/>
                  <a:gd name="connsiteX1" fmla="*/ 0 w 574100"/>
                  <a:gd name="connsiteY1" fmla="*/ 4757 h 1015244"/>
                  <a:gd name="connsiteX2" fmla="*/ 502783 w 574100"/>
                  <a:gd name="connsiteY2" fmla="*/ 0 h 1015244"/>
                  <a:gd name="connsiteX3" fmla="*/ 574100 w 574100"/>
                  <a:gd name="connsiteY3" fmla="*/ 1014877 h 1015244"/>
                  <a:gd name="connsiteX4" fmla="*/ 333190 w 574100"/>
                  <a:gd name="connsiteY4" fmla="*/ 985695 h 101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4100" h="1015244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461" name="Group 28">
                <a:extLst>
                  <a:ext uri="{FF2B5EF4-FFF2-40B4-BE49-F238E27FC236}">
                    <a16:creationId xmlns:a16="http://schemas.microsoft.com/office/drawing/2014/main" id="{967D3DD0-88D5-8CF7-942E-AABD27D8DC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546" name="Rectangle 1016">
                  <a:extLst>
                    <a:ext uri="{FF2B5EF4-FFF2-40B4-BE49-F238E27FC236}">
                      <a16:creationId xmlns:a16="http://schemas.microsoft.com/office/drawing/2014/main" id="{0EAB8539-F016-C598-240B-29D02618E385}"/>
                    </a:ext>
                  </a:extLst>
                </p:cNvPr>
                <p:cNvSpPr/>
                <p:nvPr/>
              </p:nvSpPr>
              <p:spPr bwMode="auto">
                <a:xfrm rot="10800000">
                  <a:off x="1867528" y="3957548"/>
                  <a:ext cx="1027113" cy="61109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547" name="Group 498">
                  <a:extLst>
                    <a:ext uri="{FF2B5EF4-FFF2-40B4-BE49-F238E27FC236}">
                      <a16:creationId xmlns:a16="http://schemas.microsoft.com/office/drawing/2014/main" id="{E68ECA6A-644F-11E7-6447-3EC6C166FB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805" y="5088863"/>
                  <a:ext cx="1035373" cy="360972"/>
                  <a:chOff x="4128636" y="3606589"/>
                  <a:chExt cx="568145" cy="338667"/>
                </a:xfrm>
              </p:grpSpPr>
              <p:sp>
                <p:nvSpPr>
                  <p:cNvPr id="561" name="Oval 1031">
                    <a:extLst>
                      <a:ext uri="{FF2B5EF4-FFF2-40B4-BE49-F238E27FC236}">
                        <a16:creationId xmlns:a16="http://schemas.microsoft.com/office/drawing/2014/main" id="{C92D170B-27A2-0F86-9889-8955C4D14DAC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2" name="Rectangle 1032">
                    <a:extLst>
                      <a:ext uri="{FF2B5EF4-FFF2-40B4-BE49-F238E27FC236}">
                        <a16:creationId xmlns:a16="http://schemas.microsoft.com/office/drawing/2014/main" id="{DABCB1EB-EA51-CFE0-949D-7098730A4F60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3" name="Oval 1033">
                    <a:extLst>
                      <a:ext uri="{FF2B5EF4-FFF2-40B4-BE49-F238E27FC236}">
                        <a16:creationId xmlns:a16="http://schemas.microsoft.com/office/drawing/2014/main" id="{A68C41FB-6C2C-6FC7-061A-8E66D8770625}"/>
                      </a:ext>
                    </a:extLst>
                  </p:cNvPr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60000"/>
                      <a:lumOff val="40000"/>
                      <a:alpha val="7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64" name="Straight Connector 1034">
                    <a:extLst>
                      <a:ext uri="{FF2B5EF4-FFF2-40B4-BE49-F238E27FC236}">
                        <a16:creationId xmlns:a16="http://schemas.microsoft.com/office/drawing/2014/main" id="{E53F8BE8-18E6-5022-6EB2-FE82D2667145}"/>
                      </a:ext>
                    </a:extLst>
                  </p:cNvPr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65" name="Straight Connector 1035">
                    <a:extLst>
                      <a:ext uri="{FF2B5EF4-FFF2-40B4-BE49-F238E27FC236}">
                        <a16:creationId xmlns:a16="http://schemas.microsoft.com/office/drawing/2014/main" id="{837104E4-7619-52DE-188D-5869BF59246D}"/>
                      </a:ext>
                    </a:extLst>
                  </p:cNvPr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48" name="Rectangle 1018">
                  <a:extLst>
                    <a:ext uri="{FF2B5EF4-FFF2-40B4-BE49-F238E27FC236}">
                      <a16:creationId xmlns:a16="http://schemas.microsoft.com/office/drawing/2014/main" id="{AF41D35C-715D-0BB6-B559-3F6096604194}"/>
                    </a:ext>
                  </a:extLst>
                </p:cNvPr>
                <p:cNvSpPr/>
                <p:nvPr/>
              </p:nvSpPr>
              <p:spPr bwMode="auto">
                <a:xfrm>
                  <a:off x="1877053" y="4705148"/>
                  <a:ext cx="1028700" cy="52221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49" name="Straight Connector 1019">
                  <a:extLst>
                    <a:ext uri="{FF2B5EF4-FFF2-40B4-BE49-F238E27FC236}">
                      <a16:creationId xmlns:a16="http://schemas.microsoft.com/office/drawing/2014/main" id="{00B61167-DB4F-B142-4948-788B02C0A50C}"/>
                    </a:ext>
                  </a:extLst>
                </p:cNvPr>
                <p:cNvCxnSpPr/>
                <p:nvPr/>
              </p:nvCxnSpPr>
              <p:spPr bwMode="auto">
                <a:xfrm>
                  <a:off x="1861178" y="3981356"/>
                  <a:ext cx="17463" cy="130155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cxnSp>
              <p:nvCxnSpPr>
                <p:cNvPr id="550" name="Straight Connector 1020">
                  <a:extLst>
                    <a:ext uri="{FF2B5EF4-FFF2-40B4-BE49-F238E27FC236}">
                      <a16:creationId xmlns:a16="http://schemas.microsoft.com/office/drawing/2014/main" id="{CDACC1BC-45DE-AD1D-61B6-2D157F4F924A}"/>
                    </a:ext>
                  </a:extLst>
                </p:cNvPr>
                <p:cNvCxnSpPr/>
                <p:nvPr/>
              </p:nvCxnSpPr>
              <p:spPr bwMode="auto">
                <a:xfrm flipH="1">
                  <a:off x="2894641" y="3971833"/>
                  <a:ext cx="6350" cy="126981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51" name="Group 504">
                  <a:extLst>
                    <a:ext uri="{FF2B5EF4-FFF2-40B4-BE49-F238E27FC236}">
                      <a16:creationId xmlns:a16="http://schemas.microsoft.com/office/drawing/2014/main" id="{5DF06DE4-28CB-55D9-9078-648A6EC342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6416" y="3709935"/>
                  <a:ext cx="1044712" cy="399063"/>
                  <a:chOff x="2183302" y="1574638"/>
                  <a:chExt cx="1200154" cy="430218"/>
                </a:xfrm>
              </p:grpSpPr>
              <p:sp>
                <p:nvSpPr>
                  <p:cNvPr id="552" name="Oval 1022">
                    <a:extLst>
                      <a:ext uri="{FF2B5EF4-FFF2-40B4-BE49-F238E27FC236}">
                        <a16:creationId xmlns:a16="http://schemas.microsoft.com/office/drawing/2014/main" id="{AC988A82-F9CD-9F68-BA19-168E8B8A3B8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5125" y="1689286"/>
                    <a:ext cx="1196349" cy="31485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20000"/>
                          <a:lumOff val="80000"/>
                        </a:srgbClr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3" name="Rectangle 1023">
                    <a:extLst>
                      <a:ext uri="{FF2B5EF4-FFF2-40B4-BE49-F238E27FC236}">
                        <a16:creationId xmlns:a16="http://schemas.microsoft.com/office/drawing/2014/main" id="{BE98A3A5-CDF9-D9B6-48A2-9612480CE7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302" y="1735489"/>
                    <a:ext cx="1198172" cy="112938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4" name="Oval 1024">
                    <a:extLst>
                      <a:ext uri="{FF2B5EF4-FFF2-40B4-BE49-F238E27FC236}">
                        <a16:creationId xmlns:a16="http://schemas.microsoft.com/office/drawing/2014/main" id="{A04A252A-60FC-DB3A-2CDF-FD488A4A0E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3302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55" name="Freeform 1025">
                    <a:extLst>
                      <a:ext uri="{FF2B5EF4-FFF2-40B4-BE49-F238E27FC236}">
                        <a16:creationId xmlns:a16="http://schemas.microsoft.com/office/drawing/2014/main" id="{7EC0FE87-F63D-F022-EA48-B69E569C68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9684" y="1670464"/>
                    <a:ext cx="581761" cy="157429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6" name="Freeform 1026">
                    <a:extLst>
                      <a:ext uri="{FF2B5EF4-FFF2-40B4-BE49-F238E27FC236}">
                        <a16:creationId xmlns:a16="http://schemas.microsoft.com/office/drawing/2014/main" id="{07E3D5FB-4FDD-27A8-9748-AF4E5A8C7A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9501" y="1629396"/>
                    <a:ext cx="703949" cy="111226"/>
                  </a:xfrm>
                  <a:custGeom>
                    <a:avLst/>
                    <a:gdLst>
                      <a:gd name="T0" fmla="*/ 0 w 3723451"/>
                      <a:gd name="T1" fmla="*/ 27211 h 932950"/>
                      <a:gd name="T2" fmla="*/ 123865 w 3723451"/>
                      <a:gd name="T3" fmla="*/ 321 h 932950"/>
                      <a:gd name="T4" fmla="*/ 350850 w 3723451"/>
                      <a:gd name="T5" fmla="*/ 62061 h 932950"/>
                      <a:gd name="T6" fmla="*/ 567397 w 3723451"/>
                      <a:gd name="T7" fmla="*/ 0 h 932950"/>
                      <a:gd name="T8" fmla="*/ 703949 w 3723451"/>
                      <a:gd name="T9" fmla="*/ 24696 h 932950"/>
                      <a:gd name="T10" fmla="*/ 602354 w 3723451"/>
                      <a:gd name="T11" fmla="*/ 55064 h 932950"/>
                      <a:gd name="T12" fmla="*/ 569645 w 3723451"/>
                      <a:gd name="T13" fmla="*/ 46877 h 932950"/>
                      <a:gd name="T14" fmla="*/ 354838 w 3723451"/>
                      <a:gd name="T15" fmla="*/ 111226 h 932950"/>
                      <a:gd name="T16" fmla="*/ 134536 w 3723451"/>
                      <a:gd name="T17" fmla="*/ 49244 h 932950"/>
                      <a:gd name="T18" fmla="*/ 98918 w 3723451"/>
                      <a:gd name="T19" fmla="*/ 55934 h 932950"/>
                      <a:gd name="T20" fmla="*/ 0 w 3723451"/>
                      <a:gd name="T21" fmla="*/ 27211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57" name="Freeform 1027">
                    <a:extLst>
                      <a:ext uri="{FF2B5EF4-FFF2-40B4-BE49-F238E27FC236}">
                        <a16:creationId xmlns:a16="http://schemas.microsoft.com/office/drawing/2014/main" id="{A021C3E0-86AC-BD87-C433-8FAA3FB0A4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722" y="1723510"/>
                    <a:ext cx="257143" cy="95826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7143 w 1366596"/>
                      <a:gd name="T3" fmla="*/ 74047 h 809868"/>
                      <a:gd name="T4" fmla="*/ 162771 w 1366596"/>
                      <a:gd name="T5" fmla="*/ 95826 h 809868"/>
                      <a:gd name="T6" fmla="*/ 866 w 1366596"/>
                      <a:gd name="T7" fmla="*/ 5063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58" name="Freeform 1028">
                    <a:extLst>
                      <a:ext uri="{FF2B5EF4-FFF2-40B4-BE49-F238E27FC236}">
                        <a16:creationId xmlns:a16="http://schemas.microsoft.com/office/drawing/2014/main" id="{E7363DC2-31CF-9862-7D9F-0909424DDC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6736" y="1725222"/>
                    <a:ext cx="255318" cy="94114"/>
                  </a:xfrm>
                  <a:custGeom>
                    <a:avLst/>
                    <a:gdLst>
                      <a:gd name="T0" fmla="*/ 251832 w 1348191"/>
                      <a:gd name="T1" fmla="*/ 0 h 791462"/>
                      <a:gd name="T2" fmla="*/ 255318 w 1348191"/>
                      <a:gd name="T3" fmla="*/ 45415 h 791462"/>
                      <a:gd name="T4" fmla="*/ 92368 w 1348191"/>
                      <a:gd name="T5" fmla="*/ 94114 h 791462"/>
                      <a:gd name="T6" fmla="*/ 0 w 1348191"/>
                      <a:gd name="T7" fmla="*/ 72774 h 791462"/>
                      <a:gd name="T8" fmla="*/ 251832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559" name="Straight Connector 1029">
                    <a:extLst>
                      <a:ext uri="{FF2B5EF4-FFF2-40B4-BE49-F238E27FC236}">
                        <a16:creationId xmlns:a16="http://schemas.microsoft.com/office/drawing/2014/main" id="{32D33202-0172-53E0-E4C1-27DB0D755BE5}"/>
                      </a:ext>
                    </a:extLst>
                  </p:cNvPr>
                  <p:cNvCxnSpPr>
                    <a:cxnSpLocks noChangeShapeType="1"/>
                    <a:endCxn id="554" idx="2"/>
                  </p:cNvCxnSpPr>
                  <p:nvPr/>
                </p:nvCxnSpPr>
                <p:spPr bwMode="auto">
                  <a:xfrm flipH="1" flipV="1">
                    <a:off x="2183302" y="1732067"/>
                    <a:ext cx="1823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60" name="Straight Connector 1030">
                    <a:extLst>
                      <a:ext uri="{FF2B5EF4-FFF2-40B4-BE49-F238E27FC236}">
                        <a16:creationId xmlns:a16="http://schemas.microsoft.com/office/drawing/2014/main" id="{C73CBC43-E2CF-1FA7-F87A-AEE32B2EB36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81474" y="1728644"/>
                    <a:ext cx="1824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462" name="Group 29">
                <a:extLst>
                  <a:ext uri="{FF2B5EF4-FFF2-40B4-BE49-F238E27FC236}">
                    <a16:creationId xmlns:a16="http://schemas.microsoft.com/office/drawing/2014/main" id="{B5EC63AA-7CD2-61D9-4257-9907C2BA79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526" name="Rectangle 996">
                  <a:extLst>
                    <a:ext uri="{FF2B5EF4-FFF2-40B4-BE49-F238E27FC236}">
                      <a16:creationId xmlns:a16="http://schemas.microsoft.com/office/drawing/2014/main" id="{A56D608D-49DF-F178-8EB8-1392CBFED2A7}"/>
                    </a:ext>
                  </a:extLst>
                </p:cNvPr>
                <p:cNvSpPr/>
                <p:nvPr/>
              </p:nvSpPr>
              <p:spPr bwMode="auto"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27" name="Straight Connector 997">
                  <a:extLst>
                    <a:ext uri="{FF2B5EF4-FFF2-40B4-BE49-F238E27FC236}">
                      <a16:creationId xmlns:a16="http://schemas.microsoft.com/office/drawing/2014/main" id="{2397BB68-C1B5-F9B8-F356-4676A8639524}"/>
                    </a:ext>
                  </a:extLst>
                </p:cNvPr>
                <p:cNvCxnSpPr/>
                <p:nvPr/>
              </p:nvCxnSpPr>
              <p:spPr bwMode="auto">
                <a:xfrm flipH="1">
                  <a:off x="4078916" y="4019450"/>
                  <a:ext cx="1587" cy="13650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28" name="Group 552">
                  <a:extLst>
                    <a:ext uri="{FF2B5EF4-FFF2-40B4-BE49-F238E27FC236}">
                      <a16:creationId xmlns:a16="http://schemas.microsoft.com/office/drawing/2014/main" id="{BAFA3AD4-9FC2-5E4D-8F5B-A56439E193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71302" y="53106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41" name="Oval 1011">
                    <a:extLst>
                      <a:ext uri="{FF2B5EF4-FFF2-40B4-BE49-F238E27FC236}">
                        <a16:creationId xmlns:a16="http://schemas.microsoft.com/office/drawing/2014/main" id="{A5B2CE74-58DD-B9E6-C166-B5EECDC45054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7"/>
                    <a:ext cx="568606" cy="22550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2" name="Rectangle 1012">
                    <a:extLst>
                      <a:ext uri="{FF2B5EF4-FFF2-40B4-BE49-F238E27FC236}">
                        <a16:creationId xmlns:a16="http://schemas.microsoft.com/office/drawing/2014/main" id="{D3DA0DB5-2E0C-D58F-2C34-5547ECB75159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7"/>
                    <a:ext cx="568606" cy="111537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3" name="Oval 1013">
                    <a:extLst>
                      <a:ext uri="{FF2B5EF4-FFF2-40B4-BE49-F238E27FC236}">
                        <a16:creationId xmlns:a16="http://schemas.microsoft.com/office/drawing/2014/main" id="{4AAAA716-2858-36DF-A3FD-79B81D554EEA}"/>
                      </a:ext>
                    </a:extLst>
                  </p:cNvPr>
                  <p:cNvSpPr/>
                  <p:nvPr/>
                </p:nvSpPr>
                <p:spPr>
                  <a:xfrm>
                    <a:off x="4128204" y="3600527"/>
                    <a:ext cx="568606" cy="230348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44" name="Straight Connector 1014">
                    <a:extLst>
                      <a:ext uri="{FF2B5EF4-FFF2-40B4-BE49-F238E27FC236}">
                        <a16:creationId xmlns:a16="http://schemas.microsoft.com/office/drawing/2014/main" id="{39982C35-DEA9-5BF5-CAC5-712D00C4FABB}"/>
                      </a:ext>
                    </a:extLst>
                  </p:cNvPr>
                  <p:cNvCxnSpPr/>
                  <p:nvPr/>
                </p:nvCxnSpPr>
                <p:spPr>
                  <a:xfrm>
                    <a:off x="4696810" y="3719337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5" name="Straight Connector 1015">
                    <a:extLst>
                      <a:ext uri="{FF2B5EF4-FFF2-40B4-BE49-F238E27FC236}">
                        <a16:creationId xmlns:a16="http://schemas.microsoft.com/office/drawing/2014/main" id="{7F097254-A4A9-2528-FE5C-F34694BB92FF}"/>
                      </a:ext>
                    </a:extLst>
                  </p:cNvPr>
                  <p:cNvCxnSpPr/>
                  <p:nvPr/>
                </p:nvCxnSpPr>
                <p:spPr>
                  <a:xfrm>
                    <a:off x="4128204" y="3719337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29" name="Rectangle 999">
                  <a:extLst>
                    <a:ext uri="{FF2B5EF4-FFF2-40B4-BE49-F238E27FC236}">
                      <a16:creationId xmlns:a16="http://schemas.microsoft.com/office/drawing/2014/main" id="{06CBE46C-5F50-B25B-CF62-CBA871BA8154}"/>
                    </a:ext>
                  </a:extLst>
                </p:cNvPr>
                <p:cNvSpPr/>
                <p:nvPr/>
              </p:nvSpPr>
              <p:spPr bwMode="auto">
                <a:xfrm>
                  <a:off x="3572503" y="4574992"/>
                  <a:ext cx="496888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30" name="Straight Connector 1000">
                  <a:extLst>
                    <a:ext uri="{FF2B5EF4-FFF2-40B4-BE49-F238E27FC236}">
                      <a16:creationId xmlns:a16="http://schemas.microsoft.com/office/drawing/2014/main" id="{E6A3595F-440F-6C5A-E5CB-58FDC69BD44C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66153" y="4027387"/>
                  <a:ext cx="3175" cy="145075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31" name="Group 538">
                  <a:extLst>
                    <a:ext uri="{FF2B5EF4-FFF2-40B4-BE49-F238E27FC236}">
                      <a16:creationId xmlns:a16="http://schemas.microsoft.com/office/drawing/2014/main" id="{71BCE869-998B-A233-C27F-2C08A0420D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68667" y="38623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32" name="Oval 1002">
                    <a:extLst>
                      <a:ext uri="{FF2B5EF4-FFF2-40B4-BE49-F238E27FC236}">
                        <a16:creationId xmlns:a16="http://schemas.microsoft.com/office/drawing/2014/main" id="{97F33C47-681A-A051-3B96-136F56672BF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59" y="1691189"/>
                    <a:ext cx="1194966" cy="31249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3" name="Rectangle 1003">
                    <a:extLst>
                      <a:ext uri="{FF2B5EF4-FFF2-40B4-BE49-F238E27FC236}">
                        <a16:creationId xmlns:a16="http://schemas.microsoft.com/office/drawing/2014/main" id="{E674C399-CA78-ABDC-C38A-30145CDFA7C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7" y="1736233"/>
                    <a:ext cx="1198749" cy="1126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4" name="Oval 1004">
                    <a:extLst>
                      <a:ext uri="{FF2B5EF4-FFF2-40B4-BE49-F238E27FC236}">
                        <a16:creationId xmlns:a16="http://schemas.microsoft.com/office/drawing/2014/main" id="{7FF12081-11A7-AAFA-8D38-5E14E34425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77" y="1564501"/>
                    <a:ext cx="1194966" cy="31249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35" name="Freeform 1005">
                    <a:extLst>
                      <a:ext uri="{FF2B5EF4-FFF2-40B4-BE49-F238E27FC236}">
                        <a16:creationId xmlns:a16="http://schemas.microsoft.com/office/drawing/2014/main" id="{CBD603FD-8B04-592C-D11F-063C1460A6D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2" y="1671482"/>
                    <a:ext cx="582357" cy="1548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6" name="Freeform 1006">
                    <a:extLst>
                      <a:ext uri="{FF2B5EF4-FFF2-40B4-BE49-F238E27FC236}">
                        <a16:creationId xmlns:a16="http://schemas.microsoft.com/office/drawing/2014/main" id="{0439A751-63CB-8891-BA4E-7BFCF04D71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78" y="1629252"/>
                    <a:ext cx="703366" cy="109797"/>
                  </a:xfrm>
                  <a:custGeom>
                    <a:avLst/>
                    <a:gdLst>
                      <a:gd name="T0" fmla="*/ 0 w 3723451"/>
                      <a:gd name="T1" fmla="*/ 26862 h 932950"/>
                      <a:gd name="T2" fmla="*/ 123762 w 3723451"/>
                      <a:gd name="T3" fmla="*/ 317 h 932950"/>
                      <a:gd name="T4" fmla="*/ 350560 w 3723451"/>
                      <a:gd name="T5" fmla="*/ 61264 h 932950"/>
                      <a:gd name="T6" fmla="*/ 566927 w 3723451"/>
                      <a:gd name="T7" fmla="*/ 0 h 932950"/>
                      <a:gd name="T8" fmla="*/ 703366 w 3723451"/>
                      <a:gd name="T9" fmla="*/ 24379 h 932950"/>
                      <a:gd name="T10" fmla="*/ 601856 w 3723451"/>
                      <a:gd name="T11" fmla="*/ 54357 h 932950"/>
                      <a:gd name="T12" fmla="*/ 569173 w 3723451"/>
                      <a:gd name="T13" fmla="*/ 46275 h 932950"/>
                      <a:gd name="T14" fmla="*/ 354544 w 3723451"/>
                      <a:gd name="T15" fmla="*/ 109797 h 932950"/>
                      <a:gd name="T16" fmla="*/ 134425 w 3723451"/>
                      <a:gd name="T17" fmla="*/ 48612 h 932950"/>
                      <a:gd name="T18" fmla="*/ 98836 w 3723451"/>
                      <a:gd name="T19" fmla="*/ 55215 h 932950"/>
                      <a:gd name="T20" fmla="*/ 0 w 3723451"/>
                      <a:gd name="T21" fmla="*/ 2686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37" name="Freeform 1007">
                    <a:extLst>
                      <a:ext uri="{FF2B5EF4-FFF2-40B4-BE49-F238E27FC236}">
                        <a16:creationId xmlns:a16="http://schemas.microsoft.com/office/drawing/2014/main" id="{DC1156FC-2626-3B23-A147-E8D2A4CCDD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5" y="1722158"/>
                    <a:ext cx="260925" cy="95720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5 w 1366596"/>
                      <a:gd name="T3" fmla="*/ 73965 h 809868"/>
                      <a:gd name="T4" fmla="*/ 165165 w 1366596"/>
                      <a:gd name="T5" fmla="*/ 95720 h 809868"/>
                      <a:gd name="T6" fmla="*/ 878 w 1366596"/>
                      <a:gd name="T7" fmla="*/ 5057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38" name="Freeform 1008">
                    <a:extLst>
                      <a:ext uri="{FF2B5EF4-FFF2-40B4-BE49-F238E27FC236}">
                        <a16:creationId xmlns:a16="http://schemas.microsoft.com/office/drawing/2014/main" id="{AABBE073-A0C7-FD60-FAD6-B3EE4A8D10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2" y="1724972"/>
                    <a:ext cx="253364" cy="95720"/>
                  </a:xfrm>
                  <a:custGeom>
                    <a:avLst/>
                    <a:gdLst>
                      <a:gd name="T0" fmla="*/ 249905 w 1348191"/>
                      <a:gd name="T1" fmla="*/ 0 h 791462"/>
                      <a:gd name="T2" fmla="*/ 253364 w 1348191"/>
                      <a:gd name="T3" fmla="*/ 46190 h 791462"/>
                      <a:gd name="T4" fmla="*/ 91661 w 1348191"/>
                      <a:gd name="T5" fmla="*/ 95720 h 791462"/>
                      <a:gd name="T6" fmla="*/ 0 w 1348191"/>
                      <a:gd name="T7" fmla="*/ 74016 h 791462"/>
                      <a:gd name="T8" fmla="*/ 249905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539" name="Straight Connector 1009">
                    <a:extLst>
                      <a:ext uri="{FF2B5EF4-FFF2-40B4-BE49-F238E27FC236}">
                        <a16:creationId xmlns:a16="http://schemas.microsoft.com/office/drawing/2014/main" id="{D884F9DC-91FF-438D-14BA-057AB5D3DDD3}"/>
                      </a:ext>
                    </a:extLst>
                  </p:cNvPr>
                  <p:cNvCxnSpPr>
                    <a:cxnSpLocks noChangeShapeType="1"/>
                    <a:endCxn id="534" idx="2"/>
                  </p:cNvCxnSpPr>
                  <p:nvPr/>
                </p:nvCxnSpPr>
                <p:spPr bwMode="auto">
                  <a:xfrm flipH="1" flipV="1">
                    <a:off x="2184877" y="1722158"/>
                    <a:ext cx="3783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40" name="Straight Connector 1010">
                    <a:extLst>
                      <a:ext uri="{FF2B5EF4-FFF2-40B4-BE49-F238E27FC236}">
                        <a16:creationId xmlns:a16="http://schemas.microsoft.com/office/drawing/2014/main" id="{312B5602-8BAA-ED41-E202-5D810730A5C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2" y="1727788"/>
                    <a:ext cx="3783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463" name="Group 30">
                <a:extLst>
                  <a:ext uri="{FF2B5EF4-FFF2-40B4-BE49-F238E27FC236}">
                    <a16:creationId xmlns:a16="http://schemas.microsoft.com/office/drawing/2014/main" id="{B475783E-106A-482F-2207-2CD2D1333E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506" name="Rectangle 976">
                  <a:extLst>
                    <a:ext uri="{FF2B5EF4-FFF2-40B4-BE49-F238E27FC236}">
                      <a16:creationId xmlns:a16="http://schemas.microsoft.com/office/drawing/2014/main" id="{58150A2A-E463-6AFB-79B6-45F4B6B248BC}"/>
                    </a:ext>
                  </a:extLst>
                </p:cNvPr>
                <p:cNvSpPr/>
                <p:nvPr/>
              </p:nvSpPr>
              <p:spPr bwMode="auto"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07" name="Straight Connector 977">
                  <a:extLst>
                    <a:ext uri="{FF2B5EF4-FFF2-40B4-BE49-F238E27FC236}">
                      <a16:creationId xmlns:a16="http://schemas.microsoft.com/office/drawing/2014/main" id="{122B8321-77B4-4A70-CEE3-FE7C71CB85E8}"/>
                    </a:ext>
                  </a:extLst>
                </p:cNvPr>
                <p:cNvCxnSpPr/>
                <p:nvPr/>
              </p:nvCxnSpPr>
              <p:spPr bwMode="auto">
                <a:xfrm flipH="1">
                  <a:off x="4861553" y="4024212"/>
                  <a:ext cx="1588" cy="13650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08" name="Group 580">
                  <a:extLst>
                    <a:ext uri="{FF2B5EF4-FFF2-40B4-BE49-F238E27FC236}">
                      <a16:creationId xmlns:a16="http://schemas.microsoft.com/office/drawing/2014/main" id="{425836EC-5739-9B1B-FD2C-7D34025199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53939" y="5315451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21" name="Oval 991">
                    <a:extLst>
                      <a:ext uri="{FF2B5EF4-FFF2-40B4-BE49-F238E27FC236}">
                        <a16:creationId xmlns:a16="http://schemas.microsoft.com/office/drawing/2014/main" id="{6E856622-8DF6-20D3-9EE3-C892E586EF90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6"/>
                    <a:ext cx="568606" cy="225498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2" name="Rectangle 992">
                    <a:extLst>
                      <a:ext uri="{FF2B5EF4-FFF2-40B4-BE49-F238E27FC236}">
                        <a16:creationId xmlns:a16="http://schemas.microsoft.com/office/drawing/2014/main" id="{9AE25D92-900D-62F7-AB35-E6871352761D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336"/>
                    <a:ext cx="568606" cy="111537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3" name="Oval 993">
                    <a:extLst>
                      <a:ext uri="{FF2B5EF4-FFF2-40B4-BE49-F238E27FC236}">
                        <a16:creationId xmlns:a16="http://schemas.microsoft.com/office/drawing/2014/main" id="{E6341821-0730-D3E9-545E-74C517FFE53A}"/>
                      </a:ext>
                    </a:extLst>
                  </p:cNvPr>
                  <p:cNvSpPr/>
                  <p:nvPr/>
                </p:nvSpPr>
                <p:spPr>
                  <a:xfrm>
                    <a:off x="4128204" y="3600524"/>
                    <a:ext cx="568606" cy="230349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24" name="Straight Connector 994">
                    <a:extLst>
                      <a:ext uri="{FF2B5EF4-FFF2-40B4-BE49-F238E27FC236}">
                        <a16:creationId xmlns:a16="http://schemas.microsoft.com/office/drawing/2014/main" id="{E69F0E4B-4CB2-1EAD-1737-59B163C98B8A}"/>
                      </a:ext>
                    </a:extLst>
                  </p:cNvPr>
                  <p:cNvCxnSpPr/>
                  <p:nvPr/>
                </p:nvCxnSpPr>
                <p:spPr>
                  <a:xfrm>
                    <a:off x="4696810" y="3719336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5" name="Straight Connector 995">
                    <a:extLst>
                      <a:ext uri="{FF2B5EF4-FFF2-40B4-BE49-F238E27FC236}">
                        <a16:creationId xmlns:a16="http://schemas.microsoft.com/office/drawing/2014/main" id="{5E90FACE-C0DE-179C-91EE-171B650E82F1}"/>
                      </a:ext>
                    </a:extLst>
                  </p:cNvPr>
                  <p:cNvCxnSpPr/>
                  <p:nvPr/>
                </p:nvCxnSpPr>
                <p:spPr>
                  <a:xfrm>
                    <a:off x="4128204" y="3719336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09" name="Rectangle 979">
                  <a:extLst>
                    <a:ext uri="{FF2B5EF4-FFF2-40B4-BE49-F238E27FC236}">
                      <a16:creationId xmlns:a16="http://schemas.microsoft.com/office/drawing/2014/main" id="{8F97D1AB-B68F-3E85-2BDE-4564B5DBDEA6}"/>
                    </a:ext>
                  </a:extLst>
                </p:cNvPr>
                <p:cNvSpPr/>
                <p:nvPr/>
              </p:nvSpPr>
              <p:spPr bwMode="auto">
                <a:xfrm>
                  <a:off x="4355141" y="4579754"/>
                  <a:ext cx="496887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10" name="Straight Connector 980">
                  <a:extLst>
                    <a:ext uri="{FF2B5EF4-FFF2-40B4-BE49-F238E27FC236}">
                      <a16:creationId xmlns:a16="http://schemas.microsoft.com/office/drawing/2014/main" id="{5586CD10-64A0-5AE4-1222-105AA49E79EF}"/>
                    </a:ext>
                  </a:extLst>
                </p:cNvPr>
                <p:cNvCxnSpPr/>
                <p:nvPr/>
              </p:nvCxnSpPr>
              <p:spPr bwMode="auto">
                <a:xfrm flipH="1">
                  <a:off x="4348791" y="4032148"/>
                  <a:ext cx="3175" cy="145075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11" name="Group 568">
                  <a:extLst>
                    <a:ext uri="{FF2B5EF4-FFF2-40B4-BE49-F238E27FC236}">
                      <a16:creationId xmlns:a16="http://schemas.microsoft.com/office/drawing/2014/main" id="{EFEB476E-0C28-1D5F-E2A6-6DB60BD79D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51304" y="3867098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12" name="Oval 982">
                    <a:extLst>
                      <a:ext uri="{FF2B5EF4-FFF2-40B4-BE49-F238E27FC236}">
                        <a16:creationId xmlns:a16="http://schemas.microsoft.com/office/drawing/2014/main" id="{CC87DFFC-BB97-6C2A-BC8B-75606935C22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59" y="1691187"/>
                    <a:ext cx="1194966" cy="31249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3" name="Rectangle 983">
                    <a:extLst>
                      <a:ext uri="{FF2B5EF4-FFF2-40B4-BE49-F238E27FC236}">
                        <a16:creationId xmlns:a16="http://schemas.microsoft.com/office/drawing/2014/main" id="{C9CB8D41-CFB3-7D21-D9A9-B7C00684A8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232"/>
                    <a:ext cx="1198746" cy="1126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4" name="Oval 984">
                    <a:extLst>
                      <a:ext uri="{FF2B5EF4-FFF2-40B4-BE49-F238E27FC236}">
                        <a16:creationId xmlns:a16="http://schemas.microsoft.com/office/drawing/2014/main" id="{188CE424-56CD-6D0D-E0E3-0D62E8A52E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79" y="1564498"/>
                    <a:ext cx="1194966" cy="312499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15" name="Freeform 985">
                    <a:extLst>
                      <a:ext uri="{FF2B5EF4-FFF2-40B4-BE49-F238E27FC236}">
                        <a16:creationId xmlns:a16="http://schemas.microsoft.com/office/drawing/2014/main" id="{A93D14BB-8082-C4B4-1DA2-EF5F8E5314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2" y="1671479"/>
                    <a:ext cx="582357" cy="154842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6" name="Freeform 986">
                    <a:extLst>
                      <a:ext uri="{FF2B5EF4-FFF2-40B4-BE49-F238E27FC236}">
                        <a16:creationId xmlns:a16="http://schemas.microsoft.com/office/drawing/2014/main" id="{097ADC99-D225-9B42-B2AE-B3C3DE711E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78" y="1629250"/>
                    <a:ext cx="703366" cy="109796"/>
                  </a:xfrm>
                  <a:custGeom>
                    <a:avLst/>
                    <a:gdLst>
                      <a:gd name="T0" fmla="*/ 0 w 3723451"/>
                      <a:gd name="T1" fmla="*/ 26862 h 932950"/>
                      <a:gd name="T2" fmla="*/ 123762 w 3723451"/>
                      <a:gd name="T3" fmla="*/ 317 h 932950"/>
                      <a:gd name="T4" fmla="*/ 350560 w 3723451"/>
                      <a:gd name="T5" fmla="*/ 61263 h 932950"/>
                      <a:gd name="T6" fmla="*/ 566927 w 3723451"/>
                      <a:gd name="T7" fmla="*/ 0 h 932950"/>
                      <a:gd name="T8" fmla="*/ 703366 w 3723451"/>
                      <a:gd name="T9" fmla="*/ 24379 h 932950"/>
                      <a:gd name="T10" fmla="*/ 601856 w 3723451"/>
                      <a:gd name="T11" fmla="*/ 54357 h 932950"/>
                      <a:gd name="T12" fmla="*/ 569173 w 3723451"/>
                      <a:gd name="T13" fmla="*/ 46274 h 932950"/>
                      <a:gd name="T14" fmla="*/ 354544 w 3723451"/>
                      <a:gd name="T15" fmla="*/ 109796 h 932950"/>
                      <a:gd name="T16" fmla="*/ 134425 w 3723451"/>
                      <a:gd name="T17" fmla="*/ 48611 h 932950"/>
                      <a:gd name="T18" fmla="*/ 98836 w 3723451"/>
                      <a:gd name="T19" fmla="*/ 55215 h 932950"/>
                      <a:gd name="T20" fmla="*/ 0 w 3723451"/>
                      <a:gd name="T21" fmla="*/ 2686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17" name="Freeform 987">
                    <a:extLst>
                      <a:ext uri="{FF2B5EF4-FFF2-40B4-BE49-F238E27FC236}">
                        <a16:creationId xmlns:a16="http://schemas.microsoft.com/office/drawing/2014/main" id="{F148BCDF-7A87-A04C-56C3-6A6FD0780F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5" y="1722154"/>
                    <a:ext cx="260927" cy="95720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7 w 1366596"/>
                      <a:gd name="T3" fmla="*/ 73965 h 809868"/>
                      <a:gd name="T4" fmla="*/ 165166 w 1366596"/>
                      <a:gd name="T5" fmla="*/ 95720 h 809868"/>
                      <a:gd name="T6" fmla="*/ 878 w 1366596"/>
                      <a:gd name="T7" fmla="*/ 5057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18" name="Freeform 988">
                    <a:extLst>
                      <a:ext uri="{FF2B5EF4-FFF2-40B4-BE49-F238E27FC236}">
                        <a16:creationId xmlns:a16="http://schemas.microsoft.com/office/drawing/2014/main" id="{503075EA-B3B8-0A3C-B5A6-44413E1781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4" y="1724970"/>
                    <a:ext cx="253362" cy="95720"/>
                  </a:xfrm>
                  <a:custGeom>
                    <a:avLst/>
                    <a:gdLst>
                      <a:gd name="T0" fmla="*/ 249903 w 1348191"/>
                      <a:gd name="T1" fmla="*/ 0 h 791462"/>
                      <a:gd name="T2" fmla="*/ 253362 w 1348191"/>
                      <a:gd name="T3" fmla="*/ 46190 h 791462"/>
                      <a:gd name="T4" fmla="*/ 91660 w 1348191"/>
                      <a:gd name="T5" fmla="*/ 95720 h 791462"/>
                      <a:gd name="T6" fmla="*/ 0 w 1348191"/>
                      <a:gd name="T7" fmla="*/ 74016 h 791462"/>
                      <a:gd name="T8" fmla="*/ 249903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519" name="Straight Connector 989">
                    <a:extLst>
                      <a:ext uri="{FF2B5EF4-FFF2-40B4-BE49-F238E27FC236}">
                        <a16:creationId xmlns:a16="http://schemas.microsoft.com/office/drawing/2014/main" id="{04910304-6D9C-6955-924C-F192DD1C8008}"/>
                      </a:ext>
                    </a:extLst>
                  </p:cNvPr>
                  <p:cNvCxnSpPr>
                    <a:cxnSpLocks noChangeShapeType="1"/>
                    <a:endCxn id="514" idx="2"/>
                  </p:cNvCxnSpPr>
                  <p:nvPr/>
                </p:nvCxnSpPr>
                <p:spPr bwMode="auto">
                  <a:xfrm flipH="1" flipV="1">
                    <a:off x="2184879" y="1722154"/>
                    <a:ext cx="3780" cy="12105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20" name="Straight Connector 990">
                    <a:extLst>
                      <a:ext uri="{FF2B5EF4-FFF2-40B4-BE49-F238E27FC236}">
                        <a16:creationId xmlns:a16="http://schemas.microsoft.com/office/drawing/2014/main" id="{F2D4429C-0A81-8FA3-2851-14F3E5D9AD3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5" y="1727785"/>
                    <a:ext cx="3780" cy="121059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464" name="Group 48257">
                <a:extLst>
                  <a:ext uri="{FF2B5EF4-FFF2-40B4-BE49-F238E27FC236}">
                    <a16:creationId xmlns:a16="http://schemas.microsoft.com/office/drawing/2014/main" id="{50278D71-3DED-2045-2F7F-A8B2086E13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486" name="Rectangle 956">
                  <a:extLst>
                    <a:ext uri="{FF2B5EF4-FFF2-40B4-BE49-F238E27FC236}">
                      <a16:creationId xmlns:a16="http://schemas.microsoft.com/office/drawing/2014/main" id="{95785080-A896-0411-8BFC-B60EC0785B7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87" name="Straight Connector 957">
                  <a:extLst>
                    <a:ext uri="{FF2B5EF4-FFF2-40B4-BE49-F238E27FC236}">
                      <a16:creationId xmlns:a16="http://schemas.microsoft.com/office/drawing/2014/main" id="{9B777AEF-7D09-F728-95B5-5C255A2E367C}"/>
                    </a:ext>
                  </a:extLst>
                </p:cNvPr>
                <p:cNvCxnSpPr/>
                <p:nvPr/>
              </p:nvCxnSpPr>
              <p:spPr bwMode="auto">
                <a:xfrm flipH="1">
                  <a:off x="6064879" y="4006752"/>
                  <a:ext cx="1588" cy="136504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488" name="Group 607">
                  <a:extLst>
                    <a:ext uri="{FF2B5EF4-FFF2-40B4-BE49-F238E27FC236}">
                      <a16:creationId xmlns:a16="http://schemas.microsoft.com/office/drawing/2014/main" id="{81347877-F23E-65D5-26F9-B324CF80F7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57264" y="52979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01" name="Oval 971">
                    <a:extLst>
                      <a:ext uri="{FF2B5EF4-FFF2-40B4-BE49-F238E27FC236}">
                        <a16:creationId xmlns:a16="http://schemas.microsoft.com/office/drawing/2014/main" id="{2DF25CED-7043-9E1D-3474-C223043EADB7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341"/>
                    <a:ext cx="568606" cy="22550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2" name="Rectangle 972">
                    <a:extLst>
                      <a:ext uri="{FF2B5EF4-FFF2-40B4-BE49-F238E27FC236}">
                        <a16:creationId xmlns:a16="http://schemas.microsoft.com/office/drawing/2014/main" id="{AF03590B-AACE-B67C-0230-8DD58E61C307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341"/>
                    <a:ext cx="568606" cy="111537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3" name="Oval 973">
                    <a:extLst>
                      <a:ext uri="{FF2B5EF4-FFF2-40B4-BE49-F238E27FC236}">
                        <a16:creationId xmlns:a16="http://schemas.microsoft.com/office/drawing/2014/main" id="{D835F595-0F7E-5D47-1A8F-6D8D3D5B1C0E}"/>
                      </a:ext>
                    </a:extLst>
                  </p:cNvPr>
                  <p:cNvSpPr/>
                  <p:nvPr/>
                </p:nvSpPr>
                <p:spPr>
                  <a:xfrm>
                    <a:off x="4128205" y="3600530"/>
                    <a:ext cx="568606" cy="230348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04" name="Straight Connector 974">
                    <a:extLst>
                      <a:ext uri="{FF2B5EF4-FFF2-40B4-BE49-F238E27FC236}">
                        <a16:creationId xmlns:a16="http://schemas.microsoft.com/office/drawing/2014/main" id="{30A7CEC6-B4CC-DDBA-2737-180EC11A6878}"/>
                      </a:ext>
                    </a:extLst>
                  </p:cNvPr>
                  <p:cNvCxnSpPr/>
                  <p:nvPr/>
                </p:nvCxnSpPr>
                <p:spPr>
                  <a:xfrm>
                    <a:off x="4696811" y="3719341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05" name="Straight Connector 975">
                    <a:extLst>
                      <a:ext uri="{FF2B5EF4-FFF2-40B4-BE49-F238E27FC236}">
                        <a16:creationId xmlns:a16="http://schemas.microsoft.com/office/drawing/2014/main" id="{D9B555B7-6F26-DC6B-A202-845FE5815036}"/>
                      </a:ext>
                    </a:extLst>
                  </p:cNvPr>
                  <p:cNvCxnSpPr/>
                  <p:nvPr/>
                </p:nvCxnSpPr>
                <p:spPr>
                  <a:xfrm>
                    <a:off x="4128205" y="3719341"/>
                    <a:ext cx="0" cy="11153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89" name="Rectangle 959">
                  <a:extLst>
                    <a:ext uri="{FF2B5EF4-FFF2-40B4-BE49-F238E27FC236}">
                      <a16:creationId xmlns:a16="http://schemas.microsoft.com/office/drawing/2014/main" id="{B1FC91ED-23F9-6368-A7EA-D8624744D3E3}"/>
                    </a:ext>
                  </a:extLst>
                </p:cNvPr>
                <p:cNvSpPr/>
                <p:nvPr/>
              </p:nvSpPr>
              <p:spPr bwMode="auto">
                <a:xfrm>
                  <a:off x="5558467" y="4562294"/>
                  <a:ext cx="496887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90" name="Straight Connector 960">
                  <a:extLst>
                    <a:ext uri="{FF2B5EF4-FFF2-40B4-BE49-F238E27FC236}">
                      <a16:creationId xmlns:a16="http://schemas.microsoft.com/office/drawing/2014/main" id="{B7BC77C0-8C94-2A81-AED1-9F2E42AFA61E}"/>
                    </a:ext>
                  </a:extLst>
                </p:cNvPr>
                <p:cNvCxnSpPr/>
                <p:nvPr/>
              </p:nvCxnSpPr>
              <p:spPr bwMode="auto">
                <a:xfrm flipH="1">
                  <a:off x="5552117" y="4014689"/>
                  <a:ext cx="3175" cy="145075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491" name="Group 595">
                  <a:extLst>
                    <a:ext uri="{FF2B5EF4-FFF2-40B4-BE49-F238E27FC236}">
                      <a16:creationId xmlns:a16="http://schemas.microsoft.com/office/drawing/2014/main" id="{55383394-7C1B-6A21-C3DA-2573D60049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54629" y="38496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492" name="Oval 962">
                    <a:extLst>
                      <a:ext uri="{FF2B5EF4-FFF2-40B4-BE49-F238E27FC236}">
                        <a16:creationId xmlns:a16="http://schemas.microsoft.com/office/drawing/2014/main" id="{79B613F6-04B4-7BB2-A8F9-939AA6EBA24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62" y="1691192"/>
                    <a:ext cx="1194966" cy="31249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93" name="Rectangle 963">
                    <a:extLst>
                      <a:ext uri="{FF2B5EF4-FFF2-40B4-BE49-F238E27FC236}">
                        <a16:creationId xmlns:a16="http://schemas.microsoft.com/office/drawing/2014/main" id="{1E313DD1-717B-71A8-BBDA-3476A9EFD0B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81" y="1736237"/>
                    <a:ext cx="1198746" cy="11261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94" name="Oval 964">
                    <a:extLst>
                      <a:ext uri="{FF2B5EF4-FFF2-40B4-BE49-F238E27FC236}">
                        <a16:creationId xmlns:a16="http://schemas.microsoft.com/office/drawing/2014/main" id="{B3B8D13D-C13C-3846-9EAA-B0ED17A6DB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81" y="1564505"/>
                    <a:ext cx="1194966" cy="31249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5" name="Freeform 965">
                    <a:extLst>
                      <a:ext uri="{FF2B5EF4-FFF2-40B4-BE49-F238E27FC236}">
                        <a16:creationId xmlns:a16="http://schemas.microsoft.com/office/drawing/2014/main" id="{929F39D1-021B-9C0E-A9E7-BDE91072CF0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5" y="1671486"/>
                    <a:ext cx="582357" cy="15484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96" name="Freeform 966">
                    <a:extLst>
                      <a:ext uri="{FF2B5EF4-FFF2-40B4-BE49-F238E27FC236}">
                        <a16:creationId xmlns:a16="http://schemas.microsoft.com/office/drawing/2014/main" id="{0EA3C0F2-6723-97EC-54EF-85D9324C85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80" y="1629256"/>
                    <a:ext cx="703366" cy="109797"/>
                  </a:xfrm>
                  <a:custGeom>
                    <a:avLst/>
                    <a:gdLst>
                      <a:gd name="T0" fmla="*/ 0 w 3723451"/>
                      <a:gd name="T1" fmla="*/ 26862 h 932950"/>
                      <a:gd name="T2" fmla="*/ 123762 w 3723451"/>
                      <a:gd name="T3" fmla="*/ 317 h 932950"/>
                      <a:gd name="T4" fmla="*/ 350560 w 3723451"/>
                      <a:gd name="T5" fmla="*/ 61264 h 932950"/>
                      <a:gd name="T6" fmla="*/ 566927 w 3723451"/>
                      <a:gd name="T7" fmla="*/ 0 h 932950"/>
                      <a:gd name="T8" fmla="*/ 703366 w 3723451"/>
                      <a:gd name="T9" fmla="*/ 24379 h 932950"/>
                      <a:gd name="T10" fmla="*/ 601856 w 3723451"/>
                      <a:gd name="T11" fmla="*/ 54357 h 932950"/>
                      <a:gd name="T12" fmla="*/ 569173 w 3723451"/>
                      <a:gd name="T13" fmla="*/ 46275 h 932950"/>
                      <a:gd name="T14" fmla="*/ 354544 w 3723451"/>
                      <a:gd name="T15" fmla="*/ 109797 h 932950"/>
                      <a:gd name="T16" fmla="*/ 134425 w 3723451"/>
                      <a:gd name="T17" fmla="*/ 48612 h 932950"/>
                      <a:gd name="T18" fmla="*/ 98836 w 3723451"/>
                      <a:gd name="T19" fmla="*/ 55215 h 932950"/>
                      <a:gd name="T20" fmla="*/ 0 w 3723451"/>
                      <a:gd name="T21" fmla="*/ 26862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7" name="Freeform 967">
                    <a:extLst>
                      <a:ext uri="{FF2B5EF4-FFF2-40B4-BE49-F238E27FC236}">
                        <a16:creationId xmlns:a16="http://schemas.microsoft.com/office/drawing/2014/main" id="{7D448894-536E-FAC0-4BCF-37B00AA519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8" y="1722161"/>
                    <a:ext cx="260927" cy="95720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7 w 1366596"/>
                      <a:gd name="T3" fmla="*/ 73965 h 809868"/>
                      <a:gd name="T4" fmla="*/ 165166 w 1366596"/>
                      <a:gd name="T5" fmla="*/ 95720 h 809868"/>
                      <a:gd name="T6" fmla="*/ 878 w 1366596"/>
                      <a:gd name="T7" fmla="*/ 5057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8" name="Freeform 968">
                    <a:extLst>
                      <a:ext uri="{FF2B5EF4-FFF2-40B4-BE49-F238E27FC236}">
                        <a16:creationId xmlns:a16="http://schemas.microsoft.com/office/drawing/2014/main" id="{F735A4AD-8286-2E7B-3881-C87FC1382A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7" y="1724976"/>
                    <a:ext cx="253362" cy="95720"/>
                  </a:xfrm>
                  <a:custGeom>
                    <a:avLst/>
                    <a:gdLst>
                      <a:gd name="T0" fmla="*/ 249903 w 1348191"/>
                      <a:gd name="T1" fmla="*/ 0 h 791462"/>
                      <a:gd name="T2" fmla="*/ 253362 w 1348191"/>
                      <a:gd name="T3" fmla="*/ 46190 h 791462"/>
                      <a:gd name="T4" fmla="*/ 91660 w 1348191"/>
                      <a:gd name="T5" fmla="*/ 95720 h 791462"/>
                      <a:gd name="T6" fmla="*/ 0 w 1348191"/>
                      <a:gd name="T7" fmla="*/ 74016 h 791462"/>
                      <a:gd name="T8" fmla="*/ 249903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499" name="Straight Connector 969">
                    <a:extLst>
                      <a:ext uri="{FF2B5EF4-FFF2-40B4-BE49-F238E27FC236}">
                        <a16:creationId xmlns:a16="http://schemas.microsoft.com/office/drawing/2014/main" id="{FDA906B4-0C66-CF23-5D7F-D9EE25041915}"/>
                      </a:ext>
                    </a:extLst>
                  </p:cNvPr>
                  <p:cNvCxnSpPr>
                    <a:cxnSpLocks noChangeShapeType="1"/>
                    <a:endCxn id="494" idx="2"/>
                  </p:cNvCxnSpPr>
                  <p:nvPr/>
                </p:nvCxnSpPr>
                <p:spPr bwMode="auto">
                  <a:xfrm flipH="1" flipV="1">
                    <a:off x="2184881" y="1722161"/>
                    <a:ext cx="3780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00" name="Straight Connector 970">
                    <a:extLst>
                      <a:ext uri="{FF2B5EF4-FFF2-40B4-BE49-F238E27FC236}">
                        <a16:creationId xmlns:a16="http://schemas.microsoft.com/office/drawing/2014/main" id="{45290440-E515-D3EE-F803-2A4AE370D03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7" y="1727792"/>
                    <a:ext cx="3780" cy="121057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465" name="Group 48258">
                <a:extLst>
                  <a:ext uri="{FF2B5EF4-FFF2-40B4-BE49-F238E27FC236}">
                    <a16:creationId xmlns:a16="http://schemas.microsoft.com/office/drawing/2014/main" id="{17C0F105-7234-D6C4-D895-8E6959B764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466" name="Rectangle 936">
                  <a:extLst>
                    <a:ext uri="{FF2B5EF4-FFF2-40B4-BE49-F238E27FC236}">
                      <a16:creationId xmlns:a16="http://schemas.microsoft.com/office/drawing/2014/main" id="{8BE38C7F-D882-8BB2-2881-32A53D19E6AF}"/>
                    </a:ext>
                  </a:extLst>
                </p:cNvPr>
                <p:cNvSpPr/>
                <p:nvPr/>
              </p:nvSpPr>
              <p:spPr bwMode="auto"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67" name="Straight Connector 937">
                  <a:extLst>
                    <a:ext uri="{FF2B5EF4-FFF2-40B4-BE49-F238E27FC236}">
                      <a16:creationId xmlns:a16="http://schemas.microsoft.com/office/drawing/2014/main" id="{BD6B1412-1173-D090-5A08-617DD4451C20}"/>
                    </a:ext>
                  </a:extLst>
                </p:cNvPr>
                <p:cNvCxnSpPr/>
                <p:nvPr/>
              </p:nvCxnSpPr>
              <p:spPr bwMode="auto">
                <a:xfrm flipH="1">
                  <a:off x="7060242" y="3994054"/>
                  <a:ext cx="1587" cy="1366633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468" name="Group 634">
                  <a:extLst>
                    <a:ext uri="{FF2B5EF4-FFF2-40B4-BE49-F238E27FC236}">
                      <a16:creationId xmlns:a16="http://schemas.microsoft.com/office/drawing/2014/main" id="{E0B2F0D0-AE68-CE01-9CAD-FCB105D1E2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52627" y="5286665"/>
                  <a:ext cx="507588" cy="221908"/>
                  <a:chOff x="4128636" y="3606589"/>
                  <a:chExt cx="568145" cy="338667"/>
                </a:xfrm>
              </p:grpSpPr>
              <p:sp>
                <p:nvSpPr>
                  <p:cNvPr id="481" name="Oval 951">
                    <a:extLst>
                      <a:ext uri="{FF2B5EF4-FFF2-40B4-BE49-F238E27FC236}">
                        <a16:creationId xmlns:a16="http://schemas.microsoft.com/office/drawing/2014/main" id="{FE3F7866-8D69-142E-0227-691C913DB115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558"/>
                    <a:ext cx="568606" cy="225284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82" name="Rectangle 952">
                    <a:extLst>
                      <a:ext uri="{FF2B5EF4-FFF2-40B4-BE49-F238E27FC236}">
                        <a16:creationId xmlns:a16="http://schemas.microsoft.com/office/drawing/2014/main" id="{B235AB55-A187-8AB7-A84B-DC0C51ACB454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558"/>
                    <a:ext cx="568606" cy="111431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83" name="Oval 953">
                    <a:extLst>
                      <a:ext uri="{FF2B5EF4-FFF2-40B4-BE49-F238E27FC236}">
                        <a16:creationId xmlns:a16="http://schemas.microsoft.com/office/drawing/2014/main" id="{ADFEC5E9-BA17-7629-BB62-4C67AA023DBE}"/>
                      </a:ext>
                    </a:extLst>
                  </p:cNvPr>
                  <p:cNvSpPr/>
                  <p:nvPr/>
                </p:nvSpPr>
                <p:spPr>
                  <a:xfrm>
                    <a:off x="4128205" y="3605704"/>
                    <a:ext cx="568606" cy="225286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84" name="Straight Connector 954">
                    <a:extLst>
                      <a:ext uri="{FF2B5EF4-FFF2-40B4-BE49-F238E27FC236}">
                        <a16:creationId xmlns:a16="http://schemas.microsoft.com/office/drawing/2014/main" id="{6FA0A88A-031F-144A-47D2-10F3FA43600E}"/>
                      </a:ext>
                    </a:extLst>
                  </p:cNvPr>
                  <p:cNvCxnSpPr/>
                  <p:nvPr/>
                </p:nvCxnSpPr>
                <p:spPr>
                  <a:xfrm>
                    <a:off x="4696811" y="3719558"/>
                    <a:ext cx="0" cy="11143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485" name="Straight Connector 955">
                    <a:extLst>
                      <a:ext uri="{FF2B5EF4-FFF2-40B4-BE49-F238E27FC236}">
                        <a16:creationId xmlns:a16="http://schemas.microsoft.com/office/drawing/2014/main" id="{873751A1-B132-9753-79D8-93F1E1B67580}"/>
                      </a:ext>
                    </a:extLst>
                  </p:cNvPr>
                  <p:cNvCxnSpPr/>
                  <p:nvPr/>
                </p:nvCxnSpPr>
                <p:spPr>
                  <a:xfrm>
                    <a:off x="4128205" y="3719558"/>
                    <a:ext cx="0" cy="11143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469" name="Rectangle 939">
                  <a:extLst>
                    <a:ext uri="{FF2B5EF4-FFF2-40B4-BE49-F238E27FC236}">
                      <a16:creationId xmlns:a16="http://schemas.microsoft.com/office/drawing/2014/main" id="{B991290E-6158-66E9-F8C6-6F84505A144E}"/>
                    </a:ext>
                  </a:extLst>
                </p:cNvPr>
                <p:cNvSpPr/>
                <p:nvPr/>
              </p:nvSpPr>
              <p:spPr bwMode="auto">
                <a:xfrm>
                  <a:off x="6553829" y="4551184"/>
                  <a:ext cx="496888" cy="81267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70" name="Straight Connector 940">
                  <a:extLst>
                    <a:ext uri="{FF2B5EF4-FFF2-40B4-BE49-F238E27FC236}">
                      <a16:creationId xmlns:a16="http://schemas.microsoft.com/office/drawing/2014/main" id="{8A798D73-E089-EBE3-DA53-4D67BCA1536F}"/>
                    </a:ext>
                  </a:extLst>
                </p:cNvPr>
                <p:cNvCxnSpPr/>
                <p:nvPr/>
              </p:nvCxnSpPr>
              <p:spPr bwMode="auto">
                <a:xfrm flipH="1">
                  <a:off x="6547479" y="4001991"/>
                  <a:ext cx="3175" cy="145234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471" name="Group 622">
                  <a:extLst>
                    <a:ext uri="{FF2B5EF4-FFF2-40B4-BE49-F238E27FC236}">
                      <a16:creationId xmlns:a16="http://schemas.microsoft.com/office/drawing/2014/main" id="{C2FD9073-CFA8-DFB5-991F-C60CC7B966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49992" y="3836935"/>
                  <a:ext cx="503828" cy="248485"/>
                  <a:chOff x="2183302" y="1564542"/>
                  <a:chExt cx="1200154" cy="440314"/>
                </a:xfrm>
              </p:grpSpPr>
              <p:sp>
                <p:nvSpPr>
                  <p:cNvPr id="472" name="Oval 942">
                    <a:extLst>
                      <a:ext uri="{FF2B5EF4-FFF2-40B4-BE49-F238E27FC236}">
                        <a16:creationId xmlns:a16="http://schemas.microsoft.com/office/drawing/2014/main" id="{303ECB13-7C75-EFEA-69E9-48317EA17AE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62" y="1691075"/>
                    <a:ext cx="1194966" cy="315014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73" name="Rectangle 943">
                    <a:extLst>
                      <a:ext uri="{FF2B5EF4-FFF2-40B4-BE49-F238E27FC236}">
                        <a16:creationId xmlns:a16="http://schemas.microsoft.com/office/drawing/2014/main" id="{73EFFBB3-7380-25B1-343C-29D679A3F6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077"/>
                    <a:ext cx="1198749" cy="11250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74" name="Oval 944">
                    <a:extLst>
                      <a:ext uri="{FF2B5EF4-FFF2-40B4-BE49-F238E27FC236}">
                        <a16:creationId xmlns:a16="http://schemas.microsoft.com/office/drawing/2014/main" id="{C970C888-67F8-2A27-D55B-D18FF430DB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4879" y="1564508"/>
                    <a:ext cx="1194966" cy="315014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75" name="Freeform 945">
                    <a:extLst>
                      <a:ext uri="{FF2B5EF4-FFF2-40B4-BE49-F238E27FC236}">
                        <a16:creationId xmlns:a16="http://schemas.microsoft.com/office/drawing/2014/main" id="{9A73F208-AAD1-598B-D400-41881955AD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5" y="1671388"/>
                    <a:ext cx="582357" cy="157507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76" name="Freeform 946">
                    <a:extLst>
                      <a:ext uri="{FF2B5EF4-FFF2-40B4-BE49-F238E27FC236}">
                        <a16:creationId xmlns:a16="http://schemas.microsoft.com/office/drawing/2014/main" id="{4DD68184-C177-8FEE-DC78-CD2C12FEA9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30680" y="1629198"/>
                    <a:ext cx="703366" cy="112505"/>
                  </a:xfrm>
                  <a:custGeom>
                    <a:avLst/>
                    <a:gdLst>
                      <a:gd name="T0" fmla="*/ 0 w 3723451"/>
                      <a:gd name="T1" fmla="*/ 27524 h 932950"/>
                      <a:gd name="T2" fmla="*/ 123762 w 3723451"/>
                      <a:gd name="T3" fmla="*/ 324 h 932950"/>
                      <a:gd name="T4" fmla="*/ 350560 w 3723451"/>
                      <a:gd name="T5" fmla="*/ 62775 h 932950"/>
                      <a:gd name="T6" fmla="*/ 566927 w 3723451"/>
                      <a:gd name="T7" fmla="*/ 0 h 932950"/>
                      <a:gd name="T8" fmla="*/ 703366 w 3723451"/>
                      <a:gd name="T9" fmla="*/ 24980 h 932950"/>
                      <a:gd name="T10" fmla="*/ 601856 w 3723451"/>
                      <a:gd name="T11" fmla="*/ 55698 h 932950"/>
                      <a:gd name="T12" fmla="*/ 569173 w 3723451"/>
                      <a:gd name="T13" fmla="*/ 47416 h 932950"/>
                      <a:gd name="T14" fmla="*/ 354544 w 3723451"/>
                      <a:gd name="T15" fmla="*/ 112505 h 932950"/>
                      <a:gd name="T16" fmla="*/ 134425 w 3723451"/>
                      <a:gd name="T17" fmla="*/ 49811 h 932950"/>
                      <a:gd name="T18" fmla="*/ 98836 w 3723451"/>
                      <a:gd name="T19" fmla="*/ 56577 h 932950"/>
                      <a:gd name="T20" fmla="*/ 0 w 3723451"/>
                      <a:gd name="T21" fmla="*/ 27524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77" name="Freeform 947">
                    <a:extLst>
                      <a:ext uri="{FF2B5EF4-FFF2-40B4-BE49-F238E27FC236}">
                        <a16:creationId xmlns:a16="http://schemas.microsoft.com/office/drawing/2014/main" id="{C9B82F3D-1D57-2E72-3227-6A3B0AA749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028" y="1724827"/>
                    <a:ext cx="260925" cy="95629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60925 w 1366596"/>
                      <a:gd name="T3" fmla="*/ 73895 h 809868"/>
                      <a:gd name="T4" fmla="*/ 165165 w 1366596"/>
                      <a:gd name="T5" fmla="*/ 95629 h 809868"/>
                      <a:gd name="T6" fmla="*/ 878 w 1366596"/>
                      <a:gd name="T7" fmla="*/ 50531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78" name="Freeform 948">
                    <a:extLst>
                      <a:ext uri="{FF2B5EF4-FFF2-40B4-BE49-F238E27FC236}">
                        <a16:creationId xmlns:a16="http://schemas.microsoft.com/office/drawing/2014/main" id="{98D8E2C5-0C6B-ABFF-45E3-4679E79D33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9334" y="1727640"/>
                    <a:ext cx="253364" cy="92816"/>
                  </a:xfrm>
                  <a:custGeom>
                    <a:avLst/>
                    <a:gdLst>
                      <a:gd name="T0" fmla="*/ 249905 w 1348191"/>
                      <a:gd name="T1" fmla="*/ 0 h 791462"/>
                      <a:gd name="T2" fmla="*/ 253364 w 1348191"/>
                      <a:gd name="T3" fmla="*/ 44789 h 791462"/>
                      <a:gd name="T4" fmla="*/ 91661 w 1348191"/>
                      <a:gd name="T5" fmla="*/ 92816 h 791462"/>
                      <a:gd name="T6" fmla="*/ 0 w 1348191"/>
                      <a:gd name="T7" fmla="*/ 71770 h 791462"/>
                      <a:gd name="T8" fmla="*/ 249905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479" name="Straight Connector 949">
                    <a:extLst>
                      <a:ext uri="{FF2B5EF4-FFF2-40B4-BE49-F238E27FC236}">
                        <a16:creationId xmlns:a16="http://schemas.microsoft.com/office/drawing/2014/main" id="{C9280233-3CCA-70DF-C1AA-B39DF1AFCA45}"/>
                      </a:ext>
                    </a:extLst>
                  </p:cNvPr>
                  <p:cNvCxnSpPr>
                    <a:cxnSpLocks noChangeShapeType="1"/>
                    <a:endCxn id="474" idx="2"/>
                  </p:cNvCxnSpPr>
                  <p:nvPr/>
                </p:nvCxnSpPr>
                <p:spPr bwMode="auto">
                  <a:xfrm flipH="1" flipV="1">
                    <a:off x="2184879" y="1722015"/>
                    <a:ext cx="3783" cy="120942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80" name="Straight Connector 950">
                    <a:extLst>
                      <a:ext uri="{FF2B5EF4-FFF2-40B4-BE49-F238E27FC236}">
                        <a16:creationId xmlns:a16="http://schemas.microsoft.com/office/drawing/2014/main" id="{5B2188EF-140E-612C-E945-B048AB2ADF0D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79845" y="1730452"/>
                    <a:ext cx="3783" cy="120944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</p:grpSp>
        <p:grpSp>
          <p:nvGrpSpPr>
            <p:cNvPr id="566" name="Group 1036">
              <a:extLst>
                <a:ext uri="{FF2B5EF4-FFF2-40B4-BE49-F238E27FC236}">
                  <a16:creationId xmlns:a16="http://schemas.microsoft.com/office/drawing/2014/main" id="{3FE85512-797E-A412-1B7A-C9276A4AFF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0530" y="2423492"/>
              <a:ext cx="4416425" cy="2314575"/>
              <a:chOff x="2381956" y="2435173"/>
              <a:chExt cx="4415330" cy="2315048"/>
            </a:xfrm>
          </p:grpSpPr>
          <p:sp>
            <p:nvSpPr>
              <p:cNvPr id="567" name="Freeform 1037">
                <a:extLst>
                  <a:ext uri="{FF2B5EF4-FFF2-40B4-BE49-F238E27FC236}">
                    <a16:creationId xmlns:a16="http://schemas.microsoft.com/office/drawing/2014/main" id="{823076E0-A30F-E044-B67E-2980546645B6}"/>
                  </a:ext>
                </a:extLst>
              </p:cNvPr>
              <p:cNvSpPr/>
              <p:nvPr/>
            </p:nvSpPr>
            <p:spPr>
              <a:xfrm>
                <a:off x="2381956" y="2439937"/>
                <a:ext cx="296789" cy="1743431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015941"/>
                  <a:gd name="connsiteX1" fmla="*/ 0 w 307275"/>
                  <a:gd name="connsiteY1" fmla="*/ 0 h 2015941"/>
                  <a:gd name="connsiteX2" fmla="*/ 0 w 307275"/>
                  <a:gd name="connsiteY2" fmla="*/ 2015941 h 2015941"/>
                  <a:gd name="connsiteX0" fmla="*/ 228538 w 228538"/>
                  <a:gd name="connsiteY0" fmla="*/ 0 h 2022548"/>
                  <a:gd name="connsiteX1" fmla="*/ 0 w 228538"/>
                  <a:gd name="connsiteY1" fmla="*/ 6607 h 2022548"/>
                  <a:gd name="connsiteX2" fmla="*/ 0 w 228538"/>
                  <a:gd name="connsiteY2" fmla="*/ 2022548 h 2022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538" h="202254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68" name="Freeform 1038">
                <a:extLst>
                  <a:ext uri="{FF2B5EF4-FFF2-40B4-BE49-F238E27FC236}">
                    <a16:creationId xmlns:a16="http://schemas.microsoft.com/office/drawing/2014/main" id="{D40926EF-9D85-8227-5FFF-811117937EA1}"/>
                  </a:ext>
                </a:extLst>
              </p:cNvPr>
              <p:cNvSpPr/>
              <p:nvPr/>
            </p:nvSpPr>
            <p:spPr>
              <a:xfrm flipH="1">
                <a:off x="6411620" y="2435173"/>
                <a:ext cx="385666" cy="2300758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117725"/>
                  <a:gd name="connsiteX1" fmla="*/ 0 w 307275"/>
                  <a:gd name="connsiteY1" fmla="*/ 0 h 2117725"/>
                  <a:gd name="connsiteX2" fmla="*/ 0 w 307275"/>
                  <a:gd name="connsiteY2" fmla="*/ 2117725 h 21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7275" h="211772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569" name="Straight Arrow Connector 1039">
                <a:extLst>
                  <a:ext uri="{FF2B5EF4-FFF2-40B4-BE49-F238E27FC236}">
                    <a16:creationId xmlns:a16="http://schemas.microsoft.com/office/drawing/2014/main" id="{7AF0AAD3-E99D-0741-1A27-530B6AE394E5}"/>
                  </a:ext>
                </a:extLst>
              </p:cNvPr>
              <p:cNvCxnSpPr/>
              <p:nvPr/>
            </p:nvCxnSpPr>
            <p:spPr>
              <a:xfrm flipV="1">
                <a:off x="5791061" y="2687638"/>
                <a:ext cx="7936" cy="2062583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570" name="Straight Arrow Connector 1040">
                <a:extLst>
                  <a:ext uri="{FF2B5EF4-FFF2-40B4-BE49-F238E27FC236}">
                    <a16:creationId xmlns:a16="http://schemas.microsoft.com/office/drawing/2014/main" id="{136812DB-D870-22E6-8FE6-C71AC02EF2D1}"/>
                  </a:ext>
                </a:extLst>
              </p:cNvPr>
              <p:cNvCxnSpPr/>
              <p:nvPr/>
            </p:nvCxnSpPr>
            <p:spPr>
              <a:xfrm flipV="1">
                <a:off x="4599144" y="2708279"/>
                <a:ext cx="17458" cy="2037179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571" name="Straight Arrow Connector 1041">
                <a:extLst>
                  <a:ext uri="{FF2B5EF4-FFF2-40B4-BE49-F238E27FC236}">
                    <a16:creationId xmlns:a16="http://schemas.microsoft.com/office/drawing/2014/main" id="{9D533C95-9F52-58E0-8C8E-72D0FCC6568F}"/>
                  </a:ext>
                </a:extLst>
              </p:cNvPr>
              <p:cNvCxnSpPr/>
              <p:nvPr/>
            </p:nvCxnSpPr>
            <p:spPr>
              <a:xfrm flipH="1" flipV="1">
                <a:off x="3807178" y="2762265"/>
                <a:ext cx="9523" cy="1983193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572" name="Group 1042">
              <a:extLst>
                <a:ext uri="{FF2B5EF4-FFF2-40B4-BE49-F238E27FC236}">
                  <a16:creationId xmlns:a16="http://schemas.microsoft.com/office/drawing/2014/main" id="{0E8BFC6D-BC58-F777-D58A-BFAEFDB0A7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5093" y="4634880"/>
              <a:ext cx="4957762" cy="693737"/>
              <a:chOff x="2055070" y="4690247"/>
              <a:chExt cx="4956877" cy="694339"/>
            </a:xfrm>
          </p:grpSpPr>
          <p:grpSp>
            <p:nvGrpSpPr>
              <p:cNvPr id="573" name="Group 554">
                <a:extLst>
                  <a:ext uri="{FF2B5EF4-FFF2-40B4-BE49-F238E27FC236}">
                    <a16:creationId xmlns:a16="http://schemas.microsoft.com/office/drawing/2014/main" id="{96203EEF-09E1-883E-87E3-60E0381644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5320" y="5055434"/>
                <a:ext cx="430131" cy="329152"/>
                <a:chOff x="2931664" y="3912603"/>
                <a:chExt cx="430450" cy="329314"/>
              </a:xfrm>
            </p:grpSpPr>
            <p:sp>
              <p:nvSpPr>
                <p:cNvPr id="594" name="Rectangle 1064">
                  <a:extLst>
                    <a:ext uri="{FF2B5EF4-FFF2-40B4-BE49-F238E27FC236}">
                      <a16:creationId xmlns:a16="http://schemas.microsoft.com/office/drawing/2014/main" id="{847BA352-1611-084F-795C-C5FF7B660D59}"/>
                    </a:ext>
                  </a:extLst>
                </p:cNvPr>
                <p:cNvSpPr/>
                <p:nvPr/>
              </p:nvSpPr>
              <p:spPr>
                <a:xfrm>
                  <a:off x="2936890" y="3912858"/>
                  <a:ext cx="425689" cy="32905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95" name="Straight Connector 1065">
                  <a:extLst>
                    <a:ext uri="{FF2B5EF4-FFF2-40B4-BE49-F238E27FC236}">
                      <a16:creationId xmlns:a16="http://schemas.microsoft.com/office/drawing/2014/main" id="{CCDCA0A6-77E2-40FB-79AE-6BED94F57923}"/>
                    </a:ext>
                  </a:extLst>
                </p:cNvPr>
                <p:cNvCxnSpPr/>
                <p:nvPr/>
              </p:nvCxnSpPr>
              <p:spPr>
                <a:xfrm>
                  <a:off x="2932124" y="4005058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96" name="Straight Connector 1066">
                  <a:extLst>
                    <a:ext uri="{FF2B5EF4-FFF2-40B4-BE49-F238E27FC236}">
                      <a16:creationId xmlns:a16="http://schemas.microsoft.com/office/drawing/2014/main" id="{511E912B-7001-6E56-23E1-40E118834183}"/>
                    </a:ext>
                  </a:extLst>
                </p:cNvPr>
                <p:cNvCxnSpPr/>
                <p:nvPr/>
              </p:nvCxnSpPr>
              <p:spPr>
                <a:xfrm>
                  <a:off x="2932124" y="4068645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97" name="Straight Connector 1067">
                  <a:extLst>
                    <a:ext uri="{FF2B5EF4-FFF2-40B4-BE49-F238E27FC236}">
                      <a16:creationId xmlns:a16="http://schemas.microsoft.com/office/drawing/2014/main" id="{1DB44969-E44D-41CB-3EBC-1D4CB845C3EA}"/>
                    </a:ext>
                  </a:extLst>
                </p:cNvPr>
                <p:cNvCxnSpPr>
                  <a:stCxn id="594" idx="2"/>
                </p:cNvCxnSpPr>
                <p:nvPr/>
              </p:nvCxnSpPr>
              <p:spPr>
                <a:xfrm flipH="1" flipV="1">
                  <a:off x="3148146" y="4005058"/>
                  <a:ext cx="1589" cy="23685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574" name="Group 582">
                <a:extLst>
                  <a:ext uri="{FF2B5EF4-FFF2-40B4-BE49-F238E27FC236}">
                    <a16:creationId xmlns:a16="http://schemas.microsoft.com/office/drawing/2014/main" id="{3DDC08BC-5A7C-A1C0-61A3-8A0208A465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7957" y="5055368"/>
                <a:ext cx="430131" cy="329152"/>
                <a:chOff x="2931664" y="3912603"/>
                <a:chExt cx="430450" cy="329314"/>
              </a:xfrm>
            </p:grpSpPr>
            <p:sp>
              <p:nvSpPr>
                <p:cNvPr id="590" name="Rectangle 1060">
                  <a:extLst>
                    <a:ext uri="{FF2B5EF4-FFF2-40B4-BE49-F238E27FC236}">
                      <a16:creationId xmlns:a16="http://schemas.microsoft.com/office/drawing/2014/main" id="{BB97D51C-EEA2-D7A9-E8F5-2639AC1D9CD9}"/>
                    </a:ext>
                  </a:extLst>
                </p:cNvPr>
                <p:cNvSpPr/>
                <p:nvPr/>
              </p:nvSpPr>
              <p:spPr>
                <a:xfrm>
                  <a:off x="2936750" y="3912924"/>
                  <a:ext cx="425689" cy="32905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91" name="Straight Connector 1061">
                  <a:extLst>
                    <a:ext uri="{FF2B5EF4-FFF2-40B4-BE49-F238E27FC236}">
                      <a16:creationId xmlns:a16="http://schemas.microsoft.com/office/drawing/2014/main" id="{5717603C-C085-3729-6D98-2FED5A5C648C}"/>
                    </a:ext>
                  </a:extLst>
                </p:cNvPr>
                <p:cNvCxnSpPr/>
                <p:nvPr/>
              </p:nvCxnSpPr>
              <p:spPr>
                <a:xfrm>
                  <a:off x="2931985" y="4005125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92" name="Straight Connector 1062">
                  <a:extLst>
                    <a:ext uri="{FF2B5EF4-FFF2-40B4-BE49-F238E27FC236}">
                      <a16:creationId xmlns:a16="http://schemas.microsoft.com/office/drawing/2014/main" id="{FE40DAB8-8B53-97DD-4AB8-1AA7C1DF6419}"/>
                    </a:ext>
                  </a:extLst>
                </p:cNvPr>
                <p:cNvCxnSpPr/>
                <p:nvPr/>
              </p:nvCxnSpPr>
              <p:spPr>
                <a:xfrm>
                  <a:off x="2931985" y="4068711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93" name="Straight Connector 1063">
                  <a:extLst>
                    <a:ext uri="{FF2B5EF4-FFF2-40B4-BE49-F238E27FC236}">
                      <a16:creationId xmlns:a16="http://schemas.microsoft.com/office/drawing/2014/main" id="{09A068D2-885E-FDB4-3F9E-D6739F7142BC}"/>
                    </a:ext>
                  </a:extLst>
                </p:cNvPr>
                <p:cNvCxnSpPr>
                  <a:stCxn id="590" idx="2"/>
                </p:cNvCxnSpPr>
                <p:nvPr/>
              </p:nvCxnSpPr>
              <p:spPr>
                <a:xfrm flipH="1" flipV="1">
                  <a:off x="3148007" y="4005125"/>
                  <a:ext cx="1588" cy="23685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575" name="Group 609">
                <a:extLst>
                  <a:ext uri="{FF2B5EF4-FFF2-40B4-BE49-F238E27FC236}">
                    <a16:creationId xmlns:a16="http://schemas.microsoft.com/office/drawing/2014/main" id="{9B36ACAD-4F7A-C005-E0EE-9A4E34E618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91804" y="5053093"/>
                <a:ext cx="430212" cy="328614"/>
                <a:chOff x="2932186" y="3913304"/>
                <a:chExt cx="430531" cy="328775"/>
              </a:xfrm>
            </p:grpSpPr>
            <p:sp>
              <p:nvSpPr>
                <p:cNvPr id="586" name="Rectangle 1056">
                  <a:extLst>
                    <a:ext uri="{FF2B5EF4-FFF2-40B4-BE49-F238E27FC236}">
                      <a16:creationId xmlns:a16="http://schemas.microsoft.com/office/drawing/2014/main" id="{5E01A436-BA95-AE14-3115-2E82E79B76AB}"/>
                    </a:ext>
                  </a:extLst>
                </p:cNvPr>
                <p:cNvSpPr/>
                <p:nvPr/>
              </p:nvSpPr>
              <p:spPr>
                <a:xfrm>
                  <a:off x="2936535" y="3912722"/>
                  <a:ext cx="425689" cy="329058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87" name="Straight Connector 1057">
                  <a:extLst>
                    <a:ext uri="{FF2B5EF4-FFF2-40B4-BE49-F238E27FC236}">
                      <a16:creationId xmlns:a16="http://schemas.microsoft.com/office/drawing/2014/main" id="{3C077B9D-D89F-377E-92E6-8D1EB959EE2E}"/>
                    </a:ext>
                  </a:extLst>
                </p:cNvPr>
                <p:cNvCxnSpPr/>
                <p:nvPr/>
              </p:nvCxnSpPr>
              <p:spPr>
                <a:xfrm>
                  <a:off x="2931771" y="4004922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88" name="Straight Connector 1058">
                  <a:extLst>
                    <a:ext uri="{FF2B5EF4-FFF2-40B4-BE49-F238E27FC236}">
                      <a16:creationId xmlns:a16="http://schemas.microsoft.com/office/drawing/2014/main" id="{69C77CDC-C947-9EFA-3352-64A5EDCAB9E3}"/>
                    </a:ext>
                  </a:extLst>
                </p:cNvPr>
                <p:cNvCxnSpPr/>
                <p:nvPr/>
              </p:nvCxnSpPr>
              <p:spPr>
                <a:xfrm>
                  <a:off x="2931771" y="4068509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89" name="Straight Connector 1059">
                  <a:extLst>
                    <a:ext uri="{FF2B5EF4-FFF2-40B4-BE49-F238E27FC236}">
                      <a16:creationId xmlns:a16="http://schemas.microsoft.com/office/drawing/2014/main" id="{829B62F8-C877-DBE4-28FF-92140F299E00}"/>
                    </a:ext>
                  </a:extLst>
                </p:cNvPr>
                <p:cNvCxnSpPr>
                  <a:stCxn id="586" idx="2"/>
                </p:cNvCxnSpPr>
                <p:nvPr/>
              </p:nvCxnSpPr>
              <p:spPr>
                <a:xfrm flipH="1" flipV="1">
                  <a:off x="3147792" y="4004922"/>
                  <a:ext cx="1588" cy="236858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576" name="Group 636">
                <a:extLst>
                  <a:ext uri="{FF2B5EF4-FFF2-40B4-BE49-F238E27FC236}">
                    <a16:creationId xmlns:a16="http://schemas.microsoft.com/office/drawing/2014/main" id="{419C3530-EC46-D0FA-0F4D-F2F3EC1D13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81816" y="5045656"/>
                <a:ext cx="430131" cy="329465"/>
                <a:chOff x="2931664" y="3912603"/>
                <a:chExt cx="430450" cy="329314"/>
              </a:xfrm>
            </p:grpSpPr>
            <p:sp>
              <p:nvSpPr>
                <p:cNvPr id="582" name="Rectangle 1052">
                  <a:extLst>
                    <a:ext uri="{FF2B5EF4-FFF2-40B4-BE49-F238E27FC236}">
                      <a16:creationId xmlns:a16="http://schemas.microsoft.com/office/drawing/2014/main" id="{1290FA1A-EB88-5A3E-3EE4-AC2E445FED86}"/>
                    </a:ext>
                  </a:extLst>
                </p:cNvPr>
                <p:cNvSpPr/>
                <p:nvPr/>
              </p:nvSpPr>
              <p:spPr>
                <a:xfrm>
                  <a:off x="2936425" y="3913102"/>
                  <a:ext cx="425689" cy="328747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83" name="Straight Connector 1053">
                  <a:extLst>
                    <a:ext uri="{FF2B5EF4-FFF2-40B4-BE49-F238E27FC236}">
                      <a16:creationId xmlns:a16="http://schemas.microsoft.com/office/drawing/2014/main" id="{3FB8A8FD-78FD-4F82-9784-B67ADA5642E9}"/>
                    </a:ext>
                  </a:extLst>
                </p:cNvPr>
                <p:cNvCxnSpPr/>
                <p:nvPr/>
              </p:nvCxnSpPr>
              <p:spPr>
                <a:xfrm>
                  <a:off x="2931660" y="4005215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84" name="Straight Connector 1054">
                  <a:extLst>
                    <a:ext uri="{FF2B5EF4-FFF2-40B4-BE49-F238E27FC236}">
                      <a16:creationId xmlns:a16="http://schemas.microsoft.com/office/drawing/2014/main" id="{A0787906-AC00-E472-3B11-DD5A6BB62636}"/>
                    </a:ext>
                  </a:extLst>
                </p:cNvPr>
                <p:cNvCxnSpPr/>
                <p:nvPr/>
              </p:nvCxnSpPr>
              <p:spPr>
                <a:xfrm>
                  <a:off x="2931660" y="4067152"/>
                  <a:ext cx="42568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85" name="Straight Connector 1055">
                  <a:extLst>
                    <a:ext uri="{FF2B5EF4-FFF2-40B4-BE49-F238E27FC236}">
                      <a16:creationId xmlns:a16="http://schemas.microsoft.com/office/drawing/2014/main" id="{8D9575F3-2EE3-8682-DD29-B22A7CE0841B}"/>
                    </a:ext>
                  </a:extLst>
                </p:cNvPr>
                <p:cNvCxnSpPr>
                  <a:stCxn id="582" idx="2"/>
                </p:cNvCxnSpPr>
                <p:nvPr/>
              </p:nvCxnSpPr>
              <p:spPr>
                <a:xfrm flipH="1" flipV="1">
                  <a:off x="3147681" y="4005215"/>
                  <a:ext cx="1588" cy="23663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577" name="Group 554">
                <a:extLst>
                  <a:ext uri="{FF2B5EF4-FFF2-40B4-BE49-F238E27FC236}">
                    <a16:creationId xmlns:a16="http://schemas.microsoft.com/office/drawing/2014/main" id="{8C7829A7-4023-FCF9-E8B3-DD6FF39A75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5070" y="4690247"/>
                <a:ext cx="675320" cy="521222"/>
                <a:chOff x="2931664" y="3912603"/>
                <a:chExt cx="430450" cy="329314"/>
              </a:xfrm>
            </p:grpSpPr>
            <p:sp>
              <p:nvSpPr>
                <p:cNvPr id="578" name="Rectangle 1048">
                  <a:extLst>
                    <a:ext uri="{FF2B5EF4-FFF2-40B4-BE49-F238E27FC236}">
                      <a16:creationId xmlns:a16="http://schemas.microsoft.com/office/drawing/2014/main" id="{ED5386BE-25AA-9B41-8FF7-EC294C618E0D}"/>
                    </a:ext>
                  </a:extLst>
                </p:cNvPr>
                <p:cNvSpPr/>
                <p:nvPr/>
              </p:nvSpPr>
              <p:spPr>
                <a:xfrm>
                  <a:off x="2936722" y="3913607"/>
                  <a:ext cx="425923" cy="32826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79" name="Straight Connector 1049">
                  <a:extLst>
                    <a:ext uri="{FF2B5EF4-FFF2-40B4-BE49-F238E27FC236}">
                      <a16:creationId xmlns:a16="http://schemas.microsoft.com/office/drawing/2014/main" id="{79EE3FF0-6A89-BACF-7763-976AC38BB3E9}"/>
                    </a:ext>
                  </a:extLst>
                </p:cNvPr>
                <p:cNvCxnSpPr/>
                <p:nvPr/>
              </p:nvCxnSpPr>
              <p:spPr>
                <a:xfrm>
                  <a:off x="2932675" y="4004959"/>
                  <a:ext cx="42491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80" name="Straight Connector 1050">
                  <a:extLst>
                    <a:ext uri="{FF2B5EF4-FFF2-40B4-BE49-F238E27FC236}">
                      <a16:creationId xmlns:a16="http://schemas.microsoft.com/office/drawing/2014/main" id="{3281D7D5-F328-86B1-67D3-5C1B30C57BDC}"/>
                    </a:ext>
                  </a:extLst>
                </p:cNvPr>
                <p:cNvCxnSpPr/>
                <p:nvPr/>
              </p:nvCxnSpPr>
              <p:spPr>
                <a:xfrm>
                  <a:off x="2932675" y="4069207"/>
                  <a:ext cx="42491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581" name="Straight Connector 1051">
                  <a:extLst>
                    <a:ext uri="{FF2B5EF4-FFF2-40B4-BE49-F238E27FC236}">
                      <a16:creationId xmlns:a16="http://schemas.microsoft.com/office/drawing/2014/main" id="{D041064E-2E1B-474D-ECDA-6C43DF4D4D71}"/>
                    </a:ext>
                  </a:extLst>
                </p:cNvPr>
                <p:cNvCxnSpPr>
                  <a:stCxn id="578" idx="2"/>
                </p:cNvCxnSpPr>
                <p:nvPr/>
              </p:nvCxnSpPr>
              <p:spPr>
                <a:xfrm flipH="1" flipV="1">
                  <a:off x="3148166" y="4004959"/>
                  <a:ext cx="1011" cy="23691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598" name="Group 347">
              <a:extLst>
                <a:ext uri="{FF2B5EF4-FFF2-40B4-BE49-F238E27FC236}">
                  <a16:creationId xmlns:a16="http://schemas.microsoft.com/office/drawing/2014/main" id="{0376D058-5383-4DCC-6CF2-6B83A0DED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05568" y="5890592"/>
              <a:ext cx="588962" cy="242888"/>
              <a:chOff x="1871277" y="1576300"/>
              <a:chExt cx="1128371" cy="437861"/>
            </a:xfrm>
          </p:grpSpPr>
          <p:sp>
            <p:nvSpPr>
              <p:cNvPr id="599" name="Oval 1069">
                <a:extLst>
                  <a:ext uri="{FF2B5EF4-FFF2-40B4-BE49-F238E27FC236}">
                    <a16:creationId xmlns:a16="http://schemas.microsoft.com/office/drawing/2014/main" id="{2F64CA58-C829-E0E8-2C4A-4F0D865B6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6"/>
                <a:ext cx="1125331" cy="320525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00" name="Rectangle 1070">
                <a:extLst>
                  <a:ext uri="{FF2B5EF4-FFF2-40B4-BE49-F238E27FC236}">
                    <a16:creationId xmlns:a16="http://schemas.microsoft.com/office/drawing/2014/main" id="{069BD1C3-8396-9269-3A64-90E13CA09477}"/>
                  </a:ext>
                </a:extLst>
              </p:cNvPr>
              <p:cNvSpPr/>
              <p:nvPr/>
            </p:nvSpPr>
            <p:spPr bwMode="auto">
              <a:xfrm>
                <a:off x="1871277" y="1739425"/>
                <a:ext cx="1128371" cy="11733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01" name="Oval 1071">
                <a:extLst>
                  <a:ext uri="{FF2B5EF4-FFF2-40B4-BE49-F238E27FC236}">
                    <a16:creationId xmlns:a16="http://schemas.microsoft.com/office/drawing/2014/main" id="{0BB163D0-012E-4461-CD8D-7F30D72B8E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5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02" name="Freeform 1072">
                <a:extLst>
                  <a:ext uri="{FF2B5EF4-FFF2-40B4-BE49-F238E27FC236}">
                    <a16:creationId xmlns:a16="http://schemas.microsoft.com/office/drawing/2014/main" id="{C8A5D74F-2661-20FF-57A4-5F60B68AF82E}"/>
                  </a:ext>
                </a:extLst>
              </p:cNvPr>
              <p:cNvSpPr/>
              <p:nvPr/>
            </p:nvSpPr>
            <p:spPr bwMode="auto">
              <a:xfrm>
                <a:off x="2160212" y="1673602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03" name="Freeform 1073">
                <a:extLst>
                  <a:ext uri="{FF2B5EF4-FFF2-40B4-BE49-F238E27FC236}">
                    <a16:creationId xmlns:a16="http://schemas.microsoft.com/office/drawing/2014/main" id="{582A7BEE-4A76-DB1E-5F78-BB7A2BFA2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2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7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6 h 932950"/>
                  <a:gd name="T12" fmla="*/ 536535 w 3723451"/>
                  <a:gd name="T13" fmla="*/ 47040 h 932950"/>
                  <a:gd name="T14" fmla="*/ 334214 w 3723451"/>
                  <a:gd name="T15" fmla="*/ 111612 h 932950"/>
                  <a:gd name="T16" fmla="*/ 126717 w 3723451"/>
                  <a:gd name="T17" fmla="*/ 49415 h 932950"/>
                  <a:gd name="T18" fmla="*/ 93168 w 3723451"/>
                  <a:gd name="T19" fmla="*/ 56128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04" name="Freeform 1074">
                <a:extLst>
                  <a:ext uri="{FF2B5EF4-FFF2-40B4-BE49-F238E27FC236}">
                    <a16:creationId xmlns:a16="http://schemas.microsoft.com/office/drawing/2014/main" id="{AC714EF8-F413-A515-FCF1-0D4DDE4D5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8"/>
                <a:ext cx="243315" cy="97302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8 h 809868"/>
                  <a:gd name="T4" fmla="*/ 154017 w 1366596"/>
                  <a:gd name="T5" fmla="*/ 97302 h 809868"/>
                  <a:gd name="T6" fmla="*/ 819 w 1366596"/>
                  <a:gd name="T7" fmla="*/ 51415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05" name="Freeform 1075">
                <a:extLst>
                  <a:ext uri="{FF2B5EF4-FFF2-40B4-BE49-F238E27FC236}">
                    <a16:creationId xmlns:a16="http://schemas.microsoft.com/office/drawing/2014/main" id="{BA1BAC66-E5B0-50C3-FDB9-D3B5B842C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2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2 h 791462"/>
                  <a:gd name="T6" fmla="*/ 0 w 1348191"/>
                  <a:gd name="T7" fmla="*/ 75239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606" name="Straight Connector 1076">
                <a:extLst>
                  <a:ext uri="{FF2B5EF4-FFF2-40B4-BE49-F238E27FC236}">
                    <a16:creationId xmlns:a16="http://schemas.microsoft.com/office/drawing/2014/main" id="{C525DD00-E1C4-D8B0-034E-349A9B3A1229}"/>
                  </a:ext>
                </a:extLst>
              </p:cNvPr>
              <p:cNvCxnSpPr>
                <a:cxnSpLocks noChangeShapeType="1"/>
                <a:endCxn id="601" idx="2"/>
              </p:cNvCxnSpPr>
              <p:nvPr/>
            </p:nvCxnSpPr>
            <p:spPr bwMode="auto">
              <a:xfrm flipH="1" flipV="1">
                <a:off x="1871277" y="1736563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7" name="Straight Connector 1077">
                <a:extLst>
                  <a:ext uri="{FF2B5EF4-FFF2-40B4-BE49-F238E27FC236}">
                    <a16:creationId xmlns:a16="http://schemas.microsoft.com/office/drawing/2014/main" id="{2D657ED8-2514-956B-9213-4AB686AF920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2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08" name="Group 347">
              <a:extLst>
                <a:ext uri="{FF2B5EF4-FFF2-40B4-BE49-F238E27FC236}">
                  <a16:creationId xmlns:a16="http://schemas.microsoft.com/office/drawing/2014/main" id="{36DB0B13-FA6A-3521-0D05-01D990D9B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4430" y="5749305"/>
              <a:ext cx="588963" cy="242887"/>
              <a:chOff x="1871277" y="1576300"/>
              <a:chExt cx="1128371" cy="437861"/>
            </a:xfrm>
          </p:grpSpPr>
          <p:sp>
            <p:nvSpPr>
              <p:cNvPr id="609" name="Oval 1079">
                <a:extLst>
                  <a:ext uri="{FF2B5EF4-FFF2-40B4-BE49-F238E27FC236}">
                    <a16:creationId xmlns:a16="http://schemas.microsoft.com/office/drawing/2014/main" id="{3A636593-992F-2A6E-922E-810B2761E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9" y="1693635"/>
                <a:ext cx="1125329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10" name="Rectangle 1080">
                <a:extLst>
                  <a:ext uri="{FF2B5EF4-FFF2-40B4-BE49-F238E27FC236}">
                    <a16:creationId xmlns:a16="http://schemas.microsoft.com/office/drawing/2014/main" id="{3D04FAF5-EB9C-2C49-799C-448E2B4E9396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11" name="Oval 1081">
                <a:extLst>
                  <a:ext uri="{FF2B5EF4-FFF2-40B4-BE49-F238E27FC236}">
                    <a16:creationId xmlns:a16="http://schemas.microsoft.com/office/drawing/2014/main" id="{6F60461A-20B2-4798-425A-AE30631EBE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29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12" name="Freeform 1082">
                <a:extLst>
                  <a:ext uri="{FF2B5EF4-FFF2-40B4-BE49-F238E27FC236}">
                    <a16:creationId xmlns:a16="http://schemas.microsoft.com/office/drawing/2014/main" id="{4A5F0189-E11C-D33A-36BB-225AD95A0941}"/>
                  </a:ext>
                </a:extLst>
              </p:cNvPr>
              <p:cNvSpPr/>
              <p:nvPr/>
            </p:nvSpPr>
            <p:spPr bwMode="auto">
              <a:xfrm>
                <a:off x="2160214" y="1673603"/>
                <a:ext cx="547457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13" name="Freeform 1083">
                <a:extLst>
                  <a:ext uri="{FF2B5EF4-FFF2-40B4-BE49-F238E27FC236}">
                    <a16:creationId xmlns:a16="http://schemas.microsoft.com/office/drawing/2014/main" id="{0BC3C0FA-BDE3-4DF4-0932-3347DF60E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1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6 w 3723451"/>
                  <a:gd name="T5" fmla="*/ 62276 h 932950"/>
                  <a:gd name="T6" fmla="*/ 534416 w 3723451"/>
                  <a:gd name="T7" fmla="*/ 0 h 932950"/>
                  <a:gd name="T8" fmla="*/ 663031 w 3723451"/>
                  <a:gd name="T9" fmla="*/ 24782 h 932950"/>
                  <a:gd name="T10" fmla="*/ 567342 w 3723451"/>
                  <a:gd name="T11" fmla="*/ 55255 h 932950"/>
                  <a:gd name="T12" fmla="*/ 536534 w 3723451"/>
                  <a:gd name="T13" fmla="*/ 47039 h 932950"/>
                  <a:gd name="T14" fmla="*/ 334213 w 3723451"/>
                  <a:gd name="T15" fmla="*/ 111611 h 932950"/>
                  <a:gd name="T16" fmla="*/ 126716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14" name="Freeform 1084">
                <a:extLst>
                  <a:ext uri="{FF2B5EF4-FFF2-40B4-BE49-F238E27FC236}">
                    <a16:creationId xmlns:a16="http://schemas.microsoft.com/office/drawing/2014/main" id="{3C19FD8C-5F48-BC28-10B1-FFCC5680A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1" y="1727977"/>
                <a:ext cx="243314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4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15" name="Freeform 1085">
                <a:extLst>
                  <a:ext uri="{FF2B5EF4-FFF2-40B4-BE49-F238E27FC236}">
                    <a16:creationId xmlns:a16="http://schemas.microsoft.com/office/drawing/2014/main" id="{45B6132A-F6C9-3220-F67C-4DF8BC980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4" cy="97303"/>
              </a:xfrm>
              <a:custGeom>
                <a:avLst/>
                <a:gdLst>
                  <a:gd name="T0" fmla="*/ 236994 w 1348191"/>
                  <a:gd name="T1" fmla="*/ 0 h 791462"/>
                  <a:gd name="T2" fmla="*/ 240274 w 1348191"/>
                  <a:gd name="T3" fmla="*/ 46954 h 791462"/>
                  <a:gd name="T4" fmla="*/ 86925 w 1348191"/>
                  <a:gd name="T5" fmla="*/ 97303 h 791462"/>
                  <a:gd name="T6" fmla="*/ 0 w 1348191"/>
                  <a:gd name="T7" fmla="*/ 75240 h 791462"/>
                  <a:gd name="T8" fmla="*/ 23699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616" name="Straight Connector 1086">
                <a:extLst>
                  <a:ext uri="{FF2B5EF4-FFF2-40B4-BE49-F238E27FC236}">
                    <a16:creationId xmlns:a16="http://schemas.microsoft.com/office/drawing/2014/main" id="{00CDCA25-B99D-95F5-7565-1EDBAFDB1024}"/>
                  </a:ext>
                </a:extLst>
              </p:cNvPr>
              <p:cNvCxnSpPr>
                <a:cxnSpLocks noChangeShapeType="1"/>
                <a:endCxn id="611" idx="2"/>
              </p:cNvCxnSpPr>
              <p:nvPr/>
            </p:nvCxnSpPr>
            <p:spPr bwMode="auto">
              <a:xfrm flipH="1" flipV="1">
                <a:off x="1871277" y="1736563"/>
                <a:ext cx="3042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7" name="Straight Connector 1087">
                <a:extLst>
                  <a:ext uri="{FF2B5EF4-FFF2-40B4-BE49-F238E27FC236}">
                    <a16:creationId xmlns:a16="http://schemas.microsoft.com/office/drawing/2014/main" id="{4B2E3780-701E-FD97-8624-410F8F9345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6" y="1733700"/>
                <a:ext cx="3042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18" name="Group 347">
              <a:extLst>
                <a:ext uri="{FF2B5EF4-FFF2-40B4-BE49-F238E27FC236}">
                  <a16:creationId xmlns:a16="http://schemas.microsoft.com/office/drawing/2014/main" id="{CD7AE12A-A49C-8D46-D852-0AC0D6E22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6593" y="6209680"/>
              <a:ext cx="588962" cy="242887"/>
              <a:chOff x="1871277" y="1576300"/>
              <a:chExt cx="1128371" cy="437861"/>
            </a:xfrm>
          </p:grpSpPr>
          <p:sp>
            <p:nvSpPr>
              <p:cNvPr id="619" name="Oval 1089">
                <a:extLst>
                  <a:ext uri="{FF2B5EF4-FFF2-40B4-BE49-F238E27FC236}">
                    <a16:creationId xmlns:a16="http://schemas.microsoft.com/office/drawing/2014/main" id="{0D3182A7-DA0F-DC84-BF76-5A33D2013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5"/>
                <a:ext cx="1125331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0" name="Rectangle 1090">
                <a:extLst>
                  <a:ext uri="{FF2B5EF4-FFF2-40B4-BE49-F238E27FC236}">
                    <a16:creationId xmlns:a16="http://schemas.microsoft.com/office/drawing/2014/main" id="{277C68C6-7766-8F3D-F8E6-70C0692427FD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21" name="Oval 1091">
                <a:extLst>
                  <a:ext uri="{FF2B5EF4-FFF2-40B4-BE49-F238E27FC236}">
                    <a16:creationId xmlns:a16="http://schemas.microsoft.com/office/drawing/2014/main" id="{2D30B29E-CBD8-0E7C-C21A-32EB232D8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2" name="Freeform 1092">
                <a:extLst>
                  <a:ext uri="{FF2B5EF4-FFF2-40B4-BE49-F238E27FC236}">
                    <a16:creationId xmlns:a16="http://schemas.microsoft.com/office/drawing/2014/main" id="{67EE26AE-B26C-35E1-FB6F-4C3EDE0BE969}"/>
                  </a:ext>
                </a:extLst>
              </p:cNvPr>
              <p:cNvSpPr/>
              <p:nvPr/>
            </p:nvSpPr>
            <p:spPr bwMode="auto">
              <a:xfrm>
                <a:off x="2160212" y="1673603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23" name="Freeform 1093">
                <a:extLst>
                  <a:ext uri="{FF2B5EF4-FFF2-40B4-BE49-F238E27FC236}">
                    <a16:creationId xmlns:a16="http://schemas.microsoft.com/office/drawing/2014/main" id="{1E0E5EEF-6641-0D1E-C3CB-BDEF1EB5DB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6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5 h 932950"/>
                  <a:gd name="T12" fmla="*/ 536535 w 3723451"/>
                  <a:gd name="T13" fmla="*/ 47039 h 932950"/>
                  <a:gd name="T14" fmla="*/ 334214 w 3723451"/>
                  <a:gd name="T15" fmla="*/ 111611 h 932950"/>
                  <a:gd name="T16" fmla="*/ 126717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4" name="Freeform 1094">
                <a:extLst>
                  <a:ext uri="{FF2B5EF4-FFF2-40B4-BE49-F238E27FC236}">
                    <a16:creationId xmlns:a16="http://schemas.microsoft.com/office/drawing/2014/main" id="{ED974945-7F03-5AF6-4560-5C961F7BA2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7"/>
                <a:ext cx="243315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5" name="Freeform 1095">
                <a:extLst>
                  <a:ext uri="{FF2B5EF4-FFF2-40B4-BE49-F238E27FC236}">
                    <a16:creationId xmlns:a16="http://schemas.microsoft.com/office/drawing/2014/main" id="{839AEAC9-DA30-9F77-9FFE-5FD12DEEA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3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3 h 791462"/>
                  <a:gd name="T6" fmla="*/ 0 w 1348191"/>
                  <a:gd name="T7" fmla="*/ 75240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626" name="Straight Connector 1096">
                <a:extLst>
                  <a:ext uri="{FF2B5EF4-FFF2-40B4-BE49-F238E27FC236}">
                    <a16:creationId xmlns:a16="http://schemas.microsoft.com/office/drawing/2014/main" id="{DC67568A-3908-5EEC-E0B4-9FB75B28ABDE}"/>
                  </a:ext>
                </a:extLst>
              </p:cNvPr>
              <p:cNvCxnSpPr>
                <a:cxnSpLocks noChangeShapeType="1"/>
                <a:endCxn id="621" idx="2"/>
              </p:cNvCxnSpPr>
              <p:nvPr/>
            </p:nvCxnSpPr>
            <p:spPr bwMode="auto">
              <a:xfrm flipH="1" flipV="1">
                <a:off x="1871277" y="1736563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7" name="Straight Connector 1097">
                <a:extLst>
                  <a:ext uri="{FF2B5EF4-FFF2-40B4-BE49-F238E27FC236}">
                    <a16:creationId xmlns:a16="http://schemas.microsoft.com/office/drawing/2014/main" id="{D77D974B-9B3A-0ACB-D5F1-CF6B3F25CE9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0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28" name="Group 347">
              <a:extLst>
                <a:ext uri="{FF2B5EF4-FFF2-40B4-BE49-F238E27FC236}">
                  <a16:creationId xmlns:a16="http://schemas.microsoft.com/office/drawing/2014/main" id="{A87767F3-F26F-8765-FC04-BC7E4D9F7E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52918" y="6301755"/>
              <a:ext cx="588962" cy="242887"/>
              <a:chOff x="1871277" y="1576300"/>
              <a:chExt cx="1128371" cy="437861"/>
            </a:xfrm>
          </p:grpSpPr>
          <p:sp>
            <p:nvSpPr>
              <p:cNvPr id="629" name="Oval 1099">
                <a:extLst>
                  <a:ext uri="{FF2B5EF4-FFF2-40B4-BE49-F238E27FC236}">
                    <a16:creationId xmlns:a16="http://schemas.microsoft.com/office/drawing/2014/main" id="{23F25364-8A1F-6D85-5DD8-237B04EE9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317" y="1693635"/>
                <a:ext cx="1125331" cy="320526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30" name="Rectangle 1100">
                <a:extLst>
                  <a:ext uri="{FF2B5EF4-FFF2-40B4-BE49-F238E27FC236}">
                    <a16:creationId xmlns:a16="http://schemas.microsoft.com/office/drawing/2014/main" id="{B97A0671-233A-12EC-209D-3029256A1BC7}"/>
                  </a:ext>
                </a:extLst>
              </p:cNvPr>
              <p:cNvSpPr/>
              <p:nvPr/>
            </p:nvSpPr>
            <p:spPr bwMode="auto">
              <a:xfrm>
                <a:off x="1871277" y="1739424"/>
                <a:ext cx="1128371" cy="117336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31" name="Oval 1101">
                <a:extLst>
                  <a:ext uri="{FF2B5EF4-FFF2-40B4-BE49-F238E27FC236}">
                    <a16:creationId xmlns:a16="http://schemas.microsoft.com/office/drawing/2014/main" id="{518B5493-7608-DD0E-C3E0-0999A2B35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32" name="Freeform 1102">
                <a:extLst>
                  <a:ext uri="{FF2B5EF4-FFF2-40B4-BE49-F238E27FC236}">
                    <a16:creationId xmlns:a16="http://schemas.microsoft.com/office/drawing/2014/main" id="{953BD54B-489D-BA72-14F2-1444A2B0D621}"/>
                  </a:ext>
                </a:extLst>
              </p:cNvPr>
              <p:cNvSpPr/>
              <p:nvPr/>
            </p:nvSpPr>
            <p:spPr bwMode="auto">
              <a:xfrm>
                <a:off x="2160212" y="1673603"/>
                <a:ext cx="547458" cy="16026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33" name="Freeform 1103">
                <a:extLst>
                  <a:ext uri="{FF2B5EF4-FFF2-40B4-BE49-F238E27FC236}">
                    <a16:creationId xmlns:a16="http://schemas.microsoft.com/office/drawing/2014/main" id="{F2423AEB-635F-699B-489A-35EBCCC42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426" y="1633537"/>
                <a:ext cx="663033" cy="111611"/>
              </a:xfrm>
              <a:custGeom>
                <a:avLst/>
                <a:gdLst>
                  <a:gd name="T0" fmla="*/ 0 w 3723451"/>
                  <a:gd name="T1" fmla="*/ 27306 h 932950"/>
                  <a:gd name="T2" fmla="*/ 116665 w 3723451"/>
                  <a:gd name="T3" fmla="*/ 322 h 932950"/>
                  <a:gd name="T4" fmla="*/ 330457 w 3723451"/>
                  <a:gd name="T5" fmla="*/ 62276 h 932950"/>
                  <a:gd name="T6" fmla="*/ 534418 w 3723451"/>
                  <a:gd name="T7" fmla="*/ 0 h 932950"/>
                  <a:gd name="T8" fmla="*/ 663033 w 3723451"/>
                  <a:gd name="T9" fmla="*/ 24782 h 932950"/>
                  <a:gd name="T10" fmla="*/ 567343 w 3723451"/>
                  <a:gd name="T11" fmla="*/ 55255 h 932950"/>
                  <a:gd name="T12" fmla="*/ 536535 w 3723451"/>
                  <a:gd name="T13" fmla="*/ 47039 h 932950"/>
                  <a:gd name="T14" fmla="*/ 334214 w 3723451"/>
                  <a:gd name="T15" fmla="*/ 111611 h 932950"/>
                  <a:gd name="T16" fmla="*/ 126717 w 3723451"/>
                  <a:gd name="T17" fmla="*/ 49415 h 932950"/>
                  <a:gd name="T18" fmla="*/ 93168 w 3723451"/>
                  <a:gd name="T19" fmla="*/ 56127 h 932950"/>
                  <a:gd name="T20" fmla="*/ 0 w 3723451"/>
                  <a:gd name="T21" fmla="*/ 27306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34" name="Freeform 1104">
                <a:extLst>
                  <a:ext uri="{FF2B5EF4-FFF2-40B4-BE49-F238E27FC236}">
                    <a16:creationId xmlns:a16="http://schemas.microsoft.com/office/drawing/2014/main" id="{CA4E0932-0F7A-D58B-1F60-BBD6C729B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7350" y="1727977"/>
                <a:ext cx="243315" cy="97303"/>
              </a:xfrm>
              <a:custGeom>
                <a:avLst/>
                <a:gdLst>
                  <a:gd name="T0" fmla="*/ 0 w 1366596"/>
                  <a:gd name="T1" fmla="*/ 0 h 809868"/>
                  <a:gd name="T2" fmla="*/ 243315 w 1366596"/>
                  <a:gd name="T3" fmla="*/ 75189 h 809868"/>
                  <a:gd name="T4" fmla="*/ 154017 w 1366596"/>
                  <a:gd name="T5" fmla="*/ 97303 h 809868"/>
                  <a:gd name="T6" fmla="*/ 819 w 1366596"/>
                  <a:gd name="T7" fmla="*/ 51416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35" name="Freeform 1105">
                <a:extLst>
                  <a:ext uri="{FF2B5EF4-FFF2-40B4-BE49-F238E27FC236}">
                    <a16:creationId xmlns:a16="http://schemas.microsoft.com/office/drawing/2014/main" id="{32EAFCA1-9DC5-A16C-8BBC-1D6DF7C904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260" y="1730839"/>
                <a:ext cx="240272" cy="97303"/>
              </a:xfrm>
              <a:custGeom>
                <a:avLst/>
                <a:gdLst>
                  <a:gd name="T0" fmla="*/ 236992 w 1348191"/>
                  <a:gd name="T1" fmla="*/ 0 h 791462"/>
                  <a:gd name="T2" fmla="*/ 240272 w 1348191"/>
                  <a:gd name="T3" fmla="*/ 46954 h 791462"/>
                  <a:gd name="T4" fmla="*/ 86924 w 1348191"/>
                  <a:gd name="T5" fmla="*/ 97303 h 791462"/>
                  <a:gd name="T6" fmla="*/ 0 w 1348191"/>
                  <a:gd name="T7" fmla="*/ 75240 h 791462"/>
                  <a:gd name="T8" fmla="*/ 236992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636" name="Straight Connector 1106">
                <a:extLst>
                  <a:ext uri="{FF2B5EF4-FFF2-40B4-BE49-F238E27FC236}">
                    <a16:creationId xmlns:a16="http://schemas.microsoft.com/office/drawing/2014/main" id="{6A7BA833-1992-9269-921C-4D33F145AD1D}"/>
                  </a:ext>
                </a:extLst>
              </p:cNvPr>
              <p:cNvCxnSpPr>
                <a:cxnSpLocks noChangeShapeType="1"/>
                <a:endCxn id="631" idx="2"/>
              </p:cNvCxnSpPr>
              <p:nvPr/>
            </p:nvCxnSpPr>
            <p:spPr bwMode="auto">
              <a:xfrm flipH="1" flipV="1">
                <a:off x="1871277" y="1736563"/>
                <a:ext cx="3040" cy="123058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7" name="Straight Connector 1107">
                <a:extLst>
                  <a:ext uri="{FF2B5EF4-FFF2-40B4-BE49-F238E27FC236}">
                    <a16:creationId xmlns:a16="http://schemas.microsoft.com/office/drawing/2014/main" id="{1E117D92-C907-5F82-DD2B-1E4AEAB9C8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608" y="1733700"/>
                <a:ext cx="3040" cy="1230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38" name="Group 11">
              <a:extLst>
                <a:ext uri="{FF2B5EF4-FFF2-40B4-BE49-F238E27FC236}">
                  <a16:creationId xmlns:a16="http://schemas.microsoft.com/office/drawing/2014/main" id="{5C8CC0C9-922F-0B35-786D-82C37F4A6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4536" y="2167905"/>
              <a:ext cx="3597875" cy="493470"/>
              <a:chOff x="2705100" y="2011398"/>
              <a:chExt cx="3597533" cy="493677"/>
            </a:xfrm>
          </p:grpSpPr>
          <p:sp>
            <p:nvSpPr>
              <p:cNvPr id="639" name="Oval 1134">
                <a:extLst>
                  <a:ext uri="{FF2B5EF4-FFF2-40B4-BE49-F238E27FC236}">
                    <a16:creationId xmlns:a16="http://schemas.microsoft.com/office/drawing/2014/main" id="{CFF27605-27F4-080A-2853-60895FF5C795}"/>
                  </a:ext>
                </a:extLst>
              </p:cNvPr>
              <p:cNvSpPr/>
              <p:nvPr/>
            </p:nvSpPr>
            <p:spPr bwMode="auto">
              <a:xfrm>
                <a:off x="2722092" y="2011398"/>
                <a:ext cx="3581060" cy="492331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40" name="Oval 1135">
                <a:extLst>
                  <a:ext uri="{FF2B5EF4-FFF2-40B4-BE49-F238E27FC236}">
                    <a16:creationId xmlns:a16="http://schemas.microsoft.com/office/drawing/2014/main" id="{88768629-05F4-D48A-49B9-A087C8B1256E}"/>
                  </a:ext>
                </a:extLst>
              </p:cNvPr>
              <p:cNvSpPr/>
              <p:nvPr/>
            </p:nvSpPr>
            <p:spPr bwMode="auto">
              <a:xfrm>
                <a:off x="2704632" y="2012986"/>
                <a:ext cx="3581060" cy="492331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41" name="TextBox 389">
                <a:extLst>
                  <a:ext uri="{FF2B5EF4-FFF2-40B4-BE49-F238E27FC236}">
                    <a16:creationId xmlns:a16="http://schemas.microsoft.com/office/drawing/2014/main" id="{420A74DD-F85B-6DD8-470E-DF6707096F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2664" y="2127167"/>
                <a:ext cx="2057700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Remote Controller</a:t>
                </a:r>
              </a:p>
            </p:txBody>
          </p:sp>
        </p:grpSp>
        <p:grpSp>
          <p:nvGrpSpPr>
            <p:cNvPr id="642" name="Group 2">
              <a:extLst>
                <a:ext uri="{FF2B5EF4-FFF2-40B4-BE49-F238E27FC236}">
                  <a16:creationId xmlns:a16="http://schemas.microsoft.com/office/drawing/2014/main" id="{C4DDF5C1-56D3-EDA9-597F-0A11BE0AE825}"/>
                </a:ext>
              </a:extLst>
            </p:cNvPr>
            <p:cNvGrpSpPr/>
            <p:nvPr/>
          </p:nvGrpSpPr>
          <p:grpSpPr>
            <a:xfrm>
              <a:off x="3674918" y="4177613"/>
              <a:ext cx="5095875" cy="822392"/>
              <a:chOff x="3674918" y="4177613"/>
              <a:chExt cx="5095875" cy="822392"/>
            </a:xfrm>
          </p:grpSpPr>
          <p:grpSp>
            <p:nvGrpSpPr>
              <p:cNvPr id="643" name="Group 441">
                <a:extLst>
                  <a:ext uri="{FF2B5EF4-FFF2-40B4-BE49-F238E27FC236}">
                    <a16:creationId xmlns:a16="http://schemas.microsoft.com/office/drawing/2014/main" id="{8D7EFAF8-7048-1C3D-1639-DFFCB81B01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74918" y="4177613"/>
                <a:ext cx="923628" cy="405783"/>
                <a:chOff x="2705100" y="2011398"/>
                <a:chExt cx="3597533" cy="493677"/>
              </a:xfrm>
            </p:grpSpPr>
            <p:sp>
              <p:nvSpPr>
                <p:cNvPr id="664" name="Oval 1131">
                  <a:extLst>
                    <a:ext uri="{FF2B5EF4-FFF2-40B4-BE49-F238E27FC236}">
                      <a16:creationId xmlns:a16="http://schemas.microsoft.com/office/drawing/2014/main" id="{1D21ACD5-0ABB-7E77-285E-55AE144670B3}"/>
                    </a:ext>
                  </a:extLst>
                </p:cNvPr>
                <p:cNvSpPr/>
                <p:nvPr/>
              </p:nvSpPr>
              <p:spPr bwMode="auto">
                <a:xfrm>
                  <a:off x="2723648" y="2011480"/>
                  <a:ext cx="3580142" cy="492496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65" name="Oval 1132">
                  <a:extLst>
                    <a:ext uri="{FF2B5EF4-FFF2-40B4-BE49-F238E27FC236}">
                      <a16:creationId xmlns:a16="http://schemas.microsoft.com/office/drawing/2014/main" id="{ED71FDB5-C68D-6230-F414-3D53481F318F}"/>
                    </a:ext>
                  </a:extLst>
                </p:cNvPr>
                <p:cNvSpPr/>
                <p:nvPr/>
              </p:nvSpPr>
              <p:spPr bwMode="auto">
                <a:xfrm>
                  <a:off x="2705100" y="2013410"/>
                  <a:ext cx="3580138" cy="492497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66" name="TextBox 389">
                  <a:extLst>
                    <a:ext uri="{FF2B5EF4-FFF2-40B4-BE49-F238E27FC236}">
                      <a16:creationId xmlns:a16="http://schemas.microsoft.com/office/drawing/2014/main" id="{F46C4BFD-3DD0-D9A4-DF56-F6C1875AD3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</a:p>
              </p:txBody>
            </p:sp>
          </p:grpSp>
          <p:grpSp>
            <p:nvGrpSpPr>
              <p:cNvPr id="644" name="Group 16">
                <a:extLst>
                  <a:ext uri="{FF2B5EF4-FFF2-40B4-BE49-F238E27FC236}">
                    <a16:creationId xmlns:a16="http://schemas.microsoft.com/office/drawing/2014/main" id="{35D9EEB6-F285-B4F0-6B9D-8BAD24909F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8708" y="4714256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660" name="Group 12">
                  <a:extLst>
                    <a:ext uri="{FF2B5EF4-FFF2-40B4-BE49-F238E27FC236}">
                      <a16:creationId xmlns:a16="http://schemas.microsoft.com/office/drawing/2014/main" id="{DB43FED6-D597-D485-08B8-628ADA1A8D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662" name="Oval 1129">
                    <a:extLst>
                      <a:ext uri="{FF2B5EF4-FFF2-40B4-BE49-F238E27FC236}">
                        <a16:creationId xmlns:a16="http://schemas.microsoft.com/office/drawing/2014/main" id="{6817BA24-390F-27C2-DB68-CFB6253F6A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046" y="4578067"/>
                    <a:ext cx="439696" cy="260459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63" name="Oval 1130">
                    <a:extLst>
                      <a:ext uri="{FF2B5EF4-FFF2-40B4-BE49-F238E27FC236}">
                        <a16:creationId xmlns:a16="http://schemas.microsoft.com/office/drawing/2014/main" id="{C5F99861-98ED-BE4B-2E4D-7F1F26A5DA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760" y="4587596"/>
                    <a:ext cx="463506" cy="252519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661" name="TextBox 389">
                  <a:extLst>
                    <a:ext uri="{FF2B5EF4-FFF2-40B4-BE49-F238E27FC236}">
                      <a16:creationId xmlns:a16="http://schemas.microsoft.com/office/drawing/2014/main" id="{63372E26-F5EE-94BF-87C6-22B6E11292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645" name="Group 450">
                <a:extLst>
                  <a:ext uri="{FF2B5EF4-FFF2-40B4-BE49-F238E27FC236}">
                    <a16:creationId xmlns:a16="http://schemas.microsoft.com/office/drawing/2014/main" id="{192A16F8-83F2-3C99-1FAC-E20CF526BC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18930" y="4712138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656" name="Group 451">
                  <a:extLst>
                    <a:ext uri="{FF2B5EF4-FFF2-40B4-BE49-F238E27FC236}">
                      <a16:creationId xmlns:a16="http://schemas.microsoft.com/office/drawing/2014/main" id="{915FFF2D-15AC-96AF-79CA-3A3EDD534B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658" name="Oval 1125">
                    <a:extLst>
                      <a:ext uri="{FF2B5EF4-FFF2-40B4-BE49-F238E27FC236}">
                        <a16:creationId xmlns:a16="http://schemas.microsoft.com/office/drawing/2014/main" id="{C7953AD6-4F81-AD90-D2C1-3783C6784F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874" y="4581775"/>
                    <a:ext cx="439696" cy="257283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9" name="Oval 1126">
                    <a:extLst>
                      <a:ext uri="{FF2B5EF4-FFF2-40B4-BE49-F238E27FC236}">
                        <a16:creationId xmlns:a16="http://schemas.microsoft.com/office/drawing/2014/main" id="{497607D8-539C-F4CE-5791-C85AEFEA24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9588" y="4591304"/>
                    <a:ext cx="463506" cy="249341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657" name="TextBox 389">
                  <a:extLst>
                    <a:ext uri="{FF2B5EF4-FFF2-40B4-BE49-F238E27FC236}">
                      <a16:creationId xmlns:a16="http://schemas.microsoft.com/office/drawing/2014/main" id="{108687E0-9B92-2464-7DF6-953527385A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646" name="Group 455">
                <a:extLst>
                  <a:ext uri="{FF2B5EF4-FFF2-40B4-BE49-F238E27FC236}">
                    <a16:creationId xmlns:a16="http://schemas.microsoft.com/office/drawing/2014/main" id="{54082A90-0973-D8B7-0B92-7F0B5CB12F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19300" y="4710021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652" name="Group 456">
                  <a:extLst>
                    <a:ext uri="{FF2B5EF4-FFF2-40B4-BE49-F238E27FC236}">
                      <a16:creationId xmlns:a16="http://schemas.microsoft.com/office/drawing/2014/main" id="{BC87E540-8CDC-C8F2-9B6B-62C0D180F6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654" name="Oval 1121">
                    <a:extLst>
                      <a:ext uri="{FF2B5EF4-FFF2-40B4-BE49-F238E27FC236}">
                        <a16:creationId xmlns:a16="http://schemas.microsoft.com/office/drawing/2014/main" id="{366EF13E-ED1D-011E-38E9-93C6A1E673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654" y="4577540"/>
                    <a:ext cx="439696" cy="260459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5" name="Oval 1122">
                    <a:extLst>
                      <a:ext uri="{FF2B5EF4-FFF2-40B4-BE49-F238E27FC236}">
                        <a16:creationId xmlns:a16="http://schemas.microsoft.com/office/drawing/2014/main" id="{308C2E00-D074-7D4F-D1F4-5E31D733B86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9368" y="4587069"/>
                    <a:ext cx="463506" cy="252518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653" name="TextBox 389">
                  <a:extLst>
                    <a:ext uri="{FF2B5EF4-FFF2-40B4-BE49-F238E27FC236}">
                      <a16:creationId xmlns:a16="http://schemas.microsoft.com/office/drawing/2014/main" id="{96D907F1-D292-7C65-877E-FFD99B33A5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647" name="Group 460">
                <a:extLst>
                  <a:ext uri="{FF2B5EF4-FFF2-40B4-BE49-F238E27FC236}">
                    <a16:creationId xmlns:a16="http://schemas.microsoft.com/office/drawing/2014/main" id="{E202B68B-665B-10FD-3D4C-877C278765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07181" y="4707904"/>
                <a:ext cx="463612" cy="285749"/>
                <a:chOff x="3558850" y="4573304"/>
                <a:chExt cx="463568" cy="285869"/>
              </a:xfrm>
            </p:grpSpPr>
            <p:grpSp>
              <p:nvGrpSpPr>
                <p:cNvPr id="648" name="Group 461">
                  <a:extLst>
                    <a:ext uri="{FF2B5EF4-FFF2-40B4-BE49-F238E27FC236}">
                      <a16:creationId xmlns:a16="http://schemas.microsoft.com/office/drawing/2014/main" id="{825B6432-0864-CF7F-F0A2-FF610F54E4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650" name="Oval 1117">
                    <a:extLst>
                      <a:ext uri="{FF2B5EF4-FFF2-40B4-BE49-F238E27FC236}">
                        <a16:creationId xmlns:a16="http://schemas.microsoft.com/office/drawing/2014/main" id="{D96A5E0C-F919-A1BB-6C53-805C2F754C5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198" y="4578069"/>
                    <a:ext cx="439696" cy="260459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1" name="Oval 1118">
                    <a:extLst>
                      <a:ext uri="{FF2B5EF4-FFF2-40B4-BE49-F238E27FC236}">
                        <a16:creationId xmlns:a16="http://schemas.microsoft.com/office/drawing/2014/main" id="{0FC05904-BBD8-1E6E-CFAB-909F70B633F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912" y="4587598"/>
                    <a:ext cx="463506" cy="252519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649" name="TextBox 389">
                  <a:extLst>
                    <a:ext uri="{FF2B5EF4-FFF2-40B4-BE49-F238E27FC236}">
                      <a16:creationId xmlns:a16="http://schemas.microsoft.com/office/drawing/2014/main" id="{4D619914-71C7-19FD-1F04-09267EAA74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CA</a:t>
                  </a: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667" name="Group 1">
              <a:extLst>
                <a:ext uri="{FF2B5EF4-FFF2-40B4-BE49-F238E27FC236}">
                  <a16:creationId xmlns:a16="http://schemas.microsoft.com/office/drawing/2014/main" id="{9943746F-F778-16F8-06C1-CE1CCCCE85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7493" y="5474667"/>
              <a:ext cx="2698750" cy="903288"/>
              <a:chOff x="938213" y="5237163"/>
              <a:chExt cx="2698750" cy="903287"/>
            </a:xfrm>
          </p:grpSpPr>
          <p:cxnSp>
            <p:nvCxnSpPr>
              <p:cNvPr id="668" name="Straight Connector 1139">
                <a:extLst>
                  <a:ext uri="{FF2B5EF4-FFF2-40B4-BE49-F238E27FC236}">
                    <a16:creationId xmlns:a16="http://schemas.microsoft.com/office/drawing/2014/main" id="{83330100-2393-0469-BE91-C7F045735F3B}"/>
                  </a:ext>
                </a:extLst>
              </p:cNvPr>
              <p:cNvCxnSpPr/>
              <p:nvPr/>
            </p:nvCxnSpPr>
            <p:spPr>
              <a:xfrm flipH="1">
                <a:off x="1282700" y="5802312"/>
                <a:ext cx="1508125" cy="1588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669" name="TextBox 265">
                <a:extLst>
                  <a:ext uri="{FF2B5EF4-FFF2-40B4-BE49-F238E27FC236}">
                    <a16:creationId xmlns:a16="http://schemas.microsoft.com/office/drawing/2014/main" id="{03C69AB8-F328-2A2A-BDA7-6A0AD5B601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8813" y="5473700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  <p:sp>
            <p:nvSpPr>
              <p:cNvPr id="670" name="TextBox 281">
                <a:extLst>
                  <a:ext uri="{FF2B5EF4-FFF2-40B4-BE49-F238E27FC236}">
                    <a16:creationId xmlns:a16="http://schemas.microsoft.com/office/drawing/2014/main" id="{11ADE028-8555-2B7C-1B00-AE09D70B7B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3438" y="5761038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</a:t>
                </a:r>
              </a:p>
            </p:txBody>
          </p:sp>
          <p:grpSp>
            <p:nvGrpSpPr>
              <p:cNvPr id="671" name="Group 5">
                <a:extLst>
                  <a:ext uri="{FF2B5EF4-FFF2-40B4-BE49-F238E27FC236}">
                    <a16:creationId xmlns:a16="http://schemas.microsoft.com/office/drawing/2014/main" id="{9E8DB605-1FEC-4A1D-4ADD-1BB851C671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8213" y="5237163"/>
                <a:ext cx="1616075" cy="487362"/>
                <a:chOff x="-4079003" y="2717403"/>
                <a:chExt cx="1616718" cy="488475"/>
              </a:xfrm>
            </p:grpSpPr>
            <p:sp>
              <p:nvSpPr>
                <p:cNvPr id="684" name="Rectangle 98">
                  <a:extLst>
                    <a:ext uri="{FF2B5EF4-FFF2-40B4-BE49-F238E27FC236}">
                      <a16:creationId xmlns:a16="http://schemas.microsoft.com/office/drawing/2014/main" id="{BC82B2F0-2B23-E174-F39A-060D002BB4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079003" y="2985994"/>
                  <a:ext cx="1281675" cy="208750"/>
                </a:xfrm>
                <a:prstGeom prst="rect">
                  <a:avLst/>
                </a:prstGeom>
                <a:solidFill>
                  <a:srgbClr val="3333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85" name="Line 99">
                  <a:extLst>
                    <a:ext uri="{FF2B5EF4-FFF2-40B4-BE49-F238E27FC236}">
                      <a16:creationId xmlns:a16="http://schemas.microsoft.com/office/drawing/2014/main" id="{D818F104-70CA-5435-2E28-8C98F99AF7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2933828" y="3101502"/>
                  <a:ext cx="471543" cy="0"/>
                </a:xfrm>
                <a:prstGeom prst="line">
                  <a:avLst/>
                </a:prstGeom>
                <a:noFill/>
                <a:ln w="9525">
                  <a:solidFill>
                    <a:srgbClr val="3333CC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86" name="Rectangle 104">
                  <a:extLst>
                    <a:ext uri="{FF2B5EF4-FFF2-40B4-BE49-F238E27FC236}">
                      <a16:creationId xmlns:a16="http://schemas.microsoft.com/office/drawing/2014/main" id="{69A5FBED-C5A6-EC2E-59AF-C9F053451B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77007" y="2988777"/>
                  <a:ext cx="476861" cy="21014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87" name="Text Box 105">
                  <a:extLst>
                    <a:ext uri="{FF2B5EF4-FFF2-40B4-BE49-F238E27FC236}">
                      <a16:creationId xmlns:a16="http://schemas.microsoft.com/office/drawing/2014/main" id="{884FD4FD-1498-870F-A937-935022B972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3430189" y="2965119"/>
                  <a:ext cx="581451" cy="240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0111</a:t>
                  </a:r>
                </a:p>
              </p:txBody>
            </p:sp>
            <p:sp>
              <p:nvSpPr>
                <p:cNvPr id="688" name="Line 119">
                  <a:extLst>
                    <a:ext uri="{FF2B5EF4-FFF2-40B4-BE49-F238E27FC236}">
                      <a16:creationId xmlns:a16="http://schemas.microsoft.com/office/drawing/2014/main" id="{B12DA11A-72CE-CC76-D3E1-CD203FD1E3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3621642" y="2717403"/>
                  <a:ext cx="405953" cy="30060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672" name="Freeform 120">
                <a:extLst>
                  <a:ext uri="{FF2B5EF4-FFF2-40B4-BE49-F238E27FC236}">
                    <a16:creationId xmlns:a16="http://schemas.microsoft.com/office/drawing/2014/main" id="{16869123-EB7A-5F98-8730-3CB1D8B31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963" y="5668963"/>
                <a:ext cx="982662" cy="233362"/>
              </a:xfrm>
              <a:custGeom>
                <a:avLst/>
                <a:gdLst>
                  <a:gd name="T0" fmla="*/ 0 w 554"/>
                  <a:gd name="T1" fmla="*/ 2147483647 h 167"/>
                  <a:gd name="T2" fmla="*/ 2147483647 w 554"/>
                  <a:gd name="T3" fmla="*/ 2147483647 h 167"/>
                  <a:gd name="T4" fmla="*/ 2147483647 w 554"/>
                  <a:gd name="T5" fmla="*/ 2147483647 h 167"/>
                  <a:gd name="T6" fmla="*/ 0 60000 65536"/>
                  <a:gd name="T7" fmla="*/ 0 60000 65536"/>
                  <a:gd name="T8" fmla="*/ 0 60000 65536"/>
                  <a:gd name="T9" fmla="*/ 0 w 554"/>
                  <a:gd name="T10" fmla="*/ 0 h 167"/>
                  <a:gd name="T11" fmla="*/ 554 w 554"/>
                  <a:gd name="T12" fmla="*/ 167 h 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4" h="167">
                    <a:moveTo>
                      <a:pt x="0" y="10"/>
                    </a:moveTo>
                    <a:cubicBezTo>
                      <a:pt x="102" y="0"/>
                      <a:pt x="240" y="5"/>
                      <a:pt x="324" y="26"/>
                    </a:cubicBezTo>
                    <a:cubicBezTo>
                      <a:pt x="416" y="52"/>
                      <a:pt x="502" y="120"/>
                      <a:pt x="554" y="167"/>
                    </a:cubicBezTo>
                  </a:path>
                </a:pathLst>
              </a:custGeom>
              <a:noFill/>
              <a:ln w="57150" cmpd="sng">
                <a:solidFill>
                  <a:srgbClr val="FF33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673" name="Group 357">
                <a:extLst>
                  <a:ext uri="{FF2B5EF4-FFF2-40B4-BE49-F238E27FC236}">
                    <a16:creationId xmlns:a16="http://schemas.microsoft.com/office/drawing/2014/main" id="{94391D8D-951D-E414-B94C-CEB6C15ACB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4625" y="5659438"/>
                <a:ext cx="565150" cy="293687"/>
                <a:chOff x="1871277" y="1576300"/>
                <a:chExt cx="1128371" cy="437861"/>
              </a:xfrm>
            </p:grpSpPr>
            <p:sp>
              <p:nvSpPr>
                <p:cNvPr id="675" name="Oval 1146">
                  <a:extLst>
                    <a:ext uri="{FF2B5EF4-FFF2-40B4-BE49-F238E27FC236}">
                      <a16:creationId xmlns:a16="http://schemas.microsoft.com/office/drawing/2014/main" id="{1411AFD5-A477-11BF-6D91-0C1C4C04A4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448" y="1694641"/>
                  <a:ext cx="1125200" cy="3195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76" name="Rectangle 1147">
                  <a:extLst>
                    <a:ext uri="{FF2B5EF4-FFF2-40B4-BE49-F238E27FC236}">
                      <a16:creationId xmlns:a16="http://schemas.microsoft.com/office/drawing/2014/main" id="{ACDDE732-C3D6-7231-D79E-E1B16A98C51B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77" name="Oval 1148">
                  <a:extLst>
                    <a:ext uri="{FF2B5EF4-FFF2-40B4-BE49-F238E27FC236}">
                      <a16:creationId xmlns:a16="http://schemas.microsoft.com/office/drawing/2014/main" id="{96108F31-C0EE-B204-FF90-62E0AB8A97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277" y="1576300"/>
                  <a:ext cx="1125202" cy="31952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78" name="Freeform 1149">
                  <a:extLst>
                    <a:ext uri="{FF2B5EF4-FFF2-40B4-BE49-F238E27FC236}">
                      <a16:creationId xmlns:a16="http://schemas.microsoft.com/office/drawing/2014/main" id="{4C47E076-7271-86CD-592B-AEA7F3EE4206}"/>
                    </a:ext>
                  </a:extLst>
                </p:cNvPr>
                <p:cNvSpPr/>
                <p:nvPr/>
              </p:nvSpPr>
              <p:spPr bwMode="auto">
                <a:xfrm>
                  <a:off x="2159710" y="1673340"/>
                  <a:ext cx="548337" cy="160944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79" name="Freeform 1150">
                  <a:extLst>
                    <a:ext uri="{FF2B5EF4-FFF2-40B4-BE49-F238E27FC236}">
                      <a16:creationId xmlns:a16="http://schemas.microsoft.com/office/drawing/2014/main" id="{DE19A823-1290-EDC2-0711-47860BF97A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2657" y="1633104"/>
                  <a:ext cx="662442" cy="111241"/>
                </a:xfrm>
                <a:custGeom>
                  <a:avLst/>
                  <a:gdLst>
                    <a:gd name="T0" fmla="*/ 0 w 3723451"/>
                    <a:gd name="T1" fmla="*/ 27215 h 932950"/>
                    <a:gd name="T2" fmla="*/ 116561 w 3723451"/>
                    <a:gd name="T3" fmla="*/ 321 h 932950"/>
                    <a:gd name="T4" fmla="*/ 330163 w 3723451"/>
                    <a:gd name="T5" fmla="*/ 62070 h 932950"/>
                    <a:gd name="T6" fmla="*/ 533941 w 3723451"/>
                    <a:gd name="T7" fmla="*/ 0 h 932950"/>
                    <a:gd name="T8" fmla="*/ 662442 w 3723451"/>
                    <a:gd name="T9" fmla="*/ 24700 h 932950"/>
                    <a:gd name="T10" fmla="*/ 566838 w 3723451"/>
                    <a:gd name="T11" fmla="*/ 55072 h 932950"/>
                    <a:gd name="T12" fmla="*/ 536057 w 3723451"/>
                    <a:gd name="T13" fmla="*/ 46883 h 932950"/>
                    <a:gd name="T14" fmla="*/ 333916 w 3723451"/>
                    <a:gd name="T15" fmla="*/ 111241 h 932950"/>
                    <a:gd name="T16" fmla="*/ 126604 w 3723451"/>
                    <a:gd name="T17" fmla="*/ 49251 h 932950"/>
                    <a:gd name="T18" fmla="*/ 93085 w 3723451"/>
                    <a:gd name="T19" fmla="*/ 55941 h 932950"/>
                    <a:gd name="T20" fmla="*/ 0 w 3723451"/>
                    <a:gd name="T21" fmla="*/ 2721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80" name="Freeform 1151">
                  <a:extLst>
                    <a:ext uri="{FF2B5EF4-FFF2-40B4-BE49-F238E27FC236}">
                      <a16:creationId xmlns:a16="http://schemas.microsoft.com/office/drawing/2014/main" id="{F12E25BB-2D64-3D76-97A6-B9619A318C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6889" y="1727776"/>
                  <a:ext cx="244059" cy="9704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4059 w 1366596"/>
                    <a:gd name="T3" fmla="*/ 74985 h 809868"/>
                    <a:gd name="T4" fmla="*/ 154488 w 1366596"/>
                    <a:gd name="T5" fmla="*/ 97040 h 809868"/>
                    <a:gd name="T6" fmla="*/ 822 w 1366596"/>
                    <a:gd name="T7" fmla="*/ 51277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81" name="Freeform 1152">
                  <a:extLst>
                    <a:ext uri="{FF2B5EF4-FFF2-40B4-BE49-F238E27FC236}">
                      <a16:creationId xmlns:a16="http://schemas.microsoft.com/office/drawing/2014/main" id="{6AB994AF-40A8-6B2F-9778-5BBFDB6BB4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9979" y="1730144"/>
                  <a:ext cx="240888" cy="97039"/>
                </a:xfrm>
                <a:custGeom>
                  <a:avLst/>
                  <a:gdLst>
                    <a:gd name="T0" fmla="*/ 237599 w 1348191"/>
                    <a:gd name="T1" fmla="*/ 0 h 791462"/>
                    <a:gd name="T2" fmla="*/ 240888 w 1348191"/>
                    <a:gd name="T3" fmla="*/ 46827 h 791462"/>
                    <a:gd name="T4" fmla="*/ 87147 w 1348191"/>
                    <a:gd name="T5" fmla="*/ 97039 h 791462"/>
                    <a:gd name="T6" fmla="*/ 0 w 1348191"/>
                    <a:gd name="T7" fmla="*/ 75036 h 791462"/>
                    <a:gd name="T8" fmla="*/ 237599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682" name="Straight Connector 1153">
                  <a:extLst>
                    <a:ext uri="{FF2B5EF4-FFF2-40B4-BE49-F238E27FC236}">
                      <a16:creationId xmlns:a16="http://schemas.microsoft.com/office/drawing/2014/main" id="{8F897C91-1F92-3B50-F9DE-F6AE7148572F}"/>
                    </a:ext>
                  </a:extLst>
                </p:cNvPr>
                <p:cNvCxnSpPr>
                  <a:cxnSpLocks noChangeShapeType="1"/>
                  <a:endCxn id="677" idx="2"/>
                </p:cNvCxnSpPr>
                <p:nvPr/>
              </p:nvCxnSpPr>
              <p:spPr bwMode="auto">
                <a:xfrm flipH="1" flipV="1">
                  <a:off x="1871277" y="1737244"/>
                  <a:ext cx="3171" cy="1230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83" name="Straight Connector 1154">
                  <a:extLst>
                    <a:ext uri="{FF2B5EF4-FFF2-40B4-BE49-F238E27FC236}">
                      <a16:creationId xmlns:a16="http://schemas.microsoft.com/office/drawing/2014/main" id="{A9401F10-599F-263A-A62A-99D154453BD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479" y="1734878"/>
                  <a:ext cx="3169" cy="1230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674" name="TextBox 282">
                <a:extLst>
                  <a:ext uri="{FF2B5EF4-FFF2-40B4-BE49-F238E27FC236}">
                    <a16:creationId xmlns:a16="http://schemas.microsoft.com/office/drawing/2014/main" id="{1C2BCD01-1C68-0E34-1193-8F2C2DC41C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638" y="5862638"/>
                <a:ext cx="261937" cy="277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3</a:t>
                </a:r>
              </a:p>
            </p:txBody>
          </p:sp>
        </p:grpSp>
        <p:sp>
          <p:nvSpPr>
            <p:cNvPr id="689" name="TextBox 6">
              <a:extLst>
                <a:ext uri="{FF2B5EF4-FFF2-40B4-BE49-F238E27FC236}">
                  <a16:creationId xmlns:a16="http://schemas.microsoft.com/office/drawing/2014/main" id="{04C0488C-882B-FCB6-362D-637F0E097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130" y="4850780"/>
              <a:ext cx="19923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values in arriving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packet header</a:t>
              </a: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90" name="Group 1162">
              <a:extLst>
                <a:ext uri="{FF2B5EF4-FFF2-40B4-BE49-F238E27FC236}">
                  <a16:creationId xmlns:a16="http://schemas.microsoft.com/office/drawing/2014/main" id="{C4E95FBD-C80C-46CA-D30A-3961658DDF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0906" y="2898842"/>
              <a:ext cx="4051268" cy="2367063"/>
              <a:chOff x="-3855475" y="3644638"/>
              <a:chExt cx="4051268" cy="2367866"/>
            </a:xfrm>
          </p:grpSpPr>
          <p:cxnSp>
            <p:nvCxnSpPr>
              <p:cNvPr id="691" name="Straight Arrow Connector 1163">
                <a:extLst>
                  <a:ext uri="{FF2B5EF4-FFF2-40B4-BE49-F238E27FC236}">
                    <a16:creationId xmlns:a16="http://schemas.microsoft.com/office/drawing/2014/main" id="{3DC3A35D-BAE0-E138-D9F1-F1EAB08C95D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-3855475" y="3664699"/>
                <a:ext cx="0" cy="20948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692" name="Straight Arrow Connector 1164">
                <a:extLst>
                  <a:ext uri="{FF2B5EF4-FFF2-40B4-BE49-F238E27FC236}">
                    <a16:creationId xmlns:a16="http://schemas.microsoft.com/office/drawing/2014/main" id="{E039E40C-D75B-F342-6BF9-3820839849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2818087" y="3658010"/>
                <a:ext cx="0" cy="2354494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93" name="Straight Arrow Connector 1165">
                <a:extLst>
                  <a:ext uri="{FF2B5EF4-FFF2-40B4-BE49-F238E27FC236}">
                    <a16:creationId xmlns:a16="http://schemas.microsoft.com/office/drawing/2014/main" id="{9FC5E7ED-F480-EB8D-8182-355E5753688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2006679" y="3655204"/>
                <a:ext cx="31396" cy="2331351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94" name="Straight Arrow Connector 1166">
                <a:extLst>
                  <a:ext uri="{FF2B5EF4-FFF2-40B4-BE49-F238E27FC236}">
                    <a16:creationId xmlns:a16="http://schemas.microsoft.com/office/drawing/2014/main" id="{BE743C42-67A3-BBD1-A78A-7ECAEA67A18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817641" y="3644638"/>
                <a:ext cx="0" cy="2364624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95" name="Straight Arrow Connector 1167">
                <a:extLst>
                  <a:ext uri="{FF2B5EF4-FFF2-40B4-BE49-F238E27FC236}">
                    <a16:creationId xmlns:a16="http://schemas.microsoft.com/office/drawing/2014/main" id="{F5795283-F268-F858-B728-94A620B6883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5792" y="3690049"/>
                <a:ext cx="1" cy="2311566"/>
              </a:xfrm>
              <a:prstGeom prst="straightConnector1">
                <a:avLst/>
              </a:prstGeom>
              <a:noFill/>
              <a:ln w="6350">
                <a:solidFill>
                  <a:srgbClr val="CC0000"/>
                </a:solidFill>
                <a:round/>
                <a:headEnd/>
                <a:tailEnd type="triangle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1083303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9CA2A-DD25-3800-F943-F7A26E149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路由选择算法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04F7EA-9905-5B12-BE81-80E94C68B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目标：发送者到接收者，决定一条“好”的路径（路由）</a:t>
            </a:r>
            <a:endParaRPr lang="en-US" altLang="zh-CN" dirty="0"/>
          </a:p>
          <a:p>
            <a:r>
              <a:rPr lang="zh-CN" altLang="en-US" dirty="0"/>
              <a:t>路径：从源主机开始，途中经过多个路由器，最后到达目的主机。 </a:t>
            </a:r>
            <a:r>
              <a:rPr lang="en-US" altLang="zh-CN" dirty="0"/>
              <a:t>S</a:t>
            </a:r>
            <a:r>
              <a:rPr lang="en-US" altLang="zh-CN" dirty="0">
                <a:sym typeface="Wingdings" panose="05000000000000000000" pitchFamily="2" charset="2"/>
              </a:rPr>
              <a:t>R1R2R3...</a:t>
            </a:r>
            <a:r>
              <a:rPr lang="en-US" altLang="zh-CN" dirty="0" err="1">
                <a:sym typeface="Wingdings" panose="05000000000000000000" pitchFamily="2" charset="2"/>
              </a:rPr>
              <a:t>RnD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"</a:t>
            </a:r>
            <a:r>
              <a:rPr lang="zh-CN" altLang="en-US" dirty="0">
                <a:sym typeface="Wingdings" panose="05000000000000000000" pitchFamily="2" charset="2"/>
              </a:rPr>
              <a:t>好”的路径：</a:t>
            </a:r>
            <a:r>
              <a:rPr lang="zh-CN" altLang="en-US" dirty="0"/>
              <a:t>多条路由情况下选择哪条路由？</a:t>
            </a:r>
            <a:endParaRPr lang="en-US" altLang="zh-CN" dirty="0"/>
          </a:p>
          <a:p>
            <a:pPr lvl="1"/>
            <a:r>
              <a:rPr lang="zh-CN" altLang="en-US" sz="2000" dirty="0">
                <a:sym typeface="Wingdings" panose="05000000000000000000" pitchFamily="2" charset="2"/>
              </a:rPr>
              <a:t>最小花费路由：路径花费最少的路径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路径花费 </a:t>
            </a:r>
            <a:r>
              <a:rPr lang="en-US" altLang="zh-CN" dirty="0">
                <a:sym typeface="Wingdings" panose="05000000000000000000" pitchFamily="2" charset="2"/>
              </a:rPr>
              <a:t>= </a:t>
            </a:r>
            <a:r>
              <a:rPr lang="zh-CN" altLang="en-US" dirty="0">
                <a:sym typeface="Wingdings" panose="05000000000000000000" pitchFamily="2" charset="2"/>
              </a:rPr>
              <a:t>途中经过的链路花费之和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/>
            <a:r>
              <a:rPr lang="zh-CN" altLang="en-US" dirty="0">
                <a:sym typeface="Wingdings" panose="05000000000000000000" pitchFamily="2" charset="2"/>
              </a:rPr>
              <a:t>链路花费：</a:t>
            </a:r>
            <a:endParaRPr lang="en-US" altLang="zh-CN" dirty="0">
              <a:sym typeface="Wingdings" panose="05000000000000000000" pitchFamily="2" charset="2"/>
            </a:endParaRPr>
          </a:p>
          <a:p>
            <a:pPr lvl="3"/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： 表示跳段数</a:t>
            </a:r>
            <a:endParaRPr lang="en-US" altLang="zh-CN" dirty="0">
              <a:sym typeface="Wingdings" panose="05000000000000000000" pitchFamily="2" charset="2"/>
            </a:endParaRPr>
          </a:p>
          <a:p>
            <a:pPr lvl="3"/>
            <a:r>
              <a:rPr lang="zh-CN" altLang="en-US" dirty="0">
                <a:sym typeface="Wingdings" panose="05000000000000000000" pitchFamily="2" charset="2"/>
              </a:rPr>
              <a:t>考虑带宽、延迟以及拥塞的因素</a:t>
            </a:r>
            <a:endParaRPr lang="en-US" altLang="zh-CN" dirty="0">
              <a:sym typeface="Wingdings" panose="05000000000000000000" pitchFamily="2" charset="2"/>
            </a:endParaRPr>
          </a:p>
          <a:p>
            <a:pPr lvl="4"/>
            <a:r>
              <a:rPr lang="zh-CN" altLang="en-US" dirty="0">
                <a:sym typeface="Wingdings" panose="05000000000000000000" pitchFamily="2" charset="2"/>
              </a:rPr>
              <a:t>带宽越高，花费越少</a:t>
            </a:r>
            <a:endParaRPr lang="en-US" altLang="zh-CN" dirty="0">
              <a:sym typeface="Wingdings" panose="05000000000000000000" pitchFamily="2" charset="2"/>
            </a:endParaRPr>
          </a:p>
          <a:p>
            <a:pPr lvl="4"/>
            <a:r>
              <a:rPr lang="zh-CN" altLang="en-US" dirty="0">
                <a:sym typeface="Wingdings" panose="05000000000000000000" pitchFamily="2" charset="2"/>
              </a:rPr>
              <a:t>延迟越低，花费越少</a:t>
            </a:r>
            <a:endParaRPr lang="en-US" altLang="zh-CN" dirty="0">
              <a:sym typeface="Wingdings" panose="05000000000000000000" pitchFamily="2" charset="2"/>
            </a:endParaRPr>
          </a:p>
          <a:p>
            <a:pPr lvl="4"/>
            <a:r>
              <a:rPr lang="zh-CN" altLang="en-US" dirty="0">
                <a:sym typeface="Wingdings" panose="05000000000000000000" pitchFamily="2" charset="2"/>
              </a:rPr>
              <a:t>队列长度越小，花费越少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sz="2000" dirty="0"/>
              <a:t>策略路由：策略方面的因素，比如要求经过哪些或者绕过哪些区域，经过的区域的个数越少越好等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r>
              <a:rPr lang="en-US" altLang="zh-CN" dirty="0"/>
              <a:t>top-10 </a:t>
            </a:r>
            <a:r>
              <a:rPr lang="zh-CN" altLang="en-US" dirty="0"/>
              <a:t>网络领域的问题之一</a:t>
            </a:r>
          </a:p>
        </p:txBody>
      </p:sp>
    </p:spTree>
    <p:extLst>
      <p:ext uri="{BB962C8B-B14F-4D97-AF65-F5344CB8AC3E}">
        <p14:creationId xmlns:p14="http://schemas.microsoft.com/office/powerpoint/2010/main" val="3523412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999A5C-D683-CE68-390D-CCC67297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网络拓扑抽象为图的表示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CFCEA2-FF56-C798-4E06-2AFFFF734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2"/>
            <a:ext cx="11289710" cy="52085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图 </a:t>
            </a:r>
            <a:r>
              <a:rPr lang="en-US" altLang="zh-CN" dirty="0"/>
              <a:t>G = (N, E)</a:t>
            </a:r>
          </a:p>
          <a:p>
            <a:r>
              <a:rPr lang="zh-CN" altLang="en-US" dirty="0"/>
              <a:t>顶点对应路由器，顶点集合</a:t>
            </a:r>
            <a:r>
              <a:rPr lang="en-US" altLang="zh-CN" dirty="0"/>
              <a:t>N = {u, v, w, x, y, z}</a:t>
            </a:r>
          </a:p>
          <a:p>
            <a:r>
              <a:rPr lang="zh-CN" altLang="en-US" dirty="0"/>
              <a:t>边对应路由器之间的链路，边的集合</a:t>
            </a:r>
            <a:r>
              <a:rPr lang="en-US" altLang="zh-CN" dirty="0"/>
              <a:t>E=</a:t>
            </a:r>
            <a:r>
              <a:rPr lang="en-US" altLang="zh-CN" dirty="0">
                <a:latin typeface="+mn-lt"/>
              </a:rPr>
              <a:t>{ (</a:t>
            </a:r>
            <a:r>
              <a:rPr lang="en-US" altLang="zh-CN" i="1" dirty="0" err="1">
                <a:latin typeface="+mn-lt"/>
              </a:rPr>
              <a:t>u,v</a:t>
            </a:r>
            <a:r>
              <a:rPr lang="en-US" altLang="zh-CN" i="1" dirty="0">
                <a:latin typeface="+mn-lt"/>
              </a:rPr>
              <a:t>), (</a:t>
            </a:r>
            <a:r>
              <a:rPr lang="en-US" altLang="zh-CN" i="1" dirty="0" err="1">
                <a:latin typeface="+mn-lt"/>
              </a:rPr>
              <a:t>u,x</a:t>
            </a:r>
            <a:r>
              <a:rPr lang="en-US" altLang="zh-CN" i="1" dirty="0">
                <a:latin typeface="+mn-lt"/>
              </a:rPr>
              <a:t>), </a:t>
            </a:r>
            <a:r>
              <a:rPr lang="en-US" altLang="zh-CN" i="1" dirty="0">
                <a:solidFill>
                  <a:schemeClr val="accent1"/>
                </a:solidFill>
              </a:rPr>
              <a:t>(</a:t>
            </a:r>
            <a:r>
              <a:rPr lang="en-US" altLang="zh-CN" i="1" dirty="0" err="1">
                <a:solidFill>
                  <a:schemeClr val="accent1"/>
                </a:solidFill>
              </a:rPr>
              <a:t>u,w</a:t>
            </a:r>
            <a:r>
              <a:rPr lang="en-US" altLang="zh-CN" i="1" dirty="0">
                <a:solidFill>
                  <a:schemeClr val="accent1"/>
                </a:solidFill>
              </a:rPr>
              <a:t>)</a:t>
            </a:r>
            <a:r>
              <a:rPr lang="en-US" altLang="zh-CN" i="1" dirty="0"/>
              <a:t>, </a:t>
            </a:r>
            <a:r>
              <a:rPr lang="en-US" altLang="zh-CN" i="1" dirty="0">
                <a:latin typeface="+mn-lt"/>
              </a:rPr>
              <a:t>(</a:t>
            </a:r>
            <a:r>
              <a:rPr lang="en-US" altLang="zh-CN" i="1" dirty="0" err="1">
                <a:latin typeface="+mn-lt"/>
              </a:rPr>
              <a:t>v,x</a:t>
            </a:r>
            <a:r>
              <a:rPr lang="en-US" altLang="zh-CN" i="1" dirty="0">
                <a:latin typeface="+mn-lt"/>
              </a:rPr>
              <a:t>), (</a:t>
            </a:r>
            <a:r>
              <a:rPr lang="en-US" altLang="zh-CN" i="1" dirty="0" err="1">
                <a:latin typeface="+mn-lt"/>
              </a:rPr>
              <a:t>v,w</a:t>
            </a:r>
            <a:r>
              <a:rPr lang="en-US" altLang="zh-CN" i="1" dirty="0">
                <a:latin typeface="+mn-lt"/>
              </a:rPr>
              <a:t>), (</a:t>
            </a:r>
            <a:r>
              <a:rPr lang="en-US" altLang="zh-CN" i="1" dirty="0" err="1">
                <a:latin typeface="+mn-lt"/>
              </a:rPr>
              <a:t>x,w</a:t>
            </a:r>
            <a:r>
              <a:rPr lang="en-US" altLang="zh-CN" i="1" dirty="0">
                <a:latin typeface="+mn-lt"/>
              </a:rPr>
              <a:t>), (</a:t>
            </a:r>
            <a:r>
              <a:rPr lang="en-US" altLang="zh-CN" i="1" dirty="0" err="1">
                <a:latin typeface="+mn-lt"/>
              </a:rPr>
              <a:t>x,y</a:t>
            </a:r>
            <a:r>
              <a:rPr lang="en-US" altLang="zh-CN" i="1" dirty="0">
                <a:latin typeface="+mn-lt"/>
              </a:rPr>
              <a:t>), (</a:t>
            </a:r>
            <a:r>
              <a:rPr lang="en-US" altLang="zh-CN" i="1" dirty="0" err="1">
                <a:latin typeface="+mn-lt"/>
              </a:rPr>
              <a:t>w,y</a:t>
            </a:r>
            <a:r>
              <a:rPr lang="en-US" altLang="zh-CN" i="1" dirty="0">
                <a:latin typeface="+mn-lt"/>
              </a:rPr>
              <a:t>), (</a:t>
            </a:r>
            <a:r>
              <a:rPr lang="en-US" altLang="zh-CN" i="1" dirty="0" err="1">
                <a:latin typeface="+mn-lt"/>
              </a:rPr>
              <a:t>w,z</a:t>
            </a:r>
            <a:r>
              <a:rPr lang="en-US" altLang="zh-CN" i="1" dirty="0">
                <a:latin typeface="+mn-lt"/>
              </a:rPr>
              <a:t>), (</a:t>
            </a:r>
            <a:r>
              <a:rPr lang="en-US" altLang="zh-CN" i="1" dirty="0" err="1">
                <a:latin typeface="+mn-lt"/>
              </a:rPr>
              <a:t>y,z</a:t>
            </a:r>
            <a:r>
              <a:rPr lang="en-US" altLang="zh-CN" dirty="0">
                <a:latin typeface="+mn-lt"/>
              </a:rPr>
              <a:t>) }</a:t>
            </a:r>
          </a:p>
          <a:p>
            <a:r>
              <a:rPr lang="zh-CN" altLang="en-US" dirty="0"/>
              <a:t>边的权重给出了路由器之间链路的花费，由网络管理员配置。</a:t>
            </a:r>
            <a:r>
              <a:rPr lang="en-US" altLang="zh-CN" i="1" dirty="0"/>
              <a:t>  </a:t>
            </a:r>
            <a:r>
              <a:rPr lang="en-US" altLang="zh-CN" i="1" dirty="0" err="1"/>
              <a:t>c</a:t>
            </a:r>
            <a:r>
              <a:rPr lang="en-US" altLang="zh-CN" i="1" baseline="-25000" dirty="0" err="1"/>
              <a:t>w,z</a:t>
            </a:r>
            <a:r>
              <a:rPr lang="en-US" altLang="zh-CN" i="1" baseline="-25000" dirty="0"/>
              <a:t> </a:t>
            </a:r>
            <a:r>
              <a:rPr lang="en-US" altLang="zh-CN" dirty="0"/>
              <a:t>= 5,  </a:t>
            </a:r>
            <a:r>
              <a:rPr lang="en-US" altLang="zh-CN" i="1" dirty="0" err="1"/>
              <a:t>c</a:t>
            </a:r>
            <a:r>
              <a:rPr lang="en-US" altLang="zh-CN" i="1" baseline="-25000" dirty="0" err="1"/>
              <a:t>u,z</a:t>
            </a:r>
            <a:r>
              <a:rPr lang="en-US" altLang="zh-CN" i="1" baseline="-25000" dirty="0"/>
              <a:t> </a:t>
            </a:r>
            <a:r>
              <a:rPr lang="en-US" altLang="zh-CN" dirty="0"/>
              <a:t>= </a:t>
            </a:r>
            <a:r>
              <a:rPr lang="en-US" altLang="zh-CN" dirty="0">
                <a:cs typeface="Arial" charset="0"/>
              </a:rPr>
              <a:t>∞</a:t>
            </a:r>
          </a:p>
          <a:p>
            <a:r>
              <a:rPr lang="zh-CN" altLang="en-US" dirty="0">
                <a:cs typeface="Arial" charset="0"/>
              </a:rPr>
              <a:t>邻居：如果</a:t>
            </a:r>
            <a:r>
              <a:rPr lang="en-US" altLang="zh-CN" dirty="0">
                <a:cs typeface="Arial" charset="0"/>
              </a:rPr>
              <a:t>(</a:t>
            </a:r>
            <a:r>
              <a:rPr lang="en-US" altLang="zh-CN" dirty="0" err="1">
                <a:cs typeface="Arial" charset="0"/>
              </a:rPr>
              <a:t>x,y</a:t>
            </a:r>
            <a:r>
              <a:rPr lang="en-US" altLang="zh-CN" dirty="0">
                <a:cs typeface="Arial" charset="0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，则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是邻居</a:t>
            </a:r>
            <a:endParaRPr lang="en-US" altLang="zh-CN" dirty="0">
              <a:cs typeface="Arial" charset="0"/>
            </a:endParaRPr>
          </a:p>
          <a:p>
            <a:r>
              <a:rPr lang="zh-CN" altLang="en-US" dirty="0">
                <a:cs typeface="Arial" charset="0"/>
              </a:rPr>
              <a:t>无向图：假设</a:t>
            </a:r>
            <a:r>
              <a:rPr lang="en-US" altLang="zh-CN" i="1" dirty="0" err="1"/>
              <a:t>c</a:t>
            </a:r>
            <a:r>
              <a:rPr lang="en-US" altLang="zh-CN" i="1" baseline="-25000" dirty="0" err="1"/>
              <a:t>w,z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= </a:t>
            </a:r>
            <a:r>
              <a:rPr lang="en-US" altLang="zh-CN" i="1" dirty="0" err="1"/>
              <a:t>c</a:t>
            </a:r>
            <a:r>
              <a:rPr lang="en-US" altLang="zh-CN" i="1" baseline="-25000" dirty="0" err="1"/>
              <a:t>z,w</a:t>
            </a:r>
            <a:r>
              <a:rPr lang="en-US" altLang="zh-CN" i="1" baseline="-25000" dirty="0"/>
              <a:t> </a:t>
            </a:r>
            <a:endParaRPr lang="en-US" altLang="zh-CN" dirty="0"/>
          </a:p>
          <a:p>
            <a:pPr lvl="1"/>
            <a:r>
              <a:rPr lang="zh-CN" altLang="en-US" sz="2000" dirty="0"/>
              <a:t>可扩展为有向图，此时允许不对称花费，即</a:t>
            </a:r>
            <a:r>
              <a:rPr lang="en-US" altLang="zh-CN" sz="2000" i="1" dirty="0" err="1"/>
              <a:t>c</a:t>
            </a:r>
            <a:r>
              <a:rPr lang="en-US" altLang="zh-CN" sz="2000" i="1" baseline="-25000" dirty="0" err="1"/>
              <a:t>w,z</a:t>
            </a:r>
            <a:r>
              <a:rPr lang="en-US" altLang="zh-CN" sz="2000" i="1" baseline="-25000" dirty="0"/>
              <a:t> </a:t>
            </a:r>
            <a:r>
              <a:rPr lang="zh-CN" altLang="en-US" sz="2000" dirty="0"/>
              <a:t>和</a:t>
            </a:r>
            <a:r>
              <a:rPr lang="en-US" altLang="zh-CN" sz="2000" i="1" dirty="0"/>
              <a:t> </a:t>
            </a:r>
            <a:r>
              <a:rPr lang="en-US" altLang="zh-CN" sz="2000" i="1" dirty="0" err="1"/>
              <a:t>c</a:t>
            </a:r>
            <a:r>
              <a:rPr lang="en-US" altLang="zh-CN" sz="2000" i="1" baseline="-25000" dirty="0" err="1"/>
              <a:t>z,w</a:t>
            </a:r>
            <a:r>
              <a:rPr lang="zh-CN" altLang="en-US" sz="2000" dirty="0"/>
              <a:t>可以不相等</a:t>
            </a:r>
            <a:endParaRPr lang="en-US" altLang="zh-CN" sz="2000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路径花费</a:t>
            </a:r>
            <a:r>
              <a:rPr lang="en-US" altLang="zh-CN" dirty="0"/>
              <a:t>:  </a:t>
            </a:r>
            <a:r>
              <a:rPr lang="zh-CN" altLang="en-US" dirty="0"/>
              <a:t>对于路径 </a:t>
            </a:r>
            <a:r>
              <a:rPr lang="en-US" altLang="zh-CN" dirty="0"/>
              <a:t>(x</a:t>
            </a:r>
            <a:r>
              <a:rPr lang="en-US" altLang="zh-CN" baseline="-25000" dirty="0"/>
              <a:t>1</a:t>
            </a:r>
            <a:r>
              <a:rPr lang="en-US" altLang="zh-CN" dirty="0"/>
              <a:t>, x</a:t>
            </a:r>
            <a:r>
              <a:rPr lang="en-US" altLang="zh-CN" baseline="-25000" dirty="0"/>
              <a:t>2</a:t>
            </a:r>
            <a:r>
              <a:rPr lang="en-US" altLang="zh-CN" dirty="0"/>
              <a:t>, x</a:t>
            </a:r>
            <a:r>
              <a:rPr lang="en-US" altLang="zh-CN" baseline="-25000" dirty="0"/>
              <a:t>3</a:t>
            </a:r>
            <a:r>
              <a:rPr lang="en-US" altLang="zh-CN" dirty="0"/>
              <a:t>, …,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p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path cost = c(x</a:t>
            </a:r>
            <a:r>
              <a:rPr lang="en-US" altLang="zh-CN" baseline="-25000" dirty="0"/>
              <a:t>1</a:t>
            </a:r>
            <a:r>
              <a:rPr lang="en-US" altLang="zh-CN" dirty="0"/>
              <a:t>, x</a:t>
            </a:r>
            <a:r>
              <a:rPr lang="en-US" altLang="zh-CN" baseline="-25000" dirty="0"/>
              <a:t>2</a:t>
            </a:r>
            <a:r>
              <a:rPr lang="en-US" altLang="zh-CN" dirty="0"/>
              <a:t>) + c(x</a:t>
            </a:r>
            <a:r>
              <a:rPr lang="en-US" altLang="zh-CN" baseline="-25000" dirty="0"/>
              <a:t>2</a:t>
            </a:r>
            <a:r>
              <a:rPr lang="en-US" altLang="zh-CN" dirty="0"/>
              <a:t>, x</a:t>
            </a:r>
            <a:r>
              <a:rPr lang="en-US" altLang="zh-CN" baseline="-25000" dirty="0"/>
              <a:t>3</a:t>
            </a:r>
            <a:r>
              <a:rPr lang="en-US" altLang="zh-CN" dirty="0"/>
              <a:t>) + … + c(x</a:t>
            </a:r>
            <a:r>
              <a:rPr lang="en-US" altLang="zh-CN" baseline="-25000" dirty="0"/>
              <a:t>p-1</a:t>
            </a:r>
            <a:r>
              <a:rPr lang="en-US" altLang="zh-CN" dirty="0"/>
              <a:t>,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p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sz="2000" dirty="0"/>
              <a:t>最小花费路径（</a:t>
            </a:r>
            <a:r>
              <a:rPr lang="en-US" altLang="zh-CN" sz="2000" dirty="0"/>
              <a:t>least cost path)</a:t>
            </a:r>
            <a:r>
              <a:rPr lang="zh-CN" altLang="en-US" sz="2000" dirty="0"/>
              <a:t>：源到目的地之间所有可能的路径中具有最小花费的路径</a:t>
            </a:r>
            <a:endParaRPr lang="en-US" altLang="zh-CN" sz="2000" dirty="0"/>
          </a:p>
          <a:p>
            <a:pPr lvl="1"/>
            <a:r>
              <a:rPr lang="zh-CN" altLang="en-US" sz="2000" dirty="0"/>
              <a:t>最短路径</a:t>
            </a:r>
            <a:r>
              <a:rPr lang="en-US" altLang="zh-CN" sz="2000" dirty="0"/>
              <a:t>(shortest path)</a:t>
            </a:r>
            <a:r>
              <a:rPr lang="zh-CN" altLang="en-US" sz="2000" dirty="0"/>
              <a:t>：若所有的链路花费相同，则最小花费路径即最短路径</a:t>
            </a:r>
          </a:p>
          <a:p>
            <a:pPr lvl="1"/>
            <a:endParaRPr lang="en-US" altLang="zh-CN" sz="2000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74A1C63A-7667-7BCF-98D0-B986B8846B87}"/>
              </a:ext>
            </a:extLst>
          </p:cNvPr>
          <p:cNvGrpSpPr>
            <a:grpSpLocks/>
          </p:cNvGrpSpPr>
          <p:nvPr/>
        </p:nvGrpSpPr>
        <p:grpSpPr bwMode="auto">
          <a:xfrm>
            <a:off x="8710319" y="2529294"/>
            <a:ext cx="3411830" cy="2242321"/>
            <a:chOff x="3162" y="1071"/>
            <a:chExt cx="2250" cy="140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DFE36CC5-3650-1144-4928-C379630A1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CF9D8EE2-0476-260D-B778-38AF4EBF9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555759E3-FBEF-8A50-C60F-9D55196D1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F4A68696-6DBD-3D26-8E8E-71212B2303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7DD71953-5764-93C8-74E1-10B1AEF19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7595F940-AECE-284F-5CAA-C9FAB6012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F2F5B6D2-2E92-6874-3A11-407D3F102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A0D78F55-928B-AEE2-AEB8-85EF000F5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1EF422A8-0DA4-852D-3763-8F4C0CA59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16AB06D9-3242-4746-0631-592F0CFC7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A95A7255-F346-EF6A-B333-DFF2C31D1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4CC19879-314C-BF65-33B3-B3BA61E35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94F5B5BD-46F4-DCE1-21BB-913AED73A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A93AFB91-8D19-2272-296B-6633CCBCD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5C997FC2-C211-8C2E-BD9A-DF440BF17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E742105C-0135-992E-3DA8-315C9BB68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C3299A17-2FB0-F927-BFB5-AE23DB1AD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E05F869C-04F9-49E4-AEEF-860327F49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E772F76F-64A3-12AF-96FD-0000025EA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04B75120-2B8D-223D-4AD7-E4C49AB88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4CFF44B5-8E19-08D2-F14D-B04A5666B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" name="Oval 24">
              <a:extLst>
                <a:ext uri="{FF2B5EF4-FFF2-40B4-BE49-F238E27FC236}">
                  <a16:creationId xmlns:a16="http://schemas.microsoft.com/office/drawing/2014/main" id="{31AE983F-BA0D-3237-2607-29B1EE6EA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" name="Oval 25">
              <a:extLst>
                <a:ext uri="{FF2B5EF4-FFF2-40B4-BE49-F238E27FC236}">
                  <a16:creationId xmlns:a16="http://schemas.microsoft.com/office/drawing/2014/main" id="{610148AB-297F-242C-0797-C9455D18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861A002E-625D-ECD4-78F2-7E02C7688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1F924D8E-C50C-9CA3-BD63-3CDC95BDA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0BF0D9D-99E1-1D8A-EF52-0FCA8095C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" name="Oval 29">
              <a:extLst>
                <a:ext uri="{FF2B5EF4-FFF2-40B4-BE49-F238E27FC236}">
                  <a16:creationId xmlns:a16="http://schemas.microsoft.com/office/drawing/2014/main" id="{F6E152D3-E5A5-3ABD-F1F9-DAE906FA7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" name="Oval 30">
              <a:extLst>
                <a:ext uri="{FF2B5EF4-FFF2-40B4-BE49-F238E27FC236}">
                  <a16:creationId xmlns:a16="http://schemas.microsoft.com/office/drawing/2014/main" id="{51187634-6D50-41BD-CFB5-144DD516A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37B10C41-04DE-0F2E-0868-CAA97CFAC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CA7DFDC6-0D2A-92E2-820D-2A5D91610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27D5B6CA-F1C5-D878-63CF-8FC8126C7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" name="Oval 34">
              <a:extLst>
                <a:ext uri="{FF2B5EF4-FFF2-40B4-BE49-F238E27FC236}">
                  <a16:creationId xmlns:a16="http://schemas.microsoft.com/office/drawing/2014/main" id="{9A63500B-6F40-127E-A32E-4195D415D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03BE8176-9AA5-2EAF-021B-A130AE61A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FC402DB4-9412-08D0-DC71-08290E546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6569B30D-A6AF-41A1-40C0-E3661C853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1C1BEF3C-A3BD-D49A-B25E-1D94F66E3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1087DB0B-6EFC-4ED8-A594-839C1DACA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803AEE88-67AA-2255-4792-F33F9102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" name="Freeform 41">
              <a:extLst>
                <a:ext uri="{FF2B5EF4-FFF2-40B4-BE49-F238E27FC236}">
                  <a16:creationId xmlns:a16="http://schemas.microsoft.com/office/drawing/2014/main" id="{010DE565-7942-EBEB-180E-66A20E429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5CC255DC-21F2-904D-6660-209FB4FD1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228475D3-D554-2F3C-76DA-948CC7470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6" name="Group 44">
              <a:extLst>
                <a:ext uri="{FF2B5EF4-FFF2-40B4-BE49-F238E27FC236}">
                  <a16:creationId xmlns:a16="http://schemas.microsoft.com/office/drawing/2014/main" id="{DA1E91B0-9E8E-C621-23AF-E186B34A13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72" name="Rectangle 45">
                <a:extLst>
                  <a:ext uri="{FF2B5EF4-FFF2-40B4-BE49-F238E27FC236}">
                    <a16:creationId xmlns:a16="http://schemas.microsoft.com/office/drawing/2014/main" id="{236CAC5D-4C56-3A46-EAAF-AE2DD051F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" name="Text Box 46">
                <a:extLst>
                  <a:ext uri="{FF2B5EF4-FFF2-40B4-BE49-F238E27FC236}">
                    <a16:creationId xmlns:a16="http://schemas.microsoft.com/office/drawing/2014/main" id="{9A1A0DB1-C24B-2936-ADD7-5CE8785BE2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7" name="Group 47">
              <a:extLst>
                <a:ext uri="{FF2B5EF4-FFF2-40B4-BE49-F238E27FC236}">
                  <a16:creationId xmlns:a16="http://schemas.microsoft.com/office/drawing/2014/main" id="{BB1BC67F-D042-6DC5-EC0A-F45F376DFB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70" name="Rectangle 48">
                <a:extLst>
                  <a:ext uri="{FF2B5EF4-FFF2-40B4-BE49-F238E27FC236}">
                    <a16:creationId xmlns:a16="http://schemas.microsoft.com/office/drawing/2014/main" id="{00597A64-F2D0-1E45-AFB6-267FDEFB9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1" name="Text Box 49">
                <a:extLst>
                  <a:ext uri="{FF2B5EF4-FFF2-40B4-BE49-F238E27FC236}">
                    <a16:creationId xmlns:a16="http://schemas.microsoft.com/office/drawing/2014/main" id="{D9BCB93E-B318-A58F-5E1D-3265B3F37D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8" name="Group 50">
              <a:extLst>
                <a:ext uri="{FF2B5EF4-FFF2-40B4-BE49-F238E27FC236}">
                  <a16:creationId xmlns:a16="http://schemas.microsoft.com/office/drawing/2014/main" id="{C71BCFF4-6F68-F893-768F-4139D1933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8" name="Rectangle 51">
                <a:extLst>
                  <a:ext uri="{FF2B5EF4-FFF2-40B4-BE49-F238E27FC236}">
                    <a16:creationId xmlns:a16="http://schemas.microsoft.com/office/drawing/2014/main" id="{3724317E-2C47-2C95-B949-2529602C4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9" name="Text Box 52">
                <a:extLst>
                  <a:ext uri="{FF2B5EF4-FFF2-40B4-BE49-F238E27FC236}">
                    <a16:creationId xmlns:a16="http://schemas.microsoft.com/office/drawing/2014/main" id="{FF355FA5-7C4B-DE1E-2637-208FB0A6FB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9" name="Group 53">
              <a:extLst>
                <a:ext uri="{FF2B5EF4-FFF2-40B4-BE49-F238E27FC236}">
                  <a16:creationId xmlns:a16="http://schemas.microsoft.com/office/drawing/2014/main" id="{5AD72B1C-2AE4-2D30-5FE4-307C68D06D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66" name="Rectangle 54">
                <a:extLst>
                  <a:ext uri="{FF2B5EF4-FFF2-40B4-BE49-F238E27FC236}">
                    <a16:creationId xmlns:a16="http://schemas.microsoft.com/office/drawing/2014/main" id="{56E3976F-63E0-6955-EB25-9FE1F8BB1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" name="Text Box 55">
                <a:extLst>
                  <a:ext uri="{FF2B5EF4-FFF2-40B4-BE49-F238E27FC236}">
                    <a16:creationId xmlns:a16="http://schemas.microsoft.com/office/drawing/2014/main" id="{444A9276-3A5F-B88E-93D2-3C26600326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0" name="Group 56">
              <a:extLst>
                <a:ext uri="{FF2B5EF4-FFF2-40B4-BE49-F238E27FC236}">
                  <a16:creationId xmlns:a16="http://schemas.microsoft.com/office/drawing/2014/main" id="{3E13371C-4ACD-9349-BA0C-D3C4FFB0F4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4" name="Rectangle 57">
                <a:extLst>
                  <a:ext uri="{FF2B5EF4-FFF2-40B4-BE49-F238E27FC236}">
                    <a16:creationId xmlns:a16="http://schemas.microsoft.com/office/drawing/2014/main" id="{ED9D26EB-3AC7-7C36-90FB-E964A4C5E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" name="Text Box 58">
                <a:extLst>
                  <a:ext uri="{FF2B5EF4-FFF2-40B4-BE49-F238E27FC236}">
                    <a16:creationId xmlns:a16="http://schemas.microsoft.com/office/drawing/2014/main" id="{293D2B05-2BEC-59DC-F155-F65CC374C2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1" name="Group 59">
              <a:extLst>
                <a:ext uri="{FF2B5EF4-FFF2-40B4-BE49-F238E27FC236}">
                  <a16:creationId xmlns:a16="http://schemas.microsoft.com/office/drawing/2014/main" id="{5B404B46-EDF1-2B1F-9E5D-1685C2124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62" name="Rectangle 60">
                <a:extLst>
                  <a:ext uri="{FF2B5EF4-FFF2-40B4-BE49-F238E27FC236}">
                    <a16:creationId xmlns:a16="http://schemas.microsoft.com/office/drawing/2014/main" id="{6389E8BD-477D-7409-5EBD-41E913C6D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" name="Text Box 61">
                <a:extLst>
                  <a:ext uri="{FF2B5EF4-FFF2-40B4-BE49-F238E27FC236}">
                    <a16:creationId xmlns:a16="http://schemas.microsoft.com/office/drawing/2014/main" id="{35535EE9-8EA0-ADB5-6940-D17D0E6FCE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52" name="Text Box 62">
              <a:extLst>
                <a:ext uri="{FF2B5EF4-FFF2-40B4-BE49-F238E27FC236}">
                  <a16:creationId xmlns:a16="http://schemas.microsoft.com/office/drawing/2014/main" id="{04D7F4DC-66F2-28E6-BB3D-6E3944AD02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" name="Text Box 63">
              <a:extLst>
                <a:ext uri="{FF2B5EF4-FFF2-40B4-BE49-F238E27FC236}">
                  <a16:creationId xmlns:a16="http://schemas.microsoft.com/office/drawing/2014/main" id="{6045AE59-9E46-D4D8-9BBF-FEA4A47EB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" name="Text Box 64">
              <a:extLst>
                <a:ext uri="{FF2B5EF4-FFF2-40B4-BE49-F238E27FC236}">
                  <a16:creationId xmlns:a16="http://schemas.microsoft.com/office/drawing/2014/main" id="{691FB840-253D-CBFB-4136-E8B65F029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" name="Text Box 65">
              <a:extLst>
                <a:ext uri="{FF2B5EF4-FFF2-40B4-BE49-F238E27FC236}">
                  <a16:creationId xmlns:a16="http://schemas.microsoft.com/office/drawing/2014/main" id="{FAD0724A-F64A-040A-B824-33D582BDA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" name="Text Box 66">
              <a:extLst>
                <a:ext uri="{FF2B5EF4-FFF2-40B4-BE49-F238E27FC236}">
                  <a16:creationId xmlns:a16="http://schemas.microsoft.com/office/drawing/2014/main" id="{BD55D4AC-5614-89C6-70BB-58ED9E7E6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" name="Text Box 67">
              <a:extLst>
                <a:ext uri="{FF2B5EF4-FFF2-40B4-BE49-F238E27FC236}">
                  <a16:creationId xmlns:a16="http://schemas.microsoft.com/office/drawing/2014/main" id="{CD11D16B-167D-582D-F113-98DB193DC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8" name="Text Box 68">
              <a:extLst>
                <a:ext uri="{FF2B5EF4-FFF2-40B4-BE49-F238E27FC236}">
                  <a16:creationId xmlns:a16="http://schemas.microsoft.com/office/drawing/2014/main" id="{D85E1ABC-4AFF-7A68-3B6A-EA09864EC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" name="Text Box 69">
              <a:extLst>
                <a:ext uri="{FF2B5EF4-FFF2-40B4-BE49-F238E27FC236}">
                  <a16:creationId xmlns:a16="http://schemas.microsoft.com/office/drawing/2014/main" id="{DCBBFA1D-6C3D-120E-86C0-E3E6C115C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" name="Text Box 70">
              <a:extLst>
                <a:ext uri="{FF2B5EF4-FFF2-40B4-BE49-F238E27FC236}">
                  <a16:creationId xmlns:a16="http://schemas.microsoft.com/office/drawing/2014/main" id="{C00B6698-E0E5-0A6F-FB80-538FAB6EB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" name="Text Box 71">
              <a:extLst>
                <a:ext uri="{FF2B5EF4-FFF2-40B4-BE49-F238E27FC236}">
                  <a16:creationId xmlns:a16="http://schemas.microsoft.com/office/drawing/2014/main" id="{427FF0C1-3D5F-D090-C199-2E09444CA1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5250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9B5F5-ECEF-DF1E-89C5-88BE8571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路由算法分类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A2D6B3-287C-A3B1-EF94-05DA38C3A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1800" dirty="0"/>
              <a:t>集中或分散</a:t>
            </a:r>
            <a:r>
              <a:rPr lang="en-US" altLang="zh-CN" sz="1800" dirty="0"/>
              <a:t>?</a:t>
            </a:r>
          </a:p>
          <a:p>
            <a:r>
              <a:rPr lang="zh-CN" altLang="en-US" sz="1800" dirty="0"/>
              <a:t>集中式路由算法</a:t>
            </a:r>
            <a:r>
              <a:rPr lang="en-US" altLang="zh-CN" sz="1800" dirty="0"/>
              <a:t>(centralized routing algorithm):</a:t>
            </a:r>
          </a:p>
          <a:p>
            <a:pPr lvl="1"/>
            <a:r>
              <a:rPr lang="zh-CN" altLang="en-US" dirty="0"/>
              <a:t>节点（每个路由器或者</a:t>
            </a:r>
            <a:r>
              <a:rPr lang="en-US" altLang="zh-CN" dirty="0"/>
              <a:t>SDN</a:t>
            </a:r>
            <a:r>
              <a:rPr lang="zh-CN" altLang="en-US" dirty="0"/>
              <a:t>的控制器）知道全局的网络拓扑信息（节点以及链路的花费）</a:t>
            </a:r>
            <a:endParaRPr lang="en-US" altLang="zh-CN" dirty="0"/>
          </a:p>
          <a:p>
            <a:pPr lvl="1"/>
            <a:r>
              <a:rPr lang="zh-CN" altLang="en-US" dirty="0"/>
              <a:t>链路状态（</a:t>
            </a:r>
            <a:r>
              <a:rPr lang="en-US" altLang="zh-CN" dirty="0"/>
              <a:t>link state</a:t>
            </a:r>
            <a:r>
              <a:rPr lang="zh-CN" altLang="en-US" dirty="0"/>
              <a:t>）路由算法</a:t>
            </a:r>
            <a:endParaRPr lang="en-US" altLang="zh-CN" dirty="0"/>
          </a:p>
          <a:p>
            <a:r>
              <a:rPr lang="zh-CN" altLang="en-US" sz="1800" dirty="0"/>
              <a:t>分散式路由算法（</a:t>
            </a:r>
            <a:r>
              <a:rPr lang="en-US" altLang="zh-CN" sz="1800" dirty="0"/>
              <a:t>decentralized routing algorithm)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lvl="1"/>
            <a:r>
              <a:rPr lang="zh-CN" altLang="en-US" dirty="0"/>
              <a:t>路由器初始仅知道到其邻居的链路花费</a:t>
            </a:r>
            <a:endParaRPr lang="en-US" altLang="zh-CN" dirty="0"/>
          </a:p>
          <a:p>
            <a:pPr lvl="1"/>
            <a:r>
              <a:rPr lang="zh-CN" altLang="en-US" dirty="0"/>
              <a:t>基于邻居交换的信息，路由器迭代分布式计算</a:t>
            </a:r>
            <a:endParaRPr lang="en-US" altLang="zh-CN" dirty="0"/>
          </a:p>
          <a:p>
            <a:pPr lvl="1"/>
            <a:r>
              <a:rPr lang="zh-CN" altLang="en-US" dirty="0"/>
              <a:t>距离向量</a:t>
            </a:r>
            <a:r>
              <a:rPr lang="en-US" altLang="zh-CN" dirty="0"/>
              <a:t>(distance vector)</a:t>
            </a:r>
            <a:r>
              <a:rPr lang="zh-CN" altLang="en-US" dirty="0"/>
              <a:t>路由算法：邻居之间交换距离向量（到其他节点的花费）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1800" dirty="0"/>
              <a:t>路由的改变是静态还是动态？</a:t>
            </a:r>
            <a:endParaRPr lang="en-US" altLang="zh-CN" sz="1800" dirty="0"/>
          </a:p>
          <a:p>
            <a:r>
              <a:rPr lang="zh-CN" altLang="en-US" sz="1800" dirty="0"/>
              <a:t>静态路由：网络拓扑稳定，网络管理员静态配置和调整路由</a:t>
            </a:r>
            <a:endParaRPr lang="en-US" altLang="zh-CN" sz="1800" dirty="0"/>
          </a:p>
          <a:p>
            <a:r>
              <a:rPr lang="zh-CN" altLang="en-US" sz="1800" dirty="0"/>
              <a:t>动态路由：能够迅速处理网络拓扑和负载的变化</a:t>
            </a:r>
            <a:endParaRPr lang="en-US" altLang="zh-CN" sz="1800" dirty="0"/>
          </a:p>
          <a:p>
            <a:pPr lvl="1"/>
            <a:r>
              <a:rPr lang="zh-CN" altLang="en-US" dirty="0"/>
              <a:t>定期交换路由信息，在路由有变化时马上交换路由信息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负载是否敏感：链路的花费是否考虑负载的因素</a:t>
            </a:r>
            <a:endParaRPr lang="en-US" altLang="zh-CN" dirty="0"/>
          </a:p>
          <a:p>
            <a:r>
              <a:rPr lang="zh-CN" altLang="en-US" dirty="0"/>
              <a:t>早期</a:t>
            </a:r>
            <a:r>
              <a:rPr lang="en-US" altLang="zh-CN" dirty="0"/>
              <a:t>ARPANET</a:t>
            </a:r>
            <a:r>
              <a:rPr lang="zh-CN" altLang="en-US" dirty="0"/>
              <a:t>路由算法是负载敏感</a:t>
            </a:r>
            <a:r>
              <a:rPr lang="en-US" altLang="zh-CN" dirty="0"/>
              <a:t>(load-sensitive)</a:t>
            </a:r>
          </a:p>
          <a:p>
            <a:r>
              <a:rPr lang="en-US" altLang="zh-CN" dirty="0"/>
              <a:t>Internet</a:t>
            </a:r>
            <a:r>
              <a:rPr lang="zh-CN" altLang="en-US" dirty="0"/>
              <a:t>路由算法是负载不敏感</a:t>
            </a:r>
            <a:r>
              <a:rPr lang="en-US" altLang="zh-CN" dirty="0"/>
              <a:t>(load-insensitive)</a:t>
            </a:r>
          </a:p>
        </p:txBody>
      </p:sp>
    </p:spTree>
    <p:extLst>
      <p:ext uri="{BB962C8B-B14F-4D97-AF65-F5344CB8AC3E}">
        <p14:creationId xmlns:p14="http://schemas.microsoft.com/office/powerpoint/2010/main" val="319069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FD699-35B3-9F56-7150-A571CE2A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49D00-2FD4-3901-5C75-C02D4C82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5.1 </a:t>
            </a:r>
            <a:r>
              <a:rPr lang="zh-CN" altLang="en-US" sz="2800" dirty="0"/>
              <a:t>概述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5.2 </a:t>
            </a:r>
            <a:r>
              <a:rPr lang="zh-CN" altLang="en-US" sz="2800" dirty="0"/>
              <a:t>路由选择算法：</a:t>
            </a:r>
            <a:endParaRPr lang="en-US" altLang="zh-CN" sz="2800" dirty="0"/>
          </a:p>
          <a:p>
            <a:pPr lvl="1"/>
            <a:r>
              <a:rPr lang="zh-CN" altLang="en-US" sz="2800" b="1" dirty="0">
                <a:solidFill>
                  <a:schemeClr val="accent4"/>
                </a:solidFill>
              </a:rPr>
              <a:t>链路状态路由算法</a:t>
            </a:r>
            <a:endParaRPr lang="en-US" altLang="zh-CN" sz="2800" b="1" dirty="0">
              <a:solidFill>
                <a:schemeClr val="accent4"/>
              </a:solidFill>
            </a:endParaRPr>
          </a:p>
          <a:p>
            <a:pPr lvl="1"/>
            <a:r>
              <a:rPr lang="zh-CN" altLang="en-US" sz="2800" dirty="0"/>
              <a:t>距离向量路由算法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5.3 Internet</a:t>
            </a:r>
            <a:r>
              <a:rPr lang="zh-CN" altLang="en-US" sz="2800" dirty="0"/>
              <a:t>中自治系统的路由：</a:t>
            </a:r>
            <a:r>
              <a:rPr lang="en-US" altLang="zh-CN" sz="2800" dirty="0"/>
              <a:t>OSPF</a:t>
            </a:r>
          </a:p>
          <a:p>
            <a:pPr marL="0" indent="0">
              <a:buNone/>
            </a:pPr>
            <a:r>
              <a:rPr lang="en-US" altLang="zh-CN" sz="2800" dirty="0"/>
              <a:t>5.4 ISP</a:t>
            </a:r>
            <a:r>
              <a:rPr lang="zh-CN" altLang="en-US" sz="2800" dirty="0"/>
              <a:t>之间的路由选择：</a:t>
            </a:r>
            <a:r>
              <a:rPr lang="en-US" altLang="zh-CN" sz="2800" dirty="0"/>
              <a:t>BGP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5.5 SDN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控制平面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5.6 ICMP(</a:t>
            </a:r>
            <a:r>
              <a:rPr lang="zh-CN" altLang="en-US" sz="2800" dirty="0"/>
              <a:t>已介绍</a:t>
            </a:r>
            <a:r>
              <a:rPr lang="en-US" altLang="zh-CN" sz="2800" dirty="0"/>
              <a:t>)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5.8 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网络管理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65577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CD353832-1C78-616E-9D94-D0699EA5A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6806" y="3364713"/>
            <a:ext cx="2575783" cy="160033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31BCCC4-7B24-0D43-2772-62B6E321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链路状态路由算法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77CFCB-A1DE-5D66-8AE8-478C675C4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800" dirty="0"/>
              <a:t>集中式：每个节点知道网络的全局拓扑和（非负的）链路花费</a:t>
            </a:r>
            <a:endParaRPr lang="en-US" altLang="zh-CN" sz="1800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路由器（节点）维护本地的</a:t>
            </a:r>
            <a:r>
              <a:rPr lang="zh-CN" altLang="en-US" b="1" dirty="0">
                <a:solidFill>
                  <a:schemeClr val="accent4"/>
                </a:solidFill>
              </a:rPr>
              <a:t>链路状态信息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通过</a:t>
            </a:r>
            <a:r>
              <a:rPr lang="zh-CN" altLang="en-US" b="1" dirty="0">
                <a:solidFill>
                  <a:schemeClr val="accent4"/>
                </a:solidFill>
              </a:rPr>
              <a:t>扩散的方法</a:t>
            </a:r>
            <a:r>
              <a:rPr lang="zh-CN" altLang="en-US" dirty="0"/>
              <a:t>传播给所有路由器</a:t>
            </a:r>
          </a:p>
          <a:p>
            <a:pPr>
              <a:lnSpc>
                <a:spcPct val="100000"/>
              </a:lnSpc>
            </a:pPr>
            <a:r>
              <a:rPr lang="zh-CN" altLang="en-US" sz="1800" dirty="0"/>
              <a:t>每个节点采用</a:t>
            </a:r>
            <a:r>
              <a:rPr lang="en-US" altLang="zh-CN" sz="1800" b="1" dirty="0">
                <a:solidFill>
                  <a:schemeClr val="accent4"/>
                </a:solidFill>
              </a:rPr>
              <a:t>Dijkstra</a:t>
            </a:r>
            <a:r>
              <a:rPr lang="zh-CN" altLang="en-US" sz="1800" b="1" dirty="0">
                <a:solidFill>
                  <a:schemeClr val="accent4"/>
                </a:solidFill>
              </a:rPr>
              <a:t>算法</a:t>
            </a:r>
            <a:r>
              <a:rPr lang="zh-CN" altLang="en-US" sz="1800" dirty="0"/>
              <a:t>计算从该节点</a:t>
            </a:r>
            <a:r>
              <a:rPr lang="en-US" altLang="zh-CN" sz="1800" dirty="0"/>
              <a:t>(</a:t>
            </a:r>
            <a:r>
              <a:rPr lang="zh-CN" altLang="en-US" sz="1800" dirty="0"/>
              <a:t>源）到所有其他（假设为</a:t>
            </a:r>
            <a:r>
              <a:rPr lang="en-US" altLang="zh-CN" sz="1800" dirty="0"/>
              <a:t>n</a:t>
            </a:r>
            <a:r>
              <a:rPr lang="zh-CN" altLang="en-US" sz="1800" dirty="0"/>
              <a:t>个）节点的最小花费路径（路由）</a:t>
            </a:r>
            <a:endParaRPr lang="en-US" altLang="zh-CN" sz="1800" dirty="0"/>
          </a:p>
          <a:p>
            <a:pPr lvl="1">
              <a:lnSpc>
                <a:spcPct val="100000"/>
              </a:lnSpc>
            </a:pPr>
            <a:r>
              <a:rPr lang="zh-CN" altLang="en-US" b="1" dirty="0">
                <a:solidFill>
                  <a:schemeClr val="accent4"/>
                </a:solidFill>
              </a:rPr>
              <a:t>构造转发表</a:t>
            </a:r>
            <a:r>
              <a:rPr lang="zh-CN" altLang="en-US" dirty="0"/>
              <a:t>供数据平面使用</a:t>
            </a:r>
            <a:endParaRPr lang="en-US" altLang="zh-CN" dirty="0"/>
          </a:p>
          <a:p>
            <a:r>
              <a:rPr lang="zh-CN" altLang="en-US" sz="1800" dirty="0"/>
              <a:t>迭代计算：</a:t>
            </a:r>
            <a:r>
              <a:rPr lang="en-US" altLang="zh-CN" sz="1800" dirty="0"/>
              <a:t>k</a:t>
            </a:r>
            <a:r>
              <a:rPr lang="zh-CN" altLang="en-US" sz="1800" dirty="0"/>
              <a:t>轮之后，找到了到</a:t>
            </a:r>
            <a:r>
              <a:rPr lang="en-US" altLang="zh-CN" sz="1800" dirty="0"/>
              <a:t>k</a:t>
            </a:r>
            <a:r>
              <a:rPr lang="zh-CN" altLang="en-US" sz="1800" dirty="0"/>
              <a:t>个目的地的最小花费路径</a:t>
            </a:r>
            <a:endParaRPr lang="en-US" altLang="zh-CN" sz="1800" dirty="0"/>
          </a:p>
          <a:p>
            <a:pPr lvl="1"/>
            <a:r>
              <a:rPr lang="zh-CN" altLang="en-US" dirty="0"/>
              <a:t>基于最优原理：</a:t>
            </a:r>
            <a:r>
              <a:rPr lang="zh-CN" altLang="zh-CN" dirty="0"/>
              <a:t>如果节点</a:t>
            </a:r>
            <a:r>
              <a:rPr lang="en-US" altLang="zh-CN" dirty="0"/>
              <a:t>A</a:t>
            </a:r>
            <a:r>
              <a:rPr lang="zh-CN" altLang="zh-CN" dirty="0"/>
              <a:t>到节点</a:t>
            </a:r>
            <a:r>
              <a:rPr lang="en-US" altLang="zh-CN" dirty="0"/>
              <a:t>B</a:t>
            </a:r>
            <a:r>
              <a:rPr lang="zh-CN" altLang="zh-CN" dirty="0"/>
              <a:t>的最优路由经过了节点</a:t>
            </a:r>
            <a:r>
              <a:rPr lang="en-US" altLang="zh-CN" dirty="0"/>
              <a:t>C (A</a:t>
            </a:r>
            <a:r>
              <a:rPr lang="en-US" altLang="zh-CN" dirty="0">
                <a:sym typeface="Wingdings" panose="05000000000000000000" pitchFamily="2" charset="2"/>
              </a:rPr>
              <a:t>CB)</a:t>
            </a:r>
            <a:r>
              <a:rPr lang="zh-CN" altLang="zh-CN" dirty="0"/>
              <a:t>，则该路由上的</a:t>
            </a:r>
            <a:r>
              <a:rPr lang="en-US" altLang="zh-CN" dirty="0"/>
              <a:t>A</a:t>
            </a:r>
            <a:r>
              <a:rPr lang="zh-CN" altLang="zh-CN" dirty="0"/>
              <a:t>到</a:t>
            </a:r>
            <a:r>
              <a:rPr lang="en-US" altLang="zh-CN" dirty="0"/>
              <a:t>C</a:t>
            </a:r>
            <a:r>
              <a:rPr lang="zh-CN" altLang="zh-CN" dirty="0"/>
              <a:t>和</a:t>
            </a:r>
            <a:r>
              <a:rPr lang="en-US" altLang="zh-CN" dirty="0"/>
              <a:t>C</a:t>
            </a:r>
            <a:r>
              <a:rPr lang="zh-CN" altLang="zh-CN" dirty="0"/>
              <a:t>到</a:t>
            </a:r>
            <a:r>
              <a:rPr lang="en-US" altLang="zh-CN" dirty="0"/>
              <a:t>B</a:t>
            </a:r>
            <a:r>
              <a:rPr lang="zh-CN" altLang="zh-CN" dirty="0"/>
              <a:t>分别也是节点</a:t>
            </a:r>
            <a:r>
              <a:rPr lang="en-US" altLang="zh-CN" dirty="0"/>
              <a:t>A</a:t>
            </a:r>
            <a:r>
              <a:rPr lang="zh-CN" altLang="zh-CN" dirty="0"/>
              <a:t>和节点</a:t>
            </a:r>
            <a:r>
              <a:rPr lang="en-US" altLang="zh-CN" dirty="0"/>
              <a:t>C</a:t>
            </a:r>
            <a:r>
              <a:rPr lang="zh-CN" altLang="zh-CN" dirty="0"/>
              <a:t>、节点</a:t>
            </a:r>
            <a:r>
              <a:rPr lang="en-US" altLang="zh-CN" dirty="0"/>
              <a:t>C</a:t>
            </a:r>
            <a:r>
              <a:rPr lang="zh-CN" altLang="zh-CN" dirty="0"/>
              <a:t>和节点</a:t>
            </a:r>
            <a:r>
              <a:rPr lang="en-US" altLang="zh-CN" dirty="0"/>
              <a:t>B</a:t>
            </a:r>
            <a:r>
              <a:rPr lang="zh-CN" altLang="zh-CN" dirty="0"/>
              <a:t>的最优路由</a:t>
            </a:r>
            <a:endParaRPr lang="en-US" altLang="zh-CN" dirty="0"/>
          </a:p>
          <a:p>
            <a:pPr lvl="1"/>
            <a:r>
              <a:rPr lang="zh-CN" altLang="zh-CN" dirty="0"/>
              <a:t>按照</a:t>
            </a:r>
            <a:r>
              <a:rPr lang="zh-CN" altLang="zh-CN" b="1" dirty="0">
                <a:solidFill>
                  <a:schemeClr val="accent4"/>
                </a:solidFill>
              </a:rPr>
              <a:t>到源节点的最短路径花费</a:t>
            </a:r>
            <a:r>
              <a:rPr lang="zh-CN" altLang="zh-CN" dirty="0"/>
              <a:t>的</a:t>
            </a:r>
            <a:r>
              <a:rPr lang="zh-CN" altLang="zh-CN" b="1" dirty="0">
                <a:solidFill>
                  <a:schemeClr val="accent4"/>
                </a:solidFill>
              </a:rPr>
              <a:t>递增的顺序</a:t>
            </a:r>
            <a:r>
              <a:rPr lang="zh-CN" altLang="zh-CN" dirty="0"/>
              <a:t>，逐步寻找那些离源节点越来越远的节点</a:t>
            </a:r>
            <a:endParaRPr lang="en-US" altLang="zh-CN" dirty="0"/>
          </a:p>
          <a:p>
            <a:pPr lvl="2"/>
            <a:r>
              <a:rPr lang="zh-CN" altLang="zh-CN" sz="1800" dirty="0"/>
              <a:t>第</a:t>
            </a:r>
            <a:r>
              <a:rPr lang="en-US" altLang="zh-CN" sz="1800" dirty="0"/>
              <a:t>1</a:t>
            </a:r>
            <a:r>
              <a:rPr lang="zh-CN" altLang="zh-CN" sz="1800" dirty="0"/>
              <a:t>轮，</a:t>
            </a:r>
            <a:r>
              <a:rPr lang="zh-CN" altLang="en-US" sz="1800" dirty="0"/>
              <a:t>从</a:t>
            </a:r>
            <a:r>
              <a:rPr lang="zh-CN" altLang="zh-CN" sz="1800" dirty="0"/>
              <a:t>源的直接邻居</a:t>
            </a:r>
            <a:r>
              <a:rPr lang="zh-CN" altLang="en-US" sz="1800" dirty="0"/>
              <a:t>中</a:t>
            </a:r>
            <a:r>
              <a:rPr lang="zh-CN" altLang="zh-CN" sz="1800" dirty="0"/>
              <a:t>寻找到</a:t>
            </a:r>
            <a:r>
              <a:rPr lang="zh-CN" altLang="zh-CN" sz="1800" b="1" dirty="0">
                <a:solidFill>
                  <a:schemeClr val="accent4"/>
                </a:solidFill>
              </a:rPr>
              <a:t>离源节点最近</a:t>
            </a:r>
            <a:r>
              <a:rPr lang="zh-CN" altLang="zh-CN" sz="1800" dirty="0"/>
              <a:t>的节点</a:t>
            </a:r>
            <a:endParaRPr lang="en-US" altLang="zh-CN" sz="1800" dirty="0"/>
          </a:p>
          <a:p>
            <a:pPr lvl="2"/>
            <a:r>
              <a:rPr lang="zh-CN" altLang="zh-CN" sz="1800" dirty="0"/>
              <a:t>第</a:t>
            </a:r>
            <a:r>
              <a:rPr lang="en-US" altLang="zh-CN" sz="1800" dirty="0"/>
              <a:t>2</a:t>
            </a:r>
            <a:r>
              <a:rPr lang="zh-CN" altLang="zh-CN" sz="1800" dirty="0"/>
              <a:t>轮，</a:t>
            </a:r>
            <a:r>
              <a:rPr lang="zh-CN" altLang="en-US" sz="1800" dirty="0"/>
              <a:t>从</a:t>
            </a:r>
            <a:r>
              <a:rPr lang="zh-CN" altLang="en-US" sz="1800" b="1" dirty="0">
                <a:solidFill>
                  <a:schemeClr val="accent4"/>
                </a:solidFill>
              </a:rPr>
              <a:t>标记节点</a:t>
            </a:r>
            <a:r>
              <a:rPr lang="en-US" altLang="zh-CN" sz="1800" dirty="0"/>
              <a:t>(</a:t>
            </a:r>
            <a:r>
              <a:rPr lang="zh-CN" altLang="en-US" sz="1800" dirty="0"/>
              <a:t>源和第</a:t>
            </a:r>
            <a:r>
              <a:rPr lang="en-US" altLang="zh-CN" sz="1800" dirty="0"/>
              <a:t>1</a:t>
            </a:r>
            <a:r>
              <a:rPr lang="zh-CN" altLang="en-US" sz="1800" dirty="0"/>
              <a:t>轮找到的节点</a:t>
            </a:r>
            <a:r>
              <a:rPr lang="en-US" altLang="zh-CN" sz="1800" dirty="0"/>
              <a:t>)</a:t>
            </a:r>
            <a:r>
              <a:rPr lang="zh-CN" altLang="en-US" sz="1800" dirty="0"/>
              <a:t>的邻居中</a:t>
            </a:r>
            <a:r>
              <a:rPr lang="zh-CN" altLang="zh-CN" sz="1800" dirty="0"/>
              <a:t>寻找</a:t>
            </a:r>
            <a:r>
              <a:rPr lang="zh-CN" altLang="zh-CN" sz="1800" b="1" dirty="0">
                <a:solidFill>
                  <a:schemeClr val="accent4"/>
                </a:solidFill>
              </a:rPr>
              <a:t>到离源节点次近</a:t>
            </a:r>
            <a:r>
              <a:rPr lang="zh-CN" altLang="zh-CN" sz="1800" dirty="0"/>
              <a:t>的节点</a:t>
            </a:r>
            <a:endParaRPr lang="en-US" altLang="zh-CN" sz="1800" dirty="0"/>
          </a:p>
          <a:p>
            <a:pPr lvl="2"/>
            <a:r>
              <a:rPr lang="zh-CN" altLang="zh-CN" sz="1800" dirty="0"/>
              <a:t>第</a:t>
            </a:r>
            <a:r>
              <a:rPr lang="en-US" altLang="zh-CN" sz="1800" dirty="0"/>
              <a:t>3</a:t>
            </a:r>
            <a:r>
              <a:rPr lang="zh-CN" altLang="zh-CN" sz="1800" dirty="0"/>
              <a:t>轮，</a:t>
            </a:r>
            <a:r>
              <a:rPr lang="zh-CN" altLang="en-US" sz="1800" dirty="0"/>
              <a:t>从</a:t>
            </a:r>
            <a:r>
              <a:rPr lang="zh-CN" altLang="en-US" sz="1800" b="1" dirty="0">
                <a:solidFill>
                  <a:schemeClr val="accent4"/>
                </a:solidFill>
              </a:rPr>
              <a:t>标记节点</a:t>
            </a:r>
            <a:r>
              <a:rPr lang="en-US" altLang="zh-CN" sz="1800" dirty="0"/>
              <a:t>(</a:t>
            </a:r>
            <a:r>
              <a:rPr lang="zh-CN" altLang="en-US" sz="1800" dirty="0"/>
              <a:t>源和第</a:t>
            </a:r>
            <a:r>
              <a:rPr lang="en-US" altLang="zh-CN" sz="1800" dirty="0"/>
              <a:t>1/2</a:t>
            </a:r>
            <a:r>
              <a:rPr lang="zh-CN" altLang="en-US" sz="1800" dirty="0"/>
              <a:t>轮找到的节点</a:t>
            </a:r>
            <a:r>
              <a:rPr lang="en-US" altLang="zh-CN" sz="1800" dirty="0"/>
              <a:t>)</a:t>
            </a:r>
            <a:r>
              <a:rPr lang="zh-CN" altLang="en-US" sz="1800" dirty="0"/>
              <a:t>的邻居中</a:t>
            </a:r>
            <a:r>
              <a:rPr lang="zh-CN" altLang="zh-CN" sz="1800" dirty="0"/>
              <a:t>寻找到</a:t>
            </a:r>
            <a:r>
              <a:rPr lang="zh-CN" altLang="zh-CN" sz="1800" b="1" dirty="0">
                <a:solidFill>
                  <a:schemeClr val="accent4"/>
                </a:solidFill>
              </a:rPr>
              <a:t>离源节点第三近</a:t>
            </a:r>
            <a:r>
              <a:rPr lang="zh-CN" altLang="zh-CN" sz="1800" dirty="0"/>
              <a:t>的节点</a:t>
            </a:r>
            <a:endParaRPr lang="en-US" altLang="zh-CN" sz="1800" dirty="0"/>
          </a:p>
          <a:p>
            <a:pPr lvl="2"/>
            <a:r>
              <a:rPr lang="en-US" altLang="zh-CN" sz="1800" dirty="0"/>
              <a:t>…</a:t>
            </a:r>
          </a:p>
          <a:p>
            <a:pPr lvl="2"/>
            <a:r>
              <a:rPr lang="zh-CN" altLang="en-US" sz="1800" dirty="0"/>
              <a:t>第</a:t>
            </a:r>
            <a:r>
              <a:rPr lang="en-US" altLang="zh-CN" sz="1800" dirty="0"/>
              <a:t>n</a:t>
            </a:r>
            <a:r>
              <a:rPr lang="zh-CN" altLang="en-US" sz="1800" dirty="0"/>
              <a:t>轮，重复直到所有其他节点都已标记为止</a:t>
            </a:r>
            <a:endParaRPr lang="en-US" altLang="zh-CN" sz="1800" dirty="0"/>
          </a:p>
          <a:p>
            <a:pPr lvl="2"/>
            <a:r>
              <a:rPr lang="zh-CN" altLang="en-US" sz="1800" b="1" u="sng" dirty="0">
                <a:solidFill>
                  <a:srgbClr val="FF0000"/>
                </a:solidFill>
              </a:rPr>
              <a:t>标记节点集合</a:t>
            </a:r>
            <a:r>
              <a:rPr lang="zh-CN" altLang="en-US" sz="1800" dirty="0"/>
              <a:t>：已知到源的最短路径的节点的集合，初始仅仅包括源，每轮选择的节点加入到该标记节点集合</a:t>
            </a:r>
            <a:endParaRPr lang="en-US" altLang="zh-CN" dirty="0"/>
          </a:p>
          <a:p>
            <a:endParaRPr lang="zh-CN" altLang="en-US" sz="1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1D6A31E-3D26-0C74-DEBC-51DAC09A4C52}"/>
              </a:ext>
            </a:extLst>
          </p:cNvPr>
          <p:cNvGrpSpPr/>
          <p:nvPr/>
        </p:nvGrpSpPr>
        <p:grpSpPr>
          <a:xfrm>
            <a:off x="7908175" y="685391"/>
            <a:ext cx="3955212" cy="968109"/>
            <a:chOff x="6096000" y="927800"/>
            <a:chExt cx="3955212" cy="96810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7345D5F-B042-F46D-3024-559B291861F1}"/>
                </a:ext>
              </a:extLst>
            </p:cNvPr>
            <p:cNvGrpSpPr/>
            <p:nvPr/>
          </p:nvGrpSpPr>
          <p:grpSpPr>
            <a:xfrm>
              <a:off x="7764631" y="974805"/>
              <a:ext cx="501651" cy="400050"/>
              <a:chOff x="7184756" y="854078"/>
              <a:chExt cx="501651" cy="400050"/>
            </a:xfrm>
            <a:solidFill>
              <a:srgbClr val="FFC000"/>
            </a:solidFill>
          </p:grpSpPr>
          <p:sp>
            <p:nvSpPr>
              <p:cNvPr id="29" name="Oval 5">
                <a:extLst>
                  <a:ext uri="{FF2B5EF4-FFF2-40B4-BE49-F238E27FC236}">
                    <a16:creationId xmlns:a16="http://schemas.microsoft.com/office/drawing/2014/main" id="{27789EFD-5E9B-ED56-CBB9-B70CBF97B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42989"/>
                <a:ext cx="496888" cy="128588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30" name="Line 6">
                <a:extLst>
                  <a:ext uri="{FF2B5EF4-FFF2-40B4-BE49-F238E27FC236}">
                    <a16:creationId xmlns:a16="http://schemas.microsoft.com/office/drawing/2014/main" id="{2F2737C6-9F5E-6E34-0849-4A8545247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9519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31" name="Line 7">
                <a:extLst>
                  <a:ext uri="{FF2B5EF4-FFF2-40B4-BE49-F238E27FC236}">
                    <a16:creationId xmlns:a16="http://schemas.microsoft.com/office/drawing/2014/main" id="{D7EA1C61-B83E-D49D-5792-79C69A23B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6406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32" name="Rectangle 8">
                <a:extLst>
                  <a:ext uri="{FF2B5EF4-FFF2-40B4-BE49-F238E27FC236}">
                    <a16:creationId xmlns:a16="http://schemas.microsoft.com/office/drawing/2014/main" id="{1190D486-3F32-F8B3-A5E0-3CD04BC53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31877"/>
                <a:ext cx="492125" cy="77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33" name="Oval 9">
                <a:extLst>
                  <a:ext uri="{FF2B5EF4-FFF2-40B4-BE49-F238E27FC236}">
                    <a16:creationId xmlns:a16="http://schemas.microsoft.com/office/drawing/2014/main" id="{F5435EAA-6CCA-8EFE-60E9-5D2486E0D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4756" y="938214"/>
                <a:ext cx="496888" cy="150813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grpSp>
            <p:nvGrpSpPr>
              <p:cNvPr id="34" name="Group 39">
                <a:extLst>
                  <a:ext uri="{FF2B5EF4-FFF2-40B4-BE49-F238E27FC236}">
                    <a16:creationId xmlns:a16="http://schemas.microsoft.com/office/drawing/2014/main" id="{9E907D0A-4852-E5CE-F59D-1ECDADAC4A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53087" y="854078"/>
                <a:ext cx="371288" cy="400050"/>
                <a:chOff x="2941" y="2424"/>
                <a:chExt cx="237" cy="252"/>
              </a:xfrm>
              <a:grpFill/>
            </p:grpSpPr>
            <p:sp>
              <p:nvSpPr>
                <p:cNvPr id="35" name="Rectangle 40">
                  <a:extLst>
                    <a:ext uri="{FF2B5EF4-FFF2-40B4-BE49-F238E27FC236}">
                      <a16:creationId xmlns:a16="http://schemas.microsoft.com/office/drawing/2014/main" id="{15AF9376-E742-BCCE-112D-22B5650087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</a:endParaRPr>
                </a:p>
              </p:txBody>
            </p:sp>
            <p:sp>
              <p:nvSpPr>
                <p:cNvPr id="36" name="Text Box 41">
                  <a:extLst>
                    <a:ext uri="{FF2B5EF4-FFF2-40B4-BE49-F238E27FC236}">
                      <a16:creationId xmlns:a16="http://schemas.microsoft.com/office/drawing/2014/main" id="{5E135CB3-8009-C685-D96D-BC8C16E4A4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1" y="2424"/>
                  <a:ext cx="23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9E06C14-DAF5-C38D-80AF-14C7C93515F9}"/>
                </a:ext>
              </a:extLst>
            </p:cNvPr>
            <p:cNvGrpSpPr/>
            <p:nvPr/>
          </p:nvGrpSpPr>
          <p:grpSpPr>
            <a:xfrm>
              <a:off x="6096000" y="1006636"/>
              <a:ext cx="501651" cy="400050"/>
              <a:chOff x="7184756" y="854078"/>
              <a:chExt cx="501651" cy="400050"/>
            </a:xfrm>
            <a:solidFill>
              <a:srgbClr val="FFC000"/>
            </a:solidFill>
          </p:grpSpPr>
          <p:sp>
            <p:nvSpPr>
              <p:cNvPr id="21" name="Oval 5">
                <a:extLst>
                  <a:ext uri="{FF2B5EF4-FFF2-40B4-BE49-F238E27FC236}">
                    <a16:creationId xmlns:a16="http://schemas.microsoft.com/office/drawing/2014/main" id="{BA86EA3D-155A-225B-1124-741ABB2E9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42989"/>
                <a:ext cx="496888" cy="128588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22" name="Line 6">
                <a:extLst>
                  <a:ext uri="{FF2B5EF4-FFF2-40B4-BE49-F238E27FC236}">
                    <a16:creationId xmlns:a16="http://schemas.microsoft.com/office/drawing/2014/main" id="{60224274-065B-2840-D2DE-099170234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9519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23" name="Line 7">
                <a:extLst>
                  <a:ext uri="{FF2B5EF4-FFF2-40B4-BE49-F238E27FC236}">
                    <a16:creationId xmlns:a16="http://schemas.microsoft.com/office/drawing/2014/main" id="{9FE60B1C-BA99-1C8C-302E-425111582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6406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24" name="Rectangle 8">
                <a:extLst>
                  <a:ext uri="{FF2B5EF4-FFF2-40B4-BE49-F238E27FC236}">
                    <a16:creationId xmlns:a16="http://schemas.microsoft.com/office/drawing/2014/main" id="{E95728DD-65BC-B277-BA3E-89D56C7729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31877"/>
                <a:ext cx="492125" cy="77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25" name="Oval 9">
                <a:extLst>
                  <a:ext uri="{FF2B5EF4-FFF2-40B4-BE49-F238E27FC236}">
                    <a16:creationId xmlns:a16="http://schemas.microsoft.com/office/drawing/2014/main" id="{EF864B3B-948D-34E9-D752-6332D1B9C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4756" y="938214"/>
                <a:ext cx="496888" cy="150813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grpSp>
            <p:nvGrpSpPr>
              <p:cNvPr id="26" name="Group 39">
                <a:extLst>
                  <a:ext uri="{FF2B5EF4-FFF2-40B4-BE49-F238E27FC236}">
                    <a16:creationId xmlns:a16="http://schemas.microsoft.com/office/drawing/2014/main" id="{0BB49B25-E83A-558C-3C46-E32702E47D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59348" y="854078"/>
                <a:ext cx="357188" cy="400050"/>
                <a:chOff x="2945" y="2424"/>
                <a:chExt cx="228" cy="252"/>
              </a:xfrm>
              <a:grpFill/>
            </p:grpSpPr>
            <p:sp>
              <p:nvSpPr>
                <p:cNvPr id="27" name="Rectangle 40">
                  <a:extLst>
                    <a:ext uri="{FF2B5EF4-FFF2-40B4-BE49-F238E27FC236}">
                      <a16:creationId xmlns:a16="http://schemas.microsoft.com/office/drawing/2014/main" id="{CFC66F95-F6B6-6F7E-0883-697BB98B6A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</a:endParaRPr>
                </a:p>
              </p:txBody>
            </p:sp>
            <p:sp>
              <p:nvSpPr>
                <p:cNvPr id="28" name="Text Box 41">
                  <a:extLst>
                    <a:ext uri="{FF2B5EF4-FFF2-40B4-BE49-F238E27FC236}">
                      <a16:creationId xmlns:a16="http://schemas.microsoft.com/office/drawing/2014/main" id="{40D52919-E755-DF9A-8F5D-EDB9C93B7A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4"/>
                  <a:ext cx="22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78A1D509-E36E-049E-EA34-9D39693D47AA}"/>
                </a:ext>
              </a:extLst>
            </p:cNvPr>
            <p:cNvCxnSpPr>
              <a:stCxn id="28" idx="3"/>
            </p:cNvCxnSpPr>
            <p:nvPr/>
          </p:nvCxnSpPr>
          <p:spPr>
            <a:xfrm flipV="1">
              <a:off x="6527780" y="1184435"/>
              <a:ext cx="1253246" cy="22226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0066F53-EC3C-1750-B324-D8118BEFCA53}"/>
                </a:ext>
              </a:extLst>
            </p:cNvPr>
            <p:cNvGrpSpPr/>
            <p:nvPr/>
          </p:nvGrpSpPr>
          <p:grpSpPr>
            <a:xfrm>
              <a:off x="9549561" y="927800"/>
              <a:ext cx="501651" cy="400050"/>
              <a:chOff x="7184756" y="854078"/>
              <a:chExt cx="501651" cy="400050"/>
            </a:xfrm>
            <a:solidFill>
              <a:srgbClr val="FFC000"/>
            </a:solidFill>
          </p:grpSpPr>
          <p:sp>
            <p:nvSpPr>
              <p:cNvPr id="13" name="Oval 5">
                <a:extLst>
                  <a:ext uri="{FF2B5EF4-FFF2-40B4-BE49-F238E27FC236}">
                    <a16:creationId xmlns:a16="http://schemas.microsoft.com/office/drawing/2014/main" id="{8B3DEAEA-2488-C0E7-9ACC-0DA3208DA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42989"/>
                <a:ext cx="496888" cy="128588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14" name="Line 6">
                <a:extLst>
                  <a:ext uri="{FF2B5EF4-FFF2-40B4-BE49-F238E27FC236}">
                    <a16:creationId xmlns:a16="http://schemas.microsoft.com/office/drawing/2014/main" id="{88CE1DB1-EB3F-1768-BE54-A6F93EC78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9519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15" name="Line 7">
                <a:extLst>
                  <a:ext uri="{FF2B5EF4-FFF2-40B4-BE49-F238E27FC236}">
                    <a16:creationId xmlns:a16="http://schemas.microsoft.com/office/drawing/2014/main" id="{181A3273-F894-6705-B947-86C1862049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6406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16" name="Rectangle 8">
                <a:extLst>
                  <a:ext uri="{FF2B5EF4-FFF2-40B4-BE49-F238E27FC236}">
                    <a16:creationId xmlns:a16="http://schemas.microsoft.com/office/drawing/2014/main" id="{62C1CDD3-1110-C004-FAF3-DA28FA8F9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31877"/>
                <a:ext cx="492125" cy="77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17" name="Oval 9">
                <a:extLst>
                  <a:ext uri="{FF2B5EF4-FFF2-40B4-BE49-F238E27FC236}">
                    <a16:creationId xmlns:a16="http://schemas.microsoft.com/office/drawing/2014/main" id="{1B8459E9-E19B-0BC5-149B-E3DF6E7A2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4756" y="938214"/>
                <a:ext cx="496888" cy="150813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grpSp>
            <p:nvGrpSpPr>
              <p:cNvPr id="18" name="Group 39">
                <a:extLst>
                  <a:ext uri="{FF2B5EF4-FFF2-40B4-BE49-F238E27FC236}">
                    <a16:creationId xmlns:a16="http://schemas.microsoft.com/office/drawing/2014/main" id="{7AA136F3-D649-3B3E-4B7B-40016E043E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59348" y="854078"/>
                <a:ext cx="357188" cy="400050"/>
                <a:chOff x="2945" y="2424"/>
                <a:chExt cx="228" cy="252"/>
              </a:xfrm>
              <a:grpFill/>
            </p:grpSpPr>
            <p:sp>
              <p:nvSpPr>
                <p:cNvPr id="19" name="Rectangle 40">
                  <a:extLst>
                    <a:ext uri="{FF2B5EF4-FFF2-40B4-BE49-F238E27FC236}">
                      <a16:creationId xmlns:a16="http://schemas.microsoft.com/office/drawing/2014/main" id="{90808F47-B8D0-F515-C25B-BC856794E6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</a:endParaRPr>
                </a:p>
              </p:txBody>
            </p:sp>
            <p:sp>
              <p:nvSpPr>
                <p:cNvPr id="20" name="Text Box 41">
                  <a:extLst>
                    <a:ext uri="{FF2B5EF4-FFF2-40B4-BE49-F238E27FC236}">
                      <a16:creationId xmlns:a16="http://schemas.microsoft.com/office/drawing/2014/main" id="{E2C60A01-EB64-846D-AEA8-28E9DABA24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4"/>
                  <a:ext cx="22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A6865DBE-14C2-3232-835A-CE224C3B3970}"/>
                </a:ext>
              </a:extLst>
            </p:cNvPr>
            <p:cNvCxnSpPr/>
            <p:nvPr/>
          </p:nvCxnSpPr>
          <p:spPr>
            <a:xfrm flipV="1">
              <a:off x="8284978" y="1163170"/>
              <a:ext cx="1253246" cy="22226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8BBAF6E-D6EB-51FA-CC91-6527C6BC16C7}"/>
                </a:ext>
              </a:extLst>
            </p:cNvPr>
            <p:cNvSpPr txBox="1"/>
            <p:nvPr/>
          </p:nvSpPr>
          <p:spPr>
            <a:xfrm>
              <a:off x="7463840" y="152657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</a:rPr>
                <a:t>最优路由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CC3F9C1D-F780-56F1-BEAF-A6FFD1E4190E}"/>
                </a:ext>
              </a:extLst>
            </p:cNvPr>
            <p:cNvCxnSpPr/>
            <p:nvPr/>
          </p:nvCxnSpPr>
          <p:spPr>
            <a:xfrm flipH="1" flipV="1">
              <a:off x="7021902" y="1320961"/>
              <a:ext cx="742729" cy="205616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7240AC1D-8EFF-00BB-87CC-226E121D326D}"/>
                </a:ext>
              </a:extLst>
            </p:cNvPr>
            <p:cNvCxnSpPr/>
            <p:nvPr/>
          </p:nvCxnSpPr>
          <p:spPr>
            <a:xfrm flipV="1">
              <a:off x="8393061" y="1215153"/>
              <a:ext cx="472698" cy="33270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41696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2078A-6FD0-FFF3-B73F-7043B306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1B11A63-8F44-0B88-E655-7E31AD770D83}"/>
              </a:ext>
            </a:extLst>
          </p:cNvPr>
          <p:cNvGrpSpPr/>
          <p:nvPr/>
        </p:nvGrpSpPr>
        <p:grpSpPr>
          <a:xfrm>
            <a:off x="143933" y="1136789"/>
            <a:ext cx="10868076" cy="5385573"/>
            <a:chOff x="250371" y="1206639"/>
            <a:chExt cx="10868076" cy="5385573"/>
          </a:xfrm>
        </p:grpSpPr>
        <p:grpSp>
          <p:nvGrpSpPr>
            <p:cNvPr id="4" name="Group 11">
              <a:extLst>
                <a:ext uri="{FF2B5EF4-FFF2-40B4-BE49-F238E27FC236}">
                  <a16:creationId xmlns:a16="http://schemas.microsoft.com/office/drawing/2014/main" id="{D673E7D2-167F-185C-0E88-179A294CD60B}"/>
                </a:ext>
              </a:extLst>
            </p:cNvPr>
            <p:cNvGrpSpPr/>
            <p:nvPr/>
          </p:nvGrpSpPr>
          <p:grpSpPr>
            <a:xfrm>
              <a:off x="250371" y="3624040"/>
              <a:ext cx="1669144" cy="2786743"/>
              <a:chOff x="391885" y="3599543"/>
              <a:chExt cx="1669144" cy="2786743"/>
            </a:xfrm>
          </p:grpSpPr>
          <p:sp>
            <p:nvSpPr>
              <p:cNvPr id="5" name="Oval 3">
                <a:extLst>
                  <a:ext uri="{FF2B5EF4-FFF2-40B4-BE49-F238E27FC236}">
                    <a16:creationId xmlns:a16="http://schemas.microsoft.com/office/drawing/2014/main" id="{C2BEA646-297F-A193-3877-CD0804E8A1CA}"/>
                  </a:ext>
                </a:extLst>
              </p:cNvPr>
              <p:cNvSpPr/>
              <p:nvPr/>
            </p:nvSpPr>
            <p:spPr>
              <a:xfrm>
                <a:off x="391885" y="3599543"/>
                <a:ext cx="1480458" cy="2786743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D888CB6A-2050-0B16-1631-60D80B44DDDD}"/>
                  </a:ext>
                </a:extLst>
              </p:cNvPr>
              <p:cNvSpPr/>
              <p:nvPr/>
            </p:nvSpPr>
            <p:spPr>
              <a:xfrm>
                <a:off x="1161143" y="3715658"/>
                <a:ext cx="899886" cy="25835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" name="Straight Arrow Connector 9">
                <a:extLst>
                  <a:ext uri="{FF2B5EF4-FFF2-40B4-BE49-F238E27FC236}">
                    <a16:creationId xmlns:a16="http://schemas.microsoft.com/office/drawing/2014/main" id="{0B5E0A04-BF4D-3164-4D5F-7BDBCBCF9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7950" y="3679825"/>
                <a:ext cx="144237" cy="107497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6B6E4D7D-9F3B-93B6-DF8A-7138D015E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9212" y="1206639"/>
              <a:ext cx="9799235" cy="2419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000" dirty="0">
                  <a:latin typeface="+mn-lt"/>
                </a:rPr>
                <a:t>1  </a:t>
              </a:r>
              <a:r>
                <a:rPr lang="en-US" i="1" dirty="0">
                  <a:solidFill>
                    <a:srgbClr val="0000A8"/>
                  </a:solidFill>
                  <a:latin typeface="+mn-lt"/>
                </a:rPr>
                <a:t>Initialization:</a:t>
              </a:r>
              <a:r>
                <a:rPr lang="en-US" dirty="0">
                  <a:solidFill>
                    <a:srgbClr val="0000A8"/>
                  </a:solidFill>
                  <a:latin typeface="+mn-lt"/>
                </a:rPr>
                <a:t> </a:t>
              </a: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+mn-lt"/>
                </a:rPr>
                <a:t>2   </a:t>
              </a:r>
              <a:r>
                <a:rPr lang="en-US" i="1" dirty="0">
                  <a:latin typeface="+mn-lt"/>
                </a:rPr>
                <a:t> N</a:t>
              </a:r>
              <a:r>
                <a:rPr lang="en-US" i="1" dirty="0">
                  <a:latin typeface="+mn-lt"/>
                  <a:cs typeface="Arial" charset="0"/>
                </a:rPr>
                <a:t>'</a:t>
              </a:r>
              <a:r>
                <a:rPr lang="en-US" i="1" dirty="0">
                  <a:latin typeface="+mn-lt"/>
                </a:rPr>
                <a:t> </a:t>
              </a:r>
              <a:r>
                <a:rPr lang="en-US" dirty="0">
                  <a:latin typeface="+mn-lt"/>
                </a:rPr>
                <a:t>= {</a:t>
              </a:r>
              <a:r>
                <a:rPr lang="en-US" i="1" dirty="0">
                  <a:latin typeface="+mn-lt"/>
                </a:rPr>
                <a:t>u</a:t>
              </a:r>
              <a:r>
                <a:rPr lang="en-US" dirty="0">
                  <a:latin typeface="+mn-lt"/>
                </a:rPr>
                <a:t>} </a:t>
              </a: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+mn-lt"/>
                </a:rPr>
                <a:t>3    for all nodes </a:t>
              </a:r>
              <a:r>
                <a:rPr lang="en-US" i="1" dirty="0">
                  <a:latin typeface="+mn-lt"/>
                </a:rPr>
                <a:t>v</a:t>
              </a:r>
              <a:endParaRPr lang="en-US" dirty="0">
                <a:latin typeface="+mn-lt"/>
              </a:endParaRP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+mn-lt"/>
                </a:rPr>
                <a:t>4      if </a:t>
              </a:r>
              <a:r>
                <a:rPr lang="en-US" i="1" dirty="0">
                  <a:latin typeface="+mn-lt"/>
                </a:rPr>
                <a:t>v is a neighbor of u</a:t>
              </a:r>
              <a:endParaRPr lang="en-US" dirty="0">
                <a:latin typeface="+mn-lt"/>
              </a:endParaRP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+mn-lt"/>
                </a:rPr>
                <a:t>5          then </a:t>
              </a:r>
              <a:r>
                <a:rPr lang="en-US" i="1" dirty="0">
                  <a:latin typeface="+mn-lt"/>
                </a:rPr>
                <a:t>D(v) = </a:t>
              </a:r>
              <a:r>
                <a:rPr lang="en-US" i="1" dirty="0" err="1">
                  <a:latin typeface="+mn-lt"/>
                </a:rPr>
                <a:t>c</a:t>
              </a:r>
              <a:r>
                <a:rPr lang="en-US" i="1" baseline="-25000" dirty="0" err="1">
                  <a:latin typeface="+mn-lt"/>
                </a:rPr>
                <a:t>u,v</a:t>
              </a:r>
              <a:r>
                <a:rPr lang="en-US" i="1" baseline="-25000" dirty="0">
                  <a:latin typeface="+mn-lt"/>
                </a:rPr>
                <a:t>  </a:t>
              </a:r>
              <a:r>
                <a:rPr lang="en-US" i="1" dirty="0">
                  <a:latin typeface="+mn-lt"/>
                </a:rPr>
                <a:t>         </a:t>
              </a:r>
              <a:r>
                <a:rPr lang="en-US" altLang="zh-CN" i="1" dirty="0">
                  <a:latin typeface="+mn-lt"/>
                </a:rPr>
                <a:t>  </a:t>
              </a:r>
              <a:r>
                <a:rPr lang="en-US" altLang="zh-CN" i="1" dirty="0">
                  <a:solidFill>
                    <a:schemeClr val="accent5"/>
                  </a:solidFill>
                  <a:latin typeface="+mn-lt"/>
                </a:rPr>
                <a:t>p(v) = u</a:t>
              </a:r>
              <a:endParaRPr lang="en-US" i="1" dirty="0">
                <a:solidFill>
                  <a:schemeClr val="accent5"/>
                </a:solidFill>
                <a:latin typeface="+mn-lt"/>
              </a:endParaRP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+mn-lt"/>
                </a:rPr>
                <a:t>6      else </a:t>
              </a:r>
              <a:r>
                <a:rPr lang="en-US" i="1" dirty="0">
                  <a:latin typeface="+mn-lt"/>
                </a:rPr>
                <a:t>D(v) </a:t>
              </a:r>
              <a:r>
                <a:rPr lang="en-US" dirty="0">
                  <a:latin typeface="+mn-lt"/>
                </a:rPr>
                <a:t>= </a:t>
              </a:r>
              <a:r>
                <a:rPr lang="en-US" dirty="0">
                  <a:latin typeface="+mn-lt"/>
                  <a:cs typeface="Arial" charset="0"/>
                </a:rPr>
                <a:t>∞</a:t>
              </a:r>
              <a:r>
                <a:rPr lang="en-US" dirty="0">
                  <a:latin typeface="+mn-lt"/>
                </a:rPr>
                <a:t> </a:t>
              </a: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+mn-lt"/>
                </a:rPr>
                <a:t>7 </a:t>
              </a:r>
            </a:p>
          </p:txBody>
        </p:sp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62A604BF-BB83-493F-5362-B7D59F2FF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0984" y="3175892"/>
              <a:ext cx="3075073" cy="3416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endParaRPr lang="en-US" dirty="0">
                <a:latin typeface="+mn-lt"/>
              </a:endParaRPr>
            </a:p>
            <a:p>
              <a:r>
                <a:rPr lang="en-US" dirty="0">
                  <a:solidFill>
                    <a:srgbClr val="0000A8"/>
                  </a:solidFill>
                  <a:latin typeface="+mn-lt"/>
                </a:rPr>
                <a:t>8   </a:t>
              </a:r>
              <a:r>
                <a:rPr lang="en-US" i="1" dirty="0">
                  <a:solidFill>
                    <a:srgbClr val="0000A8"/>
                  </a:solidFill>
                  <a:latin typeface="+mn-lt"/>
                </a:rPr>
                <a:t>Loop </a:t>
              </a:r>
              <a:endParaRPr lang="en-US" dirty="0">
                <a:solidFill>
                  <a:srgbClr val="0000A8"/>
                </a:solidFill>
                <a:latin typeface="+mn-lt"/>
              </a:endParaRPr>
            </a:p>
            <a:p>
              <a:r>
                <a:rPr lang="en-US" dirty="0">
                  <a:latin typeface="+mn-lt"/>
                </a:rPr>
                <a:t>9     </a:t>
              </a:r>
            </a:p>
            <a:p>
              <a:r>
                <a:rPr lang="en-US" dirty="0">
                  <a:latin typeface="+mn-lt"/>
                </a:rPr>
                <a:t>10    </a:t>
              </a:r>
            </a:p>
            <a:p>
              <a:r>
                <a:rPr lang="en-US" dirty="0">
                  <a:latin typeface="+mn-lt"/>
                </a:rPr>
                <a:t>11</a:t>
              </a:r>
            </a:p>
            <a:p>
              <a:r>
                <a:rPr lang="en-US" dirty="0">
                  <a:latin typeface="+mn-lt"/>
                </a:rPr>
                <a:t>12</a:t>
              </a:r>
              <a:endParaRPr lang="en-US" b="1" dirty="0">
                <a:solidFill>
                  <a:srgbClr val="CC0000"/>
                </a:solidFill>
                <a:latin typeface="+mn-lt"/>
              </a:endParaRPr>
            </a:p>
            <a:p>
              <a:r>
                <a:rPr lang="en-US" dirty="0">
                  <a:latin typeface="+mn-lt"/>
                </a:rPr>
                <a:t>13</a:t>
              </a:r>
            </a:p>
            <a:p>
              <a:r>
                <a:rPr lang="en-US" dirty="0">
                  <a:latin typeface="+mn-lt"/>
                </a:rPr>
                <a:t>14</a:t>
              </a:r>
            </a:p>
            <a:p>
              <a:r>
                <a:rPr lang="en-US" b="1" dirty="0">
                  <a:solidFill>
                    <a:srgbClr val="0000A8"/>
                  </a:solidFill>
                  <a:latin typeface="+mn-lt"/>
                </a:rPr>
                <a:t>15  </a:t>
              </a:r>
              <a:r>
                <a:rPr lang="en-US" i="1" dirty="0">
                  <a:solidFill>
                    <a:srgbClr val="0000A8"/>
                  </a:solidFill>
                  <a:latin typeface="+mn-lt"/>
                </a:rPr>
                <a:t>until all nodes in N</a:t>
              </a:r>
              <a:r>
                <a:rPr lang="en-US" i="1" dirty="0">
                  <a:solidFill>
                    <a:srgbClr val="0000A8"/>
                  </a:solidFill>
                  <a:latin typeface="+mn-lt"/>
                  <a:cs typeface="Arial" charset="0"/>
                </a:rPr>
                <a:t>'</a:t>
              </a:r>
              <a:r>
                <a:rPr lang="en-US" dirty="0">
                  <a:solidFill>
                    <a:srgbClr val="0000A8"/>
                  </a:solidFill>
                  <a:latin typeface="+mn-lt"/>
                </a:rPr>
                <a:t> </a:t>
              </a:r>
            </a:p>
          </p:txBody>
        </p:sp>
        <p:sp>
          <p:nvSpPr>
            <p:cNvPr id="10" name="Text Box 3">
              <a:extLst>
                <a:ext uri="{FF2B5EF4-FFF2-40B4-BE49-F238E27FC236}">
                  <a16:creationId xmlns:a16="http://schemas.microsoft.com/office/drawing/2014/main" id="{BDDDD197-120D-2F68-B479-3AC980C96B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812" y="3527884"/>
              <a:ext cx="8882432" cy="2780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endParaRPr lang="en-US" dirty="0">
                <a:latin typeface="+mn-lt"/>
              </a:endParaRPr>
            </a:p>
            <a:p>
              <a:r>
                <a:rPr lang="en-US" dirty="0">
                  <a:latin typeface="+mn-lt"/>
                </a:rPr>
                <a:t>find </a:t>
              </a:r>
              <a:r>
                <a:rPr lang="en-US" i="1" dirty="0">
                  <a:latin typeface="+mn-lt"/>
                </a:rPr>
                <a:t>w</a:t>
              </a:r>
              <a:r>
                <a:rPr lang="en-US" dirty="0">
                  <a:latin typeface="+mn-lt"/>
                </a:rPr>
                <a:t> not in </a:t>
              </a:r>
              <a:r>
                <a:rPr lang="en-US" i="1" dirty="0">
                  <a:latin typeface="+mn-lt"/>
                </a:rPr>
                <a:t>N</a:t>
              </a:r>
              <a:r>
                <a:rPr lang="en-US" i="1" dirty="0">
                  <a:latin typeface="+mn-lt"/>
                  <a:cs typeface="Arial" charset="0"/>
                </a:rPr>
                <a:t>'</a:t>
              </a:r>
              <a:r>
                <a:rPr lang="en-US" i="1" dirty="0">
                  <a:latin typeface="+mn-lt"/>
                </a:rPr>
                <a:t> </a:t>
              </a:r>
              <a:r>
                <a:rPr lang="en-US" dirty="0">
                  <a:latin typeface="+mn-lt"/>
                </a:rPr>
                <a:t>such that </a:t>
              </a:r>
              <a:r>
                <a:rPr lang="en-US" i="1" dirty="0">
                  <a:latin typeface="+mn-lt"/>
                </a:rPr>
                <a:t>D(w) </a:t>
              </a:r>
              <a:r>
                <a:rPr lang="en-US" dirty="0">
                  <a:latin typeface="+mn-lt"/>
                </a:rPr>
                <a:t>is a minimum </a:t>
              </a:r>
            </a:p>
            <a:p>
              <a:r>
                <a:rPr lang="en-US" dirty="0">
                  <a:latin typeface="+mn-lt"/>
                </a:rPr>
                <a:t>add </a:t>
              </a:r>
              <a:r>
                <a:rPr lang="en-US" i="1" dirty="0">
                  <a:latin typeface="+mn-lt"/>
                </a:rPr>
                <a:t>w</a:t>
              </a:r>
              <a:r>
                <a:rPr lang="en-US" dirty="0">
                  <a:latin typeface="+mn-lt"/>
                </a:rPr>
                <a:t> to </a:t>
              </a:r>
              <a:r>
                <a:rPr lang="en-US" i="1" dirty="0">
                  <a:latin typeface="+mn-lt"/>
                </a:rPr>
                <a:t>N</a:t>
              </a:r>
              <a:r>
                <a:rPr lang="en-US" i="1" dirty="0">
                  <a:latin typeface="+mn-lt"/>
                  <a:cs typeface="Arial" charset="0"/>
                </a:rPr>
                <a:t>'</a:t>
              </a:r>
              <a:r>
                <a:rPr lang="en-US" i="1" dirty="0">
                  <a:latin typeface="+mn-lt"/>
                </a:rPr>
                <a:t> </a:t>
              </a:r>
            </a:p>
            <a:p>
              <a:r>
                <a:rPr lang="en-US" dirty="0">
                  <a:latin typeface="+mn-lt"/>
                </a:rPr>
                <a:t>update </a:t>
              </a:r>
              <a:r>
                <a:rPr lang="en-US" i="1" dirty="0">
                  <a:latin typeface="+mn-lt"/>
                </a:rPr>
                <a:t>D(v) </a:t>
              </a:r>
              <a:r>
                <a:rPr lang="en-US" dirty="0">
                  <a:latin typeface="+mn-lt"/>
                </a:rPr>
                <a:t>for all</a:t>
              </a:r>
              <a:r>
                <a:rPr lang="en-US" i="1" dirty="0">
                  <a:latin typeface="+mn-lt"/>
                </a:rPr>
                <a:t> v </a:t>
              </a:r>
              <a:r>
                <a:rPr lang="en-US" dirty="0">
                  <a:latin typeface="+mn-lt"/>
                </a:rPr>
                <a:t>adjacent to </a:t>
              </a:r>
              <a:r>
                <a:rPr lang="en-US" i="1" dirty="0">
                  <a:latin typeface="+mn-lt"/>
                </a:rPr>
                <a:t>w</a:t>
              </a:r>
              <a:r>
                <a:rPr lang="en-US" dirty="0">
                  <a:latin typeface="+mn-lt"/>
                </a:rPr>
                <a:t> and not in </a:t>
              </a:r>
              <a:r>
                <a:rPr lang="en-US" i="1" dirty="0">
                  <a:latin typeface="+mn-lt"/>
                </a:rPr>
                <a:t>N</a:t>
              </a:r>
              <a:r>
                <a:rPr lang="en-US" i="1" dirty="0">
                  <a:latin typeface="+mn-lt"/>
                  <a:cs typeface="Arial" charset="0"/>
                </a:rPr>
                <a:t>'</a:t>
              </a:r>
              <a:r>
                <a:rPr lang="en-US" i="1" dirty="0">
                  <a:latin typeface="+mn-lt"/>
                </a:rPr>
                <a:t> </a:t>
              </a:r>
              <a:r>
                <a:rPr lang="en-US" dirty="0">
                  <a:latin typeface="+mn-lt"/>
                </a:rPr>
                <a:t>: </a:t>
              </a:r>
            </a:p>
            <a:p>
              <a:r>
                <a:rPr lang="en-US" b="1" i="1" dirty="0">
                  <a:solidFill>
                    <a:srgbClr val="CC0000"/>
                  </a:solidFill>
                  <a:latin typeface="+mn-lt"/>
                </a:rPr>
                <a:t>     D(v) = </a:t>
              </a:r>
              <a:r>
                <a:rPr lang="en-US" b="1" dirty="0">
                  <a:solidFill>
                    <a:srgbClr val="CC0000"/>
                  </a:solidFill>
                  <a:latin typeface="+mn-lt"/>
                </a:rPr>
                <a:t>min</a:t>
              </a:r>
              <a:r>
                <a:rPr lang="en-US" b="1" i="1" dirty="0">
                  <a:solidFill>
                    <a:srgbClr val="CC0000"/>
                  </a:solidFill>
                  <a:latin typeface="+mn-lt"/>
                </a:rPr>
                <a:t> </a:t>
              </a:r>
              <a:r>
                <a:rPr lang="en-US" b="1" dirty="0">
                  <a:solidFill>
                    <a:srgbClr val="CC0000"/>
                  </a:solidFill>
                  <a:latin typeface="+mn-lt"/>
                </a:rPr>
                <a:t>(</a:t>
              </a:r>
              <a:r>
                <a:rPr lang="en-US" b="1" i="1" dirty="0">
                  <a:solidFill>
                    <a:srgbClr val="CC0000"/>
                  </a:solidFill>
                  <a:latin typeface="+mn-lt"/>
                </a:rPr>
                <a:t>D(v),  D(w) + c</a:t>
              </a:r>
              <a:r>
                <a:rPr lang="en-US" b="1" i="1" baseline="-25000" dirty="0">
                  <a:solidFill>
                    <a:srgbClr val="CC0000"/>
                  </a:solidFill>
                  <a:latin typeface="+mn-lt"/>
                </a:rPr>
                <a:t>w,v  </a:t>
              </a:r>
              <a:r>
                <a:rPr lang="en-US" b="1" dirty="0">
                  <a:solidFill>
                    <a:srgbClr val="CC0000"/>
                  </a:solidFill>
                  <a:latin typeface="+mn-lt"/>
                </a:rPr>
                <a:t>)</a:t>
              </a:r>
              <a:r>
                <a:rPr lang="en-US" b="1" i="1" dirty="0">
                  <a:solidFill>
                    <a:srgbClr val="CC0000"/>
                  </a:solidFill>
                  <a:latin typeface="+mn-lt"/>
                </a:rPr>
                <a:t>           </a:t>
              </a:r>
              <a:r>
                <a:rPr lang="en-US" altLang="zh-CN" i="1" dirty="0">
                  <a:solidFill>
                    <a:schemeClr val="accent5"/>
                  </a:solidFill>
                </a:rPr>
                <a:t>p(v) = w if  D(w) + </a:t>
              </a:r>
              <a:r>
                <a:rPr lang="en-US" altLang="zh-CN" b="1" i="1" dirty="0" err="1">
                  <a:solidFill>
                    <a:schemeClr val="accent5"/>
                  </a:solidFill>
                </a:rPr>
                <a:t>c</a:t>
              </a:r>
              <a:r>
                <a:rPr lang="en-US" altLang="zh-CN" b="1" i="1" baseline="-25000" dirty="0" err="1">
                  <a:solidFill>
                    <a:schemeClr val="accent5"/>
                  </a:solidFill>
                </a:rPr>
                <a:t>w,v</a:t>
              </a:r>
              <a:r>
                <a:rPr lang="en-US" altLang="zh-CN" i="1" dirty="0">
                  <a:solidFill>
                    <a:schemeClr val="accent5"/>
                  </a:solidFill>
                </a:rPr>
                <a:t> &lt; D(v)</a:t>
              </a:r>
              <a:endParaRPr lang="en-US" i="1" dirty="0">
                <a:solidFill>
                  <a:schemeClr val="accent5"/>
                </a:solidFill>
              </a:endParaRPr>
            </a:p>
            <a:p>
              <a:pPr>
                <a:spcBef>
                  <a:spcPts val="400"/>
                </a:spcBef>
              </a:pPr>
              <a:r>
                <a:rPr lang="en-US" dirty="0">
                  <a:latin typeface="+mn-lt"/>
                </a:rPr>
                <a:t>/* new least-path-cost to </a:t>
              </a:r>
              <a:r>
                <a:rPr lang="en-US" i="1" dirty="0">
                  <a:latin typeface="+mn-lt"/>
                </a:rPr>
                <a:t>v </a:t>
              </a:r>
              <a:r>
                <a:rPr lang="en-US" dirty="0">
                  <a:latin typeface="+mn-lt"/>
                </a:rPr>
                <a:t>is either old least-cost-path to</a:t>
              </a:r>
              <a:r>
                <a:rPr lang="en-US" i="1" dirty="0">
                  <a:latin typeface="+mn-lt"/>
                </a:rPr>
                <a:t> v </a:t>
              </a:r>
              <a:r>
                <a:rPr lang="en-US" dirty="0">
                  <a:latin typeface="+mn-lt"/>
                </a:rPr>
                <a:t>or known </a:t>
              </a:r>
            </a:p>
            <a:p>
              <a:pPr>
                <a:spcBef>
                  <a:spcPts val="400"/>
                </a:spcBef>
              </a:pPr>
              <a:r>
                <a:rPr lang="en-US" dirty="0">
                  <a:latin typeface="+mn-lt"/>
                </a:rPr>
                <a:t>least-cost-path to </a:t>
              </a:r>
              <a:r>
                <a:rPr lang="en-US" i="1" dirty="0">
                  <a:latin typeface="+mn-lt"/>
                </a:rPr>
                <a:t>w</a:t>
              </a:r>
              <a:r>
                <a:rPr lang="en-US" dirty="0">
                  <a:latin typeface="+mn-lt"/>
                </a:rPr>
                <a:t> plus direct-cost from </a:t>
              </a:r>
              <a:r>
                <a:rPr lang="en-US" i="1" dirty="0">
                  <a:latin typeface="+mn-lt"/>
                </a:rPr>
                <a:t>w</a:t>
              </a:r>
              <a:r>
                <a:rPr lang="en-US" dirty="0">
                  <a:latin typeface="+mn-lt"/>
                </a:rPr>
                <a:t> to </a:t>
              </a:r>
              <a:r>
                <a:rPr lang="en-US" i="1" dirty="0">
                  <a:latin typeface="+mn-lt"/>
                </a:rPr>
                <a:t>v</a:t>
              </a:r>
              <a:r>
                <a:rPr lang="en-US" dirty="0">
                  <a:latin typeface="+mn-lt"/>
                </a:rPr>
                <a:t> */ 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1ED5015-7793-AA38-2FD7-1C7B42D1B9B5}"/>
              </a:ext>
            </a:extLst>
          </p:cNvPr>
          <p:cNvGrpSpPr/>
          <p:nvPr/>
        </p:nvGrpSpPr>
        <p:grpSpPr>
          <a:xfrm>
            <a:off x="5901267" y="-50577"/>
            <a:ext cx="5973769" cy="2188611"/>
            <a:chOff x="5986003" y="-86409"/>
            <a:chExt cx="5973769" cy="2188611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467F46E4-EDC1-0F8B-383F-96D320112F6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86003" y="502496"/>
              <a:ext cx="5973768" cy="1561406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100000"/>
                </a:lnSpc>
                <a:spcBef>
                  <a:spcPts val="600"/>
                </a:spcBef>
              </a:pPr>
              <a:r>
                <a:rPr lang="en-US" sz="2000" i="1" dirty="0">
                  <a:solidFill>
                    <a:srgbClr val="000099"/>
                  </a:solidFill>
                </a:rPr>
                <a:t>c</a:t>
              </a:r>
              <a:r>
                <a:rPr lang="en-US" sz="2000" i="1" baseline="-25000" dirty="0">
                  <a:solidFill>
                    <a:srgbClr val="000099"/>
                  </a:solidFill>
                </a:rPr>
                <a:t>x,y</a:t>
              </a:r>
              <a:r>
                <a:rPr lang="en-US" sz="2000" i="1" dirty="0">
                  <a:solidFill>
                    <a:srgbClr val="000099"/>
                  </a:solidFill>
                </a:rPr>
                <a:t>:</a:t>
              </a:r>
              <a:r>
                <a:rPr lang="en-US" sz="2000" i="1" dirty="0"/>
                <a:t>  </a:t>
              </a:r>
              <a:r>
                <a:rPr lang="en-US" altLang="zh-CN" sz="2000" dirty="0"/>
                <a:t>x</a:t>
              </a:r>
              <a:r>
                <a:rPr lang="zh-CN" altLang="en-US" sz="2000" dirty="0"/>
                <a:t>与</a:t>
              </a:r>
              <a:r>
                <a:rPr lang="en-US" altLang="zh-CN" sz="2000" dirty="0"/>
                <a:t>y</a:t>
              </a:r>
              <a:r>
                <a:rPr lang="zh-CN" altLang="en-US" sz="2000" dirty="0"/>
                <a:t>之间的链路花费，如果非邻居，则为</a:t>
              </a:r>
              <a:r>
                <a:rPr lang="en-US" sz="2000" dirty="0"/>
                <a:t> ∞</a:t>
              </a:r>
            </a:p>
            <a:p>
              <a:pPr marL="403225" indent="-273050">
                <a:lnSpc>
                  <a:spcPct val="100000"/>
                </a:lnSpc>
                <a:spcBef>
                  <a:spcPts val="600"/>
                </a:spcBef>
              </a:pPr>
              <a:r>
                <a:rPr lang="en-US" sz="2000" i="1" dirty="0">
                  <a:solidFill>
                    <a:srgbClr val="000099"/>
                  </a:solidFill>
                </a:rPr>
                <a:t>D(v):</a:t>
              </a:r>
              <a:r>
                <a:rPr lang="en-US" sz="2000" i="1" dirty="0"/>
                <a:t> </a:t>
              </a:r>
              <a:r>
                <a:rPr lang="zh-CN" altLang="en-US" sz="2000" dirty="0"/>
                <a:t>当前估计的从源到</a:t>
              </a:r>
              <a:r>
                <a:rPr lang="en-US" altLang="zh-CN" sz="2000" dirty="0"/>
                <a:t>v</a:t>
              </a:r>
              <a:r>
                <a:rPr lang="zh-CN" altLang="en-US" sz="2000" dirty="0"/>
                <a:t>的最小路径花费</a:t>
              </a:r>
              <a:endParaRPr lang="en-US" sz="2000" dirty="0"/>
            </a:p>
            <a:p>
              <a:pPr marL="403225" indent="-273050">
                <a:lnSpc>
                  <a:spcPct val="100000"/>
                </a:lnSpc>
                <a:spcBef>
                  <a:spcPts val="600"/>
                </a:spcBef>
              </a:pPr>
              <a:r>
                <a:rPr lang="en-US" sz="2000" i="1" dirty="0">
                  <a:solidFill>
                    <a:srgbClr val="000099"/>
                  </a:solidFill>
                </a:rPr>
                <a:t>p(v):</a:t>
              </a:r>
              <a:r>
                <a:rPr lang="en-US" sz="2000" i="1" dirty="0"/>
                <a:t> </a:t>
              </a:r>
              <a:r>
                <a:rPr lang="zh-CN" altLang="en-US" sz="2000" dirty="0"/>
                <a:t>从源到</a:t>
              </a:r>
              <a:r>
                <a:rPr lang="en-US" altLang="zh-CN" sz="2000" dirty="0"/>
                <a:t>v</a:t>
              </a:r>
              <a:r>
                <a:rPr lang="zh-CN" altLang="en-US" sz="2000" dirty="0"/>
                <a:t>的路径中</a:t>
              </a:r>
              <a:r>
                <a:rPr lang="en-US" altLang="zh-CN" sz="2000" dirty="0"/>
                <a:t>v</a:t>
              </a:r>
              <a:r>
                <a:rPr lang="zh-CN" altLang="en-US" sz="2000" dirty="0"/>
                <a:t>的前一跳节点</a:t>
              </a:r>
              <a:endParaRPr lang="en-US" sz="2000" dirty="0"/>
            </a:p>
            <a:p>
              <a:pPr marL="403225" indent="-273050">
                <a:lnSpc>
                  <a:spcPct val="100000"/>
                </a:lnSpc>
                <a:spcBef>
                  <a:spcPts val="600"/>
                </a:spcBef>
              </a:pPr>
              <a:r>
                <a:rPr lang="en-US" sz="2000" i="1" dirty="0">
                  <a:solidFill>
                    <a:srgbClr val="000099"/>
                  </a:solidFill>
                </a:rPr>
                <a:t>N</a:t>
              </a:r>
              <a:r>
                <a:rPr lang="en-US" sz="2000" i="1" dirty="0">
                  <a:solidFill>
                    <a:srgbClr val="000099"/>
                  </a:solidFill>
                  <a:cs typeface="Arial" charset="0"/>
                </a:rPr>
                <a:t>'</a:t>
              </a:r>
              <a:r>
                <a:rPr lang="en-US" sz="2000" i="1" dirty="0">
                  <a:solidFill>
                    <a:srgbClr val="000099"/>
                  </a:solidFill>
                </a:rPr>
                <a:t>:</a:t>
              </a:r>
              <a:r>
                <a:rPr lang="en-US" sz="2000" i="1" dirty="0"/>
                <a:t> </a:t>
              </a:r>
              <a:r>
                <a:rPr lang="zh-CN" altLang="en-US" sz="2000" dirty="0"/>
                <a:t>已经知道最小路径花费的节点集合</a:t>
              </a:r>
              <a:endParaRPr lang="en-US" sz="2000" dirty="0"/>
            </a:p>
            <a:p>
              <a:pPr>
                <a:lnSpc>
                  <a:spcPct val="100000"/>
                </a:lnSpc>
              </a:pPr>
              <a:endParaRPr lang="en-US" sz="2000" dirty="0">
                <a:latin typeface="Gill Sans MT" charset="0"/>
              </a:endParaRPr>
            </a:p>
          </p:txBody>
        </p:sp>
        <p:sp>
          <p:nvSpPr>
            <p:cNvPr id="21" name="Rectangle 1">
              <a:extLst>
                <a:ext uri="{FF2B5EF4-FFF2-40B4-BE49-F238E27FC236}">
                  <a16:creationId xmlns:a16="http://schemas.microsoft.com/office/drawing/2014/main" id="{24EDBDAF-B902-7022-395B-FBBA076B6DAC}"/>
                </a:ext>
              </a:extLst>
            </p:cNvPr>
            <p:cNvSpPr/>
            <p:nvPr/>
          </p:nvSpPr>
          <p:spPr>
            <a:xfrm>
              <a:off x="6121474" y="220135"/>
              <a:ext cx="5838298" cy="1882067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">
              <a:extLst>
                <a:ext uri="{FF2B5EF4-FFF2-40B4-BE49-F238E27FC236}">
                  <a16:creationId xmlns:a16="http://schemas.microsoft.com/office/drawing/2014/main" id="{7DBE7336-B51A-8C27-71E4-F92E78B336FC}"/>
                </a:ext>
              </a:extLst>
            </p:cNvPr>
            <p:cNvSpPr txBox="1"/>
            <p:nvPr/>
          </p:nvSpPr>
          <p:spPr>
            <a:xfrm>
              <a:off x="6482584" y="-86409"/>
              <a:ext cx="160896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0000"/>
                  </a:solidFill>
                </a:rPr>
                <a:t>notation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78CA1C3-EDBA-1CE3-A300-D74BD75D6400}"/>
              </a:ext>
            </a:extLst>
          </p:cNvPr>
          <p:cNvGrpSpPr/>
          <p:nvPr/>
        </p:nvGrpSpPr>
        <p:grpSpPr>
          <a:xfrm>
            <a:off x="7779084" y="2315310"/>
            <a:ext cx="4323538" cy="2174962"/>
            <a:chOff x="7812221" y="578074"/>
            <a:chExt cx="4323538" cy="2174962"/>
          </a:xfrm>
        </p:grpSpPr>
        <p:sp>
          <p:nvSpPr>
            <p:cNvPr id="25" name="Freeform 41">
              <a:extLst>
                <a:ext uri="{FF2B5EF4-FFF2-40B4-BE49-F238E27FC236}">
                  <a16:creationId xmlns:a16="http://schemas.microsoft.com/office/drawing/2014/main" id="{76EC6589-8D21-1DC9-D1E0-19E1D06DA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2221" y="581700"/>
              <a:ext cx="3186527" cy="1866900"/>
            </a:xfrm>
            <a:custGeom>
              <a:avLst/>
              <a:gdLst>
                <a:gd name="T0" fmla="*/ 259 w 1583"/>
                <a:gd name="T1" fmla="*/ 310 h 682"/>
                <a:gd name="T2" fmla="*/ 681 w 1583"/>
                <a:gd name="T3" fmla="*/ 102 h 682"/>
                <a:gd name="T4" fmla="*/ 1313 w 1583"/>
                <a:gd name="T5" fmla="*/ 29 h 682"/>
                <a:gd name="T6" fmla="*/ 1933 w 1583"/>
                <a:gd name="T7" fmla="*/ 268 h 682"/>
                <a:gd name="T8" fmla="*/ 2613 w 1583"/>
                <a:gd name="T9" fmla="*/ 591 h 682"/>
                <a:gd name="T10" fmla="*/ 2126 w 1583"/>
                <a:gd name="T11" fmla="*/ 888 h 682"/>
                <a:gd name="T12" fmla="*/ 1153 w 1583"/>
                <a:gd name="T13" fmla="*/ 908 h 682"/>
                <a:gd name="T14" fmla="*/ 149 w 1583"/>
                <a:gd name="T15" fmla="*/ 823 h 682"/>
                <a:gd name="T16" fmla="*/ 259 w 1583"/>
                <a:gd name="T17" fmla="*/ 310 h 6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3"/>
                <a:gd name="T28" fmla="*/ 0 h 682"/>
                <a:gd name="T29" fmla="*/ 1583 w 1583"/>
                <a:gd name="T30" fmla="*/ 682 h 6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B370704C-DD65-551A-A772-B093610112EA}"/>
                </a:ext>
              </a:extLst>
            </p:cNvPr>
            <p:cNvGrpSpPr/>
            <p:nvPr/>
          </p:nvGrpSpPr>
          <p:grpSpPr>
            <a:xfrm>
              <a:off x="9849178" y="1248370"/>
              <a:ext cx="501651" cy="400050"/>
              <a:chOff x="7184756" y="854078"/>
              <a:chExt cx="501651" cy="400050"/>
            </a:xfrm>
            <a:solidFill>
              <a:srgbClr val="A5A5A5">
                <a:lumMod val="40000"/>
                <a:lumOff val="60000"/>
              </a:srgbClr>
            </a:solidFill>
          </p:grpSpPr>
          <p:sp>
            <p:nvSpPr>
              <p:cNvPr id="56" name="Oval 5">
                <a:extLst>
                  <a:ext uri="{FF2B5EF4-FFF2-40B4-BE49-F238E27FC236}">
                    <a16:creationId xmlns:a16="http://schemas.microsoft.com/office/drawing/2014/main" id="{6B057D6A-173D-9297-5FE2-EAD86700E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42989"/>
                <a:ext cx="496888" cy="128588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57" name="Line 6">
                <a:extLst>
                  <a:ext uri="{FF2B5EF4-FFF2-40B4-BE49-F238E27FC236}">
                    <a16:creationId xmlns:a16="http://schemas.microsoft.com/office/drawing/2014/main" id="{DAC77387-1E65-5A7F-1939-039F75144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9519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58" name="Line 7">
                <a:extLst>
                  <a:ext uri="{FF2B5EF4-FFF2-40B4-BE49-F238E27FC236}">
                    <a16:creationId xmlns:a16="http://schemas.microsoft.com/office/drawing/2014/main" id="{E11572D5-81DB-3BAE-A81A-C79E5E6B1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6406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59" name="Rectangle 8">
                <a:extLst>
                  <a:ext uri="{FF2B5EF4-FFF2-40B4-BE49-F238E27FC236}">
                    <a16:creationId xmlns:a16="http://schemas.microsoft.com/office/drawing/2014/main" id="{AC1A9563-8CA3-FD50-EAF6-E17363E6ED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31877"/>
                <a:ext cx="492125" cy="77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60" name="Oval 9">
                <a:extLst>
                  <a:ext uri="{FF2B5EF4-FFF2-40B4-BE49-F238E27FC236}">
                    <a16:creationId xmlns:a16="http://schemas.microsoft.com/office/drawing/2014/main" id="{60A6624F-E2E8-07D8-32C6-D7DDEAF2E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4756" y="938214"/>
                <a:ext cx="496888" cy="150813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grpSp>
            <p:nvGrpSpPr>
              <p:cNvPr id="61" name="Group 39">
                <a:extLst>
                  <a:ext uri="{FF2B5EF4-FFF2-40B4-BE49-F238E27FC236}">
                    <a16:creationId xmlns:a16="http://schemas.microsoft.com/office/drawing/2014/main" id="{BA3FCC76-4B67-BF32-4ECC-B6EC880231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48376" y="854078"/>
                <a:ext cx="383820" cy="400050"/>
                <a:chOff x="2938" y="2424"/>
                <a:chExt cx="245" cy="252"/>
              </a:xfrm>
              <a:grpFill/>
            </p:grpSpPr>
            <p:sp>
              <p:nvSpPr>
                <p:cNvPr id="62" name="Rectangle 40">
                  <a:extLst>
                    <a:ext uri="{FF2B5EF4-FFF2-40B4-BE49-F238E27FC236}">
                      <a16:creationId xmlns:a16="http://schemas.microsoft.com/office/drawing/2014/main" id="{F9E19098-1A70-08D7-2B99-59CD738A0D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</a:endParaRPr>
                </a:p>
              </p:txBody>
            </p:sp>
            <p:sp>
              <p:nvSpPr>
                <p:cNvPr id="63" name="Text Box 41">
                  <a:extLst>
                    <a:ext uri="{FF2B5EF4-FFF2-40B4-BE49-F238E27FC236}">
                      <a16:creationId xmlns:a16="http://schemas.microsoft.com/office/drawing/2014/main" id="{A923209E-1E0B-AB99-E840-F85BC58A38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8" y="2424"/>
                  <a:ext cx="245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4472C4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w</a:t>
                  </a:r>
                  <a:endPara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9D527629-CB58-94CE-164F-D60B5D3D66DC}"/>
                </a:ext>
              </a:extLst>
            </p:cNvPr>
            <p:cNvGrpSpPr/>
            <p:nvPr/>
          </p:nvGrpSpPr>
          <p:grpSpPr>
            <a:xfrm>
              <a:off x="8180547" y="1280201"/>
              <a:ext cx="501651" cy="400050"/>
              <a:chOff x="7184756" y="854078"/>
              <a:chExt cx="501651" cy="400050"/>
            </a:xfrm>
            <a:solidFill>
              <a:srgbClr val="FFC000"/>
            </a:solidFill>
          </p:grpSpPr>
          <p:sp>
            <p:nvSpPr>
              <p:cNvPr id="48" name="Oval 5">
                <a:extLst>
                  <a:ext uri="{FF2B5EF4-FFF2-40B4-BE49-F238E27FC236}">
                    <a16:creationId xmlns:a16="http://schemas.microsoft.com/office/drawing/2014/main" id="{1D951668-523F-4A30-B399-DA294448E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42989"/>
                <a:ext cx="496888" cy="128588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49" name="Line 6">
                <a:extLst>
                  <a:ext uri="{FF2B5EF4-FFF2-40B4-BE49-F238E27FC236}">
                    <a16:creationId xmlns:a16="http://schemas.microsoft.com/office/drawing/2014/main" id="{B148C7C3-2E6F-8572-6A24-2929D471B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9519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50" name="Line 7">
                <a:extLst>
                  <a:ext uri="{FF2B5EF4-FFF2-40B4-BE49-F238E27FC236}">
                    <a16:creationId xmlns:a16="http://schemas.microsoft.com/office/drawing/2014/main" id="{C8959262-6A61-2AFC-6B6C-1B6EF634B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6406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51" name="Rectangle 8">
                <a:extLst>
                  <a:ext uri="{FF2B5EF4-FFF2-40B4-BE49-F238E27FC236}">
                    <a16:creationId xmlns:a16="http://schemas.microsoft.com/office/drawing/2014/main" id="{A559A1E7-9E86-45D2-39F9-BD87F6B6D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31877"/>
                <a:ext cx="492125" cy="77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52" name="Oval 9">
                <a:extLst>
                  <a:ext uri="{FF2B5EF4-FFF2-40B4-BE49-F238E27FC236}">
                    <a16:creationId xmlns:a16="http://schemas.microsoft.com/office/drawing/2014/main" id="{1394FC62-DDEA-2740-C94A-E724F1F41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4756" y="938214"/>
                <a:ext cx="496888" cy="150813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grpSp>
            <p:nvGrpSpPr>
              <p:cNvPr id="53" name="Group 39">
                <a:extLst>
                  <a:ext uri="{FF2B5EF4-FFF2-40B4-BE49-F238E27FC236}">
                    <a16:creationId xmlns:a16="http://schemas.microsoft.com/office/drawing/2014/main" id="{3A0D1B68-8CAC-6EA4-09C7-9E8F61A12C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74996" y="854078"/>
                <a:ext cx="327421" cy="400050"/>
                <a:chOff x="2955" y="2424"/>
                <a:chExt cx="209" cy="252"/>
              </a:xfrm>
              <a:grpFill/>
            </p:grpSpPr>
            <p:sp>
              <p:nvSpPr>
                <p:cNvPr id="54" name="Rectangle 40">
                  <a:extLst>
                    <a:ext uri="{FF2B5EF4-FFF2-40B4-BE49-F238E27FC236}">
                      <a16:creationId xmlns:a16="http://schemas.microsoft.com/office/drawing/2014/main" id="{09A51D1B-13EE-F104-C197-01706EA19C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</a:endParaRPr>
                </a:p>
              </p:txBody>
            </p:sp>
            <p:sp>
              <p:nvSpPr>
                <p:cNvPr id="55" name="Text Box 41">
                  <a:extLst>
                    <a:ext uri="{FF2B5EF4-FFF2-40B4-BE49-F238E27FC236}">
                      <a16:creationId xmlns:a16="http://schemas.microsoft.com/office/drawing/2014/main" id="{E5B27162-F83C-904C-3EFF-DB45294BAB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4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u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02AAFE27-85C7-7583-FEB6-7A3CD18B3990}"/>
                </a:ext>
              </a:extLst>
            </p:cNvPr>
            <p:cNvGrpSpPr/>
            <p:nvPr/>
          </p:nvGrpSpPr>
          <p:grpSpPr>
            <a:xfrm>
              <a:off x="11634108" y="1201365"/>
              <a:ext cx="501651" cy="400050"/>
              <a:chOff x="7184756" y="854078"/>
              <a:chExt cx="501651" cy="400050"/>
            </a:xfrm>
            <a:solidFill>
              <a:srgbClr val="70AD47"/>
            </a:solidFill>
          </p:grpSpPr>
          <p:sp>
            <p:nvSpPr>
              <p:cNvPr id="40" name="Oval 5">
                <a:extLst>
                  <a:ext uri="{FF2B5EF4-FFF2-40B4-BE49-F238E27FC236}">
                    <a16:creationId xmlns:a16="http://schemas.microsoft.com/office/drawing/2014/main" id="{8F6902EA-336E-EC8E-C190-CDF28E5F8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42989"/>
                <a:ext cx="496888" cy="128588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41" name="Line 6">
                <a:extLst>
                  <a:ext uri="{FF2B5EF4-FFF2-40B4-BE49-F238E27FC236}">
                    <a16:creationId xmlns:a16="http://schemas.microsoft.com/office/drawing/2014/main" id="{D22F6474-8CC1-DB70-42D1-E9F8BA981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9519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42" name="Line 7">
                <a:extLst>
                  <a:ext uri="{FF2B5EF4-FFF2-40B4-BE49-F238E27FC236}">
                    <a16:creationId xmlns:a16="http://schemas.microsoft.com/office/drawing/2014/main" id="{13D06E40-B4BE-49A4-3BAB-4311B63B4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6406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43" name="Rectangle 8">
                <a:extLst>
                  <a:ext uri="{FF2B5EF4-FFF2-40B4-BE49-F238E27FC236}">
                    <a16:creationId xmlns:a16="http://schemas.microsoft.com/office/drawing/2014/main" id="{B6FF873F-D881-4C50-9616-EE0F6846A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31877"/>
                <a:ext cx="492125" cy="77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44" name="Oval 9">
                <a:extLst>
                  <a:ext uri="{FF2B5EF4-FFF2-40B4-BE49-F238E27FC236}">
                    <a16:creationId xmlns:a16="http://schemas.microsoft.com/office/drawing/2014/main" id="{DA8546BB-93CD-DEFD-1425-46E7D4F7F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4756" y="938214"/>
                <a:ext cx="496888" cy="150813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grpSp>
            <p:nvGrpSpPr>
              <p:cNvPr id="45" name="Group 39">
                <a:extLst>
                  <a:ext uri="{FF2B5EF4-FFF2-40B4-BE49-F238E27FC236}">
                    <a16:creationId xmlns:a16="http://schemas.microsoft.com/office/drawing/2014/main" id="{38BCCC3F-8005-3A27-1F7E-C376603B38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75009" y="854078"/>
                <a:ext cx="327422" cy="400050"/>
                <a:chOff x="2955" y="2424"/>
                <a:chExt cx="209" cy="252"/>
              </a:xfrm>
              <a:grpFill/>
            </p:grpSpPr>
            <p:sp>
              <p:nvSpPr>
                <p:cNvPr id="46" name="Rectangle 40">
                  <a:extLst>
                    <a:ext uri="{FF2B5EF4-FFF2-40B4-BE49-F238E27FC236}">
                      <a16:creationId xmlns:a16="http://schemas.microsoft.com/office/drawing/2014/main" id="{5E19570B-C7EE-5DC7-D833-32D55A8644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</a:endParaRPr>
                </a:p>
              </p:txBody>
            </p:sp>
            <p:sp>
              <p:nvSpPr>
                <p:cNvPr id="47" name="Text Box 41">
                  <a:extLst>
                    <a:ext uri="{FF2B5EF4-FFF2-40B4-BE49-F238E27FC236}">
                      <a16:creationId xmlns:a16="http://schemas.microsoft.com/office/drawing/2014/main" id="{4A7E1DF4-636E-62C4-D84A-BDCB0F0D3E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4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v</a:t>
                  </a:r>
                  <a:endPara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135A62A-EE08-DB08-16A1-20059CEE49F1}"/>
                </a:ext>
              </a:extLst>
            </p:cNvPr>
            <p:cNvCxnSpPr/>
            <p:nvPr/>
          </p:nvCxnSpPr>
          <p:spPr>
            <a:xfrm flipV="1">
              <a:off x="10369525" y="1436735"/>
              <a:ext cx="1253246" cy="22226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7124894-8171-75F0-5B96-C8DC6B1B3DD4}"/>
                </a:ext>
              </a:extLst>
            </p:cNvPr>
            <p:cNvGrpSpPr/>
            <p:nvPr/>
          </p:nvGrpSpPr>
          <p:grpSpPr>
            <a:xfrm>
              <a:off x="10592724" y="578074"/>
              <a:ext cx="501651" cy="233363"/>
              <a:chOff x="7184756" y="938214"/>
              <a:chExt cx="501651" cy="233363"/>
            </a:xfrm>
            <a:solidFill>
              <a:srgbClr val="70AD47"/>
            </a:solidFill>
          </p:grpSpPr>
          <p:sp>
            <p:nvSpPr>
              <p:cNvPr id="34" name="Oval 5">
                <a:extLst>
                  <a:ext uri="{FF2B5EF4-FFF2-40B4-BE49-F238E27FC236}">
                    <a16:creationId xmlns:a16="http://schemas.microsoft.com/office/drawing/2014/main" id="{69FEBCA2-E141-0541-BA9B-14300BD77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42989"/>
                <a:ext cx="496888" cy="128588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35" name="Line 6">
                <a:extLst>
                  <a:ext uri="{FF2B5EF4-FFF2-40B4-BE49-F238E27FC236}">
                    <a16:creationId xmlns:a16="http://schemas.microsoft.com/office/drawing/2014/main" id="{85CBF408-11BB-43BF-4A08-59865B7D91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9519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36" name="Line 7">
                <a:extLst>
                  <a:ext uri="{FF2B5EF4-FFF2-40B4-BE49-F238E27FC236}">
                    <a16:creationId xmlns:a16="http://schemas.microsoft.com/office/drawing/2014/main" id="{B4634848-57AE-05D0-6AEC-58907E0E1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6406" y="1031877"/>
                <a:ext cx="0" cy="79375"/>
              </a:xfrm>
              <a:prstGeom prst="lin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37" name="Rectangle 8">
                <a:extLst>
                  <a:ext uri="{FF2B5EF4-FFF2-40B4-BE49-F238E27FC236}">
                    <a16:creationId xmlns:a16="http://schemas.microsoft.com/office/drawing/2014/main" id="{C9ADF52C-6B37-79C3-208E-4EE367476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519" y="1031877"/>
                <a:ext cx="492125" cy="77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38" name="Oval 9">
                <a:extLst>
                  <a:ext uri="{FF2B5EF4-FFF2-40B4-BE49-F238E27FC236}">
                    <a16:creationId xmlns:a16="http://schemas.microsoft.com/office/drawing/2014/main" id="{06F18B21-7448-F52E-BDD2-5C717073DD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4756" y="938214"/>
                <a:ext cx="496888" cy="150813"/>
              </a:xfrm>
              <a:prstGeom prst="ellipse">
                <a:avLst/>
              </a:prstGeom>
              <a:grp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  <p:sp>
            <p:nvSpPr>
              <p:cNvPr id="39" name="Rectangle 40">
                <a:extLst>
                  <a:ext uri="{FF2B5EF4-FFF2-40B4-BE49-F238E27FC236}">
                    <a16:creationId xmlns:a16="http://schemas.microsoft.com/office/drawing/2014/main" id="{D5D3A78B-56B1-C864-D3CF-CAE54856E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7303" y="958857"/>
                <a:ext cx="225592" cy="2095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</a:endParaRPr>
              </a:p>
            </p:txBody>
          </p:sp>
        </p:grp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BC92FA21-2A0B-650C-8808-BDA75DD26D4F}"/>
                </a:ext>
              </a:extLst>
            </p:cNvPr>
            <p:cNvCxnSpPr>
              <a:cxnSpLocks/>
              <a:stCxn id="63" idx="0"/>
              <a:endCxn id="38" idx="3"/>
            </p:cNvCxnSpPr>
            <p:nvPr/>
          </p:nvCxnSpPr>
          <p:spPr>
            <a:xfrm flipV="1">
              <a:off x="10104708" y="706801"/>
              <a:ext cx="560784" cy="541569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15546892-CD6F-ED19-634D-927BD1B9CB8E}"/>
                </a:ext>
              </a:extLst>
            </p:cNvPr>
            <p:cNvSpPr/>
            <p:nvPr/>
          </p:nvSpPr>
          <p:spPr>
            <a:xfrm>
              <a:off x="8623300" y="1295400"/>
              <a:ext cx="1244600" cy="228600"/>
            </a:xfrm>
            <a:custGeom>
              <a:avLst/>
              <a:gdLst>
                <a:gd name="connsiteX0" fmla="*/ 0 w 1244600"/>
                <a:gd name="connsiteY0" fmla="*/ 228600 h 228600"/>
                <a:gd name="connsiteX1" fmla="*/ 38100 w 1244600"/>
                <a:gd name="connsiteY1" fmla="*/ 165100 h 228600"/>
                <a:gd name="connsiteX2" fmla="*/ 114300 w 1244600"/>
                <a:gd name="connsiteY2" fmla="*/ 139700 h 228600"/>
                <a:gd name="connsiteX3" fmla="*/ 152400 w 1244600"/>
                <a:gd name="connsiteY3" fmla="*/ 114300 h 228600"/>
                <a:gd name="connsiteX4" fmla="*/ 228600 w 1244600"/>
                <a:gd name="connsiteY4" fmla="*/ 88900 h 228600"/>
                <a:gd name="connsiteX5" fmla="*/ 342900 w 1244600"/>
                <a:gd name="connsiteY5" fmla="*/ 38100 h 228600"/>
                <a:gd name="connsiteX6" fmla="*/ 381000 w 1244600"/>
                <a:gd name="connsiteY6" fmla="*/ 25400 h 228600"/>
                <a:gd name="connsiteX7" fmla="*/ 419100 w 1244600"/>
                <a:gd name="connsiteY7" fmla="*/ 12700 h 228600"/>
                <a:gd name="connsiteX8" fmla="*/ 558800 w 1244600"/>
                <a:gd name="connsiteY8" fmla="*/ 0 h 228600"/>
                <a:gd name="connsiteX9" fmla="*/ 546100 w 1244600"/>
                <a:gd name="connsiteY9" fmla="*/ 114300 h 228600"/>
                <a:gd name="connsiteX10" fmla="*/ 520700 w 1244600"/>
                <a:gd name="connsiteY10" fmla="*/ 152400 h 228600"/>
                <a:gd name="connsiteX11" fmla="*/ 508000 w 1244600"/>
                <a:gd name="connsiteY11" fmla="*/ 190500 h 228600"/>
                <a:gd name="connsiteX12" fmla="*/ 825500 w 1244600"/>
                <a:gd name="connsiteY12" fmla="*/ 177800 h 228600"/>
                <a:gd name="connsiteX13" fmla="*/ 1244600 w 1244600"/>
                <a:gd name="connsiteY13" fmla="*/ 1778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44600" h="228600">
                  <a:moveTo>
                    <a:pt x="0" y="228600"/>
                  </a:moveTo>
                  <a:cubicBezTo>
                    <a:pt x="12700" y="207433"/>
                    <a:pt x="18615" y="180255"/>
                    <a:pt x="38100" y="165100"/>
                  </a:cubicBezTo>
                  <a:cubicBezTo>
                    <a:pt x="59234" y="148662"/>
                    <a:pt x="92023" y="154552"/>
                    <a:pt x="114300" y="139700"/>
                  </a:cubicBezTo>
                  <a:cubicBezTo>
                    <a:pt x="127000" y="131233"/>
                    <a:pt x="138452" y="120499"/>
                    <a:pt x="152400" y="114300"/>
                  </a:cubicBezTo>
                  <a:cubicBezTo>
                    <a:pt x="176866" y="103426"/>
                    <a:pt x="206323" y="103752"/>
                    <a:pt x="228600" y="88900"/>
                  </a:cubicBezTo>
                  <a:cubicBezTo>
                    <a:pt x="288977" y="48648"/>
                    <a:pt x="252220" y="68327"/>
                    <a:pt x="342900" y="38100"/>
                  </a:cubicBezTo>
                  <a:lnTo>
                    <a:pt x="381000" y="25400"/>
                  </a:lnTo>
                  <a:cubicBezTo>
                    <a:pt x="393700" y="21167"/>
                    <a:pt x="405768" y="13912"/>
                    <a:pt x="419100" y="12700"/>
                  </a:cubicBezTo>
                  <a:lnTo>
                    <a:pt x="558800" y="0"/>
                  </a:lnTo>
                  <a:cubicBezTo>
                    <a:pt x="575028" y="48683"/>
                    <a:pt x="585611" y="55033"/>
                    <a:pt x="546100" y="114300"/>
                  </a:cubicBezTo>
                  <a:cubicBezTo>
                    <a:pt x="537633" y="127000"/>
                    <a:pt x="527526" y="138748"/>
                    <a:pt x="520700" y="152400"/>
                  </a:cubicBezTo>
                  <a:cubicBezTo>
                    <a:pt x="514713" y="164374"/>
                    <a:pt x="494659" y="189388"/>
                    <a:pt x="508000" y="190500"/>
                  </a:cubicBezTo>
                  <a:cubicBezTo>
                    <a:pt x="613552" y="199296"/>
                    <a:pt x="719598" y="179626"/>
                    <a:pt x="825500" y="177800"/>
                  </a:cubicBezTo>
                  <a:cubicBezTo>
                    <a:pt x="965179" y="175392"/>
                    <a:pt x="1104900" y="177800"/>
                    <a:pt x="1244600" y="177800"/>
                  </a:cubicBezTo>
                </a:path>
              </a:pathLst>
            </a:custGeom>
            <a:noFill/>
            <a:ln w="28575" cap="flat" cmpd="sng" algn="ctr">
              <a:solidFill>
                <a:srgbClr val="5B9BD5">
                  <a:shade val="50000"/>
                </a:srgbClr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4D6F6DF-2520-0930-E644-BEEB8FC1291D}"/>
                </a:ext>
              </a:extLst>
            </p:cNvPr>
            <p:cNvSpPr txBox="1"/>
            <p:nvPr/>
          </p:nvSpPr>
          <p:spPr>
            <a:xfrm>
              <a:off x="8538677" y="2383704"/>
              <a:ext cx="32655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</a:rPr>
                <a:t>新路径 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</a:rPr>
                <a:t>u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sym typeface="Wingdings" panose="05000000000000000000" pitchFamily="2" charset="2"/>
                </a:rPr>
                <a:t>--....-&gt;w--v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等线"/>
                  <a:ea typeface="等线" panose="02010600030101010101" pitchFamily="2" charset="-122"/>
                  <a:sym typeface="Wingdings" panose="05000000000000000000" pitchFamily="2" charset="2"/>
                </a:rPr>
                <a:t>是否更短？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9026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CB821-3CD2-2A4A-EAB1-B04558B2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算法示例</a:t>
            </a:r>
          </a:p>
        </p:txBody>
      </p: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94C362C2-3732-49F7-7F4A-E0A60E4DEA95}"/>
              </a:ext>
            </a:extLst>
          </p:cNvPr>
          <p:cNvGrpSpPr/>
          <p:nvPr/>
        </p:nvGrpSpPr>
        <p:grpSpPr>
          <a:xfrm>
            <a:off x="694814" y="4074949"/>
            <a:ext cx="3571875" cy="2236788"/>
            <a:chOff x="809095" y="4109585"/>
            <a:chExt cx="3571875" cy="2236788"/>
          </a:xfrm>
        </p:grpSpPr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A2518E20-432B-2A8D-67C5-5E7FFBD67B5B}"/>
                </a:ext>
              </a:extLst>
            </p:cNvPr>
            <p:cNvGrpSpPr/>
            <p:nvPr/>
          </p:nvGrpSpPr>
          <p:grpSpPr>
            <a:xfrm>
              <a:off x="809095" y="4109585"/>
              <a:ext cx="3571875" cy="2236788"/>
              <a:chOff x="1528762" y="4132366"/>
              <a:chExt cx="3571875" cy="2236788"/>
            </a:xfrm>
          </p:grpSpPr>
          <p:grpSp>
            <p:nvGrpSpPr>
              <p:cNvPr id="75" name="Group 16">
                <a:extLst>
                  <a:ext uri="{FF2B5EF4-FFF2-40B4-BE49-F238E27FC236}">
                    <a16:creationId xmlns:a16="http://schemas.microsoft.com/office/drawing/2014/main" id="{8571B0AE-120D-0307-5EB2-77F202C5D0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8762" y="4132366"/>
                <a:ext cx="3571875" cy="2236788"/>
                <a:chOff x="3162" y="1071"/>
                <a:chExt cx="2250" cy="1409"/>
              </a:xfrm>
            </p:grpSpPr>
            <p:sp>
              <p:nvSpPr>
                <p:cNvPr id="76" name="Freeform 17">
                  <a:extLst>
                    <a:ext uri="{FF2B5EF4-FFF2-40B4-BE49-F238E27FC236}">
                      <a16:creationId xmlns:a16="http://schemas.microsoft.com/office/drawing/2014/main" id="{071D1540-33A1-57ED-A523-900975EDD8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2" y="1071"/>
                  <a:ext cx="2250" cy="1409"/>
                </a:xfrm>
                <a:custGeom>
                  <a:avLst/>
                  <a:gdLst>
                    <a:gd name="T0" fmla="*/ 0 w 2250"/>
                    <a:gd name="T1" fmla="*/ 624 h 1409"/>
                    <a:gd name="T2" fmla="*/ 219 w 2250"/>
                    <a:gd name="T3" fmla="*/ 321 h 1409"/>
                    <a:gd name="T4" fmla="*/ 529 w 2250"/>
                    <a:gd name="T5" fmla="*/ 35 h 1409"/>
                    <a:gd name="T6" fmla="*/ 1551 w 2250"/>
                    <a:gd name="T7" fmla="*/ 111 h 1409"/>
                    <a:gd name="T8" fmla="*/ 1968 w 2250"/>
                    <a:gd name="T9" fmla="*/ 483 h 1409"/>
                    <a:gd name="T10" fmla="*/ 2199 w 2250"/>
                    <a:gd name="T11" fmla="*/ 906 h 1409"/>
                    <a:gd name="T12" fmla="*/ 1659 w 2250"/>
                    <a:gd name="T13" fmla="*/ 1314 h 1409"/>
                    <a:gd name="T14" fmla="*/ 993 w 2250"/>
                    <a:gd name="T15" fmla="*/ 1386 h 1409"/>
                    <a:gd name="T16" fmla="*/ 465 w 2250"/>
                    <a:gd name="T17" fmla="*/ 1356 h 1409"/>
                    <a:gd name="T18" fmla="*/ 102 w 2250"/>
                    <a:gd name="T19" fmla="*/ 1068 h 1409"/>
                    <a:gd name="T20" fmla="*/ 0 w 2250"/>
                    <a:gd name="T21" fmla="*/ 624 h 140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250"/>
                    <a:gd name="T34" fmla="*/ 0 h 1409"/>
                    <a:gd name="T35" fmla="*/ 2250 w 2250"/>
                    <a:gd name="T36" fmla="*/ 1409 h 140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250" h="1409">
                      <a:moveTo>
                        <a:pt x="0" y="624"/>
                      </a:moveTo>
                      <a:cubicBezTo>
                        <a:pt x="5" y="506"/>
                        <a:pt x="131" y="419"/>
                        <a:pt x="219" y="321"/>
                      </a:cubicBezTo>
                      <a:cubicBezTo>
                        <a:pt x="307" y="223"/>
                        <a:pt x="307" y="70"/>
                        <a:pt x="529" y="35"/>
                      </a:cubicBezTo>
                      <a:cubicBezTo>
                        <a:pt x="751" y="0"/>
                        <a:pt x="1311" y="36"/>
                        <a:pt x="1551" y="111"/>
                      </a:cubicBezTo>
                      <a:cubicBezTo>
                        <a:pt x="1791" y="186"/>
                        <a:pt x="1860" y="351"/>
                        <a:pt x="1968" y="483"/>
                      </a:cubicBezTo>
                      <a:cubicBezTo>
                        <a:pt x="2076" y="615"/>
                        <a:pt x="2250" y="767"/>
                        <a:pt x="2199" y="906"/>
                      </a:cubicBezTo>
                      <a:cubicBezTo>
                        <a:pt x="2148" y="1045"/>
                        <a:pt x="1860" y="1234"/>
                        <a:pt x="1659" y="1314"/>
                      </a:cubicBezTo>
                      <a:cubicBezTo>
                        <a:pt x="1458" y="1394"/>
                        <a:pt x="1192" y="1379"/>
                        <a:pt x="993" y="1386"/>
                      </a:cubicBezTo>
                      <a:cubicBezTo>
                        <a:pt x="794" y="1393"/>
                        <a:pt x="613" y="1409"/>
                        <a:pt x="465" y="1356"/>
                      </a:cubicBezTo>
                      <a:cubicBezTo>
                        <a:pt x="317" y="1303"/>
                        <a:pt x="180" y="1190"/>
                        <a:pt x="102" y="1068"/>
                      </a:cubicBezTo>
                      <a:cubicBezTo>
                        <a:pt x="24" y="946"/>
                        <a:pt x="21" y="716"/>
                        <a:pt x="0" y="624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" name="Freeform 18">
                  <a:extLst>
                    <a:ext uri="{FF2B5EF4-FFF2-40B4-BE49-F238E27FC236}">
                      <a16:creationId xmlns:a16="http://schemas.microsoft.com/office/drawing/2014/main" id="{744EC155-C93E-015A-56BF-10D69C912D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8" y="1620"/>
                  <a:ext cx="342" cy="186"/>
                </a:xfrm>
                <a:custGeom>
                  <a:avLst/>
                  <a:gdLst>
                    <a:gd name="T0" fmla="*/ 0 w 342"/>
                    <a:gd name="T1" fmla="*/ 186 h 186"/>
                    <a:gd name="T2" fmla="*/ 342 w 342"/>
                    <a:gd name="T3" fmla="*/ 0 h 186"/>
                    <a:gd name="T4" fmla="*/ 0 60000 65536"/>
                    <a:gd name="T5" fmla="*/ 0 60000 65536"/>
                    <a:gd name="T6" fmla="*/ 0 w 342"/>
                    <a:gd name="T7" fmla="*/ 0 h 186"/>
                    <a:gd name="T8" fmla="*/ 342 w 342"/>
                    <a:gd name="T9" fmla="*/ 186 h 18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42" h="186">
                      <a:moveTo>
                        <a:pt x="0" y="186"/>
                      </a:moveTo>
                      <a:lnTo>
                        <a:pt x="342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8" name="Oval 19">
                  <a:extLst>
                    <a:ext uri="{FF2B5EF4-FFF2-40B4-BE49-F238E27FC236}">
                      <a16:creationId xmlns:a16="http://schemas.microsoft.com/office/drawing/2014/main" id="{86C557B0-E5DE-CCA1-46DE-BA4137F40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8" y="1862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9" name="Line 20">
                  <a:extLst>
                    <a:ext uri="{FF2B5EF4-FFF2-40B4-BE49-F238E27FC236}">
                      <a16:creationId xmlns:a16="http://schemas.microsoft.com/office/drawing/2014/main" id="{5F569C4F-2CB4-F60B-CA78-2BCECBF940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38" y="1855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0" name="Line 21">
                  <a:extLst>
                    <a:ext uri="{FF2B5EF4-FFF2-40B4-BE49-F238E27FC236}">
                      <a16:creationId xmlns:a16="http://schemas.microsoft.com/office/drawing/2014/main" id="{8FA9E05D-1382-1BE4-3B26-D3D2691A24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1" y="1855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1" name="Rectangle 22">
                  <a:extLst>
                    <a:ext uri="{FF2B5EF4-FFF2-40B4-BE49-F238E27FC236}">
                      <a16:creationId xmlns:a16="http://schemas.microsoft.com/office/drawing/2014/main" id="{25F14BBF-3750-AB80-2328-C3D779619C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8" y="1855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2" name="Oval 23">
                  <a:extLst>
                    <a:ext uri="{FF2B5EF4-FFF2-40B4-BE49-F238E27FC236}">
                      <a16:creationId xmlns:a16="http://schemas.microsoft.com/office/drawing/2014/main" id="{5A2443DF-42AF-D9AD-1681-B0CFB5991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5" y="1796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3" name="Oval 24">
                  <a:extLst>
                    <a:ext uri="{FF2B5EF4-FFF2-40B4-BE49-F238E27FC236}">
                      <a16:creationId xmlns:a16="http://schemas.microsoft.com/office/drawing/2014/main" id="{843B6A10-FBE4-ED0C-9069-A39472B1B1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12" y="2249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4" name="Line 25">
                  <a:extLst>
                    <a:ext uri="{FF2B5EF4-FFF2-40B4-BE49-F238E27FC236}">
                      <a16:creationId xmlns:a16="http://schemas.microsoft.com/office/drawing/2014/main" id="{FA150975-96E5-807B-1614-066CE9F0F8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2" y="224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5" name="Line 26">
                  <a:extLst>
                    <a:ext uri="{FF2B5EF4-FFF2-40B4-BE49-F238E27FC236}">
                      <a16:creationId xmlns:a16="http://schemas.microsoft.com/office/drawing/2014/main" id="{C998196E-CB6D-18D4-9E60-E41AC7BC2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5" y="224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6" name="Rectangle 27">
                  <a:extLst>
                    <a:ext uri="{FF2B5EF4-FFF2-40B4-BE49-F238E27FC236}">
                      <a16:creationId xmlns:a16="http://schemas.microsoft.com/office/drawing/2014/main" id="{43381A2C-8365-1BFA-9347-D0DFB0334C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12" y="2242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7" name="Oval 28">
                  <a:extLst>
                    <a:ext uri="{FF2B5EF4-FFF2-40B4-BE49-F238E27FC236}">
                      <a16:creationId xmlns:a16="http://schemas.microsoft.com/office/drawing/2014/main" id="{09A67C5D-ABFE-5B75-8732-38C5CE755D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9" y="2183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" name="Oval 29">
                  <a:extLst>
                    <a:ext uri="{FF2B5EF4-FFF2-40B4-BE49-F238E27FC236}">
                      <a16:creationId xmlns:a16="http://schemas.microsoft.com/office/drawing/2014/main" id="{8DF6F520-F1A3-9DF5-F878-4B800FF27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8" y="1559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" name="Line 30">
                  <a:extLst>
                    <a:ext uri="{FF2B5EF4-FFF2-40B4-BE49-F238E27FC236}">
                      <a16:creationId xmlns:a16="http://schemas.microsoft.com/office/drawing/2014/main" id="{EF209437-909B-B099-F76C-1645B44E0C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8" y="155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" name="Line 31">
                  <a:extLst>
                    <a:ext uri="{FF2B5EF4-FFF2-40B4-BE49-F238E27FC236}">
                      <a16:creationId xmlns:a16="http://schemas.microsoft.com/office/drawing/2014/main" id="{A8C69A50-2C22-4155-CD66-5174FE0930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1" y="155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1" name="Rectangle 32">
                  <a:extLst>
                    <a:ext uri="{FF2B5EF4-FFF2-40B4-BE49-F238E27FC236}">
                      <a16:creationId xmlns:a16="http://schemas.microsoft.com/office/drawing/2014/main" id="{04C35286-22FE-803F-BA04-F760777F0B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8" y="1552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2" name="Oval 33">
                  <a:extLst>
                    <a:ext uri="{FF2B5EF4-FFF2-40B4-BE49-F238E27FC236}">
                      <a16:creationId xmlns:a16="http://schemas.microsoft.com/office/drawing/2014/main" id="{799A6246-3EF9-1CCE-5BCA-8F2F121EC0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5" y="1493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" name="Oval 34">
                  <a:extLst>
                    <a:ext uri="{FF2B5EF4-FFF2-40B4-BE49-F238E27FC236}">
                      <a16:creationId xmlns:a16="http://schemas.microsoft.com/office/drawing/2014/main" id="{B96D193F-F991-678A-DBF7-AC09A3F34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1" y="1555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4" name="Line 35">
                  <a:extLst>
                    <a:ext uri="{FF2B5EF4-FFF2-40B4-BE49-F238E27FC236}">
                      <a16:creationId xmlns:a16="http://schemas.microsoft.com/office/drawing/2014/main" id="{8C136D70-6023-315A-7D02-9E121262E9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91" y="154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5" name="Line 36">
                  <a:extLst>
                    <a:ext uri="{FF2B5EF4-FFF2-40B4-BE49-F238E27FC236}">
                      <a16:creationId xmlns:a16="http://schemas.microsoft.com/office/drawing/2014/main" id="{3FFD6E07-9CCD-EE20-2E34-F7D98A81B2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3" y="154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6" name="Rectangle 37">
                  <a:extLst>
                    <a:ext uri="{FF2B5EF4-FFF2-40B4-BE49-F238E27FC236}">
                      <a16:creationId xmlns:a16="http://schemas.microsoft.com/office/drawing/2014/main" id="{47C21909-B7AD-D9E7-AE54-7220FE52B0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1" y="1548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7" name="Oval 38">
                  <a:extLst>
                    <a:ext uri="{FF2B5EF4-FFF2-40B4-BE49-F238E27FC236}">
                      <a16:creationId xmlns:a16="http://schemas.microsoft.com/office/drawing/2014/main" id="{BC958897-346C-FE46-196D-ABF9856D4B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4" y="1492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8" name="Oval 39">
                  <a:extLst>
                    <a:ext uri="{FF2B5EF4-FFF2-40B4-BE49-F238E27FC236}">
                      <a16:creationId xmlns:a16="http://schemas.microsoft.com/office/drawing/2014/main" id="{2230C564-B445-273E-4B2D-6FA9B70FF6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01" y="2246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" name="Line 40">
                  <a:extLst>
                    <a:ext uri="{FF2B5EF4-FFF2-40B4-BE49-F238E27FC236}">
                      <a16:creationId xmlns:a16="http://schemas.microsoft.com/office/drawing/2014/main" id="{3EF42884-65FC-4523-30EE-CF85E35200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01" y="2239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0" name="Line 41">
                  <a:extLst>
                    <a:ext uri="{FF2B5EF4-FFF2-40B4-BE49-F238E27FC236}">
                      <a16:creationId xmlns:a16="http://schemas.microsoft.com/office/drawing/2014/main" id="{30CAFACC-1750-C1F6-CF72-51DB225573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14" y="2239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1" name="Rectangle 42">
                  <a:extLst>
                    <a:ext uri="{FF2B5EF4-FFF2-40B4-BE49-F238E27FC236}">
                      <a16:creationId xmlns:a16="http://schemas.microsoft.com/office/drawing/2014/main" id="{6A0E90E8-4F2D-2E19-B64E-828B7B159C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01" y="2239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2" name="Oval 43">
                  <a:extLst>
                    <a:ext uri="{FF2B5EF4-FFF2-40B4-BE49-F238E27FC236}">
                      <a16:creationId xmlns:a16="http://schemas.microsoft.com/office/drawing/2014/main" id="{9150FB9E-7F3A-E6F3-919C-9DEE4BB3D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8" y="2180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3" name="Oval 44">
                  <a:extLst>
                    <a:ext uri="{FF2B5EF4-FFF2-40B4-BE49-F238E27FC236}">
                      <a16:creationId xmlns:a16="http://schemas.microsoft.com/office/drawing/2014/main" id="{D0EFE45B-2675-7B2B-B6B7-9C6AF3B30E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6" y="1905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4" name="Line 45">
                  <a:extLst>
                    <a:ext uri="{FF2B5EF4-FFF2-40B4-BE49-F238E27FC236}">
                      <a16:creationId xmlns:a16="http://schemas.microsoft.com/office/drawing/2014/main" id="{66D78470-CD30-D254-9D24-11B04F352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6" y="18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" name="Line 46">
                  <a:extLst>
                    <a:ext uri="{FF2B5EF4-FFF2-40B4-BE49-F238E27FC236}">
                      <a16:creationId xmlns:a16="http://schemas.microsoft.com/office/drawing/2014/main" id="{184F54E7-D30D-A652-66EF-98D8DD96A7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79" y="18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6" name="Rectangle 47">
                  <a:extLst>
                    <a:ext uri="{FF2B5EF4-FFF2-40B4-BE49-F238E27FC236}">
                      <a16:creationId xmlns:a16="http://schemas.microsoft.com/office/drawing/2014/main" id="{813B5894-326F-0EE3-3D4B-2258CB56B6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6" y="1898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7" name="Oval 48">
                  <a:extLst>
                    <a:ext uri="{FF2B5EF4-FFF2-40B4-BE49-F238E27FC236}">
                      <a16:creationId xmlns:a16="http://schemas.microsoft.com/office/drawing/2014/main" id="{C610013D-B73E-B4A9-C161-D62C72F622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3" y="1839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8" name="Freeform 49">
                  <a:extLst>
                    <a:ext uri="{FF2B5EF4-FFF2-40B4-BE49-F238E27FC236}">
                      <a16:creationId xmlns:a16="http://schemas.microsoft.com/office/drawing/2014/main" id="{04CE9685-FF7B-1F42-C40D-3379D2245B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7" y="1647"/>
                  <a:ext cx="1" cy="522"/>
                </a:xfrm>
                <a:custGeom>
                  <a:avLst/>
                  <a:gdLst>
                    <a:gd name="T0" fmla="*/ 0 w 1"/>
                    <a:gd name="T1" fmla="*/ 0 h 522"/>
                    <a:gd name="T2" fmla="*/ 0 w 1"/>
                    <a:gd name="T3" fmla="*/ 522 h 522"/>
                    <a:gd name="T4" fmla="*/ 0 60000 65536"/>
                    <a:gd name="T5" fmla="*/ 0 60000 65536"/>
                    <a:gd name="T6" fmla="*/ 0 w 1"/>
                    <a:gd name="T7" fmla="*/ 0 h 522"/>
                    <a:gd name="T8" fmla="*/ 1 w 1"/>
                    <a:gd name="T9" fmla="*/ 522 h 52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522">
                      <a:moveTo>
                        <a:pt x="0" y="0"/>
                      </a:moveTo>
                      <a:lnTo>
                        <a:pt x="0" y="52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9" name="Freeform 50">
                  <a:extLst>
                    <a:ext uri="{FF2B5EF4-FFF2-40B4-BE49-F238E27FC236}">
                      <a16:creationId xmlns:a16="http://schemas.microsoft.com/office/drawing/2014/main" id="{B6F6D4DC-2B35-C348-D9D6-EEF3F26CE2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64" y="1653"/>
                  <a:ext cx="1" cy="537"/>
                </a:xfrm>
                <a:custGeom>
                  <a:avLst/>
                  <a:gdLst>
                    <a:gd name="T0" fmla="*/ 0 w 1"/>
                    <a:gd name="T1" fmla="*/ 0 h 537"/>
                    <a:gd name="T2" fmla="*/ 0 w 1"/>
                    <a:gd name="T3" fmla="*/ 537 h 537"/>
                    <a:gd name="T4" fmla="*/ 0 60000 65536"/>
                    <a:gd name="T5" fmla="*/ 0 60000 65536"/>
                    <a:gd name="T6" fmla="*/ 0 w 1"/>
                    <a:gd name="T7" fmla="*/ 0 h 537"/>
                    <a:gd name="T8" fmla="*/ 1 w 1"/>
                    <a:gd name="T9" fmla="*/ 537 h 53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537">
                      <a:moveTo>
                        <a:pt x="0" y="0"/>
                      </a:moveTo>
                      <a:lnTo>
                        <a:pt x="0" y="537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0" name="Freeform 51">
                  <a:extLst>
                    <a:ext uri="{FF2B5EF4-FFF2-40B4-BE49-F238E27FC236}">
                      <a16:creationId xmlns:a16="http://schemas.microsoft.com/office/drawing/2014/main" id="{C2D633D4-E0BA-D02A-C8B9-09539C5F0B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29" y="1638"/>
                  <a:ext cx="504" cy="600"/>
                </a:xfrm>
                <a:custGeom>
                  <a:avLst/>
                  <a:gdLst>
                    <a:gd name="T0" fmla="*/ 0 w 378"/>
                    <a:gd name="T1" fmla="*/ 11993521 h 174"/>
                    <a:gd name="T2" fmla="*/ 5035 w 378"/>
                    <a:gd name="T3" fmla="*/ 0 h 174"/>
                    <a:gd name="T4" fmla="*/ 0 60000 65536"/>
                    <a:gd name="T5" fmla="*/ 0 60000 65536"/>
                    <a:gd name="T6" fmla="*/ 0 w 378"/>
                    <a:gd name="T7" fmla="*/ 0 h 174"/>
                    <a:gd name="T8" fmla="*/ 378 w 378"/>
                    <a:gd name="T9" fmla="*/ 174 h 17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78" h="174">
                      <a:moveTo>
                        <a:pt x="0" y="174"/>
                      </a:moveTo>
                      <a:lnTo>
                        <a:pt x="378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1" name="Freeform 52">
                  <a:extLst>
                    <a:ext uri="{FF2B5EF4-FFF2-40B4-BE49-F238E27FC236}">
                      <a16:creationId xmlns:a16="http://schemas.microsoft.com/office/drawing/2014/main" id="{8BB18644-5ED5-AB2F-0047-F2E6873553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6" y="1986"/>
                  <a:ext cx="366" cy="270"/>
                </a:xfrm>
                <a:custGeom>
                  <a:avLst/>
                  <a:gdLst>
                    <a:gd name="T0" fmla="*/ 0 w 366"/>
                    <a:gd name="T1" fmla="*/ 270 h 270"/>
                    <a:gd name="T2" fmla="*/ 366 w 366"/>
                    <a:gd name="T3" fmla="*/ 0 h 270"/>
                    <a:gd name="T4" fmla="*/ 0 60000 65536"/>
                    <a:gd name="T5" fmla="*/ 0 60000 65536"/>
                    <a:gd name="T6" fmla="*/ 0 w 366"/>
                    <a:gd name="T7" fmla="*/ 0 h 270"/>
                    <a:gd name="T8" fmla="*/ 366 w 366"/>
                    <a:gd name="T9" fmla="*/ 270 h 27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66" h="270">
                      <a:moveTo>
                        <a:pt x="0" y="270"/>
                      </a:moveTo>
                      <a:lnTo>
                        <a:pt x="366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2" name="Freeform 53">
                  <a:extLst>
                    <a:ext uri="{FF2B5EF4-FFF2-40B4-BE49-F238E27FC236}">
                      <a16:creationId xmlns:a16="http://schemas.microsoft.com/office/drawing/2014/main" id="{50076693-02FD-EB65-E92A-54ED208162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5" y="2268"/>
                  <a:ext cx="366" cy="1"/>
                </a:xfrm>
                <a:custGeom>
                  <a:avLst/>
                  <a:gdLst>
                    <a:gd name="T0" fmla="*/ 366 w 366"/>
                    <a:gd name="T1" fmla="*/ 0 h 1"/>
                    <a:gd name="T2" fmla="*/ 0 w 366"/>
                    <a:gd name="T3" fmla="*/ 0 h 1"/>
                    <a:gd name="T4" fmla="*/ 0 60000 65536"/>
                    <a:gd name="T5" fmla="*/ 0 60000 65536"/>
                    <a:gd name="T6" fmla="*/ 0 w 366"/>
                    <a:gd name="T7" fmla="*/ 0 h 1"/>
                    <a:gd name="T8" fmla="*/ 366 w 366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66" h="1">
                      <a:moveTo>
                        <a:pt x="36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3" name="Freeform 54">
                  <a:extLst>
                    <a:ext uri="{FF2B5EF4-FFF2-40B4-BE49-F238E27FC236}">
                      <a16:creationId xmlns:a16="http://schemas.microsoft.com/office/drawing/2014/main" id="{5CAA1038-1ADD-E225-5E21-5923CF3AE9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4" y="1944"/>
                  <a:ext cx="276" cy="264"/>
                </a:xfrm>
                <a:custGeom>
                  <a:avLst/>
                  <a:gdLst>
                    <a:gd name="T0" fmla="*/ 276 w 276"/>
                    <a:gd name="T1" fmla="*/ 264 h 264"/>
                    <a:gd name="T2" fmla="*/ 0 w 276"/>
                    <a:gd name="T3" fmla="*/ 0 h 264"/>
                    <a:gd name="T4" fmla="*/ 0 60000 65536"/>
                    <a:gd name="T5" fmla="*/ 0 60000 65536"/>
                    <a:gd name="T6" fmla="*/ 0 w 276"/>
                    <a:gd name="T7" fmla="*/ 0 h 264"/>
                    <a:gd name="T8" fmla="*/ 276 w 276"/>
                    <a:gd name="T9" fmla="*/ 264 h 26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76" h="264">
                      <a:moveTo>
                        <a:pt x="276" y="26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4" name="Freeform 55">
                  <a:extLst>
                    <a:ext uri="{FF2B5EF4-FFF2-40B4-BE49-F238E27FC236}">
                      <a16:creationId xmlns:a16="http://schemas.microsoft.com/office/drawing/2014/main" id="{4D8564F5-805D-6CA8-7BCB-8837B787E6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29" y="1578"/>
                  <a:ext cx="366" cy="1"/>
                </a:xfrm>
                <a:custGeom>
                  <a:avLst/>
                  <a:gdLst>
                    <a:gd name="T0" fmla="*/ 366 w 366"/>
                    <a:gd name="T1" fmla="*/ 0 h 1"/>
                    <a:gd name="T2" fmla="*/ 0 w 366"/>
                    <a:gd name="T3" fmla="*/ 0 h 1"/>
                    <a:gd name="T4" fmla="*/ 0 60000 65536"/>
                    <a:gd name="T5" fmla="*/ 0 60000 65536"/>
                    <a:gd name="T6" fmla="*/ 0 w 366"/>
                    <a:gd name="T7" fmla="*/ 0 h 1"/>
                    <a:gd name="T8" fmla="*/ 366 w 366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66" h="1">
                      <a:moveTo>
                        <a:pt x="36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5" name="Freeform 56">
                  <a:extLst>
                    <a:ext uri="{FF2B5EF4-FFF2-40B4-BE49-F238E27FC236}">
                      <a16:creationId xmlns:a16="http://schemas.microsoft.com/office/drawing/2014/main" id="{339AFCB3-FB15-C280-B401-328967AB32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4" y="1575"/>
                  <a:ext cx="396" cy="267"/>
                </a:xfrm>
                <a:custGeom>
                  <a:avLst/>
                  <a:gdLst>
                    <a:gd name="T0" fmla="*/ 396 w 396"/>
                    <a:gd name="T1" fmla="*/ 267 h 267"/>
                    <a:gd name="T2" fmla="*/ 0 w 396"/>
                    <a:gd name="T3" fmla="*/ 0 h 267"/>
                    <a:gd name="T4" fmla="*/ 0 60000 65536"/>
                    <a:gd name="T5" fmla="*/ 0 60000 65536"/>
                    <a:gd name="T6" fmla="*/ 0 w 396"/>
                    <a:gd name="T7" fmla="*/ 0 h 267"/>
                    <a:gd name="T8" fmla="*/ 396 w 396"/>
                    <a:gd name="T9" fmla="*/ 267 h 26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96" h="267">
                      <a:moveTo>
                        <a:pt x="396" y="26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6" name="Freeform 57">
                  <a:extLst>
                    <a:ext uri="{FF2B5EF4-FFF2-40B4-BE49-F238E27FC236}">
                      <a16:creationId xmlns:a16="http://schemas.microsoft.com/office/drawing/2014/main" id="{2A8199B4-EBBA-669F-1FDC-42A46D208E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7" y="1146"/>
                  <a:ext cx="1110" cy="645"/>
                </a:xfrm>
                <a:custGeom>
                  <a:avLst/>
                  <a:gdLst>
                    <a:gd name="T0" fmla="*/ 1110 w 1110"/>
                    <a:gd name="T1" fmla="*/ 342 h 645"/>
                    <a:gd name="T2" fmla="*/ 0 w 1110"/>
                    <a:gd name="T3" fmla="*/ 645 h 645"/>
                    <a:gd name="T4" fmla="*/ 0 60000 65536"/>
                    <a:gd name="T5" fmla="*/ 0 60000 65536"/>
                    <a:gd name="T6" fmla="*/ 0 w 1110"/>
                    <a:gd name="T7" fmla="*/ 0 h 645"/>
                    <a:gd name="T8" fmla="*/ 1110 w 1110"/>
                    <a:gd name="T9" fmla="*/ 645 h 645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110" h="645">
                      <a:moveTo>
                        <a:pt x="1110" y="342"/>
                      </a:moveTo>
                      <a:cubicBezTo>
                        <a:pt x="1104" y="0"/>
                        <a:pt x="21" y="63"/>
                        <a:pt x="0" y="645"/>
                      </a:cubicBez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17" name="Group 58">
                  <a:extLst>
                    <a:ext uri="{FF2B5EF4-FFF2-40B4-BE49-F238E27FC236}">
                      <a16:creationId xmlns:a16="http://schemas.microsoft.com/office/drawing/2014/main" id="{868AD8C3-B55C-790A-8BFE-D2897240DC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87" y="1744"/>
                  <a:ext cx="205" cy="250"/>
                  <a:chOff x="2954" y="2425"/>
                  <a:chExt cx="208" cy="250"/>
                </a:xfrm>
              </p:grpSpPr>
              <p:sp>
                <p:nvSpPr>
                  <p:cNvPr id="143" name="Rectangle 59">
                    <a:extLst>
                      <a:ext uri="{FF2B5EF4-FFF2-40B4-BE49-F238E27FC236}">
                        <a16:creationId xmlns:a16="http://schemas.microsoft.com/office/drawing/2014/main" id="{7872E0DB-2BBC-4BFE-A445-FE712F3940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4" name="Text Box 60">
                    <a:extLst>
                      <a:ext uri="{FF2B5EF4-FFF2-40B4-BE49-F238E27FC236}">
                        <a16:creationId xmlns:a16="http://schemas.microsoft.com/office/drawing/2014/main" id="{F8084875-1626-0282-2025-EE48A44B1F4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4" y="2425"/>
                    <a:ext cx="20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u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18" name="Group 61">
                  <a:extLst>
                    <a:ext uri="{FF2B5EF4-FFF2-40B4-BE49-F238E27FC236}">
                      <a16:creationId xmlns:a16="http://schemas.microsoft.com/office/drawing/2014/main" id="{C35A2EAD-52B6-4703-258C-BB79EFC2FC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61" y="2128"/>
                  <a:ext cx="196" cy="250"/>
                  <a:chOff x="2958" y="2425"/>
                  <a:chExt cx="199" cy="250"/>
                </a:xfrm>
              </p:grpSpPr>
              <p:sp>
                <p:nvSpPr>
                  <p:cNvPr id="141" name="Rectangle 62">
                    <a:extLst>
                      <a:ext uri="{FF2B5EF4-FFF2-40B4-BE49-F238E27FC236}">
                        <a16:creationId xmlns:a16="http://schemas.microsoft.com/office/drawing/2014/main" id="{20271C31-507B-A282-13BA-7B9FEC8A5F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2" name="Text Box 63">
                    <a:extLst>
                      <a:ext uri="{FF2B5EF4-FFF2-40B4-BE49-F238E27FC236}">
                        <a16:creationId xmlns:a16="http://schemas.microsoft.com/office/drawing/2014/main" id="{94C504A1-F1E8-E2EB-B8FC-C2F10BCE606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8" y="2425"/>
                    <a:ext cx="19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y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19" name="Group 64">
                  <a:extLst>
                    <a:ext uri="{FF2B5EF4-FFF2-40B4-BE49-F238E27FC236}">
                      <a16:creationId xmlns:a16="http://schemas.microsoft.com/office/drawing/2014/main" id="{4D4219F8-F62E-2139-BC7D-2C9F5710D2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72" y="2095"/>
                  <a:ext cx="212" cy="288"/>
                  <a:chOff x="2951" y="2395"/>
                  <a:chExt cx="213" cy="288"/>
                </a:xfrm>
              </p:grpSpPr>
              <p:sp>
                <p:nvSpPr>
                  <p:cNvPr id="139" name="Rectangle 65">
                    <a:extLst>
                      <a:ext uri="{FF2B5EF4-FFF2-40B4-BE49-F238E27FC236}">
                        <a16:creationId xmlns:a16="http://schemas.microsoft.com/office/drawing/2014/main" id="{0D6FDED1-5557-69FA-A12F-81311A9E55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0" name="Text Box 66">
                    <a:extLst>
                      <a:ext uri="{FF2B5EF4-FFF2-40B4-BE49-F238E27FC236}">
                        <a16:creationId xmlns:a16="http://schemas.microsoft.com/office/drawing/2014/main" id="{01377FA8-5AF8-03E9-19C2-A4D21B0A78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x</a:t>
                    </a:r>
                  </a:p>
                </p:txBody>
              </p:sp>
            </p:grpSp>
            <p:grpSp>
              <p:nvGrpSpPr>
                <p:cNvPr id="120" name="Group 67">
                  <a:extLst>
                    <a:ext uri="{FF2B5EF4-FFF2-40B4-BE49-F238E27FC236}">
                      <a16:creationId xmlns:a16="http://schemas.microsoft.com/office/drawing/2014/main" id="{57B8C203-E53A-64A0-6F20-4285FCA2DB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38" y="1438"/>
                  <a:ext cx="232" cy="250"/>
                  <a:chOff x="2941" y="2425"/>
                  <a:chExt cx="235" cy="250"/>
                </a:xfrm>
              </p:grpSpPr>
              <p:sp>
                <p:nvSpPr>
                  <p:cNvPr id="137" name="Rectangle 68">
                    <a:extLst>
                      <a:ext uri="{FF2B5EF4-FFF2-40B4-BE49-F238E27FC236}">
                        <a16:creationId xmlns:a16="http://schemas.microsoft.com/office/drawing/2014/main" id="{C20AEFF8-8ABB-EEBE-C269-9CF112DA58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6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8" name="Text Box 69">
                    <a:extLst>
                      <a:ext uri="{FF2B5EF4-FFF2-40B4-BE49-F238E27FC236}">
                        <a16:creationId xmlns:a16="http://schemas.microsoft.com/office/drawing/2014/main" id="{E5126FF4-1C18-1B16-3B78-A95F0F9DEB3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1" y="2425"/>
                    <a:ext cx="23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w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21" name="Group 70">
                  <a:extLst>
                    <a:ext uri="{FF2B5EF4-FFF2-40B4-BE49-F238E27FC236}">
                      <a16:creationId xmlns:a16="http://schemas.microsoft.com/office/drawing/2014/main" id="{580C75A7-D96A-8C58-74DE-FCD1F8F16E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71" y="1438"/>
                  <a:ext cx="196" cy="250"/>
                  <a:chOff x="2958" y="2425"/>
                  <a:chExt cx="199" cy="250"/>
                </a:xfrm>
              </p:grpSpPr>
              <p:sp>
                <p:nvSpPr>
                  <p:cNvPr id="135" name="Rectangle 71">
                    <a:extLst>
                      <a:ext uri="{FF2B5EF4-FFF2-40B4-BE49-F238E27FC236}">
                        <a16:creationId xmlns:a16="http://schemas.microsoft.com/office/drawing/2014/main" id="{A0FC7C3F-4E0E-E25C-993E-E53DB9EE45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6" name="Text Box 72">
                    <a:extLst>
                      <a:ext uri="{FF2B5EF4-FFF2-40B4-BE49-F238E27FC236}">
                        <a16:creationId xmlns:a16="http://schemas.microsoft.com/office/drawing/2014/main" id="{F06489B1-6918-92F8-FABA-DB48A1F54E6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8" y="2425"/>
                    <a:ext cx="19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v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22" name="Group 73">
                  <a:extLst>
                    <a:ext uri="{FF2B5EF4-FFF2-40B4-BE49-F238E27FC236}">
                      <a16:creationId xmlns:a16="http://schemas.microsoft.com/office/drawing/2014/main" id="{E14BA2DD-B8A4-1277-1CD7-24DF077363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25" y="1756"/>
                  <a:ext cx="212" cy="288"/>
                  <a:chOff x="2949" y="2395"/>
                  <a:chExt cx="214" cy="288"/>
                </a:xfrm>
              </p:grpSpPr>
              <p:sp>
                <p:nvSpPr>
                  <p:cNvPr id="133" name="Rectangle 74">
                    <a:extLst>
                      <a:ext uri="{FF2B5EF4-FFF2-40B4-BE49-F238E27FC236}">
                        <a16:creationId xmlns:a16="http://schemas.microsoft.com/office/drawing/2014/main" id="{B9FA8A50-2BA6-5317-E800-3B93D79FF6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4" name="Text Box 75">
                    <a:extLst>
                      <a:ext uri="{FF2B5EF4-FFF2-40B4-BE49-F238E27FC236}">
                        <a16:creationId xmlns:a16="http://schemas.microsoft.com/office/drawing/2014/main" id="{5FE58B5B-93EA-568E-48AF-50AC77A89A8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9" y="2395"/>
                    <a:ext cx="21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z</a:t>
                    </a:r>
                  </a:p>
                </p:txBody>
              </p:sp>
            </p:grpSp>
            <p:sp>
              <p:nvSpPr>
                <p:cNvPr id="123" name="Text Box 76">
                  <a:extLst>
                    <a:ext uri="{FF2B5EF4-FFF2-40B4-BE49-F238E27FC236}">
                      <a16:creationId xmlns:a16="http://schemas.microsoft.com/office/drawing/2014/main" id="{2D69456A-CD9C-B780-256D-EAF6638985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93" y="1568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4" name="Text Box 77">
                  <a:extLst>
                    <a:ext uri="{FF2B5EF4-FFF2-40B4-BE49-F238E27FC236}">
                      <a16:creationId xmlns:a16="http://schemas.microsoft.com/office/drawing/2014/main" id="{8B0CE343-579A-2CE0-53BC-14FFA58EBB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1" y="1787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5" name="Text Box 78">
                  <a:extLst>
                    <a:ext uri="{FF2B5EF4-FFF2-40B4-BE49-F238E27FC236}">
                      <a16:creationId xmlns:a16="http://schemas.microsoft.com/office/drawing/2014/main" id="{B782E706-63F0-A3AF-F2AA-CC4A2DF34A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6" y="2000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6" name="Text Box 79">
                  <a:extLst>
                    <a:ext uri="{FF2B5EF4-FFF2-40B4-BE49-F238E27FC236}">
                      <a16:creationId xmlns:a16="http://schemas.microsoft.com/office/drawing/2014/main" id="{DF86AA01-C138-3BCB-79B1-8A6B3797D4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5" y="1880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7" name="Text Box 80">
                  <a:extLst>
                    <a:ext uri="{FF2B5EF4-FFF2-40B4-BE49-F238E27FC236}">
                      <a16:creationId xmlns:a16="http://schemas.microsoft.com/office/drawing/2014/main" id="{8B9DECE9-DA55-1492-610E-C6CBEED330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62" y="2234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8" name="Text Box 81">
                  <a:extLst>
                    <a:ext uri="{FF2B5EF4-FFF2-40B4-BE49-F238E27FC236}">
                      <a16:creationId xmlns:a16="http://schemas.microsoft.com/office/drawing/2014/main" id="{EEACCD4E-35D9-801C-3472-89384BBE8C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22" y="1805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9" name="Text Box 82">
                  <a:extLst>
                    <a:ext uri="{FF2B5EF4-FFF2-40B4-BE49-F238E27FC236}">
                      <a16:creationId xmlns:a16="http://schemas.microsoft.com/office/drawing/2014/main" id="{4B0E65B3-0D9D-4C6A-BAF5-9B6709E213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82" y="2069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0" name="Text Box 83">
                  <a:extLst>
                    <a:ext uri="{FF2B5EF4-FFF2-40B4-BE49-F238E27FC236}">
                      <a16:creationId xmlns:a16="http://schemas.microsoft.com/office/drawing/2014/main" id="{7B173FB9-A0F0-0445-9D69-0E9A3E8483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5" y="1532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5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1" name="Text Box 84">
                  <a:extLst>
                    <a:ext uri="{FF2B5EF4-FFF2-40B4-BE49-F238E27FC236}">
                      <a16:creationId xmlns:a16="http://schemas.microsoft.com/office/drawing/2014/main" id="{B622D297-5673-8BD3-45A0-D76C69BA65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20" y="1382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2" name="Text Box 85">
                  <a:extLst>
                    <a:ext uri="{FF2B5EF4-FFF2-40B4-BE49-F238E27FC236}">
                      <a16:creationId xmlns:a16="http://schemas.microsoft.com/office/drawing/2014/main" id="{FB10A00B-FC14-5554-65CD-99A376EF02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69" y="1115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5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cxnSp>
            <p:nvCxnSpPr>
              <p:cNvPr id="145" name="Straight Arrow Connector 37">
                <a:extLst>
                  <a:ext uri="{FF2B5EF4-FFF2-40B4-BE49-F238E27FC236}">
                    <a16:creationId xmlns:a16="http://schemas.microsoft.com/office/drawing/2014/main" id="{491B8978-C043-8386-A14F-3936C59A004F}"/>
                  </a:ext>
                </a:extLst>
              </p:cNvPr>
              <p:cNvCxnSpPr>
                <a:cxnSpLocks/>
                <a:endCxn id="87" idx="2"/>
              </p:cNvCxnSpPr>
              <p:nvPr/>
            </p:nvCxnSpPr>
            <p:spPr>
              <a:xfrm>
                <a:off x="1957653" y="5544274"/>
                <a:ext cx="439472" cy="428799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558">
                <a:extLst>
                  <a:ext uri="{FF2B5EF4-FFF2-40B4-BE49-F238E27FC236}">
                    <a16:creationId xmlns:a16="http://schemas.microsoft.com/office/drawing/2014/main" id="{10C26E53-6951-A1B4-3C9A-30746C50D6A9}"/>
                  </a:ext>
                </a:extLst>
              </p:cNvPr>
              <p:cNvCxnSpPr>
                <a:cxnSpLocks/>
                <a:endCxn id="98" idx="2"/>
              </p:cNvCxnSpPr>
              <p:nvPr/>
            </p:nvCxnSpPr>
            <p:spPr>
              <a:xfrm>
                <a:off x="2908706" y="6055489"/>
                <a:ext cx="586969" cy="6484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559">
                <a:extLst>
                  <a:ext uri="{FF2B5EF4-FFF2-40B4-BE49-F238E27FC236}">
                    <a16:creationId xmlns:a16="http://schemas.microsoft.com/office/drawing/2014/main" id="{CE073839-4589-5D84-CCF3-0B9BE77191D4}"/>
                  </a:ext>
                </a:extLst>
              </p:cNvPr>
              <p:cNvCxnSpPr>
                <a:cxnSpLocks/>
                <a:stCxn id="82" idx="7"/>
              </p:cNvCxnSpPr>
              <p:nvPr/>
            </p:nvCxnSpPr>
            <p:spPr>
              <a:xfrm flipV="1">
                <a:off x="2068770" y="5023414"/>
                <a:ext cx="502342" cy="281976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560">
                <a:extLst>
                  <a:ext uri="{FF2B5EF4-FFF2-40B4-BE49-F238E27FC236}">
                    <a16:creationId xmlns:a16="http://schemas.microsoft.com/office/drawing/2014/main" id="{18F4D6D7-1405-3C25-F28C-D92D3FB4B4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4012" y="4988689"/>
                <a:ext cx="0" cy="883534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561">
                <a:extLst>
                  <a:ext uri="{FF2B5EF4-FFF2-40B4-BE49-F238E27FC236}">
                    <a16:creationId xmlns:a16="http://schemas.microsoft.com/office/drawing/2014/main" id="{290CA176-3BF1-206C-B062-918AFC5725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7312" y="5577069"/>
                <a:ext cx="606730" cy="448060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7599D7B5-F161-F025-D951-46385A9E2FBC}"/>
                </a:ext>
              </a:extLst>
            </p:cNvPr>
            <p:cNvSpPr txBox="1"/>
            <p:nvPr/>
          </p:nvSpPr>
          <p:spPr>
            <a:xfrm>
              <a:off x="1442507" y="5455270"/>
              <a:ext cx="2778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①</a:t>
              </a: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A68F19F1-5E5A-3BF3-2019-5F485E1659DE}"/>
                </a:ext>
              </a:extLst>
            </p:cNvPr>
            <p:cNvSpPr txBox="1"/>
            <p:nvPr/>
          </p:nvSpPr>
          <p:spPr>
            <a:xfrm>
              <a:off x="2402573" y="5668607"/>
              <a:ext cx="432328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②</a:t>
              </a: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26A7F9E1-3A95-7E20-B63E-14494A9CD2F9}"/>
                </a:ext>
              </a:extLst>
            </p:cNvPr>
            <p:cNvSpPr txBox="1"/>
            <p:nvPr/>
          </p:nvSpPr>
          <p:spPr>
            <a:xfrm>
              <a:off x="1498336" y="5056806"/>
              <a:ext cx="432328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③</a:t>
              </a: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5C9F290B-120E-EFF8-25C3-8678485F704D}"/>
                </a:ext>
              </a:extLst>
            </p:cNvPr>
            <p:cNvSpPr txBox="1"/>
            <p:nvPr/>
          </p:nvSpPr>
          <p:spPr>
            <a:xfrm>
              <a:off x="2680494" y="5275977"/>
              <a:ext cx="432328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④</a:t>
              </a: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A4C57BE3-28A3-0AB1-51F3-29D7586941A0}"/>
                </a:ext>
              </a:extLst>
            </p:cNvPr>
            <p:cNvSpPr txBox="1"/>
            <p:nvPr/>
          </p:nvSpPr>
          <p:spPr>
            <a:xfrm>
              <a:off x="3297000" y="5477493"/>
              <a:ext cx="432328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⑤</a:t>
              </a:r>
            </a:p>
          </p:txBody>
        </p:sp>
      </p:grp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5AF86F18-4EF9-AA58-9777-0F41E2AD7AB5}"/>
              </a:ext>
            </a:extLst>
          </p:cNvPr>
          <p:cNvGrpSpPr/>
          <p:nvPr/>
        </p:nvGrpSpPr>
        <p:grpSpPr>
          <a:xfrm>
            <a:off x="696383" y="850407"/>
            <a:ext cx="9864150" cy="2952328"/>
            <a:chOff x="882650" y="917506"/>
            <a:chExt cx="9864150" cy="2952328"/>
          </a:xfrm>
        </p:grpSpPr>
        <p:graphicFrame>
          <p:nvGraphicFramePr>
            <p:cNvPr id="4" name="内容占位符 5">
              <a:extLst>
                <a:ext uri="{FF2B5EF4-FFF2-40B4-BE49-F238E27FC236}">
                  <a16:creationId xmlns:a16="http://schemas.microsoft.com/office/drawing/2014/main" id="{55958F88-563F-4F59-2FDE-5BFDDD03DCD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87565333"/>
                </p:ext>
              </p:extLst>
            </p:nvPr>
          </p:nvGraphicFramePr>
          <p:xfrm>
            <a:off x="882650" y="917506"/>
            <a:ext cx="9864150" cy="2952328"/>
          </p:xfrm>
          <a:graphic>
            <a:graphicData uri="http://schemas.openxmlformats.org/drawingml/2006/table">
              <a:tbl>
                <a:tblPr firstRow="1" firstCol="1" bandRow="1">
                  <a:tableStyleId>{72833802-FEF1-4C79-8D5D-14CF1EAF98D9}</a:tableStyleId>
                </a:tblPr>
                <a:tblGrid>
                  <a:gridCol w="140866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40866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08668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408668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409826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409826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409826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432448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zh-CN" sz="2000" kern="100" dirty="0">
                            <a:effectLst/>
                          </a:rPr>
                          <a:t>步骤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zh-CN" sz="2000" kern="100" dirty="0">
                            <a:effectLst/>
                          </a:rPr>
                          <a:t>标记节点</a:t>
                        </a:r>
                        <a:endPara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D(v),P(v)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D(w),P(w)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D(x),P(x)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D(y),P(y)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D(z),P(z)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0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2,u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5,u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b="1" u="sng" kern="100" dirty="0">
                            <a:solidFill>
                              <a:schemeClr val="accent4"/>
                            </a:solidFill>
                            <a:effectLst/>
                          </a:rPr>
                          <a:t>1,u</a:t>
                        </a: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∞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∞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1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2,u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4, x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b="1" u="sng" kern="100" dirty="0">
                            <a:solidFill>
                              <a:schemeClr val="accent4"/>
                            </a:solidFill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2, x</a:t>
                        </a: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∞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2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uxy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b="1" u="sng" kern="100" dirty="0">
                            <a:solidFill>
                              <a:schemeClr val="accent4"/>
                            </a:solidFill>
                            <a:effectLst/>
                          </a:rPr>
                          <a:t>2,u</a:t>
                        </a: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3, </a:t>
                        </a:r>
                        <a:r>
                          <a:rPr lang="en-US" altLang="zh-CN" sz="2000" kern="100" dirty="0">
                            <a:effectLst/>
                          </a:rPr>
                          <a:t>y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4, y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3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uxyv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b="1" u="sng" kern="100" dirty="0">
                            <a:solidFill>
                              <a:schemeClr val="accent4"/>
                            </a:solidFill>
                            <a:effectLst/>
                          </a:rPr>
                          <a:t>3, </a:t>
                        </a:r>
                        <a:r>
                          <a:rPr lang="en-US" altLang="zh-CN" sz="2000" b="1" u="sng" kern="100" dirty="0">
                            <a:solidFill>
                              <a:schemeClr val="accent4"/>
                            </a:solidFill>
                            <a:effectLst/>
                          </a:rPr>
                          <a:t>y</a:t>
                        </a: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4, y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4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marL="0" marR="0" lvl="0" indent="0" algn="just" defTabSz="914400" rtl="0" eaLnBrk="1" fontAlgn="auto" latinLnBrk="0" hangingPunct="1">
                          <a:lnSpc>
                            <a:spcPct val="15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uxyvw</a:t>
                        </a:r>
                        <a:endParaRPr lang="zh-CN" alt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>
                            <a:effectLst/>
                          </a:rPr>
                          <a:t> </a:t>
                        </a:r>
                        <a:endParaRPr lang="zh-CN" sz="2000" kern="10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>
                            <a:effectLst/>
                          </a:rPr>
                          <a:t> </a:t>
                        </a:r>
                        <a:endParaRPr lang="zh-CN" sz="2000" kern="10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5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CN" sz="2000" b="1" u="sng" kern="100" dirty="0">
                            <a:solidFill>
                              <a:schemeClr val="accent4"/>
                            </a:solidFill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4, y</a:t>
                        </a:r>
                        <a:endParaRPr lang="zh-CN" alt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5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marL="0" marR="0" lvl="0" indent="0" algn="just" defTabSz="914400" rtl="0" eaLnBrk="1" fontAlgn="auto" latinLnBrk="0" hangingPunct="1">
                          <a:lnSpc>
                            <a:spcPct val="15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uxyvwz</a:t>
                        </a:r>
                        <a:endParaRPr lang="zh-CN" alt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>
                            <a:effectLst/>
                          </a:rPr>
                          <a:t> </a:t>
                        </a:r>
                        <a:endParaRPr lang="zh-CN" sz="2000" kern="10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157" name="Oval 114">
              <a:extLst>
                <a:ext uri="{FF2B5EF4-FFF2-40B4-BE49-F238E27FC236}">
                  <a16:creationId xmlns:a16="http://schemas.microsoft.com/office/drawing/2014/main" id="{E166EBD2-C7F9-D394-ECF3-BAC017063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0265" y="147930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8" name="Oval 114">
              <a:extLst>
                <a:ext uri="{FF2B5EF4-FFF2-40B4-BE49-F238E27FC236}">
                  <a16:creationId xmlns:a16="http://schemas.microsoft.com/office/drawing/2014/main" id="{7F613A3D-6DE1-5B4D-5BDA-7BA457EB5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5732" y="1877242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9" name="Oval 114">
              <a:extLst>
                <a:ext uri="{FF2B5EF4-FFF2-40B4-BE49-F238E27FC236}">
                  <a16:creationId xmlns:a16="http://schemas.microsoft.com/office/drawing/2014/main" id="{81F59D1B-B9EB-F1C7-BF3A-9766AD048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011" y="2308114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60" name="Oval 114">
              <a:extLst>
                <a:ext uri="{FF2B5EF4-FFF2-40B4-BE49-F238E27FC236}">
                  <a16:creationId xmlns:a16="http://schemas.microsoft.com/office/drawing/2014/main" id="{37EE979C-20D9-81E4-65A1-5191A3431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299" y="2714514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61" name="Oval 114">
              <a:extLst>
                <a:ext uri="{FF2B5EF4-FFF2-40B4-BE49-F238E27FC236}">
                  <a16:creationId xmlns:a16="http://schemas.microsoft.com/office/drawing/2014/main" id="{EA694210-492F-2EF9-3939-7F3CD4E41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6632" y="3157677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2623D937-9A95-8EBB-EC47-71B8DB6982BB}"/>
              </a:ext>
            </a:extLst>
          </p:cNvPr>
          <p:cNvGrpSpPr/>
          <p:nvPr/>
        </p:nvGrpSpPr>
        <p:grpSpPr>
          <a:xfrm>
            <a:off x="4873114" y="4112264"/>
            <a:ext cx="6721033" cy="2175661"/>
            <a:chOff x="4894021" y="4230686"/>
            <a:chExt cx="6721033" cy="2175661"/>
          </a:xfrm>
        </p:grpSpPr>
        <p:grpSp>
          <p:nvGrpSpPr>
            <p:cNvPr id="164" name="Group 51">
              <a:extLst>
                <a:ext uri="{FF2B5EF4-FFF2-40B4-BE49-F238E27FC236}">
                  <a16:creationId xmlns:a16="http://schemas.microsoft.com/office/drawing/2014/main" id="{14B75CE1-68F8-4443-B8C9-A81624729E3B}"/>
                </a:ext>
              </a:extLst>
            </p:cNvPr>
            <p:cNvGrpSpPr/>
            <p:nvPr/>
          </p:nvGrpSpPr>
          <p:grpSpPr>
            <a:xfrm>
              <a:off x="4989809" y="4641773"/>
              <a:ext cx="918006" cy="1764574"/>
              <a:chOff x="4618299" y="5972536"/>
              <a:chExt cx="2734563" cy="1944547"/>
            </a:xfrm>
          </p:grpSpPr>
          <p:sp>
            <p:nvSpPr>
              <p:cNvPr id="165" name="Rectangle 45">
                <a:extLst>
                  <a:ext uri="{FF2B5EF4-FFF2-40B4-BE49-F238E27FC236}">
                    <a16:creationId xmlns:a16="http://schemas.microsoft.com/office/drawing/2014/main" id="{E45265AB-5EC2-812F-00DC-FAD7B0F54445}"/>
                  </a:ext>
                </a:extLst>
              </p:cNvPr>
              <p:cNvSpPr/>
              <p:nvPr/>
            </p:nvSpPr>
            <p:spPr>
              <a:xfrm>
                <a:off x="4618299" y="5972536"/>
                <a:ext cx="2511706" cy="1944547"/>
              </a:xfrm>
              <a:prstGeom prst="rect">
                <a:avLst/>
              </a:prstGeom>
              <a:noFill/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6" name="Rectangle 565">
                <a:extLst>
                  <a:ext uri="{FF2B5EF4-FFF2-40B4-BE49-F238E27FC236}">
                    <a16:creationId xmlns:a16="http://schemas.microsoft.com/office/drawing/2014/main" id="{B9863796-B5E3-0403-63A4-AC5CF9A4C964}"/>
                  </a:ext>
                </a:extLst>
              </p:cNvPr>
              <p:cNvSpPr/>
              <p:nvPr/>
            </p:nvSpPr>
            <p:spPr>
              <a:xfrm>
                <a:off x="6852056" y="6129160"/>
                <a:ext cx="500806" cy="16745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7" name="Straight Arrow Connector 566">
                <a:extLst>
                  <a:ext uri="{FF2B5EF4-FFF2-40B4-BE49-F238E27FC236}">
                    <a16:creationId xmlns:a16="http://schemas.microsoft.com/office/drawing/2014/main" id="{CF01FC54-E811-1496-B637-5D703D7A79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1754" y="6015734"/>
                <a:ext cx="0" cy="235302"/>
              </a:xfrm>
              <a:prstGeom prst="straightConnector1">
                <a:avLst/>
              </a:prstGeom>
              <a:ln w="25400">
                <a:solidFill>
                  <a:srgbClr val="0000A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C2679CB7-A4F7-D58B-A9AE-490EA0680028}"/>
                </a:ext>
              </a:extLst>
            </p:cNvPr>
            <p:cNvGrpSpPr/>
            <p:nvPr/>
          </p:nvGrpSpPr>
          <p:grpSpPr>
            <a:xfrm>
              <a:off x="4894021" y="4230686"/>
              <a:ext cx="6721033" cy="2041507"/>
              <a:chOff x="4894021" y="4230686"/>
              <a:chExt cx="6721033" cy="2041507"/>
            </a:xfrm>
          </p:grpSpPr>
          <p:sp>
            <p:nvSpPr>
              <p:cNvPr id="168" name="Text Box 3">
                <a:extLst>
                  <a:ext uri="{FF2B5EF4-FFF2-40B4-BE49-F238E27FC236}">
                    <a16:creationId xmlns:a16="http://schemas.microsoft.com/office/drawing/2014/main" id="{5DF26C1B-BC41-C403-0F89-BB41207EB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2459" y="4825643"/>
                <a:ext cx="5770234" cy="144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 sz="2200" dirty="0">
                    <a:latin typeface="+mn-lt"/>
                  </a:rPr>
                  <a:t>find w not in </a:t>
                </a:r>
                <a:r>
                  <a:rPr lang="en-US" sz="2200" i="1" dirty="0">
                    <a:latin typeface="+mn-lt"/>
                  </a:rPr>
                  <a:t>N</a:t>
                </a:r>
                <a:r>
                  <a:rPr lang="en-US" sz="2200" i="1" dirty="0">
                    <a:latin typeface="+mn-lt"/>
                    <a:cs typeface="Arial" charset="0"/>
                  </a:rPr>
                  <a:t>'</a:t>
                </a:r>
                <a:r>
                  <a:rPr lang="en-US" sz="2200" i="1" dirty="0">
                    <a:latin typeface="+mn-lt"/>
                  </a:rPr>
                  <a:t> </a:t>
                </a:r>
                <a:r>
                  <a:rPr lang="en-US" sz="2200" dirty="0">
                    <a:latin typeface="+mn-lt"/>
                  </a:rPr>
                  <a:t>such that </a:t>
                </a:r>
                <a:r>
                  <a:rPr lang="en-US" sz="2200" i="1" dirty="0">
                    <a:latin typeface="+mn-lt"/>
                  </a:rPr>
                  <a:t>D(w) </a:t>
                </a:r>
                <a:r>
                  <a:rPr lang="en-US" sz="2200" dirty="0">
                    <a:latin typeface="+mn-lt"/>
                  </a:rPr>
                  <a:t>is a minimum </a:t>
                </a:r>
              </a:p>
              <a:p>
                <a:r>
                  <a:rPr lang="en-US" sz="2200" dirty="0">
                    <a:latin typeface="+mn-lt"/>
                  </a:rPr>
                  <a:t>add w to </a:t>
                </a:r>
                <a:r>
                  <a:rPr lang="en-US" sz="2200" i="1" dirty="0">
                    <a:latin typeface="+mn-lt"/>
                  </a:rPr>
                  <a:t>N</a:t>
                </a:r>
                <a:r>
                  <a:rPr lang="en-US" sz="2200" i="1" dirty="0">
                    <a:latin typeface="+mn-lt"/>
                    <a:cs typeface="Arial" charset="0"/>
                  </a:rPr>
                  <a:t>'</a:t>
                </a:r>
                <a:r>
                  <a:rPr lang="en-US" sz="2200" i="1" dirty="0">
                    <a:latin typeface="+mn-lt"/>
                  </a:rPr>
                  <a:t> </a:t>
                </a:r>
              </a:p>
              <a:p>
                <a:r>
                  <a:rPr lang="en-US" sz="2200" dirty="0">
                    <a:latin typeface="+mn-lt"/>
                  </a:rPr>
                  <a:t>update </a:t>
                </a:r>
                <a:r>
                  <a:rPr lang="en-US" sz="2200" i="1" dirty="0">
                    <a:latin typeface="+mn-lt"/>
                  </a:rPr>
                  <a:t>D(v) </a:t>
                </a:r>
                <a:r>
                  <a:rPr lang="en-US" sz="2200" dirty="0">
                    <a:latin typeface="+mn-lt"/>
                  </a:rPr>
                  <a:t>for all v adjacent to w and not in </a:t>
                </a:r>
                <a:r>
                  <a:rPr lang="en-US" sz="2200" i="1" dirty="0">
                    <a:latin typeface="+mn-lt"/>
                  </a:rPr>
                  <a:t>N</a:t>
                </a:r>
                <a:r>
                  <a:rPr lang="en-US" sz="2200" i="1" dirty="0">
                    <a:latin typeface="+mn-lt"/>
                    <a:cs typeface="Arial" charset="0"/>
                  </a:rPr>
                  <a:t>'</a:t>
                </a:r>
                <a:r>
                  <a:rPr lang="en-US" sz="2200" i="1" dirty="0">
                    <a:latin typeface="+mn-lt"/>
                  </a:rPr>
                  <a:t> </a:t>
                </a:r>
                <a:r>
                  <a:rPr lang="en-US" sz="2200" dirty="0">
                    <a:latin typeface="+mn-lt"/>
                  </a:rPr>
                  <a:t>: </a:t>
                </a:r>
              </a:p>
              <a:p>
                <a:r>
                  <a:rPr lang="en-US" sz="2200" b="1" i="1" dirty="0">
                    <a:solidFill>
                      <a:srgbClr val="CC0000"/>
                    </a:solidFill>
                    <a:latin typeface="+mn-lt"/>
                  </a:rPr>
                  <a:t>     D(v) = </a:t>
                </a:r>
                <a:r>
                  <a:rPr lang="en-US" sz="2200" b="1" dirty="0">
                    <a:solidFill>
                      <a:srgbClr val="CC0000"/>
                    </a:solidFill>
                    <a:latin typeface="+mn-lt"/>
                  </a:rPr>
                  <a:t>min</a:t>
                </a:r>
                <a:r>
                  <a:rPr lang="en-US" sz="2200" b="1" i="1" dirty="0">
                    <a:solidFill>
                      <a:srgbClr val="CC0000"/>
                    </a:solidFill>
                    <a:latin typeface="+mn-lt"/>
                  </a:rPr>
                  <a:t> ( D(v), D(w) + </a:t>
                </a:r>
                <a:r>
                  <a:rPr lang="en-US" sz="2200" b="1" i="1" dirty="0" err="1">
                    <a:solidFill>
                      <a:srgbClr val="CC0000"/>
                    </a:solidFill>
                    <a:latin typeface="+mn-lt"/>
                  </a:rPr>
                  <a:t>c</a:t>
                </a:r>
                <a:r>
                  <a:rPr lang="en-US" sz="2200" b="1" i="1" baseline="-25000" dirty="0" err="1">
                    <a:solidFill>
                      <a:srgbClr val="CC0000"/>
                    </a:solidFill>
                    <a:latin typeface="+mn-lt"/>
                  </a:rPr>
                  <a:t>w,v</a:t>
                </a:r>
                <a:r>
                  <a:rPr lang="en-US" sz="2200" b="1" i="1" baseline="-25000" dirty="0">
                    <a:solidFill>
                      <a:srgbClr val="CC0000"/>
                    </a:solidFill>
                    <a:latin typeface="+mn-lt"/>
                  </a:rPr>
                  <a:t> </a:t>
                </a:r>
                <a:r>
                  <a:rPr lang="en-US" sz="2200" b="1" i="1" dirty="0">
                    <a:solidFill>
                      <a:srgbClr val="CC0000"/>
                    </a:solidFill>
                    <a:latin typeface="+mn-lt"/>
                  </a:rPr>
                  <a:t>) </a:t>
                </a:r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0CCF00BA-7FAC-A41C-5AB2-C67D1718153B}"/>
                  </a:ext>
                </a:extLst>
              </p:cNvPr>
              <p:cNvSpPr/>
              <p:nvPr/>
            </p:nvSpPr>
            <p:spPr>
              <a:xfrm>
                <a:off x="4894021" y="4230686"/>
                <a:ext cx="6721033" cy="3416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/>
                  <a:t>Initialization (step 0): For all v: if v adjacent to then </a:t>
                </a:r>
                <a:r>
                  <a:rPr lang="en-US" i="1" dirty="0"/>
                  <a:t>D(v) = </a:t>
                </a:r>
                <a:r>
                  <a:rPr lang="en-US" i="1" dirty="0" err="1"/>
                  <a:t>c</a:t>
                </a:r>
                <a:r>
                  <a:rPr lang="en-US" i="1" baseline="-25000" dirty="0" err="1"/>
                  <a:t>u,v</a:t>
                </a:r>
                <a:r>
                  <a:rPr lang="en-US" i="1" baseline="-25000" dirty="0"/>
                  <a:t> </a:t>
                </a:r>
                <a:endParaRPr lang="en-US" baseline="-25000" dirty="0"/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E619515B-1A86-E97C-6E9B-FEEDDEAD82B3}"/>
                  </a:ext>
                </a:extLst>
              </p:cNvPr>
              <p:cNvSpPr txBox="1"/>
              <p:nvPr/>
            </p:nvSpPr>
            <p:spPr>
              <a:xfrm>
                <a:off x="7068564" y="5175856"/>
                <a:ext cx="4030133" cy="329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</a:pPr>
                <a:r>
                  <a:rPr lang="en-US" altLang="zh-CN" sz="1800" b="1" dirty="0">
                    <a:solidFill>
                      <a:schemeClr val="accent4"/>
                    </a:solidFill>
                    <a:ea typeface="ＭＳ Ｐゴシック" charset="0"/>
                  </a:rPr>
                  <a:t>ties can exist (can be broken arbitrarily)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5858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CB821-3CD2-2A4A-EAB1-B04558B2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算法示例</a:t>
            </a:r>
          </a:p>
        </p:txBody>
      </p: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94C362C2-3732-49F7-7F4A-E0A60E4DEA95}"/>
              </a:ext>
            </a:extLst>
          </p:cNvPr>
          <p:cNvGrpSpPr/>
          <p:nvPr/>
        </p:nvGrpSpPr>
        <p:grpSpPr>
          <a:xfrm>
            <a:off x="329869" y="4151149"/>
            <a:ext cx="3571875" cy="2236788"/>
            <a:chOff x="809095" y="4109585"/>
            <a:chExt cx="3571875" cy="2236788"/>
          </a:xfrm>
        </p:grpSpPr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A2518E20-432B-2A8D-67C5-5E7FFBD67B5B}"/>
                </a:ext>
              </a:extLst>
            </p:cNvPr>
            <p:cNvGrpSpPr/>
            <p:nvPr/>
          </p:nvGrpSpPr>
          <p:grpSpPr>
            <a:xfrm>
              <a:off x="809095" y="4109585"/>
              <a:ext cx="3571875" cy="2236788"/>
              <a:chOff x="1528762" y="4132366"/>
              <a:chExt cx="3571875" cy="2236788"/>
            </a:xfrm>
          </p:grpSpPr>
          <p:grpSp>
            <p:nvGrpSpPr>
              <p:cNvPr id="75" name="Group 16">
                <a:extLst>
                  <a:ext uri="{FF2B5EF4-FFF2-40B4-BE49-F238E27FC236}">
                    <a16:creationId xmlns:a16="http://schemas.microsoft.com/office/drawing/2014/main" id="{8571B0AE-120D-0307-5EB2-77F202C5D0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8762" y="4132366"/>
                <a:ext cx="3571875" cy="2236788"/>
                <a:chOff x="3162" y="1071"/>
                <a:chExt cx="2250" cy="1409"/>
              </a:xfrm>
            </p:grpSpPr>
            <p:sp>
              <p:nvSpPr>
                <p:cNvPr id="76" name="Freeform 17">
                  <a:extLst>
                    <a:ext uri="{FF2B5EF4-FFF2-40B4-BE49-F238E27FC236}">
                      <a16:creationId xmlns:a16="http://schemas.microsoft.com/office/drawing/2014/main" id="{071D1540-33A1-57ED-A523-900975EDD8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2" y="1071"/>
                  <a:ext cx="2250" cy="1409"/>
                </a:xfrm>
                <a:custGeom>
                  <a:avLst/>
                  <a:gdLst>
                    <a:gd name="T0" fmla="*/ 0 w 2250"/>
                    <a:gd name="T1" fmla="*/ 624 h 1409"/>
                    <a:gd name="T2" fmla="*/ 219 w 2250"/>
                    <a:gd name="T3" fmla="*/ 321 h 1409"/>
                    <a:gd name="T4" fmla="*/ 529 w 2250"/>
                    <a:gd name="T5" fmla="*/ 35 h 1409"/>
                    <a:gd name="T6" fmla="*/ 1551 w 2250"/>
                    <a:gd name="T7" fmla="*/ 111 h 1409"/>
                    <a:gd name="T8" fmla="*/ 1968 w 2250"/>
                    <a:gd name="T9" fmla="*/ 483 h 1409"/>
                    <a:gd name="T10" fmla="*/ 2199 w 2250"/>
                    <a:gd name="T11" fmla="*/ 906 h 1409"/>
                    <a:gd name="T12" fmla="*/ 1659 w 2250"/>
                    <a:gd name="T13" fmla="*/ 1314 h 1409"/>
                    <a:gd name="T14" fmla="*/ 993 w 2250"/>
                    <a:gd name="T15" fmla="*/ 1386 h 1409"/>
                    <a:gd name="T16" fmla="*/ 465 w 2250"/>
                    <a:gd name="T17" fmla="*/ 1356 h 1409"/>
                    <a:gd name="T18" fmla="*/ 102 w 2250"/>
                    <a:gd name="T19" fmla="*/ 1068 h 1409"/>
                    <a:gd name="T20" fmla="*/ 0 w 2250"/>
                    <a:gd name="T21" fmla="*/ 624 h 140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250"/>
                    <a:gd name="T34" fmla="*/ 0 h 1409"/>
                    <a:gd name="T35" fmla="*/ 2250 w 2250"/>
                    <a:gd name="T36" fmla="*/ 1409 h 1409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250" h="1409">
                      <a:moveTo>
                        <a:pt x="0" y="624"/>
                      </a:moveTo>
                      <a:cubicBezTo>
                        <a:pt x="5" y="506"/>
                        <a:pt x="131" y="419"/>
                        <a:pt x="219" y="321"/>
                      </a:cubicBezTo>
                      <a:cubicBezTo>
                        <a:pt x="307" y="223"/>
                        <a:pt x="307" y="70"/>
                        <a:pt x="529" y="35"/>
                      </a:cubicBezTo>
                      <a:cubicBezTo>
                        <a:pt x="751" y="0"/>
                        <a:pt x="1311" y="36"/>
                        <a:pt x="1551" y="111"/>
                      </a:cubicBezTo>
                      <a:cubicBezTo>
                        <a:pt x="1791" y="186"/>
                        <a:pt x="1860" y="351"/>
                        <a:pt x="1968" y="483"/>
                      </a:cubicBezTo>
                      <a:cubicBezTo>
                        <a:pt x="2076" y="615"/>
                        <a:pt x="2250" y="767"/>
                        <a:pt x="2199" y="906"/>
                      </a:cubicBezTo>
                      <a:cubicBezTo>
                        <a:pt x="2148" y="1045"/>
                        <a:pt x="1860" y="1234"/>
                        <a:pt x="1659" y="1314"/>
                      </a:cubicBezTo>
                      <a:cubicBezTo>
                        <a:pt x="1458" y="1394"/>
                        <a:pt x="1192" y="1379"/>
                        <a:pt x="993" y="1386"/>
                      </a:cubicBezTo>
                      <a:cubicBezTo>
                        <a:pt x="794" y="1393"/>
                        <a:pt x="613" y="1409"/>
                        <a:pt x="465" y="1356"/>
                      </a:cubicBezTo>
                      <a:cubicBezTo>
                        <a:pt x="317" y="1303"/>
                        <a:pt x="180" y="1190"/>
                        <a:pt x="102" y="1068"/>
                      </a:cubicBezTo>
                      <a:cubicBezTo>
                        <a:pt x="24" y="946"/>
                        <a:pt x="21" y="716"/>
                        <a:pt x="0" y="624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7" name="Freeform 18">
                  <a:extLst>
                    <a:ext uri="{FF2B5EF4-FFF2-40B4-BE49-F238E27FC236}">
                      <a16:creationId xmlns:a16="http://schemas.microsoft.com/office/drawing/2014/main" id="{744EC155-C93E-015A-56BF-10D69C912D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8" y="1620"/>
                  <a:ext cx="342" cy="186"/>
                </a:xfrm>
                <a:custGeom>
                  <a:avLst/>
                  <a:gdLst>
                    <a:gd name="T0" fmla="*/ 0 w 342"/>
                    <a:gd name="T1" fmla="*/ 186 h 186"/>
                    <a:gd name="T2" fmla="*/ 342 w 342"/>
                    <a:gd name="T3" fmla="*/ 0 h 186"/>
                    <a:gd name="T4" fmla="*/ 0 60000 65536"/>
                    <a:gd name="T5" fmla="*/ 0 60000 65536"/>
                    <a:gd name="T6" fmla="*/ 0 w 342"/>
                    <a:gd name="T7" fmla="*/ 0 h 186"/>
                    <a:gd name="T8" fmla="*/ 342 w 342"/>
                    <a:gd name="T9" fmla="*/ 186 h 18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42" h="186">
                      <a:moveTo>
                        <a:pt x="0" y="186"/>
                      </a:moveTo>
                      <a:lnTo>
                        <a:pt x="342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8" name="Oval 19">
                  <a:extLst>
                    <a:ext uri="{FF2B5EF4-FFF2-40B4-BE49-F238E27FC236}">
                      <a16:creationId xmlns:a16="http://schemas.microsoft.com/office/drawing/2014/main" id="{86C557B0-E5DE-CCA1-46DE-BA4137F40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8" y="1862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9" name="Line 20">
                  <a:extLst>
                    <a:ext uri="{FF2B5EF4-FFF2-40B4-BE49-F238E27FC236}">
                      <a16:creationId xmlns:a16="http://schemas.microsoft.com/office/drawing/2014/main" id="{5F569C4F-2CB4-F60B-CA78-2BCECBF940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38" y="1855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0" name="Line 21">
                  <a:extLst>
                    <a:ext uri="{FF2B5EF4-FFF2-40B4-BE49-F238E27FC236}">
                      <a16:creationId xmlns:a16="http://schemas.microsoft.com/office/drawing/2014/main" id="{8FA9E05D-1382-1BE4-3B26-D3D2691A24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1" y="1855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1" name="Rectangle 22">
                  <a:extLst>
                    <a:ext uri="{FF2B5EF4-FFF2-40B4-BE49-F238E27FC236}">
                      <a16:creationId xmlns:a16="http://schemas.microsoft.com/office/drawing/2014/main" id="{25F14BBF-3750-AB80-2328-C3D779619C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8" y="1855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2" name="Oval 23">
                  <a:extLst>
                    <a:ext uri="{FF2B5EF4-FFF2-40B4-BE49-F238E27FC236}">
                      <a16:creationId xmlns:a16="http://schemas.microsoft.com/office/drawing/2014/main" id="{5A2443DF-42AF-D9AD-1681-B0CFB5991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5" y="1796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3" name="Oval 24">
                  <a:extLst>
                    <a:ext uri="{FF2B5EF4-FFF2-40B4-BE49-F238E27FC236}">
                      <a16:creationId xmlns:a16="http://schemas.microsoft.com/office/drawing/2014/main" id="{843B6A10-FBE4-ED0C-9069-A39472B1B1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12" y="2249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4" name="Line 25">
                  <a:extLst>
                    <a:ext uri="{FF2B5EF4-FFF2-40B4-BE49-F238E27FC236}">
                      <a16:creationId xmlns:a16="http://schemas.microsoft.com/office/drawing/2014/main" id="{FA150975-96E5-807B-1614-066CE9F0F8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2" y="224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5" name="Line 26">
                  <a:extLst>
                    <a:ext uri="{FF2B5EF4-FFF2-40B4-BE49-F238E27FC236}">
                      <a16:creationId xmlns:a16="http://schemas.microsoft.com/office/drawing/2014/main" id="{C998196E-CB6D-18D4-9E60-E41AC7BC2C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5" y="224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6" name="Rectangle 27">
                  <a:extLst>
                    <a:ext uri="{FF2B5EF4-FFF2-40B4-BE49-F238E27FC236}">
                      <a16:creationId xmlns:a16="http://schemas.microsoft.com/office/drawing/2014/main" id="{43381A2C-8365-1BFA-9347-D0DFB0334C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12" y="2242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7" name="Oval 28">
                  <a:extLst>
                    <a:ext uri="{FF2B5EF4-FFF2-40B4-BE49-F238E27FC236}">
                      <a16:creationId xmlns:a16="http://schemas.microsoft.com/office/drawing/2014/main" id="{09A67C5D-ABFE-5B75-8732-38C5CE755D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9" y="2183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" name="Oval 29">
                  <a:extLst>
                    <a:ext uri="{FF2B5EF4-FFF2-40B4-BE49-F238E27FC236}">
                      <a16:creationId xmlns:a16="http://schemas.microsoft.com/office/drawing/2014/main" id="{8DF6F520-F1A3-9DF5-F878-4B800FF27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8" y="1559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" name="Line 30">
                  <a:extLst>
                    <a:ext uri="{FF2B5EF4-FFF2-40B4-BE49-F238E27FC236}">
                      <a16:creationId xmlns:a16="http://schemas.microsoft.com/office/drawing/2014/main" id="{EF209437-909B-B099-F76C-1645B44E0C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8" y="155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" name="Line 31">
                  <a:extLst>
                    <a:ext uri="{FF2B5EF4-FFF2-40B4-BE49-F238E27FC236}">
                      <a16:creationId xmlns:a16="http://schemas.microsoft.com/office/drawing/2014/main" id="{A8C69A50-2C22-4155-CD66-5174FE0930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1" y="155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1" name="Rectangle 32">
                  <a:extLst>
                    <a:ext uri="{FF2B5EF4-FFF2-40B4-BE49-F238E27FC236}">
                      <a16:creationId xmlns:a16="http://schemas.microsoft.com/office/drawing/2014/main" id="{04C35286-22FE-803F-BA04-F760777F0B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8" y="1552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2" name="Oval 33">
                  <a:extLst>
                    <a:ext uri="{FF2B5EF4-FFF2-40B4-BE49-F238E27FC236}">
                      <a16:creationId xmlns:a16="http://schemas.microsoft.com/office/drawing/2014/main" id="{799A6246-3EF9-1CCE-5BCA-8F2F121EC0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5" y="1493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" name="Oval 34">
                  <a:extLst>
                    <a:ext uri="{FF2B5EF4-FFF2-40B4-BE49-F238E27FC236}">
                      <a16:creationId xmlns:a16="http://schemas.microsoft.com/office/drawing/2014/main" id="{B96D193F-F991-678A-DBF7-AC09A3F34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1" y="1555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4" name="Line 35">
                  <a:extLst>
                    <a:ext uri="{FF2B5EF4-FFF2-40B4-BE49-F238E27FC236}">
                      <a16:creationId xmlns:a16="http://schemas.microsoft.com/office/drawing/2014/main" id="{8C136D70-6023-315A-7D02-9E121262E9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91" y="154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5" name="Line 36">
                  <a:extLst>
                    <a:ext uri="{FF2B5EF4-FFF2-40B4-BE49-F238E27FC236}">
                      <a16:creationId xmlns:a16="http://schemas.microsoft.com/office/drawing/2014/main" id="{3FFD6E07-9CCD-EE20-2E34-F7D98A81B2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3" y="154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6" name="Rectangle 37">
                  <a:extLst>
                    <a:ext uri="{FF2B5EF4-FFF2-40B4-BE49-F238E27FC236}">
                      <a16:creationId xmlns:a16="http://schemas.microsoft.com/office/drawing/2014/main" id="{47C21909-B7AD-D9E7-AE54-7220FE52B0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1" y="1548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7" name="Oval 38">
                  <a:extLst>
                    <a:ext uri="{FF2B5EF4-FFF2-40B4-BE49-F238E27FC236}">
                      <a16:creationId xmlns:a16="http://schemas.microsoft.com/office/drawing/2014/main" id="{BC958897-346C-FE46-196D-ABF9856D4B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4" y="1492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8" name="Oval 39">
                  <a:extLst>
                    <a:ext uri="{FF2B5EF4-FFF2-40B4-BE49-F238E27FC236}">
                      <a16:creationId xmlns:a16="http://schemas.microsoft.com/office/drawing/2014/main" id="{2230C564-B445-273E-4B2D-6FA9B70FF6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01" y="2246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" name="Line 40">
                  <a:extLst>
                    <a:ext uri="{FF2B5EF4-FFF2-40B4-BE49-F238E27FC236}">
                      <a16:creationId xmlns:a16="http://schemas.microsoft.com/office/drawing/2014/main" id="{3EF42884-65FC-4523-30EE-CF85E35200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01" y="2239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0" name="Line 41">
                  <a:extLst>
                    <a:ext uri="{FF2B5EF4-FFF2-40B4-BE49-F238E27FC236}">
                      <a16:creationId xmlns:a16="http://schemas.microsoft.com/office/drawing/2014/main" id="{30CAFACC-1750-C1F6-CF72-51DB225573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14" y="2239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1" name="Rectangle 42">
                  <a:extLst>
                    <a:ext uri="{FF2B5EF4-FFF2-40B4-BE49-F238E27FC236}">
                      <a16:creationId xmlns:a16="http://schemas.microsoft.com/office/drawing/2014/main" id="{6A0E90E8-4F2D-2E19-B64E-828B7B159C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01" y="2239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2" name="Oval 43">
                  <a:extLst>
                    <a:ext uri="{FF2B5EF4-FFF2-40B4-BE49-F238E27FC236}">
                      <a16:creationId xmlns:a16="http://schemas.microsoft.com/office/drawing/2014/main" id="{9150FB9E-7F3A-E6F3-919C-9DEE4BB3D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98" y="2180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3" name="Oval 44">
                  <a:extLst>
                    <a:ext uri="{FF2B5EF4-FFF2-40B4-BE49-F238E27FC236}">
                      <a16:creationId xmlns:a16="http://schemas.microsoft.com/office/drawing/2014/main" id="{D0EFE45B-2675-7B2B-B6B7-9C6AF3B30E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6" y="1905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4" name="Line 45">
                  <a:extLst>
                    <a:ext uri="{FF2B5EF4-FFF2-40B4-BE49-F238E27FC236}">
                      <a16:creationId xmlns:a16="http://schemas.microsoft.com/office/drawing/2014/main" id="{66D78470-CD30-D254-9D24-11B04F352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6" y="18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5" name="Line 46">
                  <a:extLst>
                    <a:ext uri="{FF2B5EF4-FFF2-40B4-BE49-F238E27FC236}">
                      <a16:creationId xmlns:a16="http://schemas.microsoft.com/office/drawing/2014/main" id="{184F54E7-D30D-A652-66EF-98D8DD96A7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79" y="18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6" name="Rectangle 47">
                  <a:extLst>
                    <a:ext uri="{FF2B5EF4-FFF2-40B4-BE49-F238E27FC236}">
                      <a16:creationId xmlns:a16="http://schemas.microsoft.com/office/drawing/2014/main" id="{813B5894-326F-0EE3-3D4B-2258CB56B6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6" y="1898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7" name="Oval 48">
                  <a:extLst>
                    <a:ext uri="{FF2B5EF4-FFF2-40B4-BE49-F238E27FC236}">
                      <a16:creationId xmlns:a16="http://schemas.microsoft.com/office/drawing/2014/main" id="{C610013D-B73E-B4A9-C161-D62C72F622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3" y="1839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8" name="Freeform 49">
                  <a:extLst>
                    <a:ext uri="{FF2B5EF4-FFF2-40B4-BE49-F238E27FC236}">
                      <a16:creationId xmlns:a16="http://schemas.microsoft.com/office/drawing/2014/main" id="{04CE9685-FF7B-1F42-C40D-3379D2245B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7" y="1647"/>
                  <a:ext cx="1" cy="522"/>
                </a:xfrm>
                <a:custGeom>
                  <a:avLst/>
                  <a:gdLst>
                    <a:gd name="T0" fmla="*/ 0 w 1"/>
                    <a:gd name="T1" fmla="*/ 0 h 522"/>
                    <a:gd name="T2" fmla="*/ 0 w 1"/>
                    <a:gd name="T3" fmla="*/ 522 h 522"/>
                    <a:gd name="T4" fmla="*/ 0 60000 65536"/>
                    <a:gd name="T5" fmla="*/ 0 60000 65536"/>
                    <a:gd name="T6" fmla="*/ 0 w 1"/>
                    <a:gd name="T7" fmla="*/ 0 h 522"/>
                    <a:gd name="T8" fmla="*/ 1 w 1"/>
                    <a:gd name="T9" fmla="*/ 522 h 52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522">
                      <a:moveTo>
                        <a:pt x="0" y="0"/>
                      </a:moveTo>
                      <a:lnTo>
                        <a:pt x="0" y="522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9" name="Freeform 50">
                  <a:extLst>
                    <a:ext uri="{FF2B5EF4-FFF2-40B4-BE49-F238E27FC236}">
                      <a16:creationId xmlns:a16="http://schemas.microsoft.com/office/drawing/2014/main" id="{B6F6D4DC-2B35-C348-D9D6-EEF3F26CE2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64" y="1653"/>
                  <a:ext cx="1" cy="537"/>
                </a:xfrm>
                <a:custGeom>
                  <a:avLst/>
                  <a:gdLst>
                    <a:gd name="T0" fmla="*/ 0 w 1"/>
                    <a:gd name="T1" fmla="*/ 0 h 537"/>
                    <a:gd name="T2" fmla="*/ 0 w 1"/>
                    <a:gd name="T3" fmla="*/ 537 h 537"/>
                    <a:gd name="T4" fmla="*/ 0 60000 65536"/>
                    <a:gd name="T5" fmla="*/ 0 60000 65536"/>
                    <a:gd name="T6" fmla="*/ 0 w 1"/>
                    <a:gd name="T7" fmla="*/ 0 h 537"/>
                    <a:gd name="T8" fmla="*/ 1 w 1"/>
                    <a:gd name="T9" fmla="*/ 537 h 53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537">
                      <a:moveTo>
                        <a:pt x="0" y="0"/>
                      </a:moveTo>
                      <a:lnTo>
                        <a:pt x="0" y="537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0" name="Freeform 51">
                  <a:extLst>
                    <a:ext uri="{FF2B5EF4-FFF2-40B4-BE49-F238E27FC236}">
                      <a16:creationId xmlns:a16="http://schemas.microsoft.com/office/drawing/2014/main" id="{C2D633D4-E0BA-D02A-C8B9-09539C5F0B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29" y="1638"/>
                  <a:ext cx="504" cy="600"/>
                </a:xfrm>
                <a:custGeom>
                  <a:avLst/>
                  <a:gdLst>
                    <a:gd name="T0" fmla="*/ 0 w 378"/>
                    <a:gd name="T1" fmla="*/ 11993521 h 174"/>
                    <a:gd name="T2" fmla="*/ 5035 w 378"/>
                    <a:gd name="T3" fmla="*/ 0 h 174"/>
                    <a:gd name="T4" fmla="*/ 0 60000 65536"/>
                    <a:gd name="T5" fmla="*/ 0 60000 65536"/>
                    <a:gd name="T6" fmla="*/ 0 w 378"/>
                    <a:gd name="T7" fmla="*/ 0 h 174"/>
                    <a:gd name="T8" fmla="*/ 378 w 378"/>
                    <a:gd name="T9" fmla="*/ 174 h 17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78" h="174">
                      <a:moveTo>
                        <a:pt x="0" y="174"/>
                      </a:moveTo>
                      <a:lnTo>
                        <a:pt x="378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1" name="Freeform 52">
                  <a:extLst>
                    <a:ext uri="{FF2B5EF4-FFF2-40B4-BE49-F238E27FC236}">
                      <a16:creationId xmlns:a16="http://schemas.microsoft.com/office/drawing/2014/main" id="{8BB18644-5ED5-AB2F-0047-F2E6873553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6" y="1986"/>
                  <a:ext cx="366" cy="270"/>
                </a:xfrm>
                <a:custGeom>
                  <a:avLst/>
                  <a:gdLst>
                    <a:gd name="T0" fmla="*/ 0 w 366"/>
                    <a:gd name="T1" fmla="*/ 270 h 270"/>
                    <a:gd name="T2" fmla="*/ 366 w 366"/>
                    <a:gd name="T3" fmla="*/ 0 h 270"/>
                    <a:gd name="T4" fmla="*/ 0 60000 65536"/>
                    <a:gd name="T5" fmla="*/ 0 60000 65536"/>
                    <a:gd name="T6" fmla="*/ 0 w 366"/>
                    <a:gd name="T7" fmla="*/ 0 h 270"/>
                    <a:gd name="T8" fmla="*/ 366 w 366"/>
                    <a:gd name="T9" fmla="*/ 270 h 27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66" h="270">
                      <a:moveTo>
                        <a:pt x="0" y="270"/>
                      </a:moveTo>
                      <a:lnTo>
                        <a:pt x="366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2" name="Freeform 53">
                  <a:extLst>
                    <a:ext uri="{FF2B5EF4-FFF2-40B4-BE49-F238E27FC236}">
                      <a16:creationId xmlns:a16="http://schemas.microsoft.com/office/drawing/2014/main" id="{50076693-02FD-EB65-E92A-54ED208162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5" y="2268"/>
                  <a:ext cx="366" cy="1"/>
                </a:xfrm>
                <a:custGeom>
                  <a:avLst/>
                  <a:gdLst>
                    <a:gd name="T0" fmla="*/ 366 w 366"/>
                    <a:gd name="T1" fmla="*/ 0 h 1"/>
                    <a:gd name="T2" fmla="*/ 0 w 366"/>
                    <a:gd name="T3" fmla="*/ 0 h 1"/>
                    <a:gd name="T4" fmla="*/ 0 60000 65536"/>
                    <a:gd name="T5" fmla="*/ 0 60000 65536"/>
                    <a:gd name="T6" fmla="*/ 0 w 366"/>
                    <a:gd name="T7" fmla="*/ 0 h 1"/>
                    <a:gd name="T8" fmla="*/ 366 w 366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66" h="1">
                      <a:moveTo>
                        <a:pt x="36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3" name="Freeform 54">
                  <a:extLst>
                    <a:ext uri="{FF2B5EF4-FFF2-40B4-BE49-F238E27FC236}">
                      <a16:creationId xmlns:a16="http://schemas.microsoft.com/office/drawing/2014/main" id="{5CAA1038-1ADD-E225-5E21-5923CF3AE9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4" y="1944"/>
                  <a:ext cx="276" cy="264"/>
                </a:xfrm>
                <a:custGeom>
                  <a:avLst/>
                  <a:gdLst>
                    <a:gd name="T0" fmla="*/ 276 w 276"/>
                    <a:gd name="T1" fmla="*/ 264 h 264"/>
                    <a:gd name="T2" fmla="*/ 0 w 276"/>
                    <a:gd name="T3" fmla="*/ 0 h 264"/>
                    <a:gd name="T4" fmla="*/ 0 60000 65536"/>
                    <a:gd name="T5" fmla="*/ 0 60000 65536"/>
                    <a:gd name="T6" fmla="*/ 0 w 276"/>
                    <a:gd name="T7" fmla="*/ 0 h 264"/>
                    <a:gd name="T8" fmla="*/ 276 w 276"/>
                    <a:gd name="T9" fmla="*/ 264 h 26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276" h="264">
                      <a:moveTo>
                        <a:pt x="276" y="26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4" name="Freeform 55">
                  <a:extLst>
                    <a:ext uri="{FF2B5EF4-FFF2-40B4-BE49-F238E27FC236}">
                      <a16:creationId xmlns:a16="http://schemas.microsoft.com/office/drawing/2014/main" id="{4D8564F5-805D-6CA8-7BCB-8837B787E6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29" y="1578"/>
                  <a:ext cx="366" cy="1"/>
                </a:xfrm>
                <a:custGeom>
                  <a:avLst/>
                  <a:gdLst>
                    <a:gd name="T0" fmla="*/ 366 w 366"/>
                    <a:gd name="T1" fmla="*/ 0 h 1"/>
                    <a:gd name="T2" fmla="*/ 0 w 366"/>
                    <a:gd name="T3" fmla="*/ 0 h 1"/>
                    <a:gd name="T4" fmla="*/ 0 60000 65536"/>
                    <a:gd name="T5" fmla="*/ 0 60000 65536"/>
                    <a:gd name="T6" fmla="*/ 0 w 366"/>
                    <a:gd name="T7" fmla="*/ 0 h 1"/>
                    <a:gd name="T8" fmla="*/ 366 w 366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66" h="1">
                      <a:moveTo>
                        <a:pt x="36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5" name="Freeform 56">
                  <a:extLst>
                    <a:ext uri="{FF2B5EF4-FFF2-40B4-BE49-F238E27FC236}">
                      <a16:creationId xmlns:a16="http://schemas.microsoft.com/office/drawing/2014/main" id="{339AFCB3-FB15-C280-B401-328967AB32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4" y="1575"/>
                  <a:ext cx="396" cy="267"/>
                </a:xfrm>
                <a:custGeom>
                  <a:avLst/>
                  <a:gdLst>
                    <a:gd name="T0" fmla="*/ 396 w 396"/>
                    <a:gd name="T1" fmla="*/ 267 h 267"/>
                    <a:gd name="T2" fmla="*/ 0 w 396"/>
                    <a:gd name="T3" fmla="*/ 0 h 267"/>
                    <a:gd name="T4" fmla="*/ 0 60000 65536"/>
                    <a:gd name="T5" fmla="*/ 0 60000 65536"/>
                    <a:gd name="T6" fmla="*/ 0 w 396"/>
                    <a:gd name="T7" fmla="*/ 0 h 267"/>
                    <a:gd name="T8" fmla="*/ 396 w 396"/>
                    <a:gd name="T9" fmla="*/ 267 h 26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96" h="267">
                      <a:moveTo>
                        <a:pt x="396" y="26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6" name="Freeform 57">
                  <a:extLst>
                    <a:ext uri="{FF2B5EF4-FFF2-40B4-BE49-F238E27FC236}">
                      <a16:creationId xmlns:a16="http://schemas.microsoft.com/office/drawing/2014/main" id="{2A8199B4-EBBA-669F-1FDC-42A46D208E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7" y="1146"/>
                  <a:ext cx="1110" cy="645"/>
                </a:xfrm>
                <a:custGeom>
                  <a:avLst/>
                  <a:gdLst>
                    <a:gd name="T0" fmla="*/ 1110 w 1110"/>
                    <a:gd name="T1" fmla="*/ 342 h 645"/>
                    <a:gd name="T2" fmla="*/ 0 w 1110"/>
                    <a:gd name="T3" fmla="*/ 645 h 645"/>
                    <a:gd name="T4" fmla="*/ 0 60000 65536"/>
                    <a:gd name="T5" fmla="*/ 0 60000 65536"/>
                    <a:gd name="T6" fmla="*/ 0 w 1110"/>
                    <a:gd name="T7" fmla="*/ 0 h 645"/>
                    <a:gd name="T8" fmla="*/ 1110 w 1110"/>
                    <a:gd name="T9" fmla="*/ 645 h 645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110" h="645">
                      <a:moveTo>
                        <a:pt x="1110" y="342"/>
                      </a:moveTo>
                      <a:cubicBezTo>
                        <a:pt x="1104" y="0"/>
                        <a:pt x="21" y="63"/>
                        <a:pt x="0" y="645"/>
                      </a:cubicBez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17" name="Group 58">
                  <a:extLst>
                    <a:ext uri="{FF2B5EF4-FFF2-40B4-BE49-F238E27FC236}">
                      <a16:creationId xmlns:a16="http://schemas.microsoft.com/office/drawing/2014/main" id="{868AD8C3-B55C-790A-8BFE-D2897240DC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87" y="1744"/>
                  <a:ext cx="205" cy="250"/>
                  <a:chOff x="2954" y="2425"/>
                  <a:chExt cx="208" cy="250"/>
                </a:xfrm>
              </p:grpSpPr>
              <p:sp>
                <p:nvSpPr>
                  <p:cNvPr id="143" name="Rectangle 59">
                    <a:extLst>
                      <a:ext uri="{FF2B5EF4-FFF2-40B4-BE49-F238E27FC236}">
                        <a16:creationId xmlns:a16="http://schemas.microsoft.com/office/drawing/2014/main" id="{7872E0DB-2BBC-4BFE-A445-FE712F3940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4" name="Text Box 60">
                    <a:extLst>
                      <a:ext uri="{FF2B5EF4-FFF2-40B4-BE49-F238E27FC236}">
                        <a16:creationId xmlns:a16="http://schemas.microsoft.com/office/drawing/2014/main" id="{F8084875-1626-0282-2025-EE48A44B1F4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4" y="2425"/>
                    <a:ext cx="20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u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18" name="Group 61">
                  <a:extLst>
                    <a:ext uri="{FF2B5EF4-FFF2-40B4-BE49-F238E27FC236}">
                      <a16:creationId xmlns:a16="http://schemas.microsoft.com/office/drawing/2014/main" id="{C35A2EAD-52B6-4703-258C-BB79EFC2FC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61" y="2128"/>
                  <a:ext cx="196" cy="250"/>
                  <a:chOff x="2958" y="2425"/>
                  <a:chExt cx="199" cy="250"/>
                </a:xfrm>
              </p:grpSpPr>
              <p:sp>
                <p:nvSpPr>
                  <p:cNvPr id="141" name="Rectangle 62">
                    <a:extLst>
                      <a:ext uri="{FF2B5EF4-FFF2-40B4-BE49-F238E27FC236}">
                        <a16:creationId xmlns:a16="http://schemas.microsoft.com/office/drawing/2014/main" id="{20271C31-507B-A282-13BA-7B9FEC8A5F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2" name="Text Box 63">
                    <a:extLst>
                      <a:ext uri="{FF2B5EF4-FFF2-40B4-BE49-F238E27FC236}">
                        <a16:creationId xmlns:a16="http://schemas.microsoft.com/office/drawing/2014/main" id="{94C504A1-F1E8-E2EB-B8FC-C2F10BCE606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8" y="2425"/>
                    <a:ext cx="19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y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19" name="Group 64">
                  <a:extLst>
                    <a:ext uri="{FF2B5EF4-FFF2-40B4-BE49-F238E27FC236}">
                      <a16:creationId xmlns:a16="http://schemas.microsoft.com/office/drawing/2014/main" id="{4D4219F8-F62E-2139-BC7D-2C9F5710D2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72" y="2095"/>
                  <a:ext cx="212" cy="288"/>
                  <a:chOff x="2951" y="2395"/>
                  <a:chExt cx="213" cy="288"/>
                </a:xfrm>
              </p:grpSpPr>
              <p:sp>
                <p:nvSpPr>
                  <p:cNvPr id="139" name="Rectangle 65">
                    <a:extLst>
                      <a:ext uri="{FF2B5EF4-FFF2-40B4-BE49-F238E27FC236}">
                        <a16:creationId xmlns:a16="http://schemas.microsoft.com/office/drawing/2014/main" id="{0D6FDED1-5557-69FA-A12F-81311A9E55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0" name="Text Box 66">
                    <a:extLst>
                      <a:ext uri="{FF2B5EF4-FFF2-40B4-BE49-F238E27FC236}">
                        <a16:creationId xmlns:a16="http://schemas.microsoft.com/office/drawing/2014/main" id="{01377FA8-5AF8-03E9-19C2-A4D21B0A78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x</a:t>
                    </a:r>
                  </a:p>
                </p:txBody>
              </p:sp>
            </p:grpSp>
            <p:grpSp>
              <p:nvGrpSpPr>
                <p:cNvPr id="120" name="Group 67">
                  <a:extLst>
                    <a:ext uri="{FF2B5EF4-FFF2-40B4-BE49-F238E27FC236}">
                      <a16:creationId xmlns:a16="http://schemas.microsoft.com/office/drawing/2014/main" id="{57B8C203-E53A-64A0-6F20-4285FCA2DB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38" y="1438"/>
                  <a:ext cx="232" cy="250"/>
                  <a:chOff x="2941" y="2425"/>
                  <a:chExt cx="235" cy="250"/>
                </a:xfrm>
              </p:grpSpPr>
              <p:sp>
                <p:nvSpPr>
                  <p:cNvPr id="137" name="Rectangle 68">
                    <a:extLst>
                      <a:ext uri="{FF2B5EF4-FFF2-40B4-BE49-F238E27FC236}">
                        <a16:creationId xmlns:a16="http://schemas.microsoft.com/office/drawing/2014/main" id="{C20AEFF8-8ABB-EEBE-C269-9CF112DA58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6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8" name="Text Box 69">
                    <a:extLst>
                      <a:ext uri="{FF2B5EF4-FFF2-40B4-BE49-F238E27FC236}">
                        <a16:creationId xmlns:a16="http://schemas.microsoft.com/office/drawing/2014/main" id="{E5126FF4-1C18-1B16-3B78-A95F0F9DEB3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1" y="2425"/>
                    <a:ext cx="23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w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21" name="Group 70">
                  <a:extLst>
                    <a:ext uri="{FF2B5EF4-FFF2-40B4-BE49-F238E27FC236}">
                      <a16:creationId xmlns:a16="http://schemas.microsoft.com/office/drawing/2014/main" id="{580C75A7-D96A-8C58-74DE-FCD1F8F16E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71" y="1438"/>
                  <a:ext cx="196" cy="250"/>
                  <a:chOff x="2958" y="2425"/>
                  <a:chExt cx="199" cy="250"/>
                </a:xfrm>
              </p:grpSpPr>
              <p:sp>
                <p:nvSpPr>
                  <p:cNvPr id="135" name="Rectangle 71">
                    <a:extLst>
                      <a:ext uri="{FF2B5EF4-FFF2-40B4-BE49-F238E27FC236}">
                        <a16:creationId xmlns:a16="http://schemas.microsoft.com/office/drawing/2014/main" id="{A0FC7C3F-4E0E-E25C-993E-E53DB9EE45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6" name="Text Box 72">
                    <a:extLst>
                      <a:ext uri="{FF2B5EF4-FFF2-40B4-BE49-F238E27FC236}">
                        <a16:creationId xmlns:a16="http://schemas.microsoft.com/office/drawing/2014/main" id="{F06489B1-6918-92F8-FABA-DB48A1F54E6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8" y="2425"/>
                    <a:ext cx="19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v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22" name="Group 73">
                  <a:extLst>
                    <a:ext uri="{FF2B5EF4-FFF2-40B4-BE49-F238E27FC236}">
                      <a16:creationId xmlns:a16="http://schemas.microsoft.com/office/drawing/2014/main" id="{E14BA2DD-B8A4-1277-1CD7-24DF077363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25" y="1756"/>
                  <a:ext cx="212" cy="288"/>
                  <a:chOff x="2949" y="2395"/>
                  <a:chExt cx="214" cy="288"/>
                </a:xfrm>
              </p:grpSpPr>
              <p:sp>
                <p:nvSpPr>
                  <p:cNvPr id="133" name="Rectangle 74">
                    <a:extLst>
                      <a:ext uri="{FF2B5EF4-FFF2-40B4-BE49-F238E27FC236}">
                        <a16:creationId xmlns:a16="http://schemas.microsoft.com/office/drawing/2014/main" id="{B9FA8A50-2BA6-5317-E800-3B93D79FF6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4" name="Text Box 75">
                    <a:extLst>
                      <a:ext uri="{FF2B5EF4-FFF2-40B4-BE49-F238E27FC236}">
                        <a16:creationId xmlns:a16="http://schemas.microsoft.com/office/drawing/2014/main" id="{5FE58B5B-93EA-568E-48AF-50AC77A89A8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9" y="2395"/>
                    <a:ext cx="21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z</a:t>
                    </a:r>
                  </a:p>
                </p:txBody>
              </p:sp>
            </p:grpSp>
            <p:sp>
              <p:nvSpPr>
                <p:cNvPr id="123" name="Text Box 76">
                  <a:extLst>
                    <a:ext uri="{FF2B5EF4-FFF2-40B4-BE49-F238E27FC236}">
                      <a16:creationId xmlns:a16="http://schemas.microsoft.com/office/drawing/2014/main" id="{2D69456A-CD9C-B780-256D-EAF6638985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93" y="1568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4" name="Text Box 77">
                  <a:extLst>
                    <a:ext uri="{FF2B5EF4-FFF2-40B4-BE49-F238E27FC236}">
                      <a16:creationId xmlns:a16="http://schemas.microsoft.com/office/drawing/2014/main" id="{8B0CE343-579A-2CE0-53BC-14FFA58EBB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1" y="1787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5" name="Text Box 78">
                  <a:extLst>
                    <a:ext uri="{FF2B5EF4-FFF2-40B4-BE49-F238E27FC236}">
                      <a16:creationId xmlns:a16="http://schemas.microsoft.com/office/drawing/2014/main" id="{B782E706-63F0-A3AF-F2AA-CC4A2DF34A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6" y="2000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6" name="Text Box 79">
                  <a:extLst>
                    <a:ext uri="{FF2B5EF4-FFF2-40B4-BE49-F238E27FC236}">
                      <a16:creationId xmlns:a16="http://schemas.microsoft.com/office/drawing/2014/main" id="{DF86AA01-C138-3BCB-79B1-8A6B3797D4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5" y="1880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7" name="Text Box 80">
                  <a:extLst>
                    <a:ext uri="{FF2B5EF4-FFF2-40B4-BE49-F238E27FC236}">
                      <a16:creationId xmlns:a16="http://schemas.microsoft.com/office/drawing/2014/main" id="{8B9DECE9-DA55-1492-610E-C6CBEED330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62" y="2234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8" name="Text Box 81">
                  <a:extLst>
                    <a:ext uri="{FF2B5EF4-FFF2-40B4-BE49-F238E27FC236}">
                      <a16:creationId xmlns:a16="http://schemas.microsoft.com/office/drawing/2014/main" id="{EEACCD4E-35D9-801C-3472-89384BBE8C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22" y="1805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9" name="Text Box 82">
                  <a:extLst>
                    <a:ext uri="{FF2B5EF4-FFF2-40B4-BE49-F238E27FC236}">
                      <a16:creationId xmlns:a16="http://schemas.microsoft.com/office/drawing/2014/main" id="{4B0E65B3-0D9D-4C6A-BAF5-9B6709E213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82" y="2069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0" name="Text Box 83">
                  <a:extLst>
                    <a:ext uri="{FF2B5EF4-FFF2-40B4-BE49-F238E27FC236}">
                      <a16:creationId xmlns:a16="http://schemas.microsoft.com/office/drawing/2014/main" id="{7B173FB9-A0F0-0445-9D69-0E9A3E8483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5" y="1532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5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1" name="Text Box 84">
                  <a:extLst>
                    <a:ext uri="{FF2B5EF4-FFF2-40B4-BE49-F238E27FC236}">
                      <a16:creationId xmlns:a16="http://schemas.microsoft.com/office/drawing/2014/main" id="{B622D297-5673-8BD3-45A0-D76C69BA65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20" y="1382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2" name="Text Box 85">
                  <a:extLst>
                    <a:ext uri="{FF2B5EF4-FFF2-40B4-BE49-F238E27FC236}">
                      <a16:creationId xmlns:a16="http://schemas.microsoft.com/office/drawing/2014/main" id="{FB10A00B-FC14-5554-65CD-99A376EF02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69" y="1115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5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cxnSp>
            <p:nvCxnSpPr>
              <p:cNvPr id="145" name="Straight Arrow Connector 37">
                <a:extLst>
                  <a:ext uri="{FF2B5EF4-FFF2-40B4-BE49-F238E27FC236}">
                    <a16:creationId xmlns:a16="http://schemas.microsoft.com/office/drawing/2014/main" id="{491B8978-C043-8386-A14F-3936C59A004F}"/>
                  </a:ext>
                </a:extLst>
              </p:cNvPr>
              <p:cNvCxnSpPr>
                <a:cxnSpLocks/>
                <a:endCxn id="87" idx="2"/>
              </p:cNvCxnSpPr>
              <p:nvPr/>
            </p:nvCxnSpPr>
            <p:spPr>
              <a:xfrm>
                <a:off x="1957653" y="5544274"/>
                <a:ext cx="439472" cy="428799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558">
                <a:extLst>
                  <a:ext uri="{FF2B5EF4-FFF2-40B4-BE49-F238E27FC236}">
                    <a16:creationId xmlns:a16="http://schemas.microsoft.com/office/drawing/2014/main" id="{10C26E53-6951-A1B4-3C9A-30746C50D6A9}"/>
                  </a:ext>
                </a:extLst>
              </p:cNvPr>
              <p:cNvCxnSpPr>
                <a:cxnSpLocks/>
                <a:endCxn id="98" idx="2"/>
              </p:cNvCxnSpPr>
              <p:nvPr/>
            </p:nvCxnSpPr>
            <p:spPr>
              <a:xfrm>
                <a:off x="2908706" y="6055489"/>
                <a:ext cx="586969" cy="6484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559">
                <a:extLst>
                  <a:ext uri="{FF2B5EF4-FFF2-40B4-BE49-F238E27FC236}">
                    <a16:creationId xmlns:a16="http://schemas.microsoft.com/office/drawing/2014/main" id="{CE073839-4589-5D84-CCF3-0B9BE77191D4}"/>
                  </a:ext>
                </a:extLst>
              </p:cNvPr>
              <p:cNvCxnSpPr>
                <a:cxnSpLocks/>
                <a:stCxn id="82" idx="7"/>
              </p:cNvCxnSpPr>
              <p:nvPr/>
            </p:nvCxnSpPr>
            <p:spPr>
              <a:xfrm flipV="1">
                <a:off x="2068770" y="5023414"/>
                <a:ext cx="502342" cy="281976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560">
                <a:extLst>
                  <a:ext uri="{FF2B5EF4-FFF2-40B4-BE49-F238E27FC236}">
                    <a16:creationId xmlns:a16="http://schemas.microsoft.com/office/drawing/2014/main" id="{18F4D6D7-1405-3C25-F28C-D92D3FB4B4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4012" y="4988689"/>
                <a:ext cx="0" cy="883534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561">
                <a:extLst>
                  <a:ext uri="{FF2B5EF4-FFF2-40B4-BE49-F238E27FC236}">
                    <a16:creationId xmlns:a16="http://schemas.microsoft.com/office/drawing/2014/main" id="{290CA176-3BF1-206C-B062-918AFC5725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7312" y="5577069"/>
                <a:ext cx="606730" cy="448060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7599D7B5-F161-F025-D951-46385A9E2FBC}"/>
                </a:ext>
              </a:extLst>
            </p:cNvPr>
            <p:cNvSpPr txBox="1"/>
            <p:nvPr/>
          </p:nvSpPr>
          <p:spPr>
            <a:xfrm>
              <a:off x="1442507" y="5455270"/>
              <a:ext cx="2778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①</a:t>
              </a: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A68F19F1-5E5A-3BF3-2019-5F485E1659DE}"/>
                </a:ext>
              </a:extLst>
            </p:cNvPr>
            <p:cNvSpPr txBox="1"/>
            <p:nvPr/>
          </p:nvSpPr>
          <p:spPr>
            <a:xfrm>
              <a:off x="2402573" y="5668607"/>
              <a:ext cx="432328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②</a:t>
              </a: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26A7F9E1-3A95-7E20-B63E-14494A9CD2F9}"/>
                </a:ext>
              </a:extLst>
            </p:cNvPr>
            <p:cNvSpPr txBox="1"/>
            <p:nvPr/>
          </p:nvSpPr>
          <p:spPr>
            <a:xfrm>
              <a:off x="1498336" y="5056806"/>
              <a:ext cx="432328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③</a:t>
              </a: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5C9F290B-120E-EFF8-25C3-8678485F704D}"/>
                </a:ext>
              </a:extLst>
            </p:cNvPr>
            <p:cNvSpPr txBox="1"/>
            <p:nvPr/>
          </p:nvSpPr>
          <p:spPr>
            <a:xfrm>
              <a:off x="2680494" y="5275977"/>
              <a:ext cx="432328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④</a:t>
              </a: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A4C57BE3-28A3-0AB1-51F3-29D7586941A0}"/>
                </a:ext>
              </a:extLst>
            </p:cNvPr>
            <p:cNvSpPr txBox="1"/>
            <p:nvPr/>
          </p:nvSpPr>
          <p:spPr>
            <a:xfrm>
              <a:off x="3297000" y="5477493"/>
              <a:ext cx="432328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</a:rPr>
                <a:t>⑤</a:t>
              </a:r>
            </a:p>
          </p:txBody>
        </p:sp>
      </p:grp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5AF86F18-4EF9-AA58-9777-0F41E2AD7AB5}"/>
              </a:ext>
            </a:extLst>
          </p:cNvPr>
          <p:cNvGrpSpPr/>
          <p:nvPr/>
        </p:nvGrpSpPr>
        <p:grpSpPr>
          <a:xfrm>
            <a:off x="696383" y="850407"/>
            <a:ext cx="9864150" cy="2952328"/>
            <a:chOff x="882650" y="917506"/>
            <a:chExt cx="9864150" cy="2952328"/>
          </a:xfrm>
        </p:grpSpPr>
        <p:graphicFrame>
          <p:nvGraphicFramePr>
            <p:cNvPr id="4" name="内容占位符 5">
              <a:extLst>
                <a:ext uri="{FF2B5EF4-FFF2-40B4-BE49-F238E27FC236}">
                  <a16:creationId xmlns:a16="http://schemas.microsoft.com/office/drawing/2014/main" id="{55958F88-563F-4F59-2FDE-5BFDDD03DCD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82650" y="917506"/>
            <a:ext cx="9864150" cy="2952328"/>
          </p:xfrm>
          <a:graphic>
            <a:graphicData uri="http://schemas.openxmlformats.org/drawingml/2006/table">
              <a:tbl>
                <a:tblPr firstRow="1" firstCol="1" bandRow="1">
                  <a:tableStyleId>{72833802-FEF1-4C79-8D5D-14CF1EAF98D9}</a:tableStyleId>
                </a:tblPr>
                <a:tblGrid>
                  <a:gridCol w="140866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40866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408668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408668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409826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409826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409826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432448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zh-CN" sz="2000" kern="100" dirty="0">
                            <a:effectLst/>
                          </a:rPr>
                          <a:t>步骤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zh-CN" sz="2000" kern="100" dirty="0">
                            <a:effectLst/>
                          </a:rPr>
                          <a:t>标记节点</a:t>
                        </a:r>
                        <a:endPara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D(v),P(v)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D(w),P(w)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D(x),P(x)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D(y),P(y)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D(z),P(z)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0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2,u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5,u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b="1" u="sng" kern="100" dirty="0">
                            <a:solidFill>
                              <a:schemeClr val="accent4"/>
                            </a:solidFill>
                            <a:effectLst/>
                          </a:rPr>
                          <a:t>1,u</a:t>
                        </a: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∞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∞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1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2,u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4, x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b="1" u="sng" kern="100" dirty="0">
                            <a:solidFill>
                              <a:schemeClr val="accent4"/>
                            </a:solidFill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2, x</a:t>
                        </a: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∞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2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uxy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b="1" u="sng" kern="100" dirty="0">
                            <a:solidFill>
                              <a:schemeClr val="accent4"/>
                            </a:solidFill>
                            <a:effectLst/>
                          </a:rPr>
                          <a:t>2,u</a:t>
                        </a: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3, </a:t>
                        </a:r>
                        <a:r>
                          <a:rPr lang="en-US" altLang="zh-CN" sz="2000" kern="100" dirty="0">
                            <a:effectLst/>
                          </a:rPr>
                          <a:t>y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4, y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3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uxyv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b="1" u="sng" kern="100" dirty="0">
                            <a:solidFill>
                              <a:schemeClr val="accent4"/>
                            </a:solidFill>
                            <a:effectLst/>
                          </a:rPr>
                          <a:t>3, </a:t>
                        </a:r>
                        <a:r>
                          <a:rPr lang="en-US" altLang="zh-CN" sz="2000" b="1" u="sng" kern="100" dirty="0">
                            <a:solidFill>
                              <a:schemeClr val="accent4"/>
                            </a:solidFill>
                            <a:effectLst/>
                          </a:rPr>
                          <a:t>y</a:t>
                        </a: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endParaRPr 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altLang="zh-CN" sz="2000" kern="100" dirty="0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4, y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4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marL="0" marR="0" lvl="0" indent="0" algn="just" defTabSz="914400" rtl="0" eaLnBrk="1" fontAlgn="auto" latinLnBrk="0" hangingPunct="1">
                          <a:lnSpc>
                            <a:spcPct val="15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uxyvw</a:t>
                        </a:r>
                        <a:endParaRPr lang="zh-CN" alt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>
                            <a:effectLst/>
                          </a:rPr>
                          <a:t> </a:t>
                        </a:r>
                        <a:endParaRPr lang="zh-CN" sz="2000" kern="10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>
                            <a:effectLst/>
                          </a:rPr>
                          <a:t> </a:t>
                        </a:r>
                        <a:endParaRPr lang="zh-CN" sz="2000" kern="10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5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CN" sz="2000" b="1" u="sng" kern="100" dirty="0">
                            <a:solidFill>
                              <a:schemeClr val="accent4"/>
                            </a:solidFill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4, y</a:t>
                        </a:r>
                        <a:endParaRPr lang="zh-CN" altLang="zh-CN" sz="2000" b="1" u="sng" kern="100" dirty="0">
                          <a:solidFill>
                            <a:schemeClr val="accent4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19980">
                  <a:tc>
                    <a:txBody>
                      <a:bodyPr/>
                      <a:lstStyle/>
                      <a:p>
                        <a:pPr algn="ctr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5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marL="0" marR="0" lvl="0" indent="0" algn="just" defTabSz="914400" rtl="0" eaLnBrk="1" fontAlgn="auto" latinLnBrk="0" hangingPunct="1">
                          <a:lnSpc>
                            <a:spcPct val="15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CN" sz="2000" kern="100" dirty="0" err="1">
                            <a:effectLst/>
                            <a:latin typeface="Times New Roman"/>
                            <a:ea typeface="宋体"/>
                            <a:cs typeface="Times New Roman"/>
                          </a:rPr>
                          <a:t>uxyvwz</a:t>
                        </a:r>
                        <a:endParaRPr lang="zh-CN" alt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>
                            <a:effectLst/>
                          </a:rPr>
                          <a:t> </a:t>
                        </a:r>
                        <a:endParaRPr lang="zh-CN" sz="2000" kern="10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tc>
                    <a:txBody>
                      <a:bodyPr/>
                      <a:lstStyle/>
                      <a:p>
                        <a:pPr algn="just">
                          <a:lnSpc>
                            <a:spcPct val="150000"/>
                          </a:lnSpc>
                          <a:spcAft>
                            <a:spcPts val="0"/>
                          </a:spcAft>
                        </a:pPr>
                        <a:r>
                          <a:rPr lang="en-US" sz="2000" kern="100" dirty="0">
                            <a:effectLst/>
                          </a:rPr>
                          <a:t> </a:t>
                        </a:r>
                        <a:endParaRPr lang="zh-CN" sz="2000" kern="100" dirty="0">
                          <a:effectLst/>
                          <a:latin typeface="Times New Roman"/>
                          <a:ea typeface="宋体"/>
                          <a:cs typeface="Times New Roman"/>
                        </a:endParaRPr>
                      </a:p>
                    </a:txBody>
                    <a:tcPr marL="68580" marR="68580" marT="0" marB="0"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157" name="Oval 114">
              <a:extLst>
                <a:ext uri="{FF2B5EF4-FFF2-40B4-BE49-F238E27FC236}">
                  <a16:creationId xmlns:a16="http://schemas.microsoft.com/office/drawing/2014/main" id="{E166EBD2-C7F9-D394-ECF3-BAC017063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0265" y="147930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8" name="Oval 114">
              <a:extLst>
                <a:ext uri="{FF2B5EF4-FFF2-40B4-BE49-F238E27FC236}">
                  <a16:creationId xmlns:a16="http://schemas.microsoft.com/office/drawing/2014/main" id="{7F613A3D-6DE1-5B4D-5BDA-7BA457EB5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5732" y="1877242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9" name="Oval 114">
              <a:extLst>
                <a:ext uri="{FF2B5EF4-FFF2-40B4-BE49-F238E27FC236}">
                  <a16:creationId xmlns:a16="http://schemas.microsoft.com/office/drawing/2014/main" id="{81F59D1B-B9EB-F1C7-BF3A-9766AD048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011" y="2308114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60" name="Oval 114">
              <a:extLst>
                <a:ext uri="{FF2B5EF4-FFF2-40B4-BE49-F238E27FC236}">
                  <a16:creationId xmlns:a16="http://schemas.microsoft.com/office/drawing/2014/main" id="{37EE979C-20D9-81E4-65A1-5191A3431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299" y="2714514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61" name="Oval 114">
              <a:extLst>
                <a:ext uri="{FF2B5EF4-FFF2-40B4-BE49-F238E27FC236}">
                  <a16:creationId xmlns:a16="http://schemas.microsoft.com/office/drawing/2014/main" id="{EA694210-492F-2EF9-3939-7F3CD4E41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6632" y="3157677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9C00A4E-DD70-029B-1532-F9C14FD5A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436321"/>
              </p:ext>
            </p:extLst>
          </p:nvPr>
        </p:nvGraphicFramePr>
        <p:xfrm>
          <a:off x="4063668" y="4264973"/>
          <a:ext cx="3844353" cy="2225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81451">
                  <a:extLst>
                    <a:ext uri="{9D8B030D-6E8A-4147-A177-3AD203B41FA5}">
                      <a16:colId xmlns:a16="http://schemas.microsoft.com/office/drawing/2014/main" val="3383238427"/>
                    </a:ext>
                  </a:extLst>
                </a:gridCol>
                <a:gridCol w="1281451">
                  <a:extLst>
                    <a:ext uri="{9D8B030D-6E8A-4147-A177-3AD203B41FA5}">
                      <a16:colId xmlns:a16="http://schemas.microsoft.com/office/drawing/2014/main" val="1932862363"/>
                    </a:ext>
                  </a:extLst>
                </a:gridCol>
                <a:gridCol w="1281451">
                  <a:extLst>
                    <a:ext uri="{9D8B030D-6E8A-4147-A177-3AD203B41FA5}">
                      <a16:colId xmlns:a16="http://schemas.microsoft.com/office/drawing/2014/main" val="3852535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目的地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花费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23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v)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582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x)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08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x)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78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x)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96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x)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99173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BE5ABF7-F71B-5F28-9086-42B982EBD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306199"/>
              </p:ext>
            </p:extLst>
          </p:nvPr>
        </p:nvGraphicFramePr>
        <p:xfrm>
          <a:off x="8742317" y="4203854"/>
          <a:ext cx="2562902" cy="2225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81451">
                  <a:extLst>
                    <a:ext uri="{9D8B030D-6E8A-4147-A177-3AD203B41FA5}">
                      <a16:colId xmlns:a16="http://schemas.microsoft.com/office/drawing/2014/main" val="3383238427"/>
                    </a:ext>
                  </a:extLst>
                </a:gridCol>
                <a:gridCol w="1281451">
                  <a:extLst>
                    <a:ext uri="{9D8B030D-6E8A-4147-A177-3AD203B41FA5}">
                      <a16:colId xmlns:a16="http://schemas.microsoft.com/office/drawing/2014/main" val="1932862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目的地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下一跳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23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v)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582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x)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08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x)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78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x)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96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(u, x)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99173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C3BB6EA-D0F7-8EF3-50FE-6D6568071AF8}"/>
              </a:ext>
            </a:extLst>
          </p:cNvPr>
          <p:cNvSpPr txBox="1"/>
          <p:nvPr/>
        </p:nvSpPr>
        <p:spPr>
          <a:xfrm>
            <a:off x="4203170" y="3903133"/>
            <a:ext cx="1054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4"/>
                </a:solidFill>
              </a:rPr>
              <a:t>路由表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6B58C3-C9CE-C6CB-42C1-DF0217E1DBF3}"/>
              </a:ext>
            </a:extLst>
          </p:cNvPr>
          <p:cNvSpPr txBox="1"/>
          <p:nvPr/>
        </p:nvSpPr>
        <p:spPr>
          <a:xfrm>
            <a:off x="8886450" y="3849188"/>
            <a:ext cx="1054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4"/>
                </a:solidFill>
              </a:rPr>
              <a:t>转发表</a:t>
            </a:r>
          </a:p>
        </p:txBody>
      </p:sp>
    </p:spTree>
    <p:extLst>
      <p:ext uri="{BB962C8B-B14F-4D97-AF65-F5344CB8AC3E}">
        <p14:creationId xmlns:p14="http://schemas.microsoft.com/office/powerpoint/2010/main" val="102788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C5E1C-07AC-1B1A-8871-46CCC5FB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算法：复杂度分析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85312-2AF4-A9DB-9931-9307F0221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除了源外，还有</a:t>
            </a:r>
            <a:r>
              <a:rPr lang="en-US" altLang="zh-CN" dirty="0"/>
              <a:t>n</a:t>
            </a:r>
            <a:r>
              <a:rPr lang="zh-CN" altLang="en-US" dirty="0"/>
              <a:t>个节点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70C0"/>
                </a:solidFill>
              </a:rPr>
              <a:t>计算复杂度：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r>
              <a:rPr lang="zh-CN" altLang="en-US" dirty="0"/>
              <a:t>总共</a:t>
            </a:r>
            <a:r>
              <a:rPr lang="en-US" altLang="zh-CN" dirty="0"/>
              <a:t>n</a:t>
            </a:r>
            <a:r>
              <a:rPr lang="zh-CN" altLang="en-US" dirty="0"/>
              <a:t>轮</a:t>
            </a:r>
            <a:endParaRPr lang="en-US" altLang="zh-CN" dirty="0"/>
          </a:p>
          <a:p>
            <a:r>
              <a:rPr lang="zh-CN" altLang="en-US" dirty="0"/>
              <a:t>每轮：检查不在</a:t>
            </a:r>
            <a:r>
              <a:rPr lang="en-US" altLang="zh-CN" dirty="0"/>
              <a:t>N'</a:t>
            </a:r>
            <a:r>
              <a:rPr lang="zh-CN" altLang="en-US" dirty="0"/>
              <a:t>的节点</a:t>
            </a:r>
            <a:r>
              <a:rPr lang="en-US" altLang="zh-CN" dirty="0"/>
              <a:t>w</a:t>
            </a:r>
            <a:r>
              <a:rPr lang="zh-CN" altLang="en-US" dirty="0"/>
              <a:t>，寻找最小的</a:t>
            </a:r>
            <a:r>
              <a:rPr lang="en-US" altLang="zh-CN" dirty="0"/>
              <a:t>D(w)</a:t>
            </a:r>
          </a:p>
          <a:p>
            <a:r>
              <a:rPr lang="en-US" altLang="zh-CN" dirty="0"/>
              <a:t>n(n+1)/2</a:t>
            </a:r>
            <a:r>
              <a:rPr lang="zh-CN" altLang="en-US" dirty="0"/>
              <a:t>次比较， 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如果进行优化，</a:t>
            </a:r>
            <a:r>
              <a:rPr lang="en-US" altLang="zh-CN" dirty="0"/>
              <a:t>O(nlog</a:t>
            </a:r>
            <a:r>
              <a:rPr lang="en-US" altLang="zh-CN" baseline="-25000" dirty="0"/>
              <a:t>2</a:t>
            </a:r>
            <a:r>
              <a:rPr lang="en-US" altLang="zh-CN" dirty="0"/>
              <a:t>n)</a:t>
            </a: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70C0"/>
                </a:solidFill>
              </a:rPr>
              <a:t>消息复杂度：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r>
              <a:rPr lang="zh-CN" altLang="en-US" dirty="0"/>
              <a:t>每个路由器需要将其链路状态信息扩散给所有路由器</a:t>
            </a:r>
            <a:endParaRPr lang="en-US" altLang="zh-CN" dirty="0"/>
          </a:p>
          <a:p>
            <a:r>
              <a:rPr lang="zh-CN" altLang="en-US" dirty="0"/>
              <a:t>扩散时要经过</a:t>
            </a:r>
            <a:r>
              <a:rPr lang="en-US" altLang="zh-CN" dirty="0"/>
              <a:t>e</a:t>
            </a:r>
            <a:r>
              <a:rPr lang="zh-CN" altLang="en-US" dirty="0"/>
              <a:t>个链路</a:t>
            </a:r>
            <a:endParaRPr lang="en-US" altLang="zh-CN" dirty="0"/>
          </a:p>
          <a:p>
            <a:r>
              <a:rPr lang="zh-CN" altLang="en-US" dirty="0"/>
              <a:t>每个路由器都要扩散，消息复杂度为</a:t>
            </a:r>
            <a:r>
              <a:rPr lang="en-US" altLang="zh-CN" dirty="0"/>
              <a:t>O(ne)</a:t>
            </a: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24B66B0-3486-736B-490F-FF474228B89D}"/>
              </a:ext>
            </a:extLst>
          </p:cNvPr>
          <p:cNvGrpSpPr/>
          <p:nvPr/>
        </p:nvGrpSpPr>
        <p:grpSpPr>
          <a:xfrm>
            <a:off x="5977467" y="347690"/>
            <a:ext cx="6721033" cy="2175661"/>
            <a:chOff x="4894021" y="4230686"/>
            <a:chExt cx="6721033" cy="2175661"/>
          </a:xfrm>
        </p:grpSpPr>
        <p:grpSp>
          <p:nvGrpSpPr>
            <p:cNvPr id="5" name="Group 51">
              <a:extLst>
                <a:ext uri="{FF2B5EF4-FFF2-40B4-BE49-F238E27FC236}">
                  <a16:creationId xmlns:a16="http://schemas.microsoft.com/office/drawing/2014/main" id="{38D358A9-5AA4-A0AC-14CA-3B681DF480F3}"/>
                </a:ext>
              </a:extLst>
            </p:cNvPr>
            <p:cNvGrpSpPr/>
            <p:nvPr/>
          </p:nvGrpSpPr>
          <p:grpSpPr>
            <a:xfrm>
              <a:off x="4989809" y="4641773"/>
              <a:ext cx="918006" cy="1764574"/>
              <a:chOff x="4618299" y="5972536"/>
              <a:chExt cx="2734563" cy="1944547"/>
            </a:xfrm>
          </p:grpSpPr>
          <p:sp>
            <p:nvSpPr>
              <p:cNvPr id="10" name="Rectangle 45">
                <a:extLst>
                  <a:ext uri="{FF2B5EF4-FFF2-40B4-BE49-F238E27FC236}">
                    <a16:creationId xmlns:a16="http://schemas.microsoft.com/office/drawing/2014/main" id="{4ADB418C-9D09-5903-FC14-C75A3936EC10}"/>
                  </a:ext>
                </a:extLst>
              </p:cNvPr>
              <p:cNvSpPr/>
              <p:nvPr/>
            </p:nvSpPr>
            <p:spPr>
              <a:xfrm>
                <a:off x="4618299" y="5972536"/>
                <a:ext cx="2511706" cy="1944547"/>
              </a:xfrm>
              <a:prstGeom prst="rect">
                <a:avLst/>
              </a:prstGeom>
              <a:noFill/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565">
                <a:extLst>
                  <a:ext uri="{FF2B5EF4-FFF2-40B4-BE49-F238E27FC236}">
                    <a16:creationId xmlns:a16="http://schemas.microsoft.com/office/drawing/2014/main" id="{039F63F0-D1A3-CA8D-66F1-9318635BB65C}"/>
                  </a:ext>
                </a:extLst>
              </p:cNvPr>
              <p:cNvSpPr/>
              <p:nvPr/>
            </p:nvSpPr>
            <p:spPr>
              <a:xfrm>
                <a:off x="6852056" y="6129160"/>
                <a:ext cx="500806" cy="16745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" name="Straight Arrow Connector 566">
                <a:extLst>
                  <a:ext uri="{FF2B5EF4-FFF2-40B4-BE49-F238E27FC236}">
                    <a16:creationId xmlns:a16="http://schemas.microsoft.com/office/drawing/2014/main" id="{19956560-41EF-9B59-640C-FA79FCAB8C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1754" y="6015734"/>
                <a:ext cx="0" cy="235302"/>
              </a:xfrm>
              <a:prstGeom prst="straightConnector1">
                <a:avLst/>
              </a:prstGeom>
              <a:ln w="25400">
                <a:solidFill>
                  <a:srgbClr val="0000A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B4DB4D7-BCA8-8859-8B87-64BD0F0BC5CF}"/>
                </a:ext>
              </a:extLst>
            </p:cNvPr>
            <p:cNvGrpSpPr/>
            <p:nvPr/>
          </p:nvGrpSpPr>
          <p:grpSpPr>
            <a:xfrm>
              <a:off x="4894021" y="4230686"/>
              <a:ext cx="6721033" cy="2041507"/>
              <a:chOff x="4894021" y="4230686"/>
              <a:chExt cx="6721033" cy="2041507"/>
            </a:xfrm>
          </p:grpSpPr>
          <p:sp>
            <p:nvSpPr>
              <p:cNvPr id="7" name="Text Box 3">
                <a:extLst>
                  <a:ext uri="{FF2B5EF4-FFF2-40B4-BE49-F238E27FC236}">
                    <a16:creationId xmlns:a16="http://schemas.microsoft.com/office/drawing/2014/main" id="{9B7BFF1D-EC14-9867-5164-B632C42A97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2459" y="4825643"/>
                <a:ext cx="5770234" cy="144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 sz="2200" dirty="0">
                    <a:latin typeface="+mn-lt"/>
                  </a:rPr>
                  <a:t>find </a:t>
                </a:r>
                <a:r>
                  <a:rPr lang="en-US" sz="2200" i="1" dirty="0">
                    <a:latin typeface="+mn-lt"/>
                  </a:rPr>
                  <a:t>a</a:t>
                </a:r>
                <a:r>
                  <a:rPr lang="en-US" sz="2200" dirty="0">
                    <a:latin typeface="+mn-lt"/>
                  </a:rPr>
                  <a:t> not in </a:t>
                </a:r>
                <a:r>
                  <a:rPr lang="en-US" sz="2200" i="1" dirty="0">
                    <a:latin typeface="+mn-lt"/>
                  </a:rPr>
                  <a:t>N</a:t>
                </a:r>
                <a:r>
                  <a:rPr lang="en-US" sz="2200" i="1" dirty="0">
                    <a:latin typeface="+mn-lt"/>
                    <a:cs typeface="Arial" charset="0"/>
                  </a:rPr>
                  <a:t>'</a:t>
                </a:r>
                <a:r>
                  <a:rPr lang="en-US" sz="2200" i="1" dirty="0">
                    <a:latin typeface="+mn-lt"/>
                  </a:rPr>
                  <a:t> </a:t>
                </a:r>
                <a:r>
                  <a:rPr lang="en-US" sz="2200" dirty="0">
                    <a:latin typeface="+mn-lt"/>
                  </a:rPr>
                  <a:t>such that </a:t>
                </a:r>
                <a:r>
                  <a:rPr lang="en-US" sz="2200" i="1" dirty="0">
                    <a:latin typeface="+mn-lt"/>
                  </a:rPr>
                  <a:t>D(a) </a:t>
                </a:r>
                <a:r>
                  <a:rPr lang="en-US" sz="2200" dirty="0">
                    <a:latin typeface="+mn-lt"/>
                  </a:rPr>
                  <a:t>is a minimum </a:t>
                </a:r>
              </a:p>
              <a:p>
                <a:r>
                  <a:rPr lang="en-US" sz="2200" dirty="0">
                    <a:latin typeface="+mn-lt"/>
                  </a:rPr>
                  <a:t>add </a:t>
                </a:r>
                <a:r>
                  <a:rPr lang="en-US" sz="2200" i="1" dirty="0">
                    <a:latin typeface="+mn-lt"/>
                  </a:rPr>
                  <a:t>a</a:t>
                </a:r>
                <a:r>
                  <a:rPr lang="en-US" sz="2200" dirty="0">
                    <a:latin typeface="+mn-lt"/>
                  </a:rPr>
                  <a:t> to </a:t>
                </a:r>
                <a:r>
                  <a:rPr lang="en-US" sz="2200" i="1" dirty="0">
                    <a:latin typeface="+mn-lt"/>
                  </a:rPr>
                  <a:t>N</a:t>
                </a:r>
                <a:r>
                  <a:rPr lang="en-US" sz="2200" i="1" dirty="0">
                    <a:latin typeface="+mn-lt"/>
                    <a:cs typeface="Arial" charset="0"/>
                  </a:rPr>
                  <a:t>'</a:t>
                </a:r>
                <a:r>
                  <a:rPr lang="en-US" sz="2200" i="1" dirty="0">
                    <a:latin typeface="+mn-lt"/>
                  </a:rPr>
                  <a:t> </a:t>
                </a:r>
              </a:p>
              <a:p>
                <a:r>
                  <a:rPr lang="en-US" sz="2200" dirty="0">
                    <a:latin typeface="+mn-lt"/>
                  </a:rPr>
                  <a:t>update </a:t>
                </a:r>
                <a:r>
                  <a:rPr lang="en-US" sz="2200" i="1" dirty="0">
                    <a:latin typeface="+mn-lt"/>
                  </a:rPr>
                  <a:t>D(b) </a:t>
                </a:r>
                <a:r>
                  <a:rPr lang="en-US" sz="2200" dirty="0">
                    <a:latin typeface="+mn-lt"/>
                  </a:rPr>
                  <a:t>for all </a:t>
                </a:r>
                <a:r>
                  <a:rPr lang="en-US" sz="2200" i="1" dirty="0">
                    <a:latin typeface="+mn-lt"/>
                  </a:rPr>
                  <a:t>b</a:t>
                </a:r>
                <a:r>
                  <a:rPr lang="en-US" sz="2200" dirty="0">
                    <a:latin typeface="+mn-lt"/>
                  </a:rPr>
                  <a:t> adjacent to </a:t>
                </a:r>
                <a:r>
                  <a:rPr lang="en-US" sz="2200" i="1" dirty="0">
                    <a:latin typeface="+mn-lt"/>
                  </a:rPr>
                  <a:t>a</a:t>
                </a:r>
                <a:r>
                  <a:rPr lang="en-US" sz="2200" dirty="0">
                    <a:latin typeface="+mn-lt"/>
                  </a:rPr>
                  <a:t> and not in </a:t>
                </a:r>
                <a:r>
                  <a:rPr lang="en-US" sz="2200" i="1" dirty="0">
                    <a:latin typeface="+mn-lt"/>
                  </a:rPr>
                  <a:t>N</a:t>
                </a:r>
                <a:r>
                  <a:rPr lang="en-US" sz="2200" i="1" dirty="0">
                    <a:latin typeface="+mn-lt"/>
                    <a:cs typeface="Arial" charset="0"/>
                  </a:rPr>
                  <a:t>'</a:t>
                </a:r>
                <a:r>
                  <a:rPr lang="en-US" sz="2200" i="1" dirty="0">
                    <a:latin typeface="+mn-lt"/>
                  </a:rPr>
                  <a:t> </a:t>
                </a:r>
                <a:r>
                  <a:rPr lang="en-US" sz="2200" dirty="0">
                    <a:latin typeface="+mn-lt"/>
                  </a:rPr>
                  <a:t>: </a:t>
                </a:r>
              </a:p>
              <a:p>
                <a:r>
                  <a:rPr lang="en-US" sz="2200" b="1" i="1" dirty="0">
                    <a:solidFill>
                      <a:srgbClr val="CC0000"/>
                    </a:solidFill>
                    <a:latin typeface="+mn-lt"/>
                  </a:rPr>
                  <a:t>     D(b) = </a:t>
                </a:r>
                <a:r>
                  <a:rPr lang="en-US" sz="2200" b="1" dirty="0">
                    <a:solidFill>
                      <a:srgbClr val="CC0000"/>
                    </a:solidFill>
                    <a:latin typeface="+mn-lt"/>
                  </a:rPr>
                  <a:t>min</a:t>
                </a:r>
                <a:r>
                  <a:rPr lang="en-US" sz="2200" b="1" i="1" dirty="0">
                    <a:solidFill>
                      <a:srgbClr val="CC0000"/>
                    </a:solidFill>
                    <a:latin typeface="+mn-lt"/>
                  </a:rPr>
                  <a:t> ( D(b), D(a) + c</a:t>
                </a:r>
                <a:r>
                  <a:rPr lang="en-US" sz="2200" b="1" i="1" baseline="-25000" dirty="0">
                    <a:solidFill>
                      <a:srgbClr val="CC0000"/>
                    </a:solidFill>
                    <a:latin typeface="+mn-lt"/>
                  </a:rPr>
                  <a:t>a,b </a:t>
                </a:r>
                <a:r>
                  <a:rPr lang="en-US" sz="2200" b="1" i="1" dirty="0">
                    <a:solidFill>
                      <a:srgbClr val="CC0000"/>
                    </a:solidFill>
                    <a:latin typeface="+mn-lt"/>
                  </a:rPr>
                  <a:t>) </a:t>
                </a:r>
              </a:p>
            </p:txBody>
          </p:sp>
          <p:sp>
            <p:nvSpPr>
              <p:cNvPr id="8" name="Rectangle 52">
                <a:extLst>
                  <a:ext uri="{FF2B5EF4-FFF2-40B4-BE49-F238E27FC236}">
                    <a16:creationId xmlns:a16="http://schemas.microsoft.com/office/drawing/2014/main" id="{3A450A3F-7E2B-BC78-AFBD-838977DE4C1B}"/>
                  </a:ext>
                </a:extLst>
              </p:cNvPr>
              <p:cNvSpPr/>
              <p:nvPr/>
            </p:nvSpPr>
            <p:spPr>
              <a:xfrm>
                <a:off x="4894021" y="4230686"/>
                <a:ext cx="6721033" cy="3416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/>
                  <a:t>Initialization (step 0): For all a: if </a:t>
                </a:r>
                <a:r>
                  <a:rPr lang="en-US" i="1" dirty="0"/>
                  <a:t>a</a:t>
                </a:r>
                <a:r>
                  <a:rPr lang="en-US" dirty="0"/>
                  <a:t> adjacent to then </a:t>
                </a:r>
                <a:r>
                  <a:rPr lang="en-US" i="1" dirty="0"/>
                  <a:t>D(a) = c</a:t>
                </a:r>
                <a:r>
                  <a:rPr lang="en-US" i="1" baseline="-25000" dirty="0"/>
                  <a:t>u,a </a:t>
                </a:r>
                <a:endParaRPr lang="en-US" baseline="-250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6DEF4E1-E2CA-88E8-AC17-0F369C068BC4}"/>
                  </a:ext>
                </a:extLst>
              </p:cNvPr>
              <p:cNvSpPr txBox="1"/>
              <p:nvPr/>
            </p:nvSpPr>
            <p:spPr>
              <a:xfrm>
                <a:off x="6858287" y="5194226"/>
                <a:ext cx="4030133" cy="329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</a:pPr>
                <a:r>
                  <a:rPr lang="en-US" altLang="zh-CN" sz="1800" b="1" dirty="0">
                    <a:solidFill>
                      <a:schemeClr val="accent4"/>
                    </a:solidFill>
                    <a:ea typeface="ＭＳ Ｐゴシック" charset="0"/>
                  </a:rPr>
                  <a:t>ties can exist (can be broken arbitrarily)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8720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38375-22FC-45B2-1B20-913EEEE1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</a:t>
            </a:r>
            <a:r>
              <a:rPr lang="zh-CN" altLang="en-US" dirty="0"/>
              <a:t>算法：负载敏感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A631B6-B4FF-D06C-CA03-82807DDD1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199770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负载敏感的路由算法可能带来路由的不稳定</a:t>
            </a:r>
            <a:endParaRPr lang="en-US" altLang="zh-CN" dirty="0"/>
          </a:p>
          <a:p>
            <a:r>
              <a:rPr lang="zh-CN" altLang="en-US" dirty="0"/>
              <a:t>假设链路的开销为其承载的流量，无向图</a:t>
            </a:r>
            <a:r>
              <a:rPr lang="en-US" altLang="zh-CN" dirty="0"/>
              <a:t>--&gt;</a:t>
            </a:r>
            <a:r>
              <a:rPr lang="zh-CN" altLang="en-US" dirty="0"/>
              <a:t>有向图，不对称链路花费</a:t>
            </a:r>
            <a:endParaRPr lang="en-US" altLang="zh-CN" dirty="0"/>
          </a:p>
          <a:p>
            <a:r>
              <a:rPr lang="en-US" altLang="zh-CN" dirty="0"/>
              <a:t>x, y, z</a:t>
            </a:r>
            <a:r>
              <a:rPr lang="zh-CN" altLang="en-US" dirty="0"/>
              <a:t>发送给</a:t>
            </a:r>
            <a:r>
              <a:rPr lang="en-US" altLang="zh-CN" dirty="0"/>
              <a:t>w</a:t>
            </a:r>
            <a:r>
              <a:rPr lang="zh-CN" altLang="en-US" dirty="0"/>
              <a:t>，其流量分别为</a:t>
            </a:r>
            <a:r>
              <a:rPr lang="en-US" altLang="zh-CN" dirty="0"/>
              <a:t>1,</a:t>
            </a:r>
            <a:r>
              <a:rPr lang="zh-CN" altLang="en-US" dirty="0"/>
              <a:t> </a:t>
            </a:r>
            <a:r>
              <a:rPr lang="en-US" altLang="zh-CN" dirty="0"/>
              <a:t>e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endParaRPr lang="zh-CN" altLang="en-US" dirty="0"/>
          </a:p>
          <a:p>
            <a:r>
              <a:rPr lang="zh-CN" altLang="en-US" dirty="0"/>
              <a:t>考虑</a:t>
            </a:r>
            <a:r>
              <a:rPr lang="en-US" altLang="zh-CN" dirty="0"/>
              <a:t>x, y, z</a:t>
            </a:r>
            <a:r>
              <a:rPr lang="zh-CN" altLang="en-US" dirty="0"/>
              <a:t>到</a:t>
            </a:r>
            <a:r>
              <a:rPr lang="en-US" altLang="zh-CN" dirty="0"/>
              <a:t>w</a:t>
            </a:r>
            <a:r>
              <a:rPr lang="zh-CN" altLang="en-US" dirty="0"/>
              <a:t>的路由</a:t>
            </a:r>
            <a:endParaRPr lang="en-US" altLang="zh-CN" dirty="0"/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1999C82-031C-292B-9796-68A594305EEA}"/>
              </a:ext>
            </a:extLst>
          </p:cNvPr>
          <p:cNvSpPr>
            <a:spLocks/>
          </p:cNvSpPr>
          <p:nvPr/>
        </p:nvSpPr>
        <p:spPr bwMode="auto">
          <a:xfrm>
            <a:off x="481648" y="2775585"/>
            <a:ext cx="1971675" cy="1355725"/>
          </a:xfrm>
          <a:custGeom>
            <a:avLst/>
            <a:gdLst>
              <a:gd name="T0" fmla="*/ 2147483647 w 1242"/>
              <a:gd name="T1" fmla="*/ 2147483647 h 854"/>
              <a:gd name="T2" fmla="*/ 2147483647 w 1242"/>
              <a:gd name="T3" fmla="*/ 2147483647 h 854"/>
              <a:gd name="T4" fmla="*/ 2147483647 w 1242"/>
              <a:gd name="T5" fmla="*/ 2147483647 h 854"/>
              <a:gd name="T6" fmla="*/ 2147483647 w 1242"/>
              <a:gd name="T7" fmla="*/ 2147483647 h 854"/>
              <a:gd name="T8" fmla="*/ 2147483647 w 1242"/>
              <a:gd name="T9" fmla="*/ 2147483647 h 854"/>
              <a:gd name="T10" fmla="*/ 2147483647 w 1242"/>
              <a:gd name="T11" fmla="*/ 2147483647 h 854"/>
              <a:gd name="T12" fmla="*/ 2147483647 w 1242"/>
              <a:gd name="T13" fmla="*/ 2147483647 h 854"/>
              <a:gd name="T14" fmla="*/ 2147483647 w 1242"/>
              <a:gd name="T15" fmla="*/ 2147483647 h 854"/>
              <a:gd name="T16" fmla="*/ 2147483647 w 1242"/>
              <a:gd name="T17" fmla="*/ 2147483647 h 854"/>
              <a:gd name="T18" fmla="*/ 2147483647 w 1242"/>
              <a:gd name="T19" fmla="*/ 2147483647 h 8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42"/>
              <a:gd name="T31" fmla="*/ 0 h 854"/>
              <a:gd name="T32" fmla="*/ 1242 w 1242"/>
              <a:gd name="T33" fmla="*/ 854 h 8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42" h="854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BAA86622-E8BD-1AB7-A48D-B561B3B8FC2B}"/>
              </a:ext>
            </a:extLst>
          </p:cNvPr>
          <p:cNvSpPr>
            <a:spLocks/>
          </p:cNvSpPr>
          <p:nvPr/>
        </p:nvSpPr>
        <p:spPr bwMode="auto">
          <a:xfrm>
            <a:off x="883285" y="3113722"/>
            <a:ext cx="390525" cy="2095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2215A90F-6BBC-199E-2BA9-8E5344358073}"/>
              </a:ext>
            </a:extLst>
          </p:cNvPr>
          <p:cNvGrpSpPr>
            <a:grpSpLocks/>
          </p:cNvGrpSpPr>
          <p:nvPr/>
        </p:nvGrpSpPr>
        <p:grpSpPr bwMode="auto">
          <a:xfrm>
            <a:off x="1189673" y="2796222"/>
            <a:ext cx="501650" cy="400050"/>
            <a:chOff x="1747" y="3190"/>
            <a:chExt cx="316" cy="252"/>
          </a:xfrm>
        </p:grpSpPr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9F9242F4-31F2-A881-EDC4-CB6D6B256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B37D28FF-AAE2-067C-6361-1329C8CAA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0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401EF9DA-67AF-F47A-CFCC-28C72B556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BE18C629-98F5-65D1-FF8E-7F05477AE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7166194A-31A8-8BD6-5C95-132D011E1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12" name="Group 13">
              <a:extLst>
                <a:ext uri="{FF2B5EF4-FFF2-40B4-BE49-F238E27FC236}">
                  <a16:creationId xmlns:a16="http://schemas.microsoft.com/office/drawing/2014/main" id="{97BC3E10-D8CA-74D5-4594-206B899D0C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1" y="3190"/>
              <a:ext cx="231" cy="252"/>
              <a:chOff x="2937" y="2425"/>
              <a:chExt cx="235" cy="252"/>
            </a:xfrm>
          </p:grpSpPr>
          <p:sp>
            <p:nvSpPr>
              <p:cNvPr id="13" name="Rectangle 14">
                <a:extLst>
                  <a:ext uri="{FF2B5EF4-FFF2-40B4-BE49-F238E27FC236}">
                    <a16:creationId xmlns:a16="http://schemas.microsoft.com/office/drawing/2014/main" id="{514835C1-49CE-F2C1-BC29-E1EB97C7C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4" name="Text Box 15">
                <a:extLst>
                  <a:ext uri="{FF2B5EF4-FFF2-40B4-BE49-F238E27FC236}">
                    <a16:creationId xmlns:a16="http://schemas.microsoft.com/office/drawing/2014/main" id="{81D35F44-1ECF-109E-7A48-8DEF9B4B70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7" y="2425"/>
                <a:ext cx="23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15" name="Group 16">
            <a:extLst>
              <a:ext uri="{FF2B5EF4-FFF2-40B4-BE49-F238E27FC236}">
                <a16:creationId xmlns:a16="http://schemas.microsoft.com/office/drawing/2014/main" id="{D718D8A3-4DF4-FF82-23A4-3CC37EAF2C1A}"/>
              </a:ext>
            </a:extLst>
          </p:cNvPr>
          <p:cNvGrpSpPr>
            <a:grpSpLocks/>
          </p:cNvGrpSpPr>
          <p:nvPr/>
        </p:nvGrpSpPr>
        <p:grpSpPr bwMode="auto">
          <a:xfrm>
            <a:off x="541973" y="3201035"/>
            <a:ext cx="501650" cy="400050"/>
            <a:chOff x="2221" y="3571"/>
            <a:chExt cx="316" cy="252"/>
          </a:xfrm>
        </p:grpSpPr>
        <p:sp>
          <p:nvSpPr>
            <p:cNvPr id="16" name="Oval 17">
              <a:extLst>
                <a:ext uri="{FF2B5EF4-FFF2-40B4-BE49-F238E27FC236}">
                  <a16:creationId xmlns:a16="http://schemas.microsoft.com/office/drawing/2014/main" id="{EE17E29B-6C98-31FB-AF16-330297E46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D1214B43-6447-5E6A-BA99-1C2665883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4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5E22E094-3341-EA0E-D40B-A4924C511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AC94B7C0-A683-5BEF-C88A-26AAF77E5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E05D423C-70D0-418F-5EF3-61E14D25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98D3D2C8-6285-E02D-28F5-7602CCEE19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3571"/>
              <a:ext cx="180" cy="252"/>
              <a:chOff x="2967" y="2425"/>
              <a:chExt cx="183" cy="252"/>
            </a:xfrm>
          </p:grpSpPr>
          <p:sp>
            <p:nvSpPr>
              <p:cNvPr id="22" name="Rectangle 23">
                <a:extLst>
                  <a:ext uri="{FF2B5EF4-FFF2-40B4-BE49-F238E27FC236}">
                    <a16:creationId xmlns:a16="http://schemas.microsoft.com/office/drawing/2014/main" id="{0CF9BC40-3754-729F-4F3B-F5A0B629F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3" name="Text Box 24">
                <a:extLst>
                  <a:ext uri="{FF2B5EF4-FFF2-40B4-BE49-F238E27FC236}">
                    <a16:creationId xmlns:a16="http://schemas.microsoft.com/office/drawing/2014/main" id="{A87638BE-9381-7A12-D003-DB37A1FE90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7" y="2425"/>
                <a:ext cx="1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z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4" name="Group 25">
            <a:extLst>
              <a:ext uri="{FF2B5EF4-FFF2-40B4-BE49-F238E27FC236}">
                <a16:creationId xmlns:a16="http://schemas.microsoft.com/office/drawing/2014/main" id="{43E3BA18-311A-9BB5-99D9-59D997FB9D53}"/>
              </a:ext>
            </a:extLst>
          </p:cNvPr>
          <p:cNvGrpSpPr>
            <a:grpSpLocks/>
          </p:cNvGrpSpPr>
          <p:nvPr/>
        </p:nvGrpSpPr>
        <p:grpSpPr bwMode="auto">
          <a:xfrm>
            <a:off x="1176973" y="3662997"/>
            <a:ext cx="500062" cy="400050"/>
            <a:chOff x="2903" y="2884"/>
            <a:chExt cx="315" cy="252"/>
          </a:xfrm>
        </p:grpSpPr>
        <p:grpSp>
          <p:nvGrpSpPr>
            <p:cNvPr id="25" name="Group 26">
              <a:extLst>
                <a:ext uri="{FF2B5EF4-FFF2-40B4-BE49-F238E27FC236}">
                  <a16:creationId xmlns:a16="http://schemas.microsoft.com/office/drawing/2014/main" id="{C776239D-CFDD-9C8C-BF48-DA96477B96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29" name="Oval 27">
                <a:extLst>
                  <a:ext uri="{FF2B5EF4-FFF2-40B4-BE49-F238E27FC236}">
                    <a16:creationId xmlns:a16="http://schemas.microsoft.com/office/drawing/2014/main" id="{23A4B67D-6CF2-3E32-9164-19015620F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0" name="Line 28">
                <a:extLst>
                  <a:ext uri="{FF2B5EF4-FFF2-40B4-BE49-F238E27FC236}">
                    <a16:creationId xmlns:a16="http://schemas.microsoft.com/office/drawing/2014/main" id="{4F77EC37-8EC8-7D26-F6BB-69A62B0E9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3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" name="Line 29">
                <a:extLst>
                  <a:ext uri="{FF2B5EF4-FFF2-40B4-BE49-F238E27FC236}">
                    <a16:creationId xmlns:a16="http://schemas.microsoft.com/office/drawing/2014/main" id="{70ECB896-35AB-4BFB-A848-7668D4C25F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5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2" name="Rectangle 30">
                <a:extLst>
                  <a:ext uri="{FF2B5EF4-FFF2-40B4-BE49-F238E27FC236}">
                    <a16:creationId xmlns:a16="http://schemas.microsoft.com/office/drawing/2014/main" id="{DADDA860-E647-12F5-8834-903B9BA9C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" name="Oval 31">
                <a:extLst>
                  <a:ext uri="{FF2B5EF4-FFF2-40B4-BE49-F238E27FC236}">
                    <a16:creationId xmlns:a16="http://schemas.microsoft.com/office/drawing/2014/main" id="{DA484613-BA20-852C-8AE6-6E058DE93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6" name="Group 32">
              <a:extLst>
                <a:ext uri="{FF2B5EF4-FFF2-40B4-BE49-F238E27FC236}">
                  <a16:creationId xmlns:a16="http://schemas.microsoft.com/office/drawing/2014/main" id="{F6DAD083-663A-B617-81F1-AF8216415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6" y="2884"/>
              <a:ext cx="189" cy="252"/>
              <a:chOff x="2956" y="2425"/>
              <a:chExt cx="192" cy="252"/>
            </a:xfrm>
          </p:grpSpPr>
          <p:sp>
            <p:nvSpPr>
              <p:cNvPr id="27" name="Rectangle 33">
                <a:extLst>
                  <a:ext uri="{FF2B5EF4-FFF2-40B4-BE49-F238E27FC236}">
                    <a16:creationId xmlns:a16="http://schemas.microsoft.com/office/drawing/2014/main" id="{23B39193-4B75-52CC-0BF2-1733FE641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8" name="Text Box 34">
                <a:extLst>
                  <a:ext uri="{FF2B5EF4-FFF2-40B4-BE49-F238E27FC236}">
                    <a16:creationId xmlns:a16="http://schemas.microsoft.com/office/drawing/2014/main" id="{C63657D8-FF5D-A071-3329-9A4D3FBA17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6" y="2425"/>
                <a:ext cx="19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34" name="Group 35">
            <a:extLst>
              <a:ext uri="{FF2B5EF4-FFF2-40B4-BE49-F238E27FC236}">
                <a16:creationId xmlns:a16="http://schemas.microsoft.com/office/drawing/2014/main" id="{C533E480-1D4E-B411-6EAE-96063F3F5184}"/>
              </a:ext>
            </a:extLst>
          </p:cNvPr>
          <p:cNvGrpSpPr>
            <a:grpSpLocks/>
          </p:cNvGrpSpPr>
          <p:nvPr/>
        </p:nvGrpSpPr>
        <p:grpSpPr bwMode="auto">
          <a:xfrm>
            <a:off x="1831023" y="3215322"/>
            <a:ext cx="501650" cy="400050"/>
            <a:chOff x="2217" y="2884"/>
            <a:chExt cx="316" cy="252"/>
          </a:xfrm>
        </p:grpSpPr>
        <p:sp>
          <p:nvSpPr>
            <p:cNvPr id="35" name="Oval 36">
              <a:extLst>
                <a:ext uri="{FF2B5EF4-FFF2-40B4-BE49-F238E27FC236}">
                  <a16:creationId xmlns:a16="http://schemas.microsoft.com/office/drawing/2014/main" id="{231EA468-91E0-1CF2-BD7D-998C10CFD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C765C1B0-2172-2479-93E8-BE6252974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17B6FCCA-2661-3F93-0A14-D154199D5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8" name="Rectangle 39">
              <a:extLst>
                <a:ext uri="{FF2B5EF4-FFF2-40B4-BE49-F238E27FC236}">
                  <a16:creationId xmlns:a16="http://schemas.microsoft.com/office/drawing/2014/main" id="{92372409-471D-200E-98D4-9C36B7E63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9" name="Oval 40">
              <a:extLst>
                <a:ext uri="{FF2B5EF4-FFF2-40B4-BE49-F238E27FC236}">
                  <a16:creationId xmlns:a16="http://schemas.microsoft.com/office/drawing/2014/main" id="{E169B834-05D1-6349-80A8-F6CAFEC26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40" name="Group 41">
              <a:extLst>
                <a:ext uri="{FF2B5EF4-FFF2-40B4-BE49-F238E27FC236}">
                  <a16:creationId xmlns:a16="http://schemas.microsoft.com/office/drawing/2014/main" id="{9BC21660-4280-E07D-5B88-EDCC25AE58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2" y="2884"/>
              <a:ext cx="193" cy="252"/>
              <a:chOff x="2982" y="2425"/>
              <a:chExt cx="196" cy="252"/>
            </a:xfrm>
          </p:grpSpPr>
          <p:sp>
            <p:nvSpPr>
              <p:cNvPr id="41" name="Rectangle 42">
                <a:extLst>
                  <a:ext uri="{FF2B5EF4-FFF2-40B4-BE49-F238E27FC236}">
                    <a16:creationId xmlns:a16="http://schemas.microsoft.com/office/drawing/2014/main" id="{BC2CE5EF-9BA6-6902-E709-594787D03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" name="Text Box 43">
                <a:extLst>
                  <a:ext uri="{FF2B5EF4-FFF2-40B4-BE49-F238E27FC236}">
                    <a16:creationId xmlns:a16="http://schemas.microsoft.com/office/drawing/2014/main" id="{50F18A8B-C6B1-8C0D-B547-B4CBC45EF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9" y="2425"/>
                <a:ext cx="18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sp>
        <p:nvSpPr>
          <p:cNvPr id="43" name="Text Box 44">
            <a:extLst>
              <a:ext uri="{FF2B5EF4-FFF2-40B4-BE49-F238E27FC236}">
                <a16:creationId xmlns:a16="http://schemas.microsoft.com/office/drawing/2014/main" id="{48744470-6A3B-9E4A-4915-6FB4B8E9D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873" y="2967672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</a:t>
            </a:r>
          </a:p>
        </p:txBody>
      </p:sp>
      <p:sp>
        <p:nvSpPr>
          <p:cNvPr id="44" name="Freeform 45">
            <a:extLst>
              <a:ext uri="{FF2B5EF4-FFF2-40B4-BE49-F238E27FC236}">
                <a16:creationId xmlns:a16="http://schemas.microsoft.com/office/drawing/2014/main" id="{50E034AA-3629-0714-82F9-40D6214ECD38}"/>
              </a:ext>
            </a:extLst>
          </p:cNvPr>
          <p:cNvSpPr>
            <a:spLocks/>
          </p:cNvSpPr>
          <p:nvPr/>
        </p:nvSpPr>
        <p:spPr bwMode="auto">
          <a:xfrm flipH="1">
            <a:off x="1569085" y="3113722"/>
            <a:ext cx="338138" cy="204788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45" name="Freeform 46">
            <a:extLst>
              <a:ext uri="{FF2B5EF4-FFF2-40B4-BE49-F238E27FC236}">
                <a16:creationId xmlns:a16="http://schemas.microsoft.com/office/drawing/2014/main" id="{DE76D3DF-79F4-C57E-A9FE-4F106BB0DA03}"/>
              </a:ext>
            </a:extLst>
          </p:cNvPr>
          <p:cNvSpPr>
            <a:spLocks/>
          </p:cNvSpPr>
          <p:nvPr/>
        </p:nvSpPr>
        <p:spPr bwMode="auto">
          <a:xfrm flipH="1" flipV="1">
            <a:off x="1583373" y="3528060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46" name="Freeform 47">
            <a:extLst>
              <a:ext uri="{FF2B5EF4-FFF2-40B4-BE49-F238E27FC236}">
                <a16:creationId xmlns:a16="http://schemas.microsoft.com/office/drawing/2014/main" id="{BB87C4AF-7541-829B-E59C-D344EBB18DE0}"/>
              </a:ext>
            </a:extLst>
          </p:cNvPr>
          <p:cNvSpPr>
            <a:spLocks/>
          </p:cNvSpPr>
          <p:nvPr/>
        </p:nvSpPr>
        <p:spPr bwMode="auto">
          <a:xfrm flipV="1">
            <a:off x="945198" y="3518535"/>
            <a:ext cx="323850" cy="2476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47" name="Text Box 48">
            <a:extLst>
              <a:ext uri="{FF2B5EF4-FFF2-40B4-BE49-F238E27FC236}">
                <a16:creationId xmlns:a16="http://schemas.microsoft.com/office/drawing/2014/main" id="{F2F87B32-A5A1-B663-E51F-4B27CEB84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854" y="2977197"/>
            <a:ext cx="4555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1+e</a:t>
            </a:r>
          </a:p>
        </p:txBody>
      </p:sp>
      <p:sp>
        <p:nvSpPr>
          <p:cNvPr id="48" name="Text Box 49">
            <a:extLst>
              <a:ext uri="{FF2B5EF4-FFF2-40B4-BE49-F238E27FC236}">
                <a16:creationId xmlns:a16="http://schemas.microsoft.com/office/drawing/2014/main" id="{A7BBEB61-4AEA-BC94-D1FE-925A9FB94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898" y="356774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</a:t>
            </a:r>
          </a:p>
        </p:txBody>
      </p:sp>
      <p:sp>
        <p:nvSpPr>
          <p:cNvPr id="49" name="Text Box 50">
            <a:extLst>
              <a:ext uri="{FF2B5EF4-FFF2-40B4-BE49-F238E27FC236}">
                <a16:creationId xmlns:a16="http://schemas.microsoft.com/office/drawing/2014/main" id="{8DC009D7-403A-DC6F-0B5C-C9E9BDD8C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360" y="359156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50" name="Line 51">
            <a:extLst>
              <a:ext uri="{FF2B5EF4-FFF2-40B4-BE49-F238E27FC236}">
                <a16:creationId xmlns:a16="http://schemas.microsoft.com/office/drawing/2014/main" id="{85A82665-9AE3-3220-2F32-DBF163A471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6685" y="3985260"/>
            <a:ext cx="0" cy="4000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51" name="Line 53">
            <a:extLst>
              <a:ext uri="{FF2B5EF4-FFF2-40B4-BE49-F238E27FC236}">
                <a16:creationId xmlns:a16="http://schemas.microsoft.com/office/drawing/2014/main" id="{579A1DF6-E7AA-46A2-EF29-F06D550CCF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7535" y="3518535"/>
            <a:ext cx="4763" cy="338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52" name="Line 55">
            <a:extLst>
              <a:ext uri="{FF2B5EF4-FFF2-40B4-BE49-F238E27FC236}">
                <a16:creationId xmlns:a16="http://schemas.microsoft.com/office/drawing/2014/main" id="{D138796C-F6BA-474A-6F56-D80EB05F90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6773" y="3551872"/>
            <a:ext cx="0" cy="4286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53" name="Group 1">
            <a:extLst>
              <a:ext uri="{FF2B5EF4-FFF2-40B4-BE49-F238E27FC236}">
                <a16:creationId xmlns:a16="http://schemas.microsoft.com/office/drawing/2014/main" id="{270FF0A9-2A4C-F4CC-FFDB-3ADBCC6832D0}"/>
              </a:ext>
            </a:extLst>
          </p:cNvPr>
          <p:cNvGrpSpPr/>
          <p:nvPr/>
        </p:nvGrpSpPr>
        <p:grpSpPr>
          <a:xfrm>
            <a:off x="343218" y="3594100"/>
            <a:ext cx="2047875" cy="894715"/>
            <a:chOff x="297498" y="4320540"/>
            <a:chExt cx="2047875" cy="894715"/>
          </a:xfrm>
        </p:grpSpPr>
        <p:sp>
          <p:nvSpPr>
            <p:cNvPr id="54" name="Text Box 52">
              <a:extLst>
                <a:ext uri="{FF2B5EF4-FFF2-40B4-BE49-F238E27FC236}">
                  <a16:creationId xmlns:a16="http://schemas.microsoft.com/office/drawing/2014/main" id="{3DB58376-6ACD-43E0-F65E-514141F991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55" name="Text Box 54">
              <a:extLst>
                <a:ext uri="{FF2B5EF4-FFF2-40B4-BE49-F238E27FC236}">
                  <a16:creationId xmlns:a16="http://schemas.microsoft.com/office/drawing/2014/main" id="{8F499FD3-83D1-4DE6-C6EF-E395E5079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56" name="Text Box 56">
              <a:extLst>
                <a:ext uri="{FF2B5EF4-FFF2-40B4-BE49-F238E27FC236}">
                  <a16:creationId xmlns:a16="http://schemas.microsoft.com/office/drawing/2014/main" id="{20BD14FB-1455-D7A7-5680-B915D1CEC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sp>
        <p:nvSpPr>
          <p:cNvPr id="57" name="Freeform 57">
            <a:extLst>
              <a:ext uri="{FF2B5EF4-FFF2-40B4-BE49-F238E27FC236}">
                <a16:creationId xmlns:a16="http://schemas.microsoft.com/office/drawing/2014/main" id="{3FC1F8E3-7A40-2F12-4F11-86FFD403426E}"/>
              </a:ext>
            </a:extLst>
          </p:cNvPr>
          <p:cNvSpPr>
            <a:spLocks/>
          </p:cNvSpPr>
          <p:nvPr/>
        </p:nvSpPr>
        <p:spPr bwMode="auto">
          <a:xfrm flipH="1" flipV="1">
            <a:off x="1488123" y="3485197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58" name="Freeform 58">
            <a:extLst>
              <a:ext uri="{FF2B5EF4-FFF2-40B4-BE49-F238E27FC236}">
                <a16:creationId xmlns:a16="http://schemas.microsoft.com/office/drawing/2014/main" id="{32B77F14-F573-4A31-F5EB-48433A7EDE40}"/>
              </a:ext>
            </a:extLst>
          </p:cNvPr>
          <p:cNvSpPr>
            <a:spLocks/>
          </p:cNvSpPr>
          <p:nvPr/>
        </p:nvSpPr>
        <p:spPr bwMode="auto">
          <a:xfrm flipH="1">
            <a:off x="1035685" y="3494722"/>
            <a:ext cx="304800" cy="219075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59" name="Text Box 59">
            <a:extLst>
              <a:ext uri="{FF2B5EF4-FFF2-40B4-BE49-F238E27FC236}">
                <a16:creationId xmlns:a16="http://schemas.microsoft.com/office/drawing/2014/main" id="{F420CABE-4806-FCCF-D6B8-20202CED8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110" y="337248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60" name="Text Box 60">
            <a:extLst>
              <a:ext uri="{FF2B5EF4-FFF2-40B4-BE49-F238E27FC236}">
                <a16:creationId xmlns:a16="http://schemas.microsoft.com/office/drawing/2014/main" id="{55356628-EF5E-84ED-C359-E40B51601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010" y="336454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61" name="Text Box 211">
            <a:extLst>
              <a:ext uri="{FF2B5EF4-FFF2-40B4-BE49-F238E27FC236}">
                <a16:creationId xmlns:a16="http://schemas.microsoft.com/office/drawing/2014/main" id="{88D582BD-09BA-5FDF-1455-A14A236E2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820" y="4556265"/>
            <a:ext cx="28669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初始路由选择如箭头所示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接下来链路的花费改变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62" name="Group 298">
            <a:extLst>
              <a:ext uri="{FF2B5EF4-FFF2-40B4-BE49-F238E27FC236}">
                <a16:creationId xmlns:a16="http://schemas.microsoft.com/office/drawing/2014/main" id="{43C8CDEC-EA0D-320E-D65A-9EF7322CA830}"/>
              </a:ext>
            </a:extLst>
          </p:cNvPr>
          <p:cNvGrpSpPr>
            <a:grpSpLocks/>
          </p:cNvGrpSpPr>
          <p:nvPr/>
        </p:nvGrpSpPr>
        <p:grpSpPr bwMode="auto">
          <a:xfrm>
            <a:off x="3378836" y="2709541"/>
            <a:ext cx="1944687" cy="1489073"/>
            <a:chOff x="1752" y="2625"/>
            <a:chExt cx="1225" cy="938"/>
          </a:xfrm>
        </p:grpSpPr>
        <p:sp>
          <p:nvSpPr>
            <p:cNvPr id="63" name="Freeform 61">
              <a:extLst>
                <a:ext uri="{FF2B5EF4-FFF2-40B4-BE49-F238E27FC236}">
                  <a16:creationId xmlns:a16="http://schemas.microsoft.com/office/drawing/2014/main" id="{F08CE8FD-6609-9D95-851A-B7181E195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4" name="Freeform 62">
              <a:extLst>
                <a:ext uri="{FF2B5EF4-FFF2-40B4-BE49-F238E27FC236}">
                  <a16:creationId xmlns:a16="http://schemas.microsoft.com/office/drawing/2014/main" id="{792D07F6-8C09-ED8C-9E84-AF1E7BC35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65" name="Group 63">
              <a:extLst>
                <a:ext uri="{FF2B5EF4-FFF2-40B4-BE49-F238E27FC236}">
                  <a16:creationId xmlns:a16="http://schemas.microsoft.com/office/drawing/2014/main" id="{9C1C0602-8FA4-4DB0-B997-0237D8F31C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25"/>
              <a:ext cx="316" cy="252"/>
              <a:chOff x="1747" y="3163"/>
              <a:chExt cx="316" cy="252"/>
            </a:xfrm>
          </p:grpSpPr>
          <p:sp>
            <p:nvSpPr>
              <p:cNvPr id="103" name="Oval 64">
                <a:extLst>
                  <a:ext uri="{FF2B5EF4-FFF2-40B4-BE49-F238E27FC236}">
                    <a16:creationId xmlns:a16="http://schemas.microsoft.com/office/drawing/2014/main" id="{42FAA267-6628-620B-8401-03ACF6942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04" name="Line 65">
                <a:extLst>
                  <a:ext uri="{FF2B5EF4-FFF2-40B4-BE49-F238E27FC236}">
                    <a16:creationId xmlns:a16="http://schemas.microsoft.com/office/drawing/2014/main" id="{E7A7E0E3-8580-ED37-5B7F-359F641DFD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05" name="Line 66">
                <a:extLst>
                  <a:ext uri="{FF2B5EF4-FFF2-40B4-BE49-F238E27FC236}">
                    <a16:creationId xmlns:a16="http://schemas.microsoft.com/office/drawing/2014/main" id="{70912E54-3E58-3547-E38F-01ABA5527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06" name="Rectangle 67">
                <a:extLst>
                  <a:ext uri="{FF2B5EF4-FFF2-40B4-BE49-F238E27FC236}">
                    <a16:creationId xmlns:a16="http://schemas.microsoft.com/office/drawing/2014/main" id="{3585FD6E-2727-28DA-5BC2-4B6BBE198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07" name="Oval 68">
                <a:extLst>
                  <a:ext uri="{FF2B5EF4-FFF2-40B4-BE49-F238E27FC236}">
                    <a16:creationId xmlns:a16="http://schemas.microsoft.com/office/drawing/2014/main" id="{6168A6CF-500B-BA88-1608-8B9CD0662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108" name="Group 69">
                <a:extLst>
                  <a:ext uri="{FF2B5EF4-FFF2-40B4-BE49-F238E27FC236}">
                    <a16:creationId xmlns:a16="http://schemas.microsoft.com/office/drawing/2014/main" id="{10C2E089-1AD0-27F5-E4C2-63510F8C09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5" y="3163"/>
                <a:ext cx="231" cy="252"/>
                <a:chOff x="2981" y="2398"/>
                <a:chExt cx="235" cy="252"/>
              </a:xfrm>
            </p:grpSpPr>
            <p:sp>
              <p:nvSpPr>
                <p:cNvPr id="109" name="Rectangle 70">
                  <a:extLst>
                    <a:ext uri="{FF2B5EF4-FFF2-40B4-BE49-F238E27FC236}">
                      <a16:creationId xmlns:a16="http://schemas.microsoft.com/office/drawing/2014/main" id="{351E0EB6-F28D-052A-C37C-74DC4426CC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10" name="Text Box 71">
                  <a:extLst>
                    <a:ext uri="{FF2B5EF4-FFF2-40B4-BE49-F238E27FC236}">
                      <a16:creationId xmlns:a16="http://schemas.microsoft.com/office/drawing/2014/main" id="{AA4EBDD5-567E-A32F-3BB4-F26412F30A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81" y="2398"/>
                  <a:ext cx="235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w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66" name="Group 72">
              <a:extLst>
                <a:ext uri="{FF2B5EF4-FFF2-40B4-BE49-F238E27FC236}">
                  <a16:creationId xmlns:a16="http://schemas.microsoft.com/office/drawing/2014/main" id="{B187C5F0-F696-C0E1-E957-03E8226730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95" name="Oval 73">
                <a:extLst>
                  <a:ext uri="{FF2B5EF4-FFF2-40B4-BE49-F238E27FC236}">
                    <a16:creationId xmlns:a16="http://schemas.microsoft.com/office/drawing/2014/main" id="{94DB3B4A-CAB4-EE01-EC55-BE169E5D5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96" name="Line 74">
                <a:extLst>
                  <a:ext uri="{FF2B5EF4-FFF2-40B4-BE49-F238E27FC236}">
                    <a16:creationId xmlns:a16="http://schemas.microsoft.com/office/drawing/2014/main" id="{8DC835F0-52D2-0E59-54A7-934ED6F6B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97" name="Line 75">
                <a:extLst>
                  <a:ext uri="{FF2B5EF4-FFF2-40B4-BE49-F238E27FC236}">
                    <a16:creationId xmlns:a16="http://schemas.microsoft.com/office/drawing/2014/main" id="{1F23A458-5CE1-65EF-A606-4939C7D97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98" name="Rectangle 76">
                <a:extLst>
                  <a:ext uri="{FF2B5EF4-FFF2-40B4-BE49-F238E27FC236}">
                    <a16:creationId xmlns:a16="http://schemas.microsoft.com/office/drawing/2014/main" id="{9340169D-D01D-2F89-A439-8B35AD5339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99" name="Oval 77">
                <a:extLst>
                  <a:ext uri="{FF2B5EF4-FFF2-40B4-BE49-F238E27FC236}">
                    <a16:creationId xmlns:a16="http://schemas.microsoft.com/office/drawing/2014/main" id="{427BA0C2-6C6A-E0EF-975E-DE510295B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100" name="Group 78">
                <a:extLst>
                  <a:ext uri="{FF2B5EF4-FFF2-40B4-BE49-F238E27FC236}">
                    <a16:creationId xmlns:a16="http://schemas.microsoft.com/office/drawing/2014/main" id="{334289F6-84DF-61B5-DF58-85046FDD6D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8" y="3571"/>
                <a:ext cx="180" cy="252"/>
                <a:chOff x="2955" y="2425"/>
                <a:chExt cx="183" cy="252"/>
              </a:xfrm>
            </p:grpSpPr>
            <p:sp>
              <p:nvSpPr>
                <p:cNvPr id="101" name="Rectangle 79">
                  <a:extLst>
                    <a:ext uri="{FF2B5EF4-FFF2-40B4-BE49-F238E27FC236}">
                      <a16:creationId xmlns:a16="http://schemas.microsoft.com/office/drawing/2014/main" id="{BEB0434C-02FA-B742-E2DE-5B24E732D7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02" name="Text Box 80">
                  <a:extLst>
                    <a:ext uri="{FF2B5EF4-FFF2-40B4-BE49-F238E27FC236}">
                      <a16:creationId xmlns:a16="http://schemas.microsoft.com/office/drawing/2014/main" id="{96525C90-AC44-85C5-9721-59BCA91F3D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5"/>
                  <a:ext cx="183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67" name="Group 81">
              <a:extLst>
                <a:ext uri="{FF2B5EF4-FFF2-40B4-BE49-F238E27FC236}">
                  <a16:creationId xmlns:a16="http://schemas.microsoft.com/office/drawing/2014/main" id="{84ED29A6-0E34-58A4-F02E-B49020688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222"/>
              <a:ext cx="315" cy="252"/>
              <a:chOff x="2903" y="2908"/>
              <a:chExt cx="315" cy="252"/>
            </a:xfrm>
          </p:grpSpPr>
          <p:grpSp>
            <p:nvGrpSpPr>
              <p:cNvPr id="86" name="Group 82">
                <a:extLst>
                  <a:ext uri="{FF2B5EF4-FFF2-40B4-BE49-F238E27FC236}">
                    <a16:creationId xmlns:a16="http://schemas.microsoft.com/office/drawing/2014/main" id="{17640320-A48E-1656-B03D-7A9791EBE4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90" name="Oval 83">
                  <a:extLst>
                    <a:ext uri="{FF2B5EF4-FFF2-40B4-BE49-F238E27FC236}">
                      <a16:creationId xmlns:a16="http://schemas.microsoft.com/office/drawing/2014/main" id="{F163A42B-7C82-CE52-1F29-799D518F1B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91" name="Line 84">
                  <a:extLst>
                    <a:ext uri="{FF2B5EF4-FFF2-40B4-BE49-F238E27FC236}">
                      <a16:creationId xmlns:a16="http://schemas.microsoft.com/office/drawing/2014/main" id="{65832208-53E7-C904-9371-7B61C8A9E7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92" name="Line 85">
                  <a:extLst>
                    <a:ext uri="{FF2B5EF4-FFF2-40B4-BE49-F238E27FC236}">
                      <a16:creationId xmlns:a16="http://schemas.microsoft.com/office/drawing/2014/main" id="{794D0F2B-6F27-F6EA-3910-D80B4A318C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93" name="Rectangle 86">
                  <a:extLst>
                    <a:ext uri="{FF2B5EF4-FFF2-40B4-BE49-F238E27FC236}">
                      <a16:creationId xmlns:a16="http://schemas.microsoft.com/office/drawing/2014/main" id="{BA36D060-7ED7-E65C-CAD9-9A49157CCC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94" name="Oval 87">
                  <a:extLst>
                    <a:ext uri="{FF2B5EF4-FFF2-40B4-BE49-F238E27FC236}">
                      <a16:creationId xmlns:a16="http://schemas.microsoft.com/office/drawing/2014/main" id="{8C8E0BA2-417A-527F-FE6E-C5A2FFD5A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87" name="Group 88">
                <a:extLst>
                  <a:ext uri="{FF2B5EF4-FFF2-40B4-BE49-F238E27FC236}">
                    <a16:creationId xmlns:a16="http://schemas.microsoft.com/office/drawing/2014/main" id="{B00E536F-9890-07A9-B523-0A26E910B0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2" y="2908"/>
                <a:ext cx="189" cy="252"/>
                <a:chOff x="2962" y="2449"/>
                <a:chExt cx="192" cy="252"/>
              </a:xfrm>
            </p:grpSpPr>
            <p:sp>
              <p:nvSpPr>
                <p:cNvPr id="88" name="Rectangle 89">
                  <a:extLst>
                    <a:ext uri="{FF2B5EF4-FFF2-40B4-BE49-F238E27FC236}">
                      <a16:creationId xmlns:a16="http://schemas.microsoft.com/office/drawing/2014/main" id="{5EBB3D51-2E8C-5F37-32CB-94C5107307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89" name="Text Box 90">
                  <a:extLst>
                    <a:ext uri="{FF2B5EF4-FFF2-40B4-BE49-F238E27FC236}">
                      <a16:creationId xmlns:a16="http://schemas.microsoft.com/office/drawing/2014/main" id="{EF6443FD-F544-5AF0-6051-6BBA463F1D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2" y="2449"/>
                  <a:ext cx="192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68" name="Group 91">
              <a:extLst>
                <a:ext uri="{FF2B5EF4-FFF2-40B4-BE49-F238E27FC236}">
                  <a16:creationId xmlns:a16="http://schemas.microsoft.com/office/drawing/2014/main" id="{0E40863E-A005-C73A-71C8-CDBE3D53C6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78" name="Oval 92">
                <a:extLst>
                  <a:ext uri="{FF2B5EF4-FFF2-40B4-BE49-F238E27FC236}">
                    <a16:creationId xmlns:a16="http://schemas.microsoft.com/office/drawing/2014/main" id="{10CDAEA7-078C-BB45-6CE4-8661EA7CB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79" name="Line 93">
                <a:extLst>
                  <a:ext uri="{FF2B5EF4-FFF2-40B4-BE49-F238E27FC236}">
                    <a16:creationId xmlns:a16="http://schemas.microsoft.com/office/drawing/2014/main" id="{9131A752-ECE9-41A5-0FAA-41BE5F03AA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80" name="Line 94">
                <a:extLst>
                  <a:ext uri="{FF2B5EF4-FFF2-40B4-BE49-F238E27FC236}">
                    <a16:creationId xmlns:a16="http://schemas.microsoft.com/office/drawing/2014/main" id="{236BDEE3-9CB1-001B-F100-1371FCE6C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81" name="Rectangle 95">
                <a:extLst>
                  <a:ext uri="{FF2B5EF4-FFF2-40B4-BE49-F238E27FC236}">
                    <a16:creationId xmlns:a16="http://schemas.microsoft.com/office/drawing/2014/main" id="{492384CF-C8F4-A11B-6DE8-972F42EC9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82" name="Oval 96">
                <a:extLst>
                  <a:ext uri="{FF2B5EF4-FFF2-40B4-BE49-F238E27FC236}">
                    <a16:creationId xmlns:a16="http://schemas.microsoft.com/office/drawing/2014/main" id="{66FADA00-D3DF-3F3D-39C7-C3B0AD5F0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83" name="Group 97">
                <a:extLst>
                  <a:ext uri="{FF2B5EF4-FFF2-40B4-BE49-F238E27FC236}">
                    <a16:creationId xmlns:a16="http://schemas.microsoft.com/office/drawing/2014/main" id="{FA6D57FF-A571-0C51-8EF4-F453DE5E6C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1" y="2884"/>
                <a:ext cx="186" cy="252"/>
                <a:chOff x="2964" y="2425"/>
                <a:chExt cx="189" cy="252"/>
              </a:xfrm>
            </p:grpSpPr>
            <p:sp>
              <p:nvSpPr>
                <p:cNvPr id="84" name="Rectangle 98">
                  <a:extLst>
                    <a:ext uri="{FF2B5EF4-FFF2-40B4-BE49-F238E27FC236}">
                      <a16:creationId xmlns:a16="http://schemas.microsoft.com/office/drawing/2014/main" id="{50766DC3-B2D1-6844-037C-65D2D853B9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85" name="Text Box 99">
                  <a:extLst>
                    <a:ext uri="{FF2B5EF4-FFF2-40B4-BE49-F238E27FC236}">
                      <a16:creationId xmlns:a16="http://schemas.microsoft.com/office/drawing/2014/main" id="{76DC05B9-DD26-01F1-2EC1-A16839A1CB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x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69" name="Freeform 101">
              <a:extLst>
                <a:ext uri="{FF2B5EF4-FFF2-40B4-BE49-F238E27FC236}">
                  <a16:creationId xmlns:a16="http://schemas.microsoft.com/office/drawing/2014/main" id="{C0785F6B-08BF-F18C-B57B-B816C19A5A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70" name="Freeform 102">
              <a:extLst>
                <a:ext uri="{FF2B5EF4-FFF2-40B4-BE49-F238E27FC236}">
                  <a16:creationId xmlns:a16="http://schemas.microsoft.com/office/drawing/2014/main" id="{AF412FF1-42AA-F134-7EC3-F2F88933B4AC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71" name="Freeform 103">
              <a:extLst>
                <a:ext uri="{FF2B5EF4-FFF2-40B4-BE49-F238E27FC236}">
                  <a16:creationId xmlns:a16="http://schemas.microsoft.com/office/drawing/2014/main" id="{820A36DB-1AAA-A90D-1E38-FE376B6CED0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72" name="Freeform 107">
              <a:extLst>
                <a:ext uri="{FF2B5EF4-FFF2-40B4-BE49-F238E27FC236}">
                  <a16:creationId xmlns:a16="http://schemas.microsoft.com/office/drawing/2014/main" id="{EBA69568-1D5F-7DA8-F335-B046D72BAE5C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73" name="Freeform 108">
              <a:extLst>
                <a:ext uri="{FF2B5EF4-FFF2-40B4-BE49-F238E27FC236}">
                  <a16:creationId xmlns:a16="http://schemas.microsoft.com/office/drawing/2014/main" id="{656C5701-6164-5AD3-B32F-AADBEC612C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75" name="Line 215">
              <a:extLst>
                <a:ext uri="{FF2B5EF4-FFF2-40B4-BE49-F238E27FC236}">
                  <a16:creationId xmlns:a16="http://schemas.microsoft.com/office/drawing/2014/main" id="{3D87830A-67A5-EB25-8667-839806E36D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76" name="Line 216">
              <a:extLst>
                <a:ext uri="{FF2B5EF4-FFF2-40B4-BE49-F238E27FC236}">
                  <a16:creationId xmlns:a16="http://schemas.microsoft.com/office/drawing/2014/main" id="{7FF8D2FF-4680-F6E9-FB01-1ADFBD141A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77" name="Line 217">
              <a:extLst>
                <a:ext uri="{FF2B5EF4-FFF2-40B4-BE49-F238E27FC236}">
                  <a16:creationId xmlns:a16="http://schemas.microsoft.com/office/drawing/2014/main" id="{665E5049-A743-5B98-AC5E-2A9A3BBF7C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111" name="Freeform 288">
            <a:extLst>
              <a:ext uri="{FF2B5EF4-FFF2-40B4-BE49-F238E27FC236}">
                <a16:creationId xmlns:a16="http://schemas.microsoft.com/office/drawing/2014/main" id="{657F1791-F019-1FDF-992E-2A5A476F05AE}"/>
              </a:ext>
            </a:extLst>
          </p:cNvPr>
          <p:cNvSpPr>
            <a:spLocks/>
          </p:cNvSpPr>
          <p:nvPr/>
        </p:nvSpPr>
        <p:spPr bwMode="auto">
          <a:xfrm>
            <a:off x="1445260" y="2972435"/>
            <a:ext cx="609600" cy="828675"/>
          </a:xfrm>
          <a:custGeom>
            <a:avLst/>
            <a:gdLst>
              <a:gd name="T0" fmla="*/ 0 w 384"/>
              <a:gd name="T1" fmla="*/ 2147483647 h 522"/>
              <a:gd name="T2" fmla="*/ 2147483647 w 384"/>
              <a:gd name="T3" fmla="*/ 2147483647 h 522"/>
              <a:gd name="T4" fmla="*/ 2147483647 w 384"/>
              <a:gd name="T5" fmla="*/ 0 h 522"/>
              <a:gd name="T6" fmla="*/ 0 60000 65536"/>
              <a:gd name="T7" fmla="*/ 0 60000 65536"/>
              <a:gd name="T8" fmla="*/ 0 60000 65536"/>
              <a:gd name="T9" fmla="*/ 0 w 384"/>
              <a:gd name="T10" fmla="*/ 0 h 522"/>
              <a:gd name="T11" fmla="*/ 384 w 384"/>
              <a:gd name="T12" fmla="*/ 522 h 5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522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112" name="Line 289">
            <a:extLst>
              <a:ext uri="{FF2B5EF4-FFF2-40B4-BE49-F238E27FC236}">
                <a16:creationId xmlns:a16="http://schemas.microsoft.com/office/drawing/2014/main" id="{6A8B5DB8-0743-9554-F8BF-0356076374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085" y="3053397"/>
            <a:ext cx="447675" cy="2428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113" name="Freeform 290">
            <a:extLst>
              <a:ext uri="{FF2B5EF4-FFF2-40B4-BE49-F238E27FC236}">
                <a16:creationId xmlns:a16="http://schemas.microsoft.com/office/drawing/2014/main" id="{3200014D-84AD-47DA-0D83-F0779A506D89}"/>
              </a:ext>
            </a:extLst>
          </p:cNvPr>
          <p:cNvSpPr>
            <a:spLocks/>
          </p:cNvSpPr>
          <p:nvPr/>
        </p:nvSpPr>
        <p:spPr bwMode="auto">
          <a:xfrm>
            <a:off x="3740785" y="293338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14" name="Group 291">
            <a:extLst>
              <a:ext uri="{FF2B5EF4-FFF2-40B4-BE49-F238E27FC236}">
                <a16:creationId xmlns:a16="http://schemas.microsoft.com/office/drawing/2014/main" id="{FAF84F97-5B21-8D50-0D07-D394F01F4408}"/>
              </a:ext>
            </a:extLst>
          </p:cNvPr>
          <p:cNvGrpSpPr>
            <a:grpSpLocks/>
          </p:cNvGrpSpPr>
          <p:nvPr/>
        </p:nvGrpSpPr>
        <p:grpSpPr bwMode="auto">
          <a:xfrm>
            <a:off x="3566160" y="2919095"/>
            <a:ext cx="1430338" cy="966787"/>
            <a:chOff x="1870" y="2772"/>
            <a:chExt cx="901" cy="609"/>
          </a:xfrm>
        </p:grpSpPr>
        <p:sp>
          <p:nvSpPr>
            <p:cNvPr id="115" name="Text Box 292">
              <a:extLst>
                <a:ext uri="{FF2B5EF4-FFF2-40B4-BE49-F238E27FC236}">
                  <a16:creationId xmlns:a16="http://schemas.microsoft.com/office/drawing/2014/main" id="{21CACCFD-64F2-808B-3678-1C43EED23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116" name="Text Box 293">
              <a:extLst>
                <a:ext uri="{FF2B5EF4-FFF2-40B4-BE49-F238E27FC236}">
                  <a16:creationId xmlns:a16="http://schemas.microsoft.com/office/drawing/2014/main" id="{A2F5B9D7-08C6-55B8-81C7-0DCB739CD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17" name="Text Box 294">
              <a:extLst>
                <a:ext uri="{FF2B5EF4-FFF2-40B4-BE49-F238E27FC236}">
                  <a16:creationId xmlns:a16="http://schemas.microsoft.com/office/drawing/2014/main" id="{9D01ACE0-9C93-CF7F-6117-94C249B5F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18" name="Text Box 295">
              <a:extLst>
                <a:ext uri="{FF2B5EF4-FFF2-40B4-BE49-F238E27FC236}">
                  <a16:creationId xmlns:a16="http://schemas.microsoft.com/office/drawing/2014/main" id="{9E5D5884-FB5F-460E-DBB6-C1A464E29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19" name="Text Box 296">
              <a:extLst>
                <a:ext uri="{FF2B5EF4-FFF2-40B4-BE49-F238E27FC236}">
                  <a16:creationId xmlns:a16="http://schemas.microsoft.com/office/drawing/2014/main" id="{1B809BD3-EE91-7065-7638-E62A55CB4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120" name="Text Box 297">
              <a:extLst>
                <a:ext uri="{FF2B5EF4-FFF2-40B4-BE49-F238E27FC236}">
                  <a16:creationId xmlns:a16="http://schemas.microsoft.com/office/drawing/2014/main" id="{6EE2ABC9-D38B-8E45-FD41-CD18347E8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121" name="Group 299">
            <a:extLst>
              <a:ext uri="{FF2B5EF4-FFF2-40B4-BE49-F238E27FC236}">
                <a16:creationId xmlns:a16="http://schemas.microsoft.com/office/drawing/2014/main" id="{B8E17D58-ED68-83A8-D911-A73C84CFB440}"/>
              </a:ext>
            </a:extLst>
          </p:cNvPr>
          <p:cNvGrpSpPr>
            <a:grpSpLocks/>
          </p:cNvGrpSpPr>
          <p:nvPr/>
        </p:nvGrpSpPr>
        <p:grpSpPr bwMode="auto">
          <a:xfrm>
            <a:off x="6604001" y="2729549"/>
            <a:ext cx="1944687" cy="1466851"/>
            <a:chOff x="1752" y="2639"/>
            <a:chExt cx="1225" cy="924"/>
          </a:xfrm>
        </p:grpSpPr>
        <p:sp>
          <p:nvSpPr>
            <p:cNvPr id="122" name="Freeform 300">
              <a:extLst>
                <a:ext uri="{FF2B5EF4-FFF2-40B4-BE49-F238E27FC236}">
                  <a16:creationId xmlns:a16="http://schemas.microsoft.com/office/drawing/2014/main" id="{04A60E29-F9FB-6741-865F-78DF748E7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23" name="Freeform 301">
              <a:extLst>
                <a:ext uri="{FF2B5EF4-FFF2-40B4-BE49-F238E27FC236}">
                  <a16:creationId xmlns:a16="http://schemas.microsoft.com/office/drawing/2014/main" id="{7F217F4D-92CB-BC0A-27E8-6E530E4A7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124" name="Group 302">
              <a:extLst>
                <a:ext uri="{FF2B5EF4-FFF2-40B4-BE49-F238E27FC236}">
                  <a16:creationId xmlns:a16="http://schemas.microsoft.com/office/drawing/2014/main" id="{27C800A3-225C-6EEF-1EAD-09E3B60DE8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6" y="2641"/>
              <a:ext cx="333" cy="252"/>
              <a:chOff x="1730" y="3179"/>
              <a:chExt cx="333" cy="252"/>
            </a:xfrm>
          </p:grpSpPr>
          <p:sp>
            <p:nvSpPr>
              <p:cNvPr id="162" name="Oval 303">
                <a:extLst>
                  <a:ext uri="{FF2B5EF4-FFF2-40B4-BE49-F238E27FC236}">
                    <a16:creationId xmlns:a16="http://schemas.microsoft.com/office/drawing/2014/main" id="{DEAC36F1-C0B0-A3E1-C005-F45F0E889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63" name="Line 304">
                <a:extLst>
                  <a:ext uri="{FF2B5EF4-FFF2-40B4-BE49-F238E27FC236}">
                    <a16:creationId xmlns:a16="http://schemas.microsoft.com/office/drawing/2014/main" id="{17310272-E05D-54AE-0A4A-C9CC2B820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64" name="Line 305">
                <a:extLst>
                  <a:ext uri="{FF2B5EF4-FFF2-40B4-BE49-F238E27FC236}">
                    <a16:creationId xmlns:a16="http://schemas.microsoft.com/office/drawing/2014/main" id="{7D5CC8A5-9DCA-C655-51D2-C2D7D13D6F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65" name="Rectangle 306">
                <a:extLst>
                  <a:ext uri="{FF2B5EF4-FFF2-40B4-BE49-F238E27FC236}">
                    <a16:creationId xmlns:a16="http://schemas.microsoft.com/office/drawing/2014/main" id="{9A05F38D-143B-6695-0B98-162B412EF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66" name="Oval 307">
                <a:extLst>
                  <a:ext uri="{FF2B5EF4-FFF2-40B4-BE49-F238E27FC236}">
                    <a16:creationId xmlns:a16="http://schemas.microsoft.com/office/drawing/2014/main" id="{A8FDEB0D-DC26-BF86-815C-13AB1CD70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167" name="Group 308">
                <a:extLst>
                  <a:ext uri="{FF2B5EF4-FFF2-40B4-BE49-F238E27FC236}">
                    <a16:creationId xmlns:a16="http://schemas.microsoft.com/office/drawing/2014/main" id="{1BFF693F-F117-5DF8-3DD4-DFEAB1EE5C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3179"/>
                <a:ext cx="231" cy="252"/>
                <a:chOff x="2895" y="2414"/>
                <a:chExt cx="235" cy="252"/>
              </a:xfrm>
            </p:grpSpPr>
            <p:sp>
              <p:nvSpPr>
                <p:cNvPr id="168" name="Rectangle 309">
                  <a:extLst>
                    <a:ext uri="{FF2B5EF4-FFF2-40B4-BE49-F238E27FC236}">
                      <a16:creationId xmlns:a16="http://schemas.microsoft.com/office/drawing/2014/main" id="{E2F623AF-4DAB-A6A1-1556-F6791BCFC5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69" name="Text Box 310">
                  <a:extLst>
                    <a:ext uri="{FF2B5EF4-FFF2-40B4-BE49-F238E27FC236}">
                      <a16:creationId xmlns:a16="http://schemas.microsoft.com/office/drawing/2014/main" id="{9CBB5954-5C76-E7BA-11A6-5313815D19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5" y="2414"/>
                  <a:ext cx="235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w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25" name="Group 311">
              <a:extLst>
                <a:ext uri="{FF2B5EF4-FFF2-40B4-BE49-F238E27FC236}">
                  <a16:creationId xmlns:a16="http://schemas.microsoft.com/office/drawing/2014/main" id="{6566A47E-ED86-9C41-9746-C0FED2058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154" name="Oval 312">
                <a:extLst>
                  <a:ext uri="{FF2B5EF4-FFF2-40B4-BE49-F238E27FC236}">
                    <a16:creationId xmlns:a16="http://schemas.microsoft.com/office/drawing/2014/main" id="{DA8231B6-6A94-8DEB-53B5-C1F2D7943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55" name="Line 313">
                <a:extLst>
                  <a:ext uri="{FF2B5EF4-FFF2-40B4-BE49-F238E27FC236}">
                    <a16:creationId xmlns:a16="http://schemas.microsoft.com/office/drawing/2014/main" id="{365CE99F-B3A6-ECFE-378E-494F1428D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56" name="Line 314">
                <a:extLst>
                  <a:ext uri="{FF2B5EF4-FFF2-40B4-BE49-F238E27FC236}">
                    <a16:creationId xmlns:a16="http://schemas.microsoft.com/office/drawing/2014/main" id="{3AB389BA-1A62-CCFE-3475-91D48A296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57" name="Rectangle 315">
                <a:extLst>
                  <a:ext uri="{FF2B5EF4-FFF2-40B4-BE49-F238E27FC236}">
                    <a16:creationId xmlns:a16="http://schemas.microsoft.com/office/drawing/2014/main" id="{A913C15B-1D5D-D49C-A9E7-4C2F85DE7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58" name="Oval 316">
                <a:extLst>
                  <a:ext uri="{FF2B5EF4-FFF2-40B4-BE49-F238E27FC236}">
                    <a16:creationId xmlns:a16="http://schemas.microsoft.com/office/drawing/2014/main" id="{AD5213A0-5949-D8E1-1C86-AFD0FCA05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159" name="Group 317">
                <a:extLst>
                  <a:ext uri="{FF2B5EF4-FFF2-40B4-BE49-F238E27FC236}">
                    <a16:creationId xmlns:a16="http://schemas.microsoft.com/office/drawing/2014/main" id="{06A7285E-1A88-CB62-F89B-24351A6CF7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8" y="3571"/>
                <a:ext cx="180" cy="252"/>
                <a:chOff x="2955" y="2425"/>
                <a:chExt cx="183" cy="252"/>
              </a:xfrm>
            </p:grpSpPr>
            <p:sp>
              <p:nvSpPr>
                <p:cNvPr id="160" name="Rectangle 318">
                  <a:extLst>
                    <a:ext uri="{FF2B5EF4-FFF2-40B4-BE49-F238E27FC236}">
                      <a16:creationId xmlns:a16="http://schemas.microsoft.com/office/drawing/2014/main" id="{33328046-1A04-7273-A1AD-A237A00862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61" name="Text Box 319">
                  <a:extLst>
                    <a:ext uri="{FF2B5EF4-FFF2-40B4-BE49-F238E27FC236}">
                      <a16:creationId xmlns:a16="http://schemas.microsoft.com/office/drawing/2014/main" id="{3E3E3B41-8B72-AC0A-694E-3CDEFD4B20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5"/>
                  <a:ext cx="183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26" name="Group 320">
              <a:extLst>
                <a:ext uri="{FF2B5EF4-FFF2-40B4-BE49-F238E27FC236}">
                  <a16:creationId xmlns:a16="http://schemas.microsoft.com/office/drawing/2014/main" id="{2D2FB028-805A-9F64-C47C-D4EB1F9F3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223"/>
              <a:ext cx="315" cy="252"/>
              <a:chOff x="2903" y="2909"/>
              <a:chExt cx="315" cy="252"/>
            </a:xfrm>
          </p:grpSpPr>
          <p:grpSp>
            <p:nvGrpSpPr>
              <p:cNvPr id="145" name="Group 321">
                <a:extLst>
                  <a:ext uri="{FF2B5EF4-FFF2-40B4-BE49-F238E27FC236}">
                    <a16:creationId xmlns:a16="http://schemas.microsoft.com/office/drawing/2014/main" id="{F8FECD18-E53A-5211-6907-8CE1260096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149" name="Oval 322">
                  <a:extLst>
                    <a:ext uri="{FF2B5EF4-FFF2-40B4-BE49-F238E27FC236}">
                      <a16:creationId xmlns:a16="http://schemas.microsoft.com/office/drawing/2014/main" id="{F94190F6-C1C6-45F8-AE96-5715B0D7F3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50" name="Line 323">
                  <a:extLst>
                    <a:ext uri="{FF2B5EF4-FFF2-40B4-BE49-F238E27FC236}">
                      <a16:creationId xmlns:a16="http://schemas.microsoft.com/office/drawing/2014/main" id="{B468A0AC-86E3-4E26-82CA-ABCF7CCBF2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51" name="Line 324">
                  <a:extLst>
                    <a:ext uri="{FF2B5EF4-FFF2-40B4-BE49-F238E27FC236}">
                      <a16:creationId xmlns:a16="http://schemas.microsoft.com/office/drawing/2014/main" id="{20F1DE4B-7A76-C367-2ABF-CF9B0C7932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52" name="Rectangle 325">
                  <a:extLst>
                    <a:ext uri="{FF2B5EF4-FFF2-40B4-BE49-F238E27FC236}">
                      <a16:creationId xmlns:a16="http://schemas.microsoft.com/office/drawing/2014/main" id="{38F6D933-AC28-070C-C92D-934AD16F5D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53" name="Oval 326">
                  <a:extLst>
                    <a:ext uri="{FF2B5EF4-FFF2-40B4-BE49-F238E27FC236}">
                      <a16:creationId xmlns:a16="http://schemas.microsoft.com/office/drawing/2014/main" id="{97B4080A-32BF-E146-68E8-AF23649BAB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146" name="Group 327">
                <a:extLst>
                  <a:ext uri="{FF2B5EF4-FFF2-40B4-BE49-F238E27FC236}">
                    <a16:creationId xmlns:a16="http://schemas.microsoft.com/office/drawing/2014/main" id="{B59BD564-C6FE-66FC-F1F2-225F13A1DE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1" y="2909"/>
                <a:ext cx="189" cy="252"/>
                <a:chOff x="2971" y="2450"/>
                <a:chExt cx="192" cy="252"/>
              </a:xfrm>
            </p:grpSpPr>
            <p:sp>
              <p:nvSpPr>
                <p:cNvPr id="147" name="Rectangle 328">
                  <a:extLst>
                    <a:ext uri="{FF2B5EF4-FFF2-40B4-BE49-F238E27FC236}">
                      <a16:creationId xmlns:a16="http://schemas.microsoft.com/office/drawing/2014/main" id="{D208286F-F5AE-AAC9-0CD0-6B7C0F3CD7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48" name="Text Box 329">
                  <a:extLst>
                    <a:ext uri="{FF2B5EF4-FFF2-40B4-BE49-F238E27FC236}">
                      <a16:creationId xmlns:a16="http://schemas.microsoft.com/office/drawing/2014/main" id="{37C1E5F6-04C4-919B-E38D-875DBF8B67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1" y="2450"/>
                  <a:ext cx="192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27" name="Group 330">
              <a:extLst>
                <a:ext uri="{FF2B5EF4-FFF2-40B4-BE49-F238E27FC236}">
                  <a16:creationId xmlns:a16="http://schemas.microsoft.com/office/drawing/2014/main" id="{2F79D810-874C-23B4-7D7B-EF53A2DF69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137" name="Oval 331">
                <a:extLst>
                  <a:ext uri="{FF2B5EF4-FFF2-40B4-BE49-F238E27FC236}">
                    <a16:creationId xmlns:a16="http://schemas.microsoft.com/office/drawing/2014/main" id="{519D8A55-CD6F-21FE-F450-3177B6CF4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38" name="Line 332">
                <a:extLst>
                  <a:ext uri="{FF2B5EF4-FFF2-40B4-BE49-F238E27FC236}">
                    <a16:creationId xmlns:a16="http://schemas.microsoft.com/office/drawing/2014/main" id="{282B4F08-4501-0E9E-F0F1-6E0D8C2C19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39" name="Line 333">
                <a:extLst>
                  <a:ext uri="{FF2B5EF4-FFF2-40B4-BE49-F238E27FC236}">
                    <a16:creationId xmlns:a16="http://schemas.microsoft.com/office/drawing/2014/main" id="{405609D8-E6D6-E3B7-B172-07ED2235F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40" name="Rectangle 334">
                <a:extLst>
                  <a:ext uri="{FF2B5EF4-FFF2-40B4-BE49-F238E27FC236}">
                    <a16:creationId xmlns:a16="http://schemas.microsoft.com/office/drawing/2014/main" id="{300F576C-32C6-DCC7-18AC-36B11FEF0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41" name="Oval 335">
                <a:extLst>
                  <a:ext uri="{FF2B5EF4-FFF2-40B4-BE49-F238E27FC236}">
                    <a16:creationId xmlns:a16="http://schemas.microsoft.com/office/drawing/2014/main" id="{C922DC57-4041-B929-A012-BFF4E31A5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142" name="Group 336">
                <a:extLst>
                  <a:ext uri="{FF2B5EF4-FFF2-40B4-BE49-F238E27FC236}">
                    <a16:creationId xmlns:a16="http://schemas.microsoft.com/office/drawing/2014/main" id="{1CC11346-4038-5758-A7ED-0C462A0AFF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96" y="2884"/>
                <a:ext cx="186" cy="252"/>
                <a:chOff x="2979" y="2425"/>
                <a:chExt cx="189" cy="252"/>
              </a:xfrm>
            </p:grpSpPr>
            <p:sp>
              <p:nvSpPr>
                <p:cNvPr id="143" name="Rectangle 337">
                  <a:extLst>
                    <a:ext uri="{FF2B5EF4-FFF2-40B4-BE49-F238E27FC236}">
                      <a16:creationId xmlns:a16="http://schemas.microsoft.com/office/drawing/2014/main" id="{3559EE85-805F-F3A3-8B3E-2B90E1BEDF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144" name="Text Box 338">
                  <a:extLst>
                    <a:ext uri="{FF2B5EF4-FFF2-40B4-BE49-F238E27FC236}">
                      <a16:creationId xmlns:a16="http://schemas.microsoft.com/office/drawing/2014/main" id="{D9748457-2852-49FC-316E-9C94313FC87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9" y="2425"/>
                  <a:ext cx="18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x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28" name="Freeform 339">
              <a:extLst>
                <a:ext uri="{FF2B5EF4-FFF2-40B4-BE49-F238E27FC236}">
                  <a16:creationId xmlns:a16="http://schemas.microsoft.com/office/drawing/2014/main" id="{71BEC9EF-5888-307B-B2C2-E2D3E8BFA2F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29" name="Freeform 340">
              <a:extLst>
                <a:ext uri="{FF2B5EF4-FFF2-40B4-BE49-F238E27FC236}">
                  <a16:creationId xmlns:a16="http://schemas.microsoft.com/office/drawing/2014/main" id="{9DEAFE1A-222C-A49D-AACC-1FAB526780B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30" name="Freeform 341">
              <a:extLst>
                <a:ext uri="{FF2B5EF4-FFF2-40B4-BE49-F238E27FC236}">
                  <a16:creationId xmlns:a16="http://schemas.microsoft.com/office/drawing/2014/main" id="{7B1F7A49-7317-F51C-4621-F458942F8F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31" name="Freeform 342">
              <a:extLst>
                <a:ext uri="{FF2B5EF4-FFF2-40B4-BE49-F238E27FC236}">
                  <a16:creationId xmlns:a16="http://schemas.microsoft.com/office/drawing/2014/main" id="{28358C12-BB8F-0DDA-1E34-7DF3555ED2E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32" name="Freeform 343">
              <a:extLst>
                <a:ext uri="{FF2B5EF4-FFF2-40B4-BE49-F238E27FC236}">
                  <a16:creationId xmlns:a16="http://schemas.microsoft.com/office/drawing/2014/main" id="{2E99ABC2-6158-3535-FB13-37D48E08C0B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34" name="Line 345">
              <a:extLst>
                <a:ext uri="{FF2B5EF4-FFF2-40B4-BE49-F238E27FC236}">
                  <a16:creationId xmlns:a16="http://schemas.microsoft.com/office/drawing/2014/main" id="{AF59D573-7396-50FE-CE84-05CE3F782A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35" name="Line 346">
              <a:extLst>
                <a:ext uri="{FF2B5EF4-FFF2-40B4-BE49-F238E27FC236}">
                  <a16:creationId xmlns:a16="http://schemas.microsoft.com/office/drawing/2014/main" id="{088A5C0F-3F7A-0F0B-7564-1431B8C0F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36" name="Line 347">
              <a:extLst>
                <a:ext uri="{FF2B5EF4-FFF2-40B4-BE49-F238E27FC236}">
                  <a16:creationId xmlns:a16="http://schemas.microsoft.com/office/drawing/2014/main" id="{DED9B2F4-0BD4-9084-C6DC-4306738912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170" name="Freeform 228">
            <a:extLst>
              <a:ext uri="{FF2B5EF4-FFF2-40B4-BE49-F238E27FC236}">
                <a16:creationId xmlns:a16="http://schemas.microsoft.com/office/drawing/2014/main" id="{354DFE75-5D2E-BC0F-2F13-53928DDD7BBE}"/>
              </a:ext>
            </a:extLst>
          </p:cNvPr>
          <p:cNvSpPr>
            <a:spLocks/>
          </p:cNvSpPr>
          <p:nvPr/>
        </p:nvSpPr>
        <p:spPr bwMode="auto">
          <a:xfrm>
            <a:off x="6972300" y="2864485"/>
            <a:ext cx="1181100" cy="952500"/>
          </a:xfrm>
          <a:custGeom>
            <a:avLst/>
            <a:gdLst>
              <a:gd name="T0" fmla="*/ 0 w 744"/>
              <a:gd name="T1" fmla="*/ 2147483647 h 600"/>
              <a:gd name="T2" fmla="*/ 2147483647 w 744"/>
              <a:gd name="T3" fmla="*/ 2147483647 h 600"/>
              <a:gd name="T4" fmla="*/ 2147483647 w 744"/>
              <a:gd name="T5" fmla="*/ 2147483647 h 600"/>
              <a:gd name="T6" fmla="*/ 2147483647 w 744"/>
              <a:gd name="T7" fmla="*/ 2147483647 h 600"/>
              <a:gd name="T8" fmla="*/ 2147483647 w 744"/>
              <a:gd name="T9" fmla="*/ 0 h 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600"/>
              <a:gd name="T17" fmla="*/ 744 w 744"/>
              <a:gd name="T18" fmla="*/ 600 h 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600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71" name="Group 348">
            <a:extLst>
              <a:ext uri="{FF2B5EF4-FFF2-40B4-BE49-F238E27FC236}">
                <a16:creationId xmlns:a16="http://schemas.microsoft.com/office/drawing/2014/main" id="{5E8106E7-7796-A4D6-2D33-8B276775CB59}"/>
              </a:ext>
            </a:extLst>
          </p:cNvPr>
          <p:cNvGrpSpPr>
            <a:grpSpLocks/>
          </p:cNvGrpSpPr>
          <p:nvPr/>
        </p:nvGrpSpPr>
        <p:grpSpPr bwMode="auto">
          <a:xfrm>
            <a:off x="6889750" y="2942272"/>
            <a:ext cx="1493838" cy="990600"/>
            <a:chOff x="-186" y="1184"/>
            <a:chExt cx="941" cy="624"/>
          </a:xfrm>
        </p:grpSpPr>
        <p:sp>
          <p:nvSpPr>
            <p:cNvPr id="172" name="Text Box 270">
              <a:extLst>
                <a:ext uri="{FF2B5EF4-FFF2-40B4-BE49-F238E27FC236}">
                  <a16:creationId xmlns:a16="http://schemas.microsoft.com/office/drawing/2014/main" id="{F96ECE9D-638F-A3BD-BD0F-6CC97B527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73" name="Text Box 274">
              <a:extLst>
                <a:ext uri="{FF2B5EF4-FFF2-40B4-BE49-F238E27FC236}">
                  <a16:creationId xmlns:a16="http://schemas.microsoft.com/office/drawing/2014/main" id="{E0BA56F1-B7E5-9749-D471-A6AA3214EA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174" name="Text Box 275">
              <a:extLst>
                <a:ext uri="{FF2B5EF4-FFF2-40B4-BE49-F238E27FC236}">
                  <a16:creationId xmlns:a16="http://schemas.microsoft.com/office/drawing/2014/main" id="{94F60746-E507-82E4-CB51-41B33CFE86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175" name="Text Box 276">
              <a:extLst>
                <a:ext uri="{FF2B5EF4-FFF2-40B4-BE49-F238E27FC236}">
                  <a16:creationId xmlns:a16="http://schemas.microsoft.com/office/drawing/2014/main" id="{CD6F8F7E-AADA-E56A-7FF2-43441E868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176" name="Text Box 279">
              <a:extLst>
                <a:ext uri="{FF2B5EF4-FFF2-40B4-BE49-F238E27FC236}">
                  <a16:creationId xmlns:a16="http://schemas.microsoft.com/office/drawing/2014/main" id="{04A472A6-61AE-8479-3D80-90D68125B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77" name="Text Box 280">
              <a:extLst>
                <a:ext uri="{FF2B5EF4-FFF2-40B4-BE49-F238E27FC236}">
                  <a16:creationId xmlns:a16="http://schemas.microsoft.com/office/drawing/2014/main" id="{27499562-5E8C-54D6-8952-F3F01946B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</p:grpSp>
      <p:grpSp>
        <p:nvGrpSpPr>
          <p:cNvPr id="178" name="Group 349">
            <a:extLst>
              <a:ext uri="{FF2B5EF4-FFF2-40B4-BE49-F238E27FC236}">
                <a16:creationId xmlns:a16="http://schemas.microsoft.com/office/drawing/2014/main" id="{946C23A0-6EC5-09B2-45E1-7D959E2891FC}"/>
              </a:ext>
            </a:extLst>
          </p:cNvPr>
          <p:cNvGrpSpPr>
            <a:grpSpLocks/>
          </p:cNvGrpSpPr>
          <p:nvPr/>
        </p:nvGrpSpPr>
        <p:grpSpPr bwMode="auto">
          <a:xfrm>
            <a:off x="9732012" y="2777169"/>
            <a:ext cx="1944687" cy="1468436"/>
            <a:chOff x="1752" y="2638"/>
            <a:chExt cx="1225" cy="925"/>
          </a:xfrm>
        </p:grpSpPr>
        <p:sp>
          <p:nvSpPr>
            <p:cNvPr id="179" name="Freeform 350">
              <a:extLst>
                <a:ext uri="{FF2B5EF4-FFF2-40B4-BE49-F238E27FC236}">
                  <a16:creationId xmlns:a16="http://schemas.microsoft.com/office/drawing/2014/main" id="{322C93C5-DC5A-5E97-3611-558DD286D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80" name="Freeform 351">
              <a:extLst>
                <a:ext uri="{FF2B5EF4-FFF2-40B4-BE49-F238E27FC236}">
                  <a16:creationId xmlns:a16="http://schemas.microsoft.com/office/drawing/2014/main" id="{4F3EF63D-4E66-2B2E-1211-C33851B9C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181" name="Group 352">
              <a:extLst>
                <a:ext uri="{FF2B5EF4-FFF2-40B4-BE49-F238E27FC236}">
                  <a16:creationId xmlns:a16="http://schemas.microsoft.com/office/drawing/2014/main" id="{318BA431-3876-A479-2ED6-D4C1C7E8FB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38"/>
              <a:ext cx="316" cy="252"/>
              <a:chOff x="1747" y="3176"/>
              <a:chExt cx="316" cy="252"/>
            </a:xfrm>
          </p:grpSpPr>
          <p:sp>
            <p:nvSpPr>
              <p:cNvPr id="219" name="Oval 353">
                <a:extLst>
                  <a:ext uri="{FF2B5EF4-FFF2-40B4-BE49-F238E27FC236}">
                    <a16:creationId xmlns:a16="http://schemas.microsoft.com/office/drawing/2014/main" id="{9CAABB17-89EB-4B6D-5839-EA1493E38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20" name="Line 354">
                <a:extLst>
                  <a:ext uri="{FF2B5EF4-FFF2-40B4-BE49-F238E27FC236}">
                    <a16:creationId xmlns:a16="http://schemas.microsoft.com/office/drawing/2014/main" id="{33BC6F24-6124-B618-9786-5D738FCB6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21" name="Line 355">
                <a:extLst>
                  <a:ext uri="{FF2B5EF4-FFF2-40B4-BE49-F238E27FC236}">
                    <a16:creationId xmlns:a16="http://schemas.microsoft.com/office/drawing/2014/main" id="{AA9E4F29-F184-B7ED-A055-C768F2CAD7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22" name="Rectangle 356">
                <a:extLst>
                  <a:ext uri="{FF2B5EF4-FFF2-40B4-BE49-F238E27FC236}">
                    <a16:creationId xmlns:a16="http://schemas.microsoft.com/office/drawing/2014/main" id="{C3B34C02-66F1-7FCA-BB80-121B619B3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23" name="Oval 357">
                <a:extLst>
                  <a:ext uri="{FF2B5EF4-FFF2-40B4-BE49-F238E27FC236}">
                    <a16:creationId xmlns:a16="http://schemas.microsoft.com/office/drawing/2014/main" id="{6A34E4F3-3E4D-10CF-1B77-4EA5342AF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224" name="Group 358">
                <a:extLst>
                  <a:ext uri="{FF2B5EF4-FFF2-40B4-BE49-F238E27FC236}">
                    <a16:creationId xmlns:a16="http://schemas.microsoft.com/office/drawing/2014/main" id="{39C5464D-A6C5-9976-ADA0-0C3877F557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5" y="3176"/>
                <a:ext cx="231" cy="252"/>
                <a:chOff x="2982" y="2411"/>
                <a:chExt cx="235" cy="252"/>
              </a:xfrm>
            </p:grpSpPr>
            <p:sp>
              <p:nvSpPr>
                <p:cNvPr id="225" name="Rectangle 359">
                  <a:extLst>
                    <a:ext uri="{FF2B5EF4-FFF2-40B4-BE49-F238E27FC236}">
                      <a16:creationId xmlns:a16="http://schemas.microsoft.com/office/drawing/2014/main" id="{29316BF9-0246-9584-44E8-AE45874BE5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226" name="Text Box 360">
                  <a:extLst>
                    <a:ext uri="{FF2B5EF4-FFF2-40B4-BE49-F238E27FC236}">
                      <a16:creationId xmlns:a16="http://schemas.microsoft.com/office/drawing/2014/main" id="{FD2D4D13-A273-7DAC-8396-78C9F97465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82" y="2411"/>
                  <a:ext cx="235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w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2" name="Group 361">
              <a:extLst>
                <a:ext uri="{FF2B5EF4-FFF2-40B4-BE49-F238E27FC236}">
                  <a16:creationId xmlns:a16="http://schemas.microsoft.com/office/drawing/2014/main" id="{6402D376-E6C1-157D-218D-09358115B5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11" name="Oval 362">
                <a:extLst>
                  <a:ext uri="{FF2B5EF4-FFF2-40B4-BE49-F238E27FC236}">
                    <a16:creationId xmlns:a16="http://schemas.microsoft.com/office/drawing/2014/main" id="{B2AEFB8E-78F1-C858-60FA-6B1F89D5A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12" name="Line 363">
                <a:extLst>
                  <a:ext uri="{FF2B5EF4-FFF2-40B4-BE49-F238E27FC236}">
                    <a16:creationId xmlns:a16="http://schemas.microsoft.com/office/drawing/2014/main" id="{C924E6E3-2085-3872-6F33-9D450F07C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13" name="Line 364">
                <a:extLst>
                  <a:ext uri="{FF2B5EF4-FFF2-40B4-BE49-F238E27FC236}">
                    <a16:creationId xmlns:a16="http://schemas.microsoft.com/office/drawing/2014/main" id="{ABDD6ADD-6F1D-0670-4C05-FEA3641A4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14" name="Rectangle 365">
                <a:extLst>
                  <a:ext uri="{FF2B5EF4-FFF2-40B4-BE49-F238E27FC236}">
                    <a16:creationId xmlns:a16="http://schemas.microsoft.com/office/drawing/2014/main" id="{1D736036-13BE-9DB5-7A4A-89BC834B3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15" name="Oval 366">
                <a:extLst>
                  <a:ext uri="{FF2B5EF4-FFF2-40B4-BE49-F238E27FC236}">
                    <a16:creationId xmlns:a16="http://schemas.microsoft.com/office/drawing/2014/main" id="{DE7F45FB-6FC9-3870-F233-7A828CED5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216" name="Group 367">
                <a:extLst>
                  <a:ext uri="{FF2B5EF4-FFF2-40B4-BE49-F238E27FC236}">
                    <a16:creationId xmlns:a16="http://schemas.microsoft.com/office/drawing/2014/main" id="{6555A8EF-6CEB-A003-EEF8-4607BD86BA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69" y="3571"/>
                <a:ext cx="180" cy="252"/>
                <a:chOff x="2946" y="2425"/>
                <a:chExt cx="183" cy="252"/>
              </a:xfrm>
            </p:grpSpPr>
            <p:sp>
              <p:nvSpPr>
                <p:cNvPr id="217" name="Rectangle 368">
                  <a:extLst>
                    <a:ext uri="{FF2B5EF4-FFF2-40B4-BE49-F238E27FC236}">
                      <a16:creationId xmlns:a16="http://schemas.microsoft.com/office/drawing/2014/main" id="{B5D1D782-8CD8-0DE0-A5FA-EFF9548505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218" name="Text Box 369">
                  <a:extLst>
                    <a:ext uri="{FF2B5EF4-FFF2-40B4-BE49-F238E27FC236}">
                      <a16:creationId xmlns:a16="http://schemas.microsoft.com/office/drawing/2014/main" id="{8C4ECB6C-0C55-68BF-A256-2721AFEE61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6" y="2425"/>
                  <a:ext cx="183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3" name="Group 370">
              <a:extLst>
                <a:ext uri="{FF2B5EF4-FFF2-40B4-BE49-F238E27FC236}">
                  <a16:creationId xmlns:a16="http://schemas.microsoft.com/office/drawing/2014/main" id="{8CA1D7E7-6805-43E1-7961-1165219C0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201"/>
              <a:ext cx="315" cy="252"/>
              <a:chOff x="2903" y="2887"/>
              <a:chExt cx="315" cy="252"/>
            </a:xfrm>
          </p:grpSpPr>
          <p:grpSp>
            <p:nvGrpSpPr>
              <p:cNvPr id="202" name="Group 371">
                <a:extLst>
                  <a:ext uri="{FF2B5EF4-FFF2-40B4-BE49-F238E27FC236}">
                    <a16:creationId xmlns:a16="http://schemas.microsoft.com/office/drawing/2014/main" id="{41C4DEF0-BAB0-145C-0AD4-E3F36EB504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06" name="Oval 372">
                  <a:extLst>
                    <a:ext uri="{FF2B5EF4-FFF2-40B4-BE49-F238E27FC236}">
                      <a16:creationId xmlns:a16="http://schemas.microsoft.com/office/drawing/2014/main" id="{A34FA653-A61A-50A4-B851-1B793FE3CF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207" name="Line 373">
                  <a:extLst>
                    <a:ext uri="{FF2B5EF4-FFF2-40B4-BE49-F238E27FC236}">
                      <a16:creationId xmlns:a16="http://schemas.microsoft.com/office/drawing/2014/main" id="{5E12A420-F1F0-A1E9-1E19-AF44A56AB7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208" name="Line 374">
                  <a:extLst>
                    <a:ext uri="{FF2B5EF4-FFF2-40B4-BE49-F238E27FC236}">
                      <a16:creationId xmlns:a16="http://schemas.microsoft.com/office/drawing/2014/main" id="{D00E5A1A-4702-C4E8-E602-9463C56AF1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209" name="Rectangle 375">
                  <a:extLst>
                    <a:ext uri="{FF2B5EF4-FFF2-40B4-BE49-F238E27FC236}">
                      <a16:creationId xmlns:a16="http://schemas.microsoft.com/office/drawing/2014/main" id="{B1ED8C2B-AC2F-5AED-CBD7-4A2CD4756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210" name="Oval 376">
                  <a:extLst>
                    <a:ext uri="{FF2B5EF4-FFF2-40B4-BE49-F238E27FC236}">
                      <a16:creationId xmlns:a16="http://schemas.microsoft.com/office/drawing/2014/main" id="{CE30E377-511F-03F4-7C2C-F774AA98E5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203" name="Group 377">
                <a:extLst>
                  <a:ext uri="{FF2B5EF4-FFF2-40B4-BE49-F238E27FC236}">
                    <a16:creationId xmlns:a16="http://schemas.microsoft.com/office/drawing/2014/main" id="{76DC29C3-A343-1C12-EBB2-BB56DA8729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2887"/>
                <a:ext cx="199" cy="252"/>
                <a:chOff x="2926" y="2428"/>
                <a:chExt cx="202" cy="252"/>
              </a:xfrm>
            </p:grpSpPr>
            <p:sp>
              <p:nvSpPr>
                <p:cNvPr id="204" name="Rectangle 378">
                  <a:extLst>
                    <a:ext uri="{FF2B5EF4-FFF2-40B4-BE49-F238E27FC236}">
                      <a16:creationId xmlns:a16="http://schemas.microsoft.com/office/drawing/2014/main" id="{73D5D4DE-0F43-2621-1089-D7601DEC48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205" name="Text Box 379">
                  <a:extLst>
                    <a:ext uri="{FF2B5EF4-FFF2-40B4-BE49-F238E27FC236}">
                      <a16:creationId xmlns:a16="http://schemas.microsoft.com/office/drawing/2014/main" id="{FDF5385C-027D-4EFE-9E97-A4D19E0DC8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6" y="2428"/>
                  <a:ext cx="192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4" name="Group 380">
              <a:extLst>
                <a:ext uri="{FF2B5EF4-FFF2-40B4-BE49-F238E27FC236}">
                  <a16:creationId xmlns:a16="http://schemas.microsoft.com/office/drawing/2014/main" id="{F4A1155A-3C9A-1BC7-75D5-CA262AD493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194" name="Oval 381">
                <a:extLst>
                  <a:ext uri="{FF2B5EF4-FFF2-40B4-BE49-F238E27FC236}">
                    <a16:creationId xmlns:a16="http://schemas.microsoft.com/office/drawing/2014/main" id="{D0F2E3E6-98A7-EDE2-1781-124575066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95" name="Line 382">
                <a:extLst>
                  <a:ext uri="{FF2B5EF4-FFF2-40B4-BE49-F238E27FC236}">
                    <a16:creationId xmlns:a16="http://schemas.microsoft.com/office/drawing/2014/main" id="{341FC6F4-700D-20E0-DBE7-0814FAEEBC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96" name="Line 383">
                <a:extLst>
                  <a:ext uri="{FF2B5EF4-FFF2-40B4-BE49-F238E27FC236}">
                    <a16:creationId xmlns:a16="http://schemas.microsoft.com/office/drawing/2014/main" id="{5BEBC371-C12A-E777-9F86-9ECF66BE56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97" name="Rectangle 384">
                <a:extLst>
                  <a:ext uri="{FF2B5EF4-FFF2-40B4-BE49-F238E27FC236}">
                    <a16:creationId xmlns:a16="http://schemas.microsoft.com/office/drawing/2014/main" id="{06E65B48-3AF7-292C-84A8-2270C9A0B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198" name="Oval 385">
                <a:extLst>
                  <a:ext uri="{FF2B5EF4-FFF2-40B4-BE49-F238E27FC236}">
                    <a16:creationId xmlns:a16="http://schemas.microsoft.com/office/drawing/2014/main" id="{CA16FAC2-69A9-AEF1-C50D-42E0379EB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199" name="Group 386">
                <a:extLst>
                  <a:ext uri="{FF2B5EF4-FFF2-40B4-BE49-F238E27FC236}">
                    <a16:creationId xmlns:a16="http://schemas.microsoft.com/office/drawing/2014/main" id="{068AE316-3A90-E5D7-CC7D-AABC309A7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1" y="2884"/>
                <a:ext cx="186" cy="252"/>
                <a:chOff x="2964" y="2425"/>
                <a:chExt cx="189" cy="252"/>
              </a:xfrm>
            </p:grpSpPr>
            <p:sp>
              <p:nvSpPr>
                <p:cNvPr id="200" name="Rectangle 387">
                  <a:extLst>
                    <a:ext uri="{FF2B5EF4-FFF2-40B4-BE49-F238E27FC236}">
                      <a16:creationId xmlns:a16="http://schemas.microsoft.com/office/drawing/2014/main" id="{152784F6-002D-D3EA-7A7D-6122B9EDA9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201" name="Text Box 388">
                  <a:extLst>
                    <a:ext uri="{FF2B5EF4-FFF2-40B4-BE49-F238E27FC236}">
                      <a16:creationId xmlns:a16="http://schemas.microsoft.com/office/drawing/2014/main" id="{24A5B148-C442-0638-64A4-EF3AB0F40D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x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85" name="Freeform 389">
              <a:extLst>
                <a:ext uri="{FF2B5EF4-FFF2-40B4-BE49-F238E27FC236}">
                  <a16:creationId xmlns:a16="http://schemas.microsoft.com/office/drawing/2014/main" id="{801FE5E1-9A51-6FB9-1D98-1E4C0C0072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86" name="Freeform 390">
              <a:extLst>
                <a:ext uri="{FF2B5EF4-FFF2-40B4-BE49-F238E27FC236}">
                  <a16:creationId xmlns:a16="http://schemas.microsoft.com/office/drawing/2014/main" id="{5D20F917-8BDA-3BDA-F209-4EA7AFEBA773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87" name="Freeform 391">
              <a:extLst>
                <a:ext uri="{FF2B5EF4-FFF2-40B4-BE49-F238E27FC236}">
                  <a16:creationId xmlns:a16="http://schemas.microsoft.com/office/drawing/2014/main" id="{E7C49B71-3DDB-C639-4DA7-A02C31232C1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88" name="Freeform 392">
              <a:extLst>
                <a:ext uri="{FF2B5EF4-FFF2-40B4-BE49-F238E27FC236}">
                  <a16:creationId xmlns:a16="http://schemas.microsoft.com/office/drawing/2014/main" id="{8552061F-4567-4CE2-D79C-6CCE4FF6359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89" name="Freeform 393">
              <a:extLst>
                <a:ext uri="{FF2B5EF4-FFF2-40B4-BE49-F238E27FC236}">
                  <a16:creationId xmlns:a16="http://schemas.microsoft.com/office/drawing/2014/main" id="{1FC7D09A-78F9-DE70-5BCE-25CF04CB26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91" name="Line 395">
              <a:extLst>
                <a:ext uri="{FF2B5EF4-FFF2-40B4-BE49-F238E27FC236}">
                  <a16:creationId xmlns:a16="http://schemas.microsoft.com/office/drawing/2014/main" id="{ABD42862-7491-99BD-A6A3-3FFE34251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92" name="Line 396">
              <a:extLst>
                <a:ext uri="{FF2B5EF4-FFF2-40B4-BE49-F238E27FC236}">
                  <a16:creationId xmlns:a16="http://schemas.microsoft.com/office/drawing/2014/main" id="{8609B0E2-6A45-E66F-8F84-14CBF01293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93" name="Line 397">
              <a:extLst>
                <a:ext uri="{FF2B5EF4-FFF2-40B4-BE49-F238E27FC236}">
                  <a16:creationId xmlns:a16="http://schemas.microsoft.com/office/drawing/2014/main" id="{B514FF93-7004-C242-E9DA-163CD0442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227" name="Freeform 398">
            <a:extLst>
              <a:ext uri="{FF2B5EF4-FFF2-40B4-BE49-F238E27FC236}">
                <a16:creationId xmlns:a16="http://schemas.microsoft.com/office/drawing/2014/main" id="{D0D269DE-8570-787B-E371-C9F598D3AE11}"/>
              </a:ext>
            </a:extLst>
          </p:cNvPr>
          <p:cNvSpPr>
            <a:spLocks/>
          </p:cNvSpPr>
          <p:nvPr/>
        </p:nvSpPr>
        <p:spPr bwMode="auto">
          <a:xfrm>
            <a:off x="10093960" y="298037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228" name="Group 399">
            <a:extLst>
              <a:ext uri="{FF2B5EF4-FFF2-40B4-BE49-F238E27FC236}">
                <a16:creationId xmlns:a16="http://schemas.microsoft.com/office/drawing/2014/main" id="{ADE9E7C9-EC06-C8EA-9B21-FDC60DEB0935}"/>
              </a:ext>
            </a:extLst>
          </p:cNvPr>
          <p:cNvGrpSpPr>
            <a:grpSpLocks/>
          </p:cNvGrpSpPr>
          <p:nvPr/>
        </p:nvGrpSpPr>
        <p:grpSpPr bwMode="auto">
          <a:xfrm>
            <a:off x="9919335" y="2966085"/>
            <a:ext cx="1430338" cy="966787"/>
            <a:chOff x="1870" y="2772"/>
            <a:chExt cx="901" cy="609"/>
          </a:xfrm>
        </p:grpSpPr>
        <p:sp>
          <p:nvSpPr>
            <p:cNvPr id="229" name="Text Box 400">
              <a:extLst>
                <a:ext uri="{FF2B5EF4-FFF2-40B4-BE49-F238E27FC236}">
                  <a16:creationId xmlns:a16="http://schemas.microsoft.com/office/drawing/2014/main" id="{72D8EC92-1F17-5DFE-614D-F86681FF7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230" name="Text Box 401">
              <a:extLst>
                <a:ext uri="{FF2B5EF4-FFF2-40B4-BE49-F238E27FC236}">
                  <a16:creationId xmlns:a16="http://schemas.microsoft.com/office/drawing/2014/main" id="{FFF16D57-53BA-FA56-D8F4-82C7876DF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231" name="Text Box 402">
              <a:extLst>
                <a:ext uri="{FF2B5EF4-FFF2-40B4-BE49-F238E27FC236}">
                  <a16:creationId xmlns:a16="http://schemas.microsoft.com/office/drawing/2014/main" id="{34169451-20AE-0C75-DE04-7D2DF3809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232" name="Text Box 403">
              <a:extLst>
                <a:ext uri="{FF2B5EF4-FFF2-40B4-BE49-F238E27FC236}">
                  <a16:creationId xmlns:a16="http://schemas.microsoft.com/office/drawing/2014/main" id="{7842AD89-93D7-13F0-1ADF-359CCB5C6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233" name="Text Box 404">
              <a:extLst>
                <a:ext uri="{FF2B5EF4-FFF2-40B4-BE49-F238E27FC236}">
                  <a16:creationId xmlns:a16="http://schemas.microsoft.com/office/drawing/2014/main" id="{39ED70C1-B0D3-F730-5B91-2D0500BFC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234" name="Text Box 405">
              <a:extLst>
                <a:ext uri="{FF2B5EF4-FFF2-40B4-BE49-F238E27FC236}">
                  <a16:creationId xmlns:a16="http://schemas.microsoft.com/office/drawing/2014/main" id="{92471B32-B26E-2226-B426-99F53B469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235" name="Group 475">
            <a:extLst>
              <a:ext uri="{FF2B5EF4-FFF2-40B4-BE49-F238E27FC236}">
                <a16:creationId xmlns:a16="http://schemas.microsoft.com/office/drawing/2014/main" id="{43D011CF-1430-080A-97EC-3438B7A831BC}"/>
              </a:ext>
            </a:extLst>
          </p:cNvPr>
          <p:cNvGrpSpPr/>
          <p:nvPr/>
        </p:nvGrpSpPr>
        <p:grpSpPr>
          <a:xfrm>
            <a:off x="3411538" y="3546475"/>
            <a:ext cx="1854835" cy="769620"/>
            <a:chOff x="490538" y="4465955"/>
            <a:chExt cx="1854835" cy="769620"/>
          </a:xfrm>
        </p:grpSpPr>
        <p:sp>
          <p:nvSpPr>
            <p:cNvPr id="236" name="Text Box 52">
              <a:extLst>
                <a:ext uri="{FF2B5EF4-FFF2-40B4-BE49-F238E27FC236}">
                  <a16:creationId xmlns:a16="http://schemas.microsoft.com/office/drawing/2014/main" id="{69972144-EE88-A85F-6BB1-34DA4DBCC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37" name="Text Box 54">
              <a:extLst>
                <a:ext uri="{FF2B5EF4-FFF2-40B4-BE49-F238E27FC236}">
                  <a16:creationId xmlns:a16="http://schemas.microsoft.com/office/drawing/2014/main" id="{021C8811-EC91-0DF7-84CE-AEAEE5A9D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38" name="Text Box 56">
              <a:extLst>
                <a:ext uri="{FF2B5EF4-FFF2-40B4-BE49-F238E27FC236}">
                  <a16:creationId xmlns:a16="http://schemas.microsoft.com/office/drawing/2014/main" id="{21700FAB-F257-219C-9490-5FE347F22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239" name="Group 479">
            <a:extLst>
              <a:ext uri="{FF2B5EF4-FFF2-40B4-BE49-F238E27FC236}">
                <a16:creationId xmlns:a16="http://schemas.microsoft.com/office/drawing/2014/main" id="{719E22D6-D31E-D068-FAC7-E44C07450F83}"/>
              </a:ext>
            </a:extLst>
          </p:cNvPr>
          <p:cNvGrpSpPr/>
          <p:nvPr/>
        </p:nvGrpSpPr>
        <p:grpSpPr>
          <a:xfrm>
            <a:off x="6622098" y="3566795"/>
            <a:ext cx="1854835" cy="769620"/>
            <a:chOff x="490538" y="4465955"/>
            <a:chExt cx="1854835" cy="769620"/>
          </a:xfrm>
        </p:grpSpPr>
        <p:sp>
          <p:nvSpPr>
            <p:cNvPr id="240" name="Text Box 52">
              <a:extLst>
                <a:ext uri="{FF2B5EF4-FFF2-40B4-BE49-F238E27FC236}">
                  <a16:creationId xmlns:a16="http://schemas.microsoft.com/office/drawing/2014/main" id="{E85035C8-1DF3-599B-ECD9-807FC7E0B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41" name="Text Box 54">
              <a:extLst>
                <a:ext uri="{FF2B5EF4-FFF2-40B4-BE49-F238E27FC236}">
                  <a16:creationId xmlns:a16="http://schemas.microsoft.com/office/drawing/2014/main" id="{EB314E94-D1EE-DA49-AC77-8C7BD99BC7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42" name="Text Box 56">
              <a:extLst>
                <a:ext uri="{FF2B5EF4-FFF2-40B4-BE49-F238E27FC236}">
                  <a16:creationId xmlns:a16="http://schemas.microsoft.com/office/drawing/2014/main" id="{C34D3F82-9B7C-3AAD-DC5E-B3687FA20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243" name="Group 483">
            <a:extLst>
              <a:ext uri="{FF2B5EF4-FFF2-40B4-BE49-F238E27FC236}">
                <a16:creationId xmlns:a16="http://schemas.microsoft.com/office/drawing/2014/main" id="{B25F7B9D-83C9-2B9B-E30E-9A5B1E0859F0}"/>
              </a:ext>
            </a:extLst>
          </p:cNvPr>
          <p:cNvGrpSpPr/>
          <p:nvPr/>
        </p:nvGrpSpPr>
        <p:grpSpPr>
          <a:xfrm>
            <a:off x="9751378" y="3587115"/>
            <a:ext cx="1854835" cy="769620"/>
            <a:chOff x="490538" y="4465955"/>
            <a:chExt cx="1854835" cy="769620"/>
          </a:xfrm>
        </p:grpSpPr>
        <p:sp>
          <p:nvSpPr>
            <p:cNvPr id="244" name="Text Box 52">
              <a:extLst>
                <a:ext uri="{FF2B5EF4-FFF2-40B4-BE49-F238E27FC236}">
                  <a16:creationId xmlns:a16="http://schemas.microsoft.com/office/drawing/2014/main" id="{C3806314-8079-1618-E1BC-BED1F022D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45" name="Text Box 54">
              <a:extLst>
                <a:ext uri="{FF2B5EF4-FFF2-40B4-BE49-F238E27FC236}">
                  <a16:creationId xmlns:a16="http://schemas.microsoft.com/office/drawing/2014/main" id="{75E84197-8730-75CB-9D17-17A17F861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46" name="Text Box 56">
              <a:extLst>
                <a:ext uri="{FF2B5EF4-FFF2-40B4-BE49-F238E27FC236}">
                  <a16:creationId xmlns:a16="http://schemas.microsoft.com/office/drawing/2014/main" id="{F8B05102-8228-2D6D-6816-81E1CDA73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sp>
        <p:nvSpPr>
          <p:cNvPr id="247" name="Text Box 211">
            <a:extLst>
              <a:ext uri="{FF2B5EF4-FFF2-40B4-BE49-F238E27FC236}">
                <a16:creationId xmlns:a16="http://schemas.microsoft.com/office/drawing/2014/main" id="{2BB6F1B6-5B79-558E-68E1-797269A91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412" y="4588826"/>
            <a:ext cx="6028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根据上图的链路花费进行路由选择，如箭头所示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接下来链路的花费改变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8" name="内容占位符 2">
            <a:extLst>
              <a:ext uri="{FF2B5EF4-FFF2-40B4-BE49-F238E27FC236}">
                <a16:creationId xmlns:a16="http://schemas.microsoft.com/office/drawing/2014/main" id="{179E6AF7-EBB2-DE38-1AE8-DCC3753D88D2}"/>
              </a:ext>
            </a:extLst>
          </p:cNvPr>
          <p:cNvSpPr txBox="1">
            <a:spLocks/>
          </p:cNvSpPr>
          <p:nvPr/>
        </p:nvSpPr>
        <p:spPr>
          <a:xfrm>
            <a:off x="392113" y="5248909"/>
            <a:ext cx="11289710" cy="12687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每个路由器执行</a:t>
            </a:r>
            <a:r>
              <a:rPr lang="en-US" altLang="zh-CN" dirty="0"/>
              <a:t>Dijkstra</a:t>
            </a:r>
            <a:r>
              <a:rPr lang="zh-CN" altLang="en-US" dirty="0"/>
              <a:t>算法的时刻不同</a:t>
            </a:r>
            <a:endParaRPr lang="en-US" altLang="zh-CN" dirty="0"/>
          </a:p>
          <a:p>
            <a:pPr lvl="1"/>
            <a:r>
              <a:rPr lang="zh-CN" altLang="en-US" sz="2000" dirty="0"/>
              <a:t>即便开始时刻不同，但是周期相同，最终导致自同步</a:t>
            </a:r>
            <a:endParaRPr lang="en-US" altLang="zh-CN" sz="2000" dirty="0"/>
          </a:p>
          <a:p>
            <a:r>
              <a:rPr lang="zh-CN" altLang="en-US" dirty="0"/>
              <a:t>路由器发送链路通告的时刻随机化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1810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70" grpId="0" animBg="1"/>
      <p:bldP spid="2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FD699-35B3-9F56-7150-A571CE2A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49D00-2FD4-3901-5C75-C02D4C82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5.1 </a:t>
            </a:r>
            <a:r>
              <a:rPr lang="zh-CN" altLang="en-US" sz="2800" dirty="0"/>
              <a:t>概述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5.2 </a:t>
            </a:r>
            <a:r>
              <a:rPr lang="zh-CN" altLang="en-US" sz="2800" dirty="0"/>
              <a:t>路由选择算法：</a:t>
            </a:r>
            <a:endParaRPr lang="en-US" altLang="zh-CN" sz="2800" dirty="0"/>
          </a:p>
          <a:p>
            <a:pPr lvl="1"/>
            <a:r>
              <a:rPr lang="zh-CN" altLang="en-US" sz="2800" dirty="0"/>
              <a:t>链路状态路由算法</a:t>
            </a:r>
            <a:endParaRPr lang="en-US" altLang="zh-CN" sz="2800" dirty="0"/>
          </a:p>
          <a:p>
            <a:pPr lvl="1"/>
            <a:r>
              <a:rPr lang="zh-CN" altLang="en-US" sz="2800" b="1" dirty="0">
                <a:solidFill>
                  <a:schemeClr val="accent4"/>
                </a:solidFill>
              </a:rPr>
              <a:t>距离向量路由算法</a:t>
            </a:r>
            <a:endParaRPr lang="en-US" altLang="zh-CN" sz="2800" b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5.3 Internet</a:t>
            </a:r>
            <a:r>
              <a:rPr lang="zh-CN" altLang="en-US" sz="2800" dirty="0"/>
              <a:t>中自治系统的路由：</a:t>
            </a:r>
            <a:r>
              <a:rPr lang="en-US" altLang="zh-CN" sz="2800" dirty="0"/>
              <a:t>OSPF</a:t>
            </a:r>
          </a:p>
          <a:p>
            <a:pPr marL="0" indent="0">
              <a:buNone/>
            </a:pPr>
            <a:r>
              <a:rPr lang="en-US" altLang="zh-CN" sz="2800" dirty="0"/>
              <a:t>5.4 ISP</a:t>
            </a:r>
            <a:r>
              <a:rPr lang="zh-CN" altLang="en-US" sz="2800" dirty="0"/>
              <a:t>之间的路由选择：</a:t>
            </a:r>
            <a:r>
              <a:rPr lang="en-US" altLang="zh-CN" sz="2800" dirty="0"/>
              <a:t>BGP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5.5 SDN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控制平面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5.6 ICMP(</a:t>
            </a:r>
            <a:r>
              <a:rPr lang="zh-CN" altLang="en-US" sz="2800" dirty="0"/>
              <a:t>已介绍</a:t>
            </a:r>
            <a:r>
              <a:rPr lang="en-US" altLang="zh-CN" sz="2800" dirty="0"/>
              <a:t>)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5.8 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网络管理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97944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F57F0-A59B-ECBE-4F9C-AE904294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距离向量路由算法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493E60-1507-4701-B5C3-256C8103B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2"/>
            <a:ext cx="11289710" cy="18572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66CC"/>
                </a:solidFill>
              </a:rPr>
              <a:t>Bellman Ford</a:t>
            </a:r>
            <a:r>
              <a:rPr lang="zh-CN" altLang="en-US" sz="2400" b="1" dirty="0">
                <a:solidFill>
                  <a:srgbClr val="0066CC"/>
                </a:solidFill>
              </a:rPr>
              <a:t>方程</a:t>
            </a:r>
            <a:r>
              <a:rPr lang="zh-CN" altLang="en-US" dirty="0"/>
              <a:t>（动态规划）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Gill Sans MT" charset="0"/>
              </a:rPr>
              <a:t>d</a:t>
            </a:r>
            <a:r>
              <a:rPr lang="en-US" altLang="zh-CN" baseline="-25000" dirty="0">
                <a:latin typeface="Gill Sans MT" charset="0"/>
              </a:rPr>
              <a:t>x</a:t>
            </a:r>
            <a:r>
              <a:rPr lang="en-US" altLang="zh-CN" dirty="0">
                <a:latin typeface="Gill Sans MT" charset="0"/>
              </a:rPr>
              <a:t>(y) := x</a:t>
            </a:r>
            <a:r>
              <a:rPr lang="zh-CN" altLang="en-US" dirty="0">
                <a:latin typeface="Gill Sans MT" charset="0"/>
              </a:rPr>
              <a:t>到</a:t>
            </a:r>
            <a:r>
              <a:rPr lang="en-US" altLang="zh-CN" dirty="0">
                <a:latin typeface="Gill Sans MT" charset="0"/>
              </a:rPr>
              <a:t>y</a:t>
            </a:r>
            <a:r>
              <a:rPr lang="zh-CN" altLang="en-US" dirty="0">
                <a:latin typeface="Gill Sans MT" charset="0"/>
              </a:rPr>
              <a:t>的最小路径花费</a:t>
            </a:r>
            <a:endParaRPr lang="en-US" altLang="zh-CN" dirty="0">
              <a:latin typeface="Gill Sans MT" charset="0"/>
            </a:endParaRPr>
          </a:p>
          <a:p>
            <a:pPr marL="0" indent="0">
              <a:buNone/>
            </a:pPr>
            <a:r>
              <a:rPr lang="en-US" altLang="zh-CN" dirty="0"/>
              <a:t>c(x, y):= x</a:t>
            </a:r>
            <a:r>
              <a:rPr lang="zh-CN" altLang="en-US" dirty="0"/>
              <a:t>到邻居</a:t>
            </a:r>
            <a:r>
              <a:rPr lang="en-US" altLang="zh-CN" dirty="0"/>
              <a:t>y</a:t>
            </a:r>
            <a:r>
              <a:rPr lang="zh-CN" altLang="en-US" dirty="0"/>
              <a:t>的链路花费</a:t>
            </a:r>
            <a:endParaRPr lang="en-US" altLang="zh-CN" sz="2400" dirty="0">
              <a:solidFill>
                <a:srgbClr val="CC0000"/>
              </a:solidFill>
              <a:latin typeface="Gill Sans MT" charset="0"/>
            </a:endParaRPr>
          </a:p>
          <a:p>
            <a:pPr marL="0" indent="0">
              <a:buNone/>
            </a:pPr>
            <a:r>
              <a:rPr lang="en-US" altLang="zh-CN" dirty="0">
                <a:latin typeface="Gill Sans MT" charset="0"/>
              </a:rPr>
              <a:t>D</a:t>
            </a:r>
            <a:r>
              <a:rPr lang="en-US" altLang="zh-CN" baseline="-25000" dirty="0">
                <a:latin typeface="Gill Sans MT" charset="0"/>
              </a:rPr>
              <a:t>x</a:t>
            </a:r>
            <a:r>
              <a:rPr lang="en-US" altLang="zh-CN" dirty="0">
                <a:latin typeface="Gill Sans MT" charset="0"/>
              </a:rPr>
              <a:t>(y) := </a:t>
            </a:r>
            <a:r>
              <a:rPr lang="zh-CN" altLang="en-US" dirty="0">
                <a:latin typeface="Gill Sans MT" charset="0"/>
              </a:rPr>
              <a:t>目前估计的</a:t>
            </a:r>
            <a:r>
              <a:rPr lang="en-US" altLang="zh-CN" dirty="0">
                <a:latin typeface="Gill Sans MT" charset="0"/>
              </a:rPr>
              <a:t>x</a:t>
            </a:r>
            <a:r>
              <a:rPr lang="zh-CN" altLang="en-US" dirty="0">
                <a:latin typeface="Gill Sans MT" charset="0"/>
              </a:rPr>
              <a:t>到</a:t>
            </a:r>
            <a:r>
              <a:rPr lang="en-US" altLang="zh-CN" dirty="0">
                <a:latin typeface="Gill Sans MT" charset="0"/>
              </a:rPr>
              <a:t>y</a:t>
            </a:r>
            <a:r>
              <a:rPr lang="zh-CN" altLang="en-US" dirty="0">
                <a:latin typeface="Gill Sans MT" charset="0"/>
              </a:rPr>
              <a:t>的最小路径花费</a:t>
            </a:r>
            <a:endParaRPr lang="en-US" altLang="zh-CN" dirty="0">
              <a:latin typeface="Gill Sans MT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D3DBF2-1DD8-9392-5995-7522566C82F9}"/>
                  </a:ext>
                </a:extLst>
              </p:cNvPr>
              <p:cNvSpPr txBox="1"/>
              <p:nvPr/>
            </p:nvSpPr>
            <p:spPr>
              <a:xfrm>
                <a:off x="4388323" y="743782"/>
                <a:ext cx="7082142" cy="787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b="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en-US" altLang="zh-CN" sz="280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neighbors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CC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solidFill>
                                <a:srgbClr val="CC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800" b="0" i="1" smtClean="0">
                          <a:solidFill>
                            <a:srgbClr val="CC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3D3DBF2-1DD8-9392-5995-7522566C8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323" y="743782"/>
                <a:ext cx="7082142" cy="7870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06CE4A83-CAD3-6286-C8E1-BDAC5E7178AC}"/>
              </a:ext>
            </a:extLst>
          </p:cNvPr>
          <p:cNvGrpSpPr/>
          <p:nvPr/>
        </p:nvGrpSpPr>
        <p:grpSpPr>
          <a:xfrm>
            <a:off x="417203" y="2722079"/>
            <a:ext cx="4571028" cy="3322587"/>
            <a:chOff x="605338" y="2131445"/>
            <a:chExt cx="4571028" cy="3322587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5A819651-51C3-018B-5F28-6AA8B54B8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145" y="2552509"/>
              <a:ext cx="3571875" cy="2236788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20854D8-FD6A-1776-FDE8-1A1E66AEE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795" y="3406234"/>
              <a:ext cx="542925" cy="295275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F945617A-1F09-B2B4-54CE-795C87CE8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045" y="3790409"/>
              <a:ext cx="496888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18401224-54C7-9D9F-C59A-338DE4960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3045" y="377929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7221A1E8-F134-570E-70E7-0AFC96781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9933" y="377929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95EAB732-F26A-0DBB-761B-BD49619E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045" y="3779296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7AF0B140-597F-B0B7-7A2B-D45CAC26A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283" y="3685634"/>
              <a:ext cx="496888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" name="Oval 26">
              <a:extLst>
                <a:ext uri="{FF2B5EF4-FFF2-40B4-BE49-F238E27FC236}">
                  <a16:creationId xmlns:a16="http://schemas.microsoft.com/office/drawing/2014/main" id="{D653E06A-4749-9092-8A1A-09D1E7411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308" y="4400009"/>
              <a:ext cx="496888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84BB771F-8DA7-FB51-C3B1-E13273168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9308" y="438889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E059CA06-2A69-B4C5-2585-4750CAD77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6195" y="438889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C8C3C494-0A52-8FAF-3BB8-73B713020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308" y="4388896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" name="Oval 30">
              <a:extLst>
                <a:ext uri="{FF2B5EF4-FFF2-40B4-BE49-F238E27FC236}">
                  <a16:creationId xmlns:a16="http://schemas.microsoft.com/office/drawing/2014/main" id="{1109C0D2-0B2A-314F-6E21-A00B6289C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545" y="4295234"/>
              <a:ext cx="496888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Oval 31">
              <a:extLst>
                <a:ext uri="{FF2B5EF4-FFF2-40B4-BE49-F238E27FC236}">
                  <a16:creationId xmlns:a16="http://schemas.microsoft.com/office/drawing/2014/main" id="{CACA49CF-C77C-D890-130A-79D0CEB09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245" y="3858671"/>
              <a:ext cx="496888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2D8DFABB-B175-9B99-B401-776AC6410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6245" y="3847559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Line 33">
              <a:extLst>
                <a:ext uri="{FF2B5EF4-FFF2-40B4-BE49-F238E27FC236}">
                  <a16:creationId xmlns:a16="http://schemas.microsoft.com/office/drawing/2014/main" id="{9B2BC440-10B3-FEC3-0AC3-3AFE19CB1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3133" y="3847559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1439EE3C-3B97-5D20-FB42-3952EC946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245" y="3847559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" name="Oval 35">
              <a:extLst>
                <a:ext uri="{FF2B5EF4-FFF2-40B4-BE49-F238E27FC236}">
                  <a16:creationId xmlns:a16="http://schemas.microsoft.com/office/drawing/2014/main" id="{A93FCA0B-FB5E-E348-2C28-38FA16037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483" y="3753896"/>
              <a:ext cx="496888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" name="Freeform 36">
              <a:extLst>
                <a:ext uri="{FF2B5EF4-FFF2-40B4-BE49-F238E27FC236}">
                  <a16:creationId xmlns:a16="http://schemas.microsoft.com/office/drawing/2014/main" id="{DACC1060-59C6-4625-ECCC-3ED36606F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958" y="3449096"/>
              <a:ext cx="1588" cy="828675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Freeform 37">
              <a:extLst>
                <a:ext uri="{FF2B5EF4-FFF2-40B4-BE49-F238E27FC236}">
                  <a16:creationId xmlns:a16="http://schemas.microsoft.com/office/drawing/2014/main" id="{8E965807-6326-E8BC-B40F-92618A5F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820" y="3458621"/>
              <a:ext cx="1588" cy="852488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" name="Freeform 38">
              <a:extLst>
                <a:ext uri="{FF2B5EF4-FFF2-40B4-BE49-F238E27FC236}">
                  <a16:creationId xmlns:a16="http://schemas.microsoft.com/office/drawing/2014/main" id="{E76B4EF3-447A-C419-B18C-A3BBF6FB3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758" y="3434809"/>
              <a:ext cx="800100" cy="9525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" name="Freeform 39">
              <a:extLst>
                <a:ext uri="{FF2B5EF4-FFF2-40B4-BE49-F238E27FC236}">
                  <a16:creationId xmlns:a16="http://schemas.microsoft.com/office/drawing/2014/main" id="{DABD72A3-0ADE-B45C-B45E-3095A4A13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370" y="3987259"/>
              <a:ext cx="581025" cy="428625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" name="Freeform 40">
              <a:extLst>
                <a:ext uri="{FF2B5EF4-FFF2-40B4-BE49-F238E27FC236}">
                  <a16:creationId xmlns:a16="http://schemas.microsoft.com/office/drawing/2014/main" id="{954DA5F3-17B7-76FB-B38E-9235810EC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283" y="4434934"/>
              <a:ext cx="581025" cy="1588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" name="Freeform 41">
              <a:extLst>
                <a:ext uri="{FF2B5EF4-FFF2-40B4-BE49-F238E27FC236}">
                  <a16:creationId xmlns:a16="http://schemas.microsoft.com/office/drawing/2014/main" id="{595EC6E7-C6F3-EDD5-A600-F1022A9A7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070" y="3920584"/>
              <a:ext cx="438150" cy="419100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" name="Freeform 42">
              <a:extLst>
                <a:ext uri="{FF2B5EF4-FFF2-40B4-BE49-F238E27FC236}">
                  <a16:creationId xmlns:a16="http://schemas.microsoft.com/office/drawing/2014/main" id="{530EFA11-FA4E-BE90-5203-FFF7998A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758" y="3339559"/>
              <a:ext cx="581025" cy="1588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Freeform 43">
              <a:extLst>
                <a:ext uri="{FF2B5EF4-FFF2-40B4-BE49-F238E27FC236}">
                  <a16:creationId xmlns:a16="http://schemas.microsoft.com/office/drawing/2014/main" id="{7E3D1B56-E432-7E05-93D1-6901CD56A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320" y="3334796"/>
              <a:ext cx="628650" cy="423863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" name="Freeform 44">
              <a:extLst>
                <a:ext uri="{FF2B5EF4-FFF2-40B4-BE49-F238E27FC236}">
                  <a16:creationId xmlns:a16="http://schemas.microsoft.com/office/drawing/2014/main" id="{C9C17EAD-AE22-1B10-6552-2C34A28E4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583" y="2653759"/>
              <a:ext cx="1762125" cy="1023938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2" name="Group 45">
              <a:extLst>
                <a:ext uri="{FF2B5EF4-FFF2-40B4-BE49-F238E27FC236}">
                  <a16:creationId xmlns:a16="http://schemas.microsoft.com/office/drawing/2014/main" id="{87D41A9E-E792-0505-23EE-54C2BBDC01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0833" y="3603084"/>
              <a:ext cx="325438" cy="396875"/>
              <a:chOff x="2954" y="2425"/>
              <a:chExt cx="208" cy="250"/>
            </a:xfrm>
          </p:grpSpPr>
          <p:sp>
            <p:nvSpPr>
              <p:cNvPr id="33" name="Rectangle 46">
                <a:extLst>
                  <a:ext uri="{FF2B5EF4-FFF2-40B4-BE49-F238E27FC236}">
                    <a16:creationId xmlns:a16="http://schemas.microsoft.com/office/drawing/2014/main" id="{00B521F2-332F-0B19-1418-8A89410B7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" name="Text Box 47">
                <a:extLst>
                  <a:ext uri="{FF2B5EF4-FFF2-40B4-BE49-F238E27FC236}">
                    <a16:creationId xmlns:a16="http://schemas.microsoft.com/office/drawing/2014/main" id="{B6EE62C1-5CBE-1E81-5C85-B9B598C2AF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5" name="Group 48">
              <a:extLst>
                <a:ext uri="{FF2B5EF4-FFF2-40B4-BE49-F238E27FC236}">
                  <a16:creationId xmlns:a16="http://schemas.microsoft.com/office/drawing/2014/main" id="{EA0AB515-28BC-BD9D-295C-AA23C676FE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4558" y="4212684"/>
              <a:ext cx="311150" cy="396875"/>
              <a:chOff x="2958" y="2425"/>
              <a:chExt cx="199" cy="250"/>
            </a:xfrm>
          </p:grpSpPr>
          <p:sp>
            <p:nvSpPr>
              <p:cNvPr id="36" name="Rectangle 49">
                <a:extLst>
                  <a:ext uri="{FF2B5EF4-FFF2-40B4-BE49-F238E27FC236}">
                    <a16:creationId xmlns:a16="http://schemas.microsoft.com/office/drawing/2014/main" id="{F4E916A8-BE78-DFAD-791D-B8DBEE43C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" name="Text Box 50">
                <a:extLst>
                  <a:ext uri="{FF2B5EF4-FFF2-40B4-BE49-F238E27FC236}">
                    <a16:creationId xmlns:a16="http://schemas.microsoft.com/office/drawing/2014/main" id="{60B42129-64C7-35F3-1651-679D266811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8" name="Group 60">
              <a:extLst>
                <a:ext uri="{FF2B5EF4-FFF2-40B4-BE49-F238E27FC236}">
                  <a16:creationId xmlns:a16="http://schemas.microsoft.com/office/drawing/2014/main" id="{6E356827-26E6-1070-653A-5C9CED03CF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9908" y="3622134"/>
              <a:ext cx="336550" cy="457200"/>
              <a:chOff x="2949" y="2395"/>
              <a:chExt cx="214" cy="288"/>
            </a:xfrm>
          </p:grpSpPr>
          <p:sp>
            <p:nvSpPr>
              <p:cNvPr id="39" name="Rectangle 61">
                <a:extLst>
                  <a:ext uri="{FF2B5EF4-FFF2-40B4-BE49-F238E27FC236}">
                    <a16:creationId xmlns:a16="http://schemas.microsoft.com/office/drawing/2014/main" id="{7B61B6F6-ACFA-68E3-6957-E15C47B18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0" name="Text Box 62">
                <a:extLst>
                  <a:ext uri="{FF2B5EF4-FFF2-40B4-BE49-F238E27FC236}">
                    <a16:creationId xmlns:a16="http://schemas.microsoft.com/office/drawing/2014/main" id="{86D53EC0-6295-6B21-A73E-913B44F9C3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1" name="Text Box 63">
              <a:extLst>
                <a:ext uri="{FF2B5EF4-FFF2-40B4-BE49-F238E27FC236}">
                  <a16:creationId xmlns:a16="http://schemas.microsoft.com/office/drawing/2014/main" id="{407A2997-4DE9-787D-AAEB-B5E4FFE57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7858" y="3323684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" name="Text Box 64">
              <a:extLst>
                <a:ext uri="{FF2B5EF4-FFF2-40B4-BE49-F238E27FC236}">
                  <a16:creationId xmlns:a16="http://schemas.microsoft.com/office/drawing/2014/main" id="{FBB1AE41-1DFC-B74B-DB03-DFF7441E1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308" y="3671346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" name="Text Box 65">
              <a:extLst>
                <a:ext uri="{FF2B5EF4-FFF2-40B4-BE49-F238E27FC236}">
                  <a16:creationId xmlns:a16="http://schemas.microsoft.com/office/drawing/2014/main" id="{3B853E1A-A696-3BD1-7808-86D64B8EC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9745" y="4009484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" name="Text Box 66">
              <a:extLst>
                <a:ext uri="{FF2B5EF4-FFF2-40B4-BE49-F238E27FC236}">
                  <a16:creationId xmlns:a16="http://schemas.microsoft.com/office/drawing/2014/main" id="{D1CC19CC-B3E1-B605-B542-2E983EC81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9908" y="3818984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Text Box 67">
              <a:extLst>
                <a:ext uri="{FF2B5EF4-FFF2-40B4-BE49-F238E27FC236}">
                  <a16:creationId xmlns:a16="http://schemas.microsoft.com/office/drawing/2014/main" id="{177FF405-A84E-9BC7-CB87-0B7EF0E8D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9895" y="4380959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Text Box 68">
              <a:extLst>
                <a:ext uri="{FF2B5EF4-FFF2-40B4-BE49-F238E27FC236}">
                  <a16:creationId xmlns:a16="http://schemas.microsoft.com/office/drawing/2014/main" id="{0E8B5AA4-95E8-BC79-8924-A5715843B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395" y="3699921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" name="Text Box 69">
              <a:extLst>
                <a:ext uri="{FF2B5EF4-FFF2-40B4-BE49-F238E27FC236}">
                  <a16:creationId xmlns:a16="http://schemas.microsoft.com/office/drawing/2014/main" id="{B84E13FB-31F3-345C-F261-034D4D1F0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2895" y="4119021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Text Box 70">
              <a:extLst>
                <a:ext uri="{FF2B5EF4-FFF2-40B4-BE49-F238E27FC236}">
                  <a16:creationId xmlns:a16="http://schemas.microsoft.com/office/drawing/2014/main" id="{279616B1-4087-1B36-D78D-59ED52EF0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033" y="3266534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Text Box 71">
              <a:extLst>
                <a:ext uri="{FF2B5EF4-FFF2-40B4-BE49-F238E27FC236}">
                  <a16:creationId xmlns:a16="http://schemas.microsoft.com/office/drawing/2014/main" id="{B9FD42AA-4AAF-A4E8-CF25-FB943EE4E2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3220" y="3028409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" name="Text Box 72">
              <a:extLst>
                <a:ext uri="{FF2B5EF4-FFF2-40B4-BE49-F238E27FC236}">
                  <a16:creationId xmlns:a16="http://schemas.microsoft.com/office/drawing/2014/main" id="{A0221E9F-698F-69E8-C7BA-585B09CBC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6008" y="2604546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" name="Oval 10">
              <a:extLst>
                <a:ext uri="{FF2B5EF4-FFF2-40B4-BE49-F238E27FC236}">
                  <a16:creationId xmlns:a16="http://schemas.microsoft.com/office/drawing/2014/main" id="{D8D4393E-E019-6A5E-DC1C-D00DA1D14424}"/>
                </a:ext>
              </a:extLst>
            </p:cNvPr>
            <p:cNvSpPr/>
            <p:nvPr/>
          </p:nvSpPr>
          <p:spPr>
            <a:xfrm>
              <a:off x="1331848" y="3482195"/>
              <a:ext cx="613776" cy="613776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5" name="Group 18">
              <a:extLst>
                <a:ext uri="{FF2B5EF4-FFF2-40B4-BE49-F238E27FC236}">
                  <a16:creationId xmlns:a16="http://schemas.microsoft.com/office/drawing/2014/main" id="{0D7850F0-E9CB-78A9-C72C-0064D0C60712}"/>
                </a:ext>
              </a:extLst>
            </p:cNvPr>
            <p:cNvGrpSpPr/>
            <p:nvPr/>
          </p:nvGrpSpPr>
          <p:grpSpPr>
            <a:xfrm>
              <a:off x="605338" y="2166963"/>
              <a:ext cx="1691013" cy="1127342"/>
              <a:chOff x="764088" y="2192055"/>
              <a:chExt cx="1691013" cy="1127342"/>
            </a:xfrm>
          </p:grpSpPr>
          <p:sp>
            <p:nvSpPr>
              <p:cNvPr id="56" name="Freeform 16">
                <a:extLst>
                  <a:ext uri="{FF2B5EF4-FFF2-40B4-BE49-F238E27FC236}">
                    <a16:creationId xmlns:a16="http://schemas.microsoft.com/office/drawing/2014/main" id="{960C0EE7-5EFC-3225-27E2-3ADC4EF3A8E2}"/>
                  </a:ext>
                </a:extLst>
              </p:cNvPr>
              <p:cNvSpPr/>
              <p:nvPr/>
            </p:nvSpPr>
            <p:spPr>
              <a:xfrm>
                <a:off x="851770" y="2630466"/>
                <a:ext cx="1603331" cy="688931"/>
              </a:xfrm>
              <a:custGeom>
                <a:avLst/>
                <a:gdLst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3331" h="688931">
                    <a:moveTo>
                      <a:pt x="1603331" y="626301"/>
                    </a:moveTo>
                    <a:lnTo>
                      <a:pt x="1453019" y="688931"/>
                    </a:lnTo>
                    <a:cubicBezTo>
                      <a:pt x="1028055" y="405848"/>
                      <a:pt x="858413" y="306834"/>
                      <a:pt x="0" y="0"/>
                    </a:cubicBezTo>
                    <a:lnTo>
                      <a:pt x="1240077" y="0"/>
                    </a:lnTo>
                    <a:cubicBezTo>
                      <a:pt x="1367100" y="327520"/>
                      <a:pt x="1416932" y="417534"/>
                      <a:pt x="1603331" y="62630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98000">
                    <a:schemeClr val="bg1">
                      <a:lumMod val="85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7" name="Group 17">
                <a:extLst>
                  <a:ext uri="{FF2B5EF4-FFF2-40B4-BE49-F238E27FC236}">
                    <a16:creationId xmlns:a16="http://schemas.microsoft.com/office/drawing/2014/main" id="{0B741D98-C05E-A5FC-9C94-073F2DC7A766}"/>
                  </a:ext>
                </a:extLst>
              </p:cNvPr>
              <p:cNvGrpSpPr/>
              <p:nvPr/>
            </p:nvGrpSpPr>
            <p:grpSpPr>
              <a:xfrm>
                <a:off x="764088" y="2192055"/>
                <a:ext cx="1346844" cy="461665"/>
                <a:chOff x="764088" y="2192055"/>
                <a:chExt cx="1346844" cy="461665"/>
              </a:xfrm>
            </p:grpSpPr>
            <p:sp>
              <p:nvSpPr>
                <p:cNvPr id="58" name="Rectangle 15">
                  <a:extLst>
                    <a:ext uri="{FF2B5EF4-FFF2-40B4-BE49-F238E27FC236}">
                      <a16:creationId xmlns:a16="http://schemas.microsoft.com/office/drawing/2014/main" id="{C7E5926C-EEA7-FD2A-B581-30FCDE4C82AB}"/>
                    </a:ext>
                  </a:extLst>
                </p:cNvPr>
                <p:cNvSpPr/>
                <p:nvPr/>
              </p:nvSpPr>
              <p:spPr>
                <a:xfrm>
                  <a:off x="851770" y="2242159"/>
                  <a:ext cx="1240077" cy="3883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" name="TextBox 3">
                  <a:extLst>
                    <a:ext uri="{FF2B5EF4-FFF2-40B4-BE49-F238E27FC236}">
                      <a16:creationId xmlns:a16="http://schemas.microsoft.com/office/drawing/2014/main" id="{AB8EFC6F-5D61-3E5D-E95B-651B589554E7}"/>
                    </a:ext>
                  </a:extLst>
                </p:cNvPr>
                <p:cNvSpPr txBox="1"/>
                <p:nvPr/>
              </p:nvSpPr>
              <p:spPr>
                <a:xfrm>
                  <a:off x="764088" y="2192055"/>
                  <a:ext cx="134684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23825"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400" i="1" kern="0" dirty="0">
                      <a:solidFill>
                        <a:srgbClr val="000000"/>
                      </a:solidFill>
                      <a:ea typeface="ＭＳ Ｐゴシック" charset="0"/>
                    </a:rPr>
                    <a:t>D</a:t>
                  </a:r>
                  <a:r>
                    <a:rPr lang="en-US" sz="2400" i="1" kern="0" baseline="-25000" dirty="0">
                      <a:solidFill>
                        <a:srgbClr val="000000"/>
                      </a:solidFill>
                      <a:ea typeface="ＭＳ Ｐゴシック" charset="0"/>
                    </a:rPr>
                    <a:t>v</a:t>
                  </a:r>
                  <a:r>
                    <a:rPr lang="en-US" sz="2400" i="1" kern="0" dirty="0">
                      <a:solidFill>
                        <a:srgbClr val="000000"/>
                      </a:solidFill>
                      <a:ea typeface="ＭＳ Ｐゴシック" charset="0"/>
                    </a:rPr>
                    <a:t>(z) </a:t>
                  </a:r>
                  <a:r>
                    <a:rPr lang="en-US" sz="2400" kern="0" dirty="0">
                      <a:solidFill>
                        <a:srgbClr val="000000"/>
                      </a:solidFill>
                      <a:ea typeface="ＭＳ Ｐゴシック" charset="0"/>
                    </a:rPr>
                    <a:t>= 5</a:t>
                  </a:r>
                  <a:endParaRPr lang="en-US" sz="24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60" name="Group 179">
              <a:extLst>
                <a:ext uri="{FF2B5EF4-FFF2-40B4-BE49-F238E27FC236}">
                  <a16:creationId xmlns:a16="http://schemas.microsoft.com/office/drawing/2014/main" id="{AE9618F8-5ACE-654D-F4E6-018D76B1782F}"/>
                </a:ext>
              </a:extLst>
            </p:cNvPr>
            <p:cNvGrpSpPr/>
            <p:nvPr/>
          </p:nvGrpSpPr>
          <p:grpSpPr>
            <a:xfrm>
              <a:off x="2156283" y="3135121"/>
              <a:ext cx="501650" cy="396875"/>
              <a:chOff x="836555" y="3112712"/>
              <a:chExt cx="501650" cy="396875"/>
            </a:xfrm>
          </p:grpSpPr>
          <p:grpSp>
            <p:nvGrpSpPr>
              <p:cNvPr id="61" name="Group 178">
                <a:extLst>
                  <a:ext uri="{FF2B5EF4-FFF2-40B4-BE49-F238E27FC236}">
                    <a16:creationId xmlns:a16="http://schemas.microsoft.com/office/drawing/2014/main" id="{E93A5633-AAD6-BD67-6A26-59BAA7199208}"/>
                  </a:ext>
                </a:extLst>
              </p:cNvPr>
              <p:cNvGrpSpPr/>
              <p:nvPr/>
            </p:nvGrpSpPr>
            <p:grpSpPr>
              <a:xfrm>
                <a:off x="836555" y="3205962"/>
                <a:ext cx="501650" cy="233363"/>
                <a:chOff x="2303158" y="3229713"/>
                <a:chExt cx="501650" cy="233363"/>
              </a:xfrm>
            </p:grpSpPr>
            <p:sp>
              <p:nvSpPr>
                <p:cNvPr id="65" name="Oval 16">
                  <a:extLst>
                    <a:ext uri="{FF2B5EF4-FFF2-40B4-BE49-F238E27FC236}">
                      <a16:creationId xmlns:a16="http://schemas.microsoft.com/office/drawing/2014/main" id="{679BDC67-7A2A-F4E3-A99E-D9868A5DE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7920" y="3334488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" name="Line 17">
                  <a:extLst>
                    <a:ext uri="{FF2B5EF4-FFF2-40B4-BE49-F238E27FC236}">
                      <a16:creationId xmlns:a16="http://schemas.microsoft.com/office/drawing/2014/main" id="{3BF94597-AD4A-06C8-370C-C5F6FD6C3E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7920" y="3323376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7" name="Line 18">
                  <a:extLst>
                    <a:ext uri="{FF2B5EF4-FFF2-40B4-BE49-F238E27FC236}">
                      <a16:creationId xmlns:a16="http://schemas.microsoft.com/office/drawing/2014/main" id="{67AC7407-D0F2-F315-17EA-068C7A2E14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4808" y="3323376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" name="Rectangle 19">
                  <a:extLst>
                    <a:ext uri="{FF2B5EF4-FFF2-40B4-BE49-F238E27FC236}">
                      <a16:creationId xmlns:a16="http://schemas.microsoft.com/office/drawing/2014/main" id="{08921517-C41B-FA36-0271-8C875EB781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7920" y="3323376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" name="Oval 20">
                  <a:extLst>
                    <a:ext uri="{FF2B5EF4-FFF2-40B4-BE49-F238E27FC236}">
                      <a16:creationId xmlns:a16="http://schemas.microsoft.com/office/drawing/2014/main" id="{B19134AE-8D74-2163-4442-3EC080FDA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3158" y="3229713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2" name="Group 57">
                <a:extLst>
                  <a:ext uri="{FF2B5EF4-FFF2-40B4-BE49-F238E27FC236}">
                    <a16:creationId xmlns:a16="http://schemas.microsoft.com/office/drawing/2014/main" id="{C4FA7474-98CB-AACB-B984-944D910027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9455" y="3112712"/>
                <a:ext cx="311150" cy="396875"/>
                <a:chOff x="2958" y="2425"/>
                <a:chExt cx="199" cy="250"/>
              </a:xfrm>
            </p:grpSpPr>
            <p:sp>
              <p:nvSpPr>
                <p:cNvPr id="63" name="Rectangle 58">
                  <a:extLst>
                    <a:ext uri="{FF2B5EF4-FFF2-40B4-BE49-F238E27FC236}">
                      <a16:creationId xmlns:a16="http://schemas.microsoft.com/office/drawing/2014/main" id="{7482F74B-7531-6AE5-8EE3-10A52E2E19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2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4" name="Text Box 59">
                  <a:extLst>
                    <a:ext uri="{FF2B5EF4-FFF2-40B4-BE49-F238E27FC236}">
                      <a16:creationId xmlns:a16="http://schemas.microsoft.com/office/drawing/2014/main" id="{1EAD23BD-E034-7520-BE9B-5AF78F5993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8" y="2425"/>
                  <a:ext cx="19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v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70" name="Group 186">
              <a:extLst>
                <a:ext uri="{FF2B5EF4-FFF2-40B4-BE49-F238E27FC236}">
                  <a16:creationId xmlns:a16="http://schemas.microsoft.com/office/drawing/2014/main" id="{66BB5FE1-DA98-3ECE-35DA-B26A3775E8FE}"/>
                </a:ext>
              </a:extLst>
            </p:cNvPr>
            <p:cNvGrpSpPr/>
            <p:nvPr/>
          </p:nvGrpSpPr>
          <p:grpSpPr>
            <a:xfrm>
              <a:off x="3558932" y="2131445"/>
              <a:ext cx="1617434" cy="1131193"/>
              <a:chOff x="3717682" y="2156537"/>
              <a:chExt cx="1617434" cy="1131193"/>
            </a:xfrm>
          </p:grpSpPr>
          <p:sp>
            <p:nvSpPr>
              <p:cNvPr id="71" name="Freeform 181">
                <a:extLst>
                  <a:ext uri="{FF2B5EF4-FFF2-40B4-BE49-F238E27FC236}">
                    <a16:creationId xmlns:a16="http://schemas.microsoft.com/office/drawing/2014/main" id="{88A05515-EAD7-AF92-19D5-1703D58AFE9F}"/>
                  </a:ext>
                </a:extLst>
              </p:cNvPr>
              <p:cNvSpPr/>
              <p:nvPr/>
            </p:nvSpPr>
            <p:spPr>
              <a:xfrm flipH="1">
                <a:off x="3717682" y="2598799"/>
                <a:ext cx="1603331" cy="688931"/>
              </a:xfrm>
              <a:custGeom>
                <a:avLst/>
                <a:gdLst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3331" h="688931">
                    <a:moveTo>
                      <a:pt x="1603331" y="626301"/>
                    </a:moveTo>
                    <a:lnTo>
                      <a:pt x="1453019" y="688931"/>
                    </a:lnTo>
                    <a:cubicBezTo>
                      <a:pt x="1028055" y="405848"/>
                      <a:pt x="858413" y="306834"/>
                      <a:pt x="0" y="0"/>
                    </a:cubicBezTo>
                    <a:lnTo>
                      <a:pt x="1240077" y="0"/>
                    </a:lnTo>
                    <a:cubicBezTo>
                      <a:pt x="1367100" y="327520"/>
                      <a:pt x="1416932" y="417534"/>
                      <a:pt x="1603331" y="62630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98000">
                    <a:schemeClr val="bg1">
                      <a:lumMod val="85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72" name="Group 185">
                <a:extLst>
                  <a:ext uri="{FF2B5EF4-FFF2-40B4-BE49-F238E27FC236}">
                    <a16:creationId xmlns:a16="http://schemas.microsoft.com/office/drawing/2014/main" id="{2EF3414A-1926-B989-6732-6E244D2C3420}"/>
                  </a:ext>
                </a:extLst>
              </p:cNvPr>
              <p:cNvGrpSpPr/>
              <p:nvPr/>
            </p:nvGrpSpPr>
            <p:grpSpPr>
              <a:xfrm>
                <a:off x="3933770" y="2156537"/>
                <a:ext cx="1401346" cy="461665"/>
                <a:chOff x="5257869" y="2364355"/>
                <a:chExt cx="1401346" cy="461665"/>
              </a:xfrm>
            </p:grpSpPr>
            <p:sp>
              <p:nvSpPr>
                <p:cNvPr id="73" name="Rectangle 176">
                  <a:extLst>
                    <a:ext uri="{FF2B5EF4-FFF2-40B4-BE49-F238E27FC236}">
                      <a16:creationId xmlns:a16="http://schemas.microsoft.com/office/drawing/2014/main" id="{0A9A5F99-D571-9FE4-0273-52C9ED3022E4}"/>
                    </a:ext>
                  </a:extLst>
                </p:cNvPr>
                <p:cNvSpPr/>
                <p:nvPr/>
              </p:nvSpPr>
              <p:spPr>
                <a:xfrm>
                  <a:off x="5402893" y="2421699"/>
                  <a:ext cx="1240077" cy="3883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4" name="TextBox 174">
                  <a:extLst>
                    <a:ext uri="{FF2B5EF4-FFF2-40B4-BE49-F238E27FC236}">
                      <a16:creationId xmlns:a16="http://schemas.microsoft.com/office/drawing/2014/main" id="{EEE25907-F8F7-C051-CD63-F80D0A0142B8}"/>
                    </a:ext>
                  </a:extLst>
                </p:cNvPr>
                <p:cNvSpPr txBox="1"/>
                <p:nvPr/>
              </p:nvSpPr>
              <p:spPr>
                <a:xfrm>
                  <a:off x="5257869" y="2364355"/>
                  <a:ext cx="140134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23825"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400" i="1" kern="0" dirty="0">
                      <a:solidFill>
                        <a:srgbClr val="000000"/>
                      </a:solidFill>
                      <a:ea typeface="ＭＳ Ｐゴシック" charset="0"/>
                    </a:rPr>
                    <a:t>D</a:t>
                  </a:r>
                  <a:r>
                    <a:rPr lang="en-US" sz="2400" i="1" kern="0" baseline="-25000" dirty="0">
                      <a:solidFill>
                        <a:srgbClr val="000000"/>
                      </a:solidFill>
                      <a:ea typeface="ＭＳ Ｐゴシック" charset="0"/>
                    </a:rPr>
                    <a:t>w</a:t>
                  </a:r>
                  <a:r>
                    <a:rPr lang="en-US" sz="2400" i="1" kern="0" dirty="0">
                      <a:solidFill>
                        <a:srgbClr val="000000"/>
                      </a:solidFill>
                      <a:ea typeface="ＭＳ Ｐゴシック" charset="0"/>
                    </a:rPr>
                    <a:t>(z) = </a:t>
                  </a:r>
                  <a:r>
                    <a:rPr lang="en-US" sz="2400" kern="0" dirty="0">
                      <a:solidFill>
                        <a:srgbClr val="000000"/>
                      </a:solidFill>
                      <a:ea typeface="ＭＳ Ｐゴシック" charset="0"/>
                    </a:rPr>
                    <a:t>3</a:t>
                  </a:r>
                </a:p>
              </p:txBody>
            </p:sp>
          </p:grpSp>
        </p:grpSp>
        <p:grpSp>
          <p:nvGrpSpPr>
            <p:cNvPr id="75" name="Group 187">
              <a:extLst>
                <a:ext uri="{FF2B5EF4-FFF2-40B4-BE49-F238E27FC236}">
                  <a16:creationId xmlns:a16="http://schemas.microsoft.com/office/drawing/2014/main" id="{3DACE576-A965-325A-9C8D-8C57A3932AAB}"/>
                </a:ext>
              </a:extLst>
            </p:cNvPr>
            <p:cNvGrpSpPr/>
            <p:nvPr/>
          </p:nvGrpSpPr>
          <p:grpSpPr>
            <a:xfrm>
              <a:off x="3233433" y="3098259"/>
              <a:ext cx="500062" cy="396875"/>
              <a:chOff x="3392183" y="3123351"/>
              <a:chExt cx="500062" cy="396875"/>
            </a:xfrm>
          </p:grpSpPr>
          <p:sp>
            <p:nvSpPr>
              <p:cNvPr id="76" name="Oval 21">
                <a:extLst>
                  <a:ext uri="{FF2B5EF4-FFF2-40B4-BE49-F238E27FC236}">
                    <a16:creationId xmlns:a16="http://schemas.microsoft.com/office/drawing/2014/main" id="{1FC4FB12-1085-7CE8-1E53-1294E8B51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2183" y="3328138"/>
                <a:ext cx="495300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7" name="Line 22">
                <a:extLst>
                  <a:ext uri="{FF2B5EF4-FFF2-40B4-BE49-F238E27FC236}">
                    <a16:creationId xmlns:a16="http://schemas.microsoft.com/office/drawing/2014/main" id="{FA8ACAC6-A424-64C7-0E0E-90C5FE4E1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2183" y="331702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8" name="Line 23">
                <a:extLst>
                  <a:ext uri="{FF2B5EF4-FFF2-40B4-BE49-F238E27FC236}">
                    <a16:creationId xmlns:a16="http://schemas.microsoft.com/office/drawing/2014/main" id="{3C56478B-D155-ED57-FE0C-D7DB6582A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7483" y="331702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" name="Rectangle 24">
                <a:extLst>
                  <a:ext uri="{FF2B5EF4-FFF2-40B4-BE49-F238E27FC236}">
                    <a16:creationId xmlns:a16="http://schemas.microsoft.com/office/drawing/2014/main" id="{D1104928-C1DE-B116-8BB6-50B64DD67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2183" y="3317026"/>
                <a:ext cx="490538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" name="Oval 25">
                <a:extLst>
                  <a:ext uri="{FF2B5EF4-FFF2-40B4-BE49-F238E27FC236}">
                    <a16:creationId xmlns:a16="http://schemas.microsoft.com/office/drawing/2014/main" id="{4775C42B-A7B4-FD63-7F7E-38ADDDDC7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6945" y="3228126"/>
                <a:ext cx="495300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81" name="Group 54">
                <a:extLst>
                  <a:ext uri="{FF2B5EF4-FFF2-40B4-BE49-F238E27FC236}">
                    <a16:creationId xmlns:a16="http://schemas.microsoft.com/office/drawing/2014/main" id="{5787B7B2-31B1-DD5F-B13E-CDCDE0AEF4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66795" y="3123351"/>
                <a:ext cx="368300" cy="396875"/>
                <a:chOff x="2941" y="2413"/>
                <a:chExt cx="235" cy="250"/>
              </a:xfrm>
            </p:grpSpPr>
            <p:sp>
              <p:nvSpPr>
                <p:cNvPr id="82" name="Rectangle 55">
                  <a:extLst>
                    <a:ext uri="{FF2B5EF4-FFF2-40B4-BE49-F238E27FC236}">
                      <a16:creationId xmlns:a16="http://schemas.microsoft.com/office/drawing/2014/main" id="{0BBD72D8-C0EB-5161-6A9A-59235673B0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3" name="Text Box 56">
                  <a:extLst>
                    <a:ext uri="{FF2B5EF4-FFF2-40B4-BE49-F238E27FC236}">
                      <a16:creationId xmlns:a16="http://schemas.microsoft.com/office/drawing/2014/main" id="{B1205AD9-11DB-7FD4-DF9C-201ED443F6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1" y="2413"/>
                  <a:ext cx="23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w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84" name="Group 194">
              <a:extLst>
                <a:ext uri="{FF2B5EF4-FFF2-40B4-BE49-F238E27FC236}">
                  <a16:creationId xmlns:a16="http://schemas.microsoft.com/office/drawing/2014/main" id="{D0F0A0DE-978D-E3ED-6B51-7B82785474CA}"/>
                </a:ext>
              </a:extLst>
            </p:cNvPr>
            <p:cNvGrpSpPr/>
            <p:nvPr/>
          </p:nvGrpSpPr>
          <p:grpSpPr>
            <a:xfrm>
              <a:off x="689718" y="4347088"/>
              <a:ext cx="1691740" cy="1106944"/>
              <a:chOff x="848468" y="4372180"/>
              <a:chExt cx="1691740" cy="1106944"/>
            </a:xfrm>
          </p:grpSpPr>
          <p:sp>
            <p:nvSpPr>
              <p:cNvPr id="85" name="Freeform 189">
                <a:extLst>
                  <a:ext uri="{FF2B5EF4-FFF2-40B4-BE49-F238E27FC236}">
                    <a16:creationId xmlns:a16="http://schemas.microsoft.com/office/drawing/2014/main" id="{28591577-136D-D52B-A106-8EC34C336A61}"/>
                  </a:ext>
                </a:extLst>
              </p:cNvPr>
              <p:cNvSpPr/>
              <p:nvPr/>
            </p:nvSpPr>
            <p:spPr>
              <a:xfrm flipV="1">
                <a:off x="936877" y="4372180"/>
                <a:ext cx="1603331" cy="688931"/>
              </a:xfrm>
              <a:custGeom>
                <a:avLst/>
                <a:gdLst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  <a:gd name="connsiteX0" fmla="*/ 1603331 w 1603331"/>
                  <a:gd name="connsiteY0" fmla="*/ 626301 h 688931"/>
                  <a:gd name="connsiteX1" fmla="*/ 1453019 w 1603331"/>
                  <a:gd name="connsiteY1" fmla="*/ 688931 h 688931"/>
                  <a:gd name="connsiteX2" fmla="*/ 0 w 1603331"/>
                  <a:gd name="connsiteY2" fmla="*/ 0 h 688931"/>
                  <a:gd name="connsiteX3" fmla="*/ 1240077 w 1603331"/>
                  <a:gd name="connsiteY3" fmla="*/ 0 h 688931"/>
                  <a:gd name="connsiteX4" fmla="*/ 1603331 w 1603331"/>
                  <a:gd name="connsiteY4" fmla="*/ 626301 h 688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3331" h="688931">
                    <a:moveTo>
                      <a:pt x="1603331" y="626301"/>
                    </a:moveTo>
                    <a:lnTo>
                      <a:pt x="1453019" y="688931"/>
                    </a:lnTo>
                    <a:cubicBezTo>
                      <a:pt x="1028055" y="405848"/>
                      <a:pt x="858413" y="306834"/>
                      <a:pt x="0" y="0"/>
                    </a:cubicBezTo>
                    <a:lnTo>
                      <a:pt x="1240077" y="0"/>
                    </a:lnTo>
                    <a:cubicBezTo>
                      <a:pt x="1367100" y="327520"/>
                      <a:pt x="1416932" y="417534"/>
                      <a:pt x="1603331" y="62630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98000">
                    <a:schemeClr val="bg1">
                      <a:lumMod val="85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86" name="Group 193">
                <a:extLst>
                  <a:ext uri="{FF2B5EF4-FFF2-40B4-BE49-F238E27FC236}">
                    <a16:creationId xmlns:a16="http://schemas.microsoft.com/office/drawing/2014/main" id="{9F2BA686-201F-25A4-2826-98952216A0FE}"/>
                  </a:ext>
                </a:extLst>
              </p:cNvPr>
              <p:cNvGrpSpPr/>
              <p:nvPr/>
            </p:nvGrpSpPr>
            <p:grpSpPr>
              <a:xfrm>
                <a:off x="848468" y="5017459"/>
                <a:ext cx="1342034" cy="461665"/>
                <a:chOff x="296266" y="4536509"/>
                <a:chExt cx="1342034" cy="461665"/>
              </a:xfrm>
            </p:grpSpPr>
            <p:sp>
              <p:nvSpPr>
                <p:cNvPr id="87" name="Rectangle 177">
                  <a:extLst>
                    <a:ext uri="{FF2B5EF4-FFF2-40B4-BE49-F238E27FC236}">
                      <a16:creationId xmlns:a16="http://schemas.microsoft.com/office/drawing/2014/main" id="{EDC9555C-F0A0-23B5-265B-C35943A07A7D}"/>
                    </a:ext>
                  </a:extLst>
                </p:cNvPr>
                <p:cNvSpPr/>
                <p:nvPr/>
              </p:nvSpPr>
              <p:spPr>
                <a:xfrm>
                  <a:off x="398223" y="4576176"/>
                  <a:ext cx="1240077" cy="3883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" name="TextBox 173">
                  <a:extLst>
                    <a:ext uri="{FF2B5EF4-FFF2-40B4-BE49-F238E27FC236}">
                      <a16:creationId xmlns:a16="http://schemas.microsoft.com/office/drawing/2014/main" id="{97F1418D-3C1C-3C97-572B-5BE6FC369762}"/>
                    </a:ext>
                  </a:extLst>
                </p:cNvPr>
                <p:cNvSpPr txBox="1"/>
                <p:nvPr/>
              </p:nvSpPr>
              <p:spPr>
                <a:xfrm>
                  <a:off x="296266" y="4536509"/>
                  <a:ext cx="134203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23825"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400" i="1" kern="0" dirty="0">
                      <a:solidFill>
                        <a:srgbClr val="000000"/>
                      </a:solidFill>
                      <a:ea typeface="ＭＳ Ｐゴシック" charset="0"/>
                    </a:rPr>
                    <a:t>D</a:t>
                  </a:r>
                  <a:r>
                    <a:rPr lang="en-US" sz="2400" i="1" kern="0" baseline="-25000" dirty="0">
                      <a:solidFill>
                        <a:srgbClr val="000000"/>
                      </a:solidFill>
                      <a:ea typeface="ＭＳ Ｐゴシック" charset="0"/>
                    </a:rPr>
                    <a:t>x</a:t>
                  </a:r>
                  <a:r>
                    <a:rPr lang="en-US" sz="2400" i="1" kern="0" dirty="0">
                      <a:solidFill>
                        <a:srgbClr val="000000"/>
                      </a:solidFill>
                      <a:ea typeface="ＭＳ Ｐゴシック" charset="0"/>
                    </a:rPr>
                    <a:t>(z)</a:t>
                  </a:r>
                  <a:r>
                    <a:rPr lang="en-US" sz="2400" kern="0" dirty="0">
                      <a:solidFill>
                        <a:srgbClr val="000000"/>
                      </a:solidFill>
                      <a:ea typeface="ＭＳ Ｐゴシック" charset="0"/>
                    </a:rPr>
                    <a:t> = 3</a:t>
                  </a:r>
                  <a:endParaRPr lang="en-US" sz="24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89" name="Group 195">
              <a:extLst>
                <a:ext uri="{FF2B5EF4-FFF2-40B4-BE49-F238E27FC236}">
                  <a16:creationId xmlns:a16="http://schemas.microsoft.com/office/drawing/2014/main" id="{25FED089-BA4E-B94E-6A88-3A1945F5EFF1}"/>
                </a:ext>
              </a:extLst>
            </p:cNvPr>
            <p:cNvGrpSpPr/>
            <p:nvPr/>
          </p:nvGrpSpPr>
          <p:grpSpPr>
            <a:xfrm>
              <a:off x="2150758" y="4160296"/>
              <a:ext cx="501650" cy="457200"/>
              <a:chOff x="2309508" y="4185388"/>
              <a:chExt cx="501650" cy="457200"/>
            </a:xfrm>
          </p:grpSpPr>
          <p:sp>
            <p:nvSpPr>
              <p:cNvPr id="90" name="Oval 11">
                <a:extLst>
                  <a:ext uri="{FF2B5EF4-FFF2-40B4-BE49-F238E27FC236}">
                    <a16:creationId xmlns:a16="http://schemas.microsoft.com/office/drawing/2014/main" id="{1BE92FD1-9AFF-5651-9820-7209BCA78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4270" y="4429863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" name="Line 12">
                <a:extLst>
                  <a:ext uri="{FF2B5EF4-FFF2-40B4-BE49-F238E27FC236}">
                    <a16:creationId xmlns:a16="http://schemas.microsoft.com/office/drawing/2014/main" id="{0360E1E3-F0FB-8CB3-D023-BA181B18B1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4270" y="4418751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" name="Line 13">
                <a:extLst>
                  <a:ext uri="{FF2B5EF4-FFF2-40B4-BE49-F238E27FC236}">
                    <a16:creationId xmlns:a16="http://schemas.microsoft.com/office/drawing/2014/main" id="{99A22FE5-D70A-0142-333F-5767DEB215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1158" y="4418751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3" name="Rectangle 14">
                <a:extLst>
                  <a:ext uri="{FF2B5EF4-FFF2-40B4-BE49-F238E27FC236}">
                    <a16:creationId xmlns:a16="http://schemas.microsoft.com/office/drawing/2014/main" id="{8B101CD1-0353-00AB-865E-790376630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4270" y="4418751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4" name="Oval 15">
                <a:extLst>
                  <a:ext uri="{FF2B5EF4-FFF2-40B4-BE49-F238E27FC236}">
                    <a16:creationId xmlns:a16="http://schemas.microsoft.com/office/drawing/2014/main" id="{1DB5EF3C-222A-8768-5D0E-3ED89FEBF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9508" y="4325088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95" name="Group 51">
                <a:extLst>
                  <a:ext uri="{FF2B5EF4-FFF2-40B4-BE49-F238E27FC236}">
                    <a16:creationId xmlns:a16="http://schemas.microsoft.com/office/drawing/2014/main" id="{AEDD7C04-F1C4-016D-EF3C-C6F861A63E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9520" y="4185388"/>
                <a:ext cx="336550" cy="457200"/>
                <a:chOff x="2951" y="2395"/>
                <a:chExt cx="213" cy="288"/>
              </a:xfrm>
            </p:grpSpPr>
            <p:sp>
              <p:nvSpPr>
                <p:cNvPr id="96" name="Rectangle 52">
                  <a:extLst>
                    <a:ext uri="{FF2B5EF4-FFF2-40B4-BE49-F238E27FC236}">
                      <a16:creationId xmlns:a16="http://schemas.microsoft.com/office/drawing/2014/main" id="{70D7E29D-B0C0-4A10-3D39-3913FE562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7" name="Text Box 53">
                  <a:extLst>
                    <a:ext uri="{FF2B5EF4-FFF2-40B4-BE49-F238E27FC236}">
                      <a16:creationId xmlns:a16="http://schemas.microsoft.com/office/drawing/2014/main" id="{24589A95-A272-587F-E757-73AA2E2C0F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1" y="2395"/>
                  <a:ext cx="21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x</a:t>
                  </a:r>
                </a:p>
              </p:txBody>
            </p:sp>
          </p:grpSp>
        </p:grp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BAD5062B-AFA7-DB63-7D12-DF317DB4E4B2}"/>
              </a:ext>
            </a:extLst>
          </p:cNvPr>
          <p:cNvGrpSpPr/>
          <p:nvPr/>
        </p:nvGrpSpPr>
        <p:grpSpPr>
          <a:xfrm>
            <a:off x="5283494" y="1913658"/>
            <a:ext cx="3645073" cy="2469715"/>
            <a:chOff x="5781333" y="2319582"/>
            <a:chExt cx="3645073" cy="2469715"/>
          </a:xfrm>
        </p:grpSpPr>
        <p:sp>
          <p:nvSpPr>
            <p:cNvPr id="52" name="Text Box 74">
              <a:extLst>
                <a:ext uri="{FF2B5EF4-FFF2-40B4-BE49-F238E27FC236}">
                  <a16:creationId xmlns:a16="http://schemas.microsoft.com/office/drawing/2014/main" id="{1CF772E5-0ABC-9F7F-121E-2CAB44598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3008" y="2377973"/>
              <a:ext cx="359585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= min {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u,v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u,x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x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u,w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}</a:t>
              </a:r>
            </a:p>
          </p:txBody>
        </p:sp>
        <p:sp>
          <p:nvSpPr>
            <p:cNvPr id="98" name="Text Box 74">
              <a:extLst>
                <a:ext uri="{FF2B5EF4-FFF2-40B4-BE49-F238E27FC236}">
                  <a16:creationId xmlns:a16="http://schemas.microsoft.com/office/drawing/2014/main" id="{009EA5BE-F239-F811-5FC2-784DF6911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126" y="3515095"/>
              <a:ext cx="2605200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= min {2 + 5,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1 + 3,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5 + 3}  = 4</a:t>
              </a:r>
            </a:p>
          </p:txBody>
        </p:sp>
        <p:grpSp>
          <p:nvGrpSpPr>
            <p:cNvPr id="101" name="Group 202">
              <a:extLst>
                <a:ext uri="{FF2B5EF4-FFF2-40B4-BE49-F238E27FC236}">
                  <a16:creationId xmlns:a16="http://schemas.microsoft.com/office/drawing/2014/main" id="{B59F140B-0F02-C231-EF54-BFEE4DCFF97D}"/>
                </a:ext>
              </a:extLst>
            </p:cNvPr>
            <p:cNvGrpSpPr/>
            <p:nvPr/>
          </p:nvGrpSpPr>
          <p:grpSpPr>
            <a:xfrm>
              <a:off x="5781333" y="2319582"/>
              <a:ext cx="3645073" cy="2469715"/>
              <a:chOff x="6465518" y="2745287"/>
              <a:chExt cx="3645073" cy="2469715"/>
            </a:xfrm>
          </p:grpSpPr>
          <p:sp>
            <p:nvSpPr>
              <p:cNvPr id="102" name="Oval 199">
                <a:extLst>
                  <a:ext uri="{FF2B5EF4-FFF2-40B4-BE49-F238E27FC236}">
                    <a16:creationId xmlns:a16="http://schemas.microsoft.com/office/drawing/2014/main" id="{9AAE58E4-F01A-9C6F-FE8E-4AFDD5CBB98B}"/>
                  </a:ext>
                </a:extLst>
              </p:cNvPr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3" name="Oval 200">
                <a:extLst>
                  <a:ext uri="{FF2B5EF4-FFF2-40B4-BE49-F238E27FC236}">
                    <a16:creationId xmlns:a16="http://schemas.microsoft.com/office/drawing/2014/main" id="{0C4FD4A2-1A77-5336-9544-D02E3FBDEEBF}"/>
                  </a:ext>
                </a:extLst>
              </p:cNvPr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Oval 201">
                <a:extLst>
                  <a:ext uri="{FF2B5EF4-FFF2-40B4-BE49-F238E27FC236}">
                    <a16:creationId xmlns:a16="http://schemas.microsoft.com/office/drawing/2014/main" id="{599FFF4A-C36A-9842-48BD-C39EED74DBAE}"/>
                  </a:ext>
                </a:extLst>
              </p:cNvPr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aphicFrame>
        <p:nvGraphicFramePr>
          <p:cNvPr id="106" name="表格 105">
            <a:extLst>
              <a:ext uri="{FF2B5EF4-FFF2-40B4-BE49-F238E27FC236}">
                <a16:creationId xmlns:a16="http://schemas.microsoft.com/office/drawing/2014/main" id="{C47CBD59-D068-D7F4-69F0-4FA8196C9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438391"/>
              </p:ext>
            </p:extLst>
          </p:nvPr>
        </p:nvGraphicFramePr>
        <p:xfrm>
          <a:off x="9126680" y="1918709"/>
          <a:ext cx="2927560" cy="109885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5780">
                  <a:extLst>
                    <a:ext uri="{9D8B030D-6E8A-4147-A177-3AD203B41FA5}">
                      <a16:colId xmlns:a16="http://schemas.microsoft.com/office/drawing/2014/main" val="4183495169"/>
                    </a:ext>
                  </a:extLst>
                </a:gridCol>
                <a:gridCol w="1085780">
                  <a:extLst>
                    <a:ext uri="{9D8B030D-6E8A-4147-A177-3AD203B41FA5}">
                      <a16:colId xmlns:a16="http://schemas.microsoft.com/office/drawing/2014/main" val="703660651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806588907"/>
                    </a:ext>
                  </a:extLst>
                </a:gridCol>
              </a:tblGrid>
              <a:tr h="366549">
                <a:tc>
                  <a:txBody>
                    <a:bodyPr/>
                    <a:lstStyle/>
                    <a:p>
                      <a:r>
                        <a:rPr lang="zh-CN" altLang="en-US" dirty="0"/>
                        <a:t>目的地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下一跳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花费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087319"/>
                  </a:ext>
                </a:extLst>
              </a:tr>
              <a:tr h="366549"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(u, x)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2728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791344"/>
                  </a:ext>
                </a:extLst>
              </a:tr>
            </a:tbl>
          </a:graphicData>
        </a:graphic>
      </p:graphicFrame>
      <p:graphicFrame>
        <p:nvGraphicFramePr>
          <p:cNvPr id="107" name="表格 106">
            <a:extLst>
              <a:ext uri="{FF2B5EF4-FFF2-40B4-BE49-F238E27FC236}">
                <a16:creationId xmlns:a16="http://schemas.microsoft.com/office/drawing/2014/main" id="{AC34ABFD-3B86-839B-50C0-715E0FE28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3769"/>
              </p:ext>
            </p:extLst>
          </p:nvPr>
        </p:nvGraphicFramePr>
        <p:xfrm>
          <a:off x="9124441" y="3464549"/>
          <a:ext cx="2952000" cy="10980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4183495169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70366065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80658890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zh-CN" altLang="en-US" dirty="0"/>
                        <a:t>距离向量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目的地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花费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087319"/>
                  </a:ext>
                </a:extLst>
              </a:tr>
              <a:tr h="366549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Gill Sans MT" charset="0"/>
                        </a:rPr>
                        <a:t>D</a:t>
                      </a:r>
                      <a:r>
                        <a:rPr lang="en-US" altLang="zh-CN" baseline="-25000" dirty="0">
                          <a:latin typeface="Gill Sans MT" charset="0"/>
                        </a:rPr>
                        <a:t>u</a:t>
                      </a:r>
                      <a:r>
                        <a:rPr lang="en-US" altLang="zh-CN" dirty="0">
                          <a:latin typeface="Gill Sans MT" charset="0"/>
                        </a:rPr>
                        <a:t>(z)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2728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791344"/>
                  </a:ext>
                </a:extLst>
              </a:tr>
            </a:tbl>
          </a:graphicData>
        </a:graphic>
      </p:graphicFrame>
      <p:sp>
        <p:nvSpPr>
          <p:cNvPr id="108" name="文本框 107">
            <a:extLst>
              <a:ext uri="{FF2B5EF4-FFF2-40B4-BE49-F238E27FC236}">
                <a16:creationId xmlns:a16="http://schemas.microsoft.com/office/drawing/2014/main" id="{CF1A613A-36DC-D79C-85E3-2C180C4AD70B}"/>
              </a:ext>
            </a:extLst>
          </p:cNvPr>
          <p:cNvSpPr txBox="1"/>
          <p:nvPr/>
        </p:nvSpPr>
        <p:spPr>
          <a:xfrm>
            <a:off x="9126679" y="1489628"/>
            <a:ext cx="1812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节点</a:t>
            </a:r>
            <a:r>
              <a:rPr lang="en-US" altLang="zh-CN" b="1" dirty="0">
                <a:solidFill>
                  <a:srgbClr val="FF0000"/>
                </a:solidFill>
              </a:rPr>
              <a:t>u</a:t>
            </a:r>
            <a:r>
              <a:rPr lang="zh-CN" altLang="en-US" b="1" dirty="0">
                <a:solidFill>
                  <a:srgbClr val="FF0000"/>
                </a:solidFill>
              </a:rPr>
              <a:t>的路由表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CEBD99F-B1D0-8B97-1A0E-FA5334543089}"/>
                  </a:ext>
                </a:extLst>
              </p:cNvPr>
              <p:cNvSpPr txBox="1"/>
              <p:nvPr/>
            </p:nvSpPr>
            <p:spPr>
              <a:xfrm>
                <a:off x="9126679" y="3095961"/>
                <a:ext cx="23437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节点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u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的距离向量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CEBD99F-B1D0-8B97-1A0E-FA533454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679" y="3095961"/>
                <a:ext cx="2343785" cy="369332"/>
              </a:xfrm>
              <a:prstGeom prst="rect">
                <a:avLst/>
              </a:prstGeom>
              <a:blipFill>
                <a:blip r:embed="rId3"/>
                <a:stretch>
                  <a:fillRect l="-2078" t="-11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CCCADC6-62BB-E316-F3C0-98E47B3033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7672" y="4577966"/>
                <a:ext cx="7308769" cy="200063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800" dirty="0">
                    <a:latin typeface="Gill Sans MT" charset="0"/>
                  </a:rPr>
                  <a:t>每个节点</a:t>
                </a:r>
                <a:r>
                  <a:rPr lang="en-US" altLang="zh-CN" sz="1800" dirty="0">
                    <a:latin typeface="Gill Sans MT" charset="0"/>
                  </a:rPr>
                  <a:t>x</a:t>
                </a:r>
                <a:r>
                  <a:rPr lang="zh-CN" altLang="en-US" sz="1800" dirty="0">
                    <a:latin typeface="Gill Sans MT" charset="0"/>
                  </a:rPr>
                  <a:t>发送自己的距离向量给邻居：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1800" dirty="0">
                  <a:latin typeface="Gill Sans MT" charset="0"/>
                </a:endParaRPr>
              </a:p>
              <a:p>
                <a:r>
                  <a:rPr lang="zh-CN" altLang="en-US" sz="1800" dirty="0">
                    <a:latin typeface="Gill Sans MT" charset="0"/>
                  </a:rPr>
                  <a:t>每个节点维护</a:t>
                </a:r>
                <a:r>
                  <a:rPr lang="zh-CN" altLang="en-US" sz="1800" b="1" dirty="0">
                    <a:solidFill>
                      <a:schemeClr val="accent4"/>
                    </a:solidFill>
                    <a:latin typeface="Gill Sans MT" charset="0"/>
                  </a:rPr>
                  <a:t>二维距离表</a:t>
                </a:r>
                <a:r>
                  <a:rPr lang="zh-CN" altLang="en-US" sz="1800" dirty="0">
                    <a:latin typeface="Gill Sans MT" charset="0"/>
                  </a:rPr>
                  <a:t>：对于每个邻居</a:t>
                </a:r>
                <a:r>
                  <a:rPr lang="en-US" altLang="zh-CN" sz="1800" dirty="0">
                    <a:latin typeface="Gill Sans MT" charset="0"/>
                  </a:rPr>
                  <a:t>v</a:t>
                </a:r>
                <a:r>
                  <a:rPr lang="zh-CN" altLang="en-US" sz="1800" dirty="0">
                    <a:latin typeface="Gill Sans MT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1800" dirty="0">
                  <a:latin typeface="Gill Sans MT" charset="0"/>
                </a:endParaRPr>
              </a:p>
              <a:p>
                <a:r>
                  <a:rPr lang="zh-CN" altLang="en-US" sz="1800" dirty="0">
                    <a:latin typeface="Gill Sans MT" charset="0"/>
                  </a:rPr>
                  <a:t>从邻居收到新的距离向量时，更新二维距离表，基于</a:t>
                </a:r>
                <a:r>
                  <a:rPr lang="en-US" altLang="zh-CN" sz="1800" dirty="0">
                    <a:latin typeface="Gill Sans MT" charset="0"/>
                  </a:rPr>
                  <a:t>Bellman Ford</a:t>
                </a:r>
                <a:r>
                  <a:rPr lang="zh-CN" altLang="en-US" sz="1800" dirty="0">
                    <a:latin typeface="Gill Sans MT" charset="0"/>
                  </a:rPr>
                  <a:t>方程计算自己的距离向量</a:t>
                </a:r>
                <a:endParaRPr lang="en-US" altLang="zh-CN" sz="1800" dirty="0">
                  <a:latin typeface="Gill Sans MT" charset="0"/>
                </a:endParaRPr>
              </a:p>
              <a:p>
                <a:r>
                  <a:rPr lang="zh-CN" altLang="en-US" sz="1800" dirty="0">
                    <a:latin typeface="Gill Sans MT" charset="0"/>
                  </a:rPr>
                  <a:t>经过多轮迭代后，估计的</a:t>
                </a:r>
                <a:r>
                  <a:rPr lang="en-US" altLang="zh-CN" sz="1800" dirty="0">
                    <a:latin typeface="Gill Sans MT" charset="0"/>
                  </a:rPr>
                  <a:t>D</a:t>
                </a:r>
                <a:r>
                  <a:rPr lang="en-US" altLang="zh-CN" sz="1800" baseline="-25000" dirty="0">
                    <a:latin typeface="Gill Sans MT" charset="0"/>
                  </a:rPr>
                  <a:t>x</a:t>
                </a:r>
                <a:r>
                  <a:rPr lang="en-US" altLang="zh-CN" sz="1800" dirty="0">
                    <a:latin typeface="Gill Sans MT" charset="0"/>
                  </a:rPr>
                  <a:t>(y)</a:t>
                </a:r>
                <a:r>
                  <a:rPr lang="zh-CN" altLang="en-US" sz="1800" dirty="0">
                    <a:latin typeface="Gill Sans MT" charset="0"/>
                  </a:rPr>
                  <a:t> 收敛为</a:t>
                </a:r>
                <a:r>
                  <a:rPr lang="en-US" altLang="zh-CN" sz="1800" dirty="0">
                    <a:latin typeface="Gill Sans MT" charset="0"/>
                  </a:rPr>
                  <a:t>d</a:t>
                </a:r>
                <a:r>
                  <a:rPr lang="en-US" altLang="zh-CN" sz="1800" baseline="-25000" dirty="0">
                    <a:latin typeface="Gill Sans MT" charset="0"/>
                  </a:rPr>
                  <a:t>x</a:t>
                </a:r>
                <a:r>
                  <a:rPr lang="en-US" altLang="zh-CN" sz="1800" dirty="0">
                    <a:latin typeface="Gill Sans MT" charset="0"/>
                  </a:rPr>
                  <a:t>(y)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CCCADC6-62BB-E316-F3C0-98E47B303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672" y="4577966"/>
                <a:ext cx="7308769" cy="2000634"/>
              </a:xfrm>
              <a:prstGeom prst="rect">
                <a:avLst/>
              </a:prstGeom>
              <a:blipFill>
                <a:blip r:embed="rId4"/>
                <a:stretch>
                  <a:fillRect l="-500" t="-1524" b="-3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691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C4360-9792-0F9C-464D-CD5A63F13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距离向量路由算法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7A5BD-4A2B-88B0-F7BA-C06696C60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1267" y="728663"/>
            <a:ext cx="5831356" cy="37525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accent4"/>
                </a:solidFill>
              </a:rPr>
              <a:t>迭代、异步计算</a:t>
            </a:r>
            <a:r>
              <a:rPr lang="zh-CN" altLang="en-US" dirty="0"/>
              <a:t>：在如下某个事件发生时本地计算：</a:t>
            </a:r>
            <a:endParaRPr lang="en-US" altLang="zh-CN" dirty="0"/>
          </a:p>
          <a:p>
            <a:r>
              <a:rPr lang="zh-CN" altLang="en-US" dirty="0"/>
              <a:t>本地链路花费改变</a:t>
            </a:r>
            <a:endParaRPr lang="en-US" altLang="zh-CN" dirty="0"/>
          </a:p>
          <a:p>
            <a:r>
              <a:rPr lang="zh-CN" altLang="en-US" dirty="0"/>
              <a:t>邻居发送的距离向量更新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chemeClr val="accent4"/>
                </a:solidFill>
              </a:rPr>
              <a:t>分布式、自收敛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每个节点只有在其距离向量改变时才通知邻居</a:t>
            </a:r>
            <a:endParaRPr lang="en-US" altLang="zh-CN" dirty="0"/>
          </a:p>
          <a:p>
            <a:r>
              <a:rPr lang="zh-CN" altLang="en-US" dirty="0"/>
              <a:t>邻居如果有必要再通知他们的邻居</a:t>
            </a:r>
            <a:endParaRPr lang="en-US" altLang="zh-CN" dirty="0"/>
          </a:p>
          <a:p>
            <a:r>
              <a:rPr lang="zh-CN" altLang="en-US" dirty="0"/>
              <a:t>如果没有收到距离向量，则不需要计算</a:t>
            </a:r>
            <a:endParaRPr lang="en-US" altLang="zh-CN" dirty="0"/>
          </a:p>
          <a:p>
            <a:r>
              <a:rPr lang="zh-CN" altLang="en-US" dirty="0"/>
              <a:t>不需要额外的信号通知整个计算结束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88FAF43-E245-F8AA-5513-3D6C8E8175C0}"/>
              </a:ext>
            </a:extLst>
          </p:cNvPr>
          <p:cNvGrpSpPr/>
          <p:nvPr/>
        </p:nvGrpSpPr>
        <p:grpSpPr>
          <a:xfrm>
            <a:off x="491914" y="700290"/>
            <a:ext cx="4703088" cy="5803972"/>
            <a:chOff x="505541" y="400573"/>
            <a:chExt cx="4703088" cy="5803972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19D53A41-E028-4C89-2A3D-17DF4E5A6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525" y="2452011"/>
              <a:ext cx="4622104" cy="1126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en-US" dirty="0">
                <a:latin typeface="Times New Roman" charset="0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i="1" dirty="0">
                  <a:solidFill>
                    <a:srgbClr val="000099"/>
                  </a:solidFill>
                  <a:latin typeface="+mn-lt"/>
                </a:rPr>
                <a:t>等待 </a:t>
              </a:r>
              <a:r>
                <a:rPr lang="en-US" altLang="zh-CN" i="1" dirty="0">
                  <a:solidFill>
                    <a:srgbClr val="000099"/>
                  </a:solidFill>
                  <a:latin typeface="+mn-lt"/>
                </a:rPr>
                <a:t>(</a:t>
              </a:r>
              <a:r>
                <a:rPr lang="zh-CN" altLang="en-US" dirty="0">
                  <a:latin typeface="+mn-lt"/>
                </a:rPr>
                <a:t>本地链路花费改变或者邻居发送的距离向量</a:t>
              </a:r>
              <a:r>
                <a:rPr lang="en-US" altLang="zh-CN" dirty="0">
                  <a:latin typeface="+mn-lt"/>
                </a:rPr>
                <a:t>)</a:t>
              </a:r>
              <a:endParaRPr lang="en-US" dirty="0">
                <a:latin typeface="Times New Roman" charset="0"/>
              </a:endParaRPr>
            </a:p>
          </p:txBody>
        </p:sp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68666A15-0AA2-3DF1-3A81-D966041DF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818" y="400573"/>
              <a:ext cx="177644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CC0000"/>
                  </a:solidFill>
                  <a:latin typeface="+mn-lt"/>
                </a:rPr>
                <a:t>每个节点</a:t>
              </a:r>
              <a:r>
                <a:rPr lang="en-US" altLang="zh-CN" sz="2800" dirty="0">
                  <a:solidFill>
                    <a:srgbClr val="CC0000"/>
                  </a:solidFill>
                  <a:latin typeface="+mn-lt"/>
                </a:rPr>
                <a:t>x</a:t>
              </a:r>
              <a:endParaRPr lang="en-US" sz="2800" dirty="0">
                <a:solidFill>
                  <a:srgbClr val="CC0000"/>
                </a:solidFill>
                <a:latin typeface="+mn-lt"/>
              </a:endParaRPr>
            </a:p>
          </p:txBody>
        </p:sp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858BB10F-92E4-D35F-9EEE-E1D48E016F95}"/>
                </a:ext>
              </a:extLst>
            </p:cNvPr>
            <p:cNvGrpSpPr/>
            <p:nvPr/>
          </p:nvGrpSpPr>
          <p:grpSpPr>
            <a:xfrm>
              <a:off x="574739" y="3589160"/>
              <a:ext cx="4622104" cy="1228008"/>
              <a:chOff x="1334326" y="3304552"/>
              <a:chExt cx="4622104" cy="1228008"/>
            </a:xfrm>
          </p:grpSpPr>
          <p:sp>
            <p:nvSpPr>
              <p:cNvPr id="7" name="Line 5">
                <a:extLst>
                  <a:ext uri="{FF2B5EF4-FFF2-40B4-BE49-F238E27FC236}">
                    <a16:creationId xmlns:a16="http://schemas.microsoft.com/office/drawing/2014/main" id="{951836B7-F18B-7E70-3D82-CA5930502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1463" y="3304552"/>
                <a:ext cx="0" cy="422581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8" name="Text Box 4">
                <a:extLst>
                  <a:ext uri="{FF2B5EF4-FFF2-40B4-BE49-F238E27FC236}">
                    <a16:creationId xmlns:a16="http://schemas.microsoft.com/office/drawing/2014/main" id="{0CAD966B-FB4A-9465-69AE-CD9605D0B0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326" y="3443031"/>
                <a:ext cx="4622104" cy="1089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endParaRPr lang="en-US" dirty="0">
                  <a:latin typeface="+mn-lt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zh-CN" altLang="en-US" dirty="0">
                    <a:latin typeface="+mn-lt"/>
                  </a:rPr>
                  <a:t>基于邻居来的距离向量（即二维距离表），</a:t>
                </a:r>
                <a:r>
                  <a:rPr lang="zh-CN" altLang="en-US" i="1" dirty="0">
                    <a:solidFill>
                      <a:srgbClr val="000099"/>
                    </a:solidFill>
                    <a:latin typeface="+mn-lt"/>
                  </a:rPr>
                  <a:t>重新计算 </a:t>
                </a:r>
                <a:r>
                  <a:rPr lang="zh-CN" altLang="en-US" dirty="0">
                    <a:latin typeface="+mn-lt"/>
                  </a:rPr>
                  <a:t>距离向量</a:t>
                </a: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7EF84A47-E193-6BCE-5D32-1C43AF2CB704}"/>
                </a:ext>
              </a:extLst>
            </p:cNvPr>
            <p:cNvGrpSpPr/>
            <p:nvPr/>
          </p:nvGrpSpPr>
          <p:grpSpPr>
            <a:xfrm>
              <a:off x="586525" y="4833646"/>
              <a:ext cx="4622104" cy="892586"/>
              <a:chOff x="1346112" y="4549038"/>
              <a:chExt cx="4622104" cy="892586"/>
            </a:xfrm>
          </p:grpSpPr>
          <p:sp>
            <p:nvSpPr>
              <p:cNvPr id="10" name="Line 6">
                <a:extLst>
                  <a:ext uri="{FF2B5EF4-FFF2-40B4-BE49-F238E27FC236}">
                    <a16:creationId xmlns:a16="http://schemas.microsoft.com/office/drawing/2014/main" id="{EF0A4FDD-1495-9A28-3461-7DAC7B073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8268" y="4549038"/>
                <a:ext cx="0" cy="439673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" name="Text Box 4">
                <a:extLst>
                  <a:ext uri="{FF2B5EF4-FFF2-40B4-BE49-F238E27FC236}">
                    <a16:creationId xmlns:a16="http://schemas.microsoft.com/office/drawing/2014/main" id="{85212AB1-DA91-5059-1B8A-C99E62511A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6112" y="4684494"/>
                <a:ext cx="4622104" cy="757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endParaRPr lang="en-US" dirty="0">
                  <a:latin typeface="+mn-lt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zh-CN" altLang="en-US" dirty="0">
                    <a:latin typeface="+mn-lt"/>
                  </a:rPr>
                  <a:t>如果距离向量有变化，</a:t>
                </a:r>
                <a:r>
                  <a:rPr lang="zh-CN" altLang="en-US" i="1" dirty="0">
                    <a:solidFill>
                      <a:srgbClr val="000099"/>
                    </a:solidFill>
                    <a:latin typeface="+mn-lt"/>
                  </a:rPr>
                  <a:t>通知 </a:t>
                </a:r>
                <a:r>
                  <a:rPr lang="zh-CN" altLang="en-US" dirty="0">
                    <a:latin typeface="+mn-lt"/>
                  </a:rPr>
                  <a:t>邻居</a:t>
                </a:r>
                <a:endParaRPr lang="en-US" dirty="0">
                  <a:latin typeface="+mn-lt"/>
                </a:endParaRPr>
              </a:p>
            </p:txBody>
          </p:sp>
        </p:grpSp>
        <p:cxnSp>
          <p:nvCxnSpPr>
            <p:cNvPr id="12" name="Straight Connector 15">
              <a:extLst>
                <a:ext uri="{FF2B5EF4-FFF2-40B4-BE49-F238E27FC236}">
                  <a16:creationId xmlns:a16="http://schemas.microsoft.com/office/drawing/2014/main" id="{C49EDDA4-2D28-E799-50F8-06A979C77E47}"/>
                </a:ext>
              </a:extLst>
            </p:cNvPr>
            <p:cNvCxnSpPr/>
            <p:nvPr/>
          </p:nvCxnSpPr>
          <p:spPr>
            <a:xfrm flipV="1">
              <a:off x="2835382" y="5725078"/>
              <a:ext cx="0" cy="454068"/>
            </a:xfrm>
            <a:prstGeom prst="line">
              <a:avLst/>
            </a:prstGeom>
            <a:ln w="1905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9">
              <a:extLst>
                <a:ext uri="{FF2B5EF4-FFF2-40B4-BE49-F238E27FC236}">
                  <a16:creationId xmlns:a16="http://schemas.microsoft.com/office/drawing/2014/main" id="{FC26FCE4-F967-746A-2040-3044EF10D746}"/>
                </a:ext>
              </a:extLst>
            </p:cNvPr>
            <p:cNvCxnSpPr/>
            <p:nvPr/>
          </p:nvCxnSpPr>
          <p:spPr>
            <a:xfrm>
              <a:off x="2818681" y="2457411"/>
              <a:ext cx="0" cy="3382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26">
              <a:extLst>
                <a:ext uri="{FF2B5EF4-FFF2-40B4-BE49-F238E27FC236}">
                  <a16:creationId xmlns:a16="http://schemas.microsoft.com/office/drawing/2014/main" id="{8400E1A0-C2B9-A62F-6073-AD1E0937D58F}"/>
                </a:ext>
              </a:extLst>
            </p:cNvPr>
            <p:cNvCxnSpPr/>
            <p:nvPr/>
          </p:nvCxnSpPr>
          <p:spPr>
            <a:xfrm>
              <a:off x="518067" y="6204545"/>
              <a:ext cx="230061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27">
              <a:extLst>
                <a:ext uri="{FF2B5EF4-FFF2-40B4-BE49-F238E27FC236}">
                  <a16:creationId xmlns:a16="http://schemas.microsoft.com/office/drawing/2014/main" id="{1AE36595-5492-EAC8-2C57-D36C095415C2}"/>
                </a:ext>
              </a:extLst>
            </p:cNvPr>
            <p:cNvCxnSpPr/>
            <p:nvPr/>
          </p:nvCxnSpPr>
          <p:spPr>
            <a:xfrm>
              <a:off x="505541" y="2452011"/>
              <a:ext cx="230061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29">
              <a:extLst>
                <a:ext uri="{FF2B5EF4-FFF2-40B4-BE49-F238E27FC236}">
                  <a16:creationId xmlns:a16="http://schemas.microsoft.com/office/drawing/2014/main" id="{28DF6D78-70CA-0C11-F971-A6696F2F8E1E}"/>
                </a:ext>
              </a:extLst>
            </p:cNvPr>
            <p:cNvCxnSpPr>
              <a:cxnSpLocks/>
            </p:cNvCxnSpPr>
            <p:nvPr/>
          </p:nvCxnSpPr>
          <p:spPr>
            <a:xfrm>
              <a:off x="518067" y="2452011"/>
              <a:ext cx="9917" cy="375253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 Box 4">
            <a:extLst>
              <a:ext uri="{FF2B5EF4-FFF2-40B4-BE49-F238E27FC236}">
                <a16:creationId xmlns:a16="http://schemas.microsoft.com/office/drawing/2014/main" id="{EB97C809-79FD-662F-3C6D-26291A1B3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850" y="917655"/>
            <a:ext cx="5449847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zh-CN" altLang="en-US" i="1" dirty="0">
                <a:solidFill>
                  <a:srgbClr val="000099"/>
                </a:solidFill>
                <a:latin typeface="+mn-lt"/>
              </a:rPr>
              <a:t>初始化</a:t>
            </a:r>
            <a:r>
              <a:rPr lang="en-US" i="1" dirty="0">
                <a:solidFill>
                  <a:srgbClr val="000099"/>
                </a:solidFill>
                <a:latin typeface="+mn-lt"/>
              </a:rPr>
              <a:t>: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+mn-lt"/>
              </a:rPr>
              <a:t>初始化路由表</a:t>
            </a:r>
            <a:r>
              <a:rPr lang="en-US" altLang="zh-CN" dirty="0">
                <a:latin typeface="+mn-lt"/>
              </a:rPr>
              <a:t>(</a:t>
            </a:r>
            <a:r>
              <a:rPr lang="zh-CN" altLang="en-US" dirty="0">
                <a:latin typeface="+mn-lt"/>
              </a:rPr>
              <a:t>距离向量）</a:t>
            </a:r>
            <a:r>
              <a:rPr lang="en-US" altLang="zh-CN" dirty="0">
                <a:latin typeface="+mn-lt"/>
              </a:rPr>
              <a:t>:</a:t>
            </a:r>
            <a:r>
              <a:rPr lang="en-US" altLang="zh-CN" dirty="0">
                <a:latin typeface="Gill Sans MT" charset="0"/>
              </a:rPr>
              <a:t> d</a:t>
            </a:r>
            <a:r>
              <a:rPr lang="en-US" altLang="zh-CN" baseline="-25000" dirty="0">
                <a:latin typeface="Gill Sans MT" charset="0"/>
              </a:rPr>
              <a:t>x</a:t>
            </a:r>
            <a:r>
              <a:rPr lang="en-US" altLang="zh-CN" dirty="0">
                <a:latin typeface="Gill Sans MT" charset="0"/>
              </a:rPr>
              <a:t>(y) = c(x, y)</a:t>
            </a:r>
            <a:endParaRPr lang="en-US" altLang="zh-CN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+mn-lt"/>
              </a:rPr>
              <a:t>初始化距离表</a:t>
            </a:r>
            <a:endParaRPr lang="en-US" altLang="zh-CN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+mn-lt"/>
              </a:rPr>
              <a:t>发送距离向量给所有邻居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endParaRPr lang="en-US" dirty="0">
              <a:latin typeface="+mn-lt"/>
            </a:endParaRPr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C7C2F631-2314-29A6-F44E-D9DCA12885B1}"/>
              </a:ext>
            </a:extLst>
          </p:cNvPr>
          <p:cNvSpPr txBox="1">
            <a:spLocks/>
          </p:cNvSpPr>
          <p:nvPr/>
        </p:nvSpPr>
        <p:spPr>
          <a:xfrm>
            <a:off x="5777829" y="4493867"/>
            <a:ext cx="5622174" cy="20867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accent4"/>
                </a:solidFill>
              </a:rPr>
              <a:t>考虑到节点</a:t>
            </a:r>
            <a:r>
              <a:rPr lang="en-US" altLang="zh-CN" b="1" dirty="0">
                <a:solidFill>
                  <a:schemeClr val="accent4"/>
                </a:solidFill>
              </a:rPr>
              <a:t>x</a:t>
            </a:r>
            <a:r>
              <a:rPr lang="zh-CN" altLang="en-US" b="1" dirty="0">
                <a:solidFill>
                  <a:schemeClr val="accent4"/>
                </a:solidFill>
              </a:rPr>
              <a:t>的路由：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zh-CN" altLang="en-US" dirty="0"/>
              <a:t>初始：只有一跳内的节点（即</a:t>
            </a:r>
            <a:r>
              <a:rPr lang="en-US" altLang="zh-CN" dirty="0"/>
              <a:t>x</a:t>
            </a:r>
            <a:r>
              <a:rPr lang="zh-CN" altLang="en-US" dirty="0"/>
              <a:t>的邻居）了解到到</a:t>
            </a:r>
            <a:r>
              <a:rPr lang="en-US" altLang="zh-CN" dirty="0"/>
              <a:t>x</a:t>
            </a:r>
            <a:r>
              <a:rPr lang="zh-CN" altLang="en-US" dirty="0"/>
              <a:t>的路由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轮：</a:t>
            </a:r>
            <a:r>
              <a:rPr lang="en-US" altLang="zh-CN" dirty="0"/>
              <a:t>2</a:t>
            </a:r>
            <a:r>
              <a:rPr lang="zh-CN" altLang="en-US" dirty="0"/>
              <a:t>跳内的节点了解到</a:t>
            </a:r>
            <a:r>
              <a:rPr lang="en-US" altLang="zh-CN" dirty="0"/>
              <a:t>x</a:t>
            </a:r>
            <a:r>
              <a:rPr lang="zh-CN" altLang="en-US" dirty="0"/>
              <a:t>的路由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轮：</a:t>
            </a:r>
            <a:r>
              <a:rPr lang="en-US" altLang="zh-CN" dirty="0"/>
              <a:t>3</a:t>
            </a:r>
            <a:r>
              <a:rPr lang="zh-CN" altLang="en-US" dirty="0"/>
              <a:t>跳内的节点了解到</a:t>
            </a:r>
            <a:r>
              <a:rPr lang="en-US" altLang="zh-CN" dirty="0"/>
              <a:t>x</a:t>
            </a:r>
            <a:r>
              <a:rPr lang="zh-CN" altLang="en-US" dirty="0"/>
              <a:t>的路由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n-1</a:t>
            </a:r>
            <a:r>
              <a:rPr lang="zh-CN" altLang="en-US" dirty="0"/>
              <a:t>轮：</a:t>
            </a:r>
            <a:r>
              <a:rPr lang="en-US" altLang="zh-CN" dirty="0"/>
              <a:t>n</a:t>
            </a:r>
            <a:r>
              <a:rPr lang="zh-CN" altLang="en-US" dirty="0"/>
              <a:t>跳内的节点了解到</a:t>
            </a:r>
            <a:r>
              <a:rPr lang="en-US" altLang="zh-CN" dirty="0"/>
              <a:t>x</a:t>
            </a:r>
            <a:r>
              <a:rPr lang="zh-CN" altLang="en-US" dirty="0"/>
              <a:t>的路由</a:t>
            </a:r>
          </a:p>
        </p:txBody>
      </p:sp>
    </p:spTree>
    <p:extLst>
      <p:ext uri="{BB962C8B-B14F-4D97-AF65-F5344CB8AC3E}">
        <p14:creationId xmlns:p14="http://schemas.microsoft.com/office/powerpoint/2010/main" val="81443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F421D88-511F-7FA7-4C12-D045B0A86786}"/>
              </a:ext>
            </a:extLst>
          </p:cNvPr>
          <p:cNvGrpSpPr/>
          <p:nvPr/>
        </p:nvGrpSpPr>
        <p:grpSpPr>
          <a:xfrm>
            <a:off x="3175717" y="254527"/>
            <a:ext cx="8471771" cy="6467747"/>
            <a:chOff x="544821" y="247909"/>
            <a:chExt cx="8471771" cy="6467747"/>
          </a:xfrm>
        </p:grpSpPr>
        <p:sp>
          <p:nvSpPr>
            <p:cNvPr id="138243" name="Line 20"/>
            <p:cNvSpPr>
              <a:spLocks noChangeShapeType="1"/>
            </p:cNvSpPr>
            <p:nvPr/>
          </p:nvSpPr>
          <p:spPr bwMode="auto">
            <a:xfrm>
              <a:off x="6570495" y="1735667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44" name="Line 21"/>
            <p:cNvSpPr>
              <a:spLocks noChangeShapeType="1"/>
            </p:cNvSpPr>
            <p:nvPr/>
          </p:nvSpPr>
          <p:spPr bwMode="auto">
            <a:xfrm>
              <a:off x="6265695" y="19642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45" name="Text Box 22"/>
            <p:cNvSpPr txBox="1">
              <a:spLocks noChangeArrowheads="1"/>
            </p:cNvSpPr>
            <p:nvPr/>
          </p:nvSpPr>
          <p:spPr bwMode="auto">
            <a:xfrm>
              <a:off x="6570495" y="1578505"/>
              <a:ext cx="908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   y   z</a:t>
              </a:r>
            </a:p>
          </p:txBody>
        </p:sp>
        <p:sp>
          <p:nvSpPr>
            <p:cNvPr id="138246" name="Text Box 23"/>
            <p:cNvSpPr txBox="1">
              <a:spLocks noChangeArrowheads="1"/>
            </p:cNvSpPr>
            <p:nvPr/>
          </p:nvSpPr>
          <p:spPr bwMode="auto">
            <a:xfrm>
              <a:off x="6265695" y="19595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38247" name="Text Box 24"/>
            <p:cNvSpPr txBox="1">
              <a:spLocks noChangeArrowheads="1"/>
            </p:cNvSpPr>
            <p:nvPr/>
          </p:nvSpPr>
          <p:spPr bwMode="auto">
            <a:xfrm>
              <a:off x="6265695" y="22643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38248" name="Text Box 25"/>
            <p:cNvSpPr txBox="1">
              <a:spLocks noChangeArrowheads="1"/>
            </p:cNvSpPr>
            <p:nvPr/>
          </p:nvSpPr>
          <p:spPr bwMode="auto">
            <a:xfrm>
              <a:off x="6265695" y="25691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38249" name="Text Box 26"/>
            <p:cNvSpPr txBox="1">
              <a:spLocks noChangeArrowheads="1"/>
            </p:cNvSpPr>
            <p:nvPr/>
          </p:nvSpPr>
          <p:spPr bwMode="auto">
            <a:xfrm>
              <a:off x="6570495" y="19595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0  2   3</a:t>
              </a:r>
            </a:p>
          </p:txBody>
        </p:sp>
        <p:sp>
          <p:nvSpPr>
            <p:cNvPr id="138250" name="Text Box 27"/>
            <p:cNvSpPr txBox="1">
              <a:spLocks noChangeArrowheads="1"/>
            </p:cNvSpPr>
            <p:nvPr/>
          </p:nvSpPr>
          <p:spPr bwMode="auto">
            <a:xfrm rot="-5400000">
              <a:off x="5904539" y="2379399"/>
              <a:ext cx="5381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from</a:t>
              </a:r>
            </a:p>
          </p:txBody>
        </p:sp>
        <p:sp>
          <p:nvSpPr>
            <p:cNvPr id="138251" name="Text Box 28"/>
            <p:cNvSpPr txBox="1">
              <a:spLocks noChangeArrowheads="1"/>
            </p:cNvSpPr>
            <p:nvPr/>
          </p:nvSpPr>
          <p:spPr bwMode="auto">
            <a:xfrm>
              <a:off x="6692734" y="1435630"/>
              <a:ext cx="70643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cost to</a:t>
              </a:r>
            </a:p>
          </p:txBody>
        </p:sp>
        <p:sp>
          <p:nvSpPr>
            <p:cNvPr id="138252" name="Line 50"/>
            <p:cNvSpPr>
              <a:spLocks noChangeShapeType="1"/>
            </p:cNvSpPr>
            <p:nvPr/>
          </p:nvSpPr>
          <p:spPr bwMode="auto">
            <a:xfrm>
              <a:off x="4360695" y="3412067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53" name="Line 51"/>
            <p:cNvSpPr>
              <a:spLocks noChangeShapeType="1"/>
            </p:cNvSpPr>
            <p:nvPr/>
          </p:nvSpPr>
          <p:spPr bwMode="auto">
            <a:xfrm>
              <a:off x="4055895" y="36406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54" name="Text Box 52"/>
            <p:cNvSpPr txBox="1">
              <a:spLocks noChangeArrowheads="1"/>
            </p:cNvSpPr>
            <p:nvPr/>
          </p:nvSpPr>
          <p:spPr bwMode="auto">
            <a:xfrm>
              <a:off x="4360695" y="3254905"/>
              <a:ext cx="908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   y   z</a:t>
              </a:r>
            </a:p>
          </p:txBody>
        </p:sp>
        <p:sp>
          <p:nvSpPr>
            <p:cNvPr id="138255" name="Text Box 53"/>
            <p:cNvSpPr txBox="1">
              <a:spLocks noChangeArrowheads="1"/>
            </p:cNvSpPr>
            <p:nvPr/>
          </p:nvSpPr>
          <p:spPr bwMode="auto">
            <a:xfrm>
              <a:off x="4055895" y="36359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38256" name="Text Box 54"/>
            <p:cNvSpPr txBox="1">
              <a:spLocks noChangeArrowheads="1"/>
            </p:cNvSpPr>
            <p:nvPr/>
          </p:nvSpPr>
          <p:spPr bwMode="auto">
            <a:xfrm>
              <a:off x="4055895" y="39407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38257" name="Text Box 55"/>
            <p:cNvSpPr txBox="1">
              <a:spLocks noChangeArrowheads="1"/>
            </p:cNvSpPr>
            <p:nvPr/>
          </p:nvSpPr>
          <p:spPr bwMode="auto">
            <a:xfrm>
              <a:off x="4055895" y="42455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38258" name="Text Box 56"/>
            <p:cNvSpPr txBox="1">
              <a:spLocks noChangeArrowheads="1"/>
            </p:cNvSpPr>
            <p:nvPr/>
          </p:nvSpPr>
          <p:spPr bwMode="auto">
            <a:xfrm>
              <a:off x="4360695" y="36359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0  2   7</a:t>
              </a:r>
            </a:p>
          </p:txBody>
        </p:sp>
        <p:sp>
          <p:nvSpPr>
            <p:cNvPr id="138259" name="Text Box 57"/>
            <p:cNvSpPr txBox="1">
              <a:spLocks noChangeArrowheads="1"/>
            </p:cNvSpPr>
            <p:nvPr/>
          </p:nvSpPr>
          <p:spPr bwMode="auto">
            <a:xfrm rot="-5400000">
              <a:off x="3728077" y="4033574"/>
              <a:ext cx="5381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from</a:t>
              </a:r>
            </a:p>
          </p:txBody>
        </p:sp>
        <p:sp>
          <p:nvSpPr>
            <p:cNvPr id="138260" name="Text Box 58"/>
            <p:cNvSpPr txBox="1">
              <a:spLocks noChangeArrowheads="1"/>
            </p:cNvSpPr>
            <p:nvPr/>
          </p:nvSpPr>
          <p:spPr bwMode="auto">
            <a:xfrm>
              <a:off x="4505159" y="3112030"/>
              <a:ext cx="70643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cost to</a:t>
              </a:r>
            </a:p>
          </p:txBody>
        </p:sp>
        <p:sp>
          <p:nvSpPr>
            <p:cNvPr id="138261" name="Line 59"/>
            <p:cNvSpPr>
              <a:spLocks noChangeShapeType="1"/>
            </p:cNvSpPr>
            <p:nvPr/>
          </p:nvSpPr>
          <p:spPr bwMode="auto">
            <a:xfrm>
              <a:off x="6570495" y="3488267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62" name="Line 60"/>
            <p:cNvSpPr>
              <a:spLocks noChangeShapeType="1"/>
            </p:cNvSpPr>
            <p:nvPr/>
          </p:nvSpPr>
          <p:spPr bwMode="auto">
            <a:xfrm>
              <a:off x="6265695" y="37168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63" name="Text Box 61"/>
            <p:cNvSpPr txBox="1">
              <a:spLocks noChangeArrowheads="1"/>
            </p:cNvSpPr>
            <p:nvPr/>
          </p:nvSpPr>
          <p:spPr bwMode="auto">
            <a:xfrm>
              <a:off x="6570495" y="3331105"/>
              <a:ext cx="908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   y   z</a:t>
              </a:r>
            </a:p>
          </p:txBody>
        </p:sp>
        <p:sp>
          <p:nvSpPr>
            <p:cNvPr id="138264" name="Text Box 62"/>
            <p:cNvSpPr txBox="1">
              <a:spLocks noChangeArrowheads="1"/>
            </p:cNvSpPr>
            <p:nvPr/>
          </p:nvSpPr>
          <p:spPr bwMode="auto">
            <a:xfrm>
              <a:off x="6265695" y="37121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38265" name="Text Box 63"/>
            <p:cNvSpPr txBox="1">
              <a:spLocks noChangeArrowheads="1"/>
            </p:cNvSpPr>
            <p:nvPr/>
          </p:nvSpPr>
          <p:spPr bwMode="auto">
            <a:xfrm>
              <a:off x="6265695" y="40169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38266" name="Text Box 64"/>
            <p:cNvSpPr txBox="1">
              <a:spLocks noChangeArrowheads="1"/>
            </p:cNvSpPr>
            <p:nvPr/>
          </p:nvSpPr>
          <p:spPr bwMode="auto">
            <a:xfrm>
              <a:off x="6265695" y="43217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38267" name="Text Box 65"/>
            <p:cNvSpPr txBox="1">
              <a:spLocks noChangeArrowheads="1"/>
            </p:cNvSpPr>
            <p:nvPr/>
          </p:nvSpPr>
          <p:spPr bwMode="auto">
            <a:xfrm>
              <a:off x="6570495" y="37121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0  2   3</a:t>
              </a:r>
            </a:p>
          </p:txBody>
        </p:sp>
        <p:sp>
          <p:nvSpPr>
            <p:cNvPr id="138268" name="Text Box 66"/>
            <p:cNvSpPr txBox="1">
              <a:spLocks noChangeArrowheads="1"/>
            </p:cNvSpPr>
            <p:nvPr/>
          </p:nvSpPr>
          <p:spPr bwMode="auto">
            <a:xfrm rot="-5400000">
              <a:off x="5904539" y="4109774"/>
              <a:ext cx="5381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from</a:t>
              </a:r>
            </a:p>
          </p:txBody>
        </p:sp>
        <p:sp>
          <p:nvSpPr>
            <p:cNvPr id="138269" name="Text Box 67"/>
            <p:cNvSpPr txBox="1">
              <a:spLocks noChangeArrowheads="1"/>
            </p:cNvSpPr>
            <p:nvPr/>
          </p:nvSpPr>
          <p:spPr bwMode="auto">
            <a:xfrm>
              <a:off x="6681620" y="3177117"/>
              <a:ext cx="7064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cost to</a:t>
              </a:r>
            </a:p>
          </p:txBody>
        </p:sp>
        <p:sp>
          <p:nvSpPr>
            <p:cNvPr id="138270" name="Line 68"/>
            <p:cNvSpPr>
              <a:spLocks noChangeShapeType="1"/>
            </p:cNvSpPr>
            <p:nvPr/>
          </p:nvSpPr>
          <p:spPr bwMode="auto">
            <a:xfrm>
              <a:off x="6494295" y="5164667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71" name="Line 69"/>
            <p:cNvSpPr>
              <a:spLocks noChangeShapeType="1"/>
            </p:cNvSpPr>
            <p:nvPr/>
          </p:nvSpPr>
          <p:spPr bwMode="auto">
            <a:xfrm>
              <a:off x="6189495" y="53932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72" name="Text Box 70"/>
            <p:cNvSpPr txBox="1">
              <a:spLocks noChangeArrowheads="1"/>
            </p:cNvSpPr>
            <p:nvPr/>
          </p:nvSpPr>
          <p:spPr bwMode="auto">
            <a:xfrm>
              <a:off x="6494295" y="5007505"/>
              <a:ext cx="908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   y   z</a:t>
              </a:r>
            </a:p>
          </p:txBody>
        </p:sp>
        <p:sp>
          <p:nvSpPr>
            <p:cNvPr id="138273" name="Text Box 71"/>
            <p:cNvSpPr txBox="1">
              <a:spLocks noChangeArrowheads="1"/>
            </p:cNvSpPr>
            <p:nvPr/>
          </p:nvSpPr>
          <p:spPr bwMode="auto">
            <a:xfrm>
              <a:off x="6189495" y="53885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38274" name="Text Box 72"/>
            <p:cNvSpPr txBox="1">
              <a:spLocks noChangeArrowheads="1"/>
            </p:cNvSpPr>
            <p:nvPr/>
          </p:nvSpPr>
          <p:spPr bwMode="auto">
            <a:xfrm>
              <a:off x="6189495" y="56933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38275" name="Text Box 73"/>
            <p:cNvSpPr txBox="1">
              <a:spLocks noChangeArrowheads="1"/>
            </p:cNvSpPr>
            <p:nvPr/>
          </p:nvSpPr>
          <p:spPr bwMode="auto">
            <a:xfrm>
              <a:off x="6189495" y="59981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38276" name="Text Box 74"/>
            <p:cNvSpPr txBox="1">
              <a:spLocks noChangeArrowheads="1"/>
            </p:cNvSpPr>
            <p:nvPr/>
          </p:nvSpPr>
          <p:spPr bwMode="auto">
            <a:xfrm>
              <a:off x="6494295" y="53885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0  2   3</a:t>
              </a:r>
            </a:p>
          </p:txBody>
        </p:sp>
        <p:sp>
          <p:nvSpPr>
            <p:cNvPr id="138277" name="Text Box 75"/>
            <p:cNvSpPr txBox="1">
              <a:spLocks noChangeArrowheads="1"/>
            </p:cNvSpPr>
            <p:nvPr/>
          </p:nvSpPr>
          <p:spPr bwMode="auto">
            <a:xfrm rot="-5400000">
              <a:off x="5839452" y="5775061"/>
              <a:ext cx="5381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from</a:t>
              </a:r>
            </a:p>
          </p:txBody>
        </p:sp>
        <p:sp>
          <p:nvSpPr>
            <p:cNvPr id="138278" name="Text Box 76"/>
            <p:cNvSpPr txBox="1">
              <a:spLocks noChangeArrowheads="1"/>
            </p:cNvSpPr>
            <p:nvPr/>
          </p:nvSpPr>
          <p:spPr bwMode="auto">
            <a:xfrm>
              <a:off x="6605420" y="4875742"/>
              <a:ext cx="7064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cost to</a:t>
              </a:r>
            </a:p>
          </p:txBody>
        </p:sp>
        <p:sp>
          <p:nvSpPr>
            <p:cNvPr id="138279" name="Line 77"/>
            <p:cNvSpPr>
              <a:spLocks noChangeShapeType="1"/>
            </p:cNvSpPr>
            <p:nvPr/>
          </p:nvSpPr>
          <p:spPr bwMode="auto">
            <a:xfrm>
              <a:off x="4360695" y="5164667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80" name="Line 78"/>
            <p:cNvSpPr>
              <a:spLocks noChangeShapeType="1"/>
            </p:cNvSpPr>
            <p:nvPr/>
          </p:nvSpPr>
          <p:spPr bwMode="auto">
            <a:xfrm>
              <a:off x="4055895" y="53932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81" name="Text Box 79"/>
            <p:cNvSpPr txBox="1">
              <a:spLocks noChangeArrowheads="1"/>
            </p:cNvSpPr>
            <p:nvPr/>
          </p:nvSpPr>
          <p:spPr bwMode="auto">
            <a:xfrm>
              <a:off x="4360695" y="5007505"/>
              <a:ext cx="908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   y   z</a:t>
              </a:r>
            </a:p>
          </p:txBody>
        </p:sp>
        <p:sp>
          <p:nvSpPr>
            <p:cNvPr id="138282" name="Text Box 80"/>
            <p:cNvSpPr txBox="1">
              <a:spLocks noChangeArrowheads="1"/>
            </p:cNvSpPr>
            <p:nvPr/>
          </p:nvSpPr>
          <p:spPr bwMode="auto">
            <a:xfrm>
              <a:off x="4055895" y="53885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38283" name="Text Box 81"/>
            <p:cNvSpPr txBox="1">
              <a:spLocks noChangeArrowheads="1"/>
            </p:cNvSpPr>
            <p:nvPr/>
          </p:nvSpPr>
          <p:spPr bwMode="auto">
            <a:xfrm>
              <a:off x="4055895" y="56933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38284" name="Text Box 82"/>
            <p:cNvSpPr txBox="1">
              <a:spLocks noChangeArrowheads="1"/>
            </p:cNvSpPr>
            <p:nvPr/>
          </p:nvSpPr>
          <p:spPr bwMode="auto">
            <a:xfrm>
              <a:off x="4055895" y="59981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38285" name="Text Box 83"/>
            <p:cNvSpPr txBox="1">
              <a:spLocks noChangeArrowheads="1"/>
            </p:cNvSpPr>
            <p:nvPr/>
          </p:nvSpPr>
          <p:spPr bwMode="auto">
            <a:xfrm>
              <a:off x="4360695" y="53885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0  2   7</a:t>
              </a:r>
            </a:p>
          </p:txBody>
        </p:sp>
        <p:sp>
          <p:nvSpPr>
            <p:cNvPr id="138286" name="Text Box 84"/>
            <p:cNvSpPr txBox="1">
              <a:spLocks noChangeArrowheads="1"/>
            </p:cNvSpPr>
            <p:nvPr/>
          </p:nvSpPr>
          <p:spPr bwMode="auto">
            <a:xfrm rot="-5400000">
              <a:off x="3728077" y="5743311"/>
              <a:ext cx="5381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from</a:t>
              </a:r>
            </a:p>
          </p:txBody>
        </p:sp>
        <p:sp>
          <p:nvSpPr>
            <p:cNvPr id="138287" name="Text Box 85"/>
            <p:cNvSpPr txBox="1">
              <a:spLocks noChangeArrowheads="1"/>
            </p:cNvSpPr>
            <p:nvPr/>
          </p:nvSpPr>
          <p:spPr bwMode="auto">
            <a:xfrm>
              <a:off x="4494045" y="4875742"/>
              <a:ext cx="7064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cost to</a:t>
              </a:r>
            </a:p>
          </p:txBody>
        </p:sp>
        <p:sp>
          <p:nvSpPr>
            <p:cNvPr id="138288" name="Text Box 103"/>
            <p:cNvSpPr txBox="1">
              <a:spLocks noChangeArrowheads="1"/>
            </p:cNvSpPr>
            <p:nvPr/>
          </p:nvSpPr>
          <p:spPr bwMode="auto">
            <a:xfrm>
              <a:off x="4360695" y="3983568"/>
              <a:ext cx="8826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2  0   1</a:t>
              </a:r>
            </a:p>
          </p:txBody>
        </p:sp>
        <p:sp>
          <p:nvSpPr>
            <p:cNvPr id="138289" name="Text Box 104"/>
            <p:cNvSpPr txBox="1">
              <a:spLocks noChangeArrowheads="1"/>
            </p:cNvSpPr>
            <p:nvPr/>
          </p:nvSpPr>
          <p:spPr bwMode="auto">
            <a:xfrm>
              <a:off x="4360695" y="4321705"/>
              <a:ext cx="8899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/>
                <a:t>7  1   0</a:t>
              </a:r>
            </a:p>
          </p:txBody>
        </p:sp>
        <p:sp>
          <p:nvSpPr>
            <p:cNvPr id="138290" name="Text Box 105"/>
            <p:cNvSpPr txBox="1">
              <a:spLocks noChangeArrowheads="1"/>
            </p:cNvSpPr>
            <p:nvPr/>
          </p:nvSpPr>
          <p:spPr bwMode="auto">
            <a:xfrm>
              <a:off x="4360695" y="57695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2  0   1</a:t>
              </a:r>
            </a:p>
          </p:txBody>
        </p:sp>
        <p:sp>
          <p:nvSpPr>
            <p:cNvPr id="138291" name="Text Box 106"/>
            <p:cNvSpPr txBox="1">
              <a:spLocks noChangeArrowheads="1"/>
            </p:cNvSpPr>
            <p:nvPr/>
          </p:nvSpPr>
          <p:spPr bwMode="auto">
            <a:xfrm>
              <a:off x="4360695" y="60743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3  1   0</a:t>
              </a:r>
            </a:p>
          </p:txBody>
        </p:sp>
        <p:sp>
          <p:nvSpPr>
            <p:cNvPr id="138292" name="Text Box 107"/>
            <p:cNvSpPr txBox="1">
              <a:spLocks noChangeArrowheads="1"/>
            </p:cNvSpPr>
            <p:nvPr/>
          </p:nvSpPr>
          <p:spPr bwMode="auto">
            <a:xfrm>
              <a:off x="6570495" y="2307168"/>
              <a:ext cx="946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2   0   1</a:t>
              </a:r>
            </a:p>
          </p:txBody>
        </p:sp>
        <p:sp>
          <p:nvSpPr>
            <p:cNvPr id="138293" name="Text Box 108"/>
            <p:cNvSpPr txBox="1">
              <a:spLocks noChangeArrowheads="1"/>
            </p:cNvSpPr>
            <p:nvPr/>
          </p:nvSpPr>
          <p:spPr bwMode="auto">
            <a:xfrm>
              <a:off x="6570495" y="26453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3  1   0</a:t>
              </a:r>
            </a:p>
          </p:txBody>
        </p:sp>
        <p:sp>
          <p:nvSpPr>
            <p:cNvPr id="138294" name="Text Box 109"/>
            <p:cNvSpPr txBox="1">
              <a:spLocks noChangeArrowheads="1"/>
            </p:cNvSpPr>
            <p:nvPr/>
          </p:nvSpPr>
          <p:spPr bwMode="auto">
            <a:xfrm>
              <a:off x="6570495" y="4037543"/>
              <a:ext cx="8826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2  0   1</a:t>
              </a:r>
            </a:p>
          </p:txBody>
        </p:sp>
        <p:sp>
          <p:nvSpPr>
            <p:cNvPr id="138295" name="Text Box 110"/>
            <p:cNvSpPr txBox="1">
              <a:spLocks noChangeArrowheads="1"/>
            </p:cNvSpPr>
            <p:nvPr/>
          </p:nvSpPr>
          <p:spPr bwMode="auto">
            <a:xfrm>
              <a:off x="6494295" y="60743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3  1   0</a:t>
              </a:r>
            </a:p>
          </p:txBody>
        </p:sp>
        <p:sp>
          <p:nvSpPr>
            <p:cNvPr id="138296" name="Text Box 111"/>
            <p:cNvSpPr txBox="1">
              <a:spLocks noChangeArrowheads="1"/>
            </p:cNvSpPr>
            <p:nvPr/>
          </p:nvSpPr>
          <p:spPr bwMode="auto">
            <a:xfrm>
              <a:off x="6494295" y="56933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2  0   1</a:t>
              </a:r>
            </a:p>
          </p:txBody>
        </p:sp>
        <p:sp>
          <p:nvSpPr>
            <p:cNvPr id="138297" name="Text Box 112"/>
            <p:cNvSpPr txBox="1">
              <a:spLocks noChangeArrowheads="1"/>
            </p:cNvSpPr>
            <p:nvPr/>
          </p:nvSpPr>
          <p:spPr bwMode="auto">
            <a:xfrm>
              <a:off x="6570495" y="43217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3  1   0</a:t>
              </a:r>
            </a:p>
          </p:txBody>
        </p:sp>
        <p:sp>
          <p:nvSpPr>
            <p:cNvPr id="138298" name="Line 113"/>
            <p:cNvSpPr>
              <a:spLocks noChangeShapeType="1"/>
            </p:cNvSpPr>
            <p:nvPr/>
          </p:nvSpPr>
          <p:spPr bwMode="auto">
            <a:xfrm>
              <a:off x="3293895" y="2192867"/>
              <a:ext cx="685800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299" name="Line 114"/>
            <p:cNvSpPr>
              <a:spLocks noChangeShapeType="1"/>
            </p:cNvSpPr>
            <p:nvPr/>
          </p:nvSpPr>
          <p:spPr bwMode="auto">
            <a:xfrm>
              <a:off x="3217695" y="2269067"/>
              <a:ext cx="685800" cy="3124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00" name="Line 116"/>
            <p:cNvSpPr>
              <a:spLocks noChangeShapeType="1"/>
            </p:cNvSpPr>
            <p:nvPr/>
          </p:nvSpPr>
          <p:spPr bwMode="auto">
            <a:xfrm>
              <a:off x="3217695" y="4326467"/>
              <a:ext cx="6096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01" name="Line 118"/>
            <p:cNvSpPr>
              <a:spLocks noChangeShapeType="1"/>
            </p:cNvSpPr>
            <p:nvPr/>
          </p:nvSpPr>
          <p:spPr bwMode="auto">
            <a:xfrm flipV="1">
              <a:off x="3293895" y="4555067"/>
              <a:ext cx="762000" cy="1752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02" name="Line 119"/>
            <p:cNvSpPr>
              <a:spLocks noChangeShapeType="1"/>
            </p:cNvSpPr>
            <p:nvPr/>
          </p:nvSpPr>
          <p:spPr bwMode="auto">
            <a:xfrm>
              <a:off x="5351295" y="2192867"/>
              <a:ext cx="762000" cy="1600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03" name="Line 120"/>
            <p:cNvSpPr>
              <a:spLocks noChangeShapeType="1"/>
            </p:cNvSpPr>
            <p:nvPr/>
          </p:nvSpPr>
          <p:spPr bwMode="auto">
            <a:xfrm>
              <a:off x="5275095" y="2269067"/>
              <a:ext cx="838200" cy="297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04" name="Line 121"/>
            <p:cNvSpPr>
              <a:spLocks noChangeShapeType="1"/>
            </p:cNvSpPr>
            <p:nvPr/>
          </p:nvSpPr>
          <p:spPr bwMode="auto">
            <a:xfrm flipV="1">
              <a:off x="5198895" y="2954867"/>
              <a:ext cx="1143000" cy="3200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05" name="Line 122"/>
            <p:cNvSpPr>
              <a:spLocks noChangeShapeType="1"/>
            </p:cNvSpPr>
            <p:nvPr/>
          </p:nvSpPr>
          <p:spPr bwMode="auto">
            <a:xfrm flipV="1">
              <a:off x="5198895" y="4631267"/>
              <a:ext cx="1066800" cy="167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06" name="Line 123"/>
            <p:cNvSpPr>
              <a:spLocks noChangeShapeType="1"/>
            </p:cNvSpPr>
            <p:nvPr/>
          </p:nvSpPr>
          <p:spPr bwMode="auto">
            <a:xfrm>
              <a:off x="1693695" y="6556905"/>
              <a:ext cx="541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07" name="Text Box 124"/>
            <p:cNvSpPr txBox="1">
              <a:spLocks noChangeArrowheads="1"/>
            </p:cNvSpPr>
            <p:nvPr/>
          </p:nvSpPr>
          <p:spPr bwMode="auto">
            <a:xfrm>
              <a:off x="7153108" y="6348943"/>
              <a:ext cx="6159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time</a:t>
              </a:r>
            </a:p>
          </p:txBody>
        </p:sp>
        <p:sp>
          <p:nvSpPr>
            <p:cNvPr id="138308" name="Oval 167"/>
            <p:cNvSpPr>
              <a:spLocks noChangeArrowheads="1"/>
            </p:cNvSpPr>
            <p:nvPr/>
          </p:nvSpPr>
          <p:spPr bwMode="auto">
            <a:xfrm>
              <a:off x="4284495" y="6079067"/>
              <a:ext cx="1066800" cy="3810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309" name="Line 174"/>
            <p:cNvSpPr>
              <a:spLocks noChangeShapeType="1"/>
            </p:cNvSpPr>
            <p:nvPr/>
          </p:nvSpPr>
          <p:spPr bwMode="auto">
            <a:xfrm>
              <a:off x="2303295" y="1659467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10" name="Line 175"/>
            <p:cNvSpPr>
              <a:spLocks noChangeShapeType="1"/>
            </p:cNvSpPr>
            <p:nvPr/>
          </p:nvSpPr>
          <p:spPr bwMode="auto">
            <a:xfrm>
              <a:off x="1998495" y="18880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11" name="Text Box 176"/>
            <p:cNvSpPr txBox="1">
              <a:spLocks noChangeArrowheads="1"/>
            </p:cNvSpPr>
            <p:nvPr/>
          </p:nvSpPr>
          <p:spPr bwMode="auto">
            <a:xfrm>
              <a:off x="2303295" y="1502305"/>
              <a:ext cx="908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   y   z</a:t>
              </a:r>
            </a:p>
          </p:txBody>
        </p:sp>
        <p:sp>
          <p:nvSpPr>
            <p:cNvPr id="138312" name="Text Box 177"/>
            <p:cNvSpPr txBox="1">
              <a:spLocks noChangeArrowheads="1"/>
            </p:cNvSpPr>
            <p:nvPr/>
          </p:nvSpPr>
          <p:spPr bwMode="auto">
            <a:xfrm>
              <a:off x="1998495" y="18833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38313" name="Text Box 178"/>
            <p:cNvSpPr txBox="1">
              <a:spLocks noChangeArrowheads="1"/>
            </p:cNvSpPr>
            <p:nvPr/>
          </p:nvSpPr>
          <p:spPr bwMode="auto">
            <a:xfrm>
              <a:off x="1998495" y="21881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38314" name="Text Box 179"/>
            <p:cNvSpPr txBox="1">
              <a:spLocks noChangeArrowheads="1"/>
            </p:cNvSpPr>
            <p:nvPr/>
          </p:nvSpPr>
          <p:spPr bwMode="auto">
            <a:xfrm>
              <a:off x="1998495" y="24929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38315" name="Text Box 180"/>
            <p:cNvSpPr txBox="1">
              <a:spLocks noChangeArrowheads="1"/>
            </p:cNvSpPr>
            <p:nvPr/>
          </p:nvSpPr>
          <p:spPr bwMode="auto">
            <a:xfrm>
              <a:off x="2303295" y="1883305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0  2   7</a:t>
              </a:r>
            </a:p>
          </p:txBody>
        </p:sp>
        <p:sp>
          <p:nvSpPr>
            <p:cNvPr id="138316" name="Text Box 181"/>
            <p:cNvSpPr txBox="1">
              <a:spLocks noChangeArrowheads="1"/>
            </p:cNvSpPr>
            <p:nvPr/>
          </p:nvSpPr>
          <p:spPr bwMode="auto">
            <a:xfrm>
              <a:off x="2303296" y="22643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17" name="Text Box 182"/>
            <p:cNvSpPr txBox="1">
              <a:spLocks noChangeArrowheads="1"/>
            </p:cNvSpPr>
            <p:nvPr/>
          </p:nvSpPr>
          <p:spPr bwMode="auto">
            <a:xfrm>
              <a:off x="2531896" y="22643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18" name="Text Box 183"/>
            <p:cNvSpPr txBox="1">
              <a:spLocks noChangeArrowheads="1"/>
            </p:cNvSpPr>
            <p:nvPr/>
          </p:nvSpPr>
          <p:spPr bwMode="auto">
            <a:xfrm>
              <a:off x="2912896" y="22643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19" name="Text Box 184"/>
            <p:cNvSpPr txBox="1">
              <a:spLocks noChangeArrowheads="1"/>
            </p:cNvSpPr>
            <p:nvPr/>
          </p:nvSpPr>
          <p:spPr bwMode="auto">
            <a:xfrm>
              <a:off x="2303296" y="25691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20" name="Text Box 185"/>
            <p:cNvSpPr txBox="1">
              <a:spLocks noChangeArrowheads="1"/>
            </p:cNvSpPr>
            <p:nvPr/>
          </p:nvSpPr>
          <p:spPr bwMode="auto">
            <a:xfrm>
              <a:off x="2531896" y="25691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21" name="Text Box 186"/>
            <p:cNvSpPr txBox="1">
              <a:spLocks noChangeArrowheads="1"/>
            </p:cNvSpPr>
            <p:nvPr/>
          </p:nvSpPr>
          <p:spPr bwMode="auto">
            <a:xfrm>
              <a:off x="2912896" y="25691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22" name="Text Box 187"/>
            <p:cNvSpPr txBox="1">
              <a:spLocks noChangeArrowheads="1"/>
            </p:cNvSpPr>
            <p:nvPr/>
          </p:nvSpPr>
          <p:spPr bwMode="auto">
            <a:xfrm rot="-5400000">
              <a:off x="3734427" y="2238111"/>
              <a:ext cx="5381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from</a:t>
              </a:r>
            </a:p>
          </p:txBody>
        </p:sp>
        <p:sp>
          <p:nvSpPr>
            <p:cNvPr id="138323" name="Text Box 188"/>
            <p:cNvSpPr txBox="1">
              <a:spLocks noChangeArrowheads="1"/>
            </p:cNvSpPr>
            <p:nvPr/>
          </p:nvSpPr>
          <p:spPr bwMode="auto">
            <a:xfrm>
              <a:off x="2436645" y="1370542"/>
              <a:ext cx="7064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cost to</a:t>
              </a:r>
            </a:p>
          </p:txBody>
        </p:sp>
        <p:sp>
          <p:nvSpPr>
            <p:cNvPr id="138324" name="Text Box 189"/>
            <p:cNvSpPr txBox="1">
              <a:spLocks noChangeArrowheads="1"/>
            </p:cNvSpPr>
            <p:nvPr/>
          </p:nvSpPr>
          <p:spPr bwMode="auto">
            <a:xfrm rot="-5400000">
              <a:off x="1602414" y="4022461"/>
              <a:ext cx="5381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/>
                <a:t>from</a:t>
              </a:r>
            </a:p>
          </p:txBody>
        </p:sp>
        <p:sp>
          <p:nvSpPr>
            <p:cNvPr id="138325" name="Text Box 190"/>
            <p:cNvSpPr txBox="1">
              <a:spLocks noChangeArrowheads="1"/>
            </p:cNvSpPr>
            <p:nvPr/>
          </p:nvSpPr>
          <p:spPr bwMode="auto">
            <a:xfrm rot="-5400000">
              <a:off x="1602414" y="5830624"/>
              <a:ext cx="5381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from</a:t>
              </a:r>
            </a:p>
          </p:txBody>
        </p:sp>
        <p:sp>
          <p:nvSpPr>
            <p:cNvPr id="138326" name="Line 191"/>
            <p:cNvSpPr>
              <a:spLocks noChangeShapeType="1"/>
            </p:cNvSpPr>
            <p:nvPr/>
          </p:nvSpPr>
          <p:spPr bwMode="auto">
            <a:xfrm>
              <a:off x="4360695" y="1659467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27" name="Line 192"/>
            <p:cNvSpPr>
              <a:spLocks noChangeShapeType="1"/>
            </p:cNvSpPr>
            <p:nvPr/>
          </p:nvSpPr>
          <p:spPr bwMode="auto">
            <a:xfrm>
              <a:off x="4055895" y="18880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28" name="Text Box 193"/>
            <p:cNvSpPr txBox="1">
              <a:spLocks noChangeArrowheads="1"/>
            </p:cNvSpPr>
            <p:nvPr/>
          </p:nvSpPr>
          <p:spPr bwMode="auto">
            <a:xfrm>
              <a:off x="4360695" y="1502305"/>
              <a:ext cx="908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   y   z</a:t>
              </a:r>
            </a:p>
          </p:txBody>
        </p:sp>
        <p:sp>
          <p:nvSpPr>
            <p:cNvPr id="138329" name="Text Box 194"/>
            <p:cNvSpPr txBox="1">
              <a:spLocks noChangeArrowheads="1"/>
            </p:cNvSpPr>
            <p:nvPr/>
          </p:nvSpPr>
          <p:spPr bwMode="auto">
            <a:xfrm>
              <a:off x="4055895" y="18833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38330" name="Text Box 195"/>
            <p:cNvSpPr txBox="1">
              <a:spLocks noChangeArrowheads="1"/>
            </p:cNvSpPr>
            <p:nvPr/>
          </p:nvSpPr>
          <p:spPr bwMode="auto">
            <a:xfrm>
              <a:off x="4055895" y="21881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38331" name="Text Box 196"/>
            <p:cNvSpPr txBox="1">
              <a:spLocks noChangeArrowheads="1"/>
            </p:cNvSpPr>
            <p:nvPr/>
          </p:nvSpPr>
          <p:spPr bwMode="auto">
            <a:xfrm>
              <a:off x="4055895" y="24929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38332" name="Text Box 197"/>
            <p:cNvSpPr txBox="1">
              <a:spLocks noChangeArrowheads="1"/>
            </p:cNvSpPr>
            <p:nvPr/>
          </p:nvSpPr>
          <p:spPr bwMode="auto">
            <a:xfrm>
              <a:off x="4381333" y="188330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0</a:t>
              </a:r>
            </a:p>
          </p:txBody>
        </p:sp>
        <p:sp>
          <p:nvSpPr>
            <p:cNvPr id="138333" name="Line 198"/>
            <p:cNvSpPr>
              <a:spLocks noChangeShapeType="1"/>
            </p:cNvSpPr>
            <p:nvPr/>
          </p:nvSpPr>
          <p:spPr bwMode="auto">
            <a:xfrm>
              <a:off x="2303295" y="3412067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34" name="Line 199"/>
            <p:cNvSpPr>
              <a:spLocks noChangeShapeType="1"/>
            </p:cNvSpPr>
            <p:nvPr/>
          </p:nvSpPr>
          <p:spPr bwMode="auto">
            <a:xfrm>
              <a:off x="1998495" y="36406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35" name="Text Box 200"/>
            <p:cNvSpPr txBox="1">
              <a:spLocks noChangeArrowheads="1"/>
            </p:cNvSpPr>
            <p:nvPr/>
          </p:nvSpPr>
          <p:spPr bwMode="auto">
            <a:xfrm>
              <a:off x="2303295" y="3254905"/>
              <a:ext cx="908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   y   z</a:t>
              </a:r>
            </a:p>
          </p:txBody>
        </p:sp>
        <p:sp>
          <p:nvSpPr>
            <p:cNvPr id="138336" name="Text Box 201"/>
            <p:cNvSpPr txBox="1">
              <a:spLocks noChangeArrowheads="1"/>
            </p:cNvSpPr>
            <p:nvPr/>
          </p:nvSpPr>
          <p:spPr bwMode="auto">
            <a:xfrm>
              <a:off x="1998495" y="36359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38337" name="Text Box 202"/>
            <p:cNvSpPr txBox="1">
              <a:spLocks noChangeArrowheads="1"/>
            </p:cNvSpPr>
            <p:nvPr/>
          </p:nvSpPr>
          <p:spPr bwMode="auto">
            <a:xfrm>
              <a:off x="1998495" y="39407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38338" name="Text Box 203"/>
            <p:cNvSpPr txBox="1">
              <a:spLocks noChangeArrowheads="1"/>
            </p:cNvSpPr>
            <p:nvPr/>
          </p:nvSpPr>
          <p:spPr bwMode="auto">
            <a:xfrm>
              <a:off x="1998495" y="42455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38339" name="Text Box 204"/>
            <p:cNvSpPr txBox="1">
              <a:spLocks noChangeArrowheads="1"/>
            </p:cNvSpPr>
            <p:nvPr/>
          </p:nvSpPr>
          <p:spPr bwMode="auto">
            <a:xfrm>
              <a:off x="2608096" y="36359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40" name="Text Box 205"/>
            <p:cNvSpPr txBox="1">
              <a:spLocks noChangeArrowheads="1"/>
            </p:cNvSpPr>
            <p:nvPr/>
          </p:nvSpPr>
          <p:spPr bwMode="auto">
            <a:xfrm>
              <a:off x="2912896" y="36359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41" name="Text Box 206"/>
            <p:cNvSpPr txBox="1">
              <a:spLocks noChangeArrowheads="1"/>
            </p:cNvSpPr>
            <p:nvPr/>
          </p:nvSpPr>
          <p:spPr bwMode="auto">
            <a:xfrm>
              <a:off x="2303296" y="43217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42" name="Text Box 207"/>
            <p:cNvSpPr txBox="1">
              <a:spLocks noChangeArrowheads="1"/>
            </p:cNvSpPr>
            <p:nvPr/>
          </p:nvSpPr>
          <p:spPr bwMode="auto">
            <a:xfrm>
              <a:off x="2531896" y="43217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43" name="Text Box 208"/>
            <p:cNvSpPr txBox="1">
              <a:spLocks noChangeArrowheads="1"/>
            </p:cNvSpPr>
            <p:nvPr/>
          </p:nvSpPr>
          <p:spPr bwMode="auto">
            <a:xfrm>
              <a:off x="2912896" y="43217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44" name="Text Box 209"/>
            <p:cNvSpPr txBox="1">
              <a:spLocks noChangeArrowheads="1"/>
            </p:cNvSpPr>
            <p:nvPr/>
          </p:nvSpPr>
          <p:spPr bwMode="auto">
            <a:xfrm>
              <a:off x="2425534" y="3145367"/>
              <a:ext cx="70643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cost to</a:t>
              </a:r>
            </a:p>
          </p:txBody>
        </p:sp>
        <p:sp>
          <p:nvSpPr>
            <p:cNvPr id="138345" name="Line 210"/>
            <p:cNvSpPr>
              <a:spLocks noChangeShapeType="1"/>
            </p:cNvSpPr>
            <p:nvPr/>
          </p:nvSpPr>
          <p:spPr bwMode="auto">
            <a:xfrm>
              <a:off x="2303295" y="5240867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46" name="Line 211"/>
            <p:cNvSpPr>
              <a:spLocks noChangeShapeType="1"/>
            </p:cNvSpPr>
            <p:nvPr/>
          </p:nvSpPr>
          <p:spPr bwMode="auto">
            <a:xfrm>
              <a:off x="1998495" y="54694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47" name="Text Box 212"/>
            <p:cNvSpPr txBox="1">
              <a:spLocks noChangeArrowheads="1"/>
            </p:cNvSpPr>
            <p:nvPr/>
          </p:nvSpPr>
          <p:spPr bwMode="auto">
            <a:xfrm>
              <a:off x="2303295" y="5083705"/>
              <a:ext cx="908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   y   z</a:t>
              </a:r>
            </a:p>
          </p:txBody>
        </p:sp>
        <p:sp>
          <p:nvSpPr>
            <p:cNvPr id="138348" name="Text Box 213"/>
            <p:cNvSpPr txBox="1">
              <a:spLocks noChangeArrowheads="1"/>
            </p:cNvSpPr>
            <p:nvPr/>
          </p:nvSpPr>
          <p:spPr bwMode="auto">
            <a:xfrm>
              <a:off x="1998495" y="54647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38349" name="Text Box 214"/>
            <p:cNvSpPr txBox="1">
              <a:spLocks noChangeArrowheads="1"/>
            </p:cNvSpPr>
            <p:nvPr/>
          </p:nvSpPr>
          <p:spPr bwMode="auto">
            <a:xfrm>
              <a:off x="1998495" y="57695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38350" name="Text Box 215"/>
            <p:cNvSpPr txBox="1">
              <a:spLocks noChangeArrowheads="1"/>
            </p:cNvSpPr>
            <p:nvPr/>
          </p:nvSpPr>
          <p:spPr bwMode="auto">
            <a:xfrm>
              <a:off x="1998495" y="6074305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38351" name="Text Box 216"/>
            <p:cNvSpPr txBox="1">
              <a:spLocks noChangeArrowheads="1"/>
            </p:cNvSpPr>
            <p:nvPr/>
          </p:nvSpPr>
          <p:spPr bwMode="auto">
            <a:xfrm>
              <a:off x="2303295" y="5850468"/>
              <a:ext cx="990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52" name="Text Box 217"/>
            <p:cNvSpPr txBox="1">
              <a:spLocks noChangeArrowheads="1"/>
            </p:cNvSpPr>
            <p:nvPr/>
          </p:nvSpPr>
          <p:spPr bwMode="auto">
            <a:xfrm>
              <a:off x="2531896" y="58457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∞</a:t>
              </a:r>
            </a:p>
          </p:txBody>
        </p:sp>
        <p:sp>
          <p:nvSpPr>
            <p:cNvPr id="138353" name="Text Box 218"/>
            <p:cNvSpPr txBox="1">
              <a:spLocks noChangeArrowheads="1"/>
            </p:cNvSpPr>
            <p:nvPr/>
          </p:nvSpPr>
          <p:spPr bwMode="auto">
            <a:xfrm>
              <a:off x="2912896" y="5845705"/>
              <a:ext cx="3476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/>
                <a:t>∞</a:t>
              </a:r>
            </a:p>
          </p:txBody>
        </p:sp>
        <p:sp>
          <p:nvSpPr>
            <p:cNvPr id="138354" name="Text Box 219"/>
            <p:cNvSpPr txBox="1">
              <a:spLocks noChangeArrowheads="1"/>
            </p:cNvSpPr>
            <p:nvPr/>
          </p:nvSpPr>
          <p:spPr bwMode="auto">
            <a:xfrm>
              <a:off x="2303295" y="615050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7</a:t>
              </a:r>
            </a:p>
          </p:txBody>
        </p:sp>
        <p:sp>
          <p:nvSpPr>
            <p:cNvPr id="138355" name="Text Box 220"/>
            <p:cNvSpPr txBox="1">
              <a:spLocks noChangeArrowheads="1"/>
            </p:cNvSpPr>
            <p:nvPr/>
          </p:nvSpPr>
          <p:spPr bwMode="auto">
            <a:xfrm>
              <a:off x="2531895" y="615050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1</a:t>
              </a:r>
            </a:p>
          </p:txBody>
        </p:sp>
        <p:sp>
          <p:nvSpPr>
            <p:cNvPr id="138356" name="Text Box 221"/>
            <p:cNvSpPr txBox="1">
              <a:spLocks noChangeArrowheads="1"/>
            </p:cNvSpPr>
            <p:nvPr/>
          </p:nvSpPr>
          <p:spPr bwMode="auto">
            <a:xfrm>
              <a:off x="2912895" y="615050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0</a:t>
              </a:r>
            </a:p>
          </p:txBody>
        </p:sp>
        <p:sp>
          <p:nvSpPr>
            <p:cNvPr id="138357" name="Text Box 222"/>
            <p:cNvSpPr txBox="1">
              <a:spLocks noChangeArrowheads="1"/>
            </p:cNvSpPr>
            <p:nvPr/>
          </p:nvSpPr>
          <p:spPr bwMode="auto">
            <a:xfrm>
              <a:off x="2447759" y="4951942"/>
              <a:ext cx="70643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cost to</a:t>
              </a:r>
            </a:p>
          </p:txBody>
        </p:sp>
        <p:sp>
          <p:nvSpPr>
            <p:cNvPr id="138358" name="Text Box 223"/>
            <p:cNvSpPr txBox="1">
              <a:spLocks noChangeArrowheads="1"/>
            </p:cNvSpPr>
            <p:nvPr/>
          </p:nvSpPr>
          <p:spPr bwMode="auto">
            <a:xfrm>
              <a:off x="2303295" y="3636434"/>
              <a:ext cx="9461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/>
                <a:t>∞</a:t>
              </a:r>
            </a:p>
            <a:p>
              <a:r>
                <a:rPr lang="en-US" sz="1800" dirty="0"/>
                <a:t>2   0   1</a:t>
              </a:r>
            </a:p>
          </p:txBody>
        </p:sp>
        <p:sp>
          <p:nvSpPr>
            <p:cNvPr id="138359" name="Text Box 224"/>
            <p:cNvSpPr txBox="1">
              <a:spLocks noChangeArrowheads="1"/>
            </p:cNvSpPr>
            <p:nvPr/>
          </p:nvSpPr>
          <p:spPr bwMode="auto">
            <a:xfrm>
              <a:off x="2303295" y="5469468"/>
              <a:ext cx="990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/>
                <a:t>∞ ∞   ∞</a:t>
              </a:r>
            </a:p>
          </p:txBody>
        </p:sp>
        <p:sp>
          <p:nvSpPr>
            <p:cNvPr id="138360" name="Text Box 225"/>
            <p:cNvSpPr txBox="1">
              <a:spLocks noChangeArrowheads="1"/>
            </p:cNvSpPr>
            <p:nvPr/>
          </p:nvSpPr>
          <p:spPr bwMode="auto">
            <a:xfrm>
              <a:off x="4344820" y="2218268"/>
              <a:ext cx="946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2   0   1</a:t>
              </a:r>
            </a:p>
          </p:txBody>
        </p:sp>
        <p:sp>
          <p:nvSpPr>
            <p:cNvPr id="138361" name="Text Box 226"/>
            <p:cNvSpPr txBox="1">
              <a:spLocks noChangeArrowheads="1"/>
            </p:cNvSpPr>
            <p:nvPr/>
          </p:nvSpPr>
          <p:spPr bwMode="auto">
            <a:xfrm>
              <a:off x="4344820" y="2534180"/>
              <a:ext cx="946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7   1   0</a:t>
              </a:r>
            </a:p>
          </p:txBody>
        </p:sp>
        <p:sp>
          <p:nvSpPr>
            <p:cNvPr id="138362" name="Line 227"/>
            <p:cNvSpPr>
              <a:spLocks noChangeShapeType="1"/>
            </p:cNvSpPr>
            <p:nvPr/>
          </p:nvSpPr>
          <p:spPr bwMode="auto">
            <a:xfrm>
              <a:off x="3293895" y="2192867"/>
              <a:ext cx="685800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63" name="Line 228"/>
            <p:cNvSpPr>
              <a:spLocks noChangeShapeType="1"/>
            </p:cNvSpPr>
            <p:nvPr/>
          </p:nvSpPr>
          <p:spPr bwMode="auto">
            <a:xfrm>
              <a:off x="3217695" y="2269067"/>
              <a:ext cx="685800" cy="3124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64" name="Line 229"/>
            <p:cNvSpPr>
              <a:spLocks noChangeShapeType="1"/>
            </p:cNvSpPr>
            <p:nvPr/>
          </p:nvSpPr>
          <p:spPr bwMode="auto">
            <a:xfrm flipV="1">
              <a:off x="3217695" y="2726267"/>
              <a:ext cx="7620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65" name="Line 230"/>
            <p:cNvSpPr>
              <a:spLocks noChangeShapeType="1"/>
            </p:cNvSpPr>
            <p:nvPr/>
          </p:nvSpPr>
          <p:spPr bwMode="auto">
            <a:xfrm>
              <a:off x="3217695" y="4326467"/>
              <a:ext cx="6096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66" name="Line 231"/>
            <p:cNvSpPr>
              <a:spLocks noChangeShapeType="1"/>
            </p:cNvSpPr>
            <p:nvPr/>
          </p:nvSpPr>
          <p:spPr bwMode="auto">
            <a:xfrm flipV="1">
              <a:off x="3217695" y="2802467"/>
              <a:ext cx="838200" cy="3429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67" name="Line 232"/>
            <p:cNvSpPr>
              <a:spLocks noChangeShapeType="1"/>
            </p:cNvSpPr>
            <p:nvPr/>
          </p:nvSpPr>
          <p:spPr bwMode="auto">
            <a:xfrm flipV="1">
              <a:off x="3293895" y="4555067"/>
              <a:ext cx="762000" cy="1752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68" name="Line 233"/>
            <p:cNvSpPr>
              <a:spLocks noChangeShapeType="1"/>
            </p:cNvSpPr>
            <p:nvPr/>
          </p:nvSpPr>
          <p:spPr bwMode="auto">
            <a:xfrm>
              <a:off x="1693695" y="6556905"/>
              <a:ext cx="541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69" name="Text Box 234"/>
            <p:cNvSpPr txBox="1">
              <a:spLocks noChangeArrowheads="1"/>
            </p:cNvSpPr>
            <p:nvPr/>
          </p:nvSpPr>
          <p:spPr bwMode="auto">
            <a:xfrm>
              <a:off x="7153108" y="6348943"/>
              <a:ext cx="6159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time</a:t>
              </a:r>
            </a:p>
          </p:txBody>
        </p:sp>
        <p:sp>
          <p:nvSpPr>
            <p:cNvPr id="138371" name="Text Box 270"/>
            <p:cNvSpPr txBox="1">
              <a:spLocks noChangeArrowheads="1"/>
            </p:cNvSpPr>
            <p:nvPr/>
          </p:nvSpPr>
          <p:spPr bwMode="auto">
            <a:xfrm>
              <a:off x="544821" y="1316567"/>
              <a:ext cx="1723549" cy="56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eaLnBrk="1" hangingPunct="1">
                <a:lnSpc>
                  <a:spcPct val="85000"/>
                </a:lnSpc>
              </a:pPr>
              <a:r>
                <a:rPr lang="en-US" sz="1800" b="1" dirty="0">
                  <a:solidFill>
                    <a:srgbClr val="CC0000"/>
                  </a:solidFill>
                </a:rPr>
                <a:t>node x</a:t>
              </a:r>
            </a:p>
            <a:p>
              <a:pPr algn="r" eaLnBrk="1" hangingPunct="1">
                <a:lnSpc>
                  <a:spcPct val="85000"/>
                </a:lnSpc>
              </a:pPr>
              <a:r>
                <a:rPr lang="en-US" altLang="zh-CN" sz="1800" b="1" dirty="0">
                  <a:solidFill>
                    <a:srgbClr val="CC0000"/>
                  </a:solidFill>
                </a:rPr>
                <a:t>distance </a:t>
              </a:r>
              <a:r>
                <a:rPr lang="en-US" sz="1800" b="1" dirty="0">
                  <a:solidFill>
                    <a:srgbClr val="CC0000"/>
                  </a:solidFill>
                </a:rPr>
                <a:t>table</a:t>
              </a:r>
            </a:p>
          </p:txBody>
        </p:sp>
        <p:sp>
          <p:nvSpPr>
            <p:cNvPr id="138372" name="Oval 271"/>
            <p:cNvSpPr>
              <a:spLocks noChangeArrowheads="1"/>
            </p:cNvSpPr>
            <p:nvPr/>
          </p:nvSpPr>
          <p:spPr bwMode="auto">
            <a:xfrm>
              <a:off x="2303295" y="1888067"/>
              <a:ext cx="1066800" cy="3810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373" name="Oval 272"/>
            <p:cNvSpPr>
              <a:spLocks noChangeArrowheads="1"/>
            </p:cNvSpPr>
            <p:nvPr/>
          </p:nvSpPr>
          <p:spPr bwMode="auto">
            <a:xfrm>
              <a:off x="2303295" y="3928533"/>
              <a:ext cx="1066800" cy="3810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8374" name="Oval 273"/>
            <p:cNvSpPr>
              <a:spLocks noChangeArrowheads="1"/>
            </p:cNvSpPr>
            <p:nvPr/>
          </p:nvSpPr>
          <p:spPr bwMode="auto">
            <a:xfrm>
              <a:off x="2303295" y="6155267"/>
              <a:ext cx="1066800" cy="3810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375" name="Oval 274"/>
            <p:cNvSpPr>
              <a:spLocks noChangeArrowheads="1"/>
            </p:cNvSpPr>
            <p:nvPr/>
          </p:nvSpPr>
          <p:spPr bwMode="auto">
            <a:xfrm>
              <a:off x="4381333" y="1888067"/>
              <a:ext cx="1066800" cy="3810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376" name="Rectangle 275"/>
            <p:cNvSpPr>
              <a:spLocks noChangeArrowheads="1"/>
            </p:cNvSpPr>
            <p:nvPr/>
          </p:nvSpPr>
          <p:spPr bwMode="auto">
            <a:xfrm>
              <a:off x="2706169" y="320303"/>
              <a:ext cx="3863558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just"/>
              <a:r>
                <a:rPr lang="fr-FR" dirty="0" err="1">
                  <a:solidFill>
                    <a:srgbClr val="000000"/>
                  </a:solidFill>
                  <a:cs typeface="Times New Roman" charset="0"/>
                </a:rPr>
                <a:t>D</a:t>
              </a:r>
              <a:r>
                <a:rPr lang="fr-FR" baseline="-25000" dirty="0" err="1">
                  <a:solidFill>
                    <a:srgbClr val="000000"/>
                  </a:solidFill>
                  <a:cs typeface="Times New Roman" charset="0"/>
                </a:rPr>
                <a:t>x</a:t>
              </a:r>
              <a:r>
                <a:rPr lang="fr-FR" dirty="0">
                  <a:solidFill>
                    <a:srgbClr val="000000"/>
                  </a:solidFill>
                  <a:cs typeface="Times New Roman" charset="0"/>
                </a:rPr>
                <a:t>(y) = min{c(</a:t>
              </a:r>
              <a:r>
                <a:rPr lang="fr-FR" dirty="0" err="1">
                  <a:solidFill>
                    <a:srgbClr val="000000"/>
                  </a:solidFill>
                  <a:cs typeface="Times New Roman" charset="0"/>
                </a:rPr>
                <a:t>x,y</a:t>
              </a:r>
              <a:r>
                <a:rPr lang="fr-FR" dirty="0">
                  <a:solidFill>
                    <a:srgbClr val="000000"/>
                  </a:solidFill>
                  <a:cs typeface="Times New Roman" charset="0"/>
                </a:rPr>
                <a:t>) + D</a:t>
              </a:r>
              <a:r>
                <a:rPr lang="fr-FR" baseline="-25000" dirty="0">
                  <a:solidFill>
                    <a:srgbClr val="000000"/>
                  </a:solidFill>
                  <a:cs typeface="Times New Roman" charset="0"/>
                </a:rPr>
                <a:t>y</a:t>
              </a:r>
              <a:r>
                <a:rPr lang="fr-FR" dirty="0">
                  <a:solidFill>
                    <a:srgbClr val="000000"/>
                  </a:solidFill>
                  <a:cs typeface="Times New Roman" charset="0"/>
                </a:rPr>
                <a:t>(y), c(</a:t>
              </a:r>
              <a:r>
                <a:rPr lang="fr-FR" dirty="0" err="1">
                  <a:solidFill>
                    <a:srgbClr val="000000"/>
                  </a:solidFill>
                  <a:cs typeface="Times New Roman" charset="0"/>
                </a:rPr>
                <a:t>x,z</a:t>
              </a:r>
              <a:r>
                <a:rPr lang="fr-FR" dirty="0">
                  <a:solidFill>
                    <a:srgbClr val="000000"/>
                  </a:solidFill>
                  <a:cs typeface="Times New Roman" charset="0"/>
                </a:rPr>
                <a:t>) + D</a:t>
              </a:r>
              <a:r>
                <a:rPr lang="fr-FR" baseline="-25000" dirty="0">
                  <a:solidFill>
                    <a:srgbClr val="000000"/>
                  </a:solidFill>
                  <a:cs typeface="Times New Roman" charset="0"/>
                </a:rPr>
                <a:t>z</a:t>
              </a:r>
              <a:r>
                <a:rPr lang="fr-FR" dirty="0">
                  <a:solidFill>
                    <a:srgbClr val="000000"/>
                  </a:solidFill>
                  <a:cs typeface="Times New Roman" charset="0"/>
                </a:rPr>
                <a:t>(y)} </a:t>
              </a:r>
              <a:br>
                <a:rPr lang="fr-FR" dirty="0">
                  <a:solidFill>
                    <a:srgbClr val="000000"/>
                  </a:solidFill>
                  <a:cs typeface="Times New Roman" charset="0"/>
                </a:rPr>
              </a:br>
              <a:r>
                <a:rPr lang="fr-FR" dirty="0">
                  <a:solidFill>
                    <a:srgbClr val="000000"/>
                  </a:solidFill>
                  <a:cs typeface="Times New Roman" charset="0"/>
                </a:rPr>
                <a:t>             = min{2+0 , 7+1} = 2</a:t>
              </a:r>
            </a:p>
          </p:txBody>
        </p:sp>
        <p:sp>
          <p:nvSpPr>
            <p:cNvPr id="138377" name="Line 276"/>
            <p:cNvSpPr>
              <a:spLocks noChangeShapeType="1"/>
            </p:cNvSpPr>
            <p:nvPr/>
          </p:nvSpPr>
          <p:spPr bwMode="auto">
            <a:xfrm flipH="1">
              <a:off x="4844884" y="831582"/>
              <a:ext cx="624174" cy="115649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78" name="Rectangle 277"/>
            <p:cNvSpPr>
              <a:spLocks noChangeArrowheads="1"/>
            </p:cNvSpPr>
            <p:nvPr/>
          </p:nvSpPr>
          <p:spPr bwMode="auto">
            <a:xfrm>
              <a:off x="6691917" y="247909"/>
              <a:ext cx="2324675" cy="1067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fr-FR" i="1" dirty="0" err="1"/>
                <a:t>D</a:t>
              </a:r>
              <a:r>
                <a:rPr lang="fr-FR" i="1" baseline="-25000" dirty="0" err="1"/>
                <a:t>x</a:t>
              </a:r>
              <a:r>
                <a:rPr lang="fr-FR" i="1" dirty="0"/>
                <a:t>(z) = </a:t>
              </a:r>
              <a:r>
                <a:rPr lang="fr-FR" dirty="0"/>
                <a:t>min{</a:t>
              </a:r>
              <a:r>
                <a:rPr lang="fr-FR" i="1" dirty="0"/>
                <a:t>c(</a:t>
              </a:r>
              <a:r>
                <a:rPr lang="fr-FR" i="1" dirty="0" err="1"/>
                <a:t>x,y</a:t>
              </a:r>
              <a:r>
                <a:rPr lang="fr-FR" i="1" dirty="0"/>
                <a:t>) + </a:t>
              </a:r>
              <a:br>
                <a:rPr lang="fr-FR" i="1" dirty="0"/>
              </a:br>
              <a:r>
                <a:rPr lang="fr-FR" i="1" dirty="0"/>
                <a:t>      D</a:t>
              </a:r>
              <a:r>
                <a:rPr lang="fr-FR" i="1" baseline="-25000" dirty="0"/>
                <a:t>y</a:t>
              </a:r>
              <a:r>
                <a:rPr lang="fr-FR" i="1" dirty="0"/>
                <a:t>(z), c(</a:t>
              </a:r>
              <a:r>
                <a:rPr lang="fr-FR" i="1" dirty="0" err="1"/>
                <a:t>x,z</a:t>
              </a:r>
              <a:r>
                <a:rPr lang="fr-FR" i="1" dirty="0"/>
                <a:t>) + D</a:t>
              </a:r>
              <a:r>
                <a:rPr lang="fr-FR" i="1" baseline="-25000" dirty="0"/>
                <a:t>z</a:t>
              </a:r>
              <a:r>
                <a:rPr lang="fr-FR" i="1" dirty="0"/>
                <a:t>(z)</a:t>
              </a:r>
              <a:r>
                <a:rPr lang="fr-FR" dirty="0"/>
                <a:t>} </a:t>
              </a:r>
            </a:p>
            <a:p>
              <a:pPr algn="just">
                <a:lnSpc>
                  <a:spcPct val="120000"/>
                </a:lnSpc>
              </a:pPr>
              <a:r>
                <a:rPr lang="fr-FR" dirty="0"/>
                <a:t>= min{2+1 , 7+0} = 3</a:t>
              </a:r>
            </a:p>
          </p:txBody>
        </p:sp>
        <p:sp>
          <p:nvSpPr>
            <p:cNvPr id="138379" name="Line 278"/>
            <p:cNvSpPr>
              <a:spLocks noChangeShapeType="1"/>
            </p:cNvSpPr>
            <p:nvPr/>
          </p:nvSpPr>
          <p:spPr bwMode="auto">
            <a:xfrm flipH="1">
              <a:off x="5263984" y="763849"/>
              <a:ext cx="1602074" cy="126391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8380" name="Text Box 279"/>
            <p:cNvSpPr txBox="1">
              <a:spLocks noChangeArrowheads="1"/>
            </p:cNvSpPr>
            <p:nvPr/>
          </p:nvSpPr>
          <p:spPr bwMode="auto">
            <a:xfrm>
              <a:off x="5006808" y="188648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3</a:t>
              </a:r>
            </a:p>
          </p:txBody>
        </p:sp>
        <p:sp>
          <p:nvSpPr>
            <p:cNvPr id="138381" name="Text Box 280"/>
            <p:cNvSpPr txBox="1">
              <a:spLocks noChangeArrowheads="1"/>
            </p:cNvSpPr>
            <p:nvPr/>
          </p:nvSpPr>
          <p:spPr bwMode="auto">
            <a:xfrm>
              <a:off x="4663908" y="1891243"/>
              <a:ext cx="3429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2 </a:t>
              </a:r>
            </a:p>
          </p:txBody>
        </p:sp>
        <p:sp>
          <p:nvSpPr>
            <p:cNvPr id="138382" name="Text Box 281"/>
            <p:cNvSpPr txBox="1">
              <a:spLocks noChangeArrowheads="1"/>
            </p:cNvSpPr>
            <p:nvPr/>
          </p:nvSpPr>
          <p:spPr bwMode="auto">
            <a:xfrm>
              <a:off x="573396" y="3062817"/>
              <a:ext cx="1723549" cy="56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eaLnBrk="1" hangingPunct="1">
                <a:lnSpc>
                  <a:spcPct val="85000"/>
                </a:lnSpc>
              </a:pPr>
              <a:r>
                <a:rPr lang="en-US" sz="1800" b="1" dirty="0">
                  <a:solidFill>
                    <a:srgbClr val="CC0000"/>
                  </a:solidFill>
                </a:rPr>
                <a:t>node y</a:t>
              </a:r>
            </a:p>
            <a:p>
              <a:pPr algn="r" eaLnBrk="1" hangingPunct="1">
                <a:lnSpc>
                  <a:spcPct val="85000"/>
                </a:lnSpc>
              </a:pPr>
              <a:r>
                <a:rPr lang="en-US" sz="1800" b="1" dirty="0">
                  <a:solidFill>
                    <a:srgbClr val="CC0000"/>
                  </a:solidFill>
                </a:rPr>
                <a:t>distance table</a:t>
              </a:r>
            </a:p>
          </p:txBody>
        </p:sp>
        <p:sp>
          <p:nvSpPr>
            <p:cNvPr id="138383" name="Text Box 282"/>
            <p:cNvSpPr txBox="1">
              <a:spLocks noChangeArrowheads="1"/>
            </p:cNvSpPr>
            <p:nvPr/>
          </p:nvSpPr>
          <p:spPr bwMode="auto">
            <a:xfrm>
              <a:off x="579746" y="4910667"/>
              <a:ext cx="1723549" cy="56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eaLnBrk="1" hangingPunct="1">
                <a:lnSpc>
                  <a:spcPct val="85000"/>
                </a:lnSpc>
              </a:pPr>
              <a:r>
                <a:rPr lang="en-US" sz="1800" b="1" dirty="0">
                  <a:solidFill>
                    <a:srgbClr val="CC0000"/>
                  </a:solidFill>
                </a:rPr>
                <a:t>node z</a:t>
              </a:r>
            </a:p>
            <a:p>
              <a:pPr algn="r" eaLnBrk="1" hangingPunct="1">
                <a:lnSpc>
                  <a:spcPct val="85000"/>
                </a:lnSpc>
              </a:pPr>
              <a:r>
                <a:rPr lang="en-US" sz="1800" b="1" dirty="0">
                  <a:solidFill>
                    <a:srgbClr val="CC0000"/>
                  </a:solidFill>
                </a:rPr>
                <a:t>distance table</a:t>
              </a:r>
            </a:p>
          </p:txBody>
        </p:sp>
        <p:sp>
          <p:nvSpPr>
            <p:cNvPr id="138384" name="Text Box 283"/>
            <p:cNvSpPr txBox="1">
              <a:spLocks noChangeArrowheads="1"/>
            </p:cNvSpPr>
            <p:nvPr/>
          </p:nvSpPr>
          <p:spPr bwMode="auto">
            <a:xfrm>
              <a:off x="4497220" y="1354667"/>
              <a:ext cx="7064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cost to</a:t>
              </a:r>
            </a:p>
          </p:txBody>
        </p:sp>
        <p:sp>
          <p:nvSpPr>
            <p:cNvPr id="138385" name="Text Box 284"/>
            <p:cNvSpPr txBox="1">
              <a:spLocks noChangeArrowheads="1"/>
            </p:cNvSpPr>
            <p:nvPr/>
          </p:nvSpPr>
          <p:spPr bwMode="auto">
            <a:xfrm rot="-5400000">
              <a:off x="1645277" y="2279386"/>
              <a:ext cx="5381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from</a:t>
              </a:r>
            </a:p>
          </p:txBody>
        </p:sp>
      </p:grpSp>
      <p:grpSp>
        <p:nvGrpSpPr>
          <p:cNvPr id="38" name="Group 235">
            <a:extLst>
              <a:ext uri="{FF2B5EF4-FFF2-40B4-BE49-F238E27FC236}">
                <a16:creationId xmlns:a16="http://schemas.microsoft.com/office/drawing/2014/main" id="{D37293EB-4419-D994-FC02-B4E021BF749C}"/>
              </a:ext>
            </a:extLst>
          </p:cNvPr>
          <p:cNvGrpSpPr>
            <a:grpSpLocks/>
          </p:cNvGrpSpPr>
          <p:nvPr/>
        </p:nvGrpSpPr>
        <p:grpSpPr bwMode="auto">
          <a:xfrm>
            <a:off x="10007601" y="2216150"/>
            <a:ext cx="2184400" cy="1212850"/>
            <a:chOff x="2352" y="0"/>
            <a:chExt cx="1376" cy="764"/>
          </a:xfrm>
        </p:grpSpPr>
        <p:sp>
          <p:nvSpPr>
            <p:cNvPr id="39" name="Freeform 236">
              <a:extLst>
                <a:ext uri="{FF2B5EF4-FFF2-40B4-BE49-F238E27FC236}">
                  <a16:creationId xmlns:a16="http://schemas.microsoft.com/office/drawing/2014/main" id="{F701FE07-882B-F9A1-28DA-EF301AC2C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2" y="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0" name="Group 237">
              <a:extLst>
                <a:ext uri="{FF2B5EF4-FFF2-40B4-BE49-F238E27FC236}">
                  <a16:creationId xmlns:a16="http://schemas.microsoft.com/office/drawing/2014/main" id="{E23AA2B9-D76F-1122-BE93-F6A0B9B287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41" name="Freeform 238">
                <a:extLst>
                  <a:ext uri="{FF2B5EF4-FFF2-40B4-BE49-F238E27FC236}">
                    <a16:creationId xmlns:a16="http://schemas.microsoft.com/office/drawing/2014/main" id="{9D200D74-5356-A3AA-00CC-2E00A82B0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" y="147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  <a:gd name="T4" fmla="*/ 0 60000 65536"/>
                  <a:gd name="T5" fmla="*/ 0 60000 65536"/>
                  <a:gd name="T6" fmla="*/ 0 w 222"/>
                  <a:gd name="T7" fmla="*/ 0 h 180"/>
                  <a:gd name="T8" fmla="*/ 222 w 222"/>
                  <a:gd name="T9" fmla="*/ 180 h 1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" name="Oval 239">
                <a:extLst>
                  <a:ext uri="{FF2B5EF4-FFF2-40B4-BE49-F238E27FC236}">
                    <a16:creationId xmlns:a16="http://schemas.microsoft.com/office/drawing/2014/main" id="{9BBADD54-15D5-2599-791E-DE89969A3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" name="Line 240">
                <a:extLst>
                  <a:ext uri="{FF2B5EF4-FFF2-40B4-BE49-F238E27FC236}">
                    <a16:creationId xmlns:a16="http://schemas.microsoft.com/office/drawing/2014/main" id="{11366405-246A-F6C3-9152-9505C22877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4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4" name="Line 241">
                <a:extLst>
                  <a:ext uri="{FF2B5EF4-FFF2-40B4-BE49-F238E27FC236}">
                    <a16:creationId xmlns:a16="http://schemas.microsoft.com/office/drawing/2014/main" id="{BAFE613C-ABDA-BEA5-6B31-C4FCF7FE7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5" name="Rectangle 242">
                <a:extLst>
                  <a:ext uri="{FF2B5EF4-FFF2-40B4-BE49-F238E27FC236}">
                    <a16:creationId xmlns:a16="http://schemas.microsoft.com/office/drawing/2014/main" id="{8830334C-2AD0-1196-F0D1-92BD98C25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" name="Oval 243">
                <a:extLst>
                  <a:ext uri="{FF2B5EF4-FFF2-40B4-BE49-F238E27FC236}">
                    <a16:creationId xmlns:a16="http://schemas.microsoft.com/office/drawing/2014/main" id="{1E719C4F-CEE8-6B4C-B70B-3C3E55A58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" name="Freeform 244">
                <a:extLst>
                  <a:ext uri="{FF2B5EF4-FFF2-40B4-BE49-F238E27FC236}">
                    <a16:creationId xmlns:a16="http://schemas.microsoft.com/office/drawing/2014/main" id="{F4205B36-4FE5-761D-690A-6A02BDDEA5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" y="147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  <a:gd name="T4" fmla="*/ 0 60000 65536"/>
                  <a:gd name="T5" fmla="*/ 0 60000 65536"/>
                  <a:gd name="T6" fmla="*/ 0 w 216"/>
                  <a:gd name="T7" fmla="*/ 0 h 189"/>
                  <a:gd name="T8" fmla="*/ 216 w 216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8" name="Freeform 245">
                <a:extLst>
                  <a:ext uri="{FF2B5EF4-FFF2-40B4-BE49-F238E27FC236}">
                    <a16:creationId xmlns:a16="http://schemas.microsoft.com/office/drawing/2014/main" id="{85ABC021-51B1-7AD7-D7DC-9D9AAA26E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" y="174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  <a:gd name="T4" fmla="*/ 0 60000 65536"/>
                  <a:gd name="T5" fmla="*/ 0 60000 65536"/>
                  <a:gd name="T6" fmla="*/ 0 w 540"/>
                  <a:gd name="T7" fmla="*/ 0 h 3"/>
                  <a:gd name="T8" fmla="*/ 540 w 540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9" name="Group 246">
                <a:extLst>
                  <a:ext uri="{FF2B5EF4-FFF2-40B4-BE49-F238E27FC236}">
                    <a16:creationId xmlns:a16="http://schemas.microsoft.com/office/drawing/2014/main" id="{32E42E3B-62E7-041F-0193-51500B30C1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35" name="Rectangle 247">
                  <a:extLst>
                    <a:ext uri="{FF2B5EF4-FFF2-40B4-BE49-F238E27FC236}">
                      <a16:creationId xmlns:a16="http://schemas.microsoft.com/office/drawing/2014/main" id="{5CCE4203-8C46-8FA5-18B6-9BBA15BF96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" name="Text Box 248">
                  <a:extLst>
                    <a:ext uri="{FF2B5EF4-FFF2-40B4-BE49-F238E27FC236}">
                      <a16:creationId xmlns:a16="http://schemas.microsoft.com/office/drawing/2014/main" id="{EA7064D5-1DF7-3071-B832-58A63A89B0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x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0" name="Group 249">
                <a:extLst>
                  <a:ext uri="{FF2B5EF4-FFF2-40B4-BE49-F238E27FC236}">
                    <a16:creationId xmlns:a16="http://schemas.microsoft.com/office/drawing/2014/main" id="{D002ADA9-D118-F1C6-6B71-99AC965F8A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63" name="Oval 250">
                  <a:extLst>
                    <a:ext uri="{FF2B5EF4-FFF2-40B4-BE49-F238E27FC236}">
                      <a16:creationId xmlns:a16="http://schemas.microsoft.com/office/drawing/2014/main" id="{BDB6929B-CE14-AEE4-4230-C387AD0001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8" name="Line 251">
                  <a:extLst>
                    <a:ext uri="{FF2B5EF4-FFF2-40B4-BE49-F238E27FC236}">
                      <a16:creationId xmlns:a16="http://schemas.microsoft.com/office/drawing/2014/main" id="{BDC94DD6-0747-EB15-9982-743A10266E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29" name="Line 252">
                  <a:extLst>
                    <a:ext uri="{FF2B5EF4-FFF2-40B4-BE49-F238E27FC236}">
                      <a16:creationId xmlns:a16="http://schemas.microsoft.com/office/drawing/2014/main" id="{BB6DE6CD-5471-69DF-62D6-3F4EDEADDC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0" name="Rectangle 253">
                  <a:extLst>
                    <a:ext uri="{FF2B5EF4-FFF2-40B4-BE49-F238E27FC236}">
                      <a16:creationId xmlns:a16="http://schemas.microsoft.com/office/drawing/2014/main" id="{C3F6AF45-FAAC-3E20-508F-6A2B5CD47A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1" name="Oval 254">
                  <a:extLst>
                    <a:ext uri="{FF2B5EF4-FFF2-40B4-BE49-F238E27FC236}">
                      <a16:creationId xmlns:a16="http://schemas.microsoft.com/office/drawing/2014/main" id="{8DF2A522-F3B6-33BE-CB64-278DA7C8BD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132" name="Group 255">
                  <a:extLst>
                    <a:ext uri="{FF2B5EF4-FFF2-40B4-BE49-F238E27FC236}">
                      <a16:creationId xmlns:a16="http://schemas.microsoft.com/office/drawing/2014/main" id="{52A0D716-30A2-EB76-11F2-092039FFE4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33" name="Rectangle 256">
                    <a:extLst>
                      <a:ext uri="{FF2B5EF4-FFF2-40B4-BE49-F238E27FC236}">
                        <a16:creationId xmlns:a16="http://schemas.microsoft.com/office/drawing/2014/main" id="{E2C66A83-7FA4-BD8F-945C-54B5BDB6FD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4" name="Text Box 257">
                    <a:extLst>
                      <a:ext uri="{FF2B5EF4-FFF2-40B4-BE49-F238E27FC236}">
                        <a16:creationId xmlns:a16="http://schemas.microsoft.com/office/drawing/2014/main" id="{8C5678E8-8B1E-4927-ED90-112E658C44C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z</a:t>
                    </a:r>
                  </a:p>
                </p:txBody>
              </p:sp>
            </p:grpSp>
          </p:grpSp>
          <p:sp>
            <p:nvSpPr>
              <p:cNvPr id="51" name="Text Box 258">
                <a:extLst>
                  <a:ext uri="{FF2B5EF4-FFF2-40B4-BE49-F238E27FC236}">
                    <a16:creationId xmlns:a16="http://schemas.microsoft.com/office/drawing/2014/main" id="{F959DE1F-BE70-F9B1-BA1B-9AE50466D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</a:t>
                </a: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2" name="Text Box 259">
                <a:extLst>
                  <a:ext uri="{FF2B5EF4-FFF2-40B4-BE49-F238E27FC236}">
                    <a16:creationId xmlns:a16="http://schemas.microsoft.com/office/drawing/2014/main" id="{6E8E49BD-50BB-3612-766C-D8669B4111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2</a:t>
                </a: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" name="Text Box 260">
                <a:extLst>
                  <a:ext uri="{FF2B5EF4-FFF2-40B4-BE49-F238E27FC236}">
                    <a16:creationId xmlns:a16="http://schemas.microsoft.com/office/drawing/2014/main" id="{30A342C9-78EE-7F24-A204-E89FE6FB2B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7</a:t>
                </a: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54" name="Group 261">
                <a:extLst>
                  <a:ext uri="{FF2B5EF4-FFF2-40B4-BE49-F238E27FC236}">
                    <a16:creationId xmlns:a16="http://schemas.microsoft.com/office/drawing/2014/main" id="{801C1387-63CF-0115-8A04-B6926B8D81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55" name="Oval 262">
                  <a:extLst>
                    <a:ext uri="{FF2B5EF4-FFF2-40B4-BE49-F238E27FC236}">
                      <a16:creationId xmlns:a16="http://schemas.microsoft.com/office/drawing/2014/main" id="{3ABEB69C-AD37-17D7-8C46-AA25605C1A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6" name="Line 263">
                  <a:extLst>
                    <a:ext uri="{FF2B5EF4-FFF2-40B4-BE49-F238E27FC236}">
                      <a16:creationId xmlns:a16="http://schemas.microsoft.com/office/drawing/2014/main" id="{3A128A6E-2F0A-DBFE-D5A8-7DD1F026D6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" name="Line 264">
                  <a:extLst>
                    <a:ext uri="{FF2B5EF4-FFF2-40B4-BE49-F238E27FC236}">
                      <a16:creationId xmlns:a16="http://schemas.microsoft.com/office/drawing/2014/main" id="{44C59DD4-68AA-8B01-AAFB-ABB26B2AF7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8" name="Rectangle 265">
                  <a:extLst>
                    <a:ext uri="{FF2B5EF4-FFF2-40B4-BE49-F238E27FC236}">
                      <a16:creationId xmlns:a16="http://schemas.microsoft.com/office/drawing/2014/main" id="{09FA61AC-EC95-943A-E666-2F3EC56C6C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9" name="Oval 266">
                  <a:extLst>
                    <a:ext uri="{FF2B5EF4-FFF2-40B4-BE49-F238E27FC236}">
                      <a16:creationId xmlns:a16="http://schemas.microsoft.com/office/drawing/2014/main" id="{EFF80DE1-A459-5FE1-7E9D-C2AF7F27AB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60" name="Group 267">
                  <a:extLst>
                    <a:ext uri="{FF2B5EF4-FFF2-40B4-BE49-F238E27FC236}">
                      <a16:creationId xmlns:a16="http://schemas.microsoft.com/office/drawing/2014/main" id="{5F59241F-0E99-2495-E81A-08C72F20AB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61" name="Rectangle 268">
                    <a:extLst>
                      <a:ext uri="{FF2B5EF4-FFF2-40B4-BE49-F238E27FC236}">
                        <a16:creationId xmlns:a16="http://schemas.microsoft.com/office/drawing/2014/main" id="{596B8D37-995F-E4F8-1E0E-742C333E04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" name="Text Box 269">
                    <a:extLst>
                      <a:ext uri="{FF2B5EF4-FFF2-40B4-BE49-F238E27FC236}">
                        <a16:creationId xmlns:a16="http://schemas.microsoft.com/office/drawing/2014/main" id="{9D7EE458-C233-0F16-0C3B-AD6B7E9E3D4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y</a:t>
                    </a:r>
                    <a:endParaRPr kumimoji="0" 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</p:grpSp>
      <p:sp>
        <p:nvSpPr>
          <p:cNvPr id="137" name="内容占位符 2">
            <a:extLst>
              <a:ext uri="{FF2B5EF4-FFF2-40B4-BE49-F238E27FC236}">
                <a16:creationId xmlns:a16="http://schemas.microsoft.com/office/drawing/2014/main" id="{53952520-FDD3-F56E-6DAA-E1C003E0F0A2}"/>
              </a:ext>
            </a:extLst>
          </p:cNvPr>
          <p:cNvSpPr txBox="1">
            <a:spLocks/>
          </p:cNvSpPr>
          <p:nvPr/>
        </p:nvSpPr>
        <p:spPr>
          <a:xfrm>
            <a:off x="163513" y="254528"/>
            <a:ext cx="3130020" cy="3445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accent4"/>
                </a:solidFill>
              </a:rPr>
              <a:t>距离表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zh-CN" altLang="en-US" dirty="0"/>
              <a:t>保存自己以及邻居的距离向量</a:t>
            </a:r>
            <a:endParaRPr lang="en-US" altLang="zh-CN" dirty="0"/>
          </a:p>
          <a:p>
            <a:r>
              <a:rPr lang="zh-CN" altLang="en-US" dirty="0"/>
              <a:t>对应图中的各行</a:t>
            </a:r>
            <a:endParaRPr lang="en-US" altLang="zh-CN" dirty="0"/>
          </a:p>
          <a:p>
            <a:r>
              <a:rPr lang="zh-CN" altLang="en-US" dirty="0"/>
              <a:t>红色圆圈圈出了</a:t>
            </a:r>
            <a:r>
              <a:rPr lang="zh-CN" altLang="en-US" b="1" dirty="0">
                <a:solidFill>
                  <a:schemeClr val="accent4"/>
                </a:solidFill>
              </a:rPr>
              <a:t>节点的距离向量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zh-CN" altLang="en-US" dirty="0"/>
              <a:t>初始的距离向量根据其与邻居的链路花费计算</a:t>
            </a:r>
            <a:endParaRPr lang="en-US" altLang="zh-CN" dirty="0"/>
          </a:p>
        </p:txBody>
      </p:sp>
      <p:sp>
        <p:nvSpPr>
          <p:cNvPr id="138" name="内容占位符 2">
            <a:extLst>
              <a:ext uri="{FF2B5EF4-FFF2-40B4-BE49-F238E27FC236}">
                <a16:creationId xmlns:a16="http://schemas.microsoft.com/office/drawing/2014/main" id="{8F2756E1-04C5-C329-F29A-5C2532BFA3EB}"/>
              </a:ext>
            </a:extLst>
          </p:cNvPr>
          <p:cNvSpPr txBox="1">
            <a:spLocks/>
          </p:cNvSpPr>
          <p:nvPr/>
        </p:nvSpPr>
        <p:spPr>
          <a:xfrm>
            <a:off x="163513" y="4004734"/>
            <a:ext cx="3130020" cy="2666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假设采用</a:t>
            </a:r>
            <a:r>
              <a:rPr lang="zh-CN" altLang="en-US" b="1" dirty="0">
                <a:solidFill>
                  <a:schemeClr val="accent4"/>
                </a:solidFill>
              </a:rPr>
              <a:t>同步方式计算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zh-CN" altLang="en-US" dirty="0"/>
              <a:t>收到所有邻居的距离向量，然后计算，之后</a:t>
            </a:r>
            <a:r>
              <a:rPr lang="zh-CN" altLang="en-US" b="1" dirty="0">
                <a:solidFill>
                  <a:schemeClr val="accent4"/>
                </a:solidFill>
              </a:rPr>
              <a:t>有变化时</a:t>
            </a:r>
            <a:r>
              <a:rPr lang="zh-CN" altLang="en-US" dirty="0"/>
              <a:t>通知邻居</a:t>
            </a:r>
            <a:endParaRPr lang="en-US" altLang="zh-CN" dirty="0"/>
          </a:p>
          <a:p>
            <a:r>
              <a:rPr lang="zh-CN" altLang="en-US" dirty="0"/>
              <a:t>实践中，算法采用异步方式运行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5418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E823D-92D1-505C-C0F7-C81DAFEC4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距离向量路由算法：链路花费改变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A33B4-1AED-892A-D21D-42ACED08B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49514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链路花费改变</a:t>
            </a:r>
            <a:endParaRPr lang="en-US" altLang="zh-CN" dirty="0"/>
          </a:p>
          <a:p>
            <a:r>
              <a:rPr lang="zh-CN" altLang="en-US" dirty="0"/>
              <a:t>节点检测到链路花费的改变</a:t>
            </a:r>
            <a:endParaRPr lang="en-US" altLang="zh-CN" dirty="0"/>
          </a:p>
          <a:p>
            <a:r>
              <a:rPr lang="zh-CN" altLang="en-US" dirty="0"/>
              <a:t>重新计算距离向量</a:t>
            </a:r>
            <a:endParaRPr lang="en-US" altLang="zh-CN" dirty="0"/>
          </a:p>
          <a:p>
            <a:r>
              <a:rPr lang="zh-CN" altLang="en-US" dirty="0"/>
              <a:t>如果距离向量改变，则通知邻居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chemeClr val="accent4"/>
                </a:solidFill>
              </a:rPr>
              <a:t>好消息的传播非常迅速</a:t>
            </a:r>
            <a:endParaRPr lang="en-US" altLang="zh-CN" b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(y, x)</a:t>
            </a:r>
            <a:r>
              <a:rPr lang="zh-CN" altLang="en-US" dirty="0"/>
              <a:t>链路的花费从</a:t>
            </a:r>
            <a:r>
              <a:rPr lang="en-US" altLang="zh-CN" dirty="0"/>
              <a:t>4</a:t>
            </a:r>
            <a:r>
              <a:rPr lang="zh-CN" altLang="en-US" dirty="0"/>
              <a:t>变为</a:t>
            </a:r>
            <a:r>
              <a:rPr lang="en-US" altLang="zh-CN" dirty="0"/>
              <a:t>1</a:t>
            </a:r>
            <a:r>
              <a:rPr lang="zh-CN" altLang="en-US" dirty="0"/>
              <a:t>。重点关注到</a:t>
            </a:r>
            <a:r>
              <a:rPr lang="en-US" altLang="zh-CN" dirty="0"/>
              <a:t>x</a:t>
            </a:r>
            <a:r>
              <a:rPr lang="zh-CN" altLang="en-US" dirty="0"/>
              <a:t>的路由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/>
              <a:t>t</a:t>
            </a:r>
            <a:r>
              <a:rPr lang="en-US" altLang="zh-CN" i="1" baseline="-25000" dirty="0"/>
              <a:t>0 </a:t>
            </a:r>
            <a:r>
              <a:rPr lang="en-US" altLang="zh-CN" dirty="0"/>
              <a:t>: y</a:t>
            </a:r>
            <a:r>
              <a:rPr lang="zh-CN" altLang="en-US" dirty="0"/>
              <a:t>检测到链路花费的改变，更新距离向量</a:t>
            </a:r>
            <a:r>
              <a:rPr lang="en-US" altLang="zh-CN" dirty="0"/>
              <a:t>[</a:t>
            </a:r>
            <a:r>
              <a:rPr lang="en-US" altLang="zh-CN" b="1" dirty="0">
                <a:solidFill>
                  <a:schemeClr val="accent4"/>
                </a:solidFill>
              </a:rPr>
              <a:t>(x, 1)</a:t>
            </a:r>
            <a:r>
              <a:rPr lang="en-US" altLang="zh-CN" dirty="0"/>
              <a:t>, (y, 0), (z, 1)]</a:t>
            </a:r>
            <a:r>
              <a:rPr lang="zh-CN" altLang="en-US" dirty="0"/>
              <a:t>，通知邻居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z</a:t>
            </a:r>
          </a:p>
          <a:p>
            <a:pPr marL="0" indent="0">
              <a:buNone/>
              <a:tabLst>
                <a:tab pos="228600" algn="l"/>
                <a:tab pos="457200" algn="l"/>
              </a:tabLst>
            </a:pPr>
            <a:r>
              <a:rPr lang="en-US" altLang="zh-CN" i="1" dirty="0"/>
              <a:t>t</a:t>
            </a:r>
            <a:r>
              <a:rPr lang="en-US" altLang="zh-CN" i="1" baseline="-25000" dirty="0"/>
              <a:t>1 </a:t>
            </a:r>
            <a:r>
              <a:rPr lang="en-US" altLang="zh-CN" dirty="0"/>
              <a:t>: z</a:t>
            </a:r>
            <a:r>
              <a:rPr lang="zh-CN" altLang="en-US" dirty="0"/>
              <a:t>收到来自于</a:t>
            </a:r>
            <a:r>
              <a:rPr lang="en-US" altLang="zh-CN" dirty="0"/>
              <a:t>y</a:t>
            </a:r>
            <a:r>
              <a:rPr lang="zh-CN" altLang="en-US" dirty="0"/>
              <a:t>的距离向量，更新距离向量</a:t>
            </a:r>
            <a:r>
              <a:rPr lang="en-US" altLang="zh-CN" dirty="0"/>
              <a:t>[</a:t>
            </a:r>
            <a:r>
              <a:rPr lang="en-US" altLang="zh-CN" b="1" dirty="0">
                <a:solidFill>
                  <a:schemeClr val="accent4"/>
                </a:solidFill>
              </a:rPr>
              <a:t>(x, 2)</a:t>
            </a:r>
            <a:r>
              <a:rPr lang="en-US" altLang="zh-CN" dirty="0"/>
              <a:t>, (y, 1), (z, 0)]</a:t>
            </a:r>
            <a:r>
              <a:rPr lang="zh-CN" altLang="en-US" dirty="0"/>
              <a:t>，通知邻居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</a:p>
          <a:p>
            <a:pPr marL="0" indent="0">
              <a:buNone/>
              <a:tabLst>
                <a:tab pos="228600" algn="l"/>
                <a:tab pos="457200" algn="l"/>
              </a:tabLst>
            </a:pPr>
            <a:r>
              <a:rPr lang="en-US" altLang="zh-CN" i="1" dirty="0"/>
              <a:t>t</a:t>
            </a:r>
            <a:r>
              <a:rPr lang="en-US" altLang="zh-CN" i="1" baseline="-25000" dirty="0"/>
              <a:t>2 </a:t>
            </a:r>
            <a:r>
              <a:rPr lang="en-US" altLang="zh-CN" dirty="0"/>
              <a:t>: </a:t>
            </a:r>
            <a:r>
              <a:rPr lang="en-US" altLang="zh-CN" i="1" dirty="0"/>
              <a:t>y</a:t>
            </a:r>
            <a:r>
              <a:rPr lang="zh-CN" altLang="en-US" dirty="0"/>
              <a:t>收到来自于</a:t>
            </a:r>
            <a:r>
              <a:rPr lang="en-US" altLang="zh-CN" dirty="0"/>
              <a:t>z</a:t>
            </a:r>
            <a:r>
              <a:rPr lang="zh-CN" altLang="en-US" dirty="0"/>
              <a:t>的距离向量，计算距离向量</a:t>
            </a:r>
            <a:r>
              <a:rPr lang="en-US" altLang="zh-CN" dirty="0"/>
              <a:t>[</a:t>
            </a:r>
            <a:r>
              <a:rPr lang="en-US" altLang="zh-CN" b="1" dirty="0">
                <a:solidFill>
                  <a:schemeClr val="accent4"/>
                </a:solidFill>
              </a:rPr>
              <a:t>(x, 1)</a:t>
            </a:r>
            <a:r>
              <a:rPr lang="en-US" altLang="zh-CN" dirty="0"/>
              <a:t>, (y, 0), (z, 1)]</a:t>
            </a:r>
            <a:r>
              <a:rPr lang="zh-CN" altLang="en-US" dirty="0"/>
              <a:t>，距离向量不变，不通知邻居</a:t>
            </a:r>
            <a:endParaRPr lang="en-US" altLang="zh-CN" dirty="0"/>
          </a:p>
          <a:p>
            <a:pPr>
              <a:tabLst>
                <a:tab pos="228600" algn="l"/>
                <a:tab pos="457200" algn="l"/>
              </a:tabLst>
            </a:pPr>
            <a:endParaRPr lang="en-US" altLang="zh-CN" dirty="0"/>
          </a:p>
          <a:p>
            <a:pPr>
              <a:tabLst>
                <a:tab pos="228600" algn="l"/>
                <a:tab pos="457200" algn="l"/>
              </a:tabLst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CA864EAB-A850-9F41-EB01-03297EDB022A}"/>
              </a:ext>
            </a:extLst>
          </p:cNvPr>
          <p:cNvGrpSpPr>
            <a:grpSpLocks/>
          </p:cNvGrpSpPr>
          <p:nvPr/>
        </p:nvGrpSpPr>
        <p:grpSpPr bwMode="auto">
          <a:xfrm>
            <a:off x="6964892" y="1076325"/>
            <a:ext cx="2184400" cy="1314450"/>
            <a:chOff x="3625" y="1076"/>
            <a:chExt cx="1376" cy="828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AB67E24-33FA-2133-C06D-31E2B2439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0AD14AC2-42A6-5EF7-6C35-C4EEB1C17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789AE9D9-65C8-0780-96B6-909135A22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1D5D470F-1145-6102-49C5-90627A257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ADDE3550-C7EF-BF7D-24B2-9134B0E13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32CD478A-45CF-467B-11A1-679D40C60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3A3BB13E-98CD-2BC9-4C4E-A59389AB2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A564A6C-6A30-6FD3-6AD9-1BF1D0884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D8EB346-BE64-A774-9E86-28A970A17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95F7EFB6-1BB8-2430-76BD-BE8574E5BF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38" name="Rectangle 16">
                <a:extLst>
                  <a:ext uri="{FF2B5EF4-FFF2-40B4-BE49-F238E27FC236}">
                    <a16:creationId xmlns:a16="http://schemas.microsoft.com/office/drawing/2014/main" id="{E8454ECB-D8A4-B2E5-0225-9E944D07B4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9" name="Text Box 17">
                <a:extLst>
                  <a:ext uri="{FF2B5EF4-FFF2-40B4-BE49-F238E27FC236}">
                    <a16:creationId xmlns:a16="http://schemas.microsoft.com/office/drawing/2014/main" id="{9B4CDB84-B7FF-917E-878B-8E0E061C75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15" name="Group 18">
              <a:extLst>
                <a:ext uri="{FF2B5EF4-FFF2-40B4-BE49-F238E27FC236}">
                  <a16:creationId xmlns:a16="http://schemas.microsoft.com/office/drawing/2014/main" id="{5D031C96-5344-9EAB-55D5-1DA76E645E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30" name="Oval 19">
                <a:extLst>
                  <a:ext uri="{FF2B5EF4-FFF2-40B4-BE49-F238E27FC236}">
                    <a16:creationId xmlns:a16="http://schemas.microsoft.com/office/drawing/2014/main" id="{507BB47D-2E01-2984-C739-95855164E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" name="Line 20">
                <a:extLst>
                  <a:ext uri="{FF2B5EF4-FFF2-40B4-BE49-F238E27FC236}">
                    <a16:creationId xmlns:a16="http://schemas.microsoft.com/office/drawing/2014/main" id="{9780FDE0-366C-BFE3-670A-991EA4DBB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" name="Line 21">
                <a:extLst>
                  <a:ext uri="{FF2B5EF4-FFF2-40B4-BE49-F238E27FC236}">
                    <a16:creationId xmlns:a16="http://schemas.microsoft.com/office/drawing/2014/main" id="{0E63494F-4DBC-3233-4BEB-BF6F7A0F0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" name="Rectangle 22">
                <a:extLst>
                  <a:ext uri="{FF2B5EF4-FFF2-40B4-BE49-F238E27FC236}">
                    <a16:creationId xmlns:a16="http://schemas.microsoft.com/office/drawing/2014/main" id="{86BA38F7-E285-FB9D-CDC1-17BC5F495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34" name="Oval 23">
                <a:extLst>
                  <a:ext uri="{FF2B5EF4-FFF2-40B4-BE49-F238E27FC236}">
                    <a16:creationId xmlns:a16="http://schemas.microsoft.com/office/drawing/2014/main" id="{880F7579-C521-FB30-A9AA-76AAF6E3F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5" name="Group 24">
                <a:extLst>
                  <a:ext uri="{FF2B5EF4-FFF2-40B4-BE49-F238E27FC236}">
                    <a16:creationId xmlns:a16="http://schemas.microsoft.com/office/drawing/2014/main" id="{E5AE6F46-B42E-4F5E-A105-41AB3A8786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36" name="Rectangle 25">
                  <a:extLst>
                    <a:ext uri="{FF2B5EF4-FFF2-40B4-BE49-F238E27FC236}">
                      <a16:creationId xmlns:a16="http://schemas.microsoft.com/office/drawing/2014/main" id="{0DB61DAA-55D0-137C-F814-00638FA900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7" name="Text Box 26">
                  <a:extLst>
                    <a:ext uri="{FF2B5EF4-FFF2-40B4-BE49-F238E27FC236}">
                      <a16:creationId xmlns:a16="http://schemas.microsoft.com/office/drawing/2014/main" id="{895B51F5-D51E-2650-E38D-A9FE045769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6" name="Text Box 27">
              <a:extLst>
                <a:ext uri="{FF2B5EF4-FFF2-40B4-BE49-F238E27FC236}">
                  <a16:creationId xmlns:a16="http://schemas.microsoft.com/office/drawing/2014/main" id="{57EA919C-1ED8-744E-7DC5-FF9E4DE5F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C915705A-9A38-8C59-8EE3-49298BF40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8" name="Text Box 29">
              <a:extLst>
                <a:ext uri="{FF2B5EF4-FFF2-40B4-BE49-F238E27FC236}">
                  <a16:creationId xmlns:a16="http://schemas.microsoft.com/office/drawing/2014/main" id="{10E31FBE-F174-49C1-786B-755DCDAE4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19" name="Group 30">
              <a:extLst>
                <a:ext uri="{FF2B5EF4-FFF2-40B4-BE49-F238E27FC236}">
                  <a16:creationId xmlns:a16="http://schemas.microsoft.com/office/drawing/2014/main" id="{734AFF8B-0650-EE3E-8BDB-E20514D998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22" name="Oval 31">
                <a:extLst>
                  <a:ext uri="{FF2B5EF4-FFF2-40B4-BE49-F238E27FC236}">
                    <a16:creationId xmlns:a16="http://schemas.microsoft.com/office/drawing/2014/main" id="{B46E9F9C-7866-F727-47C8-26A1FC4D4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" name="Line 32">
                <a:extLst>
                  <a:ext uri="{FF2B5EF4-FFF2-40B4-BE49-F238E27FC236}">
                    <a16:creationId xmlns:a16="http://schemas.microsoft.com/office/drawing/2014/main" id="{063E25CF-7E0B-245A-F813-4D8C25136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" name="Line 33">
                <a:extLst>
                  <a:ext uri="{FF2B5EF4-FFF2-40B4-BE49-F238E27FC236}">
                    <a16:creationId xmlns:a16="http://schemas.microsoft.com/office/drawing/2014/main" id="{0F9A4DB4-79E2-894A-B554-37DDA8EA2F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" name="Rectangle 34">
                <a:extLst>
                  <a:ext uri="{FF2B5EF4-FFF2-40B4-BE49-F238E27FC236}">
                    <a16:creationId xmlns:a16="http://schemas.microsoft.com/office/drawing/2014/main" id="{59C095D9-2FB0-54CE-817E-158EFFB2E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26" name="Oval 35">
                <a:extLst>
                  <a:ext uri="{FF2B5EF4-FFF2-40B4-BE49-F238E27FC236}">
                    <a16:creationId xmlns:a16="http://schemas.microsoft.com/office/drawing/2014/main" id="{B4CB0418-D68B-4950-F344-DD62E03DEF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7" name="Group 36">
                <a:extLst>
                  <a:ext uri="{FF2B5EF4-FFF2-40B4-BE49-F238E27FC236}">
                    <a16:creationId xmlns:a16="http://schemas.microsoft.com/office/drawing/2014/main" id="{737FF7A6-ECBA-DD27-239A-09221E292B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28" name="Rectangle 37">
                  <a:extLst>
                    <a:ext uri="{FF2B5EF4-FFF2-40B4-BE49-F238E27FC236}">
                      <a16:creationId xmlns:a16="http://schemas.microsoft.com/office/drawing/2014/main" id="{C43F3909-446D-13EA-04F6-4BCC8FEF05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" name="Text Box 38">
                  <a:extLst>
                    <a:ext uri="{FF2B5EF4-FFF2-40B4-BE49-F238E27FC236}">
                      <a16:creationId xmlns:a16="http://schemas.microsoft.com/office/drawing/2014/main" id="{3CEAC4C9-B683-9496-CB4C-0E47A3F56A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20" name="Text Box 39">
              <a:extLst>
                <a:ext uri="{FF2B5EF4-FFF2-40B4-BE49-F238E27FC236}">
                  <a16:creationId xmlns:a16="http://schemas.microsoft.com/office/drawing/2014/main" id="{1E4DC8E2-FEA8-E2C6-C2DD-C3FF707DC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1076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21" name="Line 40">
              <a:extLst>
                <a:ext uri="{FF2B5EF4-FFF2-40B4-BE49-F238E27FC236}">
                  <a16:creationId xmlns:a16="http://schemas.microsoft.com/office/drawing/2014/main" id="{707D6654-71D9-2C84-68AD-0B1EB3B377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7848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E823D-92D1-505C-C0F7-C81DAFEC4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距离向量路由算法：链路花费改变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A33B4-1AED-892A-D21D-42ACED08B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2"/>
            <a:ext cx="11289710" cy="572293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1800" dirty="0"/>
              <a:t>链路花费改变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zh-CN" altLang="en-US" sz="1800" dirty="0"/>
              <a:t>节点检测到链路花费的改变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zh-CN" altLang="en-US" sz="1800" dirty="0"/>
              <a:t>重新计算距离向量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zh-CN" altLang="en-US" sz="1800" dirty="0"/>
              <a:t>如果距离向量改变，则通知邻居</a:t>
            </a:r>
            <a:endParaRPr lang="en-US" altLang="zh-CN" sz="1800" dirty="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800" b="1" dirty="0">
                <a:solidFill>
                  <a:schemeClr val="accent4"/>
                </a:solidFill>
              </a:rPr>
              <a:t>好消息的传播非常迅速；坏消息的传播非常缓慢</a:t>
            </a:r>
            <a:endParaRPr lang="en-US" altLang="zh-CN" sz="1800" b="1" dirty="0">
              <a:solidFill>
                <a:schemeClr val="accent4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dirty="0"/>
              <a:t>(y, x)</a:t>
            </a:r>
            <a:r>
              <a:rPr lang="zh-CN" altLang="en-US" sz="1800" dirty="0"/>
              <a:t>链路的花费从</a:t>
            </a:r>
            <a:r>
              <a:rPr lang="en-US" altLang="zh-CN" sz="1800" dirty="0"/>
              <a:t>4</a:t>
            </a:r>
            <a:r>
              <a:rPr lang="zh-CN" altLang="en-US" sz="1800" dirty="0"/>
              <a:t>变为</a:t>
            </a:r>
            <a:r>
              <a:rPr lang="en-US" altLang="zh-CN" sz="1800" dirty="0"/>
              <a:t>60</a:t>
            </a:r>
            <a:r>
              <a:rPr lang="zh-CN" altLang="en-US" sz="1800" dirty="0"/>
              <a:t>。重点关注到</a:t>
            </a:r>
            <a:r>
              <a:rPr lang="en-US" altLang="zh-CN" sz="1800" dirty="0"/>
              <a:t>x</a:t>
            </a:r>
            <a:r>
              <a:rPr lang="zh-CN" altLang="en-US" sz="1800" dirty="0"/>
              <a:t>的路由</a:t>
            </a:r>
            <a:endParaRPr lang="en-US" altLang="zh-CN" sz="18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i="1" dirty="0"/>
              <a:t>t</a:t>
            </a:r>
            <a:r>
              <a:rPr lang="en-US" altLang="zh-CN" sz="1800" i="1" baseline="-25000" dirty="0"/>
              <a:t>0 </a:t>
            </a:r>
            <a:r>
              <a:rPr lang="en-US" altLang="zh-CN" sz="1800" dirty="0"/>
              <a:t>: y</a:t>
            </a:r>
            <a:r>
              <a:rPr lang="zh-CN" altLang="en-US" sz="1800" dirty="0"/>
              <a:t>检测到链路花费的改变，更新距离向量</a:t>
            </a:r>
            <a:r>
              <a:rPr lang="en-US" altLang="zh-CN" sz="1800" dirty="0"/>
              <a:t>[</a:t>
            </a:r>
            <a:r>
              <a:rPr lang="en-US" altLang="zh-CN" sz="1800" b="1" dirty="0">
                <a:solidFill>
                  <a:schemeClr val="accent4"/>
                </a:solidFill>
              </a:rPr>
              <a:t>(x, 6)</a:t>
            </a:r>
            <a:r>
              <a:rPr lang="en-US" altLang="zh-CN" sz="1800" dirty="0"/>
              <a:t>, (y, 0), (z, 1)]</a:t>
            </a:r>
            <a:r>
              <a:rPr lang="zh-CN" altLang="en-US" sz="1800" dirty="0"/>
              <a:t>，通知邻居</a:t>
            </a:r>
            <a:r>
              <a:rPr lang="en-US" altLang="zh-CN" sz="1800" dirty="0"/>
              <a:t>x</a:t>
            </a:r>
            <a:r>
              <a:rPr lang="zh-CN" altLang="en-US" sz="1800" dirty="0"/>
              <a:t>和</a:t>
            </a:r>
            <a:r>
              <a:rPr lang="en-US" altLang="zh-CN" sz="1800" dirty="0"/>
              <a:t>z</a:t>
            </a:r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r>
              <a:rPr lang="en-US" altLang="zh-CN" sz="1800" i="1" dirty="0"/>
              <a:t>t</a:t>
            </a:r>
            <a:r>
              <a:rPr lang="en-US" altLang="zh-CN" sz="1800" i="1" baseline="-25000" dirty="0"/>
              <a:t>1 </a:t>
            </a:r>
            <a:r>
              <a:rPr lang="en-US" altLang="zh-CN" sz="1800" dirty="0"/>
              <a:t>: z</a:t>
            </a:r>
            <a:r>
              <a:rPr lang="zh-CN" altLang="en-US" sz="1800" dirty="0"/>
              <a:t>收到来自于</a:t>
            </a:r>
            <a:r>
              <a:rPr lang="en-US" altLang="zh-CN" sz="1800" dirty="0"/>
              <a:t>y</a:t>
            </a:r>
            <a:r>
              <a:rPr lang="zh-CN" altLang="en-US" sz="1800" dirty="0"/>
              <a:t>的距离向量，更新距离向量</a:t>
            </a:r>
            <a:r>
              <a:rPr lang="en-US" altLang="zh-CN" sz="1800" dirty="0"/>
              <a:t>[</a:t>
            </a:r>
            <a:r>
              <a:rPr lang="en-US" altLang="zh-CN" sz="1800" b="1" dirty="0">
                <a:solidFill>
                  <a:schemeClr val="accent4"/>
                </a:solidFill>
              </a:rPr>
              <a:t>(x, 7)</a:t>
            </a:r>
            <a:r>
              <a:rPr lang="en-US" altLang="zh-CN" sz="1800" dirty="0"/>
              <a:t>, (y, 1), (z, 0)]</a:t>
            </a:r>
            <a:r>
              <a:rPr lang="zh-CN" altLang="en-US" sz="1800" dirty="0"/>
              <a:t>，通知邻居</a:t>
            </a:r>
            <a:r>
              <a:rPr lang="en-US" altLang="zh-CN" sz="1800" dirty="0"/>
              <a:t>x</a:t>
            </a:r>
            <a:r>
              <a:rPr lang="zh-CN" altLang="en-US" sz="1800" dirty="0"/>
              <a:t>和</a:t>
            </a:r>
            <a:r>
              <a:rPr lang="en-US" altLang="zh-CN" sz="1800" dirty="0"/>
              <a:t>y</a:t>
            </a:r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r>
              <a:rPr lang="en-US" altLang="zh-CN" sz="1800" i="1" dirty="0"/>
              <a:t>t</a:t>
            </a:r>
            <a:r>
              <a:rPr lang="en-US" altLang="zh-CN" sz="1800" i="1" baseline="-25000" dirty="0"/>
              <a:t>2 </a:t>
            </a:r>
            <a:r>
              <a:rPr lang="en-US" altLang="zh-CN" sz="1800" dirty="0"/>
              <a:t>: </a:t>
            </a:r>
            <a:r>
              <a:rPr lang="en-US" altLang="zh-CN" sz="1800" i="1" dirty="0"/>
              <a:t>y</a:t>
            </a:r>
            <a:r>
              <a:rPr lang="zh-CN" altLang="en-US" sz="1800" dirty="0"/>
              <a:t>收到来自于</a:t>
            </a:r>
            <a:r>
              <a:rPr lang="en-US" altLang="zh-CN" sz="1800" dirty="0"/>
              <a:t>z</a:t>
            </a:r>
            <a:r>
              <a:rPr lang="zh-CN" altLang="en-US" sz="1800" dirty="0"/>
              <a:t>的距离向量，计算距离向量</a:t>
            </a:r>
            <a:r>
              <a:rPr lang="en-US" altLang="zh-CN" sz="1800" dirty="0"/>
              <a:t>[</a:t>
            </a:r>
            <a:r>
              <a:rPr lang="en-US" altLang="zh-CN" sz="1800" b="1" dirty="0">
                <a:solidFill>
                  <a:schemeClr val="accent4"/>
                </a:solidFill>
              </a:rPr>
              <a:t>(x, 8)</a:t>
            </a:r>
            <a:r>
              <a:rPr lang="en-US" altLang="zh-CN" sz="1800" dirty="0"/>
              <a:t>, (y, 0), (z, 1)]</a:t>
            </a:r>
            <a:r>
              <a:rPr lang="zh-CN" altLang="en-US" sz="1800" dirty="0"/>
              <a:t>，通知邻居</a:t>
            </a:r>
            <a:r>
              <a:rPr lang="en-US" altLang="zh-CN" sz="1800" dirty="0"/>
              <a:t>x</a:t>
            </a:r>
            <a:r>
              <a:rPr lang="zh-CN" altLang="en-US" sz="1800" dirty="0"/>
              <a:t>和</a:t>
            </a:r>
            <a:r>
              <a:rPr lang="en-US" altLang="zh-CN" sz="1800" dirty="0"/>
              <a:t>z</a:t>
            </a:r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r>
              <a:rPr lang="en-US" altLang="zh-CN" sz="1800" dirty="0"/>
              <a:t>…</a:t>
            </a:r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r>
              <a:rPr lang="en-US" altLang="zh-CN" sz="1800" i="1" dirty="0"/>
              <a:t>t</a:t>
            </a:r>
            <a:r>
              <a:rPr lang="en-US" altLang="zh-CN" sz="1800" i="1" baseline="-25000" dirty="0"/>
              <a:t>43 </a:t>
            </a:r>
            <a:r>
              <a:rPr lang="en-US" altLang="zh-CN" sz="1800" dirty="0"/>
              <a:t>: z</a:t>
            </a:r>
            <a:r>
              <a:rPr lang="zh-CN" altLang="en-US" sz="1800" dirty="0"/>
              <a:t>收到来自于</a:t>
            </a:r>
            <a:r>
              <a:rPr lang="en-US" altLang="zh-CN" sz="1800" dirty="0"/>
              <a:t>y</a:t>
            </a:r>
            <a:r>
              <a:rPr lang="zh-CN" altLang="en-US" sz="1800" dirty="0"/>
              <a:t>的距离向量，更新距离向量</a:t>
            </a:r>
            <a:r>
              <a:rPr lang="en-US" altLang="zh-CN" sz="1800" dirty="0"/>
              <a:t>[</a:t>
            </a:r>
            <a:r>
              <a:rPr lang="en-US" altLang="zh-CN" sz="1800" b="1" dirty="0">
                <a:solidFill>
                  <a:schemeClr val="accent4"/>
                </a:solidFill>
              </a:rPr>
              <a:t>(x, 49)</a:t>
            </a:r>
            <a:r>
              <a:rPr lang="en-US" altLang="zh-CN" sz="1800" dirty="0"/>
              <a:t>, (y, 1), (z, 0)]</a:t>
            </a:r>
            <a:r>
              <a:rPr lang="zh-CN" altLang="en-US" sz="1800" dirty="0"/>
              <a:t>，通知邻居</a:t>
            </a:r>
            <a:r>
              <a:rPr lang="en-US" altLang="zh-CN" sz="1800" dirty="0"/>
              <a:t>x</a:t>
            </a:r>
            <a:r>
              <a:rPr lang="zh-CN" altLang="en-US" sz="1800" dirty="0"/>
              <a:t>和</a:t>
            </a:r>
            <a:r>
              <a:rPr lang="en-US" altLang="zh-CN" sz="1800" dirty="0"/>
              <a:t>y</a:t>
            </a:r>
            <a:endParaRPr lang="en-US" altLang="zh-CN" sz="1800" i="1" dirty="0"/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r>
              <a:rPr lang="en-US" altLang="zh-CN" sz="1800" i="1" dirty="0"/>
              <a:t>t</a:t>
            </a:r>
            <a:r>
              <a:rPr lang="en-US" altLang="zh-CN" sz="1800" i="1" baseline="-25000" dirty="0"/>
              <a:t>44 </a:t>
            </a:r>
            <a:r>
              <a:rPr lang="en-US" altLang="zh-CN" sz="1800" dirty="0"/>
              <a:t>: </a:t>
            </a:r>
            <a:r>
              <a:rPr lang="en-US" altLang="zh-CN" sz="1800" i="1" dirty="0"/>
              <a:t>y</a:t>
            </a:r>
            <a:r>
              <a:rPr lang="zh-CN" altLang="en-US" sz="1800" dirty="0"/>
              <a:t>收到来自于</a:t>
            </a:r>
            <a:r>
              <a:rPr lang="en-US" altLang="zh-CN" sz="1800" dirty="0"/>
              <a:t>z</a:t>
            </a:r>
            <a:r>
              <a:rPr lang="zh-CN" altLang="en-US" sz="1800" dirty="0"/>
              <a:t>的距离向量，计算距离向量</a:t>
            </a:r>
            <a:r>
              <a:rPr lang="en-US" altLang="zh-CN" sz="1800" dirty="0"/>
              <a:t>[</a:t>
            </a:r>
            <a:r>
              <a:rPr lang="en-US" altLang="zh-CN" sz="1800" b="1" dirty="0">
                <a:solidFill>
                  <a:schemeClr val="accent4"/>
                </a:solidFill>
              </a:rPr>
              <a:t>(x, 50)</a:t>
            </a:r>
            <a:r>
              <a:rPr lang="en-US" altLang="zh-CN" sz="1800" dirty="0"/>
              <a:t>, (y, 0), (z, 1)]</a:t>
            </a:r>
            <a:r>
              <a:rPr lang="zh-CN" altLang="en-US" sz="1800" dirty="0"/>
              <a:t>，通知邻居</a:t>
            </a:r>
            <a:r>
              <a:rPr lang="en-US" altLang="zh-CN" sz="1800" dirty="0"/>
              <a:t>x</a:t>
            </a:r>
            <a:r>
              <a:rPr lang="zh-CN" altLang="en-US" sz="1800" dirty="0"/>
              <a:t>和</a:t>
            </a:r>
            <a:r>
              <a:rPr lang="en-US" altLang="zh-CN" sz="1800" dirty="0"/>
              <a:t>z</a:t>
            </a:r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r>
              <a:rPr lang="en-US" altLang="zh-CN" sz="1800" i="1" dirty="0">
                <a:highlight>
                  <a:srgbClr val="FFFF00"/>
                </a:highlight>
              </a:rPr>
              <a:t>t</a:t>
            </a:r>
            <a:r>
              <a:rPr lang="en-US" altLang="zh-CN" sz="1800" i="1" baseline="-25000" dirty="0">
                <a:highlight>
                  <a:srgbClr val="FFFF00"/>
                </a:highlight>
              </a:rPr>
              <a:t>45 </a:t>
            </a:r>
            <a:r>
              <a:rPr lang="en-US" altLang="zh-CN" sz="1800" dirty="0"/>
              <a:t>: z</a:t>
            </a:r>
            <a:r>
              <a:rPr lang="zh-CN" altLang="en-US" sz="1800" dirty="0"/>
              <a:t>收到来自于</a:t>
            </a:r>
            <a:r>
              <a:rPr lang="en-US" altLang="zh-CN" sz="1800" dirty="0"/>
              <a:t>y</a:t>
            </a:r>
            <a:r>
              <a:rPr lang="zh-CN" altLang="en-US" sz="1800" dirty="0"/>
              <a:t>的距离向量，更新距离向量</a:t>
            </a:r>
            <a:r>
              <a:rPr lang="en-US" altLang="zh-CN" sz="1800" dirty="0"/>
              <a:t>[</a:t>
            </a:r>
            <a:r>
              <a:rPr lang="en-US" altLang="zh-CN" sz="1800" b="1" dirty="0">
                <a:solidFill>
                  <a:schemeClr val="accent4"/>
                </a:solidFill>
              </a:rPr>
              <a:t>(x, 50)</a:t>
            </a:r>
            <a:r>
              <a:rPr lang="en-US" altLang="zh-CN" sz="1800" dirty="0"/>
              <a:t>, (y, 1), (z, 0)]</a:t>
            </a:r>
            <a:r>
              <a:rPr lang="zh-CN" altLang="en-US" sz="1800" dirty="0"/>
              <a:t>，通知邻居</a:t>
            </a:r>
            <a:r>
              <a:rPr lang="en-US" altLang="zh-CN" sz="1800" dirty="0"/>
              <a:t>x</a:t>
            </a:r>
            <a:r>
              <a:rPr lang="zh-CN" altLang="en-US" sz="1800" dirty="0"/>
              <a:t>和</a:t>
            </a:r>
            <a:r>
              <a:rPr lang="en-US" altLang="zh-CN" sz="1800" dirty="0"/>
              <a:t>y</a:t>
            </a:r>
            <a:r>
              <a:rPr lang="zh-CN" altLang="en-US" sz="1800" dirty="0"/>
              <a:t>。此时两个节点之间的回路打破</a:t>
            </a:r>
            <a:endParaRPr lang="en-US" altLang="zh-CN" sz="1800" dirty="0"/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r>
              <a:rPr lang="en-US" altLang="zh-CN" sz="1800" i="1" dirty="0"/>
              <a:t>t</a:t>
            </a:r>
            <a:r>
              <a:rPr lang="en-US" altLang="zh-CN" sz="1800" i="1" baseline="-25000" dirty="0"/>
              <a:t>46 </a:t>
            </a:r>
            <a:r>
              <a:rPr lang="en-US" altLang="zh-CN" sz="1800" dirty="0"/>
              <a:t>: </a:t>
            </a:r>
            <a:r>
              <a:rPr lang="en-US" altLang="zh-CN" sz="1800" i="1" dirty="0"/>
              <a:t>y</a:t>
            </a:r>
            <a:r>
              <a:rPr lang="zh-CN" altLang="en-US" sz="1800" dirty="0"/>
              <a:t>收到来自于</a:t>
            </a:r>
            <a:r>
              <a:rPr lang="en-US" altLang="zh-CN" sz="1800" dirty="0"/>
              <a:t>z</a:t>
            </a:r>
            <a:r>
              <a:rPr lang="zh-CN" altLang="en-US" sz="1800" dirty="0"/>
              <a:t>的距离向量，计算距离向量</a:t>
            </a:r>
            <a:r>
              <a:rPr lang="en-US" altLang="zh-CN" sz="1800" dirty="0"/>
              <a:t>[</a:t>
            </a:r>
            <a:r>
              <a:rPr lang="en-US" altLang="zh-CN" sz="1800" b="1" dirty="0">
                <a:solidFill>
                  <a:schemeClr val="accent4"/>
                </a:solidFill>
              </a:rPr>
              <a:t>(x, 51)</a:t>
            </a:r>
            <a:r>
              <a:rPr lang="en-US" altLang="zh-CN" sz="1800" dirty="0"/>
              <a:t>, (y, 0), (z, 1)]</a:t>
            </a:r>
            <a:r>
              <a:rPr lang="zh-CN" altLang="en-US" sz="1800" dirty="0"/>
              <a:t>，通知邻居</a:t>
            </a:r>
            <a:r>
              <a:rPr lang="en-US" altLang="zh-CN" sz="1800" dirty="0"/>
              <a:t>x</a:t>
            </a:r>
            <a:r>
              <a:rPr lang="zh-CN" altLang="en-US" sz="1800" dirty="0"/>
              <a:t>和</a:t>
            </a:r>
            <a:r>
              <a:rPr lang="en-US" altLang="zh-CN" sz="1800" dirty="0"/>
              <a:t>z</a:t>
            </a:r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r>
              <a:rPr lang="en-US" altLang="zh-CN" sz="1800" i="1" dirty="0">
                <a:highlight>
                  <a:srgbClr val="FFFF00"/>
                </a:highlight>
              </a:rPr>
              <a:t>t</a:t>
            </a:r>
            <a:r>
              <a:rPr lang="en-US" altLang="zh-CN" sz="1800" i="1" baseline="-25000" dirty="0">
                <a:highlight>
                  <a:srgbClr val="FFFF00"/>
                </a:highlight>
              </a:rPr>
              <a:t>47 </a:t>
            </a:r>
            <a:r>
              <a:rPr lang="en-US" altLang="zh-CN" sz="1800" dirty="0"/>
              <a:t>: z</a:t>
            </a:r>
            <a:r>
              <a:rPr lang="zh-CN" altLang="en-US" sz="1800" dirty="0"/>
              <a:t>收到来自于</a:t>
            </a:r>
            <a:r>
              <a:rPr lang="en-US" altLang="zh-CN" sz="1800" dirty="0"/>
              <a:t>y</a:t>
            </a:r>
            <a:r>
              <a:rPr lang="zh-CN" altLang="en-US" sz="1800" dirty="0"/>
              <a:t>的距离向量，更新距离向量</a:t>
            </a:r>
            <a:r>
              <a:rPr lang="en-US" altLang="zh-CN" sz="1800" dirty="0"/>
              <a:t>[</a:t>
            </a:r>
            <a:r>
              <a:rPr lang="en-US" altLang="zh-CN" sz="1800" b="1" dirty="0">
                <a:solidFill>
                  <a:schemeClr val="accent4"/>
                </a:solidFill>
              </a:rPr>
              <a:t>(x, 50)</a:t>
            </a:r>
            <a:r>
              <a:rPr lang="en-US" altLang="zh-CN" sz="1800" dirty="0"/>
              <a:t>, (y, 1), (z, 0)]</a:t>
            </a:r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endParaRPr lang="en-US" altLang="zh-CN" sz="1800" dirty="0"/>
          </a:p>
          <a:p>
            <a:pPr marL="0" indent="0">
              <a:spcBef>
                <a:spcPts val="600"/>
              </a:spcBef>
              <a:buNone/>
              <a:tabLst>
                <a:tab pos="228600" algn="l"/>
                <a:tab pos="457200" algn="l"/>
              </a:tabLst>
            </a:pPr>
            <a:endParaRPr lang="en-US" altLang="zh-CN" sz="1800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CA864EAB-A850-9F41-EB01-03297EDB022A}"/>
              </a:ext>
            </a:extLst>
          </p:cNvPr>
          <p:cNvGrpSpPr>
            <a:grpSpLocks/>
          </p:cNvGrpSpPr>
          <p:nvPr/>
        </p:nvGrpSpPr>
        <p:grpSpPr bwMode="auto">
          <a:xfrm>
            <a:off x="6007041" y="548579"/>
            <a:ext cx="2184400" cy="1314450"/>
            <a:chOff x="3625" y="1076"/>
            <a:chExt cx="1376" cy="828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AB67E24-33FA-2133-C06D-31E2B2439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0AD14AC2-42A6-5EF7-6C35-C4EEB1C17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789AE9D9-65C8-0780-96B6-909135A22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1D5D470F-1145-6102-49C5-90627A257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ADDE3550-C7EF-BF7D-24B2-9134B0E13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32CD478A-45CF-467B-11A1-679D40C60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3A3BB13E-98CD-2BC9-4C4E-A59389AB2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A564A6C-6A30-6FD3-6AD9-1BF1D0884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ED8EB346-BE64-A774-9E86-28A970A17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95F7EFB6-1BB8-2430-76BD-BE8574E5BF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38" name="Rectangle 16">
                <a:extLst>
                  <a:ext uri="{FF2B5EF4-FFF2-40B4-BE49-F238E27FC236}">
                    <a16:creationId xmlns:a16="http://schemas.microsoft.com/office/drawing/2014/main" id="{E8454ECB-D8A4-B2E5-0225-9E944D07B4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9" name="Text Box 17">
                <a:extLst>
                  <a:ext uri="{FF2B5EF4-FFF2-40B4-BE49-F238E27FC236}">
                    <a16:creationId xmlns:a16="http://schemas.microsoft.com/office/drawing/2014/main" id="{9B4CDB84-B7FF-917E-878B-8E0E061C75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15" name="Group 18">
              <a:extLst>
                <a:ext uri="{FF2B5EF4-FFF2-40B4-BE49-F238E27FC236}">
                  <a16:creationId xmlns:a16="http://schemas.microsoft.com/office/drawing/2014/main" id="{5D031C96-5344-9EAB-55D5-1DA76E645E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30" name="Oval 19">
                <a:extLst>
                  <a:ext uri="{FF2B5EF4-FFF2-40B4-BE49-F238E27FC236}">
                    <a16:creationId xmlns:a16="http://schemas.microsoft.com/office/drawing/2014/main" id="{507BB47D-2E01-2984-C739-95855164E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" name="Line 20">
                <a:extLst>
                  <a:ext uri="{FF2B5EF4-FFF2-40B4-BE49-F238E27FC236}">
                    <a16:creationId xmlns:a16="http://schemas.microsoft.com/office/drawing/2014/main" id="{9780FDE0-366C-BFE3-670A-991EA4DBB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" name="Line 21">
                <a:extLst>
                  <a:ext uri="{FF2B5EF4-FFF2-40B4-BE49-F238E27FC236}">
                    <a16:creationId xmlns:a16="http://schemas.microsoft.com/office/drawing/2014/main" id="{0E63494F-4DBC-3233-4BEB-BF6F7A0F0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" name="Rectangle 22">
                <a:extLst>
                  <a:ext uri="{FF2B5EF4-FFF2-40B4-BE49-F238E27FC236}">
                    <a16:creationId xmlns:a16="http://schemas.microsoft.com/office/drawing/2014/main" id="{86BA38F7-E285-FB9D-CDC1-17BC5F495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34" name="Oval 23">
                <a:extLst>
                  <a:ext uri="{FF2B5EF4-FFF2-40B4-BE49-F238E27FC236}">
                    <a16:creationId xmlns:a16="http://schemas.microsoft.com/office/drawing/2014/main" id="{880F7579-C521-FB30-A9AA-76AAF6E3F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5" name="Group 24">
                <a:extLst>
                  <a:ext uri="{FF2B5EF4-FFF2-40B4-BE49-F238E27FC236}">
                    <a16:creationId xmlns:a16="http://schemas.microsoft.com/office/drawing/2014/main" id="{E5AE6F46-B42E-4F5E-A105-41AB3A8786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36" name="Rectangle 25">
                  <a:extLst>
                    <a:ext uri="{FF2B5EF4-FFF2-40B4-BE49-F238E27FC236}">
                      <a16:creationId xmlns:a16="http://schemas.microsoft.com/office/drawing/2014/main" id="{0DB61DAA-55D0-137C-F814-00638FA900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7" name="Text Box 26">
                  <a:extLst>
                    <a:ext uri="{FF2B5EF4-FFF2-40B4-BE49-F238E27FC236}">
                      <a16:creationId xmlns:a16="http://schemas.microsoft.com/office/drawing/2014/main" id="{895B51F5-D51E-2650-E38D-A9FE045769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6" name="Text Box 27">
              <a:extLst>
                <a:ext uri="{FF2B5EF4-FFF2-40B4-BE49-F238E27FC236}">
                  <a16:creationId xmlns:a16="http://schemas.microsoft.com/office/drawing/2014/main" id="{57EA919C-1ED8-744E-7DC5-FF9E4DE5F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C915705A-9A38-8C59-8EE3-49298BF40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8" name="Text Box 29">
              <a:extLst>
                <a:ext uri="{FF2B5EF4-FFF2-40B4-BE49-F238E27FC236}">
                  <a16:creationId xmlns:a16="http://schemas.microsoft.com/office/drawing/2014/main" id="{10E31FBE-F174-49C1-786B-755DCDAE4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19" name="Group 30">
              <a:extLst>
                <a:ext uri="{FF2B5EF4-FFF2-40B4-BE49-F238E27FC236}">
                  <a16:creationId xmlns:a16="http://schemas.microsoft.com/office/drawing/2014/main" id="{734AFF8B-0650-EE3E-8BDB-E20514D998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22" name="Oval 31">
                <a:extLst>
                  <a:ext uri="{FF2B5EF4-FFF2-40B4-BE49-F238E27FC236}">
                    <a16:creationId xmlns:a16="http://schemas.microsoft.com/office/drawing/2014/main" id="{B46E9F9C-7866-F727-47C8-26A1FC4D4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" name="Line 32">
                <a:extLst>
                  <a:ext uri="{FF2B5EF4-FFF2-40B4-BE49-F238E27FC236}">
                    <a16:creationId xmlns:a16="http://schemas.microsoft.com/office/drawing/2014/main" id="{063E25CF-7E0B-245A-F813-4D8C25136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" name="Line 33">
                <a:extLst>
                  <a:ext uri="{FF2B5EF4-FFF2-40B4-BE49-F238E27FC236}">
                    <a16:creationId xmlns:a16="http://schemas.microsoft.com/office/drawing/2014/main" id="{0F9A4DB4-79E2-894A-B554-37DDA8EA2F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" name="Rectangle 34">
                <a:extLst>
                  <a:ext uri="{FF2B5EF4-FFF2-40B4-BE49-F238E27FC236}">
                    <a16:creationId xmlns:a16="http://schemas.microsoft.com/office/drawing/2014/main" id="{59C095D9-2FB0-54CE-817E-158EFFB2E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26" name="Oval 35">
                <a:extLst>
                  <a:ext uri="{FF2B5EF4-FFF2-40B4-BE49-F238E27FC236}">
                    <a16:creationId xmlns:a16="http://schemas.microsoft.com/office/drawing/2014/main" id="{B4CB0418-D68B-4950-F344-DD62E03DEF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7" name="Group 36">
                <a:extLst>
                  <a:ext uri="{FF2B5EF4-FFF2-40B4-BE49-F238E27FC236}">
                    <a16:creationId xmlns:a16="http://schemas.microsoft.com/office/drawing/2014/main" id="{737FF7A6-ECBA-DD27-239A-09221E292B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28" name="Rectangle 37">
                  <a:extLst>
                    <a:ext uri="{FF2B5EF4-FFF2-40B4-BE49-F238E27FC236}">
                      <a16:creationId xmlns:a16="http://schemas.microsoft.com/office/drawing/2014/main" id="{C43F3909-446D-13EA-04F6-4BCC8FEF05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" name="Text Box 38">
                  <a:extLst>
                    <a:ext uri="{FF2B5EF4-FFF2-40B4-BE49-F238E27FC236}">
                      <a16:creationId xmlns:a16="http://schemas.microsoft.com/office/drawing/2014/main" id="{3CEAC4C9-B683-9496-CB4C-0E47A3F56A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20" name="Text Box 39">
              <a:extLst>
                <a:ext uri="{FF2B5EF4-FFF2-40B4-BE49-F238E27FC236}">
                  <a16:creationId xmlns:a16="http://schemas.microsoft.com/office/drawing/2014/main" id="{1E4DC8E2-FEA8-E2C6-C2DD-C3FF707DC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1076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21" name="Line 40">
              <a:extLst>
                <a:ext uri="{FF2B5EF4-FFF2-40B4-BE49-F238E27FC236}">
                  <a16:creationId xmlns:a16="http://schemas.microsoft.com/office/drawing/2014/main" id="{707D6654-71D9-2C84-68AD-0B1EB3B377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" name="Group 6">
            <a:extLst>
              <a:ext uri="{FF2B5EF4-FFF2-40B4-BE49-F238E27FC236}">
                <a16:creationId xmlns:a16="http://schemas.microsoft.com/office/drawing/2014/main" id="{09070271-1FAD-9DF0-064E-3B836128AD4D}"/>
              </a:ext>
            </a:extLst>
          </p:cNvPr>
          <p:cNvGrpSpPr>
            <a:grpSpLocks/>
          </p:cNvGrpSpPr>
          <p:nvPr/>
        </p:nvGrpSpPr>
        <p:grpSpPr bwMode="auto">
          <a:xfrm>
            <a:off x="9353490" y="599379"/>
            <a:ext cx="2184400" cy="1314450"/>
            <a:chOff x="3625" y="1076"/>
            <a:chExt cx="1376" cy="828"/>
          </a:xfrm>
        </p:grpSpPr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127A2392-40A6-C706-7BDC-727530AC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41A6CB24-E1B8-52E6-45C9-EB11C2E69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" name="Oval 9">
              <a:extLst>
                <a:ext uri="{FF2B5EF4-FFF2-40B4-BE49-F238E27FC236}">
                  <a16:creationId xmlns:a16="http://schemas.microsoft.com/office/drawing/2014/main" id="{F69DB61A-870B-3C3D-CE9A-F2060F2D4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B68DA22A-A876-6AA7-8746-58FA184DB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DDA7F00A-2A6C-ACCD-4874-7F6628213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Rectangle 12">
              <a:extLst>
                <a:ext uri="{FF2B5EF4-FFF2-40B4-BE49-F238E27FC236}">
                  <a16:creationId xmlns:a16="http://schemas.microsoft.com/office/drawing/2014/main" id="{C128A3FE-4813-45E5-C194-E9ACB876C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47" name="Oval 13">
              <a:extLst>
                <a:ext uri="{FF2B5EF4-FFF2-40B4-BE49-F238E27FC236}">
                  <a16:creationId xmlns:a16="http://schemas.microsoft.com/office/drawing/2014/main" id="{AE4C247D-DCC6-048B-5095-3F5354168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050FBE3-8CE4-30B5-B49F-031FD9355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2351B9F0-81E8-DF1C-857E-26029333E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0" name="Group 16">
              <a:extLst>
                <a:ext uri="{FF2B5EF4-FFF2-40B4-BE49-F238E27FC236}">
                  <a16:creationId xmlns:a16="http://schemas.microsoft.com/office/drawing/2014/main" id="{18A97C03-B8DD-F287-7F72-34D366CB9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74" name="Rectangle 17">
                <a:extLst>
                  <a:ext uri="{FF2B5EF4-FFF2-40B4-BE49-F238E27FC236}">
                    <a16:creationId xmlns:a16="http://schemas.microsoft.com/office/drawing/2014/main" id="{A8DE151F-49A9-9A68-F31F-B2F7DAB09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" name="Text Box 18">
                <a:extLst>
                  <a:ext uri="{FF2B5EF4-FFF2-40B4-BE49-F238E27FC236}">
                    <a16:creationId xmlns:a16="http://schemas.microsoft.com/office/drawing/2014/main" id="{2D5EC82A-54FF-43FF-47AD-A5052039D9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51" name="Group 19">
              <a:extLst>
                <a:ext uri="{FF2B5EF4-FFF2-40B4-BE49-F238E27FC236}">
                  <a16:creationId xmlns:a16="http://schemas.microsoft.com/office/drawing/2014/main" id="{F3350D39-CA5D-22FB-6523-09F97A3EE1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66" name="Oval 20">
                <a:extLst>
                  <a:ext uri="{FF2B5EF4-FFF2-40B4-BE49-F238E27FC236}">
                    <a16:creationId xmlns:a16="http://schemas.microsoft.com/office/drawing/2014/main" id="{65D33F41-6094-4A4D-5C00-17BEDDC8D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" name="Line 21">
                <a:extLst>
                  <a:ext uri="{FF2B5EF4-FFF2-40B4-BE49-F238E27FC236}">
                    <a16:creationId xmlns:a16="http://schemas.microsoft.com/office/drawing/2014/main" id="{EF8A3D00-02F1-7A04-A98C-A6F39513C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" name="Line 22">
                <a:extLst>
                  <a:ext uri="{FF2B5EF4-FFF2-40B4-BE49-F238E27FC236}">
                    <a16:creationId xmlns:a16="http://schemas.microsoft.com/office/drawing/2014/main" id="{2B08BEDB-0E84-1794-0C07-61A18357E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9" name="Rectangle 23">
                <a:extLst>
                  <a:ext uri="{FF2B5EF4-FFF2-40B4-BE49-F238E27FC236}">
                    <a16:creationId xmlns:a16="http://schemas.microsoft.com/office/drawing/2014/main" id="{F9CF6188-D022-F680-F117-B8EFAA7E0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70" name="Oval 24">
                <a:extLst>
                  <a:ext uri="{FF2B5EF4-FFF2-40B4-BE49-F238E27FC236}">
                    <a16:creationId xmlns:a16="http://schemas.microsoft.com/office/drawing/2014/main" id="{9EC2189D-0FA5-7381-23CA-29B7ABF3C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1" name="Group 25">
                <a:extLst>
                  <a:ext uri="{FF2B5EF4-FFF2-40B4-BE49-F238E27FC236}">
                    <a16:creationId xmlns:a16="http://schemas.microsoft.com/office/drawing/2014/main" id="{1A1F8D67-CF4E-E745-B8FD-930C5B886D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72" name="Rectangle 26">
                  <a:extLst>
                    <a:ext uri="{FF2B5EF4-FFF2-40B4-BE49-F238E27FC236}">
                      <a16:creationId xmlns:a16="http://schemas.microsoft.com/office/drawing/2014/main" id="{1B15D1EF-27D8-1C99-DB01-5023CB69CD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3" name="Text Box 27">
                  <a:extLst>
                    <a:ext uri="{FF2B5EF4-FFF2-40B4-BE49-F238E27FC236}">
                      <a16:creationId xmlns:a16="http://schemas.microsoft.com/office/drawing/2014/main" id="{5F5BCB9D-C61C-14BC-6E07-2FE84FEDB8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2" name="Text Box 28">
              <a:extLst>
                <a:ext uri="{FF2B5EF4-FFF2-40B4-BE49-F238E27FC236}">
                  <a16:creationId xmlns:a16="http://schemas.microsoft.com/office/drawing/2014/main" id="{99D8F4EB-B2DC-7CDF-0F8C-3D1EAF694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3" name="Text Box 29">
              <a:extLst>
                <a:ext uri="{FF2B5EF4-FFF2-40B4-BE49-F238E27FC236}">
                  <a16:creationId xmlns:a16="http://schemas.microsoft.com/office/drawing/2014/main" id="{C7248838-A08B-9B89-0179-DAFB55C5F2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4" name="Text Box 30">
              <a:extLst>
                <a:ext uri="{FF2B5EF4-FFF2-40B4-BE49-F238E27FC236}">
                  <a16:creationId xmlns:a16="http://schemas.microsoft.com/office/drawing/2014/main" id="{FECABAC5-9562-1861-A73F-67DB587CE4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55" name="Group 31">
              <a:extLst>
                <a:ext uri="{FF2B5EF4-FFF2-40B4-BE49-F238E27FC236}">
                  <a16:creationId xmlns:a16="http://schemas.microsoft.com/office/drawing/2014/main" id="{ED870F3C-1E53-89B7-23DD-98AF296B5B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58" name="Oval 32">
                <a:extLst>
                  <a:ext uri="{FF2B5EF4-FFF2-40B4-BE49-F238E27FC236}">
                    <a16:creationId xmlns:a16="http://schemas.microsoft.com/office/drawing/2014/main" id="{EFC3715E-8320-70E0-C45D-24AFD0B59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" name="Line 33">
                <a:extLst>
                  <a:ext uri="{FF2B5EF4-FFF2-40B4-BE49-F238E27FC236}">
                    <a16:creationId xmlns:a16="http://schemas.microsoft.com/office/drawing/2014/main" id="{F6DA0788-9F76-5B52-1A95-9A25372ED4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" name="Line 34">
                <a:extLst>
                  <a:ext uri="{FF2B5EF4-FFF2-40B4-BE49-F238E27FC236}">
                    <a16:creationId xmlns:a16="http://schemas.microsoft.com/office/drawing/2014/main" id="{C5D9ED77-A1AB-1FFD-16C5-EFD7317C4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" name="Rectangle 35">
                <a:extLst>
                  <a:ext uri="{FF2B5EF4-FFF2-40B4-BE49-F238E27FC236}">
                    <a16:creationId xmlns:a16="http://schemas.microsoft.com/office/drawing/2014/main" id="{2C49E6EE-8DF2-D625-2E5E-92EDF2502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62" name="Oval 36">
                <a:extLst>
                  <a:ext uri="{FF2B5EF4-FFF2-40B4-BE49-F238E27FC236}">
                    <a16:creationId xmlns:a16="http://schemas.microsoft.com/office/drawing/2014/main" id="{EA05F7DB-9102-DCEA-6FA7-88F3E26FA6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63" name="Group 37">
                <a:extLst>
                  <a:ext uri="{FF2B5EF4-FFF2-40B4-BE49-F238E27FC236}">
                    <a16:creationId xmlns:a16="http://schemas.microsoft.com/office/drawing/2014/main" id="{E86E87CD-5D91-A574-3E17-434025647C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4" name="Rectangle 38">
                  <a:extLst>
                    <a:ext uri="{FF2B5EF4-FFF2-40B4-BE49-F238E27FC236}">
                      <a16:creationId xmlns:a16="http://schemas.microsoft.com/office/drawing/2014/main" id="{4D3B87B3-1D41-0173-C893-F7A676EF5B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" name="Text Box 39">
                  <a:extLst>
                    <a:ext uri="{FF2B5EF4-FFF2-40B4-BE49-F238E27FC236}">
                      <a16:creationId xmlns:a16="http://schemas.microsoft.com/office/drawing/2014/main" id="{12D2DCD9-3DFA-EDEF-9269-94A00D98348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6" name="Text Box 40">
              <a:extLst>
                <a:ext uri="{FF2B5EF4-FFF2-40B4-BE49-F238E27FC236}">
                  <a16:creationId xmlns:a16="http://schemas.microsoft.com/office/drawing/2014/main" id="{D37A42EF-999F-6EB8-A258-5C1799E80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4" y="1076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60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7" name="Line 41">
              <a:extLst>
                <a:ext uri="{FF2B5EF4-FFF2-40B4-BE49-F238E27FC236}">
                  <a16:creationId xmlns:a16="http://schemas.microsoft.com/office/drawing/2014/main" id="{DD6BB8E9-7FA8-F599-3AAD-DBB14F1776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A46D5445-F29C-B15C-DD06-3079CCA26AAE}"/>
              </a:ext>
            </a:extLst>
          </p:cNvPr>
          <p:cNvSpPr txBox="1"/>
          <p:nvPr/>
        </p:nvSpPr>
        <p:spPr>
          <a:xfrm>
            <a:off x="8651685" y="2853610"/>
            <a:ext cx="3248286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y--&gt;z-------x ( z--&gt; y--&gt;x)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新老信息混合，老信息为</a:t>
            </a:r>
            <a:r>
              <a:rPr lang="en-US" altLang="zh-CN" dirty="0"/>
              <a:t>z</a:t>
            </a:r>
            <a:r>
              <a:rPr lang="zh-CN" altLang="en-US" dirty="0"/>
              <a:t>到</a:t>
            </a:r>
            <a:r>
              <a:rPr lang="en-US" altLang="zh-CN" dirty="0"/>
              <a:t>x</a:t>
            </a:r>
            <a:r>
              <a:rPr lang="zh-CN" altLang="en-US" dirty="0"/>
              <a:t>的最小花费为</a:t>
            </a:r>
            <a:r>
              <a:rPr lang="en-US" altLang="zh-CN" dirty="0"/>
              <a:t>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两个节点</a:t>
            </a:r>
            <a:r>
              <a:rPr lang="en-US" altLang="zh-CN" dirty="0"/>
              <a:t>(y</a:t>
            </a:r>
            <a:r>
              <a:rPr lang="zh-CN" altLang="en-US" dirty="0"/>
              <a:t>和</a:t>
            </a:r>
            <a:r>
              <a:rPr lang="en-US" altLang="zh-CN" dirty="0"/>
              <a:t>z) </a:t>
            </a:r>
            <a:r>
              <a:rPr lang="zh-CN" altLang="en-US" dirty="0"/>
              <a:t>之间的路由回路</a:t>
            </a:r>
            <a:endParaRPr lang="en-US" altLang="zh-CN" dirty="0"/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2973E18D-197F-E4CD-FFA1-9E2BE4F100B7}"/>
              </a:ext>
            </a:extLst>
          </p:cNvPr>
          <p:cNvGrpSpPr/>
          <p:nvPr/>
        </p:nvGrpSpPr>
        <p:grpSpPr>
          <a:xfrm>
            <a:off x="5671446" y="2129034"/>
            <a:ext cx="4596386" cy="595203"/>
            <a:chOff x="5742822" y="2374857"/>
            <a:chExt cx="4596386" cy="595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5C26A117-3544-F596-5C1F-0B8A8E566A4E}"/>
                    </a:ext>
                  </a:extLst>
                </p:cNvPr>
                <p:cNvSpPr txBox="1"/>
                <p:nvPr/>
              </p:nvSpPr>
              <p:spPr>
                <a:xfrm>
                  <a:off x="5742822" y="2374857"/>
                  <a:ext cx="4596386" cy="2989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5C26A117-3544-F596-5C1F-0B8A8E566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2822" y="2374857"/>
                  <a:ext cx="4596386" cy="298928"/>
                </a:xfrm>
                <a:prstGeom prst="rect">
                  <a:avLst/>
                </a:prstGeom>
                <a:blipFill>
                  <a:blip r:embed="rId3"/>
                  <a:stretch>
                    <a:fillRect l="-663" b="-20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B4D34294-2F79-46EE-9836-2A70E384DDB2}"/>
                    </a:ext>
                  </a:extLst>
                </p:cNvPr>
                <p:cNvSpPr txBox="1"/>
                <p:nvPr/>
              </p:nvSpPr>
              <p:spPr>
                <a:xfrm>
                  <a:off x="6087768" y="2600728"/>
                  <a:ext cx="317742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60+0, 1+5</m:t>
                                </m:r>
                              </m:e>
                            </m:d>
                          </m:e>
                        </m:fun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B4D34294-2F79-46EE-9836-2A70E384DD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7768" y="2600728"/>
                  <a:ext cx="317742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84787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DAB96-C4C1-9811-5FCE-AB4B53982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距离向量路由算法：无穷计数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3989AE-22BB-3353-0697-B1C5C633E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3278187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accent4"/>
                </a:solidFill>
              </a:rPr>
              <a:t>无穷计数</a:t>
            </a:r>
            <a:r>
              <a:rPr lang="en-US" altLang="zh-CN" b="1" dirty="0">
                <a:solidFill>
                  <a:schemeClr val="accent4"/>
                </a:solidFill>
              </a:rPr>
              <a:t>(count to infinity)</a:t>
            </a:r>
            <a:r>
              <a:rPr lang="zh-CN" altLang="en-US" b="1" dirty="0">
                <a:solidFill>
                  <a:schemeClr val="accent4"/>
                </a:solidFill>
              </a:rPr>
              <a:t>问题：</a:t>
            </a:r>
            <a:r>
              <a:rPr lang="zh-CN" altLang="en-US" sz="2000" dirty="0"/>
              <a:t>坏消息的传播非常缓慢</a:t>
            </a:r>
            <a:endParaRPr lang="en-US" altLang="zh-CN" sz="2000" dirty="0"/>
          </a:p>
          <a:p>
            <a:r>
              <a:rPr lang="zh-CN" altLang="en-US" sz="2000" dirty="0"/>
              <a:t>新的坏消息</a:t>
            </a:r>
            <a:r>
              <a:rPr lang="zh-CN" altLang="en-US" dirty="0"/>
              <a:t>还没有来得及传播到所有节点之前，</a:t>
            </a:r>
            <a:r>
              <a:rPr lang="zh-CN" altLang="en-US" sz="2000" dirty="0"/>
              <a:t>之前的老信息仍然在传播</a:t>
            </a:r>
            <a:endParaRPr lang="en-US" altLang="zh-CN" sz="2000" dirty="0"/>
          </a:p>
          <a:p>
            <a:r>
              <a:rPr lang="zh-CN" altLang="en-US" sz="2000" dirty="0"/>
              <a:t>新老信息混合在一起，导致了路由回路的出现</a:t>
            </a:r>
            <a:endParaRPr lang="en-US" altLang="zh-CN" dirty="0"/>
          </a:p>
          <a:p>
            <a:r>
              <a:rPr lang="zh-CN" altLang="en-US" dirty="0"/>
              <a:t>链路断开时，如果出现路由回路，则最小路径花费缓慢增长，直到增长到一个</a:t>
            </a:r>
            <a:r>
              <a:rPr lang="zh-CN" altLang="en-US" b="1" dirty="0">
                <a:solidFill>
                  <a:schemeClr val="accent4"/>
                </a:solidFill>
              </a:rPr>
              <a:t>无穷大</a:t>
            </a:r>
            <a:r>
              <a:rPr lang="zh-CN" altLang="en-US" dirty="0"/>
              <a:t>的值时，才知道该目的地不可达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zh-CN" b="1" dirty="0">
                <a:solidFill>
                  <a:schemeClr val="accent4"/>
                </a:solidFill>
              </a:rPr>
              <a:t>带反向抑制的水平分割（</a:t>
            </a:r>
            <a:r>
              <a:rPr lang="en-US" altLang="zh-CN" b="1" dirty="0">
                <a:solidFill>
                  <a:schemeClr val="accent4"/>
                </a:solidFill>
              </a:rPr>
              <a:t>split horizon with poisoned reverse</a:t>
            </a:r>
            <a:r>
              <a:rPr lang="zh-CN" altLang="zh-CN" b="1" dirty="0">
                <a:solidFill>
                  <a:schemeClr val="accent4"/>
                </a:solidFill>
              </a:rPr>
              <a:t>）</a:t>
            </a:r>
            <a:endParaRPr lang="en-US" altLang="zh-CN" b="1" dirty="0">
              <a:solidFill>
                <a:schemeClr val="accent4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zh-CN" sz="2200" dirty="0"/>
              <a:t>给邻居路由器发送</a:t>
            </a:r>
            <a:r>
              <a:rPr lang="zh-CN" altLang="en-US" sz="2200" dirty="0"/>
              <a:t>距离向量时将</a:t>
            </a:r>
            <a:r>
              <a:rPr lang="zh-CN" altLang="zh-CN" sz="2200" dirty="0"/>
              <a:t>那些从该邻居了解到的路由信息的距离</a:t>
            </a:r>
            <a:r>
              <a:rPr lang="zh-CN" altLang="en-US" sz="2200" b="1" dirty="0">
                <a:solidFill>
                  <a:schemeClr val="accent4"/>
                </a:solidFill>
              </a:rPr>
              <a:t>设</a:t>
            </a:r>
            <a:r>
              <a:rPr lang="zh-CN" altLang="zh-CN" sz="2200" b="1" dirty="0">
                <a:solidFill>
                  <a:schemeClr val="accent4"/>
                </a:solidFill>
              </a:rPr>
              <a:t>为无穷大</a:t>
            </a:r>
            <a:endParaRPr lang="en-US" altLang="zh-CN" sz="2200" b="1" dirty="0">
              <a:solidFill>
                <a:schemeClr val="accent4"/>
              </a:solidFill>
            </a:endParaRPr>
          </a:p>
          <a:p>
            <a:endParaRPr lang="zh-CN" altLang="en-US" dirty="0"/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9C085EB2-2184-9797-E0FB-6B8489B847ED}"/>
              </a:ext>
            </a:extLst>
          </p:cNvPr>
          <p:cNvGrpSpPr>
            <a:grpSpLocks/>
          </p:cNvGrpSpPr>
          <p:nvPr/>
        </p:nvGrpSpPr>
        <p:grpSpPr bwMode="auto">
          <a:xfrm>
            <a:off x="9353490" y="700979"/>
            <a:ext cx="2184400" cy="1212850"/>
            <a:chOff x="3625" y="1140"/>
            <a:chExt cx="1376" cy="764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A3550B54-AA47-D696-B7B9-83B48806B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071B8BC0-089F-60CC-FF7C-10D0386F5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8FDCE8FF-7A8D-2A71-90FC-BDC2C87D6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CC40975C-713D-DE0C-EE64-79199C8A3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98B2F094-BD92-C410-7F2E-7AB9D33D0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F91ECA14-5019-82B1-27D4-4D23B0E8B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240722C0-D320-613F-E718-BEC853373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9B5DCF05-6A89-EEA7-28DE-DAF57F617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" name="Group 16">
              <a:extLst>
                <a:ext uri="{FF2B5EF4-FFF2-40B4-BE49-F238E27FC236}">
                  <a16:creationId xmlns:a16="http://schemas.microsoft.com/office/drawing/2014/main" id="{FDC9A968-D5D0-FA7B-E962-F80D846E65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8" y="1494"/>
              <a:ext cx="202" cy="291"/>
              <a:chOff x="2951" y="2397"/>
              <a:chExt cx="205" cy="291"/>
            </a:xfrm>
          </p:grpSpPr>
          <p:sp>
            <p:nvSpPr>
              <p:cNvPr id="38" name="Rectangle 17">
                <a:extLst>
                  <a:ext uri="{FF2B5EF4-FFF2-40B4-BE49-F238E27FC236}">
                    <a16:creationId xmlns:a16="http://schemas.microsoft.com/office/drawing/2014/main" id="{8B950BDE-7EAB-E289-C055-9BBA82508C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9" name="Text Box 18">
                <a:extLst>
                  <a:ext uri="{FF2B5EF4-FFF2-40B4-BE49-F238E27FC236}">
                    <a16:creationId xmlns:a16="http://schemas.microsoft.com/office/drawing/2014/main" id="{81567838-365F-1096-8EBE-EE6E6D58F9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7"/>
                <a:ext cx="20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rPr>
                  <a:t>z</a:t>
                </a:r>
              </a:p>
            </p:txBody>
          </p:sp>
        </p:grpSp>
        <p:grpSp>
          <p:nvGrpSpPr>
            <p:cNvPr id="15" name="Group 19">
              <a:extLst>
                <a:ext uri="{FF2B5EF4-FFF2-40B4-BE49-F238E27FC236}">
                  <a16:creationId xmlns:a16="http://schemas.microsoft.com/office/drawing/2014/main" id="{94537746-311B-A3F0-9FA7-AB3FEE2EB6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498"/>
              <a:ext cx="316" cy="291"/>
              <a:chOff x="1740" y="2266"/>
              <a:chExt cx="316" cy="291"/>
            </a:xfrm>
          </p:grpSpPr>
          <p:sp>
            <p:nvSpPr>
              <p:cNvPr id="30" name="Oval 20">
                <a:extLst>
                  <a:ext uri="{FF2B5EF4-FFF2-40B4-BE49-F238E27FC236}">
                    <a16:creationId xmlns:a16="http://schemas.microsoft.com/office/drawing/2014/main" id="{AEFBC5EA-54FC-D1F0-65E9-FD78344FC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" name="Line 21">
                <a:extLst>
                  <a:ext uri="{FF2B5EF4-FFF2-40B4-BE49-F238E27FC236}">
                    <a16:creationId xmlns:a16="http://schemas.microsoft.com/office/drawing/2014/main" id="{C86B3F0F-2BA4-34C8-92C2-D518B48FA2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" name="Line 22">
                <a:extLst>
                  <a:ext uri="{FF2B5EF4-FFF2-40B4-BE49-F238E27FC236}">
                    <a16:creationId xmlns:a16="http://schemas.microsoft.com/office/drawing/2014/main" id="{9C9B7699-DDD5-ADF5-11DC-71669F8BF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C188D544-A4DC-8BD7-D4E2-D71CD4019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34" name="Oval 24">
                <a:extLst>
                  <a:ext uri="{FF2B5EF4-FFF2-40B4-BE49-F238E27FC236}">
                    <a16:creationId xmlns:a16="http://schemas.microsoft.com/office/drawing/2014/main" id="{E99C3216-5455-AB53-3E7B-FA09E495E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5" name="Group 25">
                <a:extLst>
                  <a:ext uri="{FF2B5EF4-FFF2-40B4-BE49-F238E27FC236}">
                    <a16:creationId xmlns:a16="http://schemas.microsoft.com/office/drawing/2014/main" id="{30E62BF7-8095-070E-FA06-A812715898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7" y="2266"/>
                <a:ext cx="213" cy="291"/>
                <a:chOff x="2949" y="2389"/>
                <a:chExt cx="216" cy="291"/>
              </a:xfrm>
            </p:grpSpPr>
            <p:sp>
              <p:nvSpPr>
                <p:cNvPr id="36" name="Rectangle 26">
                  <a:extLst>
                    <a:ext uri="{FF2B5EF4-FFF2-40B4-BE49-F238E27FC236}">
                      <a16:creationId xmlns:a16="http://schemas.microsoft.com/office/drawing/2014/main" id="{817EFA98-8D48-2768-0EEE-59FCBF61AB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7" name="Text Box 27">
                  <a:extLst>
                    <a:ext uri="{FF2B5EF4-FFF2-40B4-BE49-F238E27FC236}">
                      <a16:creationId xmlns:a16="http://schemas.microsoft.com/office/drawing/2014/main" id="{0836AD60-3931-47F6-AFBD-40068F43CD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389"/>
                  <a:ext cx="216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charset="0"/>
                      <a:ea typeface="ＭＳ Ｐゴシック" charset="0"/>
                    </a:rPr>
                    <a:t>x</a:t>
                  </a:r>
                </a:p>
              </p:txBody>
            </p:sp>
          </p:grpSp>
        </p:grpSp>
        <p:sp>
          <p:nvSpPr>
            <p:cNvPr id="16" name="Text Box 28">
              <a:extLst>
                <a:ext uri="{FF2B5EF4-FFF2-40B4-BE49-F238E27FC236}">
                  <a16:creationId xmlns:a16="http://schemas.microsoft.com/office/drawing/2014/main" id="{84B86AE1-6877-516C-7485-39EE305A7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3" y="1449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7" name="Text Box 29">
              <a:extLst>
                <a:ext uri="{FF2B5EF4-FFF2-40B4-BE49-F238E27FC236}">
                  <a16:creationId xmlns:a16="http://schemas.microsoft.com/office/drawing/2014/main" id="{C970F38B-0069-7DF2-6E0F-56312430C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1" y="1325"/>
              <a:ext cx="1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000000"/>
                  </a:solidFill>
                  <a:latin typeface="Comic Sans MS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19" name="Group 31">
              <a:extLst>
                <a:ext uri="{FF2B5EF4-FFF2-40B4-BE49-F238E27FC236}">
                  <a16:creationId xmlns:a16="http://schemas.microsoft.com/office/drawing/2014/main" id="{1C47BADC-C3C9-DEC3-24D2-CDAA67B85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22" name="Oval 32">
                <a:extLst>
                  <a:ext uri="{FF2B5EF4-FFF2-40B4-BE49-F238E27FC236}">
                    <a16:creationId xmlns:a16="http://schemas.microsoft.com/office/drawing/2014/main" id="{4410F4CB-A776-532D-9DF2-20EF68D70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" name="Line 33">
                <a:extLst>
                  <a:ext uri="{FF2B5EF4-FFF2-40B4-BE49-F238E27FC236}">
                    <a16:creationId xmlns:a16="http://schemas.microsoft.com/office/drawing/2014/main" id="{5D54C4CC-8177-74D6-95F7-989141DE1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" name="Line 34">
                <a:extLst>
                  <a:ext uri="{FF2B5EF4-FFF2-40B4-BE49-F238E27FC236}">
                    <a16:creationId xmlns:a16="http://schemas.microsoft.com/office/drawing/2014/main" id="{0055DBAD-D138-6434-278B-EEEBA3BFF9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" name="Rectangle 35">
                <a:extLst>
                  <a:ext uri="{FF2B5EF4-FFF2-40B4-BE49-F238E27FC236}">
                    <a16:creationId xmlns:a16="http://schemas.microsoft.com/office/drawing/2014/main" id="{CB6E2CC1-F30A-268D-6A82-84254F803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26" name="Oval 36">
                <a:extLst>
                  <a:ext uri="{FF2B5EF4-FFF2-40B4-BE49-F238E27FC236}">
                    <a16:creationId xmlns:a16="http://schemas.microsoft.com/office/drawing/2014/main" id="{B6FCB89F-33B2-36B5-FFA8-88092936C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7" name="Group 37">
                <a:extLst>
                  <a:ext uri="{FF2B5EF4-FFF2-40B4-BE49-F238E27FC236}">
                    <a16:creationId xmlns:a16="http://schemas.microsoft.com/office/drawing/2014/main" id="{D125BB98-289D-A60C-D48B-878B1EB220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28" name="Rectangle 38">
                  <a:extLst>
                    <a:ext uri="{FF2B5EF4-FFF2-40B4-BE49-F238E27FC236}">
                      <a16:creationId xmlns:a16="http://schemas.microsoft.com/office/drawing/2014/main" id="{69247E35-A5E5-2797-1417-C1BB7C42E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" name="Text Box 39">
                  <a:extLst>
                    <a:ext uri="{FF2B5EF4-FFF2-40B4-BE49-F238E27FC236}">
                      <a16:creationId xmlns:a16="http://schemas.microsoft.com/office/drawing/2014/main" id="{18CA33BA-907C-611B-30AA-FBAB98EEAE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20" name="Text Box 40">
              <a:extLst>
                <a:ext uri="{FF2B5EF4-FFF2-40B4-BE49-F238E27FC236}">
                  <a16:creationId xmlns:a16="http://schemas.microsoft.com/office/drawing/2014/main" id="{07AB0CB8-47CE-8A01-4BE0-6B33886E7B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" y="1310"/>
              <a:ext cx="4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断开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21" name="Line 41">
              <a:extLst>
                <a:ext uri="{FF2B5EF4-FFF2-40B4-BE49-F238E27FC236}">
                  <a16:creationId xmlns:a16="http://schemas.microsoft.com/office/drawing/2014/main" id="{DAAD8C2D-6741-52C4-F9CD-E6ADB9BA01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2" y="1485"/>
              <a:ext cx="123" cy="8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0" name="乘号 39">
            <a:extLst>
              <a:ext uri="{FF2B5EF4-FFF2-40B4-BE49-F238E27FC236}">
                <a16:creationId xmlns:a16="http://schemas.microsoft.com/office/drawing/2014/main" id="{78289944-2FE2-9321-559C-8A5D533A61C5}"/>
              </a:ext>
            </a:extLst>
          </p:cNvPr>
          <p:cNvSpPr/>
          <p:nvPr/>
        </p:nvSpPr>
        <p:spPr>
          <a:xfrm>
            <a:off x="10721916" y="978394"/>
            <a:ext cx="224656" cy="33218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BC5E0B2A-1D5B-8D77-37A8-2072FCE313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01386" y="4874548"/>
            <a:ext cx="846296" cy="456469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90EC91BE-F0A2-2E4B-0E48-DBAD26A6D6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16182" y="4874548"/>
            <a:ext cx="846296" cy="456469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22D9F868-439B-E224-8ACA-1A1A606D87F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17786" y="4857756"/>
            <a:ext cx="524792" cy="435930"/>
          </a:xfrm>
          <a:prstGeom prst="rect">
            <a:avLst/>
          </a:prstGeom>
        </p:spPr>
      </p:pic>
      <p:sp>
        <p:nvSpPr>
          <p:cNvPr id="44" name="云形 43">
            <a:extLst>
              <a:ext uri="{FF2B5EF4-FFF2-40B4-BE49-F238E27FC236}">
                <a16:creationId xmlns:a16="http://schemas.microsoft.com/office/drawing/2014/main" id="{333A2EC2-C2F4-19CB-63A5-1E21E7C1A402}"/>
              </a:ext>
            </a:extLst>
          </p:cNvPr>
          <p:cNvSpPr/>
          <p:nvPr/>
        </p:nvSpPr>
        <p:spPr>
          <a:xfrm>
            <a:off x="8190982" y="4392639"/>
            <a:ext cx="1694265" cy="142028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E9B91B9-A5CE-1788-C2B0-5EA5F9903C0D}"/>
              </a:ext>
            </a:extLst>
          </p:cNvPr>
          <p:cNvCxnSpPr>
            <a:stCxn id="42" idx="3"/>
            <a:endCxn id="44" idx="2"/>
          </p:cNvCxnSpPr>
          <p:nvPr/>
        </p:nvCxnSpPr>
        <p:spPr>
          <a:xfrm flipV="1">
            <a:off x="7462478" y="5102782"/>
            <a:ext cx="733759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0A1D0C7-9250-DC91-9276-820066374887}"/>
              </a:ext>
            </a:extLst>
          </p:cNvPr>
          <p:cNvCxnSpPr>
            <a:stCxn id="44" idx="0"/>
          </p:cNvCxnSpPr>
          <p:nvPr/>
        </p:nvCxnSpPr>
        <p:spPr>
          <a:xfrm flipV="1">
            <a:off x="9883835" y="5075721"/>
            <a:ext cx="634561" cy="270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65E69DA-8720-DF71-7FDD-9E9B87B0A145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4947682" y="5102783"/>
            <a:ext cx="16685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3D28D2C6-245E-DFAE-61AA-057420954ECC}"/>
              </a:ext>
            </a:extLst>
          </p:cNvPr>
          <p:cNvSpPr txBox="1"/>
          <p:nvPr/>
        </p:nvSpPr>
        <p:spPr>
          <a:xfrm>
            <a:off x="10437915" y="5327817"/>
            <a:ext cx="50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</a:t>
            </a:r>
            <a:endParaRPr lang="zh-CN" altLang="en-US" b="1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9907B90-F7D8-6007-EE9D-C025E590F487}"/>
              </a:ext>
            </a:extLst>
          </p:cNvPr>
          <p:cNvGrpSpPr/>
          <p:nvPr/>
        </p:nvGrpSpPr>
        <p:grpSpPr>
          <a:xfrm>
            <a:off x="5026900" y="5293686"/>
            <a:ext cx="1661578" cy="748989"/>
            <a:chOff x="2219786" y="3105552"/>
            <a:chExt cx="1661578" cy="748989"/>
          </a:xfrm>
        </p:grpSpPr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780AE6B7-48BD-1FAE-F97A-F188ED058FF0}"/>
                </a:ext>
              </a:extLst>
            </p:cNvPr>
            <p:cNvCxnSpPr/>
            <p:nvPr/>
          </p:nvCxnSpPr>
          <p:spPr>
            <a:xfrm flipH="1">
              <a:off x="2219786" y="3105552"/>
              <a:ext cx="1415432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17D0427-AB94-1187-13F9-3AB6A7A5C5A7}"/>
                </a:ext>
              </a:extLst>
            </p:cNvPr>
            <p:cNvSpPr txBox="1"/>
            <p:nvPr/>
          </p:nvSpPr>
          <p:spPr>
            <a:xfrm>
              <a:off x="2219786" y="3208210"/>
              <a:ext cx="16615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我到</a:t>
              </a:r>
              <a:r>
                <a:rPr lang="en-US" altLang="zh-CN" b="1" dirty="0"/>
                <a:t>x</a:t>
              </a:r>
              <a:r>
                <a:rPr lang="zh-CN" altLang="en-US" b="1" dirty="0"/>
                <a:t>的距离为</a:t>
              </a:r>
              <a:r>
                <a:rPr lang="en-US" altLang="zh-CN" b="1" dirty="0"/>
                <a:t>….</a:t>
              </a:r>
              <a:endParaRPr lang="zh-CN" altLang="en-US" b="1" dirty="0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C10B0487-64CB-E77F-80EB-F67834DA94FD}"/>
              </a:ext>
            </a:extLst>
          </p:cNvPr>
          <p:cNvSpPr txBox="1"/>
          <p:nvPr/>
        </p:nvSpPr>
        <p:spPr>
          <a:xfrm>
            <a:off x="6916518" y="5396344"/>
            <a:ext cx="50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Y</a:t>
            </a:r>
            <a:endParaRPr lang="zh-CN" altLang="en-US" b="1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AB9682-A293-9EF3-05E4-5F48082384AD}"/>
              </a:ext>
            </a:extLst>
          </p:cNvPr>
          <p:cNvSpPr txBox="1"/>
          <p:nvPr/>
        </p:nvSpPr>
        <p:spPr>
          <a:xfrm>
            <a:off x="4297246" y="5379411"/>
            <a:ext cx="444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z</a:t>
            </a:r>
            <a:endParaRPr lang="zh-CN" altLang="en-US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3B541F2-3E12-A6BA-9D68-2ADA6B6A51BA}"/>
              </a:ext>
            </a:extLst>
          </p:cNvPr>
          <p:cNvSpPr txBox="1"/>
          <p:nvPr/>
        </p:nvSpPr>
        <p:spPr>
          <a:xfrm>
            <a:off x="4064401" y="3956605"/>
            <a:ext cx="394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z</a:t>
            </a:r>
            <a:r>
              <a:rPr lang="zh-CN" altLang="en-US" b="1" dirty="0"/>
              <a:t>目前到</a:t>
            </a:r>
            <a:r>
              <a:rPr lang="en-US" altLang="zh-CN" b="1" dirty="0"/>
              <a:t>x</a:t>
            </a:r>
            <a:r>
              <a:rPr lang="zh-CN" altLang="en-US" b="1" dirty="0"/>
              <a:t>的路径中经过</a:t>
            </a:r>
            <a:r>
              <a:rPr lang="en-US" altLang="zh-CN" b="1" dirty="0"/>
              <a:t>Y</a:t>
            </a:r>
            <a:r>
              <a:rPr lang="zh-CN" altLang="en-US" b="1" dirty="0"/>
              <a:t>最短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3A71F42-C09A-28A6-D5C1-470E07211B39}"/>
              </a:ext>
            </a:extLst>
          </p:cNvPr>
          <p:cNvSpPr txBox="1"/>
          <p:nvPr/>
        </p:nvSpPr>
        <p:spPr>
          <a:xfrm>
            <a:off x="4915978" y="4409765"/>
            <a:ext cx="170020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sym typeface="Wingdings" panose="05000000000000000000" pitchFamily="2" charset="2"/>
              </a:rPr>
              <a:t>x, cost = 13</a:t>
            </a:r>
            <a:endParaRPr lang="zh-CN" altLang="en-US" dirty="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0DE2DD1-5383-034B-5BE8-6FE7E47F1303}"/>
              </a:ext>
            </a:extLst>
          </p:cNvPr>
          <p:cNvGrpSpPr/>
          <p:nvPr/>
        </p:nvGrpSpPr>
        <p:grpSpPr>
          <a:xfrm>
            <a:off x="5358171" y="4402004"/>
            <a:ext cx="2493803" cy="564697"/>
            <a:chOff x="2870372" y="4821335"/>
            <a:chExt cx="2493803" cy="564697"/>
          </a:xfrm>
        </p:grpSpPr>
        <p:sp>
          <p:nvSpPr>
            <p:cNvPr id="57" name="乘号 56">
              <a:extLst>
                <a:ext uri="{FF2B5EF4-FFF2-40B4-BE49-F238E27FC236}">
                  <a16:creationId xmlns:a16="http://schemas.microsoft.com/office/drawing/2014/main" id="{618C1DBE-F76A-2A26-BB49-13E981BB7257}"/>
                </a:ext>
              </a:extLst>
            </p:cNvPr>
            <p:cNvSpPr/>
            <p:nvPr/>
          </p:nvSpPr>
          <p:spPr>
            <a:xfrm>
              <a:off x="2870372" y="4922963"/>
              <a:ext cx="1230685" cy="463069"/>
            </a:xfrm>
            <a:prstGeom prst="mathMultiply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3AB208F-BC4C-8BCE-DC03-FBC9BA5EEFAF}"/>
                </a:ext>
              </a:extLst>
            </p:cNvPr>
            <p:cNvSpPr txBox="1"/>
            <p:nvPr/>
          </p:nvSpPr>
          <p:spPr>
            <a:xfrm>
              <a:off x="4175059" y="4821335"/>
              <a:ext cx="1189116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水平分割</a:t>
              </a: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446A3AB-108F-8686-896C-6B2DF103F7A7}"/>
              </a:ext>
            </a:extLst>
          </p:cNvPr>
          <p:cNvGrpSpPr/>
          <p:nvPr/>
        </p:nvGrpSpPr>
        <p:grpSpPr>
          <a:xfrm>
            <a:off x="4884514" y="6108002"/>
            <a:ext cx="4040502" cy="369332"/>
            <a:chOff x="2396715" y="6394333"/>
            <a:chExt cx="4040502" cy="369332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22AB6123-32DE-DC04-5643-8B7DF32035DE}"/>
                </a:ext>
              </a:extLst>
            </p:cNvPr>
            <p:cNvSpPr txBox="1"/>
            <p:nvPr/>
          </p:nvSpPr>
          <p:spPr>
            <a:xfrm>
              <a:off x="2396715" y="6394333"/>
              <a:ext cx="1700204" cy="3693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b="1" dirty="0">
                  <a:sym typeface="Wingdings" panose="05000000000000000000" pitchFamily="2" charset="2"/>
                </a:rPr>
                <a:t>x, cost = ∞</a:t>
              </a:r>
              <a:endParaRPr lang="zh-CN" altLang="en-US" b="1" dirty="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1001B377-8B5E-F22B-00D2-146466EEF7C8}"/>
                </a:ext>
              </a:extLst>
            </p:cNvPr>
            <p:cNvSpPr/>
            <p:nvPr/>
          </p:nvSpPr>
          <p:spPr>
            <a:xfrm>
              <a:off x="4175059" y="6394333"/>
              <a:ext cx="2262158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r>
                <a:rPr lang="zh-CN" altLang="en-US" b="1" dirty="0"/>
                <a:t>反向抑制的水平分割</a:t>
              </a:r>
            </a:p>
          </p:txBody>
        </p:sp>
      </p:grpSp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3C2D9203-53EF-273D-3D13-A7AE6BE7F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614401"/>
              </p:ext>
            </p:extLst>
          </p:nvPr>
        </p:nvGraphicFramePr>
        <p:xfrm>
          <a:off x="1079111" y="4685075"/>
          <a:ext cx="2563489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71058">
                  <a:extLst>
                    <a:ext uri="{9D8B030D-6E8A-4147-A177-3AD203B41FA5}">
                      <a16:colId xmlns:a16="http://schemas.microsoft.com/office/drawing/2014/main" val="3745853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358979004"/>
                    </a:ext>
                  </a:extLst>
                </a:gridCol>
                <a:gridCol w="960911">
                  <a:extLst>
                    <a:ext uri="{9D8B030D-6E8A-4147-A177-3AD203B41FA5}">
                      <a16:colId xmlns:a16="http://schemas.microsoft.com/office/drawing/2014/main" val="1551714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目的地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花费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下一跳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37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6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...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...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...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74434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753EDD1B-9025-BE47-2C04-EDAA03CDD3ED}"/>
              </a:ext>
            </a:extLst>
          </p:cNvPr>
          <p:cNvSpPr txBox="1"/>
          <p:nvPr/>
        </p:nvSpPr>
        <p:spPr>
          <a:xfrm>
            <a:off x="1032435" y="4298001"/>
            <a:ext cx="1274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z</a:t>
            </a:r>
            <a:r>
              <a:rPr lang="zh-CN" altLang="en-US" b="1" dirty="0"/>
              <a:t>的路由表</a:t>
            </a:r>
          </a:p>
        </p:txBody>
      </p:sp>
    </p:spTree>
    <p:extLst>
      <p:ext uri="{BB962C8B-B14F-4D97-AF65-F5344CB8AC3E}">
        <p14:creationId xmlns:p14="http://schemas.microsoft.com/office/powerpoint/2010/main" val="3265167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B576F-B326-93F5-0349-1768A5C6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距离向量路由算法：</a:t>
            </a:r>
            <a:r>
              <a:rPr lang="zh-CN" altLang="zh-CN" dirty="0"/>
              <a:t>带反向抑制的水平分割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A0CE2-C07A-1DBA-0405-8007DAA74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157658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仅仅考虑到</a:t>
            </a:r>
            <a:r>
              <a:rPr lang="en-US" altLang="zh-CN" dirty="0"/>
              <a:t>x</a:t>
            </a:r>
            <a:r>
              <a:rPr lang="zh-CN" altLang="en-US" dirty="0"/>
              <a:t>的路由</a:t>
            </a:r>
            <a:endParaRPr lang="en-US" altLang="zh-CN" dirty="0"/>
          </a:p>
          <a:p>
            <a:r>
              <a:rPr lang="zh-CN" altLang="en-US" dirty="0"/>
              <a:t>第一部分为</a:t>
            </a:r>
            <a:r>
              <a:rPr lang="en-US" altLang="zh-CN" dirty="0"/>
              <a:t>y</a:t>
            </a:r>
            <a:r>
              <a:rPr lang="zh-CN" altLang="en-US" dirty="0"/>
              <a:t>的距离表： 收到的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z</a:t>
            </a:r>
            <a:r>
              <a:rPr lang="zh-CN" altLang="en-US" dirty="0"/>
              <a:t>的距离向量 </a:t>
            </a:r>
            <a:r>
              <a:rPr lang="en-US" altLang="zh-CN" dirty="0"/>
              <a:t>+ y</a:t>
            </a:r>
            <a:r>
              <a:rPr lang="zh-CN" altLang="en-US" dirty="0"/>
              <a:t>的距离向量</a:t>
            </a:r>
            <a:r>
              <a:rPr lang="en-US" altLang="zh-CN" dirty="0"/>
              <a:t>(</a:t>
            </a:r>
            <a:r>
              <a:rPr lang="zh-CN" altLang="en-US" dirty="0"/>
              <a:t>花费</a:t>
            </a:r>
            <a:r>
              <a:rPr lang="en-US" altLang="zh-CN" dirty="0"/>
              <a:t>+</a:t>
            </a:r>
            <a:r>
              <a:rPr lang="zh-CN" altLang="en-US" dirty="0"/>
              <a:t>下一跳）</a:t>
            </a:r>
            <a:endParaRPr lang="en-US" altLang="zh-CN" dirty="0"/>
          </a:p>
          <a:p>
            <a:r>
              <a:rPr lang="zh-CN" altLang="en-US" dirty="0"/>
              <a:t>第一部分为</a:t>
            </a:r>
            <a:r>
              <a:rPr lang="en-US" altLang="zh-CN" dirty="0"/>
              <a:t>z</a:t>
            </a:r>
            <a:r>
              <a:rPr lang="zh-CN" altLang="en-US" dirty="0"/>
              <a:t>的距离表： 收到的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的距离向量 </a:t>
            </a:r>
            <a:r>
              <a:rPr lang="en-US" altLang="zh-CN" dirty="0"/>
              <a:t>+ z</a:t>
            </a:r>
            <a:r>
              <a:rPr lang="zh-CN" altLang="en-US" dirty="0"/>
              <a:t>的距离向量</a:t>
            </a:r>
            <a:r>
              <a:rPr lang="en-US" altLang="zh-CN" dirty="0"/>
              <a:t>(</a:t>
            </a:r>
            <a:r>
              <a:rPr lang="zh-CN" altLang="en-US" dirty="0"/>
              <a:t>花费</a:t>
            </a:r>
            <a:r>
              <a:rPr lang="en-US" altLang="zh-CN" dirty="0"/>
              <a:t>+</a:t>
            </a:r>
            <a:r>
              <a:rPr lang="zh-CN" altLang="en-US" dirty="0"/>
              <a:t>下一跳）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D74CDE32-C1BE-DC41-C264-A2DF98C6F6AD}"/>
              </a:ext>
            </a:extLst>
          </p:cNvPr>
          <p:cNvGrpSpPr>
            <a:grpSpLocks/>
          </p:cNvGrpSpPr>
          <p:nvPr/>
        </p:nvGrpSpPr>
        <p:grpSpPr bwMode="auto">
          <a:xfrm>
            <a:off x="9353490" y="599379"/>
            <a:ext cx="2184400" cy="1314450"/>
            <a:chOff x="3625" y="1076"/>
            <a:chExt cx="1376" cy="828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CCB02510-7252-8DEE-535A-56E51683D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746BF3EF-E0BE-4634-53F7-4039DB490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0243768A-7A86-994B-C2F0-81BD1F136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7B9BE2B9-A72B-6A65-7508-F50A79B78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3812018F-E5AA-7F8D-4DA3-262225B2A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66765C9A-FC3E-A5A9-E9AE-F0EEB04DF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EE9B6250-09F6-8E1B-C635-6CDF8166B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A7CC45A-2CC9-DE9A-F53F-6779050CB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EB6B443F-B9CA-6C67-DE78-0794AC4AD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" name="Group 16">
              <a:extLst>
                <a:ext uri="{FF2B5EF4-FFF2-40B4-BE49-F238E27FC236}">
                  <a16:creationId xmlns:a16="http://schemas.microsoft.com/office/drawing/2014/main" id="{AA6FCBA1-FFED-E352-5BC5-29205A3207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38" name="Rectangle 17">
                <a:extLst>
                  <a:ext uri="{FF2B5EF4-FFF2-40B4-BE49-F238E27FC236}">
                    <a16:creationId xmlns:a16="http://schemas.microsoft.com/office/drawing/2014/main" id="{4431B19F-DD69-0AC6-F89F-7D5B91648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9" name="Text Box 18">
                <a:extLst>
                  <a:ext uri="{FF2B5EF4-FFF2-40B4-BE49-F238E27FC236}">
                    <a16:creationId xmlns:a16="http://schemas.microsoft.com/office/drawing/2014/main" id="{43708A63-EDB9-40FF-81CE-2C62EAD057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15" name="Group 19">
              <a:extLst>
                <a:ext uri="{FF2B5EF4-FFF2-40B4-BE49-F238E27FC236}">
                  <a16:creationId xmlns:a16="http://schemas.microsoft.com/office/drawing/2014/main" id="{4AB1055A-D885-90CA-69EA-6692DD2FBA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30" name="Oval 20">
                <a:extLst>
                  <a:ext uri="{FF2B5EF4-FFF2-40B4-BE49-F238E27FC236}">
                    <a16:creationId xmlns:a16="http://schemas.microsoft.com/office/drawing/2014/main" id="{BFE99086-97FA-2987-DDB8-B61DEFAD6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" name="Line 21">
                <a:extLst>
                  <a:ext uri="{FF2B5EF4-FFF2-40B4-BE49-F238E27FC236}">
                    <a16:creationId xmlns:a16="http://schemas.microsoft.com/office/drawing/2014/main" id="{6425BA6F-3B69-2EC5-A24A-B977577A2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" name="Line 22">
                <a:extLst>
                  <a:ext uri="{FF2B5EF4-FFF2-40B4-BE49-F238E27FC236}">
                    <a16:creationId xmlns:a16="http://schemas.microsoft.com/office/drawing/2014/main" id="{AF4152C5-D921-8966-AEEF-A60F8284BB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D5FE2ED6-1D8E-238F-77F7-F9EFFFBE0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34" name="Oval 24">
                <a:extLst>
                  <a:ext uri="{FF2B5EF4-FFF2-40B4-BE49-F238E27FC236}">
                    <a16:creationId xmlns:a16="http://schemas.microsoft.com/office/drawing/2014/main" id="{DA25451E-99D9-1480-BED8-A94DA0DA07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5" name="Group 25">
                <a:extLst>
                  <a:ext uri="{FF2B5EF4-FFF2-40B4-BE49-F238E27FC236}">
                    <a16:creationId xmlns:a16="http://schemas.microsoft.com/office/drawing/2014/main" id="{264105C0-4A81-3BF5-5275-40C0B7FE4C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36" name="Rectangle 26">
                  <a:extLst>
                    <a:ext uri="{FF2B5EF4-FFF2-40B4-BE49-F238E27FC236}">
                      <a16:creationId xmlns:a16="http://schemas.microsoft.com/office/drawing/2014/main" id="{2884CC8B-5DFD-EDB3-E4EF-37B105416D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7" name="Text Box 27">
                  <a:extLst>
                    <a:ext uri="{FF2B5EF4-FFF2-40B4-BE49-F238E27FC236}">
                      <a16:creationId xmlns:a16="http://schemas.microsoft.com/office/drawing/2014/main" id="{1692CC9A-FA02-D4D6-7E9F-B5393C168F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6" name="Text Box 28">
              <a:extLst>
                <a:ext uri="{FF2B5EF4-FFF2-40B4-BE49-F238E27FC236}">
                  <a16:creationId xmlns:a16="http://schemas.microsoft.com/office/drawing/2014/main" id="{D357756D-06ED-3E7A-C033-A6223A5F2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7" name="Text Box 29">
              <a:extLst>
                <a:ext uri="{FF2B5EF4-FFF2-40B4-BE49-F238E27FC236}">
                  <a16:creationId xmlns:a16="http://schemas.microsoft.com/office/drawing/2014/main" id="{B1B3B8AC-736A-B1AD-802B-96724EF3C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8" name="Text Box 30">
              <a:extLst>
                <a:ext uri="{FF2B5EF4-FFF2-40B4-BE49-F238E27FC236}">
                  <a16:creationId xmlns:a16="http://schemas.microsoft.com/office/drawing/2014/main" id="{294829AA-7ECC-1149-FD22-0885C6FBC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19" name="Group 31">
              <a:extLst>
                <a:ext uri="{FF2B5EF4-FFF2-40B4-BE49-F238E27FC236}">
                  <a16:creationId xmlns:a16="http://schemas.microsoft.com/office/drawing/2014/main" id="{65305BB9-A8E6-EAE0-E0BF-D339BE332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22" name="Oval 32">
                <a:extLst>
                  <a:ext uri="{FF2B5EF4-FFF2-40B4-BE49-F238E27FC236}">
                    <a16:creationId xmlns:a16="http://schemas.microsoft.com/office/drawing/2014/main" id="{335F4995-1678-254C-AFAE-A2F3BFED6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" name="Line 33">
                <a:extLst>
                  <a:ext uri="{FF2B5EF4-FFF2-40B4-BE49-F238E27FC236}">
                    <a16:creationId xmlns:a16="http://schemas.microsoft.com/office/drawing/2014/main" id="{5C177C63-0445-E486-FFD4-22095D216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" name="Line 34">
                <a:extLst>
                  <a:ext uri="{FF2B5EF4-FFF2-40B4-BE49-F238E27FC236}">
                    <a16:creationId xmlns:a16="http://schemas.microsoft.com/office/drawing/2014/main" id="{F7859D73-DD20-0FC9-8E5E-BCB00B0478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" name="Rectangle 35">
                <a:extLst>
                  <a:ext uri="{FF2B5EF4-FFF2-40B4-BE49-F238E27FC236}">
                    <a16:creationId xmlns:a16="http://schemas.microsoft.com/office/drawing/2014/main" id="{2AC3ADA9-70BF-F79C-C7C9-0F0E96551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26" name="Oval 36">
                <a:extLst>
                  <a:ext uri="{FF2B5EF4-FFF2-40B4-BE49-F238E27FC236}">
                    <a16:creationId xmlns:a16="http://schemas.microsoft.com/office/drawing/2014/main" id="{78BED9EB-5DD8-E725-FEFA-70F2AB9F1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7" name="Group 37">
                <a:extLst>
                  <a:ext uri="{FF2B5EF4-FFF2-40B4-BE49-F238E27FC236}">
                    <a16:creationId xmlns:a16="http://schemas.microsoft.com/office/drawing/2014/main" id="{7DF7D51A-62F7-AF02-77E6-1682BAB2FF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28" name="Rectangle 38">
                  <a:extLst>
                    <a:ext uri="{FF2B5EF4-FFF2-40B4-BE49-F238E27FC236}">
                      <a16:creationId xmlns:a16="http://schemas.microsoft.com/office/drawing/2014/main" id="{A7B8ABC4-CA30-E802-39B4-EC27A06383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" name="Text Box 39">
                  <a:extLst>
                    <a:ext uri="{FF2B5EF4-FFF2-40B4-BE49-F238E27FC236}">
                      <a16:creationId xmlns:a16="http://schemas.microsoft.com/office/drawing/2014/main" id="{49E0600B-5254-12F2-1166-FBB573D812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20" name="Text Box 40">
              <a:extLst>
                <a:ext uri="{FF2B5EF4-FFF2-40B4-BE49-F238E27FC236}">
                  <a16:creationId xmlns:a16="http://schemas.microsoft.com/office/drawing/2014/main" id="{F0B683A3-6EBD-EAF5-A118-A5624117C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4" y="1076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60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21" name="Line 41">
              <a:extLst>
                <a:ext uri="{FF2B5EF4-FFF2-40B4-BE49-F238E27FC236}">
                  <a16:creationId xmlns:a16="http://schemas.microsoft.com/office/drawing/2014/main" id="{04A5E2AE-9021-0920-0500-B6BB94E21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3968C3B6-B195-15E0-47D1-0F95FA435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97145"/>
              </p:ext>
            </p:extLst>
          </p:nvPr>
        </p:nvGraphicFramePr>
        <p:xfrm>
          <a:off x="529046" y="2179833"/>
          <a:ext cx="10012025" cy="2956560"/>
        </p:xfrm>
        <a:graphic>
          <a:graphicData uri="http://schemas.openxmlformats.org/drawingml/2006/table">
            <a:tbl>
              <a:tblPr firstRow="1" bandRow="1"/>
              <a:tblGrid>
                <a:gridCol w="1044000">
                  <a:extLst>
                    <a:ext uri="{9D8B030D-6E8A-4147-A177-3AD203B41FA5}">
                      <a16:colId xmlns:a16="http://schemas.microsoft.com/office/drawing/2014/main" val="3958018886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572778566"/>
                    </a:ext>
                  </a:extLst>
                </a:gridCol>
                <a:gridCol w="1555834">
                  <a:extLst>
                    <a:ext uri="{9D8B030D-6E8A-4147-A177-3AD203B41FA5}">
                      <a16:colId xmlns:a16="http://schemas.microsoft.com/office/drawing/2014/main" val="1599051325"/>
                    </a:ext>
                  </a:extLst>
                </a:gridCol>
                <a:gridCol w="1555834">
                  <a:extLst>
                    <a:ext uri="{9D8B030D-6E8A-4147-A177-3AD203B41FA5}">
                      <a16:colId xmlns:a16="http://schemas.microsoft.com/office/drawing/2014/main" val="3722364442"/>
                    </a:ext>
                  </a:extLst>
                </a:gridCol>
                <a:gridCol w="1352119">
                  <a:extLst>
                    <a:ext uri="{9D8B030D-6E8A-4147-A177-3AD203B41FA5}">
                      <a16:colId xmlns:a16="http://schemas.microsoft.com/office/drawing/2014/main" val="4084422017"/>
                    </a:ext>
                  </a:extLst>
                </a:gridCol>
                <a:gridCol w="1352119">
                  <a:extLst>
                    <a:ext uri="{9D8B030D-6E8A-4147-A177-3AD203B41FA5}">
                      <a16:colId xmlns:a16="http://schemas.microsoft.com/office/drawing/2014/main" val="1668998742"/>
                    </a:ext>
                  </a:extLst>
                </a:gridCol>
                <a:gridCol w="1352119">
                  <a:extLst>
                    <a:ext uri="{9D8B030D-6E8A-4147-A177-3AD203B41FA5}">
                      <a16:colId xmlns:a16="http://schemas.microsoft.com/office/drawing/2014/main" val="1932247634"/>
                    </a:ext>
                  </a:extLst>
                </a:gridCol>
              </a:tblGrid>
              <a:tr h="370840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时刻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z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924302"/>
                  </a:ext>
                </a:extLst>
              </a:tr>
              <a:tr h="252489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Dy, Dy*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 err="1"/>
                        <a:t>Dz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Dx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Dy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Dz</a:t>
                      </a:r>
                      <a:r>
                        <a:rPr lang="en-US" altLang="zh-CN" dirty="0"/>
                        <a:t>, </a:t>
                      </a:r>
                      <a:r>
                        <a:rPr lang="en-US" altLang="zh-CN" dirty="0" err="1"/>
                        <a:t>Dz</a:t>
                      </a:r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660733"/>
                  </a:ext>
                </a:extLst>
              </a:tr>
              <a:tr h="252489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(y, x)=4-&gt;60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y,z</a:t>
                      </a:r>
                      <a:r>
                        <a:rPr lang="en-US" altLang="zh-CN" dirty="0"/>
                        <a:t>)=1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z,x</a:t>
                      </a:r>
                      <a:r>
                        <a:rPr lang="en-US" altLang="zh-CN" dirty="0"/>
                        <a:t>)=50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z,y</a:t>
                      </a:r>
                      <a:r>
                        <a:rPr lang="en-US" altLang="zh-CN" dirty="0"/>
                        <a:t>)=1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97781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dirty="0"/>
                        <a:t>稳定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4, 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∞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5, y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11033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altLang="zh-CN" dirty="0" err="1">
                          <a:sym typeface="Wingdings" panose="05000000000000000000" pitchFamily="2" charset="2"/>
                        </a:rPr>
                        <a:t>y,x</a:t>
                      </a:r>
                      <a:r>
                        <a:rPr lang="en-US" altLang="zh-CN" dirty="0">
                          <a:sym typeface="Wingdings" panose="05000000000000000000" pitchFamily="2" charset="2"/>
                        </a:rPr>
                        <a:t>)60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60, x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∞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5, y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3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dirty="0"/>
                        <a:t>第一轮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u="none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u="none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u="none">
                          <a:solidFill>
                            <a:schemeClr val="tx1"/>
                          </a:solidFill>
                        </a:rPr>
                        <a:t>60, x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sz="1800" b="1" u="sng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50, x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5441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第二轮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 z</a:t>
                      </a:r>
                      <a:endParaRPr lang="zh-CN" altLang="en-US" sz="1800" b="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zh-CN" altLang="en-US" sz="1800" b="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sz="1800" b="1" u="sng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50, x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5661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第三轮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u="non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 z</a:t>
                      </a:r>
                      <a:endParaRPr lang="zh-CN" altLang="en-US" sz="1800" b="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800" b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zh-CN" altLang="en-US" sz="1800" b="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sz="1800" b="1" u="sng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50,</a:t>
                      </a:r>
                      <a:r>
                        <a:rPr lang="zh-CN" altLang="en-US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b="0" u="none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59559"/>
                  </a:ext>
                </a:extLst>
              </a:tr>
            </a:tbl>
          </a:graphicData>
        </a:graphic>
      </p:graphicFrame>
      <p:sp>
        <p:nvSpPr>
          <p:cNvPr id="41" name="内容占位符 2">
            <a:extLst>
              <a:ext uri="{FF2B5EF4-FFF2-40B4-BE49-F238E27FC236}">
                <a16:creationId xmlns:a16="http://schemas.microsoft.com/office/drawing/2014/main" id="{C312B70B-E9D7-50C6-8BB5-407E66B2ACA7}"/>
              </a:ext>
            </a:extLst>
          </p:cNvPr>
          <p:cNvSpPr txBox="1">
            <a:spLocks/>
          </p:cNvSpPr>
          <p:nvPr/>
        </p:nvSpPr>
        <p:spPr>
          <a:xfrm>
            <a:off x="373244" y="5374382"/>
            <a:ext cx="11289710" cy="957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带反向抑制的水平分割</a:t>
            </a:r>
            <a:r>
              <a:rPr lang="zh-CN" altLang="en-US" dirty="0"/>
              <a:t>可以打破两个节点之间的路由回路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个或者更多节点的路由回路仍然可能出现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94592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218F9-A064-0F8E-0BD0-5588CBA3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拓展</a:t>
            </a:r>
            <a:r>
              <a:rPr lang="en-US" altLang="zh-CN" dirty="0"/>
              <a:t>】</a:t>
            </a:r>
            <a:r>
              <a:rPr lang="zh-CN" altLang="en-US" dirty="0"/>
              <a:t>距离向量路由协议：</a:t>
            </a:r>
            <a:r>
              <a:rPr lang="en-US" altLang="zh-CN" dirty="0"/>
              <a:t>RIP</a:t>
            </a:r>
            <a:r>
              <a:rPr lang="zh-CN" altLang="zh-CN" dirty="0"/>
              <a:t>（</a:t>
            </a:r>
            <a:r>
              <a:rPr lang="en-US" altLang="zh-CN" dirty="0"/>
              <a:t>Routing Information Protocol</a:t>
            </a:r>
            <a:r>
              <a:rPr lang="zh-CN" altLang="zh-CN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ACA7A-F917-8D19-4316-0D3D4C87E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RIPv1(RFC 1723) --&gt; RIPv2 (RFC 2453)</a:t>
            </a:r>
            <a:r>
              <a:rPr lang="zh-CN" altLang="en-US" dirty="0"/>
              <a:t>，建立在</a:t>
            </a:r>
            <a:r>
              <a:rPr lang="en-US" altLang="zh-CN" dirty="0"/>
              <a:t>UDP</a:t>
            </a:r>
            <a:r>
              <a:rPr lang="zh-CN" altLang="en-US" dirty="0"/>
              <a:t>之上，端口</a:t>
            </a:r>
            <a:r>
              <a:rPr lang="en-US" altLang="zh-CN" dirty="0"/>
              <a:t>520</a:t>
            </a:r>
          </a:p>
          <a:p>
            <a:r>
              <a:rPr lang="zh-CN" altLang="en-US" dirty="0"/>
              <a:t>距离向量路由算法，不记录距离表，而是仅记录最优路由在路由表中</a:t>
            </a:r>
            <a:endParaRPr lang="en-US" altLang="zh-CN" dirty="0"/>
          </a:p>
          <a:p>
            <a:pPr lvl="1"/>
            <a:r>
              <a:rPr lang="zh-CN" altLang="en-US" sz="2000" dirty="0"/>
              <a:t>并没有改变距离向量路由算法的收敛特性，而且收敛的速度也不会有大的影响</a:t>
            </a:r>
            <a:endParaRPr lang="en-US" altLang="zh-CN" sz="2000" dirty="0"/>
          </a:p>
          <a:p>
            <a:pPr lvl="1"/>
            <a:r>
              <a:rPr lang="zh-CN" altLang="en-US" sz="2000" dirty="0"/>
              <a:t>节点</a:t>
            </a:r>
            <a:r>
              <a:rPr lang="en-US" altLang="zh-CN" sz="2000" dirty="0"/>
              <a:t>x</a:t>
            </a:r>
            <a:r>
              <a:rPr lang="zh-CN" altLang="en-US" sz="2000" dirty="0"/>
              <a:t>从邻居</a:t>
            </a:r>
            <a:r>
              <a:rPr lang="en-US" altLang="zh-CN" sz="2000" dirty="0"/>
              <a:t>y</a:t>
            </a:r>
            <a:r>
              <a:rPr lang="zh-CN" altLang="en-US" sz="2000" dirty="0"/>
              <a:t>收到到某个目的地</a:t>
            </a:r>
            <a:r>
              <a:rPr lang="en-US" altLang="zh-CN" sz="2000" dirty="0"/>
              <a:t>z</a:t>
            </a:r>
            <a:r>
              <a:rPr lang="zh-CN" altLang="en-US" sz="2000" dirty="0"/>
              <a:t>的距离时：</a:t>
            </a:r>
            <a:endParaRPr lang="en-US" altLang="zh-CN" sz="2000" dirty="0"/>
          </a:p>
          <a:p>
            <a:pPr marL="1200150" lvl="2" indent="-285750"/>
            <a:r>
              <a:rPr lang="zh-CN" altLang="en-US" dirty="0"/>
              <a:t>以前无相应表项，新增表项：目的地</a:t>
            </a:r>
            <a:r>
              <a:rPr lang="en-US" altLang="zh-CN" dirty="0"/>
              <a:t>z</a:t>
            </a:r>
            <a:r>
              <a:rPr lang="zh-CN" altLang="en-US" dirty="0"/>
              <a:t>，距离为</a:t>
            </a:r>
            <a:r>
              <a:rPr lang="en-US" altLang="zh-CN" dirty="0"/>
              <a:t>c(</a:t>
            </a:r>
            <a:r>
              <a:rPr lang="en-US" altLang="zh-CN" dirty="0" err="1"/>
              <a:t>x,y</a:t>
            </a:r>
            <a:r>
              <a:rPr lang="en-US" altLang="zh-CN" dirty="0"/>
              <a:t>)+Dy(z)</a:t>
            </a:r>
            <a:r>
              <a:rPr lang="zh-CN" altLang="en-US" dirty="0"/>
              <a:t>，下一跳为</a:t>
            </a:r>
            <a:r>
              <a:rPr lang="en-US" altLang="zh-CN" dirty="0"/>
              <a:t>y</a:t>
            </a:r>
          </a:p>
          <a:p>
            <a:pPr marL="1200150" lvl="2" indent="-285750"/>
            <a:r>
              <a:rPr lang="zh-CN" altLang="en-US" dirty="0"/>
              <a:t>有相应表项，且</a:t>
            </a:r>
            <a:r>
              <a:rPr lang="zh-CN" altLang="en-US" u="sng" dirty="0">
                <a:solidFill>
                  <a:srgbClr val="FF0000"/>
                </a:solidFill>
              </a:rPr>
              <a:t>下一跳段也正好是该邻居</a:t>
            </a:r>
            <a:r>
              <a:rPr lang="zh-CN" altLang="en-US" dirty="0"/>
              <a:t>，则更新路径花费，距离为</a:t>
            </a:r>
            <a:r>
              <a:rPr lang="en-US" altLang="zh-CN" dirty="0"/>
              <a:t>c(</a:t>
            </a:r>
            <a:r>
              <a:rPr lang="en-US" altLang="zh-CN" dirty="0" err="1"/>
              <a:t>x,y</a:t>
            </a:r>
            <a:r>
              <a:rPr lang="en-US" altLang="zh-CN" dirty="0"/>
              <a:t>)+Dy(z)</a:t>
            </a:r>
          </a:p>
          <a:p>
            <a:pPr marL="1200150" lvl="2" indent="-285750"/>
            <a:r>
              <a:rPr lang="zh-CN" altLang="en-US" dirty="0"/>
              <a:t>有相应表项，是否新的路径要更短？如果是，则更新表项：距离为</a:t>
            </a:r>
            <a:r>
              <a:rPr lang="en-US" altLang="zh-CN" dirty="0"/>
              <a:t>c(</a:t>
            </a:r>
            <a:r>
              <a:rPr lang="en-US" altLang="zh-CN" dirty="0" err="1"/>
              <a:t>x,y</a:t>
            </a:r>
            <a:r>
              <a:rPr lang="en-US" altLang="zh-CN" dirty="0"/>
              <a:t>)+Dy(z)</a:t>
            </a:r>
            <a:r>
              <a:rPr lang="zh-CN" altLang="en-US" dirty="0"/>
              <a:t>，下一跳</a:t>
            </a:r>
            <a:r>
              <a:rPr lang="en-US" altLang="zh-CN" dirty="0"/>
              <a:t>y</a:t>
            </a:r>
          </a:p>
          <a:p>
            <a:pPr lvl="1"/>
            <a:r>
              <a:rPr lang="zh-CN" altLang="en-US" sz="2000" dirty="0"/>
              <a:t>定期交换路由表。在路由表有变化时触发更新，即马上发送路由表给邻居</a:t>
            </a:r>
            <a:endParaRPr lang="en-US" altLang="zh-CN" sz="2000" dirty="0"/>
          </a:p>
          <a:p>
            <a:pPr lvl="1"/>
            <a:r>
              <a:rPr lang="zh-CN" altLang="en-US" sz="2000" dirty="0"/>
              <a:t>无穷大</a:t>
            </a:r>
            <a:r>
              <a:rPr lang="en-US" altLang="zh-CN" sz="2000" dirty="0"/>
              <a:t>=16</a:t>
            </a:r>
            <a:r>
              <a:rPr lang="zh-CN" altLang="en-US" sz="2000" dirty="0"/>
              <a:t>，限制了网络的规模</a:t>
            </a:r>
            <a:endParaRPr lang="en-US" altLang="zh-CN" sz="2000" dirty="0"/>
          </a:p>
          <a:p>
            <a:pPr lvl="1"/>
            <a:r>
              <a:rPr lang="zh-CN" altLang="en-US" sz="2000" dirty="0"/>
              <a:t>反向抑制的水平分割</a:t>
            </a:r>
            <a:endParaRPr lang="en-US" altLang="zh-CN" sz="2000" dirty="0"/>
          </a:p>
          <a:p>
            <a:pPr lvl="1"/>
            <a:r>
              <a:rPr lang="zh-CN" altLang="en-US" sz="2000" dirty="0"/>
              <a:t>路由表的交换从</a:t>
            </a:r>
            <a:r>
              <a:rPr lang="en-US" altLang="zh-CN" sz="2000" dirty="0"/>
              <a:t>RIPv1</a:t>
            </a:r>
            <a:r>
              <a:rPr lang="zh-CN" altLang="en-US" sz="2000" dirty="0"/>
              <a:t>的广播方式（</a:t>
            </a:r>
            <a:r>
              <a:rPr lang="en-US" altLang="zh-CN" sz="2000" dirty="0"/>
              <a:t>255.255.255.255</a:t>
            </a:r>
            <a:r>
              <a:rPr lang="zh-CN" altLang="en-US" sz="2000" dirty="0"/>
              <a:t>） </a:t>
            </a:r>
            <a:r>
              <a:rPr lang="en-US" altLang="zh-CN" sz="2000" dirty="0"/>
              <a:t>---&gt; RIPv2</a:t>
            </a:r>
            <a:r>
              <a:rPr lang="zh-CN" altLang="en-US" sz="2000" dirty="0"/>
              <a:t>的组播方式（</a:t>
            </a:r>
            <a:r>
              <a:rPr lang="en-US" altLang="zh-CN" sz="2000" dirty="0"/>
              <a:t>224.0.0.9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zh-CN" altLang="en-US" dirty="0"/>
              <a:t>发现邻居：依赖于路由表的定期（每隔</a:t>
            </a:r>
            <a:r>
              <a:rPr lang="en-US" altLang="zh-CN" dirty="0"/>
              <a:t>30</a:t>
            </a:r>
            <a:r>
              <a:rPr lang="zh-CN" altLang="en-US" dirty="0"/>
              <a:t>秒）交换</a:t>
            </a:r>
            <a:endParaRPr lang="en-US" altLang="zh-CN" dirty="0"/>
          </a:p>
          <a:p>
            <a:r>
              <a:rPr lang="zh-CN" altLang="en-US" dirty="0"/>
              <a:t>邻居可达性：路由表项超时间隔为</a:t>
            </a:r>
            <a:r>
              <a:rPr lang="en-US" altLang="zh-CN" dirty="0"/>
              <a:t>6*30 = 180</a:t>
            </a:r>
            <a:r>
              <a:rPr lang="zh-CN" altLang="en-US" dirty="0"/>
              <a:t>秒，即连续</a:t>
            </a:r>
            <a:r>
              <a:rPr lang="en-US" altLang="zh-CN" dirty="0"/>
              <a:t>6</a:t>
            </a:r>
            <a:r>
              <a:rPr lang="zh-CN" altLang="en-US" dirty="0"/>
              <a:t>个定期交换间隔都未收到邻居的路由表时，该邻居不可达</a:t>
            </a:r>
            <a:endParaRPr lang="en-US" altLang="zh-CN" dirty="0"/>
          </a:p>
          <a:p>
            <a:r>
              <a:rPr lang="zh-CN" altLang="en-US" dirty="0"/>
              <a:t>路由消息交换：软状态机制，定期交换来处理路由消息可能的丢失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5C45F8D-A0B2-6571-C6F9-BF338C280F0D}"/>
              </a:ext>
            </a:extLst>
          </p:cNvPr>
          <p:cNvGrpSpPr/>
          <p:nvPr/>
        </p:nvGrpSpPr>
        <p:grpSpPr>
          <a:xfrm>
            <a:off x="8239188" y="675665"/>
            <a:ext cx="3661425" cy="803796"/>
            <a:chOff x="8213683" y="2894191"/>
            <a:chExt cx="3661425" cy="80379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29C0C3A-D37D-5A7E-2DC3-5602C68ED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9434608" y="3249494"/>
              <a:ext cx="437488" cy="231191"/>
            </a:xfrm>
            <a:prstGeom prst="rect">
              <a:avLst/>
            </a:prstGeom>
          </p:spPr>
        </p:pic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95ED0D3-F212-E301-2B98-4F21428B99C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8651171" y="3362044"/>
              <a:ext cx="783437" cy="30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9F2D003-62CE-FCC0-F64A-8D838A3E4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213683" y="3246449"/>
              <a:ext cx="437488" cy="231191"/>
            </a:xfrm>
            <a:prstGeom prst="rect">
              <a:avLst/>
            </a:prstGeom>
          </p:spPr>
        </p:pic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46EF3EE-7734-7153-F832-E0C243B33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2987" y="3026101"/>
              <a:ext cx="971363" cy="671886"/>
            </a:xfrm>
            <a:custGeom>
              <a:avLst/>
              <a:gdLst>
                <a:gd name="T0" fmla="*/ 2147483647 w 1198"/>
                <a:gd name="T1" fmla="*/ 2147483647 h 451"/>
                <a:gd name="T2" fmla="*/ 2147483647 w 1198"/>
                <a:gd name="T3" fmla="*/ 2147483647 h 451"/>
                <a:gd name="T4" fmla="*/ 2147483647 w 1198"/>
                <a:gd name="T5" fmla="*/ 2147483647 h 451"/>
                <a:gd name="T6" fmla="*/ 2147483647 w 1198"/>
                <a:gd name="T7" fmla="*/ 2147483647 h 451"/>
                <a:gd name="T8" fmla="*/ 2147483647 w 1198"/>
                <a:gd name="T9" fmla="*/ 2147483647 h 451"/>
                <a:gd name="T10" fmla="*/ 2147483647 w 1198"/>
                <a:gd name="T11" fmla="*/ 2147483647 h 451"/>
                <a:gd name="T12" fmla="*/ 2147483647 w 1198"/>
                <a:gd name="T13" fmla="*/ 2147483647 h 451"/>
                <a:gd name="T14" fmla="*/ 2147483647 w 1198"/>
                <a:gd name="T15" fmla="*/ 2147483647 h 451"/>
                <a:gd name="T16" fmla="*/ 2147483647 w 1198"/>
                <a:gd name="T17" fmla="*/ 2147483647 h 4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98"/>
                <a:gd name="T28" fmla="*/ 0 h 451"/>
                <a:gd name="T29" fmla="*/ 1198 w 1198"/>
                <a:gd name="T30" fmla="*/ 451 h 45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70AD47">
                <a:lumMod val="40000"/>
                <a:lumOff val="60000"/>
              </a:srgb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F608C15-30AB-6FE9-3628-ECBEB41DFD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0078" y="3354533"/>
              <a:ext cx="452633" cy="44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48E49A0-5060-BCB2-6A2B-48EAB82452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23974" y="3321876"/>
              <a:ext cx="452633" cy="44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6774E1BD-DFF3-5710-0EBA-9CFE8EE78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7239" y="3200400"/>
              <a:ext cx="287869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9E96FB3-490B-55BD-AB46-B3F5B09647E0}"/>
                </a:ext>
              </a:extLst>
            </p:cNvPr>
            <p:cNvSpPr txBox="1"/>
            <p:nvPr/>
          </p:nvSpPr>
          <p:spPr>
            <a:xfrm>
              <a:off x="11546526" y="2894191"/>
              <a:ext cx="287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7217FE9-B19B-C1A7-DD83-23CB6AF24CB6}"/>
                </a:ext>
              </a:extLst>
            </p:cNvPr>
            <p:cNvSpPr txBox="1"/>
            <p:nvPr/>
          </p:nvSpPr>
          <p:spPr>
            <a:xfrm>
              <a:off x="9502067" y="2900334"/>
              <a:ext cx="287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73DDADC-22A5-F2A1-97E8-1DBCCC1E27B2}"/>
                </a:ext>
              </a:extLst>
            </p:cNvPr>
            <p:cNvSpPr txBox="1"/>
            <p:nvPr/>
          </p:nvSpPr>
          <p:spPr>
            <a:xfrm>
              <a:off x="8261483" y="2945368"/>
              <a:ext cx="287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39786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29A03-5B32-DBBC-9FC6-0E05DDC1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链路状态与距离向量算法的比较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688B54-65F6-3BE7-6BAF-CD4621BF5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G(N, E)</a:t>
            </a:r>
            <a:r>
              <a:rPr lang="zh-CN" altLang="en-US" dirty="0"/>
              <a:t>， </a:t>
            </a:r>
            <a:r>
              <a:rPr lang="en-US" altLang="zh-CN" dirty="0"/>
              <a:t>n</a:t>
            </a:r>
            <a:r>
              <a:rPr lang="zh-CN" altLang="en-US" dirty="0"/>
              <a:t>个节点，</a:t>
            </a:r>
            <a:r>
              <a:rPr lang="en-US" altLang="zh-CN" dirty="0"/>
              <a:t>e</a:t>
            </a:r>
            <a:r>
              <a:rPr lang="zh-CN" altLang="en-US" dirty="0"/>
              <a:t>条边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chemeClr val="accent4"/>
                </a:solidFill>
              </a:rPr>
              <a:t>消息复杂性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en-US" altLang="zh-CN" dirty="0"/>
              <a:t>LS</a:t>
            </a:r>
            <a:r>
              <a:rPr lang="zh-CN" altLang="en-US" dirty="0"/>
              <a:t>：节点的</a:t>
            </a:r>
            <a:r>
              <a:rPr lang="en-US" altLang="zh-CN" dirty="0"/>
              <a:t>(</a:t>
            </a:r>
            <a:r>
              <a:rPr lang="zh-CN" altLang="en-US" dirty="0"/>
              <a:t>相邻</a:t>
            </a:r>
            <a:r>
              <a:rPr lang="en-US" altLang="zh-CN" dirty="0"/>
              <a:t>)</a:t>
            </a:r>
            <a:r>
              <a:rPr lang="zh-CN" altLang="en-US" dirty="0"/>
              <a:t>链路状态扩散到所有节点，</a:t>
            </a:r>
            <a:r>
              <a:rPr lang="en-US" altLang="zh-CN" dirty="0"/>
              <a:t>O(ne)</a:t>
            </a:r>
            <a:r>
              <a:rPr lang="zh-CN" altLang="en-US" dirty="0"/>
              <a:t>消息。如果链路花费改变时，需要扩散该信息 </a:t>
            </a:r>
            <a:r>
              <a:rPr lang="en-US" altLang="zh-CN" dirty="0"/>
              <a:t>O(e)</a:t>
            </a:r>
          </a:p>
          <a:p>
            <a:r>
              <a:rPr lang="en-US" altLang="zh-CN" dirty="0"/>
              <a:t>DV</a:t>
            </a:r>
            <a:r>
              <a:rPr lang="zh-CN" altLang="en-US" dirty="0"/>
              <a:t>：相邻节点之间交换距离向量。在链路花费改变时，只有在距离向量有变化时才需要继续传播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chemeClr val="accent4"/>
                </a:solidFill>
              </a:rPr>
              <a:t>收敛速度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en-US" altLang="zh-CN" dirty="0"/>
              <a:t>LS</a:t>
            </a:r>
            <a:r>
              <a:rPr lang="zh-CN" altLang="en-US" dirty="0"/>
              <a:t>：</a:t>
            </a:r>
            <a:r>
              <a:rPr lang="en-US" altLang="zh-CN" sz="2000" dirty="0">
                <a:latin typeface="Gill Sans MT" charset="0"/>
              </a:rPr>
              <a:t> </a:t>
            </a:r>
            <a:r>
              <a:rPr lang="en-US" altLang="zh-CN" dirty="0">
                <a:latin typeface="Gill Sans MT" charset="0"/>
              </a:rPr>
              <a:t>O(ne)</a:t>
            </a:r>
            <a:r>
              <a:rPr lang="zh-CN" altLang="en-US" dirty="0">
                <a:latin typeface="Gill Sans MT" charset="0"/>
              </a:rPr>
              <a:t>个消息，</a:t>
            </a:r>
            <a:r>
              <a:rPr lang="en-US" altLang="zh-CN" sz="2000" dirty="0">
                <a:latin typeface="Gill Sans MT" charset="0"/>
              </a:rPr>
              <a:t>O(n</a:t>
            </a:r>
            <a:r>
              <a:rPr lang="en-US" altLang="zh-CN" sz="2000" b="1" baseline="30000" dirty="0">
                <a:latin typeface="Gill Sans MT" charset="0"/>
              </a:rPr>
              <a:t>2</a:t>
            </a:r>
            <a:r>
              <a:rPr lang="en-US" altLang="zh-CN" sz="2000" dirty="0">
                <a:latin typeface="Gill Sans MT" charset="0"/>
              </a:rPr>
              <a:t>)</a:t>
            </a:r>
            <a:r>
              <a:rPr lang="zh-CN" altLang="en-US" sz="2000" dirty="0">
                <a:latin typeface="Gill Sans MT" charset="0"/>
              </a:rPr>
              <a:t>算法</a:t>
            </a:r>
            <a:endParaRPr lang="en-US" altLang="zh-CN" sz="2000" dirty="0">
              <a:latin typeface="Gill Sans MT" charset="0"/>
            </a:endParaRPr>
          </a:p>
          <a:p>
            <a:r>
              <a:rPr lang="en-US" altLang="zh-CN" dirty="0">
                <a:latin typeface="Gill Sans MT" charset="0"/>
              </a:rPr>
              <a:t>DV</a:t>
            </a:r>
            <a:r>
              <a:rPr lang="zh-CN" altLang="en-US" dirty="0">
                <a:latin typeface="Gill Sans MT" charset="0"/>
              </a:rPr>
              <a:t>：收敛速度较慢。可能出现路由回路，导致无穷计数问题</a:t>
            </a:r>
            <a:endParaRPr lang="en-US" altLang="zh-CN" dirty="0">
              <a:latin typeface="Gill Sans MT" charset="0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accent4"/>
                </a:solidFill>
                <a:latin typeface="Gill Sans MT" charset="0"/>
              </a:rPr>
              <a:t>健壮性</a:t>
            </a:r>
            <a:r>
              <a:rPr lang="en-US" altLang="zh-CN" b="1" dirty="0">
                <a:solidFill>
                  <a:schemeClr val="accent4"/>
                </a:solidFill>
                <a:latin typeface="Gill Sans MT" charset="0"/>
              </a:rPr>
              <a:t>(robustness)</a:t>
            </a:r>
            <a:r>
              <a:rPr lang="zh-CN" altLang="en-US" b="1" dirty="0">
                <a:solidFill>
                  <a:schemeClr val="accent4"/>
                </a:solidFill>
                <a:latin typeface="Gill Sans MT" charset="0"/>
              </a:rPr>
              <a:t>：路由器出现问题</a:t>
            </a:r>
            <a:endParaRPr lang="en-US" altLang="zh-CN" b="1" dirty="0">
              <a:solidFill>
                <a:schemeClr val="accent4"/>
              </a:solidFill>
              <a:latin typeface="Gill Sans MT" charset="0"/>
            </a:endParaRPr>
          </a:p>
          <a:p>
            <a:r>
              <a:rPr lang="en-US" altLang="zh-CN" sz="2000" dirty="0">
                <a:latin typeface="Gill Sans MT" charset="0"/>
              </a:rPr>
              <a:t>LS:  </a:t>
            </a:r>
          </a:p>
          <a:p>
            <a:pPr lvl="1"/>
            <a:r>
              <a:rPr lang="zh-CN" altLang="en-US" dirty="0">
                <a:latin typeface="Gill Sans MT" charset="0"/>
              </a:rPr>
              <a:t>节点可能发布不正确的链路状态</a:t>
            </a:r>
            <a:endParaRPr lang="en-US" altLang="zh-CN" dirty="0">
              <a:latin typeface="Gill Sans MT" charset="0"/>
            </a:endParaRPr>
          </a:p>
          <a:p>
            <a:pPr lvl="1"/>
            <a:r>
              <a:rPr lang="zh-CN" altLang="en-US" dirty="0">
                <a:latin typeface="Gill Sans MT" charset="0"/>
              </a:rPr>
              <a:t>每个节点独立进行计算，一定程度的健壮性</a:t>
            </a:r>
            <a:endParaRPr lang="en-US" altLang="zh-CN" dirty="0">
              <a:latin typeface="Gill Sans MT" charset="0"/>
            </a:endParaRPr>
          </a:p>
          <a:p>
            <a:r>
              <a:rPr lang="en-US" altLang="zh-CN" dirty="0">
                <a:latin typeface="Gill Sans MT" charset="0"/>
              </a:rPr>
              <a:t>DV</a:t>
            </a:r>
            <a:r>
              <a:rPr lang="zh-CN" altLang="en-US" dirty="0">
                <a:latin typeface="Gill Sans MT" charset="0"/>
              </a:rPr>
              <a:t>：</a:t>
            </a:r>
            <a:endParaRPr lang="en-US" altLang="zh-CN" dirty="0">
              <a:latin typeface="Gill Sans MT" charset="0"/>
            </a:endParaRPr>
          </a:p>
          <a:p>
            <a:pPr lvl="1"/>
            <a:r>
              <a:rPr lang="zh-CN" altLang="en-US" dirty="0">
                <a:latin typeface="Gill Sans MT" charset="0"/>
              </a:rPr>
              <a:t>节点可能发布不正确的路径花费</a:t>
            </a:r>
            <a:endParaRPr lang="en-US" altLang="zh-CN" dirty="0">
              <a:latin typeface="Gill Sans MT" charset="0"/>
            </a:endParaRPr>
          </a:p>
          <a:p>
            <a:pPr lvl="1"/>
            <a:r>
              <a:rPr lang="zh-CN" altLang="en-US" dirty="0">
                <a:latin typeface="Gill Sans MT" charset="0"/>
              </a:rPr>
              <a:t>距离向量有变化时会逐步往外传播，可能导致路由回路，可能影响所有路由器</a:t>
            </a:r>
            <a:endParaRPr lang="en-US" altLang="zh-CN" dirty="0">
              <a:latin typeface="Gill Sans MT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0695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FD699-35B3-9F56-7150-A571CE2A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49D00-2FD4-3901-5C75-C02D4C82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5.1 </a:t>
            </a:r>
            <a:r>
              <a:rPr lang="zh-CN" altLang="en-US" sz="2800" dirty="0"/>
              <a:t>概述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5.2 </a:t>
            </a:r>
            <a:r>
              <a:rPr lang="zh-CN" altLang="en-US" sz="2800" dirty="0"/>
              <a:t>路由选择算法：</a:t>
            </a:r>
            <a:endParaRPr lang="en-US" altLang="zh-CN" sz="2800" dirty="0"/>
          </a:p>
          <a:p>
            <a:pPr lvl="1"/>
            <a:r>
              <a:rPr lang="zh-CN" altLang="en-US" sz="2800" dirty="0"/>
              <a:t>链路状态路由算法</a:t>
            </a:r>
            <a:endParaRPr lang="en-US" altLang="zh-CN" sz="2800" dirty="0"/>
          </a:p>
          <a:p>
            <a:pPr lvl="1"/>
            <a:r>
              <a:rPr lang="zh-CN" altLang="en-US" sz="2800" dirty="0"/>
              <a:t>距离向量路由算法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b="1" dirty="0">
                <a:solidFill>
                  <a:schemeClr val="accent4"/>
                </a:solidFill>
              </a:rPr>
              <a:t>5.3 Internet</a:t>
            </a:r>
            <a:r>
              <a:rPr lang="zh-CN" altLang="en-US" sz="2800" b="1" dirty="0">
                <a:solidFill>
                  <a:schemeClr val="accent4"/>
                </a:solidFill>
              </a:rPr>
              <a:t>中自治系统的路由：</a:t>
            </a:r>
            <a:r>
              <a:rPr lang="en-US" altLang="zh-CN" sz="2800" b="1" dirty="0">
                <a:solidFill>
                  <a:schemeClr val="accent4"/>
                </a:solidFill>
              </a:rPr>
              <a:t>OSPF</a:t>
            </a:r>
          </a:p>
          <a:p>
            <a:pPr marL="0" indent="0">
              <a:buNone/>
            </a:pPr>
            <a:r>
              <a:rPr lang="en-US" altLang="zh-CN" sz="2800" dirty="0"/>
              <a:t>5.4 ISP</a:t>
            </a:r>
            <a:r>
              <a:rPr lang="zh-CN" altLang="en-US" sz="2800" dirty="0"/>
              <a:t>之间的路由选择：</a:t>
            </a:r>
            <a:r>
              <a:rPr lang="en-US" altLang="zh-CN" sz="2800" dirty="0"/>
              <a:t>BGP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5.5 SDN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控制平面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5.6 ICMP(</a:t>
            </a:r>
            <a:r>
              <a:rPr lang="zh-CN" altLang="en-US" sz="2800" dirty="0"/>
              <a:t>已介绍</a:t>
            </a:r>
            <a:r>
              <a:rPr lang="en-US" altLang="zh-CN" sz="2800" dirty="0"/>
              <a:t>)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5.8 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网络管理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81870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9E57A-DE9E-D348-B2CA-91256189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自治系统</a:t>
            </a:r>
            <a:r>
              <a:rPr lang="zh-CN" altLang="zh-CN" dirty="0"/>
              <a:t>（</a:t>
            </a:r>
            <a:r>
              <a:rPr lang="en-US" altLang="zh-CN" dirty="0"/>
              <a:t>Autonomous System</a:t>
            </a:r>
            <a:r>
              <a:rPr lang="zh-CN" altLang="zh-CN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105E6A-88CD-3609-BACF-864A82198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5189537"/>
          </a:xfrm>
        </p:spPr>
        <p:txBody>
          <a:bodyPr>
            <a:noAutofit/>
          </a:bodyPr>
          <a:lstStyle/>
          <a:p>
            <a:r>
              <a:rPr lang="zh-CN" altLang="en-US" sz="1800" dirty="0"/>
              <a:t>距离向量和链路状态路由协议，假设网络由运行相同的路由算法的路由器连接而成</a:t>
            </a:r>
            <a:endParaRPr lang="en-US" altLang="zh-CN" sz="1800" dirty="0"/>
          </a:p>
          <a:p>
            <a:r>
              <a:rPr lang="zh-CN" altLang="en-US" sz="1800" dirty="0"/>
              <a:t>规模：数亿台主机</a:t>
            </a:r>
            <a:endParaRPr lang="en-US" altLang="zh-CN" sz="1800" dirty="0"/>
          </a:p>
          <a:p>
            <a:pPr lvl="1"/>
            <a:r>
              <a:rPr lang="zh-CN" altLang="en-US" dirty="0"/>
              <a:t>路由表、路由消息、收敛性都要求采用层次路由</a:t>
            </a:r>
            <a:endParaRPr lang="en-US" altLang="zh-CN" dirty="0"/>
          </a:p>
          <a:p>
            <a:r>
              <a:rPr lang="zh-CN" altLang="en-US" sz="1800" dirty="0"/>
              <a:t>管理自治：</a:t>
            </a:r>
            <a:endParaRPr lang="en-US" altLang="zh-CN" sz="1800" dirty="0"/>
          </a:p>
          <a:p>
            <a:pPr lvl="1"/>
            <a:r>
              <a:rPr lang="en-US" altLang="zh-CN" dirty="0"/>
              <a:t>Internet = </a:t>
            </a:r>
            <a:r>
              <a:rPr lang="zh-CN" altLang="en-US" dirty="0"/>
              <a:t>网络的网络</a:t>
            </a:r>
            <a:endParaRPr lang="en-US" altLang="zh-CN" dirty="0"/>
          </a:p>
          <a:p>
            <a:pPr lvl="1"/>
            <a:r>
              <a:rPr lang="zh-CN" altLang="en-US" dirty="0"/>
              <a:t>网络的管理者希望自己决定如何管理网络（选择某种路由算法），希望隐藏内部网络的细节</a:t>
            </a:r>
            <a:endParaRPr lang="en-US" altLang="zh-CN" dirty="0"/>
          </a:p>
          <a:p>
            <a:r>
              <a:rPr lang="zh-CN" altLang="zh-CN" sz="1800" b="1" dirty="0">
                <a:solidFill>
                  <a:schemeClr val="accent4"/>
                </a:solidFill>
              </a:rPr>
              <a:t>自治系统</a:t>
            </a:r>
            <a:r>
              <a:rPr lang="en-US" altLang="zh-CN" sz="1800" b="1" dirty="0">
                <a:solidFill>
                  <a:schemeClr val="accent4"/>
                </a:solidFill>
              </a:rPr>
              <a:t>AS</a:t>
            </a:r>
            <a:r>
              <a:rPr lang="zh-CN" altLang="zh-CN" sz="1800" b="1" dirty="0">
                <a:solidFill>
                  <a:schemeClr val="accent4"/>
                </a:solidFill>
              </a:rPr>
              <a:t>（</a:t>
            </a:r>
            <a:r>
              <a:rPr lang="en-US" altLang="zh-CN" sz="1800" b="1" dirty="0">
                <a:solidFill>
                  <a:schemeClr val="accent4"/>
                </a:solidFill>
              </a:rPr>
              <a:t>Autonomous System</a:t>
            </a:r>
            <a:r>
              <a:rPr lang="zh-CN" altLang="zh-CN" sz="1800" b="1" dirty="0">
                <a:solidFill>
                  <a:schemeClr val="accent4"/>
                </a:solidFill>
              </a:rPr>
              <a:t>）</a:t>
            </a:r>
            <a:endParaRPr lang="en-US" altLang="zh-CN" sz="1800" b="1" dirty="0">
              <a:solidFill>
                <a:schemeClr val="accent4"/>
              </a:solidFill>
            </a:endParaRPr>
          </a:p>
          <a:p>
            <a:pPr lvl="1"/>
            <a:r>
              <a:rPr lang="zh-CN" altLang="zh-CN" dirty="0"/>
              <a:t>由一个或者多个独立的</a:t>
            </a:r>
            <a:r>
              <a:rPr lang="zh-CN" altLang="zh-CN" b="1" dirty="0">
                <a:solidFill>
                  <a:schemeClr val="accent4"/>
                </a:solidFill>
              </a:rPr>
              <a:t>管理实体</a:t>
            </a:r>
            <a:r>
              <a:rPr lang="zh-CN" altLang="zh-CN" dirty="0"/>
              <a:t>控制的采用</a:t>
            </a:r>
            <a:r>
              <a:rPr lang="zh-CN" altLang="zh-CN" b="1" dirty="0">
                <a:solidFill>
                  <a:schemeClr val="accent4"/>
                </a:solidFill>
              </a:rPr>
              <a:t>相同路由策略</a:t>
            </a:r>
            <a:r>
              <a:rPr lang="zh-CN" altLang="zh-CN" dirty="0"/>
              <a:t>的网络和路由器组成</a:t>
            </a:r>
            <a:endParaRPr lang="en-US" altLang="zh-CN" dirty="0"/>
          </a:p>
          <a:p>
            <a:pPr lvl="1"/>
            <a:r>
              <a:rPr lang="zh-CN" altLang="zh-CN" dirty="0"/>
              <a:t>分配一个自治系统编号（</a:t>
            </a:r>
            <a:r>
              <a:rPr lang="en-US" altLang="zh-CN" dirty="0"/>
              <a:t>ASN</a:t>
            </a:r>
            <a:r>
              <a:rPr lang="zh-CN" altLang="zh-CN" dirty="0"/>
              <a:t>）</a:t>
            </a:r>
            <a:r>
              <a:rPr lang="zh-CN" altLang="en-US" dirty="0"/>
              <a:t>。最初为</a:t>
            </a:r>
            <a:r>
              <a:rPr lang="en-US" altLang="zh-CN" dirty="0"/>
              <a:t>16</a:t>
            </a:r>
            <a:r>
              <a:rPr lang="zh-CN" altLang="en-US" dirty="0"/>
              <a:t>比特</a:t>
            </a:r>
            <a:endParaRPr lang="en-US" altLang="zh-CN" dirty="0"/>
          </a:p>
          <a:p>
            <a:pPr lvl="2"/>
            <a:r>
              <a:rPr lang="en-US" altLang="zh-CN" sz="1800" dirty="0"/>
              <a:t>64512~65534</a:t>
            </a:r>
            <a:r>
              <a:rPr lang="zh-CN" altLang="en-US" sz="1800" dirty="0"/>
              <a:t>为内部自治系统编号，不会出现在</a:t>
            </a:r>
            <a:r>
              <a:rPr lang="en-US" altLang="zh-CN" sz="1800" dirty="0"/>
              <a:t>Internet</a:t>
            </a:r>
          </a:p>
          <a:p>
            <a:pPr lvl="2"/>
            <a:r>
              <a:rPr lang="en-US" altLang="zh-CN" sz="1800" dirty="0"/>
              <a:t>2007</a:t>
            </a:r>
            <a:r>
              <a:rPr lang="zh-CN" altLang="en-US" sz="1800" dirty="0"/>
              <a:t>年</a:t>
            </a:r>
            <a:r>
              <a:rPr lang="en-US" altLang="zh-CN" sz="1800" dirty="0"/>
              <a:t>RFC 4893</a:t>
            </a:r>
            <a:r>
              <a:rPr lang="zh-CN" altLang="en-US" sz="1800" dirty="0"/>
              <a:t>扩充为</a:t>
            </a:r>
            <a:r>
              <a:rPr lang="en-US" altLang="zh-CN" sz="1800" dirty="0"/>
              <a:t>32</a:t>
            </a:r>
            <a:r>
              <a:rPr lang="zh-CN" altLang="en-US" sz="1800" dirty="0"/>
              <a:t>比特，</a:t>
            </a:r>
            <a:r>
              <a:rPr lang="en-US" altLang="zh-CN" sz="1800" dirty="0"/>
              <a:t>X.Y</a:t>
            </a:r>
            <a:r>
              <a:rPr lang="zh-CN" altLang="en-US" sz="1800" dirty="0"/>
              <a:t>来表示</a:t>
            </a:r>
            <a:endParaRPr lang="en-US" altLang="zh-CN" sz="1800" dirty="0"/>
          </a:p>
          <a:p>
            <a:pPr lvl="1"/>
            <a:r>
              <a:rPr lang="zh-CN" altLang="en-US" sz="1600" dirty="0"/>
              <a:t>一个</a:t>
            </a:r>
            <a:r>
              <a:rPr lang="en-US" altLang="zh-CN" sz="1600" dirty="0"/>
              <a:t>ISP</a:t>
            </a:r>
            <a:r>
              <a:rPr lang="zh-CN" altLang="en-US" sz="1600" dirty="0"/>
              <a:t>的网络属于同一个</a:t>
            </a:r>
            <a:r>
              <a:rPr lang="en-US" altLang="zh-CN" sz="1600" dirty="0"/>
              <a:t>AS</a:t>
            </a:r>
          </a:p>
          <a:p>
            <a:pPr lvl="1"/>
            <a:r>
              <a:rPr lang="zh-CN" altLang="en-US" sz="1600" dirty="0"/>
              <a:t>一个大</a:t>
            </a:r>
            <a:r>
              <a:rPr lang="en-US" altLang="zh-CN" sz="1600" dirty="0"/>
              <a:t>ISP</a:t>
            </a:r>
            <a:r>
              <a:rPr lang="zh-CN" altLang="en-US" sz="1600" dirty="0"/>
              <a:t>的网络也可以分成多个</a:t>
            </a:r>
            <a:r>
              <a:rPr lang="en-US" altLang="zh-CN" sz="1600" dirty="0"/>
              <a:t>AS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AB3F74-67CC-95E6-63A1-6CB5594DF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743" y="3824587"/>
            <a:ext cx="4565757" cy="283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42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B12BC-8A84-A5DE-CDE1-BCE7CE78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自治系统</a:t>
            </a:r>
            <a:r>
              <a:rPr lang="zh-CN" altLang="zh-CN" dirty="0"/>
              <a:t>（</a:t>
            </a:r>
            <a:r>
              <a:rPr lang="en-US" altLang="zh-CN" dirty="0"/>
              <a:t>Autonomous System</a:t>
            </a:r>
            <a:r>
              <a:rPr lang="zh-CN" altLang="zh-CN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775A12-EAEF-7A60-0CC6-73FA976A1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34749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1800" dirty="0"/>
              <a:t>自治系统内部路由</a:t>
            </a:r>
            <a:r>
              <a:rPr lang="en-US" altLang="zh-CN" sz="1800" b="1" dirty="0">
                <a:solidFill>
                  <a:schemeClr val="accent4"/>
                </a:solidFill>
              </a:rPr>
              <a:t>(intra-AS Routing)</a:t>
            </a:r>
            <a:r>
              <a:rPr lang="zh-CN" altLang="en-US" sz="1800" dirty="0"/>
              <a:t>，也称为</a:t>
            </a:r>
            <a:r>
              <a:rPr lang="en-US" altLang="zh-CN" sz="1800" dirty="0"/>
              <a:t>IGP(Interior Gateway Protocol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r>
              <a:rPr lang="zh-CN" altLang="en-US" sz="1800" dirty="0"/>
              <a:t>自治系统内选择各自的内部路由协议</a:t>
            </a:r>
            <a:endParaRPr lang="en-US" altLang="zh-CN" sz="1800" dirty="0"/>
          </a:p>
          <a:p>
            <a:r>
              <a:rPr lang="zh-CN" altLang="en-US" sz="1800" dirty="0"/>
              <a:t>链路花费可以选择不同的性能度量</a:t>
            </a:r>
            <a:endParaRPr lang="en-US" altLang="zh-CN" sz="1800" dirty="0"/>
          </a:p>
          <a:p>
            <a:r>
              <a:rPr lang="zh-CN" altLang="en-US" sz="1800" dirty="0"/>
              <a:t>自治系统内部的路由一般采用最小花费路由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自治系统之间路由</a:t>
            </a:r>
            <a:r>
              <a:rPr lang="en-US" altLang="zh-CN" sz="1800" b="1" dirty="0">
                <a:solidFill>
                  <a:schemeClr val="accent4"/>
                </a:solidFill>
              </a:rPr>
              <a:t>(inter-AS Routing)</a:t>
            </a:r>
            <a:r>
              <a:rPr lang="zh-CN" altLang="en-US" sz="1800" dirty="0"/>
              <a:t>，也称为（</a:t>
            </a:r>
            <a:r>
              <a:rPr lang="en-US" altLang="zh-CN" sz="1800" dirty="0"/>
              <a:t>EGP, Exterior Gateway Protocol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r>
              <a:rPr lang="zh-CN" altLang="en-US" sz="1800" dirty="0"/>
              <a:t>自治系统边界路由器：部分链路连接到自治系统，部分链路连接到其他自治系统</a:t>
            </a:r>
            <a:endParaRPr lang="en-US" altLang="zh-CN" sz="1800" dirty="0"/>
          </a:p>
          <a:p>
            <a:r>
              <a:rPr lang="zh-CN" altLang="en-US" sz="1800" dirty="0"/>
              <a:t>一个自治系统可以有多个边界路由器</a:t>
            </a:r>
            <a:endParaRPr lang="en-US" altLang="zh-CN" sz="1800" dirty="0"/>
          </a:p>
          <a:p>
            <a:r>
              <a:rPr lang="zh-CN" altLang="en-US" sz="1800" dirty="0"/>
              <a:t>不同自治系统的边界路由器之间运行外部路由协议，传递跨越自治系统的路由信息（可达性信息）</a:t>
            </a:r>
            <a:endParaRPr lang="en-US" altLang="zh-CN" sz="1800" dirty="0"/>
          </a:p>
          <a:p>
            <a:r>
              <a:rPr lang="zh-CN" altLang="en-US" sz="1800" dirty="0"/>
              <a:t>自治系统之间的路由一般采用策略路由</a:t>
            </a:r>
            <a:endParaRPr lang="en-US" altLang="zh-CN" sz="1800" dirty="0"/>
          </a:p>
          <a:p>
            <a:endParaRPr lang="zh-CN" altLang="en-US" sz="1800" dirty="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1AE565CF-93A1-AB4F-9B12-AAC0D23703BC}"/>
              </a:ext>
            </a:extLst>
          </p:cNvPr>
          <p:cNvSpPr>
            <a:spLocks/>
          </p:cNvSpPr>
          <p:nvPr/>
        </p:nvSpPr>
        <p:spPr bwMode="auto">
          <a:xfrm>
            <a:off x="8864087" y="4082586"/>
            <a:ext cx="1944687" cy="1292225"/>
          </a:xfrm>
          <a:custGeom>
            <a:avLst/>
            <a:gdLst>
              <a:gd name="T0" fmla="*/ 2147483647 w 1162"/>
              <a:gd name="T1" fmla="*/ 2147483647 h 543"/>
              <a:gd name="T2" fmla="*/ 2147483647 w 1162"/>
              <a:gd name="T3" fmla="*/ 2147483647 h 543"/>
              <a:gd name="T4" fmla="*/ 2147483647 w 1162"/>
              <a:gd name="T5" fmla="*/ 2147483647 h 543"/>
              <a:gd name="T6" fmla="*/ 2147483647 w 1162"/>
              <a:gd name="T7" fmla="*/ 2147483647 h 543"/>
              <a:gd name="T8" fmla="*/ 2147483647 w 1162"/>
              <a:gd name="T9" fmla="*/ 2147483647 h 543"/>
              <a:gd name="T10" fmla="*/ 2147483647 w 1162"/>
              <a:gd name="T11" fmla="*/ 2147483647 h 543"/>
              <a:gd name="T12" fmla="*/ 2147483647 w 1162"/>
              <a:gd name="T13" fmla="*/ 2147483647 h 543"/>
              <a:gd name="T14" fmla="*/ 2147483647 w 1162"/>
              <a:gd name="T15" fmla="*/ 2147483647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2"/>
              <a:gd name="T25" fmla="*/ 0 h 543"/>
              <a:gd name="T26" fmla="*/ 1162 w 116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219E148F-4423-4BF8-F751-2A3C55CC0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0674" y="5004923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AS2</a:t>
            </a:r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36A6E2EF-AFD1-8B4F-BC7A-7DB49F5792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80024" y="4493748"/>
            <a:ext cx="434975" cy="192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" name="Group 40">
            <a:extLst>
              <a:ext uri="{FF2B5EF4-FFF2-40B4-BE49-F238E27FC236}">
                <a16:creationId xmlns:a16="http://schemas.microsoft.com/office/drawing/2014/main" id="{90B945DA-C393-8C20-303F-9D359A14C7B1}"/>
              </a:ext>
            </a:extLst>
          </p:cNvPr>
          <p:cNvGrpSpPr>
            <a:grpSpLocks/>
          </p:cNvGrpSpPr>
          <p:nvPr/>
        </p:nvGrpSpPr>
        <p:grpSpPr bwMode="auto">
          <a:xfrm>
            <a:off x="7647648" y="5404963"/>
            <a:ext cx="2660650" cy="1122362"/>
            <a:chOff x="1572" y="3293"/>
            <a:chExt cx="1676" cy="707"/>
          </a:xfrm>
        </p:grpSpPr>
        <p:sp>
          <p:nvSpPr>
            <p:cNvPr id="8" name="Freeform 41">
              <a:extLst>
                <a:ext uri="{FF2B5EF4-FFF2-40B4-BE49-F238E27FC236}">
                  <a16:creationId xmlns:a16="http://schemas.microsoft.com/office/drawing/2014/main" id="{3D944AA8-B562-835D-CA8B-763537896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3293"/>
              <a:ext cx="1676" cy="707"/>
            </a:xfrm>
            <a:custGeom>
              <a:avLst/>
              <a:gdLst>
                <a:gd name="T0" fmla="*/ 259 w 1583"/>
                <a:gd name="T1" fmla="*/ 310 h 682"/>
                <a:gd name="T2" fmla="*/ 681 w 1583"/>
                <a:gd name="T3" fmla="*/ 102 h 682"/>
                <a:gd name="T4" fmla="*/ 1313 w 1583"/>
                <a:gd name="T5" fmla="*/ 29 h 682"/>
                <a:gd name="T6" fmla="*/ 1933 w 1583"/>
                <a:gd name="T7" fmla="*/ 268 h 682"/>
                <a:gd name="T8" fmla="*/ 2613 w 1583"/>
                <a:gd name="T9" fmla="*/ 591 h 682"/>
                <a:gd name="T10" fmla="*/ 2126 w 1583"/>
                <a:gd name="T11" fmla="*/ 888 h 682"/>
                <a:gd name="T12" fmla="*/ 1153 w 1583"/>
                <a:gd name="T13" fmla="*/ 908 h 682"/>
                <a:gd name="T14" fmla="*/ 149 w 1583"/>
                <a:gd name="T15" fmla="*/ 823 h 682"/>
                <a:gd name="T16" fmla="*/ 259 w 1583"/>
                <a:gd name="T17" fmla="*/ 310 h 6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3"/>
                <a:gd name="T28" fmla="*/ 0 h 682"/>
                <a:gd name="T29" fmla="*/ 1583 w 1583"/>
                <a:gd name="T30" fmla="*/ 682 h 6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42">
              <a:extLst>
                <a:ext uri="{FF2B5EF4-FFF2-40B4-BE49-F238E27FC236}">
                  <a16:creationId xmlns:a16="http://schemas.microsoft.com/office/drawing/2014/main" id="{806C0075-8918-CD9F-11F3-8084EADCE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1" y="3745"/>
              <a:ext cx="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 dirty="0"/>
                <a:t>AS1</a:t>
              </a:r>
              <a:endParaRPr lang="en-US" sz="1800" dirty="0"/>
            </a:p>
          </p:txBody>
        </p:sp>
        <p:sp>
          <p:nvSpPr>
            <p:cNvPr id="10" name="Line 43">
              <a:extLst>
                <a:ext uri="{FF2B5EF4-FFF2-40B4-BE49-F238E27FC236}">
                  <a16:creationId xmlns:a16="http://schemas.microsoft.com/office/drawing/2014/main" id="{DCCBCAB8-792B-36B2-C606-F298F0AF4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4" y="3469"/>
              <a:ext cx="93" cy="1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44">
              <a:extLst>
                <a:ext uri="{FF2B5EF4-FFF2-40B4-BE49-F238E27FC236}">
                  <a16:creationId xmlns:a16="http://schemas.microsoft.com/office/drawing/2014/main" id="{964FD736-81A5-AA5F-1A9D-9F78757D1B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8" y="3491"/>
              <a:ext cx="3" cy="2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45">
              <a:extLst>
                <a:ext uri="{FF2B5EF4-FFF2-40B4-BE49-F238E27FC236}">
                  <a16:creationId xmlns:a16="http://schemas.microsoft.com/office/drawing/2014/main" id="{D00F4536-2631-B12C-C9AC-9A1A0F6AD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0" y="3461"/>
              <a:ext cx="313" cy="2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46">
              <a:extLst>
                <a:ext uri="{FF2B5EF4-FFF2-40B4-BE49-F238E27FC236}">
                  <a16:creationId xmlns:a16="http://schemas.microsoft.com/office/drawing/2014/main" id="{E36A721A-5F0D-4EE6-9DF2-66BADBA5D3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6" y="3749"/>
              <a:ext cx="237" cy="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47">
              <a:extLst>
                <a:ext uri="{FF2B5EF4-FFF2-40B4-BE49-F238E27FC236}">
                  <a16:creationId xmlns:a16="http://schemas.microsoft.com/office/drawing/2014/main" id="{0295B1DE-4266-07A2-5278-B6DECBAB46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2" y="3638"/>
              <a:ext cx="568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48">
              <a:extLst>
                <a:ext uri="{FF2B5EF4-FFF2-40B4-BE49-F238E27FC236}">
                  <a16:creationId xmlns:a16="http://schemas.microsoft.com/office/drawing/2014/main" id="{1475C5DF-7093-CAD5-F8B4-1972ECC94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3689"/>
              <a:ext cx="127" cy="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" name="Group 49">
              <a:extLst>
                <a:ext uri="{FF2B5EF4-FFF2-40B4-BE49-F238E27FC236}">
                  <a16:creationId xmlns:a16="http://schemas.microsoft.com/office/drawing/2014/main" id="{61313005-49A6-D74E-252B-0F43AE6582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2" y="3293"/>
              <a:ext cx="316" cy="250"/>
              <a:chOff x="2055" y="3447"/>
              <a:chExt cx="316" cy="250"/>
            </a:xfrm>
          </p:grpSpPr>
          <p:sp>
            <p:nvSpPr>
              <p:cNvPr id="43" name="Oval 50">
                <a:extLst>
                  <a:ext uri="{FF2B5EF4-FFF2-40B4-BE49-F238E27FC236}">
                    <a16:creationId xmlns:a16="http://schemas.microsoft.com/office/drawing/2014/main" id="{3D1A08BB-7243-7D94-F0DC-10E73083B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" y="3571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51">
                <a:extLst>
                  <a:ext uri="{FF2B5EF4-FFF2-40B4-BE49-F238E27FC236}">
                    <a16:creationId xmlns:a16="http://schemas.microsoft.com/office/drawing/2014/main" id="{DB395121-AB8F-722E-DC4C-C706B9D3A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8" y="356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52">
                <a:extLst>
                  <a:ext uri="{FF2B5EF4-FFF2-40B4-BE49-F238E27FC236}">
                    <a16:creationId xmlns:a16="http://schemas.microsoft.com/office/drawing/2014/main" id="{66C33B0F-6DD4-782F-45C6-D93698C06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1" y="356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53">
                <a:extLst>
                  <a:ext uri="{FF2B5EF4-FFF2-40B4-BE49-F238E27FC236}">
                    <a16:creationId xmlns:a16="http://schemas.microsoft.com/office/drawing/2014/main" id="{7159CAB1-C441-6E86-C439-9499547A24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8" y="3564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47" name="Oval 54">
                <a:extLst>
                  <a:ext uri="{FF2B5EF4-FFF2-40B4-BE49-F238E27FC236}">
                    <a16:creationId xmlns:a16="http://schemas.microsoft.com/office/drawing/2014/main" id="{A1DF9C9B-8163-9377-83AF-2B1A5D7B0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5" y="3505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" name="Group 55">
                <a:extLst>
                  <a:ext uri="{FF2B5EF4-FFF2-40B4-BE49-F238E27FC236}">
                    <a16:creationId xmlns:a16="http://schemas.microsoft.com/office/drawing/2014/main" id="{065E9CA2-4ED6-48F4-31C6-E599D346D8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2" y="3447"/>
                <a:ext cx="285" cy="250"/>
                <a:chOff x="2912" y="2425"/>
                <a:chExt cx="292" cy="250"/>
              </a:xfrm>
            </p:grpSpPr>
            <p:sp>
              <p:nvSpPr>
                <p:cNvPr id="49" name="Rectangle 56">
                  <a:extLst>
                    <a:ext uri="{FF2B5EF4-FFF2-40B4-BE49-F238E27FC236}">
                      <a16:creationId xmlns:a16="http://schemas.microsoft.com/office/drawing/2014/main" id="{E74762B3-0F0A-462E-7887-58DD096D4B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Text Box 57">
                  <a:extLst>
                    <a:ext uri="{FF2B5EF4-FFF2-40B4-BE49-F238E27FC236}">
                      <a16:creationId xmlns:a16="http://schemas.microsoft.com/office/drawing/2014/main" id="{80C4E11B-4DCD-B651-FBD7-0EE9381885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2" y="2425"/>
                  <a:ext cx="29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1c</a:t>
                  </a:r>
                </a:p>
              </p:txBody>
            </p:sp>
          </p:grpSp>
        </p:grpSp>
        <p:grpSp>
          <p:nvGrpSpPr>
            <p:cNvPr id="17" name="Group 58">
              <a:extLst>
                <a:ext uri="{FF2B5EF4-FFF2-40B4-BE49-F238E27FC236}">
                  <a16:creationId xmlns:a16="http://schemas.microsoft.com/office/drawing/2014/main" id="{19B31C58-08C2-366A-1611-0A0199F7C3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6" y="3507"/>
              <a:ext cx="316" cy="250"/>
              <a:chOff x="1749" y="3661"/>
              <a:chExt cx="316" cy="250"/>
            </a:xfrm>
          </p:grpSpPr>
          <p:sp>
            <p:nvSpPr>
              <p:cNvPr id="36" name="Oval 59">
                <a:extLst>
                  <a:ext uri="{FF2B5EF4-FFF2-40B4-BE49-F238E27FC236}">
                    <a16:creationId xmlns:a16="http://schemas.microsoft.com/office/drawing/2014/main" id="{46D10490-B912-29EC-5811-6CEBB181C3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" y="3781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Line 60">
                <a:extLst>
                  <a:ext uri="{FF2B5EF4-FFF2-40B4-BE49-F238E27FC236}">
                    <a16:creationId xmlns:a16="http://schemas.microsoft.com/office/drawing/2014/main" id="{46939D34-457D-5262-D7FB-96A1D88479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2" y="377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61">
                <a:extLst>
                  <a:ext uri="{FF2B5EF4-FFF2-40B4-BE49-F238E27FC236}">
                    <a16:creationId xmlns:a16="http://schemas.microsoft.com/office/drawing/2014/main" id="{55BFFC05-5A2F-6DD3-2828-1B8C8A0D6C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5" y="377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Rectangle 62">
                <a:extLst>
                  <a:ext uri="{FF2B5EF4-FFF2-40B4-BE49-F238E27FC236}">
                    <a16:creationId xmlns:a16="http://schemas.microsoft.com/office/drawing/2014/main" id="{940B22A6-F462-C9E1-3553-FD7B91DB3B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" y="3774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40" name="Oval 63">
                <a:extLst>
                  <a:ext uri="{FF2B5EF4-FFF2-40B4-BE49-F238E27FC236}">
                    <a16:creationId xmlns:a16="http://schemas.microsoft.com/office/drawing/2014/main" id="{B3DAE117-5427-99AA-D22C-7E3098044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" y="371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Rectangle 64">
                <a:extLst>
                  <a:ext uri="{FF2B5EF4-FFF2-40B4-BE49-F238E27FC236}">
                    <a16:creationId xmlns:a16="http://schemas.microsoft.com/office/drawing/2014/main" id="{5B009A5B-67BC-2C46-727D-D868506D7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4" y="3746"/>
                <a:ext cx="142" cy="96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Text Box 65">
                <a:extLst>
                  <a:ext uri="{FF2B5EF4-FFF2-40B4-BE49-F238E27FC236}">
                    <a16:creationId xmlns:a16="http://schemas.microsoft.com/office/drawing/2014/main" id="{FC11299A-7B14-B17B-2C59-DBB6D842FB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5" y="3661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1a</a:t>
                </a:r>
                <a:endParaRPr lang="en-US"/>
              </a:p>
            </p:txBody>
          </p:sp>
        </p:grpSp>
        <p:grpSp>
          <p:nvGrpSpPr>
            <p:cNvPr id="18" name="Group 66">
              <a:extLst>
                <a:ext uri="{FF2B5EF4-FFF2-40B4-BE49-F238E27FC236}">
                  <a16:creationId xmlns:a16="http://schemas.microsoft.com/office/drawing/2014/main" id="{6F64BA8E-F867-8F55-40B8-11527C8A3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8" y="3689"/>
              <a:ext cx="316" cy="250"/>
              <a:chOff x="2091" y="3843"/>
              <a:chExt cx="316" cy="250"/>
            </a:xfrm>
          </p:grpSpPr>
          <p:sp>
            <p:nvSpPr>
              <p:cNvPr id="28" name="Oval 67">
                <a:extLst>
                  <a:ext uri="{FF2B5EF4-FFF2-40B4-BE49-F238E27FC236}">
                    <a16:creationId xmlns:a16="http://schemas.microsoft.com/office/drawing/2014/main" id="{7025DBA5-0A63-4BAB-0573-562462FC4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3967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68">
                <a:extLst>
                  <a:ext uri="{FF2B5EF4-FFF2-40B4-BE49-F238E27FC236}">
                    <a16:creationId xmlns:a16="http://schemas.microsoft.com/office/drawing/2014/main" id="{517449CD-278E-7D79-E76F-79BCCF3555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4" y="3960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69">
                <a:extLst>
                  <a:ext uri="{FF2B5EF4-FFF2-40B4-BE49-F238E27FC236}">
                    <a16:creationId xmlns:a16="http://schemas.microsoft.com/office/drawing/2014/main" id="{901C7FCE-E270-B71F-B53E-446E95FA2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7" y="3960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Rectangle 70">
                <a:extLst>
                  <a:ext uri="{FF2B5EF4-FFF2-40B4-BE49-F238E27FC236}">
                    <a16:creationId xmlns:a16="http://schemas.microsoft.com/office/drawing/2014/main" id="{A7C7B330-48FB-7714-35B0-6C95DFADF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3960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32" name="Oval 71">
                <a:extLst>
                  <a:ext uri="{FF2B5EF4-FFF2-40B4-BE49-F238E27FC236}">
                    <a16:creationId xmlns:a16="http://schemas.microsoft.com/office/drawing/2014/main" id="{E4998EC8-B2E8-9A9B-E0A6-FD13D7F26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1" y="3901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3" name="Group 72">
                <a:extLst>
                  <a:ext uri="{FF2B5EF4-FFF2-40B4-BE49-F238E27FC236}">
                    <a16:creationId xmlns:a16="http://schemas.microsoft.com/office/drawing/2014/main" id="{5E393B34-76EB-AC66-3D4B-73549E5425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6" y="3843"/>
                <a:ext cx="294" cy="250"/>
                <a:chOff x="2910" y="2425"/>
                <a:chExt cx="296" cy="250"/>
              </a:xfrm>
            </p:grpSpPr>
            <p:sp>
              <p:nvSpPr>
                <p:cNvPr id="34" name="Rectangle 73">
                  <a:extLst>
                    <a:ext uri="{FF2B5EF4-FFF2-40B4-BE49-F238E27FC236}">
                      <a16:creationId xmlns:a16="http://schemas.microsoft.com/office/drawing/2014/main" id="{394C0C69-0A97-80AF-DA76-ADD25004E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Text Box 74">
                  <a:extLst>
                    <a:ext uri="{FF2B5EF4-FFF2-40B4-BE49-F238E27FC236}">
                      <a16:creationId xmlns:a16="http://schemas.microsoft.com/office/drawing/2014/main" id="{9891FFC8-776A-05F5-47E9-0163B84213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0" y="2425"/>
                  <a:ext cx="2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1d</a:t>
                  </a:r>
                </a:p>
              </p:txBody>
            </p:sp>
          </p:grpSp>
        </p:grp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D83F5EF2-B38D-BB99-0673-07559A9BA4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8" y="3573"/>
              <a:ext cx="316" cy="250"/>
              <a:chOff x="2016" y="1976"/>
              <a:chExt cx="316" cy="250"/>
            </a:xfrm>
          </p:grpSpPr>
          <p:sp>
            <p:nvSpPr>
              <p:cNvPr id="20" name="Oval 76">
                <a:extLst>
                  <a:ext uri="{FF2B5EF4-FFF2-40B4-BE49-F238E27FC236}">
                    <a16:creationId xmlns:a16="http://schemas.microsoft.com/office/drawing/2014/main" id="{CBDB53DC-4067-BB62-321A-6A22DA0E2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77">
                <a:extLst>
                  <a:ext uri="{FF2B5EF4-FFF2-40B4-BE49-F238E27FC236}">
                    <a16:creationId xmlns:a16="http://schemas.microsoft.com/office/drawing/2014/main" id="{AE218CFB-DDEE-CF6B-DAA9-3F3E190101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78">
                <a:extLst>
                  <a:ext uri="{FF2B5EF4-FFF2-40B4-BE49-F238E27FC236}">
                    <a16:creationId xmlns:a16="http://schemas.microsoft.com/office/drawing/2014/main" id="{2F51050B-AFAD-BE1B-6263-F3A889CA6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Rectangle 79">
                <a:extLst>
                  <a:ext uri="{FF2B5EF4-FFF2-40B4-BE49-F238E27FC236}">
                    <a16:creationId xmlns:a16="http://schemas.microsoft.com/office/drawing/2014/main" id="{06947468-31D7-85E9-476F-95BF59D63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24" name="Oval 80">
                <a:extLst>
                  <a:ext uri="{FF2B5EF4-FFF2-40B4-BE49-F238E27FC236}">
                    <a16:creationId xmlns:a16="http://schemas.microsoft.com/office/drawing/2014/main" id="{B2B13748-9C08-6C49-3162-02DF30AF2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5" name="Group 81">
                <a:extLst>
                  <a:ext uri="{FF2B5EF4-FFF2-40B4-BE49-F238E27FC236}">
                    <a16:creationId xmlns:a16="http://schemas.microsoft.com/office/drawing/2014/main" id="{3B43BB58-2890-8677-6325-024763C018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9" y="1976"/>
                <a:ext cx="294" cy="250"/>
                <a:chOff x="2909" y="2425"/>
                <a:chExt cx="299" cy="250"/>
              </a:xfrm>
            </p:grpSpPr>
            <p:sp>
              <p:nvSpPr>
                <p:cNvPr id="26" name="Rectangle 82">
                  <a:extLst>
                    <a:ext uri="{FF2B5EF4-FFF2-40B4-BE49-F238E27FC236}">
                      <a16:creationId xmlns:a16="http://schemas.microsoft.com/office/drawing/2014/main" id="{545D7AE6-69A0-DBEB-48AF-9B599D3531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2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Text Box 83">
                  <a:extLst>
                    <a:ext uri="{FF2B5EF4-FFF2-40B4-BE49-F238E27FC236}">
                      <a16:creationId xmlns:a16="http://schemas.microsoft.com/office/drawing/2014/main" id="{50F93EA2-A206-4DDE-A821-55CAFE3C6A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9" y="2425"/>
                  <a:ext cx="29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1b</a:t>
                  </a:r>
                  <a:endParaRPr lang="en-US"/>
                </a:p>
              </p:txBody>
            </p:sp>
          </p:grpSp>
        </p:grpSp>
      </p:grpSp>
      <p:grpSp>
        <p:nvGrpSpPr>
          <p:cNvPr id="51" name="Group 84">
            <a:extLst>
              <a:ext uri="{FF2B5EF4-FFF2-40B4-BE49-F238E27FC236}">
                <a16:creationId xmlns:a16="http://schemas.microsoft.com/office/drawing/2014/main" id="{8C50B7DF-D5E4-BEFD-4092-4CD43AB1DB81}"/>
              </a:ext>
            </a:extLst>
          </p:cNvPr>
          <p:cNvGrpSpPr>
            <a:grpSpLocks/>
          </p:cNvGrpSpPr>
          <p:nvPr/>
        </p:nvGrpSpPr>
        <p:grpSpPr bwMode="auto">
          <a:xfrm>
            <a:off x="9097226" y="4500356"/>
            <a:ext cx="501650" cy="396875"/>
            <a:chOff x="3537" y="3473"/>
            <a:chExt cx="316" cy="250"/>
          </a:xfrm>
        </p:grpSpPr>
        <p:sp>
          <p:nvSpPr>
            <p:cNvPr id="52" name="Oval 85">
              <a:extLst>
                <a:ext uri="{FF2B5EF4-FFF2-40B4-BE49-F238E27FC236}">
                  <a16:creationId xmlns:a16="http://schemas.microsoft.com/office/drawing/2014/main" id="{46CEFE8B-C5AF-C341-5E29-BBFFDBC75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59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86">
              <a:extLst>
                <a:ext uri="{FF2B5EF4-FFF2-40B4-BE49-F238E27FC236}">
                  <a16:creationId xmlns:a16="http://schemas.microsoft.com/office/drawing/2014/main" id="{B149EE12-3866-8606-5764-15BB6D608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0" y="359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87">
              <a:extLst>
                <a:ext uri="{FF2B5EF4-FFF2-40B4-BE49-F238E27FC236}">
                  <a16:creationId xmlns:a16="http://schemas.microsoft.com/office/drawing/2014/main" id="{352C7A33-EA99-8D79-F541-97D441053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3" y="359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Rectangle 88">
              <a:extLst>
                <a:ext uri="{FF2B5EF4-FFF2-40B4-BE49-F238E27FC236}">
                  <a16:creationId xmlns:a16="http://schemas.microsoft.com/office/drawing/2014/main" id="{DD53D261-1A91-D3BD-C10B-4772C602C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59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56" name="Oval 89">
              <a:extLst>
                <a:ext uri="{FF2B5EF4-FFF2-40B4-BE49-F238E27FC236}">
                  <a16:creationId xmlns:a16="http://schemas.microsoft.com/office/drawing/2014/main" id="{D4B6CEDB-2EF0-666A-5917-F744F9B67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7" y="353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90">
              <a:extLst>
                <a:ext uri="{FF2B5EF4-FFF2-40B4-BE49-F238E27FC236}">
                  <a16:creationId xmlns:a16="http://schemas.microsoft.com/office/drawing/2014/main" id="{CF166BC0-FBE0-F9BB-E181-5441DC59F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" y="3545"/>
              <a:ext cx="141" cy="12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Text Box 91">
              <a:extLst>
                <a:ext uri="{FF2B5EF4-FFF2-40B4-BE49-F238E27FC236}">
                  <a16:creationId xmlns:a16="http://schemas.microsoft.com/office/drawing/2014/main" id="{49421E6B-E1B4-0D50-91D7-E0FA1F46C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3473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 dirty="0"/>
                <a:t>2a</a:t>
              </a:r>
              <a:endParaRPr lang="en-US" dirty="0"/>
            </a:p>
          </p:txBody>
        </p:sp>
      </p:grpSp>
      <p:sp>
        <p:nvSpPr>
          <p:cNvPr id="59" name="Line 92">
            <a:extLst>
              <a:ext uri="{FF2B5EF4-FFF2-40B4-BE49-F238E27FC236}">
                <a16:creationId xmlns:a16="http://schemas.microsoft.com/office/drawing/2014/main" id="{5484B9BE-8D37-12B8-6F7D-3B732ECF00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32512" y="3846287"/>
            <a:ext cx="674688" cy="514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" name="Line 94">
            <a:extLst>
              <a:ext uri="{FF2B5EF4-FFF2-40B4-BE49-F238E27FC236}">
                <a16:creationId xmlns:a16="http://schemas.microsoft.com/office/drawing/2014/main" id="{2D37D7F5-1F48-5D64-20C3-C5735DF69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4649" y="4763623"/>
            <a:ext cx="4889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95">
            <a:extLst>
              <a:ext uri="{FF2B5EF4-FFF2-40B4-BE49-F238E27FC236}">
                <a16:creationId xmlns:a16="http://schemas.microsoft.com/office/drawing/2014/main" id="{2917D349-FCB8-A89B-3A5E-7E7C02C73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4249" y="4562011"/>
            <a:ext cx="68263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" name="Group 96">
            <a:extLst>
              <a:ext uri="{FF2B5EF4-FFF2-40B4-BE49-F238E27FC236}">
                <a16:creationId xmlns:a16="http://schemas.microsoft.com/office/drawing/2014/main" id="{39A11F09-F6C4-9EE8-BC15-7E0CF8D7CD63}"/>
              </a:ext>
            </a:extLst>
          </p:cNvPr>
          <p:cNvGrpSpPr>
            <a:grpSpLocks/>
          </p:cNvGrpSpPr>
          <p:nvPr/>
        </p:nvGrpSpPr>
        <p:grpSpPr bwMode="auto">
          <a:xfrm>
            <a:off x="9775312" y="4257211"/>
            <a:ext cx="501650" cy="396875"/>
            <a:chOff x="4320" y="1936"/>
            <a:chExt cx="316" cy="250"/>
          </a:xfrm>
        </p:grpSpPr>
        <p:sp>
          <p:nvSpPr>
            <p:cNvPr id="63" name="Oval 97">
              <a:extLst>
                <a:ext uri="{FF2B5EF4-FFF2-40B4-BE49-F238E27FC236}">
                  <a16:creationId xmlns:a16="http://schemas.microsoft.com/office/drawing/2014/main" id="{1C450E73-6D12-64B6-2B59-63DD5194A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54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98">
              <a:extLst>
                <a:ext uri="{FF2B5EF4-FFF2-40B4-BE49-F238E27FC236}">
                  <a16:creationId xmlns:a16="http://schemas.microsoft.com/office/drawing/2014/main" id="{8FF55010-645A-8CE6-508A-80352600F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04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99">
              <a:extLst>
                <a:ext uri="{FF2B5EF4-FFF2-40B4-BE49-F238E27FC236}">
                  <a16:creationId xmlns:a16="http://schemas.microsoft.com/office/drawing/2014/main" id="{4CA09FAE-45B6-DE4B-52A0-5588603A1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204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Rectangle 100">
              <a:extLst>
                <a:ext uri="{FF2B5EF4-FFF2-40B4-BE49-F238E27FC236}">
                  <a16:creationId xmlns:a16="http://schemas.microsoft.com/office/drawing/2014/main" id="{418DCEE3-FFD0-E746-DF14-1A3D457AA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47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67" name="Oval 101">
              <a:extLst>
                <a:ext uri="{FF2B5EF4-FFF2-40B4-BE49-F238E27FC236}">
                  <a16:creationId xmlns:a16="http://schemas.microsoft.com/office/drawing/2014/main" id="{9CDB211D-BDC6-36B6-44AE-BDA88AD11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98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Rectangle 102">
              <a:extLst>
                <a:ext uri="{FF2B5EF4-FFF2-40B4-BE49-F238E27FC236}">
                  <a16:creationId xmlns:a16="http://schemas.microsoft.com/office/drawing/2014/main" id="{B064A937-0B07-2B34-39E9-1507B048C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001"/>
              <a:ext cx="141" cy="11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Text Box 103">
              <a:extLst>
                <a:ext uri="{FF2B5EF4-FFF2-40B4-BE49-F238E27FC236}">
                  <a16:creationId xmlns:a16="http://schemas.microsoft.com/office/drawing/2014/main" id="{DA2C6A79-44C3-89EC-C3B8-466D1F0CF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" y="1936"/>
              <a:ext cx="2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2c</a:t>
              </a:r>
              <a:endParaRPr lang="en-US"/>
            </a:p>
          </p:txBody>
        </p:sp>
      </p:grpSp>
      <p:grpSp>
        <p:nvGrpSpPr>
          <p:cNvPr id="70" name="Group 104">
            <a:extLst>
              <a:ext uri="{FF2B5EF4-FFF2-40B4-BE49-F238E27FC236}">
                <a16:creationId xmlns:a16="http://schemas.microsoft.com/office/drawing/2014/main" id="{0A74507F-ABFF-A7A4-511A-230FFF718F7B}"/>
              </a:ext>
            </a:extLst>
          </p:cNvPr>
          <p:cNvGrpSpPr>
            <a:grpSpLocks/>
          </p:cNvGrpSpPr>
          <p:nvPr/>
        </p:nvGrpSpPr>
        <p:grpSpPr bwMode="auto">
          <a:xfrm>
            <a:off x="10038837" y="4712823"/>
            <a:ext cx="501650" cy="396875"/>
            <a:chOff x="4596" y="2158"/>
            <a:chExt cx="316" cy="250"/>
          </a:xfrm>
        </p:grpSpPr>
        <p:sp>
          <p:nvSpPr>
            <p:cNvPr id="71" name="Oval 105">
              <a:extLst>
                <a:ext uri="{FF2B5EF4-FFF2-40B4-BE49-F238E27FC236}">
                  <a16:creationId xmlns:a16="http://schemas.microsoft.com/office/drawing/2014/main" id="{9D4E6DF7-43F9-9D88-80B9-B2BA26FE5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7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106">
              <a:extLst>
                <a:ext uri="{FF2B5EF4-FFF2-40B4-BE49-F238E27FC236}">
                  <a16:creationId xmlns:a16="http://schemas.microsoft.com/office/drawing/2014/main" id="{015CDD53-8B67-F5C0-A029-C336947AB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9" y="226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107">
              <a:extLst>
                <a:ext uri="{FF2B5EF4-FFF2-40B4-BE49-F238E27FC236}">
                  <a16:creationId xmlns:a16="http://schemas.microsoft.com/office/drawing/2014/main" id="{1D7AE058-6E26-F8FB-E358-FA09B702C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2" y="226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Rectangle 108">
              <a:extLst>
                <a:ext uri="{FF2B5EF4-FFF2-40B4-BE49-F238E27FC236}">
                  <a16:creationId xmlns:a16="http://schemas.microsoft.com/office/drawing/2014/main" id="{E9191892-A1AC-AA14-4D47-8C30B4BE6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6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75" name="Oval 109">
              <a:extLst>
                <a:ext uri="{FF2B5EF4-FFF2-40B4-BE49-F238E27FC236}">
                  <a16:creationId xmlns:a16="http://schemas.microsoft.com/office/drawing/2014/main" id="{53B44E34-EE98-3D7B-D750-AE32B7284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21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Rectangle 110">
              <a:extLst>
                <a:ext uri="{FF2B5EF4-FFF2-40B4-BE49-F238E27FC236}">
                  <a16:creationId xmlns:a16="http://schemas.microsoft.com/office/drawing/2014/main" id="{B92F60B4-6122-8E0C-17F0-3FA462644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" y="2223"/>
              <a:ext cx="142" cy="1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Text Box 111">
              <a:extLst>
                <a:ext uri="{FF2B5EF4-FFF2-40B4-BE49-F238E27FC236}">
                  <a16:creationId xmlns:a16="http://schemas.microsoft.com/office/drawing/2014/main" id="{38E234AD-E06B-BD64-485E-26FFFCFF9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0" y="2158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2b</a:t>
              </a:r>
              <a:endParaRPr lang="en-US"/>
            </a:p>
          </p:txBody>
        </p:sp>
      </p:grpSp>
      <p:sp>
        <p:nvSpPr>
          <p:cNvPr id="78" name="Freeform 116">
            <a:extLst>
              <a:ext uri="{FF2B5EF4-FFF2-40B4-BE49-F238E27FC236}">
                <a16:creationId xmlns:a16="http://schemas.microsoft.com/office/drawing/2014/main" id="{5B6D1EA8-D9E2-C47F-3238-58C70B2E207B}"/>
              </a:ext>
            </a:extLst>
          </p:cNvPr>
          <p:cNvSpPr>
            <a:spLocks/>
          </p:cNvSpPr>
          <p:nvPr/>
        </p:nvSpPr>
        <p:spPr bwMode="auto">
          <a:xfrm>
            <a:off x="9910069" y="5059139"/>
            <a:ext cx="350838" cy="823674"/>
          </a:xfrm>
          <a:custGeom>
            <a:avLst/>
            <a:gdLst>
              <a:gd name="T0" fmla="*/ 0 w 654"/>
              <a:gd name="T1" fmla="*/ 2147483647 h 420"/>
              <a:gd name="T2" fmla="*/ 2147483647 w 654"/>
              <a:gd name="T3" fmla="*/ 0 h 420"/>
              <a:gd name="T4" fmla="*/ 0 60000 65536"/>
              <a:gd name="T5" fmla="*/ 0 60000 65536"/>
              <a:gd name="T6" fmla="*/ 0 w 654"/>
              <a:gd name="T7" fmla="*/ 0 h 420"/>
              <a:gd name="T8" fmla="*/ 654 w 654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C6AEBB6-1783-A8C9-3066-F2BD206E7720}"/>
              </a:ext>
            </a:extLst>
          </p:cNvPr>
          <p:cNvGrpSpPr/>
          <p:nvPr/>
        </p:nvGrpSpPr>
        <p:grpSpPr>
          <a:xfrm>
            <a:off x="5574581" y="3466289"/>
            <a:ext cx="6393618" cy="2355398"/>
            <a:chOff x="6642462" y="3730960"/>
            <a:chExt cx="6393618" cy="2355398"/>
          </a:xfrm>
        </p:grpSpPr>
        <p:sp>
          <p:nvSpPr>
            <p:cNvPr id="80" name="Freeform 7">
              <a:extLst>
                <a:ext uri="{FF2B5EF4-FFF2-40B4-BE49-F238E27FC236}">
                  <a16:creationId xmlns:a16="http://schemas.microsoft.com/office/drawing/2014/main" id="{9366DBB9-8AC6-336F-0726-EBFE7CAFE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5467" y="4043246"/>
              <a:ext cx="1679575" cy="1411287"/>
            </a:xfrm>
            <a:custGeom>
              <a:avLst/>
              <a:gdLst>
                <a:gd name="T0" fmla="*/ 2147483647 w 1198"/>
                <a:gd name="T1" fmla="*/ 2147483647 h 451"/>
                <a:gd name="T2" fmla="*/ 2147483647 w 1198"/>
                <a:gd name="T3" fmla="*/ 2147483647 h 451"/>
                <a:gd name="T4" fmla="*/ 2147483647 w 1198"/>
                <a:gd name="T5" fmla="*/ 2147483647 h 451"/>
                <a:gd name="T6" fmla="*/ 2147483647 w 1198"/>
                <a:gd name="T7" fmla="*/ 2147483647 h 451"/>
                <a:gd name="T8" fmla="*/ 2147483647 w 1198"/>
                <a:gd name="T9" fmla="*/ 2147483647 h 451"/>
                <a:gd name="T10" fmla="*/ 2147483647 w 1198"/>
                <a:gd name="T11" fmla="*/ 2147483647 h 451"/>
                <a:gd name="T12" fmla="*/ 2147483647 w 1198"/>
                <a:gd name="T13" fmla="*/ 2147483647 h 451"/>
                <a:gd name="T14" fmla="*/ 2147483647 w 1198"/>
                <a:gd name="T15" fmla="*/ 2147483647 h 451"/>
                <a:gd name="T16" fmla="*/ 2147483647 w 1198"/>
                <a:gd name="T17" fmla="*/ 2147483647 h 4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98"/>
                <a:gd name="T28" fmla="*/ 0 h 451"/>
                <a:gd name="T29" fmla="*/ 1198 w 1198"/>
                <a:gd name="T30" fmla="*/ 451 h 45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Freeform 8">
              <a:extLst>
                <a:ext uri="{FF2B5EF4-FFF2-40B4-BE49-F238E27FC236}">
                  <a16:creationId xmlns:a16="http://schemas.microsoft.com/office/drawing/2014/main" id="{ABADDA94-4C3C-F671-8D7A-97A36E410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5704" y="4787783"/>
              <a:ext cx="400050" cy="180975"/>
            </a:xfrm>
            <a:custGeom>
              <a:avLst/>
              <a:gdLst>
                <a:gd name="T0" fmla="*/ 0 w 252"/>
                <a:gd name="T1" fmla="*/ 2147483647 h 114"/>
                <a:gd name="T2" fmla="*/ 2147483647 w 252"/>
                <a:gd name="T3" fmla="*/ 0 h 114"/>
                <a:gd name="T4" fmla="*/ 0 60000 65536"/>
                <a:gd name="T5" fmla="*/ 0 60000 65536"/>
                <a:gd name="T6" fmla="*/ 0 w 252"/>
                <a:gd name="T7" fmla="*/ 0 h 114"/>
                <a:gd name="T8" fmla="*/ 252 w 252"/>
                <a:gd name="T9" fmla="*/ 114 h 1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Text Box 9">
              <a:extLst>
                <a:ext uri="{FF2B5EF4-FFF2-40B4-BE49-F238E27FC236}">
                  <a16:creationId xmlns:a16="http://schemas.microsoft.com/office/drawing/2014/main" id="{1B0A1197-C890-3F93-22B6-F98D70FD2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0142" y="5008446"/>
              <a:ext cx="6651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 dirty="0"/>
                <a:t>AS3</a:t>
              </a:r>
              <a:endParaRPr lang="en-US" sz="1800" dirty="0"/>
            </a:p>
          </p:txBody>
        </p:sp>
        <p:sp>
          <p:nvSpPr>
            <p:cNvPr id="83" name="Line 12">
              <a:extLst>
                <a:ext uri="{FF2B5EF4-FFF2-40B4-BE49-F238E27FC236}">
                  <a16:creationId xmlns:a16="http://schemas.microsoft.com/office/drawing/2014/main" id="{301D8A48-9CA2-2225-A56A-6EF020DF40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31604" y="4521083"/>
              <a:ext cx="241300" cy="1746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13">
              <a:extLst>
                <a:ext uri="{FF2B5EF4-FFF2-40B4-BE49-F238E27FC236}">
                  <a16:creationId xmlns:a16="http://schemas.microsoft.com/office/drawing/2014/main" id="{0B88D9A3-1297-F4CE-A991-2E4C1271E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90279" y="4514733"/>
              <a:ext cx="147638" cy="376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5" name="Group 14">
              <a:extLst>
                <a:ext uri="{FF2B5EF4-FFF2-40B4-BE49-F238E27FC236}">
                  <a16:creationId xmlns:a16="http://schemas.microsoft.com/office/drawing/2014/main" id="{5D5358DA-C17C-FA4B-9A81-AA7B3FC011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26754" y="4783021"/>
              <a:ext cx="501650" cy="396875"/>
              <a:chOff x="873" y="3243"/>
              <a:chExt cx="316" cy="250"/>
            </a:xfrm>
          </p:grpSpPr>
          <p:sp>
            <p:nvSpPr>
              <p:cNvPr id="107" name="Oval 15">
                <a:extLst>
                  <a:ext uri="{FF2B5EF4-FFF2-40B4-BE49-F238E27FC236}">
                    <a16:creationId xmlns:a16="http://schemas.microsoft.com/office/drawing/2014/main" id="{825C7CFC-D366-4F7F-ECF9-EBA199325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6" y="3361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Line 16">
                <a:extLst>
                  <a:ext uri="{FF2B5EF4-FFF2-40B4-BE49-F238E27FC236}">
                    <a16:creationId xmlns:a16="http://schemas.microsoft.com/office/drawing/2014/main" id="{C66FD7F1-B5C1-5B48-3E02-4AAF60CFE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6" y="335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Line 17">
                <a:extLst>
                  <a:ext uri="{FF2B5EF4-FFF2-40B4-BE49-F238E27FC236}">
                    <a16:creationId xmlns:a16="http://schemas.microsoft.com/office/drawing/2014/main" id="{FF5404CB-9178-74C6-A210-C41DFCAA0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9" y="335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E3A9516D-420D-0198-D934-9A55BD2ED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6" y="3354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11" name="Oval 19">
                <a:extLst>
                  <a:ext uri="{FF2B5EF4-FFF2-40B4-BE49-F238E27FC236}">
                    <a16:creationId xmlns:a16="http://schemas.microsoft.com/office/drawing/2014/main" id="{A25FC508-94BA-5B0B-82A0-FD741086D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" y="3295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8ED30C18-D59D-B9E5-8178-F4B751DF1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3308"/>
                <a:ext cx="141" cy="124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Text Box 21">
                <a:extLst>
                  <a:ext uri="{FF2B5EF4-FFF2-40B4-BE49-F238E27FC236}">
                    <a16:creationId xmlns:a16="http://schemas.microsoft.com/office/drawing/2014/main" id="{97B3435A-A593-2121-A6C6-6A0068349A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7" y="3243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 dirty="0"/>
                  <a:t>3b</a:t>
                </a:r>
                <a:endParaRPr lang="en-US" dirty="0"/>
              </a:p>
            </p:txBody>
          </p:sp>
        </p:grpSp>
        <p:grpSp>
          <p:nvGrpSpPr>
            <p:cNvPr id="86" name="Group 22">
              <a:extLst>
                <a:ext uri="{FF2B5EF4-FFF2-40B4-BE49-F238E27FC236}">
                  <a16:creationId xmlns:a16="http://schemas.microsoft.com/office/drawing/2014/main" id="{7B90E96B-286C-EAA4-E8E6-65CD051510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96629" y="4206758"/>
              <a:ext cx="501650" cy="396875"/>
              <a:chOff x="2016" y="1976"/>
              <a:chExt cx="316" cy="250"/>
            </a:xfrm>
          </p:grpSpPr>
          <p:sp>
            <p:nvSpPr>
              <p:cNvPr id="99" name="Oval 23">
                <a:extLst>
                  <a:ext uri="{FF2B5EF4-FFF2-40B4-BE49-F238E27FC236}">
                    <a16:creationId xmlns:a16="http://schemas.microsoft.com/office/drawing/2014/main" id="{D937F426-6404-D9B9-D6D8-3EF30DD574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Line 24">
                <a:extLst>
                  <a:ext uri="{FF2B5EF4-FFF2-40B4-BE49-F238E27FC236}">
                    <a16:creationId xmlns:a16="http://schemas.microsoft.com/office/drawing/2014/main" id="{F39D9DEF-DE85-88CD-DBA0-B5C8FA50F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Line 25">
                <a:extLst>
                  <a:ext uri="{FF2B5EF4-FFF2-40B4-BE49-F238E27FC236}">
                    <a16:creationId xmlns:a16="http://schemas.microsoft.com/office/drawing/2014/main" id="{5D682AA4-A1EA-97E9-7439-C004E6AC57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Rectangle 26">
                <a:extLst>
                  <a:ext uri="{FF2B5EF4-FFF2-40B4-BE49-F238E27FC236}">
                    <a16:creationId xmlns:a16="http://schemas.microsoft.com/office/drawing/2014/main" id="{5F1AD57E-957F-8A1A-38B1-96B51CD3B9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03" name="Oval 27">
                <a:extLst>
                  <a:ext uri="{FF2B5EF4-FFF2-40B4-BE49-F238E27FC236}">
                    <a16:creationId xmlns:a16="http://schemas.microsoft.com/office/drawing/2014/main" id="{536D8AB1-393E-841D-51D9-E4861EF8F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" name="Group 28">
                <a:extLst>
                  <a:ext uri="{FF2B5EF4-FFF2-40B4-BE49-F238E27FC236}">
                    <a16:creationId xmlns:a16="http://schemas.microsoft.com/office/drawing/2014/main" id="{812AACA2-6F97-820C-FF1A-EADD57BE6C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2" y="1976"/>
                <a:ext cx="285" cy="250"/>
                <a:chOff x="2912" y="2425"/>
                <a:chExt cx="290" cy="250"/>
              </a:xfrm>
            </p:grpSpPr>
            <p:sp>
              <p:nvSpPr>
                <p:cNvPr id="105" name="Rectangle 29">
                  <a:extLst>
                    <a:ext uri="{FF2B5EF4-FFF2-40B4-BE49-F238E27FC236}">
                      <a16:creationId xmlns:a16="http://schemas.microsoft.com/office/drawing/2014/main" id="{BC5B952A-355B-5985-DC57-4112CF0554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2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" name="Text Box 30">
                  <a:extLst>
                    <a:ext uri="{FF2B5EF4-FFF2-40B4-BE49-F238E27FC236}">
                      <a16:creationId xmlns:a16="http://schemas.microsoft.com/office/drawing/2014/main" id="{BC3CC466-1C80-3970-9075-0BED917BC5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2" y="2425"/>
                  <a:ext cx="29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 dirty="0"/>
                    <a:t>3c</a:t>
                  </a:r>
                  <a:endParaRPr lang="en-US" dirty="0"/>
                </a:p>
              </p:txBody>
            </p:sp>
          </p:grpSp>
        </p:grpSp>
        <p:grpSp>
          <p:nvGrpSpPr>
            <p:cNvPr id="87" name="Group 31">
              <a:extLst>
                <a:ext uri="{FF2B5EF4-FFF2-40B4-BE49-F238E27FC236}">
                  <a16:creationId xmlns:a16="http://schemas.microsoft.com/office/drawing/2014/main" id="{E403CEAC-36E9-5B6A-5D8D-1376A18F00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74479" y="4581408"/>
              <a:ext cx="501650" cy="396875"/>
              <a:chOff x="1434" y="3104"/>
              <a:chExt cx="316" cy="250"/>
            </a:xfrm>
          </p:grpSpPr>
          <p:grpSp>
            <p:nvGrpSpPr>
              <p:cNvPr id="91" name="Group 32">
                <a:extLst>
                  <a:ext uri="{FF2B5EF4-FFF2-40B4-BE49-F238E27FC236}">
                    <a16:creationId xmlns:a16="http://schemas.microsoft.com/office/drawing/2014/main" id="{5CC68BAB-A2C1-E05D-7BCC-0F874A9C88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4" y="3163"/>
                <a:ext cx="316" cy="147"/>
                <a:chOff x="1434" y="3163"/>
                <a:chExt cx="316" cy="147"/>
              </a:xfrm>
            </p:grpSpPr>
            <p:sp>
              <p:nvSpPr>
                <p:cNvPr id="93" name="Oval 33">
                  <a:extLst>
                    <a:ext uri="{FF2B5EF4-FFF2-40B4-BE49-F238E27FC236}">
                      <a16:creationId xmlns:a16="http://schemas.microsoft.com/office/drawing/2014/main" id="{F9C8232B-E8C0-45AB-8051-687F8B67B8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7" y="3229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" name="Line 34">
                  <a:extLst>
                    <a:ext uri="{FF2B5EF4-FFF2-40B4-BE49-F238E27FC236}">
                      <a16:creationId xmlns:a16="http://schemas.microsoft.com/office/drawing/2014/main" id="{CD445ED6-715A-ED0C-5798-2B4D0EE868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322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" name="Line 35">
                  <a:extLst>
                    <a:ext uri="{FF2B5EF4-FFF2-40B4-BE49-F238E27FC236}">
                      <a16:creationId xmlns:a16="http://schemas.microsoft.com/office/drawing/2014/main" id="{60863757-9F56-61D2-F8C8-7A63E93CC9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50" y="3222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" name="Rectangle 36">
                  <a:extLst>
                    <a:ext uri="{FF2B5EF4-FFF2-40B4-BE49-F238E27FC236}">
                      <a16:creationId xmlns:a16="http://schemas.microsoft.com/office/drawing/2014/main" id="{F73AC3B3-4BFB-34ED-00AF-BD2BABC829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7" y="3222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97" name="Oval 37">
                  <a:extLst>
                    <a:ext uri="{FF2B5EF4-FFF2-40B4-BE49-F238E27FC236}">
                      <a16:creationId xmlns:a16="http://schemas.microsoft.com/office/drawing/2014/main" id="{D8808281-189F-F760-8F41-F5B6B8836B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4" y="3163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" name="Rectangle 38">
                  <a:extLst>
                    <a:ext uri="{FF2B5EF4-FFF2-40B4-BE49-F238E27FC236}">
                      <a16:creationId xmlns:a16="http://schemas.microsoft.com/office/drawing/2014/main" id="{F05F56CF-3334-6BB6-0D2A-02F6331FCC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1" y="3176"/>
                  <a:ext cx="142" cy="110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2" name="Text Box 39">
                <a:extLst>
                  <a:ext uri="{FF2B5EF4-FFF2-40B4-BE49-F238E27FC236}">
                    <a16:creationId xmlns:a16="http://schemas.microsoft.com/office/drawing/2014/main" id="{F882FF3A-A862-8EA7-C4EB-B792E0F1BC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8" y="3104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3a</a:t>
                </a:r>
                <a:endParaRPr lang="en-US"/>
              </a:p>
            </p:txBody>
          </p:sp>
        </p:grpSp>
        <p:sp>
          <p:nvSpPr>
            <p:cNvPr id="88" name="Text Box 114">
              <a:extLst>
                <a:ext uri="{FF2B5EF4-FFF2-40B4-BE49-F238E27FC236}">
                  <a16:creationId xmlns:a16="http://schemas.microsoft.com/office/drawing/2014/main" id="{31A7E71F-E463-14C6-5600-173D35D8B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2462" y="4174782"/>
              <a:ext cx="106099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/>
                <a:t>other</a:t>
              </a:r>
            </a:p>
            <a:p>
              <a:r>
                <a:rPr lang="en-US" sz="1400" dirty="0"/>
                <a:t>networks</a:t>
              </a:r>
            </a:p>
          </p:txBody>
        </p:sp>
        <p:sp>
          <p:nvSpPr>
            <p:cNvPr id="89" name="Line 115">
              <a:extLst>
                <a:ext uri="{FF2B5EF4-FFF2-40B4-BE49-F238E27FC236}">
                  <a16:creationId xmlns:a16="http://schemas.microsoft.com/office/drawing/2014/main" id="{123A5FDF-52C6-C236-B6B8-BD56ED7247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0582" y="4425710"/>
              <a:ext cx="610262" cy="474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" name="Freeform 117">
              <a:extLst>
                <a:ext uri="{FF2B5EF4-FFF2-40B4-BE49-F238E27FC236}">
                  <a16:creationId xmlns:a16="http://schemas.microsoft.com/office/drawing/2014/main" id="{E21064AA-F27D-65A7-095C-693364456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7853" y="4894146"/>
              <a:ext cx="376795" cy="1192212"/>
            </a:xfrm>
            <a:custGeom>
              <a:avLst/>
              <a:gdLst>
                <a:gd name="T0" fmla="*/ 0 w 444"/>
                <a:gd name="T1" fmla="*/ 0 h 258"/>
                <a:gd name="T2" fmla="*/ 2147483647 w 444"/>
                <a:gd name="T3" fmla="*/ 2147483647 h 258"/>
                <a:gd name="T4" fmla="*/ 0 60000 65536"/>
                <a:gd name="T5" fmla="*/ 0 60000 65536"/>
                <a:gd name="T6" fmla="*/ 0 w 444"/>
                <a:gd name="T7" fmla="*/ 0 h 258"/>
                <a:gd name="T8" fmla="*/ 444 w 444"/>
                <a:gd name="T9" fmla="*/ 258 h 25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Text Box 114">
              <a:extLst>
                <a:ext uri="{FF2B5EF4-FFF2-40B4-BE49-F238E27FC236}">
                  <a16:creationId xmlns:a16="http://schemas.microsoft.com/office/drawing/2014/main" id="{B2950265-289D-F2B6-2A2A-9751AE4F1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75081" y="3730960"/>
              <a:ext cx="106099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/>
                <a:t>other</a:t>
              </a:r>
            </a:p>
            <a:p>
              <a:r>
                <a:rPr lang="en-US" sz="1400" dirty="0"/>
                <a:t>networks</a:t>
              </a:r>
            </a:p>
          </p:txBody>
        </p:sp>
      </p:grp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DDA7B70-F1AB-914F-FF49-791CF82448B7}"/>
              </a:ext>
            </a:extLst>
          </p:cNvPr>
          <p:cNvSpPr txBox="1"/>
          <p:nvPr/>
        </p:nvSpPr>
        <p:spPr>
          <a:xfrm>
            <a:off x="7403700" y="3910620"/>
            <a:ext cx="77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IGP</a:t>
            </a:r>
            <a:endParaRPr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AC3FACD-36C0-278D-5B27-6A24E31D3530}"/>
              </a:ext>
            </a:extLst>
          </p:cNvPr>
          <p:cNvSpPr txBox="1"/>
          <p:nvPr/>
        </p:nvSpPr>
        <p:spPr>
          <a:xfrm>
            <a:off x="7988404" y="5013684"/>
            <a:ext cx="77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EGP</a:t>
            </a:r>
            <a:endParaRPr lang="zh-CN" altLang="en-US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CF591C97-35E7-1D78-D808-93123EF3DB95}"/>
              </a:ext>
            </a:extLst>
          </p:cNvPr>
          <p:cNvSpPr txBox="1"/>
          <p:nvPr/>
        </p:nvSpPr>
        <p:spPr>
          <a:xfrm>
            <a:off x="10093099" y="5440453"/>
            <a:ext cx="77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EGP</a:t>
            </a:r>
            <a:endParaRPr lang="zh-CN" altLang="en-US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D39BA967-20A2-6BEC-52AA-E4B18872DE7D}"/>
              </a:ext>
            </a:extLst>
          </p:cNvPr>
          <p:cNvSpPr txBox="1"/>
          <p:nvPr/>
        </p:nvSpPr>
        <p:spPr>
          <a:xfrm>
            <a:off x="9136961" y="4208460"/>
            <a:ext cx="77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IGP</a:t>
            </a:r>
            <a:endParaRPr lang="zh-CN" altLang="en-US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52A887F6-532A-53A9-C417-990D869ED34D}"/>
              </a:ext>
            </a:extLst>
          </p:cNvPr>
          <p:cNvSpPr txBox="1"/>
          <p:nvPr/>
        </p:nvSpPr>
        <p:spPr>
          <a:xfrm>
            <a:off x="9197987" y="6171487"/>
            <a:ext cx="77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IGP</a:t>
            </a:r>
            <a:endParaRPr lang="zh-CN" altLang="en-US" dirty="0"/>
          </a:p>
        </p:txBody>
      </p:sp>
      <p:grpSp>
        <p:nvGrpSpPr>
          <p:cNvPr id="123" name="Group 314">
            <a:extLst>
              <a:ext uri="{FF2B5EF4-FFF2-40B4-BE49-F238E27FC236}">
                <a16:creationId xmlns:a16="http://schemas.microsoft.com/office/drawing/2014/main" id="{7A7A33B1-03B1-67B6-01E8-8B766EDDC72D}"/>
              </a:ext>
            </a:extLst>
          </p:cNvPr>
          <p:cNvGrpSpPr/>
          <p:nvPr/>
        </p:nvGrpSpPr>
        <p:grpSpPr>
          <a:xfrm>
            <a:off x="3679359" y="4408698"/>
            <a:ext cx="1943509" cy="1875066"/>
            <a:chOff x="5176788" y="1691016"/>
            <a:chExt cx="2334629" cy="2102794"/>
          </a:xfrm>
        </p:grpSpPr>
        <p:grpSp>
          <p:nvGrpSpPr>
            <p:cNvPr id="124" name="Group 28">
              <a:extLst>
                <a:ext uri="{FF2B5EF4-FFF2-40B4-BE49-F238E27FC236}">
                  <a16:creationId xmlns:a16="http://schemas.microsoft.com/office/drawing/2014/main" id="{E357937A-811C-57FD-AB7D-8C42AAE2F6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76788" y="1691016"/>
              <a:ext cx="2334629" cy="2102794"/>
              <a:chOff x="1858002" y="3709936"/>
              <a:chExt cx="1045872" cy="1739899"/>
            </a:xfrm>
          </p:grpSpPr>
          <p:sp>
            <p:nvSpPr>
              <p:cNvPr id="130" name="Rectangle 329">
                <a:extLst>
                  <a:ext uri="{FF2B5EF4-FFF2-40B4-BE49-F238E27FC236}">
                    <a16:creationId xmlns:a16="http://schemas.microsoft.com/office/drawing/2014/main" id="{0998E071-C4BE-95A2-AD0E-E6D983DF3A1C}"/>
                  </a:ext>
                </a:extLst>
              </p:cNvPr>
              <p:cNvSpPr/>
              <p:nvPr/>
            </p:nvSpPr>
            <p:spPr bwMode="auto">
              <a:xfrm rot="10800000">
                <a:off x="1867527" y="3957547"/>
                <a:ext cx="1033544" cy="61109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131" name="Group 498">
                <a:extLst>
                  <a:ext uri="{FF2B5EF4-FFF2-40B4-BE49-F238E27FC236}">
                    <a16:creationId xmlns:a16="http://schemas.microsoft.com/office/drawing/2014/main" id="{5269A97A-D238-0B46-144F-753B95F7BA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145" name="Oval 344">
                  <a:extLst>
                    <a:ext uri="{FF2B5EF4-FFF2-40B4-BE49-F238E27FC236}">
                      <a16:creationId xmlns:a16="http://schemas.microsoft.com/office/drawing/2014/main" id="{01FBC09D-544E-588E-679C-6365F48BF61E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Rectangle 345">
                  <a:extLst>
                    <a:ext uri="{FF2B5EF4-FFF2-40B4-BE49-F238E27FC236}">
                      <a16:creationId xmlns:a16="http://schemas.microsoft.com/office/drawing/2014/main" id="{31BE1177-86EA-10BF-E9AD-CC07E5AA565D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Oval 346">
                  <a:extLst>
                    <a:ext uri="{FF2B5EF4-FFF2-40B4-BE49-F238E27FC236}">
                      <a16:creationId xmlns:a16="http://schemas.microsoft.com/office/drawing/2014/main" id="{F45A89B1-EE58-1665-EDEE-3B82F7817BFC}"/>
                    </a:ext>
                  </a:extLst>
                </p:cNvPr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48" name="Straight Connector 347">
                  <a:extLst>
                    <a:ext uri="{FF2B5EF4-FFF2-40B4-BE49-F238E27FC236}">
                      <a16:creationId xmlns:a16="http://schemas.microsoft.com/office/drawing/2014/main" id="{409ED76B-7E70-C46A-396D-0895DF105ECA}"/>
                    </a:ext>
                  </a:extLst>
                </p:cNvPr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49" name="Straight Connector 348">
                  <a:extLst>
                    <a:ext uri="{FF2B5EF4-FFF2-40B4-BE49-F238E27FC236}">
                      <a16:creationId xmlns:a16="http://schemas.microsoft.com/office/drawing/2014/main" id="{EFAFF5D2-7E15-DE64-F74F-E4360B2FBC28}"/>
                    </a:ext>
                  </a:extLst>
                </p:cNvPr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32" name="Rectangle 331">
                <a:extLst>
                  <a:ext uri="{FF2B5EF4-FFF2-40B4-BE49-F238E27FC236}">
                    <a16:creationId xmlns:a16="http://schemas.microsoft.com/office/drawing/2014/main" id="{8C9CD90B-B2C3-A688-0659-21A449C0D437}"/>
                  </a:ext>
                </a:extLst>
              </p:cNvPr>
              <p:cNvSpPr/>
              <p:nvPr/>
            </p:nvSpPr>
            <p:spPr bwMode="auto">
              <a:xfrm>
                <a:off x="1859676" y="4691826"/>
                <a:ext cx="1037420" cy="52221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33" name="Straight Connector 332">
                <a:extLst>
                  <a:ext uri="{FF2B5EF4-FFF2-40B4-BE49-F238E27FC236}">
                    <a16:creationId xmlns:a16="http://schemas.microsoft.com/office/drawing/2014/main" id="{0EB03CC6-51EF-E64F-394E-B55ADEB2CD3F}"/>
                  </a:ext>
                </a:extLst>
              </p:cNvPr>
              <p:cNvCxnSpPr>
                <a:cxnSpLocks/>
                <a:stCxn id="137" idx="1"/>
              </p:cNvCxnSpPr>
              <p:nvPr/>
            </p:nvCxnSpPr>
            <p:spPr bwMode="auto">
              <a:xfrm flipH="1">
                <a:off x="1861178" y="3924839"/>
                <a:ext cx="1007" cy="129507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134" name="Straight Connector 333">
                <a:extLst>
                  <a:ext uri="{FF2B5EF4-FFF2-40B4-BE49-F238E27FC236}">
                    <a16:creationId xmlns:a16="http://schemas.microsoft.com/office/drawing/2014/main" id="{D26C4483-B32A-1B99-2D36-3CFDA3EF3255}"/>
                  </a:ext>
                </a:extLst>
              </p:cNvPr>
              <p:cNvCxnSpPr/>
              <p:nvPr/>
            </p:nvCxnSpPr>
            <p:spPr bwMode="auto">
              <a:xfrm flipH="1">
                <a:off x="2894641" y="3971833"/>
                <a:ext cx="6350" cy="1269810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35" name="Group 504">
                <a:extLst>
                  <a:ext uri="{FF2B5EF4-FFF2-40B4-BE49-F238E27FC236}">
                    <a16:creationId xmlns:a16="http://schemas.microsoft.com/office/drawing/2014/main" id="{60A14165-2433-3897-0F01-E2B486C599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8002" y="3709936"/>
                <a:ext cx="1045872" cy="398402"/>
                <a:chOff x="2185125" y="1574638"/>
                <a:chExt cx="1201487" cy="429505"/>
              </a:xfrm>
            </p:grpSpPr>
            <p:sp>
              <p:nvSpPr>
                <p:cNvPr id="136" name="Oval 335">
                  <a:extLst>
                    <a:ext uri="{FF2B5EF4-FFF2-40B4-BE49-F238E27FC236}">
                      <a16:creationId xmlns:a16="http://schemas.microsoft.com/office/drawing/2014/main" id="{346FBEE9-E911-CFEB-57B6-4F73522C4149}"/>
                    </a:ext>
                  </a:extLst>
                </p:cNvPr>
                <p:cNvSpPr/>
                <p:nvPr/>
              </p:nvSpPr>
              <p:spPr bwMode="auto">
                <a:xfrm flipV="1">
                  <a:off x="2185125" y="1689286"/>
                  <a:ext cx="1196349" cy="3148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Rectangle 336">
                  <a:extLst>
                    <a:ext uri="{FF2B5EF4-FFF2-40B4-BE49-F238E27FC236}">
                      <a16:creationId xmlns:a16="http://schemas.microsoft.com/office/drawing/2014/main" id="{39DD0695-AB0A-5126-16D0-2FF8C8776C29}"/>
                    </a:ext>
                  </a:extLst>
                </p:cNvPr>
                <p:cNvSpPr/>
                <p:nvPr/>
              </p:nvSpPr>
              <p:spPr bwMode="auto">
                <a:xfrm>
                  <a:off x="2189930" y="1749849"/>
                  <a:ext cx="1195120" cy="11293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Oval 337">
                  <a:extLst>
                    <a:ext uri="{FF2B5EF4-FFF2-40B4-BE49-F238E27FC236}">
                      <a16:creationId xmlns:a16="http://schemas.microsoft.com/office/drawing/2014/main" id="{7BA1A3FA-F66D-E56E-633B-49D32F5BF7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9931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" name="Freeform 338">
                  <a:extLst>
                    <a:ext uri="{FF2B5EF4-FFF2-40B4-BE49-F238E27FC236}">
                      <a16:creationId xmlns:a16="http://schemas.microsoft.com/office/drawing/2014/main" id="{B97874CF-EAD9-D6BA-A7AB-2244D6486359}"/>
                    </a:ext>
                  </a:extLst>
                </p:cNvPr>
                <p:cNvSpPr/>
                <p:nvPr/>
              </p:nvSpPr>
              <p:spPr bwMode="auto">
                <a:xfrm>
                  <a:off x="2489684" y="1670464"/>
                  <a:ext cx="581761" cy="15742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 339">
                  <a:extLst>
                    <a:ext uri="{FF2B5EF4-FFF2-40B4-BE49-F238E27FC236}">
                      <a16:creationId xmlns:a16="http://schemas.microsoft.com/office/drawing/2014/main" id="{0042C32D-1F5F-36F4-DAEA-E0DF8A5998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501" y="1629396"/>
                  <a:ext cx="703949" cy="111226"/>
                </a:xfrm>
                <a:custGeom>
                  <a:avLst/>
                  <a:gdLst>
                    <a:gd name="T0" fmla="*/ 0 w 3723451"/>
                    <a:gd name="T1" fmla="*/ 27211 h 932950"/>
                    <a:gd name="T2" fmla="*/ 123865 w 3723451"/>
                    <a:gd name="T3" fmla="*/ 321 h 932950"/>
                    <a:gd name="T4" fmla="*/ 350850 w 3723451"/>
                    <a:gd name="T5" fmla="*/ 62061 h 932950"/>
                    <a:gd name="T6" fmla="*/ 567397 w 3723451"/>
                    <a:gd name="T7" fmla="*/ 0 h 932950"/>
                    <a:gd name="T8" fmla="*/ 703949 w 3723451"/>
                    <a:gd name="T9" fmla="*/ 24696 h 932950"/>
                    <a:gd name="T10" fmla="*/ 602354 w 3723451"/>
                    <a:gd name="T11" fmla="*/ 55064 h 932950"/>
                    <a:gd name="T12" fmla="*/ 569645 w 3723451"/>
                    <a:gd name="T13" fmla="*/ 46877 h 932950"/>
                    <a:gd name="T14" fmla="*/ 354838 w 3723451"/>
                    <a:gd name="T15" fmla="*/ 111226 h 932950"/>
                    <a:gd name="T16" fmla="*/ 134536 w 3723451"/>
                    <a:gd name="T17" fmla="*/ 49244 h 932950"/>
                    <a:gd name="T18" fmla="*/ 98918 w 3723451"/>
                    <a:gd name="T19" fmla="*/ 55934 h 932950"/>
                    <a:gd name="T20" fmla="*/ 0 w 3723451"/>
                    <a:gd name="T21" fmla="*/ 272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1" name="Freeform 340">
                  <a:extLst>
                    <a:ext uri="{FF2B5EF4-FFF2-40B4-BE49-F238E27FC236}">
                      <a16:creationId xmlns:a16="http://schemas.microsoft.com/office/drawing/2014/main" id="{B5AAC398-D7B9-C560-87C1-71767AB124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22" y="1723510"/>
                  <a:ext cx="257143" cy="95826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143 w 1366596"/>
                    <a:gd name="T3" fmla="*/ 74047 h 809868"/>
                    <a:gd name="T4" fmla="*/ 162771 w 1366596"/>
                    <a:gd name="T5" fmla="*/ 95826 h 809868"/>
                    <a:gd name="T6" fmla="*/ 866 w 1366596"/>
                    <a:gd name="T7" fmla="*/ 5063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2" name="Freeform 341">
                  <a:extLst>
                    <a:ext uri="{FF2B5EF4-FFF2-40B4-BE49-F238E27FC236}">
                      <a16:creationId xmlns:a16="http://schemas.microsoft.com/office/drawing/2014/main" id="{2AC39105-06F2-6C85-D3E2-6DE539A421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6736" y="1725222"/>
                  <a:ext cx="255318" cy="94114"/>
                </a:xfrm>
                <a:custGeom>
                  <a:avLst/>
                  <a:gdLst>
                    <a:gd name="T0" fmla="*/ 251832 w 1348191"/>
                    <a:gd name="T1" fmla="*/ 0 h 791462"/>
                    <a:gd name="T2" fmla="*/ 255318 w 1348191"/>
                    <a:gd name="T3" fmla="*/ 45415 h 791462"/>
                    <a:gd name="T4" fmla="*/ 92368 w 1348191"/>
                    <a:gd name="T5" fmla="*/ 94114 h 791462"/>
                    <a:gd name="T6" fmla="*/ 0 w 1348191"/>
                    <a:gd name="T7" fmla="*/ 72774 h 791462"/>
                    <a:gd name="T8" fmla="*/ 25183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43" name="Straight Connector 342">
                  <a:extLst>
                    <a:ext uri="{FF2B5EF4-FFF2-40B4-BE49-F238E27FC236}">
                      <a16:creationId xmlns:a16="http://schemas.microsoft.com/office/drawing/2014/main" id="{6D2E5FFC-1162-19A7-2065-5FAE8638A289}"/>
                    </a:ext>
                  </a:extLst>
                </p:cNvPr>
                <p:cNvCxnSpPr>
                  <a:cxnSpLocks noChangeShapeType="1"/>
                  <a:endCxn id="138" idx="2"/>
                </p:cNvCxnSpPr>
                <p:nvPr/>
              </p:nvCxnSpPr>
              <p:spPr bwMode="auto">
                <a:xfrm flipH="1" flipV="1">
                  <a:off x="2189930" y="1732067"/>
                  <a:ext cx="1823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4" name="Straight Connector 343">
                  <a:extLst>
                    <a:ext uri="{FF2B5EF4-FFF2-40B4-BE49-F238E27FC236}">
                      <a16:creationId xmlns:a16="http://schemas.microsoft.com/office/drawing/2014/main" id="{E2AA1925-58F6-0AC7-95A0-927514CB5CD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4788" y="1728644"/>
                  <a:ext cx="1824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125" name="Group 316">
              <a:extLst>
                <a:ext uri="{FF2B5EF4-FFF2-40B4-BE49-F238E27FC236}">
                  <a16:creationId xmlns:a16="http://schemas.microsoft.com/office/drawing/2014/main" id="{85B706DA-83C0-F6C1-2958-38EF5997AEAA}"/>
                </a:ext>
              </a:extLst>
            </p:cNvPr>
            <p:cNvGrpSpPr/>
            <p:nvPr/>
          </p:nvGrpSpPr>
          <p:grpSpPr>
            <a:xfrm>
              <a:off x="5741300" y="2641869"/>
              <a:ext cx="1231791" cy="978227"/>
              <a:chOff x="1992768" y="2213079"/>
              <a:chExt cx="1145888" cy="900917"/>
            </a:xfrm>
          </p:grpSpPr>
          <p:sp>
            <p:nvSpPr>
              <p:cNvPr id="126" name="Rectangle 325">
                <a:extLst>
                  <a:ext uri="{FF2B5EF4-FFF2-40B4-BE49-F238E27FC236}">
                    <a16:creationId xmlns:a16="http://schemas.microsoft.com/office/drawing/2014/main" id="{2FE9822E-BD4E-AC93-3DBF-D4A17C2DCA89}"/>
                  </a:ext>
                </a:extLst>
              </p:cNvPr>
              <p:cNvSpPr/>
              <p:nvPr/>
            </p:nvSpPr>
            <p:spPr>
              <a:xfrm>
                <a:off x="2002006" y="2213079"/>
                <a:ext cx="1136650" cy="90091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7" name="Straight Connector 326">
                <a:extLst>
                  <a:ext uri="{FF2B5EF4-FFF2-40B4-BE49-F238E27FC236}">
                    <a16:creationId xmlns:a16="http://schemas.microsoft.com/office/drawing/2014/main" id="{C7E8D701-CF54-87F1-BA4E-2261C66B6B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2768" y="2735763"/>
                <a:ext cx="113665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327">
                <a:extLst>
                  <a:ext uri="{FF2B5EF4-FFF2-40B4-BE49-F238E27FC236}">
                    <a16:creationId xmlns:a16="http://schemas.microsoft.com/office/drawing/2014/main" id="{982E0D9B-6652-079C-F88C-AB59B64649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53047" y="2738526"/>
                <a:ext cx="0" cy="34720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TextBox 328">
                <a:extLst>
                  <a:ext uri="{FF2B5EF4-FFF2-40B4-BE49-F238E27FC236}">
                    <a16:creationId xmlns:a16="http://schemas.microsoft.com/office/drawing/2014/main" id="{58C5087D-03D8-44DB-F239-1A55E39C79FC}"/>
                  </a:ext>
                </a:extLst>
              </p:cNvPr>
              <p:cNvSpPr txBox="1"/>
              <p:nvPr/>
            </p:nvSpPr>
            <p:spPr>
              <a:xfrm>
                <a:off x="2018468" y="2254786"/>
                <a:ext cx="1094850" cy="3915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/>
                  <a:t>forwarding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/>
                  <a:t>table</a:t>
                </a:r>
              </a:p>
            </p:txBody>
          </p:sp>
        </p:grpSp>
      </p:grpSp>
      <p:grpSp>
        <p:nvGrpSpPr>
          <p:cNvPr id="150" name="Group 2">
            <a:extLst>
              <a:ext uri="{FF2B5EF4-FFF2-40B4-BE49-F238E27FC236}">
                <a16:creationId xmlns:a16="http://schemas.microsoft.com/office/drawing/2014/main" id="{01827AB3-8361-71A7-5408-79B782AFFBF4}"/>
              </a:ext>
            </a:extLst>
          </p:cNvPr>
          <p:cNvGrpSpPr/>
          <p:nvPr/>
        </p:nvGrpSpPr>
        <p:grpSpPr>
          <a:xfrm>
            <a:off x="3514388" y="4668544"/>
            <a:ext cx="989852" cy="1146344"/>
            <a:chOff x="-149560" y="2025837"/>
            <a:chExt cx="989852" cy="1146344"/>
          </a:xfrm>
        </p:grpSpPr>
        <p:grpSp>
          <p:nvGrpSpPr>
            <p:cNvPr id="151" name="Group 90">
              <a:extLst>
                <a:ext uri="{FF2B5EF4-FFF2-40B4-BE49-F238E27FC236}">
                  <a16:creationId xmlns:a16="http://schemas.microsoft.com/office/drawing/2014/main" id="{22122FD3-C5C4-A66A-2A1A-0ADACEE66C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49560" y="2025837"/>
              <a:ext cx="989852" cy="681285"/>
              <a:chOff x="1665" y="2834"/>
              <a:chExt cx="678" cy="462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153" name="Oval 91">
                <a:extLst>
                  <a:ext uri="{FF2B5EF4-FFF2-40B4-BE49-F238E27FC236}">
                    <a16:creationId xmlns:a16="http://schemas.microsoft.com/office/drawing/2014/main" id="{09D7A136-2657-E468-B815-DD84958A0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5" y="2834"/>
                <a:ext cx="678" cy="3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" name="Text Box 92">
                <a:extLst>
                  <a:ext uri="{FF2B5EF4-FFF2-40B4-BE49-F238E27FC236}">
                    <a16:creationId xmlns:a16="http://schemas.microsoft.com/office/drawing/2014/main" id="{3B325089-C0C3-C19F-CE70-6D28DAAD7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6" y="2858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Intra-AS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Routing 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52" name="Bent-Up Arrow 222">
              <a:extLst>
                <a:ext uri="{FF2B5EF4-FFF2-40B4-BE49-F238E27FC236}">
                  <a16:creationId xmlns:a16="http://schemas.microsoft.com/office/drawing/2014/main" id="{84B3FFF7-5531-190E-B1E7-6A2142D1E19E}"/>
                </a:ext>
              </a:extLst>
            </p:cNvPr>
            <p:cNvSpPr/>
            <p:nvPr/>
          </p:nvSpPr>
          <p:spPr>
            <a:xfrm rot="5400000">
              <a:off x="-37103" y="2815767"/>
              <a:ext cx="524728" cy="188100"/>
            </a:xfrm>
            <a:prstGeom prst="bentUpArrow">
              <a:avLst>
                <a:gd name="adj1" fmla="val 16723"/>
                <a:gd name="adj2" fmla="val 25000"/>
                <a:gd name="adj3" fmla="val 25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5" name="Group 1">
            <a:extLst>
              <a:ext uri="{FF2B5EF4-FFF2-40B4-BE49-F238E27FC236}">
                <a16:creationId xmlns:a16="http://schemas.microsoft.com/office/drawing/2014/main" id="{F9BD336B-9961-BF9D-0C1C-9684D89951D0}"/>
              </a:ext>
            </a:extLst>
          </p:cNvPr>
          <p:cNvGrpSpPr/>
          <p:nvPr/>
        </p:nvGrpSpPr>
        <p:grpSpPr>
          <a:xfrm>
            <a:off x="4750739" y="4689712"/>
            <a:ext cx="989852" cy="1131975"/>
            <a:chOff x="1050215" y="2034813"/>
            <a:chExt cx="989852" cy="1131975"/>
          </a:xfrm>
        </p:grpSpPr>
        <p:grpSp>
          <p:nvGrpSpPr>
            <p:cNvPr id="156" name="Group 90">
              <a:extLst>
                <a:ext uri="{FF2B5EF4-FFF2-40B4-BE49-F238E27FC236}">
                  <a16:creationId xmlns:a16="http://schemas.microsoft.com/office/drawing/2014/main" id="{A9384FAD-53D4-0F6B-4539-BC7D9D4F2F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0215" y="2034813"/>
              <a:ext cx="989852" cy="691608"/>
              <a:chOff x="1648" y="2841"/>
              <a:chExt cx="678" cy="469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158" name="Oval 91">
                <a:extLst>
                  <a:ext uri="{FF2B5EF4-FFF2-40B4-BE49-F238E27FC236}">
                    <a16:creationId xmlns:a16="http://schemas.microsoft.com/office/drawing/2014/main" id="{8BDBC89D-CDA0-53B9-AA1E-776482C43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8" y="2841"/>
                <a:ext cx="678" cy="3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9" name="Text Box 92">
                <a:extLst>
                  <a:ext uri="{FF2B5EF4-FFF2-40B4-BE49-F238E27FC236}">
                    <a16:creationId xmlns:a16="http://schemas.microsoft.com/office/drawing/2014/main" id="{40A0AC4D-0F96-C19A-EA3E-5F8F80FA8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2" y="2872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Inter-AS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Routing 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57" name="Bent-Up Arrow 223">
              <a:extLst>
                <a:ext uri="{FF2B5EF4-FFF2-40B4-BE49-F238E27FC236}">
                  <a16:creationId xmlns:a16="http://schemas.microsoft.com/office/drawing/2014/main" id="{B34A7EF9-AACC-E6B4-FE82-C4F367A97E78}"/>
                </a:ext>
              </a:extLst>
            </p:cNvPr>
            <p:cNvSpPr/>
            <p:nvPr/>
          </p:nvSpPr>
          <p:spPr>
            <a:xfrm rot="16200000" flipH="1">
              <a:off x="1454529" y="2810374"/>
              <a:ext cx="524728" cy="188100"/>
            </a:xfrm>
            <a:prstGeom prst="bentUpArrow">
              <a:avLst>
                <a:gd name="adj1" fmla="val 16723"/>
                <a:gd name="adj2" fmla="val 25000"/>
                <a:gd name="adj3" fmla="val 25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EBF7EB32-EBE4-3A1E-9F76-2FA7C689A4F2}"/>
              </a:ext>
            </a:extLst>
          </p:cNvPr>
          <p:cNvSpPr/>
          <p:nvPr/>
        </p:nvSpPr>
        <p:spPr>
          <a:xfrm>
            <a:off x="3646161" y="5884332"/>
            <a:ext cx="4576939" cy="612137"/>
          </a:xfrm>
          <a:custGeom>
            <a:avLst/>
            <a:gdLst>
              <a:gd name="connsiteX0" fmla="*/ 0 w 4461753"/>
              <a:gd name="connsiteY0" fmla="*/ 434503 h 642026"/>
              <a:gd name="connsiteX1" fmla="*/ 1939047 w 4461753"/>
              <a:gd name="connsiteY1" fmla="*/ 343711 h 642026"/>
              <a:gd name="connsiteX2" fmla="*/ 4448783 w 4461753"/>
              <a:gd name="connsiteY2" fmla="*/ 0 h 642026"/>
              <a:gd name="connsiteX3" fmla="*/ 4461753 w 4461753"/>
              <a:gd name="connsiteY3" fmla="*/ 103762 h 642026"/>
              <a:gd name="connsiteX4" fmla="*/ 2373549 w 4461753"/>
              <a:gd name="connsiteY4" fmla="*/ 642026 h 642026"/>
              <a:gd name="connsiteX5" fmla="*/ 693906 w 4461753"/>
              <a:gd name="connsiteY5" fmla="*/ 642026 h 642026"/>
              <a:gd name="connsiteX6" fmla="*/ 0 w 4461753"/>
              <a:gd name="connsiteY6" fmla="*/ 434503 h 642026"/>
              <a:gd name="connsiteX0" fmla="*/ 48198 w 4509951"/>
              <a:gd name="connsiteY0" fmla="*/ 434503 h 690743"/>
              <a:gd name="connsiteX1" fmla="*/ 1987245 w 4509951"/>
              <a:gd name="connsiteY1" fmla="*/ 343711 h 690743"/>
              <a:gd name="connsiteX2" fmla="*/ 4496981 w 4509951"/>
              <a:gd name="connsiteY2" fmla="*/ 0 h 690743"/>
              <a:gd name="connsiteX3" fmla="*/ 4509951 w 4509951"/>
              <a:gd name="connsiteY3" fmla="*/ 103762 h 690743"/>
              <a:gd name="connsiteX4" fmla="*/ 2421747 w 4509951"/>
              <a:gd name="connsiteY4" fmla="*/ 642026 h 690743"/>
              <a:gd name="connsiteX5" fmla="*/ 742104 w 4509951"/>
              <a:gd name="connsiteY5" fmla="*/ 642026 h 690743"/>
              <a:gd name="connsiteX6" fmla="*/ 48198 w 4509951"/>
              <a:gd name="connsiteY6" fmla="*/ 434503 h 690743"/>
              <a:gd name="connsiteX0" fmla="*/ 46736 w 4534429"/>
              <a:gd name="connsiteY0" fmla="*/ 304801 h 697447"/>
              <a:gd name="connsiteX1" fmla="*/ 2011723 w 4534429"/>
              <a:gd name="connsiteY1" fmla="*/ 343711 h 697447"/>
              <a:gd name="connsiteX2" fmla="*/ 4521459 w 4534429"/>
              <a:gd name="connsiteY2" fmla="*/ 0 h 697447"/>
              <a:gd name="connsiteX3" fmla="*/ 4534429 w 4534429"/>
              <a:gd name="connsiteY3" fmla="*/ 103762 h 697447"/>
              <a:gd name="connsiteX4" fmla="*/ 2446225 w 4534429"/>
              <a:gd name="connsiteY4" fmla="*/ 642026 h 697447"/>
              <a:gd name="connsiteX5" fmla="*/ 766582 w 4534429"/>
              <a:gd name="connsiteY5" fmla="*/ 642026 h 697447"/>
              <a:gd name="connsiteX6" fmla="*/ 46736 w 4534429"/>
              <a:gd name="connsiteY6" fmla="*/ 304801 h 697447"/>
              <a:gd name="connsiteX0" fmla="*/ 46736 w 4534429"/>
              <a:gd name="connsiteY0" fmla="*/ 304801 h 682632"/>
              <a:gd name="connsiteX1" fmla="*/ 2011723 w 4534429"/>
              <a:gd name="connsiteY1" fmla="*/ 343711 h 682632"/>
              <a:gd name="connsiteX2" fmla="*/ 4521459 w 4534429"/>
              <a:gd name="connsiteY2" fmla="*/ 0 h 682632"/>
              <a:gd name="connsiteX3" fmla="*/ 4534429 w 4534429"/>
              <a:gd name="connsiteY3" fmla="*/ 103762 h 682632"/>
              <a:gd name="connsiteX4" fmla="*/ 2446225 w 4534429"/>
              <a:gd name="connsiteY4" fmla="*/ 642026 h 682632"/>
              <a:gd name="connsiteX5" fmla="*/ 766582 w 4534429"/>
              <a:gd name="connsiteY5" fmla="*/ 596630 h 682632"/>
              <a:gd name="connsiteX6" fmla="*/ 46736 w 4534429"/>
              <a:gd name="connsiteY6" fmla="*/ 304801 h 682632"/>
              <a:gd name="connsiteX0" fmla="*/ 46736 w 4534429"/>
              <a:gd name="connsiteY0" fmla="*/ 304801 h 682632"/>
              <a:gd name="connsiteX1" fmla="*/ 2011723 w 4534429"/>
              <a:gd name="connsiteY1" fmla="*/ 343711 h 682632"/>
              <a:gd name="connsiteX2" fmla="*/ 4521459 w 4534429"/>
              <a:gd name="connsiteY2" fmla="*/ 0 h 682632"/>
              <a:gd name="connsiteX3" fmla="*/ 4534429 w 4534429"/>
              <a:gd name="connsiteY3" fmla="*/ 103762 h 682632"/>
              <a:gd name="connsiteX4" fmla="*/ 2446225 w 4534429"/>
              <a:gd name="connsiteY4" fmla="*/ 642026 h 682632"/>
              <a:gd name="connsiteX5" fmla="*/ 766582 w 4534429"/>
              <a:gd name="connsiteY5" fmla="*/ 596630 h 682632"/>
              <a:gd name="connsiteX6" fmla="*/ 46736 w 4534429"/>
              <a:gd name="connsiteY6" fmla="*/ 304801 h 682632"/>
              <a:gd name="connsiteX0" fmla="*/ 46736 w 4534429"/>
              <a:gd name="connsiteY0" fmla="*/ 304801 h 682632"/>
              <a:gd name="connsiteX1" fmla="*/ 1946871 w 4534429"/>
              <a:gd name="connsiteY1" fmla="*/ 317770 h 682632"/>
              <a:gd name="connsiteX2" fmla="*/ 4521459 w 4534429"/>
              <a:gd name="connsiteY2" fmla="*/ 0 h 682632"/>
              <a:gd name="connsiteX3" fmla="*/ 4534429 w 4534429"/>
              <a:gd name="connsiteY3" fmla="*/ 103762 h 682632"/>
              <a:gd name="connsiteX4" fmla="*/ 2446225 w 4534429"/>
              <a:gd name="connsiteY4" fmla="*/ 642026 h 682632"/>
              <a:gd name="connsiteX5" fmla="*/ 766582 w 4534429"/>
              <a:gd name="connsiteY5" fmla="*/ 596630 h 682632"/>
              <a:gd name="connsiteX6" fmla="*/ 46736 w 4534429"/>
              <a:gd name="connsiteY6" fmla="*/ 304801 h 682632"/>
              <a:gd name="connsiteX0" fmla="*/ 46736 w 4534429"/>
              <a:gd name="connsiteY0" fmla="*/ 328778 h 706609"/>
              <a:gd name="connsiteX1" fmla="*/ 1946871 w 4534429"/>
              <a:gd name="connsiteY1" fmla="*/ 341747 h 706609"/>
              <a:gd name="connsiteX2" fmla="*/ 4527926 w 4534429"/>
              <a:gd name="connsiteY2" fmla="*/ 0 h 706609"/>
              <a:gd name="connsiteX3" fmla="*/ 4534429 w 4534429"/>
              <a:gd name="connsiteY3" fmla="*/ 127739 h 706609"/>
              <a:gd name="connsiteX4" fmla="*/ 2446225 w 4534429"/>
              <a:gd name="connsiteY4" fmla="*/ 666003 h 706609"/>
              <a:gd name="connsiteX5" fmla="*/ 766582 w 4534429"/>
              <a:gd name="connsiteY5" fmla="*/ 620607 h 706609"/>
              <a:gd name="connsiteX6" fmla="*/ 46736 w 4534429"/>
              <a:gd name="connsiteY6" fmla="*/ 328778 h 706609"/>
              <a:gd name="connsiteX0" fmla="*/ 46736 w 4560295"/>
              <a:gd name="connsiteY0" fmla="*/ 328778 h 706609"/>
              <a:gd name="connsiteX1" fmla="*/ 1946871 w 4560295"/>
              <a:gd name="connsiteY1" fmla="*/ 341747 h 706609"/>
              <a:gd name="connsiteX2" fmla="*/ 4527926 w 4560295"/>
              <a:gd name="connsiteY2" fmla="*/ 0 h 706609"/>
              <a:gd name="connsiteX3" fmla="*/ 4560295 w 4560295"/>
              <a:gd name="connsiteY3" fmla="*/ 175694 h 706609"/>
              <a:gd name="connsiteX4" fmla="*/ 2446225 w 4560295"/>
              <a:gd name="connsiteY4" fmla="*/ 666003 h 706609"/>
              <a:gd name="connsiteX5" fmla="*/ 766582 w 4560295"/>
              <a:gd name="connsiteY5" fmla="*/ 620607 h 706609"/>
              <a:gd name="connsiteX6" fmla="*/ 46736 w 4560295"/>
              <a:gd name="connsiteY6" fmla="*/ 328778 h 706609"/>
              <a:gd name="connsiteX0" fmla="*/ 46736 w 4560295"/>
              <a:gd name="connsiteY0" fmla="*/ 328778 h 706609"/>
              <a:gd name="connsiteX1" fmla="*/ 1946871 w 4560295"/>
              <a:gd name="connsiteY1" fmla="*/ 341747 h 706609"/>
              <a:gd name="connsiteX2" fmla="*/ 4527926 w 4560295"/>
              <a:gd name="connsiteY2" fmla="*/ 0 h 706609"/>
              <a:gd name="connsiteX3" fmla="*/ 4560295 w 4560295"/>
              <a:gd name="connsiteY3" fmla="*/ 175694 h 706609"/>
              <a:gd name="connsiteX4" fmla="*/ 2446225 w 4560295"/>
              <a:gd name="connsiteY4" fmla="*/ 666003 h 706609"/>
              <a:gd name="connsiteX5" fmla="*/ 766582 w 4560295"/>
              <a:gd name="connsiteY5" fmla="*/ 620607 h 706609"/>
              <a:gd name="connsiteX6" fmla="*/ 46736 w 4560295"/>
              <a:gd name="connsiteY6" fmla="*/ 328778 h 706609"/>
              <a:gd name="connsiteX0" fmla="*/ 46736 w 4560295"/>
              <a:gd name="connsiteY0" fmla="*/ 328778 h 706609"/>
              <a:gd name="connsiteX1" fmla="*/ 1946871 w 4560295"/>
              <a:gd name="connsiteY1" fmla="*/ 341747 h 706609"/>
              <a:gd name="connsiteX2" fmla="*/ 4527926 w 4560295"/>
              <a:gd name="connsiteY2" fmla="*/ 0 h 706609"/>
              <a:gd name="connsiteX3" fmla="*/ 4560295 w 4560295"/>
              <a:gd name="connsiteY3" fmla="*/ 175694 h 706609"/>
              <a:gd name="connsiteX4" fmla="*/ 3144118 w 4560295"/>
              <a:gd name="connsiteY4" fmla="*/ 571600 h 706609"/>
              <a:gd name="connsiteX5" fmla="*/ 2446225 w 4560295"/>
              <a:gd name="connsiteY5" fmla="*/ 666003 h 706609"/>
              <a:gd name="connsiteX6" fmla="*/ 766582 w 4560295"/>
              <a:gd name="connsiteY6" fmla="*/ 620607 h 706609"/>
              <a:gd name="connsiteX7" fmla="*/ 46736 w 4560295"/>
              <a:gd name="connsiteY7" fmla="*/ 328778 h 706609"/>
              <a:gd name="connsiteX0" fmla="*/ 50339 w 4563898"/>
              <a:gd name="connsiteY0" fmla="*/ 328778 h 754406"/>
              <a:gd name="connsiteX1" fmla="*/ 1950474 w 4563898"/>
              <a:gd name="connsiteY1" fmla="*/ 341747 h 754406"/>
              <a:gd name="connsiteX2" fmla="*/ 4531529 w 4563898"/>
              <a:gd name="connsiteY2" fmla="*/ 0 h 754406"/>
              <a:gd name="connsiteX3" fmla="*/ 4563898 w 4563898"/>
              <a:gd name="connsiteY3" fmla="*/ 175694 h 754406"/>
              <a:gd name="connsiteX4" fmla="*/ 3147721 w 4563898"/>
              <a:gd name="connsiteY4" fmla="*/ 571600 h 754406"/>
              <a:gd name="connsiteX5" fmla="*/ 2449828 w 4563898"/>
              <a:gd name="connsiteY5" fmla="*/ 666003 h 754406"/>
              <a:gd name="connsiteX6" fmla="*/ 718452 w 4563898"/>
              <a:gd name="connsiteY6" fmla="*/ 724506 h 754406"/>
              <a:gd name="connsiteX7" fmla="*/ 50339 w 4563898"/>
              <a:gd name="connsiteY7" fmla="*/ 328778 h 754406"/>
              <a:gd name="connsiteX0" fmla="*/ 50339 w 4563898"/>
              <a:gd name="connsiteY0" fmla="*/ 328778 h 754405"/>
              <a:gd name="connsiteX1" fmla="*/ 1982807 w 4563898"/>
              <a:gd name="connsiteY1" fmla="*/ 309778 h 754405"/>
              <a:gd name="connsiteX2" fmla="*/ 4531529 w 4563898"/>
              <a:gd name="connsiteY2" fmla="*/ 0 h 754405"/>
              <a:gd name="connsiteX3" fmla="*/ 4563898 w 4563898"/>
              <a:gd name="connsiteY3" fmla="*/ 175694 h 754405"/>
              <a:gd name="connsiteX4" fmla="*/ 3147721 w 4563898"/>
              <a:gd name="connsiteY4" fmla="*/ 571600 h 754405"/>
              <a:gd name="connsiteX5" fmla="*/ 2449828 w 4563898"/>
              <a:gd name="connsiteY5" fmla="*/ 666003 h 754405"/>
              <a:gd name="connsiteX6" fmla="*/ 718452 w 4563898"/>
              <a:gd name="connsiteY6" fmla="*/ 724506 h 754405"/>
              <a:gd name="connsiteX7" fmla="*/ 50339 w 4563898"/>
              <a:gd name="connsiteY7" fmla="*/ 328778 h 754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63898" h="754405">
                <a:moveTo>
                  <a:pt x="50339" y="328778"/>
                </a:moveTo>
                <a:cubicBezTo>
                  <a:pt x="257863" y="286625"/>
                  <a:pt x="1235942" y="364574"/>
                  <a:pt x="1982807" y="309778"/>
                </a:cubicBezTo>
                <a:cubicBezTo>
                  <a:pt x="2729672" y="254982"/>
                  <a:pt x="4111078" y="39991"/>
                  <a:pt x="4531529" y="0"/>
                </a:cubicBezTo>
                <a:lnTo>
                  <a:pt x="4563898" y="175694"/>
                </a:lnTo>
                <a:cubicBezTo>
                  <a:pt x="4332185" y="264300"/>
                  <a:pt x="3500066" y="489882"/>
                  <a:pt x="3147721" y="571600"/>
                </a:cubicBezTo>
                <a:cubicBezTo>
                  <a:pt x="2795376" y="653318"/>
                  <a:pt x="2845006" y="651175"/>
                  <a:pt x="2449828" y="666003"/>
                </a:cubicBezTo>
                <a:cubicBezTo>
                  <a:pt x="1821854" y="755714"/>
                  <a:pt x="1118367" y="780710"/>
                  <a:pt x="718452" y="724506"/>
                </a:cubicBezTo>
                <a:cubicBezTo>
                  <a:pt x="318537" y="668302"/>
                  <a:pt x="-157184" y="378497"/>
                  <a:pt x="50339" y="32877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内容占位符 2">
            <a:extLst>
              <a:ext uri="{FF2B5EF4-FFF2-40B4-BE49-F238E27FC236}">
                <a16:creationId xmlns:a16="http://schemas.microsoft.com/office/drawing/2014/main" id="{629C1003-B860-D526-7A80-51BD6698EB29}"/>
              </a:ext>
            </a:extLst>
          </p:cNvPr>
          <p:cNvSpPr txBox="1">
            <a:spLocks/>
          </p:cNvSpPr>
          <p:nvPr/>
        </p:nvSpPr>
        <p:spPr>
          <a:xfrm>
            <a:off x="215786" y="4331970"/>
            <a:ext cx="3225677" cy="20031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/>
              <a:t>基于自治系统内部和自治系统外部路由构造转发表</a:t>
            </a:r>
            <a:endParaRPr lang="en-US" altLang="zh-CN" sz="1800" dirty="0"/>
          </a:p>
          <a:p>
            <a:r>
              <a:rPr lang="zh-CN" altLang="en-US" sz="1800" dirty="0"/>
              <a:t>目的地在自治系统内部的表项由自治系统内部路由决定</a:t>
            </a:r>
            <a:endParaRPr lang="en-US" altLang="zh-CN" sz="1800" dirty="0"/>
          </a:p>
          <a:p>
            <a:r>
              <a:rPr lang="zh-CN" altLang="en-US" sz="1800" dirty="0"/>
              <a:t>目的地在其他自治系统的表项由自治系统外部路由决定</a:t>
            </a:r>
          </a:p>
        </p:txBody>
      </p:sp>
    </p:spTree>
    <p:extLst>
      <p:ext uri="{BB962C8B-B14F-4D97-AF65-F5344CB8AC3E}">
        <p14:creationId xmlns:p14="http://schemas.microsoft.com/office/powerpoint/2010/main" val="2620892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4E263-D047-1C1F-914A-BB1E09DB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自治系统内部的路由协议</a:t>
            </a:r>
            <a:r>
              <a:rPr lang="en-US" altLang="zh-CN" dirty="0"/>
              <a:t>(IGP)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72204-60F1-918E-6AD0-E7726AC04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RIP: Routing Information Protocol</a:t>
            </a:r>
            <a:r>
              <a:rPr lang="en-US" altLang="zh-CN" dirty="0"/>
              <a:t>     </a:t>
            </a:r>
            <a:r>
              <a:rPr lang="en-US" altLang="zh-CN" sz="2400" dirty="0"/>
              <a:t>RIPv1(RFC 1723) --&gt; RIPv2 (RFC 2453)</a:t>
            </a:r>
          </a:p>
          <a:p>
            <a:pPr lvl="1">
              <a:defRPr/>
            </a:pPr>
            <a:r>
              <a:rPr lang="zh-CN" altLang="en-US" dirty="0"/>
              <a:t>距离向量路由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现在已经很少部署了</a:t>
            </a:r>
            <a:endParaRPr lang="en-US" altLang="zh-CN" dirty="0"/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EIGRP: Enhanced Interior Gateway Routing Protocol</a:t>
            </a:r>
          </a:p>
          <a:p>
            <a:pPr lvl="1">
              <a:defRPr/>
            </a:pPr>
            <a:r>
              <a:rPr lang="zh-CN" altLang="en-US" dirty="0"/>
              <a:t>距离向量路由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DUAL</a:t>
            </a:r>
            <a:r>
              <a:rPr lang="zh-CN" altLang="en-US" dirty="0"/>
              <a:t>算法以应对无穷计数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Cisco</a:t>
            </a:r>
            <a:r>
              <a:rPr lang="zh-CN" altLang="en-US" dirty="0"/>
              <a:t>公司提出，</a:t>
            </a:r>
            <a:r>
              <a:rPr lang="en-US" altLang="zh-CN" dirty="0"/>
              <a:t>2016</a:t>
            </a:r>
            <a:r>
              <a:rPr lang="zh-CN" altLang="en-US" dirty="0"/>
              <a:t>年公开</a:t>
            </a:r>
            <a:r>
              <a:rPr lang="en-US" altLang="zh-CN" dirty="0"/>
              <a:t>(RFC 7868)</a:t>
            </a:r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OSPF: Open Shortest Path First  </a:t>
            </a:r>
            <a:r>
              <a:rPr lang="en-US" altLang="zh-CN" sz="2200" dirty="0">
                <a:solidFill>
                  <a:srgbClr val="C00000"/>
                </a:solidFill>
              </a:rPr>
              <a:t>[RFC 2328]</a:t>
            </a:r>
          </a:p>
          <a:p>
            <a:pPr lvl="1">
              <a:defRPr/>
            </a:pPr>
            <a:r>
              <a:rPr lang="zh-CN" altLang="en-US" dirty="0"/>
              <a:t>链路状态路由</a:t>
            </a:r>
            <a:endParaRPr lang="en-US" altLang="zh-CN" dirty="0"/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IS-IS</a:t>
            </a:r>
            <a:r>
              <a:rPr lang="zh-CN" altLang="en-US" dirty="0">
                <a:solidFill>
                  <a:srgbClr val="C00000"/>
                </a:solidFill>
              </a:rPr>
              <a:t>协议</a:t>
            </a:r>
            <a:r>
              <a:rPr lang="en-US" altLang="zh-CN" dirty="0">
                <a:solidFill>
                  <a:srgbClr val="C00000"/>
                </a:solidFill>
              </a:rPr>
              <a:t>(Intermediate System-to-Intermediate System) [ISO-10589,  RFC 1195]</a:t>
            </a:r>
          </a:p>
          <a:p>
            <a:pPr lvl="1">
              <a:defRPr/>
            </a:pPr>
            <a:r>
              <a:rPr lang="en-US" altLang="zh-CN" dirty="0"/>
              <a:t>ISO</a:t>
            </a:r>
            <a:r>
              <a:rPr lang="zh-CN" altLang="en-US" dirty="0"/>
              <a:t>标准，不是</a:t>
            </a:r>
            <a:r>
              <a:rPr lang="en-US" altLang="zh-CN" dirty="0"/>
              <a:t>RFC</a:t>
            </a:r>
            <a:r>
              <a:rPr lang="zh-CN" altLang="en-US" dirty="0"/>
              <a:t>标准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链路状态路由，类似于</a:t>
            </a:r>
            <a:r>
              <a:rPr lang="en-US" altLang="zh-CN" dirty="0"/>
              <a:t>OSPF</a:t>
            </a:r>
          </a:p>
          <a:p>
            <a:pPr lvl="1">
              <a:defRPr/>
            </a:pPr>
            <a:r>
              <a:rPr lang="zh-CN" altLang="en-US" dirty="0"/>
              <a:t>为</a:t>
            </a:r>
            <a:r>
              <a:rPr lang="en-US" altLang="zh-CN" dirty="0"/>
              <a:t>OSI</a:t>
            </a:r>
            <a:r>
              <a:rPr lang="zh-CN" altLang="en-US" dirty="0"/>
              <a:t>参考模型中的</a:t>
            </a:r>
            <a:r>
              <a:rPr lang="en-US" altLang="zh-CN" dirty="0"/>
              <a:t>CLNP(Connection-less Network Protocol)</a:t>
            </a:r>
            <a:r>
              <a:rPr lang="zh-CN" altLang="en-US" dirty="0"/>
              <a:t>设计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666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8E5C1-87EE-22D4-3825-0D2D4472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开放最短路径优先</a:t>
            </a:r>
            <a:r>
              <a:rPr lang="en-US" altLang="zh-CN" dirty="0"/>
              <a:t>OSPF: Open Shortest Path First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81ABA9-C752-8523-01BD-11BFC30CB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sz="1800" dirty="0"/>
              <a:t>Open = </a:t>
            </a:r>
            <a:r>
              <a:rPr lang="zh-CN" altLang="en-US" sz="1800" dirty="0"/>
              <a:t>开放，协议公开</a:t>
            </a:r>
            <a:endParaRPr lang="en-US" altLang="zh-CN" sz="1800" dirty="0"/>
          </a:p>
          <a:p>
            <a:r>
              <a:rPr lang="zh-CN" altLang="en-US" sz="1800" dirty="0"/>
              <a:t>采用链路状态路由算法，支持各种类型的链路</a:t>
            </a:r>
            <a:endParaRPr lang="en-US" altLang="zh-CN" sz="1800" dirty="0"/>
          </a:p>
          <a:p>
            <a:r>
              <a:rPr lang="zh-CN" altLang="en-US" sz="1800" dirty="0"/>
              <a:t>邻居发现和邻居可达性：邻居之间定期交换</a:t>
            </a:r>
            <a:r>
              <a:rPr lang="en-US" altLang="zh-CN" sz="1800" dirty="0"/>
              <a:t>Hello</a:t>
            </a:r>
            <a:r>
              <a:rPr lang="zh-CN" altLang="en-US" sz="1800" dirty="0"/>
              <a:t>消息发现邻居，判断邻居是否可达</a:t>
            </a:r>
            <a:endParaRPr lang="en-US" altLang="zh-CN" sz="1800" dirty="0"/>
          </a:p>
          <a:p>
            <a:r>
              <a:rPr lang="zh-CN" altLang="en-US" sz="1800" dirty="0"/>
              <a:t>链路的花费由管理员静态配置，可根据链路带宽和延迟决定</a:t>
            </a:r>
            <a:endParaRPr lang="en-US" altLang="zh-CN" sz="1800" dirty="0"/>
          </a:p>
          <a:p>
            <a:pPr lvl="1"/>
            <a:r>
              <a:rPr lang="zh-CN" altLang="en-US" dirty="0"/>
              <a:t>不同的</a:t>
            </a:r>
            <a:r>
              <a:rPr lang="en-US" altLang="zh-CN" dirty="0" err="1"/>
              <a:t>ToS</a:t>
            </a:r>
            <a:r>
              <a:rPr lang="zh-CN" altLang="en-US" dirty="0"/>
              <a:t>设置不同的链路花费</a:t>
            </a:r>
            <a:endParaRPr lang="en-US" altLang="zh-CN" dirty="0"/>
          </a:p>
          <a:p>
            <a:r>
              <a:rPr lang="en-US" altLang="zh-CN" sz="1800" dirty="0"/>
              <a:t>Hello</a:t>
            </a:r>
            <a:r>
              <a:rPr lang="zh-CN" altLang="en-US" sz="1800" dirty="0"/>
              <a:t>消息发现的邻居 </a:t>
            </a:r>
            <a:r>
              <a:rPr lang="en-US" altLang="zh-CN" sz="1800" dirty="0"/>
              <a:t>+ </a:t>
            </a:r>
            <a:r>
              <a:rPr lang="zh-CN" altLang="en-US" sz="1800" dirty="0"/>
              <a:t>管理员静态配置的链路花费，每个路由器构造各种</a:t>
            </a:r>
            <a:r>
              <a:rPr lang="zh-CN" altLang="en-US" sz="1800" b="1" dirty="0">
                <a:solidFill>
                  <a:srgbClr val="FF0000"/>
                </a:solidFill>
              </a:rPr>
              <a:t>链路状态通告</a:t>
            </a:r>
            <a:r>
              <a:rPr lang="en-US" altLang="zh-CN" sz="1800" b="1" dirty="0">
                <a:solidFill>
                  <a:srgbClr val="FF0000"/>
                </a:solidFill>
              </a:rPr>
              <a:t>LSA</a:t>
            </a:r>
            <a:r>
              <a:rPr lang="en-US" altLang="zh-CN" sz="1800" dirty="0"/>
              <a:t>(Link State Advertisement)</a:t>
            </a:r>
          </a:p>
          <a:p>
            <a:r>
              <a:rPr lang="zh-CN" altLang="en-US" sz="1800" dirty="0"/>
              <a:t>路由器定期（每隔</a:t>
            </a:r>
            <a:r>
              <a:rPr lang="en-US" altLang="zh-CN" sz="1800" dirty="0"/>
              <a:t>30</a:t>
            </a:r>
            <a:r>
              <a:rPr lang="zh-CN" altLang="en-US" sz="1800" dirty="0"/>
              <a:t>分钟）产生新的</a:t>
            </a:r>
            <a:r>
              <a:rPr lang="en-US" altLang="zh-CN" sz="1800" dirty="0"/>
              <a:t>LSA</a:t>
            </a:r>
            <a:r>
              <a:rPr lang="zh-CN" altLang="en-US" sz="1800" dirty="0"/>
              <a:t>并进行扩散，在链路状态发生变化时，立即扩散新的</a:t>
            </a:r>
            <a:r>
              <a:rPr lang="en-US" altLang="zh-CN" sz="1800" dirty="0"/>
              <a:t>LSA</a:t>
            </a:r>
          </a:p>
          <a:p>
            <a:r>
              <a:rPr lang="en-US" altLang="zh-CN" sz="1800" dirty="0"/>
              <a:t>OSPF</a:t>
            </a:r>
            <a:r>
              <a:rPr lang="zh-CN" altLang="en-US" sz="1800" dirty="0"/>
              <a:t>运行在</a:t>
            </a:r>
            <a:r>
              <a:rPr lang="en-US" altLang="zh-CN" sz="1800" dirty="0"/>
              <a:t>IP</a:t>
            </a:r>
            <a:r>
              <a:rPr lang="zh-CN" altLang="en-US" sz="1800" dirty="0"/>
              <a:t>之上，协议号</a:t>
            </a:r>
            <a:r>
              <a:rPr lang="en-US" altLang="zh-CN" sz="1800" dirty="0"/>
              <a:t>89</a:t>
            </a:r>
            <a:r>
              <a:rPr lang="zh-CN" altLang="en-US" sz="1800" dirty="0"/>
              <a:t>。路由器和路由器之间采用</a:t>
            </a:r>
            <a:r>
              <a:rPr lang="en-US" altLang="zh-CN" sz="1800" b="1" dirty="0">
                <a:solidFill>
                  <a:srgbClr val="FF0000"/>
                </a:solidFill>
              </a:rPr>
              <a:t>IP Multicast(</a:t>
            </a:r>
            <a:r>
              <a:rPr lang="zh-CN" altLang="en-US" sz="1800" b="1" dirty="0">
                <a:solidFill>
                  <a:srgbClr val="FF0000"/>
                </a:solidFill>
              </a:rPr>
              <a:t>组播</a:t>
            </a:r>
            <a:r>
              <a:rPr lang="en-US" altLang="zh-CN" sz="1800" b="1" dirty="0">
                <a:solidFill>
                  <a:srgbClr val="FF0000"/>
                </a:solidFill>
              </a:rPr>
              <a:t>/</a:t>
            </a:r>
            <a:r>
              <a:rPr lang="zh-CN" altLang="en-US" sz="1800" b="1" dirty="0">
                <a:solidFill>
                  <a:srgbClr val="FF0000"/>
                </a:solidFill>
              </a:rPr>
              <a:t>多播）</a:t>
            </a:r>
            <a:r>
              <a:rPr lang="zh-CN" altLang="en-US" sz="1800" dirty="0"/>
              <a:t>来传递消息</a:t>
            </a:r>
            <a:endParaRPr lang="en-US" altLang="zh-CN" sz="1800" dirty="0"/>
          </a:p>
          <a:p>
            <a:r>
              <a:rPr lang="en-US" altLang="zh-CN" sz="1800" dirty="0"/>
              <a:t>LSA</a:t>
            </a:r>
            <a:r>
              <a:rPr lang="zh-CN" altLang="en-US" sz="1800" dirty="0"/>
              <a:t>采用可靠扩散机制传播到所有节点</a:t>
            </a:r>
            <a:endParaRPr lang="en-US" altLang="zh-CN" sz="1800" dirty="0"/>
          </a:p>
          <a:p>
            <a:r>
              <a:rPr lang="zh-CN" altLang="en-US" sz="1800" dirty="0"/>
              <a:t>支持</a:t>
            </a:r>
            <a:r>
              <a:rPr lang="en-US" altLang="zh-CN" sz="1800" dirty="0"/>
              <a:t>OSPF</a:t>
            </a:r>
            <a:r>
              <a:rPr lang="zh-CN" altLang="en-US" sz="1800" dirty="0"/>
              <a:t>消息的认证，避免可能的安全攻击</a:t>
            </a:r>
          </a:p>
          <a:p>
            <a:r>
              <a:rPr lang="zh-CN" altLang="en-US" sz="1800" dirty="0"/>
              <a:t>支持多条最短路由间的负载均衡：</a:t>
            </a:r>
            <a:r>
              <a:rPr lang="zh-CN" altLang="zh-CN" sz="1800" b="1" dirty="0">
                <a:solidFill>
                  <a:srgbClr val="FF0000"/>
                </a:solidFill>
              </a:rPr>
              <a:t>等价多路径路由</a:t>
            </a:r>
            <a:r>
              <a:rPr lang="en-US" altLang="zh-CN" sz="1800" b="1" dirty="0">
                <a:solidFill>
                  <a:srgbClr val="FF0000"/>
                </a:solidFill>
              </a:rPr>
              <a:t>ECMP</a:t>
            </a:r>
            <a:r>
              <a:rPr lang="zh-CN" altLang="zh-CN" sz="1800" dirty="0"/>
              <a:t>（</a:t>
            </a:r>
            <a:r>
              <a:rPr lang="en-US" altLang="zh-CN" sz="1800" dirty="0"/>
              <a:t>Equal Cost Multipath Routing</a:t>
            </a:r>
            <a:r>
              <a:rPr lang="zh-CN" altLang="zh-CN" sz="1800" dirty="0"/>
              <a:t>）</a:t>
            </a:r>
            <a:endParaRPr lang="en-US" altLang="zh-CN" sz="1800" dirty="0"/>
          </a:p>
          <a:p>
            <a:pPr lvl="1"/>
            <a:r>
              <a:rPr lang="en-US" altLang="zh-CN" dirty="0"/>
              <a:t>Dijkstra</a:t>
            </a:r>
            <a:r>
              <a:rPr lang="zh-CN" altLang="en-US" dirty="0"/>
              <a:t>算法可找到多条最短路径；不同的分组流可以在不同的路径上传输</a:t>
            </a:r>
            <a:endParaRPr lang="en-US" altLang="zh-CN" dirty="0"/>
          </a:p>
          <a:p>
            <a:r>
              <a:rPr lang="zh-CN" altLang="en-US" sz="1800" dirty="0"/>
              <a:t>最初用于单播路由，后续引入新的</a:t>
            </a:r>
            <a:r>
              <a:rPr lang="en-US" altLang="zh-CN" sz="1800" dirty="0"/>
              <a:t>LSA</a:t>
            </a:r>
            <a:r>
              <a:rPr lang="zh-CN" altLang="en-US" sz="1800" dirty="0"/>
              <a:t>，扩展为支持组播路由（</a:t>
            </a:r>
            <a:r>
              <a:rPr lang="en-US" altLang="zh-CN" sz="1800" dirty="0"/>
              <a:t>MOSPF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r>
              <a:rPr lang="zh-CN" altLang="en-US" sz="1800" dirty="0"/>
              <a:t>自治系统规模较大时，进一步划分成多个区域，引入了层次路由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156787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E9068-CBF2-4698-802A-9B7CF673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OSPF</a:t>
            </a:r>
            <a:r>
              <a:rPr lang="zh-CN" altLang="en-US" dirty="0"/>
              <a:t>：</a:t>
            </a:r>
            <a:r>
              <a:rPr lang="zh-CN" altLang="en-US" sz="2800" dirty="0"/>
              <a:t>两层层次结构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08A49B-7CA9-C3D3-66A8-C55FB9181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4"/>
            <a:ext cx="11289710" cy="322024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/>
              <a:t>一个主干区域 </a:t>
            </a:r>
            <a:r>
              <a:rPr lang="en-US" altLang="zh-CN" sz="1800" dirty="0"/>
              <a:t>+ </a:t>
            </a:r>
            <a:r>
              <a:rPr lang="zh-CN" altLang="en-US" sz="1800" dirty="0"/>
              <a:t>多个本地区域：本地区域必须和主干区域连接</a:t>
            </a:r>
            <a:endParaRPr lang="en-US" altLang="zh-CN" sz="1800" dirty="0"/>
          </a:p>
          <a:p>
            <a:pPr lvl="1">
              <a:lnSpc>
                <a:spcPct val="100000"/>
              </a:lnSpc>
            </a:pPr>
            <a:r>
              <a:rPr lang="zh-CN" altLang="zh-CN" dirty="0"/>
              <a:t>区域间（</a:t>
            </a:r>
            <a:r>
              <a:rPr lang="en-US" altLang="zh-CN" dirty="0"/>
              <a:t>inter-area</a:t>
            </a:r>
            <a:r>
              <a:rPr lang="zh-CN" altLang="zh-CN" dirty="0"/>
              <a:t>）路由</a:t>
            </a:r>
            <a:r>
              <a:rPr lang="zh-CN" altLang="en-US" b="1" dirty="0">
                <a:solidFill>
                  <a:srgbClr val="FF0000"/>
                </a:solidFill>
              </a:rPr>
              <a:t>必须通过主干区域</a:t>
            </a:r>
            <a:r>
              <a:rPr lang="zh-CN" altLang="en-US" dirty="0"/>
              <a:t>，限制路由的规模，避免路由回路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sz="1800" dirty="0"/>
              <a:t>ABR</a:t>
            </a:r>
            <a:r>
              <a:rPr lang="en-US" altLang="zh-CN" sz="1800" b="1" dirty="0">
                <a:solidFill>
                  <a:srgbClr val="FF0000"/>
                </a:solidFill>
              </a:rPr>
              <a:t>(A</a:t>
            </a:r>
            <a:r>
              <a:rPr lang="en-US" altLang="ja-JP" sz="1800" b="1" dirty="0">
                <a:solidFill>
                  <a:srgbClr val="FF0000"/>
                </a:solidFill>
              </a:rPr>
              <a:t>rea Border Router)</a:t>
            </a:r>
            <a:r>
              <a:rPr lang="zh-CN" altLang="en-US" sz="1800" dirty="0"/>
              <a:t>：连接到主干区域和本地区域</a:t>
            </a:r>
            <a:endParaRPr lang="en-US" altLang="zh-CN" sz="1800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汇总本地区域的信息（到目的地的距离），发布到主干区域，再由另一个区域的</a:t>
            </a:r>
            <a:r>
              <a:rPr lang="en-US" altLang="zh-CN" dirty="0"/>
              <a:t>ABR</a:t>
            </a:r>
            <a:r>
              <a:rPr lang="zh-CN" altLang="en-US" dirty="0"/>
              <a:t>发布到另一个区域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zh-CN" sz="1800" dirty="0"/>
              <a:t>每个区域</a:t>
            </a:r>
            <a:r>
              <a:rPr lang="zh-CN" altLang="en-US" sz="1800" dirty="0"/>
              <a:t>（包括主干区域）</a:t>
            </a:r>
            <a:r>
              <a:rPr lang="zh-CN" altLang="zh-CN" sz="1800" dirty="0"/>
              <a:t>内部都运行一个链路状态路由算法</a:t>
            </a:r>
            <a:endParaRPr lang="en-US" altLang="zh-CN" sz="1800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LSA</a:t>
            </a:r>
            <a:r>
              <a:rPr lang="zh-CN" altLang="en-US" dirty="0"/>
              <a:t>只在一个区域内部进行扩散。同一个区域内部的路由器知道该区域的全局拓扑，决定</a:t>
            </a:r>
            <a:r>
              <a:rPr lang="zh-CN" altLang="zh-CN" dirty="0"/>
              <a:t>区域内（</a:t>
            </a:r>
            <a:r>
              <a:rPr lang="en-US" altLang="zh-CN" dirty="0"/>
              <a:t>intra-area</a:t>
            </a:r>
            <a:r>
              <a:rPr lang="zh-CN" altLang="zh-CN" dirty="0"/>
              <a:t>）路由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其他区域的信息由</a:t>
            </a:r>
            <a:r>
              <a:rPr lang="en-US" altLang="zh-CN" dirty="0"/>
              <a:t>ABR</a:t>
            </a:r>
            <a:r>
              <a:rPr lang="zh-CN" altLang="en-US" dirty="0"/>
              <a:t>汇总发布到当前区域。区域内的本地路由器</a:t>
            </a:r>
            <a:r>
              <a:rPr lang="en-US" altLang="zh-CN" b="1" dirty="0">
                <a:solidFill>
                  <a:srgbClr val="FF0000"/>
                </a:solidFill>
              </a:rPr>
              <a:t>(Local Router)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并不知道区域外的详细的拓扑情况，仅知道通过</a:t>
            </a:r>
            <a:r>
              <a:rPr lang="en-US" altLang="zh-CN" dirty="0"/>
              <a:t>ABR</a:t>
            </a:r>
            <a:r>
              <a:rPr lang="zh-CN" altLang="en-US" dirty="0"/>
              <a:t>到达目的地的距离</a:t>
            </a:r>
            <a:endParaRPr lang="en-US" altLang="zh-CN" dirty="0"/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D79D4ADC-35C6-7114-85F1-131F8ECB4076}"/>
              </a:ext>
            </a:extLst>
          </p:cNvPr>
          <p:cNvGrpSpPr/>
          <p:nvPr/>
        </p:nvGrpSpPr>
        <p:grpSpPr>
          <a:xfrm>
            <a:off x="81335" y="3579932"/>
            <a:ext cx="12110664" cy="3379756"/>
            <a:chOff x="202971" y="3526580"/>
            <a:chExt cx="12110664" cy="3379756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5C696864-E23C-AFB5-402C-5FAEFAFE6493}"/>
                </a:ext>
              </a:extLst>
            </p:cNvPr>
            <p:cNvSpPr/>
            <p:nvPr/>
          </p:nvSpPr>
          <p:spPr>
            <a:xfrm>
              <a:off x="477659" y="3982296"/>
              <a:ext cx="11835976" cy="2924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Rectangle 1">
              <a:extLst>
                <a:ext uri="{FF2B5EF4-FFF2-40B4-BE49-F238E27FC236}">
                  <a16:creationId xmlns:a16="http://schemas.microsoft.com/office/drawing/2014/main" id="{F173F49D-E73D-FCB4-1BA9-87E8F10B843F}"/>
                </a:ext>
              </a:extLst>
            </p:cNvPr>
            <p:cNvSpPr/>
            <p:nvPr/>
          </p:nvSpPr>
          <p:spPr>
            <a:xfrm>
              <a:off x="1122307" y="3777116"/>
              <a:ext cx="3629546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Area Border Routers:</a:t>
              </a:r>
            </a:p>
            <a:p>
              <a:pPr marL="342900" indent="-3429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连接到主干和本地区域</a:t>
              </a:r>
              <a:endParaRPr lang="en-US" altLang="zh-CN" sz="2000" dirty="0"/>
            </a:p>
            <a:p>
              <a:pPr marL="342900" indent="-3429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一个区域一个</a:t>
              </a:r>
              <a:r>
                <a:rPr lang="en-US" altLang="zh-CN" sz="2000" dirty="0"/>
                <a:t>LS</a:t>
              </a:r>
              <a:r>
                <a:rPr lang="zh-CN" altLang="en-US" sz="2000" dirty="0"/>
                <a:t>实例</a:t>
              </a:r>
              <a:endParaRPr lang="en-US" altLang="zh-CN" sz="2000" dirty="0"/>
            </a:p>
            <a:p>
              <a:pPr marL="342900" indent="-3429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汇总区域内拓扑并扩散</a:t>
              </a:r>
              <a:endParaRPr lang="en-US" sz="2000" dirty="0"/>
            </a:p>
          </p:txBody>
        </p:sp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CF39633E-7138-7E50-3C2A-AAD18B40195E}"/>
                </a:ext>
              </a:extLst>
            </p:cNvPr>
            <p:cNvGrpSpPr/>
            <p:nvPr/>
          </p:nvGrpSpPr>
          <p:grpSpPr>
            <a:xfrm>
              <a:off x="3892324" y="3526580"/>
              <a:ext cx="7183691" cy="3202026"/>
              <a:chOff x="4110822" y="3235193"/>
              <a:chExt cx="7183691" cy="3202026"/>
            </a:xfrm>
          </p:grpSpPr>
          <p:sp>
            <p:nvSpPr>
              <p:cNvPr id="7" name="Freeform 2">
                <a:extLst>
                  <a:ext uri="{FF2B5EF4-FFF2-40B4-BE49-F238E27FC236}">
                    <a16:creationId xmlns:a16="http://schemas.microsoft.com/office/drawing/2014/main" id="{85119206-BC68-6570-1148-E8B1E493C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3572" y="3246227"/>
                <a:ext cx="5195932" cy="1635654"/>
              </a:xfrm>
              <a:custGeom>
                <a:avLst/>
                <a:gdLst>
                  <a:gd name="T0" fmla="*/ 2147483647 w 3786"/>
                  <a:gd name="T1" fmla="*/ 2147483647 h 1390"/>
                  <a:gd name="T2" fmla="*/ 2147483647 w 3786"/>
                  <a:gd name="T3" fmla="*/ 2147483647 h 1390"/>
                  <a:gd name="T4" fmla="*/ 2147483647 w 3786"/>
                  <a:gd name="T5" fmla="*/ 2147483647 h 1390"/>
                  <a:gd name="T6" fmla="*/ 2147483647 w 3786"/>
                  <a:gd name="T7" fmla="*/ 2147483647 h 1390"/>
                  <a:gd name="T8" fmla="*/ 2147483647 w 3786"/>
                  <a:gd name="T9" fmla="*/ 2147483647 h 1390"/>
                  <a:gd name="T10" fmla="*/ 2147483647 w 3786"/>
                  <a:gd name="T11" fmla="*/ 2147483647 h 1390"/>
                  <a:gd name="T12" fmla="*/ 2147483647 w 3786"/>
                  <a:gd name="T13" fmla="*/ 2147483647 h 1390"/>
                  <a:gd name="T14" fmla="*/ 2147483647 w 3786"/>
                  <a:gd name="T15" fmla="*/ 2147483647 h 1390"/>
                  <a:gd name="T16" fmla="*/ 2147483647 w 3786"/>
                  <a:gd name="T17" fmla="*/ 2147483647 h 1390"/>
                  <a:gd name="T18" fmla="*/ 2147483647 w 3786"/>
                  <a:gd name="T19" fmla="*/ 2147483647 h 1390"/>
                  <a:gd name="T20" fmla="*/ 2147483647 w 3786"/>
                  <a:gd name="T21" fmla="*/ 2147483647 h 1390"/>
                  <a:gd name="T22" fmla="*/ 2147483647 w 3786"/>
                  <a:gd name="T23" fmla="*/ 2147483647 h 1390"/>
                  <a:gd name="T24" fmla="*/ 2147483647 w 3786"/>
                  <a:gd name="T25" fmla="*/ 2147483647 h 1390"/>
                  <a:gd name="T26" fmla="*/ 2147483647 w 3786"/>
                  <a:gd name="T27" fmla="*/ 2147483647 h 139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786"/>
                  <a:gd name="T43" fmla="*/ 0 h 1390"/>
                  <a:gd name="T44" fmla="*/ 3786 w 3786"/>
                  <a:gd name="T45" fmla="*/ 1390 h 139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786" h="1390">
                    <a:moveTo>
                      <a:pt x="408" y="575"/>
                    </a:moveTo>
                    <a:cubicBezTo>
                      <a:pt x="689" y="273"/>
                      <a:pt x="1286" y="110"/>
                      <a:pt x="1693" y="55"/>
                    </a:cubicBezTo>
                    <a:cubicBezTo>
                      <a:pt x="2100" y="0"/>
                      <a:pt x="2585" y="164"/>
                      <a:pt x="2852" y="245"/>
                    </a:cubicBezTo>
                    <a:cubicBezTo>
                      <a:pt x="3119" y="326"/>
                      <a:pt x="3163" y="420"/>
                      <a:pt x="3295" y="540"/>
                    </a:cubicBezTo>
                    <a:cubicBezTo>
                      <a:pt x="3427" y="660"/>
                      <a:pt x="3786" y="870"/>
                      <a:pt x="3702" y="1130"/>
                    </a:cubicBezTo>
                    <a:cubicBezTo>
                      <a:pt x="3618" y="1390"/>
                      <a:pt x="3209" y="1190"/>
                      <a:pt x="3035" y="1214"/>
                    </a:cubicBezTo>
                    <a:cubicBezTo>
                      <a:pt x="2870" y="1266"/>
                      <a:pt x="2655" y="1277"/>
                      <a:pt x="2655" y="1277"/>
                    </a:cubicBezTo>
                    <a:cubicBezTo>
                      <a:pt x="2655" y="1277"/>
                      <a:pt x="2160" y="1316"/>
                      <a:pt x="1918" y="1326"/>
                    </a:cubicBezTo>
                    <a:cubicBezTo>
                      <a:pt x="1676" y="1336"/>
                      <a:pt x="1387" y="1353"/>
                      <a:pt x="1201" y="1340"/>
                    </a:cubicBezTo>
                    <a:cubicBezTo>
                      <a:pt x="1015" y="1327"/>
                      <a:pt x="913" y="1278"/>
                      <a:pt x="801" y="1249"/>
                    </a:cubicBezTo>
                    <a:lnTo>
                      <a:pt x="527" y="1165"/>
                    </a:lnTo>
                    <a:cubicBezTo>
                      <a:pt x="404" y="1140"/>
                      <a:pt x="126" y="1159"/>
                      <a:pt x="63" y="1102"/>
                    </a:cubicBezTo>
                    <a:cubicBezTo>
                      <a:pt x="0" y="1045"/>
                      <a:pt x="85" y="919"/>
                      <a:pt x="148" y="821"/>
                    </a:cubicBezTo>
                    <a:cubicBezTo>
                      <a:pt x="205" y="733"/>
                      <a:pt x="127" y="877"/>
                      <a:pt x="408" y="575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8" name="Line 4">
                <a:extLst>
                  <a:ext uri="{FF2B5EF4-FFF2-40B4-BE49-F238E27FC236}">
                    <a16:creationId xmlns:a16="http://schemas.microsoft.com/office/drawing/2014/main" id="{2360A614-0232-0E49-7884-DA0D9FD09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72247" y="3533348"/>
                <a:ext cx="915396" cy="2565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9" name="Line 5">
                <a:extLst>
                  <a:ext uri="{FF2B5EF4-FFF2-40B4-BE49-F238E27FC236}">
                    <a16:creationId xmlns:a16="http://schemas.microsoft.com/office/drawing/2014/main" id="{A7C55DE6-0D0F-05F6-BC45-6CC43460E7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77035" y="3530995"/>
                <a:ext cx="1011463" cy="2553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0" name="Line 6">
                <a:extLst>
                  <a:ext uri="{FF2B5EF4-FFF2-40B4-BE49-F238E27FC236}">
                    <a16:creationId xmlns:a16="http://schemas.microsoft.com/office/drawing/2014/main" id="{1F76ADF5-6E05-1DCD-1345-CB1AD275F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97104" y="3826354"/>
                <a:ext cx="694438" cy="59424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1" name="Line 7">
                <a:extLst>
                  <a:ext uri="{FF2B5EF4-FFF2-40B4-BE49-F238E27FC236}">
                    <a16:creationId xmlns:a16="http://schemas.microsoft.com/office/drawing/2014/main" id="{F3EED5CF-DB1F-FA0C-659D-8C73B7645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68800" y="3748690"/>
                <a:ext cx="1099297" cy="8766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2" name="Line 8">
                <a:extLst>
                  <a:ext uri="{FF2B5EF4-FFF2-40B4-BE49-F238E27FC236}">
                    <a16:creationId xmlns:a16="http://schemas.microsoft.com/office/drawing/2014/main" id="{DDC14B6F-F086-F5BB-B1F2-5CB51E8AA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74992" y="3853419"/>
                <a:ext cx="984016" cy="7354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3" name="Line 9">
                <a:extLst>
                  <a:ext uri="{FF2B5EF4-FFF2-40B4-BE49-F238E27FC236}">
                    <a16:creationId xmlns:a16="http://schemas.microsoft.com/office/drawing/2014/main" id="{996E222A-B262-137B-8808-CCFA8E966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52558" y="4420602"/>
                <a:ext cx="345846" cy="6530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4" name="Line 10">
                <a:extLst>
                  <a:ext uri="{FF2B5EF4-FFF2-40B4-BE49-F238E27FC236}">
                    <a16:creationId xmlns:a16="http://schemas.microsoft.com/office/drawing/2014/main" id="{1B2F5DC0-13C3-C8B8-E75C-835EB4380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77261" y="5053683"/>
                <a:ext cx="772665" cy="620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5" name="Line 11">
                <a:extLst>
                  <a:ext uri="{FF2B5EF4-FFF2-40B4-BE49-F238E27FC236}">
                    <a16:creationId xmlns:a16="http://schemas.microsoft.com/office/drawing/2014/main" id="{BE8A454B-B8EE-69B3-2142-B6873A551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6849" y="4545336"/>
                <a:ext cx="473481" cy="9919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6" name="Line 12">
                <a:extLst>
                  <a:ext uri="{FF2B5EF4-FFF2-40B4-BE49-F238E27FC236}">
                    <a16:creationId xmlns:a16="http://schemas.microsoft.com/office/drawing/2014/main" id="{B67BA240-FF2C-18EC-F92A-8A88F7BEE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98064" y="5185476"/>
                <a:ext cx="212723" cy="72015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7" name="Line 13">
                <a:extLst>
                  <a:ext uri="{FF2B5EF4-FFF2-40B4-BE49-F238E27FC236}">
                    <a16:creationId xmlns:a16="http://schemas.microsoft.com/office/drawing/2014/main" id="{459C5A11-D668-6181-4C97-22079667A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08043" y="5560853"/>
                <a:ext cx="625817" cy="33889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8" name="Line 14">
                <a:extLst>
                  <a:ext uri="{FF2B5EF4-FFF2-40B4-BE49-F238E27FC236}">
                    <a16:creationId xmlns:a16="http://schemas.microsoft.com/office/drawing/2014/main" id="{EFBAB607-3D8B-DA99-F0FA-3F5AB4A82C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41981" y="4630060"/>
                <a:ext cx="336240" cy="5777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9" name="Line 15">
                <a:extLst>
                  <a:ext uri="{FF2B5EF4-FFF2-40B4-BE49-F238E27FC236}">
                    <a16:creationId xmlns:a16="http://schemas.microsoft.com/office/drawing/2014/main" id="{DD4A22E1-FB4D-0821-9D00-632B7D046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15865" y="3740453"/>
                <a:ext cx="741100" cy="6271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0" name="Line 16">
                <a:extLst>
                  <a:ext uri="{FF2B5EF4-FFF2-40B4-BE49-F238E27FC236}">
                    <a16:creationId xmlns:a16="http://schemas.microsoft.com/office/drawing/2014/main" id="{53EFBB93-BE98-B91D-B4F5-636B9F3CF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92979" y="4372356"/>
                <a:ext cx="499556" cy="58601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1" name="Line 17">
                <a:extLst>
                  <a:ext uri="{FF2B5EF4-FFF2-40B4-BE49-F238E27FC236}">
                    <a16:creationId xmlns:a16="http://schemas.microsoft.com/office/drawing/2014/main" id="{BF77833A-878B-7314-4149-2D0C125ED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31664" y="5004260"/>
                <a:ext cx="537983" cy="4448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2" name="Line 18">
                <a:extLst>
                  <a:ext uri="{FF2B5EF4-FFF2-40B4-BE49-F238E27FC236}">
                    <a16:creationId xmlns:a16="http://schemas.microsoft.com/office/drawing/2014/main" id="{47053519-C26A-BA61-D9F5-A611A4D39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71391" y="5396111"/>
                <a:ext cx="374667" cy="50246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3" name="Line 19">
                <a:extLst>
                  <a:ext uri="{FF2B5EF4-FFF2-40B4-BE49-F238E27FC236}">
                    <a16:creationId xmlns:a16="http://schemas.microsoft.com/office/drawing/2014/main" id="{7A39DF62-86AD-B607-DD4F-AEC852824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61599" y="4972488"/>
                <a:ext cx="550335" cy="3859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" name="Freeform 20">
                <a:extLst>
                  <a:ext uri="{FF2B5EF4-FFF2-40B4-BE49-F238E27FC236}">
                    <a16:creationId xmlns:a16="http://schemas.microsoft.com/office/drawing/2014/main" id="{B5AAAA35-70E4-918C-88BB-3D1AC5E31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107" y="4121713"/>
                <a:ext cx="1889804" cy="2091048"/>
              </a:xfrm>
              <a:custGeom>
                <a:avLst/>
                <a:gdLst>
                  <a:gd name="T0" fmla="*/ 2147483647 w 1377"/>
                  <a:gd name="T1" fmla="*/ 2147483647 h 1777"/>
                  <a:gd name="T2" fmla="*/ 2147483647 w 1377"/>
                  <a:gd name="T3" fmla="*/ 2147483647 h 1777"/>
                  <a:gd name="T4" fmla="*/ 2147483647 w 1377"/>
                  <a:gd name="T5" fmla="*/ 2147483647 h 1777"/>
                  <a:gd name="T6" fmla="*/ 2147483647 w 1377"/>
                  <a:gd name="T7" fmla="*/ 2147483647 h 1777"/>
                  <a:gd name="T8" fmla="*/ 2147483647 w 1377"/>
                  <a:gd name="T9" fmla="*/ 2147483647 h 1777"/>
                  <a:gd name="T10" fmla="*/ 2147483647 w 1377"/>
                  <a:gd name="T11" fmla="*/ 2147483647 h 1777"/>
                  <a:gd name="T12" fmla="*/ 2147483647 w 1377"/>
                  <a:gd name="T13" fmla="*/ 2147483647 h 1777"/>
                  <a:gd name="T14" fmla="*/ 2147483647 w 1377"/>
                  <a:gd name="T15" fmla="*/ 2147483647 h 1777"/>
                  <a:gd name="T16" fmla="*/ 2147483647 w 1377"/>
                  <a:gd name="T17" fmla="*/ 2147483647 h 1777"/>
                  <a:gd name="T18" fmla="*/ 2147483647 w 1377"/>
                  <a:gd name="T19" fmla="*/ 2147483647 h 1777"/>
                  <a:gd name="T20" fmla="*/ 2147483647 w 1377"/>
                  <a:gd name="T21" fmla="*/ 2147483647 h 1777"/>
                  <a:gd name="T22" fmla="*/ 2147483647 w 1377"/>
                  <a:gd name="T23" fmla="*/ 2147483647 h 1777"/>
                  <a:gd name="T24" fmla="*/ 2147483647 w 1377"/>
                  <a:gd name="T25" fmla="*/ 2147483647 h 1777"/>
                  <a:gd name="T26" fmla="*/ 2147483647 w 1377"/>
                  <a:gd name="T27" fmla="*/ 2147483647 h 1777"/>
                  <a:gd name="T28" fmla="*/ 2147483647 w 1377"/>
                  <a:gd name="T29" fmla="*/ 2147483647 h 1777"/>
                  <a:gd name="T30" fmla="*/ 2147483647 w 1377"/>
                  <a:gd name="T31" fmla="*/ 2147483647 h 1777"/>
                  <a:gd name="T32" fmla="*/ 2147483647 w 1377"/>
                  <a:gd name="T33" fmla="*/ 2147483647 h 177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377"/>
                  <a:gd name="T52" fmla="*/ 0 h 1777"/>
                  <a:gd name="T53" fmla="*/ 1377 w 1377"/>
                  <a:gd name="T54" fmla="*/ 1777 h 177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377" h="1777">
                    <a:moveTo>
                      <a:pt x="671" y="245"/>
                    </a:moveTo>
                    <a:cubicBezTo>
                      <a:pt x="604" y="317"/>
                      <a:pt x="533" y="382"/>
                      <a:pt x="474" y="463"/>
                    </a:cubicBezTo>
                    <a:cubicBezTo>
                      <a:pt x="415" y="544"/>
                      <a:pt x="366" y="663"/>
                      <a:pt x="319" y="730"/>
                    </a:cubicBezTo>
                    <a:cubicBezTo>
                      <a:pt x="272" y="797"/>
                      <a:pt x="242" y="800"/>
                      <a:pt x="193" y="863"/>
                    </a:cubicBezTo>
                    <a:cubicBezTo>
                      <a:pt x="144" y="926"/>
                      <a:pt x="48" y="1027"/>
                      <a:pt x="24" y="1109"/>
                    </a:cubicBezTo>
                    <a:cubicBezTo>
                      <a:pt x="0" y="1191"/>
                      <a:pt x="10" y="1295"/>
                      <a:pt x="46" y="1355"/>
                    </a:cubicBezTo>
                    <a:cubicBezTo>
                      <a:pt x="82" y="1415"/>
                      <a:pt x="172" y="1437"/>
                      <a:pt x="242" y="1467"/>
                    </a:cubicBezTo>
                    <a:cubicBezTo>
                      <a:pt x="312" y="1497"/>
                      <a:pt x="404" y="1499"/>
                      <a:pt x="467" y="1538"/>
                    </a:cubicBezTo>
                    <a:cubicBezTo>
                      <a:pt x="530" y="1577"/>
                      <a:pt x="518" y="1669"/>
                      <a:pt x="622" y="1699"/>
                    </a:cubicBezTo>
                    <a:cubicBezTo>
                      <a:pt x="726" y="1729"/>
                      <a:pt x="986" y="1777"/>
                      <a:pt x="1092" y="1720"/>
                    </a:cubicBezTo>
                    <a:cubicBezTo>
                      <a:pt x="1198" y="1663"/>
                      <a:pt x="1219" y="1471"/>
                      <a:pt x="1261" y="1355"/>
                    </a:cubicBezTo>
                    <a:cubicBezTo>
                      <a:pt x="1303" y="1239"/>
                      <a:pt x="1377" y="1150"/>
                      <a:pt x="1345" y="1025"/>
                    </a:cubicBezTo>
                    <a:cubicBezTo>
                      <a:pt x="1313" y="900"/>
                      <a:pt x="1084" y="727"/>
                      <a:pt x="1071" y="603"/>
                    </a:cubicBezTo>
                    <a:cubicBezTo>
                      <a:pt x="1058" y="479"/>
                      <a:pt x="1237" y="374"/>
                      <a:pt x="1268" y="280"/>
                    </a:cubicBezTo>
                    <a:cubicBezTo>
                      <a:pt x="1299" y="186"/>
                      <a:pt x="1320" y="82"/>
                      <a:pt x="1254" y="41"/>
                    </a:cubicBezTo>
                    <a:cubicBezTo>
                      <a:pt x="1188" y="0"/>
                      <a:pt x="970" y="2"/>
                      <a:pt x="874" y="34"/>
                    </a:cubicBezTo>
                    <a:cubicBezTo>
                      <a:pt x="778" y="66"/>
                      <a:pt x="738" y="173"/>
                      <a:pt x="671" y="245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" name="Freeform 21">
                <a:extLst>
                  <a:ext uri="{FF2B5EF4-FFF2-40B4-BE49-F238E27FC236}">
                    <a16:creationId xmlns:a16="http://schemas.microsoft.com/office/drawing/2014/main" id="{877210FC-595E-FD79-1C2C-B771DF68C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6929" y="4295869"/>
                <a:ext cx="1645515" cy="1904201"/>
              </a:xfrm>
              <a:custGeom>
                <a:avLst/>
                <a:gdLst>
                  <a:gd name="T0" fmla="*/ 2147483647 w 1199"/>
                  <a:gd name="T1" fmla="*/ 2147483647 h 1720"/>
                  <a:gd name="T2" fmla="*/ 2147483647 w 1199"/>
                  <a:gd name="T3" fmla="*/ 2147483647 h 1720"/>
                  <a:gd name="T4" fmla="*/ 2147483647 w 1199"/>
                  <a:gd name="T5" fmla="*/ 2147483647 h 1720"/>
                  <a:gd name="T6" fmla="*/ 2147483647 w 1199"/>
                  <a:gd name="T7" fmla="*/ 2147483647 h 1720"/>
                  <a:gd name="T8" fmla="*/ 2147483647 w 1199"/>
                  <a:gd name="T9" fmla="*/ 2147483647 h 1720"/>
                  <a:gd name="T10" fmla="*/ 2147483647 w 1199"/>
                  <a:gd name="T11" fmla="*/ 2147483647 h 1720"/>
                  <a:gd name="T12" fmla="*/ 2147483647 w 1199"/>
                  <a:gd name="T13" fmla="*/ 2147483647 h 1720"/>
                  <a:gd name="T14" fmla="*/ 2147483647 w 1199"/>
                  <a:gd name="T15" fmla="*/ 2147483647 h 1720"/>
                  <a:gd name="T16" fmla="*/ 2147483647 w 1199"/>
                  <a:gd name="T17" fmla="*/ 2147483647 h 1720"/>
                  <a:gd name="T18" fmla="*/ 2147483647 w 1199"/>
                  <a:gd name="T19" fmla="*/ 2147483647 h 1720"/>
                  <a:gd name="T20" fmla="*/ 2147483647 w 1199"/>
                  <a:gd name="T21" fmla="*/ 2147483647 h 1720"/>
                  <a:gd name="T22" fmla="*/ 2147483647 w 1199"/>
                  <a:gd name="T23" fmla="*/ 2147483647 h 1720"/>
                  <a:gd name="T24" fmla="*/ 2147483647 w 1199"/>
                  <a:gd name="T25" fmla="*/ 2147483647 h 1720"/>
                  <a:gd name="T26" fmla="*/ 2147483647 w 1199"/>
                  <a:gd name="T27" fmla="*/ 2147483647 h 1720"/>
                  <a:gd name="T28" fmla="*/ 2147483647 w 1199"/>
                  <a:gd name="T29" fmla="*/ 2147483647 h 172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99"/>
                  <a:gd name="T46" fmla="*/ 0 h 1720"/>
                  <a:gd name="T47" fmla="*/ 1199 w 1199"/>
                  <a:gd name="T48" fmla="*/ 1720 h 172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99" h="1720">
                    <a:moveTo>
                      <a:pt x="651" y="20"/>
                    </a:moveTo>
                    <a:cubicBezTo>
                      <a:pt x="595" y="0"/>
                      <a:pt x="643" y="10"/>
                      <a:pt x="609" y="20"/>
                    </a:cubicBezTo>
                    <a:cubicBezTo>
                      <a:pt x="575" y="30"/>
                      <a:pt x="499" y="45"/>
                      <a:pt x="447" y="83"/>
                    </a:cubicBezTo>
                    <a:cubicBezTo>
                      <a:pt x="395" y="121"/>
                      <a:pt x="354" y="178"/>
                      <a:pt x="300" y="245"/>
                    </a:cubicBezTo>
                    <a:cubicBezTo>
                      <a:pt x="246" y="312"/>
                      <a:pt x="173" y="379"/>
                      <a:pt x="124" y="483"/>
                    </a:cubicBezTo>
                    <a:cubicBezTo>
                      <a:pt x="75" y="587"/>
                      <a:pt x="10" y="742"/>
                      <a:pt x="5" y="870"/>
                    </a:cubicBezTo>
                    <a:cubicBezTo>
                      <a:pt x="0" y="998"/>
                      <a:pt x="50" y="1122"/>
                      <a:pt x="96" y="1249"/>
                    </a:cubicBezTo>
                    <a:cubicBezTo>
                      <a:pt x="142" y="1376"/>
                      <a:pt x="153" y="1564"/>
                      <a:pt x="279" y="1635"/>
                    </a:cubicBezTo>
                    <a:cubicBezTo>
                      <a:pt x="405" y="1706"/>
                      <a:pt x="711" y="1720"/>
                      <a:pt x="855" y="1678"/>
                    </a:cubicBezTo>
                    <a:cubicBezTo>
                      <a:pt x="999" y="1636"/>
                      <a:pt x="1089" y="1492"/>
                      <a:pt x="1143" y="1383"/>
                    </a:cubicBezTo>
                    <a:cubicBezTo>
                      <a:pt x="1197" y="1274"/>
                      <a:pt x="1199" y="1129"/>
                      <a:pt x="1178" y="1024"/>
                    </a:cubicBezTo>
                    <a:cubicBezTo>
                      <a:pt x="1157" y="919"/>
                      <a:pt x="1057" y="854"/>
                      <a:pt x="1016" y="750"/>
                    </a:cubicBezTo>
                    <a:cubicBezTo>
                      <a:pt x="975" y="646"/>
                      <a:pt x="944" y="501"/>
                      <a:pt x="932" y="399"/>
                    </a:cubicBezTo>
                    <a:cubicBezTo>
                      <a:pt x="920" y="297"/>
                      <a:pt x="994" y="203"/>
                      <a:pt x="946" y="139"/>
                    </a:cubicBezTo>
                    <a:cubicBezTo>
                      <a:pt x="898" y="75"/>
                      <a:pt x="707" y="40"/>
                      <a:pt x="651" y="2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6" name="Freeform 22">
                <a:extLst>
                  <a:ext uri="{FF2B5EF4-FFF2-40B4-BE49-F238E27FC236}">
                    <a16:creationId xmlns:a16="http://schemas.microsoft.com/office/drawing/2014/main" id="{87C7CE07-5D7A-1750-FDB5-2CF07F007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06711" y="4078174"/>
                <a:ext cx="1797853" cy="2016914"/>
              </a:xfrm>
              <a:custGeom>
                <a:avLst/>
                <a:gdLst>
                  <a:gd name="T0" fmla="*/ 2147483647 w 1310"/>
                  <a:gd name="T1" fmla="*/ 2147483647 h 1714"/>
                  <a:gd name="T2" fmla="*/ 2147483647 w 1310"/>
                  <a:gd name="T3" fmla="*/ 2147483647 h 1714"/>
                  <a:gd name="T4" fmla="*/ 2147483647 w 1310"/>
                  <a:gd name="T5" fmla="*/ 2147483647 h 1714"/>
                  <a:gd name="T6" fmla="*/ 2147483647 w 1310"/>
                  <a:gd name="T7" fmla="*/ 2147483647 h 1714"/>
                  <a:gd name="T8" fmla="*/ 2147483647 w 1310"/>
                  <a:gd name="T9" fmla="*/ 2147483647 h 1714"/>
                  <a:gd name="T10" fmla="*/ 2147483647 w 1310"/>
                  <a:gd name="T11" fmla="*/ 2147483647 h 1714"/>
                  <a:gd name="T12" fmla="*/ 2147483647 w 1310"/>
                  <a:gd name="T13" fmla="*/ 2147483647 h 1714"/>
                  <a:gd name="T14" fmla="*/ 2147483647 w 1310"/>
                  <a:gd name="T15" fmla="*/ 2147483647 h 1714"/>
                  <a:gd name="T16" fmla="*/ 2147483647 w 1310"/>
                  <a:gd name="T17" fmla="*/ 2147483647 h 1714"/>
                  <a:gd name="T18" fmla="*/ 2147483647 w 1310"/>
                  <a:gd name="T19" fmla="*/ 2147483647 h 1714"/>
                  <a:gd name="T20" fmla="*/ 2147483647 w 1310"/>
                  <a:gd name="T21" fmla="*/ 2147483647 h 1714"/>
                  <a:gd name="T22" fmla="*/ 2147483647 w 1310"/>
                  <a:gd name="T23" fmla="*/ 2147483647 h 1714"/>
                  <a:gd name="T24" fmla="*/ 2147483647 w 1310"/>
                  <a:gd name="T25" fmla="*/ 2147483647 h 17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10"/>
                  <a:gd name="T40" fmla="*/ 0 h 1714"/>
                  <a:gd name="T41" fmla="*/ 1310 w 1310"/>
                  <a:gd name="T42" fmla="*/ 1714 h 171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10" h="1714">
                    <a:moveTo>
                      <a:pt x="470" y="29"/>
                    </a:moveTo>
                    <a:cubicBezTo>
                      <a:pt x="373" y="0"/>
                      <a:pt x="308" y="123"/>
                      <a:pt x="245" y="198"/>
                    </a:cubicBezTo>
                    <a:cubicBezTo>
                      <a:pt x="182" y="273"/>
                      <a:pt x="130" y="385"/>
                      <a:pt x="90" y="479"/>
                    </a:cubicBezTo>
                    <a:cubicBezTo>
                      <a:pt x="50" y="573"/>
                      <a:pt x="12" y="651"/>
                      <a:pt x="6" y="760"/>
                    </a:cubicBezTo>
                    <a:cubicBezTo>
                      <a:pt x="0" y="869"/>
                      <a:pt x="7" y="1042"/>
                      <a:pt x="55" y="1132"/>
                    </a:cubicBezTo>
                    <a:cubicBezTo>
                      <a:pt x="103" y="1222"/>
                      <a:pt x="191" y="1232"/>
                      <a:pt x="294" y="1301"/>
                    </a:cubicBezTo>
                    <a:cubicBezTo>
                      <a:pt x="397" y="1370"/>
                      <a:pt x="536" y="1479"/>
                      <a:pt x="673" y="1546"/>
                    </a:cubicBezTo>
                    <a:cubicBezTo>
                      <a:pt x="810" y="1613"/>
                      <a:pt x="1018" y="1714"/>
                      <a:pt x="1116" y="1701"/>
                    </a:cubicBezTo>
                    <a:cubicBezTo>
                      <a:pt x="1214" y="1688"/>
                      <a:pt x="1310" y="1559"/>
                      <a:pt x="1263" y="1469"/>
                    </a:cubicBezTo>
                    <a:cubicBezTo>
                      <a:pt x="1216" y="1379"/>
                      <a:pt x="925" y="1270"/>
                      <a:pt x="835" y="1160"/>
                    </a:cubicBezTo>
                    <a:cubicBezTo>
                      <a:pt x="745" y="1050"/>
                      <a:pt x="723" y="940"/>
                      <a:pt x="722" y="809"/>
                    </a:cubicBezTo>
                    <a:cubicBezTo>
                      <a:pt x="721" y="678"/>
                      <a:pt x="871" y="504"/>
                      <a:pt x="828" y="373"/>
                    </a:cubicBezTo>
                    <a:cubicBezTo>
                      <a:pt x="785" y="242"/>
                      <a:pt x="567" y="58"/>
                      <a:pt x="470" y="29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7" name="Text Box 25">
                <a:extLst>
                  <a:ext uri="{FF2B5EF4-FFF2-40B4-BE49-F238E27FC236}">
                    <a16:creationId xmlns:a16="http://schemas.microsoft.com/office/drawing/2014/main" id="{CBA0EF71-A7CC-09A9-D406-E60284A8FD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0728" y="5992713"/>
                <a:ext cx="719141" cy="2718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 sz="1800" dirty="0"/>
                  <a:t>area 1</a:t>
                </a:r>
              </a:p>
            </p:txBody>
          </p:sp>
          <p:sp>
            <p:nvSpPr>
              <p:cNvPr id="28" name="Text Box 26">
                <a:extLst>
                  <a:ext uri="{FF2B5EF4-FFF2-40B4-BE49-F238E27FC236}">
                    <a16:creationId xmlns:a16="http://schemas.microsoft.com/office/drawing/2014/main" id="{BC11F6C2-A140-7C8A-0769-D142A7B96A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9738" y="6165394"/>
                <a:ext cx="719141" cy="2718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 sz="1800" dirty="0"/>
                  <a:t>area 2</a:t>
                </a:r>
              </a:p>
            </p:txBody>
          </p:sp>
          <p:sp>
            <p:nvSpPr>
              <p:cNvPr id="29" name="Text Box 27">
                <a:extLst>
                  <a:ext uri="{FF2B5EF4-FFF2-40B4-BE49-F238E27FC236}">
                    <a16:creationId xmlns:a16="http://schemas.microsoft.com/office/drawing/2014/main" id="{FF5577DB-756B-5D11-7C34-3AEEDD5B58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15333" y="4997042"/>
                <a:ext cx="719141" cy="2718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 sz="1800" dirty="0"/>
                  <a:t>area 3</a:t>
                </a:r>
              </a:p>
            </p:txBody>
          </p:sp>
          <p:sp>
            <p:nvSpPr>
              <p:cNvPr id="30" name="Text Box 28">
                <a:extLst>
                  <a:ext uri="{FF2B5EF4-FFF2-40B4-BE49-F238E27FC236}">
                    <a16:creationId xmlns:a16="http://schemas.microsoft.com/office/drawing/2014/main" id="{FF6C9A82-7AE3-B49C-D1E6-EB509E4A83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18380" y="3739307"/>
                <a:ext cx="120097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 sz="2000" dirty="0">
                    <a:latin typeface="+mn-lt"/>
                  </a:rPr>
                  <a:t>backbone</a:t>
                </a:r>
              </a:p>
            </p:txBody>
          </p:sp>
          <p:sp>
            <p:nvSpPr>
              <p:cNvPr id="31" name="Text Box 30">
                <a:extLst>
                  <a:ext uri="{FF2B5EF4-FFF2-40B4-BE49-F238E27FC236}">
                    <a16:creationId xmlns:a16="http://schemas.microsoft.com/office/drawing/2014/main" id="{28A6D78D-B6A0-A90D-C23D-981996E594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1516" y="5908965"/>
                <a:ext cx="1498669" cy="3277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>
                  <a:lnSpc>
                    <a:spcPct val="85000"/>
                  </a:lnSpc>
                </a:pPr>
                <a:r>
                  <a:rPr lang="en-US" sz="1800" dirty="0">
                    <a:solidFill>
                      <a:srgbClr val="CC0000"/>
                    </a:solidFill>
                  </a:rPr>
                  <a:t>local router</a:t>
                </a:r>
              </a:p>
            </p:txBody>
          </p:sp>
          <p:sp>
            <p:nvSpPr>
              <p:cNvPr id="32" name="Line 242">
                <a:extLst>
                  <a:ext uri="{FF2B5EF4-FFF2-40B4-BE49-F238E27FC236}">
                    <a16:creationId xmlns:a16="http://schemas.microsoft.com/office/drawing/2014/main" id="{70DF1025-C7C3-D497-FAD9-F24652114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67283" y="5210343"/>
                <a:ext cx="263502" cy="58616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33" name="Line 243">
                <a:extLst>
                  <a:ext uri="{FF2B5EF4-FFF2-40B4-BE49-F238E27FC236}">
                    <a16:creationId xmlns:a16="http://schemas.microsoft.com/office/drawing/2014/main" id="{9DE196F5-70AD-D1BB-6801-84F4A6F90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97176" y="5647931"/>
                <a:ext cx="415840" cy="22240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grpSp>
            <p:nvGrpSpPr>
              <p:cNvPr id="35" name="Group 181">
                <a:extLst>
                  <a:ext uri="{FF2B5EF4-FFF2-40B4-BE49-F238E27FC236}">
                    <a16:creationId xmlns:a16="http://schemas.microsoft.com/office/drawing/2014/main" id="{8AD5F0AC-78B4-F208-84BA-184C16EEA5B4}"/>
                  </a:ext>
                </a:extLst>
              </p:cNvPr>
              <p:cNvGrpSpPr/>
              <p:nvPr/>
            </p:nvGrpSpPr>
            <p:grpSpPr>
              <a:xfrm>
                <a:off x="7249202" y="5712064"/>
                <a:ext cx="597931" cy="300817"/>
                <a:chOff x="7493876" y="2774731"/>
                <a:chExt cx="1481958" cy="894622"/>
              </a:xfrm>
            </p:grpSpPr>
            <p:sp>
              <p:nvSpPr>
                <p:cNvPr id="36" name="Freeform 182">
                  <a:extLst>
                    <a:ext uri="{FF2B5EF4-FFF2-40B4-BE49-F238E27FC236}">
                      <a16:creationId xmlns:a16="http://schemas.microsoft.com/office/drawing/2014/main" id="{B421503D-A916-70E1-EA3B-F928E3FA63B6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37" name="Oval 183">
                  <a:extLst>
                    <a:ext uri="{FF2B5EF4-FFF2-40B4-BE49-F238E27FC236}">
                      <a16:creationId xmlns:a16="http://schemas.microsoft.com/office/drawing/2014/main" id="{48E5F7FE-5A96-8171-63C4-96068461AA69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38" name="Group 184">
                  <a:extLst>
                    <a:ext uri="{FF2B5EF4-FFF2-40B4-BE49-F238E27FC236}">
                      <a16:creationId xmlns:a16="http://schemas.microsoft.com/office/drawing/2014/main" id="{83661A79-6043-36C7-12E4-6A334CA1E76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" name="Freeform 185">
                    <a:extLst>
                      <a:ext uri="{FF2B5EF4-FFF2-40B4-BE49-F238E27FC236}">
                        <a16:creationId xmlns:a16="http://schemas.microsoft.com/office/drawing/2014/main" id="{C8168685-8350-EAD8-B420-4DB15C7B477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" name="Freeform 186">
                    <a:extLst>
                      <a:ext uri="{FF2B5EF4-FFF2-40B4-BE49-F238E27FC236}">
                        <a16:creationId xmlns:a16="http://schemas.microsoft.com/office/drawing/2014/main" id="{9E9707EC-2EF9-4F3E-D519-5175AF9FD20C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" name="Freeform 187">
                    <a:extLst>
                      <a:ext uri="{FF2B5EF4-FFF2-40B4-BE49-F238E27FC236}">
                        <a16:creationId xmlns:a16="http://schemas.microsoft.com/office/drawing/2014/main" id="{138650BD-8230-D936-5759-E0DA4D0CB7BE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" name="Freeform 188">
                    <a:extLst>
                      <a:ext uri="{FF2B5EF4-FFF2-40B4-BE49-F238E27FC236}">
                        <a16:creationId xmlns:a16="http://schemas.microsoft.com/office/drawing/2014/main" id="{8EC51DC1-4AFB-D01E-1E6F-8DD1D211FE77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43" name="Group 189">
                <a:extLst>
                  <a:ext uri="{FF2B5EF4-FFF2-40B4-BE49-F238E27FC236}">
                    <a16:creationId xmlns:a16="http://schemas.microsoft.com/office/drawing/2014/main" id="{13622781-CD35-CE18-74FD-B6372F62334C}"/>
                  </a:ext>
                </a:extLst>
              </p:cNvPr>
              <p:cNvGrpSpPr/>
              <p:nvPr/>
            </p:nvGrpSpPr>
            <p:grpSpPr>
              <a:xfrm>
                <a:off x="7773077" y="5370525"/>
                <a:ext cx="597931" cy="300817"/>
                <a:chOff x="7493876" y="2774731"/>
                <a:chExt cx="1481958" cy="894622"/>
              </a:xfrm>
            </p:grpSpPr>
            <p:sp>
              <p:nvSpPr>
                <p:cNvPr id="44" name="Freeform 190">
                  <a:extLst>
                    <a:ext uri="{FF2B5EF4-FFF2-40B4-BE49-F238E27FC236}">
                      <a16:creationId xmlns:a16="http://schemas.microsoft.com/office/drawing/2014/main" id="{22B6CB98-1836-F93D-DFE1-403AE5BC1027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45" name="Oval 191">
                  <a:extLst>
                    <a:ext uri="{FF2B5EF4-FFF2-40B4-BE49-F238E27FC236}">
                      <a16:creationId xmlns:a16="http://schemas.microsoft.com/office/drawing/2014/main" id="{CA3C8B29-4D6E-31BD-0852-7DA0743B14B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46" name="Group 192">
                  <a:extLst>
                    <a:ext uri="{FF2B5EF4-FFF2-40B4-BE49-F238E27FC236}">
                      <a16:creationId xmlns:a16="http://schemas.microsoft.com/office/drawing/2014/main" id="{E70F7819-D489-9E9D-937F-E1A2E3F0F360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7" name="Freeform 193">
                    <a:extLst>
                      <a:ext uri="{FF2B5EF4-FFF2-40B4-BE49-F238E27FC236}">
                        <a16:creationId xmlns:a16="http://schemas.microsoft.com/office/drawing/2014/main" id="{512879F7-7422-6F6D-DA9F-54CA727FAEB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8" name="Freeform 194">
                    <a:extLst>
                      <a:ext uri="{FF2B5EF4-FFF2-40B4-BE49-F238E27FC236}">
                        <a16:creationId xmlns:a16="http://schemas.microsoft.com/office/drawing/2014/main" id="{BFF8B675-0071-1B05-1786-C4299E8FD3B2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9" name="Freeform 195">
                    <a:extLst>
                      <a:ext uri="{FF2B5EF4-FFF2-40B4-BE49-F238E27FC236}">
                        <a16:creationId xmlns:a16="http://schemas.microsoft.com/office/drawing/2014/main" id="{5C3A6F41-0625-DB3A-BD3A-2C86F75E4E3B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" name="Freeform 196">
                    <a:extLst>
                      <a:ext uri="{FF2B5EF4-FFF2-40B4-BE49-F238E27FC236}">
                        <a16:creationId xmlns:a16="http://schemas.microsoft.com/office/drawing/2014/main" id="{26536E4C-C95C-D2A6-C103-D5F55B8BE796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" name="Group 197">
                <a:extLst>
                  <a:ext uri="{FF2B5EF4-FFF2-40B4-BE49-F238E27FC236}">
                    <a16:creationId xmlns:a16="http://schemas.microsoft.com/office/drawing/2014/main" id="{8E405A89-AFAC-1CD7-8BBB-638922384822}"/>
                  </a:ext>
                </a:extLst>
              </p:cNvPr>
              <p:cNvGrpSpPr/>
              <p:nvPr/>
            </p:nvGrpSpPr>
            <p:grpSpPr>
              <a:xfrm>
                <a:off x="7468277" y="4477897"/>
                <a:ext cx="597931" cy="300817"/>
                <a:chOff x="7493876" y="2774731"/>
                <a:chExt cx="1481958" cy="894622"/>
              </a:xfrm>
            </p:grpSpPr>
            <p:sp>
              <p:nvSpPr>
                <p:cNvPr id="52" name="Freeform 198">
                  <a:extLst>
                    <a:ext uri="{FF2B5EF4-FFF2-40B4-BE49-F238E27FC236}">
                      <a16:creationId xmlns:a16="http://schemas.microsoft.com/office/drawing/2014/main" id="{BE58AEBB-3412-89E7-08A5-F3BEB3DBFC23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53" name="Oval 199">
                  <a:extLst>
                    <a:ext uri="{FF2B5EF4-FFF2-40B4-BE49-F238E27FC236}">
                      <a16:creationId xmlns:a16="http://schemas.microsoft.com/office/drawing/2014/main" id="{0219FAE3-6543-C152-6D9F-464FED3B841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54" name="Group 200">
                  <a:extLst>
                    <a:ext uri="{FF2B5EF4-FFF2-40B4-BE49-F238E27FC236}">
                      <a16:creationId xmlns:a16="http://schemas.microsoft.com/office/drawing/2014/main" id="{7F616E4B-7059-B87D-1EBC-88FFBC435D1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5" name="Freeform 201">
                    <a:extLst>
                      <a:ext uri="{FF2B5EF4-FFF2-40B4-BE49-F238E27FC236}">
                        <a16:creationId xmlns:a16="http://schemas.microsoft.com/office/drawing/2014/main" id="{B4503ED0-59A3-7835-A39F-B14193163E7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" name="Freeform 202">
                    <a:extLst>
                      <a:ext uri="{FF2B5EF4-FFF2-40B4-BE49-F238E27FC236}">
                        <a16:creationId xmlns:a16="http://schemas.microsoft.com/office/drawing/2014/main" id="{5E825AFA-71C4-1BEC-ADA8-EFB464A0A6DD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7" name="Freeform 203">
                    <a:extLst>
                      <a:ext uri="{FF2B5EF4-FFF2-40B4-BE49-F238E27FC236}">
                        <a16:creationId xmlns:a16="http://schemas.microsoft.com/office/drawing/2014/main" id="{63589152-330F-4AC3-C4E7-B96162AE1DB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" name="Freeform 204">
                    <a:extLst>
                      <a:ext uri="{FF2B5EF4-FFF2-40B4-BE49-F238E27FC236}">
                        <a16:creationId xmlns:a16="http://schemas.microsoft.com/office/drawing/2014/main" id="{CA4D3D50-6815-9C21-BDCE-332A42683451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9" name="Group 205">
                <a:extLst>
                  <a:ext uri="{FF2B5EF4-FFF2-40B4-BE49-F238E27FC236}">
                    <a16:creationId xmlns:a16="http://schemas.microsoft.com/office/drawing/2014/main" id="{0191A25B-B75C-AEC8-2466-301BB4894A25}"/>
                  </a:ext>
                </a:extLst>
              </p:cNvPr>
              <p:cNvGrpSpPr/>
              <p:nvPr/>
            </p:nvGrpSpPr>
            <p:grpSpPr>
              <a:xfrm>
                <a:off x="7049177" y="5107908"/>
                <a:ext cx="597931" cy="300817"/>
                <a:chOff x="7493876" y="2774731"/>
                <a:chExt cx="1481958" cy="894622"/>
              </a:xfrm>
            </p:grpSpPr>
            <p:sp>
              <p:nvSpPr>
                <p:cNvPr id="60" name="Freeform 206">
                  <a:extLst>
                    <a:ext uri="{FF2B5EF4-FFF2-40B4-BE49-F238E27FC236}">
                      <a16:creationId xmlns:a16="http://schemas.microsoft.com/office/drawing/2014/main" id="{2CB89C46-A16B-5463-015A-A83C6A9D4BD6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61" name="Oval 207">
                  <a:extLst>
                    <a:ext uri="{FF2B5EF4-FFF2-40B4-BE49-F238E27FC236}">
                      <a16:creationId xmlns:a16="http://schemas.microsoft.com/office/drawing/2014/main" id="{CD4E82E8-FB0D-AD84-CA94-031090B3BCE5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62" name="Group 208">
                  <a:extLst>
                    <a:ext uri="{FF2B5EF4-FFF2-40B4-BE49-F238E27FC236}">
                      <a16:creationId xmlns:a16="http://schemas.microsoft.com/office/drawing/2014/main" id="{E6617BC7-97D9-DCCF-A226-EE7DA7A83F61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3" name="Freeform 209">
                    <a:extLst>
                      <a:ext uri="{FF2B5EF4-FFF2-40B4-BE49-F238E27FC236}">
                        <a16:creationId xmlns:a16="http://schemas.microsoft.com/office/drawing/2014/main" id="{753CA506-64A8-D6CD-0B61-4064777105D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" name="Freeform 210">
                    <a:extLst>
                      <a:ext uri="{FF2B5EF4-FFF2-40B4-BE49-F238E27FC236}">
                        <a16:creationId xmlns:a16="http://schemas.microsoft.com/office/drawing/2014/main" id="{CA919708-A17A-BF81-88A3-571520B1AAF4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Freeform 211">
                    <a:extLst>
                      <a:ext uri="{FF2B5EF4-FFF2-40B4-BE49-F238E27FC236}">
                        <a16:creationId xmlns:a16="http://schemas.microsoft.com/office/drawing/2014/main" id="{407CCD5F-035F-9719-600D-A80EDA564F5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6" name="Freeform 212">
                    <a:extLst>
                      <a:ext uri="{FF2B5EF4-FFF2-40B4-BE49-F238E27FC236}">
                        <a16:creationId xmlns:a16="http://schemas.microsoft.com/office/drawing/2014/main" id="{35697FA2-24F1-F062-4F6E-0B4879110E77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67" name="Group 213">
                <a:extLst>
                  <a:ext uri="{FF2B5EF4-FFF2-40B4-BE49-F238E27FC236}">
                    <a16:creationId xmlns:a16="http://schemas.microsoft.com/office/drawing/2014/main" id="{EF85B090-EA59-0676-774B-CA460B3713B3}"/>
                  </a:ext>
                </a:extLst>
              </p:cNvPr>
              <p:cNvGrpSpPr/>
              <p:nvPr/>
            </p:nvGrpSpPr>
            <p:grpSpPr>
              <a:xfrm>
                <a:off x="5478913" y="4243854"/>
                <a:ext cx="597931" cy="300817"/>
                <a:chOff x="7493876" y="2774731"/>
                <a:chExt cx="1481958" cy="894622"/>
              </a:xfrm>
            </p:grpSpPr>
            <p:sp>
              <p:nvSpPr>
                <p:cNvPr id="68" name="Freeform 214">
                  <a:extLst>
                    <a:ext uri="{FF2B5EF4-FFF2-40B4-BE49-F238E27FC236}">
                      <a16:creationId xmlns:a16="http://schemas.microsoft.com/office/drawing/2014/main" id="{D6731668-FB8B-8B1C-72F3-60191EB75B31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69" name="Oval 215">
                  <a:extLst>
                    <a:ext uri="{FF2B5EF4-FFF2-40B4-BE49-F238E27FC236}">
                      <a16:creationId xmlns:a16="http://schemas.microsoft.com/office/drawing/2014/main" id="{187F4CE5-D1B8-0CE4-5D2E-44979E48BDD3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70" name="Group 216">
                  <a:extLst>
                    <a:ext uri="{FF2B5EF4-FFF2-40B4-BE49-F238E27FC236}">
                      <a16:creationId xmlns:a16="http://schemas.microsoft.com/office/drawing/2014/main" id="{70A7208C-069F-B9DE-881E-AEA00156BA2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71" name="Freeform 217">
                    <a:extLst>
                      <a:ext uri="{FF2B5EF4-FFF2-40B4-BE49-F238E27FC236}">
                        <a16:creationId xmlns:a16="http://schemas.microsoft.com/office/drawing/2014/main" id="{8F29CD89-F92F-503F-1EBA-C752CC754023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" name="Freeform 218">
                    <a:extLst>
                      <a:ext uri="{FF2B5EF4-FFF2-40B4-BE49-F238E27FC236}">
                        <a16:creationId xmlns:a16="http://schemas.microsoft.com/office/drawing/2014/main" id="{52906872-5FCF-EB05-DF62-3DCE943A9C5E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3" name="Freeform 219">
                    <a:extLst>
                      <a:ext uri="{FF2B5EF4-FFF2-40B4-BE49-F238E27FC236}">
                        <a16:creationId xmlns:a16="http://schemas.microsoft.com/office/drawing/2014/main" id="{97B53E2D-4CA1-1A52-F597-81F5855AE12B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" name="Freeform 220">
                    <a:extLst>
                      <a:ext uri="{FF2B5EF4-FFF2-40B4-BE49-F238E27FC236}">
                        <a16:creationId xmlns:a16="http://schemas.microsoft.com/office/drawing/2014/main" id="{7B036167-244E-B36E-7906-C589706A8CEC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75" name="Group 221">
                <a:extLst>
                  <a:ext uri="{FF2B5EF4-FFF2-40B4-BE49-F238E27FC236}">
                    <a16:creationId xmlns:a16="http://schemas.microsoft.com/office/drawing/2014/main" id="{DE45B4EB-6685-9B60-80A0-79BFBE8C563D}"/>
                  </a:ext>
                </a:extLst>
              </p:cNvPr>
              <p:cNvGrpSpPr/>
              <p:nvPr/>
            </p:nvGrpSpPr>
            <p:grpSpPr>
              <a:xfrm>
                <a:off x="5067978" y="4833043"/>
                <a:ext cx="597931" cy="300817"/>
                <a:chOff x="7493876" y="2774731"/>
                <a:chExt cx="1481958" cy="894622"/>
              </a:xfrm>
            </p:grpSpPr>
            <p:sp>
              <p:nvSpPr>
                <p:cNvPr id="76" name="Freeform 223">
                  <a:extLst>
                    <a:ext uri="{FF2B5EF4-FFF2-40B4-BE49-F238E27FC236}">
                      <a16:creationId xmlns:a16="http://schemas.microsoft.com/office/drawing/2014/main" id="{24885903-D7C6-C3FA-FC5D-F893FF89149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77" name="Oval 224">
                  <a:extLst>
                    <a:ext uri="{FF2B5EF4-FFF2-40B4-BE49-F238E27FC236}">
                      <a16:creationId xmlns:a16="http://schemas.microsoft.com/office/drawing/2014/main" id="{267C107E-EDCE-96C9-BF50-B810FB41B708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78" name="Group 225">
                  <a:extLst>
                    <a:ext uri="{FF2B5EF4-FFF2-40B4-BE49-F238E27FC236}">
                      <a16:creationId xmlns:a16="http://schemas.microsoft.com/office/drawing/2014/main" id="{274E5BF7-9AED-6931-6D89-872CF94C84EB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79" name="Freeform 226">
                    <a:extLst>
                      <a:ext uri="{FF2B5EF4-FFF2-40B4-BE49-F238E27FC236}">
                        <a16:creationId xmlns:a16="http://schemas.microsoft.com/office/drawing/2014/main" id="{9DB45370-D80F-3ABA-15B4-05558938248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" name="Freeform 227">
                    <a:extLst>
                      <a:ext uri="{FF2B5EF4-FFF2-40B4-BE49-F238E27FC236}">
                        <a16:creationId xmlns:a16="http://schemas.microsoft.com/office/drawing/2014/main" id="{76F88404-90C9-DE58-BA7A-2D52F8A76612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Freeform 228">
                    <a:extLst>
                      <a:ext uri="{FF2B5EF4-FFF2-40B4-BE49-F238E27FC236}">
                        <a16:creationId xmlns:a16="http://schemas.microsoft.com/office/drawing/2014/main" id="{4ECEE49E-A357-E3F2-0DE5-17FA1382E8EB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Freeform 229">
                    <a:extLst>
                      <a:ext uri="{FF2B5EF4-FFF2-40B4-BE49-F238E27FC236}">
                        <a16:creationId xmlns:a16="http://schemas.microsoft.com/office/drawing/2014/main" id="{A51160DB-4DC9-9E3F-E3A7-8EEBEEC4437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83" name="Group 230">
                <a:extLst>
                  <a:ext uri="{FF2B5EF4-FFF2-40B4-BE49-F238E27FC236}">
                    <a16:creationId xmlns:a16="http://schemas.microsoft.com/office/drawing/2014/main" id="{0FBDDDE3-98FF-8EB6-612D-53D5CED833D0}"/>
                  </a:ext>
                </a:extLst>
              </p:cNvPr>
              <p:cNvGrpSpPr/>
              <p:nvPr/>
            </p:nvGrpSpPr>
            <p:grpSpPr>
              <a:xfrm>
                <a:off x="4526415" y="5361000"/>
                <a:ext cx="597931" cy="300817"/>
                <a:chOff x="7493876" y="2774731"/>
                <a:chExt cx="1481958" cy="894622"/>
              </a:xfrm>
            </p:grpSpPr>
            <p:sp>
              <p:nvSpPr>
                <p:cNvPr id="84" name="Freeform 231">
                  <a:extLst>
                    <a:ext uri="{FF2B5EF4-FFF2-40B4-BE49-F238E27FC236}">
                      <a16:creationId xmlns:a16="http://schemas.microsoft.com/office/drawing/2014/main" id="{DA785A51-B1F4-95F4-363B-FCF2981494EF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85" name="Oval 232">
                  <a:extLst>
                    <a:ext uri="{FF2B5EF4-FFF2-40B4-BE49-F238E27FC236}">
                      <a16:creationId xmlns:a16="http://schemas.microsoft.com/office/drawing/2014/main" id="{2D5F2339-11C5-3B49-4996-ED6C677A01C0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86" name="Group 233">
                  <a:extLst>
                    <a:ext uri="{FF2B5EF4-FFF2-40B4-BE49-F238E27FC236}">
                      <a16:creationId xmlns:a16="http://schemas.microsoft.com/office/drawing/2014/main" id="{8EE46D0A-4887-AFC8-6A78-34A4B3084756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87" name="Freeform 234">
                    <a:extLst>
                      <a:ext uri="{FF2B5EF4-FFF2-40B4-BE49-F238E27FC236}">
                        <a16:creationId xmlns:a16="http://schemas.microsoft.com/office/drawing/2014/main" id="{55669335-A982-897A-1877-06477597E3FE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" name="Freeform 235">
                    <a:extLst>
                      <a:ext uri="{FF2B5EF4-FFF2-40B4-BE49-F238E27FC236}">
                        <a16:creationId xmlns:a16="http://schemas.microsoft.com/office/drawing/2014/main" id="{25C5F418-0762-7554-51A5-84B28B9451B6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" name="Freeform 236">
                    <a:extLst>
                      <a:ext uri="{FF2B5EF4-FFF2-40B4-BE49-F238E27FC236}">
                        <a16:creationId xmlns:a16="http://schemas.microsoft.com/office/drawing/2014/main" id="{9E96B6E7-DD0C-82D7-D356-9CBEAAD7BD3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" name="Freeform 237">
                    <a:extLst>
                      <a:ext uri="{FF2B5EF4-FFF2-40B4-BE49-F238E27FC236}">
                        <a16:creationId xmlns:a16="http://schemas.microsoft.com/office/drawing/2014/main" id="{8B2A55C9-BE4B-2541-FC20-36CC2E56398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91" name="Group 238">
                <a:extLst>
                  <a:ext uri="{FF2B5EF4-FFF2-40B4-BE49-F238E27FC236}">
                    <a16:creationId xmlns:a16="http://schemas.microsoft.com/office/drawing/2014/main" id="{F3EC235C-5E6A-CA34-D5E4-C9D1089E035A}"/>
                  </a:ext>
                </a:extLst>
              </p:cNvPr>
              <p:cNvGrpSpPr/>
              <p:nvPr/>
            </p:nvGrpSpPr>
            <p:grpSpPr>
              <a:xfrm>
                <a:off x="5221742" y="5672603"/>
                <a:ext cx="597931" cy="300817"/>
                <a:chOff x="7493876" y="2774731"/>
                <a:chExt cx="1481958" cy="894622"/>
              </a:xfrm>
            </p:grpSpPr>
            <p:sp>
              <p:nvSpPr>
                <p:cNvPr id="92" name="Freeform 239">
                  <a:extLst>
                    <a:ext uri="{FF2B5EF4-FFF2-40B4-BE49-F238E27FC236}">
                      <a16:creationId xmlns:a16="http://schemas.microsoft.com/office/drawing/2014/main" id="{59F8F7AC-ABD2-BFF8-0ADB-567E5DC471AA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93" name="Oval 240">
                  <a:extLst>
                    <a:ext uri="{FF2B5EF4-FFF2-40B4-BE49-F238E27FC236}">
                      <a16:creationId xmlns:a16="http://schemas.microsoft.com/office/drawing/2014/main" id="{76B9F3EB-17AD-607F-6B89-F0D464882028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94" name="Group 241">
                  <a:extLst>
                    <a:ext uri="{FF2B5EF4-FFF2-40B4-BE49-F238E27FC236}">
                      <a16:creationId xmlns:a16="http://schemas.microsoft.com/office/drawing/2014/main" id="{075AE8B7-A3B2-7D79-186F-CE913567DD4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95" name="Freeform 242">
                    <a:extLst>
                      <a:ext uri="{FF2B5EF4-FFF2-40B4-BE49-F238E27FC236}">
                        <a16:creationId xmlns:a16="http://schemas.microsoft.com/office/drawing/2014/main" id="{EFEBCF75-4D61-2B0E-F055-C4F5706223D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" name="Freeform 243">
                    <a:extLst>
                      <a:ext uri="{FF2B5EF4-FFF2-40B4-BE49-F238E27FC236}">
                        <a16:creationId xmlns:a16="http://schemas.microsoft.com/office/drawing/2014/main" id="{BCEE5ABF-8838-C930-5764-5CC67469C0E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" name="Freeform 244">
                    <a:extLst>
                      <a:ext uri="{FF2B5EF4-FFF2-40B4-BE49-F238E27FC236}">
                        <a16:creationId xmlns:a16="http://schemas.microsoft.com/office/drawing/2014/main" id="{A8A63DBE-7262-B023-5ED2-AE3821E4AF9E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" name="Freeform 245">
                    <a:extLst>
                      <a:ext uri="{FF2B5EF4-FFF2-40B4-BE49-F238E27FC236}">
                        <a16:creationId xmlns:a16="http://schemas.microsoft.com/office/drawing/2014/main" id="{36836F48-1AA3-2198-2E09-9F68931BD1D6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99" name="Group 246">
                <a:extLst>
                  <a:ext uri="{FF2B5EF4-FFF2-40B4-BE49-F238E27FC236}">
                    <a16:creationId xmlns:a16="http://schemas.microsoft.com/office/drawing/2014/main" id="{F31F4974-870A-8EF6-C8EF-9811BE3737B0}"/>
                  </a:ext>
                </a:extLst>
              </p:cNvPr>
              <p:cNvGrpSpPr/>
              <p:nvPr/>
            </p:nvGrpSpPr>
            <p:grpSpPr>
              <a:xfrm>
                <a:off x="5496608" y="5212681"/>
                <a:ext cx="597931" cy="300817"/>
                <a:chOff x="7493876" y="2774731"/>
                <a:chExt cx="1481958" cy="894622"/>
              </a:xfrm>
            </p:grpSpPr>
            <p:sp>
              <p:nvSpPr>
                <p:cNvPr id="100" name="Freeform 247">
                  <a:extLst>
                    <a:ext uri="{FF2B5EF4-FFF2-40B4-BE49-F238E27FC236}">
                      <a16:creationId xmlns:a16="http://schemas.microsoft.com/office/drawing/2014/main" id="{81C3D726-C977-89A0-D9B6-CFC1910B0AAD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01" name="Oval 248">
                  <a:extLst>
                    <a:ext uri="{FF2B5EF4-FFF2-40B4-BE49-F238E27FC236}">
                      <a16:creationId xmlns:a16="http://schemas.microsoft.com/office/drawing/2014/main" id="{04651E36-AB43-DBDD-D10B-8577BE0EF4BE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02" name="Group 249">
                  <a:extLst>
                    <a:ext uri="{FF2B5EF4-FFF2-40B4-BE49-F238E27FC236}">
                      <a16:creationId xmlns:a16="http://schemas.microsoft.com/office/drawing/2014/main" id="{FF468879-FB2E-0FA9-5B89-683B23D47E9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3" name="Freeform 250">
                    <a:extLst>
                      <a:ext uri="{FF2B5EF4-FFF2-40B4-BE49-F238E27FC236}">
                        <a16:creationId xmlns:a16="http://schemas.microsoft.com/office/drawing/2014/main" id="{0E58477F-6D31-2671-F27D-94982569D5F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" name="Freeform 251">
                    <a:extLst>
                      <a:ext uri="{FF2B5EF4-FFF2-40B4-BE49-F238E27FC236}">
                        <a16:creationId xmlns:a16="http://schemas.microsoft.com/office/drawing/2014/main" id="{38A56D6F-71EA-C1F1-D4BA-F94685CFE9F8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Freeform 252">
                    <a:extLst>
                      <a:ext uri="{FF2B5EF4-FFF2-40B4-BE49-F238E27FC236}">
                        <a16:creationId xmlns:a16="http://schemas.microsoft.com/office/drawing/2014/main" id="{1C6FCD02-CDB4-D996-1955-391C442EB296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Freeform 253">
                    <a:extLst>
                      <a:ext uri="{FF2B5EF4-FFF2-40B4-BE49-F238E27FC236}">
                        <a16:creationId xmlns:a16="http://schemas.microsoft.com/office/drawing/2014/main" id="{AD229D66-9855-3AE0-6DB3-07A40816A08A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07" name="Group 254">
                <a:extLst>
                  <a:ext uri="{FF2B5EF4-FFF2-40B4-BE49-F238E27FC236}">
                    <a16:creationId xmlns:a16="http://schemas.microsoft.com/office/drawing/2014/main" id="{C4F00E65-979B-67B7-92F4-9826C78C68C8}"/>
                  </a:ext>
                </a:extLst>
              </p:cNvPr>
              <p:cNvGrpSpPr/>
              <p:nvPr/>
            </p:nvGrpSpPr>
            <p:grpSpPr>
              <a:xfrm>
                <a:off x="9371916" y="4303726"/>
                <a:ext cx="597931" cy="300817"/>
                <a:chOff x="7493876" y="2774731"/>
                <a:chExt cx="1481958" cy="894622"/>
              </a:xfrm>
            </p:grpSpPr>
            <p:sp>
              <p:nvSpPr>
                <p:cNvPr id="108" name="Freeform 255">
                  <a:extLst>
                    <a:ext uri="{FF2B5EF4-FFF2-40B4-BE49-F238E27FC236}">
                      <a16:creationId xmlns:a16="http://schemas.microsoft.com/office/drawing/2014/main" id="{9237EE36-090F-6A58-F574-4A6BF6FFD768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09" name="Oval 256">
                  <a:extLst>
                    <a:ext uri="{FF2B5EF4-FFF2-40B4-BE49-F238E27FC236}">
                      <a16:creationId xmlns:a16="http://schemas.microsoft.com/office/drawing/2014/main" id="{1CE2E6BB-B68C-4DE1-EF97-D3C404FE8985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10" name="Group 257">
                  <a:extLst>
                    <a:ext uri="{FF2B5EF4-FFF2-40B4-BE49-F238E27FC236}">
                      <a16:creationId xmlns:a16="http://schemas.microsoft.com/office/drawing/2014/main" id="{4F0B63DA-D978-2872-C23E-39D73344CCD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11" name="Freeform 258">
                    <a:extLst>
                      <a:ext uri="{FF2B5EF4-FFF2-40B4-BE49-F238E27FC236}">
                        <a16:creationId xmlns:a16="http://schemas.microsoft.com/office/drawing/2014/main" id="{6C30D1C9-3B6E-57D4-3110-796704753DC9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Freeform 259">
                    <a:extLst>
                      <a:ext uri="{FF2B5EF4-FFF2-40B4-BE49-F238E27FC236}">
                        <a16:creationId xmlns:a16="http://schemas.microsoft.com/office/drawing/2014/main" id="{9E6413DE-1954-1E73-712C-151D1432AACA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3" name="Freeform 260">
                    <a:extLst>
                      <a:ext uri="{FF2B5EF4-FFF2-40B4-BE49-F238E27FC236}">
                        <a16:creationId xmlns:a16="http://schemas.microsoft.com/office/drawing/2014/main" id="{D84B2E02-5445-27FA-3B3F-135D259A364A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4" name="Freeform 261">
                    <a:extLst>
                      <a:ext uri="{FF2B5EF4-FFF2-40B4-BE49-F238E27FC236}">
                        <a16:creationId xmlns:a16="http://schemas.microsoft.com/office/drawing/2014/main" id="{6CB90EED-F903-6BDC-4B7A-6967421B29CF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15" name="Group 262">
                <a:extLst>
                  <a:ext uri="{FF2B5EF4-FFF2-40B4-BE49-F238E27FC236}">
                    <a16:creationId xmlns:a16="http://schemas.microsoft.com/office/drawing/2014/main" id="{EA4F15C8-D6F0-C011-6CF8-3CCF827BE968}"/>
                  </a:ext>
                </a:extLst>
              </p:cNvPr>
              <p:cNvGrpSpPr/>
              <p:nvPr/>
            </p:nvGrpSpPr>
            <p:grpSpPr>
              <a:xfrm>
                <a:off x="9152841" y="4892916"/>
                <a:ext cx="597931" cy="300817"/>
                <a:chOff x="7493876" y="2774731"/>
                <a:chExt cx="1481958" cy="894622"/>
              </a:xfrm>
            </p:grpSpPr>
            <p:sp>
              <p:nvSpPr>
                <p:cNvPr id="116" name="Freeform 263">
                  <a:extLst>
                    <a:ext uri="{FF2B5EF4-FFF2-40B4-BE49-F238E27FC236}">
                      <a16:creationId xmlns:a16="http://schemas.microsoft.com/office/drawing/2014/main" id="{6CFA9623-3E8D-0736-F850-1D8B978F9768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17" name="Oval 264">
                  <a:extLst>
                    <a:ext uri="{FF2B5EF4-FFF2-40B4-BE49-F238E27FC236}">
                      <a16:creationId xmlns:a16="http://schemas.microsoft.com/office/drawing/2014/main" id="{59929B74-9767-FA3D-3279-4F3A235AC6A5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18" name="Group 265">
                  <a:extLst>
                    <a:ext uri="{FF2B5EF4-FFF2-40B4-BE49-F238E27FC236}">
                      <a16:creationId xmlns:a16="http://schemas.microsoft.com/office/drawing/2014/main" id="{8AAD556B-CBA3-35BB-F5B4-618B3AA10E2D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19" name="Freeform 266">
                    <a:extLst>
                      <a:ext uri="{FF2B5EF4-FFF2-40B4-BE49-F238E27FC236}">
                        <a16:creationId xmlns:a16="http://schemas.microsoft.com/office/drawing/2014/main" id="{AA1092F3-68AB-6C1E-BE9E-797341175101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" name="Freeform 267">
                    <a:extLst>
                      <a:ext uri="{FF2B5EF4-FFF2-40B4-BE49-F238E27FC236}">
                        <a16:creationId xmlns:a16="http://schemas.microsoft.com/office/drawing/2014/main" id="{DEF7DA3A-0E73-4600-B137-D30C80A40D9D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" name="Freeform 268">
                    <a:extLst>
                      <a:ext uri="{FF2B5EF4-FFF2-40B4-BE49-F238E27FC236}">
                        <a16:creationId xmlns:a16="http://schemas.microsoft.com/office/drawing/2014/main" id="{5CCE93C9-A06C-EB2E-7B18-8BAC1982D759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" name="Freeform 269">
                    <a:extLst>
                      <a:ext uri="{FF2B5EF4-FFF2-40B4-BE49-F238E27FC236}">
                        <a16:creationId xmlns:a16="http://schemas.microsoft.com/office/drawing/2014/main" id="{A9E525A2-C01B-449A-A5D4-B73B79876C5B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3" name="Group 270">
                <a:extLst>
                  <a:ext uri="{FF2B5EF4-FFF2-40B4-BE49-F238E27FC236}">
                    <a16:creationId xmlns:a16="http://schemas.microsoft.com/office/drawing/2014/main" id="{40BB6AD7-96A5-357E-8478-A6BD020259FB}"/>
                  </a:ext>
                </a:extLst>
              </p:cNvPr>
              <p:cNvGrpSpPr/>
              <p:nvPr/>
            </p:nvGrpSpPr>
            <p:grpSpPr>
              <a:xfrm>
                <a:off x="9872659" y="5580078"/>
                <a:ext cx="597931" cy="300817"/>
                <a:chOff x="7493876" y="2774731"/>
                <a:chExt cx="1481958" cy="894622"/>
              </a:xfrm>
            </p:grpSpPr>
            <p:sp>
              <p:nvSpPr>
                <p:cNvPr id="124" name="Freeform 271">
                  <a:extLst>
                    <a:ext uri="{FF2B5EF4-FFF2-40B4-BE49-F238E27FC236}">
                      <a16:creationId xmlns:a16="http://schemas.microsoft.com/office/drawing/2014/main" id="{95D76EAC-4171-3680-31A1-8DA6D1340B7F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25" name="Oval 272">
                  <a:extLst>
                    <a:ext uri="{FF2B5EF4-FFF2-40B4-BE49-F238E27FC236}">
                      <a16:creationId xmlns:a16="http://schemas.microsoft.com/office/drawing/2014/main" id="{61D3FE39-F74F-FDCF-4DF1-2FEC95D244C2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26" name="Group 273">
                  <a:extLst>
                    <a:ext uri="{FF2B5EF4-FFF2-40B4-BE49-F238E27FC236}">
                      <a16:creationId xmlns:a16="http://schemas.microsoft.com/office/drawing/2014/main" id="{63565478-708F-D341-1FF3-D8BB639CD92F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27" name="Freeform 274">
                    <a:extLst>
                      <a:ext uri="{FF2B5EF4-FFF2-40B4-BE49-F238E27FC236}">
                        <a16:creationId xmlns:a16="http://schemas.microsoft.com/office/drawing/2014/main" id="{9F4E8D15-AAD1-A622-9FAF-B1D31D7E2D09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Freeform 275">
                    <a:extLst>
                      <a:ext uri="{FF2B5EF4-FFF2-40B4-BE49-F238E27FC236}">
                        <a16:creationId xmlns:a16="http://schemas.microsoft.com/office/drawing/2014/main" id="{6CB3593D-44E8-BD3D-4D98-0A208001BBC2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9" name="Freeform 276">
                    <a:extLst>
                      <a:ext uri="{FF2B5EF4-FFF2-40B4-BE49-F238E27FC236}">
                        <a16:creationId xmlns:a16="http://schemas.microsoft.com/office/drawing/2014/main" id="{53248405-5E07-EFB0-3CF9-9F5DACBEF559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0" name="Freeform 277">
                    <a:extLst>
                      <a:ext uri="{FF2B5EF4-FFF2-40B4-BE49-F238E27FC236}">
                        <a16:creationId xmlns:a16="http://schemas.microsoft.com/office/drawing/2014/main" id="{DB9F0A78-7575-B119-1F48-BE5C0514D6E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31" name="Group 278">
                <a:extLst>
                  <a:ext uri="{FF2B5EF4-FFF2-40B4-BE49-F238E27FC236}">
                    <a16:creationId xmlns:a16="http://schemas.microsoft.com/office/drawing/2014/main" id="{CA08EBF1-C7F3-A8CD-4E0F-C7B9B0F85DD0}"/>
                  </a:ext>
                </a:extLst>
              </p:cNvPr>
              <p:cNvGrpSpPr/>
              <p:nvPr/>
            </p:nvGrpSpPr>
            <p:grpSpPr>
              <a:xfrm>
                <a:off x="7435620" y="3392047"/>
                <a:ext cx="597931" cy="300817"/>
                <a:chOff x="7493876" y="2774731"/>
                <a:chExt cx="1481958" cy="894622"/>
              </a:xfrm>
            </p:grpSpPr>
            <p:sp>
              <p:nvSpPr>
                <p:cNvPr id="132" name="Freeform 279">
                  <a:extLst>
                    <a:ext uri="{FF2B5EF4-FFF2-40B4-BE49-F238E27FC236}">
                      <a16:creationId xmlns:a16="http://schemas.microsoft.com/office/drawing/2014/main" id="{9FCAD6E5-91A7-D60C-7C3A-33FEAD056503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33" name="Oval 280">
                  <a:extLst>
                    <a:ext uri="{FF2B5EF4-FFF2-40B4-BE49-F238E27FC236}">
                      <a16:creationId xmlns:a16="http://schemas.microsoft.com/office/drawing/2014/main" id="{52FAF147-0F21-3219-40CE-5886D1489CF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34" name="Group 281">
                  <a:extLst>
                    <a:ext uri="{FF2B5EF4-FFF2-40B4-BE49-F238E27FC236}">
                      <a16:creationId xmlns:a16="http://schemas.microsoft.com/office/drawing/2014/main" id="{FC167929-8D15-306E-334C-CC50C93326AC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35" name="Freeform 282">
                    <a:extLst>
                      <a:ext uri="{FF2B5EF4-FFF2-40B4-BE49-F238E27FC236}">
                        <a16:creationId xmlns:a16="http://schemas.microsoft.com/office/drawing/2014/main" id="{9CE030C0-BC16-9EE1-5454-1364D7836AF0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6" name="Freeform 283">
                    <a:extLst>
                      <a:ext uri="{FF2B5EF4-FFF2-40B4-BE49-F238E27FC236}">
                        <a16:creationId xmlns:a16="http://schemas.microsoft.com/office/drawing/2014/main" id="{C2FBA6E4-431F-6E95-628D-7F84BD17254E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7" name="Freeform 284">
                    <a:extLst>
                      <a:ext uri="{FF2B5EF4-FFF2-40B4-BE49-F238E27FC236}">
                        <a16:creationId xmlns:a16="http://schemas.microsoft.com/office/drawing/2014/main" id="{3D40F1B4-2AEB-1E66-69A9-2FC134E873EF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8" name="Freeform 285">
                    <a:extLst>
                      <a:ext uri="{FF2B5EF4-FFF2-40B4-BE49-F238E27FC236}">
                        <a16:creationId xmlns:a16="http://schemas.microsoft.com/office/drawing/2014/main" id="{A76D19D1-9C76-160F-8DFC-7A57A670B16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39" name="Group 286">
                <a:extLst>
                  <a:ext uri="{FF2B5EF4-FFF2-40B4-BE49-F238E27FC236}">
                    <a16:creationId xmlns:a16="http://schemas.microsoft.com/office/drawing/2014/main" id="{FDF1F121-32B9-31F6-C479-597309A55DF4}"/>
                  </a:ext>
                </a:extLst>
              </p:cNvPr>
              <p:cNvGrpSpPr/>
              <p:nvPr/>
            </p:nvGrpSpPr>
            <p:grpSpPr>
              <a:xfrm>
                <a:off x="8592227" y="3654665"/>
                <a:ext cx="597931" cy="300817"/>
                <a:chOff x="7493876" y="2774731"/>
                <a:chExt cx="1481958" cy="894622"/>
              </a:xfrm>
            </p:grpSpPr>
            <p:sp>
              <p:nvSpPr>
                <p:cNvPr id="140" name="Freeform 287">
                  <a:extLst>
                    <a:ext uri="{FF2B5EF4-FFF2-40B4-BE49-F238E27FC236}">
                      <a16:creationId xmlns:a16="http://schemas.microsoft.com/office/drawing/2014/main" id="{692B27AA-067C-95A8-7DE3-F012172062FC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41" name="Oval 288">
                  <a:extLst>
                    <a:ext uri="{FF2B5EF4-FFF2-40B4-BE49-F238E27FC236}">
                      <a16:creationId xmlns:a16="http://schemas.microsoft.com/office/drawing/2014/main" id="{AEA68262-FEE5-4C92-1F09-8EF5CD576672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42" name="Group 289">
                  <a:extLst>
                    <a:ext uri="{FF2B5EF4-FFF2-40B4-BE49-F238E27FC236}">
                      <a16:creationId xmlns:a16="http://schemas.microsoft.com/office/drawing/2014/main" id="{34A69F28-4B6A-4AB4-C939-3724277703EB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43" name="Freeform 290">
                    <a:extLst>
                      <a:ext uri="{FF2B5EF4-FFF2-40B4-BE49-F238E27FC236}">
                        <a16:creationId xmlns:a16="http://schemas.microsoft.com/office/drawing/2014/main" id="{9FA86A65-D892-5F4C-E1BF-D9E42782793A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4" name="Freeform 291">
                    <a:extLst>
                      <a:ext uri="{FF2B5EF4-FFF2-40B4-BE49-F238E27FC236}">
                        <a16:creationId xmlns:a16="http://schemas.microsoft.com/office/drawing/2014/main" id="{8B6A5827-7970-D3A6-2DCA-78D43DA0888B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5" name="Freeform 292">
                    <a:extLst>
                      <a:ext uri="{FF2B5EF4-FFF2-40B4-BE49-F238E27FC236}">
                        <a16:creationId xmlns:a16="http://schemas.microsoft.com/office/drawing/2014/main" id="{82397E87-C782-506F-A9F4-07CE87F5CA36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6" name="Freeform 293">
                    <a:extLst>
                      <a:ext uri="{FF2B5EF4-FFF2-40B4-BE49-F238E27FC236}">
                        <a16:creationId xmlns:a16="http://schemas.microsoft.com/office/drawing/2014/main" id="{4977D6D3-8BF0-7F92-0267-A771400C3ECB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7" name="Group 294">
                <a:extLst>
                  <a:ext uri="{FF2B5EF4-FFF2-40B4-BE49-F238E27FC236}">
                    <a16:creationId xmlns:a16="http://schemas.microsoft.com/office/drawing/2014/main" id="{21EA9EDC-0B39-E956-C432-AAD2E4ED0C81}"/>
                  </a:ext>
                </a:extLst>
              </p:cNvPr>
              <p:cNvGrpSpPr/>
              <p:nvPr/>
            </p:nvGrpSpPr>
            <p:grpSpPr>
              <a:xfrm>
                <a:off x="6283095" y="3660108"/>
                <a:ext cx="597931" cy="300817"/>
                <a:chOff x="7493876" y="2774731"/>
                <a:chExt cx="1481958" cy="894622"/>
              </a:xfrm>
            </p:grpSpPr>
            <p:sp>
              <p:nvSpPr>
                <p:cNvPr id="148" name="Freeform 295">
                  <a:extLst>
                    <a:ext uri="{FF2B5EF4-FFF2-40B4-BE49-F238E27FC236}">
                      <a16:creationId xmlns:a16="http://schemas.microsoft.com/office/drawing/2014/main" id="{06364F91-D1B7-66B1-4D04-0521F35A819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49" name="Oval 296">
                  <a:extLst>
                    <a:ext uri="{FF2B5EF4-FFF2-40B4-BE49-F238E27FC236}">
                      <a16:creationId xmlns:a16="http://schemas.microsoft.com/office/drawing/2014/main" id="{C48A0504-8971-FD6B-22D8-DD5A84853987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0" name="Group 297">
                  <a:extLst>
                    <a:ext uri="{FF2B5EF4-FFF2-40B4-BE49-F238E27FC236}">
                      <a16:creationId xmlns:a16="http://schemas.microsoft.com/office/drawing/2014/main" id="{84F883C3-F9F9-C209-B532-A0E31E63C73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51" name="Freeform 298">
                    <a:extLst>
                      <a:ext uri="{FF2B5EF4-FFF2-40B4-BE49-F238E27FC236}">
                        <a16:creationId xmlns:a16="http://schemas.microsoft.com/office/drawing/2014/main" id="{B11B5318-E2CF-0149-57F5-B6006A0B945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2" name="Freeform 299">
                    <a:extLst>
                      <a:ext uri="{FF2B5EF4-FFF2-40B4-BE49-F238E27FC236}">
                        <a16:creationId xmlns:a16="http://schemas.microsoft.com/office/drawing/2014/main" id="{A6AEF7DE-9B81-88B2-A8A7-43ACE2AA4889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3" name="Freeform 300">
                    <a:extLst>
                      <a:ext uri="{FF2B5EF4-FFF2-40B4-BE49-F238E27FC236}">
                        <a16:creationId xmlns:a16="http://schemas.microsoft.com/office/drawing/2014/main" id="{DEE46466-65F2-A857-620C-A5933829A6F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4" name="Freeform 301">
                    <a:extLst>
                      <a:ext uri="{FF2B5EF4-FFF2-40B4-BE49-F238E27FC236}">
                        <a16:creationId xmlns:a16="http://schemas.microsoft.com/office/drawing/2014/main" id="{66904466-219A-120F-D706-B4816AD3761F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63" name="Line 244">
                <a:extLst>
                  <a:ext uri="{FF2B5EF4-FFF2-40B4-BE49-F238E27FC236}">
                    <a16:creationId xmlns:a16="http://schemas.microsoft.com/office/drawing/2014/main" id="{6EDC14CF-2D73-9679-0E95-2E11040D5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08100" y="3235193"/>
                <a:ext cx="644344" cy="1823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64" name="Line 242">
                <a:extLst>
                  <a:ext uri="{FF2B5EF4-FFF2-40B4-BE49-F238E27FC236}">
                    <a16:creationId xmlns:a16="http://schemas.microsoft.com/office/drawing/2014/main" id="{B41A818B-FF2F-5E7A-A2B7-3941EF076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102294" y="3448325"/>
                <a:ext cx="1394365" cy="3312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65" name="Line 244">
                <a:extLst>
                  <a:ext uri="{FF2B5EF4-FFF2-40B4-BE49-F238E27FC236}">
                    <a16:creationId xmlns:a16="http://schemas.microsoft.com/office/drawing/2014/main" id="{55580318-9DDD-90E9-2EBD-B0F4C82BB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3915" y="5784201"/>
                <a:ext cx="840598" cy="831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66" name="Line 242">
                <a:extLst>
                  <a:ext uri="{FF2B5EF4-FFF2-40B4-BE49-F238E27FC236}">
                    <a16:creationId xmlns:a16="http://schemas.microsoft.com/office/drawing/2014/main" id="{B0B6C2F1-F38A-8971-E227-C8D14EEAD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63345" y="3842448"/>
                <a:ext cx="32893" cy="167105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68" name="Line 242">
                <a:extLst>
                  <a:ext uri="{FF2B5EF4-FFF2-40B4-BE49-F238E27FC236}">
                    <a16:creationId xmlns:a16="http://schemas.microsoft.com/office/drawing/2014/main" id="{8520AFC1-AEA1-A126-AABA-200B27A1D3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212198" y="3816966"/>
                <a:ext cx="1106453" cy="26008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69" name="Line 242">
                <a:extLst>
                  <a:ext uri="{FF2B5EF4-FFF2-40B4-BE49-F238E27FC236}">
                    <a16:creationId xmlns:a16="http://schemas.microsoft.com/office/drawing/2014/main" id="{B7975A88-4610-DF87-F676-016545922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6415" y="4118206"/>
                <a:ext cx="924389" cy="16354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70" name="Line 242">
                <a:extLst>
                  <a:ext uri="{FF2B5EF4-FFF2-40B4-BE49-F238E27FC236}">
                    <a16:creationId xmlns:a16="http://schemas.microsoft.com/office/drawing/2014/main" id="{97032B86-59E1-3547-B68C-4F577424E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10822" y="4982984"/>
                <a:ext cx="903305" cy="104667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59" name="Rectangle 311">
              <a:extLst>
                <a:ext uri="{FF2B5EF4-FFF2-40B4-BE49-F238E27FC236}">
                  <a16:creationId xmlns:a16="http://schemas.microsoft.com/office/drawing/2014/main" id="{EC9DB6DB-EF0A-5944-8F20-34B07BE4EC98}"/>
                </a:ext>
              </a:extLst>
            </p:cNvPr>
            <p:cNvSpPr/>
            <p:nvPr/>
          </p:nvSpPr>
          <p:spPr>
            <a:xfrm>
              <a:off x="202971" y="5156812"/>
              <a:ext cx="38252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Local </a:t>
              </a:r>
              <a:r>
                <a:rPr lang="en-US" altLang="zh-CN" sz="2000" dirty="0">
                  <a:solidFill>
                    <a:srgbClr val="C00000"/>
                  </a:solidFill>
                </a:rPr>
                <a:t>R</a:t>
              </a:r>
              <a:r>
                <a:rPr lang="en-US" altLang="ja-JP" sz="2000" dirty="0">
                  <a:solidFill>
                    <a:srgbClr val="C00000"/>
                  </a:solidFill>
                </a:rPr>
                <a:t>outer(</a:t>
              </a:r>
              <a:r>
                <a:rPr lang="zh-CN" altLang="en-US" sz="2000" dirty="0">
                  <a:solidFill>
                    <a:srgbClr val="C00000"/>
                  </a:solidFill>
                </a:rPr>
                <a:t>本地或内部路由器</a:t>
              </a:r>
              <a:r>
                <a:rPr lang="en-US" altLang="zh-CN" sz="2000" dirty="0">
                  <a:solidFill>
                    <a:srgbClr val="C00000"/>
                  </a:solidFill>
                </a:rPr>
                <a:t>)</a:t>
              </a:r>
              <a:r>
                <a:rPr lang="en-US" altLang="ja-JP" sz="2000" dirty="0">
                  <a:solidFill>
                    <a:srgbClr val="C00000"/>
                  </a:solidFill>
                </a:rPr>
                <a:t>: 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仅连接到本地区域</a:t>
              </a:r>
              <a:endParaRPr lang="en-US" altLang="zh-CN" sz="2000" dirty="0"/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本地区域扩散</a:t>
              </a:r>
              <a:endParaRPr lang="en-US" altLang="ja-JP" sz="2000" dirty="0"/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zh-CN" altLang="en-US" sz="2000" dirty="0"/>
                <a:t>区域间的路由都要通过</a:t>
              </a:r>
              <a:r>
                <a:rPr lang="en-US" altLang="zh-CN" sz="2000" dirty="0"/>
                <a:t>ABR</a:t>
              </a:r>
              <a:endParaRPr lang="en-US" sz="2000" dirty="0"/>
            </a:p>
          </p:txBody>
        </p:sp>
        <p:sp>
          <p:nvSpPr>
            <p:cNvPr id="162" name="Rectangle 305">
              <a:extLst>
                <a:ext uri="{FF2B5EF4-FFF2-40B4-BE49-F238E27FC236}">
                  <a16:creationId xmlns:a16="http://schemas.microsoft.com/office/drawing/2014/main" id="{72B91C5D-6B22-AC44-5F87-0AA77D9329E0}"/>
                </a:ext>
              </a:extLst>
            </p:cNvPr>
            <p:cNvSpPr/>
            <p:nvPr/>
          </p:nvSpPr>
          <p:spPr>
            <a:xfrm>
              <a:off x="9300584" y="3542904"/>
              <a:ext cx="2432039" cy="5909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rgbClr val="C00000"/>
                  </a:solidFill>
                </a:rPr>
                <a:t>ASBR(AS</a:t>
              </a:r>
              <a:r>
                <a:rPr lang="zh-CN" altLang="en-US" dirty="0">
                  <a:solidFill>
                    <a:srgbClr val="C00000"/>
                  </a:solidFill>
                </a:rPr>
                <a:t> </a:t>
              </a:r>
              <a:r>
                <a:rPr lang="en-US" altLang="ja-JP" dirty="0">
                  <a:solidFill>
                    <a:srgbClr val="C00000"/>
                  </a:solidFill>
                </a:rPr>
                <a:t>boundary router): </a:t>
              </a:r>
              <a:r>
                <a:rPr lang="zh-CN" altLang="en-US" dirty="0"/>
                <a:t>连接到其他</a:t>
              </a:r>
              <a:r>
                <a:rPr lang="en-US" altLang="zh-CN" dirty="0"/>
                <a:t>AS</a:t>
              </a:r>
              <a:endParaRPr lang="en-US" dirty="0"/>
            </a:p>
          </p:txBody>
        </p:sp>
        <p:sp>
          <p:nvSpPr>
            <p:cNvPr id="167" name="Rectangle 305">
              <a:extLst>
                <a:ext uri="{FF2B5EF4-FFF2-40B4-BE49-F238E27FC236}">
                  <a16:creationId xmlns:a16="http://schemas.microsoft.com/office/drawing/2014/main" id="{985362CF-14E1-EAFC-6A0A-D895AEC4DFD0}"/>
                </a:ext>
              </a:extLst>
            </p:cNvPr>
            <p:cNvSpPr/>
            <p:nvPr/>
          </p:nvSpPr>
          <p:spPr>
            <a:xfrm>
              <a:off x="10100154" y="4233832"/>
              <a:ext cx="2058284" cy="10895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dirty="0">
                  <a:solidFill>
                    <a:srgbClr val="C00000"/>
                  </a:solidFill>
                </a:rPr>
                <a:t>Backbone Router:</a:t>
              </a:r>
            </a:p>
            <a:p>
              <a:pPr marL="285750" indent="-28575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仅连接到主干区域</a:t>
              </a:r>
              <a:endParaRPr lang="en-US" altLang="zh-CN" dirty="0"/>
            </a:p>
            <a:p>
              <a:pPr marL="285750" indent="-28575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/>
                <a:t>主干区域扩散</a:t>
              </a:r>
              <a:endParaRPr lang="en-US" altLang="ja-JP" dirty="0"/>
            </a:p>
          </p:txBody>
        </p:sp>
      </p:grpSp>
    </p:spTree>
    <p:extLst>
      <p:ext uri="{BB962C8B-B14F-4D97-AF65-F5344CB8AC3E}">
        <p14:creationId xmlns:p14="http://schemas.microsoft.com/office/powerpoint/2010/main" val="395010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FD699-35B3-9F56-7150-A571CE2A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049D00-2FD4-3901-5C75-C02D4C82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5.1 </a:t>
            </a:r>
            <a:r>
              <a:rPr lang="zh-CN" altLang="en-US" sz="2800" dirty="0"/>
              <a:t>概述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5.2 </a:t>
            </a:r>
            <a:r>
              <a:rPr lang="zh-CN" altLang="en-US" sz="2800" dirty="0"/>
              <a:t>路由选择算法：</a:t>
            </a:r>
            <a:endParaRPr lang="en-US" altLang="zh-CN" sz="2800" dirty="0"/>
          </a:p>
          <a:p>
            <a:pPr lvl="1"/>
            <a:r>
              <a:rPr lang="zh-CN" altLang="en-US" sz="2800" dirty="0"/>
              <a:t>链路状态路由算法</a:t>
            </a:r>
            <a:endParaRPr lang="en-US" altLang="zh-CN" sz="2800" dirty="0"/>
          </a:p>
          <a:p>
            <a:pPr lvl="1"/>
            <a:r>
              <a:rPr lang="zh-CN" altLang="en-US" sz="2800" dirty="0"/>
              <a:t>距离向量路由算法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5.3 Internet</a:t>
            </a:r>
            <a:r>
              <a:rPr lang="zh-CN" altLang="en-US" sz="2800" dirty="0"/>
              <a:t>中自治系统的路由：</a:t>
            </a:r>
            <a:r>
              <a:rPr lang="en-US" altLang="zh-CN" sz="2800" dirty="0"/>
              <a:t>OSPF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chemeClr val="accent4"/>
                </a:solidFill>
              </a:rPr>
              <a:t>5.4 ISP</a:t>
            </a:r>
            <a:r>
              <a:rPr lang="zh-CN" altLang="en-US" sz="2800" b="1" dirty="0">
                <a:solidFill>
                  <a:schemeClr val="accent4"/>
                </a:solidFill>
              </a:rPr>
              <a:t>之间的路由选择：</a:t>
            </a:r>
            <a:r>
              <a:rPr lang="en-US" altLang="zh-CN" sz="2800" b="1" dirty="0">
                <a:solidFill>
                  <a:schemeClr val="accent4"/>
                </a:solidFill>
              </a:rPr>
              <a:t>BGP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5.5 SDN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控制平面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5.6 ICMP(</a:t>
            </a:r>
            <a:r>
              <a:rPr lang="zh-CN" altLang="en-US" sz="2800" dirty="0"/>
              <a:t>已介绍</a:t>
            </a:r>
            <a:r>
              <a:rPr lang="en-US" altLang="zh-CN" sz="2800" dirty="0"/>
              <a:t>)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bg2">
                    <a:lumMod val="75000"/>
                  </a:schemeClr>
                </a:solidFill>
              </a:rPr>
              <a:t>5.8 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网络管理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1860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4B469-DD91-D4B4-9DB1-5DDF3041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AS</a:t>
            </a:r>
            <a:r>
              <a:rPr lang="zh-CN" altLang="en-US" b="1" dirty="0"/>
              <a:t>之间的路由协议：</a:t>
            </a:r>
            <a:r>
              <a:rPr lang="zh-CN" altLang="zh-CN" b="1" dirty="0"/>
              <a:t>边界网关协议</a:t>
            </a:r>
            <a:r>
              <a:rPr lang="en-US" altLang="zh-CN" b="1" dirty="0"/>
              <a:t>BGP</a:t>
            </a:r>
            <a:r>
              <a:rPr lang="zh-CN" altLang="zh-CN" dirty="0"/>
              <a:t>（</a:t>
            </a:r>
            <a:r>
              <a:rPr lang="en-US" altLang="zh-CN" dirty="0"/>
              <a:t>border gateway protocol</a:t>
            </a:r>
            <a:r>
              <a:rPr lang="zh-CN" altLang="zh-CN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AAC5D-3B46-EA6B-EC92-AD97CED3A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3811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RFC 4271</a:t>
            </a:r>
            <a:r>
              <a:rPr lang="zh-CN" altLang="en-US" sz="1800" dirty="0"/>
              <a:t>定义</a:t>
            </a:r>
            <a:r>
              <a:rPr lang="en-US" altLang="zh-CN" sz="1800" dirty="0"/>
              <a:t>BGP-4</a:t>
            </a:r>
            <a:r>
              <a:rPr lang="zh-CN" altLang="en-US" sz="1800" dirty="0"/>
              <a:t>，工作于</a:t>
            </a:r>
            <a:r>
              <a:rPr lang="en-US" altLang="zh-CN" sz="1800" dirty="0"/>
              <a:t>TCP</a:t>
            </a:r>
            <a:r>
              <a:rPr lang="zh-CN" altLang="en-US" sz="1800" dirty="0"/>
              <a:t>之上，端口号</a:t>
            </a:r>
            <a:r>
              <a:rPr lang="en-US" altLang="zh-CN" sz="1800" dirty="0"/>
              <a:t>179</a:t>
            </a:r>
          </a:p>
          <a:p>
            <a:r>
              <a:rPr lang="zh-CN" altLang="en-US" sz="1800" dirty="0"/>
              <a:t>允许</a:t>
            </a:r>
            <a:r>
              <a:rPr lang="en-US" altLang="zh-CN" sz="1800" dirty="0"/>
              <a:t>AS</a:t>
            </a:r>
            <a:r>
              <a:rPr lang="zh-CN" altLang="en-US" sz="1800" dirty="0"/>
              <a:t>向</a:t>
            </a:r>
            <a:r>
              <a:rPr lang="en-US" altLang="zh-CN" sz="1800" dirty="0"/>
              <a:t>Internet</a:t>
            </a:r>
            <a:r>
              <a:rPr lang="zh-CN" altLang="en-US" sz="1800" dirty="0"/>
              <a:t>宣告</a:t>
            </a:r>
            <a:r>
              <a:rPr lang="en-US" altLang="zh-CN" sz="1800" dirty="0"/>
              <a:t>AS</a:t>
            </a:r>
            <a:r>
              <a:rPr lang="zh-CN" altLang="en-US" sz="1800" dirty="0"/>
              <a:t>的存在，以及通过其可以以及怎么到达各个子网（网络前缀）：我的自治系统编号、网络前缀、到达网络前缀所经过的路径（自治系统编号）以及其他的路径属性</a:t>
            </a:r>
            <a:endParaRPr lang="en-US" altLang="zh-CN" sz="1800" dirty="0"/>
          </a:p>
          <a:p>
            <a:pPr lvl="1"/>
            <a:r>
              <a:rPr lang="zh-CN" altLang="en-US" dirty="0"/>
              <a:t>多个路由前缀： </a:t>
            </a:r>
            <a:r>
              <a:rPr lang="en-US" altLang="zh-CN" dirty="0"/>
              <a:t>Network/Mask</a:t>
            </a:r>
          </a:p>
          <a:p>
            <a:pPr lvl="1"/>
            <a:r>
              <a:rPr lang="zh-CN" altLang="en-US" dirty="0"/>
              <a:t>多个路径属性：必选的 </a:t>
            </a:r>
            <a:r>
              <a:rPr lang="en-US" altLang="zh-CN" dirty="0"/>
              <a:t>+ </a:t>
            </a:r>
            <a:r>
              <a:rPr lang="zh-CN" altLang="en-US" dirty="0"/>
              <a:t>可选的路径属性</a:t>
            </a:r>
            <a:endParaRPr lang="en-US" altLang="zh-CN" dirty="0"/>
          </a:p>
          <a:p>
            <a:pPr lvl="2"/>
            <a:r>
              <a:rPr lang="en-US" altLang="zh-CN" sz="1800" dirty="0"/>
              <a:t>AS-PATH</a:t>
            </a:r>
            <a:r>
              <a:rPr lang="zh-CN" altLang="en-US" sz="1800" dirty="0"/>
              <a:t>：路径向量，经过的</a:t>
            </a:r>
            <a:r>
              <a:rPr lang="en-US" altLang="zh-CN" sz="1800" dirty="0"/>
              <a:t>AS</a:t>
            </a:r>
            <a:r>
              <a:rPr lang="zh-CN" altLang="en-US" sz="1800" dirty="0"/>
              <a:t>列表</a:t>
            </a:r>
            <a:endParaRPr lang="en-US" altLang="zh-CN" sz="1800" dirty="0"/>
          </a:p>
          <a:p>
            <a:pPr lvl="2"/>
            <a:r>
              <a:rPr lang="en-US" altLang="zh-CN" sz="1800" dirty="0"/>
              <a:t>NEXT-HOP</a:t>
            </a:r>
            <a:r>
              <a:rPr lang="zh-CN" altLang="en-US" sz="1800" dirty="0"/>
              <a:t>：发布路由到自治系统的该路由器的</a:t>
            </a:r>
            <a:r>
              <a:rPr lang="en-US" altLang="zh-CN" sz="1800" dirty="0"/>
              <a:t>IP</a:t>
            </a:r>
            <a:r>
              <a:rPr lang="zh-CN" altLang="en-US" sz="1800" dirty="0"/>
              <a:t>地址，</a:t>
            </a:r>
            <a:r>
              <a:rPr lang="en-US" altLang="zh-CN" sz="1800" dirty="0"/>
              <a:t>NEXT-HOP ---&gt; AS-PATH  ---&gt; Prefix</a:t>
            </a:r>
          </a:p>
          <a:p>
            <a:r>
              <a:rPr lang="en-US" altLang="zh-CN" sz="1800" dirty="0"/>
              <a:t>BGP</a:t>
            </a:r>
            <a:r>
              <a:rPr lang="zh-CN" altLang="en-US" sz="1800" dirty="0"/>
              <a:t>路由器：</a:t>
            </a:r>
            <a:endParaRPr lang="en-US" altLang="zh-CN" sz="1800" dirty="0"/>
          </a:p>
          <a:p>
            <a:pPr lvl="1"/>
            <a:r>
              <a:rPr lang="zh-CN" altLang="en-US" dirty="0"/>
              <a:t>从邻居</a:t>
            </a:r>
            <a:r>
              <a:rPr lang="en-US" altLang="zh-CN" dirty="0"/>
              <a:t>AS</a:t>
            </a:r>
            <a:r>
              <a:rPr lang="zh-CN" altLang="en-US" dirty="0"/>
              <a:t>获取网络可达性信息，将</a:t>
            </a:r>
            <a:r>
              <a:rPr lang="en-US" altLang="zh-CN" dirty="0"/>
              <a:t>AS</a:t>
            </a:r>
            <a:r>
              <a:rPr lang="zh-CN" altLang="en-US" dirty="0"/>
              <a:t>内部了解到以及邻居</a:t>
            </a:r>
            <a:r>
              <a:rPr lang="en-US" altLang="zh-CN" dirty="0"/>
              <a:t>AS</a:t>
            </a:r>
            <a:r>
              <a:rPr lang="zh-CN" altLang="en-US" dirty="0"/>
              <a:t>了解到的网络可达性信息发布给其他邻居</a:t>
            </a:r>
            <a:r>
              <a:rPr lang="en-US" altLang="zh-CN" dirty="0"/>
              <a:t>AS</a:t>
            </a:r>
          </a:p>
          <a:p>
            <a:pPr lvl="1"/>
            <a:r>
              <a:rPr lang="zh-CN" altLang="en-US" dirty="0"/>
              <a:t>基于路径属性以及策略决定“最好”的路由</a:t>
            </a: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35F98E-89F9-F0AF-0F2F-07DA1E6A2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144354"/>
              </p:ext>
            </p:extLst>
          </p:nvPr>
        </p:nvGraphicFramePr>
        <p:xfrm>
          <a:off x="579218" y="4540254"/>
          <a:ext cx="11153405" cy="190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2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2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186"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RIP</a:t>
                      </a:r>
                      <a:endParaRPr lang="zh-CN" altLang="en-US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OSPF</a:t>
                      </a:r>
                      <a:endParaRPr lang="zh-CN" altLang="en-US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BGP</a:t>
                      </a:r>
                      <a:endParaRPr lang="zh-CN" altLang="en-US" sz="2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1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邻居发现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定期交换路由表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定期交换</a:t>
                      </a:r>
                      <a:r>
                        <a:rPr lang="en-US" altLang="zh-CN" sz="2000" dirty="0"/>
                        <a:t>Hello</a:t>
                      </a:r>
                      <a:r>
                        <a:rPr lang="zh-CN" altLang="en-US" sz="2000" dirty="0"/>
                        <a:t>分组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管理人员配置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15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路由信息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邻居间交换距离向量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扩散链路状态分组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u="sng" dirty="0">
                          <a:solidFill>
                            <a:srgbClr val="FF0000"/>
                          </a:solidFill>
                        </a:rPr>
                        <a:t>交换路径向量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可靠传输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UDP</a:t>
                      </a:r>
                      <a:r>
                        <a:rPr lang="zh-CN" altLang="en-US" sz="2000" dirty="0"/>
                        <a:t>，软状态的定期交换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IP</a:t>
                      </a:r>
                      <a:r>
                        <a:rPr lang="zh-CN" altLang="en-US" sz="2000" dirty="0"/>
                        <a:t>，可靠扩散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TCP</a:t>
                      </a:r>
                      <a:r>
                        <a:rPr lang="zh-CN" altLang="en-US" sz="2000" dirty="0"/>
                        <a:t>，增量更新：新增或撤销路由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E620C41A-57FD-0070-78D8-2A2B1A87494F}"/>
              </a:ext>
            </a:extLst>
          </p:cNvPr>
          <p:cNvGrpSpPr/>
          <p:nvPr/>
        </p:nvGrpSpPr>
        <p:grpSpPr>
          <a:xfrm>
            <a:off x="8511257" y="1538169"/>
            <a:ext cx="3680742" cy="2236616"/>
            <a:chOff x="8339750" y="0"/>
            <a:chExt cx="3680742" cy="2236616"/>
          </a:xfrm>
        </p:grpSpPr>
        <p:sp>
          <p:nvSpPr>
            <p:cNvPr id="19" name="云形 18">
              <a:extLst>
                <a:ext uri="{FF2B5EF4-FFF2-40B4-BE49-F238E27FC236}">
                  <a16:creationId xmlns:a16="http://schemas.microsoft.com/office/drawing/2014/main" id="{1E12BA1C-86D6-6563-37DA-A748077A19A9}"/>
                </a:ext>
              </a:extLst>
            </p:cNvPr>
            <p:cNvSpPr/>
            <p:nvPr/>
          </p:nvSpPr>
          <p:spPr>
            <a:xfrm>
              <a:off x="8339750" y="91111"/>
              <a:ext cx="1313676" cy="1126214"/>
            </a:xfrm>
            <a:prstGeom prst="cloud">
              <a:avLst/>
            </a:prstGeom>
            <a:solidFill>
              <a:srgbClr val="3333CC">
                <a:lumMod val="20000"/>
                <a:lumOff val="80000"/>
              </a:srgbClr>
            </a:solidFill>
            <a:ln w="12700" cap="flat" cmpd="sng" algn="ctr">
              <a:solidFill>
                <a:srgbClr val="3E409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60D003C-A339-B420-E509-898C33BD6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rgbClr val="3E409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9078608" y="426848"/>
              <a:ext cx="451414" cy="243480"/>
            </a:xfrm>
            <a:prstGeom prst="rect">
              <a:avLst/>
            </a:prstGeom>
          </p:spPr>
        </p:pic>
        <p:sp>
          <p:nvSpPr>
            <p:cNvPr id="21" name="云形 20">
              <a:extLst>
                <a:ext uri="{FF2B5EF4-FFF2-40B4-BE49-F238E27FC236}">
                  <a16:creationId xmlns:a16="http://schemas.microsoft.com/office/drawing/2014/main" id="{56B6D62D-2D6D-CB9B-8750-35706C5A3BD8}"/>
                </a:ext>
              </a:extLst>
            </p:cNvPr>
            <p:cNvSpPr/>
            <p:nvPr/>
          </p:nvSpPr>
          <p:spPr>
            <a:xfrm>
              <a:off x="10674340" y="0"/>
              <a:ext cx="1313676" cy="1126214"/>
            </a:xfrm>
            <a:prstGeom prst="cloud">
              <a:avLst/>
            </a:prstGeom>
            <a:solidFill>
              <a:srgbClr val="3333CC">
                <a:lumMod val="20000"/>
                <a:lumOff val="80000"/>
              </a:srgbClr>
            </a:solidFill>
            <a:ln w="12700" cap="flat" cmpd="sng" algn="ctr">
              <a:solidFill>
                <a:srgbClr val="3E409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5FB837F-0DBF-3A1A-E972-E24036594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rgbClr val="3E409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0876339" y="418640"/>
              <a:ext cx="436762" cy="235578"/>
            </a:xfrm>
            <a:prstGeom prst="rect">
              <a:avLst/>
            </a:prstGeom>
          </p:spPr>
        </p:pic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38F1AE3-6752-5709-7DA5-B5B19157008E}"/>
                </a:ext>
              </a:extLst>
            </p:cNvPr>
            <p:cNvCxnSpPr>
              <a:stCxn id="20" idx="3"/>
              <a:endCxn id="22" idx="1"/>
            </p:cNvCxnSpPr>
            <p:nvPr/>
          </p:nvCxnSpPr>
          <p:spPr>
            <a:xfrm flipV="1">
              <a:off x="9530022" y="536429"/>
              <a:ext cx="1346317" cy="12159"/>
            </a:xfrm>
            <a:prstGeom prst="line">
              <a:avLst/>
            </a:prstGeom>
            <a:noFill/>
            <a:ln w="38100" cap="flat" cmpd="sng" algn="ctr">
              <a:solidFill>
                <a:srgbClr val="3E4095"/>
              </a:solidFill>
              <a:prstDash val="solid"/>
              <a:miter lim="800000"/>
            </a:ln>
            <a:effectLst/>
          </p:spPr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ABB4563-30E6-92E0-3AA6-5581769C9D4D}"/>
                </a:ext>
              </a:extLst>
            </p:cNvPr>
            <p:cNvSpPr txBox="1"/>
            <p:nvPr/>
          </p:nvSpPr>
          <p:spPr>
            <a:xfrm>
              <a:off x="11039067" y="670328"/>
              <a:ext cx="723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AS 1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59137E1-E2AE-9D71-E009-47950338D79C}"/>
                </a:ext>
              </a:extLst>
            </p:cNvPr>
            <p:cNvSpPr txBox="1"/>
            <p:nvPr/>
          </p:nvSpPr>
          <p:spPr>
            <a:xfrm>
              <a:off x="8495702" y="636679"/>
              <a:ext cx="723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AS 2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4C9E917-4D95-6453-B06A-3F686A2555ED}"/>
                </a:ext>
              </a:extLst>
            </p:cNvPr>
            <p:cNvSpPr txBox="1"/>
            <p:nvPr/>
          </p:nvSpPr>
          <p:spPr>
            <a:xfrm>
              <a:off x="9543028" y="891265"/>
              <a:ext cx="1313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ED3237"/>
                  </a:solidFill>
                  <a:effectLst/>
                  <a:uLnTx/>
                  <a:uFillTx/>
                </a:rPr>
                <a:t>X, (AS 1, ...)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ED3237"/>
                </a:solidFill>
                <a:effectLst/>
                <a:uLnTx/>
                <a:uFillTx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AE4F038-6CE5-4151-02A3-B19DC8711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5818" y="776071"/>
              <a:ext cx="513367" cy="17733"/>
            </a:xfrm>
            <a:prstGeom prst="lin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miter lim="800000"/>
              <a:headEnd type="arrow" w="med" len="med"/>
              <a:tailEnd type="none" w="med" len="med"/>
            </a:ln>
            <a:effectLst/>
          </p:spPr>
        </p:cxnSp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E53272A7-52D6-9FF3-5606-446EB1D8B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2623" y="1682242"/>
              <a:ext cx="287869" cy="228600"/>
            </a:xfrm>
            <a:prstGeom prst="ellipse">
              <a:avLst/>
            </a:prstGeom>
            <a:solidFill>
              <a:srgbClr val="3E4095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2D0F16B-3B02-750F-D254-6384D8677063}"/>
                </a:ext>
              </a:extLst>
            </p:cNvPr>
            <p:cNvSpPr txBox="1"/>
            <p:nvPr/>
          </p:nvSpPr>
          <p:spPr>
            <a:xfrm flipV="1">
              <a:off x="11871960" y="1867284"/>
              <a:ext cx="107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X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5287612A-D0D9-C221-CA91-BC1AD58D1951}"/>
                </a:ext>
              </a:extLst>
            </p:cNvPr>
            <p:cNvSpPr/>
            <p:nvPr/>
          </p:nvSpPr>
          <p:spPr>
            <a:xfrm>
              <a:off x="11512757" y="1005840"/>
              <a:ext cx="435061" cy="704148"/>
            </a:xfrm>
            <a:custGeom>
              <a:avLst/>
              <a:gdLst>
                <a:gd name="connsiteX0" fmla="*/ 0 w 122238"/>
                <a:gd name="connsiteY0" fmla="*/ 0 h 243840"/>
                <a:gd name="connsiteX1" fmla="*/ 60960 w 122238"/>
                <a:gd name="connsiteY1" fmla="*/ 76200 h 243840"/>
                <a:gd name="connsiteX2" fmla="*/ 91440 w 122238"/>
                <a:gd name="connsiteY2" fmla="*/ 167640 h 243840"/>
                <a:gd name="connsiteX3" fmla="*/ 121920 w 122238"/>
                <a:gd name="connsiteY3" fmla="*/ 243840 h 243840"/>
                <a:gd name="connsiteX0" fmla="*/ 19625 w 141545"/>
                <a:gd name="connsiteY0" fmla="*/ 0 h 243840"/>
                <a:gd name="connsiteX1" fmla="*/ 2929 w 141545"/>
                <a:gd name="connsiteY1" fmla="*/ 97310 h 243840"/>
                <a:gd name="connsiteX2" fmla="*/ 111065 w 141545"/>
                <a:gd name="connsiteY2" fmla="*/ 167640 h 243840"/>
                <a:gd name="connsiteX3" fmla="*/ 141545 w 141545"/>
                <a:gd name="connsiteY3" fmla="*/ 243840 h 243840"/>
                <a:gd name="connsiteX0" fmla="*/ 23100 w 184740"/>
                <a:gd name="connsiteY0" fmla="*/ 0 h 243840"/>
                <a:gd name="connsiteX1" fmla="*/ 6404 w 184740"/>
                <a:gd name="connsiteY1" fmla="*/ 97310 h 243840"/>
                <a:gd name="connsiteX2" fmla="*/ 179254 w 184740"/>
                <a:gd name="connsiteY2" fmla="*/ 125420 h 243840"/>
                <a:gd name="connsiteX3" fmla="*/ 145020 w 184740"/>
                <a:gd name="connsiteY3" fmla="*/ 243840 h 24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740" h="243840">
                  <a:moveTo>
                    <a:pt x="23100" y="0"/>
                  </a:moveTo>
                  <a:cubicBezTo>
                    <a:pt x="43420" y="25400"/>
                    <a:pt x="-19622" y="76407"/>
                    <a:pt x="6404" y="97310"/>
                  </a:cubicBezTo>
                  <a:cubicBezTo>
                    <a:pt x="32430" y="118213"/>
                    <a:pt x="156151" y="100998"/>
                    <a:pt x="179254" y="125420"/>
                  </a:cubicBezTo>
                  <a:cubicBezTo>
                    <a:pt x="202357" y="149842"/>
                    <a:pt x="145020" y="195044"/>
                    <a:pt x="145020" y="243840"/>
                  </a:cubicBezTo>
                </a:path>
              </a:pathLst>
            </a:custGeom>
            <a:noFill/>
            <a:ln w="28575" cap="flat" cmpd="sng" algn="ctr">
              <a:solidFill>
                <a:srgbClr val="3E409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62206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2">
            <a:extLst>
              <a:ext uri="{FF2B5EF4-FFF2-40B4-BE49-F238E27FC236}">
                <a16:creationId xmlns:a16="http://schemas.microsoft.com/office/drawing/2014/main" id="{85492DEF-8213-86AD-86E1-7B6E66572361}"/>
              </a:ext>
            </a:extLst>
          </p:cNvPr>
          <p:cNvSpPr>
            <a:spLocks/>
          </p:cNvSpPr>
          <p:nvPr/>
        </p:nvSpPr>
        <p:spPr bwMode="auto">
          <a:xfrm>
            <a:off x="4326732" y="4379575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Freeform 2">
            <a:extLst>
              <a:ext uri="{FF2B5EF4-FFF2-40B4-BE49-F238E27FC236}">
                <a16:creationId xmlns:a16="http://schemas.microsoft.com/office/drawing/2014/main" id="{D141D458-4668-508A-A5D7-AB5A3C990472}"/>
              </a:ext>
            </a:extLst>
          </p:cNvPr>
          <p:cNvSpPr>
            <a:spLocks/>
          </p:cNvSpPr>
          <p:nvPr/>
        </p:nvSpPr>
        <p:spPr bwMode="auto">
          <a:xfrm>
            <a:off x="8248167" y="4551199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996776C-750A-D5DE-093D-34698DB0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eBGP</a:t>
            </a:r>
            <a:r>
              <a:rPr lang="zh-CN" altLang="en-US" dirty="0"/>
              <a:t>和</a:t>
            </a:r>
            <a:r>
              <a:rPr lang="en-US" altLang="zh-CN" dirty="0"/>
              <a:t>iBGP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A59A8E-4621-083C-FA94-934DD3067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3681958"/>
          </a:xfrm>
        </p:spPr>
        <p:txBody>
          <a:bodyPr>
            <a:noAutofit/>
          </a:bodyPr>
          <a:lstStyle/>
          <a:p>
            <a:r>
              <a:rPr lang="en-US" altLang="zh-CN" sz="1800" dirty="0"/>
              <a:t>eBGP</a:t>
            </a:r>
            <a:r>
              <a:rPr lang="zh-CN" altLang="en-US" sz="1800" dirty="0"/>
              <a:t>：两个</a:t>
            </a:r>
            <a:r>
              <a:rPr lang="en-US" altLang="zh-CN" sz="1800" dirty="0"/>
              <a:t>AS</a:t>
            </a:r>
            <a:r>
              <a:rPr lang="zh-CN" altLang="en-US" sz="1800" dirty="0"/>
              <a:t>之间的</a:t>
            </a:r>
            <a:r>
              <a:rPr lang="en-US" altLang="zh-CN" sz="1800" dirty="0"/>
              <a:t>BGP</a:t>
            </a:r>
            <a:r>
              <a:rPr lang="zh-CN" altLang="en-US" sz="1800" dirty="0"/>
              <a:t>路由器之间的</a:t>
            </a:r>
            <a:r>
              <a:rPr lang="en-US" altLang="zh-CN" sz="1800" dirty="0"/>
              <a:t>BGP</a:t>
            </a:r>
            <a:r>
              <a:rPr lang="zh-CN" altLang="en-US" sz="1800" dirty="0"/>
              <a:t>协议</a:t>
            </a:r>
            <a:endParaRPr lang="en-US" altLang="zh-CN" sz="1800" dirty="0"/>
          </a:p>
          <a:p>
            <a:pPr lvl="1"/>
            <a:r>
              <a:rPr lang="en-US" altLang="zh-CN" dirty="0"/>
              <a:t>eBGP</a:t>
            </a:r>
            <a:r>
              <a:rPr lang="zh-CN" altLang="en-US" dirty="0"/>
              <a:t>邻居一般通过直接连接的链路相连</a:t>
            </a:r>
            <a:endParaRPr lang="en-US" altLang="zh-CN" dirty="0"/>
          </a:p>
          <a:p>
            <a:pPr lvl="1"/>
            <a:r>
              <a:rPr lang="zh-CN" altLang="en-US" dirty="0"/>
              <a:t>将网络可达性信息发布给邻居</a:t>
            </a:r>
            <a:r>
              <a:rPr lang="en-US" altLang="zh-CN" dirty="0"/>
              <a:t>AS</a:t>
            </a:r>
            <a:r>
              <a:rPr lang="zh-CN" altLang="en-US" dirty="0"/>
              <a:t>：更新</a:t>
            </a:r>
            <a:r>
              <a:rPr lang="en-US" altLang="zh-CN" dirty="0"/>
              <a:t>AS PATH</a:t>
            </a:r>
            <a:r>
              <a:rPr lang="zh-CN" altLang="en-US" dirty="0"/>
              <a:t>等路径属性</a:t>
            </a:r>
            <a:endParaRPr lang="en-US" altLang="zh-CN" dirty="0"/>
          </a:p>
          <a:p>
            <a:pPr lvl="1"/>
            <a:r>
              <a:rPr lang="en-US" altLang="zh-CN" dirty="0"/>
              <a:t>AS-PATH: </a:t>
            </a:r>
            <a:r>
              <a:rPr lang="zh-CN" altLang="en-US" dirty="0"/>
              <a:t>经过的自治系统列表，可以检测自治系统回路</a:t>
            </a:r>
            <a:endParaRPr lang="en-US" altLang="zh-CN" dirty="0"/>
          </a:p>
          <a:p>
            <a:pPr lvl="2"/>
            <a:r>
              <a:rPr lang="zh-CN" altLang="en-US" sz="1800" dirty="0"/>
              <a:t>路由发布到另一个自治系统的邻居时： 最前面插入自身的</a:t>
            </a:r>
            <a:r>
              <a:rPr lang="en-US" altLang="zh-CN" sz="1800" dirty="0"/>
              <a:t>AS</a:t>
            </a:r>
            <a:r>
              <a:rPr lang="zh-CN" altLang="en-US" sz="1800" dirty="0"/>
              <a:t>编号</a:t>
            </a:r>
            <a:endParaRPr lang="en-US" altLang="zh-CN" sz="1800" dirty="0"/>
          </a:p>
          <a:p>
            <a:pPr lvl="2"/>
            <a:r>
              <a:rPr lang="zh-CN" altLang="en-US" sz="1800" dirty="0"/>
              <a:t>如果从另外一个自治系统的路由器收到一条路由，发现当前自治系统编号已经出现在</a:t>
            </a:r>
            <a:r>
              <a:rPr lang="en-US" altLang="zh-CN" sz="1800" dirty="0"/>
              <a:t>AS-PATH</a:t>
            </a:r>
            <a:r>
              <a:rPr lang="zh-CN" altLang="en-US" sz="1800" dirty="0"/>
              <a:t>，说明有回路，丢弃该路由</a:t>
            </a:r>
            <a:endParaRPr lang="en-US" altLang="zh-CN" sz="1800" dirty="0"/>
          </a:p>
          <a:p>
            <a:r>
              <a:rPr lang="en-US" altLang="zh-CN" sz="1800" dirty="0"/>
              <a:t>iBGP</a:t>
            </a:r>
            <a:r>
              <a:rPr lang="zh-CN" altLang="en-US" sz="1800" dirty="0"/>
              <a:t>：同一个</a:t>
            </a:r>
            <a:r>
              <a:rPr lang="en-US" altLang="zh-CN" sz="1800" dirty="0"/>
              <a:t>AS</a:t>
            </a:r>
            <a:r>
              <a:rPr lang="zh-CN" altLang="en-US" sz="1800" dirty="0"/>
              <a:t>内部的</a:t>
            </a:r>
            <a:r>
              <a:rPr lang="en-US" altLang="zh-CN" sz="1800" dirty="0"/>
              <a:t>BGP</a:t>
            </a:r>
            <a:r>
              <a:rPr lang="zh-CN" altLang="en-US" sz="1800" dirty="0"/>
              <a:t>路由器之间的</a:t>
            </a:r>
            <a:r>
              <a:rPr lang="en-US" altLang="zh-CN" sz="1800" dirty="0"/>
              <a:t>BGP</a:t>
            </a:r>
            <a:r>
              <a:rPr lang="zh-CN" altLang="en-US" sz="1800" dirty="0"/>
              <a:t>协议</a:t>
            </a:r>
            <a:endParaRPr lang="en-US" altLang="zh-CN" sz="1800" dirty="0"/>
          </a:p>
          <a:p>
            <a:pPr lvl="1"/>
            <a:r>
              <a:rPr lang="en-US" altLang="zh-CN" dirty="0"/>
              <a:t>iBGP</a:t>
            </a:r>
            <a:r>
              <a:rPr lang="zh-CN" altLang="en-US" dirty="0"/>
              <a:t>邻居之间可能多跳连接，可有多个中间节点</a:t>
            </a:r>
            <a:endParaRPr lang="en-US" altLang="zh-CN" dirty="0"/>
          </a:p>
          <a:p>
            <a:pPr lvl="1"/>
            <a:r>
              <a:rPr lang="zh-CN" altLang="en-US" dirty="0"/>
              <a:t>将从</a:t>
            </a:r>
            <a:r>
              <a:rPr lang="en-US" altLang="zh-CN" dirty="0"/>
              <a:t>eBGP</a:t>
            </a:r>
            <a:r>
              <a:rPr lang="zh-CN" altLang="en-US" dirty="0"/>
              <a:t>邻居了解或自身的网络可达性信息发布给内部的其他</a:t>
            </a:r>
            <a:r>
              <a:rPr lang="en-US" altLang="zh-CN" dirty="0"/>
              <a:t>BGP</a:t>
            </a:r>
            <a:r>
              <a:rPr lang="zh-CN" altLang="en-US" dirty="0"/>
              <a:t>路由器</a:t>
            </a:r>
            <a:endParaRPr lang="en-US" altLang="zh-CN" dirty="0"/>
          </a:p>
          <a:p>
            <a:endParaRPr lang="zh-CN" altLang="en-US" sz="1800" dirty="0"/>
          </a:p>
        </p:txBody>
      </p:sp>
      <p:grpSp>
        <p:nvGrpSpPr>
          <p:cNvPr id="455" name="组合 454">
            <a:extLst>
              <a:ext uri="{FF2B5EF4-FFF2-40B4-BE49-F238E27FC236}">
                <a16:creationId xmlns:a16="http://schemas.microsoft.com/office/drawing/2014/main" id="{332D2387-539E-68A3-D24C-2804F67EE6FC}"/>
              </a:ext>
            </a:extLst>
          </p:cNvPr>
          <p:cNvGrpSpPr/>
          <p:nvPr/>
        </p:nvGrpSpPr>
        <p:grpSpPr>
          <a:xfrm>
            <a:off x="8800926" y="3746332"/>
            <a:ext cx="3490725" cy="816496"/>
            <a:chOff x="8633763" y="5450641"/>
            <a:chExt cx="3490725" cy="816496"/>
          </a:xfrm>
        </p:grpSpPr>
        <p:grpSp>
          <p:nvGrpSpPr>
            <p:cNvPr id="210" name="Group 438">
              <a:extLst>
                <a:ext uri="{FF2B5EF4-FFF2-40B4-BE49-F238E27FC236}">
                  <a16:creationId xmlns:a16="http://schemas.microsoft.com/office/drawing/2014/main" id="{38E1EBDE-FA90-9DD8-02A5-9B87B900299F}"/>
                </a:ext>
              </a:extLst>
            </p:cNvPr>
            <p:cNvGrpSpPr/>
            <p:nvPr/>
          </p:nvGrpSpPr>
          <p:grpSpPr>
            <a:xfrm>
              <a:off x="8759899" y="5665193"/>
              <a:ext cx="565150" cy="369332"/>
              <a:chOff x="1736090" y="2873352"/>
              <a:chExt cx="565150" cy="369332"/>
            </a:xfrm>
          </p:grpSpPr>
          <p:grpSp>
            <p:nvGrpSpPr>
              <p:cNvPr id="216" name="Group 327">
                <a:extLst>
                  <a:ext uri="{FF2B5EF4-FFF2-40B4-BE49-F238E27FC236}">
                    <a16:creationId xmlns:a16="http://schemas.microsoft.com/office/drawing/2014/main" id="{03C1DD28-88AF-0910-1C07-611194A768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0" name="Oval 448">
                  <a:extLst>
                    <a:ext uri="{FF2B5EF4-FFF2-40B4-BE49-F238E27FC236}">
                      <a16:creationId xmlns:a16="http://schemas.microsoft.com/office/drawing/2014/main" id="{ABEB8D80-A535-A60F-3255-524DF296E09F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Rectangle 449">
                  <a:extLst>
                    <a:ext uri="{FF2B5EF4-FFF2-40B4-BE49-F238E27FC236}">
                      <a16:creationId xmlns:a16="http://schemas.microsoft.com/office/drawing/2014/main" id="{E876A659-D598-F2B8-8647-1372A99B5722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Oval 450">
                  <a:extLst>
                    <a:ext uri="{FF2B5EF4-FFF2-40B4-BE49-F238E27FC236}">
                      <a16:creationId xmlns:a16="http://schemas.microsoft.com/office/drawing/2014/main" id="{8679DD9E-63CB-C12A-F29A-CFCCD6344D3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451">
                  <a:extLst>
                    <a:ext uri="{FF2B5EF4-FFF2-40B4-BE49-F238E27FC236}">
                      <a16:creationId xmlns:a16="http://schemas.microsoft.com/office/drawing/2014/main" id="{8C52956C-AB2C-B477-7DDF-90060879F3C4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Freeform 452">
                  <a:extLst>
                    <a:ext uri="{FF2B5EF4-FFF2-40B4-BE49-F238E27FC236}">
                      <a16:creationId xmlns:a16="http://schemas.microsoft.com/office/drawing/2014/main" id="{6C19CE95-7AEE-997F-2E37-B44B996445E1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Freeform 453">
                  <a:extLst>
                    <a:ext uri="{FF2B5EF4-FFF2-40B4-BE49-F238E27FC236}">
                      <a16:creationId xmlns:a16="http://schemas.microsoft.com/office/drawing/2014/main" id="{86030885-5BA4-2D3B-093F-8E750A7A762A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Freeform 454">
                  <a:extLst>
                    <a:ext uri="{FF2B5EF4-FFF2-40B4-BE49-F238E27FC236}">
                      <a16:creationId xmlns:a16="http://schemas.microsoft.com/office/drawing/2014/main" id="{F3F0CE6A-3E6B-12FA-6D32-395EAF85F9CA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27" name="Straight Connector 455">
                  <a:extLst>
                    <a:ext uri="{FF2B5EF4-FFF2-40B4-BE49-F238E27FC236}">
                      <a16:creationId xmlns:a16="http://schemas.microsoft.com/office/drawing/2014/main" id="{00B9AFB7-8015-CB5D-5C3D-880E37C3410F}"/>
                    </a:ext>
                  </a:extLst>
                </p:cNvPr>
                <p:cNvCxnSpPr>
                  <a:endCxn id="22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28" name="Straight Connector 456">
                  <a:extLst>
                    <a:ext uri="{FF2B5EF4-FFF2-40B4-BE49-F238E27FC236}">
                      <a16:creationId xmlns:a16="http://schemas.microsoft.com/office/drawing/2014/main" id="{EE1CF533-80C6-DCD7-FB04-8A496CD81A26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17" name="Group 445">
                <a:extLst>
                  <a:ext uri="{FF2B5EF4-FFF2-40B4-BE49-F238E27FC236}">
                    <a16:creationId xmlns:a16="http://schemas.microsoft.com/office/drawing/2014/main" id="{E1E07CC0-3902-18AA-87D8-63EAC7CCD557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218" name="Oval 446">
                  <a:extLst>
                    <a:ext uri="{FF2B5EF4-FFF2-40B4-BE49-F238E27FC236}">
                      <a16:creationId xmlns:a16="http://schemas.microsoft.com/office/drawing/2014/main" id="{F148CB71-28F9-14F9-9FD5-6D339360EEDE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TextBox 447">
                  <a:extLst>
                    <a:ext uri="{FF2B5EF4-FFF2-40B4-BE49-F238E27FC236}">
                      <a16:creationId xmlns:a16="http://schemas.microsoft.com/office/drawing/2014/main" id="{41EADC3F-4378-26CB-E3F9-11D05CC8EBAE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1c</a:t>
                  </a:r>
                </a:p>
              </p:txBody>
            </p:sp>
          </p:grpSp>
        </p:grpSp>
        <p:sp>
          <p:nvSpPr>
            <p:cNvPr id="211" name="Oval 439">
              <a:extLst>
                <a:ext uri="{FF2B5EF4-FFF2-40B4-BE49-F238E27FC236}">
                  <a16:creationId xmlns:a16="http://schemas.microsoft.com/office/drawing/2014/main" id="{729A54E4-320E-FF11-5AA1-9AF28F6E8998}"/>
                </a:ext>
              </a:extLst>
            </p:cNvPr>
            <p:cNvSpPr/>
            <p:nvPr/>
          </p:nvSpPr>
          <p:spPr bwMode="auto">
            <a:xfrm>
              <a:off x="8633763" y="5450641"/>
              <a:ext cx="839004" cy="816496"/>
            </a:xfrm>
            <a:prstGeom prst="ellips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09" name="TextBox 437">
              <a:extLst>
                <a:ext uri="{FF2B5EF4-FFF2-40B4-BE49-F238E27FC236}">
                  <a16:creationId xmlns:a16="http://schemas.microsoft.com/office/drawing/2014/main" id="{E04512F0-FF09-72FA-BD0D-71305FFC7F90}"/>
                </a:ext>
              </a:extLst>
            </p:cNvPr>
            <p:cNvSpPr txBox="1"/>
            <p:nvPr/>
          </p:nvSpPr>
          <p:spPr>
            <a:xfrm>
              <a:off x="9631498" y="5632084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+mn-ea"/>
                </a:rPr>
                <a:t>运行</a:t>
              </a:r>
              <a:r>
                <a:rPr lang="en-US" altLang="zh-CN" kern="0" dirty="0">
                  <a:solidFill>
                    <a:srgbClr val="000000"/>
                  </a:solidFill>
                  <a:latin typeface="+mn-ea"/>
                </a:rPr>
                <a:t>eBGP</a:t>
              </a:r>
              <a:r>
                <a:rPr lang="zh-CN" altLang="en-US" kern="0" dirty="0">
                  <a:solidFill>
                    <a:srgbClr val="000000"/>
                  </a:solidFill>
                  <a:latin typeface="+mn-ea"/>
                </a:rPr>
                <a:t>和</a:t>
              </a:r>
              <a:r>
                <a:rPr lang="en-US" altLang="zh-CN" kern="0" dirty="0">
                  <a:solidFill>
                    <a:srgbClr val="000000"/>
                  </a:solidFill>
                  <a:latin typeface="+mn-ea"/>
                </a:rPr>
                <a:t>iBGP</a:t>
              </a:r>
              <a:r>
                <a:rPr lang="zh-CN" altLang="en-US" kern="0" dirty="0">
                  <a:solidFill>
                    <a:srgbClr val="000000"/>
                  </a:solidFill>
                  <a:latin typeface="+mn-ea"/>
                </a:rPr>
                <a:t>协议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4" name="Group 232">
            <a:extLst>
              <a:ext uri="{FF2B5EF4-FFF2-40B4-BE49-F238E27FC236}">
                <a16:creationId xmlns:a16="http://schemas.microsoft.com/office/drawing/2014/main" id="{8E42BDB8-4607-AF8B-857A-04BC443231F5}"/>
              </a:ext>
            </a:extLst>
          </p:cNvPr>
          <p:cNvGrpSpPr/>
          <p:nvPr/>
        </p:nvGrpSpPr>
        <p:grpSpPr>
          <a:xfrm>
            <a:off x="8813264" y="3069568"/>
            <a:ext cx="2088416" cy="635979"/>
            <a:chOff x="3683123" y="4998622"/>
            <a:chExt cx="2088416" cy="635979"/>
          </a:xfrm>
        </p:grpSpPr>
        <p:cxnSp>
          <p:nvCxnSpPr>
            <p:cNvPr id="5" name="Straight Connector 233">
              <a:extLst>
                <a:ext uri="{FF2B5EF4-FFF2-40B4-BE49-F238E27FC236}">
                  <a16:creationId xmlns:a16="http://schemas.microsoft.com/office/drawing/2014/main" id="{C892A1A2-3F49-6C8E-219D-3455299AA697}"/>
                </a:ext>
              </a:extLst>
            </p:cNvPr>
            <p:cNvCxnSpPr/>
            <p:nvPr/>
          </p:nvCxnSpPr>
          <p:spPr bwMode="auto">
            <a:xfrm flipH="1" flipV="1">
              <a:off x="3683123" y="5204803"/>
              <a:ext cx="749784" cy="11598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Straight Connector 234">
              <a:extLst>
                <a:ext uri="{FF2B5EF4-FFF2-40B4-BE49-F238E27FC236}">
                  <a16:creationId xmlns:a16="http://schemas.microsoft.com/office/drawing/2014/main" id="{F371767D-1C39-34B7-E35F-D5000C7896BD}"/>
                </a:ext>
              </a:extLst>
            </p:cNvPr>
            <p:cNvCxnSpPr/>
            <p:nvPr/>
          </p:nvCxnSpPr>
          <p:spPr bwMode="auto">
            <a:xfrm flipV="1">
              <a:off x="3712601" y="5484981"/>
              <a:ext cx="699488" cy="69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TextBox 235">
              <a:extLst>
                <a:ext uri="{FF2B5EF4-FFF2-40B4-BE49-F238E27FC236}">
                  <a16:creationId xmlns:a16="http://schemas.microsoft.com/office/drawing/2014/main" id="{920C962C-1391-AA0E-6773-BD9186C9E0E7}"/>
                </a:ext>
              </a:extLst>
            </p:cNvPr>
            <p:cNvSpPr txBox="1"/>
            <p:nvPr/>
          </p:nvSpPr>
          <p:spPr>
            <a:xfrm>
              <a:off x="4536906" y="4998622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+mn-ea"/>
                </a:rPr>
                <a:t>eBGP</a:t>
              </a:r>
              <a:r>
                <a:rPr lang="zh-CN" altLang="en-US" kern="0" dirty="0">
                  <a:solidFill>
                    <a:srgbClr val="CC0000"/>
                  </a:solidFill>
                  <a:latin typeface="+mn-ea"/>
                </a:rPr>
                <a:t>连接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8" name="TextBox 236">
              <a:extLst>
                <a:ext uri="{FF2B5EF4-FFF2-40B4-BE49-F238E27FC236}">
                  <a16:creationId xmlns:a16="http://schemas.microsoft.com/office/drawing/2014/main" id="{38C0F414-5CA7-D7D2-9CD0-0E7F0AC7762A}"/>
                </a:ext>
              </a:extLst>
            </p:cNvPr>
            <p:cNvSpPr txBox="1"/>
            <p:nvPr/>
          </p:nvSpPr>
          <p:spPr>
            <a:xfrm>
              <a:off x="4561862" y="5265269"/>
              <a:ext cx="11641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+mn-ea"/>
                </a:rPr>
                <a:t>iBGP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+mn-ea"/>
                </a:rPr>
                <a:t>连接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9" name="Freeform 2">
            <a:extLst>
              <a:ext uri="{FF2B5EF4-FFF2-40B4-BE49-F238E27FC236}">
                <a16:creationId xmlns:a16="http://schemas.microsoft.com/office/drawing/2014/main" id="{54CC7C63-1F53-063E-F652-6DF93276A2FF}"/>
              </a:ext>
            </a:extLst>
          </p:cNvPr>
          <p:cNvSpPr>
            <a:spLocks/>
          </p:cNvSpPr>
          <p:nvPr/>
        </p:nvSpPr>
        <p:spPr bwMode="auto">
          <a:xfrm>
            <a:off x="255329" y="4635472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0" name="Group 238">
            <a:extLst>
              <a:ext uri="{FF2B5EF4-FFF2-40B4-BE49-F238E27FC236}">
                <a16:creationId xmlns:a16="http://schemas.microsoft.com/office/drawing/2014/main" id="{1D88AF4D-5B33-CAD6-AD3D-F58CE4746B99}"/>
              </a:ext>
            </a:extLst>
          </p:cNvPr>
          <p:cNvGrpSpPr/>
          <p:nvPr/>
        </p:nvGrpSpPr>
        <p:grpSpPr>
          <a:xfrm>
            <a:off x="1393490" y="4786334"/>
            <a:ext cx="565150" cy="369332"/>
            <a:chOff x="1736090" y="2873352"/>
            <a:chExt cx="565150" cy="369332"/>
          </a:xfrm>
        </p:grpSpPr>
        <p:grpSp>
          <p:nvGrpSpPr>
            <p:cNvPr id="11" name="Group 327">
              <a:extLst>
                <a:ext uri="{FF2B5EF4-FFF2-40B4-BE49-F238E27FC236}">
                  <a16:creationId xmlns:a16="http://schemas.microsoft.com/office/drawing/2014/main" id="{8ED4399F-E073-2F16-CC7D-740D9414F4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5" name="Oval 243">
                <a:extLst>
                  <a:ext uri="{FF2B5EF4-FFF2-40B4-BE49-F238E27FC236}">
                    <a16:creationId xmlns:a16="http://schemas.microsoft.com/office/drawing/2014/main" id="{A49057D7-A93F-ED9C-7854-A847E10EF61E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6" name="Rectangle 244">
                <a:extLst>
                  <a:ext uri="{FF2B5EF4-FFF2-40B4-BE49-F238E27FC236}">
                    <a16:creationId xmlns:a16="http://schemas.microsoft.com/office/drawing/2014/main" id="{21E9615D-8A27-373D-966F-2EDF8362F815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7" name="Oval 245">
                <a:extLst>
                  <a:ext uri="{FF2B5EF4-FFF2-40B4-BE49-F238E27FC236}">
                    <a16:creationId xmlns:a16="http://schemas.microsoft.com/office/drawing/2014/main" id="{21183710-5751-CA3C-9824-BE280D2009F7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8" name="Freeform 246">
                <a:extLst>
                  <a:ext uri="{FF2B5EF4-FFF2-40B4-BE49-F238E27FC236}">
                    <a16:creationId xmlns:a16="http://schemas.microsoft.com/office/drawing/2014/main" id="{C17D022E-DF30-5C02-13F1-7FE0BB211A51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9" name="Freeform 247">
                <a:extLst>
                  <a:ext uri="{FF2B5EF4-FFF2-40B4-BE49-F238E27FC236}">
                    <a16:creationId xmlns:a16="http://schemas.microsoft.com/office/drawing/2014/main" id="{FE3D581D-ACAB-A3E4-D2D2-F3F2197C66F0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0" name="Freeform 248">
                <a:extLst>
                  <a:ext uri="{FF2B5EF4-FFF2-40B4-BE49-F238E27FC236}">
                    <a16:creationId xmlns:a16="http://schemas.microsoft.com/office/drawing/2014/main" id="{C14A4D4A-51DB-B5AF-FB75-F050FFF30A2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1" name="Freeform 249">
                <a:extLst>
                  <a:ext uri="{FF2B5EF4-FFF2-40B4-BE49-F238E27FC236}">
                    <a16:creationId xmlns:a16="http://schemas.microsoft.com/office/drawing/2014/main" id="{9054C0BB-C15F-CE00-7664-1E1EB851FF77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2" name="Straight Connector 250">
                <a:extLst>
                  <a:ext uri="{FF2B5EF4-FFF2-40B4-BE49-F238E27FC236}">
                    <a16:creationId xmlns:a16="http://schemas.microsoft.com/office/drawing/2014/main" id="{4EFD65B1-DBC5-C0FD-5C5A-6FD750F1AC35}"/>
                  </a:ext>
                </a:extLst>
              </p:cNvPr>
              <p:cNvCxnSpPr>
                <a:endCxn id="17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3" name="Straight Connector 251">
                <a:extLst>
                  <a:ext uri="{FF2B5EF4-FFF2-40B4-BE49-F238E27FC236}">
                    <a16:creationId xmlns:a16="http://schemas.microsoft.com/office/drawing/2014/main" id="{776F7D89-465C-F3A9-216D-4456241122B3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12" name="Group 240">
              <a:extLst>
                <a:ext uri="{FF2B5EF4-FFF2-40B4-BE49-F238E27FC236}">
                  <a16:creationId xmlns:a16="http://schemas.microsoft.com/office/drawing/2014/main" id="{2F0C7AA4-4A25-E981-037C-369D4D5096F8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13" name="Oval 241">
                <a:extLst>
                  <a:ext uri="{FF2B5EF4-FFF2-40B4-BE49-F238E27FC236}">
                    <a16:creationId xmlns:a16="http://schemas.microsoft.com/office/drawing/2014/main" id="{B9A7E012-0902-B1ED-FEB9-FFBFA82B9E1C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4" name="TextBox 242">
                <a:extLst>
                  <a:ext uri="{FF2B5EF4-FFF2-40B4-BE49-F238E27FC236}">
                    <a16:creationId xmlns:a16="http://schemas.microsoft.com/office/drawing/2014/main" id="{3BCF16C3-847D-2964-1B40-47235188E616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</a:p>
            </p:txBody>
          </p:sp>
        </p:grpSp>
      </p:grpSp>
      <p:grpSp>
        <p:nvGrpSpPr>
          <p:cNvPr id="24" name="Group 252">
            <a:extLst>
              <a:ext uri="{FF2B5EF4-FFF2-40B4-BE49-F238E27FC236}">
                <a16:creationId xmlns:a16="http://schemas.microsoft.com/office/drawing/2014/main" id="{CCD18701-93CB-8C03-2320-73CAFB398060}"/>
              </a:ext>
            </a:extLst>
          </p:cNvPr>
          <p:cNvGrpSpPr/>
          <p:nvPr/>
        </p:nvGrpSpPr>
        <p:grpSpPr>
          <a:xfrm>
            <a:off x="1397720" y="6007651"/>
            <a:ext cx="565150" cy="369332"/>
            <a:chOff x="1736090" y="2873352"/>
            <a:chExt cx="565150" cy="369332"/>
          </a:xfrm>
        </p:grpSpPr>
        <p:grpSp>
          <p:nvGrpSpPr>
            <p:cNvPr id="25" name="Group 327">
              <a:extLst>
                <a:ext uri="{FF2B5EF4-FFF2-40B4-BE49-F238E27FC236}">
                  <a16:creationId xmlns:a16="http://schemas.microsoft.com/office/drawing/2014/main" id="{B8E26480-010D-5953-A6FE-9D672CF9C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9" name="Oval 257">
                <a:extLst>
                  <a:ext uri="{FF2B5EF4-FFF2-40B4-BE49-F238E27FC236}">
                    <a16:creationId xmlns:a16="http://schemas.microsoft.com/office/drawing/2014/main" id="{6EA5CB60-F233-A978-C68B-089B240A4EC7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0" name="Rectangle 258">
                <a:extLst>
                  <a:ext uri="{FF2B5EF4-FFF2-40B4-BE49-F238E27FC236}">
                    <a16:creationId xmlns:a16="http://schemas.microsoft.com/office/drawing/2014/main" id="{98525607-5775-2036-82A7-4B38F213E338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1" name="Oval 259">
                <a:extLst>
                  <a:ext uri="{FF2B5EF4-FFF2-40B4-BE49-F238E27FC236}">
                    <a16:creationId xmlns:a16="http://schemas.microsoft.com/office/drawing/2014/main" id="{C01D2333-409C-CC74-F95C-0BDB32654C76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2" name="Freeform 260">
                <a:extLst>
                  <a:ext uri="{FF2B5EF4-FFF2-40B4-BE49-F238E27FC236}">
                    <a16:creationId xmlns:a16="http://schemas.microsoft.com/office/drawing/2014/main" id="{362F24EC-7B47-1BD1-F09D-0C306F6DF488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3" name="Freeform 261">
                <a:extLst>
                  <a:ext uri="{FF2B5EF4-FFF2-40B4-BE49-F238E27FC236}">
                    <a16:creationId xmlns:a16="http://schemas.microsoft.com/office/drawing/2014/main" id="{653C0688-7D6F-3C12-F448-67C104C707A4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4" name="Freeform 262">
                <a:extLst>
                  <a:ext uri="{FF2B5EF4-FFF2-40B4-BE49-F238E27FC236}">
                    <a16:creationId xmlns:a16="http://schemas.microsoft.com/office/drawing/2014/main" id="{8DAC6936-6741-C438-A8B1-1D80DFB53A3C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" name="Freeform 263">
                <a:extLst>
                  <a:ext uri="{FF2B5EF4-FFF2-40B4-BE49-F238E27FC236}">
                    <a16:creationId xmlns:a16="http://schemas.microsoft.com/office/drawing/2014/main" id="{5B467C51-CBAE-C91F-3B94-19AF3332D304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" name="Straight Connector 264">
                <a:extLst>
                  <a:ext uri="{FF2B5EF4-FFF2-40B4-BE49-F238E27FC236}">
                    <a16:creationId xmlns:a16="http://schemas.microsoft.com/office/drawing/2014/main" id="{813ECBA5-74B1-6A73-C34A-B5225662FB17}"/>
                  </a:ext>
                </a:extLst>
              </p:cNvPr>
              <p:cNvCxnSpPr>
                <a:endCxn id="31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37" name="Straight Connector 265">
                <a:extLst>
                  <a:ext uri="{FF2B5EF4-FFF2-40B4-BE49-F238E27FC236}">
                    <a16:creationId xmlns:a16="http://schemas.microsoft.com/office/drawing/2014/main" id="{B5728CAB-77EF-F1EA-340A-37294BB340E9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6" name="Group 254">
              <a:extLst>
                <a:ext uri="{FF2B5EF4-FFF2-40B4-BE49-F238E27FC236}">
                  <a16:creationId xmlns:a16="http://schemas.microsoft.com/office/drawing/2014/main" id="{388E88FD-269B-DE99-CC16-3AE9D43A2267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7" name="Oval 255">
                <a:extLst>
                  <a:ext uri="{FF2B5EF4-FFF2-40B4-BE49-F238E27FC236}">
                    <a16:creationId xmlns:a16="http://schemas.microsoft.com/office/drawing/2014/main" id="{368BA820-E94E-DD4F-BF0C-495FB5DEC610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" name="TextBox 256">
                <a:extLst>
                  <a:ext uri="{FF2B5EF4-FFF2-40B4-BE49-F238E27FC236}">
                    <a16:creationId xmlns:a16="http://schemas.microsoft.com/office/drawing/2014/main" id="{F8B35B38-5951-6BAB-F678-5F8215B3B2B6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1d</a:t>
                </a:r>
              </a:p>
            </p:txBody>
          </p:sp>
        </p:grpSp>
      </p:grpSp>
      <p:grpSp>
        <p:nvGrpSpPr>
          <p:cNvPr id="38" name="Group 266">
            <a:extLst>
              <a:ext uri="{FF2B5EF4-FFF2-40B4-BE49-F238E27FC236}">
                <a16:creationId xmlns:a16="http://schemas.microsoft.com/office/drawing/2014/main" id="{16B174A0-EE06-EB95-1828-810292D79C7B}"/>
              </a:ext>
            </a:extLst>
          </p:cNvPr>
          <p:cNvGrpSpPr/>
          <p:nvPr/>
        </p:nvGrpSpPr>
        <p:grpSpPr>
          <a:xfrm>
            <a:off x="2259206" y="5398054"/>
            <a:ext cx="565150" cy="369332"/>
            <a:chOff x="1736090" y="2873352"/>
            <a:chExt cx="565150" cy="369332"/>
          </a:xfrm>
        </p:grpSpPr>
        <p:grpSp>
          <p:nvGrpSpPr>
            <p:cNvPr id="39" name="Group 327">
              <a:extLst>
                <a:ext uri="{FF2B5EF4-FFF2-40B4-BE49-F238E27FC236}">
                  <a16:creationId xmlns:a16="http://schemas.microsoft.com/office/drawing/2014/main" id="{C681C76D-E9FC-AF11-DA16-148BE3A6FB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3" name="Oval 271">
                <a:extLst>
                  <a:ext uri="{FF2B5EF4-FFF2-40B4-BE49-F238E27FC236}">
                    <a16:creationId xmlns:a16="http://schemas.microsoft.com/office/drawing/2014/main" id="{969C66B4-B77E-E718-CE4D-135AC9CA3BA1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" name="Rectangle 272">
                <a:extLst>
                  <a:ext uri="{FF2B5EF4-FFF2-40B4-BE49-F238E27FC236}">
                    <a16:creationId xmlns:a16="http://schemas.microsoft.com/office/drawing/2014/main" id="{BE59B919-4288-2E45-681E-BBAE51CBC541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" name="Oval 273">
                <a:extLst>
                  <a:ext uri="{FF2B5EF4-FFF2-40B4-BE49-F238E27FC236}">
                    <a16:creationId xmlns:a16="http://schemas.microsoft.com/office/drawing/2014/main" id="{73DAE32E-25A9-5DE0-64AC-89459459E006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" name="Freeform 274">
                <a:extLst>
                  <a:ext uri="{FF2B5EF4-FFF2-40B4-BE49-F238E27FC236}">
                    <a16:creationId xmlns:a16="http://schemas.microsoft.com/office/drawing/2014/main" id="{E95A090C-9451-8F0D-0433-1A98BACC3FF6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" name="Freeform 275">
                <a:extLst>
                  <a:ext uri="{FF2B5EF4-FFF2-40B4-BE49-F238E27FC236}">
                    <a16:creationId xmlns:a16="http://schemas.microsoft.com/office/drawing/2014/main" id="{DD2890E6-6E4A-5BD0-D0A5-227445A344EE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8" name="Freeform 276">
                <a:extLst>
                  <a:ext uri="{FF2B5EF4-FFF2-40B4-BE49-F238E27FC236}">
                    <a16:creationId xmlns:a16="http://schemas.microsoft.com/office/drawing/2014/main" id="{3D9E8742-9628-EC94-E3CF-B9AA1A08E71D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" name="Freeform 277">
                <a:extLst>
                  <a:ext uri="{FF2B5EF4-FFF2-40B4-BE49-F238E27FC236}">
                    <a16:creationId xmlns:a16="http://schemas.microsoft.com/office/drawing/2014/main" id="{F8107C23-57F8-47AA-39D3-298F50EC6E80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50" name="Straight Connector 278">
                <a:extLst>
                  <a:ext uri="{FF2B5EF4-FFF2-40B4-BE49-F238E27FC236}">
                    <a16:creationId xmlns:a16="http://schemas.microsoft.com/office/drawing/2014/main" id="{DBB15E6C-E0CA-B84C-CF92-E6B2DF39A418}"/>
                  </a:ext>
                </a:extLst>
              </p:cNvPr>
              <p:cNvCxnSpPr>
                <a:endCxn id="45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51" name="Straight Connector 279">
                <a:extLst>
                  <a:ext uri="{FF2B5EF4-FFF2-40B4-BE49-F238E27FC236}">
                    <a16:creationId xmlns:a16="http://schemas.microsoft.com/office/drawing/2014/main" id="{15BBC3EF-5883-3A53-3783-77DFD16455B1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40" name="Group 268">
              <a:extLst>
                <a:ext uri="{FF2B5EF4-FFF2-40B4-BE49-F238E27FC236}">
                  <a16:creationId xmlns:a16="http://schemas.microsoft.com/office/drawing/2014/main" id="{69FF8378-0EB9-171E-8A4C-B3CFB188F394}"/>
                </a:ext>
              </a:extLst>
            </p:cNvPr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41" name="Oval 269">
                <a:extLst>
                  <a:ext uri="{FF2B5EF4-FFF2-40B4-BE49-F238E27FC236}">
                    <a16:creationId xmlns:a16="http://schemas.microsoft.com/office/drawing/2014/main" id="{EA882B21-FDF6-24B0-DCE4-2BF5DEF1FDB5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2" name="TextBox 270">
                <a:extLst>
                  <a:ext uri="{FF2B5EF4-FFF2-40B4-BE49-F238E27FC236}">
                    <a16:creationId xmlns:a16="http://schemas.microsoft.com/office/drawing/2014/main" id="{88DEBB8D-9DD6-3A7F-D95A-E6BB12C69947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1c</a:t>
                </a:r>
              </a:p>
            </p:txBody>
          </p:sp>
        </p:grpSp>
      </p:grpSp>
      <p:grpSp>
        <p:nvGrpSpPr>
          <p:cNvPr id="52" name="Group 280">
            <a:extLst>
              <a:ext uri="{FF2B5EF4-FFF2-40B4-BE49-F238E27FC236}">
                <a16:creationId xmlns:a16="http://schemas.microsoft.com/office/drawing/2014/main" id="{248B4880-FF6A-8765-1B98-EA17AB383768}"/>
              </a:ext>
            </a:extLst>
          </p:cNvPr>
          <p:cNvGrpSpPr/>
          <p:nvPr/>
        </p:nvGrpSpPr>
        <p:grpSpPr>
          <a:xfrm>
            <a:off x="490731" y="5391701"/>
            <a:ext cx="565150" cy="369332"/>
            <a:chOff x="1736090" y="2873352"/>
            <a:chExt cx="565150" cy="369332"/>
          </a:xfrm>
        </p:grpSpPr>
        <p:grpSp>
          <p:nvGrpSpPr>
            <p:cNvPr id="53" name="Group 327">
              <a:extLst>
                <a:ext uri="{FF2B5EF4-FFF2-40B4-BE49-F238E27FC236}">
                  <a16:creationId xmlns:a16="http://schemas.microsoft.com/office/drawing/2014/main" id="{66A8F101-B72E-6E60-DD61-40312543F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7" name="Oval 285">
                <a:extLst>
                  <a:ext uri="{FF2B5EF4-FFF2-40B4-BE49-F238E27FC236}">
                    <a16:creationId xmlns:a16="http://schemas.microsoft.com/office/drawing/2014/main" id="{1920AEC8-B42B-A6C6-CF9C-D70E02110916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8" name="Rectangle 286">
                <a:extLst>
                  <a:ext uri="{FF2B5EF4-FFF2-40B4-BE49-F238E27FC236}">
                    <a16:creationId xmlns:a16="http://schemas.microsoft.com/office/drawing/2014/main" id="{10849A91-B2AB-AD87-8955-79E4E79A668F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9" name="Oval 287">
                <a:extLst>
                  <a:ext uri="{FF2B5EF4-FFF2-40B4-BE49-F238E27FC236}">
                    <a16:creationId xmlns:a16="http://schemas.microsoft.com/office/drawing/2014/main" id="{671FCE90-4958-FA45-F0D6-63994C111AA8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0" name="Freeform 288">
                <a:extLst>
                  <a:ext uri="{FF2B5EF4-FFF2-40B4-BE49-F238E27FC236}">
                    <a16:creationId xmlns:a16="http://schemas.microsoft.com/office/drawing/2014/main" id="{0CCBD781-5039-BF24-8818-352B54A90458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1" name="Freeform 289">
                <a:extLst>
                  <a:ext uri="{FF2B5EF4-FFF2-40B4-BE49-F238E27FC236}">
                    <a16:creationId xmlns:a16="http://schemas.microsoft.com/office/drawing/2014/main" id="{7E4C53E6-8772-28E8-D0D9-7D8ABCC4888A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2" name="Freeform 290">
                <a:extLst>
                  <a:ext uri="{FF2B5EF4-FFF2-40B4-BE49-F238E27FC236}">
                    <a16:creationId xmlns:a16="http://schemas.microsoft.com/office/drawing/2014/main" id="{F6BBEFC1-D4F2-D068-A8D9-23382B7278CF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3" name="Freeform 291">
                <a:extLst>
                  <a:ext uri="{FF2B5EF4-FFF2-40B4-BE49-F238E27FC236}">
                    <a16:creationId xmlns:a16="http://schemas.microsoft.com/office/drawing/2014/main" id="{DED8FA58-595B-7AC6-4D28-8F30615047F1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64" name="Straight Connector 292">
                <a:extLst>
                  <a:ext uri="{FF2B5EF4-FFF2-40B4-BE49-F238E27FC236}">
                    <a16:creationId xmlns:a16="http://schemas.microsoft.com/office/drawing/2014/main" id="{D0E64942-ED47-AD71-4219-407B4DB8E34D}"/>
                  </a:ext>
                </a:extLst>
              </p:cNvPr>
              <p:cNvCxnSpPr>
                <a:endCxn id="59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65" name="Straight Connector 293">
                <a:extLst>
                  <a:ext uri="{FF2B5EF4-FFF2-40B4-BE49-F238E27FC236}">
                    <a16:creationId xmlns:a16="http://schemas.microsoft.com/office/drawing/2014/main" id="{B06D5D57-F730-A47D-808A-E5D3E27F1F9E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54" name="Group 282">
              <a:extLst>
                <a:ext uri="{FF2B5EF4-FFF2-40B4-BE49-F238E27FC236}">
                  <a16:creationId xmlns:a16="http://schemas.microsoft.com/office/drawing/2014/main" id="{006A9546-ED7A-105B-B743-838F7FDD1B92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5" name="Oval 283">
                <a:extLst>
                  <a:ext uri="{FF2B5EF4-FFF2-40B4-BE49-F238E27FC236}">
                    <a16:creationId xmlns:a16="http://schemas.microsoft.com/office/drawing/2014/main" id="{EACD695E-6BF3-9812-9A87-4B2A0FA57AB9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6" name="TextBox 284">
                <a:extLst>
                  <a:ext uri="{FF2B5EF4-FFF2-40B4-BE49-F238E27FC236}">
                    <a16:creationId xmlns:a16="http://schemas.microsoft.com/office/drawing/2014/main" id="{0C7135CA-556F-87C5-EB48-C477A63CBE50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1a</a:t>
                </a:r>
              </a:p>
            </p:txBody>
          </p:sp>
        </p:grpSp>
      </p:grpSp>
      <p:cxnSp>
        <p:nvCxnSpPr>
          <p:cNvPr id="66" name="Straight Connector 294">
            <a:extLst>
              <a:ext uri="{FF2B5EF4-FFF2-40B4-BE49-F238E27FC236}">
                <a16:creationId xmlns:a16="http://schemas.microsoft.com/office/drawing/2014/main" id="{B8038B52-811F-E883-F561-7F68FA396A7D}"/>
              </a:ext>
            </a:extLst>
          </p:cNvPr>
          <p:cNvCxnSpPr>
            <a:stCxn id="14" idx="2"/>
            <a:endCxn id="28" idx="0"/>
          </p:cNvCxnSpPr>
          <p:nvPr/>
        </p:nvCxnSpPr>
        <p:spPr bwMode="auto">
          <a:xfrm>
            <a:off x="1648473" y="5155666"/>
            <a:ext cx="4230" cy="851985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295">
            <a:extLst>
              <a:ext uri="{FF2B5EF4-FFF2-40B4-BE49-F238E27FC236}">
                <a16:creationId xmlns:a16="http://schemas.microsoft.com/office/drawing/2014/main" id="{96552A08-48DA-D251-E1FC-0AB373451BEA}"/>
              </a:ext>
            </a:extLst>
          </p:cNvPr>
          <p:cNvCxnSpPr/>
          <p:nvPr/>
        </p:nvCxnSpPr>
        <p:spPr bwMode="auto">
          <a:xfrm>
            <a:off x="1064877" y="5561603"/>
            <a:ext cx="1204913" cy="635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296">
            <a:extLst>
              <a:ext uri="{FF2B5EF4-FFF2-40B4-BE49-F238E27FC236}">
                <a16:creationId xmlns:a16="http://schemas.microsoft.com/office/drawing/2014/main" id="{855EA99B-DD46-1CA6-385F-CA8125ED4168}"/>
              </a:ext>
            </a:extLst>
          </p:cNvPr>
          <p:cNvCxnSpPr>
            <a:stCxn id="15" idx="7"/>
          </p:cNvCxnSpPr>
          <p:nvPr/>
        </p:nvCxnSpPr>
        <p:spPr bwMode="auto">
          <a:xfrm>
            <a:off x="1876108" y="5067459"/>
            <a:ext cx="480042" cy="36977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Connector 297">
            <a:extLst>
              <a:ext uri="{FF2B5EF4-FFF2-40B4-BE49-F238E27FC236}">
                <a16:creationId xmlns:a16="http://schemas.microsoft.com/office/drawing/2014/main" id="{780373CD-F58E-02DB-6E69-166FC2096B53}"/>
              </a:ext>
            </a:extLst>
          </p:cNvPr>
          <p:cNvCxnSpPr/>
          <p:nvPr/>
        </p:nvCxnSpPr>
        <p:spPr bwMode="auto">
          <a:xfrm>
            <a:off x="957473" y="5699286"/>
            <a:ext cx="477927" cy="357071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298">
            <a:extLst>
              <a:ext uri="{FF2B5EF4-FFF2-40B4-BE49-F238E27FC236}">
                <a16:creationId xmlns:a16="http://schemas.microsoft.com/office/drawing/2014/main" id="{778A3DD1-A745-9AE7-36DF-501740B3E9F8}"/>
              </a:ext>
            </a:extLst>
          </p:cNvPr>
          <p:cNvCxnSpPr/>
          <p:nvPr/>
        </p:nvCxnSpPr>
        <p:spPr bwMode="auto">
          <a:xfrm flipH="1">
            <a:off x="1853442" y="5696524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299">
            <a:extLst>
              <a:ext uri="{FF2B5EF4-FFF2-40B4-BE49-F238E27FC236}">
                <a16:creationId xmlns:a16="http://schemas.microsoft.com/office/drawing/2014/main" id="{02C3ACF2-A226-64FF-0C6C-3F606E78F88B}"/>
              </a:ext>
            </a:extLst>
          </p:cNvPr>
          <p:cNvCxnSpPr/>
          <p:nvPr/>
        </p:nvCxnSpPr>
        <p:spPr bwMode="auto">
          <a:xfrm flipH="1">
            <a:off x="944953" y="5079928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2" name="Straight Connector 430">
            <a:extLst>
              <a:ext uri="{FF2B5EF4-FFF2-40B4-BE49-F238E27FC236}">
                <a16:creationId xmlns:a16="http://schemas.microsoft.com/office/drawing/2014/main" id="{3A69203A-B793-C36F-54EE-F9F30C89755F}"/>
              </a:ext>
            </a:extLst>
          </p:cNvPr>
          <p:cNvCxnSpPr>
            <a:cxnSpLocks/>
            <a:stCxn id="88" idx="1"/>
            <a:endCxn id="45" idx="6"/>
          </p:cNvCxnSpPr>
          <p:nvPr/>
        </p:nvCxnSpPr>
        <p:spPr bwMode="auto">
          <a:xfrm flipH="1">
            <a:off x="2822768" y="5257078"/>
            <a:ext cx="1778578" cy="268542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6" name="TextBox 434">
            <a:extLst>
              <a:ext uri="{FF2B5EF4-FFF2-40B4-BE49-F238E27FC236}">
                <a16:creationId xmlns:a16="http://schemas.microsoft.com/office/drawing/2014/main" id="{41C503EF-6E4B-7DF5-47E7-8495AEC11A58}"/>
              </a:ext>
            </a:extLst>
          </p:cNvPr>
          <p:cNvSpPr txBox="1"/>
          <p:nvPr/>
        </p:nvSpPr>
        <p:spPr>
          <a:xfrm>
            <a:off x="1271707" y="6420459"/>
            <a:ext cx="75353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1</a:t>
            </a:r>
          </a:p>
        </p:txBody>
      </p:sp>
      <p:sp>
        <p:nvSpPr>
          <p:cNvPr id="212" name="Oval 440">
            <a:extLst>
              <a:ext uri="{FF2B5EF4-FFF2-40B4-BE49-F238E27FC236}">
                <a16:creationId xmlns:a16="http://schemas.microsoft.com/office/drawing/2014/main" id="{94F71CF4-8A47-519B-1EA2-579DD102EF3D}"/>
              </a:ext>
            </a:extLst>
          </p:cNvPr>
          <p:cNvSpPr/>
          <p:nvPr/>
        </p:nvSpPr>
        <p:spPr bwMode="auto">
          <a:xfrm>
            <a:off x="2110096" y="5157552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grpSp>
        <p:nvGrpSpPr>
          <p:cNvPr id="74" name="Group 302">
            <a:extLst>
              <a:ext uri="{FF2B5EF4-FFF2-40B4-BE49-F238E27FC236}">
                <a16:creationId xmlns:a16="http://schemas.microsoft.com/office/drawing/2014/main" id="{4A1016B4-B4A1-84FF-7E57-D7D3118BF14D}"/>
              </a:ext>
            </a:extLst>
          </p:cNvPr>
          <p:cNvGrpSpPr/>
          <p:nvPr/>
        </p:nvGrpSpPr>
        <p:grpSpPr>
          <a:xfrm>
            <a:off x="4567074" y="4467045"/>
            <a:ext cx="2333625" cy="1590649"/>
            <a:chOff x="833331" y="2873352"/>
            <a:chExt cx="2333625" cy="1590649"/>
          </a:xfrm>
        </p:grpSpPr>
        <p:grpSp>
          <p:nvGrpSpPr>
            <p:cNvPr id="75" name="Group 303">
              <a:extLst>
                <a:ext uri="{FF2B5EF4-FFF2-40B4-BE49-F238E27FC236}">
                  <a16:creationId xmlns:a16="http://schemas.microsoft.com/office/drawing/2014/main" id="{C10F6D7D-0BB8-F0B8-D549-F4367D83B289}"/>
                </a:ext>
              </a:extLst>
            </p:cNvPr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24" name="Group 327">
                <a:extLst>
                  <a:ext uri="{FF2B5EF4-FFF2-40B4-BE49-F238E27FC236}">
                    <a16:creationId xmlns:a16="http://schemas.microsoft.com/office/drawing/2014/main" id="{317DE87E-2902-F51B-8807-F646EC77AC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28" name="Oval 356">
                  <a:extLst>
                    <a:ext uri="{FF2B5EF4-FFF2-40B4-BE49-F238E27FC236}">
                      <a16:creationId xmlns:a16="http://schemas.microsoft.com/office/drawing/2014/main" id="{26FF1D41-52AF-1066-D341-8C228470C8D3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Rectangle 357">
                  <a:extLst>
                    <a:ext uri="{FF2B5EF4-FFF2-40B4-BE49-F238E27FC236}">
                      <a16:creationId xmlns:a16="http://schemas.microsoft.com/office/drawing/2014/main" id="{449283AB-D495-1EE8-D14A-56C3B7338367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Oval 358">
                  <a:extLst>
                    <a:ext uri="{FF2B5EF4-FFF2-40B4-BE49-F238E27FC236}">
                      <a16:creationId xmlns:a16="http://schemas.microsoft.com/office/drawing/2014/main" id="{25626438-C2B1-13CE-EF98-FCA3ABB8664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 359">
                  <a:extLst>
                    <a:ext uri="{FF2B5EF4-FFF2-40B4-BE49-F238E27FC236}">
                      <a16:creationId xmlns:a16="http://schemas.microsoft.com/office/drawing/2014/main" id="{8C41B380-26C1-6940-169D-E0903B50751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 360">
                  <a:extLst>
                    <a:ext uri="{FF2B5EF4-FFF2-40B4-BE49-F238E27FC236}">
                      <a16:creationId xmlns:a16="http://schemas.microsoft.com/office/drawing/2014/main" id="{264FE2E1-7568-A4C4-5EE0-059FC804B8C1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Freeform 361">
                  <a:extLst>
                    <a:ext uri="{FF2B5EF4-FFF2-40B4-BE49-F238E27FC236}">
                      <a16:creationId xmlns:a16="http://schemas.microsoft.com/office/drawing/2014/main" id="{B754F661-A676-E847-2C5D-2AB04AC6C211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Freeform 362">
                  <a:extLst>
                    <a:ext uri="{FF2B5EF4-FFF2-40B4-BE49-F238E27FC236}">
                      <a16:creationId xmlns:a16="http://schemas.microsoft.com/office/drawing/2014/main" id="{00078F61-4353-FEEB-278F-D4BC845C677F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35" name="Straight Connector 363">
                  <a:extLst>
                    <a:ext uri="{FF2B5EF4-FFF2-40B4-BE49-F238E27FC236}">
                      <a16:creationId xmlns:a16="http://schemas.microsoft.com/office/drawing/2014/main" id="{DA6779FF-B10B-7B19-E805-7F4C8E010DDB}"/>
                    </a:ext>
                  </a:extLst>
                </p:cNvPr>
                <p:cNvCxnSpPr>
                  <a:endCxn id="13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36" name="Straight Connector 364">
                  <a:extLst>
                    <a:ext uri="{FF2B5EF4-FFF2-40B4-BE49-F238E27FC236}">
                      <a16:creationId xmlns:a16="http://schemas.microsoft.com/office/drawing/2014/main" id="{83815DD1-C3A5-5A7E-3C11-3615113ED4F0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25" name="Group 353">
                <a:extLst>
                  <a:ext uri="{FF2B5EF4-FFF2-40B4-BE49-F238E27FC236}">
                    <a16:creationId xmlns:a16="http://schemas.microsoft.com/office/drawing/2014/main" id="{52AF03CB-F624-FB34-F833-78CFB3F63E1A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26" name="Oval 354">
                  <a:extLst>
                    <a:ext uri="{FF2B5EF4-FFF2-40B4-BE49-F238E27FC236}">
                      <a16:creationId xmlns:a16="http://schemas.microsoft.com/office/drawing/2014/main" id="{5CD89213-E3ED-2A3C-846B-1BD90F52667B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TextBox 355">
                  <a:extLst>
                    <a:ext uri="{FF2B5EF4-FFF2-40B4-BE49-F238E27FC236}">
                      <a16:creationId xmlns:a16="http://schemas.microsoft.com/office/drawing/2014/main" id="{3B5D3BC8-23DA-0502-0741-CE7053F9CDD8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2b</a:t>
                  </a:r>
                </a:p>
              </p:txBody>
            </p:sp>
          </p:grpSp>
        </p:grpSp>
        <p:grpSp>
          <p:nvGrpSpPr>
            <p:cNvPr id="76" name="Group 304">
              <a:extLst>
                <a:ext uri="{FF2B5EF4-FFF2-40B4-BE49-F238E27FC236}">
                  <a16:creationId xmlns:a16="http://schemas.microsoft.com/office/drawing/2014/main" id="{6E237E4C-FD67-B912-2B72-AF61C4D2BB3B}"/>
                </a:ext>
              </a:extLst>
            </p:cNvPr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11" name="Group 327">
                <a:extLst>
                  <a:ext uri="{FF2B5EF4-FFF2-40B4-BE49-F238E27FC236}">
                    <a16:creationId xmlns:a16="http://schemas.microsoft.com/office/drawing/2014/main" id="{8967266B-152B-12E5-C137-96C8225552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15" name="Oval 343">
                  <a:extLst>
                    <a:ext uri="{FF2B5EF4-FFF2-40B4-BE49-F238E27FC236}">
                      <a16:creationId xmlns:a16="http://schemas.microsoft.com/office/drawing/2014/main" id="{57673B58-4D10-5BC7-4524-A7CC3C614D04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Rectangle 344">
                  <a:extLst>
                    <a:ext uri="{FF2B5EF4-FFF2-40B4-BE49-F238E27FC236}">
                      <a16:creationId xmlns:a16="http://schemas.microsoft.com/office/drawing/2014/main" id="{96DACB91-CA43-2894-04B0-A34928C73116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Oval 345">
                  <a:extLst>
                    <a:ext uri="{FF2B5EF4-FFF2-40B4-BE49-F238E27FC236}">
                      <a16:creationId xmlns:a16="http://schemas.microsoft.com/office/drawing/2014/main" id="{8C4DFEB6-5C98-D49B-EA47-533F69289BDA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346">
                  <a:extLst>
                    <a:ext uri="{FF2B5EF4-FFF2-40B4-BE49-F238E27FC236}">
                      <a16:creationId xmlns:a16="http://schemas.microsoft.com/office/drawing/2014/main" id="{F0EF2CA1-09B6-A097-A728-3D518FD0618C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 347">
                  <a:extLst>
                    <a:ext uri="{FF2B5EF4-FFF2-40B4-BE49-F238E27FC236}">
                      <a16:creationId xmlns:a16="http://schemas.microsoft.com/office/drawing/2014/main" id="{B00FF8CF-2618-373E-9985-992C10CEFC94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 348">
                  <a:extLst>
                    <a:ext uri="{FF2B5EF4-FFF2-40B4-BE49-F238E27FC236}">
                      <a16:creationId xmlns:a16="http://schemas.microsoft.com/office/drawing/2014/main" id="{96AB6040-2EDF-7034-9C59-9503C7D8F3B0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 349">
                  <a:extLst>
                    <a:ext uri="{FF2B5EF4-FFF2-40B4-BE49-F238E27FC236}">
                      <a16:creationId xmlns:a16="http://schemas.microsoft.com/office/drawing/2014/main" id="{53157D6C-1171-C86B-DA4A-08C15FB6DF78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22" name="Straight Connector 350">
                  <a:extLst>
                    <a:ext uri="{FF2B5EF4-FFF2-40B4-BE49-F238E27FC236}">
                      <a16:creationId xmlns:a16="http://schemas.microsoft.com/office/drawing/2014/main" id="{1F5438EA-80BA-8F8E-6E07-75188AE06C13}"/>
                    </a:ext>
                  </a:extLst>
                </p:cNvPr>
                <p:cNvCxnSpPr>
                  <a:endCxn id="11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23" name="Straight Connector 351">
                  <a:extLst>
                    <a:ext uri="{FF2B5EF4-FFF2-40B4-BE49-F238E27FC236}">
                      <a16:creationId xmlns:a16="http://schemas.microsoft.com/office/drawing/2014/main" id="{8AA5215C-777C-219E-12FA-AB446222DE3F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12" name="Group 340">
                <a:extLst>
                  <a:ext uri="{FF2B5EF4-FFF2-40B4-BE49-F238E27FC236}">
                    <a16:creationId xmlns:a16="http://schemas.microsoft.com/office/drawing/2014/main" id="{0315963E-4660-CA45-FE29-98C177E490B8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13" name="Oval 341">
                  <a:extLst>
                    <a:ext uri="{FF2B5EF4-FFF2-40B4-BE49-F238E27FC236}">
                      <a16:creationId xmlns:a16="http://schemas.microsoft.com/office/drawing/2014/main" id="{F42825FA-4D34-866E-5D1A-D74A684892A1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TextBox 342">
                  <a:extLst>
                    <a:ext uri="{FF2B5EF4-FFF2-40B4-BE49-F238E27FC236}">
                      <a16:creationId xmlns:a16="http://schemas.microsoft.com/office/drawing/2014/main" id="{C69C0F6F-8AE8-11CB-D932-89881E3BAB56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2d</a:t>
                  </a:r>
                </a:p>
              </p:txBody>
            </p:sp>
          </p:grpSp>
        </p:grpSp>
        <p:grpSp>
          <p:nvGrpSpPr>
            <p:cNvPr id="77" name="Group 305">
              <a:extLst>
                <a:ext uri="{FF2B5EF4-FFF2-40B4-BE49-F238E27FC236}">
                  <a16:creationId xmlns:a16="http://schemas.microsoft.com/office/drawing/2014/main" id="{4B5A5F7F-1A77-2138-2C79-BA2EFB783E76}"/>
                </a:ext>
              </a:extLst>
            </p:cNvPr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98" name="Group 327">
                <a:extLst>
                  <a:ext uri="{FF2B5EF4-FFF2-40B4-BE49-F238E27FC236}">
                    <a16:creationId xmlns:a16="http://schemas.microsoft.com/office/drawing/2014/main" id="{337350D2-6105-929E-B6AC-A499CDA4D8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02" name="Oval 330">
                  <a:extLst>
                    <a:ext uri="{FF2B5EF4-FFF2-40B4-BE49-F238E27FC236}">
                      <a16:creationId xmlns:a16="http://schemas.microsoft.com/office/drawing/2014/main" id="{C594F1A4-A291-4628-2299-29820727F1C1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Rectangle 331">
                  <a:extLst>
                    <a:ext uri="{FF2B5EF4-FFF2-40B4-BE49-F238E27FC236}">
                      <a16:creationId xmlns:a16="http://schemas.microsoft.com/office/drawing/2014/main" id="{D6CD06A6-32A0-2785-35CF-7F20FD50F2F1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Oval 332">
                  <a:extLst>
                    <a:ext uri="{FF2B5EF4-FFF2-40B4-BE49-F238E27FC236}">
                      <a16:creationId xmlns:a16="http://schemas.microsoft.com/office/drawing/2014/main" id="{1EAB078C-5FB8-D934-64B4-F44E27D47D17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Freeform 333">
                  <a:extLst>
                    <a:ext uri="{FF2B5EF4-FFF2-40B4-BE49-F238E27FC236}">
                      <a16:creationId xmlns:a16="http://schemas.microsoft.com/office/drawing/2014/main" id="{D2995AEB-68EA-85DA-6670-DFF52BC8AE7D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Freeform 334">
                  <a:extLst>
                    <a:ext uri="{FF2B5EF4-FFF2-40B4-BE49-F238E27FC236}">
                      <a16:creationId xmlns:a16="http://schemas.microsoft.com/office/drawing/2014/main" id="{F8F83E19-F27B-E34E-8E56-75D61F552925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 335">
                  <a:extLst>
                    <a:ext uri="{FF2B5EF4-FFF2-40B4-BE49-F238E27FC236}">
                      <a16:creationId xmlns:a16="http://schemas.microsoft.com/office/drawing/2014/main" id="{FFC18B30-5E2D-01E7-54F4-57ABDA7C4356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336">
                  <a:extLst>
                    <a:ext uri="{FF2B5EF4-FFF2-40B4-BE49-F238E27FC236}">
                      <a16:creationId xmlns:a16="http://schemas.microsoft.com/office/drawing/2014/main" id="{65869796-858C-4FC4-E4D6-8EECFC0BB8EE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9" name="Straight Connector 337">
                  <a:extLst>
                    <a:ext uri="{FF2B5EF4-FFF2-40B4-BE49-F238E27FC236}">
                      <a16:creationId xmlns:a16="http://schemas.microsoft.com/office/drawing/2014/main" id="{EFBE0B2A-BCEE-B7A7-A6C0-CAE91A2FE89A}"/>
                    </a:ext>
                  </a:extLst>
                </p:cNvPr>
                <p:cNvCxnSpPr>
                  <a:endCxn id="10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10" name="Straight Connector 338">
                  <a:extLst>
                    <a:ext uri="{FF2B5EF4-FFF2-40B4-BE49-F238E27FC236}">
                      <a16:creationId xmlns:a16="http://schemas.microsoft.com/office/drawing/2014/main" id="{96CE6394-026E-ABD0-07A6-011C67B8FED1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9" name="Group 327">
                <a:extLst>
                  <a:ext uri="{FF2B5EF4-FFF2-40B4-BE49-F238E27FC236}">
                    <a16:creationId xmlns:a16="http://schemas.microsoft.com/office/drawing/2014/main" id="{B7111B8A-C2C2-FCF9-3A42-D9067936ED31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00" name="Oval 328">
                  <a:extLst>
                    <a:ext uri="{FF2B5EF4-FFF2-40B4-BE49-F238E27FC236}">
                      <a16:creationId xmlns:a16="http://schemas.microsoft.com/office/drawing/2014/main" id="{29A5B1BF-4CA4-B1EF-E8E3-3E506B40E54B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TextBox 329">
                  <a:extLst>
                    <a:ext uri="{FF2B5EF4-FFF2-40B4-BE49-F238E27FC236}">
                      <a16:creationId xmlns:a16="http://schemas.microsoft.com/office/drawing/2014/main" id="{B9A14668-8EFB-912F-D7F4-9DD8D1BCA1B2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2c</a:t>
                  </a:r>
                </a:p>
              </p:txBody>
            </p:sp>
          </p:grpSp>
        </p:grpSp>
        <p:grpSp>
          <p:nvGrpSpPr>
            <p:cNvPr id="78" name="Group 306">
              <a:extLst>
                <a:ext uri="{FF2B5EF4-FFF2-40B4-BE49-F238E27FC236}">
                  <a16:creationId xmlns:a16="http://schemas.microsoft.com/office/drawing/2014/main" id="{0DB3A595-10EF-5307-B796-3F925B058967}"/>
                </a:ext>
              </a:extLst>
            </p:cNvPr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85" name="Group 327">
                <a:extLst>
                  <a:ext uri="{FF2B5EF4-FFF2-40B4-BE49-F238E27FC236}">
                    <a16:creationId xmlns:a16="http://schemas.microsoft.com/office/drawing/2014/main" id="{8A327FD2-6E4C-C4BB-B2C6-99ED1E1690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9" name="Oval 317">
                  <a:extLst>
                    <a:ext uri="{FF2B5EF4-FFF2-40B4-BE49-F238E27FC236}">
                      <a16:creationId xmlns:a16="http://schemas.microsoft.com/office/drawing/2014/main" id="{72A4EDB3-E1CA-5534-023F-5C286D2BC03B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 318">
                  <a:extLst>
                    <a:ext uri="{FF2B5EF4-FFF2-40B4-BE49-F238E27FC236}">
                      <a16:creationId xmlns:a16="http://schemas.microsoft.com/office/drawing/2014/main" id="{4B332C4E-1B60-2B65-A27B-9EB1C84AAE4B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val 319">
                  <a:extLst>
                    <a:ext uri="{FF2B5EF4-FFF2-40B4-BE49-F238E27FC236}">
                      <a16:creationId xmlns:a16="http://schemas.microsoft.com/office/drawing/2014/main" id="{2366A51D-6D0B-DB69-C2BB-C78026944DCB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 320">
                  <a:extLst>
                    <a:ext uri="{FF2B5EF4-FFF2-40B4-BE49-F238E27FC236}">
                      <a16:creationId xmlns:a16="http://schemas.microsoft.com/office/drawing/2014/main" id="{74ECDA5D-6274-97ED-29A5-1207E28F6CA8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 321">
                  <a:extLst>
                    <a:ext uri="{FF2B5EF4-FFF2-40B4-BE49-F238E27FC236}">
                      <a16:creationId xmlns:a16="http://schemas.microsoft.com/office/drawing/2014/main" id="{18C4C8E9-F53A-5C8E-3CF4-E96F1E707E0B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 322">
                  <a:extLst>
                    <a:ext uri="{FF2B5EF4-FFF2-40B4-BE49-F238E27FC236}">
                      <a16:creationId xmlns:a16="http://schemas.microsoft.com/office/drawing/2014/main" id="{252BB52D-FCEB-ECB9-CFF6-68D61E3454AF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Freeform 323">
                  <a:extLst>
                    <a:ext uri="{FF2B5EF4-FFF2-40B4-BE49-F238E27FC236}">
                      <a16:creationId xmlns:a16="http://schemas.microsoft.com/office/drawing/2014/main" id="{C41C89F4-EEEB-B15A-4BD8-61679E3F3C24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" name="Straight Connector 324">
                  <a:extLst>
                    <a:ext uri="{FF2B5EF4-FFF2-40B4-BE49-F238E27FC236}">
                      <a16:creationId xmlns:a16="http://schemas.microsoft.com/office/drawing/2014/main" id="{EC3CEE18-2DAB-9E65-2103-3FA5AB1CF72C}"/>
                    </a:ext>
                  </a:extLst>
                </p:cNvPr>
                <p:cNvCxnSpPr>
                  <a:endCxn id="9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7" name="Straight Connector 325">
                  <a:extLst>
                    <a:ext uri="{FF2B5EF4-FFF2-40B4-BE49-F238E27FC236}">
                      <a16:creationId xmlns:a16="http://schemas.microsoft.com/office/drawing/2014/main" id="{60BCD8D3-2F91-B335-7C0F-B14645B02911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86" name="Group 314">
                <a:extLst>
                  <a:ext uri="{FF2B5EF4-FFF2-40B4-BE49-F238E27FC236}">
                    <a16:creationId xmlns:a16="http://schemas.microsoft.com/office/drawing/2014/main" id="{7C362DA2-BEFD-A119-129D-DEA20E77575A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87" name="Oval 315">
                  <a:extLst>
                    <a:ext uri="{FF2B5EF4-FFF2-40B4-BE49-F238E27FC236}">
                      <a16:creationId xmlns:a16="http://schemas.microsoft.com/office/drawing/2014/main" id="{E031E1DC-C998-BAC7-AA14-971A54AF3B85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TextBox 316">
                  <a:extLst>
                    <a:ext uri="{FF2B5EF4-FFF2-40B4-BE49-F238E27FC236}">
                      <a16:creationId xmlns:a16="http://schemas.microsoft.com/office/drawing/2014/main" id="{8F41B4CE-F381-0837-D741-863AA5A203F8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2a</a:t>
                  </a:r>
                </a:p>
              </p:txBody>
            </p:sp>
          </p:grpSp>
        </p:grpSp>
        <p:cxnSp>
          <p:nvCxnSpPr>
            <p:cNvPr id="79" name="Straight Connector 307">
              <a:extLst>
                <a:ext uri="{FF2B5EF4-FFF2-40B4-BE49-F238E27FC236}">
                  <a16:creationId xmlns:a16="http://schemas.microsoft.com/office/drawing/2014/main" id="{B06AD9D6-65D9-C51C-12CA-3358845575F1}"/>
                </a:ext>
              </a:extLst>
            </p:cNvPr>
            <p:cNvCxnSpPr>
              <a:stCxn id="127" idx="2"/>
              <a:endCxn id="114" idx="0"/>
            </p:cNvCxnSpPr>
            <p:nvPr/>
          </p:nvCxnSpPr>
          <p:spPr bwMode="auto">
            <a:xfrm>
              <a:off x="1991073" y="3242684"/>
              <a:ext cx="4230" cy="851985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Straight Connector 308">
              <a:extLst>
                <a:ext uri="{FF2B5EF4-FFF2-40B4-BE49-F238E27FC236}">
                  <a16:creationId xmlns:a16="http://schemas.microsoft.com/office/drawing/2014/main" id="{32B97756-3F8B-E467-2B3B-5D6D7488E41B}"/>
                </a:ext>
              </a:extLst>
            </p:cNvPr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Straight Connector 309">
              <a:extLst>
                <a:ext uri="{FF2B5EF4-FFF2-40B4-BE49-F238E27FC236}">
                  <a16:creationId xmlns:a16="http://schemas.microsoft.com/office/drawing/2014/main" id="{7C14147A-F8D2-21D3-C509-0832BDA2C32C}"/>
                </a:ext>
              </a:extLst>
            </p:cNvPr>
            <p:cNvCxnSpPr>
              <a:stCxn id="128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Straight Connector 310">
              <a:extLst>
                <a:ext uri="{FF2B5EF4-FFF2-40B4-BE49-F238E27FC236}">
                  <a16:creationId xmlns:a16="http://schemas.microsoft.com/office/drawing/2014/main" id="{54A9C869-D8B9-F196-9A7D-58421A5EE389}"/>
                </a:ext>
              </a:extLst>
            </p:cNvPr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Straight Connector 311">
              <a:extLst>
                <a:ext uri="{FF2B5EF4-FFF2-40B4-BE49-F238E27FC236}">
                  <a16:creationId xmlns:a16="http://schemas.microsoft.com/office/drawing/2014/main" id="{C132D79F-4CC1-3442-3746-52A6DED0FEB4}"/>
                </a:ext>
              </a:extLst>
            </p:cNvPr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Straight Connector 312">
              <a:extLst>
                <a:ext uri="{FF2B5EF4-FFF2-40B4-BE49-F238E27FC236}">
                  <a16:creationId xmlns:a16="http://schemas.microsoft.com/office/drawing/2014/main" id="{DF670E3E-67AD-038D-03AB-9E2905D6CA6E}"/>
                </a:ext>
              </a:extLst>
            </p:cNvPr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4" name="TextBox 432">
            <a:extLst>
              <a:ext uri="{FF2B5EF4-FFF2-40B4-BE49-F238E27FC236}">
                <a16:creationId xmlns:a16="http://schemas.microsoft.com/office/drawing/2014/main" id="{9FA769E6-6F40-B97B-4F3D-82CBE5AD1D50}"/>
              </a:ext>
            </a:extLst>
          </p:cNvPr>
          <p:cNvSpPr txBox="1"/>
          <p:nvPr/>
        </p:nvSpPr>
        <p:spPr>
          <a:xfrm>
            <a:off x="5399126" y="6278476"/>
            <a:ext cx="75353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2</a:t>
            </a:r>
          </a:p>
        </p:txBody>
      </p:sp>
      <p:sp>
        <p:nvSpPr>
          <p:cNvPr id="213" name="Oval 441">
            <a:extLst>
              <a:ext uri="{FF2B5EF4-FFF2-40B4-BE49-F238E27FC236}">
                <a16:creationId xmlns:a16="http://schemas.microsoft.com/office/drawing/2014/main" id="{68CF1669-4923-B967-E7FC-696BCC0EC7D4}"/>
              </a:ext>
            </a:extLst>
          </p:cNvPr>
          <p:cNvSpPr/>
          <p:nvPr/>
        </p:nvSpPr>
        <p:spPr bwMode="auto">
          <a:xfrm>
            <a:off x="4416548" y="4813835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14" name="Oval 442">
            <a:extLst>
              <a:ext uri="{FF2B5EF4-FFF2-40B4-BE49-F238E27FC236}">
                <a16:creationId xmlns:a16="http://schemas.microsoft.com/office/drawing/2014/main" id="{F8D7BB5F-97AE-F7E0-2358-7803A246163D}"/>
              </a:ext>
            </a:extLst>
          </p:cNvPr>
          <p:cNvSpPr/>
          <p:nvPr/>
        </p:nvSpPr>
        <p:spPr bwMode="auto">
          <a:xfrm>
            <a:off x="6205451" y="4811723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85" name="文本框 484">
            <a:extLst>
              <a:ext uri="{FF2B5EF4-FFF2-40B4-BE49-F238E27FC236}">
                <a16:creationId xmlns:a16="http://schemas.microsoft.com/office/drawing/2014/main" id="{DC4B4C79-043E-36F6-4F21-D3C9D3E69E77}"/>
              </a:ext>
            </a:extLst>
          </p:cNvPr>
          <p:cNvSpPr txBox="1"/>
          <p:nvPr/>
        </p:nvSpPr>
        <p:spPr>
          <a:xfrm>
            <a:off x="5133139" y="5248667"/>
            <a:ext cx="1001568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AS3, X</a:t>
            </a:r>
          </a:p>
        </p:txBody>
      </p:sp>
      <p:cxnSp>
        <p:nvCxnSpPr>
          <p:cNvPr id="203" name="Straight Connector 431">
            <a:extLst>
              <a:ext uri="{FF2B5EF4-FFF2-40B4-BE49-F238E27FC236}">
                <a16:creationId xmlns:a16="http://schemas.microsoft.com/office/drawing/2014/main" id="{7F0AF7ED-8798-DFDD-F73F-39D4D8C72B29}"/>
              </a:ext>
            </a:extLst>
          </p:cNvPr>
          <p:cNvCxnSpPr>
            <a:cxnSpLocks/>
            <a:stCxn id="156" idx="2"/>
            <a:endCxn id="102" idx="7"/>
          </p:cNvCxnSpPr>
          <p:nvPr/>
        </p:nvCxnSpPr>
        <p:spPr bwMode="auto">
          <a:xfrm flipH="1" flipV="1">
            <a:off x="6818167" y="5359890"/>
            <a:ext cx="1665402" cy="75104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" name="文本框 485">
            <a:extLst>
              <a:ext uri="{FF2B5EF4-FFF2-40B4-BE49-F238E27FC236}">
                <a16:creationId xmlns:a16="http://schemas.microsoft.com/office/drawing/2014/main" id="{85B1B752-F72B-2E8B-1114-6F8FD47F4FF9}"/>
              </a:ext>
            </a:extLst>
          </p:cNvPr>
          <p:cNvSpPr txBox="1"/>
          <p:nvPr/>
        </p:nvSpPr>
        <p:spPr>
          <a:xfrm rot="21004227">
            <a:off x="2912159" y="5063567"/>
            <a:ext cx="1501033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AS2, AS3, X</a:t>
            </a:r>
          </a:p>
        </p:txBody>
      </p:sp>
      <p:grpSp>
        <p:nvGrpSpPr>
          <p:cNvPr id="139" name="Group 367">
            <a:extLst>
              <a:ext uri="{FF2B5EF4-FFF2-40B4-BE49-F238E27FC236}">
                <a16:creationId xmlns:a16="http://schemas.microsoft.com/office/drawing/2014/main" id="{433A5D01-3FD0-6271-115D-CB55FBF8D390}"/>
              </a:ext>
            </a:extLst>
          </p:cNvPr>
          <p:cNvGrpSpPr/>
          <p:nvPr/>
        </p:nvGrpSpPr>
        <p:grpSpPr>
          <a:xfrm>
            <a:off x="8483569" y="4702061"/>
            <a:ext cx="2333625" cy="1590649"/>
            <a:chOff x="833331" y="2873352"/>
            <a:chExt cx="2333625" cy="1590649"/>
          </a:xfrm>
        </p:grpSpPr>
        <p:grpSp>
          <p:nvGrpSpPr>
            <p:cNvPr id="140" name="Group 368">
              <a:extLst>
                <a:ext uri="{FF2B5EF4-FFF2-40B4-BE49-F238E27FC236}">
                  <a16:creationId xmlns:a16="http://schemas.microsoft.com/office/drawing/2014/main" id="{DF5B8878-E527-63AE-BD4E-FF1CC8D4FCCD}"/>
                </a:ext>
              </a:extLst>
            </p:cNvPr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89" name="Group 327">
                <a:extLst>
                  <a:ext uri="{FF2B5EF4-FFF2-40B4-BE49-F238E27FC236}">
                    <a16:creationId xmlns:a16="http://schemas.microsoft.com/office/drawing/2014/main" id="{064D6350-8CF8-BB75-74E2-1002397BF9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3" name="Oval 421">
                  <a:extLst>
                    <a:ext uri="{FF2B5EF4-FFF2-40B4-BE49-F238E27FC236}">
                      <a16:creationId xmlns:a16="http://schemas.microsoft.com/office/drawing/2014/main" id="{DA071938-9385-1B4B-0496-DCAB92691D0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Rectangle 422">
                  <a:extLst>
                    <a:ext uri="{FF2B5EF4-FFF2-40B4-BE49-F238E27FC236}">
                      <a16:creationId xmlns:a16="http://schemas.microsoft.com/office/drawing/2014/main" id="{80857329-841C-0ED6-3F3F-80E6DA218FB2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Oval 423">
                  <a:extLst>
                    <a:ext uri="{FF2B5EF4-FFF2-40B4-BE49-F238E27FC236}">
                      <a16:creationId xmlns:a16="http://schemas.microsoft.com/office/drawing/2014/main" id="{03135870-9405-0663-F3C7-9CCB4FD95D46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424">
                  <a:extLst>
                    <a:ext uri="{FF2B5EF4-FFF2-40B4-BE49-F238E27FC236}">
                      <a16:creationId xmlns:a16="http://schemas.microsoft.com/office/drawing/2014/main" id="{90D70120-0043-D8AB-FD48-D879F1A62520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 425">
                  <a:extLst>
                    <a:ext uri="{FF2B5EF4-FFF2-40B4-BE49-F238E27FC236}">
                      <a16:creationId xmlns:a16="http://schemas.microsoft.com/office/drawing/2014/main" id="{F0E90EF0-0D71-75C9-31C2-108CB6043533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426">
                  <a:extLst>
                    <a:ext uri="{FF2B5EF4-FFF2-40B4-BE49-F238E27FC236}">
                      <a16:creationId xmlns:a16="http://schemas.microsoft.com/office/drawing/2014/main" id="{067FCBF9-C9BB-0482-C2C4-A02DD813C53C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Freeform 427">
                  <a:extLst>
                    <a:ext uri="{FF2B5EF4-FFF2-40B4-BE49-F238E27FC236}">
                      <a16:creationId xmlns:a16="http://schemas.microsoft.com/office/drawing/2014/main" id="{FF354961-7898-B571-9811-B1DA37CA5AC0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00" name="Straight Connector 428">
                  <a:extLst>
                    <a:ext uri="{FF2B5EF4-FFF2-40B4-BE49-F238E27FC236}">
                      <a16:creationId xmlns:a16="http://schemas.microsoft.com/office/drawing/2014/main" id="{AD489102-F301-1780-29DA-7961610D15D8}"/>
                    </a:ext>
                  </a:extLst>
                </p:cNvPr>
                <p:cNvCxnSpPr>
                  <a:endCxn id="19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01" name="Straight Connector 429">
                  <a:extLst>
                    <a:ext uri="{FF2B5EF4-FFF2-40B4-BE49-F238E27FC236}">
                      <a16:creationId xmlns:a16="http://schemas.microsoft.com/office/drawing/2014/main" id="{1AE58BA8-FD3B-F5B4-8A11-7A90CBB2FFA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90" name="Group 418">
                <a:extLst>
                  <a:ext uri="{FF2B5EF4-FFF2-40B4-BE49-F238E27FC236}">
                    <a16:creationId xmlns:a16="http://schemas.microsoft.com/office/drawing/2014/main" id="{AA8C5175-23A3-F260-ABB0-CCF41BE71AB1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91" name="Oval 419">
                  <a:extLst>
                    <a:ext uri="{FF2B5EF4-FFF2-40B4-BE49-F238E27FC236}">
                      <a16:creationId xmlns:a16="http://schemas.microsoft.com/office/drawing/2014/main" id="{B1A6D7F6-EEFB-BD60-F26F-30B59F878BD5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TextBox 420">
                  <a:extLst>
                    <a:ext uri="{FF2B5EF4-FFF2-40B4-BE49-F238E27FC236}">
                      <a16:creationId xmlns:a16="http://schemas.microsoft.com/office/drawing/2014/main" id="{4AD5CB92-66A1-8B96-A2FB-2FEB1A2E01B8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3b</a:t>
                  </a:r>
                </a:p>
              </p:txBody>
            </p:sp>
          </p:grpSp>
        </p:grpSp>
        <p:grpSp>
          <p:nvGrpSpPr>
            <p:cNvPr id="141" name="Group 369">
              <a:extLst>
                <a:ext uri="{FF2B5EF4-FFF2-40B4-BE49-F238E27FC236}">
                  <a16:creationId xmlns:a16="http://schemas.microsoft.com/office/drawing/2014/main" id="{7D472B5C-EC79-F97F-6035-5A8118FDC5A5}"/>
                </a:ext>
              </a:extLst>
            </p:cNvPr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76" name="Group 327">
                <a:extLst>
                  <a:ext uri="{FF2B5EF4-FFF2-40B4-BE49-F238E27FC236}">
                    <a16:creationId xmlns:a16="http://schemas.microsoft.com/office/drawing/2014/main" id="{4882B03F-BA41-EF72-E1B7-1AC3FC0264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80" name="Oval 408">
                  <a:extLst>
                    <a:ext uri="{FF2B5EF4-FFF2-40B4-BE49-F238E27FC236}">
                      <a16:creationId xmlns:a16="http://schemas.microsoft.com/office/drawing/2014/main" id="{548DBB0F-4585-130B-8757-4FF8B9D86B8A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Rectangle 409">
                  <a:extLst>
                    <a:ext uri="{FF2B5EF4-FFF2-40B4-BE49-F238E27FC236}">
                      <a16:creationId xmlns:a16="http://schemas.microsoft.com/office/drawing/2014/main" id="{08081A53-6850-932D-5286-B18ED8C4CFB6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Oval 410">
                  <a:extLst>
                    <a:ext uri="{FF2B5EF4-FFF2-40B4-BE49-F238E27FC236}">
                      <a16:creationId xmlns:a16="http://schemas.microsoft.com/office/drawing/2014/main" id="{E29934B7-21DF-5A42-73BC-4A96289CFB09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411">
                  <a:extLst>
                    <a:ext uri="{FF2B5EF4-FFF2-40B4-BE49-F238E27FC236}">
                      <a16:creationId xmlns:a16="http://schemas.microsoft.com/office/drawing/2014/main" id="{19DCDEC7-4F21-8563-7392-4571D64308B0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 412">
                  <a:extLst>
                    <a:ext uri="{FF2B5EF4-FFF2-40B4-BE49-F238E27FC236}">
                      <a16:creationId xmlns:a16="http://schemas.microsoft.com/office/drawing/2014/main" id="{D636EAB4-1269-0A52-8E8B-DF0A34347D24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 413">
                  <a:extLst>
                    <a:ext uri="{FF2B5EF4-FFF2-40B4-BE49-F238E27FC236}">
                      <a16:creationId xmlns:a16="http://schemas.microsoft.com/office/drawing/2014/main" id="{152E1512-724A-8642-3355-D3367515DE2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Freeform 414">
                  <a:extLst>
                    <a:ext uri="{FF2B5EF4-FFF2-40B4-BE49-F238E27FC236}">
                      <a16:creationId xmlns:a16="http://schemas.microsoft.com/office/drawing/2014/main" id="{D934A747-4F94-A7C8-3ED3-5E3C9E67DC33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87" name="Straight Connector 415">
                  <a:extLst>
                    <a:ext uri="{FF2B5EF4-FFF2-40B4-BE49-F238E27FC236}">
                      <a16:creationId xmlns:a16="http://schemas.microsoft.com/office/drawing/2014/main" id="{EEC7E858-CED2-81A8-C032-E1C42E7E380E}"/>
                    </a:ext>
                  </a:extLst>
                </p:cNvPr>
                <p:cNvCxnSpPr>
                  <a:endCxn id="18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88" name="Straight Connector 416">
                  <a:extLst>
                    <a:ext uri="{FF2B5EF4-FFF2-40B4-BE49-F238E27FC236}">
                      <a16:creationId xmlns:a16="http://schemas.microsoft.com/office/drawing/2014/main" id="{2A8FD83A-CE55-E2C4-7EAD-4A2C9838BD5E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77" name="Group 405">
                <a:extLst>
                  <a:ext uri="{FF2B5EF4-FFF2-40B4-BE49-F238E27FC236}">
                    <a16:creationId xmlns:a16="http://schemas.microsoft.com/office/drawing/2014/main" id="{6DCFFE2A-C302-5897-3E2E-3F9907572AC3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78" name="Oval 406">
                  <a:extLst>
                    <a:ext uri="{FF2B5EF4-FFF2-40B4-BE49-F238E27FC236}">
                      <a16:creationId xmlns:a16="http://schemas.microsoft.com/office/drawing/2014/main" id="{5A05D0F4-BF47-C81D-37DE-30E0F952BEBB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TextBox 407">
                  <a:extLst>
                    <a:ext uri="{FF2B5EF4-FFF2-40B4-BE49-F238E27FC236}">
                      <a16:creationId xmlns:a16="http://schemas.microsoft.com/office/drawing/2014/main" id="{13B5920B-3C83-6A3A-5D90-DA3CF3C45DA4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3d</a:t>
                  </a:r>
                </a:p>
              </p:txBody>
            </p:sp>
          </p:grpSp>
        </p:grpSp>
        <p:grpSp>
          <p:nvGrpSpPr>
            <p:cNvPr id="142" name="Group 370">
              <a:extLst>
                <a:ext uri="{FF2B5EF4-FFF2-40B4-BE49-F238E27FC236}">
                  <a16:creationId xmlns:a16="http://schemas.microsoft.com/office/drawing/2014/main" id="{CB43B4DF-775F-BADB-BD61-D1ADDE968694}"/>
                </a:ext>
              </a:extLst>
            </p:cNvPr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163" name="Group 327">
                <a:extLst>
                  <a:ext uri="{FF2B5EF4-FFF2-40B4-BE49-F238E27FC236}">
                    <a16:creationId xmlns:a16="http://schemas.microsoft.com/office/drawing/2014/main" id="{316A4BA8-C280-60C9-9022-CD92181EBC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67" name="Oval 395">
                  <a:extLst>
                    <a:ext uri="{FF2B5EF4-FFF2-40B4-BE49-F238E27FC236}">
                      <a16:creationId xmlns:a16="http://schemas.microsoft.com/office/drawing/2014/main" id="{04405D0C-8BA6-6DFA-27A8-DA94BA60864E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Rectangle 396">
                  <a:extLst>
                    <a:ext uri="{FF2B5EF4-FFF2-40B4-BE49-F238E27FC236}">
                      <a16:creationId xmlns:a16="http://schemas.microsoft.com/office/drawing/2014/main" id="{9D5BC73A-43F2-C510-5754-BAC75567B00D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Oval 397">
                  <a:extLst>
                    <a:ext uri="{FF2B5EF4-FFF2-40B4-BE49-F238E27FC236}">
                      <a16:creationId xmlns:a16="http://schemas.microsoft.com/office/drawing/2014/main" id="{28AE3B46-CE68-2B52-5463-3C82A975EF6B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 398">
                  <a:extLst>
                    <a:ext uri="{FF2B5EF4-FFF2-40B4-BE49-F238E27FC236}">
                      <a16:creationId xmlns:a16="http://schemas.microsoft.com/office/drawing/2014/main" id="{7B3DDB38-7B79-7BBA-DEA6-FA4AE68B42BA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Freeform 399">
                  <a:extLst>
                    <a:ext uri="{FF2B5EF4-FFF2-40B4-BE49-F238E27FC236}">
                      <a16:creationId xmlns:a16="http://schemas.microsoft.com/office/drawing/2014/main" id="{647CF796-F890-8752-0CCB-CB0B6F47A503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 400">
                  <a:extLst>
                    <a:ext uri="{FF2B5EF4-FFF2-40B4-BE49-F238E27FC236}">
                      <a16:creationId xmlns:a16="http://schemas.microsoft.com/office/drawing/2014/main" id="{63DC83F6-8D08-63D8-A34A-B5C31D14E25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 401">
                  <a:extLst>
                    <a:ext uri="{FF2B5EF4-FFF2-40B4-BE49-F238E27FC236}">
                      <a16:creationId xmlns:a16="http://schemas.microsoft.com/office/drawing/2014/main" id="{6CBB613B-05A8-9236-434A-2EEC6D4E774B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74" name="Straight Connector 402">
                  <a:extLst>
                    <a:ext uri="{FF2B5EF4-FFF2-40B4-BE49-F238E27FC236}">
                      <a16:creationId xmlns:a16="http://schemas.microsoft.com/office/drawing/2014/main" id="{9ABC63D8-704C-8456-D012-1D1282F49370}"/>
                    </a:ext>
                  </a:extLst>
                </p:cNvPr>
                <p:cNvCxnSpPr>
                  <a:endCxn id="16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75" name="Straight Connector 403">
                  <a:extLst>
                    <a:ext uri="{FF2B5EF4-FFF2-40B4-BE49-F238E27FC236}">
                      <a16:creationId xmlns:a16="http://schemas.microsoft.com/office/drawing/2014/main" id="{9BE6440A-9802-814A-BAE9-5AC7F86766C2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64" name="Group 392">
                <a:extLst>
                  <a:ext uri="{FF2B5EF4-FFF2-40B4-BE49-F238E27FC236}">
                    <a16:creationId xmlns:a16="http://schemas.microsoft.com/office/drawing/2014/main" id="{53833C36-BFC5-5E90-2E30-7C7C2B0B0FC3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65" name="Oval 393">
                  <a:extLst>
                    <a:ext uri="{FF2B5EF4-FFF2-40B4-BE49-F238E27FC236}">
                      <a16:creationId xmlns:a16="http://schemas.microsoft.com/office/drawing/2014/main" id="{3B749C2B-5A7D-F84E-AF78-63D5494DAE6D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TextBox 394">
                  <a:extLst>
                    <a:ext uri="{FF2B5EF4-FFF2-40B4-BE49-F238E27FC236}">
                      <a16:creationId xmlns:a16="http://schemas.microsoft.com/office/drawing/2014/main" id="{7E1E192B-6985-3A75-CEFC-02D43CF12928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3c</a:t>
                  </a:r>
                </a:p>
              </p:txBody>
            </p:sp>
          </p:grpSp>
        </p:grpSp>
        <p:grpSp>
          <p:nvGrpSpPr>
            <p:cNvPr id="143" name="Group 371">
              <a:extLst>
                <a:ext uri="{FF2B5EF4-FFF2-40B4-BE49-F238E27FC236}">
                  <a16:creationId xmlns:a16="http://schemas.microsoft.com/office/drawing/2014/main" id="{D967F098-3949-DB21-0065-5094CFFBD3ED}"/>
                </a:ext>
              </a:extLst>
            </p:cNvPr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50" name="Group 327">
                <a:extLst>
                  <a:ext uri="{FF2B5EF4-FFF2-40B4-BE49-F238E27FC236}">
                    <a16:creationId xmlns:a16="http://schemas.microsoft.com/office/drawing/2014/main" id="{5C3D2C9B-5D75-5581-C03B-ADD6D1236A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54" name="Oval 382">
                  <a:extLst>
                    <a:ext uri="{FF2B5EF4-FFF2-40B4-BE49-F238E27FC236}">
                      <a16:creationId xmlns:a16="http://schemas.microsoft.com/office/drawing/2014/main" id="{D450B908-76B1-D40A-B3CD-BB4909F74E9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Rectangle 383">
                  <a:extLst>
                    <a:ext uri="{FF2B5EF4-FFF2-40B4-BE49-F238E27FC236}">
                      <a16:creationId xmlns:a16="http://schemas.microsoft.com/office/drawing/2014/main" id="{C6A973DB-BE1C-2863-D9F7-18F7096CF41C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Oval 384">
                  <a:extLst>
                    <a:ext uri="{FF2B5EF4-FFF2-40B4-BE49-F238E27FC236}">
                      <a16:creationId xmlns:a16="http://schemas.microsoft.com/office/drawing/2014/main" id="{F2ED083B-CAF7-F2D9-9556-750D06C7AC3D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 385">
                  <a:extLst>
                    <a:ext uri="{FF2B5EF4-FFF2-40B4-BE49-F238E27FC236}">
                      <a16:creationId xmlns:a16="http://schemas.microsoft.com/office/drawing/2014/main" id="{83572A25-0999-D592-A849-35986D242372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Freeform 386">
                  <a:extLst>
                    <a:ext uri="{FF2B5EF4-FFF2-40B4-BE49-F238E27FC236}">
                      <a16:creationId xmlns:a16="http://schemas.microsoft.com/office/drawing/2014/main" id="{9EF761E2-8325-1086-946D-2C9F4C82810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Freeform 387">
                  <a:extLst>
                    <a:ext uri="{FF2B5EF4-FFF2-40B4-BE49-F238E27FC236}">
                      <a16:creationId xmlns:a16="http://schemas.microsoft.com/office/drawing/2014/main" id="{DEB55E6E-76E4-5F54-8B4F-40A0AAABCA95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Freeform 388">
                  <a:extLst>
                    <a:ext uri="{FF2B5EF4-FFF2-40B4-BE49-F238E27FC236}">
                      <a16:creationId xmlns:a16="http://schemas.microsoft.com/office/drawing/2014/main" id="{0B821BEB-37DF-DED3-AF1E-2F00A655E87A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61" name="Straight Connector 389">
                  <a:extLst>
                    <a:ext uri="{FF2B5EF4-FFF2-40B4-BE49-F238E27FC236}">
                      <a16:creationId xmlns:a16="http://schemas.microsoft.com/office/drawing/2014/main" id="{67F408C2-F9D1-25F4-4AD4-7F93199127A6}"/>
                    </a:ext>
                  </a:extLst>
                </p:cNvPr>
                <p:cNvCxnSpPr>
                  <a:endCxn id="15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62" name="Straight Connector 390">
                  <a:extLst>
                    <a:ext uri="{FF2B5EF4-FFF2-40B4-BE49-F238E27FC236}">
                      <a16:creationId xmlns:a16="http://schemas.microsoft.com/office/drawing/2014/main" id="{FCC9D748-BC4F-DB88-ED5A-67AFDEAFD234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51" name="Group 379">
                <a:extLst>
                  <a:ext uri="{FF2B5EF4-FFF2-40B4-BE49-F238E27FC236}">
                    <a16:creationId xmlns:a16="http://schemas.microsoft.com/office/drawing/2014/main" id="{B8986D87-BB12-6432-6683-3D4B1BFE8A35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52" name="Oval 380">
                  <a:extLst>
                    <a:ext uri="{FF2B5EF4-FFF2-40B4-BE49-F238E27FC236}">
                      <a16:creationId xmlns:a16="http://schemas.microsoft.com/office/drawing/2014/main" id="{83ECAB26-1254-CD06-DCD1-186259E99D2E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TextBox 381">
                  <a:extLst>
                    <a:ext uri="{FF2B5EF4-FFF2-40B4-BE49-F238E27FC236}">
                      <a16:creationId xmlns:a16="http://schemas.microsoft.com/office/drawing/2014/main" id="{F4666BA7-8B50-63FF-DDDE-85B18AA21905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3a</a:t>
                  </a:r>
                </a:p>
              </p:txBody>
            </p:sp>
          </p:grpSp>
        </p:grpSp>
        <p:cxnSp>
          <p:nvCxnSpPr>
            <p:cNvPr id="144" name="Straight Connector 372">
              <a:extLst>
                <a:ext uri="{FF2B5EF4-FFF2-40B4-BE49-F238E27FC236}">
                  <a16:creationId xmlns:a16="http://schemas.microsoft.com/office/drawing/2014/main" id="{14C45D91-34E6-3665-2571-2FE8FFDEFDCA}"/>
                </a:ext>
              </a:extLst>
            </p:cNvPr>
            <p:cNvCxnSpPr>
              <a:stCxn id="192" idx="2"/>
              <a:endCxn id="179" idx="0"/>
            </p:cNvCxnSpPr>
            <p:nvPr/>
          </p:nvCxnSpPr>
          <p:spPr bwMode="auto">
            <a:xfrm>
              <a:off x="1991073" y="3242684"/>
              <a:ext cx="4230" cy="851985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5" name="Straight Connector 373">
              <a:extLst>
                <a:ext uri="{FF2B5EF4-FFF2-40B4-BE49-F238E27FC236}">
                  <a16:creationId xmlns:a16="http://schemas.microsoft.com/office/drawing/2014/main" id="{6F4CF158-696D-27AD-5F22-402484AAC21F}"/>
                </a:ext>
              </a:extLst>
            </p:cNvPr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Straight Connector 374">
              <a:extLst>
                <a:ext uri="{FF2B5EF4-FFF2-40B4-BE49-F238E27FC236}">
                  <a16:creationId xmlns:a16="http://schemas.microsoft.com/office/drawing/2014/main" id="{594E054B-9183-0EAB-6D46-932DCE12C909}"/>
                </a:ext>
              </a:extLst>
            </p:cNvPr>
            <p:cNvCxnSpPr>
              <a:stCxn id="193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7" name="Straight Connector 375">
              <a:extLst>
                <a:ext uri="{FF2B5EF4-FFF2-40B4-BE49-F238E27FC236}">
                  <a16:creationId xmlns:a16="http://schemas.microsoft.com/office/drawing/2014/main" id="{C8ED23BB-DA0E-11C4-3BCA-F900A2D49525}"/>
                </a:ext>
              </a:extLst>
            </p:cNvPr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8" name="Straight Connector 376">
              <a:extLst>
                <a:ext uri="{FF2B5EF4-FFF2-40B4-BE49-F238E27FC236}">
                  <a16:creationId xmlns:a16="http://schemas.microsoft.com/office/drawing/2014/main" id="{4F1F7415-266F-9018-FCB9-1CA452BAB5FA}"/>
                </a:ext>
              </a:extLst>
            </p:cNvPr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9" name="Straight Connector 377">
              <a:extLst>
                <a:ext uri="{FF2B5EF4-FFF2-40B4-BE49-F238E27FC236}">
                  <a16:creationId xmlns:a16="http://schemas.microsoft.com/office/drawing/2014/main" id="{43A6E610-D1F7-E400-1900-24CFD7E4BACE}"/>
                </a:ext>
              </a:extLst>
            </p:cNvPr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5" name="TextBox 433">
            <a:extLst>
              <a:ext uri="{FF2B5EF4-FFF2-40B4-BE49-F238E27FC236}">
                <a16:creationId xmlns:a16="http://schemas.microsoft.com/office/drawing/2014/main" id="{3EF3DB3D-7C96-506C-BB67-DFF3726E0EBA}"/>
              </a:ext>
            </a:extLst>
          </p:cNvPr>
          <p:cNvSpPr txBox="1"/>
          <p:nvPr/>
        </p:nvSpPr>
        <p:spPr>
          <a:xfrm>
            <a:off x="9400597" y="6430328"/>
            <a:ext cx="75353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3</a:t>
            </a:r>
          </a:p>
        </p:txBody>
      </p:sp>
      <p:sp>
        <p:nvSpPr>
          <p:cNvPr id="215" name="Oval 443">
            <a:extLst>
              <a:ext uri="{FF2B5EF4-FFF2-40B4-BE49-F238E27FC236}">
                <a16:creationId xmlns:a16="http://schemas.microsoft.com/office/drawing/2014/main" id="{7F7F6838-4F4C-0899-A85D-0F43C7BB8B6B}"/>
              </a:ext>
            </a:extLst>
          </p:cNvPr>
          <p:cNvSpPr/>
          <p:nvPr/>
        </p:nvSpPr>
        <p:spPr bwMode="auto">
          <a:xfrm>
            <a:off x="8325829" y="5026746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59" name="Freeform 2">
            <a:extLst>
              <a:ext uri="{FF2B5EF4-FFF2-40B4-BE49-F238E27FC236}">
                <a16:creationId xmlns:a16="http://schemas.microsoft.com/office/drawing/2014/main" id="{C2857663-F864-04FB-C838-84466F5DB864}"/>
              </a:ext>
            </a:extLst>
          </p:cNvPr>
          <p:cNvSpPr>
            <a:spLocks/>
          </p:cNvSpPr>
          <p:nvPr/>
        </p:nvSpPr>
        <p:spPr bwMode="auto">
          <a:xfrm>
            <a:off x="9922494" y="5651145"/>
            <a:ext cx="1953645" cy="76286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 w 9959"/>
              <a:gd name="connsiteY0" fmla="*/ 5593 h 11352"/>
              <a:gd name="connsiteX1" fmla="*/ 1089 w 9959"/>
              <a:gd name="connsiteY1" fmla="*/ 469 h 11352"/>
              <a:gd name="connsiteX2" fmla="*/ 4845 w 9959"/>
              <a:gd name="connsiteY2" fmla="*/ 561 h 11352"/>
              <a:gd name="connsiteX3" fmla="*/ 8027 w 9959"/>
              <a:gd name="connsiteY3" fmla="*/ 3370 h 11352"/>
              <a:gd name="connsiteX4" fmla="*/ 9955 w 9959"/>
              <a:gd name="connsiteY4" fmla="*/ 5970 h 11352"/>
              <a:gd name="connsiteX5" fmla="*/ 8435 w 9959"/>
              <a:gd name="connsiteY5" fmla="*/ 7863 h 11352"/>
              <a:gd name="connsiteX6" fmla="*/ 5161 w 9959"/>
              <a:gd name="connsiteY6" fmla="*/ 11352 h 11352"/>
              <a:gd name="connsiteX7" fmla="*/ 2712 w 9959"/>
              <a:gd name="connsiteY7" fmla="*/ 8240 h 11352"/>
              <a:gd name="connsiteX8" fmla="*/ 1334 w 9959"/>
              <a:gd name="connsiteY8" fmla="*/ 7922 h 11352"/>
              <a:gd name="connsiteX9" fmla="*/ 4 w 9959"/>
              <a:gd name="connsiteY9" fmla="*/ 5593 h 11352"/>
              <a:gd name="connsiteX0" fmla="*/ 0 w 11223"/>
              <a:gd name="connsiteY0" fmla="*/ 3835 h 9929"/>
              <a:gd name="connsiteX1" fmla="*/ 2316 w 11223"/>
              <a:gd name="connsiteY1" fmla="*/ 342 h 9929"/>
              <a:gd name="connsiteX2" fmla="*/ 6088 w 11223"/>
              <a:gd name="connsiteY2" fmla="*/ 423 h 9929"/>
              <a:gd name="connsiteX3" fmla="*/ 9283 w 11223"/>
              <a:gd name="connsiteY3" fmla="*/ 2898 h 9929"/>
              <a:gd name="connsiteX4" fmla="*/ 11219 w 11223"/>
              <a:gd name="connsiteY4" fmla="*/ 5188 h 9929"/>
              <a:gd name="connsiteX5" fmla="*/ 9693 w 11223"/>
              <a:gd name="connsiteY5" fmla="*/ 6856 h 9929"/>
              <a:gd name="connsiteX6" fmla="*/ 6405 w 11223"/>
              <a:gd name="connsiteY6" fmla="*/ 9929 h 9929"/>
              <a:gd name="connsiteX7" fmla="*/ 3946 w 11223"/>
              <a:gd name="connsiteY7" fmla="*/ 7188 h 9929"/>
              <a:gd name="connsiteX8" fmla="*/ 2562 w 11223"/>
              <a:gd name="connsiteY8" fmla="*/ 6908 h 9929"/>
              <a:gd name="connsiteX9" fmla="*/ 0 w 11223"/>
              <a:gd name="connsiteY9" fmla="*/ 3835 h 9929"/>
              <a:gd name="connsiteX0" fmla="*/ 0 w 9999"/>
              <a:gd name="connsiteY0" fmla="*/ 3862 h 10000"/>
              <a:gd name="connsiteX1" fmla="*/ 2064 w 9999"/>
              <a:gd name="connsiteY1" fmla="*/ 344 h 10000"/>
              <a:gd name="connsiteX2" fmla="*/ 5425 w 9999"/>
              <a:gd name="connsiteY2" fmla="*/ 426 h 10000"/>
              <a:gd name="connsiteX3" fmla="*/ 8271 w 9999"/>
              <a:gd name="connsiteY3" fmla="*/ 2919 h 10000"/>
              <a:gd name="connsiteX4" fmla="*/ 9996 w 9999"/>
              <a:gd name="connsiteY4" fmla="*/ 5225 h 10000"/>
              <a:gd name="connsiteX5" fmla="*/ 8637 w 9999"/>
              <a:gd name="connsiteY5" fmla="*/ 6905 h 10000"/>
              <a:gd name="connsiteX6" fmla="*/ 5707 w 9999"/>
              <a:gd name="connsiteY6" fmla="*/ 10000 h 10000"/>
              <a:gd name="connsiteX7" fmla="*/ 2283 w 9999"/>
              <a:gd name="connsiteY7" fmla="*/ 6957 h 10000"/>
              <a:gd name="connsiteX8" fmla="*/ 0 w 9999"/>
              <a:gd name="connsiteY8" fmla="*/ 3862 h 10000"/>
              <a:gd name="connsiteX0" fmla="*/ 124 w 10124"/>
              <a:gd name="connsiteY0" fmla="*/ 3862 h 10000"/>
              <a:gd name="connsiteX1" fmla="*/ 2188 w 10124"/>
              <a:gd name="connsiteY1" fmla="*/ 344 h 10000"/>
              <a:gd name="connsiteX2" fmla="*/ 5550 w 10124"/>
              <a:gd name="connsiteY2" fmla="*/ 426 h 10000"/>
              <a:gd name="connsiteX3" fmla="*/ 8396 w 10124"/>
              <a:gd name="connsiteY3" fmla="*/ 2919 h 10000"/>
              <a:gd name="connsiteX4" fmla="*/ 10121 w 10124"/>
              <a:gd name="connsiteY4" fmla="*/ 5225 h 10000"/>
              <a:gd name="connsiteX5" fmla="*/ 8762 w 10124"/>
              <a:gd name="connsiteY5" fmla="*/ 6905 h 10000"/>
              <a:gd name="connsiteX6" fmla="*/ 5832 w 10124"/>
              <a:gd name="connsiteY6" fmla="*/ 10000 h 10000"/>
              <a:gd name="connsiteX7" fmla="*/ 124 w 10124"/>
              <a:gd name="connsiteY7" fmla="*/ 3862 h 10000"/>
              <a:gd name="connsiteX0" fmla="*/ 43 w 10045"/>
              <a:gd name="connsiteY0" fmla="*/ 3862 h 6912"/>
              <a:gd name="connsiteX1" fmla="*/ 2107 w 10045"/>
              <a:gd name="connsiteY1" fmla="*/ 344 h 6912"/>
              <a:gd name="connsiteX2" fmla="*/ 5469 w 10045"/>
              <a:gd name="connsiteY2" fmla="*/ 426 h 6912"/>
              <a:gd name="connsiteX3" fmla="*/ 8315 w 10045"/>
              <a:gd name="connsiteY3" fmla="*/ 2919 h 6912"/>
              <a:gd name="connsiteX4" fmla="*/ 10040 w 10045"/>
              <a:gd name="connsiteY4" fmla="*/ 5225 h 6912"/>
              <a:gd name="connsiteX5" fmla="*/ 8681 w 10045"/>
              <a:gd name="connsiteY5" fmla="*/ 6905 h 6912"/>
              <a:gd name="connsiteX6" fmla="*/ 3967 w 10045"/>
              <a:gd name="connsiteY6" fmla="*/ 5885 h 6912"/>
              <a:gd name="connsiteX7" fmla="*/ 43 w 10045"/>
              <a:gd name="connsiteY7" fmla="*/ 3862 h 6912"/>
              <a:gd name="connsiteX0" fmla="*/ 47 w 10004"/>
              <a:gd name="connsiteY0" fmla="*/ 5106 h 9519"/>
              <a:gd name="connsiteX1" fmla="*/ 2102 w 10004"/>
              <a:gd name="connsiteY1" fmla="*/ 17 h 9519"/>
              <a:gd name="connsiteX2" fmla="*/ 6651 w 10004"/>
              <a:gd name="connsiteY2" fmla="*/ 3484 h 9519"/>
              <a:gd name="connsiteX3" fmla="*/ 8282 w 10004"/>
              <a:gd name="connsiteY3" fmla="*/ 3742 h 9519"/>
              <a:gd name="connsiteX4" fmla="*/ 9999 w 10004"/>
              <a:gd name="connsiteY4" fmla="*/ 7078 h 9519"/>
              <a:gd name="connsiteX5" fmla="*/ 8646 w 10004"/>
              <a:gd name="connsiteY5" fmla="*/ 9509 h 9519"/>
              <a:gd name="connsiteX6" fmla="*/ 3953 w 10004"/>
              <a:gd name="connsiteY6" fmla="*/ 8033 h 9519"/>
              <a:gd name="connsiteX7" fmla="*/ 47 w 10004"/>
              <a:gd name="connsiteY7" fmla="*/ 5106 h 9519"/>
              <a:gd name="connsiteX0" fmla="*/ 43 w 9996"/>
              <a:gd name="connsiteY0" fmla="*/ 6232 h 10868"/>
              <a:gd name="connsiteX1" fmla="*/ 2097 w 9996"/>
              <a:gd name="connsiteY1" fmla="*/ 886 h 10868"/>
              <a:gd name="connsiteX2" fmla="*/ 5642 w 9996"/>
              <a:gd name="connsiteY2" fmla="*/ 385 h 10868"/>
              <a:gd name="connsiteX3" fmla="*/ 8275 w 9996"/>
              <a:gd name="connsiteY3" fmla="*/ 4799 h 10868"/>
              <a:gd name="connsiteX4" fmla="*/ 9991 w 9996"/>
              <a:gd name="connsiteY4" fmla="*/ 8304 h 10868"/>
              <a:gd name="connsiteX5" fmla="*/ 8639 w 9996"/>
              <a:gd name="connsiteY5" fmla="*/ 10857 h 10868"/>
              <a:gd name="connsiteX6" fmla="*/ 3947 w 9996"/>
              <a:gd name="connsiteY6" fmla="*/ 9307 h 10868"/>
              <a:gd name="connsiteX7" fmla="*/ 43 w 9996"/>
              <a:gd name="connsiteY7" fmla="*/ 6232 h 10868"/>
              <a:gd name="connsiteX0" fmla="*/ 43 w 10004"/>
              <a:gd name="connsiteY0" fmla="*/ 5543 h 9809"/>
              <a:gd name="connsiteX1" fmla="*/ 2098 w 10004"/>
              <a:gd name="connsiteY1" fmla="*/ 624 h 9809"/>
              <a:gd name="connsiteX2" fmla="*/ 5644 w 10004"/>
              <a:gd name="connsiteY2" fmla="*/ 163 h 9809"/>
              <a:gd name="connsiteX3" fmla="*/ 8163 w 10004"/>
              <a:gd name="connsiteY3" fmla="*/ 1492 h 9809"/>
              <a:gd name="connsiteX4" fmla="*/ 9995 w 10004"/>
              <a:gd name="connsiteY4" fmla="*/ 7450 h 9809"/>
              <a:gd name="connsiteX5" fmla="*/ 8642 w 10004"/>
              <a:gd name="connsiteY5" fmla="*/ 9799 h 9809"/>
              <a:gd name="connsiteX6" fmla="*/ 3949 w 10004"/>
              <a:gd name="connsiteY6" fmla="*/ 8373 h 9809"/>
              <a:gd name="connsiteX7" fmla="*/ 43 w 10004"/>
              <a:gd name="connsiteY7" fmla="*/ 5543 h 9809"/>
              <a:gd name="connsiteX0" fmla="*/ 43 w 8950"/>
              <a:gd name="connsiteY0" fmla="*/ 5651 h 10081"/>
              <a:gd name="connsiteX1" fmla="*/ 2097 w 8950"/>
              <a:gd name="connsiteY1" fmla="*/ 636 h 10081"/>
              <a:gd name="connsiteX2" fmla="*/ 5642 w 8950"/>
              <a:gd name="connsiteY2" fmla="*/ 166 h 10081"/>
              <a:gd name="connsiteX3" fmla="*/ 8160 w 8950"/>
              <a:gd name="connsiteY3" fmla="*/ 1521 h 10081"/>
              <a:gd name="connsiteX4" fmla="*/ 8473 w 8950"/>
              <a:gd name="connsiteY4" fmla="*/ 5322 h 10081"/>
              <a:gd name="connsiteX5" fmla="*/ 8639 w 8950"/>
              <a:gd name="connsiteY5" fmla="*/ 9990 h 10081"/>
              <a:gd name="connsiteX6" fmla="*/ 3947 w 8950"/>
              <a:gd name="connsiteY6" fmla="*/ 8536 h 10081"/>
              <a:gd name="connsiteX7" fmla="*/ 43 w 8950"/>
              <a:gd name="connsiteY7" fmla="*/ 5651 h 10081"/>
              <a:gd name="connsiteX0" fmla="*/ 48 w 9651"/>
              <a:gd name="connsiteY0" fmla="*/ 5606 h 8648"/>
              <a:gd name="connsiteX1" fmla="*/ 2343 w 9651"/>
              <a:gd name="connsiteY1" fmla="*/ 631 h 8648"/>
              <a:gd name="connsiteX2" fmla="*/ 6304 w 9651"/>
              <a:gd name="connsiteY2" fmla="*/ 165 h 8648"/>
              <a:gd name="connsiteX3" fmla="*/ 9117 w 9651"/>
              <a:gd name="connsiteY3" fmla="*/ 1509 h 8648"/>
              <a:gd name="connsiteX4" fmla="*/ 9467 w 9651"/>
              <a:gd name="connsiteY4" fmla="*/ 5279 h 8648"/>
              <a:gd name="connsiteX5" fmla="*/ 6997 w 9651"/>
              <a:gd name="connsiteY5" fmla="*/ 8019 h 8648"/>
              <a:gd name="connsiteX6" fmla="*/ 4410 w 9651"/>
              <a:gd name="connsiteY6" fmla="*/ 8467 h 8648"/>
              <a:gd name="connsiteX7" fmla="*/ 48 w 9651"/>
              <a:gd name="connsiteY7" fmla="*/ 5606 h 8648"/>
              <a:gd name="connsiteX0" fmla="*/ 41 w 9991"/>
              <a:gd name="connsiteY0" fmla="*/ 6482 h 9316"/>
              <a:gd name="connsiteX1" fmla="*/ 2419 w 9991"/>
              <a:gd name="connsiteY1" fmla="*/ 730 h 9316"/>
              <a:gd name="connsiteX2" fmla="*/ 6523 w 9991"/>
              <a:gd name="connsiteY2" fmla="*/ 191 h 9316"/>
              <a:gd name="connsiteX3" fmla="*/ 9438 w 9991"/>
              <a:gd name="connsiteY3" fmla="*/ 1745 h 9316"/>
              <a:gd name="connsiteX4" fmla="*/ 9800 w 9991"/>
              <a:gd name="connsiteY4" fmla="*/ 6104 h 9316"/>
              <a:gd name="connsiteX5" fmla="*/ 7241 w 9991"/>
              <a:gd name="connsiteY5" fmla="*/ 9273 h 9316"/>
              <a:gd name="connsiteX6" fmla="*/ 1411 w 9991"/>
              <a:gd name="connsiteY6" fmla="*/ 7856 h 9316"/>
              <a:gd name="connsiteX7" fmla="*/ 41 w 9991"/>
              <a:gd name="connsiteY7" fmla="*/ 6482 h 9316"/>
              <a:gd name="connsiteX0" fmla="*/ 19 w 10708"/>
              <a:gd name="connsiteY0" fmla="*/ 7721 h 10038"/>
              <a:gd name="connsiteX1" fmla="*/ 3129 w 10708"/>
              <a:gd name="connsiteY1" fmla="*/ 825 h 10038"/>
              <a:gd name="connsiteX2" fmla="*/ 7237 w 10708"/>
              <a:gd name="connsiteY2" fmla="*/ 246 h 10038"/>
              <a:gd name="connsiteX3" fmla="*/ 10155 w 10708"/>
              <a:gd name="connsiteY3" fmla="*/ 1914 h 10038"/>
              <a:gd name="connsiteX4" fmla="*/ 10517 w 10708"/>
              <a:gd name="connsiteY4" fmla="*/ 6593 h 10038"/>
              <a:gd name="connsiteX5" fmla="*/ 7956 w 10708"/>
              <a:gd name="connsiteY5" fmla="*/ 9995 h 10038"/>
              <a:gd name="connsiteX6" fmla="*/ 2120 w 10708"/>
              <a:gd name="connsiteY6" fmla="*/ 8474 h 10038"/>
              <a:gd name="connsiteX7" fmla="*/ 19 w 10708"/>
              <a:gd name="connsiteY7" fmla="*/ 7721 h 10038"/>
              <a:gd name="connsiteX0" fmla="*/ 359 w 11048"/>
              <a:gd name="connsiteY0" fmla="*/ 7721 h 10038"/>
              <a:gd name="connsiteX1" fmla="*/ 3469 w 11048"/>
              <a:gd name="connsiteY1" fmla="*/ 825 h 10038"/>
              <a:gd name="connsiteX2" fmla="*/ 7577 w 11048"/>
              <a:gd name="connsiteY2" fmla="*/ 246 h 10038"/>
              <a:gd name="connsiteX3" fmla="*/ 10495 w 11048"/>
              <a:gd name="connsiteY3" fmla="*/ 1914 h 10038"/>
              <a:gd name="connsiteX4" fmla="*/ 10857 w 11048"/>
              <a:gd name="connsiteY4" fmla="*/ 6593 h 10038"/>
              <a:gd name="connsiteX5" fmla="*/ 8296 w 11048"/>
              <a:gd name="connsiteY5" fmla="*/ 9995 h 10038"/>
              <a:gd name="connsiteX6" fmla="*/ 2460 w 11048"/>
              <a:gd name="connsiteY6" fmla="*/ 8474 h 10038"/>
              <a:gd name="connsiteX7" fmla="*/ 359 w 11048"/>
              <a:gd name="connsiteY7" fmla="*/ 7721 h 10038"/>
              <a:gd name="connsiteX0" fmla="*/ 359 w 11048"/>
              <a:gd name="connsiteY0" fmla="*/ 8392 h 10075"/>
              <a:gd name="connsiteX1" fmla="*/ 3469 w 11048"/>
              <a:gd name="connsiteY1" fmla="*/ 864 h 10075"/>
              <a:gd name="connsiteX2" fmla="*/ 7577 w 11048"/>
              <a:gd name="connsiteY2" fmla="*/ 285 h 10075"/>
              <a:gd name="connsiteX3" fmla="*/ 10495 w 11048"/>
              <a:gd name="connsiteY3" fmla="*/ 1953 h 10075"/>
              <a:gd name="connsiteX4" fmla="*/ 10857 w 11048"/>
              <a:gd name="connsiteY4" fmla="*/ 6632 h 10075"/>
              <a:gd name="connsiteX5" fmla="*/ 8296 w 11048"/>
              <a:gd name="connsiteY5" fmla="*/ 10034 h 10075"/>
              <a:gd name="connsiteX6" fmla="*/ 2460 w 11048"/>
              <a:gd name="connsiteY6" fmla="*/ 8513 h 10075"/>
              <a:gd name="connsiteX7" fmla="*/ 359 w 11048"/>
              <a:gd name="connsiteY7" fmla="*/ 8392 h 10075"/>
              <a:gd name="connsiteX0" fmla="*/ 371 w 11060"/>
              <a:gd name="connsiteY0" fmla="*/ 8392 h 10075"/>
              <a:gd name="connsiteX1" fmla="*/ 3481 w 11060"/>
              <a:gd name="connsiteY1" fmla="*/ 864 h 10075"/>
              <a:gd name="connsiteX2" fmla="*/ 7589 w 11060"/>
              <a:gd name="connsiteY2" fmla="*/ 285 h 10075"/>
              <a:gd name="connsiteX3" fmla="*/ 10507 w 11060"/>
              <a:gd name="connsiteY3" fmla="*/ 1953 h 10075"/>
              <a:gd name="connsiteX4" fmla="*/ 10869 w 11060"/>
              <a:gd name="connsiteY4" fmla="*/ 6632 h 10075"/>
              <a:gd name="connsiteX5" fmla="*/ 8308 w 11060"/>
              <a:gd name="connsiteY5" fmla="*/ 10034 h 10075"/>
              <a:gd name="connsiteX6" fmla="*/ 2472 w 11060"/>
              <a:gd name="connsiteY6" fmla="*/ 8513 h 10075"/>
              <a:gd name="connsiteX7" fmla="*/ 371 w 11060"/>
              <a:gd name="connsiteY7" fmla="*/ 8392 h 10075"/>
              <a:gd name="connsiteX0" fmla="*/ 54 w 10743"/>
              <a:gd name="connsiteY0" fmla="*/ 9468 h 11151"/>
              <a:gd name="connsiteX1" fmla="*/ 4027 w 10743"/>
              <a:gd name="connsiteY1" fmla="*/ 495 h 11151"/>
              <a:gd name="connsiteX2" fmla="*/ 7272 w 10743"/>
              <a:gd name="connsiteY2" fmla="*/ 1361 h 11151"/>
              <a:gd name="connsiteX3" fmla="*/ 10190 w 10743"/>
              <a:gd name="connsiteY3" fmla="*/ 3029 h 11151"/>
              <a:gd name="connsiteX4" fmla="*/ 10552 w 10743"/>
              <a:gd name="connsiteY4" fmla="*/ 7708 h 11151"/>
              <a:gd name="connsiteX5" fmla="*/ 7991 w 10743"/>
              <a:gd name="connsiteY5" fmla="*/ 11110 h 11151"/>
              <a:gd name="connsiteX6" fmla="*/ 2155 w 10743"/>
              <a:gd name="connsiteY6" fmla="*/ 9589 h 11151"/>
              <a:gd name="connsiteX7" fmla="*/ 54 w 10743"/>
              <a:gd name="connsiteY7" fmla="*/ 9468 h 11151"/>
              <a:gd name="connsiteX0" fmla="*/ 54 w 10743"/>
              <a:gd name="connsiteY0" fmla="*/ 9506 h 11189"/>
              <a:gd name="connsiteX1" fmla="*/ 4027 w 10743"/>
              <a:gd name="connsiteY1" fmla="*/ 533 h 11189"/>
              <a:gd name="connsiteX2" fmla="*/ 7272 w 10743"/>
              <a:gd name="connsiteY2" fmla="*/ 1399 h 11189"/>
              <a:gd name="connsiteX3" fmla="*/ 10190 w 10743"/>
              <a:gd name="connsiteY3" fmla="*/ 3067 h 11189"/>
              <a:gd name="connsiteX4" fmla="*/ 10552 w 10743"/>
              <a:gd name="connsiteY4" fmla="*/ 7746 h 11189"/>
              <a:gd name="connsiteX5" fmla="*/ 7991 w 10743"/>
              <a:gd name="connsiteY5" fmla="*/ 11148 h 11189"/>
              <a:gd name="connsiteX6" fmla="*/ 2155 w 10743"/>
              <a:gd name="connsiteY6" fmla="*/ 9627 h 11189"/>
              <a:gd name="connsiteX7" fmla="*/ 54 w 10743"/>
              <a:gd name="connsiteY7" fmla="*/ 9506 h 11189"/>
              <a:gd name="connsiteX0" fmla="*/ 40 w 11293"/>
              <a:gd name="connsiteY0" fmla="*/ 9082 h 11127"/>
              <a:gd name="connsiteX1" fmla="*/ 4577 w 11293"/>
              <a:gd name="connsiteY1" fmla="*/ 470 h 11127"/>
              <a:gd name="connsiteX2" fmla="*/ 7822 w 11293"/>
              <a:gd name="connsiteY2" fmla="*/ 1336 h 11127"/>
              <a:gd name="connsiteX3" fmla="*/ 10740 w 11293"/>
              <a:gd name="connsiteY3" fmla="*/ 3004 h 11127"/>
              <a:gd name="connsiteX4" fmla="*/ 11102 w 11293"/>
              <a:gd name="connsiteY4" fmla="*/ 7683 h 11127"/>
              <a:gd name="connsiteX5" fmla="*/ 8541 w 11293"/>
              <a:gd name="connsiteY5" fmla="*/ 11085 h 11127"/>
              <a:gd name="connsiteX6" fmla="*/ 2705 w 11293"/>
              <a:gd name="connsiteY6" fmla="*/ 9564 h 11127"/>
              <a:gd name="connsiteX7" fmla="*/ 40 w 11293"/>
              <a:gd name="connsiteY7" fmla="*/ 9082 h 1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3" h="11127">
                <a:moveTo>
                  <a:pt x="40" y="9082"/>
                </a:moveTo>
                <a:cubicBezTo>
                  <a:pt x="352" y="7566"/>
                  <a:pt x="3280" y="1761"/>
                  <a:pt x="4577" y="470"/>
                </a:cubicBezTo>
                <a:cubicBezTo>
                  <a:pt x="5874" y="-821"/>
                  <a:pt x="6795" y="914"/>
                  <a:pt x="7822" y="1336"/>
                </a:cubicBezTo>
                <a:cubicBezTo>
                  <a:pt x="8849" y="1758"/>
                  <a:pt x="10193" y="1947"/>
                  <a:pt x="10740" y="3004"/>
                </a:cubicBezTo>
                <a:cubicBezTo>
                  <a:pt x="11287" y="4061"/>
                  <a:pt x="11468" y="6337"/>
                  <a:pt x="11102" y="7683"/>
                </a:cubicBezTo>
                <a:cubicBezTo>
                  <a:pt x="10736" y="9030"/>
                  <a:pt x="9940" y="10771"/>
                  <a:pt x="8541" y="11085"/>
                </a:cubicBezTo>
                <a:cubicBezTo>
                  <a:pt x="7141" y="11398"/>
                  <a:pt x="4122" y="9898"/>
                  <a:pt x="2705" y="9564"/>
                </a:cubicBezTo>
                <a:cubicBezTo>
                  <a:pt x="1288" y="9230"/>
                  <a:pt x="-272" y="10598"/>
                  <a:pt x="40" y="908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60" name="Group 327">
            <a:extLst>
              <a:ext uri="{FF2B5EF4-FFF2-40B4-BE49-F238E27FC236}">
                <a16:creationId xmlns:a16="http://schemas.microsoft.com/office/drawing/2014/main" id="{04C3665E-7C68-6A83-6561-3D966847892C}"/>
              </a:ext>
            </a:extLst>
          </p:cNvPr>
          <p:cNvGrpSpPr>
            <a:grpSpLocks/>
          </p:cNvGrpSpPr>
          <p:nvPr/>
        </p:nvGrpSpPr>
        <p:grpSpPr bwMode="auto">
          <a:xfrm>
            <a:off x="10302441" y="5928485"/>
            <a:ext cx="536554" cy="263548"/>
            <a:chOff x="1871277" y="1576300"/>
            <a:chExt cx="1128371" cy="437861"/>
          </a:xfrm>
        </p:grpSpPr>
        <p:sp>
          <p:nvSpPr>
            <p:cNvPr id="464" name="Oval 1103">
              <a:extLst>
                <a:ext uri="{FF2B5EF4-FFF2-40B4-BE49-F238E27FC236}">
                  <a16:creationId xmlns:a16="http://schemas.microsoft.com/office/drawing/2014/main" id="{20C467C0-DE5D-3AD6-EE32-91F19D9FAD54}"/>
                </a:ext>
              </a:extLst>
            </p:cNvPr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0" scaled="1"/>
              <a:tileRect/>
            </a:gradFill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5" name="Rectangle 1104">
              <a:extLst>
                <a:ext uri="{FF2B5EF4-FFF2-40B4-BE49-F238E27FC236}">
                  <a16:creationId xmlns:a16="http://schemas.microsoft.com/office/drawing/2014/main" id="{65624663-BB26-02E7-A2AB-75E6B08B9013}"/>
                </a:ext>
              </a:extLst>
            </p:cNvPr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6" name="Oval 1105">
              <a:extLst>
                <a:ext uri="{FF2B5EF4-FFF2-40B4-BE49-F238E27FC236}">
                  <a16:creationId xmlns:a16="http://schemas.microsoft.com/office/drawing/2014/main" id="{0CD70C28-8C10-C67C-D3CC-31EF3574171B}"/>
                </a:ext>
              </a:extLst>
            </p:cNvPr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7" name="Freeform 1106">
              <a:extLst>
                <a:ext uri="{FF2B5EF4-FFF2-40B4-BE49-F238E27FC236}">
                  <a16:creationId xmlns:a16="http://schemas.microsoft.com/office/drawing/2014/main" id="{43866326-D6B1-54ED-0D57-0549CB74113C}"/>
                </a:ext>
              </a:extLst>
            </p:cNvPr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8" name="Freeform 1107">
              <a:extLst>
                <a:ext uri="{FF2B5EF4-FFF2-40B4-BE49-F238E27FC236}">
                  <a16:creationId xmlns:a16="http://schemas.microsoft.com/office/drawing/2014/main" id="{ACA60DD1-7936-7854-8458-0D6CE40F075C}"/>
                </a:ext>
              </a:extLst>
            </p:cNvPr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3333CC">
                <a:lumMod val="7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9" name="Freeform 1108">
              <a:extLst>
                <a:ext uri="{FF2B5EF4-FFF2-40B4-BE49-F238E27FC236}">
                  <a16:creationId xmlns:a16="http://schemas.microsoft.com/office/drawing/2014/main" id="{1446245F-D33C-E0EA-2BCA-B9C878E11AED}"/>
                </a:ext>
              </a:extLst>
            </p:cNvPr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3333CC">
                <a:lumMod val="7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70" name="Freeform 1109">
              <a:extLst>
                <a:ext uri="{FF2B5EF4-FFF2-40B4-BE49-F238E27FC236}">
                  <a16:creationId xmlns:a16="http://schemas.microsoft.com/office/drawing/2014/main" id="{7BAE9877-9681-F492-7582-CEF431C9DE6C}"/>
                </a:ext>
              </a:extLst>
            </p:cNvPr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3333CC">
                <a:lumMod val="7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471" name="Straight Connector 1110">
              <a:extLst>
                <a:ext uri="{FF2B5EF4-FFF2-40B4-BE49-F238E27FC236}">
                  <a16:creationId xmlns:a16="http://schemas.microsoft.com/office/drawing/2014/main" id="{1D176AC3-BAAD-8C29-E61A-2C6478BC8219}"/>
                </a:ext>
              </a:extLst>
            </p:cNvPr>
            <p:cNvCxnSpPr>
              <a:cxnSpLocks/>
              <a:endCxn id="466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472" name="Straight Connector 1111">
              <a:extLst>
                <a:ext uri="{FF2B5EF4-FFF2-40B4-BE49-F238E27FC236}">
                  <a16:creationId xmlns:a16="http://schemas.microsoft.com/office/drawing/2014/main" id="{A34F3BF4-B5B3-DDCA-F1DF-B9557E4D0C31}"/>
                </a:ext>
              </a:extLst>
            </p:cNvPr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</p:cxnSp>
      </p:grpSp>
      <p:cxnSp>
        <p:nvCxnSpPr>
          <p:cNvPr id="458" name="Straight Connector 1097">
            <a:extLst>
              <a:ext uri="{FF2B5EF4-FFF2-40B4-BE49-F238E27FC236}">
                <a16:creationId xmlns:a16="http://schemas.microsoft.com/office/drawing/2014/main" id="{A4509E17-6DF7-D501-8C05-F1574B32DA11}"/>
              </a:ext>
            </a:extLst>
          </p:cNvPr>
          <p:cNvCxnSpPr>
            <a:cxnSpLocks/>
            <a:stCxn id="466" idx="1"/>
          </p:cNvCxnSpPr>
          <p:nvPr/>
        </p:nvCxnSpPr>
        <p:spPr bwMode="auto">
          <a:xfrm flipH="1" flipV="1">
            <a:off x="9868946" y="6075321"/>
            <a:ext cx="511851" cy="1821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3" name="Freeform 236">
            <a:extLst>
              <a:ext uri="{FF2B5EF4-FFF2-40B4-BE49-F238E27FC236}">
                <a16:creationId xmlns:a16="http://schemas.microsoft.com/office/drawing/2014/main" id="{1E3E70B4-5172-BAEA-9D9C-9A5BB0444062}"/>
              </a:ext>
            </a:extLst>
          </p:cNvPr>
          <p:cNvSpPr>
            <a:spLocks/>
          </p:cNvSpPr>
          <p:nvPr/>
        </p:nvSpPr>
        <p:spPr bwMode="auto">
          <a:xfrm>
            <a:off x="11116006" y="5728021"/>
            <a:ext cx="510039" cy="424312"/>
          </a:xfrm>
          <a:custGeom>
            <a:avLst/>
            <a:gdLst>
              <a:gd name="T0" fmla="*/ 113 w 1376"/>
              <a:gd name="T1" fmla="*/ 348 h 764"/>
              <a:gd name="T2" fmla="*/ 395 w 1376"/>
              <a:gd name="T3" fmla="*/ 162 h 764"/>
              <a:gd name="T4" fmla="*/ 710 w 1376"/>
              <a:gd name="T5" fmla="*/ 9 h 764"/>
              <a:gd name="T6" fmla="*/ 1160 w 1376"/>
              <a:gd name="T7" fmla="*/ 219 h 764"/>
              <a:gd name="T8" fmla="*/ 1367 w 1376"/>
              <a:gd name="T9" fmla="*/ 510 h 764"/>
              <a:gd name="T10" fmla="*/ 1103 w 1376"/>
              <a:gd name="T11" fmla="*/ 726 h 764"/>
              <a:gd name="T12" fmla="*/ 578 w 1376"/>
              <a:gd name="T13" fmla="*/ 738 h 764"/>
              <a:gd name="T14" fmla="*/ 77 w 1376"/>
              <a:gd name="T15" fmla="*/ 630 h 764"/>
              <a:gd name="T16" fmla="*/ 113 w 1376"/>
              <a:gd name="T17" fmla="*/ 348 h 7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76"/>
              <a:gd name="T28" fmla="*/ 0 h 764"/>
              <a:gd name="T29" fmla="*/ 1376 w 1376"/>
              <a:gd name="T30" fmla="*/ 764 h 76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76" h="764">
                <a:moveTo>
                  <a:pt x="113" y="348"/>
                </a:moveTo>
                <a:cubicBezTo>
                  <a:pt x="166" y="270"/>
                  <a:pt x="296" y="218"/>
                  <a:pt x="395" y="162"/>
                </a:cubicBezTo>
                <a:cubicBezTo>
                  <a:pt x="494" y="106"/>
                  <a:pt x="583" y="0"/>
                  <a:pt x="710" y="9"/>
                </a:cubicBezTo>
                <a:cubicBezTo>
                  <a:pt x="837" y="18"/>
                  <a:pt x="1051" y="136"/>
                  <a:pt x="1160" y="219"/>
                </a:cubicBezTo>
                <a:cubicBezTo>
                  <a:pt x="1269" y="302"/>
                  <a:pt x="1376" y="426"/>
                  <a:pt x="1367" y="510"/>
                </a:cubicBezTo>
                <a:cubicBezTo>
                  <a:pt x="1358" y="594"/>
                  <a:pt x="1234" y="688"/>
                  <a:pt x="1103" y="726"/>
                </a:cubicBezTo>
                <a:cubicBezTo>
                  <a:pt x="972" y="764"/>
                  <a:pt x="749" y="754"/>
                  <a:pt x="578" y="738"/>
                </a:cubicBezTo>
                <a:cubicBezTo>
                  <a:pt x="407" y="722"/>
                  <a:pt x="154" y="695"/>
                  <a:pt x="77" y="630"/>
                </a:cubicBezTo>
                <a:cubicBezTo>
                  <a:pt x="0" y="565"/>
                  <a:pt x="60" y="426"/>
                  <a:pt x="113" y="34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477" name="Straight Connector 1097">
            <a:extLst>
              <a:ext uri="{FF2B5EF4-FFF2-40B4-BE49-F238E27FC236}">
                <a16:creationId xmlns:a16="http://schemas.microsoft.com/office/drawing/2014/main" id="{331FA78B-6A51-642F-09B8-1F46863B34BE}"/>
              </a:ext>
            </a:extLst>
          </p:cNvPr>
          <p:cNvCxnSpPr>
            <a:cxnSpLocks/>
            <a:stCxn id="463" idx="1"/>
          </p:cNvCxnSpPr>
          <p:nvPr/>
        </p:nvCxnSpPr>
        <p:spPr bwMode="auto">
          <a:xfrm flipH="1">
            <a:off x="10798204" y="5961501"/>
            <a:ext cx="402200" cy="126257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3" name="TextBox 1102">
            <a:extLst>
              <a:ext uri="{FF2B5EF4-FFF2-40B4-BE49-F238E27FC236}">
                <a16:creationId xmlns:a16="http://schemas.microsoft.com/office/drawing/2014/main" id="{DBC32012-A5A9-BCBC-11EF-8AA72925ADEB}"/>
              </a:ext>
            </a:extLst>
          </p:cNvPr>
          <p:cNvSpPr txBox="1"/>
          <p:nvPr/>
        </p:nvSpPr>
        <p:spPr>
          <a:xfrm>
            <a:off x="11200404" y="5776835"/>
            <a:ext cx="35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X</a:t>
            </a:r>
          </a:p>
        </p:txBody>
      </p:sp>
      <p:sp>
        <p:nvSpPr>
          <p:cNvPr id="484" name="文本框 483">
            <a:extLst>
              <a:ext uri="{FF2B5EF4-FFF2-40B4-BE49-F238E27FC236}">
                <a16:creationId xmlns:a16="http://schemas.microsoft.com/office/drawing/2014/main" id="{2CB71178-E069-8179-4B05-34035400838F}"/>
              </a:ext>
            </a:extLst>
          </p:cNvPr>
          <p:cNvSpPr txBox="1"/>
          <p:nvPr/>
        </p:nvSpPr>
        <p:spPr>
          <a:xfrm>
            <a:off x="7267860" y="5037690"/>
            <a:ext cx="1001568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AS3, X</a:t>
            </a:r>
          </a:p>
        </p:txBody>
      </p:sp>
      <p:sp>
        <p:nvSpPr>
          <p:cNvPr id="483" name="文本框 482">
            <a:extLst>
              <a:ext uri="{FF2B5EF4-FFF2-40B4-BE49-F238E27FC236}">
                <a16:creationId xmlns:a16="http://schemas.microsoft.com/office/drawing/2014/main" id="{BD238E61-8213-A8B8-79EC-A0BF531734DC}"/>
              </a:ext>
            </a:extLst>
          </p:cNvPr>
          <p:cNvSpPr txBox="1"/>
          <p:nvPr/>
        </p:nvSpPr>
        <p:spPr>
          <a:xfrm>
            <a:off x="8573508" y="5881662"/>
            <a:ext cx="839004" cy="335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&lt;&gt;, X</a:t>
            </a:r>
          </a:p>
        </p:txBody>
      </p:sp>
    </p:spTree>
    <p:extLst>
      <p:ext uri="{BB962C8B-B14F-4D97-AF65-F5344CB8AC3E}">
        <p14:creationId xmlns:p14="http://schemas.microsoft.com/office/powerpoint/2010/main" val="1354292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2">
            <a:extLst>
              <a:ext uri="{FF2B5EF4-FFF2-40B4-BE49-F238E27FC236}">
                <a16:creationId xmlns:a16="http://schemas.microsoft.com/office/drawing/2014/main" id="{85492DEF-8213-86AD-86E1-7B6E66572361}"/>
              </a:ext>
            </a:extLst>
          </p:cNvPr>
          <p:cNvSpPr>
            <a:spLocks/>
          </p:cNvSpPr>
          <p:nvPr/>
        </p:nvSpPr>
        <p:spPr bwMode="auto">
          <a:xfrm>
            <a:off x="4333217" y="3979727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Freeform 2">
            <a:extLst>
              <a:ext uri="{FF2B5EF4-FFF2-40B4-BE49-F238E27FC236}">
                <a16:creationId xmlns:a16="http://schemas.microsoft.com/office/drawing/2014/main" id="{D141D458-4668-508A-A5D7-AB5A3C990472}"/>
              </a:ext>
            </a:extLst>
          </p:cNvPr>
          <p:cNvSpPr>
            <a:spLocks/>
          </p:cNvSpPr>
          <p:nvPr/>
        </p:nvSpPr>
        <p:spPr bwMode="auto">
          <a:xfrm>
            <a:off x="8239115" y="4135864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996776C-750A-D5DE-093D-34698DB0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eBGP</a:t>
            </a:r>
            <a:r>
              <a:rPr lang="zh-CN" altLang="en-US" dirty="0"/>
              <a:t>和</a:t>
            </a:r>
            <a:r>
              <a:rPr lang="en-US" altLang="zh-CN" dirty="0"/>
              <a:t>iBGP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A59A8E-4621-083C-FA94-934DD3067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25616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eBGP</a:t>
            </a:r>
            <a:r>
              <a:rPr lang="zh-CN" altLang="en-US" dirty="0"/>
              <a:t>和</a:t>
            </a:r>
            <a:r>
              <a:rPr lang="en-US" altLang="zh-CN" dirty="0"/>
              <a:t>iBGP</a:t>
            </a:r>
            <a:r>
              <a:rPr lang="zh-CN" altLang="en-US" dirty="0"/>
              <a:t>采用相同协议和消息格式，</a:t>
            </a:r>
            <a:r>
              <a:rPr lang="zh-CN" altLang="en-US" b="1" dirty="0">
                <a:solidFill>
                  <a:srgbClr val="FF0000"/>
                </a:solidFill>
              </a:rPr>
              <a:t>区别在路由发布的限制</a:t>
            </a:r>
            <a:r>
              <a:rPr lang="zh-CN" altLang="en-US" dirty="0"/>
              <a:t>：</a:t>
            </a:r>
            <a:endParaRPr lang="en-US" altLang="zh-CN" dirty="0"/>
          </a:p>
          <a:p>
            <a:pPr marL="285750" indent="-285750"/>
            <a:r>
              <a:rPr lang="zh-CN" altLang="en-US" dirty="0"/>
              <a:t>规则</a:t>
            </a:r>
            <a:r>
              <a:rPr lang="en-US" altLang="zh-CN" dirty="0"/>
              <a:t>1</a:t>
            </a:r>
            <a:r>
              <a:rPr lang="zh-CN" altLang="en-US" dirty="0"/>
              <a:t>： </a:t>
            </a:r>
            <a:r>
              <a:rPr lang="zh-CN" altLang="zh-CN" dirty="0"/>
              <a:t>通过</a:t>
            </a:r>
            <a:r>
              <a:rPr lang="en-US" altLang="zh-CN" dirty="0"/>
              <a:t>eBGP</a:t>
            </a:r>
            <a:r>
              <a:rPr lang="zh-CN" altLang="zh-CN" dirty="0"/>
              <a:t>邻居了解到的路由再通过</a:t>
            </a:r>
            <a:r>
              <a:rPr lang="en-US" altLang="zh-CN" dirty="0"/>
              <a:t>iBGP</a:t>
            </a:r>
            <a:r>
              <a:rPr lang="zh-CN" altLang="zh-CN" dirty="0"/>
              <a:t>发布给自治系统内部的其他</a:t>
            </a:r>
            <a:r>
              <a:rPr lang="en-US" altLang="zh-CN" dirty="0"/>
              <a:t>iBGP</a:t>
            </a:r>
            <a:r>
              <a:rPr lang="zh-CN" altLang="zh-CN" dirty="0"/>
              <a:t>邻居</a:t>
            </a:r>
            <a:r>
              <a:rPr lang="zh-CN" altLang="en-US" dirty="0"/>
              <a:t>；</a:t>
            </a:r>
            <a:r>
              <a:rPr lang="zh-CN" altLang="zh-CN" dirty="0"/>
              <a:t>从</a:t>
            </a:r>
            <a:r>
              <a:rPr lang="en-US" altLang="zh-CN" dirty="0"/>
              <a:t>iBGP</a:t>
            </a:r>
            <a:r>
              <a:rPr lang="zh-CN" altLang="zh-CN" dirty="0"/>
              <a:t>邻居了解到的路由通过</a:t>
            </a:r>
            <a:r>
              <a:rPr lang="en-US" altLang="zh-CN" dirty="0"/>
              <a:t>eBGP</a:t>
            </a:r>
            <a:r>
              <a:rPr lang="zh-CN" altLang="zh-CN" dirty="0"/>
              <a:t>发布给其他自治系统的</a:t>
            </a:r>
            <a:r>
              <a:rPr lang="en-US" altLang="zh-CN" dirty="0"/>
              <a:t>BGP</a:t>
            </a:r>
            <a:r>
              <a:rPr lang="zh-CN" altLang="zh-CN" dirty="0"/>
              <a:t>路由器</a:t>
            </a:r>
            <a:endParaRPr lang="en-US" altLang="zh-CN" dirty="0"/>
          </a:p>
          <a:p>
            <a:pPr marL="285750" indent="-285750"/>
            <a:r>
              <a:rPr lang="zh-CN" altLang="en-US" u="sng" dirty="0">
                <a:solidFill>
                  <a:srgbClr val="FF0000"/>
                </a:solidFill>
              </a:rPr>
              <a:t>规则</a:t>
            </a:r>
            <a:r>
              <a:rPr lang="en-US" altLang="zh-CN" u="sng" dirty="0">
                <a:solidFill>
                  <a:srgbClr val="FF0000"/>
                </a:solidFill>
              </a:rPr>
              <a:t>2</a:t>
            </a:r>
            <a:r>
              <a:rPr lang="zh-CN" altLang="en-US" u="sng" dirty="0">
                <a:solidFill>
                  <a:srgbClr val="FF0000"/>
                </a:solidFill>
              </a:rPr>
              <a:t>： </a:t>
            </a:r>
            <a:r>
              <a:rPr lang="zh-CN" altLang="zh-CN" u="sng" dirty="0">
                <a:solidFill>
                  <a:srgbClr val="FF0000"/>
                </a:solidFill>
              </a:rPr>
              <a:t>从</a:t>
            </a:r>
            <a:r>
              <a:rPr lang="en-US" altLang="zh-CN" u="sng" dirty="0">
                <a:solidFill>
                  <a:srgbClr val="FF0000"/>
                </a:solidFill>
              </a:rPr>
              <a:t>I-BGP</a:t>
            </a:r>
            <a:r>
              <a:rPr lang="zh-CN" altLang="zh-CN" u="sng" dirty="0">
                <a:solidFill>
                  <a:srgbClr val="FF0000"/>
                </a:solidFill>
              </a:rPr>
              <a:t>邻居了解到的路由不允许发布给其他</a:t>
            </a:r>
            <a:r>
              <a:rPr lang="en-US" altLang="zh-CN" u="sng" dirty="0">
                <a:solidFill>
                  <a:srgbClr val="FF0000"/>
                </a:solidFill>
              </a:rPr>
              <a:t>I-BGP</a:t>
            </a:r>
            <a:r>
              <a:rPr lang="zh-CN" altLang="zh-CN" u="sng" dirty="0">
                <a:solidFill>
                  <a:srgbClr val="FF0000"/>
                </a:solidFill>
              </a:rPr>
              <a:t>邻居</a:t>
            </a:r>
            <a:endParaRPr lang="en-US" altLang="zh-CN" u="sng" dirty="0">
              <a:solidFill>
                <a:srgbClr val="FF0000"/>
              </a:solidFill>
            </a:endParaRPr>
          </a:p>
          <a:p>
            <a:pPr marL="742950" lvl="1" indent="-285750">
              <a:lnSpc>
                <a:spcPct val="100000"/>
              </a:lnSpc>
            </a:pPr>
            <a:r>
              <a:rPr lang="zh-CN" altLang="en-US" sz="2000" dirty="0">
                <a:sym typeface="Wingdings" pitchFamily="2" charset="2"/>
              </a:rPr>
              <a:t>路由发布到</a:t>
            </a:r>
            <a:r>
              <a:rPr lang="en-US" altLang="zh-CN" sz="2000" dirty="0">
                <a:sym typeface="Wingdings" pitchFamily="2" charset="2"/>
              </a:rPr>
              <a:t>iBGP</a:t>
            </a:r>
            <a:r>
              <a:rPr lang="zh-CN" altLang="en-US" sz="2000" dirty="0">
                <a:sym typeface="Wingdings" pitchFamily="2" charset="2"/>
              </a:rPr>
              <a:t>邻居时，</a:t>
            </a:r>
            <a:r>
              <a:rPr lang="en-US" altLang="zh-CN" sz="2000" dirty="0">
                <a:sym typeface="Wingdings" pitchFamily="2" charset="2"/>
              </a:rPr>
              <a:t>AS PATH</a:t>
            </a:r>
            <a:r>
              <a:rPr lang="zh-CN" altLang="en-US" sz="2000" dirty="0">
                <a:sym typeface="Wingdings" pitchFamily="2" charset="2"/>
              </a:rPr>
              <a:t>不变 </a:t>
            </a:r>
            <a:r>
              <a:rPr lang="en-US" altLang="zh-CN" sz="2000" dirty="0">
                <a:sym typeface="Wingdings" pitchFamily="2" charset="2"/>
              </a:rPr>
              <a:t>---&gt; </a:t>
            </a:r>
            <a:r>
              <a:rPr lang="zh-CN" altLang="en-US" sz="2000" dirty="0">
                <a:sym typeface="Wingdings" pitchFamily="2" charset="2"/>
              </a:rPr>
              <a:t> </a:t>
            </a:r>
            <a:r>
              <a:rPr lang="en-US" altLang="zh-CN" sz="2000" dirty="0">
                <a:sym typeface="Wingdings" pitchFamily="2" charset="2"/>
              </a:rPr>
              <a:t>AS</a:t>
            </a:r>
            <a:r>
              <a:rPr lang="zh-CN" altLang="en-US" sz="2000" dirty="0">
                <a:sym typeface="Wingdings" pitchFamily="2" charset="2"/>
              </a:rPr>
              <a:t>内部的</a:t>
            </a:r>
            <a:r>
              <a:rPr lang="en-US" altLang="zh-CN" sz="2000" dirty="0">
                <a:sym typeface="Wingdings" pitchFamily="2" charset="2"/>
              </a:rPr>
              <a:t>iBGP</a:t>
            </a:r>
            <a:r>
              <a:rPr lang="zh-CN" altLang="en-US" sz="2000" dirty="0">
                <a:sym typeface="Wingdings" pitchFamily="2" charset="2"/>
              </a:rPr>
              <a:t>邻居之间无法通过</a:t>
            </a:r>
            <a:r>
              <a:rPr lang="en-US" altLang="zh-CN" sz="2000" dirty="0">
                <a:sym typeface="Wingdings" pitchFamily="2" charset="2"/>
              </a:rPr>
              <a:t>AS PATH</a:t>
            </a:r>
            <a:r>
              <a:rPr lang="zh-CN" altLang="en-US" sz="2000" dirty="0">
                <a:sym typeface="Wingdings" pitchFamily="2" charset="2"/>
              </a:rPr>
              <a:t>检测回路</a:t>
            </a:r>
            <a:endParaRPr lang="en-US" altLang="zh-CN" sz="2000" dirty="0">
              <a:sym typeface="Wingdings" pitchFamily="2" charset="2"/>
            </a:endParaRPr>
          </a:p>
          <a:p>
            <a:pPr marL="742950" lvl="1" indent="-285750">
              <a:lnSpc>
                <a:spcPct val="100000"/>
              </a:lnSpc>
            </a:pPr>
            <a:r>
              <a:rPr lang="zh-CN" altLang="en-US" sz="2000" dirty="0">
                <a:sym typeface="Wingdings" pitchFamily="2" charset="2"/>
              </a:rPr>
              <a:t>自治系统的</a:t>
            </a:r>
            <a:r>
              <a:rPr lang="en-US" altLang="zh-CN" sz="2000" dirty="0">
                <a:sym typeface="Wingdings" pitchFamily="2" charset="2"/>
              </a:rPr>
              <a:t>BGP</a:t>
            </a:r>
            <a:r>
              <a:rPr lang="zh-CN" altLang="en-US" sz="2000" dirty="0">
                <a:sym typeface="Wingdings" pitchFamily="2" charset="2"/>
              </a:rPr>
              <a:t>路由器两两建立</a:t>
            </a:r>
            <a:r>
              <a:rPr lang="en-US" altLang="zh-CN" sz="2000" dirty="0">
                <a:sym typeface="Wingdings" pitchFamily="2" charset="2"/>
              </a:rPr>
              <a:t>iBGP</a:t>
            </a:r>
            <a:r>
              <a:rPr lang="zh-CN" altLang="en-US" sz="2000" dirty="0">
                <a:sym typeface="Wingdings" pitchFamily="2" charset="2"/>
              </a:rPr>
              <a:t>会话，即全连接</a:t>
            </a:r>
            <a:r>
              <a:rPr lang="en-US" altLang="zh-CN" sz="2000" dirty="0">
                <a:sym typeface="Wingdings" pitchFamily="2" charset="2"/>
              </a:rPr>
              <a:t>(full mesh)</a:t>
            </a:r>
            <a:r>
              <a:rPr lang="zh-CN" altLang="en-US" sz="2000" dirty="0">
                <a:sym typeface="Wingdings" pitchFamily="2" charset="2"/>
              </a:rPr>
              <a:t>的方式</a:t>
            </a:r>
            <a:endParaRPr lang="en-US" altLang="zh-CN" sz="2000" dirty="0">
              <a:sym typeface="Wingdings" pitchFamily="2" charset="2"/>
            </a:endParaRPr>
          </a:p>
          <a:p>
            <a:pPr marL="285750" indent="-285750"/>
            <a:endParaRPr lang="zh-CN" altLang="en-US" dirty="0"/>
          </a:p>
        </p:txBody>
      </p:sp>
      <p:grpSp>
        <p:nvGrpSpPr>
          <p:cNvPr id="455" name="组合 454">
            <a:extLst>
              <a:ext uri="{FF2B5EF4-FFF2-40B4-BE49-F238E27FC236}">
                <a16:creationId xmlns:a16="http://schemas.microsoft.com/office/drawing/2014/main" id="{332D2387-539E-68A3-D24C-2804F67EE6FC}"/>
              </a:ext>
            </a:extLst>
          </p:cNvPr>
          <p:cNvGrpSpPr/>
          <p:nvPr/>
        </p:nvGrpSpPr>
        <p:grpSpPr>
          <a:xfrm>
            <a:off x="8579993" y="3342536"/>
            <a:ext cx="3490725" cy="816496"/>
            <a:chOff x="8633763" y="5450641"/>
            <a:chExt cx="3490725" cy="816496"/>
          </a:xfrm>
        </p:grpSpPr>
        <p:grpSp>
          <p:nvGrpSpPr>
            <p:cNvPr id="210" name="Group 438">
              <a:extLst>
                <a:ext uri="{FF2B5EF4-FFF2-40B4-BE49-F238E27FC236}">
                  <a16:creationId xmlns:a16="http://schemas.microsoft.com/office/drawing/2014/main" id="{38E1EBDE-FA90-9DD8-02A5-9B87B900299F}"/>
                </a:ext>
              </a:extLst>
            </p:cNvPr>
            <p:cNvGrpSpPr/>
            <p:nvPr/>
          </p:nvGrpSpPr>
          <p:grpSpPr>
            <a:xfrm>
              <a:off x="8759899" y="5665193"/>
              <a:ext cx="565150" cy="369332"/>
              <a:chOff x="1736090" y="2873352"/>
              <a:chExt cx="565150" cy="369332"/>
            </a:xfrm>
          </p:grpSpPr>
          <p:grpSp>
            <p:nvGrpSpPr>
              <p:cNvPr id="216" name="Group 327">
                <a:extLst>
                  <a:ext uri="{FF2B5EF4-FFF2-40B4-BE49-F238E27FC236}">
                    <a16:creationId xmlns:a16="http://schemas.microsoft.com/office/drawing/2014/main" id="{03C1DD28-88AF-0910-1C07-611194A768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0" name="Oval 448">
                  <a:extLst>
                    <a:ext uri="{FF2B5EF4-FFF2-40B4-BE49-F238E27FC236}">
                      <a16:creationId xmlns:a16="http://schemas.microsoft.com/office/drawing/2014/main" id="{ABEB8D80-A535-A60F-3255-524DF296E09F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Rectangle 449">
                  <a:extLst>
                    <a:ext uri="{FF2B5EF4-FFF2-40B4-BE49-F238E27FC236}">
                      <a16:creationId xmlns:a16="http://schemas.microsoft.com/office/drawing/2014/main" id="{E876A659-D598-F2B8-8647-1372A99B5722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Oval 450">
                  <a:extLst>
                    <a:ext uri="{FF2B5EF4-FFF2-40B4-BE49-F238E27FC236}">
                      <a16:creationId xmlns:a16="http://schemas.microsoft.com/office/drawing/2014/main" id="{8679DD9E-63CB-C12A-F29A-CFCCD6344D3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451">
                  <a:extLst>
                    <a:ext uri="{FF2B5EF4-FFF2-40B4-BE49-F238E27FC236}">
                      <a16:creationId xmlns:a16="http://schemas.microsoft.com/office/drawing/2014/main" id="{8C52956C-AB2C-B477-7DDF-90060879F3C4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Freeform 452">
                  <a:extLst>
                    <a:ext uri="{FF2B5EF4-FFF2-40B4-BE49-F238E27FC236}">
                      <a16:creationId xmlns:a16="http://schemas.microsoft.com/office/drawing/2014/main" id="{6C19CE95-7AEE-997F-2E37-B44B996445E1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Freeform 453">
                  <a:extLst>
                    <a:ext uri="{FF2B5EF4-FFF2-40B4-BE49-F238E27FC236}">
                      <a16:creationId xmlns:a16="http://schemas.microsoft.com/office/drawing/2014/main" id="{86030885-5BA4-2D3B-093F-8E750A7A762A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Freeform 454">
                  <a:extLst>
                    <a:ext uri="{FF2B5EF4-FFF2-40B4-BE49-F238E27FC236}">
                      <a16:creationId xmlns:a16="http://schemas.microsoft.com/office/drawing/2014/main" id="{F3F0CE6A-3E6B-12FA-6D32-395EAF85F9CA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27" name="Straight Connector 455">
                  <a:extLst>
                    <a:ext uri="{FF2B5EF4-FFF2-40B4-BE49-F238E27FC236}">
                      <a16:creationId xmlns:a16="http://schemas.microsoft.com/office/drawing/2014/main" id="{00B9AFB7-8015-CB5D-5C3D-880E37C3410F}"/>
                    </a:ext>
                  </a:extLst>
                </p:cNvPr>
                <p:cNvCxnSpPr>
                  <a:endCxn id="22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28" name="Straight Connector 456">
                  <a:extLst>
                    <a:ext uri="{FF2B5EF4-FFF2-40B4-BE49-F238E27FC236}">
                      <a16:creationId xmlns:a16="http://schemas.microsoft.com/office/drawing/2014/main" id="{EE1CF533-80C6-DCD7-FB04-8A496CD81A26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17" name="Group 445">
                <a:extLst>
                  <a:ext uri="{FF2B5EF4-FFF2-40B4-BE49-F238E27FC236}">
                    <a16:creationId xmlns:a16="http://schemas.microsoft.com/office/drawing/2014/main" id="{E1E07CC0-3902-18AA-87D8-63EAC7CCD557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218" name="Oval 446">
                  <a:extLst>
                    <a:ext uri="{FF2B5EF4-FFF2-40B4-BE49-F238E27FC236}">
                      <a16:creationId xmlns:a16="http://schemas.microsoft.com/office/drawing/2014/main" id="{F148CB71-28F9-14F9-9FD5-6D339360EEDE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TextBox 447">
                  <a:extLst>
                    <a:ext uri="{FF2B5EF4-FFF2-40B4-BE49-F238E27FC236}">
                      <a16:creationId xmlns:a16="http://schemas.microsoft.com/office/drawing/2014/main" id="{41EADC3F-4378-26CB-E3F9-11D05CC8EBAE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1c</a:t>
                  </a:r>
                </a:p>
              </p:txBody>
            </p:sp>
          </p:grpSp>
        </p:grpSp>
        <p:sp>
          <p:nvSpPr>
            <p:cNvPr id="211" name="Oval 439">
              <a:extLst>
                <a:ext uri="{FF2B5EF4-FFF2-40B4-BE49-F238E27FC236}">
                  <a16:creationId xmlns:a16="http://schemas.microsoft.com/office/drawing/2014/main" id="{729A54E4-320E-FF11-5AA1-9AF28F6E8998}"/>
                </a:ext>
              </a:extLst>
            </p:cNvPr>
            <p:cNvSpPr/>
            <p:nvPr/>
          </p:nvSpPr>
          <p:spPr bwMode="auto">
            <a:xfrm>
              <a:off x="8633763" y="5450641"/>
              <a:ext cx="839004" cy="816496"/>
            </a:xfrm>
            <a:prstGeom prst="ellips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09" name="TextBox 437">
              <a:extLst>
                <a:ext uri="{FF2B5EF4-FFF2-40B4-BE49-F238E27FC236}">
                  <a16:creationId xmlns:a16="http://schemas.microsoft.com/office/drawing/2014/main" id="{E04512F0-FF09-72FA-BD0D-71305FFC7F90}"/>
                </a:ext>
              </a:extLst>
            </p:cNvPr>
            <p:cNvSpPr txBox="1"/>
            <p:nvPr/>
          </p:nvSpPr>
          <p:spPr>
            <a:xfrm>
              <a:off x="9631498" y="5632084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+mn-ea"/>
                </a:rPr>
                <a:t>运行</a:t>
              </a:r>
              <a:r>
                <a:rPr lang="en-US" altLang="zh-CN" kern="0" dirty="0">
                  <a:solidFill>
                    <a:srgbClr val="000000"/>
                  </a:solidFill>
                  <a:latin typeface="+mn-ea"/>
                </a:rPr>
                <a:t>eBGP</a:t>
              </a:r>
              <a:r>
                <a:rPr lang="zh-CN" altLang="en-US" kern="0" dirty="0">
                  <a:solidFill>
                    <a:srgbClr val="000000"/>
                  </a:solidFill>
                  <a:latin typeface="+mn-ea"/>
                </a:rPr>
                <a:t>和</a:t>
              </a:r>
              <a:r>
                <a:rPr lang="en-US" altLang="zh-CN" kern="0" dirty="0">
                  <a:solidFill>
                    <a:srgbClr val="000000"/>
                  </a:solidFill>
                  <a:latin typeface="+mn-ea"/>
                </a:rPr>
                <a:t>iBGP</a:t>
              </a:r>
              <a:r>
                <a:rPr lang="zh-CN" altLang="en-US" kern="0" dirty="0">
                  <a:solidFill>
                    <a:srgbClr val="000000"/>
                  </a:solidFill>
                  <a:latin typeface="+mn-ea"/>
                </a:rPr>
                <a:t>协议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4" name="Group 232">
            <a:extLst>
              <a:ext uri="{FF2B5EF4-FFF2-40B4-BE49-F238E27FC236}">
                <a16:creationId xmlns:a16="http://schemas.microsoft.com/office/drawing/2014/main" id="{8E42BDB8-4607-AF8B-857A-04BC443231F5}"/>
              </a:ext>
            </a:extLst>
          </p:cNvPr>
          <p:cNvGrpSpPr/>
          <p:nvPr/>
        </p:nvGrpSpPr>
        <p:grpSpPr>
          <a:xfrm>
            <a:off x="462836" y="3377417"/>
            <a:ext cx="2088416" cy="635979"/>
            <a:chOff x="3683123" y="4998622"/>
            <a:chExt cx="2088416" cy="635979"/>
          </a:xfrm>
        </p:grpSpPr>
        <p:cxnSp>
          <p:nvCxnSpPr>
            <p:cNvPr id="5" name="Straight Connector 233">
              <a:extLst>
                <a:ext uri="{FF2B5EF4-FFF2-40B4-BE49-F238E27FC236}">
                  <a16:creationId xmlns:a16="http://schemas.microsoft.com/office/drawing/2014/main" id="{C892A1A2-3F49-6C8E-219D-3455299AA697}"/>
                </a:ext>
              </a:extLst>
            </p:cNvPr>
            <p:cNvCxnSpPr/>
            <p:nvPr/>
          </p:nvCxnSpPr>
          <p:spPr bwMode="auto">
            <a:xfrm flipH="1" flipV="1">
              <a:off x="3683123" y="5204803"/>
              <a:ext cx="749784" cy="11598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Straight Connector 234">
              <a:extLst>
                <a:ext uri="{FF2B5EF4-FFF2-40B4-BE49-F238E27FC236}">
                  <a16:creationId xmlns:a16="http://schemas.microsoft.com/office/drawing/2014/main" id="{F371767D-1C39-34B7-E35F-D5000C7896BD}"/>
                </a:ext>
              </a:extLst>
            </p:cNvPr>
            <p:cNvCxnSpPr/>
            <p:nvPr/>
          </p:nvCxnSpPr>
          <p:spPr bwMode="auto">
            <a:xfrm flipV="1">
              <a:off x="3712601" y="5484981"/>
              <a:ext cx="699488" cy="69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TextBox 235">
              <a:extLst>
                <a:ext uri="{FF2B5EF4-FFF2-40B4-BE49-F238E27FC236}">
                  <a16:creationId xmlns:a16="http://schemas.microsoft.com/office/drawing/2014/main" id="{920C962C-1391-AA0E-6773-BD9186C9E0E7}"/>
                </a:ext>
              </a:extLst>
            </p:cNvPr>
            <p:cNvSpPr txBox="1"/>
            <p:nvPr/>
          </p:nvSpPr>
          <p:spPr>
            <a:xfrm>
              <a:off x="4536906" y="4998622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+mn-ea"/>
                </a:rPr>
                <a:t>eBGP</a:t>
              </a:r>
              <a:r>
                <a:rPr lang="zh-CN" altLang="en-US" kern="0" dirty="0">
                  <a:solidFill>
                    <a:srgbClr val="CC0000"/>
                  </a:solidFill>
                  <a:latin typeface="+mn-ea"/>
                </a:rPr>
                <a:t>连接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8" name="TextBox 236">
              <a:extLst>
                <a:ext uri="{FF2B5EF4-FFF2-40B4-BE49-F238E27FC236}">
                  <a16:creationId xmlns:a16="http://schemas.microsoft.com/office/drawing/2014/main" id="{38C0F414-5CA7-D7D2-9CD0-0E7F0AC7762A}"/>
                </a:ext>
              </a:extLst>
            </p:cNvPr>
            <p:cNvSpPr txBox="1"/>
            <p:nvPr/>
          </p:nvSpPr>
          <p:spPr>
            <a:xfrm>
              <a:off x="4561862" y="5265269"/>
              <a:ext cx="11641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+mn-ea"/>
                </a:rPr>
                <a:t>iBGP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+mn-ea"/>
                </a:rPr>
                <a:t>连接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9" name="Freeform 2">
            <a:extLst>
              <a:ext uri="{FF2B5EF4-FFF2-40B4-BE49-F238E27FC236}">
                <a16:creationId xmlns:a16="http://schemas.microsoft.com/office/drawing/2014/main" id="{54CC7C63-1F53-063E-F652-6DF93276A2FF}"/>
              </a:ext>
            </a:extLst>
          </p:cNvPr>
          <p:cNvSpPr>
            <a:spLocks/>
          </p:cNvSpPr>
          <p:nvPr/>
        </p:nvSpPr>
        <p:spPr bwMode="auto">
          <a:xfrm>
            <a:off x="261814" y="4235624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0" name="Group 238">
            <a:extLst>
              <a:ext uri="{FF2B5EF4-FFF2-40B4-BE49-F238E27FC236}">
                <a16:creationId xmlns:a16="http://schemas.microsoft.com/office/drawing/2014/main" id="{1D88AF4D-5B33-CAD6-AD3D-F58CE4746B99}"/>
              </a:ext>
            </a:extLst>
          </p:cNvPr>
          <p:cNvGrpSpPr/>
          <p:nvPr/>
        </p:nvGrpSpPr>
        <p:grpSpPr>
          <a:xfrm>
            <a:off x="1399975" y="4386486"/>
            <a:ext cx="565150" cy="369332"/>
            <a:chOff x="1736090" y="2873352"/>
            <a:chExt cx="565150" cy="369332"/>
          </a:xfrm>
        </p:grpSpPr>
        <p:grpSp>
          <p:nvGrpSpPr>
            <p:cNvPr id="11" name="Group 327">
              <a:extLst>
                <a:ext uri="{FF2B5EF4-FFF2-40B4-BE49-F238E27FC236}">
                  <a16:creationId xmlns:a16="http://schemas.microsoft.com/office/drawing/2014/main" id="{8ED4399F-E073-2F16-CC7D-740D9414F4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5" name="Oval 243">
                <a:extLst>
                  <a:ext uri="{FF2B5EF4-FFF2-40B4-BE49-F238E27FC236}">
                    <a16:creationId xmlns:a16="http://schemas.microsoft.com/office/drawing/2014/main" id="{A49057D7-A93F-ED9C-7854-A847E10EF61E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6" name="Rectangle 244">
                <a:extLst>
                  <a:ext uri="{FF2B5EF4-FFF2-40B4-BE49-F238E27FC236}">
                    <a16:creationId xmlns:a16="http://schemas.microsoft.com/office/drawing/2014/main" id="{21E9615D-8A27-373D-966F-2EDF8362F815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7" name="Oval 245">
                <a:extLst>
                  <a:ext uri="{FF2B5EF4-FFF2-40B4-BE49-F238E27FC236}">
                    <a16:creationId xmlns:a16="http://schemas.microsoft.com/office/drawing/2014/main" id="{21183710-5751-CA3C-9824-BE280D2009F7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8" name="Freeform 246">
                <a:extLst>
                  <a:ext uri="{FF2B5EF4-FFF2-40B4-BE49-F238E27FC236}">
                    <a16:creationId xmlns:a16="http://schemas.microsoft.com/office/drawing/2014/main" id="{C17D022E-DF30-5C02-13F1-7FE0BB211A51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9" name="Freeform 247">
                <a:extLst>
                  <a:ext uri="{FF2B5EF4-FFF2-40B4-BE49-F238E27FC236}">
                    <a16:creationId xmlns:a16="http://schemas.microsoft.com/office/drawing/2014/main" id="{FE3D581D-ACAB-A3E4-D2D2-F3F2197C66F0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0" name="Freeform 248">
                <a:extLst>
                  <a:ext uri="{FF2B5EF4-FFF2-40B4-BE49-F238E27FC236}">
                    <a16:creationId xmlns:a16="http://schemas.microsoft.com/office/drawing/2014/main" id="{C14A4D4A-51DB-B5AF-FB75-F050FFF30A2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1" name="Freeform 249">
                <a:extLst>
                  <a:ext uri="{FF2B5EF4-FFF2-40B4-BE49-F238E27FC236}">
                    <a16:creationId xmlns:a16="http://schemas.microsoft.com/office/drawing/2014/main" id="{9054C0BB-C15F-CE00-7664-1E1EB851FF77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2" name="Straight Connector 250">
                <a:extLst>
                  <a:ext uri="{FF2B5EF4-FFF2-40B4-BE49-F238E27FC236}">
                    <a16:creationId xmlns:a16="http://schemas.microsoft.com/office/drawing/2014/main" id="{4EFD65B1-DBC5-C0FD-5C5A-6FD750F1AC35}"/>
                  </a:ext>
                </a:extLst>
              </p:cNvPr>
              <p:cNvCxnSpPr>
                <a:endCxn id="17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3" name="Straight Connector 251">
                <a:extLst>
                  <a:ext uri="{FF2B5EF4-FFF2-40B4-BE49-F238E27FC236}">
                    <a16:creationId xmlns:a16="http://schemas.microsoft.com/office/drawing/2014/main" id="{776F7D89-465C-F3A9-216D-4456241122B3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12" name="Group 240">
              <a:extLst>
                <a:ext uri="{FF2B5EF4-FFF2-40B4-BE49-F238E27FC236}">
                  <a16:creationId xmlns:a16="http://schemas.microsoft.com/office/drawing/2014/main" id="{2F0C7AA4-4A25-E981-037C-369D4D5096F8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13" name="Oval 241">
                <a:extLst>
                  <a:ext uri="{FF2B5EF4-FFF2-40B4-BE49-F238E27FC236}">
                    <a16:creationId xmlns:a16="http://schemas.microsoft.com/office/drawing/2014/main" id="{B9A7E012-0902-B1ED-FEB9-FFBFA82B9E1C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4" name="TextBox 242">
                <a:extLst>
                  <a:ext uri="{FF2B5EF4-FFF2-40B4-BE49-F238E27FC236}">
                    <a16:creationId xmlns:a16="http://schemas.microsoft.com/office/drawing/2014/main" id="{3BCF16C3-847D-2964-1B40-47235188E616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</a:p>
            </p:txBody>
          </p:sp>
        </p:grpSp>
      </p:grpSp>
      <p:grpSp>
        <p:nvGrpSpPr>
          <p:cNvPr id="24" name="Group 252">
            <a:extLst>
              <a:ext uri="{FF2B5EF4-FFF2-40B4-BE49-F238E27FC236}">
                <a16:creationId xmlns:a16="http://schemas.microsoft.com/office/drawing/2014/main" id="{CCD18701-93CB-8C03-2320-73CAFB398060}"/>
              </a:ext>
            </a:extLst>
          </p:cNvPr>
          <p:cNvGrpSpPr/>
          <p:nvPr/>
        </p:nvGrpSpPr>
        <p:grpSpPr>
          <a:xfrm>
            <a:off x="1404205" y="5607803"/>
            <a:ext cx="565150" cy="369332"/>
            <a:chOff x="1736090" y="2873352"/>
            <a:chExt cx="565150" cy="369332"/>
          </a:xfrm>
        </p:grpSpPr>
        <p:grpSp>
          <p:nvGrpSpPr>
            <p:cNvPr id="25" name="Group 327">
              <a:extLst>
                <a:ext uri="{FF2B5EF4-FFF2-40B4-BE49-F238E27FC236}">
                  <a16:creationId xmlns:a16="http://schemas.microsoft.com/office/drawing/2014/main" id="{B8E26480-010D-5953-A6FE-9D672CF9C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9" name="Oval 257">
                <a:extLst>
                  <a:ext uri="{FF2B5EF4-FFF2-40B4-BE49-F238E27FC236}">
                    <a16:creationId xmlns:a16="http://schemas.microsoft.com/office/drawing/2014/main" id="{6EA5CB60-F233-A978-C68B-089B240A4EC7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0" name="Rectangle 258">
                <a:extLst>
                  <a:ext uri="{FF2B5EF4-FFF2-40B4-BE49-F238E27FC236}">
                    <a16:creationId xmlns:a16="http://schemas.microsoft.com/office/drawing/2014/main" id="{98525607-5775-2036-82A7-4B38F213E338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1" name="Oval 259">
                <a:extLst>
                  <a:ext uri="{FF2B5EF4-FFF2-40B4-BE49-F238E27FC236}">
                    <a16:creationId xmlns:a16="http://schemas.microsoft.com/office/drawing/2014/main" id="{C01D2333-409C-CC74-F95C-0BDB32654C76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2" name="Freeform 260">
                <a:extLst>
                  <a:ext uri="{FF2B5EF4-FFF2-40B4-BE49-F238E27FC236}">
                    <a16:creationId xmlns:a16="http://schemas.microsoft.com/office/drawing/2014/main" id="{362F24EC-7B47-1BD1-F09D-0C306F6DF488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3" name="Freeform 261">
                <a:extLst>
                  <a:ext uri="{FF2B5EF4-FFF2-40B4-BE49-F238E27FC236}">
                    <a16:creationId xmlns:a16="http://schemas.microsoft.com/office/drawing/2014/main" id="{653C0688-7D6F-3C12-F448-67C104C707A4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4" name="Freeform 262">
                <a:extLst>
                  <a:ext uri="{FF2B5EF4-FFF2-40B4-BE49-F238E27FC236}">
                    <a16:creationId xmlns:a16="http://schemas.microsoft.com/office/drawing/2014/main" id="{8DAC6936-6741-C438-A8B1-1D80DFB53A3C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" name="Freeform 263">
                <a:extLst>
                  <a:ext uri="{FF2B5EF4-FFF2-40B4-BE49-F238E27FC236}">
                    <a16:creationId xmlns:a16="http://schemas.microsoft.com/office/drawing/2014/main" id="{5B467C51-CBAE-C91F-3B94-19AF3332D304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" name="Straight Connector 264">
                <a:extLst>
                  <a:ext uri="{FF2B5EF4-FFF2-40B4-BE49-F238E27FC236}">
                    <a16:creationId xmlns:a16="http://schemas.microsoft.com/office/drawing/2014/main" id="{813ECBA5-74B1-6A73-C34A-B5225662FB17}"/>
                  </a:ext>
                </a:extLst>
              </p:cNvPr>
              <p:cNvCxnSpPr>
                <a:endCxn id="31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37" name="Straight Connector 265">
                <a:extLst>
                  <a:ext uri="{FF2B5EF4-FFF2-40B4-BE49-F238E27FC236}">
                    <a16:creationId xmlns:a16="http://schemas.microsoft.com/office/drawing/2014/main" id="{B5728CAB-77EF-F1EA-340A-37294BB340E9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6" name="Group 254">
              <a:extLst>
                <a:ext uri="{FF2B5EF4-FFF2-40B4-BE49-F238E27FC236}">
                  <a16:creationId xmlns:a16="http://schemas.microsoft.com/office/drawing/2014/main" id="{388E88FD-269B-DE99-CC16-3AE9D43A2267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7" name="Oval 255">
                <a:extLst>
                  <a:ext uri="{FF2B5EF4-FFF2-40B4-BE49-F238E27FC236}">
                    <a16:creationId xmlns:a16="http://schemas.microsoft.com/office/drawing/2014/main" id="{368BA820-E94E-DD4F-BF0C-495FB5DEC610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" name="TextBox 256">
                <a:extLst>
                  <a:ext uri="{FF2B5EF4-FFF2-40B4-BE49-F238E27FC236}">
                    <a16:creationId xmlns:a16="http://schemas.microsoft.com/office/drawing/2014/main" id="{F8B35B38-5951-6BAB-F678-5F8215B3B2B6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1d</a:t>
                </a:r>
              </a:p>
            </p:txBody>
          </p:sp>
        </p:grpSp>
      </p:grpSp>
      <p:grpSp>
        <p:nvGrpSpPr>
          <p:cNvPr id="38" name="Group 266">
            <a:extLst>
              <a:ext uri="{FF2B5EF4-FFF2-40B4-BE49-F238E27FC236}">
                <a16:creationId xmlns:a16="http://schemas.microsoft.com/office/drawing/2014/main" id="{16B174A0-EE06-EB95-1828-810292D79C7B}"/>
              </a:ext>
            </a:extLst>
          </p:cNvPr>
          <p:cNvGrpSpPr/>
          <p:nvPr/>
        </p:nvGrpSpPr>
        <p:grpSpPr>
          <a:xfrm>
            <a:off x="2265691" y="4998206"/>
            <a:ext cx="565150" cy="369332"/>
            <a:chOff x="1736090" y="2873352"/>
            <a:chExt cx="565150" cy="369332"/>
          </a:xfrm>
        </p:grpSpPr>
        <p:grpSp>
          <p:nvGrpSpPr>
            <p:cNvPr id="39" name="Group 327">
              <a:extLst>
                <a:ext uri="{FF2B5EF4-FFF2-40B4-BE49-F238E27FC236}">
                  <a16:creationId xmlns:a16="http://schemas.microsoft.com/office/drawing/2014/main" id="{C681C76D-E9FC-AF11-DA16-148BE3A6FB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3" name="Oval 271">
                <a:extLst>
                  <a:ext uri="{FF2B5EF4-FFF2-40B4-BE49-F238E27FC236}">
                    <a16:creationId xmlns:a16="http://schemas.microsoft.com/office/drawing/2014/main" id="{969C66B4-B77E-E718-CE4D-135AC9CA3BA1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" name="Rectangle 272">
                <a:extLst>
                  <a:ext uri="{FF2B5EF4-FFF2-40B4-BE49-F238E27FC236}">
                    <a16:creationId xmlns:a16="http://schemas.microsoft.com/office/drawing/2014/main" id="{BE59B919-4288-2E45-681E-BBAE51CBC541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" name="Oval 273">
                <a:extLst>
                  <a:ext uri="{FF2B5EF4-FFF2-40B4-BE49-F238E27FC236}">
                    <a16:creationId xmlns:a16="http://schemas.microsoft.com/office/drawing/2014/main" id="{73DAE32E-25A9-5DE0-64AC-89459459E006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" name="Freeform 274">
                <a:extLst>
                  <a:ext uri="{FF2B5EF4-FFF2-40B4-BE49-F238E27FC236}">
                    <a16:creationId xmlns:a16="http://schemas.microsoft.com/office/drawing/2014/main" id="{E95A090C-9451-8F0D-0433-1A98BACC3FF6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" name="Freeform 275">
                <a:extLst>
                  <a:ext uri="{FF2B5EF4-FFF2-40B4-BE49-F238E27FC236}">
                    <a16:creationId xmlns:a16="http://schemas.microsoft.com/office/drawing/2014/main" id="{DD2890E6-6E4A-5BD0-D0A5-227445A344EE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8" name="Freeform 276">
                <a:extLst>
                  <a:ext uri="{FF2B5EF4-FFF2-40B4-BE49-F238E27FC236}">
                    <a16:creationId xmlns:a16="http://schemas.microsoft.com/office/drawing/2014/main" id="{3D9E8742-9628-EC94-E3CF-B9AA1A08E71D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" name="Freeform 277">
                <a:extLst>
                  <a:ext uri="{FF2B5EF4-FFF2-40B4-BE49-F238E27FC236}">
                    <a16:creationId xmlns:a16="http://schemas.microsoft.com/office/drawing/2014/main" id="{F8107C23-57F8-47AA-39D3-298F50EC6E80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50" name="Straight Connector 278">
                <a:extLst>
                  <a:ext uri="{FF2B5EF4-FFF2-40B4-BE49-F238E27FC236}">
                    <a16:creationId xmlns:a16="http://schemas.microsoft.com/office/drawing/2014/main" id="{DBB15E6C-E0CA-B84C-CF92-E6B2DF39A418}"/>
                  </a:ext>
                </a:extLst>
              </p:cNvPr>
              <p:cNvCxnSpPr>
                <a:endCxn id="45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51" name="Straight Connector 279">
                <a:extLst>
                  <a:ext uri="{FF2B5EF4-FFF2-40B4-BE49-F238E27FC236}">
                    <a16:creationId xmlns:a16="http://schemas.microsoft.com/office/drawing/2014/main" id="{15BBC3EF-5883-3A53-3783-77DFD16455B1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40" name="Group 268">
              <a:extLst>
                <a:ext uri="{FF2B5EF4-FFF2-40B4-BE49-F238E27FC236}">
                  <a16:creationId xmlns:a16="http://schemas.microsoft.com/office/drawing/2014/main" id="{69FF8378-0EB9-171E-8A4C-B3CFB188F394}"/>
                </a:ext>
              </a:extLst>
            </p:cNvPr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41" name="Oval 269">
                <a:extLst>
                  <a:ext uri="{FF2B5EF4-FFF2-40B4-BE49-F238E27FC236}">
                    <a16:creationId xmlns:a16="http://schemas.microsoft.com/office/drawing/2014/main" id="{EA882B21-FDF6-24B0-DCE4-2BF5DEF1FDB5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2" name="TextBox 270">
                <a:extLst>
                  <a:ext uri="{FF2B5EF4-FFF2-40B4-BE49-F238E27FC236}">
                    <a16:creationId xmlns:a16="http://schemas.microsoft.com/office/drawing/2014/main" id="{88DEBB8D-9DD6-3A7F-D95A-E6BB12C69947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1c</a:t>
                </a:r>
              </a:p>
            </p:txBody>
          </p:sp>
        </p:grpSp>
      </p:grpSp>
      <p:grpSp>
        <p:nvGrpSpPr>
          <p:cNvPr id="52" name="Group 280">
            <a:extLst>
              <a:ext uri="{FF2B5EF4-FFF2-40B4-BE49-F238E27FC236}">
                <a16:creationId xmlns:a16="http://schemas.microsoft.com/office/drawing/2014/main" id="{248B4880-FF6A-8765-1B98-EA17AB383768}"/>
              </a:ext>
            </a:extLst>
          </p:cNvPr>
          <p:cNvGrpSpPr/>
          <p:nvPr/>
        </p:nvGrpSpPr>
        <p:grpSpPr>
          <a:xfrm>
            <a:off x="497216" y="4991853"/>
            <a:ext cx="565150" cy="369332"/>
            <a:chOff x="1736090" y="2873352"/>
            <a:chExt cx="565150" cy="369332"/>
          </a:xfrm>
        </p:grpSpPr>
        <p:grpSp>
          <p:nvGrpSpPr>
            <p:cNvPr id="53" name="Group 327">
              <a:extLst>
                <a:ext uri="{FF2B5EF4-FFF2-40B4-BE49-F238E27FC236}">
                  <a16:creationId xmlns:a16="http://schemas.microsoft.com/office/drawing/2014/main" id="{66A8F101-B72E-6E60-DD61-40312543F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7" name="Oval 285">
                <a:extLst>
                  <a:ext uri="{FF2B5EF4-FFF2-40B4-BE49-F238E27FC236}">
                    <a16:creationId xmlns:a16="http://schemas.microsoft.com/office/drawing/2014/main" id="{1920AEC8-B42B-A6C6-CF9C-D70E02110916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8" name="Rectangle 286">
                <a:extLst>
                  <a:ext uri="{FF2B5EF4-FFF2-40B4-BE49-F238E27FC236}">
                    <a16:creationId xmlns:a16="http://schemas.microsoft.com/office/drawing/2014/main" id="{10849A91-B2AB-AD87-8955-79E4E79A668F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9" name="Oval 287">
                <a:extLst>
                  <a:ext uri="{FF2B5EF4-FFF2-40B4-BE49-F238E27FC236}">
                    <a16:creationId xmlns:a16="http://schemas.microsoft.com/office/drawing/2014/main" id="{671FCE90-4958-FA45-F0D6-63994C111AA8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0" name="Freeform 288">
                <a:extLst>
                  <a:ext uri="{FF2B5EF4-FFF2-40B4-BE49-F238E27FC236}">
                    <a16:creationId xmlns:a16="http://schemas.microsoft.com/office/drawing/2014/main" id="{0CCBD781-5039-BF24-8818-352B54A90458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1" name="Freeform 289">
                <a:extLst>
                  <a:ext uri="{FF2B5EF4-FFF2-40B4-BE49-F238E27FC236}">
                    <a16:creationId xmlns:a16="http://schemas.microsoft.com/office/drawing/2014/main" id="{7E4C53E6-8772-28E8-D0D9-7D8ABCC4888A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2" name="Freeform 290">
                <a:extLst>
                  <a:ext uri="{FF2B5EF4-FFF2-40B4-BE49-F238E27FC236}">
                    <a16:creationId xmlns:a16="http://schemas.microsoft.com/office/drawing/2014/main" id="{F6BBEFC1-D4F2-D068-A8D9-23382B7278CF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3" name="Freeform 291">
                <a:extLst>
                  <a:ext uri="{FF2B5EF4-FFF2-40B4-BE49-F238E27FC236}">
                    <a16:creationId xmlns:a16="http://schemas.microsoft.com/office/drawing/2014/main" id="{DED8FA58-595B-7AC6-4D28-8F30615047F1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64" name="Straight Connector 292">
                <a:extLst>
                  <a:ext uri="{FF2B5EF4-FFF2-40B4-BE49-F238E27FC236}">
                    <a16:creationId xmlns:a16="http://schemas.microsoft.com/office/drawing/2014/main" id="{D0E64942-ED47-AD71-4219-407B4DB8E34D}"/>
                  </a:ext>
                </a:extLst>
              </p:cNvPr>
              <p:cNvCxnSpPr>
                <a:endCxn id="59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65" name="Straight Connector 293">
                <a:extLst>
                  <a:ext uri="{FF2B5EF4-FFF2-40B4-BE49-F238E27FC236}">
                    <a16:creationId xmlns:a16="http://schemas.microsoft.com/office/drawing/2014/main" id="{B06D5D57-F730-A47D-808A-E5D3E27F1F9E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54" name="Group 282">
              <a:extLst>
                <a:ext uri="{FF2B5EF4-FFF2-40B4-BE49-F238E27FC236}">
                  <a16:creationId xmlns:a16="http://schemas.microsoft.com/office/drawing/2014/main" id="{006A9546-ED7A-105B-B743-838F7FDD1B92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5" name="Oval 283">
                <a:extLst>
                  <a:ext uri="{FF2B5EF4-FFF2-40B4-BE49-F238E27FC236}">
                    <a16:creationId xmlns:a16="http://schemas.microsoft.com/office/drawing/2014/main" id="{EACD695E-6BF3-9812-9A87-4B2A0FA57AB9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6" name="TextBox 284">
                <a:extLst>
                  <a:ext uri="{FF2B5EF4-FFF2-40B4-BE49-F238E27FC236}">
                    <a16:creationId xmlns:a16="http://schemas.microsoft.com/office/drawing/2014/main" id="{0C7135CA-556F-87C5-EB48-C477A63CBE50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1a</a:t>
                </a:r>
              </a:p>
            </p:txBody>
          </p:sp>
        </p:grpSp>
      </p:grpSp>
      <p:cxnSp>
        <p:nvCxnSpPr>
          <p:cNvPr id="66" name="Straight Connector 294">
            <a:extLst>
              <a:ext uri="{FF2B5EF4-FFF2-40B4-BE49-F238E27FC236}">
                <a16:creationId xmlns:a16="http://schemas.microsoft.com/office/drawing/2014/main" id="{B8038B52-811F-E883-F561-7F68FA396A7D}"/>
              </a:ext>
            </a:extLst>
          </p:cNvPr>
          <p:cNvCxnSpPr>
            <a:stCxn id="14" idx="2"/>
            <a:endCxn id="28" idx="0"/>
          </p:cNvCxnSpPr>
          <p:nvPr/>
        </p:nvCxnSpPr>
        <p:spPr bwMode="auto">
          <a:xfrm>
            <a:off x="1654958" y="4755818"/>
            <a:ext cx="4230" cy="851985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295">
            <a:extLst>
              <a:ext uri="{FF2B5EF4-FFF2-40B4-BE49-F238E27FC236}">
                <a16:creationId xmlns:a16="http://schemas.microsoft.com/office/drawing/2014/main" id="{96552A08-48DA-D251-E1FC-0AB373451BEA}"/>
              </a:ext>
            </a:extLst>
          </p:cNvPr>
          <p:cNvCxnSpPr/>
          <p:nvPr/>
        </p:nvCxnSpPr>
        <p:spPr bwMode="auto">
          <a:xfrm>
            <a:off x="1071362" y="5161755"/>
            <a:ext cx="1204913" cy="635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296">
            <a:extLst>
              <a:ext uri="{FF2B5EF4-FFF2-40B4-BE49-F238E27FC236}">
                <a16:creationId xmlns:a16="http://schemas.microsoft.com/office/drawing/2014/main" id="{855EA99B-DD46-1CA6-385F-CA8125ED4168}"/>
              </a:ext>
            </a:extLst>
          </p:cNvPr>
          <p:cNvCxnSpPr>
            <a:stCxn id="15" idx="7"/>
          </p:cNvCxnSpPr>
          <p:nvPr/>
        </p:nvCxnSpPr>
        <p:spPr bwMode="auto">
          <a:xfrm>
            <a:off x="1882593" y="4667611"/>
            <a:ext cx="480042" cy="36977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Connector 297">
            <a:extLst>
              <a:ext uri="{FF2B5EF4-FFF2-40B4-BE49-F238E27FC236}">
                <a16:creationId xmlns:a16="http://schemas.microsoft.com/office/drawing/2014/main" id="{780373CD-F58E-02DB-6E69-166FC2096B53}"/>
              </a:ext>
            </a:extLst>
          </p:cNvPr>
          <p:cNvCxnSpPr/>
          <p:nvPr/>
        </p:nvCxnSpPr>
        <p:spPr bwMode="auto">
          <a:xfrm>
            <a:off x="963958" y="5299438"/>
            <a:ext cx="477927" cy="357071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298">
            <a:extLst>
              <a:ext uri="{FF2B5EF4-FFF2-40B4-BE49-F238E27FC236}">
                <a16:creationId xmlns:a16="http://schemas.microsoft.com/office/drawing/2014/main" id="{778A3DD1-A745-9AE7-36DF-501740B3E9F8}"/>
              </a:ext>
            </a:extLst>
          </p:cNvPr>
          <p:cNvCxnSpPr/>
          <p:nvPr/>
        </p:nvCxnSpPr>
        <p:spPr bwMode="auto">
          <a:xfrm flipH="1">
            <a:off x="1859927" y="5296676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299">
            <a:extLst>
              <a:ext uri="{FF2B5EF4-FFF2-40B4-BE49-F238E27FC236}">
                <a16:creationId xmlns:a16="http://schemas.microsoft.com/office/drawing/2014/main" id="{02C3ACF2-A226-64FF-0C6C-3F606E78F88B}"/>
              </a:ext>
            </a:extLst>
          </p:cNvPr>
          <p:cNvCxnSpPr/>
          <p:nvPr/>
        </p:nvCxnSpPr>
        <p:spPr bwMode="auto">
          <a:xfrm flipH="1">
            <a:off x="951438" y="4680080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2" name="Straight Connector 430">
            <a:extLst>
              <a:ext uri="{FF2B5EF4-FFF2-40B4-BE49-F238E27FC236}">
                <a16:creationId xmlns:a16="http://schemas.microsoft.com/office/drawing/2014/main" id="{3A69203A-B793-C36F-54EE-F9F30C89755F}"/>
              </a:ext>
            </a:extLst>
          </p:cNvPr>
          <p:cNvCxnSpPr>
            <a:cxnSpLocks/>
            <a:stCxn id="88" idx="1"/>
            <a:endCxn id="45" idx="6"/>
          </p:cNvCxnSpPr>
          <p:nvPr/>
        </p:nvCxnSpPr>
        <p:spPr bwMode="auto">
          <a:xfrm flipH="1">
            <a:off x="2829253" y="4857230"/>
            <a:ext cx="1778578" cy="268542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6" name="TextBox 434">
            <a:extLst>
              <a:ext uri="{FF2B5EF4-FFF2-40B4-BE49-F238E27FC236}">
                <a16:creationId xmlns:a16="http://schemas.microsoft.com/office/drawing/2014/main" id="{41C503EF-6E4B-7DF5-47E7-8495AEC11A58}"/>
              </a:ext>
            </a:extLst>
          </p:cNvPr>
          <p:cNvSpPr txBox="1"/>
          <p:nvPr/>
        </p:nvSpPr>
        <p:spPr>
          <a:xfrm>
            <a:off x="1273019" y="6123026"/>
            <a:ext cx="75353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1</a:t>
            </a:r>
          </a:p>
        </p:txBody>
      </p:sp>
      <p:sp>
        <p:nvSpPr>
          <p:cNvPr id="212" name="Oval 440">
            <a:extLst>
              <a:ext uri="{FF2B5EF4-FFF2-40B4-BE49-F238E27FC236}">
                <a16:creationId xmlns:a16="http://schemas.microsoft.com/office/drawing/2014/main" id="{94F71CF4-8A47-519B-1EA2-579DD102EF3D}"/>
              </a:ext>
            </a:extLst>
          </p:cNvPr>
          <p:cNvSpPr/>
          <p:nvPr/>
        </p:nvSpPr>
        <p:spPr bwMode="auto">
          <a:xfrm>
            <a:off x="2116581" y="4757704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grpSp>
        <p:nvGrpSpPr>
          <p:cNvPr id="74" name="Group 302">
            <a:extLst>
              <a:ext uri="{FF2B5EF4-FFF2-40B4-BE49-F238E27FC236}">
                <a16:creationId xmlns:a16="http://schemas.microsoft.com/office/drawing/2014/main" id="{4A1016B4-B4A1-84FF-7E57-D7D3118BF14D}"/>
              </a:ext>
            </a:extLst>
          </p:cNvPr>
          <p:cNvGrpSpPr/>
          <p:nvPr/>
        </p:nvGrpSpPr>
        <p:grpSpPr>
          <a:xfrm>
            <a:off x="4573559" y="4067197"/>
            <a:ext cx="2333625" cy="1590649"/>
            <a:chOff x="833331" y="2873352"/>
            <a:chExt cx="2333625" cy="1590649"/>
          </a:xfrm>
        </p:grpSpPr>
        <p:grpSp>
          <p:nvGrpSpPr>
            <p:cNvPr id="75" name="Group 303">
              <a:extLst>
                <a:ext uri="{FF2B5EF4-FFF2-40B4-BE49-F238E27FC236}">
                  <a16:creationId xmlns:a16="http://schemas.microsoft.com/office/drawing/2014/main" id="{C10F6D7D-0BB8-F0B8-D549-F4367D83B289}"/>
                </a:ext>
              </a:extLst>
            </p:cNvPr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24" name="Group 327">
                <a:extLst>
                  <a:ext uri="{FF2B5EF4-FFF2-40B4-BE49-F238E27FC236}">
                    <a16:creationId xmlns:a16="http://schemas.microsoft.com/office/drawing/2014/main" id="{317DE87E-2902-F51B-8807-F646EC77AC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28" name="Oval 356">
                  <a:extLst>
                    <a:ext uri="{FF2B5EF4-FFF2-40B4-BE49-F238E27FC236}">
                      <a16:creationId xmlns:a16="http://schemas.microsoft.com/office/drawing/2014/main" id="{26FF1D41-52AF-1066-D341-8C228470C8D3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Rectangle 357">
                  <a:extLst>
                    <a:ext uri="{FF2B5EF4-FFF2-40B4-BE49-F238E27FC236}">
                      <a16:creationId xmlns:a16="http://schemas.microsoft.com/office/drawing/2014/main" id="{449283AB-D495-1EE8-D14A-56C3B7338367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Oval 358">
                  <a:extLst>
                    <a:ext uri="{FF2B5EF4-FFF2-40B4-BE49-F238E27FC236}">
                      <a16:creationId xmlns:a16="http://schemas.microsoft.com/office/drawing/2014/main" id="{25626438-C2B1-13CE-EF98-FCA3ABB8664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 359">
                  <a:extLst>
                    <a:ext uri="{FF2B5EF4-FFF2-40B4-BE49-F238E27FC236}">
                      <a16:creationId xmlns:a16="http://schemas.microsoft.com/office/drawing/2014/main" id="{8C41B380-26C1-6940-169D-E0903B50751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 360">
                  <a:extLst>
                    <a:ext uri="{FF2B5EF4-FFF2-40B4-BE49-F238E27FC236}">
                      <a16:creationId xmlns:a16="http://schemas.microsoft.com/office/drawing/2014/main" id="{264FE2E1-7568-A4C4-5EE0-059FC804B8C1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Freeform 361">
                  <a:extLst>
                    <a:ext uri="{FF2B5EF4-FFF2-40B4-BE49-F238E27FC236}">
                      <a16:creationId xmlns:a16="http://schemas.microsoft.com/office/drawing/2014/main" id="{B754F661-A676-E847-2C5D-2AB04AC6C211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Freeform 362">
                  <a:extLst>
                    <a:ext uri="{FF2B5EF4-FFF2-40B4-BE49-F238E27FC236}">
                      <a16:creationId xmlns:a16="http://schemas.microsoft.com/office/drawing/2014/main" id="{00078F61-4353-FEEB-278F-D4BC845C677F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35" name="Straight Connector 363">
                  <a:extLst>
                    <a:ext uri="{FF2B5EF4-FFF2-40B4-BE49-F238E27FC236}">
                      <a16:creationId xmlns:a16="http://schemas.microsoft.com/office/drawing/2014/main" id="{DA6779FF-B10B-7B19-E805-7F4C8E010DDB}"/>
                    </a:ext>
                  </a:extLst>
                </p:cNvPr>
                <p:cNvCxnSpPr>
                  <a:endCxn id="13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36" name="Straight Connector 364">
                  <a:extLst>
                    <a:ext uri="{FF2B5EF4-FFF2-40B4-BE49-F238E27FC236}">
                      <a16:creationId xmlns:a16="http://schemas.microsoft.com/office/drawing/2014/main" id="{83815DD1-C3A5-5A7E-3C11-3615113ED4F0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25" name="Group 353">
                <a:extLst>
                  <a:ext uri="{FF2B5EF4-FFF2-40B4-BE49-F238E27FC236}">
                    <a16:creationId xmlns:a16="http://schemas.microsoft.com/office/drawing/2014/main" id="{52AF03CB-F624-FB34-F833-78CFB3F63E1A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26" name="Oval 354">
                  <a:extLst>
                    <a:ext uri="{FF2B5EF4-FFF2-40B4-BE49-F238E27FC236}">
                      <a16:creationId xmlns:a16="http://schemas.microsoft.com/office/drawing/2014/main" id="{5CD89213-E3ED-2A3C-846B-1BD90F52667B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TextBox 355">
                  <a:extLst>
                    <a:ext uri="{FF2B5EF4-FFF2-40B4-BE49-F238E27FC236}">
                      <a16:creationId xmlns:a16="http://schemas.microsoft.com/office/drawing/2014/main" id="{3B5D3BC8-23DA-0502-0741-CE7053F9CDD8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2b</a:t>
                  </a:r>
                </a:p>
              </p:txBody>
            </p:sp>
          </p:grpSp>
        </p:grpSp>
        <p:grpSp>
          <p:nvGrpSpPr>
            <p:cNvPr id="76" name="Group 304">
              <a:extLst>
                <a:ext uri="{FF2B5EF4-FFF2-40B4-BE49-F238E27FC236}">
                  <a16:creationId xmlns:a16="http://schemas.microsoft.com/office/drawing/2014/main" id="{6E237E4C-FD67-B912-2B72-AF61C4D2BB3B}"/>
                </a:ext>
              </a:extLst>
            </p:cNvPr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11" name="Group 327">
                <a:extLst>
                  <a:ext uri="{FF2B5EF4-FFF2-40B4-BE49-F238E27FC236}">
                    <a16:creationId xmlns:a16="http://schemas.microsoft.com/office/drawing/2014/main" id="{8967266B-152B-12E5-C137-96C8225552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15" name="Oval 343">
                  <a:extLst>
                    <a:ext uri="{FF2B5EF4-FFF2-40B4-BE49-F238E27FC236}">
                      <a16:creationId xmlns:a16="http://schemas.microsoft.com/office/drawing/2014/main" id="{57673B58-4D10-5BC7-4524-A7CC3C614D04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Rectangle 344">
                  <a:extLst>
                    <a:ext uri="{FF2B5EF4-FFF2-40B4-BE49-F238E27FC236}">
                      <a16:creationId xmlns:a16="http://schemas.microsoft.com/office/drawing/2014/main" id="{96DACB91-CA43-2894-04B0-A34928C73116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Oval 345">
                  <a:extLst>
                    <a:ext uri="{FF2B5EF4-FFF2-40B4-BE49-F238E27FC236}">
                      <a16:creationId xmlns:a16="http://schemas.microsoft.com/office/drawing/2014/main" id="{8C4DFEB6-5C98-D49B-EA47-533F69289BDA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346">
                  <a:extLst>
                    <a:ext uri="{FF2B5EF4-FFF2-40B4-BE49-F238E27FC236}">
                      <a16:creationId xmlns:a16="http://schemas.microsoft.com/office/drawing/2014/main" id="{F0EF2CA1-09B6-A097-A728-3D518FD0618C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 347">
                  <a:extLst>
                    <a:ext uri="{FF2B5EF4-FFF2-40B4-BE49-F238E27FC236}">
                      <a16:creationId xmlns:a16="http://schemas.microsoft.com/office/drawing/2014/main" id="{B00FF8CF-2618-373E-9985-992C10CEFC94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 348">
                  <a:extLst>
                    <a:ext uri="{FF2B5EF4-FFF2-40B4-BE49-F238E27FC236}">
                      <a16:creationId xmlns:a16="http://schemas.microsoft.com/office/drawing/2014/main" id="{96AB6040-2EDF-7034-9C59-9503C7D8F3B0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 349">
                  <a:extLst>
                    <a:ext uri="{FF2B5EF4-FFF2-40B4-BE49-F238E27FC236}">
                      <a16:creationId xmlns:a16="http://schemas.microsoft.com/office/drawing/2014/main" id="{53157D6C-1171-C86B-DA4A-08C15FB6DF78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22" name="Straight Connector 350">
                  <a:extLst>
                    <a:ext uri="{FF2B5EF4-FFF2-40B4-BE49-F238E27FC236}">
                      <a16:creationId xmlns:a16="http://schemas.microsoft.com/office/drawing/2014/main" id="{1F5438EA-80BA-8F8E-6E07-75188AE06C13}"/>
                    </a:ext>
                  </a:extLst>
                </p:cNvPr>
                <p:cNvCxnSpPr>
                  <a:endCxn id="11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23" name="Straight Connector 351">
                  <a:extLst>
                    <a:ext uri="{FF2B5EF4-FFF2-40B4-BE49-F238E27FC236}">
                      <a16:creationId xmlns:a16="http://schemas.microsoft.com/office/drawing/2014/main" id="{8AA5215C-777C-219E-12FA-AB446222DE3F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12" name="Group 340">
                <a:extLst>
                  <a:ext uri="{FF2B5EF4-FFF2-40B4-BE49-F238E27FC236}">
                    <a16:creationId xmlns:a16="http://schemas.microsoft.com/office/drawing/2014/main" id="{0315963E-4660-CA45-FE29-98C177E490B8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13" name="Oval 341">
                  <a:extLst>
                    <a:ext uri="{FF2B5EF4-FFF2-40B4-BE49-F238E27FC236}">
                      <a16:creationId xmlns:a16="http://schemas.microsoft.com/office/drawing/2014/main" id="{F42825FA-4D34-866E-5D1A-D74A684892A1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TextBox 342">
                  <a:extLst>
                    <a:ext uri="{FF2B5EF4-FFF2-40B4-BE49-F238E27FC236}">
                      <a16:creationId xmlns:a16="http://schemas.microsoft.com/office/drawing/2014/main" id="{C69C0F6F-8AE8-11CB-D932-89881E3BAB56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2d</a:t>
                  </a:r>
                </a:p>
              </p:txBody>
            </p:sp>
          </p:grpSp>
        </p:grpSp>
        <p:grpSp>
          <p:nvGrpSpPr>
            <p:cNvPr id="77" name="Group 305">
              <a:extLst>
                <a:ext uri="{FF2B5EF4-FFF2-40B4-BE49-F238E27FC236}">
                  <a16:creationId xmlns:a16="http://schemas.microsoft.com/office/drawing/2014/main" id="{4B5A5F7F-1A77-2138-2C79-BA2EFB783E76}"/>
                </a:ext>
              </a:extLst>
            </p:cNvPr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98" name="Group 327">
                <a:extLst>
                  <a:ext uri="{FF2B5EF4-FFF2-40B4-BE49-F238E27FC236}">
                    <a16:creationId xmlns:a16="http://schemas.microsoft.com/office/drawing/2014/main" id="{337350D2-6105-929E-B6AC-A499CDA4D8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02" name="Oval 330">
                  <a:extLst>
                    <a:ext uri="{FF2B5EF4-FFF2-40B4-BE49-F238E27FC236}">
                      <a16:creationId xmlns:a16="http://schemas.microsoft.com/office/drawing/2014/main" id="{C594F1A4-A291-4628-2299-29820727F1C1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Rectangle 331">
                  <a:extLst>
                    <a:ext uri="{FF2B5EF4-FFF2-40B4-BE49-F238E27FC236}">
                      <a16:creationId xmlns:a16="http://schemas.microsoft.com/office/drawing/2014/main" id="{D6CD06A6-32A0-2785-35CF-7F20FD50F2F1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Oval 332">
                  <a:extLst>
                    <a:ext uri="{FF2B5EF4-FFF2-40B4-BE49-F238E27FC236}">
                      <a16:creationId xmlns:a16="http://schemas.microsoft.com/office/drawing/2014/main" id="{1EAB078C-5FB8-D934-64B4-F44E27D47D17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Freeform 333">
                  <a:extLst>
                    <a:ext uri="{FF2B5EF4-FFF2-40B4-BE49-F238E27FC236}">
                      <a16:creationId xmlns:a16="http://schemas.microsoft.com/office/drawing/2014/main" id="{D2995AEB-68EA-85DA-6670-DFF52BC8AE7D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Freeform 334">
                  <a:extLst>
                    <a:ext uri="{FF2B5EF4-FFF2-40B4-BE49-F238E27FC236}">
                      <a16:creationId xmlns:a16="http://schemas.microsoft.com/office/drawing/2014/main" id="{F8F83E19-F27B-E34E-8E56-75D61F552925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 335">
                  <a:extLst>
                    <a:ext uri="{FF2B5EF4-FFF2-40B4-BE49-F238E27FC236}">
                      <a16:creationId xmlns:a16="http://schemas.microsoft.com/office/drawing/2014/main" id="{FFC18B30-5E2D-01E7-54F4-57ABDA7C4356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 336">
                  <a:extLst>
                    <a:ext uri="{FF2B5EF4-FFF2-40B4-BE49-F238E27FC236}">
                      <a16:creationId xmlns:a16="http://schemas.microsoft.com/office/drawing/2014/main" id="{65869796-858C-4FC4-E4D6-8EECFC0BB8EE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9" name="Straight Connector 337">
                  <a:extLst>
                    <a:ext uri="{FF2B5EF4-FFF2-40B4-BE49-F238E27FC236}">
                      <a16:creationId xmlns:a16="http://schemas.microsoft.com/office/drawing/2014/main" id="{EFBE0B2A-BCEE-B7A7-A6C0-CAE91A2FE89A}"/>
                    </a:ext>
                  </a:extLst>
                </p:cNvPr>
                <p:cNvCxnSpPr>
                  <a:endCxn id="10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10" name="Straight Connector 338">
                  <a:extLst>
                    <a:ext uri="{FF2B5EF4-FFF2-40B4-BE49-F238E27FC236}">
                      <a16:creationId xmlns:a16="http://schemas.microsoft.com/office/drawing/2014/main" id="{96CE6394-026E-ABD0-07A6-011C67B8FED1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9" name="Group 327">
                <a:extLst>
                  <a:ext uri="{FF2B5EF4-FFF2-40B4-BE49-F238E27FC236}">
                    <a16:creationId xmlns:a16="http://schemas.microsoft.com/office/drawing/2014/main" id="{B7111B8A-C2C2-FCF9-3A42-D9067936ED31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00" name="Oval 328">
                  <a:extLst>
                    <a:ext uri="{FF2B5EF4-FFF2-40B4-BE49-F238E27FC236}">
                      <a16:creationId xmlns:a16="http://schemas.microsoft.com/office/drawing/2014/main" id="{29A5B1BF-4CA4-B1EF-E8E3-3E506B40E54B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TextBox 329">
                  <a:extLst>
                    <a:ext uri="{FF2B5EF4-FFF2-40B4-BE49-F238E27FC236}">
                      <a16:creationId xmlns:a16="http://schemas.microsoft.com/office/drawing/2014/main" id="{B9A14668-8EFB-912F-D7F4-9DD8D1BCA1B2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2c</a:t>
                  </a:r>
                </a:p>
              </p:txBody>
            </p:sp>
          </p:grpSp>
        </p:grpSp>
        <p:grpSp>
          <p:nvGrpSpPr>
            <p:cNvPr id="78" name="Group 306">
              <a:extLst>
                <a:ext uri="{FF2B5EF4-FFF2-40B4-BE49-F238E27FC236}">
                  <a16:creationId xmlns:a16="http://schemas.microsoft.com/office/drawing/2014/main" id="{0DB3A595-10EF-5307-B796-3F925B058967}"/>
                </a:ext>
              </a:extLst>
            </p:cNvPr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85" name="Group 327">
                <a:extLst>
                  <a:ext uri="{FF2B5EF4-FFF2-40B4-BE49-F238E27FC236}">
                    <a16:creationId xmlns:a16="http://schemas.microsoft.com/office/drawing/2014/main" id="{8A327FD2-6E4C-C4BB-B2C6-99ED1E1690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9" name="Oval 317">
                  <a:extLst>
                    <a:ext uri="{FF2B5EF4-FFF2-40B4-BE49-F238E27FC236}">
                      <a16:creationId xmlns:a16="http://schemas.microsoft.com/office/drawing/2014/main" id="{72A4EDB3-E1CA-5534-023F-5C286D2BC03B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 318">
                  <a:extLst>
                    <a:ext uri="{FF2B5EF4-FFF2-40B4-BE49-F238E27FC236}">
                      <a16:creationId xmlns:a16="http://schemas.microsoft.com/office/drawing/2014/main" id="{4B332C4E-1B60-2B65-A27B-9EB1C84AAE4B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val 319">
                  <a:extLst>
                    <a:ext uri="{FF2B5EF4-FFF2-40B4-BE49-F238E27FC236}">
                      <a16:creationId xmlns:a16="http://schemas.microsoft.com/office/drawing/2014/main" id="{2366A51D-6D0B-DB69-C2BB-C78026944DCB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 320">
                  <a:extLst>
                    <a:ext uri="{FF2B5EF4-FFF2-40B4-BE49-F238E27FC236}">
                      <a16:creationId xmlns:a16="http://schemas.microsoft.com/office/drawing/2014/main" id="{74ECDA5D-6274-97ED-29A5-1207E28F6CA8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 321">
                  <a:extLst>
                    <a:ext uri="{FF2B5EF4-FFF2-40B4-BE49-F238E27FC236}">
                      <a16:creationId xmlns:a16="http://schemas.microsoft.com/office/drawing/2014/main" id="{18C4C8E9-F53A-5C8E-3CF4-E96F1E707E0B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 322">
                  <a:extLst>
                    <a:ext uri="{FF2B5EF4-FFF2-40B4-BE49-F238E27FC236}">
                      <a16:creationId xmlns:a16="http://schemas.microsoft.com/office/drawing/2014/main" id="{252BB52D-FCEB-ECB9-CFF6-68D61E3454AF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Freeform 323">
                  <a:extLst>
                    <a:ext uri="{FF2B5EF4-FFF2-40B4-BE49-F238E27FC236}">
                      <a16:creationId xmlns:a16="http://schemas.microsoft.com/office/drawing/2014/main" id="{C41C89F4-EEEB-B15A-4BD8-61679E3F3C24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" name="Straight Connector 324">
                  <a:extLst>
                    <a:ext uri="{FF2B5EF4-FFF2-40B4-BE49-F238E27FC236}">
                      <a16:creationId xmlns:a16="http://schemas.microsoft.com/office/drawing/2014/main" id="{EC3CEE18-2DAB-9E65-2103-3FA5AB1CF72C}"/>
                    </a:ext>
                  </a:extLst>
                </p:cNvPr>
                <p:cNvCxnSpPr>
                  <a:endCxn id="9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7" name="Straight Connector 325">
                  <a:extLst>
                    <a:ext uri="{FF2B5EF4-FFF2-40B4-BE49-F238E27FC236}">
                      <a16:creationId xmlns:a16="http://schemas.microsoft.com/office/drawing/2014/main" id="{60BCD8D3-2F91-B335-7C0F-B14645B02911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86" name="Group 314">
                <a:extLst>
                  <a:ext uri="{FF2B5EF4-FFF2-40B4-BE49-F238E27FC236}">
                    <a16:creationId xmlns:a16="http://schemas.microsoft.com/office/drawing/2014/main" id="{7C362DA2-BEFD-A119-129D-DEA20E77575A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87" name="Oval 315">
                  <a:extLst>
                    <a:ext uri="{FF2B5EF4-FFF2-40B4-BE49-F238E27FC236}">
                      <a16:creationId xmlns:a16="http://schemas.microsoft.com/office/drawing/2014/main" id="{E031E1DC-C998-BAC7-AA14-971A54AF3B85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TextBox 316">
                  <a:extLst>
                    <a:ext uri="{FF2B5EF4-FFF2-40B4-BE49-F238E27FC236}">
                      <a16:creationId xmlns:a16="http://schemas.microsoft.com/office/drawing/2014/main" id="{8F41B4CE-F381-0837-D741-863AA5A203F8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2a</a:t>
                  </a:r>
                </a:p>
              </p:txBody>
            </p:sp>
          </p:grpSp>
        </p:grpSp>
        <p:cxnSp>
          <p:nvCxnSpPr>
            <p:cNvPr id="79" name="Straight Connector 307">
              <a:extLst>
                <a:ext uri="{FF2B5EF4-FFF2-40B4-BE49-F238E27FC236}">
                  <a16:creationId xmlns:a16="http://schemas.microsoft.com/office/drawing/2014/main" id="{B06AD9D6-65D9-C51C-12CA-3358845575F1}"/>
                </a:ext>
              </a:extLst>
            </p:cNvPr>
            <p:cNvCxnSpPr>
              <a:stCxn id="127" idx="2"/>
              <a:endCxn id="114" idx="0"/>
            </p:cNvCxnSpPr>
            <p:nvPr/>
          </p:nvCxnSpPr>
          <p:spPr bwMode="auto">
            <a:xfrm>
              <a:off x="1991073" y="3242684"/>
              <a:ext cx="4230" cy="851985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Straight Connector 308">
              <a:extLst>
                <a:ext uri="{FF2B5EF4-FFF2-40B4-BE49-F238E27FC236}">
                  <a16:creationId xmlns:a16="http://schemas.microsoft.com/office/drawing/2014/main" id="{32B97756-3F8B-E467-2B3B-5D6D7488E41B}"/>
                </a:ext>
              </a:extLst>
            </p:cNvPr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Straight Connector 309">
              <a:extLst>
                <a:ext uri="{FF2B5EF4-FFF2-40B4-BE49-F238E27FC236}">
                  <a16:creationId xmlns:a16="http://schemas.microsoft.com/office/drawing/2014/main" id="{7C14147A-F8D2-21D3-C509-0832BDA2C32C}"/>
                </a:ext>
              </a:extLst>
            </p:cNvPr>
            <p:cNvCxnSpPr>
              <a:stCxn id="128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Straight Connector 310">
              <a:extLst>
                <a:ext uri="{FF2B5EF4-FFF2-40B4-BE49-F238E27FC236}">
                  <a16:creationId xmlns:a16="http://schemas.microsoft.com/office/drawing/2014/main" id="{54A9C869-D8B9-F196-9A7D-58421A5EE389}"/>
                </a:ext>
              </a:extLst>
            </p:cNvPr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Straight Connector 311">
              <a:extLst>
                <a:ext uri="{FF2B5EF4-FFF2-40B4-BE49-F238E27FC236}">
                  <a16:creationId xmlns:a16="http://schemas.microsoft.com/office/drawing/2014/main" id="{C132D79F-4CC1-3442-3746-52A6DED0FEB4}"/>
                </a:ext>
              </a:extLst>
            </p:cNvPr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Straight Connector 312">
              <a:extLst>
                <a:ext uri="{FF2B5EF4-FFF2-40B4-BE49-F238E27FC236}">
                  <a16:creationId xmlns:a16="http://schemas.microsoft.com/office/drawing/2014/main" id="{DF670E3E-67AD-038D-03AB-9E2905D6CA6E}"/>
                </a:ext>
              </a:extLst>
            </p:cNvPr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4" name="TextBox 432">
            <a:extLst>
              <a:ext uri="{FF2B5EF4-FFF2-40B4-BE49-F238E27FC236}">
                <a16:creationId xmlns:a16="http://schemas.microsoft.com/office/drawing/2014/main" id="{9FA769E6-6F40-B97B-4F3D-82CBE5AD1D50}"/>
              </a:ext>
            </a:extLst>
          </p:cNvPr>
          <p:cNvSpPr txBox="1"/>
          <p:nvPr/>
        </p:nvSpPr>
        <p:spPr>
          <a:xfrm>
            <a:off x="5373395" y="6202034"/>
            <a:ext cx="75353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2</a:t>
            </a:r>
          </a:p>
        </p:txBody>
      </p:sp>
      <p:sp>
        <p:nvSpPr>
          <p:cNvPr id="213" name="Oval 441">
            <a:extLst>
              <a:ext uri="{FF2B5EF4-FFF2-40B4-BE49-F238E27FC236}">
                <a16:creationId xmlns:a16="http://schemas.microsoft.com/office/drawing/2014/main" id="{68CF1669-4923-B967-E7FC-696BCC0EC7D4}"/>
              </a:ext>
            </a:extLst>
          </p:cNvPr>
          <p:cNvSpPr/>
          <p:nvPr/>
        </p:nvSpPr>
        <p:spPr bwMode="auto">
          <a:xfrm>
            <a:off x="4423033" y="4413987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14" name="Oval 442">
            <a:extLst>
              <a:ext uri="{FF2B5EF4-FFF2-40B4-BE49-F238E27FC236}">
                <a16:creationId xmlns:a16="http://schemas.microsoft.com/office/drawing/2014/main" id="{F8D7BB5F-97AE-F7E0-2358-7803A246163D}"/>
              </a:ext>
            </a:extLst>
          </p:cNvPr>
          <p:cNvSpPr/>
          <p:nvPr/>
        </p:nvSpPr>
        <p:spPr bwMode="auto">
          <a:xfrm>
            <a:off x="6211936" y="4411875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85" name="文本框 484">
            <a:extLst>
              <a:ext uri="{FF2B5EF4-FFF2-40B4-BE49-F238E27FC236}">
                <a16:creationId xmlns:a16="http://schemas.microsoft.com/office/drawing/2014/main" id="{DC4B4C79-043E-36F6-4F21-D3C9D3E69E77}"/>
              </a:ext>
            </a:extLst>
          </p:cNvPr>
          <p:cNvSpPr txBox="1"/>
          <p:nvPr/>
        </p:nvSpPr>
        <p:spPr>
          <a:xfrm>
            <a:off x="5153256" y="4843459"/>
            <a:ext cx="1001568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AS3, X</a:t>
            </a:r>
          </a:p>
        </p:txBody>
      </p:sp>
      <p:cxnSp>
        <p:nvCxnSpPr>
          <p:cNvPr id="203" name="Straight Connector 431">
            <a:extLst>
              <a:ext uri="{FF2B5EF4-FFF2-40B4-BE49-F238E27FC236}">
                <a16:creationId xmlns:a16="http://schemas.microsoft.com/office/drawing/2014/main" id="{7F0AF7ED-8798-DFDD-F73F-39D4D8C72B29}"/>
              </a:ext>
            </a:extLst>
          </p:cNvPr>
          <p:cNvCxnSpPr>
            <a:cxnSpLocks/>
            <a:stCxn id="156" idx="2"/>
            <a:endCxn id="102" idx="7"/>
          </p:cNvCxnSpPr>
          <p:nvPr/>
        </p:nvCxnSpPr>
        <p:spPr bwMode="auto">
          <a:xfrm flipH="1" flipV="1">
            <a:off x="6824652" y="4960042"/>
            <a:ext cx="1665402" cy="75104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" name="文本框 485">
            <a:extLst>
              <a:ext uri="{FF2B5EF4-FFF2-40B4-BE49-F238E27FC236}">
                <a16:creationId xmlns:a16="http://schemas.microsoft.com/office/drawing/2014/main" id="{85B1B752-F72B-2E8B-1114-6F8FD47F4FF9}"/>
              </a:ext>
            </a:extLst>
          </p:cNvPr>
          <p:cNvSpPr txBox="1"/>
          <p:nvPr/>
        </p:nvSpPr>
        <p:spPr>
          <a:xfrm rot="21004227">
            <a:off x="2741126" y="4515082"/>
            <a:ext cx="1871448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⇐ AS2, AS3, X</a:t>
            </a:r>
          </a:p>
        </p:txBody>
      </p:sp>
      <p:grpSp>
        <p:nvGrpSpPr>
          <p:cNvPr id="139" name="Group 367">
            <a:extLst>
              <a:ext uri="{FF2B5EF4-FFF2-40B4-BE49-F238E27FC236}">
                <a16:creationId xmlns:a16="http://schemas.microsoft.com/office/drawing/2014/main" id="{433A5D01-3FD0-6271-115D-CB55FBF8D390}"/>
              </a:ext>
            </a:extLst>
          </p:cNvPr>
          <p:cNvGrpSpPr/>
          <p:nvPr/>
        </p:nvGrpSpPr>
        <p:grpSpPr>
          <a:xfrm>
            <a:off x="8490054" y="4302213"/>
            <a:ext cx="2333625" cy="1590649"/>
            <a:chOff x="833331" y="2873352"/>
            <a:chExt cx="2333625" cy="1590649"/>
          </a:xfrm>
        </p:grpSpPr>
        <p:grpSp>
          <p:nvGrpSpPr>
            <p:cNvPr id="140" name="Group 368">
              <a:extLst>
                <a:ext uri="{FF2B5EF4-FFF2-40B4-BE49-F238E27FC236}">
                  <a16:creationId xmlns:a16="http://schemas.microsoft.com/office/drawing/2014/main" id="{DF5B8878-E527-63AE-BD4E-FF1CC8D4FCCD}"/>
                </a:ext>
              </a:extLst>
            </p:cNvPr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89" name="Group 327">
                <a:extLst>
                  <a:ext uri="{FF2B5EF4-FFF2-40B4-BE49-F238E27FC236}">
                    <a16:creationId xmlns:a16="http://schemas.microsoft.com/office/drawing/2014/main" id="{064D6350-8CF8-BB75-74E2-1002397BF9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3" name="Oval 421">
                  <a:extLst>
                    <a:ext uri="{FF2B5EF4-FFF2-40B4-BE49-F238E27FC236}">
                      <a16:creationId xmlns:a16="http://schemas.microsoft.com/office/drawing/2014/main" id="{DA071938-9385-1B4B-0496-DCAB92691D0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Rectangle 422">
                  <a:extLst>
                    <a:ext uri="{FF2B5EF4-FFF2-40B4-BE49-F238E27FC236}">
                      <a16:creationId xmlns:a16="http://schemas.microsoft.com/office/drawing/2014/main" id="{80857329-841C-0ED6-3F3F-80E6DA218FB2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Oval 423">
                  <a:extLst>
                    <a:ext uri="{FF2B5EF4-FFF2-40B4-BE49-F238E27FC236}">
                      <a16:creationId xmlns:a16="http://schemas.microsoft.com/office/drawing/2014/main" id="{03135870-9405-0663-F3C7-9CCB4FD95D46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424">
                  <a:extLst>
                    <a:ext uri="{FF2B5EF4-FFF2-40B4-BE49-F238E27FC236}">
                      <a16:creationId xmlns:a16="http://schemas.microsoft.com/office/drawing/2014/main" id="{90D70120-0043-D8AB-FD48-D879F1A62520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 425">
                  <a:extLst>
                    <a:ext uri="{FF2B5EF4-FFF2-40B4-BE49-F238E27FC236}">
                      <a16:creationId xmlns:a16="http://schemas.microsoft.com/office/drawing/2014/main" id="{F0E90EF0-0D71-75C9-31C2-108CB6043533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426">
                  <a:extLst>
                    <a:ext uri="{FF2B5EF4-FFF2-40B4-BE49-F238E27FC236}">
                      <a16:creationId xmlns:a16="http://schemas.microsoft.com/office/drawing/2014/main" id="{067FCBF9-C9BB-0482-C2C4-A02DD813C53C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Freeform 427">
                  <a:extLst>
                    <a:ext uri="{FF2B5EF4-FFF2-40B4-BE49-F238E27FC236}">
                      <a16:creationId xmlns:a16="http://schemas.microsoft.com/office/drawing/2014/main" id="{FF354961-7898-B571-9811-B1DA37CA5AC0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00" name="Straight Connector 428">
                  <a:extLst>
                    <a:ext uri="{FF2B5EF4-FFF2-40B4-BE49-F238E27FC236}">
                      <a16:creationId xmlns:a16="http://schemas.microsoft.com/office/drawing/2014/main" id="{AD489102-F301-1780-29DA-7961610D15D8}"/>
                    </a:ext>
                  </a:extLst>
                </p:cNvPr>
                <p:cNvCxnSpPr>
                  <a:endCxn id="19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01" name="Straight Connector 429">
                  <a:extLst>
                    <a:ext uri="{FF2B5EF4-FFF2-40B4-BE49-F238E27FC236}">
                      <a16:creationId xmlns:a16="http://schemas.microsoft.com/office/drawing/2014/main" id="{1AE58BA8-FD3B-F5B4-8A11-7A90CBB2FFA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90" name="Group 418">
                <a:extLst>
                  <a:ext uri="{FF2B5EF4-FFF2-40B4-BE49-F238E27FC236}">
                    <a16:creationId xmlns:a16="http://schemas.microsoft.com/office/drawing/2014/main" id="{AA8C5175-23A3-F260-ABB0-CCF41BE71AB1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91" name="Oval 419">
                  <a:extLst>
                    <a:ext uri="{FF2B5EF4-FFF2-40B4-BE49-F238E27FC236}">
                      <a16:creationId xmlns:a16="http://schemas.microsoft.com/office/drawing/2014/main" id="{B1A6D7F6-EEFB-BD60-F26F-30B59F878BD5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TextBox 420">
                  <a:extLst>
                    <a:ext uri="{FF2B5EF4-FFF2-40B4-BE49-F238E27FC236}">
                      <a16:creationId xmlns:a16="http://schemas.microsoft.com/office/drawing/2014/main" id="{4AD5CB92-66A1-8B96-A2FB-2FEB1A2E01B8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3b</a:t>
                  </a:r>
                </a:p>
              </p:txBody>
            </p:sp>
          </p:grpSp>
        </p:grpSp>
        <p:grpSp>
          <p:nvGrpSpPr>
            <p:cNvPr id="141" name="Group 369">
              <a:extLst>
                <a:ext uri="{FF2B5EF4-FFF2-40B4-BE49-F238E27FC236}">
                  <a16:creationId xmlns:a16="http://schemas.microsoft.com/office/drawing/2014/main" id="{7D472B5C-EC79-F97F-6035-5A8118FDC5A5}"/>
                </a:ext>
              </a:extLst>
            </p:cNvPr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76" name="Group 327">
                <a:extLst>
                  <a:ext uri="{FF2B5EF4-FFF2-40B4-BE49-F238E27FC236}">
                    <a16:creationId xmlns:a16="http://schemas.microsoft.com/office/drawing/2014/main" id="{4882B03F-BA41-EF72-E1B7-1AC3FC0264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80" name="Oval 408">
                  <a:extLst>
                    <a:ext uri="{FF2B5EF4-FFF2-40B4-BE49-F238E27FC236}">
                      <a16:creationId xmlns:a16="http://schemas.microsoft.com/office/drawing/2014/main" id="{548DBB0F-4585-130B-8757-4FF8B9D86B8A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Rectangle 409">
                  <a:extLst>
                    <a:ext uri="{FF2B5EF4-FFF2-40B4-BE49-F238E27FC236}">
                      <a16:creationId xmlns:a16="http://schemas.microsoft.com/office/drawing/2014/main" id="{08081A53-6850-932D-5286-B18ED8C4CFB6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Oval 410">
                  <a:extLst>
                    <a:ext uri="{FF2B5EF4-FFF2-40B4-BE49-F238E27FC236}">
                      <a16:creationId xmlns:a16="http://schemas.microsoft.com/office/drawing/2014/main" id="{E29934B7-21DF-5A42-73BC-4A96289CFB09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411">
                  <a:extLst>
                    <a:ext uri="{FF2B5EF4-FFF2-40B4-BE49-F238E27FC236}">
                      <a16:creationId xmlns:a16="http://schemas.microsoft.com/office/drawing/2014/main" id="{19DCDEC7-4F21-8563-7392-4571D64308B0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 412">
                  <a:extLst>
                    <a:ext uri="{FF2B5EF4-FFF2-40B4-BE49-F238E27FC236}">
                      <a16:creationId xmlns:a16="http://schemas.microsoft.com/office/drawing/2014/main" id="{D636EAB4-1269-0A52-8E8B-DF0A34347D24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 413">
                  <a:extLst>
                    <a:ext uri="{FF2B5EF4-FFF2-40B4-BE49-F238E27FC236}">
                      <a16:creationId xmlns:a16="http://schemas.microsoft.com/office/drawing/2014/main" id="{152E1512-724A-8642-3355-D3367515DE2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Freeform 414">
                  <a:extLst>
                    <a:ext uri="{FF2B5EF4-FFF2-40B4-BE49-F238E27FC236}">
                      <a16:creationId xmlns:a16="http://schemas.microsoft.com/office/drawing/2014/main" id="{D934A747-4F94-A7C8-3ED3-5E3C9E67DC33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87" name="Straight Connector 415">
                  <a:extLst>
                    <a:ext uri="{FF2B5EF4-FFF2-40B4-BE49-F238E27FC236}">
                      <a16:creationId xmlns:a16="http://schemas.microsoft.com/office/drawing/2014/main" id="{EEC7E858-CED2-81A8-C032-E1C42E7E380E}"/>
                    </a:ext>
                  </a:extLst>
                </p:cNvPr>
                <p:cNvCxnSpPr>
                  <a:endCxn id="18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88" name="Straight Connector 416">
                  <a:extLst>
                    <a:ext uri="{FF2B5EF4-FFF2-40B4-BE49-F238E27FC236}">
                      <a16:creationId xmlns:a16="http://schemas.microsoft.com/office/drawing/2014/main" id="{2A8FD83A-CE55-E2C4-7EAD-4A2C9838BD5E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77" name="Group 405">
                <a:extLst>
                  <a:ext uri="{FF2B5EF4-FFF2-40B4-BE49-F238E27FC236}">
                    <a16:creationId xmlns:a16="http://schemas.microsoft.com/office/drawing/2014/main" id="{6DCFFE2A-C302-5897-3E2E-3F9907572AC3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78" name="Oval 406">
                  <a:extLst>
                    <a:ext uri="{FF2B5EF4-FFF2-40B4-BE49-F238E27FC236}">
                      <a16:creationId xmlns:a16="http://schemas.microsoft.com/office/drawing/2014/main" id="{5A05D0F4-BF47-C81D-37DE-30E0F952BEBB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TextBox 407">
                  <a:extLst>
                    <a:ext uri="{FF2B5EF4-FFF2-40B4-BE49-F238E27FC236}">
                      <a16:creationId xmlns:a16="http://schemas.microsoft.com/office/drawing/2014/main" id="{13B5920B-3C83-6A3A-5D90-DA3CF3C45DA4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3d</a:t>
                  </a:r>
                </a:p>
              </p:txBody>
            </p:sp>
          </p:grpSp>
        </p:grpSp>
        <p:grpSp>
          <p:nvGrpSpPr>
            <p:cNvPr id="142" name="Group 370">
              <a:extLst>
                <a:ext uri="{FF2B5EF4-FFF2-40B4-BE49-F238E27FC236}">
                  <a16:creationId xmlns:a16="http://schemas.microsoft.com/office/drawing/2014/main" id="{CB43B4DF-775F-BADB-BD61-D1ADDE968694}"/>
                </a:ext>
              </a:extLst>
            </p:cNvPr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163" name="Group 327">
                <a:extLst>
                  <a:ext uri="{FF2B5EF4-FFF2-40B4-BE49-F238E27FC236}">
                    <a16:creationId xmlns:a16="http://schemas.microsoft.com/office/drawing/2014/main" id="{316A4BA8-C280-60C9-9022-CD92181EBC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67" name="Oval 395">
                  <a:extLst>
                    <a:ext uri="{FF2B5EF4-FFF2-40B4-BE49-F238E27FC236}">
                      <a16:creationId xmlns:a16="http://schemas.microsoft.com/office/drawing/2014/main" id="{04405D0C-8BA6-6DFA-27A8-DA94BA60864E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Rectangle 396">
                  <a:extLst>
                    <a:ext uri="{FF2B5EF4-FFF2-40B4-BE49-F238E27FC236}">
                      <a16:creationId xmlns:a16="http://schemas.microsoft.com/office/drawing/2014/main" id="{9D5BC73A-43F2-C510-5754-BAC75567B00D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Oval 397">
                  <a:extLst>
                    <a:ext uri="{FF2B5EF4-FFF2-40B4-BE49-F238E27FC236}">
                      <a16:creationId xmlns:a16="http://schemas.microsoft.com/office/drawing/2014/main" id="{28AE3B46-CE68-2B52-5463-3C82A975EF6B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 398">
                  <a:extLst>
                    <a:ext uri="{FF2B5EF4-FFF2-40B4-BE49-F238E27FC236}">
                      <a16:creationId xmlns:a16="http://schemas.microsoft.com/office/drawing/2014/main" id="{7B3DDB38-7B79-7BBA-DEA6-FA4AE68B42BA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Freeform 399">
                  <a:extLst>
                    <a:ext uri="{FF2B5EF4-FFF2-40B4-BE49-F238E27FC236}">
                      <a16:creationId xmlns:a16="http://schemas.microsoft.com/office/drawing/2014/main" id="{647CF796-F890-8752-0CCB-CB0B6F47A503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 400">
                  <a:extLst>
                    <a:ext uri="{FF2B5EF4-FFF2-40B4-BE49-F238E27FC236}">
                      <a16:creationId xmlns:a16="http://schemas.microsoft.com/office/drawing/2014/main" id="{63DC83F6-8D08-63D8-A34A-B5C31D14E25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 401">
                  <a:extLst>
                    <a:ext uri="{FF2B5EF4-FFF2-40B4-BE49-F238E27FC236}">
                      <a16:creationId xmlns:a16="http://schemas.microsoft.com/office/drawing/2014/main" id="{6CBB613B-05A8-9236-434A-2EEC6D4E774B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74" name="Straight Connector 402">
                  <a:extLst>
                    <a:ext uri="{FF2B5EF4-FFF2-40B4-BE49-F238E27FC236}">
                      <a16:creationId xmlns:a16="http://schemas.microsoft.com/office/drawing/2014/main" id="{9ABC63D8-704C-8456-D012-1D1282F49370}"/>
                    </a:ext>
                  </a:extLst>
                </p:cNvPr>
                <p:cNvCxnSpPr>
                  <a:endCxn id="16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75" name="Straight Connector 403">
                  <a:extLst>
                    <a:ext uri="{FF2B5EF4-FFF2-40B4-BE49-F238E27FC236}">
                      <a16:creationId xmlns:a16="http://schemas.microsoft.com/office/drawing/2014/main" id="{9BE6440A-9802-814A-BAE9-5AC7F86766C2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64" name="Group 392">
                <a:extLst>
                  <a:ext uri="{FF2B5EF4-FFF2-40B4-BE49-F238E27FC236}">
                    <a16:creationId xmlns:a16="http://schemas.microsoft.com/office/drawing/2014/main" id="{53833C36-BFC5-5E90-2E30-7C7C2B0B0FC3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65" name="Oval 393">
                  <a:extLst>
                    <a:ext uri="{FF2B5EF4-FFF2-40B4-BE49-F238E27FC236}">
                      <a16:creationId xmlns:a16="http://schemas.microsoft.com/office/drawing/2014/main" id="{3B749C2B-5A7D-F84E-AF78-63D5494DAE6D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TextBox 394">
                  <a:extLst>
                    <a:ext uri="{FF2B5EF4-FFF2-40B4-BE49-F238E27FC236}">
                      <a16:creationId xmlns:a16="http://schemas.microsoft.com/office/drawing/2014/main" id="{7E1E192B-6985-3A75-CEFC-02D43CF12928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3c</a:t>
                  </a:r>
                </a:p>
              </p:txBody>
            </p:sp>
          </p:grpSp>
        </p:grpSp>
        <p:grpSp>
          <p:nvGrpSpPr>
            <p:cNvPr id="143" name="Group 371">
              <a:extLst>
                <a:ext uri="{FF2B5EF4-FFF2-40B4-BE49-F238E27FC236}">
                  <a16:creationId xmlns:a16="http://schemas.microsoft.com/office/drawing/2014/main" id="{D967F098-3949-DB21-0065-5094CFFBD3ED}"/>
                </a:ext>
              </a:extLst>
            </p:cNvPr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50" name="Group 327">
                <a:extLst>
                  <a:ext uri="{FF2B5EF4-FFF2-40B4-BE49-F238E27FC236}">
                    <a16:creationId xmlns:a16="http://schemas.microsoft.com/office/drawing/2014/main" id="{5C3D2C9B-5D75-5581-C03B-ADD6D1236A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54" name="Oval 382">
                  <a:extLst>
                    <a:ext uri="{FF2B5EF4-FFF2-40B4-BE49-F238E27FC236}">
                      <a16:creationId xmlns:a16="http://schemas.microsoft.com/office/drawing/2014/main" id="{D450B908-76B1-D40A-B3CD-BB4909F74E9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Rectangle 383">
                  <a:extLst>
                    <a:ext uri="{FF2B5EF4-FFF2-40B4-BE49-F238E27FC236}">
                      <a16:creationId xmlns:a16="http://schemas.microsoft.com/office/drawing/2014/main" id="{C6A973DB-BE1C-2863-D9F7-18F7096CF41C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Oval 384">
                  <a:extLst>
                    <a:ext uri="{FF2B5EF4-FFF2-40B4-BE49-F238E27FC236}">
                      <a16:creationId xmlns:a16="http://schemas.microsoft.com/office/drawing/2014/main" id="{F2ED083B-CAF7-F2D9-9556-750D06C7AC3D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 385">
                  <a:extLst>
                    <a:ext uri="{FF2B5EF4-FFF2-40B4-BE49-F238E27FC236}">
                      <a16:creationId xmlns:a16="http://schemas.microsoft.com/office/drawing/2014/main" id="{83572A25-0999-D592-A849-35986D242372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Freeform 386">
                  <a:extLst>
                    <a:ext uri="{FF2B5EF4-FFF2-40B4-BE49-F238E27FC236}">
                      <a16:creationId xmlns:a16="http://schemas.microsoft.com/office/drawing/2014/main" id="{9EF761E2-8325-1086-946D-2C9F4C82810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Freeform 387">
                  <a:extLst>
                    <a:ext uri="{FF2B5EF4-FFF2-40B4-BE49-F238E27FC236}">
                      <a16:creationId xmlns:a16="http://schemas.microsoft.com/office/drawing/2014/main" id="{DEB55E6E-76E4-5F54-8B4F-40A0AAABCA95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Freeform 388">
                  <a:extLst>
                    <a:ext uri="{FF2B5EF4-FFF2-40B4-BE49-F238E27FC236}">
                      <a16:creationId xmlns:a16="http://schemas.microsoft.com/office/drawing/2014/main" id="{0B821BEB-37DF-DED3-AF1E-2F00A655E87A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61" name="Straight Connector 389">
                  <a:extLst>
                    <a:ext uri="{FF2B5EF4-FFF2-40B4-BE49-F238E27FC236}">
                      <a16:creationId xmlns:a16="http://schemas.microsoft.com/office/drawing/2014/main" id="{67F408C2-F9D1-25F4-4AD4-7F93199127A6}"/>
                    </a:ext>
                  </a:extLst>
                </p:cNvPr>
                <p:cNvCxnSpPr>
                  <a:endCxn id="15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62" name="Straight Connector 390">
                  <a:extLst>
                    <a:ext uri="{FF2B5EF4-FFF2-40B4-BE49-F238E27FC236}">
                      <a16:creationId xmlns:a16="http://schemas.microsoft.com/office/drawing/2014/main" id="{FCC9D748-BC4F-DB88-ED5A-67AFDEAFD234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51" name="Group 379">
                <a:extLst>
                  <a:ext uri="{FF2B5EF4-FFF2-40B4-BE49-F238E27FC236}">
                    <a16:creationId xmlns:a16="http://schemas.microsoft.com/office/drawing/2014/main" id="{B8986D87-BB12-6432-6683-3D4B1BFE8A35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52" name="Oval 380">
                  <a:extLst>
                    <a:ext uri="{FF2B5EF4-FFF2-40B4-BE49-F238E27FC236}">
                      <a16:creationId xmlns:a16="http://schemas.microsoft.com/office/drawing/2014/main" id="{83ECAB26-1254-CD06-DCD1-186259E99D2E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TextBox 381">
                  <a:extLst>
                    <a:ext uri="{FF2B5EF4-FFF2-40B4-BE49-F238E27FC236}">
                      <a16:creationId xmlns:a16="http://schemas.microsoft.com/office/drawing/2014/main" id="{F4666BA7-8B50-63FF-DDDE-85B18AA21905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3a</a:t>
                  </a:r>
                </a:p>
              </p:txBody>
            </p:sp>
          </p:grpSp>
        </p:grpSp>
        <p:cxnSp>
          <p:nvCxnSpPr>
            <p:cNvPr id="144" name="Straight Connector 372">
              <a:extLst>
                <a:ext uri="{FF2B5EF4-FFF2-40B4-BE49-F238E27FC236}">
                  <a16:creationId xmlns:a16="http://schemas.microsoft.com/office/drawing/2014/main" id="{14C45D91-34E6-3665-2571-2FE8FFDEFDCA}"/>
                </a:ext>
              </a:extLst>
            </p:cNvPr>
            <p:cNvCxnSpPr>
              <a:stCxn id="192" idx="2"/>
              <a:endCxn id="179" idx="0"/>
            </p:cNvCxnSpPr>
            <p:nvPr/>
          </p:nvCxnSpPr>
          <p:spPr bwMode="auto">
            <a:xfrm>
              <a:off x="1991073" y="3242684"/>
              <a:ext cx="4230" cy="851985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5" name="Straight Connector 373">
              <a:extLst>
                <a:ext uri="{FF2B5EF4-FFF2-40B4-BE49-F238E27FC236}">
                  <a16:creationId xmlns:a16="http://schemas.microsoft.com/office/drawing/2014/main" id="{6F4CF158-696D-27AD-5F22-402484AAC21F}"/>
                </a:ext>
              </a:extLst>
            </p:cNvPr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6" name="Straight Connector 374">
              <a:extLst>
                <a:ext uri="{FF2B5EF4-FFF2-40B4-BE49-F238E27FC236}">
                  <a16:creationId xmlns:a16="http://schemas.microsoft.com/office/drawing/2014/main" id="{594E054B-9183-0EAB-6D46-932DCE12C909}"/>
                </a:ext>
              </a:extLst>
            </p:cNvPr>
            <p:cNvCxnSpPr>
              <a:stCxn id="193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7" name="Straight Connector 375">
              <a:extLst>
                <a:ext uri="{FF2B5EF4-FFF2-40B4-BE49-F238E27FC236}">
                  <a16:creationId xmlns:a16="http://schemas.microsoft.com/office/drawing/2014/main" id="{C8ED23BB-DA0E-11C4-3BCA-F900A2D49525}"/>
                </a:ext>
              </a:extLst>
            </p:cNvPr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8" name="Straight Connector 376">
              <a:extLst>
                <a:ext uri="{FF2B5EF4-FFF2-40B4-BE49-F238E27FC236}">
                  <a16:creationId xmlns:a16="http://schemas.microsoft.com/office/drawing/2014/main" id="{4F1F7415-266F-9018-FCB9-1CA452BAB5FA}"/>
                </a:ext>
              </a:extLst>
            </p:cNvPr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9" name="Straight Connector 377">
              <a:extLst>
                <a:ext uri="{FF2B5EF4-FFF2-40B4-BE49-F238E27FC236}">
                  <a16:creationId xmlns:a16="http://schemas.microsoft.com/office/drawing/2014/main" id="{43A6E610-D1F7-E400-1900-24CFD7E4BACE}"/>
                </a:ext>
              </a:extLst>
            </p:cNvPr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5" name="TextBox 433">
            <a:extLst>
              <a:ext uri="{FF2B5EF4-FFF2-40B4-BE49-F238E27FC236}">
                <a16:creationId xmlns:a16="http://schemas.microsoft.com/office/drawing/2014/main" id="{3EF3DB3D-7C96-506C-BB67-DFF3726E0EBA}"/>
              </a:ext>
            </a:extLst>
          </p:cNvPr>
          <p:cNvSpPr txBox="1"/>
          <p:nvPr/>
        </p:nvSpPr>
        <p:spPr>
          <a:xfrm>
            <a:off x="9552213" y="6195458"/>
            <a:ext cx="75353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3</a:t>
            </a:r>
          </a:p>
        </p:txBody>
      </p:sp>
      <p:sp>
        <p:nvSpPr>
          <p:cNvPr id="215" name="Oval 443">
            <a:extLst>
              <a:ext uri="{FF2B5EF4-FFF2-40B4-BE49-F238E27FC236}">
                <a16:creationId xmlns:a16="http://schemas.microsoft.com/office/drawing/2014/main" id="{7F7F6838-4F4C-0899-A85D-0F43C7BB8B6B}"/>
              </a:ext>
            </a:extLst>
          </p:cNvPr>
          <p:cNvSpPr/>
          <p:nvPr/>
        </p:nvSpPr>
        <p:spPr bwMode="auto">
          <a:xfrm>
            <a:off x="8332314" y="4626898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59" name="Freeform 2">
            <a:extLst>
              <a:ext uri="{FF2B5EF4-FFF2-40B4-BE49-F238E27FC236}">
                <a16:creationId xmlns:a16="http://schemas.microsoft.com/office/drawing/2014/main" id="{C2857663-F864-04FB-C838-84466F5DB864}"/>
              </a:ext>
            </a:extLst>
          </p:cNvPr>
          <p:cNvSpPr>
            <a:spLocks/>
          </p:cNvSpPr>
          <p:nvPr/>
        </p:nvSpPr>
        <p:spPr bwMode="auto">
          <a:xfrm>
            <a:off x="9928979" y="5251297"/>
            <a:ext cx="1953645" cy="76286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 w 9959"/>
              <a:gd name="connsiteY0" fmla="*/ 5593 h 11352"/>
              <a:gd name="connsiteX1" fmla="*/ 1089 w 9959"/>
              <a:gd name="connsiteY1" fmla="*/ 469 h 11352"/>
              <a:gd name="connsiteX2" fmla="*/ 4845 w 9959"/>
              <a:gd name="connsiteY2" fmla="*/ 561 h 11352"/>
              <a:gd name="connsiteX3" fmla="*/ 8027 w 9959"/>
              <a:gd name="connsiteY3" fmla="*/ 3370 h 11352"/>
              <a:gd name="connsiteX4" fmla="*/ 9955 w 9959"/>
              <a:gd name="connsiteY4" fmla="*/ 5970 h 11352"/>
              <a:gd name="connsiteX5" fmla="*/ 8435 w 9959"/>
              <a:gd name="connsiteY5" fmla="*/ 7863 h 11352"/>
              <a:gd name="connsiteX6" fmla="*/ 5161 w 9959"/>
              <a:gd name="connsiteY6" fmla="*/ 11352 h 11352"/>
              <a:gd name="connsiteX7" fmla="*/ 2712 w 9959"/>
              <a:gd name="connsiteY7" fmla="*/ 8240 h 11352"/>
              <a:gd name="connsiteX8" fmla="*/ 1334 w 9959"/>
              <a:gd name="connsiteY8" fmla="*/ 7922 h 11352"/>
              <a:gd name="connsiteX9" fmla="*/ 4 w 9959"/>
              <a:gd name="connsiteY9" fmla="*/ 5593 h 11352"/>
              <a:gd name="connsiteX0" fmla="*/ 0 w 11223"/>
              <a:gd name="connsiteY0" fmla="*/ 3835 h 9929"/>
              <a:gd name="connsiteX1" fmla="*/ 2316 w 11223"/>
              <a:gd name="connsiteY1" fmla="*/ 342 h 9929"/>
              <a:gd name="connsiteX2" fmla="*/ 6088 w 11223"/>
              <a:gd name="connsiteY2" fmla="*/ 423 h 9929"/>
              <a:gd name="connsiteX3" fmla="*/ 9283 w 11223"/>
              <a:gd name="connsiteY3" fmla="*/ 2898 h 9929"/>
              <a:gd name="connsiteX4" fmla="*/ 11219 w 11223"/>
              <a:gd name="connsiteY4" fmla="*/ 5188 h 9929"/>
              <a:gd name="connsiteX5" fmla="*/ 9693 w 11223"/>
              <a:gd name="connsiteY5" fmla="*/ 6856 h 9929"/>
              <a:gd name="connsiteX6" fmla="*/ 6405 w 11223"/>
              <a:gd name="connsiteY6" fmla="*/ 9929 h 9929"/>
              <a:gd name="connsiteX7" fmla="*/ 3946 w 11223"/>
              <a:gd name="connsiteY7" fmla="*/ 7188 h 9929"/>
              <a:gd name="connsiteX8" fmla="*/ 2562 w 11223"/>
              <a:gd name="connsiteY8" fmla="*/ 6908 h 9929"/>
              <a:gd name="connsiteX9" fmla="*/ 0 w 11223"/>
              <a:gd name="connsiteY9" fmla="*/ 3835 h 9929"/>
              <a:gd name="connsiteX0" fmla="*/ 0 w 9999"/>
              <a:gd name="connsiteY0" fmla="*/ 3862 h 10000"/>
              <a:gd name="connsiteX1" fmla="*/ 2064 w 9999"/>
              <a:gd name="connsiteY1" fmla="*/ 344 h 10000"/>
              <a:gd name="connsiteX2" fmla="*/ 5425 w 9999"/>
              <a:gd name="connsiteY2" fmla="*/ 426 h 10000"/>
              <a:gd name="connsiteX3" fmla="*/ 8271 w 9999"/>
              <a:gd name="connsiteY3" fmla="*/ 2919 h 10000"/>
              <a:gd name="connsiteX4" fmla="*/ 9996 w 9999"/>
              <a:gd name="connsiteY4" fmla="*/ 5225 h 10000"/>
              <a:gd name="connsiteX5" fmla="*/ 8637 w 9999"/>
              <a:gd name="connsiteY5" fmla="*/ 6905 h 10000"/>
              <a:gd name="connsiteX6" fmla="*/ 5707 w 9999"/>
              <a:gd name="connsiteY6" fmla="*/ 10000 h 10000"/>
              <a:gd name="connsiteX7" fmla="*/ 2283 w 9999"/>
              <a:gd name="connsiteY7" fmla="*/ 6957 h 10000"/>
              <a:gd name="connsiteX8" fmla="*/ 0 w 9999"/>
              <a:gd name="connsiteY8" fmla="*/ 3862 h 10000"/>
              <a:gd name="connsiteX0" fmla="*/ 124 w 10124"/>
              <a:gd name="connsiteY0" fmla="*/ 3862 h 10000"/>
              <a:gd name="connsiteX1" fmla="*/ 2188 w 10124"/>
              <a:gd name="connsiteY1" fmla="*/ 344 h 10000"/>
              <a:gd name="connsiteX2" fmla="*/ 5550 w 10124"/>
              <a:gd name="connsiteY2" fmla="*/ 426 h 10000"/>
              <a:gd name="connsiteX3" fmla="*/ 8396 w 10124"/>
              <a:gd name="connsiteY3" fmla="*/ 2919 h 10000"/>
              <a:gd name="connsiteX4" fmla="*/ 10121 w 10124"/>
              <a:gd name="connsiteY4" fmla="*/ 5225 h 10000"/>
              <a:gd name="connsiteX5" fmla="*/ 8762 w 10124"/>
              <a:gd name="connsiteY5" fmla="*/ 6905 h 10000"/>
              <a:gd name="connsiteX6" fmla="*/ 5832 w 10124"/>
              <a:gd name="connsiteY6" fmla="*/ 10000 h 10000"/>
              <a:gd name="connsiteX7" fmla="*/ 124 w 10124"/>
              <a:gd name="connsiteY7" fmla="*/ 3862 h 10000"/>
              <a:gd name="connsiteX0" fmla="*/ 43 w 10045"/>
              <a:gd name="connsiteY0" fmla="*/ 3862 h 6912"/>
              <a:gd name="connsiteX1" fmla="*/ 2107 w 10045"/>
              <a:gd name="connsiteY1" fmla="*/ 344 h 6912"/>
              <a:gd name="connsiteX2" fmla="*/ 5469 w 10045"/>
              <a:gd name="connsiteY2" fmla="*/ 426 h 6912"/>
              <a:gd name="connsiteX3" fmla="*/ 8315 w 10045"/>
              <a:gd name="connsiteY3" fmla="*/ 2919 h 6912"/>
              <a:gd name="connsiteX4" fmla="*/ 10040 w 10045"/>
              <a:gd name="connsiteY4" fmla="*/ 5225 h 6912"/>
              <a:gd name="connsiteX5" fmla="*/ 8681 w 10045"/>
              <a:gd name="connsiteY5" fmla="*/ 6905 h 6912"/>
              <a:gd name="connsiteX6" fmla="*/ 3967 w 10045"/>
              <a:gd name="connsiteY6" fmla="*/ 5885 h 6912"/>
              <a:gd name="connsiteX7" fmla="*/ 43 w 10045"/>
              <a:gd name="connsiteY7" fmla="*/ 3862 h 6912"/>
              <a:gd name="connsiteX0" fmla="*/ 47 w 10004"/>
              <a:gd name="connsiteY0" fmla="*/ 5106 h 9519"/>
              <a:gd name="connsiteX1" fmla="*/ 2102 w 10004"/>
              <a:gd name="connsiteY1" fmla="*/ 17 h 9519"/>
              <a:gd name="connsiteX2" fmla="*/ 6651 w 10004"/>
              <a:gd name="connsiteY2" fmla="*/ 3484 h 9519"/>
              <a:gd name="connsiteX3" fmla="*/ 8282 w 10004"/>
              <a:gd name="connsiteY3" fmla="*/ 3742 h 9519"/>
              <a:gd name="connsiteX4" fmla="*/ 9999 w 10004"/>
              <a:gd name="connsiteY4" fmla="*/ 7078 h 9519"/>
              <a:gd name="connsiteX5" fmla="*/ 8646 w 10004"/>
              <a:gd name="connsiteY5" fmla="*/ 9509 h 9519"/>
              <a:gd name="connsiteX6" fmla="*/ 3953 w 10004"/>
              <a:gd name="connsiteY6" fmla="*/ 8033 h 9519"/>
              <a:gd name="connsiteX7" fmla="*/ 47 w 10004"/>
              <a:gd name="connsiteY7" fmla="*/ 5106 h 9519"/>
              <a:gd name="connsiteX0" fmla="*/ 43 w 9996"/>
              <a:gd name="connsiteY0" fmla="*/ 6232 h 10868"/>
              <a:gd name="connsiteX1" fmla="*/ 2097 w 9996"/>
              <a:gd name="connsiteY1" fmla="*/ 886 h 10868"/>
              <a:gd name="connsiteX2" fmla="*/ 5642 w 9996"/>
              <a:gd name="connsiteY2" fmla="*/ 385 h 10868"/>
              <a:gd name="connsiteX3" fmla="*/ 8275 w 9996"/>
              <a:gd name="connsiteY3" fmla="*/ 4799 h 10868"/>
              <a:gd name="connsiteX4" fmla="*/ 9991 w 9996"/>
              <a:gd name="connsiteY4" fmla="*/ 8304 h 10868"/>
              <a:gd name="connsiteX5" fmla="*/ 8639 w 9996"/>
              <a:gd name="connsiteY5" fmla="*/ 10857 h 10868"/>
              <a:gd name="connsiteX6" fmla="*/ 3947 w 9996"/>
              <a:gd name="connsiteY6" fmla="*/ 9307 h 10868"/>
              <a:gd name="connsiteX7" fmla="*/ 43 w 9996"/>
              <a:gd name="connsiteY7" fmla="*/ 6232 h 10868"/>
              <a:gd name="connsiteX0" fmla="*/ 43 w 10004"/>
              <a:gd name="connsiteY0" fmla="*/ 5543 h 9809"/>
              <a:gd name="connsiteX1" fmla="*/ 2098 w 10004"/>
              <a:gd name="connsiteY1" fmla="*/ 624 h 9809"/>
              <a:gd name="connsiteX2" fmla="*/ 5644 w 10004"/>
              <a:gd name="connsiteY2" fmla="*/ 163 h 9809"/>
              <a:gd name="connsiteX3" fmla="*/ 8163 w 10004"/>
              <a:gd name="connsiteY3" fmla="*/ 1492 h 9809"/>
              <a:gd name="connsiteX4" fmla="*/ 9995 w 10004"/>
              <a:gd name="connsiteY4" fmla="*/ 7450 h 9809"/>
              <a:gd name="connsiteX5" fmla="*/ 8642 w 10004"/>
              <a:gd name="connsiteY5" fmla="*/ 9799 h 9809"/>
              <a:gd name="connsiteX6" fmla="*/ 3949 w 10004"/>
              <a:gd name="connsiteY6" fmla="*/ 8373 h 9809"/>
              <a:gd name="connsiteX7" fmla="*/ 43 w 10004"/>
              <a:gd name="connsiteY7" fmla="*/ 5543 h 9809"/>
              <a:gd name="connsiteX0" fmla="*/ 43 w 8950"/>
              <a:gd name="connsiteY0" fmla="*/ 5651 h 10081"/>
              <a:gd name="connsiteX1" fmla="*/ 2097 w 8950"/>
              <a:gd name="connsiteY1" fmla="*/ 636 h 10081"/>
              <a:gd name="connsiteX2" fmla="*/ 5642 w 8950"/>
              <a:gd name="connsiteY2" fmla="*/ 166 h 10081"/>
              <a:gd name="connsiteX3" fmla="*/ 8160 w 8950"/>
              <a:gd name="connsiteY3" fmla="*/ 1521 h 10081"/>
              <a:gd name="connsiteX4" fmla="*/ 8473 w 8950"/>
              <a:gd name="connsiteY4" fmla="*/ 5322 h 10081"/>
              <a:gd name="connsiteX5" fmla="*/ 8639 w 8950"/>
              <a:gd name="connsiteY5" fmla="*/ 9990 h 10081"/>
              <a:gd name="connsiteX6" fmla="*/ 3947 w 8950"/>
              <a:gd name="connsiteY6" fmla="*/ 8536 h 10081"/>
              <a:gd name="connsiteX7" fmla="*/ 43 w 8950"/>
              <a:gd name="connsiteY7" fmla="*/ 5651 h 10081"/>
              <a:gd name="connsiteX0" fmla="*/ 48 w 9651"/>
              <a:gd name="connsiteY0" fmla="*/ 5606 h 8648"/>
              <a:gd name="connsiteX1" fmla="*/ 2343 w 9651"/>
              <a:gd name="connsiteY1" fmla="*/ 631 h 8648"/>
              <a:gd name="connsiteX2" fmla="*/ 6304 w 9651"/>
              <a:gd name="connsiteY2" fmla="*/ 165 h 8648"/>
              <a:gd name="connsiteX3" fmla="*/ 9117 w 9651"/>
              <a:gd name="connsiteY3" fmla="*/ 1509 h 8648"/>
              <a:gd name="connsiteX4" fmla="*/ 9467 w 9651"/>
              <a:gd name="connsiteY4" fmla="*/ 5279 h 8648"/>
              <a:gd name="connsiteX5" fmla="*/ 6997 w 9651"/>
              <a:gd name="connsiteY5" fmla="*/ 8019 h 8648"/>
              <a:gd name="connsiteX6" fmla="*/ 4410 w 9651"/>
              <a:gd name="connsiteY6" fmla="*/ 8467 h 8648"/>
              <a:gd name="connsiteX7" fmla="*/ 48 w 9651"/>
              <a:gd name="connsiteY7" fmla="*/ 5606 h 8648"/>
              <a:gd name="connsiteX0" fmla="*/ 41 w 9991"/>
              <a:gd name="connsiteY0" fmla="*/ 6482 h 9316"/>
              <a:gd name="connsiteX1" fmla="*/ 2419 w 9991"/>
              <a:gd name="connsiteY1" fmla="*/ 730 h 9316"/>
              <a:gd name="connsiteX2" fmla="*/ 6523 w 9991"/>
              <a:gd name="connsiteY2" fmla="*/ 191 h 9316"/>
              <a:gd name="connsiteX3" fmla="*/ 9438 w 9991"/>
              <a:gd name="connsiteY3" fmla="*/ 1745 h 9316"/>
              <a:gd name="connsiteX4" fmla="*/ 9800 w 9991"/>
              <a:gd name="connsiteY4" fmla="*/ 6104 h 9316"/>
              <a:gd name="connsiteX5" fmla="*/ 7241 w 9991"/>
              <a:gd name="connsiteY5" fmla="*/ 9273 h 9316"/>
              <a:gd name="connsiteX6" fmla="*/ 1411 w 9991"/>
              <a:gd name="connsiteY6" fmla="*/ 7856 h 9316"/>
              <a:gd name="connsiteX7" fmla="*/ 41 w 9991"/>
              <a:gd name="connsiteY7" fmla="*/ 6482 h 9316"/>
              <a:gd name="connsiteX0" fmla="*/ 19 w 10708"/>
              <a:gd name="connsiteY0" fmla="*/ 7721 h 10038"/>
              <a:gd name="connsiteX1" fmla="*/ 3129 w 10708"/>
              <a:gd name="connsiteY1" fmla="*/ 825 h 10038"/>
              <a:gd name="connsiteX2" fmla="*/ 7237 w 10708"/>
              <a:gd name="connsiteY2" fmla="*/ 246 h 10038"/>
              <a:gd name="connsiteX3" fmla="*/ 10155 w 10708"/>
              <a:gd name="connsiteY3" fmla="*/ 1914 h 10038"/>
              <a:gd name="connsiteX4" fmla="*/ 10517 w 10708"/>
              <a:gd name="connsiteY4" fmla="*/ 6593 h 10038"/>
              <a:gd name="connsiteX5" fmla="*/ 7956 w 10708"/>
              <a:gd name="connsiteY5" fmla="*/ 9995 h 10038"/>
              <a:gd name="connsiteX6" fmla="*/ 2120 w 10708"/>
              <a:gd name="connsiteY6" fmla="*/ 8474 h 10038"/>
              <a:gd name="connsiteX7" fmla="*/ 19 w 10708"/>
              <a:gd name="connsiteY7" fmla="*/ 7721 h 10038"/>
              <a:gd name="connsiteX0" fmla="*/ 359 w 11048"/>
              <a:gd name="connsiteY0" fmla="*/ 7721 h 10038"/>
              <a:gd name="connsiteX1" fmla="*/ 3469 w 11048"/>
              <a:gd name="connsiteY1" fmla="*/ 825 h 10038"/>
              <a:gd name="connsiteX2" fmla="*/ 7577 w 11048"/>
              <a:gd name="connsiteY2" fmla="*/ 246 h 10038"/>
              <a:gd name="connsiteX3" fmla="*/ 10495 w 11048"/>
              <a:gd name="connsiteY3" fmla="*/ 1914 h 10038"/>
              <a:gd name="connsiteX4" fmla="*/ 10857 w 11048"/>
              <a:gd name="connsiteY4" fmla="*/ 6593 h 10038"/>
              <a:gd name="connsiteX5" fmla="*/ 8296 w 11048"/>
              <a:gd name="connsiteY5" fmla="*/ 9995 h 10038"/>
              <a:gd name="connsiteX6" fmla="*/ 2460 w 11048"/>
              <a:gd name="connsiteY6" fmla="*/ 8474 h 10038"/>
              <a:gd name="connsiteX7" fmla="*/ 359 w 11048"/>
              <a:gd name="connsiteY7" fmla="*/ 7721 h 10038"/>
              <a:gd name="connsiteX0" fmla="*/ 359 w 11048"/>
              <a:gd name="connsiteY0" fmla="*/ 8392 h 10075"/>
              <a:gd name="connsiteX1" fmla="*/ 3469 w 11048"/>
              <a:gd name="connsiteY1" fmla="*/ 864 h 10075"/>
              <a:gd name="connsiteX2" fmla="*/ 7577 w 11048"/>
              <a:gd name="connsiteY2" fmla="*/ 285 h 10075"/>
              <a:gd name="connsiteX3" fmla="*/ 10495 w 11048"/>
              <a:gd name="connsiteY3" fmla="*/ 1953 h 10075"/>
              <a:gd name="connsiteX4" fmla="*/ 10857 w 11048"/>
              <a:gd name="connsiteY4" fmla="*/ 6632 h 10075"/>
              <a:gd name="connsiteX5" fmla="*/ 8296 w 11048"/>
              <a:gd name="connsiteY5" fmla="*/ 10034 h 10075"/>
              <a:gd name="connsiteX6" fmla="*/ 2460 w 11048"/>
              <a:gd name="connsiteY6" fmla="*/ 8513 h 10075"/>
              <a:gd name="connsiteX7" fmla="*/ 359 w 11048"/>
              <a:gd name="connsiteY7" fmla="*/ 8392 h 10075"/>
              <a:gd name="connsiteX0" fmla="*/ 371 w 11060"/>
              <a:gd name="connsiteY0" fmla="*/ 8392 h 10075"/>
              <a:gd name="connsiteX1" fmla="*/ 3481 w 11060"/>
              <a:gd name="connsiteY1" fmla="*/ 864 h 10075"/>
              <a:gd name="connsiteX2" fmla="*/ 7589 w 11060"/>
              <a:gd name="connsiteY2" fmla="*/ 285 h 10075"/>
              <a:gd name="connsiteX3" fmla="*/ 10507 w 11060"/>
              <a:gd name="connsiteY3" fmla="*/ 1953 h 10075"/>
              <a:gd name="connsiteX4" fmla="*/ 10869 w 11060"/>
              <a:gd name="connsiteY4" fmla="*/ 6632 h 10075"/>
              <a:gd name="connsiteX5" fmla="*/ 8308 w 11060"/>
              <a:gd name="connsiteY5" fmla="*/ 10034 h 10075"/>
              <a:gd name="connsiteX6" fmla="*/ 2472 w 11060"/>
              <a:gd name="connsiteY6" fmla="*/ 8513 h 10075"/>
              <a:gd name="connsiteX7" fmla="*/ 371 w 11060"/>
              <a:gd name="connsiteY7" fmla="*/ 8392 h 10075"/>
              <a:gd name="connsiteX0" fmla="*/ 54 w 10743"/>
              <a:gd name="connsiteY0" fmla="*/ 9468 h 11151"/>
              <a:gd name="connsiteX1" fmla="*/ 4027 w 10743"/>
              <a:gd name="connsiteY1" fmla="*/ 495 h 11151"/>
              <a:gd name="connsiteX2" fmla="*/ 7272 w 10743"/>
              <a:gd name="connsiteY2" fmla="*/ 1361 h 11151"/>
              <a:gd name="connsiteX3" fmla="*/ 10190 w 10743"/>
              <a:gd name="connsiteY3" fmla="*/ 3029 h 11151"/>
              <a:gd name="connsiteX4" fmla="*/ 10552 w 10743"/>
              <a:gd name="connsiteY4" fmla="*/ 7708 h 11151"/>
              <a:gd name="connsiteX5" fmla="*/ 7991 w 10743"/>
              <a:gd name="connsiteY5" fmla="*/ 11110 h 11151"/>
              <a:gd name="connsiteX6" fmla="*/ 2155 w 10743"/>
              <a:gd name="connsiteY6" fmla="*/ 9589 h 11151"/>
              <a:gd name="connsiteX7" fmla="*/ 54 w 10743"/>
              <a:gd name="connsiteY7" fmla="*/ 9468 h 11151"/>
              <a:gd name="connsiteX0" fmla="*/ 54 w 10743"/>
              <a:gd name="connsiteY0" fmla="*/ 9506 h 11189"/>
              <a:gd name="connsiteX1" fmla="*/ 4027 w 10743"/>
              <a:gd name="connsiteY1" fmla="*/ 533 h 11189"/>
              <a:gd name="connsiteX2" fmla="*/ 7272 w 10743"/>
              <a:gd name="connsiteY2" fmla="*/ 1399 h 11189"/>
              <a:gd name="connsiteX3" fmla="*/ 10190 w 10743"/>
              <a:gd name="connsiteY3" fmla="*/ 3067 h 11189"/>
              <a:gd name="connsiteX4" fmla="*/ 10552 w 10743"/>
              <a:gd name="connsiteY4" fmla="*/ 7746 h 11189"/>
              <a:gd name="connsiteX5" fmla="*/ 7991 w 10743"/>
              <a:gd name="connsiteY5" fmla="*/ 11148 h 11189"/>
              <a:gd name="connsiteX6" fmla="*/ 2155 w 10743"/>
              <a:gd name="connsiteY6" fmla="*/ 9627 h 11189"/>
              <a:gd name="connsiteX7" fmla="*/ 54 w 10743"/>
              <a:gd name="connsiteY7" fmla="*/ 9506 h 11189"/>
              <a:gd name="connsiteX0" fmla="*/ 40 w 11293"/>
              <a:gd name="connsiteY0" fmla="*/ 9082 h 11127"/>
              <a:gd name="connsiteX1" fmla="*/ 4577 w 11293"/>
              <a:gd name="connsiteY1" fmla="*/ 470 h 11127"/>
              <a:gd name="connsiteX2" fmla="*/ 7822 w 11293"/>
              <a:gd name="connsiteY2" fmla="*/ 1336 h 11127"/>
              <a:gd name="connsiteX3" fmla="*/ 10740 w 11293"/>
              <a:gd name="connsiteY3" fmla="*/ 3004 h 11127"/>
              <a:gd name="connsiteX4" fmla="*/ 11102 w 11293"/>
              <a:gd name="connsiteY4" fmla="*/ 7683 h 11127"/>
              <a:gd name="connsiteX5" fmla="*/ 8541 w 11293"/>
              <a:gd name="connsiteY5" fmla="*/ 11085 h 11127"/>
              <a:gd name="connsiteX6" fmla="*/ 2705 w 11293"/>
              <a:gd name="connsiteY6" fmla="*/ 9564 h 11127"/>
              <a:gd name="connsiteX7" fmla="*/ 40 w 11293"/>
              <a:gd name="connsiteY7" fmla="*/ 9082 h 1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3" h="11127">
                <a:moveTo>
                  <a:pt x="40" y="9082"/>
                </a:moveTo>
                <a:cubicBezTo>
                  <a:pt x="352" y="7566"/>
                  <a:pt x="3280" y="1761"/>
                  <a:pt x="4577" y="470"/>
                </a:cubicBezTo>
                <a:cubicBezTo>
                  <a:pt x="5874" y="-821"/>
                  <a:pt x="6795" y="914"/>
                  <a:pt x="7822" y="1336"/>
                </a:cubicBezTo>
                <a:cubicBezTo>
                  <a:pt x="8849" y="1758"/>
                  <a:pt x="10193" y="1947"/>
                  <a:pt x="10740" y="3004"/>
                </a:cubicBezTo>
                <a:cubicBezTo>
                  <a:pt x="11287" y="4061"/>
                  <a:pt x="11468" y="6337"/>
                  <a:pt x="11102" y="7683"/>
                </a:cubicBezTo>
                <a:cubicBezTo>
                  <a:pt x="10736" y="9030"/>
                  <a:pt x="9940" y="10771"/>
                  <a:pt x="8541" y="11085"/>
                </a:cubicBezTo>
                <a:cubicBezTo>
                  <a:pt x="7141" y="11398"/>
                  <a:pt x="4122" y="9898"/>
                  <a:pt x="2705" y="9564"/>
                </a:cubicBezTo>
                <a:cubicBezTo>
                  <a:pt x="1288" y="9230"/>
                  <a:pt x="-272" y="10598"/>
                  <a:pt x="40" y="908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60" name="Group 327">
            <a:extLst>
              <a:ext uri="{FF2B5EF4-FFF2-40B4-BE49-F238E27FC236}">
                <a16:creationId xmlns:a16="http://schemas.microsoft.com/office/drawing/2014/main" id="{04C3665E-7C68-6A83-6561-3D966847892C}"/>
              </a:ext>
            </a:extLst>
          </p:cNvPr>
          <p:cNvGrpSpPr>
            <a:grpSpLocks/>
          </p:cNvGrpSpPr>
          <p:nvPr/>
        </p:nvGrpSpPr>
        <p:grpSpPr bwMode="auto">
          <a:xfrm>
            <a:off x="10308926" y="5528637"/>
            <a:ext cx="536554" cy="263548"/>
            <a:chOff x="1871277" y="1576300"/>
            <a:chExt cx="1128371" cy="437861"/>
          </a:xfrm>
        </p:grpSpPr>
        <p:sp>
          <p:nvSpPr>
            <p:cNvPr id="464" name="Oval 1103">
              <a:extLst>
                <a:ext uri="{FF2B5EF4-FFF2-40B4-BE49-F238E27FC236}">
                  <a16:creationId xmlns:a16="http://schemas.microsoft.com/office/drawing/2014/main" id="{20C467C0-DE5D-3AD6-EE32-91F19D9FAD54}"/>
                </a:ext>
              </a:extLst>
            </p:cNvPr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0" scaled="1"/>
              <a:tileRect/>
            </a:gradFill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5" name="Rectangle 1104">
              <a:extLst>
                <a:ext uri="{FF2B5EF4-FFF2-40B4-BE49-F238E27FC236}">
                  <a16:creationId xmlns:a16="http://schemas.microsoft.com/office/drawing/2014/main" id="{65624663-BB26-02E7-A2AB-75E6B08B9013}"/>
                </a:ext>
              </a:extLst>
            </p:cNvPr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6" name="Oval 1105">
              <a:extLst>
                <a:ext uri="{FF2B5EF4-FFF2-40B4-BE49-F238E27FC236}">
                  <a16:creationId xmlns:a16="http://schemas.microsoft.com/office/drawing/2014/main" id="{0CD70C28-8C10-C67C-D3CC-31EF3574171B}"/>
                </a:ext>
              </a:extLst>
            </p:cNvPr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7" name="Freeform 1106">
              <a:extLst>
                <a:ext uri="{FF2B5EF4-FFF2-40B4-BE49-F238E27FC236}">
                  <a16:creationId xmlns:a16="http://schemas.microsoft.com/office/drawing/2014/main" id="{43866326-D6B1-54ED-0D57-0549CB74113C}"/>
                </a:ext>
              </a:extLst>
            </p:cNvPr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8" name="Freeform 1107">
              <a:extLst>
                <a:ext uri="{FF2B5EF4-FFF2-40B4-BE49-F238E27FC236}">
                  <a16:creationId xmlns:a16="http://schemas.microsoft.com/office/drawing/2014/main" id="{ACA60DD1-7936-7854-8458-0D6CE40F075C}"/>
                </a:ext>
              </a:extLst>
            </p:cNvPr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3333CC">
                <a:lumMod val="7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9" name="Freeform 1108">
              <a:extLst>
                <a:ext uri="{FF2B5EF4-FFF2-40B4-BE49-F238E27FC236}">
                  <a16:creationId xmlns:a16="http://schemas.microsoft.com/office/drawing/2014/main" id="{1446245F-D33C-E0EA-2BCA-B9C878E11AED}"/>
                </a:ext>
              </a:extLst>
            </p:cNvPr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3333CC">
                <a:lumMod val="7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70" name="Freeform 1109">
              <a:extLst>
                <a:ext uri="{FF2B5EF4-FFF2-40B4-BE49-F238E27FC236}">
                  <a16:creationId xmlns:a16="http://schemas.microsoft.com/office/drawing/2014/main" id="{7BAE9877-9681-F492-7582-CEF431C9DE6C}"/>
                </a:ext>
              </a:extLst>
            </p:cNvPr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3333CC">
                <a:lumMod val="7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471" name="Straight Connector 1110">
              <a:extLst>
                <a:ext uri="{FF2B5EF4-FFF2-40B4-BE49-F238E27FC236}">
                  <a16:creationId xmlns:a16="http://schemas.microsoft.com/office/drawing/2014/main" id="{1D176AC3-BAAD-8C29-E61A-2C6478BC8219}"/>
                </a:ext>
              </a:extLst>
            </p:cNvPr>
            <p:cNvCxnSpPr>
              <a:cxnSpLocks/>
              <a:endCxn id="466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472" name="Straight Connector 1111">
              <a:extLst>
                <a:ext uri="{FF2B5EF4-FFF2-40B4-BE49-F238E27FC236}">
                  <a16:creationId xmlns:a16="http://schemas.microsoft.com/office/drawing/2014/main" id="{A34F3BF4-B5B3-DDCA-F1DF-B9557E4D0C31}"/>
                </a:ext>
              </a:extLst>
            </p:cNvPr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</p:cxnSp>
      </p:grpSp>
      <p:cxnSp>
        <p:nvCxnSpPr>
          <p:cNvPr id="458" name="Straight Connector 1097">
            <a:extLst>
              <a:ext uri="{FF2B5EF4-FFF2-40B4-BE49-F238E27FC236}">
                <a16:creationId xmlns:a16="http://schemas.microsoft.com/office/drawing/2014/main" id="{A4509E17-6DF7-D501-8C05-F1574B32DA11}"/>
              </a:ext>
            </a:extLst>
          </p:cNvPr>
          <p:cNvCxnSpPr>
            <a:cxnSpLocks/>
            <a:stCxn id="466" idx="1"/>
          </p:cNvCxnSpPr>
          <p:nvPr/>
        </p:nvCxnSpPr>
        <p:spPr bwMode="auto">
          <a:xfrm flipH="1" flipV="1">
            <a:off x="9875431" y="5675473"/>
            <a:ext cx="511851" cy="1821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3" name="Freeform 236">
            <a:extLst>
              <a:ext uri="{FF2B5EF4-FFF2-40B4-BE49-F238E27FC236}">
                <a16:creationId xmlns:a16="http://schemas.microsoft.com/office/drawing/2014/main" id="{1E3E70B4-5172-BAEA-9D9C-9A5BB0444062}"/>
              </a:ext>
            </a:extLst>
          </p:cNvPr>
          <p:cNvSpPr>
            <a:spLocks/>
          </p:cNvSpPr>
          <p:nvPr/>
        </p:nvSpPr>
        <p:spPr bwMode="auto">
          <a:xfrm>
            <a:off x="11122491" y="5328173"/>
            <a:ext cx="510039" cy="424312"/>
          </a:xfrm>
          <a:custGeom>
            <a:avLst/>
            <a:gdLst>
              <a:gd name="T0" fmla="*/ 113 w 1376"/>
              <a:gd name="T1" fmla="*/ 348 h 764"/>
              <a:gd name="T2" fmla="*/ 395 w 1376"/>
              <a:gd name="T3" fmla="*/ 162 h 764"/>
              <a:gd name="T4" fmla="*/ 710 w 1376"/>
              <a:gd name="T5" fmla="*/ 9 h 764"/>
              <a:gd name="T6" fmla="*/ 1160 w 1376"/>
              <a:gd name="T7" fmla="*/ 219 h 764"/>
              <a:gd name="T8" fmla="*/ 1367 w 1376"/>
              <a:gd name="T9" fmla="*/ 510 h 764"/>
              <a:gd name="T10" fmla="*/ 1103 w 1376"/>
              <a:gd name="T11" fmla="*/ 726 h 764"/>
              <a:gd name="T12" fmla="*/ 578 w 1376"/>
              <a:gd name="T13" fmla="*/ 738 h 764"/>
              <a:gd name="T14" fmla="*/ 77 w 1376"/>
              <a:gd name="T15" fmla="*/ 630 h 764"/>
              <a:gd name="T16" fmla="*/ 113 w 1376"/>
              <a:gd name="T17" fmla="*/ 348 h 7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76"/>
              <a:gd name="T28" fmla="*/ 0 h 764"/>
              <a:gd name="T29" fmla="*/ 1376 w 1376"/>
              <a:gd name="T30" fmla="*/ 764 h 76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76" h="764">
                <a:moveTo>
                  <a:pt x="113" y="348"/>
                </a:moveTo>
                <a:cubicBezTo>
                  <a:pt x="166" y="270"/>
                  <a:pt x="296" y="218"/>
                  <a:pt x="395" y="162"/>
                </a:cubicBezTo>
                <a:cubicBezTo>
                  <a:pt x="494" y="106"/>
                  <a:pt x="583" y="0"/>
                  <a:pt x="710" y="9"/>
                </a:cubicBezTo>
                <a:cubicBezTo>
                  <a:pt x="837" y="18"/>
                  <a:pt x="1051" y="136"/>
                  <a:pt x="1160" y="219"/>
                </a:cubicBezTo>
                <a:cubicBezTo>
                  <a:pt x="1269" y="302"/>
                  <a:pt x="1376" y="426"/>
                  <a:pt x="1367" y="510"/>
                </a:cubicBezTo>
                <a:cubicBezTo>
                  <a:pt x="1358" y="594"/>
                  <a:pt x="1234" y="688"/>
                  <a:pt x="1103" y="726"/>
                </a:cubicBezTo>
                <a:cubicBezTo>
                  <a:pt x="972" y="764"/>
                  <a:pt x="749" y="754"/>
                  <a:pt x="578" y="738"/>
                </a:cubicBezTo>
                <a:cubicBezTo>
                  <a:pt x="407" y="722"/>
                  <a:pt x="154" y="695"/>
                  <a:pt x="77" y="630"/>
                </a:cubicBezTo>
                <a:cubicBezTo>
                  <a:pt x="0" y="565"/>
                  <a:pt x="60" y="426"/>
                  <a:pt x="113" y="34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477" name="Straight Connector 1097">
            <a:extLst>
              <a:ext uri="{FF2B5EF4-FFF2-40B4-BE49-F238E27FC236}">
                <a16:creationId xmlns:a16="http://schemas.microsoft.com/office/drawing/2014/main" id="{331FA78B-6A51-642F-09B8-1F46863B34BE}"/>
              </a:ext>
            </a:extLst>
          </p:cNvPr>
          <p:cNvCxnSpPr>
            <a:cxnSpLocks/>
            <a:stCxn id="463" idx="1"/>
          </p:cNvCxnSpPr>
          <p:nvPr/>
        </p:nvCxnSpPr>
        <p:spPr bwMode="auto">
          <a:xfrm flipH="1">
            <a:off x="10804689" y="5561653"/>
            <a:ext cx="402200" cy="126257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3" name="TextBox 1102">
            <a:extLst>
              <a:ext uri="{FF2B5EF4-FFF2-40B4-BE49-F238E27FC236}">
                <a16:creationId xmlns:a16="http://schemas.microsoft.com/office/drawing/2014/main" id="{DBC32012-A5A9-BCBC-11EF-8AA72925ADEB}"/>
              </a:ext>
            </a:extLst>
          </p:cNvPr>
          <p:cNvSpPr txBox="1"/>
          <p:nvPr/>
        </p:nvSpPr>
        <p:spPr>
          <a:xfrm>
            <a:off x="11206889" y="5376987"/>
            <a:ext cx="35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X</a:t>
            </a:r>
          </a:p>
        </p:txBody>
      </p:sp>
      <p:sp>
        <p:nvSpPr>
          <p:cNvPr id="484" name="文本框 483">
            <a:extLst>
              <a:ext uri="{FF2B5EF4-FFF2-40B4-BE49-F238E27FC236}">
                <a16:creationId xmlns:a16="http://schemas.microsoft.com/office/drawing/2014/main" id="{2CB71178-E069-8179-4B05-34035400838F}"/>
              </a:ext>
            </a:extLst>
          </p:cNvPr>
          <p:cNvSpPr txBox="1"/>
          <p:nvPr/>
        </p:nvSpPr>
        <p:spPr>
          <a:xfrm>
            <a:off x="7093491" y="4608532"/>
            <a:ext cx="1243471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⇐ AS3, X</a:t>
            </a:r>
          </a:p>
        </p:txBody>
      </p:sp>
      <p:sp>
        <p:nvSpPr>
          <p:cNvPr id="483" name="文本框 482">
            <a:extLst>
              <a:ext uri="{FF2B5EF4-FFF2-40B4-BE49-F238E27FC236}">
                <a16:creationId xmlns:a16="http://schemas.microsoft.com/office/drawing/2014/main" id="{BD238E61-8213-A8B8-79EC-A0BF531734DC}"/>
              </a:ext>
            </a:extLst>
          </p:cNvPr>
          <p:cNvSpPr txBox="1"/>
          <p:nvPr/>
        </p:nvSpPr>
        <p:spPr>
          <a:xfrm>
            <a:off x="8545481" y="5404381"/>
            <a:ext cx="839004" cy="335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&lt;&gt;, X</a:t>
            </a:r>
          </a:p>
        </p:txBody>
      </p:sp>
      <p:sp>
        <p:nvSpPr>
          <p:cNvPr id="448" name="Oval 443">
            <a:extLst>
              <a:ext uri="{FF2B5EF4-FFF2-40B4-BE49-F238E27FC236}">
                <a16:creationId xmlns:a16="http://schemas.microsoft.com/office/drawing/2014/main" id="{B4EFFFB8-4ED9-7DD0-C4D9-786AD731363A}"/>
              </a:ext>
            </a:extLst>
          </p:cNvPr>
          <p:cNvSpPr/>
          <p:nvPr/>
        </p:nvSpPr>
        <p:spPr bwMode="auto">
          <a:xfrm>
            <a:off x="9219974" y="5274465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449" name="Straight Connector 431">
            <a:extLst>
              <a:ext uri="{FF2B5EF4-FFF2-40B4-BE49-F238E27FC236}">
                <a16:creationId xmlns:a16="http://schemas.microsoft.com/office/drawing/2014/main" id="{6FE092DA-FDE2-54EC-A2FE-F750AF9398B4}"/>
              </a:ext>
            </a:extLst>
          </p:cNvPr>
          <p:cNvCxnSpPr>
            <a:cxnSpLocks/>
            <a:endCxn id="28" idx="3"/>
          </p:cNvCxnSpPr>
          <p:nvPr/>
        </p:nvCxnSpPr>
        <p:spPr bwMode="auto">
          <a:xfrm flipH="1">
            <a:off x="1879899" y="5755031"/>
            <a:ext cx="7517612" cy="37438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1" name="Oval 443">
            <a:extLst>
              <a:ext uri="{FF2B5EF4-FFF2-40B4-BE49-F238E27FC236}">
                <a16:creationId xmlns:a16="http://schemas.microsoft.com/office/drawing/2014/main" id="{9E2C139D-9916-E997-DFD7-B35329C7CE16}"/>
              </a:ext>
            </a:extLst>
          </p:cNvPr>
          <p:cNvSpPr/>
          <p:nvPr/>
        </p:nvSpPr>
        <p:spPr bwMode="auto">
          <a:xfrm>
            <a:off x="1230283" y="5274465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52" name="文本框 451">
            <a:extLst>
              <a:ext uri="{FF2B5EF4-FFF2-40B4-BE49-F238E27FC236}">
                <a16:creationId xmlns:a16="http://schemas.microsoft.com/office/drawing/2014/main" id="{A6B71F98-56DA-E260-B9B2-2D33512BF22B}"/>
              </a:ext>
            </a:extLst>
          </p:cNvPr>
          <p:cNvSpPr txBox="1"/>
          <p:nvPr/>
        </p:nvSpPr>
        <p:spPr>
          <a:xfrm>
            <a:off x="5731301" y="5850272"/>
            <a:ext cx="1482203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⇐ AS3, X</a:t>
            </a: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B49CB410-BB80-7E44-517A-2ADC0553CD9C}"/>
              </a:ext>
            </a:extLst>
          </p:cNvPr>
          <p:cNvSpPr txBox="1"/>
          <p:nvPr/>
        </p:nvSpPr>
        <p:spPr>
          <a:xfrm rot="21004227">
            <a:off x="2867230" y="5102455"/>
            <a:ext cx="1873545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⇒ AS1, AS3, X</a:t>
            </a:r>
          </a:p>
        </p:txBody>
      </p:sp>
    </p:spTree>
    <p:extLst>
      <p:ext uri="{BB962C8B-B14F-4D97-AF65-F5344CB8AC3E}">
        <p14:creationId xmlns:p14="http://schemas.microsoft.com/office/powerpoint/2010/main" val="3089193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8E4AE4-08E8-324F-C309-A221CFFF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NEXT-HOP</a:t>
            </a:r>
            <a:r>
              <a:rPr lang="zh-CN" altLang="en-US" dirty="0"/>
              <a:t>路径属性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A139AD-3372-8650-C061-DC32C617C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2230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NEXT-HOP</a:t>
            </a:r>
            <a:r>
              <a:rPr lang="zh-CN" altLang="en-US" dirty="0"/>
              <a:t>：发布路由到自治系统的该路由器的</a:t>
            </a:r>
            <a:r>
              <a:rPr lang="en-US" altLang="zh-CN" dirty="0"/>
              <a:t>IP</a:t>
            </a:r>
            <a:r>
              <a:rPr lang="zh-CN" altLang="en-US" dirty="0"/>
              <a:t>地址，</a:t>
            </a:r>
            <a:r>
              <a:rPr lang="en-US" altLang="zh-CN" dirty="0"/>
              <a:t>NEXT-HOP ---&gt; AS-PATH  ---&gt; Prefix</a:t>
            </a:r>
          </a:p>
          <a:p>
            <a:r>
              <a:rPr lang="en-US" altLang="zh-CN" dirty="0"/>
              <a:t>eBGP</a:t>
            </a:r>
            <a:r>
              <a:rPr lang="zh-CN" altLang="en-US" dirty="0"/>
              <a:t>会话：发布到另一个自治系统时，</a:t>
            </a:r>
            <a:r>
              <a:rPr lang="en-US" altLang="zh-CN" dirty="0"/>
              <a:t>NEXT-HOP</a:t>
            </a:r>
            <a:r>
              <a:rPr lang="zh-CN" altLang="en-US" dirty="0"/>
              <a:t>为发布者的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r>
              <a:rPr lang="en-US" altLang="zh-CN" dirty="0"/>
              <a:t>iBGP</a:t>
            </a:r>
            <a:r>
              <a:rPr lang="zh-CN" altLang="en-US" dirty="0"/>
              <a:t>会话：</a:t>
            </a:r>
            <a:endParaRPr lang="en-US" altLang="zh-CN" dirty="0"/>
          </a:p>
          <a:p>
            <a:pPr lvl="1">
              <a:lnSpc>
                <a:spcPct val="95000"/>
              </a:lnSpc>
            </a:pPr>
            <a:r>
              <a:rPr lang="zh-CN" altLang="en-US" sz="2000" dirty="0"/>
              <a:t>如果该路由来自于</a:t>
            </a:r>
            <a:r>
              <a:rPr lang="en-US" altLang="zh-CN" sz="2000" dirty="0"/>
              <a:t>EBGP</a:t>
            </a:r>
            <a:r>
              <a:rPr lang="zh-CN" altLang="en-US" sz="2000" dirty="0"/>
              <a:t>邻居，则</a:t>
            </a:r>
            <a:r>
              <a:rPr lang="en-US" altLang="zh-CN" sz="2000" dirty="0"/>
              <a:t>Next-Hop</a:t>
            </a:r>
            <a:r>
              <a:rPr lang="zh-CN" altLang="en-US" sz="2000" dirty="0"/>
              <a:t>一般不变</a:t>
            </a:r>
            <a:endParaRPr lang="en-US" altLang="zh-CN" sz="2000" dirty="0"/>
          </a:p>
          <a:p>
            <a:pPr lvl="1"/>
            <a:r>
              <a:rPr lang="zh-CN" altLang="en-US" sz="2000" dirty="0"/>
              <a:t>如果该路由属于当前</a:t>
            </a:r>
            <a:r>
              <a:rPr lang="en-US" altLang="zh-CN" sz="2000" dirty="0"/>
              <a:t>AS</a:t>
            </a:r>
            <a:r>
              <a:rPr lang="zh-CN" altLang="en-US" sz="2000" dirty="0"/>
              <a:t>，</a:t>
            </a:r>
            <a:r>
              <a:rPr lang="en-US" altLang="zh-CN" sz="2000" dirty="0"/>
              <a:t>Next-Hop</a:t>
            </a:r>
            <a:r>
              <a:rPr lang="zh-CN" altLang="en-US" sz="2000" dirty="0"/>
              <a:t>一般设置为</a:t>
            </a:r>
            <a:r>
              <a:rPr lang="zh-CN" altLang="zh-CN" sz="2000" dirty="0"/>
              <a:t>发布该路由的</a:t>
            </a:r>
            <a:r>
              <a:rPr lang="zh-CN" altLang="en-US" sz="2000" dirty="0"/>
              <a:t>当前</a:t>
            </a:r>
            <a:r>
              <a:rPr lang="en-US" altLang="zh-CN" sz="2000" dirty="0"/>
              <a:t>BGP</a:t>
            </a:r>
            <a:r>
              <a:rPr lang="zh-CN" altLang="zh-CN" sz="2000" dirty="0"/>
              <a:t>路由器</a:t>
            </a:r>
            <a:r>
              <a:rPr lang="zh-CN" altLang="en-US" sz="2000" dirty="0"/>
              <a:t>的地址</a:t>
            </a:r>
            <a:endParaRPr lang="en-US" altLang="zh-CN" sz="2000" dirty="0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8D65E5DD-7D73-07FE-9D0D-D519C21D944E}"/>
              </a:ext>
            </a:extLst>
          </p:cNvPr>
          <p:cNvSpPr>
            <a:spLocks/>
          </p:cNvSpPr>
          <p:nvPr/>
        </p:nvSpPr>
        <p:spPr bwMode="auto">
          <a:xfrm>
            <a:off x="4372128" y="3810925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25214DAB-821B-79A5-9E3C-361CEEBBB7D0}"/>
              </a:ext>
            </a:extLst>
          </p:cNvPr>
          <p:cNvSpPr>
            <a:spLocks/>
          </p:cNvSpPr>
          <p:nvPr/>
        </p:nvSpPr>
        <p:spPr bwMode="auto">
          <a:xfrm>
            <a:off x="8278026" y="3967062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3" name="Group 232">
            <a:extLst>
              <a:ext uri="{FF2B5EF4-FFF2-40B4-BE49-F238E27FC236}">
                <a16:creationId xmlns:a16="http://schemas.microsoft.com/office/drawing/2014/main" id="{84B81E10-BDE5-EDD8-B2CC-A552F2238220}"/>
              </a:ext>
            </a:extLst>
          </p:cNvPr>
          <p:cNvGrpSpPr/>
          <p:nvPr/>
        </p:nvGrpSpPr>
        <p:grpSpPr>
          <a:xfrm>
            <a:off x="501747" y="3208615"/>
            <a:ext cx="2088416" cy="635979"/>
            <a:chOff x="3683123" y="4998622"/>
            <a:chExt cx="2088416" cy="635979"/>
          </a:xfrm>
        </p:grpSpPr>
        <p:cxnSp>
          <p:nvCxnSpPr>
            <p:cNvPr id="24" name="Straight Connector 233">
              <a:extLst>
                <a:ext uri="{FF2B5EF4-FFF2-40B4-BE49-F238E27FC236}">
                  <a16:creationId xmlns:a16="http://schemas.microsoft.com/office/drawing/2014/main" id="{F37E96D0-34DE-380F-55B6-46108D25016B}"/>
                </a:ext>
              </a:extLst>
            </p:cNvPr>
            <p:cNvCxnSpPr/>
            <p:nvPr/>
          </p:nvCxnSpPr>
          <p:spPr bwMode="auto">
            <a:xfrm flipH="1" flipV="1">
              <a:off x="3683123" y="5204803"/>
              <a:ext cx="749784" cy="11598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Straight Connector 234">
              <a:extLst>
                <a:ext uri="{FF2B5EF4-FFF2-40B4-BE49-F238E27FC236}">
                  <a16:creationId xmlns:a16="http://schemas.microsoft.com/office/drawing/2014/main" id="{7E9189E7-DE79-7061-B4F4-3205F1BF0DFC}"/>
                </a:ext>
              </a:extLst>
            </p:cNvPr>
            <p:cNvCxnSpPr/>
            <p:nvPr/>
          </p:nvCxnSpPr>
          <p:spPr bwMode="auto">
            <a:xfrm flipV="1">
              <a:off x="3712601" y="5484981"/>
              <a:ext cx="699488" cy="69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" name="TextBox 235">
              <a:extLst>
                <a:ext uri="{FF2B5EF4-FFF2-40B4-BE49-F238E27FC236}">
                  <a16:creationId xmlns:a16="http://schemas.microsoft.com/office/drawing/2014/main" id="{0B63D6B0-DD33-48DE-7F30-58761B586847}"/>
                </a:ext>
              </a:extLst>
            </p:cNvPr>
            <p:cNvSpPr txBox="1"/>
            <p:nvPr/>
          </p:nvSpPr>
          <p:spPr>
            <a:xfrm>
              <a:off x="4536906" y="4998622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+mn-ea"/>
                </a:rPr>
                <a:t>eBGP</a:t>
              </a:r>
              <a:r>
                <a:rPr lang="zh-CN" altLang="en-US" kern="0" dirty="0">
                  <a:solidFill>
                    <a:srgbClr val="CC0000"/>
                  </a:solidFill>
                  <a:latin typeface="+mn-ea"/>
                </a:rPr>
                <a:t>连接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7" name="TextBox 236">
              <a:extLst>
                <a:ext uri="{FF2B5EF4-FFF2-40B4-BE49-F238E27FC236}">
                  <a16:creationId xmlns:a16="http://schemas.microsoft.com/office/drawing/2014/main" id="{6DA5888F-80D7-EA8E-CCFC-21A53511906C}"/>
                </a:ext>
              </a:extLst>
            </p:cNvPr>
            <p:cNvSpPr txBox="1"/>
            <p:nvPr/>
          </p:nvSpPr>
          <p:spPr>
            <a:xfrm>
              <a:off x="4561862" y="5265269"/>
              <a:ext cx="11641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+mn-ea"/>
                </a:rPr>
                <a:t>iBGP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+mn-ea"/>
                </a:rPr>
                <a:t>连接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28" name="Freeform 2">
            <a:extLst>
              <a:ext uri="{FF2B5EF4-FFF2-40B4-BE49-F238E27FC236}">
                <a16:creationId xmlns:a16="http://schemas.microsoft.com/office/drawing/2014/main" id="{F71EF3F3-3DB2-0BCF-F68C-A6E308892060}"/>
              </a:ext>
            </a:extLst>
          </p:cNvPr>
          <p:cNvSpPr>
            <a:spLocks/>
          </p:cNvSpPr>
          <p:nvPr/>
        </p:nvSpPr>
        <p:spPr bwMode="auto">
          <a:xfrm>
            <a:off x="300725" y="4066822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29" name="Group 238">
            <a:extLst>
              <a:ext uri="{FF2B5EF4-FFF2-40B4-BE49-F238E27FC236}">
                <a16:creationId xmlns:a16="http://schemas.microsoft.com/office/drawing/2014/main" id="{2EA05420-BC9A-E539-80C5-0A47FB95D5DC}"/>
              </a:ext>
            </a:extLst>
          </p:cNvPr>
          <p:cNvGrpSpPr/>
          <p:nvPr/>
        </p:nvGrpSpPr>
        <p:grpSpPr>
          <a:xfrm>
            <a:off x="1438886" y="4217684"/>
            <a:ext cx="565150" cy="369332"/>
            <a:chOff x="1736090" y="2873352"/>
            <a:chExt cx="565150" cy="369332"/>
          </a:xfrm>
        </p:grpSpPr>
        <p:grpSp>
          <p:nvGrpSpPr>
            <p:cNvPr id="30" name="Group 327">
              <a:extLst>
                <a:ext uri="{FF2B5EF4-FFF2-40B4-BE49-F238E27FC236}">
                  <a16:creationId xmlns:a16="http://schemas.microsoft.com/office/drawing/2014/main" id="{1938EEA5-169E-F9A0-688B-30612E77E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4" name="Oval 243">
                <a:extLst>
                  <a:ext uri="{FF2B5EF4-FFF2-40B4-BE49-F238E27FC236}">
                    <a16:creationId xmlns:a16="http://schemas.microsoft.com/office/drawing/2014/main" id="{0FA0E892-0A90-B1D2-0DFE-D9EF20ED5D05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" name="Rectangle 244">
                <a:extLst>
                  <a:ext uri="{FF2B5EF4-FFF2-40B4-BE49-F238E27FC236}">
                    <a16:creationId xmlns:a16="http://schemas.microsoft.com/office/drawing/2014/main" id="{26AA68E4-4EA5-9992-F171-BFA368CEBABB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6" name="Oval 245">
                <a:extLst>
                  <a:ext uri="{FF2B5EF4-FFF2-40B4-BE49-F238E27FC236}">
                    <a16:creationId xmlns:a16="http://schemas.microsoft.com/office/drawing/2014/main" id="{064FC2CA-7761-15A2-CD60-216C536E9281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7" name="Freeform 246">
                <a:extLst>
                  <a:ext uri="{FF2B5EF4-FFF2-40B4-BE49-F238E27FC236}">
                    <a16:creationId xmlns:a16="http://schemas.microsoft.com/office/drawing/2014/main" id="{5B850FAC-A525-9163-3B2A-C52FED73B645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8" name="Freeform 247">
                <a:extLst>
                  <a:ext uri="{FF2B5EF4-FFF2-40B4-BE49-F238E27FC236}">
                    <a16:creationId xmlns:a16="http://schemas.microsoft.com/office/drawing/2014/main" id="{4701120C-4A6E-03CB-EA54-028C165268D2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9" name="Freeform 248">
                <a:extLst>
                  <a:ext uri="{FF2B5EF4-FFF2-40B4-BE49-F238E27FC236}">
                    <a16:creationId xmlns:a16="http://schemas.microsoft.com/office/drawing/2014/main" id="{BDF8BEB2-E8DC-E695-690C-0E6A7590EA8A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" name="Freeform 249">
                <a:extLst>
                  <a:ext uri="{FF2B5EF4-FFF2-40B4-BE49-F238E27FC236}">
                    <a16:creationId xmlns:a16="http://schemas.microsoft.com/office/drawing/2014/main" id="{EB389009-9C84-1AAD-90B0-7AE967504AE2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1" name="Straight Connector 250">
                <a:extLst>
                  <a:ext uri="{FF2B5EF4-FFF2-40B4-BE49-F238E27FC236}">
                    <a16:creationId xmlns:a16="http://schemas.microsoft.com/office/drawing/2014/main" id="{EBA3FD5F-91AF-6DD3-A60A-0318CCA085CD}"/>
                  </a:ext>
                </a:extLst>
              </p:cNvPr>
              <p:cNvCxnSpPr>
                <a:endCxn id="3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2" name="Straight Connector 251">
                <a:extLst>
                  <a:ext uri="{FF2B5EF4-FFF2-40B4-BE49-F238E27FC236}">
                    <a16:creationId xmlns:a16="http://schemas.microsoft.com/office/drawing/2014/main" id="{6CE6F706-D3E8-F2A1-2657-9D1B12346DEB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1" name="Group 240">
              <a:extLst>
                <a:ext uri="{FF2B5EF4-FFF2-40B4-BE49-F238E27FC236}">
                  <a16:creationId xmlns:a16="http://schemas.microsoft.com/office/drawing/2014/main" id="{DDB8B1B9-BFDC-5F85-234C-88EB60B9F3D6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32" name="Oval 241">
                <a:extLst>
                  <a:ext uri="{FF2B5EF4-FFF2-40B4-BE49-F238E27FC236}">
                    <a16:creationId xmlns:a16="http://schemas.microsoft.com/office/drawing/2014/main" id="{5A7F3143-4079-4516-05B1-5A2188D2AC68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3" name="TextBox 242">
                <a:extLst>
                  <a:ext uri="{FF2B5EF4-FFF2-40B4-BE49-F238E27FC236}">
                    <a16:creationId xmlns:a16="http://schemas.microsoft.com/office/drawing/2014/main" id="{689F4FB5-EBE9-17A7-4D02-F44510E9BDB0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</a:p>
            </p:txBody>
          </p:sp>
        </p:grpSp>
      </p:grpSp>
      <p:grpSp>
        <p:nvGrpSpPr>
          <p:cNvPr id="43" name="Group 252">
            <a:extLst>
              <a:ext uri="{FF2B5EF4-FFF2-40B4-BE49-F238E27FC236}">
                <a16:creationId xmlns:a16="http://schemas.microsoft.com/office/drawing/2014/main" id="{410BE049-BAF7-E83D-E5B2-750B2AAEDAD4}"/>
              </a:ext>
            </a:extLst>
          </p:cNvPr>
          <p:cNvGrpSpPr/>
          <p:nvPr/>
        </p:nvGrpSpPr>
        <p:grpSpPr>
          <a:xfrm>
            <a:off x="1443116" y="5439001"/>
            <a:ext cx="565150" cy="369332"/>
            <a:chOff x="1736090" y="2873352"/>
            <a:chExt cx="565150" cy="369332"/>
          </a:xfrm>
        </p:grpSpPr>
        <p:grpSp>
          <p:nvGrpSpPr>
            <p:cNvPr id="44" name="Group 327">
              <a:extLst>
                <a:ext uri="{FF2B5EF4-FFF2-40B4-BE49-F238E27FC236}">
                  <a16:creationId xmlns:a16="http://schemas.microsoft.com/office/drawing/2014/main" id="{F07815E5-1FA1-C52A-EED0-8AFCACDB72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8" name="Oval 257">
                <a:extLst>
                  <a:ext uri="{FF2B5EF4-FFF2-40B4-BE49-F238E27FC236}">
                    <a16:creationId xmlns:a16="http://schemas.microsoft.com/office/drawing/2014/main" id="{87C1E836-952C-2C06-83D5-F5F9E64583AA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" name="Rectangle 258">
                <a:extLst>
                  <a:ext uri="{FF2B5EF4-FFF2-40B4-BE49-F238E27FC236}">
                    <a16:creationId xmlns:a16="http://schemas.microsoft.com/office/drawing/2014/main" id="{2933C5E4-3310-E77B-FE64-97EDF9123B0A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0" name="Oval 259">
                <a:extLst>
                  <a:ext uri="{FF2B5EF4-FFF2-40B4-BE49-F238E27FC236}">
                    <a16:creationId xmlns:a16="http://schemas.microsoft.com/office/drawing/2014/main" id="{8B0D3077-EEBD-8A8D-8087-455401217EFD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1" name="Freeform 260">
                <a:extLst>
                  <a:ext uri="{FF2B5EF4-FFF2-40B4-BE49-F238E27FC236}">
                    <a16:creationId xmlns:a16="http://schemas.microsoft.com/office/drawing/2014/main" id="{45C1D780-C1BD-9E98-03DD-51067BC0344E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2" name="Freeform 261">
                <a:extLst>
                  <a:ext uri="{FF2B5EF4-FFF2-40B4-BE49-F238E27FC236}">
                    <a16:creationId xmlns:a16="http://schemas.microsoft.com/office/drawing/2014/main" id="{98ECE014-D143-8786-AA90-4F649D4B6B26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3" name="Freeform 262">
                <a:extLst>
                  <a:ext uri="{FF2B5EF4-FFF2-40B4-BE49-F238E27FC236}">
                    <a16:creationId xmlns:a16="http://schemas.microsoft.com/office/drawing/2014/main" id="{B6A17777-AE64-D82F-3363-729608188B87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4" name="Freeform 263">
                <a:extLst>
                  <a:ext uri="{FF2B5EF4-FFF2-40B4-BE49-F238E27FC236}">
                    <a16:creationId xmlns:a16="http://schemas.microsoft.com/office/drawing/2014/main" id="{DB796E76-35FD-89B3-8EED-060984509F96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55" name="Straight Connector 264">
                <a:extLst>
                  <a:ext uri="{FF2B5EF4-FFF2-40B4-BE49-F238E27FC236}">
                    <a16:creationId xmlns:a16="http://schemas.microsoft.com/office/drawing/2014/main" id="{1E709098-EABE-E303-14FC-C377A995E47B}"/>
                  </a:ext>
                </a:extLst>
              </p:cNvPr>
              <p:cNvCxnSpPr>
                <a:endCxn id="5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56" name="Straight Connector 265">
                <a:extLst>
                  <a:ext uri="{FF2B5EF4-FFF2-40B4-BE49-F238E27FC236}">
                    <a16:creationId xmlns:a16="http://schemas.microsoft.com/office/drawing/2014/main" id="{AE2FA09E-D660-DE90-D94C-6685260380FB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45" name="Group 254">
              <a:extLst>
                <a:ext uri="{FF2B5EF4-FFF2-40B4-BE49-F238E27FC236}">
                  <a16:creationId xmlns:a16="http://schemas.microsoft.com/office/drawing/2014/main" id="{157712E8-3103-A23A-658E-1C4D647EF023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46" name="Oval 255">
                <a:extLst>
                  <a:ext uri="{FF2B5EF4-FFF2-40B4-BE49-F238E27FC236}">
                    <a16:creationId xmlns:a16="http://schemas.microsoft.com/office/drawing/2014/main" id="{6FDAF731-3C10-73F3-9A68-735CF16264EC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" name="TextBox 256">
                <a:extLst>
                  <a:ext uri="{FF2B5EF4-FFF2-40B4-BE49-F238E27FC236}">
                    <a16:creationId xmlns:a16="http://schemas.microsoft.com/office/drawing/2014/main" id="{CB3B39DE-2229-8EC5-3ECF-F7E3E8AEA0EA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1d</a:t>
                </a:r>
              </a:p>
            </p:txBody>
          </p:sp>
        </p:grpSp>
      </p:grpSp>
      <p:grpSp>
        <p:nvGrpSpPr>
          <p:cNvPr id="57" name="Group 266">
            <a:extLst>
              <a:ext uri="{FF2B5EF4-FFF2-40B4-BE49-F238E27FC236}">
                <a16:creationId xmlns:a16="http://schemas.microsoft.com/office/drawing/2014/main" id="{289DC550-8391-E0B2-B8BC-8C06DC088A8A}"/>
              </a:ext>
            </a:extLst>
          </p:cNvPr>
          <p:cNvGrpSpPr/>
          <p:nvPr/>
        </p:nvGrpSpPr>
        <p:grpSpPr>
          <a:xfrm>
            <a:off x="2304602" y="4829404"/>
            <a:ext cx="565150" cy="369332"/>
            <a:chOff x="1736090" y="2873352"/>
            <a:chExt cx="565150" cy="369332"/>
          </a:xfrm>
        </p:grpSpPr>
        <p:grpSp>
          <p:nvGrpSpPr>
            <p:cNvPr id="58" name="Group 327">
              <a:extLst>
                <a:ext uri="{FF2B5EF4-FFF2-40B4-BE49-F238E27FC236}">
                  <a16:creationId xmlns:a16="http://schemas.microsoft.com/office/drawing/2014/main" id="{7EB2DB7A-ED14-BE63-EEE0-998E20FB5B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62" name="Oval 271">
                <a:extLst>
                  <a:ext uri="{FF2B5EF4-FFF2-40B4-BE49-F238E27FC236}">
                    <a16:creationId xmlns:a16="http://schemas.microsoft.com/office/drawing/2014/main" id="{07E3C5D5-3F0B-8D30-F10F-F56D2994B43F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3" name="Rectangle 272">
                <a:extLst>
                  <a:ext uri="{FF2B5EF4-FFF2-40B4-BE49-F238E27FC236}">
                    <a16:creationId xmlns:a16="http://schemas.microsoft.com/office/drawing/2014/main" id="{B5B33E1D-6064-6A13-1123-114DD6AE6F3F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4" name="Oval 273">
                <a:extLst>
                  <a:ext uri="{FF2B5EF4-FFF2-40B4-BE49-F238E27FC236}">
                    <a16:creationId xmlns:a16="http://schemas.microsoft.com/office/drawing/2014/main" id="{A1EB3F0B-B5C7-BFFA-9E66-306C084EB177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5" name="Freeform 274">
                <a:extLst>
                  <a:ext uri="{FF2B5EF4-FFF2-40B4-BE49-F238E27FC236}">
                    <a16:creationId xmlns:a16="http://schemas.microsoft.com/office/drawing/2014/main" id="{33E94AAA-25BB-5AA7-C35E-C4B5C0607DC7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6" name="Freeform 275">
                <a:extLst>
                  <a:ext uri="{FF2B5EF4-FFF2-40B4-BE49-F238E27FC236}">
                    <a16:creationId xmlns:a16="http://schemas.microsoft.com/office/drawing/2014/main" id="{B7B9FCD5-F996-8DBA-DDB9-0D6A28663AEC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7" name="Freeform 276">
                <a:extLst>
                  <a:ext uri="{FF2B5EF4-FFF2-40B4-BE49-F238E27FC236}">
                    <a16:creationId xmlns:a16="http://schemas.microsoft.com/office/drawing/2014/main" id="{93F01383-14E6-394A-05F1-13BB1283BCF0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8" name="Freeform 277">
                <a:extLst>
                  <a:ext uri="{FF2B5EF4-FFF2-40B4-BE49-F238E27FC236}">
                    <a16:creationId xmlns:a16="http://schemas.microsoft.com/office/drawing/2014/main" id="{E582797B-8B23-F88A-34D0-6DDD24A94C36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69" name="Straight Connector 278">
                <a:extLst>
                  <a:ext uri="{FF2B5EF4-FFF2-40B4-BE49-F238E27FC236}">
                    <a16:creationId xmlns:a16="http://schemas.microsoft.com/office/drawing/2014/main" id="{1DE47D3C-F0E4-FF56-FCEE-4BC1DC099077}"/>
                  </a:ext>
                </a:extLst>
              </p:cNvPr>
              <p:cNvCxnSpPr>
                <a:endCxn id="6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70" name="Straight Connector 279">
                <a:extLst>
                  <a:ext uri="{FF2B5EF4-FFF2-40B4-BE49-F238E27FC236}">
                    <a16:creationId xmlns:a16="http://schemas.microsoft.com/office/drawing/2014/main" id="{C3A1CE4A-CE74-3EF7-FEA6-50687EF80637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59" name="Group 268">
              <a:extLst>
                <a:ext uri="{FF2B5EF4-FFF2-40B4-BE49-F238E27FC236}">
                  <a16:creationId xmlns:a16="http://schemas.microsoft.com/office/drawing/2014/main" id="{198BB539-CBD3-F0FF-2696-E5304DC952EE}"/>
                </a:ext>
              </a:extLst>
            </p:cNvPr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60" name="Oval 269">
                <a:extLst>
                  <a:ext uri="{FF2B5EF4-FFF2-40B4-BE49-F238E27FC236}">
                    <a16:creationId xmlns:a16="http://schemas.microsoft.com/office/drawing/2014/main" id="{07BBF56D-476C-BB31-3B4A-32580B09D98A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1" name="TextBox 270">
                <a:extLst>
                  <a:ext uri="{FF2B5EF4-FFF2-40B4-BE49-F238E27FC236}">
                    <a16:creationId xmlns:a16="http://schemas.microsoft.com/office/drawing/2014/main" id="{B164641D-F28D-A326-7176-7970879B0E39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1c</a:t>
                </a:r>
              </a:p>
            </p:txBody>
          </p:sp>
        </p:grpSp>
      </p:grpSp>
      <p:grpSp>
        <p:nvGrpSpPr>
          <p:cNvPr id="71" name="Group 280">
            <a:extLst>
              <a:ext uri="{FF2B5EF4-FFF2-40B4-BE49-F238E27FC236}">
                <a16:creationId xmlns:a16="http://schemas.microsoft.com/office/drawing/2014/main" id="{DC9A25C0-9441-2D43-A792-84C4E5617373}"/>
              </a:ext>
            </a:extLst>
          </p:cNvPr>
          <p:cNvGrpSpPr/>
          <p:nvPr/>
        </p:nvGrpSpPr>
        <p:grpSpPr>
          <a:xfrm>
            <a:off x="536127" y="4823051"/>
            <a:ext cx="565150" cy="369332"/>
            <a:chOff x="1736090" y="2873352"/>
            <a:chExt cx="565150" cy="369332"/>
          </a:xfrm>
        </p:grpSpPr>
        <p:grpSp>
          <p:nvGrpSpPr>
            <p:cNvPr id="72" name="Group 327">
              <a:extLst>
                <a:ext uri="{FF2B5EF4-FFF2-40B4-BE49-F238E27FC236}">
                  <a16:creationId xmlns:a16="http://schemas.microsoft.com/office/drawing/2014/main" id="{AE3B14E0-AA5E-D402-6261-88A94AD9A3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76" name="Oval 285">
                <a:extLst>
                  <a:ext uri="{FF2B5EF4-FFF2-40B4-BE49-F238E27FC236}">
                    <a16:creationId xmlns:a16="http://schemas.microsoft.com/office/drawing/2014/main" id="{5AD925B5-A784-1913-EB67-CE12F28C74DF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77" name="Rectangle 286">
                <a:extLst>
                  <a:ext uri="{FF2B5EF4-FFF2-40B4-BE49-F238E27FC236}">
                    <a16:creationId xmlns:a16="http://schemas.microsoft.com/office/drawing/2014/main" id="{7D81DC80-9968-457D-06CD-F5001DDAA50C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78" name="Oval 287">
                <a:extLst>
                  <a:ext uri="{FF2B5EF4-FFF2-40B4-BE49-F238E27FC236}">
                    <a16:creationId xmlns:a16="http://schemas.microsoft.com/office/drawing/2014/main" id="{A2E8EFB4-7B69-6601-E49B-FD8014EB80F3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79" name="Freeform 288">
                <a:extLst>
                  <a:ext uri="{FF2B5EF4-FFF2-40B4-BE49-F238E27FC236}">
                    <a16:creationId xmlns:a16="http://schemas.microsoft.com/office/drawing/2014/main" id="{70F468C5-6167-7BB9-1FEA-1BF5ACDC2EA9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0" name="Freeform 289">
                <a:extLst>
                  <a:ext uri="{FF2B5EF4-FFF2-40B4-BE49-F238E27FC236}">
                    <a16:creationId xmlns:a16="http://schemas.microsoft.com/office/drawing/2014/main" id="{696999E8-E90A-DFC9-CE51-0667C11818D2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1" name="Freeform 290">
                <a:extLst>
                  <a:ext uri="{FF2B5EF4-FFF2-40B4-BE49-F238E27FC236}">
                    <a16:creationId xmlns:a16="http://schemas.microsoft.com/office/drawing/2014/main" id="{6DF2A283-49BB-549D-1B78-EB8B9DEDD50D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2" name="Freeform 291">
                <a:extLst>
                  <a:ext uri="{FF2B5EF4-FFF2-40B4-BE49-F238E27FC236}">
                    <a16:creationId xmlns:a16="http://schemas.microsoft.com/office/drawing/2014/main" id="{6B246358-8D16-D079-8F56-3D1C05359F78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83" name="Straight Connector 292">
                <a:extLst>
                  <a:ext uri="{FF2B5EF4-FFF2-40B4-BE49-F238E27FC236}">
                    <a16:creationId xmlns:a16="http://schemas.microsoft.com/office/drawing/2014/main" id="{A31017EB-CF49-8782-B512-E0B2A2BB1E55}"/>
                  </a:ext>
                </a:extLst>
              </p:cNvPr>
              <p:cNvCxnSpPr>
                <a:endCxn id="7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84" name="Straight Connector 293">
                <a:extLst>
                  <a:ext uri="{FF2B5EF4-FFF2-40B4-BE49-F238E27FC236}">
                    <a16:creationId xmlns:a16="http://schemas.microsoft.com/office/drawing/2014/main" id="{999B7F3C-3110-8A64-352A-D7DDD55692AB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73" name="Group 282">
              <a:extLst>
                <a:ext uri="{FF2B5EF4-FFF2-40B4-BE49-F238E27FC236}">
                  <a16:creationId xmlns:a16="http://schemas.microsoft.com/office/drawing/2014/main" id="{92F7CEA4-8B8E-C112-9B7C-266BFE96D115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74" name="Oval 283">
                <a:extLst>
                  <a:ext uri="{FF2B5EF4-FFF2-40B4-BE49-F238E27FC236}">
                    <a16:creationId xmlns:a16="http://schemas.microsoft.com/office/drawing/2014/main" id="{86784D4C-5E81-1671-2A6F-416B6496298B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75" name="TextBox 284">
                <a:extLst>
                  <a:ext uri="{FF2B5EF4-FFF2-40B4-BE49-F238E27FC236}">
                    <a16:creationId xmlns:a16="http://schemas.microsoft.com/office/drawing/2014/main" id="{0926BE99-ACE9-B7F3-EA36-2612C48EFA0A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1a</a:t>
                </a:r>
              </a:p>
            </p:txBody>
          </p:sp>
        </p:grpSp>
      </p:grpSp>
      <p:cxnSp>
        <p:nvCxnSpPr>
          <p:cNvPr id="85" name="Straight Connector 294">
            <a:extLst>
              <a:ext uri="{FF2B5EF4-FFF2-40B4-BE49-F238E27FC236}">
                <a16:creationId xmlns:a16="http://schemas.microsoft.com/office/drawing/2014/main" id="{B850342E-A2FD-A8B8-C1E6-B515FE9D95BA}"/>
              </a:ext>
            </a:extLst>
          </p:cNvPr>
          <p:cNvCxnSpPr>
            <a:stCxn id="33" idx="2"/>
            <a:endCxn id="47" idx="0"/>
          </p:cNvCxnSpPr>
          <p:nvPr/>
        </p:nvCxnSpPr>
        <p:spPr bwMode="auto">
          <a:xfrm>
            <a:off x="1693869" y="4587016"/>
            <a:ext cx="4230" cy="851985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Straight Connector 295">
            <a:extLst>
              <a:ext uri="{FF2B5EF4-FFF2-40B4-BE49-F238E27FC236}">
                <a16:creationId xmlns:a16="http://schemas.microsoft.com/office/drawing/2014/main" id="{1F9E85D6-4AE7-997D-A996-1CB69004CBD7}"/>
              </a:ext>
            </a:extLst>
          </p:cNvPr>
          <p:cNvCxnSpPr/>
          <p:nvPr/>
        </p:nvCxnSpPr>
        <p:spPr bwMode="auto">
          <a:xfrm>
            <a:off x="1110273" y="4992953"/>
            <a:ext cx="1204913" cy="635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Straight Connector 296">
            <a:extLst>
              <a:ext uri="{FF2B5EF4-FFF2-40B4-BE49-F238E27FC236}">
                <a16:creationId xmlns:a16="http://schemas.microsoft.com/office/drawing/2014/main" id="{7E6A9D63-0BF2-0AA4-7191-B8B9201BA9D9}"/>
              </a:ext>
            </a:extLst>
          </p:cNvPr>
          <p:cNvCxnSpPr>
            <a:stCxn id="34" idx="7"/>
          </p:cNvCxnSpPr>
          <p:nvPr/>
        </p:nvCxnSpPr>
        <p:spPr bwMode="auto">
          <a:xfrm>
            <a:off x="1921504" y="4498809"/>
            <a:ext cx="480042" cy="36977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Straight Connector 297">
            <a:extLst>
              <a:ext uri="{FF2B5EF4-FFF2-40B4-BE49-F238E27FC236}">
                <a16:creationId xmlns:a16="http://schemas.microsoft.com/office/drawing/2014/main" id="{F0E109BA-BB52-B8DF-7D98-5D95FA68280D}"/>
              </a:ext>
            </a:extLst>
          </p:cNvPr>
          <p:cNvCxnSpPr/>
          <p:nvPr/>
        </p:nvCxnSpPr>
        <p:spPr bwMode="auto">
          <a:xfrm>
            <a:off x="1002869" y="5130636"/>
            <a:ext cx="477927" cy="357071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Straight Connector 298">
            <a:extLst>
              <a:ext uri="{FF2B5EF4-FFF2-40B4-BE49-F238E27FC236}">
                <a16:creationId xmlns:a16="http://schemas.microsoft.com/office/drawing/2014/main" id="{762A67E0-57B1-7B4B-699B-5E7F15314722}"/>
              </a:ext>
            </a:extLst>
          </p:cNvPr>
          <p:cNvCxnSpPr/>
          <p:nvPr/>
        </p:nvCxnSpPr>
        <p:spPr bwMode="auto">
          <a:xfrm flipH="1">
            <a:off x="1898838" y="5127874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" name="Straight Connector 299">
            <a:extLst>
              <a:ext uri="{FF2B5EF4-FFF2-40B4-BE49-F238E27FC236}">
                <a16:creationId xmlns:a16="http://schemas.microsoft.com/office/drawing/2014/main" id="{072ACD5D-A927-D240-9AC7-25661C2C0F99}"/>
              </a:ext>
            </a:extLst>
          </p:cNvPr>
          <p:cNvCxnSpPr/>
          <p:nvPr/>
        </p:nvCxnSpPr>
        <p:spPr bwMode="auto">
          <a:xfrm flipH="1">
            <a:off x="990349" y="4511278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Straight Connector 430">
            <a:extLst>
              <a:ext uri="{FF2B5EF4-FFF2-40B4-BE49-F238E27FC236}">
                <a16:creationId xmlns:a16="http://schemas.microsoft.com/office/drawing/2014/main" id="{34425456-2908-5186-A8E0-DF3961302F56}"/>
              </a:ext>
            </a:extLst>
          </p:cNvPr>
          <p:cNvCxnSpPr>
            <a:cxnSpLocks/>
            <a:stCxn id="108" idx="1"/>
            <a:endCxn id="64" idx="6"/>
          </p:cNvCxnSpPr>
          <p:nvPr/>
        </p:nvCxnSpPr>
        <p:spPr bwMode="auto">
          <a:xfrm flipH="1">
            <a:off x="2868164" y="4688428"/>
            <a:ext cx="1778578" cy="268542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TextBox 434">
            <a:extLst>
              <a:ext uri="{FF2B5EF4-FFF2-40B4-BE49-F238E27FC236}">
                <a16:creationId xmlns:a16="http://schemas.microsoft.com/office/drawing/2014/main" id="{A583C4E9-B98F-590F-63A5-3899C8DAAC91}"/>
              </a:ext>
            </a:extLst>
          </p:cNvPr>
          <p:cNvSpPr txBox="1"/>
          <p:nvPr/>
        </p:nvSpPr>
        <p:spPr>
          <a:xfrm>
            <a:off x="1311930" y="5954224"/>
            <a:ext cx="75353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1</a:t>
            </a:r>
          </a:p>
        </p:txBody>
      </p:sp>
      <p:sp>
        <p:nvSpPr>
          <p:cNvPr id="93" name="Oval 440">
            <a:extLst>
              <a:ext uri="{FF2B5EF4-FFF2-40B4-BE49-F238E27FC236}">
                <a16:creationId xmlns:a16="http://schemas.microsoft.com/office/drawing/2014/main" id="{693BC89C-2534-943B-BA8C-600F440594F9}"/>
              </a:ext>
            </a:extLst>
          </p:cNvPr>
          <p:cNvSpPr/>
          <p:nvPr/>
        </p:nvSpPr>
        <p:spPr bwMode="auto">
          <a:xfrm>
            <a:off x="2155492" y="4588902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grpSp>
        <p:nvGrpSpPr>
          <p:cNvPr id="94" name="Group 302">
            <a:extLst>
              <a:ext uri="{FF2B5EF4-FFF2-40B4-BE49-F238E27FC236}">
                <a16:creationId xmlns:a16="http://schemas.microsoft.com/office/drawing/2014/main" id="{37B1D063-AE58-F0E4-7863-DBBAE80FAB8F}"/>
              </a:ext>
            </a:extLst>
          </p:cNvPr>
          <p:cNvGrpSpPr/>
          <p:nvPr/>
        </p:nvGrpSpPr>
        <p:grpSpPr>
          <a:xfrm>
            <a:off x="4612470" y="3898395"/>
            <a:ext cx="2333625" cy="1590649"/>
            <a:chOff x="833331" y="2873352"/>
            <a:chExt cx="2333625" cy="1590649"/>
          </a:xfrm>
        </p:grpSpPr>
        <p:grpSp>
          <p:nvGrpSpPr>
            <p:cNvPr id="95" name="Group 303">
              <a:extLst>
                <a:ext uri="{FF2B5EF4-FFF2-40B4-BE49-F238E27FC236}">
                  <a16:creationId xmlns:a16="http://schemas.microsoft.com/office/drawing/2014/main" id="{02235436-2D74-EFCD-B235-894087042600}"/>
                </a:ext>
              </a:extLst>
            </p:cNvPr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44" name="Group 327">
                <a:extLst>
                  <a:ext uri="{FF2B5EF4-FFF2-40B4-BE49-F238E27FC236}">
                    <a16:creationId xmlns:a16="http://schemas.microsoft.com/office/drawing/2014/main" id="{B704CEDF-5E40-A0F5-C2EA-7AC6B82ABF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48" name="Oval 356">
                  <a:extLst>
                    <a:ext uri="{FF2B5EF4-FFF2-40B4-BE49-F238E27FC236}">
                      <a16:creationId xmlns:a16="http://schemas.microsoft.com/office/drawing/2014/main" id="{140A73A4-E740-A9B9-BAFB-85DEC55DEBC3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Rectangle 357">
                  <a:extLst>
                    <a:ext uri="{FF2B5EF4-FFF2-40B4-BE49-F238E27FC236}">
                      <a16:creationId xmlns:a16="http://schemas.microsoft.com/office/drawing/2014/main" id="{36230AFA-E45A-8A00-68AA-2E5E29A1908A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Oval 358">
                  <a:extLst>
                    <a:ext uri="{FF2B5EF4-FFF2-40B4-BE49-F238E27FC236}">
                      <a16:creationId xmlns:a16="http://schemas.microsoft.com/office/drawing/2014/main" id="{08A41412-6356-666D-F383-104AF6622EBC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Freeform 359">
                  <a:extLst>
                    <a:ext uri="{FF2B5EF4-FFF2-40B4-BE49-F238E27FC236}">
                      <a16:creationId xmlns:a16="http://schemas.microsoft.com/office/drawing/2014/main" id="{B6990228-ECAB-2916-5166-17785DF2D8C6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Freeform 360">
                  <a:extLst>
                    <a:ext uri="{FF2B5EF4-FFF2-40B4-BE49-F238E27FC236}">
                      <a16:creationId xmlns:a16="http://schemas.microsoft.com/office/drawing/2014/main" id="{DBF6651D-945E-856F-A9BC-8E77B5F83C07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Freeform 361">
                  <a:extLst>
                    <a:ext uri="{FF2B5EF4-FFF2-40B4-BE49-F238E27FC236}">
                      <a16:creationId xmlns:a16="http://schemas.microsoft.com/office/drawing/2014/main" id="{AED45A8A-0969-3B50-6368-57C831F8F66E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 362">
                  <a:extLst>
                    <a:ext uri="{FF2B5EF4-FFF2-40B4-BE49-F238E27FC236}">
                      <a16:creationId xmlns:a16="http://schemas.microsoft.com/office/drawing/2014/main" id="{5682C11B-32CC-C105-44A5-E38BF70C9EF4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55" name="Straight Connector 363">
                  <a:extLst>
                    <a:ext uri="{FF2B5EF4-FFF2-40B4-BE49-F238E27FC236}">
                      <a16:creationId xmlns:a16="http://schemas.microsoft.com/office/drawing/2014/main" id="{936BBB92-99C1-1825-21FA-5407D4692707}"/>
                    </a:ext>
                  </a:extLst>
                </p:cNvPr>
                <p:cNvCxnSpPr>
                  <a:endCxn id="15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56" name="Straight Connector 364">
                  <a:extLst>
                    <a:ext uri="{FF2B5EF4-FFF2-40B4-BE49-F238E27FC236}">
                      <a16:creationId xmlns:a16="http://schemas.microsoft.com/office/drawing/2014/main" id="{62ED88BF-C3E2-2DB9-3020-137467364B0E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45" name="Group 353">
                <a:extLst>
                  <a:ext uri="{FF2B5EF4-FFF2-40B4-BE49-F238E27FC236}">
                    <a16:creationId xmlns:a16="http://schemas.microsoft.com/office/drawing/2014/main" id="{64BA5860-D5E0-2C12-F45D-95DE115D1F9E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46" name="Oval 354">
                  <a:extLst>
                    <a:ext uri="{FF2B5EF4-FFF2-40B4-BE49-F238E27FC236}">
                      <a16:creationId xmlns:a16="http://schemas.microsoft.com/office/drawing/2014/main" id="{D5E253AF-7EDD-E00C-EF13-A70DC97CA308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TextBox 355">
                  <a:extLst>
                    <a:ext uri="{FF2B5EF4-FFF2-40B4-BE49-F238E27FC236}">
                      <a16:creationId xmlns:a16="http://schemas.microsoft.com/office/drawing/2014/main" id="{A3518484-8472-CC9F-4975-E3807EC3EAB9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2b</a:t>
                  </a:r>
                </a:p>
              </p:txBody>
            </p:sp>
          </p:grpSp>
        </p:grpSp>
        <p:grpSp>
          <p:nvGrpSpPr>
            <p:cNvPr id="96" name="Group 304">
              <a:extLst>
                <a:ext uri="{FF2B5EF4-FFF2-40B4-BE49-F238E27FC236}">
                  <a16:creationId xmlns:a16="http://schemas.microsoft.com/office/drawing/2014/main" id="{DFF7A949-64D3-12A5-D24B-B3E974BEC765}"/>
                </a:ext>
              </a:extLst>
            </p:cNvPr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31" name="Group 327">
                <a:extLst>
                  <a:ext uri="{FF2B5EF4-FFF2-40B4-BE49-F238E27FC236}">
                    <a16:creationId xmlns:a16="http://schemas.microsoft.com/office/drawing/2014/main" id="{0BAF14DA-9033-712F-E96A-3EF7D4D050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35" name="Oval 343">
                  <a:extLst>
                    <a:ext uri="{FF2B5EF4-FFF2-40B4-BE49-F238E27FC236}">
                      <a16:creationId xmlns:a16="http://schemas.microsoft.com/office/drawing/2014/main" id="{8EB1D6A2-2C5D-8D6D-F597-AEF5D0C3708B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Rectangle 344">
                  <a:extLst>
                    <a:ext uri="{FF2B5EF4-FFF2-40B4-BE49-F238E27FC236}">
                      <a16:creationId xmlns:a16="http://schemas.microsoft.com/office/drawing/2014/main" id="{0D6D07F5-3FB5-6449-C480-B44F6750A2B1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Oval 345">
                  <a:extLst>
                    <a:ext uri="{FF2B5EF4-FFF2-40B4-BE49-F238E27FC236}">
                      <a16:creationId xmlns:a16="http://schemas.microsoft.com/office/drawing/2014/main" id="{EF5CA4B3-2CBB-D066-D9B0-B8F3E28C3B8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346">
                  <a:extLst>
                    <a:ext uri="{FF2B5EF4-FFF2-40B4-BE49-F238E27FC236}">
                      <a16:creationId xmlns:a16="http://schemas.microsoft.com/office/drawing/2014/main" id="{8C2FF414-6E4B-BF98-EC87-B43C6C2CC0E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347">
                  <a:extLst>
                    <a:ext uri="{FF2B5EF4-FFF2-40B4-BE49-F238E27FC236}">
                      <a16:creationId xmlns:a16="http://schemas.microsoft.com/office/drawing/2014/main" id="{A11B4413-6691-E250-F06D-22F9F19E2BC7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 348">
                  <a:extLst>
                    <a:ext uri="{FF2B5EF4-FFF2-40B4-BE49-F238E27FC236}">
                      <a16:creationId xmlns:a16="http://schemas.microsoft.com/office/drawing/2014/main" id="{6758F77D-7F0E-D029-0375-F7D19E7908F6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349">
                  <a:extLst>
                    <a:ext uri="{FF2B5EF4-FFF2-40B4-BE49-F238E27FC236}">
                      <a16:creationId xmlns:a16="http://schemas.microsoft.com/office/drawing/2014/main" id="{C4AFC482-8C07-2E48-DC41-90DBB872861F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42" name="Straight Connector 350">
                  <a:extLst>
                    <a:ext uri="{FF2B5EF4-FFF2-40B4-BE49-F238E27FC236}">
                      <a16:creationId xmlns:a16="http://schemas.microsoft.com/office/drawing/2014/main" id="{3EB1CFB6-2F08-83A5-0A69-94B748175790}"/>
                    </a:ext>
                  </a:extLst>
                </p:cNvPr>
                <p:cNvCxnSpPr>
                  <a:endCxn id="13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43" name="Straight Connector 351">
                  <a:extLst>
                    <a:ext uri="{FF2B5EF4-FFF2-40B4-BE49-F238E27FC236}">
                      <a16:creationId xmlns:a16="http://schemas.microsoft.com/office/drawing/2014/main" id="{A227AE49-A220-59D7-940D-06FB2C763EA2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32" name="Group 340">
                <a:extLst>
                  <a:ext uri="{FF2B5EF4-FFF2-40B4-BE49-F238E27FC236}">
                    <a16:creationId xmlns:a16="http://schemas.microsoft.com/office/drawing/2014/main" id="{FDC49932-EFCA-FFE3-A42A-B28BB9E7D575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33" name="Oval 341">
                  <a:extLst>
                    <a:ext uri="{FF2B5EF4-FFF2-40B4-BE49-F238E27FC236}">
                      <a16:creationId xmlns:a16="http://schemas.microsoft.com/office/drawing/2014/main" id="{D1EABA87-10E8-9FCF-D580-80E8AE50EEC5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TextBox 342">
                  <a:extLst>
                    <a:ext uri="{FF2B5EF4-FFF2-40B4-BE49-F238E27FC236}">
                      <a16:creationId xmlns:a16="http://schemas.microsoft.com/office/drawing/2014/main" id="{824576FE-DDE3-0444-1C57-622A9F50736E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2d</a:t>
                  </a:r>
                </a:p>
              </p:txBody>
            </p:sp>
          </p:grpSp>
        </p:grpSp>
        <p:grpSp>
          <p:nvGrpSpPr>
            <p:cNvPr id="97" name="Group 305">
              <a:extLst>
                <a:ext uri="{FF2B5EF4-FFF2-40B4-BE49-F238E27FC236}">
                  <a16:creationId xmlns:a16="http://schemas.microsoft.com/office/drawing/2014/main" id="{3D011726-D6A6-2319-2104-D2449520A8C6}"/>
                </a:ext>
              </a:extLst>
            </p:cNvPr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118" name="Group 327">
                <a:extLst>
                  <a:ext uri="{FF2B5EF4-FFF2-40B4-BE49-F238E27FC236}">
                    <a16:creationId xmlns:a16="http://schemas.microsoft.com/office/drawing/2014/main" id="{B587D42E-A241-D902-05D4-CBF5BCD6C9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22" name="Oval 330">
                  <a:extLst>
                    <a:ext uri="{FF2B5EF4-FFF2-40B4-BE49-F238E27FC236}">
                      <a16:creationId xmlns:a16="http://schemas.microsoft.com/office/drawing/2014/main" id="{355252FC-24AA-3593-4986-B3FD74870F2D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Rectangle 331">
                  <a:extLst>
                    <a:ext uri="{FF2B5EF4-FFF2-40B4-BE49-F238E27FC236}">
                      <a16:creationId xmlns:a16="http://schemas.microsoft.com/office/drawing/2014/main" id="{60C7457C-E9C0-3251-4189-ED685A6F1F14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Oval 332">
                  <a:extLst>
                    <a:ext uri="{FF2B5EF4-FFF2-40B4-BE49-F238E27FC236}">
                      <a16:creationId xmlns:a16="http://schemas.microsoft.com/office/drawing/2014/main" id="{AAC6AC55-7015-1B65-1688-4DBEA7B2760F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Freeform 333">
                  <a:extLst>
                    <a:ext uri="{FF2B5EF4-FFF2-40B4-BE49-F238E27FC236}">
                      <a16:creationId xmlns:a16="http://schemas.microsoft.com/office/drawing/2014/main" id="{1B77D110-9FA1-D0D4-A20A-E95ACF2067DC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Freeform 334">
                  <a:extLst>
                    <a:ext uri="{FF2B5EF4-FFF2-40B4-BE49-F238E27FC236}">
                      <a16:creationId xmlns:a16="http://schemas.microsoft.com/office/drawing/2014/main" id="{5417B7DB-2DC5-BC3C-ED85-642C7FF6003B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335">
                  <a:extLst>
                    <a:ext uri="{FF2B5EF4-FFF2-40B4-BE49-F238E27FC236}">
                      <a16:creationId xmlns:a16="http://schemas.microsoft.com/office/drawing/2014/main" id="{96D201B3-7C36-BAB8-6B06-6DC7F278BFC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336">
                  <a:extLst>
                    <a:ext uri="{FF2B5EF4-FFF2-40B4-BE49-F238E27FC236}">
                      <a16:creationId xmlns:a16="http://schemas.microsoft.com/office/drawing/2014/main" id="{267A36ED-B2BA-C6F2-F555-D924ABA39647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29" name="Straight Connector 337">
                  <a:extLst>
                    <a:ext uri="{FF2B5EF4-FFF2-40B4-BE49-F238E27FC236}">
                      <a16:creationId xmlns:a16="http://schemas.microsoft.com/office/drawing/2014/main" id="{682C6D91-1B25-C489-A47E-D554139C4EAF}"/>
                    </a:ext>
                  </a:extLst>
                </p:cNvPr>
                <p:cNvCxnSpPr>
                  <a:endCxn id="12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30" name="Straight Connector 338">
                  <a:extLst>
                    <a:ext uri="{FF2B5EF4-FFF2-40B4-BE49-F238E27FC236}">
                      <a16:creationId xmlns:a16="http://schemas.microsoft.com/office/drawing/2014/main" id="{2124A160-5C79-68E7-F918-B0D433ECEF88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19" name="Group 327">
                <a:extLst>
                  <a:ext uri="{FF2B5EF4-FFF2-40B4-BE49-F238E27FC236}">
                    <a16:creationId xmlns:a16="http://schemas.microsoft.com/office/drawing/2014/main" id="{538B6987-D5B5-B28B-AE0B-F8EC0FD97757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20" name="Oval 328">
                  <a:extLst>
                    <a:ext uri="{FF2B5EF4-FFF2-40B4-BE49-F238E27FC236}">
                      <a16:creationId xmlns:a16="http://schemas.microsoft.com/office/drawing/2014/main" id="{529490F2-4B83-E975-5995-B1CFEFE4F14D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TextBox 329">
                  <a:extLst>
                    <a:ext uri="{FF2B5EF4-FFF2-40B4-BE49-F238E27FC236}">
                      <a16:creationId xmlns:a16="http://schemas.microsoft.com/office/drawing/2014/main" id="{D43A2CED-9392-8E8A-6B23-FDAE46941977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2c</a:t>
                  </a:r>
                </a:p>
              </p:txBody>
            </p:sp>
          </p:grpSp>
        </p:grpSp>
        <p:grpSp>
          <p:nvGrpSpPr>
            <p:cNvPr id="98" name="Group 306">
              <a:extLst>
                <a:ext uri="{FF2B5EF4-FFF2-40B4-BE49-F238E27FC236}">
                  <a16:creationId xmlns:a16="http://schemas.microsoft.com/office/drawing/2014/main" id="{40F8C9DC-F13D-BCB7-9FA6-4A0CE42B5080}"/>
                </a:ext>
              </a:extLst>
            </p:cNvPr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05" name="Group 327">
                <a:extLst>
                  <a:ext uri="{FF2B5EF4-FFF2-40B4-BE49-F238E27FC236}">
                    <a16:creationId xmlns:a16="http://schemas.microsoft.com/office/drawing/2014/main" id="{9E9B54D0-5F54-6B47-C624-7F709EE67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09" name="Oval 317">
                  <a:extLst>
                    <a:ext uri="{FF2B5EF4-FFF2-40B4-BE49-F238E27FC236}">
                      <a16:creationId xmlns:a16="http://schemas.microsoft.com/office/drawing/2014/main" id="{87F571CD-2E48-AF9A-0706-3AA19E1417E3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Rectangle 318">
                  <a:extLst>
                    <a:ext uri="{FF2B5EF4-FFF2-40B4-BE49-F238E27FC236}">
                      <a16:creationId xmlns:a16="http://schemas.microsoft.com/office/drawing/2014/main" id="{9498D0A5-85CB-FF49-FF6C-0727B6CB9256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Oval 319">
                  <a:extLst>
                    <a:ext uri="{FF2B5EF4-FFF2-40B4-BE49-F238E27FC236}">
                      <a16:creationId xmlns:a16="http://schemas.microsoft.com/office/drawing/2014/main" id="{E621D33C-B818-8CCA-92B7-CEE35D6DCADB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 320">
                  <a:extLst>
                    <a:ext uri="{FF2B5EF4-FFF2-40B4-BE49-F238E27FC236}">
                      <a16:creationId xmlns:a16="http://schemas.microsoft.com/office/drawing/2014/main" id="{08C38C97-5FB0-1DB4-CC41-F3714DD69F61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Freeform 321">
                  <a:extLst>
                    <a:ext uri="{FF2B5EF4-FFF2-40B4-BE49-F238E27FC236}">
                      <a16:creationId xmlns:a16="http://schemas.microsoft.com/office/drawing/2014/main" id="{95C51664-EF8A-29A7-1331-0E30097FC942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Freeform 322">
                  <a:extLst>
                    <a:ext uri="{FF2B5EF4-FFF2-40B4-BE49-F238E27FC236}">
                      <a16:creationId xmlns:a16="http://schemas.microsoft.com/office/drawing/2014/main" id="{CE9E127C-34DA-1756-09FF-4129D4AD170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Freeform 323">
                  <a:extLst>
                    <a:ext uri="{FF2B5EF4-FFF2-40B4-BE49-F238E27FC236}">
                      <a16:creationId xmlns:a16="http://schemas.microsoft.com/office/drawing/2014/main" id="{A4DF4AF2-2081-B976-CB30-1A6BBE1A2BEF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16" name="Straight Connector 324">
                  <a:extLst>
                    <a:ext uri="{FF2B5EF4-FFF2-40B4-BE49-F238E27FC236}">
                      <a16:creationId xmlns:a16="http://schemas.microsoft.com/office/drawing/2014/main" id="{8ABE2760-2E86-C1DF-6BF9-2B3E7AF98DE3}"/>
                    </a:ext>
                  </a:extLst>
                </p:cNvPr>
                <p:cNvCxnSpPr>
                  <a:endCxn id="11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17" name="Straight Connector 325">
                  <a:extLst>
                    <a:ext uri="{FF2B5EF4-FFF2-40B4-BE49-F238E27FC236}">
                      <a16:creationId xmlns:a16="http://schemas.microsoft.com/office/drawing/2014/main" id="{45BC734A-1FB8-99BF-ED72-DA6C07BF96E1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06" name="Group 314">
                <a:extLst>
                  <a:ext uri="{FF2B5EF4-FFF2-40B4-BE49-F238E27FC236}">
                    <a16:creationId xmlns:a16="http://schemas.microsoft.com/office/drawing/2014/main" id="{1C597720-FD90-53A4-E37A-A95DC4EAD1FC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07" name="Oval 315">
                  <a:extLst>
                    <a:ext uri="{FF2B5EF4-FFF2-40B4-BE49-F238E27FC236}">
                      <a16:creationId xmlns:a16="http://schemas.microsoft.com/office/drawing/2014/main" id="{4FB284EF-52BF-C101-F26E-DA604BE7B4F6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TextBox 316">
                  <a:extLst>
                    <a:ext uri="{FF2B5EF4-FFF2-40B4-BE49-F238E27FC236}">
                      <a16:creationId xmlns:a16="http://schemas.microsoft.com/office/drawing/2014/main" id="{8A28F946-2065-36EB-001F-C2D1723FD7E5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2a</a:t>
                  </a:r>
                </a:p>
              </p:txBody>
            </p:sp>
          </p:grpSp>
        </p:grpSp>
        <p:cxnSp>
          <p:nvCxnSpPr>
            <p:cNvPr id="99" name="Straight Connector 307">
              <a:extLst>
                <a:ext uri="{FF2B5EF4-FFF2-40B4-BE49-F238E27FC236}">
                  <a16:creationId xmlns:a16="http://schemas.microsoft.com/office/drawing/2014/main" id="{46A12FD6-2461-3C35-C67D-8BD1E9F2F336}"/>
                </a:ext>
              </a:extLst>
            </p:cNvPr>
            <p:cNvCxnSpPr>
              <a:stCxn id="147" idx="2"/>
              <a:endCxn id="134" idx="0"/>
            </p:cNvCxnSpPr>
            <p:nvPr/>
          </p:nvCxnSpPr>
          <p:spPr bwMode="auto">
            <a:xfrm>
              <a:off x="1991073" y="3242684"/>
              <a:ext cx="4230" cy="851985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Straight Connector 308">
              <a:extLst>
                <a:ext uri="{FF2B5EF4-FFF2-40B4-BE49-F238E27FC236}">
                  <a16:creationId xmlns:a16="http://schemas.microsoft.com/office/drawing/2014/main" id="{4B6A1763-3CA6-DA5F-A139-5E68AF36BB4E}"/>
                </a:ext>
              </a:extLst>
            </p:cNvPr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Straight Connector 309">
              <a:extLst>
                <a:ext uri="{FF2B5EF4-FFF2-40B4-BE49-F238E27FC236}">
                  <a16:creationId xmlns:a16="http://schemas.microsoft.com/office/drawing/2014/main" id="{7449637C-5A14-7ADD-BA21-663F7FFC7166}"/>
                </a:ext>
              </a:extLst>
            </p:cNvPr>
            <p:cNvCxnSpPr>
              <a:stCxn id="148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Straight Connector 310">
              <a:extLst>
                <a:ext uri="{FF2B5EF4-FFF2-40B4-BE49-F238E27FC236}">
                  <a16:creationId xmlns:a16="http://schemas.microsoft.com/office/drawing/2014/main" id="{C3042FD1-6DC8-7DF0-956D-F6E2675C7512}"/>
                </a:ext>
              </a:extLst>
            </p:cNvPr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Straight Connector 311">
              <a:extLst>
                <a:ext uri="{FF2B5EF4-FFF2-40B4-BE49-F238E27FC236}">
                  <a16:creationId xmlns:a16="http://schemas.microsoft.com/office/drawing/2014/main" id="{39EFBE20-8CE5-820D-52F0-58406FA271C8}"/>
                </a:ext>
              </a:extLst>
            </p:cNvPr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Straight Connector 312">
              <a:extLst>
                <a:ext uri="{FF2B5EF4-FFF2-40B4-BE49-F238E27FC236}">
                  <a16:creationId xmlns:a16="http://schemas.microsoft.com/office/drawing/2014/main" id="{BC0BE0C1-B52A-44B0-BFF4-1ACE76936F69}"/>
                </a:ext>
              </a:extLst>
            </p:cNvPr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7" name="TextBox 432">
            <a:extLst>
              <a:ext uri="{FF2B5EF4-FFF2-40B4-BE49-F238E27FC236}">
                <a16:creationId xmlns:a16="http://schemas.microsoft.com/office/drawing/2014/main" id="{9A518DC5-85C9-C607-E01B-F3615D02C5EE}"/>
              </a:ext>
            </a:extLst>
          </p:cNvPr>
          <p:cNvSpPr txBox="1"/>
          <p:nvPr/>
        </p:nvSpPr>
        <p:spPr>
          <a:xfrm>
            <a:off x="5412306" y="6033232"/>
            <a:ext cx="75353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2</a:t>
            </a:r>
          </a:p>
        </p:txBody>
      </p:sp>
      <p:sp>
        <p:nvSpPr>
          <p:cNvPr id="158" name="Oval 441">
            <a:extLst>
              <a:ext uri="{FF2B5EF4-FFF2-40B4-BE49-F238E27FC236}">
                <a16:creationId xmlns:a16="http://schemas.microsoft.com/office/drawing/2014/main" id="{1A14B894-A70F-2E1B-3F52-A71CCAAB6E92}"/>
              </a:ext>
            </a:extLst>
          </p:cNvPr>
          <p:cNvSpPr/>
          <p:nvPr/>
        </p:nvSpPr>
        <p:spPr bwMode="auto">
          <a:xfrm>
            <a:off x="4461944" y="4245185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59" name="Oval 442">
            <a:extLst>
              <a:ext uri="{FF2B5EF4-FFF2-40B4-BE49-F238E27FC236}">
                <a16:creationId xmlns:a16="http://schemas.microsoft.com/office/drawing/2014/main" id="{5409CBA6-3135-94DF-484C-FB686E803B56}"/>
              </a:ext>
            </a:extLst>
          </p:cNvPr>
          <p:cNvSpPr/>
          <p:nvPr/>
        </p:nvSpPr>
        <p:spPr bwMode="auto">
          <a:xfrm>
            <a:off x="6250847" y="4243073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5281D1CD-A784-3A77-D37D-8C74BD4116C5}"/>
              </a:ext>
            </a:extLst>
          </p:cNvPr>
          <p:cNvSpPr txBox="1"/>
          <p:nvPr/>
        </p:nvSpPr>
        <p:spPr>
          <a:xfrm>
            <a:off x="5192167" y="4674657"/>
            <a:ext cx="1001568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AS3, X</a:t>
            </a:r>
          </a:p>
        </p:txBody>
      </p:sp>
      <p:cxnSp>
        <p:nvCxnSpPr>
          <p:cNvPr id="161" name="Straight Connector 431">
            <a:extLst>
              <a:ext uri="{FF2B5EF4-FFF2-40B4-BE49-F238E27FC236}">
                <a16:creationId xmlns:a16="http://schemas.microsoft.com/office/drawing/2014/main" id="{BB27FDC5-B4C8-833E-C231-FEF1097C14FA}"/>
              </a:ext>
            </a:extLst>
          </p:cNvPr>
          <p:cNvCxnSpPr>
            <a:cxnSpLocks/>
            <a:stCxn id="180" idx="2"/>
            <a:endCxn id="122" idx="7"/>
          </p:cNvCxnSpPr>
          <p:nvPr/>
        </p:nvCxnSpPr>
        <p:spPr bwMode="auto">
          <a:xfrm flipH="1" flipV="1">
            <a:off x="6863563" y="4791240"/>
            <a:ext cx="1665402" cy="75104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AEDC3631-8510-6FF1-1D92-6DEB24BCD507}"/>
              </a:ext>
            </a:extLst>
          </p:cNvPr>
          <p:cNvSpPr txBox="1"/>
          <p:nvPr/>
        </p:nvSpPr>
        <p:spPr>
          <a:xfrm rot="21004227">
            <a:off x="2780037" y="4346280"/>
            <a:ext cx="1871448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⇐ AS2, AS3, X</a:t>
            </a:r>
          </a:p>
        </p:txBody>
      </p:sp>
      <p:grpSp>
        <p:nvGrpSpPr>
          <p:cNvPr id="163" name="Group 367">
            <a:extLst>
              <a:ext uri="{FF2B5EF4-FFF2-40B4-BE49-F238E27FC236}">
                <a16:creationId xmlns:a16="http://schemas.microsoft.com/office/drawing/2014/main" id="{AD4C19A3-1457-1E75-6C26-7D143EE36CAC}"/>
              </a:ext>
            </a:extLst>
          </p:cNvPr>
          <p:cNvGrpSpPr/>
          <p:nvPr/>
        </p:nvGrpSpPr>
        <p:grpSpPr>
          <a:xfrm>
            <a:off x="8528965" y="4133411"/>
            <a:ext cx="2333625" cy="1590649"/>
            <a:chOff x="833331" y="2873352"/>
            <a:chExt cx="2333625" cy="1590649"/>
          </a:xfrm>
        </p:grpSpPr>
        <p:grpSp>
          <p:nvGrpSpPr>
            <p:cNvPr id="164" name="Group 368">
              <a:extLst>
                <a:ext uri="{FF2B5EF4-FFF2-40B4-BE49-F238E27FC236}">
                  <a16:creationId xmlns:a16="http://schemas.microsoft.com/office/drawing/2014/main" id="{DFC022D3-E690-0D4E-DAF8-BECC46DA8754}"/>
                </a:ext>
              </a:extLst>
            </p:cNvPr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213" name="Group 327">
                <a:extLst>
                  <a:ext uri="{FF2B5EF4-FFF2-40B4-BE49-F238E27FC236}">
                    <a16:creationId xmlns:a16="http://schemas.microsoft.com/office/drawing/2014/main" id="{EA64425C-0DD7-DD2D-C26A-3BCA16E496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7" name="Oval 421">
                  <a:extLst>
                    <a:ext uri="{FF2B5EF4-FFF2-40B4-BE49-F238E27FC236}">
                      <a16:creationId xmlns:a16="http://schemas.microsoft.com/office/drawing/2014/main" id="{9FD351B0-24CE-A100-3B7E-0654A4E09EC8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Rectangle 422">
                  <a:extLst>
                    <a:ext uri="{FF2B5EF4-FFF2-40B4-BE49-F238E27FC236}">
                      <a16:creationId xmlns:a16="http://schemas.microsoft.com/office/drawing/2014/main" id="{775BA6FB-4558-F7BA-088A-105F66B1F60F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Oval 423">
                  <a:extLst>
                    <a:ext uri="{FF2B5EF4-FFF2-40B4-BE49-F238E27FC236}">
                      <a16:creationId xmlns:a16="http://schemas.microsoft.com/office/drawing/2014/main" id="{273B171E-38D8-746B-7B9E-4A0967692F00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424">
                  <a:extLst>
                    <a:ext uri="{FF2B5EF4-FFF2-40B4-BE49-F238E27FC236}">
                      <a16:creationId xmlns:a16="http://schemas.microsoft.com/office/drawing/2014/main" id="{E3AA76A5-6989-574E-62B8-AF3DCF6C2EC0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425">
                  <a:extLst>
                    <a:ext uri="{FF2B5EF4-FFF2-40B4-BE49-F238E27FC236}">
                      <a16:creationId xmlns:a16="http://schemas.microsoft.com/office/drawing/2014/main" id="{5A15D259-FD70-5998-28BE-63135ABFBC0B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Freeform 426">
                  <a:extLst>
                    <a:ext uri="{FF2B5EF4-FFF2-40B4-BE49-F238E27FC236}">
                      <a16:creationId xmlns:a16="http://schemas.microsoft.com/office/drawing/2014/main" id="{183E6CE5-C80D-AB76-38A8-EC61E0FB4AFE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427">
                  <a:extLst>
                    <a:ext uri="{FF2B5EF4-FFF2-40B4-BE49-F238E27FC236}">
                      <a16:creationId xmlns:a16="http://schemas.microsoft.com/office/drawing/2014/main" id="{C7678BFD-D1B9-C7AE-1AC9-C5E36B5BAD57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24" name="Straight Connector 428">
                  <a:extLst>
                    <a:ext uri="{FF2B5EF4-FFF2-40B4-BE49-F238E27FC236}">
                      <a16:creationId xmlns:a16="http://schemas.microsoft.com/office/drawing/2014/main" id="{87DAD781-2210-CE42-3F08-6E058077B7EC}"/>
                    </a:ext>
                  </a:extLst>
                </p:cNvPr>
                <p:cNvCxnSpPr>
                  <a:endCxn id="21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25" name="Straight Connector 429">
                  <a:extLst>
                    <a:ext uri="{FF2B5EF4-FFF2-40B4-BE49-F238E27FC236}">
                      <a16:creationId xmlns:a16="http://schemas.microsoft.com/office/drawing/2014/main" id="{0EEA4451-0091-19FF-B81B-DB4964920FAD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14" name="Group 418">
                <a:extLst>
                  <a:ext uri="{FF2B5EF4-FFF2-40B4-BE49-F238E27FC236}">
                    <a16:creationId xmlns:a16="http://schemas.microsoft.com/office/drawing/2014/main" id="{6C2E8C52-7634-F698-5A19-4E6E32821174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15" name="Oval 419">
                  <a:extLst>
                    <a:ext uri="{FF2B5EF4-FFF2-40B4-BE49-F238E27FC236}">
                      <a16:creationId xmlns:a16="http://schemas.microsoft.com/office/drawing/2014/main" id="{3D897A7A-0EB5-ED61-5F6D-CDC2528888D3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TextBox 420">
                  <a:extLst>
                    <a:ext uri="{FF2B5EF4-FFF2-40B4-BE49-F238E27FC236}">
                      <a16:creationId xmlns:a16="http://schemas.microsoft.com/office/drawing/2014/main" id="{8DD0032A-74D0-E958-F5F1-1E3C91FED39A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3b</a:t>
                  </a:r>
                </a:p>
              </p:txBody>
            </p:sp>
          </p:grpSp>
        </p:grpSp>
        <p:grpSp>
          <p:nvGrpSpPr>
            <p:cNvPr id="165" name="Group 369">
              <a:extLst>
                <a:ext uri="{FF2B5EF4-FFF2-40B4-BE49-F238E27FC236}">
                  <a16:creationId xmlns:a16="http://schemas.microsoft.com/office/drawing/2014/main" id="{CDCDB4AB-C2B5-4315-E670-A86451308258}"/>
                </a:ext>
              </a:extLst>
            </p:cNvPr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200" name="Group 327">
                <a:extLst>
                  <a:ext uri="{FF2B5EF4-FFF2-40B4-BE49-F238E27FC236}">
                    <a16:creationId xmlns:a16="http://schemas.microsoft.com/office/drawing/2014/main" id="{BC9FB9C2-15DA-49E0-7792-4A80149F91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04" name="Oval 408">
                  <a:extLst>
                    <a:ext uri="{FF2B5EF4-FFF2-40B4-BE49-F238E27FC236}">
                      <a16:creationId xmlns:a16="http://schemas.microsoft.com/office/drawing/2014/main" id="{CD0601A0-0050-BBD4-1881-B929544B96B0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Rectangle 409">
                  <a:extLst>
                    <a:ext uri="{FF2B5EF4-FFF2-40B4-BE49-F238E27FC236}">
                      <a16:creationId xmlns:a16="http://schemas.microsoft.com/office/drawing/2014/main" id="{7399DAE8-B0CD-23BC-7888-5CABE6747153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Oval 410">
                  <a:extLst>
                    <a:ext uri="{FF2B5EF4-FFF2-40B4-BE49-F238E27FC236}">
                      <a16:creationId xmlns:a16="http://schemas.microsoft.com/office/drawing/2014/main" id="{0EED66CD-E601-99F6-74AB-761DDA9F42B3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411">
                  <a:extLst>
                    <a:ext uri="{FF2B5EF4-FFF2-40B4-BE49-F238E27FC236}">
                      <a16:creationId xmlns:a16="http://schemas.microsoft.com/office/drawing/2014/main" id="{1FA5B106-633B-6322-A758-7A123E55D7EC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412">
                  <a:extLst>
                    <a:ext uri="{FF2B5EF4-FFF2-40B4-BE49-F238E27FC236}">
                      <a16:creationId xmlns:a16="http://schemas.microsoft.com/office/drawing/2014/main" id="{AA20FF61-3193-12CA-43A8-73EFF92C7364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Freeform 413">
                  <a:extLst>
                    <a:ext uri="{FF2B5EF4-FFF2-40B4-BE49-F238E27FC236}">
                      <a16:creationId xmlns:a16="http://schemas.microsoft.com/office/drawing/2014/main" id="{BEFD6A98-4461-39D6-6D21-414E41BF6C6C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Freeform 414">
                  <a:extLst>
                    <a:ext uri="{FF2B5EF4-FFF2-40B4-BE49-F238E27FC236}">
                      <a16:creationId xmlns:a16="http://schemas.microsoft.com/office/drawing/2014/main" id="{75AC20BA-AF3F-0D8F-C4E2-D8EC563FF9F4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1" name="Straight Connector 415">
                  <a:extLst>
                    <a:ext uri="{FF2B5EF4-FFF2-40B4-BE49-F238E27FC236}">
                      <a16:creationId xmlns:a16="http://schemas.microsoft.com/office/drawing/2014/main" id="{4D8C9156-9896-931B-9D79-CC096E0F83E1}"/>
                    </a:ext>
                  </a:extLst>
                </p:cNvPr>
                <p:cNvCxnSpPr>
                  <a:endCxn id="20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12" name="Straight Connector 416">
                  <a:extLst>
                    <a:ext uri="{FF2B5EF4-FFF2-40B4-BE49-F238E27FC236}">
                      <a16:creationId xmlns:a16="http://schemas.microsoft.com/office/drawing/2014/main" id="{92EEBDA7-7074-248B-06BC-15B379F2B7C5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01" name="Group 405">
                <a:extLst>
                  <a:ext uri="{FF2B5EF4-FFF2-40B4-BE49-F238E27FC236}">
                    <a16:creationId xmlns:a16="http://schemas.microsoft.com/office/drawing/2014/main" id="{0DA16531-4316-F3E3-D149-A5047DD34CC4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02" name="Oval 406">
                  <a:extLst>
                    <a:ext uri="{FF2B5EF4-FFF2-40B4-BE49-F238E27FC236}">
                      <a16:creationId xmlns:a16="http://schemas.microsoft.com/office/drawing/2014/main" id="{A8986DD5-2349-68FA-9C19-134CC6352BAA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TextBox 407">
                  <a:extLst>
                    <a:ext uri="{FF2B5EF4-FFF2-40B4-BE49-F238E27FC236}">
                      <a16:creationId xmlns:a16="http://schemas.microsoft.com/office/drawing/2014/main" id="{C3A2A82A-4228-6A81-0C6D-7F35FBC61ADE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3d</a:t>
                  </a:r>
                </a:p>
              </p:txBody>
            </p:sp>
          </p:grpSp>
        </p:grpSp>
        <p:grpSp>
          <p:nvGrpSpPr>
            <p:cNvPr id="166" name="Group 370">
              <a:extLst>
                <a:ext uri="{FF2B5EF4-FFF2-40B4-BE49-F238E27FC236}">
                  <a16:creationId xmlns:a16="http://schemas.microsoft.com/office/drawing/2014/main" id="{59ACF013-9C2C-6317-2A9E-93687D56B202}"/>
                </a:ext>
              </a:extLst>
            </p:cNvPr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187" name="Group 327">
                <a:extLst>
                  <a:ext uri="{FF2B5EF4-FFF2-40B4-BE49-F238E27FC236}">
                    <a16:creationId xmlns:a16="http://schemas.microsoft.com/office/drawing/2014/main" id="{06EDBCC1-A107-B914-996E-8983A514C3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1" name="Oval 395">
                  <a:extLst>
                    <a:ext uri="{FF2B5EF4-FFF2-40B4-BE49-F238E27FC236}">
                      <a16:creationId xmlns:a16="http://schemas.microsoft.com/office/drawing/2014/main" id="{C323F9F2-C837-E728-B4DB-95FC52BE808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Rectangle 396">
                  <a:extLst>
                    <a:ext uri="{FF2B5EF4-FFF2-40B4-BE49-F238E27FC236}">
                      <a16:creationId xmlns:a16="http://schemas.microsoft.com/office/drawing/2014/main" id="{9B1FC919-DE7E-B21D-AB02-6C872D119D21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Oval 397">
                  <a:extLst>
                    <a:ext uri="{FF2B5EF4-FFF2-40B4-BE49-F238E27FC236}">
                      <a16:creationId xmlns:a16="http://schemas.microsoft.com/office/drawing/2014/main" id="{BE09BD59-5335-6840-62E5-54D6905382FC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Freeform 398">
                  <a:extLst>
                    <a:ext uri="{FF2B5EF4-FFF2-40B4-BE49-F238E27FC236}">
                      <a16:creationId xmlns:a16="http://schemas.microsoft.com/office/drawing/2014/main" id="{982267DD-B326-ED78-E231-76C0E99A3360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Freeform 399">
                  <a:extLst>
                    <a:ext uri="{FF2B5EF4-FFF2-40B4-BE49-F238E27FC236}">
                      <a16:creationId xmlns:a16="http://schemas.microsoft.com/office/drawing/2014/main" id="{C8966808-25F0-4422-9A02-F34230D5AF0E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 400">
                  <a:extLst>
                    <a:ext uri="{FF2B5EF4-FFF2-40B4-BE49-F238E27FC236}">
                      <a16:creationId xmlns:a16="http://schemas.microsoft.com/office/drawing/2014/main" id="{86933BDE-2D45-CAB5-FF32-1CCADA0228B7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 401">
                  <a:extLst>
                    <a:ext uri="{FF2B5EF4-FFF2-40B4-BE49-F238E27FC236}">
                      <a16:creationId xmlns:a16="http://schemas.microsoft.com/office/drawing/2014/main" id="{0D56C678-1578-573E-7386-DD0017FC56FE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98" name="Straight Connector 402">
                  <a:extLst>
                    <a:ext uri="{FF2B5EF4-FFF2-40B4-BE49-F238E27FC236}">
                      <a16:creationId xmlns:a16="http://schemas.microsoft.com/office/drawing/2014/main" id="{B6E999E1-A6EF-4C86-5E06-FB3312D88F59}"/>
                    </a:ext>
                  </a:extLst>
                </p:cNvPr>
                <p:cNvCxnSpPr>
                  <a:endCxn id="193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99" name="Straight Connector 403">
                  <a:extLst>
                    <a:ext uri="{FF2B5EF4-FFF2-40B4-BE49-F238E27FC236}">
                      <a16:creationId xmlns:a16="http://schemas.microsoft.com/office/drawing/2014/main" id="{6BD7630A-D587-606E-D76B-4E509601F999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88" name="Group 392">
                <a:extLst>
                  <a:ext uri="{FF2B5EF4-FFF2-40B4-BE49-F238E27FC236}">
                    <a16:creationId xmlns:a16="http://schemas.microsoft.com/office/drawing/2014/main" id="{218421F5-9B5C-E4E7-7A65-689A8031F05A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89" name="Oval 393">
                  <a:extLst>
                    <a:ext uri="{FF2B5EF4-FFF2-40B4-BE49-F238E27FC236}">
                      <a16:creationId xmlns:a16="http://schemas.microsoft.com/office/drawing/2014/main" id="{D750022E-00E3-FD0F-F2D0-FFA81CC9D2EA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TextBox 394">
                  <a:extLst>
                    <a:ext uri="{FF2B5EF4-FFF2-40B4-BE49-F238E27FC236}">
                      <a16:creationId xmlns:a16="http://schemas.microsoft.com/office/drawing/2014/main" id="{418AAFF1-74C8-D0D7-3F6B-6D699FEFB4AC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3c</a:t>
                  </a:r>
                </a:p>
              </p:txBody>
            </p:sp>
          </p:grpSp>
        </p:grpSp>
        <p:grpSp>
          <p:nvGrpSpPr>
            <p:cNvPr id="167" name="Group 371">
              <a:extLst>
                <a:ext uri="{FF2B5EF4-FFF2-40B4-BE49-F238E27FC236}">
                  <a16:creationId xmlns:a16="http://schemas.microsoft.com/office/drawing/2014/main" id="{A661702D-F050-260D-D2E6-E45A8CA4F209}"/>
                </a:ext>
              </a:extLst>
            </p:cNvPr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74" name="Group 327">
                <a:extLst>
                  <a:ext uri="{FF2B5EF4-FFF2-40B4-BE49-F238E27FC236}">
                    <a16:creationId xmlns:a16="http://schemas.microsoft.com/office/drawing/2014/main" id="{EE3588CE-C516-3DCD-B8E0-905B62D3CB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78" name="Oval 382">
                  <a:extLst>
                    <a:ext uri="{FF2B5EF4-FFF2-40B4-BE49-F238E27FC236}">
                      <a16:creationId xmlns:a16="http://schemas.microsoft.com/office/drawing/2014/main" id="{43856546-EFE9-32A3-2C3F-C2F30B6903E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Rectangle 383">
                  <a:extLst>
                    <a:ext uri="{FF2B5EF4-FFF2-40B4-BE49-F238E27FC236}">
                      <a16:creationId xmlns:a16="http://schemas.microsoft.com/office/drawing/2014/main" id="{29FD0346-1619-3079-C575-6DAFDF2687A8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Oval 384">
                  <a:extLst>
                    <a:ext uri="{FF2B5EF4-FFF2-40B4-BE49-F238E27FC236}">
                      <a16:creationId xmlns:a16="http://schemas.microsoft.com/office/drawing/2014/main" id="{9F707FDD-7D5D-544F-D28C-150F9CDA3BD6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 385">
                  <a:extLst>
                    <a:ext uri="{FF2B5EF4-FFF2-40B4-BE49-F238E27FC236}">
                      <a16:creationId xmlns:a16="http://schemas.microsoft.com/office/drawing/2014/main" id="{FD0F92A2-2144-E701-847C-51058D42A864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Freeform 386">
                  <a:extLst>
                    <a:ext uri="{FF2B5EF4-FFF2-40B4-BE49-F238E27FC236}">
                      <a16:creationId xmlns:a16="http://schemas.microsoft.com/office/drawing/2014/main" id="{F6FD2F06-7523-DF71-A83B-9D5DCF1B77CC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387">
                  <a:extLst>
                    <a:ext uri="{FF2B5EF4-FFF2-40B4-BE49-F238E27FC236}">
                      <a16:creationId xmlns:a16="http://schemas.microsoft.com/office/drawing/2014/main" id="{9B5D6CC3-5EE1-26AD-8761-116B1181AD23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 388">
                  <a:extLst>
                    <a:ext uri="{FF2B5EF4-FFF2-40B4-BE49-F238E27FC236}">
                      <a16:creationId xmlns:a16="http://schemas.microsoft.com/office/drawing/2014/main" id="{DC997C91-35A1-FA42-AC27-55CBD264E4E8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85" name="Straight Connector 389">
                  <a:extLst>
                    <a:ext uri="{FF2B5EF4-FFF2-40B4-BE49-F238E27FC236}">
                      <a16:creationId xmlns:a16="http://schemas.microsoft.com/office/drawing/2014/main" id="{1B3C6976-9E0B-F6A0-5B9F-14FC821C03AF}"/>
                    </a:ext>
                  </a:extLst>
                </p:cNvPr>
                <p:cNvCxnSpPr>
                  <a:endCxn id="18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86" name="Straight Connector 390">
                  <a:extLst>
                    <a:ext uri="{FF2B5EF4-FFF2-40B4-BE49-F238E27FC236}">
                      <a16:creationId xmlns:a16="http://schemas.microsoft.com/office/drawing/2014/main" id="{2A8693C6-9B88-F650-29B7-6C153FD7A6A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75" name="Group 379">
                <a:extLst>
                  <a:ext uri="{FF2B5EF4-FFF2-40B4-BE49-F238E27FC236}">
                    <a16:creationId xmlns:a16="http://schemas.microsoft.com/office/drawing/2014/main" id="{B59C9E2A-9B81-AA59-A618-45EA15A32CDE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76" name="Oval 380">
                  <a:extLst>
                    <a:ext uri="{FF2B5EF4-FFF2-40B4-BE49-F238E27FC236}">
                      <a16:creationId xmlns:a16="http://schemas.microsoft.com/office/drawing/2014/main" id="{21132449-64A2-0835-C03E-B569F0AA6B1B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TextBox 381">
                  <a:extLst>
                    <a:ext uri="{FF2B5EF4-FFF2-40B4-BE49-F238E27FC236}">
                      <a16:creationId xmlns:a16="http://schemas.microsoft.com/office/drawing/2014/main" id="{5B4E9D1C-AA83-258D-25AB-F7B915C80F8E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3a</a:t>
                  </a:r>
                </a:p>
              </p:txBody>
            </p:sp>
          </p:grpSp>
        </p:grpSp>
        <p:cxnSp>
          <p:nvCxnSpPr>
            <p:cNvPr id="168" name="Straight Connector 372">
              <a:extLst>
                <a:ext uri="{FF2B5EF4-FFF2-40B4-BE49-F238E27FC236}">
                  <a16:creationId xmlns:a16="http://schemas.microsoft.com/office/drawing/2014/main" id="{81C37E65-4CE9-46B0-2642-DBE7BC34B864}"/>
                </a:ext>
              </a:extLst>
            </p:cNvPr>
            <p:cNvCxnSpPr>
              <a:stCxn id="216" idx="2"/>
              <a:endCxn id="203" idx="0"/>
            </p:cNvCxnSpPr>
            <p:nvPr/>
          </p:nvCxnSpPr>
          <p:spPr bwMode="auto">
            <a:xfrm>
              <a:off x="1991073" y="3242684"/>
              <a:ext cx="4230" cy="851985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9" name="Straight Connector 373">
              <a:extLst>
                <a:ext uri="{FF2B5EF4-FFF2-40B4-BE49-F238E27FC236}">
                  <a16:creationId xmlns:a16="http://schemas.microsoft.com/office/drawing/2014/main" id="{E5A5A1E6-D81D-B0E3-172E-ECF78F22FD95}"/>
                </a:ext>
              </a:extLst>
            </p:cNvPr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0" name="Straight Connector 374">
              <a:extLst>
                <a:ext uri="{FF2B5EF4-FFF2-40B4-BE49-F238E27FC236}">
                  <a16:creationId xmlns:a16="http://schemas.microsoft.com/office/drawing/2014/main" id="{7179969D-AD35-8FBA-73D1-334C2C5754C4}"/>
                </a:ext>
              </a:extLst>
            </p:cNvPr>
            <p:cNvCxnSpPr>
              <a:stCxn id="217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1" name="Straight Connector 375">
              <a:extLst>
                <a:ext uri="{FF2B5EF4-FFF2-40B4-BE49-F238E27FC236}">
                  <a16:creationId xmlns:a16="http://schemas.microsoft.com/office/drawing/2014/main" id="{F53B1324-9FED-A5E5-9B76-B3E235028671}"/>
                </a:ext>
              </a:extLst>
            </p:cNvPr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2" name="Straight Connector 376">
              <a:extLst>
                <a:ext uri="{FF2B5EF4-FFF2-40B4-BE49-F238E27FC236}">
                  <a16:creationId xmlns:a16="http://schemas.microsoft.com/office/drawing/2014/main" id="{A9AC311D-33E9-8F38-93F6-880AF2313056}"/>
                </a:ext>
              </a:extLst>
            </p:cNvPr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3" name="Straight Connector 377">
              <a:extLst>
                <a:ext uri="{FF2B5EF4-FFF2-40B4-BE49-F238E27FC236}">
                  <a16:creationId xmlns:a16="http://schemas.microsoft.com/office/drawing/2014/main" id="{B8D54D3C-8CCC-175E-1CFF-2AEDDE0E1235}"/>
                </a:ext>
              </a:extLst>
            </p:cNvPr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6" name="TextBox 433">
            <a:extLst>
              <a:ext uri="{FF2B5EF4-FFF2-40B4-BE49-F238E27FC236}">
                <a16:creationId xmlns:a16="http://schemas.microsoft.com/office/drawing/2014/main" id="{7BA60B4A-7157-680E-5496-CC0CCFB7BCBC}"/>
              </a:ext>
            </a:extLst>
          </p:cNvPr>
          <p:cNvSpPr txBox="1"/>
          <p:nvPr/>
        </p:nvSpPr>
        <p:spPr>
          <a:xfrm>
            <a:off x="9591124" y="6026656"/>
            <a:ext cx="75353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3</a:t>
            </a:r>
          </a:p>
        </p:txBody>
      </p:sp>
      <p:sp>
        <p:nvSpPr>
          <p:cNvPr id="227" name="Oval 443">
            <a:extLst>
              <a:ext uri="{FF2B5EF4-FFF2-40B4-BE49-F238E27FC236}">
                <a16:creationId xmlns:a16="http://schemas.microsoft.com/office/drawing/2014/main" id="{1A93A922-541A-F748-37DB-395F67F678B8}"/>
              </a:ext>
            </a:extLst>
          </p:cNvPr>
          <p:cNvSpPr/>
          <p:nvPr/>
        </p:nvSpPr>
        <p:spPr bwMode="auto">
          <a:xfrm>
            <a:off x="8371225" y="4458096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28" name="Freeform 2">
            <a:extLst>
              <a:ext uri="{FF2B5EF4-FFF2-40B4-BE49-F238E27FC236}">
                <a16:creationId xmlns:a16="http://schemas.microsoft.com/office/drawing/2014/main" id="{CC0947D2-22BA-1B21-77DF-65838AF5FE4B}"/>
              </a:ext>
            </a:extLst>
          </p:cNvPr>
          <p:cNvSpPr>
            <a:spLocks/>
          </p:cNvSpPr>
          <p:nvPr/>
        </p:nvSpPr>
        <p:spPr bwMode="auto">
          <a:xfrm>
            <a:off x="9967890" y="5082495"/>
            <a:ext cx="1953645" cy="76286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 w 9959"/>
              <a:gd name="connsiteY0" fmla="*/ 5593 h 11352"/>
              <a:gd name="connsiteX1" fmla="*/ 1089 w 9959"/>
              <a:gd name="connsiteY1" fmla="*/ 469 h 11352"/>
              <a:gd name="connsiteX2" fmla="*/ 4845 w 9959"/>
              <a:gd name="connsiteY2" fmla="*/ 561 h 11352"/>
              <a:gd name="connsiteX3" fmla="*/ 8027 w 9959"/>
              <a:gd name="connsiteY3" fmla="*/ 3370 h 11352"/>
              <a:gd name="connsiteX4" fmla="*/ 9955 w 9959"/>
              <a:gd name="connsiteY4" fmla="*/ 5970 h 11352"/>
              <a:gd name="connsiteX5" fmla="*/ 8435 w 9959"/>
              <a:gd name="connsiteY5" fmla="*/ 7863 h 11352"/>
              <a:gd name="connsiteX6" fmla="*/ 5161 w 9959"/>
              <a:gd name="connsiteY6" fmla="*/ 11352 h 11352"/>
              <a:gd name="connsiteX7" fmla="*/ 2712 w 9959"/>
              <a:gd name="connsiteY7" fmla="*/ 8240 h 11352"/>
              <a:gd name="connsiteX8" fmla="*/ 1334 w 9959"/>
              <a:gd name="connsiteY8" fmla="*/ 7922 h 11352"/>
              <a:gd name="connsiteX9" fmla="*/ 4 w 9959"/>
              <a:gd name="connsiteY9" fmla="*/ 5593 h 11352"/>
              <a:gd name="connsiteX0" fmla="*/ 0 w 11223"/>
              <a:gd name="connsiteY0" fmla="*/ 3835 h 9929"/>
              <a:gd name="connsiteX1" fmla="*/ 2316 w 11223"/>
              <a:gd name="connsiteY1" fmla="*/ 342 h 9929"/>
              <a:gd name="connsiteX2" fmla="*/ 6088 w 11223"/>
              <a:gd name="connsiteY2" fmla="*/ 423 h 9929"/>
              <a:gd name="connsiteX3" fmla="*/ 9283 w 11223"/>
              <a:gd name="connsiteY3" fmla="*/ 2898 h 9929"/>
              <a:gd name="connsiteX4" fmla="*/ 11219 w 11223"/>
              <a:gd name="connsiteY4" fmla="*/ 5188 h 9929"/>
              <a:gd name="connsiteX5" fmla="*/ 9693 w 11223"/>
              <a:gd name="connsiteY5" fmla="*/ 6856 h 9929"/>
              <a:gd name="connsiteX6" fmla="*/ 6405 w 11223"/>
              <a:gd name="connsiteY6" fmla="*/ 9929 h 9929"/>
              <a:gd name="connsiteX7" fmla="*/ 3946 w 11223"/>
              <a:gd name="connsiteY7" fmla="*/ 7188 h 9929"/>
              <a:gd name="connsiteX8" fmla="*/ 2562 w 11223"/>
              <a:gd name="connsiteY8" fmla="*/ 6908 h 9929"/>
              <a:gd name="connsiteX9" fmla="*/ 0 w 11223"/>
              <a:gd name="connsiteY9" fmla="*/ 3835 h 9929"/>
              <a:gd name="connsiteX0" fmla="*/ 0 w 9999"/>
              <a:gd name="connsiteY0" fmla="*/ 3862 h 10000"/>
              <a:gd name="connsiteX1" fmla="*/ 2064 w 9999"/>
              <a:gd name="connsiteY1" fmla="*/ 344 h 10000"/>
              <a:gd name="connsiteX2" fmla="*/ 5425 w 9999"/>
              <a:gd name="connsiteY2" fmla="*/ 426 h 10000"/>
              <a:gd name="connsiteX3" fmla="*/ 8271 w 9999"/>
              <a:gd name="connsiteY3" fmla="*/ 2919 h 10000"/>
              <a:gd name="connsiteX4" fmla="*/ 9996 w 9999"/>
              <a:gd name="connsiteY4" fmla="*/ 5225 h 10000"/>
              <a:gd name="connsiteX5" fmla="*/ 8637 w 9999"/>
              <a:gd name="connsiteY5" fmla="*/ 6905 h 10000"/>
              <a:gd name="connsiteX6" fmla="*/ 5707 w 9999"/>
              <a:gd name="connsiteY6" fmla="*/ 10000 h 10000"/>
              <a:gd name="connsiteX7" fmla="*/ 2283 w 9999"/>
              <a:gd name="connsiteY7" fmla="*/ 6957 h 10000"/>
              <a:gd name="connsiteX8" fmla="*/ 0 w 9999"/>
              <a:gd name="connsiteY8" fmla="*/ 3862 h 10000"/>
              <a:gd name="connsiteX0" fmla="*/ 124 w 10124"/>
              <a:gd name="connsiteY0" fmla="*/ 3862 h 10000"/>
              <a:gd name="connsiteX1" fmla="*/ 2188 w 10124"/>
              <a:gd name="connsiteY1" fmla="*/ 344 h 10000"/>
              <a:gd name="connsiteX2" fmla="*/ 5550 w 10124"/>
              <a:gd name="connsiteY2" fmla="*/ 426 h 10000"/>
              <a:gd name="connsiteX3" fmla="*/ 8396 w 10124"/>
              <a:gd name="connsiteY3" fmla="*/ 2919 h 10000"/>
              <a:gd name="connsiteX4" fmla="*/ 10121 w 10124"/>
              <a:gd name="connsiteY4" fmla="*/ 5225 h 10000"/>
              <a:gd name="connsiteX5" fmla="*/ 8762 w 10124"/>
              <a:gd name="connsiteY5" fmla="*/ 6905 h 10000"/>
              <a:gd name="connsiteX6" fmla="*/ 5832 w 10124"/>
              <a:gd name="connsiteY6" fmla="*/ 10000 h 10000"/>
              <a:gd name="connsiteX7" fmla="*/ 124 w 10124"/>
              <a:gd name="connsiteY7" fmla="*/ 3862 h 10000"/>
              <a:gd name="connsiteX0" fmla="*/ 43 w 10045"/>
              <a:gd name="connsiteY0" fmla="*/ 3862 h 6912"/>
              <a:gd name="connsiteX1" fmla="*/ 2107 w 10045"/>
              <a:gd name="connsiteY1" fmla="*/ 344 h 6912"/>
              <a:gd name="connsiteX2" fmla="*/ 5469 w 10045"/>
              <a:gd name="connsiteY2" fmla="*/ 426 h 6912"/>
              <a:gd name="connsiteX3" fmla="*/ 8315 w 10045"/>
              <a:gd name="connsiteY3" fmla="*/ 2919 h 6912"/>
              <a:gd name="connsiteX4" fmla="*/ 10040 w 10045"/>
              <a:gd name="connsiteY4" fmla="*/ 5225 h 6912"/>
              <a:gd name="connsiteX5" fmla="*/ 8681 w 10045"/>
              <a:gd name="connsiteY5" fmla="*/ 6905 h 6912"/>
              <a:gd name="connsiteX6" fmla="*/ 3967 w 10045"/>
              <a:gd name="connsiteY6" fmla="*/ 5885 h 6912"/>
              <a:gd name="connsiteX7" fmla="*/ 43 w 10045"/>
              <a:gd name="connsiteY7" fmla="*/ 3862 h 6912"/>
              <a:gd name="connsiteX0" fmla="*/ 47 w 10004"/>
              <a:gd name="connsiteY0" fmla="*/ 5106 h 9519"/>
              <a:gd name="connsiteX1" fmla="*/ 2102 w 10004"/>
              <a:gd name="connsiteY1" fmla="*/ 17 h 9519"/>
              <a:gd name="connsiteX2" fmla="*/ 6651 w 10004"/>
              <a:gd name="connsiteY2" fmla="*/ 3484 h 9519"/>
              <a:gd name="connsiteX3" fmla="*/ 8282 w 10004"/>
              <a:gd name="connsiteY3" fmla="*/ 3742 h 9519"/>
              <a:gd name="connsiteX4" fmla="*/ 9999 w 10004"/>
              <a:gd name="connsiteY4" fmla="*/ 7078 h 9519"/>
              <a:gd name="connsiteX5" fmla="*/ 8646 w 10004"/>
              <a:gd name="connsiteY5" fmla="*/ 9509 h 9519"/>
              <a:gd name="connsiteX6" fmla="*/ 3953 w 10004"/>
              <a:gd name="connsiteY6" fmla="*/ 8033 h 9519"/>
              <a:gd name="connsiteX7" fmla="*/ 47 w 10004"/>
              <a:gd name="connsiteY7" fmla="*/ 5106 h 9519"/>
              <a:gd name="connsiteX0" fmla="*/ 43 w 9996"/>
              <a:gd name="connsiteY0" fmla="*/ 6232 h 10868"/>
              <a:gd name="connsiteX1" fmla="*/ 2097 w 9996"/>
              <a:gd name="connsiteY1" fmla="*/ 886 h 10868"/>
              <a:gd name="connsiteX2" fmla="*/ 5642 w 9996"/>
              <a:gd name="connsiteY2" fmla="*/ 385 h 10868"/>
              <a:gd name="connsiteX3" fmla="*/ 8275 w 9996"/>
              <a:gd name="connsiteY3" fmla="*/ 4799 h 10868"/>
              <a:gd name="connsiteX4" fmla="*/ 9991 w 9996"/>
              <a:gd name="connsiteY4" fmla="*/ 8304 h 10868"/>
              <a:gd name="connsiteX5" fmla="*/ 8639 w 9996"/>
              <a:gd name="connsiteY5" fmla="*/ 10857 h 10868"/>
              <a:gd name="connsiteX6" fmla="*/ 3947 w 9996"/>
              <a:gd name="connsiteY6" fmla="*/ 9307 h 10868"/>
              <a:gd name="connsiteX7" fmla="*/ 43 w 9996"/>
              <a:gd name="connsiteY7" fmla="*/ 6232 h 10868"/>
              <a:gd name="connsiteX0" fmla="*/ 43 w 10004"/>
              <a:gd name="connsiteY0" fmla="*/ 5543 h 9809"/>
              <a:gd name="connsiteX1" fmla="*/ 2098 w 10004"/>
              <a:gd name="connsiteY1" fmla="*/ 624 h 9809"/>
              <a:gd name="connsiteX2" fmla="*/ 5644 w 10004"/>
              <a:gd name="connsiteY2" fmla="*/ 163 h 9809"/>
              <a:gd name="connsiteX3" fmla="*/ 8163 w 10004"/>
              <a:gd name="connsiteY3" fmla="*/ 1492 h 9809"/>
              <a:gd name="connsiteX4" fmla="*/ 9995 w 10004"/>
              <a:gd name="connsiteY4" fmla="*/ 7450 h 9809"/>
              <a:gd name="connsiteX5" fmla="*/ 8642 w 10004"/>
              <a:gd name="connsiteY5" fmla="*/ 9799 h 9809"/>
              <a:gd name="connsiteX6" fmla="*/ 3949 w 10004"/>
              <a:gd name="connsiteY6" fmla="*/ 8373 h 9809"/>
              <a:gd name="connsiteX7" fmla="*/ 43 w 10004"/>
              <a:gd name="connsiteY7" fmla="*/ 5543 h 9809"/>
              <a:gd name="connsiteX0" fmla="*/ 43 w 8950"/>
              <a:gd name="connsiteY0" fmla="*/ 5651 h 10081"/>
              <a:gd name="connsiteX1" fmla="*/ 2097 w 8950"/>
              <a:gd name="connsiteY1" fmla="*/ 636 h 10081"/>
              <a:gd name="connsiteX2" fmla="*/ 5642 w 8950"/>
              <a:gd name="connsiteY2" fmla="*/ 166 h 10081"/>
              <a:gd name="connsiteX3" fmla="*/ 8160 w 8950"/>
              <a:gd name="connsiteY3" fmla="*/ 1521 h 10081"/>
              <a:gd name="connsiteX4" fmla="*/ 8473 w 8950"/>
              <a:gd name="connsiteY4" fmla="*/ 5322 h 10081"/>
              <a:gd name="connsiteX5" fmla="*/ 8639 w 8950"/>
              <a:gd name="connsiteY5" fmla="*/ 9990 h 10081"/>
              <a:gd name="connsiteX6" fmla="*/ 3947 w 8950"/>
              <a:gd name="connsiteY6" fmla="*/ 8536 h 10081"/>
              <a:gd name="connsiteX7" fmla="*/ 43 w 8950"/>
              <a:gd name="connsiteY7" fmla="*/ 5651 h 10081"/>
              <a:gd name="connsiteX0" fmla="*/ 48 w 9651"/>
              <a:gd name="connsiteY0" fmla="*/ 5606 h 8648"/>
              <a:gd name="connsiteX1" fmla="*/ 2343 w 9651"/>
              <a:gd name="connsiteY1" fmla="*/ 631 h 8648"/>
              <a:gd name="connsiteX2" fmla="*/ 6304 w 9651"/>
              <a:gd name="connsiteY2" fmla="*/ 165 h 8648"/>
              <a:gd name="connsiteX3" fmla="*/ 9117 w 9651"/>
              <a:gd name="connsiteY3" fmla="*/ 1509 h 8648"/>
              <a:gd name="connsiteX4" fmla="*/ 9467 w 9651"/>
              <a:gd name="connsiteY4" fmla="*/ 5279 h 8648"/>
              <a:gd name="connsiteX5" fmla="*/ 6997 w 9651"/>
              <a:gd name="connsiteY5" fmla="*/ 8019 h 8648"/>
              <a:gd name="connsiteX6" fmla="*/ 4410 w 9651"/>
              <a:gd name="connsiteY6" fmla="*/ 8467 h 8648"/>
              <a:gd name="connsiteX7" fmla="*/ 48 w 9651"/>
              <a:gd name="connsiteY7" fmla="*/ 5606 h 8648"/>
              <a:gd name="connsiteX0" fmla="*/ 41 w 9991"/>
              <a:gd name="connsiteY0" fmla="*/ 6482 h 9316"/>
              <a:gd name="connsiteX1" fmla="*/ 2419 w 9991"/>
              <a:gd name="connsiteY1" fmla="*/ 730 h 9316"/>
              <a:gd name="connsiteX2" fmla="*/ 6523 w 9991"/>
              <a:gd name="connsiteY2" fmla="*/ 191 h 9316"/>
              <a:gd name="connsiteX3" fmla="*/ 9438 w 9991"/>
              <a:gd name="connsiteY3" fmla="*/ 1745 h 9316"/>
              <a:gd name="connsiteX4" fmla="*/ 9800 w 9991"/>
              <a:gd name="connsiteY4" fmla="*/ 6104 h 9316"/>
              <a:gd name="connsiteX5" fmla="*/ 7241 w 9991"/>
              <a:gd name="connsiteY5" fmla="*/ 9273 h 9316"/>
              <a:gd name="connsiteX6" fmla="*/ 1411 w 9991"/>
              <a:gd name="connsiteY6" fmla="*/ 7856 h 9316"/>
              <a:gd name="connsiteX7" fmla="*/ 41 w 9991"/>
              <a:gd name="connsiteY7" fmla="*/ 6482 h 9316"/>
              <a:gd name="connsiteX0" fmla="*/ 19 w 10708"/>
              <a:gd name="connsiteY0" fmla="*/ 7721 h 10038"/>
              <a:gd name="connsiteX1" fmla="*/ 3129 w 10708"/>
              <a:gd name="connsiteY1" fmla="*/ 825 h 10038"/>
              <a:gd name="connsiteX2" fmla="*/ 7237 w 10708"/>
              <a:gd name="connsiteY2" fmla="*/ 246 h 10038"/>
              <a:gd name="connsiteX3" fmla="*/ 10155 w 10708"/>
              <a:gd name="connsiteY3" fmla="*/ 1914 h 10038"/>
              <a:gd name="connsiteX4" fmla="*/ 10517 w 10708"/>
              <a:gd name="connsiteY4" fmla="*/ 6593 h 10038"/>
              <a:gd name="connsiteX5" fmla="*/ 7956 w 10708"/>
              <a:gd name="connsiteY5" fmla="*/ 9995 h 10038"/>
              <a:gd name="connsiteX6" fmla="*/ 2120 w 10708"/>
              <a:gd name="connsiteY6" fmla="*/ 8474 h 10038"/>
              <a:gd name="connsiteX7" fmla="*/ 19 w 10708"/>
              <a:gd name="connsiteY7" fmla="*/ 7721 h 10038"/>
              <a:gd name="connsiteX0" fmla="*/ 359 w 11048"/>
              <a:gd name="connsiteY0" fmla="*/ 7721 h 10038"/>
              <a:gd name="connsiteX1" fmla="*/ 3469 w 11048"/>
              <a:gd name="connsiteY1" fmla="*/ 825 h 10038"/>
              <a:gd name="connsiteX2" fmla="*/ 7577 w 11048"/>
              <a:gd name="connsiteY2" fmla="*/ 246 h 10038"/>
              <a:gd name="connsiteX3" fmla="*/ 10495 w 11048"/>
              <a:gd name="connsiteY3" fmla="*/ 1914 h 10038"/>
              <a:gd name="connsiteX4" fmla="*/ 10857 w 11048"/>
              <a:gd name="connsiteY4" fmla="*/ 6593 h 10038"/>
              <a:gd name="connsiteX5" fmla="*/ 8296 w 11048"/>
              <a:gd name="connsiteY5" fmla="*/ 9995 h 10038"/>
              <a:gd name="connsiteX6" fmla="*/ 2460 w 11048"/>
              <a:gd name="connsiteY6" fmla="*/ 8474 h 10038"/>
              <a:gd name="connsiteX7" fmla="*/ 359 w 11048"/>
              <a:gd name="connsiteY7" fmla="*/ 7721 h 10038"/>
              <a:gd name="connsiteX0" fmla="*/ 359 w 11048"/>
              <a:gd name="connsiteY0" fmla="*/ 8392 h 10075"/>
              <a:gd name="connsiteX1" fmla="*/ 3469 w 11048"/>
              <a:gd name="connsiteY1" fmla="*/ 864 h 10075"/>
              <a:gd name="connsiteX2" fmla="*/ 7577 w 11048"/>
              <a:gd name="connsiteY2" fmla="*/ 285 h 10075"/>
              <a:gd name="connsiteX3" fmla="*/ 10495 w 11048"/>
              <a:gd name="connsiteY3" fmla="*/ 1953 h 10075"/>
              <a:gd name="connsiteX4" fmla="*/ 10857 w 11048"/>
              <a:gd name="connsiteY4" fmla="*/ 6632 h 10075"/>
              <a:gd name="connsiteX5" fmla="*/ 8296 w 11048"/>
              <a:gd name="connsiteY5" fmla="*/ 10034 h 10075"/>
              <a:gd name="connsiteX6" fmla="*/ 2460 w 11048"/>
              <a:gd name="connsiteY6" fmla="*/ 8513 h 10075"/>
              <a:gd name="connsiteX7" fmla="*/ 359 w 11048"/>
              <a:gd name="connsiteY7" fmla="*/ 8392 h 10075"/>
              <a:gd name="connsiteX0" fmla="*/ 371 w 11060"/>
              <a:gd name="connsiteY0" fmla="*/ 8392 h 10075"/>
              <a:gd name="connsiteX1" fmla="*/ 3481 w 11060"/>
              <a:gd name="connsiteY1" fmla="*/ 864 h 10075"/>
              <a:gd name="connsiteX2" fmla="*/ 7589 w 11060"/>
              <a:gd name="connsiteY2" fmla="*/ 285 h 10075"/>
              <a:gd name="connsiteX3" fmla="*/ 10507 w 11060"/>
              <a:gd name="connsiteY3" fmla="*/ 1953 h 10075"/>
              <a:gd name="connsiteX4" fmla="*/ 10869 w 11060"/>
              <a:gd name="connsiteY4" fmla="*/ 6632 h 10075"/>
              <a:gd name="connsiteX5" fmla="*/ 8308 w 11060"/>
              <a:gd name="connsiteY5" fmla="*/ 10034 h 10075"/>
              <a:gd name="connsiteX6" fmla="*/ 2472 w 11060"/>
              <a:gd name="connsiteY6" fmla="*/ 8513 h 10075"/>
              <a:gd name="connsiteX7" fmla="*/ 371 w 11060"/>
              <a:gd name="connsiteY7" fmla="*/ 8392 h 10075"/>
              <a:gd name="connsiteX0" fmla="*/ 54 w 10743"/>
              <a:gd name="connsiteY0" fmla="*/ 9468 h 11151"/>
              <a:gd name="connsiteX1" fmla="*/ 4027 w 10743"/>
              <a:gd name="connsiteY1" fmla="*/ 495 h 11151"/>
              <a:gd name="connsiteX2" fmla="*/ 7272 w 10743"/>
              <a:gd name="connsiteY2" fmla="*/ 1361 h 11151"/>
              <a:gd name="connsiteX3" fmla="*/ 10190 w 10743"/>
              <a:gd name="connsiteY3" fmla="*/ 3029 h 11151"/>
              <a:gd name="connsiteX4" fmla="*/ 10552 w 10743"/>
              <a:gd name="connsiteY4" fmla="*/ 7708 h 11151"/>
              <a:gd name="connsiteX5" fmla="*/ 7991 w 10743"/>
              <a:gd name="connsiteY5" fmla="*/ 11110 h 11151"/>
              <a:gd name="connsiteX6" fmla="*/ 2155 w 10743"/>
              <a:gd name="connsiteY6" fmla="*/ 9589 h 11151"/>
              <a:gd name="connsiteX7" fmla="*/ 54 w 10743"/>
              <a:gd name="connsiteY7" fmla="*/ 9468 h 11151"/>
              <a:gd name="connsiteX0" fmla="*/ 54 w 10743"/>
              <a:gd name="connsiteY0" fmla="*/ 9506 h 11189"/>
              <a:gd name="connsiteX1" fmla="*/ 4027 w 10743"/>
              <a:gd name="connsiteY1" fmla="*/ 533 h 11189"/>
              <a:gd name="connsiteX2" fmla="*/ 7272 w 10743"/>
              <a:gd name="connsiteY2" fmla="*/ 1399 h 11189"/>
              <a:gd name="connsiteX3" fmla="*/ 10190 w 10743"/>
              <a:gd name="connsiteY3" fmla="*/ 3067 h 11189"/>
              <a:gd name="connsiteX4" fmla="*/ 10552 w 10743"/>
              <a:gd name="connsiteY4" fmla="*/ 7746 h 11189"/>
              <a:gd name="connsiteX5" fmla="*/ 7991 w 10743"/>
              <a:gd name="connsiteY5" fmla="*/ 11148 h 11189"/>
              <a:gd name="connsiteX6" fmla="*/ 2155 w 10743"/>
              <a:gd name="connsiteY6" fmla="*/ 9627 h 11189"/>
              <a:gd name="connsiteX7" fmla="*/ 54 w 10743"/>
              <a:gd name="connsiteY7" fmla="*/ 9506 h 11189"/>
              <a:gd name="connsiteX0" fmla="*/ 40 w 11293"/>
              <a:gd name="connsiteY0" fmla="*/ 9082 h 11127"/>
              <a:gd name="connsiteX1" fmla="*/ 4577 w 11293"/>
              <a:gd name="connsiteY1" fmla="*/ 470 h 11127"/>
              <a:gd name="connsiteX2" fmla="*/ 7822 w 11293"/>
              <a:gd name="connsiteY2" fmla="*/ 1336 h 11127"/>
              <a:gd name="connsiteX3" fmla="*/ 10740 w 11293"/>
              <a:gd name="connsiteY3" fmla="*/ 3004 h 11127"/>
              <a:gd name="connsiteX4" fmla="*/ 11102 w 11293"/>
              <a:gd name="connsiteY4" fmla="*/ 7683 h 11127"/>
              <a:gd name="connsiteX5" fmla="*/ 8541 w 11293"/>
              <a:gd name="connsiteY5" fmla="*/ 11085 h 11127"/>
              <a:gd name="connsiteX6" fmla="*/ 2705 w 11293"/>
              <a:gd name="connsiteY6" fmla="*/ 9564 h 11127"/>
              <a:gd name="connsiteX7" fmla="*/ 40 w 11293"/>
              <a:gd name="connsiteY7" fmla="*/ 9082 h 1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3" h="11127">
                <a:moveTo>
                  <a:pt x="40" y="9082"/>
                </a:moveTo>
                <a:cubicBezTo>
                  <a:pt x="352" y="7566"/>
                  <a:pt x="3280" y="1761"/>
                  <a:pt x="4577" y="470"/>
                </a:cubicBezTo>
                <a:cubicBezTo>
                  <a:pt x="5874" y="-821"/>
                  <a:pt x="6795" y="914"/>
                  <a:pt x="7822" y="1336"/>
                </a:cubicBezTo>
                <a:cubicBezTo>
                  <a:pt x="8849" y="1758"/>
                  <a:pt x="10193" y="1947"/>
                  <a:pt x="10740" y="3004"/>
                </a:cubicBezTo>
                <a:cubicBezTo>
                  <a:pt x="11287" y="4061"/>
                  <a:pt x="11468" y="6337"/>
                  <a:pt x="11102" y="7683"/>
                </a:cubicBezTo>
                <a:cubicBezTo>
                  <a:pt x="10736" y="9030"/>
                  <a:pt x="9940" y="10771"/>
                  <a:pt x="8541" y="11085"/>
                </a:cubicBezTo>
                <a:cubicBezTo>
                  <a:pt x="7141" y="11398"/>
                  <a:pt x="4122" y="9898"/>
                  <a:pt x="2705" y="9564"/>
                </a:cubicBezTo>
                <a:cubicBezTo>
                  <a:pt x="1288" y="9230"/>
                  <a:pt x="-272" y="10598"/>
                  <a:pt x="40" y="908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29" name="Group 327">
            <a:extLst>
              <a:ext uri="{FF2B5EF4-FFF2-40B4-BE49-F238E27FC236}">
                <a16:creationId xmlns:a16="http://schemas.microsoft.com/office/drawing/2014/main" id="{CCD3A52C-3B82-7A01-3AD1-6D2EF7163A0D}"/>
              </a:ext>
            </a:extLst>
          </p:cNvPr>
          <p:cNvGrpSpPr>
            <a:grpSpLocks/>
          </p:cNvGrpSpPr>
          <p:nvPr/>
        </p:nvGrpSpPr>
        <p:grpSpPr bwMode="auto">
          <a:xfrm>
            <a:off x="10347837" y="5359835"/>
            <a:ext cx="536554" cy="263548"/>
            <a:chOff x="1871277" y="1576300"/>
            <a:chExt cx="1128371" cy="437861"/>
          </a:xfrm>
        </p:grpSpPr>
        <p:sp>
          <p:nvSpPr>
            <p:cNvPr id="230" name="Oval 1103">
              <a:extLst>
                <a:ext uri="{FF2B5EF4-FFF2-40B4-BE49-F238E27FC236}">
                  <a16:creationId xmlns:a16="http://schemas.microsoft.com/office/drawing/2014/main" id="{1B454E62-0B0E-31D0-B714-20DD58529AE6}"/>
                </a:ext>
              </a:extLst>
            </p:cNvPr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0" scaled="1"/>
              <a:tileRect/>
            </a:gradFill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31" name="Rectangle 1104">
              <a:extLst>
                <a:ext uri="{FF2B5EF4-FFF2-40B4-BE49-F238E27FC236}">
                  <a16:creationId xmlns:a16="http://schemas.microsoft.com/office/drawing/2014/main" id="{D5EFBE90-A7B6-39B6-C338-9ADB03E919FB}"/>
                </a:ext>
              </a:extLst>
            </p:cNvPr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32" name="Oval 1105">
              <a:extLst>
                <a:ext uri="{FF2B5EF4-FFF2-40B4-BE49-F238E27FC236}">
                  <a16:creationId xmlns:a16="http://schemas.microsoft.com/office/drawing/2014/main" id="{D855D742-1896-5E55-D6EE-3D6B4B769AD3}"/>
                </a:ext>
              </a:extLst>
            </p:cNvPr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33" name="Freeform 1106">
              <a:extLst>
                <a:ext uri="{FF2B5EF4-FFF2-40B4-BE49-F238E27FC236}">
                  <a16:creationId xmlns:a16="http://schemas.microsoft.com/office/drawing/2014/main" id="{3B40F37F-105B-EE5C-E0F3-1F40B0B45783}"/>
                </a:ext>
              </a:extLst>
            </p:cNvPr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34" name="Freeform 1107">
              <a:extLst>
                <a:ext uri="{FF2B5EF4-FFF2-40B4-BE49-F238E27FC236}">
                  <a16:creationId xmlns:a16="http://schemas.microsoft.com/office/drawing/2014/main" id="{B6756AF8-478B-05C0-22F5-900ECA52C075}"/>
                </a:ext>
              </a:extLst>
            </p:cNvPr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3333CC">
                <a:lumMod val="7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35" name="Freeform 1108">
              <a:extLst>
                <a:ext uri="{FF2B5EF4-FFF2-40B4-BE49-F238E27FC236}">
                  <a16:creationId xmlns:a16="http://schemas.microsoft.com/office/drawing/2014/main" id="{89696641-4481-9445-CE60-4A30AB8F3780}"/>
                </a:ext>
              </a:extLst>
            </p:cNvPr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3333CC">
                <a:lumMod val="7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36" name="Freeform 1109">
              <a:extLst>
                <a:ext uri="{FF2B5EF4-FFF2-40B4-BE49-F238E27FC236}">
                  <a16:creationId xmlns:a16="http://schemas.microsoft.com/office/drawing/2014/main" id="{CD055A63-37B2-67E2-024A-223BF393B74D}"/>
                </a:ext>
              </a:extLst>
            </p:cNvPr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3333CC">
                <a:lumMod val="75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237" name="Straight Connector 1110">
              <a:extLst>
                <a:ext uri="{FF2B5EF4-FFF2-40B4-BE49-F238E27FC236}">
                  <a16:creationId xmlns:a16="http://schemas.microsoft.com/office/drawing/2014/main" id="{8EF1A98A-0453-887A-61F7-9A5755CE8ECE}"/>
                </a:ext>
              </a:extLst>
            </p:cNvPr>
            <p:cNvCxnSpPr>
              <a:cxnSpLocks/>
              <a:endCxn id="232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238" name="Straight Connector 1111">
              <a:extLst>
                <a:ext uri="{FF2B5EF4-FFF2-40B4-BE49-F238E27FC236}">
                  <a16:creationId xmlns:a16="http://schemas.microsoft.com/office/drawing/2014/main" id="{BBED9C31-08AD-D2FD-7FBE-7C79B2B25B61}"/>
                </a:ext>
              </a:extLst>
            </p:cNvPr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</p:cxnSp>
      </p:grpSp>
      <p:cxnSp>
        <p:nvCxnSpPr>
          <p:cNvPr id="239" name="Straight Connector 1097">
            <a:extLst>
              <a:ext uri="{FF2B5EF4-FFF2-40B4-BE49-F238E27FC236}">
                <a16:creationId xmlns:a16="http://schemas.microsoft.com/office/drawing/2014/main" id="{E167A1D4-D284-FEDF-B581-910EB37954F6}"/>
              </a:ext>
            </a:extLst>
          </p:cNvPr>
          <p:cNvCxnSpPr>
            <a:cxnSpLocks/>
            <a:stCxn id="232" idx="1"/>
          </p:cNvCxnSpPr>
          <p:nvPr/>
        </p:nvCxnSpPr>
        <p:spPr bwMode="auto">
          <a:xfrm flipH="1" flipV="1">
            <a:off x="9914342" y="5506671"/>
            <a:ext cx="511851" cy="1821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0" name="Freeform 236">
            <a:extLst>
              <a:ext uri="{FF2B5EF4-FFF2-40B4-BE49-F238E27FC236}">
                <a16:creationId xmlns:a16="http://schemas.microsoft.com/office/drawing/2014/main" id="{9CBEF861-2618-E13C-4E9F-6EE0A894749C}"/>
              </a:ext>
            </a:extLst>
          </p:cNvPr>
          <p:cNvSpPr>
            <a:spLocks/>
          </p:cNvSpPr>
          <p:nvPr/>
        </p:nvSpPr>
        <p:spPr bwMode="auto">
          <a:xfrm>
            <a:off x="11161402" y="5159371"/>
            <a:ext cx="510039" cy="424312"/>
          </a:xfrm>
          <a:custGeom>
            <a:avLst/>
            <a:gdLst>
              <a:gd name="T0" fmla="*/ 113 w 1376"/>
              <a:gd name="T1" fmla="*/ 348 h 764"/>
              <a:gd name="T2" fmla="*/ 395 w 1376"/>
              <a:gd name="T3" fmla="*/ 162 h 764"/>
              <a:gd name="T4" fmla="*/ 710 w 1376"/>
              <a:gd name="T5" fmla="*/ 9 h 764"/>
              <a:gd name="T6" fmla="*/ 1160 w 1376"/>
              <a:gd name="T7" fmla="*/ 219 h 764"/>
              <a:gd name="T8" fmla="*/ 1367 w 1376"/>
              <a:gd name="T9" fmla="*/ 510 h 764"/>
              <a:gd name="T10" fmla="*/ 1103 w 1376"/>
              <a:gd name="T11" fmla="*/ 726 h 764"/>
              <a:gd name="T12" fmla="*/ 578 w 1376"/>
              <a:gd name="T13" fmla="*/ 738 h 764"/>
              <a:gd name="T14" fmla="*/ 77 w 1376"/>
              <a:gd name="T15" fmla="*/ 630 h 764"/>
              <a:gd name="T16" fmla="*/ 113 w 1376"/>
              <a:gd name="T17" fmla="*/ 348 h 7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76"/>
              <a:gd name="T28" fmla="*/ 0 h 764"/>
              <a:gd name="T29" fmla="*/ 1376 w 1376"/>
              <a:gd name="T30" fmla="*/ 764 h 76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76" h="764">
                <a:moveTo>
                  <a:pt x="113" y="348"/>
                </a:moveTo>
                <a:cubicBezTo>
                  <a:pt x="166" y="270"/>
                  <a:pt x="296" y="218"/>
                  <a:pt x="395" y="162"/>
                </a:cubicBezTo>
                <a:cubicBezTo>
                  <a:pt x="494" y="106"/>
                  <a:pt x="583" y="0"/>
                  <a:pt x="710" y="9"/>
                </a:cubicBezTo>
                <a:cubicBezTo>
                  <a:pt x="837" y="18"/>
                  <a:pt x="1051" y="136"/>
                  <a:pt x="1160" y="219"/>
                </a:cubicBezTo>
                <a:cubicBezTo>
                  <a:pt x="1269" y="302"/>
                  <a:pt x="1376" y="426"/>
                  <a:pt x="1367" y="510"/>
                </a:cubicBezTo>
                <a:cubicBezTo>
                  <a:pt x="1358" y="594"/>
                  <a:pt x="1234" y="688"/>
                  <a:pt x="1103" y="726"/>
                </a:cubicBezTo>
                <a:cubicBezTo>
                  <a:pt x="972" y="764"/>
                  <a:pt x="749" y="754"/>
                  <a:pt x="578" y="738"/>
                </a:cubicBezTo>
                <a:cubicBezTo>
                  <a:pt x="407" y="722"/>
                  <a:pt x="154" y="695"/>
                  <a:pt x="77" y="630"/>
                </a:cubicBezTo>
                <a:cubicBezTo>
                  <a:pt x="0" y="565"/>
                  <a:pt x="60" y="426"/>
                  <a:pt x="113" y="34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241" name="Straight Connector 1097">
            <a:extLst>
              <a:ext uri="{FF2B5EF4-FFF2-40B4-BE49-F238E27FC236}">
                <a16:creationId xmlns:a16="http://schemas.microsoft.com/office/drawing/2014/main" id="{FD54AE4C-7A5D-A371-4DC2-15AEE1BB7682}"/>
              </a:ext>
            </a:extLst>
          </p:cNvPr>
          <p:cNvCxnSpPr>
            <a:cxnSpLocks/>
            <a:stCxn id="242" idx="1"/>
          </p:cNvCxnSpPr>
          <p:nvPr/>
        </p:nvCxnSpPr>
        <p:spPr bwMode="auto">
          <a:xfrm flipH="1">
            <a:off x="10843600" y="5392851"/>
            <a:ext cx="402200" cy="126257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2" name="TextBox 1102">
            <a:extLst>
              <a:ext uri="{FF2B5EF4-FFF2-40B4-BE49-F238E27FC236}">
                <a16:creationId xmlns:a16="http://schemas.microsoft.com/office/drawing/2014/main" id="{964011E1-256F-DF49-7DE4-204C942C5780}"/>
              </a:ext>
            </a:extLst>
          </p:cNvPr>
          <p:cNvSpPr txBox="1"/>
          <p:nvPr/>
        </p:nvSpPr>
        <p:spPr>
          <a:xfrm>
            <a:off x="11245800" y="5208185"/>
            <a:ext cx="35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X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24CFE7D3-EDE6-AD6A-61FD-F3E2D9391137}"/>
              </a:ext>
            </a:extLst>
          </p:cNvPr>
          <p:cNvSpPr txBox="1"/>
          <p:nvPr/>
        </p:nvSpPr>
        <p:spPr>
          <a:xfrm>
            <a:off x="7132402" y="4439730"/>
            <a:ext cx="1243471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⇐ AS3, X</a:t>
            </a: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57331C97-CAA0-7598-E89E-B807E1366EE5}"/>
              </a:ext>
            </a:extLst>
          </p:cNvPr>
          <p:cNvSpPr txBox="1"/>
          <p:nvPr/>
        </p:nvSpPr>
        <p:spPr>
          <a:xfrm>
            <a:off x="8584392" y="5235579"/>
            <a:ext cx="839004" cy="335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&lt;&gt;, X</a:t>
            </a:r>
          </a:p>
        </p:txBody>
      </p:sp>
      <p:sp>
        <p:nvSpPr>
          <p:cNvPr id="245" name="Oval 443">
            <a:extLst>
              <a:ext uri="{FF2B5EF4-FFF2-40B4-BE49-F238E27FC236}">
                <a16:creationId xmlns:a16="http://schemas.microsoft.com/office/drawing/2014/main" id="{0B3B9193-72D5-3D61-D6DA-3E537290C065}"/>
              </a:ext>
            </a:extLst>
          </p:cNvPr>
          <p:cNvSpPr/>
          <p:nvPr/>
        </p:nvSpPr>
        <p:spPr bwMode="auto">
          <a:xfrm>
            <a:off x="9258885" y="5105663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246" name="Straight Connector 431">
            <a:extLst>
              <a:ext uri="{FF2B5EF4-FFF2-40B4-BE49-F238E27FC236}">
                <a16:creationId xmlns:a16="http://schemas.microsoft.com/office/drawing/2014/main" id="{0A96F471-6C04-B0FA-1C77-387B127F7541}"/>
              </a:ext>
            </a:extLst>
          </p:cNvPr>
          <p:cNvCxnSpPr>
            <a:cxnSpLocks/>
            <a:endCxn id="47" idx="3"/>
          </p:cNvCxnSpPr>
          <p:nvPr/>
        </p:nvCxnSpPr>
        <p:spPr bwMode="auto">
          <a:xfrm flipH="1">
            <a:off x="1918810" y="5586229"/>
            <a:ext cx="7517612" cy="37438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7" name="Oval 443">
            <a:extLst>
              <a:ext uri="{FF2B5EF4-FFF2-40B4-BE49-F238E27FC236}">
                <a16:creationId xmlns:a16="http://schemas.microsoft.com/office/drawing/2014/main" id="{A96F0FB3-3B53-0B23-F5C0-BA37DA1B07BD}"/>
              </a:ext>
            </a:extLst>
          </p:cNvPr>
          <p:cNvSpPr/>
          <p:nvPr/>
        </p:nvSpPr>
        <p:spPr bwMode="auto">
          <a:xfrm>
            <a:off x="1269194" y="5105663"/>
            <a:ext cx="839004" cy="816496"/>
          </a:xfrm>
          <a:prstGeom prst="ellipse">
            <a:avLst/>
          </a:prstGeom>
          <a:noFill/>
          <a:ln w="19050" cap="flat" cmpd="sng" algn="ctr">
            <a:solidFill>
              <a:srgbClr val="CC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BAFFD5C4-95E9-BE8A-74EB-1FE8BB5E3140}"/>
              </a:ext>
            </a:extLst>
          </p:cNvPr>
          <p:cNvSpPr txBox="1"/>
          <p:nvPr/>
        </p:nvSpPr>
        <p:spPr>
          <a:xfrm>
            <a:off x="5770212" y="5681470"/>
            <a:ext cx="1482203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⇐ AS3, X</a:t>
            </a: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79378518-FECC-C304-18A1-BEC3E606983B}"/>
              </a:ext>
            </a:extLst>
          </p:cNvPr>
          <p:cNvSpPr txBox="1"/>
          <p:nvPr/>
        </p:nvSpPr>
        <p:spPr>
          <a:xfrm rot="21004227">
            <a:off x="2906141" y="4933653"/>
            <a:ext cx="1873545" cy="32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⇒ AS1, AS3, X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FB1C50C9-0548-3140-402D-8E829DF8B1F6}"/>
              </a:ext>
            </a:extLst>
          </p:cNvPr>
          <p:cNvSpPr txBox="1"/>
          <p:nvPr/>
        </p:nvSpPr>
        <p:spPr>
          <a:xfrm>
            <a:off x="7895923" y="5689238"/>
            <a:ext cx="158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E4095"/>
                </a:solidFill>
              </a:rPr>
              <a:t>NEXT-HOP=3d</a:t>
            </a:r>
            <a:endParaRPr lang="zh-CN" altLang="en-US" b="1" dirty="0">
              <a:solidFill>
                <a:srgbClr val="3E4095"/>
              </a:solidFill>
            </a:endParaRPr>
          </a:p>
        </p:txBody>
      </p:sp>
      <p:cxnSp>
        <p:nvCxnSpPr>
          <p:cNvPr id="252" name="直接箭头连接符 251">
            <a:extLst>
              <a:ext uri="{FF2B5EF4-FFF2-40B4-BE49-F238E27FC236}">
                <a16:creationId xmlns:a16="http://schemas.microsoft.com/office/drawing/2014/main" id="{7AC655EB-C38C-83D8-3B4D-E6E83B344785}"/>
              </a:ext>
            </a:extLst>
          </p:cNvPr>
          <p:cNvCxnSpPr/>
          <p:nvPr/>
        </p:nvCxnSpPr>
        <p:spPr>
          <a:xfrm flipV="1">
            <a:off x="8905448" y="5462484"/>
            <a:ext cx="0" cy="270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文本框 252">
            <a:extLst>
              <a:ext uri="{FF2B5EF4-FFF2-40B4-BE49-F238E27FC236}">
                <a16:creationId xmlns:a16="http://schemas.microsoft.com/office/drawing/2014/main" id="{C9048E9B-551F-0D8D-8E15-A52D591CA22B}"/>
              </a:ext>
            </a:extLst>
          </p:cNvPr>
          <p:cNvSpPr txBox="1"/>
          <p:nvPr/>
        </p:nvSpPr>
        <p:spPr>
          <a:xfrm>
            <a:off x="7201081" y="3800972"/>
            <a:ext cx="158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E4095"/>
                </a:solidFill>
              </a:rPr>
              <a:t>NEXT-HOP=3a</a:t>
            </a:r>
            <a:endParaRPr lang="zh-CN" altLang="en-US" b="1" dirty="0">
              <a:solidFill>
                <a:srgbClr val="3E4095"/>
              </a:solidFill>
            </a:endParaRPr>
          </a:p>
        </p:txBody>
      </p:sp>
      <p:cxnSp>
        <p:nvCxnSpPr>
          <p:cNvPr id="254" name="直接箭头连接符 253">
            <a:extLst>
              <a:ext uri="{FF2B5EF4-FFF2-40B4-BE49-F238E27FC236}">
                <a16:creationId xmlns:a16="http://schemas.microsoft.com/office/drawing/2014/main" id="{BA6286CD-850A-3949-D404-3F697DD37DDE}"/>
              </a:ext>
            </a:extLst>
          </p:cNvPr>
          <p:cNvCxnSpPr>
            <a:cxnSpLocks/>
          </p:cNvCxnSpPr>
          <p:nvPr/>
        </p:nvCxnSpPr>
        <p:spPr>
          <a:xfrm>
            <a:off x="7881284" y="4114637"/>
            <a:ext cx="0" cy="31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文本框 256">
            <a:extLst>
              <a:ext uri="{FF2B5EF4-FFF2-40B4-BE49-F238E27FC236}">
                <a16:creationId xmlns:a16="http://schemas.microsoft.com/office/drawing/2014/main" id="{ED6910B8-7868-C61F-BE0B-F6063BD1F44C}"/>
              </a:ext>
            </a:extLst>
          </p:cNvPr>
          <p:cNvSpPr txBox="1"/>
          <p:nvPr/>
        </p:nvSpPr>
        <p:spPr>
          <a:xfrm>
            <a:off x="4811229" y="3267425"/>
            <a:ext cx="158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E4095"/>
                </a:solidFill>
              </a:rPr>
              <a:t>NEXT-HOP=3a</a:t>
            </a:r>
            <a:endParaRPr lang="zh-CN" altLang="en-US" b="1" dirty="0">
              <a:solidFill>
                <a:srgbClr val="3E4095"/>
              </a:solidFill>
            </a:endParaRPr>
          </a:p>
        </p:txBody>
      </p: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AA89DD93-6CCB-AEC3-7E6D-8F90DEF458E1}"/>
              </a:ext>
            </a:extLst>
          </p:cNvPr>
          <p:cNvCxnSpPr>
            <a:cxnSpLocks/>
          </p:cNvCxnSpPr>
          <p:nvPr/>
        </p:nvCxnSpPr>
        <p:spPr>
          <a:xfrm>
            <a:off x="5491432" y="3581090"/>
            <a:ext cx="0" cy="1005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文本框 259">
            <a:extLst>
              <a:ext uri="{FF2B5EF4-FFF2-40B4-BE49-F238E27FC236}">
                <a16:creationId xmlns:a16="http://schemas.microsoft.com/office/drawing/2014/main" id="{666DDE50-3790-B68E-3C58-29F34A79A247}"/>
              </a:ext>
            </a:extLst>
          </p:cNvPr>
          <p:cNvSpPr txBox="1"/>
          <p:nvPr/>
        </p:nvSpPr>
        <p:spPr>
          <a:xfrm>
            <a:off x="2853976" y="3773995"/>
            <a:ext cx="158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E4095"/>
                </a:solidFill>
              </a:rPr>
              <a:t>NEXT-HOP=2a</a:t>
            </a:r>
            <a:endParaRPr lang="zh-CN" altLang="en-US" b="1" dirty="0">
              <a:solidFill>
                <a:srgbClr val="3E4095"/>
              </a:solidFill>
            </a:endParaRPr>
          </a:p>
        </p:txBody>
      </p:sp>
      <p:cxnSp>
        <p:nvCxnSpPr>
          <p:cNvPr id="261" name="直接箭头连接符 260">
            <a:extLst>
              <a:ext uri="{FF2B5EF4-FFF2-40B4-BE49-F238E27FC236}">
                <a16:creationId xmlns:a16="http://schemas.microsoft.com/office/drawing/2014/main" id="{F3531B97-7C63-F877-6F22-69D9B3F12A2D}"/>
              </a:ext>
            </a:extLst>
          </p:cNvPr>
          <p:cNvCxnSpPr>
            <a:cxnSpLocks/>
          </p:cNvCxnSpPr>
          <p:nvPr/>
        </p:nvCxnSpPr>
        <p:spPr>
          <a:xfrm flipH="1">
            <a:off x="3525042" y="4170304"/>
            <a:ext cx="94122" cy="274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文本框 264">
            <a:extLst>
              <a:ext uri="{FF2B5EF4-FFF2-40B4-BE49-F238E27FC236}">
                <a16:creationId xmlns:a16="http://schemas.microsoft.com/office/drawing/2014/main" id="{E1E6BEEF-5AA3-B34A-9EA7-E21D94AE48D1}"/>
              </a:ext>
            </a:extLst>
          </p:cNvPr>
          <p:cNvSpPr txBox="1"/>
          <p:nvPr/>
        </p:nvSpPr>
        <p:spPr>
          <a:xfrm>
            <a:off x="6577166" y="6015190"/>
            <a:ext cx="158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E4095"/>
                </a:solidFill>
              </a:rPr>
              <a:t>NEXT-HOP=3d</a:t>
            </a:r>
            <a:endParaRPr lang="zh-CN" altLang="en-US" b="1" dirty="0">
              <a:solidFill>
                <a:srgbClr val="3E4095"/>
              </a:solidFill>
            </a:endParaRPr>
          </a:p>
        </p:txBody>
      </p:sp>
      <p:cxnSp>
        <p:nvCxnSpPr>
          <p:cNvPr id="266" name="直接箭头连接符 265">
            <a:extLst>
              <a:ext uri="{FF2B5EF4-FFF2-40B4-BE49-F238E27FC236}">
                <a16:creationId xmlns:a16="http://schemas.microsoft.com/office/drawing/2014/main" id="{18BD0A85-6376-C503-C161-B57FA4D1D4B6}"/>
              </a:ext>
            </a:extLst>
          </p:cNvPr>
          <p:cNvCxnSpPr>
            <a:cxnSpLocks/>
          </p:cNvCxnSpPr>
          <p:nvPr/>
        </p:nvCxnSpPr>
        <p:spPr>
          <a:xfrm flipH="1" flipV="1">
            <a:off x="6926094" y="5920534"/>
            <a:ext cx="396169" cy="108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文本框 267">
            <a:extLst>
              <a:ext uri="{FF2B5EF4-FFF2-40B4-BE49-F238E27FC236}">
                <a16:creationId xmlns:a16="http://schemas.microsoft.com/office/drawing/2014/main" id="{B2059F1E-8345-4B78-09F4-9F2E2A714353}"/>
              </a:ext>
            </a:extLst>
          </p:cNvPr>
          <p:cNvSpPr txBox="1"/>
          <p:nvPr/>
        </p:nvSpPr>
        <p:spPr>
          <a:xfrm>
            <a:off x="3042673" y="5814761"/>
            <a:ext cx="158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E4095"/>
                </a:solidFill>
              </a:rPr>
              <a:t>NEXT-HOP=1c</a:t>
            </a:r>
            <a:endParaRPr lang="zh-CN" altLang="en-US" b="1" dirty="0">
              <a:solidFill>
                <a:srgbClr val="3E4095"/>
              </a:solidFill>
            </a:endParaRPr>
          </a:p>
        </p:txBody>
      </p:sp>
      <p:cxnSp>
        <p:nvCxnSpPr>
          <p:cNvPr id="269" name="直接箭头连接符 268">
            <a:extLst>
              <a:ext uri="{FF2B5EF4-FFF2-40B4-BE49-F238E27FC236}">
                <a16:creationId xmlns:a16="http://schemas.microsoft.com/office/drawing/2014/main" id="{FE0B8867-51A9-0E7E-821F-F5E032DE8F5C}"/>
              </a:ext>
            </a:extLst>
          </p:cNvPr>
          <p:cNvCxnSpPr>
            <a:cxnSpLocks/>
            <a:endCxn id="249" idx="2"/>
          </p:cNvCxnSpPr>
          <p:nvPr/>
        </p:nvCxnSpPr>
        <p:spPr>
          <a:xfrm flipV="1">
            <a:off x="3787770" y="5258980"/>
            <a:ext cx="83405" cy="57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22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94195-3220-F2C9-943D-C6B08BCA0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BGP</a:t>
            </a:r>
            <a:r>
              <a:rPr lang="zh-CN" altLang="en-US" dirty="0"/>
              <a:t>路由 </a:t>
            </a:r>
            <a:r>
              <a:rPr lang="en-US" altLang="zh-CN" dirty="0"/>
              <a:t>+ OSPF</a:t>
            </a:r>
            <a:r>
              <a:rPr lang="zh-CN" altLang="en-US" dirty="0"/>
              <a:t>路由 </a:t>
            </a:r>
            <a:r>
              <a:rPr lang="en-US" altLang="zh-CN" dirty="0"/>
              <a:t>--&gt; </a:t>
            </a:r>
            <a:r>
              <a:rPr lang="zh-CN" altLang="en-US" dirty="0"/>
              <a:t>转发表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239DEB-E43A-0796-3BF7-BFFBA0088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13611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NEXT-HOP</a:t>
            </a:r>
            <a:r>
              <a:rPr lang="zh-CN" altLang="en-US" dirty="0"/>
              <a:t>路径属性：要求转发表支持递归路由查找</a:t>
            </a:r>
            <a:endParaRPr lang="en-US" altLang="zh-CN" dirty="0"/>
          </a:p>
          <a:p>
            <a:pPr>
              <a:lnSpc>
                <a:spcPct val="95000"/>
              </a:lnSpc>
            </a:pPr>
            <a:r>
              <a:rPr lang="zh-CN" altLang="en-US" dirty="0"/>
              <a:t>首先根据目的地址查找获得</a:t>
            </a:r>
            <a:r>
              <a:rPr lang="en-US" altLang="zh-CN" dirty="0"/>
              <a:t>Next-Hop</a:t>
            </a:r>
          </a:p>
          <a:p>
            <a:pPr>
              <a:lnSpc>
                <a:spcPct val="95000"/>
              </a:lnSpc>
            </a:pPr>
            <a:r>
              <a:rPr lang="zh-CN" altLang="en-US" dirty="0"/>
              <a:t>然后根据</a:t>
            </a:r>
            <a:r>
              <a:rPr lang="en-US" altLang="zh-CN" dirty="0"/>
              <a:t>Next-Hop</a:t>
            </a:r>
            <a:r>
              <a:rPr lang="zh-CN" altLang="en-US" dirty="0"/>
              <a:t>查找决定直接连接的下一跳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474FB4EA-C950-2916-AF6B-3B48DE9BA6CA}"/>
              </a:ext>
            </a:extLst>
          </p:cNvPr>
          <p:cNvGrpSpPr/>
          <p:nvPr/>
        </p:nvGrpSpPr>
        <p:grpSpPr>
          <a:xfrm>
            <a:off x="300725" y="3267425"/>
            <a:ext cx="11620810" cy="3165917"/>
            <a:chOff x="300725" y="3267425"/>
            <a:chExt cx="11620810" cy="3165917"/>
          </a:xfrm>
        </p:grpSpPr>
        <p:sp>
          <p:nvSpPr>
            <p:cNvPr id="4" name="Freeform 2">
              <a:extLst>
                <a:ext uri="{FF2B5EF4-FFF2-40B4-BE49-F238E27FC236}">
                  <a16:creationId xmlns:a16="http://schemas.microsoft.com/office/drawing/2014/main" id="{00DCB824-5374-BDEA-81AE-60E5EEAA9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128" y="3810925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4C0B788D-842F-25DE-44E6-7D1489BB0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8026" y="3967062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6A4B33F5-22DD-47EB-2255-0C262BD91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25" y="4066822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" name="Group 238">
              <a:extLst>
                <a:ext uri="{FF2B5EF4-FFF2-40B4-BE49-F238E27FC236}">
                  <a16:creationId xmlns:a16="http://schemas.microsoft.com/office/drawing/2014/main" id="{0215D800-610A-9A1E-BA4F-77B08BB77CA8}"/>
                </a:ext>
              </a:extLst>
            </p:cNvPr>
            <p:cNvGrpSpPr/>
            <p:nvPr/>
          </p:nvGrpSpPr>
          <p:grpSpPr>
            <a:xfrm>
              <a:off x="1438886" y="4217684"/>
              <a:ext cx="565150" cy="369332"/>
              <a:chOff x="1736090" y="2873352"/>
              <a:chExt cx="565150" cy="369332"/>
            </a:xfrm>
          </p:grpSpPr>
          <p:grpSp>
            <p:nvGrpSpPr>
              <p:cNvPr id="13" name="Group 327">
                <a:extLst>
                  <a:ext uri="{FF2B5EF4-FFF2-40B4-BE49-F238E27FC236}">
                    <a16:creationId xmlns:a16="http://schemas.microsoft.com/office/drawing/2014/main" id="{3D3DE022-0F58-483E-1947-5957A11364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7" name="Oval 243">
                  <a:extLst>
                    <a:ext uri="{FF2B5EF4-FFF2-40B4-BE49-F238E27FC236}">
                      <a16:creationId xmlns:a16="http://schemas.microsoft.com/office/drawing/2014/main" id="{3241CC08-C67B-AD30-CB03-C52FA3EBB809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Rectangle 244">
                  <a:extLst>
                    <a:ext uri="{FF2B5EF4-FFF2-40B4-BE49-F238E27FC236}">
                      <a16:creationId xmlns:a16="http://schemas.microsoft.com/office/drawing/2014/main" id="{7661C079-987E-D834-F58A-AD2289E67BB3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Oval 245">
                  <a:extLst>
                    <a:ext uri="{FF2B5EF4-FFF2-40B4-BE49-F238E27FC236}">
                      <a16:creationId xmlns:a16="http://schemas.microsoft.com/office/drawing/2014/main" id="{5B43A8C8-D51C-8036-63BB-270AF06EA71C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Freeform 246">
                  <a:extLst>
                    <a:ext uri="{FF2B5EF4-FFF2-40B4-BE49-F238E27FC236}">
                      <a16:creationId xmlns:a16="http://schemas.microsoft.com/office/drawing/2014/main" id="{4A7023D2-55F4-A393-5D1D-5F2FAF6BB1D6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Freeform 247">
                  <a:extLst>
                    <a:ext uri="{FF2B5EF4-FFF2-40B4-BE49-F238E27FC236}">
                      <a16:creationId xmlns:a16="http://schemas.microsoft.com/office/drawing/2014/main" id="{D8B5867B-956D-0F0E-AF3B-9ABA55CA265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Freeform 248">
                  <a:extLst>
                    <a:ext uri="{FF2B5EF4-FFF2-40B4-BE49-F238E27FC236}">
                      <a16:creationId xmlns:a16="http://schemas.microsoft.com/office/drawing/2014/main" id="{C1876F39-FCA1-DDAA-D9AB-E5EFFC6D5DDC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Freeform 249">
                  <a:extLst>
                    <a:ext uri="{FF2B5EF4-FFF2-40B4-BE49-F238E27FC236}">
                      <a16:creationId xmlns:a16="http://schemas.microsoft.com/office/drawing/2014/main" id="{E97FA9A2-F6CD-7CD4-4B98-028BDE623E8A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4" name="Straight Connector 250">
                  <a:extLst>
                    <a:ext uri="{FF2B5EF4-FFF2-40B4-BE49-F238E27FC236}">
                      <a16:creationId xmlns:a16="http://schemas.microsoft.com/office/drawing/2014/main" id="{650E0BFF-6E2E-2346-0DC6-718337B54B85}"/>
                    </a:ext>
                  </a:extLst>
                </p:cNvPr>
                <p:cNvCxnSpPr>
                  <a:endCxn id="1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5" name="Straight Connector 251">
                  <a:extLst>
                    <a:ext uri="{FF2B5EF4-FFF2-40B4-BE49-F238E27FC236}">
                      <a16:creationId xmlns:a16="http://schemas.microsoft.com/office/drawing/2014/main" id="{824AB0F4-FF1E-AA5D-3FE4-EFEF3C50257F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4" name="Group 240">
                <a:extLst>
                  <a:ext uri="{FF2B5EF4-FFF2-40B4-BE49-F238E27FC236}">
                    <a16:creationId xmlns:a16="http://schemas.microsoft.com/office/drawing/2014/main" id="{664F16B2-B546-CD8B-37A6-239A343C72FC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5" name="Oval 241">
                  <a:extLst>
                    <a:ext uri="{FF2B5EF4-FFF2-40B4-BE49-F238E27FC236}">
                      <a16:creationId xmlns:a16="http://schemas.microsoft.com/office/drawing/2014/main" id="{8378CF15-3795-1ECB-DA65-B496FF4178C7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TextBox 242">
                  <a:extLst>
                    <a:ext uri="{FF2B5EF4-FFF2-40B4-BE49-F238E27FC236}">
                      <a16:creationId xmlns:a16="http://schemas.microsoft.com/office/drawing/2014/main" id="{AB2A99A7-AB1D-96D4-8E46-9B2BD9B95857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1b</a:t>
                  </a:r>
                </a:p>
              </p:txBody>
            </p:sp>
          </p:grpSp>
        </p:grpSp>
        <p:grpSp>
          <p:nvGrpSpPr>
            <p:cNvPr id="26" name="Group 252">
              <a:extLst>
                <a:ext uri="{FF2B5EF4-FFF2-40B4-BE49-F238E27FC236}">
                  <a16:creationId xmlns:a16="http://schemas.microsoft.com/office/drawing/2014/main" id="{7CA8075D-0F19-2487-167F-DED01B64E0F7}"/>
                </a:ext>
              </a:extLst>
            </p:cNvPr>
            <p:cNvGrpSpPr/>
            <p:nvPr/>
          </p:nvGrpSpPr>
          <p:grpSpPr>
            <a:xfrm>
              <a:off x="1443116" y="5439001"/>
              <a:ext cx="565150" cy="369332"/>
              <a:chOff x="1736090" y="2873352"/>
              <a:chExt cx="565150" cy="369332"/>
            </a:xfrm>
          </p:grpSpPr>
          <p:grpSp>
            <p:nvGrpSpPr>
              <p:cNvPr id="27" name="Group 327">
                <a:extLst>
                  <a:ext uri="{FF2B5EF4-FFF2-40B4-BE49-F238E27FC236}">
                    <a16:creationId xmlns:a16="http://schemas.microsoft.com/office/drawing/2014/main" id="{7299C0B1-532F-7918-5BDE-5183922189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1" name="Oval 257">
                  <a:extLst>
                    <a:ext uri="{FF2B5EF4-FFF2-40B4-BE49-F238E27FC236}">
                      <a16:creationId xmlns:a16="http://schemas.microsoft.com/office/drawing/2014/main" id="{9A24E55A-B84F-1F80-2958-7D325B55BDEF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258">
                  <a:extLst>
                    <a:ext uri="{FF2B5EF4-FFF2-40B4-BE49-F238E27FC236}">
                      <a16:creationId xmlns:a16="http://schemas.microsoft.com/office/drawing/2014/main" id="{4BE7F480-C97D-774B-A999-E71294E9E756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259">
                  <a:extLst>
                    <a:ext uri="{FF2B5EF4-FFF2-40B4-BE49-F238E27FC236}">
                      <a16:creationId xmlns:a16="http://schemas.microsoft.com/office/drawing/2014/main" id="{C0FD7768-01FD-58BB-90D4-F8B36E7B77D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Freeform 260">
                  <a:extLst>
                    <a:ext uri="{FF2B5EF4-FFF2-40B4-BE49-F238E27FC236}">
                      <a16:creationId xmlns:a16="http://schemas.microsoft.com/office/drawing/2014/main" id="{9A5726CB-C8E2-A9DA-EFBE-5C54FDBBA8D7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Freeform 261">
                  <a:extLst>
                    <a:ext uri="{FF2B5EF4-FFF2-40B4-BE49-F238E27FC236}">
                      <a16:creationId xmlns:a16="http://schemas.microsoft.com/office/drawing/2014/main" id="{3C64C842-D904-B7D1-3CFB-E47660591C8C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262">
                  <a:extLst>
                    <a:ext uri="{FF2B5EF4-FFF2-40B4-BE49-F238E27FC236}">
                      <a16:creationId xmlns:a16="http://schemas.microsoft.com/office/drawing/2014/main" id="{D5F38DF6-2584-4172-B6C0-820116429305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Freeform 263">
                  <a:extLst>
                    <a:ext uri="{FF2B5EF4-FFF2-40B4-BE49-F238E27FC236}">
                      <a16:creationId xmlns:a16="http://schemas.microsoft.com/office/drawing/2014/main" id="{1528DE08-DAA8-5826-D57E-D54A481F80FC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264">
                  <a:extLst>
                    <a:ext uri="{FF2B5EF4-FFF2-40B4-BE49-F238E27FC236}">
                      <a16:creationId xmlns:a16="http://schemas.microsoft.com/office/drawing/2014/main" id="{8D4D65B1-B323-44AB-A38F-9AB5E6C67678}"/>
                    </a:ext>
                  </a:extLst>
                </p:cNvPr>
                <p:cNvCxnSpPr>
                  <a:endCxn id="33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9" name="Straight Connector 265">
                  <a:extLst>
                    <a:ext uri="{FF2B5EF4-FFF2-40B4-BE49-F238E27FC236}">
                      <a16:creationId xmlns:a16="http://schemas.microsoft.com/office/drawing/2014/main" id="{729C451C-8D20-9725-8359-6F21DB8C7432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8" name="Group 254">
                <a:extLst>
                  <a:ext uri="{FF2B5EF4-FFF2-40B4-BE49-F238E27FC236}">
                    <a16:creationId xmlns:a16="http://schemas.microsoft.com/office/drawing/2014/main" id="{1C1291D4-AEE4-FC80-E529-E6CEA1FC055A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9" name="Oval 255">
                  <a:extLst>
                    <a:ext uri="{FF2B5EF4-FFF2-40B4-BE49-F238E27FC236}">
                      <a16:creationId xmlns:a16="http://schemas.microsoft.com/office/drawing/2014/main" id="{D71EBE97-FCD2-472C-395F-9F8CA76FB9C7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TextBox 256">
                  <a:extLst>
                    <a:ext uri="{FF2B5EF4-FFF2-40B4-BE49-F238E27FC236}">
                      <a16:creationId xmlns:a16="http://schemas.microsoft.com/office/drawing/2014/main" id="{7F1A570A-0FF7-566F-E3A2-E43156B189EB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1d</a:t>
                  </a:r>
                </a:p>
              </p:txBody>
            </p:sp>
          </p:grpSp>
        </p:grpSp>
        <p:grpSp>
          <p:nvGrpSpPr>
            <p:cNvPr id="40" name="Group 266">
              <a:extLst>
                <a:ext uri="{FF2B5EF4-FFF2-40B4-BE49-F238E27FC236}">
                  <a16:creationId xmlns:a16="http://schemas.microsoft.com/office/drawing/2014/main" id="{A464C51F-CA76-9913-0E67-B49900B4BA93}"/>
                </a:ext>
              </a:extLst>
            </p:cNvPr>
            <p:cNvGrpSpPr/>
            <p:nvPr/>
          </p:nvGrpSpPr>
          <p:grpSpPr>
            <a:xfrm>
              <a:off x="2304602" y="4829404"/>
              <a:ext cx="565150" cy="369332"/>
              <a:chOff x="1736090" y="2873352"/>
              <a:chExt cx="565150" cy="369332"/>
            </a:xfrm>
          </p:grpSpPr>
          <p:grpSp>
            <p:nvGrpSpPr>
              <p:cNvPr id="41" name="Group 327">
                <a:extLst>
                  <a:ext uri="{FF2B5EF4-FFF2-40B4-BE49-F238E27FC236}">
                    <a16:creationId xmlns:a16="http://schemas.microsoft.com/office/drawing/2014/main" id="{90D90C1F-0D6C-40D3-EFFF-3011A5672B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45" name="Oval 271">
                  <a:extLst>
                    <a:ext uri="{FF2B5EF4-FFF2-40B4-BE49-F238E27FC236}">
                      <a16:creationId xmlns:a16="http://schemas.microsoft.com/office/drawing/2014/main" id="{D12B7989-0761-D95E-84CA-56951DF3214B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Rectangle 272">
                  <a:extLst>
                    <a:ext uri="{FF2B5EF4-FFF2-40B4-BE49-F238E27FC236}">
                      <a16:creationId xmlns:a16="http://schemas.microsoft.com/office/drawing/2014/main" id="{3C7ECCFE-ADA2-EA57-04EB-4A720F0E5A7E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Oval 273">
                  <a:extLst>
                    <a:ext uri="{FF2B5EF4-FFF2-40B4-BE49-F238E27FC236}">
                      <a16:creationId xmlns:a16="http://schemas.microsoft.com/office/drawing/2014/main" id="{BB20C41D-345F-11A3-0E54-F6AF6A9CE102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Freeform 274">
                  <a:extLst>
                    <a:ext uri="{FF2B5EF4-FFF2-40B4-BE49-F238E27FC236}">
                      <a16:creationId xmlns:a16="http://schemas.microsoft.com/office/drawing/2014/main" id="{032C95F3-15BE-A49E-50D5-41AB7C8339D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 275">
                  <a:extLst>
                    <a:ext uri="{FF2B5EF4-FFF2-40B4-BE49-F238E27FC236}">
                      <a16:creationId xmlns:a16="http://schemas.microsoft.com/office/drawing/2014/main" id="{3D384744-866F-26D9-F369-FC445CA0112F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 276">
                  <a:extLst>
                    <a:ext uri="{FF2B5EF4-FFF2-40B4-BE49-F238E27FC236}">
                      <a16:creationId xmlns:a16="http://schemas.microsoft.com/office/drawing/2014/main" id="{B81D9CF7-11ED-983B-20E6-AE3C8E33C25A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 277">
                  <a:extLst>
                    <a:ext uri="{FF2B5EF4-FFF2-40B4-BE49-F238E27FC236}">
                      <a16:creationId xmlns:a16="http://schemas.microsoft.com/office/drawing/2014/main" id="{078940BD-8889-8E12-0BFC-70E8B6545610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2" name="Straight Connector 278">
                  <a:extLst>
                    <a:ext uri="{FF2B5EF4-FFF2-40B4-BE49-F238E27FC236}">
                      <a16:creationId xmlns:a16="http://schemas.microsoft.com/office/drawing/2014/main" id="{852ECA9B-30AC-51BA-520B-309CEA38240F}"/>
                    </a:ext>
                  </a:extLst>
                </p:cNvPr>
                <p:cNvCxnSpPr>
                  <a:endCxn id="4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53" name="Straight Connector 279">
                  <a:extLst>
                    <a:ext uri="{FF2B5EF4-FFF2-40B4-BE49-F238E27FC236}">
                      <a16:creationId xmlns:a16="http://schemas.microsoft.com/office/drawing/2014/main" id="{02371B05-C609-75AE-A792-A31ED8DB0A77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42" name="Group 268">
                <a:extLst>
                  <a:ext uri="{FF2B5EF4-FFF2-40B4-BE49-F238E27FC236}">
                    <a16:creationId xmlns:a16="http://schemas.microsoft.com/office/drawing/2014/main" id="{A2AD5F93-93AE-8106-07FF-C640DAD4697D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43" name="Oval 269">
                  <a:extLst>
                    <a:ext uri="{FF2B5EF4-FFF2-40B4-BE49-F238E27FC236}">
                      <a16:creationId xmlns:a16="http://schemas.microsoft.com/office/drawing/2014/main" id="{1F7C0DB1-1F84-F695-DEDF-F5E8D145C677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TextBox 270">
                  <a:extLst>
                    <a:ext uri="{FF2B5EF4-FFF2-40B4-BE49-F238E27FC236}">
                      <a16:creationId xmlns:a16="http://schemas.microsoft.com/office/drawing/2014/main" id="{008FD3A6-7BFD-6C26-8DBB-1BEB523B2519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1c</a:t>
                  </a:r>
                </a:p>
              </p:txBody>
            </p:sp>
          </p:grpSp>
        </p:grpSp>
        <p:grpSp>
          <p:nvGrpSpPr>
            <p:cNvPr id="54" name="Group 280">
              <a:extLst>
                <a:ext uri="{FF2B5EF4-FFF2-40B4-BE49-F238E27FC236}">
                  <a16:creationId xmlns:a16="http://schemas.microsoft.com/office/drawing/2014/main" id="{D9234085-DEBB-C685-D7C9-454F472A2A3F}"/>
                </a:ext>
              </a:extLst>
            </p:cNvPr>
            <p:cNvGrpSpPr/>
            <p:nvPr/>
          </p:nvGrpSpPr>
          <p:grpSpPr>
            <a:xfrm>
              <a:off x="536127" y="4823051"/>
              <a:ext cx="565150" cy="369332"/>
              <a:chOff x="1736090" y="2873352"/>
              <a:chExt cx="565150" cy="369332"/>
            </a:xfrm>
          </p:grpSpPr>
          <p:grpSp>
            <p:nvGrpSpPr>
              <p:cNvPr id="55" name="Group 327">
                <a:extLst>
                  <a:ext uri="{FF2B5EF4-FFF2-40B4-BE49-F238E27FC236}">
                    <a16:creationId xmlns:a16="http://schemas.microsoft.com/office/drawing/2014/main" id="{EC2DC894-8AA2-FF05-BEB7-7E2D51513B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59" name="Oval 285">
                  <a:extLst>
                    <a:ext uri="{FF2B5EF4-FFF2-40B4-BE49-F238E27FC236}">
                      <a16:creationId xmlns:a16="http://schemas.microsoft.com/office/drawing/2014/main" id="{649166CC-E5AA-BBAC-07EB-16492C9AD8AF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 286">
                  <a:extLst>
                    <a:ext uri="{FF2B5EF4-FFF2-40B4-BE49-F238E27FC236}">
                      <a16:creationId xmlns:a16="http://schemas.microsoft.com/office/drawing/2014/main" id="{38DA6C50-173C-7526-4F58-E60BCDFA00FD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Oval 287">
                  <a:extLst>
                    <a:ext uri="{FF2B5EF4-FFF2-40B4-BE49-F238E27FC236}">
                      <a16:creationId xmlns:a16="http://schemas.microsoft.com/office/drawing/2014/main" id="{85E4ADC1-D311-6D13-67EF-02B42209E336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Freeform 288">
                  <a:extLst>
                    <a:ext uri="{FF2B5EF4-FFF2-40B4-BE49-F238E27FC236}">
                      <a16:creationId xmlns:a16="http://schemas.microsoft.com/office/drawing/2014/main" id="{A8735CEF-AECC-989A-2B28-9E7DF545066C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Freeform 289">
                  <a:extLst>
                    <a:ext uri="{FF2B5EF4-FFF2-40B4-BE49-F238E27FC236}">
                      <a16:creationId xmlns:a16="http://schemas.microsoft.com/office/drawing/2014/main" id="{FFF3FD89-1DAC-5E0D-BFE9-132BA3BA7F9E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Freeform 290">
                  <a:extLst>
                    <a:ext uri="{FF2B5EF4-FFF2-40B4-BE49-F238E27FC236}">
                      <a16:creationId xmlns:a16="http://schemas.microsoft.com/office/drawing/2014/main" id="{16F61CC4-B863-414F-735D-7A75B2055CA3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Freeform 291">
                  <a:extLst>
                    <a:ext uri="{FF2B5EF4-FFF2-40B4-BE49-F238E27FC236}">
                      <a16:creationId xmlns:a16="http://schemas.microsoft.com/office/drawing/2014/main" id="{F2D67CB3-80D8-0A3A-7DB4-CABA12B90950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66" name="Straight Connector 292">
                  <a:extLst>
                    <a:ext uri="{FF2B5EF4-FFF2-40B4-BE49-F238E27FC236}">
                      <a16:creationId xmlns:a16="http://schemas.microsoft.com/office/drawing/2014/main" id="{DEC1CAE1-58D6-DAE5-E798-C9B115C16AE2}"/>
                    </a:ext>
                  </a:extLst>
                </p:cNvPr>
                <p:cNvCxnSpPr>
                  <a:endCxn id="6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67" name="Straight Connector 293">
                  <a:extLst>
                    <a:ext uri="{FF2B5EF4-FFF2-40B4-BE49-F238E27FC236}">
                      <a16:creationId xmlns:a16="http://schemas.microsoft.com/office/drawing/2014/main" id="{EE1B7901-DEB1-A47D-45BC-217C18E01CDC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56" name="Group 282">
                <a:extLst>
                  <a:ext uri="{FF2B5EF4-FFF2-40B4-BE49-F238E27FC236}">
                    <a16:creationId xmlns:a16="http://schemas.microsoft.com/office/drawing/2014/main" id="{F83DC58F-DE98-4B48-91A7-967968F34ABF}"/>
                  </a:ext>
                </a:extLst>
              </p:cNvPr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57" name="Oval 283">
                  <a:extLst>
                    <a:ext uri="{FF2B5EF4-FFF2-40B4-BE49-F238E27FC236}">
                      <a16:creationId xmlns:a16="http://schemas.microsoft.com/office/drawing/2014/main" id="{B8DD36CB-5E25-0CF5-52FE-9061870702C5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TextBox 284">
                  <a:extLst>
                    <a:ext uri="{FF2B5EF4-FFF2-40B4-BE49-F238E27FC236}">
                      <a16:creationId xmlns:a16="http://schemas.microsoft.com/office/drawing/2014/main" id="{C797ACA4-05E7-A6D3-66C0-3815FD2AAF0D}"/>
                    </a:ext>
                  </a:extLst>
                </p:cNvPr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1a</a:t>
                  </a:r>
                </a:p>
              </p:txBody>
            </p:sp>
          </p:grpSp>
        </p:grpSp>
        <p:cxnSp>
          <p:nvCxnSpPr>
            <p:cNvPr id="70" name="Straight Connector 296">
              <a:extLst>
                <a:ext uri="{FF2B5EF4-FFF2-40B4-BE49-F238E27FC236}">
                  <a16:creationId xmlns:a16="http://schemas.microsoft.com/office/drawing/2014/main" id="{5ED71E95-0FAA-E88C-B4A8-EAEF0CCBD547}"/>
                </a:ext>
              </a:extLst>
            </p:cNvPr>
            <p:cNvCxnSpPr>
              <a:stCxn id="17" idx="7"/>
            </p:cNvCxnSpPr>
            <p:nvPr/>
          </p:nvCxnSpPr>
          <p:spPr bwMode="auto">
            <a:xfrm>
              <a:off x="1921504" y="4498809"/>
              <a:ext cx="480042" cy="369773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297">
              <a:extLst>
                <a:ext uri="{FF2B5EF4-FFF2-40B4-BE49-F238E27FC236}">
                  <a16:creationId xmlns:a16="http://schemas.microsoft.com/office/drawing/2014/main" id="{D0617289-0CCD-0B41-3ED3-B08921874A23}"/>
                </a:ext>
              </a:extLst>
            </p:cNvPr>
            <p:cNvCxnSpPr/>
            <p:nvPr/>
          </p:nvCxnSpPr>
          <p:spPr bwMode="auto">
            <a:xfrm>
              <a:off x="1002869" y="5130636"/>
              <a:ext cx="477927" cy="357071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298">
              <a:extLst>
                <a:ext uri="{FF2B5EF4-FFF2-40B4-BE49-F238E27FC236}">
                  <a16:creationId xmlns:a16="http://schemas.microsoft.com/office/drawing/2014/main" id="{062A1B24-0219-D474-1295-58D70EE9EBDC}"/>
                </a:ext>
              </a:extLst>
            </p:cNvPr>
            <p:cNvCxnSpPr/>
            <p:nvPr/>
          </p:nvCxnSpPr>
          <p:spPr bwMode="auto">
            <a:xfrm flipH="1">
              <a:off x="1898838" y="5127874"/>
              <a:ext cx="508002" cy="34925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299">
              <a:extLst>
                <a:ext uri="{FF2B5EF4-FFF2-40B4-BE49-F238E27FC236}">
                  <a16:creationId xmlns:a16="http://schemas.microsoft.com/office/drawing/2014/main" id="{2DF0E678-A04F-3B9A-62E8-84EC25CADDB3}"/>
                </a:ext>
              </a:extLst>
            </p:cNvPr>
            <p:cNvCxnSpPr/>
            <p:nvPr/>
          </p:nvCxnSpPr>
          <p:spPr bwMode="auto">
            <a:xfrm flipH="1">
              <a:off x="990349" y="4511278"/>
              <a:ext cx="508002" cy="349250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30">
              <a:extLst>
                <a:ext uri="{FF2B5EF4-FFF2-40B4-BE49-F238E27FC236}">
                  <a16:creationId xmlns:a16="http://schemas.microsoft.com/office/drawing/2014/main" id="{20B53184-AEF7-E2D1-73F2-4F9B238FC0E7}"/>
                </a:ext>
              </a:extLst>
            </p:cNvPr>
            <p:cNvCxnSpPr>
              <a:cxnSpLocks/>
              <a:stCxn id="91" idx="1"/>
              <a:endCxn id="47" idx="6"/>
            </p:cNvCxnSpPr>
            <p:nvPr/>
          </p:nvCxnSpPr>
          <p:spPr bwMode="auto">
            <a:xfrm flipH="1">
              <a:off x="2868164" y="4688428"/>
              <a:ext cx="1778578" cy="268542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5" name="TextBox 434">
              <a:extLst>
                <a:ext uri="{FF2B5EF4-FFF2-40B4-BE49-F238E27FC236}">
                  <a16:creationId xmlns:a16="http://schemas.microsoft.com/office/drawing/2014/main" id="{C6DE48B0-ED10-87EB-5B28-9278D1389520}"/>
                </a:ext>
              </a:extLst>
            </p:cNvPr>
            <p:cNvSpPr txBox="1"/>
            <p:nvPr/>
          </p:nvSpPr>
          <p:spPr>
            <a:xfrm>
              <a:off x="1311930" y="5954224"/>
              <a:ext cx="75353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1</a:t>
              </a:r>
            </a:p>
          </p:txBody>
        </p:sp>
        <p:sp>
          <p:nvSpPr>
            <p:cNvPr id="76" name="Oval 440">
              <a:extLst>
                <a:ext uri="{FF2B5EF4-FFF2-40B4-BE49-F238E27FC236}">
                  <a16:creationId xmlns:a16="http://schemas.microsoft.com/office/drawing/2014/main" id="{180E6403-9846-D0FF-EB7E-166C5D4CD270}"/>
                </a:ext>
              </a:extLst>
            </p:cNvPr>
            <p:cNvSpPr/>
            <p:nvPr/>
          </p:nvSpPr>
          <p:spPr bwMode="auto">
            <a:xfrm>
              <a:off x="2155492" y="4588902"/>
              <a:ext cx="839004" cy="816496"/>
            </a:xfrm>
            <a:prstGeom prst="ellips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77" name="Group 302">
              <a:extLst>
                <a:ext uri="{FF2B5EF4-FFF2-40B4-BE49-F238E27FC236}">
                  <a16:creationId xmlns:a16="http://schemas.microsoft.com/office/drawing/2014/main" id="{068D0041-5043-4A3E-CA39-1BC994B2118E}"/>
                </a:ext>
              </a:extLst>
            </p:cNvPr>
            <p:cNvGrpSpPr/>
            <p:nvPr/>
          </p:nvGrpSpPr>
          <p:grpSpPr>
            <a:xfrm>
              <a:off x="4612470" y="3898395"/>
              <a:ext cx="2333625" cy="1590649"/>
              <a:chOff x="833331" y="2873352"/>
              <a:chExt cx="2333625" cy="1590649"/>
            </a:xfrm>
          </p:grpSpPr>
          <p:grpSp>
            <p:nvGrpSpPr>
              <p:cNvPr id="78" name="Group 303">
                <a:extLst>
                  <a:ext uri="{FF2B5EF4-FFF2-40B4-BE49-F238E27FC236}">
                    <a16:creationId xmlns:a16="http://schemas.microsoft.com/office/drawing/2014/main" id="{8758564B-8232-5634-1518-43CBDBB157BA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27" name="Group 327">
                  <a:extLst>
                    <a:ext uri="{FF2B5EF4-FFF2-40B4-BE49-F238E27FC236}">
                      <a16:creationId xmlns:a16="http://schemas.microsoft.com/office/drawing/2014/main" id="{B5A703F2-DDEA-3C7F-579D-AEE4EF3E86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31" name="Oval 356">
                    <a:extLst>
                      <a:ext uri="{FF2B5EF4-FFF2-40B4-BE49-F238E27FC236}">
                        <a16:creationId xmlns:a16="http://schemas.microsoft.com/office/drawing/2014/main" id="{E6828D90-CDCA-4C06-A350-64B40958505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2" name="Rectangle 357">
                    <a:extLst>
                      <a:ext uri="{FF2B5EF4-FFF2-40B4-BE49-F238E27FC236}">
                        <a16:creationId xmlns:a16="http://schemas.microsoft.com/office/drawing/2014/main" id="{2998912D-71E9-3560-0915-5E0A13BA2FC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3" name="Oval 358">
                    <a:extLst>
                      <a:ext uri="{FF2B5EF4-FFF2-40B4-BE49-F238E27FC236}">
                        <a16:creationId xmlns:a16="http://schemas.microsoft.com/office/drawing/2014/main" id="{C618D1CA-7E3B-BF8B-81BB-8E6C4172463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4" name="Freeform 359">
                    <a:extLst>
                      <a:ext uri="{FF2B5EF4-FFF2-40B4-BE49-F238E27FC236}">
                        <a16:creationId xmlns:a16="http://schemas.microsoft.com/office/drawing/2014/main" id="{40431854-368D-B02B-F384-292F46FC4D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5" name="Freeform 360">
                    <a:extLst>
                      <a:ext uri="{FF2B5EF4-FFF2-40B4-BE49-F238E27FC236}">
                        <a16:creationId xmlns:a16="http://schemas.microsoft.com/office/drawing/2014/main" id="{0A88751C-0391-D09A-F345-970A0459EC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6" name="Freeform 361">
                    <a:extLst>
                      <a:ext uri="{FF2B5EF4-FFF2-40B4-BE49-F238E27FC236}">
                        <a16:creationId xmlns:a16="http://schemas.microsoft.com/office/drawing/2014/main" id="{0C226629-C681-5E7C-77A2-20B11EFA8C2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7" name="Freeform 362">
                    <a:extLst>
                      <a:ext uri="{FF2B5EF4-FFF2-40B4-BE49-F238E27FC236}">
                        <a16:creationId xmlns:a16="http://schemas.microsoft.com/office/drawing/2014/main" id="{041D3EA8-822E-1E8C-2EF3-BFA8579DF2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38" name="Straight Connector 363">
                    <a:extLst>
                      <a:ext uri="{FF2B5EF4-FFF2-40B4-BE49-F238E27FC236}">
                        <a16:creationId xmlns:a16="http://schemas.microsoft.com/office/drawing/2014/main" id="{7581BA52-91E7-2872-47EA-686FEE3E17E6}"/>
                      </a:ext>
                    </a:extLst>
                  </p:cNvPr>
                  <p:cNvCxnSpPr>
                    <a:endCxn id="13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139" name="Straight Connector 364">
                    <a:extLst>
                      <a:ext uri="{FF2B5EF4-FFF2-40B4-BE49-F238E27FC236}">
                        <a16:creationId xmlns:a16="http://schemas.microsoft.com/office/drawing/2014/main" id="{F4900287-F077-0F3F-3FB6-67C271E9082A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128" name="Group 353">
                  <a:extLst>
                    <a:ext uri="{FF2B5EF4-FFF2-40B4-BE49-F238E27FC236}">
                      <a16:creationId xmlns:a16="http://schemas.microsoft.com/office/drawing/2014/main" id="{225C56BF-772B-034E-BA9B-51D0947253E4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29" name="Oval 354">
                    <a:extLst>
                      <a:ext uri="{FF2B5EF4-FFF2-40B4-BE49-F238E27FC236}">
                        <a16:creationId xmlns:a16="http://schemas.microsoft.com/office/drawing/2014/main" id="{F359A031-4758-CF81-2FA3-FCFBC534569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0" name="TextBox 355">
                    <a:extLst>
                      <a:ext uri="{FF2B5EF4-FFF2-40B4-BE49-F238E27FC236}">
                        <a16:creationId xmlns:a16="http://schemas.microsoft.com/office/drawing/2014/main" id="{F0BF67BC-D266-D466-FBB7-24298B119589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2b</a:t>
                    </a:r>
                  </a:p>
                </p:txBody>
              </p:sp>
            </p:grpSp>
          </p:grpSp>
          <p:grpSp>
            <p:nvGrpSpPr>
              <p:cNvPr id="79" name="Group 304">
                <a:extLst>
                  <a:ext uri="{FF2B5EF4-FFF2-40B4-BE49-F238E27FC236}">
                    <a16:creationId xmlns:a16="http://schemas.microsoft.com/office/drawing/2014/main" id="{02C32AEC-9806-15B9-D86D-C7BE98016A41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14" name="Group 327">
                  <a:extLst>
                    <a:ext uri="{FF2B5EF4-FFF2-40B4-BE49-F238E27FC236}">
                      <a16:creationId xmlns:a16="http://schemas.microsoft.com/office/drawing/2014/main" id="{2D72073D-B865-3B3A-8A5F-764A707309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18" name="Oval 343">
                    <a:extLst>
                      <a:ext uri="{FF2B5EF4-FFF2-40B4-BE49-F238E27FC236}">
                        <a16:creationId xmlns:a16="http://schemas.microsoft.com/office/drawing/2014/main" id="{312C8096-7072-59DE-6EC9-480F1ADA72A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" name="Rectangle 344">
                    <a:extLst>
                      <a:ext uri="{FF2B5EF4-FFF2-40B4-BE49-F238E27FC236}">
                        <a16:creationId xmlns:a16="http://schemas.microsoft.com/office/drawing/2014/main" id="{564BA384-9398-37BD-C448-6DCED11C11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" name="Oval 345">
                    <a:extLst>
                      <a:ext uri="{FF2B5EF4-FFF2-40B4-BE49-F238E27FC236}">
                        <a16:creationId xmlns:a16="http://schemas.microsoft.com/office/drawing/2014/main" id="{22C61293-B201-0534-EDDA-435FC64F51D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" name="Freeform 346">
                    <a:extLst>
                      <a:ext uri="{FF2B5EF4-FFF2-40B4-BE49-F238E27FC236}">
                        <a16:creationId xmlns:a16="http://schemas.microsoft.com/office/drawing/2014/main" id="{7E0A4EF2-9690-275C-F9C2-27E62D6014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" name="Freeform 347">
                    <a:extLst>
                      <a:ext uri="{FF2B5EF4-FFF2-40B4-BE49-F238E27FC236}">
                        <a16:creationId xmlns:a16="http://schemas.microsoft.com/office/drawing/2014/main" id="{30B0B8CA-7ADC-CA3F-4EC4-BF009960B2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3" name="Freeform 348">
                    <a:extLst>
                      <a:ext uri="{FF2B5EF4-FFF2-40B4-BE49-F238E27FC236}">
                        <a16:creationId xmlns:a16="http://schemas.microsoft.com/office/drawing/2014/main" id="{D5DFF210-B6F9-691E-6C98-31AB2834FEC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4" name="Freeform 349">
                    <a:extLst>
                      <a:ext uri="{FF2B5EF4-FFF2-40B4-BE49-F238E27FC236}">
                        <a16:creationId xmlns:a16="http://schemas.microsoft.com/office/drawing/2014/main" id="{99060048-B9D2-44B5-39A4-F2610DD45A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25" name="Straight Connector 350">
                    <a:extLst>
                      <a:ext uri="{FF2B5EF4-FFF2-40B4-BE49-F238E27FC236}">
                        <a16:creationId xmlns:a16="http://schemas.microsoft.com/office/drawing/2014/main" id="{D4AA409D-AC1D-952D-7DBA-CE65484261A8}"/>
                      </a:ext>
                    </a:extLst>
                  </p:cNvPr>
                  <p:cNvCxnSpPr>
                    <a:endCxn id="12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126" name="Straight Connector 351">
                    <a:extLst>
                      <a:ext uri="{FF2B5EF4-FFF2-40B4-BE49-F238E27FC236}">
                        <a16:creationId xmlns:a16="http://schemas.microsoft.com/office/drawing/2014/main" id="{F391036D-49AF-AF1B-17F4-FF2D00A606D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115" name="Group 340">
                  <a:extLst>
                    <a:ext uri="{FF2B5EF4-FFF2-40B4-BE49-F238E27FC236}">
                      <a16:creationId xmlns:a16="http://schemas.microsoft.com/office/drawing/2014/main" id="{C754A669-6855-CAB4-0858-B0F4007ED5C9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16" name="Oval 341">
                    <a:extLst>
                      <a:ext uri="{FF2B5EF4-FFF2-40B4-BE49-F238E27FC236}">
                        <a16:creationId xmlns:a16="http://schemas.microsoft.com/office/drawing/2014/main" id="{8E565DF0-9447-4E94-1F28-52D6563D49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7" name="TextBox 342">
                    <a:extLst>
                      <a:ext uri="{FF2B5EF4-FFF2-40B4-BE49-F238E27FC236}">
                        <a16:creationId xmlns:a16="http://schemas.microsoft.com/office/drawing/2014/main" id="{186170E2-3644-648C-3585-DF5E3CB5A26C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2d</a:t>
                    </a:r>
                  </a:p>
                </p:txBody>
              </p:sp>
            </p:grpSp>
          </p:grpSp>
          <p:grpSp>
            <p:nvGrpSpPr>
              <p:cNvPr id="80" name="Group 305">
                <a:extLst>
                  <a:ext uri="{FF2B5EF4-FFF2-40B4-BE49-F238E27FC236}">
                    <a16:creationId xmlns:a16="http://schemas.microsoft.com/office/drawing/2014/main" id="{C760D341-E0CC-202C-9871-A5FB55B9CDA2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01" name="Group 327">
                  <a:extLst>
                    <a:ext uri="{FF2B5EF4-FFF2-40B4-BE49-F238E27FC236}">
                      <a16:creationId xmlns:a16="http://schemas.microsoft.com/office/drawing/2014/main" id="{A09A9060-C574-7791-6D54-BFEA158F36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05" name="Oval 330">
                    <a:extLst>
                      <a:ext uri="{FF2B5EF4-FFF2-40B4-BE49-F238E27FC236}">
                        <a16:creationId xmlns:a16="http://schemas.microsoft.com/office/drawing/2014/main" id="{AE44B753-E3A8-6540-DC6C-C220E209885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Rectangle 331">
                    <a:extLst>
                      <a:ext uri="{FF2B5EF4-FFF2-40B4-BE49-F238E27FC236}">
                        <a16:creationId xmlns:a16="http://schemas.microsoft.com/office/drawing/2014/main" id="{976A385A-70A8-4F5C-B6E1-D802CD0FBB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7" name="Oval 332">
                    <a:extLst>
                      <a:ext uri="{FF2B5EF4-FFF2-40B4-BE49-F238E27FC236}">
                        <a16:creationId xmlns:a16="http://schemas.microsoft.com/office/drawing/2014/main" id="{94310FCD-5BFD-55E1-846F-53A7BAFB922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" name="Freeform 333">
                    <a:extLst>
                      <a:ext uri="{FF2B5EF4-FFF2-40B4-BE49-F238E27FC236}">
                        <a16:creationId xmlns:a16="http://schemas.microsoft.com/office/drawing/2014/main" id="{4DF4B999-F8CA-0B90-A922-E4BE697BEB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9" name="Freeform 334">
                    <a:extLst>
                      <a:ext uri="{FF2B5EF4-FFF2-40B4-BE49-F238E27FC236}">
                        <a16:creationId xmlns:a16="http://schemas.microsoft.com/office/drawing/2014/main" id="{8422B414-D60D-28CF-DBF6-9BCA346A532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" name="Freeform 335">
                    <a:extLst>
                      <a:ext uri="{FF2B5EF4-FFF2-40B4-BE49-F238E27FC236}">
                        <a16:creationId xmlns:a16="http://schemas.microsoft.com/office/drawing/2014/main" id="{C3F4A9FF-F432-4F83-1CC7-CE3526405C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Freeform 336">
                    <a:extLst>
                      <a:ext uri="{FF2B5EF4-FFF2-40B4-BE49-F238E27FC236}">
                        <a16:creationId xmlns:a16="http://schemas.microsoft.com/office/drawing/2014/main" id="{CCAC095F-4FE5-3DF8-EA56-21972B16F53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12" name="Straight Connector 337">
                    <a:extLst>
                      <a:ext uri="{FF2B5EF4-FFF2-40B4-BE49-F238E27FC236}">
                        <a16:creationId xmlns:a16="http://schemas.microsoft.com/office/drawing/2014/main" id="{FB9EC00B-F05B-A09C-2B0D-1D9673EB9235}"/>
                      </a:ext>
                    </a:extLst>
                  </p:cNvPr>
                  <p:cNvCxnSpPr>
                    <a:endCxn id="107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113" name="Straight Connector 338">
                    <a:extLst>
                      <a:ext uri="{FF2B5EF4-FFF2-40B4-BE49-F238E27FC236}">
                        <a16:creationId xmlns:a16="http://schemas.microsoft.com/office/drawing/2014/main" id="{E03BDC3F-26DC-7F27-B5C5-6F1386D5A90E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102" name="Group 327">
                  <a:extLst>
                    <a:ext uri="{FF2B5EF4-FFF2-40B4-BE49-F238E27FC236}">
                      <a16:creationId xmlns:a16="http://schemas.microsoft.com/office/drawing/2014/main" id="{48D225BC-B10F-8428-A9A4-A324FE667F4F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103" name="Oval 328">
                    <a:extLst>
                      <a:ext uri="{FF2B5EF4-FFF2-40B4-BE49-F238E27FC236}">
                        <a16:creationId xmlns:a16="http://schemas.microsoft.com/office/drawing/2014/main" id="{E3CE5CF2-2E78-FB23-0CC6-541B5DF6BB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" name="TextBox 329">
                    <a:extLst>
                      <a:ext uri="{FF2B5EF4-FFF2-40B4-BE49-F238E27FC236}">
                        <a16:creationId xmlns:a16="http://schemas.microsoft.com/office/drawing/2014/main" id="{926A2216-207B-BF85-6749-D1D5BC801CDF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2c</a:t>
                    </a:r>
                  </a:p>
                </p:txBody>
              </p:sp>
            </p:grpSp>
          </p:grpSp>
          <p:grpSp>
            <p:nvGrpSpPr>
              <p:cNvPr id="81" name="Group 306">
                <a:extLst>
                  <a:ext uri="{FF2B5EF4-FFF2-40B4-BE49-F238E27FC236}">
                    <a16:creationId xmlns:a16="http://schemas.microsoft.com/office/drawing/2014/main" id="{23AC0C3A-17AB-E9AD-CCA7-B998C44455BA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88" name="Group 327">
                  <a:extLst>
                    <a:ext uri="{FF2B5EF4-FFF2-40B4-BE49-F238E27FC236}">
                      <a16:creationId xmlns:a16="http://schemas.microsoft.com/office/drawing/2014/main" id="{998080D5-0B66-9D76-E4BE-5DECFB4EF7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92" name="Oval 317">
                    <a:extLst>
                      <a:ext uri="{FF2B5EF4-FFF2-40B4-BE49-F238E27FC236}">
                        <a16:creationId xmlns:a16="http://schemas.microsoft.com/office/drawing/2014/main" id="{BF082C9E-D0C8-FB17-E9D7-4CCE4921CD2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Rectangle 318">
                    <a:extLst>
                      <a:ext uri="{FF2B5EF4-FFF2-40B4-BE49-F238E27FC236}">
                        <a16:creationId xmlns:a16="http://schemas.microsoft.com/office/drawing/2014/main" id="{EE6356AB-9941-E7B0-F3C1-1500EC6D04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" name="Oval 319">
                    <a:extLst>
                      <a:ext uri="{FF2B5EF4-FFF2-40B4-BE49-F238E27FC236}">
                        <a16:creationId xmlns:a16="http://schemas.microsoft.com/office/drawing/2014/main" id="{224AEF93-A5C0-8DE1-6225-28BFD0ED2162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" name="Freeform 320">
                    <a:extLst>
                      <a:ext uri="{FF2B5EF4-FFF2-40B4-BE49-F238E27FC236}">
                        <a16:creationId xmlns:a16="http://schemas.microsoft.com/office/drawing/2014/main" id="{B0098695-E922-1FD8-B888-471FB0A739E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" name="Freeform 321">
                    <a:extLst>
                      <a:ext uri="{FF2B5EF4-FFF2-40B4-BE49-F238E27FC236}">
                        <a16:creationId xmlns:a16="http://schemas.microsoft.com/office/drawing/2014/main" id="{CE985902-E36F-C983-D29A-4C66F5EE554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" name="Freeform 322">
                    <a:extLst>
                      <a:ext uri="{FF2B5EF4-FFF2-40B4-BE49-F238E27FC236}">
                        <a16:creationId xmlns:a16="http://schemas.microsoft.com/office/drawing/2014/main" id="{5B505DB4-10BD-0CFD-9CF8-9ED5B0A2ADE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" name="Freeform 323">
                    <a:extLst>
                      <a:ext uri="{FF2B5EF4-FFF2-40B4-BE49-F238E27FC236}">
                        <a16:creationId xmlns:a16="http://schemas.microsoft.com/office/drawing/2014/main" id="{F3C5FD64-49AA-0CF4-1DD6-630C03EFE1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9" name="Straight Connector 324">
                    <a:extLst>
                      <a:ext uri="{FF2B5EF4-FFF2-40B4-BE49-F238E27FC236}">
                        <a16:creationId xmlns:a16="http://schemas.microsoft.com/office/drawing/2014/main" id="{30160380-AF06-D2C4-50A5-FCB8097776CC}"/>
                      </a:ext>
                    </a:extLst>
                  </p:cNvPr>
                  <p:cNvCxnSpPr>
                    <a:endCxn id="9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100" name="Straight Connector 325">
                    <a:extLst>
                      <a:ext uri="{FF2B5EF4-FFF2-40B4-BE49-F238E27FC236}">
                        <a16:creationId xmlns:a16="http://schemas.microsoft.com/office/drawing/2014/main" id="{C0D46EE8-34B1-3A59-7656-55B8AC3A5FC7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89" name="Group 314">
                  <a:extLst>
                    <a:ext uri="{FF2B5EF4-FFF2-40B4-BE49-F238E27FC236}">
                      <a16:creationId xmlns:a16="http://schemas.microsoft.com/office/drawing/2014/main" id="{170D0568-CE18-8E69-2DFB-208892AC5C5D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90" name="Oval 315">
                    <a:extLst>
                      <a:ext uri="{FF2B5EF4-FFF2-40B4-BE49-F238E27FC236}">
                        <a16:creationId xmlns:a16="http://schemas.microsoft.com/office/drawing/2014/main" id="{F9489A58-9BFC-D1AE-ABEF-21BD620137D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" name="TextBox 316">
                    <a:extLst>
                      <a:ext uri="{FF2B5EF4-FFF2-40B4-BE49-F238E27FC236}">
                        <a16:creationId xmlns:a16="http://schemas.microsoft.com/office/drawing/2014/main" id="{2CA95BCE-AD4B-51E3-DD6B-A670ECEFAA51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2a</a:t>
                    </a:r>
                  </a:p>
                </p:txBody>
              </p:sp>
            </p:grpSp>
          </p:grpSp>
          <p:cxnSp>
            <p:nvCxnSpPr>
              <p:cNvPr id="82" name="Straight Connector 307">
                <a:extLst>
                  <a:ext uri="{FF2B5EF4-FFF2-40B4-BE49-F238E27FC236}">
                    <a16:creationId xmlns:a16="http://schemas.microsoft.com/office/drawing/2014/main" id="{176FB065-9085-1AC3-1232-B65E873DBF9F}"/>
                  </a:ext>
                </a:extLst>
              </p:cNvPr>
              <p:cNvCxnSpPr>
                <a:stCxn id="130" idx="2"/>
                <a:endCxn id="117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3" name="Straight Connector 308">
                <a:extLst>
                  <a:ext uri="{FF2B5EF4-FFF2-40B4-BE49-F238E27FC236}">
                    <a16:creationId xmlns:a16="http://schemas.microsoft.com/office/drawing/2014/main" id="{2D1C3FE9-E71B-8961-3126-CC8CFA75A10A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4" name="Straight Connector 309">
                <a:extLst>
                  <a:ext uri="{FF2B5EF4-FFF2-40B4-BE49-F238E27FC236}">
                    <a16:creationId xmlns:a16="http://schemas.microsoft.com/office/drawing/2014/main" id="{B6930F49-0D38-923C-6209-2AB0E1CDB7F2}"/>
                  </a:ext>
                </a:extLst>
              </p:cNvPr>
              <p:cNvCxnSpPr>
                <a:stCxn id="131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5" name="Straight Connector 310">
                <a:extLst>
                  <a:ext uri="{FF2B5EF4-FFF2-40B4-BE49-F238E27FC236}">
                    <a16:creationId xmlns:a16="http://schemas.microsoft.com/office/drawing/2014/main" id="{637386D2-5380-208C-3D2A-4CB44BA24F4B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" name="Straight Connector 311">
                <a:extLst>
                  <a:ext uri="{FF2B5EF4-FFF2-40B4-BE49-F238E27FC236}">
                    <a16:creationId xmlns:a16="http://schemas.microsoft.com/office/drawing/2014/main" id="{3D1BDE5B-14BD-1F6A-BBD0-59289E5DC646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7" name="Straight Connector 312">
                <a:extLst>
                  <a:ext uri="{FF2B5EF4-FFF2-40B4-BE49-F238E27FC236}">
                    <a16:creationId xmlns:a16="http://schemas.microsoft.com/office/drawing/2014/main" id="{D7521687-C935-D5A2-F63F-E3BF8042DC77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40" name="TextBox 432">
              <a:extLst>
                <a:ext uri="{FF2B5EF4-FFF2-40B4-BE49-F238E27FC236}">
                  <a16:creationId xmlns:a16="http://schemas.microsoft.com/office/drawing/2014/main" id="{864DD53B-F8F9-AAE1-825E-18CEF172DEA9}"/>
                </a:ext>
              </a:extLst>
            </p:cNvPr>
            <p:cNvSpPr txBox="1"/>
            <p:nvPr/>
          </p:nvSpPr>
          <p:spPr>
            <a:xfrm>
              <a:off x="5412306" y="6033232"/>
              <a:ext cx="75353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2</a:t>
              </a:r>
            </a:p>
          </p:txBody>
        </p:sp>
        <p:sp>
          <p:nvSpPr>
            <p:cNvPr id="141" name="Oval 441">
              <a:extLst>
                <a:ext uri="{FF2B5EF4-FFF2-40B4-BE49-F238E27FC236}">
                  <a16:creationId xmlns:a16="http://schemas.microsoft.com/office/drawing/2014/main" id="{FEAB7E9D-03DE-09E5-70A4-CDBCCFBADD7B}"/>
                </a:ext>
              </a:extLst>
            </p:cNvPr>
            <p:cNvSpPr/>
            <p:nvPr/>
          </p:nvSpPr>
          <p:spPr bwMode="auto">
            <a:xfrm>
              <a:off x="4461944" y="4245185"/>
              <a:ext cx="839004" cy="816496"/>
            </a:xfrm>
            <a:prstGeom prst="ellips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42" name="Oval 442">
              <a:extLst>
                <a:ext uri="{FF2B5EF4-FFF2-40B4-BE49-F238E27FC236}">
                  <a16:creationId xmlns:a16="http://schemas.microsoft.com/office/drawing/2014/main" id="{040BE514-0CB1-45CE-B768-2576EC210CEF}"/>
                </a:ext>
              </a:extLst>
            </p:cNvPr>
            <p:cNvSpPr/>
            <p:nvPr/>
          </p:nvSpPr>
          <p:spPr bwMode="auto">
            <a:xfrm>
              <a:off x="6250847" y="4243073"/>
              <a:ext cx="839004" cy="816496"/>
            </a:xfrm>
            <a:prstGeom prst="ellips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6FBFEBE7-D4BE-9F70-6AE9-4F4203D312E3}"/>
                </a:ext>
              </a:extLst>
            </p:cNvPr>
            <p:cNvSpPr txBox="1"/>
            <p:nvPr/>
          </p:nvSpPr>
          <p:spPr>
            <a:xfrm>
              <a:off x="5192167" y="4674657"/>
              <a:ext cx="1001568" cy="327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  <p:cxnSp>
          <p:nvCxnSpPr>
            <p:cNvPr id="144" name="Straight Connector 431">
              <a:extLst>
                <a:ext uri="{FF2B5EF4-FFF2-40B4-BE49-F238E27FC236}">
                  <a16:creationId xmlns:a16="http://schemas.microsoft.com/office/drawing/2014/main" id="{2D28E59A-638A-3823-23DB-59428FFF288D}"/>
                </a:ext>
              </a:extLst>
            </p:cNvPr>
            <p:cNvCxnSpPr>
              <a:cxnSpLocks/>
              <a:stCxn id="163" idx="2"/>
              <a:endCxn id="105" idx="7"/>
            </p:cNvCxnSpPr>
            <p:nvPr/>
          </p:nvCxnSpPr>
          <p:spPr bwMode="auto">
            <a:xfrm flipH="1" flipV="1">
              <a:off x="6863563" y="4791240"/>
              <a:ext cx="1665402" cy="75104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B087CA0B-DF14-A5B1-BFBC-DA5156D92355}"/>
                </a:ext>
              </a:extLst>
            </p:cNvPr>
            <p:cNvSpPr txBox="1"/>
            <p:nvPr/>
          </p:nvSpPr>
          <p:spPr>
            <a:xfrm rot="21004227">
              <a:off x="2780037" y="4346280"/>
              <a:ext cx="1871448" cy="327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⇐ AS2, AS3, X</a:t>
              </a:r>
            </a:p>
          </p:txBody>
        </p:sp>
        <p:grpSp>
          <p:nvGrpSpPr>
            <p:cNvPr id="146" name="Group 367">
              <a:extLst>
                <a:ext uri="{FF2B5EF4-FFF2-40B4-BE49-F238E27FC236}">
                  <a16:creationId xmlns:a16="http://schemas.microsoft.com/office/drawing/2014/main" id="{3BEA323A-1753-DA0E-A48A-E582C0463E09}"/>
                </a:ext>
              </a:extLst>
            </p:cNvPr>
            <p:cNvGrpSpPr/>
            <p:nvPr/>
          </p:nvGrpSpPr>
          <p:grpSpPr>
            <a:xfrm>
              <a:off x="8528965" y="4133411"/>
              <a:ext cx="2333625" cy="1590649"/>
              <a:chOff x="833331" y="2873352"/>
              <a:chExt cx="2333625" cy="1590649"/>
            </a:xfrm>
          </p:grpSpPr>
          <p:grpSp>
            <p:nvGrpSpPr>
              <p:cNvPr id="147" name="Group 368">
                <a:extLst>
                  <a:ext uri="{FF2B5EF4-FFF2-40B4-BE49-F238E27FC236}">
                    <a16:creationId xmlns:a16="http://schemas.microsoft.com/office/drawing/2014/main" id="{F8612ED5-B80B-3F77-AD2E-2A5F49D4543F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96" name="Group 327">
                  <a:extLst>
                    <a:ext uri="{FF2B5EF4-FFF2-40B4-BE49-F238E27FC236}">
                      <a16:creationId xmlns:a16="http://schemas.microsoft.com/office/drawing/2014/main" id="{F0F6A8C1-36E2-AC28-C273-C4D5BE91A9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00" name="Oval 421">
                    <a:extLst>
                      <a:ext uri="{FF2B5EF4-FFF2-40B4-BE49-F238E27FC236}">
                        <a16:creationId xmlns:a16="http://schemas.microsoft.com/office/drawing/2014/main" id="{FF026702-A307-23B9-34FD-D308A40E848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1" name="Rectangle 422">
                    <a:extLst>
                      <a:ext uri="{FF2B5EF4-FFF2-40B4-BE49-F238E27FC236}">
                        <a16:creationId xmlns:a16="http://schemas.microsoft.com/office/drawing/2014/main" id="{7D86E483-0865-6FC9-BA6C-035607E8840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2" name="Oval 423">
                    <a:extLst>
                      <a:ext uri="{FF2B5EF4-FFF2-40B4-BE49-F238E27FC236}">
                        <a16:creationId xmlns:a16="http://schemas.microsoft.com/office/drawing/2014/main" id="{FA195D41-D280-73D3-93EF-F5CEEB83D58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3" name="Freeform 424">
                    <a:extLst>
                      <a:ext uri="{FF2B5EF4-FFF2-40B4-BE49-F238E27FC236}">
                        <a16:creationId xmlns:a16="http://schemas.microsoft.com/office/drawing/2014/main" id="{4C62E6DE-1E75-60CE-CD3E-D67C62EF4B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4" name="Freeform 425">
                    <a:extLst>
                      <a:ext uri="{FF2B5EF4-FFF2-40B4-BE49-F238E27FC236}">
                        <a16:creationId xmlns:a16="http://schemas.microsoft.com/office/drawing/2014/main" id="{C110F192-5146-616E-62A0-C087CB8CA80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5" name="Freeform 426">
                    <a:extLst>
                      <a:ext uri="{FF2B5EF4-FFF2-40B4-BE49-F238E27FC236}">
                        <a16:creationId xmlns:a16="http://schemas.microsoft.com/office/drawing/2014/main" id="{BDE3EEE5-D20F-B1FB-34A5-8058E879B13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6" name="Freeform 427">
                    <a:extLst>
                      <a:ext uri="{FF2B5EF4-FFF2-40B4-BE49-F238E27FC236}">
                        <a16:creationId xmlns:a16="http://schemas.microsoft.com/office/drawing/2014/main" id="{21C76ACC-E274-3EBD-1A64-5740ED782AB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207" name="Straight Connector 428">
                    <a:extLst>
                      <a:ext uri="{FF2B5EF4-FFF2-40B4-BE49-F238E27FC236}">
                        <a16:creationId xmlns:a16="http://schemas.microsoft.com/office/drawing/2014/main" id="{6935AAB3-64E7-6DE5-470B-4BEFD63C6CD4}"/>
                      </a:ext>
                    </a:extLst>
                  </p:cNvPr>
                  <p:cNvCxnSpPr>
                    <a:endCxn id="20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208" name="Straight Connector 429">
                    <a:extLst>
                      <a:ext uri="{FF2B5EF4-FFF2-40B4-BE49-F238E27FC236}">
                        <a16:creationId xmlns:a16="http://schemas.microsoft.com/office/drawing/2014/main" id="{8A6DECF6-01BF-43D8-7EB7-0F9089D60BC2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197" name="Group 418">
                  <a:extLst>
                    <a:ext uri="{FF2B5EF4-FFF2-40B4-BE49-F238E27FC236}">
                      <a16:creationId xmlns:a16="http://schemas.microsoft.com/office/drawing/2014/main" id="{C742405C-0C64-E842-394C-C25F1E7CA3D5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98" name="Oval 419">
                    <a:extLst>
                      <a:ext uri="{FF2B5EF4-FFF2-40B4-BE49-F238E27FC236}">
                        <a16:creationId xmlns:a16="http://schemas.microsoft.com/office/drawing/2014/main" id="{E84E2A1F-B3C1-C8B4-2E5B-5525D1E3A8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9" name="TextBox 420">
                    <a:extLst>
                      <a:ext uri="{FF2B5EF4-FFF2-40B4-BE49-F238E27FC236}">
                        <a16:creationId xmlns:a16="http://schemas.microsoft.com/office/drawing/2014/main" id="{F33F8EE2-7A43-342D-A2DD-E06C10AC9887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3b</a:t>
                    </a:r>
                  </a:p>
                </p:txBody>
              </p:sp>
            </p:grpSp>
          </p:grpSp>
          <p:grpSp>
            <p:nvGrpSpPr>
              <p:cNvPr id="148" name="Group 369">
                <a:extLst>
                  <a:ext uri="{FF2B5EF4-FFF2-40B4-BE49-F238E27FC236}">
                    <a16:creationId xmlns:a16="http://schemas.microsoft.com/office/drawing/2014/main" id="{F2F63484-2B17-CC8A-32EC-AD0CE816E918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83" name="Group 327">
                  <a:extLst>
                    <a:ext uri="{FF2B5EF4-FFF2-40B4-BE49-F238E27FC236}">
                      <a16:creationId xmlns:a16="http://schemas.microsoft.com/office/drawing/2014/main" id="{BA4F2F79-C2C7-B54D-4604-ACAAD38605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87" name="Oval 408">
                    <a:extLst>
                      <a:ext uri="{FF2B5EF4-FFF2-40B4-BE49-F238E27FC236}">
                        <a16:creationId xmlns:a16="http://schemas.microsoft.com/office/drawing/2014/main" id="{0BAC660C-7583-C724-012C-B9D4F4D47B6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8" name="Rectangle 409">
                    <a:extLst>
                      <a:ext uri="{FF2B5EF4-FFF2-40B4-BE49-F238E27FC236}">
                        <a16:creationId xmlns:a16="http://schemas.microsoft.com/office/drawing/2014/main" id="{55DF5EF3-5903-E7D0-8AC6-36AA743BA4D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9" name="Oval 410">
                    <a:extLst>
                      <a:ext uri="{FF2B5EF4-FFF2-40B4-BE49-F238E27FC236}">
                        <a16:creationId xmlns:a16="http://schemas.microsoft.com/office/drawing/2014/main" id="{E5684C66-5E98-D167-4BE5-6198A9F6CBE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0" name="Freeform 411">
                    <a:extLst>
                      <a:ext uri="{FF2B5EF4-FFF2-40B4-BE49-F238E27FC236}">
                        <a16:creationId xmlns:a16="http://schemas.microsoft.com/office/drawing/2014/main" id="{12E1303A-CF0E-8C05-0F94-C81D950D5B9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1" name="Freeform 412">
                    <a:extLst>
                      <a:ext uri="{FF2B5EF4-FFF2-40B4-BE49-F238E27FC236}">
                        <a16:creationId xmlns:a16="http://schemas.microsoft.com/office/drawing/2014/main" id="{F6D971C9-2924-7EAD-F173-D02D95348B6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2" name="Freeform 413">
                    <a:extLst>
                      <a:ext uri="{FF2B5EF4-FFF2-40B4-BE49-F238E27FC236}">
                        <a16:creationId xmlns:a16="http://schemas.microsoft.com/office/drawing/2014/main" id="{96A1D5F4-2C64-47F4-4EDB-6CE0968462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3" name="Freeform 414">
                    <a:extLst>
                      <a:ext uri="{FF2B5EF4-FFF2-40B4-BE49-F238E27FC236}">
                        <a16:creationId xmlns:a16="http://schemas.microsoft.com/office/drawing/2014/main" id="{F6017370-ED70-2DF9-3648-E049466314E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94" name="Straight Connector 415">
                    <a:extLst>
                      <a:ext uri="{FF2B5EF4-FFF2-40B4-BE49-F238E27FC236}">
                        <a16:creationId xmlns:a16="http://schemas.microsoft.com/office/drawing/2014/main" id="{412F384C-22A3-0AC8-5AB7-8FFFAE282166}"/>
                      </a:ext>
                    </a:extLst>
                  </p:cNvPr>
                  <p:cNvCxnSpPr>
                    <a:endCxn id="18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195" name="Straight Connector 416">
                    <a:extLst>
                      <a:ext uri="{FF2B5EF4-FFF2-40B4-BE49-F238E27FC236}">
                        <a16:creationId xmlns:a16="http://schemas.microsoft.com/office/drawing/2014/main" id="{6017E5CB-2593-783A-331F-36002A67152E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184" name="Group 405">
                  <a:extLst>
                    <a:ext uri="{FF2B5EF4-FFF2-40B4-BE49-F238E27FC236}">
                      <a16:creationId xmlns:a16="http://schemas.microsoft.com/office/drawing/2014/main" id="{ACE02B3F-CB42-06DC-3941-A14D120C5C47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85" name="Oval 406">
                    <a:extLst>
                      <a:ext uri="{FF2B5EF4-FFF2-40B4-BE49-F238E27FC236}">
                        <a16:creationId xmlns:a16="http://schemas.microsoft.com/office/drawing/2014/main" id="{A473C5A8-6365-FBB3-FCDC-8992AD4D29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6" name="TextBox 407">
                    <a:extLst>
                      <a:ext uri="{FF2B5EF4-FFF2-40B4-BE49-F238E27FC236}">
                        <a16:creationId xmlns:a16="http://schemas.microsoft.com/office/drawing/2014/main" id="{3BA60598-9E44-9DF3-1FE3-479363DDB065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3d</a:t>
                    </a:r>
                  </a:p>
                </p:txBody>
              </p:sp>
            </p:grpSp>
          </p:grpSp>
          <p:grpSp>
            <p:nvGrpSpPr>
              <p:cNvPr id="149" name="Group 370">
                <a:extLst>
                  <a:ext uri="{FF2B5EF4-FFF2-40B4-BE49-F238E27FC236}">
                    <a16:creationId xmlns:a16="http://schemas.microsoft.com/office/drawing/2014/main" id="{5C737335-65DD-F5AC-80FA-A06140764FA4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70" name="Group 327">
                  <a:extLst>
                    <a:ext uri="{FF2B5EF4-FFF2-40B4-BE49-F238E27FC236}">
                      <a16:creationId xmlns:a16="http://schemas.microsoft.com/office/drawing/2014/main" id="{50A314D7-6B75-9F5A-2407-F5B407F8EF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74" name="Oval 395">
                    <a:extLst>
                      <a:ext uri="{FF2B5EF4-FFF2-40B4-BE49-F238E27FC236}">
                        <a16:creationId xmlns:a16="http://schemas.microsoft.com/office/drawing/2014/main" id="{24E49DBA-5D9A-9C9D-4CFF-060A846788D0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5" name="Rectangle 396">
                    <a:extLst>
                      <a:ext uri="{FF2B5EF4-FFF2-40B4-BE49-F238E27FC236}">
                        <a16:creationId xmlns:a16="http://schemas.microsoft.com/office/drawing/2014/main" id="{5C7122CB-9002-0CDD-DBD5-C0D55C29E3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6" name="Oval 397">
                    <a:extLst>
                      <a:ext uri="{FF2B5EF4-FFF2-40B4-BE49-F238E27FC236}">
                        <a16:creationId xmlns:a16="http://schemas.microsoft.com/office/drawing/2014/main" id="{3AFFA67C-B5DE-8B32-5836-1AA02C7A507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7" name="Freeform 398">
                    <a:extLst>
                      <a:ext uri="{FF2B5EF4-FFF2-40B4-BE49-F238E27FC236}">
                        <a16:creationId xmlns:a16="http://schemas.microsoft.com/office/drawing/2014/main" id="{53083D33-D52F-F17A-A4ED-6FF4DAD133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8" name="Freeform 399">
                    <a:extLst>
                      <a:ext uri="{FF2B5EF4-FFF2-40B4-BE49-F238E27FC236}">
                        <a16:creationId xmlns:a16="http://schemas.microsoft.com/office/drawing/2014/main" id="{7A93B5B3-0E4A-E881-22C8-3B9396C092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9" name="Freeform 400">
                    <a:extLst>
                      <a:ext uri="{FF2B5EF4-FFF2-40B4-BE49-F238E27FC236}">
                        <a16:creationId xmlns:a16="http://schemas.microsoft.com/office/drawing/2014/main" id="{DCDCDAE2-F4B6-08C1-6433-CDB02E2669E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" name="Freeform 401">
                    <a:extLst>
                      <a:ext uri="{FF2B5EF4-FFF2-40B4-BE49-F238E27FC236}">
                        <a16:creationId xmlns:a16="http://schemas.microsoft.com/office/drawing/2014/main" id="{BB47BC45-7360-419C-FB9C-C352FC120C7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81" name="Straight Connector 402">
                    <a:extLst>
                      <a:ext uri="{FF2B5EF4-FFF2-40B4-BE49-F238E27FC236}">
                        <a16:creationId xmlns:a16="http://schemas.microsoft.com/office/drawing/2014/main" id="{C9E3EABF-4AEC-6B25-B077-3BC055967921}"/>
                      </a:ext>
                    </a:extLst>
                  </p:cNvPr>
                  <p:cNvCxnSpPr>
                    <a:endCxn id="176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182" name="Straight Connector 403">
                    <a:extLst>
                      <a:ext uri="{FF2B5EF4-FFF2-40B4-BE49-F238E27FC236}">
                        <a16:creationId xmlns:a16="http://schemas.microsoft.com/office/drawing/2014/main" id="{2CB5E240-E2E3-80AB-C23D-4F45932C0390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171" name="Group 392">
                  <a:extLst>
                    <a:ext uri="{FF2B5EF4-FFF2-40B4-BE49-F238E27FC236}">
                      <a16:creationId xmlns:a16="http://schemas.microsoft.com/office/drawing/2014/main" id="{FF985396-C5A4-4854-9BF9-4B9E2F8F2910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172" name="Oval 393">
                    <a:extLst>
                      <a:ext uri="{FF2B5EF4-FFF2-40B4-BE49-F238E27FC236}">
                        <a16:creationId xmlns:a16="http://schemas.microsoft.com/office/drawing/2014/main" id="{5A66CCBE-8AC4-E71D-7253-999E5C5C79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3" name="TextBox 394">
                    <a:extLst>
                      <a:ext uri="{FF2B5EF4-FFF2-40B4-BE49-F238E27FC236}">
                        <a16:creationId xmlns:a16="http://schemas.microsoft.com/office/drawing/2014/main" id="{2CE1041B-F663-1C3A-F606-EBBA11B26A42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3c</a:t>
                    </a:r>
                  </a:p>
                </p:txBody>
              </p:sp>
            </p:grpSp>
          </p:grpSp>
          <p:grpSp>
            <p:nvGrpSpPr>
              <p:cNvPr id="150" name="Group 371">
                <a:extLst>
                  <a:ext uri="{FF2B5EF4-FFF2-40B4-BE49-F238E27FC236}">
                    <a16:creationId xmlns:a16="http://schemas.microsoft.com/office/drawing/2014/main" id="{DEC81574-6147-FD70-7996-EC4AE76B358F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57" name="Group 327">
                  <a:extLst>
                    <a:ext uri="{FF2B5EF4-FFF2-40B4-BE49-F238E27FC236}">
                      <a16:creationId xmlns:a16="http://schemas.microsoft.com/office/drawing/2014/main" id="{90DA1F17-6C70-DFD5-7881-EF0DF3F8B4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61" name="Oval 382">
                    <a:extLst>
                      <a:ext uri="{FF2B5EF4-FFF2-40B4-BE49-F238E27FC236}">
                        <a16:creationId xmlns:a16="http://schemas.microsoft.com/office/drawing/2014/main" id="{09480CBF-DD10-8BD4-7628-4E845CB3B0B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Rectangle 383">
                    <a:extLst>
                      <a:ext uri="{FF2B5EF4-FFF2-40B4-BE49-F238E27FC236}">
                        <a16:creationId xmlns:a16="http://schemas.microsoft.com/office/drawing/2014/main" id="{565A9BDE-B7A5-C602-3F06-73D8E235EF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Oval 384">
                    <a:extLst>
                      <a:ext uri="{FF2B5EF4-FFF2-40B4-BE49-F238E27FC236}">
                        <a16:creationId xmlns:a16="http://schemas.microsoft.com/office/drawing/2014/main" id="{48843DC2-2D3C-C215-3C8D-C970CC04515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4" name="Freeform 385">
                    <a:extLst>
                      <a:ext uri="{FF2B5EF4-FFF2-40B4-BE49-F238E27FC236}">
                        <a16:creationId xmlns:a16="http://schemas.microsoft.com/office/drawing/2014/main" id="{7FEB96CD-1A2C-4848-B1AE-4299823D39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5" name="Freeform 386">
                    <a:extLst>
                      <a:ext uri="{FF2B5EF4-FFF2-40B4-BE49-F238E27FC236}">
                        <a16:creationId xmlns:a16="http://schemas.microsoft.com/office/drawing/2014/main" id="{D4A12F92-2C1E-6FF9-AA16-1F350842071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6" name="Freeform 387">
                    <a:extLst>
                      <a:ext uri="{FF2B5EF4-FFF2-40B4-BE49-F238E27FC236}">
                        <a16:creationId xmlns:a16="http://schemas.microsoft.com/office/drawing/2014/main" id="{672EF871-118B-96E7-E012-AC114F08BD3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7" name="Freeform 388">
                    <a:extLst>
                      <a:ext uri="{FF2B5EF4-FFF2-40B4-BE49-F238E27FC236}">
                        <a16:creationId xmlns:a16="http://schemas.microsoft.com/office/drawing/2014/main" id="{458739B0-D920-C07B-84F5-16C521BABE4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68" name="Straight Connector 389">
                    <a:extLst>
                      <a:ext uri="{FF2B5EF4-FFF2-40B4-BE49-F238E27FC236}">
                        <a16:creationId xmlns:a16="http://schemas.microsoft.com/office/drawing/2014/main" id="{D3B72F43-89EA-3321-3972-05AC00334A6D}"/>
                      </a:ext>
                    </a:extLst>
                  </p:cNvPr>
                  <p:cNvCxnSpPr>
                    <a:endCxn id="16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169" name="Straight Connector 390">
                    <a:extLst>
                      <a:ext uri="{FF2B5EF4-FFF2-40B4-BE49-F238E27FC236}">
                        <a16:creationId xmlns:a16="http://schemas.microsoft.com/office/drawing/2014/main" id="{D487FC07-76BB-A977-66C7-98AE4FCC1569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158" name="Group 379">
                  <a:extLst>
                    <a:ext uri="{FF2B5EF4-FFF2-40B4-BE49-F238E27FC236}">
                      <a16:creationId xmlns:a16="http://schemas.microsoft.com/office/drawing/2014/main" id="{F6890E94-6DAE-F2AE-A895-B212FD85A20B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59" name="Oval 380">
                    <a:extLst>
                      <a:ext uri="{FF2B5EF4-FFF2-40B4-BE49-F238E27FC236}">
                        <a16:creationId xmlns:a16="http://schemas.microsoft.com/office/drawing/2014/main" id="{A280568C-6516-9E9D-7BA6-618EF1E5364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0" name="TextBox 381">
                    <a:extLst>
                      <a:ext uri="{FF2B5EF4-FFF2-40B4-BE49-F238E27FC236}">
                        <a16:creationId xmlns:a16="http://schemas.microsoft.com/office/drawing/2014/main" id="{02BA535C-AE03-0781-7C49-7986CFBE99F2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3a</a:t>
                    </a:r>
                  </a:p>
                </p:txBody>
              </p:sp>
            </p:grpSp>
          </p:grpSp>
          <p:cxnSp>
            <p:nvCxnSpPr>
              <p:cNvPr id="151" name="Straight Connector 372">
                <a:extLst>
                  <a:ext uri="{FF2B5EF4-FFF2-40B4-BE49-F238E27FC236}">
                    <a16:creationId xmlns:a16="http://schemas.microsoft.com/office/drawing/2014/main" id="{AF9F9D96-59B0-1FA6-E4BB-53A549C03A86}"/>
                  </a:ext>
                </a:extLst>
              </p:cNvPr>
              <p:cNvCxnSpPr>
                <a:stCxn id="199" idx="2"/>
                <a:endCxn id="186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2" name="Straight Connector 373">
                <a:extLst>
                  <a:ext uri="{FF2B5EF4-FFF2-40B4-BE49-F238E27FC236}">
                    <a16:creationId xmlns:a16="http://schemas.microsoft.com/office/drawing/2014/main" id="{43E4D61E-1A68-F6E5-CE66-E08149D4E785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3" name="Straight Connector 374">
                <a:extLst>
                  <a:ext uri="{FF2B5EF4-FFF2-40B4-BE49-F238E27FC236}">
                    <a16:creationId xmlns:a16="http://schemas.microsoft.com/office/drawing/2014/main" id="{7CFA8CEF-7B1F-9FE3-C58C-CF5752EBF290}"/>
                  </a:ext>
                </a:extLst>
              </p:cNvPr>
              <p:cNvCxnSpPr>
                <a:stCxn id="200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4" name="Straight Connector 375">
                <a:extLst>
                  <a:ext uri="{FF2B5EF4-FFF2-40B4-BE49-F238E27FC236}">
                    <a16:creationId xmlns:a16="http://schemas.microsoft.com/office/drawing/2014/main" id="{23D393D5-60EC-3F45-0938-388C3B61D42D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5" name="Straight Connector 376">
                <a:extLst>
                  <a:ext uri="{FF2B5EF4-FFF2-40B4-BE49-F238E27FC236}">
                    <a16:creationId xmlns:a16="http://schemas.microsoft.com/office/drawing/2014/main" id="{AA7B760D-14E2-8F39-E312-015867E5BF0A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6" name="Straight Connector 377">
                <a:extLst>
                  <a:ext uri="{FF2B5EF4-FFF2-40B4-BE49-F238E27FC236}">
                    <a16:creationId xmlns:a16="http://schemas.microsoft.com/office/drawing/2014/main" id="{9D39EDCF-121E-18C4-4017-981E157C28E0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09" name="TextBox 433">
              <a:extLst>
                <a:ext uri="{FF2B5EF4-FFF2-40B4-BE49-F238E27FC236}">
                  <a16:creationId xmlns:a16="http://schemas.microsoft.com/office/drawing/2014/main" id="{F3AE31AD-A4D7-653F-136A-55AE2DA09CD3}"/>
                </a:ext>
              </a:extLst>
            </p:cNvPr>
            <p:cNvSpPr txBox="1"/>
            <p:nvPr/>
          </p:nvSpPr>
          <p:spPr>
            <a:xfrm>
              <a:off x="9591124" y="6026656"/>
              <a:ext cx="75353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3</a:t>
              </a:r>
            </a:p>
          </p:txBody>
        </p:sp>
        <p:sp>
          <p:nvSpPr>
            <p:cNvPr id="210" name="Oval 443">
              <a:extLst>
                <a:ext uri="{FF2B5EF4-FFF2-40B4-BE49-F238E27FC236}">
                  <a16:creationId xmlns:a16="http://schemas.microsoft.com/office/drawing/2014/main" id="{3B8BF806-DFA7-6BBC-5730-E8F944C8439C}"/>
                </a:ext>
              </a:extLst>
            </p:cNvPr>
            <p:cNvSpPr/>
            <p:nvPr/>
          </p:nvSpPr>
          <p:spPr bwMode="auto">
            <a:xfrm>
              <a:off x="8371225" y="4458096"/>
              <a:ext cx="839004" cy="816496"/>
            </a:xfrm>
            <a:prstGeom prst="ellips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11" name="Freeform 2">
              <a:extLst>
                <a:ext uri="{FF2B5EF4-FFF2-40B4-BE49-F238E27FC236}">
                  <a16:creationId xmlns:a16="http://schemas.microsoft.com/office/drawing/2014/main" id="{CE40CEF4-6F9F-C102-E552-6DDE28665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7890" y="5082495"/>
              <a:ext cx="1953645" cy="762866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 w 9959"/>
                <a:gd name="connsiteY0" fmla="*/ 5593 h 11352"/>
                <a:gd name="connsiteX1" fmla="*/ 1089 w 9959"/>
                <a:gd name="connsiteY1" fmla="*/ 469 h 11352"/>
                <a:gd name="connsiteX2" fmla="*/ 4845 w 9959"/>
                <a:gd name="connsiteY2" fmla="*/ 561 h 11352"/>
                <a:gd name="connsiteX3" fmla="*/ 8027 w 9959"/>
                <a:gd name="connsiteY3" fmla="*/ 3370 h 11352"/>
                <a:gd name="connsiteX4" fmla="*/ 9955 w 9959"/>
                <a:gd name="connsiteY4" fmla="*/ 5970 h 11352"/>
                <a:gd name="connsiteX5" fmla="*/ 8435 w 9959"/>
                <a:gd name="connsiteY5" fmla="*/ 7863 h 11352"/>
                <a:gd name="connsiteX6" fmla="*/ 5161 w 9959"/>
                <a:gd name="connsiteY6" fmla="*/ 11352 h 11352"/>
                <a:gd name="connsiteX7" fmla="*/ 2712 w 9959"/>
                <a:gd name="connsiteY7" fmla="*/ 8240 h 11352"/>
                <a:gd name="connsiteX8" fmla="*/ 1334 w 9959"/>
                <a:gd name="connsiteY8" fmla="*/ 7922 h 11352"/>
                <a:gd name="connsiteX9" fmla="*/ 4 w 9959"/>
                <a:gd name="connsiteY9" fmla="*/ 5593 h 11352"/>
                <a:gd name="connsiteX0" fmla="*/ 0 w 11223"/>
                <a:gd name="connsiteY0" fmla="*/ 3835 h 9929"/>
                <a:gd name="connsiteX1" fmla="*/ 2316 w 11223"/>
                <a:gd name="connsiteY1" fmla="*/ 342 h 9929"/>
                <a:gd name="connsiteX2" fmla="*/ 6088 w 11223"/>
                <a:gd name="connsiteY2" fmla="*/ 423 h 9929"/>
                <a:gd name="connsiteX3" fmla="*/ 9283 w 11223"/>
                <a:gd name="connsiteY3" fmla="*/ 2898 h 9929"/>
                <a:gd name="connsiteX4" fmla="*/ 11219 w 11223"/>
                <a:gd name="connsiteY4" fmla="*/ 5188 h 9929"/>
                <a:gd name="connsiteX5" fmla="*/ 9693 w 11223"/>
                <a:gd name="connsiteY5" fmla="*/ 6856 h 9929"/>
                <a:gd name="connsiteX6" fmla="*/ 6405 w 11223"/>
                <a:gd name="connsiteY6" fmla="*/ 9929 h 9929"/>
                <a:gd name="connsiteX7" fmla="*/ 3946 w 11223"/>
                <a:gd name="connsiteY7" fmla="*/ 7188 h 9929"/>
                <a:gd name="connsiteX8" fmla="*/ 2562 w 11223"/>
                <a:gd name="connsiteY8" fmla="*/ 6908 h 9929"/>
                <a:gd name="connsiteX9" fmla="*/ 0 w 11223"/>
                <a:gd name="connsiteY9" fmla="*/ 3835 h 9929"/>
                <a:gd name="connsiteX0" fmla="*/ 0 w 9999"/>
                <a:gd name="connsiteY0" fmla="*/ 3862 h 10000"/>
                <a:gd name="connsiteX1" fmla="*/ 2064 w 9999"/>
                <a:gd name="connsiteY1" fmla="*/ 344 h 10000"/>
                <a:gd name="connsiteX2" fmla="*/ 5425 w 9999"/>
                <a:gd name="connsiteY2" fmla="*/ 426 h 10000"/>
                <a:gd name="connsiteX3" fmla="*/ 8271 w 9999"/>
                <a:gd name="connsiteY3" fmla="*/ 2919 h 10000"/>
                <a:gd name="connsiteX4" fmla="*/ 9996 w 9999"/>
                <a:gd name="connsiteY4" fmla="*/ 5225 h 10000"/>
                <a:gd name="connsiteX5" fmla="*/ 8637 w 9999"/>
                <a:gd name="connsiteY5" fmla="*/ 6905 h 10000"/>
                <a:gd name="connsiteX6" fmla="*/ 5707 w 9999"/>
                <a:gd name="connsiteY6" fmla="*/ 10000 h 10000"/>
                <a:gd name="connsiteX7" fmla="*/ 2283 w 9999"/>
                <a:gd name="connsiteY7" fmla="*/ 6957 h 10000"/>
                <a:gd name="connsiteX8" fmla="*/ 0 w 9999"/>
                <a:gd name="connsiteY8" fmla="*/ 3862 h 10000"/>
                <a:gd name="connsiteX0" fmla="*/ 124 w 10124"/>
                <a:gd name="connsiteY0" fmla="*/ 3862 h 10000"/>
                <a:gd name="connsiteX1" fmla="*/ 2188 w 10124"/>
                <a:gd name="connsiteY1" fmla="*/ 344 h 10000"/>
                <a:gd name="connsiteX2" fmla="*/ 5550 w 10124"/>
                <a:gd name="connsiteY2" fmla="*/ 426 h 10000"/>
                <a:gd name="connsiteX3" fmla="*/ 8396 w 10124"/>
                <a:gd name="connsiteY3" fmla="*/ 2919 h 10000"/>
                <a:gd name="connsiteX4" fmla="*/ 10121 w 10124"/>
                <a:gd name="connsiteY4" fmla="*/ 5225 h 10000"/>
                <a:gd name="connsiteX5" fmla="*/ 8762 w 10124"/>
                <a:gd name="connsiteY5" fmla="*/ 6905 h 10000"/>
                <a:gd name="connsiteX6" fmla="*/ 5832 w 10124"/>
                <a:gd name="connsiteY6" fmla="*/ 10000 h 10000"/>
                <a:gd name="connsiteX7" fmla="*/ 124 w 10124"/>
                <a:gd name="connsiteY7" fmla="*/ 3862 h 10000"/>
                <a:gd name="connsiteX0" fmla="*/ 43 w 10045"/>
                <a:gd name="connsiteY0" fmla="*/ 3862 h 6912"/>
                <a:gd name="connsiteX1" fmla="*/ 2107 w 10045"/>
                <a:gd name="connsiteY1" fmla="*/ 344 h 6912"/>
                <a:gd name="connsiteX2" fmla="*/ 5469 w 10045"/>
                <a:gd name="connsiteY2" fmla="*/ 426 h 6912"/>
                <a:gd name="connsiteX3" fmla="*/ 8315 w 10045"/>
                <a:gd name="connsiteY3" fmla="*/ 2919 h 6912"/>
                <a:gd name="connsiteX4" fmla="*/ 10040 w 10045"/>
                <a:gd name="connsiteY4" fmla="*/ 5225 h 6912"/>
                <a:gd name="connsiteX5" fmla="*/ 8681 w 10045"/>
                <a:gd name="connsiteY5" fmla="*/ 6905 h 6912"/>
                <a:gd name="connsiteX6" fmla="*/ 3967 w 10045"/>
                <a:gd name="connsiteY6" fmla="*/ 5885 h 6912"/>
                <a:gd name="connsiteX7" fmla="*/ 43 w 10045"/>
                <a:gd name="connsiteY7" fmla="*/ 3862 h 6912"/>
                <a:gd name="connsiteX0" fmla="*/ 47 w 10004"/>
                <a:gd name="connsiteY0" fmla="*/ 5106 h 9519"/>
                <a:gd name="connsiteX1" fmla="*/ 2102 w 10004"/>
                <a:gd name="connsiteY1" fmla="*/ 17 h 9519"/>
                <a:gd name="connsiteX2" fmla="*/ 6651 w 10004"/>
                <a:gd name="connsiteY2" fmla="*/ 3484 h 9519"/>
                <a:gd name="connsiteX3" fmla="*/ 8282 w 10004"/>
                <a:gd name="connsiteY3" fmla="*/ 3742 h 9519"/>
                <a:gd name="connsiteX4" fmla="*/ 9999 w 10004"/>
                <a:gd name="connsiteY4" fmla="*/ 7078 h 9519"/>
                <a:gd name="connsiteX5" fmla="*/ 8646 w 10004"/>
                <a:gd name="connsiteY5" fmla="*/ 9509 h 9519"/>
                <a:gd name="connsiteX6" fmla="*/ 3953 w 10004"/>
                <a:gd name="connsiteY6" fmla="*/ 8033 h 9519"/>
                <a:gd name="connsiteX7" fmla="*/ 47 w 10004"/>
                <a:gd name="connsiteY7" fmla="*/ 5106 h 9519"/>
                <a:gd name="connsiteX0" fmla="*/ 43 w 9996"/>
                <a:gd name="connsiteY0" fmla="*/ 6232 h 10868"/>
                <a:gd name="connsiteX1" fmla="*/ 2097 w 9996"/>
                <a:gd name="connsiteY1" fmla="*/ 886 h 10868"/>
                <a:gd name="connsiteX2" fmla="*/ 5642 w 9996"/>
                <a:gd name="connsiteY2" fmla="*/ 385 h 10868"/>
                <a:gd name="connsiteX3" fmla="*/ 8275 w 9996"/>
                <a:gd name="connsiteY3" fmla="*/ 4799 h 10868"/>
                <a:gd name="connsiteX4" fmla="*/ 9991 w 9996"/>
                <a:gd name="connsiteY4" fmla="*/ 8304 h 10868"/>
                <a:gd name="connsiteX5" fmla="*/ 8639 w 9996"/>
                <a:gd name="connsiteY5" fmla="*/ 10857 h 10868"/>
                <a:gd name="connsiteX6" fmla="*/ 3947 w 9996"/>
                <a:gd name="connsiteY6" fmla="*/ 9307 h 10868"/>
                <a:gd name="connsiteX7" fmla="*/ 43 w 9996"/>
                <a:gd name="connsiteY7" fmla="*/ 6232 h 10868"/>
                <a:gd name="connsiteX0" fmla="*/ 43 w 10004"/>
                <a:gd name="connsiteY0" fmla="*/ 5543 h 9809"/>
                <a:gd name="connsiteX1" fmla="*/ 2098 w 10004"/>
                <a:gd name="connsiteY1" fmla="*/ 624 h 9809"/>
                <a:gd name="connsiteX2" fmla="*/ 5644 w 10004"/>
                <a:gd name="connsiteY2" fmla="*/ 163 h 9809"/>
                <a:gd name="connsiteX3" fmla="*/ 8163 w 10004"/>
                <a:gd name="connsiteY3" fmla="*/ 1492 h 9809"/>
                <a:gd name="connsiteX4" fmla="*/ 9995 w 10004"/>
                <a:gd name="connsiteY4" fmla="*/ 7450 h 9809"/>
                <a:gd name="connsiteX5" fmla="*/ 8642 w 10004"/>
                <a:gd name="connsiteY5" fmla="*/ 9799 h 9809"/>
                <a:gd name="connsiteX6" fmla="*/ 3949 w 10004"/>
                <a:gd name="connsiteY6" fmla="*/ 8373 h 9809"/>
                <a:gd name="connsiteX7" fmla="*/ 43 w 10004"/>
                <a:gd name="connsiteY7" fmla="*/ 5543 h 9809"/>
                <a:gd name="connsiteX0" fmla="*/ 43 w 8950"/>
                <a:gd name="connsiteY0" fmla="*/ 5651 h 10081"/>
                <a:gd name="connsiteX1" fmla="*/ 2097 w 8950"/>
                <a:gd name="connsiteY1" fmla="*/ 636 h 10081"/>
                <a:gd name="connsiteX2" fmla="*/ 5642 w 8950"/>
                <a:gd name="connsiteY2" fmla="*/ 166 h 10081"/>
                <a:gd name="connsiteX3" fmla="*/ 8160 w 8950"/>
                <a:gd name="connsiteY3" fmla="*/ 1521 h 10081"/>
                <a:gd name="connsiteX4" fmla="*/ 8473 w 8950"/>
                <a:gd name="connsiteY4" fmla="*/ 5322 h 10081"/>
                <a:gd name="connsiteX5" fmla="*/ 8639 w 8950"/>
                <a:gd name="connsiteY5" fmla="*/ 9990 h 10081"/>
                <a:gd name="connsiteX6" fmla="*/ 3947 w 8950"/>
                <a:gd name="connsiteY6" fmla="*/ 8536 h 10081"/>
                <a:gd name="connsiteX7" fmla="*/ 43 w 8950"/>
                <a:gd name="connsiteY7" fmla="*/ 5651 h 10081"/>
                <a:gd name="connsiteX0" fmla="*/ 48 w 9651"/>
                <a:gd name="connsiteY0" fmla="*/ 5606 h 8648"/>
                <a:gd name="connsiteX1" fmla="*/ 2343 w 9651"/>
                <a:gd name="connsiteY1" fmla="*/ 631 h 8648"/>
                <a:gd name="connsiteX2" fmla="*/ 6304 w 9651"/>
                <a:gd name="connsiteY2" fmla="*/ 165 h 8648"/>
                <a:gd name="connsiteX3" fmla="*/ 9117 w 9651"/>
                <a:gd name="connsiteY3" fmla="*/ 1509 h 8648"/>
                <a:gd name="connsiteX4" fmla="*/ 9467 w 9651"/>
                <a:gd name="connsiteY4" fmla="*/ 5279 h 8648"/>
                <a:gd name="connsiteX5" fmla="*/ 6997 w 9651"/>
                <a:gd name="connsiteY5" fmla="*/ 8019 h 8648"/>
                <a:gd name="connsiteX6" fmla="*/ 4410 w 9651"/>
                <a:gd name="connsiteY6" fmla="*/ 8467 h 8648"/>
                <a:gd name="connsiteX7" fmla="*/ 48 w 9651"/>
                <a:gd name="connsiteY7" fmla="*/ 5606 h 8648"/>
                <a:gd name="connsiteX0" fmla="*/ 41 w 9991"/>
                <a:gd name="connsiteY0" fmla="*/ 6482 h 9316"/>
                <a:gd name="connsiteX1" fmla="*/ 2419 w 9991"/>
                <a:gd name="connsiteY1" fmla="*/ 730 h 9316"/>
                <a:gd name="connsiteX2" fmla="*/ 6523 w 9991"/>
                <a:gd name="connsiteY2" fmla="*/ 191 h 9316"/>
                <a:gd name="connsiteX3" fmla="*/ 9438 w 9991"/>
                <a:gd name="connsiteY3" fmla="*/ 1745 h 9316"/>
                <a:gd name="connsiteX4" fmla="*/ 9800 w 9991"/>
                <a:gd name="connsiteY4" fmla="*/ 6104 h 9316"/>
                <a:gd name="connsiteX5" fmla="*/ 7241 w 9991"/>
                <a:gd name="connsiteY5" fmla="*/ 9273 h 9316"/>
                <a:gd name="connsiteX6" fmla="*/ 1411 w 9991"/>
                <a:gd name="connsiteY6" fmla="*/ 7856 h 9316"/>
                <a:gd name="connsiteX7" fmla="*/ 41 w 9991"/>
                <a:gd name="connsiteY7" fmla="*/ 6482 h 9316"/>
                <a:gd name="connsiteX0" fmla="*/ 19 w 10708"/>
                <a:gd name="connsiteY0" fmla="*/ 7721 h 10038"/>
                <a:gd name="connsiteX1" fmla="*/ 3129 w 10708"/>
                <a:gd name="connsiteY1" fmla="*/ 825 h 10038"/>
                <a:gd name="connsiteX2" fmla="*/ 7237 w 10708"/>
                <a:gd name="connsiteY2" fmla="*/ 246 h 10038"/>
                <a:gd name="connsiteX3" fmla="*/ 10155 w 10708"/>
                <a:gd name="connsiteY3" fmla="*/ 1914 h 10038"/>
                <a:gd name="connsiteX4" fmla="*/ 10517 w 10708"/>
                <a:gd name="connsiteY4" fmla="*/ 6593 h 10038"/>
                <a:gd name="connsiteX5" fmla="*/ 7956 w 10708"/>
                <a:gd name="connsiteY5" fmla="*/ 9995 h 10038"/>
                <a:gd name="connsiteX6" fmla="*/ 2120 w 10708"/>
                <a:gd name="connsiteY6" fmla="*/ 8474 h 10038"/>
                <a:gd name="connsiteX7" fmla="*/ 19 w 10708"/>
                <a:gd name="connsiteY7" fmla="*/ 7721 h 10038"/>
                <a:gd name="connsiteX0" fmla="*/ 359 w 11048"/>
                <a:gd name="connsiteY0" fmla="*/ 7721 h 10038"/>
                <a:gd name="connsiteX1" fmla="*/ 3469 w 11048"/>
                <a:gd name="connsiteY1" fmla="*/ 825 h 10038"/>
                <a:gd name="connsiteX2" fmla="*/ 7577 w 11048"/>
                <a:gd name="connsiteY2" fmla="*/ 246 h 10038"/>
                <a:gd name="connsiteX3" fmla="*/ 10495 w 11048"/>
                <a:gd name="connsiteY3" fmla="*/ 1914 h 10038"/>
                <a:gd name="connsiteX4" fmla="*/ 10857 w 11048"/>
                <a:gd name="connsiteY4" fmla="*/ 6593 h 10038"/>
                <a:gd name="connsiteX5" fmla="*/ 8296 w 11048"/>
                <a:gd name="connsiteY5" fmla="*/ 9995 h 10038"/>
                <a:gd name="connsiteX6" fmla="*/ 2460 w 11048"/>
                <a:gd name="connsiteY6" fmla="*/ 8474 h 10038"/>
                <a:gd name="connsiteX7" fmla="*/ 359 w 11048"/>
                <a:gd name="connsiteY7" fmla="*/ 7721 h 10038"/>
                <a:gd name="connsiteX0" fmla="*/ 359 w 11048"/>
                <a:gd name="connsiteY0" fmla="*/ 8392 h 10075"/>
                <a:gd name="connsiteX1" fmla="*/ 3469 w 11048"/>
                <a:gd name="connsiteY1" fmla="*/ 864 h 10075"/>
                <a:gd name="connsiteX2" fmla="*/ 7577 w 11048"/>
                <a:gd name="connsiteY2" fmla="*/ 285 h 10075"/>
                <a:gd name="connsiteX3" fmla="*/ 10495 w 11048"/>
                <a:gd name="connsiteY3" fmla="*/ 1953 h 10075"/>
                <a:gd name="connsiteX4" fmla="*/ 10857 w 11048"/>
                <a:gd name="connsiteY4" fmla="*/ 6632 h 10075"/>
                <a:gd name="connsiteX5" fmla="*/ 8296 w 11048"/>
                <a:gd name="connsiteY5" fmla="*/ 10034 h 10075"/>
                <a:gd name="connsiteX6" fmla="*/ 2460 w 11048"/>
                <a:gd name="connsiteY6" fmla="*/ 8513 h 10075"/>
                <a:gd name="connsiteX7" fmla="*/ 359 w 11048"/>
                <a:gd name="connsiteY7" fmla="*/ 8392 h 10075"/>
                <a:gd name="connsiteX0" fmla="*/ 371 w 11060"/>
                <a:gd name="connsiteY0" fmla="*/ 8392 h 10075"/>
                <a:gd name="connsiteX1" fmla="*/ 3481 w 11060"/>
                <a:gd name="connsiteY1" fmla="*/ 864 h 10075"/>
                <a:gd name="connsiteX2" fmla="*/ 7589 w 11060"/>
                <a:gd name="connsiteY2" fmla="*/ 285 h 10075"/>
                <a:gd name="connsiteX3" fmla="*/ 10507 w 11060"/>
                <a:gd name="connsiteY3" fmla="*/ 1953 h 10075"/>
                <a:gd name="connsiteX4" fmla="*/ 10869 w 11060"/>
                <a:gd name="connsiteY4" fmla="*/ 6632 h 10075"/>
                <a:gd name="connsiteX5" fmla="*/ 8308 w 11060"/>
                <a:gd name="connsiteY5" fmla="*/ 10034 h 10075"/>
                <a:gd name="connsiteX6" fmla="*/ 2472 w 11060"/>
                <a:gd name="connsiteY6" fmla="*/ 8513 h 10075"/>
                <a:gd name="connsiteX7" fmla="*/ 371 w 11060"/>
                <a:gd name="connsiteY7" fmla="*/ 8392 h 10075"/>
                <a:gd name="connsiteX0" fmla="*/ 54 w 10743"/>
                <a:gd name="connsiteY0" fmla="*/ 9468 h 11151"/>
                <a:gd name="connsiteX1" fmla="*/ 4027 w 10743"/>
                <a:gd name="connsiteY1" fmla="*/ 495 h 11151"/>
                <a:gd name="connsiteX2" fmla="*/ 7272 w 10743"/>
                <a:gd name="connsiteY2" fmla="*/ 1361 h 11151"/>
                <a:gd name="connsiteX3" fmla="*/ 10190 w 10743"/>
                <a:gd name="connsiteY3" fmla="*/ 3029 h 11151"/>
                <a:gd name="connsiteX4" fmla="*/ 10552 w 10743"/>
                <a:gd name="connsiteY4" fmla="*/ 7708 h 11151"/>
                <a:gd name="connsiteX5" fmla="*/ 7991 w 10743"/>
                <a:gd name="connsiteY5" fmla="*/ 11110 h 11151"/>
                <a:gd name="connsiteX6" fmla="*/ 2155 w 10743"/>
                <a:gd name="connsiteY6" fmla="*/ 9589 h 11151"/>
                <a:gd name="connsiteX7" fmla="*/ 54 w 10743"/>
                <a:gd name="connsiteY7" fmla="*/ 9468 h 11151"/>
                <a:gd name="connsiteX0" fmla="*/ 54 w 10743"/>
                <a:gd name="connsiteY0" fmla="*/ 9506 h 11189"/>
                <a:gd name="connsiteX1" fmla="*/ 4027 w 10743"/>
                <a:gd name="connsiteY1" fmla="*/ 533 h 11189"/>
                <a:gd name="connsiteX2" fmla="*/ 7272 w 10743"/>
                <a:gd name="connsiteY2" fmla="*/ 1399 h 11189"/>
                <a:gd name="connsiteX3" fmla="*/ 10190 w 10743"/>
                <a:gd name="connsiteY3" fmla="*/ 3067 h 11189"/>
                <a:gd name="connsiteX4" fmla="*/ 10552 w 10743"/>
                <a:gd name="connsiteY4" fmla="*/ 7746 h 11189"/>
                <a:gd name="connsiteX5" fmla="*/ 7991 w 10743"/>
                <a:gd name="connsiteY5" fmla="*/ 11148 h 11189"/>
                <a:gd name="connsiteX6" fmla="*/ 2155 w 10743"/>
                <a:gd name="connsiteY6" fmla="*/ 9627 h 11189"/>
                <a:gd name="connsiteX7" fmla="*/ 54 w 10743"/>
                <a:gd name="connsiteY7" fmla="*/ 9506 h 11189"/>
                <a:gd name="connsiteX0" fmla="*/ 40 w 11293"/>
                <a:gd name="connsiteY0" fmla="*/ 9082 h 11127"/>
                <a:gd name="connsiteX1" fmla="*/ 4577 w 11293"/>
                <a:gd name="connsiteY1" fmla="*/ 470 h 11127"/>
                <a:gd name="connsiteX2" fmla="*/ 7822 w 11293"/>
                <a:gd name="connsiteY2" fmla="*/ 1336 h 11127"/>
                <a:gd name="connsiteX3" fmla="*/ 10740 w 11293"/>
                <a:gd name="connsiteY3" fmla="*/ 3004 h 11127"/>
                <a:gd name="connsiteX4" fmla="*/ 11102 w 11293"/>
                <a:gd name="connsiteY4" fmla="*/ 7683 h 11127"/>
                <a:gd name="connsiteX5" fmla="*/ 8541 w 11293"/>
                <a:gd name="connsiteY5" fmla="*/ 11085 h 11127"/>
                <a:gd name="connsiteX6" fmla="*/ 2705 w 11293"/>
                <a:gd name="connsiteY6" fmla="*/ 9564 h 11127"/>
                <a:gd name="connsiteX7" fmla="*/ 40 w 11293"/>
                <a:gd name="connsiteY7" fmla="*/ 9082 h 1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93" h="11127">
                  <a:moveTo>
                    <a:pt x="40" y="9082"/>
                  </a:moveTo>
                  <a:cubicBezTo>
                    <a:pt x="352" y="7566"/>
                    <a:pt x="3280" y="1761"/>
                    <a:pt x="4577" y="470"/>
                  </a:cubicBezTo>
                  <a:cubicBezTo>
                    <a:pt x="5874" y="-821"/>
                    <a:pt x="6795" y="914"/>
                    <a:pt x="7822" y="1336"/>
                  </a:cubicBezTo>
                  <a:cubicBezTo>
                    <a:pt x="8849" y="1758"/>
                    <a:pt x="10193" y="1947"/>
                    <a:pt x="10740" y="3004"/>
                  </a:cubicBezTo>
                  <a:cubicBezTo>
                    <a:pt x="11287" y="4061"/>
                    <a:pt x="11468" y="6337"/>
                    <a:pt x="11102" y="7683"/>
                  </a:cubicBezTo>
                  <a:cubicBezTo>
                    <a:pt x="10736" y="9030"/>
                    <a:pt x="9940" y="10771"/>
                    <a:pt x="8541" y="11085"/>
                  </a:cubicBezTo>
                  <a:cubicBezTo>
                    <a:pt x="7141" y="11398"/>
                    <a:pt x="4122" y="9898"/>
                    <a:pt x="2705" y="9564"/>
                  </a:cubicBezTo>
                  <a:cubicBezTo>
                    <a:pt x="1288" y="9230"/>
                    <a:pt x="-272" y="10598"/>
                    <a:pt x="40" y="9082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2" name="Group 327">
              <a:extLst>
                <a:ext uri="{FF2B5EF4-FFF2-40B4-BE49-F238E27FC236}">
                  <a16:creationId xmlns:a16="http://schemas.microsoft.com/office/drawing/2014/main" id="{453535AF-13E7-40E2-E975-05159C0A11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47837" y="5359835"/>
              <a:ext cx="536554" cy="263548"/>
              <a:chOff x="1871277" y="1576300"/>
              <a:chExt cx="1128371" cy="437861"/>
            </a:xfrm>
          </p:grpSpPr>
          <p:sp>
            <p:nvSpPr>
              <p:cNvPr id="213" name="Oval 1103">
                <a:extLst>
                  <a:ext uri="{FF2B5EF4-FFF2-40B4-BE49-F238E27FC236}">
                    <a16:creationId xmlns:a16="http://schemas.microsoft.com/office/drawing/2014/main" id="{51CDD25B-9263-7F61-912E-0D8B89F88D01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14" name="Rectangle 1104">
                <a:extLst>
                  <a:ext uri="{FF2B5EF4-FFF2-40B4-BE49-F238E27FC236}">
                    <a16:creationId xmlns:a16="http://schemas.microsoft.com/office/drawing/2014/main" id="{AF24D460-7A53-AF1E-BF39-DE69788D31C2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15" name="Oval 1105">
                <a:extLst>
                  <a:ext uri="{FF2B5EF4-FFF2-40B4-BE49-F238E27FC236}">
                    <a16:creationId xmlns:a16="http://schemas.microsoft.com/office/drawing/2014/main" id="{A4920E16-CDFE-17F0-CB58-C31BB8B086A4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16" name="Freeform 1106">
                <a:extLst>
                  <a:ext uri="{FF2B5EF4-FFF2-40B4-BE49-F238E27FC236}">
                    <a16:creationId xmlns:a16="http://schemas.microsoft.com/office/drawing/2014/main" id="{4148B5D2-497A-E672-A75E-15D672AD7F95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17" name="Freeform 1107">
                <a:extLst>
                  <a:ext uri="{FF2B5EF4-FFF2-40B4-BE49-F238E27FC236}">
                    <a16:creationId xmlns:a16="http://schemas.microsoft.com/office/drawing/2014/main" id="{58A4470A-B9C4-3BBB-F021-DB68380640AA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18" name="Freeform 1108">
                <a:extLst>
                  <a:ext uri="{FF2B5EF4-FFF2-40B4-BE49-F238E27FC236}">
                    <a16:creationId xmlns:a16="http://schemas.microsoft.com/office/drawing/2014/main" id="{7DE709AB-94AF-34E3-DC76-855E4F908114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19" name="Freeform 1109">
                <a:extLst>
                  <a:ext uri="{FF2B5EF4-FFF2-40B4-BE49-F238E27FC236}">
                    <a16:creationId xmlns:a16="http://schemas.microsoft.com/office/drawing/2014/main" id="{D0F2CD35-A40E-B5E2-CACB-B002BE4C637B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20" name="Straight Connector 1110">
                <a:extLst>
                  <a:ext uri="{FF2B5EF4-FFF2-40B4-BE49-F238E27FC236}">
                    <a16:creationId xmlns:a16="http://schemas.microsoft.com/office/drawing/2014/main" id="{43E113AD-9941-FD01-254D-86883AF1996C}"/>
                  </a:ext>
                </a:extLst>
              </p:cNvPr>
              <p:cNvCxnSpPr>
                <a:cxnSpLocks/>
                <a:endCxn id="215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21" name="Straight Connector 1111">
                <a:extLst>
                  <a:ext uri="{FF2B5EF4-FFF2-40B4-BE49-F238E27FC236}">
                    <a16:creationId xmlns:a16="http://schemas.microsoft.com/office/drawing/2014/main" id="{27CB4AAB-ED81-AF65-6410-CE852F5AB62E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cxnSp>
          <p:nvCxnSpPr>
            <p:cNvPr id="222" name="Straight Connector 1097">
              <a:extLst>
                <a:ext uri="{FF2B5EF4-FFF2-40B4-BE49-F238E27FC236}">
                  <a16:creationId xmlns:a16="http://schemas.microsoft.com/office/drawing/2014/main" id="{97CE6A54-EEEC-C339-4D4B-5E2E16FFA266}"/>
                </a:ext>
              </a:extLst>
            </p:cNvPr>
            <p:cNvCxnSpPr>
              <a:cxnSpLocks/>
              <a:stCxn id="215" idx="1"/>
            </p:cNvCxnSpPr>
            <p:nvPr/>
          </p:nvCxnSpPr>
          <p:spPr bwMode="auto">
            <a:xfrm flipH="1" flipV="1">
              <a:off x="9914342" y="5506671"/>
              <a:ext cx="511851" cy="1821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3" name="Freeform 236">
              <a:extLst>
                <a:ext uri="{FF2B5EF4-FFF2-40B4-BE49-F238E27FC236}">
                  <a16:creationId xmlns:a16="http://schemas.microsoft.com/office/drawing/2014/main" id="{B2060648-B9C8-DD78-E1BB-E2FDE9552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1402" y="5159371"/>
              <a:ext cx="510039" cy="424312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224" name="Straight Connector 1097">
              <a:extLst>
                <a:ext uri="{FF2B5EF4-FFF2-40B4-BE49-F238E27FC236}">
                  <a16:creationId xmlns:a16="http://schemas.microsoft.com/office/drawing/2014/main" id="{A658ECC4-8DDF-4FD9-FB91-E3402363597F}"/>
                </a:ext>
              </a:extLst>
            </p:cNvPr>
            <p:cNvCxnSpPr>
              <a:cxnSpLocks/>
              <a:stCxn id="225" idx="1"/>
            </p:cNvCxnSpPr>
            <p:nvPr/>
          </p:nvCxnSpPr>
          <p:spPr bwMode="auto">
            <a:xfrm flipH="1">
              <a:off x="10843600" y="5392851"/>
              <a:ext cx="402200" cy="126257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5" name="TextBox 1102">
              <a:extLst>
                <a:ext uri="{FF2B5EF4-FFF2-40B4-BE49-F238E27FC236}">
                  <a16:creationId xmlns:a16="http://schemas.microsoft.com/office/drawing/2014/main" id="{CF347727-D41C-413A-BBAD-F772C72A62C5}"/>
                </a:ext>
              </a:extLst>
            </p:cNvPr>
            <p:cNvSpPr txBox="1"/>
            <p:nvPr/>
          </p:nvSpPr>
          <p:spPr>
            <a:xfrm>
              <a:off x="11245800" y="5208185"/>
              <a:ext cx="357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X</a:t>
              </a:r>
            </a:p>
          </p:txBody>
        </p: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8F8DDDD8-CDDE-BAA8-A1F6-F384E9E5CD66}"/>
                </a:ext>
              </a:extLst>
            </p:cNvPr>
            <p:cNvSpPr txBox="1"/>
            <p:nvPr/>
          </p:nvSpPr>
          <p:spPr>
            <a:xfrm>
              <a:off x="7132402" y="4439730"/>
              <a:ext cx="1243471" cy="327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⇐ AS3, X</a:t>
              </a: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0B779536-512A-7AFA-7297-595E373F62C8}"/>
                </a:ext>
              </a:extLst>
            </p:cNvPr>
            <p:cNvSpPr txBox="1"/>
            <p:nvPr/>
          </p:nvSpPr>
          <p:spPr>
            <a:xfrm>
              <a:off x="8584392" y="5235579"/>
              <a:ext cx="839004" cy="3357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&lt;&gt;, X</a:t>
              </a:r>
            </a:p>
          </p:txBody>
        </p:sp>
        <p:sp>
          <p:nvSpPr>
            <p:cNvPr id="228" name="Oval 443">
              <a:extLst>
                <a:ext uri="{FF2B5EF4-FFF2-40B4-BE49-F238E27FC236}">
                  <a16:creationId xmlns:a16="http://schemas.microsoft.com/office/drawing/2014/main" id="{95068A39-9C14-4885-42CD-E787D628D55F}"/>
                </a:ext>
              </a:extLst>
            </p:cNvPr>
            <p:cNvSpPr/>
            <p:nvPr/>
          </p:nvSpPr>
          <p:spPr bwMode="auto">
            <a:xfrm>
              <a:off x="9258885" y="5105663"/>
              <a:ext cx="839004" cy="816496"/>
            </a:xfrm>
            <a:prstGeom prst="ellips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229" name="Straight Connector 431">
              <a:extLst>
                <a:ext uri="{FF2B5EF4-FFF2-40B4-BE49-F238E27FC236}">
                  <a16:creationId xmlns:a16="http://schemas.microsoft.com/office/drawing/2014/main" id="{34281446-53FE-EBC5-CF69-1661F2AC0CF7}"/>
                </a:ext>
              </a:extLst>
            </p:cNvPr>
            <p:cNvCxnSpPr>
              <a:cxnSpLocks/>
              <a:endCxn id="30" idx="3"/>
            </p:cNvCxnSpPr>
            <p:nvPr/>
          </p:nvCxnSpPr>
          <p:spPr bwMode="auto">
            <a:xfrm flipH="1">
              <a:off x="1918810" y="5586229"/>
              <a:ext cx="7517612" cy="37438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0" name="Oval 443">
              <a:extLst>
                <a:ext uri="{FF2B5EF4-FFF2-40B4-BE49-F238E27FC236}">
                  <a16:creationId xmlns:a16="http://schemas.microsoft.com/office/drawing/2014/main" id="{959C9A4D-62DC-F082-B369-DB93C56F5FC2}"/>
                </a:ext>
              </a:extLst>
            </p:cNvPr>
            <p:cNvSpPr/>
            <p:nvPr/>
          </p:nvSpPr>
          <p:spPr bwMode="auto">
            <a:xfrm>
              <a:off x="1269194" y="5105663"/>
              <a:ext cx="839004" cy="816496"/>
            </a:xfrm>
            <a:prstGeom prst="ellips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BA7BD78A-9594-1A25-6BA0-5FB8D9D72F71}"/>
                </a:ext>
              </a:extLst>
            </p:cNvPr>
            <p:cNvSpPr txBox="1"/>
            <p:nvPr/>
          </p:nvSpPr>
          <p:spPr>
            <a:xfrm>
              <a:off x="5770212" y="5681470"/>
              <a:ext cx="1482203" cy="327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⇐ AS3, X</a:t>
              </a: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0B59488B-9A47-88A0-9252-2E52758F7015}"/>
                </a:ext>
              </a:extLst>
            </p:cNvPr>
            <p:cNvSpPr txBox="1"/>
            <p:nvPr/>
          </p:nvSpPr>
          <p:spPr>
            <a:xfrm rot="21004227">
              <a:off x="2906141" y="4933653"/>
              <a:ext cx="1873545" cy="3277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⇒ AS1, AS3, X</a:t>
              </a:r>
            </a:p>
          </p:txBody>
        </p:sp>
        <p:sp>
          <p:nvSpPr>
            <p:cNvPr id="233" name="文本框 232">
              <a:extLst>
                <a:ext uri="{FF2B5EF4-FFF2-40B4-BE49-F238E27FC236}">
                  <a16:creationId xmlns:a16="http://schemas.microsoft.com/office/drawing/2014/main" id="{F2A4E473-4BBC-D2BD-82A7-3E9020CA5D0F}"/>
                </a:ext>
              </a:extLst>
            </p:cNvPr>
            <p:cNvSpPr txBox="1"/>
            <p:nvPr/>
          </p:nvSpPr>
          <p:spPr>
            <a:xfrm>
              <a:off x="7895923" y="5689238"/>
              <a:ext cx="1580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3E4095"/>
                  </a:solidFill>
                </a:rPr>
                <a:t>NEXT-HOP=3d</a:t>
              </a:r>
              <a:endParaRPr lang="zh-CN" altLang="en-US" b="1" dirty="0">
                <a:solidFill>
                  <a:srgbClr val="3E4095"/>
                </a:solidFill>
              </a:endParaRPr>
            </a:p>
          </p:txBody>
        </p: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CBDED921-DEDC-9E4B-AE50-3B3F6DD0C662}"/>
                </a:ext>
              </a:extLst>
            </p:cNvPr>
            <p:cNvCxnSpPr/>
            <p:nvPr/>
          </p:nvCxnSpPr>
          <p:spPr>
            <a:xfrm flipV="1">
              <a:off x="8905448" y="5462484"/>
              <a:ext cx="0" cy="2701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35F991ED-3D24-8E8E-D4EE-B4C5311B9140}"/>
                </a:ext>
              </a:extLst>
            </p:cNvPr>
            <p:cNvSpPr txBox="1"/>
            <p:nvPr/>
          </p:nvSpPr>
          <p:spPr>
            <a:xfrm>
              <a:off x="7201081" y="3800972"/>
              <a:ext cx="1580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3E4095"/>
                  </a:solidFill>
                </a:rPr>
                <a:t>NEXT-HOP=3a</a:t>
              </a:r>
              <a:endParaRPr lang="zh-CN" altLang="en-US" b="1" dirty="0">
                <a:solidFill>
                  <a:srgbClr val="3E4095"/>
                </a:solidFill>
              </a:endParaRPr>
            </a:p>
          </p:txBody>
        </p:sp>
        <p:cxnSp>
          <p:nvCxnSpPr>
            <p:cNvPr id="236" name="直接箭头连接符 235">
              <a:extLst>
                <a:ext uri="{FF2B5EF4-FFF2-40B4-BE49-F238E27FC236}">
                  <a16:creationId xmlns:a16="http://schemas.microsoft.com/office/drawing/2014/main" id="{D183B8CC-17BD-B352-44C7-F41E8586C87E}"/>
                </a:ext>
              </a:extLst>
            </p:cNvPr>
            <p:cNvCxnSpPr>
              <a:cxnSpLocks/>
            </p:cNvCxnSpPr>
            <p:nvPr/>
          </p:nvCxnSpPr>
          <p:spPr>
            <a:xfrm>
              <a:off x="7881284" y="4114637"/>
              <a:ext cx="0" cy="3192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85AA4F48-BE88-AF06-55DB-9FEEC2E3851C}"/>
                </a:ext>
              </a:extLst>
            </p:cNvPr>
            <p:cNvSpPr txBox="1"/>
            <p:nvPr/>
          </p:nvSpPr>
          <p:spPr>
            <a:xfrm>
              <a:off x="4811229" y="3267425"/>
              <a:ext cx="1580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3E4095"/>
                  </a:solidFill>
                </a:rPr>
                <a:t>NEXT-HOP=3a</a:t>
              </a:r>
              <a:endParaRPr lang="zh-CN" altLang="en-US" b="1" dirty="0">
                <a:solidFill>
                  <a:srgbClr val="3E4095"/>
                </a:solidFill>
              </a:endParaRPr>
            </a:p>
          </p:txBody>
        </p: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DF4AC270-4C9D-3EE3-4BD8-A9220CEB418E}"/>
                </a:ext>
              </a:extLst>
            </p:cNvPr>
            <p:cNvCxnSpPr>
              <a:cxnSpLocks/>
            </p:cNvCxnSpPr>
            <p:nvPr/>
          </p:nvCxnSpPr>
          <p:spPr>
            <a:xfrm>
              <a:off x="5491432" y="3581090"/>
              <a:ext cx="0" cy="10059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44674914-CAC6-812A-2428-7CB311168465}"/>
                </a:ext>
              </a:extLst>
            </p:cNvPr>
            <p:cNvSpPr txBox="1"/>
            <p:nvPr/>
          </p:nvSpPr>
          <p:spPr>
            <a:xfrm>
              <a:off x="3608127" y="3958301"/>
              <a:ext cx="1580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3E4095"/>
                  </a:solidFill>
                </a:rPr>
                <a:t>NEXT-HOP=2a</a:t>
              </a:r>
              <a:endParaRPr lang="zh-CN" altLang="en-US" b="1" dirty="0">
                <a:solidFill>
                  <a:srgbClr val="3E4095"/>
                </a:solidFill>
              </a:endParaRPr>
            </a:p>
          </p:txBody>
        </p:sp>
        <p:cxnSp>
          <p:nvCxnSpPr>
            <p:cNvPr id="240" name="直接箭头连接符 239">
              <a:extLst>
                <a:ext uri="{FF2B5EF4-FFF2-40B4-BE49-F238E27FC236}">
                  <a16:creationId xmlns:a16="http://schemas.microsoft.com/office/drawing/2014/main" id="{855527A4-3EE3-DF93-5E80-5612B863A3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5042" y="4230660"/>
              <a:ext cx="301684" cy="2139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CE4B1892-707D-9599-7A75-8A3B573E24C1}"/>
                </a:ext>
              </a:extLst>
            </p:cNvPr>
            <p:cNvSpPr txBox="1"/>
            <p:nvPr/>
          </p:nvSpPr>
          <p:spPr>
            <a:xfrm>
              <a:off x="6577166" y="6015190"/>
              <a:ext cx="1580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3E4095"/>
                  </a:solidFill>
                </a:rPr>
                <a:t>NEXT-HOP=3d</a:t>
              </a:r>
              <a:endParaRPr lang="zh-CN" altLang="en-US" b="1" dirty="0">
                <a:solidFill>
                  <a:srgbClr val="3E4095"/>
                </a:solidFill>
              </a:endParaRPr>
            </a:p>
          </p:txBody>
        </p:sp>
        <p:cxnSp>
          <p:nvCxnSpPr>
            <p:cNvPr id="242" name="直接箭头连接符 241">
              <a:extLst>
                <a:ext uri="{FF2B5EF4-FFF2-40B4-BE49-F238E27FC236}">
                  <a16:creationId xmlns:a16="http://schemas.microsoft.com/office/drawing/2014/main" id="{E690A313-C668-AE77-ECA1-05F449A259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26094" y="5920534"/>
              <a:ext cx="396169" cy="108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EE964D8D-2D88-0444-EA29-54DC93E7FC54}"/>
                </a:ext>
              </a:extLst>
            </p:cNvPr>
            <p:cNvSpPr txBox="1"/>
            <p:nvPr/>
          </p:nvSpPr>
          <p:spPr>
            <a:xfrm>
              <a:off x="3042673" y="5814761"/>
              <a:ext cx="1580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3E4095"/>
                  </a:solidFill>
                </a:rPr>
                <a:t>NEXT-HOP=1c</a:t>
              </a:r>
              <a:endParaRPr lang="zh-CN" altLang="en-US" b="1" dirty="0">
                <a:solidFill>
                  <a:srgbClr val="3E4095"/>
                </a:solidFill>
              </a:endParaRPr>
            </a:p>
          </p:txBody>
        </p: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CBF190D8-6B40-90D8-91ED-A2EA436BD882}"/>
                </a:ext>
              </a:extLst>
            </p:cNvPr>
            <p:cNvCxnSpPr>
              <a:cxnSpLocks/>
              <a:endCxn id="232" idx="2"/>
            </p:cNvCxnSpPr>
            <p:nvPr/>
          </p:nvCxnSpPr>
          <p:spPr>
            <a:xfrm flipV="1">
              <a:off x="3787770" y="5258980"/>
              <a:ext cx="83405" cy="5700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8" name="Freeform 241">
            <a:extLst>
              <a:ext uri="{FF2B5EF4-FFF2-40B4-BE49-F238E27FC236}">
                <a16:creationId xmlns:a16="http://schemas.microsoft.com/office/drawing/2014/main" id="{699DE3EB-00CD-4108-45C9-6C76978EF268}"/>
              </a:ext>
            </a:extLst>
          </p:cNvPr>
          <p:cNvSpPr/>
          <p:nvPr/>
        </p:nvSpPr>
        <p:spPr>
          <a:xfrm>
            <a:off x="1918810" y="2591266"/>
            <a:ext cx="2340077" cy="1848464"/>
          </a:xfrm>
          <a:custGeom>
            <a:avLst/>
            <a:gdLst>
              <a:gd name="connsiteX0" fmla="*/ 0 w 2340077"/>
              <a:gd name="connsiteY0" fmla="*/ 304800 h 432619"/>
              <a:gd name="connsiteX1" fmla="*/ 393290 w 2340077"/>
              <a:gd name="connsiteY1" fmla="*/ 0 h 432619"/>
              <a:gd name="connsiteX2" fmla="*/ 2340077 w 2340077"/>
              <a:gd name="connsiteY2" fmla="*/ 0 h 432619"/>
              <a:gd name="connsiteX3" fmla="*/ 147484 w 2340077"/>
              <a:gd name="connsiteY3" fmla="*/ 432619 h 432619"/>
              <a:gd name="connsiteX4" fmla="*/ 0 w 2340077"/>
              <a:gd name="connsiteY4" fmla="*/ 304800 h 432619"/>
              <a:gd name="connsiteX0" fmla="*/ 0 w 2340077"/>
              <a:gd name="connsiteY0" fmla="*/ 1691148 h 1818967"/>
              <a:gd name="connsiteX1" fmla="*/ 383458 w 2340077"/>
              <a:gd name="connsiteY1" fmla="*/ 0 h 1818967"/>
              <a:gd name="connsiteX2" fmla="*/ 2340077 w 2340077"/>
              <a:gd name="connsiteY2" fmla="*/ 1386348 h 1818967"/>
              <a:gd name="connsiteX3" fmla="*/ 147484 w 2340077"/>
              <a:gd name="connsiteY3" fmla="*/ 1818967 h 1818967"/>
              <a:gd name="connsiteX4" fmla="*/ 0 w 2340077"/>
              <a:gd name="connsiteY4" fmla="*/ 1691148 h 1818967"/>
              <a:gd name="connsiteX0" fmla="*/ 0 w 2340077"/>
              <a:gd name="connsiteY0" fmla="*/ 1691148 h 1818967"/>
              <a:gd name="connsiteX1" fmla="*/ 383458 w 2340077"/>
              <a:gd name="connsiteY1" fmla="*/ 0 h 1818967"/>
              <a:gd name="connsiteX2" fmla="*/ 2340077 w 2340077"/>
              <a:gd name="connsiteY2" fmla="*/ 1386348 h 1818967"/>
              <a:gd name="connsiteX3" fmla="*/ 147484 w 2340077"/>
              <a:gd name="connsiteY3" fmla="*/ 1818967 h 1818967"/>
              <a:gd name="connsiteX4" fmla="*/ 0 w 2340077"/>
              <a:gd name="connsiteY4" fmla="*/ 1691148 h 1818967"/>
              <a:gd name="connsiteX0" fmla="*/ 0 w 2340077"/>
              <a:gd name="connsiteY0" fmla="*/ 1691148 h 1828799"/>
              <a:gd name="connsiteX1" fmla="*/ 383458 w 2340077"/>
              <a:gd name="connsiteY1" fmla="*/ 0 h 1828799"/>
              <a:gd name="connsiteX2" fmla="*/ 2340077 w 2340077"/>
              <a:gd name="connsiteY2" fmla="*/ 1386348 h 1828799"/>
              <a:gd name="connsiteX3" fmla="*/ 186813 w 2340077"/>
              <a:gd name="connsiteY3" fmla="*/ 1828799 h 1828799"/>
              <a:gd name="connsiteX4" fmla="*/ 0 w 2340077"/>
              <a:gd name="connsiteY4" fmla="*/ 1691148 h 1828799"/>
              <a:gd name="connsiteX0" fmla="*/ 0 w 2340077"/>
              <a:gd name="connsiteY0" fmla="*/ 1691148 h 1828799"/>
              <a:gd name="connsiteX1" fmla="*/ 383458 w 2340077"/>
              <a:gd name="connsiteY1" fmla="*/ 0 h 1828799"/>
              <a:gd name="connsiteX2" fmla="*/ 2340077 w 2340077"/>
              <a:gd name="connsiteY2" fmla="*/ 1386348 h 1828799"/>
              <a:gd name="connsiteX3" fmla="*/ 186813 w 2340077"/>
              <a:gd name="connsiteY3" fmla="*/ 1828799 h 1828799"/>
              <a:gd name="connsiteX4" fmla="*/ 0 w 2340077"/>
              <a:gd name="connsiteY4" fmla="*/ 1691148 h 1828799"/>
              <a:gd name="connsiteX0" fmla="*/ 0 w 2340077"/>
              <a:gd name="connsiteY0" fmla="*/ 1691148 h 1828799"/>
              <a:gd name="connsiteX1" fmla="*/ 383458 w 2340077"/>
              <a:gd name="connsiteY1" fmla="*/ 0 h 1828799"/>
              <a:gd name="connsiteX2" fmla="*/ 2340077 w 2340077"/>
              <a:gd name="connsiteY2" fmla="*/ 1386348 h 1828799"/>
              <a:gd name="connsiteX3" fmla="*/ 186813 w 2340077"/>
              <a:gd name="connsiteY3" fmla="*/ 1828799 h 1828799"/>
              <a:gd name="connsiteX4" fmla="*/ 0 w 2340077"/>
              <a:gd name="connsiteY4" fmla="*/ 1691148 h 1828799"/>
              <a:gd name="connsiteX0" fmla="*/ 0 w 2340077"/>
              <a:gd name="connsiteY0" fmla="*/ 1691148 h 1828799"/>
              <a:gd name="connsiteX1" fmla="*/ 383458 w 2340077"/>
              <a:gd name="connsiteY1" fmla="*/ 0 h 1828799"/>
              <a:gd name="connsiteX2" fmla="*/ 2340077 w 2340077"/>
              <a:gd name="connsiteY2" fmla="*/ 1386348 h 1828799"/>
              <a:gd name="connsiteX3" fmla="*/ 186813 w 2340077"/>
              <a:gd name="connsiteY3" fmla="*/ 1828799 h 1828799"/>
              <a:gd name="connsiteX4" fmla="*/ 0 w 2340077"/>
              <a:gd name="connsiteY4" fmla="*/ 1691148 h 1828799"/>
              <a:gd name="connsiteX0" fmla="*/ 0 w 2340077"/>
              <a:gd name="connsiteY0" fmla="*/ 1691148 h 1848464"/>
              <a:gd name="connsiteX1" fmla="*/ 383458 w 2340077"/>
              <a:gd name="connsiteY1" fmla="*/ 0 h 1848464"/>
              <a:gd name="connsiteX2" fmla="*/ 2340077 w 2340077"/>
              <a:gd name="connsiteY2" fmla="*/ 1386348 h 1848464"/>
              <a:gd name="connsiteX3" fmla="*/ 137651 w 2340077"/>
              <a:gd name="connsiteY3" fmla="*/ 1848464 h 1848464"/>
              <a:gd name="connsiteX4" fmla="*/ 0 w 2340077"/>
              <a:gd name="connsiteY4" fmla="*/ 1691148 h 1848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0077" h="1848464">
                <a:moveTo>
                  <a:pt x="0" y="1691148"/>
                </a:moveTo>
                <a:cubicBezTo>
                  <a:pt x="167148" y="1304412"/>
                  <a:pt x="285136" y="770193"/>
                  <a:pt x="383458" y="0"/>
                </a:cubicBezTo>
                <a:lnTo>
                  <a:pt x="2340077" y="1386348"/>
                </a:lnTo>
                <a:cubicBezTo>
                  <a:pt x="871794" y="1579716"/>
                  <a:pt x="740695" y="1645264"/>
                  <a:pt x="137651" y="1848464"/>
                </a:cubicBezTo>
                <a:lnTo>
                  <a:pt x="0" y="1691148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9" name="Rectangle 245">
            <a:extLst>
              <a:ext uri="{FF2B5EF4-FFF2-40B4-BE49-F238E27FC236}">
                <a16:creationId xmlns:a16="http://schemas.microsoft.com/office/drawing/2014/main" id="{F0F9B9F1-7A23-5659-FB81-1673EFE6737D}"/>
              </a:ext>
            </a:extLst>
          </p:cNvPr>
          <p:cNvSpPr/>
          <p:nvPr/>
        </p:nvSpPr>
        <p:spPr>
          <a:xfrm>
            <a:off x="2318361" y="2539150"/>
            <a:ext cx="1663917" cy="370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3" name="Rectangle 248">
            <a:extLst>
              <a:ext uri="{FF2B5EF4-FFF2-40B4-BE49-F238E27FC236}">
                <a16:creationId xmlns:a16="http://schemas.microsoft.com/office/drawing/2014/main" id="{7D0A74F9-C957-577D-0E18-164C0A887F69}"/>
              </a:ext>
            </a:extLst>
          </p:cNvPr>
          <p:cNvSpPr/>
          <p:nvPr/>
        </p:nvSpPr>
        <p:spPr>
          <a:xfrm>
            <a:off x="2312951" y="2530362"/>
            <a:ext cx="1669327" cy="1428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4" name="TextBox 386">
            <a:extLst>
              <a:ext uri="{FF2B5EF4-FFF2-40B4-BE49-F238E27FC236}">
                <a16:creationId xmlns:a16="http://schemas.microsoft.com/office/drawing/2014/main" id="{71AB0349-BD1B-3D2F-E9EF-8D1A719ED26D}"/>
              </a:ext>
            </a:extLst>
          </p:cNvPr>
          <p:cNvSpPr txBox="1"/>
          <p:nvPr/>
        </p:nvSpPr>
        <p:spPr>
          <a:xfrm>
            <a:off x="879150" y="4530771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295" name="TextBox 386">
            <a:extLst>
              <a:ext uri="{FF2B5EF4-FFF2-40B4-BE49-F238E27FC236}">
                <a16:creationId xmlns:a16="http://schemas.microsoft.com/office/drawing/2014/main" id="{6B34B078-0226-0B3B-109D-97553E5E8C50}"/>
              </a:ext>
            </a:extLst>
          </p:cNvPr>
          <p:cNvSpPr txBox="1"/>
          <p:nvPr/>
        </p:nvSpPr>
        <p:spPr>
          <a:xfrm>
            <a:off x="765491" y="5120703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296" name="TextBox 386">
            <a:extLst>
              <a:ext uri="{FF2B5EF4-FFF2-40B4-BE49-F238E27FC236}">
                <a16:creationId xmlns:a16="http://schemas.microsoft.com/office/drawing/2014/main" id="{03483886-65E2-72EF-CCD8-96352B5C837E}"/>
              </a:ext>
            </a:extLst>
          </p:cNvPr>
          <p:cNvSpPr txBox="1"/>
          <p:nvPr/>
        </p:nvSpPr>
        <p:spPr>
          <a:xfrm>
            <a:off x="1177580" y="4355764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297" name="TextBox 386">
            <a:extLst>
              <a:ext uri="{FF2B5EF4-FFF2-40B4-BE49-F238E27FC236}">
                <a16:creationId xmlns:a16="http://schemas.microsoft.com/office/drawing/2014/main" id="{5BD4417C-1336-9E79-7C74-D633E6781026}"/>
              </a:ext>
            </a:extLst>
          </p:cNvPr>
          <p:cNvSpPr txBox="1"/>
          <p:nvPr/>
        </p:nvSpPr>
        <p:spPr>
          <a:xfrm>
            <a:off x="1999147" y="4327714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298" name="TextBox 398">
            <a:extLst>
              <a:ext uri="{FF2B5EF4-FFF2-40B4-BE49-F238E27FC236}">
                <a16:creationId xmlns:a16="http://schemas.microsoft.com/office/drawing/2014/main" id="{0C43C683-128D-C5D0-FB0C-8188F9F24057}"/>
              </a:ext>
            </a:extLst>
          </p:cNvPr>
          <p:cNvSpPr txBox="1"/>
          <p:nvPr/>
        </p:nvSpPr>
        <p:spPr>
          <a:xfrm>
            <a:off x="2312950" y="252089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dest</a:t>
            </a:r>
          </a:p>
        </p:txBody>
      </p:sp>
      <p:sp>
        <p:nvSpPr>
          <p:cNvPr id="299" name="TextBox 399">
            <a:extLst>
              <a:ext uri="{FF2B5EF4-FFF2-40B4-BE49-F238E27FC236}">
                <a16:creationId xmlns:a16="http://schemas.microsoft.com/office/drawing/2014/main" id="{BBB94D78-7801-6FBA-0F5F-E9435D4A9256}"/>
              </a:ext>
            </a:extLst>
          </p:cNvPr>
          <p:cNvSpPr txBox="1"/>
          <p:nvPr/>
        </p:nvSpPr>
        <p:spPr>
          <a:xfrm>
            <a:off x="2891912" y="2503454"/>
            <a:ext cx="1146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next-hop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303" name="Group 136">
            <a:extLst>
              <a:ext uri="{FF2B5EF4-FFF2-40B4-BE49-F238E27FC236}">
                <a16:creationId xmlns:a16="http://schemas.microsoft.com/office/drawing/2014/main" id="{908E6B37-A67E-958D-8D07-1DF8A49AEBDD}"/>
              </a:ext>
            </a:extLst>
          </p:cNvPr>
          <p:cNvGrpSpPr/>
          <p:nvPr/>
        </p:nvGrpSpPr>
        <p:grpSpPr>
          <a:xfrm>
            <a:off x="2401546" y="2872947"/>
            <a:ext cx="917328" cy="370003"/>
            <a:chOff x="1260825" y="5090966"/>
            <a:chExt cx="917328" cy="370003"/>
          </a:xfrm>
        </p:grpSpPr>
        <p:sp>
          <p:nvSpPr>
            <p:cNvPr id="304" name="TextBox 2">
              <a:extLst>
                <a:ext uri="{FF2B5EF4-FFF2-40B4-BE49-F238E27FC236}">
                  <a16:creationId xmlns:a16="http://schemas.microsoft.com/office/drawing/2014/main" id="{9224A0A9-E005-48E8-DA4C-8B5418385BEC}"/>
                </a:ext>
              </a:extLst>
            </p:cNvPr>
            <p:cNvSpPr txBox="1"/>
            <p:nvPr/>
          </p:nvSpPr>
          <p:spPr>
            <a:xfrm>
              <a:off x="1260825" y="5091637"/>
              <a:ext cx="412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  <a:r>
                <a:rPr lang="en-US" altLang="zh-CN" b="1" dirty="0">
                  <a:solidFill>
                    <a:schemeClr val="accent5">
                      <a:lumMod val="75000"/>
                    </a:schemeClr>
                  </a:solidFill>
                </a:rPr>
                <a:t>a</a:t>
              </a:r>
              <a:endParaRPr lang="en-US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5" name="TextBox 431">
              <a:extLst>
                <a:ext uri="{FF2B5EF4-FFF2-40B4-BE49-F238E27FC236}">
                  <a16:creationId xmlns:a16="http://schemas.microsoft.com/office/drawing/2014/main" id="{7A1E22B0-9F23-4059-03A8-35B457430234}"/>
                </a:ext>
              </a:extLst>
            </p:cNvPr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306" name="Group 136">
            <a:extLst>
              <a:ext uri="{FF2B5EF4-FFF2-40B4-BE49-F238E27FC236}">
                <a16:creationId xmlns:a16="http://schemas.microsoft.com/office/drawing/2014/main" id="{CE69672D-CFE9-4FA4-F7EA-A944F8F0F81F}"/>
              </a:ext>
            </a:extLst>
          </p:cNvPr>
          <p:cNvGrpSpPr/>
          <p:nvPr/>
        </p:nvGrpSpPr>
        <p:grpSpPr>
          <a:xfrm>
            <a:off x="2401546" y="3210024"/>
            <a:ext cx="917328" cy="370003"/>
            <a:chOff x="1260825" y="5090966"/>
            <a:chExt cx="917328" cy="370003"/>
          </a:xfrm>
        </p:grpSpPr>
        <p:sp>
          <p:nvSpPr>
            <p:cNvPr id="307" name="TextBox 2">
              <a:extLst>
                <a:ext uri="{FF2B5EF4-FFF2-40B4-BE49-F238E27FC236}">
                  <a16:creationId xmlns:a16="http://schemas.microsoft.com/office/drawing/2014/main" id="{E55C6F19-899F-FFC2-836A-7C7DFCE7ECED}"/>
                </a:ext>
              </a:extLst>
            </p:cNvPr>
            <p:cNvSpPr txBox="1"/>
            <p:nvPr/>
          </p:nvSpPr>
          <p:spPr>
            <a:xfrm>
              <a:off x="1260825" y="5091637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75000"/>
                    </a:schemeClr>
                  </a:solidFill>
                </a:rPr>
                <a:t>3d</a:t>
              </a:r>
            </a:p>
          </p:txBody>
        </p:sp>
        <p:sp>
          <p:nvSpPr>
            <p:cNvPr id="308" name="TextBox 431">
              <a:extLst>
                <a:ext uri="{FF2B5EF4-FFF2-40B4-BE49-F238E27FC236}">
                  <a16:creationId xmlns:a16="http://schemas.microsoft.com/office/drawing/2014/main" id="{98025F42-A1BC-53B0-F957-11595591963A}"/>
                </a:ext>
              </a:extLst>
            </p:cNvPr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310" name="Group 136">
            <a:extLst>
              <a:ext uri="{FF2B5EF4-FFF2-40B4-BE49-F238E27FC236}">
                <a16:creationId xmlns:a16="http://schemas.microsoft.com/office/drawing/2014/main" id="{B844B964-5778-8635-33E1-456A9115B626}"/>
              </a:ext>
            </a:extLst>
          </p:cNvPr>
          <p:cNvGrpSpPr/>
          <p:nvPr/>
        </p:nvGrpSpPr>
        <p:grpSpPr>
          <a:xfrm>
            <a:off x="2401546" y="3555545"/>
            <a:ext cx="1039156" cy="370003"/>
            <a:chOff x="1260825" y="5090966"/>
            <a:chExt cx="1039156" cy="370003"/>
          </a:xfrm>
        </p:grpSpPr>
        <p:sp>
          <p:nvSpPr>
            <p:cNvPr id="311" name="TextBox 2">
              <a:extLst>
                <a:ext uri="{FF2B5EF4-FFF2-40B4-BE49-F238E27FC236}">
                  <a16:creationId xmlns:a16="http://schemas.microsoft.com/office/drawing/2014/main" id="{697E6925-AB29-4504-0323-09B2E7A26DEB}"/>
                </a:ext>
              </a:extLst>
            </p:cNvPr>
            <p:cNvSpPr txBox="1"/>
            <p:nvPr/>
          </p:nvSpPr>
          <p:spPr>
            <a:xfrm>
              <a:off x="1260825" y="509163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4"/>
                  </a:solidFill>
                </a:rPr>
                <a:t>X</a:t>
              </a:r>
            </a:p>
          </p:txBody>
        </p:sp>
        <p:sp>
          <p:nvSpPr>
            <p:cNvPr id="312" name="TextBox 431">
              <a:extLst>
                <a:ext uri="{FF2B5EF4-FFF2-40B4-BE49-F238E27FC236}">
                  <a16:creationId xmlns:a16="http://schemas.microsoft.com/office/drawing/2014/main" id="{180D8ED7-5F7C-DC78-CD5A-7FEE1C1C7C47}"/>
                </a:ext>
              </a:extLst>
            </p:cNvPr>
            <p:cNvSpPr txBox="1"/>
            <p:nvPr/>
          </p:nvSpPr>
          <p:spPr>
            <a:xfrm>
              <a:off x="1876467" y="5090966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4"/>
                  </a:solidFill>
                </a:rPr>
                <a:t>3</a:t>
              </a:r>
              <a:r>
                <a:rPr lang="en-US" altLang="zh-CN" b="1" dirty="0">
                  <a:solidFill>
                    <a:schemeClr val="accent4"/>
                  </a:solidFill>
                </a:rPr>
                <a:t>d</a:t>
              </a:r>
              <a:endParaRPr lang="en-US" b="1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13" name="文本框 312">
            <a:extLst>
              <a:ext uri="{FF2B5EF4-FFF2-40B4-BE49-F238E27FC236}">
                <a16:creationId xmlns:a16="http://schemas.microsoft.com/office/drawing/2014/main" id="{5AE37DC7-7565-5C6F-DC66-B7D02FD387C0}"/>
              </a:ext>
            </a:extLst>
          </p:cNvPr>
          <p:cNvSpPr txBox="1"/>
          <p:nvPr/>
        </p:nvSpPr>
        <p:spPr>
          <a:xfrm>
            <a:off x="1415267" y="2993404"/>
            <a:ext cx="757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OSPF</a:t>
            </a:r>
            <a:endParaRPr lang="zh-CN" altLang="en-US" dirty="0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487E2A14-9EAC-788A-6A32-218A2D84B3CC}"/>
              </a:ext>
            </a:extLst>
          </p:cNvPr>
          <p:cNvSpPr txBox="1"/>
          <p:nvPr/>
        </p:nvSpPr>
        <p:spPr>
          <a:xfrm>
            <a:off x="1406313" y="3497117"/>
            <a:ext cx="757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BGP</a:t>
            </a:r>
            <a:endParaRPr lang="zh-CN" altLang="en-US" dirty="0"/>
          </a:p>
        </p:txBody>
      </p: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034A934E-3A37-53BE-0E7D-A9F62666D19E}"/>
              </a:ext>
            </a:extLst>
          </p:cNvPr>
          <p:cNvGrpSpPr/>
          <p:nvPr/>
        </p:nvGrpSpPr>
        <p:grpSpPr>
          <a:xfrm>
            <a:off x="7132402" y="879024"/>
            <a:ext cx="4528457" cy="2185305"/>
            <a:chOff x="711200" y="4362459"/>
            <a:chExt cx="4528457" cy="2185305"/>
          </a:xfrm>
        </p:grpSpPr>
        <p:sp>
          <p:nvSpPr>
            <p:cNvPr id="316" name="矩形 315">
              <a:extLst>
                <a:ext uri="{FF2B5EF4-FFF2-40B4-BE49-F238E27FC236}">
                  <a16:creationId xmlns:a16="http://schemas.microsoft.com/office/drawing/2014/main" id="{ADABE953-A343-DFA7-04FD-D864B11C4F75}"/>
                </a:ext>
              </a:extLst>
            </p:cNvPr>
            <p:cNvSpPr/>
            <p:nvPr/>
          </p:nvSpPr>
          <p:spPr>
            <a:xfrm>
              <a:off x="711200" y="4362459"/>
              <a:ext cx="1712686" cy="4499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75000"/>
                    </a:schemeClr>
                  </a:solidFill>
                </a:rPr>
                <a:t>OSPF</a:t>
              </a:r>
              <a:r>
                <a:rPr lang="zh-CN" altLang="en-US" b="1" dirty="0">
                  <a:solidFill>
                    <a:schemeClr val="accent5">
                      <a:lumMod val="75000"/>
                    </a:schemeClr>
                  </a:solidFill>
                </a:rPr>
                <a:t>路由表</a:t>
              </a:r>
            </a:p>
          </p:txBody>
        </p:sp>
        <p:sp>
          <p:nvSpPr>
            <p:cNvPr id="317" name="矩形 316">
              <a:extLst>
                <a:ext uri="{FF2B5EF4-FFF2-40B4-BE49-F238E27FC236}">
                  <a16:creationId xmlns:a16="http://schemas.microsoft.com/office/drawing/2014/main" id="{6DA5DC92-0CFA-EF22-9C6E-801A784CBCAD}"/>
                </a:ext>
              </a:extLst>
            </p:cNvPr>
            <p:cNvSpPr/>
            <p:nvPr/>
          </p:nvSpPr>
          <p:spPr>
            <a:xfrm>
              <a:off x="711200" y="4949381"/>
              <a:ext cx="1712686" cy="4499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4"/>
                  </a:solidFill>
                </a:rPr>
                <a:t>BGP</a:t>
              </a:r>
              <a:r>
                <a:rPr lang="zh-CN" altLang="en-US" b="1" dirty="0">
                  <a:solidFill>
                    <a:schemeClr val="accent4"/>
                  </a:solidFill>
                </a:rPr>
                <a:t>路由表</a:t>
              </a:r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CF3C793E-5051-AD27-EF27-EF15142C7880}"/>
                </a:ext>
              </a:extLst>
            </p:cNvPr>
            <p:cNvSpPr/>
            <p:nvPr/>
          </p:nvSpPr>
          <p:spPr>
            <a:xfrm>
              <a:off x="711200" y="5536303"/>
              <a:ext cx="1712686" cy="4499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静态路由</a:t>
              </a:r>
            </a:p>
          </p:txBody>
        </p:sp>
        <p:sp>
          <p:nvSpPr>
            <p:cNvPr id="319" name="矩形 318">
              <a:extLst>
                <a:ext uri="{FF2B5EF4-FFF2-40B4-BE49-F238E27FC236}">
                  <a16:creationId xmlns:a16="http://schemas.microsoft.com/office/drawing/2014/main" id="{D58C7D71-0FEB-63CE-D520-31AAC1D7ADB9}"/>
                </a:ext>
              </a:extLst>
            </p:cNvPr>
            <p:cNvSpPr/>
            <p:nvPr/>
          </p:nvSpPr>
          <p:spPr>
            <a:xfrm>
              <a:off x="711200" y="6097822"/>
              <a:ext cx="1712686" cy="44994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直接连接路由</a:t>
              </a:r>
            </a:p>
          </p:txBody>
        </p: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AA7C38EA-3A08-56B5-2F71-DF48694D2133}"/>
                </a:ext>
              </a:extLst>
            </p:cNvPr>
            <p:cNvSpPr/>
            <p:nvPr/>
          </p:nvSpPr>
          <p:spPr>
            <a:xfrm>
              <a:off x="3526971" y="4991106"/>
              <a:ext cx="1712686" cy="78558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/>
                <a:t>转发表</a:t>
              </a:r>
            </a:p>
          </p:txBody>
        </p:sp>
        <p:sp>
          <p:nvSpPr>
            <p:cNvPr id="321" name="箭头: 右 320">
              <a:extLst>
                <a:ext uri="{FF2B5EF4-FFF2-40B4-BE49-F238E27FC236}">
                  <a16:creationId xmlns:a16="http://schemas.microsoft.com/office/drawing/2014/main" id="{17F133A3-35A6-0658-8C67-6AC8A3D6CEFA}"/>
                </a:ext>
              </a:extLst>
            </p:cNvPr>
            <p:cNvSpPr/>
            <p:nvPr/>
          </p:nvSpPr>
          <p:spPr>
            <a:xfrm>
              <a:off x="2772229" y="5219257"/>
              <a:ext cx="624114" cy="39279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2561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E3501-9FF9-EA00-5F21-457552FDE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热土豆路由</a:t>
            </a:r>
            <a:r>
              <a:rPr lang="en-US" altLang="zh-CN" dirty="0"/>
              <a:t>(Hot Potato Routing)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F16E49-23E0-8350-5DC2-1E6CB57FB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3062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多条离开自治系统的路径中的具有最小花费的路由</a:t>
            </a:r>
            <a:endParaRPr lang="en-US" altLang="zh-CN" dirty="0"/>
          </a:p>
          <a:p>
            <a:r>
              <a:rPr lang="zh-CN" altLang="en-US" dirty="0"/>
              <a:t>仅仅考虑自治系统内部的那段路径的花费</a:t>
            </a:r>
            <a:endParaRPr lang="en-US" altLang="zh-CN" dirty="0"/>
          </a:p>
          <a:p>
            <a:r>
              <a:rPr lang="en-US" altLang="zh-CN" b="1" dirty="0">
                <a:solidFill>
                  <a:schemeClr val="accent4"/>
                </a:solidFill>
              </a:rPr>
              <a:t>BGP</a:t>
            </a:r>
            <a:r>
              <a:rPr lang="zh-CN" altLang="en-US" b="1" dirty="0">
                <a:solidFill>
                  <a:schemeClr val="accent4"/>
                </a:solidFill>
              </a:rPr>
              <a:t>的路由选择 </a:t>
            </a:r>
            <a:r>
              <a:rPr lang="en-US" altLang="zh-CN" b="1" dirty="0">
                <a:solidFill>
                  <a:schemeClr val="accent4"/>
                </a:solidFill>
              </a:rPr>
              <a:t>!= </a:t>
            </a:r>
            <a:r>
              <a:rPr lang="zh-CN" altLang="en-US" b="1" dirty="0">
                <a:solidFill>
                  <a:schemeClr val="accent4"/>
                </a:solidFill>
              </a:rPr>
              <a:t>热土豆路由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en-US" altLang="zh-CN" dirty="0"/>
              <a:t>OSPF</a:t>
            </a:r>
            <a:r>
              <a:rPr lang="zh-CN" altLang="en-US" dirty="0"/>
              <a:t>路由协议</a:t>
            </a:r>
            <a:r>
              <a:rPr lang="en-US" altLang="zh-CN" dirty="0">
                <a:highlight>
                  <a:srgbClr val="FFFF00"/>
                </a:highlight>
              </a:rPr>
              <a:t>【</a:t>
            </a:r>
            <a:r>
              <a:rPr lang="zh-CN" altLang="en-US" dirty="0">
                <a:highlight>
                  <a:srgbClr val="FFFF00"/>
                </a:highlight>
              </a:rPr>
              <a:t>拓展</a:t>
            </a:r>
            <a:r>
              <a:rPr lang="en-US" altLang="zh-CN" dirty="0">
                <a:highlight>
                  <a:srgbClr val="FFFF00"/>
                </a:highlight>
              </a:rPr>
              <a:t>】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sz="2000" dirty="0"/>
              <a:t>允许发布到</a:t>
            </a:r>
            <a:r>
              <a:rPr lang="en-US" altLang="zh-CN" sz="2000" dirty="0"/>
              <a:t>AS</a:t>
            </a:r>
            <a:r>
              <a:rPr lang="zh-CN" altLang="en-US" sz="2000" dirty="0"/>
              <a:t>外的（类型</a:t>
            </a:r>
            <a:r>
              <a:rPr lang="en-US" altLang="zh-CN" sz="2000" dirty="0"/>
              <a:t>5</a:t>
            </a:r>
            <a:r>
              <a:rPr lang="zh-CN" altLang="en-US" sz="2000" dirty="0"/>
              <a:t>）链路状态，其中类型</a:t>
            </a:r>
            <a:r>
              <a:rPr lang="en-US" altLang="zh-CN" sz="2000" dirty="0"/>
              <a:t>2</a:t>
            </a:r>
            <a:r>
              <a:rPr lang="zh-CN" altLang="en-US" sz="2000" dirty="0"/>
              <a:t>的花费仅仅包含外部花费</a:t>
            </a:r>
            <a:endParaRPr lang="en-US" altLang="zh-CN" sz="2000" dirty="0"/>
          </a:p>
          <a:p>
            <a:pPr lvl="1"/>
            <a:r>
              <a:rPr lang="en-US" altLang="zh-CN" sz="2000" dirty="0"/>
              <a:t>AS</a:t>
            </a:r>
            <a:r>
              <a:rPr lang="zh-CN" altLang="en-US" sz="2000" dirty="0"/>
              <a:t>外部</a:t>
            </a:r>
            <a:r>
              <a:rPr lang="en-US" altLang="zh-CN" sz="2000" dirty="0"/>
              <a:t>LSA</a:t>
            </a:r>
            <a:r>
              <a:rPr lang="zh-CN" altLang="en-US" sz="2000" dirty="0"/>
              <a:t>在扩散过程中，花费不变</a:t>
            </a:r>
            <a:endParaRPr lang="en-US" altLang="zh-CN" sz="2000" dirty="0"/>
          </a:p>
          <a:p>
            <a:pPr lvl="1"/>
            <a:r>
              <a:rPr lang="zh-CN" altLang="en-US" sz="2000" dirty="0"/>
              <a:t>多个</a:t>
            </a:r>
            <a:r>
              <a:rPr lang="en-US" altLang="zh-CN" sz="2000" dirty="0"/>
              <a:t>ASBR</a:t>
            </a:r>
            <a:r>
              <a:rPr lang="zh-CN" altLang="en-US" sz="2000" dirty="0"/>
              <a:t>发布的到目的地</a:t>
            </a:r>
            <a:r>
              <a:rPr lang="en-US" altLang="zh-CN" sz="2000" dirty="0"/>
              <a:t>X</a:t>
            </a:r>
            <a:r>
              <a:rPr lang="zh-CN" altLang="en-US" sz="2000" dirty="0"/>
              <a:t>的路径中类型</a:t>
            </a:r>
            <a:r>
              <a:rPr lang="en-US" altLang="zh-CN" sz="2000" dirty="0"/>
              <a:t>2</a:t>
            </a:r>
            <a:r>
              <a:rPr lang="zh-CN" altLang="en-US" sz="2000" dirty="0"/>
              <a:t>花费相同的情况下，采用热土豆路由</a:t>
            </a:r>
            <a:endParaRPr lang="en-US" altLang="zh-CN" sz="2000" dirty="0"/>
          </a:p>
        </p:txBody>
      </p: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1170D2B2-4BB2-2BBD-358D-EFF552A03F20}"/>
              </a:ext>
            </a:extLst>
          </p:cNvPr>
          <p:cNvGrpSpPr/>
          <p:nvPr/>
        </p:nvGrpSpPr>
        <p:grpSpPr>
          <a:xfrm>
            <a:off x="1195445" y="3687355"/>
            <a:ext cx="9801110" cy="2917436"/>
            <a:chOff x="1163507" y="1064076"/>
            <a:chExt cx="9801110" cy="2917436"/>
          </a:xfrm>
        </p:grpSpPr>
        <p:grpSp>
          <p:nvGrpSpPr>
            <p:cNvPr id="4" name="Group 708">
              <a:extLst>
                <a:ext uri="{FF2B5EF4-FFF2-40B4-BE49-F238E27FC236}">
                  <a16:creationId xmlns:a16="http://schemas.microsoft.com/office/drawing/2014/main" id="{16057296-D9CB-4B85-874A-829033A3F5D8}"/>
                </a:ext>
              </a:extLst>
            </p:cNvPr>
            <p:cNvGrpSpPr/>
            <p:nvPr/>
          </p:nvGrpSpPr>
          <p:grpSpPr>
            <a:xfrm>
              <a:off x="1163507" y="1064076"/>
              <a:ext cx="9801110" cy="2876474"/>
              <a:chOff x="1113403" y="1064076"/>
              <a:chExt cx="9801110" cy="2876474"/>
            </a:xfrm>
          </p:grpSpPr>
          <p:grpSp>
            <p:nvGrpSpPr>
              <p:cNvPr id="5" name="Group 709">
                <a:extLst>
                  <a:ext uri="{FF2B5EF4-FFF2-40B4-BE49-F238E27FC236}">
                    <a16:creationId xmlns:a16="http://schemas.microsoft.com/office/drawing/2014/main" id="{85F64F6F-6971-411A-38ED-91F98168DEEC}"/>
                  </a:ext>
                </a:extLst>
              </p:cNvPr>
              <p:cNvGrpSpPr/>
              <p:nvPr/>
            </p:nvGrpSpPr>
            <p:grpSpPr>
              <a:xfrm>
                <a:off x="1113403" y="1064076"/>
                <a:ext cx="9801110" cy="2876474"/>
                <a:chOff x="1426553" y="3694542"/>
                <a:chExt cx="9801110" cy="2876474"/>
              </a:xfrm>
            </p:grpSpPr>
            <p:grpSp>
              <p:nvGrpSpPr>
                <p:cNvPr id="7" name="Group 711">
                  <a:extLst>
                    <a:ext uri="{FF2B5EF4-FFF2-40B4-BE49-F238E27FC236}">
                      <a16:creationId xmlns:a16="http://schemas.microsoft.com/office/drawing/2014/main" id="{058D04F6-D365-9972-3E7D-411F6B1593BB}"/>
                    </a:ext>
                  </a:extLst>
                </p:cNvPr>
                <p:cNvGrpSpPr/>
                <p:nvPr/>
              </p:nvGrpSpPr>
              <p:grpSpPr>
                <a:xfrm>
                  <a:off x="1426553" y="3694542"/>
                  <a:ext cx="9249542" cy="2876474"/>
                  <a:chOff x="1426553" y="3694542"/>
                  <a:chExt cx="9249542" cy="2876474"/>
                </a:xfrm>
              </p:grpSpPr>
              <p:grpSp>
                <p:nvGrpSpPr>
                  <p:cNvPr id="25" name="Group 729">
                    <a:extLst>
                      <a:ext uri="{FF2B5EF4-FFF2-40B4-BE49-F238E27FC236}">
                        <a16:creationId xmlns:a16="http://schemas.microsoft.com/office/drawing/2014/main" id="{1B0CB326-D4B9-0555-A85B-2AEF86EA61B9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4625977" y="4850481"/>
                    <a:chExt cx="2545688" cy="1720535"/>
                  </a:xfrm>
                </p:grpSpPr>
                <p:grpSp>
                  <p:nvGrpSpPr>
                    <p:cNvPr id="159" name="Group 863">
                      <a:extLst>
                        <a:ext uri="{FF2B5EF4-FFF2-40B4-BE49-F238E27FC236}">
                          <a16:creationId xmlns:a16="http://schemas.microsoft.com/office/drawing/2014/main" id="{94A79670-C48B-882C-FF2A-3D6CFC0940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25977" y="4850481"/>
                      <a:ext cx="2545688" cy="1720535"/>
                      <a:chOff x="-2170772" y="2784954"/>
                      <a:chExt cx="2712783" cy="1853712"/>
                    </a:xfrm>
                  </p:grpSpPr>
                  <p:sp>
                    <p:nvSpPr>
                      <p:cNvPr id="161" name="Freeform 2">
                        <a:extLst>
                          <a:ext uri="{FF2B5EF4-FFF2-40B4-BE49-F238E27FC236}">
                            <a16:creationId xmlns:a16="http://schemas.microsoft.com/office/drawing/2014/main" id="{1C29923B-E0D1-4267-800D-BB094A84423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-2170772" y="2784954"/>
                        <a:ext cx="2712783" cy="1853712"/>
                      </a:xfrm>
                      <a:custGeom>
                        <a:avLst/>
                        <a:gdLst>
                          <a:gd name="T0" fmla="*/ 648763 w 10001"/>
                          <a:gd name="T1" fmla="*/ 34777612 h 10125"/>
                          <a:gd name="T2" fmla="*/ 115976403 w 10001"/>
                          <a:gd name="T3" fmla="*/ 13733703 h 10125"/>
                          <a:gd name="T4" fmla="*/ 507700960 w 10001"/>
                          <a:gd name="T5" fmla="*/ 8662125 h 10125"/>
                          <a:gd name="T6" fmla="*/ 810212713 w 10001"/>
                          <a:gd name="T7" fmla="*/ 0 h 10125"/>
                          <a:gd name="T8" fmla="*/ 1090015738 w 10001"/>
                          <a:gd name="T9" fmla="*/ 8687929 h 10125"/>
                          <a:gd name="T10" fmla="*/ 1310938763 w 10001"/>
                          <a:gd name="T11" fmla="*/ 4279362 h 10125"/>
                          <a:gd name="T12" fmla="*/ 1620263134 w 10001"/>
                          <a:gd name="T13" fmla="*/ 25736690 h 10125"/>
                          <a:gd name="T14" fmla="*/ 1394798364 w 10001"/>
                          <a:gd name="T15" fmla="*/ 58525268 h 10125"/>
                          <a:gd name="T16" fmla="*/ 1134622140 w 10001"/>
                          <a:gd name="T17" fmla="*/ 80266624 h 10125"/>
                          <a:gd name="T18" fmla="*/ 860820276 w 10001"/>
                          <a:gd name="T19" fmla="*/ 76142271 h 10125"/>
                          <a:gd name="T20" fmla="*/ 708996782 w 10001"/>
                          <a:gd name="T21" fmla="*/ 85346835 h 10125"/>
                          <a:gd name="T22" fmla="*/ 509322667 w 10001"/>
                          <a:gd name="T23" fmla="*/ 86268164 h 10125"/>
                          <a:gd name="T24" fmla="*/ 353443899 w 10001"/>
                          <a:gd name="T25" fmla="*/ 67979516 h 10125"/>
                          <a:gd name="T26" fmla="*/ 192536914 w 10001"/>
                          <a:gd name="T27" fmla="*/ 64535347 h 10125"/>
                          <a:gd name="T28" fmla="*/ 648763 w 10001"/>
                          <a:gd name="T29" fmla="*/ 34777612 h 10125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connsiteX0" fmla="*/ 4 w 10040"/>
                          <a:gd name="connsiteY0" fmla="*/ 4039 h 10125"/>
                          <a:gd name="connsiteX1" fmla="*/ 715 w 10040"/>
                          <a:gd name="connsiteY1" fmla="*/ 1595 h 10125"/>
                          <a:gd name="connsiteX2" fmla="*/ 3130 w 10040"/>
                          <a:gd name="connsiteY2" fmla="*/ 1006 h 10125"/>
                          <a:gd name="connsiteX3" fmla="*/ 4995 w 10040"/>
                          <a:gd name="connsiteY3" fmla="*/ 0 h 10125"/>
                          <a:gd name="connsiteX4" fmla="*/ 6720 w 10040"/>
                          <a:gd name="connsiteY4" fmla="*/ 1009 h 10125"/>
                          <a:gd name="connsiteX5" fmla="*/ 9989 w 10040"/>
                          <a:gd name="connsiteY5" fmla="*/ 2989 h 10125"/>
                          <a:gd name="connsiteX6" fmla="*/ 8599 w 10040"/>
                          <a:gd name="connsiteY6" fmla="*/ 6797 h 10125"/>
                          <a:gd name="connsiteX7" fmla="*/ 6995 w 10040"/>
                          <a:gd name="connsiteY7" fmla="*/ 9322 h 10125"/>
                          <a:gd name="connsiteX8" fmla="*/ 5307 w 10040"/>
                          <a:gd name="connsiteY8" fmla="*/ 8843 h 10125"/>
                          <a:gd name="connsiteX9" fmla="*/ 4371 w 10040"/>
                          <a:gd name="connsiteY9" fmla="*/ 9912 h 10125"/>
                          <a:gd name="connsiteX10" fmla="*/ 3140 w 10040"/>
                          <a:gd name="connsiteY10" fmla="*/ 10019 h 10125"/>
                          <a:gd name="connsiteX11" fmla="*/ 2179 w 10040"/>
                          <a:gd name="connsiteY11" fmla="*/ 7895 h 10125"/>
                          <a:gd name="connsiteX12" fmla="*/ 1187 w 10040"/>
                          <a:gd name="connsiteY12" fmla="*/ 7495 h 10125"/>
                          <a:gd name="connsiteX13" fmla="*/ 4 w 10040"/>
                          <a:gd name="connsiteY13" fmla="*/ 4039 h 10125"/>
                          <a:gd name="connsiteX0" fmla="*/ 4 w 8600"/>
                          <a:gd name="connsiteY0" fmla="*/ 4042 h 10128"/>
                          <a:gd name="connsiteX1" fmla="*/ 715 w 8600"/>
                          <a:gd name="connsiteY1" fmla="*/ 1598 h 10128"/>
                          <a:gd name="connsiteX2" fmla="*/ 3130 w 8600"/>
                          <a:gd name="connsiteY2" fmla="*/ 1009 h 10128"/>
                          <a:gd name="connsiteX3" fmla="*/ 4995 w 8600"/>
                          <a:gd name="connsiteY3" fmla="*/ 3 h 10128"/>
                          <a:gd name="connsiteX4" fmla="*/ 6720 w 8600"/>
                          <a:gd name="connsiteY4" fmla="*/ 1012 h 10128"/>
                          <a:gd name="connsiteX5" fmla="*/ 8599 w 8600"/>
                          <a:gd name="connsiteY5" fmla="*/ 6800 h 10128"/>
                          <a:gd name="connsiteX6" fmla="*/ 6995 w 8600"/>
                          <a:gd name="connsiteY6" fmla="*/ 9325 h 10128"/>
                          <a:gd name="connsiteX7" fmla="*/ 5307 w 8600"/>
                          <a:gd name="connsiteY7" fmla="*/ 8846 h 10128"/>
                          <a:gd name="connsiteX8" fmla="*/ 4371 w 8600"/>
                          <a:gd name="connsiteY8" fmla="*/ 9915 h 10128"/>
                          <a:gd name="connsiteX9" fmla="*/ 3140 w 8600"/>
                          <a:gd name="connsiteY9" fmla="*/ 10022 h 10128"/>
                          <a:gd name="connsiteX10" fmla="*/ 2179 w 8600"/>
                          <a:gd name="connsiteY10" fmla="*/ 7898 h 10128"/>
                          <a:gd name="connsiteX11" fmla="*/ 1187 w 8600"/>
                          <a:gd name="connsiteY11" fmla="*/ 7498 h 10128"/>
                          <a:gd name="connsiteX12" fmla="*/ 4 w 8600"/>
                          <a:gd name="connsiteY12" fmla="*/ 4042 h 10128"/>
                          <a:gd name="connsiteX0" fmla="*/ 4 w 9326"/>
                          <a:gd name="connsiteY0" fmla="*/ 3988 h 9997"/>
                          <a:gd name="connsiteX1" fmla="*/ 830 w 9326"/>
                          <a:gd name="connsiteY1" fmla="*/ 1575 h 9997"/>
                          <a:gd name="connsiteX2" fmla="*/ 3639 w 9326"/>
                          <a:gd name="connsiteY2" fmla="*/ 993 h 9997"/>
                          <a:gd name="connsiteX3" fmla="*/ 5807 w 9326"/>
                          <a:gd name="connsiteY3" fmla="*/ 0 h 9997"/>
                          <a:gd name="connsiteX4" fmla="*/ 7813 w 9326"/>
                          <a:gd name="connsiteY4" fmla="*/ 996 h 9997"/>
                          <a:gd name="connsiteX5" fmla="*/ 9324 w 9326"/>
                          <a:gd name="connsiteY5" fmla="*/ 5746 h 9997"/>
                          <a:gd name="connsiteX6" fmla="*/ 8133 w 9326"/>
                          <a:gd name="connsiteY6" fmla="*/ 9204 h 9997"/>
                          <a:gd name="connsiteX7" fmla="*/ 6170 w 9326"/>
                          <a:gd name="connsiteY7" fmla="*/ 8731 h 9997"/>
                          <a:gd name="connsiteX8" fmla="*/ 5082 w 9326"/>
                          <a:gd name="connsiteY8" fmla="*/ 9787 h 9997"/>
                          <a:gd name="connsiteX9" fmla="*/ 3650 w 9326"/>
                          <a:gd name="connsiteY9" fmla="*/ 9892 h 9997"/>
                          <a:gd name="connsiteX10" fmla="*/ 2533 w 9326"/>
                          <a:gd name="connsiteY10" fmla="*/ 7795 h 9997"/>
                          <a:gd name="connsiteX11" fmla="*/ 1379 w 9326"/>
                          <a:gd name="connsiteY11" fmla="*/ 7400 h 9997"/>
                          <a:gd name="connsiteX12" fmla="*/ 4 w 9326"/>
                          <a:gd name="connsiteY12" fmla="*/ 3988 h 9997"/>
                          <a:gd name="connsiteX0" fmla="*/ 4 w 10001"/>
                          <a:gd name="connsiteY0" fmla="*/ 3989 h 10041"/>
                          <a:gd name="connsiteX1" fmla="*/ 890 w 10001"/>
                          <a:gd name="connsiteY1" fmla="*/ 1575 h 10041"/>
                          <a:gd name="connsiteX2" fmla="*/ 3902 w 10001"/>
                          <a:gd name="connsiteY2" fmla="*/ 993 h 10041"/>
                          <a:gd name="connsiteX3" fmla="*/ 6227 w 10001"/>
                          <a:gd name="connsiteY3" fmla="*/ 0 h 10041"/>
                          <a:gd name="connsiteX4" fmla="*/ 8378 w 10001"/>
                          <a:gd name="connsiteY4" fmla="*/ 996 h 10041"/>
                          <a:gd name="connsiteX5" fmla="*/ 9998 w 10001"/>
                          <a:gd name="connsiteY5" fmla="*/ 5748 h 10041"/>
                          <a:gd name="connsiteX6" fmla="*/ 8721 w 10001"/>
                          <a:gd name="connsiteY6" fmla="*/ 9207 h 10041"/>
                          <a:gd name="connsiteX7" fmla="*/ 5449 w 10001"/>
                          <a:gd name="connsiteY7" fmla="*/ 9790 h 10041"/>
                          <a:gd name="connsiteX8" fmla="*/ 3914 w 10001"/>
                          <a:gd name="connsiteY8" fmla="*/ 9895 h 10041"/>
                          <a:gd name="connsiteX9" fmla="*/ 2716 w 10001"/>
                          <a:gd name="connsiteY9" fmla="*/ 7797 h 10041"/>
                          <a:gd name="connsiteX10" fmla="*/ 1479 w 10001"/>
                          <a:gd name="connsiteY10" fmla="*/ 7402 h 10041"/>
                          <a:gd name="connsiteX11" fmla="*/ 4 w 10001"/>
                          <a:gd name="connsiteY11" fmla="*/ 3989 h 10041"/>
                          <a:gd name="connsiteX0" fmla="*/ 4 w 10001"/>
                          <a:gd name="connsiteY0" fmla="*/ 3989 h 14825"/>
                          <a:gd name="connsiteX1" fmla="*/ 890 w 10001"/>
                          <a:gd name="connsiteY1" fmla="*/ 1575 h 14825"/>
                          <a:gd name="connsiteX2" fmla="*/ 3902 w 10001"/>
                          <a:gd name="connsiteY2" fmla="*/ 993 h 14825"/>
                          <a:gd name="connsiteX3" fmla="*/ 6227 w 10001"/>
                          <a:gd name="connsiteY3" fmla="*/ 0 h 14825"/>
                          <a:gd name="connsiteX4" fmla="*/ 8378 w 10001"/>
                          <a:gd name="connsiteY4" fmla="*/ 996 h 14825"/>
                          <a:gd name="connsiteX5" fmla="*/ 9998 w 10001"/>
                          <a:gd name="connsiteY5" fmla="*/ 5748 h 14825"/>
                          <a:gd name="connsiteX6" fmla="*/ 8721 w 10001"/>
                          <a:gd name="connsiteY6" fmla="*/ 9207 h 14825"/>
                          <a:gd name="connsiteX7" fmla="*/ 6011 w 10001"/>
                          <a:gd name="connsiteY7" fmla="*/ 14823 h 14825"/>
                          <a:gd name="connsiteX8" fmla="*/ 3914 w 10001"/>
                          <a:gd name="connsiteY8" fmla="*/ 9895 h 14825"/>
                          <a:gd name="connsiteX9" fmla="*/ 2716 w 10001"/>
                          <a:gd name="connsiteY9" fmla="*/ 7797 h 14825"/>
                          <a:gd name="connsiteX10" fmla="*/ 1479 w 10001"/>
                          <a:gd name="connsiteY10" fmla="*/ 7402 h 14825"/>
                          <a:gd name="connsiteX11" fmla="*/ 4 w 10001"/>
                          <a:gd name="connsiteY11" fmla="*/ 3989 h 14825"/>
                          <a:gd name="connsiteX0" fmla="*/ 4 w 10001"/>
                          <a:gd name="connsiteY0" fmla="*/ 7436 h 18272"/>
                          <a:gd name="connsiteX1" fmla="*/ 890 w 10001"/>
                          <a:gd name="connsiteY1" fmla="*/ 5022 h 18272"/>
                          <a:gd name="connsiteX2" fmla="*/ 3902 w 10001"/>
                          <a:gd name="connsiteY2" fmla="*/ 4440 h 18272"/>
                          <a:gd name="connsiteX3" fmla="*/ 6026 w 10001"/>
                          <a:gd name="connsiteY3" fmla="*/ 0 h 18272"/>
                          <a:gd name="connsiteX4" fmla="*/ 8378 w 10001"/>
                          <a:gd name="connsiteY4" fmla="*/ 4443 h 18272"/>
                          <a:gd name="connsiteX5" fmla="*/ 9998 w 10001"/>
                          <a:gd name="connsiteY5" fmla="*/ 9195 h 18272"/>
                          <a:gd name="connsiteX6" fmla="*/ 8721 w 10001"/>
                          <a:gd name="connsiteY6" fmla="*/ 12654 h 18272"/>
                          <a:gd name="connsiteX7" fmla="*/ 6011 w 10001"/>
                          <a:gd name="connsiteY7" fmla="*/ 18270 h 18272"/>
                          <a:gd name="connsiteX8" fmla="*/ 3914 w 10001"/>
                          <a:gd name="connsiteY8" fmla="*/ 13342 h 18272"/>
                          <a:gd name="connsiteX9" fmla="*/ 2716 w 10001"/>
                          <a:gd name="connsiteY9" fmla="*/ 11244 h 18272"/>
                          <a:gd name="connsiteX10" fmla="*/ 1479 w 10001"/>
                          <a:gd name="connsiteY10" fmla="*/ 10849 h 18272"/>
                          <a:gd name="connsiteX11" fmla="*/ 4 w 10001"/>
                          <a:gd name="connsiteY11" fmla="*/ 7436 h 18272"/>
                          <a:gd name="connsiteX0" fmla="*/ 1 w 9998"/>
                          <a:gd name="connsiteY0" fmla="*/ 7436 h 18272"/>
                          <a:gd name="connsiteX1" fmla="*/ 3899 w 9998"/>
                          <a:gd name="connsiteY1" fmla="*/ 4440 h 18272"/>
                          <a:gd name="connsiteX2" fmla="*/ 6023 w 9998"/>
                          <a:gd name="connsiteY2" fmla="*/ 0 h 18272"/>
                          <a:gd name="connsiteX3" fmla="*/ 8375 w 9998"/>
                          <a:gd name="connsiteY3" fmla="*/ 4443 h 18272"/>
                          <a:gd name="connsiteX4" fmla="*/ 9995 w 9998"/>
                          <a:gd name="connsiteY4" fmla="*/ 9195 h 18272"/>
                          <a:gd name="connsiteX5" fmla="*/ 8718 w 9998"/>
                          <a:gd name="connsiteY5" fmla="*/ 12654 h 18272"/>
                          <a:gd name="connsiteX6" fmla="*/ 6008 w 9998"/>
                          <a:gd name="connsiteY6" fmla="*/ 18270 h 18272"/>
                          <a:gd name="connsiteX7" fmla="*/ 3911 w 9998"/>
                          <a:gd name="connsiteY7" fmla="*/ 13342 h 18272"/>
                          <a:gd name="connsiteX8" fmla="*/ 2713 w 9998"/>
                          <a:gd name="connsiteY8" fmla="*/ 11244 h 18272"/>
                          <a:gd name="connsiteX9" fmla="*/ 1476 w 9998"/>
                          <a:gd name="connsiteY9" fmla="*/ 10849 h 18272"/>
                          <a:gd name="connsiteX10" fmla="*/ 1 w 9998"/>
                          <a:gd name="connsiteY10" fmla="*/ 7436 h 18272"/>
                          <a:gd name="connsiteX0" fmla="*/ 35 w 8559"/>
                          <a:gd name="connsiteY0" fmla="*/ 5938 h 10000"/>
                          <a:gd name="connsiteX1" fmla="*/ 2459 w 8559"/>
                          <a:gd name="connsiteY1" fmla="*/ 2430 h 10000"/>
                          <a:gd name="connsiteX2" fmla="*/ 4583 w 8559"/>
                          <a:gd name="connsiteY2" fmla="*/ 0 h 10000"/>
                          <a:gd name="connsiteX3" fmla="*/ 6936 w 8559"/>
                          <a:gd name="connsiteY3" fmla="*/ 2432 h 10000"/>
                          <a:gd name="connsiteX4" fmla="*/ 8556 w 8559"/>
                          <a:gd name="connsiteY4" fmla="*/ 5032 h 10000"/>
                          <a:gd name="connsiteX5" fmla="*/ 7279 w 8559"/>
                          <a:gd name="connsiteY5" fmla="*/ 6925 h 10000"/>
                          <a:gd name="connsiteX6" fmla="*/ 4568 w 8559"/>
                          <a:gd name="connsiteY6" fmla="*/ 9999 h 10000"/>
                          <a:gd name="connsiteX7" fmla="*/ 2471 w 8559"/>
                          <a:gd name="connsiteY7" fmla="*/ 7302 h 10000"/>
                          <a:gd name="connsiteX8" fmla="*/ 1273 w 8559"/>
                          <a:gd name="connsiteY8" fmla="*/ 6154 h 10000"/>
                          <a:gd name="connsiteX9" fmla="*/ 35 w 8559"/>
                          <a:gd name="connsiteY9" fmla="*/ 5938 h 10000"/>
                          <a:gd name="connsiteX0" fmla="*/ 49 w 9820"/>
                          <a:gd name="connsiteY0" fmla="*/ 4655 h 10000"/>
                          <a:gd name="connsiteX1" fmla="*/ 2693 w 9820"/>
                          <a:gd name="connsiteY1" fmla="*/ 2430 h 10000"/>
                          <a:gd name="connsiteX2" fmla="*/ 5175 w 9820"/>
                          <a:gd name="connsiteY2" fmla="*/ 0 h 10000"/>
                          <a:gd name="connsiteX3" fmla="*/ 7924 w 9820"/>
                          <a:gd name="connsiteY3" fmla="*/ 2432 h 10000"/>
                          <a:gd name="connsiteX4" fmla="*/ 9816 w 9820"/>
                          <a:gd name="connsiteY4" fmla="*/ 5032 h 10000"/>
                          <a:gd name="connsiteX5" fmla="*/ 8324 w 9820"/>
                          <a:gd name="connsiteY5" fmla="*/ 6925 h 10000"/>
                          <a:gd name="connsiteX6" fmla="*/ 5157 w 9820"/>
                          <a:gd name="connsiteY6" fmla="*/ 9999 h 10000"/>
                          <a:gd name="connsiteX7" fmla="*/ 2707 w 9820"/>
                          <a:gd name="connsiteY7" fmla="*/ 7302 h 10000"/>
                          <a:gd name="connsiteX8" fmla="*/ 1307 w 9820"/>
                          <a:gd name="connsiteY8" fmla="*/ 6154 h 10000"/>
                          <a:gd name="connsiteX9" fmla="*/ 49 w 9820"/>
                          <a:gd name="connsiteY9" fmla="*/ 4655 h 10000"/>
                          <a:gd name="connsiteX0" fmla="*/ 45 w 9995"/>
                          <a:gd name="connsiteY0" fmla="*/ 4655 h 10000"/>
                          <a:gd name="connsiteX1" fmla="*/ 2737 w 9995"/>
                          <a:gd name="connsiteY1" fmla="*/ 2430 h 10000"/>
                          <a:gd name="connsiteX2" fmla="*/ 5265 w 9995"/>
                          <a:gd name="connsiteY2" fmla="*/ 0 h 10000"/>
                          <a:gd name="connsiteX3" fmla="*/ 8064 w 9995"/>
                          <a:gd name="connsiteY3" fmla="*/ 2432 h 10000"/>
                          <a:gd name="connsiteX4" fmla="*/ 9991 w 9995"/>
                          <a:gd name="connsiteY4" fmla="*/ 5032 h 10000"/>
                          <a:gd name="connsiteX5" fmla="*/ 8472 w 9995"/>
                          <a:gd name="connsiteY5" fmla="*/ 6925 h 10000"/>
                          <a:gd name="connsiteX6" fmla="*/ 5247 w 9995"/>
                          <a:gd name="connsiteY6" fmla="*/ 9999 h 10000"/>
                          <a:gd name="connsiteX7" fmla="*/ 2752 w 9995"/>
                          <a:gd name="connsiteY7" fmla="*/ 7302 h 10000"/>
                          <a:gd name="connsiteX8" fmla="*/ 1374 w 9995"/>
                          <a:gd name="connsiteY8" fmla="*/ 6984 h 10000"/>
                          <a:gd name="connsiteX9" fmla="*/ 45 w 9995"/>
                          <a:gd name="connsiteY9" fmla="*/ 4655 h 10000"/>
                          <a:gd name="connsiteX0" fmla="*/ 45 w 10000"/>
                          <a:gd name="connsiteY0" fmla="*/ 5032 h 10377"/>
                          <a:gd name="connsiteX1" fmla="*/ 2738 w 10000"/>
                          <a:gd name="connsiteY1" fmla="*/ 2807 h 10377"/>
                          <a:gd name="connsiteX2" fmla="*/ 4886 w 10000"/>
                          <a:gd name="connsiteY2" fmla="*/ 0 h 10377"/>
                          <a:gd name="connsiteX3" fmla="*/ 8068 w 10000"/>
                          <a:gd name="connsiteY3" fmla="*/ 2809 h 10377"/>
                          <a:gd name="connsiteX4" fmla="*/ 9996 w 10000"/>
                          <a:gd name="connsiteY4" fmla="*/ 5409 h 10377"/>
                          <a:gd name="connsiteX5" fmla="*/ 8476 w 10000"/>
                          <a:gd name="connsiteY5" fmla="*/ 7302 h 10377"/>
                          <a:gd name="connsiteX6" fmla="*/ 5250 w 10000"/>
                          <a:gd name="connsiteY6" fmla="*/ 10376 h 10377"/>
                          <a:gd name="connsiteX7" fmla="*/ 2753 w 10000"/>
                          <a:gd name="connsiteY7" fmla="*/ 7679 h 10377"/>
                          <a:gd name="connsiteX8" fmla="*/ 1375 w 10000"/>
                          <a:gd name="connsiteY8" fmla="*/ 7361 h 10377"/>
                          <a:gd name="connsiteX9" fmla="*/ 45 w 10000"/>
                          <a:gd name="connsiteY9" fmla="*/ 5032 h 10377"/>
                          <a:gd name="connsiteX0" fmla="*/ 45 w 10000"/>
                          <a:gd name="connsiteY0" fmla="*/ 5036 h 10381"/>
                          <a:gd name="connsiteX1" fmla="*/ 2738 w 10000"/>
                          <a:gd name="connsiteY1" fmla="*/ 2811 h 10381"/>
                          <a:gd name="connsiteX2" fmla="*/ 4886 w 10000"/>
                          <a:gd name="connsiteY2" fmla="*/ 4 h 10381"/>
                          <a:gd name="connsiteX3" fmla="*/ 8068 w 10000"/>
                          <a:gd name="connsiteY3" fmla="*/ 2813 h 10381"/>
                          <a:gd name="connsiteX4" fmla="*/ 9996 w 10000"/>
                          <a:gd name="connsiteY4" fmla="*/ 5413 h 10381"/>
                          <a:gd name="connsiteX5" fmla="*/ 8476 w 10000"/>
                          <a:gd name="connsiteY5" fmla="*/ 7306 h 10381"/>
                          <a:gd name="connsiteX6" fmla="*/ 5250 w 10000"/>
                          <a:gd name="connsiteY6" fmla="*/ 10380 h 10381"/>
                          <a:gd name="connsiteX7" fmla="*/ 2753 w 10000"/>
                          <a:gd name="connsiteY7" fmla="*/ 7683 h 10381"/>
                          <a:gd name="connsiteX8" fmla="*/ 1375 w 10000"/>
                          <a:gd name="connsiteY8" fmla="*/ 7365 h 10381"/>
                          <a:gd name="connsiteX9" fmla="*/ 45 w 10000"/>
                          <a:gd name="connsiteY9" fmla="*/ 5036 h 10381"/>
                          <a:gd name="connsiteX0" fmla="*/ 45 w 10000"/>
                          <a:gd name="connsiteY0" fmla="*/ 5036 h 10796"/>
                          <a:gd name="connsiteX1" fmla="*/ 2738 w 10000"/>
                          <a:gd name="connsiteY1" fmla="*/ 2811 h 10796"/>
                          <a:gd name="connsiteX2" fmla="*/ 4886 w 10000"/>
                          <a:gd name="connsiteY2" fmla="*/ 4 h 10796"/>
                          <a:gd name="connsiteX3" fmla="*/ 8068 w 10000"/>
                          <a:gd name="connsiteY3" fmla="*/ 2813 h 10796"/>
                          <a:gd name="connsiteX4" fmla="*/ 9996 w 10000"/>
                          <a:gd name="connsiteY4" fmla="*/ 5413 h 10796"/>
                          <a:gd name="connsiteX5" fmla="*/ 8476 w 10000"/>
                          <a:gd name="connsiteY5" fmla="*/ 7306 h 10796"/>
                          <a:gd name="connsiteX6" fmla="*/ 5202 w 10000"/>
                          <a:gd name="connsiteY6" fmla="*/ 10795 h 10796"/>
                          <a:gd name="connsiteX7" fmla="*/ 2753 w 10000"/>
                          <a:gd name="connsiteY7" fmla="*/ 7683 h 10796"/>
                          <a:gd name="connsiteX8" fmla="*/ 1375 w 10000"/>
                          <a:gd name="connsiteY8" fmla="*/ 7365 h 10796"/>
                          <a:gd name="connsiteX9" fmla="*/ 45 w 10000"/>
                          <a:gd name="connsiteY9" fmla="*/ 5036 h 10796"/>
                          <a:gd name="connsiteX0" fmla="*/ 45 w 10000"/>
                          <a:gd name="connsiteY0" fmla="*/ 5036 h 10795"/>
                          <a:gd name="connsiteX1" fmla="*/ 2738 w 10000"/>
                          <a:gd name="connsiteY1" fmla="*/ 2811 h 10795"/>
                          <a:gd name="connsiteX2" fmla="*/ 4886 w 10000"/>
                          <a:gd name="connsiteY2" fmla="*/ 4 h 10795"/>
                          <a:gd name="connsiteX3" fmla="*/ 8068 w 10000"/>
                          <a:gd name="connsiteY3" fmla="*/ 2813 h 10795"/>
                          <a:gd name="connsiteX4" fmla="*/ 9996 w 10000"/>
                          <a:gd name="connsiteY4" fmla="*/ 5413 h 10795"/>
                          <a:gd name="connsiteX5" fmla="*/ 8476 w 10000"/>
                          <a:gd name="connsiteY5" fmla="*/ 7306 h 10795"/>
                          <a:gd name="connsiteX6" fmla="*/ 5202 w 10000"/>
                          <a:gd name="connsiteY6" fmla="*/ 10795 h 10795"/>
                          <a:gd name="connsiteX7" fmla="*/ 2753 w 10000"/>
                          <a:gd name="connsiteY7" fmla="*/ 7683 h 10795"/>
                          <a:gd name="connsiteX8" fmla="*/ 1375 w 10000"/>
                          <a:gd name="connsiteY8" fmla="*/ 7365 h 10795"/>
                          <a:gd name="connsiteX9" fmla="*/ 45 w 10000"/>
                          <a:gd name="connsiteY9" fmla="*/ 5036 h 10795"/>
                          <a:gd name="connsiteX0" fmla="*/ 45 w 10000"/>
                          <a:gd name="connsiteY0" fmla="*/ 5036 h 10795"/>
                          <a:gd name="connsiteX1" fmla="*/ 2738 w 10000"/>
                          <a:gd name="connsiteY1" fmla="*/ 2811 h 10795"/>
                          <a:gd name="connsiteX2" fmla="*/ 4886 w 10000"/>
                          <a:gd name="connsiteY2" fmla="*/ 4 h 10795"/>
                          <a:gd name="connsiteX3" fmla="*/ 8068 w 10000"/>
                          <a:gd name="connsiteY3" fmla="*/ 2813 h 10795"/>
                          <a:gd name="connsiteX4" fmla="*/ 9996 w 10000"/>
                          <a:gd name="connsiteY4" fmla="*/ 5413 h 10795"/>
                          <a:gd name="connsiteX5" fmla="*/ 8476 w 10000"/>
                          <a:gd name="connsiteY5" fmla="*/ 7306 h 10795"/>
                          <a:gd name="connsiteX6" fmla="*/ 5202 w 10000"/>
                          <a:gd name="connsiteY6" fmla="*/ 10795 h 10795"/>
                          <a:gd name="connsiteX7" fmla="*/ 2753 w 10000"/>
                          <a:gd name="connsiteY7" fmla="*/ 7683 h 10795"/>
                          <a:gd name="connsiteX8" fmla="*/ 1375 w 10000"/>
                          <a:gd name="connsiteY8" fmla="*/ 7365 h 10795"/>
                          <a:gd name="connsiteX9" fmla="*/ 45 w 10000"/>
                          <a:gd name="connsiteY9" fmla="*/ 5036 h 1079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000" h="10795">
                            <a:moveTo>
                              <a:pt x="45" y="5036"/>
                            </a:moveTo>
                            <a:cubicBezTo>
                              <a:pt x="272" y="4277"/>
                              <a:pt x="1931" y="3650"/>
                              <a:pt x="2738" y="2811"/>
                            </a:cubicBezTo>
                            <a:cubicBezTo>
                              <a:pt x="3545" y="1972"/>
                              <a:pt x="3352" y="117"/>
                              <a:pt x="4886" y="4"/>
                            </a:cubicBezTo>
                            <a:cubicBezTo>
                              <a:pt x="6420" y="-109"/>
                              <a:pt x="7216" y="1912"/>
                              <a:pt x="8068" y="2813"/>
                            </a:cubicBezTo>
                            <a:cubicBezTo>
                              <a:pt x="8920" y="3715"/>
                              <a:pt x="9928" y="3420"/>
                              <a:pt x="9996" y="5413"/>
                            </a:cubicBezTo>
                            <a:cubicBezTo>
                              <a:pt x="10064" y="7406"/>
                              <a:pt x="9275" y="6409"/>
                              <a:pt x="8476" y="7306"/>
                            </a:cubicBezTo>
                            <a:cubicBezTo>
                              <a:pt x="7677" y="8203"/>
                              <a:pt x="7086" y="10770"/>
                              <a:pt x="5202" y="10795"/>
                            </a:cubicBezTo>
                            <a:cubicBezTo>
                              <a:pt x="3318" y="10820"/>
                              <a:pt x="3391" y="8255"/>
                              <a:pt x="2753" y="7683"/>
                            </a:cubicBezTo>
                            <a:cubicBezTo>
                              <a:pt x="2115" y="7111"/>
                              <a:pt x="2326" y="7496"/>
                              <a:pt x="1375" y="7365"/>
                            </a:cubicBezTo>
                            <a:cubicBezTo>
                              <a:pt x="493" y="6773"/>
                              <a:pt x="-182" y="5795"/>
                              <a:pt x="45" y="5036"/>
                            </a:cubicBezTo>
                            <a:close/>
                          </a:path>
                        </a:pathLst>
                      </a:custGeom>
                      <a:solidFill>
                        <a:srgbClr val="9CE0F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162" name="Group 866">
                        <a:extLst>
                          <a:ext uri="{FF2B5EF4-FFF2-40B4-BE49-F238E27FC236}">
                            <a16:creationId xmlns:a16="http://schemas.microsoft.com/office/drawing/2014/main" id="{B791CE2E-1DAA-A8E6-A874-28FBAC8C357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-1935370" y="2935816"/>
                        <a:ext cx="2333625" cy="1590649"/>
                        <a:chOff x="833331" y="2873352"/>
                        <a:chExt cx="2333625" cy="1590649"/>
                      </a:xfrm>
                    </p:grpSpPr>
                    <p:grpSp>
                      <p:nvGrpSpPr>
                        <p:cNvPr id="163" name="Group 867">
                          <a:extLst>
                            <a:ext uri="{FF2B5EF4-FFF2-40B4-BE49-F238E27FC236}">
                              <a16:creationId xmlns:a16="http://schemas.microsoft.com/office/drawing/2014/main" id="{5B5E494A-596F-F3B8-BAFF-8B8298B865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36090" y="287335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209" name="Group 327">
                            <a:extLst>
                              <a:ext uri="{FF2B5EF4-FFF2-40B4-BE49-F238E27FC236}">
                                <a16:creationId xmlns:a16="http://schemas.microsoft.com/office/drawing/2014/main" id="{834F0C3B-7031-B183-D88A-ED493EF94943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213" name="Oval 917">
                              <a:extLst>
                                <a:ext uri="{FF2B5EF4-FFF2-40B4-BE49-F238E27FC236}">
                                  <a16:creationId xmlns:a16="http://schemas.microsoft.com/office/drawing/2014/main" id="{6A46438F-F763-8DF9-48B0-4CF847176E6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14" name="Rectangle 918">
                              <a:extLst>
                                <a:ext uri="{FF2B5EF4-FFF2-40B4-BE49-F238E27FC236}">
                                  <a16:creationId xmlns:a16="http://schemas.microsoft.com/office/drawing/2014/main" id="{F22FC07A-A6EE-2BA2-E4AA-E2ED423EFAF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15" name="Oval 919">
                              <a:extLst>
                                <a:ext uri="{FF2B5EF4-FFF2-40B4-BE49-F238E27FC236}">
                                  <a16:creationId xmlns:a16="http://schemas.microsoft.com/office/drawing/2014/main" id="{7ED7DA5C-0AD8-CC54-5A8F-D6DAF88041A7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16" name="Freeform 920">
                              <a:extLst>
                                <a:ext uri="{FF2B5EF4-FFF2-40B4-BE49-F238E27FC236}">
                                  <a16:creationId xmlns:a16="http://schemas.microsoft.com/office/drawing/2014/main" id="{843CFEE8-F787-C17A-15B7-939539A613C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17" name="Freeform 921">
                              <a:extLst>
                                <a:ext uri="{FF2B5EF4-FFF2-40B4-BE49-F238E27FC236}">
                                  <a16:creationId xmlns:a16="http://schemas.microsoft.com/office/drawing/2014/main" id="{B5A31D20-B32F-A8BB-3613-F07BAC2E30E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18" name="Freeform 922">
                              <a:extLst>
                                <a:ext uri="{FF2B5EF4-FFF2-40B4-BE49-F238E27FC236}">
                                  <a16:creationId xmlns:a16="http://schemas.microsoft.com/office/drawing/2014/main" id="{CCCA22AA-958E-2232-E3D3-11EA1048734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19" name="Freeform 923">
                              <a:extLst>
                                <a:ext uri="{FF2B5EF4-FFF2-40B4-BE49-F238E27FC236}">
                                  <a16:creationId xmlns:a16="http://schemas.microsoft.com/office/drawing/2014/main" id="{F3C01373-6DD4-85DE-A122-281E9A221C3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220" name="Straight Connector 924">
                              <a:extLst>
                                <a:ext uri="{FF2B5EF4-FFF2-40B4-BE49-F238E27FC236}">
                                  <a16:creationId xmlns:a16="http://schemas.microsoft.com/office/drawing/2014/main" id="{557760C0-2C6B-A70C-A2D7-217766D88B4B}"/>
                                </a:ext>
                              </a:extLst>
                            </p:cNvPr>
                            <p:cNvCxnSpPr>
                              <a:endCxn id="215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221" name="Straight Connector 925">
                              <a:extLst>
                                <a:ext uri="{FF2B5EF4-FFF2-40B4-BE49-F238E27FC236}">
                                  <a16:creationId xmlns:a16="http://schemas.microsoft.com/office/drawing/2014/main" id="{8E2AA4AF-4C3C-84E5-690C-50CF12705B8E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210" name="Group 914">
                            <a:extLst>
                              <a:ext uri="{FF2B5EF4-FFF2-40B4-BE49-F238E27FC236}">
                                <a16:creationId xmlns:a16="http://schemas.microsoft.com/office/drawing/2014/main" id="{3FB6364C-6434-0397-81E2-BAF9CCC30E9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211" name="Oval 915">
                              <a:extLst>
                                <a:ext uri="{FF2B5EF4-FFF2-40B4-BE49-F238E27FC236}">
                                  <a16:creationId xmlns:a16="http://schemas.microsoft.com/office/drawing/2014/main" id="{59D89409-6003-E0C9-DB4E-87FF8CF07D9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12" name="TextBox 916">
                              <a:extLst>
                                <a:ext uri="{FF2B5EF4-FFF2-40B4-BE49-F238E27FC236}">
                                  <a16:creationId xmlns:a16="http://schemas.microsoft.com/office/drawing/2014/main" id="{6F398E34-C766-9525-A421-1623DE1A6DA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2b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164" name="Group 868">
                          <a:extLst>
                            <a:ext uri="{FF2B5EF4-FFF2-40B4-BE49-F238E27FC236}">
                              <a16:creationId xmlns:a16="http://schemas.microsoft.com/office/drawing/2014/main" id="{56F6E8DD-A766-4105-0A1C-DADDF4EBA34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40320" y="409466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196" name="Group 327">
                            <a:extLst>
                              <a:ext uri="{FF2B5EF4-FFF2-40B4-BE49-F238E27FC236}">
                                <a16:creationId xmlns:a16="http://schemas.microsoft.com/office/drawing/2014/main" id="{5FFC6C4F-10CD-6330-87C1-723B1F8AE7C5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200" name="Oval 904">
                              <a:extLst>
                                <a:ext uri="{FF2B5EF4-FFF2-40B4-BE49-F238E27FC236}">
                                  <a16:creationId xmlns:a16="http://schemas.microsoft.com/office/drawing/2014/main" id="{84DEDC82-2D26-7916-F348-F94A53A28E1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01" name="Rectangle 905">
                              <a:extLst>
                                <a:ext uri="{FF2B5EF4-FFF2-40B4-BE49-F238E27FC236}">
                                  <a16:creationId xmlns:a16="http://schemas.microsoft.com/office/drawing/2014/main" id="{DB715CEE-4E72-A2EA-EB19-405B73E7F85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02" name="Oval 906">
                              <a:extLst>
                                <a:ext uri="{FF2B5EF4-FFF2-40B4-BE49-F238E27FC236}">
                                  <a16:creationId xmlns:a16="http://schemas.microsoft.com/office/drawing/2014/main" id="{6A9A7A7D-C7E7-E40A-6562-DF5D42F18C73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03" name="Freeform 907">
                              <a:extLst>
                                <a:ext uri="{FF2B5EF4-FFF2-40B4-BE49-F238E27FC236}">
                                  <a16:creationId xmlns:a16="http://schemas.microsoft.com/office/drawing/2014/main" id="{C89EDEB1-276D-1B6A-8B4E-D8024290DDD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04" name="Freeform 908">
                              <a:extLst>
                                <a:ext uri="{FF2B5EF4-FFF2-40B4-BE49-F238E27FC236}">
                                  <a16:creationId xmlns:a16="http://schemas.microsoft.com/office/drawing/2014/main" id="{AB55A8DC-0185-C67C-2B6E-789FB964425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05" name="Freeform 909">
                              <a:extLst>
                                <a:ext uri="{FF2B5EF4-FFF2-40B4-BE49-F238E27FC236}">
                                  <a16:creationId xmlns:a16="http://schemas.microsoft.com/office/drawing/2014/main" id="{9F8B3526-68B4-206B-4204-8C555029254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206" name="Freeform 910">
                              <a:extLst>
                                <a:ext uri="{FF2B5EF4-FFF2-40B4-BE49-F238E27FC236}">
                                  <a16:creationId xmlns:a16="http://schemas.microsoft.com/office/drawing/2014/main" id="{F252574C-4D22-9ADA-D7FD-22EC3A77028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207" name="Straight Connector 911">
                              <a:extLst>
                                <a:ext uri="{FF2B5EF4-FFF2-40B4-BE49-F238E27FC236}">
                                  <a16:creationId xmlns:a16="http://schemas.microsoft.com/office/drawing/2014/main" id="{D4F71F55-E349-D7D1-6D13-F738903638FB}"/>
                                </a:ext>
                              </a:extLst>
                            </p:cNvPr>
                            <p:cNvCxnSpPr>
                              <a:endCxn id="202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208" name="Straight Connector 912">
                              <a:extLst>
                                <a:ext uri="{FF2B5EF4-FFF2-40B4-BE49-F238E27FC236}">
                                  <a16:creationId xmlns:a16="http://schemas.microsoft.com/office/drawing/2014/main" id="{4D4920A2-9E11-AF4F-2A69-63934FEC5584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197" name="Group 901">
                            <a:extLst>
                              <a:ext uri="{FF2B5EF4-FFF2-40B4-BE49-F238E27FC236}">
                                <a16:creationId xmlns:a16="http://schemas.microsoft.com/office/drawing/2014/main" id="{F00EC1CA-0797-4820-B97B-44E29D1FFD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198" name="Oval 902">
                              <a:extLst>
                                <a:ext uri="{FF2B5EF4-FFF2-40B4-BE49-F238E27FC236}">
                                  <a16:creationId xmlns:a16="http://schemas.microsoft.com/office/drawing/2014/main" id="{C141252D-BA5F-793B-E98C-D5CF0FAB178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99" name="TextBox 903">
                              <a:extLst>
                                <a:ext uri="{FF2B5EF4-FFF2-40B4-BE49-F238E27FC236}">
                                  <a16:creationId xmlns:a16="http://schemas.microsoft.com/office/drawing/2014/main" id="{1B9ACBD6-2C00-68DE-8A36-A0AB002C8D9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2d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165" name="Group 869">
                          <a:extLst>
                            <a:ext uri="{FF2B5EF4-FFF2-40B4-BE49-F238E27FC236}">
                              <a16:creationId xmlns:a16="http://schemas.microsoft.com/office/drawing/2014/main" id="{19611857-CD73-EA99-02ED-7170D3357C7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601806" y="348507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183" name="Group 327">
                            <a:extLst>
                              <a:ext uri="{FF2B5EF4-FFF2-40B4-BE49-F238E27FC236}">
                                <a16:creationId xmlns:a16="http://schemas.microsoft.com/office/drawing/2014/main" id="{4BE76DA7-65C9-F65B-9291-94960F7C95D5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187" name="Oval 891">
                              <a:extLst>
                                <a:ext uri="{FF2B5EF4-FFF2-40B4-BE49-F238E27FC236}">
                                  <a16:creationId xmlns:a16="http://schemas.microsoft.com/office/drawing/2014/main" id="{932CB475-F330-70D4-851C-47F0F58A6C9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88" name="Rectangle 892">
                              <a:extLst>
                                <a:ext uri="{FF2B5EF4-FFF2-40B4-BE49-F238E27FC236}">
                                  <a16:creationId xmlns:a16="http://schemas.microsoft.com/office/drawing/2014/main" id="{89819BF5-7027-5CB7-9AB7-32D12AD79FD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89" name="Oval 893">
                              <a:extLst>
                                <a:ext uri="{FF2B5EF4-FFF2-40B4-BE49-F238E27FC236}">
                                  <a16:creationId xmlns:a16="http://schemas.microsoft.com/office/drawing/2014/main" id="{CAA50C31-9B7C-229D-5E6B-9136EF419BF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90" name="Freeform 894">
                              <a:extLst>
                                <a:ext uri="{FF2B5EF4-FFF2-40B4-BE49-F238E27FC236}">
                                  <a16:creationId xmlns:a16="http://schemas.microsoft.com/office/drawing/2014/main" id="{88C10157-2D70-CCBB-1168-00C98C8B7E6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91" name="Freeform 895">
                              <a:extLst>
                                <a:ext uri="{FF2B5EF4-FFF2-40B4-BE49-F238E27FC236}">
                                  <a16:creationId xmlns:a16="http://schemas.microsoft.com/office/drawing/2014/main" id="{38CA1ECB-D035-4D66-E5F5-2C03A8780FB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92" name="Freeform 896">
                              <a:extLst>
                                <a:ext uri="{FF2B5EF4-FFF2-40B4-BE49-F238E27FC236}">
                                  <a16:creationId xmlns:a16="http://schemas.microsoft.com/office/drawing/2014/main" id="{35CDD100-73F0-C78A-62FE-353D0A70FF0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93" name="Freeform 897">
                              <a:extLst>
                                <a:ext uri="{FF2B5EF4-FFF2-40B4-BE49-F238E27FC236}">
                                  <a16:creationId xmlns:a16="http://schemas.microsoft.com/office/drawing/2014/main" id="{D9DB9BC6-726E-0AF1-3A43-4524045F098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194" name="Straight Connector 898">
                              <a:extLst>
                                <a:ext uri="{FF2B5EF4-FFF2-40B4-BE49-F238E27FC236}">
                                  <a16:creationId xmlns:a16="http://schemas.microsoft.com/office/drawing/2014/main" id="{6917B5B4-F6D2-9ECE-C87F-CE96F4FF2E37}"/>
                                </a:ext>
                              </a:extLst>
                            </p:cNvPr>
                            <p:cNvCxnSpPr>
                              <a:endCxn id="189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195" name="Straight Connector 899">
                              <a:extLst>
                                <a:ext uri="{FF2B5EF4-FFF2-40B4-BE49-F238E27FC236}">
                                  <a16:creationId xmlns:a16="http://schemas.microsoft.com/office/drawing/2014/main" id="{B8B28FAA-4EB4-B4D5-85BD-7E2F84857A28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184" name="Group 888">
                            <a:extLst>
                              <a:ext uri="{FF2B5EF4-FFF2-40B4-BE49-F238E27FC236}">
                                <a16:creationId xmlns:a16="http://schemas.microsoft.com/office/drawing/2014/main" id="{BE290C07-EB81-30FD-7F73-F403CB66ECF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28460" cy="369332"/>
                            <a:chOff x="667045" y="1708643"/>
                            <a:chExt cx="428460" cy="369332"/>
                          </a:xfrm>
                        </p:grpSpPr>
                        <p:sp>
                          <p:nvSpPr>
                            <p:cNvPr id="185" name="Oval 889">
                              <a:extLst>
                                <a:ext uri="{FF2B5EF4-FFF2-40B4-BE49-F238E27FC236}">
                                  <a16:creationId xmlns:a16="http://schemas.microsoft.com/office/drawing/2014/main" id="{48DDEAD3-A228-EC27-A55D-446C3F7BC1FA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86" name="TextBox 890">
                              <a:extLst>
                                <a:ext uri="{FF2B5EF4-FFF2-40B4-BE49-F238E27FC236}">
                                  <a16:creationId xmlns:a16="http://schemas.microsoft.com/office/drawing/2014/main" id="{E7CF102F-F9E9-D4D5-E0C3-8636D9AB104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28460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2c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166" name="Group 870">
                          <a:extLst>
                            <a:ext uri="{FF2B5EF4-FFF2-40B4-BE49-F238E27FC236}">
                              <a16:creationId xmlns:a16="http://schemas.microsoft.com/office/drawing/2014/main" id="{FAAEA53D-EB84-9E16-7A8F-98CA75BE0C0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33331" y="347871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170" name="Group 327">
                            <a:extLst>
                              <a:ext uri="{FF2B5EF4-FFF2-40B4-BE49-F238E27FC236}">
                                <a16:creationId xmlns:a16="http://schemas.microsoft.com/office/drawing/2014/main" id="{78287FDB-7524-3422-B173-1B493A777FF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174" name="Oval 878">
                              <a:extLst>
                                <a:ext uri="{FF2B5EF4-FFF2-40B4-BE49-F238E27FC236}">
                                  <a16:creationId xmlns:a16="http://schemas.microsoft.com/office/drawing/2014/main" id="{801163EF-8101-42A0-BDB6-9BF88861D2F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75" name="Rectangle 879">
                              <a:extLst>
                                <a:ext uri="{FF2B5EF4-FFF2-40B4-BE49-F238E27FC236}">
                                  <a16:creationId xmlns:a16="http://schemas.microsoft.com/office/drawing/2014/main" id="{495E4921-F7F4-3B42-DD4C-512FA1C74743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76" name="Oval 880">
                              <a:extLst>
                                <a:ext uri="{FF2B5EF4-FFF2-40B4-BE49-F238E27FC236}">
                                  <a16:creationId xmlns:a16="http://schemas.microsoft.com/office/drawing/2014/main" id="{809AA6FC-DC3A-9F5B-7F43-B0286861C6B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77" name="Freeform 881">
                              <a:extLst>
                                <a:ext uri="{FF2B5EF4-FFF2-40B4-BE49-F238E27FC236}">
                                  <a16:creationId xmlns:a16="http://schemas.microsoft.com/office/drawing/2014/main" id="{C2DCD6BB-BE07-5E4B-A834-1E1E3BA0E547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78" name="Freeform 882">
                              <a:extLst>
                                <a:ext uri="{FF2B5EF4-FFF2-40B4-BE49-F238E27FC236}">
                                  <a16:creationId xmlns:a16="http://schemas.microsoft.com/office/drawing/2014/main" id="{3C4FF73F-B678-2170-0D0C-8D726D4D987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79" name="Freeform 883">
                              <a:extLst>
                                <a:ext uri="{FF2B5EF4-FFF2-40B4-BE49-F238E27FC236}">
                                  <a16:creationId xmlns:a16="http://schemas.microsoft.com/office/drawing/2014/main" id="{E027F32A-FD80-BC48-EA87-C6EF00D702C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80" name="Freeform 884">
                              <a:extLst>
                                <a:ext uri="{FF2B5EF4-FFF2-40B4-BE49-F238E27FC236}">
                                  <a16:creationId xmlns:a16="http://schemas.microsoft.com/office/drawing/2014/main" id="{72F42450-D38C-C790-5DF7-BC215C690A4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181" name="Straight Connector 885">
                              <a:extLst>
                                <a:ext uri="{FF2B5EF4-FFF2-40B4-BE49-F238E27FC236}">
                                  <a16:creationId xmlns:a16="http://schemas.microsoft.com/office/drawing/2014/main" id="{10CA883A-9064-3D7B-0441-E8CE3FC34F63}"/>
                                </a:ext>
                              </a:extLst>
                            </p:cNvPr>
                            <p:cNvCxnSpPr>
                              <a:endCxn id="176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182" name="Straight Connector 886">
                              <a:extLst>
                                <a:ext uri="{FF2B5EF4-FFF2-40B4-BE49-F238E27FC236}">
                                  <a16:creationId xmlns:a16="http://schemas.microsoft.com/office/drawing/2014/main" id="{8CD325C7-4D49-362E-DD21-6F28F2258362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171" name="Group 875">
                            <a:extLst>
                              <a:ext uri="{FF2B5EF4-FFF2-40B4-BE49-F238E27FC236}">
                                <a16:creationId xmlns:a16="http://schemas.microsoft.com/office/drawing/2014/main" id="{B277A829-8201-B243-B71B-977BBA3A0CD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172" name="Oval 876">
                              <a:extLst>
                                <a:ext uri="{FF2B5EF4-FFF2-40B4-BE49-F238E27FC236}">
                                  <a16:creationId xmlns:a16="http://schemas.microsoft.com/office/drawing/2014/main" id="{45C892D0-308A-9C71-4CEC-6C8DDAC349D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73" name="TextBox 877">
                              <a:extLst>
                                <a:ext uri="{FF2B5EF4-FFF2-40B4-BE49-F238E27FC236}">
                                  <a16:creationId xmlns:a16="http://schemas.microsoft.com/office/drawing/2014/main" id="{D81582B4-BF29-25DC-5C09-98F68BEAE7D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2a</a:t>
                              </a:r>
                            </a:p>
                          </p:txBody>
                        </p:sp>
                      </p:grpSp>
                    </p:grpSp>
                    <p:cxnSp>
                      <p:nvCxnSpPr>
                        <p:cNvPr id="167" name="Straight Connector 871">
                          <a:extLst>
                            <a:ext uri="{FF2B5EF4-FFF2-40B4-BE49-F238E27FC236}">
                              <a16:creationId xmlns:a16="http://schemas.microsoft.com/office/drawing/2014/main" id="{43C8AF5B-D024-EF06-9C53-0B5DD68F665F}"/>
                            </a:ext>
                          </a:extLst>
                        </p:cNvPr>
                        <p:cNvCxnSpPr>
                          <a:stCxn id="213" idx="7"/>
                        </p:cNvCxnSpPr>
                        <p:nvPr/>
                      </p:nvCxnSpPr>
                      <p:spPr bwMode="auto">
                        <a:xfrm>
                          <a:off x="2218708" y="3154477"/>
                          <a:ext cx="480042" cy="369773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168" name="Straight Connector 872">
                          <a:extLst>
                            <a:ext uri="{FF2B5EF4-FFF2-40B4-BE49-F238E27FC236}">
                              <a16:creationId xmlns:a16="http://schemas.microsoft.com/office/drawing/2014/main" id="{5FDCE7AC-857A-26B6-0D0B-0AC2C91308AC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>
                          <a:off x="1300073" y="3786304"/>
                          <a:ext cx="477927" cy="357071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169" name="Straight Connector 873">
                          <a:extLst>
                            <a:ext uri="{FF2B5EF4-FFF2-40B4-BE49-F238E27FC236}">
                              <a16:creationId xmlns:a16="http://schemas.microsoft.com/office/drawing/2014/main" id="{C8B8AAC6-88B6-6FFE-11A8-5212979AE47B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>
                          <a:off x="2196042" y="3783542"/>
                          <a:ext cx="508002" cy="349250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</p:grpSp>
                <p:sp>
                  <p:nvSpPr>
                    <p:cNvPr id="160" name="TextBox 864">
                      <a:extLst>
                        <a:ext uri="{FF2B5EF4-FFF2-40B4-BE49-F238E27FC236}">
                          <a16:creationId xmlns:a16="http://schemas.microsoft.com/office/drawing/2014/main" id="{85D15D9B-E363-679E-5FC0-DB0DD64EF2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33576" y="4910165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2</a:t>
                      </a:r>
                    </a:p>
                  </p:txBody>
                </p:sp>
              </p:grpSp>
              <p:grpSp>
                <p:nvGrpSpPr>
                  <p:cNvPr id="26" name="Group 730">
                    <a:extLst>
                      <a:ext uri="{FF2B5EF4-FFF2-40B4-BE49-F238E27FC236}">
                        <a16:creationId xmlns:a16="http://schemas.microsoft.com/office/drawing/2014/main" id="{3DC2AF23-368D-E6B8-AFEC-985AE50E9288}"/>
                      </a:ext>
                    </a:extLst>
                  </p:cNvPr>
                  <p:cNvGrpSpPr/>
                  <p:nvPr/>
                </p:nvGrpSpPr>
                <p:grpSpPr>
                  <a:xfrm>
                    <a:off x="8100574" y="3694542"/>
                    <a:ext cx="2575521" cy="1672516"/>
                    <a:chOff x="8100574" y="3694542"/>
                    <a:chExt cx="2575521" cy="1672516"/>
                  </a:xfrm>
                </p:grpSpPr>
                <p:sp>
                  <p:nvSpPr>
                    <p:cNvPr id="94" name="Freeform 2">
                      <a:extLst>
                        <a:ext uri="{FF2B5EF4-FFF2-40B4-BE49-F238E27FC236}">
                          <a16:creationId xmlns:a16="http://schemas.microsoft.com/office/drawing/2014/main" id="{99E9A1F6-9D43-F9A8-A4A6-14A6E12178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100574" y="3694542"/>
                      <a:ext cx="2575521" cy="1672516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dirty="0">
                        <a:solidFill>
                          <a:srgbClr val="000000"/>
                        </a:solidFill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95" name="Group 799">
                      <a:extLst>
                        <a:ext uri="{FF2B5EF4-FFF2-40B4-BE49-F238E27FC236}">
                          <a16:creationId xmlns:a16="http://schemas.microsoft.com/office/drawing/2014/main" id="{9D7F072B-384B-2A51-1011-879E01A4AE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36838" y="3735782"/>
                      <a:ext cx="2402775" cy="1530043"/>
                      <a:chOff x="8136838" y="3735782"/>
                      <a:chExt cx="2402775" cy="1530043"/>
                    </a:xfrm>
                  </p:grpSpPr>
                  <p:grpSp>
                    <p:nvGrpSpPr>
                      <p:cNvPr id="96" name="Group 800">
                        <a:extLst>
                          <a:ext uri="{FF2B5EF4-FFF2-40B4-BE49-F238E27FC236}">
                            <a16:creationId xmlns:a16="http://schemas.microsoft.com/office/drawing/2014/main" id="{3400B6BE-3659-479E-FE14-3778E19DF96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24065" y="3830658"/>
                        <a:ext cx="2215548" cy="1435167"/>
                        <a:chOff x="833331" y="2873352"/>
                        <a:chExt cx="2333625" cy="1590649"/>
                      </a:xfrm>
                    </p:grpSpPr>
                    <p:grpSp>
                      <p:nvGrpSpPr>
                        <p:cNvPr id="98" name="Group 802">
                          <a:extLst>
                            <a:ext uri="{FF2B5EF4-FFF2-40B4-BE49-F238E27FC236}">
                              <a16:creationId xmlns:a16="http://schemas.microsoft.com/office/drawing/2014/main" id="{B067EDEB-2134-5214-79A4-8C9B38EDE77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36090" y="287335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146" name="Group 327">
                            <a:extLst>
                              <a:ext uri="{FF2B5EF4-FFF2-40B4-BE49-F238E27FC236}">
                                <a16:creationId xmlns:a16="http://schemas.microsoft.com/office/drawing/2014/main" id="{2D0E4801-370A-41B7-52D9-7AD5531E66F7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150" name="Oval 854">
                              <a:extLst>
                                <a:ext uri="{FF2B5EF4-FFF2-40B4-BE49-F238E27FC236}">
                                  <a16:creationId xmlns:a16="http://schemas.microsoft.com/office/drawing/2014/main" id="{4E7640E3-B3E1-41C8-C02B-1CAC794D758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51" name="Rectangle 855">
                              <a:extLst>
                                <a:ext uri="{FF2B5EF4-FFF2-40B4-BE49-F238E27FC236}">
                                  <a16:creationId xmlns:a16="http://schemas.microsoft.com/office/drawing/2014/main" id="{41DA4D07-A52F-5FAF-DA28-6A458EDB246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52" name="Oval 856">
                              <a:extLst>
                                <a:ext uri="{FF2B5EF4-FFF2-40B4-BE49-F238E27FC236}">
                                  <a16:creationId xmlns:a16="http://schemas.microsoft.com/office/drawing/2014/main" id="{D964D395-0178-FCAE-C171-24DBE171671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53" name="Freeform 857">
                              <a:extLst>
                                <a:ext uri="{FF2B5EF4-FFF2-40B4-BE49-F238E27FC236}">
                                  <a16:creationId xmlns:a16="http://schemas.microsoft.com/office/drawing/2014/main" id="{EE7A5638-7097-3508-952B-3CBAE1E1951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54" name="Freeform 858">
                              <a:extLst>
                                <a:ext uri="{FF2B5EF4-FFF2-40B4-BE49-F238E27FC236}">
                                  <a16:creationId xmlns:a16="http://schemas.microsoft.com/office/drawing/2014/main" id="{481244F5-B614-24D1-4E02-47366430B4FC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55" name="Freeform 859">
                              <a:extLst>
                                <a:ext uri="{FF2B5EF4-FFF2-40B4-BE49-F238E27FC236}">
                                  <a16:creationId xmlns:a16="http://schemas.microsoft.com/office/drawing/2014/main" id="{86B3847E-79B5-EDA5-E2B5-D5403A1E9B2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56" name="Freeform 860">
                              <a:extLst>
                                <a:ext uri="{FF2B5EF4-FFF2-40B4-BE49-F238E27FC236}">
                                  <a16:creationId xmlns:a16="http://schemas.microsoft.com/office/drawing/2014/main" id="{8ED31B1D-9AC4-946A-1924-47DC160BD3D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157" name="Straight Connector 861">
                              <a:extLst>
                                <a:ext uri="{FF2B5EF4-FFF2-40B4-BE49-F238E27FC236}">
                                  <a16:creationId xmlns:a16="http://schemas.microsoft.com/office/drawing/2014/main" id="{6FDD694B-8767-0943-F6AA-34F44CA806F7}"/>
                                </a:ext>
                              </a:extLst>
                            </p:cNvPr>
                            <p:cNvCxnSpPr>
                              <a:endCxn id="152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158" name="Straight Connector 862">
                              <a:extLst>
                                <a:ext uri="{FF2B5EF4-FFF2-40B4-BE49-F238E27FC236}">
                                  <a16:creationId xmlns:a16="http://schemas.microsoft.com/office/drawing/2014/main" id="{25C170B1-87D0-DEA8-CB2A-BCC30ECDE68D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147" name="Group 851">
                            <a:extLst>
                              <a:ext uri="{FF2B5EF4-FFF2-40B4-BE49-F238E27FC236}">
                                <a16:creationId xmlns:a16="http://schemas.microsoft.com/office/drawing/2014/main" id="{F2616741-9B25-04D2-A25E-A3BFD78C3E8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148" name="Oval 852">
                              <a:extLst>
                                <a:ext uri="{FF2B5EF4-FFF2-40B4-BE49-F238E27FC236}">
                                  <a16:creationId xmlns:a16="http://schemas.microsoft.com/office/drawing/2014/main" id="{66D979FF-8808-0E69-0E40-3D1729AAB5A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49" name="TextBox 853">
                              <a:extLst>
                                <a:ext uri="{FF2B5EF4-FFF2-40B4-BE49-F238E27FC236}">
                                  <a16:creationId xmlns:a16="http://schemas.microsoft.com/office/drawing/2014/main" id="{E4200D15-688D-D1AD-4AF3-987AF546AEB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3b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99" name="Group 803">
                          <a:extLst>
                            <a:ext uri="{FF2B5EF4-FFF2-40B4-BE49-F238E27FC236}">
                              <a16:creationId xmlns:a16="http://schemas.microsoft.com/office/drawing/2014/main" id="{BC346929-9CB0-8CD5-CD89-53CB328289A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40320" y="409466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133" name="Group 327">
                            <a:extLst>
                              <a:ext uri="{FF2B5EF4-FFF2-40B4-BE49-F238E27FC236}">
                                <a16:creationId xmlns:a16="http://schemas.microsoft.com/office/drawing/2014/main" id="{CB42A1A4-5179-3408-986E-1E7D0453BA49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137" name="Oval 841">
                              <a:extLst>
                                <a:ext uri="{FF2B5EF4-FFF2-40B4-BE49-F238E27FC236}">
                                  <a16:creationId xmlns:a16="http://schemas.microsoft.com/office/drawing/2014/main" id="{BA90EC72-E4CB-A12D-35F2-A8DFB0775A9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38" name="Rectangle 842">
                              <a:extLst>
                                <a:ext uri="{FF2B5EF4-FFF2-40B4-BE49-F238E27FC236}">
                                  <a16:creationId xmlns:a16="http://schemas.microsoft.com/office/drawing/2014/main" id="{7C8809B4-3CDB-4946-93FF-0FFDDE7CC80A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39" name="Oval 843">
                              <a:extLst>
                                <a:ext uri="{FF2B5EF4-FFF2-40B4-BE49-F238E27FC236}">
                                  <a16:creationId xmlns:a16="http://schemas.microsoft.com/office/drawing/2014/main" id="{97876E39-E2B3-ACC5-E5E0-0876F76331E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40" name="Freeform 844">
                              <a:extLst>
                                <a:ext uri="{FF2B5EF4-FFF2-40B4-BE49-F238E27FC236}">
                                  <a16:creationId xmlns:a16="http://schemas.microsoft.com/office/drawing/2014/main" id="{E2886FD0-0945-7BFF-74F4-1CD23A8C724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41" name="Freeform 845">
                              <a:extLst>
                                <a:ext uri="{FF2B5EF4-FFF2-40B4-BE49-F238E27FC236}">
                                  <a16:creationId xmlns:a16="http://schemas.microsoft.com/office/drawing/2014/main" id="{692A413B-D51B-3871-2ED9-8ED0BDB2600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42" name="Freeform 846">
                              <a:extLst>
                                <a:ext uri="{FF2B5EF4-FFF2-40B4-BE49-F238E27FC236}">
                                  <a16:creationId xmlns:a16="http://schemas.microsoft.com/office/drawing/2014/main" id="{956711D9-585B-0F48-510E-FFA288100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43" name="Freeform 847">
                              <a:extLst>
                                <a:ext uri="{FF2B5EF4-FFF2-40B4-BE49-F238E27FC236}">
                                  <a16:creationId xmlns:a16="http://schemas.microsoft.com/office/drawing/2014/main" id="{B836C120-1F8A-2FA1-5F35-3048AEEEEDA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144" name="Straight Connector 848">
                              <a:extLst>
                                <a:ext uri="{FF2B5EF4-FFF2-40B4-BE49-F238E27FC236}">
                                  <a16:creationId xmlns:a16="http://schemas.microsoft.com/office/drawing/2014/main" id="{52FDE24A-86E4-CB04-FA1A-792EE49CB01A}"/>
                                </a:ext>
                              </a:extLst>
                            </p:cNvPr>
                            <p:cNvCxnSpPr>
                              <a:endCxn id="139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145" name="Straight Connector 849">
                              <a:extLst>
                                <a:ext uri="{FF2B5EF4-FFF2-40B4-BE49-F238E27FC236}">
                                  <a16:creationId xmlns:a16="http://schemas.microsoft.com/office/drawing/2014/main" id="{8F8B404E-ADD7-4D25-191B-2AAFE6A95E9D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134" name="Group 838">
                            <a:extLst>
                              <a:ext uri="{FF2B5EF4-FFF2-40B4-BE49-F238E27FC236}">
                                <a16:creationId xmlns:a16="http://schemas.microsoft.com/office/drawing/2014/main" id="{2F90F3F1-A21B-8F5D-CF17-5A37117E11E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135" name="Oval 839">
                              <a:extLst>
                                <a:ext uri="{FF2B5EF4-FFF2-40B4-BE49-F238E27FC236}">
                                  <a16:creationId xmlns:a16="http://schemas.microsoft.com/office/drawing/2014/main" id="{FC5F6EFE-54E1-7D15-73DE-72431DA844F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36" name="TextBox 840">
                              <a:extLst>
                                <a:ext uri="{FF2B5EF4-FFF2-40B4-BE49-F238E27FC236}">
                                  <a16:creationId xmlns:a16="http://schemas.microsoft.com/office/drawing/2014/main" id="{4D9601E7-7C0A-DAE3-FCC2-522EE3EC7FFE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3d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100" name="Group 804">
                          <a:extLst>
                            <a:ext uri="{FF2B5EF4-FFF2-40B4-BE49-F238E27FC236}">
                              <a16:creationId xmlns:a16="http://schemas.microsoft.com/office/drawing/2014/main" id="{570E613D-C58E-E6E7-2441-82D99B6C9FA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601806" y="348507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120" name="Group 327">
                            <a:extLst>
                              <a:ext uri="{FF2B5EF4-FFF2-40B4-BE49-F238E27FC236}">
                                <a16:creationId xmlns:a16="http://schemas.microsoft.com/office/drawing/2014/main" id="{41EB1025-878C-21D5-2CD8-F99ED1F8BCB7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124" name="Oval 828">
                              <a:extLst>
                                <a:ext uri="{FF2B5EF4-FFF2-40B4-BE49-F238E27FC236}">
                                  <a16:creationId xmlns:a16="http://schemas.microsoft.com/office/drawing/2014/main" id="{CF971CB5-3814-D24A-8BB9-5428D5C4943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25" name="Rectangle 829">
                              <a:extLst>
                                <a:ext uri="{FF2B5EF4-FFF2-40B4-BE49-F238E27FC236}">
                                  <a16:creationId xmlns:a16="http://schemas.microsoft.com/office/drawing/2014/main" id="{D7559EB1-226C-6421-A4B2-25197E9E05E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26" name="Oval 830">
                              <a:extLst>
                                <a:ext uri="{FF2B5EF4-FFF2-40B4-BE49-F238E27FC236}">
                                  <a16:creationId xmlns:a16="http://schemas.microsoft.com/office/drawing/2014/main" id="{99892898-8A12-BF9B-E7D1-C5B265633E4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27" name="Freeform 831">
                              <a:extLst>
                                <a:ext uri="{FF2B5EF4-FFF2-40B4-BE49-F238E27FC236}">
                                  <a16:creationId xmlns:a16="http://schemas.microsoft.com/office/drawing/2014/main" id="{9366A44C-75E6-8F53-0D79-FD1DFB03F3DC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28" name="Freeform 832">
                              <a:extLst>
                                <a:ext uri="{FF2B5EF4-FFF2-40B4-BE49-F238E27FC236}">
                                  <a16:creationId xmlns:a16="http://schemas.microsoft.com/office/drawing/2014/main" id="{1EC0FA74-B428-EE5D-A6B4-105F17CE4CB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29" name="Freeform 833">
                              <a:extLst>
                                <a:ext uri="{FF2B5EF4-FFF2-40B4-BE49-F238E27FC236}">
                                  <a16:creationId xmlns:a16="http://schemas.microsoft.com/office/drawing/2014/main" id="{1C33707B-443A-C98D-03EE-67EB8C61AF5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30" name="Freeform 834">
                              <a:extLst>
                                <a:ext uri="{FF2B5EF4-FFF2-40B4-BE49-F238E27FC236}">
                                  <a16:creationId xmlns:a16="http://schemas.microsoft.com/office/drawing/2014/main" id="{82A80D7D-3E8F-8761-C698-69FBFFF17A0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131" name="Straight Connector 835">
                              <a:extLst>
                                <a:ext uri="{FF2B5EF4-FFF2-40B4-BE49-F238E27FC236}">
                                  <a16:creationId xmlns:a16="http://schemas.microsoft.com/office/drawing/2014/main" id="{F75E77FC-8F8A-D6E8-8219-95D8F7AE18A8}"/>
                                </a:ext>
                              </a:extLst>
                            </p:cNvPr>
                            <p:cNvCxnSpPr>
                              <a:endCxn id="126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132" name="Straight Connector 836">
                              <a:extLst>
                                <a:ext uri="{FF2B5EF4-FFF2-40B4-BE49-F238E27FC236}">
                                  <a16:creationId xmlns:a16="http://schemas.microsoft.com/office/drawing/2014/main" id="{C3658C71-4BEB-C981-EC2E-F7DEFC8B25F6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121" name="Group 825">
                            <a:extLst>
                              <a:ext uri="{FF2B5EF4-FFF2-40B4-BE49-F238E27FC236}">
                                <a16:creationId xmlns:a16="http://schemas.microsoft.com/office/drawing/2014/main" id="{018B7E41-47E2-E251-5212-4CDF1BCB01C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28460" cy="369332"/>
                            <a:chOff x="667045" y="1708643"/>
                            <a:chExt cx="428460" cy="369332"/>
                          </a:xfrm>
                        </p:grpSpPr>
                        <p:sp>
                          <p:nvSpPr>
                            <p:cNvPr id="122" name="Oval 826">
                              <a:extLst>
                                <a:ext uri="{FF2B5EF4-FFF2-40B4-BE49-F238E27FC236}">
                                  <a16:creationId xmlns:a16="http://schemas.microsoft.com/office/drawing/2014/main" id="{829870A2-DD10-14C5-80FC-B917D88D1347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23" name="TextBox 827">
                              <a:extLst>
                                <a:ext uri="{FF2B5EF4-FFF2-40B4-BE49-F238E27FC236}">
                                  <a16:creationId xmlns:a16="http://schemas.microsoft.com/office/drawing/2014/main" id="{A5923235-4408-8352-2326-F330C2827F4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28460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3c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101" name="Group 805">
                          <a:extLst>
                            <a:ext uri="{FF2B5EF4-FFF2-40B4-BE49-F238E27FC236}">
                              <a16:creationId xmlns:a16="http://schemas.microsoft.com/office/drawing/2014/main" id="{0A8D431D-6E26-B3D7-BB0E-42A68302F3D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33331" y="347871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107" name="Group 327">
                            <a:extLst>
                              <a:ext uri="{FF2B5EF4-FFF2-40B4-BE49-F238E27FC236}">
                                <a16:creationId xmlns:a16="http://schemas.microsoft.com/office/drawing/2014/main" id="{C678F6E5-62DD-0746-C5A8-C591EFC7B39F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111" name="Oval 815">
                              <a:extLst>
                                <a:ext uri="{FF2B5EF4-FFF2-40B4-BE49-F238E27FC236}">
                                  <a16:creationId xmlns:a16="http://schemas.microsoft.com/office/drawing/2014/main" id="{9280BCDE-4CC4-40BB-3778-9B5EE1FEBCB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12" name="Rectangle 816">
                              <a:extLst>
                                <a:ext uri="{FF2B5EF4-FFF2-40B4-BE49-F238E27FC236}">
                                  <a16:creationId xmlns:a16="http://schemas.microsoft.com/office/drawing/2014/main" id="{142275A6-D3B1-43BC-8230-A6D9B98861AD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13" name="Oval 817">
                              <a:extLst>
                                <a:ext uri="{FF2B5EF4-FFF2-40B4-BE49-F238E27FC236}">
                                  <a16:creationId xmlns:a16="http://schemas.microsoft.com/office/drawing/2014/main" id="{741886AC-AA0C-D4FB-C61A-1DC2E6A4F7F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14" name="Freeform 818">
                              <a:extLst>
                                <a:ext uri="{FF2B5EF4-FFF2-40B4-BE49-F238E27FC236}">
                                  <a16:creationId xmlns:a16="http://schemas.microsoft.com/office/drawing/2014/main" id="{547F0568-B147-E282-48AC-23C895C22D7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15" name="Freeform 819">
                              <a:extLst>
                                <a:ext uri="{FF2B5EF4-FFF2-40B4-BE49-F238E27FC236}">
                                  <a16:creationId xmlns:a16="http://schemas.microsoft.com/office/drawing/2014/main" id="{960C72C2-5C85-CBEC-A1DD-F39319B9D5A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16" name="Freeform 820">
                              <a:extLst>
                                <a:ext uri="{FF2B5EF4-FFF2-40B4-BE49-F238E27FC236}">
                                  <a16:creationId xmlns:a16="http://schemas.microsoft.com/office/drawing/2014/main" id="{7805ED5F-B913-E1AA-410B-B8E6DB572763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17" name="Freeform 821">
                              <a:extLst>
                                <a:ext uri="{FF2B5EF4-FFF2-40B4-BE49-F238E27FC236}">
                                  <a16:creationId xmlns:a16="http://schemas.microsoft.com/office/drawing/2014/main" id="{E240C4B5-72C4-E413-F60F-46ACEE7E289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118" name="Straight Connector 822">
                              <a:extLst>
                                <a:ext uri="{FF2B5EF4-FFF2-40B4-BE49-F238E27FC236}">
                                  <a16:creationId xmlns:a16="http://schemas.microsoft.com/office/drawing/2014/main" id="{3303E492-D36C-9748-FC00-44644C198E1B}"/>
                                </a:ext>
                              </a:extLst>
                            </p:cNvPr>
                            <p:cNvCxnSpPr>
                              <a:endCxn id="113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119" name="Straight Connector 823">
                              <a:extLst>
                                <a:ext uri="{FF2B5EF4-FFF2-40B4-BE49-F238E27FC236}">
                                  <a16:creationId xmlns:a16="http://schemas.microsoft.com/office/drawing/2014/main" id="{B158A185-5E0C-2A1D-EA4F-964D19F8906B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108" name="Group 812">
                            <a:extLst>
                              <a:ext uri="{FF2B5EF4-FFF2-40B4-BE49-F238E27FC236}">
                                <a16:creationId xmlns:a16="http://schemas.microsoft.com/office/drawing/2014/main" id="{47207551-85C2-23E2-EC8B-47543716354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109" name="Oval 813">
                              <a:extLst>
                                <a:ext uri="{FF2B5EF4-FFF2-40B4-BE49-F238E27FC236}">
                                  <a16:creationId xmlns:a16="http://schemas.microsoft.com/office/drawing/2014/main" id="{5FC52473-64B8-1AA3-E852-AD3D44F9518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110" name="TextBox 814">
                              <a:extLst>
                                <a:ext uri="{FF2B5EF4-FFF2-40B4-BE49-F238E27FC236}">
                                  <a16:creationId xmlns:a16="http://schemas.microsoft.com/office/drawing/2014/main" id="{9BD7079E-39AE-A9B8-4E1D-EF202757DFE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3a</a:t>
                              </a:r>
                            </a:p>
                          </p:txBody>
                        </p:sp>
                      </p:grpSp>
                    </p:grpSp>
                    <p:cxnSp>
                      <p:nvCxnSpPr>
                        <p:cNvPr id="102" name="Straight Connector 806">
                          <a:extLst>
                            <a:ext uri="{FF2B5EF4-FFF2-40B4-BE49-F238E27FC236}">
                              <a16:creationId xmlns:a16="http://schemas.microsoft.com/office/drawing/2014/main" id="{63F65169-8276-63F6-ABBD-691E504A3EB9}"/>
                            </a:ext>
                          </a:extLst>
                        </p:cNvPr>
                        <p:cNvCxnSpPr>
                          <a:stCxn id="149" idx="2"/>
                          <a:endCxn id="136" idx="0"/>
                        </p:cNvCxnSpPr>
                        <p:nvPr/>
                      </p:nvCxnSpPr>
                      <p:spPr bwMode="auto">
                        <a:xfrm>
                          <a:off x="1991073" y="3242684"/>
                          <a:ext cx="4230" cy="851985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rgbClr val="000090"/>
                          </a:solidFill>
                          <a:prstDash val="dash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103" name="Straight Connector 807">
                          <a:extLst>
                            <a:ext uri="{FF2B5EF4-FFF2-40B4-BE49-F238E27FC236}">
                              <a16:creationId xmlns:a16="http://schemas.microsoft.com/office/drawing/2014/main" id="{911A9034-B98D-FF7D-5B47-C0BB3EB72F49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>
                          <a:off x="1407477" y="3648621"/>
                          <a:ext cx="1204913" cy="6353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104" name="Straight Connector 808">
                          <a:extLst>
                            <a:ext uri="{FF2B5EF4-FFF2-40B4-BE49-F238E27FC236}">
                              <a16:creationId xmlns:a16="http://schemas.microsoft.com/office/drawing/2014/main" id="{9E50AF6A-DBBF-48A0-3A25-F709E5792DFF}"/>
                            </a:ext>
                          </a:extLst>
                        </p:cNvPr>
                        <p:cNvCxnSpPr>
                          <a:stCxn id="150" idx="7"/>
                        </p:cNvCxnSpPr>
                        <p:nvPr/>
                      </p:nvCxnSpPr>
                      <p:spPr bwMode="auto">
                        <a:xfrm>
                          <a:off x="2218708" y="3154477"/>
                          <a:ext cx="480042" cy="369773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105" name="Straight Connector 809">
                          <a:extLst>
                            <a:ext uri="{FF2B5EF4-FFF2-40B4-BE49-F238E27FC236}">
                              <a16:creationId xmlns:a16="http://schemas.microsoft.com/office/drawing/2014/main" id="{10472F15-5533-393E-FDC7-376E6DFCF5D3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>
                          <a:off x="1300073" y="3786304"/>
                          <a:ext cx="477927" cy="357071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106" name="Straight Connector 810">
                          <a:extLst>
                            <a:ext uri="{FF2B5EF4-FFF2-40B4-BE49-F238E27FC236}">
                              <a16:creationId xmlns:a16="http://schemas.microsoft.com/office/drawing/2014/main" id="{DBE48EA3-9105-E3F6-F5EE-807B84FA208E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>
                          <a:off x="1287553" y="3166946"/>
                          <a:ext cx="508002" cy="349250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  <p:sp>
                    <p:nvSpPr>
                      <p:cNvPr id="97" name="TextBox 801">
                        <a:extLst>
                          <a:ext uri="{FF2B5EF4-FFF2-40B4-BE49-F238E27FC236}">
                            <a16:creationId xmlns:a16="http://schemas.microsoft.com/office/drawing/2014/main" id="{289E8054-300F-78E6-2332-B2C451D60F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136838" y="3735782"/>
                        <a:ext cx="753532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:r>
                          <a:rPr lang="en-US" sz="2000" dirty="0">
                            <a:solidFill>
                              <a:srgbClr val="000090"/>
                            </a:solidFill>
                            <a:latin typeface="Arial" charset="0"/>
                            <a:ea typeface="ＭＳ Ｐゴシック" charset="0"/>
                          </a:rPr>
                          <a:t>AS 3</a:t>
                        </a:r>
                      </a:p>
                    </p:txBody>
                  </p:sp>
                </p:grpSp>
              </p:grpSp>
              <p:grpSp>
                <p:nvGrpSpPr>
                  <p:cNvPr id="27" name="Group 731">
                    <a:extLst>
                      <a:ext uri="{FF2B5EF4-FFF2-40B4-BE49-F238E27FC236}">
                        <a16:creationId xmlns:a16="http://schemas.microsoft.com/office/drawing/2014/main" id="{38AD6832-B473-7D08-B050-D72B089951B1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3452487" cy="1719017"/>
                    <a:chOff x="1426553" y="4136253"/>
                    <a:chExt cx="3452487" cy="1719017"/>
                  </a:xfrm>
                </p:grpSpPr>
                <p:grpSp>
                  <p:nvGrpSpPr>
                    <p:cNvPr id="29" name="Group 733">
                      <a:extLst>
                        <a:ext uri="{FF2B5EF4-FFF2-40B4-BE49-F238E27FC236}">
                          <a16:creationId xmlns:a16="http://schemas.microsoft.com/office/drawing/2014/main" id="{74471037-75E6-09E0-A63F-A5BFE26115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26553" y="4136253"/>
                      <a:ext cx="2557336" cy="1719017"/>
                      <a:chOff x="-2170772" y="2784954"/>
                      <a:chExt cx="2712783" cy="1853712"/>
                    </a:xfrm>
                  </p:grpSpPr>
                  <p:sp>
                    <p:nvSpPr>
                      <p:cNvPr id="32" name="Freeform 2">
                        <a:extLst>
                          <a:ext uri="{FF2B5EF4-FFF2-40B4-BE49-F238E27FC236}">
                            <a16:creationId xmlns:a16="http://schemas.microsoft.com/office/drawing/2014/main" id="{3EFAEACD-B600-5F6B-9151-7697497029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-2170772" y="2784954"/>
                        <a:ext cx="2712783" cy="1853712"/>
                      </a:xfrm>
                      <a:custGeom>
                        <a:avLst/>
                        <a:gdLst>
                          <a:gd name="T0" fmla="*/ 648763 w 10001"/>
                          <a:gd name="T1" fmla="*/ 34777612 h 10125"/>
                          <a:gd name="T2" fmla="*/ 115976403 w 10001"/>
                          <a:gd name="T3" fmla="*/ 13733703 h 10125"/>
                          <a:gd name="T4" fmla="*/ 507700960 w 10001"/>
                          <a:gd name="T5" fmla="*/ 8662125 h 10125"/>
                          <a:gd name="T6" fmla="*/ 810212713 w 10001"/>
                          <a:gd name="T7" fmla="*/ 0 h 10125"/>
                          <a:gd name="T8" fmla="*/ 1090015738 w 10001"/>
                          <a:gd name="T9" fmla="*/ 8687929 h 10125"/>
                          <a:gd name="T10" fmla="*/ 1310938763 w 10001"/>
                          <a:gd name="T11" fmla="*/ 4279362 h 10125"/>
                          <a:gd name="T12" fmla="*/ 1620263134 w 10001"/>
                          <a:gd name="T13" fmla="*/ 25736690 h 10125"/>
                          <a:gd name="T14" fmla="*/ 1394798364 w 10001"/>
                          <a:gd name="T15" fmla="*/ 58525268 h 10125"/>
                          <a:gd name="T16" fmla="*/ 1134622140 w 10001"/>
                          <a:gd name="T17" fmla="*/ 80266624 h 10125"/>
                          <a:gd name="T18" fmla="*/ 860820276 w 10001"/>
                          <a:gd name="T19" fmla="*/ 76142271 h 10125"/>
                          <a:gd name="T20" fmla="*/ 708996782 w 10001"/>
                          <a:gd name="T21" fmla="*/ 85346835 h 10125"/>
                          <a:gd name="T22" fmla="*/ 509322667 w 10001"/>
                          <a:gd name="T23" fmla="*/ 86268164 h 10125"/>
                          <a:gd name="T24" fmla="*/ 353443899 w 10001"/>
                          <a:gd name="T25" fmla="*/ 67979516 h 10125"/>
                          <a:gd name="T26" fmla="*/ 192536914 w 10001"/>
                          <a:gd name="T27" fmla="*/ 64535347 h 10125"/>
                          <a:gd name="T28" fmla="*/ 648763 w 10001"/>
                          <a:gd name="T29" fmla="*/ 34777612 h 10125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connsiteX0" fmla="*/ 4 w 10040"/>
                          <a:gd name="connsiteY0" fmla="*/ 4039 h 10125"/>
                          <a:gd name="connsiteX1" fmla="*/ 715 w 10040"/>
                          <a:gd name="connsiteY1" fmla="*/ 1595 h 10125"/>
                          <a:gd name="connsiteX2" fmla="*/ 3130 w 10040"/>
                          <a:gd name="connsiteY2" fmla="*/ 1006 h 10125"/>
                          <a:gd name="connsiteX3" fmla="*/ 4995 w 10040"/>
                          <a:gd name="connsiteY3" fmla="*/ 0 h 10125"/>
                          <a:gd name="connsiteX4" fmla="*/ 6720 w 10040"/>
                          <a:gd name="connsiteY4" fmla="*/ 1009 h 10125"/>
                          <a:gd name="connsiteX5" fmla="*/ 9989 w 10040"/>
                          <a:gd name="connsiteY5" fmla="*/ 2989 h 10125"/>
                          <a:gd name="connsiteX6" fmla="*/ 8599 w 10040"/>
                          <a:gd name="connsiteY6" fmla="*/ 6797 h 10125"/>
                          <a:gd name="connsiteX7" fmla="*/ 6995 w 10040"/>
                          <a:gd name="connsiteY7" fmla="*/ 9322 h 10125"/>
                          <a:gd name="connsiteX8" fmla="*/ 5307 w 10040"/>
                          <a:gd name="connsiteY8" fmla="*/ 8843 h 10125"/>
                          <a:gd name="connsiteX9" fmla="*/ 4371 w 10040"/>
                          <a:gd name="connsiteY9" fmla="*/ 9912 h 10125"/>
                          <a:gd name="connsiteX10" fmla="*/ 3140 w 10040"/>
                          <a:gd name="connsiteY10" fmla="*/ 10019 h 10125"/>
                          <a:gd name="connsiteX11" fmla="*/ 2179 w 10040"/>
                          <a:gd name="connsiteY11" fmla="*/ 7895 h 10125"/>
                          <a:gd name="connsiteX12" fmla="*/ 1187 w 10040"/>
                          <a:gd name="connsiteY12" fmla="*/ 7495 h 10125"/>
                          <a:gd name="connsiteX13" fmla="*/ 4 w 10040"/>
                          <a:gd name="connsiteY13" fmla="*/ 4039 h 10125"/>
                          <a:gd name="connsiteX0" fmla="*/ 4 w 8600"/>
                          <a:gd name="connsiteY0" fmla="*/ 4042 h 10128"/>
                          <a:gd name="connsiteX1" fmla="*/ 715 w 8600"/>
                          <a:gd name="connsiteY1" fmla="*/ 1598 h 10128"/>
                          <a:gd name="connsiteX2" fmla="*/ 3130 w 8600"/>
                          <a:gd name="connsiteY2" fmla="*/ 1009 h 10128"/>
                          <a:gd name="connsiteX3" fmla="*/ 4995 w 8600"/>
                          <a:gd name="connsiteY3" fmla="*/ 3 h 10128"/>
                          <a:gd name="connsiteX4" fmla="*/ 6720 w 8600"/>
                          <a:gd name="connsiteY4" fmla="*/ 1012 h 10128"/>
                          <a:gd name="connsiteX5" fmla="*/ 8599 w 8600"/>
                          <a:gd name="connsiteY5" fmla="*/ 6800 h 10128"/>
                          <a:gd name="connsiteX6" fmla="*/ 6995 w 8600"/>
                          <a:gd name="connsiteY6" fmla="*/ 9325 h 10128"/>
                          <a:gd name="connsiteX7" fmla="*/ 5307 w 8600"/>
                          <a:gd name="connsiteY7" fmla="*/ 8846 h 10128"/>
                          <a:gd name="connsiteX8" fmla="*/ 4371 w 8600"/>
                          <a:gd name="connsiteY8" fmla="*/ 9915 h 10128"/>
                          <a:gd name="connsiteX9" fmla="*/ 3140 w 8600"/>
                          <a:gd name="connsiteY9" fmla="*/ 10022 h 10128"/>
                          <a:gd name="connsiteX10" fmla="*/ 2179 w 8600"/>
                          <a:gd name="connsiteY10" fmla="*/ 7898 h 10128"/>
                          <a:gd name="connsiteX11" fmla="*/ 1187 w 8600"/>
                          <a:gd name="connsiteY11" fmla="*/ 7498 h 10128"/>
                          <a:gd name="connsiteX12" fmla="*/ 4 w 8600"/>
                          <a:gd name="connsiteY12" fmla="*/ 4042 h 10128"/>
                          <a:gd name="connsiteX0" fmla="*/ 4 w 9326"/>
                          <a:gd name="connsiteY0" fmla="*/ 3988 h 9997"/>
                          <a:gd name="connsiteX1" fmla="*/ 830 w 9326"/>
                          <a:gd name="connsiteY1" fmla="*/ 1575 h 9997"/>
                          <a:gd name="connsiteX2" fmla="*/ 3639 w 9326"/>
                          <a:gd name="connsiteY2" fmla="*/ 993 h 9997"/>
                          <a:gd name="connsiteX3" fmla="*/ 5807 w 9326"/>
                          <a:gd name="connsiteY3" fmla="*/ 0 h 9997"/>
                          <a:gd name="connsiteX4" fmla="*/ 7813 w 9326"/>
                          <a:gd name="connsiteY4" fmla="*/ 996 h 9997"/>
                          <a:gd name="connsiteX5" fmla="*/ 9324 w 9326"/>
                          <a:gd name="connsiteY5" fmla="*/ 5746 h 9997"/>
                          <a:gd name="connsiteX6" fmla="*/ 8133 w 9326"/>
                          <a:gd name="connsiteY6" fmla="*/ 9204 h 9997"/>
                          <a:gd name="connsiteX7" fmla="*/ 6170 w 9326"/>
                          <a:gd name="connsiteY7" fmla="*/ 8731 h 9997"/>
                          <a:gd name="connsiteX8" fmla="*/ 5082 w 9326"/>
                          <a:gd name="connsiteY8" fmla="*/ 9787 h 9997"/>
                          <a:gd name="connsiteX9" fmla="*/ 3650 w 9326"/>
                          <a:gd name="connsiteY9" fmla="*/ 9892 h 9997"/>
                          <a:gd name="connsiteX10" fmla="*/ 2533 w 9326"/>
                          <a:gd name="connsiteY10" fmla="*/ 7795 h 9997"/>
                          <a:gd name="connsiteX11" fmla="*/ 1379 w 9326"/>
                          <a:gd name="connsiteY11" fmla="*/ 7400 h 9997"/>
                          <a:gd name="connsiteX12" fmla="*/ 4 w 9326"/>
                          <a:gd name="connsiteY12" fmla="*/ 3988 h 9997"/>
                          <a:gd name="connsiteX0" fmla="*/ 4 w 10001"/>
                          <a:gd name="connsiteY0" fmla="*/ 3989 h 10041"/>
                          <a:gd name="connsiteX1" fmla="*/ 890 w 10001"/>
                          <a:gd name="connsiteY1" fmla="*/ 1575 h 10041"/>
                          <a:gd name="connsiteX2" fmla="*/ 3902 w 10001"/>
                          <a:gd name="connsiteY2" fmla="*/ 993 h 10041"/>
                          <a:gd name="connsiteX3" fmla="*/ 6227 w 10001"/>
                          <a:gd name="connsiteY3" fmla="*/ 0 h 10041"/>
                          <a:gd name="connsiteX4" fmla="*/ 8378 w 10001"/>
                          <a:gd name="connsiteY4" fmla="*/ 996 h 10041"/>
                          <a:gd name="connsiteX5" fmla="*/ 9998 w 10001"/>
                          <a:gd name="connsiteY5" fmla="*/ 5748 h 10041"/>
                          <a:gd name="connsiteX6" fmla="*/ 8721 w 10001"/>
                          <a:gd name="connsiteY6" fmla="*/ 9207 h 10041"/>
                          <a:gd name="connsiteX7" fmla="*/ 5449 w 10001"/>
                          <a:gd name="connsiteY7" fmla="*/ 9790 h 10041"/>
                          <a:gd name="connsiteX8" fmla="*/ 3914 w 10001"/>
                          <a:gd name="connsiteY8" fmla="*/ 9895 h 10041"/>
                          <a:gd name="connsiteX9" fmla="*/ 2716 w 10001"/>
                          <a:gd name="connsiteY9" fmla="*/ 7797 h 10041"/>
                          <a:gd name="connsiteX10" fmla="*/ 1479 w 10001"/>
                          <a:gd name="connsiteY10" fmla="*/ 7402 h 10041"/>
                          <a:gd name="connsiteX11" fmla="*/ 4 w 10001"/>
                          <a:gd name="connsiteY11" fmla="*/ 3989 h 10041"/>
                          <a:gd name="connsiteX0" fmla="*/ 4 w 10001"/>
                          <a:gd name="connsiteY0" fmla="*/ 3989 h 14825"/>
                          <a:gd name="connsiteX1" fmla="*/ 890 w 10001"/>
                          <a:gd name="connsiteY1" fmla="*/ 1575 h 14825"/>
                          <a:gd name="connsiteX2" fmla="*/ 3902 w 10001"/>
                          <a:gd name="connsiteY2" fmla="*/ 993 h 14825"/>
                          <a:gd name="connsiteX3" fmla="*/ 6227 w 10001"/>
                          <a:gd name="connsiteY3" fmla="*/ 0 h 14825"/>
                          <a:gd name="connsiteX4" fmla="*/ 8378 w 10001"/>
                          <a:gd name="connsiteY4" fmla="*/ 996 h 14825"/>
                          <a:gd name="connsiteX5" fmla="*/ 9998 w 10001"/>
                          <a:gd name="connsiteY5" fmla="*/ 5748 h 14825"/>
                          <a:gd name="connsiteX6" fmla="*/ 8721 w 10001"/>
                          <a:gd name="connsiteY6" fmla="*/ 9207 h 14825"/>
                          <a:gd name="connsiteX7" fmla="*/ 6011 w 10001"/>
                          <a:gd name="connsiteY7" fmla="*/ 14823 h 14825"/>
                          <a:gd name="connsiteX8" fmla="*/ 3914 w 10001"/>
                          <a:gd name="connsiteY8" fmla="*/ 9895 h 14825"/>
                          <a:gd name="connsiteX9" fmla="*/ 2716 w 10001"/>
                          <a:gd name="connsiteY9" fmla="*/ 7797 h 14825"/>
                          <a:gd name="connsiteX10" fmla="*/ 1479 w 10001"/>
                          <a:gd name="connsiteY10" fmla="*/ 7402 h 14825"/>
                          <a:gd name="connsiteX11" fmla="*/ 4 w 10001"/>
                          <a:gd name="connsiteY11" fmla="*/ 3989 h 14825"/>
                          <a:gd name="connsiteX0" fmla="*/ 4 w 10001"/>
                          <a:gd name="connsiteY0" fmla="*/ 7436 h 18272"/>
                          <a:gd name="connsiteX1" fmla="*/ 890 w 10001"/>
                          <a:gd name="connsiteY1" fmla="*/ 5022 h 18272"/>
                          <a:gd name="connsiteX2" fmla="*/ 3902 w 10001"/>
                          <a:gd name="connsiteY2" fmla="*/ 4440 h 18272"/>
                          <a:gd name="connsiteX3" fmla="*/ 6026 w 10001"/>
                          <a:gd name="connsiteY3" fmla="*/ 0 h 18272"/>
                          <a:gd name="connsiteX4" fmla="*/ 8378 w 10001"/>
                          <a:gd name="connsiteY4" fmla="*/ 4443 h 18272"/>
                          <a:gd name="connsiteX5" fmla="*/ 9998 w 10001"/>
                          <a:gd name="connsiteY5" fmla="*/ 9195 h 18272"/>
                          <a:gd name="connsiteX6" fmla="*/ 8721 w 10001"/>
                          <a:gd name="connsiteY6" fmla="*/ 12654 h 18272"/>
                          <a:gd name="connsiteX7" fmla="*/ 6011 w 10001"/>
                          <a:gd name="connsiteY7" fmla="*/ 18270 h 18272"/>
                          <a:gd name="connsiteX8" fmla="*/ 3914 w 10001"/>
                          <a:gd name="connsiteY8" fmla="*/ 13342 h 18272"/>
                          <a:gd name="connsiteX9" fmla="*/ 2716 w 10001"/>
                          <a:gd name="connsiteY9" fmla="*/ 11244 h 18272"/>
                          <a:gd name="connsiteX10" fmla="*/ 1479 w 10001"/>
                          <a:gd name="connsiteY10" fmla="*/ 10849 h 18272"/>
                          <a:gd name="connsiteX11" fmla="*/ 4 w 10001"/>
                          <a:gd name="connsiteY11" fmla="*/ 7436 h 18272"/>
                          <a:gd name="connsiteX0" fmla="*/ 1 w 9998"/>
                          <a:gd name="connsiteY0" fmla="*/ 7436 h 18272"/>
                          <a:gd name="connsiteX1" fmla="*/ 3899 w 9998"/>
                          <a:gd name="connsiteY1" fmla="*/ 4440 h 18272"/>
                          <a:gd name="connsiteX2" fmla="*/ 6023 w 9998"/>
                          <a:gd name="connsiteY2" fmla="*/ 0 h 18272"/>
                          <a:gd name="connsiteX3" fmla="*/ 8375 w 9998"/>
                          <a:gd name="connsiteY3" fmla="*/ 4443 h 18272"/>
                          <a:gd name="connsiteX4" fmla="*/ 9995 w 9998"/>
                          <a:gd name="connsiteY4" fmla="*/ 9195 h 18272"/>
                          <a:gd name="connsiteX5" fmla="*/ 8718 w 9998"/>
                          <a:gd name="connsiteY5" fmla="*/ 12654 h 18272"/>
                          <a:gd name="connsiteX6" fmla="*/ 6008 w 9998"/>
                          <a:gd name="connsiteY6" fmla="*/ 18270 h 18272"/>
                          <a:gd name="connsiteX7" fmla="*/ 3911 w 9998"/>
                          <a:gd name="connsiteY7" fmla="*/ 13342 h 18272"/>
                          <a:gd name="connsiteX8" fmla="*/ 2713 w 9998"/>
                          <a:gd name="connsiteY8" fmla="*/ 11244 h 18272"/>
                          <a:gd name="connsiteX9" fmla="*/ 1476 w 9998"/>
                          <a:gd name="connsiteY9" fmla="*/ 10849 h 18272"/>
                          <a:gd name="connsiteX10" fmla="*/ 1 w 9998"/>
                          <a:gd name="connsiteY10" fmla="*/ 7436 h 18272"/>
                          <a:gd name="connsiteX0" fmla="*/ 35 w 8559"/>
                          <a:gd name="connsiteY0" fmla="*/ 5938 h 10000"/>
                          <a:gd name="connsiteX1" fmla="*/ 2459 w 8559"/>
                          <a:gd name="connsiteY1" fmla="*/ 2430 h 10000"/>
                          <a:gd name="connsiteX2" fmla="*/ 4583 w 8559"/>
                          <a:gd name="connsiteY2" fmla="*/ 0 h 10000"/>
                          <a:gd name="connsiteX3" fmla="*/ 6936 w 8559"/>
                          <a:gd name="connsiteY3" fmla="*/ 2432 h 10000"/>
                          <a:gd name="connsiteX4" fmla="*/ 8556 w 8559"/>
                          <a:gd name="connsiteY4" fmla="*/ 5032 h 10000"/>
                          <a:gd name="connsiteX5" fmla="*/ 7279 w 8559"/>
                          <a:gd name="connsiteY5" fmla="*/ 6925 h 10000"/>
                          <a:gd name="connsiteX6" fmla="*/ 4568 w 8559"/>
                          <a:gd name="connsiteY6" fmla="*/ 9999 h 10000"/>
                          <a:gd name="connsiteX7" fmla="*/ 2471 w 8559"/>
                          <a:gd name="connsiteY7" fmla="*/ 7302 h 10000"/>
                          <a:gd name="connsiteX8" fmla="*/ 1273 w 8559"/>
                          <a:gd name="connsiteY8" fmla="*/ 6154 h 10000"/>
                          <a:gd name="connsiteX9" fmla="*/ 35 w 8559"/>
                          <a:gd name="connsiteY9" fmla="*/ 5938 h 10000"/>
                          <a:gd name="connsiteX0" fmla="*/ 49 w 9820"/>
                          <a:gd name="connsiteY0" fmla="*/ 4655 h 10000"/>
                          <a:gd name="connsiteX1" fmla="*/ 2693 w 9820"/>
                          <a:gd name="connsiteY1" fmla="*/ 2430 h 10000"/>
                          <a:gd name="connsiteX2" fmla="*/ 5175 w 9820"/>
                          <a:gd name="connsiteY2" fmla="*/ 0 h 10000"/>
                          <a:gd name="connsiteX3" fmla="*/ 7924 w 9820"/>
                          <a:gd name="connsiteY3" fmla="*/ 2432 h 10000"/>
                          <a:gd name="connsiteX4" fmla="*/ 9816 w 9820"/>
                          <a:gd name="connsiteY4" fmla="*/ 5032 h 10000"/>
                          <a:gd name="connsiteX5" fmla="*/ 8324 w 9820"/>
                          <a:gd name="connsiteY5" fmla="*/ 6925 h 10000"/>
                          <a:gd name="connsiteX6" fmla="*/ 5157 w 9820"/>
                          <a:gd name="connsiteY6" fmla="*/ 9999 h 10000"/>
                          <a:gd name="connsiteX7" fmla="*/ 2707 w 9820"/>
                          <a:gd name="connsiteY7" fmla="*/ 7302 h 10000"/>
                          <a:gd name="connsiteX8" fmla="*/ 1307 w 9820"/>
                          <a:gd name="connsiteY8" fmla="*/ 6154 h 10000"/>
                          <a:gd name="connsiteX9" fmla="*/ 49 w 9820"/>
                          <a:gd name="connsiteY9" fmla="*/ 4655 h 10000"/>
                          <a:gd name="connsiteX0" fmla="*/ 45 w 9995"/>
                          <a:gd name="connsiteY0" fmla="*/ 4655 h 10000"/>
                          <a:gd name="connsiteX1" fmla="*/ 2737 w 9995"/>
                          <a:gd name="connsiteY1" fmla="*/ 2430 h 10000"/>
                          <a:gd name="connsiteX2" fmla="*/ 5265 w 9995"/>
                          <a:gd name="connsiteY2" fmla="*/ 0 h 10000"/>
                          <a:gd name="connsiteX3" fmla="*/ 8064 w 9995"/>
                          <a:gd name="connsiteY3" fmla="*/ 2432 h 10000"/>
                          <a:gd name="connsiteX4" fmla="*/ 9991 w 9995"/>
                          <a:gd name="connsiteY4" fmla="*/ 5032 h 10000"/>
                          <a:gd name="connsiteX5" fmla="*/ 8472 w 9995"/>
                          <a:gd name="connsiteY5" fmla="*/ 6925 h 10000"/>
                          <a:gd name="connsiteX6" fmla="*/ 5247 w 9995"/>
                          <a:gd name="connsiteY6" fmla="*/ 9999 h 10000"/>
                          <a:gd name="connsiteX7" fmla="*/ 2752 w 9995"/>
                          <a:gd name="connsiteY7" fmla="*/ 7302 h 10000"/>
                          <a:gd name="connsiteX8" fmla="*/ 1374 w 9995"/>
                          <a:gd name="connsiteY8" fmla="*/ 6984 h 10000"/>
                          <a:gd name="connsiteX9" fmla="*/ 45 w 9995"/>
                          <a:gd name="connsiteY9" fmla="*/ 4655 h 10000"/>
                          <a:gd name="connsiteX0" fmla="*/ 45 w 10000"/>
                          <a:gd name="connsiteY0" fmla="*/ 5032 h 10377"/>
                          <a:gd name="connsiteX1" fmla="*/ 2738 w 10000"/>
                          <a:gd name="connsiteY1" fmla="*/ 2807 h 10377"/>
                          <a:gd name="connsiteX2" fmla="*/ 4886 w 10000"/>
                          <a:gd name="connsiteY2" fmla="*/ 0 h 10377"/>
                          <a:gd name="connsiteX3" fmla="*/ 8068 w 10000"/>
                          <a:gd name="connsiteY3" fmla="*/ 2809 h 10377"/>
                          <a:gd name="connsiteX4" fmla="*/ 9996 w 10000"/>
                          <a:gd name="connsiteY4" fmla="*/ 5409 h 10377"/>
                          <a:gd name="connsiteX5" fmla="*/ 8476 w 10000"/>
                          <a:gd name="connsiteY5" fmla="*/ 7302 h 10377"/>
                          <a:gd name="connsiteX6" fmla="*/ 5250 w 10000"/>
                          <a:gd name="connsiteY6" fmla="*/ 10376 h 10377"/>
                          <a:gd name="connsiteX7" fmla="*/ 2753 w 10000"/>
                          <a:gd name="connsiteY7" fmla="*/ 7679 h 10377"/>
                          <a:gd name="connsiteX8" fmla="*/ 1375 w 10000"/>
                          <a:gd name="connsiteY8" fmla="*/ 7361 h 10377"/>
                          <a:gd name="connsiteX9" fmla="*/ 45 w 10000"/>
                          <a:gd name="connsiteY9" fmla="*/ 5032 h 10377"/>
                          <a:gd name="connsiteX0" fmla="*/ 45 w 10000"/>
                          <a:gd name="connsiteY0" fmla="*/ 5036 h 10381"/>
                          <a:gd name="connsiteX1" fmla="*/ 2738 w 10000"/>
                          <a:gd name="connsiteY1" fmla="*/ 2811 h 10381"/>
                          <a:gd name="connsiteX2" fmla="*/ 4886 w 10000"/>
                          <a:gd name="connsiteY2" fmla="*/ 4 h 10381"/>
                          <a:gd name="connsiteX3" fmla="*/ 8068 w 10000"/>
                          <a:gd name="connsiteY3" fmla="*/ 2813 h 10381"/>
                          <a:gd name="connsiteX4" fmla="*/ 9996 w 10000"/>
                          <a:gd name="connsiteY4" fmla="*/ 5413 h 10381"/>
                          <a:gd name="connsiteX5" fmla="*/ 8476 w 10000"/>
                          <a:gd name="connsiteY5" fmla="*/ 7306 h 10381"/>
                          <a:gd name="connsiteX6" fmla="*/ 5250 w 10000"/>
                          <a:gd name="connsiteY6" fmla="*/ 10380 h 10381"/>
                          <a:gd name="connsiteX7" fmla="*/ 2753 w 10000"/>
                          <a:gd name="connsiteY7" fmla="*/ 7683 h 10381"/>
                          <a:gd name="connsiteX8" fmla="*/ 1375 w 10000"/>
                          <a:gd name="connsiteY8" fmla="*/ 7365 h 10381"/>
                          <a:gd name="connsiteX9" fmla="*/ 45 w 10000"/>
                          <a:gd name="connsiteY9" fmla="*/ 5036 h 10381"/>
                          <a:gd name="connsiteX0" fmla="*/ 45 w 10000"/>
                          <a:gd name="connsiteY0" fmla="*/ 5036 h 10796"/>
                          <a:gd name="connsiteX1" fmla="*/ 2738 w 10000"/>
                          <a:gd name="connsiteY1" fmla="*/ 2811 h 10796"/>
                          <a:gd name="connsiteX2" fmla="*/ 4886 w 10000"/>
                          <a:gd name="connsiteY2" fmla="*/ 4 h 10796"/>
                          <a:gd name="connsiteX3" fmla="*/ 8068 w 10000"/>
                          <a:gd name="connsiteY3" fmla="*/ 2813 h 10796"/>
                          <a:gd name="connsiteX4" fmla="*/ 9996 w 10000"/>
                          <a:gd name="connsiteY4" fmla="*/ 5413 h 10796"/>
                          <a:gd name="connsiteX5" fmla="*/ 8476 w 10000"/>
                          <a:gd name="connsiteY5" fmla="*/ 7306 h 10796"/>
                          <a:gd name="connsiteX6" fmla="*/ 5202 w 10000"/>
                          <a:gd name="connsiteY6" fmla="*/ 10795 h 10796"/>
                          <a:gd name="connsiteX7" fmla="*/ 2753 w 10000"/>
                          <a:gd name="connsiteY7" fmla="*/ 7683 h 10796"/>
                          <a:gd name="connsiteX8" fmla="*/ 1375 w 10000"/>
                          <a:gd name="connsiteY8" fmla="*/ 7365 h 10796"/>
                          <a:gd name="connsiteX9" fmla="*/ 45 w 10000"/>
                          <a:gd name="connsiteY9" fmla="*/ 5036 h 10796"/>
                          <a:gd name="connsiteX0" fmla="*/ 45 w 10000"/>
                          <a:gd name="connsiteY0" fmla="*/ 5036 h 10795"/>
                          <a:gd name="connsiteX1" fmla="*/ 2738 w 10000"/>
                          <a:gd name="connsiteY1" fmla="*/ 2811 h 10795"/>
                          <a:gd name="connsiteX2" fmla="*/ 4886 w 10000"/>
                          <a:gd name="connsiteY2" fmla="*/ 4 h 10795"/>
                          <a:gd name="connsiteX3" fmla="*/ 8068 w 10000"/>
                          <a:gd name="connsiteY3" fmla="*/ 2813 h 10795"/>
                          <a:gd name="connsiteX4" fmla="*/ 9996 w 10000"/>
                          <a:gd name="connsiteY4" fmla="*/ 5413 h 10795"/>
                          <a:gd name="connsiteX5" fmla="*/ 8476 w 10000"/>
                          <a:gd name="connsiteY5" fmla="*/ 7306 h 10795"/>
                          <a:gd name="connsiteX6" fmla="*/ 5202 w 10000"/>
                          <a:gd name="connsiteY6" fmla="*/ 10795 h 10795"/>
                          <a:gd name="connsiteX7" fmla="*/ 2753 w 10000"/>
                          <a:gd name="connsiteY7" fmla="*/ 7683 h 10795"/>
                          <a:gd name="connsiteX8" fmla="*/ 1375 w 10000"/>
                          <a:gd name="connsiteY8" fmla="*/ 7365 h 10795"/>
                          <a:gd name="connsiteX9" fmla="*/ 45 w 10000"/>
                          <a:gd name="connsiteY9" fmla="*/ 5036 h 10795"/>
                          <a:gd name="connsiteX0" fmla="*/ 45 w 10000"/>
                          <a:gd name="connsiteY0" fmla="*/ 5036 h 10795"/>
                          <a:gd name="connsiteX1" fmla="*/ 2738 w 10000"/>
                          <a:gd name="connsiteY1" fmla="*/ 2811 h 10795"/>
                          <a:gd name="connsiteX2" fmla="*/ 4886 w 10000"/>
                          <a:gd name="connsiteY2" fmla="*/ 4 h 10795"/>
                          <a:gd name="connsiteX3" fmla="*/ 8068 w 10000"/>
                          <a:gd name="connsiteY3" fmla="*/ 2813 h 10795"/>
                          <a:gd name="connsiteX4" fmla="*/ 9996 w 10000"/>
                          <a:gd name="connsiteY4" fmla="*/ 5413 h 10795"/>
                          <a:gd name="connsiteX5" fmla="*/ 8476 w 10000"/>
                          <a:gd name="connsiteY5" fmla="*/ 7306 h 10795"/>
                          <a:gd name="connsiteX6" fmla="*/ 5202 w 10000"/>
                          <a:gd name="connsiteY6" fmla="*/ 10795 h 10795"/>
                          <a:gd name="connsiteX7" fmla="*/ 2753 w 10000"/>
                          <a:gd name="connsiteY7" fmla="*/ 7683 h 10795"/>
                          <a:gd name="connsiteX8" fmla="*/ 1375 w 10000"/>
                          <a:gd name="connsiteY8" fmla="*/ 7365 h 10795"/>
                          <a:gd name="connsiteX9" fmla="*/ 45 w 10000"/>
                          <a:gd name="connsiteY9" fmla="*/ 5036 h 1079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000" h="10795">
                            <a:moveTo>
                              <a:pt x="45" y="5036"/>
                            </a:moveTo>
                            <a:cubicBezTo>
                              <a:pt x="272" y="4277"/>
                              <a:pt x="1931" y="3650"/>
                              <a:pt x="2738" y="2811"/>
                            </a:cubicBezTo>
                            <a:cubicBezTo>
                              <a:pt x="3545" y="1972"/>
                              <a:pt x="3352" y="117"/>
                              <a:pt x="4886" y="4"/>
                            </a:cubicBezTo>
                            <a:cubicBezTo>
                              <a:pt x="6420" y="-109"/>
                              <a:pt x="7216" y="1912"/>
                              <a:pt x="8068" y="2813"/>
                            </a:cubicBezTo>
                            <a:cubicBezTo>
                              <a:pt x="8920" y="3715"/>
                              <a:pt x="9928" y="3420"/>
                              <a:pt x="9996" y="5413"/>
                            </a:cubicBezTo>
                            <a:cubicBezTo>
                              <a:pt x="10064" y="7406"/>
                              <a:pt x="9275" y="6409"/>
                              <a:pt x="8476" y="7306"/>
                            </a:cubicBezTo>
                            <a:cubicBezTo>
                              <a:pt x="7677" y="8203"/>
                              <a:pt x="7086" y="10770"/>
                              <a:pt x="5202" y="10795"/>
                            </a:cubicBezTo>
                            <a:cubicBezTo>
                              <a:pt x="3318" y="10820"/>
                              <a:pt x="3391" y="8255"/>
                              <a:pt x="2753" y="7683"/>
                            </a:cubicBezTo>
                            <a:cubicBezTo>
                              <a:pt x="2115" y="7111"/>
                              <a:pt x="2326" y="7496"/>
                              <a:pt x="1375" y="7365"/>
                            </a:cubicBezTo>
                            <a:cubicBezTo>
                              <a:pt x="493" y="6773"/>
                              <a:pt x="-182" y="5795"/>
                              <a:pt x="45" y="5036"/>
                            </a:cubicBezTo>
                            <a:close/>
                          </a:path>
                        </a:pathLst>
                      </a:custGeom>
                      <a:solidFill>
                        <a:srgbClr val="9CE0F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grpSp>
                    <p:nvGrpSpPr>
                      <p:cNvPr id="33" name="Group 737">
                        <a:extLst>
                          <a:ext uri="{FF2B5EF4-FFF2-40B4-BE49-F238E27FC236}">
                            <a16:creationId xmlns:a16="http://schemas.microsoft.com/office/drawing/2014/main" id="{A48ED1F8-B770-0EAB-5ACA-1E7BA6BA341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-1935370" y="2935816"/>
                        <a:ext cx="2333625" cy="1590649"/>
                        <a:chOff x="833331" y="2873352"/>
                        <a:chExt cx="2333625" cy="1590649"/>
                      </a:xfrm>
                    </p:grpSpPr>
                    <p:grpSp>
                      <p:nvGrpSpPr>
                        <p:cNvPr id="34" name="Group 738">
                          <a:extLst>
                            <a:ext uri="{FF2B5EF4-FFF2-40B4-BE49-F238E27FC236}">
                              <a16:creationId xmlns:a16="http://schemas.microsoft.com/office/drawing/2014/main" id="{5D771B40-6536-0B6B-768B-21B71DB54BC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36090" y="287335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81" name="Group 327">
                            <a:extLst>
                              <a:ext uri="{FF2B5EF4-FFF2-40B4-BE49-F238E27FC236}">
                                <a16:creationId xmlns:a16="http://schemas.microsoft.com/office/drawing/2014/main" id="{84D3BF2C-FEEF-2351-50CC-FB7196EE7AF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85" name="Oval 789">
                              <a:extLst>
                                <a:ext uri="{FF2B5EF4-FFF2-40B4-BE49-F238E27FC236}">
                                  <a16:creationId xmlns:a16="http://schemas.microsoft.com/office/drawing/2014/main" id="{DC55D17A-D30A-7A2E-1A15-54F40CB5F65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6" name="Rectangle 790">
                              <a:extLst>
                                <a:ext uri="{FF2B5EF4-FFF2-40B4-BE49-F238E27FC236}">
                                  <a16:creationId xmlns:a16="http://schemas.microsoft.com/office/drawing/2014/main" id="{6E2B7A69-CB6E-695C-2C72-5A4DC3ACE20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7" name="Oval 791">
                              <a:extLst>
                                <a:ext uri="{FF2B5EF4-FFF2-40B4-BE49-F238E27FC236}">
                                  <a16:creationId xmlns:a16="http://schemas.microsoft.com/office/drawing/2014/main" id="{A45C7848-2201-FC41-0874-3901A0784269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8" name="Freeform 792">
                              <a:extLst>
                                <a:ext uri="{FF2B5EF4-FFF2-40B4-BE49-F238E27FC236}">
                                  <a16:creationId xmlns:a16="http://schemas.microsoft.com/office/drawing/2014/main" id="{1EF229DB-85E5-89C6-8AAA-57E37F07463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9" name="Freeform 793">
                              <a:extLst>
                                <a:ext uri="{FF2B5EF4-FFF2-40B4-BE49-F238E27FC236}">
                                  <a16:creationId xmlns:a16="http://schemas.microsoft.com/office/drawing/2014/main" id="{8C5F2649-BCC0-6755-841E-73876FAA8DAB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0" name="Freeform 794">
                              <a:extLst>
                                <a:ext uri="{FF2B5EF4-FFF2-40B4-BE49-F238E27FC236}">
                                  <a16:creationId xmlns:a16="http://schemas.microsoft.com/office/drawing/2014/main" id="{96556EA4-9D9F-AD82-071E-196A20048A9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91" name="Freeform 795">
                              <a:extLst>
                                <a:ext uri="{FF2B5EF4-FFF2-40B4-BE49-F238E27FC236}">
                                  <a16:creationId xmlns:a16="http://schemas.microsoft.com/office/drawing/2014/main" id="{FADE49DD-3E4D-41B8-3136-1749DBFCC81E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92" name="Straight Connector 796">
                              <a:extLst>
                                <a:ext uri="{FF2B5EF4-FFF2-40B4-BE49-F238E27FC236}">
                                  <a16:creationId xmlns:a16="http://schemas.microsoft.com/office/drawing/2014/main" id="{46D874AE-82B0-19DA-4E30-27AE2E6E560C}"/>
                                </a:ext>
                              </a:extLst>
                            </p:cNvPr>
                            <p:cNvCxnSpPr>
                              <a:endCxn id="87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93" name="Straight Connector 797">
                              <a:extLst>
                                <a:ext uri="{FF2B5EF4-FFF2-40B4-BE49-F238E27FC236}">
                                  <a16:creationId xmlns:a16="http://schemas.microsoft.com/office/drawing/2014/main" id="{BD2DA3B7-71B0-1512-3522-D3D709671B93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82" name="Group 786">
                            <a:extLst>
                              <a:ext uri="{FF2B5EF4-FFF2-40B4-BE49-F238E27FC236}">
                                <a16:creationId xmlns:a16="http://schemas.microsoft.com/office/drawing/2014/main" id="{B0B979F0-365F-5EBF-5E18-4CA1BB76F04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83" name="Oval 787">
                              <a:extLst>
                                <a:ext uri="{FF2B5EF4-FFF2-40B4-BE49-F238E27FC236}">
                                  <a16:creationId xmlns:a16="http://schemas.microsoft.com/office/drawing/2014/main" id="{B8D9E376-D775-0EF0-5E98-72144243CC3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84" name="TextBox 788">
                              <a:extLst>
                                <a:ext uri="{FF2B5EF4-FFF2-40B4-BE49-F238E27FC236}">
                                  <a16:creationId xmlns:a16="http://schemas.microsoft.com/office/drawing/2014/main" id="{C03EF2DF-7653-5B60-A52E-EC786FDC909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1b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35" name="Group 739">
                          <a:extLst>
                            <a:ext uri="{FF2B5EF4-FFF2-40B4-BE49-F238E27FC236}">
                              <a16:creationId xmlns:a16="http://schemas.microsoft.com/office/drawing/2014/main" id="{E2C995BA-398E-4949-EA3C-963D1D8DDBF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40320" y="409466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68" name="Group 327">
                            <a:extLst>
                              <a:ext uri="{FF2B5EF4-FFF2-40B4-BE49-F238E27FC236}">
                                <a16:creationId xmlns:a16="http://schemas.microsoft.com/office/drawing/2014/main" id="{C827374B-FDDC-8F5B-5929-81C52006BAC0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72" name="Oval 776">
                              <a:extLst>
                                <a:ext uri="{FF2B5EF4-FFF2-40B4-BE49-F238E27FC236}">
                                  <a16:creationId xmlns:a16="http://schemas.microsoft.com/office/drawing/2014/main" id="{BEAEA4D8-103F-33B1-83DF-5E1A15B2AA72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3" name="Rectangle 777">
                              <a:extLst>
                                <a:ext uri="{FF2B5EF4-FFF2-40B4-BE49-F238E27FC236}">
                                  <a16:creationId xmlns:a16="http://schemas.microsoft.com/office/drawing/2014/main" id="{75DBB233-01A3-04E2-BA1D-2BBE1E381566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4" name="Oval 778">
                              <a:extLst>
                                <a:ext uri="{FF2B5EF4-FFF2-40B4-BE49-F238E27FC236}">
                                  <a16:creationId xmlns:a16="http://schemas.microsoft.com/office/drawing/2014/main" id="{123AC1F5-0AC5-5F2D-3519-105653BF32F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5" name="Freeform 779">
                              <a:extLst>
                                <a:ext uri="{FF2B5EF4-FFF2-40B4-BE49-F238E27FC236}">
                                  <a16:creationId xmlns:a16="http://schemas.microsoft.com/office/drawing/2014/main" id="{AC3CC7A8-BA74-5ECC-C1ED-F15C5F5CC71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6" name="Freeform 780">
                              <a:extLst>
                                <a:ext uri="{FF2B5EF4-FFF2-40B4-BE49-F238E27FC236}">
                                  <a16:creationId xmlns:a16="http://schemas.microsoft.com/office/drawing/2014/main" id="{558E6C85-5F4E-DBD6-BB97-9784DFE3A0B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7" name="Freeform 781">
                              <a:extLst>
                                <a:ext uri="{FF2B5EF4-FFF2-40B4-BE49-F238E27FC236}">
                                  <a16:creationId xmlns:a16="http://schemas.microsoft.com/office/drawing/2014/main" id="{12EEB85B-0E13-E775-8DEA-E9564FEA85B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8" name="Freeform 782">
                              <a:extLst>
                                <a:ext uri="{FF2B5EF4-FFF2-40B4-BE49-F238E27FC236}">
                                  <a16:creationId xmlns:a16="http://schemas.microsoft.com/office/drawing/2014/main" id="{8B6CC0C6-AF9F-284A-5D3D-374EA2B1233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79" name="Straight Connector 783">
                              <a:extLst>
                                <a:ext uri="{FF2B5EF4-FFF2-40B4-BE49-F238E27FC236}">
                                  <a16:creationId xmlns:a16="http://schemas.microsoft.com/office/drawing/2014/main" id="{7383EEF4-DDB9-3CD9-085A-BA32DB9569AB}"/>
                                </a:ext>
                              </a:extLst>
                            </p:cNvPr>
                            <p:cNvCxnSpPr>
                              <a:endCxn id="74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80" name="Straight Connector 784">
                              <a:extLst>
                                <a:ext uri="{FF2B5EF4-FFF2-40B4-BE49-F238E27FC236}">
                                  <a16:creationId xmlns:a16="http://schemas.microsoft.com/office/drawing/2014/main" id="{B421ECAC-EB1F-465F-3503-73E45E76BD54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69" name="Group 773">
                            <a:extLst>
                              <a:ext uri="{FF2B5EF4-FFF2-40B4-BE49-F238E27FC236}">
                                <a16:creationId xmlns:a16="http://schemas.microsoft.com/office/drawing/2014/main" id="{69735546-5D60-C4D2-539E-990F59E5276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70" name="Oval 774">
                              <a:extLst>
                                <a:ext uri="{FF2B5EF4-FFF2-40B4-BE49-F238E27FC236}">
                                  <a16:creationId xmlns:a16="http://schemas.microsoft.com/office/drawing/2014/main" id="{A8D3AFE5-6822-DC6A-951B-C03CB3426AC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71" name="TextBox 775">
                              <a:extLst>
                                <a:ext uri="{FF2B5EF4-FFF2-40B4-BE49-F238E27FC236}">
                                  <a16:creationId xmlns:a16="http://schemas.microsoft.com/office/drawing/2014/main" id="{5AD54186-A591-F7FA-246A-281060C7BCD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1d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36" name="Group 740">
                          <a:extLst>
                            <a:ext uri="{FF2B5EF4-FFF2-40B4-BE49-F238E27FC236}">
                              <a16:creationId xmlns:a16="http://schemas.microsoft.com/office/drawing/2014/main" id="{C09001C3-D69B-7142-36D1-6C433410D46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601806" y="3485072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55" name="Group 327">
                            <a:extLst>
                              <a:ext uri="{FF2B5EF4-FFF2-40B4-BE49-F238E27FC236}">
                                <a16:creationId xmlns:a16="http://schemas.microsoft.com/office/drawing/2014/main" id="{AC779E61-DABE-B1D7-BE38-25B7FCA14F81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59" name="Oval 763">
                              <a:extLst>
                                <a:ext uri="{FF2B5EF4-FFF2-40B4-BE49-F238E27FC236}">
                                  <a16:creationId xmlns:a16="http://schemas.microsoft.com/office/drawing/2014/main" id="{B04A0F20-B700-741C-24A4-3A759843EA35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60" name="Rectangle 764">
                              <a:extLst>
                                <a:ext uri="{FF2B5EF4-FFF2-40B4-BE49-F238E27FC236}">
                                  <a16:creationId xmlns:a16="http://schemas.microsoft.com/office/drawing/2014/main" id="{E06B56F6-6D28-5B6F-5437-9EC4C75B0BB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61" name="Oval 765">
                              <a:extLst>
                                <a:ext uri="{FF2B5EF4-FFF2-40B4-BE49-F238E27FC236}">
                                  <a16:creationId xmlns:a16="http://schemas.microsoft.com/office/drawing/2014/main" id="{35D5476D-3F06-797A-FDFF-E6945F18B7DA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62" name="Freeform 766">
                              <a:extLst>
                                <a:ext uri="{FF2B5EF4-FFF2-40B4-BE49-F238E27FC236}">
                                  <a16:creationId xmlns:a16="http://schemas.microsoft.com/office/drawing/2014/main" id="{42A203B0-A881-6C62-8A8A-C2EE50D191A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63" name="Freeform 767">
                              <a:extLst>
                                <a:ext uri="{FF2B5EF4-FFF2-40B4-BE49-F238E27FC236}">
                                  <a16:creationId xmlns:a16="http://schemas.microsoft.com/office/drawing/2014/main" id="{F2BCF1D0-1A93-A30A-8981-6040AFB2ADD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64" name="Freeform 768">
                              <a:extLst>
                                <a:ext uri="{FF2B5EF4-FFF2-40B4-BE49-F238E27FC236}">
                                  <a16:creationId xmlns:a16="http://schemas.microsoft.com/office/drawing/2014/main" id="{57DBAF8D-9DD1-B619-6075-04256816F0A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65" name="Freeform 769">
                              <a:extLst>
                                <a:ext uri="{FF2B5EF4-FFF2-40B4-BE49-F238E27FC236}">
                                  <a16:creationId xmlns:a16="http://schemas.microsoft.com/office/drawing/2014/main" id="{E842AAF9-23FB-4242-650F-A492E5207F90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66" name="Straight Connector 770">
                              <a:extLst>
                                <a:ext uri="{FF2B5EF4-FFF2-40B4-BE49-F238E27FC236}">
                                  <a16:creationId xmlns:a16="http://schemas.microsoft.com/office/drawing/2014/main" id="{465C775D-EB05-5091-B83A-927E4DA5CCDC}"/>
                                </a:ext>
                              </a:extLst>
                            </p:cNvPr>
                            <p:cNvCxnSpPr>
                              <a:endCxn id="61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67" name="Straight Connector 771">
                              <a:extLst>
                                <a:ext uri="{FF2B5EF4-FFF2-40B4-BE49-F238E27FC236}">
                                  <a16:creationId xmlns:a16="http://schemas.microsoft.com/office/drawing/2014/main" id="{2CFC3C9D-1629-2732-94A0-0E7DAF57109A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56" name="Group 760">
                            <a:extLst>
                              <a:ext uri="{FF2B5EF4-FFF2-40B4-BE49-F238E27FC236}">
                                <a16:creationId xmlns:a16="http://schemas.microsoft.com/office/drawing/2014/main" id="{3E4F85D3-E7AA-E215-6150-3D2FEE2C40D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28460" cy="369332"/>
                            <a:chOff x="667045" y="1708643"/>
                            <a:chExt cx="428460" cy="369332"/>
                          </a:xfrm>
                        </p:grpSpPr>
                        <p:sp>
                          <p:nvSpPr>
                            <p:cNvPr id="57" name="Oval 761">
                              <a:extLst>
                                <a:ext uri="{FF2B5EF4-FFF2-40B4-BE49-F238E27FC236}">
                                  <a16:creationId xmlns:a16="http://schemas.microsoft.com/office/drawing/2014/main" id="{6CF12AD8-5E05-48E9-ABE5-6255FE19A83F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58" name="TextBox 762">
                              <a:extLst>
                                <a:ext uri="{FF2B5EF4-FFF2-40B4-BE49-F238E27FC236}">
                                  <a16:creationId xmlns:a16="http://schemas.microsoft.com/office/drawing/2014/main" id="{664AA7A6-D912-8810-846B-804A7B7E211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28460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1c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37" name="Group 741">
                          <a:extLst>
                            <a:ext uri="{FF2B5EF4-FFF2-40B4-BE49-F238E27FC236}">
                              <a16:creationId xmlns:a16="http://schemas.microsoft.com/office/drawing/2014/main" id="{2E96B958-EC2A-B76E-A499-C4ADDE2417A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33331" y="3478719"/>
                          <a:ext cx="565150" cy="369332"/>
                          <a:chOff x="1736090" y="2873352"/>
                          <a:chExt cx="565150" cy="369332"/>
                        </a:xfrm>
                      </p:grpSpPr>
                      <p:grpSp>
                        <p:nvGrpSpPr>
                          <p:cNvPr id="42" name="Group 327">
                            <a:extLst>
                              <a:ext uri="{FF2B5EF4-FFF2-40B4-BE49-F238E27FC236}">
                                <a16:creationId xmlns:a16="http://schemas.microsoft.com/office/drawing/2014/main" id="{F8D4C6E8-E017-BED3-7FDB-1E7CE11032B9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736090" y="2893762"/>
                            <a:ext cx="565150" cy="292100"/>
                            <a:chOff x="1871277" y="1576300"/>
                            <a:chExt cx="1128371" cy="437861"/>
                          </a:xfrm>
                        </p:grpSpPr>
                        <p:sp>
                          <p:nvSpPr>
                            <p:cNvPr id="46" name="Oval 750">
                              <a:extLst>
                                <a:ext uri="{FF2B5EF4-FFF2-40B4-BE49-F238E27FC236}">
                                  <a16:creationId xmlns:a16="http://schemas.microsoft.com/office/drawing/2014/main" id="{F0B31A07-F674-EB80-9CAE-10E7DA558EF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4446" y="1692905"/>
                              <a:ext cx="1125202" cy="321256"/>
                            </a:xfrm>
                            <a:prstGeom prst="ellipse">
                              <a:avLst/>
                            </a:prstGeom>
                            <a:gradFill flip="none"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0" scaled="1"/>
                              <a:tileRect/>
                            </a:gra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47" name="Rectangle 751">
                              <a:extLst>
                                <a:ext uri="{FF2B5EF4-FFF2-40B4-BE49-F238E27FC236}">
                                  <a16:creationId xmlns:a16="http://schemas.microsoft.com/office/drawing/2014/main" id="{10087494-7313-96B9-E048-CA598016E7CA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1871277" y="1740499"/>
                              <a:ext cx="1128371" cy="114225"/>
                            </a:xfrm>
                            <a:prstGeom prst="rect">
                              <a:avLst/>
                            </a:prstGeom>
                            <a:gradFill rotWithShape="1">
                              <a:gsLst>
                                <a:gs pos="0">
                                  <a:srgbClr val="3333CC">
                                    <a:lumMod val="75000"/>
                                  </a:srgbClr>
                                </a:gs>
                                <a:gs pos="53000">
                                  <a:srgbClr val="3333CC">
                                    <a:lumMod val="60000"/>
                                    <a:lumOff val="40000"/>
                                  </a:srgbClr>
                                </a:gs>
                                <a:gs pos="100000">
                                  <a:srgbClr val="3333CC">
                                    <a:lumMod val="75000"/>
                                  </a:srgbClr>
                                </a:gs>
                              </a:gsLst>
                              <a:lin ang="10800000" scaled="0"/>
                            </a:gradFill>
                            <a:ln w="25400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48" name="Oval 752">
                              <a:extLst>
                                <a:ext uri="{FF2B5EF4-FFF2-40B4-BE49-F238E27FC236}">
                                  <a16:creationId xmlns:a16="http://schemas.microsoft.com/office/drawing/2014/main" id="{B6F4EF9A-6C3B-0ABA-C4AB-6126C6A2FF58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 flipV="1">
                              <a:off x="1871277" y="1576300"/>
                              <a:ext cx="1125200" cy="321257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lumMod val="75000"/>
                              </a:srgbClr>
                            </a:solidFill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solidFill>
                                    <a:srgbClr val="000000"/>
                                  </a:solidFill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49" name="Freeform 753">
                              <a:extLst>
                                <a:ext uri="{FF2B5EF4-FFF2-40B4-BE49-F238E27FC236}">
                                  <a16:creationId xmlns:a16="http://schemas.microsoft.com/office/drawing/2014/main" id="{8A2C45B3-EC27-E010-5FEA-558AF8B1D16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59708" y="1673868"/>
                              <a:ext cx="548339" cy="159438"/>
                            </a:xfrm>
                            <a:custGeom>
                              <a:avLst/>
                              <a:gdLst>
                                <a:gd name="connsiteX0" fmla="*/ 1486231 w 2944854"/>
                                <a:gd name="connsiteY0" fmla="*/ 727041 h 1302232"/>
                                <a:gd name="connsiteX1" fmla="*/ 257675 w 2944854"/>
                                <a:gd name="connsiteY1" fmla="*/ 1302232 h 1302232"/>
                                <a:gd name="connsiteX2" fmla="*/ 0 w 2944854"/>
                                <a:gd name="connsiteY2" fmla="*/ 1228607 h 1302232"/>
                                <a:gd name="connsiteX3" fmla="*/ 911064 w 2944854"/>
                                <a:gd name="connsiteY3" fmla="*/ 837478 h 1302232"/>
                                <a:gd name="connsiteX4" fmla="*/ 883456 w 2944854"/>
                                <a:gd name="connsiteY4" fmla="*/ 450949 h 1302232"/>
                                <a:gd name="connsiteX5" fmla="*/ 161047 w 2944854"/>
                                <a:gd name="connsiteY5" fmla="*/ 119640 h 1302232"/>
                                <a:gd name="connsiteX6" fmla="*/ 404917 w 2944854"/>
                                <a:gd name="connsiteY6" fmla="*/ 50617 h 1302232"/>
                                <a:gd name="connsiteX7" fmla="*/ 1477028 w 2944854"/>
                                <a:gd name="connsiteY7" fmla="*/ 501566 h 1302232"/>
                                <a:gd name="connsiteX8" fmla="*/ 2572146 w 2944854"/>
                                <a:gd name="connsiteY8" fmla="*/ 0 h 1302232"/>
                                <a:gd name="connsiteX9" fmla="*/ 2875834 w 2944854"/>
                                <a:gd name="connsiteY9" fmla="*/ 96632 h 1302232"/>
                                <a:gd name="connsiteX10" fmla="*/ 2079803 w 2944854"/>
                                <a:gd name="connsiteY10" fmla="*/ 432543 h 1302232"/>
                                <a:gd name="connsiteX11" fmla="*/ 2240850 w 2944854"/>
                                <a:gd name="connsiteY11" fmla="*/ 920305 h 1302232"/>
                                <a:gd name="connsiteX12" fmla="*/ 2944854 w 2944854"/>
                                <a:gd name="connsiteY12" fmla="*/ 1228607 h 1302232"/>
                                <a:gd name="connsiteX13" fmla="*/ 2733192 w 2944854"/>
                                <a:gd name="connsiteY13" fmla="*/ 1297630 h 1302232"/>
                                <a:gd name="connsiteX14" fmla="*/ 1486231 w 2944854"/>
                                <a:gd name="connsiteY14" fmla="*/ 727041 h 1302232"/>
                                <a:gd name="connsiteX0" fmla="*/ 1486231 w 2944854"/>
                                <a:gd name="connsiteY0" fmla="*/ 727041 h 1316375"/>
                                <a:gd name="connsiteX1" fmla="*/ 257675 w 2944854"/>
                                <a:gd name="connsiteY1" fmla="*/ 1302232 h 1316375"/>
                                <a:gd name="connsiteX2" fmla="*/ 0 w 2944854"/>
                                <a:gd name="connsiteY2" fmla="*/ 1228607 h 1316375"/>
                                <a:gd name="connsiteX3" fmla="*/ 911064 w 2944854"/>
                                <a:gd name="connsiteY3" fmla="*/ 837478 h 1316375"/>
                                <a:gd name="connsiteX4" fmla="*/ 883456 w 2944854"/>
                                <a:gd name="connsiteY4" fmla="*/ 450949 h 1316375"/>
                                <a:gd name="connsiteX5" fmla="*/ 161047 w 2944854"/>
                                <a:gd name="connsiteY5" fmla="*/ 119640 h 1316375"/>
                                <a:gd name="connsiteX6" fmla="*/ 404917 w 2944854"/>
                                <a:gd name="connsiteY6" fmla="*/ 50617 h 1316375"/>
                                <a:gd name="connsiteX7" fmla="*/ 1477028 w 2944854"/>
                                <a:gd name="connsiteY7" fmla="*/ 501566 h 1316375"/>
                                <a:gd name="connsiteX8" fmla="*/ 2572146 w 2944854"/>
                                <a:gd name="connsiteY8" fmla="*/ 0 h 1316375"/>
                                <a:gd name="connsiteX9" fmla="*/ 2875834 w 2944854"/>
                                <a:gd name="connsiteY9" fmla="*/ 96632 h 1316375"/>
                                <a:gd name="connsiteX10" fmla="*/ 2079803 w 2944854"/>
                                <a:gd name="connsiteY10" fmla="*/ 432543 h 1316375"/>
                                <a:gd name="connsiteX11" fmla="*/ 2240850 w 2944854"/>
                                <a:gd name="connsiteY11" fmla="*/ 920305 h 1316375"/>
                                <a:gd name="connsiteX12" fmla="*/ 2944854 w 2944854"/>
                                <a:gd name="connsiteY12" fmla="*/ 1228607 h 1316375"/>
                                <a:gd name="connsiteX13" fmla="*/ 2756623 w 2944854"/>
                                <a:gd name="connsiteY13" fmla="*/ 1316375 h 1316375"/>
                                <a:gd name="connsiteX14" fmla="*/ 1486231 w 2944854"/>
                                <a:gd name="connsiteY14" fmla="*/ 727041 h 1316375"/>
                                <a:gd name="connsiteX0" fmla="*/ 1486231 w 3024520"/>
                                <a:gd name="connsiteY0" fmla="*/ 727041 h 1316375"/>
                                <a:gd name="connsiteX1" fmla="*/ 257675 w 3024520"/>
                                <a:gd name="connsiteY1" fmla="*/ 1302232 h 1316375"/>
                                <a:gd name="connsiteX2" fmla="*/ 0 w 3024520"/>
                                <a:gd name="connsiteY2" fmla="*/ 1228607 h 1316375"/>
                                <a:gd name="connsiteX3" fmla="*/ 911064 w 3024520"/>
                                <a:gd name="connsiteY3" fmla="*/ 837478 h 1316375"/>
                                <a:gd name="connsiteX4" fmla="*/ 883456 w 3024520"/>
                                <a:gd name="connsiteY4" fmla="*/ 450949 h 1316375"/>
                                <a:gd name="connsiteX5" fmla="*/ 161047 w 3024520"/>
                                <a:gd name="connsiteY5" fmla="*/ 119640 h 1316375"/>
                                <a:gd name="connsiteX6" fmla="*/ 404917 w 3024520"/>
                                <a:gd name="connsiteY6" fmla="*/ 50617 h 1316375"/>
                                <a:gd name="connsiteX7" fmla="*/ 1477028 w 3024520"/>
                                <a:gd name="connsiteY7" fmla="*/ 501566 h 1316375"/>
                                <a:gd name="connsiteX8" fmla="*/ 2572146 w 3024520"/>
                                <a:gd name="connsiteY8" fmla="*/ 0 h 1316375"/>
                                <a:gd name="connsiteX9" fmla="*/ 2875834 w 3024520"/>
                                <a:gd name="connsiteY9" fmla="*/ 96632 h 1316375"/>
                                <a:gd name="connsiteX10" fmla="*/ 2079803 w 3024520"/>
                                <a:gd name="connsiteY10" fmla="*/ 432543 h 1316375"/>
                                <a:gd name="connsiteX11" fmla="*/ 2240850 w 3024520"/>
                                <a:gd name="connsiteY11" fmla="*/ 920305 h 1316375"/>
                                <a:gd name="connsiteX12" fmla="*/ 3024520 w 3024520"/>
                                <a:gd name="connsiteY12" fmla="*/ 1228607 h 1316375"/>
                                <a:gd name="connsiteX13" fmla="*/ 2756623 w 3024520"/>
                                <a:gd name="connsiteY13" fmla="*/ 1316375 h 1316375"/>
                                <a:gd name="connsiteX14" fmla="*/ 1486231 w 3024520"/>
                                <a:gd name="connsiteY14" fmla="*/ 727041 h 1316375"/>
                                <a:gd name="connsiteX0" fmla="*/ 1537780 w 3076069"/>
                                <a:gd name="connsiteY0" fmla="*/ 727041 h 1316375"/>
                                <a:gd name="connsiteX1" fmla="*/ 309224 w 3076069"/>
                                <a:gd name="connsiteY1" fmla="*/ 1302232 h 1316375"/>
                                <a:gd name="connsiteX2" fmla="*/ 0 w 3076069"/>
                                <a:gd name="connsiteY2" fmla="*/ 1228607 h 1316375"/>
                                <a:gd name="connsiteX3" fmla="*/ 962613 w 3076069"/>
                                <a:gd name="connsiteY3" fmla="*/ 837478 h 1316375"/>
                                <a:gd name="connsiteX4" fmla="*/ 935005 w 3076069"/>
                                <a:gd name="connsiteY4" fmla="*/ 450949 h 1316375"/>
                                <a:gd name="connsiteX5" fmla="*/ 212596 w 3076069"/>
                                <a:gd name="connsiteY5" fmla="*/ 119640 h 1316375"/>
                                <a:gd name="connsiteX6" fmla="*/ 456466 w 3076069"/>
                                <a:gd name="connsiteY6" fmla="*/ 50617 h 1316375"/>
                                <a:gd name="connsiteX7" fmla="*/ 1528577 w 3076069"/>
                                <a:gd name="connsiteY7" fmla="*/ 501566 h 1316375"/>
                                <a:gd name="connsiteX8" fmla="*/ 2623695 w 3076069"/>
                                <a:gd name="connsiteY8" fmla="*/ 0 h 1316375"/>
                                <a:gd name="connsiteX9" fmla="*/ 2927383 w 3076069"/>
                                <a:gd name="connsiteY9" fmla="*/ 96632 h 1316375"/>
                                <a:gd name="connsiteX10" fmla="*/ 2131352 w 3076069"/>
                                <a:gd name="connsiteY10" fmla="*/ 432543 h 1316375"/>
                                <a:gd name="connsiteX11" fmla="*/ 2292399 w 3076069"/>
                                <a:gd name="connsiteY11" fmla="*/ 920305 h 1316375"/>
                                <a:gd name="connsiteX12" fmla="*/ 3076069 w 3076069"/>
                                <a:gd name="connsiteY12" fmla="*/ 1228607 h 1316375"/>
                                <a:gd name="connsiteX13" fmla="*/ 2808172 w 3076069"/>
                                <a:gd name="connsiteY13" fmla="*/ 1316375 h 1316375"/>
                                <a:gd name="connsiteX14" fmla="*/ 1537780 w 3076069"/>
                                <a:gd name="connsiteY14" fmla="*/ 727041 h 1316375"/>
                                <a:gd name="connsiteX0" fmla="*/ 1537780 w 3076069"/>
                                <a:gd name="connsiteY0" fmla="*/ 727041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27041 h 1321259"/>
                                <a:gd name="connsiteX0" fmla="*/ 1537780 w 3076069"/>
                                <a:gd name="connsiteY0" fmla="*/ 750825 h 1321259"/>
                                <a:gd name="connsiteX1" fmla="*/ 313981 w 3076069"/>
                                <a:gd name="connsiteY1" fmla="*/ 1321259 h 1321259"/>
                                <a:gd name="connsiteX2" fmla="*/ 0 w 3076069"/>
                                <a:gd name="connsiteY2" fmla="*/ 1228607 h 1321259"/>
                                <a:gd name="connsiteX3" fmla="*/ 962613 w 3076069"/>
                                <a:gd name="connsiteY3" fmla="*/ 837478 h 1321259"/>
                                <a:gd name="connsiteX4" fmla="*/ 935005 w 3076069"/>
                                <a:gd name="connsiteY4" fmla="*/ 450949 h 1321259"/>
                                <a:gd name="connsiteX5" fmla="*/ 212596 w 3076069"/>
                                <a:gd name="connsiteY5" fmla="*/ 119640 h 1321259"/>
                                <a:gd name="connsiteX6" fmla="*/ 456466 w 3076069"/>
                                <a:gd name="connsiteY6" fmla="*/ 50617 h 1321259"/>
                                <a:gd name="connsiteX7" fmla="*/ 1528577 w 3076069"/>
                                <a:gd name="connsiteY7" fmla="*/ 501566 h 1321259"/>
                                <a:gd name="connsiteX8" fmla="*/ 2623695 w 3076069"/>
                                <a:gd name="connsiteY8" fmla="*/ 0 h 1321259"/>
                                <a:gd name="connsiteX9" fmla="*/ 2927383 w 3076069"/>
                                <a:gd name="connsiteY9" fmla="*/ 96632 h 1321259"/>
                                <a:gd name="connsiteX10" fmla="*/ 2131352 w 3076069"/>
                                <a:gd name="connsiteY10" fmla="*/ 432543 h 1321259"/>
                                <a:gd name="connsiteX11" fmla="*/ 2292399 w 3076069"/>
                                <a:gd name="connsiteY11" fmla="*/ 920305 h 1321259"/>
                                <a:gd name="connsiteX12" fmla="*/ 3076069 w 3076069"/>
                                <a:gd name="connsiteY12" fmla="*/ 1228607 h 1321259"/>
                                <a:gd name="connsiteX13" fmla="*/ 2808172 w 3076069"/>
                                <a:gd name="connsiteY13" fmla="*/ 1316375 h 1321259"/>
                                <a:gd name="connsiteX14" fmla="*/ 1537780 w 3076069"/>
                                <a:gd name="connsiteY14" fmla="*/ 750825 h 1321259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  <a:cxn ang="0">
                                  <a:pos x="connsiteX11" y="connsiteY11"/>
                                </a:cxn>
                                <a:cxn ang="0">
                                  <a:pos x="connsiteX12" y="connsiteY12"/>
                                </a:cxn>
                                <a:cxn ang="0">
                                  <a:pos x="connsiteX13" y="connsiteY13"/>
                                </a:cxn>
                                <a:cxn ang="0">
                                  <a:pos x="connsiteX14" y="connsiteY14"/>
                                </a:cxn>
                              </a:cxnLst>
                              <a:rect l="l" t="t" r="r" b="b"/>
                              <a:pathLst>
                                <a:path w="3076069" h="1321259">
                                  <a:moveTo>
                                    <a:pt x="1537780" y="750825"/>
                                  </a:moveTo>
                                  <a:lnTo>
                                    <a:pt x="313981" y="1321259"/>
                                  </a:lnTo>
                                  <a:lnTo>
                                    <a:pt x="0" y="1228607"/>
                                  </a:lnTo>
                                  <a:lnTo>
                                    <a:pt x="962613" y="837478"/>
                                  </a:lnTo>
                                  <a:lnTo>
                                    <a:pt x="935005" y="450949"/>
                                  </a:lnTo>
                                  <a:lnTo>
                                    <a:pt x="212596" y="119640"/>
                                  </a:lnTo>
                                  <a:lnTo>
                                    <a:pt x="456466" y="50617"/>
                                  </a:lnTo>
                                  <a:lnTo>
                                    <a:pt x="1528577" y="501566"/>
                                  </a:lnTo>
                                  <a:lnTo>
                                    <a:pt x="2623695" y="0"/>
                                  </a:lnTo>
                                  <a:lnTo>
                                    <a:pt x="2927383" y="96632"/>
                                  </a:lnTo>
                                  <a:lnTo>
                                    <a:pt x="2131352" y="432543"/>
                                  </a:lnTo>
                                  <a:lnTo>
                                    <a:pt x="2292399" y="920305"/>
                                  </a:lnTo>
                                  <a:lnTo>
                                    <a:pt x="3076069" y="1228607"/>
                                  </a:lnTo>
                                  <a:lnTo>
                                    <a:pt x="2808172" y="1316375"/>
                                  </a:lnTo>
                                  <a:lnTo>
                                    <a:pt x="1537780" y="75082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60000"/>
                                <a:lumOff val="40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50" name="Freeform 754">
                              <a:extLst>
                                <a:ext uri="{FF2B5EF4-FFF2-40B4-BE49-F238E27FC236}">
                                  <a16:creationId xmlns:a16="http://schemas.microsoft.com/office/drawing/2014/main" id="{A7AF9F83-5FBA-F2F7-B3EE-EAD091FE3917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102655" y="1633412"/>
                              <a:ext cx="662444" cy="111846"/>
                            </a:xfrm>
                            <a:custGeom>
                              <a:avLst/>
                              <a:gdLst>
                                <a:gd name="connsiteX0" fmla="*/ 0 w 3645229"/>
                                <a:gd name="connsiteY0" fmla="*/ 214441 h 923747"/>
                                <a:gd name="connsiteX1" fmla="*/ 659770 w 3645229"/>
                                <a:gd name="connsiteY1" fmla="*/ 16495 h 923747"/>
                                <a:gd name="connsiteX2" fmla="*/ 1814367 w 3645229"/>
                                <a:gd name="connsiteY2" fmla="*/ 511360 h 923747"/>
                                <a:gd name="connsiteX3" fmla="*/ 2968965 w 3645229"/>
                                <a:gd name="connsiteY3" fmla="*/ 0 h 923747"/>
                                <a:gd name="connsiteX4" fmla="*/ 3645229 w 3645229"/>
                                <a:gd name="connsiteY4" fmla="*/ 197946 h 923747"/>
                                <a:gd name="connsiteX5" fmla="*/ 3199884 w 3645229"/>
                                <a:gd name="connsiteY5" fmla="*/ 461874 h 923747"/>
                                <a:gd name="connsiteX6" fmla="*/ 2985459 w 3645229"/>
                                <a:gd name="connsiteY6" fmla="*/ 379396 h 923747"/>
                                <a:gd name="connsiteX7" fmla="*/ 1830861 w 3645229"/>
                                <a:gd name="connsiteY7" fmla="*/ 923747 h 923747"/>
                                <a:gd name="connsiteX8" fmla="*/ 676264 w 3645229"/>
                                <a:gd name="connsiteY8" fmla="*/ 412387 h 923747"/>
                                <a:gd name="connsiteX9" fmla="*/ 527816 w 3645229"/>
                                <a:gd name="connsiteY9" fmla="*/ 478369 h 923747"/>
                                <a:gd name="connsiteX10" fmla="*/ 0 w 3645229"/>
                                <a:gd name="connsiteY10" fmla="*/ 21444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78369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71662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23747"/>
                                <a:gd name="connsiteX1" fmla="*/ 655168 w 3640627"/>
                                <a:gd name="connsiteY1" fmla="*/ 16495 h 923747"/>
                                <a:gd name="connsiteX2" fmla="*/ 1809765 w 3640627"/>
                                <a:gd name="connsiteY2" fmla="*/ 511360 h 923747"/>
                                <a:gd name="connsiteX3" fmla="*/ 2964363 w 3640627"/>
                                <a:gd name="connsiteY3" fmla="*/ 0 h 923747"/>
                                <a:gd name="connsiteX4" fmla="*/ 3640627 w 3640627"/>
                                <a:gd name="connsiteY4" fmla="*/ 197946 h 923747"/>
                                <a:gd name="connsiteX5" fmla="*/ 3195282 w 3640627"/>
                                <a:gd name="connsiteY5" fmla="*/ 461874 h 923747"/>
                                <a:gd name="connsiteX6" fmla="*/ 2980857 w 3640627"/>
                                <a:gd name="connsiteY6" fmla="*/ 379396 h 923747"/>
                                <a:gd name="connsiteX7" fmla="*/ 1826259 w 3640627"/>
                                <a:gd name="connsiteY7" fmla="*/ 923747 h 923747"/>
                                <a:gd name="connsiteX8" fmla="*/ 690067 w 3640627"/>
                                <a:gd name="connsiteY8" fmla="*/ 412387 h 923747"/>
                                <a:gd name="connsiteX9" fmla="*/ 523214 w 3640627"/>
                                <a:gd name="connsiteY9" fmla="*/ 482971 h 923747"/>
                                <a:gd name="connsiteX10" fmla="*/ 0 w 3640627"/>
                                <a:gd name="connsiteY10" fmla="*/ 242051 h 923747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09765 w 3640627"/>
                                <a:gd name="connsiteY2" fmla="*/ 511360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2980857 w 3640627"/>
                                <a:gd name="connsiteY6" fmla="*/ 379396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640627"/>
                                <a:gd name="connsiteY0" fmla="*/ 242051 h 946755"/>
                                <a:gd name="connsiteX1" fmla="*/ 655168 w 3640627"/>
                                <a:gd name="connsiteY1" fmla="*/ 16495 h 946755"/>
                                <a:gd name="connsiteX2" fmla="*/ 1855778 w 3640627"/>
                                <a:gd name="connsiteY2" fmla="*/ 534367 h 946755"/>
                                <a:gd name="connsiteX3" fmla="*/ 2964363 w 3640627"/>
                                <a:gd name="connsiteY3" fmla="*/ 0 h 946755"/>
                                <a:gd name="connsiteX4" fmla="*/ 3640627 w 3640627"/>
                                <a:gd name="connsiteY4" fmla="*/ 197946 h 946755"/>
                                <a:gd name="connsiteX5" fmla="*/ 3195282 w 3640627"/>
                                <a:gd name="connsiteY5" fmla="*/ 461874 h 946755"/>
                                <a:gd name="connsiteX6" fmla="*/ 3008465 w 3640627"/>
                                <a:gd name="connsiteY6" fmla="*/ 402404 h 946755"/>
                                <a:gd name="connsiteX7" fmla="*/ 1876873 w 3640627"/>
                                <a:gd name="connsiteY7" fmla="*/ 946755 h 946755"/>
                                <a:gd name="connsiteX8" fmla="*/ 690067 w 3640627"/>
                                <a:gd name="connsiteY8" fmla="*/ 412387 h 946755"/>
                                <a:gd name="connsiteX9" fmla="*/ 523214 w 3640627"/>
                                <a:gd name="connsiteY9" fmla="*/ 482971 h 946755"/>
                                <a:gd name="connsiteX10" fmla="*/ 0 w 3640627"/>
                                <a:gd name="connsiteY10" fmla="*/ 242051 h 946755"/>
                                <a:gd name="connsiteX0" fmla="*/ 0 w 3723451"/>
                                <a:gd name="connsiteY0" fmla="*/ 242051 h 946755"/>
                                <a:gd name="connsiteX1" fmla="*/ 655168 w 3723451"/>
                                <a:gd name="connsiteY1" fmla="*/ 16495 h 946755"/>
                                <a:gd name="connsiteX2" fmla="*/ 1855778 w 3723451"/>
                                <a:gd name="connsiteY2" fmla="*/ 534367 h 946755"/>
                                <a:gd name="connsiteX3" fmla="*/ 2964363 w 3723451"/>
                                <a:gd name="connsiteY3" fmla="*/ 0 h 946755"/>
                                <a:gd name="connsiteX4" fmla="*/ 3723451 w 3723451"/>
                                <a:gd name="connsiteY4" fmla="*/ 220954 h 946755"/>
                                <a:gd name="connsiteX5" fmla="*/ 3195282 w 3723451"/>
                                <a:gd name="connsiteY5" fmla="*/ 461874 h 946755"/>
                                <a:gd name="connsiteX6" fmla="*/ 3008465 w 3723451"/>
                                <a:gd name="connsiteY6" fmla="*/ 402404 h 946755"/>
                                <a:gd name="connsiteX7" fmla="*/ 1876873 w 3723451"/>
                                <a:gd name="connsiteY7" fmla="*/ 946755 h 946755"/>
                                <a:gd name="connsiteX8" fmla="*/ 690067 w 3723451"/>
                                <a:gd name="connsiteY8" fmla="*/ 412387 h 946755"/>
                                <a:gd name="connsiteX9" fmla="*/ 523214 w 3723451"/>
                                <a:gd name="connsiteY9" fmla="*/ 482971 h 946755"/>
                                <a:gd name="connsiteX10" fmla="*/ 0 w 3723451"/>
                                <a:gd name="connsiteY10" fmla="*/ 242051 h 946755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08465 w 3723451"/>
                                <a:gd name="connsiteY6" fmla="*/ 388599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95282 w 3723451"/>
                                <a:gd name="connsiteY5" fmla="*/ 448069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690067 w 3723451"/>
                                <a:gd name="connsiteY8" fmla="*/ 398582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  <a:gd name="connsiteX0" fmla="*/ 0 w 3723451"/>
                                <a:gd name="connsiteY0" fmla="*/ 228246 h 932950"/>
                                <a:gd name="connsiteX1" fmla="*/ 655168 w 3723451"/>
                                <a:gd name="connsiteY1" fmla="*/ 2690 h 932950"/>
                                <a:gd name="connsiteX2" fmla="*/ 1855778 w 3723451"/>
                                <a:gd name="connsiteY2" fmla="*/ 520562 h 932950"/>
                                <a:gd name="connsiteX3" fmla="*/ 3001174 w 3723451"/>
                                <a:gd name="connsiteY3" fmla="*/ 0 h 932950"/>
                                <a:gd name="connsiteX4" fmla="*/ 3723451 w 3723451"/>
                                <a:gd name="connsiteY4" fmla="*/ 207149 h 932950"/>
                                <a:gd name="connsiteX5" fmla="*/ 3186079 w 3723451"/>
                                <a:gd name="connsiteY5" fmla="*/ 461874 h 932950"/>
                                <a:gd name="connsiteX6" fmla="*/ 3013067 w 3723451"/>
                                <a:gd name="connsiteY6" fmla="*/ 393200 h 932950"/>
                                <a:gd name="connsiteX7" fmla="*/ 1876873 w 3723451"/>
                                <a:gd name="connsiteY7" fmla="*/ 932950 h 932950"/>
                                <a:gd name="connsiteX8" fmla="*/ 711613 w 3723451"/>
                                <a:gd name="connsiteY8" fmla="*/ 413055 h 932950"/>
                                <a:gd name="connsiteX9" fmla="*/ 523214 w 3723451"/>
                                <a:gd name="connsiteY9" fmla="*/ 469166 h 932950"/>
                                <a:gd name="connsiteX10" fmla="*/ 0 w 3723451"/>
                                <a:gd name="connsiteY10" fmla="*/ 228246 h 93295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  <a:cxn ang="0">
                                  <a:pos x="connsiteX10" y="connsiteY10"/>
                                </a:cxn>
                              </a:cxnLst>
                              <a:rect l="l" t="t" r="r" b="b"/>
                              <a:pathLst>
                                <a:path w="3723451" h="932950">
                                  <a:moveTo>
                                    <a:pt x="0" y="228246"/>
                                  </a:moveTo>
                                  <a:lnTo>
                                    <a:pt x="655168" y="2690"/>
                                  </a:lnTo>
                                  <a:lnTo>
                                    <a:pt x="1855778" y="520562"/>
                                  </a:lnTo>
                                  <a:lnTo>
                                    <a:pt x="3001174" y="0"/>
                                  </a:lnTo>
                                  <a:lnTo>
                                    <a:pt x="3723451" y="207149"/>
                                  </a:lnTo>
                                  <a:lnTo>
                                    <a:pt x="3186079" y="461874"/>
                                  </a:lnTo>
                                  <a:lnTo>
                                    <a:pt x="3013067" y="393200"/>
                                  </a:lnTo>
                                  <a:lnTo>
                                    <a:pt x="1876873" y="932950"/>
                                  </a:lnTo>
                                  <a:lnTo>
                                    <a:pt x="711613" y="413055"/>
                                  </a:lnTo>
                                  <a:lnTo>
                                    <a:pt x="523214" y="469166"/>
                                  </a:lnTo>
                                  <a:lnTo>
                                    <a:pt x="0" y="22824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51" name="Freeform 755">
                              <a:extLst>
                                <a:ext uri="{FF2B5EF4-FFF2-40B4-BE49-F238E27FC236}">
                                  <a16:creationId xmlns:a16="http://schemas.microsoft.com/office/drawing/2014/main" id="{8485868B-43C6-3D49-6E99-3DB07938EB51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536889" y="1728599"/>
                              <a:ext cx="244057" cy="97568"/>
                            </a:xfrm>
                            <a:custGeom>
                              <a:avLst/>
                              <a:gdLst>
                                <a:gd name="connsiteX0" fmla="*/ 55216 w 1421812"/>
                                <a:gd name="connsiteY0" fmla="*/ 0 h 800665"/>
                                <a:gd name="connsiteX1" fmla="*/ 1421812 w 1421812"/>
                                <a:gd name="connsiteY1" fmla="*/ 625807 h 800665"/>
                                <a:gd name="connsiteX2" fmla="*/ 947874 w 1421812"/>
                                <a:gd name="connsiteY2" fmla="*/ 800665 h 800665"/>
                                <a:gd name="connsiteX3" fmla="*/ 50614 w 1421812"/>
                                <a:gd name="connsiteY3" fmla="*/ 404934 h 800665"/>
                                <a:gd name="connsiteX4" fmla="*/ 0 w 1421812"/>
                                <a:gd name="connsiteY4" fmla="*/ 404934 h 800665"/>
                                <a:gd name="connsiteX5" fmla="*/ 55216 w 1421812"/>
                                <a:gd name="connsiteY5" fmla="*/ 0 h 800665"/>
                                <a:gd name="connsiteX0" fmla="*/ 4602 w 1371198"/>
                                <a:gd name="connsiteY0" fmla="*/ 0 h 800665"/>
                                <a:gd name="connsiteX1" fmla="*/ 1371198 w 1371198"/>
                                <a:gd name="connsiteY1" fmla="*/ 625807 h 800665"/>
                                <a:gd name="connsiteX2" fmla="*/ 897260 w 1371198"/>
                                <a:gd name="connsiteY2" fmla="*/ 800665 h 800665"/>
                                <a:gd name="connsiteX3" fmla="*/ 0 w 1371198"/>
                                <a:gd name="connsiteY3" fmla="*/ 404934 h 800665"/>
                                <a:gd name="connsiteX4" fmla="*/ 4602 w 1371198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0665"/>
                                <a:gd name="connsiteX1" fmla="*/ 1366596 w 1366596"/>
                                <a:gd name="connsiteY1" fmla="*/ 625807 h 800665"/>
                                <a:gd name="connsiteX2" fmla="*/ 892658 w 1366596"/>
                                <a:gd name="connsiteY2" fmla="*/ 800665 h 800665"/>
                                <a:gd name="connsiteX3" fmla="*/ 4601 w 1366596"/>
                                <a:gd name="connsiteY3" fmla="*/ 427942 h 800665"/>
                                <a:gd name="connsiteX4" fmla="*/ 0 w 1366596"/>
                                <a:gd name="connsiteY4" fmla="*/ 0 h 800665"/>
                                <a:gd name="connsiteX0" fmla="*/ 0 w 1366596"/>
                                <a:gd name="connsiteY0" fmla="*/ 0 h 809868"/>
                                <a:gd name="connsiteX1" fmla="*/ 1366596 w 1366596"/>
                                <a:gd name="connsiteY1" fmla="*/ 625807 h 809868"/>
                                <a:gd name="connsiteX2" fmla="*/ 865050 w 1366596"/>
                                <a:gd name="connsiteY2" fmla="*/ 809868 h 809868"/>
                                <a:gd name="connsiteX3" fmla="*/ 4601 w 1366596"/>
                                <a:gd name="connsiteY3" fmla="*/ 427942 h 809868"/>
                                <a:gd name="connsiteX4" fmla="*/ 0 w 1366596"/>
                                <a:gd name="connsiteY4" fmla="*/ 0 h 80986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66596" h="809868">
                                  <a:moveTo>
                                    <a:pt x="0" y="0"/>
                                  </a:moveTo>
                                  <a:lnTo>
                                    <a:pt x="1366596" y="625807"/>
                                  </a:lnTo>
                                  <a:lnTo>
                                    <a:pt x="865050" y="809868"/>
                                  </a:lnTo>
                                  <a:lnTo>
                                    <a:pt x="4601" y="427942"/>
                                  </a:lnTo>
                                  <a:cubicBezTo>
                                    <a:pt x="-1535" y="105836"/>
                                    <a:pt x="1534" y="142647"/>
                                    <a:pt x="0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52" name="Freeform 756">
                              <a:extLst>
                                <a:ext uri="{FF2B5EF4-FFF2-40B4-BE49-F238E27FC236}">
                                  <a16:creationId xmlns:a16="http://schemas.microsoft.com/office/drawing/2014/main" id="{52B3E13E-11DA-DA43-47AD-3ED8A27DA9EC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2089977" y="1730980"/>
                              <a:ext cx="240888" cy="95187"/>
                            </a:xfrm>
                            <a:custGeom>
                              <a:avLst/>
                              <a:gdLst>
                                <a:gd name="connsiteX0" fmla="*/ 1329786 w 1348191"/>
                                <a:gd name="connsiteY0" fmla="*/ 0 h 809869"/>
                                <a:gd name="connsiteX1" fmla="*/ 1348191 w 1348191"/>
                                <a:gd name="connsiteY1" fmla="*/ 400333 h 809869"/>
                                <a:gd name="connsiteX2" fmla="*/ 487742 w 1348191"/>
                                <a:gd name="connsiteY2" fmla="*/ 809869 h 809869"/>
                                <a:gd name="connsiteX3" fmla="*/ 0 w 1348191"/>
                                <a:gd name="connsiteY3" fmla="*/ 630409 h 809869"/>
                                <a:gd name="connsiteX4" fmla="*/ 1329786 w 1348191"/>
                                <a:gd name="connsiteY4" fmla="*/ 0 h 809869"/>
                                <a:gd name="connsiteX0" fmla="*/ 1329786 w 1348191"/>
                                <a:gd name="connsiteY0" fmla="*/ 0 h 791462"/>
                                <a:gd name="connsiteX1" fmla="*/ 1348191 w 1348191"/>
                                <a:gd name="connsiteY1" fmla="*/ 381926 h 791462"/>
                                <a:gd name="connsiteX2" fmla="*/ 487742 w 1348191"/>
                                <a:gd name="connsiteY2" fmla="*/ 791462 h 791462"/>
                                <a:gd name="connsiteX3" fmla="*/ 0 w 1348191"/>
                                <a:gd name="connsiteY3" fmla="*/ 612002 h 791462"/>
                                <a:gd name="connsiteX4" fmla="*/ 1329786 w 1348191"/>
                                <a:gd name="connsiteY4" fmla="*/ 0 h 791462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348191" h="791462">
                                  <a:moveTo>
                                    <a:pt x="1329786" y="0"/>
                                  </a:moveTo>
                                  <a:lnTo>
                                    <a:pt x="1348191" y="381926"/>
                                  </a:lnTo>
                                  <a:lnTo>
                                    <a:pt x="487742" y="791462"/>
                                  </a:lnTo>
                                  <a:lnTo>
                                    <a:pt x="0" y="612002"/>
                                  </a:lnTo>
                                  <a:lnTo>
                                    <a:pt x="132978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3333CC">
                                <a:lumMod val="75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>
                              <a:outerShdw blurRad="40000" dist="23000" dir="5400000" rotWithShape="0">
                                <a:srgbClr val="000000">
                                  <a:alpha val="35000"/>
                                </a:srgbClr>
                              </a:outerShdw>
                            </a:effectLst>
                          </p:spPr>
                          <p:txBody>
                            <a:bodyPr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cxnSp>
                          <p:nvCxnSpPr>
                            <p:cNvPr id="53" name="Straight Connector 757">
                              <a:extLst>
                                <a:ext uri="{FF2B5EF4-FFF2-40B4-BE49-F238E27FC236}">
                                  <a16:creationId xmlns:a16="http://schemas.microsoft.com/office/drawing/2014/main" id="{A998CA1D-FA0B-D24A-4377-861429606D8E}"/>
                                </a:ext>
                              </a:extLst>
                            </p:cNvPr>
                            <p:cNvCxnSpPr>
                              <a:endCxn id="48" idx="2"/>
                            </p:cNvCxnSpPr>
                            <p:nvPr/>
                          </p:nvCxnSpPr>
                          <p:spPr bwMode="auto">
                            <a:xfrm flipH="1" flipV="1">
                              <a:off x="1871277" y="1735739"/>
                              <a:ext cx="3169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  <p:cxnSp>
                          <p:nvCxnSpPr>
                            <p:cNvPr id="54" name="Straight Connector 758">
                              <a:extLst>
                                <a:ext uri="{FF2B5EF4-FFF2-40B4-BE49-F238E27FC236}">
                                  <a16:creationId xmlns:a16="http://schemas.microsoft.com/office/drawing/2014/main" id="{F6E26DAB-6384-D4CB-B8D1-89CD3BB2A6DB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 bwMode="auto">
                            <a:xfrm flipH="1" flipV="1">
                              <a:off x="2996477" y="1733359"/>
                              <a:ext cx="3171" cy="123743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000000"/>
                              </a:solidFill>
                              <a:prstDash val="solid"/>
                            </a:ln>
                            <a:effectLst>
                              <a:outerShdw blurRad="40005" dist="19939" dir="5400000" algn="tl" rotWithShape="0">
                                <a:srgbClr val="000000">
                                  <a:alpha val="38000"/>
                                </a:srgbClr>
                              </a:outerShdw>
                            </a:effectLst>
                          </p:spPr>
                        </p:cxnSp>
                      </p:grpSp>
                      <p:grpSp>
                        <p:nvGrpSpPr>
                          <p:cNvPr id="43" name="Group 747">
                            <a:extLst>
                              <a:ext uri="{FF2B5EF4-FFF2-40B4-BE49-F238E27FC236}">
                                <a16:creationId xmlns:a16="http://schemas.microsoft.com/office/drawing/2014/main" id="{E56F7758-69DB-90BC-3799-468EA8E9EA7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0362" y="2873352"/>
                            <a:ext cx="441422" cy="369332"/>
                            <a:chOff x="667045" y="1708643"/>
                            <a:chExt cx="441422" cy="369332"/>
                          </a:xfrm>
                        </p:grpSpPr>
                        <p:sp>
                          <p:nvSpPr>
                            <p:cNvPr id="44" name="Oval 748">
                              <a:extLst>
                                <a:ext uri="{FF2B5EF4-FFF2-40B4-BE49-F238E27FC236}">
                                  <a16:creationId xmlns:a16="http://schemas.microsoft.com/office/drawing/2014/main" id="{6FEED64A-CE16-2B6B-D580-0FAD6989DB44}"/>
                                </a:ext>
                              </a:extLst>
                            </p:cNvPr>
                            <p:cNvSpPr/>
                            <p:nvPr/>
                          </p:nvSpPr>
                          <p:spPr bwMode="auto">
                            <a:xfrm>
                              <a:off x="725417" y="1787240"/>
                              <a:ext cx="356365" cy="231962"/>
                            </a:xfrm>
                            <a:prstGeom prst="ellipse">
                              <a:avLst/>
                            </a:prstGeom>
                            <a:solidFill>
                              <a:srgbClr val="FFFFFF">
                                <a:alpha val="76000"/>
                              </a:srgbClr>
                            </a:solidFill>
                            <a:ln w="9525" cap="flat" cmpd="sng" algn="ctr">
                              <a:noFill/>
                              <a:prstDash val="solid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Gill Sans MT"/>
                                <a:ea typeface="+mn-ea"/>
                                <a:cs typeface="+mn-cs"/>
                              </a:endParaRPr>
                            </a:p>
                          </p:txBody>
                        </p:sp>
                        <p:sp>
                          <p:nvSpPr>
                            <p:cNvPr id="45" name="TextBox 749">
                              <a:extLst>
                                <a:ext uri="{FF2B5EF4-FFF2-40B4-BE49-F238E27FC236}">
                                  <a16:creationId xmlns:a16="http://schemas.microsoft.com/office/drawing/2014/main" id="{88853379-B39B-2DE3-E62A-B32293C8FBA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67045" y="1708643"/>
                              <a:ext cx="441422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0" marR="0" lvl="0" indent="0" defTabSz="914400" eaLnBrk="0" fontAlgn="base" latinLnBrk="0" hangingPunct="0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en-US" sz="18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Arial" charset="0"/>
                                  <a:ea typeface="ＭＳ Ｐゴシック" charset="0"/>
                                </a:rPr>
                                <a:t>1a</a:t>
                              </a:r>
                            </a:p>
                          </p:txBody>
                        </p:sp>
                      </p:grpSp>
                    </p:grpSp>
                    <p:cxnSp>
                      <p:nvCxnSpPr>
                        <p:cNvPr id="38" name="Straight Connector 742">
                          <a:extLst>
                            <a:ext uri="{FF2B5EF4-FFF2-40B4-BE49-F238E27FC236}">
                              <a16:creationId xmlns:a16="http://schemas.microsoft.com/office/drawing/2014/main" id="{85699586-6A42-19E5-E722-6E89DA2AA169}"/>
                            </a:ext>
                          </a:extLst>
                        </p:cNvPr>
                        <p:cNvCxnSpPr>
                          <a:stCxn id="85" idx="7"/>
                        </p:cNvCxnSpPr>
                        <p:nvPr/>
                      </p:nvCxnSpPr>
                      <p:spPr bwMode="auto">
                        <a:xfrm>
                          <a:off x="2218708" y="3154477"/>
                          <a:ext cx="480042" cy="369773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39" name="Straight Connector 743">
                          <a:extLst>
                            <a:ext uri="{FF2B5EF4-FFF2-40B4-BE49-F238E27FC236}">
                              <a16:creationId xmlns:a16="http://schemas.microsoft.com/office/drawing/2014/main" id="{BE05DD58-F072-AB99-6FB1-7C6FBCB6017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>
                          <a:off x="1300073" y="3786304"/>
                          <a:ext cx="477927" cy="357071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40" name="Straight Connector 744">
                          <a:extLst>
                            <a:ext uri="{FF2B5EF4-FFF2-40B4-BE49-F238E27FC236}">
                              <a16:creationId xmlns:a16="http://schemas.microsoft.com/office/drawing/2014/main" id="{78800D62-8B96-A6C7-0AFF-33CEA51FC897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>
                          <a:off x="2196042" y="3783542"/>
                          <a:ext cx="508002" cy="349250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  <p:cxnSp>
                      <p:nvCxnSpPr>
                        <p:cNvPr id="41" name="Straight Connector 745">
                          <a:extLst>
                            <a:ext uri="{FF2B5EF4-FFF2-40B4-BE49-F238E27FC236}">
                              <a16:creationId xmlns:a16="http://schemas.microsoft.com/office/drawing/2014/main" id="{2E1CFA7E-29E7-009A-9A7F-0FBB03660746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>
                          <a:off x="1287553" y="3166946"/>
                          <a:ext cx="508002" cy="349250"/>
                        </a:xfrm>
                        <a:prstGeom prst="line">
                          <a:avLst/>
                        </a:prstGeom>
                        <a:solidFill>
                          <a:srgbClr val="00CC99"/>
                        </a:solidFill>
                        <a:ln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cxnSp>
                  </p:grpSp>
                </p:grpSp>
                <p:sp>
                  <p:nvSpPr>
                    <p:cNvPr id="30" name="TextBox 734">
                      <a:extLst>
                        <a:ext uri="{FF2B5EF4-FFF2-40B4-BE49-F238E27FC236}">
                          <a16:creationId xmlns:a16="http://schemas.microsoft.com/office/drawing/2014/main" id="{73AEE801-C0C5-6004-38D7-B97A6475C1A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30686" y="42470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1</a:t>
                      </a:r>
                    </a:p>
                  </p:txBody>
                </p:sp>
                <p:cxnSp>
                  <p:nvCxnSpPr>
                    <p:cNvPr id="31" name="Straight Connector 735">
                      <a:extLst>
                        <a:ext uri="{FF2B5EF4-FFF2-40B4-BE49-F238E27FC236}">
                          <a16:creationId xmlns:a16="http://schemas.microsoft.com/office/drawing/2014/main" id="{D3348348-EE94-08F2-EE3E-B2C3B7724610}"/>
                        </a:ext>
                      </a:extLst>
                    </p:cNvPr>
                    <p:cNvCxnSpPr>
                      <a:cxnSpLocks/>
                      <a:stCxn id="173" idx="1"/>
                    </p:cNvCxnSpPr>
                    <p:nvPr/>
                  </p:nvCxnSpPr>
                  <p:spPr bwMode="auto">
                    <a:xfrm flipH="1" flipV="1">
                      <a:off x="3848374" y="5024787"/>
                      <a:ext cx="1030666" cy="698992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cxnSp>
                <p:nvCxnSpPr>
                  <p:cNvPr id="28" name="Straight Connector 732">
                    <a:extLst>
                      <a:ext uri="{FF2B5EF4-FFF2-40B4-BE49-F238E27FC236}">
                        <a16:creationId xmlns:a16="http://schemas.microsoft.com/office/drawing/2014/main" id="{B475C943-AB7C-685B-48F0-C88D5AE0DF4F}"/>
                      </a:ext>
                    </a:extLst>
                  </p:cNvPr>
                  <p:cNvCxnSpPr>
                    <a:cxnSpLocks/>
                    <a:stCxn id="189" idx="5"/>
                    <a:endCxn id="110" idx="1"/>
                  </p:cNvCxnSpPr>
                  <p:nvPr/>
                </p:nvCxnSpPr>
                <p:spPr bwMode="auto">
                  <a:xfrm flipV="1">
                    <a:off x="6957825" y="4543468"/>
                    <a:ext cx="1398778" cy="1062884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grpSp>
              <p:nvGrpSpPr>
                <p:cNvPr id="8" name="Group 712">
                  <a:extLst>
                    <a:ext uri="{FF2B5EF4-FFF2-40B4-BE49-F238E27FC236}">
                      <a16:creationId xmlns:a16="http://schemas.microsoft.com/office/drawing/2014/main" id="{C0E1CBDE-7A1B-2370-3834-15902B2C8CE7}"/>
                    </a:ext>
                  </a:extLst>
                </p:cNvPr>
                <p:cNvGrpSpPr/>
                <p:nvPr/>
              </p:nvGrpSpPr>
              <p:grpSpPr>
                <a:xfrm>
                  <a:off x="9525929" y="4809915"/>
                  <a:ext cx="1701734" cy="616172"/>
                  <a:chOff x="6935906" y="5482318"/>
                  <a:chExt cx="1701734" cy="616172"/>
                </a:xfrm>
              </p:grpSpPr>
              <p:grpSp>
                <p:nvGrpSpPr>
                  <p:cNvPr id="9" name="Group 713">
                    <a:extLst>
                      <a:ext uri="{FF2B5EF4-FFF2-40B4-BE49-F238E27FC236}">
                        <a16:creationId xmlns:a16="http://schemas.microsoft.com/office/drawing/2014/main" id="{5B737289-493F-1B63-F126-E279F560D3FC}"/>
                      </a:ext>
                    </a:extLst>
                  </p:cNvPr>
                  <p:cNvGrpSpPr/>
                  <p:nvPr/>
                </p:nvGrpSpPr>
                <p:grpSpPr>
                  <a:xfrm>
                    <a:off x="6935906" y="5482318"/>
                    <a:ext cx="1701734" cy="616172"/>
                    <a:chOff x="6808463" y="5108795"/>
                    <a:chExt cx="1701734" cy="616172"/>
                  </a:xfrm>
                </p:grpSpPr>
                <p:sp>
                  <p:nvSpPr>
                    <p:cNvPr id="11" name="Freeform 2">
                      <a:extLst>
                        <a:ext uri="{FF2B5EF4-FFF2-40B4-BE49-F238E27FC236}">
                          <a16:creationId xmlns:a16="http://schemas.microsoft.com/office/drawing/2014/main" id="{041FAA65-6D05-A3C5-23DC-7CFE44E1EF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808463" y="5108795"/>
                      <a:ext cx="1701734" cy="61617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 w 9959"/>
                        <a:gd name="connsiteY0" fmla="*/ 5593 h 11352"/>
                        <a:gd name="connsiteX1" fmla="*/ 1089 w 9959"/>
                        <a:gd name="connsiteY1" fmla="*/ 469 h 11352"/>
                        <a:gd name="connsiteX2" fmla="*/ 4845 w 9959"/>
                        <a:gd name="connsiteY2" fmla="*/ 561 h 11352"/>
                        <a:gd name="connsiteX3" fmla="*/ 8027 w 9959"/>
                        <a:gd name="connsiteY3" fmla="*/ 3370 h 11352"/>
                        <a:gd name="connsiteX4" fmla="*/ 9955 w 9959"/>
                        <a:gd name="connsiteY4" fmla="*/ 5970 h 11352"/>
                        <a:gd name="connsiteX5" fmla="*/ 8435 w 9959"/>
                        <a:gd name="connsiteY5" fmla="*/ 7863 h 11352"/>
                        <a:gd name="connsiteX6" fmla="*/ 5161 w 9959"/>
                        <a:gd name="connsiteY6" fmla="*/ 11352 h 11352"/>
                        <a:gd name="connsiteX7" fmla="*/ 2712 w 9959"/>
                        <a:gd name="connsiteY7" fmla="*/ 8240 h 11352"/>
                        <a:gd name="connsiteX8" fmla="*/ 1334 w 9959"/>
                        <a:gd name="connsiteY8" fmla="*/ 7922 h 11352"/>
                        <a:gd name="connsiteX9" fmla="*/ 4 w 9959"/>
                        <a:gd name="connsiteY9" fmla="*/ 5593 h 11352"/>
                        <a:gd name="connsiteX0" fmla="*/ 0 w 11223"/>
                        <a:gd name="connsiteY0" fmla="*/ 3835 h 9929"/>
                        <a:gd name="connsiteX1" fmla="*/ 2316 w 11223"/>
                        <a:gd name="connsiteY1" fmla="*/ 342 h 9929"/>
                        <a:gd name="connsiteX2" fmla="*/ 6088 w 11223"/>
                        <a:gd name="connsiteY2" fmla="*/ 423 h 9929"/>
                        <a:gd name="connsiteX3" fmla="*/ 9283 w 11223"/>
                        <a:gd name="connsiteY3" fmla="*/ 2898 h 9929"/>
                        <a:gd name="connsiteX4" fmla="*/ 11219 w 11223"/>
                        <a:gd name="connsiteY4" fmla="*/ 5188 h 9929"/>
                        <a:gd name="connsiteX5" fmla="*/ 9693 w 11223"/>
                        <a:gd name="connsiteY5" fmla="*/ 6856 h 9929"/>
                        <a:gd name="connsiteX6" fmla="*/ 6405 w 11223"/>
                        <a:gd name="connsiteY6" fmla="*/ 9929 h 9929"/>
                        <a:gd name="connsiteX7" fmla="*/ 3946 w 11223"/>
                        <a:gd name="connsiteY7" fmla="*/ 7188 h 9929"/>
                        <a:gd name="connsiteX8" fmla="*/ 2562 w 11223"/>
                        <a:gd name="connsiteY8" fmla="*/ 6908 h 9929"/>
                        <a:gd name="connsiteX9" fmla="*/ 0 w 11223"/>
                        <a:gd name="connsiteY9" fmla="*/ 3835 h 9929"/>
                        <a:gd name="connsiteX0" fmla="*/ 0 w 9999"/>
                        <a:gd name="connsiteY0" fmla="*/ 3862 h 10000"/>
                        <a:gd name="connsiteX1" fmla="*/ 2064 w 9999"/>
                        <a:gd name="connsiteY1" fmla="*/ 344 h 10000"/>
                        <a:gd name="connsiteX2" fmla="*/ 5425 w 9999"/>
                        <a:gd name="connsiteY2" fmla="*/ 426 h 10000"/>
                        <a:gd name="connsiteX3" fmla="*/ 8271 w 9999"/>
                        <a:gd name="connsiteY3" fmla="*/ 2919 h 10000"/>
                        <a:gd name="connsiteX4" fmla="*/ 9996 w 9999"/>
                        <a:gd name="connsiteY4" fmla="*/ 5225 h 10000"/>
                        <a:gd name="connsiteX5" fmla="*/ 8637 w 9999"/>
                        <a:gd name="connsiteY5" fmla="*/ 6905 h 10000"/>
                        <a:gd name="connsiteX6" fmla="*/ 5707 w 9999"/>
                        <a:gd name="connsiteY6" fmla="*/ 10000 h 10000"/>
                        <a:gd name="connsiteX7" fmla="*/ 2283 w 9999"/>
                        <a:gd name="connsiteY7" fmla="*/ 6957 h 10000"/>
                        <a:gd name="connsiteX8" fmla="*/ 0 w 9999"/>
                        <a:gd name="connsiteY8" fmla="*/ 3862 h 10000"/>
                        <a:gd name="connsiteX0" fmla="*/ 124 w 10124"/>
                        <a:gd name="connsiteY0" fmla="*/ 3862 h 10000"/>
                        <a:gd name="connsiteX1" fmla="*/ 2188 w 10124"/>
                        <a:gd name="connsiteY1" fmla="*/ 344 h 10000"/>
                        <a:gd name="connsiteX2" fmla="*/ 5550 w 10124"/>
                        <a:gd name="connsiteY2" fmla="*/ 426 h 10000"/>
                        <a:gd name="connsiteX3" fmla="*/ 8396 w 10124"/>
                        <a:gd name="connsiteY3" fmla="*/ 2919 h 10000"/>
                        <a:gd name="connsiteX4" fmla="*/ 10121 w 10124"/>
                        <a:gd name="connsiteY4" fmla="*/ 5225 h 10000"/>
                        <a:gd name="connsiteX5" fmla="*/ 8762 w 10124"/>
                        <a:gd name="connsiteY5" fmla="*/ 6905 h 10000"/>
                        <a:gd name="connsiteX6" fmla="*/ 5832 w 10124"/>
                        <a:gd name="connsiteY6" fmla="*/ 10000 h 10000"/>
                        <a:gd name="connsiteX7" fmla="*/ 124 w 10124"/>
                        <a:gd name="connsiteY7" fmla="*/ 3862 h 10000"/>
                        <a:gd name="connsiteX0" fmla="*/ 43 w 10045"/>
                        <a:gd name="connsiteY0" fmla="*/ 3862 h 6912"/>
                        <a:gd name="connsiteX1" fmla="*/ 2107 w 10045"/>
                        <a:gd name="connsiteY1" fmla="*/ 344 h 6912"/>
                        <a:gd name="connsiteX2" fmla="*/ 5469 w 10045"/>
                        <a:gd name="connsiteY2" fmla="*/ 426 h 6912"/>
                        <a:gd name="connsiteX3" fmla="*/ 8315 w 10045"/>
                        <a:gd name="connsiteY3" fmla="*/ 2919 h 6912"/>
                        <a:gd name="connsiteX4" fmla="*/ 10040 w 10045"/>
                        <a:gd name="connsiteY4" fmla="*/ 5225 h 6912"/>
                        <a:gd name="connsiteX5" fmla="*/ 8681 w 10045"/>
                        <a:gd name="connsiteY5" fmla="*/ 6905 h 6912"/>
                        <a:gd name="connsiteX6" fmla="*/ 3967 w 10045"/>
                        <a:gd name="connsiteY6" fmla="*/ 5885 h 6912"/>
                        <a:gd name="connsiteX7" fmla="*/ 43 w 10045"/>
                        <a:gd name="connsiteY7" fmla="*/ 3862 h 6912"/>
                        <a:gd name="connsiteX0" fmla="*/ 47 w 10004"/>
                        <a:gd name="connsiteY0" fmla="*/ 5106 h 9519"/>
                        <a:gd name="connsiteX1" fmla="*/ 2102 w 10004"/>
                        <a:gd name="connsiteY1" fmla="*/ 17 h 9519"/>
                        <a:gd name="connsiteX2" fmla="*/ 6651 w 10004"/>
                        <a:gd name="connsiteY2" fmla="*/ 3484 h 9519"/>
                        <a:gd name="connsiteX3" fmla="*/ 8282 w 10004"/>
                        <a:gd name="connsiteY3" fmla="*/ 3742 h 9519"/>
                        <a:gd name="connsiteX4" fmla="*/ 9999 w 10004"/>
                        <a:gd name="connsiteY4" fmla="*/ 7078 h 9519"/>
                        <a:gd name="connsiteX5" fmla="*/ 8646 w 10004"/>
                        <a:gd name="connsiteY5" fmla="*/ 9509 h 9519"/>
                        <a:gd name="connsiteX6" fmla="*/ 3953 w 10004"/>
                        <a:gd name="connsiteY6" fmla="*/ 8033 h 9519"/>
                        <a:gd name="connsiteX7" fmla="*/ 47 w 10004"/>
                        <a:gd name="connsiteY7" fmla="*/ 5106 h 9519"/>
                        <a:gd name="connsiteX0" fmla="*/ 43 w 9996"/>
                        <a:gd name="connsiteY0" fmla="*/ 6232 h 10868"/>
                        <a:gd name="connsiteX1" fmla="*/ 2097 w 9996"/>
                        <a:gd name="connsiteY1" fmla="*/ 886 h 10868"/>
                        <a:gd name="connsiteX2" fmla="*/ 5642 w 9996"/>
                        <a:gd name="connsiteY2" fmla="*/ 385 h 10868"/>
                        <a:gd name="connsiteX3" fmla="*/ 8275 w 9996"/>
                        <a:gd name="connsiteY3" fmla="*/ 4799 h 10868"/>
                        <a:gd name="connsiteX4" fmla="*/ 9991 w 9996"/>
                        <a:gd name="connsiteY4" fmla="*/ 8304 h 10868"/>
                        <a:gd name="connsiteX5" fmla="*/ 8639 w 9996"/>
                        <a:gd name="connsiteY5" fmla="*/ 10857 h 10868"/>
                        <a:gd name="connsiteX6" fmla="*/ 3947 w 9996"/>
                        <a:gd name="connsiteY6" fmla="*/ 9307 h 10868"/>
                        <a:gd name="connsiteX7" fmla="*/ 43 w 9996"/>
                        <a:gd name="connsiteY7" fmla="*/ 6232 h 10868"/>
                        <a:gd name="connsiteX0" fmla="*/ 43 w 10004"/>
                        <a:gd name="connsiteY0" fmla="*/ 5543 h 9809"/>
                        <a:gd name="connsiteX1" fmla="*/ 2098 w 10004"/>
                        <a:gd name="connsiteY1" fmla="*/ 624 h 9809"/>
                        <a:gd name="connsiteX2" fmla="*/ 5644 w 10004"/>
                        <a:gd name="connsiteY2" fmla="*/ 163 h 9809"/>
                        <a:gd name="connsiteX3" fmla="*/ 8163 w 10004"/>
                        <a:gd name="connsiteY3" fmla="*/ 1492 h 9809"/>
                        <a:gd name="connsiteX4" fmla="*/ 9995 w 10004"/>
                        <a:gd name="connsiteY4" fmla="*/ 7450 h 9809"/>
                        <a:gd name="connsiteX5" fmla="*/ 8642 w 10004"/>
                        <a:gd name="connsiteY5" fmla="*/ 9799 h 9809"/>
                        <a:gd name="connsiteX6" fmla="*/ 3949 w 10004"/>
                        <a:gd name="connsiteY6" fmla="*/ 8373 h 9809"/>
                        <a:gd name="connsiteX7" fmla="*/ 43 w 10004"/>
                        <a:gd name="connsiteY7" fmla="*/ 5543 h 9809"/>
                        <a:gd name="connsiteX0" fmla="*/ 43 w 8950"/>
                        <a:gd name="connsiteY0" fmla="*/ 5651 h 10081"/>
                        <a:gd name="connsiteX1" fmla="*/ 2097 w 8950"/>
                        <a:gd name="connsiteY1" fmla="*/ 636 h 10081"/>
                        <a:gd name="connsiteX2" fmla="*/ 5642 w 8950"/>
                        <a:gd name="connsiteY2" fmla="*/ 166 h 10081"/>
                        <a:gd name="connsiteX3" fmla="*/ 8160 w 8950"/>
                        <a:gd name="connsiteY3" fmla="*/ 1521 h 10081"/>
                        <a:gd name="connsiteX4" fmla="*/ 8473 w 8950"/>
                        <a:gd name="connsiteY4" fmla="*/ 5322 h 10081"/>
                        <a:gd name="connsiteX5" fmla="*/ 8639 w 8950"/>
                        <a:gd name="connsiteY5" fmla="*/ 9990 h 10081"/>
                        <a:gd name="connsiteX6" fmla="*/ 3947 w 8950"/>
                        <a:gd name="connsiteY6" fmla="*/ 8536 h 10081"/>
                        <a:gd name="connsiteX7" fmla="*/ 43 w 8950"/>
                        <a:gd name="connsiteY7" fmla="*/ 5651 h 10081"/>
                        <a:gd name="connsiteX0" fmla="*/ 48 w 9651"/>
                        <a:gd name="connsiteY0" fmla="*/ 5606 h 8648"/>
                        <a:gd name="connsiteX1" fmla="*/ 2343 w 9651"/>
                        <a:gd name="connsiteY1" fmla="*/ 631 h 8648"/>
                        <a:gd name="connsiteX2" fmla="*/ 6304 w 9651"/>
                        <a:gd name="connsiteY2" fmla="*/ 165 h 8648"/>
                        <a:gd name="connsiteX3" fmla="*/ 9117 w 9651"/>
                        <a:gd name="connsiteY3" fmla="*/ 1509 h 8648"/>
                        <a:gd name="connsiteX4" fmla="*/ 9467 w 9651"/>
                        <a:gd name="connsiteY4" fmla="*/ 5279 h 8648"/>
                        <a:gd name="connsiteX5" fmla="*/ 6997 w 9651"/>
                        <a:gd name="connsiteY5" fmla="*/ 8019 h 8648"/>
                        <a:gd name="connsiteX6" fmla="*/ 4410 w 9651"/>
                        <a:gd name="connsiteY6" fmla="*/ 8467 h 8648"/>
                        <a:gd name="connsiteX7" fmla="*/ 48 w 9651"/>
                        <a:gd name="connsiteY7" fmla="*/ 5606 h 8648"/>
                        <a:gd name="connsiteX0" fmla="*/ 41 w 9991"/>
                        <a:gd name="connsiteY0" fmla="*/ 6482 h 9316"/>
                        <a:gd name="connsiteX1" fmla="*/ 2419 w 9991"/>
                        <a:gd name="connsiteY1" fmla="*/ 730 h 9316"/>
                        <a:gd name="connsiteX2" fmla="*/ 6523 w 9991"/>
                        <a:gd name="connsiteY2" fmla="*/ 191 h 9316"/>
                        <a:gd name="connsiteX3" fmla="*/ 9438 w 9991"/>
                        <a:gd name="connsiteY3" fmla="*/ 1745 h 9316"/>
                        <a:gd name="connsiteX4" fmla="*/ 9800 w 9991"/>
                        <a:gd name="connsiteY4" fmla="*/ 6104 h 9316"/>
                        <a:gd name="connsiteX5" fmla="*/ 7241 w 9991"/>
                        <a:gd name="connsiteY5" fmla="*/ 9273 h 9316"/>
                        <a:gd name="connsiteX6" fmla="*/ 1411 w 9991"/>
                        <a:gd name="connsiteY6" fmla="*/ 7856 h 9316"/>
                        <a:gd name="connsiteX7" fmla="*/ 41 w 9991"/>
                        <a:gd name="connsiteY7" fmla="*/ 6482 h 9316"/>
                        <a:gd name="connsiteX0" fmla="*/ 19 w 10708"/>
                        <a:gd name="connsiteY0" fmla="*/ 7721 h 10038"/>
                        <a:gd name="connsiteX1" fmla="*/ 3129 w 10708"/>
                        <a:gd name="connsiteY1" fmla="*/ 825 h 10038"/>
                        <a:gd name="connsiteX2" fmla="*/ 7237 w 10708"/>
                        <a:gd name="connsiteY2" fmla="*/ 246 h 10038"/>
                        <a:gd name="connsiteX3" fmla="*/ 10155 w 10708"/>
                        <a:gd name="connsiteY3" fmla="*/ 1914 h 10038"/>
                        <a:gd name="connsiteX4" fmla="*/ 10517 w 10708"/>
                        <a:gd name="connsiteY4" fmla="*/ 6593 h 10038"/>
                        <a:gd name="connsiteX5" fmla="*/ 7956 w 10708"/>
                        <a:gd name="connsiteY5" fmla="*/ 9995 h 10038"/>
                        <a:gd name="connsiteX6" fmla="*/ 2120 w 10708"/>
                        <a:gd name="connsiteY6" fmla="*/ 8474 h 10038"/>
                        <a:gd name="connsiteX7" fmla="*/ 19 w 10708"/>
                        <a:gd name="connsiteY7" fmla="*/ 7721 h 10038"/>
                        <a:gd name="connsiteX0" fmla="*/ 359 w 11048"/>
                        <a:gd name="connsiteY0" fmla="*/ 7721 h 10038"/>
                        <a:gd name="connsiteX1" fmla="*/ 3469 w 11048"/>
                        <a:gd name="connsiteY1" fmla="*/ 825 h 10038"/>
                        <a:gd name="connsiteX2" fmla="*/ 7577 w 11048"/>
                        <a:gd name="connsiteY2" fmla="*/ 246 h 10038"/>
                        <a:gd name="connsiteX3" fmla="*/ 10495 w 11048"/>
                        <a:gd name="connsiteY3" fmla="*/ 1914 h 10038"/>
                        <a:gd name="connsiteX4" fmla="*/ 10857 w 11048"/>
                        <a:gd name="connsiteY4" fmla="*/ 6593 h 10038"/>
                        <a:gd name="connsiteX5" fmla="*/ 8296 w 11048"/>
                        <a:gd name="connsiteY5" fmla="*/ 9995 h 10038"/>
                        <a:gd name="connsiteX6" fmla="*/ 2460 w 11048"/>
                        <a:gd name="connsiteY6" fmla="*/ 8474 h 10038"/>
                        <a:gd name="connsiteX7" fmla="*/ 359 w 11048"/>
                        <a:gd name="connsiteY7" fmla="*/ 7721 h 10038"/>
                        <a:gd name="connsiteX0" fmla="*/ 359 w 11048"/>
                        <a:gd name="connsiteY0" fmla="*/ 8392 h 10075"/>
                        <a:gd name="connsiteX1" fmla="*/ 3469 w 11048"/>
                        <a:gd name="connsiteY1" fmla="*/ 864 h 10075"/>
                        <a:gd name="connsiteX2" fmla="*/ 7577 w 11048"/>
                        <a:gd name="connsiteY2" fmla="*/ 285 h 10075"/>
                        <a:gd name="connsiteX3" fmla="*/ 10495 w 11048"/>
                        <a:gd name="connsiteY3" fmla="*/ 1953 h 10075"/>
                        <a:gd name="connsiteX4" fmla="*/ 10857 w 11048"/>
                        <a:gd name="connsiteY4" fmla="*/ 6632 h 10075"/>
                        <a:gd name="connsiteX5" fmla="*/ 8296 w 11048"/>
                        <a:gd name="connsiteY5" fmla="*/ 10034 h 10075"/>
                        <a:gd name="connsiteX6" fmla="*/ 2460 w 11048"/>
                        <a:gd name="connsiteY6" fmla="*/ 8513 h 10075"/>
                        <a:gd name="connsiteX7" fmla="*/ 359 w 11048"/>
                        <a:gd name="connsiteY7" fmla="*/ 8392 h 10075"/>
                        <a:gd name="connsiteX0" fmla="*/ 371 w 11060"/>
                        <a:gd name="connsiteY0" fmla="*/ 8392 h 10075"/>
                        <a:gd name="connsiteX1" fmla="*/ 3481 w 11060"/>
                        <a:gd name="connsiteY1" fmla="*/ 864 h 10075"/>
                        <a:gd name="connsiteX2" fmla="*/ 7589 w 11060"/>
                        <a:gd name="connsiteY2" fmla="*/ 285 h 10075"/>
                        <a:gd name="connsiteX3" fmla="*/ 10507 w 11060"/>
                        <a:gd name="connsiteY3" fmla="*/ 1953 h 10075"/>
                        <a:gd name="connsiteX4" fmla="*/ 10869 w 11060"/>
                        <a:gd name="connsiteY4" fmla="*/ 6632 h 10075"/>
                        <a:gd name="connsiteX5" fmla="*/ 8308 w 11060"/>
                        <a:gd name="connsiteY5" fmla="*/ 10034 h 10075"/>
                        <a:gd name="connsiteX6" fmla="*/ 2472 w 11060"/>
                        <a:gd name="connsiteY6" fmla="*/ 8513 h 10075"/>
                        <a:gd name="connsiteX7" fmla="*/ 371 w 11060"/>
                        <a:gd name="connsiteY7" fmla="*/ 8392 h 10075"/>
                        <a:gd name="connsiteX0" fmla="*/ 54 w 10743"/>
                        <a:gd name="connsiteY0" fmla="*/ 9468 h 11151"/>
                        <a:gd name="connsiteX1" fmla="*/ 4027 w 10743"/>
                        <a:gd name="connsiteY1" fmla="*/ 495 h 11151"/>
                        <a:gd name="connsiteX2" fmla="*/ 7272 w 10743"/>
                        <a:gd name="connsiteY2" fmla="*/ 1361 h 11151"/>
                        <a:gd name="connsiteX3" fmla="*/ 10190 w 10743"/>
                        <a:gd name="connsiteY3" fmla="*/ 3029 h 11151"/>
                        <a:gd name="connsiteX4" fmla="*/ 10552 w 10743"/>
                        <a:gd name="connsiteY4" fmla="*/ 7708 h 11151"/>
                        <a:gd name="connsiteX5" fmla="*/ 7991 w 10743"/>
                        <a:gd name="connsiteY5" fmla="*/ 11110 h 11151"/>
                        <a:gd name="connsiteX6" fmla="*/ 2155 w 10743"/>
                        <a:gd name="connsiteY6" fmla="*/ 9589 h 11151"/>
                        <a:gd name="connsiteX7" fmla="*/ 54 w 10743"/>
                        <a:gd name="connsiteY7" fmla="*/ 9468 h 11151"/>
                        <a:gd name="connsiteX0" fmla="*/ 54 w 10743"/>
                        <a:gd name="connsiteY0" fmla="*/ 9506 h 11189"/>
                        <a:gd name="connsiteX1" fmla="*/ 4027 w 10743"/>
                        <a:gd name="connsiteY1" fmla="*/ 533 h 11189"/>
                        <a:gd name="connsiteX2" fmla="*/ 7272 w 10743"/>
                        <a:gd name="connsiteY2" fmla="*/ 1399 h 11189"/>
                        <a:gd name="connsiteX3" fmla="*/ 10190 w 10743"/>
                        <a:gd name="connsiteY3" fmla="*/ 3067 h 11189"/>
                        <a:gd name="connsiteX4" fmla="*/ 10552 w 10743"/>
                        <a:gd name="connsiteY4" fmla="*/ 7746 h 11189"/>
                        <a:gd name="connsiteX5" fmla="*/ 7991 w 10743"/>
                        <a:gd name="connsiteY5" fmla="*/ 11148 h 11189"/>
                        <a:gd name="connsiteX6" fmla="*/ 2155 w 10743"/>
                        <a:gd name="connsiteY6" fmla="*/ 9627 h 11189"/>
                        <a:gd name="connsiteX7" fmla="*/ 54 w 10743"/>
                        <a:gd name="connsiteY7" fmla="*/ 9506 h 11189"/>
                        <a:gd name="connsiteX0" fmla="*/ 40 w 11293"/>
                        <a:gd name="connsiteY0" fmla="*/ 9082 h 11127"/>
                        <a:gd name="connsiteX1" fmla="*/ 4577 w 11293"/>
                        <a:gd name="connsiteY1" fmla="*/ 470 h 11127"/>
                        <a:gd name="connsiteX2" fmla="*/ 7822 w 11293"/>
                        <a:gd name="connsiteY2" fmla="*/ 1336 h 11127"/>
                        <a:gd name="connsiteX3" fmla="*/ 10740 w 11293"/>
                        <a:gd name="connsiteY3" fmla="*/ 3004 h 11127"/>
                        <a:gd name="connsiteX4" fmla="*/ 11102 w 11293"/>
                        <a:gd name="connsiteY4" fmla="*/ 7683 h 11127"/>
                        <a:gd name="connsiteX5" fmla="*/ 8541 w 11293"/>
                        <a:gd name="connsiteY5" fmla="*/ 11085 h 11127"/>
                        <a:gd name="connsiteX6" fmla="*/ 2705 w 11293"/>
                        <a:gd name="connsiteY6" fmla="*/ 9564 h 11127"/>
                        <a:gd name="connsiteX7" fmla="*/ 40 w 11293"/>
                        <a:gd name="connsiteY7" fmla="*/ 9082 h 111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93" h="11127">
                          <a:moveTo>
                            <a:pt x="40" y="9082"/>
                          </a:moveTo>
                          <a:cubicBezTo>
                            <a:pt x="352" y="7566"/>
                            <a:pt x="3280" y="1761"/>
                            <a:pt x="4577" y="470"/>
                          </a:cubicBezTo>
                          <a:cubicBezTo>
                            <a:pt x="5874" y="-821"/>
                            <a:pt x="6795" y="914"/>
                            <a:pt x="7822" y="1336"/>
                          </a:cubicBezTo>
                          <a:cubicBezTo>
                            <a:pt x="8849" y="1758"/>
                            <a:pt x="10193" y="1947"/>
                            <a:pt x="10740" y="3004"/>
                          </a:cubicBezTo>
                          <a:cubicBezTo>
                            <a:pt x="11287" y="4061"/>
                            <a:pt x="11468" y="6337"/>
                            <a:pt x="11102" y="7683"/>
                          </a:cubicBezTo>
                          <a:cubicBezTo>
                            <a:pt x="10736" y="9030"/>
                            <a:pt x="9940" y="10771"/>
                            <a:pt x="8541" y="11085"/>
                          </a:cubicBezTo>
                          <a:cubicBezTo>
                            <a:pt x="7141" y="11398"/>
                            <a:pt x="4122" y="9898"/>
                            <a:pt x="2705" y="9564"/>
                          </a:cubicBezTo>
                          <a:cubicBezTo>
                            <a:pt x="1288" y="9230"/>
                            <a:pt x="-272" y="10598"/>
                            <a:pt x="40" y="9082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12" name="Group 327">
                      <a:extLst>
                        <a:ext uri="{FF2B5EF4-FFF2-40B4-BE49-F238E27FC236}">
                          <a16:creationId xmlns:a16="http://schemas.microsoft.com/office/drawing/2014/main" id="{5BE9F8E8-C99B-A52E-E0B4-BA3DD37BE35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908175" y="5241780"/>
                      <a:ext cx="536554" cy="263548"/>
                      <a:chOff x="1871277" y="1576300"/>
                      <a:chExt cx="1128371" cy="437861"/>
                    </a:xfrm>
                  </p:grpSpPr>
                  <p:sp>
                    <p:nvSpPr>
                      <p:cNvPr id="16" name="Oval 720">
                        <a:extLst>
                          <a:ext uri="{FF2B5EF4-FFF2-40B4-BE49-F238E27FC236}">
                            <a16:creationId xmlns:a16="http://schemas.microsoft.com/office/drawing/2014/main" id="{6C1CE1F6-4D59-1E3B-34AE-2BC94B98EDC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4446" y="1692905"/>
                        <a:ext cx="1125202" cy="321256"/>
                      </a:xfrm>
                      <a:prstGeom prst="ellipse">
                        <a:avLst/>
                      </a:prstGeom>
                      <a:gradFill flip="none"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0" scaled="1"/>
                        <a:tileRect/>
                      </a:gra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7" name="Rectangle 721">
                        <a:extLst>
                          <a:ext uri="{FF2B5EF4-FFF2-40B4-BE49-F238E27FC236}">
                            <a16:creationId xmlns:a16="http://schemas.microsoft.com/office/drawing/2014/main" id="{A9066F92-5CBC-2589-9ECF-0B2F71AD5ADD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1871277" y="1740499"/>
                        <a:ext cx="1128371" cy="114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33CC">
                              <a:lumMod val="75000"/>
                            </a:srgbClr>
                          </a:gs>
                          <a:gs pos="53000">
                            <a:srgbClr val="3333CC">
                              <a:lumMod val="60000"/>
                              <a:lumOff val="40000"/>
                            </a:srgbClr>
                          </a:gs>
                          <a:gs pos="100000">
                            <a:srgbClr val="3333CC">
                              <a:lumMod val="75000"/>
                            </a:srgbClr>
                          </a:gs>
                        </a:gsLst>
                        <a:lin ang="10800000" scaled="0"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8" name="Oval 722">
                        <a:extLst>
                          <a:ext uri="{FF2B5EF4-FFF2-40B4-BE49-F238E27FC236}">
                            <a16:creationId xmlns:a16="http://schemas.microsoft.com/office/drawing/2014/main" id="{A16ACE21-585A-46BB-59EA-F6CA65E7782C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 flipV="1">
                        <a:off x="1871277" y="1576300"/>
                        <a:ext cx="1125200" cy="321257"/>
                      </a:xfrm>
                      <a:prstGeom prst="ellipse">
                        <a:avLst/>
                      </a:prstGeom>
                      <a:solidFill>
                        <a:srgbClr val="FFFFFF">
                          <a:lumMod val="75000"/>
                        </a:srgbClr>
                      </a:solidFill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solidFill>
                              <a:srgbClr val="000000"/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9" name="Freeform 723">
                        <a:extLst>
                          <a:ext uri="{FF2B5EF4-FFF2-40B4-BE49-F238E27FC236}">
                            <a16:creationId xmlns:a16="http://schemas.microsoft.com/office/drawing/2014/main" id="{75EDF920-5001-AB21-D25C-C77B3B0F86B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59708" y="1673868"/>
                        <a:ext cx="548339" cy="159438"/>
                      </a:xfrm>
                      <a:custGeom>
                        <a:avLst/>
                        <a:gdLst>
                          <a:gd name="connsiteX0" fmla="*/ 1486231 w 2944854"/>
                          <a:gd name="connsiteY0" fmla="*/ 727041 h 1302232"/>
                          <a:gd name="connsiteX1" fmla="*/ 257675 w 2944854"/>
                          <a:gd name="connsiteY1" fmla="*/ 1302232 h 1302232"/>
                          <a:gd name="connsiteX2" fmla="*/ 0 w 2944854"/>
                          <a:gd name="connsiteY2" fmla="*/ 1228607 h 1302232"/>
                          <a:gd name="connsiteX3" fmla="*/ 911064 w 2944854"/>
                          <a:gd name="connsiteY3" fmla="*/ 837478 h 1302232"/>
                          <a:gd name="connsiteX4" fmla="*/ 883456 w 2944854"/>
                          <a:gd name="connsiteY4" fmla="*/ 450949 h 1302232"/>
                          <a:gd name="connsiteX5" fmla="*/ 161047 w 2944854"/>
                          <a:gd name="connsiteY5" fmla="*/ 119640 h 1302232"/>
                          <a:gd name="connsiteX6" fmla="*/ 404917 w 2944854"/>
                          <a:gd name="connsiteY6" fmla="*/ 50617 h 1302232"/>
                          <a:gd name="connsiteX7" fmla="*/ 1477028 w 2944854"/>
                          <a:gd name="connsiteY7" fmla="*/ 501566 h 1302232"/>
                          <a:gd name="connsiteX8" fmla="*/ 2572146 w 2944854"/>
                          <a:gd name="connsiteY8" fmla="*/ 0 h 1302232"/>
                          <a:gd name="connsiteX9" fmla="*/ 2875834 w 2944854"/>
                          <a:gd name="connsiteY9" fmla="*/ 96632 h 1302232"/>
                          <a:gd name="connsiteX10" fmla="*/ 2079803 w 2944854"/>
                          <a:gd name="connsiteY10" fmla="*/ 432543 h 1302232"/>
                          <a:gd name="connsiteX11" fmla="*/ 2240850 w 2944854"/>
                          <a:gd name="connsiteY11" fmla="*/ 920305 h 1302232"/>
                          <a:gd name="connsiteX12" fmla="*/ 2944854 w 2944854"/>
                          <a:gd name="connsiteY12" fmla="*/ 1228607 h 1302232"/>
                          <a:gd name="connsiteX13" fmla="*/ 2733192 w 2944854"/>
                          <a:gd name="connsiteY13" fmla="*/ 1297630 h 1302232"/>
                          <a:gd name="connsiteX14" fmla="*/ 1486231 w 2944854"/>
                          <a:gd name="connsiteY14" fmla="*/ 727041 h 1302232"/>
                          <a:gd name="connsiteX0" fmla="*/ 1486231 w 2944854"/>
                          <a:gd name="connsiteY0" fmla="*/ 727041 h 1316375"/>
                          <a:gd name="connsiteX1" fmla="*/ 257675 w 2944854"/>
                          <a:gd name="connsiteY1" fmla="*/ 1302232 h 1316375"/>
                          <a:gd name="connsiteX2" fmla="*/ 0 w 2944854"/>
                          <a:gd name="connsiteY2" fmla="*/ 1228607 h 1316375"/>
                          <a:gd name="connsiteX3" fmla="*/ 911064 w 2944854"/>
                          <a:gd name="connsiteY3" fmla="*/ 837478 h 1316375"/>
                          <a:gd name="connsiteX4" fmla="*/ 883456 w 2944854"/>
                          <a:gd name="connsiteY4" fmla="*/ 450949 h 1316375"/>
                          <a:gd name="connsiteX5" fmla="*/ 161047 w 2944854"/>
                          <a:gd name="connsiteY5" fmla="*/ 119640 h 1316375"/>
                          <a:gd name="connsiteX6" fmla="*/ 404917 w 2944854"/>
                          <a:gd name="connsiteY6" fmla="*/ 50617 h 1316375"/>
                          <a:gd name="connsiteX7" fmla="*/ 1477028 w 2944854"/>
                          <a:gd name="connsiteY7" fmla="*/ 501566 h 1316375"/>
                          <a:gd name="connsiteX8" fmla="*/ 2572146 w 2944854"/>
                          <a:gd name="connsiteY8" fmla="*/ 0 h 1316375"/>
                          <a:gd name="connsiteX9" fmla="*/ 2875834 w 2944854"/>
                          <a:gd name="connsiteY9" fmla="*/ 96632 h 1316375"/>
                          <a:gd name="connsiteX10" fmla="*/ 2079803 w 2944854"/>
                          <a:gd name="connsiteY10" fmla="*/ 432543 h 1316375"/>
                          <a:gd name="connsiteX11" fmla="*/ 2240850 w 2944854"/>
                          <a:gd name="connsiteY11" fmla="*/ 920305 h 1316375"/>
                          <a:gd name="connsiteX12" fmla="*/ 2944854 w 2944854"/>
                          <a:gd name="connsiteY12" fmla="*/ 1228607 h 1316375"/>
                          <a:gd name="connsiteX13" fmla="*/ 2756623 w 2944854"/>
                          <a:gd name="connsiteY13" fmla="*/ 1316375 h 1316375"/>
                          <a:gd name="connsiteX14" fmla="*/ 1486231 w 2944854"/>
                          <a:gd name="connsiteY14" fmla="*/ 727041 h 1316375"/>
                          <a:gd name="connsiteX0" fmla="*/ 1486231 w 3024520"/>
                          <a:gd name="connsiteY0" fmla="*/ 727041 h 1316375"/>
                          <a:gd name="connsiteX1" fmla="*/ 257675 w 3024520"/>
                          <a:gd name="connsiteY1" fmla="*/ 1302232 h 1316375"/>
                          <a:gd name="connsiteX2" fmla="*/ 0 w 3024520"/>
                          <a:gd name="connsiteY2" fmla="*/ 1228607 h 1316375"/>
                          <a:gd name="connsiteX3" fmla="*/ 911064 w 3024520"/>
                          <a:gd name="connsiteY3" fmla="*/ 837478 h 1316375"/>
                          <a:gd name="connsiteX4" fmla="*/ 883456 w 3024520"/>
                          <a:gd name="connsiteY4" fmla="*/ 450949 h 1316375"/>
                          <a:gd name="connsiteX5" fmla="*/ 161047 w 3024520"/>
                          <a:gd name="connsiteY5" fmla="*/ 119640 h 1316375"/>
                          <a:gd name="connsiteX6" fmla="*/ 404917 w 3024520"/>
                          <a:gd name="connsiteY6" fmla="*/ 50617 h 1316375"/>
                          <a:gd name="connsiteX7" fmla="*/ 1477028 w 3024520"/>
                          <a:gd name="connsiteY7" fmla="*/ 501566 h 1316375"/>
                          <a:gd name="connsiteX8" fmla="*/ 2572146 w 3024520"/>
                          <a:gd name="connsiteY8" fmla="*/ 0 h 1316375"/>
                          <a:gd name="connsiteX9" fmla="*/ 2875834 w 3024520"/>
                          <a:gd name="connsiteY9" fmla="*/ 96632 h 1316375"/>
                          <a:gd name="connsiteX10" fmla="*/ 2079803 w 3024520"/>
                          <a:gd name="connsiteY10" fmla="*/ 432543 h 1316375"/>
                          <a:gd name="connsiteX11" fmla="*/ 2240850 w 3024520"/>
                          <a:gd name="connsiteY11" fmla="*/ 920305 h 1316375"/>
                          <a:gd name="connsiteX12" fmla="*/ 3024520 w 3024520"/>
                          <a:gd name="connsiteY12" fmla="*/ 1228607 h 1316375"/>
                          <a:gd name="connsiteX13" fmla="*/ 2756623 w 3024520"/>
                          <a:gd name="connsiteY13" fmla="*/ 1316375 h 1316375"/>
                          <a:gd name="connsiteX14" fmla="*/ 1486231 w 3024520"/>
                          <a:gd name="connsiteY14" fmla="*/ 727041 h 1316375"/>
                          <a:gd name="connsiteX0" fmla="*/ 1537780 w 3076069"/>
                          <a:gd name="connsiteY0" fmla="*/ 727041 h 1316375"/>
                          <a:gd name="connsiteX1" fmla="*/ 309224 w 3076069"/>
                          <a:gd name="connsiteY1" fmla="*/ 1302232 h 1316375"/>
                          <a:gd name="connsiteX2" fmla="*/ 0 w 3076069"/>
                          <a:gd name="connsiteY2" fmla="*/ 1228607 h 1316375"/>
                          <a:gd name="connsiteX3" fmla="*/ 962613 w 3076069"/>
                          <a:gd name="connsiteY3" fmla="*/ 837478 h 1316375"/>
                          <a:gd name="connsiteX4" fmla="*/ 935005 w 3076069"/>
                          <a:gd name="connsiteY4" fmla="*/ 450949 h 1316375"/>
                          <a:gd name="connsiteX5" fmla="*/ 212596 w 3076069"/>
                          <a:gd name="connsiteY5" fmla="*/ 119640 h 1316375"/>
                          <a:gd name="connsiteX6" fmla="*/ 456466 w 3076069"/>
                          <a:gd name="connsiteY6" fmla="*/ 50617 h 1316375"/>
                          <a:gd name="connsiteX7" fmla="*/ 1528577 w 3076069"/>
                          <a:gd name="connsiteY7" fmla="*/ 501566 h 1316375"/>
                          <a:gd name="connsiteX8" fmla="*/ 2623695 w 3076069"/>
                          <a:gd name="connsiteY8" fmla="*/ 0 h 1316375"/>
                          <a:gd name="connsiteX9" fmla="*/ 2927383 w 3076069"/>
                          <a:gd name="connsiteY9" fmla="*/ 96632 h 1316375"/>
                          <a:gd name="connsiteX10" fmla="*/ 2131352 w 3076069"/>
                          <a:gd name="connsiteY10" fmla="*/ 432543 h 1316375"/>
                          <a:gd name="connsiteX11" fmla="*/ 2292399 w 3076069"/>
                          <a:gd name="connsiteY11" fmla="*/ 920305 h 1316375"/>
                          <a:gd name="connsiteX12" fmla="*/ 3076069 w 3076069"/>
                          <a:gd name="connsiteY12" fmla="*/ 1228607 h 1316375"/>
                          <a:gd name="connsiteX13" fmla="*/ 2808172 w 3076069"/>
                          <a:gd name="connsiteY13" fmla="*/ 1316375 h 1316375"/>
                          <a:gd name="connsiteX14" fmla="*/ 1537780 w 3076069"/>
                          <a:gd name="connsiteY14" fmla="*/ 727041 h 1316375"/>
                          <a:gd name="connsiteX0" fmla="*/ 1537780 w 3076069"/>
                          <a:gd name="connsiteY0" fmla="*/ 727041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27041 h 1321259"/>
                          <a:gd name="connsiteX0" fmla="*/ 1537780 w 3076069"/>
                          <a:gd name="connsiteY0" fmla="*/ 750825 h 1321259"/>
                          <a:gd name="connsiteX1" fmla="*/ 313981 w 3076069"/>
                          <a:gd name="connsiteY1" fmla="*/ 1321259 h 1321259"/>
                          <a:gd name="connsiteX2" fmla="*/ 0 w 3076069"/>
                          <a:gd name="connsiteY2" fmla="*/ 1228607 h 1321259"/>
                          <a:gd name="connsiteX3" fmla="*/ 962613 w 3076069"/>
                          <a:gd name="connsiteY3" fmla="*/ 837478 h 1321259"/>
                          <a:gd name="connsiteX4" fmla="*/ 935005 w 3076069"/>
                          <a:gd name="connsiteY4" fmla="*/ 450949 h 1321259"/>
                          <a:gd name="connsiteX5" fmla="*/ 212596 w 3076069"/>
                          <a:gd name="connsiteY5" fmla="*/ 119640 h 1321259"/>
                          <a:gd name="connsiteX6" fmla="*/ 456466 w 3076069"/>
                          <a:gd name="connsiteY6" fmla="*/ 50617 h 1321259"/>
                          <a:gd name="connsiteX7" fmla="*/ 1528577 w 3076069"/>
                          <a:gd name="connsiteY7" fmla="*/ 501566 h 1321259"/>
                          <a:gd name="connsiteX8" fmla="*/ 2623695 w 3076069"/>
                          <a:gd name="connsiteY8" fmla="*/ 0 h 1321259"/>
                          <a:gd name="connsiteX9" fmla="*/ 2927383 w 3076069"/>
                          <a:gd name="connsiteY9" fmla="*/ 96632 h 1321259"/>
                          <a:gd name="connsiteX10" fmla="*/ 2131352 w 3076069"/>
                          <a:gd name="connsiteY10" fmla="*/ 432543 h 1321259"/>
                          <a:gd name="connsiteX11" fmla="*/ 2292399 w 3076069"/>
                          <a:gd name="connsiteY11" fmla="*/ 920305 h 1321259"/>
                          <a:gd name="connsiteX12" fmla="*/ 3076069 w 3076069"/>
                          <a:gd name="connsiteY12" fmla="*/ 1228607 h 1321259"/>
                          <a:gd name="connsiteX13" fmla="*/ 2808172 w 3076069"/>
                          <a:gd name="connsiteY13" fmla="*/ 1316375 h 1321259"/>
                          <a:gd name="connsiteX14" fmla="*/ 1537780 w 3076069"/>
                          <a:gd name="connsiteY14" fmla="*/ 750825 h 13212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3076069" h="1321259">
                            <a:moveTo>
                              <a:pt x="1537780" y="750825"/>
                            </a:moveTo>
                            <a:lnTo>
                              <a:pt x="313981" y="1321259"/>
                            </a:lnTo>
                            <a:lnTo>
                              <a:pt x="0" y="1228607"/>
                            </a:lnTo>
                            <a:lnTo>
                              <a:pt x="962613" y="837478"/>
                            </a:lnTo>
                            <a:lnTo>
                              <a:pt x="935005" y="450949"/>
                            </a:lnTo>
                            <a:lnTo>
                              <a:pt x="212596" y="119640"/>
                            </a:lnTo>
                            <a:lnTo>
                              <a:pt x="456466" y="50617"/>
                            </a:lnTo>
                            <a:lnTo>
                              <a:pt x="1528577" y="501566"/>
                            </a:lnTo>
                            <a:lnTo>
                              <a:pt x="2623695" y="0"/>
                            </a:lnTo>
                            <a:lnTo>
                              <a:pt x="2927383" y="96632"/>
                            </a:lnTo>
                            <a:lnTo>
                              <a:pt x="2131352" y="432543"/>
                            </a:lnTo>
                            <a:lnTo>
                              <a:pt x="2292399" y="920305"/>
                            </a:lnTo>
                            <a:lnTo>
                              <a:pt x="3076069" y="1228607"/>
                            </a:lnTo>
                            <a:lnTo>
                              <a:pt x="2808172" y="1316375"/>
                            </a:lnTo>
                            <a:lnTo>
                              <a:pt x="1537780" y="750825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60000"/>
                          <a:lumOff val="40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0" name="Freeform 724">
                        <a:extLst>
                          <a:ext uri="{FF2B5EF4-FFF2-40B4-BE49-F238E27FC236}">
                            <a16:creationId xmlns:a16="http://schemas.microsoft.com/office/drawing/2014/main" id="{AF486603-6FF7-0BDE-DB61-43895181DCE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102655" y="1633412"/>
                        <a:ext cx="662444" cy="111846"/>
                      </a:xfrm>
                      <a:custGeom>
                        <a:avLst/>
                        <a:gdLst>
                          <a:gd name="connsiteX0" fmla="*/ 0 w 3645229"/>
                          <a:gd name="connsiteY0" fmla="*/ 214441 h 923747"/>
                          <a:gd name="connsiteX1" fmla="*/ 659770 w 3645229"/>
                          <a:gd name="connsiteY1" fmla="*/ 16495 h 923747"/>
                          <a:gd name="connsiteX2" fmla="*/ 1814367 w 3645229"/>
                          <a:gd name="connsiteY2" fmla="*/ 511360 h 923747"/>
                          <a:gd name="connsiteX3" fmla="*/ 2968965 w 3645229"/>
                          <a:gd name="connsiteY3" fmla="*/ 0 h 923747"/>
                          <a:gd name="connsiteX4" fmla="*/ 3645229 w 3645229"/>
                          <a:gd name="connsiteY4" fmla="*/ 197946 h 923747"/>
                          <a:gd name="connsiteX5" fmla="*/ 3199884 w 3645229"/>
                          <a:gd name="connsiteY5" fmla="*/ 461874 h 923747"/>
                          <a:gd name="connsiteX6" fmla="*/ 2985459 w 3645229"/>
                          <a:gd name="connsiteY6" fmla="*/ 379396 h 923747"/>
                          <a:gd name="connsiteX7" fmla="*/ 1830861 w 3645229"/>
                          <a:gd name="connsiteY7" fmla="*/ 923747 h 923747"/>
                          <a:gd name="connsiteX8" fmla="*/ 676264 w 3645229"/>
                          <a:gd name="connsiteY8" fmla="*/ 412387 h 923747"/>
                          <a:gd name="connsiteX9" fmla="*/ 527816 w 3645229"/>
                          <a:gd name="connsiteY9" fmla="*/ 478369 h 923747"/>
                          <a:gd name="connsiteX10" fmla="*/ 0 w 3645229"/>
                          <a:gd name="connsiteY10" fmla="*/ 21444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78369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71662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23747"/>
                          <a:gd name="connsiteX1" fmla="*/ 655168 w 3640627"/>
                          <a:gd name="connsiteY1" fmla="*/ 16495 h 923747"/>
                          <a:gd name="connsiteX2" fmla="*/ 1809765 w 3640627"/>
                          <a:gd name="connsiteY2" fmla="*/ 511360 h 923747"/>
                          <a:gd name="connsiteX3" fmla="*/ 2964363 w 3640627"/>
                          <a:gd name="connsiteY3" fmla="*/ 0 h 923747"/>
                          <a:gd name="connsiteX4" fmla="*/ 3640627 w 3640627"/>
                          <a:gd name="connsiteY4" fmla="*/ 197946 h 923747"/>
                          <a:gd name="connsiteX5" fmla="*/ 3195282 w 3640627"/>
                          <a:gd name="connsiteY5" fmla="*/ 461874 h 923747"/>
                          <a:gd name="connsiteX6" fmla="*/ 2980857 w 3640627"/>
                          <a:gd name="connsiteY6" fmla="*/ 379396 h 923747"/>
                          <a:gd name="connsiteX7" fmla="*/ 1826259 w 3640627"/>
                          <a:gd name="connsiteY7" fmla="*/ 923747 h 923747"/>
                          <a:gd name="connsiteX8" fmla="*/ 690067 w 3640627"/>
                          <a:gd name="connsiteY8" fmla="*/ 412387 h 923747"/>
                          <a:gd name="connsiteX9" fmla="*/ 523214 w 3640627"/>
                          <a:gd name="connsiteY9" fmla="*/ 482971 h 923747"/>
                          <a:gd name="connsiteX10" fmla="*/ 0 w 3640627"/>
                          <a:gd name="connsiteY10" fmla="*/ 242051 h 923747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09765 w 3640627"/>
                          <a:gd name="connsiteY2" fmla="*/ 511360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2980857 w 3640627"/>
                          <a:gd name="connsiteY6" fmla="*/ 379396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640627"/>
                          <a:gd name="connsiteY0" fmla="*/ 242051 h 946755"/>
                          <a:gd name="connsiteX1" fmla="*/ 655168 w 3640627"/>
                          <a:gd name="connsiteY1" fmla="*/ 16495 h 946755"/>
                          <a:gd name="connsiteX2" fmla="*/ 1855778 w 3640627"/>
                          <a:gd name="connsiteY2" fmla="*/ 534367 h 946755"/>
                          <a:gd name="connsiteX3" fmla="*/ 2964363 w 3640627"/>
                          <a:gd name="connsiteY3" fmla="*/ 0 h 946755"/>
                          <a:gd name="connsiteX4" fmla="*/ 3640627 w 3640627"/>
                          <a:gd name="connsiteY4" fmla="*/ 197946 h 946755"/>
                          <a:gd name="connsiteX5" fmla="*/ 3195282 w 3640627"/>
                          <a:gd name="connsiteY5" fmla="*/ 461874 h 946755"/>
                          <a:gd name="connsiteX6" fmla="*/ 3008465 w 3640627"/>
                          <a:gd name="connsiteY6" fmla="*/ 402404 h 946755"/>
                          <a:gd name="connsiteX7" fmla="*/ 1876873 w 3640627"/>
                          <a:gd name="connsiteY7" fmla="*/ 946755 h 946755"/>
                          <a:gd name="connsiteX8" fmla="*/ 690067 w 3640627"/>
                          <a:gd name="connsiteY8" fmla="*/ 412387 h 946755"/>
                          <a:gd name="connsiteX9" fmla="*/ 523214 w 3640627"/>
                          <a:gd name="connsiteY9" fmla="*/ 482971 h 946755"/>
                          <a:gd name="connsiteX10" fmla="*/ 0 w 3640627"/>
                          <a:gd name="connsiteY10" fmla="*/ 242051 h 946755"/>
                          <a:gd name="connsiteX0" fmla="*/ 0 w 3723451"/>
                          <a:gd name="connsiteY0" fmla="*/ 242051 h 946755"/>
                          <a:gd name="connsiteX1" fmla="*/ 655168 w 3723451"/>
                          <a:gd name="connsiteY1" fmla="*/ 16495 h 946755"/>
                          <a:gd name="connsiteX2" fmla="*/ 1855778 w 3723451"/>
                          <a:gd name="connsiteY2" fmla="*/ 534367 h 946755"/>
                          <a:gd name="connsiteX3" fmla="*/ 2964363 w 3723451"/>
                          <a:gd name="connsiteY3" fmla="*/ 0 h 946755"/>
                          <a:gd name="connsiteX4" fmla="*/ 3723451 w 3723451"/>
                          <a:gd name="connsiteY4" fmla="*/ 220954 h 946755"/>
                          <a:gd name="connsiteX5" fmla="*/ 3195282 w 3723451"/>
                          <a:gd name="connsiteY5" fmla="*/ 461874 h 946755"/>
                          <a:gd name="connsiteX6" fmla="*/ 3008465 w 3723451"/>
                          <a:gd name="connsiteY6" fmla="*/ 402404 h 946755"/>
                          <a:gd name="connsiteX7" fmla="*/ 1876873 w 3723451"/>
                          <a:gd name="connsiteY7" fmla="*/ 946755 h 946755"/>
                          <a:gd name="connsiteX8" fmla="*/ 690067 w 3723451"/>
                          <a:gd name="connsiteY8" fmla="*/ 412387 h 946755"/>
                          <a:gd name="connsiteX9" fmla="*/ 523214 w 3723451"/>
                          <a:gd name="connsiteY9" fmla="*/ 482971 h 946755"/>
                          <a:gd name="connsiteX10" fmla="*/ 0 w 3723451"/>
                          <a:gd name="connsiteY10" fmla="*/ 242051 h 946755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08465 w 3723451"/>
                          <a:gd name="connsiteY6" fmla="*/ 388599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95282 w 3723451"/>
                          <a:gd name="connsiteY5" fmla="*/ 448069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690067 w 3723451"/>
                          <a:gd name="connsiteY8" fmla="*/ 398582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  <a:gd name="connsiteX0" fmla="*/ 0 w 3723451"/>
                          <a:gd name="connsiteY0" fmla="*/ 228246 h 932950"/>
                          <a:gd name="connsiteX1" fmla="*/ 655168 w 3723451"/>
                          <a:gd name="connsiteY1" fmla="*/ 2690 h 932950"/>
                          <a:gd name="connsiteX2" fmla="*/ 1855778 w 3723451"/>
                          <a:gd name="connsiteY2" fmla="*/ 520562 h 932950"/>
                          <a:gd name="connsiteX3" fmla="*/ 3001174 w 3723451"/>
                          <a:gd name="connsiteY3" fmla="*/ 0 h 932950"/>
                          <a:gd name="connsiteX4" fmla="*/ 3723451 w 3723451"/>
                          <a:gd name="connsiteY4" fmla="*/ 207149 h 932950"/>
                          <a:gd name="connsiteX5" fmla="*/ 3186079 w 3723451"/>
                          <a:gd name="connsiteY5" fmla="*/ 461874 h 932950"/>
                          <a:gd name="connsiteX6" fmla="*/ 3013067 w 3723451"/>
                          <a:gd name="connsiteY6" fmla="*/ 393200 h 932950"/>
                          <a:gd name="connsiteX7" fmla="*/ 1876873 w 3723451"/>
                          <a:gd name="connsiteY7" fmla="*/ 932950 h 932950"/>
                          <a:gd name="connsiteX8" fmla="*/ 711613 w 3723451"/>
                          <a:gd name="connsiteY8" fmla="*/ 413055 h 932950"/>
                          <a:gd name="connsiteX9" fmla="*/ 523214 w 3723451"/>
                          <a:gd name="connsiteY9" fmla="*/ 469166 h 932950"/>
                          <a:gd name="connsiteX10" fmla="*/ 0 w 3723451"/>
                          <a:gd name="connsiteY10" fmla="*/ 228246 h 93295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723451" h="932950">
                            <a:moveTo>
                              <a:pt x="0" y="228246"/>
                            </a:moveTo>
                            <a:lnTo>
                              <a:pt x="655168" y="2690"/>
                            </a:lnTo>
                            <a:lnTo>
                              <a:pt x="1855778" y="520562"/>
                            </a:lnTo>
                            <a:lnTo>
                              <a:pt x="3001174" y="0"/>
                            </a:lnTo>
                            <a:lnTo>
                              <a:pt x="3723451" y="207149"/>
                            </a:lnTo>
                            <a:lnTo>
                              <a:pt x="3186079" y="461874"/>
                            </a:lnTo>
                            <a:lnTo>
                              <a:pt x="3013067" y="393200"/>
                            </a:lnTo>
                            <a:lnTo>
                              <a:pt x="1876873" y="932950"/>
                            </a:lnTo>
                            <a:lnTo>
                              <a:pt x="711613" y="413055"/>
                            </a:lnTo>
                            <a:lnTo>
                              <a:pt x="523214" y="469166"/>
                            </a:lnTo>
                            <a:lnTo>
                              <a:pt x="0" y="228246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1" name="Freeform 725">
                        <a:extLst>
                          <a:ext uri="{FF2B5EF4-FFF2-40B4-BE49-F238E27FC236}">
                            <a16:creationId xmlns:a16="http://schemas.microsoft.com/office/drawing/2014/main" id="{66F236F1-916F-89E5-6AF4-50AA75E6D4D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536889" y="1728599"/>
                        <a:ext cx="244057" cy="97568"/>
                      </a:xfrm>
                      <a:custGeom>
                        <a:avLst/>
                        <a:gdLst>
                          <a:gd name="connsiteX0" fmla="*/ 55216 w 1421812"/>
                          <a:gd name="connsiteY0" fmla="*/ 0 h 800665"/>
                          <a:gd name="connsiteX1" fmla="*/ 1421812 w 1421812"/>
                          <a:gd name="connsiteY1" fmla="*/ 625807 h 800665"/>
                          <a:gd name="connsiteX2" fmla="*/ 947874 w 1421812"/>
                          <a:gd name="connsiteY2" fmla="*/ 800665 h 800665"/>
                          <a:gd name="connsiteX3" fmla="*/ 50614 w 1421812"/>
                          <a:gd name="connsiteY3" fmla="*/ 404934 h 800665"/>
                          <a:gd name="connsiteX4" fmla="*/ 0 w 1421812"/>
                          <a:gd name="connsiteY4" fmla="*/ 404934 h 800665"/>
                          <a:gd name="connsiteX5" fmla="*/ 55216 w 1421812"/>
                          <a:gd name="connsiteY5" fmla="*/ 0 h 800665"/>
                          <a:gd name="connsiteX0" fmla="*/ 4602 w 1371198"/>
                          <a:gd name="connsiteY0" fmla="*/ 0 h 800665"/>
                          <a:gd name="connsiteX1" fmla="*/ 1371198 w 1371198"/>
                          <a:gd name="connsiteY1" fmla="*/ 625807 h 800665"/>
                          <a:gd name="connsiteX2" fmla="*/ 897260 w 1371198"/>
                          <a:gd name="connsiteY2" fmla="*/ 800665 h 800665"/>
                          <a:gd name="connsiteX3" fmla="*/ 0 w 1371198"/>
                          <a:gd name="connsiteY3" fmla="*/ 404934 h 800665"/>
                          <a:gd name="connsiteX4" fmla="*/ 4602 w 1371198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0665"/>
                          <a:gd name="connsiteX1" fmla="*/ 1366596 w 1366596"/>
                          <a:gd name="connsiteY1" fmla="*/ 625807 h 800665"/>
                          <a:gd name="connsiteX2" fmla="*/ 892658 w 1366596"/>
                          <a:gd name="connsiteY2" fmla="*/ 800665 h 800665"/>
                          <a:gd name="connsiteX3" fmla="*/ 4601 w 1366596"/>
                          <a:gd name="connsiteY3" fmla="*/ 427942 h 800665"/>
                          <a:gd name="connsiteX4" fmla="*/ 0 w 1366596"/>
                          <a:gd name="connsiteY4" fmla="*/ 0 h 800665"/>
                          <a:gd name="connsiteX0" fmla="*/ 0 w 1366596"/>
                          <a:gd name="connsiteY0" fmla="*/ 0 h 809868"/>
                          <a:gd name="connsiteX1" fmla="*/ 1366596 w 1366596"/>
                          <a:gd name="connsiteY1" fmla="*/ 625807 h 809868"/>
                          <a:gd name="connsiteX2" fmla="*/ 865050 w 1366596"/>
                          <a:gd name="connsiteY2" fmla="*/ 809868 h 809868"/>
                          <a:gd name="connsiteX3" fmla="*/ 4601 w 1366596"/>
                          <a:gd name="connsiteY3" fmla="*/ 427942 h 809868"/>
                          <a:gd name="connsiteX4" fmla="*/ 0 w 1366596"/>
                          <a:gd name="connsiteY4" fmla="*/ 0 h 8098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66596" h="809868">
                            <a:moveTo>
                              <a:pt x="0" y="0"/>
                            </a:moveTo>
                            <a:lnTo>
                              <a:pt x="1366596" y="625807"/>
                            </a:lnTo>
                            <a:lnTo>
                              <a:pt x="865050" y="809868"/>
                            </a:lnTo>
                            <a:lnTo>
                              <a:pt x="4601" y="427942"/>
                            </a:lnTo>
                            <a:cubicBezTo>
                              <a:pt x="-1535" y="105836"/>
                              <a:pt x="1534" y="142647"/>
                              <a:pt x="0" y="0"/>
                            </a:cubicBez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2" name="Freeform 726">
                        <a:extLst>
                          <a:ext uri="{FF2B5EF4-FFF2-40B4-BE49-F238E27FC236}">
                            <a16:creationId xmlns:a16="http://schemas.microsoft.com/office/drawing/2014/main" id="{0E2604D9-0B3C-5931-5930-D35BB9964CD5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2089977" y="1730980"/>
                        <a:ext cx="240888" cy="95187"/>
                      </a:xfrm>
                      <a:custGeom>
                        <a:avLst/>
                        <a:gdLst>
                          <a:gd name="connsiteX0" fmla="*/ 1329786 w 1348191"/>
                          <a:gd name="connsiteY0" fmla="*/ 0 h 809869"/>
                          <a:gd name="connsiteX1" fmla="*/ 1348191 w 1348191"/>
                          <a:gd name="connsiteY1" fmla="*/ 400333 h 809869"/>
                          <a:gd name="connsiteX2" fmla="*/ 487742 w 1348191"/>
                          <a:gd name="connsiteY2" fmla="*/ 809869 h 809869"/>
                          <a:gd name="connsiteX3" fmla="*/ 0 w 1348191"/>
                          <a:gd name="connsiteY3" fmla="*/ 630409 h 809869"/>
                          <a:gd name="connsiteX4" fmla="*/ 1329786 w 1348191"/>
                          <a:gd name="connsiteY4" fmla="*/ 0 h 809869"/>
                          <a:gd name="connsiteX0" fmla="*/ 1329786 w 1348191"/>
                          <a:gd name="connsiteY0" fmla="*/ 0 h 791462"/>
                          <a:gd name="connsiteX1" fmla="*/ 1348191 w 1348191"/>
                          <a:gd name="connsiteY1" fmla="*/ 381926 h 791462"/>
                          <a:gd name="connsiteX2" fmla="*/ 487742 w 1348191"/>
                          <a:gd name="connsiteY2" fmla="*/ 791462 h 791462"/>
                          <a:gd name="connsiteX3" fmla="*/ 0 w 1348191"/>
                          <a:gd name="connsiteY3" fmla="*/ 612002 h 791462"/>
                          <a:gd name="connsiteX4" fmla="*/ 1329786 w 1348191"/>
                          <a:gd name="connsiteY4" fmla="*/ 0 h 7914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348191" h="791462">
                            <a:moveTo>
                              <a:pt x="1329786" y="0"/>
                            </a:moveTo>
                            <a:lnTo>
                              <a:pt x="1348191" y="381926"/>
                            </a:lnTo>
                            <a:lnTo>
                              <a:pt x="487742" y="791462"/>
                            </a:lnTo>
                            <a:lnTo>
                              <a:pt x="0" y="612002"/>
                            </a:lnTo>
                            <a:lnTo>
                              <a:pt x="1329786" y="0"/>
                            </a:lnTo>
                            <a:close/>
                          </a:path>
                        </a:pathLst>
                      </a:custGeom>
                      <a:solidFill>
                        <a:srgbClr val="3333CC">
                          <a:lumMod val="75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>
                        <a:outerShdw blurRad="40000" dist="23000" dir="5400000" rotWithShape="0">
                          <a:srgbClr val="000000">
                            <a:alpha val="35000"/>
                          </a:srgbClr>
                        </a:outerShdw>
                      </a:effectLst>
                    </p:spPr>
                    <p:txBody>
                      <a:bodyPr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23" name="Straight Connector 727">
                        <a:extLst>
                          <a:ext uri="{FF2B5EF4-FFF2-40B4-BE49-F238E27FC236}">
                            <a16:creationId xmlns:a16="http://schemas.microsoft.com/office/drawing/2014/main" id="{EF48B1CB-D9DB-A066-A748-B652321D16CE}"/>
                          </a:ext>
                        </a:extLst>
                      </p:cNvPr>
                      <p:cNvCxnSpPr>
                        <a:endCxn id="18" idx="2"/>
                      </p:cNvCxnSpPr>
                      <p:nvPr/>
                    </p:nvCxnSpPr>
                    <p:spPr bwMode="auto">
                      <a:xfrm flipH="1" flipV="1">
                        <a:off x="1871277" y="1735739"/>
                        <a:ext cx="3169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  <p:cxnSp>
                    <p:nvCxnSpPr>
                      <p:cNvPr id="24" name="Straight Connector 728">
                        <a:extLst>
                          <a:ext uri="{FF2B5EF4-FFF2-40B4-BE49-F238E27FC236}">
                            <a16:creationId xmlns:a16="http://schemas.microsoft.com/office/drawing/2014/main" id="{27855731-B1B7-3B68-4E76-9E6E02F7062B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96477" y="1733359"/>
                        <a:ext cx="3171" cy="12374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000000"/>
                        </a:solidFill>
                        <a:prstDash val="solid"/>
                      </a:ln>
                      <a:effectLst>
                        <a:outerShdw blurRad="40005" dist="19939" dir="5400000" algn="tl" rotWithShape="0">
                          <a:srgbClr val="000000">
                            <a:alpha val="38000"/>
                          </a:srgbClr>
                        </a:outerShdw>
                      </a:effectLst>
                    </p:spPr>
                  </p:cxnSp>
                </p:grpSp>
                <p:grpSp>
                  <p:nvGrpSpPr>
                    <p:cNvPr id="13" name="Group 717">
                      <a:extLst>
                        <a:ext uri="{FF2B5EF4-FFF2-40B4-BE49-F238E27FC236}">
                          <a16:creationId xmlns:a16="http://schemas.microsoft.com/office/drawing/2014/main" id="{08A82C42-FE53-8B51-E73F-0ABA6722D2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76581" y="5223365"/>
                      <a:ext cx="466894" cy="369332"/>
                      <a:chOff x="599495" y="1708643"/>
                      <a:chExt cx="491778" cy="409344"/>
                    </a:xfrm>
                  </p:grpSpPr>
                  <p:sp>
                    <p:nvSpPr>
                      <p:cNvPr id="14" name="Oval 718">
                        <a:extLst>
                          <a:ext uri="{FF2B5EF4-FFF2-40B4-BE49-F238E27FC236}">
                            <a16:creationId xmlns:a16="http://schemas.microsoft.com/office/drawing/2014/main" id="{605F54F6-0991-025F-7E36-0D0082CC5CF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725417" y="1787240"/>
                        <a:ext cx="356365" cy="23196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76000"/>
                        </a:srgbClr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Gill Sans MT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5" name="TextBox 719">
                        <a:extLst>
                          <a:ext uri="{FF2B5EF4-FFF2-40B4-BE49-F238E27FC236}">
                            <a16:creationId xmlns:a16="http://schemas.microsoft.com/office/drawing/2014/main" id="{B0E665D1-C933-B756-8655-2C77B3D3182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9495" y="1708643"/>
                        <a:ext cx="491778" cy="4093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0" marR="0" lvl="0" indent="0" algn="ctr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  X</a:t>
                        </a:r>
                      </a:p>
                    </p:txBody>
                  </p:sp>
                </p:grpSp>
              </p:grpSp>
              <p:cxnSp>
                <p:nvCxnSpPr>
                  <p:cNvPr id="10" name="Straight Connector 714">
                    <a:extLst>
                      <a:ext uri="{FF2B5EF4-FFF2-40B4-BE49-F238E27FC236}">
                        <a16:creationId xmlns:a16="http://schemas.microsoft.com/office/drawing/2014/main" id="{F91BB497-2B66-81AE-0E70-D8B2F3F54D2A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7158742" y="5764030"/>
                    <a:ext cx="870024" cy="9999"/>
                  </a:xfrm>
                  <a:prstGeom prst="line">
                    <a:avLst/>
                  </a:prstGeom>
                  <a:solidFill>
                    <a:srgbClr val="00CC99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cxnSp>
            <p:nvCxnSpPr>
              <p:cNvPr id="6" name="Straight Connector 710">
                <a:extLst>
                  <a:ext uri="{FF2B5EF4-FFF2-40B4-BE49-F238E27FC236}">
                    <a16:creationId xmlns:a16="http://schemas.microsoft.com/office/drawing/2014/main" id="{3C2734CC-E331-04BC-CEEF-E22082B0275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540307" y="1929008"/>
                <a:ext cx="4451299" cy="422665"/>
              </a:xfrm>
              <a:prstGeom prst="line">
                <a:avLst/>
              </a:prstGeom>
              <a:solidFill>
                <a:srgbClr val="00CC99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222" name="Straight Connector 280">
              <a:extLst>
                <a:ext uri="{FF2B5EF4-FFF2-40B4-BE49-F238E27FC236}">
                  <a16:creationId xmlns:a16="http://schemas.microsoft.com/office/drawing/2014/main" id="{DB2BCE6A-0F5C-1CFF-F4FE-32750A2397F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000873" y="3328637"/>
              <a:ext cx="424979" cy="441697"/>
            </a:xfrm>
            <a:prstGeom prst="line">
              <a:avLst/>
            </a:prstGeom>
            <a:solidFill>
              <a:srgbClr val="00CC99"/>
            </a:solidFill>
            <a:ln w="6350" cap="flat" cmpd="sng" algn="ctr">
              <a:solidFill>
                <a:srgbClr val="0000A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23" name="Group 281">
              <a:extLst>
                <a:ext uri="{FF2B5EF4-FFF2-40B4-BE49-F238E27FC236}">
                  <a16:creationId xmlns:a16="http://schemas.microsoft.com/office/drawing/2014/main" id="{4025C200-6454-3053-2167-718740187D36}"/>
                </a:ext>
              </a:extLst>
            </p:cNvPr>
            <p:cNvGrpSpPr/>
            <p:nvPr/>
          </p:nvGrpSpPr>
          <p:grpSpPr>
            <a:xfrm>
              <a:off x="7095765" y="2483791"/>
              <a:ext cx="880227" cy="680442"/>
              <a:chOff x="5705376" y="2487543"/>
              <a:chExt cx="880227" cy="680442"/>
            </a:xfrm>
          </p:grpSpPr>
          <p:sp>
            <p:nvSpPr>
              <p:cNvPr id="224" name="AutoShape 118">
                <a:extLst>
                  <a:ext uri="{FF2B5EF4-FFF2-40B4-BE49-F238E27FC236}">
                    <a16:creationId xmlns:a16="http://schemas.microsoft.com/office/drawing/2014/main" id="{DBD241E7-8065-0D44-FBEC-CBB5CBD94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229657">
                <a:off x="5705376" y="2487543"/>
                <a:ext cx="768350" cy="276226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5" name="Text Box 119">
                <a:extLst>
                  <a:ext uri="{FF2B5EF4-FFF2-40B4-BE49-F238E27FC236}">
                    <a16:creationId xmlns:a16="http://schemas.microsoft.com/office/drawing/2014/main" id="{A66C1C72-42FE-D0BA-AA3C-019947D208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435" y="2887139"/>
                <a:ext cx="737168" cy="280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AS3,X </a:t>
                </a:r>
              </a:p>
            </p:txBody>
          </p:sp>
        </p:grpSp>
        <p:grpSp>
          <p:nvGrpSpPr>
            <p:cNvPr id="226" name="Group 284">
              <a:extLst>
                <a:ext uri="{FF2B5EF4-FFF2-40B4-BE49-F238E27FC236}">
                  <a16:creationId xmlns:a16="http://schemas.microsoft.com/office/drawing/2014/main" id="{0F858CDB-4E07-3B99-A0FA-FD48D89174E0}"/>
                </a:ext>
              </a:extLst>
            </p:cNvPr>
            <p:cNvGrpSpPr/>
            <p:nvPr/>
          </p:nvGrpSpPr>
          <p:grpSpPr>
            <a:xfrm>
              <a:off x="2970239" y="2693439"/>
              <a:ext cx="1359693" cy="525314"/>
              <a:chOff x="2143521" y="2684666"/>
              <a:chExt cx="1359693" cy="525314"/>
            </a:xfrm>
          </p:grpSpPr>
          <p:sp>
            <p:nvSpPr>
              <p:cNvPr id="227" name="Text Box 119">
                <a:extLst>
                  <a:ext uri="{FF2B5EF4-FFF2-40B4-BE49-F238E27FC236}">
                    <a16:creationId xmlns:a16="http://schemas.microsoft.com/office/drawing/2014/main" id="{803C1C08-02B2-1814-135D-F0AF1A5C17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3521" y="2929134"/>
                <a:ext cx="1126397" cy="280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AS1,AS3,X </a:t>
                </a:r>
              </a:p>
            </p:txBody>
          </p:sp>
          <p:sp>
            <p:nvSpPr>
              <p:cNvPr id="228" name="AutoShape 118">
                <a:extLst>
                  <a:ext uri="{FF2B5EF4-FFF2-40B4-BE49-F238E27FC236}">
                    <a16:creationId xmlns:a16="http://schemas.microsoft.com/office/drawing/2014/main" id="{6287A841-5AE5-7B11-1AF8-D4BFA0394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975073">
                <a:off x="2734864" y="2684666"/>
                <a:ext cx="768350" cy="276225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29" name="TextBox 287">
              <a:extLst>
                <a:ext uri="{FF2B5EF4-FFF2-40B4-BE49-F238E27FC236}">
                  <a16:creationId xmlns:a16="http://schemas.microsoft.com/office/drawing/2014/main" id="{B2999DE0-417B-BCE0-B1D6-51C784A7F810}"/>
                </a:ext>
              </a:extLst>
            </p:cNvPr>
            <p:cNvSpPr txBox="1"/>
            <p:nvPr/>
          </p:nvSpPr>
          <p:spPr>
            <a:xfrm>
              <a:off x="6375649" y="3642958"/>
              <a:ext cx="18609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latin typeface="Arial" charset="0"/>
                  <a:ea typeface="ＭＳ Ｐゴシック" charset="0"/>
                </a:rPr>
                <a:t>OSPF link weights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18722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215C4-8130-4BC8-96A2-D659B45C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BGP</a:t>
            </a:r>
            <a:r>
              <a:rPr lang="zh-CN" altLang="en-US" dirty="0"/>
              <a:t>路由决策过程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D498BE-2723-41B1-B1F1-55CEDB9E0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fr-CH" altLang="zh-CN" dirty="0"/>
              <a:t>Loc-RIB</a:t>
            </a:r>
            <a:r>
              <a:rPr lang="zh-CN" altLang="en-US" dirty="0"/>
              <a:t>保存了</a:t>
            </a:r>
            <a:r>
              <a:rPr lang="zh-CN" altLang="zh-CN" dirty="0"/>
              <a:t>经过一个决定过程后从</a:t>
            </a:r>
            <a:r>
              <a:rPr lang="fr-CH" altLang="zh-CN" dirty="0"/>
              <a:t>Adj-RIBs-In</a:t>
            </a:r>
            <a:r>
              <a:rPr lang="zh-CN" altLang="zh-CN" dirty="0"/>
              <a:t>所选择的</a:t>
            </a:r>
            <a:r>
              <a:rPr lang="zh-CN" altLang="en-US" dirty="0"/>
              <a:t>最好</a:t>
            </a:r>
            <a:r>
              <a:rPr lang="zh-CN" altLang="zh-CN" dirty="0"/>
              <a:t>路由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输入策略控制那些外出（</a:t>
            </a:r>
            <a:r>
              <a:rPr lang="en-US" altLang="zh-CN" dirty="0"/>
              <a:t>outbound)</a:t>
            </a:r>
            <a:r>
              <a:rPr lang="zh-CN" altLang="en-US" dirty="0"/>
              <a:t>的负载，即怎么到达该目的网络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solidFill>
                  <a:schemeClr val="bg2">
                    <a:lumMod val="90000"/>
                  </a:schemeClr>
                </a:solidFill>
              </a:rPr>
              <a:t>设置</a:t>
            </a:r>
            <a:r>
              <a:rPr lang="en-US" altLang="zh-CN" sz="2000" dirty="0">
                <a:solidFill>
                  <a:schemeClr val="bg2">
                    <a:lumMod val="90000"/>
                  </a:schemeClr>
                </a:solidFill>
              </a:rPr>
              <a:t>Local Preference</a:t>
            </a:r>
            <a:r>
              <a:rPr lang="zh-CN" altLang="en-US" sz="2000" dirty="0">
                <a:solidFill>
                  <a:schemeClr val="bg2">
                    <a:lumMod val="90000"/>
                  </a:schemeClr>
                </a:solidFill>
              </a:rPr>
              <a:t>控制优先选择哪个出口路由器</a:t>
            </a:r>
            <a:endParaRPr lang="en-US" altLang="zh-CN" sz="2000" dirty="0">
              <a:solidFill>
                <a:schemeClr val="bg2">
                  <a:lumMod val="90000"/>
                </a:schemeClr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zh-CN" sz="2000" b="1" dirty="0">
                <a:solidFill>
                  <a:schemeClr val="accent4"/>
                </a:solidFill>
              </a:rPr>
              <a:t>拒绝某条路由相当于不采用该路由到达对应的前缀网络</a:t>
            </a:r>
            <a:endParaRPr lang="en-US" altLang="zh-CN" sz="2000" b="1" dirty="0">
              <a:solidFill>
                <a:schemeClr val="accent4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zh-CN" dirty="0"/>
              <a:t>输出策略控制用于控制那些到来</a:t>
            </a:r>
            <a:r>
              <a:rPr lang="en-US" altLang="zh-CN" dirty="0"/>
              <a:t>(inbound)</a:t>
            </a:r>
            <a:r>
              <a:rPr lang="zh-CN" altLang="zh-CN" dirty="0"/>
              <a:t>的负载</a:t>
            </a:r>
            <a:r>
              <a:rPr lang="zh-CN" altLang="en-US" dirty="0"/>
              <a:t>，即是否允许其他节点通过该链路到达目的网络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发布给</a:t>
            </a:r>
            <a:r>
              <a:rPr lang="en-US" altLang="zh-CN" sz="2000" dirty="0"/>
              <a:t>E-BGP</a:t>
            </a:r>
            <a:r>
              <a:rPr lang="zh-CN" altLang="en-US" sz="2000" dirty="0"/>
              <a:t>邻居时添加（可添加多个）自己的</a:t>
            </a:r>
            <a:r>
              <a:rPr lang="en-US" altLang="zh-CN" sz="2000" dirty="0"/>
              <a:t>AS</a:t>
            </a:r>
            <a:r>
              <a:rPr lang="zh-CN" altLang="en-US" sz="2000" dirty="0"/>
              <a:t>编号到</a:t>
            </a:r>
            <a:r>
              <a:rPr lang="en-US" altLang="zh-CN" sz="2000" dirty="0"/>
              <a:t>AS-PATH</a:t>
            </a:r>
            <a:r>
              <a:rPr lang="zh-CN" altLang="en-US" sz="2000" dirty="0">
                <a:solidFill>
                  <a:schemeClr val="bg2">
                    <a:lumMod val="90000"/>
                  </a:schemeClr>
                </a:solidFill>
              </a:rPr>
              <a:t>以及设置</a:t>
            </a:r>
            <a:r>
              <a:rPr lang="en-US" altLang="zh-CN" sz="2000" dirty="0">
                <a:solidFill>
                  <a:schemeClr val="bg2">
                    <a:lumMod val="90000"/>
                  </a:schemeClr>
                </a:solidFill>
              </a:rPr>
              <a:t>MED</a:t>
            </a:r>
            <a:r>
              <a:rPr lang="zh-CN" altLang="en-US" sz="2000" dirty="0">
                <a:solidFill>
                  <a:schemeClr val="bg2">
                    <a:lumMod val="90000"/>
                  </a:schemeClr>
                </a:solidFill>
              </a:rPr>
              <a:t>等</a:t>
            </a:r>
            <a:endParaRPr lang="en-US" altLang="zh-CN" sz="2000" dirty="0">
              <a:solidFill>
                <a:schemeClr val="bg2">
                  <a:lumMod val="90000"/>
                </a:schemeClr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zh-CN" sz="2000" b="1" dirty="0">
                <a:solidFill>
                  <a:schemeClr val="accent4"/>
                </a:solidFill>
              </a:rPr>
              <a:t>不发布某条路由</a:t>
            </a:r>
            <a:r>
              <a:rPr lang="zh-CN" altLang="en-US" sz="2000" b="1" dirty="0">
                <a:solidFill>
                  <a:schemeClr val="accent4"/>
                </a:solidFill>
              </a:rPr>
              <a:t>给</a:t>
            </a:r>
            <a:r>
              <a:rPr lang="zh-CN" altLang="zh-CN" sz="2000" b="1" dirty="0">
                <a:solidFill>
                  <a:schemeClr val="accent4"/>
                </a:solidFill>
              </a:rPr>
              <a:t>邻居路由器</a:t>
            </a:r>
            <a:r>
              <a:rPr lang="zh-CN" altLang="en-US" sz="2000" b="1" dirty="0">
                <a:solidFill>
                  <a:schemeClr val="accent4"/>
                </a:solidFill>
              </a:rPr>
              <a:t>，意味着邻居不会</a:t>
            </a:r>
            <a:r>
              <a:rPr lang="zh-CN" altLang="zh-CN" sz="2000" b="1" dirty="0">
                <a:solidFill>
                  <a:schemeClr val="accent4"/>
                </a:solidFill>
              </a:rPr>
              <a:t>转发</a:t>
            </a:r>
            <a:r>
              <a:rPr lang="zh-CN" altLang="en-US" sz="2000" b="1" dirty="0">
                <a:solidFill>
                  <a:schemeClr val="accent4"/>
                </a:solidFill>
              </a:rPr>
              <a:t>相应的分组过来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E08DC19-3FF6-AC45-EC67-4AFEF05E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0" y="3526437"/>
            <a:ext cx="7657278" cy="314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36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B7D3D-D25C-EE69-5737-C5A0254A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BGP</a:t>
            </a:r>
            <a:r>
              <a:rPr lang="zh-CN" altLang="en-US" dirty="0"/>
              <a:t>：更好的路由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4E790E-818A-CEAD-A4C8-4D0A00909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zh-CN" altLang="zh-CN" dirty="0"/>
              <a:t>如果有多条路由，则选择其中具有最高</a:t>
            </a:r>
            <a:r>
              <a:rPr lang="en-US" altLang="zh-CN" dirty="0"/>
              <a:t>Local-Pref</a:t>
            </a:r>
            <a:r>
              <a:rPr lang="zh-CN" altLang="zh-CN" dirty="0"/>
              <a:t>属性的路由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zh-CN" altLang="zh-CN" b="1" dirty="0">
                <a:solidFill>
                  <a:schemeClr val="accent4"/>
                </a:solidFill>
              </a:rPr>
              <a:t>如果仍然有多条路由，则选择</a:t>
            </a:r>
            <a:r>
              <a:rPr lang="en-US" altLang="zh-CN" b="1" dirty="0">
                <a:solidFill>
                  <a:schemeClr val="accent4"/>
                </a:solidFill>
              </a:rPr>
              <a:t>AS-PATH</a:t>
            </a:r>
            <a:r>
              <a:rPr lang="zh-CN" altLang="zh-CN" b="1" dirty="0">
                <a:solidFill>
                  <a:schemeClr val="accent4"/>
                </a:solidFill>
              </a:rPr>
              <a:t>最短的路由</a:t>
            </a:r>
            <a:endParaRPr lang="en-US" altLang="zh-CN" b="1" dirty="0">
              <a:solidFill>
                <a:schemeClr val="accent4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如果仍然有多条路由，则根据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ORIGIN</a:t>
            </a: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属性类型的大小顺序选择最小的路由，即通过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IGP</a:t>
            </a: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了解到的路由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&lt;</a:t>
            </a: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通过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EGP</a:t>
            </a: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了解到的路由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&lt;</a:t>
            </a: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通过其他方法了解到的路由；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如果仍然有多条路由，则选择具有最低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MED</a:t>
            </a: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属性的路由，当然这些路由应该是到同一个邻居自治系统中的；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如果仍然有多条分别通过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I-BGP</a:t>
            </a: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E-BGP</a:t>
            </a: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了解到的路由，则选择通过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E-BGP</a:t>
            </a:r>
            <a:r>
              <a:rPr lang="zh-CN" altLang="zh-CN" dirty="0">
                <a:solidFill>
                  <a:schemeClr val="bg2">
                    <a:lumMod val="90000"/>
                  </a:schemeClr>
                </a:solidFill>
              </a:rPr>
              <a:t>了解到的路由；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zh-CN" b="1" dirty="0">
                <a:solidFill>
                  <a:schemeClr val="accent4"/>
                </a:solidFill>
              </a:rPr>
              <a:t>如果仍然有多条路由，则根据到</a:t>
            </a:r>
            <a:r>
              <a:rPr lang="en-US" altLang="zh-CN" b="1" dirty="0">
                <a:solidFill>
                  <a:schemeClr val="accent4"/>
                </a:solidFill>
              </a:rPr>
              <a:t>Next-Hop</a:t>
            </a:r>
            <a:r>
              <a:rPr lang="zh-CN" altLang="zh-CN" b="1" dirty="0">
                <a:solidFill>
                  <a:schemeClr val="accent4"/>
                </a:solidFill>
              </a:rPr>
              <a:t>属性给出的路由器的</a:t>
            </a:r>
            <a:r>
              <a:rPr lang="en-US" altLang="zh-CN" b="1" dirty="0">
                <a:solidFill>
                  <a:schemeClr val="accent4"/>
                </a:solidFill>
              </a:rPr>
              <a:t>IGP</a:t>
            </a:r>
            <a:r>
              <a:rPr lang="zh-CN" altLang="zh-CN" b="1" dirty="0">
                <a:solidFill>
                  <a:schemeClr val="accent4"/>
                </a:solidFill>
              </a:rPr>
              <a:t>度量选择距离最近的路由；</a:t>
            </a:r>
            <a:r>
              <a:rPr lang="en-US" altLang="zh-CN" b="1" dirty="0">
                <a:solidFill>
                  <a:schemeClr val="accent4"/>
                </a:solidFill>
              </a:rPr>
              <a:t> </a:t>
            </a:r>
            <a:r>
              <a:rPr lang="en-US" altLang="zh-CN" b="1" dirty="0">
                <a:solidFill>
                  <a:schemeClr val="accent4"/>
                </a:solidFill>
                <a:sym typeface="Wingdings" panose="05000000000000000000" pitchFamily="2" charset="2"/>
              </a:rPr>
              <a:t></a:t>
            </a:r>
            <a:r>
              <a:rPr lang="zh-CN" altLang="en-US" b="1" dirty="0">
                <a:solidFill>
                  <a:schemeClr val="accent4"/>
                </a:solidFill>
                <a:sym typeface="Wingdings" panose="05000000000000000000" pitchFamily="2" charset="2"/>
              </a:rPr>
              <a:t>热土豆路由</a:t>
            </a:r>
            <a:endParaRPr lang="zh-CN" altLang="zh-CN" b="1" dirty="0">
              <a:solidFill>
                <a:schemeClr val="accent4"/>
              </a:solidFill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zh-CN" altLang="zh-CN" dirty="0"/>
              <a:t>如果仍然有多条路由，则选择具有最低</a:t>
            </a:r>
            <a:r>
              <a:rPr lang="en-US" altLang="zh-CN" dirty="0"/>
              <a:t>BGP</a:t>
            </a:r>
            <a:r>
              <a:rPr lang="zh-CN" altLang="zh-CN" dirty="0"/>
              <a:t>路由器</a:t>
            </a:r>
            <a:r>
              <a:rPr lang="en-US" altLang="zh-CN" dirty="0"/>
              <a:t>ID</a:t>
            </a:r>
            <a:r>
              <a:rPr lang="zh-CN" altLang="zh-CN" dirty="0"/>
              <a:t>的路由</a:t>
            </a:r>
            <a:endParaRPr lang="zh-CN" altLang="en-US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如果仍然有多条路由，则选择对应的</a:t>
            </a:r>
            <a:r>
              <a:rPr lang="en-US" altLang="zh-CN" dirty="0"/>
              <a:t>BGP</a:t>
            </a:r>
            <a:r>
              <a:rPr lang="zh-CN" altLang="en-US" dirty="0"/>
              <a:t>邻居中</a:t>
            </a:r>
            <a:r>
              <a:rPr lang="en-US" altLang="zh-CN" dirty="0"/>
              <a:t>IP</a:t>
            </a:r>
            <a:r>
              <a:rPr lang="zh-CN" altLang="en-US" dirty="0"/>
              <a:t>地址更低的路由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7649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6850B-5AD9-0A73-C98B-7E832B29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路由选择策略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72CE5D-AD71-6042-3292-736ADCEAA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4"/>
            <a:ext cx="11289710" cy="2906452"/>
          </a:xfrm>
        </p:spPr>
        <p:txBody>
          <a:bodyPr>
            <a:noAutofit/>
          </a:bodyPr>
          <a:lstStyle/>
          <a:p>
            <a:r>
              <a:rPr lang="en-US" altLang="zh-CN" dirty="0"/>
              <a:t>ISP</a:t>
            </a:r>
            <a:r>
              <a:rPr lang="zh-CN" altLang="en-US" dirty="0"/>
              <a:t>为客户提供接入服务：允许源和目的地在其客户网络的负载通过</a:t>
            </a:r>
            <a:endParaRPr lang="en-US" altLang="zh-CN" dirty="0"/>
          </a:p>
          <a:p>
            <a:pPr lvl="1"/>
            <a:r>
              <a:rPr lang="en-US" altLang="zh-CN" sz="2000" dirty="0"/>
              <a:t>B</a:t>
            </a:r>
            <a:r>
              <a:rPr lang="zh-CN" altLang="en-US" sz="2000" dirty="0"/>
              <a:t>发布</a:t>
            </a:r>
            <a:r>
              <a:rPr lang="en-US" altLang="zh-CN" sz="2000" dirty="0" err="1"/>
              <a:t>B,A,w</a:t>
            </a:r>
            <a:r>
              <a:rPr lang="zh-CN" altLang="en-US" sz="2000" dirty="0"/>
              <a:t>给</a:t>
            </a:r>
            <a:r>
              <a:rPr lang="en-US" altLang="zh-CN" sz="2000" dirty="0"/>
              <a:t>x</a:t>
            </a:r>
            <a:r>
              <a:rPr lang="zh-CN" altLang="en-US" sz="2000" dirty="0"/>
              <a:t>，但不会将</a:t>
            </a:r>
            <a:r>
              <a:rPr lang="en-US" altLang="zh-CN" sz="2000" dirty="0"/>
              <a:t>B, </a:t>
            </a:r>
            <a:r>
              <a:rPr lang="en-US" altLang="zh-CN" sz="2000" dirty="0" err="1"/>
              <a:t>A,w</a:t>
            </a:r>
            <a:r>
              <a:rPr lang="zh-CN" altLang="en-US" sz="2000" dirty="0"/>
              <a:t>发布给</a:t>
            </a:r>
            <a:r>
              <a:rPr lang="en-US" altLang="zh-CN" sz="2000" dirty="0"/>
              <a:t>C</a:t>
            </a:r>
          </a:p>
          <a:p>
            <a:pPr lvl="1"/>
            <a:r>
              <a:rPr lang="en-US" altLang="zh-CN" sz="2000" dirty="0"/>
              <a:t>C</a:t>
            </a:r>
            <a:r>
              <a:rPr lang="zh-CN" altLang="en-US" sz="2000" dirty="0"/>
              <a:t>发布</a:t>
            </a:r>
            <a:r>
              <a:rPr lang="en-US" altLang="zh-CN" sz="2000" dirty="0" err="1"/>
              <a:t>C,A,w</a:t>
            </a:r>
            <a:r>
              <a:rPr lang="zh-CN" altLang="en-US" sz="2000" dirty="0"/>
              <a:t>给</a:t>
            </a:r>
            <a:r>
              <a:rPr lang="en-US" altLang="zh-CN" sz="2000" dirty="0"/>
              <a:t>x</a:t>
            </a:r>
            <a:r>
              <a:rPr lang="zh-CN" altLang="en-US" sz="2000" dirty="0"/>
              <a:t>和</a:t>
            </a:r>
            <a:r>
              <a:rPr lang="en-US" altLang="zh-CN" sz="2000" dirty="0"/>
              <a:t>y</a:t>
            </a:r>
            <a:r>
              <a:rPr lang="zh-CN" altLang="en-US" sz="2000" dirty="0"/>
              <a:t>，但不会将</a:t>
            </a:r>
            <a:r>
              <a:rPr lang="en-US" altLang="zh-CN" sz="2000" dirty="0"/>
              <a:t>C, A, w</a:t>
            </a:r>
            <a:r>
              <a:rPr lang="zh-CN" altLang="en-US" sz="2000" dirty="0"/>
              <a:t>发布给</a:t>
            </a:r>
            <a:r>
              <a:rPr lang="en-US" altLang="zh-CN" sz="2000" dirty="0"/>
              <a:t>B</a:t>
            </a:r>
          </a:p>
          <a:p>
            <a:pPr lvl="1"/>
            <a:r>
              <a:rPr lang="en-US" altLang="zh-CN" sz="2000" dirty="0"/>
              <a:t>x</a:t>
            </a:r>
            <a:r>
              <a:rPr lang="zh-CN" altLang="en-US" sz="2000" dirty="0"/>
              <a:t>为多穴末端网络</a:t>
            </a:r>
            <a:r>
              <a:rPr lang="en-US" altLang="zh-CN" sz="2000" dirty="0"/>
              <a:t>(Multi-Homed Stub Network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2"/>
            <a:r>
              <a:rPr lang="en-US" altLang="zh-CN" dirty="0"/>
              <a:t>x</a:t>
            </a:r>
            <a:r>
              <a:rPr lang="zh-CN" altLang="en-US" dirty="0"/>
              <a:t>自身的路由发布给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</a:p>
          <a:p>
            <a:pPr lvl="2"/>
            <a:r>
              <a:rPr lang="zh-CN" altLang="en-US" dirty="0"/>
              <a:t>从</a:t>
            </a:r>
            <a:r>
              <a:rPr lang="en-US" altLang="zh-CN" dirty="0"/>
              <a:t>B</a:t>
            </a:r>
            <a:r>
              <a:rPr lang="zh-CN" altLang="en-US" dirty="0"/>
              <a:t>了解到的路由不发布给</a:t>
            </a:r>
            <a:r>
              <a:rPr lang="en-US" altLang="zh-CN" dirty="0"/>
              <a:t>C</a:t>
            </a:r>
          </a:p>
          <a:p>
            <a:pPr lvl="2"/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了解到的路由不发布给</a:t>
            </a:r>
            <a:r>
              <a:rPr lang="en-US" altLang="zh-CN" dirty="0"/>
              <a:t>B</a:t>
            </a:r>
          </a:p>
          <a:p>
            <a:pPr lvl="1"/>
            <a:endParaRPr lang="zh-CN" altLang="en-US" sz="2000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CB7E6D2-4FB3-D412-E0C5-ED133E25589E}"/>
              </a:ext>
            </a:extLst>
          </p:cNvPr>
          <p:cNvGrpSpPr/>
          <p:nvPr/>
        </p:nvGrpSpPr>
        <p:grpSpPr>
          <a:xfrm>
            <a:off x="4099972" y="3153581"/>
            <a:ext cx="7300913" cy="1868057"/>
            <a:chOff x="2061310" y="4648802"/>
            <a:chExt cx="7300913" cy="1868057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3906D558-0C4B-EEB4-3B4B-E177A04DEA42}"/>
                </a:ext>
              </a:extLst>
            </p:cNvPr>
            <p:cNvGrpSpPr/>
            <p:nvPr/>
          </p:nvGrpSpPr>
          <p:grpSpPr>
            <a:xfrm>
              <a:off x="3901222" y="4648802"/>
              <a:ext cx="893763" cy="577850"/>
              <a:chOff x="3983668" y="1440907"/>
              <a:chExt cx="893763" cy="577850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B1A8FAA6-B3D5-E350-3DD0-89C17CB7F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3668" y="1440907"/>
                <a:ext cx="893763" cy="577850"/>
              </a:xfrm>
              <a:custGeom>
                <a:avLst/>
                <a:gdLst>
                  <a:gd name="T0" fmla="*/ 148 w 563"/>
                  <a:gd name="T1" fmla="*/ 5 h 364"/>
                  <a:gd name="T2" fmla="*/ 119 w 563"/>
                  <a:gd name="T3" fmla="*/ 10 h 364"/>
                  <a:gd name="T4" fmla="*/ 94 w 563"/>
                  <a:gd name="T5" fmla="*/ 21 h 364"/>
                  <a:gd name="T6" fmla="*/ 70 w 563"/>
                  <a:gd name="T7" fmla="*/ 37 h 364"/>
                  <a:gd name="T8" fmla="*/ 46 w 563"/>
                  <a:gd name="T9" fmla="*/ 61 h 364"/>
                  <a:gd name="T10" fmla="*/ 24 w 563"/>
                  <a:gd name="T11" fmla="*/ 91 h 364"/>
                  <a:gd name="T12" fmla="*/ 8 w 563"/>
                  <a:gd name="T13" fmla="*/ 120 h 364"/>
                  <a:gd name="T14" fmla="*/ 3 w 563"/>
                  <a:gd name="T15" fmla="*/ 136 h 364"/>
                  <a:gd name="T16" fmla="*/ 0 w 563"/>
                  <a:gd name="T17" fmla="*/ 150 h 364"/>
                  <a:gd name="T18" fmla="*/ 0 w 563"/>
                  <a:gd name="T19" fmla="*/ 166 h 364"/>
                  <a:gd name="T20" fmla="*/ 8 w 563"/>
                  <a:gd name="T21" fmla="*/ 195 h 364"/>
                  <a:gd name="T22" fmla="*/ 27 w 563"/>
                  <a:gd name="T23" fmla="*/ 228 h 364"/>
                  <a:gd name="T24" fmla="*/ 49 w 563"/>
                  <a:gd name="T25" fmla="*/ 257 h 364"/>
                  <a:gd name="T26" fmla="*/ 70 w 563"/>
                  <a:gd name="T27" fmla="*/ 284 h 364"/>
                  <a:gd name="T28" fmla="*/ 92 w 563"/>
                  <a:gd name="T29" fmla="*/ 305 h 364"/>
                  <a:gd name="T30" fmla="*/ 111 w 563"/>
                  <a:gd name="T31" fmla="*/ 321 h 364"/>
                  <a:gd name="T32" fmla="*/ 127 w 563"/>
                  <a:gd name="T33" fmla="*/ 332 h 364"/>
                  <a:gd name="T34" fmla="*/ 146 w 563"/>
                  <a:gd name="T35" fmla="*/ 340 h 364"/>
                  <a:gd name="T36" fmla="*/ 170 w 563"/>
                  <a:gd name="T37" fmla="*/ 346 h 364"/>
                  <a:gd name="T38" fmla="*/ 191 w 563"/>
                  <a:gd name="T39" fmla="*/ 348 h 364"/>
                  <a:gd name="T40" fmla="*/ 218 w 563"/>
                  <a:gd name="T41" fmla="*/ 354 h 364"/>
                  <a:gd name="T42" fmla="*/ 261 w 563"/>
                  <a:gd name="T43" fmla="*/ 356 h 364"/>
                  <a:gd name="T44" fmla="*/ 310 w 563"/>
                  <a:gd name="T45" fmla="*/ 362 h 364"/>
                  <a:gd name="T46" fmla="*/ 361 w 563"/>
                  <a:gd name="T47" fmla="*/ 364 h 364"/>
                  <a:gd name="T48" fmla="*/ 409 w 563"/>
                  <a:gd name="T49" fmla="*/ 362 h 364"/>
                  <a:gd name="T50" fmla="*/ 458 w 563"/>
                  <a:gd name="T51" fmla="*/ 359 h 364"/>
                  <a:gd name="T52" fmla="*/ 495 w 563"/>
                  <a:gd name="T53" fmla="*/ 348 h 364"/>
                  <a:gd name="T54" fmla="*/ 511 w 563"/>
                  <a:gd name="T55" fmla="*/ 340 h 364"/>
                  <a:gd name="T56" fmla="*/ 525 w 563"/>
                  <a:gd name="T57" fmla="*/ 332 h 364"/>
                  <a:gd name="T58" fmla="*/ 536 w 563"/>
                  <a:gd name="T59" fmla="*/ 321 h 364"/>
                  <a:gd name="T60" fmla="*/ 549 w 563"/>
                  <a:gd name="T61" fmla="*/ 295 h 364"/>
                  <a:gd name="T62" fmla="*/ 557 w 563"/>
                  <a:gd name="T63" fmla="*/ 257 h 364"/>
                  <a:gd name="T64" fmla="*/ 563 w 563"/>
                  <a:gd name="T65" fmla="*/ 217 h 364"/>
                  <a:gd name="T66" fmla="*/ 563 w 563"/>
                  <a:gd name="T67" fmla="*/ 174 h 364"/>
                  <a:gd name="T68" fmla="*/ 557 w 563"/>
                  <a:gd name="T69" fmla="*/ 134 h 364"/>
                  <a:gd name="T70" fmla="*/ 555 w 563"/>
                  <a:gd name="T71" fmla="*/ 96 h 364"/>
                  <a:gd name="T72" fmla="*/ 549 w 563"/>
                  <a:gd name="T73" fmla="*/ 67 h 364"/>
                  <a:gd name="T74" fmla="*/ 546 w 563"/>
                  <a:gd name="T75" fmla="*/ 56 h 364"/>
                  <a:gd name="T76" fmla="*/ 541 w 563"/>
                  <a:gd name="T77" fmla="*/ 40 h 364"/>
                  <a:gd name="T78" fmla="*/ 536 w 563"/>
                  <a:gd name="T79" fmla="*/ 29 h 364"/>
                  <a:gd name="T80" fmla="*/ 528 w 563"/>
                  <a:gd name="T81" fmla="*/ 21 h 364"/>
                  <a:gd name="T82" fmla="*/ 520 w 563"/>
                  <a:gd name="T83" fmla="*/ 18 h 364"/>
                  <a:gd name="T84" fmla="*/ 495 w 563"/>
                  <a:gd name="T85" fmla="*/ 16 h 364"/>
                  <a:gd name="T86" fmla="*/ 466 w 563"/>
                  <a:gd name="T87" fmla="*/ 16 h 364"/>
                  <a:gd name="T88" fmla="*/ 450 w 563"/>
                  <a:gd name="T89" fmla="*/ 13 h 364"/>
                  <a:gd name="T90" fmla="*/ 409 w 563"/>
                  <a:gd name="T91" fmla="*/ 13 h 364"/>
                  <a:gd name="T92" fmla="*/ 364 w 563"/>
                  <a:gd name="T93" fmla="*/ 16 h 364"/>
                  <a:gd name="T94" fmla="*/ 320 w 563"/>
                  <a:gd name="T95" fmla="*/ 16 h 364"/>
                  <a:gd name="T96" fmla="*/ 283 w 563"/>
                  <a:gd name="T97" fmla="*/ 13 h 364"/>
                  <a:gd name="T98" fmla="*/ 248 w 563"/>
                  <a:gd name="T99" fmla="*/ 8 h 364"/>
                  <a:gd name="T100" fmla="*/ 213 w 563"/>
                  <a:gd name="T101" fmla="*/ 2 h 364"/>
                  <a:gd name="T102" fmla="*/ 186 w 563"/>
                  <a:gd name="T103" fmla="*/ 0 h 364"/>
                  <a:gd name="T104" fmla="*/ 175 w 563"/>
                  <a:gd name="T105" fmla="*/ 0 h 36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563"/>
                  <a:gd name="T160" fmla="*/ 0 h 364"/>
                  <a:gd name="T161" fmla="*/ 563 w 563"/>
                  <a:gd name="T162" fmla="*/ 364 h 364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563" h="364">
                    <a:moveTo>
                      <a:pt x="175" y="0"/>
                    </a:moveTo>
                    <a:lnTo>
                      <a:pt x="148" y="5"/>
                    </a:lnTo>
                    <a:lnTo>
                      <a:pt x="132" y="8"/>
                    </a:lnTo>
                    <a:lnTo>
                      <a:pt x="119" y="10"/>
                    </a:lnTo>
                    <a:lnTo>
                      <a:pt x="108" y="16"/>
                    </a:lnTo>
                    <a:lnTo>
                      <a:pt x="94" y="21"/>
                    </a:lnTo>
                    <a:lnTo>
                      <a:pt x="81" y="29"/>
                    </a:lnTo>
                    <a:lnTo>
                      <a:pt x="70" y="37"/>
                    </a:lnTo>
                    <a:lnTo>
                      <a:pt x="59" y="48"/>
                    </a:lnTo>
                    <a:lnTo>
                      <a:pt x="46" y="61"/>
                    </a:lnTo>
                    <a:lnTo>
                      <a:pt x="35" y="75"/>
                    </a:lnTo>
                    <a:lnTo>
                      <a:pt x="24" y="91"/>
                    </a:lnTo>
                    <a:lnTo>
                      <a:pt x="14" y="104"/>
                    </a:lnTo>
                    <a:lnTo>
                      <a:pt x="8" y="120"/>
                    </a:lnTo>
                    <a:lnTo>
                      <a:pt x="3" y="128"/>
                    </a:lnTo>
                    <a:lnTo>
                      <a:pt x="3" y="136"/>
                    </a:lnTo>
                    <a:lnTo>
                      <a:pt x="0" y="142"/>
                    </a:lnTo>
                    <a:lnTo>
                      <a:pt x="0" y="150"/>
                    </a:lnTo>
                    <a:lnTo>
                      <a:pt x="0" y="158"/>
                    </a:lnTo>
                    <a:lnTo>
                      <a:pt x="0" y="166"/>
                    </a:lnTo>
                    <a:lnTo>
                      <a:pt x="3" y="182"/>
                    </a:lnTo>
                    <a:lnTo>
                      <a:pt x="8" y="195"/>
                    </a:lnTo>
                    <a:lnTo>
                      <a:pt x="16" y="212"/>
                    </a:lnTo>
                    <a:lnTo>
                      <a:pt x="27" y="228"/>
                    </a:lnTo>
                    <a:lnTo>
                      <a:pt x="35" y="244"/>
                    </a:lnTo>
                    <a:lnTo>
                      <a:pt x="49" y="257"/>
                    </a:lnTo>
                    <a:lnTo>
                      <a:pt x="59" y="271"/>
                    </a:lnTo>
                    <a:lnTo>
                      <a:pt x="70" y="284"/>
                    </a:lnTo>
                    <a:lnTo>
                      <a:pt x="81" y="295"/>
                    </a:lnTo>
                    <a:lnTo>
                      <a:pt x="92" y="305"/>
                    </a:lnTo>
                    <a:lnTo>
                      <a:pt x="103" y="319"/>
                    </a:lnTo>
                    <a:lnTo>
                      <a:pt x="111" y="321"/>
                    </a:lnTo>
                    <a:lnTo>
                      <a:pt x="119" y="327"/>
                    </a:lnTo>
                    <a:lnTo>
                      <a:pt x="127" y="332"/>
                    </a:lnTo>
                    <a:lnTo>
                      <a:pt x="135" y="335"/>
                    </a:lnTo>
                    <a:lnTo>
                      <a:pt x="146" y="340"/>
                    </a:lnTo>
                    <a:lnTo>
                      <a:pt x="156" y="343"/>
                    </a:lnTo>
                    <a:lnTo>
                      <a:pt x="170" y="346"/>
                    </a:lnTo>
                    <a:lnTo>
                      <a:pt x="183" y="348"/>
                    </a:lnTo>
                    <a:lnTo>
                      <a:pt x="191" y="348"/>
                    </a:lnTo>
                    <a:lnTo>
                      <a:pt x="199" y="351"/>
                    </a:lnTo>
                    <a:lnTo>
                      <a:pt x="218" y="354"/>
                    </a:lnTo>
                    <a:lnTo>
                      <a:pt x="240" y="356"/>
                    </a:lnTo>
                    <a:lnTo>
                      <a:pt x="261" y="356"/>
                    </a:lnTo>
                    <a:lnTo>
                      <a:pt x="285" y="359"/>
                    </a:lnTo>
                    <a:lnTo>
                      <a:pt x="310" y="362"/>
                    </a:lnTo>
                    <a:lnTo>
                      <a:pt x="334" y="362"/>
                    </a:lnTo>
                    <a:lnTo>
                      <a:pt x="361" y="364"/>
                    </a:lnTo>
                    <a:lnTo>
                      <a:pt x="385" y="364"/>
                    </a:lnTo>
                    <a:lnTo>
                      <a:pt x="409" y="362"/>
                    </a:lnTo>
                    <a:lnTo>
                      <a:pt x="433" y="362"/>
                    </a:lnTo>
                    <a:lnTo>
                      <a:pt x="458" y="359"/>
                    </a:lnTo>
                    <a:lnTo>
                      <a:pt x="477" y="354"/>
                    </a:lnTo>
                    <a:lnTo>
                      <a:pt x="495" y="348"/>
                    </a:lnTo>
                    <a:lnTo>
                      <a:pt x="503" y="346"/>
                    </a:lnTo>
                    <a:lnTo>
                      <a:pt x="511" y="340"/>
                    </a:lnTo>
                    <a:lnTo>
                      <a:pt x="520" y="338"/>
                    </a:lnTo>
                    <a:lnTo>
                      <a:pt x="525" y="332"/>
                    </a:lnTo>
                    <a:lnTo>
                      <a:pt x="530" y="327"/>
                    </a:lnTo>
                    <a:lnTo>
                      <a:pt x="536" y="321"/>
                    </a:lnTo>
                    <a:lnTo>
                      <a:pt x="544" y="308"/>
                    </a:lnTo>
                    <a:lnTo>
                      <a:pt x="549" y="295"/>
                    </a:lnTo>
                    <a:lnTo>
                      <a:pt x="555" y="276"/>
                    </a:lnTo>
                    <a:lnTo>
                      <a:pt x="557" y="257"/>
                    </a:lnTo>
                    <a:lnTo>
                      <a:pt x="560" y="238"/>
                    </a:lnTo>
                    <a:lnTo>
                      <a:pt x="563" y="217"/>
                    </a:lnTo>
                    <a:lnTo>
                      <a:pt x="563" y="195"/>
                    </a:lnTo>
                    <a:lnTo>
                      <a:pt x="563" y="174"/>
                    </a:lnTo>
                    <a:lnTo>
                      <a:pt x="560" y="155"/>
                    </a:lnTo>
                    <a:lnTo>
                      <a:pt x="557" y="134"/>
                    </a:lnTo>
                    <a:lnTo>
                      <a:pt x="557" y="115"/>
                    </a:lnTo>
                    <a:lnTo>
                      <a:pt x="555" y="96"/>
                    </a:lnTo>
                    <a:lnTo>
                      <a:pt x="552" y="80"/>
                    </a:lnTo>
                    <a:lnTo>
                      <a:pt x="549" y="67"/>
                    </a:lnTo>
                    <a:lnTo>
                      <a:pt x="546" y="61"/>
                    </a:lnTo>
                    <a:lnTo>
                      <a:pt x="546" y="56"/>
                    </a:lnTo>
                    <a:lnTo>
                      <a:pt x="544" y="48"/>
                    </a:lnTo>
                    <a:lnTo>
                      <a:pt x="541" y="40"/>
                    </a:lnTo>
                    <a:lnTo>
                      <a:pt x="538" y="32"/>
                    </a:lnTo>
                    <a:lnTo>
                      <a:pt x="536" y="29"/>
                    </a:lnTo>
                    <a:lnTo>
                      <a:pt x="533" y="24"/>
                    </a:lnTo>
                    <a:lnTo>
                      <a:pt x="528" y="21"/>
                    </a:lnTo>
                    <a:lnTo>
                      <a:pt x="522" y="18"/>
                    </a:lnTo>
                    <a:lnTo>
                      <a:pt x="520" y="18"/>
                    </a:lnTo>
                    <a:lnTo>
                      <a:pt x="506" y="16"/>
                    </a:lnTo>
                    <a:lnTo>
                      <a:pt x="495" y="16"/>
                    </a:lnTo>
                    <a:lnTo>
                      <a:pt x="479" y="16"/>
                    </a:lnTo>
                    <a:lnTo>
                      <a:pt x="466" y="16"/>
                    </a:lnTo>
                    <a:lnTo>
                      <a:pt x="458" y="16"/>
                    </a:lnTo>
                    <a:lnTo>
                      <a:pt x="450" y="13"/>
                    </a:lnTo>
                    <a:lnTo>
                      <a:pt x="431" y="13"/>
                    </a:lnTo>
                    <a:lnTo>
                      <a:pt x="409" y="13"/>
                    </a:lnTo>
                    <a:lnTo>
                      <a:pt x="388" y="13"/>
                    </a:lnTo>
                    <a:lnTo>
                      <a:pt x="364" y="16"/>
                    </a:lnTo>
                    <a:lnTo>
                      <a:pt x="342" y="16"/>
                    </a:lnTo>
                    <a:lnTo>
                      <a:pt x="320" y="16"/>
                    </a:lnTo>
                    <a:lnTo>
                      <a:pt x="302" y="16"/>
                    </a:lnTo>
                    <a:lnTo>
                      <a:pt x="283" y="13"/>
                    </a:lnTo>
                    <a:lnTo>
                      <a:pt x="264" y="13"/>
                    </a:lnTo>
                    <a:lnTo>
                      <a:pt x="248" y="8"/>
                    </a:lnTo>
                    <a:lnTo>
                      <a:pt x="229" y="5"/>
                    </a:lnTo>
                    <a:lnTo>
                      <a:pt x="213" y="2"/>
                    </a:lnTo>
                    <a:lnTo>
                      <a:pt x="199" y="0"/>
                    </a:lnTo>
                    <a:lnTo>
                      <a:pt x="186" y="0"/>
                    </a:lnTo>
                    <a:lnTo>
                      <a:pt x="181" y="0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" name="Rectangle 10">
                <a:extLst>
                  <a:ext uri="{FF2B5EF4-FFF2-40B4-BE49-F238E27FC236}">
                    <a16:creationId xmlns:a16="http://schemas.microsoft.com/office/drawing/2014/main" id="{387DAD87-AEDC-E8EC-8794-AB44DD679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6086" y="1490773"/>
                <a:ext cx="222818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B</a:t>
                </a:r>
              </a:p>
            </p:txBody>
          </p:sp>
        </p:grpSp>
        <p:sp>
          <p:nvSpPr>
            <p:cNvPr id="7" name="Line 22">
              <a:extLst>
                <a:ext uri="{FF2B5EF4-FFF2-40B4-BE49-F238E27FC236}">
                  <a16:creationId xmlns:a16="http://schemas.microsoft.com/office/drawing/2014/main" id="{96148148-4496-E6FF-6341-B1C26ACAD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4985" y="4942489"/>
              <a:ext cx="665163" cy="27622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Line 23">
              <a:extLst>
                <a:ext uri="{FF2B5EF4-FFF2-40B4-BE49-F238E27FC236}">
                  <a16:creationId xmlns:a16="http://schemas.microsoft.com/office/drawing/2014/main" id="{0456F424-3F64-3F67-450E-67F8F27AA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7847" y="5325077"/>
              <a:ext cx="669925" cy="56673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049600C6-10AD-8110-7990-0A4105A8DD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9135" y="5082189"/>
              <a:ext cx="290513" cy="23495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Line 26">
              <a:extLst>
                <a:ext uri="{FF2B5EF4-FFF2-40B4-BE49-F238E27FC236}">
                  <a16:creationId xmlns:a16="http://schemas.microsoft.com/office/drawing/2014/main" id="{C4DBC0A1-C5D2-937B-9844-2CAD3297F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82259" y="5210777"/>
              <a:ext cx="1423" cy="538612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3C15483C-D705-0654-79AE-93C945904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4535" y="5636227"/>
              <a:ext cx="265113" cy="165100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2" name="Group 2">
              <a:extLst>
                <a:ext uri="{FF2B5EF4-FFF2-40B4-BE49-F238E27FC236}">
                  <a16:creationId xmlns:a16="http://schemas.microsoft.com/office/drawing/2014/main" id="{05F6BD34-1FD0-7BFC-DD2D-E775256AF229}"/>
                </a:ext>
              </a:extLst>
            </p:cNvPr>
            <p:cNvGrpSpPr/>
            <p:nvPr/>
          </p:nvGrpSpPr>
          <p:grpSpPr>
            <a:xfrm>
              <a:off x="6199922" y="4805534"/>
              <a:ext cx="3162301" cy="1711325"/>
              <a:chOff x="6282368" y="1597639"/>
              <a:chExt cx="3162301" cy="1711325"/>
            </a:xfrm>
          </p:grpSpPr>
          <p:sp>
            <p:nvSpPr>
              <p:cNvPr id="13" name="Rectangle 28">
                <a:extLst>
                  <a:ext uri="{FF2B5EF4-FFF2-40B4-BE49-F238E27FC236}">
                    <a16:creationId xmlns:a16="http://schemas.microsoft.com/office/drawing/2014/main" id="{F172AFF6-1396-FA98-7BA7-8562A0CEB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2368" y="1597639"/>
                <a:ext cx="965200" cy="4508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Rectangle 29">
                <a:extLst>
                  <a:ext uri="{FF2B5EF4-FFF2-40B4-BE49-F238E27FC236}">
                    <a16:creationId xmlns:a16="http://schemas.microsoft.com/office/drawing/2014/main" id="{F1CB1C9A-7E57-E3A5-C4BA-6EFD336FC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7320" y="2261646"/>
                <a:ext cx="83502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legend</a:t>
                </a:r>
                <a:r>
                  <a:rPr lang="en-US" sz="1700" b="1" dirty="0">
                    <a:solidFill>
                      <a:srgbClr val="000000"/>
                    </a:solidFill>
                  </a:rPr>
                  <a:t>:</a:t>
                </a:r>
                <a:endParaRPr lang="en-US" dirty="0"/>
              </a:p>
            </p:txBody>
          </p:sp>
          <p:sp>
            <p:nvSpPr>
              <p:cNvPr id="15" name="Rectangle 30">
                <a:extLst>
                  <a:ext uri="{FF2B5EF4-FFF2-40B4-BE49-F238E27FC236}">
                    <a16:creationId xmlns:a16="http://schemas.microsoft.com/office/drawing/2014/main" id="{CA5768FE-B483-B771-A152-5798E3C18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2943" y="1669076"/>
                <a:ext cx="60325" cy="258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 dirty="0">
                    <a:solidFill>
                      <a:srgbClr val="000000"/>
                    </a:solidFill>
                  </a:rPr>
                  <a:t> </a:t>
                </a:r>
                <a:endParaRPr lang="en-US" dirty="0"/>
              </a:p>
            </p:txBody>
          </p:sp>
          <p:sp>
            <p:nvSpPr>
              <p:cNvPr id="16" name="Rectangle 31">
                <a:extLst>
                  <a:ext uri="{FF2B5EF4-FFF2-40B4-BE49-F238E27FC236}">
                    <a16:creationId xmlns:a16="http://schemas.microsoft.com/office/drawing/2014/main" id="{6E567CD1-35CA-C663-F082-554BD4559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4831" y="2516801"/>
                <a:ext cx="1160463" cy="7921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" name="Rectangle 32">
                <a:extLst>
                  <a:ext uri="{FF2B5EF4-FFF2-40B4-BE49-F238E27FC236}">
                    <a16:creationId xmlns:a16="http://schemas.microsoft.com/office/drawing/2014/main" id="{689D9D9D-0BF1-0B25-A9F5-C1CB04FC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2580301"/>
                <a:ext cx="1112838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customer </a:t>
                </a:r>
                <a:endParaRPr lang="en-US" sz="2000" dirty="0"/>
              </a:p>
            </p:txBody>
          </p:sp>
          <p:sp>
            <p:nvSpPr>
              <p:cNvPr id="18" name="Rectangle 33">
                <a:extLst>
                  <a:ext uri="{FF2B5EF4-FFF2-40B4-BE49-F238E27FC236}">
                    <a16:creationId xmlns:a16="http://schemas.microsoft.com/office/drawing/2014/main" id="{0DA9DAFA-58FB-BD60-B248-E41A9A012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2831126"/>
                <a:ext cx="958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network:</a:t>
                </a:r>
                <a:endParaRPr lang="en-US" sz="2000" dirty="0"/>
              </a:p>
            </p:txBody>
          </p:sp>
          <p:sp>
            <p:nvSpPr>
              <p:cNvPr id="19" name="Rectangle 34">
                <a:extLst>
                  <a:ext uri="{FF2B5EF4-FFF2-40B4-BE49-F238E27FC236}">
                    <a16:creationId xmlns:a16="http://schemas.microsoft.com/office/drawing/2014/main" id="{72354F5C-882B-D81C-E2AF-54A1A1417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7006" y="2831126"/>
                <a:ext cx="69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endParaRPr lang="en-US" sz="2000" dirty="0"/>
              </a:p>
            </p:txBody>
          </p:sp>
          <p:sp>
            <p:nvSpPr>
              <p:cNvPr id="20" name="Rectangle 35">
                <a:extLst>
                  <a:ext uri="{FF2B5EF4-FFF2-40B4-BE49-F238E27FC236}">
                    <a16:creationId xmlns:a16="http://schemas.microsoft.com/office/drawing/2014/main" id="{01B01CF9-56CF-3B65-F58C-CDD9DE6BB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4831" y="1623039"/>
                <a:ext cx="1106488" cy="673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" name="Rectangle 36">
                <a:extLst>
                  <a:ext uri="{FF2B5EF4-FFF2-40B4-BE49-F238E27FC236}">
                    <a16:creationId xmlns:a16="http://schemas.microsoft.com/office/drawing/2014/main" id="{299DEAB4-3456-5426-06E6-897E5EE487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1686539"/>
                <a:ext cx="9175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provider</a:t>
                </a:r>
                <a:endParaRPr lang="en-US" sz="2000" dirty="0"/>
              </a:p>
            </p:txBody>
          </p:sp>
          <p:sp>
            <p:nvSpPr>
              <p:cNvPr id="22" name="Rectangle 37">
                <a:extLst>
                  <a:ext uri="{FF2B5EF4-FFF2-40B4-BE49-F238E27FC236}">
                    <a16:creationId xmlns:a16="http://schemas.microsoft.com/office/drawing/2014/main" id="{1E4BFEF8-6BC5-F986-E30B-3F4E0798A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54143" y="1686539"/>
                <a:ext cx="69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endParaRPr lang="en-US" sz="2000" dirty="0"/>
              </a:p>
            </p:txBody>
          </p:sp>
          <p:sp>
            <p:nvSpPr>
              <p:cNvPr id="23" name="Rectangle 38">
                <a:extLst>
                  <a:ext uri="{FF2B5EF4-FFF2-40B4-BE49-F238E27FC236}">
                    <a16:creationId xmlns:a16="http://schemas.microsoft.com/office/drawing/2014/main" id="{C8C97C4B-0C3D-DBAF-AFF8-B8DF5682D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1831" y="1932601"/>
                <a:ext cx="88900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network</a:t>
                </a:r>
                <a:endParaRPr lang="en-US" sz="2000" dirty="0"/>
              </a:p>
            </p:txBody>
          </p:sp>
          <p:sp>
            <p:nvSpPr>
              <p:cNvPr id="24" name="Rectangle 39">
                <a:extLst>
                  <a:ext uri="{FF2B5EF4-FFF2-40B4-BE49-F238E27FC236}">
                    <a16:creationId xmlns:a16="http://schemas.microsoft.com/office/drawing/2014/main" id="{58C69268-A8A7-BE48-3D73-6F371297C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6681" y="1932601"/>
                <a:ext cx="69850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endParaRPr lang="en-US" sz="2000" dirty="0"/>
              </a:p>
            </p:txBody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47BCD39C-353C-7108-CC47-152970322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2031" y="1673839"/>
                <a:ext cx="893763" cy="574675"/>
              </a:xfrm>
              <a:custGeom>
                <a:avLst/>
                <a:gdLst>
                  <a:gd name="T0" fmla="*/ 162 w 563"/>
                  <a:gd name="T1" fmla="*/ 0 h 362"/>
                  <a:gd name="T2" fmla="*/ 132 w 563"/>
                  <a:gd name="T3" fmla="*/ 5 h 362"/>
                  <a:gd name="T4" fmla="*/ 108 w 563"/>
                  <a:gd name="T5" fmla="*/ 13 h 362"/>
                  <a:gd name="T6" fmla="*/ 81 w 563"/>
                  <a:gd name="T7" fmla="*/ 30 h 362"/>
                  <a:gd name="T8" fmla="*/ 60 w 563"/>
                  <a:gd name="T9" fmla="*/ 48 h 362"/>
                  <a:gd name="T10" fmla="*/ 35 w 563"/>
                  <a:gd name="T11" fmla="*/ 72 h 362"/>
                  <a:gd name="T12" fmla="*/ 14 w 563"/>
                  <a:gd name="T13" fmla="*/ 102 h 362"/>
                  <a:gd name="T14" fmla="*/ 3 w 563"/>
                  <a:gd name="T15" fmla="*/ 126 h 362"/>
                  <a:gd name="T16" fmla="*/ 0 w 563"/>
                  <a:gd name="T17" fmla="*/ 140 h 362"/>
                  <a:gd name="T18" fmla="*/ 0 w 563"/>
                  <a:gd name="T19" fmla="*/ 156 h 362"/>
                  <a:gd name="T20" fmla="*/ 3 w 563"/>
                  <a:gd name="T21" fmla="*/ 180 h 362"/>
                  <a:gd name="T22" fmla="*/ 17 w 563"/>
                  <a:gd name="T23" fmla="*/ 212 h 362"/>
                  <a:gd name="T24" fmla="*/ 35 w 563"/>
                  <a:gd name="T25" fmla="*/ 241 h 362"/>
                  <a:gd name="T26" fmla="*/ 60 w 563"/>
                  <a:gd name="T27" fmla="*/ 268 h 362"/>
                  <a:gd name="T28" fmla="*/ 81 w 563"/>
                  <a:gd name="T29" fmla="*/ 292 h 362"/>
                  <a:gd name="T30" fmla="*/ 103 w 563"/>
                  <a:gd name="T31" fmla="*/ 316 h 362"/>
                  <a:gd name="T32" fmla="*/ 119 w 563"/>
                  <a:gd name="T33" fmla="*/ 327 h 362"/>
                  <a:gd name="T34" fmla="*/ 135 w 563"/>
                  <a:gd name="T35" fmla="*/ 335 h 362"/>
                  <a:gd name="T36" fmla="*/ 156 w 563"/>
                  <a:gd name="T37" fmla="*/ 341 h 362"/>
                  <a:gd name="T38" fmla="*/ 183 w 563"/>
                  <a:gd name="T39" fmla="*/ 346 h 362"/>
                  <a:gd name="T40" fmla="*/ 200 w 563"/>
                  <a:gd name="T41" fmla="*/ 349 h 362"/>
                  <a:gd name="T42" fmla="*/ 240 w 563"/>
                  <a:gd name="T43" fmla="*/ 354 h 362"/>
                  <a:gd name="T44" fmla="*/ 286 w 563"/>
                  <a:gd name="T45" fmla="*/ 357 h 362"/>
                  <a:gd name="T46" fmla="*/ 334 w 563"/>
                  <a:gd name="T47" fmla="*/ 359 h 362"/>
                  <a:gd name="T48" fmla="*/ 385 w 563"/>
                  <a:gd name="T49" fmla="*/ 362 h 362"/>
                  <a:gd name="T50" fmla="*/ 434 w 563"/>
                  <a:gd name="T51" fmla="*/ 359 h 362"/>
                  <a:gd name="T52" fmla="*/ 477 w 563"/>
                  <a:gd name="T53" fmla="*/ 351 h 362"/>
                  <a:gd name="T54" fmla="*/ 504 w 563"/>
                  <a:gd name="T55" fmla="*/ 343 h 362"/>
                  <a:gd name="T56" fmla="*/ 517 w 563"/>
                  <a:gd name="T57" fmla="*/ 335 h 362"/>
                  <a:gd name="T58" fmla="*/ 528 w 563"/>
                  <a:gd name="T59" fmla="*/ 325 h 362"/>
                  <a:gd name="T60" fmla="*/ 541 w 563"/>
                  <a:gd name="T61" fmla="*/ 306 h 362"/>
                  <a:gd name="T62" fmla="*/ 555 w 563"/>
                  <a:gd name="T63" fmla="*/ 274 h 362"/>
                  <a:gd name="T64" fmla="*/ 560 w 563"/>
                  <a:gd name="T65" fmla="*/ 236 h 362"/>
                  <a:gd name="T66" fmla="*/ 563 w 563"/>
                  <a:gd name="T67" fmla="*/ 193 h 362"/>
                  <a:gd name="T68" fmla="*/ 560 w 563"/>
                  <a:gd name="T69" fmla="*/ 153 h 362"/>
                  <a:gd name="T70" fmla="*/ 557 w 563"/>
                  <a:gd name="T71" fmla="*/ 113 h 362"/>
                  <a:gd name="T72" fmla="*/ 552 w 563"/>
                  <a:gd name="T73" fmla="*/ 78 h 362"/>
                  <a:gd name="T74" fmla="*/ 547 w 563"/>
                  <a:gd name="T75" fmla="*/ 59 h 362"/>
                  <a:gd name="T76" fmla="*/ 544 w 563"/>
                  <a:gd name="T77" fmla="*/ 46 h 362"/>
                  <a:gd name="T78" fmla="*/ 539 w 563"/>
                  <a:gd name="T79" fmla="*/ 30 h 362"/>
                  <a:gd name="T80" fmla="*/ 533 w 563"/>
                  <a:gd name="T81" fmla="*/ 22 h 362"/>
                  <a:gd name="T82" fmla="*/ 522 w 563"/>
                  <a:gd name="T83" fmla="*/ 19 h 362"/>
                  <a:gd name="T84" fmla="*/ 506 w 563"/>
                  <a:gd name="T85" fmla="*/ 16 h 362"/>
                  <a:gd name="T86" fmla="*/ 479 w 563"/>
                  <a:gd name="T87" fmla="*/ 16 h 362"/>
                  <a:gd name="T88" fmla="*/ 466 w 563"/>
                  <a:gd name="T89" fmla="*/ 13 h 362"/>
                  <a:gd name="T90" fmla="*/ 450 w 563"/>
                  <a:gd name="T91" fmla="*/ 11 h 362"/>
                  <a:gd name="T92" fmla="*/ 409 w 563"/>
                  <a:gd name="T93" fmla="*/ 11 h 362"/>
                  <a:gd name="T94" fmla="*/ 364 w 563"/>
                  <a:gd name="T95" fmla="*/ 13 h 362"/>
                  <a:gd name="T96" fmla="*/ 321 w 563"/>
                  <a:gd name="T97" fmla="*/ 13 h 362"/>
                  <a:gd name="T98" fmla="*/ 283 w 563"/>
                  <a:gd name="T99" fmla="*/ 11 h 362"/>
                  <a:gd name="T100" fmla="*/ 248 w 563"/>
                  <a:gd name="T101" fmla="*/ 5 h 362"/>
                  <a:gd name="T102" fmla="*/ 213 w 563"/>
                  <a:gd name="T103" fmla="*/ 0 h 362"/>
                  <a:gd name="T104" fmla="*/ 186 w 563"/>
                  <a:gd name="T105" fmla="*/ 0 h 362"/>
                  <a:gd name="T106" fmla="*/ 175 w 563"/>
                  <a:gd name="T107" fmla="*/ 0 h 362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563"/>
                  <a:gd name="T163" fmla="*/ 0 h 362"/>
                  <a:gd name="T164" fmla="*/ 563 w 563"/>
                  <a:gd name="T165" fmla="*/ 362 h 362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563" h="362">
                    <a:moveTo>
                      <a:pt x="175" y="0"/>
                    </a:moveTo>
                    <a:lnTo>
                      <a:pt x="162" y="0"/>
                    </a:lnTo>
                    <a:lnTo>
                      <a:pt x="148" y="3"/>
                    </a:lnTo>
                    <a:lnTo>
                      <a:pt x="132" y="5"/>
                    </a:lnTo>
                    <a:lnTo>
                      <a:pt x="119" y="11"/>
                    </a:lnTo>
                    <a:lnTo>
                      <a:pt x="108" y="13"/>
                    </a:lnTo>
                    <a:lnTo>
                      <a:pt x="95" y="22"/>
                    </a:lnTo>
                    <a:lnTo>
                      <a:pt x="81" y="30"/>
                    </a:lnTo>
                    <a:lnTo>
                      <a:pt x="70" y="38"/>
                    </a:lnTo>
                    <a:lnTo>
                      <a:pt x="60" y="48"/>
                    </a:lnTo>
                    <a:lnTo>
                      <a:pt x="46" y="59"/>
                    </a:lnTo>
                    <a:lnTo>
                      <a:pt x="35" y="72"/>
                    </a:lnTo>
                    <a:lnTo>
                      <a:pt x="25" y="89"/>
                    </a:lnTo>
                    <a:lnTo>
                      <a:pt x="14" y="102"/>
                    </a:lnTo>
                    <a:lnTo>
                      <a:pt x="8" y="118"/>
                    </a:lnTo>
                    <a:lnTo>
                      <a:pt x="3" y="126"/>
                    </a:lnTo>
                    <a:lnTo>
                      <a:pt x="3" y="134"/>
                    </a:lnTo>
                    <a:lnTo>
                      <a:pt x="0" y="140"/>
                    </a:lnTo>
                    <a:lnTo>
                      <a:pt x="0" y="148"/>
                    </a:lnTo>
                    <a:lnTo>
                      <a:pt x="0" y="156"/>
                    </a:lnTo>
                    <a:lnTo>
                      <a:pt x="0" y="164"/>
                    </a:lnTo>
                    <a:lnTo>
                      <a:pt x="3" y="180"/>
                    </a:lnTo>
                    <a:lnTo>
                      <a:pt x="8" y="196"/>
                    </a:lnTo>
                    <a:lnTo>
                      <a:pt x="17" y="212"/>
                    </a:lnTo>
                    <a:lnTo>
                      <a:pt x="27" y="225"/>
                    </a:lnTo>
                    <a:lnTo>
                      <a:pt x="35" y="241"/>
                    </a:lnTo>
                    <a:lnTo>
                      <a:pt x="49" y="255"/>
                    </a:lnTo>
                    <a:lnTo>
                      <a:pt x="60" y="268"/>
                    </a:lnTo>
                    <a:lnTo>
                      <a:pt x="70" y="282"/>
                    </a:lnTo>
                    <a:lnTo>
                      <a:pt x="81" y="292"/>
                    </a:lnTo>
                    <a:lnTo>
                      <a:pt x="92" y="306"/>
                    </a:lnTo>
                    <a:lnTo>
                      <a:pt x="103" y="316"/>
                    </a:lnTo>
                    <a:lnTo>
                      <a:pt x="111" y="322"/>
                    </a:lnTo>
                    <a:lnTo>
                      <a:pt x="119" y="327"/>
                    </a:lnTo>
                    <a:lnTo>
                      <a:pt x="127" y="330"/>
                    </a:lnTo>
                    <a:lnTo>
                      <a:pt x="135" y="335"/>
                    </a:lnTo>
                    <a:lnTo>
                      <a:pt x="146" y="338"/>
                    </a:lnTo>
                    <a:lnTo>
                      <a:pt x="156" y="341"/>
                    </a:lnTo>
                    <a:lnTo>
                      <a:pt x="170" y="343"/>
                    </a:lnTo>
                    <a:lnTo>
                      <a:pt x="183" y="346"/>
                    </a:lnTo>
                    <a:lnTo>
                      <a:pt x="191" y="346"/>
                    </a:lnTo>
                    <a:lnTo>
                      <a:pt x="200" y="349"/>
                    </a:lnTo>
                    <a:lnTo>
                      <a:pt x="218" y="351"/>
                    </a:lnTo>
                    <a:lnTo>
                      <a:pt x="240" y="354"/>
                    </a:lnTo>
                    <a:lnTo>
                      <a:pt x="261" y="354"/>
                    </a:lnTo>
                    <a:lnTo>
                      <a:pt x="286" y="357"/>
                    </a:lnTo>
                    <a:lnTo>
                      <a:pt x="310" y="359"/>
                    </a:lnTo>
                    <a:lnTo>
                      <a:pt x="334" y="359"/>
                    </a:lnTo>
                    <a:lnTo>
                      <a:pt x="361" y="362"/>
                    </a:lnTo>
                    <a:lnTo>
                      <a:pt x="385" y="362"/>
                    </a:lnTo>
                    <a:lnTo>
                      <a:pt x="409" y="359"/>
                    </a:lnTo>
                    <a:lnTo>
                      <a:pt x="434" y="359"/>
                    </a:lnTo>
                    <a:lnTo>
                      <a:pt x="455" y="357"/>
                    </a:lnTo>
                    <a:lnTo>
                      <a:pt x="477" y="351"/>
                    </a:lnTo>
                    <a:lnTo>
                      <a:pt x="493" y="346"/>
                    </a:lnTo>
                    <a:lnTo>
                      <a:pt x="504" y="343"/>
                    </a:lnTo>
                    <a:lnTo>
                      <a:pt x="509" y="338"/>
                    </a:lnTo>
                    <a:lnTo>
                      <a:pt x="517" y="335"/>
                    </a:lnTo>
                    <a:lnTo>
                      <a:pt x="522" y="330"/>
                    </a:lnTo>
                    <a:lnTo>
                      <a:pt x="528" y="325"/>
                    </a:lnTo>
                    <a:lnTo>
                      <a:pt x="533" y="319"/>
                    </a:lnTo>
                    <a:lnTo>
                      <a:pt x="541" y="306"/>
                    </a:lnTo>
                    <a:lnTo>
                      <a:pt x="549" y="292"/>
                    </a:lnTo>
                    <a:lnTo>
                      <a:pt x="555" y="274"/>
                    </a:lnTo>
                    <a:lnTo>
                      <a:pt x="557" y="255"/>
                    </a:lnTo>
                    <a:lnTo>
                      <a:pt x="560" y="236"/>
                    </a:lnTo>
                    <a:lnTo>
                      <a:pt x="563" y="215"/>
                    </a:lnTo>
                    <a:lnTo>
                      <a:pt x="563" y="193"/>
                    </a:lnTo>
                    <a:lnTo>
                      <a:pt x="560" y="172"/>
                    </a:lnTo>
                    <a:lnTo>
                      <a:pt x="560" y="153"/>
                    </a:lnTo>
                    <a:lnTo>
                      <a:pt x="557" y="131"/>
                    </a:lnTo>
                    <a:lnTo>
                      <a:pt x="557" y="113"/>
                    </a:lnTo>
                    <a:lnTo>
                      <a:pt x="555" y="94"/>
                    </a:lnTo>
                    <a:lnTo>
                      <a:pt x="552" y="78"/>
                    </a:lnTo>
                    <a:lnTo>
                      <a:pt x="549" y="64"/>
                    </a:lnTo>
                    <a:lnTo>
                      <a:pt x="547" y="59"/>
                    </a:lnTo>
                    <a:lnTo>
                      <a:pt x="547" y="54"/>
                    </a:lnTo>
                    <a:lnTo>
                      <a:pt x="544" y="46"/>
                    </a:lnTo>
                    <a:lnTo>
                      <a:pt x="541" y="38"/>
                    </a:lnTo>
                    <a:lnTo>
                      <a:pt x="539" y="30"/>
                    </a:lnTo>
                    <a:lnTo>
                      <a:pt x="536" y="27"/>
                    </a:lnTo>
                    <a:lnTo>
                      <a:pt x="533" y="22"/>
                    </a:lnTo>
                    <a:lnTo>
                      <a:pt x="528" y="19"/>
                    </a:lnTo>
                    <a:lnTo>
                      <a:pt x="522" y="19"/>
                    </a:lnTo>
                    <a:lnTo>
                      <a:pt x="520" y="16"/>
                    </a:lnTo>
                    <a:lnTo>
                      <a:pt x="506" y="16"/>
                    </a:lnTo>
                    <a:lnTo>
                      <a:pt x="495" y="16"/>
                    </a:lnTo>
                    <a:lnTo>
                      <a:pt x="479" y="16"/>
                    </a:lnTo>
                    <a:lnTo>
                      <a:pt x="474" y="13"/>
                    </a:lnTo>
                    <a:lnTo>
                      <a:pt x="466" y="13"/>
                    </a:lnTo>
                    <a:lnTo>
                      <a:pt x="458" y="13"/>
                    </a:lnTo>
                    <a:lnTo>
                      <a:pt x="450" y="11"/>
                    </a:lnTo>
                    <a:lnTo>
                      <a:pt x="431" y="11"/>
                    </a:lnTo>
                    <a:lnTo>
                      <a:pt x="409" y="11"/>
                    </a:lnTo>
                    <a:lnTo>
                      <a:pt x="388" y="13"/>
                    </a:lnTo>
                    <a:lnTo>
                      <a:pt x="364" y="13"/>
                    </a:lnTo>
                    <a:lnTo>
                      <a:pt x="342" y="13"/>
                    </a:lnTo>
                    <a:lnTo>
                      <a:pt x="321" y="13"/>
                    </a:lnTo>
                    <a:lnTo>
                      <a:pt x="302" y="13"/>
                    </a:lnTo>
                    <a:lnTo>
                      <a:pt x="283" y="11"/>
                    </a:lnTo>
                    <a:lnTo>
                      <a:pt x="264" y="11"/>
                    </a:lnTo>
                    <a:lnTo>
                      <a:pt x="248" y="5"/>
                    </a:lnTo>
                    <a:lnTo>
                      <a:pt x="229" y="3"/>
                    </a:lnTo>
                    <a:lnTo>
                      <a:pt x="213" y="0"/>
                    </a:lnTo>
                    <a:lnTo>
                      <a:pt x="200" y="0"/>
                    </a:lnTo>
                    <a:lnTo>
                      <a:pt x="186" y="0"/>
                    </a:lnTo>
                    <a:lnTo>
                      <a:pt x="181" y="0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" name="Freeform 41">
                <a:extLst>
                  <a:ext uri="{FF2B5EF4-FFF2-40B4-BE49-F238E27FC236}">
                    <a16:creationId xmlns:a16="http://schemas.microsoft.com/office/drawing/2014/main" id="{25CAF82D-119A-DA72-A0D7-6507EA52F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2093" y="2631101"/>
                <a:ext cx="346075" cy="336550"/>
              </a:xfrm>
              <a:custGeom>
                <a:avLst/>
                <a:gdLst>
                  <a:gd name="T0" fmla="*/ 100 w 218"/>
                  <a:gd name="T1" fmla="*/ 0 h 212"/>
                  <a:gd name="T2" fmla="*/ 78 w 218"/>
                  <a:gd name="T3" fmla="*/ 6 h 212"/>
                  <a:gd name="T4" fmla="*/ 57 w 218"/>
                  <a:gd name="T5" fmla="*/ 14 h 212"/>
                  <a:gd name="T6" fmla="*/ 41 w 218"/>
                  <a:gd name="T7" fmla="*/ 25 h 212"/>
                  <a:gd name="T8" fmla="*/ 24 w 218"/>
                  <a:gd name="T9" fmla="*/ 38 h 212"/>
                  <a:gd name="T10" fmla="*/ 14 w 218"/>
                  <a:gd name="T11" fmla="*/ 57 h 212"/>
                  <a:gd name="T12" fmla="*/ 6 w 218"/>
                  <a:gd name="T13" fmla="*/ 76 h 212"/>
                  <a:gd name="T14" fmla="*/ 0 w 218"/>
                  <a:gd name="T15" fmla="*/ 94 h 212"/>
                  <a:gd name="T16" fmla="*/ 0 w 218"/>
                  <a:gd name="T17" fmla="*/ 116 h 212"/>
                  <a:gd name="T18" fmla="*/ 6 w 218"/>
                  <a:gd name="T19" fmla="*/ 137 h 212"/>
                  <a:gd name="T20" fmla="*/ 14 w 218"/>
                  <a:gd name="T21" fmla="*/ 156 h 212"/>
                  <a:gd name="T22" fmla="*/ 24 w 218"/>
                  <a:gd name="T23" fmla="*/ 172 h 212"/>
                  <a:gd name="T24" fmla="*/ 41 w 218"/>
                  <a:gd name="T25" fmla="*/ 188 h 212"/>
                  <a:gd name="T26" fmla="*/ 57 w 218"/>
                  <a:gd name="T27" fmla="*/ 199 h 212"/>
                  <a:gd name="T28" fmla="*/ 78 w 218"/>
                  <a:gd name="T29" fmla="*/ 207 h 212"/>
                  <a:gd name="T30" fmla="*/ 100 w 218"/>
                  <a:gd name="T31" fmla="*/ 212 h 212"/>
                  <a:gd name="T32" fmla="*/ 121 w 218"/>
                  <a:gd name="T33" fmla="*/ 212 h 212"/>
                  <a:gd name="T34" fmla="*/ 143 w 218"/>
                  <a:gd name="T35" fmla="*/ 207 h 212"/>
                  <a:gd name="T36" fmla="*/ 162 w 218"/>
                  <a:gd name="T37" fmla="*/ 199 h 212"/>
                  <a:gd name="T38" fmla="*/ 178 w 218"/>
                  <a:gd name="T39" fmla="*/ 188 h 212"/>
                  <a:gd name="T40" fmla="*/ 194 w 218"/>
                  <a:gd name="T41" fmla="*/ 172 h 212"/>
                  <a:gd name="T42" fmla="*/ 205 w 218"/>
                  <a:gd name="T43" fmla="*/ 156 h 212"/>
                  <a:gd name="T44" fmla="*/ 213 w 218"/>
                  <a:gd name="T45" fmla="*/ 137 h 212"/>
                  <a:gd name="T46" fmla="*/ 218 w 218"/>
                  <a:gd name="T47" fmla="*/ 116 h 212"/>
                  <a:gd name="T48" fmla="*/ 218 w 218"/>
                  <a:gd name="T49" fmla="*/ 94 h 212"/>
                  <a:gd name="T50" fmla="*/ 213 w 218"/>
                  <a:gd name="T51" fmla="*/ 76 h 212"/>
                  <a:gd name="T52" fmla="*/ 205 w 218"/>
                  <a:gd name="T53" fmla="*/ 57 h 212"/>
                  <a:gd name="T54" fmla="*/ 194 w 218"/>
                  <a:gd name="T55" fmla="*/ 38 h 212"/>
                  <a:gd name="T56" fmla="*/ 178 w 218"/>
                  <a:gd name="T57" fmla="*/ 25 h 212"/>
                  <a:gd name="T58" fmla="*/ 162 w 218"/>
                  <a:gd name="T59" fmla="*/ 14 h 212"/>
                  <a:gd name="T60" fmla="*/ 143 w 218"/>
                  <a:gd name="T61" fmla="*/ 6 h 212"/>
                  <a:gd name="T62" fmla="*/ 121 w 218"/>
                  <a:gd name="T63" fmla="*/ 0 h 2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18"/>
                  <a:gd name="T97" fmla="*/ 0 h 212"/>
                  <a:gd name="T98" fmla="*/ 218 w 218"/>
                  <a:gd name="T99" fmla="*/ 212 h 2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18" h="212">
                    <a:moveTo>
                      <a:pt x="111" y="0"/>
                    </a:moveTo>
                    <a:lnTo>
                      <a:pt x="100" y="0"/>
                    </a:lnTo>
                    <a:lnTo>
                      <a:pt x="89" y="3"/>
                    </a:lnTo>
                    <a:lnTo>
                      <a:pt x="78" y="6"/>
                    </a:lnTo>
                    <a:lnTo>
                      <a:pt x="67" y="8"/>
                    </a:lnTo>
                    <a:lnTo>
                      <a:pt x="57" y="14"/>
                    </a:lnTo>
                    <a:lnTo>
                      <a:pt x="49" y="19"/>
                    </a:lnTo>
                    <a:lnTo>
                      <a:pt x="41" y="25"/>
                    </a:lnTo>
                    <a:lnTo>
                      <a:pt x="33" y="33"/>
                    </a:lnTo>
                    <a:lnTo>
                      <a:pt x="24" y="38"/>
                    </a:lnTo>
                    <a:lnTo>
                      <a:pt x="19" y="46"/>
                    </a:lnTo>
                    <a:lnTo>
                      <a:pt x="14" y="57"/>
                    </a:lnTo>
                    <a:lnTo>
                      <a:pt x="8" y="65"/>
                    </a:lnTo>
                    <a:lnTo>
                      <a:pt x="6" y="76"/>
                    </a:lnTo>
                    <a:lnTo>
                      <a:pt x="3" y="84"/>
                    </a:lnTo>
                    <a:lnTo>
                      <a:pt x="0" y="94"/>
                    </a:lnTo>
                    <a:lnTo>
                      <a:pt x="0" y="105"/>
                    </a:lnTo>
                    <a:lnTo>
                      <a:pt x="0" y="116"/>
                    </a:lnTo>
                    <a:lnTo>
                      <a:pt x="3" y="126"/>
                    </a:lnTo>
                    <a:lnTo>
                      <a:pt x="6" y="137"/>
                    </a:lnTo>
                    <a:lnTo>
                      <a:pt x="8" y="148"/>
                    </a:lnTo>
                    <a:lnTo>
                      <a:pt x="14" y="156"/>
                    </a:lnTo>
                    <a:lnTo>
                      <a:pt x="19" y="164"/>
                    </a:lnTo>
                    <a:lnTo>
                      <a:pt x="24" y="172"/>
                    </a:lnTo>
                    <a:lnTo>
                      <a:pt x="33" y="180"/>
                    </a:lnTo>
                    <a:lnTo>
                      <a:pt x="41" y="188"/>
                    </a:lnTo>
                    <a:lnTo>
                      <a:pt x="49" y="193"/>
                    </a:lnTo>
                    <a:lnTo>
                      <a:pt x="57" y="199"/>
                    </a:lnTo>
                    <a:lnTo>
                      <a:pt x="67" y="204"/>
                    </a:lnTo>
                    <a:lnTo>
                      <a:pt x="78" y="207"/>
                    </a:lnTo>
                    <a:lnTo>
                      <a:pt x="89" y="210"/>
                    </a:lnTo>
                    <a:lnTo>
                      <a:pt x="100" y="212"/>
                    </a:lnTo>
                    <a:lnTo>
                      <a:pt x="111" y="212"/>
                    </a:lnTo>
                    <a:lnTo>
                      <a:pt x="121" y="212"/>
                    </a:lnTo>
                    <a:lnTo>
                      <a:pt x="132" y="210"/>
                    </a:lnTo>
                    <a:lnTo>
                      <a:pt x="143" y="207"/>
                    </a:lnTo>
                    <a:lnTo>
                      <a:pt x="154" y="204"/>
                    </a:lnTo>
                    <a:lnTo>
                      <a:pt x="162" y="199"/>
                    </a:lnTo>
                    <a:lnTo>
                      <a:pt x="170" y="193"/>
                    </a:lnTo>
                    <a:lnTo>
                      <a:pt x="178" y="188"/>
                    </a:lnTo>
                    <a:lnTo>
                      <a:pt x="186" y="180"/>
                    </a:lnTo>
                    <a:lnTo>
                      <a:pt x="194" y="172"/>
                    </a:lnTo>
                    <a:lnTo>
                      <a:pt x="199" y="164"/>
                    </a:lnTo>
                    <a:lnTo>
                      <a:pt x="205" y="156"/>
                    </a:lnTo>
                    <a:lnTo>
                      <a:pt x="210" y="148"/>
                    </a:lnTo>
                    <a:lnTo>
                      <a:pt x="213" y="137"/>
                    </a:lnTo>
                    <a:lnTo>
                      <a:pt x="215" y="126"/>
                    </a:lnTo>
                    <a:lnTo>
                      <a:pt x="218" y="116"/>
                    </a:lnTo>
                    <a:lnTo>
                      <a:pt x="218" y="105"/>
                    </a:lnTo>
                    <a:lnTo>
                      <a:pt x="218" y="94"/>
                    </a:lnTo>
                    <a:lnTo>
                      <a:pt x="215" y="84"/>
                    </a:lnTo>
                    <a:lnTo>
                      <a:pt x="213" y="76"/>
                    </a:lnTo>
                    <a:lnTo>
                      <a:pt x="210" y="65"/>
                    </a:lnTo>
                    <a:lnTo>
                      <a:pt x="205" y="57"/>
                    </a:lnTo>
                    <a:lnTo>
                      <a:pt x="199" y="46"/>
                    </a:lnTo>
                    <a:lnTo>
                      <a:pt x="194" y="38"/>
                    </a:lnTo>
                    <a:lnTo>
                      <a:pt x="186" y="33"/>
                    </a:lnTo>
                    <a:lnTo>
                      <a:pt x="178" y="25"/>
                    </a:lnTo>
                    <a:lnTo>
                      <a:pt x="170" y="19"/>
                    </a:lnTo>
                    <a:lnTo>
                      <a:pt x="162" y="14"/>
                    </a:lnTo>
                    <a:lnTo>
                      <a:pt x="154" y="8"/>
                    </a:lnTo>
                    <a:lnTo>
                      <a:pt x="143" y="6"/>
                    </a:lnTo>
                    <a:lnTo>
                      <a:pt x="132" y="3"/>
                    </a:lnTo>
                    <a:lnTo>
                      <a:pt x="121" y="0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27" name="Straight Connector 3">
              <a:extLst>
                <a:ext uri="{FF2B5EF4-FFF2-40B4-BE49-F238E27FC236}">
                  <a16:creationId xmlns:a16="http://schemas.microsoft.com/office/drawing/2014/main" id="{45D47D27-8E6D-67FE-E848-1A8180F0A7F1}"/>
                </a:ext>
              </a:extLst>
            </p:cNvPr>
            <p:cNvCxnSpPr/>
            <p:nvPr/>
          </p:nvCxnSpPr>
          <p:spPr>
            <a:xfrm flipH="1">
              <a:off x="2324577" y="5440107"/>
              <a:ext cx="618565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AAA7E5C8-F219-4FC0-A414-063E9EF33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310" y="5252052"/>
              <a:ext cx="346075" cy="341313"/>
            </a:xfrm>
            <a:custGeom>
              <a:avLst/>
              <a:gdLst>
                <a:gd name="T0" fmla="*/ 99 w 218"/>
                <a:gd name="T1" fmla="*/ 0 h 215"/>
                <a:gd name="T2" fmla="*/ 78 w 218"/>
                <a:gd name="T3" fmla="*/ 6 h 215"/>
                <a:gd name="T4" fmla="*/ 56 w 218"/>
                <a:gd name="T5" fmla="*/ 14 h 215"/>
                <a:gd name="T6" fmla="*/ 40 w 218"/>
                <a:gd name="T7" fmla="*/ 25 h 215"/>
                <a:gd name="T8" fmla="*/ 24 w 218"/>
                <a:gd name="T9" fmla="*/ 41 h 215"/>
                <a:gd name="T10" fmla="*/ 13 w 218"/>
                <a:gd name="T11" fmla="*/ 57 h 215"/>
                <a:gd name="T12" fmla="*/ 5 w 218"/>
                <a:gd name="T13" fmla="*/ 76 h 215"/>
                <a:gd name="T14" fmla="*/ 0 w 218"/>
                <a:gd name="T15" fmla="*/ 97 h 215"/>
                <a:gd name="T16" fmla="*/ 0 w 218"/>
                <a:gd name="T17" fmla="*/ 118 h 215"/>
                <a:gd name="T18" fmla="*/ 5 w 218"/>
                <a:gd name="T19" fmla="*/ 140 h 215"/>
                <a:gd name="T20" fmla="*/ 13 w 218"/>
                <a:gd name="T21" fmla="*/ 159 h 215"/>
                <a:gd name="T22" fmla="*/ 24 w 218"/>
                <a:gd name="T23" fmla="*/ 175 h 215"/>
                <a:gd name="T24" fmla="*/ 40 w 218"/>
                <a:gd name="T25" fmla="*/ 191 h 215"/>
                <a:gd name="T26" fmla="*/ 56 w 218"/>
                <a:gd name="T27" fmla="*/ 202 h 215"/>
                <a:gd name="T28" fmla="*/ 78 w 218"/>
                <a:gd name="T29" fmla="*/ 210 h 215"/>
                <a:gd name="T30" fmla="*/ 99 w 218"/>
                <a:gd name="T31" fmla="*/ 215 h 215"/>
                <a:gd name="T32" fmla="*/ 121 w 218"/>
                <a:gd name="T33" fmla="*/ 215 h 215"/>
                <a:gd name="T34" fmla="*/ 142 w 218"/>
                <a:gd name="T35" fmla="*/ 210 h 215"/>
                <a:gd name="T36" fmla="*/ 161 w 218"/>
                <a:gd name="T37" fmla="*/ 202 h 215"/>
                <a:gd name="T38" fmla="*/ 177 w 218"/>
                <a:gd name="T39" fmla="*/ 191 h 215"/>
                <a:gd name="T40" fmla="*/ 193 w 218"/>
                <a:gd name="T41" fmla="*/ 175 h 215"/>
                <a:gd name="T42" fmla="*/ 204 w 218"/>
                <a:gd name="T43" fmla="*/ 159 h 215"/>
                <a:gd name="T44" fmla="*/ 212 w 218"/>
                <a:gd name="T45" fmla="*/ 140 h 215"/>
                <a:gd name="T46" fmla="*/ 218 w 218"/>
                <a:gd name="T47" fmla="*/ 118 h 215"/>
                <a:gd name="T48" fmla="*/ 218 w 218"/>
                <a:gd name="T49" fmla="*/ 97 h 215"/>
                <a:gd name="T50" fmla="*/ 212 w 218"/>
                <a:gd name="T51" fmla="*/ 76 h 215"/>
                <a:gd name="T52" fmla="*/ 204 w 218"/>
                <a:gd name="T53" fmla="*/ 57 h 215"/>
                <a:gd name="T54" fmla="*/ 193 w 218"/>
                <a:gd name="T55" fmla="*/ 41 h 215"/>
                <a:gd name="T56" fmla="*/ 177 w 218"/>
                <a:gd name="T57" fmla="*/ 25 h 215"/>
                <a:gd name="T58" fmla="*/ 161 w 218"/>
                <a:gd name="T59" fmla="*/ 14 h 215"/>
                <a:gd name="T60" fmla="*/ 142 w 218"/>
                <a:gd name="T61" fmla="*/ 6 h 215"/>
                <a:gd name="T62" fmla="*/ 121 w 218"/>
                <a:gd name="T63" fmla="*/ 0 h 21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5"/>
                <a:gd name="T98" fmla="*/ 218 w 218"/>
                <a:gd name="T99" fmla="*/ 215 h 21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5">
                  <a:moveTo>
                    <a:pt x="110" y="0"/>
                  </a:moveTo>
                  <a:lnTo>
                    <a:pt x="99" y="0"/>
                  </a:lnTo>
                  <a:lnTo>
                    <a:pt x="88" y="3"/>
                  </a:lnTo>
                  <a:lnTo>
                    <a:pt x="78" y="6"/>
                  </a:lnTo>
                  <a:lnTo>
                    <a:pt x="67" y="9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5"/>
                  </a:lnTo>
                  <a:lnTo>
                    <a:pt x="32" y="33"/>
                  </a:lnTo>
                  <a:lnTo>
                    <a:pt x="24" y="41"/>
                  </a:lnTo>
                  <a:lnTo>
                    <a:pt x="18" y="49"/>
                  </a:lnTo>
                  <a:lnTo>
                    <a:pt x="13" y="57"/>
                  </a:lnTo>
                  <a:lnTo>
                    <a:pt x="8" y="65"/>
                  </a:lnTo>
                  <a:lnTo>
                    <a:pt x="5" y="76"/>
                  </a:lnTo>
                  <a:lnTo>
                    <a:pt x="2" y="86"/>
                  </a:lnTo>
                  <a:lnTo>
                    <a:pt x="0" y="97"/>
                  </a:lnTo>
                  <a:lnTo>
                    <a:pt x="0" y="108"/>
                  </a:lnTo>
                  <a:lnTo>
                    <a:pt x="0" y="118"/>
                  </a:lnTo>
                  <a:lnTo>
                    <a:pt x="2" y="129"/>
                  </a:lnTo>
                  <a:lnTo>
                    <a:pt x="5" y="140"/>
                  </a:lnTo>
                  <a:lnTo>
                    <a:pt x="8" y="151"/>
                  </a:lnTo>
                  <a:lnTo>
                    <a:pt x="13" y="159"/>
                  </a:lnTo>
                  <a:lnTo>
                    <a:pt x="18" y="167"/>
                  </a:lnTo>
                  <a:lnTo>
                    <a:pt x="24" y="175"/>
                  </a:lnTo>
                  <a:lnTo>
                    <a:pt x="32" y="183"/>
                  </a:lnTo>
                  <a:lnTo>
                    <a:pt x="40" y="191"/>
                  </a:lnTo>
                  <a:lnTo>
                    <a:pt x="48" y="196"/>
                  </a:lnTo>
                  <a:lnTo>
                    <a:pt x="56" y="202"/>
                  </a:lnTo>
                  <a:lnTo>
                    <a:pt x="67" y="207"/>
                  </a:lnTo>
                  <a:lnTo>
                    <a:pt x="78" y="210"/>
                  </a:lnTo>
                  <a:lnTo>
                    <a:pt x="88" y="212"/>
                  </a:lnTo>
                  <a:lnTo>
                    <a:pt x="99" y="215"/>
                  </a:lnTo>
                  <a:lnTo>
                    <a:pt x="110" y="215"/>
                  </a:lnTo>
                  <a:lnTo>
                    <a:pt x="121" y="215"/>
                  </a:lnTo>
                  <a:lnTo>
                    <a:pt x="131" y="212"/>
                  </a:lnTo>
                  <a:lnTo>
                    <a:pt x="142" y="210"/>
                  </a:lnTo>
                  <a:lnTo>
                    <a:pt x="153" y="207"/>
                  </a:lnTo>
                  <a:lnTo>
                    <a:pt x="161" y="202"/>
                  </a:lnTo>
                  <a:lnTo>
                    <a:pt x="169" y="196"/>
                  </a:lnTo>
                  <a:lnTo>
                    <a:pt x="177" y="191"/>
                  </a:lnTo>
                  <a:lnTo>
                    <a:pt x="185" y="183"/>
                  </a:lnTo>
                  <a:lnTo>
                    <a:pt x="193" y="175"/>
                  </a:lnTo>
                  <a:lnTo>
                    <a:pt x="199" y="167"/>
                  </a:lnTo>
                  <a:lnTo>
                    <a:pt x="204" y="159"/>
                  </a:lnTo>
                  <a:lnTo>
                    <a:pt x="209" y="151"/>
                  </a:lnTo>
                  <a:lnTo>
                    <a:pt x="212" y="140"/>
                  </a:lnTo>
                  <a:lnTo>
                    <a:pt x="215" y="129"/>
                  </a:lnTo>
                  <a:lnTo>
                    <a:pt x="218" y="118"/>
                  </a:lnTo>
                  <a:lnTo>
                    <a:pt x="218" y="108"/>
                  </a:lnTo>
                  <a:lnTo>
                    <a:pt x="218" y="97"/>
                  </a:lnTo>
                  <a:lnTo>
                    <a:pt x="215" y="86"/>
                  </a:lnTo>
                  <a:lnTo>
                    <a:pt x="212" y="76"/>
                  </a:lnTo>
                  <a:lnTo>
                    <a:pt x="209" y="65"/>
                  </a:lnTo>
                  <a:lnTo>
                    <a:pt x="204" y="57"/>
                  </a:lnTo>
                  <a:lnTo>
                    <a:pt x="199" y="49"/>
                  </a:lnTo>
                  <a:lnTo>
                    <a:pt x="193" y="41"/>
                  </a:lnTo>
                  <a:lnTo>
                    <a:pt x="185" y="33"/>
                  </a:lnTo>
                  <a:lnTo>
                    <a:pt x="177" y="25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3" y="9"/>
                  </a:lnTo>
                  <a:lnTo>
                    <a:pt x="142" y="6"/>
                  </a:lnTo>
                  <a:lnTo>
                    <a:pt x="131" y="3"/>
                  </a:lnTo>
                  <a:lnTo>
                    <a:pt x="121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D3732C62-E0BB-B844-79D8-8DCCDF103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791" y="5217219"/>
              <a:ext cx="2292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w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D4040C3-04A2-18DC-178E-C8A46E340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535" y="5291739"/>
              <a:ext cx="49213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grpSp>
          <p:nvGrpSpPr>
            <p:cNvPr id="31" name="Group 1">
              <a:extLst>
                <a:ext uri="{FF2B5EF4-FFF2-40B4-BE49-F238E27FC236}">
                  <a16:creationId xmlns:a16="http://schemas.microsoft.com/office/drawing/2014/main" id="{A3B8F390-3171-2992-46F8-B79EF71C47DA}"/>
                </a:ext>
              </a:extLst>
            </p:cNvPr>
            <p:cNvGrpSpPr/>
            <p:nvPr/>
          </p:nvGrpSpPr>
          <p:grpSpPr>
            <a:xfrm>
              <a:off x="2867760" y="5198543"/>
              <a:ext cx="892175" cy="579438"/>
              <a:chOff x="2950206" y="1990648"/>
              <a:chExt cx="892175" cy="579438"/>
            </a:xfrm>
          </p:grpSpPr>
          <p:sp>
            <p:nvSpPr>
              <p:cNvPr id="32" name="Freeform 8">
                <a:extLst>
                  <a:ext uri="{FF2B5EF4-FFF2-40B4-BE49-F238E27FC236}">
                    <a16:creationId xmlns:a16="http://schemas.microsoft.com/office/drawing/2014/main" id="{D044BCB3-649D-4E29-B91D-2D39ADF66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206" y="1990648"/>
                <a:ext cx="892175" cy="579438"/>
              </a:xfrm>
              <a:custGeom>
                <a:avLst/>
                <a:gdLst>
                  <a:gd name="T0" fmla="*/ 148 w 562"/>
                  <a:gd name="T1" fmla="*/ 5 h 365"/>
                  <a:gd name="T2" fmla="*/ 121 w 562"/>
                  <a:gd name="T3" fmla="*/ 11 h 365"/>
                  <a:gd name="T4" fmla="*/ 94 w 562"/>
                  <a:gd name="T5" fmla="*/ 21 h 365"/>
                  <a:gd name="T6" fmla="*/ 70 w 562"/>
                  <a:gd name="T7" fmla="*/ 37 h 365"/>
                  <a:gd name="T8" fmla="*/ 46 w 562"/>
                  <a:gd name="T9" fmla="*/ 62 h 365"/>
                  <a:gd name="T10" fmla="*/ 24 w 562"/>
                  <a:gd name="T11" fmla="*/ 91 h 365"/>
                  <a:gd name="T12" fmla="*/ 8 w 562"/>
                  <a:gd name="T13" fmla="*/ 121 h 365"/>
                  <a:gd name="T14" fmla="*/ 3 w 562"/>
                  <a:gd name="T15" fmla="*/ 137 h 365"/>
                  <a:gd name="T16" fmla="*/ 0 w 562"/>
                  <a:gd name="T17" fmla="*/ 150 h 365"/>
                  <a:gd name="T18" fmla="*/ 0 w 562"/>
                  <a:gd name="T19" fmla="*/ 166 h 365"/>
                  <a:gd name="T20" fmla="*/ 3 w 562"/>
                  <a:gd name="T21" fmla="*/ 182 h 365"/>
                  <a:gd name="T22" fmla="*/ 19 w 562"/>
                  <a:gd name="T23" fmla="*/ 212 h 365"/>
                  <a:gd name="T24" fmla="*/ 38 w 562"/>
                  <a:gd name="T25" fmla="*/ 244 h 365"/>
                  <a:gd name="T26" fmla="*/ 59 w 562"/>
                  <a:gd name="T27" fmla="*/ 271 h 365"/>
                  <a:gd name="T28" fmla="*/ 81 w 562"/>
                  <a:gd name="T29" fmla="*/ 295 h 365"/>
                  <a:gd name="T30" fmla="*/ 105 w 562"/>
                  <a:gd name="T31" fmla="*/ 319 h 365"/>
                  <a:gd name="T32" fmla="*/ 119 w 562"/>
                  <a:gd name="T33" fmla="*/ 327 h 365"/>
                  <a:gd name="T34" fmla="*/ 137 w 562"/>
                  <a:gd name="T35" fmla="*/ 335 h 365"/>
                  <a:gd name="T36" fmla="*/ 156 w 562"/>
                  <a:gd name="T37" fmla="*/ 343 h 365"/>
                  <a:gd name="T38" fmla="*/ 183 w 562"/>
                  <a:gd name="T39" fmla="*/ 349 h 365"/>
                  <a:gd name="T40" fmla="*/ 199 w 562"/>
                  <a:gd name="T41" fmla="*/ 351 h 365"/>
                  <a:gd name="T42" fmla="*/ 240 w 562"/>
                  <a:gd name="T43" fmla="*/ 357 h 365"/>
                  <a:gd name="T44" fmla="*/ 285 w 562"/>
                  <a:gd name="T45" fmla="*/ 359 h 365"/>
                  <a:gd name="T46" fmla="*/ 334 w 562"/>
                  <a:gd name="T47" fmla="*/ 362 h 365"/>
                  <a:gd name="T48" fmla="*/ 385 w 562"/>
                  <a:gd name="T49" fmla="*/ 365 h 365"/>
                  <a:gd name="T50" fmla="*/ 433 w 562"/>
                  <a:gd name="T51" fmla="*/ 362 h 365"/>
                  <a:gd name="T52" fmla="*/ 476 w 562"/>
                  <a:gd name="T53" fmla="*/ 354 h 365"/>
                  <a:gd name="T54" fmla="*/ 503 w 562"/>
                  <a:gd name="T55" fmla="*/ 346 h 365"/>
                  <a:gd name="T56" fmla="*/ 519 w 562"/>
                  <a:gd name="T57" fmla="*/ 338 h 365"/>
                  <a:gd name="T58" fmla="*/ 530 w 562"/>
                  <a:gd name="T59" fmla="*/ 327 h 365"/>
                  <a:gd name="T60" fmla="*/ 544 w 562"/>
                  <a:gd name="T61" fmla="*/ 308 h 365"/>
                  <a:gd name="T62" fmla="*/ 554 w 562"/>
                  <a:gd name="T63" fmla="*/ 276 h 365"/>
                  <a:gd name="T64" fmla="*/ 560 w 562"/>
                  <a:gd name="T65" fmla="*/ 239 h 365"/>
                  <a:gd name="T66" fmla="*/ 562 w 562"/>
                  <a:gd name="T67" fmla="*/ 196 h 365"/>
                  <a:gd name="T68" fmla="*/ 560 w 562"/>
                  <a:gd name="T69" fmla="*/ 155 h 365"/>
                  <a:gd name="T70" fmla="*/ 557 w 562"/>
                  <a:gd name="T71" fmla="*/ 115 h 365"/>
                  <a:gd name="T72" fmla="*/ 552 w 562"/>
                  <a:gd name="T73" fmla="*/ 80 h 365"/>
                  <a:gd name="T74" fmla="*/ 549 w 562"/>
                  <a:gd name="T75" fmla="*/ 62 h 365"/>
                  <a:gd name="T76" fmla="*/ 546 w 562"/>
                  <a:gd name="T77" fmla="*/ 48 h 365"/>
                  <a:gd name="T78" fmla="*/ 541 w 562"/>
                  <a:gd name="T79" fmla="*/ 32 h 365"/>
                  <a:gd name="T80" fmla="*/ 533 w 562"/>
                  <a:gd name="T81" fmla="*/ 24 h 365"/>
                  <a:gd name="T82" fmla="*/ 525 w 562"/>
                  <a:gd name="T83" fmla="*/ 19 h 365"/>
                  <a:gd name="T84" fmla="*/ 509 w 562"/>
                  <a:gd name="T85" fmla="*/ 16 h 365"/>
                  <a:gd name="T86" fmla="*/ 482 w 562"/>
                  <a:gd name="T87" fmla="*/ 16 h 365"/>
                  <a:gd name="T88" fmla="*/ 458 w 562"/>
                  <a:gd name="T89" fmla="*/ 16 h 365"/>
                  <a:gd name="T90" fmla="*/ 431 w 562"/>
                  <a:gd name="T91" fmla="*/ 13 h 365"/>
                  <a:gd name="T92" fmla="*/ 388 w 562"/>
                  <a:gd name="T93" fmla="*/ 13 h 365"/>
                  <a:gd name="T94" fmla="*/ 342 w 562"/>
                  <a:gd name="T95" fmla="*/ 16 h 365"/>
                  <a:gd name="T96" fmla="*/ 301 w 562"/>
                  <a:gd name="T97" fmla="*/ 16 h 365"/>
                  <a:gd name="T98" fmla="*/ 264 w 562"/>
                  <a:gd name="T99" fmla="*/ 13 h 365"/>
                  <a:gd name="T100" fmla="*/ 229 w 562"/>
                  <a:gd name="T101" fmla="*/ 5 h 365"/>
                  <a:gd name="T102" fmla="*/ 199 w 562"/>
                  <a:gd name="T103" fmla="*/ 0 h 365"/>
                  <a:gd name="T104" fmla="*/ 183 w 562"/>
                  <a:gd name="T105" fmla="*/ 0 h 365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562"/>
                  <a:gd name="T160" fmla="*/ 0 h 365"/>
                  <a:gd name="T161" fmla="*/ 562 w 562"/>
                  <a:gd name="T162" fmla="*/ 365 h 365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562" h="365">
                    <a:moveTo>
                      <a:pt x="178" y="0"/>
                    </a:moveTo>
                    <a:lnTo>
                      <a:pt x="148" y="5"/>
                    </a:lnTo>
                    <a:lnTo>
                      <a:pt x="135" y="8"/>
                    </a:lnTo>
                    <a:lnTo>
                      <a:pt x="121" y="11"/>
                    </a:lnTo>
                    <a:lnTo>
                      <a:pt x="108" y="16"/>
                    </a:lnTo>
                    <a:lnTo>
                      <a:pt x="94" y="21"/>
                    </a:lnTo>
                    <a:lnTo>
                      <a:pt x="81" y="29"/>
                    </a:lnTo>
                    <a:lnTo>
                      <a:pt x="70" y="37"/>
                    </a:lnTo>
                    <a:lnTo>
                      <a:pt x="59" y="48"/>
                    </a:lnTo>
                    <a:lnTo>
                      <a:pt x="46" y="62"/>
                    </a:lnTo>
                    <a:lnTo>
                      <a:pt x="35" y="75"/>
                    </a:lnTo>
                    <a:lnTo>
                      <a:pt x="24" y="91"/>
                    </a:lnTo>
                    <a:lnTo>
                      <a:pt x="16" y="104"/>
                    </a:lnTo>
                    <a:lnTo>
                      <a:pt x="8" y="121"/>
                    </a:lnTo>
                    <a:lnTo>
                      <a:pt x="6" y="129"/>
                    </a:lnTo>
                    <a:lnTo>
                      <a:pt x="3" y="137"/>
                    </a:lnTo>
                    <a:lnTo>
                      <a:pt x="0" y="142"/>
                    </a:lnTo>
                    <a:lnTo>
                      <a:pt x="0" y="150"/>
                    </a:lnTo>
                    <a:lnTo>
                      <a:pt x="0" y="158"/>
                    </a:lnTo>
                    <a:lnTo>
                      <a:pt x="0" y="166"/>
                    </a:lnTo>
                    <a:lnTo>
                      <a:pt x="3" y="174"/>
                    </a:lnTo>
                    <a:lnTo>
                      <a:pt x="3" y="182"/>
                    </a:lnTo>
                    <a:lnTo>
                      <a:pt x="11" y="196"/>
                    </a:lnTo>
                    <a:lnTo>
                      <a:pt x="19" y="212"/>
                    </a:lnTo>
                    <a:lnTo>
                      <a:pt x="27" y="228"/>
                    </a:lnTo>
                    <a:lnTo>
                      <a:pt x="38" y="244"/>
                    </a:lnTo>
                    <a:lnTo>
                      <a:pt x="49" y="257"/>
                    </a:lnTo>
                    <a:lnTo>
                      <a:pt x="59" y="271"/>
                    </a:lnTo>
                    <a:lnTo>
                      <a:pt x="70" y="284"/>
                    </a:lnTo>
                    <a:lnTo>
                      <a:pt x="81" y="295"/>
                    </a:lnTo>
                    <a:lnTo>
                      <a:pt x="92" y="306"/>
                    </a:lnTo>
                    <a:lnTo>
                      <a:pt x="105" y="319"/>
                    </a:lnTo>
                    <a:lnTo>
                      <a:pt x="110" y="322"/>
                    </a:lnTo>
                    <a:lnTo>
                      <a:pt x="119" y="327"/>
                    </a:lnTo>
                    <a:lnTo>
                      <a:pt x="127" y="332"/>
                    </a:lnTo>
                    <a:lnTo>
                      <a:pt x="137" y="335"/>
                    </a:lnTo>
                    <a:lnTo>
                      <a:pt x="145" y="340"/>
                    </a:lnTo>
                    <a:lnTo>
                      <a:pt x="156" y="343"/>
                    </a:lnTo>
                    <a:lnTo>
                      <a:pt x="170" y="346"/>
                    </a:lnTo>
                    <a:lnTo>
                      <a:pt x="183" y="349"/>
                    </a:lnTo>
                    <a:lnTo>
                      <a:pt x="191" y="349"/>
                    </a:lnTo>
                    <a:lnTo>
                      <a:pt x="199" y="351"/>
                    </a:lnTo>
                    <a:lnTo>
                      <a:pt x="218" y="354"/>
                    </a:lnTo>
                    <a:lnTo>
                      <a:pt x="240" y="357"/>
                    </a:lnTo>
                    <a:lnTo>
                      <a:pt x="261" y="357"/>
                    </a:lnTo>
                    <a:lnTo>
                      <a:pt x="285" y="359"/>
                    </a:lnTo>
                    <a:lnTo>
                      <a:pt x="310" y="362"/>
                    </a:lnTo>
                    <a:lnTo>
                      <a:pt x="334" y="362"/>
                    </a:lnTo>
                    <a:lnTo>
                      <a:pt x="361" y="365"/>
                    </a:lnTo>
                    <a:lnTo>
                      <a:pt x="385" y="365"/>
                    </a:lnTo>
                    <a:lnTo>
                      <a:pt x="409" y="362"/>
                    </a:lnTo>
                    <a:lnTo>
                      <a:pt x="433" y="362"/>
                    </a:lnTo>
                    <a:lnTo>
                      <a:pt x="458" y="359"/>
                    </a:lnTo>
                    <a:lnTo>
                      <a:pt x="476" y="354"/>
                    </a:lnTo>
                    <a:lnTo>
                      <a:pt x="495" y="349"/>
                    </a:lnTo>
                    <a:lnTo>
                      <a:pt x="503" y="346"/>
                    </a:lnTo>
                    <a:lnTo>
                      <a:pt x="511" y="340"/>
                    </a:lnTo>
                    <a:lnTo>
                      <a:pt x="519" y="338"/>
                    </a:lnTo>
                    <a:lnTo>
                      <a:pt x="525" y="332"/>
                    </a:lnTo>
                    <a:lnTo>
                      <a:pt x="530" y="327"/>
                    </a:lnTo>
                    <a:lnTo>
                      <a:pt x="536" y="322"/>
                    </a:lnTo>
                    <a:lnTo>
                      <a:pt x="544" y="308"/>
                    </a:lnTo>
                    <a:lnTo>
                      <a:pt x="549" y="295"/>
                    </a:lnTo>
                    <a:lnTo>
                      <a:pt x="554" y="276"/>
                    </a:lnTo>
                    <a:lnTo>
                      <a:pt x="557" y="257"/>
                    </a:lnTo>
                    <a:lnTo>
                      <a:pt x="560" y="239"/>
                    </a:lnTo>
                    <a:lnTo>
                      <a:pt x="562" y="217"/>
                    </a:lnTo>
                    <a:lnTo>
                      <a:pt x="562" y="196"/>
                    </a:lnTo>
                    <a:lnTo>
                      <a:pt x="562" y="174"/>
                    </a:lnTo>
                    <a:lnTo>
                      <a:pt x="560" y="155"/>
                    </a:lnTo>
                    <a:lnTo>
                      <a:pt x="560" y="134"/>
                    </a:lnTo>
                    <a:lnTo>
                      <a:pt x="557" y="115"/>
                    </a:lnTo>
                    <a:lnTo>
                      <a:pt x="554" y="96"/>
                    </a:lnTo>
                    <a:lnTo>
                      <a:pt x="552" y="80"/>
                    </a:lnTo>
                    <a:lnTo>
                      <a:pt x="552" y="67"/>
                    </a:lnTo>
                    <a:lnTo>
                      <a:pt x="549" y="62"/>
                    </a:lnTo>
                    <a:lnTo>
                      <a:pt x="549" y="56"/>
                    </a:lnTo>
                    <a:lnTo>
                      <a:pt x="546" y="48"/>
                    </a:lnTo>
                    <a:lnTo>
                      <a:pt x="544" y="40"/>
                    </a:lnTo>
                    <a:lnTo>
                      <a:pt x="541" y="32"/>
                    </a:lnTo>
                    <a:lnTo>
                      <a:pt x="538" y="29"/>
                    </a:lnTo>
                    <a:lnTo>
                      <a:pt x="533" y="24"/>
                    </a:lnTo>
                    <a:lnTo>
                      <a:pt x="530" y="21"/>
                    </a:lnTo>
                    <a:lnTo>
                      <a:pt x="525" y="19"/>
                    </a:lnTo>
                    <a:lnTo>
                      <a:pt x="519" y="19"/>
                    </a:lnTo>
                    <a:lnTo>
                      <a:pt x="509" y="16"/>
                    </a:lnTo>
                    <a:lnTo>
                      <a:pt x="495" y="16"/>
                    </a:lnTo>
                    <a:lnTo>
                      <a:pt x="482" y="16"/>
                    </a:lnTo>
                    <a:lnTo>
                      <a:pt x="466" y="16"/>
                    </a:lnTo>
                    <a:lnTo>
                      <a:pt x="458" y="16"/>
                    </a:lnTo>
                    <a:lnTo>
                      <a:pt x="449" y="13"/>
                    </a:lnTo>
                    <a:lnTo>
                      <a:pt x="431" y="13"/>
                    </a:lnTo>
                    <a:lnTo>
                      <a:pt x="409" y="13"/>
                    </a:lnTo>
                    <a:lnTo>
                      <a:pt x="388" y="13"/>
                    </a:lnTo>
                    <a:lnTo>
                      <a:pt x="363" y="16"/>
                    </a:lnTo>
                    <a:lnTo>
                      <a:pt x="342" y="16"/>
                    </a:lnTo>
                    <a:lnTo>
                      <a:pt x="320" y="16"/>
                    </a:lnTo>
                    <a:lnTo>
                      <a:pt x="301" y="16"/>
                    </a:lnTo>
                    <a:lnTo>
                      <a:pt x="283" y="13"/>
                    </a:lnTo>
                    <a:lnTo>
                      <a:pt x="264" y="13"/>
                    </a:lnTo>
                    <a:lnTo>
                      <a:pt x="248" y="8"/>
                    </a:lnTo>
                    <a:lnTo>
                      <a:pt x="229" y="5"/>
                    </a:lnTo>
                    <a:lnTo>
                      <a:pt x="213" y="3"/>
                    </a:lnTo>
                    <a:lnTo>
                      <a:pt x="199" y="0"/>
                    </a:lnTo>
                    <a:lnTo>
                      <a:pt x="188" y="0"/>
                    </a:lnTo>
                    <a:lnTo>
                      <a:pt x="183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" name="Rectangle 9">
                <a:extLst>
                  <a:ext uri="{FF2B5EF4-FFF2-40B4-BE49-F238E27FC236}">
                    <a16:creationId xmlns:a16="http://schemas.microsoft.com/office/drawing/2014/main" id="{1DFC0863-25FD-D97D-F5F9-9A1D78AD3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314700" y="2056297"/>
                <a:ext cx="333025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2800" b="1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</p:grpSp>
        <p:cxnSp>
          <p:nvCxnSpPr>
            <p:cNvPr id="34" name="Straight Connector 277">
              <a:extLst>
                <a:ext uri="{FF2B5EF4-FFF2-40B4-BE49-F238E27FC236}">
                  <a16:creationId xmlns:a16="http://schemas.microsoft.com/office/drawing/2014/main" id="{3703A2C0-4A38-39A5-769F-3FCC050C3105}"/>
                </a:ext>
              </a:extLst>
            </p:cNvPr>
            <p:cNvCxnSpPr/>
            <p:nvPr/>
          </p:nvCxnSpPr>
          <p:spPr>
            <a:xfrm flipH="1">
              <a:off x="4839177" y="6049707"/>
              <a:ext cx="618565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3F1571E-7F0C-CE50-C904-50A8EDE39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0833" y="5872951"/>
              <a:ext cx="346075" cy="336550"/>
            </a:xfrm>
            <a:custGeom>
              <a:avLst/>
              <a:gdLst>
                <a:gd name="T0" fmla="*/ 97 w 218"/>
                <a:gd name="T1" fmla="*/ 0 h 212"/>
                <a:gd name="T2" fmla="*/ 75 w 218"/>
                <a:gd name="T3" fmla="*/ 6 h 212"/>
                <a:gd name="T4" fmla="*/ 56 w 218"/>
                <a:gd name="T5" fmla="*/ 14 h 212"/>
                <a:gd name="T6" fmla="*/ 40 w 218"/>
                <a:gd name="T7" fmla="*/ 24 h 212"/>
                <a:gd name="T8" fmla="*/ 24 w 218"/>
                <a:gd name="T9" fmla="*/ 38 h 212"/>
                <a:gd name="T10" fmla="*/ 13 w 218"/>
                <a:gd name="T11" fmla="*/ 54 h 212"/>
                <a:gd name="T12" fmla="*/ 5 w 218"/>
                <a:gd name="T13" fmla="*/ 73 h 212"/>
                <a:gd name="T14" fmla="*/ 0 w 218"/>
                <a:gd name="T15" fmla="*/ 94 h 212"/>
                <a:gd name="T16" fmla="*/ 0 w 218"/>
                <a:gd name="T17" fmla="*/ 116 h 212"/>
                <a:gd name="T18" fmla="*/ 5 w 218"/>
                <a:gd name="T19" fmla="*/ 137 h 212"/>
                <a:gd name="T20" fmla="*/ 13 w 218"/>
                <a:gd name="T21" fmla="*/ 156 h 212"/>
                <a:gd name="T22" fmla="*/ 24 w 218"/>
                <a:gd name="T23" fmla="*/ 172 h 212"/>
                <a:gd name="T24" fmla="*/ 40 w 218"/>
                <a:gd name="T25" fmla="*/ 188 h 212"/>
                <a:gd name="T26" fmla="*/ 56 w 218"/>
                <a:gd name="T27" fmla="*/ 199 h 212"/>
                <a:gd name="T28" fmla="*/ 75 w 218"/>
                <a:gd name="T29" fmla="*/ 207 h 212"/>
                <a:gd name="T30" fmla="*/ 97 w 218"/>
                <a:gd name="T31" fmla="*/ 212 h 212"/>
                <a:gd name="T32" fmla="*/ 118 w 218"/>
                <a:gd name="T33" fmla="*/ 212 h 212"/>
                <a:gd name="T34" fmla="*/ 140 w 218"/>
                <a:gd name="T35" fmla="*/ 207 h 212"/>
                <a:gd name="T36" fmla="*/ 161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4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3 h 212"/>
                <a:gd name="T52" fmla="*/ 204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1 w 218"/>
                <a:gd name="T59" fmla="*/ 14 h 212"/>
                <a:gd name="T60" fmla="*/ 140 w 218"/>
                <a:gd name="T61" fmla="*/ 6 h 212"/>
                <a:gd name="T62" fmla="*/ 118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08" y="0"/>
                  </a:moveTo>
                  <a:lnTo>
                    <a:pt x="97" y="0"/>
                  </a:lnTo>
                  <a:lnTo>
                    <a:pt x="86" y="3"/>
                  </a:lnTo>
                  <a:lnTo>
                    <a:pt x="75" y="6"/>
                  </a:lnTo>
                  <a:lnTo>
                    <a:pt x="65" y="8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4"/>
                  </a:lnTo>
                  <a:lnTo>
                    <a:pt x="32" y="30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3" y="54"/>
                  </a:lnTo>
                  <a:lnTo>
                    <a:pt x="8" y="65"/>
                  </a:lnTo>
                  <a:lnTo>
                    <a:pt x="5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5" y="137"/>
                  </a:lnTo>
                  <a:lnTo>
                    <a:pt x="8" y="148"/>
                  </a:lnTo>
                  <a:lnTo>
                    <a:pt x="13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2" y="180"/>
                  </a:lnTo>
                  <a:lnTo>
                    <a:pt x="40" y="188"/>
                  </a:lnTo>
                  <a:lnTo>
                    <a:pt x="48" y="193"/>
                  </a:lnTo>
                  <a:lnTo>
                    <a:pt x="56" y="199"/>
                  </a:lnTo>
                  <a:lnTo>
                    <a:pt x="65" y="204"/>
                  </a:lnTo>
                  <a:lnTo>
                    <a:pt x="75" y="207"/>
                  </a:lnTo>
                  <a:lnTo>
                    <a:pt x="86" y="209"/>
                  </a:lnTo>
                  <a:lnTo>
                    <a:pt x="97" y="212"/>
                  </a:lnTo>
                  <a:lnTo>
                    <a:pt x="108" y="212"/>
                  </a:lnTo>
                  <a:lnTo>
                    <a:pt x="118" y="212"/>
                  </a:lnTo>
                  <a:lnTo>
                    <a:pt x="129" y="209"/>
                  </a:lnTo>
                  <a:lnTo>
                    <a:pt x="140" y="207"/>
                  </a:lnTo>
                  <a:lnTo>
                    <a:pt x="151" y="204"/>
                  </a:lnTo>
                  <a:lnTo>
                    <a:pt x="161" y="199"/>
                  </a:lnTo>
                  <a:lnTo>
                    <a:pt x="169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4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4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1" y="8"/>
                  </a:lnTo>
                  <a:lnTo>
                    <a:pt x="140" y="6"/>
                  </a:lnTo>
                  <a:lnTo>
                    <a:pt x="129" y="3"/>
                  </a:lnTo>
                  <a:lnTo>
                    <a:pt x="11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Rectangle 20">
              <a:extLst>
                <a:ext uri="{FF2B5EF4-FFF2-40B4-BE49-F238E27FC236}">
                  <a16:creationId xmlns:a16="http://schemas.microsoft.com/office/drawing/2014/main" id="{5FB43BC3-6E5B-1770-4744-B2314E629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9343" y="5823552"/>
              <a:ext cx="1458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y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grpSp>
          <p:nvGrpSpPr>
            <p:cNvPr id="37" name="Group 7">
              <a:extLst>
                <a:ext uri="{FF2B5EF4-FFF2-40B4-BE49-F238E27FC236}">
                  <a16:creationId xmlns:a16="http://schemas.microsoft.com/office/drawing/2014/main" id="{D715DBEF-CBD4-26D7-0678-9F4F8967A40B}"/>
                </a:ext>
              </a:extLst>
            </p:cNvPr>
            <p:cNvGrpSpPr/>
            <p:nvPr/>
          </p:nvGrpSpPr>
          <p:grpSpPr>
            <a:xfrm>
              <a:off x="3961547" y="5644164"/>
              <a:ext cx="896938" cy="574675"/>
              <a:chOff x="4043993" y="2436269"/>
              <a:chExt cx="896938" cy="574675"/>
            </a:xfrm>
          </p:grpSpPr>
          <p:sp>
            <p:nvSpPr>
              <p:cNvPr id="38" name="Freeform 11">
                <a:extLst>
                  <a:ext uri="{FF2B5EF4-FFF2-40B4-BE49-F238E27FC236}">
                    <a16:creationId xmlns:a16="http://schemas.microsoft.com/office/drawing/2014/main" id="{1882C4FA-3BC0-61EF-0EDD-D099E9CB5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993" y="2436269"/>
                <a:ext cx="896938" cy="574675"/>
              </a:xfrm>
              <a:custGeom>
                <a:avLst/>
                <a:gdLst>
                  <a:gd name="T0" fmla="*/ 164 w 565"/>
                  <a:gd name="T1" fmla="*/ 0 h 362"/>
                  <a:gd name="T2" fmla="*/ 134 w 565"/>
                  <a:gd name="T3" fmla="*/ 6 h 362"/>
                  <a:gd name="T4" fmla="*/ 108 w 565"/>
                  <a:gd name="T5" fmla="*/ 14 h 362"/>
                  <a:gd name="T6" fmla="*/ 83 w 565"/>
                  <a:gd name="T7" fmla="*/ 30 h 362"/>
                  <a:gd name="T8" fmla="*/ 62 w 565"/>
                  <a:gd name="T9" fmla="*/ 48 h 362"/>
                  <a:gd name="T10" fmla="*/ 38 w 565"/>
                  <a:gd name="T11" fmla="*/ 73 h 362"/>
                  <a:gd name="T12" fmla="*/ 16 w 565"/>
                  <a:gd name="T13" fmla="*/ 105 h 362"/>
                  <a:gd name="T14" fmla="*/ 5 w 565"/>
                  <a:gd name="T15" fmla="*/ 126 h 362"/>
                  <a:gd name="T16" fmla="*/ 0 w 565"/>
                  <a:gd name="T17" fmla="*/ 142 h 362"/>
                  <a:gd name="T18" fmla="*/ 0 w 565"/>
                  <a:gd name="T19" fmla="*/ 158 h 362"/>
                  <a:gd name="T20" fmla="*/ 5 w 565"/>
                  <a:gd name="T21" fmla="*/ 180 h 362"/>
                  <a:gd name="T22" fmla="*/ 19 w 565"/>
                  <a:gd name="T23" fmla="*/ 212 h 362"/>
                  <a:gd name="T24" fmla="*/ 38 w 565"/>
                  <a:gd name="T25" fmla="*/ 242 h 362"/>
                  <a:gd name="T26" fmla="*/ 59 w 565"/>
                  <a:gd name="T27" fmla="*/ 268 h 362"/>
                  <a:gd name="T28" fmla="*/ 81 w 565"/>
                  <a:gd name="T29" fmla="*/ 295 h 362"/>
                  <a:gd name="T30" fmla="*/ 105 w 565"/>
                  <a:gd name="T31" fmla="*/ 317 h 362"/>
                  <a:gd name="T32" fmla="*/ 121 w 565"/>
                  <a:gd name="T33" fmla="*/ 327 h 362"/>
                  <a:gd name="T34" fmla="*/ 137 w 565"/>
                  <a:gd name="T35" fmla="*/ 335 h 362"/>
                  <a:gd name="T36" fmla="*/ 159 w 565"/>
                  <a:gd name="T37" fmla="*/ 343 h 362"/>
                  <a:gd name="T38" fmla="*/ 186 w 565"/>
                  <a:gd name="T39" fmla="*/ 349 h 362"/>
                  <a:gd name="T40" fmla="*/ 202 w 565"/>
                  <a:gd name="T41" fmla="*/ 351 h 362"/>
                  <a:gd name="T42" fmla="*/ 239 w 565"/>
                  <a:gd name="T43" fmla="*/ 354 h 362"/>
                  <a:gd name="T44" fmla="*/ 285 w 565"/>
                  <a:gd name="T45" fmla="*/ 360 h 362"/>
                  <a:gd name="T46" fmla="*/ 334 w 565"/>
                  <a:gd name="T47" fmla="*/ 362 h 362"/>
                  <a:gd name="T48" fmla="*/ 385 w 565"/>
                  <a:gd name="T49" fmla="*/ 362 h 362"/>
                  <a:gd name="T50" fmla="*/ 433 w 565"/>
                  <a:gd name="T51" fmla="*/ 360 h 362"/>
                  <a:gd name="T52" fmla="*/ 476 w 565"/>
                  <a:gd name="T53" fmla="*/ 354 h 362"/>
                  <a:gd name="T54" fmla="*/ 503 w 565"/>
                  <a:gd name="T55" fmla="*/ 343 h 362"/>
                  <a:gd name="T56" fmla="*/ 519 w 565"/>
                  <a:gd name="T57" fmla="*/ 338 h 362"/>
                  <a:gd name="T58" fmla="*/ 530 w 565"/>
                  <a:gd name="T59" fmla="*/ 327 h 362"/>
                  <a:gd name="T60" fmla="*/ 543 w 565"/>
                  <a:gd name="T61" fmla="*/ 309 h 362"/>
                  <a:gd name="T62" fmla="*/ 557 w 565"/>
                  <a:gd name="T63" fmla="*/ 276 h 362"/>
                  <a:gd name="T64" fmla="*/ 562 w 565"/>
                  <a:gd name="T65" fmla="*/ 236 h 362"/>
                  <a:gd name="T66" fmla="*/ 565 w 565"/>
                  <a:gd name="T67" fmla="*/ 196 h 362"/>
                  <a:gd name="T68" fmla="*/ 562 w 565"/>
                  <a:gd name="T69" fmla="*/ 153 h 362"/>
                  <a:gd name="T70" fmla="*/ 560 w 565"/>
                  <a:gd name="T71" fmla="*/ 113 h 362"/>
                  <a:gd name="T72" fmla="*/ 554 w 565"/>
                  <a:gd name="T73" fmla="*/ 78 h 362"/>
                  <a:gd name="T74" fmla="*/ 549 w 565"/>
                  <a:gd name="T75" fmla="*/ 59 h 362"/>
                  <a:gd name="T76" fmla="*/ 546 w 565"/>
                  <a:gd name="T77" fmla="*/ 46 h 362"/>
                  <a:gd name="T78" fmla="*/ 541 w 565"/>
                  <a:gd name="T79" fmla="*/ 32 h 362"/>
                  <a:gd name="T80" fmla="*/ 533 w 565"/>
                  <a:gd name="T81" fmla="*/ 24 h 362"/>
                  <a:gd name="T82" fmla="*/ 525 w 565"/>
                  <a:gd name="T83" fmla="*/ 19 h 362"/>
                  <a:gd name="T84" fmla="*/ 508 w 565"/>
                  <a:gd name="T85" fmla="*/ 16 h 362"/>
                  <a:gd name="T86" fmla="*/ 482 w 565"/>
                  <a:gd name="T87" fmla="*/ 16 h 362"/>
                  <a:gd name="T88" fmla="*/ 460 w 565"/>
                  <a:gd name="T89" fmla="*/ 14 h 362"/>
                  <a:gd name="T90" fmla="*/ 430 w 565"/>
                  <a:gd name="T91" fmla="*/ 11 h 362"/>
                  <a:gd name="T92" fmla="*/ 387 w 565"/>
                  <a:gd name="T93" fmla="*/ 14 h 362"/>
                  <a:gd name="T94" fmla="*/ 342 w 565"/>
                  <a:gd name="T95" fmla="*/ 14 h 362"/>
                  <a:gd name="T96" fmla="*/ 301 w 565"/>
                  <a:gd name="T97" fmla="*/ 14 h 362"/>
                  <a:gd name="T98" fmla="*/ 264 w 565"/>
                  <a:gd name="T99" fmla="*/ 11 h 362"/>
                  <a:gd name="T100" fmla="*/ 229 w 565"/>
                  <a:gd name="T101" fmla="*/ 3 h 362"/>
                  <a:gd name="T102" fmla="*/ 199 w 565"/>
                  <a:gd name="T103" fmla="*/ 0 h 362"/>
                  <a:gd name="T104" fmla="*/ 183 w 565"/>
                  <a:gd name="T105" fmla="*/ 0 h 36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565"/>
                  <a:gd name="T160" fmla="*/ 0 h 362"/>
                  <a:gd name="T161" fmla="*/ 565 w 565"/>
                  <a:gd name="T162" fmla="*/ 362 h 36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565" h="362">
                    <a:moveTo>
                      <a:pt x="178" y="0"/>
                    </a:moveTo>
                    <a:lnTo>
                      <a:pt x="164" y="0"/>
                    </a:lnTo>
                    <a:lnTo>
                      <a:pt x="148" y="3"/>
                    </a:lnTo>
                    <a:lnTo>
                      <a:pt x="134" y="6"/>
                    </a:lnTo>
                    <a:lnTo>
                      <a:pt x="121" y="11"/>
                    </a:lnTo>
                    <a:lnTo>
                      <a:pt x="108" y="14"/>
                    </a:lnTo>
                    <a:lnTo>
                      <a:pt x="94" y="22"/>
                    </a:lnTo>
                    <a:lnTo>
                      <a:pt x="83" y="30"/>
                    </a:lnTo>
                    <a:lnTo>
                      <a:pt x="73" y="38"/>
                    </a:lnTo>
                    <a:lnTo>
                      <a:pt x="62" y="48"/>
                    </a:lnTo>
                    <a:lnTo>
                      <a:pt x="48" y="59"/>
                    </a:lnTo>
                    <a:lnTo>
                      <a:pt x="38" y="73"/>
                    </a:lnTo>
                    <a:lnTo>
                      <a:pt x="27" y="89"/>
                    </a:lnTo>
                    <a:lnTo>
                      <a:pt x="16" y="105"/>
                    </a:lnTo>
                    <a:lnTo>
                      <a:pt x="8" y="118"/>
                    </a:lnTo>
                    <a:lnTo>
                      <a:pt x="5" y="126"/>
                    </a:lnTo>
                    <a:lnTo>
                      <a:pt x="3" y="134"/>
                    </a:lnTo>
                    <a:lnTo>
                      <a:pt x="0" y="142"/>
                    </a:lnTo>
                    <a:lnTo>
                      <a:pt x="0" y="150"/>
                    </a:lnTo>
                    <a:lnTo>
                      <a:pt x="0" y="158"/>
                    </a:lnTo>
                    <a:lnTo>
                      <a:pt x="3" y="164"/>
                    </a:lnTo>
                    <a:lnTo>
                      <a:pt x="5" y="180"/>
                    </a:lnTo>
                    <a:lnTo>
                      <a:pt x="11" y="196"/>
                    </a:lnTo>
                    <a:lnTo>
                      <a:pt x="19" y="212"/>
                    </a:lnTo>
                    <a:lnTo>
                      <a:pt x="27" y="228"/>
                    </a:lnTo>
                    <a:lnTo>
                      <a:pt x="38" y="242"/>
                    </a:lnTo>
                    <a:lnTo>
                      <a:pt x="48" y="255"/>
                    </a:lnTo>
                    <a:lnTo>
                      <a:pt x="59" y="268"/>
                    </a:lnTo>
                    <a:lnTo>
                      <a:pt x="70" y="282"/>
                    </a:lnTo>
                    <a:lnTo>
                      <a:pt x="81" y="295"/>
                    </a:lnTo>
                    <a:lnTo>
                      <a:pt x="94" y="306"/>
                    </a:lnTo>
                    <a:lnTo>
                      <a:pt x="105" y="317"/>
                    </a:lnTo>
                    <a:lnTo>
                      <a:pt x="113" y="322"/>
                    </a:lnTo>
                    <a:lnTo>
                      <a:pt x="121" y="327"/>
                    </a:lnTo>
                    <a:lnTo>
                      <a:pt x="129" y="333"/>
                    </a:lnTo>
                    <a:lnTo>
                      <a:pt x="137" y="335"/>
                    </a:lnTo>
                    <a:lnTo>
                      <a:pt x="148" y="341"/>
                    </a:lnTo>
                    <a:lnTo>
                      <a:pt x="159" y="343"/>
                    </a:lnTo>
                    <a:lnTo>
                      <a:pt x="172" y="346"/>
                    </a:lnTo>
                    <a:lnTo>
                      <a:pt x="186" y="349"/>
                    </a:lnTo>
                    <a:lnTo>
                      <a:pt x="194" y="349"/>
                    </a:lnTo>
                    <a:lnTo>
                      <a:pt x="202" y="351"/>
                    </a:lnTo>
                    <a:lnTo>
                      <a:pt x="221" y="354"/>
                    </a:lnTo>
                    <a:lnTo>
                      <a:pt x="239" y="354"/>
                    </a:lnTo>
                    <a:lnTo>
                      <a:pt x="261" y="357"/>
                    </a:lnTo>
                    <a:lnTo>
                      <a:pt x="285" y="360"/>
                    </a:lnTo>
                    <a:lnTo>
                      <a:pt x="309" y="362"/>
                    </a:lnTo>
                    <a:lnTo>
                      <a:pt x="334" y="362"/>
                    </a:lnTo>
                    <a:lnTo>
                      <a:pt x="360" y="362"/>
                    </a:lnTo>
                    <a:lnTo>
                      <a:pt x="385" y="362"/>
                    </a:lnTo>
                    <a:lnTo>
                      <a:pt x="409" y="362"/>
                    </a:lnTo>
                    <a:lnTo>
                      <a:pt x="433" y="360"/>
                    </a:lnTo>
                    <a:lnTo>
                      <a:pt x="457" y="357"/>
                    </a:lnTo>
                    <a:lnTo>
                      <a:pt x="476" y="354"/>
                    </a:lnTo>
                    <a:lnTo>
                      <a:pt x="495" y="349"/>
                    </a:lnTo>
                    <a:lnTo>
                      <a:pt x="503" y="343"/>
                    </a:lnTo>
                    <a:lnTo>
                      <a:pt x="511" y="341"/>
                    </a:lnTo>
                    <a:lnTo>
                      <a:pt x="519" y="338"/>
                    </a:lnTo>
                    <a:lnTo>
                      <a:pt x="525" y="333"/>
                    </a:lnTo>
                    <a:lnTo>
                      <a:pt x="530" y="327"/>
                    </a:lnTo>
                    <a:lnTo>
                      <a:pt x="535" y="322"/>
                    </a:lnTo>
                    <a:lnTo>
                      <a:pt x="543" y="309"/>
                    </a:lnTo>
                    <a:lnTo>
                      <a:pt x="552" y="292"/>
                    </a:lnTo>
                    <a:lnTo>
                      <a:pt x="557" y="276"/>
                    </a:lnTo>
                    <a:lnTo>
                      <a:pt x="560" y="258"/>
                    </a:lnTo>
                    <a:lnTo>
                      <a:pt x="562" y="236"/>
                    </a:lnTo>
                    <a:lnTo>
                      <a:pt x="565" y="217"/>
                    </a:lnTo>
                    <a:lnTo>
                      <a:pt x="565" y="196"/>
                    </a:lnTo>
                    <a:lnTo>
                      <a:pt x="562" y="174"/>
                    </a:lnTo>
                    <a:lnTo>
                      <a:pt x="562" y="153"/>
                    </a:lnTo>
                    <a:lnTo>
                      <a:pt x="560" y="132"/>
                    </a:lnTo>
                    <a:lnTo>
                      <a:pt x="560" y="113"/>
                    </a:lnTo>
                    <a:lnTo>
                      <a:pt x="557" y="97"/>
                    </a:lnTo>
                    <a:lnTo>
                      <a:pt x="554" y="78"/>
                    </a:lnTo>
                    <a:lnTo>
                      <a:pt x="552" y="65"/>
                    </a:lnTo>
                    <a:lnTo>
                      <a:pt x="549" y="59"/>
                    </a:lnTo>
                    <a:lnTo>
                      <a:pt x="549" y="54"/>
                    </a:lnTo>
                    <a:lnTo>
                      <a:pt x="546" y="46"/>
                    </a:lnTo>
                    <a:lnTo>
                      <a:pt x="543" y="38"/>
                    </a:lnTo>
                    <a:lnTo>
                      <a:pt x="541" y="32"/>
                    </a:lnTo>
                    <a:lnTo>
                      <a:pt x="538" y="27"/>
                    </a:lnTo>
                    <a:lnTo>
                      <a:pt x="533" y="24"/>
                    </a:lnTo>
                    <a:lnTo>
                      <a:pt x="530" y="22"/>
                    </a:lnTo>
                    <a:lnTo>
                      <a:pt x="525" y="19"/>
                    </a:lnTo>
                    <a:lnTo>
                      <a:pt x="519" y="19"/>
                    </a:lnTo>
                    <a:lnTo>
                      <a:pt x="508" y="16"/>
                    </a:lnTo>
                    <a:lnTo>
                      <a:pt x="495" y="16"/>
                    </a:lnTo>
                    <a:lnTo>
                      <a:pt x="482" y="16"/>
                    </a:lnTo>
                    <a:lnTo>
                      <a:pt x="468" y="14"/>
                    </a:lnTo>
                    <a:lnTo>
                      <a:pt x="460" y="14"/>
                    </a:lnTo>
                    <a:lnTo>
                      <a:pt x="452" y="11"/>
                    </a:lnTo>
                    <a:lnTo>
                      <a:pt x="430" y="11"/>
                    </a:lnTo>
                    <a:lnTo>
                      <a:pt x="409" y="11"/>
                    </a:lnTo>
                    <a:lnTo>
                      <a:pt x="387" y="14"/>
                    </a:lnTo>
                    <a:lnTo>
                      <a:pt x="363" y="14"/>
                    </a:lnTo>
                    <a:lnTo>
                      <a:pt x="342" y="14"/>
                    </a:lnTo>
                    <a:lnTo>
                      <a:pt x="320" y="14"/>
                    </a:lnTo>
                    <a:lnTo>
                      <a:pt x="301" y="14"/>
                    </a:lnTo>
                    <a:lnTo>
                      <a:pt x="282" y="11"/>
                    </a:lnTo>
                    <a:lnTo>
                      <a:pt x="264" y="11"/>
                    </a:lnTo>
                    <a:lnTo>
                      <a:pt x="247" y="6"/>
                    </a:lnTo>
                    <a:lnTo>
                      <a:pt x="229" y="3"/>
                    </a:lnTo>
                    <a:lnTo>
                      <a:pt x="213" y="0"/>
                    </a:lnTo>
                    <a:lnTo>
                      <a:pt x="199" y="0"/>
                    </a:lnTo>
                    <a:lnTo>
                      <a:pt x="188" y="0"/>
                    </a:lnTo>
                    <a:lnTo>
                      <a:pt x="183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9" name="Rectangle 12">
                <a:extLst>
                  <a:ext uri="{FF2B5EF4-FFF2-40B4-BE49-F238E27FC236}">
                    <a16:creationId xmlns:a16="http://schemas.microsoft.com/office/drawing/2014/main" id="{4712CDDE-4A2A-9590-F717-777D3293B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8675" y="2470168"/>
                <a:ext cx="218008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3200" b="1" dirty="0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40" name="Rectangle 13">
                <a:extLst>
                  <a:ext uri="{FF2B5EF4-FFF2-40B4-BE49-F238E27FC236}">
                    <a16:creationId xmlns:a16="http://schemas.microsoft.com/office/drawing/2014/main" id="{409D5D8B-4A49-3D63-2A11-369AFC82B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6756" y="2555332"/>
                <a:ext cx="49213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dirty="0">
                    <a:solidFill>
                      <a:srgbClr val="000000"/>
                    </a:solidFill>
                  </a:rPr>
                  <a:t> </a:t>
                </a:r>
                <a:endParaRPr lang="en-US" dirty="0"/>
              </a:p>
            </p:txBody>
          </p:sp>
        </p:grpSp>
        <p:grpSp>
          <p:nvGrpSpPr>
            <p:cNvPr id="41" name="Group 8">
              <a:extLst>
                <a:ext uri="{FF2B5EF4-FFF2-40B4-BE49-F238E27FC236}">
                  <a16:creationId xmlns:a16="http://schemas.microsoft.com/office/drawing/2014/main" id="{B67E22F7-3212-E717-DA60-082B7667CA75}"/>
                </a:ext>
              </a:extLst>
            </p:cNvPr>
            <p:cNvGrpSpPr/>
            <p:nvPr/>
          </p:nvGrpSpPr>
          <p:grpSpPr>
            <a:xfrm>
              <a:off x="5460147" y="5028587"/>
              <a:ext cx="346075" cy="377452"/>
              <a:chOff x="5542593" y="1820692"/>
              <a:chExt cx="346075" cy="377452"/>
            </a:xfrm>
          </p:grpSpPr>
          <p:sp>
            <p:nvSpPr>
              <p:cNvPr id="42" name="Freeform 17">
                <a:extLst>
                  <a:ext uri="{FF2B5EF4-FFF2-40B4-BE49-F238E27FC236}">
                    <a16:creationId xmlns:a16="http://schemas.microsoft.com/office/drawing/2014/main" id="{7B72278D-030A-9EA0-9F06-BE6F1679D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2593" y="1861594"/>
                <a:ext cx="346075" cy="336550"/>
              </a:xfrm>
              <a:custGeom>
                <a:avLst/>
                <a:gdLst>
                  <a:gd name="T0" fmla="*/ 100 w 218"/>
                  <a:gd name="T1" fmla="*/ 0 h 212"/>
                  <a:gd name="T2" fmla="*/ 78 w 218"/>
                  <a:gd name="T3" fmla="*/ 6 h 212"/>
                  <a:gd name="T4" fmla="*/ 57 w 218"/>
                  <a:gd name="T5" fmla="*/ 14 h 212"/>
                  <a:gd name="T6" fmla="*/ 41 w 218"/>
                  <a:gd name="T7" fmla="*/ 24 h 212"/>
                  <a:gd name="T8" fmla="*/ 25 w 218"/>
                  <a:gd name="T9" fmla="*/ 38 h 212"/>
                  <a:gd name="T10" fmla="*/ 14 w 218"/>
                  <a:gd name="T11" fmla="*/ 54 h 212"/>
                  <a:gd name="T12" fmla="*/ 6 w 218"/>
                  <a:gd name="T13" fmla="*/ 73 h 212"/>
                  <a:gd name="T14" fmla="*/ 0 w 218"/>
                  <a:gd name="T15" fmla="*/ 94 h 212"/>
                  <a:gd name="T16" fmla="*/ 0 w 218"/>
                  <a:gd name="T17" fmla="*/ 115 h 212"/>
                  <a:gd name="T18" fmla="*/ 6 w 218"/>
                  <a:gd name="T19" fmla="*/ 137 h 212"/>
                  <a:gd name="T20" fmla="*/ 14 w 218"/>
                  <a:gd name="T21" fmla="*/ 156 h 212"/>
                  <a:gd name="T22" fmla="*/ 25 w 218"/>
                  <a:gd name="T23" fmla="*/ 172 h 212"/>
                  <a:gd name="T24" fmla="*/ 41 w 218"/>
                  <a:gd name="T25" fmla="*/ 188 h 212"/>
                  <a:gd name="T26" fmla="*/ 57 w 218"/>
                  <a:gd name="T27" fmla="*/ 199 h 212"/>
                  <a:gd name="T28" fmla="*/ 78 w 218"/>
                  <a:gd name="T29" fmla="*/ 207 h 212"/>
                  <a:gd name="T30" fmla="*/ 100 w 218"/>
                  <a:gd name="T31" fmla="*/ 212 h 212"/>
                  <a:gd name="T32" fmla="*/ 121 w 218"/>
                  <a:gd name="T33" fmla="*/ 212 h 212"/>
                  <a:gd name="T34" fmla="*/ 143 w 218"/>
                  <a:gd name="T35" fmla="*/ 207 h 212"/>
                  <a:gd name="T36" fmla="*/ 162 w 218"/>
                  <a:gd name="T37" fmla="*/ 199 h 212"/>
                  <a:gd name="T38" fmla="*/ 178 w 218"/>
                  <a:gd name="T39" fmla="*/ 188 h 212"/>
                  <a:gd name="T40" fmla="*/ 194 w 218"/>
                  <a:gd name="T41" fmla="*/ 172 h 212"/>
                  <a:gd name="T42" fmla="*/ 205 w 218"/>
                  <a:gd name="T43" fmla="*/ 156 h 212"/>
                  <a:gd name="T44" fmla="*/ 213 w 218"/>
                  <a:gd name="T45" fmla="*/ 137 h 212"/>
                  <a:gd name="T46" fmla="*/ 218 w 218"/>
                  <a:gd name="T47" fmla="*/ 115 h 212"/>
                  <a:gd name="T48" fmla="*/ 218 w 218"/>
                  <a:gd name="T49" fmla="*/ 94 h 212"/>
                  <a:gd name="T50" fmla="*/ 213 w 218"/>
                  <a:gd name="T51" fmla="*/ 73 h 212"/>
                  <a:gd name="T52" fmla="*/ 205 w 218"/>
                  <a:gd name="T53" fmla="*/ 54 h 212"/>
                  <a:gd name="T54" fmla="*/ 194 w 218"/>
                  <a:gd name="T55" fmla="*/ 38 h 212"/>
                  <a:gd name="T56" fmla="*/ 178 w 218"/>
                  <a:gd name="T57" fmla="*/ 24 h 212"/>
                  <a:gd name="T58" fmla="*/ 162 w 218"/>
                  <a:gd name="T59" fmla="*/ 14 h 212"/>
                  <a:gd name="T60" fmla="*/ 143 w 218"/>
                  <a:gd name="T61" fmla="*/ 6 h 212"/>
                  <a:gd name="T62" fmla="*/ 121 w 218"/>
                  <a:gd name="T63" fmla="*/ 0 h 21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18"/>
                  <a:gd name="T97" fmla="*/ 0 h 212"/>
                  <a:gd name="T98" fmla="*/ 218 w 218"/>
                  <a:gd name="T99" fmla="*/ 212 h 21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18" h="212">
                    <a:moveTo>
                      <a:pt x="111" y="0"/>
                    </a:moveTo>
                    <a:lnTo>
                      <a:pt x="100" y="0"/>
                    </a:lnTo>
                    <a:lnTo>
                      <a:pt x="89" y="3"/>
                    </a:lnTo>
                    <a:lnTo>
                      <a:pt x="78" y="6"/>
                    </a:lnTo>
                    <a:lnTo>
                      <a:pt x="68" y="8"/>
                    </a:lnTo>
                    <a:lnTo>
                      <a:pt x="57" y="14"/>
                    </a:lnTo>
                    <a:lnTo>
                      <a:pt x="49" y="19"/>
                    </a:lnTo>
                    <a:lnTo>
                      <a:pt x="41" y="24"/>
                    </a:lnTo>
                    <a:lnTo>
                      <a:pt x="33" y="30"/>
                    </a:lnTo>
                    <a:lnTo>
                      <a:pt x="25" y="38"/>
                    </a:lnTo>
                    <a:lnTo>
                      <a:pt x="19" y="46"/>
                    </a:lnTo>
                    <a:lnTo>
                      <a:pt x="14" y="54"/>
                    </a:lnTo>
                    <a:lnTo>
                      <a:pt x="8" y="65"/>
                    </a:lnTo>
                    <a:lnTo>
                      <a:pt x="6" y="73"/>
                    </a:lnTo>
                    <a:lnTo>
                      <a:pt x="3" y="83"/>
                    </a:lnTo>
                    <a:lnTo>
                      <a:pt x="0" y="94"/>
                    </a:lnTo>
                    <a:lnTo>
                      <a:pt x="0" y="105"/>
                    </a:lnTo>
                    <a:lnTo>
                      <a:pt x="0" y="115"/>
                    </a:lnTo>
                    <a:lnTo>
                      <a:pt x="3" y="126"/>
                    </a:lnTo>
                    <a:lnTo>
                      <a:pt x="6" y="137"/>
                    </a:lnTo>
                    <a:lnTo>
                      <a:pt x="8" y="148"/>
                    </a:lnTo>
                    <a:lnTo>
                      <a:pt x="14" y="156"/>
                    </a:lnTo>
                    <a:lnTo>
                      <a:pt x="19" y="164"/>
                    </a:lnTo>
                    <a:lnTo>
                      <a:pt x="25" y="172"/>
                    </a:lnTo>
                    <a:lnTo>
                      <a:pt x="33" y="180"/>
                    </a:lnTo>
                    <a:lnTo>
                      <a:pt x="41" y="188"/>
                    </a:lnTo>
                    <a:lnTo>
                      <a:pt x="49" y="193"/>
                    </a:lnTo>
                    <a:lnTo>
                      <a:pt x="57" y="199"/>
                    </a:lnTo>
                    <a:lnTo>
                      <a:pt x="68" y="204"/>
                    </a:lnTo>
                    <a:lnTo>
                      <a:pt x="78" y="207"/>
                    </a:lnTo>
                    <a:lnTo>
                      <a:pt x="89" y="209"/>
                    </a:lnTo>
                    <a:lnTo>
                      <a:pt x="100" y="212"/>
                    </a:lnTo>
                    <a:lnTo>
                      <a:pt x="111" y="212"/>
                    </a:lnTo>
                    <a:lnTo>
                      <a:pt x="121" y="212"/>
                    </a:lnTo>
                    <a:lnTo>
                      <a:pt x="132" y="209"/>
                    </a:lnTo>
                    <a:lnTo>
                      <a:pt x="143" y="207"/>
                    </a:lnTo>
                    <a:lnTo>
                      <a:pt x="154" y="204"/>
                    </a:lnTo>
                    <a:lnTo>
                      <a:pt x="162" y="199"/>
                    </a:lnTo>
                    <a:lnTo>
                      <a:pt x="170" y="193"/>
                    </a:lnTo>
                    <a:lnTo>
                      <a:pt x="178" y="188"/>
                    </a:lnTo>
                    <a:lnTo>
                      <a:pt x="186" y="180"/>
                    </a:lnTo>
                    <a:lnTo>
                      <a:pt x="194" y="172"/>
                    </a:lnTo>
                    <a:lnTo>
                      <a:pt x="199" y="164"/>
                    </a:lnTo>
                    <a:lnTo>
                      <a:pt x="205" y="156"/>
                    </a:lnTo>
                    <a:lnTo>
                      <a:pt x="210" y="148"/>
                    </a:lnTo>
                    <a:lnTo>
                      <a:pt x="213" y="137"/>
                    </a:lnTo>
                    <a:lnTo>
                      <a:pt x="216" y="126"/>
                    </a:lnTo>
                    <a:lnTo>
                      <a:pt x="218" y="115"/>
                    </a:lnTo>
                    <a:lnTo>
                      <a:pt x="218" y="105"/>
                    </a:lnTo>
                    <a:lnTo>
                      <a:pt x="218" y="94"/>
                    </a:lnTo>
                    <a:lnTo>
                      <a:pt x="216" y="83"/>
                    </a:lnTo>
                    <a:lnTo>
                      <a:pt x="213" y="73"/>
                    </a:lnTo>
                    <a:lnTo>
                      <a:pt x="210" y="65"/>
                    </a:lnTo>
                    <a:lnTo>
                      <a:pt x="205" y="54"/>
                    </a:lnTo>
                    <a:lnTo>
                      <a:pt x="199" y="46"/>
                    </a:lnTo>
                    <a:lnTo>
                      <a:pt x="194" y="38"/>
                    </a:lnTo>
                    <a:lnTo>
                      <a:pt x="186" y="30"/>
                    </a:lnTo>
                    <a:lnTo>
                      <a:pt x="178" y="24"/>
                    </a:lnTo>
                    <a:lnTo>
                      <a:pt x="170" y="19"/>
                    </a:lnTo>
                    <a:lnTo>
                      <a:pt x="162" y="14"/>
                    </a:lnTo>
                    <a:lnTo>
                      <a:pt x="154" y="8"/>
                    </a:lnTo>
                    <a:lnTo>
                      <a:pt x="143" y="6"/>
                    </a:lnTo>
                    <a:lnTo>
                      <a:pt x="132" y="3"/>
                    </a:lnTo>
                    <a:lnTo>
                      <a:pt x="121" y="0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Rectangle 18">
                <a:extLst>
                  <a:ext uri="{FF2B5EF4-FFF2-40B4-BE49-F238E27FC236}">
                    <a16:creationId xmlns:a16="http://schemas.microsoft.com/office/drawing/2014/main" id="{C94AE7D1-425B-0976-67E8-9A3498B4C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1010" y="1820692"/>
                <a:ext cx="1410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 b="1" dirty="0">
                    <a:solidFill>
                      <a:schemeClr val="bg1"/>
                    </a:solidFill>
                  </a:rPr>
                  <a:t>x</a:t>
                </a:r>
              </a:p>
            </p:txBody>
          </p:sp>
        </p:grpSp>
        <p:grpSp>
          <p:nvGrpSpPr>
            <p:cNvPr id="44" name="Group 47">
              <a:extLst>
                <a:ext uri="{FF2B5EF4-FFF2-40B4-BE49-F238E27FC236}">
                  <a16:creationId xmlns:a16="http://schemas.microsoft.com/office/drawing/2014/main" id="{7D57881B-B11D-D4E9-9021-25775EE82158}"/>
                </a:ext>
              </a:extLst>
            </p:cNvPr>
            <p:cNvGrpSpPr/>
            <p:nvPr/>
          </p:nvGrpSpPr>
          <p:grpSpPr>
            <a:xfrm>
              <a:off x="3269458" y="5837382"/>
              <a:ext cx="728450" cy="371714"/>
              <a:chOff x="2552896" y="2786969"/>
              <a:chExt cx="728450" cy="371714"/>
            </a:xfrm>
          </p:grpSpPr>
          <p:sp>
            <p:nvSpPr>
              <p:cNvPr id="45" name="Text Box 119">
                <a:extLst>
                  <a:ext uri="{FF2B5EF4-FFF2-40B4-BE49-F238E27FC236}">
                    <a16:creationId xmlns:a16="http://schemas.microsoft.com/office/drawing/2014/main" id="{A768A149-58C7-4945-89E8-3B8D7C3D50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2896" y="2883223"/>
                <a:ext cx="484428" cy="275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A,w</a:t>
                </a: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" name="AutoShape 118">
                <a:extLst>
                  <a:ext uri="{FF2B5EF4-FFF2-40B4-BE49-F238E27FC236}">
                    <a16:creationId xmlns:a16="http://schemas.microsoft.com/office/drawing/2014/main" id="{8B185565-14D3-ED19-27CF-1B9CE290F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975073">
                <a:off x="2824952" y="2786969"/>
                <a:ext cx="456394" cy="197302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7" name="Group 50">
              <a:extLst>
                <a:ext uri="{FF2B5EF4-FFF2-40B4-BE49-F238E27FC236}">
                  <a16:creationId xmlns:a16="http://schemas.microsoft.com/office/drawing/2014/main" id="{C457FDB0-7183-0585-7455-EE2C1005AA26}"/>
                </a:ext>
              </a:extLst>
            </p:cNvPr>
            <p:cNvGrpSpPr/>
            <p:nvPr/>
          </p:nvGrpSpPr>
          <p:grpSpPr>
            <a:xfrm>
              <a:off x="3215257" y="4804347"/>
              <a:ext cx="728451" cy="307647"/>
              <a:chOff x="2656196" y="2871746"/>
              <a:chExt cx="728451" cy="307647"/>
            </a:xfrm>
          </p:grpSpPr>
          <p:sp>
            <p:nvSpPr>
              <p:cNvPr id="48" name="Text Box 119">
                <a:extLst>
                  <a:ext uri="{FF2B5EF4-FFF2-40B4-BE49-F238E27FC236}">
                    <a16:creationId xmlns:a16="http://schemas.microsoft.com/office/drawing/2014/main" id="{0B168642-F954-6E59-F33C-8D30E83410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6196" y="2871746"/>
                <a:ext cx="484428" cy="275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A,w</a:t>
                </a: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9" name="AutoShape 118">
                <a:extLst>
                  <a:ext uri="{FF2B5EF4-FFF2-40B4-BE49-F238E27FC236}">
                    <a16:creationId xmlns:a16="http://schemas.microsoft.com/office/drawing/2014/main" id="{338BA9F1-05D9-26EA-65EB-41C3F9A29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256763">
                <a:off x="2928253" y="2982091"/>
                <a:ext cx="456394" cy="197302"/>
              </a:xfrm>
              <a:prstGeom prst="leftArrow">
                <a:avLst>
                  <a:gd name="adj1" fmla="val 50000"/>
                  <a:gd name="adj2" fmla="val 6954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2AF17278-E073-A460-488E-DF0BA4FA511B}"/>
              </a:ext>
            </a:extLst>
          </p:cNvPr>
          <p:cNvSpPr txBox="1"/>
          <p:nvPr/>
        </p:nvSpPr>
        <p:spPr>
          <a:xfrm>
            <a:off x="453178" y="5172003"/>
            <a:ext cx="10391288" cy="80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ISP</a:t>
            </a:r>
            <a:r>
              <a:rPr lang="zh-CN" altLang="en-US" sz="2000" dirty="0"/>
              <a:t>之间可能还建立对等</a:t>
            </a:r>
            <a:r>
              <a:rPr lang="en-US" altLang="zh-CN" sz="2000" dirty="0"/>
              <a:t>(peering)</a:t>
            </a:r>
            <a:r>
              <a:rPr lang="zh-CN" altLang="en-US" sz="2000" dirty="0"/>
              <a:t>关系：允许分组的源和目的地分别在当前</a:t>
            </a:r>
            <a:r>
              <a:rPr lang="en-US" altLang="zh-CN" sz="2000" dirty="0"/>
              <a:t>ISP</a:t>
            </a:r>
            <a:r>
              <a:rPr lang="zh-CN" altLang="en-US" sz="2000" dirty="0"/>
              <a:t>的客户网络和对等</a:t>
            </a:r>
            <a:r>
              <a:rPr lang="en-US" altLang="zh-CN" sz="2000" dirty="0"/>
              <a:t>ISP</a:t>
            </a:r>
            <a:r>
              <a:rPr lang="zh-CN" altLang="en-US" sz="2000" dirty="0"/>
              <a:t>的客户网络通过对等链路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12152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2">
      <a:dk1>
        <a:srgbClr val="1E1E1E"/>
      </a:dk1>
      <a:lt1>
        <a:sysClr val="window" lastClr="FFFFFF"/>
      </a:lt1>
      <a:dk2>
        <a:srgbClr val="0F1E3C"/>
      </a:dk2>
      <a:lt2>
        <a:srgbClr val="F0F0F0"/>
      </a:lt2>
      <a:accent1>
        <a:srgbClr val="0066CC"/>
      </a:accent1>
      <a:accent2>
        <a:srgbClr val="009999"/>
      </a:accent2>
      <a:accent3>
        <a:srgbClr val="00CC66"/>
      </a:accent3>
      <a:accent4>
        <a:srgbClr val="FF6600"/>
      </a:accent4>
      <a:accent5>
        <a:srgbClr val="9933CC"/>
      </a:accent5>
      <a:accent6>
        <a:srgbClr val="666666"/>
      </a:accent6>
      <a:hlink>
        <a:srgbClr val="0066CC"/>
      </a:hlink>
      <a:folHlink>
        <a:srgbClr val="663399"/>
      </a:folHlink>
    </a:clrScheme>
    <a:fontScheme name="主题字体">
      <a:majorFont>
        <a:latin typeface="Consolas"/>
        <a:ea typeface="华文楷体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89424</TotalTime>
  <Words>7803</Words>
  <Application>Microsoft Office PowerPoint</Application>
  <PresentationFormat>宽屏</PresentationFormat>
  <Paragraphs>1293</Paragraphs>
  <Slides>40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2" baseType="lpstr">
      <vt:lpstr>ＭＳ Ｐゴシック</vt:lpstr>
      <vt:lpstr>等线</vt:lpstr>
      <vt:lpstr>微软雅黑</vt:lpstr>
      <vt:lpstr>Arial</vt:lpstr>
      <vt:lpstr>Calibri</vt:lpstr>
      <vt:lpstr>Cambria Math</vt:lpstr>
      <vt:lpstr>Comic Sans MS</vt:lpstr>
      <vt:lpstr>Consolas</vt:lpstr>
      <vt:lpstr>Gill Sans MT</vt:lpstr>
      <vt:lpstr>Times New Roman</vt:lpstr>
      <vt:lpstr>Wingdings</vt:lpstr>
      <vt:lpstr>Office 主题​​</vt:lpstr>
      <vt:lpstr>第5章 网络层：控制平面</vt:lpstr>
      <vt:lpstr>主要内容</vt:lpstr>
      <vt:lpstr>回顾：网络层控制平面：传统方法</vt:lpstr>
      <vt:lpstr>回顾：网络控制平面：SDN</vt:lpstr>
      <vt:lpstr>路由选择算法</vt:lpstr>
      <vt:lpstr>网络拓扑抽象为图的表示</vt:lpstr>
      <vt:lpstr>路由算法分类</vt:lpstr>
      <vt:lpstr>主要内容</vt:lpstr>
      <vt:lpstr>Dijkstra链路状态路由算法</vt:lpstr>
      <vt:lpstr>Dijkstra算法</vt:lpstr>
      <vt:lpstr>Dijkstra算法示例</vt:lpstr>
      <vt:lpstr>Dijkstra算法示例</vt:lpstr>
      <vt:lpstr>Dijkstra算法：复杂度分析</vt:lpstr>
      <vt:lpstr>Dijkstra算法：负载敏感</vt:lpstr>
      <vt:lpstr>主要内容</vt:lpstr>
      <vt:lpstr>距离向量路由算法</vt:lpstr>
      <vt:lpstr>距离向量路由算法</vt:lpstr>
      <vt:lpstr>PowerPoint 演示文稿</vt:lpstr>
      <vt:lpstr>距离向量路由算法：链路花费改变</vt:lpstr>
      <vt:lpstr>距离向量路由算法：链路花费改变</vt:lpstr>
      <vt:lpstr>距离向量路由算法：无穷计数</vt:lpstr>
      <vt:lpstr>距离向量路由算法：带反向抑制的水平分割</vt:lpstr>
      <vt:lpstr>【拓展】距离向量路由协议：RIP（Routing Information Protocol）</vt:lpstr>
      <vt:lpstr>链路状态与距离向量算法的比较</vt:lpstr>
      <vt:lpstr>主要内容</vt:lpstr>
      <vt:lpstr>自治系统（Autonomous System）</vt:lpstr>
      <vt:lpstr>自治系统（Autonomous System）</vt:lpstr>
      <vt:lpstr>自治系统内部的路由协议(IGP)</vt:lpstr>
      <vt:lpstr>开放最短路径优先OSPF: Open Shortest Path First </vt:lpstr>
      <vt:lpstr>OSPF：两层层次结构</vt:lpstr>
      <vt:lpstr>主要内容</vt:lpstr>
      <vt:lpstr>AS之间的路由协议：边界网关协议BGP（border gateway protocol）</vt:lpstr>
      <vt:lpstr>eBGP和iBGP</vt:lpstr>
      <vt:lpstr>eBGP和iBGP</vt:lpstr>
      <vt:lpstr>NEXT-HOP路径属性</vt:lpstr>
      <vt:lpstr>BGP路由 + OSPF路由 --&gt; 转发表</vt:lpstr>
      <vt:lpstr>热土豆路由(Hot Potato Routing)</vt:lpstr>
      <vt:lpstr>BGP路由决策过程</vt:lpstr>
      <vt:lpstr>BGP：更好的路由</vt:lpstr>
      <vt:lpstr>路由选择策略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Mao Dilin</dc:creator>
  <cp:lastModifiedBy>Dilin Mao</cp:lastModifiedBy>
  <cp:revision>708</cp:revision>
  <dcterms:created xsi:type="dcterms:W3CDTF">2021-07-08T12:06:32Z</dcterms:created>
  <dcterms:modified xsi:type="dcterms:W3CDTF">2025-11-27T15:53:54Z</dcterms:modified>
</cp:coreProperties>
</file>