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70" r:id="rId6"/>
    <p:sldId id="264" r:id="rId7"/>
    <p:sldId id="265" r:id="rId8"/>
    <p:sldId id="266" r:id="rId9"/>
    <p:sldId id="267" r:id="rId10"/>
    <p:sldId id="269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A7C37-8899-4CB5-BFE5-C5E346F16B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2A7C37-8899-4CB5-BFE5-C5E346F16B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Network Layer: 4-</a:t>
            </a:r>
            <a:fld id="{C4204591-24BD-A542-B9D5-F8D8A88D2FEE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实验</a:t>
            </a:r>
            <a:r>
              <a:rPr lang="en-US" altLang="zh-CN"/>
              <a:t>7 DHCP</a:t>
            </a:r>
            <a:r>
              <a:rPr lang="zh-CN" altLang="en-US"/>
              <a:t>实验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9235" y="424815"/>
            <a:ext cx="12045950" cy="70548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动态主机配置协议</a:t>
            </a:r>
            <a:r>
              <a:rPr lang="en-US" altLang="zh-CN" sz="2800" dirty="0"/>
              <a:t>DHCP: Dynamic Host Configuration Protocol</a:t>
            </a:r>
            <a:endParaRPr lang="en-US" altLang="zh-CN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为主机分配一个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r>
              <a:rPr lang="zh-CN" altLang="en-US" dirty="0"/>
              <a:t>为主机所在网络分配地址块</a:t>
            </a:r>
            <a:endParaRPr lang="en-US" altLang="zh-CN" dirty="0"/>
          </a:p>
          <a:p>
            <a:r>
              <a:rPr lang="zh-CN" altLang="en-US" dirty="0"/>
              <a:t>为主机分配地址块中的某个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zh-CN" altLang="en-US" sz="1800" dirty="0"/>
              <a:t>手工配置</a:t>
            </a:r>
            <a:endParaRPr lang="en-US" altLang="zh-CN" sz="1800" dirty="0"/>
          </a:p>
          <a:p>
            <a:pPr lvl="1"/>
            <a:r>
              <a:rPr lang="en-US" altLang="zh-CN" sz="1800" dirty="0"/>
              <a:t>DHCP</a:t>
            </a:r>
            <a:r>
              <a:rPr lang="zh-CN" altLang="en-US" sz="1800" dirty="0"/>
              <a:t>：从</a:t>
            </a:r>
            <a:r>
              <a:rPr lang="en-US" altLang="zh-CN" sz="1800" b="1" dirty="0">
                <a:solidFill>
                  <a:srgbClr val="FF0000"/>
                </a:solidFill>
              </a:rPr>
              <a:t>DHCP</a:t>
            </a:r>
            <a:r>
              <a:rPr lang="zh-CN" altLang="en-US" sz="1800" b="1" dirty="0">
                <a:solidFill>
                  <a:srgbClr val="FF0000"/>
                </a:solidFill>
              </a:rPr>
              <a:t>服务器</a:t>
            </a:r>
            <a:r>
              <a:rPr lang="zh-CN" altLang="en-US" sz="1800" dirty="0"/>
              <a:t>获取</a:t>
            </a:r>
            <a:r>
              <a:rPr lang="en-US" altLang="zh-CN" sz="1800" dirty="0"/>
              <a:t>IP</a:t>
            </a:r>
            <a:r>
              <a:rPr lang="zh-CN" altLang="en-US" sz="1800" dirty="0"/>
              <a:t>地址、网络掩码、缺省路由器、</a:t>
            </a:r>
            <a:r>
              <a:rPr lang="en-US" altLang="zh-CN" sz="1800" dirty="0"/>
              <a:t>DNS</a:t>
            </a:r>
            <a:r>
              <a:rPr lang="zh-CN" altLang="en-US" sz="1800" dirty="0"/>
              <a:t>服务器等参数</a:t>
            </a:r>
            <a:endParaRPr lang="en-US" altLang="zh-CN" sz="1800" dirty="0"/>
          </a:p>
          <a:p>
            <a:pPr lvl="2"/>
            <a:r>
              <a:rPr lang="zh-CN" altLang="en-US" sz="1800" dirty="0"/>
              <a:t>服务方端口号为</a:t>
            </a:r>
            <a:r>
              <a:rPr lang="en-US" altLang="zh-CN" sz="1800" dirty="0"/>
              <a:t>67</a:t>
            </a:r>
            <a:r>
              <a:rPr lang="zh-CN" altLang="en-US" sz="1800" dirty="0"/>
              <a:t>，客户方端口号为</a:t>
            </a:r>
            <a:r>
              <a:rPr lang="en-US" altLang="zh-CN" sz="1800" dirty="0"/>
              <a:t>68</a:t>
            </a:r>
            <a:endParaRPr lang="en-US" altLang="zh-CN" sz="1800" dirty="0"/>
          </a:p>
          <a:p>
            <a:pPr lvl="2">
              <a:lnSpc>
                <a:spcPct val="100000"/>
              </a:lnSpc>
            </a:pPr>
            <a:endParaRPr lang="en-US" altLang="zh-CN" dirty="0"/>
          </a:p>
          <a:p>
            <a:pPr lvl="2"/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9235" y="424815"/>
            <a:ext cx="12045950" cy="705485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命令行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altLang="zh-CN" dirty="0"/>
              <a:t>ipconfig /release</a:t>
            </a:r>
            <a:endParaRPr lang="en-US" altLang="zh-CN" dirty="0"/>
          </a:p>
          <a:p>
            <a:pPr lvl="1"/>
            <a:r>
              <a:rPr lang="zh-CN" altLang="en-US" dirty="0"/>
              <a:t>释放全部</a:t>
            </a:r>
            <a:r>
              <a:rPr lang="en-US" altLang="zh-CN" dirty="0"/>
              <a:t>(</a:t>
            </a:r>
            <a:r>
              <a:rPr lang="zh-CN" altLang="en-US" dirty="0"/>
              <a:t>或指定</a:t>
            </a:r>
            <a:r>
              <a:rPr lang="en-US" altLang="zh-CN" dirty="0"/>
              <a:t>)</a:t>
            </a:r>
            <a:r>
              <a:rPr lang="zh-CN" altLang="en-US" dirty="0"/>
              <a:t>适配器的由</a:t>
            </a:r>
            <a:r>
              <a:rPr lang="en-US" altLang="zh-CN" dirty="0"/>
              <a:t>DHCP</a:t>
            </a:r>
            <a:r>
              <a:rPr lang="zh-CN" altLang="en-US" dirty="0"/>
              <a:t>分配的动态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endParaRPr lang="zh-CN" altLang="en-US" dirty="0"/>
          </a:p>
          <a:p>
            <a:pPr lvl="1"/>
            <a:endParaRPr lang="zh-CN" altLang="en-US" dirty="0"/>
          </a:p>
          <a:p>
            <a:pPr lvl="0"/>
            <a:r>
              <a:rPr lang="en-US" altLang="zh-CN" dirty="0"/>
              <a:t>ipconfig /</a:t>
            </a:r>
            <a:r>
              <a:rPr lang="en-US" altLang="zh-CN" dirty="0"/>
              <a:t>renew</a:t>
            </a:r>
            <a:endParaRPr lang="en-US" altLang="zh-CN" dirty="0"/>
          </a:p>
          <a:p>
            <a:pPr lvl="1"/>
            <a:r>
              <a:rPr lang="zh-CN" altLang="en-US" dirty="0"/>
              <a:t>向</a:t>
            </a:r>
            <a:r>
              <a:rPr lang="en-US" altLang="zh-CN" dirty="0"/>
              <a:t>DHCP</a:t>
            </a:r>
            <a:r>
              <a:rPr lang="zh-CN" altLang="en-US" dirty="0"/>
              <a:t>服务器请求新的</a:t>
            </a:r>
            <a:r>
              <a:rPr lang="en-US" altLang="zh-CN" dirty="0"/>
              <a:t>IP</a:t>
            </a:r>
            <a:r>
              <a:rPr lang="zh-CN" altLang="en-US" dirty="0"/>
              <a:t>地址配置。</a:t>
            </a:r>
            <a:endParaRPr lang="zh-CN" altLang="en-US" dirty="0"/>
          </a:p>
          <a:p>
            <a:pPr lvl="1"/>
            <a:r>
              <a:rPr lang="zh-CN" altLang="en-US" dirty="0"/>
              <a:t>过程：</a:t>
            </a:r>
            <a:endParaRPr lang="zh-CN" altLang="en-US" dirty="0"/>
          </a:p>
          <a:p>
            <a:pPr lvl="2"/>
            <a:r>
              <a:rPr lang="zh-CN" altLang="en-US" dirty="0"/>
              <a:t>发送</a:t>
            </a:r>
            <a:r>
              <a:rPr lang="en-US" altLang="zh-CN" dirty="0"/>
              <a:t>"DHCP Discover"</a:t>
            </a:r>
            <a:r>
              <a:rPr lang="zh-CN" altLang="en-US" dirty="0"/>
              <a:t>广播寻找</a:t>
            </a:r>
            <a:r>
              <a:rPr lang="en-US" altLang="zh-CN" dirty="0"/>
              <a:t>DHCP</a:t>
            </a:r>
            <a:r>
              <a:rPr lang="zh-CN" altLang="en-US" dirty="0"/>
              <a:t>服务器</a:t>
            </a:r>
            <a:endParaRPr lang="en-US" altLang="zh-CN" dirty="0"/>
          </a:p>
          <a:p>
            <a:pPr lvl="2"/>
            <a:r>
              <a:rPr lang="zh-CN" altLang="en-US" dirty="0"/>
              <a:t>接收</a:t>
            </a:r>
            <a:r>
              <a:rPr lang="en-US" altLang="zh-CN" dirty="0"/>
              <a:t>"DHCP Offer"</a:t>
            </a:r>
            <a:r>
              <a:rPr lang="zh-CN" altLang="en-US" dirty="0"/>
              <a:t>提供的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zh-CN" altLang="en-US" dirty="0"/>
          </a:p>
          <a:p>
            <a:pPr lvl="2"/>
            <a:r>
              <a:rPr lang="zh-CN" altLang="en-US" dirty="0"/>
              <a:t>发送</a:t>
            </a:r>
            <a:r>
              <a:rPr lang="en-US" altLang="zh-CN" dirty="0"/>
              <a:t>"DHCP Request"</a:t>
            </a:r>
            <a:r>
              <a:rPr lang="zh-CN" altLang="en-US" dirty="0"/>
              <a:t>确认接受</a:t>
            </a:r>
            <a:endParaRPr lang="en-US" altLang="zh-CN" dirty="0"/>
          </a:p>
          <a:p>
            <a:pPr lvl="2"/>
            <a:r>
              <a:rPr lang="zh-CN" altLang="en-US" dirty="0"/>
              <a:t>接收</a:t>
            </a:r>
            <a:r>
              <a:rPr lang="en-US" altLang="zh-CN" dirty="0"/>
              <a:t>"DHCP Ack"</a:t>
            </a:r>
            <a:r>
              <a:rPr lang="zh-CN" altLang="en-US" dirty="0"/>
              <a:t>最终确认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410" y="151835"/>
            <a:ext cx="10969200" cy="705600"/>
          </a:xfrm>
        </p:spPr>
        <p:txBody>
          <a:bodyPr/>
          <a:lstStyle/>
          <a:p>
            <a:r>
              <a:rPr lang="en-US" altLang="zh-CN" dirty="0"/>
              <a:t>DHCP</a:t>
            </a:r>
            <a:r>
              <a:rPr lang="zh-CN" altLang="en-US" dirty="0"/>
              <a:t>消息格式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2913" y="782003"/>
            <a:ext cx="11289710" cy="4274934"/>
          </a:xfrm>
        </p:spPr>
        <p:txBody>
          <a:bodyPr/>
          <a:lstStyle/>
          <a:p>
            <a:r>
              <a:rPr lang="zh-CN" altLang="en-US" dirty="0"/>
              <a:t>操作码为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  <a:r>
              <a:rPr lang="zh-CN" altLang="en-US" dirty="0"/>
              <a:t>：请求和响应</a:t>
            </a:r>
            <a:endParaRPr lang="en-US" altLang="zh-CN" dirty="0"/>
          </a:p>
          <a:p>
            <a:r>
              <a:rPr lang="zh-CN" altLang="en-US" dirty="0"/>
              <a:t>跳段数：初始为</a:t>
            </a:r>
            <a:r>
              <a:rPr lang="en-US" altLang="zh-CN" dirty="0"/>
              <a:t>0</a:t>
            </a:r>
            <a:r>
              <a:rPr lang="zh-CN" altLang="en-US" dirty="0"/>
              <a:t>，中继代理转发时加</a:t>
            </a:r>
            <a:r>
              <a:rPr lang="en-US" altLang="zh-CN" dirty="0"/>
              <a:t>1</a:t>
            </a:r>
            <a:r>
              <a:rPr lang="zh-CN" altLang="en-US" dirty="0"/>
              <a:t>，检测回路</a:t>
            </a:r>
            <a:endParaRPr lang="en-US" altLang="zh-CN" dirty="0"/>
          </a:p>
          <a:p>
            <a:r>
              <a:rPr lang="zh-CN" altLang="en-US" dirty="0"/>
              <a:t>交易</a:t>
            </a:r>
            <a:r>
              <a:rPr lang="en-US" altLang="zh-CN" dirty="0"/>
              <a:t>ID</a:t>
            </a:r>
            <a:r>
              <a:rPr lang="zh-CN" altLang="en-US" dirty="0"/>
              <a:t>： 请求和响应的匹配</a:t>
            </a:r>
            <a:endParaRPr lang="en-US" altLang="zh-CN" dirty="0"/>
          </a:p>
          <a:p>
            <a:r>
              <a:rPr lang="zh-CN" altLang="en-US" dirty="0"/>
              <a:t>中继</a:t>
            </a:r>
            <a:r>
              <a:rPr lang="en-US" altLang="zh-CN" dirty="0"/>
              <a:t>IP</a:t>
            </a:r>
            <a:r>
              <a:rPr lang="zh-CN" altLang="en-US" dirty="0"/>
              <a:t>地址：中继代理转发且该字段没有设置时填充</a:t>
            </a:r>
            <a:endParaRPr lang="zh-CN" altLang="en-US" dirty="0"/>
          </a:p>
          <a:p>
            <a:pPr marL="285750" indent="-285750"/>
            <a:r>
              <a:rPr lang="zh-CN" altLang="en-US" dirty="0"/>
              <a:t>你的</a:t>
            </a:r>
            <a:r>
              <a:rPr lang="en-US" altLang="zh-CN" dirty="0"/>
              <a:t>IP</a:t>
            </a:r>
            <a:r>
              <a:rPr lang="zh-CN" altLang="en-US" dirty="0"/>
              <a:t>地址：服务器所分配的地址</a:t>
            </a:r>
            <a:endParaRPr lang="en-US" altLang="zh-CN" dirty="0"/>
          </a:p>
          <a:p>
            <a:pPr marL="285750" indent="-285750"/>
            <a:r>
              <a:rPr lang="zh-CN" altLang="en-US" dirty="0"/>
              <a:t>客户方硬件地址：可用于标识客户方</a:t>
            </a:r>
            <a:endParaRPr lang="en-US" altLang="zh-CN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4937705" y="2625269"/>
          <a:ext cx="7160068" cy="40290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90017"/>
                <a:gridCol w="1790017"/>
                <a:gridCol w="1790017"/>
                <a:gridCol w="1790017"/>
              </a:tblGrid>
              <a:tr h="3309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操作码</a:t>
                      </a:r>
                      <a:r>
                        <a:rPr lang="en-US" altLang="zh-CN" sz="1600" dirty="0"/>
                        <a:t>(</a:t>
                      </a:r>
                      <a:r>
                        <a:rPr lang="zh-CN" altLang="en-US" sz="1600" dirty="0"/>
                        <a:t>请求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响应</a:t>
                      </a:r>
                      <a:r>
                        <a:rPr lang="en-US" altLang="zh-CN" sz="1600" dirty="0"/>
                        <a:t>)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硬件类型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硬件地址长度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跳段数</a:t>
                      </a:r>
                      <a:endParaRPr lang="zh-CN" altLang="en-US" dirty="0"/>
                    </a:p>
                  </a:txBody>
                  <a:tcPr/>
                </a:tc>
              </a:tr>
              <a:tr h="330908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accent6"/>
                          </a:solidFill>
                        </a:rPr>
                        <a:t>交易</a:t>
                      </a:r>
                      <a:r>
                        <a:rPr lang="en-US" altLang="zh-CN" b="1" dirty="0">
                          <a:solidFill>
                            <a:schemeClr val="accent6"/>
                          </a:solidFill>
                        </a:rPr>
                        <a:t>ID</a:t>
                      </a:r>
                      <a:endParaRPr lang="zh-CN" altLang="en-US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090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时间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秒</a:t>
                      </a:r>
                      <a:r>
                        <a:rPr lang="en-US" altLang="zh-CN" dirty="0"/>
                        <a:t>) </a:t>
                      </a:r>
                      <a:r>
                        <a:rPr lang="en-US" altLang="zh-CN" sz="1600" dirty="0"/>
                        <a:t>client</a:t>
                      </a:r>
                      <a:r>
                        <a:rPr lang="zh-CN" altLang="en-US" sz="1600" dirty="0"/>
                        <a:t>开始地址获取的时间</a:t>
                      </a:r>
                      <a:endParaRPr lang="zh-CN" altLang="en-US" dirty="0"/>
                    </a:p>
                  </a:txBody>
                  <a:tcPr/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标志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b="1" dirty="0">
                          <a:solidFill>
                            <a:schemeClr val="accent6"/>
                          </a:solidFill>
                        </a:rPr>
                        <a:t>最高位为广播</a:t>
                      </a:r>
                      <a:r>
                        <a:rPr lang="en-US" altLang="zh-CN" b="1" dirty="0">
                          <a:solidFill>
                            <a:schemeClr val="accent6"/>
                          </a:solidFill>
                        </a:rPr>
                        <a:t>bit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 hMerge="1">
                  <a:tcPr/>
                </a:tc>
              </a:tr>
              <a:tr h="330908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1" dirty="0" err="1">
                          <a:solidFill>
                            <a:srgbClr val="FF0000"/>
                          </a:solidFill>
                        </a:rPr>
                        <a:t>ciaddr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客户方</a:t>
                      </a:r>
                      <a:r>
                        <a:rPr lang="en-US" altLang="zh-CN" b="1" dirty="0">
                          <a:solidFill>
                            <a:srgbClr val="FF0000"/>
                          </a:solidFill>
                        </a:rPr>
                        <a:t>IP</a:t>
                      </a:r>
                      <a:r>
                        <a:rPr lang="zh-CN" altLang="en-US" b="1" dirty="0">
                          <a:solidFill>
                            <a:srgbClr val="FF0000"/>
                          </a:solidFill>
                        </a:rPr>
                        <a:t>地址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已经合法拥有地址时填充，否则为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0)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0908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1" dirty="0" err="1">
                          <a:solidFill>
                            <a:schemeClr val="accent6"/>
                          </a:solidFill>
                        </a:rPr>
                        <a:t>yiaddr</a:t>
                      </a:r>
                      <a:r>
                        <a:rPr lang="zh-CN" altLang="en-US" b="1" dirty="0">
                          <a:solidFill>
                            <a:schemeClr val="accent6"/>
                          </a:solidFill>
                        </a:rPr>
                        <a:t>你的</a:t>
                      </a:r>
                      <a:r>
                        <a:rPr lang="en-US" altLang="zh-CN" b="1" dirty="0">
                          <a:solidFill>
                            <a:schemeClr val="accent6"/>
                          </a:solidFill>
                        </a:rPr>
                        <a:t>IP</a:t>
                      </a:r>
                      <a:r>
                        <a:rPr lang="zh-CN" altLang="en-US" b="1" dirty="0">
                          <a:solidFill>
                            <a:schemeClr val="accent6"/>
                          </a:solidFill>
                        </a:rPr>
                        <a:t>地址</a:t>
                      </a:r>
                      <a:r>
                        <a:rPr lang="en-US" altLang="zh-CN" b="1" dirty="0">
                          <a:solidFill>
                            <a:schemeClr val="accent6"/>
                          </a:solidFill>
                        </a:rPr>
                        <a:t>(</a:t>
                      </a:r>
                      <a:r>
                        <a:rPr lang="zh-CN" altLang="en-US" b="1" dirty="0">
                          <a:solidFill>
                            <a:schemeClr val="accent6"/>
                          </a:solidFill>
                        </a:rPr>
                        <a:t>服务方为你分配的地址</a:t>
                      </a:r>
                      <a:r>
                        <a:rPr lang="en-US" altLang="zh-CN" b="1" dirty="0">
                          <a:solidFill>
                            <a:schemeClr val="accent6"/>
                          </a:solidFill>
                        </a:rPr>
                        <a:t>)</a:t>
                      </a:r>
                      <a:endParaRPr lang="zh-CN" altLang="en-US" b="1" dirty="0">
                        <a:solidFill>
                          <a:schemeClr val="accent6"/>
                        </a:solidFill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71475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(TFTP)</a:t>
                      </a:r>
                      <a:r>
                        <a:rPr lang="zh-CN" altLang="en-US" dirty="0"/>
                        <a:t>服务方</a:t>
                      </a:r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地址，下一步引导使用的</a:t>
                      </a:r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地址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如</a:t>
                      </a:r>
                      <a:r>
                        <a:rPr lang="en-US" altLang="zh-CN" dirty="0"/>
                        <a:t>OS</a:t>
                      </a:r>
                      <a:r>
                        <a:rPr lang="zh-CN" altLang="en-US" dirty="0"/>
                        <a:t>映像所在地址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0908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b="1" dirty="0">
                          <a:solidFill>
                            <a:schemeClr val="accent1"/>
                          </a:solidFill>
                        </a:rPr>
                        <a:t>中继</a:t>
                      </a:r>
                      <a:r>
                        <a:rPr lang="en-US" altLang="zh-CN" b="1" dirty="0">
                          <a:solidFill>
                            <a:schemeClr val="accent1"/>
                          </a:solidFill>
                        </a:rPr>
                        <a:t>IP</a:t>
                      </a:r>
                      <a:r>
                        <a:rPr lang="zh-CN" altLang="en-US" b="1" dirty="0">
                          <a:solidFill>
                            <a:schemeClr val="accent1"/>
                          </a:solidFill>
                        </a:rPr>
                        <a:t>地址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relay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转发时设置）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0908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b="1" dirty="0" err="1">
                          <a:solidFill>
                            <a:schemeClr val="accent6"/>
                          </a:solidFill>
                        </a:rPr>
                        <a:t>chaddr</a:t>
                      </a:r>
                      <a:r>
                        <a:rPr lang="zh-CN" altLang="en-US" b="1" dirty="0">
                          <a:solidFill>
                            <a:schemeClr val="accent6"/>
                          </a:solidFill>
                        </a:rPr>
                        <a:t>客户方硬件地址</a:t>
                      </a:r>
                      <a:r>
                        <a:rPr lang="en-US" altLang="zh-CN" dirty="0"/>
                        <a:t>(16</a:t>
                      </a:r>
                      <a:r>
                        <a:rPr lang="zh-CN" altLang="en-US" dirty="0"/>
                        <a:t>字节）有时也可作为</a:t>
                      </a:r>
                      <a:r>
                        <a:rPr lang="en-US" altLang="zh-CN" dirty="0"/>
                        <a:t>Client</a:t>
                      </a:r>
                      <a:r>
                        <a:rPr lang="zh-CN" altLang="en-US" dirty="0"/>
                        <a:t>标识</a:t>
                      </a:r>
                      <a:endParaRPr lang="zh-CN" altLang="en-US" dirty="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0908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服务方主机名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可选，</a:t>
                      </a:r>
                      <a:r>
                        <a:rPr lang="en-US" altLang="zh-CN" dirty="0"/>
                        <a:t>NULL</a:t>
                      </a:r>
                      <a:r>
                        <a:rPr lang="zh-CN" altLang="en-US" dirty="0"/>
                        <a:t>字符结束，最长</a:t>
                      </a:r>
                      <a:r>
                        <a:rPr lang="en-US" altLang="zh-CN" dirty="0"/>
                        <a:t>64</a:t>
                      </a:r>
                      <a:r>
                        <a:rPr lang="zh-CN" altLang="en-US" dirty="0"/>
                        <a:t>字节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0908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引导文件路径名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可选，</a:t>
                      </a:r>
                      <a:r>
                        <a:rPr lang="en-US" altLang="zh-CN" dirty="0"/>
                        <a:t>NULL</a:t>
                      </a:r>
                      <a:r>
                        <a:rPr lang="zh-CN" altLang="en-US" dirty="0"/>
                        <a:t>字符结束，最长</a:t>
                      </a:r>
                      <a:r>
                        <a:rPr lang="en-US" altLang="zh-CN" dirty="0"/>
                        <a:t>128</a:t>
                      </a:r>
                      <a:r>
                        <a:rPr lang="zh-CN" altLang="en-US" dirty="0"/>
                        <a:t>字节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30908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选项</a:t>
                      </a:r>
                      <a:r>
                        <a:rPr lang="en-US" altLang="zh-CN" dirty="0"/>
                        <a:t>(TLV)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42913" y="3537518"/>
            <a:ext cx="442542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DHCP</a:t>
            </a:r>
            <a:r>
              <a:rPr lang="zh-CN" altLang="en-US" sz="2000" dirty="0"/>
              <a:t>消息在</a:t>
            </a:r>
            <a:r>
              <a:rPr lang="en-US" altLang="zh-CN" sz="2000" dirty="0"/>
              <a:t>BOOTP</a:t>
            </a:r>
            <a:r>
              <a:rPr lang="zh-CN" altLang="en-US" sz="2000" dirty="0"/>
              <a:t>消息格式的基础上通过采用</a:t>
            </a:r>
            <a:r>
              <a:rPr lang="en-US" altLang="zh-CN" sz="2000" dirty="0"/>
              <a:t>TLV</a:t>
            </a:r>
            <a:r>
              <a:rPr lang="zh-CN" altLang="en-US" sz="2000" dirty="0"/>
              <a:t>描述的选项部分进行了扩展。其中类型为</a:t>
            </a:r>
            <a:r>
              <a:rPr lang="en-US" altLang="zh-CN" sz="2000" dirty="0"/>
              <a:t>53</a:t>
            </a:r>
            <a:r>
              <a:rPr lang="zh-CN" altLang="en-US" sz="2000" dirty="0"/>
              <a:t>的选项是必须的，描述了</a:t>
            </a:r>
            <a:r>
              <a:rPr lang="en-US" altLang="zh-CN" sz="2000" dirty="0"/>
              <a:t>DHCP</a:t>
            </a:r>
            <a:r>
              <a:rPr lang="zh-CN" altLang="en-US" sz="2000" dirty="0"/>
              <a:t>消息的类型</a:t>
            </a:r>
            <a:endParaRPr lang="zh-CN" altLang="en-US" sz="2000" dirty="0"/>
          </a:p>
        </p:txBody>
      </p:sp>
      <p:graphicFrame>
        <p:nvGraphicFramePr>
          <p:cNvPr id="8" name="表格 8"/>
          <p:cNvGraphicFramePr>
            <a:graphicFrameLocks noGrp="1"/>
          </p:cNvGraphicFramePr>
          <p:nvPr/>
        </p:nvGraphicFramePr>
        <p:xfrm>
          <a:off x="6717773" y="1680077"/>
          <a:ext cx="5380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2000"/>
                <a:gridCol w="828000"/>
                <a:gridCol w="1188000"/>
                <a:gridCol w="2032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链路层头部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IP</a:t>
                      </a:r>
                      <a:r>
                        <a:rPr lang="zh-CN" altLang="en-US" dirty="0"/>
                        <a:t>头部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UDP</a:t>
                      </a:r>
                      <a:r>
                        <a:rPr lang="zh-CN" altLang="en-US" dirty="0"/>
                        <a:t>头部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DHCP</a:t>
                      </a:r>
                      <a:r>
                        <a:rPr lang="zh-CN" altLang="en-US" dirty="0"/>
                        <a:t>消息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1" name="直接箭头连接符 10"/>
          <p:cNvCxnSpPr/>
          <p:nvPr/>
        </p:nvCxnSpPr>
        <p:spPr>
          <a:xfrm flipH="1">
            <a:off x="10019071" y="2053703"/>
            <a:ext cx="802008" cy="528294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8825130" y="857281"/>
            <a:ext cx="1862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服务方端口</a:t>
            </a:r>
            <a:r>
              <a:rPr lang="en-US" altLang="zh-CN" dirty="0"/>
              <a:t>:67</a:t>
            </a:r>
            <a:endParaRPr lang="en-US" altLang="zh-CN" dirty="0"/>
          </a:p>
          <a:p>
            <a:r>
              <a:rPr lang="zh-CN" altLang="en-US" dirty="0"/>
              <a:t>客户方端口</a:t>
            </a:r>
            <a:r>
              <a:rPr lang="en-US" altLang="zh-CN" dirty="0"/>
              <a:t>:68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DHCP</a:t>
            </a:r>
            <a:r>
              <a:rPr lang="zh-CN" altLang="en-US" dirty="0"/>
              <a:t>消息格式：</a:t>
            </a:r>
            <a:r>
              <a:rPr lang="en-US" altLang="zh-CN" dirty="0"/>
              <a:t>DHCP</a:t>
            </a:r>
            <a:r>
              <a:rPr lang="zh-CN" altLang="en-US" dirty="0"/>
              <a:t>选项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0698" y="1411923"/>
            <a:ext cx="8028089" cy="561771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TLV</a:t>
            </a:r>
            <a:r>
              <a:rPr lang="zh-CN" altLang="en-US" sz="2000" dirty="0"/>
              <a:t>描述</a:t>
            </a:r>
            <a:r>
              <a:rPr lang="zh-CN" altLang="en-US" dirty="0"/>
              <a:t>选项</a:t>
            </a:r>
            <a:r>
              <a:rPr lang="en-US" altLang="zh-CN" dirty="0"/>
              <a:t>: LEN</a:t>
            </a:r>
            <a:r>
              <a:rPr lang="zh-CN" altLang="en-US" dirty="0"/>
              <a:t>为后面的</a:t>
            </a:r>
            <a:r>
              <a:rPr lang="en-US" altLang="zh-CN" dirty="0"/>
              <a:t>Value</a:t>
            </a:r>
            <a:r>
              <a:rPr lang="zh-CN" altLang="en-US" dirty="0"/>
              <a:t>的长度</a:t>
            </a:r>
            <a:endParaRPr lang="en-US" altLang="zh-CN" dirty="0"/>
          </a:p>
          <a:p>
            <a:r>
              <a:rPr lang="en-US" altLang="zh-CN" dirty="0"/>
              <a:t>DHCP Message Type</a:t>
            </a:r>
            <a:r>
              <a:rPr lang="zh-CN" altLang="en-US" dirty="0"/>
              <a:t>：哪种类型的</a:t>
            </a:r>
            <a:r>
              <a:rPr lang="en-US" altLang="zh-CN" dirty="0"/>
              <a:t>DHCP</a:t>
            </a:r>
            <a:r>
              <a:rPr lang="zh-CN" altLang="en-US" dirty="0"/>
              <a:t>消息</a:t>
            </a:r>
            <a:endParaRPr lang="en-US" altLang="zh-CN" dirty="0"/>
          </a:p>
          <a:p>
            <a:r>
              <a:rPr lang="en-US" altLang="zh-CN" dirty="0"/>
              <a:t>Server Identifier</a:t>
            </a:r>
            <a:r>
              <a:rPr lang="zh-CN" altLang="en-US" dirty="0"/>
              <a:t>：</a:t>
            </a:r>
            <a:r>
              <a:rPr lang="en-US" altLang="zh-CN" dirty="0"/>
              <a:t>Server</a:t>
            </a:r>
            <a:r>
              <a:rPr lang="zh-CN" altLang="en-US" dirty="0"/>
              <a:t>发送的</a:t>
            </a:r>
            <a:r>
              <a:rPr lang="en-US" altLang="zh-CN" dirty="0"/>
              <a:t>DHCP</a:t>
            </a:r>
            <a:r>
              <a:rPr lang="zh-CN" altLang="en-US" dirty="0"/>
              <a:t>消息中给出</a:t>
            </a:r>
            <a:r>
              <a:rPr lang="en-US" altLang="zh-CN" dirty="0"/>
              <a:t>DHCP</a:t>
            </a:r>
            <a:r>
              <a:rPr lang="zh-CN" altLang="en-US" dirty="0"/>
              <a:t>服务器的</a:t>
            </a:r>
            <a:r>
              <a:rPr lang="en-US" altLang="zh-CN" dirty="0"/>
              <a:t>IP</a:t>
            </a:r>
            <a:r>
              <a:rPr lang="zh-CN" altLang="en-US" dirty="0"/>
              <a:t>地址。</a:t>
            </a:r>
            <a:r>
              <a:rPr lang="en-US" altLang="zh-CN" dirty="0"/>
              <a:t>Client</a:t>
            </a:r>
            <a:r>
              <a:rPr lang="zh-CN" altLang="en-US" dirty="0"/>
              <a:t>发送的</a:t>
            </a:r>
            <a:r>
              <a:rPr lang="en-US" altLang="zh-CN" dirty="0"/>
              <a:t>DHCP</a:t>
            </a:r>
            <a:r>
              <a:rPr lang="zh-CN" altLang="en-US" dirty="0"/>
              <a:t>消息中可包含该选项（比如接受谁的</a:t>
            </a:r>
            <a:r>
              <a:rPr lang="en-US" altLang="zh-CN" dirty="0"/>
              <a:t>OFFER</a:t>
            </a:r>
            <a:r>
              <a:rPr lang="zh-CN" altLang="en-US" dirty="0"/>
              <a:t>等）</a:t>
            </a:r>
            <a:endParaRPr lang="en-US" altLang="zh-CN" dirty="0"/>
          </a:p>
          <a:p>
            <a:r>
              <a:rPr lang="en-US" altLang="zh-CN" b="1" dirty="0">
                <a:solidFill>
                  <a:srgbClr val="00B050"/>
                </a:solidFill>
              </a:rPr>
              <a:t>Client Identifier:</a:t>
            </a:r>
            <a:r>
              <a:rPr lang="en-US" altLang="zh-CN" dirty="0"/>
              <a:t> </a:t>
            </a:r>
            <a:r>
              <a:rPr lang="zh-CN" altLang="en-US" dirty="0"/>
              <a:t>出现在</a:t>
            </a:r>
            <a:r>
              <a:rPr lang="en-US" altLang="zh-CN" dirty="0"/>
              <a:t>Client</a:t>
            </a:r>
            <a:r>
              <a:rPr lang="zh-CN" altLang="en-US" dirty="0"/>
              <a:t>发送的</a:t>
            </a:r>
            <a:r>
              <a:rPr lang="en-US" altLang="zh-CN" dirty="0"/>
              <a:t>DHCP</a:t>
            </a:r>
            <a:r>
              <a:rPr lang="zh-CN" altLang="en-US" dirty="0"/>
              <a:t>消息，标识</a:t>
            </a:r>
            <a:r>
              <a:rPr lang="en-US" altLang="zh-CN" dirty="0"/>
              <a:t>Client</a:t>
            </a:r>
            <a:endParaRPr lang="en-US" altLang="zh-CN" dirty="0"/>
          </a:p>
          <a:p>
            <a:r>
              <a:rPr lang="en-US" altLang="zh-CN" b="1" dirty="0">
                <a:solidFill>
                  <a:srgbClr val="00B050"/>
                </a:solidFill>
              </a:rPr>
              <a:t>Requested IP Address</a:t>
            </a:r>
            <a:r>
              <a:rPr lang="en-US" altLang="zh-CN" dirty="0"/>
              <a:t>:  Client</a:t>
            </a:r>
            <a:r>
              <a:rPr lang="zh-CN" altLang="en-US" dirty="0"/>
              <a:t>想要使用的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r>
              <a:rPr lang="zh-CN" altLang="en-US" b="1" dirty="0">
                <a:solidFill>
                  <a:srgbClr val="00B050"/>
                </a:solidFill>
              </a:rPr>
              <a:t>Parameter Request List</a:t>
            </a:r>
            <a:r>
              <a:rPr lang="zh-CN" altLang="en-US" dirty="0"/>
              <a:t>：除了</a:t>
            </a:r>
            <a:r>
              <a:rPr lang="en-US" altLang="zh-CN" dirty="0"/>
              <a:t>IP</a:t>
            </a:r>
            <a:r>
              <a:rPr lang="zh-CN" altLang="en-US" dirty="0"/>
              <a:t>地址以及租期等信息外，</a:t>
            </a:r>
            <a:r>
              <a:rPr lang="en-US" altLang="zh-CN" dirty="0"/>
              <a:t>Client</a:t>
            </a:r>
            <a:r>
              <a:rPr lang="zh-CN" altLang="en-US" dirty="0"/>
              <a:t>还想获得哪些配置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29524" y="697435"/>
          <a:ext cx="3492000" cy="438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6000"/>
                <a:gridCol w="756000"/>
                <a:gridCol w="1980000"/>
              </a:tblGrid>
              <a:tr h="324000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类型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长度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描述</a:t>
                      </a:r>
                      <a:endParaRPr lang="zh-CN" altLang="en-US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53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消息类型</a:t>
                      </a:r>
                      <a:r>
                        <a:rPr lang="en-US" altLang="zh-CN" dirty="0"/>
                        <a:t>(</a:t>
                      </a:r>
                      <a:r>
                        <a:rPr lang="zh-CN" altLang="en-US" dirty="0"/>
                        <a:t>必需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网络掩码</a:t>
                      </a:r>
                      <a:endParaRPr lang="zh-CN" altLang="en-US" dirty="0"/>
                    </a:p>
                  </a:txBody>
                  <a:tcPr/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4,8,..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路由器地址</a:t>
                      </a:r>
                      <a:endParaRPr lang="zh-CN" altLang="en-US" dirty="0"/>
                    </a:p>
                  </a:txBody>
                  <a:tcPr/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4,8,...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DNS</a:t>
                      </a:r>
                      <a:r>
                        <a:rPr lang="zh-CN" altLang="en-US" dirty="0"/>
                        <a:t>服务器地址</a:t>
                      </a:r>
                      <a:endParaRPr lang="zh-CN" altLang="en-US" dirty="0"/>
                    </a:p>
                  </a:txBody>
                  <a:tcPr/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DHCP</a:t>
                      </a:r>
                      <a:r>
                        <a:rPr lang="zh-CN" altLang="en-US" dirty="0"/>
                        <a:t>请求地址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51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DHCP</a:t>
                      </a:r>
                      <a:r>
                        <a:rPr lang="zh-CN" altLang="en-US" dirty="0"/>
                        <a:t>租期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DHCP</a:t>
                      </a:r>
                      <a:r>
                        <a:rPr lang="zh-CN" altLang="en-US" dirty="0"/>
                        <a:t>服务器</a:t>
                      </a:r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/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55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n &gt;= 1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参数请求列表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58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续租</a:t>
                      </a:r>
                      <a:r>
                        <a:rPr lang="en-US" altLang="zh-CN" dirty="0"/>
                        <a:t>(T1)</a:t>
                      </a:r>
                      <a:r>
                        <a:rPr lang="zh-CN" altLang="en-US" dirty="0"/>
                        <a:t>时间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59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重新绑定</a:t>
                      </a:r>
                      <a:r>
                        <a:rPr lang="en-US" altLang="zh-CN" dirty="0"/>
                        <a:t>(T2)</a:t>
                      </a:r>
                      <a:r>
                        <a:rPr lang="zh-CN" altLang="en-US" dirty="0"/>
                        <a:t>时间</a:t>
                      </a:r>
                      <a:endParaRPr lang="zh-CN" alt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25835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61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n &gt;= 2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/>
                        <a:t>DHCP</a:t>
                      </a:r>
                      <a:r>
                        <a:rPr lang="zh-CN" altLang="en-US" dirty="0"/>
                        <a:t>用户</a:t>
                      </a:r>
                      <a:r>
                        <a:rPr lang="en-US" altLang="zh-CN" dirty="0"/>
                        <a:t>ID</a:t>
                      </a:r>
                      <a:endParaRPr lang="zh-CN" altLang="en-US" dirty="0"/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43423"/>
            <a:ext cx="5990896" cy="6414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Bootstrap Protocol (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Discover</a:t>
            </a:r>
            <a:r>
              <a:rPr lang="zh-CN" altLang="en-US" sz="1600" dirty="0">
                <a:latin typeface="Consolas" panose="020B0609020204030204" pitchFamily="49" charset="0"/>
              </a:rPr>
              <a:t>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Message type: Boot Request (1)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Hardware type: Ethernet (0x01)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Hardware address length: 6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Hops: 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Transaction ID: 0xffa54c48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Seconds elapsed: 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Bootp flags: 0x0000 (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Unicast</a:t>
            </a:r>
            <a:r>
              <a:rPr lang="zh-CN" altLang="en-US" sz="1600" dirty="0">
                <a:latin typeface="Consolas" panose="020B0609020204030204" pitchFamily="49" charset="0"/>
              </a:rPr>
              <a:t>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Client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Your (client)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Next server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Relay agent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Client MAC address: (74:e5:f9:df:e5:26)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Server host name not given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Boot file name not given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Magic cookie: DHCP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(53) DHCP Message Type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(Discover)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(61)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Client identifier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Client MAC address: (74:e5:f9:df:e5:26)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(50)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Requested IP Address：192.168.50.88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(12) Host Name：</a:t>
            </a:r>
            <a:r>
              <a:rPr lang="en-US" altLang="zh-CN" sz="1600" dirty="0">
                <a:latin typeface="Consolas" panose="020B0609020204030204" pitchFamily="49" charset="0"/>
              </a:rPr>
              <a:t>moon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(60) Vendor class identifier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(55)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Parameter Request List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(1)  Subnet Mask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(3)  Router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(6)  Domain Name Server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(15) Domain Name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    ...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(255) End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74091"/>
            <a:ext cx="5192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u="sng" dirty="0"/>
              <a:t>0.0.0.0   </a:t>
            </a:r>
            <a:r>
              <a:rPr lang="en-US" altLang="zh-CN" u="sng" dirty="0"/>
              <a:t>--&gt;</a:t>
            </a:r>
            <a:r>
              <a:rPr lang="zh-CN" altLang="en-US" u="sng" dirty="0"/>
              <a:t>   255.255.255.255  DHCP Discover</a:t>
            </a:r>
            <a:endParaRPr lang="zh-CN" altLang="en-US" u="sng" dirty="0"/>
          </a:p>
        </p:txBody>
      </p:sp>
      <p:sp>
        <p:nvSpPr>
          <p:cNvPr id="6" name="矩形 5"/>
          <p:cNvSpPr/>
          <p:nvPr/>
        </p:nvSpPr>
        <p:spPr>
          <a:xfrm>
            <a:off x="6096000" y="74091"/>
            <a:ext cx="5118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u="sng" dirty="0"/>
              <a:t>192.168.50.1  </a:t>
            </a:r>
            <a:r>
              <a:rPr lang="en-US" altLang="zh-CN" u="sng" dirty="0"/>
              <a:t>--&gt;</a:t>
            </a:r>
            <a:r>
              <a:rPr lang="zh-CN" altLang="en-US" u="sng" dirty="0"/>
              <a:t>  192.168.50.88   DHCP Offer </a:t>
            </a:r>
            <a:endParaRPr lang="zh-CN" altLang="en-US" u="sng" dirty="0"/>
          </a:p>
        </p:txBody>
      </p:sp>
      <p:sp>
        <p:nvSpPr>
          <p:cNvPr id="7" name="矩形 6"/>
          <p:cNvSpPr/>
          <p:nvPr/>
        </p:nvSpPr>
        <p:spPr>
          <a:xfrm>
            <a:off x="6096000" y="551036"/>
            <a:ext cx="6096000" cy="5978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Bootstrap Protocol (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Offer</a:t>
            </a:r>
            <a:r>
              <a:rPr lang="zh-CN" altLang="en-US" sz="1600" dirty="0">
                <a:latin typeface="Consolas" panose="020B0609020204030204" pitchFamily="49" charset="0"/>
              </a:rPr>
              <a:t>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Message type: Boot Reply (2)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Hardware type: Ethernet (0x01)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Hardware address length: 6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Hops: 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Transaction ID: 0xffa54c48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Seconds elapsed: 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Bootp flags: 0x0000 (Unicast)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Client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Your (client) IP address: 192.168.50.88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Next server IP address: 192.168.50.1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Relay agent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Client MAC address: 74:e5:f9:df:e5:26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Server host name not given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Boot file name not given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Magic cookie: DHCP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(53) DHCP Message Type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(Offer)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(54)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DHCP Server Identifier: 192.168.50.1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(51) </a:t>
            </a:r>
            <a:r>
              <a:rPr lang="zh-CN" altLang="en-US" sz="1600" b="1" spc="-120" dirty="0">
                <a:solidFill>
                  <a:srgbClr val="FF0000"/>
                </a:solidFill>
                <a:latin typeface="Consolas" panose="020B0609020204030204" pitchFamily="49" charset="0"/>
              </a:rPr>
              <a:t>IP Address Lease Time: (86400s) 1 day</a:t>
            </a:r>
            <a:endParaRPr lang="zh-CN" altLang="en-US" sz="1600" b="1" spc="-12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(58) </a:t>
            </a:r>
            <a:r>
              <a:rPr lang="zh-CN" altLang="en-US" sz="1600" spc="-120" dirty="0">
                <a:latin typeface="Consolas" panose="020B0609020204030204" pitchFamily="49" charset="0"/>
              </a:rPr>
              <a:t>Renewal Time Value: (43200s) 12 hours</a:t>
            </a:r>
            <a:endParaRPr lang="zh-CN" altLang="en-US" sz="1600" spc="-12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(59) </a:t>
            </a:r>
            <a:r>
              <a:rPr lang="zh-CN" altLang="en-US" sz="1600" spc="-120" dirty="0">
                <a:latin typeface="Consolas" panose="020B0609020204030204" pitchFamily="49" charset="0"/>
              </a:rPr>
              <a:t>Rebinding Time Value</a:t>
            </a:r>
            <a:r>
              <a:rPr lang="en-US" altLang="zh-CN" sz="1600" spc="-120" dirty="0">
                <a:latin typeface="Consolas" panose="020B0609020204030204" pitchFamily="49" charset="0"/>
              </a:rPr>
              <a:t>: </a:t>
            </a:r>
            <a:r>
              <a:rPr lang="zh-CN" altLang="en-US" sz="1600" spc="-120" dirty="0">
                <a:latin typeface="Consolas" panose="020B0609020204030204" pitchFamily="49" charset="0"/>
              </a:rPr>
              <a:t>(75600s) 21 hours</a:t>
            </a:r>
            <a:endParaRPr lang="zh-CN" altLang="en-US" sz="1600" spc="-12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(1)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Subnet Mask: 255.255.255.0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(28)Broadcast Address: 192.168.50.255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(6)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Domain Name Server: 192.168.50.1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(3)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Router: 192.168.50.1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(255) End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3059" y="527503"/>
            <a:ext cx="6095999" cy="62493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Bootstrap Protocol (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Request</a:t>
            </a:r>
            <a:r>
              <a:rPr lang="zh-CN" altLang="en-US" sz="1600" dirty="0">
                <a:latin typeface="Consolas" panose="020B0609020204030204" pitchFamily="49" charset="0"/>
              </a:rPr>
              <a:t>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Message type: Boot Request (1)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Hardware type: Ethernet (0x01)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Hardware address length: 6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Hops: 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Transaction ID: 0xffa54c48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Seconds elapsed: 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Bootp flags: 0x0000 (</a:t>
            </a:r>
            <a:r>
              <a:rPr lang="zh-CN" altLang="en-US" sz="1600" b="1" dirty="0">
                <a:solidFill>
                  <a:srgbClr val="C00000"/>
                </a:solidFill>
                <a:latin typeface="Consolas" panose="020B0609020204030204" pitchFamily="49" charset="0"/>
              </a:rPr>
              <a:t>Unicast</a:t>
            </a:r>
            <a:r>
              <a:rPr lang="zh-CN" altLang="en-US" sz="1600" dirty="0">
                <a:latin typeface="Consolas" panose="020B0609020204030204" pitchFamily="49" charset="0"/>
              </a:rPr>
              <a:t>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Client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Your (client)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Next server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Relay agent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Client MAC address: (74:e5:f9:df:e5:26)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Server host name not given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Boot file name not given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Magic cookie: DHCP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(53) DHCP Message Type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Request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(61)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Client identifier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Client MAC address: (74:e5:f9:df:e5:26)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(50)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Requested IP Address：192.168.50.88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(54)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DHCP Server Identifier: 192.168.50.1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(12) Host Name：</a:t>
            </a:r>
            <a:r>
              <a:rPr lang="en-US" altLang="zh-CN" sz="1600" dirty="0">
                <a:latin typeface="Consolas" panose="020B0609020204030204" pitchFamily="49" charset="0"/>
              </a:rPr>
              <a:t>moon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(60) Vendor class identifier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(55)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Parameter Request List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(1)  Subnet Mask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(3)  Router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(6)  Domain Name Server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    (15) Domain Name</a:t>
            </a:r>
            <a:endParaRPr lang="en-US" altLang="zh-CN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en-US" altLang="zh-CN" sz="1600" dirty="0">
                <a:latin typeface="Consolas" panose="020B0609020204030204" pitchFamily="49" charset="0"/>
              </a:rPr>
              <a:t>        ...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6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(255) End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74091"/>
            <a:ext cx="51921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u="sng" dirty="0"/>
              <a:t>0.0.0.0   </a:t>
            </a:r>
            <a:r>
              <a:rPr lang="en-US" altLang="zh-CN" u="sng" dirty="0"/>
              <a:t>--&gt;</a:t>
            </a:r>
            <a:r>
              <a:rPr lang="zh-CN" altLang="en-US" u="sng" dirty="0"/>
              <a:t>   255.255.255.255  DHCP </a:t>
            </a:r>
            <a:r>
              <a:rPr lang="en-US" altLang="zh-CN" u="sng" dirty="0"/>
              <a:t>Request</a:t>
            </a:r>
            <a:endParaRPr lang="zh-CN" altLang="en-US" u="sng" dirty="0"/>
          </a:p>
        </p:txBody>
      </p:sp>
      <p:sp>
        <p:nvSpPr>
          <p:cNvPr id="6" name="矩形 5"/>
          <p:cNvSpPr/>
          <p:nvPr/>
        </p:nvSpPr>
        <p:spPr>
          <a:xfrm>
            <a:off x="6096000" y="74091"/>
            <a:ext cx="5118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u="sng" dirty="0"/>
              <a:t>192.168.50.1  </a:t>
            </a:r>
            <a:r>
              <a:rPr lang="en-US" altLang="zh-CN" u="sng" dirty="0"/>
              <a:t>--&gt;</a:t>
            </a:r>
            <a:r>
              <a:rPr lang="zh-CN" altLang="en-US" u="sng" dirty="0"/>
              <a:t>  192.168.50.88   DHCP </a:t>
            </a:r>
            <a:r>
              <a:rPr lang="en-US" altLang="zh-CN" u="sng" dirty="0"/>
              <a:t>ACK</a:t>
            </a:r>
            <a:r>
              <a:rPr lang="zh-CN" altLang="en-US" u="sng" dirty="0"/>
              <a:t> </a:t>
            </a:r>
            <a:endParaRPr lang="zh-CN" altLang="en-US" u="sng" dirty="0"/>
          </a:p>
        </p:txBody>
      </p:sp>
      <p:sp>
        <p:nvSpPr>
          <p:cNvPr id="7" name="矩形 6"/>
          <p:cNvSpPr/>
          <p:nvPr/>
        </p:nvSpPr>
        <p:spPr>
          <a:xfrm>
            <a:off x="6096000" y="551036"/>
            <a:ext cx="6096000" cy="59785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Bootstrap Protocol (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ACK</a:t>
            </a:r>
            <a:r>
              <a:rPr lang="zh-CN" altLang="en-US" sz="1600" dirty="0">
                <a:latin typeface="Consolas" panose="020B0609020204030204" pitchFamily="49" charset="0"/>
              </a:rPr>
              <a:t>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Message type: Boot Reply (2)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Hardware type: Ethernet (0x01)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Hardware address length: 6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Hops: 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Transaction ID: 0xffa54c48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Seconds elapsed: 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Bootp flags: 0x0000 (Unicast)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Client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Your (client) IP address: 192.168.50.88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Next server IP address: 192.168.50.1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Relay agent IP address: 0.0.0.0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Client MAC address: 74:e5:f9:df:e5:26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Server host name not given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Boot file name not given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Magic cookie: DHCP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(53) DHCP Message Type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ACK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(54)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DHCP Server Identifier: 192.168.50.1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(51) </a:t>
            </a:r>
            <a:r>
              <a:rPr lang="zh-CN" altLang="en-US" sz="1600" b="1" spc="-120" dirty="0">
                <a:solidFill>
                  <a:srgbClr val="FF0000"/>
                </a:solidFill>
                <a:latin typeface="Consolas" panose="020B0609020204030204" pitchFamily="49" charset="0"/>
              </a:rPr>
              <a:t>IP Address Lease Time: (86400s) 1 day</a:t>
            </a:r>
            <a:endParaRPr lang="zh-CN" altLang="en-US" sz="1600" b="1" spc="-12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(58) </a:t>
            </a:r>
            <a:r>
              <a:rPr lang="zh-CN" altLang="en-US" sz="1600" spc="-120" dirty="0">
                <a:latin typeface="Consolas" panose="020B0609020204030204" pitchFamily="49" charset="0"/>
              </a:rPr>
              <a:t>Renewal Time Value: (43200s) 12 hours</a:t>
            </a:r>
            <a:endParaRPr lang="zh-CN" altLang="en-US" sz="1600" spc="-12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(59) </a:t>
            </a:r>
            <a:r>
              <a:rPr lang="zh-CN" altLang="en-US" sz="1600" spc="-120" dirty="0">
                <a:latin typeface="Consolas" panose="020B0609020204030204" pitchFamily="49" charset="0"/>
              </a:rPr>
              <a:t>Rebinding Time Value</a:t>
            </a:r>
            <a:r>
              <a:rPr lang="en-US" altLang="zh-CN" sz="1600" spc="-120" dirty="0">
                <a:latin typeface="Consolas" panose="020B0609020204030204" pitchFamily="49" charset="0"/>
              </a:rPr>
              <a:t>: </a:t>
            </a:r>
            <a:r>
              <a:rPr lang="zh-CN" altLang="en-US" sz="1600" spc="-120" dirty="0">
                <a:latin typeface="Consolas" panose="020B0609020204030204" pitchFamily="49" charset="0"/>
              </a:rPr>
              <a:t>(75600s) 21 hours</a:t>
            </a:r>
            <a:endParaRPr lang="zh-CN" altLang="en-US" sz="1600" spc="-12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(1)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Subnet Mask: 255.255.255.0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(28)Broadcast Address: 192.168.50.255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(6)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Domain Name Server: 192.168.50.1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(3) </a:t>
            </a:r>
            <a:r>
              <a:rPr lang="zh-CN" altLang="en-US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Router: 192.168.50.1</a:t>
            </a:r>
            <a:endParaRPr lang="zh-CN" altLang="en-US" sz="16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ts val="1700"/>
              </a:lnSpc>
            </a:pPr>
            <a:r>
              <a:rPr lang="zh-CN" altLang="en-US" sz="1600" dirty="0">
                <a:latin typeface="Consolas" panose="020B0609020204030204" pitchFamily="49" charset="0"/>
              </a:rPr>
              <a:t>    Option: (255) End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见附件的</a:t>
            </a:r>
            <a:r>
              <a:rPr lang="en-US" altLang="zh-CN"/>
              <a:t>doc</a:t>
            </a:r>
            <a:r>
              <a:rPr lang="zh-CN" altLang="en-US"/>
              <a:t>文档，按照要求完成，截图</a:t>
            </a:r>
            <a:r>
              <a:rPr lang="zh-CN" altLang="en-US"/>
              <a:t>并说明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本次实验作业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5837</Words>
  <Application>WPS 演示</Application>
  <PresentationFormat>宽屏</PresentationFormat>
  <Paragraphs>344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Consolas</vt:lpstr>
      <vt:lpstr>微软雅黑</vt:lpstr>
      <vt:lpstr>Arial Unicode MS</vt:lpstr>
      <vt:lpstr>Calibri</vt:lpstr>
      <vt:lpstr>WPS</vt:lpstr>
      <vt:lpstr>实验7 DHCP实验</vt:lpstr>
      <vt:lpstr>动态主机配置协议DHCP: Dynamic Host Configuration Protocol</vt:lpstr>
      <vt:lpstr>命令行</vt:lpstr>
      <vt:lpstr>DHCP消息格式</vt:lpstr>
      <vt:lpstr>DHCP消息格式：DHCP选项</vt:lpstr>
      <vt:lpstr>PowerPoint 演示文稿</vt:lpstr>
      <vt:lpstr>PowerPoint 演示文稿</vt:lpstr>
      <vt:lpstr>本次实验作业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周烩君</cp:lastModifiedBy>
  <cp:revision>162</cp:revision>
  <dcterms:created xsi:type="dcterms:W3CDTF">2019-06-19T02:08:00Z</dcterms:created>
  <dcterms:modified xsi:type="dcterms:W3CDTF">2025-11-21T02:51:44Z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0E23273DFF9B4968BA88D67A28D1ABD4_11</vt:lpwstr>
  </property>
</Properties>
</file>