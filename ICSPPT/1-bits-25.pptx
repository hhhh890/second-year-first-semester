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50" r:id="rId3"/>
    <p:sldId id="809" r:id="rId5"/>
    <p:sldId id="810" r:id="rId6"/>
    <p:sldId id="811" r:id="rId7"/>
    <p:sldId id="812" r:id="rId8"/>
    <p:sldId id="813" r:id="rId9"/>
    <p:sldId id="814" r:id="rId10"/>
    <p:sldId id="815" r:id="rId11"/>
    <p:sldId id="816" r:id="rId12"/>
    <p:sldId id="817" r:id="rId13"/>
    <p:sldId id="818" r:id="rId14"/>
    <p:sldId id="819" r:id="rId15"/>
    <p:sldId id="820" r:id="rId16"/>
    <p:sldId id="821" r:id="rId17"/>
    <p:sldId id="851" r:id="rId18"/>
    <p:sldId id="852" r:id="rId19"/>
    <p:sldId id="853" r:id="rId20"/>
    <p:sldId id="854" r:id="rId21"/>
    <p:sldId id="855" r:id="rId22"/>
    <p:sldId id="880" r:id="rId23"/>
    <p:sldId id="898" r:id="rId24"/>
    <p:sldId id="899" r:id="rId25"/>
    <p:sldId id="906" r:id="rId26"/>
    <p:sldId id="907" r:id="rId27"/>
    <p:sldId id="908" r:id="rId28"/>
    <p:sldId id="909" r:id="rId29"/>
    <p:sldId id="913" r:id="rId30"/>
    <p:sldId id="914" r:id="rId31"/>
    <p:sldId id="918" r:id="rId32"/>
    <p:sldId id="919" r:id="rId33"/>
    <p:sldId id="920" r:id="rId34"/>
    <p:sldId id="923" r:id="rId35"/>
    <p:sldId id="924" r:id="rId36"/>
    <p:sldId id="925" r:id="rId37"/>
    <p:sldId id="926" r:id="rId38"/>
    <p:sldId id="927" r:id="rId39"/>
    <p:sldId id="928" r:id="rId40"/>
    <p:sldId id="1119" r:id="rId41"/>
    <p:sldId id="843" r:id="rId42"/>
    <p:sldId id="932" r:id="rId43"/>
    <p:sldId id="933" r:id="rId44"/>
    <p:sldId id="934" r:id="rId45"/>
    <p:sldId id="935" r:id="rId46"/>
    <p:sldId id="936" r:id="rId47"/>
    <p:sldId id="937" r:id="rId48"/>
    <p:sldId id="938" r:id="rId49"/>
    <p:sldId id="939" r:id="rId50"/>
    <p:sldId id="940" r:id="rId51"/>
    <p:sldId id="1120" r:id="rId52"/>
    <p:sldId id="943" r:id="rId53"/>
    <p:sldId id="856" r:id="rId54"/>
    <p:sldId id="857" r:id="rId55"/>
    <p:sldId id="858" r:id="rId56"/>
    <p:sldId id="859" r:id="rId57"/>
    <p:sldId id="860" r:id="rId58"/>
    <p:sldId id="861" r:id="rId59"/>
    <p:sldId id="862" r:id="rId60"/>
    <p:sldId id="863" r:id="rId61"/>
    <p:sldId id="874" r:id="rId62"/>
    <p:sldId id="865" r:id="rId63"/>
    <p:sldId id="866" r:id="rId64"/>
    <p:sldId id="867" r:id="rId65"/>
    <p:sldId id="868" r:id="rId66"/>
    <p:sldId id="869" r:id="rId67"/>
    <p:sldId id="870" r:id="rId68"/>
    <p:sldId id="871" r:id="rId69"/>
    <p:sldId id="872" r:id="rId70"/>
    <p:sldId id="873" r:id="rId71"/>
    <p:sldId id="944" r:id="rId72"/>
    <p:sldId id="876" r:id="rId73"/>
    <p:sldId id="877" r:id="rId74"/>
    <p:sldId id="945" r:id="rId75"/>
    <p:sldId id="900" r:id="rId76"/>
    <p:sldId id="901" r:id="rId77"/>
    <p:sldId id="902" r:id="rId78"/>
    <p:sldId id="903" r:id="rId79"/>
    <p:sldId id="904" r:id="rId80"/>
    <p:sldId id="946" r:id="rId81"/>
    <p:sldId id="947" r:id="rId82"/>
    <p:sldId id="948" r:id="rId83"/>
    <p:sldId id="949" r:id="rId84"/>
    <p:sldId id="950" r:id="rId85"/>
    <p:sldId id="953" r:id="rId86"/>
    <p:sldId id="951" r:id="rId87"/>
    <p:sldId id="952" r:id="rId88"/>
    <p:sldId id="954" r:id="rId89"/>
    <p:sldId id="955" r:id="rId90"/>
    <p:sldId id="956" r:id="rId91"/>
    <p:sldId id="957" r:id="rId92"/>
    <p:sldId id="958" r:id="rId93"/>
    <p:sldId id="959" r:id="rId94"/>
    <p:sldId id="960" r:id="rId95"/>
    <p:sldId id="962" r:id="rId96"/>
    <p:sldId id="963" r:id="rId97"/>
    <p:sldId id="922" r:id="rId98"/>
    <p:sldId id="964" r:id="rId99"/>
    <p:sldId id="965" r:id="rId100"/>
    <p:sldId id="966" r:id="rId101"/>
    <p:sldId id="967" r:id="rId102"/>
    <p:sldId id="968" r:id="rId103"/>
    <p:sldId id="969" r:id="rId104"/>
    <p:sldId id="970" r:id="rId105"/>
    <p:sldId id="971" r:id="rId106"/>
    <p:sldId id="972" r:id="rId107"/>
    <p:sldId id="973" r:id="rId108"/>
    <p:sldId id="974" r:id="rId109"/>
    <p:sldId id="975" r:id="rId110"/>
    <p:sldId id="976" r:id="rId111"/>
    <p:sldId id="977" r:id="rId112"/>
    <p:sldId id="978" r:id="rId113"/>
    <p:sldId id="979" r:id="rId114"/>
    <p:sldId id="980" r:id="rId115"/>
    <p:sldId id="981" r:id="rId116"/>
    <p:sldId id="982" r:id="rId117"/>
    <p:sldId id="983" r:id="rId118"/>
    <p:sldId id="984" r:id="rId119"/>
    <p:sldId id="985" r:id="rId120"/>
    <p:sldId id="986" r:id="rId121"/>
    <p:sldId id="987" r:id="rId122"/>
    <p:sldId id="988" r:id="rId123"/>
    <p:sldId id="989" r:id="rId124"/>
    <p:sldId id="990" r:id="rId125"/>
    <p:sldId id="991" r:id="rId126"/>
    <p:sldId id="1079" r:id="rId127"/>
    <p:sldId id="1121" r:id="rId128"/>
    <p:sldId id="992" r:id="rId129"/>
    <p:sldId id="993" r:id="rId130"/>
    <p:sldId id="1045" r:id="rId131"/>
    <p:sldId id="1046" r:id="rId132"/>
    <p:sldId id="1047" r:id="rId133"/>
    <p:sldId id="1048" r:id="rId134"/>
    <p:sldId id="1049" r:id="rId135"/>
    <p:sldId id="1050" r:id="rId136"/>
    <p:sldId id="774" r:id="rId137"/>
    <p:sldId id="745" r:id="rId138"/>
    <p:sldId id="775" r:id="rId139"/>
    <p:sldId id="776" r:id="rId140"/>
    <p:sldId id="779" r:id="rId141"/>
    <p:sldId id="1054" r:id="rId142"/>
    <p:sldId id="780" r:id="rId143"/>
    <p:sldId id="801" r:id="rId144"/>
    <p:sldId id="1055" r:id="rId145"/>
    <p:sldId id="1056" r:id="rId146"/>
    <p:sldId id="1057" r:id="rId147"/>
    <p:sldId id="1058" r:id="rId148"/>
    <p:sldId id="1059" r:id="rId149"/>
    <p:sldId id="1060" r:id="rId150"/>
    <p:sldId id="788" r:id="rId151"/>
    <p:sldId id="787" r:id="rId152"/>
    <p:sldId id="790" r:id="rId153"/>
    <p:sldId id="791" r:id="rId154"/>
    <p:sldId id="789" r:id="rId155"/>
    <p:sldId id="1061" r:id="rId156"/>
    <p:sldId id="1062" r:id="rId157"/>
    <p:sldId id="1063" r:id="rId158"/>
    <p:sldId id="1064" r:id="rId159"/>
    <p:sldId id="797" r:id="rId160"/>
    <p:sldId id="1065" r:id="rId161"/>
    <p:sldId id="799" r:id="rId162"/>
    <p:sldId id="798" r:id="rId163"/>
    <p:sldId id="804" r:id="rId164"/>
    <p:sldId id="805" r:id="rId165"/>
    <p:sldId id="806" r:id="rId166"/>
    <p:sldId id="807" r:id="rId167"/>
    <p:sldId id="1066" r:id="rId168"/>
    <p:sldId id="1067" r:id="rId169"/>
    <p:sldId id="1068" r:id="rId170"/>
    <p:sldId id="1069" r:id="rId171"/>
    <p:sldId id="1070" r:id="rId172"/>
    <p:sldId id="1071" r:id="rId173"/>
    <p:sldId id="1072" r:id="rId174"/>
    <p:sldId id="1073" r:id="rId175"/>
    <p:sldId id="1074" r:id="rId176"/>
    <p:sldId id="1075" r:id="rId177"/>
    <p:sldId id="1076" r:id="rId178"/>
    <p:sldId id="1077" r:id="rId17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resenting Information1" id="{680653C9-8AD4-4287-8282-15490D18B367}">
          <p14:sldIdLst>
            <p14:sldId id="850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51"/>
            <p14:sldId id="852"/>
            <p14:sldId id="853"/>
            <p14:sldId id="854"/>
            <p14:sldId id="855"/>
            <p14:sldId id="880"/>
          </p14:sldIdLst>
        </p14:section>
        <p14:section name="Manipulating Information" id="{F4688452-6A0F-4FA7-A90E-60F9D5740B99}">
          <p14:sldIdLst>
            <p14:sldId id="898"/>
            <p14:sldId id="899"/>
            <p14:sldId id="906"/>
            <p14:sldId id="907"/>
            <p14:sldId id="908"/>
            <p14:sldId id="909"/>
            <p14:sldId id="913"/>
            <p14:sldId id="914"/>
            <p14:sldId id="918"/>
            <p14:sldId id="919"/>
            <p14:sldId id="920"/>
            <p14:sldId id="923"/>
            <p14:sldId id="924"/>
            <p14:sldId id="925"/>
            <p14:sldId id="926"/>
            <p14:sldId id="927"/>
            <p14:sldId id="928"/>
            <p14:sldId id="1119"/>
          </p14:sldIdLst>
        </p14:section>
        <p14:section name="Information Storage" id="{264BF739-86AC-4352-837C-3B0DB86F7DAB}">
          <p14:sldIdLst>
            <p14:sldId id="843"/>
            <p14:sldId id="932"/>
            <p14:sldId id="933"/>
            <p14:sldId id="934"/>
            <p14:sldId id="935"/>
            <p14:sldId id="936"/>
            <p14:sldId id="937"/>
            <p14:sldId id="938"/>
            <p14:sldId id="939"/>
            <p14:sldId id="940"/>
            <p14:sldId id="1120"/>
            <p14:sldId id="943"/>
            <p14:sldId id="856"/>
            <p14:sldId id="857"/>
            <p14:sldId id="858"/>
            <p14:sldId id="859"/>
            <p14:sldId id="860"/>
            <p14:sldId id="861"/>
            <p14:sldId id="862"/>
            <p14:sldId id="863"/>
            <p14:sldId id="874"/>
            <p14:sldId id="865"/>
            <p14:sldId id="866"/>
            <p14:sldId id="867"/>
            <p14:sldId id="868"/>
            <p14:sldId id="869"/>
            <p14:sldId id="870"/>
            <p14:sldId id="871"/>
            <p14:sldId id="872"/>
            <p14:sldId id="873"/>
            <p14:sldId id="944"/>
            <p14:sldId id="876"/>
            <p14:sldId id="877"/>
          </p14:sldIdLst>
        </p14:section>
        <p14:section name="Representing Information 2" id="{F53D4FA8-19FF-4657-9192-67C87E7DFB02}">
          <p14:sldIdLst>
            <p14:sldId id="945"/>
            <p14:sldId id="900"/>
            <p14:sldId id="901"/>
            <p14:sldId id="902"/>
            <p14:sldId id="903"/>
            <p14:sldId id="904"/>
            <p14:sldId id="946"/>
            <p14:sldId id="947"/>
            <p14:sldId id="948"/>
            <p14:sldId id="949"/>
            <p14:sldId id="950"/>
            <p14:sldId id="953"/>
            <p14:sldId id="951"/>
            <p14:sldId id="952"/>
            <p14:sldId id="954"/>
            <p14:sldId id="955"/>
            <p14:sldId id="956"/>
            <p14:sldId id="957"/>
          </p14:sldIdLst>
        </p14:section>
        <p14:section name="Casting among Integral Data Type" id="{C85B4DE9-0DA2-4AC3-AAB8-5989E9883220}">
          <p14:sldIdLst>
            <p14:sldId id="958"/>
            <p14:sldId id="959"/>
            <p14:sldId id="960"/>
            <p14:sldId id="962"/>
            <p14:sldId id="963"/>
            <p14:sldId id="922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</p14:sldIdLst>
        </p14:section>
        <p14:section name="Arithmetic Operations" id="{10F9E9F7-E22F-432C-8768-DA0C28DDB001}">
          <p14:sldIdLst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1"/>
            <p14:sldId id="1079"/>
            <p14:sldId id="1121"/>
            <p14:sldId id="992"/>
            <p14:sldId id="993"/>
            <p14:sldId id="1045"/>
            <p14:sldId id="1046"/>
            <p14:sldId id="1047"/>
            <p14:sldId id="1048"/>
            <p14:sldId id="1049"/>
            <p14:sldId id="1050"/>
          </p14:sldIdLst>
        </p14:section>
        <p14:section name="Floating Point" id="{EE136956-1299-4368-9B4E-1B5A5E2DA318}">
          <p14:sldIdLst>
            <p14:sldId id="774"/>
            <p14:sldId id="745"/>
            <p14:sldId id="775"/>
            <p14:sldId id="776"/>
            <p14:sldId id="779"/>
            <p14:sldId id="1054"/>
            <p14:sldId id="780"/>
            <p14:sldId id="801"/>
            <p14:sldId id="1055"/>
            <p14:sldId id="1056"/>
            <p14:sldId id="1057"/>
            <p14:sldId id="1058"/>
            <p14:sldId id="1059"/>
            <p14:sldId id="1060"/>
            <p14:sldId id="788"/>
            <p14:sldId id="787"/>
            <p14:sldId id="790"/>
            <p14:sldId id="791"/>
            <p14:sldId id="789"/>
            <p14:sldId id="1061"/>
            <p14:sldId id="1062"/>
            <p14:sldId id="1063"/>
            <p14:sldId id="1064"/>
            <p14:sldId id="797"/>
            <p14:sldId id="1065"/>
            <p14:sldId id="799"/>
            <p14:sldId id="798"/>
            <p14:sldId id="804"/>
            <p14:sldId id="805"/>
            <p14:sldId id="806"/>
            <p14:sldId id="807"/>
            <p14:sldId id="1066"/>
            <p14:sldId id="1067"/>
            <p14:sldId id="1068"/>
            <p14:sldId id="1069"/>
            <p14:sldId id="1070"/>
            <p14:sldId id="1071"/>
            <p14:sldId id="1072"/>
            <p14:sldId id="1073"/>
            <p14:sldId id="1074"/>
            <p14:sldId id="1075"/>
            <p14:sldId id="1076"/>
            <p14:sldId id="10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哲慜" initials="y" lastIdx="4" clrIdx="0"/>
  <p:cmAuthor id="2" name="du xiaolin" initials="dx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99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 autoAdjust="0"/>
    <p:restoredTop sz="88003" autoAdjust="0"/>
  </p:normalViewPr>
  <p:slideViewPr>
    <p:cSldViewPr showGuides="1">
      <p:cViewPr varScale="1">
        <p:scale>
          <a:sx n="101" d="100"/>
          <a:sy n="101" d="100"/>
        </p:scale>
        <p:origin x="1191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794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3" Type="http://schemas.openxmlformats.org/officeDocument/2006/relationships/commentAuthors" Target="commentAuthors.xml"/><Relationship Id="rId182" Type="http://schemas.openxmlformats.org/officeDocument/2006/relationships/tableStyles" Target="tableStyles.xml"/><Relationship Id="rId181" Type="http://schemas.openxmlformats.org/officeDocument/2006/relationships/viewProps" Target="viewProps.xml"/><Relationship Id="rId180" Type="http://schemas.openxmlformats.org/officeDocument/2006/relationships/presProps" Target="presProps.xml"/><Relationship Id="rId18" Type="http://schemas.openxmlformats.org/officeDocument/2006/relationships/slide" Target="slides/slide15.xml"/><Relationship Id="rId179" Type="http://schemas.openxmlformats.org/officeDocument/2006/relationships/slide" Target="slides/slide176.xml"/><Relationship Id="rId178" Type="http://schemas.openxmlformats.org/officeDocument/2006/relationships/slide" Target="slides/slide175.xml"/><Relationship Id="rId177" Type="http://schemas.openxmlformats.org/officeDocument/2006/relationships/slide" Target="slides/slide174.xml"/><Relationship Id="rId176" Type="http://schemas.openxmlformats.org/officeDocument/2006/relationships/slide" Target="slides/slide173.xml"/><Relationship Id="rId175" Type="http://schemas.openxmlformats.org/officeDocument/2006/relationships/slide" Target="slides/slide172.xml"/><Relationship Id="rId174" Type="http://schemas.openxmlformats.org/officeDocument/2006/relationships/slide" Target="slides/slide171.xml"/><Relationship Id="rId173" Type="http://schemas.openxmlformats.org/officeDocument/2006/relationships/slide" Target="slides/slide170.xml"/><Relationship Id="rId172" Type="http://schemas.openxmlformats.org/officeDocument/2006/relationships/slide" Target="slides/slide169.xml"/><Relationship Id="rId171" Type="http://schemas.openxmlformats.org/officeDocument/2006/relationships/slide" Target="slides/slide168.xml"/><Relationship Id="rId170" Type="http://schemas.openxmlformats.org/officeDocument/2006/relationships/slide" Target="slides/slide167.xml"/><Relationship Id="rId17" Type="http://schemas.openxmlformats.org/officeDocument/2006/relationships/slide" Target="slides/slide14.xml"/><Relationship Id="rId169" Type="http://schemas.openxmlformats.org/officeDocument/2006/relationships/slide" Target="slides/slide166.xml"/><Relationship Id="rId168" Type="http://schemas.openxmlformats.org/officeDocument/2006/relationships/slide" Target="slides/slide165.xml"/><Relationship Id="rId167" Type="http://schemas.openxmlformats.org/officeDocument/2006/relationships/slide" Target="slides/slide164.xml"/><Relationship Id="rId166" Type="http://schemas.openxmlformats.org/officeDocument/2006/relationships/slide" Target="slides/slide163.xml"/><Relationship Id="rId165" Type="http://schemas.openxmlformats.org/officeDocument/2006/relationships/slide" Target="slides/slide162.xml"/><Relationship Id="rId164" Type="http://schemas.openxmlformats.org/officeDocument/2006/relationships/slide" Target="slides/slide161.xml"/><Relationship Id="rId163" Type="http://schemas.openxmlformats.org/officeDocument/2006/relationships/slide" Target="slides/slide160.xml"/><Relationship Id="rId162" Type="http://schemas.openxmlformats.org/officeDocument/2006/relationships/slide" Target="slides/slide159.xml"/><Relationship Id="rId161" Type="http://schemas.openxmlformats.org/officeDocument/2006/relationships/slide" Target="slides/slide158.xml"/><Relationship Id="rId160" Type="http://schemas.openxmlformats.org/officeDocument/2006/relationships/slide" Target="slides/slide157.xml"/><Relationship Id="rId16" Type="http://schemas.openxmlformats.org/officeDocument/2006/relationships/slide" Target="slides/slide13.xml"/><Relationship Id="rId159" Type="http://schemas.openxmlformats.org/officeDocument/2006/relationships/slide" Target="slides/slide156.xml"/><Relationship Id="rId158" Type="http://schemas.openxmlformats.org/officeDocument/2006/relationships/slide" Target="slides/slide155.xml"/><Relationship Id="rId157" Type="http://schemas.openxmlformats.org/officeDocument/2006/relationships/slide" Target="slides/slide154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2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32.xml"/><Relationship Id="rId8" Type="http://schemas.openxmlformats.org/officeDocument/2006/relationships/slide" Target="slides/slide31.xml"/><Relationship Id="rId7" Type="http://schemas.openxmlformats.org/officeDocument/2006/relationships/slide" Target="slides/slide30.xml"/><Relationship Id="rId6" Type="http://schemas.openxmlformats.org/officeDocument/2006/relationships/slide" Target="slides/slide29.xml"/><Relationship Id="rId5" Type="http://schemas.openxmlformats.org/officeDocument/2006/relationships/slide" Target="slides/slide28.xml"/><Relationship Id="rId4" Type="http://schemas.openxmlformats.org/officeDocument/2006/relationships/slide" Target="slides/slide27.xml"/><Relationship Id="rId3" Type="http://schemas.openxmlformats.org/officeDocument/2006/relationships/slide" Target="slides/slide26.xml"/><Relationship Id="rId2" Type="http://schemas.openxmlformats.org/officeDocument/2006/relationships/slide" Target="slides/slide25.xml"/><Relationship Id="rId14" Type="http://schemas.openxmlformats.org/officeDocument/2006/relationships/slide" Target="slides/slide37.xml"/><Relationship Id="rId13" Type="http://schemas.openxmlformats.org/officeDocument/2006/relationships/slide" Target="slides/slide36.xml"/><Relationship Id="rId12" Type="http://schemas.openxmlformats.org/officeDocument/2006/relationships/slide" Target="slides/slide35.xml"/><Relationship Id="rId11" Type="http://schemas.openxmlformats.org/officeDocument/2006/relationships/slide" Target="slides/slide34.xml"/><Relationship Id="rId10" Type="http://schemas.openxmlformats.org/officeDocument/2006/relationships/slide" Target="slides/slide33.xml"/><Relationship Id="rId1" Type="http://schemas.openxmlformats.org/officeDocument/2006/relationships/slide" Target="slides/slide23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276A6E2-96CA-4034-9469-95F0FCB4BCC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2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3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4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5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6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7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8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9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0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4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5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6C9C7B7-3354-40C3-B8E5-8AE5EC6C757F}" type="slidenum">
              <a:rPr lang="zh-CN" altLang="en-US" smtClean="0"/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8373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E61F10-2152-4D0D-8B68-FC9B7AA866E7}" type="slidenum">
              <a:rPr lang="zh-CN" altLang="en-US" smtClean="0"/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0421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6F3F1E4-7D76-4514-B7C5-99A9AE90E544}" type="slidenum">
              <a:rPr lang="zh-CN" altLang="en-US" smtClean="0"/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2469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893CCC-9ADB-451B-895E-98217DFF3372}" type="slidenum">
              <a:rPr lang="zh-CN" altLang="en-US" smtClean="0"/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4517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A820A6-59A4-4C3D-B7EC-59B9B55C0844}" type="slidenum">
              <a:rPr lang="zh-CN" altLang="en-US" smtClean="0"/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6565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9613C9-F546-44E4-AEB1-A16E502EC677}" type="slidenum">
              <a:rPr lang="zh-CN" altLang="en-US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8613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B65E9B3-21ED-4C52-BADC-373C6A87BFF9}" type="slidenum">
              <a:rPr lang="zh-CN" altLang="en-US" smtClean="0"/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0661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137288A-4C2A-4741-9AE5-460E2137054F}" type="slidenum">
              <a:rPr lang="zh-CN" altLang="en-US" smtClean="0"/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2709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E77DB10-7521-4343-B1E2-E85D06878662}" type="slidenum">
              <a:rPr lang="zh-CN" altLang="en-US" smtClean="0"/>
            </a:fld>
            <a:endParaRPr lang="en-US" altLang="zh-CN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4757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36E3836-A2EC-4189-BBFE-4A3F1FE283E0}" type="slidenum">
              <a:rPr lang="zh-CN" altLang="en-US" smtClean="0"/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6805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BE4929-AFB0-437C-9B68-9A83FB8EC6DE}" type="slidenum">
              <a:rPr lang="zh-CN" altLang="en-US" smtClean="0"/>
            </a:fld>
            <a:endParaRPr lang="en-US" altLang="zh-CN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8853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2A05353-BA76-4B1A-B61B-474FE4552740}" type="slidenum">
              <a:rPr lang="zh-CN" altLang="en-US" smtClean="0"/>
            </a:fld>
            <a:endParaRPr lang="en-US" altLang="zh-CN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0901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485202-ADA9-4B60-9123-12EF1C5217B1}" type="slidenum">
              <a:rPr lang="zh-CN" altLang="en-US" smtClean="0"/>
            </a:fld>
            <a:endParaRPr lang="en-US" altLang="zh-CN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2949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A1F2EE-7B7B-4D10-9859-015F3BC3C238}" type="slidenum">
              <a:rPr lang="zh-CN" altLang="en-US" smtClean="0"/>
            </a:fld>
            <a:endParaRPr lang="en-US" altLang="zh-CN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4997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C338B6-B48D-4C22-8FBB-AB38F0A6BAE8}" type="slidenum">
              <a:rPr lang="zh-CN" altLang="en-US" smtClean="0"/>
            </a:fld>
            <a:endParaRPr lang="en-US" altLang="zh-CN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7045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C05EC9A-E0D8-4840-BBC8-7A0F3573CE64}" type="slidenum">
              <a:rPr lang="zh-CN" altLang="en-US" smtClean="0"/>
            </a:fld>
            <a:endParaRPr lang="en-US" altLang="zh-CN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9093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CFA046-C2B8-4E50-85EE-5FD7F7FAC9E6}" type="slidenum">
              <a:rPr lang="zh-CN" altLang="en-US" smtClean="0"/>
            </a:fld>
            <a:endParaRPr lang="en-US" altLang="zh-CN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91141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2479EBF-B98A-43FF-B473-5BA1B18CC408}" type="slidenum">
              <a:rPr lang="zh-CN" altLang="en-US" smtClean="0"/>
            </a:fld>
            <a:endParaRPr lang="en-US" altLang="zh-CN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93189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6ECC54-ADAC-4637-AF8F-D2C5EB984C90}" type="slidenum">
              <a:rPr lang="zh-CN" altLang="en-US" smtClean="0"/>
            </a:fld>
            <a:endParaRPr lang="en-US" altLang="zh-CN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95237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36AF2F-CAAC-4466-9775-BF73D8A44E5E}" type="slidenum">
              <a:rPr lang="zh-CN" altLang="en-US" smtClean="0"/>
            </a:fld>
            <a:endParaRPr lang="en-US" altLang="zh-CN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97285" name="页脚占位符 4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E6BBB99-4AD1-4DA8-A8C9-93FEEF5B9420}" type="slidenum">
              <a:rPr lang="zh-CN" altLang="en-US" smtClean="0"/>
            </a:fld>
            <a:endParaRPr lang="en-US" altLang="zh-CN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32068B-6C7C-4643-BF6E-716FF50F129A}" type="slidenum">
              <a:rPr lang="zh-CN" altLang="en-US" smtClean="0"/>
            </a:fld>
            <a:endParaRPr lang="en-US" altLang="zh-CN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C539F8-BB8F-4E03-B41A-B4CD3C74E493}" type="slidenum">
              <a:rPr lang="zh-CN" altLang="en-US" smtClean="0"/>
            </a:fld>
            <a:endParaRPr lang="en-US" altLang="zh-CN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FAB98E-8A7E-4322-B944-35F1F29E2252}" type="slidenum">
              <a:rPr lang="zh-CN" altLang="en-US" smtClean="0"/>
            </a:fld>
            <a:endParaRPr lang="en-US" altLang="zh-CN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D45E17-6DF5-4FB3-9D81-F845BA681872}" type="slidenum">
              <a:rPr lang="zh-CN" altLang="en-US" smtClean="0"/>
            </a:fld>
            <a:endParaRPr lang="en-US" altLang="zh-CN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E9536B-8759-4260-9158-5DF304175373}" type="slidenum">
              <a:rPr lang="zh-CN" altLang="en-US" smtClean="0"/>
            </a:fld>
            <a:endParaRPr lang="en-US" altLang="zh-CN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9789F3-D31B-4BB8-A82B-69F92A804195}" type="slidenum">
              <a:rPr lang="zh-CN" altLang="en-US" smtClean="0"/>
            </a:fld>
            <a:endParaRPr lang="en-US" altLang="zh-CN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E5065E-ED0F-4085-84BF-43008841B174}" type="slidenum">
              <a:rPr lang="zh-CN" altLang="en-US" smtClean="0"/>
            </a:fld>
            <a:endParaRPr lang="en-US" altLang="zh-CN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3644787-4090-42BB-9C26-3C48507F509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E97BC17-15E2-49C7-8AD5-A889E393021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7BF0F16-B5CC-4484-BB7C-1D40A7E1A48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311B9CC-FF9E-4BD0-B66F-BAFA0439467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1AE9F75-5CD9-4269-B541-2F3F7EF7A49A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083138D-0D24-4BDA-A5AF-6B8AD6E78266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D62A35-CCD4-45F3-8D6A-02779D76AEC3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8946FA5-6097-46F1-84BC-BBEBAAA5D59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1DEBB30-B2D0-47E6-8A42-6748B592749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66E15-AE20-3847-A3CF-88F52D6FA93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B91E64F-6422-4E24-8A28-6B268C7D3B2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528B84E-C328-4BFC-BFC8-9A6AD961842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FA02405-42C0-475C-BA04-4327B06BDF1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BFBD6B9-DBB7-456B-AA52-77B39C3BF51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A4FA05C-4899-44FF-8FF2-9A941AC097E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8DE79C1-60B1-4C9B-BA11-BDBE6FB24FD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08268B9-5A07-4D5D-88ED-9A6C7B30076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FECD9E3-95CC-452E-B3DD-F135F6F7B57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68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06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B7CE26E-3479-4D43-A182-C4C9D374DE8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83CAA82-5547-4F62-9439-63C73F96263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99127E-04D7-4CEF-8DCD-4C87A6CDC4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8347E49-5DBA-4A51-9A09-D45411C562FA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2DA6D28-EC38-4E76-97B8-30D69EC29C2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D6E96AE-0F29-42B6-9E21-0E88A6C783F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59EF7C4-83D8-40BE-9545-275BBA67A90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E86D44B-DE89-4430-9422-AC0C6EED4AD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93FDE9C-748F-4825-9352-2E6EBCB1C28A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835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28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06C0DEB-838B-41C6-85D8-C502E4447E5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7391B40-BF38-46C3-B6AB-2DF5F51C37B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B9BB3AF-10FA-4736-ABA8-E408ED1188C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56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18B1596-5600-46BD-AA93-AED6A9873C83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65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36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F8BF786-DE9D-4913-9A84-FE37D259907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85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38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91FFE4D-6DEA-49DD-81E2-7855D71E849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CA047F1-73C9-447E-9EC0-B7048BA2C4EC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5A7CADB-0AB1-4E1F-B0E9-BA4AD06C124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6507D38-F460-4A43-845D-D68FD7D6CAF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BA6AE0C-B26B-4963-9BE6-BBFAAA80F253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4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770495C-00F1-420A-9C0B-C1E24E11196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08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50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0EE85FA-61FA-402F-91C7-0C942D83A4A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29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252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154A8D5-E576-43EE-B83D-B12648A72006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8C92EA3-3335-489F-B736-49805EA8FD8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C222B95-3C54-4743-BE20-37946EC3FD0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D18C669-CDA3-4E77-83AD-15129C54F8E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64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4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2927399-FEB2-4240-AA18-84158898D44A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66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129889E-2B5E-45D5-B1E7-B761C2AEDE5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68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D8A0D53-46E5-4FFD-891C-5C8AD7152EC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0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0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BB770CE0-1AD3-4648-BACF-DBB98A0495C6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2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2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9F579E0-3C80-48BD-816F-12310F7FCA4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4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EE70C33-0DE8-495C-9E3B-CB56CBABE4E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6396F80-0450-4107-9CBA-0EE06960A8F4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8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C9FAFE0-7F84-49E2-8F31-0F7AFABE05FC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80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0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7DF40B9-E813-48F5-9361-528AA85EDBC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86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7114F8E-0701-4779-8411-385D3893ACD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82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2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90D4346-077F-4FE8-B1A2-90010F269CC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84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4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51C2633-AFD3-4A80-95C3-40458A7D828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88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8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DA68E80-CA1F-4A76-8179-9274A6F103D8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0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0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F3B1321-90CF-457B-AFA7-A72A69D7512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2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2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3A46FFD-7FBF-4171-B308-478025FA6FA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4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4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073BF42-24E6-4C1F-82E8-A04453B2EF86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4FE19C5-5A6F-4949-9880-7A5CCAAFA973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9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9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C4425B7-FAEC-4D39-A924-4A7E35F5144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01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1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592AF78-12D9-4671-901E-5BC7C64A953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05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5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2031EEE-8646-4F48-8FA9-2AA9D347215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E73A370-125F-484B-ACB5-815C130FB90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09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9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DB0678F-5330-4CA0-A0D1-4009C35912A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1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1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BB6D7836-A769-4430-A166-850C47B32F2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3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3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8CB6753-424E-44B0-BDE3-FC2076AD30F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5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5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853CF03-A2FF-4053-866B-B9C82C9634E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FC22A61-6186-4DC6-8535-7A3DF981754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9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9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3D57AB7-8D07-457F-B5DC-76AD9A59B77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21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1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E6FF772-9ADC-4F3E-B1C1-28A4D4B8465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0FE67CE-3558-4E29-A78C-EB4AC918078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25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5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CBC8FC6-EEEF-4E33-A481-CBFB50EB8B6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27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E536962-18EF-4E1C-AABC-A1FE817C0F6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29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9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2BF1CD7-43D6-41BD-91FA-45F80B772BF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1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1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FED4A07-00E1-43F1-B605-87C34707D96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3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3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5D30688-444F-42BF-894C-2FD805476E54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5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5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A2879FF-C8EC-4EEA-8465-B7AD270DB78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160CE62-60DF-4011-8AAF-0E48E14B4E5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9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9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BFE54EF-C305-49E2-BBDD-2E742D4B818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42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2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32FDE60-D8A5-4340-A4C7-75FC70429DF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44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4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BB4E5F6-708F-4D7E-B219-FB882D43D67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46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6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A21A62E-AFF1-4ED8-BEB0-B4CF51E72FA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48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C0D38E5-546B-4379-9451-F4C699CC4D7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0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0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B0278D9D-9B97-4156-BFD1-583E47EEAF7F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2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2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D640A30-AFDE-433B-AAEF-AB8A5B495FA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4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4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E58EE00-A4D7-4A2C-9B4F-75E71FAFFA2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6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6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12409C-8066-4D4E-80F0-B2B2F2B5320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8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5B07D56-B62C-4C1F-ADE8-A9BE40E66B8C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60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0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AB1A366-E19A-407D-ABE5-037928B9E50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13C116B-A2B6-4DDA-9907-F3D2003011F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64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4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9A65D0A-F92D-409F-909A-31125ADF2D3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66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6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66E15-AE20-3847-A3CF-88F52D6FA93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66E15-AE20-3847-A3CF-88F52D6FA93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61B4A99-2C2E-4299-82BC-349A110403D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68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B56EBAB-7E04-497D-87CE-CF5D2F822E3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0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0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C0A72A4-2C01-42C3-9014-67C6E2159AF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2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2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8499C2E-6890-4ECD-9D3D-577846A6525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4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4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BFC43E4-8C57-47D7-9531-F34BBB7CEA7A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6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6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85783EC-915A-43C1-B219-A5C8A434628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1DFF73B-A5B1-4521-91D5-E8F46D8ECD4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80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0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3F81536-FE59-4808-9C0D-8E2B43E0215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82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2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5AE3D74-68BF-4FA2-9D28-942D9F16F13C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1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1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E8C5691-183D-4ABC-A821-EA932F116EE4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3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3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80DD9E7-B346-421F-9E99-0A9A1F20146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5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5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7503E17-BC08-40D3-97C6-2BD97EF23E93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7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7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DBF8CC9-2EE8-4B80-9065-144182DB206C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9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B1C72A8-54CC-4587-9387-6BDA177B775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01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1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A0BF853-5D9F-45E6-9F1E-763A2C0399E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03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3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F144F07-1CBA-46C0-9AE3-8A7ED8A08F7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05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5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D0F66EA-3520-42A4-B088-63B0FE3EB5D1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07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7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261DBE2-E9AE-4467-BFB7-42EA8057CB5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09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4E2E7F4-C307-407E-B4FF-3B69036B58F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1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1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993DC74-D874-4119-8279-07A14655E85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3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3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C18AF8E-317B-4B3D-9B71-07B04443F8C4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5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5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AA4BD8F-2505-4206-815C-DE86BA1A30F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7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7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245EE21-0251-4C9D-B79C-F142C26E8836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9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479EA59-9D5B-4E58-B3DE-5EB94719D4B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21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21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54C8210-D41E-4DB1-85FA-E4BB4AE3340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23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23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CEE697C-B3BC-43B5-9A80-B9E2481B1A12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25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25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1177B09-A306-4BFA-AB64-F59ED9CE63B3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28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28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7AD0BBC-573F-4207-A763-17CD77EDA328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30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6AE8FDC-4390-4BE3-8F8C-295B8025214C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32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2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7286F99-6FF5-4E6F-8D73-2DF68DAFC0E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34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4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C8852CB-0E09-4145-A52A-BD6B872AD89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36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6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C79847ED-3A2E-4B41-A2D3-D1AAE6E07E3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38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8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CD64BF5-9CB6-4968-B9F8-9FDA0216C4D5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CE7F97D-1301-4F0C-85C2-A3EA26749A80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FD9A560-57FF-4363-AA64-0B20DC1811C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4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4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B796BF7E-B216-4DBE-A04B-848CBE29B07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6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6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89F3F47-98A4-47D5-974A-3186E9802024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8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8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7C62C219-DF77-4648-B429-C13DA811B528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50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C970810-0572-4F44-A1D7-DBECE4D0D906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52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2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FD105DF-887F-47A4-9F52-EA101017605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54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4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7D7B1C8-4247-41B9-AAD2-ED1F8B7DA39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5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6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87668358-B0FC-4725-A50E-952EDE18D7FE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58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8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A40CCFA-7D3C-454B-B0F7-59CFD94F756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8BB5767-9816-4225-93FD-B145474B3BD7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2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2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85ABA32-122F-470C-A9C7-2EA0314C089D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4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4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148875A-988F-4BBE-886A-5010F9CDE0E9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6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6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39208BE2-E845-4FAA-9731-3316E51F233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8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8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36EE9A5-7B8E-47D5-90DA-7B115C78EB4A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71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961D13C-1B70-46A4-B673-B39A95166C7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73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3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6BF8F98-4C0C-4F2C-A114-458673EA33C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75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5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D5F3113-486A-4D95-8078-CAB036278F7B}" type="slidenum">
              <a:rPr lang="zh-CN" altLang="en-US" sz="1200" b="0" smtClean="0">
                <a:latin typeface="Times New Roman" panose="02020603050405020304" pitchFamily="18" charset="0"/>
              </a:rPr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77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7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8E73C-CCC3-459A-BB10-3D72B55281EC}" type="datetime1">
              <a:rPr lang="zh-CN" altLang="en-US"/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BEB0A5-910D-48A1-A1DA-E0F9FAE2B9F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1C3CC-686A-4A8E-8D4B-BD04A2E4521B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F458D-6890-46BA-BF00-BF651343D34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C8838-A426-4178-BB45-DF9814613097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6602B-9996-4BC8-81FD-D13D88B8F68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A9F43-73C8-4CCF-9609-17ECE0F6DC3E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71594-2502-47A2-B441-7A82F0EE06C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79188-CB8C-44EE-A413-105912728BB2}" type="datetime1">
              <a:rPr lang="zh-CN" altLang="en-US"/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390C1-EA46-4778-9983-A9349C0D7EA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B157C-20C1-475A-804D-8911EEDE53EE}" type="datetime1">
              <a:rPr lang="zh-CN" altLang="en-US"/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4D31D-9CF5-4C5E-9220-CFC942E39A2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2D167-5D21-4B05-8A4B-F6716DD8C5C5}" type="datetime1">
              <a:rPr lang="zh-CN" altLang="en-US"/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C19E7-1A40-4662-A03C-09D45A78F0B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4336A-B4AF-4A3F-B118-F64F055569B6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DE1D7-D7F1-43B3-A762-EBD9F123326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5FACD-946A-4B8F-887D-B35CEC10D3C8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0A474-3C2F-419E-A9D3-DBB50646D3D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10C4C-9D3C-4901-B7B9-6D02ACC886C0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83CB7-896B-40E3-8F2F-A18BD06FD87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C5C38-6CA8-4996-A02A-20F669DBFA35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16B4F-BE96-4237-BCB0-DEC9FD03FD0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305800" cy="44196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FCF24-1ED7-4630-AF4C-C50EBEE35892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D8325-775E-4A6D-AA3A-FF0195EBA1C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09FF9-F18A-41CB-B547-EE0B2013C3D0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DE630-1EB0-4DF6-82A6-EB73D9C35B0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1600200"/>
            <a:ext cx="40767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886200"/>
            <a:ext cx="40767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7D457-B289-4780-91B4-EA36BAC55C0D}" type="datetime1">
              <a:rPr lang="zh-CN" altLang="en-US"/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2D2F8-9C1A-466D-8E04-9A7F44F9C94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1603879-B80C-41E1-890C-82B5103DDB6F}" type="datetime1">
              <a:rPr lang="zh-CN" altLang="en-US"/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85C59CB-4F8D-4126-88FA-9ABF2E78A1DD}" type="slidenum">
              <a:rPr lang="zh-CN" altLang="en-US"/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1" Type="http://schemas.openxmlformats.org/officeDocument/2006/relationships/notesSlide" Target="../notesSlides/notesSlide24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1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5.bin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2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3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7.wmf"/><Relationship Id="rId11" Type="http://schemas.openxmlformats.org/officeDocument/2006/relationships/notesSlide" Target="../notesSlides/notesSlide74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0.bin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5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4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5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5.bin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4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6.bin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3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8.bin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8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9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4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0.bin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37.png"/><Relationship Id="rId12" Type="http://schemas.openxmlformats.org/officeDocument/2006/relationships/notesSlide" Target="../notesSlides/notesSlide127.xml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3.xml"/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13.xml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23.bin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5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6.bin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7.pn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6.xml"/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8.emf"/><Relationship Id="rId1" Type="http://schemas.openxmlformats.org/officeDocument/2006/relationships/oleObject" Target="../embeddings/oleObject27.bin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94D37F-A5D8-4B01-8AB2-4512D2E5021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Representing Information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F0C366-94C9-4341-9105-38F4FE73A2F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Bit and Byte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Understand machine representations of numbers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Suggested reading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1.1, 2.1.1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78B159-34C0-4673-B570-9852A661801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Bit?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Modern computers store and process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Information represented as two-valued signals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These lowly binary digits are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bits</a:t>
            </a:r>
            <a:endParaRPr lang="en-US" altLang="zh-CN" b="1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Bits form the basis of the digital revolution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426286-5453-4150-80C4-940D00A8529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Decimal Representation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Base-10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Has been in use for over 1000 years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Developed in India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Improved by Arab mathematicians in the 12th century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Brought to the West in the 13th century by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Italian mathematician Leonardo Pisano,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better known as Fibonacci. 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88200A-488F-4A36-BEC5-D5258600BD5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Bit?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Using decimal notation is natural for ten-fingered humans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But binary values work better when building machines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that store and process information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66205A-0418-4283-B77C-46F49D2F402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Bit?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Two-valued signals can readily be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represented, stored, and transmitted, 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Examples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The presence or absence of a hole in a punched card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A high or low voltage on a wire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A magnetic domain oriented clockwise or counterclockwise.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5" name="图片 4" descr="150px-Punched_tape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28194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 descr="264px-Papertape-Wikipedia-example_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2819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260px-Magnetic_core_memory_car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27844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2" name="TextBox 47"/>
          <p:cNvSpPr txBox="1">
            <a:spLocks noChangeArrowheads="1"/>
          </p:cNvSpPr>
          <p:nvPr/>
        </p:nvSpPr>
        <p:spPr bwMode="auto">
          <a:xfrm>
            <a:off x="3073400" y="762000"/>
            <a:ext cx="5029200" cy="404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2" name="组合 70"/>
          <p:cNvGrpSpPr/>
          <p:nvPr/>
        </p:nvGrpSpPr>
        <p:grpSpPr bwMode="auto">
          <a:xfrm>
            <a:off x="381000" y="1524000"/>
            <a:ext cx="7467600" cy="4449763"/>
            <a:chOff x="762000" y="1371601"/>
            <a:chExt cx="7467600" cy="4450449"/>
          </a:xfrm>
        </p:grpSpPr>
        <p:sp>
          <p:nvSpPr>
            <p:cNvPr id="67594" name="TextBox 71"/>
            <p:cNvSpPr txBox="1">
              <a:spLocks noChangeArrowheads="1"/>
            </p:cNvSpPr>
            <p:nvPr/>
          </p:nvSpPr>
          <p:spPr bwMode="auto">
            <a:xfrm>
              <a:off x="762000" y="1371601"/>
              <a:ext cx="7467600" cy="4450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grpSp>
          <p:nvGrpSpPr>
            <p:cNvPr id="67595" name="组合 2"/>
            <p:cNvGrpSpPr/>
            <p:nvPr/>
          </p:nvGrpSpPr>
          <p:grpSpPr bwMode="auto">
            <a:xfrm>
              <a:off x="1255713" y="1960562"/>
              <a:ext cx="6288087" cy="1925638"/>
              <a:chOff x="874713" y="1600200"/>
              <a:chExt cx="6288087" cy="1925638"/>
            </a:xfrm>
          </p:grpSpPr>
          <p:sp>
            <p:nvSpPr>
              <p:cNvPr id="67596" name="Rectangle 5"/>
              <p:cNvSpPr>
                <a:spLocks noChangeArrowheads="1"/>
              </p:cNvSpPr>
              <p:nvPr/>
            </p:nvSpPr>
            <p:spPr bwMode="auto">
              <a:xfrm>
                <a:off x="2049655" y="1995104"/>
                <a:ext cx="5113145" cy="376895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lIns="47965" tIns="47965" rIns="47965" bIns="47965" anchor="ctr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000">
                  <a:latin typeface="Courier New" panose="02070309020205020404" pitchFamily="49" charset="0"/>
                </a:endParaRPr>
              </a:p>
            </p:txBody>
          </p:sp>
          <p:sp>
            <p:nvSpPr>
              <p:cNvPr id="67597" name="Rectangle 6"/>
              <p:cNvSpPr>
                <a:spLocks noChangeArrowheads="1"/>
              </p:cNvSpPr>
              <p:nvPr/>
            </p:nvSpPr>
            <p:spPr bwMode="auto">
              <a:xfrm>
                <a:off x="2049655" y="2743749"/>
                <a:ext cx="5113145" cy="376895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lIns="47965" tIns="47965" rIns="47965" bIns="47965" anchor="ctr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000">
                  <a:latin typeface="Courier New" panose="02070309020205020404" pitchFamily="49" charset="0"/>
                </a:endParaRPr>
              </a:p>
            </p:txBody>
          </p:sp>
          <p:sp>
            <p:nvSpPr>
              <p:cNvPr id="67598" name="Line 7"/>
              <p:cNvSpPr>
                <a:spLocks noChangeShapeType="1"/>
              </p:cNvSpPr>
              <p:nvPr/>
            </p:nvSpPr>
            <p:spPr bwMode="auto">
              <a:xfrm flipV="1">
                <a:off x="2049655" y="2037553"/>
                <a:ext cx="0" cy="104964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599" name="Line 8"/>
              <p:cNvSpPr>
                <a:spLocks noChangeShapeType="1"/>
              </p:cNvSpPr>
              <p:nvPr/>
            </p:nvSpPr>
            <p:spPr bwMode="auto">
              <a:xfrm flipV="1">
                <a:off x="2049655" y="3087199"/>
                <a:ext cx="511314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0" name="Text Box 9"/>
              <p:cNvSpPr txBox="1">
                <a:spLocks noChangeArrowheads="1"/>
              </p:cNvSpPr>
              <p:nvPr/>
            </p:nvSpPr>
            <p:spPr bwMode="auto">
              <a:xfrm>
                <a:off x="874713" y="2408016"/>
                <a:ext cx="1178122" cy="4656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Voltage</a:t>
                </a:r>
                <a:endParaRPr lang="en-US" altLang="zh-CN" sz="2000"/>
              </a:p>
            </p:txBody>
          </p:sp>
          <p:sp>
            <p:nvSpPr>
              <p:cNvPr id="67601" name="Text Box 10"/>
              <p:cNvSpPr txBox="1">
                <a:spLocks noChangeArrowheads="1"/>
              </p:cNvSpPr>
              <p:nvPr/>
            </p:nvSpPr>
            <p:spPr bwMode="auto">
              <a:xfrm>
                <a:off x="4027501" y="3148943"/>
                <a:ext cx="801314" cy="37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Time</a:t>
                </a:r>
                <a:endParaRPr lang="en-US" altLang="zh-CN" sz="2000"/>
              </a:p>
            </p:txBody>
          </p:sp>
          <p:sp>
            <p:nvSpPr>
              <p:cNvPr id="67602" name="Freeform 11"/>
              <p:cNvSpPr/>
              <p:nvPr/>
            </p:nvSpPr>
            <p:spPr bwMode="auto">
              <a:xfrm>
                <a:off x="2046475" y="2090292"/>
                <a:ext cx="5017750" cy="903005"/>
              </a:xfrm>
              <a:custGeom>
                <a:avLst/>
                <a:gdLst>
                  <a:gd name="T0" fmla="*/ 0 w 3210"/>
                  <a:gd name="T1" fmla="*/ 2147483646 h 635"/>
                  <a:gd name="T2" fmla="*/ 2147483646 w 3210"/>
                  <a:gd name="T3" fmla="*/ 2147483646 h 635"/>
                  <a:gd name="T4" fmla="*/ 2147483646 w 3210"/>
                  <a:gd name="T5" fmla="*/ 2147483646 h 635"/>
                  <a:gd name="T6" fmla="*/ 2147483646 w 3210"/>
                  <a:gd name="T7" fmla="*/ 2147483646 h 635"/>
                  <a:gd name="T8" fmla="*/ 2147483646 w 3210"/>
                  <a:gd name="T9" fmla="*/ 2147483646 h 635"/>
                  <a:gd name="T10" fmla="*/ 2147483646 w 3210"/>
                  <a:gd name="T11" fmla="*/ 2147483646 h 635"/>
                  <a:gd name="T12" fmla="*/ 2147483646 w 3210"/>
                  <a:gd name="T13" fmla="*/ 2147483646 h 635"/>
                  <a:gd name="T14" fmla="*/ 2147483646 w 3210"/>
                  <a:gd name="T15" fmla="*/ 2147483646 h 635"/>
                  <a:gd name="T16" fmla="*/ 2147483646 w 3210"/>
                  <a:gd name="T17" fmla="*/ 2147483646 h 635"/>
                  <a:gd name="T18" fmla="*/ 2147483646 w 3210"/>
                  <a:gd name="T19" fmla="*/ 2147483646 h 635"/>
                  <a:gd name="T20" fmla="*/ 2147483646 w 3210"/>
                  <a:gd name="T21" fmla="*/ 2147483646 h 635"/>
                  <a:gd name="T22" fmla="*/ 2147483646 w 3210"/>
                  <a:gd name="T23" fmla="*/ 2147483646 h 635"/>
                  <a:gd name="T24" fmla="*/ 2147483646 w 3210"/>
                  <a:gd name="T25" fmla="*/ 2147483646 h 635"/>
                  <a:gd name="T26" fmla="*/ 2147483646 w 3210"/>
                  <a:gd name="T27" fmla="*/ 2147483646 h 635"/>
                  <a:gd name="T28" fmla="*/ 2147483646 w 3210"/>
                  <a:gd name="T29" fmla="*/ 2147483646 h 635"/>
                  <a:gd name="T30" fmla="*/ 2147483646 w 3210"/>
                  <a:gd name="T31" fmla="*/ 2147483646 h 635"/>
                  <a:gd name="T32" fmla="*/ 2147483646 w 3210"/>
                  <a:gd name="T33" fmla="*/ 0 h 635"/>
                  <a:gd name="T34" fmla="*/ 2147483646 w 3210"/>
                  <a:gd name="T35" fmla="*/ 2147483646 h 635"/>
                  <a:gd name="T36" fmla="*/ 2147483646 w 3210"/>
                  <a:gd name="T37" fmla="*/ 2147483646 h 635"/>
                  <a:gd name="T38" fmla="*/ 2147483646 w 3210"/>
                  <a:gd name="T39" fmla="*/ 2147483646 h 635"/>
                  <a:gd name="T40" fmla="*/ 2147483646 w 3210"/>
                  <a:gd name="T41" fmla="*/ 2147483646 h 635"/>
                  <a:gd name="T42" fmla="*/ 2147483646 w 3210"/>
                  <a:gd name="T43" fmla="*/ 2147483646 h 635"/>
                  <a:gd name="T44" fmla="*/ 2147483646 w 3210"/>
                  <a:gd name="T45" fmla="*/ 2147483646 h 635"/>
                  <a:gd name="T46" fmla="*/ 2147483646 w 3210"/>
                  <a:gd name="T47" fmla="*/ 2147483646 h 635"/>
                  <a:gd name="T48" fmla="*/ 2147483646 w 3210"/>
                  <a:gd name="T49" fmla="*/ 2147483646 h 635"/>
                  <a:gd name="T50" fmla="*/ 2147483646 w 3210"/>
                  <a:gd name="T51" fmla="*/ 2147483646 h 635"/>
                  <a:gd name="T52" fmla="*/ 2147483646 w 3210"/>
                  <a:gd name="T53" fmla="*/ 2147483646 h 63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210"/>
                  <a:gd name="T82" fmla="*/ 0 h 635"/>
                  <a:gd name="T83" fmla="*/ 3210 w 3210"/>
                  <a:gd name="T84" fmla="*/ 635 h 635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210" h="635">
                    <a:moveTo>
                      <a:pt x="0" y="606"/>
                    </a:moveTo>
                    <a:cubicBezTo>
                      <a:pt x="34" y="601"/>
                      <a:pt x="68" y="596"/>
                      <a:pt x="102" y="588"/>
                    </a:cubicBezTo>
                    <a:cubicBezTo>
                      <a:pt x="159" y="595"/>
                      <a:pt x="204" y="619"/>
                      <a:pt x="258" y="630"/>
                    </a:cubicBezTo>
                    <a:cubicBezTo>
                      <a:pt x="296" y="628"/>
                      <a:pt x="350" y="635"/>
                      <a:pt x="390" y="618"/>
                    </a:cubicBezTo>
                    <a:cubicBezTo>
                      <a:pt x="410" y="610"/>
                      <a:pt x="450" y="594"/>
                      <a:pt x="450" y="594"/>
                    </a:cubicBezTo>
                    <a:cubicBezTo>
                      <a:pt x="495" y="598"/>
                      <a:pt x="528" y="600"/>
                      <a:pt x="564" y="624"/>
                    </a:cubicBezTo>
                    <a:cubicBezTo>
                      <a:pt x="707" y="618"/>
                      <a:pt x="670" y="627"/>
                      <a:pt x="750" y="600"/>
                    </a:cubicBezTo>
                    <a:cubicBezTo>
                      <a:pt x="756" y="594"/>
                      <a:pt x="761" y="587"/>
                      <a:pt x="768" y="582"/>
                    </a:cubicBezTo>
                    <a:cubicBezTo>
                      <a:pt x="775" y="577"/>
                      <a:pt x="785" y="576"/>
                      <a:pt x="792" y="570"/>
                    </a:cubicBezTo>
                    <a:cubicBezTo>
                      <a:pt x="818" y="548"/>
                      <a:pt x="837" y="509"/>
                      <a:pt x="870" y="498"/>
                    </a:cubicBezTo>
                    <a:cubicBezTo>
                      <a:pt x="894" y="474"/>
                      <a:pt x="920" y="445"/>
                      <a:pt x="948" y="426"/>
                    </a:cubicBezTo>
                    <a:cubicBezTo>
                      <a:pt x="982" y="375"/>
                      <a:pt x="1029" y="328"/>
                      <a:pt x="1080" y="294"/>
                    </a:cubicBezTo>
                    <a:cubicBezTo>
                      <a:pt x="1126" y="217"/>
                      <a:pt x="1203" y="184"/>
                      <a:pt x="1272" y="132"/>
                    </a:cubicBezTo>
                    <a:cubicBezTo>
                      <a:pt x="1297" y="113"/>
                      <a:pt x="1308" y="79"/>
                      <a:pt x="1332" y="60"/>
                    </a:cubicBezTo>
                    <a:cubicBezTo>
                      <a:pt x="1342" y="52"/>
                      <a:pt x="1357" y="49"/>
                      <a:pt x="1368" y="42"/>
                    </a:cubicBezTo>
                    <a:cubicBezTo>
                      <a:pt x="1490" y="50"/>
                      <a:pt x="1538" y="59"/>
                      <a:pt x="1674" y="54"/>
                    </a:cubicBezTo>
                    <a:cubicBezTo>
                      <a:pt x="1746" y="40"/>
                      <a:pt x="1820" y="23"/>
                      <a:pt x="1890" y="0"/>
                    </a:cubicBezTo>
                    <a:cubicBezTo>
                      <a:pt x="2003" y="6"/>
                      <a:pt x="2022" y="4"/>
                      <a:pt x="2106" y="60"/>
                    </a:cubicBezTo>
                    <a:cubicBezTo>
                      <a:pt x="2138" y="108"/>
                      <a:pt x="2168" y="164"/>
                      <a:pt x="2208" y="204"/>
                    </a:cubicBezTo>
                    <a:cubicBezTo>
                      <a:pt x="2233" y="278"/>
                      <a:pt x="2315" y="374"/>
                      <a:pt x="2376" y="420"/>
                    </a:cubicBezTo>
                    <a:cubicBezTo>
                      <a:pt x="2405" y="478"/>
                      <a:pt x="2462" y="495"/>
                      <a:pt x="2508" y="534"/>
                    </a:cubicBezTo>
                    <a:cubicBezTo>
                      <a:pt x="2515" y="539"/>
                      <a:pt x="2519" y="548"/>
                      <a:pt x="2526" y="552"/>
                    </a:cubicBezTo>
                    <a:cubicBezTo>
                      <a:pt x="2547" y="564"/>
                      <a:pt x="2595" y="567"/>
                      <a:pt x="2616" y="570"/>
                    </a:cubicBezTo>
                    <a:cubicBezTo>
                      <a:pt x="2688" y="564"/>
                      <a:pt x="2743" y="568"/>
                      <a:pt x="2814" y="582"/>
                    </a:cubicBezTo>
                    <a:cubicBezTo>
                      <a:pt x="2820" y="588"/>
                      <a:pt x="2824" y="596"/>
                      <a:pt x="2832" y="600"/>
                    </a:cubicBezTo>
                    <a:cubicBezTo>
                      <a:pt x="2849" y="608"/>
                      <a:pt x="2886" y="618"/>
                      <a:pt x="2886" y="618"/>
                    </a:cubicBezTo>
                    <a:cubicBezTo>
                      <a:pt x="2997" y="613"/>
                      <a:pt x="3100" y="594"/>
                      <a:pt x="3210" y="594"/>
                    </a:cubicBez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3" name="Line 12"/>
              <p:cNvSpPr>
                <a:spLocks noChangeShapeType="1"/>
              </p:cNvSpPr>
              <p:nvPr/>
            </p:nvSpPr>
            <p:spPr bwMode="auto">
              <a:xfrm>
                <a:off x="2049655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4" name="Line 13"/>
              <p:cNvSpPr>
                <a:spLocks noChangeShapeType="1"/>
              </p:cNvSpPr>
              <p:nvPr/>
            </p:nvSpPr>
            <p:spPr bwMode="auto">
              <a:xfrm>
                <a:off x="3347020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5" name="Line 14"/>
              <p:cNvSpPr>
                <a:spLocks noChangeShapeType="1"/>
              </p:cNvSpPr>
              <p:nvPr/>
            </p:nvSpPr>
            <p:spPr bwMode="auto">
              <a:xfrm>
                <a:off x="4033861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6" name="Line 15"/>
              <p:cNvSpPr>
                <a:spLocks noChangeShapeType="1"/>
              </p:cNvSpPr>
              <p:nvPr/>
            </p:nvSpPr>
            <p:spPr bwMode="auto">
              <a:xfrm>
                <a:off x="5483857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7" name="Line 16"/>
              <p:cNvSpPr>
                <a:spLocks noChangeShapeType="1"/>
              </p:cNvSpPr>
              <p:nvPr/>
            </p:nvSpPr>
            <p:spPr bwMode="auto">
              <a:xfrm>
                <a:off x="5941750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8" name="Line 17"/>
              <p:cNvSpPr>
                <a:spLocks noChangeShapeType="1"/>
              </p:cNvSpPr>
              <p:nvPr/>
            </p:nvSpPr>
            <p:spPr bwMode="auto">
              <a:xfrm>
                <a:off x="7162800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9" name="Line 18"/>
              <p:cNvSpPr>
                <a:spLocks noChangeShapeType="1"/>
              </p:cNvSpPr>
              <p:nvPr/>
            </p:nvSpPr>
            <p:spPr bwMode="auto">
              <a:xfrm>
                <a:off x="2049655" y="1737837"/>
                <a:ext cx="129736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10" name="Line 19"/>
              <p:cNvSpPr>
                <a:spLocks noChangeShapeType="1"/>
              </p:cNvSpPr>
              <p:nvPr/>
            </p:nvSpPr>
            <p:spPr bwMode="auto">
              <a:xfrm>
                <a:off x="4033861" y="1737837"/>
                <a:ext cx="1449996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11" name="Line 20"/>
              <p:cNvSpPr>
                <a:spLocks noChangeShapeType="1"/>
              </p:cNvSpPr>
              <p:nvPr/>
            </p:nvSpPr>
            <p:spPr bwMode="auto">
              <a:xfrm>
                <a:off x="5941750" y="1737837"/>
                <a:ext cx="1221050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12" name="Text Box 21"/>
              <p:cNvSpPr txBox="1">
                <a:spLocks noChangeArrowheads="1"/>
              </p:cNvSpPr>
              <p:nvPr/>
            </p:nvSpPr>
            <p:spPr bwMode="auto">
              <a:xfrm>
                <a:off x="2410564" y="1600200"/>
                <a:ext cx="402247" cy="3768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tailEnd type="none" w="sm" len="sm"/>
              </a:ln>
            </p:spPr>
            <p:txBody>
              <a:bodyPr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67613" name="Text Box 22"/>
              <p:cNvSpPr txBox="1">
                <a:spLocks noChangeArrowheads="1"/>
              </p:cNvSpPr>
              <p:nvPr/>
            </p:nvSpPr>
            <p:spPr bwMode="auto">
              <a:xfrm>
                <a:off x="4568070" y="1614350"/>
                <a:ext cx="402247" cy="3768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tailEnd type="none" w="sm" len="sm"/>
              </a:ln>
            </p:spPr>
            <p:txBody>
              <a:bodyPr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67614" name="Text Box 23"/>
              <p:cNvSpPr txBox="1">
                <a:spLocks noChangeArrowheads="1"/>
              </p:cNvSpPr>
              <p:nvPr/>
            </p:nvSpPr>
            <p:spPr bwMode="auto">
              <a:xfrm>
                <a:off x="6378975" y="1628499"/>
                <a:ext cx="402247" cy="3768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tailEnd type="none" w="sm" len="sm"/>
              </a:ln>
            </p:spPr>
            <p:txBody>
              <a:bodyPr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DDEA55-A6D6-416D-9024-C8559C34CD4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Bit?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The electronic circuitry is very simple and reliable for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storing and performing computations on two-valued signals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This enabling manufacturers to integrate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millions of such circuits on a single silicon chip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B78555-F839-4ACE-A452-74CF2693334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Group Bits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In isolation, a single bit is not very useful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In English, there are 26(or 52) characters in its alphabet. They are not useful either in isolation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However, there are plenty of words in its vocabulary. How is this achieved?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Similarly, we are able to represent the elements of any finite set by using </a:t>
            </a:r>
            <a:r>
              <a:rPr lang="en-US" altLang="zh-CN" u="sng">
                <a:ea typeface="宋体" panose="02010600030101010101" pitchFamily="2" charset="-122"/>
              </a:rPr>
              <a:t>bits</a:t>
            </a:r>
            <a:r>
              <a:rPr lang="en-US" altLang="zh-CN">
                <a:ea typeface="宋体" panose="02010600030101010101" pitchFamily="2" charset="-122"/>
              </a:rPr>
              <a:t> (instead of bit)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B87CC2-7A0D-4924-BC47-3FEEB1334C3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Group Bits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To do this, we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first group bits together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then apply some </a:t>
            </a:r>
            <a:r>
              <a:rPr lang="en-US" altLang="zh-CN" i="1">
                <a:ea typeface="宋体" panose="02010600030101010101" pitchFamily="2" charset="-122"/>
              </a:rPr>
              <a:t>interpretation </a:t>
            </a:r>
            <a:r>
              <a:rPr lang="en-US" altLang="zh-CN">
                <a:ea typeface="宋体" panose="02010600030101010101" pitchFamily="2" charset="-122"/>
              </a:rPr>
              <a:t>to the different possible bit patterns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that gives meaning to each patterns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8-bit chunks are organized as a byte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Dr. Werner Buchholz in July 1956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during the early design phase for the IBM Stretch computer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03DB17-1E04-41F3-95CC-AFFDE56371F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Value of Bits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648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Bits		     01010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Value        	0*2</a:t>
            </a:r>
            <a:r>
              <a:rPr lang="en-US" altLang="zh-CN" sz="2400" baseline="3000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+1*2</a:t>
            </a:r>
            <a:r>
              <a:rPr lang="en-US" altLang="zh-CN" sz="2400" baseline="3000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+0*2</a:t>
            </a:r>
            <a:r>
              <a:rPr lang="en-US" altLang="zh-CN" sz="2400" baseline="3000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+1*2</a:t>
            </a:r>
            <a:r>
              <a:rPr lang="en-US" altLang="zh-CN" sz="2400" baseline="3000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+0*2</a:t>
            </a:r>
            <a:r>
              <a:rPr lang="en-US" altLang="zh-CN" sz="2400" baseline="30000">
                <a:latin typeface="Courier New" panose="02070309020205020404" pitchFamily="49" charset="0"/>
                <a:ea typeface="宋体" panose="02010600030101010101" pitchFamily="2" charset="-122"/>
              </a:rPr>
              <a:t>0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= 10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Value			102(1100110)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Bits			102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= 51*2 + 0 (0)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	51  = 25*2 + 1 (1)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	25  = 12*2 + 1 (1)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	12  =  6*2 + 0 (0)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	 6  =  3*2 + 0 (0)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	 3  =  1*2 + 1 (1)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	 1  =  0*2 + 1 (1)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3D9A59-8F27-434A-8702-EC739FA95A5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Group bits as numbers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 </a:t>
            </a:r>
            <a:r>
              <a:rPr lang="en-US" altLang="zh-CN">
                <a:ea typeface="宋体" panose="02010600030101010101" pitchFamily="2" charset="-122"/>
              </a:rPr>
              <a:t>Three encodings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Unsigned encoding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Representing numbers greater than or equal to 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Using traditional binary representation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Two’s-complement encoding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Most common way to represent either positive or negative numbers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Floating point encoding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Base-two version of scientific notation for representing real numbers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C66D5A-0DCD-49FE-9D2E-1CD4BAA85F2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Group bits as numbers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 </a:t>
            </a:r>
            <a:r>
              <a:rPr lang="en-US" altLang="zh-CN" sz="2400">
                <a:ea typeface="宋体" panose="02010600030101010101" pitchFamily="2" charset="-122"/>
              </a:rPr>
              <a:t>Understanding numbers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Machine representation of numbers are not same as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Integers and real numbers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They are finite approximations to integers and real numbers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Sometimes, they can behave in unexpected way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5E9839-8D18-4B0A-BEB5-4AA78E49E48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‘</a:t>
            </a:r>
            <a:r>
              <a:rPr lang="en-US" altLang="zh-CN">
                <a:ea typeface="宋体" panose="02010600030101010101" pitchFamily="2" charset="-122"/>
              </a:rPr>
              <a:t>int’ is not integer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Overflow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200*300*400*500 = -884,901,888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Product of a set of positive numbers yielded a negative result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Commutativity &amp; Associativity remain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(500 * 400) * (300 * 200)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((500 * 400) * 300) * 200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((200 * 500) * 300) * 400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400 * (200 * (300 * 500))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D7F52D-7194-49D2-B872-958265543B8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‘float’ is not real number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Product of a set of positive numbers is positive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Overflow and Underflow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Associativity does not hold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(3.14+1e20)-1e20 = 0.0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3.14+(1e20-1e20) = 3.14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735300-0BF6-4BF0-BCB0-09357086841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Hexadecimal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Base 16 number representation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Use characters ‘0’ to ‘9’ and ‘A’ to ‘F’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Write FA1D37B</a:t>
            </a:r>
            <a:r>
              <a:rPr lang="en-US" altLang="zh-CN" baseline="-25000">
                <a:ea typeface="宋体" panose="02010600030101010101" pitchFamily="2" charset="-122"/>
              </a:rPr>
              <a:t>16</a:t>
            </a:r>
            <a:r>
              <a:rPr lang="en-US" altLang="zh-CN">
                <a:ea typeface="宋体" panose="02010600030101010101" pitchFamily="2" charset="-122"/>
              </a:rPr>
              <a:t> in C as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0x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FA1D37B or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0x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fa1d37b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C0A94-6524-4B68-B46B-886FCACF51C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Hexadecimal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67056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Byte = 8 bits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Binary 	00000000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 	to 	11111111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Decimal: 	0</a:t>
            </a:r>
            <a:r>
              <a:rPr lang="en-US" altLang="zh-CN" baseline="-25000">
                <a:ea typeface="宋体" panose="02010600030101010101" pitchFamily="2" charset="-122"/>
              </a:rPr>
              <a:t>10</a:t>
            </a:r>
            <a:r>
              <a:rPr lang="en-US" altLang="zh-CN">
                <a:ea typeface="宋体" panose="02010600030101010101" pitchFamily="2" charset="-122"/>
              </a:rPr>
              <a:t>	to 	255</a:t>
            </a:r>
            <a:r>
              <a:rPr lang="en-US" altLang="zh-CN" baseline="-25000">
                <a:ea typeface="宋体" panose="02010600030101010101" pitchFamily="2" charset="-122"/>
              </a:rPr>
              <a:t>10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Hexadecimal 	00</a:t>
            </a:r>
            <a:r>
              <a:rPr lang="en-US" altLang="zh-CN" baseline="-25000">
                <a:ea typeface="宋体" panose="02010600030101010101" pitchFamily="2" charset="-122"/>
              </a:rPr>
              <a:t>16</a:t>
            </a:r>
            <a:r>
              <a:rPr lang="en-US" altLang="zh-CN">
                <a:ea typeface="宋体" panose="02010600030101010101" pitchFamily="2" charset="-122"/>
              </a:rPr>
              <a:t> 	to 	FF</a:t>
            </a:r>
            <a:r>
              <a:rPr lang="en-US" altLang="zh-CN" baseline="-25000">
                <a:ea typeface="宋体" panose="02010600030101010101" pitchFamily="2" charset="-122"/>
              </a:rPr>
              <a:t>16</a:t>
            </a:r>
            <a:endParaRPr lang="en-US" altLang="zh-CN" baseline="-25000">
              <a:ea typeface="宋体" panose="02010600030101010101" pitchFamily="2" charset="-122"/>
            </a:endParaRPr>
          </a:p>
        </p:txBody>
      </p:sp>
      <p:grpSp>
        <p:nvGrpSpPr>
          <p:cNvPr id="88069" name="Group 4"/>
          <p:cNvGrpSpPr/>
          <p:nvPr/>
        </p:nvGrpSpPr>
        <p:grpSpPr bwMode="auto">
          <a:xfrm>
            <a:off x="6477000" y="1622425"/>
            <a:ext cx="1790700" cy="4244975"/>
            <a:chOff x="4224" y="864"/>
            <a:chExt cx="1128" cy="2674"/>
          </a:xfrm>
        </p:grpSpPr>
        <p:grpSp>
          <p:nvGrpSpPr>
            <p:cNvPr id="88070" name="Group 5"/>
            <p:cNvGrpSpPr/>
            <p:nvPr/>
          </p:nvGrpSpPr>
          <p:grpSpPr bwMode="auto">
            <a:xfrm>
              <a:off x="4224" y="1234"/>
              <a:ext cx="1104" cy="2304"/>
              <a:chOff x="4224" y="1234"/>
              <a:chExt cx="1104" cy="2304"/>
            </a:xfrm>
          </p:grpSpPr>
          <p:sp>
            <p:nvSpPr>
              <p:cNvPr id="88074" name="Rectangle 6"/>
              <p:cNvSpPr>
                <a:spLocks noChangeArrowheads="1"/>
              </p:cNvSpPr>
              <p:nvPr/>
            </p:nvSpPr>
            <p:spPr bwMode="auto">
              <a:xfrm>
                <a:off x="4224" y="123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0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75" name="Rectangle 7"/>
              <p:cNvSpPr>
                <a:spLocks noChangeArrowheads="1"/>
              </p:cNvSpPr>
              <p:nvPr/>
            </p:nvSpPr>
            <p:spPr bwMode="auto">
              <a:xfrm>
                <a:off x="4512" y="123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76" name="Rectangle 8"/>
              <p:cNvSpPr>
                <a:spLocks noChangeArrowheads="1"/>
              </p:cNvSpPr>
              <p:nvPr/>
            </p:nvSpPr>
            <p:spPr bwMode="auto">
              <a:xfrm>
                <a:off x="4800" y="123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0000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77" name="Rectangle 9"/>
              <p:cNvSpPr>
                <a:spLocks noChangeArrowheads="1"/>
              </p:cNvSpPr>
              <p:nvPr/>
            </p:nvSpPr>
            <p:spPr bwMode="auto">
              <a:xfrm>
                <a:off x="4224" y="137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1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78" name="Rectangle 10"/>
              <p:cNvSpPr>
                <a:spLocks noChangeArrowheads="1"/>
              </p:cNvSpPr>
              <p:nvPr/>
            </p:nvSpPr>
            <p:spPr bwMode="auto">
              <a:xfrm>
                <a:off x="4512" y="137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79" name="Rectangle 11"/>
              <p:cNvSpPr>
                <a:spLocks noChangeArrowheads="1"/>
              </p:cNvSpPr>
              <p:nvPr/>
            </p:nvSpPr>
            <p:spPr bwMode="auto">
              <a:xfrm>
                <a:off x="4800" y="137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0001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0" name="Rectangle 12"/>
              <p:cNvSpPr>
                <a:spLocks noChangeArrowheads="1"/>
              </p:cNvSpPr>
              <p:nvPr/>
            </p:nvSpPr>
            <p:spPr bwMode="auto">
              <a:xfrm>
                <a:off x="4224" y="152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2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1" name="Rectangle 13"/>
              <p:cNvSpPr>
                <a:spLocks noChangeArrowheads="1"/>
              </p:cNvSpPr>
              <p:nvPr/>
            </p:nvSpPr>
            <p:spPr bwMode="auto">
              <a:xfrm>
                <a:off x="4512" y="152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2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2" name="Rectangle 14"/>
              <p:cNvSpPr>
                <a:spLocks noChangeArrowheads="1"/>
              </p:cNvSpPr>
              <p:nvPr/>
            </p:nvSpPr>
            <p:spPr bwMode="auto">
              <a:xfrm>
                <a:off x="4800" y="152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0010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3" name="Rectangle 15"/>
              <p:cNvSpPr>
                <a:spLocks noChangeArrowheads="1"/>
              </p:cNvSpPr>
              <p:nvPr/>
            </p:nvSpPr>
            <p:spPr bwMode="auto">
              <a:xfrm>
                <a:off x="4224" y="166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4" name="Rectangle 16"/>
              <p:cNvSpPr>
                <a:spLocks noChangeArrowheads="1"/>
              </p:cNvSpPr>
              <p:nvPr/>
            </p:nvSpPr>
            <p:spPr bwMode="auto">
              <a:xfrm>
                <a:off x="4512" y="166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3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5" name="Rectangle 17"/>
              <p:cNvSpPr>
                <a:spLocks noChangeArrowheads="1"/>
              </p:cNvSpPr>
              <p:nvPr/>
            </p:nvSpPr>
            <p:spPr bwMode="auto">
              <a:xfrm>
                <a:off x="4800" y="166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0011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6" name="Rectangle 18"/>
              <p:cNvSpPr>
                <a:spLocks noChangeArrowheads="1"/>
              </p:cNvSpPr>
              <p:nvPr/>
            </p:nvSpPr>
            <p:spPr bwMode="auto">
              <a:xfrm>
                <a:off x="4224" y="181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4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7" name="Rectangle 19"/>
              <p:cNvSpPr>
                <a:spLocks noChangeArrowheads="1"/>
              </p:cNvSpPr>
              <p:nvPr/>
            </p:nvSpPr>
            <p:spPr bwMode="auto">
              <a:xfrm>
                <a:off x="4512" y="181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4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8" name="Rectangle 20"/>
              <p:cNvSpPr>
                <a:spLocks noChangeArrowheads="1"/>
              </p:cNvSpPr>
              <p:nvPr/>
            </p:nvSpPr>
            <p:spPr bwMode="auto">
              <a:xfrm>
                <a:off x="4800" y="181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0100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89" name="Rectangle 21"/>
              <p:cNvSpPr>
                <a:spLocks noChangeArrowheads="1"/>
              </p:cNvSpPr>
              <p:nvPr/>
            </p:nvSpPr>
            <p:spPr bwMode="auto">
              <a:xfrm>
                <a:off x="4224" y="195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5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0" name="Rectangle 22"/>
              <p:cNvSpPr>
                <a:spLocks noChangeArrowheads="1"/>
              </p:cNvSpPr>
              <p:nvPr/>
            </p:nvSpPr>
            <p:spPr bwMode="auto">
              <a:xfrm>
                <a:off x="4512" y="195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5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1" name="Rectangle 23"/>
              <p:cNvSpPr>
                <a:spLocks noChangeArrowheads="1"/>
              </p:cNvSpPr>
              <p:nvPr/>
            </p:nvSpPr>
            <p:spPr bwMode="auto">
              <a:xfrm>
                <a:off x="4800" y="195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0101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2" name="Rectangle 24"/>
              <p:cNvSpPr>
                <a:spLocks noChangeArrowheads="1"/>
              </p:cNvSpPr>
              <p:nvPr/>
            </p:nvSpPr>
            <p:spPr bwMode="auto">
              <a:xfrm>
                <a:off x="4224" y="209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6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3" name="Rectangle 25"/>
              <p:cNvSpPr>
                <a:spLocks noChangeArrowheads="1"/>
              </p:cNvSpPr>
              <p:nvPr/>
            </p:nvSpPr>
            <p:spPr bwMode="auto">
              <a:xfrm>
                <a:off x="4512" y="209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6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4" name="Rectangle 26"/>
              <p:cNvSpPr>
                <a:spLocks noChangeArrowheads="1"/>
              </p:cNvSpPr>
              <p:nvPr/>
            </p:nvSpPr>
            <p:spPr bwMode="auto">
              <a:xfrm>
                <a:off x="4800" y="209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0110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5" name="Rectangle 27"/>
              <p:cNvSpPr>
                <a:spLocks noChangeArrowheads="1"/>
              </p:cNvSpPr>
              <p:nvPr/>
            </p:nvSpPr>
            <p:spPr bwMode="auto">
              <a:xfrm>
                <a:off x="4224" y="224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7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6" name="Rectangle 28"/>
              <p:cNvSpPr>
                <a:spLocks noChangeArrowheads="1"/>
              </p:cNvSpPr>
              <p:nvPr/>
            </p:nvSpPr>
            <p:spPr bwMode="auto">
              <a:xfrm>
                <a:off x="4512" y="224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7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7" name="Rectangle 29"/>
              <p:cNvSpPr>
                <a:spLocks noChangeArrowheads="1"/>
              </p:cNvSpPr>
              <p:nvPr/>
            </p:nvSpPr>
            <p:spPr bwMode="auto">
              <a:xfrm>
                <a:off x="4800" y="224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0111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8" name="Rectangle 30"/>
              <p:cNvSpPr>
                <a:spLocks noChangeArrowheads="1"/>
              </p:cNvSpPr>
              <p:nvPr/>
            </p:nvSpPr>
            <p:spPr bwMode="auto">
              <a:xfrm>
                <a:off x="4224" y="238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8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099" name="Rectangle 31"/>
              <p:cNvSpPr>
                <a:spLocks noChangeArrowheads="1"/>
              </p:cNvSpPr>
              <p:nvPr/>
            </p:nvSpPr>
            <p:spPr bwMode="auto">
              <a:xfrm>
                <a:off x="4512" y="238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8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0" name="Rectangle 32"/>
              <p:cNvSpPr>
                <a:spLocks noChangeArrowheads="1"/>
              </p:cNvSpPr>
              <p:nvPr/>
            </p:nvSpPr>
            <p:spPr bwMode="auto">
              <a:xfrm>
                <a:off x="4800" y="238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1000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1" name="Rectangle 33"/>
              <p:cNvSpPr>
                <a:spLocks noChangeArrowheads="1"/>
              </p:cNvSpPr>
              <p:nvPr/>
            </p:nvSpPr>
            <p:spPr bwMode="auto">
              <a:xfrm>
                <a:off x="4224" y="253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9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2" name="Rectangle 34"/>
              <p:cNvSpPr>
                <a:spLocks noChangeArrowheads="1"/>
              </p:cNvSpPr>
              <p:nvPr/>
            </p:nvSpPr>
            <p:spPr bwMode="auto">
              <a:xfrm>
                <a:off x="4512" y="253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9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3" name="Rectangle 35"/>
              <p:cNvSpPr>
                <a:spLocks noChangeArrowheads="1"/>
              </p:cNvSpPr>
              <p:nvPr/>
            </p:nvSpPr>
            <p:spPr bwMode="auto">
              <a:xfrm>
                <a:off x="4800" y="253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1001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4" name="Rectangle 36"/>
              <p:cNvSpPr>
                <a:spLocks noChangeArrowheads="1"/>
              </p:cNvSpPr>
              <p:nvPr/>
            </p:nvSpPr>
            <p:spPr bwMode="auto">
              <a:xfrm>
                <a:off x="4224" y="267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A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5" name="Rectangle 37"/>
              <p:cNvSpPr>
                <a:spLocks noChangeArrowheads="1"/>
              </p:cNvSpPr>
              <p:nvPr/>
            </p:nvSpPr>
            <p:spPr bwMode="auto">
              <a:xfrm>
                <a:off x="4512" y="267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6" name="Rectangle 38"/>
              <p:cNvSpPr>
                <a:spLocks noChangeArrowheads="1"/>
              </p:cNvSpPr>
              <p:nvPr/>
            </p:nvSpPr>
            <p:spPr bwMode="auto">
              <a:xfrm>
                <a:off x="4800" y="267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1010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7" name="Rectangle 39"/>
              <p:cNvSpPr>
                <a:spLocks noChangeArrowheads="1"/>
              </p:cNvSpPr>
              <p:nvPr/>
            </p:nvSpPr>
            <p:spPr bwMode="auto">
              <a:xfrm>
                <a:off x="4224" y="281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B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8" name="Rectangle 40"/>
              <p:cNvSpPr>
                <a:spLocks noChangeArrowheads="1"/>
              </p:cNvSpPr>
              <p:nvPr/>
            </p:nvSpPr>
            <p:spPr bwMode="auto">
              <a:xfrm>
                <a:off x="4512" y="281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09" name="Rectangle 41"/>
              <p:cNvSpPr>
                <a:spLocks noChangeArrowheads="1"/>
              </p:cNvSpPr>
              <p:nvPr/>
            </p:nvSpPr>
            <p:spPr bwMode="auto">
              <a:xfrm>
                <a:off x="4800" y="281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1011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0" name="Rectangle 42"/>
              <p:cNvSpPr>
                <a:spLocks noChangeArrowheads="1"/>
              </p:cNvSpPr>
              <p:nvPr/>
            </p:nvSpPr>
            <p:spPr bwMode="auto">
              <a:xfrm>
                <a:off x="4224" y="296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C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1" name="Rectangle 43"/>
              <p:cNvSpPr>
                <a:spLocks noChangeArrowheads="1"/>
              </p:cNvSpPr>
              <p:nvPr/>
            </p:nvSpPr>
            <p:spPr bwMode="auto">
              <a:xfrm>
                <a:off x="4512" y="296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12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2" name="Rectangle 44"/>
              <p:cNvSpPr>
                <a:spLocks noChangeArrowheads="1"/>
              </p:cNvSpPr>
              <p:nvPr/>
            </p:nvSpPr>
            <p:spPr bwMode="auto">
              <a:xfrm>
                <a:off x="4800" y="296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1100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3" name="Rectangle 45"/>
              <p:cNvSpPr>
                <a:spLocks noChangeArrowheads="1"/>
              </p:cNvSpPr>
              <p:nvPr/>
            </p:nvSpPr>
            <p:spPr bwMode="auto">
              <a:xfrm>
                <a:off x="4224" y="310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D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4" name="Rectangle 46"/>
              <p:cNvSpPr>
                <a:spLocks noChangeArrowheads="1"/>
              </p:cNvSpPr>
              <p:nvPr/>
            </p:nvSpPr>
            <p:spPr bwMode="auto">
              <a:xfrm>
                <a:off x="4512" y="310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13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5" name="Rectangle 47"/>
              <p:cNvSpPr>
                <a:spLocks noChangeArrowheads="1"/>
              </p:cNvSpPr>
              <p:nvPr/>
            </p:nvSpPr>
            <p:spPr bwMode="auto">
              <a:xfrm>
                <a:off x="4800" y="310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1101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6" name="Rectangle 48"/>
              <p:cNvSpPr>
                <a:spLocks noChangeArrowheads="1"/>
              </p:cNvSpPr>
              <p:nvPr/>
            </p:nvSpPr>
            <p:spPr bwMode="auto">
              <a:xfrm>
                <a:off x="4224" y="325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E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7" name="Rectangle 49"/>
              <p:cNvSpPr>
                <a:spLocks noChangeArrowheads="1"/>
              </p:cNvSpPr>
              <p:nvPr/>
            </p:nvSpPr>
            <p:spPr bwMode="auto">
              <a:xfrm>
                <a:off x="4512" y="325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14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8" name="Rectangle 50"/>
              <p:cNvSpPr>
                <a:spLocks noChangeArrowheads="1"/>
              </p:cNvSpPr>
              <p:nvPr/>
            </p:nvSpPr>
            <p:spPr bwMode="auto">
              <a:xfrm>
                <a:off x="4800" y="325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1110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19" name="Rectangle 51"/>
              <p:cNvSpPr>
                <a:spLocks noChangeArrowheads="1"/>
              </p:cNvSpPr>
              <p:nvPr/>
            </p:nvSpPr>
            <p:spPr bwMode="auto">
              <a:xfrm>
                <a:off x="4224" y="339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F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20" name="Rectangle 52"/>
              <p:cNvSpPr>
                <a:spLocks noChangeArrowheads="1"/>
              </p:cNvSpPr>
              <p:nvPr/>
            </p:nvSpPr>
            <p:spPr bwMode="auto">
              <a:xfrm>
                <a:off x="4512" y="339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15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8121" name="Rectangle 53"/>
              <p:cNvSpPr>
                <a:spLocks noChangeArrowheads="1"/>
              </p:cNvSpPr>
              <p:nvPr/>
            </p:nvSpPr>
            <p:spPr bwMode="auto">
              <a:xfrm>
                <a:off x="4800" y="339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panose="02070309020205020404" pitchFamily="49" charset="0"/>
                  </a:rPr>
                  <a:t>1111</a:t>
                </a:r>
                <a:endParaRPr lang="en-US" altLang="zh-CN" sz="1800" b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88071" name="Text Box 54"/>
            <p:cNvSpPr txBox="1">
              <a:spLocks noChangeArrowheads="1"/>
            </p:cNvSpPr>
            <p:nvPr/>
          </p:nvSpPr>
          <p:spPr bwMode="auto">
            <a:xfrm rot="-2317468">
              <a:off x="4272" y="946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Hex</a:t>
              </a:r>
              <a:endParaRPr lang="en-US" altLang="zh-CN" sz="1800" b="0">
                <a:latin typeface="Helvetica" panose="020B0604020202020204" pitchFamily="34" charset="0"/>
              </a:endParaRPr>
            </a:p>
          </p:txBody>
        </p:sp>
        <p:sp>
          <p:nvSpPr>
            <p:cNvPr id="88072" name="Text Box 55"/>
            <p:cNvSpPr txBox="1">
              <a:spLocks noChangeArrowheads="1"/>
            </p:cNvSpPr>
            <p:nvPr/>
          </p:nvSpPr>
          <p:spPr bwMode="auto">
            <a:xfrm rot="-2317468">
              <a:off x="4531" y="864"/>
              <a:ext cx="6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Decimal</a:t>
              </a:r>
              <a:endParaRPr lang="en-US" altLang="zh-CN" sz="1800" b="0">
                <a:latin typeface="Helvetica" panose="020B0604020202020204" pitchFamily="34" charset="0"/>
              </a:endParaRPr>
            </a:p>
          </p:txBody>
        </p:sp>
        <p:sp>
          <p:nvSpPr>
            <p:cNvPr id="88073" name="Text Box 56"/>
            <p:cNvSpPr txBox="1">
              <a:spLocks noChangeArrowheads="1"/>
            </p:cNvSpPr>
            <p:nvPr/>
          </p:nvSpPr>
          <p:spPr bwMode="auto">
            <a:xfrm rot="-2317468">
              <a:off x="4831" y="899"/>
              <a:ext cx="52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Binary</a:t>
              </a:r>
              <a:endParaRPr lang="en-US" altLang="zh-CN" sz="1800" b="0"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1A6673-6AF3-4609-B84A-57CAE413824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Hexadecimal vs. Binary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0x173A4C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Hexadecimal    1    7    3    A	4	C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Binary	  0001 0111 0011 1010 0100 1100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1111001010110110110011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Binary          11 1100 1010 1101 1011 0011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Hexadecimal      3    C    A    D    B    3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0x3CADB3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D58A5D-513C-4A82-8D5C-1A790C88B2E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Hexadecimal vs. Decimal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Hexadecimal    0xA7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Decimal        10*16+7 = 167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Decimal        314156 = 19634*16 + 12 (C)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				 19634 =  1227*16 +  2 (2)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				  1227 =    76*16 + 11 (B)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				    76 =     4*16 + 12 (C)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                    4 =     0*16 +  4 (4)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Hexadecimal	0x4CB2C 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7C61AC-F423-45CC-B14A-7ADC5E88726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Hexadecimal vs. Binary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54102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0x39A7F8  -&gt;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1100100101111011  -&gt;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0xD5E4C  -&gt;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1001101110011110110101 -&gt;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85800" y="2063750"/>
            <a:ext cx="61452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0011 1001 1010 0111 11111 000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590800"/>
            <a:ext cx="9842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C97B</a:t>
            </a: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819400" y="3200400"/>
            <a:ext cx="51117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1101 0101 1110 0100 1100</a:t>
            </a: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715000" y="3657600"/>
            <a:ext cx="2203450" cy="527050"/>
          </a:xfrm>
          <a:prstGeom prst="rect">
            <a:avLst/>
          </a:prstGeom>
          <a:noFill/>
          <a:ln>
            <a:noFill/>
          </a:ln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>
                <a:latin typeface="+mn-lt"/>
              </a:rPr>
              <a:t>2 6 E 7 B 5</a:t>
            </a:r>
            <a:endParaRPr lang="zh-CN" altLang="en-US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4BE3AA-C843-4146-960B-D090E7B40AF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Decimal, Hexadecimal, Binary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05800" cy="457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Decimal	Binary				Hexadecimal	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167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62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188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	0011 0111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	1000 1000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	1111 0011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					0x52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					0xAC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					0xE7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867400" y="1981200"/>
            <a:ext cx="8778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0xA7</a:t>
            </a:r>
            <a:endParaRPr lang="zh-CN" altLang="en-US" sz="2400" b="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209800" y="1981200"/>
            <a:ext cx="1349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10100111</a:t>
            </a:r>
            <a:endParaRPr lang="zh-CN" altLang="en-US" sz="2400" b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867400" y="2286000"/>
            <a:ext cx="84613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0x3E</a:t>
            </a:r>
            <a:endParaRPr lang="zh-CN" altLang="en-US" sz="2400" b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159000" y="2403475"/>
            <a:ext cx="1349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00111110</a:t>
            </a:r>
            <a:endParaRPr lang="zh-CN" altLang="en-US" sz="2400" b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197100" y="2809875"/>
            <a:ext cx="1349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10111100</a:t>
            </a:r>
            <a:endParaRPr lang="zh-CN" altLang="en-US" sz="2400" b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867400" y="2733675"/>
            <a:ext cx="84613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0xBC</a:t>
            </a:r>
            <a:endParaRPr lang="zh-CN" altLang="en-US" sz="2400" b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5867400" y="3267075"/>
            <a:ext cx="841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0x37</a:t>
            </a:r>
            <a:endParaRPr lang="zh-CN" altLang="en-US" sz="2400" b="0"/>
          </a:p>
        </p:txBody>
      </p:sp>
      <p:sp>
        <p:nvSpPr>
          <p:cNvPr id="18" name="TextBox 9"/>
          <p:cNvSpPr txBox="1">
            <a:spLocks noChangeArrowheads="1"/>
          </p:cNvSpPr>
          <p:nvPr/>
        </p:nvSpPr>
        <p:spPr bwMode="auto">
          <a:xfrm>
            <a:off x="5864225" y="3657600"/>
            <a:ext cx="841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0x88</a:t>
            </a:r>
            <a:endParaRPr lang="zh-CN" altLang="en-US" sz="2400" b="0"/>
          </a:p>
        </p:txBody>
      </p:sp>
      <p:sp>
        <p:nvSpPr>
          <p:cNvPr id="19" name="TextBox 9"/>
          <p:cNvSpPr txBox="1">
            <a:spLocks noChangeArrowheads="1"/>
          </p:cNvSpPr>
          <p:nvPr/>
        </p:nvSpPr>
        <p:spPr bwMode="auto">
          <a:xfrm>
            <a:off x="5867400" y="4114800"/>
            <a:ext cx="841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0xF3</a:t>
            </a:r>
            <a:endParaRPr lang="zh-CN" altLang="en-US" sz="2400" b="0"/>
          </a:p>
        </p:txBody>
      </p:sp>
      <p:sp>
        <p:nvSpPr>
          <p:cNvPr id="20" name="TextBox 9"/>
          <p:cNvSpPr txBox="1">
            <a:spLocks noChangeArrowheads="1"/>
          </p:cNvSpPr>
          <p:nvPr/>
        </p:nvSpPr>
        <p:spPr bwMode="auto">
          <a:xfrm>
            <a:off x="304800" y="3352800"/>
            <a:ext cx="16398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3*16+7=55</a:t>
            </a:r>
            <a:endParaRPr lang="zh-CN" altLang="en-US" sz="2400" b="0"/>
          </a:p>
        </p:txBody>
      </p:sp>
      <p:sp>
        <p:nvSpPr>
          <p:cNvPr id="21" name="TextBox 9"/>
          <p:cNvSpPr txBox="1">
            <a:spLocks noChangeArrowheads="1"/>
          </p:cNvSpPr>
          <p:nvPr/>
        </p:nvSpPr>
        <p:spPr bwMode="auto">
          <a:xfrm>
            <a:off x="304800" y="3733800"/>
            <a:ext cx="17780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8*16+8=136</a:t>
            </a:r>
            <a:endParaRPr lang="zh-CN" altLang="en-US" sz="2400" b="0"/>
          </a:p>
        </p:txBody>
      </p:sp>
      <p:sp>
        <p:nvSpPr>
          <p:cNvPr id="22" name="TextBox 9"/>
          <p:cNvSpPr txBox="1">
            <a:spLocks noChangeArrowheads="1"/>
          </p:cNvSpPr>
          <p:nvPr/>
        </p:nvSpPr>
        <p:spPr bwMode="auto">
          <a:xfrm>
            <a:off x="228600" y="4191000"/>
            <a:ext cx="19653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15*16+3=243</a:t>
            </a:r>
            <a:endParaRPr lang="zh-CN" altLang="en-US" sz="2400" b="0"/>
          </a:p>
        </p:txBody>
      </p:sp>
      <p:sp>
        <p:nvSpPr>
          <p:cNvPr id="23" name="TextBox 9"/>
          <p:cNvSpPr txBox="1">
            <a:spLocks noChangeArrowheads="1"/>
          </p:cNvSpPr>
          <p:nvPr/>
        </p:nvSpPr>
        <p:spPr bwMode="auto">
          <a:xfrm>
            <a:off x="2209800" y="4648200"/>
            <a:ext cx="14478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01010010</a:t>
            </a:r>
            <a:endParaRPr lang="zh-CN" altLang="en-US" sz="2400" b="0"/>
          </a:p>
        </p:txBody>
      </p:sp>
      <p:sp>
        <p:nvSpPr>
          <p:cNvPr id="24" name="TextBox 9"/>
          <p:cNvSpPr txBox="1">
            <a:spLocks noChangeArrowheads="1"/>
          </p:cNvSpPr>
          <p:nvPr/>
        </p:nvSpPr>
        <p:spPr bwMode="auto">
          <a:xfrm>
            <a:off x="228600" y="4648200"/>
            <a:ext cx="16398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5*16+2=82</a:t>
            </a:r>
            <a:endParaRPr lang="zh-CN" altLang="en-US" sz="2400" b="0"/>
          </a:p>
        </p:txBody>
      </p:sp>
      <p:sp>
        <p:nvSpPr>
          <p:cNvPr id="25" name="TextBox 9"/>
          <p:cNvSpPr txBox="1">
            <a:spLocks noChangeArrowheads="1"/>
          </p:cNvSpPr>
          <p:nvPr/>
        </p:nvSpPr>
        <p:spPr bwMode="auto">
          <a:xfrm>
            <a:off x="2209800" y="5095875"/>
            <a:ext cx="13985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10101100</a:t>
            </a:r>
            <a:endParaRPr lang="zh-CN" altLang="en-US" sz="2400" b="0"/>
          </a:p>
        </p:txBody>
      </p:sp>
      <p:sp>
        <p:nvSpPr>
          <p:cNvPr id="26" name="TextBox 9"/>
          <p:cNvSpPr txBox="1">
            <a:spLocks noChangeArrowheads="1"/>
          </p:cNvSpPr>
          <p:nvPr/>
        </p:nvSpPr>
        <p:spPr bwMode="auto">
          <a:xfrm>
            <a:off x="152400" y="5095875"/>
            <a:ext cx="2054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10*16+12=172</a:t>
            </a:r>
            <a:endParaRPr lang="zh-CN" altLang="en-US" sz="2400" b="0"/>
          </a:p>
        </p:txBody>
      </p:sp>
      <p:sp>
        <p:nvSpPr>
          <p:cNvPr id="27" name="TextBox 9"/>
          <p:cNvSpPr txBox="1">
            <a:spLocks noChangeArrowheads="1"/>
          </p:cNvSpPr>
          <p:nvPr/>
        </p:nvSpPr>
        <p:spPr bwMode="auto">
          <a:xfrm>
            <a:off x="2286000" y="5486400"/>
            <a:ext cx="12985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11100111</a:t>
            </a:r>
            <a:endParaRPr lang="zh-CN" altLang="en-US" sz="2400" b="0"/>
          </a:p>
        </p:txBody>
      </p:sp>
      <p:sp>
        <p:nvSpPr>
          <p:cNvPr id="28" name="TextBox 9"/>
          <p:cNvSpPr txBox="1">
            <a:spLocks noChangeArrowheads="1"/>
          </p:cNvSpPr>
          <p:nvPr/>
        </p:nvSpPr>
        <p:spPr bwMode="auto">
          <a:xfrm>
            <a:off x="152400" y="5486400"/>
            <a:ext cx="19161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14*16+7=231</a:t>
            </a:r>
            <a:endParaRPr lang="zh-CN" altLang="en-US" sz="2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6B1BB8-0D56-43DB-9D0B-8EE760E67F7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Manipulating Information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34EB3-7DE1-4E6A-AC00-39C60579C5D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Bit-level operations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Suggested reading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>
                <a:ea typeface="宋体" panose="02010600030101010101" pitchFamily="2" charset="-122"/>
              </a:rPr>
              <a:t>2.1.6~2.1.9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CC3850-F705-411B-BD4E-A755483F136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Boolean Algebra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6705600" cy="457200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Developed by George Boole(1815-1864)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spcBef>
                <a:spcPts val="0"/>
              </a:spcBef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Algebraic representation of logic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2400" dirty="0">
                <a:ea typeface="宋体" panose="02010600030101010101" pitchFamily="2" charset="-122"/>
              </a:rPr>
              <a:t>Encode “True” as 1 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2400" dirty="0">
                <a:ea typeface="宋体" panose="02010600030101010101" pitchFamily="2" charset="-122"/>
              </a:rPr>
              <a:t>Encode “False” as 0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/>
              <a:t>Claude Shannon(1916–2001)founded the information theory</a:t>
            </a:r>
            <a:endParaRPr lang="en-US" altLang="zh-CN" dirty="0"/>
          </a:p>
          <a:p>
            <a:pPr lvl="1">
              <a:spcBef>
                <a:spcPts val="0"/>
              </a:spcBef>
              <a:defRPr/>
            </a:pPr>
            <a:r>
              <a:rPr lang="en-US" altLang="zh-CN" dirty="0">
                <a:ea typeface="+mn-ea"/>
                <a:cs typeface="+mn-cs"/>
              </a:rPr>
              <a:t>made the connection between Boolean algebra and digital logic</a:t>
            </a:r>
            <a:endParaRPr lang="en-US" altLang="zh-CN" dirty="0">
              <a:ea typeface="+mn-ea"/>
              <a:cs typeface="+mn-cs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/>
              <a:t>Plays a central role in the design and analysis of digital systems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pic>
        <p:nvPicPr>
          <p:cNvPr id="138245" name="图片 4" descr="images.jpe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33400"/>
            <a:ext cx="19526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6" name="图片 5" descr="images1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81400"/>
            <a:ext cx="2009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24FBD4-8D6E-4036-9F5D-5C704F0C3DD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Boolean Algebra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140292" name="Rectangle 3"/>
          <p:cNvSpPr>
            <a:spLocks noChangeArrowheads="1"/>
          </p:cNvSpPr>
          <p:nvPr/>
        </p:nvSpPr>
        <p:spPr bwMode="auto">
          <a:xfrm>
            <a:off x="152400" y="1828800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 b="0"/>
              <a:t>And</a:t>
            </a:r>
            <a:endParaRPr lang="en-US" altLang="zh-CN" sz="2000" b="0"/>
          </a:p>
          <a:p>
            <a:pPr lvl="1" algn="ctr">
              <a:buFontTx/>
              <a:buNone/>
            </a:pPr>
            <a:r>
              <a:rPr lang="en-US" altLang="zh-CN" sz="1600" b="0"/>
              <a:t>A&amp;B = 1 when both A=1 and B=1</a:t>
            </a:r>
            <a:endParaRPr lang="en-US" altLang="zh-CN" sz="1600" b="0"/>
          </a:p>
        </p:txBody>
      </p:sp>
      <p:graphicFrame>
        <p:nvGraphicFramePr>
          <p:cNvPr id="140293" name="Object 2"/>
          <p:cNvGraphicFramePr>
            <a:graphicFrameLocks noChangeAspect="1"/>
          </p:cNvGraphicFramePr>
          <p:nvPr/>
        </p:nvGraphicFramePr>
        <p:xfrm>
          <a:off x="1524000" y="2514600"/>
          <a:ext cx="1397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1" imgW="6243320" imgH="1376680" progId="Word.Document.8">
                  <p:embed/>
                </p:oleObj>
              </mc:Choice>
              <mc:Fallback>
                <p:oleObj name="Document" r:id="rId1" imgW="6243320" imgH="13766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1524000" y="2514600"/>
                        <a:ext cx="1397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3"/>
          <p:cNvGraphicFramePr>
            <a:graphicFrameLocks noChangeAspect="1"/>
          </p:cNvGraphicFramePr>
          <p:nvPr/>
        </p:nvGraphicFramePr>
        <p:xfrm>
          <a:off x="1447800" y="4953000"/>
          <a:ext cx="1397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6243320" imgH="1376680" progId="Word.Document.8">
                  <p:embed/>
                </p:oleObj>
              </mc:Choice>
              <mc:Fallback>
                <p:oleObj name="Document" r:id="rId3" imgW="6243320" imgH="13766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1447800" y="4953000"/>
                        <a:ext cx="1397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5" name="Rectangle 6"/>
          <p:cNvSpPr>
            <a:spLocks noChangeArrowheads="1"/>
          </p:cNvSpPr>
          <p:nvPr/>
        </p:nvSpPr>
        <p:spPr bwMode="auto">
          <a:xfrm>
            <a:off x="228600" y="4191000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 b="0"/>
              <a:t>Not</a:t>
            </a:r>
            <a:endParaRPr lang="en-US" altLang="zh-CN" sz="2000" b="0"/>
          </a:p>
          <a:p>
            <a:pPr lvl="1" algn="ctr">
              <a:buFontTx/>
              <a:buNone/>
            </a:pPr>
            <a:r>
              <a:rPr lang="en-US" altLang="zh-CN" sz="1600" b="0"/>
              <a:t>~A = 1 when A=0</a:t>
            </a:r>
            <a:endParaRPr lang="en-US" altLang="zh-CN" sz="1600" b="0"/>
          </a:p>
        </p:txBody>
      </p:sp>
      <p:sp>
        <p:nvSpPr>
          <p:cNvPr id="140296" name="Rectangle 7"/>
          <p:cNvSpPr>
            <a:spLocks noChangeArrowheads="1"/>
          </p:cNvSpPr>
          <p:nvPr/>
        </p:nvSpPr>
        <p:spPr bwMode="auto">
          <a:xfrm>
            <a:off x="4267200" y="1752600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 b="0"/>
              <a:t>Or</a:t>
            </a:r>
            <a:endParaRPr lang="en-US" altLang="zh-CN" sz="2400" b="0"/>
          </a:p>
          <a:p>
            <a:pPr lvl="1" algn="ctr">
              <a:buFontTx/>
              <a:buNone/>
            </a:pPr>
            <a:r>
              <a:rPr lang="en-US" altLang="zh-CN" sz="1600" b="0"/>
              <a:t>A|B = 1 when either A=1 or B=1</a:t>
            </a:r>
            <a:endParaRPr lang="en-US" altLang="zh-CN" sz="1600" b="0"/>
          </a:p>
        </p:txBody>
      </p:sp>
      <p:graphicFrame>
        <p:nvGraphicFramePr>
          <p:cNvPr id="140297" name="Object 4"/>
          <p:cNvGraphicFramePr>
            <a:graphicFrameLocks noChangeAspect="1"/>
          </p:cNvGraphicFramePr>
          <p:nvPr/>
        </p:nvGraphicFramePr>
        <p:xfrm>
          <a:off x="5638800" y="2514600"/>
          <a:ext cx="1397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5" imgW="6243320" imgH="1376680" progId="Word.Document.8">
                  <p:embed/>
                </p:oleObj>
              </mc:Choice>
              <mc:Fallback>
                <p:oleObj name="Document" r:id="rId5" imgW="6243320" imgH="13766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5638800" y="2514600"/>
                        <a:ext cx="1397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8" name="Object 5"/>
          <p:cNvGraphicFramePr>
            <a:graphicFrameLocks noChangeAspect="1"/>
          </p:cNvGraphicFramePr>
          <p:nvPr/>
        </p:nvGraphicFramePr>
        <p:xfrm>
          <a:off x="5473700" y="5100638"/>
          <a:ext cx="139700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Document" r:id="rId7" imgW="6243320" imgH="1376680" progId="Word.Document.8">
                  <p:embed/>
                </p:oleObj>
              </mc:Choice>
              <mc:Fallback>
                <p:oleObj name="Document" r:id="rId7" imgW="6243320" imgH="137668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5473700" y="5100638"/>
                        <a:ext cx="1397000" cy="137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9" name="Rectangle 10"/>
          <p:cNvSpPr>
            <a:spLocks noChangeArrowheads="1"/>
          </p:cNvSpPr>
          <p:nvPr/>
        </p:nvSpPr>
        <p:spPr bwMode="auto">
          <a:xfrm>
            <a:off x="4267200" y="4186238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 b="0"/>
              <a:t>Exclusive-Or (Xor)</a:t>
            </a:r>
            <a:endParaRPr lang="en-US" altLang="zh-CN" sz="2000" b="0"/>
          </a:p>
          <a:p>
            <a:pPr lvl="1" algn="ctr">
              <a:buFontTx/>
              <a:buNone/>
            </a:pPr>
            <a:r>
              <a:rPr lang="en-US" altLang="zh-CN" sz="1600" b="0"/>
              <a:t>A^B = 1 when either A=1 or B=1, but not both</a:t>
            </a:r>
            <a:endParaRPr lang="en-US" altLang="zh-CN" sz="1600" b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BDD510-E432-49AF-9F24-7D0F2254DEF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General Boolean Algebras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Operate on Bit Vectors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Operations applied bitwise</a:t>
            </a:r>
            <a:endParaRPr kumimoji="1"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2341" name="Group 4"/>
          <p:cNvGrpSpPr/>
          <p:nvPr/>
        </p:nvGrpSpPr>
        <p:grpSpPr bwMode="auto">
          <a:xfrm>
            <a:off x="762000" y="2819400"/>
            <a:ext cx="1549400" cy="915988"/>
            <a:chOff x="3110" y="800"/>
            <a:chExt cx="976" cy="577"/>
          </a:xfrm>
        </p:grpSpPr>
        <p:sp>
          <p:nvSpPr>
            <p:cNvPr id="142351" name="Text Box 5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  </a:t>
              </a:r>
              <a:r>
                <a:rPr lang="en-US" altLang="zh-CN" sz="1800">
                  <a:latin typeface="Courier New" panose="02070309020205020404" pitchFamily="49" charset="0"/>
                </a:rPr>
                <a:t>01101001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&amp; 01010101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  01000001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142352" name="Line 6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342" name="Group 7"/>
          <p:cNvGrpSpPr/>
          <p:nvPr/>
        </p:nvGrpSpPr>
        <p:grpSpPr bwMode="auto">
          <a:xfrm>
            <a:off x="2590800" y="2819400"/>
            <a:ext cx="1549400" cy="915988"/>
            <a:chOff x="3110" y="800"/>
            <a:chExt cx="976" cy="577"/>
          </a:xfrm>
        </p:grpSpPr>
        <p:sp>
          <p:nvSpPr>
            <p:cNvPr id="142349" name="Text Box 8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  </a:t>
              </a:r>
              <a:r>
                <a:rPr lang="en-US" altLang="zh-CN" sz="1800">
                  <a:latin typeface="Courier New" panose="02070309020205020404" pitchFamily="49" charset="0"/>
                </a:rPr>
                <a:t>01101001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| 01010101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  01111101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142350" name="Line 9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343" name="Group 10"/>
          <p:cNvGrpSpPr/>
          <p:nvPr/>
        </p:nvGrpSpPr>
        <p:grpSpPr bwMode="auto">
          <a:xfrm>
            <a:off x="4419600" y="2819400"/>
            <a:ext cx="1549400" cy="915988"/>
            <a:chOff x="3110" y="800"/>
            <a:chExt cx="976" cy="577"/>
          </a:xfrm>
        </p:grpSpPr>
        <p:sp>
          <p:nvSpPr>
            <p:cNvPr id="142347" name="Text Box 11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  </a:t>
              </a:r>
              <a:r>
                <a:rPr lang="en-US" altLang="zh-CN" sz="1800">
                  <a:latin typeface="Courier New" panose="02070309020205020404" pitchFamily="49" charset="0"/>
                </a:rPr>
                <a:t>01101001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^ 01010101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  00111100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142348" name="Line 12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344" name="Group 13"/>
          <p:cNvGrpSpPr/>
          <p:nvPr/>
        </p:nvGrpSpPr>
        <p:grpSpPr bwMode="auto">
          <a:xfrm>
            <a:off x="6324600" y="2819400"/>
            <a:ext cx="1549400" cy="915988"/>
            <a:chOff x="3110" y="800"/>
            <a:chExt cx="976" cy="577"/>
          </a:xfrm>
        </p:grpSpPr>
        <p:sp>
          <p:nvSpPr>
            <p:cNvPr id="142345" name="Text Box 14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  </a:t>
              </a:r>
              <a:endParaRPr lang="zh-CN" altLang="en-US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~ 01010101</a:t>
              </a:r>
              <a:endParaRPr lang="en-US" altLang="zh-CN" sz="1800">
                <a:latin typeface="Courier New" panose="02070309020205020404" pitchFamily="49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  10101010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142346" name="Line 15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4EB781-50D8-4D88-88EA-5F7AE7AF2EC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General Boolean Algebras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Representation of Sets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Width </a:t>
            </a:r>
            <a:r>
              <a:rPr kumimoji="1" lang="en-US" altLang="zh-CN" i="1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 bit vector represents subsets of {0, …, </a:t>
            </a:r>
            <a:r>
              <a:rPr kumimoji="1" lang="en-US" altLang="zh-CN" i="1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–1}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a</a:t>
            </a:r>
            <a:r>
              <a:rPr kumimoji="1" lang="en-US" altLang="zh-CN" i="1" baseline="-25000">
                <a:ea typeface="宋体" panose="02010600030101010101" pitchFamily="2" charset="-122"/>
              </a:rPr>
              <a:t>j</a:t>
            </a:r>
            <a:r>
              <a:rPr kumimoji="1" lang="en-US" altLang="zh-CN">
                <a:ea typeface="宋体" panose="02010600030101010101" pitchFamily="2" charset="-122"/>
              </a:rPr>
              <a:t> = 1 if </a:t>
            </a:r>
            <a:r>
              <a:rPr kumimoji="1" lang="en-US" altLang="zh-CN" i="1">
                <a:ea typeface="宋体" panose="02010600030101010101" pitchFamily="2" charset="-122"/>
              </a:rPr>
              <a:t>j</a:t>
            </a:r>
            <a:r>
              <a:rPr kumimoji="1" lang="en-US" altLang="zh-CN">
                <a:ea typeface="宋体" panose="02010600030101010101" pitchFamily="2" charset="-122"/>
              </a:rPr>
              <a:t>  </a:t>
            </a:r>
            <a:r>
              <a:rPr kumimoji="1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ea typeface="宋体" panose="02010600030101010101" pitchFamily="2" charset="-122"/>
              </a:rPr>
              <a:t>A</a:t>
            </a:r>
            <a:endParaRPr kumimoji="1" lang="en-US" altLang="zh-CN" i="1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01101001	{ 0, 3, 5, 6 }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01010101	{ 0, 2, 4, 6 }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&amp; Intersection		01000001 { 0, 6 }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|  Union			01111101  { 0, 2, 3, 4, 5, 6 }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^ Symmetric difference  	00111100 { 2, 3, 4, 5 }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~Complement		  	10101010 { 1, 3, 5, 7 }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4C66D5-B9AC-4C91-BC76-A5F7901C560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52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Bit-Level Operations in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525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620000" cy="3657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Operations &amp;,  |,  ~,  ^ Available in C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Apply to any “integral” data type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long,  int,  short,  char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View arguments as bit vectors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Arguments applied bit-wise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DCA241-F9DA-4430-9CFF-C66B0CC84E14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54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Bit-Level Operations in C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50900" y="1600200"/>
          <a:ext cx="7226300" cy="4135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0"/>
                <a:gridCol w="2501900"/>
              </a:tblGrid>
              <a:tr h="544107"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~0x41</a:t>
                      </a:r>
                      <a:endParaRPr kumimoji="0" lang="en-US" altLang="zh-CN" sz="2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0xBE</a:t>
                      </a:r>
                      <a:endParaRPr lang="zh-CN" altLang="en-US" sz="2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923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138">
                <a:tc>
                  <a:txBody>
                    <a:bodyPr/>
                    <a:lstStyle/>
                    <a:p>
                      <a:r>
                        <a:rPr kumimoji="0" lang="en-US" altLang="zh-CN" sz="2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~0x00</a:t>
                      </a:r>
                      <a:endParaRPr lang="zh-CN" altLang="en-US" sz="2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0xFF</a:t>
                      </a:r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923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138">
                <a:tc>
                  <a:txBody>
                    <a:bodyPr/>
                    <a:lstStyle/>
                    <a:p>
                      <a:pPr lvl="0"/>
                      <a:r>
                        <a:rPr lang="en-US" altLang="zh-CN" sz="28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0x69 &amp; 0x55</a:t>
                      </a:r>
                      <a:endParaRPr lang="en-US" altLang="zh-CN" sz="28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0X41</a:t>
                      </a:r>
                      <a:endParaRPr lang="zh-CN" altLang="en-US" sz="2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923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138"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0x69 | 0x55</a:t>
                      </a:r>
                      <a:endParaRPr lang="zh-CN" altLang="en-US" sz="2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0x7D</a:t>
                      </a:r>
                      <a:endParaRPr lang="zh-CN" altLang="en-US" sz="2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923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09" marB="45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900" y="2128838"/>
            <a:ext cx="24384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~0100 0001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5300" y="2128838"/>
            <a:ext cx="24384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1011 1110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900" y="3157538"/>
            <a:ext cx="24384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~0000 0000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5300" y="3170238"/>
            <a:ext cx="24384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1111 1111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900" y="4195763"/>
            <a:ext cx="48768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0110 1001 &amp; 0101 0101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75300" y="4186238"/>
            <a:ext cx="24384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0100 0001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900" y="5227638"/>
            <a:ext cx="48768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0110 1001 | 0101 0101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75300" y="5224463"/>
            <a:ext cx="2438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0111 1101</a:t>
            </a:r>
            <a:endParaRPr lang="zh-CN" altLang="en-US" sz="28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B1CECC-AFB5-4690-8273-A95A17CD69D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62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Mask Operations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Bit pattern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0xFF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Having 1s for the least significant eight bits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Indicates the lower-order byte of a word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Mask Operation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X = 0x89ABCDEF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X &amp; 0xFF =?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Bit Pattern ~0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Why not 0xFFFFFFFF?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8D926E-E51D-4570-97AB-ECD06B2147A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64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Mask Operations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Write C expressions that work for any word size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 ≥ 8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For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 = 0x87654321</a:t>
            </a:r>
            <a:r>
              <a:rPr lang="en-US" altLang="zh-CN">
                <a:ea typeface="宋体" panose="02010600030101010101" pitchFamily="2" charset="-122"/>
              </a:rPr>
              <a:t>, with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w = 32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The least significant byte of x, with all other bits set to 0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[0x00000021].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8895F-3391-4630-ACF3-BEEBE7A1E37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Mask Operations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067800" cy="44196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dirty="0"/>
              <a:t>All but the least significant byte of complemented, with the least significant byte left unchanged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[0x789ABC21]</a:t>
            </a:r>
            <a:endParaRPr lang="en-US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dirty="0"/>
              <a:t>The least significant byte set to all 1s, and all other bytes of x left unchanged.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dirty="0">
                <a:ea typeface="+mn-ea"/>
                <a:cs typeface="+mn-cs"/>
              </a:rPr>
              <a:t>[0x876543FF].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EBFAB5-633A-4D5E-B3DD-6583E5FBA53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71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Logical Operations in C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Logical Operators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&amp;&amp;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||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!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View 0 as “False”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Anything nonzero as “True”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Always return 0 or 1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Early termination (short cut)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CD46A5-35A5-4069-8E2B-B76C443912A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Logical Operations in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Examples (char data type)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!0x41  --&gt;  0x00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!0x00  --&gt;  0x01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!!0x41 --&gt;  0x01</a:t>
            </a:r>
            <a:endParaRPr lang="en-US" altLang="zh-CN" baseline="-250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0x69 &amp;&amp; 0x55  --&gt;  0x01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0x69 || 0x55  --&gt;  0x01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DB2522-C2C0-4CEE-B3B8-CB161EEC6B0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75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Short Cut in Logical Operations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a &amp;&amp; 5/a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If a is zero, the evaluation of 5/a is stopped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avoid division by zero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/>
              <a:t>Using only bit-level and logical operations</a:t>
            </a:r>
            <a:endParaRPr lang="en-US" altLang="zh-CN" dirty="0"/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Implement x == y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it returns 1 when x and y are equal, and 0 otherwise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022AF0-48FB-48DF-BA83-E177FB14CFF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77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Shift Operations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58674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Left Shift: 	x &lt;&lt; y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Shift bit-vector x left y positions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Throw away extra bits on left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Fill with 0’s on right</a:t>
            </a:r>
            <a:endParaRPr kumimoji="1"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177157" name="Group 4"/>
          <p:cNvGrpSpPr/>
          <p:nvPr/>
        </p:nvGrpSpPr>
        <p:grpSpPr bwMode="auto">
          <a:xfrm>
            <a:off x="1295400" y="3505200"/>
            <a:ext cx="5562600" cy="2590800"/>
            <a:chOff x="3696" y="2016"/>
            <a:chExt cx="1728" cy="1296"/>
          </a:xfrm>
        </p:grpSpPr>
        <p:sp>
          <p:nvSpPr>
            <p:cNvPr id="177158" name="Rectangle 5"/>
            <p:cNvSpPr>
              <a:spLocks noChangeArrowheads="1"/>
            </p:cNvSpPr>
            <p:nvPr/>
          </p:nvSpPr>
          <p:spPr bwMode="auto">
            <a:xfrm>
              <a:off x="4560" y="201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panose="02070309020205020404" pitchFamily="49" charset="0"/>
                </a:rPr>
                <a:t>01100010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7159" name="Rectangle 6"/>
            <p:cNvSpPr>
              <a:spLocks noChangeArrowheads="1"/>
            </p:cNvSpPr>
            <p:nvPr/>
          </p:nvSpPr>
          <p:spPr bwMode="auto">
            <a:xfrm>
              <a:off x="3696" y="201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Helvetica" panose="020B0604020202020204" pitchFamily="34" charset="0"/>
                </a:rPr>
                <a:t>Argument </a:t>
              </a:r>
              <a:r>
                <a:rPr lang="en-US" altLang="zh-CN" b="0">
                  <a:latin typeface="Courier New" panose="02070309020205020404" pitchFamily="49" charset="0"/>
                </a:rPr>
                <a:t>x</a:t>
              </a:r>
              <a:endParaRPr lang="en-US" altLang="zh-CN" b="0">
                <a:latin typeface="Helvetica" panose="020B0604020202020204" pitchFamily="34" charset="0"/>
              </a:endParaRPr>
            </a:p>
          </p:txBody>
        </p:sp>
        <p:sp>
          <p:nvSpPr>
            <p:cNvPr id="177160" name="Rectangle 7"/>
            <p:cNvSpPr>
              <a:spLocks noChangeArrowheads="1"/>
            </p:cNvSpPr>
            <p:nvPr/>
          </p:nvSpPr>
          <p:spPr bwMode="auto">
            <a:xfrm>
              <a:off x="4560" y="230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panose="02070309020205020404" pitchFamily="49" charset="0"/>
                </a:rPr>
                <a:t>00010</a:t>
              </a:r>
              <a:r>
                <a:rPr lang="en-US" altLang="zh-CN" b="0" i="1">
                  <a:latin typeface="Courier New" panose="02070309020205020404" pitchFamily="49" charset="0"/>
                </a:rPr>
                <a:t>000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7161" name="Rectangle 8"/>
            <p:cNvSpPr>
              <a:spLocks noChangeArrowheads="1"/>
            </p:cNvSpPr>
            <p:nvPr/>
          </p:nvSpPr>
          <p:spPr bwMode="auto">
            <a:xfrm>
              <a:off x="3696" y="230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panose="02070309020205020404" pitchFamily="49" charset="0"/>
                </a:rPr>
                <a:t>&lt;&lt; 3</a:t>
              </a:r>
              <a:endParaRPr lang="en-US" altLang="zh-CN" b="0">
                <a:latin typeface="Helvetica" panose="020B0604020202020204" pitchFamily="34" charset="0"/>
              </a:endParaRPr>
            </a:p>
          </p:txBody>
        </p:sp>
        <p:sp>
          <p:nvSpPr>
            <p:cNvPr id="177162" name="Rectangle 9"/>
            <p:cNvSpPr>
              <a:spLocks noChangeArrowheads="1"/>
            </p:cNvSpPr>
            <p:nvPr/>
          </p:nvSpPr>
          <p:spPr bwMode="auto">
            <a:xfrm>
              <a:off x="4560" y="273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panose="02070309020205020404" pitchFamily="49" charset="0"/>
                </a:rPr>
                <a:t>10100010</a:t>
              </a:r>
              <a:endParaRPr lang="en-US" altLang="zh-CN" b="0">
                <a:latin typeface="Courier New" panose="02070309020205020404" pitchFamily="49" charset="0"/>
              </a:endParaRPr>
            </a:p>
          </p:txBody>
        </p:sp>
        <p:sp>
          <p:nvSpPr>
            <p:cNvPr id="177163" name="Rectangle 10"/>
            <p:cNvSpPr>
              <a:spLocks noChangeArrowheads="1"/>
            </p:cNvSpPr>
            <p:nvPr/>
          </p:nvSpPr>
          <p:spPr bwMode="auto">
            <a:xfrm>
              <a:off x="3696" y="273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Helvetica" panose="020B0604020202020204" pitchFamily="34" charset="0"/>
                </a:rPr>
                <a:t>Argument </a:t>
              </a:r>
              <a:r>
                <a:rPr lang="en-US" altLang="zh-CN" b="0">
                  <a:latin typeface="Courier New" panose="02070309020205020404" pitchFamily="49" charset="0"/>
                </a:rPr>
                <a:t>x</a:t>
              </a:r>
              <a:endParaRPr lang="en-US" altLang="zh-CN" b="0">
                <a:latin typeface="Helvetica" panose="020B0604020202020204" pitchFamily="34" charset="0"/>
              </a:endParaRPr>
            </a:p>
          </p:txBody>
        </p:sp>
        <p:sp>
          <p:nvSpPr>
            <p:cNvPr id="177164" name="Rectangle 11"/>
            <p:cNvSpPr>
              <a:spLocks noChangeArrowheads="1"/>
            </p:cNvSpPr>
            <p:nvPr/>
          </p:nvSpPr>
          <p:spPr bwMode="auto">
            <a:xfrm>
              <a:off x="4560" y="302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panose="02070309020205020404" pitchFamily="49" charset="0"/>
                </a:rPr>
                <a:t>00010</a:t>
              </a:r>
              <a:r>
                <a:rPr lang="en-US" altLang="zh-CN" b="0" i="1">
                  <a:latin typeface="Courier New" panose="02070309020205020404" pitchFamily="49" charset="0"/>
                </a:rPr>
                <a:t>000</a:t>
              </a:r>
              <a:endParaRPr lang="en-US" altLang="zh-CN" b="0">
                <a:latin typeface="Courier New" panose="02070309020205020404" pitchFamily="49" charset="0"/>
              </a:endParaRPr>
            </a:p>
          </p:txBody>
        </p:sp>
        <p:sp>
          <p:nvSpPr>
            <p:cNvPr id="177165" name="Rectangle 12"/>
            <p:cNvSpPr>
              <a:spLocks noChangeArrowheads="1"/>
            </p:cNvSpPr>
            <p:nvPr/>
          </p:nvSpPr>
          <p:spPr bwMode="auto">
            <a:xfrm>
              <a:off x="3696" y="302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panose="02070309020205020404" pitchFamily="49" charset="0"/>
                </a:rPr>
                <a:t>&lt;&lt; 3</a:t>
              </a:r>
              <a:endParaRPr lang="en-US" altLang="zh-CN" b="0"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A7B2EC-2A53-4730-B9F8-508899E23B0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Shift Operations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60198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Right Shift: 	x &gt;&gt; y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Shift bit-vector x right y positions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Throw away extra bits on right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Logical shift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Fill with 0’s on left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Arithmetic shift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Replicate most significant bit on right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Useful with two’s complement integer representation (especially for the negative number )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pSp>
        <p:nvGrpSpPr>
          <p:cNvPr id="179205" name="Group 4"/>
          <p:cNvGrpSpPr/>
          <p:nvPr/>
        </p:nvGrpSpPr>
        <p:grpSpPr bwMode="auto">
          <a:xfrm>
            <a:off x="6172200" y="1600200"/>
            <a:ext cx="2743200" cy="1371600"/>
            <a:chOff x="3408" y="864"/>
            <a:chExt cx="1728" cy="864"/>
          </a:xfrm>
        </p:grpSpPr>
        <p:sp>
          <p:nvSpPr>
            <p:cNvPr id="179213" name="Rectangle 5"/>
            <p:cNvSpPr>
              <a:spLocks noChangeArrowheads="1"/>
            </p:cNvSpPr>
            <p:nvPr/>
          </p:nvSpPr>
          <p:spPr bwMode="auto">
            <a:xfrm>
              <a:off x="4272" y="86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01100010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4" name="Rectangle 6"/>
            <p:cNvSpPr>
              <a:spLocks noChangeArrowheads="1"/>
            </p:cNvSpPr>
            <p:nvPr/>
          </p:nvSpPr>
          <p:spPr bwMode="auto">
            <a:xfrm>
              <a:off x="3408" y="86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Argument </a:t>
              </a:r>
              <a:r>
                <a:rPr lang="en-US" altLang="zh-CN" sz="1800" b="0">
                  <a:latin typeface="Courier New" panose="02070309020205020404" pitchFamily="49" charset="0"/>
                </a:rPr>
                <a:t>x</a:t>
              </a:r>
              <a:endParaRPr lang="en-US" altLang="zh-CN" sz="1800" b="0">
                <a:latin typeface="Helvetica" panose="020B0604020202020204" pitchFamily="34" charset="0"/>
              </a:endParaRPr>
            </a:p>
          </p:txBody>
        </p:sp>
        <p:sp>
          <p:nvSpPr>
            <p:cNvPr id="179215" name="Rectangle 7"/>
            <p:cNvSpPr>
              <a:spLocks noChangeArrowheads="1"/>
            </p:cNvSpPr>
            <p:nvPr/>
          </p:nvSpPr>
          <p:spPr bwMode="auto">
            <a:xfrm>
              <a:off x="4272" y="115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panose="02070309020205020404" pitchFamily="49" charset="0"/>
                </a:rPr>
                <a:t>00</a:t>
              </a:r>
              <a:r>
                <a:rPr lang="en-US" altLang="zh-CN" sz="1800" b="0">
                  <a:latin typeface="Courier New" panose="02070309020205020404" pitchFamily="49" charset="0"/>
                </a:rPr>
                <a:t>011000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6" name="Rectangle 8"/>
            <p:cNvSpPr>
              <a:spLocks noChangeArrowheads="1"/>
            </p:cNvSpPr>
            <p:nvPr/>
          </p:nvSpPr>
          <p:spPr bwMode="auto">
            <a:xfrm>
              <a:off x="3408" y="115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Log. </a:t>
              </a:r>
              <a:r>
                <a:rPr lang="en-US" altLang="zh-CN" sz="1800" b="0">
                  <a:latin typeface="Courier New" panose="02070309020205020404" pitchFamily="49" charset="0"/>
                </a:rPr>
                <a:t>&gt;&gt; 2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7" name="Rectangle 9"/>
            <p:cNvSpPr>
              <a:spLocks noChangeArrowheads="1"/>
            </p:cNvSpPr>
            <p:nvPr/>
          </p:nvSpPr>
          <p:spPr bwMode="auto">
            <a:xfrm>
              <a:off x="4272" y="1440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panose="02070309020205020404" pitchFamily="49" charset="0"/>
                </a:rPr>
                <a:t>00</a:t>
              </a:r>
              <a:r>
                <a:rPr lang="en-US" altLang="zh-CN" sz="1800" b="0">
                  <a:latin typeface="Courier New" panose="02070309020205020404" pitchFamily="49" charset="0"/>
                </a:rPr>
                <a:t>011000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8" name="Rectangle 10"/>
            <p:cNvSpPr>
              <a:spLocks noChangeArrowheads="1"/>
            </p:cNvSpPr>
            <p:nvPr/>
          </p:nvSpPr>
          <p:spPr bwMode="auto">
            <a:xfrm>
              <a:off x="3408" y="1440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Arith. </a:t>
              </a:r>
              <a:r>
                <a:rPr lang="en-US" altLang="zh-CN" sz="1800" b="0">
                  <a:latin typeface="Courier New" panose="02070309020205020404" pitchFamily="49" charset="0"/>
                </a:rPr>
                <a:t>&gt;&gt; 2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79206" name="Group 11"/>
          <p:cNvGrpSpPr/>
          <p:nvPr/>
        </p:nvGrpSpPr>
        <p:grpSpPr bwMode="auto">
          <a:xfrm>
            <a:off x="6172200" y="3581400"/>
            <a:ext cx="2743200" cy="1371600"/>
            <a:chOff x="3408" y="2256"/>
            <a:chExt cx="1728" cy="864"/>
          </a:xfrm>
        </p:grpSpPr>
        <p:sp>
          <p:nvSpPr>
            <p:cNvPr id="179207" name="Rectangle 12"/>
            <p:cNvSpPr>
              <a:spLocks noChangeArrowheads="1"/>
            </p:cNvSpPr>
            <p:nvPr/>
          </p:nvSpPr>
          <p:spPr bwMode="auto">
            <a:xfrm>
              <a:off x="4272" y="225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10100010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08" name="Rectangle 13"/>
            <p:cNvSpPr>
              <a:spLocks noChangeArrowheads="1"/>
            </p:cNvSpPr>
            <p:nvPr/>
          </p:nvSpPr>
          <p:spPr bwMode="auto">
            <a:xfrm>
              <a:off x="3408" y="225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Argument </a:t>
              </a:r>
              <a:r>
                <a:rPr lang="en-US" altLang="zh-CN" sz="1800" b="0">
                  <a:latin typeface="Courier New" panose="02070309020205020404" pitchFamily="49" charset="0"/>
                </a:rPr>
                <a:t>x</a:t>
              </a:r>
              <a:endParaRPr lang="en-US" altLang="zh-CN" sz="1800" b="0">
                <a:latin typeface="Helvetica" panose="020B0604020202020204" pitchFamily="34" charset="0"/>
              </a:endParaRPr>
            </a:p>
          </p:txBody>
        </p:sp>
        <p:sp>
          <p:nvSpPr>
            <p:cNvPr id="179209" name="Rectangle 14"/>
            <p:cNvSpPr>
              <a:spLocks noChangeArrowheads="1"/>
            </p:cNvSpPr>
            <p:nvPr/>
          </p:nvSpPr>
          <p:spPr bwMode="auto">
            <a:xfrm>
              <a:off x="4272" y="254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panose="02070309020205020404" pitchFamily="49" charset="0"/>
                </a:rPr>
                <a:t>00</a:t>
              </a:r>
              <a:r>
                <a:rPr lang="en-US" altLang="zh-CN" sz="1800" b="0">
                  <a:latin typeface="Courier New" panose="02070309020205020404" pitchFamily="49" charset="0"/>
                </a:rPr>
                <a:t>101000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0" name="Rectangle 15"/>
            <p:cNvSpPr>
              <a:spLocks noChangeArrowheads="1"/>
            </p:cNvSpPr>
            <p:nvPr/>
          </p:nvSpPr>
          <p:spPr bwMode="auto">
            <a:xfrm>
              <a:off x="3408" y="254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Log. </a:t>
              </a:r>
              <a:r>
                <a:rPr lang="en-US" altLang="zh-CN" sz="1800" b="0">
                  <a:latin typeface="Courier New" panose="02070309020205020404" pitchFamily="49" charset="0"/>
                </a:rPr>
                <a:t>&gt;&gt; 2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1" name="Rectangle 16"/>
            <p:cNvSpPr>
              <a:spLocks noChangeArrowheads="1"/>
            </p:cNvSpPr>
            <p:nvPr/>
          </p:nvSpPr>
          <p:spPr bwMode="auto">
            <a:xfrm>
              <a:off x="4272" y="283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panose="02070309020205020404" pitchFamily="49" charset="0"/>
                </a:rPr>
                <a:t>11</a:t>
              </a:r>
              <a:r>
                <a:rPr lang="en-US" altLang="zh-CN" sz="1800" b="0">
                  <a:latin typeface="Courier New" panose="02070309020205020404" pitchFamily="49" charset="0"/>
                </a:rPr>
                <a:t>101000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79212" name="Rectangle 17"/>
            <p:cNvSpPr>
              <a:spLocks noChangeArrowheads="1"/>
            </p:cNvSpPr>
            <p:nvPr/>
          </p:nvSpPr>
          <p:spPr bwMode="auto">
            <a:xfrm>
              <a:off x="3408" y="283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</a:rPr>
                <a:t>Arith. </a:t>
              </a:r>
              <a:r>
                <a:rPr lang="en-US" altLang="zh-CN" sz="1800" b="0">
                  <a:latin typeface="Courier New" panose="02070309020205020404" pitchFamily="49" charset="0"/>
                </a:rPr>
                <a:t>&gt;&gt; 2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061070-3C96-401E-B25A-1E7C11F5C98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81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Shift Operations in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800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What happens 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lval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0xFEDCBA98 &lt;&lt; 32;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aval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0xFEDCBA98 &gt;&gt; 36;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unsigned </a:t>
            </a: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uval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0xFEDCBA98u &gt;&gt; 40;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It may be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lval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0xFEDCBA98     (0)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aval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0xFFEDCBA9     (4)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uval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0x00FEDCBA     (8)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Be careful about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1&lt;&lt;2 + 3&lt;&lt;4  means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1&lt;&lt;(2 + 3)&lt;&lt;4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Shift Operations in Computer Systems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Advantages</a:t>
            </a:r>
            <a:endParaRPr kumimoji="1" lang="en-US" altLang="zh-CN" dirty="0"/>
          </a:p>
          <a:p>
            <a:pPr lvl="1"/>
            <a:r>
              <a:rPr kumimoji="1" lang="en-GB" altLang="zh-CN" dirty="0"/>
              <a:t>Performance Optimization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Fast multiplication and division, bit manipulation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Resource conservation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The shift operation requires fewer hardware resources.</a:t>
            </a:r>
            <a:endParaRPr kumimoji="1" lang="en-GB" altLang="zh-CN" dirty="0"/>
          </a:p>
          <a:p>
            <a:r>
              <a:rPr kumimoji="1" lang="en-GB" altLang="zh-CN" dirty="0"/>
              <a:t>Applications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Data Compression: bit packing,</a:t>
            </a:r>
            <a:r>
              <a:rPr lang="en-GB" altLang="zh-CN" dirty="0"/>
              <a:t> bitmap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Cryptography: hash function</a:t>
            </a:r>
            <a:r>
              <a:rPr kumimoji="1" lang="en-US" altLang="zh-CN" dirty="0"/>
              <a:t>, encryption algorithm (e.g. AES)</a:t>
            </a:r>
            <a:endParaRPr kumimoji="1" lang="en-US" altLang="zh-CN" dirty="0"/>
          </a:p>
          <a:p>
            <a:pPr lvl="1"/>
            <a:r>
              <a:rPr kumimoji="1" lang="en-GB" altLang="zh-CN" dirty="0"/>
              <a:t>Signal Processing: Fast Fourier Transform (FFT)</a:t>
            </a:r>
            <a:endParaRPr kumimoji="1" lang="en-GB" altLang="zh-CN" dirty="0"/>
          </a:p>
          <a:p>
            <a:pPr lvl="1"/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5F458D-6890-46BA-BF00-BF651343D34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3C4B59-A416-4382-A25D-C48EFA99000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894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Information Storage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911126-ED04-4740-B90A-CDA66E2905F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Virtual Memory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Pointers and word size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Suggested reading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The first paragraph of 2.1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1.4, 2.1.2, 2.1.3, 2.1.4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52D17-3F61-4DAF-AA74-0CB49487C43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9353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839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Computer Hardware - </a:t>
            </a:r>
            <a:r>
              <a:rPr lang="en-GB" altLang="zh-CN">
                <a:ea typeface="宋体" panose="02010600030101010101" pitchFamily="2" charset="-122"/>
              </a:rPr>
              <a:t>Von Neumann Architecture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3540" name="Rectangle 3"/>
          <p:cNvSpPr>
            <a:spLocks noChangeArrowheads="1"/>
          </p:cNvSpPr>
          <p:nvPr/>
        </p:nvSpPr>
        <p:spPr bwMode="auto">
          <a:xfrm>
            <a:off x="6248400" y="2286000"/>
            <a:ext cx="1752600" cy="1752600"/>
          </a:xfrm>
          <a:prstGeom prst="rect">
            <a:avLst/>
          </a:prstGeom>
          <a:solidFill>
            <a:srgbClr val="EAEAEA"/>
          </a:solidFill>
          <a:ln w="25560">
            <a:solidFill>
              <a:srgbClr val="000000"/>
            </a:solidFill>
            <a:miter lim="800000"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0000" tIns="46800" rIns="90000" bIns="46800" anchor="ctr"/>
          <a:lstStyle>
            <a:lvl1pPr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Control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Unit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3541" name="Rectangle 4"/>
          <p:cNvSpPr>
            <a:spLocks noChangeArrowheads="1"/>
          </p:cNvSpPr>
          <p:nvPr/>
        </p:nvSpPr>
        <p:spPr bwMode="auto">
          <a:xfrm>
            <a:off x="3657600" y="4800600"/>
            <a:ext cx="1752600" cy="1752600"/>
          </a:xfrm>
          <a:prstGeom prst="rect">
            <a:avLst/>
          </a:prstGeom>
          <a:solidFill>
            <a:srgbClr val="EAEAEA"/>
          </a:solidFill>
          <a:ln w="25560">
            <a:solidFill>
              <a:srgbClr val="000000"/>
            </a:solidFill>
            <a:miter lim="800000"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0000" tIns="46800" rIns="90000" bIns="46800" anchor="ctr"/>
          <a:lstStyle>
            <a:lvl1pPr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Input/Output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Unit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E.g. Storage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93542" name="Group 5"/>
          <p:cNvGrpSpPr/>
          <p:nvPr/>
        </p:nvGrpSpPr>
        <p:grpSpPr bwMode="auto">
          <a:xfrm>
            <a:off x="2362200" y="1584325"/>
            <a:ext cx="4267200" cy="779463"/>
            <a:chOff x="1488" y="806"/>
            <a:chExt cx="2688" cy="491"/>
          </a:xfrm>
        </p:grpSpPr>
        <p:sp>
          <p:nvSpPr>
            <p:cNvPr id="193559" name="Line 6"/>
            <p:cNvSpPr>
              <a:spLocks noChangeShapeType="1"/>
            </p:cNvSpPr>
            <p:nvPr/>
          </p:nvSpPr>
          <p:spPr bwMode="auto">
            <a:xfrm flipV="1">
              <a:off x="1488" y="1005"/>
              <a:ext cx="1" cy="294"/>
            </a:xfrm>
            <a:prstGeom prst="line">
              <a:avLst/>
            </a:prstGeom>
            <a:noFill/>
            <a:ln w="38160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60" name="Line 7"/>
            <p:cNvSpPr>
              <a:spLocks noChangeShapeType="1"/>
            </p:cNvSpPr>
            <p:nvPr/>
          </p:nvSpPr>
          <p:spPr bwMode="auto">
            <a:xfrm>
              <a:off x="1488" y="1008"/>
              <a:ext cx="2688" cy="1"/>
            </a:xfrm>
            <a:prstGeom prst="line">
              <a:avLst/>
            </a:prstGeom>
            <a:noFill/>
            <a:ln w="38160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61" name="Line 8"/>
            <p:cNvSpPr>
              <a:spLocks noChangeShapeType="1"/>
            </p:cNvSpPr>
            <p:nvPr/>
          </p:nvSpPr>
          <p:spPr bwMode="auto">
            <a:xfrm>
              <a:off x="4176" y="1008"/>
              <a:ext cx="1" cy="288"/>
            </a:xfrm>
            <a:prstGeom prst="line">
              <a:avLst/>
            </a:prstGeom>
            <a:noFill/>
            <a:ln w="38160">
              <a:solidFill>
                <a:srgbClr val="FF99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62" name="Text Box 9"/>
            <p:cNvSpPr txBox="1">
              <a:spLocks noChangeArrowheads="1"/>
            </p:cNvSpPr>
            <p:nvPr/>
          </p:nvSpPr>
          <p:spPr bwMode="auto">
            <a:xfrm>
              <a:off x="1488" y="806"/>
              <a:ext cx="268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FF6633"/>
                </a:buClr>
                <a:buFontTx/>
                <a:buNone/>
              </a:pPr>
              <a:r>
                <a:rPr lang="en-GB" altLang="zh-CN" sz="2000">
                  <a:solidFill>
                    <a:srgbClr val="FF6633"/>
                  </a:solidFill>
                  <a:latin typeface="Arial" panose="020B0604020202020204" pitchFamily="34" charset="0"/>
                </a:rPr>
                <a:t>Instructions / Program</a:t>
              </a:r>
              <a:endParaRPr lang="en-GB" altLang="zh-CN" sz="2000">
                <a:solidFill>
                  <a:srgbClr val="FF663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84042" name="Rectangle 10"/>
          <p:cNvSpPr>
            <a:spLocks noChangeArrowheads="1"/>
          </p:cNvSpPr>
          <p:nvPr/>
        </p:nvSpPr>
        <p:spPr bwMode="auto">
          <a:xfrm>
            <a:off x="1066800" y="2286000"/>
            <a:ext cx="1752600" cy="1752600"/>
          </a:xfrm>
          <a:prstGeom prst="rect">
            <a:avLst/>
          </a:prstGeom>
          <a:solidFill>
            <a:srgbClr val="EAEAEA"/>
          </a:solidFill>
          <a:ln w="25560">
            <a:solidFill>
              <a:srgbClr val="000000"/>
            </a:solidFill>
            <a:miter lim="800000"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0000" tIns="46800" rIns="90000" bIns="46800" anchor="ctr"/>
          <a:lstStyle>
            <a:lvl1pPr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Main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2400" b="0">
                <a:solidFill>
                  <a:srgbClr val="000000"/>
                </a:solidFill>
                <a:latin typeface="Arial" panose="020B0604020202020204" pitchFamily="34" charset="0"/>
              </a:rPr>
              <a:t>Memory</a:t>
            </a: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en-GB" altLang="zh-CN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93544" name="Group 11"/>
          <p:cNvGrpSpPr/>
          <p:nvPr/>
        </p:nvGrpSpPr>
        <p:grpSpPr bwMode="auto">
          <a:xfrm>
            <a:off x="2359025" y="3962400"/>
            <a:ext cx="4195763" cy="671513"/>
            <a:chOff x="1486" y="2304"/>
            <a:chExt cx="2643" cy="423"/>
          </a:xfrm>
        </p:grpSpPr>
        <p:sp>
          <p:nvSpPr>
            <p:cNvPr id="193555" name="Line 12"/>
            <p:cNvSpPr>
              <a:spLocks noChangeShapeType="1"/>
            </p:cNvSpPr>
            <p:nvPr/>
          </p:nvSpPr>
          <p:spPr bwMode="auto">
            <a:xfrm>
              <a:off x="4128" y="2400"/>
              <a:ext cx="1" cy="144"/>
            </a:xfrm>
            <a:prstGeom prst="line">
              <a:avLst/>
            </a:prstGeom>
            <a:noFill/>
            <a:ln w="38160">
              <a:solidFill>
                <a:srgbClr val="33996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56" name="Line 13"/>
            <p:cNvSpPr>
              <a:spLocks noChangeShapeType="1"/>
            </p:cNvSpPr>
            <p:nvPr/>
          </p:nvSpPr>
          <p:spPr bwMode="auto">
            <a:xfrm flipH="1">
              <a:off x="1485" y="2544"/>
              <a:ext cx="2646" cy="1"/>
            </a:xfrm>
            <a:prstGeom prst="line">
              <a:avLst/>
            </a:prstGeom>
            <a:noFill/>
            <a:ln w="38160">
              <a:solidFill>
                <a:srgbClr val="33996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57" name="Line 14"/>
            <p:cNvSpPr>
              <a:spLocks noChangeShapeType="1"/>
            </p:cNvSpPr>
            <p:nvPr/>
          </p:nvSpPr>
          <p:spPr bwMode="auto">
            <a:xfrm>
              <a:off x="1488" y="2304"/>
              <a:ext cx="1" cy="240"/>
            </a:xfrm>
            <a:prstGeom prst="line">
              <a:avLst/>
            </a:prstGeom>
            <a:noFill/>
            <a:ln w="38160">
              <a:solidFill>
                <a:srgbClr val="339966"/>
              </a:solidFill>
              <a:miter lim="800000"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58" name="Text Box 15"/>
            <p:cNvSpPr txBox="1">
              <a:spLocks noChangeArrowheads="1"/>
            </p:cNvSpPr>
            <p:nvPr/>
          </p:nvSpPr>
          <p:spPr bwMode="auto">
            <a:xfrm>
              <a:off x="1488" y="2496"/>
              <a:ext cx="264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8000"/>
                </a:buClr>
                <a:buFontTx/>
                <a:buNone/>
              </a:pPr>
              <a:r>
                <a:rPr lang="en-GB" altLang="zh-CN" sz="1800">
                  <a:solidFill>
                    <a:srgbClr val="008000"/>
                  </a:solidFill>
                  <a:latin typeface="Arial" panose="020B0604020202020204" pitchFamily="34" charset="0"/>
                </a:rPr>
                <a:t>             Addresses    </a:t>
              </a:r>
              <a:endParaRPr lang="en-GB" altLang="zh-CN" sz="18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3545" name="Group 16"/>
          <p:cNvGrpSpPr/>
          <p:nvPr/>
        </p:nvGrpSpPr>
        <p:grpSpPr bwMode="auto">
          <a:xfrm>
            <a:off x="3657600" y="2286000"/>
            <a:ext cx="1752600" cy="1752600"/>
            <a:chOff x="2304" y="1440"/>
            <a:chExt cx="1104" cy="1104"/>
          </a:xfrm>
        </p:grpSpPr>
        <p:sp>
          <p:nvSpPr>
            <p:cNvPr id="193553" name="Rectangle 17"/>
            <p:cNvSpPr>
              <a:spLocks noChangeArrowheads="1"/>
            </p:cNvSpPr>
            <p:nvPr/>
          </p:nvSpPr>
          <p:spPr bwMode="auto">
            <a:xfrm>
              <a:off x="2304" y="1440"/>
              <a:ext cx="1104" cy="1104"/>
            </a:xfrm>
            <a:prstGeom prst="rect">
              <a:avLst/>
            </a:prstGeom>
            <a:solidFill>
              <a:srgbClr val="EAEAEA"/>
            </a:solidFill>
            <a:ln w="25560">
              <a:solidFill>
                <a:srgbClr val="000000"/>
              </a:solidFill>
              <a:miter lim="800000"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>
              <a:lvl1pPr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GB" altLang="zh-CN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Arithmetic</a:t>
              </a:r>
              <a:endParaRPr lang="en-GB" altLang="zh-CN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GB" altLang="zh-CN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Unit</a:t>
              </a:r>
              <a:endParaRPr lang="en-GB" altLang="zh-CN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en-GB" altLang="zh-CN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en-GB" altLang="zh-CN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3554" name="Rectangle 18"/>
            <p:cNvSpPr>
              <a:spLocks noChangeArrowheads="1"/>
            </p:cNvSpPr>
            <p:nvPr/>
          </p:nvSpPr>
          <p:spPr bwMode="auto">
            <a:xfrm>
              <a:off x="2736" y="2160"/>
              <a:ext cx="384" cy="14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</a:ln>
          </p:spPr>
          <p:txBody>
            <a:bodyPr wrap="none" lIns="90000" tIns="46800" rIns="90000" bIns="46800" anchor="ctr"/>
            <a:lstStyle>
              <a:lvl1pPr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GB" altLang="zh-CN" sz="1800">
                  <a:solidFill>
                    <a:srgbClr val="000000"/>
                  </a:solidFill>
                  <a:latin typeface="Arial" panose="020B0604020202020204" pitchFamily="34" charset="0"/>
                </a:rPr>
                <a:t>AC</a:t>
              </a:r>
              <a:endParaRPr lang="en-GB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3546" name="Rectangle 19"/>
          <p:cNvSpPr>
            <a:spLocks noChangeArrowheads="1"/>
          </p:cNvSpPr>
          <p:nvPr/>
        </p:nvSpPr>
        <p:spPr bwMode="auto">
          <a:xfrm>
            <a:off x="6400800" y="3505200"/>
            <a:ext cx="609600" cy="2286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</a:ln>
        </p:spPr>
        <p:txBody>
          <a:bodyPr wrap="none" lIns="90000" tIns="46800" rIns="90000" bIns="46800" anchor="ctr"/>
          <a:lstStyle>
            <a:lvl1pPr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1800">
                <a:solidFill>
                  <a:srgbClr val="000000"/>
                </a:solidFill>
                <a:latin typeface="Arial" panose="020B0604020202020204" pitchFamily="34" charset="0"/>
              </a:rPr>
              <a:t>IR</a:t>
            </a:r>
            <a:endParaRPr lang="en-GB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3547" name="Rectangle 20"/>
          <p:cNvSpPr>
            <a:spLocks noChangeArrowheads="1"/>
          </p:cNvSpPr>
          <p:nvPr/>
        </p:nvSpPr>
        <p:spPr bwMode="auto">
          <a:xfrm>
            <a:off x="6400800" y="3733800"/>
            <a:ext cx="609600" cy="2286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</a:ln>
        </p:spPr>
        <p:txBody>
          <a:bodyPr wrap="none" lIns="90000" tIns="46800" rIns="90000" bIns="46800" anchor="ctr"/>
          <a:lstStyle>
            <a:lvl1pPr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1800">
                <a:solidFill>
                  <a:srgbClr val="000000"/>
                </a:solidFill>
                <a:latin typeface="Arial" panose="020B0604020202020204" pitchFamily="34" charset="0"/>
              </a:rPr>
              <a:t>SR</a:t>
            </a:r>
            <a:endParaRPr lang="en-GB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3548" name="Rectangle 21"/>
          <p:cNvSpPr>
            <a:spLocks noChangeArrowheads="1"/>
          </p:cNvSpPr>
          <p:nvPr/>
        </p:nvSpPr>
        <p:spPr bwMode="auto">
          <a:xfrm>
            <a:off x="6400800" y="3276600"/>
            <a:ext cx="609600" cy="2286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</a:ln>
        </p:spPr>
        <p:txBody>
          <a:bodyPr wrap="none" lIns="90000" tIns="46800" rIns="90000" bIns="46800" anchor="ctr"/>
          <a:lstStyle>
            <a:lvl1pPr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GB" altLang="zh-CN" sz="1800">
                <a:solidFill>
                  <a:srgbClr val="000000"/>
                </a:solidFill>
                <a:latin typeface="Arial" panose="020B0604020202020204" pitchFamily="34" charset="0"/>
              </a:rPr>
              <a:t>PC</a:t>
            </a:r>
            <a:endParaRPr lang="en-GB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3549" name="Line 22"/>
          <p:cNvSpPr>
            <a:spLocks noChangeShapeType="1"/>
          </p:cNvSpPr>
          <p:nvPr/>
        </p:nvSpPr>
        <p:spPr bwMode="auto">
          <a:xfrm>
            <a:off x="4724400" y="3657600"/>
            <a:ext cx="1588" cy="1219200"/>
          </a:xfrm>
          <a:prstGeom prst="line">
            <a:avLst/>
          </a:prstGeom>
          <a:noFill/>
          <a:ln w="38160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50" name="Line 23"/>
          <p:cNvSpPr>
            <a:spLocks noChangeShapeType="1"/>
          </p:cNvSpPr>
          <p:nvPr/>
        </p:nvSpPr>
        <p:spPr bwMode="auto">
          <a:xfrm>
            <a:off x="5105400" y="5334000"/>
            <a:ext cx="1588" cy="762000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51" name="Line 24"/>
          <p:cNvSpPr>
            <a:spLocks noChangeShapeType="1"/>
          </p:cNvSpPr>
          <p:nvPr/>
        </p:nvSpPr>
        <p:spPr bwMode="auto">
          <a:xfrm>
            <a:off x="3962400" y="5334000"/>
            <a:ext cx="1588" cy="762000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52" name="Line 25"/>
          <p:cNvSpPr>
            <a:spLocks noChangeShapeType="1"/>
          </p:cNvSpPr>
          <p:nvPr/>
        </p:nvSpPr>
        <p:spPr bwMode="auto">
          <a:xfrm flipH="1">
            <a:off x="2738438" y="3581400"/>
            <a:ext cx="1609725" cy="1588"/>
          </a:xfrm>
          <a:prstGeom prst="line">
            <a:avLst/>
          </a:prstGeom>
          <a:noFill/>
          <a:ln w="38160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3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0" accel="50000" autoRev="1" tmFilter="0, 0; .33333, 1; 1, 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2500" accel="50000" autoRev="1" tmFilter="0, 0; .33333, 1; 1, 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0" fill="hold"/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0" fill="hold"/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0" dur="2500" accel="50000" autoRev="1" tmFilter="0, 0; .33333, 1; 1, 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2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4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4F4F3A-D2A6-4699-8523-1190FCD0ECD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95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Storage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system component that remembers data values for use in computation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 wide-ranging technology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RAM chip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Flash memory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Magnetic disk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CD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Abstract model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READ and WRITE operations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01336B-8EDB-40C7-8DFF-65CC43BEFE3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97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READ/WRITE operations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4572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Two important concepts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Name and value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name, value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      value </a:t>
            </a:r>
            <a:r>
              <a:rPr lang="en-US" altLang="zh-CN"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← READ(</a:t>
            </a:r>
            <a:r>
              <a:rPr lang="en-US" altLang="zh-CN" i="1"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name</a:t>
            </a:r>
            <a:r>
              <a:rPr lang="en-US" altLang="zh-CN"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ea typeface="仿宋_GB231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</a:t>
            </a:r>
            <a:r>
              <a:rPr lang="en-US" altLang="zh-CN">
                <a:ea typeface="宋体" panose="02010600030101010101" pitchFamily="2" charset="-122"/>
              </a:rPr>
              <a:t> operation specifies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value to be remembered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name by which one can recall that value in the future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READ operation specifies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name of some previous remembered value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memory device returns that value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0A22FE-9541-4F3A-83E5-4135B7911DE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" name="组合 4"/>
          <p:cNvGrpSpPr/>
          <p:nvPr/>
        </p:nvGrpSpPr>
        <p:grpSpPr bwMode="auto">
          <a:xfrm>
            <a:off x="3657600" y="1447800"/>
            <a:ext cx="1600200" cy="5029200"/>
            <a:chOff x="3657600" y="1447800"/>
            <a:chExt cx="1600200" cy="5029200"/>
          </a:xfrm>
        </p:grpSpPr>
        <p:sp>
          <p:nvSpPr>
            <p:cNvPr id="199686" name="Rectangle 3"/>
            <p:cNvSpPr>
              <a:spLocks noChangeArrowheads="1"/>
            </p:cNvSpPr>
            <p:nvPr/>
          </p:nvSpPr>
          <p:spPr bwMode="auto">
            <a:xfrm>
              <a:off x="3765550" y="18430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87" name="Rectangle 4"/>
            <p:cNvSpPr>
              <a:spLocks noChangeArrowheads="1"/>
            </p:cNvSpPr>
            <p:nvPr/>
          </p:nvSpPr>
          <p:spPr bwMode="auto">
            <a:xfrm>
              <a:off x="3765550" y="21478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88" name="Rectangle 5"/>
            <p:cNvSpPr>
              <a:spLocks noChangeArrowheads="1"/>
            </p:cNvSpPr>
            <p:nvPr/>
          </p:nvSpPr>
          <p:spPr bwMode="auto">
            <a:xfrm>
              <a:off x="3765550" y="24526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89" name="Rectangle 6"/>
            <p:cNvSpPr>
              <a:spLocks noChangeArrowheads="1"/>
            </p:cNvSpPr>
            <p:nvPr/>
          </p:nvSpPr>
          <p:spPr bwMode="auto">
            <a:xfrm>
              <a:off x="3765550" y="27574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0" name="Rectangle 7"/>
            <p:cNvSpPr>
              <a:spLocks noChangeArrowheads="1"/>
            </p:cNvSpPr>
            <p:nvPr/>
          </p:nvSpPr>
          <p:spPr bwMode="auto">
            <a:xfrm>
              <a:off x="3765550" y="30622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1" name="Rectangle 8"/>
            <p:cNvSpPr>
              <a:spLocks noChangeArrowheads="1"/>
            </p:cNvSpPr>
            <p:nvPr/>
          </p:nvSpPr>
          <p:spPr bwMode="auto">
            <a:xfrm>
              <a:off x="3765550" y="33670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2" name="Rectangle 9"/>
            <p:cNvSpPr>
              <a:spLocks noChangeArrowheads="1"/>
            </p:cNvSpPr>
            <p:nvPr/>
          </p:nvSpPr>
          <p:spPr bwMode="auto">
            <a:xfrm>
              <a:off x="3765550" y="36718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3" name="Rectangle 10"/>
            <p:cNvSpPr>
              <a:spLocks noChangeArrowheads="1"/>
            </p:cNvSpPr>
            <p:nvPr/>
          </p:nvSpPr>
          <p:spPr bwMode="auto">
            <a:xfrm>
              <a:off x="3765550" y="39766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4" name="Rectangle 11"/>
            <p:cNvSpPr>
              <a:spLocks noChangeArrowheads="1"/>
            </p:cNvSpPr>
            <p:nvPr/>
          </p:nvSpPr>
          <p:spPr bwMode="auto">
            <a:xfrm>
              <a:off x="3765550" y="42814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5" name="Rectangle 12"/>
            <p:cNvSpPr>
              <a:spLocks noChangeArrowheads="1"/>
            </p:cNvSpPr>
            <p:nvPr/>
          </p:nvSpPr>
          <p:spPr bwMode="auto">
            <a:xfrm>
              <a:off x="3765550" y="45862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6" name="Rectangle 13"/>
            <p:cNvSpPr>
              <a:spLocks noChangeArrowheads="1"/>
            </p:cNvSpPr>
            <p:nvPr/>
          </p:nvSpPr>
          <p:spPr bwMode="auto">
            <a:xfrm>
              <a:off x="3765550" y="48910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7" name="Rectangle 14"/>
            <p:cNvSpPr>
              <a:spLocks noChangeArrowheads="1"/>
            </p:cNvSpPr>
            <p:nvPr/>
          </p:nvSpPr>
          <p:spPr bwMode="auto">
            <a:xfrm>
              <a:off x="3765550" y="51958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698" name="Rectangle 15"/>
            <p:cNvSpPr>
              <a:spLocks noChangeArrowheads="1"/>
            </p:cNvSpPr>
            <p:nvPr/>
          </p:nvSpPr>
          <p:spPr bwMode="auto">
            <a:xfrm>
              <a:off x="4527550" y="18430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699" name="Rectangle 16"/>
            <p:cNvSpPr>
              <a:spLocks noChangeArrowheads="1"/>
            </p:cNvSpPr>
            <p:nvPr/>
          </p:nvSpPr>
          <p:spPr bwMode="auto">
            <a:xfrm>
              <a:off x="4527550" y="21478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0001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0" name="Rectangle 17"/>
            <p:cNvSpPr>
              <a:spLocks noChangeArrowheads="1"/>
            </p:cNvSpPr>
            <p:nvPr/>
          </p:nvSpPr>
          <p:spPr bwMode="auto">
            <a:xfrm>
              <a:off x="4527550" y="24526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0002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1" name="Rectangle 18"/>
            <p:cNvSpPr>
              <a:spLocks noChangeArrowheads="1"/>
            </p:cNvSpPr>
            <p:nvPr/>
          </p:nvSpPr>
          <p:spPr bwMode="auto">
            <a:xfrm>
              <a:off x="4527550" y="27574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0003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2" name="Rectangle 19"/>
            <p:cNvSpPr>
              <a:spLocks noChangeArrowheads="1"/>
            </p:cNvSpPr>
            <p:nvPr/>
          </p:nvSpPr>
          <p:spPr bwMode="auto">
            <a:xfrm>
              <a:off x="4527550" y="30622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0004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3" name="Rectangle 20"/>
            <p:cNvSpPr>
              <a:spLocks noChangeArrowheads="1"/>
            </p:cNvSpPr>
            <p:nvPr/>
          </p:nvSpPr>
          <p:spPr bwMode="auto">
            <a:xfrm>
              <a:off x="4527550" y="33670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0005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4" name="Rectangle 21"/>
            <p:cNvSpPr>
              <a:spLocks noChangeArrowheads="1"/>
            </p:cNvSpPr>
            <p:nvPr/>
          </p:nvSpPr>
          <p:spPr bwMode="auto">
            <a:xfrm>
              <a:off x="4527550" y="36718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0006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5" name="Rectangle 22"/>
            <p:cNvSpPr>
              <a:spLocks noChangeArrowheads="1"/>
            </p:cNvSpPr>
            <p:nvPr/>
          </p:nvSpPr>
          <p:spPr bwMode="auto">
            <a:xfrm>
              <a:off x="4527550" y="39766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0007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6" name="Rectangle 23"/>
            <p:cNvSpPr>
              <a:spLocks noChangeArrowheads="1"/>
            </p:cNvSpPr>
            <p:nvPr/>
          </p:nvSpPr>
          <p:spPr bwMode="auto">
            <a:xfrm>
              <a:off x="4527550" y="42814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0008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7" name="Rectangle 24"/>
            <p:cNvSpPr>
              <a:spLocks noChangeArrowheads="1"/>
            </p:cNvSpPr>
            <p:nvPr/>
          </p:nvSpPr>
          <p:spPr bwMode="auto">
            <a:xfrm>
              <a:off x="4527550" y="45862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0009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8" name="Rectangle 25"/>
            <p:cNvSpPr>
              <a:spLocks noChangeArrowheads="1"/>
            </p:cNvSpPr>
            <p:nvPr/>
          </p:nvSpPr>
          <p:spPr bwMode="auto">
            <a:xfrm>
              <a:off x="4527550" y="48910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0010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09" name="Rectangle 26"/>
            <p:cNvSpPr>
              <a:spLocks noChangeArrowheads="1"/>
            </p:cNvSpPr>
            <p:nvPr/>
          </p:nvSpPr>
          <p:spPr bwMode="auto">
            <a:xfrm>
              <a:off x="4527550" y="51958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0011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10" name="Text Box 36"/>
            <p:cNvSpPr txBox="1">
              <a:spLocks noChangeArrowheads="1"/>
            </p:cNvSpPr>
            <p:nvPr/>
          </p:nvSpPr>
          <p:spPr bwMode="auto">
            <a:xfrm>
              <a:off x="3657600" y="1462088"/>
              <a:ext cx="806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Bytes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199711" name="Text Box 37"/>
            <p:cNvSpPr txBox="1">
              <a:spLocks noChangeArrowheads="1"/>
            </p:cNvSpPr>
            <p:nvPr/>
          </p:nvSpPr>
          <p:spPr bwMode="auto">
            <a:xfrm>
              <a:off x="4479925" y="1447800"/>
              <a:ext cx="7747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Addr.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199712" name="Rectangle 38"/>
            <p:cNvSpPr>
              <a:spLocks noChangeArrowheads="1"/>
            </p:cNvSpPr>
            <p:nvPr/>
          </p:nvSpPr>
          <p:spPr bwMode="auto">
            <a:xfrm>
              <a:off x="3765550" y="55006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713" name="Rectangle 39"/>
            <p:cNvSpPr>
              <a:spLocks noChangeArrowheads="1"/>
            </p:cNvSpPr>
            <p:nvPr/>
          </p:nvSpPr>
          <p:spPr bwMode="auto">
            <a:xfrm>
              <a:off x="4527550" y="55006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0012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14" name="Rectangle 40"/>
            <p:cNvSpPr>
              <a:spLocks noChangeArrowheads="1"/>
            </p:cNvSpPr>
            <p:nvPr/>
          </p:nvSpPr>
          <p:spPr bwMode="auto">
            <a:xfrm>
              <a:off x="3765550" y="58054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715" name="Rectangle 41"/>
            <p:cNvSpPr>
              <a:spLocks noChangeArrowheads="1"/>
            </p:cNvSpPr>
            <p:nvPr/>
          </p:nvSpPr>
          <p:spPr bwMode="auto">
            <a:xfrm>
              <a:off x="4527550" y="58054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0013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  <p:sp>
          <p:nvSpPr>
            <p:cNvPr id="199716" name="Rectangle 42"/>
            <p:cNvSpPr>
              <a:spLocks noChangeArrowheads="1"/>
            </p:cNvSpPr>
            <p:nvPr/>
          </p:nvSpPr>
          <p:spPr bwMode="auto">
            <a:xfrm>
              <a:off x="3765550" y="6110288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199717" name="Rectangle 43"/>
            <p:cNvSpPr>
              <a:spLocks noChangeArrowheads="1"/>
            </p:cNvSpPr>
            <p:nvPr/>
          </p:nvSpPr>
          <p:spPr bwMode="auto">
            <a:xfrm>
              <a:off x="4527550" y="6110288"/>
              <a:ext cx="730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panose="02070309020205020404" pitchFamily="49" charset="0"/>
                </a:rPr>
                <a:t>0014</a:t>
              </a:r>
              <a:endParaRPr lang="en-US" altLang="zh-CN" sz="1800" b="0">
                <a:latin typeface="Courier New" panose="02070309020205020404" pitchFamily="49" charset="0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One kind of storage device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Value has only fixed size (usually byte)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Name belongs to a set consisting of consecutive integers started from 0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The integer number is called address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The set is called address space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6204D1-940F-422E-8EAE-DBA91DC54CD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Word Size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Indicating the normal size of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pointer data 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A virtual address is encoded by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such a word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The maximum size of the virtual address space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the  most important system parameter determined by the word size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DFA404-092E-4450-A659-9D4DC4EBA27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Word Size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For machine with n-bit word size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Virtual address can range from 0 to 2</a:t>
            </a:r>
            <a:r>
              <a:rPr lang="en-US" altLang="zh-CN" baseline="30000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-1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Most current machines are 64 bits (8 bytes)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Potentially address 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 </a:t>
            </a:r>
            <a:r>
              <a:rPr lang="en-US" altLang="zh-CN">
                <a:ea typeface="宋体" panose="02010600030101010101" pitchFamily="2" charset="-122"/>
              </a:rPr>
              <a:t>1.84 X 10</a:t>
            </a:r>
            <a:r>
              <a:rPr lang="en-US" altLang="zh-CN" baseline="30000">
                <a:ea typeface="宋体" panose="02010600030101010101" pitchFamily="2" charset="-122"/>
              </a:rPr>
              <a:t>19</a:t>
            </a:r>
            <a:r>
              <a:rPr lang="en-US" altLang="zh-CN">
                <a:ea typeface="宋体" panose="02010600030101010101" pitchFamily="2" charset="-122"/>
              </a:rPr>
              <a:t> bytes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Most current machines also support 32 bits (4 bytes)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Limits addresses to 4GB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Becoming too small for memory-intensive applications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Unfortunately 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it also used to indicate the normal size  of integer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Size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924800" cy="46482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>
                <a:ea typeface="宋体" panose="02010600030101010101" pitchFamily="2" charset="-122"/>
              </a:rPr>
              <a:t>Machines support multiple data formats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>
                <a:ea typeface="宋体" panose="02010600030101010101" pitchFamily="2" charset="-122"/>
              </a:rPr>
              <a:t>Always integral number of bytes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Sizes of C Objects (in Bytes)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828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" b="1987"/>
          <a:stretch>
            <a:fillRect/>
          </a:stretch>
        </p:blipFill>
        <p:spPr bwMode="auto">
          <a:xfrm>
            <a:off x="838200" y="3048000"/>
            <a:ext cx="59531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5EB32E-293F-4780-9764-0533835081E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07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intN_t and uintN_t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Another class of integer types </a:t>
            </a:r>
            <a:endParaRPr lang="en-US" altLang="zh-CN" dirty="0"/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specifying N-bit signed and unsigned integers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Introduced by the ISO C99 standard 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In the file </a:t>
            </a:r>
            <a:r>
              <a:rPr lang="en-US" altLang="zh-CN" dirty="0" err="1">
                <a:ea typeface="+mn-ea"/>
                <a:cs typeface="+mn-cs"/>
              </a:rPr>
              <a:t>stdint.h</a:t>
            </a:r>
            <a:r>
              <a:rPr lang="en-US" altLang="zh-CN" dirty="0">
                <a:ea typeface="+mn-ea"/>
                <a:cs typeface="+mn-cs"/>
              </a:rPr>
              <a:t>. </a:t>
            </a:r>
            <a:endParaRPr lang="en-US" altLang="zh-CN" dirty="0">
              <a:ea typeface="+mn-ea"/>
              <a:cs typeface="+mn-cs"/>
            </a:endParaRPr>
          </a:p>
          <a:p>
            <a:pPr>
              <a:defRPr/>
            </a:pPr>
            <a:r>
              <a:rPr lang="en-US" altLang="zh-CN" dirty="0"/>
              <a:t>Typical values</a:t>
            </a:r>
            <a:endParaRPr lang="en-US" altLang="zh-CN" dirty="0"/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int8_t, int16_t, int32_t, int64_t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unit8_t, uint16_t, uint32_t, uint64_t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N are implementation dependent</a:t>
            </a:r>
            <a:endParaRPr lang="en-US" altLang="zh-CN" dirty="0"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EED8C3-CD35-4F99-8F8C-DC473BECD65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2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Size Related Bugs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32-bit machines have been the standard from 1990s to 2010s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Many programs assume “32-bit” in the table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With the increasing of 64-bit machines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many hidden word size dependencies show up as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en-US" altLang="zh-CN" sz="2400" dirty="0">
                <a:ea typeface="宋体" panose="02010600030101010101" pitchFamily="2" charset="-122"/>
              </a:rPr>
              <a:t>bugs in migrating these programs to new machines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586142"/>
            <a:ext cx="7772400" cy="1549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D050C6-A72B-45C0-8109-AD2E3482754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15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At the time 32-bit dominated, many programmers assumed that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a program object declared as type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int</a:t>
            </a:r>
            <a:r>
              <a:rPr lang="en-US" altLang="zh-CN">
                <a:ea typeface="宋体" panose="02010600030101010101" pitchFamily="2" charset="-122"/>
              </a:rPr>
              <a:t> can be used to store a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pointer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This works fine for most 32-bit machines 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But leads to problems on an 64-bit machine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3B9593-1969-4516-A3B7-A7CDB2DEAB7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17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Virtual Memory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memory introduced in previous slides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is only an conceptual object and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does not exist actually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It provides the program with what appears to be a monolithic byte array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It is a conceptual image presented to the machine-level program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1E5BA-E2EA-4EEE-8C1C-E823B5B71A7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19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Virtual Memory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686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actual implementation uses a combination of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Hardware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Software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Hardware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random-access memory (RAM) (physical)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disk storage (physical)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special hardware (performing the abstraction )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Software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and operating system software (abstraction)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5" name="图片 3" descr="132760917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667000"/>
            <a:ext cx="222885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矩形 5"/>
          <p:cNvSpPr>
            <a:spLocks noChangeArrowheads="1"/>
          </p:cNvSpPr>
          <p:nvPr/>
        </p:nvSpPr>
        <p:spPr bwMode="auto">
          <a:xfrm>
            <a:off x="2667000" y="2133600"/>
            <a:ext cx="6324600" cy="38862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22118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78B872-B37B-4D79-A194-7E5B6F11BF6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1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Way to the Abstraction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21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610600" cy="762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Taking something physical and abstract it logical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21190" name="TextBox 4"/>
          <p:cNvSpPr txBox="1">
            <a:spLocks noChangeArrowheads="1"/>
          </p:cNvSpPr>
          <p:nvPr/>
        </p:nvSpPr>
        <p:spPr bwMode="auto">
          <a:xfrm>
            <a:off x="4640263" y="2133600"/>
            <a:ext cx="2827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Virtual memory</a:t>
            </a:r>
            <a:endParaRPr lang="zh-CN" altLang="en-US"/>
          </a:p>
        </p:txBody>
      </p:sp>
      <p:sp>
        <p:nvSpPr>
          <p:cNvPr id="221191" name="矩形 6"/>
          <p:cNvSpPr>
            <a:spLocks noChangeArrowheads="1"/>
          </p:cNvSpPr>
          <p:nvPr/>
        </p:nvSpPr>
        <p:spPr bwMode="auto">
          <a:xfrm>
            <a:off x="2819400" y="2895600"/>
            <a:ext cx="1905000" cy="213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Operating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System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Special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hardware</a:t>
            </a:r>
            <a:endParaRPr lang="en-US" altLang="zh-CN" sz="2400"/>
          </a:p>
        </p:txBody>
      </p:sp>
      <p:sp>
        <p:nvSpPr>
          <p:cNvPr id="221192" name="TextBox 7"/>
          <p:cNvSpPr txBox="1">
            <a:spLocks noChangeArrowheads="1"/>
          </p:cNvSpPr>
          <p:nvPr/>
        </p:nvSpPr>
        <p:spPr bwMode="auto">
          <a:xfrm>
            <a:off x="2667000" y="5065713"/>
            <a:ext cx="2209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Abstraction</a:t>
            </a:r>
            <a:endParaRPr lang="en-US" altLang="zh-CN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layer</a:t>
            </a:r>
            <a:endParaRPr lang="zh-CN" altLang="en-US"/>
          </a:p>
        </p:txBody>
      </p:sp>
      <p:cxnSp>
        <p:nvCxnSpPr>
          <p:cNvPr id="221193" name="直接连接符 9"/>
          <p:cNvCxnSpPr>
            <a:cxnSpLocks noChangeShapeType="1"/>
            <a:stCxn id="221191" idx="1"/>
            <a:endCxn id="221191" idx="3"/>
          </p:cNvCxnSpPr>
          <p:nvPr/>
        </p:nvCxnSpPr>
        <p:spPr bwMode="auto">
          <a:xfrm rot="10800000" flipH="1">
            <a:off x="2819400" y="3962400"/>
            <a:ext cx="1905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1194" name="矩形 12"/>
          <p:cNvSpPr>
            <a:spLocks noChangeArrowheads="1"/>
          </p:cNvSpPr>
          <p:nvPr/>
        </p:nvSpPr>
        <p:spPr bwMode="auto">
          <a:xfrm>
            <a:off x="6858000" y="2895600"/>
            <a:ext cx="1905000" cy="213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RAM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Chips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Disk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storage</a:t>
            </a:r>
            <a:endParaRPr lang="en-US" altLang="zh-CN" sz="2400"/>
          </a:p>
        </p:txBody>
      </p:sp>
      <p:sp>
        <p:nvSpPr>
          <p:cNvPr id="221195" name="TextBox 13"/>
          <p:cNvSpPr txBox="1">
            <a:spLocks noChangeArrowheads="1"/>
          </p:cNvSpPr>
          <p:nvPr/>
        </p:nvSpPr>
        <p:spPr bwMode="auto">
          <a:xfrm>
            <a:off x="7042150" y="5065713"/>
            <a:ext cx="15367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Physical</a:t>
            </a:r>
            <a:endParaRPr lang="en-US" altLang="zh-CN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layer</a:t>
            </a:r>
            <a:endParaRPr lang="zh-CN" altLang="en-US"/>
          </a:p>
        </p:txBody>
      </p:sp>
      <p:cxnSp>
        <p:nvCxnSpPr>
          <p:cNvPr id="221196" name="直接连接符 14"/>
          <p:cNvCxnSpPr>
            <a:cxnSpLocks noChangeShapeType="1"/>
            <a:stCxn id="221194" idx="1"/>
            <a:endCxn id="221194" idx="3"/>
          </p:cNvCxnSpPr>
          <p:nvPr/>
        </p:nvCxnSpPr>
        <p:spPr bwMode="auto">
          <a:xfrm rot="10800000" flipH="1">
            <a:off x="6858000" y="3962400"/>
            <a:ext cx="1905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1197" name="右箭头 15"/>
          <p:cNvSpPr>
            <a:spLocks noChangeArrowheads="1"/>
          </p:cNvSpPr>
          <p:nvPr/>
        </p:nvSpPr>
        <p:spPr bwMode="auto">
          <a:xfrm>
            <a:off x="228600" y="3733800"/>
            <a:ext cx="2514600" cy="484188"/>
          </a:xfrm>
          <a:prstGeom prst="rightArrow">
            <a:avLst>
              <a:gd name="adj1" fmla="val 50000"/>
              <a:gd name="adj2" fmla="val 50035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221198" name="TextBox 16"/>
          <p:cNvSpPr txBox="1">
            <a:spLocks noChangeArrowheads="1"/>
          </p:cNvSpPr>
          <p:nvPr/>
        </p:nvSpPr>
        <p:spPr bwMode="auto">
          <a:xfrm>
            <a:off x="298450" y="2743200"/>
            <a:ext cx="22574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cs typeface="Times New Roman" panose="02020603050405020304" pitchFamily="18" charset="0"/>
              </a:rPr>
              <a:t>(vadd value)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21199" name="TextBox 17"/>
          <p:cNvSpPr txBox="1">
            <a:spLocks noChangeArrowheads="1"/>
          </p:cNvSpPr>
          <p:nvPr/>
        </p:nvSpPr>
        <p:spPr bwMode="auto">
          <a:xfrm>
            <a:off x="293688" y="4227513"/>
            <a:ext cx="2262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zh-CN">
                <a:cs typeface="Times New Roman" panose="02020603050405020304" pitchFamily="18" charset="0"/>
              </a:rPr>
              <a:t>(vadd)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21200" name="右箭头 18"/>
          <p:cNvSpPr>
            <a:spLocks noChangeArrowheads="1"/>
          </p:cNvSpPr>
          <p:nvPr/>
        </p:nvSpPr>
        <p:spPr bwMode="auto">
          <a:xfrm>
            <a:off x="4724400" y="3733800"/>
            <a:ext cx="2209800" cy="484188"/>
          </a:xfrm>
          <a:prstGeom prst="rightArrow">
            <a:avLst>
              <a:gd name="adj1" fmla="val 50000"/>
              <a:gd name="adj2" fmla="val 50055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221201" name="TextBox 19"/>
          <p:cNvSpPr txBox="1">
            <a:spLocks noChangeArrowheads="1"/>
          </p:cNvSpPr>
          <p:nvPr/>
        </p:nvSpPr>
        <p:spPr bwMode="auto">
          <a:xfrm>
            <a:off x="4800600" y="3055938"/>
            <a:ext cx="1981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(padd value)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  <p:sp>
        <p:nvSpPr>
          <p:cNvPr id="221202" name="TextBox 20"/>
          <p:cNvSpPr txBox="1">
            <a:spLocks noChangeArrowheads="1"/>
          </p:cNvSpPr>
          <p:nvPr/>
        </p:nvSpPr>
        <p:spPr bwMode="auto">
          <a:xfrm>
            <a:off x="4800600" y="4110038"/>
            <a:ext cx="1981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zh-CN" sz="2400">
                <a:cs typeface="Times New Roman" panose="02020603050405020304" pitchFamily="18" charset="0"/>
              </a:rPr>
              <a:t>(padd)</a:t>
            </a:r>
            <a:endParaRPr lang="zh-CN" altLang="en-US" sz="24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5C5EAA-3194-4E61-BF86-91171D49B5B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32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Subdivide Virtual Memory into More Manageable Units 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One task of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compiler and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run-time system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To store the different </a:t>
            </a:r>
            <a:r>
              <a:rPr lang="en-US" altLang="zh-CN" i="1">
                <a:ea typeface="宋体" panose="02010600030101010101" pitchFamily="2" charset="-122"/>
              </a:rPr>
              <a:t>program objects</a:t>
            </a:r>
            <a:endParaRPr lang="en-US" altLang="zh-CN" i="1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Program data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Instructions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Control information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F9A019-61A5-47F0-8B82-B0D6F7E1E47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22528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100013"/>
            <a:ext cx="8810625" cy="665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1D5DCB-B414-4B2F-983E-660FD09C16B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7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Byte Ordering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How should a large object be stored in memory?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/>
              <a:t>For program objects that span multiple bytes</a:t>
            </a:r>
            <a:endParaRPr lang="en-US" altLang="zh-CN" dirty="0"/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What will be the address of the object?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How will we order the bytes in memory?</a:t>
            </a:r>
            <a:endParaRPr lang="en-US" altLang="zh-CN" dirty="0">
              <a:ea typeface="+mn-ea"/>
              <a:cs typeface="+mn-cs"/>
            </a:endParaRPr>
          </a:p>
          <a:p>
            <a:pPr>
              <a:defRPr/>
            </a:pPr>
            <a:r>
              <a:rPr lang="en-US" altLang="zh-CN" dirty="0"/>
              <a:t>A multi-byte object is stored as </a:t>
            </a:r>
            <a:endParaRPr lang="en-US" altLang="zh-CN" dirty="0"/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a contiguous sequence of bytes 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with the address of the object given by the smallest address of the bytes used</a:t>
            </a:r>
            <a:endParaRPr lang="en-US" altLang="zh-CN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E9555B-59A5-463A-839F-EE62934F728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9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Byte Ordering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Little </a:t>
            </a:r>
            <a:r>
              <a:rPr lang="en-US" altLang="zh-CN" dirty="0" err="1">
                <a:ea typeface="宋体" panose="02010600030101010101" pitchFamily="2" charset="-122"/>
              </a:rPr>
              <a:t>Endian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Least significant byte has lowest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Intel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Big </a:t>
            </a:r>
            <a:r>
              <a:rPr lang="en-US" altLang="zh-CN" dirty="0" err="1">
                <a:ea typeface="宋体" panose="02010600030101010101" pitchFamily="2" charset="-122"/>
              </a:rPr>
              <a:t>Endian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Least significant byte has highest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Sun, IBM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Bi-</a:t>
            </a:r>
            <a:r>
              <a:rPr lang="en-US" altLang="zh-CN" dirty="0" err="1">
                <a:ea typeface="宋体" panose="02010600030101010101" pitchFamily="2" charset="-122"/>
              </a:rPr>
              <a:t>Endian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/>
              <a:t>Machines </a:t>
            </a:r>
            <a:r>
              <a:rPr lang="en-US" altLang="zh-CN" dirty="0">
                <a:ea typeface="+mn-ea"/>
                <a:cs typeface="+mn-cs"/>
              </a:rPr>
              <a:t>can be configured to operate as either little- or big-endian</a:t>
            </a:r>
            <a:endParaRPr lang="en-US" altLang="zh-CN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altLang="zh-CN" dirty="0"/>
              <a:t>Many recent microprocessors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FCF2C6-4553-44C2-A59D-C7C1D6D21A6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1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Big Endian vs Little Endian (0x1234567)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31428" name="Group 3"/>
          <p:cNvGrpSpPr/>
          <p:nvPr/>
        </p:nvGrpSpPr>
        <p:grpSpPr bwMode="auto">
          <a:xfrm>
            <a:off x="609600" y="1828800"/>
            <a:ext cx="7772400" cy="1905000"/>
            <a:chOff x="1008" y="3024"/>
            <a:chExt cx="3456" cy="384"/>
          </a:xfrm>
        </p:grpSpPr>
        <p:sp>
          <p:nvSpPr>
            <p:cNvPr id="231429" name="Rectangle 4"/>
            <p:cNvSpPr>
              <a:spLocks noChangeArrowheads="1"/>
            </p:cNvSpPr>
            <p:nvPr/>
          </p:nvSpPr>
          <p:spPr bwMode="auto">
            <a:xfrm>
              <a:off x="1872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0x100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31430" name="Rectangle 5"/>
            <p:cNvSpPr>
              <a:spLocks noChangeArrowheads="1"/>
            </p:cNvSpPr>
            <p:nvPr/>
          </p:nvSpPr>
          <p:spPr bwMode="auto">
            <a:xfrm>
              <a:off x="2304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0x101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31431" name="Rectangle 6"/>
            <p:cNvSpPr>
              <a:spLocks noChangeArrowheads="1"/>
            </p:cNvSpPr>
            <p:nvPr/>
          </p:nvSpPr>
          <p:spPr bwMode="auto">
            <a:xfrm>
              <a:off x="2736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0x102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31432" name="Rectangle 7"/>
            <p:cNvSpPr>
              <a:spLocks noChangeArrowheads="1"/>
            </p:cNvSpPr>
            <p:nvPr/>
          </p:nvSpPr>
          <p:spPr bwMode="auto">
            <a:xfrm>
              <a:off x="3168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0x103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31433" name="Rectangle 8"/>
            <p:cNvSpPr>
              <a:spLocks noChangeArrowheads="1"/>
            </p:cNvSpPr>
            <p:nvPr/>
          </p:nvSpPr>
          <p:spPr bwMode="auto">
            <a:xfrm>
              <a:off x="1008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  <p:sp>
          <p:nvSpPr>
            <p:cNvPr id="231434" name="Rectangle 9"/>
            <p:cNvSpPr>
              <a:spLocks noChangeArrowheads="1"/>
            </p:cNvSpPr>
            <p:nvPr/>
          </p:nvSpPr>
          <p:spPr bwMode="auto">
            <a:xfrm>
              <a:off x="1440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  <p:sp>
          <p:nvSpPr>
            <p:cNvPr id="231435" name="Rectangle 10"/>
            <p:cNvSpPr>
              <a:spLocks noChangeArrowheads="1"/>
            </p:cNvSpPr>
            <p:nvPr/>
          </p:nvSpPr>
          <p:spPr bwMode="auto">
            <a:xfrm>
              <a:off x="1872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01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31436" name="Rectangle 11"/>
            <p:cNvSpPr>
              <a:spLocks noChangeArrowheads="1"/>
            </p:cNvSpPr>
            <p:nvPr/>
          </p:nvSpPr>
          <p:spPr bwMode="auto">
            <a:xfrm>
              <a:off x="2304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23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31437" name="Rectangle 12"/>
            <p:cNvSpPr>
              <a:spLocks noChangeArrowheads="1"/>
            </p:cNvSpPr>
            <p:nvPr/>
          </p:nvSpPr>
          <p:spPr bwMode="auto">
            <a:xfrm>
              <a:off x="2736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45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31438" name="Rectangle 13"/>
            <p:cNvSpPr>
              <a:spLocks noChangeArrowheads="1"/>
            </p:cNvSpPr>
            <p:nvPr/>
          </p:nvSpPr>
          <p:spPr bwMode="auto">
            <a:xfrm>
              <a:off x="3168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67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31439" name="Rectangle 14"/>
            <p:cNvSpPr>
              <a:spLocks noChangeArrowheads="1"/>
            </p:cNvSpPr>
            <p:nvPr/>
          </p:nvSpPr>
          <p:spPr bwMode="auto">
            <a:xfrm>
              <a:off x="3600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  <p:sp>
          <p:nvSpPr>
            <p:cNvPr id="231440" name="Rectangle 15"/>
            <p:cNvSpPr>
              <a:spLocks noChangeArrowheads="1"/>
            </p:cNvSpPr>
            <p:nvPr/>
          </p:nvSpPr>
          <p:spPr bwMode="auto">
            <a:xfrm>
              <a:off x="4032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</p:grpSp>
      <p:grpSp>
        <p:nvGrpSpPr>
          <p:cNvPr id="17" name="Group 3"/>
          <p:cNvGrpSpPr/>
          <p:nvPr/>
        </p:nvGrpSpPr>
        <p:grpSpPr bwMode="auto">
          <a:xfrm>
            <a:off x="609600" y="3906253"/>
            <a:ext cx="7772400" cy="2113547"/>
            <a:chOff x="1008" y="3024"/>
            <a:chExt cx="3456" cy="384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872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0x100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2304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0x101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736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0x102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3168" y="3024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0x103</a:t>
              </a:r>
              <a:endParaRPr lang="en-US" altLang="zh-CN" sz="2000">
                <a:latin typeface="Courier New" panose="02070309020205020404" pitchFamily="49" charset="0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1008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1440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872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67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2304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45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736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23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3168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Courier New" panose="02070309020205020404" pitchFamily="49" charset="0"/>
                </a:rPr>
                <a:t>01</a:t>
              </a:r>
              <a:endParaRPr lang="en-US" altLang="zh-CN">
                <a:latin typeface="Courier New" panose="02070309020205020404" pitchFamily="49" charset="0"/>
              </a:endParaRPr>
            </a:p>
          </p:txBody>
        </p: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>
              <a:off x="3600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4032" y="3216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latin typeface="Courier New" panose="02070309020205020404" pitchFamily="49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609600" y="210499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ea typeface="宋体" panose="02010600030101010101" pitchFamily="2" charset="-122"/>
              </a:rPr>
              <a:t>Big Endian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52149" y="423959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Little</a:t>
            </a:r>
            <a:r>
              <a:rPr lang="en-US" altLang="zh-CN">
                <a:ea typeface="宋体" panose="02010600030101010101" pitchFamily="2" charset="-122"/>
              </a:rPr>
              <a:t> Endian</a:t>
            </a:r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DDF9D3-4FEB-423B-8722-C3A645A3607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4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Byte Ordering Becomes Visible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8768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Circumvent the normal type system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Casting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Reference an object according to a different data type from which it was created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Strongly discouraged for most application programming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Quite useful and even necessary for system-level programming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Disassembler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80483bd: 01 05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64 94 04 08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-&gt;add %eax, 0x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8049464</a:t>
            </a:r>
            <a:endParaRPr lang="en-US" altLang="zh-CN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Communicate between different machines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FC62E4-73D7-447F-BBF7-C2221618B74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5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How to Access an Object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actual machine-level program generated by C compiler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simply treats each program object as a block of bytes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The value of a pointer in C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is the virtual address of the first byte of the above block of storage</a:t>
            </a:r>
            <a:endParaRPr lang="en-US" altLang="zh-CN" sz="720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04290C-FC24-497C-8FFE-96C2733F5E5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7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How to Access an Object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C compiler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Associates </a:t>
            </a:r>
            <a:r>
              <a:rPr lang="en-US" altLang="zh-CN" i="1">
                <a:ea typeface="宋体" panose="02010600030101010101" pitchFamily="2" charset="-122"/>
              </a:rPr>
              <a:t>type </a:t>
            </a:r>
            <a:r>
              <a:rPr lang="en-US" altLang="zh-CN">
                <a:ea typeface="宋体" panose="02010600030101010101" pitchFamily="2" charset="-122"/>
              </a:rPr>
              <a:t>information with each pointer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Generates different machine-level code to access the pointed value 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stored at the location designated by the pointer depending on the </a:t>
            </a:r>
            <a:r>
              <a:rPr lang="en-US" altLang="zh-CN" sz="2400" i="1">
                <a:ea typeface="宋体" panose="02010600030101010101" pitchFamily="2" charset="-122"/>
              </a:rPr>
              <a:t>type</a:t>
            </a:r>
            <a:r>
              <a:rPr lang="en-US" altLang="zh-CN" sz="2400">
                <a:ea typeface="宋体" panose="02010600030101010101" pitchFamily="2" charset="-122"/>
              </a:rPr>
              <a:t> of that value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The actual machine-level program generated by C compiler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has no information about data </a:t>
            </a:r>
            <a:r>
              <a:rPr lang="en-US" altLang="zh-CN" i="1">
                <a:ea typeface="宋体" panose="02010600030101010101" pitchFamily="2" charset="-122"/>
              </a:rPr>
              <a:t>types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56C92C-2629-4DAA-B923-CFCC6F82057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9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to Print Byte Representation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001000" cy="47244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unsigned char *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byte_pointer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show_bytes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byte_pointer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start, int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for (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	   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("0x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\t0x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%.2x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\n",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 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start+i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start[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printf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("\n");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7689C2-4173-4CE1-B7D1-86D77AF5059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1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to Print Byte Representation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001000" cy="4724400"/>
          </a:xfrm>
        </p:spPr>
        <p:txBody>
          <a:bodyPr/>
          <a:lstStyle/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show_int(int x) {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show_bytes((byte_pointer) &amp;x, sizeof(int));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show_float(float x) {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show_bytes((byte_pointer) &amp;x, sizeof(float));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show_pointer(void *x) {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show_bytes((byte_pointer) &amp;x, sizeof(void *));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A456CE-A833-47FD-A8EA-5ABC4725699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3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Features in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7244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typedef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Giving a name of type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Syntax is exactly like that of declaring a variable 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printf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Format string: %d, %c, %x, %f, %p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sizeof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sizeof(T) returns the number of bytes required to store an object of type T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One step toward writing code that is portable across different machine types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30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780FC5-7437-4ED6-81AD-B9CF05EFDB7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5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Features in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724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Pointers and arrays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start is declared as a pointer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It is referenced as an array start[i] 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Pointer creation and dereferencing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Address of operator &amp;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&amp;x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Type casting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en-US" altLang="zh-CN">
                <a:ea typeface="宋体" panose="02010600030101010101" pitchFamily="2" charset="-122"/>
              </a:rPr>
              <a:t>(byte_pointer) &amp;x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FFB8E4-1C23-49E0-85AA-5046C48A3C5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7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to Print Byte Representation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001000" cy="4724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test_show_bytes(int val) {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ival = val;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float fval = (float) ival;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*pval = &amp;ival;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show_int(ival);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show_float(fval);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show_pointer(pval);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188D5B-B409-4744-8981-6CEBB508F96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9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4572000"/>
          </a:xfrm>
        </p:spPr>
        <p:txBody>
          <a:bodyPr/>
          <a:lstStyle/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 32: 	Intel IA32 processor running Linux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Windows: 	Intel IA32 processor running Windows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Sun: 	Sun Microsystems SPARC processor running Solaris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sv-SE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 64: 	Intel x86-64 processor running Linux</a:t>
            </a:r>
            <a:endParaRPr lang="sv-SE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sv-SE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With argument 12345 which is 0x3039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DF01B2-C744-4D57-89FE-75A2A7257E8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1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4572000"/>
          </a:xfrm>
        </p:spPr>
        <p:txBody>
          <a:bodyPr/>
          <a:lstStyle/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 32: 	Intel IA32 processor running Linux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Windows: 	Intel IA32 processor running Windows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Sun: 	Sun Microsystems SPARC processor running Solaris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sv-SE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 64: 	Intel x86-64 processor running Linux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5190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61988"/>
            <a:ext cx="8915400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D2DDFD-9C42-42FB-89B1-15463F76AE3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304800" y="1524000"/>
            <a:ext cx="8458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int sum(int x, int y) {</a:t>
            </a:r>
            <a:endParaRPr lang="fr-FR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	return x + y;</a:t>
            </a:r>
            <a:endParaRPr lang="en-US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Linux 32: 	55 89 e5 8b 45 0c 03 45 08 c9 c3</a:t>
            </a:r>
            <a:endParaRPr lang="pt-BR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	55 89 e5 8b 45 0c 03 45 08 5d c3</a:t>
            </a:r>
            <a:endParaRPr lang="en-US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it-IT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Sun: 		81 c3 e0 08 90 02 00 09</a:t>
            </a:r>
            <a:endParaRPr lang="it-IT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panose="02020603050405020304" pitchFamily="18" charset="0"/>
                <a:cs typeface="Times New Roman" panose="02020603050405020304" pitchFamily="18" charset="0"/>
              </a:rPr>
              <a:t>Linux 64: 	55 48 89 e5 89 7d fc 89 75 f8 03 45 fc c9 c3</a:t>
            </a:r>
            <a:endParaRPr lang="en-US" altLang="zh-C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2443" name="Rectangle 27"/>
          <p:cNvSpPr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zh-CN" sz="2800" dirty="0">
                <a:solidFill>
                  <a:schemeClr val="tx2"/>
                </a:solidFill>
                <a:latin typeface="+mj-lt"/>
                <a:cs typeface="+mj-cs"/>
              </a:rPr>
              <a:t>Representing Codes</a:t>
            </a:r>
            <a:endParaRPr lang="en-US" altLang="zh-CN" sz="2800" dirty="0">
              <a:solidFill>
                <a:schemeClr val="tx2"/>
              </a:solidFill>
              <a:latin typeface="+mj-lt"/>
              <a:cs typeface="+mj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316F33-4788-4BDA-A722-DE1119D7EC2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7027" name="Rectangle 2"/>
          <p:cNvSpPr>
            <a:spLocks noChangeArrowheads="1"/>
          </p:cNvSpPr>
          <p:nvPr/>
        </p:nvSpPr>
        <p:spPr bwMode="auto">
          <a:xfrm>
            <a:off x="5181600" y="1524000"/>
            <a:ext cx="419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char S[6] = "12345";</a:t>
            </a:r>
            <a:endParaRPr lang="en-US" altLang="zh-CN" sz="2000">
              <a:latin typeface="Courier New" panose="02070309020205020404" pitchFamily="49" charset="0"/>
            </a:endParaRPr>
          </a:p>
        </p:txBody>
      </p:sp>
      <p:sp>
        <p:nvSpPr>
          <p:cNvPr id="547844" name="Rectangle 4"/>
          <p:cNvSpPr>
            <a:spLocks noChangeArrowheads="1"/>
          </p:cNvSpPr>
          <p:nvPr/>
        </p:nvSpPr>
        <p:spPr bwMode="auto">
          <a:xfrm>
            <a:off x="228600" y="1600200"/>
            <a:ext cx="5562600" cy="44958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800" b="0" dirty="0">
                <a:latin typeface="+mn-lt"/>
              </a:rPr>
              <a:t>Strings in C</a:t>
            </a:r>
            <a:endParaRPr lang="en-US" altLang="zh-CN" sz="2800" b="0" dirty="0">
              <a:latin typeface="+mn-lt"/>
            </a:endParaRPr>
          </a:p>
          <a:p>
            <a:pPr marL="742950" lvl="1" indent="-285750"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Represented by array of characters</a:t>
            </a:r>
            <a:endParaRPr lang="en-US" altLang="zh-CN" sz="2400" b="0" dirty="0">
              <a:latin typeface="+mn-lt"/>
            </a:endParaRPr>
          </a:p>
          <a:p>
            <a:pPr marL="742950" lvl="1" indent="-285750"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Each character encoded in ASCII format</a:t>
            </a:r>
            <a:endParaRPr lang="en-US" altLang="zh-CN" sz="2400" b="0" dirty="0">
              <a:latin typeface="+mn-lt"/>
            </a:endParaRPr>
          </a:p>
          <a:p>
            <a:pPr marL="742950" lvl="1" indent="-285750"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String should be null-terminated Final character = 0</a:t>
            </a:r>
            <a:endParaRPr lang="en-US" altLang="zh-CN" sz="2400" b="0" dirty="0">
              <a:latin typeface="+mn-lt"/>
            </a:endParaRPr>
          </a:p>
          <a:p>
            <a:pPr marL="742950" lvl="1" indent="-285750"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\a \b \f \n \r \t \v</a:t>
            </a:r>
            <a:endParaRPr lang="en-US" altLang="zh-CN" sz="2400" b="0" dirty="0">
              <a:latin typeface="+mn-lt"/>
            </a:endParaRPr>
          </a:p>
          <a:p>
            <a:pPr marL="742950" lvl="1" indent="-285750"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\\ \? \’ \” \000 \</a:t>
            </a:r>
            <a:r>
              <a:rPr lang="en-US" altLang="zh-CN" sz="2400" b="0" dirty="0" err="1">
                <a:latin typeface="+mn-lt"/>
              </a:rPr>
              <a:t>xhh</a:t>
            </a:r>
            <a:endParaRPr lang="en-US" altLang="zh-CN" sz="2400" b="0" dirty="0">
              <a:latin typeface="+mn-lt"/>
            </a:endParaRPr>
          </a:p>
        </p:txBody>
      </p:sp>
      <p:grpSp>
        <p:nvGrpSpPr>
          <p:cNvPr id="257029" name="Group 5"/>
          <p:cNvGrpSpPr/>
          <p:nvPr/>
        </p:nvGrpSpPr>
        <p:grpSpPr bwMode="auto">
          <a:xfrm>
            <a:off x="5932488" y="2133600"/>
            <a:ext cx="2449512" cy="2286000"/>
            <a:chOff x="3833" y="1968"/>
            <a:chExt cx="1543" cy="1440"/>
          </a:xfrm>
        </p:grpSpPr>
        <p:sp>
          <p:nvSpPr>
            <p:cNvPr id="257031" name="Text Box 6"/>
            <p:cNvSpPr txBox="1">
              <a:spLocks noChangeArrowheads="1"/>
            </p:cNvSpPr>
            <p:nvPr/>
          </p:nvSpPr>
          <p:spPr bwMode="auto">
            <a:xfrm>
              <a:off x="3833" y="1968"/>
              <a:ext cx="63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Linux </a:t>
              </a:r>
              <a:r>
                <a:rPr lang="en-US" altLang="zh-CN" sz="1800">
                  <a:latin typeface="Courier New" panose="02070309020205020404" pitchFamily="49" charset="0"/>
                </a:rPr>
                <a:t>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57032" name="Text Box 7"/>
            <p:cNvSpPr txBox="1">
              <a:spLocks noChangeArrowheads="1"/>
            </p:cNvSpPr>
            <p:nvPr/>
          </p:nvSpPr>
          <p:spPr bwMode="auto">
            <a:xfrm>
              <a:off x="4858" y="1968"/>
              <a:ext cx="5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Sun </a:t>
              </a:r>
              <a:r>
                <a:rPr lang="en-US" altLang="zh-CN" sz="1800">
                  <a:latin typeface="Courier New" panose="02070309020205020404" pitchFamily="49" charset="0"/>
                </a:rPr>
                <a:t>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57033" name="Line 8"/>
            <p:cNvSpPr>
              <a:spLocks noChangeShapeType="1"/>
            </p:cNvSpPr>
            <p:nvPr/>
          </p:nvSpPr>
          <p:spPr bwMode="auto">
            <a:xfrm>
              <a:off x="4368" y="235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7034" name="Group 9"/>
            <p:cNvGrpSpPr/>
            <p:nvPr/>
          </p:nvGrpSpPr>
          <p:grpSpPr bwMode="auto">
            <a:xfrm>
              <a:off x="4944" y="2256"/>
              <a:ext cx="384" cy="1152"/>
              <a:chOff x="4896" y="2256"/>
              <a:chExt cx="384" cy="1152"/>
            </a:xfrm>
          </p:grpSpPr>
          <p:sp>
            <p:nvSpPr>
              <p:cNvPr id="257047" name="Rectangle 10"/>
              <p:cNvSpPr>
                <a:spLocks noChangeArrowheads="1"/>
              </p:cNvSpPr>
              <p:nvPr/>
            </p:nvSpPr>
            <p:spPr bwMode="auto">
              <a:xfrm>
                <a:off x="4896" y="2640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33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8" name="Rectangle 11"/>
              <p:cNvSpPr>
                <a:spLocks noChangeArrowheads="1"/>
              </p:cNvSpPr>
              <p:nvPr/>
            </p:nvSpPr>
            <p:spPr bwMode="auto">
              <a:xfrm>
                <a:off x="4896" y="2832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34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9" name="Rectangle 12"/>
              <p:cNvSpPr>
                <a:spLocks noChangeArrowheads="1"/>
              </p:cNvSpPr>
              <p:nvPr/>
            </p:nvSpPr>
            <p:spPr bwMode="auto">
              <a:xfrm>
                <a:off x="4896" y="225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31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50" name="Rectangle 13"/>
              <p:cNvSpPr>
                <a:spLocks noChangeArrowheads="1"/>
              </p:cNvSpPr>
              <p:nvPr/>
            </p:nvSpPr>
            <p:spPr bwMode="auto">
              <a:xfrm>
                <a:off x="4896" y="2448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32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51" name="Rectangle 14"/>
              <p:cNvSpPr>
                <a:spLocks noChangeArrowheads="1"/>
              </p:cNvSpPr>
              <p:nvPr/>
            </p:nvSpPr>
            <p:spPr bwMode="auto">
              <a:xfrm>
                <a:off x="4896" y="3024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35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52" name="Rectangle 15"/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00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57035" name="Group 16"/>
            <p:cNvGrpSpPr/>
            <p:nvPr/>
          </p:nvGrpSpPr>
          <p:grpSpPr bwMode="auto">
            <a:xfrm>
              <a:off x="3984" y="2256"/>
              <a:ext cx="384" cy="1152"/>
              <a:chOff x="4896" y="2256"/>
              <a:chExt cx="384" cy="1152"/>
            </a:xfrm>
          </p:grpSpPr>
          <p:sp>
            <p:nvSpPr>
              <p:cNvPr id="257041" name="Rectangle 17"/>
              <p:cNvSpPr>
                <a:spLocks noChangeArrowheads="1"/>
              </p:cNvSpPr>
              <p:nvPr/>
            </p:nvSpPr>
            <p:spPr bwMode="auto">
              <a:xfrm>
                <a:off x="4896" y="2640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33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2" name="Rectangle 18"/>
              <p:cNvSpPr>
                <a:spLocks noChangeArrowheads="1"/>
              </p:cNvSpPr>
              <p:nvPr/>
            </p:nvSpPr>
            <p:spPr bwMode="auto">
              <a:xfrm>
                <a:off x="4896" y="2832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34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3" name="Rectangle 19"/>
              <p:cNvSpPr>
                <a:spLocks noChangeArrowheads="1"/>
              </p:cNvSpPr>
              <p:nvPr/>
            </p:nvSpPr>
            <p:spPr bwMode="auto">
              <a:xfrm>
                <a:off x="4896" y="225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31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4" name="Rectangle 20"/>
              <p:cNvSpPr>
                <a:spLocks noChangeArrowheads="1"/>
              </p:cNvSpPr>
              <p:nvPr/>
            </p:nvSpPr>
            <p:spPr bwMode="auto">
              <a:xfrm>
                <a:off x="4896" y="2448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32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5" name="Rectangle 21"/>
              <p:cNvSpPr>
                <a:spLocks noChangeArrowheads="1"/>
              </p:cNvSpPr>
              <p:nvPr/>
            </p:nvSpPr>
            <p:spPr bwMode="auto">
              <a:xfrm>
                <a:off x="4896" y="3024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35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7046" name="Rectangle 22"/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00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257036" name="Line 23"/>
            <p:cNvSpPr>
              <a:spLocks noChangeShapeType="1"/>
            </p:cNvSpPr>
            <p:nvPr/>
          </p:nvSpPr>
          <p:spPr bwMode="auto">
            <a:xfrm>
              <a:off x="4368" y="254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37" name="Line 24"/>
            <p:cNvSpPr>
              <a:spLocks noChangeShapeType="1"/>
            </p:cNvSpPr>
            <p:nvPr/>
          </p:nvSpPr>
          <p:spPr bwMode="auto">
            <a:xfrm>
              <a:off x="4368" y="2736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38" name="Line 25"/>
            <p:cNvSpPr>
              <a:spLocks noChangeShapeType="1"/>
            </p:cNvSpPr>
            <p:nvPr/>
          </p:nvSpPr>
          <p:spPr bwMode="auto">
            <a:xfrm>
              <a:off x="4368" y="292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39" name="Line 26"/>
            <p:cNvSpPr>
              <a:spLocks noChangeShapeType="1"/>
            </p:cNvSpPr>
            <p:nvPr/>
          </p:nvSpPr>
          <p:spPr bwMode="auto">
            <a:xfrm>
              <a:off x="4368" y="31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40" name="Line 27"/>
            <p:cNvSpPr>
              <a:spLocks noChangeShapeType="1"/>
            </p:cNvSpPr>
            <p:nvPr/>
          </p:nvSpPr>
          <p:spPr bwMode="auto">
            <a:xfrm>
              <a:off x="4368" y="331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7030" name="Rectangle 28"/>
          <p:cNvSpPr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>
                <a:solidFill>
                  <a:schemeClr val="tx2"/>
                </a:solidFill>
              </a:rPr>
              <a:t>Representing Strings</a:t>
            </a:r>
            <a:endParaRPr kumimoji="1" lang="en-US" alt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55D059-809D-4F0C-9ECD-15DF7B2ECC6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8051" name="Rectangle 2"/>
          <p:cNvSpPr>
            <a:spLocks noChangeArrowheads="1"/>
          </p:cNvSpPr>
          <p:nvPr/>
        </p:nvSpPr>
        <p:spPr bwMode="auto">
          <a:xfrm>
            <a:off x="5181600" y="1524000"/>
            <a:ext cx="419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char S[6] = "12345";</a:t>
            </a:r>
            <a:endParaRPr lang="en-US" altLang="zh-CN" sz="2000">
              <a:latin typeface="Courier New" panose="02070309020205020404" pitchFamily="49" charset="0"/>
            </a:endParaRPr>
          </a:p>
        </p:txBody>
      </p:sp>
      <p:sp>
        <p:nvSpPr>
          <p:cNvPr id="572419" name="Rectangle 3"/>
          <p:cNvSpPr>
            <a:spLocks noChangeArrowheads="1"/>
          </p:cNvSpPr>
          <p:nvPr/>
        </p:nvSpPr>
        <p:spPr bwMode="auto">
          <a:xfrm>
            <a:off x="228600" y="1524000"/>
            <a:ext cx="5791200" cy="44958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800" b="0" dirty="0">
                <a:latin typeface="+mn-lt"/>
              </a:rPr>
              <a:t>Compatibility</a:t>
            </a:r>
            <a:endParaRPr lang="en-US" altLang="zh-CN" sz="2800" b="0" dirty="0">
              <a:latin typeface="+mn-lt"/>
            </a:endParaRPr>
          </a:p>
          <a:p>
            <a:pPr marL="742950" lvl="1" indent="-285750">
              <a:lnSpc>
                <a:spcPct val="120000"/>
              </a:lnSpc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Byte ordering not an issue </a:t>
            </a:r>
            <a:endParaRPr lang="en-US" altLang="zh-CN" sz="2400" b="0" dirty="0">
              <a:latin typeface="+mn-lt"/>
            </a:endParaRPr>
          </a:p>
          <a:p>
            <a:pPr marL="1200150" lvl="2" indent="-285750">
              <a:lnSpc>
                <a:spcPct val="120000"/>
              </a:lnSpc>
              <a:defRPr/>
            </a:pPr>
            <a:r>
              <a:rPr lang="en-US" altLang="zh-CN" sz="2400" b="0" dirty="0">
                <a:latin typeface="+mn-lt"/>
              </a:rPr>
              <a:t>Data are single byte quantities</a:t>
            </a:r>
            <a:endParaRPr lang="en-US" altLang="zh-CN" sz="2400" b="0" dirty="0">
              <a:latin typeface="+mn-lt"/>
            </a:endParaRPr>
          </a:p>
          <a:p>
            <a:pPr marL="742950" lvl="1" indent="-285750">
              <a:lnSpc>
                <a:spcPct val="120000"/>
              </a:lnSpc>
              <a:buFontTx/>
              <a:buChar char="–"/>
              <a:defRPr/>
            </a:pPr>
            <a:r>
              <a:rPr lang="en-US" altLang="zh-CN" sz="2400" b="0" dirty="0">
                <a:latin typeface="+mn-lt"/>
              </a:rPr>
              <a:t>Text files generally platform independent</a:t>
            </a:r>
            <a:endParaRPr lang="en-US" altLang="zh-CN" sz="2400" b="0" dirty="0">
              <a:latin typeface="+mn-lt"/>
            </a:endParaRPr>
          </a:p>
          <a:p>
            <a:pPr marL="1143000" lvl="2" indent="-228600">
              <a:lnSpc>
                <a:spcPct val="120000"/>
              </a:lnSpc>
              <a:defRPr/>
            </a:pPr>
            <a:r>
              <a:rPr lang="en-US" altLang="zh-CN" sz="2400" b="0" dirty="0">
                <a:latin typeface="+mn-lt"/>
              </a:rPr>
              <a:t>Except </a:t>
            </a:r>
            <a:r>
              <a:rPr lang="en-US" altLang="zh-CN" sz="2400" b="0">
                <a:latin typeface="+mn-lt"/>
              </a:rPr>
              <a:t>for different</a:t>
            </a:r>
            <a:endParaRPr lang="en-US" altLang="zh-CN" sz="2400" b="0">
              <a:latin typeface="+mn-lt"/>
            </a:endParaRPr>
          </a:p>
          <a:p>
            <a:pPr marL="1143000" lvl="2" indent="-228600">
              <a:lnSpc>
                <a:spcPct val="120000"/>
              </a:lnSpc>
              <a:defRPr/>
            </a:pPr>
            <a:r>
              <a:rPr lang="en-US" altLang="zh-CN" sz="2400" b="0">
                <a:latin typeface="+mn-lt"/>
              </a:rPr>
              <a:t>conventions </a:t>
            </a:r>
            <a:r>
              <a:rPr lang="en-US" altLang="zh-CN" sz="2400" b="0" dirty="0">
                <a:latin typeface="+mn-lt"/>
              </a:rPr>
              <a:t>of </a:t>
            </a:r>
            <a:r>
              <a:rPr lang="en-US" altLang="zh-CN" sz="2400" b="0">
                <a:latin typeface="+mn-lt"/>
              </a:rPr>
              <a:t>line termination</a:t>
            </a:r>
            <a:endParaRPr lang="en-US" altLang="zh-CN" sz="2400" b="0">
              <a:latin typeface="+mn-lt"/>
            </a:endParaRPr>
          </a:p>
          <a:p>
            <a:pPr marL="1143000" lvl="2" indent="-228600">
              <a:lnSpc>
                <a:spcPct val="120000"/>
              </a:lnSpc>
              <a:defRPr/>
            </a:pPr>
            <a:r>
              <a:rPr lang="en-US" altLang="zh-CN" sz="2400" b="0">
                <a:latin typeface="+mn-lt"/>
              </a:rPr>
              <a:t>character</a:t>
            </a:r>
            <a:r>
              <a:rPr lang="en-US" altLang="zh-CN" b="0" dirty="0">
                <a:latin typeface="+mn-lt"/>
              </a:rPr>
              <a:t>!</a:t>
            </a:r>
            <a:endParaRPr lang="en-US" altLang="zh-CN" b="0" dirty="0">
              <a:latin typeface="+mn-lt"/>
            </a:endParaRPr>
          </a:p>
        </p:txBody>
      </p:sp>
      <p:grpSp>
        <p:nvGrpSpPr>
          <p:cNvPr id="258053" name="Group 4"/>
          <p:cNvGrpSpPr/>
          <p:nvPr/>
        </p:nvGrpSpPr>
        <p:grpSpPr bwMode="auto">
          <a:xfrm>
            <a:off x="6008688" y="2133600"/>
            <a:ext cx="2373312" cy="2286000"/>
            <a:chOff x="3881" y="1968"/>
            <a:chExt cx="1495" cy="1440"/>
          </a:xfrm>
        </p:grpSpPr>
        <p:sp>
          <p:nvSpPr>
            <p:cNvPr id="258055" name="Text Box 5"/>
            <p:cNvSpPr txBox="1">
              <a:spLocks noChangeArrowheads="1"/>
            </p:cNvSpPr>
            <p:nvPr/>
          </p:nvSpPr>
          <p:spPr bwMode="auto">
            <a:xfrm>
              <a:off x="3881" y="1968"/>
              <a:ext cx="63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Linux </a:t>
              </a:r>
              <a:r>
                <a:rPr lang="en-US" altLang="zh-CN" sz="1800">
                  <a:latin typeface="Courier New" panose="02070309020205020404" pitchFamily="49" charset="0"/>
                </a:rPr>
                <a:t>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58056" name="Text Box 6"/>
            <p:cNvSpPr txBox="1">
              <a:spLocks noChangeArrowheads="1"/>
            </p:cNvSpPr>
            <p:nvPr/>
          </p:nvSpPr>
          <p:spPr bwMode="auto">
            <a:xfrm>
              <a:off x="4858" y="1968"/>
              <a:ext cx="5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Sun </a:t>
              </a:r>
              <a:r>
                <a:rPr lang="en-US" altLang="zh-CN" sz="1800">
                  <a:latin typeface="Courier New" panose="02070309020205020404" pitchFamily="49" charset="0"/>
                </a:rPr>
                <a:t>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58057" name="Line 7"/>
            <p:cNvSpPr>
              <a:spLocks noChangeShapeType="1"/>
            </p:cNvSpPr>
            <p:nvPr/>
          </p:nvSpPr>
          <p:spPr bwMode="auto">
            <a:xfrm>
              <a:off x="4368" y="235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8058" name="Group 8"/>
            <p:cNvGrpSpPr/>
            <p:nvPr/>
          </p:nvGrpSpPr>
          <p:grpSpPr bwMode="auto">
            <a:xfrm>
              <a:off x="4944" y="2256"/>
              <a:ext cx="384" cy="1152"/>
              <a:chOff x="4896" y="2256"/>
              <a:chExt cx="384" cy="1152"/>
            </a:xfrm>
          </p:grpSpPr>
          <p:sp>
            <p:nvSpPr>
              <p:cNvPr id="258071" name="Rectangle 9"/>
              <p:cNvSpPr>
                <a:spLocks noChangeArrowheads="1"/>
              </p:cNvSpPr>
              <p:nvPr/>
            </p:nvSpPr>
            <p:spPr bwMode="auto">
              <a:xfrm>
                <a:off x="4896" y="2640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33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72" name="Rectangle 10"/>
              <p:cNvSpPr>
                <a:spLocks noChangeArrowheads="1"/>
              </p:cNvSpPr>
              <p:nvPr/>
            </p:nvSpPr>
            <p:spPr bwMode="auto">
              <a:xfrm>
                <a:off x="4896" y="2832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34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73" name="Rectangle 11"/>
              <p:cNvSpPr>
                <a:spLocks noChangeArrowheads="1"/>
              </p:cNvSpPr>
              <p:nvPr/>
            </p:nvSpPr>
            <p:spPr bwMode="auto">
              <a:xfrm>
                <a:off x="4896" y="225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31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74" name="Rectangle 12"/>
              <p:cNvSpPr>
                <a:spLocks noChangeArrowheads="1"/>
              </p:cNvSpPr>
              <p:nvPr/>
            </p:nvSpPr>
            <p:spPr bwMode="auto">
              <a:xfrm>
                <a:off x="4896" y="2448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32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75" name="Rectangle 13"/>
              <p:cNvSpPr>
                <a:spLocks noChangeArrowheads="1"/>
              </p:cNvSpPr>
              <p:nvPr/>
            </p:nvSpPr>
            <p:spPr bwMode="auto">
              <a:xfrm>
                <a:off x="4896" y="3024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35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76" name="Rectangle 14"/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00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58059" name="Group 15"/>
            <p:cNvGrpSpPr/>
            <p:nvPr/>
          </p:nvGrpSpPr>
          <p:grpSpPr bwMode="auto">
            <a:xfrm>
              <a:off x="3984" y="2256"/>
              <a:ext cx="384" cy="1152"/>
              <a:chOff x="4896" y="2256"/>
              <a:chExt cx="384" cy="1152"/>
            </a:xfrm>
          </p:grpSpPr>
          <p:sp>
            <p:nvSpPr>
              <p:cNvPr id="258065" name="Rectangle 16"/>
              <p:cNvSpPr>
                <a:spLocks noChangeArrowheads="1"/>
              </p:cNvSpPr>
              <p:nvPr/>
            </p:nvSpPr>
            <p:spPr bwMode="auto">
              <a:xfrm>
                <a:off x="4896" y="2640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33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66" name="Rectangle 17"/>
              <p:cNvSpPr>
                <a:spLocks noChangeArrowheads="1"/>
              </p:cNvSpPr>
              <p:nvPr/>
            </p:nvSpPr>
            <p:spPr bwMode="auto">
              <a:xfrm>
                <a:off x="4896" y="2832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34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67" name="Rectangle 18"/>
              <p:cNvSpPr>
                <a:spLocks noChangeArrowheads="1"/>
              </p:cNvSpPr>
              <p:nvPr/>
            </p:nvSpPr>
            <p:spPr bwMode="auto">
              <a:xfrm>
                <a:off x="4896" y="225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31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68" name="Rectangle 19"/>
              <p:cNvSpPr>
                <a:spLocks noChangeArrowheads="1"/>
              </p:cNvSpPr>
              <p:nvPr/>
            </p:nvSpPr>
            <p:spPr bwMode="auto">
              <a:xfrm>
                <a:off x="4896" y="2448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32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69" name="Rectangle 20"/>
              <p:cNvSpPr>
                <a:spLocks noChangeArrowheads="1"/>
              </p:cNvSpPr>
              <p:nvPr/>
            </p:nvSpPr>
            <p:spPr bwMode="auto">
              <a:xfrm>
                <a:off x="4896" y="3024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35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258070" name="Rectangle 21"/>
              <p:cNvSpPr>
                <a:spLocks noChangeArrowheads="1"/>
              </p:cNvSpPr>
              <p:nvPr/>
            </p:nvSpPr>
            <p:spPr bwMode="auto">
              <a:xfrm>
                <a:off x="4896" y="321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panose="02070309020205020404" pitchFamily="49" charset="0"/>
                  </a:rPr>
                  <a:t>00</a:t>
                </a:r>
                <a:endParaRPr lang="en-US" altLang="zh-CN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258060" name="Line 22"/>
            <p:cNvSpPr>
              <a:spLocks noChangeShapeType="1"/>
            </p:cNvSpPr>
            <p:nvPr/>
          </p:nvSpPr>
          <p:spPr bwMode="auto">
            <a:xfrm>
              <a:off x="4368" y="254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61" name="Line 23"/>
            <p:cNvSpPr>
              <a:spLocks noChangeShapeType="1"/>
            </p:cNvSpPr>
            <p:nvPr/>
          </p:nvSpPr>
          <p:spPr bwMode="auto">
            <a:xfrm>
              <a:off x="4368" y="2736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62" name="Line 24"/>
            <p:cNvSpPr>
              <a:spLocks noChangeShapeType="1"/>
            </p:cNvSpPr>
            <p:nvPr/>
          </p:nvSpPr>
          <p:spPr bwMode="auto">
            <a:xfrm>
              <a:off x="4368" y="292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63" name="Line 25"/>
            <p:cNvSpPr>
              <a:spLocks noChangeShapeType="1"/>
            </p:cNvSpPr>
            <p:nvPr/>
          </p:nvSpPr>
          <p:spPr bwMode="auto">
            <a:xfrm>
              <a:off x="4368" y="31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64" name="Line 26"/>
            <p:cNvSpPr>
              <a:spLocks noChangeShapeType="1"/>
            </p:cNvSpPr>
            <p:nvPr/>
          </p:nvSpPr>
          <p:spPr bwMode="auto">
            <a:xfrm>
              <a:off x="4368" y="331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2443" name="Rectangle 27"/>
          <p:cNvSpPr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zh-CN" sz="2800" dirty="0">
                <a:solidFill>
                  <a:schemeClr val="tx2"/>
                </a:solidFill>
                <a:latin typeface="+mj-lt"/>
                <a:cs typeface="+mj-cs"/>
              </a:rPr>
              <a:t>Representing Strings</a:t>
            </a:r>
            <a:endParaRPr lang="en-US" altLang="zh-CN" sz="2800" dirty="0">
              <a:solidFill>
                <a:schemeClr val="tx2"/>
              </a:solidFill>
              <a:latin typeface="+mj-lt"/>
              <a:cs typeface="+mj-c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07357E-C94B-44D3-AB22-AE43BCA07BC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9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Representing Information (2)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EF5112-86D0-4724-9B50-49AF8849FA4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1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Encodings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Unsigned and two’s complement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Suggested reading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Chap 2.2.1 ~ 2.2.3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92859B-A112-4BD0-B35D-7BAFA4121D0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3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Representation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001000" cy="1905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Binary (physical)</a:t>
            </a:r>
            <a:endParaRPr kumimoji="1" lang="zh-CN" altLang="en-US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Bit vector [x</a:t>
            </a:r>
            <a:r>
              <a:rPr kumimoji="1" lang="en-US" altLang="zh-CN" baseline="-25000">
                <a:ea typeface="宋体" panose="02010600030101010101" pitchFamily="2" charset="-122"/>
              </a:rPr>
              <a:t>w-1</a:t>
            </a:r>
            <a:r>
              <a:rPr kumimoji="1" lang="en-US" altLang="zh-CN">
                <a:ea typeface="宋体" panose="02010600030101010101" pitchFamily="2" charset="-122"/>
              </a:rPr>
              <a:t>,x</a:t>
            </a:r>
            <a:r>
              <a:rPr kumimoji="1" lang="en-US" altLang="zh-CN" baseline="-25000">
                <a:ea typeface="宋体" panose="02010600030101010101" pitchFamily="2" charset="-122"/>
              </a:rPr>
              <a:t>w-2</a:t>
            </a:r>
            <a:r>
              <a:rPr kumimoji="1" lang="en-US" altLang="zh-CN">
                <a:ea typeface="宋体" panose="02010600030101010101" pitchFamily="2" charset="-122"/>
              </a:rPr>
              <a:t>,x</a:t>
            </a:r>
            <a:r>
              <a:rPr kumimoji="1" lang="en-US" altLang="zh-CN" baseline="-25000">
                <a:ea typeface="宋体" panose="02010600030101010101" pitchFamily="2" charset="-122"/>
              </a:rPr>
              <a:t>w-3</a:t>
            </a:r>
            <a:r>
              <a:rPr kumimoji="1" lang="en-US" altLang="zh-CN">
                <a:ea typeface="宋体" panose="02010600030101010101" pitchFamily="2" charset="-122"/>
              </a:rPr>
              <a:t>,</a:t>
            </a:r>
            <a:r>
              <a:rPr kumimoji="1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r>
              <a:rPr kumimoji="1" lang="en-US" altLang="zh-CN">
                <a:ea typeface="宋体" panose="02010600030101010101" pitchFamily="2" charset="-122"/>
              </a:rPr>
              <a:t>x</a:t>
            </a:r>
            <a:r>
              <a:rPr kumimoji="1" lang="en-US" altLang="zh-CN" baseline="-25000">
                <a:ea typeface="宋体" panose="02010600030101010101" pitchFamily="2" charset="-122"/>
              </a:rPr>
              <a:t>0</a:t>
            </a:r>
            <a:r>
              <a:rPr kumimoji="1" lang="en-US" altLang="zh-CN">
                <a:ea typeface="宋体" panose="02010600030101010101" pitchFamily="2" charset="-122"/>
              </a:rPr>
              <a:t>]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Binary to Unsigned (logical)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263173" name="Object 2"/>
          <p:cNvGraphicFramePr>
            <a:graphicFrameLocks noChangeAspect="1"/>
          </p:cNvGraphicFramePr>
          <p:nvPr/>
        </p:nvGraphicFramePr>
        <p:xfrm>
          <a:off x="2438400" y="3810000"/>
          <a:ext cx="3352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Microsoft 公式 3.0" r:id="rId1" imgW="2133600" imgH="596900" progId="Equation.3">
                  <p:embed/>
                </p:oleObj>
              </mc:Choice>
              <mc:Fallback>
                <p:oleObj name="Microsoft 公式 3.0" r:id="rId1" imgW="2133600" imgH="596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10000"/>
                        <a:ext cx="3352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8BAAE9-1D7E-4937-A3F2-0BE14B9851B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5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Two’s Complement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572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Binary (physical)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Bit vector [x</a:t>
            </a:r>
            <a:r>
              <a:rPr kumimoji="1" lang="en-US" altLang="zh-CN" baseline="-25000">
                <a:ea typeface="宋体" panose="02010600030101010101" pitchFamily="2" charset="-122"/>
              </a:rPr>
              <a:t>w-1</a:t>
            </a:r>
            <a:r>
              <a:rPr kumimoji="1" lang="en-US" altLang="zh-CN">
                <a:ea typeface="宋体" panose="02010600030101010101" pitchFamily="2" charset="-122"/>
              </a:rPr>
              <a:t>,x</a:t>
            </a:r>
            <a:r>
              <a:rPr kumimoji="1" lang="en-US" altLang="zh-CN" baseline="-25000">
                <a:ea typeface="宋体" panose="02010600030101010101" pitchFamily="2" charset="-122"/>
              </a:rPr>
              <a:t>w-2</a:t>
            </a:r>
            <a:r>
              <a:rPr kumimoji="1" lang="en-US" altLang="zh-CN">
                <a:ea typeface="宋体" panose="02010600030101010101" pitchFamily="2" charset="-122"/>
              </a:rPr>
              <a:t>,x</a:t>
            </a:r>
            <a:r>
              <a:rPr kumimoji="1" lang="en-US" altLang="zh-CN" baseline="-25000">
                <a:ea typeface="宋体" panose="02010600030101010101" pitchFamily="2" charset="-122"/>
              </a:rPr>
              <a:t>w-3</a:t>
            </a:r>
            <a:r>
              <a:rPr kumimoji="1" lang="en-US" altLang="zh-CN">
                <a:ea typeface="宋体" panose="02010600030101010101" pitchFamily="2" charset="-122"/>
              </a:rPr>
              <a:t>,</a:t>
            </a:r>
            <a:r>
              <a:rPr kumimoji="1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r>
              <a:rPr kumimoji="1" lang="en-US" altLang="zh-CN">
                <a:ea typeface="宋体" panose="02010600030101010101" pitchFamily="2" charset="-122"/>
              </a:rPr>
              <a:t>x</a:t>
            </a:r>
            <a:r>
              <a:rPr kumimoji="1" lang="en-US" altLang="zh-CN" baseline="-25000">
                <a:ea typeface="宋体" panose="02010600030101010101" pitchFamily="2" charset="-122"/>
              </a:rPr>
              <a:t>0</a:t>
            </a:r>
            <a:r>
              <a:rPr kumimoji="1" lang="en-US" altLang="zh-CN">
                <a:ea typeface="宋体" panose="02010600030101010101" pitchFamily="2" charset="-122"/>
              </a:rPr>
              <a:t>]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Binary to Signed (logical)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2’s complement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265221" name="Object 2"/>
          <p:cNvGraphicFramePr>
            <a:graphicFrameLocks noChangeAspect="1"/>
          </p:cNvGraphicFramePr>
          <p:nvPr/>
        </p:nvGraphicFramePr>
        <p:xfrm>
          <a:off x="1981200" y="3429000"/>
          <a:ext cx="4800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1" imgW="3340100" imgH="596900" progId="Equation.3">
                  <p:embed/>
                </p:oleObj>
              </mc:Choice>
              <mc:Fallback>
                <p:oleObj name="公式" r:id="rId1" imgW="3340100" imgH="596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4800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2" name="Line 5"/>
          <p:cNvSpPr>
            <a:spLocks noChangeShapeType="1"/>
          </p:cNvSpPr>
          <p:nvPr/>
        </p:nvSpPr>
        <p:spPr bwMode="auto">
          <a:xfrm flipH="1" flipV="1">
            <a:off x="4276725" y="4238625"/>
            <a:ext cx="1066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223" name="Rectangle 6"/>
          <p:cNvSpPr>
            <a:spLocks noChangeArrowheads="1"/>
          </p:cNvSpPr>
          <p:nvPr/>
        </p:nvSpPr>
        <p:spPr bwMode="auto">
          <a:xfrm>
            <a:off x="5343525" y="4543425"/>
            <a:ext cx="676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Sign</a:t>
            </a:r>
            <a:endParaRPr lang="en-US" altLang="zh-CN" sz="1800"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Bit</a:t>
            </a:r>
            <a:endParaRPr lang="en-US" altLang="zh-CN" sz="1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A28E52-B37B-401C-A712-35226AE2E9A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7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From Two’s Complement to Binary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67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3581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If nonnegative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Nothing changes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If negative, its binary representation is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Its value is x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Assume its absolute value is y = -x 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The binary representation of y is 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  <a:buFontTx/>
              <a:buNone/>
            </a:pPr>
            <a:r>
              <a:rPr kumimoji="1" lang="en-US" altLang="zh-CN">
                <a:ea typeface="宋体" panose="02010600030101010101" pitchFamily="2" charset="-122"/>
              </a:rPr>
              <a:t>  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267269" name="Object 2"/>
          <p:cNvGraphicFramePr>
            <a:graphicFrameLocks noChangeAspect="1"/>
          </p:cNvGraphicFramePr>
          <p:nvPr/>
        </p:nvGraphicFramePr>
        <p:xfrm>
          <a:off x="2425700" y="3467100"/>
          <a:ext cx="17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1" imgW="177800" imgH="368300" progId="Equation.3">
                  <p:embed/>
                </p:oleObj>
              </mc:Choice>
              <mc:Fallback>
                <p:oleObj name="Equation" r:id="rId1" imgW="177800" imgH="36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467100"/>
                        <a:ext cx="177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0" name="Object 9"/>
          <p:cNvGraphicFramePr>
            <a:graphicFrameLocks noChangeAspect="1"/>
          </p:cNvGraphicFramePr>
          <p:nvPr/>
        </p:nvGraphicFramePr>
        <p:xfrm>
          <a:off x="1228725" y="3124200"/>
          <a:ext cx="264795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公式" r:id="rId3" imgW="749300" imgH="228600" progId="Equation.3">
                  <p:embed/>
                </p:oleObj>
              </mc:Choice>
              <mc:Fallback>
                <p:oleObj name="公式" r:id="rId3" imgW="7493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124200"/>
                        <a:ext cx="264795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1" name="Object 9"/>
          <p:cNvGraphicFramePr>
            <a:graphicFrameLocks noChangeAspect="1"/>
          </p:cNvGraphicFramePr>
          <p:nvPr/>
        </p:nvGraphicFramePr>
        <p:xfrm>
          <a:off x="1206500" y="5287963"/>
          <a:ext cx="282733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5" imgW="800100" imgH="228600" progId="Equation.3">
                  <p:embed/>
                </p:oleObj>
              </mc:Choice>
              <mc:Fallback>
                <p:oleObj name="Equation" r:id="rId5" imgW="8001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5287963"/>
                        <a:ext cx="2827338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70ADDB-F2B2-4B7F-ABF8-170CFFBA2BA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9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From Two’s Complement to Binary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269316" name="Object 2"/>
          <p:cNvGraphicFramePr>
            <a:graphicFrameLocks noChangeAspect="1"/>
          </p:cNvGraphicFramePr>
          <p:nvPr/>
        </p:nvGraphicFramePr>
        <p:xfrm>
          <a:off x="2425700" y="3467100"/>
          <a:ext cx="17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1" imgW="177800" imgH="368300" progId="Equation.3">
                  <p:embed/>
                </p:oleObj>
              </mc:Choice>
              <mc:Fallback>
                <p:oleObj name="Equation" r:id="rId1" imgW="177800" imgH="36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467100"/>
                        <a:ext cx="177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3"/>
          <p:cNvGraphicFramePr>
            <a:graphicFrameLocks noChangeAspect="1"/>
          </p:cNvGraphicFramePr>
          <p:nvPr/>
        </p:nvGraphicFramePr>
        <p:xfrm>
          <a:off x="596900" y="4419600"/>
          <a:ext cx="64897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3" imgW="2476500" imgH="431800" progId="Equation.3">
                  <p:embed/>
                </p:oleObj>
              </mc:Choice>
              <mc:Fallback>
                <p:oleObj name="Equation" r:id="rId3" imgW="24765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4419600"/>
                        <a:ext cx="64897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8" name="Object 3"/>
          <p:cNvGraphicFramePr>
            <a:graphicFrameLocks noChangeAspect="1"/>
          </p:cNvGraphicFramePr>
          <p:nvPr/>
        </p:nvGraphicFramePr>
        <p:xfrm>
          <a:off x="533400" y="1506538"/>
          <a:ext cx="7750175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公式" r:id="rId5" imgW="2616200" imgH="444500" progId="Equation.3">
                  <p:embed/>
                </p:oleObj>
              </mc:Choice>
              <mc:Fallback>
                <p:oleObj name="公式" r:id="rId5" imgW="26162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06538"/>
                        <a:ext cx="7750175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9" name="Object 3"/>
          <p:cNvGraphicFramePr>
            <a:graphicFrameLocks noChangeAspect="1"/>
          </p:cNvGraphicFramePr>
          <p:nvPr/>
        </p:nvGraphicFramePr>
        <p:xfrm>
          <a:off x="533400" y="2971800"/>
          <a:ext cx="77724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7" imgW="2514600" imgH="431800" progId="Equation.3">
                  <p:embed/>
                </p:oleObj>
              </mc:Choice>
              <mc:Fallback>
                <p:oleObj name="Equation" r:id="rId7" imgW="25146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971800"/>
                        <a:ext cx="77724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2B31E1-ECB5-4A2F-8766-AC0C86BF5CE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1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Two’s Complement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71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2895600"/>
            <a:ext cx="8382000" cy="31242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What does it mean?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Computing the negation of x into binary with w-bits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Complementing the result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Adding 1</a:t>
            </a:r>
            <a:endParaRPr kumimoji="1" lang="en-US" altLang="zh-CN">
              <a:ea typeface="宋体" panose="02010600030101010101" pitchFamily="2" charset="-122"/>
            </a:endParaRPr>
          </a:p>
          <a:p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271365" name="Object 3"/>
          <p:cNvGraphicFramePr>
            <a:graphicFrameLocks noChangeAspect="1"/>
          </p:cNvGraphicFramePr>
          <p:nvPr/>
        </p:nvGraphicFramePr>
        <p:xfrm>
          <a:off x="762000" y="1524000"/>
          <a:ext cx="4891088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1" imgW="1548765" imgH="431800" progId="Equation.3">
                  <p:embed/>
                </p:oleObj>
              </mc:Choice>
              <mc:Fallback>
                <p:oleObj name="Equation" r:id="rId1" imgW="1548765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0"/>
                        <a:ext cx="4891088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E082BF-5035-4F73-8B2C-E79FE2DB206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3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From a Number to Two’s Complement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734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8001000" cy="42672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-5		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5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0101 (binary for 5)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1010  (after complement)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1011 (add 1)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479D59-28F6-4990-90FF-DBD248E8AF6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5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Two’s Complement Encoding Examples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</a:pPr>
            <a:r>
              <a:rPr kumimoji="1" lang="en-US" altLang="zh-CN">
                <a:ea typeface="宋体" panose="02010600030101010101" pitchFamily="2" charset="-122"/>
              </a:rPr>
              <a:t>Binary/Hexadecimal Representation for -12345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	</a:t>
            </a:r>
            <a:r>
              <a:rPr lang="en-US" altLang="zh-CN" sz="2400">
                <a:ea typeface="宋体" panose="02010600030101010101" pitchFamily="2" charset="-122"/>
              </a:rPr>
              <a:t>Binary:  0011 0000 0011 1001 (12345)</a:t>
            </a:r>
            <a:endParaRPr lang="zh-CN" altLang="en-US" sz="240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Hex:  	        3       0      3      9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Binary:  1100 1111 1100 0110 (after complement)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Hex:  	        C     F     C      6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Binary:  1100 1111 1100 0111 (add 1)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		Hex:  	        C     F     C      7</a:t>
            </a:r>
            <a:endParaRPr lang="en-US" altLang="zh-CN" sz="240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66DE71-54A2-4562-8920-F1ABBB55D68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7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Numeric Range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77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Values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Umin=0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Umax=2</a:t>
            </a:r>
            <a:r>
              <a:rPr kumimoji="1" lang="en-US" altLang="zh-CN" baseline="30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-1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endParaRPr kumimoji="1" lang="en-US" altLang="zh-CN" baseline="30000"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Two’s Complement Values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Tmin  = -2</a:t>
            </a:r>
            <a:r>
              <a:rPr kumimoji="1" lang="en-US" altLang="zh-CN" baseline="30000">
                <a:ea typeface="宋体" panose="02010600030101010101" pitchFamily="2" charset="-122"/>
              </a:rPr>
              <a:t>w-1</a:t>
            </a:r>
            <a:endParaRPr kumimoji="1" lang="en-US" altLang="zh-CN" baseline="30000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Tmax = 2</a:t>
            </a:r>
            <a:r>
              <a:rPr kumimoji="1" lang="en-US" altLang="zh-CN" baseline="30000">
                <a:ea typeface="宋体" panose="02010600030101010101" pitchFamily="2" charset="-122"/>
              </a:rPr>
              <a:t>w-1</a:t>
            </a:r>
            <a:r>
              <a:rPr kumimoji="1" lang="en-US" altLang="zh-CN">
                <a:ea typeface="宋体" panose="02010600030101010101" pitchFamily="2" charset="-122"/>
              </a:rPr>
              <a:t>-1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0BD621-F9D3-4DE7-8163-80856F5B555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9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Numeric Range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79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Relationship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|</a:t>
            </a:r>
            <a:r>
              <a:rPr lang="en-US" altLang="zh-CN" i="1">
                <a:solidFill>
                  <a:schemeClr val="tx2"/>
                </a:solidFill>
                <a:ea typeface="宋体" panose="02010600030101010101" pitchFamily="2" charset="-122"/>
              </a:rPr>
              <a:t>TMin</a:t>
            </a: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| = </a:t>
            </a:r>
            <a:r>
              <a:rPr lang="en-US" altLang="zh-CN" i="1">
                <a:solidFill>
                  <a:schemeClr val="tx2"/>
                </a:solidFill>
                <a:ea typeface="宋体" panose="02010600030101010101" pitchFamily="2" charset="-122"/>
              </a:rPr>
              <a:t>TMax</a:t>
            </a: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 + 1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i="1">
                <a:solidFill>
                  <a:schemeClr val="tx2"/>
                </a:solidFill>
                <a:ea typeface="宋体" panose="02010600030101010101" pitchFamily="2" charset="-122"/>
              </a:rPr>
              <a:t>Umax</a:t>
            </a: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 =	 2*</a:t>
            </a:r>
            <a:r>
              <a:rPr lang="en-US" altLang="zh-CN" i="1">
                <a:solidFill>
                  <a:schemeClr val="tx2"/>
                </a:solidFill>
                <a:ea typeface="宋体" panose="02010600030101010101" pitchFamily="2" charset="-122"/>
              </a:rPr>
              <a:t>TMax</a:t>
            </a: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 + 1</a:t>
            </a:r>
            <a:endParaRPr lang="en-US" altLang="zh-CN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-1 has the same bit representation as </a:t>
            </a:r>
            <a:r>
              <a:rPr lang="en-US" altLang="zh-CN" i="1">
                <a:solidFill>
                  <a:schemeClr val="tx2"/>
                </a:solidFill>
                <a:ea typeface="宋体" panose="02010600030101010101" pitchFamily="2" charset="-122"/>
              </a:rPr>
              <a:t>Umax, </a:t>
            </a:r>
            <a:endParaRPr lang="en-US" altLang="zh-CN" i="1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a string of all 1s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Numeric value 0 is represented as 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a string of all 0s in both representations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/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en-US" altLang="zh-CN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1CD95-AE37-4C72-A145-C0CAD06258A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85699" name="Rectangle 2"/>
          <p:cNvSpPr>
            <a:spLocks noChangeArrowheads="1"/>
          </p:cNvSpPr>
          <p:nvPr/>
        </p:nvSpPr>
        <p:spPr bwMode="auto">
          <a:xfrm>
            <a:off x="4529138" y="323850"/>
            <a:ext cx="127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en-US" altLang="zh-CN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5700" name="Rectangle 3"/>
          <p:cNvSpPr>
            <a:spLocks noChangeArrowheads="1"/>
          </p:cNvSpPr>
          <p:nvPr/>
        </p:nvSpPr>
        <p:spPr bwMode="auto">
          <a:xfrm>
            <a:off x="4332288" y="1066800"/>
            <a:ext cx="4506912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/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285701" name="Group 4"/>
          <p:cNvGrpSpPr/>
          <p:nvPr/>
        </p:nvGrpSpPr>
        <p:grpSpPr bwMode="auto">
          <a:xfrm>
            <a:off x="304800" y="152400"/>
            <a:ext cx="8382000" cy="6400800"/>
            <a:chOff x="480" y="768"/>
            <a:chExt cx="1960" cy="3256"/>
          </a:xfrm>
        </p:grpSpPr>
        <p:sp>
          <p:nvSpPr>
            <p:cNvPr id="285702" name="Rectangle 5"/>
            <p:cNvSpPr>
              <a:spLocks noChangeArrowheads="1"/>
            </p:cNvSpPr>
            <p:nvPr/>
          </p:nvSpPr>
          <p:spPr bwMode="auto">
            <a:xfrm>
              <a:off x="480" y="76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Helvetica" panose="020B0604020202020204" pitchFamily="34" charset="0"/>
                </a:rPr>
                <a:t>X</a:t>
              </a:r>
              <a:endParaRPr lang="en-US" altLang="zh-CN" sz="1800" i="1">
                <a:latin typeface="Helvetica" panose="020B0604020202020204" pitchFamily="34" charset="0"/>
              </a:endParaRPr>
            </a:p>
          </p:txBody>
        </p:sp>
        <p:sp>
          <p:nvSpPr>
            <p:cNvPr id="285703" name="Rectangle 6"/>
            <p:cNvSpPr>
              <a:spLocks noChangeArrowheads="1"/>
            </p:cNvSpPr>
            <p:nvPr/>
          </p:nvSpPr>
          <p:spPr bwMode="auto">
            <a:xfrm>
              <a:off x="1824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B2T(</a:t>
              </a:r>
              <a:r>
                <a:rPr lang="en-US" altLang="zh-CN" sz="1800" i="1">
                  <a:latin typeface="Helvetica" panose="020B0604020202020204" pitchFamily="34" charset="0"/>
                </a:rPr>
                <a:t>X</a:t>
              </a:r>
              <a:r>
                <a:rPr lang="en-US" altLang="zh-CN" sz="1800">
                  <a:latin typeface="Helvetica" panose="020B0604020202020204" pitchFamily="34" charset="0"/>
                </a:rPr>
                <a:t>)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85704" name="Rectangle 7"/>
            <p:cNvSpPr>
              <a:spLocks noChangeArrowheads="1"/>
            </p:cNvSpPr>
            <p:nvPr/>
          </p:nvSpPr>
          <p:spPr bwMode="auto">
            <a:xfrm>
              <a:off x="1200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B2U(</a:t>
              </a:r>
              <a:r>
                <a:rPr lang="en-US" altLang="zh-CN" sz="1800" i="1">
                  <a:latin typeface="Helvetica" panose="020B0604020202020204" pitchFamily="34" charset="0"/>
                </a:rPr>
                <a:t>X</a:t>
              </a:r>
              <a:r>
                <a:rPr lang="en-US" altLang="zh-CN" sz="1800">
                  <a:latin typeface="Helvetica" panose="020B0604020202020204" pitchFamily="34" charset="0"/>
                </a:rPr>
                <a:t>)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85705" name="Rectangle 8"/>
            <p:cNvSpPr>
              <a:spLocks noChangeArrowheads="1"/>
            </p:cNvSpPr>
            <p:nvPr/>
          </p:nvSpPr>
          <p:spPr bwMode="auto">
            <a:xfrm>
              <a:off x="480" y="96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0000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06" name="Rectangle 9"/>
            <p:cNvSpPr>
              <a:spLocks noChangeArrowheads="1"/>
            </p:cNvSpPr>
            <p:nvPr/>
          </p:nvSpPr>
          <p:spPr bwMode="auto">
            <a:xfrm>
              <a:off x="1824" y="96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0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07" name="Rectangle 10"/>
            <p:cNvSpPr>
              <a:spLocks noChangeArrowheads="1"/>
            </p:cNvSpPr>
            <p:nvPr/>
          </p:nvSpPr>
          <p:spPr bwMode="auto">
            <a:xfrm>
              <a:off x="480" y="115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0001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08" name="Rectangle 11"/>
            <p:cNvSpPr>
              <a:spLocks noChangeArrowheads="1"/>
            </p:cNvSpPr>
            <p:nvPr/>
          </p:nvSpPr>
          <p:spPr bwMode="auto">
            <a:xfrm>
              <a:off x="1824" y="115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09" name="Rectangle 12"/>
            <p:cNvSpPr>
              <a:spLocks noChangeArrowheads="1"/>
            </p:cNvSpPr>
            <p:nvPr/>
          </p:nvSpPr>
          <p:spPr bwMode="auto">
            <a:xfrm>
              <a:off x="480" y="134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0010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10" name="Rectangle 13"/>
            <p:cNvSpPr>
              <a:spLocks noChangeArrowheads="1"/>
            </p:cNvSpPr>
            <p:nvPr/>
          </p:nvSpPr>
          <p:spPr bwMode="auto">
            <a:xfrm>
              <a:off x="1824" y="134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2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11" name="Rectangle 14"/>
            <p:cNvSpPr>
              <a:spLocks noChangeArrowheads="1"/>
            </p:cNvSpPr>
            <p:nvPr/>
          </p:nvSpPr>
          <p:spPr bwMode="auto">
            <a:xfrm>
              <a:off x="480" y="153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0011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12" name="Rectangle 15"/>
            <p:cNvSpPr>
              <a:spLocks noChangeArrowheads="1"/>
            </p:cNvSpPr>
            <p:nvPr/>
          </p:nvSpPr>
          <p:spPr bwMode="auto">
            <a:xfrm>
              <a:off x="1824" y="1536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3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13" name="Rectangle 16"/>
            <p:cNvSpPr>
              <a:spLocks noChangeArrowheads="1"/>
            </p:cNvSpPr>
            <p:nvPr/>
          </p:nvSpPr>
          <p:spPr bwMode="auto">
            <a:xfrm>
              <a:off x="480" y="172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0100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14" name="Rectangle 17"/>
            <p:cNvSpPr>
              <a:spLocks noChangeArrowheads="1"/>
            </p:cNvSpPr>
            <p:nvPr/>
          </p:nvSpPr>
          <p:spPr bwMode="auto">
            <a:xfrm>
              <a:off x="1824" y="1728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4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15" name="Rectangle 18"/>
            <p:cNvSpPr>
              <a:spLocks noChangeArrowheads="1"/>
            </p:cNvSpPr>
            <p:nvPr/>
          </p:nvSpPr>
          <p:spPr bwMode="auto">
            <a:xfrm>
              <a:off x="480" y="192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0101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16" name="Rectangle 19"/>
            <p:cNvSpPr>
              <a:spLocks noChangeArrowheads="1"/>
            </p:cNvSpPr>
            <p:nvPr/>
          </p:nvSpPr>
          <p:spPr bwMode="auto">
            <a:xfrm>
              <a:off x="1824" y="192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5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17" name="Rectangle 20"/>
            <p:cNvSpPr>
              <a:spLocks noChangeArrowheads="1"/>
            </p:cNvSpPr>
            <p:nvPr/>
          </p:nvSpPr>
          <p:spPr bwMode="auto">
            <a:xfrm>
              <a:off x="480" y="211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0110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18" name="Rectangle 21"/>
            <p:cNvSpPr>
              <a:spLocks noChangeArrowheads="1"/>
            </p:cNvSpPr>
            <p:nvPr/>
          </p:nvSpPr>
          <p:spPr bwMode="auto">
            <a:xfrm>
              <a:off x="1824" y="211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6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19" name="Rectangle 22"/>
            <p:cNvSpPr>
              <a:spLocks noChangeArrowheads="1"/>
            </p:cNvSpPr>
            <p:nvPr/>
          </p:nvSpPr>
          <p:spPr bwMode="auto">
            <a:xfrm>
              <a:off x="480" y="230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0111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20" name="Rectangle 23"/>
            <p:cNvSpPr>
              <a:spLocks noChangeArrowheads="1"/>
            </p:cNvSpPr>
            <p:nvPr/>
          </p:nvSpPr>
          <p:spPr bwMode="auto">
            <a:xfrm>
              <a:off x="1824" y="230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7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1" name="Rectangle 24"/>
            <p:cNvSpPr>
              <a:spLocks noChangeArrowheads="1"/>
            </p:cNvSpPr>
            <p:nvPr/>
          </p:nvSpPr>
          <p:spPr bwMode="auto">
            <a:xfrm>
              <a:off x="1824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–8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2" name="Rectangle 25"/>
            <p:cNvSpPr>
              <a:spLocks noChangeArrowheads="1"/>
            </p:cNvSpPr>
            <p:nvPr/>
          </p:nvSpPr>
          <p:spPr bwMode="auto">
            <a:xfrm>
              <a:off x="1200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8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3" name="Rectangle 26"/>
            <p:cNvSpPr>
              <a:spLocks noChangeArrowheads="1"/>
            </p:cNvSpPr>
            <p:nvPr/>
          </p:nvSpPr>
          <p:spPr bwMode="auto">
            <a:xfrm>
              <a:off x="1824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–7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4" name="Rectangle 27"/>
            <p:cNvSpPr>
              <a:spLocks noChangeArrowheads="1"/>
            </p:cNvSpPr>
            <p:nvPr/>
          </p:nvSpPr>
          <p:spPr bwMode="auto">
            <a:xfrm>
              <a:off x="1200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9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5" name="Rectangle 28"/>
            <p:cNvSpPr>
              <a:spLocks noChangeArrowheads="1"/>
            </p:cNvSpPr>
            <p:nvPr/>
          </p:nvSpPr>
          <p:spPr bwMode="auto">
            <a:xfrm>
              <a:off x="1824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–6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6" name="Rectangle 29"/>
            <p:cNvSpPr>
              <a:spLocks noChangeArrowheads="1"/>
            </p:cNvSpPr>
            <p:nvPr/>
          </p:nvSpPr>
          <p:spPr bwMode="auto">
            <a:xfrm>
              <a:off x="1200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10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7" name="Rectangle 30"/>
            <p:cNvSpPr>
              <a:spLocks noChangeArrowheads="1"/>
            </p:cNvSpPr>
            <p:nvPr/>
          </p:nvSpPr>
          <p:spPr bwMode="auto">
            <a:xfrm>
              <a:off x="1824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–5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8" name="Rectangle 31"/>
            <p:cNvSpPr>
              <a:spLocks noChangeArrowheads="1"/>
            </p:cNvSpPr>
            <p:nvPr/>
          </p:nvSpPr>
          <p:spPr bwMode="auto">
            <a:xfrm>
              <a:off x="1200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11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29" name="Rectangle 32"/>
            <p:cNvSpPr>
              <a:spLocks noChangeArrowheads="1"/>
            </p:cNvSpPr>
            <p:nvPr/>
          </p:nvSpPr>
          <p:spPr bwMode="auto">
            <a:xfrm>
              <a:off x="1824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–4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0" name="Rectangle 33"/>
            <p:cNvSpPr>
              <a:spLocks noChangeArrowheads="1"/>
            </p:cNvSpPr>
            <p:nvPr/>
          </p:nvSpPr>
          <p:spPr bwMode="auto">
            <a:xfrm>
              <a:off x="1200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12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1" name="Rectangle 34"/>
            <p:cNvSpPr>
              <a:spLocks noChangeArrowheads="1"/>
            </p:cNvSpPr>
            <p:nvPr/>
          </p:nvSpPr>
          <p:spPr bwMode="auto">
            <a:xfrm>
              <a:off x="1824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–3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2" name="Rectangle 35"/>
            <p:cNvSpPr>
              <a:spLocks noChangeArrowheads="1"/>
            </p:cNvSpPr>
            <p:nvPr/>
          </p:nvSpPr>
          <p:spPr bwMode="auto">
            <a:xfrm>
              <a:off x="1200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13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3" name="Rectangle 36"/>
            <p:cNvSpPr>
              <a:spLocks noChangeArrowheads="1"/>
            </p:cNvSpPr>
            <p:nvPr/>
          </p:nvSpPr>
          <p:spPr bwMode="auto">
            <a:xfrm>
              <a:off x="1824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–2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4" name="Rectangle 37"/>
            <p:cNvSpPr>
              <a:spLocks noChangeArrowheads="1"/>
            </p:cNvSpPr>
            <p:nvPr/>
          </p:nvSpPr>
          <p:spPr bwMode="auto">
            <a:xfrm>
              <a:off x="1200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14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5" name="Rectangle 38"/>
            <p:cNvSpPr>
              <a:spLocks noChangeArrowheads="1"/>
            </p:cNvSpPr>
            <p:nvPr/>
          </p:nvSpPr>
          <p:spPr bwMode="auto">
            <a:xfrm>
              <a:off x="1824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–1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6" name="Rectangle 39"/>
            <p:cNvSpPr>
              <a:spLocks noChangeArrowheads="1"/>
            </p:cNvSpPr>
            <p:nvPr/>
          </p:nvSpPr>
          <p:spPr bwMode="auto">
            <a:xfrm>
              <a:off x="1200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15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37" name="Rectangle 40"/>
            <p:cNvSpPr>
              <a:spLocks noChangeArrowheads="1"/>
            </p:cNvSpPr>
            <p:nvPr/>
          </p:nvSpPr>
          <p:spPr bwMode="auto">
            <a:xfrm>
              <a:off x="480" y="249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1000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38" name="Rectangle 41"/>
            <p:cNvSpPr>
              <a:spLocks noChangeArrowheads="1"/>
            </p:cNvSpPr>
            <p:nvPr/>
          </p:nvSpPr>
          <p:spPr bwMode="auto">
            <a:xfrm>
              <a:off x="480" y="268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1001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39" name="Rectangle 42"/>
            <p:cNvSpPr>
              <a:spLocks noChangeArrowheads="1"/>
            </p:cNvSpPr>
            <p:nvPr/>
          </p:nvSpPr>
          <p:spPr bwMode="auto">
            <a:xfrm>
              <a:off x="480" y="288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1010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40" name="Rectangle 43"/>
            <p:cNvSpPr>
              <a:spLocks noChangeArrowheads="1"/>
            </p:cNvSpPr>
            <p:nvPr/>
          </p:nvSpPr>
          <p:spPr bwMode="auto">
            <a:xfrm>
              <a:off x="480" y="307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1011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41" name="Rectangle 44"/>
            <p:cNvSpPr>
              <a:spLocks noChangeArrowheads="1"/>
            </p:cNvSpPr>
            <p:nvPr/>
          </p:nvSpPr>
          <p:spPr bwMode="auto">
            <a:xfrm>
              <a:off x="480" y="326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1100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42" name="Rectangle 45"/>
            <p:cNvSpPr>
              <a:spLocks noChangeArrowheads="1"/>
            </p:cNvSpPr>
            <p:nvPr/>
          </p:nvSpPr>
          <p:spPr bwMode="auto">
            <a:xfrm>
              <a:off x="480" y="345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1101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43" name="Rectangle 46"/>
            <p:cNvSpPr>
              <a:spLocks noChangeArrowheads="1"/>
            </p:cNvSpPr>
            <p:nvPr/>
          </p:nvSpPr>
          <p:spPr bwMode="auto">
            <a:xfrm>
              <a:off x="480" y="364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1110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44" name="Rectangle 47"/>
            <p:cNvSpPr>
              <a:spLocks noChangeArrowheads="1"/>
            </p:cNvSpPr>
            <p:nvPr/>
          </p:nvSpPr>
          <p:spPr bwMode="auto">
            <a:xfrm>
              <a:off x="480" y="384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1111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285745" name="Rectangle 48"/>
            <p:cNvSpPr>
              <a:spLocks noChangeArrowheads="1"/>
            </p:cNvSpPr>
            <p:nvPr/>
          </p:nvSpPr>
          <p:spPr bwMode="auto">
            <a:xfrm>
              <a:off x="1200" y="96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0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46" name="Rectangle 49"/>
            <p:cNvSpPr>
              <a:spLocks noChangeArrowheads="1"/>
            </p:cNvSpPr>
            <p:nvPr/>
          </p:nvSpPr>
          <p:spPr bwMode="auto">
            <a:xfrm>
              <a:off x="1200" y="115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1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47" name="Rectangle 50"/>
            <p:cNvSpPr>
              <a:spLocks noChangeArrowheads="1"/>
            </p:cNvSpPr>
            <p:nvPr/>
          </p:nvSpPr>
          <p:spPr bwMode="auto">
            <a:xfrm>
              <a:off x="1200" y="134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2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48" name="Rectangle 51"/>
            <p:cNvSpPr>
              <a:spLocks noChangeArrowheads="1"/>
            </p:cNvSpPr>
            <p:nvPr/>
          </p:nvSpPr>
          <p:spPr bwMode="auto">
            <a:xfrm>
              <a:off x="1200" y="1536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3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49" name="Rectangle 52"/>
            <p:cNvSpPr>
              <a:spLocks noChangeArrowheads="1"/>
            </p:cNvSpPr>
            <p:nvPr/>
          </p:nvSpPr>
          <p:spPr bwMode="auto">
            <a:xfrm>
              <a:off x="1200" y="1728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4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50" name="Rectangle 53"/>
            <p:cNvSpPr>
              <a:spLocks noChangeArrowheads="1"/>
            </p:cNvSpPr>
            <p:nvPr/>
          </p:nvSpPr>
          <p:spPr bwMode="auto">
            <a:xfrm>
              <a:off x="1200" y="192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5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51" name="Rectangle 54"/>
            <p:cNvSpPr>
              <a:spLocks noChangeArrowheads="1"/>
            </p:cNvSpPr>
            <p:nvPr/>
          </p:nvSpPr>
          <p:spPr bwMode="auto">
            <a:xfrm>
              <a:off x="1200" y="211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6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52" name="Rectangle 55"/>
            <p:cNvSpPr>
              <a:spLocks noChangeArrowheads="1"/>
            </p:cNvSpPr>
            <p:nvPr/>
          </p:nvSpPr>
          <p:spPr bwMode="auto">
            <a:xfrm>
              <a:off x="1200" y="230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</a:rPr>
                <a:t>7</a:t>
              </a:r>
              <a:endParaRPr lang="zh-CN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285753" name="Rectangle 56"/>
            <p:cNvSpPr>
              <a:spLocks noChangeArrowheads="1"/>
            </p:cNvSpPr>
            <p:nvPr/>
          </p:nvSpPr>
          <p:spPr bwMode="auto">
            <a:xfrm>
              <a:off x="484" y="772"/>
              <a:ext cx="195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285754" name="Rectangle 57"/>
            <p:cNvSpPr>
              <a:spLocks noChangeArrowheads="1"/>
            </p:cNvSpPr>
            <p:nvPr/>
          </p:nvSpPr>
          <p:spPr bwMode="auto">
            <a:xfrm>
              <a:off x="484" y="964"/>
              <a:ext cx="1952" cy="30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A67DBE-9CFE-4A72-99AA-9157A3F2009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81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Interesting Numbers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281604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3" b="3526"/>
          <a:stretch>
            <a:fillRect/>
          </a:stretch>
        </p:blipFill>
        <p:spPr bwMode="auto">
          <a:xfrm>
            <a:off x="58737" y="1905001"/>
            <a:ext cx="88741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A8BF57-8FD8-404D-BF0B-E3936E33586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83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Alternative representations of signed numbers</a:t>
            </a:r>
            <a:endParaRPr lang="en-US" altLang="zh-CN" b="0">
              <a:ea typeface="宋体" panose="02010600030101010101" pitchFamily="2" charset="-122"/>
            </a:endParaRPr>
          </a:p>
        </p:txBody>
      </p:sp>
      <p:sp>
        <p:nvSpPr>
          <p:cNvPr id="283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Ones’ Complement: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The most significant bit has weight 2</a:t>
            </a:r>
            <a:r>
              <a:rPr lang="en-US" altLang="zh-CN" baseline="30000">
                <a:ea typeface="宋体" panose="02010600030101010101" pitchFamily="2" charset="-122"/>
              </a:rPr>
              <a:t>w-1</a:t>
            </a:r>
            <a:r>
              <a:rPr lang="en-US" altLang="zh-CN">
                <a:ea typeface="宋体" panose="02010600030101010101" pitchFamily="2" charset="-122"/>
              </a:rPr>
              <a:t>-1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 Sign-Magnitude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The most significant bit is a sign bit 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that determines whether the remaining bits should be given negative or positive weight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5D1266-267D-4CD5-BA82-E3EDF262C63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87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Mappings between logical and physical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87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Uniqueness</a:t>
            </a:r>
            <a:endParaRPr kumimoji="1" lang="en-US" altLang="zh-CN" i="1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Every bit pattern represents unique integer value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Each representable integer has unique bit encoding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0DCD09-21B2-42C4-876E-A91CB72405E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89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Mappings between logical and physical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89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Invert Mappings (from logical to physical)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U2B(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)  =  B2U</a:t>
            </a:r>
            <a:r>
              <a:rPr kumimoji="1" lang="en-US" altLang="zh-CN" baseline="30000">
                <a:ea typeface="宋体" panose="02010600030101010101" pitchFamily="2" charset="-122"/>
              </a:rPr>
              <a:t>-1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kumimoji="1" lang="en-US" altLang="zh-CN" sz="2400">
                <a:ea typeface="宋体" panose="02010600030101010101" pitchFamily="2" charset="-122"/>
              </a:rPr>
              <a:t>Bit pattern for unsigned integer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T2B(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)  =  B2T</a:t>
            </a:r>
            <a:r>
              <a:rPr kumimoji="1" lang="en-US" altLang="zh-CN" baseline="30000">
                <a:ea typeface="宋体" panose="02010600030101010101" pitchFamily="2" charset="-122"/>
              </a:rPr>
              <a:t>-1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kumimoji="1" lang="en-US" altLang="zh-CN" sz="2400">
                <a:ea typeface="宋体" panose="02010600030101010101" pitchFamily="2" charset="-122"/>
              </a:rPr>
              <a:t>Bit pattern for two’s comp integer</a:t>
            </a:r>
            <a:endParaRPr kumimoji="1"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C1379E-0BF6-4CAC-A486-EACE9AF0831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1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Relation Between 2’s Comp. &amp;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91844" name="Rectangle 3"/>
          <p:cNvSpPr>
            <a:spLocks noChangeArrowheads="1"/>
          </p:cNvSpPr>
          <p:nvPr/>
        </p:nvSpPr>
        <p:spPr bwMode="auto">
          <a:xfrm>
            <a:off x="381000" y="4822825"/>
            <a:ext cx="4419600" cy="13493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pSp>
        <p:nvGrpSpPr>
          <p:cNvPr id="291845" name="Group 4"/>
          <p:cNvGrpSpPr/>
          <p:nvPr/>
        </p:nvGrpSpPr>
        <p:grpSpPr bwMode="auto">
          <a:xfrm>
            <a:off x="609600" y="1524000"/>
            <a:ext cx="6313488" cy="1582738"/>
            <a:chOff x="384" y="1090"/>
            <a:chExt cx="3977" cy="997"/>
          </a:xfrm>
        </p:grpSpPr>
        <p:sp>
          <p:nvSpPr>
            <p:cNvPr id="291871" name="Rectangle 5"/>
            <p:cNvSpPr>
              <a:spLocks noChangeArrowheads="1"/>
            </p:cNvSpPr>
            <p:nvPr/>
          </p:nvSpPr>
          <p:spPr bwMode="auto">
            <a:xfrm>
              <a:off x="2024" y="1160"/>
              <a:ext cx="1472" cy="656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Ctr="1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T2U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91872" name="Rectangle 6"/>
            <p:cNvSpPr>
              <a:spLocks noChangeArrowheads="1"/>
            </p:cNvSpPr>
            <p:nvPr/>
          </p:nvSpPr>
          <p:spPr bwMode="auto">
            <a:xfrm>
              <a:off x="2216" y="1400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T2B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91873" name="Rectangle 7"/>
            <p:cNvSpPr>
              <a:spLocks noChangeArrowheads="1"/>
            </p:cNvSpPr>
            <p:nvPr/>
          </p:nvSpPr>
          <p:spPr bwMode="auto">
            <a:xfrm>
              <a:off x="2936" y="1400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B2U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91874" name="Line 8"/>
            <p:cNvSpPr>
              <a:spLocks noChangeShapeType="1"/>
            </p:cNvSpPr>
            <p:nvPr/>
          </p:nvSpPr>
          <p:spPr bwMode="auto">
            <a:xfrm>
              <a:off x="1592" y="1488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1875" name="Line 9"/>
            <p:cNvSpPr>
              <a:spLocks noChangeShapeType="1"/>
            </p:cNvSpPr>
            <p:nvPr/>
          </p:nvSpPr>
          <p:spPr bwMode="auto">
            <a:xfrm>
              <a:off x="3320" y="1488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1876" name="Line 10"/>
            <p:cNvSpPr>
              <a:spLocks noChangeShapeType="1"/>
            </p:cNvSpPr>
            <p:nvPr/>
          </p:nvSpPr>
          <p:spPr bwMode="auto">
            <a:xfrm>
              <a:off x="2600" y="1488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1877" name="Rectangle 11"/>
            <p:cNvSpPr>
              <a:spLocks noChangeArrowheads="1"/>
            </p:cNvSpPr>
            <p:nvPr/>
          </p:nvSpPr>
          <p:spPr bwMode="auto">
            <a:xfrm>
              <a:off x="384" y="1104"/>
              <a:ext cx="143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Two’s Complement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91878" name="Rectangle 12"/>
            <p:cNvSpPr>
              <a:spLocks noChangeArrowheads="1"/>
            </p:cNvSpPr>
            <p:nvPr/>
          </p:nvSpPr>
          <p:spPr bwMode="auto">
            <a:xfrm>
              <a:off x="3591" y="1090"/>
              <a:ext cx="77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Unsigned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91879" name="Rectangle 13"/>
            <p:cNvSpPr>
              <a:spLocks noChangeArrowheads="1"/>
            </p:cNvSpPr>
            <p:nvPr/>
          </p:nvSpPr>
          <p:spPr bwMode="auto">
            <a:xfrm>
              <a:off x="1815" y="1858"/>
              <a:ext cx="189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Maintain Same Bit Pattern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291880" name="Rectangle 14"/>
            <p:cNvSpPr>
              <a:spLocks noChangeArrowheads="1"/>
            </p:cNvSpPr>
            <p:nvPr/>
          </p:nvSpPr>
          <p:spPr bwMode="auto">
            <a:xfrm>
              <a:off x="1287" y="1378"/>
              <a:ext cx="17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Times" panose="02020603050405020304" pitchFamily="18" charset="0"/>
                </a:rPr>
                <a:t>x</a:t>
              </a:r>
              <a:endParaRPr lang="en-US" altLang="zh-CN" sz="1800" b="0" i="1">
                <a:latin typeface="Times" panose="02020603050405020304" pitchFamily="18" charset="0"/>
              </a:endParaRPr>
            </a:p>
          </p:txBody>
        </p:sp>
        <p:sp>
          <p:nvSpPr>
            <p:cNvPr id="291881" name="Rectangle 15"/>
            <p:cNvSpPr>
              <a:spLocks noChangeArrowheads="1"/>
            </p:cNvSpPr>
            <p:nvPr/>
          </p:nvSpPr>
          <p:spPr bwMode="auto">
            <a:xfrm>
              <a:off x="3975" y="1378"/>
              <a:ext cx="25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Times" panose="02020603050405020304" pitchFamily="18" charset="0"/>
                </a:rPr>
                <a:t>ux</a:t>
              </a:r>
              <a:endParaRPr lang="en-US" altLang="zh-CN" sz="1800" b="0" i="1">
                <a:latin typeface="Symbol" panose="05050102010706020507" pitchFamily="18" charset="2"/>
              </a:endParaRPr>
            </a:p>
          </p:txBody>
        </p:sp>
        <p:sp>
          <p:nvSpPr>
            <p:cNvPr id="291882" name="Rectangle 16"/>
            <p:cNvSpPr>
              <a:spLocks noChangeArrowheads="1"/>
            </p:cNvSpPr>
            <p:nvPr/>
          </p:nvSpPr>
          <p:spPr bwMode="auto">
            <a:xfrm>
              <a:off x="2631" y="1570"/>
              <a:ext cx="2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Times" panose="02020603050405020304" pitchFamily="18" charset="0"/>
                </a:rPr>
                <a:t>X</a:t>
              </a:r>
              <a:endParaRPr lang="en-US" altLang="zh-CN" sz="1800" b="0" i="1">
                <a:latin typeface="Times" panose="02020603050405020304" pitchFamily="18" charset="0"/>
              </a:endParaRPr>
            </a:p>
          </p:txBody>
        </p:sp>
      </p:grpSp>
      <p:grpSp>
        <p:nvGrpSpPr>
          <p:cNvPr id="291846" name="组合 41"/>
          <p:cNvGrpSpPr/>
          <p:nvPr/>
        </p:nvGrpSpPr>
        <p:grpSpPr bwMode="auto">
          <a:xfrm>
            <a:off x="4038600" y="2944813"/>
            <a:ext cx="4343400" cy="1779587"/>
            <a:chOff x="4038600" y="3124200"/>
            <a:chExt cx="4343400" cy="1779290"/>
          </a:xfrm>
        </p:grpSpPr>
        <p:grpSp>
          <p:nvGrpSpPr>
            <p:cNvPr id="291848" name="Group 17"/>
            <p:cNvGrpSpPr/>
            <p:nvPr/>
          </p:nvGrpSpPr>
          <p:grpSpPr bwMode="auto">
            <a:xfrm>
              <a:off x="5029200" y="3603625"/>
              <a:ext cx="2743200" cy="228600"/>
              <a:chOff x="2832" y="2208"/>
              <a:chExt cx="1728" cy="144"/>
            </a:xfrm>
          </p:grpSpPr>
          <p:sp>
            <p:nvSpPr>
              <p:cNvPr id="291864" name="Rectangle 18"/>
              <p:cNvSpPr>
                <a:spLocks noChangeArrowheads="1"/>
              </p:cNvSpPr>
              <p:nvPr/>
            </p:nvSpPr>
            <p:spPr bwMode="auto">
              <a:xfrm>
                <a:off x="283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5" name="Rectangle 19"/>
              <p:cNvSpPr>
                <a:spLocks noChangeArrowheads="1"/>
              </p:cNvSpPr>
              <p:nvPr/>
            </p:nvSpPr>
            <p:spPr bwMode="auto">
              <a:xfrm>
                <a:off x="297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6" name="Rectangle 20"/>
              <p:cNvSpPr>
                <a:spLocks noChangeArrowheads="1"/>
              </p:cNvSpPr>
              <p:nvPr/>
            </p:nvSpPr>
            <p:spPr bwMode="auto">
              <a:xfrm>
                <a:off x="3120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7" name="Rectangle 21"/>
              <p:cNvSpPr>
                <a:spLocks noChangeArrowheads="1"/>
              </p:cNvSpPr>
              <p:nvPr/>
            </p:nvSpPr>
            <p:spPr bwMode="auto">
              <a:xfrm>
                <a:off x="4128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8" name="Rectangle 22"/>
              <p:cNvSpPr>
                <a:spLocks noChangeArrowheads="1"/>
              </p:cNvSpPr>
              <p:nvPr/>
            </p:nvSpPr>
            <p:spPr bwMode="auto">
              <a:xfrm>
                <a:off x="427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9" name="Rectangle 23"/>
              <p:cNvSpPr>
                <a:spLocks noChangeArrowheads="1"/>
              </p:cNvSpPr>
              <p:nvPr/>
            </p:nvSpPr>
            <p:spPr bwMode="auto">
              <a:xfrm>
                <a:off x="441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70" name="Rectangle 24"/>
              <p:cNvSpPr>
                <a:spLocks noChangeArrowheads="1"/>
              </p:cNvSpPr>
              <p:nvPr/>
            </p:nvSpPr>
            <p:spPr bwMode="auto">
              <a:xfrm>
                <a:off x="3264" y="22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• • •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91849" name="Group 25"/>
            <p:cNvGrpSpPr/>
            <p:nvPr/>
          </p:nvGrpSpPr>
          <p:grpSpPr bwMode="auto">
            <a:xfrm>
              <a:off x="5029200" y="4060825"/>
              <a:ext cx="2743200" cy="228600"/>
              <a:chOff x="2832" y="2208"/>
              <a:chExt cx="1728" cy="144"/>
            </a:xfrm>
          </p:grpSpPr>
          <p:sp>
            <p:nvSpPr>
              <p:cNvPr id="291857" name="Rectangle 26"/>
              <p:cNvSpPr>
                <a:spLocks noChangeArrowheads="1"/>
              </p:cNvSpPr>
              <p:nvPr/>
            </p:nvSpPr>
            <p:spPr bwMode="auto">
              <a:xfrm>
                <a:off x="283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-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58" name="Rectangle 27"/>
              <p:cNvSpPr>
                <a:spLocks noChangeArrowheads="1"/>
              </p:cNvSpPr>
              <p:nvPr/>
            </p:nvSpPr>
            <p:spPr bwMode="auto">
              <a:xfrm>
                <a:off x="297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59" name="Rectangle 28"/>
              <p:cNvSpPr>
                <a:spLocks noChangeArrowheads="1"/>
              </p:cNvSpPr>
              <p:nvPr/>
            </p:nvSpPr>
            <p:spPr bwMode="auto">
              <a:xfrm>
                <a:off x="3120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0" name="Rectangle 29"/>
              <p:cNvSpPr>
                <a:spLocks noChangeArrowheads="1"/>
              </p:cNvSpPr>
              <p:nvPr/>
            </p:nvSpPr>
            <p:spPr bwMode="auto">
              <a:xfrm>
                <a:off x="4128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1" name="Rectangle 30"/>
              <p:cNvSpPr>
                <a:spLocks noChangeArrowheads="1"/>
              </p:cNvSpPr>
              <p:nvPr/>
            </p:nvSpPr>
            <p:spPr bwMode="auto">
              <a:xfrm>
                <a:off x="427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2" name="Rectangle 31"/>
              <p:cNvSpPr>
                <a:spLocks noChangeArrowheads="1"/>
              </p:cNvSpPr>
              <p:nvPr/>
            </p:nvSpPr>
            <p:spPr bwMode="auto">
              <a:xfrm>
                <a:off x="441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+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291863" name="Rectangle 32"/>
              <p:cNvSpPr>
                <a:spLocks noChangeArrowheads="1"/>
              </p:cNvSpPr>
              <p:nvPr/>
            </p:nvSpPr>
            <p:spPr bwMode="auto">
              <a:xfrm>
                <a:off x="3264" y="22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panose="02070309020205020404" pitchFamily="49" charset="0"/>
                  </a:rPr>
                  <a:t>• • •</a:t>
                </a:r>
                <a:endParaRPr lang="zh-CN" altLang="en-US" sz="2400" b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291850" name="Rectangle 33"/>
            <p:cNvSpPr>
              <a:spLocks noChangeArrowheads="1"/>
            </p:cNvSpPr>
            <p:nvPr/>
          </p:nvSpPr>
          <p:spPr bwMode="auto">
            <a:xfrm>
              <a:off x="4534620" y="3527425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latin typeface="Times" panose="02020603050405020304" pitchFamily="18" charset="0"/>
                </a:rPr>
                <a:t>ux</a:t>
              </a:r>
              <a:endParaRPr lang="en-US" altLang="zh-CN" sz="2400" b="0" i="1">
                <a:latin typeface="Times" panose="02020603050405020304" pitchFamily="18" charset="0"/>
              </a:endParaRPr>
            </a:p>
          </p:txBody>
        </p:sp>
        <p:sp>
          <p:nvSpPr>
            <p:cNvPr id="291851" name="Rectangle 34"/>
            <p:cNvSpPr>
              <a:spLocks noChangeArrowheads="1"/>
            </p:cNvSpPr>
            <p:nvPr/>
          </p:nvSpPr>
          <p:spPr bwMode="auto">
            <a:xfrm>
              <a:off x="4554414" y="3984625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latin typeface="Times" panose="02020603050405020304" pitchFamily="18" charset="0"/>
                </a:rPr>
                <a:t>x</a:t>
              </a:r>
              <a:endParaRPr lang="en-US" altLang="zh-CN" sz="2400" b="0" i="1">
                <a:latin typeface="Times" panose="02020603050405020304" pitchFamily="18" charset="0"/>
              </a:endParaRPr>
            </a:p>
          </p:txBody>
        </p:sp>
        <p:sp>
          <p:nvSpPr>
            <p:cNvPr id="291852" name="Line 35"/>
            <p:cNvSpPr>
              <a:spLocks noChangeShapeType="1"/>
            </p:cNvSpPr>
            <p:nvPr/>
          </p:nvSpPr>
          <p:spPr bwMode="auto">
            <a:xfrm>
              <a:off x="4038600" y="4365625"/>
              <a:ext cx="3886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1853" name="Rectangle 36"/>
            <p:cNvSpPr>
              <a:spLocks noChangeArrowheads="1"/>
            </p:cNvSpPr>
            <p:nvPr/>
          </p:nvSpPr>
          <p:spPr bwMode="auto">
            <a:xfrm>
              <a:off x="4166832" y="3984625"/>
              <a:ext cx="3690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Courier New" panose="02070309020205020404" pitchFamily="49" charset="0"/>
                </a:rPr>
                <a:t>-</a:t>
              </a:r>
              <a:endParaRPr lang="zh-CN" altLang="en-US" sz="2400">
                <a:latin typeface="Courier New" panose="02070309020205020404" pitchFamily="49" charset="0"/>
              </a:endParaRPr>
            </a:p>
          </p:txBody>
        </p:sp>
        <p:sp>
          <p:nvSpPr>
            <p:cNvPr id="291854" name="Rectangle 37"/>
            <p:cNvSpPr>
              <a:spLocks noChangeArrowheads="1"/>
            </p:cNvSpPr>
            <p:nvPr/>
          </p:nvSpPr>
          <p:spPr bwMode="auto">
            <a:xfrm>
              <a:off x="4810561" y="3124200"/>
              <a:ext cx="6976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latin typeface="Times" panose="02020603050405020304" pitchFamily="18" charset="0"/>
                </a:rPr>
                <a:t>w</a:t>
              </a:r>
              <a:r>
                <a:rPr lang="en-US" altLang="zh-CN" sz="2400" b="0">
                  <a:latin typeface="Times" panose="02020603050405020304" pitchFamily="18" charset="0"/>
                </a:rPr>
                <a:t>–1</a:t>
              </a:r>
              <a:endParaRPr lang="en-US" altLang="zh-CN" sz="2400" b="0" i="1">
                <a:latin typeface="Times" panose="02020603050405020304" pitchFamily="18" charset="0"/>
              </a:endParaRPr>
            </a:p>
          </p:txBody>
        </p:sp>
        <p:sp>
          <p:nvSpPr>
            <p:cNvPr id="291855" name="Rectangle 38"/>
            <p:cNvSpPr>
              <a:spLocks noChangeArrowheads="1"/>
            </p:cNvSpPr>
            <p:nvPr/>
          </p:nvSpPr>
          <p:spPr bwMode="auto">
            <a:xfrm>
              <a:off x="7523748" y="3222625"/>
              <a:ext cx="3385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 b="0">
                  <a:latin typeface="Times" panose="02020603050405020304" pitchFamily="18" charset="0"/>
                </a:rPr>
                <a:t>0</a:t>
              </a:r>
              <a:endParaRPr lang="zh-CN" altLang="en-US" sz="2400" b="0">
                <a:latin typeface="Times" panose="02020603050405020304" pitchFamily="18" charset="0"/>
              </a:endParaRPr>
            </a:p>
          </p:txBody>
        </p:sp>
        <p:sp>
          <p:nvSpPr>
            <p:cNvPr id="291856" name="Rectangle 39"/>
            <p:cNvSpPr>
              <a:spLocks noChangeArrowheads="1"/>
            </p:cNvSpPr>
            <p:nvPr/>
          </p:nvSpPr>
          <p:spPr bwMode="auto">
            <a:xfrm>
              <a:off x="4343400" y="4441825"/>
              <a:ext cx="4038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 b="0">
                  <a:latin typeface="Times" panose="02020603050405020304" pitchFamily="18" charset="0"/>
                </a:rPr>
                <a:t>+2</a:t>
              </a:r>
              <a:r>
                <a:rPr lang="en-US" altLang="zh-CN" sz="2400" b="0" i="1" baseline="30000">
                  <a:latin typeface="Times" panose="02020603050405020304" pitchFamily="18" charset="0"/>
                </a:rPr>
                <a:t>w</a:t>
              </a:r>
              <a:r>
                <a:rPr lang="en-US" altLang="zh-CN" sz="2400" b="0" baseline="30000">
                  <a:latin typeface="Times" panose="02020603050405020304" pitchFamily="18" charset="0"/>
                </a:rPr>
                <a:t>–1</a:t>
              </a:r>
              <a:r>
                <a:rPr lang="en-US" altLang="zh-CN" sz="2400" b="0">
                  <a:latin typeface="Times" panose="02020603050405020304" pitchFamily="18" charset="0"/>
                </a:rPr>
                <a:t> –  –2</a:t>
              </a:r>
              <a:r>
                <a:rPr lang="en-US" altLang="zh-CN" sz="2400" b="0" i="1" baseline="30000">
                  <a:latin typeface="Times" panose="02020603050405020304" pitchFamily="18" charset="0"/>
                </a:rPr>
                <a:t>w</a:t>
              </a:r>
              <a:r>
                <a:rPr lang="en-US" altLang="zh-CN" sz="2400" b="0" baseline="30000">
                  <a:latin typeface="Times" panose="02020603050405020304" pitchFamily="18" charset="0"/>
                </a:rPr>
                <a:t>–1</a:t>
              </a:r>
              <a:r>
                <a:rPr lang="en-US" altLang="zh-CN" sz="2400" b="0">
                  <a:latin typeface="Times" panose="02020603050405020304" pitchFamily="18" charset="0"/>
                </a:rPr>
                <a:t>  =  2*2</a:t>
              </a:r>
              <a:r>
                <a:rPr lang="en-US" altLang="zh-CN" sz="2400" b="0" i="1" baseline="30000">
                  <a:latin typeface="Times" panose="02020603050405020304" pitchFamily="18" charset="0"/>
                </a:rPr>
                <a:t>w</a:t>
              </a:r>
              <a:r>
                <a:rPr lang="en-US" altLang="zh-CN" sz="2400" b="0" baseline="30000">
                  <a:latin typeface="Times" panose="02020603050405020304" pitchFamily="18" charset="0"/>
                </a:rPr>
                <a:t>–1</a:t>
              </a:r>
              <a:r>
                <a:rPr lang="en-US" altLang="zh-CN" sz="2400" b="0">
                  <a:latin typeface="Times" panose="02020603050405020304" pitchFamily="18" charset="0"/>
                </a:rPr>
                <a:t>  =  2</a:t>
              </a:r>
              <a:r>
                <a:rPr lang="en-US" altLang="zh-CN" sz="2400" b="0" i="1" baseline="30000">
                  <a:latin typeface="Times" panose="02020603050405020304" pitchFamily="18" charset="0"/>
                </a:rPr>
                <a:t>w</a:t>
              </a:r>
              <a:endParaRPr lang="en-US" altLang="zh-CN" sz="2400" b="0" i="1" baseline="30000">
                <a:latin typeface="Times" panose="02020603050405020304" pitchFamily="18" charset="0"/>
              </a:endParaRPr>
            </a:p>
          </p:txBody>
        </p:sp>
      </p:grpSp>
      <p:graphicFrame>
        <p:nvGraphicFramePr>
          <p:cNvPr id="291847" name="Object 40"/>
          <p:cNvGraphicFramePr>
            <a:graphicFrameLocks noChangeAspect="1"/>
          </p:cNvGraphicFramePr>
          <p:nvPr/>
        </p:nvGraphicFramePr>
        <p:xfrm>
          <a:off x="671513" y="4953000"/>
          <a:ext cx="367188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1" imgW="2209800" imgH="609600" progId="Equation.3">
                  <p:embed/>
                </p:oleObj>
              </mc:Choice>
              <mc:Fallback>
                <p:oleObj name="Equation" r:id="rId1" imgW="2209800" imgH="609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4953000"/>
                        <a:ext cx="3671887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5976F5-859A-4340-A716-0B4FF96C139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3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Conversion between two Representations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93892" name="Group 3"/>
          <p:cNvGrpSpPr/>
          <p:nvPr/>
        </p:nvGrpSpPr>
        <p:grpSpPr bwMode="auto">
          <a:xfrm>
            <a:off x="874713" y="1524000"/>
            <a:ext cx="7202487" cy="5014913"/>
            <a:chOff x="528" y="1056"/>
            <a:chExt cx="4537" cy="3159"/>
          </a:xfrm>
        </p:grpSpPr>
        <p:sp>
          <p:nvSpPr>
            <p:cNvPr id="293893" name="Rectangle 4"/>
            <p:cNvSpPr>
              <a:spLocks noChangeArrowheads="1"/>
            </p:cNvSpPr>
            <p:nvPr/>
          </p:nvSpPr>
          <p:spPr bwMode="auto">
            <a:xfrm>
              <a:off x="3072" y="2064"/>
              <a:ext cx="288" cy="1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293894" name="Rectangle 5"/>
            <p:cNvSpPr>
              <a:spLocks noChangeArrowheads="1"/>
            </p:cNvSpPr>
            <p:nvPr/>
          </p:nvSpPr>
          <p:spPr bwMode="auto">
            <a:xfrm>
              <a:off x="2016" y="2064"/>
              <a:ext cx="288" cy="1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293895" name="Rectangle 6"/>
            <p:cNvSpPr>
              <a:spLocks noChangeArrowheads="1"/>
            </p:cNvSpPr>
            <p:nvPr/>
          </p:nvSpPr>
          <p:spPr bwMode="auto">
            <a:xfrm>
              <a:off x="2016" y="3216"/>
              <a:ext cx="288" cy="9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293896" name="Rectangle 7"/>
            <p:cNvSpPr>
              <a:spLocks noChangeArrowheads="1"/>
            </p:cNvSpPr>
            <p:nvPr/>
          </p:nvSpPr>
          <p:spPr bwMode="auto">
            <a:xfrm>
              <a:off x="3072" y="1104"/>
              <a:ext cx="288" cy="9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grpSp>
          <p:nvGrpSpPr>
            <p:cNvPr id="293897" name="Group 8"/>
            <p:cNvGrpSpPr/>
            <p:nvPr/>
          </p:nvGrpSpPr>
          <p:grpSpPr bwMode="auto">
            <a:xfrm>
              <a:off x="1488" y="1056"/>
              <a:ext cx="2784" cy="3159"/>
              <a:chOff x="2736" y="768"/>
              <a:chExt cx="2784" cy="3159"/>
            </a:xfrm>
          </p:grpSpPr>
          <p:sp>
            <p:nvSpPr>
              <p:cNvPr id="293902" name="Oval 9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03" name="Text Box 10"/>
              <p:cNvSpPr txBox="1">
                <a:spLocks noChangeArrowheads="1"/>
              </p:cNvSpPr>
              <p:nvPr/>
            </p:nvSpPr>
            <p:spPr bwMode="auto">
              <a:xfrm>
                <a:off x="2736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panose="020B0604020202020204" pitchFamily="34" charset="0"/>
                  </a:rPr>
                  <a:t>0</a:t>
                </a:r>
                <a:endParaRPr lang="zh-CN" altLang="en-US" sz="1800" b="0">
                  <a:latin typeface="Helvetica" panose="020B0604020202020204" pitchFamily="34" charset="0"/>
                </a:endParaRPr>
              </a:p>
            </p:txBody>
          </p:sp>
          <p:sp>
            <p:nvSpPr>
              <p:cNvPr id="293904" name="Line 11"/>
              <p:cNvSpPr>
                <a:spLocks noChangeShapeType="1"/>
              </p:cNvSpPr>
              <p:nvPr/>
            </p:nvSpPr>
            <p:spPr bwMode="auto">
              <a:xfrm>
                <a:off x="3408" y="2832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05" name="Oval 12"/>
              <p:cNvSpPr>
                <a:spLocks noChangeArrowheads="1"/>
              </p:cNvSpPr>
              <p:nvPr/>
            </p:nvSpPr>
            <p:spPr bwMode="auto">
              <a:xfrm>
                <a:off x="3312" y="18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06" name="Text Box 13"/>
              <p:cNvSpPr txBox="1">
                <a:spLocks noChangeArrowheads="1"/>
              </p:cNvSpPr>
              <p:nvPr/>
            </p:nvSpPr>
            <p:spPr bwMode="auto">
              <a:xfrm>
                <a:off x="2784" y="1776"/>
                <a:ext cx="4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panose="020B0604020202020204" pitchFamily="34" charset="0"/>
                  </a:rPr>
                  <a:t>TMax</a:t>
                </a:r>
                <a:endParaRPr lang="en-US" altLang="zh-CN" sz="1800" b="0" i="1">
                  <a:latin typeface="Helvetica" panose="020B0604020202020204" pitchFamily="34" charset="0"/>
                </a:endParaRPr>
              </a:p>
            </p:txBody>
          </p:sp>
          <p:sp>
            <p:nvSpPr>
              <p:cNvPr id="293907" name="Line 14"/>
              <p:cNvSpPr>
                <a:spLocks noChangeShapeType="1"/>
              </p:cNvSpPr>
              <p:nvPr/>
            </p:nvSpPr>
            <p:spPr bwMode="auto">
              <a:xfrm>
                <a:off x="3408" y="1872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08" name="Oval 15"/>
              <p:cNvSpPr>
                <a:spLocks noChangeArrowheads="1"/>
              </p:cNvSpPr>
              <p:nvPr/>
            </p:nvSpPr>
            <p:spPr bwMode="auto">
              <a:xfrm>
                <a:off x="3312" y="374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09" name="Text Box 16"/>
              <p:cNvSpPr txBox="1">
                <a:spLocks noChangeArrowheads="1"/>
              </p:cNvSpPr>
              <p:nvPr/>
            </p:nvSpPr>
            <p:spPr bwMode="auto">
              <a:xfrm>
                <a:off x="2776" y="3696"/>
                <a:ext cx="4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panose="020B0604020202020204" pitchFamily="34" charset="0"/>
                  </a:rPr>
                  <a:t>TMin</a:t>
                </a:r>
                <a:endParaRPr lang="en-US" altLang="zh-CN" sz="1800" b="0" i="1">
                  <a:latin typeface="Helvetica" panose="020B0604020202020204" pitchFamily="34" charset="0"/>
                </a:endParaRPr>
              </a:p>
            </p:txBody>
          </p:sp>
          <p:sp>
            <p:nvSpPr>
              <p:cNvPr id="293910" name="Oval 17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1" name="Text Box 18"/>
              <p:cNvSpPr txBox="1">
                <a:spLocks noChangeArrowheads="1"/>
              </p:cNvSpPr>
              <p:nvPr/>
            </p:nvSpPr>
            <p:spPr bwMode="auto">
              <a:xfrm>
                <a:off x="2736" y="292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panose="020B0604020202020204" pitchFamily="34" charset="0"/>
                  </a:rPr>
                  <a:t>–1</a:t>
                </a:r>
                <a:endParaRPr lang="zh-CN" altLang="en-US" sz="1800" b="0">
                  <a:latin typeface="Helvetica" panose="020B0604020202020204" pitchFamily="34" charset="0"/>
                </a:endParaRPr>
              </a:p>
            </p:txBody>
          </p:sp>
          <p:sp>
            <p:nvSpPr>
              <p:cNvPr id="293912" name="Oval 19"/>
              <p:cNvSpPr>
                <a:spLocks noChangeArrowheads="1"/>
              </p:cNvSpPr>
              <p:nvPr/>
            </p:nvSpPr>
            <p:spPr bwMode="auto">
              <a:xfrm>
                <a:off x="3312" y="31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3" name="Text Box 20"/>
              <p:cNvSpPr txBox="1">
                <a:spLocks noChangeArrowheads="1"/>
              </p:cNvSpPr>
              <p:nvPr/>
            </p:nvSpPr>
            <p:spPr bwMode="auto">
              <a:xfrm>
                <a:off x="2736" y="3120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panose="020B0604020202020204" pitchFamily="34" charset="0"/>
                  </a:rPr>
                  <a:t>–2</a:t>
                </a:r>
                <a:endParaRPr lang="zh-CN" altLang="en-US" sz="1800" b="0">
                  <a:latin typeface="Helvetica" panose="020B0604020202020204" pitchFamily="34" charset="0"/>
                </a:endParaRPr>
              </a:p>
            </p:txBody>
          </p:sp>
          <p:sp>
            <p:nvSpPr>
              <p:cNvPr id="293914" name="Oval 21"/>
              <p:cNvSpPr>
                <a:spLocks noChangeArrowheads="1"/>
              </p:cNvSpPr>
              <p:nvPr/>
            </p:nvSpPr>
            <p:spPr bwMode="auto">
              <a:xfrm>
                <a:off x="4464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5" name="Oval 22"/>
              <p:cNvSpPr>
                <a:spLocks noChangeArrowheads="1"/>
              </p:cNvSpPr>
              <p:nvPr/>
            </p:nvSpPr>
            <p:spPr bwMode="auto">
              <a:xfrm>
                <a:off x="4464" y="18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6" name="Oval 23"/>
              <p:cNvSpPr>
                <a:spLocks noChangeArrowheads="1"/>
              </p:cNvSpPr>
              <p:nvPr/>
            </p:nvSpPr>
            <p:spPr bwMode="auto">
              <a:xfrm>
                <a:off x="4464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7" name="Oval 24"/>
              <p:cNvSpPr>
                <a:spLocks noChangeArrowheads="1"/>
              </p:cNvSpPr>
              <p:nvPr/>
            </p:nvSpPr>
            <p:spPr bwMode="auto">
              <a:xfrm>
                <a:off x="4464" y="8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8" name="Oval 25"/>
              <p:cNvSpPr>
                <a:spLocks noChangeArrowheads="1"/>
              </p:cNvSpPr>
              <p:nvPr/>
            </p:nvSpPr>
            <p:spPr bwMode="auto">
              <a:xfrm>
                <a:off x="4464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3919" name="Freeform 26"/>
              <p:cNvSpPr/>
              <p:nvPr/>
            </p:nvSpPr>
            <p:spPr bwMode="auto">
              <a:xfrm>
                <a:off x="3408" y="912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20" name="Freeform 27"/>
              <p:cNvSpPr/>
              <p:nvPr/>
            </p:nvSpPr>
            <p:spPr bwMode="auto">
              <a:xfrm>
                <a:off x="3408" y="1104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21" name="Freeform 28"/>
              <p:cNvSpPr/>
              <p:nvPr/>
            </p:nvSpPr>
            <p:spPr bwMode="auto">
              <a:xfrm>
                <a:off x="3408" y="1680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22" name="Text Box 29"/>
              <p:cNvSpPr txBox="1">
                <a:spLocks noChangeArrowheads="1"/>
              </p:cNvSpPr>
              <p:nvPr/>
            </p:nvSpPr>
            <p:spPr bwMode="auto">
              <a:xfrm>
                <a:off x="4656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panose="020B0604020202020204" pitchFamily="34" charset="0"/>
                  </a:rPr>
                  <a:t>0</a:t>
                </a:r>
                <a:endParaRPr lang="zh-CN" altLang="en-US" sz="1800" b="0">
                  <a:latin typeface="Helvetica" panose="020B0604020202020204" pitchFamily="34" charset="0"/>
                </a:endParaRPr>
              </a:p>
            </p:txBody>
          </p:sp>
          <p:sp>
            <p:nvSpPr>
              <p:cNvPr id="293923" name="Text Box 30"/>
              <p:cNvSpPr txBox="1">
                <a:spLocks noChangeArrowheads="1"/>
              </p:cNvSpPr>
              <p:nvPr/>
            </p:nvSpPr>
            <p:spPr bwMode="auto">
              <a:xfrm>
                <a:off x="4608" y="76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panose="020B0604020202020204" pitchFamily="34" charset="0"/>
                  </a:rPr>
                  <a:t>UMax</a:t>
                </a:r>
                <a:endParaRPr lang="en-US" altLang="zh-CN" sz="1800" b="0" i="1">
                  <a:latin typeface="Helvetica" panose="020B0604020202020204" pitchFamily="34" charset="0"/>
                </a:endParaRPr>
              </a:p>
            </p:txBody>
          </p:sp>
          <p:sp>
            <p:nvSpPr>
              <p:cNvPr id="293924" name="Text Box 31"/>
              <p:cNvSpPr txBox="1">
                <a:spLocks noChangeArrowheads="1"/>
              </p:cNvSpPr>
              <p:nvPr/>
            </p:nvSpPr>
            <p:spPr bwMode="auto">
              <a:xfrm>
                <a:off x="4608" y="96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panose="020B0604020202020204" pitchFamily="34" charset="0"/>
                  </a:rPr>
                  <a:t>UMax</a:t>
                </a:r>
                <a:r>
                  <a:rPr lang="en-US" altLang="zh-CN" sz="1800" b="0">
                    <a:latin typeface="Helvetica" panose="020B0604020202020204" pitchFamily="34" charset="0"/>
                  </a:rPr>
                  <a:t> – 1</a:t>
                </a:r>
                <a:endParaRPr lang="en-US" altLang="zh-CN" sz="1800" b="0" i="1">
                  <a:latin typeface="Helvetica" panose="020B0604020202020204" pitchFamily="34" charset="0"/>
                </a:endParaRPr>
              </a:p>
            </p:txBody>
          </p:sp>
          <p:sp>
            <p:nvSpPr>
              <p:cNvPr id="293925" name="Text Box 32"/>
              <p:cNvSpPr txBox="1">
                <a:spLocks noChangeArrowheads="1"/>
              </p:cNvSpPr>
              <p:nvPr/>
            </p:nvSpPr>
            <p:spPr bwMode="auto">
              <a:xfrm>
                <a:off x="4656" y="1776"/>
                <a:ext cx="4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panose="020B0604020202020204" pitchFamily="34" charset="0"/>
                  </a:rPr>
                  <a:t>TMax</a:t>
                </a:r>
                <a:endParaRPr lang="en-US" altLang="zh-CN" sz="1800" b="0" i="1">
                  <a:latin typeface="Helvetica" panose="020B0604020202020204" pitchFamily="34" charset="0"/>
                </a:endParaRPr>
              </a:p>
            </p:txBody>
          </p:sp>
          <p:sp>
            <p:nvSpPr>
              <p:cNvPr id="293926" name="Text Box 33"/>
              <p:cNvSpPr txBox="1">
                <a:spLocks noChangeArrowheads="1"/>
              </p:cNvSpPr>
              <p:nvPr/>
            </p:nvSpPr>
            <p:spPr bwMode="auto">
              <a:xfrm>
                <a:off x="4656" y="1584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panose="020B0604020202020204" pitchFamily="34" charset="0"/>
                  </a:rPr>
                  <a:t>TMax  </a:t>
                </a:r>
                <a:r>
                  <a:rPr lang="en-US" altLang="zh-CN" sz="1800" b="0">
                    <a:latin typeface="Helvetica" panose="020B0604020202020204" pitchFamily="34" charset="0"/>
                  </a:rPr>
                  <a:t>+ 1</a:t>
                </a:r>
                <a:endParaRPr lang="en-US" altLang="zh-CN" sz="1800" b="0" i="1">
                  <a:latin typeface="Helvetica" panose="020B0604020202020204" pitchFamily="34" charset="0"/>
                </a:endParaRPr>
              </a:p>
            </p:txBody>
          </p:sp>
        </p:grpSp>
        <p:sp>
          <p:nvSpPr>
            <p:cNvPr id="293898" name="Rectangle 34"/>
            <p:cNvSpPr>
              <a:spLocks noChangeArrowheads="1"/>
            </p:cNvSpPr>
            <p:nvPr/>
          </p:nvSpPr>
          <p:spPr bwMode="auto">
            <a:xfrm>
              <a:off x="528" y="2832"/>
              <a:ext cx="8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0">
                  <a:latin typeface="Helvetica" panose="020B0604020202020204" pitchFamily="34" charset="0"/>
                </a:rPr>
                <a:t>2’</a:t>
              </a:r>
              <a:r>
                <a:rPr lang="en-US" altLang="zh-CN" sz="2000" b="0">
                  <a:latin typeface="Helvetica" panose="020B0604020202020204" pitchFamily="34" charset="0"/>
                </a:rPr>
                <a:t>s Comp.</a:t>
              </a:r>
              <a:endParaRPr lang="en-US" altLang="zh-CN" sz="2000" b="0">
                <a:latin typeface="Helvetica" panose="020B0604020202020204" pitchFamily="34" charset="0"/>
              </a:endParaRP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Helvetica" panose="020B0604020202020204" pitchFamily="34" charset="0"/>
                </a:rPr>
                <a:t>Range</a:t>
              </a:r>
              <a:endParaRPr lang="en-US" altLang="zh-CN" sz="2000" b="0">
                <a:latin typeface="Helvetica" panose="020B0604020202020204" pitchFamily="34" charset="0"/>
              </a:endParaRPr>
            </a:p>
          </p:txBody>
        </p:sp>
        <p:sp>
          <p:nvSpPr>
            <p:cNvPr id="293899" name="Freeform 35"/>
            <p:cNvSpPr/>
            <p:nvPr/>
          </p:nvSpPr>
          <p:spPr bwMode="auto">
            <a:xfrm>
              <a:off x="1536" y="2064"/>
              <a:ext cx="96" cy="2112"/>
            </a:xfrm>
            <a:custGeom>
              <a:avLst/>
              <a:gdLst>
                <a:gd name="T0" fmla="*/ 1 w 144"/>
                <a:gd name="T1" fmla="*/ 1347 h 2160"/>
                <a:gd name="T2" fmla="*/ 0 w 144"/>
                <a:gd name="T3" fmla="*/ 1347 h 2160"/>
                <a:gd name="T4" fmla="*/ 0 w 144"/>
                <a:gd name="T5" fmla="*/ 0 h 2160"/>
                <a:gd name="T6" fmla="*/ 1 w 144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160"/>
                <a:gd name="T14" fmla="*/ 144 w 144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160">
                  <a:moveTo>
                    <a:pt x="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900" name="Freeform 36"/>
            <p:cNvSpPr/>
            <p:nvPr/>
          </p:nvSpPr>
          <p:spPr bwMode="auto">
            <a:xfrm flipH="1">
              <a:off x="4080" y="1104"/>
              <a:ext cx="96" cy="2112"/>
            </a:xfrm>
            <a:custGeom>
              <a:avLst/>
              <a:gdLst>
                <a:gd name="T0" fmla="*/ 1 w 144"/>
                <a:gd name="T1" fmla="*/ 1347 h 2160"/>
                <a:gd name="T2" fmla="*/ 0 w 144"/>
                <a:gd name="T3" fmla="*/ 1347 h 2160"/>
                <a:gd name="T4" fmla="*/ 0 w 144"/>
                <a:gd name="T5" fmla="*/ 0 h 2160"/>
                <a:gd name="T6" fmla="*/ 1 w 144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160"/>
                <a:gd name="T14" fmla="*/ 144 w 144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160">
                  <a:moveTo>
                    <a:pt x="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901" name="Rectangle 37"/>
            <p:cNvSpPr>
              <a:spLocks noChangeArrowheads="1"/>
            </p:cNvSpPr>
            <p:nvPr/>
          </p:nvSpPr>
          <p:spPr bwMode="auto">
            <a:xfrm>
              <a:off x="4272" y="1920"/>
              <a:ext cx="79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Helvetica" panose="020B0604020202020204" pitchFamily="34" charset="0"/>
                </a:rPr>
                <a:t>Unsigned</a:t>
              </a:r>
              <a:endParaRPr lang="en-US" altLang="zh-CN" sz="2000" b="0">
                <a:latin typeface="Helvetica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Helvetica" panose="020B0604020202020204" pitchFamily="34" charset="0"/>
                </a:rPr>
                <a:t>Range</a:t>
              </a:r>
              <a:endParaRPr lang="en-US" altLang="zh-CN" sz="2000" b="0"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BAA7C0-10AE-4C8D-B27B-5C6EFA216F8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59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Casting among Integral Data Type</a:t>
            </a:r>
            <a:r>
              <a:rPr lang="en-US" altLang="zh-CN" sz="3600">
                <a:ea typeface="宋体" panose="02010600030101010101" pitchFamily="2" charset="-122"/>
              </a:rPr>
              <a:t> 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64D3A0-E76A-486F-A03F-F3757CBB301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7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7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Conversions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Signed vs. unsigned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Long vs. short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Suggested reading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Chap 2.2.4 ~ 2.2.8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3AEDF7-F528-45EC-AD84-B142114082E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0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Integral data type in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0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Signed type (for integer numbers)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char, short [int], int, long [int] 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Unsigned type (for nonnegative numbers)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unsigned char, unsigned short [int],          unsigned [int], unsigned long [int]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Java has no unsigned data type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Using byte to replace the char 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717694-765F-4DE9-B243-84B083BA170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4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Casting among Signed and Unsigned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04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419600"/>
          </a:xfrm>
        </p:spPr>
        <p:txBody>
          <a:bodyPr/>
          <a:lstStyle/>
          <a:p>
            <a:pPr eaLnBrk="1" hangingPunct="1"/>
            <a:r>
              <a:rPr kumimoji="1" lang="en-US" altLang="zh-CN">
                <a:ea typeface="宋体" panose="02010600030101010101" pitchFamily="2" charset="-122"/>
              </a:rPr>
              <a:t>C Allows a variable of one type to be interpreted  as other data type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kumimoji="1" lang="en-US" altLang="zh-CN">
                <a:ea typeface="宋体" panose="02010600030101010101" pitchFamily="2" charset="-122"/>
              </a:rPr>
              <a:t>Type conversion (implicitly) 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kumimoji="1" lang="en-US" altLang="zh-CN">
                <a:ea typeface="宋体" panose="02010600030101010101" pitchFamily="2" charset="-122"/>
              </a:rPr>
              <a:t>Type casting (explicitly)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2395A1-3A41-4197-8881-7BF4A09ED7D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61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Signed vs. Unsigned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06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Casting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Explicit casting between signed &amp; unsigned 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same as U2T and T2U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int tx, ty;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unsigned ux, uy;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tx = (int) ux;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uy = (unsigned) ty;</a:t>
            </a:r>
            <a:endParaRPr kumimoji="1"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ACD005-047D-4719-B9EA-4FA4357C477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82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Signed vs. Unsigned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08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Conversion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Implicit casting also occurs via assignments and procedure calls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int tx, ty;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unsigned ux, uy;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tx = ux;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uy = ty;</a:t>
            </a:r>
            <a:endParaRPr kumimoji="1"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2E8230-CE60-4AEB-9C38-8AB4CD42233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0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Casting from Signed to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10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419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short int           x =  12345;</a:t>
            </a:r>
            <a:endParaRPr lang="en-US" altLang="zh-CN" sz="24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unsigned short int ux = (unsigned short) x;</a:t>
            </a:r>
            <a:endParaRPr lang="en-US" altLang="zh-CN" sz="24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short int           y  = -12345;</a:t>
            </a:r>
            <a:endParaRPr lang="en-US" altLang="zh-CN" sz="24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unsigned short int uy = (unsigned short) y;</a:t>
            </a:r>
            <a:endParaRPr lang="en-US" altLang="zh-CN" sz="24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Resulting Value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No change in bit representation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Nonnegative values unchanged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 i="1">
                <a:ea typeface="宋体" panose="02010600030101010101" pitchFamily="2" charset="-122"/>
              </a:rPr>
              <a:t>ux</a:t>
            </a:r>
            <a:r>
              <a:rPr kumimoji="1" lang="en-US" altLang="zh-CN" sz="2400">
                <a:ea typeface="宋体" panose="02010600030101010101" pitchFamily="2" charset="-122"/>
              </a:rPr>
              <a:t> = 12345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Negative values change into (large) positive values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 i="1">
                <a:ea typeface="宋体" panose="02010600030101010101" pitchFamily="2" charset="-122"/>
              </a:rPr>
              <a:t>uy</a:t>
            </a:r>
            <a:r>
              <a:rPr kumimoji="1" lang="en-US" altLang="zh-CN" sz="2400">
                <a:ea typeface="宋体" panose="02010600030101010101" pitchFamily="2" charset="-122"/>
              </a:rPr>
              <a:t> = 53191	</a:t>
            </a:r>
            <a:endParaRPr kumimoji="1" lang="en-US" altLang="zh-CN" sz="160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D7E16F-A3B6-48ED-97B7-F8876F5A940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0"/>
            <a:ext cx="80771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E3C415-6CBB-4135-9932-8AC321AF834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43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Constants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14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By default 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constants are considered to be signed integers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Unsigned if have “U” or “u” as suffix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0u, 4294967259U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4EBA03-B1E4-40A2-BADC-4A17800381B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64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Casting Convention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16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Expression Evaluation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If mix unsigned and signed in single expression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kumimoji="1" lang="en-US" altLang="zh-CN" sz="2400">
                <a:ea typeface="宋体" panose="02010600030101010101" pitchFamily="2" charset="-122"/>
              </a:rPr>
              <a:t>signed values implicitly cast to unsigned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Including comparison operations &lt;, &gt;, ==, &lt;=, &gt;=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Examples for </a:t>
            </a:r>
            <a:r>
              <a:rPr kumimoji="1" lang="en-US" altLang="zh-CN" i="1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 = 32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55942D-4F7F-4E2A-B861-582614082FA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84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Casting Convention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4339" b="3443"/>
          <a:stretch>
            <a:fillRect/>
          </a:stretch>
        </p:blipFill>
        <p:spPr>
          <a:xfrm>
            <a:off x="304800" y="1828800"/>
            <a:ext cx="8153400" cy="343088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E0467C-155B-4343-B4DA-209CC06C7AE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05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From short to long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0516" name="Rectangle 3"/>
          <p:cNvSpPr>
            <a:spLocks noChangeArrowheads="1"/>
          </p:cNvSpPr>
          <p:nvPr/>
        </p:nvSpPr>
        <p:spPr bwMode="auto">
          <a:xfrm>
            <a:off x="533400" y="1524000"/>
            <a:ext cx="7848600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short int x =  12345;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int ix = (int) x; 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short int y = -12345;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int iy = (int) y;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0"/>
              <a:t>We need to expand the data size</a:t>
            </a:r>
            <a:endParaRPr lang="en-US" altLang="zh-CN" b="0"/>
          </a:p>
          <a:p>
            <a:pPr>
              <a:spcBef>
                <a:spcPct val="50000"/>
              </a:spcBef>
            </a:pPr>
            <a:r>
              <a:rPr lang="en-US" altLang="zh-CN" b="0"/>
              <a:t>Casting among unsigned types is normal</a:t>
            </a:r>
            <a:endParaRPr lang="en-US" altLang="zh-CN" b="0"/>
          </a:p>
          <a:p>
            <a:pPr>
              <a:spcBef>
                <a:spcPct val="50000"/>
              </a:spcBef>
            </a:pPr>
            <a:r>
              <a:rPr lang="en-US" altLang="zh-CN" b="0"/>
              <a:t>Casing among signed types is trick</a:t>
            </a:r>
            <a:endParaRPr lang="en-US" altLang="zh-CN" b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D19C1B-2B3B-442D-8E22-4A8448687EC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25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Expanding the Bit Representation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22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Zero extension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Add leading 0s to the representation</a:t>
            </a:r>
            <a:endParaRPr kumimoji="1" lang="en-US" altLang="zh-CN"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Sign extension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[x</a:t>
            </a:r>
            <a:r>
              <a:rPr kumimoji="1" lang="en-US" altLang="zh-CN" baseline="-25000">
                <a:ea typeface="宋体" panose="02010600030101010101" pitchFamily="2" charset="-122"/>
              </a:rPr>
              <a:t>w-1</a:t>
            </a:r>
            <a:r>
              <a:rPr kumimoji="1" lang="en-US" altLang="zh-CN">
                <a:ea typeface="宋体" panose="02010600030101010101" pitchFamily="2" charset="-122"/>
              </a:rPr>
              <a:t>,x</a:t>
            </a:r>
            <a:r>
              <a:rPr kumimoji="1" lang="en-US" altLang="zh-CN" baseline="-25000">
                <a:ea typeface="宋体" panose="02010600030101010101" pitchFamily="2" charset="-122"/>
              </a:rPr>
              <a:t>w-2</a:t>
            </a:r>
            <a:r>
              <a:rPr kumimoji="1" lang="en-US" altLang="zh-CN">
                <a:ea typeface="宋体" panose="02010600030101010101" pitchFamily="2" charset="-122"/>
              </a:rPr>
              <a:t>,x</a:t>
            </a:r>
            <a:r>
              <a:rPr kumimoji="1" lang="en-US" altLang="zh-CN" baseline="-25000">
                <a:ea typeface="宋体" panose="02010600030101010101" pitchFamily="2" charset="-122"/>
              </a:rPr>
              <a:t>w-3</a:t>
            </a:r>
            <a:r>
              <a:rPr kumimoji="1" lang="en-US" altLang="zh-CN">
                <a:ea typeface="宋体" panose="02010600030101010101" pitchFamily="2" charset="-122"/>
              </a:rPr>
              <a:t>,</a:t>
            </a:r>
            <a:r>
              <a:rPr kumimoji="1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r>
              <a:rPr kumimoji="1" lang="en-US" altLang="zh-CN">
                <a:ea typeface="宋体" panose="02010600030101010101" pitchFamily="2" charset="-122"/>
              </a:rPr>
              <a:t>x</a:t>
            </a:r>
            <a:r>
              <a:rPr kumimoji="1" lang="en-US" altLang="zh-CN" baseline="-25000">
                <a:ea typeface="宋体" panose="02010600030101010101" pitchFamily="2" charset="-122"/>
              </a:rPr>
              <a:t>0</a:t>
            </a:r>
            <a:r>
              <a:rPr kumimoji="1" lang="en-US" altLang="zh-CN">
                <a:ea typeface="宋体" panose="02010600030101010101" pitchFamily="2" charset="-122"/>
              </a:rPr>
              <a:t>]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pSp>
        <p:nvGrpSpPr>
          <p:cNvPr id="322565" name="Group 4"/>
          <p:cNvGrpSpPr/>
          <p:nvPr/>
        </p:nvGrpSpPr>
        <p:grpSpPr bwMode="auto">
          <a:xfrm>
            <a:off x="82550" y="3657600"/>
            <a:ext cx="4946650" cy="1981200"/>
            <a:chOff x="244" y="2304"/>
            <a:chExt cx="3116" cy="1248"/>
          </a:xfrm>
        </p:grpSpPr>
        <p:grpSp>
          <p:nvGrpSpPr>
            <p:cNvPr id="322595" name="Group 5"/>
            <p:cNvGrpSpPr/>
            <p:nvPr/>
          </p:nvGrpSpPr>
          <p:grpSpPr bwMode="auto">
            <a:xfrm>
              <a:off x="1632" y="2352"/>
              <a:ext cx="1728" cy="144"/>
              <a:chOff x="2928" y="2400"/>
              <a:chExt cx="1728" cy="144"/>
            </a:xfrm>
          </p:grpSpPr>
          <p:sp>
            <p:nvSpPr>
              <p:cNvPr id="322623" name="Rectangle 6"/>
              <p:cNvSpPr>
                <a:spLocks noChangeArrowheads="1"/>
              </p:cNvSpPr>
              <p:nvPr/>
            </p:nvSpPr>
            <p:spPr bwMode="auto">
              <a:xfrm>
                <a:off x="2928" y="240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24" name="Rectangle 7"/>
              <p:cNvSpPr>
                <a:spLocks noChangeArrowheads="1"/>
              </p:cNvSpPr>
              <p:nvPr/>
            </p:nvSpPr>
            <p:spPr bwMode="auto">
              <a:xfrm>
                <a:off x="3072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25" name="Rectangle 8"/>
              <p:cNvSpPr>
                <a:spLocks noChangeArrowheads="1"/>
              </p:cNvSpPr>
              <p:nvPr/>
            </p:nvSpPr>
            <p:spPr bwMode="auto">
              <a:xfrm>
                <a:off x="3216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26" name="Rectangle 9"/>
              <p:cNvSpPr>
                <a:spLocks noChangeArrowheads="1"/>
              </p:cNvSpPr>
              <p:nvPr/>
            </p:nvSpPr>
            <p:spPr bwMode="auto">
              <a:xfrm>
                <a:off x="4224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27" name="Rectangle 10"/>
              <p:cNvSpPr>
                <a:spLocks noChangeArrowheads="1"/>
              </p:cNvSpPr>
              <p:nvPr/>
            </p:nvSpPr>
            <p:spPr bwMode="auto">
              <a:xfrm>
                <a:off x="4368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28" name="Rectangle 11"/>
              <p:cNvSpPr>
                <a:spLocks noChangeArrowheads="1"/>
              </p:cNvSpPr>
              <p:nvPr/>
            </p:nvSpPr>
            <p:spPr bwMode="auto">
              <a:xfrm>
                <a:off x="4512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29" name="Rectangle 12"/>
              <p:cNvSpPr>
                <a:spLocks noChangeArrowheads="1"/>
              </p:cNvSpPr>
              <p:nvPr/>
            </p:nvSpPr>
            <p:spPr bwMode="auto">
              <a:xfrm>
                <a:off x="3360" y="2400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panose="02070309020205020404" pitchFamily="49" charset="0"/>
                  </a:rPr>
                  <a:t>• • •</a:t>
                </a: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22596" name="Rectangle 13"/>
            <p:cNvSpPr>
              <a:spLocks noChangeArrowheads="1"/>
            </p:cNvSpPr>
            <p:nvPr/>
          </p:nvSpPr>
          <p:spPr bwMode="auto">
            <a:xfrm>
              <a:off x="1432" y="2304"/>
              <a:ext cx="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X</a:t>
              </a:r>
              <a:r>
                <a:rPr lang="en-US" altLang="zh-CN" sz="1800" b="0">
                  <a:latin typeface="Times" panose="02020603050405020304" pitchFamily="18" charset="0"/>
                </a:rPr>
                <a:t> </a:t>
              </a:r>
              <a:endParaRPr lang="en-US" altLang="zh-CN" sz="1800" b="0">
                <a:latin typeface="Symbol" panose="05050102010706020507" pitchFamily="18" charset="2"/>
              </a:endParaRPr>
            </a:p>
          </p:txBody>
        </p:sp>
        <p:sp>
          <p:nvSpPr>
            <p:cNvPr id="322597" name="Rectangle 14"/>
            <p:cNvSpPr>
              <a:spLocks noChangeArrowheads="1"/>
            </p:cNvSpPr>
            <p:nvPr/>
          </p:nvSpPr>
          <p:spPr bwMode="auto">
            <a:xfrm>
              <a:off x="244" y="3312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X</a:t>
              </a:r>
              <a:r>
                <a:rPr lang="en-US" altLang="zh-CN" sz="1800" b="0">
                  <a:latin typeface="Times" panose="02020603050405020304" pitchFamily="18" charset="0"/>
                </a:rPr>
                <a:t> </a:t>
              </a:r>
              <a:r>
                <a:rPr lang="en-US" altLang="zh-CN" sz="1800" b="0">
                  <a:latin typeface="Symbol" panose="05050102010706020507" pitchFamily="18" charset="2"/>
                </a:rPr>
                <a:t></a:t>
              </a:r>
              <a:endParaRPr lang="en-US" altLang="zh-CN" sz="1800" b="0">
                <a:latin typeface="Symbol" panose="05050102010706020507" pitchFamily="18" charset="2"/>
              </a:endParaRPr>
            </a:p>
          </p:txBody>
        </p:sp>
        <p:sp>
          <p:nvSpPr>
            <p:cNvPr id="322598" name="Line 15"/>
            <p:cNvSpPr>
              <a:spLocks noChangeShapeType="1"/>
            </p:cNvSpPr>
            <p:nvPr/>
          </p:nvSpPr>
          <p:spPr bwMode="auto">
            <a:xfrm>
              <a:off x="1728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99" name="Line 16"/>
            <p:cNvSpPr>
              <a:spLocks noChangeShapeType="1"/>
            </p:cNvSpPr>
            <p:nvPr/>
          </p:nvSpPr>
          <p:spPr bwMode="auto">
            <a:xfrm flipH="1">
              <a:off x="1584" y="2544"/>
              <a:ext cx="14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22600" name="Group 17"/>
            <p:cNvGrpSpPr/>
            <p:nvPr/>
          </p:nvGrpSpPr>
          <p:grpSpPr bwMode="auto">
            <a:xfrm>
              <a:off x="528" y="3408"/>
              <a:ext cx="2832" cy="144"/>
              <a:chOff x="1824" y="3456"/>
              <a:chExt cx="2832" cy="144"/>
            </a:xfrm>
          </p:grpSpPr>
          <p:sp>
            <p:nvSpPr>
              <p:cNvPr id="322610" name="Rectangle 18"/>
              <p:cNvSpPr>
                <a:spLocks noChangeArrowheads="1"/>
              </p:cNvSpPr>
              <p:nvPr/>
            </p:nvSpPr>
            <p:spPr bwMode="auto">
              <a:xfrm>
                <a:off x="2112" y="3456"/>
                <a:ext cx="528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panose="02070309020205020404" pitchFamily="49" charset="0"/>
                  </a:rPr>
                  <a:t>• • •</a:t>
                </a: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11" name="Rectangle 19"/>
              <p:cNvSpPr>
                <a:spLocks noChangeArrowheads="1"/>
              </p:cNvSpPr>
              <p:nvPr/>
            </p:nvSpPr>
            <p:spPr bwMode="auto">
              <a:xfrm>
                <a:off x="2784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12" name="Rectangle 20"/>
              <p:cNvSpPr>
                <a:spLocks noChangeArrowheads="1"/>
              </p:cNvSpPr>
              <p:nvPr/>
            </p:nvSpPr>
            <p:spPr bwMode="auto">
              <a:xfrm>
                <a:off x="2640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13" name="Rectangle 21"/>
              <p:cNvSpPr>
                <a:spLocks noChangeArrowheads="1"/>
              </p:cNvSpPr>
              <p:nvPr/>
            </p:nvSpPr>
            <p:spPr bwMode="auto">
              <a:xfrm>
                <a:off x="1968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22614" name="Rectangle 22"/>
              <p:cNvSpPr>
                <a:spLocks noChangeArrowheads="1"/>
              </p:cNvSpPr>
              <p:nvPr/>
            </p:nvSpPr>
            <p:spPr bwMode="auto">
              <a:xfrm>
                <a:off x="1824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grpSp>
            <p:nvGrpSpPr>
              <p:cNvPr id="322615" name="Group 23"/>
              <p:cNvGrpSpPr/>
              <p:nvPr/>
            </p:nvGrpSpPr>
            <p:grpSpPr bwMode="auto">
              <a:xfrm>
                <a:off x="2928" y="3456"/>
                <a:ext cx="1728" cy="144"/>
                <a:chOff x="2928" y="3456"/>
                <a:chExt cx="1728" cy="144"/>
              </a:xfrm>
            </p:grpSpPr>
            <p:sp>
              <p:nvSpPr>
                <p:cNvPr id="322616" name="Rectangle 24"/>
                <p:cNvSpPr>
                  <a:spLocks noChangeArrowheads="1"/>
                </p:cNvSpPr>
                <p:nvPr/>
              </p:nvSpPr>
              <p:spPr bwMode="auto">
                <a:xfrm>
                  <a:off x="2928" y="3456"/>
                  <a:ext cx="144" cy="144"/>
                </a:xfrm>
                <a:prstGeom prst="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22617" name="Rectangle 25"/>
                <p:cNvSpPr>
                  <a:spLocks noChangeArrowheads="1"/>
                </p:cNvSpPr>
                <p:nvPr/>
              </p:nvSpPr>
              <p:spPr bwMode="auto">
                <a:xfrm>
                  <a:off x="3072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22618" name="Rectangle 26"/>
                <p:cNvSpPr>
                  <a:spLocks noChangeArrowheads="1"/>
                </p:cNvSpPr>
                <p:nvPr/>
              </p:nvSpPr>
              <p:spPr bwMode="auto">
                <a:xfrm>
                  <a:off x="3216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22619" name="Rectangle 27"/>
                <p:cNvSpPr>
                  <a:spLocks noChangeArrowheads="1"/>
                </p:cNvSpPr>
                <p:nvPr/>
              </p:nvSpPr>
              <p:spPr bwMode="auto">
                <a:xfrm>
                  <a:off x="4224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2262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68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22621" name="Rectangle 29"/>
                <p:cNvSpPr>
                  <a:spLocks noChangeArrowheads="1"/>
                </p:cNvSpPr>
                <p:nvPr/>
              </p:nvSpPr>
              <p:spPr bwMode="auto">
                <a:xfrm>
                  <a:off x="4512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22622" name="Rectangle 30"/>
                <p:cNvSpPr>
                  <a:spLocks noChangeArrowheads="1"/>
                </p:cNvSpPr>
                <p:nvPr/>
              </p:nvSpPr>
              <p:spPr bwMode="auto">
                <a:xfrm>
                  <a:off x="3360" y="3456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0">
                      <a:latin typeface="Courier New" panose="02070309020205020404" pitchFamily="49" charset="0"/>
                    </a:rPr>
                    <a:t>• • •</a:t>
                  </a: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322601" name="Line 31"/>
            <p:cNvSpPr>
              <a:spLocks noChangeShapeType="1"/>
            </p:cNvSpPr>
            <p:nvPr/>
          </p:nvSpPr>
          <p:spPr bwMode="auto">
            <a:xfrm flipH="1">
              <a:off x="1440" y="2544"/>
              <a:ext cx="288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2" name="Line 32"/>
            <p:cNvSpPr>
              <a:spLocks noChangeShapeType="1"/>
            </p:cNvSpPr>
            <p:nvPr/>
          </p:nvSpPr>
          <p:spPr bwMode="auto">
            <a:xfrm flipH="1">
              <a:off x="768" y="2544"/>
              <a:ext cx="96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3" name="Line 33"/>
            <p:cNvSpPr>
              <a:spLocks noChangeShapeType="1"/>
            </p:cNvSpPr>
            <p:nvPr/>
          </p:nvSpPr>
          <p:spPr bwMode="auto">
            <a:xfrm flipH="1">
              <a:off x="624" y="2544"/>
              <a:ext cx="110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4" name="Line 34"/>
            <p:cNvSpPr>
              <a:spLocks noChangeShapeType="1"/>
            </p:cNvSpPr>
            <p:nvPr/>
          </p:nvSpPr>
          <p:spPr bwMode="auto">
            <a:xfrm>
              <a:off x="1872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5" name="Line 35"/>
            <p:cNvSpPr>
              <a:spLocks noChangeShapeType="1"/>
            </p:cNvSpPr>
            <p:nvPr/>
          </p:nvSpPr>
          <p:spPr bwMode="auto">
            <a:xfrm>
              <a:off x="2016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6" name="Line 36"/>
            <p:cNvSpPr>
              <a:spLocks noChangeShapeType="1"/>
            </p:cNvSpPr>
            <p:nvPr/>
          </p:nvSpPr>
          <p:spPr bwMode="auto">
            <a:xfrm>
              <a:off x="3024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7" name="Line 37"/>
            <p:cNvSpPr>
              <a:spLocks noChangeShapeType="1"/>
            </p:cNvSpPr>
            <p:nvPr/>
          </p:nvSpPr>
          <p:spPr bwMode="auto">
            <a:xfrm>
              <a:off x="3168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8" name="Line 38"/>
            <p:cNvSpPr>
              <a:spLocks noChangeShapeType="1"/>
            </p:cNvSpPr>
            <p:nvPr/>
          </p:nvSpPr>
          <p:spPr bwMode="auto">
            <a:xfrm>
              <a:off x="3312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609" name="Rectangle 39"/>
            <p:cNvSpPr>
              <a:spLocks noChangeArrowheads="1"/>
            </p:cNvSpPr>
            <p:nvPr/>
          </p:nvSpPr>
          <p:spPr bwMode="auto">
            <a:xfrm>
              <a:off x="1056" y="3072"/>
              <a:ext cx="4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0">
                  <a:latin typeface="Courier New" panose="02070309020205020404" pitchFamily="49" charset="0"/>
                </a:rPr>
                <a:t>• • •</a:t>
              </a:r>
              <a:endParaRPr lang="zh-CN" altLang="en-US" sz="1400" b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22566" name="Group 40"/>
          <p:cNvGrpSpPr/>
          <p:nvPr/>
        </p:nvGrpSpPr>
        <p:grpSpPr bwMode="auto">
          <a:xfrm>
            <a:off x="5257800" y="3276600"/>
            <a:ext cx="3581400" cy="2805113"/>
            <a:chOff x="1920" y="1576"/>
            <a:chExt cx="2256" cy="1767"/>
          </a:xfrm>
        </p:grpSpPr>
        <p:sp>
          <p:nvSpPr>
            <p:cNvPr id="322567" name="Rectangle 41"/>
            <p:cNvSpPr>
              <a:spLocks noChangeArrowheads="1"/>
            </p:cNvSpPr>
            <p:nvPr/>
          </p:nvSpPr>
          <p:spPr bwMode="auto">
            <a:xfrm>
              <a:off x="2448" y="1872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panose="02070309020205020404" pitchFamily="49" charset="0"/>
                </a:rPr>
                <a:t>-</a:t>
              </a: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68" name="Rectangle 42"/>
            <p:cNvSpPr>
              <a:spLocks noChangeArrowheads="1"/>
            </p:cNvSpPr>
            <p:nvPr/>
          </p:nvSpPr>
          <p:spPr bwMode="auto">
            <a:xfrm>
              <a:off x="2592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69" name="Rectangle 43"/>
            <p:cNvSpPr>
              <a:spLocks noChangeArrowheads="1"/>
            </p:cNvSpPr>
            <p:nvPr/>
          </p:nvSpPr>
          <p:spPr bwMode="auto">
            <a:xfrm>
              <a:off x="2736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70" name="Rectangle 44"/>
            <p:cNvSpPr>
              <a:spLocks noChangeArrowheads="1"/>
            </p:cNvSpPr>
            <p:nvPr/>
          </p:nvSpPr>
          <p:spPr bwMode="auto">
            <a:xfrm>
              <a:off x="3744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71" name="Rectangle 45"/>
            <p:cNvSpPr>
              <a:spLocks noChangeArrowheads="1"/>
            </p:cNvSpPr>
            <p:nvPr/>
          </p:nvSpPr>
          <p:spPr bwMode="auto">
            <a:xfrm>
              <a:off x="3888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72" name="Rectangle 46"/>
            <p:cNvSpPr>
              <a:spLocks noChangeArrowheads="1"/>
            </p:cNvSpPr>
            <p:nvPr/>
          </p:nvSpPr>
          <p:spPr bwMode="auto">
            <a:xfrm>
              <a:off x="4032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73" name="Rectangle 47"/>
            <p:cNvSpPr>
              <a:spLocks noChangeArrowheads="1"/>
            </p:cNvSpPr>
            <p:nvPr/>
          </p:nvSpPr>
          <p:spPr bwMode="auto">
            <a:xfrm>
              <a:off x="2880" y="187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panose="02070309020205020404" pitchFamily="49" charset="0"/>
                </a:rPr>
                <a:t>• • •</a:t>
              </a: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74" name="Rectangle 48"/>
            <p:cNvSpPr>
              <a:spLocks noChangeArrowheads="1"/>
            </p:cNvSpPr>
            <p:nvPr/>
          </p:nvSpPr>
          <p:spPr bwMode="auto">
            <a:xfrm>
              <a:off x="2064" y="1824"/>
              <a:ext cx="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X</a:t>
              </a:r>
              <a:r>
                <a:rPr lang="en-US" altLang="zh-CN" sz="1800" b="0">
                  <a:latin typeface="Times" panose="02020603050405020304" pitchFamily="18" charset="0"/>
                </a:rPr>
                <a:t> </a:t>
              </a:r>
              <a:endParaRPr lang="en-US" altLang="zh-CN" sz="1800" b="0">
                <a:latin typeface="Symbol" panose="05050102010706020507" pitchFamily="18" charset="2"/>
              </a:endParaRPr>
            </a:p>
          </p:txBody>
        </p:sp>
        <p:sp>
          <p:nvSpPr>
            <p:cNvPr id="322575" name="Rectangle 49"/>
            <p:cNvSpPr>
              <a:spLocks noChangeArrowheads="1"/>
            </p:cNvSpPr>
            <p:nvPr/>
          </p:nvSpPr>
          <p:spPr bwMode="auto">
            <a:xfrm>
              <a:off x="1920" y="2832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X</a:t>
              </a:r>
              <a:r>
                <a:rPr lang="en-US" altLang="zh-CN" sz="1800" b="0">
                  <a:latin typeface="Times" panose="02020603050405020304" pitchFamily="18" charset="0"/>
                </a:rPr>
                <a:t> </a:t>
              </a:r>
              <a:r>
                <a:rPr lang="en-US" altLang="zh-CN" sz="1800" b="0">
                  <a:latin typeface="Symbol" panose="05050102010706020507" pitchFamily="18" charset="2"/>
                </a:rPr>
                <a:t></a:t>
              </a:r>
              <a:endParaRPr lang="en-US" altLang="zh-CN" sz="1800" b="0">
                <a:latin typeface="Symbol" panose="05050102010706020507" pitchFamily="18" charset="2"/>
              </a:endParaRPr>
            </a:p>
          </p:txBody>
        </p:sp>
        <p:sp>
          <p:nvSpPr>
            <p:cNvPr id="322576" name="Line 50"/>
            <p:cNvSpPr>
              <a:spLocks noChangeShapeType="1"/>
            </p:cNvSpPr>
            <p:nvPr/>
          </p:nvSpPr>
          <p:spPr bwMode="auto">
            <a:xfrm>
              <a:off x="2544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77" name="Line 51"/>
            <p:cNvSpPr>
              <a:spLocks noChangeShapeType="1"/>
            </p:cNvSpPr>
            <p:nvPr/>
          </p:nvSpPr>
          <p:spPr bwMode="auto">
            <a:xfrm flipH="1">
              <a:off x="2400" y="2064"/>
              <a:ext cx="14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78" name="Rectangle 52"/>
            <p:cNvSpPr>
              <a:spLocks noChangeArrowheads="1"/>
            </p:cNvSpPr>
            <p:nvPr/>
          </p:nvSpPr>
          <p:spPr bwMode="auto">
            <a:xfrm>
              <a:off x="2304" y="2928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panose="02070309020205020404" pitchFamily="49" charset="0"/>
                </a:rPr>
                <a:t>-</a:t>
              </a: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79" name="Rectangle 53"/>
            <p:cNvSpPr>
              <a:spLocks noChangeArrowheads="1"/>
            </p:cNvSpPr>
            <p:nvPr/>
          </p:nvSpPr>
          <p:spPr bwMode="auto">
            <a:xfrm>
              <a:off x="2448" y="2928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panose="02070309020205020404" pitchFamily="49" charset="0"/>
                </a:rPr>
                <a:t>+</a:t>
              </a: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0" name="Rectangle 54"/>
            <p:cNvSpPr>
              <a:spLocks noChangeArrowheads="1"/>
            </p:cNvSpPr>
            <p:nvPr/>
          </p:nvSpPr>
          <p:spPr bwMode="auto">
            <a:xfrm>
              <a:off x="2592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1" name="Rectangle 55"/>
            <p:cNvSpPr>
              <a:spLocks noChangeArrowheads="1"/>
            </p:cNvSpPr>
            <p:nvPr/>
          </p:nvSpPr>
          <p:spPr bwMode="auto">
            <a:xfrm>
              <a:off x="2736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2" name="Rectangle 56"/>
            <p:cNvSpPr>
              <a:spLocks noChangeArrowheads="1"/>
            </p:cNvSpPr>
            <p:nvPr/>
          </p:nvSpPr>
          <p:spPr bwMode="auto">
            <a:xfrm>
              <a:off x="3744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3" name="Rectangle 57"/>
            <p:cNvSpPr>
              <a:spLocks noChangeArrowheads="1"/>
            </p:cNvSpPr>
            <p:nvPr/>
          </p:nvSpPr>
          <p:spPr bwMode="auto">
            <a:xfrm>
              <a:off x="3888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4" name="Rectangle 58"/>
            <p:cNvSpPr>
              <a:spLocks noChangeArrowheads="1"/>
            </p:cNvSpPr>
            <p:nvPr/>
          </p:nvSpPr>
          <p:spPr bwMode="auto">
            <a:xfrm>
              <a:off x="4032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5" name="Rectangle 59"/>
            <p:cNvSpPr>
              <a:spLocks noChangeArrowheads="1"/>
            </p:cNvSpPr>
            <p:nvPr/>
          </p:nvSpPr>
          <p:spPr bwMode="auto">
            <a:xfrm>
              <a:off x="2880" y="292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panose="02070309020205020404" pitchFamily="49" charset="0"/>
                </a:rPr>
                <a:t>• • •</a:t>
              </a:r>
              <a:endParaRPr lang="zh-CN" altLang="en-US" sz="1800" b="0">
                <a:latin typeface="Courier New" panose="02070309020205020404" pitchFamily="49" charset="0"/>
              </a:endParaRPr>
            </a:p>
          </p:txBody>
        </p:sp>
        <p:sp>
          <p:nvSpPr>
            <p:cNvPr id="322586" name="Line 60"/>
            <p:cNvSpPr>
              <a:spLocks noChangeShapeType="1"/>
            </p:cNvSpPr>
            <p:nvPr/>
          </p:nvSpPr>
          <p:spPr bwMode="auto">
            <a:xfrm>
              <a:off x="2688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87" name="Line 61"/>
            <p:cNvSpPr>
              <a:spLocks noChangeShapeType="1"/>
            </p:cNvSpPr>
            <p:nvPr/>
          </p:nvSpPr>
          <p:spPr bwMode="auto">
            <a:xfrm>
              <a:off x="2832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88" name="Line 62"/>
            <p:cNvSpPr>
              <a:spLocks noChangeShapeType="1"/>
            </p:cNvSpPr>
            <p:nvPr/>
          </p:nvSpPr>
          <p:spPr bwMode="auto">
            <a:xfrm>
              <a:off x="3840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89" name="Line 63"/>
            <p:cNvSpPr>
              <a:spLocks noChangeShapeType="1"/>
            </p:cNvSpPr>
            <p:nvPr/>
          </p:nvSpPr>
          <p:spPr bwMode="auto">
            <a:xfrm>
              <a:off x="3984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90" name="Line 64"/>
            <p:cNvSpPr>
              <a:spLocks noChangeShapeType="1"/>
            </p:cNvSpPr>
            <p:nvPr/>
          </p:nvSpPr>
          <p:spPr bwMode="auto">
            <a:xfrm>
              <a:off x="4128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91" name="Line 65"/>
            <p:cNvSpPr>
              <a:spLocks noChangeShapeType="1"/>
            </p:cNvSpPr>
            <p:nvPr/>
          </p:nvSpPr>
          <p:spPr bwMode="auto">
            <a:xfrm>
              <a:off x="2304" y="3208"/>
              <a:ext cx="1872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92" name="Rectangle 66"/>
            <p:cNvSpPr>
              <a:spLocks noChangeArrowheads="1"/>
            </p:cNvSpPr>
            <p:nvPr/>
          </p:nvSpPr>
          <p:spPr bwMode="auto">
            <a:xfrm>
              <a:off x="3216" y="3112"/>
              <a:ext cx="38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Helvetica" panose="020B0604020202020204" pitchFamily="34" charset="0"/>
                </a:rPr>
                <a:t>w</a:t>
              </a:r>
              <a:r>
                <a:rPr lang="en-US" altLang="zh-CN" sz="1800" b="0">
                  <a:latin typeface="Helvetica" panose="020B0604020202020204" pitchFamily="34" charset="0"/>
                </a:rPr>
                <a:t>+1</a:t>
              </a:r>
              <a:endParaRPr lang="en-US" altLang="zh-CN" sz="1800" b="0" i="1">
                <a:latin typeface="Helvetica" panose="020B0604020202020204" pitchFamily="34" charset="0"/>
              </a:endParaRPr>
            </a:p>
          </p:txBody>
        </p:sp>
        <p:sp>
          <p:nvSpPr>
            <p:cNvPr id="322593" name="Line 67"/>
            <p:cNvSpPr>
              <a:spLocks noChangeShapeType="1"/>
            </p:cNvSpPr>
            <p:nvPr/>
          </p:nvSpPr>
          <p:spPr bwMode="auto">
            <a:xfrm>
              <a:off x="2448" y="1680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594" name="Rectangle 68"/>
            <p:cNvSpPr>
              <a:spLocks noChangeArrowheads="1"/>
            </p:cNvSpPr>
            <p:nvPr/>
          </p:nvSpPr>
          <p:spPr bwMode="auto">
            <a:xfrm>
              <a:off x="3216" y="1576"/>
              <a:ext cx="220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Helvetica" panose="020B0604020202020204" pitchFamily="34" charset="0"/>
                </a:rPr>
                <a:t>w</a:t>
              </a:r>
              <a:endParaRPr lang="en-US" altLang="zh-CN" sz="1800" b="0" i="1"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60952F-E5D4-4E8F-9DF2-4F592720F19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46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From short to long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4612" name="Rectangle 3"/>
          <p:cNvSpPr>
            <a:spLocks noChangeArrowheads="1"/>
          </p:cNvSpPr>
          <p:nvPr/>
        </p:nvSpPr>
        <p:spPr bwMode="auto">
          <a:xfrm>
            <a:off x="533400" y="1524000"/>
            <a:ext cx="78486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short int sx = 12345;	</a:t>
            </a:r>
            <a:r>
              <a:rPr lang="zh-CN" altLang="en-US">
                <a:latin typeface="Courier New" panose="02070309020205020404" pitchFamily="49" charset="0"/>
              </a:rPr>
              <a:t>：</a:t>
            </a:r>
            <a:r>
              <a:rPr lang="en-US" altLang="zh-CN">
                <a:latin typeface="Courier New" panose="02070309020205020404" pitchFamily="49" charset="0"/>
              </a:rPr>
              <a:t>0x0309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int x = (int) sx; 	: 0x00000309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short int sy =-12345;: 0xcfc7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int y = (int) sy;		: 0xffffcfc7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usinged ux = sy;		: 0xffffcfc7</a:t>
            </a:r>
            <a:endParaRPr lang="en-US" altLang="zh-CN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2EF19-32A3-4391-9733-56EC8FF0F95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66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From short to long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6660" name="Rectangle 4"/>
          <p:cNvSpPr>
            <a:spLocks noChangeArrowheads="1"/>
          </p:cNvSpPr>
          <p:nvPr/>
        </p:nvSpPr>
        <p:spPr bwMode="auto">
          <a:xfrm>
            <a:off x="533400" y="1524000"/>
            <a:ext cx="78486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int fun1(unsigned word) {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(int) ((word &lt;&lt; 24) &gt;&gt; 24);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int fun2(unsigned word) {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((int) word &lt;&lt; 24) &gt;&gt; 24;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w 			fun1(w) 		fun2(w)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0x00000076		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0x87654321		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0x000000C9		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0xEDCBA987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in words the useful computation each of these functions performs.</a:t>
            </a:r>
            <a:endParaRPr lang="en-US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81363" y="4089400"/>
            <a:ext cx="4186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00000076	   	00000076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76600" y="4465638"/>
            <a:ext cx="4186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00000021	   	00000021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81363" y="4821238"/>
            <a:ext cx="445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000000C9	   	FFFFFFC9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281363" y="5189538"/>
            <a:ext cx="4387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00000087	   	FFFFFF87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C01D02-107A-443B-ADF5-2090A3E8EEF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87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From long to short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8708" name="Rectangle 4"/>
          <p:cNvSpPr>
            <a:spLocks noChangeArrowheads="1"/>
          </p:cNvSpPr>
          <p:nvPr/>
        </p:nvSpPr>
        <p:spPr bwMode="auto">
          <a:xfrm>
            <a:off x="533400" y="1524000"/>
            <a:ext cx="78486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int       x  = 53191;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short int sx = x;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int       y  = -12345;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Courier New" panose="02070309020205020404" pitchFamily="49" charset="0"/>
              </a:rPr>
              <a:t>Short int sy = y;</a:t>
            </a:r>
            <a:endParaRPr lang="en-US" altLang="zh-CN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0"/>
              <a:t>We need to truncate the data size</a:t>
            </a:r>
            <a:endParaRPr lang="en-US" altLang="zh-CN" b="0"/>
          </a:p>
          <a:p>
            <a:pPr>
              <a:spcBef>
                <a:spcPct val="50000"/>
              </a:spcBef>
            </a:pPr>
            <a:r>
              <a:rPr lang="en-US" altLang="zh-CN" b="0"/>
              <a:t>Casing from long to short is trick</a:t>
            </a:r>
            <a:endParaRPr lang="en-US" altLang="zh-CN" b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F10020-29DE-4A0A-BDB0-6A23A2DF246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0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Truncating Numbers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751789" name="Group 17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45475" cy="2209801"/>
        </p:xfrm>
        <a:graphic>
          <a:graphicData uri="http://schemas.openxmlformats.org/drawingml/2006/table">
            <a:tbl>
              <a:tblPr/>
              <a:tblGrid>
                <a:gridCol w="457200"/>
                <a:gridCol w="1139825"/>
                <a:gridCol w="1685925"/>
                <a:gridCol w="4962525"/>
              </a:tblGrid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Decimal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Hex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Binary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53191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00 00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00000000 00000000 11001111 11000111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sx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-12345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          11001111 11000111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-12345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FF FF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11111111 11111111 11001111 11000111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sy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-12345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          11001111 11000111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30788" name="Group 174"/>
          <p:cNvGrpSpPr/>
          <p:nvPr/>
        </p:nvGrpSpPr>
        <p:grpSpPr bwMode="auto">
          <a:xfrm>
            <a:off x="1295400" y="4052888"/>
            <a:ext cx="5334000" cy="2271712"/>
            <a:chOff x="48" y="2592"/>
            <a:chExt cx="3360" cy="1431"/>
          </a:xfrm>
        </p:grpSpPr>
        <p:grpSp>
          <p:nvGrpSpPr>
            <p:cNvPr id="330789" name="Group 175"/>
            <p:cNvGrpSpPr/>
            <p:nvPr/>
          </p:nvGrpSpPr>
          <p:grpSpPr bwMode="auto">
            <a:xfrm>
              <a:off x="1680" y="3792"/>
              <a:ext cx="1728" cy="144"/>
              <a:chOff x="1680" y="3792"/>
              <a:chExt cx="1728" cy="144"/>
            </a:xfrm>
          </p:grpSpPr>
          <p:sp>
            <p:nvSpPr>
              <p:cNvPr id="330812" name="Rectangle 176"/>
              <p:cNvSpPr>
                <a:spLocks noChangeArrowheads="1"/>
              </p:cNvSpPr>
              <p:nvPr/>
            </p:nvSpPr>
            <p:spPr bwMode="auto">
              <a:xfrm>
                <a:off x="1680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solidFill>
                    <a:schemeClr val="bg1"/>
                  </a:solidFill>
                  <a:latin typeface="Courier New" panose="02070309020205020404" pitchFamily="49" charset="0"/>
                </a:endParaRPr>
              </a:p>
            </p:txBody>
          </p:sp>
          <p:sp>
            <p:nvSpPr>
              <p:cNvPr id="330813" name="Rectangle 177"/>
              <p:cNvSpPr>
                <a:spLocks noChangeArrowheads="1"/>
              </p:cNvSpPr>
              <p:nvPr/>
            </p:nvSpPr>
            <p:spPr bwMode="auto">
              <a:xfrm>
                <a:off x="1824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14" name="Rectangle 178"/>
              <p:cNvSpPr>
                <a:spLocks noChangeArrowheads="1"/>
              </p:cNvSpPr>
              <p:nvPr/>
            </p:nvSpPr>
            <p:spPr bwMode="auto">
              <a:xfrm>
                <a:off x="1968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15" name="Rectangle 179"/>
              <p:cNvSpPr>
                <a:spLocks noChangeArrowheads="1"/>
              </p:cNvSpPr>
              <p:nvPr/>
            </p:nvSpPr>
            <p:spPr bwMode="auto">
              <a:xfrm>
                <a:off x="2976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16" name="Rectangle 180"/>
              <p:cNvSpPr>
                <a:spLocks noChangeArrowheads="1"/>
              </p:cNvSpPr>
              <p:nvPr/>
            </p:nvSpPr>
            <p:spPr bwMode="auto">
              <a:xfrm>
                <a:off x="3120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17" name="Rectangle 181"/>
              <p:cNvSpPr>
                <a:spLocks noChangeArrowheads="1"/>
              </p:cNvSpPr>
              <p:nvPr/>
            </p:nvSpPr>
            <p:spPr bwMode="auto">
              <a:xfrm>
                <a:off x="3264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18" name="Rectangle 182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panose="02070309020205020404" pitchFamily="49" charset="0"/>
                  </a:rPr>
                  <a:t>• • •</a:t>
                </a: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30790" name="Rectangle 183"/>
            <p:cNvSpPr>
              <a:spLocks noChangeArrowheads="1"/>
            </p:cNvSpPr>
            <p:nvPr/>
          </p:nvSpPr>
          <p:spPr bwMode="auto">
            <a:xfrm>
              <a:off x="96" y="3792"/>
              <a:ext cx="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X</a:t>
              </a:r>
              <a:r>
                <a:rPr lang="en-US" altLang="zh-CN" sz="1800" b="0">
                  <a:latin typeface="Times" panose="02020603050405020304" pitchFamily="18" charset="0"/>
                </a:rPr>
                <a:t> </a:t>
              </a:r>
              <a:endParaRPr lang="en-US" altLang="zh-CN" sz="1800" b="0">
                <a:latin typeface="Symbol" panose="05050102010706020507" pitchFamily="18" charset="2"/>
              </a:endParaRPr>
            </a:p>
          </p:txBody>
        </p:sp>
        <p:sp>
          <p:nvSpPr>
            <p:cNvPr id="330791" name="Rectangle 184"/>
            <p:cNvSpPr>
              <a:spLocks noChangeArrowheads="1"/>
            </p:cNvSpPr>
            <p:nvPr/>
          </p:nvSpPr>
          <p:spPr bwMode="auto">
            <a:xfrm>
              <a:off x="48" y="2592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X</a:t>
              </a:r>
              <a:r>
                <a:rPr lang="en-US" altLang="zh-CN" sz="1800" b="0">
                  <a:latin typeface="Times" panose="02020603050405020304" pitchFamily="18" charset="0"/>
                </a:rPr>
                <a:t> </a:t>
              </a:r>
              <a:r>
                <a:rPr lang="en-US" altLang="zh-CN" sz="1800" b="0">
                  <a:latin typeface="Symbol" panose="05050102010706020507" pitchFamily="18" charset="2"/>
                </a:rPr>
                <a:t></a:t>
              </a:r>
              <a:endParaRPr lang="en-US" altLang="zh-CN" sz="1800" b="0">
                <a:latin typeface="Symbol" panose="05050102010706020507" pitchFamily="18" charset="2"/>
              </a:endParaRPr>
            </a:p>
          </p:txBody>
        </p:sp>
        <p:sp>
          <p:nvSpPr>
            <p:cNvPr id="330792" name="Line 185"/>
            <p:cNvSpPr>
              <a:spLocks noChangeShapeType="1"/>
            </p:cNvSpPr>
            <p:nvPr/>
          </p:nvSpPr>
          <p:spPr bwMode="auto">
            <a:xfrm>
              <a:off x="1728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0793" name="Group 186"/>
            <p:cNvGrpSpPr/>
            <p:nvPr/>
          </p:nvGrpSpPr>
          <p:grpSpPr bwMode="auto">
            <a:xfrm>
              <a:off x="528" y="2640"/>
              <a:ext cx="2832" cy="144"/>
              <a:chOff x="528" y="2640"/>
              <a:chExt cx="2832" cy="144"/>
            </a:xfrm>
          </p:grpSpPr>
          <p:sp>
            <p:nvSpPr>
              <p:cNvPr id="330799" name="Rectangle 187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528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panose="02070309020205020404" pitchFamily="49" charset="0"/>
                  </a:rPr>
                  <a:t>• • •</a:t>
                </a: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00" name="Rectangle 188"/>
              <p:cNvSpPr>
                <a:spLocks noChangeArrowheads="1"/>
              </p:cNvSpPr>
              <p:nvPr/>
            </p:nvSpPr>
            <p:spPr bwMode="auto">
              <a:xfrm>
                <a:off x="1488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01" name="Rectangle 189"/>
              <p:cNvSpPr>
                <a:spLocks noChangeArrowheads="1"/>
              </p:cNvSpPr>
              <p:nvPr/>
            </p:nvSpPr>
            <p:spPr bwMode="auto">
              <a:xfrm>
                <a:off x="1344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02" name="Rectangle 190"/>
              <p:cNvSpPr>
                <a:spLocks noChangeArrowheads="1"/>
              </p:cNvSpPr>
              <p:nvPr/>
            </p:nvSpPr>
            <p:spPr bwMode="auto">
              <a:xfrm>
                <a:off x="672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0803" name="Rectangle 191"/>
              <p:cNvSpPr>
                <a:spLocks noChangeArrowheads="1"/>
              </p:cNvSpPr>
              <p:nvPr/>
            </p:nvSpPr>
            <p:spPr bwMode="auto">
              <a:xfrm>
                <a:off x="528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panose="02070309020205020404" pitchFamily="49" charset="0"/>
                </a:endParaRPr>
              </a:p>
            </p:txBody>
          </p:sp>
          <p:grpSp>
            <p:nvGrpSpPr>
              <p:cNvPr id="330804" name="Group 192"/>
              <p:cNvGrpSpPr/>
              <p:nvPr/>
            </p:nvGrpSpPr>
            <p:grpSpPr bwMode="auto">
              <a:xfrm>
                <a:off x="1632" y="2640"/>
                <a:ext cx="1728" cy="144"/>
                <a:chOff x="1632" y="2640"/>
                <a:chExt cx="1728" cy="144"/>
              </a:xfrm>
            </p:grpSpPr>
            <p:sp>
              <p:nvSpPr>
                <p:cNvPr id="330805" name="Rectangle 193"/>
                <p:cNvSpPr>
                  <a:spLocks noChangeArrowheads="1"/>
                </p:cNvSpPr>
                <p:nvPr/>
              </p:nvSpPr>
              <p:spPr bwMode="auto">
                <a:xfrm>
                  <a:off x="1632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solidFill>
                      <a:schemeClr val="bg1"/>
                    </a:solidFill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30806" name="Rectangle 194"/>
                <p:cNvSpPr>
                  <a:spLocks noChangeArrowheads="1"/>
                </p:cNvSpPr>
                <p:nvPr/>
              </p:nvSpPr>
              <p:spPr bwMode="auto">
                <a:xfrm>
                  <a:off x="1776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30807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0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30808" name="Rectangle 196"/>
                <p:cNvSpPr>
                  <a:spLocks noChangeArrowheads="1"/>
                </p:cNvSpPr>
                <p:nvPr/>
              </p:nvSpPr>
              <p:spPr bwMode="auto">
                <a:xfrm>
                  <a:off x="2928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30809" name="Rectangle 197"/>
                <p:cNvSpPr>
                  <a:spLocks noChangeArrowheads="1"/>
                </p:cNvSpPr>
                <p:nvPr/>
              </p:nvSpPr>
              <p:spPr bwMode="auto">
                <a:xfrm>
                  <a:off x="3072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30810" name="Rectangle 198"/>
                <p:cNvSpPr>
                  <a:spLocks noChangeArrowheads="1"/>
                </p:cNvSpPr>
                <p:nvPr/>
              </p:nvSpPr>
              <p:spPr bwMode="auto">
                <a:xfrm>
                  <a:off x="3216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30811" name="Rectangle 199"/>
                <p:cNvSpPr>
                  <a:spLocks noChangeArrowheads="1"/>
                </p:cNvSpPr>
                <p:nvPr/>
              </p:nvSpPr>
              <p:spPr bwMode="auto">
                <a:xfrm>
                  <a:off x="2064" y="2640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0">
                      <a:latin typeface="Courier New" panose="02070309020205020404" pitchFamily="49" charset="0"/>
                    </a:rPr>
                    <a:t>• • •</a:t>
                  </a:r>
                  <a:endParaRPr lang="zh-CN" altLang="en-US" sz="1800" b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330794" name="Line 200"/>
            <p:cNvSpPr>
              <a:spLocks noChangeShapeType="1"/>
            </p:cNvSpPr>
            <p:nvPr/>
          </p:nvSpPr>
          <p:spPr bwMode="auto">
            <a:xfrm>
              <a:off x="1872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795" name="Line 201"/>
            <p:cNvSpPr>
              <a:spLocks noChangeShapeType="1"/>
            </p:cNvSpPr>
            <p:nvPr/>
          </p:nvSpPr>
          <p:spPr bwMode="auto">
            <a:xfrm>
              <a:off x="2016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796" name="Line 202"/>
            <p:cNvSpPr>
              <a:spLocks noChangeShapeType="1"/>
            </p:cNvSpPr>
            <p:nvPr/>
          </p:nvSpPr>
          <p:spPr bwMode="auto">
            <a:xfrm>
              <a:off x="3024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797" name="Line 203"/>
            <p:cNvSpPr>
              <a:spLocks noChangeShapeType="1"/>
            </p:cNvSpPr>
            <p:nvPr/>
          </p:nvSpPr>
          <p:spPr bwMode="auto">
            <a:xfrm>
              <a:off x="3168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798" name="Line 204"/>
            <p:cNvSpPr>
              <a:spLocks noChangeShapeType="1"/>
            </p:cNvSpPr>
            <p:nvPr/>
          </p:nvSpPr>
          <p:spPr bwMode="auto">
            <a:xfrm>
              <a:off x="3312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D4F098-490B-40C5-B4E6-B1A035A16F8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2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Truncating Numbers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32804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Unsigned Truncating</a:t>
            </a:r>
            <a:endParaRPr kumimoji="1"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Signed Truncating</a:t>
            </a:r>
            <a:endParaRPr kumimoji="1"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33280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14400" y="2209800"/>
          <a:ext cx="7620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Microsoft 公式 3.0" r:id="rId1" imgW="3505200" imgH="241300" progId="Equation.3">
                  <p:embed/>
                </p:oleObj>
              </mc:Choice>
              <mc:Fallback>
                <p:oleObj name="Microsoft 公式 3.0" r:id="rId1" imgW="3505200" imgH="2413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09800"/>
                        <a:ext cx="7620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6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838200" y="3619500"/>
          <a:ext cx="7772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3" imgW="3898900" imgH="241300" progId="Equation.DSMT4">
                  <p:embed/>
                </p:oleObj>
              </mc:Choice>
              <mc:Fallback>
                <p:oleObj name="Equation" r:id="rId3" imgW="3898900" imgH="241300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619500"/>
                        <a:ext cx="7772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7F9A89-DAE0-482A-8A61-77CFF119C18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48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Advice on Signed vs.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34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419600"/>
          </a:xfrm>
        </p:spPr>
        <p:txBody>
          <a:bodyPr/>
          <a:lstStyle/>
          <a:p>
            <a:pPr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Non-intuitive Features</a:t>
            </a: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float sum_elements ( float a[], unsigned length )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i ;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float result  = 0;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for ( i = 0; i &lt;= length – 1; i++)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result += a[i] ;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result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3035EE-374D-45A5-8727-8374D7E8800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68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Advice on Signed vs.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36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/* Prototype for library function strlen */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size_t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strlen(const char *s); /*size_t is usigned */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/* Determine whether string s is longer than string t */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/* WARNING: This function is buggy */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strlonger(char *s, char *t) {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strlen(s) - strlen(t) &gt; 0;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830E88-8A59-4194-9817-A95603F0F8C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89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Advice on Signed vs.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38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/*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* Illustration of code vulnerability similar to that found in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* FreeBSD’s implementation of getpeername()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/* Declaration of library function memcpy */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 void *memcpy(void *dest, void *src,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size_t n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468DC4-57E6-4BBA-A0E1-F482926B635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409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Advice on Signed vs.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40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4876800"/>
          </a:xfrm>
        </p:spPr>
        <p:txBody>
          <a:bodyPr/>
          <a:lstStyle/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 /* Kernel memory region holding user-accessible data */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 #define KSIZE 1024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 char kbuf[KSIZE];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 /* Copy at most maxlen bytes from kernel region to user buffer */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 int copy_from_kernel(void *user_dest, int maxlen) {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 	/* Byte count len is minimum of buffer size and maxlen */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nl-NL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	 	</a:t>
            </a:r>
            <a:r>
              <a:rPr lang="nl-NL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len </a:t>
            </a:r>
            <a:r>
              <a:rPr lang="nl-NL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KSIZE &lt; maxlen ? KSIZE : maxlen;</a:t>
            </a:r>
            <a:endParaRPr lang="nl-NL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 	memcpy(user_dest, kbuf,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 	return len;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 }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Invoking copy_from_kernel() with a negative maxlen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BEF571-FFFB-4759-8760-14C73D845E2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430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Advice on Signed vs. Unsigned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43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Collections of bits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Bit vectors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Masks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Addresses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Multiprecision Arithmetic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Numbers are represented by arrays of words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060607-79B4-403C-8DE5-42DC14AF138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450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Arithmetic Operations 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305989-B6FD-449B-894F-95FD6545E6D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47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7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Arithmetic Operations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Unsigned addition, multiplication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Signed addition, negation, multiplication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Using Shift to perform power-of-2 multiply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Suggested reading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Chap 2.3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D8146A-CD98-4FFF-BA09-AB9D36DC36C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49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Addition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pSp>
        <p:nvGrpSpPr>
          <p:cNvPr id="349188" name="Group 48"/>
          <p:cNvGrpSpPr/>
          <p:nvPr/>
        </p:nvGrpSpPr>
        <p:grpSpPr bwMode="auto">
          <a:xfrm>
            <a:off x="609600" y="1981200"/>
            <a:ext cx="8001000" cy="2700338"/>
            <a:chOff x="384" y="1248"/>
            <a:chExt cx="4512" cy="1057"/>
          </a:xfrm>
        </p:grpSpPr>
        <p:grpSp>
          <p:nvGrpSpPr>
            <p:cNvPr id="349189" name="Group 4"/>
            <p:cNvGrpSpPr/>
            <p:nvPr/>
          </p:nvGrpSpPr>
          <p:grpSpPr bwMode="auto">
            <a:xfrm>
              <a:off x="3072" y="1296"/>
              <a:ext cx="1728" cy="144"/>
              <a:chOff x="2976" y="816"/>
              <a:chExt cx="1728" cy="144"/>
            </a:xfrm>
          </p:grpSpPr>
          <p:sp>
            <p:nvSpPr>
              <p:cNvPr id="349226" name="Rectangle 5"/>
              <p:cNvSpPr>
                <a:spLocks noChangeArrowheads="1"/>
              </p:cNvSpPr>
              <p:nvPr/>
            </p:nvSpPr>
            <p:spPr bwMode="auto">
              <a:xfrm>
                <a:off x="2976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7" name="Rectangle 6"/>
              <p:cNvSpPr>
                <a:spLocks noChangeArrowheads="1"/>
              </p:cNvSpPr>
              <p:nvPr/>
            </p:nvSpPr>
            <p:spPr bwMode="auto">
              <a:xfrm>
                <a:off x="3120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8" name="Rectangle 7"/>
              <p:cNvSpPr>
                <a:spLocks noChangeArrowheads="1"/>
              </p:cNvSpPr>
              <p:nvPr/>
            </p:nvSpPr>
            <p:spPr bwMode="auto">
              <a:xfrm>
                <a:off x="3264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9" name="Rectangle 8"/>
              <p:cNvSpPr>
                <a:spLocks noChangeArrowheads="1"/>
              </p:cNvSpPr>
              <p:nvPr/>
            </p:nvSpPr>
            <p:spPr bwMode="auto">
              <a:xfrm>
                <a:off x="4272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30" name="Rectangle 9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31" name="Rectangle 10"/>
              <p:cNvSpPr>
                <a:spLocks noChangeArrowheads="1"/>
              </p:cNvSpPr>
              <p:nvPr/>
            </p:nvSpPr>
            <p:spPr bwMode="auto">
              <a:xfrm>
                <a:off x="4560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32" name="Rectangle 11"/>
              <p:cNvSpPr>
                <a:spLocks noChangeArrowheads="1"/>
              </p:cNvSpPr>
              <p:nvPr/>
            </p:nvSpPr>
            <p:spPr bwMode="auto">
              <a:xfrm>
                <a:off x="3408" y="816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panose="02070309020205020404" pitchFamily="49" charset="0"/>
                  </a:rPr>
                  <a:t>• • •</a:t>
                </a: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49190" name="Group 12"/>
            <p:cNvGrpSpPr/>
            <p:nvPr/>
          </p:nvGrpSpPr>
          <p:grpSpPr bwMode="auto">
            <a:xfrm>
              <a:off x="3072" y="1584"/>
              <a:ext cx="1728" cy="144"/>
              <a:chOff x="2976" y="1104"/>
              <a:chExt cx="1728" cy="144"/>
            </a:xfrm>
          </p:grpSpPr>
          <p:sp>
            <p:nvSpPr>
              <p:cNvPr id="349219" name="Rectangle 13"/>
              <p:cNvSpPr>
                <a:spLocks noChangeArrowheads="1"/>
              </p:cNvSpPr>
              <p:nvPr/>
            </p:nvSpPr>
            <p:spPr bwMode="auto">
              <a:xfrm>
                <a:off x="2976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0" name="Rectangle 14"/>
              <p:cNvSpPr>
                <a:spLocks noChangeArrowheads="1"/>
              </p:cNvSpPr>
              <p:nvPr/>
            </p:nvSpPr>
            <p:spPr bwMode="auto">
              <a:xfrm>
                <a:off x="3120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1" name="Rectangle 15"/>
              <p:cNvSpPr>
                <a:spLocks noChangeArrowheads="1"/>
              </p:cNvSpPr>
              <p:nvPr/>
            </p:nvSpPr>
            <p:spPr bwMode="auto">
              <a:xfrm>
                <a:off x="3264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2" name="Rectangle 16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3" name="Rectangle 17"/>
              <p:cNvSpPr>
                <a:spLocks noChangeArrowheads="1"/>
              </p:cNvSpPr>
              <p:nvPr/>
            </p:nvSpPr>
            <p:spPr bwMode="auto">
              <a:xfrm>
                <a:off x="4416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4" name="Rectangle 18"/>
              <p:cNvSpPr>
                <a:spLocks noChangeArrowheads="1"/>
              </p:cNvSpPr>
              <p:nvPr/>
            </p:nvSpPr>
            <p:spPr bwMode="auto">
              <a:xfrm>
                <a:off x="4560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25" name="Rectangle 19"/>
              <p:cNvSpPr>
                <a:spLocks noChangeArrowheads="1"/>
              </p:cNvSpPr>
              <p:nvPr/>
            </p:nvSpPr>
            <p:spPr bwMode="auto">
              <a:xfrm>
                <a:off x="3408" y="1104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panose="02070309020205020404" pitchFamily="49" charset="0"/>
                  </a:rPr>
                  <a:t>• • •</a:t>
                </a: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49191" name="Rectangle 20"/>
            <p:cNvSpPr>
              <a:spLocks noChangeArrowheads="1"/>
            </p:cNvSpPr>
            <p:nvPr/>
          </p:nvSpPr>
          <p:spPr bwMode="auto">
            <a:xfrm>
              <a:off x="2688" y="1248"/>
              <a:ext cx="16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u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sp>
          <p:nvSpPr>
            <p:cNvPr id="349192" name="Rectangle 21"/>
            <p:cNvSpPr>
              <a:spLocks noChangeArrowheads="1"/>
            </p:cNvSpPr>
            <p:nvPr/>
          </p:nvSpPr>
          <p:spPr bwMode="auto">
            <a:xfrm>
              <a:off x="2688" y="1536"/>
              <a:ext cx="16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v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sp>
          <p:nvSpPr>
            <p:cNvPr id="349193" name="Line 22"/>
            <p:cNvSpPr>
              <a:spLocks noChangeShapeType="1"/>
            </p:cNvSpPr>
            <p:nvPr/>
          </p:nvSpPr>
          <p:spPr bwMode="auto">
            <a:xfrm>
              <a:off x="2448" y="1776"/>
              <a:ext cx="2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194" name="Rectangle 23"/>
            <p:cNvSpPr>
              <a:spLocks noChangeArrowheads="1"/>
            </p:cNvSpPr>
            <p:nvPr/>
          </p:nvSpPr>
          <p:spPr bwMode="auto">
            <a:xfrm>
              <a:off x="2448" y="1536"/>
              <a:ext cx="18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+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grpSp>
          <p:nvGrpSpPr>
            <p:cNvPr id="349195" name="Group 24"/>
            <p:cNvGrpSpPr/>
            <p:nvPr/>
          </p:nvGrpSpPr>
          <p:grpSpPr bwMode="auto">
            <a:xfrm>
              <a:off x="2928" y="1872"/>
              <a:ext cx="1872" cy="144"/>
              <a:chOff x="2832" y="1392"/>
              <a:chExt cx="1872" cy="144"/>
            </a:xfrm>
          </p:grpSpPr>
          <p:grpSp>
            <p:nvGrpSpPr>
              <p:cNvPr id="349210" name="Group 25"/>
              <p:cNvGrpSpPr/>
              <p:nvPr/>
            </p:nvGrpSpPr>
            <p:grpSpPr bwMode="auto">
              <a:xfrm>
                <a:off x="2976" y="1392"/>
                <a:ext cx="1728" cy="144"/>
                <a:chOff x="2976" y="1392"/>
                <a:chExt cx="1728" cy="144"/>
              </a:xfrm>
            </p:grpSpPr>
            <p:sp>
              <p:nvSpPr>
                <p:cNvPr id="349212" name="Rectangle 26"/>
                <p:cNvSpPr>
                  <a:spLocks noChangeArrowheads="1"/>
                </p:cNvSpPr>
                <p:nvPr/>
              </p:nvSpPr>
              <p:spPr bwMode="auto">
                <a:xfrm>
                  <a:off x="2976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49213" name="Rectangle 27"/>
                <p:cNvSpPr>
                  <a:spLocks noChangeArrowheads="1"/>
                </p:cNvSpPr>
                <p:nvPr/>
              </p:nvSpPr>
              <p:spPr bwMode="auto">
                <a:xfrm>
                  <a:off x="3120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49214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49215" name="Rectangle 29"/>
                <p:cNvSpPr>
                  <a:spLocks noChangeArrowheads="1"/>
                </p:cNvSpPr>
                <p:nvPr/>
              </p:nvSpPr>
              <p:spPr bwMode="auto">
                <a:xfrm>
                  <a:off x="4272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49216" name="Rectangle 30"/>
                <p:cNvSpPr>
                  <a:spLocks noChangeArrowheads="1"/>
                </p:cNvSpPr>
                <p:nvPr/>
              </p:nvSpPr>
              <p:spPr bwMode="auto">
                <a:xfrm>
                  <a:off x="4416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49217" name="Rectangle 31"/>
                <p:cNvSpPr>
                  <a:spLocks noChangeArrowheads="1"/>
                </p:cNvSpPr>
                <p:nvPr/>
              </p:nvSpPr>
              <p:spPr bwMode="auto">
                <a:xfrm>
                  <a:off x="4560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349218" name="Rectangle 32"/>
                <p:cNvSpPr>
                  <a:spLocks noChangeArrowheads="1"/>
                </p:cNvSpPr>
                <p:nvPr/>
              </p:nvSpPr>
              <p:spPr bwMode="auto">
                <a:xfrm>
                  <a:off x="3408" y="1392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>
                      <a:latin typeface="Courier New" panose="02070309020205020404" pitchFamily="49" charset="0"/>
                    </a:rPr>
                    <a:t>• • •</a:t>
                  </a:r>
                  <a:endParaRPr lang="zh-CN" altLang="en-US" sz="1800">
                    <a:latin typeface="Courier New" panose="02070309020205020404" pitchFamily="49" charset="0"/>
                  </a:endParaRPr>
                </a:p>
              </p:txBody>
            </p:sp>
          </p:grpSp>
          <p:sp>
            <p:nvSpPr>
              <p:cNvPr id="349211" name="Rectangle 33"/>
              <p:cNvSpPr>
                <a:spLocks noChangeArrowheads="1"/>
              </p:cNvSpPr>
              <p:nvPr/>
            </p:nvSpPr>
            <p:spPr bwMode="auto">
              <a:xfrm>
                <a:off x="2832" y="1392"/>
                <a:ext cx="144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49196" name="Rectangle 34"/>
            <p:cNvSpPr>
              <a:spLocks noChangeArrowheads="1"/>
            </p:cNvSpPr>
            <p:nvPr/>
          </p:nvSpPr>
          <p:spPr bwMode="auto">
            <a:xfrm>
              <a:off x="2490" y="1824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u </a:t>
              </a:r>
              <a:r>
                <a:rPr lang="en-US" altLang="zh-CN" sz="1800">
                  <a:latin typeface="Times" panose="02020603050405020304" pitchFamily="18" charset="0"/>
                </a:rPr>
                <a:t>+ </a:t>
              </a:r>
              <a:r>
                <a:rPr lang="en-US" altLang="zh-CN" sz="1800" i="1">
                  <a:latin typeface="Times" panose="02020603050405020304" pitchFamily="18" charset="0"/>
                </a:rPr>
                <a:t>v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grpSp>
          <p:nvGrpSpPr>
            <p:cNvPr id="349197" name="Group 35"/>
            <p:cNvGrpSpPr/>
            <p:nvPr/>
          </p:nvGrpSpPr>
          <p:grpSpPr bwMode="auto">
            <a:xfrm>
              <a:off x="3072" y="2160"/>
              <a:ext cx="1728" cy="144"/>
              <a:chOff x="2976" y="1392"/>
              <a:chExt cx="1728" cy="144"/>
            </a:xfrm>
          </p:grpSpPr>
          <p:sp>
            <p:nvSpPr>
              <p:cNvPr id="349203" name="Rectangle 36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04" name="Rectangle 37"/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05" name="Rectangle 38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06" name="Rectangle 39"/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07" name="Rectangle 40"/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08" name="Rectangle 41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49209" name="Rectangle 42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panose="02070309020205020404" pitchFamily="49" charset="0"/>
                  </a:rPr>
                  <a:t>• • •</a:t>
                </a: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49198" name="Line 43"/>
            <p:cNvSpPr>
              <a:spLocks noChangeShapeType="1"/>
            </p:cNvSpPr>
            <p:nvPr/>
          </p:nvSpPr>
          <p:spPr bwMode="auto">
            <a:xfrm>
              <a:off x="2448" y="2064"/>
              <a:ext cx="2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199" name="Text Box 44"/>
            <p:cNvSpPr txBox="1">
              <a:spLocks noChangeArrowheads="1"/>
            </p:cNvSpPr>
            <p:nvPr/>
          </p:nvSpPr>
          <p:spPr bwMode="auto">
            <a:xfrm>
              <a:off x="384" y="1776"/>
              <a:ext cx="1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True Sum: </a:t>
              </a:r>
              <a:r>
                <a:rPr lang="en-US" altLang="zh-CN" sz="1800" i="1">
                  <a:latin typeface="Helvetica" panose="020B0604020202020204" pitchFamily="34" charset="0"/>
                </a:rPr>
                <a:t>w</a:t>
              </a:r>
              <a:r>
                <a:rPr lang="en-US" altLang="zh-CN" sz="1800">
                  <a:latin typeface="Helvetica" panose="020B0604020202020204" pitchFamily="34" charset="0"/>
                </a:rPr>
                <a:t>+1 bits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349200" name="Text Box 45"/>
            <p:cNvSpPr txBox="1">
              <a:spLocks noChangeArrowheads="1"/>
            </p:cNvSpPr>
            <p:nvPr/>
          </p:nvSpPr>
          <p:spPr bwMode="auto">
            <a:xfrm>
              <a:off x="384" y="1344"/>
              <a:ext cx="107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Operands: </a:t>
              </a:r>
              <a:r>
                <a:rPr lang="en-US" altLang="zh-CN" sz="1800" i="1">
                  <a:latin typeface="Helvetica" panose="020B0604020202020204" pitchFamily="34" charset="0"/>
                </a:rPr>
                <a:t>w</a:t>
              </a:r>
              <a:r>
                <a:rPr lang="en-US" altLang="zh-CN" sz="1800">
                  <a:latin typeface="Helvetica" panose="020B0604020202020204" pitchFamily="34" charset="0"/>
                </a:rPr>
                <a:t> bits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349201" name="Text Box 46"/>
            <p:cNvSpPr txBox="1">
              <a:spLocks noChangeArrowheads="1"/>
            </p:cNvSpPr>
            <p:nvPr/>
          </p:nvSpPr>
          <p:spPr bwMode="auto">
            <a:xfrm>
              <a:off x="384" y="2160"/>
              <a:ext cx="1536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Discard Carry: </a:t>
              </a:r>
              <a:r>
                <a:rPr lang="en-US" altLang="zh-CN" sz="1800" i="1">
                  <a:latin typeface="Helvetica" panose="020B0604020202020204" pitchFamily="34" charset="0"/>
                </a:rPr>
                <a:t>w</a:t>
              </a:r>
              <a:r>
                <a:rPr lang="en-US" altLang="zh-CN" sz="1800">
                  <a:latin typeface="Helvetica" panose="020B0604020202020204" pitchFamily="34" charset="0"/>
                </a:rPr>
                <a:t> bits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349202" name="Rectangle 47"/>
            <p:cNvSpPr>
              <a:spLocks noChangeArrowheads="1"/>
            </p:cNvSpPr>
            <p:nvPr/>
          </p:nvSpPr>
          <p:spPr bwMode="auto">
            <a:xfrm>
              <a:off x="2039" y="2150"/>
              <a:ext cx="83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" panose="02020603050405020304" pitchFamily="18" charset="0"/>
                </a:rPr>
                <a:t>UAdd</a:t>
              </a:r>
              <a:r>
                <a:rPr lang="en-US" altLang="zh-CN" sz="2000" i="1" baseline="-25000">
                  <a:latin typeface="Times" panose="02020603050405020304" pitchFamily="18" charset="0"/>
                </a:rPr>
                <a:t>w</a:t>
              </a:r>
              <a:r>
                <a:rPr lang="en-US" altLang="zh-CN" sz="2000">
                  <a:latin typeface="Times" panose="02020603050405020304" pitchFamily="18" charset="0"/>
                </a:rPr>
                <a:t>(</a:t>
              </a:r>
              <a:r>
                <a:rPr lang="en-US" altLang="zh-CN" sz="2000" i="1">
                  <a:latin typeface="Times" panose="02020603050405020304" pitchFamily="18" charset="0"/>
                </a:rPr>
                <a:t>u</a:t>
              </a:r>
              <a:r>
                <a:rPr lang="en-US" altLang="zh-CN" sz="1800">
                  <a:latin typeface="Times" panose="02020603050405020304" pitchFamily="18" charset="0"/>
                </a:rPr>
                <a:t> , </a:t>
              </a:r>
              <a:r>
                <a:rPr lang="en-US" altLang="zh-CN" sz="1800" i="1">
                  <a:latin typeface="Times" panose="02020603050405020304" pitchFamily="18" charset="0"/>
                </a:rPr>
                <a:t>v</a:t>
              </a:r>
              <a:r>
                <a:rPr lang="en-US" altLang="zh-CN" sz="1800">
                  <a:latin typeface="Times" panose="02020603050405020304" pitchFamily="18" charset="0"/>
                </a:rPr>
                <a:t>)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EC3DAF-8FE1-4B7E-84A3-499F3467804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51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Addition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512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4800" cy="2590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Standard Addition Function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Ignores carry output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Implements Modular Arithmetic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 i="1">
                <a:ea typeface="宋体" panose="02010600030101010101" pitchFamily="2" charset="-122"/>
              </a:rPr>
              <a:t>s</a:t>
            </a:r>
            <a:r>
              <a:rPr kumimoji="1" lang="en-US" altLang="zh-CN">
                <a:ea typeface="宋体" panose="02010600030101010101" pitchFamily="2" charset="-122"/>
              </a:rPr>
              <a:t>	 = UAdd</a:t>
            </a:r>
            <a:r>
              <a:rPr kumimoji="1" lang="en-US" altLang="zh-CN" i="1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 = 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+ </a:t>
            </a:r>
            <a:r>
              <a:rPr kumimoji="1" lang="en-US" altLang="zh-CN" i="1">
                <a:ea typeface="宋体" panose="02010600030101010101" pitchFamily="2" charset="-122"/>
              </a:rPr>
              <a:t>v)</a:t>
            </a:r>
            <a:r>
              <a:rPr kumimoji="1" lang="en-US" altLang="zh-CN">
                <a:ea typeface="宋体" panose="02010600030101010101" pitchFamily="2" charset="-122"/>
              </a:rPr>
              <a:t>  mod 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endParaRPr kumimoji="1" lang="en-US" altLang="zh-CN" i="1" baseline="3000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endParaRPr kumimoji="1" lang="en-US" altLang="zh-CN" i="1" baseline="3000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endParaRPr kumimoji="1" lang="en-US" altLang="zh-CN" i="1" baseline="30000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endParaRPr kumimoji="1" lang="en-US" altLang="zh-CN" i="1" baseline="30000">
              <a:ea typeface="宋体" panose="02010600030101010101" pitchFamily="2" charset="-122"/>
            </a:endParaRPr>
          </a:p>
        </p:txBody>
      </p:sp>
      <p:graphicFrame>
        <p:nvGraphicFramePr>
          <p:cNvPr id="351237" name="Object 2"/>
          <p:cNvGraphicFramePr>
            <a:graphicFrameLocks noGrp="1"/>
          </p:cNvGraphicFramePr>
          <p:nvPr>
            <p:ph sz="half" idx="2"/>
          </p:nvPr>
        </p:nvGraphicFramePr>
        <p:xfrm>
          <a:off x="990600" y="4191000"/>
          <a:ext cx="6096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1" imgW="6096000" imgH="4064000" progId="Equation.3">
                  <p:embed/>
                </p:oleObj>
              </mc:Choice>
              <mc:Fallback>
                <p:oleObj name="Equation" r:id="rId1" imgW="6096000" imgH="406400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1808" b="80063"/>
                      <a:stretch>
                        <a:fillRect/>
                      </a:stretch>
                    </p:blipFill>
                    <p:spPr bwMode="auto">
                      <a:xfrm>
                        <a:off x="990600" y="4191000"/>
                        <a:ext cx="6096000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BEF51D-AA03-44DB-AE4F-BF844E894C6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53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Addition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532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Practice Problem 2.27</a:t>
            </a:r>
            <a:endParaRPr lang="en-US" altLang="zh-CN" b="1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Write a function with the following prototype: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/* Determine whether arguments can be added without overflow */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uadd_ok(unsigned x, unsigned y);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This function should return 1 if arguments x and y can be added without causing overflow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09600" y="5343525"/>
            <a:ext cx="571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kumimoji="1" lang="en-US" altLang="zh-CN" sz="2800"/>
              <a:t>Overflow iff (X+Y) &lt; X</a:t>
            </a:r>
            <a:endParaRPr kumimoji="1"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9FE190-C2B0-48F4-BF40-436EEFAF169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55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Addition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pic>
        <p:nvPicPr>
          <p:cNvPr id="35533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8425"/>
            <a:ext cx="8458200" cy="660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6CF0CE-EC20-4177-9A84-62D05ECE14E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57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Addition Forms an Abelian Group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57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Closed under addition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0  </a:t>
            </a:r>
            <a:r>
              <a:rPr kumimoji="1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kumimoji="1" lang="en-US" altLang="zh-CN">
                <a:ea typeface="宋体" panose="02010600030101010101" pitchFamily="2" charset="-122"/>
              </a:rPr>
              <a:t> 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   </a:t>
            </a:r>
            <a:r>
              <a:rPr kumimoji="1"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kumimoji="1" lang="en-US" altLang="zh-CN">
                <a:ea typeface="宋体" panose="02010600030101010101" pitchFamily="2" charset="-122"/>
              </a:rPr>
              <a:t>  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 –1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Associative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i="1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t</a:t>
            </a:r>
            <a:r>
              <a:rPr kumimoji="1" lang="en-US" altLang="zh-CN">
                <a:ea typeface="宋体" panose="02010600030101010101" pitchFamily="2" charset="-122"/>
              </a:rPr>
              <a:t>, 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 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,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)) = 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i="1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(UAdd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 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t</a:t>
            </a:r>
            <a:r>
              <a:rPr kumimoji="1" lang="en-US" altLang="zh-CN">
                <a:ea typeface="宋体" panose="02010600030101010101" pitchFamily="2" charset="-122"/>
              </a:rPr>
              <a:t>, 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), 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0 is additive identity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i="1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0)  =  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9493F0-54F9-45AF-AB89-A0F06854FF9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59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Unsigned Addition Forms an Abelian Group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Every element has additive inverse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Let 	UComp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i="1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)  = 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 – 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UAdd</a:t>
            </a:r>
            <a:r>
              <a:rPr kumimoji="1" lang="en-US" altLang="zh-CN" i="1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UComp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i="1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))  =  0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Commutative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 = UAdd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 , 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)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105DBB-BF41-48AF-9E41-ED3BB3563C7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1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Signed Addition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614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2133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Functionality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True sum requires </a:t>
            </a:r>
            <a:r>
              <a:rPr kumimoji="1" lang="en-US" altLang="zh-CN" b="1" i="1">
                <a:ea typeface="宋体" panose="02010600030101010101" pitchFamily="2" charset="-122"/>
              </a:rPr>
              <a:t>w</a:t>
            </a:r>
            <a:r>
              <a:rPr kumimoji="1" lang="en-US" altLang="zh-CN" b="1">
                <a:ea typeface="宋体" panose="02010600030101010101" pitchFamily="2" charset="-122"/>
              </a:rPr>
              <a:t>+1</a:t>
            </a:r>
            <a:r>
              <a:rPr kumimoji="1" lang="en-US" altLang="zh-CN">
                <a:ea typeface="宋体" panose="02010600030101010101" pitchFamily="2" charset="-122"/>
              </a:rPr>
              <a:t> bits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Drop off MSB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Treat remaining bits as 2’s comp. integer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361477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609600" y="3962400"/>
          <a:ext cx="8153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1" imgW="6616700" imgH="1422400" progId="Equation.3">
                  <p:embed/>
                </p:oleObj>
              </mc:Choice>
              <mc:Fallback>
                <p:oleObj name="Equation" r:id="rId1" imgW="6616700" imgH="1422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81534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D490A6-90DF-4CFB-A118-FB5498A3FC6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3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Signed Addition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pic>
        <p:nvPicPr>
          <p:cNvPr id="3635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3513"/>
            <a:ext cx="8294688" cy="646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570" name="Picture 2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97000"/>
            <a:ext cx="5943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55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CA9A2A-0E88-4D6C-BAD7-6A6258B2F9E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55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Signed Addition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Integer Overflow Vulnerabilities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Impact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Unexpected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Security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Buffer overflow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Privilege escalation</a:t>
            </a:r>
            <a:endParaRPr kumimoji="1" lang="en-US" altLang="zh-CN" dirty="0"/>
          </a:p>
          <a:p>
            <a:r>
              <a:rPr kumimoji="1" lang="en-US" altLang="zh-CN" dirty="0"/>
              <a:t>Prevention Strategies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Calculation Validation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 Safe Type or Libraries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C: long, long long, </a:t>
            </a:r>
            <a:r>
              <a:rPr kumimoji="1" lang="en-US" altLang="zh-CN" dirty="0" err="1"/>
              <a:t>safeInt</a:t>
            </a:r>
            <a:r>
              <a:rPr kumimoji="1" lang="en-US" altLang="zh-CN" dirty="0"/>
              <a:t>…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Python’s arbitrary-precision integers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Program Analysis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5F458D-6890-46BA-BF00-BF651343D34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Integer Overflow Vulnerabilities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5F458D-6890-46BA-BF00-BF651343D34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57200" y="1725168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b="0" kern="0" dirty="0"/>
              <a:t>A case: </a:t>
            </a:r>
            <a:r>
              <a:rPr kumimoji="1" lang="en-US" altLang="zh-CN" b="0" kern="0" dirty="0" err="1"/>
              <a:t>underSell</a:t>
            </a:r>
            <a:r>
              <a:rPr kumimoji="1" lang="en-US" altLang="zh-CN" b="0" kern="0" dirty="0"/>
              <a:t> (CVE-2018-11811)</a:t>
            </a:r>
            <a:endParaRPr kumimoji="1" lang="en-US" altLang="zh-CN" b="0" kern="0" dirty="0"/>
          </a:p>
          <a:p>
            <a:endParaRPr kumimoji="1" lang="en-US" altLang="zh-CN" b="0" kern="0" dirty="0"/>
          </a:p>
          <a:p>
            <a:pPr marL="457200" lvl="1" indent="0">
              <a:buFontTx/>
              <a:buNone/>
            </a:pPr>
            <a:r>
              <a:rPr kumimoji="1" lang="en-US" altLang="zh-CN" b="0" kern="0" dirty="0"/>
              <a:t>function sell(uint256 amount) {</a:t>
            </a:r>
            <a:endParaRPr kumimoji="1" lang="en-US" altLang="zh-CN" b="0" kern="0" dirty="0"/>
          </a:p>
          <a:p>
            <a:pPr marL="457200" lvl="1" indent="0">
              <a:buFontTx/>
              <a:buNone/>
            </a:pPr>
            <a:r>
              <a:rPr kumimoji="1" lang="en-US" altLang="zh-CN" b="0" kern="0" dirty="0"/>
              <a:t>	require(</a:t>
            </a:r>
            <a:r>
              <a:rPr kumimoji="1" lang="en-US" altLang="zh-CN" b="0" kern="0" dirty="0" err="1"/>
              <a:t>this.balance</a:t>
            </a:r>
            <a:r>
              <a:rPr kumimoji="1" lang="en-US" altLang="zh-CN" b="0" kern="0" dirty="0"/>
              <a:t> &gt;= </a:t>
            </a:r>
            <a:r>
              <a:rPr kumimoji="1" lang="en-US" altLang="zh-CN" b="0" kern="0" dirty="0">
                <a:solidFill>
                  <a:srgbClr val="FF0000"/>
                </a:solidFill>
              </a:rPr>
              <a:t>amount * </a:t>
            </a:r>
            <a:r>
              <a:rPr kumimoji="1" lang="en-US" altLang="zh-CN" b="0" kern="0" dirty="0" err="1">
                <a:solidFill>
                  <a:srgbClr val="FF0000"/>
                </a:solidFill>
              </a:rPr>
              <a:t>sellPrice</a:t>
            </a:r>
            <a:r>
              <a:rPr kumimoji="1" lang="en-US" altLang="zh-CN" b="0" kern="0" dirty="0"/>
              <a:t>);</a:t>
            </a:r>
            <a:endParaRPr kumimoji="1" lang="en-US" altLang="zh-CN" b="0" kern="0" dirty="0"/>
          </a:p>
          <a:p>
            <a:pPr marL="457200" lvl="1" indent="0">
              <a:buFontTx/>
              <a:buNone/>
            </a:pPr>
            <a:r>
              <a:rPr kumimoji="1" lang="en-US" altLang="zh-CN" b="0" kern="0" dirty="0"/>
              <a:t>	_transfer(</a:t>
            </a:r>
            <a:r>
              <a:rPr kumimoji="1" lang="en-US" altLang="zh-CN" b="0" kern="0" dirty="0" err="1"/>
              <a:t>msg.sender</a:t>
            </a:r>
            <a:r>
              <a:rPr kumimoji="1" lang="en-US" altLang="zh-CN" b="0" kern="0" dirty="0"/>
              <a:t>, this, amount);</a:t>
            </a:r>
            <a:endParaRPr kumimoji="1" lang="en-US" altLang="zh-CN" b="0" kern="0" dirty="0"/>
          </a:p>
          <a:p>
            <a:pPr marL="457200" lvl="1" indent="0">
              <a:buFontTx/>
              <a:buNone/>
            </a:pPr>
            <a:r>
              <a:rPr kumimoji="1" lang="en-US" altLang="zh-CN" b="0" kern="0" dirty="0"/>
              <a:t>	</a:t>
            </a:r>
            <a:r>
              <a:rPr kumimoji="1" lang="en-US" altLang="zh-CN" b="0" kern="0" dirty="0" err="1"/>
              <a:t>msg.sender.transfer</a:t>
            </a:r>
            <a:r>
              <a:rPr kumimoji="1" lang="en-US" altLang="zh-CN" b="0" kern="0" dirty="0"/>
              <a:t>(</a:t>
            </a:r>
            <a:r>
              <a:rPr kumimoji="1" lang="en-US" altLang="zh-CN" b="0" kern="0" dirty="0">
                <a:solidFill>
                  <a:srgbClr val="FF0000"/>
                </a:solidFill>
              </a:rPr>
              <a:t>amount * </a:t>
            </a:r>
            <a:r>
              <a:rPr kumimoji="1" lang="en-US" altLang="zh-CN" b="0" kern="0" dirty="0" err="1">
                <a:solidFill>
                  <a:srgbClr val="FF0000"/>
                </a:solidFill>
              </a:rPr>
              <a:t>sellPrice</a:t>
            </a:r>
            <a:r>
              <a:rPr kumimoji="1" lang="en-US" altLang="zh-CN" b="0" kern="0" dirty="0"/>
              <a:t>);</a:t>
            </a:r>
            <a:endParaRPr kumimoji="1" lang="en-US" altLang="zh-CN" b="0" kern="0" dirty="0"/>
          </a:p>
          <a:p>
            <a:pPr marL="457200" lvl="1" indent="0">
              <a:buFontTx/>
              <a:buNone/>
            </a:pPr>
            <a:r>
              <a:rPr kumimoji="1" lang="en-US" altLang="zh-CN" b="0" kern="0" dirty="0"/>
              <a:t>}</a:t>
            </a:r>
            <a:endParaRPr kumimoji="1" lang="en-US" altLang="zh-CN" b="0" kern="0" dirty="0"/>
          </a:p>
          <a:p>
            <a:pPr marL="457200" lvl="1" indent="0">
              <a:buFontTx/>
              <a:buNone/>
            </a:pPr>
            <a:endParaRPr kumimoji="1" lang="en-US" altLang="zh-CN" b="1" kern="0" dirty="0"/>
          </a:p>
          <a:p>
            <a:pPr marL="457200" lvl="1" indent="0">
              <a:buFontTx/>
              <a:buNone/>
            </a:pPr>
            <a:r>
              <a:rPr kumimoji="1" lang="en-US" altLang="zh-CN" b="1" kern="0" dirty="0"/>
              <a:t>After overflow, the buyer actually</a:t>
            </a:r>
            <a:r>
              <a:rPr kumimoji="1" lang="zh-CN" altLang="en-US" b="1" kern="0" dirty="0"/>
              <a:t> </a:t>
            </a:r>
            <a:r>
              <a:rPr kumimoji="1" lang="en-US" altLang="zh-CN" b="1" kern="0" dirty="0"/>
              <a:t>pays much less!</a:t>
            </a:r>
            <a:endParaRPr kumimoji="1" lang="en-US" altLang="zh-CN" b="1" kern="0" dirty="0"/>
          </a:p>
          <a:p>
            <a:pPr marL="457200" lvl="1" indent="0">
              <a:buFontTx/>
              <a:buNone/>
            </a:pPr>
            <a:endParaRPr kumimoji="1" lang="en-US" altLang="zh-CN" b="0" kern="0" dirty="0"/>
          </a:p>
          <a:p>
            <a:pPr marL="457200" lvl="1" indent="0">
              <a:buFontTx/>
              <a:buNone/>
            </a:pPr>
            <a:endParaRPr kumimoji="1" lang="en-US" altLang="zh-CN" b="0" kern="0" dirty="0"/>
          </a:p>
          <a:p>
            <a:endParaRPr kumimoji="1" lang="zh-CN" altLang="en-US" b="0" kern="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7C9EF1-7C12-41C7-86D4-E9D2EE7272C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7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Detecting Tadd Overflow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67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9248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Task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Given </a:t>
            </a:r>
            <a:r>
              <a:rPr kumimoji="1" lang="en-US" altLang="zh-CN" i="1">
                <a:ea typeface="宋体" panose="02010600030101010101" pitchFamily="2" charset="-122"/>
              </a:rPr>
              <a:t>s</a:t>
            </a:r>
            <a:r>
              <a:rPr kumimoji="1" lang="en-US" altLang="zh-CN">
                <a:ea typeface="宋体" panose="02010600030101010101" pitchFamily="2" charset="-122"/>
              </a:rPr>
              <a:t>  =  TAdd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Determine if </a:t>
            </a:r>
            <a:r>
              <a:rPr kumimoji="1" lang="en-US" altLang="zh-CN" i="1">
                <a:ea typeface="宋体" panose="02010600030101010101" pitchFamily="2" charset="-122"/>
              </a:rPr>
              <a:t>s   </a:t>
            </a:r>
            <a:r>
              <a:rPr kumimoji="1" lang="en-US" altLang="zh-CN">
                <a:ea typeface="宋体" panose="02010600030101010101" pitchFamily="2" charset="-122"/>
              </a:rPr>
              <a:t>=</a:t>
            </a:r>
            <a:r>
              <a:rPr kumimoji="1" lang="en-US" altLang="zh-CN" i="1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Add</a:t>
            </a:r>
            <a:r>
              <a:rPr kumimoji="1" lang="en-US" altLang="zh-CN" i="1" baseline="-25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ea typeface="宋体" panose="02010600030101010101" pitchFamily="2" charset="-122"/>
              </a:rPr>
              <a:t>u</a:t>
            </a:r>
            <a:r>
              <a:rPr kumimoji="1" lang="en-US" altLang="zh-CN">
                <a:ea typeface="宋体" panose="02010600030101010101" pitchFamily="2" charset="-122"/>
              </a:rPr>
              <a:t> , </a:t>
            </a:r>
            <a:r>
              <a:rPr kumimoji="1" lang="en-US" altLang="zh-CN" i="1">
                <a:ea typeface="宋体" panose="02010600030101010101" pitchFamily="2" charset="-122"/>
              </a:rPr>
              <a:t>v</a:t>
            </a:r>
            <a:r>
              <a:rPr kumimoji="1" lang="en-US" altLang="zh-CN">
                <a:ea typeface="宋体" panose="02010600030101010101" pitchFamily="2" charset="-122"/>
              </a:rPr>
              <a:t>)</a:t>
            </a:r>
            <a:endParaRPr kumimoji="1" lang="en-US" altLang="zh-CN"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Claim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Overflow iff either: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 i="1">
                <a:ea typeface="宋体" panose="02010600030101010101" pitchFamily="2" charset="-122"/>
              </a:rPr>
              <a:t>        u</a:t>
            </a:r>
            <a:r>
              <a:rPr kumimoji="1" lang="en-US" altLang="zh-CN" sz="2400">
                <a:ea typeface="宋体" panose="02010600030101010101" pitchFamily="2" charset="-122"/>
              </a:rPr>
              <a:t>, </a:t>
            </a:r>
            <a:r>
              <a:rPr kumimoji="1" lang="en-US" altLang="zh-CN" sz="2400" i="1">
                <a:ea typeface="宋体" panose="02010600030101010101" pitchFamily="2" charset="-122"/>
              </a:rPr>
              <a:t>v</a:t>
            </a:r>
            <a:r>
              <a:rPr kumimoji="1" lang="en-US" altLang="zh-CN" sz="2400">
                <a:ea typeface="宋体" panose="02010600030101010101" pitchFamily="2" charset="-122"/>
              </a:rPr>
              <a:t> &lt; 0, </a:t>
            </a:r>
            <a:r>
              <a:rPr kumimoji="1" lang="en-US" altLang="zh-CN" sz="2400" i="1">
                <a:ea typeface="宋体" panose="02010600030101010101" pitchFamily="2" charset="-122"/>
              </a:rPr>
              <a:t>s</a:t>
            </a:r>
            <a:r>
              <a:rPr kumimoji="1" lang="en-US" altLang="zh-CN" sz="2400">
                <a:ea typeface="宋体" panose="02010600030101010101" pitchFamily="2" charset="-122"/>
              </a:rPr>
              <a:t> </a:t>
            </a:r>
            <a:r>
              <a:rPr kumimoji="1"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1" lang="en-US" altLang="zh-CN" sz="2400">
                <a:ea typeface="宋体" panose="02010600030101010101" pitchFamily="2" charset="-122"/>
              </a:rPr>
              <a:t> 0 (NegOver)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 i="1">
                <a:ea typeface="宋体" panose="02010600030101010101" pitchFamily="2" charset="-122"/>
              </a:rPr>
              <a:t>        u</a:t>
            </a:r>
            <a:r>
              <a:rPr kumimoji="1" lang="en-US" altLang="zh-CN" sz="2400">
                <a:ea typeface="宋体" panose="02010600030101010101" pitchFamily="2" charset="-122"/>
              </a:rPr>
              <a:t>, </a:t>
            </a:r>
            <a:r>
              <a:rPr kumimoji="1" lang="en-US" altLang="zh-CN" sz="2400" i="1">
                <a:ea typeface="宋体" panose="02010600030101010101" pitchFamily="2" charset="-122"/>
              </a:rPr>
              <a:t>v</a:t>
            </a:r>
            <a:r>
              <a:rPr kumimoji="1" lang="en-US" altLang="zh-CN" sz="2400">
                <a:ea typeface="宋体" panose="02010600030101010101" pitchFamily="2" charset="-122"/>
              </a:rPr>
              <a:t> </a:t>
            </a:r>
            <a:r>
              <a:rPr kumimoji="1"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1" lang="en-US" altLang="zh-CN" sz="2400">
                <a:ea typeface="宋体" panose="02010600030101010101" pitchFamily="2" charset="-122"/>
              </a:rPr>
              <a:t> 0, </a:t>
            </a:r>
            <a:r>
              <a:rPr kumimoji="1" lang="en-US" altLang="zh-CN" sz="2400" i="1">
                <a:ea typeface="宋体" panose="02010600030101010101" pitchFamily="2" charset="-122"/>
              </a:rPr>
              <a:t>s</a:t>
            </a:r>
            <a:r>
              <a:rPr kumimoji="1" lang="en-US" altLang="zh-CN" sz="2400">
                <a:ea typeface="宋体" panose="02010600030101010101" pitchFamily="2" charset="-122"/>
              </a:rPr>
              <a:t> &lt; 0 (PosOver)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ovf = (u&lt;0 == v&lt;0) &amp;&amp; (u&lt;0 != s&lt;0);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34DEAF-CD76-4D97-80FF-BF2DC9CF3AE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9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Mathematical Properties of TAdd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696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Two’s Complement Under TAdd Forms a Group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Closed, Commutative, Associative, 0 is additive identity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Every element has additive inverse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Let 	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endParaRPr kumimoji="1" lang="en-US" altLang="zh-CN" sz="2400">
              <a:ea typeface="宋体" panose="02010600030101010101" pitchFamily="2" charset="-122"/>
            </a:endParaRPr>
          </a:p>
          <a:p>
            <a:pPr lvl="2"/>
            <a:r>
              <a:rPr kumimoji="1" lang="en-US" altLang="zh-CN" sz="2400">
                <a:ea typeface="宋体" panose="02010600030101010101" pitchFamily="2" charset="-122"/>
              </a:rPr>
              <a:t>TAdd</a:t>
            </a:r>
            <a:r>
              <a:rPr kumimoji="1" lang="en-US" altLang="zh-CN" sz="2400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sz="2400">
                <a:ea typeface="宋体" panose="02010600030101010101" pitchFamily="2" charset="-122"/>
              </a:rPr>
              <a:t>(</a:t>
            </a:r>
            <a:r>
              <a:rPr kumimoji="1" lang="en-US" altLang="zh-CN" sz="2400" i="1">
                <a:ea typeface="宋体" panose="02010600030101010101" pitchFamily="2" charset="-122"/>
              </a:rPr>
              <a:t>u</a:t>
            </a:r>
            <a:r>
              <a:rPr kumimoji="1" lang="en-US" altLang="zh-CN" sz="2400">
                <a:ea typeface="宋体" panose="02010600030101010101" pitchFamily="2" charset="-122"/>
              </a:rPr>
              <a:t> , TComp</a:t>
            </a:r>
            <a:r>
              <a:rPr kumimoji="1" lang="en-US" altLang="zh-CN" sz="2400" i="1" baseline="-25000">
                <a:ea typeface="宋体" panose="02010600030101010101" pitchFamily="2" charset="-122"/>
              </a:rPr>
              <a:t>w</a:t>
            </a:r>
            <a:r>
              <a:rPr kumimoji="1" lang="en-US" altLang="zh-CN" sz="2400" i="1">
                <a:ea typeface="宋体" panose="02010600030101010101" pitchFamily="2" charset="-122"/>
              </a:rPr>
              <a:t> </a:t>
            </a:r>
            <a:r>
              <a:rPr kumimoji="1" lang="en-US" altLang="zh-CN" sz="2400">
                <a:ea typeface="宋体" panose="02010600030101010101" pitchFamily="2" charset="-122"/>
              </a:rPr>
              <a:t>(</a:t>
            </a:r>
            <a:r>
              <a:rPr kumimoji="1" lang="en-US" altLang="zh-CN" sz="2400" i="1">
                <a:ea typeface="宋体" panose="02010600030101010101" pitchFamily="2" charset="-122"/>
              </a:rPr>
              <a:t>u</a:t>
            </a:r>
            <a:r>
              <a:rPr kumimoji="1" lang="en-US" altLang="zh-CN" sz="2400">
                <a:ea typeface="宋体" panose="02010600030101010101" pitchFamily="2" charset="-122"/>
              </a:rPr>
              <a:t> ))  =  0</a:t>
            </a:r>
            <a:endParaRPr kumimoji="1" lang="en-US" altLang="zh-CN" sz="2400">
              <a:ea typeface="宋体" panose="02010600030101010101" pitchFamily="2" charset="-122"/>
            </a:endParaRPr>
          </a:p>
        </p:txBody>
      </p:sp>
      <p:graphicFrame>
        <p:nvGraphicFramePr>
          <p:cNvPr id="369669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2514600" y="3886200"/>
          <a:ext cx="53736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1" imgW="3606800" imgH="622300" progId="Equation.3">
                  <p:embed/>
                </p:oleObj>
              </mc:Choice>
              <mc:Fallback>
                <p:oleObj name="Equation" r:id="rId1" imgW="3606800" imgH="622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0"/>
                        <a:ext cx="53736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96D8C9-A61D-4A6E-8F64-251769ED119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1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Detecting Tadd Overflow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4419600"/>
          </a:xfrm>
        </p:spPr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tadd_ok_bugy(int x, int y)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sum = x + y ;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(sum-x == y) &amp;&amp; (sum-y == x)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Abelian group(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x+y-x=y+x-x</a:t>
            </a: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always true)</a:t>
            </a:r>
            <a:endParaRPr kumimoji="1" lang="en-US" altLang="zh-CN" sz="240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tsub_ok(int x, int y)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tadd_ok(x, -y) ;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Set 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to 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TMIN, -y </a:t>
            </a: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 also 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TMIN.</a:t>
            </a: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If 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is negative, add will always overflow, sub will not. </a:t>
            </a:r>
            <a:endParaRPr kumimoji="1" lang="en-US" altLang="zh-CN" sz="240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34750-3B91-4454-8385-2804D0300EE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3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Multiplication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73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839200" cy="4419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Computing Exact Product of </a:t>
            </a:r>
            <a:r>
              <a:rPr kumimoji="1" lang="en-US" altLang="zh-CN" i="1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-bit numbers 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, </a:t>
            </a:r>
            <a:r>
              <a:rPr kumimoji="1" lang="en-US" altLang="zh-CN" i="1">
                <a:ea typeface="宋体" panose="02010600030101010101" pitchFamily="2" charset="-122"/>
              </a:rPr>
              <a:t>y</a:t>
            </a:r>
            <a:endParaRPr kumimoji="1" lang="en-US" altLang="zh-CN" i="1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Either signed or unsigned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Ranges</a:t>
            </a:r>
            <a:endParaRPr kumimoji="1" lang="en-US" altLang="zh-CN" i="1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Unsigned: 0 ≤ 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 * </a:t>
            </a:r>
            <a:r>
              <a:rPr kumimoji="1" lang="en-US" altLang="zh-CN" i="1">
                <a:ea typeface="宋体" panose="02010600030101010101" pitchFamily="2" charset="-122"/>
              </a:rPr>
              <a:t>y</a:t>
            </a:r>
            <a:r>
              <a:rPr kumimoji="1" lang="en-US" altLang="zh-CN">
                <a:ea typeface="宋体" panose="02010600030101010101" pitchFamily="2" charset="-122"/>
              </a:rPr>
              <a:t> ≤ (2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 – 1) </a:t>
            </a:r>
            <a:r>
              <a:rPr kumimoji="1" lang="en-US" altLang="zh-CN" baseline="30000">
                <a:ea typeface="宋体" panose="02010600030101010101" pitchFamily="2" charset="-122"/>
              </a:rPr>
              <a:t>2</a:t>
            </a:r>
            <a:r>
              <a:rPr kumimoji="1" lang="en-US" altLang="zh-CN">
                <a:ea typeface="宋体" panose="02010600030101010101" pitchFamily="2" charset="-122"/>
              </a:rPr>
              <a:t>  =  2</a:t>
            </a:r>
            <a:r>
              <a:rPr kumimoji="1" lang="en-US" altLang="zh-CN" baseline="30000">
                <a:ea typeface="宋体" panose="02010600030101010101" pitchFamily="2" charset="-122"/>
              </a:rPr>
              <a:t>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>
                <a:ea typeface="宋体" panose="02010600030101010101" pitchFamily="2" charset="-122"/>
              </a:rPr>
              <a:t> – 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+1</a:t>
            </a:r>
            <a:r>
              <a:rPr kumimoji="1" lang="en-US" altLang="zh-CN">
                <a:ea typeface="宋体" panose="02010600030101010101" pitchFamily="2" charset="-122"/>
              </a:rPr>
              <a:t> + 1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>
              <a:lnSpc>
                <a:spcPct val="110000"/>
              </a:lnSpc>
            </a:pPr>
            <a:r>
              <a:rPr kumimoji="1" lang="en-US" altLang="zh-CN" sz="2400">
                <a:ea typeface="宋体" panose="02010600030101010101" pitchFamily="2" charset="-122"/>
              </a:rPr>
              <a:t>Up to 2</a:t>
            </a:r>
            <a:r>
              <a:rPr kumimoji="1" lang="en-US" altLang="zh-CN" sz="2400" i="1">
                <a:ea typeface="宋体" panose="02010600030101010101" pitchFamily="2" charset="-122"/>
              </a:rPr>
              <a:t>w</a:t>
            </a:r>
            <a:r>
              <a:rPr kumimoji="1" lang="en-US" altLang="zh-CN" sz="2400">
                <a:ea typeface="宋体" panose="02010600030101010101" pitchFamily="2" charset="-122"/>
              </a:rPr>
              <a:t> bits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Two’s complement min: </a:t>
            </a:r>
            <a:r>
              <a:rPr kumimoji="1" lang="en-US" altLang="zh-CN" i="1">
                <a:ea typeface="宋体" panose="02010600030101010101" pitchFamily="2" charset="-122"/>
              </a:rPr>
              <a:t>x </a:t>
            </a:r>
            <a:r>
              <a:rPr kumimoji="1" lang="en-US" altLang="zh-CN">
                <a:ea typeface="宋体" panose="02010600030101010101" pitchFamily="2" charset="-122"/>
              </a:rPr>
              <a:t>*</a:t>
            </a:r>
            <a:r>
              <a:rPr kumimoji="1" lang="en-US" altLang="zh-CN" i="1">
                <a:ea typeface="宋体" panose="02010600030101010101" pitchFamily="2" charset="-122"/>
              </a:rPr>
              <a:t>y</a:t>
            </a:r>
            <a:r>
              <a:rPr kumimoji="1" lang="en-US" altLang="zh-CN">
                <a:ea typeface="宋体" panose="02010600030101010101" pitchFamily="2" charset="-122"/>
              </a:rPr>
              <a:t> ≥–2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–1</a:t>
            </a:r>
            <a:r>
              <a:rPr kumimoji="1" lang="en-US" altLang="zh-CN">
                <a:ea typeface="宋体" panose="02010600030101010101" pitchFamily="2" charset="-122"/>
              </a:rPr>
              <a:t>*(2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–1</a:t>
            </a:r>
            <a:r>
              <a:rPr kumimoji="1" lang="en-US" altLang="zh-CN">
                <a:ea typeface="宋体" panose="02010600030101010101" pitchFamily="2" charset="-122"/>
              </a:rPr>
              <a:t>–1) = –2</a:t>
            </a:r>
            <a:r>
              <a:rPr kumimoji="1" lang="en-US" altLang="zh-CN" baseline="30000">
                <a:ea typeface="宋体" panose="02010600030101010101" pitchFamily="2" charset="-122"/>
              </a:rPr>
              <a:t>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–2</a:t>
            </a:r>
            <a:r>
              <a:rPr kumimoji="1" lang="en-US" altLang="zh-CN">
                <a:ea typeface="宋体" panose="02010600030101010101" pitchFamily="2" charset="-122"/>
              </a:rPr>
              <a:t> + 2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–1</a:t>
            </a:r>
            <a:endParaRPr kumimoji="1" lang="en-US" altLang="zh-CN" baseline="30000">
              <a:ea typeface="宋体" panose="02010600030101010101" pitchFamily="2" charset="-122"/>
            </a:endParaRPr>
          </a:p>
          <a:p>
            <a:pPr lvl="2">
              <a:lnSpc>
                <a:spcPct val="110000"/>
              </a:lnSpc>
            </a:pPr>
            <a:r>
              <a:rPr kumimoji="1" lang="en-US" altLang="zh-CN" sz="2400">
                <a:ea typeface="宋体" panose="02010600030101010101" pitchFamily="2" charset="-122"/>
              </a:rPr>
              <a:t>Up to 2</a:t>
            </a:r>
            <a:r>
              <a:rPr kumimoji="1" lang="en-US" altLang="zh-CN" sz="2400" i="1">
                <a:ea typeface="宋体" panose="02010600030101010101" pitchFamily="2" charset="-122"/>
              </a:rPr>
              <a:t>w</a:t>
            </a:r>
            <a:r>
              <a:rPr kumimoji="1" lang="en-US" altLang="zh-CN" sz="2400">
                <a:ea typeface="宋体" panose="02010600030101010101" pitchFamily="2" charset="-122"/>
              </a:rPr>
              <a:t>–1 bits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Two’s complement max: </a:t>
            </a:r>
            <a:r>
              <a:rPr kumimoji="1" lang="en-US" altLang="zh-CN" i="1">
                <a:ea typeface="宋体" panose="02010600030101010101" pitchFamily="2" charset="-122"/>
              </a:rPr>
              <a:t>x</a:t>
            </a:r>
            <a:r>
              <a:rPr kumimoji="1" lang="en-US" altLang="zh-CN">
                <a:ea typeface="宋体" panose="02010600030101010101" pitchFamily="2" charset="-122"/>
              </a:rPr>
              <a:t> * </a:t>
            </a:r>
            <a:r>
              <a:rPr kumimoji="1" lang="en-US" altLang="zh-CN" i="1">
                <a:ea typeface="宋体" panose="02010600030101010101" pitchFamily="2" charset="-122"/>
              </a:rPr>
              <a:t>y</a:t>
            </a:r>
            <a:r>
              <a:rPr kumimoji="1" lang="en-US" altLang="zh-CN">
                <a:ea typeface="宋体" panose="02010600030101010101" pitchFamily="2" charset="-122"/>
              </a:rPr>
              <a:t> ≤ (–2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–1</a:t>
            </a:r>
            <a:r>
              <a:rPr kumimoji="1" lang="en-US" altLang="zh-CN">
                <a:ea typeface="宋体" panose="02010600030101010101" pitchFamily="2" charset="-122"/>
              </a:rPr>
              <a:t>) </a:t>
            </a:r>
            <a:r>
              <a:rPr kumimoji="1" lang="en-US" altLang="zh-CN" baseline="30000">
                <a:ea typeface="宋体" panose="02010600030101010101" pitchFamily="2" charset="-122"/>
              </a:rPr>
              <a:t>2</a:t>
            </a:r>
            <a:r>
              <a:rPr kumimoji="1" lang="en-US" altLang="zh-CN">
                <a:ea typeface="宋体" panose="02010600030101010101" pitchFamily="2" charset="-122"/>
              </a:rPr>
              <a:t>  =  2</a:t>
            </a:r>
            <a:r>
              <a:rPr kumimoji="1" lang="en-US" altLang="zh-CN" baseline="30000">
                <a:ea typeface="宋体" panose="02010600030101010101" pitchFamily="2" charset="-122"/>
              </a:rPr>
              <a:t>2</a:t>
            </a:r>
            <a:r>
              <a:rPr kumimoji="1" lang="en-US" altLang="zh-CN" i="1" baseline="30000">
                <a:ea typeface="宋体" panose="02010600030101010101" pitchFamily="2" charset="-122"/>
              </a:rPr>
              <a:t>w</a:t>
            </a:r>
            <a:r>
              <a:rPr kumimoji="1" lang="en-US" altLang="zh-CN" baseline="30000">
                <a:ea typeface="宋体" panose="02010600030101010101" pitchFamily="2" charset="-122"/>
              </a:rPr>
              <a:t>–2</a:t>
            </a:r>
            <a:endParaRPr kumimoji="1" lang="en-US" altLang="zh-CN" baseline="30000">
              <a:ea typeface="宋体" panose="02010600030101010101" pitchFamily="2" charset="-122"/>
            </a:endParaRPr>
          </a:p>
          <a:p>
            <a:pPr lvl="2">
              <a:lnSpc>
                <a:spcPct val="110000"/>
              </a:lnSpc>
            </a:pPr>
            <a:r>
              <a:rPr kumimoji="1" lang="en-US" altLang="zh-CN" sz="2400">
                <a:ea typeface="宋体" panose="02010600030101010101" pitchFamily="2" charset="-122"/>
              </a:rPr>
              <a:t>Up to 2</a:t>
            </a:r>
            <a:r>
              <a:rPr kumimoji="1" lang="en-US" altLang="zh-CN" sz="2400" i="1">
                <a:ea typeface="宋体" panose="02010600030101010101" pitchFamily="2" charset="-122"/>
              </a:rPr>
              <a:t>w</a:t>
            </a:r>
            <a:r>
              <a:rPr kumimoji="1" lang="en-US" altLang="zh-CN" sz="2400">
                <a:ea typeface="宋体" panose="02010600030101010101" pitchFamily="2" charset="-122"/>
              </a:rPr>
              <a:t> bits, but only for </a:t>
            </a:r>
            <a:r>
              <a:rPr kumimoji="1" lang="en-US" altLang="zh-CN" sz="2400" i="1">
                <a:ea typeface="宋体" panose="02010600030101010101" pitchFamily="2" charset="-122"/>
              </a:rPr>
              <a:t>TMinw</a:t>
            </a:r>
            <a:r>
              <a:rPr kumimoji="1" lang="en-US" altLang="zh-CN" sz="2400" baseline="30000">
                <a:ea typeface="宋体" panose="02010600030101010101" pitchFamily="2" charset="-122"/>
              </a:rPr>
              <a:t>2</a:t>
            </a:r>
            <a:endParaRPr kumimoji="1" lang="en-US" altLang="zh-CN" sz="2400" baseline="30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A3EF2B-3816-4E8C-AC4F-19A92F2127E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5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Multiplication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44196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Unsigned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  <a:buFontTx/>
              <a:buNone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Signed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endParaRPr kumimoji="1" lang="en-US" altLang="zh-CN" i="1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Given two bit vectors    and 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FontTx/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                                           is identical to 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FontTx/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                                          in binary 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pic>
        <p:nvPicPr>
          <p:cNvPr id="37581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981200"/>
            <a:ext cx="4429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58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14675"/>
            <a:ext cx="59817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5815" name="Object 6"/>
          <p:cNvGraphicFramePr>
            <a:graphicFrameLocks noChangeAspect="1"/>
          </p:cNvGraphicFramePr>
          <p:nvPr/>
        </p:nvGraphicFramePr>
        <p:xfrm>
          <a:off x="4432300" y="4025900"/>
          <a:ext cx="38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27000" imgH="177165" progId="Equation.3">
                  <p:embed/>
                </p:oleObj>
              </mc:Choice>
              <mc:Fallback>
                <p:oleObj name="Equation" r:id="rId3" imgW="127000" imgH="1771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4025900"/>
                        <a:ext cx="38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6" name="Object 7"/>
          <p:cNvGraphicFramePr>
            <a:graphicFrameLocks noChangeAspect="1"/>
          </p:cNvGraphicFramePr>
          <p:nvPr/>
        </p:nvGraphicFramePr>
        <p:xfrm>
          <a:off x="5391150" y="3987800"/>
          <a:ext cx="419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39700" imgH="203200" progId="Equation.3">
                  <p:embed/>
                </p:oleObj>
              </mc:Choice>
              <mc:Fallback>
                <p:oleObj name="Equation" r:id="rId5" imgW="1397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3987800"/>
                        <a:ext cx="419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581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57725"/>
            <a:ext cx="23241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5818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695825"/>
            <a:ext cx="1762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5819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72100"/>
            <a:ext cx="40195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4931B0-1C34-4784-9C59-FC5FABFCC15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7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Multiplication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77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Maintaining Exact Results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Would need to keep expanding word size with each product computed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Done in software by “arbitrary precision” arithmetic packages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7E90A2-5C1B-4930-A032-B08E57AB21B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9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Power-of-2 Multiply with Shift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pSp>
        <p:nvGrpSpPr>
          <p:cNvPr id="379908" name="Group 5"/>
          <p:cNvGrpSpPr/>
          <p:nvPr/>
        </p:nvGrpSpPr>
        <p:grpSpPr bwMode="auto">
          <a:xfrm>
            <a:off x="533400" y="1981200"/>
            <a:ext cx="7848600" cy="2500313"/>
            <a:chOff x="720" y="1248"/>
            <a:chExt cx="4944" cy="1575"/>
          </a:xfrm>
        </p:grpSpPr>
        <p:grpSp>
          <p:nvGrpSpPr>
            <p:cNvPr id="379909" name="Group 6"/>
            <p:cNvGrpSpPr/>
            <p:nvPr/>
          </p:nvGrpSpPr>
          <p:grpSpPr bwMode="auto">
            <a:xfrm>
              <a:off x="3840" y="1488"/>
              <a:ext cx="1728" cy="144"/>
              <a:chOff x="2976" y="816"/>
              <a:chExt cx="1728" cy="144"/>
            </a:xfrm>
          </p:grpSpPr>
          <p:sp>
            <p:nvSpPr>
              <p:cNvPr id="379950" name="Rectangle 7" descr="Light upward diagonal"/>
              <p:cNvSpPr>
                <a:spLocks noChangeArrowheads="1"/>
              </p:cNvSpPr>
              <p:nvPr/>
            </p:nvSpPr>
            <p:spPr bwMode="auto">
              <a:xfrm>
                <a:off x="2976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51" name="Rectangle 8" descr="Light upward diagonal"/>
              <p:cNvSpPr>
                <a:spLocks noChangeArrowheads="1"/>
              </p:cNvSpPr>
              <p:nvPr/>
            </p:nvSpPr>
            <p:spPr bwMode="auto">
              <a:xfrm>
                <a:off x="3120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52" name="Rectangle 9" descr="Light upward diagonal"/>
              <p:cNvSpPr>
                <a:spLocks noChangeArrowheads="1"/>
              </p:cNvSpPr>
              <p:nvPr/>
            </p:nvSpPr>
            <p:spPr bwMode="auto">
              <a:xfrm>
                <a:off x="3264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53" name="Rectangle 10" descr="Light upward diagonal"/>
              <p:cNvSpPr>
                <a:spLocks noChangeArrowheads="1"/>
              </p:cNvSpPr>
              <p:nvPr/>
            </p:nvSpPr>
            <p:spPr bwMode="auto">
              <a:xfrm>
                <a:off x="4272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54" name="Rectangle 11" descr="Light upward diagonal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55" name="Rectangle 12" descr="Light upward diagonal"/>
              <p:cNvSpPr>
                <a:spLocks noChangeArrowheads="1"/>
              </p:cNvSpPr>
              <p:nvPr/>
            </p:nvSpPr>
            <p:spPr bwMode="auto">
              <a:xfrm>
                <a:off x="4560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56" name="Rectangle 13" descr="Light upward diagonal"/>
              <p:cNvSpPr>
                <a:spLocks noChangeArrowheads="1"/>
              </p:cNvSpPr>
              <p:nvPr/>
            </p:nvSpPr>
            <p:spPr bwMode="auto">
              <a:xfrm>
                <a:off x="3408" y="816"/>
                <a:ext cx="86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panose="02070309020205020404" pitchFamily="49" charset="0"/>
                  </a:rPr>
                  <a:t>• • •</a:t>
                </a: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79910" name="Rectangle 14"/>
            <p:cNvSpPr>
              <a:spLocks noChangeArrowheads="1"/>
            </p:cNvSpPr>
            <p:nvPr/>
          </p:nvSpPr>
          <p:spPr bwMode="auto">
            <a:xfrm>
              <a:off x="3840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1" name="Rectangle 15"/>
            <p:cNvSpPr>
              <a:spLocks noChangeArrowheads="1"/>
            </p:cNvSpPr>
            <p:nvPr/>
          </p:nvSpPr>
          <p:spPr bwMode="auto">
            <a:xfrm>
              <a:off x="4416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2" name="Rectangle 16"/>
            <p:cNvSpPr>
              <a:spLocks noChangeArrowheads="1"/>
            </p:cNvSpPr>
            <p:nvPr/>
          </p:nvSpPr>
          <p:spPr bwMode="auto">
            <a:xfrm>
              <a:off x="4560" y="1776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1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3" name="Rectangle 17"/>
            <p:cNvSpPr>
              <a:spLocks noChangeArrowheads="1"/>
            </p:cNvSpPr>
            <p:nvPr/>
          </p:nvSpPr>
          <p:spPr bwMode="auto">
            <a:xfrm>
              <a:off x="4704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4" name="Rectangle 18"/>
            <p:cNvSpPr>
              <a:spLocks noChangeArrowheads="1"/>
            </p:cNvSpPr>
            <p:nvPr/>
          </p:nvSpPr>
          <p:spPr bwMode="auto">
            <a:xfrm>
              <a:off x="5280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5" name="Rectangle 19"/>
            <p:cNvSpPr>
              <a:spLocks noChangeArrowheads="1"/>
            </p:cNvSpPr>
            <p:nvPr/>
          </p:nvSpPr>
          <p:spPr bwMode="auto">
            <a:xfrm>
              <a:off x="5424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6" name="Rectangle 20"/>
            <p:cNvSpPr>
              <a:spLocks noChangeArrowheads="1"/>
            </p:cNvSpPr>
            <p:nvPr/>
          </p:nvSpPr>
          <p:spPr bwMode="auto">
            <a:xfrm>
              <a:off x="3984" y="1776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•••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17" name="Rectangle 21"/>
            <p:cNvSpPr>
              <a:spLocks noChangeArrowheads="1"/>
            </p:cNvSpPr>
            <p:nvPr/>
          </p:nvSpPr>
          <p:spPr bwMode="auto">
            <a:xfrm>
              <a:off x="3456" y="144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u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sp>
          <p:nvSpPr>
            <p:cNvPr id="379918" name="Rectangle 22"/>
            <p:cNvSpPr>
              <a:spLocks noChangeArrowheads="1"/>
            </p:cNvSpPr>
            <p:nvPr/>
          </p:nvSpPr>
          <p:spPr bwMode="auto">
            <a:xfrm>
              <a:off x="3456" y="1728"/>
              <a:ext cx="2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" panose="02020603050405020304" pitchFamily="18" charset="0"/>
                </a:rPr>
                <a:t>2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k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sp>
          <p:nvSpPr>
            <p:cNvPr id="379919" name="Line 23"/>
            <p:cNvSpPr>
              <a:spLocks noChangeShapeType="1"/>
            </p:cNvSpPr>
            <p:nvPr/>
          </p:nvSpPr>
          <p:spPr bwMode="auto">
            <a:xfrm>
              <a:off x="1680" y="1968"/>
              <a:ext cx="39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20" name="Rectangle 24"/>
            <p:cNvSpPr>
              <a:spLocks noChangeArrowheads="1"/>
            </p:cNvSpPr>
            <p:nvPr/>
          </p:nvSpPr>
          <p:spPr bwMode="auto">
            <a:xfrm>
              <a:off x="3216" y="1728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*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21" name="Rectangle 25"/>
            <p:cNvSpPr>
              <a:spLocks noChangeArrowheads="1"/>
            </p:cNvSpPr>
            <p:nvPr/>
          </p:nvSpPr>
          <p:spPr bwMode="auto">
            <a:xfrm>
              <a:off x="2352" y="2016"/>
              <a:ext cx="4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u </a:t>
              </a:r>
              <a:r>
                <a:rPr lang="en-US" altLang="zh-CN" sz="1800">
                  <a:latin typeface="Times" panose="02020603050405020304" pitchFamily="18" charset="0"/>
                </a:rPr>
                <a:t>· 2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k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sp>
          <p:nvSpPr>
            <p:cNvPr id="379922" name="Line 26"/>
            <p:cNvSpPr>
              <a:spLocks noChangeShapeType="1"/>
            </p:cNvSpPr>
            <p:nvPr/>
          </p:nvSpPr>
          <p:spPr bwMode="auto">
            <a:xfrm flipV="1">
              <a:off x="1680" y="2256"/>
              <a:ext cx="39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23" name="Text Box 27"/>
            <p:cNvSpPr txBox="1">
              <a:spLocks noChangeArrowheads="1"/>
            </p:cNvSpPr>
            <p:nvPr/>
          </p:nvSpPr>
          <p:spPr bwMode="auto">
            <a:xfrm>
              <a:off x="720" y="2016"/>
              <a:ext cx="15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True Product: </a:t>
              </a:r>
              <a:r>
                <a:rPr lang="en-US" altLang="zh-CN" sz="1800" i="1">
                  <a:latin typeface="Helvetica" panose="020B0604020202020204" pitchFamily="34" charset="0"/>
                </a:rPr>
                <a:t>w</a:t>
              </a:r>
              <a:r>
                <a:rPr lang="en-US" altLang="zh-CN" sz="1800">
                  <a:latin typeface="Helvetica" panose="020B0604020202020204" pitchFamily="34" charset="0"/>
                </a:rPr>
                <a:t>+</a:t>
              </a:r>
              <a:r>
                <a:rPr lang="en-US" altLang="zh-CN" sz="1800" i="1">
                  <a:latin typeface="Helvetica" panose="020B0604020202020204" pitchFamily="34" charset="0"/>
                </a:rPr>
                <a:t>k</a:t>
              </a:r>
              <a:r>
                <a:rPr lang="en-US" altLang="zh-CN" sz="1800">
                  <a:latin typeface="Helvetica" panose="020B0604020202020204" pitchFamily="34" charset="0"/>
                </a:rPr>
                <a:t>  bits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379924" name="Text Box 28"/>
            <p:cNvSpPr txBox="1">
              <a:spLocks noChangeArrowheads="1"/>
            </p:cNvSpPr>
            <p:nvPr/>
          </p:nvSpPr>
          <p:spPr bwMode="auto">
            <a:xfrm>
              <a:off x="720" y="1584"/>
              <a:ext cx="1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Operands: </a:t>
              </a:r>
              <a:r>
                <a:rPr lang="en-US" altLang="zh-CN" sz="1800" i="1">
                  <a:latin typeface="Helvetica" panose="020B0604020202020204" pitchFamily="34" charset="0"/>
                </a:rPr>
                <a:t>w</a:t>
              </a:r>
              <a:r>
                <a:rPr lang="en-US" altLang="zh-CN" sz="1800">
                  <a:latin typeface="Helvetica" panose="020B0604020202020204" pitchFamily="34" charset="0"/>
                </a:rPr>
                <a:t> bits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379925" name="Text Box 29"/>
            <p:cNvSpPr txBox="1">
              <a:spLocks noChangeArrowheads="1"/>
            </p:cNvSpPr>
            <p:nvPr/>
          </p:nvSpPr>
          <p:spPr bwMode="auto">
            <a:xfrm>
              <a:off x="720" y="2400"/>
              <a:ext cx="15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Discard </a:t>
              </a:r>
              <a:r>
                <a:rPr lang="en-US" altLang="zh-CN" sz="1800" i="1">
                  <a:latin typeface="Helvetica" panose="020B0604020202020204" pitchFamily="34" charset="0"/>
                </a:rPr>
                <a:t>k </a:t>
              </a:r>
              <a:r>
                <a:rPr lang="en-US" altLang="zh-CN" sz="1800">
                  <a:latin typeface="Helvetica" panose="020B0604020202020204" pitchFamily="34" charset="0"/>
                </a:rPr>
                <a:t> bits: </a:t>
              </a:r>
              <a:r>
                <a:rPr lang="en-US" altLang="zh-CN" sz="1800" i="1">
                  <a:latin typeface="Helvetica" panose="020B0604020202020204" pitchFamily="34" charset="0"/>
                </a:rPr>
                <a:t>w</a:t>
              </a:r>
              <a:r>
                <a:rPr lang="en-US" altLang="zh-CN" sz="1800">
                  <a:latin typeface="Helvetica" panose="020B0604020202020204" pitchFamily="34" charset="0"/>
                </a:rPr>
                <a:t> bits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379926" name="Rectangle 30"/>
            <p:cNvSpPr>
              <a:spLocks noChangeArrowheads="1"/>
            </p:cNvSpPr>
            <p:nvPr/>
          </p:nvSpPr>
          <p:spPr bwMode="auto">
            <a:xfrm>
              <a:off x="2773" y="235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UMult</a:t>
              </a:r>
              <a:r>
                <a:rPr lang="en-US" altLang="zh-CN" sz="1800" i="1" baseline="-25000">
                  <a:latin typeface="Times" panose="02020603050405020304" pitchFamily="18" charset="0"/>
                </a:rPr>
                <a:t>w</a:t>
              </a:r>
              <a:r>
                <a:rPr lang="en-US" altLang="zh-CN" sz="1800">
                  <a:latin typeface="Times" panose="02020603050405020304" pitchFamily="18" charset="0"/>
                </a:rPr>
                <a:t>(</a:t>
              </a:r>
              <a:r>
                <a:rPr lang="en-US" altLang="zh-CN" sz="1800" i="1">
                  <a:latin typeface="Times" panose="02020603050405020304" pitchFamily="18" charset="0"/>
                </a:rPr>
                <a:t>u</a:t>
              </a:r>
              <a:r>
                <a:rPr lang="en-US" altLang="zh-CN" sz="1800">
                  <a:latin typeface="Times" panose="02020603050405020304" pitchFamily="18" charset="0"/>
                </a:rPr>
                <a:t> , 2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k</a:t>
              </a:r>
              <a:r>
                <a:rPr lang="en-US" altLang="zh-CN" sz="1800">
                  <a:latin typeface="Times" panose="02020603050405020304" pitchFamily="18" charset="0"/>
                </a:rPr>
                <a:t>)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79927" name="Rectangle 31"/>
            <p:cNvSpPr>
              <a:spLocks noChangeArrowheads="1"/>
            </p:cNvSpPr>
            <p:nvPr/>
          </p:nvSpPr>
          <p:spPr bwMode="auto">
            <a:xfrm>
              <a:off x="4848" y="1776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•••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28" name="Rectangle 32"/>
            <p:cNvSpPr>
              <a:spLocks noChangeArrowheads="1"/>
            </p:cNvSpPr>
            <p:nvPr/>
          </p:nvSpPr>
          <p:spPr bwMode="auto">
            <a:xfrm>
              <a:off x="4512" y="1248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panose="02020603050405020304" pitchFamily="18" charset="0"/>
                </a:rPr>
                <a:t>k</a:t>
              </a:r>
              <a:endParaRPr lang="en-US" altLang="zh-CN" sz="1800" i="1">
                <a:latin typeface="Times" panose="02020603050405020304" pitchFamily="18" charset="0"/>
              </a:endParaRPr>
            </a:p>
          </p:txBody>
        </p:sp>
        <p:grpSp>
          <p:nvGrpSpPr>
            <p:cNvPr id="379929" name="Group 33"/>
            <p:cNvGrpSpPr/>
            <p:nvPr/>
          </p:nvGrpSpPr>
          <p:grpSpPr bwMode="auto">
            <a:xfrm>
              <a:off x="2976" y="2064"/>
              <a:ext cx="1728" cy="144"/>
              <a:chOff x="2976" y="816"/>
              <a:chExt cx="1728" cy="144"/>
            </a:xfrm>
          </p:grpSpPr>
          <p:sp>
            <p:nvSpPr>
              <p:cNvPr id="379943" name="Rectangle 34" descr="Light upward diagonal"/>
              <p:cNvSpPr>
                <a:spLocks noChangeArrowheads="1"/>
              </p:cNvSpPr>
              <p:nvPr/>
            </p:nvSpPr>
            <p:spPr bwMode="auto">
              <a:xfrm>
                <a:off x="2976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44" name="Rectangle 35" descr="Light upward diagonal"/>
              <p:cNvSpPr>
                <a:spLocks noChangeArrowheads="1"/>
              </p:cNvSpPr>
              <p:nvPr/>
            </p:nvSpPr>
            <p:spPr bwMode="auto">
              <a:xfrm>
                <a:off x="3120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45" name="Rectangle 36" descr="Light upward diagonal"/>
              <p:cNvSpPr>
                <a:spLocks noChangeArrowheads="1"/>
              </p:cNvSpPr>
              <p:nvPr/>
            </p:nvSpPr>
            <p:spPr bwMode="auto">
              <a:xfrm>
                <a:off x="3264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46" name="Rectangle 37" descr="Light upward diagonal"/>
              <p:cNvSpPr>
                <a:spLocks noChangeArrowheads="1"/>
              </p:cNvSpPr>
              <p:nvPr/>
            </p:nvSpPr>
            <p:spPr bwMode="auto">
              <a:xfrm>
                <a:off x="4272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47" name="Rectangle 38" descr="Light upward diagonal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48" name="Rectangle 39" descr="Light upward diagonal"/>
              <p:cNvSpPr>
                <a:spLocks noChangeArrowheads="1"/>
              </p:cNvSpPr>
              <p:nvPr/>
            </p:nvSpPr>
            <p:spPr bwMode="auto">
              <a:xfrm>
                <a:off x="4560" y="816"/>
                <a:ext cx="14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79949" name="Rectangle 40" descr="Light upward diagonal"/>
              <p:cNvSpPr>
                <a:spLocks noChangeArrowheads="1"/>
              </p:cNvSpPr>
              <p:nvPr/>
            </p:nvSpPr>
            <p:spPr bwMode="auto">
              <a:xfrm>
                <a:off x="3408" y="816"/>
                <a:ext cx="864" cy="144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panose="02070309020205020404" pitchFamily="49" charset="0"/>
                  </a:rPr>
                  <a:t>• • •</a:t>
                </a:r>
                <a:endParaRPr lang="zh-CN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79930" name="Rectangle 41"/>
            <p:cNvSpPr>
              <a:spLocks noChangeArrowheads="1"/>
            </p:cNvSpPr>
            <p:nvPr/>
          </p:nvSpPr>
          <p:spPr bwMode="auto">
            <a:xfrm>
              <a:off x="4704" y="206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1" name="Rectangle 42"/>
            <p:cNvSpPr>
              <a:spLocks noChangeArrowheads="1"/>
            </p:cNvSpPr>
            <p:nvPr/>
          </p:nvSpPr>
          <p:spPr bwMode="auto">
            <a:xfrm>
              <a:off x="5280" y="206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2" name="Rectangle 43"/>
            <p:cNvSpPr>
              <a:spLocks noChangeArrowheads="1"/>
            </p:cNvSpPr>
            <p:nvPr/>
          </p:nvSpPr>
          <p:spPr bwMode="auto">
            <a:xfrm>
              <a:off x="5424" y="206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3" name="Rectangle 44"/>
            <p:cNvSpPr>
              <a:spLocks noChangeArrowheads="1"/>
            </p:cNvSpPr>
            <p:nvPr/>
          </p:nvSpPr>
          <p:spPr bwMode="auto">
            <a:xfrm>
              <a:off x="4848" y="2064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•••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4" name="Rectangle 45"/>
            <p:cNvSpPr>
              <a:spLocks noChangeArrowheads="1"/>
            </p:cNvSpPr>
            <p:nvPr/>
          </p:nvSpPr>
          <p:spPr bwMode="auto">
            <a:xfrm>
              <a:off x="2784" y="2592"/>
              <a:ext cx="9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TMult</a:t>
              </a:r>
              <a:r>
                <a:rPr lang="en-US" altLang="zh-CN" sz="1800" i="1" baseline="-25000">
                  <a:latin typeface="Times" panose="02020603050405020304" pitchFamily="18" charset="0"/>
                </a:rPr>
                <a:t>w</a:t>
              </a:r>
              <a:r>
                <a:rPr lang="en-US" altLang="zh-CN" sz="1800">
                  <a:latin typeface="Times" panose="02020603050405020304" pitchFamily="18" charset="0"/>
                </a:rPr>
                <a:t>(</a:t>
              </a:r>
              <a:r>
                <a:rPr lang="en-US" altLang="zh-CN" sz="1800" i="1">
                  <a:latin typeface="Times" panose="02020603050405020304" pitchFamily="18" charset="0"/>
                </a:rPr>
                <a:t>u</a:t>
              </a:r>
              <a:r>
                <a:rPr lang="en-US" altLang="zh-CN" sz="1800">
                  <a:latin typeface="Times" panose="02020603050405020304" pitchFamily="18" charset="0"/>
                </a:rPr>
                <a:t> , 2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k</a:t>
              </a:r>
              <a:r>
                <a:rPr lang="en-US" altLang="zh-CN" sz="1800">
                  <a:latin typeface="Times" panose="02020603050405020304" pitchFamily="18" charset="0"/>
                </a:rPr>
                <a:t>)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79935" name="Rectangle 46"/>
            <p:cNvSpPr>
              <a:spLocks noChangeArrowheads="1"/>
            </p:cNvSpPr>
            <p:nvPr/>
          </p:nvSpPr>
          <p:spPr bwMode="auto">
            <a:xfrm>
              <a:off x="4704" y="235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6" name="Rectangle 47"/>
            <p:cNvSpPr>
              <a:spLocks noChangeArrowheads="1"/>
            </p:cNvSpPr>
            <p:nvPr/>
          </p:nvSpPr>
          <p:spPr bwMode="auto">
            <a:xfrm>
              <a:off x="5280" y="235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7" name="Rectangle 48"/>
            <p:cNvSpPr>
              <a:spLocks noChangeArrowheads="1"/>
            </p:cNvSpPr>
            <p:nvPr/>
          </p:nvSpPr>
          <p:spPr bwMode="auto">
            <a:xfrm>
              <a:off x="5424" y="235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8" name="Rectangle 49"/>
            <p:cNvSpPr>
              <a:spLocks noChangeArrowheads="1"/>
            </p:cNvSpPr>
            <p:nvPr/>
          </p:nvSpPr>
          <p:spPr bwMode="auto">
            <a:xfrm>
              <a:off x="4848" y="2352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•••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39" name="Rectangle 50" descr="Light upward diagonal"/>
            <p:cNvSpPr>
              <a:spLocks noChangeArrowheads="1"/>
            </p:cNvSpPr>
            <p:nvPr/>
          </p:nvSpPr>
          <p:spPr bwMode="auto">
            <a:xfrm>
              <a:off x="4272" y="2352"/>
              <a:ext cx="144" cy="144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40" name="Rectangle 51" descr="Light upward diagonal"/>
            <p:cNvSpPr>
              <a:spLocks noChangeArrowheads="1"/>
            </p:cNvSpPr>
            <p:nvPr/>
          </p:nvSpPr>
          <p:spPr bwMode="auto">
            <a:xfrm>
              <a:off x="4416" y="2352"/>
              <a:ext cx="144" cy="144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41" name="Rectangle 52" descr="Light upward diagonal"/>
            <p:cNvSpPr>
              <a:spLocks noChangeArrowheads="1"/>
            </p:cNvSpPr>
            <p:nvPr/>
          </p:nvSpPr>
          <p:spPr bwMode="auto">
            <a:xfrm>
              <a:off x="4560" y="2352"/>
              <a:ext cx="144" cy="144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9942" name="Rectangle 53" descr="Light upward diagonal"/>
            <p:cNvSpPr>
              <a:spLocks noChangeArrowheads="1"/>
            </p:cNvSpPr>
            <p:nvPr/>
          </p:nvSpPr>
          <p:spPr bwMode="auto">
            <a:xfrm>
              <a:off x="3840" y="2352"/>
              <a:ext cx="432" cy="144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•••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</p:grp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274752-5950-492D-906A-BC0746F4B85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81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Power-of-2 Multiply with Shift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81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Operation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u &lt;&lt; k gives u * </a:t>
            </a:r>
            <a:r>
              <a:rPr kumimoji="1" lang="en-US" altLang="zh-CN" i="1">
                <a:ea typeface="宋体" panose="02010600030101010101" pitchFamily="2" charset="-122"/>
              </a:rPr>
              <a:t>2</a:t>
            </a:r>
            <a:r>
              <a:rPr kumimoji="1" lang="en-US" altLang="zh-CN" i="1" baseline="30000">
                <a:ea typeface="宋体" panose="02010600030101010101" pitchFamily="2" charset="-122"/>
              </a:rPr>
              <a:t>k</a:t>
            </a:r>
            <a:endParaRPr kumimoji="1" lang="en-US" altLang="zh-CN" i="1" baseline="30000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Both signed and unsigned</a:t>
            </a:r>
            <a:endParaRPr kumimoji="1" lang="en-US" altLang="zh-CN">
              <a:solidFill>
                <a:schemeClr val="tx2"/>
              </a:solidFill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Examples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u &lt;&lt; 3	==	u * 8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u &lt;&lt; 5 - u &lt;&lt; 3	==	u * 24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Most machines shift and add much faster than multiply</a:t>
            </a:r>
            <a:endParaRPr kumimoji="1" lang="en-US" altLang="zh-CN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Compiler will generate this code automatically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kumimoji="1" lang="en-US" altLang="zh-CN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198545-DFFB-4CBD-90AC-D813435D5F7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90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Floating Point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8F368-BE7C-43B5-974F-C659022557E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92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Topics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392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Fractional Binary Numbers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IEEE 754 Standard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Rounding Mode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FP Operations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Floating Point in C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Suggested Reading: 2.4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C50A56-2A58-4D2B-9B16-AF999971CF6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94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Encoding Rational Numbers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94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Form V =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Very useful when        &gt;&gt; 0 or       &lt;&lt;1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An Approximation to real arithmetic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From programmer’s perspective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Uninteresting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Arcane and incomprehensive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39424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438400" y="1600200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1" imgW="862965" imgH="381000" progId="Equation.3">
                  <p:embed/>
                </p:oleObj>
              </mc:Choice>
              <mc:Fallback>
                <p:oleObj name="Equation" r:id="rId1" imgW="862965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0"/>
                        <a:ext cx="139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6" name="Object 6"/>
          <p:cNvGraphicFramePr>
            <a:graphicFrameLocks noChangeAspect="1"/>
          </p:cNvGraphicFramePr>
          <p:nvPr/>
        </p:nvGraphicFramePr>
        <p:xfrm>
          <a:off x="4191000" y="2209800"/>
          <a:ext cx="36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3" imgW="368300" imgH="457200" progId="Equation.3">
                  <p:embed/>
                </p:oleObj>
              </mc:Choice>
              <mc:Fallback>
                <p:oleObj name="Equation" r:id="rId3" imgW="3683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09800"/>
                        <a:ext cx="36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7" name="Object 7"/>
          <p:cNvGraphicFramePr>
            <a:graphicFrameLocks noChangeAspect="1"/>
          </p:cNvGraphicFramePr>
          <p:nvPr/>
        </p:nvGraphicFramePr>
        <p:xfrm>
          <a:off x="5956300" y="2209800"/>
          <a:ext cx="36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5" imgW="368300" imgH="457200" progId="Equation.3">
                  <p:embed/>
                </p:oleObj>
              </mc:Choice>
              <mc:Fallback>
                <p:oleObj name="Equation" r:id="rId5" imgW="3683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209800"/>
                        <a:ext cx="36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717DA5-3A22-4503-B729-C57AF599AAF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96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Fractional Binary Numbers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96292" name="Group 5"/>
          <p:cNvGrpSpPr/>
          <p:nvPr/>
        </p:nvGrpSpPr>
        <p:grpSpPr bwMode="auto">
          <a:xfrm>
            <a:off x="1447800" y="1690688"/>
            <a:ext cx="5029200" cy="3875087"/>
            <a:chOff x="970" y="480"/>
            <a:chExt cx="3168" cy="2441"/>
          </a:xfrm>
        </p:grpSpPr>
        <p:grpSp>
          <p:nvGrpSpPr>
            <p:cNvPr id="396293" name="Group 6"/>
            <p:cNvGrpSpPr/>
            <p:nvPr/>
          </p:nvGrpSpPr>
          <p:grpSpPr bwMode="auto">
            <a:xfrm>
              <a:off x="970" y="1616"/>
              <a:ext cx="3168" cy="336"/>
              <a:chOff x="970" y="1616"/>
              <a:chExt cx="3168" cy="336"/>
            </a:xfrm>
          </p:grpSpPr>
          <p:sp>
            <p:nvSpPr>
              <p:cNvPr id="396315" name="Rectangle 7"/>
              <p:cNvSpPr>
                <a:spLocks noChangeArrowheads="1"/>
              </p:cNvSpPr>
              <p:nvPr/>
            </p:nvSpPr>
            <p:spPr bwMode="auto">
              <a:xfrm>
                <a:off x="970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i="1" baseline="-25000">
                    <a:latin typeface="Times" panose="02020603050405020304" pitchFamily="18" charset="0"/>
                  </a:rPr>
                  <a:t>m</a:t>
                </a:r>
                <a:endParaRPr lang="en-US" altLang="zh-CN" sz="1800" i="1">
                  <a:latin typeface="Times" panose="02020603050405020304" pitchFamily="18" charset="0"/>
                </a:endParaRPr>
              </a:p>
            </p:txBody>
          </p:sp>
          <p:sp>
            <p:nvSpPr>
              <p:cNvPr id="396316" name="Rectangle 8"/>
              <p:cNvSpPr>
                <a:spLocks noChangeArrowheads="1"/>
              </p:cNvSpPr>
              <p:nvPr/>
            </p:nvSpPr>
            <p:spPr bwMode="auto">
              <a:xfrm>
                <a:off x="1210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i="1" baseline="-25000">
                    <a:latin typeface="Times" panose="02020603050405020304" pitchFamily="18" charset="0"/>
                  </a:rPr>
                  <a:t>m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–1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96317" name="Rectangle 9"/>
              <p:cNvSpPr>
                <a:spLocks noChangeArrowheads="1"/>
              </p:cNvSpPr>
              <p:nvPr/>
            </p:nvSpPr>
            <p:spPr bwMode="auto">
              <a:xfrm>
                <a:off x="1930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2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96318" name="Rectangle 10"/>
              <p:cNvSpPr>
                <a:spLocks noChangeArrowheads="1"/>
              </p:cNvSpPr>
              <p:nvPr/>
            </p:nvSpPr>
            <p:spPr bwMode="auto">
              <a:xfrm>
                <a:off x="2170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1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96319" name="Rectangle 11"/>
              <p:cNvSpPr>
                <a:spLocks noChangeArrowheads="1"/>
              </p:cNvSpPr>
              <p:nvPr/>
            </p:nvSpPr>
            <p:spPr bwMode="auto">
              <a:xfrm>
                <a:off x="2410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0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96320" name="Rectangle 12"/>
              <p:cNvSpPr>
                <a:spLocks noChangeArrowheads="1"/>
              </p:cNvSpPr>
              <p:nvPr/>
            </p:nvSpPr>
            <p:spPr bwMode="auto">
              <a:xfrm>
                <a:off x="2698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–1</a:t>
                </a:r>
                <a:endParaRPr lang="en-US" altLang="zh-CN" sz="1800" i="1" baseline="-25000">
                  <a:latin typeface="Times" panose="02020603050405020304" pitchFamily="18" charset="0"/>
                </a:endParaRPr>
              </a:p>
            </p:txBody>
          </p:sp>
          <p:sp>
            <p:nvSpPr>
              <p:cNvPr id="396321" name="Rectangle 13"/>
              <p:cNvSpPr>
                <a:spLocks noChangeArrowheads="1"/>
              </p:cNvSpPr>
              <p:nvPr/>
            </p:nvSpPr>
            <p:spPr bwMode="auto">
              <a:xfrm>
                <a:off x="2938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–2</a:t>
                </a:r>
                <a:endParaRPr lang="en-US" altLang="zh-CN" sz="1800" baseline="-25000">
                  <a:latin typeface="Times" panose="02020603050405020304" pitchFamily="18" charset="0"/>
                </a:endParaRPr>
              </a:p>
            </p:txBody>
          </p:sp>
          <p:sp>
            <p:nvSpPr>
              <p:cNvPr id="396322" name="Rectangle 14"/>
              <p:cNvSpPr>
                <a:spLocks noChangeArrowheads="1"/>
              </p:cNvSpPr>
              <p:nvPr/>
            </p:nvSpPr>
            <p:spPr bwMode="auto">
              <a:xfrm>
                <a:off x="3178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–3</a:t>
                </a:r>
                <a:endParaRPr lang="en-US" altLang="zh-CN" sz="1800" baseline="-25000">
                  <a:latin typeface="Times" panose="02020603050405020304" pitchFamily="18" charset="0"/>
                </a:endParaRPr>
              </a:p>
            </p:txBody>
          </p:sp>
          <p:sp>
            <p:nvSpPr>
              <p:cNvPr id="396323" name="Rectangle 15"/>
              <p:cNvSpPr>
                <a:spLocks noChangeArrowheads="1"/>
              </p:cNvSpPr>
              <p:nvPr/>
            </p:nvSpPr>
            <p:spPr bwMode="auto">
              <a:xfrm>
                <a:off x="3898" y="1616"/>
                <a:ext cx="24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" panose="02020603050405020304" pitchFamily="18" charset="0"/>
                  </a:rPr>
                  <a:t>b</a:t>
                </a:r>
                <a:r>
                  <a:rPr lang="en-US" altLang="zh-CN" sz="1800" baseline="-25000">
                    <a:latin typeface="Times" panose="02020603050405020304" pitchFamily="18" charset="0"/>
                  </a:rPr>
                  <a:t>–</a:t>
                </a:r>
                <a:r>
                  <a:rPr lang="en-US" altLang="zh-CN" sz="1800" i="1" baseline="-25000">
                    <a:latin typeface="Times" panose="02020603050405020304" pitchFamily="18" charset="0"/>
                  </a:rPr>
                  <a:t>n</a:t>
                </a:r>
                <a:endParaRPr lang="en-US" altLang="zh-CN" sz="1800" baseline="-25000">
                  <a:latin typeface="Times" panose="02020603050405020304" pitchFamily="18" charset="0"/>
                </a:endParaRPr>
              </a:p>
            </p:txBody>
          </p:sp>
          <p:sp>
            <p:nvSpPr>
              <p:cNvPr id="396324" name="Rectangle 16"/>
              <p:cNvSpPr>
                <a:spLocks noChangeArrowheads="1"/>
              </p:cNvSpPr>
              <p:nvPr/>
            </p:nvSpPr>
            <p:spPr bwMode="auto">
              <a:xfrm>
                <a:off x="3418" y="1616"/>
                <a:ext cx="48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" panose="02020603050405020304" pitchFamily="18" charset="0"/>
                  </a:rPr>
                  <a:t>• • •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96325" name="Rectangle 17"/>
              <p:cNvSpPr>
                <a:spLocks noChangeArrowheads="1"/>
              </p:cNvSpPr>
              <p:nvPr/>
            </p:nvSpPr>
            <p:spPr bwMode="auto">
              <a:xfrm>
                <a:off x="1450" y="1616"/>
                <a:ext cx="48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" panose="02020603050405020304" pitchFamily="18" charset="0"/>
                  </a:rPr>
                  <a:t>• • •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96326" name="Rectangle 18"/>
              <p:cNvSpPr>
                <a:spLocks noChangeArrowheads="1"/>
              </p:cNvSpPr>
              <p:nvPr/>
            </p:nvSpPr>
            <p:spPr bwMode="auto">
              <a:xfrm>
                <a:off x="2650" y="1616"/>
                <a:ext cx="48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" panose="02020603050405020304" pitchFamily="18" charset="0"/>
                  </a:rPr>
                  <a:t>.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396294" name="Text Box 19"/>
            <p:cNvSpPr txBox="1">
              <a:spLocks noChangeArrowheads="1"/>
            </p:cNvSpPr>
            <p:nvPr/>
          </p:nvSpPr>
          <p:spPr bwMode="auto">
            <a:xfrm>
              <a:off x="2640" y="144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1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295" name="Text Box 20"/>
            <p:cNvSpPr txBox="1">
              <a:spLocks noChangeArrowheads="1"/>
            </p:cNvSpPr>
            <p:nvPr/>
          </p:nvSpPr>
          <p:spPr bwMode="auto">
            <a:xfrm>
              <a:off x="2640" y="124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2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296" name="Text Box 21"/>
            <p:cNvSpPr txBox="1">
              <a:spLocks noChangeArrowheads="1"/>
            </p:cNvSpPr>
            <p:nvPr/>
          </p:nvSpPr>
          <p:spPr bwMode="auto">
            <a:xfrm>
              <a:off x="2640" y="105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4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297" name="Text Box 22"/>
            <p:cNvSpPr txBox="1">
              <a:spLocks noChangeArrowheads="1"/>
            </p:cNvSpPr>
            <p:nvPr/>
          </p:nvSpPr>
          <p:spPr bwMode="auto">
            <a:xfrm>
              <a:off x="2640" y="688"/>
              <a:ext cx="3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2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m</a:t>
              </a:r>
              <a:r>
                <a:rPr lang="en-US" altLang="zh-CN" sz="1800" baseline="30000">
                  <a:latin typeface="Times" panose="02020603050405020304" pitchFamily="18" charset="0"/>
                </a:rPr>
                <a:t>–1</a:t>
              </a:r>
              <a:endParaRPr lang="en-US" altLang="zh-CN" sz="1800" baseline="-25000">
                <a:latin typeface="Times" panose="02020603050405020304" pitchFamily="18" charset="0"/>
              </a:endParaRPr>
            </a:p>
          </p:txBody>
        </p:sp>
        <p:sp>
          <p:nvSpPr>
            <p:cNvPr id="396298" name="Text Box 23"/>
            <p:cNvSpPr txBox="1">
              <a:spLocks noChangeArrowheads="1"/>
            </p:cNvSpPr>
            <p:nvPr/>
          </p:nvSpPr>
          <p:spPr bwMode="auto">
            <a:xfrm>
              <a:off x="2640" y="480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2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m</a:t>
              </a:r>
              <a:endParaRPr lang="en-US" altLang="zh-CN" sz="1800" baseline="-25000">
                <a:latin typeface="Times" panose="02020603050405020304" pitchFamily="18" charset="0"/>
              </a:endParaRPr>
            </a:p>
          </p:txBody>
        </p:sp>
        <p:grpSp>
          <p:nvGrpSpPr>
            <p:cNvPr id="396299" name="Group 24"/>
            <p:cNvGrpSpPr/>
            <p:nvPr/>
          </p:nvGrpSpPr>
          <p:grpSpPr bwMode="auto">
            <a:xfrm>
              <a:off x="1056" y="624"/>
              <a:ext cx="1594" cy="1056"/>
              <a:chOff x="1056" y="624"/>
              <a:chExt cx="1594" cy="1056"/>
            </a:xfrm>
          </p:grpSpPr>
          <p:sp>
            <p:nvSpPr>
              <p:cNvPr id="396309" name="Freeform 25"/>
              <p:cNvSpPr/>
              <p:nvPr/>
            </p:nvSpPr>
            <p:spPr bwMode="auto">
              <a:xfrm>
                <a:off x="2496" y="1568"/>
                <a:ext cx="154" cy="112"/>
              </a:xfrm>
              <a:custGeom>
                <a:avLst/>
                <a:gdLst>
                  <a:gd name="T0" fmla="*/ 322 w 144"/>
                  <a:gd name="T1" fmla="*/ 0 h 96"/>
                  <a:gd name="T2" fmla="*/ 0 w 144"/>
                  <a:gd name="T3" fmla="*/ 0 h 96"/>
                  <a:gd name="T4" fmla="*/ 0 w 144"/>
                  <a:gd name="T5" fmla="*/ 618 h 96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96"/>
                  <a:gd name="T11" fmla="*/ 144 w 144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96">
                    <a:moveTo>
                      <a:pt x="144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310" name="Freeform 26"/>
              <p:cNvSpPr/>
              <p:nvPr/>
            </p:nvSpPr>
            <p:spPr bwMode="auto">
              <a:xfrm>
                <a:off x="2256" y="1392"/>
                <a:ext cx="384" cy="288"/>
              </a:xfrm>
              <a:custGeom>
                <a:avLst/>
                <a:gdLst>
                  <a:gd name="T0" fmla="*/ 18622997 w 144"/>
                  <a:gd name="T1" fmla="*/ 0 h 96"/>
                  <a:gd name="T2" fmla="*/ 0 w 144"/>
                  <a:gd name="T3" fmla="*/ 0 h 96"/>
                  <a:gd name="T4" fmla="*/ 0 w 144"/>
                  <a:gd name="T5" fmla="*/ 51018336 h 96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96"/>
                  <a:gd name="T11" fmla="*/ 144 w 144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96">
                    <a:moveTo>
                      <a:pt x="144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311" name="Freeform 27"/>
              <p:cNvSpPr/>
              <p:nvPr/>
            </p:nvSpPr>
            <p:spPr bwMode="auto">
              <a:xfrm>
                <a:off x="2016" y="1216"/>
                <a:ext cx="614" cy="464"/>
              </a:xfrm>
              <a:custGeom>
                <a:avLst/>
                <a:gdLst>
                  <a:gd name="T0" fmla="*/ 2147483646 w 144"/>
                  <a:gd name="T1" fmla="*/ 0 h 96"/>
                  <a:gd name="T2" fmla="*/ 0 w 144"/>
                  <a:gd name="T3" fmla="*/ 0 h 96"/>
                  <a:gd name="T4" fmla="*/ 0 w 144"/>
                  <a:gd name="T5" fmla="*/ 2147483646 h 96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96"/>
                  <a:gd name="T11" fmla="*/ 144 w 144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96">
                    <a:moveTo>
                      <a:pt x="144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312" name="Freeform 28"/>
              <p:cNvSpPr/>
              <p:nvPr/>
            </p:nvSpPr>
            <p:spPr bwMode="auto">
              <a:xfrm>
                <a:off x="1248" y="816"/>
                <a:ext cx="1392" cy="864"/>
              </a:xfrm>
              <a:custGeom>
                <a:avLst/>
                <a:gdLst>
                  <a:gd name="T0" fmla="*/ 2147483646 w 144"/>
                  <a:gd name="T1" fmla="*/ 0 h 96"/>
                  <a:gd name="T2" fmla="*/ 0 w 144"/>
                  <a:gd name="T3" fmla="*/ 0 h 96"/>
                  <a:gd name="T4" fmla="*/ 0 w 144"/>
                  <a:gd name="T5" fmla="*/ 2147483646 h 96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96"/>
                  <a:gd name="T11" fmla="*/ 144 w 144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96">
                    <a:moveTo>
                      <a:pt x="144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313" name="Freeform 29"/>
              <p:cNvSpPr/>
              <p:nvPr/>
            </p:nvSpPr>
            <p:spPr bwMode="auto">
              <a:xfrm>
                <a:off x="1056" y="624"/>
                <a:ext cx="1584" cy="1056"/>
              </a:xfrm>
              <a:custGeom>
                <a:avLst/>
                <a:gdLst>
                  <a:gd name="T0" fmla="*/ 2147483646 w 144"/>
                  <a:gd name="T1" fmla="*/ 0 h 96"/>
                  <a:gd name="T2" fmla="*/ 0 w 144"/>
                  <a:gd name="T3" fmla="*/ 0 h 96"/>
                  <a:gd name="T4" fmla="*/ 0 w 144"/>
                  <a:gd name="T5" fmla="*/ 2147483646 h 96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96"/>
                  <a:gd name="T11" fmla="*/ 144 w 144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96">
                    <a:moveTo>
                      <a:pt x="144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314" name="Rectangle 30"/>
              <p:cNvSpPr>
                <a:spLocks noChangeArrowheads="1"/>
              </p:cNvSpPr>
              <p:nvPr/>
            </p:nvSpPr>
            <p:spPr bwMode="auto">
              <a:xfrm>
                <a:off x="1450" y="1152"/>
                <a:ext cx="480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" panose="02020603050405020304" pitchFamily="18" charset="0"/>
                  </a:rPr>
                  <a:t>• • •</a:t>
                </a:r>
                <a:endParaRPr lang="en-US" altLang="zh-CN" sz="18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396300" name="Freeform 31"/>
            <p:cNvSpPr/>
            <p:nvPr/>
          </p:nvSpPr>
          <p:spPr bwMode="auto">
            <a:xfrm rot="10800000">
              <a:off x="2639" y="1919"/>
              <a:ext cx="154" cy="112"/>
            </a:xfrm>
            <a:custGeom>
              <a:avLst/>
              <a:gdLst>
                <a:gd name="T0" fmla="*/ 322 w 144"/>
                <a:gd name="T1" fmla="*/ 0 h 96"/>
                <a:gd name="T2" fmla="*/ 0 w 144"/>
                <a:gd name="T3" fmla="*/ 0 h 96"/>
                <a:gd name="T4" fmla="*/ 0 w 144"/>
                <a:gd name="T5" fmla="*/ 618 h 96"/>
                <a:gd name="T6" fmla="*/ 0 60000 65536"/>
                <a:gd name="T7" fmla="*/ 0 60000 65536"/>
                <a:gd name="T8" fmla="*/ 0 60000 65536"/>
                <a:gd name="T9" fmla="*/ 0 w 144"/>
                <a:gd name="T10" fmla="*/ 0 h 96"/>
                <a:gd name="T11" fmla="*/ 144 w 14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96">
                  <a:moveTo>
                    <a:pt x="144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301" name="Freeform 32"/>
            <p:cNvSpPr/>
            <p:nvPr/>
          </p:nvSpPr>
          <p:spPr bwMode="auto">
            <a:xfrm rot="10800000">
              <a:off x="2649" y="1919"/>
              <a:ext cx="384" cy="288"/>
            </a:xfrm>
            <a:custGeom>
              <a:avLst/>
              <a:gdLst>
                <a:gd name="T0" fmla="*/ 18622997 w 144"/>
                <a:gd name="T1" fmla="*/ 0 h 96"/>
                <a:gd name="T2" fmla="*/ 0 w 144"/>
                <a:gd name="T3" fmla="*/ 0 h 96"/>
                <a:gd name="T4" fmla="*/ 0 w 144"/>
                <a:gd name="T5" fmla="*/ 51018336 h 96"/>
                <a:gd name="T6" fmla="*/ 0 60000 65536"/>
                <a:gd name="T7" fmla="*/ 0 60000 65536"/>
                <a:gd name="T8" fmla="*/ 0 60000 65536"/>
                <a:gd name="T9" fmla="*/ 0 w 144"/>
                <a:gd name="T10" fmla="*/ 0 h 96"/>
                <a:gd name="T11" fmla="*/ 144 w 14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96">
                  <a:moveTo>
                    <a:pt x="144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302" name="Freeform 33"/>
            <p:cNvSpPr/>
            <p:nvPr/>
          </p:nvSpPr>
          <p:spPr bwMode="auto">
            <a:xfrm rot="10800000">
              <a:off x="2659" y="1919"/>
              <a:ext cx="614" cy="464"/>
            </a:xfrm>
            <a:custGeom>
              <a:avLst/>
              <a:gdLst>
                <a:gd name="T0" fmla="*/ 2147483646 w 144"/>
                <a:gd name="T1" fmla="*/ 0 h 96"/>
                <a:gd name="T2" fmla="*/ 0 w 144"/>
                <a:gd name="T3" fmla="*/ 0 h 96"/>
                <a:gd name="T4" fmla="*/ 0 w 144"/>
                <a:gd name="T5" fmla="*/ 2147483646 h 96"/>
                <a:gd name="T6" fmla="*/ 0 60000 65536"/>
                <a:gd name="T7" fmla="*/ 0 60000 65536"/>
                <a:gd name="T8" fmla="*/ 0 60000 65536"/>
                <a:gd name="T9" fmla="*/ 0 w 144"/>
                <a:gd name="T10" fmla="*/ 0 h 96"/>
                <a:gd name="T11" fmla="*/ 144 w 14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96">
                  <a:moveTo>
                    <a:pt x="144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303" name="Freeform 34"/>
            <p:cNvSpPr/>
            <p:nvPr/>
          </p:nvSpPr>
          <p:spPr bwMode="auto">
            <a:xfrm rot="10800000">
              <a:off x="2649" y="1919"/>
              <a:ext cx="1392" cy="864"/>
            </a:xfrm>
            <a:custGeom>
              <a:avLst/>
              <a:gdLst>
                <a:gd name="T0" fmla="*/ 2147483646 w 144"/>
                <a:gd name="T1" fmla="*/ 0 h 96"/>
                <a:gd name="T2" fmla="*/ 0 w 144"/>
                <a:gd name="T3" fmla="*/ 0 h 96"/>
                <a:gd name="T4" fmla="*/ 0 w 144"/>
                <a:gd name="T5" fmla="*/ 2147483646 h 96"/>
                <a:gd name="T6" fmla="*/ 0 60000 65536"/>
                <a:gd name="T7" fmla="*/ 0 60000 65536"/>
                <a:gd name="T8" fmla="*/ 0 60000 65536"/>
                <a:gd name="T9" fmla="*/ 0 w 144"/>
                <a:gd name="T10" fmla="*/ 0 h 96"/>
                <a:gd name="T11" fmla="*/ 144 w 14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96">
                  <a:moveTo>
                    <a:pt x="144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304" name="Rectangle 35"/>
            <p:cNvSpPr>
              <a:spLocks noChangeArrowheads="1"/>
            </p:cNvSpPr>
            <p:nvPr/>
          </p:nvSpPr>
          <p:spPr bwMode="auto">
            <a:xfrm rot="10800000">
              <a:off x="3359" y="2111"/>
              <a:ext cx="480" cy="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• • •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305" name="Text Box 36"/>
            <p:cNvSpPr txBox="1">
              <a:spLocks noChangeArrowheads="1"/>
            </p:cNvSpPr>
            <p:nvPr/>
          </p:nvSpPr>
          <p:spPr bwMode="auto">
            <a:xfrm>
              <a:off x="2336" y="1920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1/2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306" name="Text Box 37"/>
            <p:cNvSpPr txBox="1">
              <a:spLocks noChangeArrowheads="1"/>
            </p:cNvSpPr>
            <p:nvPr/>
          </p:nvSpPr>
          <p:spPr bwMode="auto">
            <a:xfrm>
              <a:off x="2340" y="2112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1/4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307" name="Text Box 38"/>
            <p:cNvSpPr txBox="1">
              <a:spLocks noChangeArrowheads="1"/>
            </p:cNvSpPr>
            <p:nvPr/>
          </p:nvSpPr>
          <p:spPr bwMode="auto">
            <a:xfrm>
              <a:off x="2340" y="2313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1/8</a:t>
              </a:r>
              <a:endParaRPr lang="en-US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396308" name="Text Box 39"/>
            <p:cNvSpPr txBox="1">
              <a:spLocks noChangeArrowheads="1"/>
            </p:cNvSpPr>
            <p:nvPr/>
          </p:nvSpPr>
          <p:spPr bwMode="auto">
            <a:xfrm>
              <a:off x="2248" y="2688"/>
              <a:ext cx="4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panose="02020603050405020304" pitchFamily="18" charset="0"/>
                </a:rPr>
                <a:t>1/2</a:t>
              </a:r>
              <a:r>
                <a:rPr lang="en-US" altLang="zh-CN" sz="1800" baseline="30000">
                  <a:latin typeface="Times" panose="02020603050405020304" pitchFamily="18" charset="0"/>
                </a:rPr>
                <a:t>–</a:t>
              </a:r>
              <a:r>
                <a:rPr lang="en-US" altLang="zh-CN" sz="1800" i="1" baseline="30000">
                  <a:latin typeface="Times" panose="02020603050405020304" pitchFamily="18" charset="0"/>
                </a:rPr>
                <a:t>n</a:t>
              </a:r>
              <a:endParaRPr lang="en-US" altLang="zh-CN" sz="1800" i="1" baseline="3000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95EA4E-6D22-4620-8CD9-EAA053228FC2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98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Fractional Binary Numbers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98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Bits to right of “binary point” represent fractional powers of 2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Represents rational number:        2</a:t>
            </a:r>
            <a:r>
              <a:rPr lang="en-US" altLang="zh-CN" baseline="30000">
                <a:ea typeface="宋体" panose="02010600030101010101" pitchFamily="2" charset="-122"/>
              </a:rPr>
              <a:t>i</a:t>
            </a:r>
            <a:endParaRPr lang="en-US" altLang="zh-CN" baseline="30000">
              <a:ea typeface="宋体" panose="02010600030101010101" pitchFamily="2" charset="-122"/>
            </a:endParaRPr>
          </a:p>
        </p:txBody>
      </p:sp>
      <p:graphicFrame>
        <p:nvGraphicFramePr>
          <p:cNvPr id="39834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613400" y="2438400"/>
          <a:ext cx="787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1" imgW="787400" imgH="660400" progId="Equation.3">
                  <p:embed/>
                </p:oleObj>
              </mc:Choice>
              <mc:Fallback>
                <p:oleObj name="Equation" r:id="rId1" imgW="787400" imgH="660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2438400"/>
                        <a:ext cx="787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7A8BA8-066D-4C70-A9BE-2C4EF4861E7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0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Fractional Numbers to Binary Bits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unsigned result_bits=0, current_bit=0x80000000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for (i=0;i&lt;32;i++) {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x *= 2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if ( x&gt;= 1 ) {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	result_bits |= current_bit ;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	if ( x == 1)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		break ;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	x -= 1 ;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}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	current_bit &gt;&gt; 1 ;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}</a:t>
            </a:r>
            <a:endParaRPr kumimoji="1"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58BF4E-86BB-4708-833A-31BAD999EF0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2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Fraction Binary Number Examples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Value				Binary Fraction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0.2				0.00110011[0011]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Observations: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form 0.11111</a:t>
            </a:r>
            <a:r>
              <a:rPr lang="en-US" altLang="zh-CN">
                <a:ea typeface="宋体" panose="02010600030101010101" pitchFamily="2" charset="-122"/>
                <a:cs typeface="Times New Roman" panose="02020603050405020304" pitchFamily="18" charset="0"/>
              </a:rPr>
              <a:t>…11 represent numbers just below 1.0 which is noted as 1.0-</a:t>
            </a:r>
            <a:r>
              <a:rPr lang="en-US" altLang="zh-CN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Binary Fractions can only exactly represent x/2</a:t>
            </a:r>
            <a:r>
              <a:rPr lang="en-US" altLang="zh-CN" baseline="30000">
                <a:ea typeface="宋体" panose="02010600030101010101" pitchFamily="2" charset="-122"/>
              </a:rPr>
              <a:t>k</a:t>
            </a:r>
            <a:endParaRPr lang="en-US" altLang="zh-CN" baseline="30000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Others have repeated bit patterns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C4283F-9BA9-48A2-8188-5FF62A0EA29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4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Encoding Rational Numbers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4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010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Until 1980s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Many idiosyncratic formats, fast speed, easy implementation, less accuracy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IEEE 754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Designed by W. Kahan for Intel processors (Turing Award 1989)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Based on a small and consistent set of principles, elegant, understandable, hard to make go fast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404485" name="图片 4" descr="untitled.bmp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190500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F9E3AD-4FDF-41A6-9829-C29004D5C66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6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IEEE Floating-Point Representation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6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Numeric form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V=(-1)</a:t>
            </a:r>
            <a:r>
              <a:rPr lang="en-US" altLang="zh-CN" baseline="30000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M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 2</a:t>
            </a:r>
            <a:r>
              <a:rPr lang="en-US" altLang="zh-CN" baseline="30000">
                <a:ea typeface="宋体" panose="02010600030101010101" pitchFamily="2" charset="-122"/>
              </a:rPr>
              <a:t>E</a:t>
            </a:r>
            <a:endParaRPr lang="en-US" altLang="zh-CN" baseline="30000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Sign bit </a:t>
            </a:r>
            <a:r>
              <a:rPr lang="en-US" altLang="zh-CN" sz="2400" i="1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400">
                <a:ea typeface="宋体" panose="02010600030101010101" pitchFamily="2" charset="-122"/>
              </a:rPr>
              <a:t> determines whether number is negative or positive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Significand </a:t>
            </a:r>
            <a:r>
              <a:rPr lang="en-US" altLang="zh-CN" sz="2400" i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400" i="1">
                <a:solidFill>
                  <a:schemeClr val="hlink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400">
                <a:ea typeface="宋体" panose="02010600030101010101" pitchFamily="2" charset="-122"/>
              </a:rPr>
              <a:t>normally a fractional value in range [1.0,2.0).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Exponent </a:t>
            </a:r>
            <a:r>
              <a:rPr lang="en-US" altLang="zh-CN" sz="24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>
                <a:ea typeface="宋体" panose="02010600030101010101" pitchFamily="2" charset="-122"/>
              </a:rPr>
              <a:t> weights value by power of two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DBCD6D-12D3-404D-AE3D-E24DE529D9F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8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IEEE Floating-Point Representation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8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Encoding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 is sign bit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field encodes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endParaRPr lang="en-US" altLang="zh-CN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field encodes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endParaRPr lang="en-US" altLang="zh-CN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Sizes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Single precision (32 bits): 8 exp bits, 23 frac bits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Double precision (64 bits): 11 exp bits, 52 frac bits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08581" name="Group 4"/>
          <p:cNvGrpSpPr/>
          <p:nvPr/>
        </p:nvGrpSpPr>
        <p:grpSpPr bwMode="auto">
          <a:xfrm>
            <a:off x="1447800" y="2209800"/>
            <a:ext cx="6985000" cy="355600"/>
            <a:chOff x="824" y="2120"/>
            <a:chExt cx="4400" cy="224"/>
          </a:xfrm>
        </p:grpSpPr>
        <p:sp>
          <p:nvSpPr>
            <p:cNvPr id="408582" name="Rectangle 5"/>
            <p:cNvSpPr>
              <a:spLocks noChangeArrowheads="1"/>
            </p:cNvSpPr>
            <p:nvPr/>
          </p:nvSpPr>
          <p:spPr bwMode="auto">
            <a:xfrm>
              <a:off x="824" y="2120"/>
              <a:ext cx="224" cy="2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s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408583" name="Rectangle 6"/>
            <p:cNvSpPr>
              <a:spLocks noChangeArrowheads="1"/>
            </p:cNvSpPr>
            <p:nvPr/>
          </p:nvSpPr>
          <p:spPr bwMode="auto">
            <a:xfrm>
              <a:off x="1064" y="2120"/>
              <a:ext cx="1328" cy="2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exp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408584" name="Rectangle 7"/>
            <p:cNvSpPr>
              <a:spLocks noChangeArrowheads="1"/>
            </p:cNvSpPr>
            <p:nvPr/>
          </p:nvSpPr>
          <p:spPr bwMode="auto">
            <a:xfrm>
              <a:off x="2408" y="2120"/>
              <a:ext cx="2816" cy="2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frac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D51B67-0535-4F5B-AF15-188D33F471C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10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Normalize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Condition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 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111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Exponent coded as </a:t>
            </a:r>
            <a:r>
              <a:rPr lang="en-US" altLang="zh-CN" i="1">
                <a:ea typeface="宋体" panose="02010600030101010101" pitchFamily="2" charset="-122"/>
              </a:rPr>
              <a:t>biased</a:t>
            </a:r>
            <a:r>
              <a:rPr lang="en-US" altLang="zh-CN">
                <a:ea typeface="宋体" panose="02010600030101010101" pitchFamily="2" charset="-122"/>
              </a:rPr>
              <a:t> value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i="1">
                <a:ea typeface="宋体" panose="02010600030101010101" pitchFamily="2" charset="-122"/>
              </a:rPr>
              <a:t>E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zh-CN" i="1">
                <a:ea typeface="宋体" panose="02010600030101010101" pitchFamily="2" charset="-122"/>
              </a:rPr>
              <a:t>  Exp – Bias</a:t>
            </a:r>
            <a:endParaRPr lang="en-US" altLang="zh-CN" i="1">
              <a:ea typeface="宋体" panose="02010600030101010101" pitchFamily="2" charset="-122"/>
            </a:endParaRPr>
          </a:p>
          <a:p>
            <a:pPr lvl="2"/>
            <a:r>
              <a:rPr lang="en-US" altLang="zh-CN" i="1">
                <a:ea typeface="宋体" panose="02010600030101010101" pitchFamily="2" charset="-122"/>
              </a:rPr>
              <a:t>Exp </a:t>
            </a:r>
            <a:r>
              <a:rPr lang="en-US" altLang="zh-CN">
                <a:ea typeface="宋体" panose="02010600030101010101" pitchFamily="2" charset="-122"/>
              </a:rPr>
              <a:t>: unsigned value denoted by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 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2"/>
            <a:r>
              <a:rPr lang="en-US" altLang="zh-CN" i="1">
                <a:ea typeface="宋体" panose="02010600030101010101" pitchFamily="2" charset="-122"/>
              </a:rPr>
              <a:t>Bias </a:t>
            </a:r>
            <a:r>
              <a:rPr lang="en-US" altLang="zh-CN">
                <a:ea typeface="宋体" panose="02010600030101010101" pitchFamily="2" charset="-122"/>
              </a:rPr>
              <a:t>: Bias value</a:t>
            </a:r>
            <a:endParaRPr lang="en-US" altLang="zh-CN">
              <a:ea typeface="宋体" panose="02010600030101010101" pitchFamily="2" charset="-122"/>
            </a:endParaRPr>
          </a:p>
          <a:p>
            <a:pPr lvl="3"/>
            <a:r>
              <a:rPr lang="en-US" altLang="zh-CN">
                <a:ea typeface="宋体" panose="02010600030101010101" pitchFamily="2" charset="-122"/>
              </a:rPr>
              <a:t>Single precision: 127 (</a:t>
            </a:r>
            <a:r>
              <a:rPr lang="en-US" altLang="zh-CN" i="1"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: 1…254, </a:t>
            </a:r>
            <a:r>
              <a:rPr lang="en-US" altLang="zh-CN" i="1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</a:rPr>
              <a:t>: -126…127)</a:t>
            </a:r>
            <a:endParaRPr lang="en-US" altLang="zh-CN">
              <a:ea typeface="宋体" panose="02010600030101010101" pitchFamily="2" charset="-122"/>
            </a:endParaRPr>
          </a:p>
          <a:p>
            <a:pPr lvl="3"/>
            <a:r>
              <a:rPr lang="en-US" altLang="zh-CN">
                <a:ea typeface="宋体" panose="02010600030101010101" pitchFamily="2" charset="-122"/>
              </a:rPr>
              <a:t>Double precision: 1023 (</a:t>
            </a:r>
            <a:r>
              <a:rPr lang="en-US" altLang="zh-CN" i="1"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: 1…2046,  						</a:t>
            </a:r>
            <a:r>
              <a:rPr lang="en-US" altLang="zh-CN" i="1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</a:rPr>
              <a:t>: -1022 …1023)</a:t>
            </a:r>
            <a:endParaRPr lang="en-US" altLang="zh-CN">
              <a:ea typeface="宋体" panose="02010600030101010101" pitchFamily="2" charset="-122"/>
            </a:endParaRPr>
          </a:p>
          <a:p>
            <a:pPr lvl="3"/>
            <a:r>
              <a:rPr lang="en-US" altLang="zh-CN">
                <a:ea typeface="宋体" panose="02010600030101010101" pitchFamily="2" charset="-122"/>
              </a:rPr>
              <a:t>In general: </a:t>
            </a:r>
            <a:r>
              <a:rPr lang="en-US" altLang="zh-CN" i="1">
                <a:ea typeface="宋体" panose="02010600030101010101" pitchFamily="2" charset="-122"/>
              </a:rPr>
              <a:t>Bias</a:t>
            </a:r>
            <a:r>
              <a:rPr lang="en-US" altLang="zh-CN">
                <a:ea typeface="宋体" panose="02010600030101010101" pitchFamily="2" charset="-122"/>
              </a:rPr>
              <a:t> = 2</a:t>
            </a:r>
            <a:r>
              <a:rPr lang="en-US" altLang="zh-CN" baseline="30000">
                <a:ea typeface="宋体" panose="02010600030101010101" pitchFamily="2" charset="-122"/>
              </a:rPr>
              <a:t>m-1</a:t>
            </a:r>
            <a:r>
              <a:rPr lang="en-US" altLang="zh-CN">
                <a:ea typeface="宋体" panose="02010600030101010101" pitchFamily="2" charset="-122"/>
              </a:rPr>
              <a:t> - 1, where m is the number of exponent bits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13C13A-A38D-49E0-B745-3125BF875EB1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12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Normalize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2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Significand coded with implied leading 1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i="1">
                <a:ea typeface="宋体" panose="02010600030101010101" pitchFamily="2" charset="-122"/>
              </a:rPr>
              <a:t>m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1.xxx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xxx</a:t>
            </a:r>
            <a:r>
              <a:rPr lang="en-US" altLang="zh-CN" sz="2400">
                <a:ea typeface="宋体" panose="02010600030101010101" pitchFamily="2" charset="-122"/>
              </a:rPr>
              <a:t>…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: bits of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Minimum when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 sz="2400">
                <a:ea typeface="宋体" panose="02010600030101010101" pitchFamily="2" charset="-122"/>
              </a:rPr>
              <a:t>…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0 </a:t>
            </a:r>
            <a:r>
              <a:rPr lang="en-US" altLang="zh-CN" sz="2400">
                <a:ea typeface="宋体" panose="02010600030101010101" pitchFamily="2" charset="-122"/>
              </a:rPr>
              <a:t>(</a:t>
            </a:r>
            <a:r>
              <a:rPr lang="en-US" altLang="zh-CN" sz="2400" i="1">
                <a:ea typeface="宋体" panose="02010600030101010101" pitchFamily="2" charset="-122"/>
              </a:rPr>
              <a:t>M</a:t>
            </a:r>
            <a:r>
              <a:rPr lang="en-US" altLang="zh-CN" sz="2400">
                <a:ea typeface="宋体" panose="02010600030101010101" pitchFamily="2" charset="-122"/>
              </a:rPr>
              <a:t> = 1.0)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Maximum when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111</a:t>
            </a:r>
            <a:r>
              <a:rPr lang="en-US" altLang="zh-CN" sz="2400">
                <a:ea typeface="宋体" panose="02010600030101010101" pitchFamily="2" charset="-122"/>
              </a:rPr>
              <a:t>…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1 </a:t>
            </a:r>
            <a:r>
              <a:rPr lang="en-US" altLang="zh-CN" sz="2400">
                <a:ea typeface="宋体" panose="02010600030101010101" pitchFamily="2" charset="-122"/>
              </a:rPr>
              <a:t>(</a:t>
            </a:r>
            <a:r>
              <a:rPr lang="en-US" altLang="zh-CN" sz="2400" i="1">
                <a:ea typeface="宋体" panose="02010600030101010101" pitchFamily="2" charset="-122"/>
              </a:rPr>
              <a:t>M</a:t>
            </a:r>
            <a:r>
              <a:rPr lang="en-US" altLang="zh-CN" sz="2400">
                <a:ea typeface="宋体" panose="02010600030101010101" pitchFamily="2" charset="-122"/>
              </a:rPr>
              <a:t> = 2.0 – </a:t>
            </a:r>
            <a:r>
              <a:rPr lang="en-US" altLang="zh-CN" sz="2400">
                <a:latin typeface="Symbol" panose="05050102010706020507" pitchFamily="18" charset="2"/>
                <a:ea typeface="宋体" panose="02010600030101010101" pitchFamily="2" charset="-122"/>
              </a:rPr>
              <a:t>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Get extra leading bit for “free”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28E905-02F2-4962-A829-CE76A73E83A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14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Normalized Encoding Examples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4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Value: 12345 (Hex: 0x3039)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Binary bits: 11000000111001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Fraction representation: 1.1000000111001*2</a:t>
            </a:r>
            <a:r>
              <a:rPr lang="en-US" altLang="zh-CN" baseline="30000">
                <a:ea typeface="宋体" panose="02010600030101010101" pitchFamily="2" charset="-122"/>
              </a:rPr>
              <a:t>13</a:t>
            </a:r>
            <a:endParaRPr lang="en-US" altLang="zh-CN" baseline="300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M: 10000001110010000000000 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E: 10001100 (140)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Binary Encoding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0100 0110 0100 0000 1110 0100 0000 0000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4640E400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443770-1A0A-4E2E-AB16-726CA6B4241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16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Denormalized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6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Condition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Values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Exponent Value: </a:t>
            </a:r>
            <a:r>
              <a:rPr lang="en-US" altLang="zh-CN" i="1">
                <a:ea typeface="宋体" panose="02010600030101010101" pitchFamily="2" charset="-122"/>
              </a:rPr>
              <a:t>E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zh-CN" i="1">
                <a:ea typeface="宋体" panose="02010600030101010101" pitchFamily="2" charset="-122"/>
              </a:rPr>
              <a:t>  1 – Bias</a:t>
            </a:r>
            <a:endParaRPr lang="en-US" altLang="zh-CN" i="1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Significant Value </a:t>
            </a:r>
            <a:r>
              <a:rPr lang="en-US" altLang="zh-CN" i="1">
                <a:ea typeface="宋体" panose="02010600030101010101" pitchFamily="2" charset="-122"/>
              </a:rPr>
              <a:t>m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0.xxx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xxx</a:t>
            </a:r>
            <a:r>
              <a:rPr lang="en-US" altLang="zh-CN" sz="2400">
                <a:ea typeface="宋体" panose="02010600030101010101" pitchFamily="2" charset="-122"/>
              </a:rPr>
              <a:t>…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: bits of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endParaRPr lang="en-US" altLang="zh-CN" sz="240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06BA99-6FA7-40FF-9318-A3C12B7E4BB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18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Denormalized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8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Cases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Represents value 0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Note that have distinct values +0 and –0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Numbers very close to 0.0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Lose precision as get smaller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“Gradual underflow”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413256-DE37-4AA8-ADCE-1A79AF6EA96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20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Special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20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Condition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exp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111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63971C-04FF-45E9-8A49-9BE59EB635E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22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Special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22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111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Represents value</a:t>
            </a:r>
            <a:r>
              <a:rPr lang="en-US" altLang="zh-CN" sz="3200">
                <a:latin typeface="Symbol" panose="05050102010706020507" pitchFamily="18" charset="2"/>
                <a:ea typeface="宋体" panose="02010600030101010101" pitchFamily="2" charset="-122"/>
              </a:rPr>
              <a:t>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</a:t>
            </a:r>
            <a:r>
              <a:rPr lang="en-US" altLang="zh-CN">
                <a:ea typeface="宋体" panose="02010600030101010101" pitchFamily="2" charset="-122"/>
              </a:rPr>
              <a:t>(infinity)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Operation that overflows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Both positive and negative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E.g., 1.0/0.0 = 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</a:t>
            </a:r>
            <a:r>
              <a:rPr lang="en-US" altLang="zh-CN">
                <a:ea typeface="宋体" panose="02010600030101010101" pitchFamily="2" charset="-122"/>
              </a:rPr>
              <a:t>1.0/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</a:t>
            </a:r>
            <a:r>
              <a:rPr lang="en-US" altLang="zh-CN">
                <a:ea typeface="宋体" panose="02010600030101010101" pitchFamily="2" charset="-122"/>
              </a:rPr>
              <a:t>0.0 = +</a:t>
            </a:r>
            <a:r>
              <a:rPr lang="en-US" altLang="zh-CN" sz="3200">
                <a:latin typeface="Symbol" panose="05050102010706020507" pitchFamily="18" charset="2"/>
                <a:ea typeface="宋体" panose="02010600030101010101" pitchFamily="2" charset="-122"/>
              </a:rPr>
              <a:t></a:t>
            </a:r>
            <a:r>
              <a:rPr lang="en-US" altLang="zh-CN" sz="3200">
                <a:ea typeface="宋体" panose="02010600030101010101" pitchFamily="2" charset="-122"/>
              </a:rPr>
              <a:t>,  </a:t>
            </a:r>
            <a:r>
              <a:rPr lang="en-US" altLang="zh-CN">
                <a:ea typeface="宋体" panose="02010600030101010101" pitchFamily="2" charset="-122"/>
              </a:rPr>
              <a:t>1.0/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</a:t>
            </a:r>
            <a:r>
              <a:rPr lang="en-US" altLang="zh-CN">
                <a:ea typeface="宋体" panose="02010600030101010101" pitchFamily="2" charset="-122"/>
              </a:rPr>
              <a:t>0.0 = 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</a:t>
            </a:r>
            <a:r>
              <a:rPr lang="en-US" altLang="zh-CN" sz="3200">
                <a:latin typeface="Symbol" panose="05050102010706020507" pitchFamily="18" charset="2"/>
                <a:ea typeface="宋体" panose="02010600030101010101" pitchFamily="2" charset="-122"/>
              </a:rPr>
              <a:t></a:t>
            </a:r>
            <a:endParaRPr lang="en-US" altLang="zh-CN" sz="320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0017ED-7DD5-402E-AA64-574C9108C70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24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Special Values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24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exp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111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000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endParaRPr lang="en-US" altLang="zh-CN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Not-a-Number (NaN)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Represents case when no numeric value can be determined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E.g., sqrt(–1), </a:t>
            </a:r>
            <a:r>
              <a:rPr lang="en-US" altLang="zh-CN">
                <a:latin typeface="Symbol" panose="05050102010706020507" pitchFamily="18" charset="2"/>
                <a:ea typeface="宋体" panose="02010600030101010101" pitchFamily="2" charset="-122"/>
              </a:rPr>
              <a:t></a:t>
            </a:r>
            <a:endParaRPr lang="en-US" altLang="zh-CN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51E598-7031-4671-B97B-ECAF7811C46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27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Summary of Real Number Encodings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pSp>
        <p:nvGrpSpPr>
          <p:cNvPr id="427012" name="Group 5"/>
          <p:cNvGrpSpPr/>
          <p:nvPr/>
        </p:nvGrpSpPr>
        <p:grpSpPr bwMode="auto">
          <a:xfrm>
            <a:off x="304800" y="1828800"/>
            <a:ext cx="8388350" cy="1347788"/>
            <a:chOff x="192" y="1446"/>
            <a:chExt cx="5284" cy="849"/>
          </a:xfrm>
        </p:grpSpPr>
        <p:sp>
          <p:nvSpPr>
            <p:cNvPr id="427013" name="Line 6"/>
            <p:cNvSpPr>
              <a:spLocks noChangeShapeType="1"/>
            </p:cNvSpPr>
            <p:nvPr/>
          </p:nvSpPr>
          <p:spPr bwMode="auto">
            <a:xfrm>
              <a:off x="528" y="1782"/>
              <a:ext cx="4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4" name="Line 7"/>
            <p:cNvSpPr>
              <a:spLocks noChangeShapeType="1"/>
            </p:cNvSpPr>
            <p:nvPr/>
          </p:nvSpPr>
          <p:spPr bwMode="auto">
            <a:xfrm>
              <a:off x="528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5" name="Line 8"/>
            <p:cNvSpPr>
              <a:spLocks noChangeShapeType="1"/>
            </p:cNvSpPr>
            <p:nvPr/>
          </p:nvSpPr>
          <p:spPr bwMode="auto">
            <a:xfrm>
              <a:off x="5136" y="207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6" name="Line 9"/>
            <p:cNvSpPr>
              <a:spLocks noChangeShapeType="1"/>
            </p:cNvSpPr>
            <p:nvPr/>
          </p:nvSpPr>
          <p:spPr bwMode="auto">
            <a:xfrm>
              <a:off x="5136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7" name="Line 10"/>
            <p:cNvSpPr>
              <a:spLocks noChangeShapeType="1"/>
            </p:cNvSpPr>
            <p:nvPr/>
          </p:nvSpPr>
          <p:spPr bwMode="auto">
            <a:xfrm>
              <a:off x="2688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8" name="Line 11"/>
            <p:cNvSpPr>
              <a:spLocks noChangeShapeType="1"/>
            </p:cNvSpPr>
            <p:nvPr/>
          </p:nvSpPr>
          <p:spPr bwMode="auto">
            <a:xfrm>
              <a:off x="5136" y="216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9" name="Text Box 12"/>
            <p:cNvSpPr txBox="1">
              <a:spLocks noChangeArrowheads="1"/>
            </p:cNvSpPr>
            <p:nvPr/>
          </p:nvSpPr>
          <p:spPr bwMode="auto">
            <a:xfrm>
              <a:off x="5136" y="1980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NaN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  <p:sp>
          <p:nvSpPr>
            <p:cNvPr id="427020" name="Line 13"/>
            <p:cNvSpPr>
              <a:spLocks noChangeShapeType="1"/>
            </p:cNvSpPr>
            <p:nvPr/>
          </p:nvSpPr>
          <p:spPr bwMode="auto">
            <a:xfrm>
              <a:off x="5472" y="207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1" name="Line 14"/>
            <p:cNvSpPr>
              <a:spLocks noChangeShapeType="1"/>
            </p:cNvSpPr>
            <p:nvPr/>
          </p:nvSpPr>
          <p:spPr bwMode="auto">
            <a:xfrm>
              <a:off x="192" y="211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2" name="Line 15"/>
            <p:cNvSpPr>
              <a:spLocks noChangeShapeType="1"/>
            </p:cNvSpPr>
            <p:nvPr/>
          </p:nvSpPr>
          <p:spPr bwMode="auto">
            <a:xfrm>
              <a:off x="192" y="2208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3" name="Text Box 16"/>
            <p:cNvSpPr txBox="1">
              <a:spLocks noChangeArrowheads="1"/>
            </p:cNvSpPr>
            <p:nvPr/>
          </p:nvSpPr>
          <p:spPr bwMode="auto">
            <a:xfrm>
              <a:off x="192" y="2022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NaN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  <p:sp>
          <p:nvSpPr>
            <p:cNvPr id="427024" name="Line 17"/>
            <p:cNvSpPr>
              <a:spLocks noChangeShapeType="1"/>
            </p:cNvSpPr>
            <p:nvPr/>
          </p:nvSpPr>
          <p:spPr bwMode="auto">
            <a:xfrm>
              <a:off x="528" y="211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5" name="Rectangle 18"/>
            <p:cNvSpPr>
              <a:spLocks noChangeArrowheads="1"/>
            </p:cNvSpPr>
            <p:nvPr/>
          </p:nvSpPr>
          <p:spPr bwMode="auto">
            <a:xfrm>
              <a:off x="4896" y="1461"/>
              <a:ext cx="3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" panose="02020603050405020304" pitchFamily="18" charset="0"/>
                </a:rPr>
                <a:t>+</a:t>
              </a:r>
              <a:r>
                <a:rPr lang="en-US" altLang="zh-CN" sz="2400">
                  <a:latin typeface="Symbol" panose="05050102010706020507" pitchFamily="18" charset="2"/>
                </a:rPr>
                <a:t></a:t>
              </a:r>
              <a:endParaRPr lang="en-US" altLang="zh-CN" sz="2400">
                <a:latin typeface="Symbol" panose="05050102010706020507" pitchFamily="18" charset="2"/>
              </a:endParaRPr>
            </a:p>
          </p:txBody>
        </p:sp>
        <p:sp>
          <p:nvSpPr>
            <p:cNvPr id="427026" name="Rectangle 19"/>
            <p:cNvSpPr>
              <a:spLocks noChangeArrowheads="1"/>
            </p:cNvSpPr>
            <p:nvPr/>
          </p:nvSpPr>
          <p:spPr bwMode="auto">
            <a:xfrm>
              <a:off x="451" y="1446"/>
              <a:ext cx="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zh-CN" altLang="en-US" sz="2400">
                  <a:latin typeface="Symbol" panose="05050102010706020507" pitchFamily="18" charset="2"/>
                </a:rPr>
                <a:t></a:t>
              </a: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427027" name="Text Box 20"/>
            <p:cNvSpPr txBox="1">
              <a:spLocks noChangeArrowheads="1"/>
            </p:cNvSpPr>
            <p:nvPr/>
          </p:nvSpPr>
          <p:spPr bwMode="auto">
            <a:xfrm>
              <a:off x="2496" y="2062"/>
              <a:ext cx="27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n-US" altLang="zh-CN" sz="1800">
                  <a:latin typeface="Helvetica" panose="020B0604020202020204" pitchFamily="34" charset="0"/>
                </a:rPr>
                <a:t>0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7028" name="Line 21"/>
            <p:cNvSpPr>
              <a:spLocks noChangeShapeType="1"/>
            </p:cNvSpPr>
            <p:nvPr/>
          </p:nvSpPr>
          <p:spPr bwMode="auto">
            <a:xfrm>
              <a:off x="3696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9" name="Text Box 22"/>
            <p:cNvSpPr txBox="1">
              <a:spLocks noChangeArrowheads="1"/>
            </p:cNvSpPr>
            <p:nvPr/>
          </p:nvSpPr>
          <p:spPr bwMode="auto">
            <a:xfrm>
              <a:off x="2984" y="1542"/>
              <a:ext cx="7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+Denorm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7030" name="Text Box 23"/>
            <p:cNvSpPr txBox="1">
              <a:spLocks noChangeArrowheads="1"/>
            </p:cNvSpPr>
            <p:nvPr/>
          </p:nvSpPr>
          <p:spPr bwMode="auto">
            <a:xfrm>
              <a:off x="3840" y="1542"/>
              <a:ext cx="9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+Normalized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7031" name="Text Box 24"/>
            <p:cNvSpPr txBox="1">
              <a:spLocks noChangeArrowheads="1"/>
            </p:cNvSpPr>
            <p:nvPr/>
          </p:nvSpPr>
          <p:spPr bwMode="auto">
            <a:xfrm>
              <a:off x="1920" y="1551"/>
              <a:ext cx="6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-Denorm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7032" name="Line 25"/>
            <p:cNvSpPr>
              <a:spLocks noChangeShapeType="1"/>
            </p:cNvSpPr>
            <p:nvPr/>
          </p:nvSpPr>
          <p:spPr bwMode="auto">
            <a:xfrm>
              <a:off x="1920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33" name="Text Box 26"/>
            <p:cNvSpPr txBox="1">
              <a:spLocks noChangeArrowheads="1"/>
            </p:cNvSpPr>
            <p:nvPr/>
          </p:nvSpPr>
          <p:spPr bwMode="auto">
            <a:xfrm>
              <a:off x="884" y="1542"/>
              <a:ext cx="8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-Normalized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7034" name="Line 27"/>
            <p:cNvSpPr>
              <a:spLocks noChangeShapeType="1"/>
            </p:cNvSpPr>
            <p:nvPr/>
          </p:nvSpPr>
          <p:spPr bwMode="auto">
            <a:xfrm>
              <a:off x="2976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35" name="Line 28"/>
            <p:cNvSpPr>
              <a:spLocks noChangeShapeType="1"/>
            </p:cNvSpPr>
            <p:nvPr/>
          </p:nvSpPr>
          <p:spPr bwMode="auto">
            <a:xfrm>
              <a:off x="2832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36" name="Line 29"/>
            <p:cNvSpPr>
              <a:spLocks noChangeShapeType="1"/>
            </p:cNvSpPr>
            <p:nvPr/>
          </p:nvSpPr>
          <p:spPr bwMode="auto">
            <a:xfrm>
              <a:off x="4992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37" name="Line 30"/>
            <p:cNvSpPr>
              <a:spLocks noChangeShapeType="1"/>
            </p:cNvSpPr>
            <p:nvPr/>
          </p:nvSpPr>
          <p:spPr bwMode="auto">
            <a:xfrm>
              <a:off x="720" y="168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38" name="Line 31"/>
            <p:cNvSpPr>
              <a:spLocks noChangeShapeType="1"/>
            </p:cNvSpPr>
            <p:nvPr/>
          </p:nvSpPr>
          <p:spPr bwMode="auto">
            <a:xfrm flipV="1">
              <a:off x="2688" y="1776"/>
              <a:ext cx="14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39" name="Line 32"/>
            <p:cNvSpPr>
              <a:spLocks noChangeShapeType="1"/>
            </p:cNvSpPr>
            <p:nvPr/>
          </p:nvSpPr>
          <p:spPr bwMode="auto">
            <a:xfrm flipH="1" flipV="1">
              <a:off x="2832" y="1776"/>
              <a:ext cx="14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40" name="Rectangle 33"/>
            <p:cNvSpPr>
              <a:spLocks noChangeArrowheads="1"/>
            </p:cNvSpPr>
            <p:nvPr/>
          </p:nvSpPr>
          <p:spPr bwMode="auto">
            <a:xfrm>
              <a:off x="2880" y="2064"/>
              <a:ext cx="2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+0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4DCFA9-D5C0-443E-99FB-58C9EF03F02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29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8-bit Floating-Point Representations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29060" name="Group 5"/>
          <p:cNvGrpSpPr/>
          <p:nvPr/>
        </p:nvGrpSpPr>
        <p:grpSpPr bwMode="auto">
          <a:xfrm>
            <a:off x="990600" y="1905000"/>
            <a:ext cx="6440488" cy="1143000"/>
            <a:chOff x="624" y="623"/>
            <a:chExt cx="2460" cy="385"/>
          </a:xfrm>
        </p:grpSpPr>
        <p:sp>
          <p:nvSpPr>
            <p:cNvPr id="429061" name="Rectangle 6"/>
            <p:cNvSpPr>
              <a:spLocks noChangeArrowheads="1"/>
            </p:cNvSpPr>
            <p:nvPr/>
          </p:nvSpPr>
          <p:spPr bwMode="auto">
            <a:xfrm>
              <a:off x="624" y="816"/>
              <a:ext cx="19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s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9062" name="Rectangle 7"/>
            <p:cNvSpPr>
              <a:spLocks noChangeArrowheads="1"/>
            </p:cNvSpPr>
            <p:nvPr/>
          </p:nvSpPr>
          <p:spPr bwMode="auto">
            <a:xfrm>
              <a:off x="816" y="816"/>
              <a:ext cx="110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exp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29063" name="Rectangle 8"/>
            <p:cNvSpPr>
              <a:spLocks noChangeArrowheads="1"/>
            </p:cNvSpPr>
            <p:nvPr/>
          </p:nvSpPr>
          <p:spPr bwMode="auto">
            <a:xfrm>
              <a:off x="1920" y="816"/>
              <a:ext cx="115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frac</a:t>
              </a:r>
              <a:endParaRPr lang="en-US" altLang="zh-CN" sz="1800">
                <a:latin typeface="Courier New" panose="02070309020205020404" pitchFamily="49" charset="0"/>
              </a:endParaRPr>
            </a:p>
          </p:txBody>
        </p:sp>
        <p:sp>
          <p:nvSpPr>
            <p:cNvPr id="429064" name="Text Box 9"/>
            <p:cNvSpPr txBox="1">
              <a:spLocks noChangeArrowheads="1"/>
            </p:cNvSpPr>
            <p:nvPr/>
          </p:nvSpPr>
          <p:spPr bwMode="auto">
            <a:xfrm>
              <a:off x="2976" y="623"/>
              <a:ext cx="108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0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  <p:sp>
          <p:nvSpPr>
            <p:cNvPr id="429065" name="Text Box 10"/>
            <p:cNvSpPr txBox="1">
              <a:spLocks noChangeArrowheads="1"/>
            </p:cNvSpPr>
            <p:nvPr/>
          </p:nvSpPr>
          <p:spPr bwMode="auto">
            <a:xfrm>
              <a:off x="1920" y="624"/>
              <a:ext cx="108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2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  <p:sp>
          <p:nvSpPr>
            <p:cNvPr id="429066" name="Text Box 11"/>
            <p:cNvSpPr txBox="1">
              <a:spLocks noChangeArrowheads="1"/>
            </p:cNvSpPr>
            <p:nvPr/>
          </p:nvSpPr>
          <p:spPr bwMode="auto">
            <a:xfrm>
              <a:off x="1776" y="624"/>
              <a:ext cx="108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3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  <p:sp>
          <p:nvSpPr>
            <p:cNvPr id="429067" name="Text Box 12"/>
            <p:cNvSpPr txBox="1">
              <a:spLocks noChangeArrowheads="1"/>
            </p:cNvSpPr>
            <p:nvPr/>
          </p:nvSpPr>
          <p:spPr bwMode="auto">
            <a:xfrm>
              <a:off x="782" y="624"/>
              <a:ext cx="108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6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  <p:sp>
          <p:nvSpPr>
            <p:cNvPr id="429068" name="Text Box 13"/>
            <p:cNvSpPr txBox="1">
              <a:spLocks noChangeArrowheads="1"/>
            </p:cNvSpPr>
            <p:nvPr/>
          </p:nvSpPr>
          <p:spPr bwMode="auto">
            <a:xfrm>
              <a:off x="638" y="624"/>
              <a:ext cx="108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Helvetica" panose="020B0604020202020204" pitchFamily="34" charset="0"/>
                </a:rPr>
                <a:t>7</a:t>
              </a:r>
              <a:endParaRPr lang="en-US" altLang="zh-CN" sz="1400"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B9C937-2DED-41A3-B2FF-5E5F77DD619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31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8-bit Floating-Point Representations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31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Exp	exp	E	2</a:t>
            </a:r>
            <a:r>
              <a:rPr lang="en-US" altLang="zh-CN" sz="1600" b="1" baseline="30000">
                <a:ea typeface="宋体" panose="02010600030101010101" pitchFamily="2" charset="-122"/>
              </a:rPr>
              <a:t>E</a:t>
            </a:r>
            <a:endParaRPr lang="en-US" altLang="zh-CN" sz="1600" b="1" baseline="300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0	0000	-6 	1/64	(denorms)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	0001	-6	1/64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2	0010	-5	1/32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3	0011	-4	1/16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4	0100	-3	1/8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5	0101	-2	1/4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6	0110	-1	1/2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7	0111	 0	1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8	1000	+1	2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9	1001	+2	4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10	1010	+3	8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11	1011	+4	16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12	1100	+5	32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13	1101	+6	64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14	1110	+7	128</a:t>
            </a: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>
                <a:ea typeface="宋体" panose="02010600030101010101" pitchFamily="2" charset="-122"/>
              </a:rPr>
              <a:t>15	1111	n/a		(inf, NaN)</a:t>
            </a:r>
            <a:endParaRPr lang="en-US" altLang="zh-CN" sz="16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ADC48D-F89C-4CD3-88F2-F3CFCA0785C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33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Dynamic Range (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Denormalized numbers)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3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  exp     frac	 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	  Value	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 0000  000	  -6	  0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 0000  001	  -6	  1/8*1/64 = 1/512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 0000  010	  -6	  2/8*1/64 = 2/512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…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 0000   110	  -6	  6/8*1/64 = 6/512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 0000   111	  -6	  7/8*1/64 = 7/512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8657D8-911A-473D-82A7-F02289AC9DF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35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Dynamic Range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5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s   exp     frac	 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	  Value	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0  0001    000	  -6	  8/8*1/64 = 8/512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0  0001    001   -6	  9/8*1/64 = 9/512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…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0  0110    110	  -1	  14/8*1/2 = 14/16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0  0110    111	  -1	  15/8*1/2 = 15/16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0  0111    000	  0	   8/8*1    = 1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0  0111    001	  0	   9/8*1    = 9/8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9E561F-312C-4779-982E-A204D014A8E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37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Dynamic Range (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Denormalized numbers)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7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  exp     frac	 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	  Value	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0111     010	  0	10/8*1   = 10/8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…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1110	110	  7	14/8*128 = 224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 1110     111	  7	15/8*128 = 240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0 1111     000	n/a	inf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0121C5-2ABE-4D7A-87DA-CD52ACC6FF94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39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Distribution of Representable Values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39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6-bit IEEE-like format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K = 3 exponent bits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n = 2 significand bits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Bias is 3</a:t>
            </a:r>
            <a:endParaRPr kumimoji="1" lang="en-US" altLang="zh-CN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>
                <a:ea typeface="宋体" panose="02010600030101010101" pitchFamily="2" charset="-122"/>
              </a:rPr>
              <a:t>Notice how the distribution gets denser toward zero. </a:t>
            </a:r>
            <a:endParaRPr kumimoji="1"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880EA0-DF6A-4F72-AE41-4CBF95F0CF86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41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Distribution of Representable Values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grpSp>
        <p:nvGrpSpPr>
          <p:cNvPr id="441348" name="Group 4"/>
          <p:cNvGrpSpPr/>
          <p:nvPr/>
        </p:nvGrpSpPr>
        <p:grpSpPr bwMode="auto">
          <a:xfrm>
            <a:off x="381000" y="2133600"/>
            <a:ext cx="8355013" cy="2352675"/>
            <a:chOff x="240" y="2526"/>
            <a:chExt cx="5263" cy="1482"/>
          </a:xfrm>
        </p:grpSpPr>
        <p:graphicFrame>
          <p:nvGraphicFramePr>
            <p:cNvPr id="441349" name="Object 5"/>
            <p:cNvGraphicFramePr>
              <a:graphicFrameLocks noChangeAspect="1"/>
            </p:cNvGraphicFramePr>
            <p:nvPr/>
          </p:nvGraphicFramePr>
          <p:xfrm>
            <a:off x="258" y="2526"/>
            <a:ext cx="5245" cy="6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2" name="Worksheet" r:id="rId1" imgW="8343900" imgH="1104900" progId="Excel.Sheet.8">
                    <p:embed/>
                  </p:oleObj>
                </mc:Choice>
                <mc:Fallback>
                  <p:oleObj name="Worksheet" r:id="rId1" imgW="8343900" imgH="1104900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" y="2526"/>
                          <a:ext cx="5245" cy="6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350" name="Object 6"/>
            <p:cNvGraphicFramePr>
              <a:graphicFrameLocks noChangeAspect="1"/>
            </p:cNvGraphicFramePr>
            <p:nvPr/>
          </p:nvGraphicFramePr>
          <p:xfrm>
            <a:off x="240" y="3312"/>
            <a:ext cx="5251" cy="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3" name="Worksheet" r:id="rId3" imgW="8343900" imgH="1114425" progId="Excel.Sheet.8">
                    <p:embed/>
                  </p:oleObj>
                </mc:Choice>
                <mc:Fallback>
                  <p:oleObj name="Worksheet" r:id="rId3" imgW="8343900" imgH="1114425" progId="Excel.Sheet.8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3312"/>
                          <a:ext cx="5251" cy="6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2997CE-0642-41EF-A360-C649C1F9BC10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43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Interesting Numbers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44339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2047046"/>
            <a:ext cx="8953500" cy="2763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00BCB6-BD14-4CC6-B041-FBE03CB1192A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45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Rounding Mode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45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Round down: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rounded result is close to but no greater than true result.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Round up: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rounded result is close to but no less than true result. 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C4F0F3-33D2-41A4-AC28-46C9E8D8DE2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47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Rounding Mode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675895" name="Group 5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7034213" cy="4419601"/>
        </p:xfrm>
        <a:graphic>
          <a:graphicData uri="http://schemas.openxmlformats.org/drawingml/2006/table">
            <a:tbl>
              <a:tblPr/>
              <a:tblGrid>
                <a:gridCol w="2917825"/>
                <a:gridCol w="768350"/>
                <a:gridCol w="768350"/>
                <a:gridCol w="768350"/>
                <a:gridCol w="915988"/>
                <a:gridCol w="895350"/>
              </a:tblGrid>
              <a:tr h="8826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Mode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1.40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1.60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1.50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2.50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-1.50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Round-to-Even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-2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981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Round-toward-zero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02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Round-down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-2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026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Round-up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E062AF-FCB7-4F11-9C19-13B52306738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49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Round-to-Even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49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Default Rounding Mode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Hard to get any other kind without dropping into assembly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All others are statistically biased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Sum of set of positive numbers will consistently be over- or under- estimated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CD2F6F-E414-4C34-B59F-9585A2194A1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51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Round-to-Even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1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Applying to Other Decimal Places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When exactly halfway between two possible values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Round so that least significant digit is even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E.g., round to nearest hundredth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1.2349999	1.23	(Less than half way)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1.2350001	1.24	(Greater than half way)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1.2350000	1.24	(Half way—round up)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1.2450000	1.24	(Half way—round down)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670795-06EE-4F8A-9AFF-1BA8E2B073BF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53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Rounding Binary Number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36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1676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“</a:t>
            </a:r>
            <a:r>
              <a:rPr lang="en-US" altLang="zh-CN">
                <a:ea typeface="宋体" panose="02010600030101010101" pitchFamily="2" charset="-122"/>
              </a:rPr>
              <a:t>Even” when least significant bit is 0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Half way when bits to right of rounding position = 100…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endParaRPr lang="en-US" altLang="zh-CN" baseline="-25000">
              <a:ea typeface="宋体" panose="02010600030101010101" pitchFamily="2" charset="-122"/>
            </a:endParaRPr>
          </a:p>
        </p:txBody>
      </p:sp>
      <p:graphicFrame>
        <p:nvGraphicFramePr>
          <p:cNvPr id="678956" name="Group 44"/>
          <p:cNvGraphicFramePr>
            <a:graphicFrameLocks noGrp="1"/>
          </p:cNvGraphicFramePr>
          <p:nvPr>
            <p:ph sz="half" idx="2"/>
          </p:nvPr>
        </p:nvGraphicFramePr>
        <p:xfrm>
          <a:off x="609600" y="3352800"/>
          <a:ext cx="7696200" cy="2819401"/>
        </p:xfrm>
        <a:graphic>
          <a:graphicData uri="http://schemas.openxmlformats.org/drawingml/2006/table">
            <a:tbl>
              <a:tblPr/>
              <a:tblGrid>
                <a:gridCol w="1539875"/>
                <a:gridCol w="1538288"/>
                <a:gridCol w="1539875"/>
                <a:gridCol w="1538287"/>
                <a:gridCol w="1539875"/>
              </a:tblGrid>
              <a:tr h="86042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Value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Binary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Rounded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Action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Round Decimal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 3/32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10.00011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Down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 3/16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10.0011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Up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 1/4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 7/8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10.111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11.00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Up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 5/8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10.101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10.10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Down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 1/2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BFAACF-8106-4488-AE4A-373D0793A94B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55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Floating-Point Operations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5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Conceptual View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First compute exact result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>
                <a:ea typeface="宋体" panose="02010600030101010101" pitchFamily="2" charset="-122"/>
              </a:rPr>
              <a:t>Make it fit into desired precision</a:t>
            </a:r>
            <a:endParaRPr lang="en-US" altLang="zh-CN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Possibly overflow if exponent too large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>
                <a:ea typeface="宋体" panose="02010600030101010101" pitchFamily="2" charset="-122"/>
              </a:rPr>
              <a:t>Possibly round to fit into </a:t>
            </a:r>
            <a:r>
              <a:rPr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9589D8-211B-4EED-8601-7708E3F15C75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57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FP Multiplication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7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Operands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(–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1)</a:t>
            </a:r>
            <a:r>
              <a:rPr lang="en-US" altLang="zh-CN" i="1" baseline="30000">
                <a:solidFill>
                  <a:schemeClr val="accent2"/>
                </a:solidFill>
                <a:ea typeface="宋体" panose="02010600030101010101" pitchFamily="2" charset="-122"/>
              </a:rPr>
              <a:t>s1</a:t>
            </a:r>
            <a:r>
              <a:rPr lang="en-US" altLang="zh-CN" i="1">
                <a:solidFill>
                  <a:schemeClr val="accent2"/>
                </a:solidFill>
                <a:ea typeface="宋体" panose="02010600030101010101" pitchFamily="2" charset="-122"/>
              </a:rPr>
              <a:t> M1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baseline="30000">
                <a:solidFill>
                  <a:schemeClr val="accent2"/>
                </a:solidFill>
                <a:ea typeface="宋体" panose="02010600030101010101" pitchFamily="2" charset="-122"/>
              </a:rPr>
              <a:t>E1</a:t>
            </a:r>
            <a:endParaRPr lang="en-US" altLang="zh-CN" i="1" baseline="300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(–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1)</a:t>
            </a:r>
            <a:r>
              <a:rPr lang="en-US" altLang="zh-CN" i="1" baseline="30000">
                <a:solidFill>
                  <a:schemeClr val="accent2"/>
                </a:solidFill>
                <a:ea typeface="宋体" panose="02010600030101010101" pitchFamily="2" charset="-122"/>
              </a:rPr>
              <a:t>s2</a:t>
            </a:r>
            <a:r>
              <a:rPr lang="en-US" altLang="zh-CN" i="1">
                <a:solidFill>
                  <a:schemeClr val="accent2"/>
                </a:solidFill>
                <a:ea typeface="宋体" panose="02010600030101010101" pitchFamily="2" charset="-122"/>
              </a:rPr>
              <a:t> M2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baseline="30000">
                <a:solidFill>
                  <a:schemeClr val="accent2"/>
                </a:solidFill>
                <a:ea typeface="宋体" panose="02010600030101010101" pitchFamily="2" charset="-122"/>
              </a:rPr>
              <a:t>E2</a:t>
            </a:r>
            <a:endParaRPr lang="en-US" altLang="zh-CN" i="1" baseline="300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Exact Result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(–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1)</a:t>
            </a:r>
            <a:r>
              <a:rPr lang="en-US" altLang="zh-CN" i="1" baseline="3000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i="1">
                <a:solidFill>
                  <a:schemeClr val="accent2"/>
                </a:solidFill>
                <a:ea typeface="宋体" panose="02010600030101010101" pitchFamily="2" charset="-122"/>
              </a:rPr>
              <a:t> M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baseline="30000">
                <a:solidFill>
                  <a:schemeClr val="accent2"/>
                </a:solidFill>
                <a:ea typeface="宋体" panose="02010600030101010101" pitchFamily="2" charset="-122"/>
              </a:rPr>
              <a:t>E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Sign </a:t>
            </a:r>
            <a:r>
              <a:rPr lang="en-US" altLang="zh-CN" i="1">
                <a:ea typeface="宋体" panose="02010600030101010101" pitchFamily="2" charset="-122"/>
              </a:rPr>
              <a:t>s </a:t>
            </a:r>
            <a:r>
              <a:rPr lang="en-US" altLang="zh-CN">
                <a:ea typeface="宋体" panose="02010600030101010101" pitchFamily="2" charset="-122"/>
              </a:rPr>
              <a:t>: 		</a:t>
            </a:r>
            <a:r>
              <a:rPr lang="en-US" altLang="zh-CN" i="1">
                <a:ea typeface="宋体" panose="02010600030101010101" pitchFamily="2" charset="-122"/>
              </a:rPr>
              <a:t>s1</a:t>
            </a:r>
            <a:r>
              <a:rPr lang="en-US" altLang="zh-CN">
                <a:ea typeface="宋体" panose="02010600030101010101" pitchFamily="2" charset="-122"/>
              </a:rPr>
              <a:t> ^ </a:t>
            </a:r>
            <a:r>
              <a:rPr lang="en-US" altLang="zh-CN" i="1">
                <a:ea typeface="宋体" panose="02010600030101010101" pitchFamily="2" charset="-122"/>
              </a:rPr>
              <a:t>s2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Significand </a:t>
            </a:r>
            <a:r>
              <a:rPr lang="en-US" altLang="zh-CN" i="1">
                <a:ea typeface="宋体" panose="02010600030101010101" pitchFamily="2" charset="-122"/>
              </a:rPr>
              <a:t>M </a:t>
            </a:r>
            <a:r>
              <a:rPr lang="en-US" altLang="zh-CN">
                <a:ea typeface="宋体" panose="02010600030101010101" pitchFamily="2" charset="-122"/>
              </a:rPr>
              <a:t>: 	</a:t>
            </a:r>
            <a:r>
              <a:rPr lang="en-US" altLang="zh-CN" i="1">
                <a:ea typeface="宋体" panose="02010600030101010101" pitchFamily="2" charset="-122"/>
              </a:rPr>
              <a:t>M1</a:t>
            </a:r>
            <a:r>
              <a:rPr lang="en-US" altLang="zh-CN">
                <a:ea typeface="宋体" panose="02010600030101010101" pitchFamily="2" charset="-122"/>
              </a:rPr>
              <a:t> * </a:t>
            </a:r>
            <a:r>
              <a:rPr lang="en-US" altLang="zh-CN" i="1">
                <a:ea typeface="宋体" panose="02010600030101010101" pitchFamily="2" charset="-122"/>
              </a:rPr>
              <a:t>M2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Exponent </a:t>
            </a:r>
            <a:r>
              <a:rPr lang="en-US" altLang="zh-CN" i="1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</a:rPr>
              <a:t>: 		</a:t>
            </a:r>
            <a:r>
              <a:rPr lang="en-US" altLang="zh-CN" i="1">
                <a:ea typeface="宋体" panose="02010600030101010101" pitchFamily="2" charset="-122"/>
              </a:rPr>
              <a:t>E1</a:t>
            </a:r>
            <a:r>
              <a:rPr lang="en-US" altLang="zh-CN">
                <a:ea typeface="宋体" panose="02010600030101010101" pitchFamily="2" charset="-122"/>
              </a:rPr>
              <a:t> + </a:t>
            </a:r>
            <a:r>
              <a:rPr lang="en-US" altLang="zh-CN" i="1">
                <a:ea typeface="宋体" panose="02010600030101010101" pitchFamily="2" charset="-122"/>
              </a:rPr>
              <a:t>E2</a:t>
            </a:r>
            <a:endParaRPr lang="en-US" altLang="zh-CN" i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1FE91B-6F0B-458E-8F23-3668F1D28433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59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FP Multiplication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9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Fixing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≥</a:t>
            </a:r>
            <a:r>
              <a:rPr lang="en-US" altLang="zh-CN">
                <a:ea typeface="宋体" panose="02010600030101010101" pitchFamily="2" charset="-122"/>
              </a:rPr>
              <a:t> 2, shift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right, increment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out of range, overflow 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Round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to fit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precision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7825FF-B756-4C0E-8D8A-E02064267FF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61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FP Addition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61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Operands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(–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1)</a:t>
            </a:r>
            <a:r>
              <a:rPr lang="en-US" altLang="zh-CN" b="1" i="1" baseline="30000">
                <a:solidFill>
                  <a:schemeClr val="accent2"/>
                </a:solidFill>
                <a:ea typeface="宋体" panose="02010600030101010101" pitchFamily="2" charset="-122"/>
              </a:rPr>
              <a:t>s1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 M1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baseline="30000">
                <a:solidFill>
                  <a:schemeClr val="accent2"/>
                </a:solidFill>
                <a:ea typeface="宋体" panose="02010600030101010101" pitchFamily="2" charset="-122"/>
              </a:rPr>
              <a:t>E1</a:t>
            </a:r>
            <a:endParaRPr lang="en-US" altLang="zh-CN" b="1" i="1" baseline="300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(–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1)</a:t>
            </a:r>
            <a:r>
              <a:rPr lang="en-US" altLang="zh-CN" b="1" i="1" baseline="30000">
                <a:solidFill>
                  <a:schemeClr val="accent2"/>
                </a:solidFill>
                <a:ea typeface="宋体" panose="02010600030101010101" pitchFamily="2" charset="-122"/>
              </a:rPr>
              <a:t>s2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 M2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baseline="30000">
                <a:solidFill>
                  <a:schemeClr val="accent2"/>
                </a:solidFill>
                <a:ea typeface="宋体" panose="02010600030101010101" pitchFamily="2" charset="-122"/>
              </a:rPr>
              <a:t>E2</a:t>
            </a:r>
            <a:endParaRPr lang="en-US" altLang="zh-CN" b="1" i="1" baseline="300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Assume </a:t>
            </a:r>
            <a:r>
              <a:rPr lang="en-US" altLang="zh-CN" b="1" i="1">
                <a:ea typeface="宋体" panose="02010600030101010101" pitchFamily="2" charset="-122"/>
              </a:rPr>
              <a:t>E1</a:t>
            </a:r>
            <a:r>
              <a:rPr lang="en-US" altLang="zh-CN">
                <a:ea typeface="宋体" panose="02010600030101010101" pitchFamily="2" charset="-122"/>
              </a:rPr>
              <a:t> &gt; </a:t>
            </a:r>
            <a:r>
              <a:rPr lang="en-US" altLang="zh-CN" b="1" i="1">
                <a:ea typeface="宋体" panose="02010600030101010101" pitchFamily="2" charset="-122"/>
              </a:rPr>
              <a:t>E2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Exact Result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(–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1)</a:t>
            </a:r>
            <a:r>
              <a:rPr lang="en-US" altLang="zh-CN" b="1" i="1" baseline="3000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 M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baseline="30000">
                <a:solidFill>
                  <a:schemeClr val="accent2"/>
                </a:solidFill>
                <a:ea typeface="宋体" panose="02010600030101010101" pitchFamily="2" charset="-122"/>
              </a:rPr>
              <a:t>E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Sign </a:t>
            </a:r>
            <a:r>
              <a:rPr lang="en-US" altLang="zh-CN" b="1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,   significand </a:t>
            </a:r>
            <a:r>
              <a:rPr lang="en-US" altLang="zh-CN" b="1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Result of signed align &amp; add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Exponent </a:t>
            </a:r>
            <a:r>
              <a:rPr lang="en-US" altLang="zh-CN" b="1" i="1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</a:rPr>
              <a:t>: 	</a:t>
            </a:r>
            <a:r>
              <a:rPr lang="en-US" altLang="zh-CN" b="1" i="1">
                <a:ea typeface="宋体" panose="02010600030101010101" pitchFamily="2" charset="-122"/>
              </a:rPr>
              <a:t>E1</a:t>
            </a:r>
            <a:endParaRPr lang="en-US" altLang="zh-CN" b="1" i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CCBA3E-80A4-4D3E-8D42-2DC4D8BFFA0C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63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FP Addition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63876" name="Group 5"/>
          <p:cNvGrpSpPr/>
          <p:nvPr/>
        </p:nvGrpSpPr>
        <p:grpSpPr bwMode="auto">
          <a:xfrm>
            <a:off x="2387600" y="2017713"/>
            <a:ext cx="4089400" cy="1944687"/>
            <a:chOff x="2648" y="879"/>
            <a:chExt cx="2576" cy="1225"/>
          </a:xfrm>
        </p:grpSpPr>
        <p:sp>
          <p:nvSpPr>
            <p:cNvPr id="463877" name="Rectangle 6"/>
            <p:cNvSpPr>
              <a:spLocks noChangeArrowheads="1"/>
            </p:cNvSpPr>
            <p:nvPr/>
          </p:nvSpPr>
          <p:spPr bwMode="auto">
            <a:xfrm>
              <a:off x="2792" y="1112"/>
              <a:ext cx="128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lvl="1"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latin typeface="Times" panose="02020603050405020304" pitchFamily="18" charset="0"/>
                </a:rPr>
                <a:t>(–</a:t>
              </a:r>
              <a:r>
                <a:rPr lang="en-US" altLang="zh-CN" sz="1800">
                  <a:solidFill>
                    <a:schemeClr val="accent2"/>
                  </a:solidFill>
                  <a:latin typeface="Helvetica" panose="020B0604020202020204" pitchFamily="34" charset="0"/>
                </a:rPr>
                <a:t>1)</a:t>
              </a:r>
              <a:r>
                <a:rPr lang="en-US" altLang="zh-CN" sz="1800" i="1" baseline="30000">
                  <a:solidFill>
                    <a:schemeClr val="accent2"/>
                  </a:solidFill>
                  <a:latin typeface="Helvetica" panose="020B0604020202020204" pitchFamily="34" charset="0"/>
                </a:rPr>
                <a:t>s1</a:t>
              </a:r>
              <a:r>
                <a:rPr lang="en-US" altLang="zh-CN" sz="1800" i="1">
                  <a:solidFill>
                    <a:schemeClr val="accent2"/>
                  </a:solidFill>
                  <a:latin typeface="Helvetica" panose="020B0604020202020204" pitchFamily="34" charset="0"/>
                </a:rPr>
                <a:t> m1</a:t>
              </a:r>
              <a:r>
                <a:rPr lang="en-US" altLang="zh-CN" sz="1800" i="1">
                  <a:solidFill>
                    <a:schemeClr val="hlink"/>
                  </a:solidFill>
                  <a:latin typeface="Helvetica" panose="020B0604020202020204" pitchFamily="34" charset="0"/>
                </a:rPr>
                <a:t> </a:t>
              </a:r>
              <a:endParaRPr lang="en-US" altLang="zh-CN" sz="1800" i="1">
                <a:solidFill>
                  <a:schemeClr val="hlink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463878" name="Rectangle 7"/>
            <p:cNvSpPr>
              <a:spLocks noChangeArrowheads="1"/>
            </p:cNvSpPr>
            <p:nvPr/>
          </p:nvSpPr>
          <p:spPr bwMode="auto">
            <a:xfrm>
              <a:off x="3896" y="1448"/>
              <a:ext cx="1280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lvl="1"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latin typeface="Times" panose="02020603050405020304" pitchFamily="18" charset="0"/>
                </a:rPr>
                <a:t>(–</a:t>
              </a:r>
              <a:r>
                <a:rPr lang="en-US" altLang="zh-CN" sz="1800">
                  <a:solidFill>
                    <a:schemeClr val="accent2"/>
                  </a:solidFill>
                  <a:latin typeface="Helvetica" panose="020B0604020202020204" pitchFamily="34" charset="0"/>
                </a:rPr>
                <a:t>1)</a:t>
              </a:r>
              <a:r>
                <a:rPr lang="en-US" altLang="zh-CN" sz="1800" i="1" baseline="30000">
                  <a:solidFill>
                    <a:schemeClr val="accent2"/>
                  </a:solidFill>
                  <a:latin typeface="Helvetica" panose="020B0604020202020204" pitchFamily="34" charset="0"/>
                </a:rPr>
                <a:t>s2</a:t>
              </a:r>
              <a:r>
                <a:rPr lang="en-US" altLang="zh-CN" sz="1800" i="1">
                  <a:solidFill>
                    <a:schemeClr val="accent2"/>
                  </a:solidFill>
                  <a:latin typeface="Helvetica" panose="020B0604020202020204" pitchFamily="34" charset="0"/>
                </a:rPr>
                <a:t> m2</a:t>
              </a:r>
              <a:r>
                <a:rPr lang="en-US" altLang="zh-CN" sz="1800" i="1">
                  <a:solidFill>
                    <a:schemeClr val="hlink"/>
                  </a:solidFill>
                  <a:latin typeface="Helvetica" panose="020B0604020202020204" pitchFamily="34" charset="0"/>
                </a:rPr>
                <a:t> </a:t>
              </a:r>
              <a:endParaRPr lang="en-US" altLang="zh-CN" sz="1800" i="1">
                <a:solidFill>
                  <a:schemeClr val="hlink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463879" name="Line 8"/>
            <p:cNvSpPr>
              <a:spLocks noChangeShapeType="1"/>
            </p:cNvSpPr>
            <p:nvPr/>
          </p:nvSpPr>
          <p:spPr bwMode="auto">
            <a:xfrm>
              <a:off x="4080" y="92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0" name="Line 9"/>
            <p:cNvSpPr>
              <a:spLocks noChangeShapeType="1"/>
            </p:cNvSpPr>
            <p:nvPr/>
          </p:nvSpPr>
          <p:spPr bwMode="auto">
            <a:xfrm>
              <a:off x="5184" y="92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1" name="Line 10"/>
            <p:cNvSpPr>
              <a:spLocks noChangeShapeType="1"/>
            </p:cNvSpPr>
            <p:nvPr/>
          </p:nvSpPr>
          <p:spPr bwMode="auto">
            <a:xfrm>
              <a:off x="4088" y="960"/>
              <a:ext cx="1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2" name="Rectangle 11"/>
            <p:cNvSpPr>
              <a:spLocks noChangeArrowheads="1"/>
            </p:cNvSpPr>
            <p:nvPr/>
          </p:nvSpPr>
          <p:spPr bwMode="auto">
            <a:xfrm>
              <a:off x="4407" y="879"/>
              <a:ext cx="450" cy="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Helvetica" panose="020B0604020202020204" pitchFamily="34" charset="0"/>
                </a:rPr>
                <a:t>E1</a:t>
              </a:r>
              <a:r>
                <a:rPr lang="en-US" altLang="zh-CN" sz="1400">
                  <a:latin typeface="Helvetica" panose="020B0604020202020204" pitchFamily="34" charset="0"/>
                </a:rPr>
                <a:t>–</a:t>
              </a:r>
              <a:r>
                <a:rPr lang="en-US" altLang="zh-CN" sz="1400" i="1">
                  <a:latin typeface="Helvetica" panose="020B0604020202020204" pitchFamily="34" charset="0"/>
                </a:rPr>
                <a:t>E2</a:t>
              </a:r>
              <a:endParaRPr lang="en-US" altLang="zh-CN" sz="1400" i="1">
                <a:latin typeface="Helvetica" panose="020B0604020202020204" pitchFamily="34" charset="0"/>
              </a:endParaRPr>
            </a:p>
          </p:txBody>
        </p:sp>
        <p:sp>
          <p:nvSpPr>
            <p:cNvPr id="463883" name="Rectangle 12"/>
            <p:cNvSpPr>
              <a:spLocks noChangeArrowheads="1"/>
            </p:cNvSpPr>
            <p:nvPr/>
          </p:nvSpPr>
          <p:spPr bwMode="auto">
            <a:xfrm>
              <a:off x="2679" y="1474"/>
              <a:ext cx="19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panose="020B0604020202020204" pitchFamily="34" charset="0"/>
                </a:rPr>
                <a:t>+</a:t>
              </a:r>
              <a:endParaRPr lang="en-US" altLang="zh-CN" sz="1800">
                <a:latin typeface="Helvetica" panose="020B0604020202020204" pitchFamily="34" charset="0"/>
              </a:endParaRPr>
            </a:p>
          </p:txBody>
        </p:sp>
        <p:sp>
          <p:nvSpPr>
            <p:cNvPr id="463884" name="Line 13"/>
            <p:cNvSpPr>
              <a:spLocks noChangeShapeType="1"/>
            </p:cNvSpPr>
            <p:nvPr/>
          </p:nvSpPr>
          <p:spPr bwMode="auto">
            <a:xfrm>
              <a:off x="2648" y="1824"/>
              <a:ext cx="2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5" name="Rectangle 14"/>
            <p:cNvSpPr>
              <a:spLocks noChangeArrowheads="1"/>
            </p:cNvSpPr>
            <p:nvPr/>
          </p:nvSpPr>
          <p:spPr bwMode="auto">
            <a:xfrm>
              <a:off x="2840" y="1928"/>
              <a:ext cx="2336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lvl="1"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latin typeface="Times" panose="02020603050405020304" pitchFamily="18" charset="0"/>
                </a:rPr>
                <a:t>(–</a:t>
              </a:r>
              <a:r>
                <a:rPr lang="en-US" altLang="zh-CN" sz="1800">
                  <a:solidFill>
                    <a:schemeClr val="accent2"/>
                  </a:solidFill>
                  <a:latin typeface="Helvetica" panose="020B0604020202020204" pitchFamily="34" charset="0"/>
                </a:rPr>
                <a:t>1)</a:t>
              </a:r>
              <a:r>
                <a:rPr lang="en-US" altLang="zh-CN" sz="1800" i="1" baseline="30000">
                  <a:solidFill>
                    <a:schemeClr val="accent2"/>
                  </a:solidFill>
                  <a:latin typeface="Helvetica" panose="020B0604020202020204" pitchFamily="34" charset="0"/>
                </a:rPr>
                <a:t>s</a:t>
              </a:r>
              <a:r>
                <a:rPr lang="en-US" altLang="zh-CN" sz="1800" i="1">
                  <a:solidFill>
                    <a:schemeClr val="accent2"/>
                  </a:solidFill>
                  <a:latin typeface="Helvetica" panose="020B0604020202020204" pitchFamily="34" charset="0"/>
                </a:rPr>
                <a:t> m</a:t>
              </a:r>
              <a:r>
                <a:rPr lang="en-US" altLang="zh-CN" sz="1800" i="1">
                  <a:solidFill>
                    <a:schemeClr val="hlink"/>
                  </a:solidFill>
                  <a:latin typeface="Helvetica" panose="020B0604020202020204" pitchFamily="34" charset="0"/>
                </a:rPr>
                <a:t> </a:t>
              </a:r>
              <a:endParaRPr lang="en-US" altLang="zh-CN" sz="1800" i="1">
                <a:solidFill>
                  <a:schemeClr val="hlink"/>
                </a:solidFill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8FB02E-237A-4B24-ABA7-5BF12058AE5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65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FP Addition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65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Fixing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M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≥</a:t>
            </a:r>
            <a:r>
              <a:rPr lang="en-US" altLang="zh-CN">
                <a:ea typeface="宋体" panose="02010600030101010101" pitchFamily="2" charset="-122"/>
              </a:rPr>
              <a:t> 2, shift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right, increment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&lt; 1, shift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left 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positions, decrement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by 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Overflow if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out of range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Round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to fit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frac</a:t>
            </a:r>
            <a:r>
              <a:rPr lang="en-US" altLang="zh-CN">
                <a:ea typeface="宋体" panose="02010600030101010101" pitchFamily="2" charset="-122"/>
              </a:rPr>
              <a:t> precision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50CD19-5B38-4E7C-93C4-96CDD6806D77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67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Floating Point in C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67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 Guarantees Two Levels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float	single precision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double	double precision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C6AD3-E24A-4169-B7BD-FD64A9B3EB0D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70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Floating Point Puzzles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70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>
                <a:ea typeface="宋体" panose="02010600030101010101" pitchFamily="2" charset="-122"/>
              </a:rPr>
              <a:t>int x = …;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>
                <a:ea typeface="宋体" panose="02010600030101010101" pitchFamily="2" charset="-122"/>
              </a:rPr>
              <a:t>float f = …;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>
                <a:ea typeface="宋体" panose="02010600030101010101" pitchFamily="2" charset="-122"/>
              </a:rPr>
              <a:t>double d = …;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Assume neither d nor f is NAN or infinity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53CE8B-1AEC-4E2D-BA4B-A043F6033EC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72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Floating Point Puzzles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72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x == (int)(float) x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x == (int)(double) x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f == (float)(double) f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== (float) d	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f == -(-f);		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2/3 == 2/3.0	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&lt; 0.0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400">
                <a:ea typeface="宋体" panose="02010600030101010101" pitchFamily="2" charset="-122"/>
              </a:rPr>
              <a:t>((d*2) &lt; 0.0)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&gt; f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400">
                <a:ea typeface="宋体" panose="02010600030101010101" pitchFamily="2" charset="-122"/>
              </a:rPr>
              <a:t>-f &lt; -d	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*d &gt;= 0.0		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(d+f)-d == f		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F150D9-E194-416B-AC68-DA0131ACE1C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74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Answers to Floating Point Puzzles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74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x == (int)(float) x	No: 24 bit significand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x == (int)(double) x	Yes: 53 bit significand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f == (float)(double) f	Yes: increases precision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== (float) d		No: loses precision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f == -(-f);			Yes: Just change sign bit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2/3 == 2/3.0		No: 2/3 == 0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&lt; 0.0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400">
                <a:ea typeface="宋体" panose="02010600030101010101" pitchFamily="2" charset="-122"/>
              </a:rPr>
              <a:t>((d*2) &lt; 0.0)	Yes!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&gt; f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400">
                <a:ea typeface="宋体" panose="02010600030101010101" pitchFamily="2" charset="-122"/>
              </a:rPr>
              <a:t>-f &lt; -d		Yes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d *d &gt;= 0.0		Yes!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(d+f)-d == f		No: Not associative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450626-7BC4-4D11-9718-88DD5CAD1B29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76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Answers to Floating Point Puzzles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76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196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Conversions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Casting between int, float, and double changes numeric values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 Double or float to int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Truncates fractional part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Like rounding toward zero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Not defined when out of range</a:t>
            </a:r>
            <a:endParaRPr lang="en-US" altLang="zh-CN">
              <a:ea typeface="宋体" panose="02010600030101010101" pitchFamily="2" charset="-122"/>
            </a:endParaRPr>
          </a:p>
          <a:p>
            <a:pPr lvl="3"/>
            <a:r>
              <a:rPr lang="en-US" altLang="zh-CN" sz="2400">
                <a:ea typeface="宋体" panose="02010600030101010101" pitchFamily="2" charset="-122"/>
              </a:rPr>
              <a:t>Generally saturates to TMin or TMax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 int to double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Exact conversion, as long as int has ≤ 53 bit word size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 int to float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Will round according to rounding mode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0</TotalTime>
  <Words>32640</Words>
  <Application>WPS 演示</Application>
  <PresentationFormat>全屏显示(4:3)</PresentationFormat>
  <Paragraphs>2814</Paragraphs>
  <Slides>176</Slides>
  <Notes>173</Notes>
  <HiddenSlides>2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28</vt:i4>
      </vt:variant>
      <vt:variant>
        <vt:lpstr>幻灯片标题</vt:lpstr>
      </vt:variant>
      <vt:variant>
        <vt:i4>176</vt:i4>
      </vt:variant>
    </vt:vector>
  </HeadingPairs>
  <TitlesOfParts>
    <vt:vector size="220" baseType="lpstr">
      <vt:lpstr>Arial</vt:lpstr>
      <vt:lpstr>宋体</vt:lpstr>
      <vt:lpstr>Wingdings</vt:lpstr>
      <vt:lpstr>Comic Sans MS</vt:lpstr>
      <vt:lpstr>Times New Roman</vt:lpstr>
      <vt:lpstr>Courier New</vt:lpstr>
      <vt:lpstr>Symbol</vt:lpstr>
      <vt:lpstr>微软雅黑</vt:lpstr>
      <vt:lpstr>Arial Unicode MS</vt:lpstr>
      <vt:lpstr>Helvetica</vt:lpstr>
      <vt:lpstr>仿宋_GB2312</vt:lpstr>
      <vt:lpstr>仿宋</vt:lpstr>
      <vt:lpstr>Times</vt:lpstr>
      <vt:lpstr>Open Sans</vt:lpstr>
      <vt:lpstr>Segoe Print</vt:lpstr>
      <vt:lpstr>icfp99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Excel.Sheet.8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Representing Information</vt:lpstr>
      <vt:lpstr>Outline</vt:lpstr>
      <vt:lpstr>Why Bit?</vt:lpstr>
      <vt:lpstr>The Decimal Representation </vt:lpstr>
      <vt:lpstr>Why Bit?</vt:lpstr>
      <vt:lpstr>Why Bit?</vt:lpstr>
      <vt:lpstr>Why Bit?</vt:lpstr>
      <vt:lpstr>Group Bits</vt:lpstr>
      <vt:lpstr>Group Bits</vt:lpstr>
      <vt:lpstr>Value of Bits</vt:lpstr>
      <vt:lpstr>Group bits as numbers  Three encodings</vt:lpstr>
      <vt:lpstr>Group bits as numbers  Understanding numbers</vt:lpstr>
      <vt:lpstr>‘int’ is not integer</vt:lpstr>
      <vt:lpstr>‘float’ is not real number</vt:lpstr>
      <vt:lpstr>Hexadecimal</vt:lpstr>
      <vt:lpstr>Hexadecimal</vt:lpstr>
      <vt:lpstr>Hexadecimal vs. Binary</vt:lpstr>
      <vt:lpstr>Hexadecimal vs. Decimal</vt:lpstr>
      <vt:lpstr>Hexadecimal vs. Binary</vt:lpstr>
      <vt:lpstr>Decimal, Hexadecimal, Binary</vt:lpstr>
      <vt:lpstr>Manipulating Information</vt:lpstr>
      <vt:lpstr>Outline</vt:lpstr>
      <vt:lpstr>Boolean Algebra</vt:lpstr>
      <vt:lpstr>Boolean Algebra</vt:lpstr>
      <vt:lpstr>General Boolean Algebras</vt:lpstr>
      <vt:lpstr>General Boolean Algebras</vt:lpstr>
      <vt:lpstr>Bit-Level Operations in C</vt:lpstr>
      <vt:lpstr>Bit-Level Operations in C</vt:lpstr>
      <vt:lpstr>Mask Operations</vt:lpstr>
      <vt:lpstr>Mask Operations</vt:lpstr>
      <vt:lpstr>Mask Operations</vt:lpstr>
      <vt:lpstr>Logical Operations in C</vt:lpstr>
      <vt:lpstr>Logical Operations in C</vt:lpstr>
      <vt:lpstr>Short Cut in Logical Operations </vt:lpstr>
      <vt:lpstr>Shift Operations in C</vt:lpstr>
      <vt:lpstr>Shift Operations in C</vt:lpstr>
      <vt:lpstr>Shift Operations in C</vt:lpstr>
      <vt:lpstr>Shift Operations in Computer Systems</vt:lpstr>
      <vt:lpstr>Information Storage</vt:lpstr>
      <vt:lpstr>Outline</vt:lpstr>
      <vt:lpstr>Computer Hardware - Von Neumann Architecture</vt:lpstr>
      <vt:lpstr>Storage</vt:lpstr>
      <vt:lpstr>READ/WRITE operations</vt:lpstr>
      <vt:lpstr>Memory</vt:lpstr>
      <vt:lpstr>Word Size</vt:lpstr>
      <vt:lpstr>Word Size</vt:lpstr>
      <vt:lpstr>Data Size</vt:lpstr>
      <vt:lpstr>intN_t and uintN_t</vt:lpstr>
      <vt:lpstr>Data Size Related Bugs</vt:lpstr>
      <vt:lpstr>Example</vt:lpstr>
      <vt:lpstr>Virtual Memory</vt:lpstr>
      <vt:lpstr>Virtual Memory</vt:lpstr>
      <vt:lpstr>Way to the Abstraction</vt:lpstr>
      <vt:lpstr>Subdivide Virtual Memory into More Manageable Units </vt:lpstr>
      <vt:lpstr>PowerPoint 演示文稿</vt:lpstr>
      <vt:lpstr>Byte Ordering</vt:lpstr>
      <vt:lpstr>Byte Ordering</vt:lpstr>
      <vt:lpstr>Big Endian vs Little Endian (0x1234567)</vt:lpstr>
      <vt:lpstr>Byte Ordering Becomes Visible </vt:lpstr>
      <vt:lpstr>How to Access an Object </vt:lpstr>
      <vt:lpstr>How to Access an Object </vt:lpstr>
      <vt:lpstr>Code to Print Byte Representation</vt:lpstr>
      <vt:lpstr>Code to Print Byte Representation</vt:lpstr>
      <vt:lpstr>Features in C</vt:lpstr>
      <vt:lpstr>Features in C</vt:lpstr>
      <vt:lpstr>Code to Print Byte Representation</vt:lpstr>
      <vt:lpstr>Example</vt:lpstr>
      <vt:lpstr>Example</vt:lpstr>
      <vt:lpstr>PowerPoint 演示文稿</vt:lpstr>
      <vt:lpstr>PowerPoint 演示文稿</vt:lpstr>
      <vt:lpstr>PowerPoint 演示文稿</vt:lpstr>
      <vt:lpstr>Representing Information (2)</vt:lpstr>
      <vt:lpstr>Outline</vt:lpstr>
      <vt:lpstr>Unsigned Representation</vt:lpstr>
      <vt:lpstr>Two’s Complement</vt:lpstr>
      <vt:lpstr>From Two’s Complement to Binary</vt:lpstr>
      <vt:lpstr>From Two’s Complement to Binary</vt:lpstr>
      <vt:lpstr>Two’s Complement</vt:lpstr>
      <vt:lpstr>From a Number to Two’s Complement</vt:lpstr>
      <vt:lpstr>Two’s Complement Encoding Examples</vt:lpstr>
      <vt:lpstr>Numeric Range</vt:lpstr>
      <vt:lpstr>Numeric Range</vt:lpstr>
      <vt:lpstr>PowerPoint 演示文稿</vt:lpstr>
      <vt:lpstr>Interesting Numbers</vt:lpstr>
      <vt:lpstr>Alternative representations of signed numbers</vt:lpstr>
      <vt:lpstr>Mappings between logical and physical</vt:lpstr>
      <vt:lpstr>Mappings between logical and physical</vt:lpstr>
      <vt:lpstr>Relation Between 2’s Comp. &amp; Unsigned</vt:lpstr>
      <vt:lpstr>Conversion between two Representations</vt:lpstr>
      <vt:lpstr>Casting among Integral Data Type </vt:lpstr>
      <vt:lpstr>Outline</vt:lpstr>
      <vt:lpstr>Integral data type in C</vt:lpstr>
      <vt:lpstr>Casting among Signed and Unsigned in C</vt:lpstr>
      <vt:lpstr>Signed vs. Unsigned in C</vt:lpstr>
      <vt:lpstr>Signed vs. Unsigned in C</vt:lpstr>
      <vt:lpstr>Casting from Signed to Unsigned</vt:lpstr>
      <vt:lpstr>PowerPoint 演示文稿</vt:lpstr>
      <vt:lpstr>Unsigned Constants in C</vt:lpstr>
      <vt:lpstr>Casting Convention</vt:lpstr>
      <vt:lpstr>Casting Convention</vt:lpstr>
      <vt:lpstr>From short to long</vt:lpstr>
      <vt:lpstr>Expanding the Bit Representation</vt:lpstr>
      <vt:lpstr>From short to long</vt:lpstr>
      <vt:lpstr>From short to long</vt:lpstr>
      <vt:lpstr>From long to short</vt:lpstr>
      <vt:lpstr>Truncating Numbers</vt:lpstr>
      <vt:lpstr>Truncating Numbers</vt:lpstr>
      <vt:lpstr>Advice on Signed vs. Unsigned</vt:lpstr>
      <vt:lpstr>Advice on Signed vs. Unsigned</vt:lpstr>
      <vt:lpstr>Advice on Signed vs. Unsigned</vt:lpstr>
      <vt:lpstr>Advice on Signed vs. Unsigned</vt:lpstr>
      <vt:lpstr>Advice on Signed vs. Unsigned</vt:lpstr>
      <vt:lpstr>Arithmetic Operations </vt:lpstr>
      <vt:lpstr>Outline</vt:lpstr>
      <vt:lpstr>Unsigned Addition</vt:lpstr>
      <vt:lpstr>Unsigned Addition</vt:lpstr>
      <vt:lpstr>Unsigned Addition</vt:lpstr>
      <vt:lpstr>Unsigned Addition</vt:lpstr>
      <vt:lpstr>Unsigned Addition Forms an Abelian Group</vt:lpstr>
      <vt:lpstr>Unsigned Addition Forms an Abelian Group</vt:lpstr>
      <vt:lpstr>Signed Addition</vt:lpstr>
      <vt:lpstr>Signed Addition</vt:lpstr>
      <vt:lpstr>Signed Addition</vt:lpstr>
      <vt:lpstr>Integer Overflow Vulnerabilities</vt:lpstr>
      <vt:lpstr>Integer Overflow Vulnerabilities</vt:lpstr>
      <vt:lpstr>Detecting Tadd Overflow</vt:lpstr>
      <vt:lpstr>Mathematical Properties of TAdd</vt:lpstr>
      <vt:lpstr>Detecting Tadd Overflow</vt:lpstr>
      <vt:lpstr>Multiplication</vt:lpstr>
      <vt:lpstr>Multiplication</vt:lpstr>
      <vt:lpstr>Multiplication</vt:lpstr>
      <vt:lpstr>Power-of-2 Multiply with Shift</vt:lpstr>
      <vt:lpstr>Power-of-2 Multiply with Shift</vt:lpstr>
      <vt:lpstr>Floating Point</vt:lpstr>
      <vt:lpstr>Topics</vt:lpstr>
      <vt:lpstr>Encoding Rational Numbers</vt:lpstr>
      <vt:lpstr>Fractional Binary Numbers</vt:lpstr>
      <vt:lpstr>Fractional Binary Numbers</vt:lpstr>
      <vt:lpstr>Fractional Numbers to Binary Bits</vt:lpstr>
      <vt:lpstr>Fraction Binary Number Examples</vt:lpstr>
      <vt:lpstr>Encoding Rational Numbers</vt:lpstr>
      <vt:lpstr>IEEE Floating-Point Representation</vt:lpstr>
      <vt:lpstr>IEEE Floating-Point Representation</vt:lpstr>
      <vt:lpstr>Normalize Values</vt:lpstr>
      <vt:lpstr>Normalize Values</vt:lpstr>
      <vt:lpstr>Normalized Encoding Examples</vt:lpstr>
      <vt:lpstr>Denormalized Values</vt:lpstr>
      <vt:lpstr>Denormalized Values</vt:lpstr>
      <vt:lpstr>Special Values</vt:lpstr>
      <vt:lpstr>Special Values</vt:lpstr>
      <vt:lpstr>Special Values</vt:lpstr>
      <vt:lpstr>Summary of Real Number Encodings</vt:lpstr>
      <vt:lpstr>8-bit Floating-Point Representations</vt:lpstr>
      <vt:lpstr>8-bit Floating-Point Representations</vt:lpstr>
      <vt:lpstr>Dynamic Range (Denormalized numbers)</vt:lpstr>
      <vt:lpstr>Dynamic Range</vt:lpstr>
      <vt:lpstr>Dynamic Range (Denormalized numbers)</vt:lpstr>
      <vt:lpstr>Distribution of Representable Values</vt:lpstr>
      <vt:lpstr>Distribution of Representable Values</vt:lpstr>
      <vt:lpstr>Interesting Numbers</vt:lpstr>
      <vt:lpstr>Rounding Mode</vt:lpstr>
      <vt:lpstr>Rounding Mode</vt:lpstr>
      <vt:lpstr>Round-to-Even</vt:lpstr>
      <vt:lpstr>Round-to-Even</vt:lpstr>
      <vt:lpstr>Rounding Binary Number</vt:lpstr>
      <vt:lpstr>Floating-Point Operations</vt:lpstr>
      <vt:lpstr>FP Multiplication</vt:lpstr>
      <vt:lpstr>FP Multiplication</vt:lpstr>
      <vt:lpstr>FP Addition</vt:lpstr>
      <vt:lpstr>FP Addition</vt:lpstr>
      <vt:lpstr>FP Addition</vt:lpstr>
      <vt:lpstr>Floating Point in C</vt:lpstr>
      <vt:lpstr>Floating Point Puzzles</vt:lpstr>
      <vt:lpstr>Floating Point Puzzles</vt:lpstr>
      <vt:lpstr>Answers to Floating Point Puzzles</vt:lpstr>
      <vt:lpstr>Answers to Floating Point Puzzles</vt:lpstr>
    </vt:vector>
  </TitlesOfParts>
  <Company>Digital Integrity, Inc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张迎露</cp:lastModifiedBy>
  <cp:revision>541</cp:revision>
  <dcterms:created xsi:type="dcterms:W3CDTF">2000-01-15T07:54:00Z</dcterms:created>
  <dcterms:modified xsi:type="dcterms:W3CDTF">2025-09-19T02:30:06Z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0EDF4A1C510644B6AADA7A71BB16ED85_13</vt:lpwstr>
  </property>
  <property fmtid="{D5CDD505-2E9C-101B-9397-08002B2CF9AE}" pid="3" name="KSOProductBuildVer">
    <vt:lpwstr>2052-12.1.0.22529</vt:lpwstr>
  </property>
</Properties>
</file>