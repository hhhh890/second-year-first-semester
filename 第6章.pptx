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14"/>
  </p:notesMasterIdLst>
  <p:sldIdLst>
    <p:sldId id="532" r:id="rId2"/>
    <p:sldId id="813" r:id="rId3"/>
    <p:sldId id="597" r:id="rId4"/>
    <p:sldId id="537" r:id="rId5"/>
    <p:sldId id="725" r:id="rId6"/>
    <p:sldId id="539" r:id="rId7"/>
    <p:sldId id="543" r:id="rId8"/>
    <p:sldId id="544" r:id="rId9"/>
    <p:sldId id="599" r:id="rId10"/>
    <p:sldId id="598" r:id="rId11"/>
    <p:sldId id="545" r:id="rId12"/>
    <p:sldId id="546" r:id="rId13"/>
    <p:sldId id="547" r:id="rId14"/>
    <p:sldId id="548" r:id="rId15"/>
    <p:sldId id="549" r:id="rId16"/>
    <p:sldId id="550" r:id="rId17"/>
    <p:sldId id="551" r:id="rId18"/>
    <p:sldId id="552" r:id="rId19"/>
    <p:sldId id="553" r:id="rId20"/>
    <p:sldId id="554" r:id="rId21"/>
    <p:sldId id="556" r:id="rId22"/>
    <p:sldId id="557" r:id="rId23"/>
    <p:sldId id="558" r:id="rId24"/>
    <p:sldId id="559" r:id="rId25"/>
    <p:sldId id="562" r:id="rId26"/>
    <p:sldId id="563" r:id="rId27"/>
    <p:sldId id="565" r:id="rId28"/>
    <p:sldId id="600" r:id="rId29"/>
    <p:sldId id="603" r:id="rId30"/>
    <p:sldId id="602" r:id="rId31"/>
    <p:sldId id="605" r:id="rId32"/>
    <p:sldId id="606" r:id="rId33"/>
    <p:sldId id="607" r:id="rId34"/>
    <p:sldId id="608" r:id="rId35"/>
    <p:sldId id="609" r:id="rId36"/>
    <p:sldId id="610" r:id="rId37"/>
    <p:sldId id="726" r:id="rId38"/>
    <p:sldId id="613" r:id="rId39"/>
    <p:sldId id="614" r:id="rId40"/>
    <p:sldId id="616" r:id="rId41"/>
    <p:sldId id="617" r:id="rId42"/>
    <p:sldId id="727" r:id="rId43"/>
    <p:sldId id="567" r:id="rId44"/>
    <p:sldId id="729" r:id="rId45"/>
    <p:sldId id="533" r:id="rId46"/>
    <p:sldId id="814" r:id="rId47"/>
    <p:sldId id="625" r:id="rId48"/>
    <p:sldId id="627" r:id="rId49"/>
    <p:sldId id="628" r:id="rId50"/>
    <p:sldId id="629" r:id="rId51"/>
    <p:sldId id="630" r:id="rId52"/>
    <p:sldId id="631" r:id="rId53"/>
    <p:sldId id="632" r:id="rId54"/>
    <p:sldId id="633" r:id="rId55"/>
    <p:sldId id="712" r:id="rId56"/>
    <p:sldId id="634" r:id="rId57"/>
    <p:sldId id="635" r:id="rId58"/>
    <p:sldId id="636" r:id="rId59"/>
    <p:sldId id="639" r:id="rId60"/>
    <p:sldId id="640" r:id="rId61"/>
    <p:sldId id="641" r:id="rId62"/>
    <p:sldId id="642" r:id="rId63"/>
    <p:sldId id="643" r:id="rId64"/>
    <p:sldId id="730" r:id="rId65"/>
    <p:sldId id="646" r:id="rId66"/>
    <p:sldId id="731" r:id="rId67"/>
    <p:sldId id="648" r:id="rId68"/>
    <p:sldId id="649" r:id="rId69"/>
    <p:sldId id="653" r:id="rId70"/>
    <p:sldId id="715" r:id="rId71"/>
    <p:sldId id="716" r:id="rId72"/>
    <p:sldId id="655" r:id="rId73"/>
    <p:sldId id="717" r:id="rId74"/>
    <p:sldId id="656" r:id="rId75"/>
    <p:sldId id="720" r:id="rId76"/>
    <p:sldId id="658" r:id="rId77"/>
    <p:sldId id="659" r:id="rId78"/>
    <p:sldId id="660" r:id="rId79"/>
    <p:sldId id="661" r:id="rId80"/>
    <p:sldId id="662" r:id="rId81"/>
    <p:sldId id="663" r:id="rId82"/>
    <p:sldId id="664" r:id="rId83"/>
    <p:sldId id="665" r:id="rId84"/>
    <p:sldId id="666" r:id="rId85"/>
    <p:sldId id="667" r:id="rId86"/>
    <p:sldId id="668" r:id="rId87"/>
    <p:sldId id="670" r:id="rId88"/>
    <p:sldId id="719" r:id="rId89"/>
    <p:sldId id="672" r:id="rId90"/>
    <p:sldId id="732" r:id="rId91"/>
    <p:sldId id="673" r:id="rId92"/>
    <p:sldId id="674" r:id="rId93"/>
    <p:sldId id="675" r:id="rId94"/>
    <p:sldId id="676" r:id="rId95"/>
    <p:sldId id="677" r:id="rId96"/>
    <p:sldId id="678" r:id="rId97"/>
    <p:sldId id="679" r:id="rId98"/>
    <p:sldId id="733" r:id="rId99"/>
    <p:sldId id="680" r:id="rId100"/>
    <p:sldId id="681" r:id="rId101"/>
    <p:sldId id="477" r:id="rId102"/>
    <p:sldId id="683" r:id="rId103"/>
    <p:sldId id="684" r:id="rId104"/>
    <p:sldId id="685" r:id="rId105"/>
    <p:sldId id="686" r:id="rId106"/>
    <p:sldId id="687" r:id="rId107"/>
    <p:sldId id="466" r:id="rId108"/>
    <p:sldId id="467" r:id="rId109"/>
    <p:sldId id="468" r:id="rId110"/>
    <p:sldId id="723" r:id="rId111"/>
    <p:sldId id="724" r:id="rId112"/>
    <p:sldId id="496" r:id="rId113"/>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CC3300"/>
    <a:srgbClr val="0000CC"/>
    <a:srgbClr val="990099"/>
    <a:srgbClr val="66FF33"/>
    <a:srgbClr val="0000FF"/>
    <a:srgbClr val="FF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20" autoAdjust="0"/>
    <p:restoredTop sz="93711" autoAdjust="0"/>
  </p:normalViewPr>
  <p:slideViewPr>
    <p:cSldViewPr>
      <p:cViewPr varScale="1">
        <p:scale>
          <a:sx n="77" d="100"/>
          <a:sy n="77" d="100"/>
        </p:scale>
        <p:origin x="161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97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B27E954F-17BF-726D-BBE1-A976A3DC795D}"/>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5" name="Rectangle 3">
            <a:extLst>
              <a:ext uri="{FF2B5EF4-FFF2-40B4-BE49-F238E27FC236}">
                <a16:creationId xmlns:a16="http://schemas.microsoft.com/office/drawing/2014/main" id="{02244A22-1A3D-1140-D638-8860C28CAD29}"/>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endParaRPr lang="en-US" altLang="zh-CN"/>
          </a:p>
        </p:txBody>
      </p:sp>
      <p:sp>
        <p:nvSpPr>
          <p:cNvPr id="4100" name="Rectangle 4">
            <a:extLst>
              <a:ext uri="{FF2B5EF4-FFF2-40B4-BE49-F238E27FC236}">
                <a16:creationId xmlns:a16="http://schemas.microsoft.com/office/drawing/2014/main" id="{1CE46EC5-D60E-E0DC-E598-C8559E47AED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9797" name="Rectangle 5">
            <a:extLst>
              <a:ext uri="{FF2B5EF4-FFF2-40B4-BE49-F238E27FC236}">
                <a16:creationId xmlns:a16="http://schemas.microsoft.com/office/drawing/2014/main" id="{DBAF058D-E853-EB21-04AA-B738A31164AC}"/>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89798" name="Rectangle 6">
            <a:extLst>
              <a:ext uri="{FF2B5EF4-FFF2-40B4-BE49-F238E27FC236}">
                <a16:creationId xmlns:a16="http://schemas.microsoft.com/office/drawing/2014/main" id="{A5118F0E-ACE3-2986-5D3B-8A1A46A06769}"/>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9" name="Rectangle 7">
            <a:extLst>
              <a:ext uri="{FF2B5EF4-FFF2-40B4-BE49-F238E27FC236}">
                <a16:creationId xmlns:a16="http://schemas.microsoft.com/office/drawing/2014/main" id="{EC422701-EE4E-3B87-ACCC-2A6FDFB74507}"/>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fld id="{DEE4480B-5298-4E37-AA95-ED70E1BB8CD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void </a:t>
            </a:r>
            <a:r>
              <a:rPr lang="en-US" altLang="zh-CN" dirty="0" err="1"/>
              <a:t>bitSet</a:t>
            </a:r>
            <a:r>
              <a:rPr lang="en-US" altLang="zh-CN" dirty="0"/>
              <a:t> :: putMemberV2 ( const int x, int v ) {</a:t>
            </a:r>
          </a:p>
          <a:p>
            <a:r>
              <a:rPr lang="en-US" altLang="zh-CN" dirty="0"/>
              <a:t>    int ad = x/32, id = x%32;</a:t>
            </a:r>
          </a:p>
          <a:p>
            <a:r>
              <a:rPr lang="en-US" altLang="zh-CN" dirty="0"/>
              <a:t>    int </a:t>
            </a:r>
            <a:r>
              <a:rPr lang="en-US" altLang="zh-CN" dirty="0" err="1"/>
              <a:t>elem</a:t>
            </a:r>
            <a:r>
              <a:rPr lang="en-US" altLang="zh-CN" dirty="0"/>
              <a:t> = </a:t>
            </a:r>
            <a:r>
              <a:rPr lang="en-US" altLang="zh-CN" dirty="0" err="1"/>
              <a:t>bitVector</a:t>
            </a:r>
            <a:r>
              <a:rPr lang="en-US" altLang="zh-CN" dirty="0"/>
              <a:t>[ad];</a:t>
            </a:r>
          </a:p>
          <a:p>
            <a:r>
              <a:rPr lang="en-US" altLang="zh-CN" dirty="0"/>
              <a:t>              //</a:t>
            </a:r>
            <a:r>
              <a:rPr lang="zh-CN" altLang="en-US" dirty="0"/>
              <a:t>取</a:t>
            </a:r>
            <a:r>
              <a:rPr lang="en-US" altLang="zh-CN" dirty="0"/>
              <a:t>x</a:t>
            </a:r>
            <a:r>
              <a:rPr lang="zh-CN" altLang="en-US" dirty="0"/>
              <a:t>所在的数组元素</a:t>
            </a:r>
          </a:p>
          <a:p>
            <a:r>
              <a:rPr lang="zh-CN" altLang="en-US" dirty="0"/>
              <a:t>    </a:t>
            </a:r>
            <a:r>
              <a:rPr lang="en-US" altLang="zh-CN" dirty="0"/>
              <a:t>int temp = </a:t>
            </a:r>
            <a:r>
              <a:rPr lang="en-US" altLang="zh-CN" dirty="0" err="1"/>
              <a:t>elem</a:t>
            </a:r>
            <a:r>
              <a:rPr lang="en-US" altLang="zh-CN" dirty="0"/>
              <a:t> &gt;&gt; (31 - id);</a:t>
            </a:r>
          </a:p>
          <a:p>
            <a:r>
              <a:rPr lang="en-US" altLang="zh-CN" dirty="0"/>
              <a:t>               //</a:t>
            </a:r>
            <a:r>
              <a:rPr lang="zh-CN" altLang="en-US" dirty="0"/>
              <a:t>右移，将该位移至末尾</a:t>
            </a:r>
          </a:p>
          <a:p>
            <a:r>
              <a:rPr lang="en-US" altLang="zh-CN" dirty="0"/>
              <a:t>    if(temp%2 == 0&amp;&amp;v==1)</a:t>
            </a:r>
          </a:p>
          <a:p>
            <a:r>
              <a:rPr lang="en-US" altLang="zh-CN" dirty="0"/>
              <a:t>         </a:t>
            </a:r>
            <a:r>
              <a:rPr lang="en-US" altLang="zh-CN" dirty="0" err="1"/>
              <a:t>bitVector</a:t>
            </a:r>
            <a:r>
              <a:rPr lang="en-US" altLang="zh-CN" dirty="0"/>
              <a:t>[ad] = </a:t>
            </a:r>
            <a:r>
              <a:rPr lang="en-US" altLang="zh-CN" dirty="0" err="1"/>
              <a:t>bitVector</a:t>
            </a:r>
            <a:r>
              <a:rPr lang="en-US" altLang="zh-CN" dirty="0"/>
              <a:t>[ad] + (1&lt;&lt;31-id);</a:t>
            </a:r>
          </a:p>
          <a:p>
            <a:r>
              <a:rPr lang="en-US" altLang="zh-CN" dirty="0"/>
              <a:t>    else if(temp%2 == 1&amp;&amp;v==0)</a:t>
            </a:r>
          </a:p>
          <a:p>
            <a:r>
              <a:rPr lang="en-US" altLang="zh-CN" dirty="0"/>
              <a:t>         </a:t>
            </a:r>
            <a:r>
              <a:rPr lang="en-US" altLang="zh-CN" dirty="0" err="1"/>
              <a:t>bitVector</a:t>
            </a:r>
            <a:r>
              <a:rPr lang="en-US" altLang="zh-CN" dirty="0"/>
              <a:t>[ad] = </a:t>
            </a:r>
            <a:r>
              <a:rPr lang="en-US" altLang="zh-CN" dirty="0" err="1"/>
              <a:t>bitVector</a:t>
            </a:r>
            <a:r>
              <a:rPr lang="en-US" altLang="zh-CN" dirty="0"/>
              <a:t>[ad] - (1&lt;&lt;31-id);</a:t>
            </a:r>
          </a:p>
          <a:p>
            <a:r>
              <a:rPr lang="en-US" altLang="zh-CN" dirty="0"/>
              <a:t>}</a:t>
            </a:r>
          </a:p>
          <a:p>
            <a:endParaRPr lang="zh-CN" altLang="en-US" dirty="0"/>
          </a:p>
        </p:txBody>
      </p:sp>
      <p:sp>
        <p:nvSpPr>
          <p:cNvPr id="4" name="灯片编号占位符 3"/>
          <p:cNvSpPr>
            <a:spLocks noGrp="1"/>
          </p:cNvSpPr>
          <p:nvPr>
            <p:ph type="sldNum" sz="quarter" idx="5"/>
          </p:nvPr>
        </p:nvSpPr>
        <p:spPr/>
        <p:txBody>
          <a:bodyPr/>
          <a:lstStyle/>
          <a:p>
            <a:pPr>
              <a:defRPr/>
            </a:pPr>
            <a:fld id="{DEE4480B-5298-4E37-AA95-ED70E1BB8CD9}" type="slidenum">
              <a:rPr lang="en-US" altLang="zh-CN" smtClean="0"/>
              <a:pPr>
                <a:defRPr/>
              </a:pPr>
              <a:t>10</a:t>
            </a:fld>
            <a:endParaRPr lang="en-US" altLang="zh-CN"/>
          </a:p>
        </p:txBody>
      </p:sp>
    </p:spTree>
    <p:extLst>
      <p:ext uri="{BB962C8B-B14F-4D97-AF65-F5344CB8AC3E}">
        <p14:creationId xmlns:p14="http://schemas.microsoft.com/office/powerpoint/2010/main" val="1549302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类似例子：</a:t>
            </a:r>
            <a:endParaRPr lang="en-US" altLang="zh-CN" dirty="0"/>
          </a:p>
          <a:p>
            <a:r>
              <a:rPr lang="zh-CN" altLang="en-US" dirty="0"/>
              <a:t>散列表大小 </a:t>
            </a:r>
            <a:r>
              <a:rPr lang="en-US" altLang="zh-CN" dirty="0"/>
              <a:t>m = 25, </a:t>
            </a:r>
            <a:r>
              <a:rPr lang="zh-CN" altLang="en-US" dirty="0"/>
              <a:t>即 </a:t>
            </a:r>
            <a:r>
              <a:rPr lang="en-US" altLang="zh-CN" dirty="0"/>
              <a:t>HT[25]</a:t>
            </a:r>
            <a:r>
              <a:rPr lang="zh-CN" altLang="en-US" dirty="0"/>
              <a:t>。取质数 </a:t>
            </a:r>
            <a:r>
              <a:rPr lang="en-US" altLang="zh-CN" dirty="0"/>
              <a:t>p= 23</a:t>
            </a:r>
            <a:r>
              <a:rPr lang="zh-CN" altLang="en-US" dirty="0"/>
              <a:t>。散列函数 </a:t>
            </a:r>
            <a:r>
              <a:rPr lang="en-US" altLang="zh-CN" dirty="0"/>
              <a:t>hash ( key ) = key % p</a:t>
            </a:r>
            <a:r>
              <a:rPr lang="zh-CN" altLang="en-US" dirty="0"/>
              <a:t>。则关键码 </a:t>
            </a:r>
            <a:r>
              <a:rPr lang="en-US" altLang="zh-CN" dirty="0"/>
              <a:t>key = 962148</a:t>
            </a:r>
            <a:r>
              <a:rPr lang="zh-CN" altLang="en-US" dirty="0"/>
              <a:t>的散列地址为</a:t>
            </a:r>
          </a:p>
          <a:p>
            <a:pPr lvl="1"/>
            <a:r>
              <a:rPr lang="en-US" altLang="zh-CN" dirty="0"/>
              <a:t>hash ( 962148 ) = 962148 % 23 = 12</a:t>
            </a:r>
            <a:r>
              <a:rPr lang="zh-CN" altLang="en-US" dirty="0"/>
              <a:t>。</a:t>
            </a:r>
          </a:p>
          <a:p>
            <a:r>
              <a:rPr lang="zh-CN" altLang="en-US" dirty="0"/>
              <a:t>注意到这个散列函数计算出来的地址范围是 </a:t>
            </a:r>
            <a:r>
              <a:rPr lang="en-US" altLang="zh-CN" dirty="0"/>
              <a:t>0</a:t>
            </a:r>
            <a:r>
              <a:rPr lang="zh-CN" altLang="en-US" dirty="0"/>
              <a:t>到 </a:t>
            </a:r>
            <a:r>
              <a:rPr lang="en-US" altLang="zh-CN" dirty="0"/>
              <a:t>22</a:t>
            </a:r>
          </a:p>
          <a:p>
            <a:pPr lvl="1"/>
            <a:r>
              <a:rPr lang="zh-CN" altLang="en-US" dirty="0"/>
              <a:t>散列地址</a:t>
            </a:r>
            <a:r>
              <a:rPr lang="en-US" altLang="zh-CN" dirty="0"/>
              <a:t>23</a:t>
            </a:r>
            <a:r>
              <a:rPr lang="zh-CN" altLang="en-US" dirty="0"/>
              <a:t>、</a:t>
            </a:r>
            <a:r>
              <a:rPr lang="en-US" altLang="zh-CN" dirty="0"/>
              <a:t>24</a:t>
            </a:r>
            <a:r>
              <a:rPr lang="zh-CN" altLang="en-US" dirty="0"/>
              <a:t>实际上不能用散列函数计算出来的</a:t>
            </a:r>
            <a:r>
              <a:rPr lang="en-US" altLang="zh-CN" dirty="0"/>
              <a:t>, </a:t>
            </a:r>
            <a:r>
              <a:rPr lang="zh-CN" altLang="en-US" dirty="0"/>
              <a:t>只能在处理冲突时达到。</a:t>
            </a:r>
          </a:p>
          <a:p>
            <a:endParaRPr lang="zh-CN" altLang="en-US" dirty="0"/>
          </a:p>
        </p:txBody>
      </p:sp>
      <p:sp>
        <p:nvSpPr>
          <p:cNvPr id="4" name="灯片编号占位符 3"/>
          <p:cNvSpPr>
            <a:spLocks noGrp="1"/>
          </p:cNvSpPr>
          <p:nvPr>
            <p:ph type="sldNum" sz="quarter" idx="5"/>
          </p:nvPr>
        </p:nvSpPr>
        <p:spPr/>
        <p:txBody>
          <a:bodyPr/>
          <a:lstStyle/>
          <a:p>
            <a:pPr>
              <a:defRPr/>
            </a:pPr>
            <a:fld id="{DEE4480B-5298-4E37-AA95-ED70E1BB8CD9}" type="slidenum">
              <a:rPr lang="en-US" altLang="zh-CN" smtClean="0"/>
              <a:pPr>
                <a:defRPr/>
              </a:pPr>
              <a:t>55</a:t>
            </a:fld>
            <a:endParaRPr lang="en-US" altLang="zh-CN"/>
          </a:p>
        </p:txBody>
      </p:sp>
    </p:spTree>
    <p:extLst>
      <p:ext uri="{BB962C8B-B14F-4D97-AF65-F5344CB8AC3E}">
        <p14:creationId xmlns:p14="http://schemas.microsoft.com/office/powerpoint/2010/main" val="1295283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EE4480B-5298-4E37-AA95-ED70E1BB8CD9}" type="slidenum">
              <a:rPr lang="en-US" altLang="zh-CN" smtClean="0"/>
              <a:pPr>
                <a:defRPr/>
              </a:pPr>
              <a:t>78</a:t>
            </a:fld>
            <a:endParaRPr lang="en-US" altLang="zh-CN"/>
          </a:p>
        </p:txBody>
      </p:sp>
    </p:spTree>
    <p:extLst>
      <p:ext uri="{BB962C8B-B14F-4D97-AF65-F5344CB8AC3E}">
        <p14:creationId xmlns:p14="http://schemas.microsoft.com/office/powerpoint/2010/main" val="826455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311F20F-C7B6-45CF-932F-17A67FE04690}" type="slidenum">
              <a:rPr lang="zh-CN" altLang="en-US" smtClean="0"/>
              <a:pPr/>
              <a:t>101</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F311F20F-C7B6-45CF-932F-17A67FE04690}" type="slidenum">
              <a:rPr lang="zh-CN" altLang="en-US" smtClean="0"/>
              <a:pPr/>
              <a:t>107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311F20F-C7B6-45CF-932F-17A67FE04690}" type="slidenum">
              <a:rPr lang="zh-CN" altLang="en-US" smtClean="0"/>
              <a:pPr/>
              <a:t>108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311F20F-C7B6-45CF-932F-17A67FE04690}" type="slidenum">
              <a:rPr lang="zh-CN" altLang="en-US" smtClean="0"/>
              <a:pPr/>
              <a:t>109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311F20F-C7B6-45CF-932F-17A67FE04690}" type="slidenum">
              <a:rPr lang="zh-CN" altLang="en-US" smtClean="0"/>
              <a:pPr/>
              <a:t>112</a:t>
            </a:fld>
            <a:endParaRPr lang="zh-CN" altLang="en-US"/>
          </a:p>
        </p:txBody>
      </p:sp>
    </p:spTree>
    <p:extLst>
      <p:ext uri="{BB962C8B-B14F-4D97-AF65-F5344CB8AC3E}">
        <p14:creationId xmlns:p14="http://schemas.microsoft.com/office/powerpoint/2010/main" val="4034389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7DDCA7D-82B1-1EA8-6861-4D8424F1530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752DAB00-A0A8-E113-F554-CAE3D7786042}"/>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6B1C3A47-BCAC-0A97-B256-0B620D3B86F9}"/>
              </a:ext>
            </a:extLst>
          </p:cNvPr>
          <p:cNvSpPr>
            <a:spLocks noGrp="1"/>
          </p:cNvSpPr>
          <p:nvPr>
            <p:ph type="sldNum" sz="quarter" idx="12"/>
          </p:nvPr>
        </p:nvSpPr>
        <p:spPr/>
        <p:txBody>
          <a:bodyPr/>
          <a:lstStyle>
            <a:lvl1pPr>
              <a:defRPr/>
            </a:lvl1pPr>
          </a:lstStyle>
          <a:p>
            <a:pPr>
              <a:defRPr/>
            </a:pPr>
            <a:fld id="{041F6E5C-DF32-4BE6-9581-5AEB9E3844DD}" type="slidenum">
              <a:rPr lang="en-US" altLang="zh-CN"/>
              <a:pPr>
                <a:defRPr/>
              </a:pPr>
              <a:t>‹#›</a:t>
            </a:fld>
            <a:endParaRPr lang="en-US" altLang="zh-CN"/>
          </a:p>
        </p:txBody>
      </p:sp>
    </p:spTree>
    <p:extLst>
      <p:ext uri="{BB962C8B-B14F-4D97-AF65-F5344CB8AC3E}">
        <p14:creationId xmlns:p14="http://schemas.microsoft.com/office/powerpoint/2010/main" val="3247639499"/>
      </p:ext>
    </p:extLst>
  </p:cSld>
  <p:clrMapOvr>
    <a:masterClrMapping/>
  </p:clrMapOvr>
  <p:transition>
    <p:spli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400"/>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3600"/>
            </a:lvl1pPr>
            <a:lvl2pPr>
              <a:defRPr sz="3200"/>
            </a:lvl2pPr>
            <a:lvl3pPr>
              <a:defRPr sz="2800"/>
            </a:lvl3pPr>
            <a:lvl4pPr>
              <a:defRPr sz="1600"/>
            </a:lvl4pPr>
            <a:lvl5pPr>
              <a:defRPr sz="16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8206A5A8-DB5F-B9FC-AF2F-276BED866DCB}"/>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7BE4EB1A-9793-48BA-9361-D91C547D12E2}"/>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3C5ED49B-4B6E-C9A9-3D5C-95DB6A1A4C14}"/>
              </a:ext>
            </a:extLst>
          </p:cNvPr>
          <p:cNvSpPr>
            <a:spLocks noGrp="1"/>
          </p:cNvSpPr>
          <p:nvPr>
            <p:ph type="sldNum" sz="quarter" idx="12"/>
          </p:nvPr>
        </p:nvSpPr>
        <p:spPr/>
        <p:txBody>
          <a:bodyPr/>
          <a:lstStyle>
            <a:lvl1pPr>
              <a:defRPr/>
            </a:lvl1pPr>
          </a:lstStyle>
          <a:p>
            <a:pPr>
              <a:defRPr/>
            </a:pPr>
            <a:fld id="{524B865F-46F8-4520-B0DD-31ED36EF62D9}" type="slidenum">
              <a:rPr lang="en-US" altLang="zh-CN"/>
              <a:pPr>
                <a:defRPr/>
              </a:pPr>
              <a:t>‹#›</a:t>
            </a:fld>
            <a:endParaRPr lang="en-US" altLang="zh-CN"/>
          </a:p>
        </p:txBody>
      </p:sp>
    </p:spTree>
    <p:extLst>
      <p:ext uri="{BB962C8B-B14F-4D97-AF65-F5344CB8AC3E}">
        <p14:creationId xmlns:p14="http://schemas.microsoft.com/office/powerpoint/2010/main" val="2182523817"/>
      </p:ext>
    </p:extLst>
  </p:cSld>
  <p:clrMapOvr>
    <a:masterClrMapping/>
  </p:clrMapOvr>
  <p:transition>
    <p:spli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E2E9375-E207-FF85-A6AD-EC9FEC85BFB1}"/>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1D3FBEB3-9882-3736-0FEE-EE713AACF644}"/>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575C7748-A115-4380-DF07-1ABFE40851C5}"/>
              </a:ext>
            </a:extLst>
          </p:cNvPr>
          <p:cNvSpPr>
            <a:spLocks noGrp="1"/>
          </p:cNvSpPr>
          <p:nvPr>
            <p:ph type="sldNum" sz="quarter" idx="12"/>
          </p:nvPr>
        </p:nvSpPr>
        <p:spPr/>
        <p:txBody>
          <a:bodyPr/>
          <a:lstStyle>
            <a:lvl1pPr>
              <a:defRPr/>
            </a:lvl1pPr>
          </a:lstStyle>
          <a:p>
            <a:pPr>
              <a:defRPr/>
            </a:pPr>
            <a:fld id="{A8544932-FB04-4B59-B4E8-3CDE8413D0D1}" type="slidenum">
              <a:rPr lang="en-US" altLang="zh-CN"/>
              <a:pPr>
                <a:defRPr/>
              </a:pPr>
              <a:t>‹#›</a:t>
            </a:fld>
            <a:endParaRPr lang="en-US" altLang="zh-CN"/>
          </a:p>
        </p:txBody>
      </p:sp>
    </p:spTree>
    <p:extLst>
      <p:ext uri="{BB962C8B-B14F-4D97-AF65-F5344CB8AC3E}">
        <p14:creationId xmlns:p14="http://schemas.microsoft.com/office/powerpoint/2010/main" val="2539353975"/>
      </p:ext>
    </p:extLst>
  </p:cSld>
  <p:clrMapOvr>
    <a:masterClrMapping/>
  </p:clrMapOvr>
  <p:transition>
    <p:spli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3">
            <a:extLst>
              <a:ext uri="{FF2B5EF4-FFF2-40B4-BE49-F238E27FC236}">
                <a16:creationId xmlns:a16="http://schemas.microsoft.com/office/drawing/2014/main" id="{54E7A404-973D-796F-E5D9-F0935FBFFF54}"/>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2A2F2F6E-3EEA-B506-3731-CAD3D0024E82}"/>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075D5B96-8483-E99E-4AEE-1E9F9830D940}"/>
              </a:ext>
            </a:extLst>
          </p:cNvPr>
          <p:cNvSpPr>
            <a:spLocks noGrp="1"/>
          </p:cNvSpPr>
          <p:nvPr>
            <p:ph type="sldNum" sz="quarter" idx="12"/>
          </p:nvPr>
        </p:nvSpPr>
        <p:spPr/>
        <p:txBody>
          <a:bodyPr/>
          <a:lstStyle>
            <a:lvl1pPr>
              <a:defRPr/>
            </a:lvl1pPr>
          </a:lstStyle>
          <a:p>
            <a:pPr>
              <a:defRPr/>
            </a:pPr>
            <a:fld id="{5584AA31-25D5-47AC-9EDA-76526E3BFA3C}" type="slidenum">
              <a:rPr lang="en-US" altLang="zh-CN"/>
              <a:pPr>
                <a:defRPr/>
              </a:pPr>
              <a:t>‹#›</a:t>
            </a:fld>
            <a:endParaRPr lang="en-US" altLang="zh-CN"/>
          </a:p>
        </p:txBody>
      </p:sp>
    </p:spTree>
    <p:extLst>
      <p:ext uri="{BB962C8B-B14F-4D97-AF65-F5344CB8AC3E}">
        <p14:creationId xmlns:p14="http://schemas.microsoft.com/office/powerpoint/2010/main" val="2965021610"/>
      </p:ext>
    </p:extLst>
  </p:cSld>
  <p:clrMapOvr>
    <a:masterClrMapping/>
  </p:clrMapOvr>
  <p:transition>
    <p:spli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DEC4DA60-8F75-AC67-2F8E-79FB38D1E0C1}"/>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0F94488F-FF49-4EF9-DBFC-8D8A75247B25}"/>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B6602A22-92F4-16AD-A4F8-4774476745E8}"/>
              </a:ext>
            </a:extLst>
          </p:cNvPr>
          <p:cNvSpPr>
            <a:spLocks noGrp="1"/>
          </p:cNvSpPr>
          <p:nvPr>
            <p:ph type="sldNum" sz="quarter" idx="12"/>
          </p:nvPr>
        </p:nvSpPr>
        <p:spPr/>
        <p:txBody>
          <a:bodyPr/>
          <a:lstStyle>
            <a:lvl1pPr>
              <a:defRPr/>
            </a:lvl1pPr>
          </a:lstStyle>
          <a:p>
            <a:pPr>
              <a:defRPr/>
            </a:pPr>
            <a:fld id="{83186626-FAB7-4B91-BC9F-E86CAE3BE186}" type="slidenum">
              <a:rPr lang="en-US" altLang="zh-CN"/>
              <a:pPr>
                <a:defRPr/>
              </a:pPr>
              <a:t>‹#›</a:t>
            </a:fld>
            <a:endParaRPr lang="en-US" altLang="zh-CN"/>
          </a:p>
        </p:txBody>
      </p:sp>
    </p:spTree>
    <p:extLst>
      <p:ext uri="{BB962C8B-B14F-4D97-AF65-F5344CB8AC3E}">
        <p14:creationId xmlns:p14="http://schemas.microsoft.com/office/powerpoint/2010/main" val="3236298122"/>
      </p:ext>
    </p:extLst>
  </p:cSld>
  <p:clrMapOvr>
    <a:masterClrMapping/>
  </p:clrMapOvr>
  <p:transition>
    <p:spli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vl1pPr>
          </a:lstStyle>
          <a:p>
            <a:r>
              <a:rPr lang="zh-CN" altLang="en-US" dirty="0"/>
              <a:t>单击此处编辑母版标题样式</a:t>
            </a:r>
          </a:p>
        </p:txBody>
      </p:sp>
      <p:sp>
        <p:nvSpPr>
          <p:cNvPr id="3" name="日期占位符 3">
            <a:extLst>
              <a:ext uri="{FF2B5EF4-FFF2-40B4-BE49-F238E27FC236}">
                <a16:creationId xmlns:a16="http://schemas.microsoft.com/office/drawing/2014/main" id="{FBC43408-AE5F-651A-AB99-73D734F0BF1B}"/>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2AF7B229-2B7F-8D2B-1F74-08F02399A159}"/>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D6CA048E-F057-E04C-8043-0A2F732D7078}"/>
              </a:ext>
            </a:extLst>
          </p:cNvPr>
          <p:cNvSpPr>
            <a:spLocks noGrp="1"/>
          </p:cNvSpPr>
          <p:nvPr>
            <p:ph type="sldNum" sz="quarter" idx="12"/>
          </p:nvPr>
        </p:nvSpPr>
        <p:spPr/>
        <p:txBody>
          <a:bodyPr/>
          <a:lstStyle>
            <a:lvl1pPr>
              <a:defRPr/>
            </a:lvl1pPr>
          </a:lstStyle>
          <a:p>
            <a:pPr>
              <a:defRPr/>
            </a:pPr>
            <a:fld id="{693D3F4B-EB0A-495F-BD50-3B78EB1330C7}" type="slidenum">
              <a:rPr lang="en-US" altLang="zh-CN"/>
              <a:pPr>
                <a:defRPr/>
              </a:pPr>
              <a:t>‹#›</a:t>
            </a:fld>
            <a:endParaRPr lang="en-US" altLang="zh-CN"/>
          </a:p>
        </p:txBody>
      </p:sp>
    </p:spTree>
    <p:extLst>
      <p:ext uri="{BB962C8B-B14F-4D97-AF65-F5344CB8AC3E}">
        <p14:creationId xmlns:p14="http://schemas.microsoft.com/office/powerpoint/2010/main" val="3170204782"/>
      </p:ext>
    </p:extLst>
  </p:cSld>
  <p:clrMapOvr>
    <a:masterClrMapping/>
  </p:clrMapOvr>
  <p:transition>
    <p:spli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1D1BDC2-B5E4-93CC-616F-918A8537C6EC}"/>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5D32909B-C3CC-1372-CD55-CA74C8191B22}"/>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68A0319B-04E5-B432-2D47-ED577750568A}"/>
              </a:ext>
            </a:extLst>
          </p:cNvPr>
          <p:cNvSpPr>
            <a:spLocks noGrp="1"/>
          </p:cNvSpPr>
          <p:nvPr>
            <p:ph type="sldNum" sz="quarter" idx="12"/>
          </p:nvPr>
        </p:nvSpPr>
        <p:spPr/>
        <p:txBody>
          <a:bodyPr/>
          <a:lstStyle>
            <a:lvl1pPr>
              <a:defRPr/>
            </a:lvl1pPr>
          </a:lstStyle>
          <a:p>
            <a:pPr>
              <a:defRPr/>
            </a:pPr>
            <a:fld id="{990830E6-3543-4C08-A370-0DC3F104057B}" type="slidenum">
              <a:rPr lang="en-US" altLang="zh-CN"/>
              <a:pPr>
                <a:defRPr/>
              </a:pPr>
              <a:t>‹#›</a:t>
            </a:fld>
            <a:endParaRPr lang="en-US" altLang="zh-CN"/>
          </a:p>
        </p:txBody>
      </p:sp>
    </p:spTree>
    <p:extLst>
      <p:ext uri="{BB962C8B-B14F-4D97-AF65-F5344CB8AC3E}">
        <p14:creationId xmlns:p14="http://schemas.microsoft.com/office/powerpoint/2010/main" val="2656368"/>
      </p:ext>
    </p:extLst>
  </p:cSld>
  <p:clrMapOvr>
    <a:masterClrMapping/>
  </p:clrMapOvr>
  <p:transition>
    <p:spli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3E5BF4DA-92FC-B265-8FB3-941EFAF0097F}"/>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D1739B17-CD47-FDBF-0075-B06875746969}"/>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BAC4B8E2-BEF5-578F-CC14-705212EACFBB}"/>
              </a:ext>
            </a:extLst>
          </p:cNvPr>
          <p:cNvSpPr>
            <a:spLocks noGrp="1"/>
          </p:cNvSpPr>
          <p:nvPr>
            <p:ph type="sldNum" sz="quarter" idx="12"/>
          </p:nvPr>
        </p:nvSpPr>
        <p:spPr/>
        <p:txBody>
          <a:bodyPr/>
          <a:lstStyle>
            <a:lvl1pPr>
              <a:defRPr/>
            </a:lvl1pPr>
          </a:lstStyle>
          <a:p>
            <a:pPr>
              <a:defRPr/>
            </a:pPr>
            <a:fld id="{4ACF9AAC-C75F-4897-B709-A6C6B8FEC839}" type="slidenum">
              <a:rPr lang="en-US" altLang="zh-CN"/>
              <a:pPr>
                <a:defRPr/>
              </a:pPr>
              <a:t>‹#›</a:t>
            </a:fld>
            <a:endParaRPr lang="en-US" altLang="zh-CN"/>
          </a:p>
        </p:txBody>
      </p:sp>
    </p:spTree>
    <p:extLst>
      <p:ext uri="{BB962C8B-B14F-4D97-AF65-F5344CB8AC3E}">
        <p14:creationId xmlns:p14="http://schemas.microsoft.com/office/powerpoint/2010/main" val="1347459607"/>
      </p:ext>
    </p:extLst>
  </p:cSld>
  <p:clrMapOvr>
    <a:masterClrMapping/>
  </p:clrMapOvr>
  <p:transition>
    <p:spli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B8C1B46F-9714-C487-1159-14D0274877BD}"/>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78045499-B709-A656-E880-1C1F67D06BA3}"/>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BBFA2CAB-67BE-5648-0D92-7F4F04A816D5}"/>
              </a:ext>
            </a:extLst>
          </p:cNvPr>
          <p:cNvSpPr>
            <a:spLocks noGrp="1"/>
          </p:cNvSpPr>
          <p:nvPr>
            <p:ph type="sldNum" sz="quarter" idx="12"/>
          </p:nvPr>
        </p:nvSpPr>
        <p:spPr/>
        <p:txBody>
          <a:bodyPr/>
          <a:lstStyle>
            <a:lvl1pPr>
              <a:defRPr/>
            </a:lvl1pPr>
          </a:lstStyle>
          <a:p>
            <a:pPr>
              <a:defRPr/>
            </a:pPr>
            <a:fld id="{096809EF-7AC4-4469-9645-DDE6A62FBBBF}" type="slidenum">
              <a:rPr lang="en-US" altLang="zh-CN"/>
              <a:pPr>
                <a:defRPr/>
              </a:pPr>
              <a:t>‹#›</a:t>
            </a:fld>
            <a:endParaRPr lang="en-US" altLang="zh-CN"/>
          </a:p>
        </p:txBody>
      </p:sp>
    </p:spTree>
    <p:extLst>
      <p:ext uri="{BB962C8B-B14F-4D97-AF65-F5344CB8AC3E}">
        <p14:creationId xmlns:p14="http://schemas.microsoft.com/office/powerpoint/2010/main" val="3739504816"/>
      </p:ext>
    </p:extLst>
  </p:cSld>
  <p:clrMapOvr>
    <a:masterClrMapping/>
  </p:clrMapOvr>
  <p:transition>
    <p:spli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EB8ACC3-49A6-DB90-0517-CF25516F964A}"/>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0F6B9EF6-AF81-3324-D787-6FAD79F1A9B6}"/>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D617ED0-72A1-8EF7-5CC8-734318C5A10F}"/>
              </a:ext>
            </a:extLst>
          </p:cNvPr>
          <p:cNvSpPr>
            <a:spLocks noGrp="1"/>
          </p:cNvSpPr>
          <p:nvPr>
            <p:ph type="sldNum" sz="quarter" idx="12"/>
          </p:nvPr>
        </p:nvSpPr>
        <p:spPr/>
        <p:txBody>
          <a:bodyPr/>
          <a:lstStyle>
            <a:lvl1pPr>
              <a:defRPr/>
            </a:lvl1pPr>
          </a:lstStyle>
          <a:p>
            <a:pPr>
              <a:defRPr/>
            </a:pPr>
            <a:fld id="{23D36DC4-9BAD-4409-98C9-7035C238C085}" type="slidenum">
              <a:rPr lang="en-US" altLang="zh-CN"/>
              <a:pPr>
                <a:defRPr/>
              </a:pPr>
              <a:t>‹#›</a:t>
            </a:fld>
            <a:endParaRPr lang="en-US" altLang="zh-CN"/>
          </a:p>
        </p:txBody>
      </p:sp>
    </p:spTree>
    <p:extLst>
      <p:ext uri="{BB962C8B-B14F-4D97-AF65-F5344CB8AC3E}">
        <p14:creationId xmlns:p14="http://schemas.microsoft.com/office/powerpoint/2010/main" val="1201078934"/>
      </p:ext>
    </p:extLst>
  </p:cSld>
  <p:clrMapOvr>
    <a:masterClrMapping/>
  </p:clrMapOvr>
  <p:transition>
    <p:spli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69B010-0A9D-5FE5-1C6D-AC129757F2F1}"/>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0128388A-0AC7-6332-312E-6E96CDA7B9E6}"/>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BF0BCF97-0136-303A-465D-DAE1770EEF92}"/>
              </a:ext>
            </a:extLst>
          </p:cNvPr>
          <p:cNvSpPr>
            <a:spLocks noGrp="1"/>
          </p:cNvSpPr>
          <p:nvPr>
            <p:ph type="sldNum" sz="quarter" idx="12"/>
          </p:nvPr>
        </p:nvSpPr>
        <p:spPr/>
        <p:txBody>
          <a:bodyPr/>
          <a:lstStyle>
            <a:lvl1pPr>
              <a:defRPr/>
            </a:lvl1pPr>
          </a:lstStyle>
          <a:p>
            <a:pPr>
              <a:defRPr/>
            </a:pPr>
            <a:fld id="{CFE8DC9A-9A1F-464C-9839-6BE5D13CFEA9}" type="slidenum">
              <a:rPr lang="en-US" altLang="zh-CN"/>
              <a:pPr>
                <a:defRPr/>
              </a:pPr>
              <a:t>‹#›</a:t>
            </a:fld>
            <a:endParaRPr lang="en-US" altLang="zh-CN"/>
          </a:p>
        </p:txBody>
      </p:sp>
    </p:spTree>
    <p:extLst>
      <p:ext uri="{BB962C8B-B14F-4D97-AF65-F5344CB8AC3E}">
        <p14:creationId xmlns:p14="http://schemas.microsoft.com/office/powerpoint/2010/main" val="132614125"/>
      </p:ext>
    </p:extLst>
  </p:cSld>
  <p:clrMapOvr>
    <a:masterClrMapping/>
  </p:clrMapOvr>
  <p:transition>
    <p:spli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表格占位符 2"/>
          <p:cNvSpPr>
            <a:spLocks noGrp="1"/>
          </p:cNvSpPr>
          <p:nvPr>
            <p:ph type="tbl"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6E96CE7C-424C-9F96-C453-3A365DF736A0}"/>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3DA6907-8AD5-A4E2-8420-DECFA5EE25F8}"/>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3C903304-580F-94AC-2315-22543C5E4206}"/>
              </a:ext>
            </a:extLst>
          </p:cNvPr>
          <p:cNvSpPr>
            <a:spLocks noGrp="1"/>
          </p:cNvSpPr>
          <p:nvPr>
            <p:ph type="sldNum" sz="quarter" idx="12"/>
          </p:nvPr>
        </p:nvSpPr>
        <p:spPr>
          <a:xfrm>
            <a:off x="6553200" y="6248400"/>
            <a:ext cx="1905000" cy="457200"/>
          </a:xfrm>
        </p:spPr>
        <p:txBody>
          <a:bodyPr/>
          <a:lstStyle>
            <a:lvl1pPr>
              <a:defRPr/>
            </a:lvl1pPr>
          </a:lstStyle>
          <a:p>
            <a:pPr>
              <a:defRPr/>
            </a:pPr>
            <a:fld id="{9C8AB3CF-8A0A-42DB-8D2C-4750103D29F6}" type="slidenum">
              <a:rPr lang="en-US" altLang="zh-CN"/>
              <a:pPr>
                <a:defRPr/>
              </a:pPr>
              <a:t>‹#›</a:t>
            </a:fld>
            <a:endParaRPr lang="en-US" altLang="zh-CN"/>
          </a:p>
        </p:txBody>
      </p:sp>
    </p:spTree>
    <p:extLst>
      <p:ext uri="{BB962C8B-B14F-4D97-AF65-F5344CB8AC3E}">
        <p14:creationId xmlns:p14="http://schemas.microsoft.com/office/powerpoint/2010/main" val="2334063606"/>
      </p:ext>
    </p:extLst>
  </p:cSld>
  <p:clrMapOvr>
    <a:masterClrMapping/>
  </p:clrMapOvr>
  <p:transition>
    <p:spli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SmartArt 占位符 2"/>
          <p:cNvSpPr>
            <a:spLocks noGrp="1"/>
          </p:cNvSpPr>
          <p:nvPr>
            <p:ph type="dgm"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8B4E994B-9E36-6563-2659-E0F7E8B639C0}"/>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AC6625E8-65AA-C3D4-E338-8E96E5252762}"/>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DD9DEA2D-C63A-F412-E5B9-29864AE96260}"/>
              </a:ext>
            </a:extLst>
          </p:cNvPr>
          <p:cNvSpPr>
            <a:spLocks noGrp="1"/>
          </p:cNvSpPr>
          <p:nvPr>
            <p:ph type="sldNum" sz="quarter" idx="12"/>
          </p:nvPr>
        </p:nvSpPr>
        <p:spPr>
          <a:xfrm>
            <a:off x="6553200" y="6248400"/>
            <a:ext cx="1905000" cy="457200"/>
          </a:xfrm>
        </p:spPr>
        <p:txBody>
          <a:bodyPr/>
          <a:lstStyle>
            <a:lvl1pPr>
              <a:defRPr/>
            </a:lvl1pPr>
          </a:lstStyle>
          <a:p>
            <a:pPr>
              <a:defRPr/>
            </a:pPr>
            <a:fld id="{48EC191C-6BA2-4381-933E-5A90EF464BDC}" type="slidenum">
              <a:rPr lang="en-US" altLang="zh-CN"/>
              <a:pPr>
                <a:defRPr/>
              </a:pPr>
              <a:t>‹#›</a:t>
            </a:fld>
            <a:endParaRPr lang="en-US" altLang="zh-CN"/>
          </a:p>
        </p:txBody>
      </p:sp>
    </p:spTree>
    <p:extLst>
      <p:ext uri="{BB962C8B-B14F-4D97-AF65-F5344CB8AC3E}">
        <p14:creationId xmlns:p14="http://schemas.microsoft.com/office/powerpoint/2010/main" val="1940196619"/>
      </p:ext>
    </p:extLst>
  </p:cSld>
  <p:clrMapOvr>
    <a:masterClrMapping/>
  </p:clrMapOvr>
  <p:transition>
    <p:spli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3B7CEAED-B499-FB63-EF18-CE59A851D72F}"/>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182E4075-1FB5-3E19-AC27-CA7E6817FCEB}"/>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38A27C22-9F6E-B247-44B5-AEF9E403711B}"/>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5" name="页脚占位符 4">
            <a:extLst>
              <a:ext uri="{FF2B5EF4-FFF2-40B4-BE49-F238E27FC236}">
                <a16:creationId xmlns:a16="http://schemas.microsoft.com/office/drawing/2014/main" id="{F6567294-34EB-1D81-9394-656D0DBDDAE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6" name="灯片编号占位符 5">
            <a:extLst>
              <a:ext uri="{FF2B5EF4-FFF2-40B4-BE49-F238E27FC236}">
                <a16:creationId xmlns:a16="http://schemas.microsoft.com/office/drawing/2014/main" id="{0485D404-076D-0508-DAFE-2701F1386B9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ea typeface="+mn-ea"/>
              </a:defRPr>
            </a:lvl1pPr>
          </a:lstStyle>
          <a:p>
            <a:pPr>
              <a:defRPr/>
            </a:pPr>
            <a:fld id="{F1FEBAFB-CCC9-4181-A924-905DAB53FCE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Lst>
  <p:transition>
    <p:split/>
  </p:transition>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10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10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10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10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10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image" Target="../media/image4.wmf"/><Relationship Id="rId4" Type="http://schemas.openxmlformats.org/officeDocument/2006/relationships/oleObject" Target="../embeddings/oleObject2.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8.wmf"/><Relationship Id="rId4" Type="http://schemas.openxmlformats.org/officeDocument/2006/relationships/oleObject" Target="../embeddings/oleObject6.bin"/><Relationship Id="rId9" Type="http://schemas.openxmlformats.org/officeDocument/2006/relationships/image" Target="../media/image10.wmf"/></Relationships>
</file>

<file path=ppt/slides/_rels/slide8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oleObject" Target="../embeddings/oleObject10.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72F343-AD57-445D-AD64-0E1FF0033A40}"/>
              </a:ext>
            </a:extLst>
          </p:cNvPr>
          <p:cNvSpPr>
            <a:spLocks noGrp="1"/>
          </p:cNvSpPr>
          <p:nvPr>
            <p:ph type="title"/>
          </p:nvPr>
        </p:nvSpPr>
        <p:spPr/>
        <p:txBody>
          <a:bodyPr/>
          <a:lstStyle/>
          <a:p>
            <a:r>
              <a:rPr lang="zh-CN" altLang="en-US" dirty="0"/>
              <a:t>第</a:t>
            </a:r>
            <a:r>
              <a:rPr lang="en-US" altLang="zh-CN" dirty="0"/>
              <a:t>6</a:t>
            </a:r>
            <a:r>
              <a:rPr lang="zh-CN" altLang="en-US" dirty="0"/>
              <a:t>章 集合与字典</a:t>
            </a:r>
          </a:p>
        </p:txBody>
      </p:sp>
      <p:sp>
        <p:nvSpPr>
          <p:cNvPr id="3" name="内容占位符 2">
            <a:extLst>
              <a:ext uri="{FF2B5EF4-FFF2-40B4-BE49-F238E27FC236}">
                <a16:creationId xmlns:a16="http://schemas.microsoft.com/office/drawing/2014/main" id="{C0D424E1-F1D8-4E01-8EE1-63A1D37AADF4}"/>
              </a:ext>
            </a:extLst>
          </p:cNvPr>
          <p:cNvSpPr>
            <a:spLocks noGrp="1"/>
          </p:cNvSpPr>
          <p:nvPr>
            <p:ph idx="1"/>
          </p:nvPr>
        </p:nvSpPr>
        <p:spPr>
          <a:xfrm>
            <a:off x="628650" y="1825625"/>
            <a:ext cx="7886700" cy="4351338"/>
          </a:xfrm>
        </p:spPr>
        <p:txBody>
          <a:bodyPr>
            <a:normAutofit/>
          </a:bodyPr>
          <a:lstStyle/>
          <a:p>
            <a:r>
              <a:rPr lang="zh-CN" altLang="en-US" dirty="0"/>
              <a:t>集合及其表示</a:t>
            </a:r>
          </a:p>
          <a:p>
            <a:r>
              <a:rPr lang="zh-CN" altLang="en-US" dirty="0"/>
              <a:t>并查集与等价类</a:t>
            </a:r>
          </a:p>
          <a:p>
            <a:r>
              <a:rPr lang="zh-CN" altLang="en-US" dirty="0"/>
              <a:t>字典（自学）</a:t>
            </a:r>
          </a:p>
          <a:p>
            <a:r>
              <a:rPr lang="zh-CN" altLang="en-US" dirty="0"/>
              <a:t>跳表（自学）</a:t>
            </a:r>
          </a:p>
          <a:p>
            <a:r>
              <a:rPr lang="zh-CN" altLang="en-US" dirty="0"/>
              <a:t>散列</a:t>
            </a:r>
          </a:p>
        </p:txBody>
      </p:sp>
      <p:sp>
        <p:nvSpPr>
          <p:cNvPr id="4" name="灯片编号占位符 3">
            <a:extLst>
              <a:ext uri="{FF2B5EF4-FFF2-40B4-BE49-F238E27FC236}">
                <a16:creationId xmlns:a16="http://schemas.microsoft.com/office/drawing/2014/main" id="{D171C70B-69AC-3475-4E1A-9C827A7A6D19}"/>
              </a:ext>
            </a:extLst>
          </p:cNvPr>
          <p:cNvSpPr>
            <a:spLocks noGrp="1"/>
          </p:cNvSpPr>
          <p:nvPr>
            <p:ph type="sldNum" sz="quarter" idx="12"/>
          </p:nvPr>
        </p:nvSpPr>
        <p:spPr/>
        <p:txBody>
          <a:bodyPr/>
          <a:lstStyle/>
          <a:p>
            <a:pPr>
              <a:defRPr/>
            </a:pPr>
            <a:fld id="{524B865F-46F8-4520-B0DD-31ED36EF62D9}" type="slidenum">
              <a:rPr lang="en-US" altLang="zh-CN" smtClean="0"/>
              <a:pPr>
                <a:defRPr/>
              </a:pPr>
              <a:t>1</a:t>
            </a:fld>
            <a:endParaRPr lang="en-US" altLang="zh-CN"/>
          </a:p>
        </p:txBody>
      </p:sp>
    </p:spTree>
  </p:cSld>
  <p:clrMapOvr>
    <a:masterClrMapping/>
  </p:clrMapOvr>
  <p:transition>
    <p:spli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B263C2-DD5E-DC2B-56E7-5B4BA3470493}"/>
              </a:ext>
            </a:extLst>
          </p:cNvPr>
          <p:cNvSpPr>
            <a:spLocks noGrp="1"/>
          </p:cNvSpPr>
          <p:nvPr>
            <p:ph type="title"/>
          </p:nvPr>
        </p:nvSpPr>
        <p:spPr/>
        <p:txBody>
          <a:bodyPr/>
          <a:lstStyle/>
          <a:p>
            <a:r>
              <a:rPr lang="en-US" altLang="zh-CN" dirty="0"/>
              <a:t>6.1 </a:t>
            </a:r>
            <a:r>
              <a:rPr lang="zh-CN" altLang="en-US" dirty="0"/>
              <a:t>集合及其表示</a:t>
            </a:r>
          </a:p>
        </p:txBody>
      </p:sp>
      <p:sp>
        <p:nvSpPr>
          <p:cNvPr id="3" name="内容占位符 2">
            <a:extLst>
              <a:ext uri="{FF2B5EF4-FFF2-40B4-BE49-F238E27FC236}">
                <a16:creationId xmlns:a16="http://schemas.microsoft.com/office/drawing/2014/main" id="{0A84722B-1511-1CCD-75B0-42EB00A7E9C9}"/>
              </a:ext>
            </a:extLst>
          </p:cNvPr>
          <p:cNvSpPr>
            <a:spLocks noGrp="1"/>
          </p:cNvSpPr>
          <p:nvPr>
            <p:ph idx="1"/>
          </p:nvPr>
        </p:nvSpPr>
        <p:spPr/>
        <p:txBody>
          <a:bodyPr>
            <a:normAutofit fontScale="85000" lnSpcReduction="20000"/>
          </a:bodyPr>
          <a:lstStyle/>
          <a:p>
            <a:r>
              <a:rPr lang="en-US" altLang="zh-CN" dirty="0"/>
              <a:t>6.1.1 </a:t>
            </a:r>
            <a:r>
              <a:rPr lang="zh-CN" altLang="en-US" dirty="0"/>
              <a:t>集合的基本概念</a:t>
            </a:r>
          </a:p>
          <a:p>
            <a:pPr lvl="1"/>
            <a:r>
              <a:rPr lang="zh-CN" altLang="en-US" dirty="0"/>
              <a:t>集合是成员（元素）的一个群集。集合中的成员可以是原子（单元素），也可以是集合。</a:t>
            </a:r>
          </a:p>
          <a:p>
            <a:pPr lvl="1"/>
            <a:r>
              <a:rPr lang="zh-CN" altLang="en-US" dirty="0"/>
              <a:t>集合中的成员必须互不相同。</a:t>
            </a:r>
          </a:p>
          <a:p>
            <a:pPr lvl="1"/>
            <a:r>
              <a:rPr lang="zh-CN" altLang="en-US" dirty="0"/>
              <a:t>在算法与数据结构中所遇到的集合，其单元素通常是整数、字符、字符串或指针，且同一集合中所有成员具有相同的数据类型。</a:t>
            </a:r>
            <a:endParaRPr lang="en-US" altLang="zh-CN" dirty="0"/>
          </a:p>
          <a:p>
            <a:pPr lvl="1"/>
            <a:r>
              <a:rPr lang="zh-CN" altLang="en-US" dirty="0"/>
              <a:t>集合示例</a:t>
            </a:r>
            <a:endParaRPr lang="en-US" altLang="zh-CN" dirty="0"/>
          </a:p>
          <a:p>
            <a:pPr lvl="2"/>
            <a:r>
              <a:rPr lang="en-US" altLang="zh-CN" dirty="0" err="1"/>
              <a:t>colour</a:t>
            </a:r>
            <a:r>
              <a:rPr lang="en-US" altLang="zh-CN" dirty="0"/>
              <a:t> = { red, orange, yellow, green, black, blue, purple, white }  </a:t>
            </a:r>
          </a:p>
          <a:p>
            <a:pPr lvl="2"/>
            <a:r>
              <a:rPr lang="en-US" altLang="zh-CN" dirty="0"/>
              <a:t>name = { “An”, “Cao”, “Liu”, “Ma”, “Peng”, “Wang”, “</a:t>
            </a:r>
            <a:r>
              <a:rPr lang="en-US" altLang="zh-CN" dirty="0" err="1"/>
              <a:t>zhang</a:t>
            </a:r>
            <a:r>
              <a:rPr lang="en-US" altLang="zh-CN" dirty="0"/>
              <a:t>” }</a:t>
            </a:r>
            <a:endParaRPr lang="zh-CN" altLang="en-US" dirty="0"/>
          </a:p>
          <a:p>
            <a:endParaRPr lang="zh-CN" altLang="en-US" dirty="0"/>
          </a:p>
        </p:txBody>
      </p:sp>
      <p:sp>
        <p:nvSpPr>
          <p:cNvPr id="4" name="灯片编号占位符 3">
            <a:extLst>
              <a:ext uri="{FF2B5EF4-FFF2-40B4-BE49-F238E27FC236}">
                <a16:creationId xmlns:a16="http://schemas.microsoft.com/office/drawing/2014/main" id="{9524DA21-88E2-86F6-47BB-1B2FE3597AAB}"/>
              </a:ext>
            </a:extLst>
          </p:cNvPr>
          <p:cNvSpPr>
            <a:spLocks noGrp="1"/>
          </p:cNvSpPr>
          <p:nvPr>
            <p:ph type="sldNum" sz="quarter" idx="12"/>
          </p:nvPr>
        </p:nvSpPr>
        <p:spPr/>
        <p:txBody>
          <a:bodyPr/>
          <a:lstStyle/>
          <a:p>
            <a:pPr>
              <a:defRPr/>
            </a:pPr>
            <a:fld id="{524B865F-46F8-4520-B0DD-31ED36EF62D9}" type="slidenum">
              <a:rPr lang="en-US" altLang="zh-CN" smtClean="0"/>
              <a:pPr>
                <a:defRPr/>
              </a:pPr>
              <a:t>2</a:t>
            </a:fld>
            <a:endParaRPr lang="en-US" altLang="zh-CN"/>
          </a:p>
        </p:txBody>
      </p:sp>
    </p:spTree>
    <p:extLst>
      <p:ext uri="{BB962C8B-B14F-4D97-AF65-F5344CB8AC3E}">
        <p14:creationId xmlns:p14="http://schemas.microsoft.com/office/powerpoint/2010/main" val="4101510260"/>
      </p:ext>
    </p:extLst>
  </p:cSld>
  <p:clrMapOvr>
    <a:masterClrMapping/>
  </p:clrMapOvr>
  <p:transition>
    <p:spli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6F0CA7-E64A-4CEC-92C2-7F29771A8242}"/>
              </a:ext>
            </a:extLst>
          </p:cNvPr>
          <p:cNvSpPr>
            <a:spLocks noGrp="1"/>
          </p:cNvSpPr>
          <p:nvPr>
            <p:ph type="title"/>
          </p:nvPr>
        </p:nvSpPr>
        <p:spPr/>
        <p:txBody>
          <a:bodyPr/>
          <a:lstStyle/>
          <a:p>
            <a:r>
              <a:rPr lang="zh-CN" altLang="en-US" dirty="0"/>
              <a:t>集合的特点</a:t>
            </a:r>
          </a:p>
        </p:txBody>
      </p:sp>
      <p:sp>
        <p:nvSpPr>
          <p:cNvPr id="7170" name="Rectangle 3">
            <a:extLst>
              <a:ext uri="{FF2B5EF4-FFF2-40B4-BE49-F238E27FC236}">
                <a16:creationId xmlns:a16="http://schemas.microsoft.com/office/drawing/2014/main" id="{29DEF8BD-D031-B9C8-160F-BCF46022847D}"/>
              </a:ext>
            </a:extLst>
          </p:cNvPr>
          <p:cNvSpPr>
            <a:spLocks noGrp="1" noChangeArrowheads="1"/>
          </p:cNvSpPr>
          <p:nvPr>
            <p:ph idx="1"/>
          </p:nvPr>
        </p:nvSpPr>
        <p:spPr>
          <a:xfrm>
            <a:off x="628649" y="1825624"/>
            <a:ext cx="8407845" cy="3127376"/>
          </a:xfrm>
        </p:spPr>
        <p:txBody>
          <a:bodyPr>
            <a:normAutofit fontScale="92500"/>
          </a:bodyPr>
          <a:lstStyle/>
          <a:p>
            <a:pPr eaLnBrk="1" hangingPunct="1"/>
            <a:r>
              <a:rPr lang="zh-CN" altLang="en-US" sz="2800" dirty="0"/>
              <a:t>集合中的成员一般是无序的，但在表示它时，常写在一个序列里。</a:t>
            </a:r>
          </a:p>
          <a:p>
            <a:pPr eaLnBrk="1" hangingPunct="1"/>
            <a:r>
              <a:rPr lang="zh-CN" altLang="en-US" sz="2800" dirty="0"/>
              <a:t>实际应用中可能有元素重复出现的情况。可以用集合的变体表示，即多重集合（</a:t>
            </a:r>
            <a:r>
              <a:rPr lang="en-US" altLang="zh-CN" sz="2800" dirty="0"/>
              <a:t>multiset</a:t>
            </a:r>
            <a:r>
              <a:rPr lang="zh-CN" altLang="en-US" sz="2800" dirty="0"/>
              <a:t>），又称为包（</a:t>
            </a:r>
            <a:r>
              <a:rPr lang="en-US" altLang="zh-CN" sz="2800" dirty="0"/>
              <a:t>bag</a:t>
            </a:r>
            <a:r>
              <a:rPr lang="zh-CN" altLang="en-US" sz="2800" dirty="0"/>
              <a:t>）</a:t>
            </a:r>
          </a:p>
          <a:p>
            <a:pPr lvl="1" eaLnBrk="1" hangingPunct="1"/>
            <a:r>
              <a:rPr lang="zh-CN" altLang="en-US" dirty="0"/>
              <a:t>其基本性质与集合相同，但允许元素重复出现</a:t>
            </a:r>
          </a:p>
          <a:p>
            <a:pPr eaLnBrk="1" hangingPunct="1"/>
            <a:r>
              <a:rPr lang="zh-CN" altLang="en-US" sz="2800" dirty="0"/>
              <a:t>集合的基本操作：</a:t>
            </a:r>
          </a:p>
        </p:txBody>
      </p:sp>
      <p:grpSp>
        <p:nvGrpSpPr>
          <p:cNvPr id="3" name="组合 2">
            <a:extLst>
              <a:ext uri="{FF2B5EF4-FFF2-40B4-BE49-F238E27FC236}">
                <a16:creationId xmlns:a16="http://schemas.microsoft.com/office/drawing/2014/main" id="{3A640B24-172A-4DBB-9B81-0A3F66499599}"/>
              </a:ext>
            </a:extLst>
          </p:cNvPr>
          <p:cNvGrpSpPr/>
          <p:nvPr/>
        </p:nvGrpSpPr>
        <p:grpSpPr>
          <a:xfrm>
            <a:off x="1028700" y="4876800"/>
            <a:ext cx="7086600" cy="1981200"/>
            <a:chOff x="914400" y="2971800"/>
            <a:chExt cx="7086600" cy="1981200"/>
          </a:xfrm>
        </p:grpSpPr>
        <p:sp>
          <p:nvSpPr>
            <p:cNvPr id="7171" name="Oval 4">
              <a:extLst>
                <a:ext uri="{FF2B5EF4-FFF2-40B4-BE49-F238E27FC236}">
                  <a16:creationId xmlns:a16="http://schemas.microsoft.com/office/drawing/2014/main" id="{E2FD91C4-70AF-7627-E15E-C8947D2A5B96}"/>
                </a:ext>
              </a:extLst>
            </p:cNvPr>
            <p:cNvSpPr>
              <a:spLocks noChangeArrowheads="1"/>
            </p:cNvSpPr>
            <p:nvPr/>
          </p:nvSpPr>
          <p:spPr bwMode="auto">
            <a:xfrm>
              <a:off x="4114800" y="2971800"/>
              <a:ext cx="1371600" cy="1295400"/>
            </a:xfrm>
            <a:prstGeom prst="ellipse">
              <a:avLst/>
            </a:prstGeom>
            <a:solidFill>
              <a:schemeClr val="bg1"/>
            </a:solidFill>
            <a:ln w="28575">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7172" name="Oval 5" descr="白色大理石">
              <a:extLst>
                <a:ext uri="{FF2B5EF4-FFF2-40B4-BE49-F238E27FC236}">
                  <a16:creationId xmlns:a16="http://schemas.microsoft.com/office/drawing/2014/main" id="{0DC2BE55-1A0D-37B3-D7BC-0BBEF35B9D05}"/>
                </a:ext>
              </a:extLst>
            </p:cNvPr>
            <p:cNvSpPr>
              <a:spLocks noChangeArrowheads="1"/>
            </p:cNvSpPr>
            <p:nvPr/>
          </p:nvSpPr>
          <p:spPr bwMode="auto">
            <a:xfrm>
              <a:off x="914400" y="2971800"/>
              <a:ext cx="1371600" cy="1295400"/>
            </a:xfrm>
            <a:prstGeom prst="ellipse">
              <a:avLst/>
            </a:prstGeom>
            <a:blipFill dpi="0" rotWithShape="0">
              <a:blip r:embed="rId2"/>
              <a:srcRect/>
              <a:tile tx="0" ty="0" sx="100000" sy="100000" flip="none" algn="tl"/>
            </a:blip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7173" name="Oval 6" descr="白色大理石">
              <a:extLst>
                <a:ext uri="{FF2B5EF4-FFF2-40B4-BE49-F238E27FC236}">
                  <a16:creationId xmlns:a16="http://schemas.microsoft.com/office/drawing/2014/main" id="{52B640E9-5B7B-627E-0655-4618E3740D45}"/>
                </a:ext>
              </a:extLst>
            </p:cNvPr>
            <p:cNvSpPr>
              <a:spLocks noChangeArrowheads="1"/>
            </p:cNvSpPr>
            <p:nvPr/>
          </p:nvSpPr>
          <p:spPr bwMode="auto">
            <a:xfrm>
              <a:off x="1676400" y="2971800"/>
              <a:ext cx="1371600" cy="1295400"/>
            </a:xfrm>
            <a:prstGeom prst="ellipse">
              <a:avLst/>
            </a:prstGeom>
            <a:blipFill dpi="0" rotWithShape="0">
              <a:blip r:embed="rId2"/>
              <a:srcRect/>
              <a:tile tx="0" ty="0" sx="100000" sy="100000" flip="none" algn="tl"/>
            </a:blipFill>
            <a:ln w="28575">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7174" name="Oval 7">
              <a:extLst>
                <a:ext uri="{FF2B5EF4-FFF2-40B4-BE49-F238E27FC236}">
                  <a16:creationId xmlns:a16="http://schemas.microsoft.com/office/drawing/2014/main" id="{FC5C25C6-ABDF-9CE5-2BF5-38023E7DF5CE}"/>
                </a:ext>
              </a:extLst>
            </p:cNvPr>
            <p:cNvSpPr>
              <a:spLocks noChangeArrowheads="1"/>
            </p:cNvSpPr>
            <p:nvPr/>
          </p:nvSpPr>
          <p:spPr bwMode="auto">
            <a:xfrm>
              <a:off x="914400" y="2971800"/>
              <a:ext cx="1371600" cy="1295400"/>
            </a:xfrm>
            <a:prstGeom prst="ellipse">
              <a:avLst/>
            </a:prstGeom>
            <a:noFill/>
            <a:ln w="2857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zh-CN" sz="2400">
                <a:solidFill>
                  <a:schemeClr val="accent2"/>
                </a:solidFill>
                <a:latin typeface="Times New Roman" panose="02020603050405020304" pitchFamily="18" charset="0"/>
                <a:ea typeface="宋体" panose="02010600030101010101" pitchFamily="2" charset="-122"/>
              </a:endParaRPr>
            </a:p>
          </p:txBody>
        </p:sp>
        <p:sp>
          <p:nvSpPr>
            <p:cNvPr id="7175" name="Oval 8">
              <a:extLst>
                <a:ext uri="{FF2B5EF4-FFF2-40B4-BE49-F238E27FC236}">
                  <a16:creationId xmlns:a16="http://schemas.microsoft.com/office/drawing/2014/main" id="{19215538-BCC9-C477-0253-3904BE7A0665}"/>
                </a:ext>
              </a:extLst>
            </p:cNvPr>
            <p:cNvSpPr>
              <a:spLocks noChangeArrowheads="1"/>
            </p:cNvSpPr>
            <p:nvPr/>
          </p:nvSpPr>
          <p:spPr bwMode="auto">
            <a:xfrm>
              <a:off x="3352800" y="2971800"/>
              <a:ext cx="1371600" cy="1295400"/>
            </a:xfrm>
            <a:prstGeom prst="ellipse">
              <a:avLst/>
            </a:prstGeom>
            <a:solidFill>
              <a:schemeClr val="bg1"/>
            </a:solidFill>
            <a:ln w="28575">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7176" name="Oval 9">
              <a:extLst>
                <a:ext uri="{FF2B5EF4-FFF2-40B4-BE49-F238E27FC236}">
                  <a16:creationId xmlns:a16="http://schemas.microsoft.com/office/drawing/2014/main" id="{6E30FEC6-4295-4BBD-8464-0F5DAC1C3117}"/>
                </a:ext>
              </a:extLst>
            </p:cNvPr>
            <p:cNvSpPr>
              <a:spLocks noChangeArrowheads="1"/>
            </p:cNvSpPr>
            <p:nvPr/>
          </p:nvSpPr>
          <p:spPr bwMode="auto">
            <a:xfrm>
              <a:off x="3352800" y="2971800"/>
              <a:ext cx="1371600" cy="1295400"/>
            </a:xfrm>
            <a:prstGeom prst="ellipse">
              <a:avLst/>
            </a:prstGeom>
            <a:noFill/>
            <a:ln w="2857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7177" name="Oval 10" descr="白色大理石">
              <a:extLst>
                <a:ext uri="{FF2B5EF4-FFF2-40B4-BE49-F238E27FC236}">
                  <a16:creationId xmlns:a16="http://schemas.microsoft.com/office/drawing/2014/main" id="{36F1400C-A377-C45E-F2CD-2875AA2B59C6}"/>
                </a:ext>
              </a:extLst>
            </p:cNvPr>
            <p:cNvSpPr>
              <a:spLocks noChangeArrowheads="1"/>
            </p:cNvSpPr>
            <p:nvPr/>
          </p:nvSpPr>
          <p:spPr bwMode="auto">
            <a:xfrm>
              <a:off x="5867400" y="2971800"/>
              <a:ext cx="1371600" cy="1295400"/>
            </a:xfrm>
            <a:prstGeom prst="ellipse">
              <a:avLst/>
            </a:prstGeom>
            <a:blipFill dpi="0" rotWithShape="0">
              <a:blip r:embed="rId2"/>
              <a:srcRect/>
              <a:tile tx="0" ty="0" sx="100000" sy="100000" flip="none" algn="tl"/>
            </a:blipFill>
            <a:ln w="28575">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7178" name="Oval 11">
              <a:extLst>
                <a:ext uri="{FF2B5EF4-FFF2-40B4-BE49-F238E27FC236}">
                  <a16:creationId xmlns:a16="http://schemas.microsoft.com/office/drawing/2014/main" id="{E86C8313-3FB4-C7D4-18D6-345FDCD2C3B1}"/>
                </a:ext>
              </a:extLst>
            </p:cNvPr>
            <p:cNvSpPr>
              <a:spLocks noChangeArrowheads="1"/>
            </p:cNvSpPr>
            <p:nvPr/>
          </p:nvSpPr>
          <p:spPr bwMode="auto">
            <a:xfrm>
              <a:off x="6629400" y="2971800"/>
              <a:ext cx="1371600" cy="1295400"/>
            </a:xfrm>
            <a:prstGeom prst="ellipse">
              <a:avLst/>
            </a:prstGeom>
            <a:solidFill>
              <a:schemeClr val="bg1"/>
            </a:solidFill>
            <a:ln w="28575">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7179" name="Oval 12">
              <a:extLst>
                <a:ext uri="{FF2B5EF4-FFF2-40B4-BE49-F238E27FC236}">
                  <a16:creationId xmlns:a16="http://schemas.microsoft.com/office/drawing/2014/main" id="{7F580F32-FB12-F1DF-1910-28802234478B}"/>
                </a:ext>
              </a:extLst>
            </p:cNvPr>
            <p:cNvSpPr>
              <a:spLocks noChangeArrowheads="1"/>
            </p:cNvSpPr>
            <p:nvPr/>
          </p:nvSpPr>
          <p:spPr bwMode="auto">
            <a:xfrm>
              <a:off x="5867400" y="2971800"/>
              <a:ext cx="1371600" cy="1295400"/>
            </a:xfrm>
            <a:prstGeom prst="ellipse">
              <a:avLst/>
            </a:prstGeom>
            <a:noFill/>
            <a:ln w="2857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7180" name="Oval 13">
              <a:extLst>
                <a:ext uri="{FF2B5EF4-FFF2-40B4-BE49-F238E27FC236}">
                  <a16:creationId xmlns:a16="http://schemas.microsoft.com/office/drawing/2014/main" id="{DB722DA1-C2E7-26BE-AE48-3DEE2E1BA2B5}"/>
                </a:ext>
              </a:extLst>
            </p:cNvPr>
            <p:cNvSpPr>
              <a:spLocks noChangeArrowheads="1"/>
            </p:cNvSpPr>
            <p:nvPr/>
          </p:nvSpPr>
          <p:spPr bwMode="auto">
            <a:xfrm>
              <a:off x="4114800" y="2971800"/>
              <a:ext cx="1371600" cy="1295400"/>
            </a:xfrm>
            <a:prstGeom prst="ellipse">
              <a:avLst/>
            </a:prstGeom>
            <a:noFill/>
            <a:ln w="2857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7181" name="Line 14">
              <a:extLst>
                <a:ext uri="{FF2B5EF4-FFF2-40B4-BE49-F238E27FC236}">
                  <a16:creationId xmlns:a16="http://schemas.microsoft.com/office/drawing/2014/main" id="{550531BB-1F9F-875B-A4C7-E3623B7BF214}"/>
                </a:ext>
              </a:extLst>
            </p:cNvPr>
            <p:cNvSpPr>
              <a:spLocks noChangeShapeType="1"/>
            </p:cNvSpPr>
            <p:nvPr/>
          </p:nvSpPr>
          <p:spPr bwMode="auto">
            <a:xfrm flipH="1">
              <a:off x="2209800" y="3733800"/>
              <a:ext cx="304800" cy="762000"/>
            </a:xfrm>
            <a:prstGeom prst="line">
              <a:avLst/>
            </a:prstGeom>
            <a:noFill/>
            <a:ln w="28575">
              <a:solidFill>
                <a:schemeClr val="accent2"/>
              </a:solidFill>
              <a:round/>
              <a:headEnd type="triangle" w="sm"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2" name="Line 15">
              <a:extLst>
                <a:ext uri="{FF2B5EF4-FFF2-40B4-BE49-F238E27FC236}">
                  <a16:creationId xmlns:a16="http://schemas.microsoft.com/office/drawing/2014/main" id="{648645E8-AF5A-17E1-712C-5F98D5E05424}"/>
                </a:ext>
              </a:extLst>
            </p:cNvPr>
            <p:cNvSpPr>
              <a:spLocks noChangeShapeType="1"/>
            </p:cNvSpPr>
            <p:nvPr/>
          </p:nvSpPr>
          <p:spPr bwMode="auto">
            <a:xfrm>
              <a:off x="1524000" y="3733800"/>
              <a:ext cx="228600" cy="762000"/>
            </a:xfrm>
            <a:prstGeom prst="line">
              <a:avLst/>
            </a:prstGeom>
            <a:noFill/>
            <a:ln w="28575">
              <a:solidFill>
                <a:schemeClr val="accent2"/>
              </a:solidFill>
              <a:round/>
              <a:headEnd type="triangle" w="sm"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3" name="Line 16">
              <a:extLst>
                <a:ext uri="{FF2B5EF4-FFF2-40B4-BE49-F238E27FC236}">
                  <a16:creationId xmlns:a16="http://schemas.microsoft.com/office/drawing/2014/main" id="{6A66B31D-E2CD-1D3A-E273-7CCF05A67CC5}"/>
                </a:ext>
              </a:extLst>
            </p:cNvPr>
            <p:cNvSpPr>
              <a:spLocks noChangeShapeType="1"/>
            </p:cNvSpPr>
            <p:nvPr/>
          </p:nvSpPr>
          <p:spPr bwMode="auto">
            <a:xfrm flipH="1">
              <a:off x="4419600" y="3733800"/>
              <a:ext cx="0" cy="838200"/>
            </a:xfrm>
            <a:prstGeom prst="line">
              <a:avLst/>
            </a:prstGeom>
            <a:noFill/>
            <a:ln w="28575">
              <a:solidFill>
                <a:schemeClr val="accent2"/>
              </a:solidFill>
              <a:round/>
              <a:headEnd type="triangle" w="sm"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4" name="Line 17">
              <a:extLst>
                <a:ext uri="{FF2B5EF4-FFF2-40B4-BE49-F238E27FC236}">
                  <a16:creationId xmlns:a16="http://schemas.microsoft.com/office/drawing/2014/main" id="{480DCB79-479F-97E0-CD8D-56AF3702FCE9}"/>
                </a:ext>
              </a:extLst>
            </p:cNvPr>
            <p:cNvSpPr>
              <a:spLocks noChangeShapeType="1"/>
            </p:cNvSpPr>
            <p:nvPr/>
          </p:nvSpPr>
          <p:spPr bwMode="auto">
            <a:xfrm>
              <a:off x="6324600" y="3733800"/>
              <a:ext cx="228600" cy="762000"/>
            </a:xfrm>
            <a:prstGeom prst="line">
              <a:avLst/>
            </a:prstGeom>
            <a:noFill/>
            <a:ln w="28575">
              <a:solidFill>
                <a:schemeClr val="accent2"/>
              </a:solidFill>
              <a:round/>
              <a:headEnd type="triangle" w="sm"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5" name="Text Box 18">
              <a:extLst>
                <a:ext uri="{FF2B5EF4-FFF2-40B4-BE49-F238E27FC236}">
                  <a16:creationId xmlns:a16="http://schemas.microsoft.com/office/drawing/2014/main" id="{B1ECB5D9-AE67-FDBB-91EF-D99DD59EEFD2}"/>
                </a:ext>
              </a:extLst>
            </p:cNvPr>
            <p:cNvSpPr txBox="1">
              <a:spLocks noChangeArrowheads="1"/>
            </p:cNvSpPr>
            <p:nvPr/>
          </p:nvSpPr>
          <p:spPr bwMode="auto">
            <a:xfrm>
              <a:off x="995363" y="4495800"/>
              <a:ext cx="601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chemeClr val="accent2"/>
                  </a:solidFill>
                  <a:latin typeface="Times New Roman" panose="02020603050405020304" pitchFamily="18" charset="0"/>
                  <a:ea typeface="宋体" panose="02010600030101010101" pitchFamily="2" charset="-122"/>
                </a:rPr>
                <a:t>A</a:t>
              </a:r>
              <a:r>
                <a:rPr kumimoji="1" lang="en-US" altLang="zh-CN" sz="2400" b="1">
                  <a:solidFill>
                    <a:schemeClr val="accent2"/>
                  </a:solidFill>
                  <a:latin typeface="Times New Roman" panose="02020603050405020304" pitchFamily="18" charset="0"/>
                  <a:ea typeface="宋体" panose="02010600030101010101" pitchFamily="2" charset="-122"/>
                  <a:sym typeface="Symbol" panose="05050102010706020507" pitchFamily="18" charset="2"/>
                </a:rPr>
                <a:t>B </a:t>
              </a:r>
              <a:r>
                <a:rPr kumimoji="1" lang="zh-CN" altLang="en-US" sz="2400">
                  <a:solidFill>
                    <a:schemeClr val="tx2"/>
                  </a:solidFill>
                  <a:latin typeface="Times New Roman" panose="02020603050405020304" pitchFamily="18" charset="0"/>
                  <a:ea typeface="隶书" panose="02010509060101010101" pitchFamily="49" charset="-122"/>
                  <a:sym typeface="Symbol" panose="05050102010706020507" pitchFamily="18" charset="2"/>
                </a:rPr>
                <a:t>或</a:t>
              </a:r>
              <a:r>
                <a:rPr kumimoji="1" lang="zh-CN" altLang="en-US" sz="2400" b="1">
                  <a:solidFill>
                    <a:schemeClr val="accent2"/>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400" b="1">
                  <a:solidFill>
                    <a:schemeClr val="accent2"/>
                  </a:solidFill>
                  <a:latin typeface="Times New Roman" panose="02020603050405020304" pitchFamily="18" charset="0"/>
                  <a:ea typeface="宋体" panose="02010600030101010101" pitchFamily="2" charset="-122"/>
                  <a:sym typeface="Symbol" panose="05050102010706020507" pitchFamily="18" charset="2"/>
                </a:rPr>
                <a:t>A+B         AB </a:t>
              </a:r>
              <a:r>
                <a:rPr kumimoji="1" lang="zh-CN" altLang="en-US" sz="2400">
                  <a:solidFill>
                    <a:schemeClr val="tx2"/>
                  </a:solidFill>
                  <a:latin typeface="Times New Roman" panose="02020603050405020304" pitchFamily="18" charset="0"/>
                  <a:ea typeface="隶书" panose="02010509060101010101" pitchFamily="49" charset="-122"/>
                  <a:sym typeface="Symbol" panose="05050102010706020507" pitchFamily="18" charset="2"/>
                </a:rPr>
                <a:t>或</a:t>
              </a:r>
              <a:r>
                <a:rPr kumimoji="1" lang="zh-CN" altLang="en-US" sz="2400" b="1">
                  <a:solidFill>
                    <a:schemeClr val="accent2"/>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400" b="1">
                  <a:solidFill>
                    <a:schemeClr val="accent2"/>
                  </a:solidFill>
                  <a:latin typeface="Times New Roman" panose="02020603050405020304" pitchFamily="18" charset="0"/>
                  <a:ea typeface="宋体" panose="02010600030101010101" pitchFamily="2" charset="-122"/>
                  <a:sym typeface="Symbol" panose="05050102010706020507" pitchFamily="18" charset="2"/>
                </a:rPr>
                <a:t>AB               A</a:t>
              </a:r>
              <a:r>
                <a:rPr kumimoji="1" lang="en-US" altLang="zh-CN" sz="2400" b="1">
                  <a:solidFill>
                    <a:schemeClr val="accent2"/>
                  </a:solidFill>
                  <a:latin typeface="楷体_GB2312" pitchFamily="49" charset="-122"/>
                  <a:ea typeface="楷体_GB2312" pitchFamily="49" charset="-122"/>
                  <a:sym typeface="Symbol" panose="05050102010706020507" pitchFamily="18" charset="2"/>
                </a:rPr>
                <a:t>-</a:t>
              </a:r>
              <a:r>
                <a:rPr kumimoji="1" lang="en-US" altLang="zh-CN" sz="2400" b="1">
                  <a:solidFill>
                    <a:schemeClr val="accent2"/>
                  </a:solidFill>
                  <a:latin typeface="Times New Roman" panose="02020603050405020304" pitchFamily="18" charset="0"/>
                  <a:ea typeface="宋体" panose="02010600030101010101" pitchFamily="2" charset="-122"/>
                  <a:sym typeface="Symbol" panose="05050102010706020507" pitchFamily="18" charset="2"/>
                </a:rPr>
                <a:t>B</a:t>
              </a:r>
              <a:endParaRPr kumimoji="1" lang="en-US" altLang="zh-CN" sz="2400">
                <a:latin typeface="Times New Roman" panose="02020603050405020304" pitchFamily="18" charset="0"/>
                <a:ea typeface="宋体" panose="02010600030101010101" pitchFamily="2" charset="-122"/>
              </a:endParaRPr>
            </a:p>
          </p:txBody>
        </p:sp>
        <p:sp>
          <p:nvSpPr>
            <p:cNvPr id="7186" name="Text Box 19">
              <a:extLst>
                <a:ext uri="{FF2B5EF4-FFF2-40B4-BE49-F238E27FC236}">
                  <a16:creationId xmlns:a16="http://schemas.microsoft.com/office/drawing/2014/main" id="{C5041D3E-1175-508C-D56C-69CEDECB5E80}"/>
                </a:ext>
              </a:extLst>
            </p:cNvPr>
            <p:cNvSpPr txBox="1">
              <a:spLocks noChangeArrowheads="1"/>
            </p:cNvSpPr>
            <p:nvPr/>
          </p:nvSpPr>
          <p:spPr bwMode="auto">
            <a:xfrm>
              <a:off x="1066800" y="3048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宋体" panose="02010600030101010101" pitchFamily="2" charset="-122"/>
                </a:rPr>
                <a:t>A</a:t>
              </a:r>
            </a:p>
          </p:txBody>
        </p:sp>
        <p:sp>
          <p:nvSpPr>
            <p:cNvPr id="7187" name="Text Box 20">
              <a:extLst>
                <a:ext uri="{FF2B5EF4-FFF2-40B4-BE49-F238E27FC236}">
                  <a16:creationId xmlns:a16="http://schemas.microsoft.com/office/drawing/2014/main" id="{8E3C533D-9E73-FEAA-F37F-C624A5888C33}"/>
                </a:ext>
              </a:extLst>
            </p:cNvPr>
            <p:cNvSpPr txBox="1">
              <a:spLocks noChangeArrowheads="1"/>
            </p:cNvSpPr>
            <p:nvPr/>
          </p:nvSpPr>
          <p:spPr bwMode="auto">
            <a:xfrm>
              <a:off x="3521075" y="3048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宋体" panose="02010600030101010101" pitchFamily="2" charset="-122"/>
                </a:rPr>
                <a:t>A</a:t>
              </a:r>
            </a:p>
          </p:txBody>
        </p:sp>
        <p:sp>
          <p:nvSpPr>
            <p:cNvPr id="7188" name="Text Box 21">
              <a:extLst>
                <a:ext uri="{FF2B5EF4-FFF2-40B4-BE49-F238E27FC236}">
                  <a16:creationId xmlns:a16="http://schemas.microsoft.com/office/drawing/2014/main" id="{1512B38B-AB3A-00D7-DB26-EDDBC6698140}"/>
                </a:ext>
              </a:extLst>
            </p:cNvPr>
            <p:cNvSpPr txBox="1">
              <a:spLocks noChangeArrowheads="1"/>
            </p:cNvSpPr>
            <p:nvPr/>
          </p:nvSpPr>
          <p:spPr bwMode="auto">
            <a:xfrm>
              <a:off x="6019800" y="3048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宋体" panose="02010600030101010101" pitchFamily="2" charset="-122"/>
                </a:rPr>
                <a:t>A</a:t>
              </a:r>
            </a:p>
          </p:txBody>
        </p:sp>
        <p:sp>
          <p:nvSpPr>
            <p:cNvPr id="7189" name="Text Box 22">
              <a:extLst>
                <a:ext uri="{FF2B5EF4-FFF2-40B4-BE49-F238E27FC236}">
                  <a16:creationId xmlns:a16="http://schemas.microsoft.com/office/drawing/2014/main" id="{467C3815-6B69-8D6D-206F-002ED8F04B4C}"/>
                </a:ext>
              </a:extLst>
            </p:cNvPr>
            <p:cNvSpPr txBox="1">
              <a:spLocks noChangeArrowheads="1"/>
            </p:cNvSpPr>
            <p:nvPr/>
          </p:nvSpPr>
          <p:spPr bwMode="auto">
            <a:xfrm>
              <a:off x="4892675" y="3048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宋体" panose="02010600030101010101" pitchFamily="2" charset="-122"/>
                </a:rPr>
                <a:t>B</a:t>
              </a:r>
            </a:p>
          </p:txBody>
        </p:sp>
        <p:sp>
          <p:nvSpPr>
            <p:cNvPr id="7190" name="Text Box 23">
              <a:extLst>
                <a:ext uri="{FF2B5EF4-FFF2-40B4-BE49-F238E27FC236}">
                  <a16:creationId xmlns:a16="http://schemas.microsoft.com/office/drawing/2014/main" id="{D7C1CF72-8BDA-1E4A-082C-452C05A0978B}"/>
                </a:ext>
              </a:extLst>
            </p:cNvPr>
            <p:cNvSpPr txBox="1">
              <a:spLocks noChangeArrowheads="1"/>
            </p:cNvSpPr>
            <p:nvPr/>
          </p:nvSpPr>
          <p:spPr bwMode="auto">
            <a:xfrm>
              <a:off x="7407275" y="3048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宋体" panose="02010600030101010101" pitchFamily="2" charset="-122"/>
                </a:rPr>
                <a:t>B</a:t>
              </a:r>
            </a:p>
          </p:txBody>
        </p:sp>
        <p:sp>
          <p:nvSpPr>
            <p:cNvPr id="7191" name="Text Box 24">
              <a:extLst>
                <a:ext uri="{FF2B5EF4-FFF2-40B4-BE49-F238E27FC236}">
                  <a16:creationId xmlns:a16="http://schemas.microsoft.com/office/drawing/2014/main" id="{25576E69-B4AB-6B00-1B6C-66E737CF776F}"/>
                </a:ext>
              </a:extLst>
            </p:cNvPr>
            <p:cNvSpPr txBox="1">
              <a:spLocks noChangeArrowheads="1"/>
            </p:cNvSpPr>
            <p:nvPr/>
          </p:nvSpPr>
          <p:spPr bwMode="auto">
            <a:xfrm>
              <a:off x="2454275" y="304800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宋体" panose="02010600030101010101" pitchFamily="2" charset="-122"/>
                </a:rPr>
                <a:t>B</a:t>
              </a:r>
            </a:p>
          </p:txBody>
        </p:sp>
      </p:grpSp>
      <p:sp>
        <p:nvSpPr>
          <p:cNvPr id="4" name="灯片编号占位符 3">
            <a:extLst>
              <a:ext uri="{FF2B5EF4-FFF2-40B4-BE49-F238E27FC236}">
                <a16:creationId xmlns:a16="http://schemas.microsoft.com/office/drawing/2014/main" id="{FFE73222-A79C-A17F-8A87-15071B34CF3B}"/>
              </a:ext>
            </a:extLst>
          </p:cNvPr>
          <p:cNvSpPr>
            <a:spLocks noGrp="1"/>
          </p:cNvSpPr>
          <p:nvPr>
            <p:ph type="sldNum" sz="quarter" idx="12"/>
          </p:nvPr>
        </p:nvSpPr>
        <p:spPr/>
        <p:txBody>
          <a:bodyPr/>
          <a:lstStyle/>
          <a:p>
            <a:pPr>
              <a:defRPr/>
            </a:pPr>
            <a:fld id="{524B865F-46F8-4520-B0DD-31ED36EF62D9}" type="slidenum">
              <a:rPr lang="en-US" altLang="zh-CN" smtClean="0"/>
              <a:pPr>
                <a:defRPr/>
              </a:pPr>
              <a:t>3</a:t>
            </a:fld>
            <a:endParaRPr lang="en-US" altLang="zh-CN"/>
          </a:p>
        </p:txBody>
      </p:sp>
    </p:spTree>
  </p:cSld>
  <p:clrMapOvr>
    <a:masterClrMapping/>
  </p:clrMapOvr>
  <p:transition>
    <p:spli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6EE1B9-F842-44A0-9FE8-6763090FBA62}"/>
              </a:ext>
            </a:extLst>
          </p:cNvPr>
          <p:cNvSpPr>
            <a:spLocks noGrp="1"/>
          </p:cNvSpPr>
          <p:nvPr>
            <p:ph type="title"/>
          </p:nvPr>
        </p:nvSpPr>
        <p:spPr/>
        <p:txBody>
          <a:bodyPr/>
          <a:lstStyle/>
          <a:p>
            <a:r>
              <a:rPr lang="zh-CN" altLang="en-US" dirty="0"/>
              <a:t>集合的抽象数据类型</a:t>
            </a:r>
          </a:p>
        </p:txBody>
      </p:sp>
      <p:sp>
        <p:nvSpPr>
          <p:cNvPr id="3" name="内容占位符 2">
            <a:extLst>
              <a:ext uri="{FF2B5EF4-FFF2-40B4-BE49-F238E27FC236}">
                <a16:creationId xmlns:a16="http://schemas.microsoft.com/office/drawing/2014/main" id="{CA626A54-B68E-4289-8634-7CD4FB91C6DE}"/>
              </a:ext>
            </a:extLst>
          </p:cNvPr>
          <p:cNvSpPr>
            <a:spLocks noGrp="1"/>
          </p:cNvSpPr>
          <p:nvPr>
            <p:ph idx="1"/>
          </p:nvPr>
        </p:nvSpPr>
        <p:spPr>
          <a:xfrm>
            <a:off x="628650" y="1825624"/>
            <a:ext cx="8263830" cy="4843735"/>
          </a:xfrm>
        </p:spPr>
        <p:txBody>
          <a:bodyPr>
            <a:normAutofit fontScale="55000" lnSpcReduction="20000"/>
          </a:bodyPr>
          <a:lstStyle/>
          <a:p>
            <a:pPr marL="0" indent="0">
              <a:buNone/>
            </a:pPr>
            <a:r>
              <a:rPr lang="en-US" altLang="zh-CN" dirty="0"/>
              <a:t>template &lt;class T&gt; class Set { </a:t>
            </a:r>
            <a:endParaRPr lang="zh-CN" altLang="en-US" dirty="0"/>
          </a:p>
          <a:p>
            <a:pPr marL="0" indent="0">
              <a:buNone/>
            </a:pPr>
            <a:r>
              <a:rPr lang="en-US" altLang="zh-CN" dirty="0"/>
              <a:t>public:</a:t>
            </a:r>
          </a:p>
          <a:p>
            <a:pPr marL="0" indent="0">
              <a:buNone/>
            </a:pPr>
            <a:r>
              <a:rPr lang="en-US" altLang="zh-CN" dirty="0"/>
              <a:t>    virtual Set ( ) = 0;	</a:t>
            </a:r>
          </a:p>
          <a:p>
            <a:pPr marL="0" indent="0">
              <a:buNone/>
            </a:pPr>
            <a:r>
              <a:rPr lang="en-US" altLang="zh-CN" dirty="0"/>
              <a:t>    virtual </a:t>
            </a:r>
            <a:r>
              <a:rPr lang="en-US" altLang="zh-CN" dirty="0" err="1"/>
              <a:t>makeEmpty</a:t>
            </a:r>
            <a:r>
              <a:rPr lang="en-US" altLang="zh-CN" dirty="0"/>
              <a:t> ( ) = 0;</a:t>
            </a:r>
          </a:p>
          <a:p>
            <a:pPr marL="0" indent="0">
              <a:buNone/>
            </a:pPr>
            <a:r>
              <a:rPr lang="en-US" altLang="zh-CN" dirty="0"/>
              <a:t>    virtual bool </a:t>
            </a:r>
            <a:r>
              <a:rPr lang="en-US" altLang="zh-CN" dirty="0" err="1"/>
              <a:t>addMember</a:t>
            </a:r>
            <a:r>
              <a:rPr lang="en-US" altLang="zh-CN" dirty="0"/>
              <a:t> (const T x) = 0;</a:t>
            </a:r>
          </a:p>
          <a:p>
            <a:pPr marL="0" indent="0">
              <a:buNone/>
            </a:pPr>
            <a:r>
              <a:rPr lang="en-US" altLang="zh-CN" dirty="0"/>
              <a:t>    virtual bool </a:t>
            </a:r>
            <a:r>
              <a:rPr lang="en-US" altLang="zh-CN" dirty="0" err="1"/>
              <a:t>delMember</a:t>
            </a:r>
            <a:r>
              <a:rPr lang="en-US" altLang="zh-CN" dirty="0"/>
              <a:t> (const T x) = 0; </a:t>
            </a:r>
          </a:p>
          <a:p>
            <a:pPr marL="0" indent="0">
              <a:buNone/>
            </a:pPr>
            <a:r>
              <a:rPr lang="en-US" altLang="zh-CN" dirty="0"/>
              <a:t>    virtual Set&lt;T&gt; </a:t>
            </a:r>
            <a:r>
              <a:rPr lang="en-US" altLang="zh-CN" dirty="0" err="1"/>
              <a:t>IntersectWith</a:t>
            </a:r>
            <a:r>
              <a:rPr lang="en-US" altLang="zh-CN" dirty="0"/>
              <a:t> ( const Set&lt;T&gt; &amp;R) = 0;</a:t>
            </a:r>
          </a:p>
          <a:p>
            <a:pPr marL="0" indent="0">
              <a:buNone/>
            </a:pPr>
            <a:r>
              <a:rPr lang="en-US" altLang="zh-CN" dirty="0"/>
              <a:t>    virtual Set&lt;T&gt; </a:t>
            </a:r>
            <a:r>
              <a:rPr lang="en-US" altLang="zh-CN" dirty="0" err="1"/>
              <a:t>unionWith</a:t>
            </a:r>
            <a:r>
              <a:rPr lang="en-US" altLang="zh-CN" dirty="0"/>
              <a:t> (const Set&lt;T&gt;&amp; R) = 0;</a:t>
            </a:r>
          </a:p>
          <a:p>
            <a:pPr marL="0" indent="0">
              <a:buNone/>
            </a:pPr>
            <a:r>
              <a:rPr lang="en-US" altLang="zh-CN" dirty="0"/>
              <a:t>    virtual Set&lt;T&gt; </a:t>
            </a:r>
            <a:r>
              <a:rPr lang="en-US" altLang="zh-CN" dirty="0" err="1"/>
              <a:t>differenceFrom</a:t>
            </a:r>
            <a:r>
              <a:rPr lang="en-US" altLang="zh-CN" dirty="0"/>
              <a:t> (const Set&lt;T&gt;&amp; R) = 0;</a:t>
            </a:r>
          </a:p>
          <a:p>
            <a:pPr marL="0" indent="0">
              <a:buNone/>
            </a:pPr>
            <a:r>
              <a:rPr lang="en-US" altLang="zh-CN" dirty="0"/>
              <a:t>    virtual bool Contains (const T x) = 0;</a:t>
            </a:r>
          </a:p>
          <a:p>
            <a:pPr marL="0" indent="0">
              <a:buNone/>
            </a:pPr>
            <a:r>
              <a:rPr lang="en-US" altLang="zh-CN" dirty="0"/>
              <a:t>    virtual bool </a:t>
            </a:r>
            <a:r>
              <a:rPr lang="en-US" altLang="zh-CN" dirty="0" err="1"/>
              <a:t>subSet</a:t>
            </a:r>
            <a:r>
              <a:rPr lang="en-US" altLang="zh-CN" dirty="0"/>
              <a:t> (const Set&lt;T&gt;&amp; R) = 0;</a:t>
            </a:r>
          </a:p>
          <a:p>
            <a:pPr marL="0" indent="0">
              <a:buNone/>
            </a:pPr>
            <a:r>
              <a:rPr lang="en-US" altLang="zh-CN" dirty="0"/>
              <a:t>    virtual bool operator == (const Set&lt;T&gt;&amp; R) = 0;	</a:t>
            </a:r>
          </a:p>
          <a:p>
            <a:pPr marL="0" indent="0">
              <a:buNone/>
            </a:pPr>
            <a:r>
              <a:rPr lang="en-US" altLang="zh-CN" dirty="0"/>
              <a:t>}</a:t>
            </a:r>
          </a:p>
        </p:txBody>
      </p:sp>
      <p:sp>
        <p:nvSpPr>
          <p:cNvPr id="4" name="灯片编号占位符 3">
            <a:extLst>
              <a:ext uri="{FF2B5EF4-FFF2-40B4-BE49-F238E27FC236}">
                <a16:creationId xmlns:a16="http://schemas.microsoft.com/office/drawing/2014/main" id="{32E45E5D-7250-8EF0-50EB-E5856FA14C87}"/>
              </a:ext>
            </a:extLst>
          </p:cNvPr>
          <p:cNvSpPr>
            <a:spLocks noGrp="1"/>
          </p:cNvSpPr>
          <p:nvPr>
            <p:ph type="sldNum" sz="quarter" idx="12"/>
          </p:nvPr>
        </p:nvSpPr>
        <p:spPr/>
        <p:txBody>
          <a:bodyPr/>
          <a:lstStyle/>
          <a:p>
            <a:pPr>
              <a:defRPr/>
            </a:pPr>
            <a:fld id="{524B865F-46F8-4520-B0DD-31ED36EF62D9}" type="slidenum">
              <a:rPr lang="en-US" altLang="zh-CN" smtClean="0"/>
              <a:pPr>
                <a:defRPr/>
              </a:pPr>
              <a:t>4</a:t>
            </a:fld>
            <a:endParaRPr lang="en-US" altLang="zh-CN"/>
          </a:p>
        </p:txBody>
      </p:sp>
    </p:spTree>
  </p:cSld>
  <p:clrMapOvr>
    <a:masterClrMapping/>
  </p:clrMapOvr>
  <p:transition>
    <p:spli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F0420C-F742-4FDD-A30F-E28EB5A2F386}"/>
              </a:ext>
            </a:extLst>
          </p:cNvPr>
          <p:cNvSpPr>
            <a:spLocks noGrp="1"/>
          </p:cNvSpPr>
          <p:nvPr>
            <p:ph type="title"/>
          </p:nvPr>
        </p:nvSpPr>
        <p:spPr>
          <a:xfrm>
            <a:off x="628650" y="365125"/>
            <a:ext cx="8191822" cy="1325563"/>
          </a:xfrm>
        </p:spPr>
        <p:txBody>
          <a:bodyPr>
            <a:normAutofit/>
          </a:bodyPr>
          <a:lstStyle/>
          <a:p>
            <a:r>
              <a:rPr lang="en-US" altLang="zh-CN" dirty="0"/>
              <a:t>6.1.2 </a:t>
            </a:r>
            <a:r>
              <a:rPr lang="zh-CN" altLang="en-US" dirty="0"/>
              <a:t>用位向量实现集合抽象数据类型</a:t>
            </a:r>
          </a:p>
        </p:txBody>
      </p:sp>
      <p:sp>
        <p:nvSpPr>
          <p:cNvPr id="3" name="内容占位符 2">
            <a:extLst>
              <a:ext uri="{FF2B5EF4-FFF2-40B4-BE49-F238E27FC236}">
                <a16:creationId xmlns:a16="http://schemas.microsoft.com/office/drawing/2014/main" id="{35377B45-CF3C-4BC6-84EE-5C4DAB74B1B7}"/>
              </a:ext>
            </a:extLst>
          </p:cNvPr>
          <p:cNvSpPr>
            <a:spLocks noGrp="1"/>
          </p:cNvSpPr>
          <p:nvPr>
            <p:ph idx="1"/>
          </p:nvPr>
        </p:nvSpPr>
        <p:spPr/>
        <p:txBody>
          <a:bodyPr>
            <a:normAutofit/>
          </a:bodyPr>
          <a:lstStyle/>
          <a:p>
            <a:r>
              <a:rPr lang="zh-CN" altLang="en-US" dirty="0"/>
              <a:t>当全集合是由有限的可枚举的成员组成的集合时，可建立全集合成员与整数 </a:t>
            </a:r>
            <a:r>
              <a:rPr lang="en-US" altLang="zh-CN" dirty="0"/>
              <a:t>0, 1, 2, …</a:t>
            </a:r>
            <a:r>
              <a:rPr lang="zh-CN" altLang="en-US" dirty="0"/>
              <a:t>的一一对应关系，用位向量来表示该集合的子集。</a:t>
            </a:r>
          </a:p>
          <a:p>
            <a:pPr lvl="1"/>
            <a:r>
              <a:rPr lang="zh-CN" altLang="en-US" dirty="0"/>
              <a:t>例如全集合为</a:t>
            </a:r>
            <a:r>
              <a:rPr lang="en-US" altLang="zh-CN" dirty="0"/>
              <a:t>{ 0, 1, 2, 3 }</a:t>
            </a:r>
            <a:r>
              <a:rPr lang="zh-CN" altLang="en-US" dirty="0"/>
              <a:t>，则集合</a:t>
            </a:r>
            <a:r>
              <a:rPr lang="en-US" altLang="zh-CN" dirty="0"/>
              <a:t>{ 1, 2 }</a:t>
            </a:r>
            <a:r>
              <a:rPr lang="zh-CN" altLang="en-US" dirty="0"/>
              <a:t>可以用位向量</a:t>
            </a:r>
            <a:r>
              <a:rPr lang="en-US" altLang="zh-CN" dirty="0"/>
              <a:t>[0,1,1,0]</a:t>
            </a:r>
            <a:r>
              <a:rPr lang="zh-CN" altLang="en-US" dirty="0"/>
              <a:t>表示。</a:t>
            </a:r>
          </a:p>
        </p:txBody>
      </p:sp>
      <p:sp>
        <p:nvSpPr>
          <p:cNvPr id="4" name="灯片编号占位符 3">
            <a:extLst>
              <a:ext uri="{FF2B5EF4-FFF2-40B4-BE49-F238E27FC236}">
                <a16:creationId xmlns:a16="http://schemas.microsoft.com/office/drawing/2014/main" id="{9EC6B945-C407-4D89-A1EE-910890C4663F}"/>
              </a:ext>
            </a:extLst>
          </p:cNvPr>
          <p:cNvSpPr>
            <a:spLocks noGrp="1"/>
          </p:cNvSpPr>
          <p:nvPr>
            <p:ph type="sldNum" sz="quarter" idx="12"/>
          </p:nvPr>
        </p:nvSpPr>
        <p:spPr/>
        <p:txBody>
          <a:bodyPr/>
          <a:lstStyle/>
          <a:p>
            <a:pPr>
              <a:defRPr/>
            </a:pPr>
            <a:fld id="{524B865F-46F8-4520-B0DD-31ED36EF62D9}" type="slidenum">
              <a:rPr lang="en-US" altLang="zh-CN" smtClean="0"/>
              <a:pPr>
                <a:defRPr/>
              </a:pPr>
              <a:t>5</a:t>
            </a:fld>
            <a:endParaRPr lang="en-US" altLang="zh-CN"/>
          </a:p>
        </p:txBody>
      </p:sp>
    </p:spTree>
    <p:extLst>
      <p:ext uri="{BB962C8B-B14F-4D97-AF65-F5344CB8AC3E}">
        <p14:creationId xmlns:p14="http://schemas.microsoft.com/office/powerpoint/2010/main" val="1109955559"/>
      </p:ext>
    </p:extLst>
  </p:cSld>
  <p:clrMapOvr>
    <a:masterClrMapping/>
  </p:clrMapOvr>
  <p:transition>
    <p:spli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882D74E-D8FC-4276-AF09-905C60080783}"/>
              </a:ext>
            </a:extLst>
          </p:cNvPr>
          <p:cNvSpPr>
            <a:spLocks noGrp="1"/>
          </p:cNvSpPr>
          <p:nvPr>
            <p:ph sz="half" idx="1"/>
          </p:nvPr>
        </p:nvSpPr>
        <p:spPr>
          <a:xfrm>
            <a:off x="107504" y="406205"/>
            <a:ext cx="4104456" cy="5772299"/>
          </a:xfrm>
          <a:solidFill>
            <a:schemeClr val="bg2">
              <a:lumMod val="90000"/>
            </a:schemeClr>
          </a:solidFill>
        </p:spPr>
        <p:txBody>
          <a:bodyPr>
            <a:normAutofit fontScale="77500" lnSpcReduction="20000"/>
          </a:bodyPr>
          <a:lstStyle/>
          <a:p>
            <a:pPr marL="0" indent="0">
              <a:buNone/>
            </a:pPr>
            <a:r>
              <a:rPr lang="en-US" altLang="zh-CN" dirty="0"/>
              <a:t>//</a:t>
            </a:r>
            <a:r>
              <a:rPr lang="zh-CN" altLang="en-US" dirty="0"/>
              <a:t>用位向量表示集合的类定义</a:t>
            </a:r>
          </a:p>
          <a:p>
            <a:pPr marL="0" indent="0">
              <a:buNone/>
            </a:pPr>
            <a:r>
              <a:rPr lang="en-US" altLang="zh-CN" dirty="0"/>
              <a:t>#include &lt;</a:t>
            </a:r>
            <a:r>
              <a:rPr lang="en-US" altLang="zh-CN" dirty="0" err="1"/>
              <a:t>assert.h</a:t>
            </a:r>
            <a:r>
              <a:rPr lang="en-US" altLang="zh-CN" dirty="0"/>
              <a:t>&gt;</a:t>
            </a:r>
          </a:p>
          <a:p>
            <a:pPr marL="0" indent="0">
              <a:buNone/>
            </a:pPr>
            <a:r>
              <a:rPr lang="en-US" altLang="zh-CN" dirty="0"/>
              <a:t>#include &lt;iostream&gt;</a:t>
            </a:r>
          </a:p>
          <a:p>
            <a:pPr marL="0" indent="0">
              <a:buNone/>
            </a:pPr>
            <a:r>
              <a:rPr lang="en-US" altLang="zh-CN" dirty="0"/>
              <a:t>#define </a:t>
            </a:r>
            <a:r>
              <a:rPr lang="en-US" altLang="zh-CN" dirty="0" err="1"/>
              <a:t>defaultSize</a:t>
            </a:r>
            <a:r>
              <a:rPr lang="en-US" altLang="zh-CN" dirty="0"/>
              <a:t> 20</a:t>
            </a:r>
          </a:p>
          <a:p>
            <a:pPr marL="0" indent="0">
              <a:buNone/>
            </a:pPr>
            <a:r>
              <a:rPr lang="en-US" altLang="zh-CN" dirty="0"/>
              <a:t>const int </a:t>
            </a:r>
            <a:r>
              <a:rPr lang="en-US" altLang="zh-CN" dirty="0" err="1"/>
              <a:t>DefaultSize</a:t>
            </a:r>
            <a:r>
              <a:rPr lang="en-US" altLang="zh-CN" dirty="0"/>
              <a:t> = 100;</a:t>
            </a:r>
          </a:p>
          <a:p>
            <a:pPr marL="0" indent="0">
              <a:buNone/>
            </a:pPr>
            <a:r>
              <a:rPr lang="en-US" altLang="zh-CN" dirty="0"/>
              <a:t>class </a:t>
            </a:r>
            <a:r>
              <a:rPr lang="en-US" altLang="zh-CN" dirty="0" err="1"/>
              <a:t>bitSet</a:t>
            </a:r>
            <a:r>
              <a:rPr lang="en-US" altLang="zh-CN" dirty="0"/>
              <a:t> {</a:t>
            </a:r>
          </a:p>
          <a:p>
            <a:pPr marL="0" indent="0">
              <a:buNone/>
            </a:pPr>
            <a:r>
              <a:rPr lang="en-US" altLang="zh-CN" dirty="0"/>
              <a:t>private:</a:t>
            </a:r>
          </a:p>
          <a:p>
            <a:pPr marL="0" indent="0">
              <a:buNone/>
            </a:pPr>
            <a:r>
              <a:rPr lang="en-US" altLang="zh-CN" dirty="0"/>
              <a:t>    int * </a:t>
            </a:r>
            <a:r>
              <a:rPr lang="en-US" altLang="zh-CN" dirty="0" err="1"/>
              <a:t>bitVector</a:t>
            </a:r>
            <a:r>
              <a:rPr lang="en-US" altLang="zh-CN" dirty="0"/>
              <a:t>;   </a:t>
            </a:r>
          </a:p>
          <a:p>
            <a:pPr marL="0" indent="0">
              <a:buNone/>
            </a:pPr>
            <a:r>
              <a:rPr lang="en-US" altLang="zh-CN" dirty="0"/>
              <a:t>         //</a:t>
            </a:r>
            <a:r>
              <a:rPr lang="zh-CN" altLang="en-US" dirty="0"/>
              <a:t>集合的位向量数组</a:t>
            </a:r>
          </a:p>
          <a:p>
            <a:pPr marL="0" indent="0">
              <a:buNone/>
            </a:pPr>
            <a:r>
              <a:rPr lang="zh-CN" altLang="en-US" dirty="0"/>
              <a:t>    </a:t>
            </a:r>
            <a:r>
              <a:rPr lang="en-US" altLang="zh-CN" dirty="0"/>
              <a:t>int </a:t>
            </a:r>
            <a:r>
              <a:rPr lang="en-US" altLang="zh-CN" dirty="0" err="1"/>
              <a:t>vectorSize</a:t>
            </a:r>
            <a:r>
              <a:rPr lang="en-US" altLang="zh-CN" dirty="0"/>
              <a:t>;          //</a:t>
            </a:r>
            <a:r>
              <a:rPr lang="zh-CN" altLang="en-US" dirty="0"/>
              <a:t>位数组大小</a:t>
            </a:r>
          </a:p>
          <a:p>
            <a:pPr marL="0" indent="0">
              <a:buNone/>
            </a:pPr>
            <a:r>
              <a:rPr lang="zh-CN" altLang="en-US" dirty="0"/>
              <a:t>    </a:t>
            </a:r>
            <a:r>
              <a:rPr lang="en-US" altLang="zh-CN" dirty="0"/>
              <a:t>int </a:t>
            </a:r>
            <a:r>
              <a:rPr lang="en-US" altLang="zh-CN" dirty="0" err="1"/>
              <a:t>setSize</a:t>
            </a:r>
            <a:r>
              <a:rPr lang="en-US" altLang="zh-CN" dirty="0"/>
              <a:t>;               //</a:t>
            </a:r>
            <a:r>
              <a:rPr lang="zh-CN" altLang="en-US" dirty="0"/>
              <a:t>集合大小</a:t>
            </a:r>
          </a:p>
          <a:p>
            <a:pPr marL="0" indent="0">
              <a:buNone/>
            </a:pPr>
            <a:r>
              <a:rPr lang="en-US" altLang="zh-CN" dirty="0"/>
              <a:t>public:</a:t>
            </a:r>
          </a:p>
          <a:p>
            <a:pPr marL="0" indent="0">
              <a:buNone/>
            </a:pPr>
            <a:r>
              <a:rPr lang="en-US" altLang="zh-CN" dirty="0"/>
              <a:t>    </a:t>
            </a:r>
            <a:r>
              <a:rPr lang="en-US" altLang="zh-CN" dirty="0" err="1"/>
              <a:t>bitSet</a:t>
            </a:r>
            <a:r>
              <a:rPr lang="en-US" altLang="zh-CN" dirty="0"/>
              <a:t> ( int </a:t>
            </a:r>
            <a:r>
              <a:rPr lang="en-US" altLang="zh-CN" dirty="0" err="1"/>
              <a:t>sz</a:t>
            </a:r>
            <a:r>
              <a:rPr lang="en-US" altLang="zh-CN" dirty="0"/>
              <a:t> = </a:t>
            </a:r>
            <a:r>
              <a:rPr lang="en-US" altLang="zh-CN" dirty="0" err="1"/>
              <a:t>DefaultSize</a:t>
            </a:r>
            <a:r>
              <a:rPr lang="en-US" altLang="zh-CN" dirty="0"/>
              <a:t> );</a:t>
            </a:r>
          </a:p>
          <a:p>
            <a:pPr marL="0" indent="0">
              <a:buNone/>
            </a:pPr>
            <a:r>
              <a:rPr lang="en-US" altLang="zh-CN" dirty="0"/>
              <a:t>    </a:t>
            </a:r>
            <a:r>
              <a:rPr lang="en-US" altLang="zh-CN" dirty="0" err="1"/>
              <a:t>bitSet</a:t>
            </a:r>
            <a:r>
              <a:rPr lang="en-US" altLang="zh-CN" dirty="0"/>
              <a:t> ( const </a:t>
            </a:r>
            <a:r>
              <a:rPr lang="en-US" altLang="zh-CN" dirty="0" err="1"/>
              <a:t>bitSet</a:t>
            </a:r>
            <a:r>
              <a:rPr lang="en-US" altLang="zh-CN" dirty="0"/>
              <a:t>&amp; R );</a:t>
            </a:r>
          </a:p>
          <a:p>
            <a:pPr marL="0" indent="0">
              <a:buNone/>
            </a:pPr>
            <a:r>
              <a:rPr lang="en-US" altLang="zh-CN" dirty="0"/>
              <a:t>    ~</a:t>
            </a:r>
            <a:r>
              <a:rPr lang="en-US" altLang="zh-CN" dirty="0" err="1"/>
              <a:t>bitSet</a:t>
            </a:r>
            <a:r>
              <a:rPr lang="en-US" altLang="zh-CN" dirty="0"/>
              <a:t> ( ) { delete [ ] </a:t>
            </a:r>
            <a:r>
              <a:rPr lang="en-US" altLang="zh-CN" dirty="0" err="1"/>
              <a:t>bitVector</a:t>
            </a:r>
            <a:r>
              <a:rPr lang="en-US" altLang="zh-CN" dirty="0"/>
              <a:t>; }    </a:t>
            </a:r>
          </a:p>
          <a:p>
            <a:pPr marL="0" indent="0">
              <a:buNone/>
            </a:pPr>
            <a:r>
              <a:rPr lang="en-US" altLang="zh-CN" dirty="0"/>
              <a:t>    void </a:t>
            </a:r>
            <a:r>
              <a:rPr lang="en-US" altLang="zh-CN" dirty="0" err="1"/>
              <a:t>makeEmpty</a:t>
            </a:r>
            <a:r>
              <a:rPr lang="en-US" altLang="zh-CN" dirty="0"/>
              <a:t> ( )   {     //</a:t>
            </a:r>
            <a:r>
              <a:rPr lang="zh-CN" altLang="en-US" dirty="0"/>
              <a:t>置空</a:t>
            </a:r>
          </a:p>
          <a:p>
            <a:pPr marL="0" indent="0">
              <a:buNone/>
            </a:pPr>
            <a:r>
              <a:rPr lang="zh-CN" altLang="en-US" dirty="0"/>
              <a:t>   </a:t>
            </a:r>
            <a:r>
              <a:rPr lang="en-US" altLang="zh-CN" dirty="0"/>
              <a:t>    for ( int </a:t>
            </a:r>
            <a:r>
              <a:rPr lang="en-US" altLang="zh-CN" dirty="0" err="1"/>
              <a:t>i</a:t>
            </a:r>
            <a:r>
              <a:rPr lang="en-US" altLang="zh-CN" dirty="0"/>
              <a:t> = 0; </a:t>
            </a:r>
            <a:r>
              <a:rPr lang="en-US" altLang="zh-CN" dirty="0" err="1"/>
              <a:t>i</a:t>
            </a:r>
            <a:r>
              <a:rPr lang="en-US" altLang="zh-CN" dirty="0"/>
              <a:t> &lt; </a:t>
            </a:r>
            <a:r>
              <a:rPr lang="en-US" altLang="zh-CN" dirty="0" err="1"/>
              <a:t>vectorSize</a:t>
            </a:r>
            <a:r>
              <a:rPr lang="en-US" altLang="zh-CN" dirty="0"/>
              <a:t>; </a:t>
            </a:r>
            <a:r>
              <a:rPr lang="en-US" altLang="zh-CN" dirty="0" err="1"/>
              <a:t>i</a:t>
            </a:r>
            <a:r>
              <a:rPr lang="en-US" altLang="zh-CN" dirty="0"/>
              <a:t>++ ) </a:t>
            </a:r>
          </a:p>
          <a:p>
            <a:pPr marL="0" indent="0">
              <a:buNone/>
            </a:pPr>
            <a:r>
              <a:rPr lang="en-US" altLang="zh-CN" dirty="0"/>
              <a:t>             </a:t>
            </a:r>
            <a:r>
              <a:rPr lang="en-US" altLang="zh-CN" dirty="0" err="1"/>
              <a:t>bitVector</a:t>
            </a:r>
            <a:r>
              <a:rPr lang="en-US" altLang="zh-CN" dirty="0"/>
              <a:t>[</a:t>
            </a:r>
            <a:r>
              <a:rPr lang="en-US" altLang="zh-CN" dirty="0" err="1"/>
              <a:t>i</a:t>
            </a:r>
            <a:r>
              <a:rPr lang="en-US" altLang="zh-CN" dirty="0"/>
              <a:t>] = 0; </a:t>
            </a:r>
          </a:p>
          <a:p>
            <a:pPr marL="0" indent="0">
              <a:buNone/>
            </a:pPr>
            <a:r>
              <a:rPr lang="en-US" altLang="zh-CN" dirty="0"/>
              <a:t>    }</a:t>
            </a:r>
          </a:p>
          <a:p>
            <a:pPr marL="0" indent="0">
              <a:buNone/>
            </a:pPr>
            <a:endParaRPr lang="zh-CN" altLang="en-US" dirty="0"/>
          </a:p>
        </p:txBody>
      </p:sp>
      <p:sp>
        <p:nvSpPr>
          <p:cNvPr id="5" name="内容占位符 4">
            <a:extLst>
              <a:ext uri="{FF2B5EF4-FFF2-40B4-BE49-F238E27FC236}">
                <a16:creationId xmlns:a16="http://schemas.microsoft.com/office/drawing/2014/main" id="{7A5E068F-FB7B-4136-B2A4-3EB86144D0ED}"/>
              </a:ext>
            </a:extLst>
          </p:cNvPr>
          <p:cNvSpPr>
            <a:spLocks noGrp="1"/>
          </p:cNvSpPr>
          <p:nvPr>
            <p:ph sz="half" idx="2"/>
          </p:nvPr>
        </p:nvSpPr>
        <p:spPr>
          <a:xfrm>
            <a:off x="4283968" y="404664"/>
            <a:ext cx="4752528" cy="5772299"/>
          </a:xfrm>
          <a:solidFill>
            <a:schemeClr val="bg2">
              <a:lumMod val="90000"/>
            </a:schemeClr>
          </a:solidFill>
        </p:spPr>
        <p:txBody>
          <a:bodyPr>
            <a:normAutofit fontScale="77500" lnSpcReduction="20000"/>
          </a:bodyPr>
          <a:lstStyle/>
          <a:p>
            <a:pPr marL="0" indent="0">
              <a:buNone/>
            </a:pPr>
            <a:r>
              <a:rPr lang="en-US" altLang="zh-CN" dirty="0"/>
              <a:t>    int </a:t>
            </a:r>
            <a:r>
              <a:rPr lang="en-US" altLang="zh-CN" dirty="0" err="1"/>
              <a:t>getMember</a:t>
            </a:r>
            <a:r>
              <a:rPr lang="en-US" altLang="zh-CN" dirty="0"/>
              <a:t> ( const int x );   //</a:t>
            </a:r>
            <a:r>
              <a:rPr lang="zh-CN" altLang="en-US" dirty="0"/>
              <a:t>取集合元素</a:t>
            </a:r>
            <a:r>
              <a:rPr lang="en-US" altLang="zh-CN" dirty="0"/>
              <a:t>x</a:t>
            </a:r>
          </a:p>
          <a:p>
            <a:pPr marL="0" indent="0">
              <a:buNone/>
            </a:pPr>
            <a:r>
              <a:rPr lang="en-US" altLang="zh-CN" dirty="0"/>
              <a:t>    void </a:t>
            </a:r>
            <a:r>
              <a:rPr lang="en-US" altLang="zh-CN" dirty="0" err="1"/>
              <a:t>putMember</a:t>
            </a:r>
            <a:r>
              <a:rPr lang="en-US" altLang="zh-CN" dirty="0"/>
              <a:t> ( const int x, int v );     </a:t>
            </a:r>
          </a:p>
          <a:p>
            <a:pPr marL="0" indent="0">
              <a:buNone/>
            </a:pPr>
            <a:r>
              <a:rPr lang="en-US" altLang="zh-CN" dirty="0"/>
              <a:t>         //</a:t>
            </a:r>
            <a:r>
              <a:rPr lang="zh-CN" altLang="en-US" dirty="0"/>
              <a:t>把值</a:t>
            </a:r>
            <a:r>
              <a:rPr lang="en-US" altLang="zh-CN" dirty="0"/>
              <a:t>v</a:t>
            </a:r>
            <a:r>
              <a:rPr lang="zh-CN" altLang="en-US" dirty="0"/>
              <a:t>送入集合元素</a:t>
            </a:r>
            <a:r>
              <a:rPr lang="en-US" altLang="zh-CN" dirty="0"/>
              <a:t>x    </a:t>
            </a:r>
          </a:p>
          <a:p>
            <a:pPr marL="0" indent="0">
              <a:buNone/>
            </a:pPr>
            <a:r>
              <a:rPr lang="en-US" altLang="zh-CN" dirty="0"/>
              <a:t>    bool </a:t>
            </a:r>
            <a:r>
              <a:rPr lang="en-US" altLang="zh-CN" dirty="0" err="1"/>
              <a:t>addMember</a:t>
            </a:r>
            <a:r>
              <a:rPr lang="en-US" altLang="zh-CN" dirty="0"/>
              <a:t> ( const int x );    //</a:t>
            </a:r>
            <a:r>
              <a:rPr lang="zh-CN" altLang="en-US" dirty="0"/>
              <a:t>加</a:t>
            </a:r>
            <a:endParaRPr lang="en-US" altLang="zh-CN" dirty="0"/>
          </a:p>
          <a:p>
            <a:pPr marL="0" indent="0">
              <a:buNone/>
            </a:pPr>
            <a:r>
              <a:rPr lang="en-US" altLang="zh-CN" dirty="0"/>
              <a:t>    bool </a:t>
            </a:r>
            <a:r>
              <a:rPr lang="en-US" altLang="zh-CN" dirty="0" err="1"/>
              <a:t>delMember</a:t>
            </a:r>
            <a:r>
              <a:rPr lang="en-US" altLang="zh-CN" dirty="0"/>
              <a:t> ( const int x );     //</a:t>
            </a:r>
            <a:r>
              <a:rPr lang="zh-CN" altLang="en-US" dirty="0"/>
              <a:t>删</a:t>
            </a:r>
          </a:p>
          <a:p>
            <a:pPr marL="0" indent="0">
              <a:buNone/>
            </a:pPr>
            <a:r>
              <a:rPr lang="zh-CN" altLang="en-US" dirty="0"/>
              <a:t>    </a:t>
            </a:r>
            <a:r>
              <a:rPr lang="en-US" altLang="zh-CN" dirty="0" err="1"/>
              <a:t>bitSet</a:t>
            </a:r>
            <a:r>
              <a:rPr lang="en-US" altLang="zh-CN" dirty="0"/>
              <a:t>&amp; operator = ( const </a:t>
            </a:r>
            <a:r>
              <a:rPr lang="en-US" altLang="zh-CN" dirty="0" err="1"/>
              <a:t>bitSet</a:t>
            </a:r>
            <a:r>
              <a:rPr lang="en-US" altLang="zh-CN" dirty="0"/>
              <a:t>&amp; R );   </a:t>
            </a:r>
          </a:p>
          <a:p>
            <a:pPr marL="0" indent="0">
              <a:buNone/>
            </a:pPr>
            <a:r>
              <a:rPr lang="en-US" altLang="zh-CN" dirty="0"/>
              <a:t>        //</a:t>
            </a:r>
            <a:r>
              <a:rPr lang="zh-CN" altLang="en-US" dirty="0"/>
              <a:t>赋值</a:t>
            </a:r>
          </a:p>
          <a:p>
            <a:pPr marL="0" indent="0">
              <a:buNone/>
            </a:pPr>
            <a:r>
              <a:rPr lang="zh-CN" altLang="en-US" dirty="0"/>
              <a:t>    </a:t>
            </a:r>
            <a:r>
              <a:rPr lang="en-US" altLang="zh-CN" dirty="0" err="1"/>
              <a:t>bitSet</a:t>
            </a:r>
            <a:r>
              <a:rPr lang="en-US" altLang="zh-CN" dirty="0"/>
              <a:t> operator + ( const </a:t>
            </a:r>
            <a:r>
              <a:rPr lang="en-US" altLang="zh-CN" dirty="0" err="1"/>
              <a:t>bitSet</a:t>
            </a:r>
            <a:r>
              <a:rPr lang="en-US" altLang="zh-CN" dirty="0"/>
              <a:t>&amp; R ); //</a:t>
            </a:r>
            <a:r>
              <a:rPr lang="zh-CN" altLang="en-US" dirty="0"/>
              <a:t>并   </a:t>
            </a:r>
          </a:p>
          <a:p>
            <a:pPr marL="0" indent="0">
              <a:buNone/>
            </a:pPr>
            <a:r>
              <a:rPr lang="zh-CN" altLang="en-US" dirty="0"/>
              <a:t>    </a:t>
            </a:r>
            <a:r>
              <a:rPr lang="en-US" altLang="zh-CN" dirty="0" err="1"/>
              <a:t>bitSet</a:t>
            </a:r>
            <a:r>
              <a:rPr lang="en-US" altLang="zh-CN" dirty="0"/>
              <a:t> operator * ( const </a:t>
            </a:r>
            <a:r>
              <a:rPr lang="en-US" altLang="zh-CN" dirty="0" err="1"/>
              <a:t>bitSet</a:t>
            </a:r>
            <a:r>
              <a:rPr lang="en-US" altLang="zh-CN" dirty="0"/>
              <a:t>&amp; R );  //</a:t>
            </a:r>
            <a:r>
              <a:rPr lang="zh-CN" altLang="en-US" dirty="0"/>
              <a:t>交</a:t>
            </a:r>
          </a:p>
          <a:p>
            <a:pPr marL="0" indent="0">
              <a:buNone/>
            </a:pPr>
            <a:r>
              <a:rPr lang="zh-CN" altLang="en-US" dirty="0"/>
              <a:t>    </a:t>
            </a:r>
            <a:r>
              <a:rPr lang="en-US" altLang="zh-CN" dirty="0" err="1"/>
              <a:t>bitSet</a:t>
            </a:r>
            <a:r>
              <a:rPr lang="en-US" altLang="zh-CN" dirty="0"/>
              <a:t> operator - ( const </a:t>
            </a:r>
            <a:r>
              <a:rPr lang="en-US" altLang="zh-CN" dirty="0" err="1"/>
              <a:t>bitSet</a:t>
            </a:r>
            <a:r>
              <a:rPr lang="en-US" altLang="zh-CN" dirty="0"/>
              <a:t>&amp; R );  //</a:t>
            </a:r>
            <a:r>
              <a:rPr lang="zh-CN" altLang="en-US" dirty="0"/>
              <a:t>差</a:t>
            </a:r>
          </a:p>
          <a:p>
            <a:pPr marL="0" indent="0">
              <a:buNone/>
            </a:pPr>
            <a:r>
              <a:rPr lang="zh-CN" altLang="en-US" dirty="0"/>
              <a:t>    </a:t>
            </a:r>
            <a:r>
              <a:rPr lang="en-US" altLang="zh-CN" dirty="0"/>
              <a:t>bool Contains ( const int x );     //</a:t>
            </a:r>
            <a:r>
              <a:rPr lang="zh-CN" altLang="en-US" dirty="0"/>
              <a:t>判存在</a:t>
            </a:r>
          </a:p>
          <a:p>
            <a:pPr marL="0" indent="0">
              <a:buNone/>
            </a:pPr>
            <a:r>
              <a:rPr lang="zh-CN" altLang="en-US" dirty="0"/>
              <a:t>    </a:t>
            </a:r>
            <a:r>
              <a:rPr lang="en-US" altLang="zh-CN" dirty="0"/>
              <a:t>bool </a:t>
            </a:r>
            <a:r>
              <a:rPr lang="en-US" altLang="zh-CN" dirty="0" err="1"/>
              <a:t>subSet</a:t>
            </a:r>
            <a:r>
              <a:rPr lang="en-US" altLang="zh-CN" dirty="0"/>
              <a:t> ( </a:t>
            </a:r>
            <a:r>
              <a:rPr lang="en-US" altLang="zh-CN" dirty="0" err="1"/>
              <a:t>bitSet</a:t>
            </a:r>
            <a:r>
              <a:rPr lang="en-US" altLang="zh-CN" dirty="0"/>
              <a:t>&amp; R );  //</a:t>
            </a:r>
            <a:r>
              <a:rPr lang="zh-CN" altLang="en-US" dirty="0"/>
              <a:t>判子集</a:t>
            </a:r>
          </a:p>
          <a:p>
            <a:pPr marL="0" indent="0">
              <a:buNone/>
            </a:pPr>
            <a:r>
              <a:rPr lang="zh-CN" altLang="en-US" dirty="0"/>
              <a:t>    </a:t>
            </a:r>
            <a:r>
              <a:rPr lang="en-US" altLang="zh-CN" dirty="0"/>
              <a:t>bool operator == ( </a:t>
            </a:r>
            <a:r>
              <a:rPr lang="en-US" altLang="zh-CN" dirty="0" err="1"/>
              <a:t>bitSet</a:t>
            </a:r>
            <a:r>
              <a:rPr lang="en-US" altLang="zh-CN" dirty="0"/>
              <a:t>&amp; R );       </a:t>
            </a:r>
          </a:p>
          <a:p>
            <a:pPr marL="0" indent="0">
              <a:buNone/>
            </a:pPr>
            <a:r>
              <a:rPr lang="en-US" altLang="zh-CN" dirty="0"/>
              <a:t>         //</a:t>
            </a:r>
            <a:r>
              <a:rPr lang="zh-CN" altLang="en-US" dirty="0"/>
              <a:t>判相等</a:t>
            </a:r>
          </a:p>
          <a:p>
            <a:pPr marL="0" indent="0">
              <a:buNone/>
            </a:pPr>
            <a:r>
              <a:rPr lang="zh-CN" altLang="en-US" dirty="0"/>
              <a:t>    </a:t>
            </a:r>
            <a:r>
              <a:rPr lang="en-US" altLang="zh-CN" dirty="0"/>
              <a:t>friend </a:t>
            </a:r>
            <a:r>
              <a:rPr lang="en-US" altLang="zh-CN" dirty="0" err="1"/>
              <a:t>istream</a:t>
            </a:r>
            <a:r>
              <a:rPr lang="en-US" altLang="zh-CN" dirty="0"/>
              <a:t>&amp; operator &gt;&gt; (</a:t>
            </a:r>
            <a:r>
              <a:rPr lang="en-US" altLang="zh-CN" dirty="0" err="1"/>
              <a:t>istream</a:t>
            </a:r>
            <a:r>
              <a:rPr lang="en-US" altLang="zh-CN" dirty="0"/>
              <a:t>&amp; in, </a:t>
            </a:r>
            <a:r>
              <a:rPr lang="en-US" altLang="zh-CN" dirty="0" err="1"/>
              <a:t>bitSet</a:t>
            </a:r>
            <a:r>
              <a:rPr lang="en-US" altLang="zh-CN" dirty="0"/>
              <a:t>&amp; R);</a:t>
            </a:r>
          </a:p>
          <a:p>
            <a:pPr marL="0" indent="0">
              <a:buNone/>
            </a:pPr>
            <a:r>
              <a:rPr lang="en-US" altLang="zh-CN" dirty="0"/>
              <a:t>    friend </a:t>
            </a:r>
            <a:r>
              <a:rPr lang="en-US" altLang="zh-CN" dirty="0" err="1"/>
              <a:t>ostream</a:t>
            </a:r>
            <a:r>
              <a:rPr lang="en-US" altLang="zh-CN" dirty="0"/>
              <a:t>&amp; operator &lt;&lt; (</a:t>
            </a:r>
            <a:r>
              <a:rPr lang="en-US" altLang="zh-CN" dirty="0" err="1"/>
              <a:t>ostream</a:t>
            </a:r>
            <a:r>
              <a:rPr lang="en-US" altLang="zh-CN" dirty="0"/>
              <a:t>&amp; out, </a:t>
            </a:r>
            <a:r>
              <a:rPr lang="en-US" altLang="zh-CN" dirty="0" err="1"/>
              <a:t>bitSet</a:t>
            </a:r>
            <a:r>
              <a:rPr lang="en-US" altLang="zh-CN" dirty="0"/>
              <a:t>&amp; R);</a:t>
            </a:r>
          </a:p>
          <a:p>
            <a:pPr marL="0" indent="0">
              <a:buNone/>
            </a:pPr>
            <a:r>
              <a:rPr lang="en-US" altLang="zh-CN" dirty="0"/>
              <a:t>};</a:t>
            </a:r>
            <a:endParaRPr lang="zh-CN" altLang="en-US" dirty="0"/>
          </a:p>
        </p:txBody>
      </p:sp>
      <p:sp>
        <p:nvSpPr>
          <p:cNvPr id="2" name="灯片编号占位符 1">
            <a:extLst>
              <a:ext uri="{FF2B5EF4-FFF2-40B4-BE49-F238E27FC236}">
                <a16:creationId xmlns:a16="http://schemas.microsoft.com/office/drawing/2014/main" id="{6DB86834-BAF1-B193-20D8-3FE1E478CF73}"/>
              </a:ext>
            </a:extLst>
          </p:cNvPr>
          <p:cNvSpPr>
            <a:spLocks noGrp="1"/>
          </p:cNvSpPr>
          <p:nvPr>
            <p:ph type="sldNum" sz="quarter" idx="12"/>
          </p:nvPr>
        </p:nvSpPr>
        <p:spPr/>
        <p:txBody>
          <a:bodyPr/>
          <a:lstStyle/>
          <a:p>
            <a:pPr>
              <a:defRPr/>
            </a:pPr>
            <a:fld id="{5584AA31-25D5-47AC-9EDA-76526E3BFA3C}" type="slidenum">
              <a:rPr lang="en-US" altLang="zh-CN" smtClean="0"/>
              <a:pPr>
                <a:defRPr/>
              </a:pPr>
              <a:t>6</a:t>
            </a:fld>
            <a:endParaRPr lang="en-US" altLang="zh-CN"/>
          </a:p>
        </p:txBody>
      </p:sp>
    </p:spTree>
  </p:cSld>
  <p:clrMapOvr>
    <a:masterClrMapping/>
  </p:clrMapOvr>
  <p:transition>
    <p:spli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FAAA1E-ECAF-41D3-A845-6B7FE5A31228}"/>
              </a:ext>
            </a:extLst>
          </p:cNvPr>
          <p:cNvSpPr>
            <a:spLocks noGrp="1"/>
          </p:cNvSpPr>
          <p:nvPr>
            <p:ph type="title"/>
          </p:nvPr>
        </p:nvSpPr>
        <p:spPr/>
        <p:txBody>
          <a:bodyPr>
            <a:normAutofit/>
          </a:bodyPr>
          <a:lstStyle/>
          <a:p>
            <a:r>
              <a:rPr lang="zh-CN" altLang="en-US" dirty="0"/>
              <a:t>用位向量实现集合时部分操作的实现</a:t>
            </a:r>
          </a:p>
        </p:txBody>
      </p:sp>
      <p:sp>
        <p:nvSpPr>
          <p:cNvPr id="3" name="内容占位符 2">
            <a:extLst>
              <a:ext uri="{FF2B5EF4-FFF2-40B4-BE49-F238E27FC236}">
                <a16:creationId xmlns:a16="http://schemas.microsoft.com/office/drawing/2014/main" id="{2D749747-28B6-421C-89AE-CA77ABC0DD08}"/>
              </a:ext>
            </a:extLst>
          </p:cNvPr>
          <p:cNvSpPr>
            <a:spLocks noGrp="1"/>
          </p:cNvSpPr>
          <p:nvPr>
            <p:ph idx="1"/>
          </p:nvPr>
        </p:nvSpPr>
        <p:spPr>
          <a:xfrm>
            <a:off x="628650" y="1825625"/>
            <a:ext cx="8263830" cy="4351338"/>
          </a:xfrm>
        </p:spPr>
        <p:txBody>
          <a:bodyPr>
            <a:normAutofit fontScale="85000" lnSpcReduction="20000"/>
          </a:bodyPr>
          <a:lstStyle/>
          <a:p>
            <a:pPr marL="0" indent="0">
              <a:buNone/>
            </a:pPr>
            <a:r>
              <a:rPr lang="en-US" altLang="zh-CN" dirty="0" err="1"/>
              <a:t>bitSet</a:t>
            </a:r>
            <a:r>
              <a:rPr lang="en-US" altLang="zh-CN" dirty="0"/>
              <a:t> :: </a:t>
            </a:r>
            <a:r>
              <a:rPr lang="en-US" altLang="zh-CN" dirty="0" err="1"/>
              <a:t>bitSet</a:t>
            </a:r>
            <a:r>
              <a:rPr lang="en-US" altLang="zh-CN" dirty="0"/>
              <a:t> (int </a:t>
            </a:r>
            <a:r>
              <a:rPr lang="en-US" altLang="zh-CN" dirty="0" err="1"/>
              <a:t>sz</a:t>
            </a:r>
            <a:r>
              <a:rPr lang="en-US" altLang="zh-CN" dirty="0"/>
              <a:t>) : </a:t>
            </a:r>
            <a:r>
              <a:rPr lang="en-US" altLang="zh-CN" dirty="0" err="1"/>
              <a:t>setSize</a:t>
            </a:r>
            <a:r>
              <a:rPr lang="en-US" altLang="zh-CN" dirty="0"/>
              <a:t>(</a:t>
            </a:r>
            <a:r>
              <a:rPr lang="en-US" altLang="zh-CN" dirty="0" err="1"/>
              <a:t>sz</a:t>
            </a:r>
            <a:r>
              <a:rPr lang="en-US" altLang="zh-CN" dirty="0"/>
              <a:t>) { </a:t>
            </a:r>
          </a:p>
          <a:p>
            <a:pPr marL="0" indent="0">
              <a:buNone/>
            </a:pPr>
            <a:r>
              <a:rPr lang="en-US" altLang="zh-CN" dirty="0"/>
              <a:t>    assert ( </a:t>
            </a:r>
            <a:r>
              <a:rPr lang="en-US" altLang="zh-CN" dirty="0" err="1"/>
              <a:t>setSize</a:t>
            </a:r>
            <a:r>
              <a:rPr lang="en-US" altLang="zh-CN" dirty="0"/>
              <a:t> &gt; 0 );         //</a:t>
            </a:r>
            <a:r>
              <a:rPr lang="zh-CN" altLang="en-US" dirty="0"/>
              <a:t>判参数合理否</a:t>
            </a:r>
          </a:p>
          <a:p>
            <a:pPr marL="0" indent="0">
              <a:buNone/>
            </a:pPr>
            <a:r>
              <a:rPr lang="zh-CN" altLang="en-US" dirty="0"/>
              <a:t>    </a:t>
            </a:r>
            <a:r>
              <a:rPr lang="en-US" altLang="zh-CN" dirty="0" err="1"/>
              <a:t>vectorSize</a:t>
            </a:r>
            <a:r>
              <a:rPr lang="en-US" altLang="zh-CN" dirty="0"/>
              <a:t> = (</a:t>
            </a:r>
            <a:r>
              <a:rPr lang="en-US" altLang="zh-CN" dirty="0" err="1"/>
              <a:t>setSize</a:t>
            </a:r>
            <a:r>
              <a:rPr lang="en-US" altLang="zh-CN" dirty="0"/>
              <a:t> + 31) &gt;&gt; 5;  </a:t>
            </a:r>
          </a:p>
          <a:p>
            <a:pPr marL="0" indent="0">
              <a:buNone/>
            </a:pPr>
            <a:r>
              <a:rPr lang="en-US" altLang="zh-CN" dirty="0"/>
              <a:t>              //</a:t>
            </a:r>
            <a:r>
              <a:rPr lang="zh-CN" altLang="en-US" dirty="0"/>
              <a:t>假设</a:t>
            </a:r>
            <a:r>
              <a:rPr lang="en-US" altLang="zh-CN" dirty="0"/>
              <a:t>int</a:t>
            </a:r>
            <a:r>
              <a:rPr lang="zh-CN" altLang="en-US" dirty="0"/>
              <a:t>为</a:t>
            </a:r>
            <a:r>
              <a:rPr lang="en-US" altLang="zh-CN" dirty="0"/>
              <a:t>32</a:t>
            </a:r>
            <a:r>
              <a:rPr lang="zh-CN" altLang="en-US" dirty="0"/>
              <a:t>位</a:t>
            </a:r>
          </a:p>
          <a:p>
            <a:pPr marL="0" indent="0">
              <a:buNone/>
            </a:pPr>
            <a:r>
              <a:rPr lang="zh-CN" altLang="en-US" dirty="0"/>
              <a:t>    </a:t>
            </a:r>
            <a:r>
              <a:rPr lang="en-US" altLang="zh-CN" dirty="0" err="1"/>
              <a:t>bitVector</a:t>
            </a:r>
            <a:r>
              <a:rPr lang="en-US" altLang="zh-CN" dirty="0"/>
              <a:t> = new int[</a:t>
            </a:r>
            <a:r>
              <a:rPr lang="en-US" altLang="zh-CN" dirty="0" err="1"/>
              <a:t>vectorSize</a:t>
            </a:r>
            <a:r>
              <a:rPr lang="en-US" altLang="zh-CN" dirty="0"/>
              <a:t>];</a:t>
            </a:r>
          </a:p>
          <a:p>
            <a:pPr marL="0" indent="0">
              <a:buNone/>
            </a:pPr>
            <a:r>
              <a:rPr lang="en-US" altLang="zh-CN" dirty="0"/>
              <a:t>    assert ( </a:t>
            </a:r>
            <a:r>
              <a:rPr lang="en-US" altLang="zh-CN" dirty="0" err="1"/>
              <a:t>bitVector</a:t>
            </a:r>
            <a:r>
              <a:rPr lang="en-US" altLang="zh-CN" dirty="0"/>
              <a:t> != NULL );</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a:t>
            </a:r>
            <a:r>
              <a:rPr lang="en-US" altLang="zh-CN" dirty="0" err="1"/>
              <a:t>vectorSize</a:t>
            </a:r>
            <a:r>
              <a:rPr lang="en-US" altLang="zh-CN" dirty="0"/>
              <a:t>; </a:t>
            </a:r>
            <a:r>
              <a:rPr lang="en-US" altLang="zh-CN" dirty="0" err="1"/>
              <a:t>i</a:t>
            </a:r>
            <a:r>
              <a:rPr lang="en-US" altLang="zh-CN" dirty="0"/>
              <a:t>++ )    </a:t>
            </a:r>
          </a:p>
          <a:p>
            <a:pPr marL="0" indent="0">
              <a:buNone/>
            </a:pPr>
            <a:r>
              <a:rPr lang="en-US" altLang="zh-CN" dirty="0"/>
              <a:t>          </a:t>
            </a:r>
            <a:r>
              <a:rPr lang="en-US" altLang="zh-CN" dirty="0" err="1"/>
              <a:t>bitVector</a:t>
            </a:r>
            <a:r>
              <a:rPr lang="en-US" altLang="zh-CN" dirty="0"/>
              <a:t>[</a:t>
            </a:r>
            <a:r>
              <a:rPr lang="en-US" altLang="zh-CN" dirty="0" err="1"/>
              <a:t>i</a:t>
            </a:r>
            <a:r>
              <a:rPr lang="en-US" altLang="zh-CN" dirty="0"/>
              <a:t>] = 0;           //</a:t>
            </a:r>
            <a:r>
              <a:rPr lang="zh-CN" altLang="en-US" dirty="0"/>
              <a:t>初始化 </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FF098214-8271-453E-7A18-386D2EDCFCA3}"/>
              </a:ext>
            </a:extLst>
          </p:cNvPr>
          <p:cNvSpPr>
            <a:spLocks noGrp="1"/>
          </p:cNvSpPr>
          <p:nvPr>
            <p:ph type="sldNum" sz="quarter" idx="12"/>
          </p:nvPr>
        </p:nvSpPr>
        <p:spPr/>
        <p:txBody>
          <a:bodyPr/>
          <a:lstStyle/>
          <a:p>
            <a:pPr>
              <a:defRPr/>
            </a:pPr>
            <a:fld id="{524B865F-46F8-4520-B0DD-31ED36EF62D9}" type="slidenum">
              <a:rPr lang="en-US" altLang="zh-CN" smtClean="0"/>
              <a:pPr>
                <a:defRPr/>
              </a:pPr>
              <a:t>7</a:t>
            </a:fld>
            <a:endParaRPr lang="en-US" altLang="zh-CN"/>
          </a:p>
        </p:txBody>
      </p:sp>
    </p:spTree>
  </p:cSld>
  <p:clrMapOvr>
    <a:masterClrMapping/>
  </p:clrMapOvr>
  <p:transition>
    <p:spli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BF5058-C22E-4C84-B964-9D51C80F80EA}"/>
              </a:ext>
            </a:extLst>
          </p:cNvPr>
          <p:cNvSpPr>
            <a:spLocks noGrp="1"/>
          </p:cNvSpPr>
          <p:nvPr>
            <p:ph type="title"/>
          </p:nvPr>
        </p:nvSpPr>
        <p:spPr/>
        <p:txBody>
          <a:bodyPr/>
          <a:lstStyle/>
          <a:p>
            <a:r>
              <a:rPr lang="zh-CN" altLang="en-US" dirty="0"/>
              <a:t>复制构造函数</a:t>
            </a:r>
          </a:p>
        </p:txBody>
      </p:sp>
      <p:sp>
        <p:nvSpPr>
          <p:cNvPr id="3" name="内容占位符 2">
            <a:extLst>
              <a:ext uri="{FF2B5EF4-FFF2-40B4-BE49-F238E27FC236}">
                <a16:creationId xmlns:a16="http://schemas.microsoft.com/office/drawing/2014/main" id="{D534D599-C399-4A38-BD1B-5DCABE7E1BD5}"/>
              </a:ext>
            </a:extLst>
          </p:cNvPr>
          <p:cNvSpPr>
            <a:spLocks noGrp="1"/>
          </p:cNvSpPr>
          <p:nvPr>
            <p:ph idx="1"/>
          </p:nvPr>
        </p:nvSpPr>
        <p:spPr>
          <a:xfrm>
            <a:off x="467544" y="1825625"/>
            <a:ext cx="8352928" cy="4351338"/>
          </a:xfrm>
        </p:spPr>
        <p:txBody>
          <a:bodyPr>
            <a:normAutofit fontScale="85000" lnSpcReduction="20000"/>
          </a:bodyPr>
          <a:lstStyle/>
          <a:p>
            <a:pPr marL="0" indent="0">
              <a:buNone/>
            </a:pPr>
            <a:r>
              <a:rPr lang="en-US" altLang="zh-CN" dirty="0" err="1"/>
              <a:t>bitSet</a:t>
            </a:r>
            <a:r>
              <a:rPr lang="en-US" altLang="zh-CN" dirty="0"/>
              <a:t> :: </a:t>
            </a:r>
            <a:r>
              <a:rPr lang="en-US" altLang="zh-CN" dirty="0" err="1"/>
              <a:t>bitSet</a:t>
            </a:r>
            <a:r>
              <a:rPr lang="en-US" altLang="zh-CN" dirty="0"/>
              <a:t> ( const </a:t>
            </a:r>
            <a:r>
              <a:rPr lang="en-US" altLang="zh-CN" dirty="0" err="1"/>
              <a:t>bitSet</a:t>
            </a:r>
            <a:r>
              <a:rPr lang="en-US" altLang="zh-CN" dirty="0"/>
              <a:t>&amp; R ) {</a:t>
            </a:r>
          </a:p>
          <a:p>
            <a:pPr marL="0" indent="0">
              <a:buNone/>
            </a:pPr>
            <a:r>
              <a:rPr lang="en-US" altLang="zh-CN" dirty="0"/>
              <a:t>    </a:t>
            </a:r>
            <a:r>
              <a:rPr lang="en-US" altLang="zh-CN" dirty="0" err="1"/>
              <a:t>setSize</a:t>
            </a:r>
            <a:r>
              <a:rPr lang="en-US" altLang="zh-CN" dirty="0"/>
              <a:t> = </a:t>
            </a:r>
            <a:r>
              <a:rPr lang="en-US" altLang="zh-CN" dirty="0" err="1"/>
              <a:t>R.setSize</a:t>
            </a:r>
            <a:r>
              <a:rPr lang="en-US" altLang="zh-CN" dirty="0"/>
              <a:t>;</a:t>
            </a:r>
          </a:p>
          <a:p>
            <a:pPr marL="0" indent="0">
              <a:buNone/>
            </a:pPr>
            <a:r>
              <a:rPr lang="en-US" altLang="zh-CN" dirty="0"/>
              <a:t>    </a:t>
            </a:r>
            <a:r>
              <a:rPr lang="en-US" altLang="zh-CN" dirty="0" err="1"/>
              <a:t>vectorSize</a:t>
            </a:r>
            <a:r>
              <a:rPr lang="en-US" altLang="zh-CN" dirty="0"/>
              <a:t> = </a:t>
            </a:r>
            <a:r>
              <a:rPr lang="en-US" altLang="zh-CN" dirty="0" err="1"/>
              <a:t>R.vectorSize</a:t>
            </a:r>
            <a:r>
              <a:rPr lang="en-US" altLang="zh-CN" dirty="0"/>
              <a:t>;    //</a:t>
            </a:r>
            <a:r>
              <a:rPr lang="zh-CN" altLang="en-US" dirty="0"/>
              <a:t>位向量大小</a:t>
            </a:r>
          </a:p>
          <a:p>
            <a:pPr marL="0" indent="0">
              <a:buNone/>
            </a:pPr>
            <a:r>
              <a:rPr lang="zh-CN" altLang="en-US" dirty="0"/>
              <a:t>    </a:t>
            </a:r>
            <a:r>
              <a:rPr lang="en-US" altLang="zh-CN" dirty="0" err="1"/>
              <a:t>bitVector</a:t>
            </a:r>
            <a:r>
              <a:rPr lang="en-US" altLang="zh-CN" dirty="0"/>
              <a:t> = new int [</a:t>
            </a:r>
            <a:r>
              <a:rPr lang="en-US" altLang="zh-CN" dirty="0" err="1"/>
              <a:t>vectorSize</a:t>
            </a:r>
            <a:r>
              <a:rPr lang="en-US" altLang="zh-CN" dirty="0"/>
              <a:t>];  </a:t>
            </a:r>
          </a:p>
          <a:p>
            <a:pPr marL="0" indent="0">
              <a:buNone/>
            </a:pPr>
            <a:r>
              <a:rPr lang="en-US" altLang="zh-CN" dirty="0"/>
              <a:t>           //</a:t>
            </a:r>
            <a:r>
              <a:rPr lang="zh-CN" altLang="en-US" dirty="0"/>
              <a:t>分配空间</a:t>
            </a:r>
          </a:p>
          <a:p>
            <a:pPr marL="0" indent="0">
              <a:buNone/>
            </a:pPr>
            <a:r>
              <a:rPr lang="zh-CN" altLang="en-US" dirty="0"/>
              <a:t>    </a:t>
            </a:r>
            <a:r>
              <a:rPr lang="en-US" altLang="zh-CN" dirty="0"/>
              <a:t>assert ( </a:t>
            </a:r>
            <a:r>
              <a:rPr lang="en-US" altLang="zh-CN" dirty="0" err="1"/>
              <a:t>bitVector</a:t>
            </a:r>
            <a:r>
              <a:rPr lang="en-US" altLang="zh-CN" dirty="0"/>
              <a:t> != NULL );</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a:t>
            </a:r>
            <a:r>
              <a:rPr lang="en-US" altLang="zh-CN" dirty="0" err="1"/>
              <a:t>vectorSize</a:t>
            </a:r>
            <a:r>
              <a:rPr lang="en-US" altLang="zh-CN" dirty="0"/>
              <a:t>; </a:t>
            </a:r>
            <a:r>
              <a:rPr lang="en-US" altLang="zh-CN" dirty="0" err="1"/>
              <a:t>i</a:t>
            </a:r>
            <a:r>
              <a:rPr lang="en-US" altLang="zh-CN" dirty="0"/>
              <a:t>++ ) //</a:t>
            </a:r>
            <a:r>
              <a:rPr lang="zh-CN" altLang="en-US" dirty="0"/>
              <a:t>传送集合 </a:t>
            </a:r>
          </a:p>
          <a:p>
            <a:pPr marL="0" indent="0">
              <a:buNone/>
            </a:pPr>
            <a:r>
              <a:rPr lang="zh-CN" altLang="en-US" dirty="0"/>
              <a:t>        </a:t>
            </a:r>
            <a:r>
              <a:rPr lang="en-US" altLang="zh-CN" dirty="0" err="1"/>
              <a:t>bitVector</a:t>
            </a:r>
            <a:r>
              <a:rPr lang="en-US" altLang="zh-CN" dirty="0"/>
              <a:t>[</a:t>
            </a:r>
            <a:r>
              <a:rPr lang="en-US" altLang="zh-CN" dirty="0" err="1"/>
              <a:t>i</a:t>
            </a:r>
            <a:r>
              <a:rPr lang="en-US" altLang="zh-CN" dirty="0"/>
              <a:t>] = </a:t>
            </a:r>
            <a:r>
              <a:rPr lang="en-US" altLang="zh-CN" dirty="0" err="1"/>
              <a:t>R.bitVector</a:t>
            </a:r>
            <a:r>
              <a:rPr lang="en-US" altLang="zh-CN" dirty="0"/>
              <a:t>[</a:t>
            </a:r>
            <a:r>
              <a:rPr lang="en-US" altLang="zh-CN" dirty="0" err="1"/>
              <a:t>i</a:t>
            </a:r>
            <a:r>
              <a:rPr lang="en-US" altLang="zh-CN" dirty="0"/>
              <a:t>];</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108B4814-20A5-F6FF-7BAE-D9966ECE0B15}"/>
              </a:ext>
            </a:extLst>
          </p:cNvPr>
          <p:cNvSpPr>
            <a:spLocks noGrp="1"/>
          </p:cNvSpPr>
          <p:nvPr>
            <p:ph type="sldNum" sz="quarter" idx="12"/>
          </p:nvPr>
        </p:nvSpPr>
        <p:spPr/>
        <p:txBody>
          <a:bodyPr/>
          <a:lstStyle/>
          <a:p>
            <a:pPr>
              <a:defRPr/>
            </a:pPr>
            <a:fld id="{524B865F-46F8-4520-B0DD-31ED36EF62D9}" type="slidenum">
              <a:rPr lang="en-US" altLang="zh-CN" smtClean="0"/>
              <a:pPr>
                <a:defRPr/>
              </a:pPr>
              <a:t>8</a:t>
            </a:fld>
            <a:endParaRPr lang="en-US" altLang="zh-CN"/>
          </a:p>
        </p:txBody>
      </p:sp>
    </p:spTree>
  </p:cSld>
  <p:clrMapOvr>
    <a:masterClrMapping/>
  </p:clrMapOvr>
  <p:transition>
    <p:spli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9A194F3-F566-4376-8C8F-F52FA44BDB0E}"/>
              </a:ext>
            </a:extLst>
          </p:cNvPr>
          <p:cNvSpPr>
            <a:spLocks noGrp="1"/>
          </p:cNvSpPr>
          <p:nvPr>
            <p:ph idx="1"/>
          </p:nvPr>
        </p:nvSpPr>
        <p:spPr>
          <a:xfrm>
            <a:off x="628650" y="260648"/>
            <a:ext cx="7886700" cy="5916315"/>
          </a:xfrm>
        </p:spPr>
        <p:txBody>
          <a:bodyPr>
            <a:normAutofit/>
          </a:bodyPr>
          <a:lstStyle/>
          <a:p>
            <a:pPr marL="0" indent="0">
              <a:buNone/>
            </a:pPr>
            <a:r>
              <a:rPr lang="en-US" altLang="zh-CN" dirty="0"/>
              <a:t>//</a:t>
            </a:r>
            <a:r>
              <a:rPr lang="zh-CN" altLang="en-US" dirty="0"/>
              <a:t>读取第</a:t>
            </a:r>
            <a:r>
              <a:rPr lang="en-US" altLang="zh-CN" dirty="0"/>
              <a:t>x</a:t>
            </a:r>
            <a:r>
              <a:rPr lang="zh-CN" altLang="en-US" dirty="0"/>
              <a:t>位的值（例如用于判断这个元素是否存在）</a:t>
            </a:r>
          </a:p>
          <a:p>
            <a:pPr marL="0" indent="0">
              <a:buNone/>
            </a:pPr>
            <a:r>
              <a:rPr lang="en-US" altLang="zh-CN" dirty="0"/>
              <a:t>int </a:t>
            </a:r>
            <a:r>
              <a:rPr lang="en-US" altLang="zh-CN" dirty="0" err="1"/>
              <a:t>bitSet</a:t>
            </a:r>
            <a:r>
              <a:rPr lang="en-US" altLang="zh-CN" dirty="0"/>
              <a:t> :: </a:t>
            </a:r>
            <a:r>
              <a:rPr lang="en-US" altLang="zh-CN" dirty="0" err="1"/>
              <a:t>getMember</a:t>
            </a:r>
            <a:r>
              <a:rPr lang="en-US" altLang="zh-CN" dirty="0"/>
              <a:t> ( const int x ) {</a:t>
            </a:r>
          </a:p>
          <a:p>
            <a:pPr marL="0" indent="0">
              <a:buNone/>
            </a:pPr>
            <a:r>
              <a:rPr lang="en-US" altLang="zh-CN" dirty="0"/>
              <a:t>    int ad = x/32, id = x%32;</a:t>
            </a:r>
          </a:p>
          <a:p>
            <a:pPr marL="0" indent="0">
              <a:buNone/>
            </a:pPr>
            <a:r>
              <a:rPr lang="en-US" altLang="zh-CN" dirty="0"/>
              <a:t>    int </a:t>
            </a:r>
            <a:r>
              <a:rPr lang="en-US" altLang="zh-CN" dirty="0" err="1"/>
              <a:t>elem</a:t>
            </a:r>
            <a:r>
              <a:rPr lang="en-US" altLang="zh-CN" dirty="0"/>
              <a:t> = </a:t>
            </a:r>
            <a:r>
              <a:rPr lang="en-US" altLang="zh-CN" dirty="0" err="1"/>
              <a:t>bitVector</a:t>
            </a:r>
            <a:r>
              <a:rPr lang="en-US" altLang="zh-CN" dirty="0"/>
              <a:t>[ad];</a:t>
            </a:r>
          </a:p>
          <a:p>
            <a:pPr marL="0" indent="0">
              <a:buNone/>
            </a:pPr>
            <a:r>
              <a:rPr lang="en-US" altLang="zh-CN" dirty="0"/>
              <a:t>              //</a:t>
            </a:r>
            <a:r>
              <a:rPr lang="zh-CN" altLang="en-US" dirty="0"/>
              <a:t>取</a:t>
            </a:r>
            <a:r>
              <a:rPr lang="en-US" altLang="zh-CN" dirty="0"/>
              <a:t>x</a:t>
            </a:r>
            <a:r>
              <a:rPr lang="zh-CN" altLang="en-US" dirty="0"/>
              <a:t>所在的数组元素</a:t>
            </a:r>
          </a:p>
          <a:p>
            <a:pPr marL="0" indent="0">
              <a:buNone/>
            </a:pPr>
            <a:r>
              <a:rPr lang="zh-CN" altLang="en-US" dirty="0"/>
              <a:t>    </a:t>
            </a:r>
            <a:r>
              <a:rPr lang="en-US" altLang="zh-CN" dirty="0"/>
              <a:t>return int ((</a:t>
            </a:r>
            <a:r>
              <a:rPr lang="en-US" altLang="zh-CN" dirty="0" err="1"/>
              <a:t>elem</a:t>
            </a:r>
            <a:r>
              <a:rPr lang="en-US" altLang="zh-CN" dirty="0"/>
              <a:t> &gt;&gt; (31 - id)) &amp; 1); </a:t>
            </a:r>
          </a:p>
          <a:p>
            <a:pPr marL="0" indent="0">
              <a:buNone/>
            </a:pPr>
            <a:r>
              <a:rPr lang="en-US" altLang="zh-CN" dirty="0"/>
              <a:t>              //</a:t>
            </a:r>
            <a:r>
              <a:rPr lang="zh-CN" altLang="en-US" dirty="0"/>
              <a:t>取第</a:t>
            </a:r>
            <a:r>
              <a:rPr lang="en-US" altLang="zh-CN" dirty="0"/>
              <a:t>id</a:t>
            </a:r>
            <a:r>
              <a:rPr lang="zh-CN" altLang="en-US" dirty="0"/>
              <a:t>位的值</a:t>
            </a:r>
          </a:p>
          <a:p>
            <a:pPr marL="0" indent="0">
              <a:buNone/>
            </a:pPr>
            <a:r>
              <a:rPr lang="en-US" altLang="zh-CN" dirty="0"/>
              <a:t>}</a:t>
            </a:r>
          </a:p>
          <a:p>
            <a:pPr marL="0" indent="0">
              <a:buNone/>
            </a:pPr>
            <a:endParaRPr lang="en-US" altLang="zh-CN" dirty="0"/>
          </a:p>
          <a:p>
            <a:pPr marL="0" indent="0">
              <a:buNone/>
            </a:pPr>
            <a:endParaRPr lang="zh-CN" altLang="en-US" dirty="0"/>
          </a:p>
        </p:txBody>
      </p:sp>
      <p:sp>
        <p:nvSpPr>
          <p:cNvPr id="2" name="灯片编号占位符 1">
            <a:extLst>
              <a:ext uri="{FF2B5EF4-FFF2-40B4-BE49-F238E27FC236}">
                <a16:creationId xmlns:a16="http://schemas.microsoft.com/office/drawing/2014/main" id="{2410DAA2-43B1-E6F4-5D91-113FE20BD41E}"/>
              </a:ext>
            </a:extLst>
          </p:cNvPr>
          <p:cNvSpPr>
            <a:spLocks noGrp="1"/>
          </p:cNvSpPr>
          <p:nvPr>
            <p:ph type="sldNum" sz="quarter" idx="12"/>
          </p:nvPr>
        </p:nvSpPr>
        <p:spPr/>
        <p:txBody>
          <a:bodyPr/>
          <a:lstStyle/>
          <a:p>
            <a:pPr>
              <a:defRPr/>
            </a:pPr>
            <a:fld id="{524B865F-46F8-4520-B0DD-31ED36EF62D9}" type="slidenum">
              <a:rPr lang="en-US" altLang="zh-CN" smtClean="0"/>
              <a:pPr>
                <a:defRPr/>
              </a:pPr>
              <a:t>9</a:t>
            </a:fld>
            <a:endParaRPr lang="en-US" altLang="zh-CN"/>
          </a:p>
        </p:txBody>
      </p:sp>
    </p:spTree>
  </p:cSld>
  <p:clrMapOvr>
    <a:masterClrMapping/>
  </p:clrMapOvr>
  <p:transition>
    <p:spli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3E3C8B1-AFC0-4732-82E7-60578AD3B4D5}"/>
              </a:ext>
            </a:extLst>
          </p:cNvPr>
          <p:cNvSpPr>
            <a:spLocks noGrp="1"/>
          </p:cNvSpPr>
          <p:nvPr>
            <p:ph idx="1"/>
          </p:nvPr>
        </p:nvSpPr>
        <p:spPr>
          <a:xfrm>
            <a:off x="395536" y="476672"/>
            <a:ext cx="8496944" cy="5700291"/>
          </a:xfrm>
        </p:spPr>
        <p:txBody>
          <a:bodyPr>
            <a:normAutofit fontScale="62500" lnSpcReduction="20000"/>
          </a:bodyPr>
          <a:lstStyle/>
          <a:p>
            <a:pPr marL="0" indent="0">
              <a:buNone/>
            </a:pPr>
            <a:r>
              <a:rPr lang="en-US" altLang="zh-CN" dirty="0"/>
              <a:t>void </a:t>
            </a:r>
            <a:r>
              <a:rPr lang="en-US" altLang="zh-CN" dirty="0" err="1"/>
              <a:t>bitSet</a:t>
            </a:r>
            <a:r>
              <a:rPr lang="en-US" altLang="zh-CN" dirty="0"/>
              <a:t> :: </a:t>
            </a:r>
            <a:r>
              <a:rPr lang="en-US" altLang="zh-CN" dirty="0" err="1"/>
              <a:t>putMember</a:t>
            </a:r>
            <a:r>
              <a:rPr lang="en-US" altLang="zh-CN" dirty="0"/>
              <a:t> ( const int x, int v ) {    </a:t>
            </a:r>
          </a:p>
          <a:p>
            <a:pPr marL="0" indent="0">
              <a:buNone/>
            </a:pPr>
            <a:r>
              <a:rPr lang="en-US" altLang="zh-CN" dirty="0"/>
              <a:t>    int ad = x/32, id = x%32;</a:t>
            </a:r>
          </a:p>
          <a:p>
            <a:pPr marL="0" indent="0">
              <a:buNone/>
            </a:pPr>
            <a:r>
              <a:rPr lang="en-US" altLang="zh-CN" dirty="0"/>
              <a:t>    int </a:t>
            </a:r>
            <a:r>
              <a:rPr lang="en-US" altLang="zh-CN" dirty="0" err="1"/>
              <a:t>elem</a:t>
            </a:r>
            <a:r>
              <a:rPr lang="en-US" altLang="zh-CN" dirty="0"/>
              <a:t> = </a:t>
            </a:r>
            <a:r>
              <a:rPr lang="en-US" altLang="zh-CN" dirty="0" err="1"/>
              <a:t>bitVector</a:t>
            </a:r>
            <a:r>
              <a:rPr lang="en-US" altLang="zh-CN" dirty="0"/>
              <a:t>[ad];</a:t>
            </a:r>
          </a:p>
          <a:p>
            <a:pPr marL="0" indent="0">
              <a:buNone/>
            </a:pPr>
            <a:r>
              <a:rPr lang="en-US" altLang="zh-CN" dirty="0"/>
              <a:t>              //</a:t>
            </a:r>
            <a:r>
              <a:rPr lang="zh-CN" altLang="en-US" dirty="0"/>
              <a:t>取</a:t>
            </a:r>
            <a:r>
              <a:rPr lang="en-US" altLang="zh-CN" dirty="0"/>
              <a:t>x</a:t>
            </a:r>
            <a:r>
              <a:rPr lang="zh-CN" altLang="en-US" dirty="0"/>
              <a:t>所在的数组元素</a:t>
            </a:r>
          </a:p>
          <a:p>
            <a:pPr marL="0" indent="0">
              <a:buNone/>
            </a:pPr>
            <a:r>
              <a:rPr lang="zh-CN" altLang="en-US" dirty="0"/>
              <a:t>    </a:t>
            </a:r>
            <a:r>
              <a:rPr lang="en-US" altLang="zh-CN" dirty="0"/>
              <a:t>int temp = </a:t>
            </a:r>
            <a:r>
              <a:rPr lang="en-US" altLang="zh-CN" dirty="0" err="1"/>
              <a:t>elem</a:t>
            </a:r>
            <a:r>
              <a:rPr lang="en-US" altLang="zh-CN" dirty="0"/>
              <a:t> &gt;&gt; (31 - id); </a:t>
            </a:r>
          </a:p>
          <a:p>
            <a:pPr marL="0" indent="0">
              <a:buNone/>
            </a:pPr>
            <a:r>
              <a:rPr lang="en-US" altLang="zh-CN" dirty="0"/>
              <a:t>               //</a:t>
            </a:r>
            <a:r>
              <a:rPr lang="zh-CN" altLang="en-US" dirty="0"/>
              <a:t>右移，将该位移至末尾</a:t>
            </a:r>
            <a:endParaRPr lang="en-US" altLang="zh-CN" dirty="0"/>
          </a:p>
          <a:p>
            <a:pPr marL="0" indent="0">
              <a:buNone/>
            </a:pPr>
            <a:r>
              <a:rPr lang="zh-CN" altLang="en-US" dirty="0"/>
              <a:t>    </a:t>
            </a:r>
            <a:r>
              <a:rPr lang="en-US" altLang="zh-CN" dirty="0" err="1"/>
              <a:t>elem</a:t>
            </a:r>
            <a:r>
              <a:rPr lang="en-US" altLang="zh-CN" dirty="0"/>
              <a:t> = </a:t>
            </a:r>
            <a:r>
              <a:rPr lang="en-US" altLang="zh-CN" dirty="0" err="1"/>
              <a:t>elem</a:t>
            </a:r>
            <a:r>
              <a:rPr lang="en-US" altLang="zh-CN" dirty="0"/>
              <a:t> &lt;&lt; (id+1);</a:t>
            </a:r>
          </a:p>
          <a:p>
            <a:pPr marL="0" indent="0">
              <a:buNone/>
            </a:pPr>
            <a:r>
              <a:rPr lang="en-US" altLang="zh-CN" dirty="0"/>
              <a:t>               //</a:t>
            </a:r>
            <a:r>
              <a:rPr lang="zh-CN" altLang="en-US" dirty="0"/>
              <a:t>左移，仅保留原来</a:t>
            </a:r>
            <a:r>
              <a:rPr lang="en-US" altLang="zh-CN" dirty="0"/>
              <a:t>id</a:t>
            </a:r>
            <a:r>
              <a:rPr lang="zh-CN" altLang="en-US" dirty="0"/>
              <a:t>右边的部分（不含原来的</a:t>
            </a:r>
            <a:r>
              <a:rPr lang="en-US" altLang="zh-CN" dirty="0"/>
              <a:t>id</a:t>
            </a:r>
            <a:r>
              <a:rPr lang="zh-CN" altLang="en-US" dirty="0"/>
              <a:t>位）</a:t>
            </a:r>
          </a:p>
          <a:p>
            <a:pPr marL="0" indent="0">
              <a:buNone/>
            </a:pPr>
            <a:r>
              <a:rPr lang="en-US" altLang="zh-CN" dirty="0"/>
              <a:t>    if(temp%2 == 0&amp;&amp;v==1) </a:t>
            </a:r>
          </a:p>
          <a:p>
            <a:pPr marL="0" indent="0">
              <a:buNone/>
            </a:pPr>
            <a:r>
              <a:rPr lang="en-US" altLang="zh-CN" dirty="0"/>
              <a:t>         temp = temp +1;</a:t>
            </a:r>
          </a:p>
          <a:p>
            <a:pPr marL="0" indent="0">
              <a:buNone/>
            </a:pPr>
            <a:r>
              <a:rPr lang="en-US" altLang="zh-CN" dirty="0"/>
              <a:t>    else if(temp%2 == 1&amp;&amp;v==0) </a:t>
            </a:r>
          </a:p>
          <a:p>
            <a:pPr marL="0" indent="0">
              <a:buNone/>
            </a:pPr>
            <a:r>
              <a:rPr lang="en-US" altLang="zh-CN" dirty="0"/>
              <a:t>         temp = temp -1;</a:t>
            </a:r>
          </a:p>
          <a:p>
            <a:pPr marL="0" indent="0">
              <a:buNone/>
            </a:pPr>
            <a:r>
              <a:rPr lang="en-US" altLang="zh-CN" dirty="0"/>
              <a:t>    </a:t>
            </a:r>
            <a:r>
              <a:rPr lang="en-US" altLang="zh-CN" dirty="0" err="1"/>
              <a:t>bitVector</a:t>
            </a:r>
            <a:r>
              <a:rPr lang="en-US" altLang="zh-CN" dirty="0"/>
              <a:t>[ad] = (temp&lt;&lt;(31-id)|</a:t>
            </a:r>
            <a:r>
              <a:rPr lang="en-US" altLang="zh-CN" dirty="0" err="1"/>
              <a:t>elem</a:t>
            </a:r>
            <a:r>
              <a:rPr lang="en-US" altLang="zh-CN" dirty="0"/>
              <a:t>&gt;&gt;(id+1));</a:t>
            </a:r>
          </a:p>
          <a:p>
            <a:pPr marL="0" indent="0">
              <a:buNone/>
            </a:pPr>
            <a:r>
              <a:rPr lang="en-US" altLang="zh-CN" dirty="0"/>
              <a:t>}</a:t>
            </a:r>
          </a:p>
          <a:p>
            <a:pPr marL="0" indent="0">
              <a:buNone/>
            </a:pPr>
            <a:endParaRPr lang="en-US" altLang="zh-CN" dirty="0"/>
          </a:p>
          <a:p>
            <a:pPr marL="0" indent="0">
              <a:buNone/>
            </a:pPr>
            <a:endParaRPr lang="zh-CN" altLang="en-US" dirty="0"/>
          </a:p>
        </p:txBody>
      </p:sp>
      <p:sp>
        <p:nvSpPr>
          <p:cNvPr id="2" name="灯片编号占位符 1">
            <a:extLst>
              <a:ext uri="{FF2B5EF4-FFF2-40B4-BE49-F238E27FC236}">
                <a16:creationId xmlns:a16="http://schemas.microsoft.com/office/drawing/2014/main" id="{D0532E4D-4B7A-461F-E997-2BAED1311B27}"/>
              </a:ext>
            </a:extLst>
          </p:cNvPr>
          <p:cNvSpPr>
            <a:spLocks noGrp="1"/>
          </p:cNvSpPr>
          <p:nvPr>
            <p:ph type="sldNum" sz="quarter" idx="12"/>
          </p:nvPr>
        </p:nvSpPr>
        <p:spPr/>
        <p:txBody>
          <a:bodyPr/>
          <a:lstStyle/>
          <a:p>
            <a:pPr>
              <a:defRPr/>
            </a:pPr>
            <a:fld id="{524B865F-46F8-4520-B0DD-31ED36EF62D9}" type="slidenum">
              <a:rPr lang="en-US" altLang="zh-CN" smtClean="0"/>
              <a:pPr>
                <a:defRPr/>
              </a:pPr>
              <a:t>10</a:t>
            </a:fld>
            <a:endParaRPr lang="en-US" altLang="zh-CN"/>
          </a:p>
        </p:txBody>
      </p:sp>
    </p:spTree>
  </p:cSld>
  <p:clrMapOvr>
    <a:masterClrMapping/>
  </p:clrMapOvr>
  <p:transition>
    <p:spli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08BE48B-235D-429C-AE9D-3FAA11AB1D8E}"/>
              </a:ext>
            </a:extLst>
          </p:cNvPr>
          <p:cNvSpPr>
            <a:spLocks noGrp="1"/>
          </p:cNvSpPr>
          <p:nvPr>
            <p:ph idx="1"/>
          </p:nvPr>
        </p:nvSpPr>
        <p:spPr>
          <a:xfrm>
            <a:off x="179512" y="404664"/>
            <a:ext cx="8784976" cy="5772299"/>
          </a:xfrm>
        </p:spPr>
        <p:txBody>
          <a:bodyPr>
            <a:normAutofit fontScale="55000" lnSpcReduction="20000"/>
          </a:bodyPr>
          <a:lstStyle/>
          <a:p>
            <a:pPr marL="0" indent="0">
              <a:buNone/>
            </a:pPr>
            <a:r>
              <a:rPr lang="en-US" altLang="zh-CN" dirty="0"/>
              <a:t>bool </a:t>
            </a:r>
            <a:r>
              <a:rPr lang="en-US" altLang="zh-CN" dirty="0" err="1"/>
              <a:t>bitSet</a:t>
            </a:r>
            <a:r>
              <a:rPr lang="en-US" altLang="zh-CN" dirty="0"/>
              <a:t> :: </a:t>
            </a:r>
            <a:r>
              <a:rPr lang="en-US" altLang="zh-CN" dirty="0" err="1"/>
              <a:t>addMember</a:t>
            </a:r>
            <a:r>
              <a:rPr lang="en-US" altLang="zh-CN" dirty="0"/>
              <a:t> ( const int x ) {	</a:t>
            </a:r>
          </a:p>
          <a:p>
            <a:pPr marL="0" indent="0">
              <a:buNone/>
            </a:pPr>
            <a:r>
              <a:rPr lang="en-US" altLang="zh-CN" dirty="0"/>
              <a:t>    assert(x&gt;=0&amp;&amp;x&lt;</a:t>
            </a:r>
            <a:r>
              <a:rPr lang="en-US" altLang="zh-CN" dirty="0" err="1"/>
              <a:t>setSize</a:t>
            </a:r>
            <a:r>
              <a:rPr lang="en-US" altLang="zh-CN" dirty="0"/>
              <a:t>);</a:t>
            </a:r>
          </a:p>
          <a:p>
            <a:pPr marL="0" indent="0">
              <a:buNone/>
            </a:pPr>
            <a:r>
              <a:rPr lang="en-US" altLang="zh-CN" dirty="0"/>
              <a:t>    if ( </a:t>
            </a:r>
            <a:r>
              <a:rPr lang="en-US" altLang="zh-CN" dirty="0" err="1"/>
              <a:t>getMember</a:t>
            </a:r>
            <a:r>
              <a:rPr lang="en-US" altLang="zh-CN" dirty="0"/>
              <a:t>(x) == 0)  { </a:t>
            </a:r>
          </a:p>
          <a:p>
            <a:pPr marL="0" indent="0">
              <a:buNone/>
            </a:pPr>
            <a:r>
              <a:rPr lang="en-US" altLang="zh-CN" dirty="0"/>
              <a:t>        </a:t>
            </a:r>
            <a:r>
              <a:rPr lang="en-US" altLang="zh-CN" dirty="0" err="1"/>
              <a:t>putMember</a:t>
            </a:r>
            <a:r>
              <a:rPr lang="en-US" altLang="zh-CN" dirty="0"/>
              <a:t>( x, 1);   return true; </a:t>
            </a:r>
          </a:p>
          <a:p>
            <a:pPr marL="0" indent="0">
              <a:buNone/>
            </a:pPr>
            <a:r>
              <a:rPr lang="en-US" altLang="zh-CN" dirty="0"/>
              <a:t>    }</a:t>
            </a:r>
          </a:p>
          <a:p>
            <a:pPr marL="0" indent="0">
              <a:buNone/>
            </a:pPr>
            <a:r>
              <a:rPr lang="en-US" altLang="zh-CN" dirty="0"/>
              <a:t>    return false;</a:t>
            </a:r>
          </a:p>
          <a:p>
            <a:pPr marL="0" indent="0">
              <a:buNone/>
            </a:pPr>
            <a:r>
              <a:rPr lang="en-US" altLang="zh-CN" dirty="0"/>
              <a:t>}</a:t>
            </a:r>
          </a:p>
          <a:p>
            <a:pPr marL="0" indent="0">
              <a:buNone/>
            </a:pPr>
            <a:endParaRPr lang="en-US" altLang="zh-CN" dirty="0"/>
          </a:p>
          <a:p>
            <a:pPr marL="0" indent="0">
              <a:buNone/>
            </a:pPr>
            <a:endParaRPr lang="en-US" altLang="zh-CN" dirty="0"/>
          </a:p>
          <a:p>
            <a:pPr marL="0" indent="0">
              <a:buNone/>
            </a:pPr>
            <a:r>
              <a:rPr lang="en-US" altLang="zh-CN" dirty="0"/>
              <a:t>bool </a:t>
            </a:r>
            <a:r>
              <a:rPr lang="en-US" altLang="zh-CN" dirty="0" err="1"/>
              <a:t>bitSet</a:t>
            </a:r>
            <a:r>
              <a:rPr lang="en-US" altLang="zh-CN" dirty="0"/>
              <a:t> :: </a:t>
            </a:r>
            <a:r>
              <a:rPr lang="en-US" altLang="zh-CN" dirty="0" err="1"/>
              <a:t>delMember</a:t>
            </a:r>
            <a:r>
              <a:rPr lang="en-US" altLang="zh-CN" dirty="0"/>
              <a:t> ( const int x ) {</a:t>
            </a:r>
          </a:p>
          <a:p>
            <a:pPr marL="0" indent="0">
              <a:buNone/>
            </a:pPr>
            <a:r>
              <a:rPr lang="en-US" altLang="zh-CN" dirty="0"/>
              <a:t>    assert(x&gt;=0&amp;&amp;x&lt;</a:t>
            </a:r>
            <a:r>
              <a:rPr lang="en-US" altLang="zh-CN" dirty="0" err="1"/>
              <a:t>setSize</a:t>
            </a:r>
            <a:r>
              <a:rPr lang="en-US" altLang="zh-CN" dirty="0"/>
              <a:t>);</a:t>
            </a:r>
          </a:p>
          <a:p>
            <a:pPr marL="0" indent="0">
              <a:buNone/>
            </a:pPr>
            <a:r>
              <a:rPr lang="en-US" altLang="zh-CN" dirty="0"/>
              <a:t>    if ( </a:t>
            </a:r>
            <a:r>
              <a:rPr lang="en-US" altLang="zh-CN" dirty="0" err="1"/>
              <a:t>getMember</a:t>
            </a:r>
            <a:r>
              <a:rPr lang="en-US" altLang="zh-CN" dirty="0"/>
              <a:t>(x) == 1) { </a:t>
            </a:r>
          </a:p>
          <a:p>
            <a:pPr marL="0" indent="0">
              <a:buNone/>
            </a:pPr>
            <a:r>
              <a:rPr lang="en-US" altLang="zh-CN" dirty="0"/>
              <a:t>         </a:t>
            </a:r>
            <a:r>
              <a:rPr lang="en-US" altLang="zh-CN" dirty="0" err="1"/>
              <a:t>putMember</a:t>
            </a:r>
            <a:r>
              <a:rPr lang="en-US" altLang="zh-CN" dirty="0"/>
              <a:t>( x, 0);   return true; </a:t>
            </a:r>
          </a:p>
          <a:p>
            <a:pPr marL="0" indent="0">
              <a:buNone/>
            </a:pPr>
            <a:r>
              <a:rPr lang="en-US" altLang="zh-CN" dirty="0"/>
              <a:t>    }</a:t>
            </a:r>
          </a:p>
          <a:p>
            <a:pPr marL="0" indent="0">
              <a:buNone/>
            </a:pPr>
            <a:r>
              <a:rPr lang="en-US" altLang="zh-CN" dirty="0"/>
              <a:t>    return false;</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C9F8D21F-3C1D-22F1-4327-D349397C9F1A}"/>
              </a:ext>
            </a:extLst>
          </p:cNvPr>
          <p:cNvSpPr>
            <a:spLocks noGrp="1"/>
          </p:cNvSpPr>
          <p:nvPr>
            <p:ph type="sldNum" sz="quarter" idx="12"/>
          </p:nvPr>
        </p:nvSpPr>
        <p:spPr/>
        <p:txBody>
          <a:bodyPr/>
          <a:lstStyle/>
          <a:p>
            <a:pPr>
              <a:defRPr/>
            </a:pPr>
            <a:fld id="{524B865F-46F8-4520-B0DD-31ED36EF62D9}" type="slidenum">
              <a:rPr lang="en-US" altLang="zh-CN" smtClean="0"/>
              <a:pPr>
                <a:defRPr/>
              </a:pPr>
              <a:t>11</a:t>
            </a:fld>
            <a:endParaRPr lang="en-US" altLang="zh-CN"/>
          </a:p>
        </p:txBody>
      </p:sp>
    </p:spTree>
  </p:cSld>
  <p:clrMapOvr>
    <a:masterClrMapping/>
  </p:clrMapOvr>
  <p:transition>
    <p:spli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0C542E6-25DD-4257-8184-2F17C98E5154}"/>
              </a:ext>
            </a:extLst>
          </p:cNvPr>
          <p:cNvSpPr>
            <a:spLocks noGrp="1"/>
          </p:cNvSpPr>
          <p:nvPr>
            <p:ph idx="1"/>
          </p:nvPr>
        </p:nvSpPr>
        <p:spPr>
          <a:xfrm>
            <a:off x="251520" y="1825625"/>
            <a:ext cx="8568952" cy="4351338"/>
          </a:xfrm>
        </p:spPr>
        <p:txBody>
          <a:bodyPr>
            <a:normAutofit/>
          </a:bodyPr>
          <a:lstStyle/>
          <a:p>
            <a:pPr marL="0" indent="0">
              <a:buNone/>
            </a:pPr>
            <a:r>
              <a:rPr lang="en-US" altLang="zh-CN" dirty="0"/>
              <a:t>//</a:t>
            </a:r>
            <a:r>
              <a:rPr lang="zh-CN" altLang="en-US" dirty="0"/>
              <a:t>判存在</a:t>
            </a:r>
            <a:endParaRPr lang="en-US" altLang="zh-CN" dirty="0"/>
          </a:p>
          <a:p>
            <a:pPr marL="0" indent="0">
              <a:buNone/>
            </a:pPr>
            <a:r>
              <a:rPr lang="en-US" altLang="zh-CN" dirty="0"/>
              <a:t>bool </a:t>
            </a:r>
            <a:r>
              <a:rPr lang="en-US" altLang="zh-CN" dirty="0" err="1"/>
              <a:t>bitSet</a:t>
            </a:r>
            <a:r>
              <a:rPr lang="en-US" altLang="zh-CN" dirty="0"/>
              <a:t> :: Contains ( const int x ) {   </a:t>
            </a:r>
          </a:p>
          <a:p>
            <a:pPr marL="0" indent="0">
              <a:buNone/>
            </a:pPr>
            <a:r>
              <a:rPr lang="en-US" altLang="zh-CN" dirty="0"/>
              <a:t>    assert ( x &gt;= 0 &amp;&amp; x &lt;= </a:t>
            </a:r>
            <a:r>
              <a:rPr lang="en-US" altLang="zh-CN" dirty="0" err="1"/>
              <a:t>setSize</a:t>
            </a:r>
            <a:r>
              <a:rPr lang="en-US" altLang="zh-CN" dirty="0"/>
              <a:t> ); </a:t>
            </a:r>
          </a:p>
          <a:p>
            <a:pPr marL="0" indent="0">
              <a:buNone/>
            </a:pPr>
            <a:r>
              <a:rPr lang="en-US" altLang="zh-CN" dirty="0"/>
              <a:t>    return </a:t>
            </a:r>
            <a:r>
              <a:rPr lang="en-US" altLang="zh-CN" dirty="0" err="1"/>
              <a:t>getMember</a:t>
            </a:r>
            <a:r>
              <a:rPr lang="en-US" altLang="zh-CN" dirty="0"/>
              <a:t>(x) == 1;</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1EF3AEE3-6A81-B17B-73A5-3AE1F9B9FE5E}"/>
              </a:ext>
            </a:extLst>
          </p:cNvPr>
          <p:cNvSpPr>
            <a:spLocks noGrp="1"/>
          </p:cNvSpPr>
          <p:nvPr>
            <p:ph type="sldNum" sz="quarter" idx="12"/>
          </p:nvPr>
        </p:nvSpPr>
        <p:spPr/>
        <p:txBody>
          <a:bodyPr/>
          <a:lstStyle/>
          <a:p>
            <a:pPr>
              <a:defRPr/>
            </a:pPr>
            <a:fld id="{524B865F-46F8-4520-B0DD-31ED36EF62D9}" type="slidenum">
              <a:rPr lang="en-US" altLang="zh-CN" smtClean="0"/>
              <a:pPr>
                <a:defRPr/>
              </a:pPr>
              <a:t>12</a:t>
            </a:fld>
            <a:endParaRPr lang="en-US" altLang="zh-CN"/>
          </a:p>
        </p:txBody>
      </p:sp>
    </p:spTree>
  </p:cSld>
  <p:clrMapOvr>
    <a:masterClrMapping/>
  </p:clrMapOvr>
  <p:transition>
    <p:spli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descr="羊皮纸">
            <a:extLst>
              <a:ext uri="{FF2B5EF4-FFF2-40B4-BE49-F238E27FC236}">
                <a16:creationId xmlns:a16="http://schemas.microsoft.com/office/drawing/2014/main" id="{836C22DA-38D3-05C1-E531-F18A00ACDB07}"/>
              </a:ext>
            </a:extLst>
          </p:cNvPr>
          <p:cNvSpPr>
            <a:spLocks noChangeArrowheads="1"/>
          </p:cNvSpPr>
          <p:nvPr/>
        </p:nvSpPr>
        <p:spPr bwMode="auto">
          <a:xfrm>
            <a:off x="3816350" y="4770438"/>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19460" name="Line 4">
            <a:extLst>
              <a:ext uri="{FF2B5EF4-FFF2-40B4-BE49-F238E27FC236}">
                <a16:creationId xmlns:a16="http://schemas.microsoft.com/office/drawing/2014/main" id="{A118A412-FA25-63B4-5A5E-4DA8069E62BB}"/>
              </a:ext>
            </a:extLst>
          </p:cNvPr>
          <p:cNvSpPr>
            <a:spLocks noChangeShapeType="1"/>
          </p:cNvSpPr>
          <p:nvPr/>
        </p:nvSpPr>
        <p:spPr bwMode="auto">
          <a:xfrm>
            <a:off x="4273550" y="47704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1" name="Line 5">
            <a:extLst>
              <a:ext uri="{FF2B5EF4-FFF2-40B4-BE49-F238E27FC236}">
                <a16:creationId xmlns:a16="http://schemas.microsoft.com/office/drawing/2014/main" id="{45120A65-1898-49A5-267D-20547970F950}"/>
              </a:ext>
            </a:extLst>
          </p:cNvPr>
          <p:cNvSpPr>
            <a:spLocks noChangeShapeType="1"/>
          </p:cNvSpPr>
          <p:nvPr/>
        </p:nvSpPr>
        <p:spPr bwMode="auto">
          <a:xfrm>
            <a:off x="4730750" y="47704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2" name="Line 6">
            <a:extLst>
              <a:ext uri="{FF2B5EF4-FFF2-40B4-BE49-F238E27FC236}">
                <a16:creationId xmlns:a16="http://schemas.microsoft.com/office/drawing/2014/main" id="{D1BC878E-9045-7C8F-4982-8A4B3EB57596}"/>
              </a:ext>
            </a:extLst>
          </p:cNvPr>
          <p:cNvSpPr>
            <a:spLocks noChangeShapeType="1"/>
          </p:cNvSpPr>
          <p:nvPr/>
        </p:nvSpPr>
        <p:spPr bwMode="auto">
          <a:xfrm>
            <a:off x="5187950" y="47704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3" name="Line 7">
            <a:extLst>
              <a:ext uri="{FF2B5EF4-FFF2-40B4-BE49-F238E27FC236}">
                <a16:creationId xmlns:a16="http://schemas.microsoft.com/office/drawing/2014/main" id="{4431E272-2C33-9AAD-5514-ADD2417CEE29}"/>
              </a:ext>
            </a:extLst>
          </p:cNvPr>
          <p:cNvSpPr>
            <a:spLocks noChangeShapeType="1"/>
          </p:cNvSpPr>
          <p:nvPr/>
        </p:nvSpPr>
        <p:spPr bwMode="auto">
          <a:xfrm>
            <a:off x="5645150" y="47704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4" name="Line 8">
            <a:extLst>
              <a:ext uri="{FF2B5EF4-FFF2-40B4-BE49-F238E27FC236}">
                <a16:creationId xmlns:a16="http://schemas.microsoft.com/office/drawing/2014/main" id="{C895F1A4-02B7-F1EA-9AD8-A2D083F977A8}"/>
              </a:ext>
            </a:extLst>
          </p:cNvPr>
          <p:cNvSpPr>
            <a:spLocks noChangeShapeType="1"/>
          </p:cNvSpPr>
          <p:nvPr/>
        </p:nvSpPr>
        <p:spPr bwMode="auto">
          <a:xfrm>
            <a:off x="6102350" y="47704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5" name="Line 9">
            <a:extLst>
              <a:ext uri="{FF2B5EF4-FFF2-40B4-BE49-F238E27FC236}">
                <a16:creationId xmlns:a16="http://schemas.microsoft.com/office/drawing/2014/main" id="{4BB58DBA-FFFD-7457-1B03-69EDAE07FEC8}"/>
              </a:ext>
            </a:extLst>
          </p:cNvPr>
          <p:cNvSpPr>
            <a:spLocks noChangeShapeType="1"/>
          </p:cNvSpPr>
          <p:nvPr/>
        </p:nvSpPr>
        <p:spPr bwMode="auto">
          <a:xfrm>
            <a:off x="6559550" y="47704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6" name="Line 10">
            <a:extLst>
              <a:ext uri="{FF2B5EF4-FFF2-40B4-BE49-F238E27FC236}">
                <a16:creationId xmlns:a16="http://schemas.microsoft.com/office/drawing/2014/main" id="{15D0EC12-8C04-DBDA-77B8-31C1669D8E46}"/>
              </a:ext>
            </a:extLst>
          </p:cNvPr>
          <p:cNvSpPr>
            <a:spLocks noChangeShapeType="1"/>
          </p:cNvSpPr>
          <p:nvPr/>
        </p:nvSpPr>
        <p:spPr bwMode="auto">
          <a:xfrm>
            <a:off x="7016750" y="47704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7" name="Line 11">
            <a:extLst>
              <a:ext uri="{FF2B5EF4-FFF2-40B4-BE49-F238E27FC236}">
                <a16:creationId xmlns:a16="http://schemas.microsoft.com/office/drawing/2014/main" id="{29694A4A-41E9-63A7-6D65-D148BEA3CFCC}"/>
              </a:ext>
            </a:extLst>
          </p:cNvPr>
          <p:cNvSpPr>
            <a:spLocks noChangeShapeType="1"/>
          </p:cNvSpPr>
          <p:nvPr/>
        </p:nvSpPr>
        <p:spPr bwMode="auto">
          <a:xfrm>
            <a:off x="7473950" y="47704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8" name="Line 12">
            <a:extLst>
              <a:ext uri="{FF2B5EF4-FFF2-40B4-BE49-F238E27FC236}">
                <a16:creationId xmlns:a16="http://schemas.microsoft.com/office/drawing/2014/main" id="{F75F4448-007F-FA44-32ED-77EA107576D2}"/>
              </a:ext>
            </a:extLst>
          </p:cNvPr>
          <p:cNvSpPr>
            <a:spLocks noChangeShapeType="1"/>
          </p:cNvSpPr>
          <p:nvPr/>
        </p:nvSpPr>
        <p:spPr bwMode="auto">
          <a:xfrm>
            <a:off x="7931150" y="47704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9" name="Line 13">
            <a:extLst>
              <a:ext uri="{FF2B5EF4-FFF2-40B4-BE49-F238E27FC236}">
                <a16:creationId xmlns:a16="http://schemas.microsoft.com/office/drawing/2014/main" id="{D0F8111B-3D8F-668B-244E-4617C408E2F9}"/>
              </a:ext>
            </a:extLst>
          </p:cNvPr>
          <p:cNvSpPr>
            <a:spLocks noChangeShapeType="1"/>
          </p:cNvSpPr>
          <p:nvPr/>
        </p:nvSpPr>
        <p:spPr bwMode="auto">
          <a:xfrm>
            <a:off x="8388350" y="47704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0" name="Rectangle 14" descr="羊皮纸">
            <a:extLst>
              <a:ext uri="{FF2B5EF4-FFF2-40B4-BE49-F238E27FC236}">
                <a16:creationId xmlns:a16="http://schemas.microsoft.com/office/drawing/2014/main" id="{FA057F3C-5072-D991-7E19-8D7484453B03}"/>
              </a:ext>
            </a:extLst>
          </p:cNvPr>
          <p:cNvSpPr>
            <a:spLocks noChangeArrowheads="1"/>
          </p:cNvSpPr>
          <p:nvPr/>
        </p:nvSpPr>
        <p:spPr bwMode="auto">
          <a:xfrm>
            <a:off x="3816350" y="5380038"/>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19471" name="Line 15">
            <a:extLst>
              <a:ext uri="{FF2B5EF4-FFF2-40B4-BE49-F238E27FC236}">
                <a16:creationId xmlns:a16="http://schemas.microsoft.com/office/drawing/2014/main" id="{215A8BEF-5B9D-62BE-2478-F2FCAE422418}"/>
              </a:ext>
            </a:extLst>
          </p:cNvPr>
          <p:cNvSpPr>
            <a:spLocks noChangeShapeType="1"/>
          </p:cNvSpPr>
          <p:nvPr/>
        </p:nvSpPr>
        <p:spPr bwMode="auto">
          <a:xfrm>
            <a:off x="4273550" y="53800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2" name="Line 16">
            <a:extLst>
              <a:ext uri="{FF2B5EF4-FFF2-40B4-BE49-F238E27FC236}">
                <a16:creationId xmlns:a16="http://schemas.microsoft.com/office/drawing/2014/main" id="{FD57CB9C-2D5F-832F-F573-7C27B8DB1719}"/>
              </a:ext>
            </a:extLst>
          </p:cNvPr>
          <p:cNvSpPr>
            <a:spLocks noChangeShapeType="1"/>
          </p:cNvSpPr>
          <p:nvPr/>
        </p:nvSpPr>
        <p:spPr bwMode="auto">
          <a:xfrm>
            <a:off x="4730750" y="53800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3" name="Line 17">
            <a:extLst>
              <a:ext uri="{FF2B5EF4-FFF2-40B4-BE49-F238E27FC236}">
                <a16:creationId xmlns:a16="http://schemas.microsoft.com/office/drawing/2014/main" id="{DC09237F-686A-3C93-3544-0D8A29336E6E}"/>
              </a:ext>
            </a:extLst>
          </p:cNvPr>
          <p:cNvSpPr>
            <a:spLocks noChangeShapeType="1"/>
          </p:cNvSpPr>
          <p:nvPr/>
        </p:nvSpPr>
        <p:spPr bwMode="auto">
          <a:xfrm>
            <a:off x="5187950" y="53800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4" name="Line 18">
            <a:extLst>
              <a:ext uri="{FF2B5EF4-FFF2-40B4-BE49-F238E27FC236}">
                <a16:creationId xmlns:a16="http://schemas.microsoft.com/office/drawing/2014/main" id="{766E9192-0A2C-1970-1852-5776F24C9AAB}"/>
              </a:ext>
            </a:extLst>
          </p:cNvPr>
          <p:cNvSpPr>
            <a:spLocks noChangeShapeType="1"/>
          </p:cNvSpPr>
          <p:nvPr/>
        </p:nvSpPr>
        <p:spPr bwMode="auto">
          <a:xfrm>
            <a:off x="5645150" y="53800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5" name="Line 19">
            <a:extLst>
              <a:ext uri="{FF2B5EF4-FFF2-40B4-BE49-F238E27FC236}">
                <a16:creationId xmlns:a16="http://schemas.microsoft.com/office/drawing/2014/main" id="{5546BEEC-94D1-C20A-69D8-C13414B84974}"/>
              </a:ext>
            </a:extLst>
          </p:cNvPr>
          <p:cNvSpPr>
            <a:spLocks noChangeShapeType="1"/>
          </p:cNvSpPr>
          <p:nvPr/>
        </p:nvSpPr>
        <p:spPr bwMode="auto">
          <a:xfrm>
            <a:off x="6102350" y="53800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6" name="Line 20">
            <a:extLst>
              <a:ext uri="{FF2B5EF4-FFF2-40B4-BE49-F238E27FC236}">
                <a16:creationId xmlns:a16="http://schemas.microsoft.com/office/drawing/2014/main" id="{2F7E6646-2898-AF6A-CE38-0EE6FBC6FB00}"/>
              </a:ext>
            </a:extLst>
          </p:cNvPr>
          <p:cNvSpPr>
            <a:spLocks noChangeShapeType="1"/>
          </p:cNvSpPr>
          <p:nvPr/>
        </p:nvSpPr>
        <p:spPr bwMode="auto">
          <a:xfrm>
            <a:off x="6559550" y="53800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7" name="Line 21">
            <a:extLst>
              <a:ext uri="{FF2B5EF4-FFF2-40B4-BE49-F238E27FC236}">
                <a16:creationId xmlns:a16="http://schemas.microsoft.com/office/drawing/2014/main" id="{9C0A2CBF-136B-F83D-E7EC-5746EC25E6B7}"/>
              </a:ext>
            </a:extLst>
          </p:cNvPr>
          <p:cNvSpPr>
            <a:spLocks noChangeShapeType="1"/>
          </p:cNvSpPr>
          <p:nvPr/>
        </p:nvSpPr>
        <p:spPr bwMode="auto">
          <a:xfrm>
            <a:off x="7016750" y="53800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8" name="Line 22">
            <a:extLst>
              <a:ext uri="{FF2B5EF4-FFF2-40B4-BE49-F238E27FC236}">
                <a16:creationId xmlns:a16="http://schemas.microsoft.com/office/drawing/2014/main" id="{D78D39B7-8334-4D87-1365-A27B0138B04E}"/>
              </a:ext>
            </a:extLst>
          </p:cNvPr>
          <p:cNvSpPr>
            <a:spLocks noChangeShapeType="1"/>
          </p:cNvSpPr>
          <p:nvPr/>
        </p:nvSpPr>
        <p:spPr bwMode="auto">
          <a:xfrm>
            <a:off x="7473950" y="53800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9" name="Line 23">
            <a:extLst>
              <a:ext uri="{FF2B5EF4-FFF2-40B4-BE49-F238E27FC236}">
                <a16:creationId xmlns:a16="http://schemas.microsoft.com/office/drawing/2014/main" id="{C6F94048-6568-D693-82DC-30637C140F17}"/>
              </a:ext>
            </a:extLst>
          </p:cNvPr>
          <p:cNvSpPr>
            <a:spLocks noChangeShapeType="1"/>
          </p:cNvSpPr>
          <p:nvPr/>
        </p:nvSpPr>
        <p:spPr bwMode="auto">
          <a:xfrm>
            <a:off x="7931150" y="53800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0" name="Line 24">
            <a:extLst>
              <a:ext uri="{FF2B5EF4-FFF2-40B4-BE49-F238E27FC236}">
                <a16:creationId xmlns:a16="http://schemas.microsoft.com/office/drawing/2014/main" id="{C0644407-17A3-47B2-84DD-F060BA6C75A6}"/>
              </a:ext>
            </a:extLst>
          </p:cNvPr>
          <p:cNvSpPr>
            <a:spLocks noChangeShapeType="1"/>
          </p:cNvSpPr>
          <p:nvPr/>
        </p:nvSpPr>
        <p:spPr bwMode="auto">
          <a:xfrm>
            <a:off x="8388350" y="53800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1" name="Rectangle 25" descr="羊皮纸">
            <a:extLst>
              <a:ext uri="{FF2B5EF4-FFF2-40B4-BE49-F238E27FC236}">
                <a16:creationId xmlns:a16="http://schemas.microsoft.com/office/drawing/2014/main" id="{EECCD005-E9E8-97F5-CFEB-C8ADB0C63DAE}"/>
              </a:ext>
            </a:extLst>
          </p:cNvPr>
          <p:cNvSpPr>
            <a:spLocks noChangeArrowheads="1"/>
          </p:cNvSpPr>
          <p:nvPr/>
        </p:nvSpPr>
        <p:spPr bwMode="auto">
          <a:xfrm>
            <a:off x="3816350" y="6065838"/>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19482" name="Line 26">
            <a:extLst>
              <a:ext uri="{FF2B5EF4-FFF2-40B4-BE49-F238E27FC236}">
                <a16:creationId xmlns:a16="http://schemas.microsoft.com/office/drawing/2014/main" id="{8851E5E1-D007-31A4-0C87-1E954BC57107}"/>
              </a:ext>
            </a:extLst>
          </p:cNvPr>
          <p:cNvSpPr>
            <a:spLocks noChangeShapeType="1"/>
          </p:cNvSpPr>
          <p:nvPr/>
        </p:nvSpPr>
        <p:spPr bwMode="auto">
          <a:xfrm>
            <a:off x="4273550" y="60658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3" name="Line 27">
            <a:extLst>
              <a:ext uri="{FF2B5EF4-FFF2-40B4-BE49-F238E27FC236}">
                <a16:creationId xmlns:a16="http://schemas.microsoft.com/office/drawing/2014/main" id="{B496C85E-3A13-BA0B-B4BA-063F22B2D0BA}"/>
              </a:ext>
            </a:extLst>
          </p:cNvPr>
          <p:cNvSpPr>
            <a:spLocks noChangeShapeType="1"/>
          </p:cNvSpPr>
          <p:nvPr/>
        </p:nvSpPr>
        <p:spPr bwMode="auto">
          <a:xfrm>
            <a:off x="4730750" y="60658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4" name="Line 28">
            <a:extLst>
              <a:ext uri="{FF2B5EF4-FFF2-40B4-BE49-F238E27FC236}">
                <a16:creationId xmlns:a16="http://schemas.microsoft.com/office/drawing/2014/main" id="{28A0CD97-4AD2-3F10-B476-E1D6BCBD5357}"/>
              </a:ext>
            </a:extLst>
          </p:cNvPr>
          <p:cNvSpPr>
            <a:spLocks noChangeShapeType="1"/>
          </p:cNvSpPr>
          <p:nvPr/>
        </p:nvSpPr>
        <p:spPr bwMode="auto">
          <a:xfrm>
            <a:off x="5187950" y="60658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5" name="Line 29">
            <a:extLst>
              <a:ext uri="{FF2B5EF4-FFF2-40B4-BE49-F238E27FC236}">
                <a16:creationId xmlns:a16="http://schemas.microsoft.com/office/drawing/2014/main" id="{FECA87C1-C030-AFD5-6337-BB02D1C3A5EF}"/>
              </a:ext>
            </a:extLst>
          </p:cNvPr>
          <p:cNvSpPr>
            <a:spLocks noChangeShapeType="1"/>
          </p:cNvSpPr>
          <p:nvPr/>
        </p:nvSpPr>
        <p:spPr bwMode="auto">
          <a:xfrm>
            <a:off x="5645150" y="60658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6" name="Line 30">
            <a:extLst>
              <a:ext uri="{FF2B5EF4-FFF2-40B4-BE49-F238E27FC236}">
                <a16:creationId xmlns:a16="http://schemas.microsoft.com/office/drawing/2014/main" id="{8CFCC7B7-1CB1-A246-EEF0-92531FC591BA}"/>
              </a:ext>
            </a:extLst>
          </p:cNvPr>
          <p:cNvSpPr>
            <a:spLocks noChangeShapeType="1"/>
          </p:cNvSpPr>
          <p:nvPr/>
        </p:nvSpPr>
        <p:spPr bwMode="auto">
          <a:xfrm>
            <a:off x="6102350" y="60658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7" name="Line 31">
            <a:extLst>
              <a:ext uri="{FF2B5EF4-FFF2-40B4-BE49-F238E27FC236}">
                <a16:creationId xmlns:a16="http://schemas.microsoft.com/office/drawing/2014/main" id="{51417574-3CCD-7D12-EC6E-C89C36240ACE}"/>
              </a:ext>
            </a:extLst>
          </p:cNvPr>
          <p:cNvSpPr>
            <a:spLocks noChangeShapeType="1"/>
          </p:cNvSpPr>
          <p:nvPr/>
        </p:nvSpPr>
        <p:spPr bwMode="auto">
          <a:xfrm>
            <a:off x="6559550" y="60658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8" name="Line 32">
            <a:extLst>
              <a:ext uri="{FF2B5EF4-FFF2-40B4-BE49-F238E27FC236}">
                <a16:creationId xmlns:a16="http://schemas.microsoft.com/office/drawing/2014/main" id="{E8B02A3F-DF81-A1E4-F169-25C2C4DB9553}"/>
              </a:ext>
            </a:extLst>
          </p:cNvPr>
          <p:cNvSpPr>
            <a:spLocks noChangeShapeType="1"/>
          </p:cNvSpPr>
          <p:nvPr/>
        </p:nvSpPr>
        <p:spPr bwMode="auto">
          <a:xfrm>
            <a:off x="7016750" y="60658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9" name="Line 33">
            <a:extLst>
              <a:ext uri="{FF2B5EF4-FFF2-40B4-BE49-F238E27FC236}">
                <a16:creationId xmlns:a16="http://schemas.microsoft.com/office/drawing/2014/main" id="{5C326BEB-7184-AE4D-6D7F-BE8B4861D3DA}"/>
              </a:ext>
            </a:extLst>
          </p:cNvPr>
          <p:cNvSpPr>
            <a:spLocks noChangeShapeType="1"/>
          </p:cNvSpPr>
          <p:nvPr/>
        </p:nvSpPr>
        <p:spPr bwMode="auto">
          <a:xfrm>
            <a:off x="7473950" y="60658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0" name="Line 34">
            <a:extLst>
              <a:ext uri="{FF2B5EF4-FFF2-40B4-BE49-F238E27FC236}">
                <a16:creationId xmlns:a16="http://schemas.microsoft.com/office/drawing/2014/main" id="{80A66E14-09FA-8267-7080-2C7B51B8BE93}"/>
              </a:ext>
            </a:extLst>
          </p:cNvPr>
          <p:cNvSpPr>
            <a:spLocks noChangeShapeType="1"/>
          </p:cNvSpPr>
          <p:nvPr/>
        </p:nvSpPr>
        <p:spPr bwMode="auto">
          <a:xfrm>
            <a:off x="7931150" y="60658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1" name="Line 35">
            <a:extLst>
              <a:ext uri="{FF2B5EF4-FFF2-40B4-BE49-F238E27FC236}">
                <a16:creationId xmlns:a16="http://schemas.microsoft.com/office/drawing/2014/main" id="{4373BDE5-C3A9-11D6-1260-6281B50D38C2}"/>
              </a:ext>
            </a:extLst>
          </p:cNvPr>
          <p:cNvSpPr>
            <a:spLocks noChangeShapeType="1"/>
          </p:cNvSpPr>
          <p:nvPr/>
        </p:nvSpPr>
        <p:spPr bwMode="auto">
          <a:xfrm>
            <a:off x="8388350" y="606583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2" name="Text Box 36">
            <a:extLst>
              <a:ext uri="{FF2B5EF4-FFF2-40B4-BE49-F238E27FC236}">
                <a16:creationId xmlns:a16="http://schemas.microsoft.com/office/drawing/2014/main" id="{62C50966-E7F0-E17C-E5FF-356EBD042D44}"/>
              </a:ext>
            </a:extLst>
          </p:cNvPr>
          <p:cNvSpPr txBox="1">
            <a:spLocks noChangeArrowheads="1"/>
          </p:cNvSpPr>
          <p:nvPr/>
        </p:nvSpPr>
        <p:spPr bwMode="auto">
          <a:xfrm>
            <a:off x="3038475" y="4770438"/>
            <a:ext cx="7381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this</a:t>
            </a:r>
            <a:endParaRPr kumimoji="1" lang="en-US" altLang="zh-CN" sz="2400">
              <a:latin typeface="Times New Roman" panose="02020603050405020304" pitchFamily="18" charset="0"/>
              <a:ea typeface="宋体" panose="02010600030101010101" pitchFamily="2" charset="-122"/>
            </a:endParaRPr>
          </a:p>
        </p:txBody>
      </p:sp>
      <p:sp>
        <p:nvSpPr>
          <p:cNvPr id="19493" name="Text Box 37">
            <a:extLst>
              <a:ext uri="{FF2B5EF4-FFF2-40B4-BE49-F238E27FC236}">
                <a16:creationId xmlns:a16="http://schemas.microsoft.com/office/drawing/2014/main" id="{9655564A-E14B-9C46-96F9-149089902830}"/>
              </a:ext>
            </a:extLst>
          </p:cNvPr>
          <p:cNvSpPr txBox="1">
            <a:spLocks noChangeArrowheads="1"/>
          </p:cNvSpPr>
          <p:nvPr/>
        </p:nvSpPr>
        <p:spPr bwMode="auto">
          <a:xfrm>
            <a:off x="2825750" y="5318125"/>
            <a:ext cx="935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right</a:t>
            </a:r>
            <a:endParaRPr kumimoji="1" lang="en-US" altLang="zh-CN" sz="2400">
              <a:latin typeface="Times New Roman" panose="02020603050405020304" pitchFamily="18" charset="0"/>
              <a:ea typeface="宋体" panose="02010600030101010101" pitchFamily="2" charset="-122"/>
            </a:endParaRPr>
          </a:p>
        </p:txBody>
      </p:sp>
      <p:sp>
        <p:nvSpPr>
          <p:cNvPr id="19494" name="Text Box 38">
            <a:extLst>
              <a:ext uri="{FF2B5EF4-FFF2-40B4-BE49-F238E27FC236}">
                <a16:creationId xmlns:a16="http://schemas.microsoft.com/office/drawing/2014/main" id="{50B8D353-13E3-BDB8-3ECB-50FCA1C283F7}"/>
              </a:ext>
            </a:extLst>
          </p:cNvPr>
          <p:cNvSpPr txBox="1">
            <a:spLocks noChangeArrowheads="1"/>
          </p:cNvSpPr>
          <p:nvPr/>
        </p:nvSpPr>
        <p:spPr bwMode="auto">
          <a:xfrm>
            <a:off x="2825750" y="5927725"/>
            <a:ext cx="955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temp</a:t>
            </a:r>
            <a:endParaRPr kumimoji="1" lang="en-US" altLang="zh-CN" sz="2400">
              <a:latin typeface="Times New Roman" panose="02020603050405020304" pitchFamily="18" charset="0"/>
              <a:ea typeface="宋体" panose="02010600030101010101" pitchFamily="2" charset="-122"/>
            </a:endParaRPr>
          </a:p>
        </p:txBody>
      </p:sp>
      <p:sp>
        <p:nvSpPr>
          <p:cNvPr id="19495" name="Text Box 39">
            <a:extLst>
              <a:ext uri="{FF2B5EF4-FFF2-40B4-BE49-F238E27FC236}">
                <a16:creationId xmlns:a16="http://schemas.microsoft.com/office/drawing/2014/main" id="{B347DD6A-B6CD-B6E8-18C8-CEA067336339}"/>
              </a:ext>
            </a:extLst>
          </p:cNvPr>
          <p:cNvSpPr txBox="1">
            <a:spLocks noChangeArrowheads="1"/>
          </p:cNvSpPr>
          <p:nvPr/>
        </p:nvSpPr>
        <p:spPr bwMode="auto">
          <a:xfrm>
            <a:off x="3886200" y="4724400"/>
            <a:ext cx="4857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0  1   1  1   0  0  0   0   1  1  0</a:t>
            </a:r>
            <a:endParaRPr kumimoji="1" lang="en-US" altLang="zh-CN" sz="2400">
              <a:latin typeface="Times New Roman" panose="02020603050405020304" pitchFamily="18" charset="0"/>
              <a:ea typeface="宋体" panose="02010600030101010101" pitchFamily="2" charset="-122"/>
            </a:endParaRPr>
          </a:p>
        </p:txBody>
      </p:sp>
      <p:sp>
        <p:nvSpPr>
          <p:cNvPr id="19496" name="Text Box 40">
            <a:extLst>
              <a:ext uri="{FF2B5EF4-FFF2-40B4-BE49-F238E27FC236}">
                <a16:creationId xmlns:a16="http://schemas.microsoft.com/office/drawing/2014/main" id="{3A2296F5-7A6A-3BDA-BC56-B2ED9C8D0EC0}"/>
              </a:ext>
            </a:extLst>
          </p:cNvPr>
          <p:cNvSpPr txBox="1">
            <a:spLocks noChangeArrowheads="1"/>
          </p:cNvSpPr>
          <p:nvPr/>
        </p:nvSpPr>
        <p:spPr bwMode="auto">
          <a:xfrm>
            <a:off x="3892550" y="5303838"/>
            <a:ext cx="4857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0  0   1  0   0  1  0   1   0  1  0</a:t>
            </a:r>
            <a:endParaRPr kumimoji="1" lang="en-US" altLang="zh-CN" sz="2400">
              <a:latin typeface="Times New Roman" panose="02020603050405020304" pitchFamily="18" charset="0"/>
              <a:ea typeface="宋体" panose="02010600030101010101" pitchFamily="2" charset="-122"/>
            </a:endParaRPr>
          </a:p>
        </p:txBody>
      </p:sp>
      <p:sp>
        <p:nvSpPr>
          <p:cNvPr id="19497" name="Text Box 41">
            <a:extLst>
              <a:ext uri="{FF2B5EF4-FFF2-40B4-BE49-F238E27FC236}">
                <a16:creationId xmlns:a16="http://schemas.microsoft.com/office/drawing/2014/main" id="{CB410744-8FF0-798A-9C1F-88190EC80119}"/>
              </a:ext>
            </a:extLst>
          </p:cNvPr>
          <p:cNvSpPr txBox="1">
            <a:spLocks noChangeArrowheads="1"/>
          </p:cNvSpPr>
          <p:nvPr/>
        </p:nvSpPr>
        <p:spPr bwMode="auto">
          <a:xfrm>
            <a:off x="3892550" y="5989638"/>
            <a:ext cx="4857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a:t>
            </a:r>
            <a:r>
              <a:rPr kumimoji="1" lang="en-US" altLang="zh-CN" sz="3200" b="1">
                <a:solidFill>
                  <a:srgbClr val="CC3300"/>
                </a:solidFill>
                <a:latin typeface="Times New Roman" panose="02020603050405020304" pitchFamily="18" charset="0"/>
                <a:ea typeface="宋体" panose="02010600030101010101" pitchFamily="2" charset="-122"/>
              </a:rPr>
              <a:t>1   1  1</a:t>
            </a:r>
            <a:r>
              <a:rPr kumimoji="1" lang="en-US" altLang="zh-CN" sz="3200" b="1">
                <a:solidFill>
                  <a:srgbClr val="009900"/>
                </a:solidFill>
                <a:latin typeface="Times New Roman" panose="02020603050405020304" pitchFamily="18" charset="0"/>
                <a:ea typeface="宋体" panose="02010600030101010101" pitchFamily="2" charset="-122"/>
              </a:rPr>
              <a:t>   0  </a:t>
            </a:r>
            <a:r>
              <a:rPr kumimoji="1" lang="en-US" altLang="zh-CN" sz="3200" b="1">
                <a:solidFill>
                  <a:srgbClr val="CC3300"/>
                </a:solidFill>
                <a:latin typeface="Times New Roman" panose="02020603050405020304" pitchFamily="18" charset="0"/>
                <a:ea typeface="宋体" panose="02010600030101010101" pitchFamily="2" charset="-122"/>
              </a:rPr>
              <a:t>1</a:t>
            </a:r>
            <a:r>
              <a:rPr kumimoji="1" lang="en-US" altLang="zh-CN" sz="3200" b="1">
                <a:solidFill>
                  <a:srgbClr val="009900"/>
                </a:solidFill>
                <a:latin typeface="Times New Roman" panose="02020603050405020304" pitchFamily="18" charset="0"/>
                <a:ea typeface="宋体" panose="02010600030101010101" pitchFamily="2" charset="-122"/>
              </a:rPr>
              <a:t>  0   </a:t>
            </a:r>
            <a:r>
              <a:rPr kumimoji="1" lang="en-US" altLang="zh-CN" sz="3200" b="1">
                <a:solidFill>
                  <a:srgbClr val="CC3300"/>
                </a:solidFill>
                <a:latin typeface="Times New Roman" panose="02020603050405020304" pitchFamily="18" charset="0"/>
                <a:ea typeface="宋体" panose="02010600030101010101" pitchFamily="2" charset="-122"/>
              </a:rPr>
              <a:t>1   1  1</a:t>
            </a:r>
            <a:r>
              <a:rPr kumimoji="1" lang="en-US" altLang="zh-CN" sz="3200" b="1">
                <a:solidFill>
                  <a:srgbClr val="009900"/>
                </a:solidFill>
                <a:latin typeface="Times New Roman" panose="02020603050405020304" pitchFamily="18" charset="0"/>
                <a:ea typeface="宋体" panose="02010600030101010101" pitchFamily="2" charset="-122"/>
              </a:rPr>
              <a:t>  0</a:t>
            </a:r>
            <a:endParaRPr kumimoji="1" lang="en-US" altLang="zh-CN" sz="2400">
              <a:latin typeface="Times New Roman" panose="02020603050405020304" pitchFamily="18" charset="0"/>
              <a:ea typeface="宋体" panose="02010600030101010101" pitchFamily="2" charset="-122"/>
            </a:endParaRPr>
          </a:p>
        </p:txBody>
      </p:sp>
      <p:sp>
        <p:nvSpPr>
          <p:cNvPr id="3" name="内容占位符 2">
            <a:extLst>
              <a:ext uri="{FF2B5EF4-FFF2-40B4-BE49-F238E27FC236}">
                <a16:creationId xmlns:a16="http://schemas.microsoft.com/office/drawing/2014/main" id="{ED872D1F-C9E0-4E43-98C6-CC2795B6F2A6}"/>
              </a:ext>
            </a:extLst>
          </p:cNvPr>
          <p:cNvSpPr>
            <a:spLocks noGrp="1"/>
          </p:cNvSpPr>
          <p:nvPr>
            <p:ph idx="1"/>
          </p:nvPr>
        </p:nvSpPr>
        <p:spPr>
          <a:xfrm>
            <a:off x="179512" y="365917"/>
            <a:ext cx="8784976" cy="5014121"/>
          </a:xfrm>
        </p:spPr>
        <p:txBody>
          <a:bodyPr>
            <a:normAutofit fontScale="92500" lnSpcReduction="10000"/>
          </a:bodyPr>
          <a:lstStyle/>
          <a:p>
            <a:pPr marL="0" indent="0">
              <a:buNone/>
            </a:pPr>
            <a:r>
              <a:rPr lang="en-US" altLang="zh-CN" dirty="0" err="1"/>
              <a:t>bitSet</a:t>
            </a:r>
            <a:r>
              <a:rPr lang="en-US" altLang="zh-CN" dirty="0"/>
              <a:t> </a:t>
            </a:r>
            <a:r>
              <a:rPr lang="en-US" altLang="zh-CN" dirty="0" err="1"/>
              <a:t>bitSet</a:t>
            </a:r>
            <a:r>
              <a:rPr lang="en-US" altLang="zh-CN" dirty="0"/>
              <a:t> :: operator + ( const </a:t>
            </a:r>
            <a:r>
              <a:rPr lang="en-US" altLang="zh-CN" dirty="0" err="1"/>
              <a:t>bitSet</a:t>
            </a:r>
            <a:r>
              <a:rPr lang="en-US" altLang="zh-CN" dirty="0"/>
              <a:t>&amp; R ) {      //</a:t>
            </a:r>
            <a:r>
              <a:rPr lang="zh-CN" altLang="en-US" dirty="0"/>
              <a:t>求并集</a:t>
            </a:r>
          </a:p>
          <a:p>
            <a:pPr marL="0" indent="0">
              <a:buNone/>
            </a:pPr>
            <a:r>
              <a:rPr lang="zh-CN" altLang="en-US" dirty="0"/>
              <a:t>    </a:t>
            </a:r>
            <a:r>
              <a:rPr lang="en-US" altLang="zh-CN" dirty="0"/>
              <a:t>assert ( </a:t>
            </a:r>
            <a:r>
              <a:rPr lang="en-US" altLang="zh-CN" dirty="0" err="1"/>
              <a:t>vectorSize</a:t>
            </a:r>
            <a:r>
              <a:rPr lang="en-US" altLang="zh-CN" dirty="0"/>
              <a:t> == </a:t>
            </a:r>
            <a:r>
              <a:rPr lang="en-US" altLang="zh-CN" dirty="0" err="1"/>
              <a:t>R.vectorSize</a:t>
            </a:r>
            <a:r>
              <a:rPr lang="en-US" altLang="zh-CN" dirty="0"/>
              <a:t> );</a:t>
            </a:r>
          </a:p>
          <a:p>
            <a:pPr marL="0" indent="0">
              <a:buNone/>
            </a:pPr>
            <a:r>
              <a:rPr lang="en-US" altLang="zh-CN" dirty="0"/>
              <a:t>    </a:t>
            </a:r>
            <a:r>
              <a:rPr lang="en-US" altLang="zh-CN" dirty="0" err="1"/>
              <a:t>bitSet</a:t>
            </a:r>
            <a:r>
              <a:rPr lang="en-US" altLang="zh-CN" dirty="0"/>
              <a:t> temp ( </a:t>
            </a:r>
            <a:r>
              <a:rPr lang="en-US" altLang="zh-CN" dirty="0" err="1"/>
              <a:t>vectorSize</a:t>
            </a:r>
            <a:r>
              <a:rPr lang="en-US" altLang="zh-CN" dirty="0"/>
              <a:t> );</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a:t>
            </a:r>
            <a:r>
              <a:rPr lang="en-US" altLang="zh-CN" dirty="0" err="1"/>
              <a:t>vectorSize</a:t>
            </a:r>
            <a:r>
              <a:rPr lang="en-US" altLang="zh-CN" dirty="0"/>
              <a:t>; </a:t>
            </a:r>
            <a:r>
              <a:rPr lang="en-US" altLang="zh-CN" dirty="0" err="1"/>
              <a:t>i</a:t>
            </a:r>
            <a:r>
              <a:rPr lang="en-US" altLang="zh-CN" dirty="0"/>
              <a:t>++ ) </a:t>
            </a:r>
          </a:p>
          <a:p>
            <a:pPr marL="0" indent="0">
              <a:buNone/>
            </a:pPr>
            <a:r>
              <a:rPr lang="en-US" altLang="zh-CN" dirty="0"/>
              <a:t>        </a:t>
            </a:r>
            <a:r>
              <a:rPr lang="en-US" altLang="zh-CN" dirty="0" err="1"/>
              <a:t>temp.bitVector</a:t>
            </a:r>
            <a:r>
              <a:rPr lang="en-US" altLang="zh-CN" dirty="0"/>
              <a:t>[</a:t>
            </a:r>
            <a:r>
              <a:rPr lang="en-US" altLang="zh-CN" dirty="0" err="1"/>
              <a:t>i</a:t>
            </a:r>
            <a:r>
              <a:rPr lang="en-US" altLang="zh-CN" dirty="0"/>
              <a:t>] = </a:t>
            </a:r>
            <a:r>
              <a:rPr lang="en-US" altLang="zh-CN" dirty="0" err="1"/>
              <a:t>bitVector</a:t>
            </a:r>
            <a:r>
              <a:rPr lang="en-US" altLang="zh-CN" dirty="0"/>
              <a:t>[</a:t>
            </a:r>
            <a:r>
              <a:rPr lang="en-US" altLang="zh-CN" dirty="0" err="1"/>
              <a:t>i</a:t>
            </a:r>
            <a:r>
              <a:rPr lang="en-US" altLang="zh-CN" dirty="0"/>
              <a:t>] | </a:t>
            </a:r>
            <a:r>
              <a:rPr lang="en-US" altLang="zh-CN" dirty="0" err="1"/>
              <a:t>R.bitVector</a:t>
            </a:r>
            <a:r>
              <a:rPr lang="en-US" altLang="zh-CN" dirty="0"/>
              <a:t>[</a:t>
            </a:r>
            <a:r>
              <a:rPr lang="en-US" altLang="zh-CN" dirty="0" err="1"/>
              <a:t>i</a:t>
            </a:r>
            <a:r>
              <a:rPr lang="en-US" altLang="zh-CN" dirty="0"/>
              <a:t>];</a:t>
            </a:r>
          </a:p>
          <a:p>
            <a:pPr marL="0" indent="0">
              <a:buNone/>
            </a:pPr>
            <a:r>
              <a:rPr lang="en-US" altLang="zh-CN" dirty="0"/>
              <a:t>    return temp;</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AF3D6570-74C0-7876-7C94-8DBD60E76CC9}"/>
              </a:ext>
            </a:extLst>
          </p:cNvPr>
          <p:cNvSpPr>
            <a:spLocks noGrp="1"/>
          </p:cNvSpPr>
          <p:nvPr>
            <p:ph type="sldNum" sz="quarter" idx="12"/>
          </p:nvPr>
        </p:nvSpPr>
        <p:spPr/>
        <p:txBody>
          <a:bodyPr/>
          <a:lstStyle/>
          <a:p>
            <a:pPr>
              <a:defRPr/>
            </a:pPr>
            <a:fld id="{524B865F-46F8-4520-B0DD-31ED36EF62D9}" type="slidenum">
              <a:rPr lang="en-US" altLang="zh-CN" smtClean="0"/>
              <a:pPr>
                <a:defRPr/>
              </a:pPr>
              <a:t>13</a:t>
            </a:fld>
            <a:endParaRPr lang="en-US" altLang="zh-CN"/>
          </a:p>
        </p:txBody>
      </p:sp>
    </p:spTree>
  </p:cSld>
  <p:clrMapOvr>
    <a:masterClrMapping/>
  </p:clrMapOvr>
  <p:transition>
    <p:spli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descr="羊皮纸">
            <a:extLst>
              <a:ext uri="{FF2B5EF4-FFF2-40B4-BE49-F238E27FC236}">
                <a16:creationId xmlns:a16="http://schemas.microsoft.com/office/drawing/2014/main" id="{69834FD1-B09A-4E57-82D9-200F5DEC6EC4}"/>
              </a:ext>
            </a:extLst>
          </p:cNvPr>
          <p:cNvSpPr>
            <a:spLocks noChangeArrowheads="1"/>
          </p:cNvSpPr>
          <p:nvPr/>
        </p:nvSpPr>
        <p:spPr bwMode="auto">
          <a:xfrm>
            <a:off x="3521075" y="4572000"/>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0484" name="Line 4">
            <a:extLst>
              <a:ext uri="{FF2B5EF4-FFF2-40B4-BE49-F238E27FC236}">
                <a16:creationId xmlns:a16="http://schemas.microsoft.com/office/drawing/2014/main" id="{6057124F-3A2A-61B9-5792-FA6A1E6F0956}"/>
              </a:ext>
            </a:extLst>
          </p:cNvPr>
          <p:cNvSpPr>
            <a:spLocks noChangeShapeType="1"/>
          </p:cNvSpPr>
          <p:nvPr/>
        </p:nvSpPr>
        <p:spPr bwMode="auto">
          <a:xfrm>
            <a:off x="3978275" y="4572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85" name="Line 5">
            <a:extLst>
              <a:ext uri="{FF2B5EF4-FFF2-40B4-BE49-F238E27FC236}">
                <a16:creationId xmlns:a16="http://schemas.microsoft.com/office/drawing/2014/main" id="{0802EEC8-2A37-E187-CA03-54697775DC86}"/>
              </a:ext>
            </a:extLst>
          </p:cNvPr>
          <p:cNvSpPr>
            <a:spLocks noChangeShapeType="1"/>
          </p:cNvSpPr>
          <p:nvPr/>
        </p:nvSpPr>
        <p:spPr bwMode="auto">
          <a:xfrm>
            <a:off x="4435475" y="4572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86" name="Line 6">
            <a:extLst>
              <a:ext uri="{FF2B5EF4-FFF2-40B4-BE49-F238E27FC236}">
                <a16:creationId xmlns:a16="http://schemas.microsoft.com/office/drawing/2014/main" id="{D67C8AFA-B5E3-0EF4-C9C7-2BBFDFD1DE28}"/>
              </a:ext>
            </a:extLst>
          </p:cNvPr>
          <p:cNvSpPr>
            <a:spLocks noChangeShapeType="1"/>
          </p:cNvSpPr>
          <p:nvPr/>
        </p:nvSpPr>
        <p:spPr bwMode="auto">
          <a:xfrm>
            <a:off x="4892675" y="4572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87" name="Line 7">
            <a:extLst>
              <a:ext uri="{FF2B5EF4-FFF2-40B4-BE49-F238E27FC236}">
                <a16:creationId xmlns:a16="http://schemas.microsoft.com/office/drawing/2014/main" id="{6C8AB42C-15EE-6588-DEE2-4610DA92606D}"/>
              </a:ext>
            </a:extLst>
          </p:cNvPr>
          <p:cNvSpPr>
            <a:spLocks noChangeShapeType="1"/>
          </p:cNvSpPr>
          <p:nvPr/>
        </p:nvSpPr>
        <p:spPr bwMode="auto">
          <a:xfrm>
            <a:off x="5349875" y="4572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88" name="Line 8">
            <a:extLst>
              <a:ext uri="{FF2B5EF4-FFF2-40B4-BE49-F238E27FC236}">
                <a16:creationId xmlns:a16="http://schemas.microsoft.com/office/drawing/2014/main" id="{1368D763-F13F-6CCD-6E50-239AC9EC0E6C}"/>
              </a:ext>
            </a:extLst>
          </p:cNvPr>
          <p:cNvSpPr>
            <a:spLocks noChangeShapeType="1"/>
          </p:cNvSpPr>
          <p:nvPr/>
        </p:nvSpPr>
        <p:spPr bwMode="auto">
          <a:xfrm>
            <a:off x="5807075" y="4572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89" name="Line 9">
            <a:extLst>
              <a:ext uri="{FF2B5EF4-FFF2-40B4-BE49-F238E27FC236}">
                <a16:creationId xmlns:a16="http://schemas.microsoft.com/office/drawing/2014/main" id="{FC4521BA-2FB8-4F30-AD30-0D6C4A9FA932}"/>
              </a:ext>
            </a:extLst>
          </p:cNvPr>
          <p:cNvSpPr>
            <a:spLocks noChangeShapeType="1"/>
          </p:cNvSpPr>
          <p:nvPr/>
        </p:nvSpPr>
        <p:spPr bwMode="auto">
          <a:xfrm>
            <a:off x="6264275" y="4572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0" name="Line 10">
            <a:extLst>
              <a:ext uri="{FF2B5EF4-FFF2-40B4-BE49-F238E27FC236}">
                <a16:creationId xmlns:a16="http://schemas.microsoft.com/office/drawing/2014/main" id="{CD4D3495-7038-7EA1-A5A4-39CB762B805B}"/>
              </a:ext>
            </a:extLst>
          </p:cNvPr>
          <p:cNvSpPr>
            <a:spLocks noChangeShapeType="1"/>
          </p:cNvSpPr>
          <p:nvPr/>
        </p:nvSpPr>
        <p:spPr bwMode="auto">
          <a:xfrm>
            <a:off x="6721475" y="4572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1" name="Line 11">
            <a:extLst>
              <a:ext uri="{FF2B5EF4-FFF2-40B4-BE49-F238E27FC236}">
                <a16:creationId xmlns:a16="http://schemas.microsoft.com/office/drawing/2014/main" id="{D4C2C1E5-C3C8-95CC-FCF1-DC7F1A9BE3CA}"/>
              </a:ext>
            </a:extLst>
          </p:cNvPr>
          <p:cNvSpPr>
            <a:spLocks noChangeShapeType="1"/>
          </p:cNvSpPr>
          <p:nvPr/>
        </p:nvSpPr>
        <p:spPr bwMode="auto">
          <a:xfrm>
            <a:off x="7178675" y="4572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2" name="Line 12">
            <a:extLst>
              <a:ext uri="{FF2B5EF4-FFF2-40B4-BE49-F238E27FC236}">
                <a16:creationId xmlns:a16="http://schemas.microsoft.com/office/drawing/2014/main" id="{A5373FF0-E0D3-4359-A08C-BAA990A2A890}"/>
              </a:ext>
            </a:extLst>
          </p:cNvPr>
          <p:cNvSpPr>
            <a:spLocks noChangeShapeType="1"/>
          </p:cNvSpPr>
          <p:nvPr/>
        </p:nvSpPr>
        <p:spPr bwMode="auto">
          <a:xfrm>
            <a:off x="7635875" y="4572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3" name="Line 13">
            <a:extLst>
              <a:ext uri="{FF2B5EF4-FFF2-40B4-BE49-F238E27FC236}">
                <a16:creationId xmlns:a16="http://schemas.microsoft.com/office/drawing/2014/main" id="{219B985D-03FF-C8D5-E0A3-4A945FEB7E7B}"/>
              </a:ext>
            </a:extLst>
          </p:cNvPr>
          <p:cNvSpPr>
            <a:spLocks noChangeShapeType="1"/>
          </p:cNvSpPr>
          <p:nvPr/>
        </p:nvSpPr>
        <p:spPr bwMode="auto">
          <a:xfrm>
            <a:off x="8093075" y="4572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4" name="Rectangle 14" descr="羊皮纸">
            <a:extLst>
              <a:ext uri="{FF2B5EF4-FFF2-40B4-BE49-F238E27FC236}">
                <a16:creationId xmlns:a16="http://schemas.microsoft.com/office/drawing/2014/main" id="{DBA4F100-E8C1-D0C2-2FA1-0376A4F05582}"/>
              </a:ext>
            </a:extLst>
          </p:cNvPr>
          <p:cNvSpPr>
            <a:spLocks noChangeArrowheads="1"/>
          </p:cNvSpPr>
          <p:nvPr/>
        </p:nvSpPr>
        <p:spPr bwMode="auto">
          <a:xfrm>
            <a:off x="3521075" y="5181600"/>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0495" name="Line 15">
            <a:extLst>
              <a:ext uri="{FF2B5EF4-FFF2-40B4-BE49-F238E27FC236}">
                <a16:creationId xmlns:a16="http://schemas.microsoft.com/office/drawing/2014/main" id="{178B13DB-F084-5514-101C-C09B7C755789}"/>
              </a:ext>
            </a:extLst>
          </p:cNvPr>
          <p:cNvSpPr>
            <a:spLocks noChangeShapeType="1"/>
          </p:cNvSpPr>
          <p:nvPr/>
        </p:nvSpPr>
        <p:spPr bwMode="auto">
          <a:xfrm>
            <a:off x="3978275" y="5181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6" name="Line 16">
            <a:extLst>
              <a:ext uri="{FF2B5EF4-FFF2-40B4-BE49-F238E27FC236}">
                <a16:creationId xmlns:a16="http://schemas.microsoft.com/office/drawing/2014/main" id="{9110F0C9-6F33-7BDC-3057-A51CBCA13C44}"/>
              </a:ext>
            </a:extLst>
          </p:cNvPr>
          <p:cNvSpPr>
            <a:spLocks noChangeShapeType="1"/>
          </p:cNvSpPr>
          <p:nvPr/>
        </p:nvSpPr>
        <p:spPr bwMode="auto">
          <a:xfrm>
            <a:off x="4435475" y="5181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7" name="Line 17">
            <a:extLst>
              <a:ext uri="{FF2B5EF4-FFF2-40B4-BE49-F238E27FC236}">
                <a16:creationId xmlns:a16="http://schemas.microsoft.com/office/drawing/2014/main" id="{FC6347D8-A075-BF8C-2088-9676BBDC6B9E}"/>
              </a:ext>
            </a:extLst>
          </p:cNvPr>
          <p:cNvSpPr>
            <a:spLocks noChangeShapeType="1"/>
          </p:cNvSpPr>
          <p:nvPr/>
        </p:nvSpPr>
        <p:spPr bwMode="auto">
          <a:xfrm>
            <a:off x="4892675" y="5181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8" name="Line 18">
            <a:extLst>
              <a:ext uri="{FF2B5EF4-FFF2-40B4-BE49-F238E27FC236}">
                <a16:creationId xmlns:a16="http://schemas.microsoft.com/office/drawing/2014/main" id="{CBD52600-596C-D8DD-E10E-B66B740EEB97}"/>
              </a:ext>
            </a:extLst>
          </p:cNvPr>
          <p:cNvSpPr>
            <a:spLocks noChangeShapeType="1"/>
          </p:cNvSpPr>
          <p:nvPr/>
        </p:nvSpPr>
        <p:spPr bwMode="auto">
          <a:xfrm>
            <a:off x="5349875" y="5181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9" name="Line 19">
            <a:extLst>
              <a:ext uri="{FF2B5EF4-FFF2-40B4-BE49-F238E27FC236}">
                <a16:creationId xmlns:a16="http://schemas.microsoft.com/office/drawing/2014/main" id="{6840F204-5DEC-4BE5-7B80-C402E93F7758}"/>
              </a:ext>
            </a:extLst>
          </p:cNvPr>
          <p:cNvSpPr>
            <a:spLocks noChangeShapeType="1"/>
          </p:cNvSpPr>
          <p:nvPr/>
        </p:nvSpPr>
        <p:spPr bwMode="auto">
          <a:xfrm>
            <a:off x="5807075" y="5181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0" name="Line 20">
            <a:extLst>
              <a:ext uri="{FF2B5EF4-FFF2-40B4-BE49-F238E27FC236}">
                <a16:creationId xmlns:a16="http://schemas.microsoft.com/office/drawing/2014/main" id="{C0774923-D4BE-A349-B766-7307C3FB0F29}"/>
              </a:ext>
            </a:extLst>
          </p:cNvPr>
          <p:cNvSpPr>
            <a:spLocks noChangeShapeType="1"/>
          </p:cNvSpPr>
          <p:nvPr/>
        </p:nvSpPr>
        <p:spPr bwMode="auto">
          <a:xfrm>
            <a:off x="6264275" y="5181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1" name="Line 21">
            <a:extLst>
              <a:ext uri="{FF2B5EF4-FFF2-40B4-BE49-F238E27FC236}">
                <a16:creationId xmlns:a16="http://schemas.microsoft.com/office/drawing/2014/main" id="{04ED6256-E701-D191-F50E-EE268A11B677}"/>
              </a:ext>
            </a:extLst>
          </p:cNvPr>
          <p:cNvSpPr>
            <a:spLocks noChangeShapeType="1"/>
          </p:cNvSpPr>
          <p:nvPr/>
        </p:nvSpPr>
        <p:spPr bwMode="auto">
          <a:xfrm>
            <a:off x="6721475" y="5181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2" name="Line 22">
            <a:extLst>
              <a:ext uri="{FF2B5EF4-FFF2-40B4-BE49-F238E27FC236}">
                <a16:creationId xmlns:a16="http://schemas.microsoft.com/office/drawing/2014/main" id="{F8966404-3A6C-4F4C-CF10-200C36077426}"/>
              </a:ext>
            </a:extLst>
          </p:cNvPr>
          <p:cNvSpPr>
            <a:spLocks noChangeShapeType="1"/>
          </p:cNvSpPr>
          <p:nvPr/>
        </p:nvSpPr>
        <p:spPr bwMode="auto">
          <a:xfrm>
            <a:off x="7178675" y="5181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3" name="Line 23">
            <a:extLst>
              <a:ext uri="{FF2B5EF4-FFF2-40B4-BE49-F238E27FC236}">
                <a16:creationId xmlns:a16="http://schemas.microsoft.com/office/drawing/2014/main" id="{E4F6C67C-DAA2-B222-29C4-FC20AA1F7726}"/>
              </a:ext>
            </a:extLst>
          </p:cNvPr>
          <p:cNvSpPr>
            <a:spLocks noChangeShapeType="1"/>
          </p:cNvSpPr>
          <p:nvPr/>
        </p:nvSpPr>
        <p:spPr bwMode="auto">
          <a:xfrm>
            <a:off x="7635875" y="5181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4" name="Line 24">
            <a:extLst>
              <a:ext uri="{FF2B5EF4-FFF2-40B4-BE49-F238E27FC236}">
                <a16:creationId xmlns:a16="http://schemas.microsoft.com/office/drawing/2014/main" id="{3B32E17C-4650-56A0-CBA1-C83DA58557B3}"/>
              </a:ext>
            </a:extLst>
          </p:cNvPr>
          <p:cNvSpPr>
            <a:spLocks noChangeShapeType="1"/>
          </p:cNvSpPr>
          <p:nvPr/>
        </p:nvSpPr>
        <p:spPr bwMode="auto">
          <a:xfrm>
            <a:off x="8093075" y="5181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5" name="Rectangle 25" descr="羊皮纸">
            <a:extLst>
              <a:ext uri="{FF2B5EF4-FFF2-40B4-BE49-F238E27FC236}">
                <a16:creationId xmlns:a16="http://schemas.microsoft.com/office/drawing/2014/main" id="{8933C690-DE4D-53A2-AB86-7CC19FED8D65}"/>
              </a:ext>
            </a:extLst>
          </p:cNvPr>
          <p:cNvSpPr>
            <a:spLocks noChangeArrowheads="1"/>
          </p:cNvSpPr>
          <p:nvPr/>
        </p:nvSpPr>
        <p:spPr bwMode="auto">
          <a:xfrm>
            <a:off x="3521075" y="5867400"/>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0506" name="Line 26">
            <a:extLst>
              <a:ext uri="{FF2B5EF4-FFF2-40B4-BE49-F238E27FC236}">
                <a16:creationId xmlns:a16="http://schemas.microsoft.com/office/drawing/2014/main" id="{31F0966A-4F68-71E5-7004-4B880642BCBB}"/>
              </a:ext>
            </a:extLst>
          </p:cNvPr>
          <p:cNvSpPr>
            <a:spLocks noChangeShapeType="1"/>
          </p:cNvSpPr>
          <p:nvPr/>
        </p:nvSpPr>
        <p:spPr bwMode="auto">
          <a:xfrm>
            <a:off x="3978275" y="586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7" name="Line 27">
            <a:extLst>
              <a:ext uri="{FF2B5EF4-FFF2-40B4-BE49-F238E27FC236}">
                <a16:creationId xmlns:a16="http://schemas.microsoft.com/office/drawing/2014/main" id="{0A91FFD4-6DA1-E96D-6018-3A7E3B7C6E49}"/>
              </a:ext>
            </a:extLst>
          </p:cNvPr>
          <p:cNvSpPr>
            <a:spLocks noChangeShapeType="1"/>
          </p:cNvSpPr>
          <p:nvPr/>
        </p:nvSpPr>
        <p:spPr bwMode="auto">
          <a:xfrm>
            <a:off x="4435475" y="586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8" name="Line 28">
            <a:extLst>
              <a:ext uri="{FF2B5EF4-FFF2-40B4-BE49-F238E27FC236}">
                <a16:creationId xmlns:a16="http://schemas.microsoft.com/office/drawing/2014/main" id="{903A2584-0A17-2260-AA99-A64B6F705C62}"/>
              </a:ext>
            </a:extLst>
          </p:cNvPr>
          <p:cNvSpPr>
            <a:spLocks noChangeShapeType="1"/>
          </p:cNvSpPr>
          <p:nvPr/>
        </p:nvSpPr>
        <p:spPr bwMode="auto">
          <a:xfrm>
            <a:off x="4892675" y="586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9" name="Line 29">
            <a:extLst>
              <a:ext uri="{FF2B5EF4-FFF2-40B4-BE49-F238E27FC236}">
                <a16:creationId xmlns:a16="http://schemas.microsoft.com/office/drawing/2014/main" id="{6206B1F2-D4A6-3A57-6E5C-80D82621AF77}"/>
              </a:ext>
            </a:extLst>
          </p:cNvPr>
          <p:cNvSpPr>
            <a:spLocks noChangeShapeType="1"/>
          </p:cNvSpPr>
          <p:nvPr/>
        </p:nvSpPr>
        <p:spPr bwMode="auto">
          <a:xfrm>
            <a:off x="5349875" y="586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0" name="Line 30">
            <a:extLst>
              <a:ext uri="{FF2B5EF4-FFF2-40B4-BE49-F238E27FC236}">
                <a16:creationId xmlns:a16="http://schemas.microsoft.com/office/drawing/2014/main" id="{0369EFFE-652C-BBB3-5C1B-2A4835D97F8E}"/>
              </a:ext>
            </a:extLst>
          </p:cNvPr>
          <p:cNvSpPr>
            <a:spLocks noChangeShapeType="1"/>
          </p:cNvSpPr>
          <p:nvPr/>
        </p:nvSpPr>
        <p:spPr bwMode="auto">
          <a:xfrm>
            <a:off x="5807075" y="586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1" name="Line 31">
            <a:extLst>
              <a:ext uri="{FF2B5EF4-FFF2-40B4-BE49-F238E27FC236}">
                <a16:creationId xmlns:a16="http://schemas.microsoft.com/office/drawing/2014/main" id="{89A9F901-D66A-BC75-73BA-7D3F81897C51}"/>
              </a:ext>
            </a:extLst>
          </p:cNvPr>
          <p:cNvSpPr>
            <a:spLocks noChangeShapeType="1"/>
          </p:cNvSpPr>
          <p:nvPr/>
        </p:nvSpPr>
        <p:spPr bwMode="auto">
          <a:xfrm>
            <a:off x="6264275" y="586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2" name="Line 32">
            <a:extLst>
              <a:ext uri="{FF2B5EF4-FFF2-40B4-BE49-F238E27FC236}">
                <a16:creationId xmlns:a16="http://schemas.microsoft.com/office/drawing/2014/main" id="{68848343-6DFE-C1A5-FB69-A640649079E1}"/>
              </a:ext>
            </a:extLst>
          </p:cNvPr>
          <p:cNvSpPr>
            <a:spLocks noChangeShapeType="1"/>
          </p:cNvSpPr>
          <p:nvPr/>
        </p:nvSpPr>
        <p:spPr bwMode="auto">
          <a:xfrm>
            <a:off x="6721475" y="586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3" name="Line 33">
            <a:extLst>
              <a:ext uri="{FF2B5EF4-FFF2-40B4-BE49-F238E27FC236}">
                <a16:creationId xmlns:a16="http://schemas.microsoft.com/office/drawing/2014/main" id="{D5BF58A2-0191-F420-2636-1D76CCBA9ED0}"/>
              </a:ext>
            </a:extLst>
          </p:cNvPr>
          <p:cNvSpPr>
            <a:spLocks noChangeShapeType="1"/>
          </p:cNvSpPr>
          <p:nvPr/>
        </p:nvSpPr>
        <p:spPr bwMode="auto">
          <a:xfrm>
            <a:off x="7178675" y="586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4" name="Line 34">
            <a:extLst>
              <a:ext uri="{FF2B5EF4-FFF2-40B4-BE49-F238E27FC236}">
                <a16:creationId xmlns:a16="http://schemas.microsoft.com/office/drawing/2014/main" id="{D6EEFF4B-8DC7-973E-AB05-488F6386A966}"/>
              </a:ext>
            </a:extLst>
          </p:cNvPr>
          <p:cNvSpPr>
            <a:spLocks noChangeShapeType="1"/>
          </p:cNvSpPr>
          <p:nvPr/>
        </p:nvSpPr>
        <p:spPr bwMode="auto">
          <a:xfrm>
            <a:off x="7635875" y="586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5" name="Line 35">
            <a:extLst>
              <a:ext uri="{FF2B5EF4-FFF2-40B4-BE49-F238E27FC236}">
                <a16:creationId xmlns:a16="http://schemas.microsoft.com/office/drawing/2014/main" id="{78A681E6-16C6-9CE4-3F94-447BD4A6228E}"/>
              </a:ext>
            </a:extLst>
          </p:cNvPr>
          <p:cNvSpPr>
            <a:spLocks noChangeShapeType="1"/>
          </p:cNvSpPr>
          <p:nvPr/>
        </p:nvSpPr>
        <p:spPr bwMode="auto">
          <a:xfrm>
            <a:off x="8093075" y="586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6" name="Text Box 36">
            <a:extLst>
              <a:ext uri="{FF2B5EF4-FFF2-40B4-BE49-F238E27FC236}">
                <a16:creationId xmlns:a16="http://schemas.microsoft.com/office/drawing/2014/main" id="{FB5E62E7-649C-F07E-5FD7-8EE84AF49C21}"/>
              </a:ext>
            </a:extLst>
          </p:cNvPr>
          <p:cNvSpPr txBox="1">
            <a:spLocks noChangeArrowheads="1"/>
          </p:cNvSpPr>
          <p:nvPr/>
        </p:nvSpPr>
        <p:spPr bwMode="auto">
          <a:xfrm>
            <a:off x="2743200" y="4572000"/>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this</a:t>
            </a:r>
            <a:endParaRPr kumimoji="1" lang="en-US" altLang="zh-CN" sz="2400">
              <a:latin typeface="Times New Roman" panose="02020603050405020304" pitchFamily="18" charset="0"/>
              <a:ea typeface="宋体" panose="02010600030101010101" pitchFamily="2" charset="-122"/>
            </a:endParaRPr>
          </a:p>
        </p:txBody>
      </p:sp>
      <p:sp>
        <p:nvSpPr>
          <p:cNvPr id="20517" name="Text Box 37">
            <a:extLst>
              <a:ext uri="{FF2B5EF4-FFF2-40B4-BE49-F238E27FC236}">
                <a16:creationId xmlns:a16="http://schemas.microsoft.com/office/drawing/2014/main" id="{6DB9802D-CBD0-9E11-E4E7-BC1C13E30AEE}"/>
              </a:ext>
            </a:extLst>
          </p:cNvPr>
          <p:cNvSpPr txBox="1">
            <a:spLocks noChangeArrowheads="1"/>
          </p:cNvSpPr>
          <p:nvPr/>
        </p:nvSpPr>
        <p:spPr bwMode="auto">
          <a:xfrm>
            <a:off x="2530475" y="5119688"/>
            <a:ext cx="935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right</a:t>
            </a:r>
            <a:endParaRPr kumimoji="1" lang="en-US" altLang="zh-CN" sz="2400">
              <a:latin typeface="Times New Roman" panose="02020603050405020304" pitchFamily="18" charset="0"/>
              <a:ea typeface="宋体" panose="02010600030101010101" pitchFamily="2" charset="-122"/>
            </a:endParaRPr>
          </a:p>
        </p:txBody>
      </p:sp>
      <p:sp>
        <p:nvSpPr>
          <p:cNvPr id="20518" name="Text Box 38">
            <a:extLst>
              <a:ext uri="{FF2B5EF4-FFF2-40B4-BE49-F238E27FC236}">
                <a16:creationId xmlns:a16="http://schemas.microsoft.com/office/drawing/2014/main" id="{3E6A24B9-22FE-0BB5-EB34-5197636EB0D1}"/>
              </a:ext>
            </a:extLst>
          </p:cNvPr>
          <p:cNvSpPr txBox="1">
            <a:spLocks noChangeArrowheads="1"/>
          </p:cNvSpPr>
          <p:nvPr/>
        </p:nvSpPr>
        <p:spPr bwMode="auto">
          <a:xfrm>
            <a:off x="2530475" y="5729288"/>
            <a:ext cx="955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temp</a:t>
            </a:r>
            <a:endParaRPr kumimoji="1" lang="en-US" altLang="zh-CN" sz="2400">
              <a:latin typeface="Times New Roman" panose="02020603050405020304" pitchFamily="18" charset="0"/>
              <a:ea typeface="宋体" panose="02010600030101010101" pitchFamily="2" charset="-122"/>
            </a:endParaRPr>
          </a:p>
        </p:txBody>
      </p:sp>
      <p:sp>
        <p:nvSpPr>
          <p:cNvPr id="20519" name="Text Box 39">
            <a:extLst>
              <a:ext uri="{FF2B5EF4-FFF2-40B4-BE49-F238E27FC236}">
                <a16:creationId xmlns:a16="http://schemas.microsoft.com/office/drawing/2014/main" id="{04104989-D404-03EA-21F3-BA786A29F0EF}"/>
              </a:ext>
            </a:extLst>
          </p:cNvPr>
          <p:cNvSpPr txBox="1">
            <a:spLocks noChangeArrowheads="1"/>
          </p:cNvSpPr>
          <p:nvPr/>
        </p:nvSpPr>
        <p:spPr bwMode="auto">
          <a:xfrm>
            <a:off x="3590925" y="4525963"/>
            <a:ext cx="4857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0  1   1  1   0  0  0   0   1  1  0</a:t>
            </a:r>
            <a:endParaRPr kumimoji="1" lang="en-US" altLang="zh-CN" sz="2400">
              <a:latin typeface="Times New Roman" panose="02020603050405020304" pitchFamily="18" charset="0"/>
              <a:ea typeface="宋体" panose="02010600030101010101" pitchFamily="2" charset="-122"/>
            </a:endParaRPr>
          </a:p>
        </p:txBody>
      </p:sp>
      <p:sp>
        <p:nvSpPr>
          <p:cNvPr id="20520" name="Text Box 40">
            <a:extLst>
              <a:ext uri="{FF2B5EF4-FFF2-40B4-BE49-F238E27FC236}">
                <a16:creationId xmlns:a16="http://schemas.microsoft.com/office/drawing/2014/main" id="{1EF88B02-53D4-41BC-E14C-1B32E5B9A6AE}"/>
              </a:ext>
            </a:extLst>
          </p:cNvPr>
          <p:cNvSpPr txBox="1">
            <a:spLocks noChangeArrowheads="1"/>
          </p:cNvSpPr>
          <p:nvPr/>
        </p:nvSpPr>
        <p:spPr bwMode="auto">
          <a:xfrm>
            <a:off x="3597275" y="5105400"/>
            <a:ext cx="4857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0  0   1  0   0  1  0   1   0  1  0</a:t>
            </a:r>
            <a:endParaRPr kumimoji="1" lang="en-US" altLang="zh-CN" sz="2400">
              <a:latin typeface="Times New Roman" panose="02020603050405020304" pitchFamily="18" charset="0"/>
              <a:ea typeface="宋体" panose="02010600030101010101" pitchFamily="2" charset="-122"/>
            </a:endParaRPr>
          </a:p>
        </p:txBody>
      </p:sp>
      <p:sp>
        <p:nvSpPr>
          <p:cNvPr id="20521" name="Text Box 41">
            <a:extLst>
              <a:ext uri="{FF2B5EF4-FFF2-40B4-BE49-F238E27FC236}">
                <a16:creationId xmlns:a16="http://schemas.microsoft.com/office/drawing/2014/main" id="{F249E990-3048-6C11-F19E-8837C64128D2}"/>
              </a:ext>
            </a:extLst>
          </p:cNvPr>
          <p:cNvSpPr txBox="1">
            <a:spLocks noChangeArrowheads="1"/>
          </p:cNvSpPr>
          <p:nvPr/>
        </p:nvSpPr>
        <p:spPr bwMode="auto">
          <a:xfrm>
            <a:off x="3597275" y="5791200"/>
            <a:ext cx="4857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a:t>
            </a:r>
            <a:r>
              <a:rPr kumimoji="1" lang="en-US" altLang="zh-CN" sz="3200" b="1">
                <a:solidFill>
                  <a:srgbClr val="CC3300"/>
                </a:solidFill>
                <a:latin typeface="Times New Roman" panose="02020603050405020304" pitchFamily="18" charset="0"/>
                <a:ea typeface="宋体" panose="02010600030101010101" pitchFamily="2" charset="-122"/>
              </a:rPr>
              <a:t>0   1  0</a:t>
            </a:r>
            <a:r>
              <a:rPr kumimoji="1" lang="en-US" altLang="zh-CN" sz="3200" b="1">
                <a:solidFill>
                  <a:srgbClr val="009900"/>
                </a:solidFill>
                <a:latin typeface="Times New Roman" panose="02020603050405020304" pitchFamily="18" charset="0"/>
                <a:ea typeface="宋体" panose="02010600030101010101" pitchFamily="2" charset="-122"/>
              </a:rPr>
              <a:t>   0  </a:t>
            </a:r>
            <a:r>
              <a:rPr kumimoji="1" lang="en-US" altLang="zh-CN" sz="3200" b="1">
                <a:solidFill>
                  <a:srgbClr val="CC3300"/>
                </a:solidFill>
                <a:latin typeface="Times New Roman" panose="02020603050405020304" pitchFamily="18" charset="0"/>
                <a:ea typeface="宋体" panose="02010600030101010101" pitchFamily="2" charset="-122"/>
              </a:rPr>
              <a:t>0</a:t>
            </a:r>
            <a:r>
              <a:rPr kumimoji="1" lang="en-US" altLang="zh-CN" sz="3200" b="1">
                <a:solidFill>
                  <a:srgbClr val="009900"/>
                </a:solidFill>
                <a:latin typeface="Times New Roman" panose="02020603050405020304" pitchFamily="18" charset="0"/>
                <a:ea typeface="宋体" panose="02010600030101010101" pitchFamily="2" charset="-122"/>
              </a:rPr>
              <a:t>  0   </a:t>
            </a:r>
            <a:r>
              <a:rPr kumimoji="1" lang="en-US" altLang="zh-CN" sz="3200" b="1">
                <a:solidFill>
                  <a:srgbClr val="CC3300"/>
                </a:solidFill>
                <a:latin typeface="Times New Roman" panose="02020603050405020304" pitchFamily="18" charset="0"/>
                <a:ea typeface="宋体" panose="02010600030101010101" pitchFamily="2" charset="-122"/>
              </a:rPr>
              <a:t>0   0  1</a:t>
            </a:r>
            <a:r>
              <a:rPr kumimoji="1" lang="en-US" altLang="zh-CN" sz="3200" b="1">
                <a:solidFill>
                  <a:srgbClr val="009900"/>
                </a:solidFill>
                <a:latin typeface="Times New Roman" panose="02020603050405020304" pitchFamily="18" charset="0"/>
                <a:ea typeface="宋体" panose="02010600030101010101" pitchFamily="2" charset="-122"/>
              </a:rPr>
              <a:t>  0</a:t>
            </a:r>
            <a:endParaRPr kumimoji="1" lang="en-US" altLang="zh-CN" sz="2400">
              <a:latin typeface="Times New Roman" panose="02020603050405020304" pitchFamily="18" charset="0"/>
              <a:ea typeface="宋体" panose="02010600030101010101" pitchFamily="2" charset="-122"/>
            </a:endParaRPr>
          </a:p>
        </p:txBody>
      </p:sp>
      <p:sp>
        <p:nvSpPr>
          <p:cNvPr id="3" name="内容占位符 2">
            <a:extLst>
              <a:ext uri="{FF2B5EF4-FFF2-40B4-BE49-F238E27FC236}">
                <a16:creationId xmlns:a16="http://schemas.microsoft.com/office/drawing/2014/main" id="{BC6FA3E3-4A76-437E-B6E0-68A700440D62}"/>
              </a:ext>
            </a:extLst>
          </p:cNvPr>
          <p:cNvSpPr>
            <a:spLocks noGrp="1"/>
          </p:cNvSpPr>
          <p:nvPr>
            <p:ph idx="1"/>
          </p:nvPr>
        </p:nvSpPr>
        <p:spPr>
          <a:xfrm>
            <a:off x="565150" y="297698"/>
            <a:ext cx="7886700" cy="4837864"/>
          </a:xfrm>
        </p:spPr>
        <p:txBody>
          <a:bodyPr>
            <a:normAutofit fontScale="92500" lnSpcReduction="10000"/>
          </a:bodyPr>
          <a:lstStyle/>
          <a:p>
            <a:pPr marL="0" indent="0">
              <a:buNone/>
            </a:pPr>
            <a:r>
              <a:rPr lang="en-US" altLang="zh-CN" dirty="0" err="1"/>
              <a:t>bitSet</a:t>
            </a:r>
            <a:r>
              <a:rPr lang="en-US" altLang="zh-CN" dirty="0"/>
              <a:t> </a:t>
            </a:r>
            <a:r>
              <a:rPr lang="en-US" altLang="zh-CN" dirty="0" err="1"/>
              <a:t>bitSet</a:t>
            </a:r>
            <a:r>
              <a:rPr lang="en-US" altLang="zh-CN" dirty="0"/>
              <a:t> :: operator * ( const </a:t>
            </a:r>
            <a:r>
              <a:rPr lang="en-US" altLang="zh-CN" dirty="0" err="1"/>
              <a:t>bitSet</a:t>
            </a:r>
            <a:r>
              <a:rPr lang="en-US" altLang="zh-CN" dirty="0"/>
              <a:t> &amp; R ) {      //</a:t>
            </a:r>
            <a:r>
              <a:rPr lang="zh-CN" altLang="en-US" dirty="0"/>
              <a:t>求交集</a:t>
            </a:r>
          </a:p>
          <a:p>
            <a:pPr marL="0" indent="0">
              <a:buNone/>
            </a:pPr>
            <a:r>
              <a:rPr lang="zh-CN" altLang="en-US" dirty="0"/>
              <a:t>    </a:t>
            </a:r>
            <a:r>
              <a:rPr lang="en-US" altLang="zh-CN" dirty="0"/>
              <a:t>assert ( </a:t>
            </a:r>
            <a:r>
              <a:rPr lang="en-US" altLang="zh-CN" dirty="0" err="1"/>
              <a:t>vectorSize</a:t>
            </a:r>
            <a:r>
              <a:rPr lang="en-US" altLang="zh-CN" dirty="0"/>
              <a:t> == </a:t>
            </a:r>
            <a:r>
              <a:rPr lang="en-US" altLang="zh-CN" dirty="0" err="1"/>
              <a:t>R.vectorSize</a:t>
            </a:r>
            <a:r>
              <a:rPr lang="en-US" altLang="zh-CN" dirty="0"/>
              <a:t> );</a:t>
            </a:r>
          </a:p>
          <a:p>
            <a:pPr marL="0" indent="0">
              <a:buNone/>
            </a:pPr>
            <a:r>
              <a:rPr lang="en-US" altLang="zh-CN" dirty="0"/>
              <a:t>    </a:t>
            </a:r>
            <a:r>
              <a:rPr lang="en-US" altLang="zh-CN" dirty="0" err="1"/>
              <a:t>bitSet</a:t>
            </a:r>
            <a:r>
              <a:rPr lang="en-US" altLang="zh-CN" dirty="0"/>
              <a:t> temp ( </a:t>
            </a:r>
            <a:r>
              <a:rPr lang="en-US" altLang="zh-CN" dirty="0" err="1"/>
              <a:t>vectorSize</a:t>
            </a:r>
            <a:r>
              <a:rPr lang="en-US" altLang="zh-CN" dirty="0"/>
              <a:t> );</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a:t>
            </a:r>
            <a:r>
              <a:rPr lang="en-US" altLang="zh-CN" dirty="0" err="1"/>
              <a:t>vectorSize</a:t>
            </a:r>
            <a:r>
              <a:rPr lang="en-US" altLang="zh-CN" dirty="0"/>
              <a:t>; </a:t>
            </a:r>
            <a:r>
              <a:rPr lang="en-US" altLang="zh-CN" dirty="0" err="1"/>
              <a:t>i</a:t>
            </a:r>
            <a:r>
              <a:rPr lang="en-US" altLang="zh-CN" dirty="0"/>
              <a:t>++) </a:t>
            </a:r>
          </a:p>
          <a:p>
            <a:pPr marL="0" indent="0">
              <a:buNone/>
            </a:pPr>
            <a:r>
              <a:rPr lang="en-US" altLang="zh-CN" dirty="0"/>
              <a:t>        </a:t>
            </a:r>
            <a:r>
              <a:rPr lang="en-US" altLang="zh-CN" dirty="0" err="1"/>
              <a:t>temp.bitVector</a:t>
            </a:r>
            <a:r>
              <a:rPr lang="en-US" altLang="zh-CN" dirty="0"/>
              <a:t>[</a:t>
            </a:r>
            <a:r>
              <a:rPr lang="en-US" altLang="zh-CN" dirty="0" err="1"/>
              <a:t>i</a:t>
            </a:r>
            <a:r>
              <a:rPr lang="en-US" altLang="zh-CN" dirty="0"/>
              <a:t>] = </a:t>
            </a:r>
            <a:r>
              <a:rPr lang="en-US" altLang="zh-CN" dirty="0" err="1"/>
              <a:t>bitVector</a:t>
            </a:r>
            <a:r>
              <a:rPr lang="en-US" altLang="zh-CN" dirty="0"/>
              <a:t>[</a:t>
            </a:r>
            <a:r>
              <a:rPr lang="en-US" altLang="zh-CN" dirty="0" err="1"/>
              <a:t>i</a:t>
            </a:r>
            <a:r>
              <a:rPr lang="en-US" altLang="zh-CN" dirty="0"/>
              <a:t>] &amp; </a:t>
            </a:r>
            <a:r>
              <a:rPr lang="en-US" altLang="zh-CN" dirty="0" err="1"/>
              <a:t>R.bitVector</a:t>
            </a:r>
            <a:r>
              <a:rPr lang="en-US" altLang="zh-CN" dirty="0"/>
              <a:t>[</a:t>
            </a:r>
            <a:r>
              <a:rPr lang="en-US" altLang="zh-CN" dirty="0" err="1"/>
              <a:t>i</a:t>
            </a:r>
            <a:r>
              <a:rPr lang="en-US" altLang="zh-CN" dirty="0"/>
              <a:t>];</a:t>
            </a:r>
          </a:p>
          <a:p>
            <a:pPr marL="0" indent="0">
              <a:buNone/>
            </a:pPr>
            <a:r>
              <a:rPr lang="en-US" altLang="zh-CN" dirty="0"/>
              <a:t>    return temp;</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669D78BB-34E9-435F-4720-491B0C42A836}"/>
              </a:ext>
            </a:extLst>
          </p:cNvPr>
          <p:cNvSpPr>
            <a:spLocks noGrp="1"/>
          </p:cNvSpPr>
          <p:nvPr>
            <p:ph type="sldNum" sz="quarter" idx="12"/>
          </p:nvPr>
        </p:nvSpPr>
        <p:spPr/>
        <p:txBody>
          <a:bodyPr/>
          <a:lstStyle/>
          <a:p>
            <a:pPr>
              <a:defRPr/>
            </a:pPr>
            <a:fld id="{524B865F-46F8-4520-B0DD-31ED36EF62D9}" type="slidenum">
              <a:rPr lang="en-US" altLang="zh-CN" smtClean="0"/>
              <a:pPr>
                <a:defRPr/>
              </a:pPr>
              <a:t>14</a:t>
            </a:fld>
            <a:endParaRPr lang="en-US" altLang="zh-CN"/>
          </a:p>
        </p:txBody>
      </p:sp>
    </p:spTree>
  </p:cSld>
  <p:clrMapOvr>
    <a:masterClrMapping/>
  </p:clrMapOvr>
  <p:transition>
    <p:spli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descr="羊皮纸">
            <a:extLst>
              <a:ext uri="{FF2B5EF4-FFF2-40B4-BE49-F238E27FC236}">
                <a16:creationId xmlns:a16="http://schemas.microsoft.com/office/drawing/2014/main" id="{1ECD4FB5-22B8-3D88-0271-77A4725C91BA}"/>
              </a:ext>
            </a:extLst>
          </p:cNvPr>
          <p:cNvSpPr>
            <a:spLocks noChangeArrowheads="1"/>
          </p:cNvSpPr>
          <p:nvPr/>
        </p:nvSpPr>
        <p:spPr bwMode="auto">
          <a:xfrm>
            <a:off x="2133600" y="4419600"/>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1508" name="Line 4">
            <a:extLst>
              <a:ext uri="{FF2B5EF4-FFF2-40B4-BE49-F238E27FC236}">
                <a16:creationId xmlns:a16="http://schemas.microsoft.com/office/drawing/2014/main" id="{17309335-1F3D-8D45-259A-4AE3A6ECE4BC}"/>
              </a:ext>
            </a:extLst>
          </p:cNvPr>
          <p:cNvSpPr>
            <a:spLocks noChangeShapeType="1"/>
          </p:cNvSpPr>
          <p:nvPr/>
        </p:nvSpPr>
        <p:spPr bwMode="auto">
          <a:xfrm>
            <a:off x="2590800" y="4419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09" name="Line 5">
            <a:extLst>
              <a:ext uri="{FF2B5EF4-FFF2-40B4-BE49-F238E27FC236}">
                <a16:creationId xmlns:a16="http://schemas.microsoft.com/office/drawing/2014/main" id="{D6FA8BE8-B90A-5C3C-2234-38435AA2CBA1}"/>
              </a:ext>
            </a:extLst>
          </p:cNvPr>
          <p:cNvSpPr>
            <a:spLocks noChangeShapeType="1"/>
          </p:cNvSpPr>
          <p:nvPr/>
        </p:nvSpPr>
        <p:spPr bwMode="auto">
          <a:xfrm>
            <a:off x="3048000" y="4419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0" name="Line 6">
            <a:extLst>
              <a:ext uri="{FF2B5EF4-FFF2-40B4-BE49-F238E27FC236}">
                <a16:creationId xmlns:a16="http://schemas.microsoft.com/office/drawing/2014/main" id="{58A39B0B-0EB7-0485-F13B-2CD2508E82D7}"/>
              </a:ext>
            </a:extLst>
          </p:cNvPr>
          <p:cNvSpPr>
            <a:spLocks noChangeShapeType="1"/>
          </p:cNvSpPr>
          <p:nvPr/>
        </p:nvSpPr>
        <p:spPr bwMode="auto">
          <a:xfrm>
            <a:off x="3505200" y="4419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1" name="Line 7">
            <a:extLst>
              <a:ext uri="{FF2B5EF4-FFF2-40B4-BE49-F238E27FC236}">
                <a16:creationId xmlns:a16="http://schemas.microsoft.com/office/drawing/2014/main" id="{C02EB256-D607-AE7A-B2B2-C371A0C0AE14}"/>
              </a:ext>
            </a:extLst>
          </p:cNvPr>
          <p:cNvSpPr>
            <a:spLocks noChangeShapeType="1"/>
          </p:cNvSpPr>
          <p:nvPr/>
        </p:nvSpPr>
        <p:spPr bwMode="auto">
          <a:xfrm>
            <a:off x="3962400" y="4419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2" name="Line 8">
            <a:extLst>
              <a:ext uri="{FF2B5EF4-FFF2-40B4-BE49-F238E27FC236}">
                <a16:creationId xmlns:a16="http://schemas.microsoft.com/office/drawing/2014/main" id="{6A55FF27-1694-7782-DE53-0D65814D8A5E}"/>
              </a:ext>
            </a:extLst>
          </p:cNvPr>
          <p:cNvSpPr>
            <a:spLocks noChangeShapeType="1"/>
          </p:cNvSpPr>
          <p:nvPr/>
        </p:nvSpPr>
        <p:spPr bwMode="auto">
          <a:xfrm>
            <a:off x="4419600" y="4419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3" name="Line 9">
            <a:extLst>
              <a:ext uri="{FF2B5EF4-FFF2-40B4-BE49-F238E27FC236}">
                <a16:creationId xmlns:a16="http://schemas.microsoft.com/office/drawing/2014/main" id="{7103D211-056A-AFCD-33E7-18EB1D058FF1}"/>
              </a:ext>
            </a:extLst>
          </p:cNvPr>
          <p:cNvSpPr>
            <a:spLocks noChangeShapeType="1"/>
          </p:cNvSpPr>
          <p:nvPr/>
        </p:nvSpPr>
        <p:spPr bwMode="auto">
          <a:xfrm>
            <a:off x="4876800" y="4419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4" name="Line 10">
            <a:extLst>
              <a:ext uri="{FF2B5EF4-FFF2-40B4-BE49-F238E27FC236}">
                <a16:creationId xmlns:a16="http://schemas.microsoft.com/office/drawing/2014/main" id="{1F0C2270-B84D-27B4-7867-2EDCB845534D}"/>
              </a:ext>
            </a:extLst>
          </p:cNvPr>
          <p:cNvSpPr>
            <a:spLocks noChangeShapeType="1"/>
          </p:cNvSpPr>
          <p:nvPr/>
        </p:nvSpPr>
        <p:spPr bwMode="auto">
          <a:xfrm>
            <a:off x="5334000" y="4419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5" name="Line 11">
            <a:extLst>
              <a:ext uri="{FF2B5EF4-FFF2-40B4-BE49-F238E27FC236}">
                <a16:creationId xmlns:a16="http://schemas.microsoft.com/office/drawing/2014/main" id="{F30D536A-C2FA-51E3-B169-5D5CDB368F6A}"/>
              </a:ext>
            </a:extLst>
          </p:cNvPr>
          <p:cNvSpPr>
            <a:spLocks noChangeShapeType="1"/>
          </p:cNvSpPr>
          <p:nvPr/>
        </p:nvSpPr>
        <p:spPr bwMode="auto">
          <a:xfrm>
            <a:off x="5791200" y="4419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6" name="Line 12">
            <a:extLst>
              <a:ext uri="{FF2B5EF4-FFF2-40B4-BE49-F238E27FC236}">
                <a16:creationId xmlns:a16="http://schemas.microsoft.com/office/drawing/2014/main" id="{6C154F5D-C9C2-9AC9-B96D-C14FAE149426}"/>
              </a:ext>
            </a:extLst>
          </p:cNvPr>
          <p:cNvSpPr>
            <a:spLocks noChangeShapeType="1"/>
          </p:cNvSpPr>
          <p:nvPr/>
        </p:nvSpPr>
        <p:spPr bwMode="auto">
          <a:xfrm>
            <a:off x="6248400" y="4419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7" name="Line 13">
            <a:extLst>
              <a:ext uri="{FF2B5EF4-FFF2-40B4-BE49-F238E27FC236}">
                <a16:creationId xmlns:a16="http://schemas.microsoft.com/office/drawing/2014/main" id="{5EB0169D-0F8A-8B2E-D988-A72E0BD15722}"/>
              </a:ext>
            </a:extLst>
          </p:cNvPr>
          <p:cNvSpPr>
            <a:spLocks noChangeShapeType="1"/>
          </p:cNvSpPr>
          <p:nvPr/>
        </p:nvSpPr>
        <p:spPr bwMode="auto">
          <a:xfrm>
            <a:off x="6705600" y="44196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8" name="Rectangle 14" descr="羊皮纸">
            <a:extLst>
              <a:ext uri="{FF2B5EF4-FFF2-40B4-BE49-F238E27FC236}">
                <a16:creationId xmlns:a16="http://schemas.microsoft.com/office/drawing/2014/main" id="{3B955A42-2940-4BD8-AAD1-F73AFFF96F46}"/>
              </a:ext>
            </a:extLst>
          </p:cNvPr>
          <p:cNvSpPr>
            <a:spLocks noChangeArrowheads="1"/>
          </p:cNvSpPr>
          <p:nvPr/>
        </p:nvSpPr>
        <p:spPr bwMode="auto">
          <a:xfrm>
            <a:off x="2133600" y="5029200"/>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1519" name="Line 15">
            <a:extLst>
              <a:ext uri="{FF2B5EF4-FFF2-40B4-BE49-F238E27FC236}">
                <a16:creationId xmlns:a16="http://schemas.microsoft.com/office/drawing/2014/main" id="{E477A08E-A187-1C37-29DB-60A918CD3290}"/>
              </a:ext>
            </a:extLst>
          </p:cNvPr>
          <p:cNvSpPr>
            <a:spLocks noChangeShapeType="1"/>
          </p:cNvSpPr>
          <p:nvPr/>
        </p:nvSpPr>
        <p:spPr bwMode="auto">
          <a:xfrm>
            <a:off x="25908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0" name="Line 16">
            <a:extLst>
              <a:ext uri="{FF2B5EF4-FFF2-40B4-BE49-F238E27FC236}">
                <a16:creationId xmlns:a16="http://schemas.microsoft.com/office/drawing/2014/main" id="{055FE04C-710C-72BA-24FD-E5A3C50DAFB6}"/>
              </a:ext>
            </a:extLst>
          </p:cNvPr>
          <p:cNvSpPr>
            <a:spLocks noChangeShapeType="1"/>
          </p:cNvSpPr>
          <p:nvPr/>
        </p:nvSpPr>
        <p:spPr bwMode="auto">
          <a:xfrm>
            <a:off x="30480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1" name="Line 17">
            <a:extLst>
              <a:ext uri="{FF2B5EF4-FFF2-40B4-BE49-F238E27FC236}">
                <a16:creationId xmlns:a16="http://schemas.microsoft.com/office/drawing/2014/main" id="{C2E77407-EEF7-1DD9-85E6-7226D218FCBC}"/>
              </a:ext>
            </a:extLst>
          </p:cNvPr>
          <p:cNvSpPr>
            <a:spLocks noChangeShapeType="1"/>
          </p:cNvSpPr>
          <p:nvPr/>
        </p:nvSpPr>
        <p:spPr bwMode="auto">
          <a:xfrm>
            <a:off x="35052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2" name="Line 18">
            <a:extLst>
              <a:ext uri="{FF2B5EF4-FFF2-40B4-BE49-F238E27FC236}">
                <a16:creationId xmlns:a16="http://schemas.microsoft.com/office/drawing/2014/main" id="{79F53A4A-9AAC-5ED5-2FF8-F35E0F60B596}"/>
              </a:ext>
            </a:extLst>
          </p:cNvPr>
          <p:cNvSpPr>
            <a:spLocks noChangeShapeType="1"/>
          </p:cNvSpPr>
          <p:nvPr/>
        </p:nvSpPr>
        <p:spPr bwMode="auto">
          <a:xfrm>
            <a:off x="39624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3" name="Line 19">
            <a:extLst>
              <a:ext uri="{FF2B5EF4-FFF2-40B4-BE49-F238E27FC236}">
                <a16:creationId xmlns:a16="http://schemas.microsoft.com/office/drawing/2014/main" id="{051E2FE4-00C3-2727-F4D7-2E7B9504D32E}"/>
              </a:ext>
            </a:extLst>
          </p:cNvPr>
          <p:cNvSpPr>
            <a:spLocks noChangeShapeType="1"/>
          </p:cNvSpPr>
          <p:nvPr/>
        </p:nvSpPr>
        <p:spPr bwMode="auto">
          <a:xfrm>
            <a:off x="44196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4" name="Line 20">
            <a:extLst>
              <a:ext uri="{FF2B5EF4-FFF2-40B4-BE49-F238E27FC236}">
                <a16:creationId xmlns:a16="http://schemas.microsoft.com/office/drawing/2014/main" id="{2F833DDF-CE34-2853-CF0B-18CCD4D2FE62}"/>
              </a:ext>
            </a:extLst>
          </p:cNvPr>
          <p:cNvSpPr>
            <a:spLocks noChangeShapeType="1"/>
          </p:cNvSpPr>
          <p:nvPr/>
        </p:nvSpPr>
        <p:spPr bwMode="auto">
          <a:xfrm>
            <a:off x="48768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5" name="Line 21">
            <a:extLst>
              <a:ext uri="{FF2B5EF4-FFF2-40B4-BE49-F238E27FC236}">
                <a16:creationId xmlns:a16="http://schemas.microsoft.com/office/drawing/2014/main" id="{EB605C4D-D8D5-2C40-4F9E-F913367A2705}"/>
              </a:ext>
            </a:extLst>
          </p:cNvPr>
          <p:cNvSpPr>
            <a:spLocks noChangeShapeType="1"/>
          </p:cNvSpPr>
          <p:nvPr/>
        </p:nvSpPr>
        <p:spPr bwMode="auto">
          <a:xfrm>
            <a:off x="53340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6" name="Line 22">
            <a:extLst>
              <a:ext uri="{FF2B5EF4-FFF2-40B4-BE49-F238E27FC236}">
                <a16:creationId xmlns:a16="http://schemas.microsoft.com/office/drawing/2014/main" id="{B6B18427-A813-934F-058B-105C265867AA}"/>
              </a:ext>
            </a:extLst>
          </p:cNvPr>
          <p:cNvSpPr>
            <a:spLocks noChangeShapeType="1"/>
          </p:cNvSpPr>
          <p:nvPr/>
        </p:nvSpPr>
        <p:spPr bwMode="auto">
          <a:xfrm>
            <a:off x="57912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7" name="Line 23">
            <a:extLst>
              <a:ext uri="{FF2B5EF4-FFF2-40B4-BE49-F238E27FC236}">
                <a16:creationId xmlns:a16="http://schemas.microsoft.com/office/drawing/2014/main" id="{F5EB893E-4D9F-F56A-0724-5A829D9752C6}"/>
              </a:ext>
            </a:extLst>
          </p:cNvPr>
          <p:cNvSpPr>
            <a:spLocks noChangeShapeType="1"/>
          </p:cNvSpPr>
          <p:nvPr/>
        </p:nvSpPr>
        <p:spPr bwMode="auto">
          <a:xfrm>
            <a:off x="62484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8" name="Line 24">
            <a:extLst>
              <a:ext uri="{FF2B5EF4-FFF2-40B4-BE49-F238E27FC236}">
                <a16:creationId xmlns:a16="http://schemas.microsoft.com/office/drawing/2014/main" id="{3093A436-371B-3C73-4F14-C7C936060076}"/>
              </a:ext>
            </a:extLst>
          </p:cNvPr>
          <p:cNvSpPr>
            <a:spLocks noChangeShapeType="1"/>
          </p:cNvSpPr>
          <p:nvPr/>
        </p:nvSpPr>
        <p:spPr bwMode="auto">
          <a:xfrm>
            <a:off x="67056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9" name="Rectangle 25" descr="羊皮纸">
            <a:extLst>
              <a:ext uri="{FF2B5EF4-FFF2-40B4-BE49-F238E27FC236}">
                <a16:creationId xmlns:a16="http://schemas.microsoft.com/office/drawing/2014/main" id="{E982156F-AB5B-AD99-B6A6-211F35F55B51}"/>
              </a:ext>
            </a:extLst>
          </p:cNvPr>
          <p:cNvSpPr>
            <a:spLocks noChangeArrowheads="1"/>
          </p:cNvSpPr>
          <p:nvPr/>
        </p:nvSpPr>
        <p:spPr bwMode="auto">
          <a:xfrm>
            <a:off x="2133600" y="5715000"/>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1530" name="Line 26">
            <a:extLst>
              <a:ext uri="{FF2B5EF4-FFF2-40B4-BE49-F238E27FC236}">
                <a16:creationId xmlns:a16="http://schemas.microsoft.com/office/drawing/2014/main" id="{FF2C3535-FA5E-C13E-225A-13ABC90580D3}"/>
              </a:ext>
            </a:extLst>
          </p:cNvPr>
          <p:cNvSpPr>
            <a:spLocks noChangeShapeType="1"/>
          </p:cNvSpPr>
          <p:nvPr/>
        </p:nvSpPr>
        <p:spPr bwMode="auto">
          <a:xfrm>
            <a:off x="2590800" y="5715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1" name="Line 27">
            <a:extLst>
              <a:ext uri="{FF2B5EF4-FFF2-40B4-BE49-F238E27FC236}">
                <a16:creationId xmlns:a16="http://schemas.microsoft.com/office/drawing/2014/main" id="{9DAF6F64-E465-FB0F-80FA-4324A120E301}"/>
              </a:ext>
            </a:extLst>
          </p:cNvPr>
          <p:cNvSpPr>
            <a:spLocks noChangeShapeType="1"/>
          </p:cNvSpPr>
          <p:nvPr/>
        </p:nvSpPr>
        <p:spPr bwMode="auto">
          <a:xfrm>
            <a:off x="3048000" y="5715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2" name="Line 28">
            <a:extLst>
              <a:ext uri="{FF2B5EF4-FFF2-40B4-BE49-F238E27FC236}">
                <a16:creationId xmlns:a16="http://schemas.microsoft.com/office/drawing/2014/main" id="{D2923F7A-C538-6017-3812-97D381AA3873}"/>
              </a:ext>
            </a:extLst>
          </p:cNvPr>
          <p:cNvSpPr>
            <a:spLocks noChangeShapeType="1"/>
          </p:cNvSpPr>
          <p:nvPr/>
        </p:nvSpPr>
        <p:spPr bwMode="auto">
          <a:xfrm>
            <a:off x="3505200" y="5715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3" name="Line 29">
            <a:extLst>
              <a:ext uri="{FF2B5EF4-FFF2-40B4-BE49-F238E27FC236}">
                <a16:creationId xmlns:a16="http://schemas.microsoft.com/office/drawing/2014/main" id="{B2E0A331-BEB3-148B-2834-3E39355D1378}"/>
              </a:ext>
            </a:extLst>
          </p:cNvPr>
          <p:cNvSpPr>
            <a:spLocks noChangeShapeType="1"/>
          </p:cNvSpPr>
          <p:nvPr/>
        </p:nvSpPr>
        <p:spPr bwMode="auto">
          <a:xfrm>
            <a:off x="3962400" y="5715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4" name="Line 30">
            <a:extLst>
              <a:ext uri="{FF2B5EF4-FFF2-40B4-BE49-F238E27FC236}">
                <a16:creationId xmlns:a16="http://schemas.microsoft.com/office/drawing/2014/main" id="{FEC5C7E0-8773-E7EC-E025-85C4B9F23952}"/>
              </a:ext>
            </a:extLst>
          </p:cNvPr>
          <p:cNvSpPr>
            <a:spLocks noChangeShapeType="1"/>
          </p:cNvSpPr>
          <p:nvPr/>
        </p:nvSpPr>
        <p:spPr bwMode="auto">
          <a:xfrm>
            <a:off x="4419600" y="5715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5" name="Line 31">
            <a:extLst>
              <a:ext uri="{FF2B5EF4-FFF2-40B4-BE49-F238E27FC236}">
                <a16:creationId xmlns:a16="http://schemas.microsoft.com/office/drawing/2014/main" id="{2437CB27-C3B5-21B7-E2C6-FCD298E8A978}"/>
              </a:ext>
            </a:extLst>
          </p:cNvPr>
          <p:cNvSpPr>
            <a:spLocks noChangeShapeType="1"/>
          </p:cNvSpPr>
          <p:nvPr/>
        </p:nvSpPr>
        <p:spPr bwMode="auto">
          <a:xfrm>
            <a:off x="4876800" y="5715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6" name="Line 32">
            <a:extLst>
              <a:ext uri="{FF2B5EF4-FFF2-40B4-BE49-F238E27FC236}">
                <a16:creationId xmlns:a16="http://schemas.microsoft.com/office/drawing/2014/main" id="{B14BA158-63FB-C083-326B-21B9B94EF275}"/>
              </a:ext>
            </a:extLst>
          </p:cNvPr>
          <p:cNvSpPr>
            <a:spLocks noChangeShapeType="1"/>
          </p:cNvSpPr>
          <p:nvPr/>
        </p:nvSpPr>
        <p:spPr bwMode="auto">
          <a:xfrm>
            <a:off x="5334000" y="5715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7" name="Line 33">
            <a:extLst>
              <a:ext uri="{FF2B5EF4-FFF2-40B4-BE49-F238E27FC236}">
                <a16:creationId xmlns:a16="http://schemas.microsoft.com/office/drawing/2014/main" id="{F0A2B10F-D78B-6437-70CB-04ED33E956E3}"/>
              </a:ext>
            </a:extLst>
          </p:cNvPr>
          <p:cNvSpPr>
            <a:spLocks noChangeShapeType="1"/>
          </p:cNvSpPr>
          <p:nvPr/>
        </p:nvSpPr>
        <p:spPr bwMode="auto">
          <a:xfrm>
            <a:off x="5791200" y="5715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8" name="Line 34">
            <a:extLst>
              <a:ext uri="{FF2B5EF4-FFF2-40B4-BE49-F238E27FC236}">
                <a16:creationId xmlns:a16="http://schemas.microsoft.com/office/drawing/2014/main" id="{4B274311-324B-B908-7BEF-DE587A8A7CB7}"/>
              </a:ext>
            </a:extLst>
          </p:cNvPr>
          <p:cNvSpPr>
            <a:spLocks noChangeShapeType="1"/>
          </p:cNvSpPr>
          <p:nvPr/>
        </p:nvSpPr>
        <p:spPr bwMode="auto">
          <a:xfrm>
            <a:off x="6248400" y="5715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9" name="Line 35">
            <a:extLst>
              <a:ext uri="{FF2B5EF4-FFF2-40B4-BE49-F238E27FC236}">
                <a16:creationId xmlns:a16="http://schemas.microsoft.com/office/drawing/2014/main" id="{B1D1ED8B-61C8-680E-A105-30A5DB753FAC}"/>
              </a:ext>
            </a:extLst>
          </p:cNvPr>
          <p:cNvSpPr>
            <a:spLocks noChangeShapeType="1"/>
          </p:cNvSpPr>
          <p:nvPr/>
        </p:nvSpPr>
        <p:spPr bwMode="auto">
          <a:xfrm>
            <a:off x="6705600" y="5715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0" name="Text Box 36">
            <a:extLst>
              <a:ext uri="{FF2B5EF4-FFF2-40B4-BE49-F238E27FC236}">
                <a16:creationId xmlns:a16="http://schemas.microsoft.com/office/drawing/2014/main" id="{7DC46154-B9CC-1365-5602-0F8BB045EB04}"/>
              </a:ext>
            </a:extLst>
          </p:cNvPr>
          <p:cNvSpPr txBox="1">
            <a:spLocks noChangeArrowheads="1"/>
          </p:cNvSpPr>
          <p:nvPr/>
        </p:nvSpPr>
        <p:spPr bwMode="auto">
          <a:xfrm>
            <a:off x="1355725" y="4419600"/>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this</a:t>
            </a:r>
            <a:endParaRPr kumimoji="1" lang="en-US" altLang="zh-CN" sz="2400">
              <a:latin typeface="Times New Roman" panose="02020603050405020304" pitchFamily="18" charset="0"/>
              <a:ea typeface="宋体" panose="02010600030101010101" pitchFamily="2" charset="-122"/>
            </a:endParaRPr>
          </a:p>
        </p:txBody>
      </p:sp>
      <p:sp>
        <p:nvSpPr>
          <p:cNvPr id="21541" name="Text Box 37">
            <a:extLst>
              <a:ext uri="{FF2B5EF4-FFF2-40B4-BE49-F238E27FC236}">
                <a16:creationId xmlns:a16="http://schemas.microsoft.com/office/drawing/2014/main" id="{6FD26A6B-6D09-091D-E9B2-DE64A1EF001E}"/>
              </a:ext>
            </a:extLst>
          </p:cNvPr>
          <p:cNvSpPr txBox="1">
            <a:spLocks noChangeArrowheads="1"/>
          </p:cNvSpPr>
          <p:nvPr/>
        </p:nvSpPr>
        <p:spPr bwMode="auto">
          <a:xfrm>
            <a:off x="1143000" y="4967288"/>
            <a:ext cx="935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right</a:t>
            </a:r>
            <a:endParaRPr kumimoji="1" lang="en-US" altLang="zh-CN" sz="2400">
              <a:latin typeface="Times New Roman" panose="02020603050405020304" pitchFamily="18" charset="0"/>
              <a:ea typeface="宋体" panose="02010600030101010101" pitchFamily="2" charset="-122"/>
            </a:endParaRPr>
          </a:p>
        </p:txBody>
      </p:sp>
      <p:sp>
        <p:nvSpPr>
          <p:cNvPr id="21542" name="Text Box 38">
            <a:extLst>
              <a:ext uri="{FF2B5EF4-FFF2-40B4-BE49-F238E27FC236}">
                <a16:creationId xmlns:a16="http://schemas.microsoft.com/office/drawing/2014/main" id="{C35E1BAC-5939-3B2B-CC9C-5ACADB96E87E}"/>
              </a:ext>
            </a:extLst>
          </p:cNvPr>
          <p:cNvSpPr txBox="1">
            <a:spLocks noChangeArrowheads="1"/>
          </p:cNvSpPr>
          <p:nvPr/>
        </p:nvSpPr>
        <p:spPr bwMode="auto">
          <a:xfrm>
            <a:off x="1143000" y="5576888"/>
            <a:ext cx="955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temp</a:t>
            </a:r>
            <a:endParaRPr kumimoji="1" lang="en-US" altLang="zh-CN" sz="2400">
              <a:latin typeface="Times New Roman" panose="02020603050405020304" pitchFamily="18" charset="0"/>
              <a:ea typeface="宋体" panose="02010600030101010101" pitchFamily="2" charset="-122"/>
            </a:endParaRPr>
          </a:p>
        </p:txBody>
      </p:sp>
      <p:sp>
        <p:nvSpPr>
          <p:cNvPr id="21543" name="Text Box 39">
            <a:extLst>
              <a:ext uri="{FF2B5EF4-FFF2-40B4-BE49-F238E27FC236}">
                <a16:creationId xmlns:a16="http://schemas.microsoft.com/office/drawing/2014/main" id="{70ED7DC4-4488-DC42-A5AC-A4FC87FEC5B0}"/>
              </a:ext>
            </a:extLst>
          </p:cNvPr>
          <p:cNvSpPr txBox="1">
            <a:spLocks noChangeArrowheads="1"/>
          </p:cNvSpPr>
          <p:nvPr/>
        </p:nvSpPr>
        <p:spPr bwMode="auto">
          <a:xfrm>
            <a:off x="2203450" y="4373563"/>
            <a:ext cx="4857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0  1   1  1   0  0  0   0   1  1  0</a:t>
            </a:r>
            <a:endParaRPr kumimoji="1" lang="en-US" altLang="zh-CN" sz="2400">
              <a:latin typeface="Times New Roman" panose="02020603050405020304" pitchFamily="18" charset="0"/>
              <a:ea typeface="宋体" panose="02010600030101010101" pitchFamily="2" charset="-122"/>
            </a:endParaRPr>
          </a:p>
        </p:txBody>
      </p:sp>
      <p:sp>
        <p:nvSpPr>
          <p:cNvPr id="21544" name="Text Box 40">
            <a:extLst>
              <a:ext uri="{FF2B5EF4-FFF2-40B4-BE49-F238E27FC236}">
                <a16:creationId xmlns:a16="http://schemas.microsoft.com/office/drawing/2014/main" id="{BCCF68DE-5A63-7E2C-7558-872DA1AEAD95}"/>
              </a:ext>
            </a:extLst>
          </p:cNvPr>
          <p:cNvSpPr txBox="1">
            <a:spLocks noChangeArrowheads="1"/>
          </p:cNvSpPr>
          <p:nvPr/>
        </p:nvSpPr>
        <p:spPr bwMode="auto">
          <a:xfrm>
            <a:off x="2209800" y="4953000"/>
            <a:ext cx="4857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0  0   1  0   0  1  0   1   0  1  0</a:t>
            </a:r>
            <a:endParaRPr kumimoji="1" lang="en-US" altLang="zh-CN" sz="2400">
              <a:latin typeface="Times New Roman" panose="02020603050405020304" pitchFamily="18" charset="0"/>
              <a:ea typeface="宋体" panose="02010600030101010101" pitchFamily="2" charset="-122"/>
            </a:endParaRPr>
          </a:p>
        </p:txBody>
      </p:sp>
      <p:sp>
        <p:nvSpPr>
          <p:cNvPr id="21545" name="Text Box 41">
            <a:extLst>
              <a:ext uri="{FF2B5EF4-FFF2-40B4-BE49-F238E27FC236}">
                <a16:creationId xmlns:a16="http://schemas.microsoft.com/office/drawing/2014/main" id="{A62E773E-3CEB-5479-0799-5C8A1BAE19CA}"/>
              </a:ext>
            </a:extLst>
          </p:cNvPr>
          <p:cNvSpPr txBox="1">
            <a:spLocks noChangeArrowheads="1"/>
          </p:cNvSpPr>
          <p:nvPr/>
        </p:nvSpPr>
        <p:spPr bwMode="auto">
          <a:xfrm>
            <a:off x="2209800" y="5638800"/>
            <a:ext cx="4857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0  1</a:t>
            </a:r>
            <a:r>
              <a:rPr kumimoji="1" lang="en-US" altLang="zh-CN" sz="3200" b="1">
                <a:solidFill>
                  <a:srgbClr val="CC3300"/>
                </a:solidFill>
                <a:latin typeface="Times New Roman" panose="02020603050405020304" pitchFamily="18" charset="0"/>
                <a:ea typeface="宋体" panose="02010600030101010101" pitchFamily="2" charset="-122"/>
              </a:rPr>
              <a:t>   0  </a:t>
            </a:r>
            <a:r>
              <a:rPr kumimoji="1" lang="en-US" altLang="zh-CN" sz="3200" b="1">
                <a:solidFill>
                  <a:srgbClr val="009900"/>
                </a:solidFill>
                <a:latin typeface="Times New Roman" panose="02020603050405020304" pitchFamily="18" charset="0"/>
                <a:ea typeface="宋体" panose="02010600030101010101" pitchFamily="2" charset="-122"/>
              </a:rPr>
              <a:t>1   0  0  0   0   1</a:t>
            </a:r>
            <a:r>
              <a:rPr kumimoji="1" lang="en-US" altLang="zh-CN" sz="3200" b="1">
                <a:solidFill>
                  <a:srgbClr val="CC3300"/>
                </a:solidFill>
                <a:latin typeface="Times New Roman" panose="02020603050405020304" pitchFamily="18" charset="0"/>
                <a:ea typeface="宋体" panose="02010600030101010101" pitchFamily="2" charset="-122"/>
              </a:rPr>
              <a:t>  0</a:t>
            </a:r>
            <a:r>
              <a:rPr kumimoji="1" lang="en-US" altLang="zh-CN" sz="3200" b="1">
                <a:solidFill>
                  <a:srgbClr val="009900"/>
                </a:solidFill>
                <a:latin typeface="Times New Roman" panose="02020603050405020304" pitchFamily="18" charset="0"/>
                <a:ea typeface="宋体" panose="02010600030101010101" pitchFamily="2" charset="-122"/>
              </a:rPr>
              <a:t>  0</a:t>
            </a:r>
            <a:endParaRPr kumimoji="1" lang="en-US" altLang="zh-CN" sz="2400">
              <a:latin typeface="Times New Roman" panose="02020603050405020304" pitchFamily="18" charset="0"/>
              <a:ea typeface="宋体" panose="02010600030101010101" pitchFamily="2" charset="-122"/>
            </a:endParaRPr>
          </a:p>
        </p:txBody>
      </p:sp>
      <p:sp>
        <p:nvSpPr>
          <p:cNvPr id="3" name="内容占位符 2">
            <a:extLst>
              <a:ext uri="{FF2B5EF4-FFF2-40B4-BE49-F238E27FC236}">
                <a16:creationId xmlns:a16="http://schemas.microsoft.com/office/drawing/2014/main" id="{6CBA9905-D0BA-44F7-AB67-EB4D2F99DE98}"/>
              </a:ext>
            </a:extLst>
          </p:cNvPr>
          <p:cNvSpPr>
            <a:spLocks noGrp="1"/>
          </p:cNvSpPr>
          <p:nvPr>
            <p:ph idx="1"/>
          </p:nvPr>
        </p:nvSpPr>
        <p:spPr>
          <a:xfrm>
            <a:off x="628650" y="319960"/>
            <a:ext cx="7886700" cy="4351338"/>
          </a:xfrm>
        </p:spPr>
        <p:txBody>
          <a:bodyPr>
            <a:normAutofit fontScale="92500" lnSpcReduction="20000"/>
          </a:bodyPr>
          <a:lstStyle/>
          <a:p>
            <a:pPr marL="0" indent="0">
              <a:buNone/>
            </a:pPr>
            <a:r>
              <a:rPr lang="en-US" altLang="zh-CN" dirty="0" err="1"/>
              <a:t>bitSet</a:t>
            </a:r>
            <a:r>
              <a:rPr lang="en-US" altLang="zh-CN" dirty="0"/>
              <a:t> </a:t>
            </a:r>
            <a:r>
              <a:rPr lang="en-US" altLang="zh-CN" dirty="0" err="1"/>
              <a:t>bitSet</a:t>
            </a:r>
            <a:r>
              <a:rPr lang="en-US" altLang="zh-CN" dirty="0"/>
              <a:t> :: operator - ( const </a:t>
            </a:r>
            <a:r>
              <a:rPr lang="en-US" altLang="zh-CN" dirty="0" err="1"/>
              <a:t>bitSet</a:t>
            </a:r>
            <a:r>
              <a:rPr lang="en-US" altLang="zh-CN" dirty="0"/>
              <a:t> &amp; R ) {      //</a:t>
            </a:r>
            <a:r>
              <a:rPr lang="zh-CN" altLang="en-US" dirty="0"/>
              <a:t>求差集</a:t>
            </a:r>
          </a:p>
          <a:p>
            <a:pPr marL="0" indent="0">
              <a:buNone/>
            </a:pPr>
            <a:r>
              <a:rPr lang="zh-CN" altLang="en-US" dirty="0"/>
              <a:t>    </a:t>
            </a:r>
            <a:r>
              <a:rPr lang="en-US" altLang="zh-CN" dirty="0"/>
              <a:t>assert ( </a:t>
            </a:r>
            <a:r>
              <a:rPr lang="en-US" altLang="zh-CN" dirty="0" err="1"/>
              <a:t>vectorSize</a:t>
            </a:r>
            <a:r>
              <a:rPr lang="en-US" altLang="zh-CN" dirty="0"/>
              <a:t> == </a:t>
            </a:r>
            <a:r>
              <a:rPr lang="en-US" altLang="zh-CN" dirty="0" err="1"/>
              <a:t>R.vectorSize</a:t>
            </a:r>
            <a:r>
              <a:rPr lang="en-US" altLang="zh-CN" dirty="0"/>
              <a:t> ); </a:t>
            </a:r>
          </a:p>
          <a:p>
            <a:pPr marL="0" indent="0">
              <a:buNone/>
            </a:pPr>
            <a:r>
              <a:rPr lang="en-US" altLang="zh-CN" dirty="0"/>
              <a:t>    </a:t>
            </a:r>
            <a:r>
              <a:rPr lang="en-US" altLang="zh-CN" dirty="0" err="1"/>
              <a:t>bitSet</a:t>
            </a:r>
            <a:r>
              <a:rPr lang="en-US" altLang="zh-CN" dirty="0"/>
              <a:t> temp ( </a:t>
            </a:r>
            <a:r>
              <a:rPr lang="en-US" altLang="zh-CN" dirty="0" err="1"/>
              <a:t>vectorSize</a:t>
            </a:r>
            <a:r>
              <a:rPr lang="en-US" altLang="zh-CN" dirty="0"/>
              <a:t> );</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a:t>
            </a:r>
            <a:r>
              <a:rPr lang="en-US" altLang="zh-CN" dirty="0" err="1"/>
              <a:t>vectorSize</a:t>
            </a:r>
            <a:r>
              <a:rPr lang="en-US" altLang="zh-CN" dirty="0"/>
              <a:t>; </a:t>
            </a:r>
            <a:r>
              <a:rPr lang="en-US" altLang="zh-CN" dirty="0" err="1"/>
              <a:t>i</a:t>
            </a:r>
            <a:r>
              <a:rPr lang="en-US" altLang="zh-CN" dirty="0"/>
              <a:t>++ )</a:t>
            </a:r>
          </a:p>
          <a:p>
            <a:pPr marL="0" indent="0">
              <a:buNone/>
            </a:pPr>
            <a:r>
              <a:rPr lang="en-US" altLang="zh-CN" dirty="0"/>
              <a:t>        </a:t>
            </a:r>
            <a:r>
              <a:rPr lang="en-US" altLang="zh-CN" dirty="0" err="1"/>
              <a:t>temp.bitVector</a:t>
            </a:r>
            <a:r>
              <a:rPr lang="en-US" altLang="zh-CN" dirty="0"/>
              <a:t>[</a:t>
            </a:r>
            <a:r>
              <a:rPr lang="en-US" altLang="zh-CN" dirty="0" err="1"/>
              <a:t>i</a:t>
            </a:r>
            <a:r>
              <a:rPr lang="en-US" altLang="zh-CN" dirty="0"/>
              <a:t>] = </a:t>
            </a:r>
            <a:r>
              <a:rPr lang="en-US" altLang="zh-CN" dirty="0" err="1"/>
              <a:t>bitVector</a:t>
            </a:r>
            <a:r>
              <a:rPr lang="en-US" altLang="zh-CN" dirty="0"/>
              <a:t>[</a:t>
            </a:r>
            <a:r>
              <a:rPr lang="en-US" altLang="zh-CN" dirty="0" err="1"/>
              <a:t>i</a:t>
            </a:r>
            <a:r>
              <a:rPr lang="en-US" altLang="zh-CN" dirty="0"/>
              <a:t>] &amp; ~</a:t>
            </a:r>
            <a:r>
              <a:rPr lang="en-US" altLang="zh-CN" dirty="0" err="1"/>
              <a:t>R.bitVector</a:t>
            </a:r>
            <a:r>
              <a:rPr lang="en-US" altLang="zh-CN" dirty="0"/>
              <a:t>[</a:t>
            </a:r>
            <a:r>
              <a:rPr lang="en-US" altLang="zh-CN" dirty="0" err="1"/>
              <a:t>i</a:t>
            </a:r>
            <a:r>
              <a:rPr lang="en-US" altLang="zh-CN" dirty="0"/>
              <a:t>];</a:t>
            </a:r>
          </a:p>
          <a:p>
            <a:pPr marL="0" indent="0">
              <a:buNone/>
            </a:pPr>
            <a:r>
              <a:rPr lang="en-US" altLang="zh-CN" dirty="0"/>
              <a:t>    return temp;</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81259A22-D28E-BF97-1589-1EC07AC4C3AE}"/>
              </a:ext>
            </a:extLst>
          </p:cNvPr>
          <p:cNvSpPr>
            <a:spLocks noGrp="1"/>
          </p:cNvSpPr>
          <p:nvPr>
            <p:ph type="sldNum" sz="quarter" idx="12"/>
          </p:nvPr>
        </p:nvSpPr>
        <p:spPr/>
        <p:txBody>
          <a:bodyPr/>
          <a:lstStyle/>
          <a:p>
            <a:pPr>
              <a:defRPr/>
            </a:pPr>
            <a:fld id="{524B865F-46F8-4520-B0DD-31ED36EF62D9}" type="slidenum">
              <a:rPr lang="en-US" altLang="zh-CN" smtClean="0"/>
              <a:pPr>
                <a:defRPr/>
              </a:pPr>
              <a:t>15</a:t>
            </a:fld>
            <a:endParaRPr lang="en-US" altLang="zh-CN"/>
          </a:p>
        </p:txBody>
      </p:sp>
    </p:spTree>
  </p:cSld>
  <p:clrMapOvr>
    <a:masterClrMapping/>
  </p:clrMapOvr>
  <p:transition>
    <p:spli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descr="羊皮纸">
            <a:extLst>
              <a:ext uri="{FF2B5EF4-FFF2-40B4-BE49-F238E27FC236}">
                <a16:creationId xmlns:a16="http://schemas.microsoft.com/office/drawing/2014/main" id="{0F1E7C41-80B5-2251-CF38-61F019F9F5B2}"/>
              </a:ext>
            </a:extLst>
          </p:cNvPr>
          <p:cNvSpPr>
            <a:spLocks noChangeArrowheads="1"/>
          </p:cNvSpPr>
          <p:nvPr/>
        </p:nvSpPr>
        <p:spPr bwMode="auto">
          <a:xfrm>
            <a:off x="2133600" y="4343400"/>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2532" name="Line 4">
            <a:extLst>
              <a:ext uri="{FF2B5EF4-FFF2-40B4-BE49-F238E27FC236}">
                <a16:creationId xmlns:a16="http://schemas.microsoft.com/office/drawing/2014/main" id="{D5D7FDE6-5836-945F-0D84-C7FAD4E80055}"/>
              </a:ext>
            </a:extLst>
          </p:cNvPr>
          <p:cNvSpPr>
            <a:spLocks noChangeShapeType="1"/>
          </p:cNvSpPr>
          <p:nvPr/>
        </p:nvSpPr>
        <p:spPr bwMode="auto">
          <a:xfrm>
            <a:off x="2590800" y="4343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3" name="Line 5">
            <a:extLst>
              <a:ext uri="{FF2B5EF4-FFF2-40B4-BE49-F238E27FC236}">
                <a16:creationId xmlns:a16="http://schemas.microsoft.com/office/drawing/2014/main" id="{75CD41A0-ADEB-E5AD-90B3-D8CDBD72ADB8}"/>
              </a:ext>
            </a:extLst>
          </p:cNvPr>
          <p:cNvSpPr>
            <a:spLocks noChangeShapeType="1"/>
          </p:cNvSpPr>
          <p:nvPr/>
        </p:nvSpPr>
        <p:spPr bwMode="auto">
          <a:xfrm>
            <a:off x="3048000" y="4343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4" name="Line 6">
            <a:extLst>
              <a:ext uri="{FF2B5EF4-FFF2-40B4-BE49-F238E27FC236}">
                <a16:creationId xmlns:a16="http://schemas.microsoft.com/office/drawing/2014/main" id="{5B434BD1-0393-AD8F-11A5-90A05A113A30}"/>
              </a:ext>
            </a:extLst>
          </p:cNvPr>
          <p:cNvSpPr>
            <a:spLocks noChangeShapeType="1"/>
          </p:cNvSpPr>
          <p:nvPr/>
        </p:nvSpPr>
        <p:spPr bwMode="auto">
          <a:xfrm>
            <a:off x="3505200" y="4343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5" name="Line 7">
            <a:extLst>
              <a:ext uri="{FF2B5EF4-FFF2-40B4-BE49-F238E27FC236}">
                <a16:creationId xmlns:a16="http://schemas.microsoft.com/office/drawing/2014/main" id="{0CEF34C5-4985-0A71-CF3C-E3F297F379B6}"/>
              </a:ext>
            </a:extLst>
          </p:cNvPr>
          <p:cNvSpPr>
            <a:spLocks noChangeShapeType="1"/>
          </p:cNvSpPr>
          <p:nvPr/>
        </p:nvSpPr>
        <p:spPr bwMode="auto">
          <a:xfrm>
            <a:off x="3962400" y="4343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6" name="Line 8">
            <a:extLst>
              <a:ext uri="{FF2B5EF4-FFF2-40B4-BE49-F238E27FC236}">
                <a16:creationId xmlns:a16="http://schemas.microsoft.com/office/drawing/2014/main" id="{A8B79CEA-7529-67D0-F29E-EBC70D227115}"/>
              </a:ext>
            </a:extLst>
          </p:cNvPr>
          <p:cNvSpPr>
            <a:spLocks noChangeShapeType="1"/>
          </p:cNvSpPr>
          <p:nvPr/>
        </p:nvSpPr>
        <p:spPr bwMode="auto">
          <a:xfrm>
            <a:off x="4419600" y="4343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7" name="Line 9">
            <a:extLst>
              <a:ext uri="{FF2B5EF4-FFF2-40B4-BE49-F238E27FC236}">
                <a16:creationId xmlns:a16="http://schemas.microsoft.com/office/drawing/2014/main" id="{C1F93F7C-CE4D-C1B2-9DBB-94638E5608F9}"/>
              </a:ext>
            </a:extLst>
          </p:cNvPr>
          <p:cNvSpPr>
            <a:spLocks noChangeShapeType="1"/>
          </p:cNvSpPr>
          <p:nvPr/>
        </p:nvSpPr>
        <p:spPr bwMode="auto">
          <a:xfrm>
            <a:off x="4876800" y="4343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8" name="Line 10">
            <a:extLst>
              <a:ext uri="{FF2B5EF4-FFF2-40B4-BE49-F238E27FC236}">
                <a16:creationId xmlns:a16="http://schemas.microsoft.com/office/drawing/2014/main" id="{F4F9BAF6-B776-B548-E524-C96BDC319030}"/>
              </a:ext>
            </a:extLst>
          </p:cNvPr>
          <p:cNvSpPr>
            <a:spLocks noChangeShapeType="1"/>
          </p:cNvSpPr>
          <p:nvPr/>
        </p:nvSpPr>
        <p:spPr bwMode="auto">
          <a:xfrm>
            <a:off x="5334000" y="4343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9" name="Line 11">
            <a:extLst>
              <a:ext uri="{FF2B5EF4-FFF2-40B4-BE49-F238E27FC236}">
                <a16:creationId xmlns:a16="http://schemas.microsoft.com/office/drawing/2014/main" id="{0D29E1D0-C008-3A97-DC0C-A23CBE5C15E9}"/>
              </a:ext>
            </a:extLst>
          </p:cNvPr>
          <p:cNvSpPr>
            <a:spLocks noChangeShapeType="1"/>
          </p:cNvSpPr>
          <p:nvPr/>
        </p:nvSpPr>
        <p:spPr bwMode="auto">
          <a:xfrm>
            <a:off x="5791200" y="4343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0" name="Line 12">
            <a:extLst>
              <a:ext uri="{FF2B5EF4-FFF2-40B4-BE49-F238E27FC236}">
                <a16:creationId xmlns:a16="http://schemas.microsoft.com/office/drawing/2014/main" id="{78D97591-7E3D-C1BD-BF28-F6C70CC9ED1E}"/>
              </a:ext>
            </a:extLst>
          </p:cNvPr>
          <p:cNvSpPr>
            <a:spLocks noChangeShapeType="1"/>
          </p:cNvSpPr>
          <p:nvPr/>
        </p:nvSpPr>
        <p:spPr bwMode="auto">
          <a:xfrm>
            <a:off x="6248400" y="4343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1" name="Line 13">
            <a:extLst>
              <a:ext uri="{FF2B5EF4-FFF2-40B4-BE49-F238E27FC236}">
                <a16:creationId xmlns:a16="http://schemas.microsoft.com/office/drawing/2014/main" id="{BCA53062-3E18-F3BA-59FA-98483D7510B6}"/>
              </a:ext>
            </a:extLst>
          </p:cNvPr>
          <p:cNvSpPr>
            <a:spLocks noChangeShapeType="1"/>
          </p:cNvSpPr>
          <p:nvPr/>
        </p:nvSpPr>
        <p:spPr bwMode="auto">
          <a:xfrm>
            <a:off x="6705600" y="4343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2" name="Rectangle 14" descr="羊皮纸">
            <a:extLst>
              <a:ext uri="{FF2B5EF4-FFF2-40B4-BE49-F238E27FC236}">
                <a16:creationId xmlns:a16="http://schemas.microsoft.com/office/drawing/2014/main" id="{D32F820F-BB0A-E5DF-F8FE-4B812840E659}"/>
              </a:ext>
            </a:extLst>
          </p:cNvPr>
          <p:cNvSpPr>
            <a:spLocks noChangeArrowheads="1"/>
          </p:cNvSpPr>
          <p:nvPr/>
        </p:nvSpPr>
        <p:spPr bwMode="auto">
          <a:xfrm>
            <a:off x="2133600" y="5029200"/>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2543" name="Line 15">
            <a:extLst>
              <a:ext uri="{FF2B5EF4-FFF2-40B4-BE49-F238E27FC236}">
                <a16:creationId xmlns:a16="http://schemas.microsoft.com/office/drawing/2014/main" id="{A3101952-EACA-A716-C668-4B705934B000}"/>
              </a:ext>
            </a:extLst>
          </p:cNvPr>
          <p:cNvSpPr>
            <a:spLocks noChangeShapeType="1"/>
          </p:cNvSpPr>
          <p:nvPr/>
        </p:nvSpPr>
        <p:spPr bwMode="auto">
          <a:xfrm>
            <a:off x="25908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4" name="Line 16">
            <a:extLst>
              <a:ext uri="{FF2B5EF4-FFF2-40B4-BE49-F238E27FC236}">
                <a16:creationId xmlns:a16="http://schemas.microsoft.com/office/drawing/2014/main" id="{1BE5B638-B545-3972-ADA1-2EDAFFBDF91F}"/>
              </a:ext>
            </a:extLst>
          </p:cNvPr>
          <p:cNvSpPr>
            <a:spLocks noChangeShapeType="1"/>
          </p:cNvSpPr>
          <p:nvPr/>
        </p:nvSpPr>
        <p:spPr bwMode="auto">
          <a:xfrm>
            <a:off x="30480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5" name="Line 17">
            <a:extLst>
              <a:ext uri="{FF2B5EF4-FFF2-40B4-BE49-F238E27FC236}">
                <a16:creationId xmlns:a16="http://schemas.microsoft.com/office/drawing/2014/main" id="{1F5F285A-B13B-580A-36E6-ACAF5AC549FC}"/>
              </a:ext>
            </a:extLst>
          </p:cNvPr>
          <p:cNvSpPr>
            <a:spLocks noChangeShapeType="1"/>
          </p:cNvSpPr>
          <p:nvPr/>
        </p:nvSpPr>
        <p:spPr bwMode="auto">
          <a:xfrm>
            <a:off x="35052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6" name="Line 18">
            <a:extLst>
              <a:ext uri="{FF2B5EF4-FFF2-40B4-BE49-F238E27FC236}">
                <a16:creationId xmlns:a16="http://schemas.microsoft.com/office/drawing/2014/main" id="{50EC1FC4-2E10-4498-9C8F-187DD117D0A4}"/>
              </a:ext>
            </a:extLst>
          </p:cNvPr>
          <p:cNvSpPr>
            <a:spLocks noChangeShapeType="1"/>
          </p:cNvSpPr>
          <p:nvPr/>
        </p:nvSpPr>
        <p:spPr bwMode="auto">
          <a:xfrm>
            <a:off x="39624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7" name="Line 19">
            <a:extLst>
              <a:ext uri="{FF2B5EF4-FFF2-40B4-BE49-F238E27FC236}">
                <a16:creationId xmlns:a16="http://schemas.microsoft.com/office/drawing/2014/main" id="{8222EA67-2597-19E1-744B-DCD6B73F535A}"/>
              </a:ext>
            </a:extLst>
          </p:cNvPr>
          <p:cNvSpPr>
            <a:spLocks noChangeShapeType="1"/>
          </p:cNvSpPr>
          <p:nvPr/>
        </p:nvSpPr>
        <p:spPr bwMode="auto">
          <a:xfrm>
            <a:off x="44196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8" name="Line 20">
            <a:extLst>
              <a:ext uri="{FF2B5EF4-FFF2-40B4-BE49-F238E27FC236}">
                <a16:creationId xmlns:a16="http://schemas.microsoft.com/office/drawing/2014/main" id="{913FE403-8639-D752-EF1F-ADC62AE28B0A}"/>
              </a:ext>
            </a:extLst>
          </p:cNvPr>
          <p:cNvSpPr>
            <a:spLocks noChangeShapeType="1"/>
          </p:cNvSpPr>
          <p:nvPr/>
        </p:nvSpPr>
        <p:spPr bwMode="auto">
          <a:xfrm>
            <a:off x="48768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9" name="Line 21">
            <a:extLst>
              <a:ext uri="{FF2B5EF4-FFF2-40B4-BE49-F238E27FC236}">
                <a16:creationId xmlns:a16="http://schemas.microsoft.com/office/drawing/2014/main" id="{07EDA488-FA8B-71CB-6280-C740905D588C}"/>
              </a:ext>
            </a:extLst>
          </p:cNvPr>
          <p:cNvSpPr>
            <a:spLocks noChangeShapeType="1"/>
          </p:cNvSpPr>
          <p:nvPr/>
        </p:nvSpPr>
        <p:spPr bwMode="auto">
          <a:xfrm>
            <a:off x="53340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0" name="Line 22">
            <a:extLst>
              <a:ext uri="{FF2B5EF4-FFF2-40B4-BE49-F238E27FC236}">
                <a16:creationId xmlns:a16="http://schemas.microsoft.com/office/drawing/2014/main" id="{D0640F15-6898-61FE-3947-0CEDDA65D848}"/>
              </a:ext>
            </a:extLst>
          </p:cNvPr>
          <p:cNvSpPr>
            <a:spLocks noChangeShapeType="1"/>
          </p:cNvSpPr>
          <p:nvPr/>
        </p:nvSpPr>
        <p:spPr bwMode="auto">
          <a:xfrm>
            <a:off x="57912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1" name="Line 23">
            <a:extLst>
              <a:ext uri="{FF2B5EF4-FFF2-40B4-BE49-F238E27FC236}">
                <a16:creationId xmlns:a16="http://schemas.microsoft.com/office/drawing/2014/main" id="{7530D50E-F50A-9E7B-5BE5-81C0B1CC443B}"/>
              </a:ext>
            </a:extLst>
          </p:cNvPr>
          <p:cNvSpPr>
            <a:spLocks noChangeShapeType="1"/>
          </p:cNvSpPr>
          <p:nvPr/>
        </p:nvSpPr>
        <p:spPr bwMode="auto">
          <a:xfrm>
            <a:off x="62484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2" name="Line 24">
            <a:extLst>
              <a:ext uri="{FF2B5EF4-FFF2-40B4-BE49-F238E27FC236}">
                <a16:creationId xmlns:a16="http://schemas.microsoft.com/office/drawing/2014/main" id="{D063B1CA-5A55-263E-D77E-D5E5E0CC6AFF}"/>
              </a:ext>
            </a:extLst>
          </p:cNvPr>
          <p:cNvSpPr>
            <a:spLocks noChangeShapeType="1"/>
          </p:cNvSpPr>
          <p:nvPr/>
        </p:nvSpPr>
        <p:spPr bwMode="auto">
          <a:xfrm>
            <a:off x="6705600" y="5029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3" name="Text Box 25">
            <a:extLst>
              <a:ext uri="{FF2B5EF4-FFF2-40B4-BE49-F238E27FC236}">
                <a16:creationId xmlns:a16="http://schemas.microsoft.com/office/drawing/2014/main" id="{9216D1D0-619D-ED3B-6790-4B80CCEC6E23}"/>
              </a:ext>
            </a:extLst>
          </p:cNvPr>
          <p:cNvSpPr txBox="1">
            <a:spLocks noChangeArrowheads="1"/>
          </p:cNvSpPr>
          <p:nvPr/>
        </p:nvSpPr>
        <p:spPr bwMode="auto">
          <a:xfrm>
            <a:off x="1355725" y="4343400"/>
            <a:ext cx="738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accent2"/>
                </a:solidFill>
                <a:latin typeface="Times New Roman" panose="02020603050405020304" pitchFamily="18" charset="0"/>
                <a:ea typeface="宋体" panose="02010600030101010101" pitchFamily="2" charset="-122"/>
              </a:rPr>
              <a:t>this</a:t>
            </a:r>
            <a:endParaRPr kumimoji="1" lang="en-US" altLang="zh-CN" sz="2400">
              <a:latin typeface="Times New Roman" panose="02020603050405020304" pitchFamily="18" charset="0"/>
              <a:ea typeface="宋体" panose="02010600030101010101" pitchFamily="2" charset="-122"/>
            </a:endParaRPr>
          </a:p>
        </p:txBody>
      </p:sp>
      <p:sp>
        <p:nvSpPr>
          <p:cNvPr id="22554" name="Text Box 26">
            <a:extLst>
              <a:ext uri="{FF2B5EF4-FFF2-40B4-BE49-F238E27FC236}">
                <a16:creationId xmlns:a16="http://schemas.microsoft.com/office/drawing/2014/main" id="{90DEF5D5-9FFB-0B43-AD02-793278FE4557}"/>
              </a:ext>
            </a:extLst>
          </p:cNvPr>
          <p:cNvSpPr txBox="1">
            <a:spLocks noChangeArrowheads="1"/>
          </p:cNvSpPr>
          <p:nvPr/>
        </p:nvSpPr>
        <p:spPr bwMode="auto">
          <a:xfrm>
            <a:off x="1476944" y="4963180"/>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chemeClr val="accent2"/>
                </a:solidFill>
                <a:latin typeface="Times New Roman" panose="02020603050405020304" pitchFamily="18" charset="0"/>
                <a:ea typeface="宋体" panose="02010600030101010101" pitchFamily="2" charset="-122"/>
              </a:rPr>
              <a:t>R</a:t>
            </a:r>
            <a:endParaRPr kumimoji="1" lang="en-US" altLang="zh-CN" sz="2400" dirty="0">
              <a:latin typeface="Times New Roman" panose="02020603050405020304" pitchFamily="18" charset="0"/>
              <a:ea typeface="宋体" panose="02010600030101010101" pitchFamily="2" charset="-122"/>
            </a:endParaRPr>
          </a:p>
        </p:txBody>
      </p:sp>
      <p:sp>
        <p:nvSpPr>
          <p:cNvPr id="22555" name="Text Box 27">
            <a:extLst>
              <a:ext uri="{FF2B5EF4-FFF2-40B4-BE49-F238E27FC236}">
                <a16:creationId xmlns:a16="http://schemas.microsoft.com/office/drawing/2014/main" id="{801FB5F0-1EA6-4947-1D2D-FDFCC57A081D}"/>
              </a:ext>
            </a:extLst>
          </p:cNvPr>
          <p:cNvSpPr txBox="1">
            <a:spLocks noChangeArrowheads="1"/>
          </p:cNvSpPr>
          <p:nvPr/>
        </p:nvSpPr>
        <p:spPr bwMode="auto">
          <a:xfrm>
            <a:off x="2203450" y="4267200"/>
            <a:ext cx="4857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0  0   1  </a:t>
            </a:r>
            <a:r>
              <a:rPr kumimoji="1" lang="en-US" altLang="zh-CN" sz="3200" b="1">
                <a:solidFill>
                  <a:srgbClr val="CC3300"/>
                </a:solidFill>
                <a:latin typeface="Times New Roman" panose="02020603050405020304" pitchFamily="18" charset="0"/>
                <a:ea typeface="宋体" panose="02010600030101010101" pitchFamily="2" charset="-122"/>
              </a:rPr>
              <a:t>1</a:t>
            </a:r>
            <a:r>
              <a:rPr kumimoji="1" lang="en-US" altLang="zh-CN" sz="3200" b="1">
                <a:solidFill>
                  <a:srgbClr val="009900"/>
                </a:solidFill>
                <a:latin typeface="Times New Roman" panose="02020603050405020304" pitchFamily="18" charset="0"/>
                <a:ea typeface="宋体" panose="02010600030101010101" pitchFamily="2" charset="-122"/>
              </a:rPr>
              <a:t>   0  0  0   0   1  1  0</a:t>
            </a:r>
            <a:endParaRPr kumimoji="1" lang="en-US" altLang="zh-CN" sz="2400">
              <a:latin typeface="Times New Roman" panose="02020603050405020304" pitchFamily="18" charset="0"/>
              <a:ea typeface="宋体" panose="02010600030101010101" pitchFamily="2" charset="-122"/>
            </a:endParaRPr>
          </a:p>
        </p:txBody>
      </p:sp>
      <p:sp>
        <p:nvSpPr>
          <p:cNvPr id="22556" name="Text Box 28">
            <a:extLst>
              <a:ext uri="{FF2B5EF4-FFF2-40B4-BE49-F238E27FC236}">
                <a16:creationId xmlns:a16="http://schemas.microsoft.com/office/drawing/2014/main" id="{368405EA-0197-4250-2C02-A709B0B8725E}"/>
              </a:ext>
            </a:extLst>
          </p:cNvPr>
          <p:cNvSpPr txBox="1">
            <a:spLocks noChangeArrowheads="1"/>
          </p:cNvSpPr>
          <p:nvPr/>
        </p:nvSpPr>
        <p:spPr bwMode="auto">
          <a:xfrm>
            <a:off x="2209800" y="4953000"/>
            <a:ext cx="4857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0  0   1  </a:t>
            </a:r>
            <a:r>
              <a:rPr kumimoji="1" lang="en-US" altLang="zh-CN" sz="3200" b="1">
                <a:solidFill>
                  <a:srgbClr val="CC3300"/>
                </a:solidFill>
                <a:latin typeface="Times New Roman" panose="02020603050405020304" pitchFamily="18" charset="0"/>
                <a:ea typeface="宋体" panose="02010600030101010101" pitchFamily="2" charset="-122"/>
              </a:rPr>
              <a:t>0</a:t>
            </a:r>
            <a:r>
              <a:rPr kumimoji="1" lang="en-US" altLang="zh-CN" sz="3200" b="1">
                <a:solidFill>
                  <a:srgbClr val="009900"/>
                </a:solidFill>
                <a:latin typeface="Times New Roman" panose="02020603050405020304" pitchFamily="18" charset="0"/>
                <a:ea typeface="宋体" panose="02010600030101010101" pitchFamily="2" charset="-122"/>
              </a:rPr>
              <a:t>   0  1  0   1   0  1  0</a:t>
            </a:r>
            <a:endParaRPr kumimoji="1" lang="en-US" altLang="zh-CN" sz="2400">
              <a:latin typeface="Times New Roman" panose="02020603050405020304" pitchFamily="18" charset="0"/>
              <a:ea typeface="宋体" panose="02010600030101010101" pitchFamily="2" charset="-122"/>
            </a:endParaRPr>
          </a:p>
        </p:txBody>
      </p:sp>
      <p:sp>
        <p:nvSpPr>
          <p:cNvPr id="22557" name="Line 29">
            <a:extLst>
              <a:ext uri="{FF2B5EF4-FFF2-40B4-BE49-F238E27FC236}">
                <a16:creationId xmlns:a16="http://schemas.microsoft.com/office/drawing/2014/main" id="{9B6D351C-695D-2DA5-1B65-2CD09A8A87CE}"/>
              </a:ext>
            </a:extLst>
          </p:cNvPr>
          <p:cNvSpPr>
            <a:spLocks noChangeShapeType="1"/>
          </p:cNvSpPr>
          <p:nvPr/>
        </p:nvSpPr>
        <p:spPr bwMode="auto">
          <a:xfrm flipV="1">
            <a:off x="3733800" y="5486400"/>
            <a:ext cx="0" cy="533400"/>
          </a:xfrm>
          <a:prstGeom prst="line">
            <a:avLst/>
          </a:prstGeom>
          <a:noFill/>
          <a:ln w="28575">
            <a:solidFill>
              <a:srgbClr val="CC33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8" name="Text Box 30">
            <a:extLst>
              <a:ext uri="{FF2B5EF4-FFF2-40B4-BE49-F238E27FC236}">
                <a16:creationId xmlns:a16="http://schemas.microsoft.com/office/drawing/2014/main" id="{6461EEFB-385F-0361-6957-DD3DDD15DCFA}"/>
              </a:ext>
            </a:extLst>
          </p:cNvPr>
          <p:cNvSpPr txBox="1">
            <a:spLocks noChangeArrowheads="1"/>
          </p:cNvSpPr>
          <p:nvPr/>
        </p:nvSpPr>
        <p:spPr bwMode="auto">
          <a:xfrm>
            <a:off x="3810000" y="5562600"/>
            <a:ext cx="2968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rgbClr val="CC3300"/>
                </a:solidFill>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3" name="内容占位符 2">
            <a:extLst>
              <a:ext uri="{FF2B5EF4-FFF2-40B4-BE49-F238E27FC236}">
                <a16:creationId xmlns:a16="http://schemas.microsoft.com/office/drawing/2014/main" id="{852B8EDE-4EDC-4C3E-BB5B-D4529F8B3E6E}"/>
              </a:ext>
            </a:extLst>
          </p:cNvPr>
          <p:cNvSpPr>
            <a:spLocks noGrp="1"/>
          </p:cNvSpPr>
          <p:nvPr>
            <p:ph idx="1"/>
          </p:nvPr>
        </p:nvSpPr>
        <p:spPr>
          <a:xfrm>
            <a:off x="323528" y="338931"/>
            <a:ext cx="8640960" cy="4351338"/>
          </a:xfrm>
        </p:spPr>
        <p:txBody>
          <a:bodyPr>
            <a:normAutofit fontScale="92500" lnSpcReduction="10000"/>
          </a:bodyPr>
          <a:lstStyle/>
          <a:p>
            <a:pPr marL="0" indent="0">
              <a:buNone/>
            </a:pPr>
            <a:r>
              <a:rPr lang="en-US" altLang="zh-CN" dirty="0"/>
              <a:t>bool </a:t>
            </a:r>
            <a:r>
              <a:rPr lang="en-US" altLang="zh-CN" dirty="0" err="1"/>
              <a:t>bitSet</a:t>
            </a:r>
            <a:r>
              <a:rPr lang="en-US" altLang="zh-CN" dirty="0"/>
              <a:t> :: operator == ( </a:t>
            </a:r>
            <a:r>
              <a:rPr lang="en-US" altLang="zh-CN" dirty="0" err="1"/>
              <a:t>bitSet</a:t>
            </a:r>
            <a:r>
              <a:rPr lang="en-US" altLang="zh-CN" dirty="0"/>
              <a:t>&amp; R ) {     //</a:t>
            </a:r>
            <a:r>
              <a:rPr lang="zh-CN" altLang="en-US" dirty="0"/>
              <a:t>判相等</a:t>
            </a:r>
          </a:p>
          <a:p>
            <a:pPr marL="0" indent="0">
              <a:buNone/>
            </a:pPr>
            <a:r>
              <a:rPr lang="zh-CN" altLang="en-US" dirty="0"/>
              <a:t>   </a:t>
            </a:r>
            <a:r>
              <a:rPr lang="en-US" altLang="zh-CN" dirty="0"/>
              <a:t>if( </a:t>
            </a:r>
            <a:r>
              <a:rPr lang="en-US" altLang="zh-CN" dirty="0" err="1"/>
              <a:t>vectorSize</a:t>
            </a:r>
            <a:r>
              <a:rPr lang="en-US" altLang="zh-CN" dirty="0"/>
              <a:t> != </a:t>
            </a:r>
            <a:r>
              <a:rPr lang="en-US" altLang="zh-CN" dirty="0" err="1"/>
              <a:t>R.vectorSize</a:t>
            </a:r>
            <a:r>
              <a:rPr lang="en-US" altLang="zh-CN" dirty="0"/>
              <a:t> ) return false;</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a:t>
            </a:r>
            <a:r>
              <a:rPr lang="en-US" altLang="zh-CN" dirty="0" err="1"/>
              <a:t>vectorSize</a:t>
            </a:r>
            <a:r>
              <a:rPr lang="en-US" altLang="zh-CN" dirty="0"/>
              <a:t>; </a:t>
            </a:r>
            <a:r>
              <a:rPr lang="en-US" altLang="zh-CN" dirty="0" err="1"/>
              <a:t>i</a:t>
            </a:r>
            <a:r>
              <a:rPr lang="en-US" altLang="zh-CN" dirty="0"/>
              <a:t>++)</a:t>
            </a:r>
          </a:p>
          <a:p>
            <a:pPr marL="0" indent="0">
              <a:buNone/>
            </a:pPr>
            <a:r>
              <a:rPr lang="en-US" altLang="zh-CN" dirty="0"/>
              <a:t>      if ( </a:t>
            </a:r>
            <a:r>
              <a:rPr lang="en-US" altLang="zh-CN" dirty="0" err="1"/>
              <a:t>bitVector</a:t>
            </a:r>
            <a:r>
              <a:rPr lang="en-US" altLang="zh-CN" dirty="0"/>
              <a:t>[</a:t>
            </a:r>
            <a:r>
              <a:rPr lang="en-US" altLang="zh-CN" dirty="0" err="1"/>
              <a:t>i</a:t>
            </a:r>
            <a:r>
              <a:rPr lang="en-US" altLang="zh-CN" dirty="0"/>
              <a:t>] != </a:t>
            </a:r>
            <a:r>
              <a:rPr lang="en-US" altLang="zh-CN" dirty="0" err="1"/>
              <a:t>R.bitVector</a:t>
            </a:r>
            <a:r>
              <a:rPr lang="en-US" altLang="zh-CN" dirty="0"/>
              <a:t>[</a:t>
            </a:r>
            <a:r>
              <a:rPr lang="en-US" altLang="zh-CN" dirty="0" err="1"/>
              <a:t>i</a:t>
            </a:r>
            <a:r>
              <a:rPr lang="en-US" altLang="zh-CN" dirty="0"/>
              <a:t>] )</a:t>
            </a:r>
          </a:p>
          <a:p>
            <a:pPr marL="0" indent="0">
              <a:buNone/>
            </a:pPr>
            <a:r>
              <a:rPr lang="en-US" altLang="zh-CN" dirty="0"/>
              <a:t>         return false;</a:t>
            </a:r>
          </a:p>
          <a:p>
            <a:pPr marL="0" indent="0">
              <a:buNone/>
            </a:pPr>
            <a:r>
              <a:rPr lang="en-US" altLang="zh-CN" dirty="0"/>
              <a:t>   return true;</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1B65A4EA-B8F8-4A4C-9EC6-CB2B7ED1D4FB}"/>
              </a:ext>
            </a:extLst>
          </p:cNvPr>
          <p:cNvSpPr>
            <a:spLocks noGrp="1"/>
          </p:cNvSpPr>
          <p:nvPr>
            <p:ph type="sldNum" sz="quarter" idx="12"/>
          </p:nvPr>
        </p:nvSpPr>
        <p:spPr/>
        <p:txBody>
          <a:bodyPr/>
          <a:lstStyle/>
          <a:p>
            <a:pPr>
              <a:defRPr/>
            </a:pPr>
            <a:fld id="{524B865F-46F8-4520-B0DD-31ED36EF62D9}" type="slidenum">
              <a:rPr lang="en-US" altLang="zh-CN" smtClean="0"/>
              <a:pPr>
                <a:defRPr/>
              </a:pPr>
              <a:t>16</a:t>
            </a:fld>
            <a:endParaRPr lang="en-US" altLang="zh-CN"/>
          </a:p>
        </p:txBody>
      </p:sp>
    </p:spTree>
  </p:cSld>
  <p:clrMapOvr>
    <a:masterClrMapping/>
  </p:clrMapOvr>
  <p:transition>
    <p:spli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027" descr="羊皮纸">
            <a:extLst>
              <a:ext uri="{FF2B5EF4-FFF2-40B4-BE49-F238E27FC236}">
                <a16:creationId xmlns:a16="http://schemas.microsoft.com/office/drawing/2014/main" id="{CF9AF066-443C-5252-8348-9D719C9D6504}"/>
              </a:ext>
            </a:extLst>
          </p:cNvPr>
          <p:cNvSpPr>
            <a:spLocks noChangeArrowheads="1"/>
          </p:cNvSpPr>
          <p:nvPr/>
        </p:nvSpPr>
        <p:spPr bwMode="auto">
          <a:xfrm>
            <a:off x="2133600" y="4570413"/>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3556" name="Line 1028">
            <a:extLst>
              <a:ext uri="{FF2B5EF4-FFF2-40B4-BE49-F238E27FC236}">
                <a16:creationId xmlns:a16="http://schemas.microsoft.com/office/drawing/2014/main" id="{F08C1142-8C4E-7765-B1E5-BBF11EE2A4AD}"/>
              </a:ext>
            </a:extLst>
          </p:cNvPr>
          <p:cNvSpPr>
            <a:spLocks noChangeShapeType="1"/>
          </p:cNvSpPr>
          <p:nvPr/>
        </p:nvSpPr>
        <p:spPr bwMode="auto">
          <a:xfrm>
            <a:off x="2590800" y="45704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 name="Line 1029">
            <a:extLst>
              <a:ext uri="{FF2B5EF4-FFF2-40B4-BE49-F238E27FC236}">
                <a16:creationId xmlns:a16="http://schemas.microsoft.com/office/drawing/2014/main" id="{C0AC9D54-45D9-8822-44F2-C38646B643F6}"/>
              </a:ext>
            </a:extLst>
          </p:cNvPr>
          <p:cNvSpPr>
            <a:spLocks noChangeShapeType="1"/>
          </p:cNvSpPr>
          <p:nvPr/>
        </p:nvSpPr>
        <p:spPr bwMode="auto">
          <a:xfrm>
            <a:off x="3048000" y="45704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 name="Line 1030">
            <a:extLst>
              <a:ext uri="{FF2B5EF4-FFF2-40B4-BE49-F238E27FC236}">
                <a16:creationId xmlns:a16="http://schemas.microsoft.com/office/drawing/2014/main" id="{F44BC79E-A093-25BF-7644-A8D785758207}"/>
              </a:ext>
            </a:extLst>
          </p:cNvPr>
          <p:cNvSpPr>
            <a:spLocks noChangeShapeType="1"/>
          </p:cNvSpPr>
          <p:nvPr/>
        </p:nvSpPr>
        <p:spPr bwMode="auto">
          <a:xfrm>
            <a:off x="3505200" y="45704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 name="Line 1031">
            <a:extLst>
              <a:ext uri="{FF2B5EF4-FFF2-40B4-BE49-F238E27FC236}">
                <a16:creationId xmlns:a16="http://schemas.microsoft.com/office/drawing/2014/main" id="{6B677410-1273-0C02-70B4-A2E05AED0370}"/>
              </a:ext>
            </a:extLst>
          </p:cNvPr>
          <p:cNvSpPr>
            <a:spLocks noChangeShapeType="1"/>
          </p:cNvSpPr>
          <p:nvPr/>
        </p:nvSpPr>
        <p:spPr bwMode="auto">
          <a:xfrm>
            <a:off x="3962400" y="45704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0" name="Line 1032">
            <a:extLst>
              <a:ext uri="{FF2B5EF4-FFF2-40B4-BE49-F238E27FC236}">
                <a16:creationId xmlns:a16="http://schemas.microsoft.com/office/drawing/2014/main" id="{9A4E9C5A-79CE-093F-FF45-C13850D736F4}"/>
              </a:ext>
            </a:extLst>
          </p:cNvPr>
          <p:cNvSpPr>
            <a:spLocks noChangeShapeType="1"/>
          </p:cNvSpPr>
          <p:nvPr/>
        </p:nvSpPr>
        <p:spPr bwMode="auto">
          <a:xfrm>
            <a:off x="4419600" y="45704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1" name="Line 1033">
            <a:extLst>
              <a:ext uri="{FF2B5EF4-FFF2-40B4-BE49-F238E27FC236}">
                <a16:creationId xmlns:a16="http://schemas.microsoft.com/office/drawing/2014/main" id="{EE95CDE5-ED11-A407-14B0-7F8EF4547CFA}"/>
              </a:ext>
            </a:extLst>
          </p:cNvPr>
          <p:cNvSpPr>
            <a:spLocks noChangeShapeType="1"/>
          </p:cNvSpPr>
          <p:nvPr/>
        </p:nvSpPr>
        <p:spPr bwMode="auto">
          <a:xfrm>
            <a:off x="4876800" y="45704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2" name="Line 1034">
            <a:extLst>
              <a:ext uri="{FF2B5EF4-FFF2-40B4-BE49-F238E27FC236}">
                <a16:creationId xmlns:a16="http://schemas.microsoft.com/office/drawing/2014/main" id="{9F1A4358-F4E2-C77A-34E5-0819B7953E44}"/>
              </a:ext>
            </a:extLst>
          </p:cNvPr>
          <p:cNvSpPr>
            <a:spLocks noChangeShapeType="1"/>
          </p:cNvSpPr>
          <p:nvPr/>
        </p:nvSpPr>
        <p:spPr bwMode="auto">
          <a:xfrm>
            <a:off x="5334000" y="45704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3" name="Line 1035">
            <a:extLst>
              <a:ext uri="{FF2B5EF4-FFF2-40B4-BE49-F238E27FC236}">
                <a16:creationId xmlns:a16="http://schemas.microsoft.com/office/drawing/2014/main" id="{44CF3FDF-BBB9-2864-A42D-B70F9D1E3033}"/>
              </a:ext>
            </a:extLst>
          </p:cNvPr>
          <p:cNvSpPr>
            <a:spLocks noChangeShapeType="1"/>
          </p:cNvSpPr>
          <p:nvPr/>
        </p:nvSpPr>
        <p:spPr bwMode="auto">
          <a:xfrm>
            <a:off x="5791200" y="45704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4" name="Line 1036">
            <a:extLst>
              <a:ext uri="{FF2B5EF4-FFF2-40B4-BE49-F238E27FC236}">
                <a16:creationId xmlns:a16="http://schemas.microsoft.com/office/drawing/2014/main" id="{81A29953-93E1-E880-10B4-8082AC4270C9}"/>
              </a:ext>
            </a:extLst>
          </p:cNvPr>
          <p:cNvSpPr>
            <a:spLocks noChangeShapeType="1"/>
          </p:cNvSpPr>
          <p:nvPr/>
        </p:nvSpPr>
        <p:spPr bwMode="auto">
          <a:xfrm>
            <a:off x="6248400" y="45704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5" name="Line 1037">
            <a:extLst>
              <a:ext uri="{FF2B5EF4-FFF2-40B4-BE49-F238E27FC236}">
                <a16:creationId xmlns:a16="http://schemas.microsoft.com/office/drawing/2014/main" id="{9F309BEA-8BE8-4F58-58C8-28B26605C6CE}"/>
              </a:ext>
            </a:extLst>
          </p:cNvPr>
          <p:cNvSpPr>
            <a:spLocks noChangeShapeType="1"/>
          </p:cNvSpPr>
          <p:nvPr/>
        </p:nvSpPr>
        <p:spPr bwMode="auto">
          <a:xfrm>
            <a:off x="6705600" y="45704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6" name="Rectangle 1038" descr="羊皮纸">
            <a:extLst>
              <a:ext uri="{FF2B5EF4-FFF2-40B4-BE49-F238E27FC236}">
                <a16:creationId xmlns:a16="http://schemas.microsoft.com/office/drawing/2014/main" id="{965BEA2E-1DBD-CA15-25E2-DA6A9FF19DDC}"/>
              </a:ext>
            </a:extLst>
          </p:cNvPr>
          <p:cNvSpPr>
            <a:spLocks noChangeArrowheads="1"/>
          </p:cNvSpPr>
          <p:nvPr/>
        </p:nvSpPr>
        <p:spPr bwMode="auto">
          <a:xfrm>
            <a:off x="2133600" y="5256213"/>
            <a:ext cx="50292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3567" name="Line 1039">
            <a:extLst>
              <a:ext uri="{FF2B5EF4-FFF2-40B4-BE49-F238E27FC236}">
                <a16:creationId xmlns:a16="http://schemas.microsoft.com/office/drawing/2014/main" id="{99C2F4E4-C8BF-AAB3-2714-D23D47A9385B}"/>
              </a:ext>
            </a:extLst>
          </p:cNvPr>
          <p:cNvSpPr>
            <a:spLocks noChangeShapeType="1"/>
          </p:cNvSpPr>
          <p:nvPr/>
        </p:nvSpPr>
        <p:spPr bwMode="auto">
          <a:xfrm>
            <a:off x="2590800" y="5256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8" name="Line 1040">
            <a:extLst>
              <a:ext uri="{FF2B5EF4-FFF2-40B4-BE49-F238E27FC236}">
                <a16:creationId xmlns:a16="http://schemas.microsoft.com/office/drawing/2014/main" id="{C9C9FB37-5498-20D6-6CE0-C21C4A6E8516}"/>
              </a:ext>
            </a:extLst>
          </p:cNvPr>
          <p:cNvSpPr>
            <a:spLocks noChangeShapeType="1"/>
          </p:cNvSpPr>
          <p:nvPr/>
        </p:nvSpPr>
        <p:spPr bwMode="auto">
          <a:xfrm>
            <a:off x="3048000" y="5256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9" name="Line 1041">
            <a:extLst>
              <a:ext uri="{FF2B5EF4-FFF2-40B4-BE49-F238E27FC236}">
                <a16:creationId xmlns:a16="http://schemas.microsoft.com/office/drawing/2014/main" id="{4EB6B51E-F8D0-DEFB-C751-E986C840446F}"/>
              </a:ext>
            </a:extLst>
          </p:cNvPr>
          <p:cNvSpPr>
            <a:spLocks noChangeShapeType="1"/>
          </p:cNvSpPr>
          <p:nvPr/>
        </p:nvSpPr>
        <p:spPr bwMode="auto">
          <a:xfrm>
            <a:off x="3505200" y="5256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0" name="Line 1042">
            <a:extLst>
              <a:ext uri="{FF2B5EF4-FFF2-40B4-BE49-F238E27FC236}">
                <a16:creationId xmlns:a16="http://schemas.microsoft.com/office/drawing/2014/main" id="{17E8C1D6-95EC-3815-4B82-E91B2A897E26}"/>
              </a:ext>
            </a:extLst>
          </p:cNvPr>
          <p:cNvSpPr>
            <a:spLocks noChangeShapeType="1"/>
          </p:cNvSpPr>
          <p:nvPr/>
        </p:nvSpPr>
        <p:spPr bwMode="auto">
          <a:xfrm>
            <a:off x="3962400" y="5256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1" name="Line 1043">
            <a:extLst>
              <a:ext uri="{FF2B5EF4-FFF2-40B4-BE49-F238E27FC236}">
                <a16:creationId xmlns:a16="http://schemas.microsoft.com/office/drawing/2014/main" id="{E071A68C-084E-EAE0-9288-CC5562DDF66C}"/>
              </a:ext>
            </a:extLst>
          </p:cNvPr>
          <p:cNvSpPr>
            <a:spLocks noChangeShapeType="1"/>
          </p:cNvSpPr>
          <p:nvPr/>
        </p:nvSpPr>
        <p:spPr bwMode="auto">
          <a:xfrm>
            <a:off x="4419600" y="5256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2" name="Line 1044">
            <a:extLst>
              <a:ext uri="{FF2B5EF4-FFF2-40B4-BE49-F238E27FC236}">
                <a16:creationId xmlns:a16="http://schemas.microsoft.com/office/drawing/2014/main" id="{743E36CF-4845-DD03-DDC1-55742A771125}"/>
              </a:ext>
            </a:extLst>
          </p:cNvPr>
          <p:cNvSpPr>
            <a:spLocks noChangeShapeType="1"/>
          </p:cNvSpPr>
          <p:nvPr/>
        </p:nvSpPr>
        <p:spPr bwMode="auto">
          <a:xfrm>
            <a:off x="4876800" y="5256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3" name="Line 1045">
            <a:extLst>
              <a:ext uri="{FF2B5EF4-FFF2-40B4-BE49-F238E27FC236}">
                <a16:creationId xmlns:a16="http://schemas.microsoft.com/office/drawing/2014/main" id="{F7C7C6FF-8E6C-E588-58DD-D88F4B3BB11B}"/>
              </a:ext>
            </a:extLst>
          </p:cNvPr>
          <p:cNvSpPr>
            <a:spLocks noChangeShapeType="1"/>
          </p:cNvSpPr>
          <p:nvPr/>
        </p:nvSpPr>
        <p:spPr bwMode="auto">
          <a:xfrm>
            <a:off x="5334000" y="5256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4" name="Line 1046">
            <a:extLst>
              <a:ext uri="{FF2B5EF4-FFF2-40B4-BE49-F238E27FC236}">
                <a16:creationId xmlns:a16="http://schemas.microsoft.com/office/drawing/2014/main" id="{80BF41E3-E123-C2EA-043D-FE4582D8BF5F}"/>
              </a:ext>
            </a:extLst>
          </p:cNvPr>
          <p:cNvSpPr>
            <a:spLocks noChangeShapeType="1"/>
          </p:cNvSpPr>
          <p:nvPr/>
        </p:nvSpPr>
        <p:spPr bwMode="auto">
          <a:xfrm>
            <a:off x="5791200" y="5256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5" name="Line 1047">
            <a:extLst>
              <a:ext uri="{FF2B5EF4-FFF2-40B4-BE49-F238E27FC236}">
                <a16:creationId xmlns:a16="http://schemas.microsoft.com/office/drawing/2014/main" id="{85611186-3EB2-2ECF-3F49-A88D2E0530AD}"/>
              </a:ext>
            </a:extLst>
          </p:cNvPr>
          <p:cNvSpPr>
            <a:spLocks noChangeShapeType="1"/>
          </p:cNvSpPr>
          <p:nvPr/>
        </p:nvSpPr>
        <p:spPr bwMode="auto">
          <a:xfrm>
            <a:off x="6248400" y="5256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6" name="Line 1048">
            <a:extLst>
              <a:ext uri="{FF2B5EF4-FFF2-40B4-BE49-F238E27FC236}">
                <a16:creationId xmlns:a16="http://schemas.microsoft.com/office/drawing/2014/main" id="{66FA60BB-6DF7-1466-25B8-58C795EDDB84}"/>
              </a:ext>
            </a:extLst>
          </p:cNvPr>
          <p:cNvSpPr>
            <a:spLocks noChangeShapeType="1"/>
          </p:cNvSpPr>
          <p:nvPr/>
        </p:nvSpPr>
        <p:spPr bwMode="auto">
          <a:xfrm>
            <a:off x="6705600" y="5256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7" name="Text Box 1049">
            <a:extLst>
              <a:ext uri="{FF2B5EF4-FFF2-40B4-BE49-F238E27FC236}">
                <a16:creationId xmlns:a16="http://schemas.microsoft.com/office/drawing/2014/main" id="{5D1F121A-1C74-D53B-F661-3A22AD670420}"/>
              </a:ext>
            </a:extLst>
          </p:cNvPr>
          <p:cNvSpPr txBox="1">
            <a:spLocks noChangeArrowheads="1"/>
          </p:cNvSpPr>
          <p:nvPr/>
        </p:nvSpPr>
        <p:spPr bwMode="auto">
          <a:xfrm>
            <a:off x="1355725" y="4570413"/>
            <a:ext cx="7381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chemeClr val="accent2"/>
                </a:solidFill>
                <a:latin typeface="Times New Roman" panose="02020603050405020304" pitchFamily="18" charset="0"/>
                <a:ea typeface="宋体" panose="02010600030101010101" pitchFamily="2" charset="-122"/>
              </a:rPr>
              <a:t>this</a:t>
            </a:r>
            <a:endParaRPr kumimoji="1" lang="en-US" altLang="zh-CN" sz="2400" dirty="0">
              <a:latin typeface="Times New Roman" panose="02020603050405020304" pitchFamily="18" charset="0"/>
              <a:ea typeface="宋体" panose="02010600030101010101" pitchFamily="2" charset="-122"/>
            </a:endParaRPr>
          </a:p>
        </p:txBody>
      </p:sp>
      <p:sp>
        <p:nvSpPr>
          <p:cNvPr id="23578" name="Text Box 1050">
            <a:extLst>
              <a:ext uri="{FF2B5EF4-FFF2-40B4-BE49-F238E27FC236}">
                <a16:creationId xmlns:a16="http://schemas.microsoft.com/office/drawing/2014/main" id="{77E37DAE-9DCE-6BB3-4448-224766B41FCB}"/>
              </a:ext>
            </a:extLst>
          </p:cNvPr>
          <p:cNvSpPr txBox="1">
            <a:spLocks noChangeArrowheads="1"/>
          </p:cNvSpPr>
          <p:nvPr/>
        </p:nvSpPr>
        <p:spPr bwMode="auto">
          <a:xfrm>
            <a:off x="1574948" y="5226273"/>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chemeClr val="accent2"/>
                </a:solidFill>
                <a:latin typeface="Times New Roman" panose="02020603050405020304" pitchFamily="18" charset="0"/>
                <a:ea typeface="宋体" panose="02010600030101010101" pitchFamily="2" charset="-122"/>
              </a:rPr>
              <a:t>R</a:t>
            </a:r>
            <a:endParaRPr kumimoji="1" lang="en-US" altLang="zh-CN" sz="2400" dirty="0">
              <a:latin typeface="Times New Roman" panose="02020603050405020304" pitchFamily="18" charset="0"/>
              <a:ea typeface="宋体" panose="02010600030101010101" pitchFamily="2" charset="-122"/>
            </a:endParaRPr>
          </a:p>
        </p:txBody>
      </p:sp>
      <p:sp>
        <p:nvSpPr>
          <p:cNvPr id="23579" name="Text Box 1051">
            <a:extLst>
              <a:ext uri="{FF2B5EF4-FFF2-40B4-BE49-F238E27FC236}">
                <a16:creationId xmlns:a16="http://schemas.microsoft.com/office/drawing/2014/main" id="{E323012F-6CDD-756E-B2F6-3861697E095F}"/>
              </a:ext>
            </a:extLst>
          </p:cNvPr>
          <p:cNvSpPr txBox="1">
            <a:spLocks noChangeArrowheads="1"/>
          </p:cNvSpPr>
          <p:nvPr/>
        </p:nvSpPr>
        <p:spPr bwMode="auto">
          <a:xfrm>
            <a:off x="2203450" y="4494213"/>
            <a:ext cx="4857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0  0   1  1   0  0  0   0   1  1  0</a:t>
            </a:r>
            <a:endParaRPr kumimoji="1" lang="en-US" altLang="zh-CN" sz="2400">
              <a:latin typeface="Times New Roman" panose="02020603050405020304" pitchFamily="18" charset="0"/>
              <a:ea typeface="宋体" panose="02010600030101010101" pitchFamily="2" charset="-122"/>
            </a:endParaRPr>
          </a:p>
        </p:txBody>
      </p:sp>
      <p:sp>
        <p:nvSpPr>
          <p:cNvPr id="23580" name="Text Box 1052">
            <a:extLst>
              <a:ext uri="{FF2B5EF4-FFF2-40B4-BE49-F238E27FC236}">
                <a16:creationId xmlns:a16="http://schemas.microsoft.com/office/drawing/2014/main" id="{145E19D2-CF62-AD8C-DA4A-F0EDD2E7D8C8}"/>
              </a:ext>
            </a:extLst>
          </p:cNvPr>
          <p:cNvSpPr txBox="1">
            <a:spLocks noChangeArrowheads="1"/>
          </p:cNvSpPr>
          <p:nvPr/>
        </p:nvSpPr>
        <p:spPr bwMode="auto">
          <a:xfrm>
            <a:off x="2209800" y="5180013"/>
            <a:ext cx="4857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0  0   1  0   0  1  0   1   0  1  0</a:t>
            </a:r>
            <a:endParaRPr kumimoji="1" lang="en-US" altLang="zh-CN" sz="2400">
              <a:latin typeface="Times New Roman" panose="02020603050405020304" pitchFamily="18" charset="0"/>
              <a:ea typeface="宋体" panose="02010600030101010101" pitchFamily="2" charset="-122"/>
            </a:endParaRPr>
          </a:p>
        </p:txBody>
      </p:sp>
      <p:sp>
        <p:nvSpPr>
          <p:cNvPr id="23581" name="Text Box 1053">
            <a:extLst>
              <a:ext uri="{FF2B5EF4-FFF2-40B4-BE49-F238E27FC236}">
                <a16:creationId xmlns:a16="http://schemas.microsoft.com/office/drawing/2014/main" id="{85B3769F-986F-4342-8766-D7C25FAE3697}"/>
              </a:ext>
            </a:extLst>
          </p:cNvPr>
          <p:cNvSpPr txBox="1">
            <a:spLocks noChangeArrowheads="1"/>
          </p:cNvSpPr>
          <p:nvPr/>
        </p:nvSpPr>
        <p:spPr bwMode="auto">
          <a:xfrm>
            <a:off x="2209800" y="5818993"/>
            <a:ext cx="531452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dirty="0">
                <a:solidFill>
                  <a:schemeClr val="tx2"/>
                </a:solidFill>
                <a:latin typeface="Times New Roman" panose="02020603050405020304" pitchFamily="18" charset="0"/>
                <a:ea typeface="宋体" panose="02010600030101010101" pitchFamily="2" charset="-122"/>
              </a:rPr>
              <a:t>0  0   0  1   0  0  0   0   1  0  0 </a:t>
            </a:r>
            <a:endParaRPr kumimoji="1" lang="en-US" altLang="zh-CN" sz="3200" b="1" dirty="0">
              <a:solidFill>
                <a:srgbClr val="009900"/>
              </a:solidFill>
              <a:latin typeface="Times New Roman" panose="02020603050405020304" pitchFamily="18" charset="0"/>
              <a:ea typeface="宋体" panose="02010600030101010101" pitchFamily="2" charset="-122"/>
            </a:endParaRPr>
          </a:p>
        </p:txBody>
      </p:sp>
      <p:sp>
        <p:nvSpPr>
          <p:cNvPr id="3" name="内容占位符 2">
            <a:extLst>
              <a:ext uri="{FF2B5EF4-FFF2-40B4-BE49-F238E27FC236}">
                <a16:creationId xmlns:a16="http://schemas.microsoft.com/office/drawing/2014/main" id="{E39B4B18-4F8F-4082-9445-77444D00F1B6}"/>
              </a:ext>
            </a:extLst>
          </p:cNvPr>
          <p:cNvSpPr>
            <a:spLocks noGrp="1"/>
          </p:cNvSpPr>
          <p:nvPr>
            <p:ph idx="1"/>
          </p:nvPr>
        </p:nvSpPr>
        <p:spPr>
          <a:xfrm>
            <a:off x="628650" y="352425"/>
            <a:ext cx="7886700" cy="4351338"/>
          </a:xfrm>
        </p:spPr>
        <p:txBody>
          <a:bodyPr>
            <a:normAutofit fontScale="92500" lnSpcReduction="20000"/>
          </a:bodyPr>
          <a:lstStyle/>
          <a:p>
            <a:pPr marL="0" indent="0">
              <a:buNone/>
            </a:pPr>
            <a:r>
              <a:rPr lang="en-US" altLang="zh-CN" dirty="0"/>
              <a:t>//</a:t>
            </a:r>
            <a:r>
              <a:rPr lang="zh-CN" altLang="en-US" dirty="0"/>
              <a:t>判断 </a:t>
            </a:r>
            <a:r>
              <a:rPr lang="en-US" altLang="zh-CN" dirty="0"/>
              <a:t>this </a:t>
            </a:r>
            <a:r>
              <a:rPr lang="zh-CN" altLang="en-US" dirty="0"/>
              <a:t>是否是 </a:t>
            </a:r>
            <a:r>
              <a:rPr lang="en-US" altLang="zh-CN" dirty="0"/>
              <a:t>R </a:t>
            </a:r>
            <a:r>
              <a:rPr lang="zh-CN" altLang="en-US" dirty="0"/>
              <a:t>的子集</a:t>
            </a:r>
          </a:p>
          <a:p>
            <a:pPr marL="0" indent="0">
              <a:buNone/>
            </a:pPr>
            <a:r>
              <a:rPr lang="en-US" altLang="zh-CN" dirty="0"/>
              <a:t>bool </a:t>
            </a:r>
            <a:r>
              <a:rPr lang="en-US" altLang="zh-CN" dirty="0" err="1"/>
              <a:t>bitSet</a:t>
            </a:r>
            <a:r>
              <a:rPr lang="en-US" altLang="zh-CN" dirty="0"/>
              <a:t> :: </a:t>
            </a:r>
            <a:r>
              <a:rPr lang="en-US" altLang="zh-CN" dirty="0" err="1"/>
              <a:t>subSet</a:t>
            </a:r>
            <a:r>
              <a:rPr lang="en-US" altLang="zh-CN" dirty="0"/>
              <a:t> ( </a:t>
            </a:r>
            <a:r>
              <a:rPr lang="en-US" altLang="zh-CN" dirty="0" err="1"/>
              <a:t>bitSet</a:t>
            </a:r>
            <a:r>
              <a:rPr lang="en-US" altLang="zh-CN" dirty="0"/>
              <a:t>&amp; R ) {</a:t>
            </a:r>
          </a:p>
          <a:p>
            <a:pPr marL="0" indent="0">
              <a:buNone/>
            </a:pPr>
            <a:r>
              <a:rPr lang="en-US" altLang="zh-CN" dirty="0"/>
              <a:t>   assert ( </a:t>
            </a:r>
            <a:r>
              <a:rPr lang="en-US" altLang="zh-CN" dirty="0" err="1"/>
              <a:t>setSize</a:t>
            </a:r>
            <a:r>
              <a:rPr lang="en-US" altLang="zh-CN" dirty="0"/>
              <a:t> == </a:t>
            </a:r>
            <a:r>
              <a:rPr lang="en-US" altLang="zh-CN" dirty="0" err="1"/>
              <a:t>R.setSize</a:t>
            </a:r>
            <a:r>
              <a:rPr lang="en-US" altLang="zh-CN" dirty="0"/>
              <a:t> );</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a:t>
            </a:r>
            <a:r>
              <a:rPr lang="en-US" altLang="zh-CN" dirty="0" err="1"/>
              <a:t>vectorSize</a:t>
            </a:r>
            <a:r>
              <a:rPr lang="en-US" altLang="zh-CN" dirty="0"/>
              <a:t>; </a:t>
            </a:r>
            <a:r>
              <a:rPr lang="en-US" altLang="zh-CN" dirty="0" err="1"/>
              <a:t>i</a:t>
            </a:r>
            <a:r>
              <a:rPr lang="en-US" altLang="zh-CN" dirty="0"/>
              <a:t>++)</a:t>
            </a:r>
          </a:p>
          <a:p>
            <a:pPr marL="0" indent="0">
              <a:buNone/>
            </a:pPr>
            <a:r>
              <a:rPr lang="en-US" altLang="zh-CN" dirty="0"/>
              <a:t>      if ( </a:t>
            </a:r>
            <a:r>
              <a:rPr lang="en-US" altLang="zh-CN" dirty="0" err="1"/>
              <a:t>bitVector</a:t>
            </a:r>
            <a:r>
              <a:rPr lang="en-US" altLang="zh-CN" dirty="0"/>
              <a:t>[</a:t>
            </a:r>
            <a:r>
              <a:rPr lang="en-US" altLang="zh-CN" dirty="0" err="1"/>
              <a:t>i</a:t>
            </a:r>
            <a:r>
              <a:rPr lang="en-US" altLang="zh-CN" dirty="0"/>
              <a:t>] &amp; ~ </a:t>
            </a:r>
            <a:r>
              <a:rPr lang="en-US" altLang="zh-CN" dirty="0" err="1"/>
              <a:t>R.bitVector</a:t>
            </a:r>
            <a:r>
              <a:rPr lang="en-US" altLang="zh-CN" dirty="0"/>
              <a:t>[</a:t>
            </a:r>
            <a:r>
              <a:rPr lang="en-US" altLang="zh-CN" dirty="0" err="1"/>
              <a:t>i</a:t>
            </a:r>
            <a:r>
              <a:rPr lang="en-US" altLang="zh-CN" dirty="0"/>
              <a:t>]) </a:t>
            </a:r>
          </a:p>
          <a:p>
            <a:pPr marL="0" indent="0">
              <a:buNone/>
            </a:pPr>
            <a:r>
              <a:rPr lang="en-US" altLang="zh-CN" dirty="0"/>
              <a:t>         return false;</a:t>
            </a:r>
          </a:p>
          <a:p>
            <a:pPr marL="0" indent="0">
              <a:buNone/>
            </a:pPr>
            <a:r>
              <a:rPr lang="en-US" altLang="zh-CN" dirty="0"/>
              <a:t>   return true;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F40DD8EB-2E28-97A2-405A-B9506CA818C6}"/>
              </a:ext>
            </a:extLst>
          </p:cNvPr>
          <p:cNvSpPr>
            <a:spLocks noGrp="1"/>
          </p:cNvSpPr>
          <p:nvPr>
            <p:ph type="sldNum" sz="quarter" idx="12"/>
          </p:nvPr>
        </p:nvSpPr>
        <p:spPr/>
        <p:txBody>
          <a:bodyPr/>
          <a:lstStyle/>
          <a:p>
            <a:pPr>
              <a:defRPr/>
            </a:pPr>
            <a:fld id="{524B865F-46F8-4520-B0DD-31ED36EF62D9}" type="slidenum">
              <a:rPr lang="en-US" altLang="zh-CN" smtClean="0"/>
              <a:pPr>
                <a:defRPr/>
              </a:pPr>
              <a:t>17</a:t>
            </a:fld>
            <a:endParaRPr lang="en-US" altLang="zh-CN"/>
          </a:p>
        </p:txBody>
      </p:sp>
      <p:sp>
        <p:nvSpPr>
          <p:cNvPr id="4" name="Text Box 1049">
            <a:extLst>
              <a:ext uri="{FF2B5EF4-FFF2-40B4-BE49-F238E27FC236}">
                <a16:creationId xmlns:a16="http://schemas.microsoft.com/office/drawing/2014/main" id="{C6D20E7A-ECB8-765D-7DFB-9B203386AAB8}"/>
              </a:ext>
            </a:extLst>
          </p:cNvPr>
          <p:cNvSpPr txBox="1">
            <a:spLocks noChangeArrowheads="1"/>
          </p:cNvSpPr>
          <p:nvPr/>
        </p:nvSpPr>
        <p:spPr bwMode="auto">
          <a:xfrm>
            <a:off x="625148" y="5833130"/>
            <a:ext cx="14221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chemeClr val="accent2"/>
                </a:solidFill>
                <a:latin typeface="Times New Roman" panose="02020603050405020304" pitchFamily="18" charset="0"/>
                <a:ea typeface="宋体" panose="02010600030101010101" pitchFamily="2" charset="-122"/>
              </a:rPr>
              <a:t>This - R</a:t>
            </a:r>
            <a:endParaRPr kumimoji="1" lang="en-US" altLang="zh-CN" sz="2400" dirty="0">
              <a:latin typeface="Times New Roman" panose="02020603050405020304" pitchFamily="18" charset="0"/>
              <a:ea typeface="宋体" panose="02010600030101010101" pitchFamily="2" charset="-122"/>
            </a:endParaRPr>
          </a:p>
        </p:txBody>
      </p:sp>
    </p:spTree>
  </p:cSld>
  <p:clrMapOvr>
    <a:masterClrMapping/>
  </p:clrMapOvr>
  <p:transition>
    <p:spli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C7F088A-05BC-414A-B1ED-0DD81CF194C1}"/>
              </a:ext>
            </a:extLst>
          </p:cNvPr>
          <p:cNvGrpSpPr/>
          <p:nvPr/>
        </p:nvGrpSpPr>
        <p:grpSpPr>
          <a:xfrm>
            <a:off x="1029852" y="5013176"/>
            <a:ext cx="7772400" cy="1266825"/>
            <a:chOff x="609600" y="1309688"/>
            <a:chExt cx="7772400" cy="1266825"/>
          </a:xfrm>
        </p:grpSpPr>
        <p:sp>
          <p:nvSpPr>
            <p:cNvPr id="24580" name="Rectangle 4">
              <a:extLst>
                <a:ext uri="{FF2B5EF4-FFF2-40B4-BE49-F238E27FC236}">
                  <a16:creationId xmlns:a16="http://schemas.microsoft.com/office/drawing/2014/main" id="{4612E25A-A9AA-AB0C-1A8B-2B40D35150D1}"/>
                </a:ext>
              </a:extLst>
            </p:cNvPr>
            <p:cNvSpPr>
              <a:spLocks noChangeArrowheads="1"/>
            </p:cNvSpPr>
            <p:nvPr/>
          </p:nvSpPr>
          <p:spPr bwMode="auto">
            <a:xfrm>
              <a:off x="1752600" y="13716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4581" name="Line 5">
              <a:extLst>
                <a:ext uri="{FF2B5EF4-FFF2-40B4-BE49-F238E27FC236}">
                  <a16:creationId xmlns:a16="http://schemas.microsoft.com/office/drawing/2014/main" id="{48E82B19-1D7E-2D8F-7174-611184B13CE6}"/>
                </a:ext>
              </a:extLst>
            </p:cNvPr>
            <p:cNvSpPr>
              <a:spLocks noChangeShapeType="1"/>
            </p:cNvSpPr>
            <p:nvPr/>
          </p:nvSpPr>
          <p:spPr bwMode="auto">
            <a:xfrm>
              <a:off x="2209800" y="13716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2" name="Line 6">
              <a:extLst>
                <a:ext uri="{FF2B5EF4-FFF2-40B4-BE49-F238E27FC236}">
                  <a16:creationId xmlns:a16="http://schemas.microsoft.com/office/drawing/2014/main" id="{FE030354-5611-93A5-9A0C-6FC849673ACF}"/>
                </a:ext>
              </a:extLst>
            </p:cNvPr>
            <p:cNvSpPr>
              <a:spLocks noChangeShapeType="1"/>
            </p:cNvSpPr>
            <p:nvPr/>
          </p:nvSpPr>
          <p:spPr bwMode="auto">
            <a:xfrm>
              <a:off x="1371600" y="16002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3" name="Text Box 7">
              <a:extLst>
                <a:ext uri="{FF2B5EF4-FFF2-40B4-BE49-F238E27FC236}">
                  <a16:creationId xmlns:a16="http://schemas.microsoft.com/office/drawing/2014/main" id="{AD910254-C303-4C3F-025F-09B8FC1C420F}"/>
                </a:ext>
              </a:extLst>
            </p:cNvPr>
            <p:cNvSpPr txBox="1">
              <a:spLocks noChangeArrowheads="1"/>
            </p:cNvSpPr>
            <p:nvPr/>
          </p:nvSpPr>
          <p:spPr bwMode="auto">
            <a:xfrm>
              <a:off x="609600" y="1309688"/>
              <a:ext cx="815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CC3300"/>
                  </a:solidFill>
                  <a:latin typeface="Times New Roman" panose="02020603050405020304" pitchFamily="18" charset="0"/>
                  <a:ea typeface="宋体" panose="02010600030101010101" pitchFamily="2" charset="-122"/>
                </a:rPr>
                <a:t>first</a:t>
              </a:r>
              <a:endParaRPr kumimoji="1" lang="en-US" altLang="zh-CN" sz="2400">
                <a:latin typeface="Times New Roman" panose="02020603050405020304" pitchFamily="18" charset="0"/>
                <a:ea typeface="宋体" panose="02010600030101010101" pitchFamily="2" charset="-122"/>
              </a:endParaRPr>
            </a:p>
          </p:txBody>
        </p:sp>
        <p:sp>
          <p:nvSpPr>
            <p:cNvPr id="24584" name="Rectangle 8">
              <a:extLst>
                <a:ext uri="{FF2B5EF4-FFF2-40B4-BE49-F238E27FC236}">
                  <a16:creationId xmlns:a16="http://schemas.microsoft.com/office/drawing/2014/main" id="{42FAE717-46D4-99C7-7676-AD06803ACEC4}"/>
                </a:ext>
              </a:extLst>
            </p:cNvPr>
            <p:cNvSpPr>
              <a:spLocks noChangeArrowheads="1"/>
            </p:cNvSpPr>
            <p:nvPr/>
          </p:nvSpPr>
          <p:spPr bwMode="auto">
            <a:xfrm>
              <a:off x="1752600" y="20574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4585" name="Line 9">
              <a:extLst>
                <a:ext uri="{FF2B5EF4-FFF2-40B4-BE49-F238E27FC236}">
                  <a16:creationId xmlns:a16="http://schemas.microsoft.com/office/drawing/2014/main" id="{2FF63EB5-A98D-58E4-F263-0E23BB99BAAA}"/>
                </a:ext>
              </a:extLst>
            </p:cNvPr>
            <p:cNvSpPr>
              <a:spLocks noChangeShapeType="1"/>
            </p:cNvSpPr>
            <p:nvPr/>
          </p:nvSpPr>
          <p:spPr bwMode="auto">
            <a:xfrm>
              <a:off x="2209800" y="20574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6" name="Line 10">
              <a:extLst>
                <a:ext uri="{FF2B5EF4-FFF2-40B4-BE49-F238E27FC236}">
                  <a16:creationId xmlns:a16="http://schemas.microsoft.com/office/drawing/2014/main" id="{2690F93E-3E22-28A8-1FBC-51CF698DCF93}"/>
                </a:ext>
              </a:extLst>
            </p:cNvPr>
            <p:cNvSpPr>
              <a:spLocks noChangeShapeType="1"/>
            </p:cNvSpPr>
            <p:nvPr/>
          </p:nvSpPr>
          <p:spPr bwMode="auto">
            <a:xfrm>
              <a:off x="1371600" y="22860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7" name="Text Box 11">
              <a:extLst>
                <a:ext uri="{FF2B5EF4-FFF2-40B4-BE49-F238E27FC236}">
                  <a16:creationId xmlns:a16="http://schemas.microsoft.com/office/drawing/2014/main" id="{73C9F3FD-3E1C-2BCB-9381-B49E9E72B533}"/>
                </a:ext>
              </a:extLst>
            </p:cNvPr>
            <p:cNvSpPr txBox="1">
              <a:spLocks noChangeArrowheads="1"/>
            </p:cNvSpPr>
            <p:nvPr/>
          </p:nvSpPr>
          <p:spPr bwMode="auto">
            <a:xfrm>
              <a:off x="609600" y="1995488"/>
              <a:ext cx="815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CC3300"/>
                  </a:solidFill>
                  <a:latin typeface="Times New Roman" panose="02020603050405020304" pitchFamily="18" charset="0"/>
                  <a:ea typeface="宋体" panose="02010600030101010101" pitchFamily="2" charset="-122"/>
                </a:rPr>
                <a:t>first</a:t>
              </a:r>
              <a:endParaRPr kumimoji="1" lang="en-US" altLang="zh-CN" sz="2400">
                <a:latin typeface="Times New Roman" panose="02020603050405020304" pitchFamily="18" charset="0"/>
                <a:ea typeface="宋体" panose="02010600030101010101" pitchFamily="2" charset="-122"/>
              </a:endParaRPr>
            </a:p>
          </p:txBody>
        </p:sp>
        <p:sp>
          <p:nvSpPr>
            <p:cNvPr id="24588" name="Rectangle 12">
              <a:extLst>
                <a:ext uri="{FF2B5EF4-FFF2-40B4-BE49-F238E27FC236}">
                  <a16:creationId xmlns:a16="http://schemas.microsoft.com/office/drawing/2014/main" id="{CEA1ABCE-9C27-BB15-03C6-3774B70D3FA9}"/>
                </a:ext>
              </a:extLst>
            </p:cNvPr>
            <p:cNvSpPr>
              <a:spLocks noChangeArrowheads="1"/>
            </p:cNvSpPr>
            <p:nvPr/>
          </p:nvSpPr>
          <p:spPr bwMode="auto">
            <a:xfrm>
              <a:off x="2743200" y="20574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4589" name="Line 13">
              <a:extLst>
                <a:ext uri="{FF2B5EF4-FFF2-40B4-BE49-F238E27FC236}">
                  <a16:creationId xmlns:a16="http://schemas.microsoft.com/office/drawing/2014/main" id="{D56FB252-0970-176D-459E-A825EA24EA70}"/>
                </a:ext>
              </a:extLst>
            </p:cNvPr>
            <p:cNvSpPr>
              <a:spLocks noChangeShapeType="1"/>
            </p:cNvSpPr>
            <p:nvPr/>
          </p:nvSpPr>
          <p:spPr bwMode="auto">
            <a:xfrm>
              <a:off x="3200400" y="20574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0" name="Line 14">
              <a:extLst>
                <a:ext uri="{FF2B5EF4-FFF2-40B4-BE49-F238E27FC236}">
                  <a16:creationId xmlns:a16="http://schemas.microsoft.com/office/drawing/2014/main" id="{1FF953E6-32EF-A849-4013-38C903F56212}"/>
                </a:ext>
              </a:extLst>
            </p:cNvPr>
            <p:cNvSpPr>
              <a:spLocks noChangeShapeType="1"/>
            </p:cNvSpPr>
            <p:nvPr/>
          </p:nvSpPr>
          <p:spPr bwMode="auto">
            <a:xfrm>
              <a:off x="2362200" y="22860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1" name="Rectangle 15">
              <a:extLst>
                <a:ext uri="{FF2B5EF4-FFF2-40B4-BE49-F238E27FC236}">
                  <a16:creationId xmlns:a16="http://schemas.microsoft.com/office/drawing/2014/main" id="{3B6639CF-EC62-FB8E-BB84-DEE0FAA1D500}"/>
                </a:ext>
              </a:extLst>
            </p:cNvPr>
            <p:cNvSpPr>
              <a:spLocks noChangeArrowheads="1"/>
            </p:cNvSpPr>
            <p:nvPr/>
          </p:nvSpPr>
          <p:spPr bwMode="auto">
            <a:xfrm>
              <a:off x="3733800" y="20574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4592" name="Line 16">
              <a:extLst>
                <a:ext uri="{FF2B5EF4-FFF2-40B4-BE49-F238E27FC236}">
                  <a16:creationId xmlns:a16="http://schemas.microsoft.com/office/drawing/2014/main" id="{0311D662-00E6-7CE1-A39D-911F765C27D9}"/>
                </a:ext>
              </a:extLst>
            </p:cNvPr>
            <p:cNvSpPr>
              <a:spLocks noChangeShapeType="1"/>
            </p:cNvSpPr>
            <p:nvPr/>
          </p:nvSpPr>
          <p:spPr bwMode="auto">
            <a:xfrm>
              <a:off x="4191000" y="20574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3" name="Line 17">
              <a:extLst>
                <a:ext uri="{FF2B5EF4-FFF2-40B4-BE49-F238E27FC236}">
                  <a16:creationId xmlns:a16="http://schemas.microsoft.com/office/drawing/2014/main" id="{F529F8CC-30B4-C804-C801-39257003B83C}"/>
                </a:ext>
              </a:extLst>
            </p:cNvPr>
            <p:cNvSpPr>
              <a:spLocks noChangeShapeType="1"/>
            </p:cNvSpPr>
            <p:nvPr/>
          </p:nvSpPr>
          <p:spPr bwMode="auto">
            <a:xfrm>
              <a:off x="3352800" y="22860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4" name="Rectangle 18">
              <a:extLst>
                <a:ext uri="{FF2B5EF4-FFF2-40B4-BE49-F238E27FC236}">
                  <a16:creationId xmlns:a16="http://schemas.microsoft.com/office/drawing/2014/main" id="{99B880BC-9E38-38C2-79D1-11F13B7A09F9}"/>
                </a:ext>
              </a:extLst>
            </p:cNvPr>
            <p:cNvSpPr>
              <a:spLocks noChangeArrowheads="1"/>
            </p:cNvSpPr>
            <p:nvPr/>
          </p:nvSpPr>
          <p:spPr bwMode="auto">
            <a:xfrm>
              <a:off x="4724400" y="20574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4595" name="Line 19">
              <a:extLst>
                <a:ext uri="{FF2B5EF4-FFF2-40B4-BE49-F238E27FC236}">
                  <a16:creationId xmlns:a16="http://schemas.microsoft.com/office/drawing/2014/main" id="{C0B0FCAE-8427-04F2-576F-FA002230E83C}"/>
                </a:ext>
              </a:extLst>
            </p:cNvPr>
            <p:cNvSpPr>
              <a:spLocks noChangeShapeType="1"/>
            </p:cNvSpPr>
            <p:nvPr/>
          </p:nvSpPr>
          <p:spPr bwMode="auto">
            <a:xfrm>
              <a:off x="5181600" y="20574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6" name="Line 20">
              <a:extLst>
                <a:ext uri="{FF2B5EF4-FFF2-40B4-BE49-F238E27FC236}">
                  <a16:creationId xmlns:a16="http://schemas.microsoft.com/office/drawing/2014/main" id="{B0CB0C77-3097-B5F1-FCE8-DC59D16E6AC0}"/>
                </a:ext>
              </a:extLst>
            </p:cNvPr>
            <p:cNvSpPr>
              <a:spLocks noChangeShapeType="1"/>
            </p:cNvSpPr>
            <p:nvPr/>
          </p:nvSpPr>
          <p:spPr bwMode="auto">
            <a:xfrm>
              <a:off x="4343400" y="22860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7" name="Rectangle 21">
              <a:extLst>
                <a:ext uri="{FF2B5EF4-FFF2-40B4-BE49-F238E27FC236}">
                  <a16:creationId xmlns:a16="http://schemas.microsoft.com/office/drawing/2014/main" id="{272BE3C9-F962-C822-2518-F27AC6AC8251}"/>
                </a:ext>
              </a:extLst>
            </p:cNvPr>
            <p:cNvSpPr>
              <a:spLocks noChangeArrowheads="1"/>
            </p:cNvSpPr>
            <p:nvPr/>
          </p:nvSpPr>
          <p:spPr bwMode="auto">
            <a:xfrm>
              <a:off x="5715000" y="20574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4598" name="Line 22">
              <a:extLst>
                <a:ext uri="{FF2B5EF4-FFF2-40B4-BE49-F238E27FC236}">
                  <a16:creationId xmlns:a16="http://schemas.microsoft.com/office/drawing/2014/main" id="{680F98B9-7ABD-5544-CFB6-9DEA762C538D}"/>
                </a:ext>
              </a:extLst>
            </p:cNvPr>
            <p:cNvSpPr>
              <a:spLocks noChangeShapeType="1"/>
            </p:cNvSpPr>
            <p:nvPr/>
          </p:nvSpPr>
          <p:spPr bwMode="auto">
            <a:xfrm>
              <a:off x="6172200" y="20574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9" name="Line 23">
              <a:extLst>
                <a:ext uri="{FF2B5EF4-FFF2-40B4-BE49-F238E27FC236}">
                  <a16:creationId xmlns:a16="http://schemas.microsoft.com/office/drawing/2014/main" id="{390976CD-F6BB-8E22-D258-085BEB075281}"/>
                </a:ext>
              </a:extLst>
            </p:cNvPr>
            <p:cNvSpPr>
              <a:spLocks noChangeShapeType="1"/>
            </p:cNvSpPr>
            <p:nvPr/>
          </p:nvSpPr>
          <p:spPr bwMode="auto">
            <a:xfrm>
              <a:off x="5334000" y="22860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0" name="Rectangle 24">
              <a:extLst>
                <a:ext uri="{FF2B5EF4-FFF2-40B4-BE49-F238E27FC236}">
                  <a16:creationId xmlns:a16="http://schemas.microsoft.com/office/drawing/2014/main" id="{4292D355-278C-3AA3-12D1-A1F6C2244E45}"/>
                </a:ext>
              </a:extLst>
            </p:cNvPr>
            <p:cNvSpPr>
              <a:spLocks noChangeArrowheads="1"/>
            </p:cNvSpPr>
            <p:nvPr/>
          </p:nvSpPr>
          <p:spPr bwMode="auto">
            <a:xfrm>
              <a:off x="6705600" y="20574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4601" name="Line 25">
              <a:extLst>
                <a:ext uri="{FF2B5EF4-FFF2-40B4-BE49-F238E27FC236}">
                  <a16:creationId xmlns:a16="http://schemas.microsoft.com/office/drawing/2014/main" id="{801DF03B-E01E-4208-267E-4F214BD42F45}"/>
                </a:ext>
              </a:extLst>
            </p:cNvPr>
            <p:cNvSpPr>
              <a:spLocks noChangeShapeType="1"/>
            </p:cNvSpPr>
            <p:nvPr/>
          </p:nvSpPr>
          <p:spPr bwMode="auto">
            <a:xfrm>
              <a:off x="7162800" y="20574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2" name="Line 26">
              <a:extLst>
                <a:ext uri="{FF2B5EF4-FFF2-40B4-BE49-F238E27FC236}">
                  <a16:creationId xmlns:a16="http://schemas.microsoft.com/office/drawing/2014/main" id="{0E2A44C7-0F74-FC73-AA85-4FE2A6579FCA}"/>
                </a:ext>
              </a:extLst>
            </p:cNvPr>
            <p:cNvSpPr>
              <a:spLocks noChangeShapeType="1"/>
            </p:cNvSpPr>
            <p:nvPr/>
          </p:nvSpPr>
          <p:spPr bwMode="auto">
            <a:xfrm>
              <a:off x="6324600" y="22860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3" name="Rectangle 27">
              <a:extLst>
                <a:ext uri="{FF2B5EF4-FFF2-40B4-BE49-F238E27FC236}">
                  <a16:creationId xmlns:a16="http://schemas.microsoft.com/office/drawing/2014/main" id="{5AD8C358-7A06-6602-EE59-8D11529FE4CD}"/>
                </a:ext>
              </a:extLst>
            </p:cNvPr>
            <p:cNvSpPr>
              <a:spLocks noChangeArrowheads="1"/>
            </p:cNvSpPr>
            <p:nvPr/>
          </p:nvSpPr>
          <p:spPr bwMode="auto">
            <a:xfrm>
              <a:off x="7696200" y="20574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24604" name="Line 28">
              <a:extLst>
                <a:ext uri="{FF2B5EF4-FFF2-40B4-BE49-F238E27FC236}">
                  <a16:creationId xmlns:a16="http://schemas.microsoft.com/office/drawing/2014/main" id="{F8008243-522F-AC5A-03B5-9EDF8C467CC9}"/>
                </a:ext>
              </a:extLst>
            </p:cNvPr>
            <p:cNvSpPr>
              <a:spLocks noChangeShapeType="1"/>
            </p:cNvSpPr>
            <p:nvPr/>
          </p:nvSpPr>
          <p:spPr bwMode="auto">
            <a:xfrm>
              <a:off x="8153400" y="20574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5" name="Line 29">
              <a:extLst>
                <a:ext uri="{FF2B5EF4-FFF2-40B4-BE49-F238E27FC236}">
                  <a16:creationId xmlns:a16="http://schemas.microsoft.com/office/drawing/2014/main" id="{4BF1EA93-0C13-BF53-B5D9-85A52CB53389}"/>
                </a:ext>
              </a:extLst>
            </p:cNvPr>
            <p:cNvSpPr>
              <a:spLocks noChangeShapeType="1"/>
            </p:cNvSpPr>
            <p:nvPr/>
          </p:nvSpPr>
          <p:spPr bwMode="auto">
            <a:xfrm>
              <a:off x="7315200" y="22860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6" name="Text Box 30">
              <a:extLst>
                <a:ext uri="{FF2B5EF4-FFF2-40B4-BE49-F238E27FC236}">
                  <a16:creationId xmlns:a16="http://schemas.microsoft.com/office/drawing/2014/main" id="{BD42D40B-4A5D-58EF-6366-FD3AED0E43A5}"/>
                </a:ext>
              </a:extLst>
            </p:cNvPr>
            <p:cNvSpPr txBox="1">
              <a:spLocks noChangeArrowheads="1"/>
            </p:cNvSpPr>
            <p:nvPr/>
          </p:nvSpPr>
          <p:spPr bwMode="auto">
            <a:xfrm>
              <a:off x="2736850" y="2057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08</a:t>
              </a:r>
              <a:endParaRPr kumimoji="1" lang="en-US" altLang="zh-CN" sz="2400">
                <a:latin typeface="Times New Roman" panose="02020603050405020304" pitchFamily="18" charset="0"/>
                <a:ea typeface="宋体" panose="02010600030101010101" pitchFamily="2" charset="-122"/>
              </a:endParaRPr>
            </a:p>
          </p:txBody>
        </p:sp>
        <p:sp>
          <p:nvSpPr>
            <p:cNvPr id="24607" name="Text Box 31">
              <a:extLst>
                <a:ext uri="{FF2B5EF4-FFF2-40B4-BE49-F238E27FC236}">
                  <a16:creationId xmlns:a16="http://schemas.microsoft.com/office/drawing/2014/main" id="{49AFDA57-A457-A861-E75F-0EB93CB7315E}"/>
                </a:ext>
              </a:extLst>
            </p:cNvPr>
            <p:cNvSpPr txBox="1">
              <a:spLocks noChangeArrowheads="1"/>
            </p:cNvSpPr>
            <p:nvPr/>
          </p:nvSpPr>
          <p:spPr bwMode="auto">
            <a:xfrm>
              <a:off x="3759200" y="2057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24608" name="Text Box 32">
              <a:extLst>
                <a:ext uri="{FF2B5EF4-FFF2-40B4-BE49-F238E27FC236}">
                  <a16:creationId xmlns:a16="http://schemas.microsoft.com/office/drawing/2014/main" id="{BF7477CD-A04D-93CD-EF90-666D61D4284B}"/>
                </a:ext>
              </a:extLst>
            </p:cNvPr>
            <p:cNvSpPr txBox="1">
              <a:spLocks noChangeArrowheads="1"/>
            </p:cNvSpPr>
            <p:nvPr/>
          </p:nvSpPr>
          <p:spPr bwMode="auto">
            <a:xfrm>
              <a:off x="4724400" y="2057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24609" name="Text Box 33">
              <a:extLst>
                <a:ext uri="{FF2B5EF4-FFF2-40B4-BE49-F238E27FC236}">
                  <a16:creationId xmlns:a16="http://schemas.microsoft.com/office/drawing/2014/main" id="{8091C463-561D-5155-41C9-66606C0BE603}"/>
                </a:ext>
              </a:extLst>
            </p:cNvPr>
            <p:cNvSpPr txBox="1">
              <a:spLocks noChangeArrowheads="1"/>
            </p:cNvSpPr>
            <p:nvPr/>
          </p:nvSpPr>
          <p:spPr bwMode="auto">
            <a:xfrm>
              <a:off x="5715000" y="2057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35</a:t>
              </a:r>
              <a:endParaRPr kumimoji="1" lang="en-US" altLang="zh-CN" sz="2400">
                <a:latin typeface="Times New Roman" panose="02020603050405020304" pitchFamily="18" charset="0"/>
                <a:ea typeface="宋体" panose="02010600030101010101" pitchFamily="2" charset="-122"/>
              </a:endParaRPr>
            </a:p>
          </p:txBody>
        </p:sp>
        <p:sp>
          <p:nvSpPr>
            <p:cNvPr id="24610" name="Text Box 34">
              <a:extLst>
                <a:ext uri="{FF2B5EF4-FFF2-40B4-BE49-F238E27FC236}">
                  <a16:creationId xmlns:a16="http://schemas.microsoft.com/office/drawing/2014/main" id="{5BD2667A-DD87-E29F-25B5-CC704B2EA7EB}"/>
                </a:ext>
              </a:extLst>
            </p:cNvPr>
            <p:cNvSpPr txBox="1">
              <a:spLocks noChangeArrowheads="1"/>
            </p:cNvSpPr>
            <p:nvPr/>
          </p:nvSpPr>
          <p:spPr bwMode="auto">
            <a:xfrm>
              <a:off x="6705600" y="2057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49</a:t>
              </a:r>
              <a:endParaRPr kumimoji="1" lang="en-US" altLang="zh-CN" sz="2400">
                <a:latin typeface="Times New Roman" panose="02020603050405020304" pitchFamily="18" charset="0"/>
                <a:ea typeface="宋体" panose="02010600030101010101" pitchFamily="2" charset="-122"/>
              </a:endParaRPr>
            </a:p>
          </p:txBody>
        </p:sp>
        <p:sp>
          <p:nvSpPr>
            <p:cNvPr id="24611" name="Text Box 35">
              <a:extLst>
                <a:ext uri="{FF2B5EF4-FFF2-40B4-BE49-F238E27FC236}">
                  <a16:creationId xmlns:a16="http://schemas.microsoft.com/office/drawing/2014/main" id="{1538AE6B-037C-5160-8BFB-B3C53DC70F0C}"/>
                </a:ext>
              </a:extLst>
            </p:cNvPr>
            <p:cNvSpPr txBox="1">
              <a:spLocks noChangeArrowheads="1"/>
            </p:cNvSpPr>
            <p:nvPr/>
          </p:nvSpPr>
          <p:spPr bwMode="auto">
            <a:xfrm>
              <a:off x="7696200" y="2057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72</a:t>
              </a:r>
              <a:endParaRPr kumimoji="1" lang="en-US" altLang="zh-CN" sz="2400">
                <a:latin typeface="Times New Roman" panose="02020603050405020304" pitchFamily="18" charset="0"/>
                <a:ea typeface="宋体" panose="02010600030101010101" pitchFamily="2" charset="-122"/>
              </a:endParaRPr>
            </a:p>
          </p:txBody>
        </p:sp>
      </p:grpSp>
      <p:sp>
        <p:nvSpPr>
          <p:cNvPr id="3" name="标题 2">
            <a:extLst>
              <a:ext uri="{FF2B5EF4-FFF2-40B4-BE49-F238E27FC236}">
                <a16:creationId xmlns:a16="http://schemas.microsoft.com/office/drawing/2014/main" id="{E7BD43FA-8535-4BB7-B5FE-5ABA11D2BDA6}"/>
              </a:ext>
            </a:extLst>
          </p:cNvPr>
          <p:cNvSpPr>
            <a:spLocks noGrp="1"/>
          </p:cNvSpPr>
          <p:nvPr>
            <p:ph type="title"/>
          </p:nvPr>
        </p:nvSpPr>
        <p:spPr/>
        <p:txBody>
          <a:bodyPr/>
          <a:lstStyle/>
          <a:p>
            <a:r>
              <a:rPr lang="en-US" altLang="zh-CN" dirty="0"/>
              <a:t>6.1.3 </a:t>
            </a:r>
            <a:r>
              <a:rPr lang="zh-CN" altLang="en-US" dirty="0"/>
              <a:t>用</a:t>
            </a:r>
            <a:r>
              <a:rPr lang="zh-CN" altLang="en-US" b="1" dirty="0"/>
              <a:t>有序</a:t>
            </a:r>
            <a:r>
              <a:rPr lang="zh-CN" altLang="en-US" dirty="0"/>
              <a:t>链表实现集合</a:t>
            </a:r>
          </a:p>
        </p:txBody>
      </p:sp>
      <p:sp>
        <p:nvSpPr>
          <p:cNvPr id="4" name="内容占位符 3">
            <a:extLst>
              <a:ext uri="{FF2B5EF4-FFF2-40B4-BE49-F238E27FC236}">
                <a16:creationId xmlns:a16="http://schemas.microsoft.com/office/drawing/2014/main" id="{F57F5633-F34A-4946-92DA-748BF7D2F015}"/>
              </a:ext>
            </a:extLst>
          </p:cNvPr>
          <p:cNvSpPr>
            <a:spLocks noGrp="1"/>
          </p:cNvSpPr>
          <p:nvPr>
            <p:ph idx="1"/>
          </p:nvPr>
        </p:nvSpPr>
        <p:spPr>
          <a:xfrm>
            <a:off x="628650" y="1825625"/>
            <a:ext cx="8191822" cy="3465484"/>
          </a:xfrm>
        </p:spPr>
        <p:txBody>
          <a:bodyPr>
            <a:normAutofit fontScale="77500" lnSpcReduction="20000"/>
          </a:bodyPr>
          <a:lstStyle/>
          <a:p>
            <a:r>
              <a:rPr lang="zh-CN" altLang="en-US" dirty="0"/>
              <a:t>用有序链表来表示集合时，链表中的每个结点表示集合的一个成员。</a:t>
            </a:r>
          </a:p>
          <a:p>
            <a:r>
              <a:rPr lang="zh-CN" altLang="en-US" dirty="0"/>
              <a:t>各结点所表示的成员 </a:t>
            </a:r>
            <a:r>
              <a:rPr lang="en-US" altLang="zh-CN" dirty="0"/>
              <a:t>e</a:t>
            </a:r>
            <a:r>
              <a:rPr lang="en-US" altLang="zh-CN" baseline="-25000" dirty="0"/>
              <a:t>0</a:t>
            </a:r>
            <a:r>
              <a:rPr lang="en-US" altLang="zh-CN" dirty="0"/>
              <a:t>, e</a:t>
            </a:r>
            <a:r>
              <a:rPr lang="en-US" altLang="zh-CN" baseline="-25000" dirty="0"/>
              <a:t>1</a:t>
            </a:r>
            <a:r>
              <a:rPr lang="en-US" altLang="zh-CN" dirty="0"/>
              <a:t>, …, </a:t>
            </a:r>
            <a:r>
              <a:rPr lang="en-US" altLang="zh-CN" dirty="0" err="1"/>
              <a:t>e</a:t>
            </a:r>
            <a:r>
              <a:rPr lang="en-US" altLang="zh-CN" baseline="-25000" dirty="0" err="1"/>
              <a:t>n</a:t>
            </a:r>
            <a:r>
              <a:rPr lang="en-US" altLang="zh-CN" dirty="0"/>
              <a:t> </a:t>
            </a:r>
            <a:r>
              <a:rPr lang="zh-CN" altLang="en-US" dirty="0"/>
              <a:t>在链表中可以按某种顺序排列，例如 </a:t>
            </a:r>
            <a:r>
              <a:rPr lang="en-US" altLang="zh-CN" dirty="0"/>
              <a:t>e</a:t>
            </a:r>
            <a:r>
              <a:rPr lang="en-US" altLang="zh-CN" baseline="-25000" dirty="0"/>
              <a:t>0</a:t>
            </a:r>
            <a:r>
              <a:rPr lang="en-US" altLang="zh-CN" dirty="0"/>
              <a:t> &lt; e</a:t>
            </a:r>
            <a:r>
              <a:rPr lang="en-US" altLang="zh-CN" baseline="-25000" dirty="0"/>
              <a:t>1</a:t>
            </a:r>
            <a:r>
              <a:rPr lang="en-US" altLang="zh-CN" dirty="0"/>
              <a:t> &lt; … &lt; </a:t>
            </a:r>
            <a:r>
              <a:rPr lang="en-US" altLang="zh-CN" dirty="0" err="1"/>
              <a:t>e</a:t>
            </a:r>
            <a:r>
              <a:rPr lang="en-US" altLang="zh-CN" baseline="-25000" dirty="0" err="1"/>
              <a:t>n</a:t>
            </a:r>
            <a:r>
              <a:rPr lang="zh-CN" altLang="en-US" dirty="0"/>
              <a:t>。</a:t>
            </a:r>
          </a:p>
          <a:p>
            <a:r>
              <a:rPr lang="zh-CN" altLang="en-US" dirty="0"/>
              <a:t>集合成员可以无限增加。因此，用有序链表可以表示无穷全集合的子集。</a:t>
            </a:r>
          </a:p>
          <a:p>
            <a:endParaRPr lang="en-US" altLang="zh-CN" dirty="0"/>
          </a:p>
          <a:p>
            <a:r>
              <a:rPr lang="zh-CN" altLang="en-US" dirty="0"/>
              <a:t>例：用带表头结点的有序链表表示集合</a:t>
            </a:r>
          </a:p>
        </p:txBody>
      </p:sp>
      <p:sp>
        <p:nvSpPr>
          <p:cNvPr id="5" name="灯片编号占位符 4">
            <a:extLst>
              <a:ext uri="{FF2B5EF4-FFF2-40B4-BE49-F238E27FC236}">
                <a16:creationId xmlns:a16="http://schemas.microsoft.com/office/drawing/2014/main" id="{7D239416-572F-42B2-21D0-E57B14A8F5C7}"/>
              </a:ext>
            </a:extLst>
          </p:cNvPr>
          <p:cNvSpPr>
            <a:spLocks noGrp="1"/>
          </p:cNvSpPr>
          <p:nvPr>
            <p:ph type="sldNum" sz="quarter" idx="12"/>
          </p:nvPr>
        </p:nvSpPr>
        <p:spPr/>
        <p:txBody>
          <a:bodyPr/>
          <a:lstStyle/>
          <a:p>
            <a:pPr>
              <a:defRPr/>
            </a:pPr>
            <a:fld id="{524B865F-46F8-4520-B0DD-31ED36EF62D9}" type="slidenum">
              <a:rPr lang="en-US" altLang="zh-CN" smtClean="0"/>
              <a:pPr>
                <a:defRPr/>
              </a:pPr>
              <a:t>18</a:t>
            </a:fld>
            <a:endParaRPr lang="en-US" altLang="zh-CN"/>
          </a:p>
        </p:txBody>
      </p:sp>
    </p:spTree>
  </p:cSld>
  <p:clrMapOvr>
    <a:masterClrMapping/>
  </p:clrMapOvr>
  <p:transition>
    <p:spli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4222249-FCD9-469E-B670-42E3595EC7A9}"/>
              </a:ext>
            </a:extLst>
          </p:cNvPr>
          <p:cNvSpPr>
            <a:spLocks noGrp="1"/>
          </p:cNvSpPr>
          <p:nvPr>
            <p:ph idx="1"/>
          </p:nvPr>
        </p:nvSpPr>
        <p:spPr>
          <a:xfrm>
            <a:off x="628650" y="908720"/>
            <a:ext cx="7886700" cy="5268243"/>
          </a:xfrm>
        </p:spPr>
        <p:txBody>
          <a:bodyPr>
            <a:normAutofit lnSpcReduction="10000"/>
          </a:bodyPr>
          <a:lstStyle/>
          <a:p>
            <a:pPr marL="0" indent="0">
              <a:buNone/>
            </a:pPr>
            <a:r>
              <a:rPr lang="en-US" altLang="zh-CN" dirty="0"/>
              <a:t>//</a:t>
            </a:r>
            <a:r>
              <a:rPr lang="zh-CN" altLang="en-US" dirty="0"/>
              <a:t>有序链表表示的集合中结点类的定义</a:t>
            </a:r>
          </a:p>
          <a:p>
            <a:pPr marL="0" indent="0">
              <a:buNone/>
            </a:pPr>
            <a:r>
              <a:rPr lang="en-US" altLang="zh-CN" dirty="0"/>
              <a:t>template &lt;class T&gt; </a:t>
            </a:r>
          </a:p>
          <a:p>
            <a:pPr marL="0" indent="0">
              <a:buNone/>
            </a:pPr>
            <a:r>
              <a:rPr lang="en-US" altLang="zh-CN" dirty="0"/>
              <a:t>struct </a:t>
            </a:r>
            <a:r>
              <a:rPr lang="en-US" altLang="zh-CN" dirty="0" err="1"/>
              <a:t>SetNode</a:t>
            </a:r>
            <a:r>
              <a:rPr lang="en-US" altLang="zh-CN" dirty="0"/>
              <a:t> {</a:t>
            </a:r>
          </a:p>
          <a:p>
            <a:pPr marL="0" indent="0">
              <a:buNone/>
            </a:pPr>
            <a:r>
              <a:rPr lang="en-US" altLang="zh-CN" dirty="0"/>
              <a:t>    T data;					</a:t>
            </a:r>
          </a:p>
          <a:p>
            <a:pPr marL="0" indent="0">
              <a:buNone/>
            </a:pPr>
            <a:r>
              <a:rPr lang="en-US" altLang="zh-CN" dirty="0"/>
              <a:t>    </a:t>
            </a:r>
            <a:r>
              <a:rPr lang="en-US" altLang="zh-CN" dirty="0" err="1"/>
              <a:t>SetNode</a:t>
            </a:r>
            <a:r>
              <a:rPr lang="en-US" altLang="zh-CN" dirty="0"/>
              <a:t>&lt;T&gt; * link;</a:t>
            </a:r>
          </a:p>
          <a:p>
            <a:pPr marL="0" indent="0">
              <a:buNone/>
            </a:pPr>
            <a:r>
              <a:rPr lang="en-US" altLang="zh-CN" dirty="0"/>
              <a:t>    </a:t>
            </a:r>
            <a:r>
              <a:rPr lang="en-US" altLang="zh-CN" dirty="0" err="1"/>
              <a:t>SetNode</a:t>
            </a:r>
            <a:r>
              <a:rPr lang="en-US" altLang="zh-CN" dirty="0"/>
              <a:t> ( ) : link(NULL) { };</a:t>
            </a:r>
          </a:p>
          <a:p>
            <a:pPr marL="0" indent="0">
              <a:buNone/>
            </a:pPr>
            <a:r>
              <a:rPr lang="en-US" altLang="zh-CN" dirty="0"/>
              <a:t>    </a:t>
            </a:r>
            <a:r>
              <a:rPr lang="en-US" altLang="zh-CN" dirty="0" err="1"/>
              <a:t>SetNode</a:t>
            </a:r>
            <a:r>
              <a:rPr lang="en-US" altLang="zh-CN" dirty="0"/>
              <a:t> ( const T&amp; x, </a:t>
            </a:r>
            <a:r>
              <a:rPr lang="en-US" altLang="zh-CN" dirty="0" err="1"/>
              <a:t>SetNode</a:t>
            </a:r>
            <a:r>
              <a:rPr lang="en-US" altLang="zh-CN" dirty="0"/>
              <a:t>&lt;T&gt; *next = NULL ) : data (x), link (next) { };	</a:t>
            </a:r>
          </a:p>
          <a:p>
            <a:pPr marL="0" indent="0">
              <a:buNone/>
            </a:pPr>
            <a:r>
              <a:rPr lang="en-US" altLang="zh-CN" dirty="0"/>
              <a:t>}; </a:t>
            </a:r>
          </a:p>
          <a:p>
            <a:pPr marL="0" indent="0">
              <a:buNone/>
            </a:pPr>
            <a:endParaRPr lang="en-US" altLang="zh-CN" dirty="0"/>
          </a:p>
          <a:p>
            <a:pPr marL="0" indent="0">
              <a:buNone/>
            </a:pPr>
            <a:endParaRPr lang="zh-CN" altLang="en-US" dirty="0"/>
          </a:p>
        </p:txBody>
      </p:sp>
      <p:sp>
        <p:nvSpPr>
          <p:cNvPr id="2" name="灯片编号占位符 1">
            <a:extLst>
              <a:ext uri="{FF2B5EF4-FFF2-40B4-BE49-F238E27FC236}">
                <a16:creationId xmlns:a16="http://schemas.microsoft.com/office/drawing/2014/main" id="{1AACB6E9-690D-525F-99CD-EA8778E04314}"/>
              </a:ext>
            </a:extLst>
          </p:cNvPr>
          <p:cNvSpPr>
            <a:spLocks noGrp="1"/>
          </p:cNvSpPr>
          <p:nvPr>
            <p:ph type="sldNum" sz="quarter" idx="12"/>
          </p:nvPr>
        </p:nvSpPr>
        <p:spPr/>
        <p:txBody>
          <a:bodyPr/>
          <a:lstStyle/>
          <a:p>
            <a:pPr>
              <a:defRPr/>
            </a:pPr>
            <a:fld id="{524B865F-46F8-4520-B0DD-31ED36EF62D9}" type="slidenum">
              <a:rPr lang="en-US" altLang="zh-CN" smtClean="0"/>
              <a:pPr>
                <a:defRPr/>
              </a:pPr>
              <a:t>19</a:t>
            </a:fld>
            <a:endParaRPr lang="en-US" altLang="zh-CN"/>
          </a:p>
        </p:txBody>
      </p:sp>
    </p:spTree>
  </p:cSld>
  <p:clrMapOvr>
    <a:masterClrMapping/>
  </p:clrMapOvr>
  <p:transition>
    <p:spli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53786D6-18D9-4262-B56D-9D7CADF74724}"/>
              </a:ext>
            </a:extLst>
          </p:cNvPr>
          <p:cNvSpPr>
            <a:spLocks noGrp="1"/>
          </p:cNvSpPr>
          <p:nvPr>
            <p:ph sz="half" idx="1"/>
          </p:nvPr>
        </p:nvSpPr>
        <p:spPr>
          <a:xfrm>
            <a:off x="251520" y="476672"/>
            <a:ext cx="4263330" cy="5700291"/>
          </a:xfrm>
          <a:solidFill>
            <a:schemeClr val="bg2">
              <a:lumMod val="90000"/>
            </a:schemeClr>
          </a:solidFill>
        </p:spPr>
        <p:txBody>
          <a:bodyPr>
            <a:normAutofit fontScale="92500" lnSpcReduction="10000"/>
          </a:bodyPr>
          <a:lstStyle/>
          <a:p>
            <a:pPr marL="0" indent="0">
              <a:buNone/>
            </a:pPr>
            <a:r>
              <a:rPr lang="en-US" altLang="zh-CN" dirty="0"/>
              <a:t>//</a:t>
            </a:r>
            <a:r>
              <a:rPr lang="zh-CN" altLang="en-US" dirty="0"/>
              <a:t>有序链表表示的集合的类的定义</a:t>
            </a:r>
          </a:p>
          <a:p>
            <a:pPr marL="0" indent="0">
              <a:buNone/>
            </a:pPr>
            <a:r>
              <a:rPr lang="en-US" altLang="zh-CN" dirty="0"/>
              <a:t>template &lt;class T&gt; class </a:t>
            </a:r>
            <a:r>
              <a:rPr lang="en-US" altLang="zh-CN" dirty="0" err="1"/>
              <a:t>LinkedSet</a:t>
            </a:r>
            <a:r>
              <a:rPr lang="en-US" altLang="zh-CN" dirty="0"/>
              <a:t> {</a:t>
            </a:r>
          </a:p>
          <a:p>
            <a:pPr marL="0" indent="0">
              <a:buNone/>
            </a:pPr>
            <a:r>
              <a:rPr lang="en-US" altLang="zh-CN" dirty="0"/>
              <a:t>private:</a:t>
            </a:r>
          </a:p>
          <a:p>
            <a:pPr marL="0" indent="0">
              <a:buNone/>
            </a:pPr>
            <a:r>
              <a:rPr lang="en-US" altLang="zh-CN" dirty="0"/>
              <a:t>    </a:t>
            </a:r>
            <a:r>
              <a:rPr lang="en-US" altLang="zh-CN" dirty="0" err="1"/>
              <a:t>SetNode</a:t>
            </a:r>
            <a:r>
              <a:rPr lang="en-US" altLang="zh-CN" dirty="0"/>
              <a:t>&lt;T&gt; *first, *last;</a:t>
            </a:r>
          </a:p>
          <a:p>
            <a:pPr marL="0" indent="0">
              <a:buNone/>
            </a:pPr>
            <a:r>
              <a:rPr lang="en-US" altLang="zh-CN" dirty="0"/>
              <a:t>public:					</a:t>
            </a:r>
          </a:p>
          <a:p>
            <a:pPr marL="0" indent="0">
              <a:buNone/>
            </a:pPr>
            <a:r>
              <a:rPr lang="en-US" altLang="zh-CN" dirty="0"/>
              <a:t>    </a:t>
            </a:r>
            <a:r>
              <a:rPr lang="en-US" altLang="zh-CN" dirty="0" err="1"/>
              <a:t>LinkedSet</a:t>
            </a:r>
            <a:r>
              <a:rPr lang="en-US" altLang="zh-CN" dirty="0"/>
              <a:t> ( )  { </a:t>
            </a:r>
          </a:p>
          <a:p>
            <a:pPr marL="0" indent="0">
              <a:buNone/>
            </a:pPr>
            <a:r>
              <a:rPr lang="en-US" altLang="zh-CN" dirty="0"/>
              <a:t>       first = last = new </a:t>
            </a:r>
            <a:r>
              <a:rPr lang="en-US" altLang="zh-CN" dirty="0" err="1"/>
              <a:t>SetNode</a:t>
            </a:r>
            <a:r>
              <a:rPr lang="en-US" altLang="zh-CN" dirty="0"/>
              <a:t>&lt;T&gt;; </a:t>
            </a:r>
          </a:p>
          <a:p>
            <a:pPr marL="0" indent="0">
              <a:buNone/>
            </a:pPr>
            <a:r>
              <a:rPr lang="en-US" altLang="zh-CN" dirty="0"/>
              <a:t>    }  //</a:t>
            </a:r>
            <a:r>
              <a:rPr lang="zh-CN" altLang="en-US" dirty="0"/>
              <a:t>构造函数</a:t>
            </a:r>
          </a:p>
          <a:p>
            <a:pPr marL="0" indent="0">
              <a:buNone/>
            </a:pPr>
            <a:r>
              <a:rPr lang="zh-CN" altLang="en-US" dirty="0"/>
              <a:t>    </a:t>
            </a:r>
            <a:r>
              <a:rPr lang="en-US" altLang="zh-CN" dirty="0" err="1"/>
              <a:t>LinkedSet</a:t>
            </a:r>
            <a:r>
              <a:rPr lang="en-US" altLang="zh-CN" dirty="0"/>
              <a:t> ( </a:t>
            </a:r>
            <a:r>
              <a:rPr lang="en-US" altLang="zh-CN" dirty="0" err="1"/>
              <a:t>LinkedSet</a:t>
            </a:r>
            <a:r>
              <a:rPr lang="en-US" altLang="zh-CN" dirty="0"/>
              <a:t>&lt;T&gt;&amp; R ); </a:t>
            </a:r>
          </a:p>
          <a:p>
            <a:pPr marL="0" indent="0">
              <a:buNone/>
            </a:pPr>
            <a:r>
              <a:rPr lang="en-US" altLang="zh-CN" dirty="0"/>
              <a:t>    ~</a:t>
            </a:r>
            <a:r>
              <a:rPr lang="en-US" altLang="zh-CN" dirty="0" err="1"/>
              <a:t>LinkedSet</a:t>
            </a:r>
            <a:r>
              <a:rPr lang="en-US" altLang="zh-CN" dirty="0"/>
              <a:t> ( )</a:t>
            </a:r>
          </a:p>
          <a:p>
            <a:pPr marL="0" indent="0">
              <a:buNone/>
            </a:pPr>
            <a:r>
              <a:rPr lang="en-US" altLang="zh-CN" dirty="0"/>
              <a:t>    { </a:t>
            </a:r>
            <a:r>
              <a:rPr lang="en-US" altLang="zh-CN" dirty="0" err="1"/>
              <a:t>makeEmpty</a:t>
            </a:r>
            <a:r>
              <a:rPr lang="en-US" altLang="zh-CN" dirty="0"/>
              <a:t>( );  delete first; }</a:t>
            </a:r>
          </a:p>
          <a:p>
            <a:pPr marL="0" indent="0">
              <a:buNone/>
            </a:pPr>
            <a:r>
              <a:rPr lang="en-US" altLang="zh-CN" dirty="0"/>
              <a:t>    void </a:t>
            </a:r>
            <a:r>
              <a:rPr lang="en-US" altLang="zh-CN" dirty="0" err="1"/>
              <a:t>makeEmpty</a:t>
            </a:r>
            <a:r>
              <a:rPr lang="en-US" altLang="zh-CN" dirty="0"/>
              <a:t> ( );     //</a:t>
            </a:r>
            <a:r>
              <a:rPr lang="zh-CN" altLang="en-US" dirty="0"/>
              <a:t>置空集合</a:t>
            </a:r>
          </a:p>
          <a:p>
            <a:pPr marL="0" indent="0">
              <a:buNone/>
            </a:pPr>
            <a:r>
              <a:rPr lang="zh-CN" altLang="en-US" dirty="0"/>
              <a:t>    </a:t>
            </a:r>
            <a:r>
              <a:rPr lang="en-US" altLang="zh-CN" dirty="0"/>
              <a:t>bool </a:t>
            </a:r>
            <a:r>
              <a:rPr lang="en-US" altLang="zh-CN" dirty="0" err="1"/>
              <a:t>addMember</a:t>
            </a:r>
            <a:r>
              <a:rPr lang="en-US" altLang="zh-CN" dirty="0"/>
              <a:t> ( const T&amp; x );</a:t>
            </a:r>
          </a:p>
          <a:p>
            <a:pPr marL="0" indent="0">
              <a:buNone/>
            </a:pPr>
            <a:r>
              <a:rPr lang="en-US" altLang="zh-CN" dirty="0"/>
              <a:t>    bool </a:t>
            </a:r>
            <a:r>
              <a:rPr lang="en-US" altLang="zh-CN" dirty="0" err="1"/>
              <a:t>delMember</a:t>
            </a:r>
            <a:r>
              <a:rPr lang="en-US" altLang="zh-CN" dirty="0"/>
              <a:t> ( const T&amp; x );</a:t>
            </a:r>
          </a:p>
          <a:p>
            <a:pPr marL="0" indent="0">
              <a:buNone/>
            </a:pPr>
            <a:r>
              <a:rPr lang="en-US" altLang="zh-CN" dirty="0"/>
              <a:t>    </a:t>
            </a:r>
            <a:r>
              <a:rPr lang="en-US" altLang="zh-CN" dirty="0" err="1"/>
              <a:t>LinkedSet</a:t>
            </a:r>
            <a:r>
              <a:rPr lang="en-US" altLang="zh-CN" dirty="0"/>
              <a:t>&lt;T&gt;&amp;  operator = ( </a:t>
            </a:r>
            <a:r>
              <a:rPr lang="en-US" altLang="zh-CN" dirty="0" err="1"/>
              <a:t>LinkedSet</a:t>
            </a:r>
            <a:r>
              <a:rPr lang="en-US" altLang="zh-CN" dirty="0"/>
              <a:t>&lt;T&gt;&amp; R );         //</a:t>
            </a:r>
            <a:r>
              <a:rPr lang="zh-CN" altLang="en-US" dirty="0"/>
              <a:t>集合赋值</a:t>
            </a:r>
            <a:r>
              <a:rPr lang="en-US" altLang="zh-CN" dirty="0"/>
              <a:t> </a:t>
            </a:r>
          </a:p>
          <a:p>
            <a:pPr marL="0" indent="0">
              <a:buNone/>
            </a:pPr>
            <a:endParaRPr lang="zh-CN" altLang="en-US" dirty="0"/>
          </a:p>
        </p:txBody>
      </p:sp>
      <p:sp>
        <p:nvSpPr>
          <p:cNvPr id="5" name="内容占位符 4">
            <a:extLst>
              <a:ext uri="{FF2B5EF4-FFF2-40B4-BE49-F238E27FC236}">
                <a16:creationId xmlns:a16="http://schemas.microsoft.com/office/drawing/2014/main" id="{98076D39-AEEB-4448-9F0B-3E25C983A93C}"/>
              </a:ext>
            </a:extLst>
          </p:cNvPr>
          <p:cNvSpPr>
            <a:spLocks noGrp="1"/>
          </p:cNvSpPr>
          <p:nvPr>
            <p:ph sz="half" idx="2"/>
          </p:nvPr>
        </p:nvSpPr>
        <p:spPr>
          <a:xfrm>
            <a:off x="4629150" y="476672"/>
            <a:ext cx="4407346" cy="5700291"/>
          </a:xfrm>
          <a:solidFill>
            <a:schemeClr val="bg2">
              <a:lumMod val="90000"/>
            </a:schemeClr>
          </a:solidFill>
        </p:spPr>
        <p:txBody>
          <a:bodyPr>
            <a:normAutofit fontScale="92500" lnSpcReduction="10000"/>
          </a:bodyPr>
          <a:lstStyle/>
          <a:p>
            <a:pPr marL="0" indent="0">
              <a:buNone/>
            </a:pPr>
            <a:r>
              <a:rPr lang="en-US" altLang="zh-CN" dirty="0"/>
              <a:t>    </a:t>
            </a:r>
            <a:r>
              <a:rPr lang="en-US" altLang="zh-CN" dirty="0" err="1"/>
              <a:t>LinkedSet</a:t>
            </a:r>
            <a:r>
              <a:rPr lang="en-US" altLang="zh-CN" dirty="0"/>
              <a:t>&lt;T&gt; operator + (</a:t>
            </a:r>
            <a:r>
              <a:rPr lang="en-US" altLang="zh-CN" dirty="0" err="1"/>
              <a:t>LinkedSet</a:t>
            </a:r>
            <a:r>
              <a:rPr lang="en-US" altLang="zh-CN" dirty="0"/>
              <a:t>&lt;T&gt;&amp; R );              //</a:t>
            </a:r>
            <a:r>
              <a:rPr lang="zh-CN" altLang="en-US" dirty="0"/>
              <a:t>求并集</a:t>
            </a:r>
          </a:p>
          <a:p>
            <a:pPr marL="0" indent="0">
              <a:buNone/>
            </a:pPr>
            <a:r>
              <a:rPr lang="zh-CN" altLang="en-US" dirty="0"/>
              <a:t>    </a:t>
            </a:r>
            <a:r>
              <a:rPr lang="en-US" altLang="zh-CN" dirty="0" err="1"/>
              <a:t>LinkedSet</a:t>
            </a:r>
            <a:r>
              <a:rPr lang="en-US" altLang="zh-CN" dirty="0"/>
              <a:t>&lt;T&gt; operator * (</a:t>
            </a:r>
            <a:r>
              <a:rPr lang="en-US" altLang="zh-CN" dirty="0" err="1"/>
              <a:t>LinkedSet</a:t>
            </a:r>
            <a:r>
              <a:rPr lang="en-US" altLang="zh-CN" dirty="0"/>
              <a:t>&lt;T&gt;&amp; R );               //</a:t>
            </a:r>
            <a:r>
              <a:rPr lang="zh-CN" altLang="en-US" dirty="0"/>
              <a:t>求交集</a:t>
            </a:r>
          </a:p>
          <a:p>
            <a:pPr marL="0" indent="0">
              <a:buNone/>
            </a:pPr>
            <a:r>
              <a:rPr lang="zh-CN" altLang="en-US" dirty="0"/>
              <a:t>    </a:t>
            </a:r>
            <a:r>
              <a:rPr lang="en-US" altLang="zh-CN" dirty="0" err="1"/>
              <a:t>LinkedSet</a:t>
            </a:r>
            <a:r>
              <a:rPr lang="en-US" altLang="zh-CN" dirty="0"/>
              <a:t>&lt;T&gt; operator - (</a:t>
            </a:r>
            <a:r>
              <a:rPr lang="en-US" altLang="zh-CN" dirty="0" err="1"/>
              <a:t>LinkedSet</a:t>
            </a:r>
            <a:r>
              <a:rPr lang="en-US" altLang="zh-CN" dirty="0"/>
              <a:t>&lt;T&gt;&amp; R );	    //</a:t>
            </a:r>
            <a:r>
              <a:rPr lang="zh-CN" altLang="en-US" dirty="0"/>
              <a:t>求差集</a:t>
            </a:r>
          </a:p>
          <a:p>
            <a:pPr marL="0" indent="0">
              <a:buNone/>
            </a:pPr>
            <a:r>
              <a:rPr lang="zh-CN" altLang="en-US" dirty="0"/>
              <a:t>    </a:t>
            </a:r>
            <a:r>
              <a:rPr lang="en-US" altLang="zh-CN" dirty="0"/>
              <a:t>bool Contains ( const T x );	//</a:t>
            </a:r>
            <a:r>
              <a:rPr lang="zh-CN" altLang="en-US" dirty="0"/>
              <a:t>判</a:t>
            </a:r>
            <a:r>
              <a:rPr lang="en-US" altLang="zh-CN" dirty="0"/>
              <a:t>x</a:t>
            </a:r>
            <a:r>
              <a:rPr lang="zh-CN" altLang="en-US" dirty="0"/>
              <a:t>是否集合的成员</a:t>
            </a:r>
          </a:p>
          <a:p>
            <a:pPr marL="0" indent="0">
              <a:buNone/>
            </a:pPr>
            <a:r>
              <a:rPr lang="zh-CN" altLang="en-US" dirty="0"/>
              <a:t>    </a:t>
            </a:r>
            <a:r>
              <a:rPr lang="en-US" altLang="zh-CN" dirty="0"/>
              <a:t>bool operator == (</a:t>
            </a:r>
            <a:r>
              <a:rPr lang="en-US" altLang="zh-CN" dirty="0" err="1"/>
              <a:t>LinkedSet</a:t>
            </a:r>
            <a:r>
              <a:rPr lang="en-US" altLang="zh-CN" dirty="0"/>
              <a:t>&lt;T&gt;&amp; R );	//</a:t>
            </a:r>
            <a:r>
              <a:rPr lang="zh-CN" altLang="en-US" dirty="0"/>
              <a:t>判集合</a:t>
            </a:r>
            <a:r>
              <a:rPr lang="en-US" altLang="zh-CN" dirty="0"/>
              <a:t>this</a:t>
            </a:r>
            <a:r>
              <a:rPr lang="zh-CN" altLang="en-US" dirty="0"/>
              <a:t>与集合</a:t>
            </a:r>
            <a:r>
              <a:rPr lang="en-US" altLang="zh-CN" dirty="0"/>
              <a:t>R</a:t>
            </a:r>
            <a:r>
              <a:rPr lang="zh-CN" altLang="en-US" dirty="0"/>
              <a:t>相等</a:t>
            </a:r>
          </a:p>
          <a:p>
            <a:pPr marL="0" indent="0">
              <a:buNone/>
            </a:pPr>
            <a:r>
              <a:rPr lang="zh-CN" altLang="en-US" dirty="0"/>
              <a:t>    </a:t>
            </a:r>
            <a:r>
              <a:rPr lang="en-US" altLang="zh-CN" dirty="0"/>
              <a:t>bool Min (T&amp; x);     //</a:t>
            </a:r>
            <a:r>
              <a:rPr lang="zh-CN" altLang="en-US" dirty="0"/>
              <a:t>返回集合最小元素值</a:t>
            </a:r>
          </a:p>
          <a:p>
            <a:pPr marL="0" indent="0">
              <a:buNone/>
            </a:pPr>
            <a:r>
              <a:rPr lang="zh-CN" altLang="en-US" dirty="0"/>
              <a:t>    </a:t>
            </a:r>
            <a:r>
              <a:rPr lang="en-US" altLang="zh-CN" dirty="0"/>
              <a:t>bool Max (T&amp; x);    //</a:t>
            </a:r>
            <a:r>
              <a:rPr lang="zh-CN" altLang="en-US" dirty="0"/>
              <a:t>返回集合最大元素值</a:t>
            </a:r>
          </a:p>
          <a:p>
            <a:pPr marL="0" indent="0">
              <a:buNone/>
            </a:pPr>
            <a:r>
              <a:rPr lang="zh-CN" altLang="en-US" dirty="0"/>
              <a:t>    </a:t>
            </a:r>
            <a:r>
              <a:rPr lang="en-US" altLang="zh-CN" dirty="0"/>
              <a:t>bool </a:t>
            </a:r>
            <a:r>
              <a:rPr lang="en-US" altLang="zh-CN" dirty="0" err="1"/>
              <a:t>subSet</a:t>
            </a:r>
            <a:r>
              <a:rPr lang="en-US" altLang="zh-CN" dirty="0"/>
              <a:t> (</a:t>
            </a:r>
            <a:r>
              <a:rPr lang="en-US" altLang="zh-CN" dirty="0" err="1"/>
              <a:t>LinkedSet</a:t>
            </a:r>
            <a:r>
              <a:rPr lang="en-US" altLang="zh-CN" dirty="0"/>
              <a:t>&lt; T &gt;&amp; R);    //this</a:t>
            </a:r>
            <a:r>
              <a:rPr lang="zh-CN" altLang="en-US" dirty="0"/>
              <a:t>是否</a:t>
            </a:r>
            <a:r>
              <a:rPr lang="en-US" altLang="zh-CN" dirty="0"/>
              <a:t>R</a:t>
            </a:r>
            <a:r>
              <a:rPr lang="zh-CN" altLang="en-US" dirty="0"/>
              <a:t>的子集</a:t>
            </a:r>
          </a:p>
          <a:p>
            <a:pPr marL="0" indent="0">
              <a:buNone/>
            </a:pPr>
            <a:r>
              <a:rPr lang="en-US" altLang="zh-CN" dirty="0"/>
              <a:t>}</a:t>
            </a:r>
            <a:endParaRPr lang="zh-CN" altLang="en-US" dirty="0"/>
          </a:p>
        </p:txBody>
      </p:sp>
      <p:sp>
        <p:nvSpPr>
          <p:cNvPr id="2" name="灯片编号占位符 1">
            <a:extLst>
              <a:ext uri="{FF2B5EF4-FFF2-40B4-BE49-F238E27FC236}">
                <a16:creationId xmlns:a16="http://schemas.microsoft.com/office/drawing/2014/main" id="{484F671B-EF77-08FA-0B81-7DFD19AB425C}"/>
              </a:ext>
            </a:extLst>
          </p:cNvPr>
          <p:cNvSpPr>
            <a:spLocks noGrp="1"/>
          </p:cNvSpPr>
          <p:nvPr>
            <p:ph type="sldNum" sz="quarter" idx="12"/>
          </p:nvPr>
        </p:nvSpPr>
        <p:spPr/>
        <p:txBody>
          <a:bodyPr/>
          <a:lstStyle/>
          <a:p>
            <a:pPr>
              <a:defRPr/>
            </a:pPr>
            <a:fld id="{5584AA31-25D5-47AC-9EDA-76526E3BFA3C}" type="slidenum">
              <a:rPr lang="en-US" altLang="zh-CN" smtClean="0"/>
              <a:pPr>
                <a:defRPr/>
              </a:pPr>
              <a:t>20</a:t>
            </a:fld>
            <a:endParaRPr lang="en-US" altLang="zh-CN"/>
          </a:p>
        </p:txBody>
      </p:sp>
    </p:spTree>
  </p:cSld>
  <p:clrMapOvr>
    <a:masterClrMapping/>
  </p:clrMapOvr>
  <p:transition>
    <p:spli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7B8D6EE-E393-40CF-80E0-D4E877A1B0CD}"/>
              </a:ext>
            </a:extLst>
          </p:cNvPr>
          <p:cNvSpPr>
            <a:spLocks noGrp="1"/>
          </p:cNvSpPr>
          <p:nvPr>
            <p:ph idx="1"/>
          </p:nvPr>
        </p:nvSpPr>
        <p:spPr>
          <a:xfrm>
            <a:off x="628650" y="548680"/>
            <a:ext cx="7886700" cy="5628283"/>
          </a:xfrm>
        </p:spPr>
        <p:txBody>
          <a:bodyPr>
            <a:normAutofit fontScale="77500" lnSpcReduction="20000"/>
          </a:bodyPr>
          <a:lstStyle/>
          <a:p>
            <a:pPr marL="0" indent="0">
              <a:buNone/>
            </a:pPr>
            <a:r>
              <a:rPr lang="en-US" altLang="zh-CN" dirty="0"/>
              <a:t>//</a:t>
            </a:r>
            <a:r>
              <a:rPr lang="zh-CN" altLang="en-US" dirty="0"/>
              <a:t>集合的复制构造函数</a:t>
            </a:r>
          </a:p>
          <a:p>
            <a:pPr marL="0" indent="0">
              <a:buNone/>
            </a:pPr>
            <a:r>
              <a:rPr lang="en-US" altLang="zh-CN" dirty="0"/>
              <a:t>template &lt;class T&gt; </a:t>
            </a:r>
          </a:p>
          <a:p>
            <a:pPr marL="0" indent="0">
              <a:buNone/>
            </a:pPr>
            <a:r>
              <a:rPr lang="en-US" altLang="zh-CN" dirty="0" err="1"/>
              <a:t>LinkedSet</a:t>
            </a:r>
            <a:r>
              <a:rPr lang="en-US" altLang="zh-CN" dirty="0"/>
              <a:t>&lt;T&gt; :: </a:t>
            </a:r>
            <a:r>
              <a:rPr lang="en-US" altLang="zh-CN" dirty="0" err="1"/>
              <a:t>LinkedSet</a:t>
            </a:r>
            <a:r>
              <a:rPr lang="en-US" altLang="zh-CN" dirty="0"/>
              <a:t> ( </a:t>
            </a:r>
            <a:r>
              <a:rPr lang="en-US" altLang="zh-CN" dirty="0" err="1"/>
              <a:t>LinkedSet</a:t>
            </a:r>
            <a:r>
              <a:rPr lang="en-US" altLang="zh-CN" dirty="0"/>
              <a:t> &lt;T&gt; &amp; R ) {</a:t>
            </a:r>
          </a:p>
          <a:p>
            <a:pPr marL="0" indent="0">
              <a:buNone/>
            </a:pPr>
            <a:r>
              <a:rPr lang="en-US" altLang="zh-CN" dirty="0"/>
              <a:t>    </a:t>
            </a:r>
            <a:r>
              <a:rPr lang="en-US" altLang="zh-CN" dirty="0" err="1"/>
              <a:t>SetNode</a:t>
            </a:r>
            <a:r>
              <a:rPr lang="en-US" altLang="zh-CN" dirty="0"/>
              <a:t>&lt;T&gt; * </a:t>
            </a:r>
            <a:r>
              <a:rPr lang="en-US" altLang="zh-CN" dirty="0" err="1"/>
              <a:t>srcptr</a:t>
            </a:r>
            <a:r>
              <a:rPr lang="en-US" altLang="zh-CN" dirty="0"/>
              <a:t> = </a:t>
            </a:r>
            <a:r>
              <a:rPr lang="en-US" altLang="zh-CN" dirty="0" err="1"/>
              <a:t>R.first</a:t>
            </a:r>
            <a:r>
              <a:rPr lang="en-US" altLang="zh-CN" dirty="0"/>
              <a:t>-&gt;link;</a:t>
            </a:r>
          </a:p>
          <a:p>
            <a:pPr marL="0" indent="0">
              <a:buNone/>
            </a:pPr>
            <a:r>
              <a:rPr lang="en-US" altLang="zh-CN" dirty="0"/>
              <a:t>    first = last = new </a:t>
            </a:r>
            <a:r>
              <a:rPr lang="en-US" altLang="zh-CN" dirty="0" err="1"/>
              <a:t>SetNode</a:t>
            </a:r>
            <a:r>
              <a:rPr lang="en-US" altLang="zh-CN" dirty="0"/>
              <a:t>&lt;T&gt;;</a:t>
            </a:r>
          </a:p>
          <a:p>
            <a:pPr marL="0" indent="0">
              <a:buNone/>
            </a:pPr>
            <a:r>
              <a:rPr lang="en-US" altLang="zh-CN" dirty="0"/>
              <a:t>    while ( </a:t>
            </a:r>
            <a:r>
              <a:rPr lang="en-US" altLang="zh-CN" dirty="0" err="1"/>
              <a:t>srcptr</a:t>
            </a:r>
            <a:r>
              <a:rPr lang="en-US" altLang="zh-CN" dirty="0"/>
              <a:t> != NULL ) {</a:t>
            </a:r>
          </a:p>
          <a:p>
            <a:pPr marL="0" indent="0">
              <a:buNone/>
            </a:pPr>
            <a:r>
              <a:rPr lang="en-US" altLang="zh-CN" dirty="0"/>
              <a:t>       last-&gt;link=new </a:t>
            </a:r>
            <a:r>
              <a:rPr lang="en-US" altLang="zh-CN" dirty="0" err="1"/>
              <a:t>SetNode</a:t>
            </a:r>
            <a:r>
              <a:rPr lang="en-US" altLang="zh-CN" dirty="0"/>
              <a:t>&lt;T&gt; (</a:t>
            </a:r>
            <a:r>
              <a:rPr lang="en-US" altLang="zh-CN" dirty="0" err="1"/>
              <a:t>srcptr</a:t>
            </a:r>
            <a:r>
              <a:rPr lang="en-US" altLang="zh-CN" dirty="0"/>
              <a:t>-&gt;data);</a:t>
            </a:r>
          </a:p>
          <a:p>
            <a:pPr marL="0" indent="0">
              <a:buNone/>
            </a:pPr>
            <a:r>
              <a:rPr lang="en-US" altLang="zh-CN" dirty="0"/>
              <a:t>       last = last-&gt;link;</a:t>
            </a:r>
          </a:p>
          <a:p>
            <a:pPr marL="0" indent="0">
              <a:buNone/>
            </a:pPr>
            <a:r>
              <a:rPr lang="en-US" altLang="zh-CN" dirty="0"/>
              <a:t>       </a:t>
            </a:r>
            <a:r>
              <a:rPr lang="en-US" altLang="zh-CN" dirty="0" err="1"/>
              <a:t>srcptr</a:t>
            </a:r>
            <a:r>
              <a:rPr lang="en-US" altLang="zh-CN" dirty="0"/>
              <a:t> = </a:t>
            </a:r>
            <a:r>
              <a:rPr lang="en-US" altLang="zh-CN" dirty="0" err="1"/>
              <a:t>srcptr</a:t>
            </a:r>
            <a:r>
              <a:rPr lang="en-US" altLang="zh-CN" dirty="0"/>
              <a:t>-&gt;link;</a:t>
            </a:r>
          </a:p>
          <a:p>
            <a:pPr marL="0" indent="0">
              <a:buNone/>
            </a:pPr>
            <a:r>
              <a:rPr lang="en-US" altLang="zh-CN" dirty="0"/>
              <a:t>    }</a:t>
            </a:r>
          </a:p>
          <a:p>
            <a:pPr marL="0" indent="0">
              <a:buNone/>
            </a:pPr>
            <a:r>
              <a:rPr lang="en-US" altLang="zh-CN" dirty="0"/>
              <a:t>    last-&gt;link = NULL;</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D0AD4472-31C3-FD89-B897-AB56EDCE4A01}"/>
              </a:ext>
            </a:extLst>
          </p:cNvPr>
          <p:cNvSpPr>
            <a:spLocks noGrp="1"/>
          </p:cNvSpPr>
          <p:nvPr>
            <p:ph type="sldNum" sz="quarter" idx="12"/>
          </p:nvPr>
        </p:nvSpPr>
        <p:spPr/>
        <p:txBody>
          <a:bodyPr/>
          <a:lstStyle/>
          <a:p>
            <a:pPr>
              <a:defRPr/>
            </a:pPr>
            <a:fld id="{524B865F-46F8-4520-B0DD-31ED36EF62D9}" type="slidenum">
              <a:rPr lang="en-US" altLang="zh-CN" smtClean="0"/>
              <a:pPr>
                <a:defRPr/>
              </a:pPr>
              <a:t>21</a:t>
            </a:fld>
            <a:endParaRPr lang="en-US" altLang="zh-CN"/>
          </a:p>
        </p:txBody>
      </p:sp>
    </p:spTree>
  </p:cSld>
  <p:clrMapOvr>
    <a:masterClrMapping/>
  </p:clrMapOvr>
  <p:transition>
    <p:spli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B3D1341-BCBF-4497-892E-50944C8CA7D2}"/>
              </a:ext>
            </a:extLst>
          </p:cNvPr>
          <p:cNvSpPr>
            <a:spLocks noGrp="1"/>
          </p:cNvSpPr>
          <p:nvPr>
            <p:ph idx="1"/>
          </p:nvPr>
        </p:nvSpPr>
        <p:spPr>
          <a:xfrm>
            <a:off x="179512" y="692696"/>
            <a:ext cx="8784976" cy="5484267"/>
          </a:xfrm>
        </p:spPr>
        <p:txBody>
          <a:bodyPr>
            <a:normAutofit fontScale="92500" lnSpcReduction="20000"/>
          </a:bodyPr>
          <a:lstStyle/>
          <a:p>
            <a:pPr marL="0" indent="0">
              <a:buNone/>
            </a:pPr>
            <a:r>
              <a:rPr lang="en-US" altLang="zh-CN" dirty="0"/>
              <a:t>//</a:t>
            </a:r>
            <a:r>
              <a:rPr lang="zh-CN" altLang="en-US" dirty="0"/>
              <a:t>若</a:t>
            </a:r>
            <a:r>
              <a:rPr lang="en-US" altLang="zh-CN" dirty="0"/>
              <a:t>x</a:t>
            </a:r>
            <a:r>
              <a:rPr lang="zh-CN" altLang="en-US" dirty="0"/>
              <a:t>是集合成员</a:t>
            </a:r>
            <a:r>
              <a:rPr lang="en-US" altLang="zh-CN" dirty="0"/>
              <a:t>, </a:t>
            </a:r>
            <a:r>
              <a:rPr lang="zh-CN" altLang="en-US" dirty="0"/>
              <a:t>则函数返回</a:t>
            </a:r>
            <a:r>
              <a:rPr lang="en-US" altLang="zh-CN" dirty="0"/>
              <a:t>1, </a:t>
            </a:r>
            <a:r>
              <a:rPr lang="zh-CN" altLang="en-US" dirty="0"/>
              <a:t>否则返回</a:t>
            </a:r>
            <a:r>
              <a:rPr lang="en-US" altLang="zh-CN" dirty="0"/>
              <a:t>0</a:t>
            </a:r>
          </a:p>
          <a:p>
            <a:pPr marL="0" indent="0">
              <a:buNone/>
            </a:pPr>
            <a:r>
              <a:rPr lang="en-US" altLang="zh-CN" dirty="0"/>
              <a:t>template &lt;class T&gt; </a:t>
            </a:r>
          </a:p>
          <a:p>
            <a:pPr marL="0" indent="0">
              <a:buNone/>
            </a:pPr>
            <a:r>
              <a:rPr lang="en-US" altLang="zh-CN" dirty="0"/>
              <a:t>bool </a:t>
            </a:r>
            <a:r>
              <a:rPr lang="en-US" altLang="zh-CN" dirty="0" err="1"/>
              <a:t>LinkedSet</a:t>
            </a:r>
            <a:r>
              <a:rPr lang="en-US" altLang="zh-CN" dirty="0"/>
              <a:t>&lt;T&gt; ::Contains ( const T x ) {</a:t>
            </a:r>
          </a:p>
          <a:p>
            <a:pPr marL="0" indent="0">
              <a:buNone/>
            </a:pPr>
            <a:r>
              <a:rPr lang="en-US" altLang="zh-CN" dirty="0"/>
              <a:t>    </a:t>
            </a:r>
            <a:r>
              <a:rPr lang="en-US" altLang="zh-CN" dirty="0" err="1"/>
              <a:t>SetNode</a:t>
            </a:r>
            <a:r>
              <a:rPr lang="en-US" altLang="zh-CN" dirty="0"/>
              <a:t>&lt;T&gt; * temp = first-&gt;link;</a:t>
            </a:r>
          </a:p>
          <a:p>
            <a:pPr marL="0" indent="0">
              <a:buNone/>
            </a:pPr>
            <a:r>
              <a:rPr lang="en-US" altLang="zh-CN" dirty="0"/>
              <a:t>    while ( temp != NULL &amp;&amp; temp-&gt;data &lt; x )</a:t>
            </a:r>
          </a:p>
          <a:p>
            <a:pPr marL="0" indent="0">
              <a:buNone/>
            </a:pPr>
            <a:r>
              <a:rPr lang="en-US" altLang="zh-CN" dirty="0"/>
              <a:t>         temp = temp-&gt;link;	 //</a:t>
            </a:r>
            <a:r>
              <a:rPr lang="zh-CN" altLang="en-US" dirty="0"/>
              <a:t>循链搜索</a:t>
            </a:r>
          </a:p>
          <a:p>
            <a:pPr marL="0" indent="0">
              <a:buNone/>
            </a:pPr>
            <a:r>
              <a:rPr lang="zh-CN" altLang="en-US" dirty="0"/>
              <a:t>    </a:t>
            </a:r>
            <a:r>
              <a:rPr lang="en-US" altLang="zh-CN" dirty="0"/>
              <a:t>if ( temp != NULL &amp;&amp; temp-&gt;data == x ) </a:t>
            </a:r>
          </a:p>
          <a:p>
            <a:pPr marL="0" indent="0">
              <a:buNone/>
            </a:pPr>
            <a:r>
              <a:rPr lang="en-US" altLang="zh-CN" dirty="0"/>
              <a:t>         return true;			//</a:t>
            </a:r>
            <a:r>
              <a:rPr lang="zh-CN" altLang="en-US" dirty="0"/>
              <a:t>找到</a:t>
            </a:r>
            <a:r>
              <a:rPr lang="en-US" altLang="zh-CN" dirty="0"/>
              <a:t>, </a:t>
            </a:r>
            <a:r>
              <a:rPr lang="zh-CN" altLang="en-US" dirty="0"/>
              <a:t>返回</a:t>
            </a:r>
            <a:r>
              <a:rPr lang="en-US" altLang="zh-CN" dirty="0"/>
              <a:t>1</a:t>
            </a:r>
          </a:p>
          <a:p>
            <a:pPr marL="0" indent="0">
              <a:buNone/>
            </a:pPr>
            <a:r>
              <a:rPr lang="en-US" altLang="zh-CN" dirty="0"/>
              <a:t>    else return false;	         //</a:t>
            </a:r>
            <a:r>
              <a:rPr lang="zh-CN" altLang="en-US" dirty="0"/>
              <a:t>未找到</a:t>
            </a:r>
            <a:r>
              <a:rPr lang="en-US" altLang="zh-CN" dirty="0"/>
              <a:t>, </a:t>
            </a:r>
            <a:r>
              <a:rPr lang="zh-CN" altLang="en-US" dirty="0"/>
              <a:t>返回</a:t>
            </a:r>
          </a:p>
          <a:p>
            <a:pPr marL="0" indent="0">
              <a:buNone/>
            </a:pPr>
            <a:r>
              <a:rPr lang="en-US" altLang="zh-CN" dirty="0"/>
              <a:t>}</a:t>
            </a:r>
            <a:endParaRPr lang="zh-CN" altLang="en-US" dirty="0"/>
          </a:p>
        </p:txBody>
      </p:sp>
      <p:sp>
        <p:nvSpPr>
          <p:cNvPr id="2" name="灯片编号占位符 1">
            <a:extLst>
              <a:ext uri="{FF2B5EF4-FFF2-40B4-BE49-F238E27FC236}">
                <a16:creationId xmlns:a16="http://schemas.microsoft.com/office/drawing/2014/main" id="{F33AA454-2898-0899-DA58-BDD714A0CD09}"/>
              </a:ext>
            </a:extLst>
          </p:cNvPr>
          <p:cNvSpPr>
            <a:spLocks noGrp="1"/>
          </p:cNvSpPr>
          <p:nvPr>
            <p:ph type="sldNum" sz="quarter" idx="12"/>
          </p:nvPr>
        </p:nvSpPr>
        <p:spPr/>
        <p:txBody>
          <a:bodyPr/>
          <a:lstStyle/>
          <a:p>
            <a:pPr>
              <a:defRPr/>
            </a:pPr>
            <a:fld id="{524B865F-46F8-4520-B0DD-31ED36EF62D9}" type="slidenum">
              <a:rPr lang="en-US" altLang="zh-CN" smtClean="0"/>
              <a:pPr>
                <a:defRPr/>
              </a:pPr>
              <a:t>22</a:t>
            </a:fld>
            <a:endParaRPr lang="en-US" altLang="zh-CN"/>
          </a:p>
        </p:txBody>
      </p:sp>
    </p:spTree>
  </p:cSld>
  <p:clrMapOvr>
    <a:masterClrMapping/>
  </p:clrMapOvr>
  <p:transition>
    <p:spli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8E403D2-CFB8-4268-B1F6-42CDEB419E87}"/>
              </a:ext>
            </a:extLst>
          </p:cNvPr>
          <p:cNvSpPr>
            <a:spLocks noGrp="1"/>
          </p:cNvSpPr>
          <p:nvPr>
            <p:ph idx="1"/>
          </p:nvPr>
        </p:nvSpPr>
        <p:spPr>
          <a:xfrm>
            <a:off x="179512" y="620688"/>
            <a:ext cx="8712968" cy="5832648"/>
          </a:xfrm>
        </p:spPr>
        <p:txBody>
          <a:bodyPr>
            <a:normAutofit fontScale="77500" lnSpcReduction="20000"/>
          </a:bodyPr>
          <a:lstStyle/>
          <a:p>
            <a:pPr marL="0" indent="0">
              <a:buNone/>
            </a:pPr>
            <a:r>
              <a:rPr lang="en-US" altLang="zh-CN" dirty="0"/>
              <a:t>template &lt;class T&gt; </a:t>
            </a:r>
          </a:p>
          <a:p>
            <a:pPr marL="0" indent="0">
              <a:buNone/>
            </a:pPr>
            <a:r>
              <a:rPr lang="en-US" altLang="zh-CN" dirty="0"/>
              <a:t>bool </a:t>
            </a:r>
            <a:r>
              <a:rPr lang="en-US" altLang="zh-CN" dirty="0" err="1"/>
              <a:t>LinkedSet</a:t>
            </a:r>
            <a:r>
              <a:rPr lang="en-US" altLang="zh-CN" dirty="0"/>
              <a:t>&lt;T&gt; :: </a:t>
            </a:r>
            <a:r>
              <a:rPr lang="en-US" altLang="zh-CN" dirty="0" err="1"/>
              <a:t>addMember</a:t>
            </a:r>
            <a:r>
              <a:rPr lang="en-US" altLang="zh-CN" dirty="0"/>
              <a:t> ( const T&amp; x ) {</a:t>
            </a:r>
          </a:p>
          <a:p>
            <a:pPr marL="0" indent="0">
              <a:buNone/>
            </a:pPr>
            <a:r>
              <a:rPr lang="en-US" altLang="zh-CN" dirty="0"/>
              <a:t>    </a:t>
            </a:r>
            <a:r>
              <a:rPr lang="en-US" altLang="zh-CN" dirty="0" err="1"/>
              <a:t>SetNode</a:t>
            </a:r>
            <a:r>
              <a:rPr lang="en-US" altLang="zh-CN" dirty="0"/>
              <a:t>&lt;T&gt; *p = first-&gt;link,  *pre = first;</a:t>
            </a:r>
          </a:p>
          <a:p>
            <a:pPr marL="0" indent="0">
              <a:buNone/>
            </a:pPr>
            <a:r>
              <a:rPr lang="en-US" altLang="zh-CN" dirty="0"/>
              <a:t>    while ( p != NULL &amp;&amp; p-&gt;data &lt; x )</a:t>
            </a:r>
          </a:p>
          <a:p>
            <a:pPr marL="0" indent="0">
              <a:buNone/>
            </a:pPr>
            <a:r>
              <a:rPr lang="en-US" altLang="zh-CN" dirty="0"/>
              <a:t>        { pre = p;  p = p-&gt;link; }        //</a:t>
            </a:r>
            <a:r>
              <a:rPr lang="zh-CN" altLang="en-US" dirty="0"/>
              <a:t>循链扫描</a:t>
            </a:r>
          </a:p>
          <a:p>
            <a:pPr marL="0" indent="0">
              <a:buNone/>
            </a:pPr>
            <a:r>
              <a:rPr lang="zh-CN" altLang="en-US" dirty="0"/>
              <a:t>    </a:t>
            </a:r>
            <a:r>
              <a:rPr lang="en-US" altLang="zh-CN" dirty="0"/>
              <a:t>if ( p != NULL &amp;&amp; p-&gt;data == x )</a:t>
            </a:r>
          </a:p>
          <a:p>
            <a:pPr marL="0" indent="0">
              <a:buNone/>
            </a:pPr>
            <a:r>
              <a:rPr lang="en-US" altLang="zh-CN" dirty="0"/>
              <a:t>        return false;     //</a:t>
            </a:r>
            <a:r>
              <a:rPr lang="zh-CN" altLang="en-US" dirty="0"/>
              <a:t>集合中已有此元素 </a:t>
            </a:r>
          </a:p>
          <a:p>
            <a:pPr marL="0" indent="0">
              <a:buNone/>
            </a:pPr>
            <a:r>
              <a:rPr lang="zh-CN" altLang="en-US" dirty="0"/>
              <a:t>    </a:t>
            </a:r>
            <a:r>
              <a:rPr lang="en-US" altLang="zh-CN" dirty="0" err="1"/>
              <a:t>SetNode</a:t>
            </a:r>
            <a:r>
              <a:rPr lang="en-US" altLang="zh-CN" dirty="0"/>
              <a:t>&lt;T&gt; * s = new </a:t>
            </a:r>
            <a:r>
              <a:rPr lang="en-US" altLang="zh-CN" dirty="0" err="1"/>
              <a:t>SetNode</a:t>
            </a:r>
            <a:r>
              <a:rPr lang="en-US" altLang="zh-CN" dirty="0"/>
              <a:t> &lt;T&gt; (x);</a:t>
            </a:r>
          </a:p>
          <a:p>
            <a:pPr marL="0" indent="0">
              <a:buNone/>
            </a:pPr>
            <a:r>
              <a:rPr lang="en-US" altLang="zh-CN" dirty="0"/>
              <a:t>    s-&gt;link = p;  pre-&gt;link = s;    //</a:t>
            </a:r>
            <a:r>
              <a:rPr lang="zh-CN" altLang="en-US" dirty="0"/>
              <a:t>链入</a:t>
            </a:r>
          </a:p>
          <a:p>
            <a:pPr marL="0" indent="0">
              <a:buNone/>
            </a:pPr>
            <a:r>
              <a:rPr lang="zh-CN" altLang="en-US" dirty="0"/>
              <a:t>    </a:t>
            </a:r>
            <a:r>
              <a:rPr lang="en-US" altLang="zh-CN" dirty="0"/>
              <a:t>if ( p == NULL ) </a:t>
            </a:r>
          </a:p>
          <a:p>
            <a:pPr marL="0" indent="0">
              <a:buNone/>
            </a:pPr>
            <a:r>
              <a:rPr lang="en-US" altLang="zh-CN" dirty="0"/>
              <a:t>        last = s;  //</a:t>
            </a:r>
            <a:r>
              <a:rPr lang="zh-CN" altLang="en-US" dirty="0"/>
              <a:t>链到链尾时改链尾指针</a:t>
            </a:r>
          </a:p>
          <a:p>
            <a:pPr marL="0" indent="0">
              <a:buNone/>
            </a:pPr>
            <a:r>
              <a:rPr lang="zh-CN" altLang="en-US" dirty="0"/>
              <a:t>    </a:t>
            </a:r>
            <a:r>
              <a:rPr lang="en-US" altLang="zh-CN" dirty="0"/>
              <a:t>return true;</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13B486F0-0065-75CE-0E77-70278C2FE3D4}"/>
              </a:ext>
            </a:extLst>
          </p:cNvPr>
          <p:cNvSpPr>
            <a:spLocks noGrp="1"/>
          </p:cNvSpPr>
          <p:nvPr>
            <p:ph type="sldNum" sz="quarter" idx="12"/>
          </p:nvPr>
        </p:nvSpPr>
        <p:spPr/>
        <p:txBody>
          <a:bodyPr/>
          <a:lstStyle/>
          <a:p>
            <a:pPr>
              <a:defRPr/>
            </a:pPr>
            <a:fld id="{524B865F-46F8-4520-B0DD-31ED36EF62D9}" type="slidenum">
              <a:rPr lang="en-US" altLang="zh-CN" smtClean="0"/>
              <a:pPr>
                <a:defRPr/>
              </a:pPr>
              <a:t>23</a:t>
            </a:fld>
            <a:endParaRPr lang="en-US" altLang="zh-CN"/>
          </a:p>
        </p:txBody>
      </p:sp>
    </p:spTree>
  </p:cSld>
  <p:clrMapOvr>
    <a:masterClrMapping/>
  </p:clrMapOvr>
  <p:transition>
    <p:spli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96C311-DCF7-412C-B9E6-10B09F32DEB5}"/>
              </a:ext>
            </a:extLst>
          </p:cNvPr>
          <p:cNvSpPr>
            <a:spLocks noGrp="1"/>
          </p:cNvSpPr>
          <p:nvPr>
            <p:ph idx="1"/>
          </p:nvPr>
        </p:nvSpPr>
        <p:spPr>
          <a:xfrm>
            <a:off x="628650" y="620688"/>
            <a:ext cx="7886700" cy="5904656"/>
          </a:xfrm>
        </p:spPr>
        <p:txBody>
          <a:bodyPr>
            <a:normAutofit fontScale="77500" lnSpcReduction="20000"/>
          </a:bodyPr>
          <a:lstStyle/>
          <a:p>
            <a:pPr marL="0" indent="0">
              <a:buNone/>
            </a:pPr>
            <a:r>
              <a:rPr lang="en-US" altLang="zh-CN" dirty="0"/>
              <a:t>template &lt;class T&gt; </a:t>
            </a:r>
          </a:p>
          <a:p>
            <a:pPr marL="0" indent="0">
              <a:buNone/>
            </a:pPr>
            <a:r>
              <a:rPr lang="en-US" altLang="zh-CN" dirty="0"/>
              <a:t>bool </a:t>
            </a:r>
            <a:r>
              <a:rPr lang="en-US" altLang="zh-CN" dirty="0" err="1"/>
              <a:t>LinkedSet</a:t>
            </a:r>
            <a:r>
              <a:rPr lang="en-US" altLang="zh-CN" dirty="0"/>
              <a:t>&lt;T&gt; :: </a:t>
            </a:r>
            <a:r>
              <a:rPr lang="en-US" altLang="zh-CN" dirty="0" err="1"/>
              <a:t>delMember</a:t>
            </a:r>
            <a:r>
              <a:rPr lang="en-US" altLang="zh-CN" dirty="0"/>
              <a:t> ( const T&amp; x ) {</a:t>
            </a:r>
          </a:p>
          <a:p>
            <a:pPr marL="0" indent="0">
              <a:buNone/>
            </a:pPr>
            <a:r>
              <a:rPr lang="en-US" altLang="zh-CN" dirty="0"/>
              <a:t>    </a:t>
            </a:r>
            <a:r>
              <a:rPr lang="en-US" altLang="zh-CN" dirty="0" err="1"/>
              <a:t>SetNode</a:t>
            </a:r>
            <a:r>
              <a:rPr lang="en-US" altLang="zh-CN" dirty="0"/>
              <a:t>&lt;T&gt; * p = first-&gt;link,  * pre = first;</a:t>
            </a:r>
          </a:p>
          <a:p>
            <a:pPr marL="0" indent="0">
              <a:buNone/>
            </a:pPr>
            <a:r>
              <a:rPr lang="en-US" altLang="zh-CN" dirty="0"/>
              <a:t>    while ( p != NULL &amp;&amp; p-&gt;data &lt; x ) </a:t>
            </a:r>
          </a:p>
          <a:p>
            <a:pPr marL="0" indent="0">
              <a:buNone/>
            </a:pPr>
            <a:r>
              <a:rPr lang="en-US" altLang="zh-CN" dirty="0"/>
              <a:t>        { pre = p;  p = p-&gt;link; }	    //</a:t>
            </a:r>
            <a:r>
              <a:rPr lang="zh-CN" altLang="en-US" dirty="0"/>
              <a:t>循链扫描</a:t>
            </a:r>
          </a:p>
          <a:p>
            <a:pPr marL="0" indent="0">
              <a:buNone/>
            </a:pPr>
            <a:r>
              <a:rPr lang="zh-CN" altLang="en-US" dirty="0"/>
              <a:t>    </a:t>
            </a:r>
            <a:r>
              <a:rPr lang="en-US" altLang="zh-CN" dirty="0"/>
              <a:t>if ( p != NULL &amp;&amp; p-&gt;data == x ) {   //</a:t>
            </a:r>
            <a:r>
              <a:rPr lang="zh-CN" altLang="en-US" dirty="0"/>
              <a:t>找到</a:t>
            </a:r>
          </a:p>
          <a:p>
            <a:pPr marL="0" indent="0">
              <a:buNone/>
            </a:pPr>
            <a:r>
              <a:rPr lang="zh-CN" altLang="en-US" dirty="0"/>
              <a:t>        </a:t>
            </a:r>
            <a:r>
              <a:rPr lang="en-US" altLang="zh-CN" dirty="0"/>
              <a:t>pre-&gt;link = p-&gt;link;	//</a:t>
            </a:r>
            <a:r>
              <a:rPr lang="zh-CN" altLang="en-US" dirty="0"/>
              <a:t>重新链接</a:t>
            </a:r>
          </a:p>
          <a:p>
            <a:pPr marL="0" indent="0">
              <a:buNone/>
            </a:pPr>
            <a:r>
              <a:rPr lang="zh-CN" altLang="en-US" dirty="0"/>
              <a:t>        </a:t>
            </a:r>
            <a:r>
              <a:rPr lang="en-US" altLang="zh-CN" dirty="0"/>
              <a:t>if ( p == last ) last = pre;			</a:t>
            </a:r>
          </a:p>
          <a:p>
            <a:pPr marL="0" indent="0">
              <a:buNone/>
            </a:pPr>
            <a:r>
              <a:rPr lang="en-US" altLang="zh-CN" dirty="0"/>
              <a:t>            //</a:t>
            </a:r>
            <a:r>
              <a:rPr lang="zh-CN" altLang="en-US" dirty="0"/>
              <a:t>删去链尾结点时改链尾指针</a:t>
            </a:r>
          </a:p>
          <a:p>
            <a:pPr marL="0" indent="0">
              <a:buNone/>
            </a:pPr>
            <a:r>
              <a:rPr lang="zh-CN" altLang="en-US" dirty="0"/>
              <a:t>        </a:t>
            </a:r>
            <a:r>
              <a:rPr lang="en-US" altLang="zh-CN" dirty="0"/>
              <a:t>delete p;  return true;	//</a:t>
            </a:r>
            <a:r>
              <a:rPr lang="zh-CN" altLang="en-US" dirty="0"/>
              <a:t>删除含</a:t>
            </a:r>
            <a:r>
              <a:rPr lang="en-US" altLang="zh-CN" dirty="0"/>
              <a:t>x</a:t>
            </a:r>
            <a:r>
              <a:rPr lang="zh-CN" altLang="en-US" dirty="0"/>
              <a:t>结点</a:t>
            </a:r>
          </a:p>
          <a:p>
            <a:pPr marL="0" indent="0">
              <a:buNone/>
            </a:pPr>
            <a:r>
              <a:rPr lang="zh-CN" altLang="en-US" dirty="0"/>
              <a:t>    </a:t>
            </a:r>
            <a:r>
              <a:rPr lang="en-US" altLang="zh-CN" dirty="0"/>
              <a:t>}</a:t>
            </a:r>
          </a:p>
          <a:p>
            <a:pPr marL="0" indent="0">
              <a:buNone/>
            </a:pPr>
            <a:r>
              <a:rPr lang="en-US" altLang="zh-CN" dirty="0"/>
              <a:t>    else return false; 		//</a:t>
            </a:r>
            <a:r>
              <a:rPr lang="zh-CN" altLang="en-US" dirty="0"/>
              <a:t>集合中无此元素</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3B667A63-53A9-1C1F-364E-15BE29491F3D}"/>
              </a:ext>
            </a:extLst>
          </p:cNvPr>
          <p:cNvSpPr>
            <a:spLocks noGrp="1"/>
          </p:cNvSpPr>
          <p:nvPr>
            <p:ph type="sldNum" sz="quarter" idx="12"/>
          </p:nvPr>
        </p:nvSpPr>
        <p:spPr/>
        <p:txBody>
          <a:bodyPr/>
          <a:lstStyle/>
          <a:p>
            <a:pPr>
              <a:defRPr/>
            </a:pPr>
            <a:fld id="{524B865F-46F8-4520-B0DD-31ED36EF62D9}" type="slidenum">
              <a:rPr lang="en-US" altLang="zh-CN" smtClean="0"/>
              <a:pPr>
                <a:defRPr/>
              </a:pPr>
              <a:t>24</a:t>
            </a:fld>
            <a:endParaRPr lang="en-US" altLang="zh-CN"/>
          </a:p>
        </p:txBody>
      </p:sp>
    </p:spTree>
  </p:cSld>
  <p:clrMapOvr>
    <a:masterClrMapping/>
  </p:clrMapOvr>
  <p:transition>
    <p:spli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6015933-4C1A-49C0-9B65-398F339BFF81}"/>
              </a:ext>
            </a:extLst>
          </p:cNvPr>
          <p:cNvGrpSpPr/>
          <p:nvPr/>
        </p:nvGrpSpPr>
        <p:grpSpPr>
          <a:xfrm>
            <a:off x="628650" y="3119203"/>
            <a:ext cx="7696200" cy="3400425"/>
            <a:chOff x="533400" y="1309688"/>
            <a:chExt cx="7696200" cy="3400425"/>
          </a:xfrm>
        </p:grpSpPr>
        <p:sp>
          <p:nvSpPr>
            <p:cNvPr id="33795" name="Rectangle 3">
              <a:extLst>
                <a:ext uri="{FF2B5EF4-FFF2-40B4-BE49-F238E27FC236}">
                  <a16:creationId xmlns:a16="http://schemas.microsoft.com/office/drawing/2014/main" id="{CF2FF9F5-7308-58ED-7954-861C170296EC}"/>
                </a:ext>
              </a:extLst>
            </p:cNvPr>
            <p:cNvSpPr>
              <a:spLocks noChangeArrowheads="1"/>
            </p:cNvSpPr>
            <p:nvPr/>
          </p:nvSpPr>
          <p:spPr bwMode="auto">
            <a:xfrm>
              <a:off x="2590800" y="2071688"/>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796" name="Line 4">
              <a:extLst>
                <a:ext uri="{FF2B5EF4-FFF2-40B4-BE49-F238E27FC236}">
                  <a16:creationId xmlns:a16="http://schemas.microsoft.com/office/drawing/2014/main" id="{18AA0260-FBAC-4304-B8E6-7E0736DECCCC}"/>
                </a:ext>
              </a:extLst>
            </p:cNvPr>
            <p:cNvSpPr>
              <a:spLocks noChangeShapeType="1"/>
            </p:cNvSpPr>
            <p:nvPr/>
          </p:nvSpPr>
          <p:spPr bwMode="auto">
            <a:xfrm>
              <a:off x="3048000" y="2071688"/>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797" name="Line 5">
              <a:extLst>
                <a:ext uri="{FF2B5EF4-FFF2-40B4-BE49-F238E27FC236}">
                  <a16:creationId xmlns:a16="http://schemas.microsoft.com/office/drawing/2014/main" id="{5AF67CAE-41C3-A3EE-BBC2-940ADB7F004C}"/>
                </a:ext>
              </a:extLst>
            </p:cNvPr>
            <p:cNvSpPr>
              <a:spLocks noChangeShapeType="1"/>
            </p:cNvSpPr>
            <p:nvPr/>
          </p:nvSpPr>
          <p:spPr bwMode="auto">
            <a:xfrm>
              <a:off x="2209800" y="2300288"/>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798" name="Text Box 6">
              <a:extLst>
                <a:ext uri="{FF2B5EF4-FFF2-40B4-BE49-F238E27FC236}">
                  <a16:creationId xmlns:a16="http://schemas.microsoft.com/office/drawing/2014/main" id="{B26ACEB4-CA2D-C1B1-155E-19A33F637A8D}"/>
                </a:ext>
              </a:extLst>
            </p:cNvPr>
            <p:cNvSpPr txBox="1">
              <a:spLocks noChangeArrowheads="1"/>
            </p:cNvSpPr>
            <p:nvPr/>
          </p:nvSpPr>
          <p:spPr bwMode="auto">
            <a:xfrm>
              <a:off x="1447800" y="2009775"/>
              <a:ext cx="815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CC0000"/>
                  </a:solidFill>
                  <a:latin typeface="Times New Roman" panose="02020603050405020304" pitchFamily="18" charset="0"/>
                  <a:ea typeface="宋体" panose="02010600030101010101" pitchFamily="2" charset="-122"/>
                </a:rPr>
                <a:t>first</a:t>
              </a:r>
              <a:endParaRPr kumimoji="1" lang="en-US" altLang="zh-CN" sz="2400">
                <a:solidFill>
                  <a:srgbClr val="CC0000"/>
                </a:solidFill>
                <a:latin typeface="Times New Roman" panose="02020603050405020304" pitchFamily="18" charset="0"/>
                <a:ea typeface="宋体" panose="02010600030101010101" pitchFamily="2" charset="-122"/>
              </a:endParaRPr>
            </a:p>
          </p:txBody>
        </p:sp>
        <p:sp>
          <p:nvSpPr>
            <p:cNvPr id="33799" name="Rectangle 7">
              <a:extLst>
                <a:ext uri="{FF2B5EF4-FFF2-40B4-BE49-F238E27FC236}">
                  <a16:creationId xmlns:a16="http://schemas.microsoft.com/office/drawing/2014/main" id="{5CA4EB08-8FF5-7C9F-01E7-C30295DBB357}"/>
                </a:ext>
              </a:extLst>
            </p:cNvPr>
            <p:cNvSpPr>
              <a:spLocks noChangeArrowheads="1"/>
            </p:cNvSpPr>
            <p:nvPr/>
          </p:nvSpPr>
          <p:spPr bwMode="auto">
            <a:xfrm>
              <a:off x="2590800" y="2757488"/>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00" name="Line 8">
              <a:extLst>
                <a:ext uri="{FF2B5EF4-FFF2-40B4-BE49-F238E27FC236}">
                  <a16:creationId xmlns:a16="http://schemas.microsoft.com/office/drawing/2014/main" id="{7CFC43BA-C334-DD87-662C-7638E43C02C2}"/>
                </a:ext>
              </a:extLst>
            </p:cNvPr>
            <p:cNvSpPr>
              <a:spLocks noChangeShapeType="1"/>
            </p:cNvSpPr>
            <p:nvPr/>
          </p:nvSpPr>
          <p:spPr bwMode="auto">
            <a:xfrm>
              <a:off x="3048000" y="2757488"/>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1" name="Text Box 9">
              <a:extLst>
                <a:ext uri="{FF2B5EF4-FFF2-40B4-BE49-F238E27FC236}">
                  <a16:creationId xmlns:a16="http://schemas.microsoft.com/office/drawing/2014/main" id="{E68E65BB-4AB2-A559-A416-2E2B126898D7}"/>
                </a:ext>
              </a:extLst>
            </p:cNvPr>
            <p:cNvSpPr txBox="1">
              <a:spLocks noChangeArrowheads="1"/>
            </p:cNvSpPr>
            <p:nvPr/>
          </p:nvSpPr>
          <p:spPr bwMode="auto">
            <a:xfrm>
              <a:off x="554038" y="2714625"/>
              <a:ext cx="16557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CC0000"/>
                  </a:solidFill>
                  <a:latin typeface="Times New Roman" panose="02020603050405020304" pitchFamily="18" charset="0"/>
                  <a:ea typeface="宋体" panose="02010600030101010101" pitchFamily="2" charset="-122"/>
                </a:rPr>
                <a:t>right.first</a:t>
              </a:r>
              <a:endParaRPr kumimoji="1" lang="en-US" altLang="zh-CN" sz="2400">
                <a:solidFill>
                  <a:srgbClr val="CC0000"/>
                </a:solidFill>
                <a:latin typeface="Times New Roman" panose="02020603050405020304" pitchFamily="18" charset="0"/>
                <a:ea typeface="宋体" panose="02010600030101010101" pitchFamily="2" charset="-122"/>
              </a:endParaRPr>
            </a:p>
          </p:txBody>
        </p:sp>
        <p:sp>
          <p:nvSpPr>
            <p:cNvPr id="33802" name="Rectangle 10">
              <a:extLst>
                <a:ext uri="{FF2B5EF4-FFF2-40B4-BE49-F238E27FC236}">
                  <a16:creationId xmlns:a16="http://schemas.microsoft.com/office/drawing/2014/main" id="{8E37A921-5C6E-7837-5F01-F25B659FCF28}"/>
                </a:ext>
              </a:extLst>
            </p:cNvPr>
            <p:cNvSpPr>
              <a:spLocks noChangeArrowheads="1"/>
            </p:cNvSpPr>
            <p:nvPr/>
          </p:nvSpPr>
          <p:spPr bwMode="auto">
            <a:xfrm>
              <a:off x="3581400" y="2757488"/>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03" name="Line 11">
              <a:extLst>
                <a:ext uri="{FF2B5EF4-FFF2-40B4-BE49-F238E27FC236}">
                  <a16:creationId xmlns:a16="http://schemas.microsoft.com/office/drawing/2014/main" id="{C156752C-E60C-F424-440A-B8E7861C9C22}"/>
                </a:ext>
              </a:extLst>
            </p:cNvPr>
            <p:cNvSpPr>
              <a:spLocks noChangeShapeType="1"/>
            </p:cNvSpPr>
            <p:nvPr/>
          </p:nvSpPr>
          <p:spPr bwMode="auto">
            <a:xfrm>
              <a:off x="4038600" y="2757488"/>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4" name="Line 12">
              <a:extLst>
                <a:ext uri="{FF2B5EF4-FFF2-40B4-BE49-F238E27FC236}">
                  <a16:creationId xmlns:a16="http://schemas.microsoft.com/office/drawing/2014/main" id="{B41E5214-ECAD-D350-4FBB-8C294C23F990}"/>
                </a:ext>
              </a:extLst>
            </p:cNvPr>
            <p:cNvSpPr>
              <a:spLocks noChangeShapeType="1"/>
            </p:cNvSpPr>
            <p:nvPr/>
          </p:nvSpPr>
          <p:spPr bwMode="auto">
            <a:xfrm>
              <a:off x="3200400" y="2986088"/>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5" name="Rectangle 13">
              <a:extLst>
                <a:ext uri="{FF2B5EF4-FFF2-40B4-BE49-F238E27FC236}">
                  <a16:creationId xmlns:a16="http://schemas.microsoft.com/office/drawing/2014/main" id="{B28B6E5F-EF9C-B4A0-1EB2-21034E1C1A71}"/>
                </a:ext>
              </a:extLst>
            </p:cNvPr>
            <p:cNvSpPr>
              <a:spLocks noChangeArrowheads="1"/>
            </p:cNvSpPr>
            <p:nvPr/>
          </p:nvSpPr>
          <p:spPr bwMode="auto">
            <a:xfrm>
              <a:off x="4572000" y="2757488"/>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06" name="Line 14">
              <a:extLst>
                <a:ext uri="{FF2B5EF4-FFF2-40B4-BE49-F238E27FC236}">
                  <a16:creationId xmlns:a16="http://schemas.microsoft.com/office/drawing/2014/main" id="{2005373A-57EE-DCA7-585E-D603CDB61C9C}"/>
                </a:ext>
              </a:extLst>
            </p:cNvPr>
            <p:cNvSpPr>
              <a:spLocks noChangeShapeType="1"/>
            </p:cNvSpPr>
            <p:nvPr/>
          </p:nvSpPr>
          <p:spPr bwMode="auto">
            <a:xfrm>
              <a:off x="5029200" y="2757488"/>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7" name="Line 15">
              <a:extLst>
                <a:ext uri="{FF2B5EF4-FFF2-40B4-BE49-F238E27FC236}">
                  <a16:creationId xmlns:a16="http://schemas.microsoft.com/office/drawing/2014/main" id="{067F6859-71E5-B3DA-6D2C-CE83BED2E6D5}"/>
                </a:ext>
              </a:extLst>
            </p:cNvPr>
            <p:cNvSpPr>
              <a:spLocks noChangeShapeType="1"/>
            </p:cNvSpPr>
            <p:nvPr/>
          </p:nvSpPr>
          <p:spPr bwMode="auto">
            <a:xfrm>
              <a:off x="4191000" y="2986088"/>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08" name="Rectangle 16">
              <a:extLst>
                <a:ext uri="{FF2B5EF4-FFF2-40B4-BE49-F238E27FC236}">
                  <a16:creationId xmlns:a16="http://schemas.microsoft.com/office/drawing/2014/main" id="{5441F6D4-30A7-1E96-9BA6-0F796A4255CD}"/>
                </a:ext>
              </a:extLst>
            </p:cNvPr>
            <p:cNvSpPr>
              <a:spLocks noChangeArrowheads="1"/>
            </p:cNvSpPr>
            <p:nvPr/>
          </p:nvSpPr>
          <p:spPr bwMode="auto">
            <a:xfrm>
              <a:off x="5562600" y="2757488"/>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09" name="Line 17">
              <a:extLst>
                <a:ext uri="{FF2B5EF4-FFF2-40B4-BE49-F238E27FC236}">
                  <a16:creationId xmlns:a16="http://schemas.microsoft.com/office/drawing/2014/main" id="{150C1011-12CF-B270-3AA7-7E90BE1D78F9}"/>
                </a:ext>
              </a:extLst>
            </p:cNvPr>
            <p:cNvSpPr>
              <a:spLocks noChangeShapeType="1"/>
            </p:cNvSpPr>
            <p:nvPr/>
          </p:nvSpPr>
          <p:spPr bwMode="auto">
            <a:xfrm>
              <a:off x="6019800" y="2757488"/>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10" name="Line 18">
              <a:extLst>
                <a:ext uri="{FF2B5EF4-FFF2-40B4-BE49-F238E27FC236}">
                  <a16:creationId xmlns:a16="http://schemas.microsoft.com/office/drawing/2014/main" id="{3CE3434B-4C9F-573F-CDBE-22A58F3E9802}"/>
                </a:ext>
              </a:extLst>
            </p:cNvPr>
            <p:cNvSpPr>
              <a:spLocks noChangeShapeType="1"/>
            </p:cNvSpPr>
            <p:nvPr/>
          </p:nvSpPr>
          <p:spPr bwMode="auto">
            <a:xfrm>
              <a:off x="5181600" y="2986088"/>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11" name="Rectangle 19">
              <a:extLst>
                <a:ext uri="{FF2B5EF4-FFF2-40B4-BE49-F238E27FC236}">
                  <a16:creationId xmlns:a16="http://schemas.microsoft.com/office/drawing/2014/main" id="{2C8BB75B-A148-D361-4A31-DE26251B52AA}"/>
                </a:ext>
              </a:extLst>
            </p:cNvPr>
            <p:cNvSpPr>
              <a:spLocks noChangeArrowheads="1"/>
            </p:cNvSpPr>
            <p:nvPr/>
          </p:nvSpPr>
          <p:spPr bwMode="auto">
            <a:xfrm>
              <a:off x="6553200" y="2757488"/>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12" name="Line 20">
              <a:extLst>
                <a:ext uri="{FF2B5EF4-FFF2-40B4-BE49-F238E27FC236}">
                  <a16:creationId xmlns:a16="http://schemas.microsoft.com/office/drawing/2014/main" id="{078319F6-5645-50B8-E5A0-99CCED5B21CA}"/>
                </a:ext>
              </a:extLst>
            </p:cNvPr>
            <p:cNvSpPr>
              <a:spLocks noChangeShapeType="1"/>
            </p:cNvSpPr>
            <p:nvPr/>
          </p:nvSpPr>
          <p:spPr bwMode="auto">
            <a:xfrm>
              <a:off x="7010400" y="2757488"/>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13" name="Line 21">
              <a:extLst>
                <a:ext uri="{FF2B5EF4-FFF2-40B4-BE49-F238E27FC236}">
                  <a16:creationId xmlns:a16="http://schemas.microsoft.com/office/drawing/2014/main" id="{28B06F76-F3D9-21DE-1F47-A590528A83A4}"/>
                </a:ext>
              </a:extLst>
            </p:cNvPr>
            <p:cNvSpPr>
              <a:spLocks noChangeShapeType="1"/>
            </p:cNvSpPr>
            <p:nvPr/>
          </p:nvSpPr>
          <p:spPr bwMode="auto">
            <a:xfrm>
              <a:off x="6172200" y="2986088"/>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14" name="Text Box 22">
              <a:extLst>
                <a:ext uri="{FF2B5EF4-FFF2-40B4-BE49-F238E27FC236}">
                  <a16:creationId xmlns:a16="http://schemas.microsoft.com/office/drawing/2014/main" id="{EA4CF985-F955-5289-4B0E-02ED74C4AB1D}"/>
                </a:ext>
              </a:extLst>
            </p:cNvPr>
            <p:cNvSpPr txBox="1">
              <a:spLocks noChangeArrowheads="1"/>
            </p:cNvSpPr>
            <p:nvPr/>
          </p:nvSpPr>
          <p:spPr bwMode="auto">
            <a:xfrm>
              <a:off x="3581400" y="27432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08</a:t>
              </a:r>
              <a:endParaRPr kumimoji="1" lang="en-US" altLang="zh-CN" sz="2400">
                <a:latin typeface="Times New Roman" panose="02020603050405020304" pitchFamily="18" charset="0"/>
                <a:ea typeface="宋体" panose="02010600030101010101" pitchFamily="2" charset="-122"/>
              </a:endParaRPr>
            </a:p>
          </p:txBody>
        </p:sp>
        <p:sp>
          <p:nvSpPr>
            <p:cNvPr id="33815" name="Text Box 23">
              <a:extLst>
                <a:ext uri="{FF2B5EF4-FFF2-40B4-BE49-F238E27FC236}">
                  <a16:creationId xmlns:a16="http://schemas.microsoft.com/office/drawing/2014/main" id="{CFB898A0-C582-8347-EE68-9174747281E2}"/>
                </a:ext>
              </a:extLst>
            </p:cNvPr>
            <p:cNvSpPr txBox="1">
              <a:spLocks noChangeArrowheads="1"/>
            </p:cNvSpPr>
            <p:nvPr/>
          </p:nvSpPr>
          <p:spPr bwMode="auto">
            <a:xfrm>
              <a:off x="4597400" y="2757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33816" name="Text Box 24">
              <a:extLst>
                <a:ext uri="{FF2B5EF4-FFF2-40B4-BE49-F238E27FC236}">
                  <a16:creationId xmlns:a16="http://schemas.microsoft.com/office/drawing/2014/main" id="{5ECC251F-1D3A-32D8-63F9-D356138938A4}"/>
                </a:ext>
              </a:extLst>
            </p:cNvPr>
            <p:cNvSpPr txBox="1">
              <a:spLocks noChangeArrowheads="1"/>
            </p:cNvSpPr>
            <p:nvPr/>
          </p:nvSpPr>
          <p:spPr bwMode="auto">
            <a:xfrm>
              <a:off x="5562600" y="2757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33817" name="Text Box 25">
              <a:extLst>
                <a:ext uri="{FF2B5EF4-FFF2-40B4-BE49-F238E27FC236}">
                  <a16:creationId xmlns:a16="http://schemas.microsoft.com/office/drawing/2014/main" id="{A750F50E-DC93-5CFF-607A-E840BDBBCE3D}"/>
                </a:ext>
              </a:extLst>
            </p:cNvPr>
            <p:cNvSpPr txBox="1">
              <a:spLocks noChangeArrowheads="1"/>
            </p:cNvSpPr>
            <p:nvPr/>
          </p:nvSpPr>
          <p:spPr bwMode="auto">
            <a:xfrm>
              <a:off x="6553200" y="27574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49</a:t>
              </a:r>
              <a:endParaRPr kumimoji="1" lang="en-US" altLang="zh-CN" sz="2400">
                <a:latin typeface="Times New Roman" panose="02020603050405020304" pitchFamily="18" charset="0"/>
                <a:ea typeface="宋体" panose="02010600030101010101" pitchFamily="2" charset="-122"/>
              </a:endParaRPr>
            </a:p>
          </p:txBody>
        </p:sp>
        <p:sp>
          <p:nvSpPr>
            <p:cNvPr id="33818" name="Rectangle 26">
              <a:extLst>
                <a:ext uri="{FF2B5EF4-FFF2-40B4-BE49-F238E27FC236}">
                  <a16:creationId xmlns:a16="http://schemas.microsoft.com/office/drawing/2014/main" id="{595976E1-DA47-7B1A-0CB8-23EE1C022D63}"/>
                </a:ext>
              </a:extLst>
            </p:cNvPr>
            <p:cNvSpPr>
              <a:spLocks noChangeArrowheads="1"/>
            </p:cNvSpPr>
            <p:nvPr/>
          </p:nvSpPr>
          <p:spPr bwMode="auto">
            <a:xfrm>
              <a:off x="2590800" y="4205288"/>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19" name="Line 27">
              <a:extLst>
                <a:ext uri="{FF2B5EF4-FFF2-40B4-BE49-F238E27FC236}">
                  <a16:creationId xmlns:a16="http://schemas.microsoft.com/office/drawing/2014/main" id="{91BB0314-0A04-5058-5CBA-B03482656D96}"/>
                </a:ext>
              </a:extLst>
            </p:cNvPr>
            <p:cNvSpPr>
              <a:spLocks noChangeShapeType="1"/>
            </p:cNvSpPr>
            <p:nvPr/>
          </p:nvSpPr>
          <p:spPr bwMode="auto">
            <a:xfrm>
              <a:off x="3048000" y="4205288"/>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0" name="Line 28">
              <a:extLst>
                <a:ext uri="{FF2B5EF4-FFF2-40B4-BE49-F238E27FC236}">
                  <a16:creationId xmlns:a16="http://schemas.microsoft.com/office/drawing/2014/main" id="{F0016989-FC52-02D7-1772-5111FDA645D8}"/>
                </a:ext>
              </a:extLst>
            </p:cNvPr>
            <p:cNvSpPr>
              <a:spLocks noChangeShapeType="1"/>
            </p:cNvSpPr>
            <p:nvPr/>
          </p:nvSpPr>
          <p:spPr bwMode="auto">
            <a:xfrm>
              <a:off x="2209800" y="4433888"/>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1" name="Text Box 29">
              <a:extLst>
                <a:ext uri="{FF2B5EF4-FFF2-40B4-BE49-F238E27FC236}">
                  <a16:creationId xmlns:a16="http://schemas.microsoft.com/office/drawing/2014/main" id="{438237FD-510F-9242-52CB-589077A35A13}"/>
                </a:ext>
              </a:extLst>
            </p:cNvPr>
            <p:cNvSpPr txBox="1">
              <a:spLocks noChangeArrowheads="1"/>
            </p:cNvSpPr>
            <p:nvPr/>
          </p:nvSpPr>
          <p:spPr bwMode="auto">
            <a:xfrm>
              <a:off x="533400" y="4129088"/>
              <a:ext cx="1676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CC0000"/>
                  </a:solidFill>
                  <a:latin typeface="Times New Roman" panose="02020603050405020304" pitchFamily="18" charset="0"/>
                  <a:ea typeface="宋体" panose="02010600030101010101" pitchFamily="2" charset="-122"/>
                </a:rPr>
                <a:t>temp.first</a:t>
              </a:r>
              <a:endParaRPr kumimoji="1" lang="en-US" altLang="zh-CN" sz="2400">
                <a:solidFill>
                  <a:srgbClr val="CC0000"/>
                </a:solidFill>
                <a:latin typeface="Times New Roman" panose="02020603050405020304" pitchFamily="18" charset="0"/>
                <a:ea typeface="宋体" panose="02010600030101010101" pitchFamily="2" charset="-122"/>
              </a:endParaRPr>
            </a:p>
          </p:txBody>
        </p:sp>
        <p:sp>
          <p:nvSpPr>
            <p:cNvPr id="33822" name="Rectangle 30">
              <a:extLst>
                <a:ext uri="{FF2B5EF4-FFF2-40B4-BE49-F238E27FC236}">
                  <a16:creationId xmlns:a16="http://schemas.microsoft.com/office/drawing/2014/main" id="{62F387C1-2A20-7701-AA26-B4B08C3E47A1}"/>
                </a:ext>
              </a:extLst>
            </p:cNvPr>
            <p:cNvSpPr>
              <a:spLocks noChangeArrowheads="1"/>
            </p:cNvSpPr>
            <p:nvPr/>
          </p:nvSpPr>
          <p:spPr bwMode="auto">
            <a:xfrm>
              <a:off x="7543800" y="41910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23" name="Line 31">
              <a:extLst>
                <a:ext uri="{FF2B5EF4-FFF2-40B4-BE49-F238E27FC236}">
                  <a16:creationId xmlns:a16="http://schemas.microsoft.com/office/drawing/2014/main" id="{97701405-4CC2-E5A2-4A13-B26DBCB34C5C}"/>
                </a:ext>
              </a:extLst>
            </p:cNvPr>
            <p:cNvSpPr>
              <a:spLocks noChangeShapeType="1"/>
            </p:cNvSpPr>
            <p:nvPr/>
          </p:nvSpPr>
          <p:spPr bwMode="auto">
            <a:xfrm>
              <a:off x="8001000" y="41910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4" name="Line 32">
              <a:extLst>
                <a:ext uri="{FF2B5EF4-FFF2-40B4-BE49-F238E27FC236}">
                  <a16:creationId xmlns:a16="http://schemas.microsoft.com/office/drawing/2014/main" id="{AB635677-AAE7-5A1B-8220-87AC03F6B12F}"/>
                </a:ext>
              </a:extLst>
            </p:cNvPr>
            <p:cNvSpPr>
              <a:spLocks noChangeShapeType="1"/>
            </p:cNvSpPr>
            <p:nvPr/>
          </p:nvSpPr>
          <p:spPr bwMode="auto">
            <a:xfrm>
              <a:off x="7162800" y="44196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5" name="Text Box 33">
              <a:extLst>
                <a:ext uri="{FF2B5EF4-FFF2-40B4-BE49-F238E27FC236}">
                  <a16:creationId xmlns:a16="http://schemas.microsoft.com/office/drawing/2014/main" id="{9BA7DAE0-4870-271C-9DE7-77B8E0288186}"/>
                </a:ext>
              </a:extLst>
            </p:cNvPr>
            <p:cNvSpPr txBox="1">
              <a:spLocks noChangeArrowheads="1"/>
            </p:cNvSpPr>
            <p:nvPr/>
          </p:nvSpPr>
          <p:spPr bwMode="auto">
            <a:xfrm>
              <a:off x="6553200" y="41910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33826" name="Rectangle 34">
              <a:extLst>
                <a:ext uri="{FF2B5EF4-FFF2-40B4-BE49-F238E27FC236}">
                  <a16:creationId xmlns:a16="http://schemas.microsoft.com/office/drawing/2014/main" id="{835D3E1E-767F-AB84-C16E-4849A035A843}"/>
                </a:ext>
              </a:extLst>
            </p:cNvPr>
            <p:cNvSpPr>
              <a:spLocks noChangeArrowheads="1"/>
            </p:cNvSpPr>
            <p:nvPr/>
          </p:nvSpPr>
          <p:spPr bwMode="auto">
            <a:xfrm>
              <a:off x="3581400" y="2071688"/>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27" name="Line 35">
              <a:extLst>
                <a:ext uri="{FF2B5EF4-FFF2-40B4-BE49-F238E27FC236}">
                  <a16:creationId xmlns:a16="http://schemas.microsoft.com/office/drawing/2014/main" id="{60F0CBBC-10C8-5349-8AFE-0FCA0E89C521}"/>
                </a:ext>
              </a:extLst>
            </p:cNvPr>
            <p:cNvSpPr>
              <a:spLocks noChangeShapeType="1"/>
            </p:cNvSpPr>
            <p:nvPr/>
          </p:nvSpPr>
          <p:spPr bwMode="auto">
            <a:xfrm>
              <a:off x="4038600" y="2071688"/>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8" name="Rectangle 36">
              <a:extLst>
                <a:ext uri="{FF2B5EF4-FFF2-40B4-BE49-F238E27FC236}">
                  <a16:creationId xmlns:a16="http://schemas.microsoft.com/office/drawing/2014/main" id="{7093AF07-BA7E-2F8C-15F4-A98B193D2DB3}"/>
                </a:ext>
              </a:extLst>
            </p:cNvPr>
            <p:cNvSpPr>
              <a:spLocks noChangeArrowheads="1"/>
            </p:cNvSpPr>
            <p:nvPr/>
          </p:nvSpPr>
          <p:spPr bwMode="auto">
            <a:xfrm>
              <a:off x="4572000" y="2071688"/>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29" name="Line 37">
              <a:extLst>
                <a:ext uri="{FF2B5EF4-FFF2-40B4-BE49-F238E27FC236}">
                  <a16:creationId xmlns:a16="http://schemas.microsoft.com/office/drawing/2014/main" id="{FBD8F925-C0B4-BA56-BDF5-E04690520656}"/>
                </a:ext>
              </a:extLst>
            </p:cNvPr>
            <p:cNvSpPr>
              <a:spLocks noChangeShapeType="1"/>
            </p:cNvSpPr>
            <p:nvPr/>
          </p:nvSpPr>
          <p:spPr bwMode="auto">
            <a:xfrm>
              <a:off x="5029200" y="2071688"/>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0" name="Line 38">
              <a:extLst>
                <a:ext uri="{FF2B5EF4-FFF2-40B4-BE49-F238E27FC236}">
                  <a16:creationId xmlns:a16="http://schemas.microsoft.com/office/drawing/2014/main" id="{C17FA8CA-D998-C1F3-ED48-4B78C4B4A457}"/>
                </a:ext>
              </a:extLst>
            </p:cNvPr>
            <p:cNvSpPr>
              <a:spLocks noChangeShapeType="1"/>
            </p:cNvSpPr>
            <p:nvPr/>
          </p:nvSpPr>
          <p:spPr bwMode="auto">
            <a:xfrm>
              <a:off x="4191000" y="2300288"/>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1" name="Text Box 39">
              <a:extLst>
                <a:ext uri="{FF2B5EF4-FFF2-40B4-BE49-F238E27FC236}">
                  <a16:creationId xmlns:a16="http://schemas.microsoft.com/office/drawing/2014/main" id="{93314226-ED01-52FE-8D74-23A82C3F8C8D}"/>
                </a:ext>
              </a:extLst>
            </p:cNvPr>
            <p:cNvSpPr txBox="1">
              <a:spLocks noChangeArrowheads="1"/>
            </p:cNvSpPr>
            <p:nvPr/>
          </p:nvSpPr>
          <p:spPr bwMode="auto">
            <a:xfrm>
              <a:off x="3581400" y="20574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33832" name="Text Box 40">
              <a:extLst>
                <a:ext uri="{FF2B5EF4-FFF2-40B4-BE49-F238E27FC236}">
                  <a16:creationId xmlns:a16="http://schemas.microsoft.com/office/drawing/2014/main" id="{01C8899E-4E07-CFA8-68A4-5106A835156D}"/>
                </a:ext>
              </a:extLst>
            </p:cNvPr>
            <p:cNvSpPr txBox="1">
              <a:spLocks noChangeArrowheads="1"/>
            </p:cNvSpPr>
            <p:nvPr/>
          </p:nvSpPr>
          <p:spPr bwMode="auto">
            <a:xfrm>
              <a:off x="4572000" y="2071688"/>
              <a:ext cx="50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35</a:t>
              </a:r>
              <a:endParaRPr kumimoji="1" lang="en-US" altLang="zh-CN" sz="2400">
                <a:latin typeface="Times New Roman" panose="02020603050405020304" pitchFamily="18" charset="0"/>
                <a:ea typeface="宋体" panose="02010600030101010101" pitchFamily="2" charset="-122"/>
              </a:endParaRPr>
            </a:p>
          </p:txBody>
        </p:sp>
        <p:sp>
          <p:nvSpPr>
            <p:cNvPr id="33833" name="Line 41">
              <a:extLst>
                <a:ext uri="{FF2B5EF4-FFF2-40B4-BE49-F238E27FC236}">
                  <a16:creationId xmlns:a16="http://schemas.microsoft.com/office/drawing/2014/main" id="{D87522E5-D6E9-F71E-970C-A4CFD7D67C69}"/>
                </a:ext>
              </a:extLst>
            </p:cNvPr>
            <p:cNvSpPr>
              <a:spLocks noChangeShapeType="1"/>
            </p:cNvSpPr>
            <p:nvPr/>
          </p:nvSpPr>
          <p:spPr bwMode="auto">
            <a:xfrm>
              <a:off x="3200400" y="22860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4" name="Line 42">
              <a:extLst>
                <a:ext uri="{FF2B5EF4-FFF2-40B4-BE49-F238E27FC236}">
                  <a16:creationId xmlns:a16="http://schemas.microsoft.com/office/drawing/2014/main" id="{17ED1EC8-DDC0-5728-3344-A6762E229D8C}"/>
                </a:ext>
              </a:extLst>
            </p:cNvPr>
            <p:cNvSpPr>
              <a:spLocks noChangeShapeType="1"/>
            </p:cNvSpPr>
            <p:nvPr/>
          </p:nvSpPr>
          <p:spPr bwMode="auto">
            <a:xfrm>
              <a:off x="2209800" y="29718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5" name="Line 43">
              <a:extLst>
                <a:ext uri="{FF2B5EF4-FFF2-40B4-BE49-F238E27FC236}">
                  <a16:creationId xmlns:a16="http://schemas.microsoft.com/office/drawing/2014/main" id="{43E44E30-0566-C228-8A41-C02FFB8F430B}"/>
                </a:ext>
              </a:extLst>
            </p:cNvPr>
            <p:cNvSpPr>
              <a:spLocks noChangeShapeType="1"/>
            </p:cNvSpPr>
            <p:nvPr/>
          </p:nvSpPr>
          <p:spPr bwMode="auto">
            <a:xfrm>
              <a:off x="3810000" y="1676400"/>
              <a:ext cx="0" cy="3810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6" name="Text Box 44">
              <a:extLst>
                <a:ext uri="{FF2B5EF4-FFF2-40B4-BE49-F238E27FC236}">
                  <a16:creationId xmlns:a16="http://schemas.microsoft.com/office/drawing/2014/main" id="{B8524625-7BBB-B3C4-0CEB-4888406C0BAC}"/>
                </a:ext>
              </a:extLst>
            </p:cNvPr>
            <p:cNvSpPr txBox="1">
              <a:spLocks noChangeArrowheads="1"/>
            </p:cNvSpPr>
            <p:nvPr/>
          </p:nvSpPr>
          <p:spPr bwMode="auto">
            <a:xfrm>
              <a:off x="3810000" y="1309688"/>
              <a:ext cx="560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pa</a:t>
              </a:r>
              <a:endParaRPr kumimoji="1" lang="en-US" altLang="zh-CN" sz="2400">
                <a:latin typeface="Times New Roman" panose="02020603050405020304" pitchFamily="18" charset="0"/>
                <a:ea typeface="宋体" panose="02010600030101010101" pitchFamily="2" charset="-122"/>
              </a:endParaRPr>
            </a:p>
          </p:txBody>
        </p:sp>
        <p:sp>
          <p:nvSpPr>
            <p:cNvPr id="33837" name="Line 45">
              <a:extLst>
                <a:ext uri="{FF2B5EF4-FFF2-40B4-BE49-F238E27FC236}">
                  <a16:creationId xmlns:a16="http://schemas.microsoft.com/office/drawing/2014/main" id="{AB6956F3-AB8F-0DB5-2C0A-A391C6292F9E}"/>
                </a:ext>
              </a:extLst>
            </p:cNvPr>
            <p:cNvSpPr>
              <a:spLocks noChangeShapeType="1"/>
            </p:cNvSpPr>
            <p:nvPr/>
          </p:nvSpPr>
          <p:spPr bwMode="auto">
            <a:xfrm flipV="1">
              <a:off x="3810000" y="3200400"/>
              <a:ext cx="0" cy="3810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8" name="Text Box 46">
              <a:extLst>
                <a:ext uri="{FF2B5EF4-FFF2-40B4-BE49-F238E27FC236}">
                  <a16:creationId xmlns:a16="http://schemas.microsoft.com/office/drawing/2014/main" id="{42B0CE38-406B-7C85-3EC8-3A7EC78C4278}"/>
                </a:ext>
              </a:extLst>
            </p:cNvPr>
            <p:cNvSpPr txBox="1">
              <a:spLocks noChangeArrowheads="1"/>
            </p:cNvSpPr>
            <p:nvPr/>
          </p:nvSpPr>
          <p:spPr bwMode="auto">
            <a:xfrm>
              <a:off x="3810000" y="3200400"/>
              <a:ext cx="581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dirty="0">
                  <a:solidFill>
                    <a:srgbClr val="009900"/>
                  </a:solidFill>
                  <a:latin typeface="Times New Roman" panose="02020603050405020304" pitchFamily="18" charset="0"/>
                  <a:ea typeface="宋体" panose="02010600030101010101" pitchFamily="2" charset="-122"/>
                </a:rPr>
                <a:t>pb</a:t>
              </a:r>
              <a:endParaRPr kumimoji="1" lang="en-US" altLang="zh-CN" sz="2400" dirty="0">
                <a:latin typeface="Times New Roman" panose="02020603050405020304" pitchFamily="18" charset="0"/>
                <a:ea typeface="宋体" panose="02010600030101010101" pitchFamily="2" charset="-122"/>
              </a:endParaRPr>
            </a:p>
          </p:txBody>
        </p:sp>
        <p:sp>
          <p:nvSpPr>
            <p:cNvPr id="33839" name="Line 47">
              <a:extLst>
                <a:ext uri="{FF2B5EF4-FFF2-40B4-BE49-F238E27FC236}">
                  <a16:creationId xmlns:a16="http://schemas.microsoft.com/office/drawing/2014/main" id="{98EE9010-B3C7-B800-9E95-7315A8B48833}"/>
                </a:ext>
              </a:extLst>
            </p:cNvPr>
            <p:cNvSpPr>
              <a:spLocks noChangeShapeType="1"/>
            </p:cNvSpPr>
            <p:nvPr/>
          </p:nvSpPr>
          <p:spPr bwMode="auto">
            <a:xfrm>
              <a:off x="2819400" y="3810000"/>
              <a:ext cx="0" cy="381000"/>
            </a:xfrm>
            <a:prstGeom prst="line">
              <a:avLst/>
            </a:prstGeom>
            <a:noFill/>
            <a:ln w="28575">
              <a:solidFill>
                <a:srgbClr val="FF505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40" name="Text Box 48">
              <a:extLst>
                <a:ext uri="{FF2B5EF4-FFF2-40B4-BE49-F238E27FC236}">
                  <a16:creationId xmlns:a16="http://schemas.microsoft.com/office/drawing/2014/main" id="{266ECE88-2487-22AC-9B8E-5C2E589CBFC5}"/>
                </a:ext>
              </a:extLst>
            </p:cNvPr>
            <p:cNvSpPr txBox="1">
              <a:spLocks noChangeArrowheads="1"/>
            </p:cNvSpPr>
            <p:nvPr/>
          </p:nvSpPr>
          <p:spPr bwMode="auto">
            <a:xfrm>
              <a:off x="2819400" y="35052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pc</a:t>
              </a:r>
              <a:endParaRPr kumimoji="1" lang="en-US" altLang="zh-CN" sz="2400">
                <a:latin typeface="Times New Roman" panose="02020603050405020304" pitchFamily="18" charset="0"/>
                <a:ea typeface="宋体" panose="02010600030101010101" pitchFamily="2" charset="-122"/>
              </a:endParaRPr>
            </a:p>
          </p:txBody>
        </p:sp>
        <p:sp>
          <p:nvSpPr>
            <p:cNvPr id="33841" name="Rectangle 49">
              <a:extLst>
                <a:ext uri="{FF2B5EF4-FFF2-40B4-BE49-F238E27FC236}">
                  <a16:creationId xmlns:a16="http://schemas.microsoft.com/office/drawing/2014/main" id="{D2828D78-5905-118D-067B-1EBB318CAB47}"/>
                </a:ext>
              </a:extLst>
            </p:cNvPr>
            <p:cNvSpPr>
              <a:spLocks noChangeArrowheads="1"/>
            </p:cNvSpPr>
            <p:nvPr/>
          </p:nvSpPr>
          <p:spPr bwMode="auto">
            <a:xfrm>
              <a:off x="3581400" y="41910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42" name="Line 50">
              <a:extLst>
                <a:ext uri="{FF2B5EF4-FFF2-40B4-BE49-F238E27FC236}">
                  <a16:creationId xmlns:a16="http://schemas.microsoft.com/office/drawing/2014/main" id="{EA1E3BB6-F23A-6E9D-E2D2-1C3133B22C51}"/>
                </a:ext>
              </a:extLst>
            </p:cNvPr>
            <p:cNvSpPr>
              <a:spLocks noChangeShapeType="1"/>
            </p:cNvSpPr>
            <p:nvPr/>
          </p:nvSpPr>
          <p:spPr bwMode="auto">
            <a:xfrm>
              <a:off x="4038600" y="41910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43" name="Rectangle 51">
              <a:extLst>
                <a:ext uri="{FF2B5EF4-FFF2-40B4-BE49-F238E27FC236}">
                  <a16:creationId xmlns:a16="http://schemas.microsoft.com/office/drawing/2014/main" id="{2E619FA6-3B34-F760-EAA8-EA7B3CA3FAD2}"/>
                </a:ext>
              </a:extLst>
            </p:cNvPr>
            <p:cNvSpPr>
              <a:spLocks noChangeArrowheads="1"/>
            </p:cNvSpPr>
            <p:nvPr/>
          </p:nvSpPr>
          <p:spPr bwMode="auto">
            <a:xfrm>
              <a:off x="4572000" y="41910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44" name="Line 52">
              <a:extLst>
                <a:ext uri="{FF2B5EF4-FFF2-40B4-BE49-F238E27FC236}">
                  <a16:creationId xmlns:a16="http://schemas.microsoft.com/office/drawing/2014/main" id="{01C9BA9E-E8BA-7434-EDD1-C74794BB8B2F}"/>
                </a:ext>
              </a:extLst>
            </p:cNvPr>
            <p:cNvSpPr>
              <a:spLocks noChangeShapeType="1"/>
            </p:cNvSpPr>
            <p:nvPr/>
          </p:nvSpPr>
          <p:spPr bwMode="auto">
            <a:xfrm>
              <a:off x="4191000" y="44196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45" name="Rectangle 53">
              <a:extLst>
                <a:ext uri="{FF2B5EF4-FFF2-40B4-BE49-F238E27FC236}">
                  <a16:creationId xmlns:a16="http://schemas.microsoft.com/office/drawing/2014/main" id="{C8749B7E-3608-ADE7-4084-68DB2E061B36}"/>
                </a:ext>
              </a:extLst>
            </p:cNvPr>
            <p:cNvSpPr>
              <a:spLocks noChangeArrowheads="1"/>
            </p:cNvSpPr>
            <p:nvPr/>
          </p:nvSpPr>
          <p:spPr bwMode="auto">
            <a:xfrm>
              <a:off x="5562600" y="41910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46" name="Line 54">
              <a:extLst>
                <a:ext uri="{FF2B5EF4-FFF2-40B4-BE49-F238E27FC236}">
                  <a16:creationId xmlns:a16="http://schemas.microsoft.com/office/drawing/2014/main" id="{F2A725D0-2B11-2E02-E0E3-757AC2CEC0FC}"/>
                </a:ext>
              </a:extLst>
            </p:cNvPr>
            <p:cNvSpPr>
              <a:spLocks noChangeShapeType="1"/>
            </p:cNvSpPr>
            <p:nvPr/>
          </p:nvSpPr>
          <p:spPr bwMode="auto">
            <a:xfrm>
              <a:off x="6019800" y="41910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47" name="Line 55">
              <a:extLst>
                <a:ext uri="{FF2B5EF4-FFF2-40B4-BE49-F238E27FC236}">
                  <a16:creationId xmlns:a16="http://schemas.microsoft.com/office/drawing/2014/main" id="{906F9CA0-00B5-AA88-B2C2-BF4446392363}"/>
                </a:ext>
              </a:extLst>
            </p:cNvPr>
            <p:cNvSpPr>
              <a:spLocks noChangeShapeType="1"/>
            </p:cNvSpPr>
            <p:nvPr/>
          </p:nvSpPr>
          <p:spPr bwMode="auto">
            <a:xfrm>
              <a:off x="5181600" y="44196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48" name="Rectangle 56">
              <a:extLst>
                <a:ext uri="{FF2B5EF4-FFF2-40B4-BE49-F238E27FC236}">
                  <a16:creationId xmlns:a16="http://schemas.microsoft.com/office/drawing/2014/main" id="{6517885A-4AF5-6EBC-624D-D1E208015FF0}"/>
                </a:ext>
              </a:extLst>
            </p:cNvPr>
            <p:cNvSpPr>
              <a:spLocks noChangeArrowheads="1"/>
            </p:cNvSpPr>
            <p:nvPr/>
          </p:nvSpPr>
          <p:spPr bwMode="auto">
            <a:xfrm>
              <a:off x="6553200" y="4191000"/>
              <a:ext cx="685800" cy="457200"/>
            </a:xfrm>
            <a:prstGeom prst="rect">
              <a:avLst/>
            </a:prstGeom>
            <a:solidFill>
              <a:srgbClr val="FFFFCC"/>
            </a:solidFill>
            <a:ln w="9525">
              <a:solidFill>
                <a:srgbClr val="CC33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33849" name="Line 57">
              <a:extLst>
                <a:ext uri="{FF2B5EF4-FFF2-40B4-BE49-F238E27FC236}">
                  <a16:creationId xmlns:a16="http://schemas.microsoft.com/office/drawing/2014/main" id="{39D426CB-D6E0-057E-EDCD-3B582D6496B3}"/>
                </a:ext>
              </a:extLst>
            </p:cNvPr>
            <p:cNvSpPr>
              <a:spLocks noChangeShapeType="1"/>
            </p:cNvSpPr>
            <p:nvPr/>
          </p:nvSpPr>
          <p:spPr bwMode="auto">
            <a:xfrm>
              <a:off x="7010400" y="41910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0" name="Line 58">
              <a:extLst>
                <a:ext uri="{FF2B5EF4-FFF2-40B4-BE49-F238E27FC236}">
                  <a16:creationId xmlns:a16="http://schemas.microsoft.com/office/drawing/2014/main" id="{834C4695-D09C-8718-2214-F0A20F4B44AB}"/>
                </a:ext>
              </a:extLst>
            </p:cNvPr>
            <p:cNvSpPr>
              <a:spLocks noChangeShapeType="1"/>
            </p:cNvSpPr>
            <p:nvPr/>
          </p:nvSpPr>
          <p:spPr bwMode="auto">
            <a:xfrm>
              <a:off x="6172200" y="44196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1" name="Text Box 59">
              <a:extLst>
                <a:ext uri="{FF2B5EF4-FFF2-40B4-BE49-F238E27FC236}">
                  <a16:creationId xmlns:a16="http://schemas.microsoft.com/office/drawing/2014/main" id="{B64825BA-9270-6932-8BC0-0F2CC3D8EAFB}"/>
                </a:ext>
              </a:extLst>
            </p:cNvPr>
            <p:cNvSpPr txBox="1">
              <a:spLocks noChangeArrowheads="1"/>
            </p:cNvSpPr>
            <p:nvPr/>
          </p:nvSpPr>
          <p:spPr bwMode="auto">
            <a:xfrm>
              <a:off x="3581400" y="41910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08</a:t>
              </a:r>
              <a:endParaRPr kumimoji="1" lang="en-US" altLang="zh-CN" sz="2400">
                <a:latin typeface="Times New Roman" panose="02020603050405020304" pitchFamily="18" charset="0"/>
                <a:ea typeface="宋体" panose="02010600030101010101" pitchFamily="2" charset="-122"/>
              </a:endParaRPr>
            </a:p>
          </p:txBody>
        </p:sp>
        <p:sp>
          <p:nvSpPr>
            <p:cNvPr id="33852" name="Text Box 60">
              <a:extLst>
                <a:ext uri="{FF2B5EF4-FFF2-40B4-BE49-F238E27FC236}">
                  <a16:creationId xmlns:a16="http://schemas.microsoft.com/office/drawing/2014/main" id="{C315FE51-A2D6-D3AE-5CAD-87A589644EE3}"/>
                </a:ext>
              </a:extLst>
            </p:cNvPr>
            <p:cNvSpPr txBox="1">
              <a:spLocks noChangeArrowheads="1"/>
            </p:cNvSpPr>
            <p:nvPr/>
          </p:nvSpPr>
          <p:spPr bwMode="auto">
            <a:xfrm>
              <a:off x="4546600" y="41910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17</a:t>
              </a:r>
              <a:endParaRPr kumimoji="1" lang="en-US" altLang="zh-CN" sz="2400">
                <a:latin typeface="Times New Roman" panose="02020603050405020304" pitchFamily="18" charset="0"/>
                <a:ea typeface="宋体" panose="02010600030101010101" pitchFamily="2" charset="-122"/>
              </a:endParaRPr>
            </a:p>
          </p:txBody>
        </p:sp>
        <p:sp>
          <p:nvSpPr>
            <p:cNvPr id="33853" name="Text Box 61">
              <a:extLst>
                <a:ext uri="{FF2B5EF4-FFF2-40B4-BE49-F238E27FC236}">
                  <a16:creationId xmlns:a16="http://schemas.microsoft.com/office/drawing/2014/main" id="{E446769C-EA37-92B9-1A41-A16B9264ED8E}"/>
                </a:ext>
              </a:extLst>
            </p:cNvPr>
            <p:cNvSpPr txBox="1">
              <a:spLocks noChangeArrowheads="1"/>
            </p:cNvSpPr>
            <p:nvPr/>
          </p:nvSpPr>
          <p:spPr bwMode="auto">
            <a:xfrm>
              <a:off x="5562600" y="41910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23</a:t>
              </a:r>
              <a:endParaRPr kumimoji="1" lang="en-US" altLang="zh-CN" sz="2400">
                <a:latin typeface="Times New Roman" panose="02020603050405020304" pitchFamily="18" charset="0"/>
                <a:ea typeface="宋体" panose="02010600030101010101" pitchFamily="2" charset="-122"/>
              </a:endParaRPr>
            </a:p>
          </p:txBody>
        </p:sp>
        <p:sp>
          <p:nvSpPr>
            <p:cNvPr id="33854" name="Line 62">
              <a:extLst>
                <a:ext uri="{FF2B5EF4-FFF2-40B4-BE49-F238E27FC236}">
                  <a16:creationId xmlns:a16="http://schemas.microsoft.com/office/drawing/2014/main" id="{5951BC78-DB85-E96E-49EA-B42F5E0E142A}"/>
                </a:ext>
              </a:extLst>
            </p:cNvPr>
            <p:cNvSpPr>
              <a:spLocks noChangeShapeType="1"/>
            </p:cNvSpPr>
            <p:nvPr/>
          </p:nvSpPr>
          <p:spPr bwMode="auto">
            <a:xfrm>
              <a:off x="3200400" y="4419600"/>
              <a:ext cx="381000" cy="0"/>
            </a:xfrm>
            <a:prstGeom prst="line">
              <a:avLst/>
            </a:prstGeom>
            <a:noFill/>
            <a:ln w="28575">
              <a:solidFill>
                <a:srgbClr val="CC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5" name="Line 63">
              <a:extLst>
                <a:ext uri="{FF2B5EF4-FFF2-40B4-BE49-F238E27FC236}">
                  <a16:creationId xmlns:a16="http://schemas.microsoft.com/office/drawing/2014/main" id="{E6A09C9C-5026-1C50-7C9B-D8D1647A3BE3}"/>
                </a:ext>
              </a:extLst>
            </p:cNvPr>
            <p:cNvSpPr>
              <a:spLocks noChangeShapeType="1"/>
            </p:cNvSpPr>
            <p:nvPr/>
          </p:nvSpPr>
          <p:spPr bwMode="auto">
            <a:xfrm>
              <a:off x="5029200" y="4191000"/>
              <a:ext cx="0" cy="4572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6" name="Text Box 64">
              <a:extLst>
                <a:ext uri="{FF2B5EF4-FFF2-40B4-BE49-F238E27FC236}">
                  <a16:creationId xmlns:a16="http://schemas.microsoft.com/office/drawing/2014/main" id="{8ACBED85-FBD1-C273-3C94-CD6B55A0957F}"/>
                </a:ext>
              </a:extLst>
            </p:cNvPr>
            <p:cNvSpPr txBox="1">
              <a:spLocks noChangeArrowheads="1"/>
            </p:cNvSpPr>
            <p:nvPr/>
          </p:nvSpPr>
          <p:spPr bwMode="auto">
            <a:xfrm>
              <a:off x="6553200" y="41910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35</a:t>
              </a:r>
              <a:endParaRPr kumimoji="1" lang="en-US" altLang="zh-CN" sz="2400">
                <a:latin typeface="Times New Roman" panose="02020603050405020304" pitchFamily="18" charset="0"/>
                <a:ea typeface="宋体" panose="02010600030101010101" pitchFamily="2" charset="-122"/>
              </a:endParaRPr>
            </a:p>
          </p:txBody>
        </p:sp>
        <p:sp>
          <p:nvSpPr>
            <p:cNvPr id="33857" name="Text Box 65">
              <a:extLst>
                <a:ext uri="{FF2B5EF4-FFF2-40B4-BE49-F238E27FC236}">
                  <a16:creationId xmlns:a16="http://schemas.microsoft.com/office/drawing/2014/main" id="{6F6E6E03-C341-3407-1F33-EFB3E951F8A7}"/>
                </a:ext>
              </a:extLst>
            </p:cNvPr>
            <p:cNvSpPr txBox="1">
              <a:spLocks noChangeArrowheads="1"/>
            </p:cNvSpPr>
            <p:nvPr/>
          </p:nvSpPr>
          <p:spPr bwMode="auto">
            <a:xfrm>
              <a:off x="7543800" y="4191000"/>
              <a:ext cx="50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Arial Narrow" panose="020B0606020202030204" pitchFamily="34" charset="0"/>
                  <a:ea typeface="宋体" panose="02010600030101010101" pitchFamily="2" charset="-122"/>
                </a:rPr>
                <a:t>49</a:t>
              </a:r>
              <a:endParaRPr kumimoji="1" lang="en-US" altLang="zh-CN" sz="2400">
                <a:latin typeface="Times New Roman" panose="02020603050405020304" pitchFamily="18" charset="0"/>
                <a:ea typeface="宋体" panose="02010600030101010101" pitchFamily="2" charset="-122"/>
              </a:endParaRPr>
            </a:p>
          </p:txBody>
        </p:sp>
      </p:grpSp>
      <p:sp>
        <p:nvSpPr>
          <p:cNvPr id="3" name="标题 2">
            <a:extLst>
              <a:ext uri="{FF2B5EF4-FFF2-40B4-BE49-F238E27FC236}">
                <a16:creationId xmlns:a16="http://schemas.microsoft.com/office/drawing/2014/main" id="{D4BDA8CD-3D8E-44C7-94F0-3A3B6904DE41}"/>
              </a:ext>
            </a:extLst>
          </p:cNvPr>
          <p:cNvSpPr>
            <a:spLocks noGrp="1"/>
          </p:cNvSpPr>
          <p:nvPr>
            <p:ph type="title"/>
          </p:nvPr>
        </p:nvSpPr>
        <p:spPr/>
        <p:txBody>
          <a:bodyPr/>
          <a:lstStyle/>
          <a:p>
            <a:r>
              <a:rPr lang="zh-CN" altLang="en-US" dirty="0"/>
              <a:t>说明</a:t>
            </a:r>
          </a:p>
        </p:txBody>
      </p:sp>
      <p:sp>
        <p:nvSpPr>
          <p:cNvPr id="4" name="内容占位符 3">
            <a:extLst>
              <a:ext uri="{FF2B5EF4-FFF2-40B4-BE49-F238E27FC236}">
                <a16:creationId xmlns:a16="http://schemas.microsoft.com/office/drawing/2014/main" id="{CFDA848B-3319-42CA-B94B-B3021DFFBE5F}"/>
              </a:ext>
            </a:extLst>
          </p:cNvPr>
          <p:cNvSpPr>
            <a:spLocks noGrp="1"/>
          </p:cNvSpPr>
          <p:nvPr>
            <p:ph idx="1"/>
          </p:nvPr>
        </p:nvSpPr>
        <p:spPr>
          <a:xfrm>
            <a:off x="628650" y="1825625"/>
            <a:ext cx="7886700" cy="1723206"/>
          </a:xfrm>
        </p:spPr>
        <p:txBody>
          <a:bodyPr>
            <a:normAutofit lnSpcReduction="10000"/>
          </a:bodyPr>
          <a:lstStyle/>
          <a:p>
            <a:r>
              <a:rPr lang="zh-CN" altLang="en-US" dirty="0"/>
              <a:t>求集合</a:t>
            </a:r>
            <a:r>
              <a:rPr lang="en-US" altLang="zh-CN" dirty="0"/>
              <a:t>this</a:t>
            </a:r>
            <a:r>
              <a:rPr lang="zh-CN" altLang="en-US" dirty="0"/>
              <a:t>与集合</a:t>
            </a:r>
            <a:r>
              <a:rPr lang="en-US" altLang="zh-CN" dirty="0"/>
              <a:t>R</a:t>
            </a:r>
            <a:r>
              <a:rPr lang="zh-CN" altLang="en-US" dirty="0"/>
              <a:t>的并</a:t>
            </a:r>
            <a:r>
              <a:rPr lang="en-US" altLang="zh-CN" dirty="0"/>
              <a:t>, </a:t>
            </a:r>
            <a:r>
              <a:rPr lang="zh-CN" altLang="en-US" dirty="0"/>
              <a:t>结果通过临时集合</a:t>
            </a:r>
            <a:r>
              <a:rPr lang="en-US" altLang="zh-CN" dirty="0"/>
              <a:t>temp</a:t>
            </a:r>
            <a:r>
              <a:rPr lang="zh-CN" altLang="en-US" dirty="0"/>
              <a:t>返回，</a:t>
            </a:r>
            <a:r>
              <a:rPr lang="en-US" altLang="zh-CN" dirty="0"/>
              <a:t>this</a:t>
            </a:r>
            <a:r>
              <a:rPr lang="zh-CN" altLang="en-US" dirty="0"/>
              <a:t>集合与</a:t>
            </a:r>
            <a:r>
              <a:rPr lang="en-US" altLang="zh-CN" dirty="0"/>
              <a:t>R</a:t>
            </a:r>
            <a:r>
              <a:rPr lang="zh-CN" altLang="en-US" dirty="0"/>
              <a:t>集合不变。 </a:t>
            </a:r>
          </a:p>
          <a:p>
            <a:endParaRPr lang="zh-CN" altLang="en-US" dirty="0"/>
          </a:p>
        </p:txBody>
      </p:sp>
      <p:sp>
        <p:nvSpPr>
          <p:cNvPr id="5" name="灯片编号占位符 4">
            <a:extLst>
              <a:ext uri="{FF2B5EF4-FFF2-40B4-BE49-F238E27FC236}">
                <a16:creationId xmlns:a16="http://schemas.microsoft.com/office/drawing/2014/main" id="{8E012A9A-9027-94A2-0BFE-2DA029334F7B}"/>
              </a:ext>
            </a:extLst>
          </p:cNvPr>
          <p:cNvSpPr>
            <a:spLocks noGrp="1"/>
          </p:cNvSpPr>
          <p:nvPr>
            <p:ph type="sldNum" sz="quarter" idx="12"/>
          </p:nvPr>
        </p:nvSpPr>
        <p:spPr/>
        <p:txBody>
          <a:bodyPr/>
          <a:lstStyle/>
          <a:p>
            <a:pPr>
              <a:defRPr/>
            </a:pPr>
            <a:fld id="{524B865F-46F8-4520-B0DD-31ED36EF62D9}" type="slidenum">
              <a:rPr lang="en-US" altLang="zh-CN" smtClean="0"/>
              <a:pPr>
                <a:defRPr/>
              </a:pPr>
              <a:t>25</a:t>
            </a:fld>
            <a:endParaRPr lang="en-US" altLang="zh-CN"/>
          </a:p>
        </p:txBody>
      </p:sp>
    </p:spTree>
  </p:cSld>
  <p:clrMapOvr>
    <a:masterClrMapping/>
  </p:clrMapOvr>
  <p:transition>
    <p:spli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55E7AF9-31E0-9AFF-BAB4-BDC85D50C80D}"/>
              </a:ext>
            </a:extLst>
          </p:cNvPr>
          <p:cNvSpPr>
            <a:spLocks noChangeArrowheads="1"/>
          </p:cNvSpPr>
          <p:nvPr/>
        </p:nvSpPr>
        <p:spPr bwMode="auto">
          <a:xfrm>
            <a:off x="0" y="1404938"/>
            <a:ext cx="2012950" cy="252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lvl="2" eaLnBrk="1" hangingPunct="1">
              <a:lnSpc>
                <a:spcPct val="100000"/>
              </a:lnSpc>
              <a:spcBef>
                <a:spcPct val="0"/>
              </a:spcBef>
              <a:buFontTx/>
              <a:buNone/>
            </a:pPr>
            <a:endParaRPr kumimoji="1" lang="en-US" altLang="zh-CN" sz="3200" b="1">
              <a:solidFill>
                <a:srgbClr val="CC3300"/>
              </a:solidFill>
              <a:latin typeface="Times New Roman" panose="02020603050405020304" pitchFamily="18" charset="0"/>
              <a:ea typeface="宋体" panose="02010600030101010101" pitchFamily="2" charset="-122"/>
            </a:endParaRPr>
          </a:p>
          <a:p>
            <a:pPr lvl="2" eaLnBrk="1" hangingPunct="1">
              <a:lnSpc>
                <a:spcPct val="100000"/>
              </a:lnSpc>
              <a:spcBef>
                <a:spcPct val="0"/>
              </a:spcBef>
              <a:buFontTx/>
              <a:buNone/>
            </a:pPr>
            <a:endParaRPr kumimoji="1" lang="en-US" altLang="zh-CN" sz="3200">
              <a:solidFill>
                <a:srgbClr val="CC3300"/>
              </a:solidFill>
              <a:latin typeface="Times New Roman" panose="02020603050405020304" pitchFamily="18" charset="0"/>
              <a:ea typeface="宋体" panose="02010600030101010101" pitchFamily="2" charset="-122"/>
            </a:endParaRPr>
          </a:p>
          <a:p>
            <a:pPr lvl="1" eaLnBrk="1" hangingPunct="1">
              <a:lnSpc>
                <a:spcPct val="100000"/>
              </a:lnSpc>
              <a:spcBef>
                <a:spcPct val="0"/>
              </a:spcBef>
              <a:buFontTx/>
              <a:buNone/>
            </a:pPr>
            <a:r>
              <a:rPr kumimoji="1" lang="en-US" altLang="zh-CN" sz="3200">
                <a:solidFill>
                  <a:srgbClr val="CC3300"/>
                </a:solidFill>
                <a:latin typeface="Times New Roman" panose="02020603050405020304" pitchFamily="18" charset="0"/>
                <a:ea typeface="宋体" panose="02010600030101010101" pitchFamily="2" charset="-122"/>
              </a:rPr>
              <a:t>    </a:t>
            </a:r>
            <a:endParaRPr kumimoji="1" lang="en-US" altLang="zh-CN" sz="3200" b="1">
              <a:solidFill>
                <a:srgbClr val="CC3300"/>
              </a:solidFill>
              <a:latin typeface="Times New Roman" panose="02020603050405020304" pitchFamily="18" charset="0"/>
              <a:ea typeface="宋体" panose="02010600030101010101" pitchFamily="2" charset="-122"/>
            </a:endParaRPr>
          </a:p>
          <a:p>
            <a:pPr lvl="1" eaLnBrk="1" hangingPunct="1">
              <a:lnSpc>
                <a:spcPct val="100000"/>
              </a:lnSpc>
              <a:spcBef>
                <a:spcPct val="0"/>
              </a:spcBef>
              <a:buFontTx/>
              <a:buNone/>
            </a:pPr>
            <a:r>
              <a:rPr kumimoji="1" lang="en-US" altLang="zh-CN" sz="3200" b="1">
                <a:solidFill>
                  <a:srgbClr val="CC3300"/>
                </a:solidFill>
                <a:latin typeface="Times New Roman" panose="02020603050405020304" pitchFamily="18" charset="0"/>
                <a:ea typeface="宋体" panose="02010600030101010101" pitchFamily="2" charset="-122"/>
              </a:rPr>
              <a:t>       </a:t>
            </a:r>
            <a:endParaRPr kumimoji="1" lang="en-US" altLang="zh-CN" sz="3200">
              <a:solidFill>
                <a:srgbClr val="CC3300"/>
              </a:solidFill>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3200" b="1">
                <a:solidFill>
                  <a:srgbClr val="CC3300"/>
                </a:solidFill>
                <a:latin typeface="Times New Roman" panose="02020603050405020304" pitchFamily="18" charset="0"/>
                <a:ea typeface="宋体" panose="02010600030101010101" pitchFamily="2" charset="-122"/>
              </a:rPr>
              <a:t>	</a:t>
            </a:r>
            <a:r>
              <a:rPr kumimoji="1" lang="en-US" altLang="zh-CN" b="1">
                <a:solidFill>
                  <a:srgbClr val="CC3300"/>
                </a:solidFill>
                <a:latin typeface="Times New Roman" panose="02020603050405020304" pitchFamily="18" charset="0"/>
                <a:ea typeface="宋体" panose="02010600030101010101" pitchFamily="2" charset="-122"/>
              </a:rPr>
              <a:t>	</a:t>
            </a:r>
          </a:p>
        </p:txBody>
      </p:sp>
      <p:sp>
        <p:nvSpPr>
          <p:cNvPr id="3" name="内容占位符 2">
            <a:extLst>
              <a:ext uri="{FF2B5EF4-FFF2-40B4-BE49-F238E27FC236}">
                <a16:creationId xmlns:a16="http://schemas.microsoft.com/office/drawing/2014/main" id="{7A1EA755-27D5-40C4-A3B7-703CF54A882B}"/>
              </a:ext>
            </a:extLst>
          </p:cNvPr>
          <p:cNvSpPr>
            <a:spLocks noGrp="1"/>
          </p:cNvSpPr>
          <p:nvPr>
            <p:ph idx="1"/>
          </p:nvPr>
        </p:nvSpPr>
        <p:spPr>
          <a:xfrm>
            <a:off x="107504" y="116632"/>
            <a:ext cx="8928992" cy="6624736"/>
          </a:xfrm>
        </p:spPr>
        <p:txBody>
          <a:bodyPr>
            <a:normAutofit fontScale="47500" lnSpcReduction="20000"/>
          </a:bodyPr>
          <a:lstStyle/>
          <a:p>
            <a:pPr marL="0" indent="0">
              <a:buNone/>
            </a:pPr>
            <a:r>
              <a:rPr lang="en-US" altLang="zh-CN" dirty="0"/>
              <a:t>template &lt;class T&gt; </a:t>
            </a:r>
            <a:r>
              <a:rPr lang="en-US" altLang="zh-CN" dirty="0" err="1"/>
              <a:t>LinkedSet</a:t>
            </a:r>
            <a:r>
              <a:rPr lang="en-US" altLang="zh-CN" dirty="0"/>
              <a:t>&lt;T&gt; </a:t>
            </a:r>
            <a:r>
              <a:rPr lang="en-US" altLang="zh-CN" dirty="0" err="1"/>
              <a:t>LinkedSet</a:t>
            </a:r>
            <a:r>
              <a:rPr lang="en-US" altLang="zh-CN" dirty="0"/>
              <a:t>&lt;T&gt; :: </a:t>
            </a:r>
          </a:p>
          <a:p>
            <a:pPr marL="0" indent="0">
              <a:buNone/>
            </a:pPr>
            <a:r>
              <a:rPr lang="en-US" altLang="zh-CN" dirty="0"/>
              <a:t>operator + ( </a:t>
            </a:r>
            <a:r>
              <a:rPr lang="en-US" altLang="zh-CN" dirty="0" err="1"/>
              <a:t>LinkedSet</a:t>
            </a:r>
            <a:r>
              <a:rPr lang="en-US" altLang="zh-CN" dirty="0"/>
              <a:t>&lt;T&gt;&amp; R ) {   //</a:t>
            </a:r>
            <a:r>
              <a:rPr lang="zh-CN" altLang="en-US" dirty="0"/>
              <a:t>加法操作符重载函数</a:t>
            </a:r>
            <a:endParaRPr lang="en-US" altLang="zh-CN" dirty="0"/>
          </a:p>
          <a:p>
            <a:pPr marL="0" indent="0">
              <a:buNone/>
            </a:pPr>
            <a:r>
              <a:rPr lang="en-US" altLang="zh-CN" dirty="0"/>
              <a:t>    </a:t>
            </a:r>
            <a:r>
              <a:rPr lang="en-US" altLang="zh-CN" dirty="0" err="1"/>
              <a:t>SetNode</a:t>
            </a:r>
            <a:r>
              <a:rPr lang="en-US" altLang="zh-CN" dirty="0"/>
              <a:t>&lt;T&gt; *pb = </a:t>
            </a:r>
            <a:r>
              <a:rPr lang="en-US" altLang="zh-CN" dirty="0" err="1"/>
              <a:t>R.first</a:t>
            </a:r>
            <a:r>
              <a:rPr lang="en-US" altLang="zh-CN" dirty="0"/>
              <a:t>-&gt;link;            </a:t>
            </a:r>
            <a:r>
              <a:rPr lang="en-US" altLang="zh-CN" dirty="0" err="1"/>
              <a:t>SetNode</a:t>
            </a:r>
            <a:r>
              <a:rPr lang="en-US" altLang="zh-CN" dirty="0"/>
              <a:t>&lt;T&gt; *pa = first-&gt;link;</a:t>
            </a:r>
          </a:p>
          <a:p>
            <a:pPr marL="0" indent="0">
              <a:buNone/>
            </a:pPr>
            <a:r>
              <a:rPr lang="en-US" altLang="zh-CN" dirty="0"/>
              <a:t>    </a:t>
            </a:r>
            <a:r>
              <a:rPr lang="en-US" altLang="zh-CN" dirty="0" err="1"/>
              <a:t>LinkedSet</a:t>
            </a:r>
            <a:r>
              <a:rPr lang="en-US" altLang="zh-CN" dirty="0"/>
              <a:t> &lt;T&gt; temp;                              </a:t>
            </a:r>
            <a:r>
              <a:rPr lang="en-US" altLang="zh-CN" dirty="0" err="1"/>
              <a:t>SetNode</a:t>
            </a:r>
            <a:r>
              <a:rPr lang="en-US" altLang="zh-CN" dirty="0"/>
              <a:t>&lt;T&gt; *p, *pc = </a:t>
            </a:r>
            <a:r>
              <a:rPr lang="en-US" altLang="zh-CN" dirty="0" err="1"/>
              <a:t>temp.first</a:t>
            </a:r>
            <a:r>
              <a:rPr lang="en-US" altLang="zh-CN" dirty="0"/>
              <a:t>;</a:t>
            </a:r>
          </a:p>
          <a:p>
            <a:pPr marL="0" indent="0">
              <a:buNone/>
            </a:pPr>
            <a:r>
              <a:rPr lang="en-US" altLang="zh-CN" dirty="0"/>
              <a:t>    while ( pa != NULL &amp;&amp; pb != NULL ) {</a:t>
            </a:r>
          </a:p>
          <a:p>
            <a:pPr marL="0" indent="0">
              <a:buNone/>
            </a:pPr>
            <a:r>
              <a:rPr lang="en-US" altLang="zh-CN" dirty="0"/>
              <a:t>        if (pa-&gt;data == pb-&gt;data )	{    //</a:t>
            </a:r>
            <a:r>
              <a:rPr lang="zh-CN" altLang="en-US" dirty="0"/>
              <a:t>共有元素</a:t>
            </a:r>
          </a:p>
          <a:p>
            <a:pPr marL="0" indent="0">
              <a:buNone/>
            </a:pPr>
            <a:r>
              <a:rPr lang="zh-CN" altLang="en-US" dirty="0"/>
              <a:t> 	  </a:t>
            </a:r>
            <a:r>
              <a:rPr lang="en-US" altLang="zh-CN" dirty="0"/>
              <a:t>pc-&gt;link=new </a:t>
            </a:r>
            <a:r>
              <a:rPr lang="en-US" altLang="zh-CN" dirty="0" err="1"/>
              <a:t>SetNode</a:t>
            </a:r>
            <a:r>
              <a:rPr lang="en-US" altLang="zh-CN" dirty="0"/>
              <a:t>&lt;T&gt;(pa-&gt;data);    pa = pa-&gt;link;  pb = pb-&gt;link; </a:t>
            </a:r>
          </a:p>
          <a:p>
            <a:pPr marL="0" indent="0">
              <a:buNone/>
            </a:pPr>
            <a:r>
              <a:rPr lang="en-US" altLang="zh-CN" dirty="0"/>
              <a:t>        } else if (pa-&gt;data &lt; pb-&gt;data ) {</a:t>
            </a:r>
          </a:p>
          <a:p>
            <a:pPr marL="0" indent="0">
              <a:buNone/>
            </a:pPr>
            <a:r>
              <a:rPr lang="en-US" altLang="zh-CN" dirty="0"/>
              <a:t>           pc-&gt;link=new </a:t>
            </a:r>
            <a:r>
              <a:rPr lang="en-US" altLang="zh-CN" dirty="0" err="1"/>
              <a:t>SetNode</a:t>
            </a:r>
            <a:r>
              <a:rPr lang="en-US" altLang="zh-CN" dirty="0"/>
              <a:t>&lt;T&gt;(pa-&gt;data);           pa = pa-&gt;link;</a:t>
            </a:r>
          </a:p>
          <a:p>
            <a:pPr marL="0" indent="0">
              <a:buNone/>
            </a:pPr>
            <a:r>
              <a:rPr lang="en-US" altLang="zh-CN" dirty="0"/>
              <a:t>        } else	{           //pa-&gt;data &gt; pb-&gt;data </a:t>
            </a:r>
          </a:p>
          <a:p>
            <a:pPr marL="0" indent="0">
              <a:buNone/>
            </a:pPr>
            <a:r>
              <a:rPr lang="en-US" altLang="zh-CN" dirty="0"/>
              <a:t>           pc-&gt;link=new </a:t>
            </a:r>
            <a:r>
              <a:rPr lang="en-US" altLang="zh-CN" dirty="0" err="1"/>
              <a:t>SetNode</a:t>
            </a:r>
            <a:r>
              <a:rPr lang="en-US" altLang="zh-CN" dirty="0"/>
              <a:t>&lt;T&gt;(pb-&gt;data);           pb = pb-&gt;link; </a:t>
            </a:r>
          </a:p>
          <a:p>
            <a:pPr marL="0" indent="0">
              <a:buNone/>
            </a:pPr>
            <a:r>
              <a:rPr lang="en-US" altLang="zh-CN" dirty="0"/>
              <a:t>        }</a:t>
            </a:r>
          </a:p>
          <a:p>
            <a:pPr marL="0" indent="0">
              <a:buNone/>
            </a:pPr>
            <a:r>
              <a:rPr lang="en-US" altLang="zh-CN" dirty="0"/>
              <a:t>        pc = pc-&gt;link;</a:t>
            </a:r>
          </a:p>
          <a:p>
            <a:pPr marL="0" indent="0">
              <a:buNone/>
            </a:pPr>
            <a:r>
              <a:rPr lang="en-US" altLang="zh-CN" dirty="0"/>
              <a:t>    }</a:t>
            </a:r>
          </a:p>
          <a:p>
            <a:pPr marL="0" indent="0">
              <a:buNone/>
            </a:pPr>
            <a:r>
              <a:rPr lang="en-US" altLang="zh-CN" dirty="0"/>
              <a:t>    if ( pa != NULL ) p = pa; else p = pb;           //p</a:t>
            </a:r>
            <a:r>
              <a:rPr lang="zh-CN" altLang="en-US" dirty="0"/>
              <a:t>指未扫完集合</a:t>
            </a:r>
          </a:p>
          <a:p>
            <a:pPr marL="0" indent="0">
              <a:buNone/>
            </a:pPr>
            <a:r>
              <a:rPr lang="en-US" altLang="zh-CN" dirty="0"/>
              <a:t>    while ( p != NULL ) {    //</a:t>
            </a:r>
            <a:r>
              <a:rPr lang="zh-CN" altLang="en-US" dirty="0"/>
              <a:t>向结果链逐个复制</a:t>
            </a:r>
          </a:p>
          <a:p>
            <a:pPr marL="0" indent="0">
              <a:buNone/>
            </a:pPr>
            <a:r>
              <a:rPr lang="zh-CN" altLang="en-US" dirty="0"/>
              <a:t>       </a:t>
            </a:r>
            <a:r>
              <a:rPr lang="en-US" altLang="zh-CN" dirty="0"/>
              <a:t>pc-&gt;link = new </a:t>
            </a:r>
            <a:r>
              <a:rPr lang="en-US" altLang="zh-CN" dirty="0" err="1"/>
              <a:t>SetNode</a:t>
            </a:r>
            <a:r>
              <a:rPr lang="en-US" altLang="zh-CN" dirty="0"/>
              <a:t>&lt;T&gt;(p-&gt;data);       pc = pc-&gt;link;  p = p-&gt;link; </a:t>
            </a:r>
          </a:p>
          <a:p>
            <a:pPr marL="0" indent="0">
              <a:buNone/>
            </a:pPr>
            <a:r>
              <a:rPr lang="en-US" altLang="zh-CN" dirty="0"/>
              <a:t>    }</a:t>
            </a:r>
          </a:p>
          <a:p>
            <a:pPr marL="0" indent="0">
              <a:buNone/>
            </a:pPr>
            <a:r>
              <a:rPr lang="en-US" altLang="zh-CN" dirty="0"/>
              <a:t>    pc-&gt;link = NULL;  </a:t>
            </a:r>
            <a:r>
              <a:rPr lang="en-US" altLang="zh-CN" dirty="0" err="1"/>
              <a:t>temp.last</a:t>
            </a:r>
            <a:r>
              <a:rPr lang="en-US" altLang="zh-CN" dirty="0"/>
              <a:t> = pc;	/</a:t>
            </a:r>
            <a:r>
              <a:rPr lang="zh-CN" altLang="en-US" dirty="0"/>
              <a:t>*链表收尾*</a:t>
            </a:r>
            <a:r>
              <a:rPr lang="en-US" altLang="zh-CN" dirty="0"/>
              <a:t>/</a:t>
            </a:r>
            <a:r>
              <a:rPr lang="zh-CN" altLang="en-US" dirty="0"/>
              <a:t>    </a:t>
            </a:r>
            <a:r>
              <a:rPr lang="en-US" altLang="zh-CN" dirty="0"/>
              <a:t>return temp;</a:t>
            </a:r>
          </a:p>
          <a:p>
            <a:pPr marL="0" indent="0">
              <a:buNone/>
            </a:pPr>
            <a:r>
              <a:rPr lang="en-US" altLang="zh-CN" dirty="0"/>
              <a:t>}</a:t>
            </a:r>
          </a:p>
        </p:txBody>
      </p:sp>
      <p:sp>
        <p:nvSpPr>
          <p:cNvPr id="2" name="灯片编号占位符 1">
            <a:extLst>
              <a:ext uri="{FF2B5EF4-FFF2-40B4-BE49-F238E27FC236}">
                <a16:creationId xmlns:a16="http://schemas.microsoft.com/office/drawing/2014/main" id="{9B378E0A-86A0-0E81-942D-5C5F52735FF4}"/>
              </a:ext>
            </a:extLst>
          </p:cNvPr>
          <p:cNvSpPr>
            <a:spLocks noGrp="1"/>
          </p:cNvSpPr>
          <p:nvPr>
            <p:ph type="sldNum" sz="quarter" idx="12"/>
          </p:nvPr>
        </p:nvSpPr>
        <p:spPr/>
        <p:txBody>
          <a:bodyPr/>
          <a:lstStyle/>
          <a:p>
            <a:pPr>
              <a:defRPr/>
            </a:pPr>
            <a:fld id="{524B865F-46F8-4520-B0DD-31ED36EF62D9}" type="slidenum">
              <a:rPr lang="en-US" altLang="zh-CN" smtClean="0"/>
              <a:pPr>
                <a:defRPr/>
              </a:pPr>
              <a:t>26</a:t>
            </a:fld>
            <a:endParaRPr lang="en-US" altLang="zh-CN"/>
          </a:p>
        </p:txBody>
      </p:sp>
    </p:spTree>
  </p:cSld>
  <p:clrMapOvr>
    <a:masterClrMapping/>
  </p:clrMapOvr>
  <p:transition>
    <p:spli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60B869F-5DE0-41C4-B816-3CAA93CA670D}"/>
              </a:ext>
            </a:extLst>
          </p:cNvPr>
          <p:cNvSpPr>
            <a:spLocks noGrp="1"/>
          </p:cNvSpPr>
          <p:nvPr>
            <p:ph idx="1"/>
          </p:nvPr>
        </p:nvSpPr>
        <p:spPr>
          <a:xfrm>
            <a:off x="179512" y="692696"/>
            <a:ext cx="8784976" cy="5484267"/>
          </a:xfrm>
        </p:spPr>
        <p:txBody>
          <a:bodyPr>
            <a:normAutofit fontScale="77500" lnSpcReduction="20000"/>
          </a:bodyPr>
          <a:lstStyle/>
          <a:p>
            <a:pPr marL="0" indent="0">
              <a:buNone/>
            </a:pPr>
            <a:r>
              <a:rPr lang="en-US" altLang="zh-CN" dirty="0"/>
              <a:t>template &lt;class T&gt; </a:t>
            </a:r>
          </a:p>
          <a:p>
            <a:pPr marL="0" indent="0">
              <a:buNone/>
            </a:pPr>
            <a:r>
              <a:rPr lang="en-US" altLang="zh-CN" dirty="0"/>
              <a:t>bool </a:t>
            </a:r>
            <a:r>
              <a:rPr lang="en-US" altLang="zh-CN" dirty="0" err="1"/>
              <a:t>LinkedSet</a:t>
            </a:r>
            <a:r>
              <a:rPr lang="en-US" altLang="zh-CN" dirty="0"/>
              <a:t>&lt;T&gt; :: operator == ( </a:t>
            </a:r>
            <a:r>
              <a:rPr lang="en-US" altLang="zh-CN" dirty="0" err="1"/>
              <a:t>LinkedSet</a:t>
            </a:r>
            <a:r>
              <a:rPr lang="en-US" altLang="zh-CN" dirty="0"/>
              <a:t>&lt;T&gt; &amp;R ) {</a:t>
            </a:r>
          </a:p>
          <a:p>
            <a:pPr marL="0" indent="0">
              <a:buNone/>
            </a:pPr>
            <a:r>
              <a:rPr lang="en-US" altLang="zh-CN" dirty="0"/>
              <a:t>    </a:t>
            </a:r>
            <a:r>
              <a:rPr lang="en-US" altLang="zh-CN" dirty="0" err="1"/>
              <a:t>SetNode</a:t>
            </a:r>
            <a:r>
              <a:rPr lang="en-US" altLang="zh-CN" dirty="0"/>
              <a:t>&lt;T&gt; * pb = </a:t>
            </a:r>
            <a:r>
              <a:rPr lang="en-US" altLang="zh-CN" dirty="0" err="1"/>
              <a:t>R.first</a:t>
            </a:r>
            <a:r>
              <a:rPr lang="en-US" altLang="zh-CN" dirty="0"/>
              <a:t>-&gt;link;</a:t>
            </a:r>
          </a:p>
          <a:p>
            <a:pPr marL="0" indent="0">
              <a:buNone/>
            </a:pPr>
            <a:r>
              <a:rPr lang="en-US" altLang="zh-CN" dirty="0"/>
              <a:t>    </a:t>
            </a:r>
            <a:r>
              <a:rPr lang="en-US" altLang="zh-CN" dirty="0" err="1"/>
              <a:t>SetNode</a:t>
            </a:r>
            <a:r>
              <a:rPr lang="en-US" altLang="zh-CN" dirty="0"/>
              <a:t>&lt;T&gt; * pa = first-&gt;link;</a:t>
            </a:r>
          </a:p>
          <a:p>
            <a:pPr marL="0" indent="0">
              <a:buNone/>
            </a:pPr>
            <a:r>
              <a:rPr lang="en-US" altLang="zh-CN" dirty="0"/>
              <a:t>    while ( pa != NULL &amp;&amp; pb != NULL )</a:t>
            </a:r>
          </a:p>
          <a:p>
            <a:pPr marL="0" indent="0">
              <a:buNone/>
            </a:pPr>
            <a:r>
              <a:rPr lang="en-US" altLang="zh-CN" dirty="0"/>
              <a:t>        if ( pa-&gt;data == pb-&gt;data )	 //</a:t>
            </a:r>
            <a:r>
              <a:rPr lang="zh-CN" altLang="en-US" dirty="0"/>
              <a:t>相等</a:t>
            </a:r>
            <a:r>
              <a:rPr lang="en-US" altLang="zh-CN" dirty="0"/>
              <a:t>, </a:t>
            </a:r>
            <a:r>
              <a:rPr lang="zh-CN" altLang="en-US" dirty="0"/>
              <a:t>继续</a:t>
            </a:r>
          </a:p>
          <a:p>
            <a:pPr marL="0" indent="0">
              <a:buNone/>
            </a:pPr>
            <a:r>
              <a:rPr lang="zh-CN" altLang="en-US" dirty="0"/>
              <a:t>           </a:t>
            </a:r>
            <a:r>
              <a:rPr lang="en-US" altLang="zh-CN" dirty="0"/>
              <a:t>{ pa = pa-&gt;link;  pb = pb-&gt;link; }</a:t>
            </a:r>
          </a:p>
          <a:p>
            <a:pPr marL="0" indent="0">
              <a:buNone/>
            </a:pPr>
            <a:r>
              <a:rPr lang="en-US" altLang="zh-CN" dirty="0"/>
              <a:t>        else return false;    //</a:t>
            </a:r>
            <a:r>
              <a:rPr lang="zh-CN" altLang="en-US" dirty="0"/>
              <a:t>不等时中途退出</a:t>
            </a:r>
            <a:r>
              <a:rPr lang="en-US" altLang="zh-CN" dirty="0"/>
              <a:t>, </a:t>
            </a:r>
            <a:r>
              <a:rPr lang="zh-CN" altLang="en-US" dirty="0"/>
              <a:t>返回</a:t>
            </a:r>
            <a:r>
              <a:rPr lang="en-US" altLang="zh-CN" dirty="0"/>
              <a:t>0</a:t>
            </a:r>
          </a:p>
          <a:p>
            <a:pPr marL="0" indent="0">
              <a:buNone/>
            </a:pPr>
            <a:r>
              <a:rPr lang="en-US" altLang="zh-CN" dirty="0"/>
              <a:t>    if ( pa != NULL || pb != NULL ) </a:t>
            </a:r>
          </a:p>
          <a:p>
            <a:pPr marL="0" indent="0">
              <a:buNone/>
            </a:pPr>
            <a:r>
              <a:rPr lang="en-US" altLang="zh-CN" dirty="0"/>
              <a:t>        return false;       //</a:t>
            </a:r>
            <a:r>
              <a:rPr lang="zh-CN" altLang="en-US" dirty="0"/>
              <a:t>链不等长时</a:t>
            </a:r>
            <a:r>
              <a:rPr lang="en-US" altLang="zh-CN" dirty="0"/>
              <a:t>, </a:t>
            </a:r>
            <a:r>
              <a:rPr lang="zh-CN" altLang="en-US" dirty="0"/>
              <a:t>返回</a:t>
            </a:r>
            <a:r>
              <a:rPr lang="en-US" altLang="zh-CN" dirty="0"/>
              <a:t>0</a:t>
            </a:r>
          </a:p>
          <a:p>
            <a:pPr marL="0" indent="0">
              <a:buNone/>
            </a:pPr>
            <a:r>
              <a:rPr lang="en-US" altLang="zh-CN" dirty="0"/>
              <a:t>    return true;</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270CD5D4-B395-9C8A-811F-39BDD73E003F}"/>
              </a:ext>
            </a:extLst>
          </p:cNvPr>
          <p:cNvSpPr>
            <a:spLocks noGrp="1"/>
          </p:cNvSpPr>
          <p:nvPr>
            <p:ph type="sldNum" sz="quarter" idx="12"/>
          </p:nvPr>
        </p:nvSpPr>
        <p:spPr/>
        <p:txBody>
          <a:bodyPr/>
          <a:lstStyle/>
          <a:p>
            <a:pPr>
              <a:defRPr/>
            </a:pPr>
            <a:fld id="{524B865F-46F8-4520-B0DD-31ED36EF62D9}" type="slidenum">
              <a:rPr lang="en-US" altLang="zh-CN" smtClean="0"/>
              <a:pPr>
                <a:defRPr/>
              </a:pPr>
              <a:t>27</a:t>
            </a:fld>
            <a:endParaRPr lang="en-US" altLang="zh-CN"/>
          </a:p>
        </p:txBody>
      </p:sp>
    </p:spTree>
  </p:cSld>
  <p:clrMapOvr>
    <a:masterClrMapping/>
  </p:clrMapOvr>
  <p:transition>
    <p:spli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302379-E8F6-4D1C-95F2-1C23557C1A64}"/>
              </a:ext>
            </a:extLst>
          </p:cNvPr>
          <p:cNvSpPr>
            <a:spLocks noGrp="1"/>
          </p:cNvSpPr>
          <p:nvPr>
            <p:ph type="title"/>
          </p:nvPr>
        </p:nvSpPr>
        <p:spPr/>
        <p:txBody>
          <a:bodyPr/>
          <a:lstStyle/>
          <a:p>
            <a:r>
              <a:rPr lang="en-US" altLang="zh-CN" dirty="0"/>
              <a:t>6.2 </a:t>
            </a:r>
            <a:r>
              <a:rPr lang="zh-CN" altLang="en-US" dirty="0"/>
              <a:t>并查集与等价类</a:t>
            </a:r>
          </a:p>
        </p:txBody>
      </p:sp>
      <p:sp>
        <p:nvSpPr>
          <p:cNvPr id="3" name="内容占位符 2">
            <a:extLst>
              <a:ext uri="{FF2B5EF4-FFF2-40B4-BE49-F238E27FC236}">
                <a16:creationId xmlns:a16="http://schemas.microsoft.com/office/drawing/2014/main" id="{D3299547-503E-4D52-AE51-BCF60381AB59}"/>
              </a:ext>
            </a:extLst>
          </p:cNvPr>
          <p:cNvSpPr>
            <a:spLocks noGrp="1"/>
          </p:cNvSpPr>
          <p:nvPr>
            <p:ph idx="1"/>
          </p:nvPr>
        </p:nvSpPr>
        <p:spPr>
          <a:xfrm>
            <a:off x="628650" y="1825624"/>
            <a:ext cx="8335838" cy="4555703"/>
          </a:xfrm>
        </p:spPr>
        <p:txBody>
          <a:bodyPr>
            <a:normAutofit fontScale="70000" lnSpcReduction="20000"/>
          </a:bodyPr>
          <a:lstStyle/>
          <a:p>
            <a:r>
              <a:rPr lang="en-US" altLang="zh-CN" dirty="0"/>
              <a:t>6.2 </a:t>
            </a:r>
            <a:r>
              <a:rPr lang="zh-CN" altLang="en-US" dirty="0"/>
              <a:t>并查集的定义及其实现</a:t>
            </a:r>
            <a:endParaRPr lang="en-US" altLang="zh-CN" dirty="0"/>
          </a:p>
          <a:p>
            <a:pPr lvl="1"/>
            <a:r>
              <a:rPr lang="zh-CN" altLang="en-US" dirty="0"/>
              <a:t>并查集是若干不相交的集合，能够快速判断元素所在集合、快速合并集合。</a:t>
            </a:r>
          </a:p>
          <a:p>
            <a:pPr lvl="1"/>
            <a:r>
              <a:rPr lang="zh-CN" altLang="en-US" dirty="0"/>
              <a:t>并查集支持以下三种操作：</a:t>
            </a:r>
          </a:p>
          <a:p>
            <a:pPr lvl="2"/>
            <a:r>
              <a:rPr lang="en-US" altLang="zh-CN" dirty="0"/>
              <a:t>Union (Root1, Root2)   //Root2</a:t>
            </a:r>
            <a:r>
              <a:rPr lang="zh-CN" altLang="en-US" dirty="0"/>
              <a:t>合并入</a:t>
            </a:r>
            <a:r>
              <a:rPr lang="en-US" altLang="zh-CN" dirty="0"/>
              <a:t>Root1</a:t>
            </a:r>
          </a:p>
          <a:p>
            <a:pPr lvl="2"/>
            <a:r>
              <a:rPr lang="en-US" altLang="zh-CN" dirty="0"/>
              <a:t>Find (x)     //</a:t>
            </a:r>
            <a:r>
              <a:rPr lang="zh-CN" altLang="en-US" dirty="0"/>
              <a:t>搜索元素</a:t>
            </a:r>
            <a:r>
              <a:rPr lang="en-US" altLang="zh-CN" dirty="0"/>
              <a:t>x</a:t>
            </a:r>
            <a:r>
              <a:rPr lang="zh-CN" altLang="en-US" dirty="0"/>
              <a:t>所在的集合</a:t>
            </a:r>
          </a:p>
          <a:p>
            <a:pPr lvl="2"/>
            <a:r>
              <a:rPr lang="en-US" altLang="zh-CN" dirty="0" err="1"/>
              <a:t>UFSets</a:t>
            </a:r>
            <a:r>
              <a:rPr lang="en-US" altLang="zh-CN" dirty="0"/>
              <a:t> (s)     //</a:t>
            </a:r>
            <a:r>
              <a:rPr lang="zh-CN" altLang="en-US" dirty="0"/>
              <a:t>将</a:t>
            </a:r>
            <a:r>
              <a:rPr lang="en-US" altLang="zh-CN" dirty="0"/>
              <a:t>s</a:t>
            </a:r>
            <a:r>
              <a:rPr lang="zh-CN" altLang="en-US" dirty="0"/>
              <a:t>个元素的并查集初始化为</a:t>
            </a:r>
            <a:r>
              <a:rPr lang="en-US" altLang="zh-CN" dirty="0"/>
              <a:t>s</a:t>
            </a:r>
            <a:r>
              <a:rPr lang="zh-CN" altLang="en-US" dirty="0"/>
              <a:t>个单元素的子集合</a:t>
            </a:r>
          </a:p>
          <a:p>
            <a:pPr lvl="1"/>
            <a:r>
              <a:rPr lang="zh-CN" altLang="en-US" dirty="0"/>
              <a:t>并查集的典型实现方法是每个集合用一棵树表示。</a:t>
            </a:r>
          </a:p>
          <a:p>
            <a:pPr lvl="1"/>
            <a:r>
              <a:rPr lang="zh-CN" altLang="en-US" dirty="0"/>
              <a:t>为此，采用树的双亲表示作为集合存储表示。</a:t>
            </a:r>
            <a:endParaRPr lang="en-US" altLang="zh-CN" dirty="0"/>
          </a:p>
          <a:p>
            <a:pPr lvl="2"/>
            <a:r>
              <a:rPr lang="zh-CN" altLang="en-US" dirty="0"/>
              <a:t>集合元素的编号从</a:t>
            </a:r>
            <a:r>
              <a:rPr lang="en-US" altLang="zh-CN" dirty="0"/>
              <a:t>0</a:t>
            </a:r>
            <a:r>
              <a:rPr lang="zh-CN" altLang="en-US" dirty="0"/>
              <a:t>到 </a:t>
            </a:r>
            <a:r>
              <a:rPr lang="en-US" altLang="zh-CN" dirty="0"/>
              <a:t>n-1</a:t>
            </a:r>
            <a:r>
              <a:rPr lang="zh-CN" altLang="en-US" dirty="0"/>
              <a:t>。其中 </a:t>
            </a:r>
            <a:r>
              <a:rPr lang="en-US" altLang="zh-CN" dirty="0"/>
              <a:t>n </a:t>
            </a:r>
            <a:r>
              <a:rPr lang="zh-CN" altLang="en-US" dirty="0"/>
              <a:t>是最大元素个数。</a:t>
            </a:r>
            <a:endParaRPr lang="en-US" altLang="zh-CN" dirty="0"/>
          </a:p>
          <a:p>
            <a:pPr lvl="2"/>
            <a:r>
              <a:rPr lang="zh-CN" altLang="en-US" dirty="0"/>
              <a:t>第 </a:t>
            </a:r>
            <a:r>
              <a:rPr lang="en-US" altLang="zh-CN" dirty="0" err="1"/>
              <a:t>i</a:t>
            </a:r>
            <a:r>
              <a:rPr lang="en-US" altLang="zh-CN" dirty="0"/>
              <a:t> </a:t>
            </a:r>
            <a:r>
              <a:rPr lang="zh-CN" altLang="en-US" dirty="0"/>
              <a:t>个数组元素代表包含集合元素 </a:t>
            </a:r>
            <a:r>
              <a:rPr lang="en-US" altLang="zh-CN" dirty="0" err="1"/>
              <a:t>i</a:t>
            </a:r>
            <a:r>
              <a:rPr lang="en-US" altLang="zh-CN" dirty="0"/>
              <a:t> </a:t>
            </a:r>
            <a:r>
              <a:rPr lang="zh-CN" altLang="en-US" dirty="0"/>
              <a:t>的树结点。根结点的双亲为负数，绝对值表示集合中的元素个数。</a:t>
            </a:r>
          </a:p>
          <a:p>
            <a:pPr lvl="2"/>
            <a:r>
              <a:rPr lang="zh-CN" altLang="en-US" dirty="0"/>
              <a:t>在同一棵树上所有结点所代表的集合元素在同一个子集合中。</a:t>
            </a:r>
          </a:p>
        </p:txBody>
      </p:sp>
      <p:sp>
        <p:nvSpPr>
          <p:cNvPr id="4" name="灯片编号占位符 3">
            <a:extLst>
              <a:ext uri="{FF2B5EF4-FFF2-40B4-BE49-F238E27FC236}">
                <a16:creationId xmlns:a16="http://schemas.microsoft.com/office/drawing/2014/main" id="{D171199B-4A57-E825-B101-9F98DB4CADE3}"/>
              </a:ext>
            </a:extLst>
          </p:cNvPr>
          <p:cNvSpPr>
            <a:spLocks noGrp="1"/>
          </p:cNvSpPr>
          <p:nvPr>
            <p:ph type="sldNum" sz="quarter" idx="12"/>
          </p:nvPr>
        </p:nvSpPr>
        <p:spPr/>
        <p:txBody>
          <a:bodyPr/>
          <a:lstStyle/>
          <a:p>
            <a:pPr>
              <a:defRPr/>
            </a:pPr>
            <a:fld id="{524B865F-46F8-4520-B0DD-31ED36EF62D9}" type="slidenum">
              <a:rPr lang="en-US" altLang="zh-CN" smtClean="0"/>
              <a:pPr>
                <a:defRPr/>
              </a:pPr>
              <a:t>28</a:t>
            </a:fld>
            <a:endParaRPr lang="en-US" altLang="zh-CN"/>
          </a:p>
        </p:txBody>
      </p:sp>
    </p:spTree>
  </p:cSld>
  <p:clrMapOvr>
    <a:masterClrMapping/>
  </p:clrMapOvr>
  <p:transition>
    <p:spli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8" name="Text Box 4">
            <a:extLst>
              <a:ext uri="{FF2B5EF4-FFF2-40B4-BE49-F238E27FC236}">
                <a16:creationId xmlns:a16="http://schemas.microsoft.com/office/drawing/2014/main" id="{298820A5-1D01-15FA-CA93-D638FD64A709}"/>
              </a:ext>
            </a:extLst>
          </p:cNvPr>
          <p:cNvSpPr txBox="1">
            <a:spLocks noChangeArrowheads="1"/>
          </p:cNvSpPr>
          <p:nvPr/>
        </p:nvSpPr>
        <p:spPr bwMode="auto">
          <a:xfrm>
            <a:off x="899592" y="1734146"/>
            <a:ext cx="1600200" cy="1095375"/>
          </a:xfrm>
          <a:prstGeom prst="rect">
            <a:avLst/>
          </a:prstGeom>
          <a:noFill/>
          <a:ln w="9525">
            <a:noFill/>
            <a:miter lim="800000"/>
            <a:headEnd/>
            <a:tailEnd/>
          </a:ln>
          <a:effectLst/>
        </p:spPr>
        <p:txBody>
          <a:bodyPr>
            <a:spAutoFit/>
          </a:bodyPr>
          <a:lstStyle/>
          <a:p>
            <a:pPr>
              <a:spcBef>
                <a:spcPct val="35000"/>
              </a:spcBef>
              <a:defRPr/>
            </a:pPr>
            <a:r>
              <a:rPr lang="zh-CN" altLang="en-US" sz="2800" b="1">
                <a:effectLst>
                  <a:outerShdw blurRad="38100" dist="38100" dir="2700000" algn="tl">
                    <a:srgbClr val="C0C0C0"/>
                  </a:outerShdw>
                </a:effectLst>
                <a:ea typeface="仿宋_GB2312" pitchFamily="49" charset="-122"/>
              </a:rPr>
              <a:t>下标</a:t>
            </a:r>
            <a:endParaRPr lang="zh-CN" altLang="en-US" sz="2800" b="1">
              <a:effectLst>
                <a:outerShdw blurRad="38100" dist="38100" dir="2700000" algn="tl">
                  <a:srgbClr val="C0C0C0"/>
                </a:outerShdw>
              </a:effectLst>
              <a:ea typeface="楷体_GB2312" pitchFamily="49" charset="-122"/>
            </a:endParaRPr>
          </a:p>
          <a:p>
            <a:pPr>
              <a:spcBef>
                <a:spcPct val="35000"/>
              </a:spcBef>
              <a:defRPr/>
            </a:pPr>
            <a:r>
              <a:rPr lang="en-US" altLang="zh-CN" sz="2800" b="1">
                <a:solidFill>
                  <a:schemeClr val="tx2"/>
                </a:solidFill>
                <a:ea typeface="楷体_GB2312" pitchFamily="49" charset="-122"/>
              </a:rPr>
              <a:t>parent</a:t>
            </a:r>
            <a:endParaRPr lang="en-US" altLang="zh-CN" sz="2400" i="1">
              <a:ea typeface="宋体" charset="-122"/>
            </a:endParaRPr>
          </a:p>
        </p:txBody>
      </p:sp>
      <p:sp>
        <p:nvSpPr>
          <p:cNvPr id="39941" name="Rectangle 5">
            <a:extLst>
              <a:ext uri="{FF2B5EF4-FFF2-40B4-BE49-F238E27FC236}">
                <a16:creationId xmlns:a16="http://schemas.microsoft.com/office/drawing/2014/main" id="{650AA85C-A8BB-E5B2-7636-DCD4FBD8AB81}"/>
              </a:ext>
            </a:extLst>
          </p:cNvPr>
          <p:cNvSpPr>
            <a:spLocks noChangeArrowheads="1"/>
          </p:cNvSpPr>
          <p:nvPr/>
        </p:nvSpPr>
        <p:spPr bwMode="auto">
          <a:xfrm>
            <a:off x="2114550" y="2253259"/>
            <a:ext cx="6671742" cy="609600"/>
          </a:xfrm>
          <a:prstGeom prst="rect">
            <a:avLst/>
          </a:prstGeom>
          <a:solidFill>
            <a:srgbClr val="CCFFCC"/>
          </a:solidFill>
          <a:ln w="38100">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0099"/>
                </a:solidFill>
                <a:latin typeface="楷体_GB2312" pitchFamily="49" charset="-122"/>
                <a:ea typeface="楷体_GB2312" pitchFamily="49" charset="-122"/>
              </a:rPr>
              <a:t>-</a:t>
            </a:r>
            <a:r>
              <a:rPr lang="en-US" altLang="zh-CN" sz="3200" b="1">
                <a:solidFill>
                  <a:srgbClr val="000099"/>
                </a:solidFill>
                <a:latin typeface="Times New Roman" panose="02020603050405020304" pitchFamily="18" charset="0"/>
                <a:ea typeface="宋体" panose="02010600030101010101" pitchFamily="2" charset="-122"/>
              </a:rPr>
              <a:t>1   </a:t>
            </a:r>
            <a:r>
              <a:rPr lang="en-US" altLang="zh-CN" sz="3200" b="1">
                <a:solidFill>
                  <a:srgbClr val="000099"/>
                </a:solidFill>
                <a:latin typeface="楷体_GB2312" pitchFamily="49" charset="-122"/>
                <a:ea typeface="楷体_GB2312" pitchFamily="49" charset="-122"/>
              </a:rPr>
              <a:t>-</a:t>
            </a:r>
            <a:r>
              <a:rPr lang="en-US" altLang="zh-CN" sz="3200" b="1">
                <a:solidFill>
                  <a:srgbClr val="000099"/>
                </a:solidFill>
                <a:latin typeface="Times New Roman" panose="02020603050405020304" pitchFamily="18" charset="0"/>
                <a:ea typeface="宋体" panose="02010600030101010101" pitchFamily="2" charset="-122"/>
              </a:rPr>
              <a:t>1   </a:t>
            </a:r>
            <a:r>
              <a:rPr lang="en-US" altLang="zh-CN" sz="3200" b="1">
                <a:solidFill>
                  <a:srgbClr val="000099"/>
                </a:solidFill>
                <a:latin typeface="楷体_GB2312" pitchFamily="49" charset="-122"/>
                <a:ea typeface="楷体_GB2312" pitchFamily="49" charset="-122"/>
              </a:rPr>
              <a:t>-</a:t>
            </a:r>
            <a:r>
              <a:rPr lang="en-US" altLang="zh-CN" sz="3200" b="1">
                <a:solidFill>
                  <a:srgbClr val="000099"/>
                </a:solidFill>
                <a:latin typeface="Times New Roman" panose="02020603050405020304" pitchFamily="18" charset="0"/>
                <a:ea typeface="宋体" panose="02010600030101010101" pitchFamily="2" charset="-122"/>
              </a:rPr>
              <a:t>1   </a:t>
            </a:r>
            <a:r>
              <a:rPr lang="en-US" altLang="zh-CN" sz="3200" b="1">
                <a:solidFill>
                  <a:srgbClr val="000099"/>
                </a:solidFill>
                <a:latin typeface="楷体_GB2312" pitchFamily="49" charset="-122"/>
                <a:ea typeface="楷体_GB2312" pitchFamily="49" charset="-122"/>
              </a:rPr>
              <a:t>-</a:t>
            </a:r>
            <a:r>
              <a:rPr lang="en-US" altLang="zh-CN" sz="3200" b="1">
                <a:solidFill>
                  <a:srgbClr val="000099"/>
                </a:solidFill>
                <a:latin typeface="Times New Roman" panose="02020603050405020304" pitchFamily="18" charset="0"/>
                <a:ea typeface="宋体" panose="02010600030101010101" pitchFamily="2" charset="-122"/>
              </a:rPr>
              <a:t>1  </a:t>
            </a:r>
            <a:r>
              <a:rPr lang="en-US" altLang="zh-CN" sz="3200" b="1">
                <a:solidFill>
                  <a:srgbClr val="000099"/>
                </a:solidFill>
                <a:latin typeface="楷体_GB2312" pitchFamily="49" charset="-122"/>
                <a:ea typeface="楷体_GB2312" pitchFamily="49" charset="-122"/>
              </a:rPr>
              <a:t>-</a:t>
            </a:r>
            <a:r>
              <a:rPr lang="en-US" altLang="zh-CN" sz="3200" b="1">
                <a:solidFill>
                  <a:srgbClr val="000099"/>
                </a:solidFill>
                <a:latin typeface="Times New Roman" panose="02020603050405020304" pitchFamily="18" charset="0"/>
                <a:ea typeface="宋体" panose="02010600030101010101" pitchFamily="2" charset="-122"/>
              </a:rPr>
              <a:t>1   </a:t>
            </a:r>
            <a:r>
              <a:rPr lang="en-US" altLang="zh-CN" sz="3200" b="1">
                <a:solidFill>
                  <a:srgbClr val="000099"/>
                </a:solidFill>
                <a:latin typeface="楷体_GB2312" pitchFamily="49" charset="-122"/>
                <a:ea typeface="楷体_GB2312" pitchFamily="49" charset="-122"/>
              </a:rPr>
              <a:t>-</a:t>
            </a:r>
            <a:r>
              <a:rPr lang="en-US" altLang="zh-CN" sz="3200" b="1">
                <a:solidFill>
                  <a:srgbClr val="000099"/>
                </a:solidFill>
                <a:latin typeface="Times New Roman" panose="02020603050405020304" pitchFamily="18" charset="0"/>
                <a:ea typeface="宋体" panose="02010600030101010101" pitchFamily="2" charset="-122"/>
              </a:rPr>
              <a:t>1   </a:t>
            </a:r>
            <a:r>
              <a:rPr lang="en-US" altLang="zh-CN" sz="3200" b="1">
                <a:solidFill>
                  <a:srgbClr val="000099"/>
                </a:solidFill>
                <a:latin typeface="楷体_GB2312" pitchFamily="49" charset="-122"/>
                <a:ea typeface="楷体_GB2312" pitchFamily="49" charset="-122"/>
              </a:rPr>
              <a:t>-</a:t>
            </a:r>
            <a:r>
              <a:rPr lang="en-US" altLang="zh-CN" sz="3200" b="1">
                <a:solidFill>
                  <a:srgbClr val="000099"/>
                </a:solidFill>
                <a:latin typeface="Times New Roman" panose="02020603050405020304" pitchFamily="18" charset="0"/>
                <a:ea typeface="宋体" panose="02010600030101010101" pitchFamily="2" charset="-122"/>
              </a:rPr>
              <a:t>1   </a:t>
            </a:r>
            <a:r>
              <a:rPr lang="en-US" altLang="zh-CN" sz="3200" b="1">
                <a:solidFill>
                  <a:srgbClr val="000099"/>
                </a:solidFill>
                <a:latin typeface="楷体_GB2312" pitchFamily="49" charset="-122"/>
                <a:ea typeface="楷体_GB2312" pitchFamily="49" charset="-122"/>
              </a:rPr>
              <a:t>-</a:t>
            </a:r>
            <a:r>
              <a:rPr lang="en-US" altLang="zh-CN" sz="3200" b="1">
                <a:solidFill>
                  <a:srgbClr val="000099"/>
                </a:solidFill>
                <a:latin typeface="Times New Roman" panose="02020603050405020304" pitchFamily="18" charset="0"/>
                <a:ea typeface="宋体" panose="02010600030101010101" pitchFamily="2" charset="-122"/>
              </a:rPr>
              <a:t>1  </a:t>
            </a:r>
            <a:r>
              <a:rPr lang="en-US" altLang="zh-CN" sz="3200" b="1">
                <a:solidFill>
                  <a:srgbClr val="000099"/>
                </a:solidFill>
                <a:latin typeface="楷体_GB2312" pitchFamily="49" charset="-122"/>
                <a:ea typeface="楷体_GB2312" pitchFamily="49" charset="-122"/>
              </a:rPr>
              <a:t>-</a:t>
            </a:r>
            <a:r>
              <a:rPr lang="en-US" altLang="zh-CN" sz="3200" b="1">
                <a:solidFill>
                  <a:srgbClr val="000099"/>
                </a:solidFill>
                <a:latin typeface="Times New Roman" panose="02020603050405020304" pitchFamily="18" charset="0"/>
                <a:ea typeface="宋体" panose="02010600030101010101" pitchFamily="2" charset="-122"/>
              </a:rPr>
              <a:t>1   </a:t>
            </a:r>
            <a:r>
              <a:rPr lang="en-US" altLang="zh-CN" sz="3200" b="1">
                <a:solidFill>
                  <a:srgbClr val="000099"/>
                </a:solidFill>
                <a:latin typeface="楷体_GB2312" pitchFamily="49" charset="-122"/>
                <a:ea typeface="楷体_GB2312" pitchFamily="49" charset="-122"/>
              </a:rPr>
              <a:t>-</a:t>
            </a:r>
            <a:r>
              <a:rPr lang="en-US" altLang="zh-CN" sz="3200" b="1">
                <a:solidFill>
                  <a:srgbClr val="000099"/>
                </a:solidFill>
                <a:latin typeface="Times New Roman" panose="02020603050405020304" pitchFamily="18" charset="0"/>
                <a:ea typeface="宋体" panose="02010600030101010101" pitchFamily="2" charset="-122"/>
              </a:rPr>
              <a:t>1</a:t>
            </a:r>
            <a:endParaRPr lang="en-US" altLang="zh-CN" sz="2400">
              <a:solidFill>
                <a:srgbClr val="000099"/>
              </a:solidFill>
              <a:latin typeface="Times New Roman" panose="02020603050405020304" pitchFamily="18" charset="0"/>
              <a:ea typeface="宋体" panose="02010600030101010101" pitchFamily="2" charset="-122"/>
            </a:endParaRPr>
          </a:p>
        </p:txBody>
      </p:sp>
      <p:sp>
        <p:nvSpPr>
          <p:cNvPr id="39942" name="Line 6">
            <a:extLst>
              <a:ext uri="{FF2B5EF4-FFF2-40B4-BE49-F238E27FC236}">
                <a16:creationId xmlns:a16="http://schemas.microsoft.com/office/drawing/2014/main" id="{1DB263A5-06C5-FEB1-0D14-55035F552D1A}"/>
              </a:ext>
            </a:extLst>
          </p:cNvPr>
          <p:cNvSpPr>
            <a:spLocks noChangeShapeType="1"/>
          </p:cNvSpPr>
          <p:nvPr/>
        </p:nvSpPr>
        <p:spPr bwMode="auto">
          <a:xfrm>
            <a:off x="2728392" y="2296121"/>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3" name="Line 7">
            <a:extLst>
              <a:ext uri="{FF2B5EF4-FFF2-40B4-BE49-F238E27FC236}">
                <a16:creationId xmlns:a16="http://schemas.microsoft.com/office/drawing/2014/main" id="{8F861453-921A-59D7-FEBF-9CB6921AF733}"/>
              </a:ext>
            </a:extLst>
          </p:cNvPr>
          <p:cNvSpPr>
            <a:spLocks noChangeShapeType="1"/>
          </p:cNvSpPr>
          <p:nvPr/>
        </p:nvSpPr>
        <p:spPr bwMode="auto">
          <a:xfrm>
            <a:off x="3414192" y="2296121"/>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4" name="Line 8">
            <a:extLst>
              <a:ext uri="{FF2B5EF4-FFF2-40B4-BE49-F238E27FC236}">
                <a16:creationId xmlns:a16="http://schemas.microsoft.com/office/drawing/2014/main" id="{ECA3561D-512E-9D7A-7A32-B6CCC624FF46}"/>
              </a:ext>
            </a:extLst>
          </p:cNvPr>
          <p:cNvSpPr>
            <a:spLocks noChangeShapeType="1"/>
          </p:cNvSpPr>
          <p:nvPr/>
        </p:nvSpPr>
        <p:spPr bwMode="auto">
          <a:xfrm>
            <a:off x="4099992" y="2296121"/>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5" name="Line 9">
            <a:extLst>
              <a:ext uri="{FF2B5EF4-FFF2-40B4-BE49-F238E27FC236}">
                <a16:creationId xmlns:a16="http://schemas.microsoft.com/office/drawing/2014/main" id="{E061EE1A-C8DC-1149-D506-A85F0FFC66A4}"/>
              </a:ext>
            </a:extLst>
          </p:cNvPr>
          <p:cNvSpPr>
            <a:spLocks noChangeShapeType="1"/>
          </p:cNvSpPr>
          <p:nvPr/>
        </p:nvSpPr>
        <p:spPr bwMode="auto">
          <a:xfrm>
            <a:off x="4785792" y="2296121"/>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6" name="Line 10">
            <a:extLst>
              <a:ext uri="{FF2B5EF4-FFF2-40B4-BE49-F238E27FC236}">
                <a16:creationId xmlns:a16="http://schemas.microsoft.com/office/drawing/2014/main" id="{D57AB111-1823-B125-D504-7966EB063862}"/>
              </a:ext>
            </a:extLst>
          </p:cNvPr>
          <p:cNvSpPr>
            <a:spLocks noChangeShapeType="1"/>
          </p:cNvSpPr>
          <p:nvPr/>
        </p:nvSpPr>
        <p:spPr bwMode="auto">
          <a:xfrm>
            <a:off x="5471592" y="2296121"/>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7" name="Line 11">
            <a:extLst>
              <a:ext uri="{FF2B5EF4-FFF2-40B4-BE49-F238E27FC236}">
                <a16:creationId xmlns:a16="http://schemas.microsoft.com/office/drawing/2014/main" id="{6FA8B3BD-DCEB-9EBA-2B7C-64BC2AD67061}"/>
              </a:ext>
            </a:extLst>
          </p:cNvPr>
          <p:cNvSpPr>
            <a:spLocks noChangeShapeType="1"/>
          </p:cNvSpPr>
          <p:nvPr/>
        </p:nvSpPr>
        <p:spPr bwMode="auto">
          <a:xfrm>
            <a:off x="6157392" y="2296121"/>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8" name="Line 12">
            <a:extLst>
              <a:ext uri="{FF2B5EF4-FFF2-40B4-BE49-F238E27FC236}">
                <a16:creationId xmlns:a16="http://schemas.microsoft.com/office/drawing/2014/main" id="{997786AA-E48C-61E7-9523-9999B058F40C}"/>
              </a:ext>
            </a:extLst>
          </p:cNvPr>
          <p:cNvSpPr>
            <a:spLocks noChangeShapeType="1"/>
          </p:cNvSpPr>
          <p:nvPr/>
        </p:nvSpPr>
        <p:spPr bwMode="auto">
          <a:xfrm>
            <a:off x="6843192" y="2296121"/>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9" name="Line 13">
            <a:extLst>
              <a:ext uri="{FF2B5EF4-FFF2-40B4-BE49-F238E27FC236}">
                <a16:creationId xmlns:a16="http://schemas.microsoft.com/office/drawing/2014/main" id="{1EFB4F08-DEC5-89BA-C417-67C76F100999}"/>
              </a:ext>
            </a:extLst>
          </p:cNvPr>
          <p:cNvSpPr>
            <a:spLocks noChangeShapeType="1"/>
          </p:cNvSpPr>
          <p:nvPr/>
        </p:nvSpPr>
        <p:spPr bwMode="auto">
          <a:xfrm>
            <a:off x="7528992" y="2296121"/>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0" name="Text Box 14">
            <a:extLst>
              <a:ext uri="{FF2B5EF4-FFF2-40B4-BE49-F238E27FC236}">
                <a16:creationId xmlns:a16="http://schemas.microsoft.com/office/drawing/2014/main" id="{430F9E6F-943F-134B-5F8C-8BD13A62E320}"/>
              </a:ext>
            </a:extLst>
          </p:cNvPr>
          <p:cNvSpPr txBox="1">
            <a:spLocks noChangeArrowheads="1"/>
          </p:cNvSpPr>
          <p:nvPr/>
        </p:nvSpPr>
        <p:spPr bwMode="auto">
          <a:xfrm>
            <a:off x="2179117" y="1700808"/>
            <a:ext cx="6496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2800" b="1">
                <a:latin typeface="Times New Roman" panose="02020603050405020304" pitchFamily="18" charset="0"/>
                <a:ea typeface="宋体" panose="02010600030101010101" pitchFamily="2" charset="-122"/>
              </a:rPr>
              <a:t>0     1      2     3      4      5     6      7      8      9</a:t>
            </a:r>
            <a:endParaRPr lang="en-US" altLang="zh-CN" sz="2400">
              <a:latin typeface="Times New Roman" panose="02020603050405020304" pitchFamily="18" charset="0"/>
              <a:ea typeface="宋体" panose="02010600030101010101" pitchFamily="2" charset="-122"/>
            </a:endParaRPr>
          </a:p>
        </p:txBody>
      </p:sp>
      <p:sp>
        <p:nvSpPr>
          <p:cNvPr id="39951" name="Line 15">
            <a:extLst>
              <a:ext uri="{FF2B5EF4-FFF2-40B4-BE49-F238E27FC236}">
                <a16:creationId xmlns:a16="http://schemas.microsoft.com/office/drawing/2014/main" id="{7204AC6C-F3E0-E079-0B59-AE87DA931AF1}"/>
              </a:ext>
            </a:extLst>
          </p:cNvPr>
          <p:cNvSpPr>
            <a:spLocks noChangeShapeType="1"/>
          </p:cNvSpPr>
          <p:nvPr/>
        </p:nvSpPr>
        <p:spPr bwMode="auto">
          <a:xfrm>
            <a:off x="8214792" y="2296121"/>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 name="内容占位符 2">
            <a:extLst>
              <a:ext uri="{FF2B5EF4-FFF2-40B4-BE49-F238E27FC236}">
                <a16:creationId xmlns:a16="http://schemas.microsoft.com/office/drawing/2014/main" id="{CD1C3007-968E-469F-9365-BD3652531D4E}"/>
              </a:ext>
            </a:extLst>
          </p:cNvPr>
          <p:cNvSpPr>
            <a:spLocks noGrp="1"/>
          </p:cNvSpPr>
          <p:nvPr>
            <p:ph idx="1"/>
          </p:nvPr>
        </p:nvSpPr>
        <p:spPr>
          <a:xfrm>
            <a:off x="628650" y="332656"/>
            <a:ext cx="7886700" cy="5844307"/>
          </a:xfrm>
        </p:spPr>
        <p:txBody>
          <a:bodyPr>
            <a:normAutofit fontScale="92500" lnSpcReduction="20000"/>
          </a:bodyPr>
          <a:lstStyle/>
          <a:p>
            <a:r>
              <a:rPr lang="zh-CN" altLang="en-US" dirty="0"/>
              <a:t>初始时</a:t>
            </a:r>
            <a:r>
              <a:rPr lang="en-US" altLang="zh-CN" dirty="0"/>
              <a:t>, </a:t>
            </a:r>
            <a:r>
              <a:rPr lang="zh-CN" altLang="en-US" dirty="0"/>
              <a:t>用构造函数 </a:t>
            </a:r>
            <a:r>
              <a:rPr lang="en-US" altLang="zh-CN" dirty="0" err="1"/>
              <a:t>UFSets</a:t>
            </a:r>
            <a:r>
              <a:rPr lang="en-US" altLang="zh-CN" dirty="0"/>
              <a:t>(s) </a:t>
            </a:r>
            <a:r>
              <a:rPr lang="zh-CN" altLang="en-US" dirty="0"/>
              <a:t>构造一个森林</a:t>
            </a:r>
            <a:r>
              <a:rPr lang="en-US" altLang="zh-CN" dirty="0"/>
              <a:t>, </a:t>
            </a:r>
            <a:r>
              <a:rPr lang="zh-CN" altLang="en-US" dirty="0"/>
              <a:t>每棵树只有一个结点</a:t>
            </a:r>
            <a:r>
              <a:rPr lang="en-US" altLang="zh-CN" dirty="0"/>
              <a:t>, </a:t>
            </a:r>
            <a:r>
              <a:rPr lang="zh-CN" altLang="en-US" dirty="0"/>
              <a:t>表示集合中各元素自成一个子集合。</a:t>
            </a:r>
          </a:p>
          <a:p>
            <a:endParaRPr lang="zh-CN" altLang="en-US" dirty="0"/>
          </a:p>
          <a:p>
            <a:pPr marL="0" indent="0">
              <a:buNone/>
            </a:pPr>
            <a:endParaRPr lang="zh-CN" altLang="en-US" dirty="0"/>
          </a:p>
          <a:p>
            <a:endParaRPr lang="zh-CN" altLang="en-US" dirty="0"/>
          </a:p>
          <a:p>
            <a:r>
              <a:rPr lang="zh-CN" altLang="en-US" dirty="0"/>
              <a:t>用 </a:t>
            </a:r>
            <a:r>
              <a:rPr lang="en-US" altLang="zh-CN" dirty="0"/>
              <a:t>Find(</a:t>
            </a:r>
            <a:r>
              <a:rPr lang="en-US" altLang="zh-CN" dirty="0" err="1"/>
              <a:t>i</a:t>
            </a:r>
            <a:r>
              <a:rPr lang="en-US" altLang="zh-CN" dirty="0"/>
              <a:t>) </a:t>
            </a:r>
            <a:r>
              <a:rPr lang="zh-CN" altLang="en-US" dirty="0"/>
              <a:t>寻找集合元素 </a:t>
            </a:r>
            <a:r>
              <a:rPr lang="en-US" altLang="zh-CN" dirty="0" err="1"/>
              <a:t>i</a:t>
            </a:r>
            <a:r>
              <a:rPr lang="en-US" altLang="zh-CN" dirty="0"/>
              <a:t> </a:t>
            </a:r>
            <a:r>
              <a:rPr lang="zh-CN" altLang="en-US" dirty="0"/>
              <a:t>的根。如果有两个集合元素 </a:t>
            </a:r>
            <a:r>
              <a:rPr lang="en-US" altLang="zh-CN" dirty="0" err="1"/>
              <a:t>i</a:t>
            </a:r>
            <a:r>
              <a:rPr lang="en-US" altLang="zh-CN" dirty="0"/>
              <a:t> </a:t>
            </a:r>
            <a:r>
              <a:rPr lang="zh-CN" altLang="en-US" dirty="0"/>
              <a:t>和 </a:t>
            </a:r>
            <a:r>
              <a:rPr lang="en-US" altLang="zh-CN" dirty="0"/>
              <a:t>j, Find(</a:t>
            </a:r>
            <a:r>
              <a:rPr lang="en-US" altLang="zh-CN" dirty="0" err="1"/>
              <a:t>i</a:t>
            </a:r>
            <a:r>
              <a:rPr lang="en-US" altLang="zh-CN" dirty="0"/>
              <a:t>) == Find(j), </a:t>
            </a:r>
            <a:r>
              <a:rPr lang="zh-CN" altLang="en-US" dirty="0"/>
              <a:t>表明这两个元素在同一个集合中，</a:t>
            </a:r>
          </a:p>
          <a:p>
            <a:r>
              <a:rPr lang="zh-CN" altLang="en-US" dirty="0"/>
              <a:t>如果两个集合元素 </a:t>
            </a:r>
            <a:r>
              <a:rPr lang="en-US" altLang="zh-CN" dirty="0" err="1"/>
              <a:t>i</a:t>
            </a:r>
            <a:r>
              <a:rPr lang="en-US" altLang="zh-CN" dirty="0"/>
              <a:t> </a:t>
            </a:r>
            <a:r>
              <a:rPr lang="zh-CN" altLang="en-US" dirty="0"/>
              <a:t>和 </a:t>
            </a:r>
            <a:r>
              <a:rPr lang="en-US" altLang="zh-CN" dirty="0"/>
              <a:t>j </a:t>
            </a:r>
            <a:r>
              <a:rPr lang="zh-CN" altLang="en-US" dirty="0"/>
              <a:t>不在同一个集合中</a:t>
            </a:r>
            <a:r>
              <a:rPr lang="en-US" altLang="zh-CN" dirty="0"/>
              <a:t>,</a:t>
            </a:r>
            <a:r>
              <a:rPr lang="zh-CN" altLang="en-US" dirty="0"/>
              <a:t>可用 </a:t>
            </a:r>
            <a:r>
              <a:rPr lang="en-US" altLang="zh-CN" dirty="0"/>
              <a:t>Union(</a:t>
            </a:r>
            <a:r>
              <a:rPr lang="en-US" altLang="zh-CN" dirty="0" err="1"/>
              <a:t>i</a:t>
            </a:r>
            <a:r>
              <a:rPr lang="en-US" altLang="zh-CN" dirty="0"/>
              <a:t>, j) </a:t>
            </a:r>
            <a:r>
              <a:rPr lang="zh-CN" altLang="en-US" dirty="0"/>
              <a:t>将它们合并到一个集合中。</a:t>
            </a:r>
          </a:p>
        </p:txBody>
      </p:sp>
      <p:sp>
        <p:nvSpPr>
          <p:cNvPr id="2" name="灯片编号占位符 1">
            <a:extLst>
              <a:ext uri="{FF2B5EF4-FFF2-40B4-BE49-F238E27FC236}">
                <a16:creationId xmlns:a16="http://schemas.microsoft.com/office/drawing/2014/main" id="{DCE86723-5763-7611-BB90-D531B5884CAA}"/>
              </a:ext>
            </a:extLst>
          </p:cNvPr>
          <p:cNvSpPr>
            <a:spLocks noGrp="1"/>
          </p:cNvSpPr>
          <p:nvPr>
            <p:ph type="sldNum" sz="quarter" idx="12"/>
          </p:nvPr>
        </p:nvSpPr>
        <p:spPr/>
        <p:txBody>
          <a:bodyPr/>
          <a:lstStyle/>
          <a:p>
            <a:pPr>
              <a:defRPr/>
            </a:pPr>
            <a:fld id="{524B865F-46F8-4520-B0DD-31ED36EF62D9}" type="slidenum">
              <a:rPr lang="en-US" altLang="zh-CN" smtClean="0"/>
              <a:pPr>
                <a:defRPr/>
              </a:pPr>
              <a:t>29</a:t>
            </a:fld>
            <a:endParaRPr lang="en-US" altLang="zh-CN"/>
          </a:p>
        </p:txBody>
      </p:sp>
    </p:spTree>
  </p:cSld>
  <p:clrMapOvr>
    <a:masterClrMapping/>
  </p:clrMapOvr>
  <p:transition>
    <p:spli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8CB79CC-818B-4E3A-A18E-F95B0A527700}"/>
              </a:ext>
            </a:extLst>
          </p:cNvPr>
          <p:cNvGrpSpPr/>
          <p:nvPr/>
        </p:nvGrpSpPr>
        <p:grpSpPr>
          <a:xfrm>
            <a:off x="1619672" y="1858962"/>
            <a:ext cx="5105400" cy="1570038"/>
            <a:chOff x="1828800" y="2895600"/>
            <a:chExt cx="5105400" cy="1570038"/>
          </a:xfrm>
        </p:grpSpPr>
        <p:sp>
          <p:nvSpPr>
            <p:cNvPr id="40963" name="Oval 9">
              <a:extLst>
                <a:ext uri="{FF2B5EF4-FFF2-40B4-BE49-F238E27FC236}">
                  <a16:creationId xmlns:a16="http://schemas.microsoft.com/office/drawing/2014/main" id="{28B0B3B8-08D8-C8E1-8481-A65530A8B0B8}"/>
                </a:ext>
              </a:extLst>
            </p:cNvPr>
            <p:cNvSpPr>
              <a:spLocks noChangeArrowheads="1"/>
            </p:cNvSpPr>
            <p:nvPr/>
          </p:nvSpPr>
          <p:spPr bwMode="auto">
            <a:xfrm>
              <a:off x="2438400" y="30480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0964" name="Oval 10">
              <a:extLst>
                <a:ext uri="{FF2B5EF4-FFF2-40B4-BE49-F238E27FC236}">
                  <a16:creationId xmlns:a16="http://schemas.microsoft.com/office/drawing/2014/main" id="{946BB95F-D1C8-8F2D-8DE4-77C8B1C8EBBA}"/>
                </a:ext>
              </a:extLst>
            </p:cNvPr>
            <p:cNvSpPr>
              <a:spLocks noChangeArrowheads="1"/>
            </p:cNvSpPr>
            <p:nvPr/>
          </p:nvSpPr>
          <p:spPr bwMode="auto">
            <a:xfrm>
              <a:off x="2438400" y="39624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0965" name="Oval 11">
              <a:extLst>
                <a:ext uri="{FF2B5EF4-FFF2-40B4-BE49-F238E27FC236}">
                  <a16:creationId xmlns:a16="http://schemas.microsoft.com/office/drawing/2014/main" id="{08CC41D6-6935-6941-451C-95A3CCB178F4}"/>
                </a:ext>
              </a:extLst>
            </p:cNvPr>
            <p:cNvSpPr>
              <a:spLocks noChangeArrowheads="1"/>
            </p:cNvSpPr>
            <p:nvPr/>
          </p:nvSpPr>
          <p:spPr bwMode="auto">
            <a:xfrm>
              <a:off x="1828800" y="39624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0966" name="Oval 12">
              <a:extLst>
                <a:ext uri="{FF2B5EF4-FFF2-40B4-BE49-F238E27FC236}">
                  <a16:creationId xmlns:a16="http://schemas.microsoft.com/office/drawing/2014/main" id="{04600D17-36CC-C319-0AC0-A462E30BDDE9}"/>
                </a:ext>
              </a:extLst>
            </p:cNvPr>
            <p:cNvSpPr>
              <a:spLocks noChangeArrowheads="1"/>
            </p:cNvSpPr>
            <p:nvPr/>
          </p:nvSpPr>
          <p:spPr bwMode="auto">
            <a:xfrm>
              <a:off x="3048000" y="39624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0967" name="Oval 13">
              <a:extLst>
                <a:ext uri="{FF2B5EF4-FFF2-40B4-BE49-F238E27FC236}">
                  <a16:creationId xmlns:a16="http://schemas.microsoft.com/office/drawing/2014/main" id="{59C447E6-896D-7D67-444D-42CE78170E83}"/>
                </a:ext>
              </a:extLst>
            </p:cNvPr>
            <p:cNvSpPr>
              <a:spLocks noChangeArrowheads="1"/>
            </p:cNvSpPr>
            <p:nvPr/>
          </p:nvSpPr>
          <p:spPr bwMode="auto">
            <a:xfrm>
              <a:off x="4038600" y="39624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0968" name="Oval 14">
              <a:extLst>
                <a:ext uri="{FF2B5EF4-FFF2-40B4-BE49-F238E27FC236}">
                  <a16:creationId xmlns:a16="http://schemas.microsoft.com/office/drawing/2014/main" id="{6DF10A88-C800-660E-4C19-2C9749DBC26B}"/>
                </a:ext>
              </a:extLst>
            </p:cNvPr>
            <p:cNvSpPr>
              <a:spLocks noChangeArrowheads="1"/>
            </p:cNvSpPr>
            <p:nvPr/>
          </p:nvSpPr>
          <p:spPr bwMode="auto">
            <a:xfrm>
              <a:off x="4800600" y="39624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0969" name="Oval 15">
              <a:extLst>
                <a:ext uri="{FF2B5EF4-FFF2-40B4-BE49-F238E27FC236}">
                  <a16:creationId xmlns:a16="http://schemas.microsoft.com/office/drawing/2014/main" id="{ED619F87-274D-E77C-D6B4-A2C898588324}"/>
                </a:ext>
              </a:extLst>
            </p:cNvPr>
            <p:cNvSpPr>
              <a:spLocks noChangeArrowheads="1"/>
            </p:cNvSpPr>
            <p:nvPr/>
          </p:nvSpPr>
          <p:spPr bwMode="auto">
            <a:xfrm>
              <a:off x="4419600" y="29718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0970" name="Line 16">
              <a:extLst>
                <a:ext uri="{FF2B5EF4-FFF2-40B4-BE49-F238E27FC236}">
                  <a16:creationId xmlns:a16="http://schemas.microsoft.com/office/drawing/2014/main" id="{709BB6FB-FE9B-0D2A-2FF2-2E51A426428E}"/>
                </a:ext>
              </a:extLst>
            </p:cNvPr>
            <p:cNvSpPr>
              <a:spLocks noChangeShapeType="1"/>
            </p:cNvSpPr>
            <p:nvPr/>
          </p:nvSpPr>
          <p:spPr bwMode="auto">
            <a:xfrm flipV="1">
              <a:off x="2667000" y="3429000"/>
              <a:ext cx="0" cy="533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1" name="Line 17">
              <a:extLst>
                <a:ext uri="{FF2B5EF4-FFF2-40B4-BE49-F238E27FC236}">
                  <a16:creationId xmlns:a16="http://schemas.microsoft.com/office/drawing/2014/main" id="{604B467A-8030-34B7-8A53-F66A5E0F8D07}"/>
                </a:ext>
              </a:extLst>
            </p:cNvPr>
            <p:cNvSpPr>
              <a:spLocks noChangeShapeType="1"/>
            </p:cNvSpPr>
            <p:nvPr/>
          </p:nvSpPr>
          <p:spPr bwMode="auto">
            <a:xfrm flipV="1">
              <a:off x="2133600" y="3429000"/>
              <a:ext cx="381000" cy="533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2" name="Line 18">
              <a:extLst>
                <a:ext uri="{FF2B5EF4-FFF2-40B4-BE49-F238E27FC236}">
                  <a16:creationId xmlns:a16="http://schemas.microsoft.com/office/drawing/2014/main" id="{DDDD39C2-B22E-1429-081F-7D71CB8FD75C}"/>
                </a:ext>
              </a:extLst>
            </p:cNvPr>
            <p:cNvSpPr>
              <a:spLocks noChangeShapeType="1"/>
            </p:cNvSpPr>
            <p:nvPr/>
          </p:nvSpPr>
          <p:spPr bwMode="auto">
            <a:xfrm flipH="1" flipV="1">
              <a:off x="2819400" y="3429000"/>
              <a:ext cx="381000" cy="533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3" name="Line 19">
              <a:extLst>
                <a:ext uri="{FF2B5EF4-FFF2-40B4-BE49-F238E27FC236}">
                  <a16:creationId xmlns:a16="http://schemas.microsoft.com/office/drawing/2014/main" id="{BB5DE8C6-081F-B609-1961-1E0F6084E3E4}"/>
                </a:ext>
              </a:extLst>
            </p:cNvPr>
            <p:cNvSpPr>
              <a:spLocks noChangeShapeType="1"/>
            </p:cNvSpPr>
            <p:nvPr/>
          </p:nvSpPr>
          <p:spPr bwMode="auto">
            <a:xfrm flipV="1">
              <a:off x="4343400" y="3429000"/>
              <a:ext cx="228600" cy="533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4" name="Line 20">
              <a:extLst>
                <a:ext uri="{FF2B5EF4-FFF2-40B4-BE49-F238E27FC236}">
                  <a16:creationId xmlns:a16="http://schemas.microsoft.com/office/drawing/2014/main" id="{3FE44143-06DB-2A0D-9587-C98A9ED66820}"/>
                </a:ext>
              </a:extLst>
            </p:cNvPr>
            <p:cNvSpPr>
              <a:spLocks noChangeShapeType="1"/>
            </p:cNvSpPr>
            <p:nvPr/>
          </p:nvSpPr>
          <p:spPr bwMode="auto">
            <a:xfrm flipH="1" flipV="1">
              <a:off x="4724400" y="3429000"/>
              <a:ext cx="228600" cy="533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5" name="Oval 21">
              <a:extLst>
                <a:ext uri="{FF2B5EF4-FFF2-40B4-BE49-F238E27FC236}">
                  <a16:creationId xmlns:a16="http://schemas.microsoft.com/office/drawing/2014/main" id="{4559D898-FC59-4D97-AB4B-C45F48647517}"/>
                </a:ext>
              </a:extLst>
            </p:cNvPr>
            <p:cNvSpPr>
              <a:spLocks noChangeArrowheads="1"/>
            </p:cNvSpPr>
            <p:nvPr/>
          </p:nvSpPr>
          <p:spPr bwMode="auto">
            <a:xfrm>
              <a:off x="5715000" y="39624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0976" name="Oval 22">
              <a:extLst>
                <a:ext uri="{FF2B5EF4-FFF2-40B4-BE49-F238E27FC236}">
                  <a16:creationId xmlns:a16="http://schemas.microsoft.com/office/drawing/2014/main" id="{1AFC6CC5-6BE9-94BA-5BB9-352A55A419CA}"/>
                </a:ext>
              </a:extLst>
            </p:cNvPr>
            <p:cNvSpPr>
              <a:spLocks noChangeArrowheads="1"/>
            </p:cNvSpPr>
            <p:nvPr/>
          </p:nvSpPr>
          <p:spPr bwMode="auto">
            <a:xfrm>
              <a:off x="6477000" y="39624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0977" name="Oval 23">
              <a:extLst>
                <a:ext uri="{FF2B5EF4-FFF2-40B4-BE49-F238E27FC236}">
                  <a16:creationId xmlns:a16="http://schemas.microsoft.com/office/drawing/2014/main" id="{E3ABEACE-AED0-B8BD-AF36-80A16DDD22A4}"/>
                </a:ext>
              </a:extLst>
            </p:cNvPr>
            <p:cNvSpPr>
              <a:spLocks noChangeArrowheads="1"/>
            </p:cNvSpPr>
            <p:nvPr/>
          </p:nvSpPr>
          <p:spPr bwMode="auto">
            <a:xfrm>
              <a:off x="6096000" y="29718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0978" name="Line 24">
              <a:extLst>
                <a:ext uri="{FF2B5EF4-FFF2-40B4-BE49-F238E27FC236}">
                  <a16:creationId xmlns:a16="http://schemas.microsoft.com/office/drawing/2014/main" id="{399F69AC-4E76-8248-8E7E-057E92D46A8B}"/>
                </a:ext>
              </a:extLst>
            </p:cNvPr>
            <p:cNvSpPr>
              <a:spLocks noChangeShapeType="1"/>
            </p:cNvSpPr>
            <p:nvPr/>
          </p:nvSpPr>
          <p:spPr bwMode="auto">
            <a:xfrm flipV="1">
              <a:off x="6019800" y="3429000"/>
              <a:ext cx="228600" cy="533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9" name="Line 25">
              <a:extLst>
                <a:ext uri="{FF2B5EF4-FFF2-40B4-BE49-F238E27FC236}">
                  <a16:creationId xmlns:a16="http://schemas.microsoft.com/office/drawing/2014/main" id="{0C55DFFE-A836-735C-B347-2567091AB249}"/>
                </a:ext>
              </a:extLst>
            </p:cNvPr>
            <p:cNvSpPr>
              <a:spLocks noChangeShapeType="1"/>
            </p:cNvSpPr>
            <p:nvPr/>
          </p:nvSpPr>
          <p:spPr bwMode="auto">
            <a:xfrm flipH="1" flipV="1">
              <a:off x="6400800" y="3429000"/>
              <a:ext cx="228600" cy="533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0" name="Text Box 42">
              <a:extLst>
                <a:ext uri="{FF2B5EF4-FFF2-40B4-BE49-F238E27FC236}">
                  <a16:creationId xmlns:a16="http://schemas.microsoft.com/office/drawing/2014/main" id="{5D5B664A-A448-D819-A9FB-33313C227A56}"/>
                </a:ext>
              </a:extLst>
            </p:cNvPr>
            <p:cNvSpPr txBox="1">
              <a:spLocks noChangeArrowheads="1"/>
            </p:cNvSpPr>
            <p:nvPr/>
          </p:nvSpPr>
          <p:spPr bwMode="auto">
            <a:xfrm>
              <a:off x="2438400" y="29718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40981" name="Text Box 43">
              <a:extLst>
                <a:ext uri="{FF2B5EF4-FFF2-40B4-BE49-F238E27FC236}">
                  <a16:creationId xmlns:a16="http://schemas.microsoft.com/office/drawing/2014/main" id="{47E70B8A-E6A9-8F03-F94F-41BA998CB09F}"/>
                </a:ext>
              </a:extLst>
            </p:cNvPr>
            <p:cNvSpPr txBox="1">
              <a:spLocks noChangeArrowheads="1"/>
            </p:cNvSpPr>
            <p:nvPr/>
          </p:nvSpPr>
          <p:spPr bwMode="auto">
            <a:xfrm>
              <a:off x="4419600" y="28956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0982" name="Text Box 44">
              <a:extLst>
                <a:ext uri="{FF2B5EF4-FFF2-40B4-BE49-F238E27FC236}">
                  <a16:creationId xmlns:a16="http://schemas.microsoft.com/office/drawing/2014/main" id="{3490822F-0A48-97CD-2051-8FF1FBCAD5FC}"/>
                </a:ext>
              </a:extLst>
            </p:cNvPr>
            <p:cNvSpPr txBox="1">
              <a:spLocks noChangeArrowheads="1"/>
            </p:cNvSpPr>
            <p:nvPr/>
          </p:nvSpPr>
          <p:spPr bwMode="auto">
            <a:xfrm>
              <a:off x="6172200" y="28956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40983" name="Text Box 45">
              <a:extLst>
                <a:ext uri="{FF2B5EF4-FFF2-40B4-BE49-F238E27FC236}">
                  <a16:creationId xmlns:a16="http://schemas.microsoft.com/office/drawing/2014/main" id="{8BC36CC4-1A3A-D507-0B68-FF681146EB48}"/>
                </a:ext>
              </a:extLst>
            </p:cNvPr>
            <p:cNvSpPr txBox="1">
              <a:spLocks noChangeArrowheads="1"/>
            </p:cNvSpPr>
            <p:nvPr/>
          </p:nvSpPr>
          <p:spPr bwMode="auto">
            <a:xfrm>
              <a:off x="2438400" y="38862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40984" name="Text Box 46">
              <a:extLst>
                <a:ext uri="{FF2B5EF4-FFF2-40B4-BE49-F238E27FC236}">
                  <a16:creationId xmlns:a16="http://schemas.microsoft.com/office/drawing/2014/main" id="{4370F070-0993-D1DC-F0B5-0ECF2C442C69}"/>
                </a:ext>
              </a:extLst>
            </p:cNvPr>
            <p:cNvSpPr txBox="1">
              <a:spLocks noChangeArrowheads="1"/>
            </p:cNvSpPr>
            <p:nvPr/>
          </p:nvSpPr>
          <p:spPr bwMode="auto">
            <a:xfrm>
              <a:off x="1828800" y="38862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40985" name="Text Box 47">
              <a:extLst>
                <a:ext uri="{FF2B5EF4-FFF2-40B4-BE49-F238E27FC236}">
                  <a16:creationId xmlns:a16="http://schemas.microsoft.com/office/drawing/2014/main" id="{7567113E-9B0C-CBD9-CC64-3A08D079C4D9}"/>
                </a:ext>
              </a:extLst>
            </p:cNvPr>
            <p:cNvSpPr txBox="1">
              <a:spLocks noChangeArrowheads="1"/>
            </p:cNvSpPr>
            <p:nvPr/>
          </p:nvSpPr>
          <p:spPr bwMode="auto">
            <a:xfrm>
              <a:off x="3048000" y="38862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40986" name="Text Box 48">
              <a:extLst>
                <a:ext uri="{FF2B5EF4-FFF2-40B4-BE49-F238E27FC236}">
                  <a16:creationId xmlns:a16="http://schemas.microsoft.com/office/drawing/2014/main" id="{1AEAC004-28B8-B6EB-D95E-E9935DDEC15A}"/>
                </a:ext>
              </a:extLst>
            </p:cNvPr>
            <p:cNvSpPr txBox="1">
              <a:spLocks noChangeArrowheads="1"/>
            </p:cNvSpPr>
            <p:nvPr/>
          </p:nvSpPr>
          <p:spPr bwMode="auto">
            <a:xfrm>
              <a:off x="4114800" y="38862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40987" name="Text Box 49">
              <a:extLst>
                <a:ext uri="{FF2B5EF4-FFF2-40B4-BE49-F238E27FC236}">
                  <a16:creationId xmlns:a16="http://schemas.microsoft.com/office/drawing/2014/main" id="{9093A938-2AEA-F0D1-7D0D-9327623ADAE3}"/>
                </a:ext>
              </a:extLst>
            </p:cNvPr>
            <p:cNvSpPr txBox="1">
              <a:spLocks noChangeArrowheads="1"/>
            </p:cNvSpPr>
            <p:nvPr/>
          </p:nvSpPr>
          <p:spPr bwMode="auto">
            <a:xfrm>
              <a:off x="4800600" y="38862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40988" name="Text Box 50">
              <a:extLst>
                <a:ext uri="{FF2B5EF4-FFF2-40B4-BE49-F238E27FC236}">
                  <a16:creationId xmlns:a16="http://schemas.microsoft.com/office/drawing/2014/main" id="{B307A3C7-E499-53E2-662A-E2503B099E1B}"/>
                </a:ext>
              </a:extLst>
            </p:cNvPr>
            <p:cNvSpPr txBox="1">
              <a:spLocks noChangeArrowheads="1"/>
            </p:cNvSpPr>
            <p:nvPr/>
          </p:nvSpPr>
          <p:spPr bwMode="auto">
            <a:xfrm>
              <a:off x="5791200" y="38862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40989" name="Text Box 51">
              <a:extLst>
                <a:ext uri="{FF2B5EF4-FFF2-40B4-BE49-F238E27FC236}">
                  <a16:creationId xmlns:a16="http://schemas.microsoft.com/office/drawing/2014/main" id="{B18D870E-AAE0-B904-10C8-EDBF9E8E52BD}"/>
                </a:ext>
              </a:extLst>
            </p:cNvPr>
            <p:cNvSpPr txBox="1">
              <a:spLocks noChangeArrowheads="1"/>
            </p:cNvSpPr>
            <p:nvPr/>
          </p:nvSpPr>
          <p:spPr bwMode="auto">
            <a:xfrm>
              <a:off x="6553200" y="38862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grpSp>
      <p:sp>
        <p:nvSpPr>
          <p:cNvPr id="3" name="内容占位符 2">
            <a:extLst>
              <a:ext uri="{FF2B5EF4-FFF2-40B4-BE49-F238E27FC236}">
                <a16:creationId xmlns:a16="http://schemas.microsoft.com/office/drawing/2014/main" id="{E58E8A8C-1399-49CA-A3D9-BA862F3F7A43}"/>
              </a:ext>
            </a:extLst>
          </p:cNvPr>
          <p:cNvSpPr>
            <a:spLocks noGrp="1"/>
          </p:cNvSpPr>
          <p:nvPr>
            <p:ph idx="1"/>
          </p:nvPr>
        </p:nvSpPr>
        <p:spPr>
          <a:xfrm>
            <a:off x="571922" y="287501"/>
            <a:ext cx="7886700" cy="4351338"/>
          </a:xfrm>
        </p:spPr>
        <p:txBody>
          <a:bodyPr>
            <a:normAutofit fontScale="92500" lnSpcReduction="10000"/>
          </a:bodyPr>
          <a:lstStyle/>
          <a:p>
            <a:r>
              <a:rPr lang="zh-CN" altLang="en-US" dirty="0"/>
              <a:t>经过一段时间的计算，集合逐渐合并</a:t>
            </a:r>
          </a:p>
          <a:p>
            <a:r>
              <a:rPr lang="zh-CN" altLang="en-US" dirty="0"/>
              <a:t>例如合并成</a:t>
            </a:r>
            <a:r>
              <a:rPr lang="en-US" altLang="zh-CN" dirty="0"/>
              <a:t>3</a:t>
            </a:r>
            <a:r>
              <a:rPr lang="zh-CN" altLang="en-US" dirty="0"/>
              <a:t>个集合 </a:t>
            </a:r>
            <a:r>
              <a:rPr lang="en-US" altLang="zh-CN" dirty="0"/>
              <a:t>S1= {0, 6, 7, 8 }, S2= { 1, 4, 9 }, S3= { 2, 3, 5 }</a:t>
            </a:r>
          </a:p>
          <a:p>
            <a:endParaRPr lang="en-US" altLang="zh-CN" dirty="0"/>
          </a:p>
          <a:p>
            <a:endParaRPr lang="en-US" altLang="zh-CN" dirty="0"/>
          </a:p>
          <a:p>
            <a:endParaRPr lang="en-US" altLang="zh-CN" dirty="0"/>
          </a:p>
          <a:p>
            <a:pPr marL="0" indent="0">
              <a:buNone/>
            </a:pPr>
            <a:r>
              <a:rPr lang="en-US" altLang="zh-CN" b="1" i="1" dirty="0">
                <a:solidFill>
                  <a:schemeClr val="accent2"/>
                </a:solidFill>
                <a:effectLst>
                  <a:outerShdw blurRad="38100" dist="38100" dir="2700000" algn="tl">
                    <a:srgbClr val="C0C0C0"/>
                  </a:outerShdw>
                </a:effectLst>
                <a:ea typeface="仿宋_GB2312" pitchFamily="49" charset="-122"/>
              </a:rPr>
              <a:t>             S</a:t>
            </a:r>
            <a:r>
              <a:rPr lang="en-US" altLang="zh-CN" b="1" baseline="-25000" dirty="0">
                <a:solidFill>
                  <a:schemeClr val="accent2"/>
                </a:solidFill>
                <a:effectLst>
                  <a:outerShdw blurRad="38100" dist="38100" dir="2700000" algn="tl">
                    <a:srgbClr val="C0C0C0"/>
                  </a:outerShdw>
                </a:effectLst>
                <a:ea typeface="仿宋_GB2312" pitchFamily="49" charset="-122"/>
              </a:rPr>
              <a:t>1</a:t>
            </a:r>
            <a:r>
              <a:rPr lang="en-US" altLang="zh-CN" b="1" i="1" dirty="0">
                <a:solidFill>
                  <a:schemeClr val="accent2"/>
                </a:solidFill>
                <a:effectLst>
                  <a:outerShdw blurRad="38100" dist="38100" dir="2700000" algn="tl">
                    <a:srgbClr val="C0C0C0"/>
                  </a:outerShdw>
                </a:effectLst>
                <a:ea typeface="仿宋_GB2312" pitchFamily="49" charset="-122"/>
              </a:rPr>
              <a:t>            S</a:t>
            </a:r>
            <a:r>
              <a:rPr lang="en-US" altLang="zh-CN" b="1" baseline="-25000" dirty="0">
                <a:solidFill>
                  <a:schemeClr val="accent2"/>
                </a:solidFill>
                <a:effectLst>
                  <a:outerShdw blurRad="38100" dist="38100" dir="2700000" algn="tl">
                    <a:srgbClr val="C0C0C0"/>
                  </a:outerShdw>
                </a:effectLst>
                <a:ea typeface="仿宋_GB2312" pitchFamily="49" charset="-122"/>
              </a:rPr>
              <a:t>2      </a:t>
            </a:r>
            <a:r>
              <a:rPr lang="en-US" altLang="zh-CN" b="1" i="1" dirty="0">
                <a:solidFill>
                  <a:schemeClr val="accent2"/>
                </a:solidFill>
                <a:effectLst>
                  <a:outerShdw blurRad="38100" dist="38100" dir="2700000" algn="tl">
                    <a:srgbClr val="C0C0C0"/>
                  </a:outerShdw>
                </a:effectLst>
                <a:ea typeface="仿宋_GB2312" pitchFamily="49" charset="-122"/>
              </a:rPr>
              <a:t>      S</a:t>
            </a:r>
            <a:r>
              <a:rPr lang="en-US" altLang="zh-CN" b="1" baseline="-25000" dirty="0">
                <a:solidFill>
                  <a:schemeClr val="accent2"/>
                </a:solidFill>
                <a:effectLst>
                  <a:outerShdw blurRad="38100" dist="38100" dir="2700000" algn="tl">
                    <a:srgbClr val="C0C0C0"/>
                  </a:outerShdw>
                </a:effectLst>
                <a:ea typeface="仿宋_GB2312" pitchFamily="49" charset="-122"/>
              </a:rPr>
              <a:t>3</a:t>
            </a:r>
            <a:endParaRPr lang="en-US" altLang="zh-CN" dirty="0"/>
          </a:p>
          <a:p>
            <a:r>
              <a:rPr lang="zh-CN" altLang="en-US" dirty="0"/>
              <a:t>它们对应的父指针数组表示如下图</a:t>
            </a:r>
          </a:p>
          <a:p>
            <a:endParaRPr lang="zh-CN" altLang="en-US" dirty="0"/>
          </a:p>
        </p:txBody>
      </p:sp>
      <p:grpSp>
        <p:nvGrpSpPr>
          <p:cNvPr id="33" name="组合 32">
            <a:extLst>
              <a:ext uri="{FF2B5EF4-FFF2-40B4-BE49-F238E27FC236}">
                <a16:creationId xmlns:a16="http://schemas.microsoft.com/office/drawing/2014/main" id="{E14B824D-5A29-41B1-AC49-87C0149A4827}"/>
              </a:ext>
            </a:extLst>
          </p:cNvPr>
          <p:cNvGrpSpPr/>
          <p:nvPr/>
        </p:nvGrpSpPr>
        <p:grpSpPr>
          <a:xfrm>
            <a:off x="819572" y="4528268"/>
            <a:ext cx="8001000" cy="2087563"/>
            <a:chOff x="533400" y="457200"/>
            <a:chExt cx="8001000" cy="2087563"/>
          </a:xfrm>
        </p:grpSpPr>
        <p:sp>
          <p:nvSpPr>
            <p:cNvPr id="34" name="Text Box 6">
              <a:extLst>
                <a:ext uri="{FF2B5EF4-FFF2-40B4-BE49-F238E27FC236}">
                  <a16:creationId xmlns:a16="http://schemas.microsoft.com/office/drawing/2014/main" id="{50C20ACB-EDCE-4650-B7A9-BD9DD15BB7E0}"/>
                </a:ext>
              </a:extLst>
            </p:cNvPr>
            <p:cNvSpPr txBox="1">
              <a:spLocks noChangeArrowheads="1"/>
            </p:cNvSpPr>
            <p:nvPr/>
          </p:nvSpPr>
          <p:spPr bwMode="auto">
            <a:xfrm>
              <a:off x="533400" y="1373188"/>
              <a:ext cx="1600200" cy="1095375"/>
            </a:xfrm>
            <a:prstGeom prst="rect">
              <a:avLst/>
            </a:prstGeom>
            <a:noFill/>
            <a:ln w="9525">
              <a:noFill/>
              <a:miter lim="800000"/>
              <a:headEnd/>
              <a:tailEnd/>
            </a:ln>
            <a:effectLst/>
          </p:spPr>
          <p:txBody>
            <a:bodyPr>
              <a:spAutoFit/>
            </a:bodyPr>
            <a:lstStyle/>
            <a:p>
              <a:pPr>
                <a:spcBef>
                  <a:spcPct val="35000"/>
                </a:spcBef>
                <a:defRPr/>
              </a:pPr>
              <a:r>
                <a:rPr lang="zh-CN" altLang="en-US" sz="2800" b="1">
                  <a:effectLst>
                    <a:outerShdw blurRad="38100" dist="38100" dir="2700000" algn="tl">
                      <a:srgbClr val="C0C0C0"/>
                    </a:outerShdw>
                  </a:effectLst>
                  <a:ea typeface="仿宋_GB2312" pitchFamily="49" charset="-122"/>
                </a:rPr>
                <a:t>下标</a:t>
              </a:r>
              <a:endParaRPr lang="zh-CN" altLang="en-US" sz="2800" b="1">
                <a:effectLst>
                  <a:outerShdw blurRad="38100" dist="38100" dir="2700000" algn="tl">
                    <a:srgbClr val="C0C0C0"/>
                  </a:outerShdw>
                </a:effectLst>
                <a:ea typeface="楷体_GB2312" pitchFamily="49" charset="-122"/>
              </a:endParaRPr>
            </a:p>
            <a:p>
              <a:pPr>
                <a:spcBef>
                  <a:spcPct val="35000"/>
                </a:spcBef>
                <a:defRPr/>
              </a:pPr>
              <a:r>
                <a:rPr lang="en-US" altLang="zh-CN" sz="2800" b="1">
                  <a:solidFill>
                    <a:schemeClr val="tx2"/>
                  </a:solidFill>
                  <a:ea typeface="楷体_GB2312" pitchFamily="49" charset="-122"/>
                </a:rPr>
                <a:t>parent</a:t>
              </a:r>
              <a:endParaRPr lang="en-US" altLang="zh-CN" sz="2400" i="1">
                <a:ea typeface="宋体" charset="-122"/>
              </a:endParaRPr>
            </a:p>
          </p:txBody>
        </p:sp>
        <p:sp>
          <p:nvSpPr>
            <p:cNvPr id="35" name="Rectangle 8">
              <a:extLst>
                <a:ext uri="{FF2B5EF4-FFF2-40B4-BE49-F238E27FC236}">
                  <a16:creationId xmlns:a16="http://schemas.microsoft.com/office/drawing/2014/main" id="{F847F01E-D144-45BE-83EE-65A9FFEBB35C}"/>
                </a:ext>
              </a:extLst>
            </p:cNvPr>
            <p:cNvSpPr>
              <a:spLocks noChangeArrowheads="1"/>
            </p:cNvSpPr>
            <p:nvPr/>
          </p:nvSpPr>
          <p:spPr bwMode="auto">
            <a:xfrm>
              <a:off x="1676400" y="1935163"/>
              <a:ext cx="6858000" cy="609600"/>
            </a:xfrm>
            <a:prstGeom prst="rect">
              <a:avLst/>
            </a:prstGeom>
            <a:solidFill>
              <a:srgbClr val="CCFFCC"/>
            </a:solidFill>
            <a:ln w="38100">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dirty="0">
                  <a:solidFill>
                    <a:srgbClr val="CC3300"/>
                  </a:solidFill>
                  <a:latin typeface="楷体_GB2312" pitchFamily="49" charset="-122"/>
                  <a:ea typeface="楷体_GB2312" pitchFamily="49" charset="-122"/>
                </a:rPr>
                <a:t>-</a:t>
              </a:r>
              <a:r>
                <a:rPr lang="en-US" altLang="zh-CN" sz="3200" b="1" dirty="0">
                  <a:solidFill>
                    <a:srgbClr val="CC3300"/>
                  </a:solidFill>
                  <a:latin typeface="Times New Roman" panose="02020603050405020304" pitchFamily="18" charset="0"/>
                  <a:ea typeface="宋体" panose="02010600030101010101" pitchFamily="2" charset="-122"/>
                </a:rPr>
                <a:t>4</a:t>
              </a:r>
              <a:r>
                <a:rPr lang="en-US" altLang="zh-CN" sz="3200" b="1" dirty="0">
                  <a:latin typeface="Times New Roman" panose="02020603050405020304" pitchFamily="18" charset="0"/>
                  <a:ea typeface="宋体" panose="02010600030101010101" pitchFamily="2" charset="-122"/>
                </a:rPr>
                <a:t>   </a:t>
              </a:r>
              <a:r>
                <a:rPr lang="en-US" altLang="zh-CN" sz="3200" b="1" dirty="0">
                  <a:solidFill>
                    <a:srgbClr val="CC3300"/>
                  </a:solidFill>
                  <a:latin typeface="楷体_GB2312" pitchFamily="49" charset="-122"/>
                  <a:ea typeface="楷体_GB2312" pitchFamily="49" charset="-122"/>
                </a:rPr>
                <a:t>-</a:t>
              </a:r>
              <a:r>
                <a:rPr lang="en-US" altLang="zh-CN" sz="3200" b="1" dirty="0">
                  <a:solidFill>
                    <a:srgbClr val="CC3300"/>
                  </a:solidFill>
                  <a:latin typeface="Times New Roman" panose="02020603050405020304" pitchFamily="18" charset="0"/>
                  <a:ea typeface="宋体" panose="02010600030101010101" pitchFamily="2" charset="-122"/>
                </a:rPr>
                <a:t>3 </a:t>
              </a:r>
              <a:r>
                <a:rPr lang="en-US" altLang="zh-CN" sz="3200" b="1" dirty="0">
                  <a:latin typeface="Times New Roman" panose="02020603050405020304" pitchFamily="18" charset="0"/>
                  <a:ea typeface="宋体" panose="02010600030101010101" pitchFamily="2" charset="-122"/>
                </a:rPr>
                <a:t>  </a:t>
              </a:r>
              <a:r>
                <a:rPr lang="en-US" altLang="zh-CN" sz="3200" b="1" dirty="0">
                  <a:solidFill>
                    <a:srgbClr val="CC3300"/>
                  </a:solidFill>
                  <a:latin typeface="楷体_GB2312" pitchFamily="49" charset="-122"/>
                  <a:ea typeface="楷体_GB2312" pitchFamily="49" charset="-122"/>
                </a:rPr>
                <a:t>-</a:t>
              </a:r>
              <a:r>
                <a:rPr lang="en-US" altLang="zh-CN" sz="3200" b="1" dirty="0">
                  <a:solidFill>
                    <a:srgbClr val="CC3300"/>
                  </a:solidFill>
                  <a:latin typeface="Times New Roman" panose="02020603050405020304" pitchFamily="18" charset="0"/>
                  <a:ea typeface="宋体" panose="02010600030101010101" pitchFamily="2" charset="-122"/>
                </a:rPr>
                <a:t>3</a:t>
              </a:r>
              <a:r>
                <a:rPr lang="en-US" altLang="zh-CN" sz="3200" b="1" dirty="0">
                  <a:latin typeface="Times New Roman" panose="02020603050405020304" pitchFamily="18" charset="0"/>
                  <a:ea typeface="宋体" panose="02010600030101010101" pitchFamily="2" charset="-122"/>
                </a:rPr>
                <a:t>    </a:t>
              </a:r>
              <a:r>
                <a:rPr lang="en-US" altLang="zh-CN" sz="3200" b="1" dirty="0">
                  <a:solidFill>
                    <a:schemeClr val="accent2"/>
                  </a:solidFill>
                  <a:latin typeface="Times New Roman" panose="02020603050405020304" pitchFamily="18" charset="0"/>
                  <a:ea typeface="宋体" panose="02010600030101010101" pitchFamily="2" charset="-122"/>
                </a:rPr>
                <a:t>2</a:t>
              </a:r>
              <a:r>
                <a:rPr lang="en-US" altLang="zh-CN" sz="3200" b="1" dirty="0">
                  <a:latin typeface="Times New Roman" panose="02020603050405020304" pitchFamily="18" charset="0"/>
                  <a:ea typeface="宋体" panose="02010600030101010101" pitchFamily="2" charset="-122"/>
                </a:rPr>
                <a:t>     </a:t>
              </a:r>
              <a:r>
                <a:rPr lang="en-US" altLang="zh-CN" sz="3200" b="1" dirty="0">
                  <a:solidFill>
                    <a:schemeClr val="accent2"/>
                  </a:solidFill>
                  <a:latin typeface="Times New Roman" panose="02020603050405020304" pitchFamily="18" charset="0"/>
                  <a:ea typeface="宋体" panose="02010600030101010101" pitchFamily="2" charset="-122"/>
                </a:rPr>
                <a:t>1</a:t>
              </a:r>
              <a:r>
                <a:rPr lang="en-US" altLang="zh-CN" sz="3200" b="1" dirty="0">
                  <a:latin typeface="Times New Roman" panose="02020603050405020304" pitchFamily="18" charset="0"/>
                  <a:ea typeface="宋体" panose="02010600030101010101" pitchFamily="2" charset="-122"/>
                </a:rPr>
                <a:t>    </a:t>
              </a:r>
              <a:r>
                <a:rPr lang="en-US" altLang="zh-CN" sz="3200" b="1" dirty="0">
                  <a:solidFill>
                    <a:schemeClr val="accent2"/>
                  </a:solidFill>
                  <a:latin typeface="Times New Roman" panose="02020603050405020304" pitchFamily="18" charset="0"/>
                  <a:ea typeface="宋体" panose="02010600030101010101" pitchFamily="2" charset="-122"/>
                </a:rPr>
                <a:t>2     0     0    0     1</a:t>
              </a:r>
            </a:p>
          </p:txBody>
        </p:sp>
        <p:sp>
          <p:nvSpPr>
            <p:cNvPr id="36" name="Line 9">
              <a:extLst>
                <a:ext uri="{FF2B5EF4-FFF2-40B4-BE49-F238E27FC236}">
                  <a16:creationId xmlns:a16="http://schemas.microsoft.com/office/drawing/2014/main" id="{BA7ABAB0-1150-44CA-B561-D125800A3D25}"/>
                </a:ext>
              </a:extLst>
            </p:cNvPr>
            <p:cNvSpPr>
              <a:spLocks noChangeShapeType="1"/>
            </p:cNvSpPr>
            <p:nvPr/>
          </p:nvSpPr>
          <p:spPr bwMode="auto">
            <a:xfrm>
              <a:off x="2362200" y="1935163"/>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10">
              <a:extLst>
                <a:ext uri="{FF2B5EF4-FFF2-40B4-BE49-F238E27FC236}">
                  <a16:creationId xmlns:a16="http://schemas.microsoft.com/office/drawing/2014/main" id="{1CC14E63-B089-48F6-920E-96A4068B820C}"/>
                </a:ext>
              </a:extLst>
            </p:cNvPr>
            <p:cNvSpPr>
              <a:spLocks noChangeShapeType="1"/>
            </p:cNvSpPr>
            <p:nvPr/>
          </p:nvSpPr>
          <p:spPr bwMode="auto">
            <a:xfrm>
              <a:off x="3048000" y="1935163"/>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11">
              <a:extLst>
                <a:ext uri="{FF2B5EF4-FFF2-40B4-BE49-F238E27FC236}">
                  <a16:creationId xmlns:a16="http://schemas.microsoft.com/office/drawing/2014/main" id="{E2EFDA44-30CC-4E55-96D6-73948335E53A}"/>
                </a:ext>
              </a:extLst>
            </p:cNvPr>
            <p:cNvSpPr>
              <a:spLocks noChangeShapeType="1"/>
            </p:cNvSpPr>
            <p:nvPr/>
          </p:nvSpPr>
          <p:spPr bwMode="auto">
            <a:xfrm>
              <a:off x="3733800" y="1935163"/>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12">
              <a:extLst>
                <a:ext uri="{FF2B5EF4-FFF2-40B4-BE49-F238E27FC236}">
                  <a16:creationId xmlns:a16="http://schemas.microsoft.com/office/drawing/2014/main" id="{6F2F8183-16EB-4F3C-9265-50B9224194A5}"/>
                </a:ext>
              </a:extLst>
            </p:cNvPr>
            <p:cNvSpPr>
              <a:spLocks noChangeShapeType="1"/>
            </p:cNvSpPr>
            <p:nvPr/>
          </p:nvSpPr>
          <p:spPr bwMode="auto">
            <a:xfrm>
              <a:off x="4419600" y="1935163"/>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13">
              <a:extLst>
                <a:ext uri="{FF2B5EF4-FFF2-40B4-BE49-F238E27FC236}">
                  <a16:creationId xmlns:a16="http://schemas.microsoft.com/office/drawing/2014/main" id="{1644A435-E6DA-4548-ADFC-F3B1F3E035F8}"/>
                </a:ext>
              </a:extLst>
            </p:cNvPr>
            <p:cNvSpPr>
              <a:spLocks noChangeShapeType="1"/>
            </p:cNvSpPr>
            <p:nvPr/>
          </p:nvSpPr>
          <p:spPr bwMode="auto">
            <a:xfrm>
              <a:off x="5105400" y="1935163"/>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14">
              <a:extLst>
                <a:ext uri="{FF2B5EF4-FFF2-40B4-BE49-F238E27FC236}">
                  <a16:creationId xmlns:a16="http://schemas.microsoft.com/office/drawing/2014/main" id="{1101A321-4C51-45F9-B4C1-7824E0BBB956}"/>
                </a:ext>
              </a:extLst>
            </p:cNvPr>
            <p:cNvSpPr>
              <a:spLocks noChangeShapeType="1"/>
            </p:cNvSpPr>
            <p:nvPr/>
          </p:nvSpPr>
          <p:spPr bwMode="auto">
            <a:xfrm>
              <a:off x="5791200" y="1935163"/>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15">
              <a:extLst>
                <a:ext uri="{FF2B5EF4-FFF2-40B4-BE49-F238E27FC236}">
                  <a16:creationId xmlns:a16="http://schemas.microsoft.com/office/drawing/2014/main" id="{E6D16BFA-36E7-470F-9B4E-32F58A4C6694}"/>
                </a:ext>
              </a:extLst>
            </p:cNvPr>
            <p:cNvSpPr>
              <a:spLocks noChangeShapeType="1"/>
            </p:cNvSpPr>
            <p:nvPr/>
          </p:nvSpPr>
          <p:spPr bwMode="auto">
            <a:xfrm>
              <a:off x="6477000" y="1935163"/>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16">
              <a:extLst>
                <a:ext uri="{FF2B5EF4-FFF2-40B4-BE49-F238E27FC236}">
                  <a16:creationId xmlns:a16="http://schemas.microsoft.com/office/drawing/2014/main" id="{81B50351-CF1F-4330-8AE1-963DED584BC7}"/>
                </a:ext>
              </a:extLst>
            </p:cNvPr>
            <p:cNvSpPr>
              <a:spLocks noChangeShapeType="1"/>
            </p:cNvSpPr>
            <p:nvPr/>
          </p:nvSpPr>
          <p:spPr bwMode="auto">
            <a:xfrm>
              <a:off x="7162800" y="1935163"/>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Text Box 17">
              <a:extLst>
                <a:ext uri="{FF2B5EF4-FFF2-40B4-BE49-F238E27FC236}">
                  <a16:creationId xmlns:a16="http://schemas.microsoft.com/office/drawing/2014/main" id="{FFC27219-973C-4673-8CA3-92192D3B9AA8}"/>
                </a:ext>
              </a:extLst>
            </p:cNvPr>
            <p:cNvSpPr txBox="1">
              <a:spLocks noChangeArrowheads="1"/>
            </p:cNvSpPr>
            <p:nvPr/>
          </p:nvSpPr>
          <p:spPr bwMode="auto">
            <a:xfrm>
              <a:off x="1812925" y="1339850"/>
              <a:ext cx="6496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2800" b="1">
                  <a:latin typeface="Times New Roman" panose="02020603050405020304" pitchFamily="18" charset="0"/>
                  <a:ea typeface="宋体" panose="02010600030101010101" pitchFamily="2" charset="-122"/>
                </a:rPr>
                <a:t>0     1      2     3      4      5     6      7      8      9</a:t>
              </a:r>
              <a:endParaRPr lang="en-US" altLang="zh-CN" sz="2400">
                <a:latin typeface="Times New Roman" panose="02020603050405020304" pitchFamily="18" charset="0"/>
                <a:ea typeface="宋体" panose="02010600030101010101" pitchFamily="2" charset="-122"/>
              </a:endParaRPr>
            </a:p>
          </p:txBody>
        </p:sp>
        <p:sp>
          <p:nvSpPr>
            <p:cNvPr id="45" name="Line 18">
              <a:extLst>
                <a:ext uri="{FF2B5EF4-FFF2-40B4-BE49-F238E27FC236}">
                  <a16:creationId xmlns:a16="http://schemas.microsoft.com/office/drawing/2014/main" id="{C9565B9F-7A46-4825-8A14-7219283D9978}"/>
                </a:ext>
              </a:extLst>
            </p:cNvPr>
            <p:cNvSpPr>
              <a:spLocks noChangeShapeType="1"/>
            </p:cNvSpPr>
            <p:nvPr/>
          </p:nvSpPr>
          <p:spPr bwMode="auto">
            <a:xfrm>
              <a:off x="7848600" y="1935163"/>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45">
              <a:extLst>
                <a:ext uri="{FF2B5EF4-FFF2-40B4-BE49-F238E27FC236}">
                  <a16:creationId xmlns:a16="http://schemas.microsoft.com/office/drawing/2014/main" id="{E80074D1-91A1-4368-B285-28AB8377C53C}"/>
                </a:ext>
              </a:extLst>
            </p:cNvPr>
            <p:cNvSpPr>
              <a:spLocks noChangeShapeType="1"/>
            </p:cNvSpPr>
            <p:nvPr/>
          </p:nvSpPr>
          <p:spPr bwMode="auto">
            <a:xfrm>
              <a:off x="4648200" y="990600"/>
              <a:ext cx="0" cy="457200"/>
            </a:xfrm>
            <a:prstGeom prst="line">
              <a:avLst/>
            </a:prstGeom>
            <a:noFill/>
            <a:ln w="19050">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46">
              <a:extLst>
                <a:ext uri="{FF2B5EF4-FFF2-40B4-BE49-F238E27FC236}">
                  <a16:creationId xmlns:a16="http://schemas.microsoft.com/office/drawing/2014/main" id="{F4C1B6C9-B9A0-4579-9E73-ED456240B0FC}"/>
                </a:ext>
              </a:extLst>
            </p:cNvPr>
            <p:cNvSpPr>
              <a:spLocks noChangeShapeType="1"/>
            </p:cNvSpPr>
            <p:nvPr/>
          </p:nvSpPr>
          <p:spPr bwMode="auto">
            <a:xfrm>
              <a:off x="2667000" y="990600"/>
              <a:ext cx="0" cy="457200"/>
            </a:xfrm>
            <a:prstGeom prst="line">
              <a:avLst/>
            </a:prstGeom>
            <a:noFill/>
            <a:ln w="19050">
              <a:solidFill>
                <a:schemeClr val="tx2"/>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47">
              <a:extLst>
                <a:ext uri="{FF2B5EF4-FFF2-40B4-BE49-F238E27FC236}">
                  <a16:creationId xmlns:a16="http://schemas.microsoft.com/office/drawing/2014/main" id="{1CB1165C-7AEA-4EB0-B099-3721C790329E}"/>
                </a:ext>
              </a:extLst>
            </p:cNvPr>
            <p:cNvSpPr>
              <a:spLocks noChangeShapeType="1"/>
            </p:cNvSpPr>
            <p:nvPr/>
          </p:nvSpPr>
          <p:spPr bwMode="auto">
            <a:xfrm>
              <a:off x="2667000" y="990600"/>
              <a:ext cx="1981200" cy="0"/>
            </a:xfrm>
            <a:prstGeom prst="line">
              <a:avLst/>
            </a:prstGeom>
            <a:noFill/>
            <a:ln w="19050">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48">
              <a:extLst>
                <a:ext uri="{FF2B5EF4-FFF2-40B4-BE49-F238E27FC236}">
                  <a16:creationId xmlns:a16="http://schemas.microsoft.com/office/drawing/2014/main" id="{93D24F69-C16C-484D-BEE8-A71083480B0A}"/>
                </a:ext>
              </a:extLst>
            </p:cNvPr>
            <p:cNvSpPr>
              <a:spLocks noChangeShapeType="1"/>
            </p:cNvSpPr>
            <p:nvPr/>
          </p:nvSpPr>
          <p:spPr bwMode="auto">
            <a:xfrm>
              <a:off x="1828800" y="609600"/>
              <a:ext cx="0" cy="838200"/>
            </a:xfrm>
            <a:prstGeom prst="line">
              <a:avLst/>
            </a:prstGeom>
            <a:noFill/>
            <a:ln w="19050">
              <a:solidFill>
                <a:srgbClr val="006600"/>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49">
              <a:extLst>
                <a:ext uri="{FF2B5EF4-FFF2-40B4-BE49-F238E27FC236}">
                  <a16:creationId xmlns:a16="http://schemas.microsoft.com/office/drawing/2014/main" id="{11D66747-485D-4C4C-9BE9-ADF264F77D49}"/>
                </a:ext>
              </a:extLst>
            </p:cNvPr>
            <p:cNvSpPr>
              <a:spLocks noChangeShapeType="1"/>
            </p:cNvSpPr>
            <p:nvPr/>
          </p:nvSpPr>
          <p:spPr bwMode="auto">
            <a:xfrm>
              <a:off x="1981200" y="762000"/>
              <a:ext cx="0" cy="685800"/>
            </a:xfrm>
            <a:prstGeom prst="line">
              <a:avLst/>
            </a:prstGeom>
            <a:noFill/>
            <a:ln w="19050">
              <a:solidFill>
                <a:srgbClr val="006600"/>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50">
              <a:extLst>
                <a:ext uri="{FF2B5EF4-FFF2-40B4-BE49-F238E27FC236}">
                  <a16:creationId xmlns:a16="http://schemas.microsoft.com/office/drawing/2014/main" id="{73447C65-F366-4080-BF2D-4836D8A15E3F}"/>
                </a:ext>
              </a:extLst>
            </p:cNvPr>
            <p:cNvSpPr>
              <a:spLocks noChangeShapeType="1"/>
            </p:cNvSpPr>
            <p:nvPr/>
          </p:nvSpPr>
          <p:spPr bwMode="auto">
            <a:xfrm>
              <a:off x="2133600" y="914400"/>
              <a:ext cx="0" cy="533400"/>
            </a:xfrm>
            <a:prstGeom prst="line">
              <a:avLst/>
            </a:prstGeom>
            <a:noFill/>
            <a:ln w="19050">
              <a:solidFill>
                <a:srgbClr val="006600"/>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51">
              <a:extLst>
                <a:ext uri="{FF2B5EF4-FFF2-40B4-BE49-F238E27FC236}">
                  <a16:creationId xmlns:a16="http://schemas.microsoft.com/office/drawing/2014/main" id="{861B527D-4B99-4AE4-82E6-2BC5F66DE48B}"/>
                </a:ext>
              </a:extLst>
            </p:cNvPr>
            <p:cNvSpPr>
              <a:spLocks noChangeShapeType="1"/>
            </p:cNvSpPr>
            <p:nvPr/>
          </p:nvSpPr>
          <p:spPr bwMode="auto">
            <a:xfrm>
              <a:off x="2133600" y="914400"/>
              <a:ext cx="3810000" cy="0"/>
            </a:xfrm>
            <a:prstGeom prst="line">
              <a:avLst/>
            </a:prstGeom>
            <a:noFill/>
            <a:ln w="19050">
              <a:solidFill>
                <a:srgbClr val="0066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52">
              <a:extLst>
                <a:ext uri="{FF2B5EF4-FFF2-40B4-BE49-F238E27FC236}">
                  <a16:creationId xmlns:a16="http://schemas.microsoft.com/office/drawing/2014/main" id="{0B17709D-A57C-41AF-AC54-586E08E0170A}"/>
                </a:ext>
              </a:extLst>
            </p:cNvPr>
            <p:cNvSpPr>
              <a:spLocks noChangeShapeType="1"/>
            </p:cNvSpPr>
            <p:nvPr/>
          </p:nvSpPr>
          <p:spPr bwMode="auto">
            <a:xfrm>
              <a:off x="5943600" y="914400"/>
              <a:ext cx="0" cy="457200"/>
            </a:xfrm>
            <a:prstGeom prst="line">
              <a:avLst/>
            </a:prstGeom>
            <a:noFill/>
            <a:ln w="19050">
              <a:solidFill>
                <a:srgbClr val="0066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53">
              <a:extLst>
                <a:ext uri="{FF2B5EF4-FFF2-40B4-BE49-F238E27FC236}">
                  <a16:creationId xmlns:a16="http://schemas.microsoft.com/office/drawing/2014/main" id="{1BD5FA24-0971-400B-8FC7-AF2067760F16}"/>
                </a:ext>
              </a:extLst>
            </p:cNvPr>
            <p:cNvSpPr>
              <a:spLocks noChangeShapeType="1"/>
            </p:cNvSpPr>
            <p:nvPr/>
          </p:nvSpPr>
          <p:spPr bwMode="auto">
            <a:xfrm>
              <a:off x="1981200" y="762000"/>
              <a:ext cx="4724400" cy="0"/>
            </a:xfrm>
            <a:prstGeom prst="line">
              <a:avLst/>
            </a:prstGeom>
            <a:noFill/>
            <a:ln w="19050">
              <a:solidFill>
                <a:srgbClr val="0066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54">
              <a:extLst>
                <a:ext uri="{FF2B5EF4-FFF2-40B4-BE49-F238E27FC236}">
                  <a16:creationId xmlns:a16="http://schemas.microsoft.com/office/drawing/2014/main" id="{C9EE8D13-C37C-49DD-B465-51DF5A10441B}"/>
                </a:ext>
              </a:extLst>
            </p:cNvPr>
            <p:cNvSpPr>
              <a:spLocks noChangeShapeType="1"/>
            </p:cNvSpPr>
            <p:nvPr/>
          </p:nvSpPr>
          <p:spPr bwMode="auto">
            <a:xfrm>
              <a:off x="6705600" y="762000"/>
              <a:ext cx="0" cy="609600"/>
            </a:xfrm>
            <a:prstGeom prst="line">
              <a:avLst/>
            </a:prstGeom>
            <a:noFill/>
            <a:ln w="19050">
              <a:solidFill>
                <a:srgbClr val="0066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55">
              <a:extLst>
                <a:ext uri="{FF2B5EF4-FFF2-40B4-BE49-F238E27FC236}">
                  <a16:creationId xmlns:a16="http://schemas.microsoft.com/office/drawing/2014/main" id="{DDF95B95-2DAE-48E2-84DE-36FE9E0291DE}"/>
                </a:ext>
              </a:extLst>
            </p:cNvPr>
            <p:cNvSpPr>
              <a:spLocks noChangeShapeType="1"/>
            </p:cNvSpPr>
            <p:nvPr/>
          </p:nvSpPr>
          <p:spPr bwMode="auto">
            <a:xfrm>
              <a:off x="1828800" y="609600"/>
              <a:ext cx="5562600" cy="0"/>
            </a:xfrm>
            <a:prstGeom prst="line">
              <a:avLst/>
            </a:prstGeom>
            <a:noFill/>
            <a:ln w="19050">
              <a:solidFill>
                <a:srgbClr val="0066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56">
              <a:extLst>
                <a:ext uri="{FF2B5EF4-FFF2-40B4-BE49-F238E27FC236}">
                  <a16:creationId xmlns:a16="http://schemas.microsoft.com/office/drawing/2014/main" id="{EC94C0F0-C82B-4FCE-8601-161B4CE466E4}"/>
                </a:ext>
              </a:extLst>
            </p:cNvPr>
            <p:cNvSpPr>
              <a:spLocks noChangeShapeType="1"/>
            </p:cNvSpPr>
            <p:nvPr/>
          </p:nvSpPr>
          <p:spPr bwMode="auto">
            <a:xfrm>
              <a:off x="7391400" y="609600"/>
              <a:ext cx="0" cy="762000"/>
            </a:xfrm>
            <a:prstGeom prst="line">
              <a:avLst/>
            </a:prstGeom>
            <a:noFill/>
            <a:ln w="19050">
              <a:solidFill>
                <a:srgbClr val="0066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57">
              <a:extLst>
                <a:ext uri="{FF2B5EF4-FFF2-40B4-BE49-F238E27FC236}">
                  <a16:creationId xmlns:a16="http://schemas.microsoft.com/office/drawing/2014/main" id="{CD67F4D3-E460-4CED-BDA1-B5B2E761DF32}"/>
                </a:ext>
              </a:extLst>
            </p:cNvPr>
            <p:cNvSpPr>
              <a:spLocks noChangeShapeType="1"/>
            </p:cNvSpPr>
            <p:nvPr/>
          </p:nvSpPr>
          <p:spPr bwMode="auto">
            <a:xfrm>
              <a:off x="2819400" y="457200"/>
              <a:ext cx="0" cy="990600"/>
            </a:xfrm>
            <a:prstGeom prst="line">
              <a:avLst/>
            </a:prstGeom>
            <a:noFill/>
            <a:ln w="19050">
              <a:solidFill>
                <a:schemeClr val="tx2"/>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58">
              <a:extLst>
                <a:ext uri="{FF2B5EF4-FFF2-40B4-BE49-F238E27FC236}">
                  <a16:creationId xmlns:a16="http://schemas.microsoft.com/office/drawing/2014/main" id="{8ADA1155-4D32-4204-A134-74C05B949948}"/>
                </a:ext>
              </a:extLst>
            </p:cNvPr>
            <p:cNvSpPr>
              <a:spLocks noChangeShapeType="1"/>
            </p:cNvSpPr>
            <p:nvPr/>
          </p:nvSpPr>
          <p:spPr bwMode="auto">
            <a:xfrm>
              <a:off x="2819400" y="457200"/>
              <a:ext cx="5334000" cy="0"/>
            </a:xfrm>
            <a:prstGeom prst="line">
              <a:avLst/>
            </a:prstGeom>
            <a:noFill/>
            <a:ln w="19050">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59">
              <a:extLst>
                <a:ext uri="{FF2B5EF4-FFF2-40B4-BE49-F238E27FC236}">
                  <a16:creationId xmlns:a16="http://schemas.microsoft.com/office/drawing/2014/main" id="{96974D26-4794-4E98-B517-77B14922A665}"/>
                </a:ext>
              </a:extLst>
            </p:cNvPr>
            <p:cNvSpPr>
              <a:spLocks noChangeShapeType="1"/>
            </p:cNvSpPr>
            <p:nvPr/>
          </p:nvSpPr>
          <p:spPr bwMode="auto">
            <a:xfrm>
              <a:off x="8153400" y="457200"/>
              <a:ext cx="0" cy="914400"/>
            </a:xfrm>
            <a:prstGeom prst="line">
              <a:avLst/>
            </a:prstGeom>
            <a:noFill/>
            <a:ln w="19050">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60">
              <a:extLst>
                <a:ext uri="{FF2B5EF4-FFF2-40B4-BE49-F238E27FC236}">
                  <a16:creationId xmlns:a16="http://schemas.microsoft.com/office/drawing/2014/main" id="{7CD28A09-694F-4974-8608-977F55E7510B}"/>
                </a:ext>
              </a:extLst>
            </p:cNvPr>
            <p:cNvSpPr>
              <a:spLocks noChangeShapeType="1"/>
            </p:cNvSpPr>
            <p:nvPr/>
          </p:nvSpPr>
          <p:spPr bwMode="auto">
            <a:xfrm>
              <a:off x="3200400" y="1066800"/>
              <a:ext cx="0" cy="381000"/>
            </a:xfrm>
            <a:prstGeom prst="line">
              <a:avLst/>
            </a:prstGeom>
            <a:noFill/>
            <a:ln w="19050">
              <a:solidFill>
                <a:srgbClr val="000099"/>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61">
              <a:extLst>
                <a:ext uri="{FF2B5EF4-FFF2-40B4-BE49-F238E27FC236}">
                  <a16:creationId xmlns:a16="http://schemas.microsoft.com/office/drawing/2014/main" id="{5221405D-5289-4969-B362-499DDD2B15F0}"/>
                </a:ext>
              </a:extLst>
            </p:cNvPr>
            <p:cNvSpPr>
              <a:spLocks noChangeShapeType="1"/>
            </p:cNvSpPr>
            <p:nvPr/>
          </p:nvSpPr>
          <p:spPr bwMode="auto">
            <a:xfrm>
              <a:off x="3200400" y="1066800"/>
              <a:ext cx="2133600" cy="0"/>
            </a:xfrm>
            <a:prstGeom prst="line">
              <a:avLst/>
            </a:prstGeom>
            <a:noFill/>
            <a:ln w="19050">
              <a:solidFill>
                <a:srgbClr val="000099"/>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62">
              <a:extLst>
                <a:ext uri="{FF2B5EF4-FFF2-40B4-BE49-F238E27FC236}">
                  <a16:creationId xmlns:a16="http://schemas.microsoft.com/office/drawing/2014/main" id="{5CCF60C6-5A5A-48C4-A7B4-C0C55354DA10}"/>
                </a:ext>
              </a:extLst>
            </p:cNvPr>
            <p:cNvSpPr>
              <a:spLocks noChangeShapeType="1"/>
            </p:cNvSpPr>
            <p:nvPr/>
          </p:nvSpPr>
          <p:spPr bwMode="auto">
            <a:xfrm>
              <a:off x="5334000" y="1066800"/>
              <a:ext cx="0" cy="381000"/>
            </a:xfrm>
            <a:prstGeom prst="line">
              <a:avLst/>
            </a:prstGeom>
            <a:noFill/>
            <a:ln w="19050">
              <a:solidFill>
                <a:srgbClr val="000099"/>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63">
              <a:extLst>
                <a:ext uri="{FF2B5EF4-FFF2-40B4-BE49-F238E27FC236}">
                  <a16:creationId xmlns:a16="http://schemas.microsoft.com/office/drawing/2014/main" id="{B9ED3008-DC54-4B5C-87F7-6BE45EA5F46F}"/>
                </a:ext>
              </a:extLst>
            </p:cNvPr>
            <p:cNvSpPr>
              <a:spLocks noChangeShapeType="1"/>
            </p:cNvSpPr>
            <p:nvPr/>
          </p:nvSpPr>
          <p:spPr bwMode="auto">
            <a:xfrm>
              <a:off x="3352800" y="1219200"/>
              <a:ext cx="0" cy="228600"/>
            </a:xfrm>
            <a:prstGeom prst="line">
              <a:avLst/>
            </a:prstGeom>
            <a:noFill/>
            <a:ln w="19050">
              <a:solidFill>
                <a:srgbClr val="000099"/>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64">
              <a:extLst>
                <a:ext uri="{FF2B5EF4-FFF2-40B4-BE49-F238E27FC236}">
                  <a16:creationId xmlns:a16="http://schemas.microsoft.com/office/drawing/2014/main" id="{5C2FFD28-98A2-4F06-B4A0-2330040A0678}"/>
                </a:ext>
              </a:extLst>
            </p:cNvPr>
            <p:cNvSpPr>
              <a:spLocks noChangeShapeType="1"/>
            </p:cNvSpPr>
            <p:nvPr/>
          </p:nvSpPr>
          <p:spPr bwMode="auto">
            <a:xfrm>
              <a:off x="3352800" y="1219200"/>
              <a:ext cx="609600" cy="0"/>
            </a:xfrm>
            <a:prstGeom prst="line">
              <a:avLst/>
            </a:prstGeom>
            <a:noFill/>
            <a:ln w="19050">
              <a:solidFill>
                <a:srgbClr val="000099"/>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65">
              <a:extLst>
                <a:ext uri="{FF2B5EF4-FFF2-40B4-BE49-F238E27FC236}">
                  <a16:creationId xmlns:a16="http://schemas.microsoft.com/office/drawing/2014/main" id="{0DE66310-0BDE-45DC-83AC-3AB0F1E9A60F}"/>
                </a:ext>
              </a:extLst>
            </p:cNvPr>
            <p:cNvSpPr>
              <a:spLocks noChangeShapeType="1"/>
            </p:cNvSpPr>
            <p:nvPr/>
          </p:nvSpPr>
          <p:spPr bwMode="auto">
            <a:xfrm flipH="1">
              <a:off x="3962400" y="1219200"/>
              <a:ext cx="0" cy="228600"/>
            </a:xfrm>
            <a:prstGeom prst="line">
              <a:avLst/>
            </a:prstGeom>
            <a:noFill/>
            <a:ln w="19050">
              <a:solidFill>
                <a:srgbClr val="000099"/>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灯片编号占位符 1">
            <a:extLst>
              <a:ext uri="{FF2B5EF4-FFF2-40B4-BE49-F238E27FC236}">
                <a16:creationId xmlns:a16="http://schemas.microsoft.com/office/drawing/2014/main" id="{BA4F4D14-51B0-FA0D-41E4-68DE58E0DBB4}"/>
              </a:ext>
            </a:extLst>
          </p:cNvPr>
          <p:cNvSpPr>
            <a:spLocks noGrp="1"/>
          </p:cNvSpPr>
          <p:nvPr>
            <p:ph type="sldNum" sz="quarter" idx="12"/>
          </p:nvPr>
        </p:nvSpPr>
        <p:spPr/>
        <p:txBody>
          <a:bodyPr/>
          <a:lstStyle/>
          <a:p>
            <a:pPr>
              <a:defRPr/>
            </a:pPr>
            <a:fld id="{524B865F-46F8-4520-B0DD-31ED36EF62D9}" type="slidenum">
              <a:rPr lang="en-US" altLang="zh-CN" smtClean="0"/>
              <a:pPr>
                <a:defRPr/>
              </a:pPr>
              <a:t>30</a:t>
            </a:fld>
            <a:endParaRPr lang="en-US" altLang="zh-CN"/>
          </a:p>
        </p:txBody>
      </p:sp>
    </p:spTree>
  </p:cSld>
  <p:clrMapOvr>
    <a:masterClrMapping/>
  </p:clrMapOvr>
  <p:transition>
    <p:spli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5" name="Text Box 3">
            <a:extLst>
              <a:ext uri="{FF2B5EF4-FFF2-40B4-BE49-F238E27FC236}">
                <a16:creationId xmlns:a16="http://schemas.microsoft.com/office/drawing/2014/main" id="{58F018FB-2D52-D24D-4977-CA9D51F3038D}"/>
              </a:ext>
            </a:extLst>
          </p:cNvPr>
          <p:cNvSpPr txBox="1">
            <a:spLocks noChangeArrowheads="1"/>
          </p:cNvSpPr>
          <p:nvPr/>
        </p:nvSpPr>
        <p:spPr bwMode="auto">
          <a:xfrm>
            <a:off x="1687503" y="5505273"/>
            <a:ext cx="1066986" cy="461665"/>
          </a:xfrm>
          <a:prstGeom prst="rect">
            <a:avLst/>
          </a:prstGeom>
          <a:noFill/>
          <a:ln w="9525">
            <a:noFill/>
            <a:miter lim="800000"/>
            <a:headEnd/>
            <a:tailEnd/>
          </a:ln>
          <a:effectLst/>
        </p:spPr>
        <p:txBody>
          <a:bodyPr wrap="square">
            <a:spAutoFit/>
          </a:bodyPr>
          <a:lstStyle/>
          <a:p>
            <a:pPr>
              <a:defRPr/>
            </a:pPr>
            <a:r>
              <a:rPr lang="en-US" altLang="zh-CN" b="1" i="1" dirty="0">
                <a:solidFill>
                  <a:schemeClr val="accent2"/>
                </a:solidFill>
                <a:effectLst>
                  <a:outerShdw blurRad="38100" dist="38100" dir="2700000" algn="tl">
                    <a:srgbClr val="C0C0C0"/>
                  </a:outerShdw>
                </a:effectLst>
                <a:ea typeface="仿宋_GB2312" pitchFamily="49" charset="-122"/>
              </a:rPr>
              <a:t>S</a:t>
            </a:r>
            <a:r>
              <a:rPr lang="en-US" altLang="zh-CN" b="1" baseline="-25000" dirty="0">
                <a:solidFill>
                  <a:schemeClr val="accent2"/>
                </a:solidFill>
                <a:effectLst>
                  <a:outerShdw blurRad="38100" dist="38100" dir="2700000" algn="tl">
                    <a:srgbClr val="C0C0C0"/>
                  </a:outerShdw>
                </a:effectLst>
                <a:ea typeface="仿宋_GB2312" pitchFamily="49" charset="-122"/>
              </a:rPr>
              <a:t>1</a:t>
            </a:r>
            <a:r>
              <a:rPr lang="en-US" altLang="zh-CN" b="1" dirty="0">
                <a:solidFill>
                  <a:schemeClr val="accent2"/>
                </a:solidFill>
                <a:ea typeface="仿宋_GB2312" pitchFamily="49" charset="-122"/>
              </a:rPr>
              <a:t> </a:t>
            </a:r>
            <a:r>
              <a:rPr lang="en-US" altLang="zh-CN" b="1" dirty="0">
                <a:solidFill>
                  <a:schemeClr val="accent2"/>
                </a:solidFill>
                <a:ea typeface="仿宋_GB2312" pitchFamily="49" charset="-122"/>
                <a:sym typeface="Symbol" pitchFamily="18" charset="2"/>
              </a:rPr>
              <a:t></a:t>
            </a:r>
            <a:r>
              <a:rPr lang="en-US" altLang="zh-CN" b="1" dirty="0">
                <a:solidFill>
                  <a:schemeClr val="accent2"/>
                </a:solidFill>
                <a:ea typeface="仿宋_GB2312" pitchFamily="49" charset="-122"/>
                <a:sym typeface="Technic" pitchFamily="2" charset="2"/>
              </a:rPr>
              <a:t> </a:t>
            </a:r>
            <a:r>
              <a:rPr lang="en-US" altLang="zh-CN" b="1" i="1" dirty="0">
                <a:solidFill>
                  <a:schemeClr val="accent2"/>
                </a:solidFill>
                <a:effectLst>
                  <a:outerShdw blurRad="38100" dist="38100" dir="2700000" algn="tl">
                    <a:srgbClr val="C0C0C0"/>
                  </a:outerShdw>
                </a:effectLst>
                <a:ea typeface="仿宋_GB2312" pitchFamily="49" charset="-122"/>
              </a:rPr>
              <a:t>S</a:t>
            </a:r>
            <a:r>
              <a:rPr lang="en-US" altLang="zh-CN" b="1" baseline="-25000" dirty="0">
                <a:solidFill>
                  <a:schemeClr val="accent2"/>
                </a:solidFill>
                <a:effectLst>
                  <a:outerShdw blurRad="38100" dist="38100" dir="2700000" algn="tl">
                    <a:srgbClr val="C0C0C0"/>
                  </a:outerShdw>
                </a:effectLst>
                <a:ea typeface="仿宋_GB2312" pitchFamily="49" charset="-122"/>
              </a:rPr>
              <a:t>2</a:t>
            </a:r>
            <a:endParaRPr lang="zh-CN" altLang="en-US" sz="2400" dirty="0">
              <a:ea typeface="宋体" charset="-122"/>
            </a:endParaRPr>
          </a:p>
        </p:txBody>
      </p:sp>
      <p:sp>
        <p:nvSpPr>
          <p:cNvPr id="433156" name="Text Box 4">
            <a:extLst>
              <a:ext uri="{FF2B5EF4-FFF2-40B4-BE49-F238E27FC236}">
                <a16:creationId xmlns:a16="http://schemas.microsoft.com/office/drawing/2014/main" id="{70B121D3-8C57-67C5-1EEB-C6C687EE76BE}"/>
              </a:ext>
            </a:extLst>
          </p:cNvPr>
          <p:cNvSpPr txBox="1">
            <a:spLocks noChangeArrowheads="1"/>
          </p:cNvSpPr>
          <p:nvPr/>
        </p:nvSpPr>
        <p:spPr bwMode="auto">
          <a:xfrm>
            <a:off x="533400" y="657225"/>
            <a:ext cx="1600200" cy="1095375"/>
          </a:xfrm>
          <a:prstGeom prst="rect">
            <a:avLst/>
          </a:prstGeom>
          <a:noFill/>
          <a:ln w="9525">
            <a:noFill/>
            <a:miter lim="800000"/>
            <a:headEnd/>
            <a:tailEnd/>
          </a:ln>
          <a:effectLst/>
        </p:spPr>
        <p:txBody>
          <a:bodyPr>
            <a:spAutoFit/>
          </a:bodyPr>
          <a:lstStyle/>
          <a:p>
            <a:pPr>
              <a:spcBef>
                <a:spcPct val="35000"/>
              </a:spcBef>
              <a:defRPr/>
            </a:pPr>
            <a:r>
              <a:rPr lang="zh-CN" altLang="en-US" sz="2800" b="1">
                <a:effectLst>
                  <a:outerShdw blurRad="38100" dist="38100" dir="2700000" algn="tl">
                    <a:srgbClr val="C0C0C0"/>
                  </a:outerShdw>
                </a:effectLst>
                <a:ea typeface="仿宋_GB2312" pitchFamily="49" charset="-122"/>
              </a:rPr>
              <a:t>下标</a:t>
            </a:r>
            <a:endParaRPr lang="zh-CN" altLang="en-US" sz="2800" b="1">
              <a:effectLst>
                <a:outerShdw blurRad="38100" dist="38100" dir="2700000" algn="tl">
                  <a:srgbClr val="C0C0C0"/>
                </a:outerShdw>
              </a:effectLst>
              <a:ea typeface="楷体_GB2312" pitchFamily="49" charset="-122"/>
            </a:endParaRPr>
          </a:p>
          <a:p>
            <a:pPr>
              <a:spcBef>
                <a:spcPct val="35000"/>
              </a:spcBef>
              <a:defRPr/>
            </a:pPr>
            <a:r>
              <a:rPr lang="en-US" altLang="zh-CN" sz="2800" b="1">
                <a:solidFill>
                  <a:schemeClr val="tx2"/>
                </a:solidFill>
                <a:ea typeface="楷体_GB2312" pitchFamily="49" charset="-122"/>
              </a:rPr>
              <a:t>parent</a:t>
            </a:r>
            <a:endParaRPr lang="en-US" altLang="zh-CN" sz="2400" i="1">
              <a:ea typeface="宋体" charset="-122"/>
            </a:endParaRPr>
          </a:p>
        </p:txBody>
      </p:sp>
      <p:sp>
        <p:nvSpPr>
          <p:cNvPr id="433157" name="Text Box 5">
            <a:extLst>
              <a:ext uri="{FF2B5EF4-FFF2-40B4-BE49-F238E27FC236}">
                <a16:creationId xmlns:a16="http://schemas.microsoft.com/office/drawing/2014/main" id="{727B48F4-784E-CF5D-DDC5-A5DBDEBA1B71}"/>
              </a:ext>
            </a:extLst>
          </p:cNvPr>
          <p:cNvSpPr txBox="1">
            <a:spLocks noChangeArrowheads="1"/>
          </p:cNvSpPr>
          <p:nvPr/>
        </p:nvSpPr>
        <p:spPr bwMode="auto">
          <a:xfrm>
            <a:off x="2400300" y="1935163"/>
            <a:ext cx="5295900" cy="579437"/>
          </a:xfrm>
          <a:prstGeom prst="rect">
            <a:avLst/>
          </a:prstGeom>
          <a:noFill/>
          <a:ln w="9525">
            <a:noFill/>
            <a:miter lim="800000"/>
            <a:headEnd/>
            <a:tailEnd/>
          </a:ln>
          <a:effectLst/>
        </p:spPr>
        <p:txBody>
          <a:bodyPr>
            <a:spAutoFit/>
          </a:bodyPr>
          <a:lstStyle/>
          <a:p>
            <a:pPr>
              <a:defRPr/>
            </a:pPr>
            <a:r>
              <a:rPr lang="zh-CN" altLang="en-US" b="1">
                <a:ea typeface="隶书" pitchFamily="49" charset="-122"/>
              </a:rPr>
              <a:t>集合 </a:t>
            </a:r>
            <a:r>
              <a:rPr lang="en-US" altLang="zh-CN" sz="2800" b="1" i="1">
                <a:solidFill>
                  <a:schemeClr val="accent2"/>
                </a:solidFill>
                <a:effectLst>
                  <a:outerShdw blurRad="38100" dist="38100" dir="2700000" algn="tl">
                    <a:srgbClr val="C0C0C0"/>
                  </a:outerShdw>
                </a:effectLst>
                <a:ea typeface="仿宋_GB2312" pitchFamily="49" charset="-122"/>
              </a:rPr>
              <a:t>S</a:t>
            </a:r>
            <a:r>
              <a:rPr lang="en-US" altLang="zh-CN" sz="2800" b="1" baseline="-25000">
                <a:solidFill>
                  <a:schemeClr val="accent2"/>
                </a:solidFill>
                <a:effectLst>
                  <a:outerShdw blurRad="38100" dist="38100" dir="2700000" algn="tl">
                    <a:srgbClr val="C0C0C0"/>
                  </a:outerShdw>
                </a:effectLst>
                <a:ea typeface="仿宋_GB2312" pitchFamily="49" charset="-122"/>
              </a:rPr>
              <a:t>1 </a:t>
            </a:r>
            <a:r>
              <a:rPr lang="en-US" altLang="zh-CN" sz="2800" b="1">
                <a:solidFill>
                  <a:schemeClr val="accent2"/>
                </a:solidFill>
                <a:ea typeface="仿宋_GB2312" pitchFamily="49" charset="-122"/>
                <a:sym typeface="Symbol" pitchFamily="18" charset="2"/>
              </a:rPr>
              <a:t></a:t>
            </a:r>
            <a:r>
              <a:rPr lang="en-US" altLang="zh-CN" sz="2800" b="1">
                <a:solidFill>
                  <a:schemeClr val="accent2"/>
                </a:solidFill>
                <a:effectLst>
                  <a:outerShdw blurRad="38100" dist="38100" dir="2700000" algn="tl">
                    <a:srgbClr val="C0C0C0"/>
                  </a:outerShdw>
                </a:effectLst>
                <a:ea typeface="仿宋_GB2312" pitchFamily="49" charset="-122"/>
              </a:rPr>
              <a:t> </a:t>
            </a:r>
            <a:r>
              <a:rPr lang="en-US" altLang="zh-CN" sz="2800" b="1" i="1">
                <a:solidFill>
                  <a:schemeClr val="accent2"/>
                </a:solidFill>
                <a:effectLst>
                  <a:outerShdw blurRad="38100" dist="38100" dir="2700000" algn="tl">
                    <a:srgbClr val="C0C0C0"/>
                  </a:outerShdw>
                </a:effectLst>
                <a:ea typeface="仿宋_GB2312" pitchFamily="49" charset="-122"/>
              </a:rPr>
              <a:t>S</a:t>
            </a:r>
            <a:r>
              <a:rPr lang="en-US" altLang="zh-CN" sz="2800" b="1" baseline="-25000">
                <a:solidFill>
                  <a:schemeClr val="accent2"/>
                </a:solidFill>
                <a:effectLst>
                  <a:outerShdw blurRad="38100" dist="38100" dir="2700000" algn="tl">
                    <a:srgbClr val="C0C0C0"/>
                  </a:outerShdw>
                </a:effectLst>
                <a:ea typeface="仿宋_GB2312" pitchFamily="49" charset="-122"/>
              </a:rPr>
              <a:t>2</a:t>
            </a:r>
            <a:r>
              <a:rPr lang="en-US" altLang="zh-CN" sz="2800" b="1" baseline="-25000">
                <a:effectLst>
                  <a:outerShdw blurRad="38100" dist="38100" dir="2700000" algn="tl">
                    <a:srgbClr val="C0C0C0"/>
                  </a:outerShdw>
                </a:effectLst>
                <a:ea typeface="仿宋_GB2312" pitchFamily="49" charset="-122"/>
              </a:rPr>
              <a:t> </a:t>
            </a:r>
            <a:r>
              <a:rPr lang="zh-CN" altLang="en-US" b="1">
                <a:ea typeface="隶书" pitchFamily="49" charset="-122"/>
              </a:rPr>
              <a:t>和 </a:t>
            </a:r>
            <a:r>
              <a:rPr lang="en-US" altLang="zh-CN" sz="2800" b="1" i="1">
                <a:solidFill>
                  <a:schemeClr val="accent2"/>
                </a:solidFill>
                <a:effectLst>
                  <a:outerShdw blurRad="38100" dist="38100" dir="2700000" algn="tl">
                    <a:srgbClr val="C0C0C0"/>
                  </a:outerShdw>
                </a:effectLst>
                <a:ea typeface="仿宋_GB2312" pitchFamily="49" charset="-122"/>
              </a:rPr>
              <a:t>S</a:t>
            </a:r>
            <a:r>
              <a:rPr lang="en-US" altLang="zh-CN" sz="2800" b="1" baseline="-25000">
                <a:solidFill>
                  <a:schemeClr val="accent2"/>
                </a:solidFill>
                <a:effectLst>
                  <a:outerShdw blurRad="38100" dist="38100" dir="2700000" algn="tl">
                    <a:srgbClr val="C0C0C0"/>
                  </a:outerShdw>
                </a:effectLst>
                <a:ea typeface="仿宋_GB2312" pitchFamily="49" charset="-122"/>
              </a:rPr>
              <a:t>3</a:t>
            </a:r>
            <a:r>
              <a:rPr lang="en-US" altLang="zh-CN" sz="2800" b="1" baseline="-25000">
                <a:effectLst>
                  <a:outerShdw blurRad="38100" dist="38100" dir="2700000" algn="tl">
                    <a:srgbClr val="C0C0C0"/>
                  </a:outerShdw>
                </a:effectLst>
                <a:ea typeface="仿宋_GB2312" pitchFamily="49" charset="-122"/>
              </a:rPr>
              <a:t> </a:t>
            </a:r>
            <a:r>
              <a:rPr lang="zh-CN" altLang="en-US" b="1">
                <a:ea typeface="隶书" pitchFamily="49" charset="-122"/>
              </a:rPr>
              <a:t>的双亲表示</a:t>
            </a:r>
          </a:p>
        </p:txBody>
      </p:sp>
      <p:sp>
        <p:nvSpPr>
          <p:cNvPr id="43014" name="Rectangle 6">
            <a:extLst>
              <a:ext uri="{FF2B5EF4-FFF2-40B4-BE49-F238E27FC236}">
                <a16:creationId xmlns:a16="http://schemas.microsoft.com/office/drawing/2014/main" id="{0119BE26-FFB0-C609-4913-EFB7E57D0F3F}"/>
              </a:ext>
            </a:extLst>
          </p:cNvPr>
          <p:cNvSpPr>
            <a:spLocks noChangeArrowheads="1"/>
          </p:cNvSpPr>
          <p:nvPr/>
        </p:nvSpPr>
        <p:spPr bwMode="auto">
          <a:xfrm>
            <a:off x="1676400" y="1219200"/>
            <a:ext cx="6858000" cy="609600"/>
          </a:xfrm>
          <a:prstGeom prst="rect">
            <a:avLst/>
          </a:prstGeom>
          <a:solidFill>
            <a:srgbClr val="CCFFCC"/>
          </a:solidFill>
          <a:ln w="38100">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CC3300"/>
                </a:solidFill>
                <a:latin typeface="楷体_GB2312" pitchFamily="49" charset="-122"/>
                <a:ea typeface="楷体_GB2312" pitchFamily="49" charset="-122"/>
              </a:rPr>
              <a:t>-</a:t>
            </a:r>
            <a:r>
              <a:rPr lang="en-US" altLang="zh-CN" sz="3200" b="1">
                <a:solidFill>
                  <a:srgbClr val="CC3300"/>
                </a:solidFill>
                <a:latin typeface="Times New Roman" panose="02020603050405020304" pitchFamily="18" charset="0"/>
                <a:ea typeface="宋体" panose="02010600030101010101" pitchFamily="2" charset="-122"/>
              </a:rPr>
              <a:t>7</a:t>
            </a:r>
            <a:r>
              <a:rPr lang="en-US" altLang="zh-CN" sz="3200" b="1">
                <a:latin typeface="Times New Roman" panose="02020603050405020304" pitchFamily="18" charset="0"/>
                <a:ea typeface="宋体" panose="02010600030101010101" pitchFamily="2" charset="-122"/>
              </a:rPr>
              <a:t>   </a:t>
            </a:r>
            <a:r>
              <a:rPr lang="en-US" altLang="zh-CN" sz="3200" b="1">
                <a:solidFill>
                  <a:srgbClr val="FF33CC"/>
                </a:solidFill>
                <a:latin typeface="Times New Roman" panose="02020603050405020304" pitchFamily="18" charset="0"/>
                <a:ea typeface="楷体_GB2312" pitchFamily="49" charset="-122"/>
              </a:rPr>
              <a:t>0   </a:t>
            </a:r>
            <a:r>
              <a:rPr lang="en-US" altLang="zh-CN" sz="3200" b="1">
                <a:latin typeface="Times New Roman" panose="02020603050405020304" pitchFamily="18" charset="0"/>
                <a:ea typeface="宋体" panose="02010600030101010101" pitchFamily="2" charset="-122"/>
              </a:rPr>
              <a:t> </a:t>
            </a:r>
            <a:r>
              <a:rPr lang="en-US" altLang="zh-CN" sz="3200" b="1">
                <a:solidFill>
                  <a:srgbClr val="CC3300"/>
                </a:solidFill>
                <a:latin typeface="楷体_GB2312" pitchFamily="49" charset="-122"/>
                <a:ea typeface="楷体_GB2312" pitchFamily="49" charset="-122"/>
              </a:rPr>
              <a:t>-</a:t>
            </a:r>
            <a:r>
              <a:rPr lang="en-US" altLang="zh-CN" sz="3200" b="1">
                <a:solidFill>
                  <a:srgbClr val="CC3300"/>
                </a:solidFill>
                <a:latin typeface="Times New Roman" panose="02020603050405020304" pitchFamily="18" charset="0"/>
                <a:ea typeface="宋体" panose="02010600030101010101" pitchFamily="2" charset="-122"/>
              </a:rPr>
              <a:t>3</a:t>
            </a:r>
            <a:r>
              <a:rPr lang="en-US" altLang="zh-CN" sz="3200" b="1">
                <a:latin typeface="Times New Roman" panose="02020603050405020304" pitchFamily="18" charset="0"/>
                <a:ea typeface="宋体" panose="02010600030101010101" pitchFamily="2" charset="-122"/>
              </a:rPr>
              <a:t>    2     </a:t>
            </a:r>
            <a:r>
              <a:rPr kumimoji="1" lang="en-US" altLang="zh-CN" sz="3200" b="1">
                <a:solidFill>
                  <a:srgbClr val="009900"/>
                </a:solidFill>
                <a:latin typeface="Times New Roman" panose="02020603050405020304" pitchFamily="18" charset="0"/>
                <a:ea typeface="宋体" panose="02010600030101010101" pitchFamily="2" charset="-122"/>
              </a:rPr>
              <a:t>1</a:t>
            </a:r>
            <a:r>
              <a:rPr lang="en-US" altLang="zh-CN" sz="3200" b="1">
                <a:latin typeface="Times New Roman" panose="02020603050405020304" pitchFamily="18" charset="0"/>
                <a:ea typeface="宋体" panose="02010600030101010101" pitchFamily="2" charset="-122"/>
              </a:rPr>
              <a:t>     2     </a:t>
            </a:r>
            <a:r>
              <a:rPr lang="en-US" altLang="zh-CN" sz="3200" b="1">
                <a:solidFill>
                  <a:srgbClr val="FF33CC"/>
                </a:solidFill>
                <a:latin typeface="Times New Roman" panose="02020603050405020304" pitchFamily="18" charset="0"/>
                <a:ea typeface="宋体" panose="02010600030101010101" pitchFamily="2" charset="-122"/>
              </a:rPr>
              <a:t>0     0    0</a:t>
            </a:r>
            <a:r>
              <a:rPr lang="en-US" altLang="zh-CN" sz="3200" b="1">
                <a:latin typeface="Times New Roman" panose="02020603050405020304" pitchFamily="18" charset="0"/>
                <a:ea typeface="宋体" panose="02010600030101010101" pitchFamily="2" charset="-122"/>
              </a:rPr>
              <a:t>     </a:t>
            </a:r>
            <a:r>
              <a:rPr kumimoji="1" lang="en-US" altLang="zh-CN" sz="3200" b="1">
                <a:solidFill>
                  <a:srgbClr val="009900"/>
                </a:solidFill>
                <a:latin typeface="Times New Roman" panose="02020603050405020304" pitchFamily="18" charset="0"/>
                <a:ea typeface="宋体" panose="02010600030101010101" pitchFamily="2" charset="-122"/>
              </a:rPr>
              <a:t>1</a:t>
            </a:r>
          </a:p>
        </p:txBody>
      </p:sp>
      <p:sp>
        <p:nvSpPr>
          <p:cNvPr id="43015" name="Line 7">
            <a:extLst>
              <a:ext uri="{FF2B5EF4-FFF2-40B4-BE49-F238E27FC236}">
                <a16:creationId xmlns:a16="http://schemas.microsoft.com/office/drawing/2014/main" id="{8F09B97D-81BF-3E0B-F29A-A6F1CDAC814A}"/>
              </a:ext>
            </a:extLst>
          </p:cNvPr>
          <p:cNvSpPr>
            <a:spLocks noChangeShapeType="1"/>
          </p:cNvSpPr>
          <p:nvPr/>
        </p:nvSpPr>
        <p:spPr bwMode="auto">
          <a:xfrm>
            <a:off x="2362200" y="1219200"/>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6" name="Line 8">
            <a:extLst>
              <a:ext uri="{FF2B5EF4-FFF2-40B4-BE49-F238E27FC236}">
                <a16:creationId xmlns:a16="http://schemas.microsoft.com/office/drawing/2014/main" id="{FDF078BD-0CC1-D2D7-6BCC-195C2AD2031C}"/>
              </a:ext>
            </a:extLst>
          </p:cNvPr>
          <p:cNvSpPr>
            <a:spLocks noChangeShapeType="1"/>
          </p:cNvSpPr>
          <p:nvPr/>
        </p:nvSpPr>
        <p:spPr bwMode="auto">
          <a:xfrm>
            <a:off x="3048000" y="1219200"/>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7" name="Line 9">
            <a:extLst>
              <a:ext uri="{FF2B5EF4-FFF2-40B4-BE49-F238E27FC236}">
                <a16:creationId xmlns:a16="http://schemas.microsoft.com/office/drawing/2014/main" id="{2255F3F4-1C77-B1AC-638C-7390F462208A}"/>
              </a:ext>
            </a:extLst>
          </p:cNvPr>
          <p:cNvSpPr>
            <a:spLocks noChangeShapeType="1"/>
          </p:cNvSpPr>
          <p:nvPr/>
        </p:nvSpPr>
        <p:spPr bwMode="auto">
          <a:xfrm>
            <a:off x="3733800" y="1219200"/>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8" name="Line 10">
            <a:extLst>
              <a:ext uri="{FF2B5EF4-FFF2-40B4-BE49-F238E27FC236}">
                <a16:creationId xmlns:a16="http://schemas.microsoft.com/office/drawing/2014/main" id="{CE96B7D8-DC68-744D-CD46-C4CEDBF398D2}"/>
              </a:ext>
            </a:extLst>
          </p:cNvPr>
          <p:cNvSpPr>
            <a:spLocks noChangeShapeType="1"/>
          </p:cNvSpPr>
          <p:nvPr/>
        </p:nvSpPr>
        <p:spPr bwMode="auto">
          <a:xfrm>
            <a:off x="4419600" y="1219200"/>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9" name="Line 11">
            <a:extLst>
              <a:ext uri="{FF2B5EF4-FFF2-40B4-BE49-F238E27FC236}">
                <a16:creationId xmlns:a16="http://schemas.microsoft.com/office/drawing/2014/main" id="{05A7106F-5069-09DE-8350-8797E6B34D18}"/>
              </a:ext>
            </a:extLst>
          </p:cNvPr>
          <p:cNvSpPr>
            <a:spLocks noChangeShapeType="1"/>
          </p:cNvSpPr>
          <p:nvPr/>
        </p:nvSpPr>
        <p:spPr bwMode="auto">
          <a:xfrm>
            <a:off x="5105400" y="1219200"/>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0" name="Line 12">
            <a:extLst>
              <a:ext uri="{FF2B5EF4-FFF2-40B4-BE49-F238E27FC236}">
                <a16:creationId xmlns:a16="http://schemas.microsoft.com/office/drawing/2014/main" id="{948EB75F-38B0-FAA5-D23B-191D9226E5AB}"/>
              </a:ext>
            </a:extLst>
          </p:cNvPr>
          <p:cNvSpPr>
            <a:spLocks noChangeShapeType="1"/>
          </p:cNvSpPr>
          <p:nvPr/>
        </p:nvSpPr>
        <p:spPr bwMode="auto">
          <a:xfrm>
            <a:off x="5791200" y="1219200"/>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1" name="Line 13">
            <a:extLst>
              <a:ext uri="{FF2B5EF4-FFF2-40B4-BE49-F238E27FC236}">
                <a16:creationId xmlns:a16="http://schemas.microsoft.com/office/drawing/2014/main" id="{2413DF9C-CFDF-C7FD-2327-1755624D16B7}"/>
              </a:ext>
            </a:extLst>
          </p:cNvPr>
          <p:cNvSpPr>
            <a:spLocks noChangeShapeType="1"/>
          </p:cNvSpPr>
          <p:nvPr/>
        </p:nvSpPr>
        <p:spPr bwMode="auto">
          <a:xfrm>
            <a:off x="6477000" y="1219200"/>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2" name="Line 14">
            <a:extLst>
              <a:ext uri="{FF2B5EF4-FFF2-40B4-BE49-F238E27FC236}">
                <a16:creationId xmlns:a16="http://schemas.microsoft.com/office/drawing/2014/main" id="{61325B4C-87FA-0EE3-D2AD-FBB02B77F0A8}"/>
              </a:ext>
            </a:extLst>
          </p:cNvPr>
          <p:cNvSpPr>
            <a:spLocks noChangeShapeType="1"/>
          </p:cNvSpPr>
          <p:nvPr/>
        </p:nvSpPr>
        <p:spPr bwMode="auto">
          <a:xfrm>
            <a:off x="7162800" y="1219200"/>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3" name="Text Box 15">
            <a:extLst>
              <a:ext uri="{FF2B5EF4-FFF2-40B4-BE49-F238E27FC236}">
                <a16:creationId xmlns:a16="http://schemas.microsoft.com/office/drawing/2014/main" id="{171AFEE2-566D-A8B4-D7A9-7B5A965B91C2}"/>
              </a:ext>
            </a:extLst>
          </p:cNvPr>
          <p:cNvSpPr txBox="1">
            <a:spLocks noChangeArrowheads="1"/>
          </p:cNvSpPr>
          <p:nvPr/>
        </p:nvSpPr>
        <p:spPr bwMode="auto">
          <a:xfrm>
            <a:off x="1812925" y="623888"/>
            <a:ext cx="6496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2800" b="1">
                <a:latin typeface="Times New Roman" panose="02020603050405020304" pitchFamily="18" charset="0"/>
                <a:ea typeface="宋体" panose="02010600030101010101" pitchFamily="2" charset="-122"/>
              </a:rPr>
              <a:t>0     1      2     3      4      5     6      7      8      9</a:t>
            </a:r>
            <a:endParaRPr lang="en-US" altLang="zh-CN" sz="2400">
              <a:latin typeface="Times New Roman" panose="02020603050405020304" pitchFamily="18" charset="0"/>
              <a:ea typeface="宋体" panose="02010600030101010101" pitchFamily="2" charset="-122"/>
            </a:endParaRPr>
          </a:p>
        </p:txBody>
      </p:sp>
      <p:sp>
        <p:nvSpPr>
          <p:cNvPr id="43024" name="Line 16">
            <a:extLst>
              <a:ext uri="{FF2B5EF4-FFF2-40B4-BE49-F238E27FC236}">
                <a16:creationId xmlns:a16="http://schemas.microsoft.com/office/drawing/2014/main" id="{BF4D4585-E77A-673D-174D-108C08D2C9F8}"/>
              </a:ext>
            </a:extLst>
          </p:cNvPr>
          <p:cNvSpPr>
            <a:spLocks noChangeShapeType="1"/>
          </p:cNvSpPr>
          <p:nvPr/>
        </p:nvSpPr>
        <p:spPr bwMode="auto">
          <a:xfrm>
            <a:off x="7848600" y="1219200"/>
            <a:ext cx="0" cy="609600"/>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5" name="Oval 17">
            <a:extLst>
              <a:ext uri="{FF2B5EF4-FFF2-40B4-BE49-F238E27FC236}">
                <a16:creationId xmlns:a16="http://schemas.microsoft.com/office/drawing/2014/main" id="{E07397B8-6C13-5CE8-943B-3D7F025C2292}"/>
              </a:ext>
            </a:extLst>
          </p:cNvPr>
          <p:cNvSpPr>
            <a:spLocks noChangeArrowheads="1"/>
          </p:cNvSpPr>
          <p:nvPr/>
        </p:nvSpPr>
        <p:spPr bwMode="auto">
          <a:xfrm>
            <a:off x="2057400" y="2925763"/>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3026" name="Oval 18">
            <a:extLst>
              <a:ext uri="{FF2B5EF4-FFF2-40B4-BE49-F238E27FC236}">
                <a16:creationId xmlns:a16="http://schemas.microsoft.com/office/drawing/2014/main" id="{51A655C1-D261-EAF2-7B46-F237523E3834}"/>
              </a:ext>
            </a:extLst>
          </p:cNvPr>
          <p:cNvSpPr>
            <a:spLocks noChangeArrowheads="1"/>
          </p:cNvSpPr>
          <p:nvPr/>
        </p:nvSpPr>
        <p:spPr bwMode="auto">
          <a:xfrm>
            <a:off x="1676400" y="3840163"/>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3027" name="Oval 19">
            <a:extLst>
              <a:ext uri="{FF2B5EF4-FFF2-40B4-BE49-F238E27FC236}">
                <a16:creationId xmlns:a16="http://schemas.microsoft.com/office/drawing/2014/main" id="{103107CF-67A7-6A76-4229-D0E196746B3A}"/>
              </a:ext>
            </a:extLst>
          </p:cNvPr>
          <p:cNvSpPr>
            <a:spLocks noChangeArrowheads="1"/>
          </p:cNvSpPr>
          <p:nvPr/>
        </p:nvSpPr>
        <p:spPr bwMode="auto">
          <a:xfrm>
            <a:off x="1066800" y="3840163"/>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3028" name="Oval 20">
            <a:extLst>
              <a:ext uri="{FF2B5EF4-FFF2-40B4-BE49-F238E27FC236}">
                <a16:creationId xmlns:a16="http://schemas.microsoft.com/office/drawing/2014/main" id="{B54B1A9A-E239-60A1-5420-9D9497A29B1A}"/>
              </a:ext>
            </a:extLst>
          </p:cNvPr>
          <p:cNvSpPr>
            <a:spLocks noChangeArrowheads="1"/>
          </p:cNvSpPr>
          <p:nvPr/>
        </p:nvSpPr>
        <p:spPr bwMode="auto">
          <a:xfrm>
            <a:off x="2286000" y="3840163"/>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3029" name="Line 21">
            <a:extLst>
              <a:ext uri="{FF2B5EF4-FFF2-40B4-BE49-F238E27FC236}">
                <a16:creationId xmlns:a16="http://schemas.microsoft.com/office/drawing/2014/main" id="{AC2BE748-4112-BCCA-9897-FB8B6B27E501}"/>
              </a:ext>
            </a:extLst>
          </p:cNvPr>
          <p:cNvSpPr>
            <a:spLocks noChangeShapeType="1"/>
          </p:cNvSpPr>
          <p:nvPr/>
        </p:nvSpPr>
        <p:spPr bwMode="auto">
          <a:xfrm flipV="1">
            <a:off x="1905000" y="3352800"/>
            <a:ext cx="304800" cy="487363"/>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0" name="Line 22">
            <a:extLst>
              <a:ext uri="{FF2B5EF4-FFF2-40B4-BE49-F238E27FC236}">
                <a16:creationId xmlns:a16="http://schemas.microsoft.com/office/drawing/2014/main" id="{D77E9D00-DE84-82F2-EF56-9D03CA295112}"/>
              </a:ext>
            </a:extLst>
          </p:cNvPr>
          <p:cNvSpPr>
            <a:spLocks noChangeShapeType="1"/>
          </p:cNvSpPr>
          <p:nvPr/>
        </p:nvSpPr>
        <p:spPr bwMode="auto">
          <a:xfrm flipV="1">
            <a:off x="1371600" y="3276600"/>
            <a:ext cx="685800" cy="563563"/>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1" name="Line 23">
            <a:extLst>
              <a:ext uri="{FF2B5EF4-FFF2-40B4-BE49-F238E27FC236}">
                <a16:creationId xmlns:a16="http://schemas.microsoft.com/office/drawing/2014/main" id="{1B5D2427-08B6-AD30-00C3-1945EDFAF5D3}"/>
              </a:ext>
            </a:extLst>
          </p:cNvPr>
          <p:cNvSpPr>
            <a:spLocks noChangeShapeType="1"/>
          </p:cNvSpPr>
          <p:nvPr/>
        </p:nvSpPr>
        <p:spPr bwMode="auto">
          <a:xfrm flipH="1" flipV="1">
            <a:off x="2362200" y="3352800"/>
            <a:ext cx="76200" cy="487363"/>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2" name="Text Box 24">
            <a:extLst>
              <a:ext uri="{FF2B5EF4-FFF2-40B4-BE49-F238E27FC236}">
                <a16:creationId xmlns:a16="http://schemas.microsoft.com/office/drawing/2014/main" id="{2247B807-4F63-428A-FD2D-AE35034198D2}"/>
              </a:ext>
            </a:extLst>
          </p:cNvPr>
          <p:cNvSpPr txBox="1">
            <a:spLocks noChangeArrowheads="1"/>
          </p:cNvSpPr>
          <p:nvPr/>
        </p:nvSpPr>
        <p:spPr bwMode="auto">
          <a:xfrm>
            <a:off x="2057400" y="28495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43033" name="Text Box 25">
            <a:extLst>
              <a:ext uri="{FF2B5EF4-FFF2-40B4-BE49-F238E27FC236}">
                <a16:creationId xmlns:a16="http://schemas.microsoft.com/office/drawing/2014/main" id="{3634395B-1DA3-F72D-A789-D39A73D1130D}"/>
              </a:ext>
            </a:extLst>
          </p:cNvPr>
          <p:cNvSpPr txBox="1">
            <a:spLocks noChangeArrowheads="1"/>
          </p:cNvSpPr>
          <p:nvPr/>
        </p:nvSpPr>
        <p:spPr bwMode="auto">
          <a:xfrm>
            <a:off x="1676400" y="37639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43034" name="Text Box 26">
            <a:extLst>
              <a:ext uri="{FF2B5EF4-FFF2-40B4-BE49-F238E27FC236}">
                <a16:creationId xmlns:a16="http://schemas.microsoft.com/office/drawing/2014/main" id="{3F640F59-8AD5-E3E3-1275-1F777F568853}"/>
              </a:ext>
            </a:extLst>
          </p:cNvPr>
          <p:cNvSpPr txBox="1">
            <a:spLocks noChangeArrowheads="1"/>
          </p:cNvSpPr>
          <p:nvPr/>
        </p:nvSpPr>
        <p:spPr bwMode="auto">
          <a:xfrm>
            <a:off x="1066800" y="37639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43035" name="Text Box 27">
            <a:extLst>
              <a:ext uri="{FF2B5EF4-FFF2-40B4-BE49-F238E27FC236}">
                <a16:creationId xmlns:a16="http://schemas.microsoft.com/office/drawing/2014/main" id="{EFC02393-D168-5A0E-E728-CBF0528C17B1}"/>
              </a:ext>
            </a:extLst>
          </p:cNvPr>
          <p:cNvSpPr txBox="1">
            <a:spLocks noChangeArrowheads="1"/>
          </p:cNvSpPr>
          <p:nvPr/>
        </p:nvSpPr>
        <p:spPr bwMode="auto">
          <a:xfrm>
            <a:off x="2286000" y="37639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43036" name="Oval 28">
            <a:extLst>
              <a:ext uri="{FF2B5EF4-FFF2-40B4-BE49-F238E27FC236}">
                <a16:creationId xmlns:a16="http://schemas.microsoft.com/office/drawing/2014/main" id="{23DB35C8-DFC9-505C-3FE6-E64CF7F47A88}"/>
              </a:ext>
            </a:extLst>
          </p:cNvPr>
          <p:cNvSpPr>
            <a:spLocks noChangeArrowheads="1"/>
          </p:cNvSpPr>
          <p:nvPr/>
        </p:nvSpPr>
        <p:spPr bwMode="auto">
          <a:xfrm>
            <a:off x="2590800" y="4830763"/>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4</a:t>
            </a:r>
          </a:p>
        </p:txBody>
      </p:sp>
      <p:sp>
        <p:nvSpPr>
          <p:cNvPr id="43037" name="Oval 29">
            <a:extLst>
              <a:ext uri="{FF2B5EF4-FFF2-40B4-BE49-F238E27FC236}">
                <a16:creationId xmlns:a16="http://schemas.microsoft.com/office/drawing/2014/main" id="{86B9AC90-1138-6297-7479-C16A7A2505A2}"/>
              </a:ext>
            </a:extLst>
          </p:cNvPr>
          <p:cNvSpPr>
            <a:spLocks noChangeArrowheads="1"/>
          </p:cNvSpPr>
          <p:nvPr/>
        </p:nvSpPr>
        <p:spPr bwMode="auto">
          <a:xfrm>
            <a:off x="3352800" y="4830763"/>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3038" name="Oval 30">
            <a:extLst>
              <a:ext uri="{FF2B5EF4-FFF2-40B4-BE49-F238E27FC236}">
                <a16:creationId xmlns:a16="http://schemas.microsoft.com/office/drawing/2014/main" id="{7F09F4C1-AEAF-87A6-7DA5-C05B6AC2F0FB}"/>
              </a:ext>
            </a:extLst>
          </p:cNvPr>
          <p:cNvSpPr>
            <a:spLocks noChangeArrowheads="1"/>
          </p:cNvSpPr>
          <p:nvPr/>
        </p:nvSpPr>
        <p:spPr bwMode="auto">
          <a:xfrm>
            <a:off x="2971800" y="3840163"/>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3039" name="Line 31">
            <a:extLst>
              <a:ext uri="{FF2B5EF4-FFF2-40B4-BE49-F238E27FC236}">
                <a16:creationId xmlns:a16="http://schemas.microsoft.com/office/drawing/2014/main" id="{13551275-C284-5ACC-27F1-0C0CA86344F3}"/>
              </a:ext>
            </a:extLst>
          </p:cNvPr>
          <p:cNvSpPr>
            <a:spLocks noChangeShapeType="1"/>
          </p:cNvSpPr>
          <p:nvPr/>
        </p:nvSpPr>
        <p:spPr bwMode="auto">
          <a:xfrm flipV="1">
            <a:off x="2895600" y="4297363"/>
            <a:ext cx="228600" cy="533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0" name="Line 32">
            <a:extLst>
              <a:ext uri="{FF2B5EF4-FFF2-40B4-BE49-F238E27FC236}">
                <a16:creationId xmlns:a16="http://schemas.microsoft.com/office/drawing/2014/main" id="{3513F6EC-C694-3E7B-A39A-21C35ADB65AF}"/>
              </a:ext>
            </a:extLst>
          </p:cNvPr>
          <p:cNvSpPr>
            <a:spLocks noChangeShapeType="1"/>
          </p:cNvSpPr>
          <p:nvPr/>
        </p:nvSpPr>
        <p:spPr bwMode="auto">
          <a:xfrm flipH="1" flipV="1">
            <a:off x="3276600" y="4297363"/>
            <a:ext cx="228600" cy="533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1" name="Text Box 33">
            <a:extLst>
              <a:ext uri="{FF2B5EF4-FFF2-40B4-BE49-F238E27FC236}">
                <a16:creationId xmlns:a16="http://schemas.microsoft.com/office/drawing/2014/main" id="{EA0A1F91-786D-A283-AAB9-FA8BCD0F0018}"/>
              </a:ext>
            </a:extLst>
          </p:cNvPr>
          <p:cNvSpPr txBox="1">
            <a:spLocks noChangeArrowheads="1"/>
          </p:cNvSpPr>
          <p:nvPr/>
        </p:nvSpPr>
        <p:spPr bwMode="auto">
          <a:xfrm>
            <a:off x="2971800" y="37639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1</a:t>
            </a:r>
          </a:p>
        </p:txBody>
      </p:sp>
      <p:sp>
        <p:nvSpPr>
          <p:cNvPr id="43042" name="Text Box 35">
            <a:extLst>
              <a:ext uri="{FF2B5EF4-FFF2-40B4-BE49-F238E27FC236}">
                <a16:creationId xmlns:a16="http://schemas.microsoft.com/office/drawing/2014/main" id="{02E610B0-E07A-19D5-99EB-EA1E9679BEC1}"/>
              </a:ext>
            </a:extLst>
          </p:cNvPr>
          <p:cNvSpPr txBox="1">
            <a:spLocks noChangeArrowheads="1"/>
          </p:cNvSpPr>
          <p:nvPr/>
        </p:nvSpPr>
        <p:spPr bwMode="auto">
          <a:xfrm>
            <a:off x="3352800" y="47545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43043" name="Line 36">
            <a:extLst>
              <a:ext uri="{FF2B5EF4-FFF2-40B4-BE49-F238E27FC236}">
                <a16:creationId xmlns:a16="http://schemas.microsoft.com/office/drawing/2014/main" id="{4EE38C11-4FE5-EC17-4912-BBEDE8E76F1D}"/>
              </a:ext>
            </a:extLst>
          </p:cNvPr>
          <p:cNvSpPr>
            <a:spLocks noChangeShapeType="1"/>
          </p:cNvSpPr>
          <p:nvPr/>
        </p:nvSpPr>
        <p:spPr bwMode="auto">
          <a:xfrm flipH="1" flipV="1">
            <a:off x="2514600" y="3276600"/>
            <a:ext cx="53340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62" name="AutoShape 56">
            <a:extLst>
              <a:ext uri="{FF2B5EF4-FFF2-40B4-BE49-F238E27FC236}">
                <a16:creationId xmlns:a16="http://schemas.microsoft.com/office/drawing/2014/main" id="{EB02C8B4-4227-3D7A-BB96-C94C2206E645}"/>
              </a:ext>
            </a:extLst>
          </p:cNvPr>
          <p:cNvSpPr>
            <a:spLocks noChangeArrowheads="1"/>
          </p:cNvSpPr>
          <p:nvPr/>
        </p:nvSpPr>
        <p:spPr bwMode="auto">
          <a:xfrm>
            <a:off x="1219200" y="2133600"/>
            <a:ext cx="304800" cy="990600"/>
          </a:xfrm>
          <a:prstGeom prst="curvedRightArrow">
            <a:avLst>
              <a:gd name="adj1" fmla="val 65000"/>
              <a:gd name="adj2" fmla="val 130000"/>
              <a:gd name="adj3" fmla="val 33333"/>
            </a:avLst>
          </a:prstGeom>
          <a:solidFill>
            <a:schemeClr val="accent1"/>
          </a:soli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08FBC4BA-948D-6640-F96C-01DD1C8CF3E5}"/>
              </a:ext>
            </a:extLst>
          </p:cNvPr>
          <p:cNvSpPr>
            <a:spLocks noGrp="1"/>
          </p:cNvSpPr>
          <p:nvPr>
            <p:ph type="sldNum" sz="quarter" idx="12"/>
          </p:nvPr>
        </p:nvSpPr>
        <p:spPr/>
        <p:txBody>
          <a:bodyPr/>
          <a:lstStyle/>
          <a:p>
            <a:pPr>
              <a:defRPr/>
            </a:pPr>
            <a:fld id="{990830E6-3543-4C08-A370-0DC3F104057B}" type="slidenum">
              <a:rPr lang="en-US" altLang="zh-CN" smtClean="0"/>
              <a:pPr>
                <a:defRPr/>
              </a:pPr>
              <a:t>31</a:t>
            </a:fld>
            <a:endParaRPr lang="en-US" altLang="zh-CN"/>
          </a:p>
        </p:txBody>
      </p:sp>
      <p:grpSp>
        <p:nvGrpSpPr>
          <p:cNvPr id="5" name="组合 4">
            <a:extLst>
              <a:ext uri="{FF2B5EF4-FFF2-40B4-BE49-F238E27FC236}">
                <a16:creationId xmlns:a16="http://schemas.microsoft.com/office/drawing/2014/main" id="{48AC7CF8-E066-78BD-4F50-75A3D170222E}"/>
              </a:ext>
            </a:extLst>
          </p:cNvPr>
          <p:cNvGrpSpPr/>
          <p:nvPr/>
        </p:nvGrpSpPr>
        <p:grpSpPr>
          <a:xfrm>
            <a:off x="5029200" y="2849563"/>
            <a:ext cx="2895786" cy="3188344"/>
            <a:chOff x="5029200" y="2849563"/>
            <a:chExt cx="2895786" cy="3188344"/>
          </a:xfrm>
        </p:grpSpPr>
        <p:grpSp>
          <p:nvGrpSpPr>
            <p:cNvPr id="4" name="组合 3">
              <a:extLst>
                <a:ext uri="{FF2B5EF4-FFF2-40B4-BE49-F238E27FC236}">
                  <a16:creationId xmlns:a16="http://schemas.microsoft.com/office/drawing/2014/main" id="{972C216A-5C51-27D0-8F57-D111BD140DCA}"/>
                </a:ext>
              </a:extLst>
            </p:cNvPr>
            <p:cNvGrpSpPr/>
            <p:nvPr/>
          </p:nvGrpSpPr>
          <p:grpSpPr>
            <a:xfrm>
              <a:off x="5029200" y="2849563"/>
              <a:ext cx="2667000" cy="2530475"/>
              <a:chOff x="5029200" y="2849563"/>
              <a:chExt cx="2667000" cy="2530475"/>
            </a:xfrm>
          </p:grpSpPr>
          <p:sp>
            <p:nvSpPr>
              <p:cNvPr id="43010" name="Oval 2">
                <a:extLst>
                  <a:ext uri="{FF2B5EF4-FFF2-40B4-BE49-F238E27FC236}">
                    <a16:creationId xmlns:a16="http://schemas.microsoft.com/office/drawing/2014/main" id="{FFC4C1CC-2E25-53E2-4741-7D58649BC5E7}"/>
                  </a:ext>
                </a:extLst>
              </p:cNvPr>
              <p:cNvSpPr>
                <a:spLocks noChangeArrowheads="1"/>
              </p:cNvSpPr>
              <p:nvPr/>
            </p:nvSpPr>
            <p:spPr bwMode="auto">
              <a:xfrm>
                <a:off x="6400800" y="48768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3044" name="Oval 37">
                <a:extLst>
                  <a:ext uri="{FF2B5EF4-FFF2-40B4-BE49-F238E27FC236}">
                    <a16:creationId xmlns:a16="http://schemas.microsoft.com/office/drawing/2014/main" id="{74FEF79E-3EF0-C7C2-E05B-1126FC430221}"/>
                  </a:ext>
                </a:extLst>
              </p:cNvPr>
              <p:cNvSpPr>
                <a:spLocks noChangeArrowheads="1"/>
              </p:cNvSpPr>
              <p:nvPr/>
            </p:nvSpPr>
            <p:spPr bwMode="auto">
              <a:xfrm>
                <a:off x="6477000" y="3916363"/>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4</a:t>
                </a:r>
              </a:p>
            </p:txBody>
          </p:sp>
          <p:sp>
            <p:nvSpPr>
              <p:cNvPr id="43045" name="Oval 38">
                <a:extLst>
                  <a:ext uri="{FF2B5EF4-FFF2-40B4-BE49-F238E27FC236}">
                    <a16:creationId xmlns:a16="http://schemas.microsoft.com/office/drawing/2014/main" id="{A0BE949D-00CA-C614-88D9-9E3278F774C7}"/>
                  </a:ext>
                </a:extLst>
              </p:cNvPr>
              <p:cNvSpPr>
                <a:spLocks noChangeArrowheads="1"/>
              </p:cNvSpPr>
              <p:nvPr/>
            </p:nvSpPr>
            <p:spPr bwMode="auto">
              <a:xfrm>
                <a:off x="7239000" y="3916363"/>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3046" name="Oval 39">
                <a:extLst>
                  <a:ext uri="{FF2B5EF4-FFF2-40B4-BE49-F238E27FC236}">
                    <a16:creationId xmlns:a16="http://schemas.microsoft.com/office/drawing/2014/main" id="{B2F76B89-D87A-4DEF-2018-BA61805A8016}"/>
                  </a:ext>
                </a:extLst>
              </p:cNvPr>
              <p:cNvSpPr>
                <a:spLocks noChangeArrowheads="1"/>
              </p:cNvSpPr>
              <p:nvPr/>
            </p:nvSpPr>
            <p:spPr bwMode="auto">
              <a:xfrm>
                <a:off x="6477000" y="2925763"/>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3047" name="Line 40">
                <a:extLst>
                  <a:ext uri="{FF2B5EF4-FFF2-40B4-BE49-F238E27FC236}">
                    <a16:creationId xmlns:a16="http://schemas.microsoft.com/office/drawing/2014/main" id="{D5A45791-C141-EEA8-3AB2-FE095BE6ABC9}"/>
                  </a:ext>
                </a:extLst>
              </p:cNvPr>
              <p:cNvSpPr>
                <a:spLocks noChangeShapeType="1"/>
              </p:cNvSpPr>
              <p:nvPr/>
            </p:nvSpPr>
            <p:spPr bwMode="auto">
              <a:xfrm flipV="1">
                <a:off x="6705600" y="3352800"/>
                <a:ext cx="0" cy="563563"/>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8" name="Line 41">
                <a:extLst>
                  <a:ext uri="{FF2B5EF4-FFF2-40B4-BE49-F238E27FC236}">
                    <a16:creationId xmlns:a16="http://schemas.microsoft.com/office/drawing/2014/main" id="{2B11CE0F-D64B-0107-B6A0-162FB963E5FE}"/>
                  </a:ext>
                </a:extLst>
              </p:cNvPr>
              <p:cNvSpPr>
                <a:spLocks noChangeShapeType="1"/>
              </p:cNvSpPr>
              <p:nvPr/>
            </p:nvSpPr>
            <p:spPr bwMode="auto">
              <a:xfrm flipH="1" flipV="1">
                <a:off x="6858000" y="3352800"/>
                <a:ext cx="533400" cy="563563"/>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9" name="Text Box 42">
                <a:extLst>
                  <a:ext uri="{FF2B5EF4-FFF2-40B4-BE49-F238E27FC236}">
                    <a16:creationId xmlns:a16="http://schemas.microsoft.com/office/drawing/2014/main" id="{57DF2E15-8C45-9EAC-1E87-980BB472A918}"/>
                  </a:ext>
                </a:extLst>
              </p:cNvPr>
              <p:cNvSpPr txBox="1">
                <a:spLocks noChangeArrowheads="1"/>
              </p:cNvSpPr>
              <p:nvPr/>
            </p:nvSpPr>
            <p:spPr bwMode="auto">
              <a:xfrm>
                <a:off x="6477000" y="28495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1</a:t>
                </a:r>
              </a:p>
            </p:txBody>
          </p:sp>
          <p:sp>
            <p:nvSpPr>
              <p:cNvPr id="43050" name="Text Box 44">
                <a:extLst>
                  <a:ext uri="{FF2B5EF4-FFF2-40B4-BE49-F238E27FC236}">
                    <a16:creationId xmlns:a16="http://schemas.microsoft.com/office/drawing/2014/main" id="{3DCFA4D4-CA29-E718-30D2-12AC2CF0D7FE}"/>
                  </a:ext>
                </a:extLst>
              </p:cNvPr>
              <p:cNvSpPr txBox="1">
                <a:spLocks noChangeArrowheads="1"/>
              </p:cNvSpPr>
              <p:nvPr/>
            </p:nvSpPr>
            <p:spPr bwMode="auto">
              <a:xfrm>
                <a:off x="7239000" y="38401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43051" name="Oval 45">
                <a:extLst>
                  <a:ext uri="{FF2B5EF4-FFF2-40B4-BE49-F238E27FC236}">
                    <a16:creationId xmlns:a16="http://schemas.microsoft.com/office/drawing/2014/main" id="{059D223B-D745-C22A-422B-6302D340256D}"/>
                  </a:ext>
                </a:extLst>
              </p:cNvPr>
              <p:cNvSpPr>
                <a:spLocks noChangeArrowheads="1"/>
              </p:cNvSpPr>
              <p:nvPr/>
            </p:nvSpPr>
            <p:spPr bwMode="auto">
              <a:xfrm>
                <a:off x="5715000" y="3916363"/>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3052" name="Oval 46">
                <a:extLst>
                  <a:ext uri="{FF2B5EF4-FFF2-40B4-BE49-F238E27FC236}">
                    <a16:creationId xmlns:a16="http://schemas.microsoft.com/office/drawing/2014/main" id="{338DDBA5-9398-DA20-0ACC-D0DAFD1097D9}"/>
                  </a:ext>
                </a:extLst>
              </p:cNvPr>
              <p:cNvSpPr>
                <a:spLocks noChangeArrowheads="1"/>
              </p:cNvSpPr>
              <p:nvPr/>
            </p:nvSpPr>
            <p:spPr bwMode="auto">
              <a:xfrm>
                <a:off x="5715000" y="48768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3053" name="Line 47">
                <a:extLst>
                  <a:ext uri="{FF2B5EF4-FFF2-40B4-BE49-F238E27FC236}">
                    <a16:creationId xmlns:a16="http://schemas.microsoft.com/office/drawing/2014/main" id="{D3FE4D3F-9B37-0AA0-BC52-DDC54ACCFAD9}"/>
                  </a:ext>
                </a:extLst>
              </p:cNvPr>
              <p:cNvSpPr>
                <a:spLocks noChangeShapeType="1"/>
              </p:cNvSpPr>
              <p:nvPr/>
            </p:nvSpPr>
            <p:spPr bwMode="auto">
              <a:xfrm flipV="1">
                <a:off x="5943600" y="4343400"/>
                <a:ext cx="0" cy="5334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54" name="Line 48">
                <a:extLst>
                  <a:ext uri="{FF2B5EF4-FFF2-40B4-BE49-F238E27FC236}">
                    <a16:creationId xmlns:a16="http://schemas.microsoft.com/office/drawing/2014/main" id="{F4AE6D47-0DF8-8181-E4BF-F6340392179F}"/>
                  </a:ext>
                </a:extLst>
              </p:cNvPr>
              <p:cNvSpPr>
                <a:spLocks noChangeShapeType="1"/>
              </p:cNvSpPr>
              <p:nvPr/>
            </p:nvSpPr>
            <p:spPr bwMode="auto">
              <a:xfrm flipV="1">
                <a:off x="5334000" y="4313238"/>
                <a:ext cx="457200" cy="639762"/>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55" name="Line 49">
                <a:extLst>
                  <a:ext uri="{FF2B5EF4-FFF2-40B4-BE49-F238E27FC236}">
                    <a16:creationId xmlns:a16="http://schemas.microsoft.com/office/drawing/2014/main" id="{FC188B4B-2792-4413-24AD-B16D433CF04D}"/>
                  </a:ext>
                </a:extLst>
              </p:cNvPr>
              <p:cNvSpPr>
                <a:spLocks noChangeShapeType="1"/>
              </p:cNvSpPr>
              <p:nvPr/>
            </p:nvSpPr>
            <p:spPr bwMode="auto">
              <a:xfrm flipH="1" flipV="1">
                <a:off x="6096000" y="4343400"/>
                <a:ext cx="38100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56" name="Text Box 50">
                <a:extLst>
                  <a:ext uri="{FF2B5EF4-FFF2-40B4-BE49-F238E27FC236}">
                    <a16:creationId xmlns:a16="http://schemas.microsoft.com/office/drawing/2014/main" id="{4DE42047-42FC-1BB6-1839-C84A7C970628}"/>
                  </a:ext>
                </a:extLst>
              </p:cNvPr>
              <p:cNvSpPr txBox="1">
                <a:spLocks noChangeArrowheads="1"/>
              </p:cNvSpPr>
              <p:nvPr/>
            </p:nvSpPr>
            <p:spPr bwMode="auto">
              <a:xfrm>
                <a:off x="5715000" y="38401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43057" name="Text Box 51">
                <a:extLst>
                  <a:ext uri="{FF2B5EF4-FFF2-40B4-BE49-F238E27FC236}">
                    <a16:creationId xmlns:a16="http://schemas.microsoft.com/office/drawing/2014/main" id="{82E73E06-83AD-A8FD-032C-C2C808527119}"/>
                  </a:ext>
                </a:extLst>
              </p:cNvPr>
              <p:cNvSpPr txBox="1">
                <a:spLocks noChangeArrowheads="1"/>
              </p:cNvSpPr>
              <p:nvPr/>
            </p:nvSpPr>
            <p:spPr bwMode="auto">
              <a:xfrm>
                <a:off x="6400800" y="48006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43058" name="Oval 52">
                <a:extLst>
                  <a:ext uri="{FF2B5EF4-FFF2-40B4-BE49-F238E27FC236}">
                    <a16:creationId xmlns:a16="http://schemas.microsoft.com/office/drawing/2014/main" id="{04E03940-CE97-6FA4-B3A9-617B5D632621}"/>
                  </a:ext>
                </a:extLst>
              </p:cNvPr>
              <p:cNvSpPr>
                <a:spLocks noChangeArrowheads="1"/>
              </p:cNvSpPr>
              <p:nvPr/>
            </p:nvSpPr>
            <p:spPr bwMode="auto">
              <a:xfrm>
                <a:off x="5029200" y="4876800"/>
                <a:ext cx="457200" cy="457200"/>
              </a:xfrm>
              <a:prstGeom prst="ellipse">
                <a:avLst/>
              </a:prstGeom>
              <a:solidFill>
                <a:srgbClr val="FFFFCC"/>
              </a:solidFill>
              <a:ln w="28575">
                <a:solidFill>
                  <a:schemeClr val="tx2"/>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3059" name="Text Box 53">
                <a:extLst>
                  <a:ext uri="{FF2B5EF4-FFF2-40B4-BE49-F238E27FC236}">
                    <a16:creationId xmlns:a16="http://schemas.microsoft.com/office/drawing/2014/main" id="{8E93030A-3FA6-DE95-63C6-4CF9C11CFCE7}"/>
                  </a:ext>
                </a:extLst>
              </p:cNvPr>
              <p:cNvSpPr txBox="1">
                <a:spLocks noChangeArrowheads="1"/>
              </p:cNvSpPr>
              <p:nvPr/>
            </p:nvSpPr>
            <p:spPr bwMode="auto">
              <a:xfrm>
                <a:off x="5715000" y="48006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43060" name="Text Box 54">
                <a:extLst>
                  <a:ext uri="{FF2B5EF4-FFF2-40B4-BE49-F238E27FC236}">
                    <a16:creationId xmlns:a16="http://schemas.microsoft.com/office/drawing/2014/main" id="{D1603023-C4A4-39FE-CD55-6359916C305F}"/>
                  </a:ext>
                </a:extLst>
              </p:cNvPr>
              <p:cNvSpPr txBox="1">
                <a:spLocks noChangeArrowheads="1"/>
              </p:cNvSpPr>
              <p:nvPr/>
            </p:nvSpPr>
            <p:spPr bwMode="auto">
              <a:xfrm>
                <a:off x="5029200" y="48006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43061" name="Line 55">
                <a:extLst>
                  <a:ext uri="{FF2B5EF4-FFF2-40B4-BE49-F238E27FC236}">
                    <a16:creationId xmlns:a16="http://schemas.microsoft.com/office/drawing/2014/main" id="{B3D0D8C3-8E80-ADF1-3782-733E43E5CF75}"/>
                  </a:ext>
                </a:extLst>
              </p:cNvPr>
              <p:cNvSpPr>
                <a:spLocks noChangeShapeType="1"/>
              </p:cNvSpPr>
              <p:nvPr/>
            </p:nvSpPr>
            <p:spPr bwMode="auto">
              <a:xfrm flipV="1">
                <a:off x="6019800" y="3352800"/>
                <a:ext cx="533400" cy="563563"/>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Text Box 3">
              <a:extLst>
                <a:ext uri="{FF2B5EF4-FFF2-40B4-BE49-F238E27FC236}">
                  <a16:creationId xmlns:a16="http://schemas.microsoft.com/office/drawing/2014/main" id="{1F6A0352-590D-690D-65CC-69C84DC937A0}"/>
                </a:ext>
              </a:extLst>
            </p:cNvPr>
            <p:cNvSpPr txBox="1">
              <a:spLocks noChangeArrowheads="1"/>
            </p:cNvSpPr>
            <p:nvPr/>
          </p:nvSpPr>
          <p:spPr bwMode="auto">
            <a:xfrm>
              <a:off x="5181414" y="5576242"/>
              <a:ext cx="2743572" cy="461665"/>
            </a:xfrm>
            <a:prstGeom prst="rect">
              <a:avLst/>
            </a:prstGeom>
            <a:noFill/>
            <a:ln w="9525">
              <a:noFill/>
              <a:miter lim="800000"/>
              <a:headEnd/>
              <a:tailEnd/>
            </a:ln>
            <a:effectLst/>
          </p:spPr>
          <p:txBody>
            <a:bodyPr wrap="square">
              <a:spAutoFit/>
            </a:bodyPr>
            <a:lstStyle/>
            <a:p>
              <a:pPr>
                <a:defRPr/>
              </a:pPr>
              <a:r>
                <a:rPr lang="en-US" altLang="zh-CN" b="1" i="1" dirty="0">
                  <a:solidFill>
                    <a:schemeClr val="accent2"/>
                  </a:solidFill>
                  <a:effectLst>
                    <a:outerShdw blurRad="38100" dist="38100" dir="2700000" algn="tl">
                      <a:srgbClr val="C0C0C0"/>
                    </a:outerShdw>
                  </a:effectLst>
                  <a:ea typeface="仿宋_GB2312" pitchFamily="49" charset="-122"/>
                </a:rPr>
                <a:t>S</a:t>
              </a:r>
              <a:r>
                <a:rPr lang="en-US" altLang="zh-CN" b="1" baseline="-25000" dirty="0">
                  <a:solidFill>
                    <a:schemeClr val="accent2"/>
                  </a:solidFill>
                  <a:effectLst>
                    <a:outerShdw blurRad="38100" dist="38100" dir="2700000" algn="tl">
                      <a:srgbClr val="C0C0C0"/>
                    </a:outerShdw>
                  </a:effectLst>
                  <a:ea typeface="仿宋_GB2312" pitchFamily="49" charset="-122"/>
                </a:rPr>
                <a:t>1</a:t>
              </a:r>
              <a:r>
                <a:rPr lang="en-US" altLang="zh-CN" b="1" dirty="0">
                  <a:solidFill>
                    <a:schemeClr val="accent2"/>
                  </a:solidFill>
                  <a:ea typeface="仿宋_GB2312" pitchFamily="49" charset="-122"/>
                </a:rPr>
                <a:t> </a:t>
              </a:r>
              <a:r>
                <a:rPr lang="en-US" altLang="zh-CN" b="1" dirty="0">
                  <a:solidFill>
                    <a:schemeClr val="accent2"/>
                  </a:solidFill>
                  <a:ea typeface="仿宋_GB2312" pitchFamily="49" charset="-122"/>
                  <a:sym typeface="Symbol" pitchFamily="18" charset="2"/>
                </a:rPr>
                <a:t></a:t>
              </a:r>
              <a:r>
                <a:rPr lang="en-US" altLang="zh-CN" b="1" dirty="0">
                  <a:solidFill>
                    <a:schemeClr val="accent2"/>
                  </a:solidFill>
                  <a:ea typeface="仿宋_GB2312" pitchFamily="49" charset="-122"/>
                  <a:sym typeface="Technic" pitchFamily="2" charset="2"/>
                </a:rPr>
                <a:t> </a:t>
              </a:r>
              <a:r>
                <a:rPr lang="en-US" altLang="zh-CN" b="1" i="1" dirty="0">
                  <a:solidFill>
                    <a:schemeClr val="accent2"/>
                  </a:solidFill>
                  <a:effectLst>
                    <a:outerShdw blurRad="38100" dist="38100" dir="2700000" algn="tl">
                      <a:srgbClr val="C0C0C0"/>
                    </a:outerShdw>
                  </a:effectLst>
                  <a:ea typeface="仿宋_GB2312" pitchFamily="49" charset="-122"/>
                </a:rPr>
                <a:t>S</a:t>
              </a:r>
              <a:r>
                <a:rPr lang="en-US" altLang="zh-CN" b="1" baseline="-25000" dirty="0">
                  <a:solidFill>
                    <a:schemeClr val="accent2"/>
                  </a:solidFill>
                  <a:effectLst>
                    <a:outerShdw blurRad="38100" dist="38100" dir="2700000" algn="tl">
                      <a:srgbClr val="C0C0C0"/>
                    </a:outerShdw>
                  </a:effectLst>
                  <a:ea typeface="仿宋_GB2312" pitchFamily="49" charset="-122"/>
                </a:rPr>
                <a:t>2</a:t>
              </a:r>
              <a:r>
                <a:rPr lang="zh-CN" altLang="en-US" b="1" dirty="0">
                  <a:solidFill>
                    <a:schemeClr val="accent2"/>
                  </a:solidFill>
                  <a:effectLst>
                    <a:outerShdw blurRad="38100" dist="38100" dir="2700000" algn="tl">
                      <a:srgbClr val="C0C0C0"/>
                    </a:outerShdw>
                  </a:effectLst>
                  <a:ea typeface="仿宋_GB2312" pitchFamily="49" charset="-122"/>
                </a:rPr>
                <a:t>的另一种表示方法</a:t>
              </a:r>
              <a:endParaRPr lang="zh-CN" altLang="en-US" sz="2400" dirty="0">
                <a:ea typeface="宋体" charset="-122"/>
              </a:endParaRPr>
            </a:p>
          </p:txBody>
        </p:sp>
      </p:gr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3726FB8-902C-4227-A22D-7B9F0CB0A34C}"/>
              </a:ext>
            </a:extLst>
          </p:cNvPr>
          <p:cNvSpPr>
            <a:spLocks noGrp="1"/>
          </p:cNvSpPr>
          <p:nvPr>
            <p:ph idx="1"/>
          </p:nvPr>
        </p:nvSpPr>
        <p:spPr>
          <a:xfrm>
            <a:off x="179512" y="548680"/>
            <a:ext cx="8712968" cy="5976664"/>
          </a:xfrm>
        </p:spPr>
        <p:txBody>
          <a:bodyPr>
            <a:normAutofit fontScale="62500" lnSpcReduction="20000"/>
          </a:bodyPr>
          <a:lstStyle/>
          <a:p>
            <a:pPr marL="0" indent="0">
              <a:buNone/>
            </a:pPr>
            <a:r>
              <a:rPr lang="en-US" altLang="zh-CN" dirty="0"/>
              <a:t>const int </a:t>
            </a:r>
            <a:r>
              <a:rPr lang="en-US" altLang="zh-CN" dirty="0" err="1"/>
              <a:t>DefaultSize</a:t>
            </a:r>
            <a:r>
              <a:rPr lang="en-US" altLang="zh-CN" dirty="0"/>
              <a:t> = 10;</a:t>
            </a:r>
          </a:p>
          <a:p>
            <a:pPr marL="0" indent="0">
              <a:buNone/>
            </a:pPr>
            <a:r>
              <a:rPr lang="en-US" altLang="zh-CN" dirty="0"/>
              <a:t>class </a:t>
            </a:r>
            <a:r>
              <a:rPr lang="en-US" altLang="zh-CN" dirty="0" err="1"/>
              <a:t>UFSets</a:t>
            </a:r>
            <a:r>
              <a:rPr lang="en-US" altLang="zh-CN" dirty="0"/>
              <a:t> {	            //</a:t>
            </a:r>
            <a:r>
              <a:rPr lang="zh-CN" altLang="en-US" dirty="0"/>
              <a:t>并查集类定义</a:t>
            </a:r>
          </a:p>
          <a:p>
            <a:pPr marL="0" indent="0">
              <a:buNone/>
            </a:pPr>
            <a:r>
              <a:rPr lang="en-US" altLang="zh-CN" dirty="0"/>
              <a:t>private:</a:t>
            </a:r>
          </a:p>
          <a:p>
            <a:pPr marL="0" indent="0">
              <a:buNone/>
            </a:pPr>
            <a:r>
              <a:rPr lang="en-US" altLang="zh-CN" dirty="0"/>
              <a:t>    int *parent;	 	   //</a:t>
            </a:r>
            <a:r>
              <a:rPr lang="zh-CN" altLang="en-US" dirty="0"/>
              <a:t>集合元素数组</a:t>
            </a:r>
          </a:p>
          <a:p>
            <a:pPr marL="0" indent="0">
              <a:buNone/>
            </a:pPr>
            <a:r>
              <a:rPr lang="zh-CN" altLang="en-US" dirty="0"/>
              <a:t>    </a:t>
            </a:r>
            <a:r>
              <a:rPr lang="en-US" altLang="zh-CN" dirty="0"/>
              <a:t>int size;			   //</a:t>
            </a:r>
            <a:r>
              <a:rPr lang="zh-CN" altLang="en-US" dirty="0"/>
              <a:t>集合元素的数目</a:t>
            </a:r>
          </a:p>
          <a:p>
            <a:pPr marL="0" indent="0">
              <a:buNone/>
            </a:pPr>
            <a:r>
              <a:rPr lang="en-US" altLang="zh-CN" dirty="0"/>
              <a:t>public:</a:t>
            </a:r>
          </a:p>
          <a:p>
            <a:pPr marL="0" indent="0">
              <a:buNone/>
            </a:pPr>
            <a:r>
              <a:rPr lang="en-US" altLang="zh-CN" dirty="0"/>
              <a:t>    </a:t>
            </a:r>
            <a:r>
              <a:rPr lang="en-US" altLang="zh-CN" dirty="0" err="1"/>
              <a:t>UFSets</a:t>
            </a:r>
            <a:r>
              <a:rPr lang="en-US" altLang="zh-CN" dirty="0"/>
              <a:t> ( int </a:t>
            </a:r>
            <a:r>
              <a:rPr lang="en-US" altLang="zh-CN" dirty="0" err="1"/>
              <a:t>sz</a:t>
            </a:r>
            <a:r>
              <a:rPr lang="en-US" altLang="zh-CN" dirty="0"/>
              <a:t> = </a:t>
            </a:r>
            <a:r>
              <a:rPr lang="en-US" altLang="zh-CN" dirty="0" err="1"/>
              <a:t>DefaultSize</a:t>
            </a:r>
            <a:r>
              <a:rPr lang="en-US" altLang="zh-CN" dirty="0"/>
              <a:t> );   //</a:t>
            </a:r>
            <a:r>
              <a:rPr lang="zh-CN" altLang="en-US" dirty="0"/>
              <a:t>构造函数</a:t>
            </a:r>
          </a:p>
          <a:p>
            <a:pPr marL="0" indent="0">
              <a:buNone/>
            </a:pPr>
            <a:r>
              <a:rPr lang="zh-CN" altLang="en-US" dirty="0"/>
              <a:t>    </a:t>
            </a:r>
            <a:r>
              <a:rPr lang="en-US" altLang="zh-CN" dirty="0"/>
              <a:t>~</a:t>
            </a:r>
            <a:r>
              <a:rPr lang="en-US" altLang="zh-CN" dirty="0" err="1"/>
              <a:t>UFSets</a:t>
            </a:r>
            <a:r>
              <a:rPr lang="en-US" altLang="zh-CN" dirty="0"/>
              <a:t> ( ) { delete [ ] parent; }      //</a:t>
            </a:r>
            <a:r>
              <a:rPr lang="zh-CN" altLang="en-US" dirty="0"/>
              <a:t>析构函数</a:t>
            </a:r>
          </a:p>
          <a:p>
            <a:pPr marL="0" indent="0">
              <a:buNone/>
            </a:pPr>
            <a:r>
              <a:rPr lang="zh-CN" altLang="en-US" dirty="0"/>
              <a:t>    </a:t>
            </a:r>
            <a:r>
              <a:rPr lang="en-US" altLang="zh-CN" dirty="0" err="1"/>
              <a:t>UFSets</a:t>
            </a:r>
            <a:r>
              <a:rPr lang="en-US" altLang="zh-CN" dirty="0"/>
              <a:t>&amp; operator = (</a:t>
            </a:r>
            <a:r>
              <a:rPr lang="en-US" altLang="zh-CN" dirty="0" err="1"/>
              <a:t>UFSets</a:t>
            </a:r>
            <a:r>
              <a:rPr lang="en-US" altLang="zh-CN" dirty="0"/>
              <a:t>&amp; R);   //</a:t>
            </a:r>
            <a:r>
              <a:rPr lang="zh-CN" altLang="en-US" dirty="0"/>
              <a:t>集合赋值</a:t>
            </a:r>
          </a:p>
          <a:p>
            <a:pPr marL="0" indent="0">
              <a:buNone/>
            </a:pPr>
            <a:r>
              <a:rPr lang="zh-CN" altLang="en-US" dirty="0"/>
              <a:t>    </a:t>
            </a:r>
            <a:r>
              <a:rPr lang="en-US" altLang="zh-CN" dirty="0"/>
              <a:t>void Union ( int Root1, int Root2 ); //</a:t>
            </a:r>
            <a:r>
              <a:rPr lang="zh-CN" altLang="en-US" dirty="0"/>
              <a:t>两个子集合合并</a:t>
            </a:r>
          </a:p>
          <a:p>
            <a:pPr marL="0" indent="0">
              <a:buNone/>
            </a:pPr>
            <a:r>
              <a:rPr lang="zh-CN" altLang="en-US" dirty="0"/>
              <a:t>    </a:t>
            </a:r>
            <a:r>
              <a:rPr lang="en-US" altLang="zh-CN" dirty="0"/>
              <a:t>int Find ( int x );	                  //</a:t>
            </a:r>
            <a:r>
              <a:rPr lang="zh-CN" altLang="en-US" dirty="0"/>
              <a:t>搜寻集合</a:t>
            </a:r>
            <a:r>
              <a:rPr lang="en-US" altLang="zh-CN" dirty="0"/>
              <a:t>x</a:t>
            </a:r>
            <a:r>
              <a:rPr lang="zh-CN" altLang="en-US" dirty="0"/>
              <a:t>的根</a:t>
            </a:r>
          </a:p>
          <a:p>
            <a:pPr marL="0" indent="0">
              <a:buNone/>
            </a:pPr>
            <a:r>
              <a:rPr lang="zh-CN" altLang="en-US" dirty="0"/>
              <a:t>    </a:t>
            </a:r>
            <a:r>
              <a:rPr lang="en-US" altLang="zh-CN" dirty="0"/>
              <a:t>void </a:t>
            </a:r>
            <a:r>
              <a:rPr lang="en-US" altLang="zh-CN" dirty="0" err="1"/>
              <a:t>WeightedUnion</a:t>
            </a:r>
            <a:r>
              <a:rPr lang="en-US" altLang="zh-CN" dirty="0"/>
              <a:t> ( int Root1, int Root2 );	//</a:t>
            </a:r>
            <a:r>
              <a:rPr lang="zh-CN" altLang="en-US" dirty="0"/>
              <a:t>加权的合并</a:t>
            </a:r>
            <a:endParaRPr lang="en-US" altLang="zh-CN" dirty="0"/>
          </a:p>
          <a:p>
            <a:pPr marL="0" indent="0">
              <a:buNone/>
            </a:pPr>
            <a:r>
              <a:rPr lang="en-US" altLang="zh-CN" dirty="0"/>
              <a:t>    int </a:t>
            </a:r>
            <a:r>
              <a:rPr lang="en-US" altLang="zh-CN" dirty="0" err="1"/>
              <a:t>CollapsingFind</a:t>
            </a:r>
            <a:r>
              <a:rPr lang="en-US" altLang="zh-CN" dirty="0"/>
              <a:t> ( int </a:t>
            </a:r>
            <a:r>
              <a:rPr lang="en-US" altLang="zh-CN" dirty="0" err="1"/>
              <a:t>i</a:t>
            </a:r>
            <a:r>
              <a:rPr lang="en-US" altLang="zh-CN" dirty="0"/>
              <a:t> ); //</a:t>
            </a:r>
            <a:r>
              <a:rPr lang="zh-CN" altLang="en-US" dirty="0"/>
              <a:t>压缩高度的折叠算法 </a:t>
            </a:r>
          </a:p>
          <a:p>
            <a:pPr marL="0" indent="0">
              <a:buNone/>
            </a:pPr>
            <a:r>
              <a:rPr lang="en-US" altLang="zh-CN" dirty="0"/>
              <a:t>};</a:t>
            </a:r>
          </a:p>
          <a:p>
            <a:pPr marL="0" indent="0">
              <a:buNone/>
            </a:pPr>
            <a:endParaRPr lang="en-US" altLang="zh-CN" dirty="0"/>
          </a:p>
          <a:p>
            <a:pPr marL="0" indent="0">
              <a:buNone/>
            </a:pPr>
            <a:endParaRPr lang="zh-CN" altLang="en-US" dirty="0"/>
          </a:p>
        </p:txBody>
      </p:sp>
      <p:sp>
        <p:nvSpPr>
          <p:cNvPr id="2" name="灯片编号占位符 1">
            <a:extLst>
              <a:ext uri="{FF2B5EF4-FFF2-40B4-BE49-F238E27FC236}">
                <a16:creationId xmlns:a16="http://schemas.microsoft.com/office/drawing/2014/main" id="{0A8F5F7F-0683-08C5-0B02-C272CFE14A2E}"/>
              </a:ext>
            </a:extLst>
          </p:cNvPr>
          <p:cNvSpPr>
            <a:spLocks noGrp="1"/>
          </p:cNvSpPr>
          <p:nvPr>
            <p:ph type="sldNum" sz="quarter" idx="12"/>
          </p:nvPr>
        </p:nvSpPr>
        <p:spPr/>
        <p:txBody>
          <a:bodyPr/>
          <a:lstStyle/>
          <a:p>
            <a:pPr>
              <a:defRPr/>
            </a:pPr>
            <a:fld id="{524B865F-46F8-4520-B0DD-31ED36EF62D9}" type="slidenum">
              <a:rPr lang="en-US" altLang="zh-CN" smtClean="0"/>
              <a:pPr>
                <a:defRPr/>
              </a:pPr>
              <a:t>32</a:t>
            </a:fld>
            <a:endParaRPr lang="en-US" altLang="zh-CN"/>
          </a:p>
        </p:txBody>
      </p:sp>
    </p:spTree>
  </p:cSld>
  <p:clrMapOvr>
    <a:masterClrMapping/>
  </p:clrMapOvr>
  <p:transition>
    <p:spli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0D056C1-CAB7-436E-AC6A-7A7F25D5F1B8}"/>
              </a:ext>
            </a:extLst>
          </p:cNvPr>
          <p:cNvSpPr>
            <a:spLocks noGrp="1"/>
          </p:cNvSpPr>
          <p:nvPr>
            <p:ph idx="1"/>
          </p:nvPr>
        </p:nvSpPr>
        <p:spPr>
          <a:xfrm>
            <a:off x="179512" y="548680"/>
            <a:ext cx="8856984" cy="5628283"/>
          </a:xfrm>
        </p:spPr>
        <p:txBody>
          <a:bodyPr/>
          <a:lstStyle/>
          <a:p>
            <a:pPr marL="0" indent="0">
              <a:buNone/>
            </a:pPr>
            <a:r>
              <a:rPr lang="en-US" altLang="zh-CN" dirty="0" err="1"/>
              <a:t>UFSets</a:t>
            </a:r>
            <a:r>
              <a:rPr lang="en-US" altLang="zh-CN" dirty="0"/>
              <a:t> :: </a:t>
            </a:r>
            <a:r>
              <a:rPr lang="en-US" altLang="zh-CN" dirty="0" err="1"/>
              <a:t>UFSets</a:t>
            </a:r>
            <a:r>
              <a:rPr lang="en-US" altLang="zh-CN" dirty="0"/>
              <a:t> ( int s ) {     //</a:t>
            </a:r>
            <a:r>
              <a:rPr lang="zh-CN" altLang="en-US" dirty="0"/>
              <a:t>构造函数</a:t>
            </a:r>
          </a:p>
          <a:p>
            <a:pPr marL="0" indent="0">
              <a:buNone/>
            </a:pPr>
            <a:r>
              <a:rPr lang="zh-CN" altLang="en-US" dirty="0"/>
              <a:t>    </a:t>
            </a:r>
            <a:r>
              <a:rPr lang="en-US" altLang="zh-CN" dirty="0"/>
              <a:t>size = s;	      //</a:t>
            </a:r>
            <a:r>
              <a:rPr lang="zh-CN" altLang="en-US" dirty="0"/>
              <a:t>集合元素个数</a:t>
            </a:r>
          </a:p>
          <a:p>
            <a:pPr marL="0" indent="0">
              <a:buNone/>
            </a:pPr>
            <a:r>
              <a:rPr lang="zh-CN" altLang="en-US" dirty="0"/>
              <a:t>    </a:t>
            </a:r>
            <a:r>
              <a:rPr lang="en-US" altLang="zh-CN" dirty="0"/>
              <a:t>parent = new int [size];	   </a:t>
            </a:r>
          </a:p>
          <a:p>
            <a:pPr marL="0" indent="0">
              <a:buNone/>
            </a:pPr>
            <a:r>
              <a:rPr lang="en-US" altLang="zh-CN" dirty="0"/>
              <a:t>       //</a:t>
            </a:r>
            <a:r>
              <a:rPr lang="zh-CN" altLang="en-US" dirty="0"/>
              <a:t>双亲指针数组</a:t>
            </a:r>
          </a:p>
          <a:p>
            <a:pPr marL="0" indent="0">
              <a:buNone/>
            </a:pPr>
            <a:r>
              <a:rPr lang="zh-CN" altLang="en-US" dirty="0"/>
              <a:t>    </a:t>
            </a:r>
            <a:r>
              <a:rPr lang="en-US" altLang="zh-CN" dirty="0"/>
              <a:t>for ( int </a:t>
            </a:r>
            <a:r>
              <a:rPr lang="en-US" altLang="zh-CN" dirty="0" err="1"/>
              <a:t>i</a:t>
            </a:r>
            <a:r>
              <a:rPr lang="en-US" altLang="zh-CN" dirty="0"/>
              <a:t> = 0; </a:t>
            </a:r>
            <a:r>
              <a:rPr lang="en-US" altLang="zh-CN" dirty="0" err="1"/>
              <a:t>i</a:t>
            </a:r>
            <a:r>
              <a:rPr lang="en-US" altLang="zh-CN" dirty="0"/>
              <a:t> &lt; size; </a:t>
            </a:r>
            <a:r>
              <a:rPr lang="en-US" altLang="zh-CN" dirty="0" err="1"/>
              <a:t>i</a:t>
            </a:r>
            <a:r>
              <a:rPr lang="en-US" altLang="zh-CN" dirty="0"/>
              <a:t>++ ) </a:t>
            </a:r>
          </a:p>
          <a:p>
            <a:pPr marL="0" indent="0">
              <a:buNone/>
            </a:pPr>
            <a:r>
              <a:rPr lang="en-US" altLang="zh-CN" dirty="0"/>
              <a:t>       parent[</a:t>
            </a:r>
            <a:r>
              <a:rPr lang="en-US" altLang="zh-CN" dirty="0" err="1"/>
              <a:t>i</a:t>
            </a:r>
            <a:r>
              <a:rPr lang="en-US" altLang="zh-CN" dirty="0"/>
              <a:t>] = -1;//</a:t>
            </a:r>
            <a:r>
              <a:rPr lang="zh-CN" altLang="en-US" dirty="0"/>
              <a:t>每个元素自成一个集合</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2CCB7AE5-553E-BACE-588D-3A281CCA9C57}"/>
              </a:ext>
            </a:extLst>
          </p:cNvPr>
          <p:cNvSpPr>
            <a:spLocks noGrp="1"/>
          </p:cNvSpPr>
          <p:nvPr>
            <p:ph type="sldNum" sz="quarter" idx="12"/>
          </p:nvPr>
        </p:nvSpPr>
        <p:spPr/>
        <p:txBody>
          <a:bodyPr/>
          <a:lstStyle/>
          <a:p>
            <a:pPr>
              <a:defRPr/>
            </a:pPr>
            <a:fld id="{524B865F-46F8-4520-B0DD-31ED36EF62D9}" type="slidenum">
              <a:rPr lang="en-US" altLang="zh-CN" smtClean="0"/>
              <a:pPr>
                <a:defRPr/>
              </a:pPr>
              <a:t>33</a:t>
            </a:fld>
            <a:endParaRPr lang="en-US" altLang="zh-CN" dirty="0"/>
          </a:p>
        </p:txBody>
      </p:sp>
    </p:spTree>
  </p:cSld>
  <p:clrMapOvr>
    <a:masterClrMapping/>
  </p:clrMapOvr>
  <p:transition>
    <p:spli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023B5BBF-33DB-4147-B73E-0F5B510D6175}"/>
              </a:ext>
            </a:extLst>
          </p:cNvPr>
          <p:cNvGrpSpPr/>
          <p:nvPr/>
        </p:nvGrpSpPr>
        <p:grpSpPr>
          <a:xfrm>
            <a:off x="1691680" y="2441361"/>
            <a:ext cx="6410325" cy="3886200"/>
            <a:chOff x="1751013" y="2133600"/>
            <a:chExt cx="6410325" cy="3886200"/>
          </a:xfrm>
        </p:grpSpPr>
        <p:sp>
          <p:nvSpPr>
            <p:cNvPr id="436227" name="Oval 3">
              <a:extLst>
                <a:ext uri="{FF2B5EF4-FFF2-40B4-BE49-F238E27FC236}">
                  <a16:creationId xmlns:a16="http://schemas.microsoft.com/office/drawing/2014/main" id="{23C0824F-E99E-D0EC-C690-5DC7ECB5B00E}"/>
                </a:ext>
              </a:extLst>
            </p:cNvPr>
            <p:cNvSpPr>
              <a:spLocks noChangeArrowheads="1"/>
            </p:cNvSpPr>
            <p:nvPr/>
          </p:nvSpPr>
          <p:spPr bwMode="auto">
            <a:xfrm>
              <a:off x="2133600" y="2438400"/>
              <a:ext cx="533400" cy="533400"/>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5</a:t>
              </a:r>
              <a:endParaRPr lang="en-US" altLang="zh-CN" sz="2400">
                <a:ea typeface="宋体" charset="-122"/>
              </a:endParaRPr>
            </a:p>
          </p:txBody>
        </p:sp>
        <p:sp>
          <p:nvSpPr>
            <p:cNvPr id="46084" name="Line 4">
              <a:extLst>
                <a:ext uri="{FF2B5EF4-FFF2-40B4-BE49-F238E27FC236}">
                  <a16:creationId xmlns:a16="http://schemas.microsoft.com/office/drawing/2014/main" id="{F1A1EB48-686E-9C34-6E10-845F4D104063}"/>
                </a:ext>
              </a:extLst>
            </p:cNvPr>
            <p:cNvSpPr>
              <a:spLocks noChangeShapeType="1"/>
            </p:cNvSpPr>
            <p:nvPr/>
          </p:nvSpPr>
          <p:spPr bwMode="auto">
            <a:xfrm flipH="1">
              <a:off x="2667000" y="2667000"/>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85" name="Oval 5">
              <a:extLst>
                <a:ext uri="{FF2B5EF4-FFF2-40B4-BE49-F238E27FC236}">
                  <a16:creationId xmlns:a16="http://schemas.microsoft.com/office/drawing/2014/main" id="{4FBA047B-FE06-8F09-B380-1F492BB4EB1B}"/>
                </a:ext>
              </a:extLst>
            </p:cNvPr>
            <p:cNvSpPr>
              <a:spLocks noChangeArrowheads="1"/>
            </p:cNvSpPr>
            <p:nvPr/>
          </p:nvSpPr>
          <p:spPr bwMode="auto">
            <a:xfrm>
              <a:off x="3352800" y="24384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46086" name="Line 6">
              <a:extLst>
                <a:ext uri="{FF2B5EF4-FFF2-40B4-BE49-F238E27FC236}">
                  <a16:creationId xmlns:a16="http://schemas.microsoft.com/office/drawing/2014/main" id="{721B11A5-15DD-5A42-DB9C-94AE0AE9E1D3}"/>
                </a:ext>
              </a:extLst>
            </p:cNvPr>
            <p:cNvSpPr>
              <a:spLocks noChangeShapeType="1"/>
            </p:cNvSpPr>
            <p:nvPr/>
          </p:nvSpPr>
          <p:spPr bwMode="auto">
            <a:xfrm flipH="1">
              <a:off x="3886200" y="2667000"/>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87" name="Oval 7">
              <a:extLst>
                <a:ext uri="{FF2B5EF4-FFF2-40B4-BE49-F238E27FC236}">
                  <a16:creationId xmlns:a16="http://schemas.microsoft.com/office/drawing/2014/main" id="{001C1F41-862E-B422-047E-2726388FB144}"/>
                </a:ext>
              </a:extLst>
            </p:cNvPr>
            <p:cNvSpPr>
              <a:spLocks noChangeArrowheads="1"/>
            </p:cNvSpPr>
            <p:nvPr/>
          </p:nvSpPr>
          <p:spPr bwMode="auto">
            <a:xfrm>
              <a:off x="4572000" y="24384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46088" name="Line 8">
              <a:extLst>
                <a:ext uri="{FF2B5EF4-FFF2-40B4-BE49-F238E27FC236}">
                  <a16:creationId xmlns:a16="http://schemas.microsoft.com/office/drawing/2014/main" id="{763ABDEF-4BFA-9413-CD32-276AD0648A8E}"/>
                </a:ext>
              </a:extLst>
            </p:cNvPr>
            <p:cNvSpPr>
              <a:spLocks noChangeShapeType="1"/>
            </p:cNvSpPr>
            <p:nvPr/>
          </p:nvSpPr>
          <p:spPr bwMode="auto">
            <a:xfrm flipH="1">
              <a:off x="5105400" y="2667000"/>
              <a:ext cx="7620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89" name="Oval 9">
              <a:extLst>
                <a:ext uri="{FF2B5EF4-FFF2-40B4-BE49-F238E27FC236}">
                  <a16:creationId xmlns:a16="http://schemas.microsoft.com/office/drawing/2014/main" id="{15C315E3-9C86-F025-FE03-F5FEEC521058}"/>
                </a:ext>
              </a:extLst>
            </p:cNvPr>
            <p:cNvSpPr>
              <a:spLocks noChangeArrowheads="1"/>
            </p:cNvSpPr>
            <p:nvPr/>
          </p:nvSpPr>
          <p:spPr bwMode="auto">
            <a:xfrm>
              <a:off x="5791200" y="24384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46090" name="Line 10">
              <a:extLst>
                <a:ext uri="{FF2B5EF4-FFF2-40B4-BE49-F238E27FC236}">
                  <a16:creationId xmlns:a16="http://schemas.microsoft.com/office/drawing/2014/main" id="{FF1EB863-55F9-082F-3BC7-83D90CC5D0B9}"/>
                </a:ext>
              </a:extLst>
            </p:cNvPr>
            <p:cNvSpPr>
              <a:spLocks noChangeShapeType="1"/>
            </p:cNvSpPr>
            <p:nvPr/>
          </p:nvSpPr>
          <p:spPr bwMode="auto">
            <a:xfrm flipH="1">
              <a:off x="6324600" y="2667000"/>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1" name="Oval 11">
              <a:extLst>
                <a:ext uri="{FF2B5EF4-FFF2-40B4-BE49-F238E27FC236}">
                  <a16:creationId xmlns:a16="http://schemas.microsoft.com/office/drawing/2014/main" id="{E0A2D92A-687B-3C01-A079-7091902FDA7C}"/>
                </a:ext>
              </a:extLst>
            </p:cNvPr>
            <p:cNvSpPr>
              <a:spLocks noChangeArrowheads="1"/>
            </p:cNvSpPr>
            <p:nvPr/>
          </p:nvSpPr>
          <p:spPr bwMode="auto">
            <a:xfrm>
              <a:off x="7010400" y="24384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436236" name="Text Box 12">
              <a:extLst>
                <a:ext uri="{FF2B5EF4-FFF2-40B4-BE49-F238E27FC236}">
                  <a16:creationId xmlns:a16="http://schemas.microsoft.com/office/drawing/2014/main" id="{C291096A-A55D-7F26-91C9-72B05A5ACB51}"/>
                </a:ext>
              </a:extLst>
            </p:cNvPr>
            <p:cNvSpPr txBox="1">
              <a:spLocks noChangeArrowheads="1"/>
            </p:cNvSpPr>
            <p:nvPr/>
          </p:nvSpPr>
          <p:spPr bwMode="auto">
            <a:xfrm>
              <a:off x="1828800" y="21336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0</a:t>
              </a:r>
              <a:endParaRPr lang="en-US" altLang="zh-CN" sz="2400">
                <a:ea typeface="宋体" charset="-122"/>
              </a:endParaRPr>
            </a:p>
          </p:txBody>
        </p:sp>
        <p:sp>
          <p:nvSpPr>
            <p:cNvPr id="436237" name="Text Box 13">
              <a:extLst>
                <a:ext uri="{FF2B5EF4-FFF2-40B4-BE49-F238E27FC236}">
                  <a16:creationId xmlns:a16="http://schemas.microsoft.com/office/drawing/2014/main" id="{CD9757AD-B7AB-7DF7-8EBE-6358644DF761}"/>
                </a:ext>
              </a:extLst>
            </p:cNvPr>
            <p:cNvSpPr txBox="1">
              <a:spLocks noChangeArrowheads="1"/>
            </p:cNvSpPr>
            <p:nvPr/>
          </p:nvSpPr>
          <p:spPr bwMode="auto">
            <a:xfrm>
              <a:off x="2971800" y="21336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1</a:t>
              </a:r>
              <a:endParaRPr lang="en-US" altLang="zh-CN" sz="2400">
                <a:ea typeface="宋体" charset="-122"/>
              </a:endParaRPr>
            </a:p>
          </p:txBody>
        </p:sp>
        <p:sp>
          <p:nvSpPr>
            <p:cNvPr id="436238" name="Text Box 14">
              <a:extLst>
                <a:ext uri="{FF2B5EF4-FFF2-40B4-BE49-F238E27FC236}">
                  <a16:creationId xmlns:a16="http://schemas.microsoft.com/office/drawing/2014/main" id="{2CA1F133-87BD-65AC-40C3-94758341AF90}"/>
                </a:ext>
              </a:extLst>
            </p:cNvPr>
            <p:cNvSpPr txBox="1">
              <a:spLocks noChangeArrowheads="1"/>
            </p:cNvSpPr>
            <p:nvPr/>
          </p:nvSpPr>
          <p:spPr bwMode="auto">
            <a:xfrm>
              <a:off x="4267200" y="21336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2</a:t>
              </a:r>
              <a:endParaRPr lang="en-US" altLang="zh-CN" sz="2400">
                <a:ea typeface="宋体" charset="-122"/>
              </a:endParaRPr>
            </a:p>
          </p:txBody>
        </p:sp>
        <p:sp>
          <p:nvSpPr>
            <p:cNvPr id="436239" name="Text Box 15">
              <a:extLst>
                <a:ext uri="{FF2B5EF4-FFF2-40B4-BE49-F238E27FC236}">
                  <a16:creationId xmlns:a16="http://schemas.microsoft.com/office/drawing/2014/main" id="{F27C3F0E-1F67-45DE-DB4A-2C2EF32199E5}"/>
                </a:ext>
              </a:extLst>
            </p:cNvPr>
            <p:cNvSpPr txBox="1">
              <a:spLocks noChangeArrowheads="1"/>
            </p:cNvSpPr>
            <p:nvPr/>
          </p:nvSpPr>
          <p:spPr bwMode="auto">
            <a:xfrm>
              <a:off x="5486400" y="2147888"/>
              <a:ext cx="361950" cy="519112"/>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3</a:t>
              </a:r>
              <a:endParaRPr lang="en-US" altLang="zh-CN" sz="2400">
                <a:ea typeface="宋体" charset="-122"/>
              </a:endParaRPr>
            </a:p>
          </p:txBody>
        </p:sp>
        <p:sp>
          <p:nvSpPr>
            <p:cNvPr id="436240" name="Text Box 16">
              <a:extLst>
                <a:ext uri="{FF2B5EF4-FFF2-40B4-BE49-F238E27FC236}">
                  <a16:creationId xmlns:a16="http://schemas.microsoft.com/office/drawing/2014/main" id="{4E351CE0-E453-24D2-E3C7-B2868D3B14BA}"/>
                </a:ext>
              </a:extLst>
            </p:cNvPr>
            <p:cNvSpPr txBox="1">
              <a:spLocks noChangeArrowheads="1"/>
            </p:cNvSpPr>
            <p:nvPr/>
          </p:nvSpPr>
          <p:spPr bwMode="auto">
            <a:xfrm>
              <a:off x="6705600" y="21336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4</a:t>
              </a:r>
              <a:endParaRPr lang="en-US" altLang="zh-CN" sz="2400">
                <a:ea typeface="宋体" charset="-122"/>
              </a:endParaRPr>
            </a:p>
          </p:txBody>
        </p:sp>
        <p:sp>
          <p:nvSpPr>
            <p:cNvPr id="46097" name="Line 17">
              <a:extLst>
                <a:ext uri="{FF2B5EF4-FFF2-40B4-BE49-F238E27FC236}">
                  <a16:creationId xmlns:a16="http://schemas.microsoft.com/office/drawing/2014/main" id="{4F21E49C-16E1-B098-87B9-3CA2DE45DF1E}"/>
                </a:ext>
              </a:extLst>
            </p:cNvPr>
            <p:cNvSpPr>
              <a:spLocks noChangeShapeType="1"/>
            </p:cNvSpPr>
            <p:nvPr/>
          </p:nvSpPr>
          <p:spPr bwMode="auto">
            <a:xfrm flipV="1">
              <a:off x="7239000" y="3048000"/>
              <a:ext cx="0" cy="304800"/>
            </a:xfrm>
            <a:prstGeom prst="line">
              <a:avLst/>
            </a:prstGeom>
            <a:noFill/>
            <a:ln w="28575">
              <a:solidFill>
                <a:srgbClr val="006666"/>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8" name="Text Box 18">
              <a:extLst>
                <a:ext uri="{FF2B5EF4-FFF2-40B4-BE49-F238E27FC236}">
                  <a16:creationId xmlns:a16="http://schemas.microsoft.com/office/drawing/2014/main" id="{8C867FE2-4853-4FA3-9E64-F9FC127AD4F0}"/>
                </a:ext>
              </a:extLst>
            </p:cNvPr>
            <p:cNvSpPr txBox="1">
              <a:spLocks noChangeArrowheads="1"/>
            </p:cNvSpPr>
            <p:nvPr/>
          </p:nvSpPr>
          <p:spPr bwMode="auto">
            <a:xfrm>
              <a:off x="6629400" y="3219450"/>
              <a:ext cx="15033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a:solidFill>
                    <a:srgbClr val="006666"/>
                  </a:solidFill>
                  <a:latin typeface="Times New Roman" panose="02020603050405020304" pitchFamily="18" charset="0"/>
                  <a:ea typeface="宋体" panose="02010600030101010101" pitchFamily="2" charset="-122"/>
                </a:rPr>
                <a:t>Find (4)</a:t>
              </a:r>
              <a:endParaRPr kumimoji="1" lang="en-US" altLang="zh-CN" sz="2400">
                <a:latin typeface="Times New Roman" panose="02020603050405020304" pitchFamily="18" charset="0"/>
                <a:ea typeface="宋体" panose="02010600030101010101" pitchFamily="2" charset="-122"/>
              </a:endParaRPr>
            </a:p>
          </p:txBody>
        </p:sp>
        <p:sp>
          <p:nvSpPr>
            <p:cNvPr id="46099" name="Line 19">
              <a:extLst>
                <a:ext uri="{FF2B5EF4-FFF2-40B4-BE49-F238E27FC236}">
                  <a16:creationId xmlns:a16="http://schemas.microsoft.com/office/drawing/2014/main" id="{115D23B5-8059-1E17-09A4-DE7D52B52A61}"/>
                </a:ext>
              </a:extLst>
            </p:cNvPr>
            <p:cNvSpPr>
              <a:spLocks noChangeShapeType="1"/>
            </p:cNvSpPr>
            <p:nvPr/>
          </p:nvSpPr>
          <p:spPr bwMode="auto">
            <a:xfrm flipV="1">
              <a:off x="6019800" y="3048000"/>
              <a:ext cx="0" cy="685800"/>
            </a:xfrm>
            <a:prstGeom prst="line">
              <a:avLst/>
            </a:prstGeom>
            <a:noFill/>
            <a:ln w="28575">
              <a:solidFill>
                <a:srgbClr val="006666"/>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00" name="Text Box 20">
              <a:extLst>
                <a:ext uri="{FF2B5EF4-FFF2-40B4-BE49-F238E27FC236}">
                  <a16:creationId xmlns:a16="http://schemas.microsoft.com/office/drawing/2014/main" id="{594356ED-747D-067D-9E01-C867D3089C63}"/>
                </a:ext>
              </a:extLst>
            </p:cNvPr>
            <p:cNvSpPr txBox="1">
              <a:spLocks noChangeArrowheads="1"/>
            </p:cNvSpPr>
            <p:nvPr/>
          </p:nvSpPr>
          <p:spPr bwMode="auto">
            <a:xfrm>
              <a:off x="5410200" y="3657600"/>
              <a:ext cx="27511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a:solidFill>
                    <a:srgbClr val="006666"/>
                  </a:solidFill>
                  <a:latin typeface="Times New Roman" panose="02020603050405020304" pitchFamily="18" charset="0"/>
                  <a:ea typeface="宋体" panose="02010600030101010101" pitchFamily="2" charset="-122"/>
                </a:rPr>
                <a:t>Find</a:t>
              </a:r>
              <a:r>
                <a:rPr kumimoji="1" lang="en-US" altLang="zh-CN" sz="3200" i="1">
                  <a:solidFill>
                    <a:srgbClr val="006666"/>
                  </a:solidFill>
                  <a:latin typeface="Times New Roman" panose="02020603050405020304" pitchFamily="18" charset="0"/>
                  <a:ea typeface="宋体" panose="02010600030101010101" pitchFamily="2" charset="-122"/>
                </a:rPr>
                <a:t> </a:t>
              </a:r>
              <a:r>
                <a:rPr kumimoji="1" lang="en-US" altLang="zh-CN" sz="3200">
                  <a:solidFill>
                    <a:srgbClr val="006666"/>
                  </a:solidFill>
                  <a:latin typeface="Times New Roman" panose="02020603050405020304" pitchFamily="18" charset="0"/>
                  <a:ea typeface="宋体" panose="02010600030101010101" pitchFamily="2" charset="-122"/>
                </a:rPr>
                <a:t>(3)      </a:t>
              </a:r>
              <a:r>
                <a:rPr kumimoji="1" lang="en-US" altLang="zh-CN" sz="3200" b="1">
                  <a:solidFill>
                    <a:srgbClr val="006666"/>
                  </a:solidFill>
                  <a:latin typeface="Times New Roman" panose="02020603050405020304" pitchFamily="18" charset="0"/>
                  <a:ea typeface="宋体" panose="02010600030101010101" pitchFamily="2" charset="-122"/>
                </a:rPr>
                <a:t>= 3</a:t>
              </a:r>
              <a:r>
                <a:rPr kumimoji="1" lang="en-US" altLang="zh-CN" sz="3200">
                  <a:solidFill>
                    <a:srgbClr val="006666"/>
                  </a:solidFill>
                  <a:latin typeface="Times New Roman" panose="02020603050405020304" pitchFamily="18" charset="0"/>
                  <a:ea typeface="宋体" panose="02010600030101010101" pitchFamily="2" charset="-122"/>
                </a:rPr>
                <a:t> </a:t>
              </a:r>
              <a:endParaRPr kumimoji="1" lang="en-US" altLang="zh-CN" sz="2400" b="1">
                <a:latin typeface="Times New Roman" panose="02020603050405020304" pitchFamily="18" charset="0"/>
                <a:ea typeface="宋体" panose="02010600030101010101" pitchFamily="2" charset="-122"/>
              </a:endParaRPr>
            </a:p>
          </p:txBody>
        </p:sp>
        <p:sp>
          <p:nvSpPr>
            <p:cNvPr id="46101" name="Line 21">
              <a:extLst>
                <a:ext uri="{FF2B5EF4-FFF2-40B4-BE49-F238E27FC236}">
                  <a16:creationId xmlns:a16="http://schemas.microsoft.com/office/drawing/2014/main" id="{2C538596-8A0C-164C-A1B2-56C9EB44366C}"/>
                </a:ext>
              </a:extLst>
            </p:cNvPr>
            <p:cNvSpPr>
              <a:spLocks noChangeShapeType="1"/>
            </p:cNvSpPr>
            <p:nvPr/>
          </p:nvSpPr>
          <p:spPr bwMode="auto">
            <a:xfrm flipV="1">
              <a:off x="4800600" y="3048000"/>
              <a:ext cx="0" cy="1143000"/>
            </a:xfrm>
            <a:prstGeom prst="line">
              <a:avLst/>
            </a:prstGeom>
            <a:noFill/>
            <a:ln w="28575">
              <a:solidFill>
                <a:srgbClr val="006666"/>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02" name="Text Box 22">
              <a:extLst>
                <a:ext uri="{FF2B5EF4-FFF2-40B4-BE49-F238E27FC236}">
                  <a16:creationId xmlns:a16="http://schemas.microsoft.com/office/drawing/2014/main" id="{DE40D992-E4B0-D837-0B2A-FF7E8AEE9E8C}"/>
                </a:ext>
              </a:extLst>
            </p:cNvPr>
            <p:cNvSpPr txBox="1">
              <a:spLocks noChangeArrowheads="1"/>
            </p:cNvSpPr>
            <p:nvPr/>
          </p:nvSpPr>
          <p:spPr bwMode="auto">
            <a:xfrm>
              <a:off x="4191000" y="4068763"/>
              <a:ext cx="27511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a:solidFill>
                    <a:srgbClr val="006666"/>
                  </a:solidFill>
                  <a:latin typeface="Times New Roman" panose="02020603050405020304" pitchFamily="18" charset="0"/>
                  <a:ea typeface="宋体" panose="02010600030101010101" pitchFamily="2" charset="-122"/>
                </a:rPr>
                <a:t>Find (2)       </a:t>
              </a:r>
              <a:r>
                <a:rPr kumimoji="1" lang="en-US" altLang="zh-CN" sz="3200" b="1">
                  <a:solidFill>
                    <a:srgbClr val="006666"/>
                  </a:solidFill>
                  <a:latin typeface="Times New Roman" panose="02020603050405020304" pitchFamily="18" charset="0"/>
                  <a:ea typeface="宋体" panose="02010600030101010101" pitchFamily="2" charset="-122"/>
                </a:rPr>
                <a:t>=2 </a:t>
              </a:r>
              <a:endParaRPr kumimoji="1" lang="en-US" altLang="zh-CN" sz="2400">
                <a:latin typeface="Times New Roman" panose="02020603050405020304" pitchFamily="18" charset="0"/>
                <a:ea typeface="宋体" panose="02010600030101010101" pitchFamily="2" charset="-122"/>
              </a:endParaRPr>
            </a:p>
          </p:txBody>
        </p:sp>
        <p:sp>
          <p:nvSpPr>
            <p:cNvPr id="46103" name="Line 23">
              <a:extLst>
                <a:ext uri="{FF2B5EF4-FFF2-40B4-BE49-F238E27FC236}">
                  <a16:creationId xmlns:a16="http://schemas.microsoft.com/office/drawing/2014/main" id="{0998F55C-7EA6-4337-517D-782A36CA4DF9}"/>
                </a:ext>
              </a:extLst>
            </p:cNvPr>
            <p:cNvSpPr>
              <a:spLocks noChangeShapeType="1"/>
            </p:cNvSpPr>
            <p:nvPr/>
          </p:nvSpPr>
          <p:spPr bwMode="auto">
            <a:xfrm flipV="1">
              <a:off x="3581400" y="3048000"/>
              <a:ext cx="0" cy="1524000"/>
            </a:xfrm>
            <a:prstGeom prst="line">
              <a:avLst/>
            </a:prstGeom>
            <a:noFill/>
            <a:ln w="28575">
              <a:solidFill>
                <a:srgbClr val="006666"/>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04" name="Text Box 24">
              <a:extLst>
                <a:ext uri="{FF2B5EF4-FFF2-40B4-BE49-F238E27FC236}">
                  <a16:creationId xmlns:a16="http://schemas.microsoft.com/office/drawing/2014/main" id="{A4691A5E-DAAB-E569-598B-B9B252A25A2A}"/>
                </a:ext>
              </a:extLst>
            </p:cNvPr>
            <p:cNvSpPr txBox="1">
              <a:spLocks noChangeArrowheads="1"/>
            </p:cNvSpPr>
            <p:nvPr/>
          </p:nvSpPr>
          <p:spPr bwMode="auto">
            <a:xfrm>
              <a:off x="2895600" y="4495800"/>
              <a:ext cx="27511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a:solidFill>
                    <a:srgbClr val="006666"/>
                  </a:solidFill>
                  <a:latin typeface="Times New Roman" panose="02020603050405020304" pitchFamily="18" charset="0"/>
                  <a:ea typeface="宋体" panose="02010600030101010101" pitchFamily="2" charset="-122"/>
                </a:rPr>
                <a:t>Find (1)       </a:t>
              </a:r>
              <a:r>
                <a:rPr kumimoji="1" lang="en-US" altLang="zh-CN" sz="3200" b="1">
                  <a:solidFill>
                    <a:srgbClr val="006666"/>
                  </a:solidFill>
                  <a:latin typeface="Times New Roman" panose="02020603050405020304" pitchFamily="18" charset="0"/>
                  <a:ea typeface="宋体" panose="02010600030101010101" pitchFamily="2" charset="-122"/>
                </a:rPr>
                <a:t>= 1</a:t>
              </a:r>
              <a:endParaRPr kumimoji="1" lang="en-US" altLang="zh-CN" sz="2400">
                <a:latin typeface="Times New Roman" panose="02020603050405020304" pitchFamily="18" charset="0"/>
                <a:ea typeface="宋体" panose="02010600030101010101" pitchFamily="2" charset="-122"/>
              </a:endParaRPr>
            </a:p>
          </p:txBody>
        </p:sp>
        <p:sp>
          <p:nvSpPr>
            <p:cNvPr id="46105" name="Line 25">
              <a:extLst>
                <a:ext uri="{FF2B5EF4-FFF2-40B4-BE49-F238E27FC236}">
                  <a16:creationId xmlns:a16="http://schemas.microsoft.com/office/drawing/2014/main" id="{B79069D8-1C78-93C2-5FEB-F2C189C902B3}"/>
                </a:ext>
              </a:extLst>
            </p:cNvPr>
            <p:cNvSpPr>
              <a:spLocks noChangeShapeType="1"/>
            </p:cNvSpPr>
            <p:nvPr/>
          </p:nvSpPr>
          <p:spPr bwMode="auto">
            <a:xfrm flipV="1">
              <a:off x="2362200" y="3048000"/>
              <a:ext cx="0" cy="1981200"/>
            </a:xfrm>
            <a:prstGeom prst="line">
              <a:avLst/>
            </a:prstGeom>
            <a:noFill/>
            <a:ln w="28575">
              <a:solidFill>
                <a:srgbClr val="006666"/>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06" name="Text Box 26">
              <a:extLst>
                <a:ext uri="{FF2B5EF4-FFF2-40B4-BE49-F238E27FC236}">
                  <a16:creationId xmlns:a16="http://schemas.microsoft.com/office/drawing/2014/main" id="{F2C74E1D-7823-40C3-C87A-88F61B9A7913}"/>
                </a:ext>
              </a:extLst>
            </p:cNvPr>
            <p:cNvSpPr txBox="1">
              <a:spLocks noChangeArrowheads="1"/>
            </p:cNvSpPr>
            <p:nvPr/>
          </p:nvSpPr>
          <p:spPr bwMode="auto">
            <a:xfrm>
              <a:off x="1751013" y="4953000"/>
              <a:ext cx="27511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a:solidFill>
                    <a:srgbClr val="006666"/>
                  </a:solidFill>
                  <a:latin typeface="Times New Roman" panose="02020603050405020304" pitchFamily="18" charset="0"/>
                  <a:ea typeface="宋体" panose="02010600030101010101" pitchFamily="2" charset="-122"/>
                </a:rPr>
                <a:t>Find (0)     </a:t>
              </a:r>
              <a:r>
                <a:rPr kumimoji="1" lang="en-US" altLang="zh-CN" sz="3200" b="1">
                  <a:solidFill>
                    <a:srgbClr val="006666"/>
                  </a:solidFill>
                  <a:latin typeface="Times New Roman" panose="02020603050405020304" pitchFamily="18" charset="0"/>
                  <a:ea typeface="宋体" panose="02010600030101010101" pitchFamily="2" charset="-122"/>
                </a:rPr>
                <a:t>= 0</a:t>
              </a:r>
              <a:r>
                <a:rPr kumimoji="1" lang="en-US" altLang="zh-CN" sz="3200">
                  <a:solidFill>
                    <a:srgbClr val="006666"/>
                  </a:solidFill>
                  <a:latin typeface="Times New Roman" panose="02020603050405020304" pitchFamily="18" charset="0"/>
                  <a:ea typeface="宋体" panose="02010600030101010101" pitchFamily="2" charset="-122"/>
                </a:rPr>
                <a:t>  </a:t>
              </a:r>
            </a:p>
          </p:txBody>
        </p:sp>
        <p:sp>
          <p:nvSpPr>
            <p:cNvPr id="436251" name="Text Box 27">
              <a:extLst>
                <a:ext uri="{FF2B5EF4-FFF2-40B4-BE49-F238E27FC236}">
                  <a16:creationId xmlns:a16="http://schemas.microsoft.com/office/drawing/2014/main" id="{C28D0F9F-2E33-DEF3-450D-65CE90EA0A61}"/>
                </a:ext>
              </a:extLst>
            </p:cNvPr>
            <p:cNvSpPr txBox="1">
              <a:spLocks noChangeArrowheads="1"/>
            </p:cNvSpPr>
            <p:nvPr/>
          </p:nvSpPr>
          <p:spPr bwMode="auto">
            <a:xfrm>
              <a:off x="2133600" y="5378450"/>
              <a:ext cx="2813050" cy="641350"/>
            </a:xfrm>
            <a:prstGeom prst="rect">
              <a:avLst/>
            </a:prstGeom>
            <a:noFill/>
            <a:ln w="9525">
              <a:noFill/>
              <a:miter lim="800000"/>
              <a:headEnd/>
              <a:tailEnd/>
            </a:ln>
            <a:effectLst/>
          </p:spPr>
          <p:txBody>
            <a:bodyPr wrap="none">
              <a:spAutoFit/>
            </a:bodyPr>
            <a:lstStyle/>
            <a:p>
              <a:pPr>
                <a:defRPr/>
              </a:pPr>
              <a:r>
                <a:rPr lang="en-US" altLang="zh-CN" sz="3600" b="1">
                  <a:solidFill>
                    <a:srgbClr val="FF3300"/>
                  </a:solidFill>
                  <a:ea typeface="隶书" pitchFamily="49" charset="-122"/>
                </a:rPr>
                <a:t> </a:t>
              </a:r>
              <a:r>
                <a:rPr lang="en-US" altLang="zh-CN" b="1">
                  <a:solidFill>
                    <a:srgbClr val="006666"/>
                  </a:solidFill>
                  <a:ea typeface="隶书" pitchFamily="49" charset="-122"/>
                </a:rPr>
                <a:t>= </a:t>
              </a:r>
              <a:r>
                <a:rPr lang="en-US" altLang="zh-CN" b="1">
                  <a:solidFill>
                    <a:srgbClr val="006666"/>
                  </a:solidFill>
                  <a:latin typeface="隶书" pitchFamily="49" charset="-122"/>
                  <a:ea typeface="隶书" pitchFamily="49" charset="-122"/>
                </a:rPr>
                <a:t>-</a:t>
              </a:r>
              <a:r>
                <a:rPr lang="en-US" altLang="zh-CN" b="1">
                  <a:solidFill>
                    <a:srgbClr val="006666"/>
                  </a:solidFill>
                  <a:ea typeface="隶书" pitchFamily="49" charset="-122"/>
                </a:rPr>
                <a:t>5 &lt; 0  </a:t>
              </a:r>
              <a:r>
                <a:rPr lang="en-US" altLang="zh-CN" sz="3600" b="1">
                  <a:solidFill>
                    <a:srgbClr val="FF3300"/>
                  </a:solidFill>
                  <a:ea typeface="隶书" pitchFamily="49" charset="-122"/>
                </a:rPr>
                <a:t> </a:t>
              </a:r>
              <a:r>
                <a:rPr lang="zh-CN" altLang="en-US" b="1">
                  <a:solidFill>
                    <a:srgbClr val="FF3300"/>
                  </a:solidFill>
                  <a:effectLst>
                    <a:outerShdw blurRad="38100" dist="38100" dir="2700000" algn="tl">
                      <a:srgbClr val="C0C0C0"/>
                    </a:outerShdw>
                  </a:effectLst>
                  <a:ea typeface="仿宋_GB2312" pitchFamily="49" charset="-122"/>
                </a:rPr>
                <a:t>结束</a:t>
              </a:r>
              <a:endParaRPr lang="zh-CN" altLang="en-US" sz="2400">
                <a:ea typeface="宋体" charset="-122"/>
              </a:endParaRPr>
            </a:p>
          </p:txBody>
        </p:sp>
      </p:grpSp>
      <p:sp>
        <p:nvSpPr>
          <p:cNvPr id="2" name="标题 1">
            <a:extLst>
              <a:ext uri="{FF2B5EF4-FFF2-40B4-BE49-F238E27FC236}">
                <a16:creationId xmlns:a16="http://schemas.microsoft.com/office/drawing/2014/main" id="{BA93FF81-4786-45BD-BCE6-C4D321BB5AC3}"/>
              </a:ext>
            </a:extLst>
          </p:cNvPr>
          <p:cNvSpPr>
            <a:spLocks noGrp="1"/>
          </p:cNvSpPr>
          <p:nvPr>
            <p:ph type="title"/>
          </p:nvPr>
        </p:nvSpPr>
        <p:spPr/>
        <p:txBody>
          <a:bodyPr/>
          <a:lstStyle/>
          <a:p>
            <a:r>
              <a:rPr lang="zh-CN" altLang="en-US" dirty="0"/>
              <a:t> 并查集上的操作</a:t>
            </a:r>
          </a:p>
        </p:txBody>
      </p:sp>
      <p:sp>
        <p:nvSpPr>
          <p:cNvPr id="3" name="内容占位符 2">
            <a:extLst>
              <a:ext uri="{FF2B5EF4-FFF2-40B4-BE49-F238E27FC236}">
                <a16:creationId xmlns:a16="http://schemas.microsoft.com/office/drawing/2014/main" id="{6EBD606D-5CDE-4344-9DB2-0D598AB3C982}"/>
              </a:ext>
            </a:extLst>
          </p:cNvPr>
          <p:cNvSpPr>
            <a:spLocks noGrp="1"/>
          </p:cNvSpPr>
          <p:nvPr>
            <p:ph idx="1"/>
          </p:nvPr>
        </p:nvSpPr>
        <p:spPr/>
        <p:txBody>
          <a:bodyPr/>
          <a:lstStyle/>
          <a:p>
            <a:r>
              <a:rPr lang="zh-CN" altLang="en-US" dirty="0"/>
              <a:t>查找元素</a:t>
            </a:r>
            <a:r>
              <a:rPr lang="en-US" altLang="zh-CN" dirty="0"/>
              <a:t>x</a:t>
            </a:r>
            <a:r>
              <a:rPr lang="zh-CN" altLang="en-US" dirty="0"/>
              <a:t>所在的集合</a:t>
            </a:r>
          </a:p>
          <a:p>
            <a:endParaRPr lang="zh-CN" altLang="en-US" dirty="0"/>
          </a:p>
        </p:txBody>
      </p:sp>
      <p:sp>
        <p:nvSpPr>
          <p:cNvPr id="5" name="灯片编号占位符 4">
            <a:extLst>
              <a:ext uri="{FF2B5EF4-FFF2-40B4-BE49-F238E27FC236}">
                <a16:creationId xmlns:a16="http://schemas.microsoft.com/office/drawing/2014/main" id="{F2C29AC4-CCD7-D251-3DBB-623AF88F50CE}"/>
              </a:ext>
            </a:extLst>
          </p:cNvPr>
          <p:cNvSpPr>
            <a:spLocks noGrp="1"/>
          </p:cNvSpPr>
          <p:nvPr>
            <p:ph type="sldNum" sz="quarter" idx="12"/>
          </p:nvPr>
        </p:nvSpPr>
        <p:spPr/>
        <p:txBody>
          <a:bodyPr/>
          <a:lstStyle/>
          <a:p>
            <a:pPr>
              <a:defRPr/>
            </a:pPr>
            <a:fld id="{524B865F-46F8-4520-B0DD-31ED36EF62D9}" type="slidenum">
              <a:rPr lang="en-US" altLang="zh-CN" smtClean="0"/>
              <a:pPr>
                <a:defRPr/>
              </a:pPr>
              <a:t>34</a:t>
            </a:fld>
            <a:endParaRPr lang="en-US" altLang="zh-CN"/>
          </a:p>
        </p:txBody>
      </p:sp>
    </p:spTree>
  </p:cSld>
  <p:clrMapOvr>
    <a:masterClrMapping/>
  </p:clrMapOvr>
  <p:transition>
    <p:spli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C55D9D1-2943-4619-90CC-334B9355FA07}"/>
              </a:ext>
            </a:extLst>
          </p:cNvPr>
          <p:cNvSpPr>
            <a:spLocks noGrp="1"/>
          </p:cNvSpPr>
          <p:nvPr>
            <p:ph idx="1"/>
          </p:nvPr>
        </p:nvSpPr>
        <p:spPr>
          <a:xfrm>
            <a:off x="628650" y="548680"/>
            <a:ext cx="8263830" cy="5628282"/>
          </a:xfrm>
        </p:spPr>
        <p:txBody>
          <a:bodyPr>
            <a:normAutofit fontScale="92500" lnSpcReduction="20000"/>
          </a:bodyPr>
          <a:lstStyle/>
          <a:p>
            <a:pPr marL="0" indent="0">
              <a:buNone/>
            </a:pPr>
            <a:r>
              <a:rPr lang="en-US" altLang="zh-CN" dirty="0"/>
              <a:t>int </a:t>
            </a:r>
            <a:r>
              <a:rPr lang="en-US" altLang="zh-CN" dirty="0" err="1"/>
              <a:t>UFSets</a:t>
            </a:r>
            <a:r>
              <a:rPr lang="en-US" altLang="zh-CN" dirty="0"/>
              <a:t> :: Find ( int x ) {</a:t>
            </a:r>
          </a:p>
          <a:p>
            <a:pPr marL="0" indent="0">
              <a:buNone/>
            </a:pPr>
            <a:r>
              <a:rPr lang="en-US" altLang="zh-CN" dirty="0"/>
              <a:t>     while ( parent [x] &gt;= 0 ) x = parent [x];</a:t>
            </a:r>
          </a:p>
          <a:p>
            <a:pPr marL="0" indent="0">
              <a:buNone/>
            </a:pPr>
            <a:r>
              <a:rPr lang="en-US" altLang="zh-CN" dirty="0"/>
              <a:t>     return x; </a:t>
            </a:r>
          </a:p>
          <a:p>
            <a:pPr marL="0" indent="0">
              <a:buNone/>
            </a:pPr>
            <a:r>
              <a:rPr lang="en-US" altLang="zh-CN" dirty="0"/>
              <a:t>} </a:t>
            </a:r>
          </a:p>
          <a:p>
            <a:pPr marL="0" indent="0">
              <a:buNone/>
            </a:pPr>
            <a:endParaRPr lang="en-US" altLang="zh-CN" dirty="0"/>
          </a:p>
          <a:p>
            <a:pPr marL="0" indent="0">
              <a:buNone/>
            </a:pPr>
            <a:r>
              <a:rPr lang="en-US" altLang="zh-CN" dirty="0"/>
              <a:t>//</a:t>
            </a:r>
            <a:r>
              <a:rPr lang="zh-CN" altLang="en-US" dirty="0"/>
              <a:t>求两个不相交集合</a:t>
            </a:r>
            <a:r>
              <a:rPr lang="en-US" altLang="zh-CN" dirty="0"/>
              <a:t>Root1</a:t>
            </a:r>
            <a:r>
              <a:rPr lang="zh-CN" altLang="en-US" dirty="0"/>
              <a:t>与</a:t>
            </a:r>
            <a:r>
              <a:rPr lang="en-US" altLang="zh-CN" dirty="0"/>
              <a:t>Root2</a:t>
            </a:r>
            <a:r>
              <a:rPr lang="zh-CN" altLang="en-US" dirty="0"/>
              <a:t>的并</a:t>
            </a:r>
          </a:p>
          <a:p>
            <a:pPr marL="0" indent="0">
              <a:buNone/>
            </a:pPr>
            <a:r>
              <a:rPr lang="en-US" altLang="zh-CN" dirty="0"/>
              <a:t>void </a:t>
            </a:r>
            <a:r>
              <a:rPr lang="en-US" altLang="zh-CN" dirty="0" err="1"/>
              <a:t>UFSets</a:t>
            </a:r>
            <a:r>
              <a:rPr lang="en-US" altLang="zh-CN" dirty="0"/>
              <a:t> :: Union ( int Root1, int Root2 ) {</a:t>
            </a:r>
          </a:p>
          <a:p>
            <a:pPr marL="0" indent="0">
              <a:buNone/>
            </a:pPr>
            <a:r>
              <a:rPr lang="en-US" altLang="zh-CN" dirty="0"/>
              <a:t>     parent[Root1] += parent[Root2];</a:t>
            </a:r>
          </a:p>
          <a:p>
            <a:pPr marL="0" indent="0">
              <a:buNone/>
            </a:pPr>
            <a:r>
              <a:rPr lang="en-US" altLang="zh-CN" dirty="0"/>
              <a:t>     parent[Root2] = Root1;</a:t>
            </a:r>
          </a:p>
          <a:p>
            <a:pPr marL="0" indent="0">
              <a:buNone/>
            </a:pPr>
            <a:r>
              <a:rPr lang="en-US" altLang="zh-CN" dirty="0"/>
              <a:t> 		//</a:t>
            </a:r>
            <a:r>
              <a:rPr lang="zh-CN" altLang="en-US" dirty="0"/>
              <a:t>将</a:t>
            </a:r>
            <a:r>
              <a:rPr lang="en-US" altLang="zh-CN" dirty="0"/>
              <a:t>Root2</a:t>
            </a:r>
            <a:r>
              <a:rPr lang="zh-CN" altLang="en-US" dirty="0"/>
              <a:t>连接到</a:t>
            </a:r>
            <a:r>
              <a:rPr lang="en-US" altLang="zh-CN" dirty="0"/>
              <a:t>Root1</a:t>
            </a:r>
            <a:r>
              <a:rPr lang="zh-CN" altLang="en-US" dirty="0"/>
              <a:t>下面</a:t>
            </a:r>
          </a:p>
          <a:p>
            <a:pPr marL="0" indent="0">
              <a:buNone/>
            </a:pPr>
            <a:r>
              <a:rPr lang="en-US" altLang="zh-CN" dirty="0"/>
              <a:t>}</a:t>
            </a:r>
          </a:p>
          <a:p>
            <a:pPr marL="0" indent="0">
              <a:buNone/>
            </a:pPr>
            <a:endParaRPr lang="en-US" altLang="zh-CN" dirty="0"/>
          </a:p>
        </p:txBody>
      </p:sp>
      <p:sp>
        <p:nvSpPr>
          <p:cNvPr id="2" name="灯片编号占位符 1">
            <a:extLst>
              <a:ext uri="{FF2B5EF4-FFF2-40B4-BE49-F238E27FC236}">
                <a16:creationId xmlns:a16="http://schemas.microsoft.com/office/drawing/2014/main" id="{E07D29CB-F98D-45AC-3558-167BCBA0A8B4}"/>
              </a:ext>
            </a:extLst>
          </p:cNvPr>
          <p:cNvSpPr>
            <a:spLocks noGrp="1"/>
          </p:cNvSpPr>
          <p:nvPr>
            <p:ph type="sldNum" sz="quarter" idx="12"/>
          </p:nvPr>
        </p:nvSpPr>
        <p:spPr/>
        <p:txBody>
          <a:bodyPr/>
          <a:lstStyle/>
          <a:p>
            <a:pPr>
              <a:defRPr/>
            </a:pPr>
            <a:fld id="{524B865F-46F8-4520-B0DD-31ED36EF62D9}" type="slidenum">
              <a:rPr lang="en-US" altLang="zh-CN" smtClean="0"/>
              <a:pPr>
                <a:defRPr/>
              </a:pPr>
              <a:t>35</a:t>
            </a:fld>
            <a:endParaRPr lang="en-US" altLang="zh-CN"/>
          </a:p>
        </p:txBody>
      </p:sp>
    </p:spTree>
  </p:cSld>
  <p:clrMapOvr>
    <a:masterClrMapping/>
  </p:clrMapOvr>
  <p:transition>
    <p:spli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718094-F388-4DBF-8AE7-2C956DD04876}"/>
              </a:ext>
            </a:extLst>
          </p:cNvPr>
          <p:cNvSpPr>
            <a:spLocks noGrp="1"/>
          </p:cNvSpPr>
          <p:nvPr>
            <p:ph type="title"/>
          </p:nvPr>
        </p:nvSpPr>
        <p:spPr/>
        <p:txBody>
          <a:bodyPr/>
          <a:lstStyle/>
          <a:p>
            <a:r>
              <a:rPr lang="en-US" altLang="zh-CN" dirty="0"/>
              <a:t>Find</a:t>
            </a:r>
            <a:r>
              <a:rPr lang="zh-CN" altLang="en-US" dirty="0"/>
              <a:t>和</a:t>
            </a:r>
            <a:r>
              <a:rPr lang="en-US" altLang="zh-CN" dirty="0"/>
              <a:t>Union</a:t>
            </a:r>
            <a:r>
              <a:rPr lang="zh-CN" altLang="en-US" dirty="0"/>
              <a:t>操作性能不好</a:t>
            </a:r>
          </a:p>
        </p:txBody>
      </p:sp>
      <p:sp>
        <p:nvSpPr>
          <p:cNvPr id="3" name="内容占位符 2">
            <a:extLst>
              <a:ext uri="{FF2B5EF4-FFF2-40B4-BE49-F238E27FC236}">
                <a16:creationId xmlns:a16="http://schemas.microsoft.com/office/drawing/2014/main" id="{800C4606-D2F0-4170-8212-3D485B427D68}"/>
              </a:ext>
            </a:extLst>
          </p:cNvPr>
          <p:cNvSpPr>
            <a:spLocks noGrp="1"/>
          </p:cNvSpPr>
          <p:nvPr>
            <p:ph idx="1"/>
          </p:nvPr>
        </p:nvSpPr>
        <p:spPr>
          <a:xfrm>
            <a:off x="628650" y="1713908"/>
            <a:ext cx="7886700" cy="1098216"/>
          </a:xfrm>
        </p:spPr>
        <p:txBody>
          <a:bodyPr>
            <a:normAutofit fontScale="70000" lnSpcReduction="20000"/>
          </a:bodyPr>
          <a:lstStyle/>
          <a:p>
            <a:r>
              <a:rPr lang="zh-CN" altLang="en-US" dirty="0"/>
              <a:t>假设最初 </a:t>
            </a:r>
            <a:r>
              <a:rPr lang="en-US" altLang="zh-CN" dirty="0"/>
              <a:t>n </a:t>
            </a:r>
            <a:r>
              <a:rPr lang="zh-CN" altLang="en-US" dirty="0"/>
              <a:t>个元素构成 </a:t>
            </a:r>
            <a:r>
              <a:rPr lang="en-US" altLang="zh-CN" dirty="0"/>
              <a:t>n </a:t>
            </a:r>
            <a:r>
              <a:rPr lang="zh-CN" altLang="en-US" dirty="0"/>
              <a:t>棵树组成的森林，</a:t>
            </a:r>
            <a:r>
              <a:rPr lang="en-US" altLang="zh-CN" dirty="0"/>
              <a:t>parent[</a:t>
            </a:r>
            <a:r>
              <a:rPr lang="en-US" altLang="zh-CN" dirty="0" err="1"/>
              <a:t>i</a:t>
            </a:r>
            <a:r>
              <a:rPr lang="en-US" altLang="zh-CN" dirty="0"/>
              <a:t>] = -1</a:t>
            </a:r>
            <a:r>
              <a:rPr lang="zh-CN" altLang="en-US" dirty="0"/>
              <a:t>。做处理</a:t>
            </a:r>
            <a:r>
              <a:rPr lang="en-US" altLang="zh-CN" dirty="0"/>
              <a:t>Union(n-2, n-1), …, Union(1, 2), Union(0, 1)</a:t>
            </a:r>
            <a:r>
              <a:rPr lang="zh-CN" altLang="en-US" dirty="0"/>
              <a:t>后，将产生退化的树。</a:t>
            </a:r>
          </a:p>
          <a:p>
            <a:endParaRPr lang="zh-CN" altLang="en-US" dirty="0"/>
          </a:p>
        </p:txBody>
      </p:sp>
      <p:sp>
        <p:nvSpPr>
          <p:cNvPr id="74" name="Oval 13">
            <a:extLst>
              <a:ext uri="{FF2B5EF4-FFF2-40B4-BE49-F238E27FC236}">
                <a16:creationId xmlns:a16="http://schemas.microsoft.com/office/drawing/2014/main" id="{AB5705D4-F26A-4771-9FD7-41DA1CCC5AA2}"/>
              </a:ext>
            </a:extLst>
          </p:cNvPr>
          <p:cNvSpPr>
            <a:spLocks noChangeArrowheads="1"/>
          </p:cNvSpPr>
          <p:nvPr/>
        </p:nvSpPr>
        <p:spPr bwMode="auto">
          <a:xfrm>
            <a:off x="3393281" y="3750335"/>
            <a:ext cx="533400" cy="376992"/>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3</a:t>
            </a:r>
            <a:endParaRPr lang="en-US" altLang="zh-CN" sz="2400">
              <a:ea typeface="宋体" charset="-122"/>
            </a:endParaRPr>
          </a:p>
        </p:txBody>
      </p:sp>
      <p:sp>
        <p:nvSpPr>
          <p:cNvPr id="75" name="Oval 14">
            <a:extLst>
              <a:ext uri="{FF2B5EF4-FFF2-40B4-BE49-F238E27FC236}">
                <a16:creationId xmlns:a16="http://schemas.microsoft.com/office/drawing/2014/main" id="{B5F6DD5E-F0A1-464B-9946-85936B7889C3}"/>
              </a:ext>
            </a:extLst>
          </p:cNvPr>
          <p:cNvSpPr>
            <a:spLocks noChangeArrowheads="1"/>
          </p:cNvSpPr>
          <p:nvPr/>
        </p:nvSpPr>
        <p:spPr bwMode="auto">
          <a:xfrm>
            <a:off x="7508081" y="3050208"/>
            <a:ext cx="533400" cy="376992"/>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5</a:t>
            </a:r>
            <a:endParaRPr lang="en-US" altLang="zh-CN" sz="2400">
              <a:ea typeface="宋体" charset="-122"/>
            </a:endParaRPr>
          </a:p>
        </p:txBody>
      </p:sp>
      <p:sp>
        <p:nvSpPr>
          <p:cNvPr id="76" name="Oval 15">
            <a:extLst>
              <a:ext uri="{FF2B5EF4-FFF2-40B4-BE49-F238E27FC236}">
                <a16:creationId xmlns:a16="http://schemas.microsoft.com/office/drawing/2014/main" id="{C576F261-939F-487A-9781-34D6A0DB6B90}"/>
              </a:ext>
            </a:extLst>
          </p:cNvPr>
          <p:cNvSpPr>
            <a:spLocks noChangeArrowheads="1"/>
          </p:cNvSpPr>
          <p:nvPr/>
        </p:nvSpPr>
        <p:spPr bwMode="auto">
          <a:xfrm>
            <a:off x="7508081" y="3750335"/>
            <a:ext cx="533400" cy="376992"/>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77" name="Oval 16">
            <a:extLst>
              <a:ext uri="{FF2B5EF4-FFF2-40B4-BE49-F238E27FC236}">
                <a16:creationId xmlns:a16="http://schemas.microsoft.com/office/drawing/2014/main" id="{320515D0-4396-4682-B90E-C13B7E9DB825}"/>
              </a:ext>
            </a:extLst>
          </p:cNvPr>
          <p:cNvSpPr>
            <a:spLocks noChangeArrowheads="1"/>
          </p:cNvSpPr>
          <p:nvPr/>
        </p:nvSpPr>
        <p:spPr bwMode="auto">
          <a:xfrm>
            <a:off x="3393281" y="5150590"/>
            <a:ext cx="533400" cy="376992"/>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8" name="Text Box 17">
            <a:extLst>
              <a:ext uri="{FF2B5EF4-FFF2-40B4-BE49-F238E27FC236}">
                <a16:creationId xmlns:a16="http://schemas.microsoft.com/office/drawing/2014/main" id="{07680560-769F-477A-A895-318FAC46CA84}"/>
              </a:ext>
            </a:extLst>
          </p:cNvPr>
          <p:cNvSpPr txBox="1">
            <a:spLocks noChangeArrowheads="1"/>
          </p:cNvSpPr>
          <p:nvPr/>
        </p:nvSpPr>
        <p:spPr bwMode="auto">
          <a:xfrm>
            <a:off x="3107531" y="3534911"/>
            <a:ext cx="361950" cy="366894"/>
          </a:xfrm>
          <a:prstGeom prst="rect">
            <a:avLst/>
          </a:prstGeom>
          <a:noFill/>
          <a:ln w="9525">
            <a:noFill/>
            <a:miter lim="800000"/>
            <a:headEnd/>
            <a:tailEnd/>
          </a:ln>
          <a:effectLst/>
        </p:spPr>
        <p:txBody>
          <a:bodyPr wrap="none">
            <a:spAutoFit/>
          </a:bodyPr>
          <a:lstStyle/>
          <a:p>
            <a:pPr>
              <a:defRPr/>
            </a:pPr>
            <a:r>
              <a:rPr lang="en-US" altLang="zh-CN" sz="2800" b="1" dirty="0">
                <a:effectLst>
                  <a:outerShdw blurRad="38100" dist="38100" dir="2700000" algn="tl">
                    <a:srgbClr val="C0C0C0"/>
                  </a:outerShdw>
                </a:effectLst>
                <a:ea typeface="宋体" charset="-122"/>
              </a:rPr>
              <a:t>2</a:t>
            </a:r>
            <a:endParaRPr lang="en-US" altLang="zh-CN" sz="2400" dirty="0">
              <a:ea typeface="宋体" charset="-122"/>
            </a:endParaRPr>
          </a:p>
        </p:txBody>
      </p:sp>
      <p:grpSp>
        <p:nvGrpSpPr>
          <p:cNvPr id="4" name="组合 3">
            <a:extLst>
              <a:ext uri="{FF2B5EF4-FFF2-40B4-BE49-F238E27FC236}">
                <a16:creationId xmlns:a16="http://schemas.microsoft.com/office/drawing/2014/main" id="{2BBC5817-65EA-4617-89D2-03037FC518F6}"/>
              </a:ext>
            </a:extLst>
          </p:cNvPr>
          <p:cNvGrpSpPr/>
          <p:nvPr/>
        </p:nvGrpSpPr>
        <p:grpSpPr>
          <a:xfrm>
            <a:off x="2135981" y="2812124"/>
            <a:ext cx="4495800" cy="807839"/>
            <a:chOff x="2631281" y="2780928"/>
            <a:chExt cx="4495800" cy="807839"/>
          </a:xfrm>
        </p:grpSpPr>
        <p:sp>
          <p:nvSpPr>
            <p:cNvPr id="64" name="AutoShape 2">
              <a:extLst>
                <a:ext uri="{FF2B5EF4-FFF2-40B4-BE49-F238E27FC236}">
                  <a16:creationId xmlns:a16="http://schemas.microsoft.com/office/drawing/2014/main" id="{6BDEA093-E06D-4C50-B735-EEC64E99EE24}"/>
                </a:ext>
              </a:extLst>
            </p:cNvPr>
            <p:cNvSpPr>
              <a:spLocks noChangeArrowheads="1"/>
            </p:cNvSpPr>
            <p:nvPr/>
          </p:nvSpPr>
          <p:spPr bwMode="auto">
            <a:xfrm>
              <a:off x="2631281" y="2780928"/>
              <a:ext cx="4495800" cy="807839"/>
            </a:xfrm>
            <a:prstGeom prst="bevel">
              <a:avLst>
                <a:gd name="adj" fmla="val 12500"/>
              </a:avLst>
            </a:prstGeom>
            <a:solidFill>
              <a:srgbClr val="C0C0C0"/>
            </a:solidFill>
            <a:ln w="9525">
              <a:solidFill>
                <a:srgbClr val="C0C0C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65" name="Oval 4">
              <a:extLst>
                <a:ext uri="{FF2B5EF4-FFF2-40B4-BE49-F238E27FC236}">
                  <a16:creationId xmlns:a16="http://schemas.microsoft.com/office/drawing/2014/main" id="{F9A09B37-B3E6-4936-95A6-74D68B13B4D4}"/>
                </a:ext>
              </a:extLst>
            </p:cNvPr>
            <p:cNvSpPr>
              <a:spLocks noChangeArrowheads="1"/>
            </p:cNvSpPr>
            <p:nvPr/>
          </p:nvSpPr>
          <p:spPr bwMode="auto">
            <a:xfrm>
              <a:off x="3850481" y="3050208"/>
              <a:ext cx="533400" cy="376992"/>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1</a:t>
              </a:r>
            </a:p>
          </p:txBody>
        </p:sp>
        <p:sp>
          <p:nvSpPr>
            <p:cNvPr id="66" name="Oval 5">
              <a:extLst>
                <a:ext uri="{FF2B5EF4-FFF2-40B4-BE49-F238E27FC236}">
                  <a16:creationId xmlns:a16="http://schemas.microsoft.com/office/drawing/2014/main" id="{96A04645-E86B-4C23-A37B-15EF84B2C5CB}"/>
                </a:ext>
              </a:extLst>
            </p:cNvPr>
            <p:cNvSpPr>
              <a:spLocks noChangeArrowheads="1"/>
            </p:cNvSpPr>
            <p:nvPr/>
          </p:nvSpPr>
          <p:spPr bwMode="auto">
            <a:xfrm>
              <a:off x="3012281" y="3050208"/>
              <a:ext cx="533400" cy="376992"/>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1</a:t>
              </a:r>
              <a:endParaRPr lang="en-US" altLang="zh-CN" sz="2400">
                <a:ea typeface="宋体" charset="-122"/>
              </a:endParaRPr>
            </a:p>
          </p:txBody>
        </p:sp>
        <p:sp>
          <p:nvSpPr>
            <p:cNvPr id="67" name="Oval 6">
              <a:extLst>
                <a:ext uri="{FF2B5EF4-FFF2-40B4-BE49-F238E27FC236}">
                  <a16:creationId xmlns:a16="http://schemas.microsoft.com/office/drawing/2014/main" id="{9F4B1BC5-7A36-41BF-8625-A9758C23B9AC}"/>
                </a:ext>
              </a:extLst>
            </p:cNvPr>
            <p:cNvSpPr>
              <a:spLocks noChangeArrowheads="1"/>
            </p:cNvSpPr>
            <p:nvPr/>
          </p:nvSpPr>
          <p:spPr bwMode="auto">
            <a:xfrm>
              <a:off x="4688681" y="3050208"/>
              <a:ext cx="533400" cy="376992"/>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1</a:t>
              </a:r>
            </a:p>
          </p:txBody>
        </p:sp>
        <p:sp>
          <p:nvSpPr>
            <p:cNvPr id="68" name="Oval 7">
              <a:extLst>
                <a:ext uri="{FF2B5EF4-FFF2-40B4-BE49-F238E27FC236}">
                  <a16:creationId xmlns:a16="http://schemas.microsoft.com/office/drawing/2014/main" id="{B0B14F2B-9BFA-49B0-AC2D-6E3D7713A59F}"/>
                </a:ext>
              </a:extLst>
            </p:cNvPr>
            <p:cNvSpPr>
              <a:spLocks noChangeArrowheads="1"/>
            </p:cNvSpPr>
            <p:nvPr/>
          </p:nvSpPr>
          <p:spPr bwMode="auto">
            <a:xfrm>
              <a:off x="5526881" y="3050208"/>
              <a:ext cx="533400" cy="376992"/>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1</a:t>
              </a:r>
            </a:p>
          </p:txBody>
        </p:sp>
        <p:sp>
          <p:nvSpPr>
            <p:cNvPr id="69" name="Oval 8">
              <a:extLst>
                <a:ext uri="{FF2B5EF4-FFF2-40B4-BE49-F238E27FC236}">
                  <a16:creationId xmlns:a16="http://schemas.microsoft.com/office/drawing/2014/main" id="{E650E264-40B5-4F27-BBF1-9252D4C12E10}"/>
                </a:ext>
              </a:extLst>
            </p:cNvPr>
            <p:cNvSpPr>
              <a:spLocks noChangeArrowheads="1"/>
            </p:cNvSpPr>
            <p:nvPr/>
          </p:nvSpPr>
          <p:spPr bwMode="auto">
            <a:xfrm>
              <a:off x="6365081" y="3050208"/>
              <a:ext cx="533400" cy="376992"/>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1</a:t>
              </a:r>
            </a:p>
          </p:txBody>
        </p:sp>
        <p:sp>
          <p:nvSpPr>
            <p:cNvPr id="70" name="Text Box 9">
              <a:extLst>
                <a:ext uri="{FF2B5EF4-FFF2-40B4-BE49-F238E27FC236}">
                  <a16:creationId xmlns:a16="http://schemas.microsoft.com/office/drawing/2014/main" id="{D268ED62-3B63-4EF8-B279-70A55CEF32DD}"/>
                </a:ext>
              </a:extLst>
            </p:cNvPr>
            <p:cNvSpPr txBox="1">
              <a:spLocks noChangeArrowheads="1"/>
            </p:cNvSpPr>
            <p:nvPr/>
          </p:nvSpPr>
          <p:spPr bwMode="auto">
            <a:xfrm>
              <a:off x="2726531" y="2834784"/>
              <a:ext cx="361950" cy="366894"/>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0</a:t>
              </a:r>
              <a:endParaRPr lang="en-US" altLang="zh-CN" sz="2400">
                <a:ea typeface="宋体" charset="-122"/>
              </a:endParaRPr>
            </a:p>
          </p:txBody>
        </p:sp>
        <p:sp>
          <p:nvSpPr>
            <p:cNvPr id="71" name="Text Box 10">
              <a:extLst>
                <a:ext uri="{FF2B5EF4-FFF2-40B4-BE49-F238E27FC236}">
                  <a16:creationId xmlns:a16="http://schemas.microsoft.com/office/drawing/2014/main" id="{67E33383-46B2-4856-BA7C-3AEEBCE2108D}"/>
                </a:ext>
              </a:extLst>
            </p:cNvPr>
            <p:cNvSpPr txBox="1">
              <a:spLocks noChangeArrowheads="1"/>
            </p:cNvSpPr>
            <p:nvPr/>
          </p:nvSpPr>
          <p:spPr bwMode="auto">
            <a:xfrm>
              <a:off x="4402931" y="2834784"/>
              <a:ext cx="361950" cy="366894"/>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2</a:t>
              </a:r>
              <a:endParaRPr lang="en-US" altLang="zh-CN" sz="2400">
                <a:ea typeface="宋体" charset="-122"/>
              </a:endParaRPr>
            </a:p>
          </p:txBody>
        </p:sp>
        <p:sp>
          <p:nvSpPr>
            <p:cNvPr id="72" name="Text Box 11">
              <a:extLst>
                <a:ext uri="{FF2B5EF4-FFF2-40B4-BE49-F238E27FC236}">
                  <a16:creationId xmlns:a16="http://schemas.microsoft.com/office/drawing/2014/main" id="{FA6F0542-C97F-4AA5-8739-BA736A64C84F}"/>
                </a:ext>
              </a:extLst>
            </p:cNvPr>
            <p:cNvSpPr txBox="1">
              <a:spLocks noChangeArrowheads="1"/>
            </p:cNvSpPr>
            <p:nvPr/>
          </p:nvSpPr>
          <p:spPr bwMode="auto">
            <a:xfrm>
              <a:off x="5241131" y="2834784"/>
              <a:ext cx="361950" cy="366894"/>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3</a:t>
              </a:r>
              <a:endParaRPr lang="en-US" altLang="zh-CN" sz="2400">
                <a:ea typeface="宋体" charset="-122"/>
              </a:endParaRPr>
            </a:p>
          </p:txBody>
        </p:sp>
        <p:sp>
          <p:nvSpPr>
            <p:cNvPr id="73" name="Text Box 12">
              <a:extLst>
                <a:ext uri="{FF2B5EF4-FFF2-40B4-BE49-F238E27FC236}">
                  <a16:creationId xmlns:a16="http://schemas.microsoft.com/office/drawing/2014/main" id="{43AA06ED-E4AB-4003-B6D1-C40FAE3B47E3}"/>
                </a:ext>
              </a:extLst>
            </p:cNvPr>
            <p:cNvSpPr txBox="1">
              <a:spLocks noChangeArrowheads="1"/>
            </p:cNvSpPr>
            <p:nvPr/>
          </p:nvSpPr>
          <p:spPr bwMode="auto">
            <a:xfrm>
              <a:off x="6079331" y="2834784"/>
              <a:ext cx="361950" cy="366894"/>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4</a:t>
              </a:r>
              <a:endParaRPr lang="en-US" altLang="zh-CN" sz="2400">
                <a:ea typeface="宋体" charset="-122"/>
              </a:endParaRPr>
            </a:p>
          </p:txBody>
        </p:sp>
        <p:sp>
          <p:nvSpPr>
            <p:cNvPr id="79" name="Text Box 18">
              <a:extLst>
                <a:ext uri="{FF2B5EF4-FFF2-40B4-BE49-F238E27FC236}">
                  <a16:creationId xmlns:a16="http://schemas.microsoft.com/office/drawing/2014/main" id="{6EE3FFC7-8AE3-43EC-9A43-51B1F668788B}"/>
                </a:ext>
              </a:extLst>
            </p:cNvPr>
            <p:cNvSpPr txBox="1">
              <a:spLocks noChangeArrowheads="1"/>
            </p:cNvSpPr>
            <p:nvPr/>
          </p:nvSpPr>
          <p:spPr bwMode="auto">
            <a:xfrm>
              <a:off x="3564731" y="2834784"/>
              <a:ext cx="361950" cy="366894"/>
            </a:xfrm>
            <a:prstGeom prst="rect">
              <a:avLst/>
            </a:prstGeom>
            <a:noFill/>
            <a:ln w="9525">
              <a:noFill/>
              <a:miter lim="800000"/>
              <a:headEnd/>
              <a:tailEnd/>
            </a:ln>
            <a:effectLst/>
          </p:spPr>
          <p:txBody>
            <a:bodyPr wrap="none">
              <a:spAutoFit/>
            </a:bodyPr>
            <a:lstStyle/>
            <a:p>
              <a:pPr>
                <a:defRPr/>
              </a:pPr>
              <a:r>
                <a:rPr lang="en-US" altLang="zh-CN" sz="2800" b="1" dirty="0">
                  <a:effectLst>
                    <a:outerShdw blurRad="38100" dist="38100" dir="2700000" algn="tl">
                      <a:srgbClr val="C0C0C0"/>
                    </a:outerShdw>
                  </a:effectLst>
                  <a:ea typeface="宋体" charset="-122"/>
                </a:rPr>
                <a:t>1</a:t>
              </a:r>
              <a:endParaRPr lang="en-US" altLang="zh-CN" sz="2400" dirty="0">
                <a:ea typeface="宋体" charset="-122"/>
              </a:endParaRPr>
            </a:p>
          </p:txBody>
        </p:sp>
      </p:grpSp>
      <p:sp>
        <p:nvSpPr>
          <p:cNvPr id="80" name="Text Box 19">
            <a:extLst>
              <a:ext uri="{FF2B5EF4-FFF2-40B4-BE49-F238E27FC236}">
                <a16:creationId xmlns:a16="http://schemas.microsoft.com/office/drawing/2014/main" id="{AEACA7B7-C98C-49F9-8275-88EDE49D14ED}"/>
              </a:ext>
            </a:extLst>
          </p:cNvPr>
          <p:cNvSpPr txBox="1">
            <a:spLocks noChangeArrowheads="1"/>
          </p:cNvSpPr>
          <p:nvPr/>
        </p:nvSpPr>
        <p:spPr bwMode="auto">
          <a:xfrm>
            <a:off x="3107531" y="4235039"/>
            <a:ext cx="361950" cy="366894"/>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3</a:t>
            </a:r>
            <a:endParaRPr lang="en-US" altLang="zh-CN" sz="2400">
              <a:ea typeface="宋体" charset="-122"/>
            </a:endParaRPr>
          </a:p>
        </p:txBody>
      </p:sp>
      <p:sp>
        <p:nvSpPr>
          <p:cNvPr id="81" name="Text Box 20">
            <a:extLst>
              <a:ext uri="{FF2B5EF4-FFF2-40B4-BE49-F238E27FC236}">
                <a16:creationId xmlns:a16="http://schemas.microsoft.com/office/drawing/2014/main" id="{A8F010D7-EBAD-4970-82C3-4CEF8058AD15}"/>
              </a:ext>
            </a:extLst>
          </p:cNvPr>
          <p:cNvSpPr txBox="1">
            <a:spLocks noChangeArrowheads="1"/>
          </p:cNvSpPr>
          <p:nvPr/>
        </p:nvSpPr>
        <p:spPr bwMode="auto">
          <a:xfrm>
            <a:off x="1431131" y="3534911"/>
            <a:ext cx="361950" cy="366894"/>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3</a:t>
            </a:r>
            <a:endParaRPr lang="en-US" altLang="zh-CN" sz="2400">
              <a:ea typeface="宋体" charset="-122"/>
            </a:endParaRPr>
          </a:p>
        </p:txBody>
      </p:sp>
      <p:sp>
        <p:nvSpPr>
          <p:cNvPr id="82" name="Text Box 21">
            <a:extLst>
              <a:ext uri="{FF2B5EF4-FFF2-40B4-BE49-F238E27FC236}">
                <a16:creationId xmlns:a16="http://schemas.microsoft.com/office/drawing/2014/main" id="{9F8517DD-FBB9-4B89-ABB2-6681DC4B6523}"/>
              </a:ext>
            </a:extLst>
          </p:cNvPr>
          <p:cNvSpPr txBox="1">
            <a:spLocks noChangeArrowheads="1"/>
          </p:cNvSpPr>
          <p:nvPr/>
        </p:nvSpPr>
        <p:spPr bwMode="auto">
          <a:xfrm>
            <a:off x="1431131" y="4245137"/>
            <a:ext cx="361950" cy="36689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4</a:t>
            </a:r>
            <a:endParaRPr lang="en-US" altLang="zh-CN" sz="2400">
              <a:ea typeface="宋体" charset="-122"/>
            </a:endParaRPr>
          </a:p>
        </p:txBody>
      </p:sp>
      <p:sp>
        <p:nvSpPr>
          <p:cNvPr id="83" name="Oval 22">
            <a:extLst>
              <a:ext uri="{FF2B5EF4-FFF2-40B4-BE49-F238E27FC236}">
                <a16:creationId xmlns:a16="http://schemas.microsoft.com/office/drawing/2014/main" id="{BACCE13D-42C9-45A7-993E-A58EFD46CD25}"/>
              </a:ext>
            </a:extLst>
          </p:cNvPr>
          <p:cNvSpPr>
            <a:spLocks noChangeArrowheads="1"/>
          </p:cNvSpPr>
          <p:nvPr/>
        </p:nvSpPr>
        <p:spPr bwMode="auto">
          <a:xfrm>
            <a:off x="7508081" y="4450463"/>
            <a:ext cx="533400" cy="376992"/>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84" name="Oval 23">
            <a:extLst>
              <a:ext uri="{FF2B5EF4-FFF2-40B4-BE49-F238E27FC236}">
                <a16:creationId xmlns:a16="http://schemas.microsoft.com/office/drawing/2014/main" id="{1554F3BF-E8B0-4E18-90CA-FE54F7E7BF5A}"/>
              </a:ext>
            </a:extLst>
          </p:cNvPr>
          <p:cNvSpPr>
            <a:spLocks noChangeArrowheads="1"/>
          </p:cNvSpPr>
          <p:nvPr/>
        </p:nvSpPr>
        <p:spPr bwMode="auto">
          <a:xfrm>
            <a:off x="5298281" y="5850717"/>
            <a:ext cx="533400" cy="376992"/>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85" name="Oval 24">
            <a:extLst>
              <a:ext uri="{FF2B5EF4-FFF2-40B4-BE49-F238E27FC236}">
                <a16:creationId xmlns:a16="http://schemas.microsoft.com/office/drawing/2014/main" id="{F4319802-DD80-4434-91EF-F0B61384F8E5}"/>
              </a:ext>
            </a:extLst>
          </p:cNvPr>
          <p:cNvSpPr>
            <a:spLocks noChangeArrowheads="1"/>
          </p:cNvSpPr>
          <p:nvPr/>
        </p:nvSpPr>
        <p:spPr bwMode="auto">
          <a:xfrm>
            <a:off x="7508081" y="5850717"/>
            <a:ext cx="533400" cy="376992"/>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86" name="Oval 25">
            <a:extLst>
              <a:ext uri="{FF2B5EF4-FFF2-40B4-BE49-F238E27FC236}">
                <a16:creationId xmlns:a16="http://schemas.microsoft.com/office/drawing/2014/main" id="{F8093CA2-90CB-4BE7-BAF5-1CCBA13F89BF}"/>
              </a:ext>
            </a:extLst>
          </p:cNvPr>
          <p:cNvSpPr>
            <a:spLocks noChangeArrowheads="1"/>
          </p:cNvSpPr>
          <p:nvPr/>
        </p:nvSpPr>
        <p:spPr bwMode="auto">
          <a:xfrm>
            <a:off x="7508081" y="5150590"/>
            <a:ext cx="533400" cy="376992"/>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87" name="Oval 26">
            <a:extLst>
              <a:ext uri="{FF2B5EF4-FFF2-40B4-BE49-F238E27FC236}">
                <a16:creationId xmlns:a16="http://schemas.microsoft.com/office/drawing/2014/main" id="{C86A6FD4-CB9B-496F-8841-56F9E6DC9DCF}"/>
              </a:ext>
            </a:extLst>
          </p:cNvPr>
          <p:cNvSpPr>
            <a:spLocks noChangeArrowheads="1"/>
          </p:cNvSpPr>
          <p:nvPr/>
        </p:nvSpPr>
        <p:spPr bwMode="auto">
          <a:xfrm>
            <a:off x="5298281" y="5150590"/>
            <a:ext cx="533400" cy="376992"/>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88" name="Text Box 27">
            <a:extLst>
              <a:ext uri="{FF2B5EF4-FFF2-40B4-BE49-F238E27FC236}">
                <a16:creationId xmlns:a16="http://schemas.microsoft.com/office/drawing/2014/main" id="{A63AF081-9E73-41FC-87C2-3970422407E6}"/>
              </a:ext>
            </a:extLst>
          </p:cNvPr>
          <p:cNvSpPr txBox="1">
            <a:spLocks noChangeArrowheads="1"/>
          </p:cNvSpPr>
          <p:nvPr/>
        </p:nvSpPr>
        <p:spPr bwMode="auto">
          <a:xfrm>
            <a:off x="7203281" y="2888640"/>
            <a:ext cx="361950" cy="366894"/>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0</a:t>
            </a:r>
            <a:endParaRPr lang="en-US" altLang="zh-CN" sz="2400">
              <a:ea typeface="宋体" charset="-122"/>
            </a:endParaRPr>
          </a:p>
        </p:txBody>
      </p:sp>
      <p:sp>
        <p:nvSpPr>
          <p:cNvPr id="89" name="Text Box 28">
            <a:extLst>
              <a:ext uri="{FF2B5EF4-FFF2-40B4-BE49-F238E27FC236}">
                <a16:creationId xmlns:a16="http://schemas.microsoft.com/office/drawing/2014/main" id="{74E20303-EF20-42B3-AFA9-2790920C7BAF}"/>
              </a:ext>
            </a:extLst>
          </p:cNvPr>
          <p:cNvSpPr txBox="1">
            <a:spLocks noChangeArrowheads="1"/>
          </p:cNvSpPr>
          <p:nvPr/>
        </p:nvSpPr>
        <p:spPr bwMode="auto">
          <a:xfrm>
            <a:off x="7279481" y="4191281"/>
            <a:ext cx="361950" cy="36689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2</a:t>
            </a:r>
            <a:endParaRPr lang="en-US" altLang="zh-CN" sz="2400">
              <a:ea typeface="宋体" charset="-122"/>
            </a:endParaRPr>
          </a:p>
        </p:txBody>
      </p:sp>
      <p:sp>
        <p:nvSpPr>
          <p:cNvPr id="90" name="Text Box 29">
            <a:extLst>
              <a:ext uri="{FF2B5EF4-FFF2-40B4-BE49-F238E27FC236}">
                <a16:creationId xmlns:a16="http://schemas.microsoft.com/office/drawing/2014/main" id="{B1690E0D-EDAF-4465-91C0-5CD7685382D8}"/>
              </a:ext>
            </a:extLst>
          </p:cNvPr>
          <p:cNvSpPr txBox="1">
            <a:spLocks noChangeArrowheads="1"/>
          </p:cNvSpPr>
          <p:nvPr/>
        </p:nvSpPr>
        <p:spPr bwMode="auto">
          <a:xfrm>
            <a:off x="7222331" y="4945264"/>
            <a:ext cx="361950" cy="36689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3</a:t>
            </a:r>
            <a:endParaRPr lang="en-US" altLang="zh-CN" sz="2400">
              <a:ea typeface="宋体" charset="-122"/>
            </a:endParaRPr>
          </a:p>
        </p:txBody>
      </p:sp>
      <p:sp>
        <p:nvSpPr>
          <p:cNvPr id="91" name="Text Box 30">
            <a:extLst>
              <a:ext uri="{FF2B5EF4-FFF2-40B4-BE49-F238E27FC236}">
                <a16:creationId xmlns:a16="http://schemas.microsoft.com/office/drawing/2014/main" id="{C8158EE8-ABAB-421A-8F73-3075F2196013}"/>
              </a:ext>
            </a:extLst>
          </p:cNvPr>
          <p:cNvSpPr txBox="1">
            <a:spLocks noChangeArrowheads="1"/>
          </p:cNvSpPr>
          <p:nvPr/>
        </p:nvSpPr>
        <p:spPr bwMode="auto">
          <a:xfrm>
            <a:off x="7222331" y="3545010"/>
            <a:ext cx="361950" cy="36689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1</a:t>
            </a:r>
            <a:endParaRPr lang="en-US" altLang="zh-CN" sz="2400">
              <a:ea typeface="宋体" charset="-122"/>
            </a:endParaRPr>
          </a:p>
        </p:txBody>
      </p:sp>
      <p:sp>
        <p:nvSpPr>
          <p:cNvPr id="92" name="Text Box 31">
            <a:extLst>
              <a:ext uri="{FF2B5EF4-FFF2-40B4-BE49-F238E27FC236}">
                <a16:creationId xmlns:a16="http://schemas.microsoft.com/office/drawing/2014/main" id="{F753FDE0-BCE2-4EB9-929B-43EB43838522}"/>
              </a:ext>
            </a:extLst>
          </p:cNvPr>
          <p:cNvSpPr txBox="1">
            <a:spLocks noChangeArrowheads="1"/>
          </p:cNvSpPr>
          <p:nvPr/>
        </p:nvSpPr>
        <p:spPr bwMode="auto">
          <a:xfrm>
            <a:off x="7279481" y="5591536"/>
            <a:ext cx="361950" cy="36689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4</a:t>
            </a:r>
            <a:endParaRPr lang="en-US" altLang="zh-CN" sz="2400">
              <a:ea typeface="宋体" charset="-122"/>
            </a:endParaRPr>
          </a:p>
        </p:txBody>
      </p:sp>
      <p:sp>
        <p:nvSpPr>
          <p:cNvPr id="93" name="Text Box 32">
            <a:extLst>
              <a:ext uri="{FF2B5EF4-FFF2-40B4-BE49-F238E27FC236}">
                <a16:creationId xmlns:a16="http://schemas.microsoft.com/office/drawing/2014/main" id="{163FDA19-2153-4D0A-B36A-E5F4B2610438}"/>
              </a:ext>
            </a:extLst>
          </p:cNvPr>
          <p:cNvSpPr txBox="1">
            <a:spLocks noChangeArrowheads="1"/>
          </p:cNvSpPr>
          <p:nvPr/>
        </p:nvSpPr>
        <p:spPr bwMode="auto">
          <a:xfrm>
            <a:off x="6395244" y="6227709"/>
            <a:ext cx="2022475" cy="40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Union(0,1)</a:t>
            </a:r>
          </a:p>
        </p:txBody>
      </p:sp>
      <p:sp>
        <p:nvSpPr>
          <p:cNvPr id="94" name="Oval 33">
            <a:extLst>
              <a:ext uri="{FF2B5EF4-FFF2-40B4-BE49-F238E27FC236}">
                <a16:creationId xmlns:a16="http://schemas.microsoft.com/office/drawing/2014/main" id="{AFBE0600-3267-4138-B8AD-DA479C3C6F0D}"/>
              </a:ext>
            </a:extLst>
          </p:cNvPr>
          <p:cNvSpPr>
            <a:spLocks noChangeArrowheads="1"/>
          </p:cNvSpPr>
          <p:nvPr/>
        </p:nvSpPr>
        <p:spPr bwMode="auto">
          <a:xfrm>
            <a:off x="1716881" y="3750335"/>
            <a:ext cx="533400" cy="376992"/>
          </a:xfrm>
          <a:prstGeom prst="ellipse">
            <a:avLst/>
          </a:prstGeom>
          <a:solidFill>
            <a:srgbClr val="FFFF00"/>
          </a:solidFill>
          <a:ln w="3175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2</a:t>
            </a:r>
          </a:p>
        </p:txBody>
      </p:sp>
      <p:sp>
        <p:nvSpPr>
          <p:cNvPr id="95" name="Oval 34">
            <a:extLst>
              <a:ext uri="{FF2B5EF4-FFF2-40B4-BE49-F238E27FC236}">
                <a16:creationId xmlns:a16="http://schemas.microsoft.com/office/drawing/2014/main" id="{1CC00E8A-E76D-49AB-ADED-4E2A6CC4CF60}"/>
              </a:ext>
            </a:extLst>
          </p:cNvPr>
          <p:cNvSpPr>
            <a:spLocks noChangeArrowheads="1"/>
          </p:cNvSpPr>
          <p:nvPr/>
        </p:nvSpPr>
        <p:spPr bwMode="auto">
          <a:xfrm>
            <a:off x="1716881" y="4450463"/>
            <a:ext cx="533400" cy="376992"/>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3</a:t>
            </a:r>
          </a:p>
        </p:txBody>
      </p:sp>
      <p:sp>
        <p:nvSpPr>
          <p:cNvPr id="96" name="Oval 35">
            <a:extLst>
              <a:ext uri="{FF2B5EF4-FFF2-40B4-BE49-F238E27FC236}">
                <a16:creationId xmlns:a16="http://schemas.microsoft.com/office/drawing/2014/main" id="{0979A901-C131-4460-A227-DE5DB811B4B1}"/>
              </a:ext>
            </a:extLst>
          </p:cNvPr>
          <p:cNvSpPr>
            <a:spLocks noChangeArrowheads="1"/>
          </p:cNvSpPr>
          <p:nvPr/>
        </p:nvSpPr>
        <p:spPr bwMode="auto">
          <a:xfrm>
            <a:off x="5298281" y="3750335"/>
            <a:ext cx="533400" cy="376992"/>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4</a:t>
            </a:r>
          </a:p>
        </p:txBody>
      </p:sp>
      <p:sp>
        <p:nvSpPr>
          <p:cNvPr id="97" name="Oval 36">
            <a:extLst>
              <a:ext uri="{FF2B5EF4-FFF2-40B4-BE49-F238E27FC236}">
                <a16:creationId xmlns:a16="http://schemas.microsoft.com/office/drawing/2014/main" id="{772F399D-AD1D-4642-BEDB-10B24538DE4A}"/>
              </a:ext>
            </a:extLst>
          </p:cNvPr>
          <p:cNvSpPr>
            <a:spLocks noChangeArrowheads="1"/>
          </p:cNvSpPr>
          <p:nvPr/>
        </p:nvSpPr>
        <p:spPr bwMode="auto">
          <a:xfrm>
            <a:off x="5298281" y="4450463"/>
            <a:ext cx="533400" cy="376992"/>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98" name="Text Box 37">
            <a:extLst>
              <a:ext uri="{FF2B5EF4-FFF2-40B4-BE49-F238E27FC236}">
                <a16:creationId xmlns:a16="http://schemas.microsoft.com/office/drawing/2014/main" id="{506A3683-F933-48A5-BBAD-7E8A14309104}"/>
              </a:ext>
            </a:extLst>
          </p:cNvPr>
          <p:cNvSpPr txBox="1">
            <a:spLocks noChangeArrowheads="1"/>
          </p:cNvSpPr>
          <p:nvPr/>
        </p:nvSpPr>
        <p:spPr bwMode="auto">
          <a:xfrm>
            <a:off x="3107531" y="4935166"/>
            <a:ext cx="361950" cy="366894"/>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4</a:t>
            </a:r>
            <a:endParaRPr lang="en-US" altLang="zh-CN" sz="2400">
              <a:ea typeface="宋体" charset="-122"/>
            </a:endParaRPr>
          </a:p>
        </p:txBody>
      </p:sp>
      <p:sp>
        <p:nvSpPr>
          <p:cNvPr id="99" name="Oval 38">
            <a:extLst>
              <a:ext uri="{FF2B5EF4-FFF2-40B4-BE49-F238E27FC236}">
                <a16:creationId xmlns:a16="http://schemas.microsoft.com/office/drawing/2014/main" id="{85F9DE91-5899-444A-97FB-790C58B15891}"/>
              </a:ext>
            </a:extLst>
          </p:cNvPr>
          <p:cNvSpPr>
            <a:spLocks noChangeArrowheads="1"/>
          </p:cNvSpPr>
          <p:nvPr/>
        </p:nvSpPr>
        <p:spPr bwMode="auto">
          <a:xfrm>
            <a:off x="3393281" y="4450463"/>
            <a:ext cx="533400" cy="376992"/>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00" name="Line 39">
            <a:extLst>
              <a:ext uri="{FF2B5EF4-FFF2-40B4-BE49-F238E27FC236}">
                <a16:creationId xmlns:a16="http://schemas.microsoft.com/office/drawing/2014/main" id="{ACEB1817-2366-4961-9E16-BC028CEC10C5}"/>
              </a:ext>
            </a:extLst>
          </p:cNvPr>
          <p:cNvSpPr>
            <a:spLocks noChangeShapeType="1"/>
          </p:cNvSpPr>
          <p:nvPr/>
        </p:nvSpPr>
        <p:spPr bwMode="auto">
          <a:xfrm flipV="1">
            <a:off x="7736681" y="3427199"/>
            <a:ext cx="0" cy="323136"/>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40">
            <a:extLst>
              <a:ext uri="{FF2B5EF4-FFF2-40B4-BE49-F238E27FC236}">
                <a16:creationId xmlns:a16="http://schemas.microsoft.com/office/drawing/2014/main" id="{FE3E3D32-45BA-46A2-9618-4B01F56E7B1A}"/>
              </a:ext>
            </a:extLst>
          </p:cNvPr>
          <p:cNvSpPr>
            <a:spLocks noChangeShapeType="1"/>
          </p:cNvSpPr>
          <p:nvPr/>
        </p:nvSpPr>
        <p:spPr bwMode="auto">
          <a:xfrm flipV="1">
            <a:off x="7736681" y="5527582"/>
            <a:ext cx="0" cy="323136"/>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41">
            <a:extLst>
              <a:ext uri="{FF2B5EF4-FFF2-40B4-BE49-F238E27FC236}">
                <a16:creationId xmlns:a16="http://schemas.microsoft.com/office/drawing/2014/main" id="{B6A2A361-D183-4968-B227-139892B28374}"/>
              </a:ext>
            </a:extLst>
          </p:cNvPr>
          <p:cNvSpPr>
            <a:spLocks noChangeShapeType="1"/>
          </p:cNvSpPr>
          <p:nvPr/>
        </p:nvSpPr>
        <p:spPr bwMode="auto">
          <a:xfrm flipV="1">
            <a:off x="7736681" y="4827454"/>
            <a:ext cx="0" cy="323136"/>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42">
            <a:extLst>
              <a:ext uri="{FF2B5EF4-FFF2-40B4-BE49-F238E27FC236}">
                <a16:creationId xmlns:a16="http://schemas.microsoft.com/office/drawing/2014/main" id="{B0F973DB-72F3-4A88-A858-CCDFE2EEF7CB}"/>
              </a:ext>
            </a:extLst>
          </p:cNvPr>
          <p:cNvSpPr>
            <a:spLocks noChangeShapeType="1"/>
          </p:cNvSpPr>
          <p:nvPr/>
        </p:nvSpPr>
        <p:spPr bwMode="auto">
          <a:xfrm flipV="1">
            <a:off x="7736681" y="4127327"/>
            <a:ext cx="0" cy="323136"/>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43">
            <a:extLst>
              <a:ext uri="{FF2B5EF4-FFF2-40B4-BE49-F238E27FC236}">
                <a16:creationId xmlns:a16="http://schemas.microsoft.com/office/drawing/2014/main" id="{7C453454-6D2B-4503-8B5E-E6AB05A8636A}"/>
              </a:ext>
            </a:extLst>
          </p:cNvPr>
          <p:cNvSpPr>
            <a:spLocks noChangeShapeType="1"/>
          </p:cNvSpPr>
          <p:nvPr/>
        </p:nvSpPr>
        <p:spPr bwMode="auto">
          <a:xfrm flipV="1">
            <a:off x="5526881" y="4127327"/>
            <a:ext cx="0" cy="323136"/>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44">
            <a:extLst>
              <a:ext uri="{FF2B5EF4-FFF2-40B4-BE49-F238E27FC236}">
                <a16:creationId xmlns:a16="http://schemas.microsoft.com/office/drawing/2014/main" id="{966E6F90-1761-4696-BF50-06CAD2E1D12C}"/>
              </a:ext>
            </a:extLst>
          </p:cNvPr>
          <p:cNvSpPr>
            <a:spLocks noChangeShapeType="1"/>
          </p:cNvSpPr>
          <p:nvPr/>
        </p:nvSpPr>
        <p:spPr bwMode="auto">
          <a:xfrm flipV="1">
            <a:off x="5526881" y="4827454"/>
            <a:ext cx="0" cy="323136"/>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45">
            <a:extLst>
              <a:ext uri="{FF2B5EF4-FFF2-40B4-BE49-F238E27FC236}">
                <a16:creationId xmlns:a16="http://schemas.microsoft.com/office/drawing/2014/main" id="{94BCB524-65D3-434E-B3C9-4CF4C4924D08}"/>
              </a:ext>
            </a:extLst>
          </p:cNvPr>
          <p:cNvSpPr>
            <a:spLocks noChangeShapeType="1"/>
          </p:cNvSpPr>
          <p:nvPr/>
        </p:nvSpPr>
        <p:spPr bwMode="auto">
          <a:xfrm flipV="1">
            <a:off x="5526881" y="5527582"/>
            <a:ext cx="0" cy="323136"/>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Text Box 46">
            <a:extLst>
              <a:ext uri="{FF2B5EF4-FFF2-40B4-BE49-F238E27FC236}">
                <a16:creationId xmlns:a16="http://schemas.microsoft.com/office/drawing/2014/main" id="{A9CED74E-4456-4FE6-8A3E-A8BCD7DE16CC}"/>
              </a:ext>
            </a:extLst>
          </p:cNvPr>
          <p:cNvSpPr txBox="1">
            <a:spLocks noChangeArrowheads="1"/>
          </p:cNvSpPr>
          <p:nvPr/>
        </p:nvSpPr>
        <p:spPr bwMode="auto">
          <a:xfrm>
            <a:off x="4993481" y="3534911"/>
            <a:ext cx="361950" cy="366894"/>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1</a:t>
            </a:r>
            <a:endParaRPr lang="en-US" altLang="zh-CN" sz="2400">
              <a:ea typeface="宋体" charset="-122"/>
            </a:endParaRPr>
          </a:p>
        </p:txBody>
      </p:sp>
      <p:sp>
        <p:nvSpPr>
          <p:cNvPr id="108" name="Text Box 47">
            <a:extLst>
              <a:ext uri="{FF2B5EF4-FFF2-40B4-BE49-F238E27FC236}">
                <a16:creationId xmlns:a16="http://schemas.microsoft.com/office/drawing/2014/main" id="{9420E45C-8558-4939-B010-34E4471CECD0}"/>
              </a:ext>
            </a:extLst>
          </p:cNvPr>
          <p:cNvSpPr txBox="1">
            <a:spLocks noChangeArrowheads="1"/>
          </p:cNvSpPr>
          <p:nvPr/>
        </p:nvSpPr>
        <p:spPr bwMode="auto">
          <a:xfrm>
            <a:off x="5012531" y="4191281"/>
            <a:ext cx="361950" cy="36689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2</a:t>
            </a:r>
            <a:endParaRPr lang="en-US" altLang="zh-CN" sz="2400">
              <a:ea typeface="宋体" charset="-122"/>
            </a:endParaRPr>
          </a:p>
        </p:txBody>
      </p:sp>
      <p:sp>
        <p:nvSpPr>
          <p:cNvPr id="109" name="Text Box 48">
            <a:extLst>
              <a:ext uri="{FF2B5EF4-FFF2-40B4-BE49-F238E27FC236}">
                <a16:creationId xmlns:a16="http://schemas.microsoft.com/office/drawing/2014/main" id="{27D71100-DD4F-4DF6-B186-53FAC0738D73}"/>
              </a:ext>
            </a:extLst>
          </p:cNvPr>
          <p:cNvSpPr txBox="1">
            <a:spLocks noChangeArrowheads="1"/>
          </p:cNvSpPr>
          <p:nvPr/>
        </p:nvSpPr>
        <p:spPr bwMode="auto">
          <a:xfrm>
            <a:off x="5012531" y="4945264"/>
            <a:ext cx="361950" cy="36689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3</a:t>
            </a:r>
            <a:endParaRPr lang="en-US" altLang="zh-CN" sz="2400">
              <a:ea typeface="宋体" charset="-122"/>
            </a:endParaRPr>
          </a:p>
        </p:txBody>
      </p:sp>
      <p:sp>
        <p:nvSpPr>
          <p:cNvPr id="110" name="Text Box 49">
            <a:extLst>
              <a:ext uri="{FF2B5EF4-FFF2-40B4-BE49-F238E27FC236}">
                <a16:creationId xmlns:a16="http://schemas.microsoft.com/office/drawing/2014/main" id="{9D06EFAE-C336-4C8D-B661-E2CDF191EE86}"/>
              </a:ext>
            </a:extLst>
          </p:cNvPr>
          <p:cNvSpPr txBox="1">
            <a:spLocks noChangeArrowheads="1"/>
          </p:cNvSpPr>
          <p:nvPr/>
        </p:nvSpPr>
        <p:spPr bwMode="auto">
          <a:xfrm>
            <a:off x="5012531" y="5591536"/>
            <a:ext cx="361950" cy="36689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4</a:t>
            </a:r>
            <a:endParaRPr lang="en-US" altLang="zh-CN" sz="2400">
              <a:ea typeface="宋体" charset="-122"/>
            </a:endParaRPr>
          </a:p>
        </p:txBody>
      </p:sp>
      <p:sp>
        <p:nvSpPr>
          <p:cNvPr id="111" name="Text Box 50">
            <a:extLst>
              <a:ext uri="{FF2B5EF4-FFF2-40B4-BE49-F238E27FC236}">
                <a16:creationId xmlns:a16="http://schemas.microsoft.com/office/drawing/2014/main" id="{A79B7ED2-F84C-4A5A-B5FA-88DE3119817F}"/>
              </a:ext>
            </a:extLst>
          </p:cNvPr>
          <p:cNvSpPr txBox="1">
            <a:spLocks noChangeArrowheads="1"/>
          </p:cNvSpPr>
          <p:nvPr/>
        </p:nvSpPr>
        <p:spPr bwMode="auto">
          <a:xfrm>
            <a:off x="4231481" y="6227709"/>
            <a:ext cx="2022475" cy="40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Union(1,2)</a:t>
            </a:r>
          </a:p>
        </p:txBody>
      </p:sp>
      <p:sp>
        <p:nvSpPr>
          <p:cNvPr id="112" name="Line 51">
            <a:extLst>
              <a:ext uri="{FF2B5EF4-FFF2-40B4-BE49-F238E27FC236}">
                <a16:creationId xmlns:a16="http://schemas.microsoft.com/office/drawing/2014/main" id="{80F087D9-A357-4164-BFB7-DF15C6D87938}"/>
              </a:ext>
            </a:extLst>
          </p:cNvPr>
          <p:cNvSpPr>
            <a:spLocks noChangeShapeType="1"/>
          </p:cNvSpPr>
          <p:nvPr/>
        </p:nvSpPr>
        <p:spPr bwMode="auto">
          <a:xfrm flipV="1">
            <a:off x="3621881" y="4827454"/>
            <a:ext cx="0" cy="323136"/>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 name="Line 52">
            <a:extLst>
              <a:ext uri="{FF2B5EF4-FFF2-40B4-BE49-F238E27FC236}">
                <a16:creationId xmlns:a16="http://schemas.microsoft.com/office/drawing/2014/main" id="{37E33689-0D2A-4CD4-A67B-916F8C2F4816}"/>
              </a:ext>
            </a:extLst>
          </p:cNvPr>
          <p:cNvSpPr>
            <a:spLocks noChangeShapeType="1"/>
          </p:cNvSpPr>
          <p:nvPr/>
        </p:nvSpPr>
        <p:spPr bwMode="auto">
          <a:xfrm flipV="1">
            <a:off x="3621881" y="4127327"/>
            <a:ext cx="0" cy="323136"/>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Text Box 53">
            <a:extLst>
              <a:ext uri="{FF2B5EF4-FFF2-40B4-BE49-F238E27FC236}">
                <a16:creationId xmlns:a16="http://schemas.microsoft.com/office/drawing/2014/main" id="{9D815748-D69E-463B-B3B7-40C0C943A5CC}"/>
              </a:ext>
            </a:extLst>
          </p:cNvPr>
          <p:cNvSpPr txBox="1">
            <a:spLocks noChangeArrowheads="1"/>
          </p:cNvSpPr>
          <p:nvPr/>
        </p:nvSpPr>
        <p:spPr bwMode="auto">
          <a:xfrm>
            <a:off x="2534444" y="5527582"/>
            <a:ext cx="2022475" cy="40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Union(2,3)</a:t>
            </a:r>
          </a:p>
        </p:txBody>
      </p:sp>
      <p:sp>
        <p:nvSpPr>
          <p:cNvPr id="115" name="Line 54">
            <a:extLst>
              <a:ext uri="{FF2B5EF4-FFF2-40B4-BE49-F238E27FC236}">
                <a16:creationId xmlns:a16="http://schemas.microsoft.com/office/drawing/2014/main" id="{2216D26F-353A-4AE9-8B83-C8A6D077CBCA}"/>
              </a:ext>
            </a:extLst>
          </p:cNvPr>
          <p:cNvSpPr>
            <a:spLocks noChangeShapeType="1"/>
          </p:cNvSpPr>
          <p:nvPr/>
        </p:nvSpPr>
        <p:spPr bwMode="auto">
          <a:xfrm flipV="1">
            <a:off x="1945481" y="4127327"/>
            <a:ext cx="0" cy="323136"/>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 name="Text Box 55">
            <a:extLst>
              <a:ext uri="{FF2B5EF4-FFF2-40B4-BE49-F238E27FC236}">
                <a16:creationId xmlns:a16="http://schemas.microsoft.com/office/drawing/2014/main" id="{E8BFAD09-F64F-47A7-BA45-C996B49D1C3F}"/>
              </a:ext>
            </a:extLst>
          </p:cNvPr>
          <p:cNvSpPr txBox="1">
            <a:spLocks noChangeArrowheads="1"/>
          </p:cNvSpPr>
          <p:nvPr/>
        </p:nvSpPr>
        <p:spPr bwMode="auto">
          <a:xfrm>
            <a:off x="1031081" y="4902629"/>
            <a:ext cx="2022475" cy="40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Union(3,4)</a:t>
            </a:r>
          </a:p>
        </p:txBody>
      </p:sp>
      <p:sp>
        <p:nvSpPr>
          <p:cNvPr id="117" name="AutoShape 56">
            <a:extLst>
              <a:ext uri="{FF2B5EF4-FFF2-40B4-BE49-F238E27FC236}">
                <a16:creationId xmlns:a16="http://schemas.microsoft.com/office/drawing/2014/main" id="{DEE5109A-A248-4F56-8BC0-90FD3502272A}"/>
              </a:ext>
            </a:extLst>
          </p:cNvPr>
          <p:cNvSpPr>
            <a:spLocks noChangeArrowheads="1"/>
          </p:cNvSpPr>
          <p:nvPr/>
        </p:nvSpPr>
        <p:spPr bwMode="auto">
          <a:xfrm>
            <a:off x="2402681" y="4127327"/>
            <a:ext cx="762000" cy="269280"/>
          </a:xfrm>
          <a:prstGeom prst="rightArrow">
            <a:avLst>
              <a:gd name="adj1" fmla="val 50000"/>
              <a:gd name="adj2" fmla="val 50000"/>
            </a:avLst>
          </a:prstGeom>
          <a:solidFill>
            <a:srgbClr val="FF6600"/>
          </a:solidFill>
          <a:ln>
            <a:noFill/>
          </a:ln>
          <a:effectLst>
            <a:prstShdw prst="shdw17" dist="17961" dir="2700000">
              <a:srgbClr val="993D00"/>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118" name="AutoShape 57">
            <a:extLst>
              <a:ext uri="{FF2B5EF4-FFF2-40B4-BE49-F238E27FC236}">
                <a16:creationId xmlns:a16="http://schemas.microsoft.com/office/drawing/2014/main" id="{D1B56106-DE8F-4836-86DB-73A0E7CDF120}"/>
              </a:ext>
            </a:extLst>
          </p:cNvPr>
          <p:cNvSpPr>
            <a:spLocks noChangeArrowheads="1"/>
          </p:cNvSpPr>
          <p:nvPr/>
        </p:nvSpPr>
        <p:spPr bwMode="auto">
          <a:xfrm>
            <a:off x="726281" y="3050207"/>
            <a:ext cx="704850" cy="904331"/>
          </a:xfrm>
          <a:prstGeom prst="curvedRightArrow">
            <a:avLst>
              <a:gd name="adj1" fmla="val 50000"/>
              <a:gd name="adj2" fmla="val 100000"/>
              <a:gd name="adj3" fmla="val 33333"/>
            </a:avLst>
          </a:prstGeom>
          <a:solidFill>
            <a:srgbClr val="FF6600"/>
          </a:solidFill>
          <a:ln>
            <a:noFill/>
          </a:ln>
          <a:effectLst>
            <a:prstShdw prst="shdw17" dist="17961" dir="2700000">
              <a:srgbClr val="993D00"/>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119" name="AutoShape 58">
            <a:extLst>
              <a:ext uri="{FF2B5EF4-FFF2-40B4-BE49-F238E27FC236}">
                <a16:creationId xmlns:a16="http://schemas.microsoft.com/office/drawing/2014/main" id="{1873B93B-6163-4415-859A-3833B17E41C0}"/>
              </a:ext>
            </a:extLst>
          </p:cNvPr>
          <p:cNvSpPr>
            <a:spLocks noChangeArrowheads="1"/>
          </p:cNvSpPr>
          <p:nvPr/>
        </p:nvSpPr>
        <p:spPr bwMode="auto">
          <a:xfrm>
            <a:off x="6212681" y="4127327"/>
            <a:ext cx="762000" cy="269280"/>
          </a:xfrm>
          <a:prstGeom prst="rightArrow">
            <a:avLst>
              <a:gd name="adj1" fmla="val 50000"/>
              <a:gd name="adj2" fmla="val 50000"/>
            </a:avLst>
          </a:prstGeom>
          <a:solidFill>
            <a:srgbClr val="FF6600"/>
          </a:solidFill>
          <a:ln>
            <a:noFill/>
          </a:ln>
          <a:effectLst>
            <a:prstShdw prst="shdw17" dist="17961" dir="2700000">
              <a:srgbClr val="993D00"/>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120" name="AutoShape 59">
            <a:extLst>
              <a:ext uri="{FF2B5EF4-FFF2-40B4-BE49-F238E27FC236}">
                <a16:creationId xmlns:a16="http://schemas.microsoft.com/office/drawing/2014/main" id="{9DD4FBC4-C667-40B1-AEF3-B2146437B051}"/>
              </a:ext>
            </a:extLst>
          </p:cNvPr>
          <p:cNvSpPr>
            <a:spLocks noChangeArrowheads="1"/>
          </p:cNvSpPr>
          <p:nvPr/>
        </p:nvSpPr>
        <p:spPr bwMode="auto">
          <a:xfrm>
            <a:off x="4155281" y="4127327"/>
            <a:ext cx="762000" cy="269280"/>
          </a:xfrm>
          <a:prstGeom prst="rightArrow">
            <a:avLst>
              <a:gd name="adj1" fmla="val 50000"/>
              <a:gd name="adj2" fmla="val 50000"/>
            </a:avLst>
          </a:prstGeom>
          <a:solidFill>
            <a:srgbClr val="FF6600"/>
          </a:solidFill>
          <a:ln>
            <a:noFill/>
          </a:ln>
          <a:effectLst>
            <a:prstShdw prst="shdw17" dist="17961" dir="2700000">
              <a:srgbClr val="993D00"/>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5" name="灯片编号占位符 4">
            <a:extLst>
              <a:ext uri="{FF2B5EF4-FFF2-40B4-BE49-F238E27FC236}">
                <a16:creationId xmlns:a16="http://schemas.microsoft.com/office/drawing/2014/main" id="{6A24971D-416D-6A0A-592B-C4A39C4B8D4A}"/>
              </a:ext>
            </a:extLst>
          </p:cNvPr>
          <p:cNvSpPr>
            <a:spLocks noGrp="1"/>
          </p:cNvSpPr>
          <p:nvPr>
            <p:ph type="sldNum" sz="quarter" idx="12"/>
          </p:nvPr>
        </p:nvSpPr>
        <p:spPr/>
        <p:txBody>
          <a:bodyPr/>
          <a:lstStyle/>
          <a:p>
            <a:pPr>
              <a:defRPr/>
            </a:pPr>
            <a:fld id="{524B865F-46F8-4520-B0DD-31ED36EF62D9}" type="slidenum">
              <a:rPr lang="en-US" altLang="zh-CN" smtClean="0"/>
              <a:pPr>
                <a:defRPr/>
              </a:pPr>
              <a:t>36</a:t>
            </a:fld>
            <a:endParaRPr lang="en-US" altLang="zh-CN"/>
          </a:p>
        </p:txBody>
      </p:sp>
    </p:spTree>
  </p:cSld>
  <p:clrMapOvr>
    <a:masterClrMapping/>
  </p:clrMapOvr>
  <p:transition>
    <p:spli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1F2EE07-0FD2-4ED4-857A-F12D9F7D0495}"/>
              </a:ext>
            </a:extLst>
          </p:cNvPr>
          <p:cNvSpPr>
            <a:spLocks noGrp="1"/>
          </p:cNvSpPr>
          <p:nvPr>
            <p:ph type="title"/>
          </p:nvPr>
        </p:nvSpPr>
        <p:spPr/>
        <p:txBody>
          <a:bodyPr/>
          <a:lstStyle/>
          <a:p>
            <a:r>
              <a:rPr lang="zh-CN" altLang="en-US" dirty="0"/>
              <a:t>改进</a:t>
            </a:r>
          </a:p>
        </p:txBody>
      </p:sp>
      <mc:AlternateContent xmlns:mc="http://schemas.openxmlformats.org/markup-compatibility/2006" xmlns:a14="http://schemas.microsoft.com/office/drawing/2010/main">
        <mc:Choice Requires="a14">
          <p:sp>
            <p:nvSpPr>
              <p:cNvPr id="6" name="内容占位符 5">
                <a:extLst>
                  <a:ext uri="{FF2B5EF4-FFF2-40B4-BE49-F238E27FC236}">
                    <a16:creationId xmlns:a16="http://schemas.microsoft.com/office/drawing/2014/main" id="{346AC0A6-DAD7-4C88-AA19-A4EE28909B71}"/>
                  </a:ext>
                </a:extLst>
              </p:cNvPr>
              <p:cNvSpPr>
                <a:spLocks noGrp="1"/>
              </p:cNvSpPr>
              <p:nvPr>
                <p:ph idx="1"/>
              </p:nvPr>
            </p:nvSpPr>
            <p:spPr>
              <a:xfrm>
                <a:off x="628650" y="1825625"/>
                <a:ext cx="7886700" cy="4667250"/>
              </a:xfrm>
            </p:spPr>
            <p:txBody>
              <a:bodyPr>
                <a:normAutofit fontScale="92500" lnSpcReduction="20000"/>
              </a:bodyPr>
              <a:lstStyle/>
              <a:p>
                <a:r>
                  <a:rPr lang="zh-CN" altLang="en-US" dirty="0"/>
                  <a:t>执行一次</a:t>
                </a:r>
                <a:r>
                  <a:rPr lang="en-US" altLang="zh-CN" dirty="0"/>
                  <a:t>Union</a:t>
                </a:r>
                <a:r>
                  <a:rPr lang="zh-CN" altLang="en-US" dirty="0"/>
                  <a:t>操作所需时间是 </a:t>
                </a:r>
                <a:r>
                  <a:rPr lang="en-US" altLang="zh-CN" dirty="0"/>
                  <a:t>O(1)</a:t>
                </a:r>
                <a:r>
                  <a:rPr lang="zh-CN" altLang="en-US" dirty="0"/>
                  <a:t>，</a:t>
                </a:r>
                <a:r>
                  <a:rPr lang="en-US" altLang="zh-CN" dirty="0"/>
                  <a:t>n-1</a:t>
                </a:r>
                <a:r>
                  <a:rPr lang="zh-CN" altLang="en-US" dirty="0"/>
                  <a:t>次</a:t>
                </a:r>
                <a:r>
                  <a:rPr lang="en-US" altLang="zh-CN" dirty="0"/>
                  <a:t>Union</a:t>
                </a:r>
                <a:r>
                  <a:rPr lang="zh-CN" altLang="en-US" dirty="0"/>
                  <a:t>操作所需时间是</a:t>
                </a:r>
                <a:r>
                  <a:rPr lang="en-US" altLang="zh-CN" dirty="0"/>
                  <a:t>O(n)</a:t>
                </a:r>
                <a:r>
                  <a:rPr lang="zh-CN" altLang="en-US" dirty="0"/>
                  <a:t>。</a:t>
                </a:r>
              </a:p>
              <a:p>
                <a:r>
                  <a:rPr lang="zh-CN" altLang="en-US" dirty="0"/>
                  <a:t>若再执行</a:t>
                </a:r>
                <a:r>
                  <a:rPr lang="en-US" altLang="zh-CN" dirty="0"/>
                  <a:t>Find(0), Find(1), …, Find(n-1), </a:t>
                </a:r>
                <a:r>
                  <a:rPr lang="zh-CN" altLang="en-US" dirty="0"/>
                  <a:t>由于完成 </a:t>
                </a:r>
                <a:r>
                  <a:rPr lang="en-US" altLang="zh-CN" dirty="0"/>
                  <a:t>Find(</a:t>
                </a:r>
                <a:r>
                  <a:rPr lang="en-US" altLang="zh-CN" dirty="0" err="1"/>
                  <a:t>i</a:t>
                </a:r>
                <a:r>
                  <a:rPr lang="en-US" altLang="zh-CN" dirty="0"/>
                  <a:t>) </a:t>
                </a:r>
                <a:r>
                  <a:rPr lang="zh-CN" altLang="en-US" dirty="0"/>
                  <a:t>操作需要时间为</a:t>
                </a:r>
                <a:r>
                  <a:rPr lang="en-US" altLang="zh-CN" dirty="0"/>
                  <a:t>O(</a:t>
                </a:r>
                <a:r>
                  <a:rPr lang="en-US" altLang="zh-CN" dirty="0" err="1"/>
                  <a:t>i</a:t>
                </a:r>
                <a:r>
                  <a:rPr lang="en-US" altLang="zh-CN" dirty="0"/>
                  <a:t>)</a:t>
                </a:r>
                <a:r>
                  <a:rPr lang="zh-CN" altLang="en-US" dirty="0"/>
                  <a:t>，完成 </a:t>
                </a:r>
                <a:r>
                  <a:rPr lang="en-US" altLang="zh-CN" dirty="0"/>
                  <a:t>n </a:t>
                </a:r>
                <a:r>
                  <a:rPr lang="zh-CN" altLang="en-US" dirty="0"/>
                  <a:t>次搜索需要的总时间将达到：</a:t>
                </a:r>
                <a:endParaRPr lang="en-US" altLang="zh-CN" dirty="0"/>
              </a:p>
              <a:p>
                <a:pPr marL="342900" lvl="1" indent="0">
                  <a:buNone/>
                </a:pPr>
                <a:r>
                  <a:rPr lang="en-US" altLang="zh-CN" sz="3900" dirty="0"/>
                  <a:t>O(</a:t>
                </a:r>
                <a14:m>
                  <m:oMath xmlns:m="http://schemas.openxmlformats.org/officeDocument/2006/math">
                    <m:nary>
                      <m:naryPr>
                        <m:chr m:val="∑"/>
                        <m:ctrlPr>
                          <a:rPr lang="en-US" altLang="zh-CN" sz="3900" i="1" smtClean="0">
                            <a:latin typeface="Cambria Math" panose="02040503050406030204" pitchFamily="18" charset="0"/>
                          </a:rPr>
                        </m:ctrlPr>
                      </m:naryPr>
                      <m:sub>
                        <m:r>
                          <m:rPr>
                            <m:brk m:alnAt="23"/>
                          </m:rPr>
                          <a:rPr lang="en-US" altLang="zh-CN" sz="3900" b="0" i="1" smtClean="0">
                            <a:latin typeface="Cambria Math" panose="02040503050406030204" pitchFamily="18" charset="0"/>
                          </a:rPr>
                          <m:t>𝑖</m:t>
                        </m:r>
                        <m:r>
                          <a:rPr lang="en-US" altLang="zh-CN" sz="3900" b="0" i="1" smtClean="0">
                            <a:latin typeface="Cambria Math" panose="02040503050406030204" pitchFamily="18" charset="0"/>
                          </a:rPr>
                          <m:t>=1</m:t>
                        </m:r>
                      </m:sub>
                      <m:sup>
                        <m:r>
                          <a:rPr lang="en-US" altLang="zh-CN" sz="3900" b="0" i="1" smtClean="0">
                            <a:latin typeface="Cambria Math" panose="02040503050406030204" pitchFamily="18" charset="0"/>
                          </a:rPr>
                          <m:t>𝑛</m:t>
                        </m:r>
                      </m:sup>
                      <m:e>
                        <m:r>
                          <m:rPr>
                            <m:sty m:val="p"/>
                          </m:rPr>
                          <a:rPr lang="en-US" altLang="zh-CN" sz="3900" i="1">
                            <a:latin typeface="Cambria Math" panose="02040503050406030204" pitchFamily="18" charset="0"/>
                          </a:rPr>
                          <m:t>i</m:t>
                        </m:r>
                      </m:e>
                    </m:nary>
                  </m:oMath>
                </a14:m>
                <a:r>
                  <a:rPr lang="en-US" altLang="zh-CN" sz="3900" dirty="0"/>
                  <a:t>)=O(n</a:t>
                </a:r>
                <a:r>
                  <a:rPr lang="en-US" altLang="zh-CN" sz="3900" baseline="30000" dirty="0"/>
                  <a:t>2</a:t>
                </a:r>
                <a:r>
                  <a:rPr lang="en-US" altLang="zh-CN" sz="3900" dirty="0"/>
                  <a:t>)</a:t>
                </a:r>
                <a:endParaRPr lang="zh-CN" altLang="en-US" sz="3900" dirty="0"/>
              </a:p>
              <a:p>
                <a:r>
                  <a:rPr lang="zh-CN" altLang="en-US" dirty="0"/>
                  <a:t>改进的方法</a:t>
                </a:r>
              </a:p>
              <a:p>
                <a:pPr lvl="1"/>
                <a:r>
                  <a:rPr lang="zh-CN" altLang="en-US" dirty="0"/>
                  <a:t>按树的结点个数合并；</a:t>
                </a:r>
              </a:p>
              <a:p>
                <a:pPr lvl="1"/>
                <a:r>
                  <a:rPr lang="zh-CN" altLang="en-US" dirty="0"/>
                  <a:t>按树的高度合并；</a:t>
                </a:r>
              </a:p>
              <a:p>
                <a:pPr lvl="1"/>
                <a:r>
                  <a:rPr lang="zh-CN" altLang="en-US" dirty="0"/>
                  <a:t>压缩元素的路径长度。</a:t>
                </a:r>
              </a:p>
              <a:p>
                <a:endParaRPr lang="zh-CN" altLang="en-US" dirty="0"/>
              </a:p>
              <a:p>
                <a:endParaRPr lang="zh-CN" altLang="en-US" dirty="0"/>
              </a:p>
            </p:txBody>
          </p:sp>
        </mc:Choice>
        <mc:Fallback xmlns="">
          <p:sp>
            <p:nvSpPr>
              <p:cNvPr id="6" name="内容占位符 5">
                <a:extLst>
                  <a:ext uri="{FF2B5EF4-FFF2-40B4-BE49-F238E27FC236}">
                    <a16:creationId xmlns:a16="http://schemas.microsoft.com/office/drawing/2014/main" id="{346AC0A6-DAD7-4C88-AA19-A4EE28909B71}"/>
                  </a:ext>
                </a:extLst>
              </p:cNvPr>
              <p:cNvSpPr>
                <a:spLocks noGrp="1" noRot="1" noChangeAspect="1" noMove="1" noResize="1" noEditPoints="1" noAdjustHandles="1" noChangeArrowheads="1" noChangeShapeType="1" noTextEdit="1"/>
              </p:cNvSpPr>
              <p:nvPr>
                <p:ph idx="1"/>
              </p:nvPr>
            </p:nvSpPr>
            <p:spPr>
              <a:xfrm>
                <a:off x="628650" y="1825625"/>
                <a:ext cx="7886700" cy="4667250"/>
              </a:xfrm>
              <a:blipFill>
                <a:blip r:embed="rId2"/>
                <a:stretch>
                  <a:fillRect l="-1855" t="-3655" r="-1005"/>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78476956-F263-4DB9-9ADC-2BB826AB1EF7}"/>
              </a:ext>
            </a:extLst>
          </p:cNvPr>
          <p:cNvSpPr>
            <a:spLocks noGrp="1"/>
          </p:cNvSpPr>
          <p:nvPr>
            <p:ph type="sldNum" sz="quarter" idx="12"/>
          </p:nvPr>
        </p:nvSpPr>
        <p:spPr/>
        <p:txBody>
          <a:bodyPr/>
          <a:lstStyle/>
          <a:p>
            <a:pPr>
              <a:defRPr/>
            </a:pPr>
            <a:fld id="{524B865F-46F8-4520-B0DD-31ED36EF62D9}" type="slidenum">
              <a:rPr lang="en-US" altLang="zh-CN" smtClean="0"/>
              <a:pPr>
                <a:defRPr/>
              </a:pPr>
              <a:t>37</a:t>
            </a:fld>
            <a:endParaRPr lang="en-US" altLang="zh-CN"/>
          </a:p>
        </p:txBody>
      </p:sp>
    </p:spTree>
    <p:extLst>
      <p:ext uri="{BB962C8B-B14F-4D97-AF65-F5344CB8AC3E}">
        <p14:creationId xmlns:p14="http://schemas.microsoft.com/office/powerpoint/2010/main" val="1708917287"/>
      </p:ext>
    </p:extLst>
  </p:cSld>
  <p:clrMapOvr>
    <a:masterClrMapping/>
  </p:clrMapOvr>
  <p:transition>
    <p:spli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D44AF8E-60B8-4101-8E79-D71B8868F110}"/>
              </a:ext>
            </a:extLst>
          </p:cNvPr>
          <p:cNvGrpSpPr/>
          <p:nvPr/>
        </p:nvGrpSpPr>
        <p:grpSpPr>
          <a:xfrm>
            <a:off x="637974" y="2617738"/>
            <a:ext cx="7448550" cy="3962400"/>
            <a:chOff x="762000" y="1905000"/>
            <a:chExt cx="7448550" cy="3962400"/>
          </a:xfrm>
        </p:grpSpPr>
        <p:sp>
          <p:nvSpPr>
            <p:cNvPr id="441347" name="Oval 3">
              <a:extLst>
                <a:ext uri="{FF2B5EF4-FFF2-40B4-BE49-F238E27FC236}">
                  <a16:creationId xmlns:a16="http://schemas.microsoft.com/office/drawing/2014/main" id="{3FD4B427-4988-076A-7C02-39217692F93A}"/>
                </a:ext>
              </a:extLst>
            </p:cNvPr>
            <p:cNvSpPr>
              <a:spLocks noChangeArrowheads="1"/>
            </p:cNvSpPr>
            <p:nvPr/>
          </p:nvSpPr>
          <p:spPr bwMode="auto">
            <a:xfrm>
              <a:off x="2209800" y="2209800"/>
              <a:ext cx="533400" cy="533400"/>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1</a:t>
              </a:r>
            </a:p>
          </p:txBody>
        </p:sp>
        <p:sp>
          <p:nvSpPr>
            <p:cNvPr id="441348" name="Oval 4">
              <a:extLst>
                <a:ext uri="{FF2B5EF4-FFF2-40B4-BE49-F238E27FC236}">
                  <a16:creationId xmlns:a16="http://schemas.microsoft.com/office/drawing/2014/main" id="{ACE10DD6-AD51-BC64-C062-307517B7C24B}"/>
                </a:ext>
              </a:extLst>
            </p:cNvPr>
            <p:cNvSpPr>
              <a:spLocks noChangeArrowheads="1"/>
            </p:cNvSpPr>
            <p:nvPr/>
          </p:nvSpPr>
          <p:spPr bwMode="auto">
            <a:xfrm>
              <a:off x="1219200" y="2209800"/>
              <a:ext cx="533400" cy="533400"/>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1</a:t>
              </a:r>
              <a:endParaRPr lang="en-US" altLang="zh-CN" sz="2400">
                <a:ea typeface="宋体" charset="-122"/>
              </a:endParaRPr>
            </a:p>
          </p:txBody>
        </p:sp>
        <p:sp>
          <p:nvSpPr>
            <p:cNvPr id="441349" name="Oval 5">
              <a:extLst>
                <a:ext uri="{FF2B5EF4-FFF2-40B4-BE49-F238E27FC236}">
                  <a16:creationId xmlns:a16="http://schemas.microsoft.com/office/drawing/2014/main" id="{E6EDD99D-FF46-0B53-0688-A0F3DC5B9850}"/>
                </a:ext>
              </a:extLst>
            </p:cNvPr>
            <p:cNvSpPr>
              <a:spLocks noChangeArrowheads="1"/>
            </p:cNvSpPr>
            <p:nvPr/>
          </p:nvSpPr>
          <p:spPr bwMode="auto">
            <a:xfrm>
              <a:off x="3200400" y="2209800"/>
              <a:ext cx="533400" cy="533400"/>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1</a:t>
              </a:r>
            </a:p>
          </p:txBody>
        </p:sp>
        <p:sp>
          <p:nvSpPr>
            <p:cNvPr id="441350" name="Oval 6">
              <a:extLst>
                <a:ext uri="{FF2B5EF4-FFF2-40B4-BE49-F238E27FC236}">
                  <a16:creationId xmlns:a16="http://schemas.microsoft.com/office/drawing/2014/main" id="{A4762047-D38D-1A1A-75B7-D879B7A77B82}"/>
                </a:ext>
              </a:extLst>
            </p:cNvPr>
            <p:cNvSpPr>
              <a:spLocks noChangeArrowheads="1"/>
            </p:cNvSpPr>
            <p:nvPr/>
          </p:nvSpPr>
          <p:spPr bwMode="auto">
            <a:xfrm>
              <a:off x="4191000" y="2209800"/>
              <a:ext cx="533400" cy="533400"/>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1</a:t>
              </a:r>
              <a:endParaRPr lang="en-US" altLang="zh-CN" sz="2400">
                <a:ea typeface="宋体" charset="-122"/>
              </a:endParaRPr>
            </a:p>
          </p:txBody>
        </p:sp>
        <p:sp>
          <p:nvSpPr>
            <p:cNvPr id="441351" name="Oval 7">
              <a:extLst>
                <a:ext uri="{FF2B5EF4-FFF2-40B4-BE49-F238E27FC236}">
                  <a16:creationId xmlns:a16="http://schemas.microsoft.com/office/drawing/2014/main" id="{F85347B7-7F32-7C83-9C2E-5F008A29911F}"/>
                </a:ext>
              </a:extLst>
            </p:cNvPr>
            <p:cNvSpPr>
              <a:spLocks noChangeArrowheads="1"/>
            </p:cNvSpPr>
            <p:nvPr/>
          </p:nvSpPr>
          <p:spPr bwMode="auto">
            <a:xfrm>
              <a:off x="5181600" y="2209800"/>
              <a:ext cx="533400" cy="533400"/>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1</a:t>
              </a:r>
              <a:endParaRPr lang="en-US" altLang="zh-CN" sz="2400">
                <a:ea typeface="宋体" charset="-122"/>
              </a:endParaRPr>
            </a:p>
          </p:txBody>
        </p:sp>
        <p:sp>
          <p:nvSpPr>
            <p:cNvPr id="441352" name="Text Box 8">
              <a:extLst>
                <a:ext uri="{FF2B5EF4-FFF2-40B4-BE49-F238E27FC236}">
                  <a16:creationId xmlns:a16="http://schemas.microsoft.com/office/drawing/2014/main" id="{7E936BBB-6598-1B9C-4619-BD851F41D026}"/>
                </a:ext>
              </a:extLst>
            </p:cNvPr>
            <p:cNvSpPr txBox="1">
              <a:spLocks noChangeArrowheads="1"/>
            </p:cNvSpPr>
            <p:nvPr/>
          </p:nvSpPr>
          <p:spPr bwMode="auto">
            <a:xfrm>
              <a:off x="990600" y="19050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0</a:t>
              </a:r>
              <a:endParaRPr lang="en-US" altLang="zh-CN" sz="2400">
                <a:ea typeface="宋体" charset="-122"/>
              </a:endParaRPr>
            </a:p>
          </p:txBody>
        </p:sp>
        <p:sp>
          <p:nvSpPr>
            <p:cNvPr id="441353" name="Text Box 9">
              <a:extLst>
                <a:ext uri="{FF2B5EF4-FFF2-40B4-BE49-F238E27FC236}">
                  <a16:creationId xmlns:a16="http://schemas.microsoft.com/office/drawing/2014/main" id="{D80B922C-46BB-B9BF-7F79-206F03AA5100}"/>
                </a:ext>
              </a:extLst>
            </p:cNvPr>
            <p:cNvSpPr txBox="1">
              <a:spLocks noChangeArrowheads="1"/>
            </p:cNvSpPr>
            <p:nvPr/>
          </p:nvSpPr>
          <p:spPr bwMode="auto">
            <a:xfrm>
              <a:off x="762000" y="4052888"/>
              <a:ext cx="361950" cy="519112"/>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1</a:t>
              </a:r>
              <a:endParaRPr lang="en-US" altLang="zh-CN" sz="2400">
                <a:ea typeface="宋体" charset="-122"/>
              </a:endParaRPr>
            </a:p>
          </p:txBody>
        </p:sp>
        <p:sp>
          <p:nvSpPr>
            <p:cNvPr id="441354" name="Text Box 10">
              <a:extLst>
                <a:ext uri="{FF2B5EF4-FFF2-40B4-BE49-F238E27FC236}">
                  <a16:creationId xmlns:a16="http://schemas.microsoft.com/office/drawing/2014/main" id="{3195C9DD-3490-8261-65B5-880C212CA009}"/>
                </a:ext>
              </a:extLst>
            </p:cNvPr>
            <p:cNvSpPr txBox="1">
              <a:spLocks noChangeArrowheads="1"/>
            </p:cNvSpPr>
            <p:nvPr/>
          </p:nvSpPr>
          <p:spPr bwMode="auto">
            <a:xfrm>
              <a:off x="2914650" y="19050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2</a:t>
              </a:r>
              <a:endParaRPr lang="en-US" altLang="zh-CN" sz="2400">
                <a:ea typeface="宋体" charset="-122"/>
              </a:endParaRPr>
            </a:p>
          </p:txBody>
        </p:sp>
        <p:sp>
          <p:nvSpPr>
            <p:cNvPr id="441355" name="Text Box 11">
              <a:extLst>
                <a:ext uri="{FF2B5EF4-FFF2-40B4-BE49-F238E27FC236}">
                  <a16:creationId xmlns:a16="http://schemas.microsoft.com/office/drawing/2014/main" id="{6EE6B582-8E1A-A196-C032-483E57A6CA67}"/>
                </a:ext>
              </a:extLst>
            </p:cNvPr>
            <p:cNvSpPr txBox="1">
              <a:spLocks noChangeArrowheads="1"/>
            </p:cNvSpPr>
            <p:nvPr/>
          </p:nvSpPr>
          <p:spPr bwMode="auto">
            <a:xfrm>
              <a:off x="3905250" y="19050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3</a:t>
              </a:r>
              <a:endParaRPr lang="en-US" altLang="zh-CN" sz="2400">
                <a:ea typeface="宋体" charset="-122"/>
              </a:endParaRPr>
            </a:p>
          </p:txBody>
        </p:sp>
        <p:sp>
          <p:nvSpPr>
            <p:cNvPr id="441356" name="Text Box 12">
              <a:extLst>
                <a:ext uri="{FF2B5EF4-FFF2-40B4-BE49-F238E27FC236}">
                  <a16:creationId xmlns:a16="http://schemas.microsoft.com/office/drawing/2014/main" id="{283C073C-22A6-3CAA-4F6C-2E83C4E13B27}"/>
                </a:ext>
              </a:extLst>
            </p:cNvPr>
            <p:cNvSpPr txBox="1">
              <a:spLocks noChangeArrowheads="1"/>
            </p:cNvSpPr>
            <p:nvPr/>
          </p:nvSpPr>
          <p:spPr bwMode="auto">
            <a:xfrm>
              <a:off x="4876800" y="19050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4</a:t>
              </a:r>
              <a:endParaRPr lang="en-US" altLang="zh-CN" sz="2400">
                <a:ea typeface="宋体" charset="-122"/>
              </a:endParaRPr>
            </a:p>
          </p:txBody>
        </p:sp>
        <p:sp>
          <p:nvSpPr>
            <p:cNvPr id="441357" name="Oval 13">
              <a:extLst>
                <a:ext uri="{FF2B5EF4-FFF2-40B4-BE49-F238E27FC236}">
                  <a16:creationId xmlns:a16="http://schemas.microsoft.com/office/drawing/2014/main" id="{F578FFBC-ECD8-EF83-F342-9490EDFFBA50}"/>
                </a:ext>
              </a:extLst>
            </p:cNvPr>
            <p:cNvSpPr>
              <a:spLocks noChangeArrowheads="1"/>
            </p:cNvSpPr>
            <p:nvPr/>
          </p:nvSpPr>
          <p:spPr bwMode="auto">
            <a:xfrm>
              <a:off x="6172200" y="2209800"/>
              <a:ext cx="533400" cy="533400"/>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1</a:t>
              </a:r>
              <a:endParaRPr lang="en-US" altLang="zh-CN" sz="2400">
                <a:ea typeface="宋体" charset="-122"/>
              </a:endParaRPr>
            </a:p>
          </p:txBody>
        </p:sp>
        <p:sp>
          <p:nvSpPr>
            <p:cNvPr id="441358" name="Oval 14">
              <a:extLst>
                <a:ext uri="{FF2B5EF4-FFF2-40B4-BE49-F238E27FC236}">
                  <a16:creationId xmlns:a16="http://schemas.microsoft.com/office/drawing/2014/main" id="{2F78D3BD-EA6F-A69C-4743-F92C045485A0}"/>
                </a:ext>
              </a:extLst>
            </p:cNvPr>
            <p:cNvSpPr>
              <a:spLocks noChangeArrowheads="1"/>
            </p:cNvSpPr>
            <p:nvPr/>
          </p:nvSpPr>
          <p:spPr bwMode="auto">
            <a:xfrm>
              <a:off x="7162800" y="2209800"/>
              <a:ext cx="533400" cy="533400"/>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1</a:t>
              </a:r>
              <a:endParaRPr lang="en-US" altLang="zh-CN" sz="2400">
                <a:ea typeface="宋体" charset="-122"/>
              </a:endParaRPr>
            </a:p>
          </p:txBody>
        </p:sp>
        <p:sp>
          <p:nvSpPr>
            <p:cNvPr id="51215" name="Oval 15">
              <a:extLst>
                <a:ext uri="{FF2B5EF4-FFF2-40B4-BE49-F238E27FC236}">
                  <a16:creationId xmlns:a16="http://schemas.microsoft.com/office/drawing/2014/main" id="{91B37325-48FA-6CA4-A940-FC6C7EDC8888}"/>
                </a:ext>
              </a:extLst>
            </p:cNvPr>
            <p:cNvSpPr>
              <a:spLocks noChangeArrowheads="1"/>
            </p:cNvSpPr>
            <p:nvPr/>
          </p:nvSpPr>
          <p:spPr bwMode="auto">
            <a:xfrm>
              <a:off x="3581400" y="43434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441360" name="Oval 16">
              <a:extLst>
                <a:ext uri="{FF2B5EF4-FFF2-40B4-BE49-F238E27FC236}">
                  <a16:creationId xmlns:a16="http://schemas.microsoft.com/office/drawing/2014/main" id="{DEF03A0B-C4DA-0C0B-F9F8-B36F266EB8C3}"/>
                </a:ext>
              </a:extLst>
            </p:cNvPr>
            <p:cNvSpPr>
              <a:spLocks noChangeArrowheads="1"/>
            </p:cNvSpPr>
            <p:nvPr/>
          </p:nvSpPr>
          <p:spPr bwMode="auto">
            <a:xfrm>
              <a:off x="6324600" y="3429000"/>
              <a:ext cx="533400" cy="533400"/>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7</a:t>
              </a:r>
              <a:endParaRPr lang="en-US" altLang="zh-CN" sz="2400">
                <a:ea typeface="宋体" charset="-122"/>
              </a:endParaRPr>
            </a:p>
          </p:txBody>
        </p:sp>
        <p:sp>
          <p:nvSpPr>
            <p:cNvPr id="51217" name="Oval 17">
              <a:extLst>
                <a:ext uri="{FF2B5EF4-FFF2-40B4-BE49-F238E27FC236}">
                  <a16:creationId xmlns:a16="http://schemas.microsoft.com/office/drawing/2014/main" id="{31DDE768-E5E9-1949-4DE4-12D68132FF4F}"/>
                </a:ext>
              </a:extLst>
            </p:cNvPr>
            <p:cNvSpPr>
              <a:spLocks noChangeArrowheads="1"/>
            </p:cNvSpPr>
            <p:nvPr/>
          </p:nvSpPr>
          <p:spPr bwMode="auto">
            <a:xfrm>
              <a:off x="7010400" y="43434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441362" name="Text Box 18">
              <a:extLst>
                <a:ext uri="{FF2B5EF4-FFF2-40B4-BE49-F238E27FC236}">
                  <a16:creationId xmlns:a16="http://schemas.microsoft.com/office/drawing/2014/main" id="{A6E4FC27-5940-1893-CDF1-A789CAD9BEB9}"/>
                </a:ext>
              </a:extLst>
            </p:cNvPr>
            <p:cNvSpPr txBox="1">
              <a:spLocks noChangeArrowheads="1"/>
            </p:cNvSpPr>
            <p:nvPr/>
          </p:nvSpPr>
          <p:spPr bwMode="auto">
            <a:xfrm>
              <a:off x="5886450" y="19050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5</a:t>
              </a:r>
              <a:endParaRPr lang="en-US" altLang="zh-CN" sz="2400">
                <a:ea typeface="宋体" charset="-122"/>
              </a:endParaRPr>
            </a:p>
          </p:txBody>
        </p:sp>
        <p:sp>
          <p:nvSpPr>
            <p:cNvPr id="441363" name="Text Box 19">
              <a:extLst>
                <a:ext uri="{FF2B5EF4-FFF2-40B4-BE49-F238E27FC236}">
                  <a16:creationId xmlns:a16="http://schemas.microsoft.com/office/drawing/2014/main" id="{066F2164-DC28-76E4-4AA5-1F40D6FBCDF6}"/>
                </a:ext>
              </a:extLst>
            </p:cNvPr>
            <p:cNvSpPr txBox="1">
              <a:spLocks noChangeArrowheads="1"/>
            </p:cNvSpPr>
            <p:nvPr/>
          </p:nvSpPr>
          <p:spPr bwMode="auto">
            <a:xfrm>
              <a:off x="6877050" y="19050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6</a:t>
              </a:r>
              <a:endParaRPr lang="en-US" altLang="zh-CN" sz="2400">
                <a:ea typeface="宋体" charset="-122"/>
              </a:endParaRPr>
            </a:p>
          </p:txBody>
        </p:sp>
        <p:sp>
          <p:nvSpPr>
            <p:cNvPr id="441364" name="Oval 20">
              <a:extLst>
                <a:ext uri="{FF2B5EF4-FFF2-40B4-BE49-F238E27FC236}">
                  <a16:creationId xmlns:a16="http://schemas.microsoft.com/office/drawing/2014/main" id="{D0ABE3CA-989A-9DA8-0B88-3220052DB58D}"/>
                </a:ext>
              </a:extLst>
            </p:cNvPr>
            <p:cNvSpPr>
              <a:spLocks noChangeArrowheads="1"/>
            </p:cNvSpPr>
            <p:nvPr/>
          </p:nvSpPr>
          <p:spPr bwMode="auto">
            <a:xfrm>
              <a:off x="1676400" y="3429000"/>
              <a:ext cx="533400" cy="533400"/>
            </a:xfrm>
            <a:prstGeom prst="ellipse">
              <a:avLst/>
            </a:prstGeom>
            <a:solidFill>
              <a:srgbClr val="FFFF00"/>
            </a:solidFill>
            <a:ln w="3175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5</a:t>
              </a:r>
              <a:endParaRPr lang="en-US" altLang="zh-CN" sz="2400">
                <a:ea typeface="宋体" charset="-122"/>
              </a:endParaRPr>
            </a:p>
          </p:txBody>
        </p:sp>
        <p:sp>
          <p:nvSpPr>
            <p:cNvPr id="441365" name="Oval 21">
              <a:extLst>
                <a:ext uri="{FF2B5EF4-FFF2-40B4-BE49-F238E27FC236}">
                  <a16:creationId xmlns:a16="http://schemas.microsoft.com/office/drawing/2014/main" id="{24D135FA-6A06-F6EE-D7AC-DAC30B72E390}"/>
                </a:ext>
              </a:extLst>
            </p:cNvPr>
            <p:cNvSpPr>
              <a:spLocks noChangeArrowheads="1"/>
            </p:cNvSpPr>
            <p:nvPr/>
          </p:nvSpPr>
          <p:spPr bwMode="auto">
            <a:xfrm>
              <a:off x="3048000" y="3429000"/>
              <a:ext cx="533400" cy="533400"/>
            </a:xfrm>
            <a:prstGeom prst="ellipse">
              <a:avLst/>
            </a:prstGeom>
            <a:solidFill>
              <a:srgbClr val="FFFF00"/>
            </a:solidFill>
            <a:ln w="38100">
              <a:solidFill>
                <a:srgbClr val="339966"/>
              </a:solidFill>
              <a:round/>
              <a:headEnd/>
              <a:tailEnd/>
            </a:ln>
            <a:effectLst/>
          </p:spPr>
          <p:txBody>
            <a:bodyPr wrap="none" anchor="ctr"/>
            <a:lstStyle/>
            <a:p>
              <a:pPr>
                <a:defRPr/>
              </a:pPr>
              <a:r>
                <a:rPr lang="en-US" altLang="zh-CN" sz="2800" b="1">
                  <a:solidFill>
                    <a:srgbClr val="0000CC"/>
                  </a:solidFill>
                  <a:effectLst>
                    <a:outerShdw blurRad="38100" dist="38100" dir="2700000" algn="tl">
                      <a:srgbClr val="000000"/>
                    </a:outerShdw>
                  </a:effectLst>
                  <a:latin typeface="宋体" charset="-122"/>
                  <a:ea typeface="宋体" charset="-122"/>
                </a:rPr>
                <a:t>-</a:t>
              </a:r>
              <a:r>
                <a:rPr lang="en-US" altLang="zh-CN" sz="2800" b="1">
                  <a:solidFill>
                    <a:srgbClr val="0000CC"/>
                  </a:solidFill>
                  <a:latin typeface="Arial" charset="0"/>
                  <a:ea typeface="宋体" charset="-122"/>
                </a:rPr>
                <a:t>2</a:t>
              </a:r>
              <a:endParaRPr lang="en-US" altLang="zh-CN" sz="2400">
                <a:ea typeface="宋体" charset="-122"/>
              </a:endParaRPr>
            </a:p>
          </p:txBody>
        </p:sp>
        <p:sp>
          <p:nvSpPr>
            <p:cNvPr id="51222" name="Oval 22">
              <a:extLst>
                <a:ext uri="{FF2B5EF4-FFF2-40B4-BE49-F238E27FC236}">
                  <a16:creationId xmlns:a16="http://schemas.microsoft.com/office/drawing/2014/main" id="{EAC1BA57-4EF9-D394-A41A-209B95D4F1D3}"/>
                </a:ext>
              </a:extLst>
            </p:cNvPr>
            <p:cNvSpPr>
              <a:spLocks noChangeArrowheads="1"/>
            </p:cNvSpPr>
            <p:nvPr/>
          </p:nvSpPr>
          <p:spPr bwMode="auto">
            <a:xfrm>
              <a:off x="1066800" y="4343400"/>
              <a:ext cx="533400" cy="533400"/>
            </a:xfrm>
            <a:prstGeom prst="ellipse">
              <a:avLst/>
            </a:prstGeom>
            <a:solidFill>
              <a:srgbClr val="FFFF00"/>
            </a:solidFill>
            <a:ln w="38100">
              <a:solidFill>
                <a:srgbClr val="00808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51223" name="Oval 23">
              <a:extLst>
                <a:ext uri="{FF2B5EF4-FFF2-40B4-BE49-F238E27FC236}">
                  <a16:creationId xmlns:a16="http://schemas.microsoft.com/office/drawing/2014/main" id="{BC6953B1-379A-B09A-5757-12B87CF2B221}"/>
                </a:ext>
              </a:extLst>
            </p:cNvPr>
            <p:cNvSpPr>
              <a:spLocks noChangeArrowheads="1"/>
            </p:cNvSpPr>
            <p:nvPr/>
          </p:nvSpPr>
          <p:spPr bwMode="auto">
            <a:xfrm>
              <a:off x="2209800" y="43434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51224" name="Oval 24">
              <a:extLst>
                <a:ext uri="{FF2B5EF4-FFF2-40B4-BE49-F238E27FC236}">
                  <a16:creationId xmlns:a16="http://schemas.microsoft.com/office/drawing/2014/main" id="{EE88BC15-FA35-2030-382B-40BE206727D2}"/>
                </a:ext>
              </a:extLst>
            </p:cNvPr>
            <p:cNvSpPr>
              <a:spLocks noChangeArrowheads="1"/>
            </p:cNvSpPr>
            <p:nvPr/>
          </p:nvSpPr>
          <p:spPr bwMode="auto">
            <a:xfrm>
              <a:off x="1524000" y="53340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51225" name="Oval 25">
              <a:extLst>
                <a:ext uri="{FF2B5EF4-FFF2-40B4-BE49-F238E27FC236}">
                  <a16:creationId xmlns:a16="http://schemas.microsoft.com/office/drawing/2014/main" id="{A86FECFD-B5C3-9909-87F8-5AD9DD522F4C}"/>
                </a:ext>
              </a:extLst>
            </p:cNvPr>
            <p:cNvSpPr>
              <a:spLocks noChangeArrowheads="1"/>
            </p:cNvSpPr>
            <p:nvPr/>
          </p:nvSpPr>
          <p:spPr bwMode="auto">
            <a:xfrm>
              <a:off x="2819400" y="53340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51226" name="Line 26">
              <a:extLst>
                <a:ext uri="{FF2B5EF4-FFF2-40B4-BE49-F238E27FC236}">
                  <a16:creationId xmlns:a16="http://schemas.microsoft.com/office/drawing/2014/main" id="{8CBBA3EC-D5DD-047C-5F57-10249A498EBF}"/>
                </a:ext>
              </a:extLst>
            </p:cNvPr>
            <p:cNvSpPr>
              <a:spLocks noChangeShapeType="1"/>
            </p:cNvSpPr>
            <p:nvPr/>
          </p:nvSpPr>
          <p:spPr bwMode="auto">
            <a:xfrm flipH="1" flipV="1">
              <a:off x="2057400" y="3886200"/>
              <a:ext cx="304800" cy="457200"/>
            </a:xfrm>
            <a:prstGeom prst="line">
              <a:avLst/>
            </a:prstGeom>
            <a:noFill/>
            <a:ln w="38100">
              <a:solidFill>
                <a:srgbClr val="800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7" name="Line 27">
              <a:extLst>
                <a:ext uri="{FF2B5EF4-FFF2-40B4-BE49-F238E27FC236}">
                  <a16:creationId xmlns:a16="http://schemas.microsoft.com/office/drawing/2014/main" id="{FC984AD5-CB3E-FF1D-3A47-882323B42394}"/>
                </a:ext>
              </a:extLst>
            </p:cNvPr>
            <p:cNvSpPr>
              <a:spLocks noChangeShapeType="1"/>
            </p:cNvSpPr>
            <p:nvPr/>
          </p:nvSpPr>
          <p:spPr bwMode="auto">
            <a:xfrm flipV="1">
              <a:off x="1447800" y="3886200"/>
              <a:ext cx="381000" cy="457200"/>
            </a:xfrm>
            <a:prstGeom prst="line">
              <a:avLst/>
            </a:prstGeom>
            <a:noFill/>
            <a:ln w="38100">
              <a:solidFill>
                <a:srgbClr val="800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8" name="Line 28">
              <a:extLst>
                <a:ext uri="{FF2B5EF4-FFF2-40B4-BE49-F238E27FC236}">
                  <a16:creationId xmlns:a16="http://schemas.microsoft.com/office/drawing/2014/main" id="{2EA45230-26CA-B33C-8791-772FF417D3D9}"/>
                </a:ext>
              </a:extLst>
            </p:cNvPr>
            <p:cNvSpPr>
              <a:spLocks noChangeShapeType="1"/>
            </p:cNvSpPr>
            <p:nvPr/>
          </p:nvSpPr>
          <p:spPr bwMode="auto">
            <a:xfrm flipV="1">
              <a:off x="1905000" y="4876800"/>
              <a:ext cx="457200" cy="457200"/>
            </a:xfrm>
            <a:prstGeom prst="line">
              <a:avLst/>
            </a:prstGeom>
            <a:noFill/>
            <a:ln w="38100">
              <a:solidFill>
                <a:srgbClr val="800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9" name="Line 29">
              <a:extLst>
                <a:ext uri="{FF2B5EF4-FFF2-40B4-BE49-F238E27FC236}">
                  <a16:creationId xmlns:a16="http://schemas.microsoft.com/office/drawing/2014/main" id="{2BBA278A-8FCE-807A-6733-02269A4FE5D5}"/>
                </a:ext>
              </a:extLst>
            </p:cNvPr>
            <p:cNvSpPr>
              <a:spLocks noChangeShapeType="1"/>
            </p:cNvSpPr>
            <p:nvPr/>
          </p:nvSpPr>
          <p:spPr bwMode="auto">
            <a:xfrm flipH="1" flipV="1">
              <a:off x="2590800" y="4876800"/>
              <a:ext cx="381000" cy="457200"/>
            </a:xfrm>
            <a:prstGeom prst="line">
              <a:avLst/>
            </a:prstGeom>
            <a:noFill/>
            <a:ln w="38100">
              <a:solidFill>
                <a:srgbClr val="800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74" name="Text Box 30">
              <a:extLst>
                <a:ext uri="{FF2B5EF4-FFF2-40B4-BE49-F238E27FC236}">
                  <a16:creationId xmlns:a16="http://schemas.microsoft.com/office/drawing/2014/main" id="{7E235616-D362-69F5-E383-D21D52616947}"/>
                </a:ext>
              </a:extLst>
            </p:cNvPr>
            <p:cNvSpPr txBox="1">
              <a:spLocks noChangeArrowheads="1"/>
            </p:cNvSpPr>
            <p:nvPr/>
          </p:nvSpPr>
          <p:spPr bwMode="auto">
            <a:xfrm>
              <a:off x="2133600" y="31242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2</a:t>
              </a:r>
              <a:endParaRPr lang="en-US" altLang="zh-CN" sz="2400">
                <a:ea typeface="宋体" charset="-122"/>
              </a:endParaRPr>
            </a:p>
          </p:txBody>
        </p:sp>
        <p:sp>
          <p:nvSpPr>
            <p:cNvPr id="441375" name="Text Box 31">
              <a:extLst>
                <a:ext uri="{FF2B5EF4-FFF2-40B4-BE49-F238E27FC236}">
                  <a16:creationId xmlns:a16="http://schemas.microsoft.com/office/drawing/2014/main" id="{E8C58A7E-F297-EC39-5026-5F32371C63F1}"/>
                </a:ext>
              </a:extLst>
            </p:cNvPr>
            <p:cNvSpPr txBox="1">
              <a:spLocks noChangeArrowheads="1"/>
            </p:cNvSpPr>
            <p:nvPr/>
          </p:nvSpPr>
          <p:spPr bwMode="auto">
            <a:xfrm>
              <a:off x="3505200" y="3138488"/>
              <a:ext cx="361950" cy="519112"/>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0</a:t>
              </a:r>
              <a:endParaRPr lang="en-US" altLang="zh-CN" sz="2400">
                <a:ea typeface="宋体" charset="-122"/>
              </a:endParaRPr>
            </a:p>
          </p:txBody>
        </p:sp>
        <p:sp>
          <p:nvSpPr>
            <p:cNvPr id="441376" name="Text Box 32">
              <a:extLst>
                <a:ext uri="{FF2B5EF4-FFF2-40B4-BE49-F238E27FC236}">
                  <a16:creationId xmlns:a16="http://schemas.microsoft.com/office/drawing/2014/main" id="{39902056-326B-6876-C092-8ABE5F842FE2}"/>
                </a:ext>
              </a:extLst>
            </p:cNvPr>
            <p:cNvSpPr txBox="1">
              <a:spLocks noChangeArrowheads="1"/>
            </p:cNvSpPr>
            <p:nvPr/>
          </p:nvSpPr>
          <p:spPr bwMode="auto">
            <a:xfrm>
              <a:off x="1924050" y="1919288"/>
              <a:ext cx="361950" cy="519112"/>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1</a:t>
              </a:r>
              <a:endParaRPr lang="en-US" altLang="zh-CN" sz="2400">
                <a:ea typeface="宋体" charset="-122"/>
              </a:endParaRPr>
            </a:p>
          </p:txBody>
        </p:sp>
        <p:sp>
          <p:nvSpPr>
            <p:cNvPr id="441377" name="Text Box 33">
              <a:extLst>
                <a:ext uri="{FF2B5EF4-FFF2-40B4-BE49-F238E27FC236}">
                  <a16:creationId xmlns:a16="http://schemas.microsoft.com/office/drawing/2014/main" id="{083A118C-E942-4066-3DC1-445C2990E600}"/>
                </a:ext>
              </a:extLst>
            </p:cNvPr>
            <p:cNvSpPr txBox="1">
              <a:spLocks noChangeArrowheads="1"/>
            </p:cNvSpPr>
            <p:nvPr/>
          </p:nvSpPr>
          <p:spPr bwMode="auto">
            <a:xfrm>
              <a:off x="2686050" y="4052888"/>
              <a:ext cx="361950" cy="519112"/>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3</a:t>
              </a:r>
              <a:endParaRPr lang="en-US" altLang="zh-CN" sz="2400">
                <a:ea typeface="宋体" charset="-122"/>
              </a:endParaRPr>
            </a:p>
          </p:txBody>
        </p:sp>
        <p:sp>
          <p:nvSpPr>
            <p:cNvPr id="441378" name="Text Box 34">
              <a:extLst>
                <a:ext uri="{FF2B5EF4-FFF2-40B4-BE49-F238E27FC236}">
                  <a16:creationId xmlns:a16="http://schemas.microsoft.com/office/drawing/2014/main" id="{0D0B3584-7715-F313-EF6B-043DC1DE81A0}"/>
                </a:ext>
              </a:extLst>
            </p:cNvPr>
            <p:cNvSpPr txBox="1">
              <a:spLocks noChangeArrowheads="1"/>
            </p:cNvSpPr>
            <p:nvPr/>
          </p:nvSpPr>
          <p:spPr bwMode="auto">
            <a:xfrm>
              <a:off x="1295400" y="4967288"/>
              <a:ext cx="361950" cy="519112"/>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4</a:t>
              </a:r>
              <a:endParaRPr lang="en-US" altLang="zh-CN" sz="2400">
                <a:ea typeface="宋体" charset="-122"/>
              </a:endParaRPr>
            </a:p>
          </p:txBody>
        </p:sp>
        <p:sp>
          <p:nvSpPr>
            <p:cNvPr id="441379" name="Text Box 35">
              <a:extLst>
                <a:ext uri="{FF2B5EF4-FFF2-40B4-BE49-F238E27FC236}">
                  <a16:creationId xmlns:a16="http://schemas.microsoft.com/office/drawing/2014/main" id="{200114F9-73C7-7BD5-F542-089238DCC289}"/>
                </a:ext>
              </a:extLst>
            </p:cNvPr>
            <p:cNvSpPr txBox="1">
              <a:spLocks noChangeArrowheads="1"/>
            </p:cNvSpPr>
            <p:nvPr/>
          </p:nvSpPr>
          <p:spPr bwMode="auto">
            <a:xfrm>
              <a:off x="4038600" y="40386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5</a:t>
              </a:r>
              <a:endParaRPr lang="en-US" altLang="zh-CN" sz="2400">
                <a:ea typeface="宋体" charset="-122"/>
              </a:endParaRPr>
            </a:p>
          </p:txBody>
        </p:sp>
        <p:sp>
          <p:nvSpPr>
            <p:cNvPr id="441380" name="Text Box 36">
              <a:extLst>
                <a:ext uri="{FF2B5EF4-FFF2-40B4-BE49-F238E27FC236}">
                  <a16:creationId xmlns:a16="http://schemas.microsoft.com/office/drawing/2014/main" id="{61165863-9E0B-5DEB-AF33-BEE5FB979F9D}"/>
                </a:ext>
              </a:extLst>
            </p:cNvPr>
            <p:cNvSpPr txBox="1">
              <a:spLocks noChangeArrowheads="1"/>
            </p:cNvSpPr>
            <p:nvPr/>
          </p:nvSpPr>
          <p:spPr bwMode="auto">
            <a:xfrm>
              <a:off x="3124200" y="4967288"/>
              <a:ext cx="361950" cy="519112"/>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6</a:t>
              </a:r>
              <a:endParaRPr lang="en-US" altLang="zh-CN" sz="2400">
                <a:ea typeface="宋体" charset="-122"/>
              </a:endParaRPr>
            </a:p>
          </p:txBody>
        </p:sp>
        <p:sp>
          <p:nvSpPr>
            <p:cNvPr id="51237" name="Oval 37">
              <a:extLst>
                <a:ext uri="{FF2B5EF4-FFF2-40B4-BE49-F238E27FC236}">
                  <a16:creationId xmlns:a16="http://schemas.microsoft.com/office/drawing/2014/main" id="{341908F7-BF05-4EB2-B9E8-570016C09B58}"/>
                </a:ext>
              </a:extLst>
            </p:cNvPr>
            <p:cNvSpPr>
              <a:spLocks noChangeArrowheads="1"/>
            </p:cNvSpPr>
            <p:nvPr/>
          </p:nvSpPr>
          <p:spPr bwMode="auto">
            <a:xfrm>
              <a:off x="6096000" y="43434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51238" name="Line 38">
              <a:extLst>
                <a:ext uri="{FF2B5EF4-FFF2-40B4-BE49-F238E27FC236}">
                  <a16:creationId xmlns:a16="http://schemas.microsoft.com/office/drawing/2014/main" id="{FE1A5D53-92E9-85C2-C617-56A3ECB8C294}"/>
                </a:ext>
              </a:extLst>
            </p:cNvPr>
            <p:cNvSpPr>
              <a:spLocks noChangeShapeType="1"/>
            </p:cNvSpPr>
            <p:nvPr/>
          </p:nvSpPr>
          <p:spPr bwMode="auto">
            <a:xfrm flipV="1">
              <a:off x="5791200" y="4876800"/>
              <a:ext cx="457200" cy="457200"/>
            </a:xfrm>
            <a:prstGeom prst="line">
              <a:avLst/>
            </a:prstGeom>
            <a:noFill/>
            <a:ln w="38100">
              <a:solidFill>
                <a:srgbClr val="800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9" name="Oval 39">
              <a:extLst>
                <a:ext uri="{FF2B5EF4-FFF2-40B4-BE49-F238E27FC236}">
                  <a16:creationId xmlns:a16="http://schemas.microsoft.com/office/drawing/2014/main" id="{1B4F9477-C773-E670-373F-C676D6EE63EC}"/>
                </a:ext>
              </a:extLst>
            </p:cNvPr>
            <p:cNvSpPr>
              <a:spLocks noChangeArrowheads="1"/>
            </p:cNvSpPr>
            <p:nvPr/>
          </p:nvSpPr>
          <p:spPr bwMode="auto">
            <a:xfrm>
              <a:off x="5410200" y="53340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51240" name="Oval 40">
              <a:extLst>
                <a:ext uri="{FF2B5EF4-FFF2-40B4-BE49-F238E27FC236}">
                  <a16:creationId xmlns:a16="http://schemas.microsoft.com/office/drawing/2014/main" id="{AFFD8406-D6A2-0A45-88AF-C5DFC91BE641}"/>
                </a:ext>
              </a:extLst>
            </p:cNvPr>
            <p:cNvSpPr>
              <a:spLocks noChangeArrowheads="1"/>
            </p:cNvSpPr>
            <p:nvPr/>
          </p:nvSpPr>
          <p:spPr bwMode="auto">
            <a:xfrm>
              <a:off x="6705600" y="53340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51241" name="Line 41">
              <a:extLst>
                <a:ext uri="{FF2B5EF4-FFF2-40B4-BE49-F238E27FC236}">
                  <a16:creationId xmlns:a16="http://schemas.microsoft.com/office/drawing/2014/main" id="{05FAB009-DABA-ED60-3DB5-AD7B3A16616E}"/>
                </a:ext>
              </a:extLst>
            </p:cNvPr>
            <p:cNvSpPr>
              <a:spLocks noChangeShapeType="1"/>
            </p:cNvSpPr>
            <p:nvPr/>
          </p:nvSpPr>
          <p:spPr bwMode="auto">
            <a:xfrm flipH="1" flipV="1">
              <a:off x="6477000" y="4876800"/>
              <a:ext cx="381000" cy="457200"/>
            </a:xfrm>
            <a:prstGeom prst="line">
              <a:avLst/>
            </a:prstGeom>
            <a:noFill/>
            <a:ln w="38100">
              <a:solidFill>
                <a:srgbClr val="800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2" name="Line 42">
              <a:extLst>
                <a:ext uri="{FF2B5EF4-FFF2-40B4-BE49-F238E27FC236}">
                  <a16:creationId xmlns:a16="http://schemas.microsoft.com/office/drawing/2014/main" id="{98F0B03D-6B34-5054-6484-EDC451D728A3}"/>
                </a:ext>
              </a:extLst>
            </p:cNvPr>
            <p:cNvSpPr>
              <a:spLocks noChangeShapeType="1"/>
            </p:cNvSpPr>
            <p:nvPr/>
          </p:nvSpPr>
          <p:spPr bwMode="auto">
            <a:xfrm flipV="1">
              <a:off x="6400800" y="3962400"/>
              <a:ext cx="152400" cy="381000"/>
            </a:xfrm>
            <a:prstGeom prst="line">
              <a:avLst/>
            </a:prstGeom>
            <a:noFill/>
            <a:ln w="38100">
              <a:solidFill>
                <a:srgbClr val="800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3" name="Oval 43">
              <a:extLst>
                <a:ext uri="{FF2B5EF4-FFF2-40B4-BE49-F238E27FC236}">
                  <a16:creationId xmlns:a16="http://schemas.microsoft.com/office/drawing/2014/main" id="{8AFED02C-5720-2195-ED5C-3FCCDB6DC4E1}"/>
                </a:ext>
              </a:extLst>
            </p:cNvPr>
            <p:cNvSpPr>
              <a:spLocks noChangeArrowheads="1"/>
            </p:cNvSpPr>
            <p:nvPr/>
          </p:nvSpPr>
          <p:spPr bwMode="auto">
            <a:xfrm>
              <a:off x="7620000" y="53340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51244" name="Line 44">
              <a:extLst>
                <a:ext uri="{FF2B5EF4-FFF2-40B4-BE49-F238E27FC236}">
                  <a16:creationId xmlns:a16="http://schemas.microsoft.com/office/drawing/2014/main" id="{6408CEC5-9E42-D06E-2D10-118EDE724D69}"/>
                </a:ext>
              </a:extLst>
            </p:cNvPr>
            <p:cNvSpPr>
              <a:spLocks noChangeShapeType="1"/>
            </p:cNvSpPr>
            <p:nvPr/>
          </p:nvSpPr>
          <p:spPr bwMode="auto">
            <a:xfrm flipH="1" flipV="1">
              <a:off x="7391400" y="4876800"/>
              <a:ext cx="381000" cy="457200"/>
            </a:xfrm>
            <a:prstGeom prst="line">
              <a:avLst/>
            </a:prstGeom>
            <a:noFill/>
            <a:ln w="38100">
              <a:solidFill>
                <a:srgbClr val="800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5" name="Line 45">
              <a:extLst>
                <a:ext uri="{FF2B5EF4-FFF2-40B4-BE49-F238E27FC236}">
                  <a16:creationId xmlns:a16="http://schemas.microsoft.com/office/drawing/2014/main" id="{656EBF7B-B988-B6C5-4970-0A647DB737FE}"/>
                </a:ext>
              </a:extLst>
            </p:cNvPr>
            <p:cNvSpPr>
              <a:spLocks noChangeShapeType="1"/>
            </p:cNvSpPr>
            <p:nvPr/>
          </p:nvSpPr>
          <p:spPr bwMode="auto">
            <a:xfrm flipV="1">
              <a:off x="5638800" y="3810000"/>
              <a:ext cx="762000" cy="609600"/>
            </a:xfrm>
            <a:prstGeom prst="line">
              <a:avLst/>
            </a:prstGeom>
            <a:noFill/>
            <a:ln w="38100">
              <a:solidFill>
                <a:srgbClr val="800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6" name="Oval 46">
              <a:extLst>
                <a:ext uri="{FF2B5EF4-FFF2-40B4-BE49-F238E27FC236}">
                  <a16:creationId xmlns:a16="http://schemas.microsoft.com/office/drawing/2014/main" id="{93F1C917-FA18-0082-6365-BB78CBB1E503}"/>
                </a:ext>
              </a:extLst>
            </p:cNvPr>
            <p:cNvSpPr>
              <a:spLocks noChangeArrowheads="1"/>
            </p:cNvSpPr>
            <p:nvPr/>
          </p:nvSpPr>
          <p:spPr bwMode="auto">
            <a:xfrm>
              <a:off x="5181600" y="4343400"/>
              <a:ext cx="533400" cy="533400"/>
            </a:xfrm>
            <a:prstGeom prst="ellipse">
              <a:avLst/>
            </a:prstGeom>
            <a:solidFill>
              <a:srgbClr val="FFFF00"/>
            </a:solidFill>
            <a:ln w="38100">
              <a:solidFill>
                <a:srgbClr val="3399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51247" name="Line 47">
              <a:extLst>
                <a:ext uri="{FF2B5EF4-FFF2-40B4-BE49-F238E27FC236}">
                  <a16:creationId xmlns:a16="http://schemas.microsoft.com/office/drawing/2014/main" id="{B0956439-0399-F4EA-4250-785542510FA2}"/>
                </a:ext>
              </a:extLst>
            </p:cNvPr>
            <p:cNvSpPr>
              <a:spLocks noChangeShapeType="1"/>
            </p:cNvSpPr>
            <p:nvPr/>
          </p:nvSpPr>
          <p:spPr bwMode="auto">
            <a:xfrm flipH="1" flipV="1">
              <a:off x="6781800" y="3886200"/>
              <a:ext cx="381000" cy="457200"/>
            </a:xfrm>
            <a:prstGeom prst="line">
              <a:avLst/>
            </a:prstGeom>
            <a:noFill/>
            <a:ln w="38100">
              <a:solidFill>
                <a:srgbClr val="800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8" name="Line 48">
              <a:extLst>
                <a:ext uri="{FF2B5EF4-FFF2-40B4-BE49-F238E27FC236}">
                  <a16:creationId xmlns:a16="http://schemas.microsoft.com/office/drawing/2014/main" id="{A5E8C2B2-AEC1-0CD9-9888-7858913EB9F5}"/>
                </a:ext>
              </a:extLst>
            </p:cNvPr>
            <p:cNvSpPr>
              <a:spLocks noChangeShapeType="1"/>
            </p:cNvSpPr>
            <p:nvPr/>
          </p:nvSpPr>
          <p:spPr bwMode="auto">
            <a:xfrm flipH="1" flipV="1">
              <a:off x="3429000" y="3886200"/>
              <a:ext cx="304800" cy="457200"/>
            </a:xfrm>
            <a:prstGeom prst="line">
              <a:avLst/>
            </a:prstGeom>
            <a:noFill/>
            <a:ln w="38100">
              <a:solidFill>
                <a:srgbClr val="80008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1393" name="Text Box 49">
              <a:extLst>
                <a:ext uri="{FF2B5EF4-FFF2-40B4-BE49-F238E27FC236}">
                  <a16:creationId xmlns:a16="http://schemas.microsoft.com/office/drawing/2014/main" id="{58BC58E0-6E04-3369-7A01-56ABB928C09B}"/>
                </a:ext>
              </a:extLst>
            </p:cNvPr>
            <p:cNvSpPr txBox="1">
              <a:spLocks noChangeArrowheads="1"/>
            </p:cNvSpPr>
            <p:nvPr/>
          </p:nvSpPr>
          <p:spPr bwMode="auto">
            <a:xfrm>
              <a:off x="7410450" y="4052888"/>
              <a:ext cx="361950" cy="519112"/>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0</a:t>
              </a:r>
              <a:endParaRPr lang="en-US" altLang="zh-CN" sz="2400">
                <a:ea typeface="宋体" charset="-122"/>
              </a:endParaRPr>
            </a:p>
          </p:txBody>
        </p:sp>
        <p:sp>
          <p:nvSpPr>
            <p:cNvPr id="441394" name="Text Box 50">
              <a:extLst>
                <a:ext uri="{FF2B5EF4-FFF2-40B4-BE49-F238E27FC236}">
                  <a16:creationId xmlns:a16="http://schemas.microsoft.com/office/drawing/2014/main" id="{236E80D1-BEED-B487-5189-0792E2F89220}"/>
                </a:ext>
              </a:extLst>
            </p:cNvPr>
            <p:cNvSpPr txBox="1">
              <a:spLocks noChangeArrowheads="1"/>
            </p:cNvSpPr>
            <p:nvPr/>
          </p:nvSpPr>
          <p:spPr bwMode="auto">
            <a:xfrm>
              <a:off x="7848600" y="48768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5</a:t>
              </a:r>
              <a:endParaRPr lang="en-US" altLang="zh-CN" sz="2400">
                <a:ea typeface="宋体" charset="-122"/>
              </a:endParaRPr>
            </a:p>
          </p:txBody>
        </p:sp>
        <p:sp>
          <p:nvSpPr>
            <p:cNvPr id="441395" name="Text Box 51">
              <a:extLst>
                <a:ext uri="{FF2B5EF4-FFF2-40B4-BE49-F238E27FC236}">
                  <a16:creationId xmlns:a16="http://schemas.microsoft.com/office/drawing/2014/main" id="{02AB04A5-393A-F25B-EA67-3BB8DD2B3F82}"/>
                </a:ext>
              </a:extLst>
            </p:cNvPr>
            <p:cNvSpPr txBox="1">
              <a:spLocks noChangeArrowheads="1"/>
            </p:cNvSpPr>
            <p:nvPr/>
          </p:nvSpPr>
          <p:spPr bwMode="auto">
            <a:xfrm>
              <a:off x="6934200" y="48768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6</a:t>
              </a:r>
              <a:endParaRPr lang="en-US" altLang="zh-CN" sz="2400">
                <a:ea typeface="宋体" charset="-122"/>
              </a:endParaRPr>
            </a:p>
          </p:txBody>
        </p:sp>
        <p:sp>
          <p:nvSpPr>
            <p:cNvPr id="441396" name="Text Box 52">
              <a:extLst>
                <a:ext uri="{FF2B5EF4-FFF2-40B4-BE49-F238E27FC236}">
                  <a16:creationId xmlns:a16="http://schemas.microsoft.com/office/drawing/2014/main" id="{5AD644B6-3BB7-E4F7-2C43-B9C123FAD805}"/>
                </a:ext>
              </a:extLst>
            </p:cNvPr>
            <p:cNvSpPr txBox="1">
              <a:spLocks noChangeArrowheads="1"/>
            </p:cNvSpPr>
            <p:nvPr/>
          </p:nvSpPr>
          <p:spPr bwMode="auto">
            <a:xfrm>
              <a:off x="6800850" y="31242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2</a:t>
              </a:r>
              <a:endParaRPr lang="en-US" altLang="zh-CN" sz="2400">
                <a:ea typeface="宋体" charset="-122"/>
              </a:endParaRPr>
            </a:p>
          </p:txBody>
        </p:sp>
        <p:sp>
          <p:nvSpPr>
            <p:cNvPr id="441397" name="Text Box 53">
              <a:extLst>
                <a:ext uri="{FF2B5EF4-FFF2-40B4-BE49-F238E27FC236}">
                  <a16:creationId xmlns:a16="http://schemas.microsoft.com/office/drawing/2014/main" id="{5279604D-05BE-E4E5-986A-8EF1FBA9D8A4}"/>
                </a:ext>
              </a:extLst>
            </p:cNvPr>
            <p:cNvSpPr txBox="1">
              <a:spLocks noChangeArrowheads="1"/>
            </p:cNvSpPr>
            <p:nvPr/>
          </p:nvSpPr>
          <p:spPr bwMode="auto">
            <a:xfrm>
              <a:off x="6496050" y="40386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3</a:t>
              </a:r>
              <a:endParaRPr lang="en-US" altLang="zh-CN" sz="2400">
                <a:ea typeface="宋体" charset="-122"/>
              </a:endParaRPr>
            </a:p>
          </p:txBody>
        </p:sp>
        <p:sp>
          <p:nvSpPr>
            <p:cNvPr id="441398" name="Text Box 54">
              <a:extLst>
                <a:ext uri="{FF2B5EF4-FFF2-40B4-BE49-F238E27FC236}">
                  <a16:creationId xmlns:a16="http://schemas.microsoft.com/office/drawing/2014/main" id="{FF220F80-931F-DAA1-D1A6-DAE239BD4F5E}"/>
                </a:ext>
              </a:extLst>
            </p:cNvPr>
            <p:cNvSpPr txBox="1">
              <a:spLocks noChangeArrowheads="1"/>
            </p:cNvSpPr>
            <p:nvPr/>
          </p:nvSpPr>
          <p:spPr bwMode="auto">
            <a:xfrm>
              <a:off x="4895850" y="40386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1</a:t>
              </a:r>
              <a:endParaRPr lang="en-US" altLang="zh-CN" sz="2400">
                <a:ea typeface="宋体" charset="-122"/>
              </a:endParaRPr>
            </a:p>
          </p:txBody>
        </p:sp>
        <p:sp>
          <p:nvSpPr>
            <p:cNvPr id="441399" name="Text Box 55">
              <a:extLst>
                <a:ext uri="{FF2B5EF4-FFF2-40B4-BE49-F238E27FC236}">
                  <a16:creationId xmlns:a16="http://schemas.microsoft.com/office/drawing/2014/main" id="{32C235E7-E429-A13D-2EA6-AD5D8D3093EA}"/>
                </a:ext>
              </a:extLst>
            </p:cNvPr>
            <p:cNvSpPr txBox="1">
              <a:spLocks noChangeArrowheads="1"/>
            </p:cNvSpPr>
            <p:nvPr/>
          </p:nvSpPr>
          <p:spPr bwMode="auto">
            <a:xfrm>
              <a:off x="5200650" y="4953000"/>
              <a:ext cx="3619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4</a:t>
              </a:r>
              <a:endParaRPr lang="en-US" altLang="zh-CN" sz="2400">
                <a:ea typeface="宋体" charset="-122"/>
              </a:endParaRPr>
            </a:p>
          </p:txBody>
        </p:sp>
        <p:sp>
          <p:nvSpPr>
            <p:cNvPr id="51256" name="Text Box 56">
              <a:extLst>
                <a:ext uri="{FF2B5EF4-FFF2-40B4-BE49-F238E27FC236}">
                  <a16:creationId xmlns:a16="http://schemas.microsoft.com/office/drawing/2014/main" id="{E5FD2651-62AA-109C-E3A8-DF1172E2DA46}"/>
                </a:ext>
              </a:extLst>
            </p:cNvPr>
            <p:cNvSpPr txBox="1">
              <a:spLocks noChangeArrowheads="1"/>
            </p:cNvSpPr>
            <p:nvPr/>
          </p:nvSpPr>
          <p:spPr bwMode="auto">
            <a:xfrm>
              <a:off x="3962400" y="3001963"/>
              <a:ext cx="2124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Union(2, 0)</a:t>
              </a:r>
            </a:p>
          </p:txBody>
        </p:sp>
        <p:sp>
          <p:nvSpPr>
            <p:cNvPr id="51257" name="AutoShape 57">
              <a:extLst>
                <a:ext uri="{FF2B5EF4-FFF2-40B4-BE49-F238E27FC236}">
                  <a16:creationId xmlns:a16="http://schemas.microsoft.com/office/drawing/2014/main" id="{CB0160B2-314E-D8C8-2CFA-9DA294739399}"/>
                </a:ext>
              </a:extLst>
            </p:cNvPr>
            <p:cNvSpPr>
              <a:spLocks noChangeArrowheads="1"/>
            </p:cNvSpPr>
            <p:nvPr/>
          </p:nvSpPr>
          <p:spPr bwMode="auto">
            <a:xfrm>
              <a:off x="4038600" y="3581400"/>
              <a:ext cx="1905000" cy="3048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FF00"/>
            </a:solidFill>
            <a:ln w="9525">
              <a:solidFill>
                <a:schemeClr val="tx1"/>
              </a:solidFill>
              <a:miter lim="800000"/>
              <a:headEnd/>
              <a:tailEnd/>
            </a:ln>
          </p:spPr>
          <p:txBody>
            <a:bodyPr wrap="none" anchor="ctr"/>
            <a:lstStyle/>
            <a:p>
              <a:endParaRPr lang="zh-CN" altLang="en-US"/>
            </a:p>
          </p:txBody>
        </p:sp>
      </p:grpSp>
      <p:sp>
        <p:nvSpPr>
          <p:cNvPr id="3" name="标题 2">
            <a:extLst>
              <a:ext uri="{FF2B5EF4-FFF2-40B4-BE49-F238E27FC236}">
                <a16:creationId xmlns:a16="http://schemas.microsoft.com/office/drawing/2014/main" id="{180EE2F4-347E-4FB9-9A48-51D0CC2DCE96}"/>
              </a:ext>
            </a:extLst>
          </p:cNvPr>
          <p:cNvSpPr>
            <a:spLocks noGrp="1"/>
          </p:cNvSpPr>
          <p:nvPr>
            <p:ph type="title"/>
          </p:nvPr>
        </p:nvSpPr>
        <p:spPr/>
        <p:txBody>
          <a:bodyPr>
            <a:normAutofit/>
          </a:bodyPr>
          <a:lstStyle/>
          <a:p>
            <a:r>
              <a:rPr lang="zh-CN" altLang="en-US" dirty="0"/>
              <a:t>按树结点个数合并</a:t>
            </a:r>
          </a:p>
        </p:txBody>
      </p:sp>
      <p:sp>
        <p:nvSpPr>
          <p:cNvPr id="4" name="内容占位符 3">
            <a:extLst>
              <a:ext uri="{FF2B5EF4-FFF2-40B4-BE49-F238E27FC236}">
                <a16:creationId xmlns:a16="http://schemas.microsoft.com/office/drawing/2014/main" id="{9134177F-2A90-4C9E-A2A1-63A7FFA3F585}"/>
              </a:ext>
            </a:extLst>
          </p:cNvPr>
          <p:cNvSpPr>
            <a:spLocks noGrp="1"/>
          </p:cNvSpPr>
          <p:nvPr>
            <p:ph idx="1"/>
          </p:nvPr>
        </p:nvSpPr>
        <p:spPr>
          <a:xfrm>
            <a:off x="628650" y="1825625"/>
            <a:ext cx="7886700" cy="657176"/>
          </a:xfrm>
        </p:spPr>
        <p:txBody>
          <a:bodyPr>
            <a:normAutofit/>
          </a:bodyPr>
          <a:lstStyle/>
          <a:p>
            <a:r>
              <a:rPr lang="zh-CN" altLang="en-US" dirty="0"/>
              <a:t>结点个数多的树的根结点作根。</a:t>
            </a:r>
          </a:p>
        </p:txBody>
      </p:sp>
      <p:sp>
        <p:nvSpPr>
          <p:cNvPr id="5" name="灯片编号占位符 4">
            <a:extLst>
              <a:ext uri="{FF2B5EF4-FFF2-40B4-BE49-F238E27FC236}">
                <a16:creationId xmlns:a16="http://schemas.microsoft.com/office/drawing/2014/main" id="{81F2D87A-C011-4F2C-8600-88075F13FF9D}"/>
              </a:ext>
            </a:extLst>
          </p:cNvPr>
          <p:cNvSpPr>
            <a:spLocks noGrp="1"/>
          </p:cNvSpPr>
          <p:nvPr>
            <p:ph type="sldNum" sz="quarter" idx="12"/>
          </p:nvPr>
        </p:nvSpPr>
        <p:spPr/>
        <p:txBody>
          <a:bodyPr/>
          <a:lstStyle/>
          <a:p>
            <a:pPr>
              <a:defRPr/>
            </a:pPr>
            <a:fld id="{524B865F-46F8-4520-B0DD-31ED36EF62D9}" type="slidenum">
              <a:rPr lang="en-US" altLang="zh-CN" smtClean="0"/>
              <a:pPr>
                <a:defRPr/>
              </a:pPr>
              <a:t>38</a:t>
            </a:fld>
            <a:endParaRPr lang="en-US" altLang="zh-CN"/>
          </a:p>
        </p:txBody>
      </p:sp>
    </p:spTree>
  </p:cSld>
  <p:clrMapOvr>
    <a:masterClrMapping/>
  </p:clrMapOvr>
  <p:transition>
    <p:spli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F908DF2-7BF8-4D22-93A6-7A14D9702A27}"/>
              </a:ext>
            </a:extLst>
          </p:cNvPr>
          <p:cNvSpPr>
            <a:spLocks noGrp="1"/>
          </p:cNvSpPr>
          <p:nvPr>
            <p:ph idx="1"/>
          </p:nvPr>
        </p:nvSpPr>
        <p:spPr>
          <a:xfrm>
            <a:off x="251520" y="404664"/>
            <a:ext cx="8712968" cy="6192688"/>
          </a:xfrm>
        </p:spPr>
        <p:txBody>
          <a:bodyPr>
            <a:normAutofit fontScale="85000" lnSpcReduction="20000"/>
          </a:bodyPr>
          <a:lstStyle/>
          <a:p>
            <a:pPr marL="0" indent="0">
              <a:buNone/>
            </a:pPr>
            <a:r>
              <a:rPr lang="en-US" altLang="zh-CN" dirty="0"/>
              <a:t>//</a:t>
            </a:r>
            <a:r>
              <a:rPr lang="zh-CN" altLang="en-US" dirty="0"/>
              <a:t>按</a:t>
            </a:r>
            <a:r>
              <a:rPr lang="en-US" altLang="zh-CN" dirty="0"/>
              <a:t>Union</a:t>
            </a:r>
            <a:r>
              <a:rPr lang="zh-CN" altLang="en-US" dirty="0"/>
              <a:t>的加权规则改进的算法</a:t>
            </a:r>
          </a:p>
          <a:p>
            <a:pPr marL="0" indent="0">
              <a:buNone/>
            </a:pPr>
            <a:r>
              <a:rPr lang="en-US" altLang="zh-CN" dirty="0"/>
              <a:t>void </a:t>
            </a:r>
            <a:r>
              <a:rPr lang="en-US" altLang="zh-CN" dirty="0" err="1"/>
              <a:t>UFSets</a:t>
            </a:r>
            <a:r>
              <a:rPr lang="en-US" altLang="zh-CN" dirty="0"/>
              <a:t> :: </a:t>
            </a:r>
            <a:r>
              <a:rPr lang="en-US" altLang="zh-CN" dirty="0" err="1"/>
              <a:t>WeightedUnion</a:t>
            </a:r>
            <a:r>
              <a:rPr lang="en-US" altLang="zh-CN" dirty="0"/>
              <a:t> ( int Root1, int Root2 ) {</a:t>
            </a:r>
          </a:p>
          <a:p>
            <a:pPr marL="0" indent="0">
              <a:buNone/>
            </a:pPr>
            <a:r>
              <a:rPr lang="en-US" altLang="zh-CN" dirty="0"/>
              <a:t>     int temp = parent[Root1] + parent[Root2];</a:t>
            </a:r>
          </a:p>
          <a:p>
            <a:pPr marL="0" indent="0">
              <a:buNone/>
            </a:pPr>
            <a:r>
              <a:rPr lang="en-US" altLang="zh-CN" dirty="0"/>
              <a:t>     if ( parent[Root2] &lt; parent[Root1] ) {</a:t>
            </a:r>
          </a:p>
          <a:p>
            <a:pPr marL="0" indent="0">
              <a:buNone/>
            </a:pPr>
            <a:r>
              <a:rPr lang="en-US" altLang="zh-CN" dirty="0"/>
              <a:t>        parent[Root1] = Root2;  //Root2</a:t>
            </a:r>
            <a:r>
              <a:rPr lang="zh-CN" altLang="en-US" dirty="0"/>
              <a:t>中结点数多</a:t>
            </a:r>
          </a:p>
          <a:p>
            <a:pPr marL="0" indent="0">
              <a:buNone/>
            </a:pPr>
            <a:r>
              <a:rPr lang="zh-CN" altLang="en-US" dirty="0"/>
              <a:t>        </a:t>
            </a:r>
            <a:r>
              <a:rPr lang="en-US" altLang="zh-CN" dirty="0"/>
              <a:t>parent[Root2] = temp;    //Root1</a:t>
            </a:r>
            <a:r>
              <a:rPr lang="zh-CN" altLang="en-US" dirty="0"/>
              <a:t>指向</a:t>
            </a:r>
            <a:r>
              <a:rPr lang="en-US" altLang="zh-CN" dirty="0"/>
              <a:t>Root2</a:t>
            </a:r>
          </a:p>
          <a:p>
            <a:pPr marL="0" indent="0">
              <a:buNone/>
            </a:pPr>
            <a:r>
              <a:rPr lang="en-US" altLang="zh-CN" dirty="0"/>
              <a:t>    }</a:t>
            </a:r>
          </a:p>
          <a:p>
            <a:pPr marL="0" indent="0">
              <a:buNone/>
            </a:pPr>
            <a:r>
              <a:rPr lang="en-US" altLang="zh-CN" dirty="0"/>
              <a:t>    else {  </a:t>
            </a:r>
          </a:p>
          <a:p>
            <a:pPr marL="0" indent="0">
              <a:buNone/>
            </a:pPr>
            <a:r>
              <a:rPr lang="en-US" altLang="zh-CN" dirty="0"/>
              <a:t>        parent[Root2] = Root1; //Root1</a:t>
            </a:r>
            <a:r>
              <a:rPr lang="zh-CN" altLang="en-US" dirty="0"/>
              <a:t>中结点数多</a:t>
            </a:r>
          </a:p>
          <a:p>
            <a:pPr marL="0" indent="0">
              <a:buNone/>
            </a:pPr>
            <a:r>
              <a:rPr lang="zh-CN" altLang="en-US" dirty="0"/>
              <a:t>        </a:t>
            </a:r>
            <a:r>
              <a:rPr lang="en-US" altLang="zh-CN" dirty="0"/>
              <a:t>parent[Root1] = temp;   //Root2</a:t>
            </a:r>
            <a:r>
              <a:rPr lang="zh-CN" altLang="en-US" dirty="0"/>
              <a:t>指向</a:t>
            </a:r>
            <a:r>
              <a:rPr lang="en-US" altLang="zh-CN" dirty="0"/>
              <a:t>Root1</a:t>
            </a:r>
          </a:p>
          <a:p>
            <a:pPr marL="0" indent="0">
              <a:buNone/>
            </a:pPr>
            <a:r>
              <a:rPr lang="en-US" altLang="zh-CN" dirty="0"/>
              <a:t>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F7AF0931-AB47-5C6E-E6A0-2F7DCC2A28DF}"/>
              </a:ext>
            </a:extLst>
          </p:cNvPr>
          <p:cNvSpPr>
            <a:spLocks noGrp="1"/>
          </p:cNvSpPr>
          <p:nvPr>
            <p:ph type="sldNum" sz="quarter" idx="12"/>
          </p:nvPr>
        </p:nvSpPr>
        <p:spPr/>
        <p:txBody>
          <a:bodyPr/>
          <a:lstStyle/>
          <a:p>
            <a:pPr>
              <a:defRPr/>
            </a:pPr>
            <a:fld id="{524B865F-46F8-4520-B0DD-31ED36EF62D9}" type="slidenum">
              <a:rPr lang="en-US" altLang="zh-CN" smtClean="0"/>
              <a:pPr>
                <a:defRPr/>
              </a:pPr>
              <a:t>39</a:t>
            </a:fld>
            <a:endParaRPr lang="en-US" altLang="zh-CN"/>
          </a:p>
        </p:txBody>
      </p:sp>
    </p:spTree>
  </p:cSld>
  <p:clrMapOvr>
    <a:masterClrMapping/>
  </p:clrMapOvr>
  <p:transition>
    <p:spli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F1DEBABF-BB07-403E-BDC5-8ABAB1215254}"/>
              </a:ext>
            </a:extLst>
          </p:cNvPr>
          <p:cNvGrpSpPr/>
          <p:nvPr/>
        </p:nvGrpSpPr>
        <p:grpSpPr>
          <a:xfrm>
            <a:off x="827584" y="3717032"/>
            <a:ext cx="7208838" cy="3048000"/>
            <a:chOff x="762000" y="3352800"/>
            <a:chExt cx="7208838" cy="3048000"/>
          </a:xfrm>
        </p:grpSpPr>
        <p:sp>
          <p:nvSpPr>
            <p:cNvPr id="53252" name="Oval 4">
              <a:extLst>
                <a:ext uri="{FF2B5EF4-FFF2-40B4-BE49-F238E27FC236}">
                  <a16:creationId xmlns:a16="http://schemas.microsoft.com/office/drawing/2014/main" id="{9503EEF1-837E-1F0B-752E-1C5493DC0C3D}"/>
                </a:ext>
              </a:extLst>
            </p:cNvPr>
            <p:cNvSpPr>
              <a:spLocks noChangeArrowheads="1"/>
            </p:cNvSpPr>
            <p:nvPr/>
          </p:nvSpPr>
          <p:spPr bwMode="auto">
            <a:xfrm>
              <a:off x="1524000" y="34290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53" name="Oval 5">
              <a:extLst>
                <a:ext uri="{FF2B5EF4-FFF2-40B4-BE49-F238E27FC236}">
                  <a16:creationId xmlns:a16="http://schemas.microsoft.com/office/drawing/2014/main" id="{CB6FF5A2-0631-9BC7-4804-DE1C172504D4}"/>
                </a:ext>
              </a:extLst>
            </p:cNvPr>
            <p:cNvSpPr>
              <a:spLocks noChangeArrowheads="1"/>
            </p:cNvSpPr>
            <p:nvPr/>
          </p:nvSpPr>
          <p:spPr bwMode="auto">
            <a:xfrm>
              <a:off x="1524000" y="41910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54" name="Oval 6">
              <a:extLst>
                <a:ext uri="{FF2B5EF4-FFF2-40B4-BE49-F238E27FC236}">
                  <a16:creationId xmlns:a16="http://schemas.microsoft.com/office/drawing/2014/main" id="{3308E4CF-9C62-46DB-BBFA-6247CED74FEE}"/>
                </a:ext>
              </a:extLst>
            </p:cNvPr>
            <p:cNvSpPr>
              <a:spLocks noChangeArrowheads="1"/>
            </p:cNvSpPr>
            <p:nvPr/>
          </p:nvSpPr>
          <p:spPr bwMode="auto">
            <a:xfrm>
              <a:off x="2286000" y="41910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55" name="Oval 7">
              <a:extLst>
                <a:ext uri="{FF2B5EF4-FFF2-40B4-BE49-F238E27FC236}">
                  <a16:creationId xmlns:a16="http://schemas.microsoft.com/office/drawing/2014/main" id="{06CAE0C8-FA66-CCAB-16B7-5FC4CB17E871}"/>
                </a:ext>
              </a:extLst>
            </p:cNvPr>
            <p:cNvSpPr>
              <a:spLocks noChangeArrowheads="1"/>
            </p:cNvSpPr>
            <p:nvPr/>
          </p:nvSpPr>
          <p:spPr bwMode="auto">
            <a:xfrm>
              <a:off x="762000" y="41910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56" name="Oval 8">
              <a:extLst>
                <a:ext uri="{FF2B5EF4-FFF2-40B4-BE49-F238E27FC236}">
                  <a16:creationId xmlns:a16="http://schemas.microsoft.com/office/drawing/2014/main" id="{9C6C6ECF-A343-C30F-3087-6EC2E3EBE46C}"/>
                </a:ext>
              </a:extLst>
            </p:cNvPr>
            <p:cNvSpPr>
              <a:spLocks noChangeArrowheads="1"/>
            </p:cNvSpPr>
            <p:nvPr/>
          </p:nvSpPr>
          <p:spPr bwMode="auto">
            <a:xfrm>
              <a:off x="1143000" y="50292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57" name="Oval 9">
              <a:extLst>
                <a:ext uri="{FF2B5EF4-FFF2-40B4-BE49-F238E27FC236}">
                  <a16:creationId xmlns:a16="http://schemas.microsoft.com/office/drawing/2014/main" id="{1F7FB91B-D670-9DB8-792F-21818F77B5EE}"/>
                </a:ext>
              </a:extLst>
            </p:cNvPr>
            <p:cNvSpPr>
              <a:spLocks noChangeArrowheads="1"/>
            </p:cNvSpPr>
            <p:nvPr/>
          </p:nvSpPr>
          <p:spPr bwMode="auto">
            <a:xfrm>
              <a:off x="1905000" y="50292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58" name="Oval 10">
              <a:extLst>
                <a:ext uri="{FF2B5EF4-FFF2-40B4-BE49-F238E27FC236}">
                  <a16:creationId xmlns:a16="http://schemas.microsoft.com/office/drawing/2014/main" id="{2583F392-1891-2148-BE3E-D3811E682D01}"/>
                </a:ext>
              </a:extLst>
            </p:cNvPr>
            <p:cNvSpPr>
              <a:spLocks noChangeArrowheads="1"/>
            </p:cNvSpPr>
            <p:nvPr/>
          </p:nvSpPr>
          <p:spPr bwMode="auto">
            <a:xfrm>
              <a:off x="1524000" y="58674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59" name="Oval 11">
              <a:extLst>
                <a:ext uri="{FF2B5EF4-FFF2-40B4-BE49-F238E27FC236}">
                  <a16:creationId xmlns:a16="http://schemas.microsoft.com/office/drawing/2014/main" id="{C70B3704-4E17-82BC-17D2-8C14A060AF13}"/>
                </a:ext>
              </a:extLst>
            </p:cNvPr>
            <p:cNvSpPr>
              <a:spLocks noChangeArrowheads="1"/>
            </p:cNvSpPr>
            <p:nvPr/>
          </p:nvSpPr>
          <p:spPr bwMode="auto">
            <a:xfrm>
              <a:off x="2286000" y="58674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60" name="Line 12">
              <a:extLst>
                <a:ext uri="{FF2B5EF4-FFF2-40B4-BE49-F238E27FC236}">
                  <a16:creationId xmlns:a16="http://schemas.microsoft.com/office/drawing/2014/main" id="{0D6F4E76-F6E2-6F32-4308-3439F756BAC9}"/>
                </a:ext>
              </a:extLst>
            </p:cNvPr>
            <p:cNvSpPr>
              <a:spLocks noChangeShapeType="1"/>
            </p:cNvSpPr>
            <p:nvPr/>
          </p:nvSpPr>
          <p:spPr bwMode="auto">
            <a:xfrm flipV="1">
              <a:off x="1752600" y="3886200"/>
              <a:ext cx="0" cy="3048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1" name="Line 13">
              <a:extLst>
                <a:ext uri="{FF2B5EF4-FFF2-40B4-BE49-F238E27FC236}">
                  <a16:creationId xmlns:a16="http://schemas.microsoft.com/office/drawing/2014/main" id="{28447550-46C9-7648-45A4-65F586ABBEA9}"/>
                </a:ext>
              </a:extLst>
            </p:cNvPr>
            <p:cNvSpPr>
              <a:spLocks noChangeShapeType="1"/>
            </p:cNvSpPr>
            <p:nvPr/>
          </p:nvSpPr>
          <p:spPr bwMode="auto">
            <a:xfrm flipV="1">
              <a:off x="1143000" y="3810000"/>
              <a:ext cx="457200" cy="4572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2" name="Line 14">
              <a:extLst>
                <a:ext uri="{FF2B5EF4-FFF2-40B4-BE49-F238E27FC236}">
                  <a16:creationId xmlns:a16="http://schemas.microsoft.com/office/drawing/2014/main" id="{A3409A50-9579-4322-8C52-C32E0D5F8AE3}"/>
                </a:ext>
              </a:extLst>
            </p:cNvPr>
            <p:cNvSpPr>
              <a:spLocks noChangeShapeType="1"/>
            </p:cNvSpPr>
            <p:nvPr/>
          </p:nvSpPr>
          <p:spPr bwMode="auto">
            <a:xfrm flipH="1" flipV="1">
              <a:off x="1905000" y="3810000"/>
              <a:ext cx="457200" cy="4572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3" name="Line 15">
              <a:extLst>
                <a:ext uri="{FF2B5EF4-FFF2-40B4-BE49-F238E27FC236}">
                  <a16:creationId xmlns:a16="http://schemas.microsoft.com/office/drawing/2014/main" id="{210C782D-6DFF-AFFE-A09E-6A631CF4123A}"/>
                </a:ext>
              </a:extLst>
            </p:cNvPr>
            <p:cNvSpPr>
              <a:spLocks noChangeShapeType="1"/>
            </p:cNvSpPr>
            <p:nvPr/>
          </p:nvSpPr>
          <p:spPr bwMode="auto">
            <a:xfrm flipV="1">
              <a:off x="1447800" y="4648200"/>
              <a:ext cx="228600" cy="3810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4" name="Line 16">
              <a:extLst>
                <a:ext uri="{FF2B5EF4-FFF2-40B4-BE49-F238E27FC236}">
                  <a16:creationId xmlns:a16="http://schemas.microsoft.com/office/drawing/2014/main" id="{25D312AB-0053-80EA-6C16-723F53D58FFE}"/>
                </a:ext>
              </a:extLst>
            </p:cNvPr>
            <p:cNvSpPr>
              <a:spLocks noChangeShapeType="1"/>
            </p:cNvSpPr>
            <p:nvPr/>
          </p:nvSpPr>
          <p:spPr bwMode="auto">
            <a:xfrm flipH="1" flipV="1">
              <a:off x="1828800" y="4648200"/>
              <a:ext cx="228600" cy="3810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5" name="Line 17">
              <a:extLst>
                <a:ext uri="{FF2B5EF4-FFF2-40B4-BE49-F238E27FC236}">
                  <a16:creationId xmlns:a16="http://schemas.microsoft.com/office/drawing/2014/main" id="{CCC7F988-274F-AE0C-2FAF-4420A45EA47C}"/>
                </a:ext>
              </a:extLst>
            </p:cNvPr>
            <p:cNvSpPr>
              <a:spLocks noChangeShapeType="1"/>
            </p:cNvSpPr>
            <p:nvPr/>
          </p:nvSpPr>
          <p:spPr bwMode="auto">
            <a:xfrm flipV="1">
              <a:off x="1828800" y="5486400"/>
              <a:ext cx="228600" cy="3810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6" name="Line 18">
              <a:extLst>
                <a:ext uri="{FF2B5EF4-FFF2-40B4-BE49-F238E27FC236}">
                  <a16:creationId xmlns:a16="http://schemas.microsoft.com/office/drawing/2014/main" id="{F03053D3-305E-AC9F-00C3-D383323E3073}"/>
                </a:ext>
              </a:extLst>
            </p:cNvPr>
            <p:cNvSpPr>
              <a:spLocks noChangeShapeType="1"/>
            </p:cNvSpPr>
            <p:nvPr/>
          </p:nvSpPr>
          <p:spPr bwMode="auto">
            <a:xfrm flipH="1" flipV="1">
              <a:off x="2209800" y="5486400"/>
              <a:ext cx="228600" cy="3810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7" name="AutoShape 19">
              <a:extLst>
                <a:ext uri="{FF2B5EF4-FFF2-40B4-BE49-F238E27FC236}">
                  <a16:creationId xmlns:a16="http://schemas.microsoft.com/office/drawing/2014/main" id="{69EFA50E-6FC8-75B0-D2B8-DAC9BE1B0421}"/>
                </a:ext>
              </a:extLst>
            </p:cNvPr>
            <p:cNvSpPr>
              <a:spLocks noChangeArrowheads="1"/>
            </p:cNvSpPr>
            <p:nvPr/>
          </p:nvSpPr>
          <p:spPr bwMode="auto">
            <a:xfrm>
              <a:off x="3124200" y="4191000"/>
              <a:ext cx="838200" cy="381000"/>
            </a:xfrm>
            <a:prstGeom prst="rightArrow">
              <a:avLst>
                <a:gd name="adj1" fmla="val 50000"/>
                <a:gd name="adj2" fmla="val 55000"/>
              </a:avLst>
            </a:prstGeom>
            <a:solidFill>
              <a:schemeClr val="tx2"/>
            </a:solidFill>
            <a:ln w="9525">
              <a:solidFill>
                <a:schemeClr val="tx2"/>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53268" name="Oval 20">
              <a:extLst>
                <a:ext uri="{FF2B5EF4-FFF2-40B4-BE49-F238E27FC236}">
                  <a16:creationId xmlns:a16="http://schemas.microsoft.com/office/drawing/2014/main" id="{5FD48092-0253-5F23-4E17-EE3DD2F5E85F}"/>
                </a:ext>
              </a:extLst>
            </p:cNvPr>
            <p:cNvSpPr>
              <a:spLocks noChangeArrowheads="1"/>
            </p:cNvSpPr>
            <p:nvPr/>
          </p:nvSpPr>
          <p:spPr bwMode="auto">
            <a:xfrm>
              <a:off x="5867400" y="34290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69" name="Oval 21">
              <a:extLst>
                <a:ext uri="{FF2B5EF4-FFF2-40B4-BE49-F238E27FC236}">
                  <a16:creationId xmlns:a16="http://schemas.microsoft.com/office/drawing/2014/main" id="{8FA20D9A-AA80-3AD8-C31D-A2FB066E475F}"/>
                </a:ext>
              </a:extLst>
            </p:cNvPr>
            <p:cNvSpPr>
              <a:spLocks noChangeArrowheads="1"/>
            </p:cNvSpPr>
            <p:nvPr/>
          </p:nvSpPr>
          <p:spPr bwMode="auto">
            <a:xfrm>
              <a:off x="5867400" y="41910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70" name="Oval 22">
              <a:extLst>
                <a:ext uri="{FF2B5EF4-FFF2-40B4-BE49-F238E27FC236}">
                  <a16:creationId xmlns:a16="http://schemas.microsoft.com/office/drawing/2014/main" id="{6D5EBE78-A028-656A-E1DF-A75500C7C532}"/>
                </a:ext>
              </a:extLst>
            </p:cNvPr>
            <p:cNvSpPr>
              <a:spLocks noChangeArrowheads="1"/>
            </p:cNvSpPr>
            <p:nvPr/>
          </p:nvSpPr>
          <p:spPr bwMode="auto">
            <a:xfrm>
              <a:off x="6629400" y="41910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71" name="Oval 23">
              <a:extLst>
                <a:ext uri="{FF2B5EF4-FFF2-40B4-BE49-F238E27FC236}">
                  <a16:creationId xmlns:a16="http://schemas.microsoft.com/office/drawing/2014/main" id="{079C59DB-C5F5-A92C-F030-D8851A11EA6C}"/>
                </a:ext>
              </a:extLst>
            </p:cNvPr>
            <p:cNvSpPr>
              <a:spLocks noChangeArrowheads="1"/>
            </p:cNvSpPr>
            <p:nvPr/>
          </p:nvSpPr>
          <p:spPr bwMode="auto">
            <a:xfrm>
              <a:off x="5105400" y="41910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72" name="Line 24">
              <a:extLst>
                <a:ext uri="{FF2B5EF4-FFF2-40B4-BE49-F238E27FC236}">
                  <a16:creationId xmlns:a16="http://schemas.microsoft.com/office/drawing/2014/main" id="{7BE70C9C-FC15-781D-D1E3-B3CFC0CD4C37}"/>
                </a:ext>
              </a:extLst>
            </p:cNvPr>
            <p:cNvSpPr>
              <a:spLocks noChangeShapeType="1"/>
            </p:cNvSpPr>
            <p:nvPr/>
          </p:nvSpPr>
          <p:spPr bwMode="auto">
            <a:xfrm flipV="1">
              <a:off x="5486400" y="3810000"/>
              <a:ext cx="533400" cy="4572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3" name="Line 25">
              <a:extLst>
                <a:ext uri="{FF2B5EF4-FFF2-40B4-BE49-F238E27FC236}">
                  <a16:creationId xmlns:a16="http://schemas.microsoft.com/office/drawing/2014/main" id="{FA522DC8-5469-A163-28E0-E26CF7A1302C}"/>
                </a:ext>
              </a:extLst>
            </p:cNvPr>
            <p:cNvSpPr>
              <a:spLocks noChangeShapeType="1"/>
            </p:cNvSpPr>
            <p:nvPr/>
          </p:nvSpPr>
          <p:spPr bwMode="auto">
            <a:xfrm flipH="1" flipV="1">
              <a:off x="6248400" y="3810000"/>
              <a:ext cx="457200" cy="4572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4" name="Line 26">
              <a:extLst>
                <a:ext uri="{FF2B5EF4-FFF2-40B4-BE49-F238E27FC236}">
                  <a16:creationId xmlns:a16="http://schemas.microsoft.com/office/drawing/2014/main" id="{107A82B8-393D-8ECE-8695-F8DCD8D5F900}"/>
                </a:ext>
              </a:extLst>
            </p:cNvPr>
            <p:cNvSpPr>
              <a:spLocks noChangeShapeType="1"/>
            </p:cNvSpPr>
            <p:nvPr/>
          </p:nvSpPr>
          <p:spPr bwMode="auto">
            <a:xfrm flipV="1">
              <a:off x="6096000" y="3886200"/>
              <a:ext cx="0" cy="3048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5" name="Oval 27">
              <a:extLst>
                <a:ext uri="{FF2B5EF4-FFF2-40B4-BE49-F238E27FC236}">
                  <a16:creationId xmlns:a16="http://schemas.microsoft.com/office/drawing/2014/main" id="{4964093B-6EAB-B679-490B-4CF5755ADC6D}"/>
                </a:ext>
              </a:extLst>
            </p:cNvPr>
            <p:cNvSpPr>
              <a:spLocks noChangeArrowheads="1"/>
            </p:cNvSpPr>
            <p:nvPr/>
          </p:nvSpPr>
          <p:spPr bwMode="auto">
            <a:xfrm>
              <a:off x="4343400" y="41910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76" name="Oval 28">
              <a:extLst>
                <a:ext uri="{FF2B5EF4-FFF2-40B4-BE49-F238E27FC236}">
                  <a16:creationId xmlns:a16="http://schemas.microsoft.com/office/drawing/2014/main" id="{B5F59D15-9F54-6428-F7E5-6973E194314B}"/>
                </a:ext>
              </a:extLst>
            </p:cNvPr>
            <p:cNvSpPr>
              <a:spLocks noChangeArrowheads="1"/>
            </p:cNvSpPr>
            <p:nvPr/>
          </p:nvSpPr>
          <p:spPr bwMode="auto">
            <a:xfrm>
              <a:off x="7391400" y="41910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77" name="Oval 29">
              <a:extLst>
                <a:ext uri="{FF2B5EF4-FFF2-40B4-BE49-F238E27FC236}">
                  <a16:creationId xmlns:a16="http://schemas.microsoft.com/office/drawing/2014/main" id="{AAE71043-8EA0-4DC0-5B04-EF6137F99611}"/>
                </a:ext>
              </a:extLst>
            </p:cNvPr>
            <p:cNvSpPr>
              <a:spLocks noChangeArrowheads="1"/>
            </p:cNvSpPr>
            <p:nvPr/>
          </p:nvSpPr>
          <p:spPr bwMode="auto">
            <a:xfrm>
              <a:off x="5867400" y="50292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78" name="Oval 30">
              <a:extLst>
                <a:ext uri="{FF2B5EF4-FFF2-40B4-BE49-F238E27FC236}">
                  <a16:creationId xmlns:a16="http://schemas.microsoft.com/office/drawing/2014/main" id="{D36FAD4C-6FA0-E6CC-D3E0-19D6FEC0BBB9}"/>
                </a:ext>
              </a:extLst>
            </p:cNvPr>
            <p:cNvSpPr>
              <a:spLocks noChangeArrowheads="1"/>
            </p:cNvSpPr>
            <p:nvPr/>
          </p:nvSpPr>
          <p:spPr bwMode="auto">
            <a:xfrm>
              <a:off x="5105400" y="5029200"/>
              <a:ext cx="457200" cy="457200"/>
            </a:xfrm>
            <a:prstGeom prst="ellipse">
              <a:avLst/>
            </a:prstGeom>
            <a:solidFill>
              <a:srgbClr val="FFFFCC"/>
            </a:solidFill>
            <a:ln w="19050">
              <a:solidFill>
                <a:srgbClr val="CC33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zh-CN" sz="2400">
                <a:solidFill>
                  <a:schemeClr val="tx2"/>
                </a:solidFill>
                <a:ea typeface="宋体" panose="02010600030101010101" pitchFamily="2" charset="-122"/>
              </a:endParaRPr>
            </a:p>
          </p:txBody>
        </p:sp>
        <p:sp>
          <p:nvSpPr>
            <p:cNvPr id="53279" name="Line 31">
              <a:extLst>
                <a:ext uri="{FF2B5EF4-FFF2-40B4-BE49-F238E27FC236}">
                  <a16:creationId xmlns:a16="http://schemas.microsoft.com/office/drawing/2014/main" id="{AD7E2443-836B-DA32-EBC5-25A0B0D03A3D}"/>
                </a:ext>
              </a:extLst>
            </p:cNvPr>
            <p:cNvSpPr>
              <a:spLocks noChangeShapeType="1"/>
            </p:cNvSpPr>
            <p:nvPr/>
          </p:nvSpPr>
          <p:spPr bwMode="auto">
            <a:xfrm flipV="1">
              <a:off x="5334000" y="4648200"/>
              <a:ext cx="0" cy="3810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0" name="Line 32">
              <a:extLst>
                <a:ext uri="{FF2B5EF4-FFF2-40B4-BE49-F238E27FC236}">
                  <a16:creationId xmlns:a16="http://schemas.microsoft.com/office/drawing/2014/main" id="{B8D8FD07-E3D1-331A-8934-01410E44AFA8}"/>
                </a:ext>
              </a:extLst>
            </p:cNvPr>
            <p:cNvSpPr>
              <a:spLocks noChangeShapeType="1"/>
            </p:cNvSpPr>
            <p:nvPr/>
          </p:nvSpPr>
          <p:spPr bwMode="auto">
            <a:xfrm flipV="1">
              <a:off x="6096000" y="4648200"/>
              <a:ext cx="0" cy="3810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1" name="Line 33">
              <a:extLst>
                <a:ext uri="{FF2B5EF4-FFF2-40B4-BE49-F238E27FC236}">
                  <a16:creationId xmlns:a16="http://schemas.microsoft.com/office/drawing/2014/main" id="{1F102264-3AF7-8DE7-D9C2-92104566AFF6}"/>
                </a:ext>
              </a:extLst>
            </p:cNvPr>
            <p:cNvSpPr>
              <a:spLocks noChangeShapeType="1"/>
            </p:cNvSpPr>
            <p:nvPr/>
          </p:nvSpPr>
          <p:spPr bwMode="auto">
            <a:xfrm flipV="1">
              <a:off x="4724400" y="3733800"/>
              <a:ext cx="1143000" cy="5334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2" name="Line 34">
              <a:extLst>
                <a:ext uri="{FF2B5EF4-FFF2-40B4-BE49-F238E27FC236}">
                  <a16:creationId xmlns:a16="http://schemas.microsoft.com/office/drawing/2014/main" id="{E5563D65-5A52-37F8-0A27-697D4B67B3CC}"/>
                </a:ext>
              </a:extLst>
            </p:cNvPr>
            <p:cNvSpPr>
              <a:spLocks noChangeShapeType="1"/>
            </p:cNvSpPr>
            <p:nvPr/>
          </p:nvSpPr>
          <p:spPr bwMode="auto">
            <a:xfrm flipH="1" flipV="1">
              <a:off x="6324600" y="3733800"/>
              <a:ext cx="1143000" cy="533400"/>
            </a:xfrm>
            <a:prstGeom prst="line">
              <a:avLst/>
            </a:prstGeom>
            <a:noFill/>
            <a:ln w="28575">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3" name="Text Box 35">
              <a:extLst>
                <a:ext uri="{FF2B5EF4-FFF2-40B4-BE49-F238E27FC236}">
                  <a16:creationId xmlns:a16="http://schemas.microsoft.com/office/drawing/2014/main" id="{BD1FC4DC-6DD7-6707-DEBD-2B9C59BD7B64}"/>
                </a:ext>
              </a:extLst>
            </p:cNvPr>
            <p:cNvSpPr txBox="1">
              <a:spLocks noChangeArrowheads="1"/>
            </p:cNvSpPr>
            <p:nvPr/>
          </p:nvSpPr>
          <p:spPr bwMode="auto">
            <a:xfrm>
              <a:off x="1524000" y="33528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53284" name="Text Box 36">
              <a:extLst>
                <a:ext uri="{FF2B5EF4-FFF2-40B4-BE49-F238E27FC236}">
                  <a16:creationId xmlns:a16="http://schemas.microsoft.com/office/drawing/2014/main" id="{332A46BF-90B2-710A-B157-585C5C9968F6}"/>
                </a:ext>
              </a:extLst>
            </p:cNvPr>
            <p:cNvSpPr txBox="1">
              <a:spLocks noChangeArrowheads="1"/>
            </p:cNvSpPr>
            <p:nvPr/>
          </p:nvSpPr>
          <p:spPr bwMode="auto">
            <a:xfrm>
              <a:off x="5937250" y="33528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53285" name="Text Box 37">
              <a:extLst>
                <a:ext uri="{FF2B5EF4-FFF2-40B4-BE49-F238E27FC236}">
                  <a16:creationId xmlns:a16="http://schemas.microsoft.com/office/drawing/2014/main" id="{B4B3B980-32EE-4B28-6ACC-D8E28D3431B1}"/>
                </a:ext>
              </a:extLst>
            </p:cNvPr>
            <p:cNvSpPr txBox="1">
              <a:spLocks noChangeArrowheads="1"/>
            </p:cNvSpPr>
            <p:nvPr/>
          </p:nvSpPr>
          <p:spPr bwMode="auto">
            <a:xfrm>
              <a:off x="831850" y="41449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53286" name="Text Box 38">
              <a:extLst>
                <a:ext uri="{FF2B5EF4-FFF2-40B4-BE49-F238E27FC236}">
                  <a16:creationId xmlns:a16="http://schemas.microsoft.com/office/drawing/2014/main" id="{A24A585B-DD4F-745D-B1C4-0FDEC78C3697}"/>
                </a:ext>
              </a:extLst>
            </p:cNvPr>
            <p:cNvSpPr txBox="1">
              <a:spLocks noChangeArrowheads="1"/>
            </p:cNvSpPr>
            <p:nvPr/>
          </p:nvSpPr>
          <p:spPr bwMode="auto">
            <a:xfrm>
              <a:off x="1524000" y="41449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53287" name="Text Box 39">
              <a:extLst>
                <a:ext uri="{FF2B5EF4-FFF2-40B4-BE49-F238E27FC236}">
                  <a16:creationId xmlns:a16="http://schemas.microsoft.com/office/drawing/2014/main" id="{5B88573B-581D-B1E3-5519-E8B6245685AB}"/>
                </a:ext>
              </a:extLst>
            </p:cNvPr>
            <p:cNvSpPr txBox="1">
              <a:spLocks noChangeArrowheads="1"/>
            </p:cNvSpPr>
            <p:nvPr/>
          </p:nvSpPr>
          <p:spPr bwMode="auto">
            <a:xfrm>
              <a:off x="2355850" y="41449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53288" name="Text Box 40">
              <a:extLst>
                <a:ext uri="{FF2B5EF4-FFF2-40B4-BE49-F238E27FC236}">
                  <a16:creationId xmlns:a16="http://schemas.microsoft.com/office/drawing/2014/main" id="{9AAED5E8-20D9-8738-F0FC-5D8CCB83E9C5}"/>
                </a:ext>
              </a:extLst>
            </p:cNvPr>
            <p:cNvSpPr txBox="1">
              <a:spLocks noChangeArrowheads="1"/>
            </p:cNvSpPr>
            <p:nvPr/>
          </p:nvSpPr>
          <p:spPr bwMode="auto">
            <a:xfrm>
              <a:off x="4413250" y="41449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53289" name="Text Box 41">
              <a:extLst>
                <a:ext uri="{FF2B5EF4-FFF2-40B4-BE49-F238E27FC236}">
                  <a16:creationId xmlns:a16="http://schemas.microsoft.com/office/drawing/2014/main" id="{97CF8A1E-64A4-E3F3-F6B4-42E34608F0C8}"/>
                </a:ext>
              </a:extLst>
            </p:cNvPr>
            <p:cNvSpPr txBox="1">
              <a:spLocks noChangeArrowheads="1"/>
            </p:cNvSpPr>
            <p:nvPr/>
          </p:nvSpPr>
          <p:spPr bwMode="auto">
            <a:xfrm>
              <a:off x="5105400" y="41449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7</a:t>
              </a:r>
              <a:endParaRPr kumimoji="1" lang="en-US" altLang="zh-CN" sz="2400">
                <a:latin typeface="Times New Roman" panose="02020603050405020304" pitchFamily="18" charset="0"/>
                <a:ea typeface="宋体" panose="02010600030101010101" pitchFamily="2" charset="-122"/>
              </a:endParaRPr>
            </a:p>
          </p:txBody>
        </p:sp>
        <p:sp>
          <p:nvSpPr>
            <p:cNvPr id="53290" name="Text Box 42">
              <a:extLst>
                <a:ext uri="{FF2B5EF4-FFF2-40B4-BE49-F238E27FC236}">
                  <a16:creationId xmlns:a16="http://schemas.microsoft.com/office/drawing/2014/main" id="{B5771B86-6631-E4F9-383D-C64B5B55BC2B}"/>
                </a:ext>
              </a:extLst>
            </p:cNvPr>
            <p:cNvSpPr txBox="1">
              <a:spLocks noChangeArrowheads="1"/>
            </p:cNvSpPr>
            <p:nvPr/>
          </p:nvSpPr>
          <p:spPr bwMode="auto">
            <a:xfrm>
              <a:off x="7461250" y="41449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8</a:t>
              </a:r>
              <a:endParaRPr kumimoji="1" lang="en-US" altLang="zh-CN" sz="2400">
                <a:latin typeface="Times New Roman" panose="02020603050405020304" pitchFamily="18" charset="0"/>
                <a:ea typeface="宋体" panose="02010600030101010101" pitchFamily="2" charset="-122"/>
              </a:endParaRPr>
            </a:p>
          </p:txBody>
        </p:sp>
        <p:sp>
          <p:nvSpPr>
            <p:cNvPr id="53291" name="Text Box 43">
              <a:extLst>
                <a:ext uri="{FF2B5EF4-FFF2-40B4-BE49-F238E27FC236}">
                  <a16:creationId xmlns:a16="http://schemas.microsoft.com/office/drawing/2014/main" id="{B03063C2-F09B-72E5-2D71-BD5BB92EFAF7}"/>
                </a:ext>
              </a:extLst>
            </p:cNvPr>
            <p:cNvSpPr txBox="1">
              <a:spLocks noChangeArrowheads="1"/>
            </p:cNvSpPr>
            <p:nvPr/>
          </p:nvSpPr>
          <p:spPr bwMode="auto">
            <a:xfrm>
              <a:off x="1212850" y="49831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53292" name="Text Box 44">
              <a:extLst>
                <a:ext uri="{FF2B5EF4-FFF2-40B4-BE49-F238E27FC236}">
                  <a16:creationId xmlns:a16="http://schemas.microsoft.com/office/drawing/2014/main" id="{5C0603F9-DC13-200D-B220-687F9374AC70}"/>
                </a:ext>
              </a:extLst>
            </p:cNvPr>
            <p:cNvSpPr txBox="1">
              <a:spLocks noChangeArrowheads="1"/>
            </p:cNvSpPr>
            <p:nvPr/>
          </p:nvSpPr>
          <p:spPr bwMode="auto">
            <a:xfrm>
              <a:off x="1974850" y="49530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53293" name="Text Box 45">
              <a:extLst>
                <a:ext uri="{FF2B5EF4-FFF2-40B4-BE49-F238E27FC236}">
                  <a16:creationId xmlns:a16="http://schemas.microsoft.com/office/drawing/2014/main" id="{3159BFCE-25F2-A1E3-8044-330E2716A84B}"/>
                </a:ext>
              </a:extLst>
            </p:cNvPr>
            <p:cNvSpPr txBox="1">
              <a:spLocks noChangeArrowheads="1"/>
            </p:cNvSpPr>
            <p:nvPr/>
          </p:nvSpPr>
          <p:spPr bwMode="auto">
            <a:xfrm>
              <a:off x="5175250" y="49831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53294" name="Text Box 46">
              <a:extLst>
                <a:ext uri="{FF2B5EF4-FFF2-40B4-BE49-F238E27FC236}">
                  <a16:creationId xmlns:a16="http://schemas.microsoft.com/office/drawing/2014/main" id="{BD09E562-B43B-EB61-7086-FB3D56D64A78}"/>
                </a:ext>
              </a:extLst>
            </p:cNvPr>
            <p:cNvSpPr txBox="1">
              <a:spLocks noChangeArrowheads="1"/>
            </p:cNvSpPr>
            <p:nvPr/>
          </p:nvSpPr>
          <p:spPr bwMode="auto">
            <a:xfrm>
              <a:off x="5937250" y="41449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53295" name="Text Box 47">
              <a:extLst>
                <a:ext uri="{FF2B5EF4-FFF2-40B4-BE49-F238E27FC236}">
                  <a16:creationId xmlns:a16="http://schemas.microsoft.com/office/drawing/2014/main" id="{CB63CBB6-E081-0D19-5C9A-C4439AE8BEA9}"/>
                </a:ext>
              </a:extLst>
            </p:cNvPr>
            <p:cNvSpPr txBox="1">
              <a:spLocks noChangeArrowheads="1"/>
            </p:cNvSpPr>
            <p:nvPr/>
          </p:nvSpPr>
          <p:spPr bwMode="auto">
            <a:xfrm>
              <a:off x="1593850" y="5821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53296" name="Text Box 48">
              <a:extLst>
                <a:ext uri="{FF2B5EF4-FFF2-40B4-BE49-F238E27FC236}">
                  <a16:creationId xmlns:a16="http://schemas.microsoft.com/office/drawing/2014/main" id="{0F1B46E2-580A-08B4-7D16-C54183F3C12D}"/>
                </a:ext>
              </a:extLst>
            </p:cNvPr>
            <p:cNvSpPr txBox="1">
              <a:spLocks noChangeArrowheads="1"/>
            </p:cNvSpPr>
            <p:nvPr/>
          </p:nvSpPr>
          <p:spPr bwMode="auto">
            <a:xfrm>
              <a:off x="2355850" y="5791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53297" name="Text Box 49">
              <a:extLst>
                <a:ext uri="{FF2B5EF4-FFF2-40B4-BE49-F238E27FC236}">
                  <a16:creationId xmlns:a16="http://schemas.microsoft.com/office/drawing/2014/main" id="{E8B3228A-7AE0-C65D-3B7C-26ADC9C3323C}"/>
                </a:ext>
              </a:extLst>
            </p:cNvPr>
            <p:cNvSpPr txBox="1">
              <a:spLocks noChangeArrowheads="1"/>
            </p:cNvSpPr>
            <p:nvPr/>
          </p:nvSpPr>
          <p:spPr bwMode="auto">
            <a:xfrm>
              <a:off x="5937250" y="49831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53298" name="Text Box 50">
              <a:extLst>
                <a:ext uri="{FF2B5EF4-FFF2-40B4-BE49-F238E27FC236}">
                  <a16:creationId xmlns:a16="http://schemas.microsoft.com/office/drawing/2014/main" id="{82F9F81F-F0C1-8FB0-271E-8E178B8E26D5}"/>
                </a:ext>
              </a:extLst>
            </p:cNvPr>
            <p:cNvSpPr txBox="1">
              <a:spLocks noChangeArrowheads="1"/>
            </p:cNvSpPr>
            <p:nvPr/>
          </p:nvSpPr>
          <p:spPr bwMode="auto">
            <a:xfrm>
              <a:off x="6699250" y="41449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rgbClr val="0099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53299" name="Text Box 51">
              <a:extLst>
                <a:ext uri="{FF2B5EF4-FFF2-40B4-BE49-F238E27FC236}">
                  <a16:creationId xmlns:a16="http://schemas.microsoft.com/office/drawing/2014/main" id="{EFDEB0DF-614C-0E5B-EE77-0C8B5D968912}"/>
                </a:ext>
              </a:extLst>
            </p:cNvPr>
            <p:cNvSpPr txBox="1">
              <a:spLocks noChangeArrowheads="1"/>
            </p:cNvSpPr>
            <p:nvPr/>
          </p:nvSpPr>
          <p:spPr bwMode="auto">
            <a:xfrm>
              <a:off x="4800600" y="5592763"/>
              <a:ext cx="3170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solidFill>
                    <a:schemeClr val="hlink"/>
                  </a:solidFill>
                  <a:latin typeface="Times New Roman" panose="02020603050405020304" pitchFamily="18" charset="0"/>
                  <a:ea typeface="隶书" panose="02010509060101010101" pitchFamily="49" charset="-122"/>
                </a:rPr>
                <a:t>从 </a:t>
              </a:r>
              <a:r>
                <a:rPr kumimoji="1" lang="en-US" altLang="zh-CN" sz="3200" b="1">
                  <a:solidFill>
                    <a:schemeClr val="tx2"/>
                  </a:solidFill>
                  <a:latin typeface="Times New Roman" panose="02020603050405020304" pitchFamily="18" charset="0"/>
                  <a:ea typeface="隶书" panose="02010509060101010101" pitchFamily="49" charset="-122"/>
                </a:rPr>
                <a:t>i = 5</a:t>
              </a:r>
              <a:r>
                <a:rPr kumimoji="1" lang="en-US" altLang="zh-CN" sz="3200">
                  <a:solidFill>
                    <a:schemeClr val="hlink"/>
                  </a:solidFill>
                  <a:latin typeface="Times New Roman" panose="02020603050405020304" pitchFamily="18" charset="0"/>
                  <a:ea typeface="隶书" panose="02010509060101010101" pitchFamily="49" charset="-122"/>
                </a:rPr>
                <a:t> </a:t>
              </a:r>
              <a:r>
                <a:rPr kumimoji="1" lang="zh-CN" altLang="en-US" sz="3200">
                  <a:solidFill>
                    <a:schemeClr val="hlink"/>
                  </a:solidFill>
                  <a:latin typeface="Times New Roman" panose="02020603050405020304" pitchFamily="18" charset="0"/>
                  <a:ea typeface="隶书" panose="02010509060101010101" pitchFamily="49" charset="-122"/>
                </a:rPr>
                <a:t>压缩路径</a:t>
              </a:r>
              <a:endParaRPr kumimoji="1" lang="zh-CN" altLang="en-US" sz="2400">
                <a:latin typeface="Times New Roman" panose="02020603050405020304" pitchFamily="18" charset="0"/>
                <a:ea typeface="宋体" panose="02010600030101010101" pitchFamily="2" charset="-122"/>
              </a:endParaRPr>
            </a:p>
          </p:txBody>
        </p:sp>
      </p:grpSp>
      <p:sp>
        <p:nvSpPr>
          <p:cNvPr id="2" name="标题 1">
            <a:extLst>
              <a:ext uri="{FF2B5EF4-FFF2-40B4-BE49-F238E27FC236}">
                <a16:creationId xmlns:a16="http://schemas.microsoft.com/office/drawing/2014/main" id="{10C5D4C6-257D-4C05-A48E-A5AB0315C2C9}"/>
              </a:ext>
            </a:extLst>
          </p:cNvPr>
          <p:cNvSpPr>
            <a:spLocks noGrp="1"/>
          </p:cNvSpPr>
          <p:nvPr>
            <p:ph type="title"/>
          </p:nvPr>
        </p:nvSpPr>
        <p:spPr/>
        <p:txBody>
          <a:bodyPr/>
          <a:lstStyle/>
          <a:p>
            <a:r>
              <a:rPr lang="en-US" altLang="zh-CN" dirty="0"/>
              <a:t>Union</a:t>
            </a:r>
            <a:r>
              <a:rPr lang="zh-CN" altLang="en-US" dirty="0"/>
              <a:t>操作的折叠规则</a:t>
            </a:r>
          </a:p>
        </p:txBody>
      </p:sp>
      <p:sp>
        <p:nvSpPr>
          <p:cNvPr id="3" name="内容占位符 2">
            <a:extLst>
              <a:ext uri="{FF2B5EF4-FFF2-40B4-BE49-F238E27FC236}">
                <a16:creationId xmlns:a16="http://schemas.microsoft.com/office/drawing/2014/main" id="{AC05D7BB-CDBC-4B6F-9547-097A158863D5}"/>
              </a:ext>
            </a:extLst>
          </p:cNvPr>
          <p:cNvSpPr>
            <a:spLocks noGrp="1"/>
          </p:cNvSpPr>
          <p:nvPr>
            <p:ph idx="1"/>
          </p:nvPr>
        </p:nvSpPr>
        <p:spPr>
          <a:xfrm>
            <a:off x="628650" y="1825625"/>
            <a:ext cx="7886700" cy="1632644"/>
          </a:xfrm>
        </p:spPr>
        <p:txBody>
          <a:bodyPr>
            <a:normAutofit fontScale="85000" lnSpcReduction="20000"/>
          </a:bodyPr>
          <a:lstStyle/>
          <a:p>
            <a:r>
              <a:rPr lang="zh-CN" altLang="en-US" dirty="0"/>
              <a:t>为进一步改进树的性能，可以使用如下折叠规则来“压缩路径”。即：</a:t>
            </a:r>
            <a:endParaRPr lang="en-US" altLang="zh-CN" dirty="0"/>
          </a:p>
          <a:p>
            <a:pPr lvl="1"/>
            <a:r>
              <a:rPr lang="zh-CN" altLang="en-US" dirty="0"/>
              <a:t>如果 </a:t>
            </a:r>
            <a:r>
              <a:rPr lang="en-US" altLang="zh-CN" dirty="0"/>
              <a:t>j </a:t>
            </a:r>
            <a:r>
              <a:rPr lang="zh-CN" altLang="en-US" dirty="0"/>
              <a:t>是从 </a:t>
            </a:r>
            <a:r>
              <a:rPr lang="en-US" altLang="zh-CN" dirty="0" err="1"/>
              <a:t>i</a:t>
            </a:r>
            <a:r>
              <a:rPr lang="en-US" altLang="zh-CN" dirty="0"/>
              <a:t> </a:t>
            </a:r>
            <a:r>
              <a:rPr lang="zh-CN" altLang="en-US" dirty="0"/>
              <a:t>到根的路径上的一个结点，且</a:t>
            </a:r>
            <a:r>
              <a:rPr lang="en-US" altLang="zh-CN" dirty="0"/>
              <a:t>parent[j]</a:t>
            </a:r>
            <a:r>
              <a:rPr lang="en-US" altLang="zh-CN" dirty="0">
                <a:sym typeface="Symbol" pitchFamily="18" charset="2"/>
              </a:rPr>
              <a:t> </a:t>
            </a:r>
            <a:r>
              <a:rPr lang="en-US" altLang="zh-CN" dirty="0"/>
              <a:t> root[</a:t>
            </a:r>
            <a:r>
              <a:rPr lang="en-US" altLang="zh-CN" dirty="0" err="1"/>
              <a:t>i</a:t>
            </a:r>
            <a:r>
              <a:rPr lang="en-US" altLang="zh-CN" dirty="0"/>
              <a:t>]</a:t>
            </a:r>
            <a:r>
              <a:rPr lang="zh-CN" altLang="en-US" dirty="0"/>
              <a:t>， 则把 </a:t>
            </a:r>
            <a:r>
              <a:rPr lang="en-US" altLang="zh-CN" dirty="0"/>
              <a:t>parent[j] </a:t>
            </a:r>
            <a:r>
              <a:rPr lang="zh-CN" altLang="en-US" dirty="0"/>
              <a:t>置为 </a:t>
            </a:r>
            <a:r>
              <a:rPr lang="en-US" altLang="zh-CN" dirty="0"/>
              <a:t>root[</a:t>
            </a:r>
            <a:r>
              <a:rPr lang="en-US" altLang="zh-CN" dirty="0" err="1"/>
              <a:t>i</a:t>
            </a:r>
            <a:r>
              <a:rPr lang="en-US" altLang="zh-CN" dirty="0"/>
              <a:t>]</a:t>
            </a:r>
            <a:r>
              <a:rPr lang="zh-CN" altLang="en-US" dirty="0"/>
              <a:t>。</a:t>
            </a:r>
          </a:p>
        </p:txBody>
      </p:sp>
      <p:sp>
        <p:nvSpPr>
          <p:cNvPr id="5" name="灯片编号占位符 4">
            <a:extLst>
              <a:ext uri="{FF2B5EF4-FFF2-40B4-BE49-F238E27FC236}">
                <a16:creationId xmlns:a16="http://schemas.microsoft.com/office/drawing/2014/main" id="{290CDA59-68C9-D68D-DC93-5642832DA1B5}"/>
              </a:ext>
            </a:extLst>
          </p:cNvPr>
          <p:cNvSpPr>
            <a:spLocks noGrp="1"/>
          </p:cNvSpPr>
          <p:nvPr>
            <p:ph type="sldNum" sz="quarter" idx="12"/>
          </p:nvPr>
        </p:nvSpPr>
        <p:spPr/>
        <p:txBody>
          <a:bodyPr/>
          <a:lstStyle/>
          <a:p>
            <a:pPr>
              <a:defRPr/>
            </a:pPr>
            <a:fld id="{524B865F-46F8-4520-B0DD-31ED36EF62D9}" type="slidenum">
              <a:rPr lang="en-US" altLang="zh-CN" smtClean="0"/>
              <a:pPr>
                <a:defRPr/>
              </a:pPr>
              <a:t>40</a:t>
            </a:fld>
            <a:endParaRPr lang="en-US" altLang="zh-CN"/>
          </a:p>
        </p:txBody>
      </p:sp>
    </p:spTree>
  </p:cSld>
  <p:clrMapOvr>
    <a:masterClrMapping/>
  </p:clrMapOvr>
  <p:transition>
    <p:spli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CAE3756-CA5C-4DD6-99E5-1A929C9BFF6D}"/>
              </a:ext>
            </a:extLst>
          </p:cNvPr>
          <p:cNvSpPr>
            <a:spLocks noGrp="1"/>
          </p:cNvSpPr>
          <p:nvPr>
            <p:ph idx="1"/>
          </p:nvPr>
        </p:nvSpPr>
        <p:spPr>
          <a:xfrm>
            <a:off x="251520" y="620688"/>
            <a:ext cx="8712968" cy="5556275"/>
          </a:xfrm>
        </p:spPr>
        <p:txBody>
          <a:bodyPr>
            <a:normAutofit fontScale="92500" lnSpcReduction="20000"/>
          </a:bodyPr>
          <a:lstStyle/>
          <a:p>
            <a:pPr marL="0" indent="0">
              <a:buNone/>
            </a:pPr>
            <a:r>
              <a:rPr lang="en-US" altLang="zh-CN" dirty="0"/>
              <a:t>//</a:t>
            </a:r>
            <a:r>
              <a:rPr lang="zh-CN" altLang="en-US" dirty="0"/>
              <a:t>使用折叠规则的搜索算法</a:t>
            </a:r>
          </a:p>
          <a:p>
            <a:pPr marL="0" indent="0">
              <a:buNone/>
            </a:pPr>
            <a:r>
              <a:rPr lang="en-US" altLang="zh-CN" dirty="0"/>
              <a:t>int </a:t>
            </a:r>
            <a:r>
              <a:rPr lang="en-US" altLang="zh-CN" dirty="0" err="1"/>
              <a:t>UFSets</a:t>
            </a:r>
            <a:r>
              <a:rPr lang="en-US" altLang="zh-CN" dirty="0"/>
              <a:t> :: </a:t>
            </a:r>
            <a:r>
              <a:rPr lang="en-US" altLang="zh-CN" dirty="0" err="1"/>
              <a:t>CollapsingFind</a:t>
            </a:r>
            <a:r>
              <a:rPr lang="en-US" altLang="zh-CN" dirty="0"/>
              <a:t> ( int </a:t>
            </a:r>
            <a:r>
              <a:rPr lang="en-US" altLang="zh-CN" dirty="0" err="1"/>
              <a:t>i</a:t>
            </a:r>
            <a:r>
              <a:rPr lang="en-US" altLang="zh-CN" dirty="0"/>
              <a:t> ) {</a:t>
            </a:r>
          </a:p>
          <a:p>
            <a:pPr marL="0" indent="0">
              <a:buNone/>
            </a:pPr>
            <a:r>
              <a:rPr lang="en-US" altLang="zh-CN" dirty="0"/>
              <a:t>    int j;</a:t>
            </a:r>
          </a:p>
          <a:p>
            <a:pPr marL="0" indent="0">
              <a:buNone/>
            </a:pPr>
            <a:r>
              <a:rPr lang="en-US" altLang="zh-CN" dirty="0"/>
              <a:t>    for ( j = </a:t>
            </a:r>
            <a:r>
              <a:rPr lang="en-US" altLang="zh-CN" dirty="0" err="1"/>
              <a:t>i</a:t>
            </a:r>
            <a:r>
              <a:rPr lang="en-US" altLang="zh-CN" dirty="0"/>
              <a:t>; parent[j] &gt;= 0; j = parent[j] );</a:t>
            </a:r>
          </a:p>
          <a:p>
            <a:pPr marL="0" indent="0">
              <a:buNone/>
            </a:pPr>
            <a:r>
              <a:rPr lang="en-US" altLang="zh-CN" dirty="0"/>
              <a:t>        //</a:t>
            </a:r>
            <a:r>
              <a:rPr lang="zh-CN" altLang="en-US" dirty="0"/>
              <a:t>让 </a:t>
            </a:r>
            <a:r>
              <a:rPr lang="en-US" altLang="zh-CN" dirty="0"/>
              <a:t>j </a:t>
            </a:r>
            <a:r>
              <a:rPr lang="zh-CN" altLang="en-US" dirty="0"/>
              <a:t>循双亲指针走到根，用</a:t>
            </a:r>
            <a:r>
              <a:rPr lang="en-US" altLang="zh-CN" dirty="0"/>
              <a:t>j</a:t>
            </a:r>
            <a:r>
              <a:rPr lang="zh-CN" altLang="en-US" dirty="0"/>
              <a:t>记住根</a:t>
            </a:r>
          </a:p>
          <a:p>
            <a:pPr marL="0" indent="0">
              <a:buNone/>
            </a:pPr>
            <a:r>
              <a:rPr lang="zh-CN" altLang="en-US" dirty="0"/>
              <a:t>    </a:t>
            </a:r>
            <a:r>
              <a:rPr lang="en-US" altLang="zh-CN" dirty="0"/>
              <a:t>while ( parent[</a:t>
            </a:r>
            <a:r>
              <a:rPr lang="en-US" altLang="zh-CN" dirty="0" err="1"/>
              <a:t>i</a:t>
            </a:r>
            <a:r>
              <a:rPr lang="en-US" altLang="zh-CN" dirty="0"/>
              <a:t>] != j ) {     //</a:t>
            </a:r>
            <a:r>
              <a:rPr lang="zh-CN" altLang="en-US" dirty="0"/>
              <a:t>换 </a:t>
            </a:r>
            <a:r>
              <a:rPr lang="en-US" altLang="zh-CN" dirty="0"/>
              <a:t>parent[</a:t>
            </a:r>
            <a:r>
              <a:rPr lang="en-US" altLang="zh-CN" dirty="0" err="1"/>
              <a:t>i</a:t>
            </a:r>
            <a:r>
              <a:rPr lang="en-US" altLang="zh-CN" dirty="0"/>
              <a:t>] </a:t>
            </a:r>
            <a:r>
              <a:rPr lang="zh-CN" altLang="en-US" dirty="0"/>
              <a:t>到 </a:t>
            </a:r>
            <a:r>
              <a:rPr lang="en-US" altLang="zh-CN" dirty="0"/>
              <a:t>j</a:t>
            </a:r>
          </a:p>
          <a:p>
            <a:pPr marL="0" indent="0">
              <a:buNone/>
            </a:pPr>
            <a:r>
              <a:rPr lang="en-US" altLang="zh-CN" dirty="0"/>
              <a:t>         int temp = parent[</a:t>
            </a:r>
            <a:r>
              <a:rPr lang="en-US" altLang="zh-CN" dirty="0" err="1"/>
              <a:t>i</a:t>
            </a:r>
            <a:r>
              <a:rPr lang="en-US" altLang="zh-CN" dirty="0"/>
              <a:t>];  </a:t>
            </a:r>
          </a:p>
          <a:p>
            <a:pPr marL="0" indent="0">
              <a:buNone/>
            </a:pPr>
            <a:r>
              <a:rPr lang="en-US" altLang="zh-CN" dirty="0"/>
              <a:t>         parent[</a:t>
            </a:r>
            <a:r>
              <a:rPr lang="en-US" altLang="zh-CN" dirty="0" err="1"/>
              <a:t>i</a:t>
            </a:r>
            <a:r>
              <a:rPr lang="en-US" altLang="zh-CN" dirty="0"/>
              <a:t>] = j;  </a:t>
            </a:r>
            <a:r>
              <a:rPr lang="en-US" altLang="zh-CN" dirty="0" err="1"/>
              <a:t>i</a:t>
            </a:r>
            <a:r>
              <a:rPr lang="en-US" altLang="zh-CN" dirty="0"/>
              <a:t> = temp; </a:t>
            </a:r>
          </a:p>
          <a:p>
            <a:pPr marL="0" indent="0">
              <a:buNone/>
            </a:pPr>
            <a:r>
              <a:rPr lang="en-US" altLang="zh-CN" dirty="0"/>
              <a:t>    }</a:t>
            </a:r>
          </a:p>
          <a:p>
            <a:pPr marL="0" indent="0">
              <a:buNone/>
            </a:pPr>
            <a:r>
              <a:rPr lang="en-US" altLang="zh-CN" dirty="0"/>
              <a:t>    return j;</a:t>
            </a:r>
          </a:p>
          <a:p>
            <a:pPr marL="0" indent="0">
              <a:buNone/>
            </a:pPr>
            <a:r>
              <a:rPr lang="en-US" altLang="zh-CN" dirty="0"/>
              <a:t>}	</a:t>
            </a:r>
          </a:p>
          <a:p>
            <a:pPr marL="0" indent="0">
              <a:buNone/>
            </a:pPr>
            <a:endParaRPr lang="en-US" altLang="zh-CN" dirty="0"/>
          </a:p>
          <a:p>
            <a:pPr marL="0" indent="0">
              <a:buNone/>
            </a:pPr>
            <a:endParaRPr lang="zh-CN" altLang="en-US" dirty="0"/>
          </a:p>
        </p:txBody>
      </p:sp>
      <p:sp>
        <p:nvSpPr>
          <p:cNvPr id="2" name="灯片编号占位符 1">
            <a:extLst>
              <a:ext uri="{FF2B5EF4-FFF2-40B4-BE49-F238E27FC236}">
                <a16:creationId xmlns:a16="http://schemas.microsoft.com/office/drawing/2014/main" id="{A98DD2FE-FAC1-220A-FFC4-FB92B6117D23}"/>
              </a:ext>
            </a:extLst>
          </p:cNvPr>
          <p:cNvSpPr>
            <a:spLocks noGrp="1"/>
          </p:cNvSpPr>
          <p:nvPr>
            <p:ph type="sldNum" sz="quarter" idx="12"/>
          </p:nvPr>
        </p:nvSpPr>
        <p:spPr/>
        <p:txBody>
          <a:bodyPr/>
          <a:lstStyle/>
          <a:p>
            <a:pPr>
              <a:defRPr/>
            </a:pPr>
            <a:fld id="{524B865F-46F8-4520-B0DD-31ED36EF62D9}" type="slidenum">
              <a:rPr lang="en-US" altLang="zh-CN" smtClean="0"/>
              <a:pPr>
                <a:defRPr/>
              </a:pPr>
              <a:t>41</a:t>
            </a:fld>
            <a:endParaRPr lang="en-US" altLang="zh-CN"/>
          </a:p>
        </p:txBody>
      </p:sp>
    </p:spTree>
  </p:cSld>
  <p:clrMapOvr>
    <a:masterClrMapping/>
  </p:clrMapOvr>
  <p:transition>
    <p:spli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EE204A-668D-4488-90A4-A853B8C16F6B}"/>
              </a:ext>
            </a:extLst>
          </p:cNvPr>
          <p:cNvSpPr>
            <a:spLocks noGrp="1"/>
          </p:cNvSpPr>
          <p:nvPr>
            <p:ph type="title"/>
          </p:nvPr>
        </p:nvSpPr>
        <p:spPr/>
        <p:txBody>
          <a:bodyPr/>
          <a:lstStyle/>
          <a:p>
            <a:r>
              <a:rPr lang="en-US" altLang="zh-CN" dirty="0"/>
              <a:t>6.2.2 </a:t>
            </a:r>
            <a:r>
              <a:rPr lang="zh-CN" altLang="en-US" dirty="0"/>
              <a:t>并查集的应用：等价类划分</a:t>
            </a:r>
          </a:p>
        </p:txBody>
      </p:sp>
      <p:sp>
        <p:nvSpPr>
          <p:cNvPr id="3" name="内容占位符 2">
            <a:extLst>
              <a:ext uri="{FF2B5EF4-FFF2-40B4-BE49-F238E27FC236}">
                <a16:creationId xmlns:a16="http://schemas.microsoft.com/office/drawing/2014/main" id="{3984E535-99E7-4FE1-A095-05DF93ACBE52}"/>
              </a:ext>
            </a:extLst>
          </p:cNvPr>
          <p:cNvSpPr>
            <a:spLocks noGrp="1"/>
          </p:cNvSpPr>
          <p:nvPr>
            <p:ph idx="1"/>
          </p:nvPr>
        </p:nvSpPr>
        <p:spPr/>
        <p:txBody>
          <a:bodyPr>
            <a:normAutofit fontScale="77500" lnSpcReduction="20000"/>
          </a:bodyPr>
          <a:lstStyle/>
          <a:p>
            <a:r>
              <a:rPr lang="zh-CN" altLang="en-US" dirty="0"/>
              <a:t>等价类是一个对象</a:t>
            </a:r>
            <a:r>
              <a:rPr lang="en-US" altLang="zh-CN" dirty="0"/>
              <a:t>(</a:t>
            </a:r>
            <a:r>
              <a:rPr lang="zh-CN" altLang="en-US" dirty="0"/>
              <a:t>或成员</a:t>
            </a:r>
            <a:r>
              <a:rPr lang="en-US" altLang="zh-CN" dirty="0"/>
              <a:t>)</a:t>
            </a:r>
            <a:r>
              <a:rPr lang="zh-CN" altLang="en-US" dirty="0"/>
              <a:t>的集合，在此集合中所有对象应满足等价关系。</a:t>
            </a:r>
          </a:p>
          <a:p>
            <a:r>
              <a:rPr lang="zh-CN" altLang="en-US" dirty="0"/>
              <a:t>若用符号“</a:t>
            </a:r>
            <a:r>
              <a:rPr lang="zh-CN" altLang="en-US" dirty="0">
                <a:sym typeface="Symbol" pitchFamily="18" charset="2"/>
              </a:rPr>
              <a:t></a:t>
            </a:r>
            <a:r>
              <a:rPr lang="zh-CN" altLang="en-US" dirty="0"/>
              <a:t>”表示集合上的等价关系，那么对于该集合中的任意对象</a:t>
            </a:r>
            <a:r>
              <a:rPr lang="en-US" altLang="zh-CN" dirty="0"/>
              <a:t>x, y, z</a:t>
            </a:r>
            <a:r>
              <a:rPr lang="zh-CN" altLang="en-US" dirty="0"/>
              <a:t>，下列性质成立：</a:t>
            </a:r>
          </a:p>
          <a:p>
            <a:pPr lvl="1"/>
            <a:r>
              <a:rPr lang="zh-CN" altLang="en-US" dirty="0"/>
              <a:t>自反性：</a:t>
            </a:r>
            <a:r>
              <a:rPr lang="en-US" altLang="zh-CN" dirty="0"/>
              <a:t>x </a:t>
            </a:r>
            <a:r>
              <a:rPr lang="zh-CN" altLang="en-US" dirty="0">
                <a:sym typeface="Symbol" pitchFamily="18" charset="2"/>
              </a:rPr>
              <a:t></a:t>
            </a:r>
            <a:r>
              <a:rPr lang="en-US" altLang="zh-CN" dirty="0"/>
              <a:t> x (</a:t>
            </a:r>
            <a:r>
              <a:rPr lang="zh-CN" altLang="en-US" dirty="0"/>
              <a:t>即</a:t>
            </a:r>
            <a:r>
              <a:rPr lang="en-US" altLang="zh-CN" dirty="0"/>
              <a:t>x</a:t>
            </a:r>
            <a:r>
              <a:rPr lang="zh-CN" altLang="en-US" dirty="0"/>
              <a:t>等价于自身</a:t>
            </a:r>
            <a:r>
              <a:rPr lang="en-US" altLang="zh-CN" dirty="0"/>
              <a:t>)</a:t>
            </a:r>
            <a:r>
              <a:rPr lang="zh-CN" altLang="en-US" dirty="0"/>
              <a:t>。</a:t>
            </a:r>
          </a:p>
          <a:p>
            <a:pPr lvl="1"/>
            <a:r>
              <a:rPr lang="zh-CN" altLang="en-US" dirty="0"/>
              <a:t>对称性：若 </a:t>
            </a:r>
            <a:r>
              <a:rPr lang="en-US" altLang="zh-CN" dirty="0"/>
              <a:t>x </a:t>
            </a:r>
            <a:r>
              <a:rPr lang="zh-CN" altLang="en-US" dirty="0">
                <a:sym typeface="Symbol" pitchFamily="18" charset="2"/>
              </a:rPr>
              <a:t></a:t>
            </a:r>
            <a:r>
              <a:rPr lang="en-US" altLang="zh-CN" dirty="0"/>
              <a:t> y, </a:t>
            </a:r>
            <a:r>
              <a:rPr lang="zh-CN" altLang="en-US" dirty="0"/>
              <a:t>则 </a:t>
            </a:r>
            <a:r>
              <a:rPr lang="en-US" altLang="zh-CN" dirty="0"/>
              <a:t>y </a:t>
            </a:r>
            <a:r>
              <a:rPr lang="zh-CN" altLang="en-US" dirty="0">
                <a:sym typeface="Symbol" pitchFamily="18" charset="2"/>
              </a:rPr>
              <a:t></a:t>
            </a:r>
            <a:r>
              <a:rPr lang="en-US" altLang="zh-CN" dirty="0"/>
              <a:t> x</a:t>
            </a:r>
            <a:r>
              <a:rPr lang="zh-CN" altLang="en-US" dirty="0"/>
              <a:t>。</a:t>
            </a:r>
          </a:p>
          <a:p>
            <a:pPr lvl="1"/>
            <a:r>
              <a:rPr lang="zh-CN" altLang="en-US" dirty="0"/>
              <a:t>传递性：若 </a:t>
            </a:r>
            <a:r>
              <a:rPr lang="en-US" altLang="zh-CN" dirty="0"/>
              <a:t>x </a:t>
            </a:r>
            <a:r>
              <a:rPr lang="zh-CN" altLang="en-US" dirty="0">
                <a:sym typeface="Symbol" pitchFamily="18" charset="2"/>
              </a:rPr>
              <a:t></a:t>
            </a:r>
            <a:r>
              <a:rPr lang="en-US" altLang="zh-CN" dirty="0"/>
              <a:t> y</a:t>
            </a:r>
            <a:r>
              <a:rPr lang="zh-CN" altLang="en-US" dirty="0"/>
              <a:t>且 </a:t>
            </a:r>
            <a:r>
              <a:rPr lang="en-US" altLang="zh-CN" dirty="0"/>
              <a:t>y </a:t>
            </a:r>
            <a:r>
              <a:rPr lang="zh-CN" altLang="en-US" dirty="0">
                <a:sym typeface="Symbol" pitchFamily="18" charset="2"/>
              </a:rPr>
              <a:t></a:t>
            </a:r>
            <a:r>
              <a:rPr lang="en-US" altLang="zh-CN" dirty="0"/>
              <a:t> z, </a:t>
            </a:r>
            <a:r>
              <a:rPr lang="zh-CN" altLang="en-US" dirty="0"/>
              <a:t>则 </a:t>
            </a:r>
            <a:r>
              <a:rPr lang="en-US" altLang="zh-CN" dirty="0"/>
              <a:t>x </a:t>
            </a:r>
            <a:r>
              <a:rPr lang="zh-CN" altLang="en-US" dirty="0">
                <a:sym typeface="Symbol" pitchFamily="18" charset="2"/>
              </a:rPr>
              <a:t></a:t>
            </a:r>
            <a:r>
              <a:rPr lang="en-US" altLang="zh-CN" dirty="0"/>
              <a:t> z</a:t>
            </a:r>
            <a:r>
              <a:rPr lang="zh-CN" altLang="en-US" dirty="0"/>
              <a:t>。</a:t>
            </a:r>
          </a:p>
          <a:p>
            <a:r>
              <a:rPr lang="zh-CN" altLang="en-US" dirty="0"/>
              <a:t>例如</a:t>
            </a:r>
            <a:endParaRPr lang="en-US" altLang="zh-CN" dirty="0"/>
          </a:p>
          <a:p>
            <a:pPr lvl="1"/>
            <a:r>
              <a:rPr lang="zh-CN" altLang="en-US" dirty="0"/>
              <a:t>整数集合上的“相等”</a:t>
            </a:r>
            <a:r>
              <a:rPr lang="en-US" altLang="zh-CN" dirty="0"/>
              <a:t>(=)</a:t>
            </a:r>
            <a:r>
              <a:rPr lang="zh-CN" altLang="en-US" dirty="0"/>
              <a:t>就是一种等价关系，它满足上述的三个特性。</a:t>
            </a:r>
          </a:p>
        </p:txBody>
      </p:sp>
      <p:sp>
        <p:nvSpPr>
          <p:cNvPr id="4" name="灯片编号占位符 3">
            <a:extLst>
              <a:ext uri="{FF2B5EF4-FFF2-40B4-BE49-F238E27FC236}">
                <a16:creationId xmlns:a16="http://schemas.microsoft.com/office/drawing/2014/main" id="{0A53FA21-0D6E-4103-ABF7-FDF233EC6746}"/>
              </a:ext>
            </a:extLst>
          </p:cNvPr>
          <p:cNvSpPr>
            <a:spLocks noGrp="1"/>
          </p:cNvSpPr>
          <p:nvPr>
            <p:ph type="sldNum" sz="quarter" idx="12"/>
          </p:nvPr>
        </p:nvSpPr>
        <p:spPr/>
        <p:txBody>
          <a:bodyPr/>
          <a:lstStyle/>
          <a:p>
            <a:pPr>
              <a:defRPr/>
            </a:pPr>
            <a:fld id="{524B865F-46F8-4520-B0DD-31ED36EF62D9}" type="slidenum">
              <a:rPr lang="en-US" altLang="zh-CN" smtClean="0"/>
              <a:pPr>
                <a:defRPr/>
              </a:pPr>
              <a:t>42</a:t>
            </a:fld>
            <a:endParaRPr lang="en-US" altLang="zh-CN"/>
          </a:p>
        </p:txBody>
      </p:sp>
    </p:spTree>
    <p:extLst>
      <p:ext uri="{BB962C8B-B14F-4D97-AF65-F5344CB8AC3E}">
        <p14:creationId xmlns:p14="http://schemas.microsoft.com/office/powerpoint/2010/main" val="2421325243"/>
      </p:ext>
    </p:extLst>
  </p:cSld>
  <p:clrMapOvr>
    <a:masterClrMapping/>
  </p:clrMapOvr>
  <p:transition>
    <p:spli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D7FB5C-D79A-46DE-89EA-6BEBC42782B5}"/>
              </a:ext>
            </a:extLst>
          </p:cNvPr>
          <p:cNvSpPr>
            <a:spLocks noGrp="1"/>
          </p:cNvSpPr>
          <p:nvPr>
            <p:ph type="title"/>
          </p:nvPr>
        </p:nvSpPr>
        <p:spPr/>
        <p:txBody>
          <a:bodyPr/>
          <a:lstStyle/>
          <a:p>
            <a:r>
              <a:rPr lang="zh-CN" altLang="en-US" dirty="0"/>
              <a:t>确定等价类的方法</a:t>
            </a:r>
          </a:p>
        </p:txBody>
      </p:sp>
      <p:sp>
        <p:nvSpPr>
          <p:cNvPr id="3" name="内容占位符 2">
            <a:extLst>
              <a:ext uri="{FF2B5EF4-FFF2-40B4-BE49-F238E27FC236}">
                <a16:creationId xmlns:a16="http://schemas.microsoft.com/office/drawing/2014/main" id="{6C9F11AD-B974-492C-B183-5F3A0C47E921}"/>
              </a:ext>
            </a:extLst>
          </p:cNvPr>
          <p:cNvSpPr>
            <a:spLocks noGrp="1"/>
          </p:cNvSpPr>
          <p:nvPr>
            <p:ph idx="1"/>
          </p:nvPr>
        </p:nvSpPr>
        <p:spPr>
          <a:xfrm>
            <a:off x="628650" y="1825625"/>
            <a:ext cx="8119814" cy="4351338"/>
          </a:xfrm>
        </p:spPr>
        <p:txBody>
          <a:bodyPr>
            <a:normAutofit fontScale="92500"/>
          </a:bodyPr>
          <a:lstStyle/>
          <a:p>
            <a:r>
              <a:rPr lang="zh-CN" altLang="en-US" dirty="0"/>
              <a:t>一个集合 </a:t>
            </a:r>
            <a:r>
              <a:rPr lang="en-US" altLang="zh-CN" dirty="0"/>
              <a:t>S </a:t>
            </a:r>
            <a:r>
              <a:rPr lang="zh-CN" altLang="en-US" dirty="0"/>
              <a:t>中的所有对象可以通过等价关系划分为若干个互不相交的子集 </a:t>
            </a:r>
            <a:r>
              <a:rPr lang="en-US" altLang="zh-CN" dirty="0"/>
              <a:t>S</a:t>
            </a:r>
            <a:r>
              <a:rPr lang="en-US" altLang="zh-CN" baseline="-25000" dirty="0"/>
              <a:t>1</a:t>
            </a:r>
            <a:r>
              <a:rPr lang="en-US" altLang="zh-CN" dirty="0"/>
              <a:t>, S</a:t>
            </a:r>
            <a:r>
              <a:rPr lang="en-US" altLang="zh-CN" baseline="-25000" dirty="0"/>
              <a:t>2</a:t>
            </a:r>
            <a:r>
              <a:rPr lang="en-US" altLang="zh-CN" dirty="0"/>
              <a:t>, S</a:t>
            </a:r>
            <a:r>
              <a:rPr lang="en-US" altLang="zh-CN" baseline="-25000" dirty="0"/>
              <a:t>3</a:t>
            </a:r>
            <a:r>
              <a:rPr lang="en-US" altLang="zh-CN" dirty="0"/>
              <a:t>, …</a:t>
            </a:r>
            <a:r>
              <a:rPr lang="zh-CN" altLang="en-US" dirty="0"/>
              <a:t>，它们的并就是 </a:t>
            </a:r>
            <a:r>
              <a:rPr lang="en-US" altLang="zh-CN" dirty="0"/>
              <a:t>S</a:t>
            </a:r>
            <a:r>
              <a:rPr lang="zh-CN" altLang="en-US" dirty="0"/>
              <a:t>。每个子集就是一个等价类。</a:t>
            </a:r>
          </a:p>
          <a:p>
            <a:r>
              <a:rPr lang="zh-CN" altLang="en-US" dirty="0"/>
              <a:t>假设用整数</a:t>
            </a:r>
            <a:r>
              <a:rPr lang="en-US" altLang="zh-CN" dirty="0"/>
              <a:t>0, 1, …, n </a:t>
            </a:r>
            <a:r>
              <a:rPr lang="zh-CN" altLang="en-US" dirty="0"/>
              <a:t>标识集合元素（位置），可以用以下方法确定等价类：</a:t>
            </a:r>
          </a:p>
          <a:p>
            <a:pPr lvl="1"/>
            <a:r>
              <a:rPr lang="zh-CN" altLang="en-US" dirty="0"/>
              <a:t>第一步，读入并存储所有的等价对</a:t>
            </a:r>
            <a:r>
              <a:rPr lang="en-US" altLang="zh-CN" dirty="0"/>
              <a:t>( </a:t>
            </a:r>
            <a:r>
              <a:rPr lang="en-US" altLang="zh-CN" dirty="0" err="1"/>
              <a:t>i</a:t>
            </a:r>
            <a:r>
              <a:rPr lang="en-US" altLang="zh-CN" dirty="0"/>
              <a:t>, j )</a:t>
            </a:r>
            <a:r>
              <a:rPr lang="zh-CN" altLang="en-US" dirty="0"/>
              <a:t>；</a:t>
            </a:r>
          </a:p>
          <a:p>
            <a:pPr lvl="1"/>
            <a:r>
              <a:rPr lang="zh-CN" altLang="en-US" dirty="0"/>
              <a:t>第二步，标记和输出所有的等价类。</a:t>
            </a:r>
          </a:p>
        </p:txBody>
      </p:sp>
      <p:sp>
        <p:nvSpPr>
          <p:cNvPr id="4" name="灯片编号占位符 3">
            <a:extLst>
              <a:ext uri="{FF2B5EF4-FFF2-40B4-BE49-F238E27FC236}">
                <a16:creationId xmlns:a16="http://schemas.microsoft.com/office/drawing/2014/main" id="{95966252-0A0E-94A5-14E4-13387175353C}"/>
              </a:ext>
            </a:extLst>
          </p:cNvPr>
          <p:cNvSpPr>
            <a:spLocks noGrp="1"/>
          </p:cNvSpPr>
          <p:nvPr>
            <p:ph type="sldNum" sz="quarter" idx="12"/>
          </p:nvPr>
        </p:nvSpPr>
        <p:spPr/>
        <p:txBody>
          <a:bodyPr/>
          <a:lstStyle/>
          <a:p>
            <a:pPr>
              <a:defRPr/>
            </a:pPr>
            <a:fld id="{524B865F-46F8-4520-B0DD-31ED36EF62D9}" type="slidenum">
              <a:rPr lang="en-US" altLang="zh-CN" smtClean="0"/>
              <a:pPr>
                <a:defRPr/>
              </a:pPr>
              <a:t>43</a:t>
            </a:fld>
            <a:endParaRPr lang="en-US" altLang="zh-CN"/>
          </a:p>
        </p:txBody>
      </p:sp>
    </p:spTree>
  </p:cSld>
  <p:clrMapOvr>
    <a:masterClrMapping/>
  </p:clrMapOvr>
  <p:transition>
    <p:spli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65630E-45A4-4DCA-A5D1-26B66D5CEB5E}"/>
              </a:ext>
            </a:extLst>
          </p:cNvPr>
          <p:cNvSpPr>
            <a:spLocks noGrp="1"/>
          </p:cNvSpPr>
          <p:nvPr>
            <p:ph type="title"/>
          </p:nvPr>
        </p:nvSpPr>
        <p:spPr/>
        <p:txBody>
          <a:bodyPr/>
          <a:lstStyle/>
          <a:p>
            <a:r>
              <a:rPr lang="zh-CN" altLang="en-US" dirty="0"/>
              <a:t>示例</a:t>
            </a:r>
          </a:p>
        </p:txBody>
      </p:sp>
      <p:sp>
        <p:nvSpPr>
          <p:cNvPr id="3" name="内容占位符 2">
            <a:extLst>
              <a:ext uri="{FF2B5EF4-FFF2-40B4-BE49-F238E27FC236}">
                <a16:creationId xmlns:a16="http://schemas.microsoft.com/office/drawing/2014/main" id="{48B6F4E9-011B-442E-835C-32034B91DC4D}"/>
              </a:ext>
            </a:extLst>
          </p:cNvPr>
          <p:cNvSpPr>
            <a:spLocks noGrp="1"/>
          </p:cNvSpPr>
          <p:nvPr>
            <p:ph idx="1"/>
          </p:nvPr>
        </p:nvSpPr>
        <p:spPr>
          <a:xfrm>
            <a:off x="107504" y="1340768"/>
            <a:ext cx="8928992" cy="5380707"/>
          </a:xfrm>
        </p:spPr>
        <p:txBody>
          <a:bodyPr>
            <a:normAutofit fontScale="62500" lnSpcReduction="20000"/>
          </a:bodyPr>
          <a:lstStyle/>
          <a:p>
            <a:r>
              <a:rPr lang="zh-CN" altLang="en-US" dirty="0"/>
              <a:t>给定</a:t>
            </a:r>
            <a:endParaRPr lang="en-US" altLang="zh-CN" dirty="0"/>
          </a:p>
          <a:p>
            <a:pPr lvl="1"/>
            <a:r>
              <a:rPr lang="zh-CN" altLang="en-US" dirty="0"/>
              <a:t>集合 </a:t>
            </a:r>
            <a:r>
              <a:rPr lang="en-US" altLang="zh-CN" dirty="0"/>
              <a:t>S = { 0, 1, 2, 3, 4, 5, 6, 7, 8, 9, 10, 11 },</a:t>
            </a:r>
          </a:p>
          <a:p>
            <a:pPr lvl="1">
              <a:defRPr/>
            </a:pPr>
            <a:r>
              <a:rPr lang="zh-CN" altLang="en-US" dirty="0"/>
              <a:t>等价对</a:t>
            </a:r>
            <a:r>
              <a:rPr lang="en-US" altLang="zh-CN" dirty="0"/>
              <a:t>:   0 </a:t>
            </a:r>
            <a:r>
              <a:rPr lang="en-US" altLang="zh-CN" dirty="0">
                <a:sym typeface="Symbol" pitchFamily="18" charset="2"/>
              </a:rPr>
              <a:t> </a:t>
            </a:r>
            <a:r>
              <a:rPr lang="en-US" altLang="zh-CN" dirty="0"/>
              <a:t>4, 3 </a:t>
            </a:r>
            <a:r>
              <a:rPr lang="en-US" altLang="zh-CN" dirty="0">
                <a:sym typeface="Symbol" pitchFamily="18" charset="2"/>
              </a:rPr>
              <a:t> </a:t>
            </a:r>
            <a:r>
              <a:rPr lang="en-US" altLang="zh-CN" dirty="0"/>
              <a:t>1, 6 </a:t>
            </a:r>
            <a:r>
              <a:rPr lang="en-US" altLang="zh-CN" dirty="0">
                <a:sym typeface="Symbol" pitchFamily="18" charset="2"/>
              </a:rPr>
              <a:t> </a:t>
            </a:r>
            <a:r>
              <a:rPr lang="en-US" altLang="zh-CN" dirty="0"/>
              <a:t>10, 8 </a:t>
            </a:r>
            <a:r>
              <a:rPr lang="en-US" altLang="zh-CN" dirty="0">
                <a:sym typeface="Symbol" pitchFamily="18" charset="2"/>
              </a:rPr>
              <a:t> </a:t>
            </a:r>
            <a:r>
              <a:rPr lang="en-US" altLang="zh-CN" dirty="0"/>
              <a:t>9, 7 </a:t>
            </a:r>
            <a:r>
              <a:rPr lang="en-US" altLang="zh-CN" dirty="0">
                <a:sym typeface="Symbol" pitchFamily="18" charset="2"/>
              </a:rPr>
              <a:t> </a:t>
            </a:r>
            <a:r>
              <a:rPr lang="en-US" altLang="zh-CN" dirty="0"/>
              <a:t>4, 6 </a:t>
            </a:r>
            <a:r>
              <a:rPr lang="en-US" altLang="zh-CN" dirty="0">
                <a:sym typeface="Symbol" pitchFamily="18" charset="2"/>
              </a:rPr>
              <a:t> </a:t>
            </a:r>
            <a:r>
              <a:rPr lang="en-US" altLang="zh-CN" dirty="0"/>
              <a:t>8, 3 </a:t>
            </a:r>
            <a:r>
              <a:rPr lang="en-US" altLang="zh-CN" dirty="0">
                <a:sym typeface="Symbol" pitchFamily="18" charset="2"/>
              </a:rPr>
              <a:t> </a:t>
            </a:r>
            <a:r>
              <a:rPr lang="en-US" altLang="zh-CN" dirty="0"/>
              <a:t>5,  2 </a:t>
            </a:r>
            <a:r>
              <a:rPr lang="en-US" altLang="zh-CN" dirty="0">
                <a:sym typeface="Symbol" pitchFamily="18" charset="2"/>
              </a:rPr>
              <a:t> </a:t>
            </a:r>
            <a:r>
              <a:rPr lang="en-US" altLang="zh-CN" dirty="0"/>
              <a:t>11, 11 </a:t>
            </a:r>
            <a:r>
              <a:rPr lang="en-US" altLang="zh-CN" dirty="0">
                <a:sym typeface="Symbol" pitchFamily="18" charset="2"/>
              </a:rPr>
              <a:t> </a:t>
            </a:r>
            <a:r>
              <a:rPr lang="en-US" altLang="zh-CN" dirty="0"/>
              <a:t>0</a:t>
            </a:r>
            <a:r>
              <a:rPr lang="zh-CN" altLang="en-US" dirty="0"/>
              <a:t>。</a:t>
            </a:r>
          </a:p>
          <a:p>
            <a:pPr>
              <a:lnSpc>
                <a:spcPct val="115000"/>
              </a:lnSpc>
              <a:defRPr/>
            </a:pPr>
            <a:r>
              <a:rPr lang="zh-CN" altLang="en-US" sz="3700" dirty="0"/>
              <a:t>初始子集： </a:t>
            </a:r>
            <a:r>
              <a:rPr lang="en-US" altLang="zh-CN" sz="3700" dirty="0"/>
              <a:t>{0},{1},{2},{3},{4},{5},{6},{7},{8},{9},{10},{11}</a:t>
            </a:r>
          </a:p>
          <a:p>
            <a:pPr>
              <a:lnSpc>
                <a:spcPct val="115000"/>
              </a:lnSpc>
              <a:defRPr/>
            </a:pPr>
            <a:r>
              <a:rPr lang="zh-CN" altLang="en-US" sz="3700" dirty="0"/>
              <a:t>合并等价类过程</a:t>
            </a:r>
            <a:endParaRPr lang="en-US" altLang="zh-CN" sz="3700" dirty="0"/>
          </a:p>
          <a:p>
            <a:pPr lvl="1">
              <a:lnSpc>
                <a:spcPct val="115000"/>
              </a:lnSpc>
              <a:defRPr/>
            </a:pPr>
            <a:r>
              <a:rPr lang="zh-CN" altLang="en-US" sz="3300" dirty="0"/>
              <a:t>根据</a:t>
            </a:r>
            <a:r>
              <a:rPr lang="en-US" altLang="zh-CN" sz="3300" dirty="0"/>
              <a:t>0 </a:t>
            </a:r>
            <a:r>
              <a:rPr lang="en-US" altLang="zh-CN" sz="3300" dirty="0">
                <a:sym typeface="Symbol" pitchFamily="18" charset="2"/>
              </a:rPr>
              <a:t> </a:t>
            </a:r>
            <a:r>
              <a:rPr lang="en-US" altLang="zh-CN" sz="3300" dirty="0"/>
              <a:t>4</a:t>
            </a:r>
            <a:r>
              <a:rPr lang="zh-CN" altLang="en-US" sz="3300" dirty="0"/>
              <a:t>，得到：  </a:t>
            </a:r>
            <a:r>
              <a:rPr lang="en-US" altLang="zh-CN" sz="3300" dirty="0"/>
              <a:t>{</a:t>
            </a:r>
            <a:r>
              <a:rPr lang="en-US" altLang="zh-CN" sz="3300" dirty="0">
                <a:solidFill>
                  <a:srgbClr val="FF0000"/>
                </a:solidFill>
              </a:rPr>
              <a:t>0,4</a:t>
            </a:r>
            <a:r>
              <a:rPr lang="en-US" altLang="zh-CN" sz="3300" dirty="0"/>
              <a:t>},{1},{2},{3},{5},{6},{7},{8},{9},{10},{11}</a:t>
            </a:r>
          </a:p>
          <a:p>
            <a:pPr lvl="1">
              <a:lnSpc>
                <a:spcPct val="115000"/>
              </a:lnSpc>
              <a:defRPr/>
            </a:pPr>
            <a:r>
              <a:rPr lang="zh-CN" altLang="en-US" sz="3300" dirty="0"/>
              <a:t>根据</a:t>
            </a:r>
            <a:r>
              <a:rPr lang="en-US" altLang="zh-CN" sz="3300" dirty="0"/>
              <a:t>3 </a:t>
            </a:r>
            <a:r>
              <a:rPr lang="en-US" altLang="zh-CN" sz="3300" dirty="0">
                <a:sym typeface="Symbol" pitchFamily="18" charset="2"/>
              </a:rPr>
              <a:t> </a:t>
            </a:r>
            <a:r>
              <a:rPr lang="en-US" altLang="zh-CN" sz="3300" dirty="0"/>
              <a:t>1</a:t>
            </a:r>
            <a:r>
              <a:rPr lang="zh-CN" altLang="en-US" sz="3300" dirty="0"/>
              <a:t>，得到：  </a:t>
            </a:r>
            <a:r>
              <a:rPr lang="en-US" altLang="zh-CN" sz="3300" dirty="0"/>
              <a:t>{0,4}, {</a:t>
            </a:r>
            <a:r>
              <a:rPr lang="en-US" altLang="zh-CN" sz="3300" dirty="0">
                <a:solidFill>
                  <a:srgbClr val="FF0000"/>
                </a:solidFill>
              </a:rPr>
              <a:t>1,3</a:t>
            </a:r>
            <a:r>
              <a:rPr lang="en-US" altLang="zh-CN" sz="3300" dirty="0"/>
              <a:t>},{2},{5},{6},{7},{8},{9},{10},{11}</a:t>
            </a:r>
          </a:p>
          <a:p>
            <a:pPr lvl="1">
              <a:lnSpc>
                <a:spcPct val="115000"/>
              </a:lnSpc>
              <a:defRPr/>
            </a:pPr>
            <a:r>
              <a:rPr lang="zh-CN" altLang="en-US" sz="3300" dirty="0"/>
              <a:t>根据</a:t>
            </a:r>
            <a:r>
              <a:rPr lang="en-US" altLang="zh-CN" sz="3300" dirty="0"/>
              <a:t>6 </a:t>
            </a:r>
            <a:r>
              <a:rPr lang="en-US" altLang="zh-CN" sz="3300" dirty="0">
                <a:sym typeface="Symbol" pitchFamily="18" charset="2"/>
              </a:rPr>
              <a:t> </a:t>
            </a:r>
            <a:r>
              <a:rPr lang="en-US" altLang="zh-CN" sz="3300" dirty="0"/>
              <a:t>10</a:t>
            </a:r>
            <a:r>
              <a:rPr lang="zh-CN" altLang="en-US" sz="3300" dirty="0"/>
              <a:t>，得到：</a:t>
            </a:r>
            <a:r>
              <a:rPr lang="en-US" altLang="zh-CN" sz="3300" dirty="0"/>
              <a:t>{0,4},{1,3},{2},{5},{</a:t>
            </a:r>
            <a:r>
              <a:rPr lang="en-US" altLang="zh-CN" sz="3300" dirty="0">
                <a:solidFill>
                  <a:srgbClr val="FF0000"/>
                </a:solidFill>
              </a:rPr>
              <a:t>6,10</a:t>
            </a:r>
            <a:r>
              <a:rPr lang="en-US" altLang="zh-CN" sz="3300" dirty="0"/>
              <a:t>},{7},{8},{9},{11} </a:t>
            </a:r>
          </a:p>
          <a:p>
            <a:pPr lvl="1">
              <a:lnSpc>
                <a:spcPct val="115000"/>
              </a:lnSpc>
              <a:defRPr/>
            </a:pPr>
            <a:r>
              <a:rPr lang="zh-CN" altLang="en-US" sz="3300" dirty="0"/>
              <a:t>根据</a:t>
            </a:r>
            <a:r>
              <a:rPr lang="en-US" altLang="zh-CN" sz="3300" dirty="0"/>
              <a:t>8 </a:t>
            </a:r>
            <a:r>
              <a:rPr lang="en-US" altLang="zh-CN" sz="3300" dirty="0">
                <a:sym typeface="Symbol" pitchFamily="18" charset="2"/>
              </a:rPr>
              <a:t> </a:t>
            </a:r>
            <a:r>
              <a:rPr lang="en-US" altLang="zh-CN" sz="3300" dirty="0"/>
              <a:t>9</a:t>
            </a:r>
            <a:r>
              <a:rPr lang="zh-CN" altLang="en-US" sz="3300" dirty="0"/>
              <a:t>，得到：  </a:t>
            </a:r>
            <a:r>
              <a:rPr lang="en-US" altLang="zh-CN" sz="3300" dirty="0"/>
              <a:t>{0,4},{1,3},{2},{5},{6,10},{7},{</a:t>
            </a:r>
            <a:r>
              <a:rPr lang="en-US" altLang="zh-CN" sz="3300" dirty="0">
                <a:solidFill>
                  <a:srgbClr val="FF0000"/>
                </a:solidFill>
              </a:rPr>
              <a:t>8,9</a:t>
            </a:r>
            <a:r>
              <a:rPr lang="en-US" altLang="zh-CN" sz="3300" dirty="0"/>
              <a:t>},{11}</a:t>
            </a:r>
          </a:p>
          <a:p>
            <a:pPr lvl="1">
              <a:lnSpc>
                <a:spcPct val="115000"/>
              </a:lnSpc>
              <a:defRPr/>
            </a:pPr>
            <a:r>
              <a:rPr lang="zh-CN" altLang="en-US" sz="3300" dirty="0"/>
              <a:t>根据</a:t>
            </a:r>
            <a:r>
              <a:rPr lang="en-US" altLang="zh-CN" sz="3300" dirty="0"/>
              <a:t>7 </a:t>
            </a:r>
            <a:r>
              <a:rPr lang="en-US" altLang="zh-CN" sz="3300" dirty="0">
                <a:sym typeface="Symbol" pitchFamily="18" charset="2"/>
              </a:rPr>
              <a:t> </a:t>
            </a:r>
            <a:r>
              <a:rPr lang="en-US" altLang="zh-CN" sz="3300" dirty="0"/>
              <a:t>4</a:t>
            </a:r>
            <a:r>
              <a:rPr lang="zh-CN" altLang="en-US" sz="3300" dirty="0"/>
              <a:t>，得到：  </a:t>
            </a:r>
            <a:r>
              <a:rPr lang="en-US" altLang="zh-CN" sz="3300" dirty="0"/>
              <a:t>{</a:t>
            </a:r>
            <a:r>
              <a:rPr lang="en-US" altLang="zh-CN" sz="3300" dirty="0">
                <a:solidFill>
                  <a:srgbClr val="FF0000"/>
                </a:solidFill>
              </a:rPr>
              <a:t>0,4,7</a:t>
            </a:r>
            <a:r>
              <a:rPr lang="en-US" altLang="zh-CN" sz="3300" dirty="0"/>
              <a:t>},{1,3},{2},{5},{6,10},{8,9},{11}</a:t>
            </a:r>
          </a:p>
          <a:p>
            <a:pPr lvl="1">
              <a:lnSpc>
                <a:spcPct val="115000"/>
              </a:lnSpc>
              <a:defRPr/>
            </a:pPr>
            <a:r>
              <a:rPr lang="zh-CN" altLang="en-US" sz="3300" dirty="0"/>
              <a:t>根据</a:t>
            </a:r>
            <a:r>
              <a:rPr lang="en-US" altLang="zh-CN" sz="3300" dirty="0"/>
              <a:t>6 </a:t>
            </a:r>
            <a:r>
              <a:rPr lang="en-US" altLang="zh-CN" sz="3300" dirty="0">
                <a:sym typeface="Symbol" pitchFamily="18" charset="2"/>
              </a:rPr>
              <a:t> </a:t>
            </a:r>
            <a:r>
              <a:rPr lang="en-US" altLang="zh-CN" sz="3300" dirty="0"/>
              <a:t>8</a:t>
            </a:r>
            <a:r>
              <a:rPr lang="zh-CN" altLang="en-US" sz="3300" dirty="0"/>
              <a:t>，得到：  </a:t>
            </a:r>
            <a:r>
              <a:rPr lang="en-US" altLang="zh-CN" sz="3300" dirty="0"/>
              <a:t>{0,4,7},{1,3},{2},{5},{</a:t>
            </a:r>
            <a:r>
              <a:rPr lang="en-US" altLang="zh-CN" sz="3300" dirty="0">
                <a:solidFill>
                  <a:srgbClr val="FF0000"/>
                </a:solidFill>
              </a:rPr>
              <a:t>6,8,9,10</a:t>
            </a:r>
            <a:r>
              <a:rPr lang="en-US" altLang="zh-CN" sz="3300" dirty="0"/>
              <a:t>},{11}</a:t>
            </a:r>
          </a:p>
          <a:p>
            <a:pPr lvl="1">
              <a:lnSpc>
                <a:spcPct val="115000"/>
              </a:lnSpc>
              <a:defRPr/>
            </a:pPr>
            <a:r>
              <a:rPr lang="zh-CN" altLang="en-US" sz="3300" dirty="0"/>
              <a:t>根据</a:t>
            </a:r>
            <a:r>
              <a:rPr lang="en-US" altLang="zh-CN" sz="3300" dirty="0"/>
              <a:t>3 </a:t>
            </a:r>
            <a:r>
              <a:rPr lang="en-US" altLang="zh-CN" sz="3300" dirty="0">
                <a:sym typeface="Symbol" pitchFamily="18" charset="2"/>
              </a:rPr>
              <a:t> </a:t>
            </a:r>
            <a:r>
              <a:rPr lang="en-US" altLang="zh-CN" sz="3300" dirty="0"/>
              <a:t>5</a:t>
            </a:r>
            <a:r>
              <a:rPr lang="zh-CN" altLang="en-US" sz="3300" dirty="0"/>
              <a:t>，得到：  </a:t>
            </a:r>
            <a:r>
              <a:rPr lang="en-US" altLang="zh-CN" sz="3300" dirty="0"/>
              <a:t>{0,4,7},{</a:t>
            </a:r>
            <a:r>
              <a:rPr lang="en-US" altLang="zh-CN" sz="3300" dirty="0">
                <a:solidFill>
                  <a:srgbClr val="FF0000"/>
                </a:solidFill>
              </a:rPr>
              <a:t>1,3,5</a:t>
            </a:r>
            <a:r>
              <a:rPr lang="en-US" altLang="zh-CN" sz="3300" dirty="0"/>
              <a:t>},{2},{6,8,9,10},{11}</a:t>
            </a:r>
          </a:p>
          <a:p>
            <a:pPr lvl="1">
              <a:lnSpc>
                <a:spcPct val="115000"/>
              </a:lnSpc>
              <a:defRPr/>
            </a:pPr>
            <a:r>
              <a:rPr lang="zh-CN" altLang="en-US" sz="3300" dirty="0"/>
              <a:t>根据</a:t>
            </a:r>
            <a:r>
              <a:rPr lang="en-US" altLang="zh-CN" sz="3300" dirty="0"/>
              <a:t>2 </a:t>
            </a:r>
            <a:r>
              <a:rPr lang="en-US" altLang="zh-CN" sz="3300" dirty="0">
                <a:sym typeface="Symbol" pitchFamily="18" charset="2"/>
              </a:rPr>
              <a:t> </a:t>
            </a:r>
            <a:r>
              <a:rPr lang="en-US" altLang="zh-CN" sz="3300" dirty="0"/>
              <a:t>11</a:t>
            </a:r>
            <a:r>
              <a:rPr lang="zh-CN" altLang="en-US" sz="3300" dirty="0"/>
              <a:t>，得到：</a:t>
            </a:r>
            <a:r>
              <a:rPr lang="en-US" altLang="zh-CN" sz="3300" dirty="0"/>
              <a:t>{0,4,7},{1,3,5},{</a:t>
            </a:r>
            <a:r>
              <a:rPr lang="en-US" altLang="zh-CN" sz="3300" dirty="0">
                <a:solidFill>
                  <a:srgbClr val="FF0000"/>
                </a:solidFill>
              </a:rPr>
              <a:t>2,11</a:t>
            </a:r>
            <a:r>
              <a:rPr lang="en-US" altLang="zh-CN" sz="3300" dirty="0"/>
              <a:t>},{6,8,9,10}</a:t>
            </a:r>
          </a:p>
          <a:p>
            <a:pPr lvl="1">
              <a:lnSpc>
                <a:spcPct val="115000"/>
              </a:lnSpc>
              <a:defRPr/>
            </a:pPr>
            <a:r>
              <a:rPr lang="zh-CN" altLang="en-US" sz="3300" dirty="0"/>
              <a:t>根据</a:t>
            </a:r>
            <a:r>
              <a:rPr lang="en-US" altLang="zh-CN" sz="3300" dirty="0"/>
              <a:t>11 </a:t>
            </a:r>
            <a:r>
              <a:rPr lang="en-US" altLang="zh-CN" sz="3300" dirty="0">
                <a:sym typeface="Symbol" pitchFamily="18" charset="2"/>
              </a:rPr>
              <a:t> </a:t>
            </a:r>
            <a:r>
              <a:rPr lang="en-US" altLang="zh-CN" sz="3300" dirty="0"/>
              <a:t>0</a:t>
            </a:r>
            <a:r>
              <a:rPr lang="zh-CN" altLang="en-US" sz="3300" dirty="0"/>
              <a:t>，得到：</a:t>
            </a:r>
            <a:r>
              <a:rPr lang="en-US" altLang="zh-CN" sz="3300" dirty="0"/>
              <a:t>{</a:t>
            </a:r>
            <a:r>
              <a:rPr lang="en-US" altLang="zh-CN" sz="3300" dirty="0">
                <a:solidFill>
                  <a:srgbClr val="FF0000"/>
                </a:solidFill>
              </a:rPr>
              <a:t>0,2,4,7,11</a:t>
            </a:r>
            <a:r>
              <a:rPr lang="en-US" altLang="zh-CN" sz="3300" dirty="0"/>
              <a:t>},{1,3,5},{6,8,9,10}</a:t>
            </a:r>
            <a:endParaRPr lang="en-US" altLang="zh-CN" dirty="0"/>
          </a:p>
        </p:txBody>
      </p:sp>
      <p:sp>
        <p:nvSpPr>
          <p:cNvPr id="4" name="灯片编号占位符 3">
            <a:extLst>
              <a:ext uri="{FF2B5EF4-FFF2-40B4-BE49-F238E27FC236}">
                <a16:creationId xmlns:a16="http://schemas.microsoft.com/office/drawing/2014/main" id="{8404F6FE-26D5-4C26-BE9F-C788EFC2E001}"/>
              </a:ext>
            </a:extLst>
          </p:cNvPr>
          <p:cNvSpPr>
            <a:spLocks noGrp="1"/>
          </p:cNvSpPr>
          <p:nvPr>
            <p:ph type="sldNum" sz="quarter" idx="12"/>
          </p:nvPr>
        </p:nvSpPr>
        <p:spPr/>
        <p:txBody>
          <a:bodyPr/>
          <a:lstStyle/>
          <a:p>
            <a:pPr>
              <a:defRPr/>
            </a:pPr>
            <a:fld id="{524B865F-46F8-4520-B0DD-31ED36EF62D9}" type="slidenum">
              <a:rPr lang="en-US" altLang="zh-CN" smtClean="0"/>
              <a:pPr>
                <a:defRPr/>
              </a:pPr>
              <a:t>44</a:t>
            </a:fld>
            <a:endParaRPr lang="en-US" altLang="zh-CN"/>
          </a:p>
        </p:txBody>
      </p:sp>
    </p:spTree>
    <p:extLst>
      <p:ext uri="{BB962C8B-B14F-4D97-AF65-F5344CB8AC3E}">
        <p14:creationId xmlns:p14="http://schemas.microsoft.com/office/powerpoint/2010/main" val="1344153352"/>
      </p:ext>
    </p:extLst>
  </p:cSld>
  <p:clrMapOvr>
    <a:masterClrMapping/>
  </p:clrMapOvr>
  <p:transition>
    <p:spli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747FFBC0-31E5-6B54-C2A5-20B60C95C80C}"/>
              </a:ext>
            </a:extLst>
          </p:cNvPr>
          <p:cNvSpPr>
            <a:spLocks noGrp="1" noChangeArrowheads="1"/>
          </p:cNvSpPr>
          <p:nvPr>
            <p:ph type="title"/>
          </p:nvPr>
        </p:nvSpPr>
        <p:spPr/>
        <p:txBody>
          <a:bodyPr/>
          <a:lstStyle/>
          <a:p>
            <a:r>
              <a:rPr lang="zh-CN" altLang="en-US"/>
              <a:t>等价类的表示</a:t>
            </a:r>
          </a:p>
        </p:txBody>
      </p:sp>
      <p:sp>
        <p:nvSpPr>
          <p:cNvPr id="59395" name="Rectangle 3">
            <a:extLst>
              <a:ext uri="{FF2B5EF4-FFF2-40B4-BE49-F238E27FC236}">
                <a16:creationId xmlns:a16="http://schemas.microsoft.com/office/drawing/2014/main" id="{D5D637D9-C388-3353-EC26-6E20E73D5F32}"/>
              </a:ext>
            </a:extLst>
          </p:cNvPr>
          <p:cNvSpPr>
            <a:spLocks noGrp="1" noChangeArrowheads="1"/>
          </p:cNvSpPr>
          <p:nvPr>
            <p:ph type="body" idx="1"/>
          </p:nvPr>
        </p:nvSpPr>
        <p:spPr/>
        <p:txBody>
          <a:bodyPr/>
          <a:lstStyle/>
          <a:p>
            <a:r>
              <a:rPr lang="zh-CN" altLang="en-US" dirty="0"/>
              <a:t>设等价对个数为</a:t>
            </a:r>
            <a:r>
              <a:rPr lang="en-US" altLang="zh-CN" dirty="0"/>
              <a:t>m, </a:t>
            </a:r>
            <a:r>
              <a:rPr lang="zh-CN" altLang="en-US" dirty="0"/>
              <a:t>对象个数为</a:t>
            </a:r>
            <a:r>
              <a:rPr lang="en-US" altLang="zh-CN" dirty="0"/>
              <a:t>n</a:t>
            </a:r>
            <a:r>
              <a:rPr lang="zh-CN" altLang="en-US" dirty="0"/>
              <a:t>。</a:t>
            </a:r>
          </a:p>
          <a:p>
            <a:pPr lvl="1"/>
            <a:r>
              <a:rPr lang="zh-CN" altLang="en-US" dirty="0"/>
              <a:t>二维布尔型数组</a:t>
            </a:r>
            <a:r>
              <a:rPr lang="en-US" altLang="zh-CN" dirty="0"/>
              <a:t>pair[n][n]</a:t>
            </a:r>
            <a:r>
              <a:rPr lang="zh-CN" altLang="en-US" dirty="0"/>
              <a:t>是一种可选的存储方案，这种方式简单，但存储效率低。</a:t>
            </a:r>
          </a:p>
          <a:p>
            <a:pPr lvl="1"/>
            <a:r>
              <a:rPr lang="zh-CN" altLang="en-US" dirty="0"/>
              <a:t>另一种方式是表示为并查集，采用前面介绍的树的双亲表示</a:t>
            </a:r>
            <a:endParaRPr lang="en-US" altLang="zh-CN" dirty="0"/>
          </a:p>
        </p:txBody>
      </p:sp>
      <p:sp>
        <p:nvSpPr>
          <p:cNvPr id="2" name="灯片编号占位符 1">
            <a:extLst>
              <a:ext uri="{FF2B5EF4-FFF2-40B4-BE49-F238E27FC236}">
                <a16:creationId xmlns:a16="http://schemas.microsoft.com/office/drawing/2014/main" id="{BA4113F5-54AA-0A85-FF64-03CA24B94D90}"/>
              </a:ext>
            </a:extLst>
          </p:cNvPr>
          <p:cNvSpPr>
            <a:spLocks noGrp="1"/>
          </p:cNvSpPr>
          <p:nvPr>
            <p:ph type="sldNum" sz="quarter" idx="12"/>
          </p:nvPr>
        </p:nvSpPr>
        <p:spPr/>
        <p:txBody>
          <a:bodyPr/>
          <a:lstStyle/>
          <a:p>
            <a:pPr>
              <a:defRPr/>
            </a:pPr>
            <a:fld id="{524B865F-46F8-4520-B0DD-31ED36EF62D9}" type="slidenum">
              <a:rPr lang="en-US" altLang="zh-CN" smtClean="0"/>
              <a:pPr>
                <a:defRPr/>
              </a:pPr>
              <a:t>45</a:t>
            </a:fld>
            <a:endParaRPr lang="en-US" altLang="zh-CN"/>
          </a:p>
        </p:txBody>
      </p:sp>
    </p:spTree>
  </p:cSld>
  <p:clrMapOvr>
    <a:masterClrMapping/>
  </p:clrMapOvr>
  <p:transition>
    <p:spli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CFE16F-5329-8C06-C6C3-8DA062B3B3ED}"/>
              </a:ext>
            </a:extLst>
          </p:cNvPr>
          <p:cNvSpPr>
            <a:spLocks noGrp="1"/>
          </p:cNvSpPr>
          <p:nvPr>
            <p:ph type="title"/>
          </p:nvPr>
        </p:nvSpPr>
        <p:spPr/>
        <p:txBody>
          <a:bodyPr/>
          <a:lstStyle/>
          <a:p>
            <a:r>
              <a:rPr lang="zh-CN" altLang="en-US" dirty="0"/>
              <a:t>自学</a:t>
            </a:r>
          </a:p>
        </p:txBody>
      </p:sp>
      <p:sp>
        <p:nvSpPr>
          <p:cNvPr id="3" name="内容占位符 2">
            <a:extLst>
              <a:ext uri="{FF2B5EF4-FFF2-40B4-BE49-F238E27FC236}">
                <a16:creationId xmlns:a16="http://schemas.microsoft.com/office/drawing/2014/main" id="{D02A285C-9204-632E-FF01-B37D9751E092}"/>
              </a:ext>
            </a:extLst>
          </p:cNvPr>
          <p:cNvSpPr>
            <a:spLocks noGrp="1"/>
          </p:cNvSpPr>
          <p:nvPr>
            <p:ph idx="1"/>
          </p:nvPr>
        </p:nvSpPr>
        <p:spPr/>
        <p:txBody>
          <a:bodyPr/>
          <a:lstStyle/>
          <a:p>
            <a:r>
              <a:rPr lang="en-US" altLang="zh-CN" dirty="0"/>
              <a:t>6.3 </a:t>
            </a:r>
            <a:r>
              <a:rPr lang="zh-CN" altLang="en-US" dirty="0"/>
              <a:t>字典</a:t>
            </a:r>
            <a:endParaRPr lang="en-US" altLang="zh-CN" dirty="0"/>
          </a:p>
          <a:p>
            <a:r>
              <a:rPr lang="en-US" altLang="zh-CN" dirty="0"/>
              <a:t>6.4 </a:t>
            </a:r>
            <a:r>
              <a:rPr lang="zh-CN" altLang="en-US" dirty="0"/>
              <a:t>跳表</a:t>
            </a:r>
          </a:p>
        </p:txBody>
      </p:sp>
      <p:sp>
        <p:nvSpPr>
          <p:cNvPr id="4" name="灯片编号占位符 3">
            <a:extLst>
              <a:ext uri="{FF2B5EF4-FFF2-40B4-BE49-F238E27FC236}">
                <a16:creationId xmlns:a16="http://schemas.microsoft.com/office/drawing/2014/main" id="{71F341E3-B93B-96F6-4EAB-EE6718EA04A3}"/>
              </a:ext>
            </a:extLst>
          </p:cNvPr>
          <p:cNvSpPr>
            <a:spLocks noGrp="1"/>
          </p:cNvSpPr>
          <p:nvPr>
            <p:ph type="sldNum" sz="quarter" idx="12"/>
          </p:nvPr>
        </p:nvSpPr>
        <p:spPr/>
        <p:txBody>
          <a:bodyPr/>
          <a:lstStyle/>
          <a:p>
            <a:pPr>
              <a:defRPr/>
            </a:pPr>
            <a:fld id="{524B865F-46F8-4520-B0DD-31ED36EF62D9}" type="slidenum">
              <a:rPr lang="en-US" altLang="zh-CN" smtClean="0"/>
              <a:pPr>
                <a:defRPr/>
              </a:pPr>
              <a:t>46</a:t>
            </a:fld>
            <a:endParaRPr lang="en-US" altLang="zh-CN"/>
          </a:p>
        </p:txBody>
      </p:sp>
    </p:spTree>
    <p:extLst>
      <p:ext uri="{BB962C8B-B14F-4D97-AF65-F5344CB8AC3E}">
        <p14:creationId xmlns:p14="http://schemas.microsoft.com/office/powerpoint/2010/main" val="2290204993"/>
      </p:ext>
    </p:extLst>
  </p:cSld>
  <p:clrMapOvr>
    <a:masterClrMapping/>
  </p:clrMapOvr>
  <p:transition>
    <p:spli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a:extLst>
              <a:ext uri="{FF2B5EF4-FFF2-40B4-BE49-F238E27FC236}">
                <a16:creationId xmlns:a16="http://schemas.microsoft.com/office/drawing/2014/main" id="{AAC9DA43-31EE-0568-BB83-4D92FE4434E5}"/>
              </a:ext>
            </a:extLst>
          </p:cNvPr>
          <p:cNvSpPr>
            <a:spLocks noGrp="1" noChangeArrowheads="1"/>
          </p:cNvSpPr>
          <p:nvPr>
            <p:ph type="title"/>
          </p:nvPr>
        </p:nvSpPr>
        <p:spPr/>
        <p:txBody>
          <a:bodyPr/>
          <a:lstStyle/>
          <a:p>
            <a:r>
              <a:rPr lang="en-US" altLang="zh-CN" dirty="0"/>
              <a:t>6.5 </a:t>
            </a:r>
            <a:r>
              <a:rPr lang="zh-CN" altLang="en-US" dirty="0"/>
              <a:t>散列 </a:t>
            </a:r>
            <a:r>
              <a:rPr lang="en-US" altLang="zh-CN" dirty="0"/>
              <a:t>(Hashing)</a:t>
            </a:r>
          </a:p>
        </p:txBody>
      </p:sp>
      <p:sp>
        <p:nvSpPr>
          <p:cNvPr id="453635" name="Rectangle 3">
            <a:extLst>
              <a:ext uri="{FF2B5EF4-FFF2-40B4-BE49-F238E27FC236}">
                <a16:creationId xmlns:a16="http://schemas.microsoft.com/office/drawing/2014/main" id="{ECE2AD94-1878-F7DB-0B1D-75BB578067A9}"/>
              </a:ext>
            </a:extLst>
          </p:cNvPr>
          <p:cNvSpPr>
            <a:spLocks noGrp="1" noChangeArrowheads="1"/>
          </p:cNvSpPr>
          <p:nvPr>
            <p:ph type="body" idx="1"/>
          </p:nvPr>
        </p:nvSpPr>
        <p:spPr/>
        <p:txBody>
          <a:bodyPr>
            <a:normAutofit/>
          </a:bodyPr>
          <a:lstStyle/>
          <a:p>
            <a:r>
              <a:rPr lang="zh-CN" altLang="en-US" dirty="0"/>
              <a:t>理想的搜索方法是不经过比较，一次直接从字典中得到要搜索的元素。</a:t>
            </a:r>
          </a:p>
        </p:txBody>
      </p:sp>
      <p:sp>
        <p:nvSpPr>
          <p:cNvPr id="2" name="灯片编号占位符 1">
            <a:extLst>
              <a:ext uri="{FF2B5EF4-FFF2-40B4-BE49-F238E27FC236}">
                <a16:creationId xmlns:a16="http://schemas.microsoft.com/office/drawing/2014/main" id="{C0EFCC0C-678F-9E11-BBA1-47BBD9C34CE5}"/>
              </a:ext>
            </a:extLst>
          </p:cNvPr>
          <p:cNvSpPr>
            <a:spLocks noGrp="1"/>
          </p:cNvSpPr>
          <p:nvPr>
            <p:ph type="sldNum" sz="quarter" idx="12"/>
          </p:nvPr>
        </p:nvSpPr>
        <p:spPr/>
        <p:txBody>
          <a:bodyPr/>
          <a:lstStyle/>
          <a:p>
            <a:pPr>
              <a:defRPr/>
            </a:pPr>
            <a:fld id="{524B865F-46F8-4520-B0DD-31ED36EF62D9}" type="slidenum">
              <a:rPr lang="en-US" altLang="zh-CN" smtClean="0"/>
              <a:pPr>
                <a:defRPr/>
              </a:pPr>
              <a:t>47</a:t>
            </a:fld>
            <a:endParaRPr lang="en-US" altLang="zh-CN"/>
          </a:p>
        </p:txBody>
      </p:sp>
    </p:spTree>
  </p:cSld>
  <p:clrMapOvr>
    <a:masterClrMapping/>
  </p:clrMapOvr>
  <p:transition>
    <p:spli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a:extLst>
              <a:ext uri="{FF2B5EF4-FFF2-40B4-BE49-F238E27FC236}">
                <a16:creationId xmlns:a16="http://schemas.microsoft.com/office/drawing/2014/main" id="{108C4573-F10A-7B99-493F-1675EA3B48B2}"/>
              </a:ext>
            </a:extLst>
          </p:cNvPr>
          <p:cNvSpPr>
            <a:spLocks noGrp="1" noChangeArrowheads="1"/>
          </p:cNvSpPr>
          <p:nvPr>
            <p:ph type="title"/>
          </p:nvPr>
        </p:nvSpPr>
        <p:spPr/>
        <p:txBody>
          <a:bodyPr/>
          <a:lstStyle/>
          <a:p>
            <a:r>
              <a:rPr lang="en-US" altLang="zh-CN" dirty="0"/>
              <a:t>6.5.1 </a:t>
            </a:r>
            <a:r>
              <a:rPr lang="zh-CN" altLang="en-US" dirty="0"/>
              <a:t>散列表与散列方法</a:t>
            </a:r>
          </a:p>
        </p:txBody>
      </p:sp>
      <p:sp>
        <p:nvSpPr>
          <p:cNvPr id="455683" name="Rectangle 3">
            <a:extLst>
              <a:ext uri="{FF2B5EF4-FFF2-40B4-BE49-F238E27FC236}">
                <a16:creationId xmlns:a16="http://schemas.microsoft.com/office/drawing/2014/main" id="{78147A72-905C-39A6-4D77-B1DCC45D5D95}"/>
              </a:ext>
            </a:extLst>
          </p:cNvPr>
          <p:cNvSpPr>
            <a:spLocks noGrp="1" noChangeArrowheads="1"/>
          </p:cNvSpPr>
          <p:nvPr>
            <p:ph type="body" idx="1"/>
          </p:nvPr>
        </p:nvSpPr>
        <p:spPr>
          <a:xfrm>
            <a:off x="628650" y="1825625"/>
            <a:ext cx="8047806" cy="4351338"/>
          </a:xfrm>
        </p:spPr>
        <p:txBody>
          <a:bodyPr>
            <a:normAutofit fontScale="85000" lnSpcReduction="20000"/>
          </a:bodyPr>
          <a:lstStyle/>
          <a:p>
            <a:r>
              <a:rPr lang="zh-CN" altLang="en-US" dirty="0"/>
              <a:t>如果在元素存储位置与其关键码之间建立一个确定的对应函数关系</a:t>
            </a:r>
            <a:r>
              <a:rPr lang="en-US" altLang="zh-CN" dirty="0"/>
              <a:t>Hash()</a:t>
            </a:r>
            <a:r>
              <a:rPr lang="zh-CN" altLang="en-US" dirty="0"/>
              <a:t>， 使得每个关键码与结构中一个唯一的存储位置相对应：</a:t>
            </a:r>
          </a:p>
          <a:p>
            <a:pPr marL="0" indent="0">
              <a:buNone/>
            </a:pPr>
            <a:r>
              <a:rPr lang="en-US" altLang="zh-CN" dirty="0"/>
              <a:t>            Address </a:t>
            </a:r>
            <a:r>
              <a:rPr lang="zh-CN" altLang="en-US" dirty="0"/>
              <a:t>＝ </a:t>
            </a:r>
            <a:r>
              <a:rPr lang="en-US" altLang="zh-CN" dirty="0"/>
              <a:t>Hash(key)	</a:t>
            </a:r>
          </a:p>
          <a:p>
            <a:r>
              <a:rPr lang="zh-CN" altLang="en-US" dirty="0"/>
              <a:t>在搜索时，先对表项的关键码进行函数计算，把函数值当做表项的存储位置，在结构中按此位置取表项比较。若关键码相等，则搜索成功。在存放表项时，依相同函数计算存储位置，并按此位置存放。此方法称为散列方法。</a:t>
            </a:r>
          </a:p>
        </p:txBody>
      </p:sp>
      <p:sp>
        <p:nvSpPr>
          <p:cNvPr id="2" name="灯片编号占位符 1">
            <a:extLst>
              <a:ext uri="{FF2B5EF4-FFF2-40B4-BE49-F238E27FC236}">
                <a16:creationId xmlns:a16="http://schemas.microsoft.com/office/drawing/2014/main" id="{FFD42ED9-767F-A373-3AA9-B4E463E6AC96}"/>
              </a:ext>
            </a:extLst>
          </p:cNvPr>
          <p:cNvSpPr>
            <a:spLocks noGrp="1"/>
          </p:cNvSpPr>
          <p:nvPr>
            <p:ph type="sldNum" sz="quarter" idx="12"/>
          </p:nvPr>
        </p:nvSpPr>
        <p:spPr/>
        <p:txBody>
          <a:bodyPr/>
          <a:lstStyle/>
          <a:p>
            <a:pPr>
              <a:defRPr/>
            </a:pPr>
            <a:fld id="{524B865F-46F8-4520-B0DD-31ED36EF62D9}" type="slidenum">
              <a:rPr lang="en-US" altLang="zh-CN" smtClean="0"/>
              <a:pPr>
                <a:defRPr/>
              </a:pPr>
              <a:t>48</a:t>
            </a:fld>
            <a:endParaRPr lang="en-US" altLang="zh-CN"/>
          </a:p>
        </p:txBody>
      </p:sp>
    </p:spTree>
  </p:cSld>
  <p:clrMapOvr>
    <a:masterClrMapping/>
  </p:clrMapOvr>
  <p:transition>
    <p:spli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7" name="Rectangle 3">
            <a:extLst>
              <a:ext uri="{FF2B5EF4-FFF2-40B4-BE49-F238E27FC236}">
                <a16:creationId xmlns:a16="http://schemas.microsoft.com/office/drawing/2014/main" id="{69BAE8E7-3B18-96BC-D73B-99E31E8333EB}"/>
              </a:ext>
            </a:extLst>
          </p:cNvPr>
          <p:cNvSpPr>
            <a:spLocks noGrp="1" noChangeArrowheads="1"/>
          </p:cNvSpPr>
          <p:nvPr>
            <p:ph idx="1"/>
          </p:nvPr>
        </p:nvSpPr>
        <p:spPr>
          <a:xfrm>
            <a:off x="628650" y="1825624"/>
            <a:ext cx="7886700" cy="4555703"/>
          </a:xfrm>
        </p:spPr>
        <p:txBody>
          <a:bodyPr>
            <a:normAutofit fontScale="77500" lnSpcReduction="20000"/>
          </a:bodyPr>
          <a:lstStyle/>
          <a:p>
            <a:r>
              <a:rPr lang="zh-CN" altLang="en-US" dirty="0"/>
              <a:t>在散列方法中使用的转换函数叫做</a:t>
            </a:r>
            <a:r>
              <a:rPr lang="zh-CN" altLang="en-US" b="1" i="1" dirty="0"/>
              <a:t>散列函数</a:t>
            </a:r>
            <a:r>
              <a:rPr lang="zh-CN" altLang="en-US" dirty="0"/>
              <a:t>。按此方法构造出来的表或结构就叫做</a:t>
            </a:r>
            <a:r>
              <a:rPr lang="zh-CN" altLang="en-US" b="1" i="1" dirty="0"/>
              <a:t>散列表</a:t>
            </a:r>
            <a:r>
              <a:rPr lang="zh-CN" altLang="en-US" dirty="0"/>
              <a:t>。</a:t>
            </a:r>
          </a:p>
          <a:p>
            <a:r>
              <a:rPr lang="zh-CN" altLang="en-US" dirty="0"/>
              <a:t>使用散列方法进行搜索不必进行多次关键码的比较，搜索速度比较快，可以直接到达或逼近具有此关键码的表项的实际存放地址。</a:t>
            </a:r>
          </a:p>
          <a:p>
            <a:r>
              <a:rPr lang="zh-CN" altLang="en-US" dirty="0"/>
              <a:t>散列函数是一个压缩映象函数。关键码集合比散列表地址集合大得多。因此有可能经过散列函数的计算，把不同的关键码映射到同一个散列地址上，这就产生了冲突。</a:t>
            </a:r>
            <a:endParaRPr lang="en-US" altLang="zh-CN" dirty="0"/>
          </a:p>
          <a:p>
            <a:r>
              <a:rPr lang="zh-CN" altLang="en-US" dirty="0"/>
              <a:t>同一地址上产生冲突的关键码互为同义词。</a:t>
            </a:r>
          </a:p>
        </p:txBody>
      </p:sp>
      <p:sp>
        <p:nvSpPr>
          <p:cNvPr id="4" name="标题 3">
            <a:extLst>
              <a:ext uri="{FF2B5EF4-FFF2-40B4-BE49-F238E27FC236}">
                <a16:creationId xmlns:a16="http://schemas.microsoft.com/office/drawing/2014/main" id="{A48D8EE8-6EE8-4701-AAB0-63C54AAC7E9F}"/>
              </a:ext>
            </a:extLst>
          </p:cNvPr>
          <p:cNvSpPr>
            <a:spLocks noGrp="1"/>
          </p:cNvSpPr>
          <p:nvPr>
            <p:ph type="title"/>
          </p:nvPr>
        </p:nvSpPr>
        <p:spPr/>
        <p:txBody>
          <a:bodyPr/>
          <a:lstStyle/>
          <a:p>
            <a:r>
              <a:rPr lang="zh-CN" altLang="en-US" dirty="0"/>
              <a:t>散列方法的特点</a:t>
            </a:r>
          </a:p>
        </p:txBody>
      </p:sp>
      <p:sp>
        <p:nvSpPr>
          <p:cNvPr id="2" name="灯片编号占位符 1">
            <a:extLst>
              <a:ext uri="{FF2B5EF4-FFF2-40B4-BE49-F238E27FC236}">
                <a16:creationId xmlns:a16="http://schemas.microsoft.com/office/drawing/2014/main" id="{229C4AF3-DA17-7823-9B7D-273C3F4192B4}"/>
              </a:ext>
            </a:extLst>
          </p:cNvPr>
          <p:cNvSpPr>
            <a:spLocks noGrp="1"/>
          </p:cNvSpPr>
          <p:nvPr>
            <p:ph type="sldNum" sz="quarter" idx="12"/>
          </p:nvPr>
        </p:nvSpPr>
        <p:spPr/>
        <p:txBody>
          <a:bodyPr/>
          <a:lstStyle/>
          <a:p>
            <a:pPr>
              <a:defRPr/>
            </a:pPr>
            <a:fld id="{524B865F-46F8-4520-B0DD-31ED36EF62D9}" type="slidenum">
              <a:rPr lang="en-US" altLang="zh-CN" smtClean="0"/>
              <a:pPr>
                <a:defRPr/>
              </a:pPr>
              <a:t>49</a:t>
            </a:fld>
            <a:endParaRPr lang="en-US" altLang="zh-CN"/>
          </a:p>
        </p:txBody>
      </p:sp>
    </p:spTree>
  </p:cSld>
  <p:clrMapOvr>
    <a:masterClrMapping/>
  </p:clrMapOvr>
  <p:transition>
    <p:spli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6AB15D5-11FF-444E-B711-0370ECB8EC01}"/>
              </a:ext>
            </a:extLst>
          </p:cNvPr>
          <p:cNvSpPr>
            <a:spLocks noGrp="1"/>
          </p:cNvSpPr>
          <p:nvPr>
            <p:ph type="title"/>
          </p:nvPr>
        </p:nvSpPr>
        <p:spPr/>
        <p:txBody>
          <a:bodyPr/>
          <a:lstStyle/>
          <a:p>
            <a:r>
              <a:rPr lang="zh-CN" altLang="en-US" dirty="0"/>
              <a:t>冲突示例</a:t>
            </a:r>
          </a:p>
        </p:txBody>
      </p:sp>
      <p:sp>
        <p:nvSpPr>
          <p:cNvPr id="457730" name="Rectangle 2">
            <a:extLst>
              <a:ext uri="{FF2B5EF4-FFF2-40B4-BE49-F238E27FC236}">
                <a16:creationId xmlns:a16="http://schemas.microsoft.com/office/drawing/2014/main" id="{9734108E-D91F-D48B-9895-93942E1125CF}"/>
              </a:ext>
            </a:extLst>
          </p:cNvPr>
          <p:cNvSpPr>
            <a:spLocks noGrp="1" noChangeArrowheads="1"/>
          </p:cNvSpPr>
          <p:nvPr>
            <p:ph type="body" idx="1"/>
          </p:nvPr>
        </p:nvSpPr>
        <p:spPr/>
        <p:txBody>
          <a:bodyPr>
            <a:normAutofit fontScale="92500"/>
          </a:bodyPr>
          <a:lstStyle/>
          <a:p>
            <a:r>
              <a:rPr lang="zh-CN" altLang="en-US" dirty="0"/>
              <a:t>有一组表项，其关键码分别是</a:t>
            </a:r>
          </a:p>
          <a:p>
            <a:pPr lvl="1"/>
            <a:r>
              <a:rPr lang="en-US" altLang="zh-CN" dirty="0"/>
              <a:t>12361,  07251,  03309,  30976</a:t>
            </a:r>
          </a:p>
          <a:p>
            <a:r>
              <a:rPr lang="zh-CN" altLang="en-US" dirty="0"/>
              <a:t>采用的散列函数是</a:t>
            </a:r>
          </a:p>
          <a:p>
            <a:pPr lvl="1"/>
            <a:r>
              <a:rPr lang="en-US" altLang="zh-CN" dirty="0"/>
              <a:t>hash(x) = x % 73 + 13420</a:t>
            </a:r>
          </a:p>
          <a:p>
            <a:r>
              <a:rPr lang="zh-CN" altLang="en-US" dirty="0"/>
              <a:t>则有：</a:t>
            </a:r>
            <a:r>
              <a:rPr lang="en-US" altLang="zh-CN" dirty="0"/>
              <a:t>hash(12361) = hash(07251) = hash(03309) = hash(30976) = 13444</a:t>
            </a:r>
            <a:r>
              <a:rPr lang="zh-CN" altLang="en-US" dirty="0"/>
              <a:t>。</a:t>
            </a:r>
            <a:endParaRPr lang="en-US" altLang="zh-CN" dirty="0"/>
          </a:p>
          <a:p>
            <a:pPr lvl="1"/>
            <a:r>
              <a:rPr lang="zh-CN" altLang="en-US" dirty="0"/>
              <a:t>就是说，对不同的关键码，通过散列函数的计算，得到了同一散列地址。</a:t>
            </a:r>
          </a:p>
        </p:txBody>
      </p:sp>
      <p:sp>
        <p:nvSpPr>
          <p:cNvPr id="2" name="灯片编号占位符 1">
            <a:extLst>
              <a:ext uri="{FF2B5EF4-FFF2-40B4-BE49-F238E27FC236}">
                <a16:creationId xmlns:a16="http://schemas.microsoft.com/office/drawing/2014/main" id="{D7E1A4F8-141C-7DD4-4773-0CD3C418B3AF}"/>
              </a:ext>
            </a:extLst>
          </p:cNvPr>
          <p:cNvSpPr>
            <a:spLocks noGrp="1"/>
          </p:cNvSpPr>
          <p:nvPr>
            <p:ph type="sldNum" sz="quarter" idx="12"/>
          </p:nvPr>
        </p:nvSpPr>
        <p:spPr/>
        <p:txBody>
          <a:bodyPr/>
          <a:lstStyle/>
          <a:p>
            <a:pPr>
              <a:defRPr/>
            </a:pPr>
            <a:fld id="{524B865F-46F8-4520-B0DD-31ED36EF62D9}" type="slidenum">
              <a:rPr lang="en-US" altLang="zh-CN" smtClean="0"/>
              <a:pPr>
                <a:defRPr/>
              </a:pPr>
              <a:t>50</a:t>
            </a:fld>
            <a:endParaRPr lang="en-US" altLang="zh-CN"/>
          </a:p>
        </p:txBody>
      </p:sp>
    </p:spTree>
  </p:cSld>
  <p:clrMapOvr>
    <a:masterClrMapping/>
  </p:clrMapOvr>
  <p:transition>
    <p:spli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3E1921A-23AA-4025-81DD-F957DADB3DFA}"/>
              </a:ext>
            </a:extLst>
          </p:cNvPr>
          <p:cNvSpPr>
            <a:spLocks noGrp="1"/>
          </p:cNvSpPr>
          <p:nvPr>
            <p:ph type="title"/>
          </p:nvPr>
        </p:nvSpPr>
        <p:spPr/>
        <p:txBody>
          <a:bodyPr/>
          <a:lstStyle/>
          <a:p>
            <a:r>
              <a:rPr lang="zh-CN" altLang="en-US" dirty="0"/>
              <a:t>散列方法的关键问题</a:t>
            </a:r>
          </a:p>
        </p:txBody>
      </p:sp>
      <p:sp>
        <p:nvSpPr>
          <p:cNvPr id="458755" name="Rectangle 3">
            <a:extLst>
              <a:ext uri="{FF2B5EF4-FFF2-40B4-BE49-F238E27FC236}">
                <a16:creationId xmlns:a16="http://schemas.microsoft.com/office/drawing/2014/main" id="{CF61AAF3-C32F-1898-7B43-02E66C83882C}"/>
              </a:ext>
            </a:extLst>
          </p:cNvPr>
          <p:cNvSpPr>
            <a:spLocks noGrp="1" noChangeArrowheads="1"/>
          </p:cNvSpPr>
          <p:nvPr>
            <p:ph type="body" idx="1"/>
          </p:nvPr>
        </p:nvSpPr>
        <p:spPr/>
        <p:txBody>
          <a:bodyPr>
            <a:normAutofit/>
          </a:bodyPr>
          <a:lstStyle/>
          <a:p>
            <a:r>
              <a:rPr lang="zh-CN" altLang="en-US" dirty="0"/>
              <a:t>由于关键码集合比地址集合大得多，冲突很难避免。所以对于散列方法，需要讨论以下两个问题： </a:t>
            </a:r>
          </a:p>
          <a:p>
            <a:pPr lvl="1"/>
            <a:r>
              <a:rPr lang="zh-CN" altLang="en-US" dirty="0"/>
              <a:t>对于给定的一个关键码集合，选择一个计算简单且地址分布比较均匀的散列函数，避免或尽量减少冲突；</a:t>
            </a:r>
          </a:p>
          <a:p>
            <a:pPr lvl="1"/>
            <a:r>
              <a:rPr lang="zh-CN" altLang="en-US" dirty="0"/>
              <a:t>拟订解决冲突的方案。</a:t>
            </a:r>
          </a:p>
        </p:txBody>
      </p:sp>
      <p:sp>
        <p:nvSpPr>
          <p:cNvPr id="2" name="灯片编号占位符 1">
            <a:extLst>
              <a:ext uri="{FF2B5EF4-FFF2-40B4-BE49-F238E27FC236}">
                <a16:creationId xmlns:a16="http://schemas.microsoft.com/office/drawing/2014/main" id="{01ECE14F-6216-67C4-9F77-8E101F78DF01}"/>
              </a:ext>
            </a:extLst>
          </p:cNvPr>
          <p:cNvSpPr>
            <a:spLocks noGrp="1"/>
          </p:cNvSpPr>
          <p:nvPr>
            <p:ph type="sldNum" sz="quarter" idx="12"/>
          </p:nvPr>
        </p:nvSpPr>
        <p:spPr/>
        <p:txBody>
          <a:bodyPr/>
          <a:lstStyle/>
          <a:p>
            <a:pPr>
              <a:defRPr/>
            </a:pPr>
            <a:fld id="{524B865F-46F8-4520-B0DD-31ED36EF62D9}" type="slidenum">
              <a:rPr lang="en-US" altLang="zh-CN" smtClean="0"/>
              <a:pPr>
                <a:defRPr/>
              </a:pPr>
              <a:t>51</a:t>
            </a:fld>
            <a:endParaRPr lang="en-US" altLang="zh-CN"/>
          </a:p>
        </p:txBody>
      </p:sp>
    </p:spTree>
  </p:cSld>
  <p:clrMapOvr>
    <a:masterClrMapping/>
  </p:clrMapOvr>
  <p:transition>
    <p:spli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9BBCB002-32E1-8A60-1CC2-5D3CE7129D83}"/>
              </a:ext>
            </a:extLst>
          </p:cNvPr>
          <p:cNvSpPr>
            <a:spLocks noGrp="1" noChangeArrowheads="1"/>
          </p:cNvSpPr>
          <p:nvPr>
            <p:ph type="title"/>
          </p:nvPr>
        </p:nvSpPr>
        <p:spPr/>
        <p:txBody>
          <a:bodyPr/>
          <a:lstStyle/>
          <a:p>
            <a:r>
              <a:rPr lang="en-US" altLang="zh-CN" dirty="0"/>
              <a:t>6.5.2 </a:t>
            </a:r>
            <a:r>
              <a:rPr lang="zh-CN" altLang="en-US" dirty="0"/>
              <a:t>散列函数</a:t>
            </a:r>
          </a:p>
        </p:txBody>
      </p:sp>
      <p:sp>
        <p:nvSpPr>
          <p:cNvPr id="459779" name="Rectangle 3">
            <a:extLst>
              <a:ext uri="{FF2B5EF4-FFF2-40B4-BE49-F238E27FC236}">
                <a16:creationId xmlns:a16="http://schemas.microsoft.com/office/drawing/2014/main" id="{E09AFD81-F777-9518-B702-86B3A9538E0C}"/>
              </a:ext>
            </a:extLst>
          </p:cNvPr>
          <p:cNvSpPr>
            <a:spLocks noGrp="1" noChangeArrowheads="1"/>
          </p:cNvSpPr>
          <p:nvPr>
            <p:ph type="body" idx="1"/>
          </p:nvPr>
        </p:nvSpPr>
        <p:spPr/>
        <p:txBody>
          <a:bodyPr>
            <a:normAutofit fontScale="85000" lnSpcReduction="20000"/>
          </a:bodyPr>
          <a:lstStyle/>
          <a:p>
            <a:r>
              <a:rPr lang="zh-CN" altLang="en-US" dirty="0"/>
              <a:t>构造散列函数时的几点要求：</a:t>
            </a:r>
          </a:p>
          <a:p>
            <a:pPr lvl="1"/>
            <a:r>
              <a:rPr lang="zh-CN" altLang="en-US" dirty="0"/>
              <a:t>散列函数应是简单的，能在较短的时间内计算出结果。</a:t>
            </a:r>
          </a:p>
          <a:p>
            <a:pPr lvl="1"/>
            <a:r>
              <a:rPr lang="zh-CN" altLang="en-US" dirty="0"/>
              <a:t>散列函数的定义域必须包括需要存储的全部关键码，如果散列表允许有 </a:t>
            </a:r>
            <a:r>
              <a:rPr lang="en-US" altLang="zh-CN" dirty="0"/>
              <a:t>m </a:t>
            </a:r>
            <a:r>
              <a:rPr lang="zh-CN" altLang="en-US" dirty="0"/>
              <a:t>个地址时，其值域必须在 </a:t>
            </a:r>
            <a:r>
              <a:rPr lang="en-US" altLang="zh-CN" dirty="0"/>
              <a:t>0 </a:t>
            </a:r>
            <a:r>
              <a:rPr lang="zh-CN" altLang="en-US" dirty="0"/>
              <a:t>到 </a:t>
            </a:r>
            <a:r>
              <a:rPr lang="en-US" altLang="zh-CN" dirty="0"/>
              <a:t>m-1 </a:t>
            </a:r>
            <a:r>
              <a:rPr lang="zh-CN" altLang="en-US" dirty="0"/>
              <a:t>之间。</a:t>
            </a:r>
          </a:p>
          <a:p>
            <a:pPr lvl="1"/>
            <a:r>
              <a:rPr lang="zh-CN" altLang="en-US" dirty="0"/>
              <a:t>散列函数计算出来的地址应能均匀分布在整个地址空间中 </a:t>
            </a:r>
            <a:r>
              <a:rPr lang="en-US" altLang="zh-CN" dirty="0"/>
              <a:t>: </a:t>
            </a:r>
          </a:p>
          <a:p>
            <a:pPr lvl="2"/>
            <a:r>
              <a:rPr lang="zh-CN" altLang="en-US" dirty="0"/>
              <a:t>从关键码集合中随机抽取一个</a:t>
            </a:r>
            <a:r>
              <a:rPr lang="en-US" altLang="zh-CN" dirty="0"/>
              <a:t>key </a:t>
            </a:r>
            <a:r>
              <a:rPr lang="zh-CN" altLang="en-US" dirty="0"/>
              <a:t>，散列函数的计算结果也应是</a:t>
            </a:r>
            <a:r>
              <a:rPr lang="en-US" altLang="zh-CN" dirty="0"/>
              <a:t>0 </a:t>
            </a:r>
            <a:r>
              <a:rPr lang="zh-CN" altLang="en-US" dirty="0"/>
              <a:t>到 </a:t>
            </a:r>
            <a:r>
              <a:rPr lang="en-US" altLang="zh-CN" dirty="0"/>
              <a:t>m-1 </a:t>
            </a:r>
            <a:r>
              <a:rPr lang="zh-CN" altLang="en-US" dirty="0"/>
              <a:t>中的一个随机值。</a:t>
            </a:r>
            <a:endParaRPr lang="en-US" altLang="zh-CN" dirty="0"/>
          </a:p>
          <a:p>
            <a:r>
              <a:rPr lang="zh-CN" altLang="en-US" dirty="0"/>
              <a:t>以下介绍几种常用的散列函数</a:t>
            </a:r>
          </a:p>
        </p:txBody>
      </p:sp>
      <p:sp>
        <p:nvSpPr>
          <p:cNvPr id="2" name="灯片编号占位符 1">
            <a:extLst>
              <a:ext uri="{FF2B5EF4-FFF2-40B4-BE49-F238E27FC236}">
                <a16:creationId xmlns:a16="http://schemas.microsoft.com/office/drawing/2014/main" id="{F2418F30-A41A-FD5D-5238-4E3679258DF1}"/>
              </a:ext>
            </a:extLst>
          </p:cNvPr>
          <p:cNvSpPr>
            <a:spLocks noGrp="1"/>
          </p:cNvSpPr>
          <p:nvPr>
            <p:ph type="sldNum" sz="quarter" idx="12"/>
          </p:nvPr>
        </p:nvSpPr>
        <p:spPr/>
        <p:txBody>
          <a:bodyPr/>
          <a:lstStyle/>
          <a:p>
            <a:pPr>
              <a:defRPr/>
            </a:pPr>
            <a:fld id="{524B865F-46F8-4520-B0DD-31ED36EF62D9}" type="slidenum">
              <a:rPr lang="en-US" altLang="zh-CN" smtClean="0"/>
              <a:pPr>
                <a:defRPr/>
              </a:pPr>
              <a:t>52</a:t>
            </a:fld>
            <a:endParaRPr lang="en-US" altLang="zh-CN"/>
          </a:p>
        </p:txBody>
      </p:sp>
    </p:spTree>
  </p:cSld>
  <p:clrMapOvr>
    <a:masterClrMapping/>
  </p:clrMapOvr>
  <p:transition>
    <p:spli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1470D020-9C75-E5BE-0690-D9B7659EB43F}"/>
              </a:ext>
            </a:extLst>
          </p:cNvPr>
          <p:cNvSpPr>
            <a:spLocks noGrp="1" noChangeArrowheads="1"/>
          </p:cNvSpPr>
          <p:nvPr>
            <p:ph type="title"/>
          </p:nvPr>
        </p:nvSpPr>
        <p:spPr/>
        <p:txBody>
          <a:bodyPr/>
          <a:lstStyle/>
          <a:p>
            <a:r>
              <a:rPr lang="zh-CN" altLang="en-US" dirty="0"/>
              <a:t>直接定址法</a:t>
            </a:r>
          </a:p>
        </p:txBody>
      </p:sp>
      <p:sp>
        <p:nvSpPr>
          <p:cNvPr id="460803" name="Rectangle 3">
            <a:extLst>
              <a:ext uri="{FF2B5EF4-FFF2-40B4-BE49-F238E27FC236}">
                <a16:creationId xmlns:a16="http://schemas.microsoft.com/office/drawing/2014/main" id="{86FA949C-4956-11DF-BAA6-70FF5DE3FA37}"/>
              </a:ext>
            </a:extLst>
          </p:cNvPr>
          <p:cNvSpPr>
            <a:spLocks noGrp="1" noChangeArrowheads="1"/>
          </p:cNvSpPr>
          <p:nvPr>
            <p:ph type="body" idx="1"/>
          </p:nvPr>
        </p:nvSpPr>
        <p:spPr>
          <a:xfrm>
            <a:off x="628650" y="1825625"/>
            <a:ext cx="8263830" cy="4351338"/>
          </a:xfrm>
        </p:spPr>
        <p:txBody>
          <a:bodyPr>
            <a:normAutofit/>
          </a:bodyPr>
          <a:lstStyle/>
          <a:p>
            <a:r>
              <a:rPr lang="zh-CN" altLang="en-US" dirty="0"/>
              <a:t>此类函数取关键码的某个线性函数值作为散列地址：</a:t>
            </a:r>
          </a:p>
          <a:p>
            <a:pPr lvl="1"/>
            <a:r>
              <a:rPr lang="en-US" altLang="zh-CN" dirty="0"/>
              <a:t>Hash ( key ) </a:t>
            </a:r>
            <a:r>
              <a:rPr lang="zh-CN" altLang="en-US" dirty="0"/>
              <a:t>＝ </a:t>
            </a:r>
            <a:r>
              <a:rPr lang="en-US" altLang="zh-CN" dirty="0"/>
              <a:t>a * key + b   { a, b</a:t>
            </a:r>
            <a:r>
              <a:rPr lang="zh-CN" altLang="en-US" dirty="0"/>
              <a:t>为常数 </a:t>
            </a:r>
            <a:r>
              <a:rPr lang="en-US" altLang="zh-CN" dirty="0"/>
              <a:t>}</a:t>
            </a:r>
          </a:p>
          <a:p>
            <a:r>
              <a:rPr lang="zh-CN" altLang="en-US" dirty="0"/>
              <a:t>这类散列函数是一对一的映射，一般不会产生冲突。但是，它要求散列地址空间的大小与关键码集合的大小相同。       </a:t>
            </a:r>
          </a:p>
        </p:txBody>
      </p:sp>
      <p:sp>
        <p:nvSpPr>
          <p:cNvPr id="2" name="灯片编号占位符 1">
            <a:extLst>
              <a:ext uri="{FF2B5EF4-FFF2-40B4-BE49-F238E27FC236}">
                <a16:creationId xmlns:a16="http://schemas.microsoft.com/office/drawing/2014/main" id="{6CC6BDA3-2AD7-F8C6-8916-614F58D96302}"/>
              </a:ext>
            </a:extLst>
          </p:cNvPr>
          <p:cNvSpPr>
            <a:spLocks noGrp="1"/>
          </p:cNvSpPr>
          <p:nvPr>
            <p:ph type="sldNum" sz="quarter" idx="12"/>
          </p:nvPr>
        </p:nvSpPr>
        <p:spPr/>
        <p:txBody>
          <a:bodyPr/>
          <a:lstStyle/>
          <a:p>
            <a:pPr>
              <a:defRPr/>
            </a:pPr>
            <a:fld id="{524B865F-46F8-4520-B0DD-31ED36EF62D9}" type="slidenum">
              <a:rPr lang="en-US" altLang="zh-CN" smtClean="0"/>
              <a:pPr>
                <a:defRPr/>
              </a:pPr>
              <a:t>53</a:t>
            </a:fld>
            <a:endParaRPr lang="en-US" altLang="zh-CN"/>
          </a:p>
        </p:txBody>
      </p:sp>
    </p:spTree>
  </p:cSld>
  <p:clrMapOvr>
    <a:masterClrMapping/>
  </p:clrMapOvr>
  <p:transition>
    <p:spli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EC8DBE0D-CEC1-044C-20E1-2EB56A70A9C1}"/>
              </a:ext>
            </a:extLst>
          </p:cNvPr>
          <p:cNvSpPr>
            <a:spLocks noGrp="1" noChangeArrowheads="1"/>
          </p:cNvSpPr>
          <p:nvPr>
            <p:ph type="title"/>
          </p:nvPr>
        </p:nvSpPr>
        <p:spPr/>
        <p:txBody>
          <a:bodyPr/>
          <a:lstStyle/>
          <a:p>
            <a:r>
              <a:rPr lang="zh-CN" altLang="en-US"/>
              <a:t>示例</a:t>
            </a:r>
          </a:p>
        </p:txBody>
      </p:sp>
      <p:sp>
        <p:nvSpPr>
          <p:cNvPr id="461827" name="Rectangle 3">
            <a:extLst>
              <a:ext uri="{FF2B5EF4-FFF2-40B4-BE49-F238E27FC236}">
                <a16:creationId xmlns:a16="http://schemas.microsoft.com/office/drawing/2014/main" id="{F96F187E-9F11-4679-D547-5FDB68B29BCD}"/>
              </a:ext>
            </a:extLst>
          </p:cNvPr>
          <p:cNvSpPr>
            <a:spLocks noGrp="1" noChangeArrowheads="1"/>
          </p:cNvSpPr>
          <p:nvPr>
            <p:ph type="body" idx="1"/>
          </p:nvPr>
        </p:nvSpPr>
        <p:spPr/>
        <p:txBody>
          <a:bodyPr>
            <a:normAutofit fontScale="85000" lnSpcReduction="10000"/>
          </a:bodyPr>
          <a:lstStyle/>
          <a:p>
            <a:r>
              <a:rPr lang="zh-CN" altLang="en-US" dirty="0"/>
              <a:t>有一组关键码如下：</a:t>
            </a:r>
            <a:r>
              <a:rPr lang="en-US" altLang="zh-CN" dirty="0"/>
              <a:t>{ 942148,  941269, 940527,  941630,  941805,  941558,  942047, 940001 }</a:t>
            </a:r>
            <a:r>
              <a:rPr lang="zh-CN" altLang="en-US" dirty="0"/>
              <a:t>。散列函数为</a:t>
            </a:r>
          </a:p>
          <a:p>
            <a:pPr lvl="1"/>
            <a:r>
              <a:rPr lang="en-US" altLang="zh-CN" dirty="0"/>
              <a:t>Hash (key) = key - 940000    </a:t>
            </a:r>
          </a:p>
          <a:p>
            <a:r>
              <a:rPr lang="zh-CN" altLang="en-US" dirty="0"/>
              <a:t>计算出的散列地址如下：</a:t>
            </a:r>
            <a:endParaRPr lang="en-US" altLang="zh-CN" dirty="0"/>
          </a:p>
          <a:p>
            <a:pPr lvl="1"/>
            <a:r>
              <a:rPr lang="en-US" altLang="zh-CN" dirty="0"/>
              <a:t>Hash (942148) = 2148     Hash (941269) = 1269</a:t>
            </a:r>
          </a:p>
          <a:p>
            <a:pPr lvl="1"/>
            <a:r>
              <a:rPr lang="en-US" altLang="zh-CN" dirty="0"/>
              <a:t>Hash (940527) = 527       Hash (941630) = 1630</a:t>
            </a:r>
          </a:p>
          <a:p>
            <a:pPr lvl="1"/>
            <a:r>
              <a:rPr lang="en-US" altLang="zh-CN" dirty="0"/>
              <a:t>Hash (941805) = 1805     Hash (941558) = 1558</a:t>
            </a:r>
          </a:p>
          <a:p>
            <a:pPr lvl="1"/>
            <a:r>
              <a:rPr lang="en-US" altLang="zh-CN" dirty="0"/>
              <a:t>Hash (942047) = 2047     Hash (940001) = 1</a:t>
            </a:r>
          </a:p>
        </p:txBody>
      </p:sp>
      <p:sp>
        <p:nvSpPr>
          <p:cNvPr id="2" name="灯片编号占位符 1">
            <a:extLst>
              <a:ext uri="{FF2B5EF4-FFF2-40B4-BE49-F238E27FC236}">
                <a16:creationId xmlns:a16="http://schemas.microsoft.com/office/drawing/2014/main" id="{ADE6BD8D-5FA9-A7B4-0211-BD634555A962}"/>
              </a:ext>
            </a:extLst>
          </p:cNvPr>
          <p:cNvSpPr>
            <a:spLocks noGrp="1"/>
          </p:cNvSpPr>
          <p:nvPr>
            <p:ph type="sldNum" sz="quarter" idx="12"/>
          </p:nvPr>
        </p:nvSpPr>
        <p:spPr/>
        <p:txBody>
          <a:bodyPr/>
          <a:lstStyle/>
          <a:p>
            <a:pPr>
              <a:defRPr/>
            </a:pPr>
            <a:fld id="{524B865F-46F8-4520-B0DD-31ED36EF62D9}" type="slidenum">
              <a:rPr lang="en-US" altLang="zh-CN" smtClean="0"/>
              <a:pPr>
                <a:defRPr/>
              </a:pPr>
              <a:t>54</a:t>
            </a:fld>
            <a:endParaRPr lang="en-US" altLang="zh-CN"/>
          </a:p>
        </p:txBody>
      </p:sp>
    </p:spTree>
  </p:cSld>
  <p:clrMapOvr>
    <a:masterClrMapping/>
  </p:clrMapOvr>
  <p:transition>
    <p:spli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1026">
            <a:extLst>
              <a:ext uri="{FF2B5EF4-FFF2-40B4-BE49-F238E27FC236}">
                <a16:creationId xmlns:a16="http://schemas.microsoft.com/office/drawing/2014/main" id="{16163D69-8392-450F-FB2A-825F0E4EF73B}"/>
              </a:ext>
            </a:extLst>
          </p:cNvPr>
          <p:cNvSpPr>
            <a:spLocks noGrp="1" noChangeArrowheads="1"/>
          </p:cNvSpPr>
          <p:nvPr>
            <p:ph type="title"/>
          </p:nvPr>
        </p:nvSpPr>
        <p:spPr/>
        <p:txBody>
          <a:bodyPr/>
          <a:lstStyle/>
          <a:p>
            <a:r>
              <a:rPr lang="zh-CN" altLang="en-US"/>
              <a:t>除留余数法</a:t>
            </a:r>
          </a:p>
        </p:txBody>
      </p:sp>
      <p:sp>
        <p:nvSpPr>
          <p:cNvPr id="542723" name="Rectangle 1027">
            <a:extLst>
              <a:ext uri="{FF2B5EF4-FFF2-40B4-BE49-F238E27FC236}">
                <a16:creationId xmlns:a16="http://schemas.microsoft.com/office/drawing/2014/main" id="{81F0D937-96F9-6A25-9BEB-C299B443EA6D}"/>
              </a:ext>
            </a:extLst>
          </p:cNvPr>
          <p:cNvSpPr>
            <a:spLocks noGrp="1" noChangeArrowheads="1"/>
          </p:cNvSpPr>
          <p:nvPr>
            <p:ph type="body" idx="1"/>
          </p:nvPr>
        </p:nvSpPr>
        <p:spPr/>
        <p:txBody>
          <a:bodyPr>
            <a:normAutofit fontScale="85000" lnSpcReduction="10000"/>
          </a:bodyPr>
          <a:lstStyle/>
          <a:p>
            <a:r>
              <a:rPr lang="zh-CN" altLang="en-US" dirty="0"/>
              <a:t>设散列表中允许地址数为 </a:t>
            </a:r>
            <a:r>
              <a:rPr lang="en-US" altLang="zh-CN" dirty="0"/>
              <a:t>m, </a:t>
            </a:r>
            <a:r>
              <a:rPr lang="zh-CN" altLang="en-US" b="1" dirty="0"/>
              <a:t>取一个不大于 </a:t>
            </a:r>
            <a:r>
              <a:rPr lang="en-US" altLang="zh-CN" b="1" dirty="0"/>
              <a:t>m, </a:t>
            </a:r>
            <a:r>
              <a:rPr lang="zh-CN" altLang="en-US" b="1" dirty="0"/>
              <a:t>但最接近于或等于 </a:t>
            </a:r>
            <a:r>
              <a:rPr lang="en-US" altLang="zh-CN" b="1" dirty="0"/>
              <a:t>m </a:t>
            </a:r>
            <a:r>
              <a:rPr lang="zh-CN" altLang="en-US" b="1" dirty="0"/>
              <a:t>的质数 </a:t>
            </a:r>
            <a:r>
              <a:rPr lang="en-US" altLang="zh-CN" b="1" dirty="0"/>
              <a:t>p </a:t>
            </a:r>
            <a:r>
              <a:rPr lang="zh-CN" altLang="en-US" b="1" dirty="0"/>
              <a:t>作为除数</a:t>
            </a:r>
            <a:r>
              <a:rPr lang="en-US" altLang="zh-CN" dirty="0"/>
              <a:t>, </a:t>
            </a:r>
            <a:r>
              <a:rPr lang="zh-CN" altLang="en-US" dirty="0"/>
              <a:t>利用以下函数把关键码转换成散列地址：</a:t>
            </a:r>
          </a:p>
          <a:p>
            <a:pPr lvl="1"/>
            <a:r>
              <a:rPr lang="en-US" altLang="zh-CN" dirty="0"/>
              <a:t>hash ( key ) = key % p    </a:t>
            </a:r>
            <a:r>
              <a:rPr lang="en-US" altLang="zh-CN" dirty="0" err="1"/>
              <a:t>p</a:t>
            </a:r>
            <a:r>
              <a:rPr lang="en-US" altLang="zh-CN" dirty="0"/>
              <a:t> </a:t>
            </a:r>
            <a:r>
              <a:rPr lang="en-US" altLang="zh-CN" dirty="0">
                <a:sym typeface="Symbol" panose="05050102010706020507" pitchFamily="18" charset="2"/>
              </a:rPr>
              <a:t></a:t>
            </a:r>
            <a:r>
              <a:rPr lang="en-US" altLang="zh-CN" dirty="0"/>
              <a:t> m</a:t>
            </a:r>
          </a:p>
          <a:p>
            <a:r>
              <a:rPr lang="zh-CN" altLang="en-US" dirty="0"/>
              <a:t>例如</a:t>
            </a:r>
            <a:r>
              <a:rPr lang="en-US" altLang="zh-CN" dirty="0"/>
              <a:t>: </a:t>
            </a:r>
            <a:r>
              <a:rPr lang="zh-CN" altLang="en-US" dirty="0"/>
              <a:t>关键码</a:t>
            </a:r>
            <a:r>
              <a:rPr lang="en-US" altLang="zh-CN" dirty="0"/>
              <a:t>key = 100, Hash</a:t>
            </a:r>
            <a:r>
              <a:rPr lang="zh-CN" altLang="en-US" dirty="0"/>
              <a:t>表大小</a:t>
            </a:r>
            <a:r>
              <a:rPr lang="en-US" altLang="zh-CN" dirty="0"/>
              <a:t>m = 15,</a:t>
            </a:r>
            <a:r>
              <a:rPr lang="zh-CN" altLang="en-US" dirty="0"/>
              <a:t>取质数</a:t>
            </a:r>
            <a:r>
              <a:rPr lang="en-US" altLang="zh-CN" dirty="0"/>
              <a:t>p= 13</a:t>
            </a:r>
            <a:r>
              <a:rPr lang="zh-CN" altLang="en-US" dirty="0"/>
              <a:t>。</a:t>
            </a:r>
            <a:r>
              <a:rPr lang="en-US" altLang="zh-CN" dirty="0"/>
              <a:t>Hash</a:t>
            </a:r>
            <a:r>
              <a:rPr lang="zh-CN" altLang="en-US" dirty="0"/>
              <a:t>函数</a:t>
            </a:r>
            <a:r>
              <a:rPr lang="en-US" altLang="zh-CN" dirty="0"/>
              <a:t>hash ( key ) = key % p</a:t>
            </a:r>
            <a:r>
              <a:rPr lang="zh-CN" altLang="en-US" dirty="0"/>
              <a:t>，则有：</a:t>
            </a:r>
            <a:r>
              <a:rPr lang="en-US" altLang="zh-CN" dirty="0"/>
              <a:t>hash ( 100 ) = 100 % 13 = 9</a:t>
            </a:r>
          </a:p>
          <a:p>
            <a:pPr lvl="1"/>
            <a:r>
              <a:rPr lang="zh-CN" altLang="en-US" dirty="0"/>
              <a:t>注意：有时候有些散列地址（例如这里的</a:t>
            </a:r>
            <a:r>
              <a:rPr lang="en-US" altLang="zh-CN" dirty="0"/>
              <a:t>13</a:t>
            </a:r>
            <a:r>
              <a:rPr lang="zh-CN" altLang="en-US" dirty="0"/>
              <a:t>和</a:t>
            </a:r>
            <a:r>
              <a:rPr lang="en-US" altLang="zh-CN" dirty="0"/>
              <a:t>14</a:t>
            </a:r>
            <a:r>
              <a:rPr lang="zh-CN" altLang="en-US" dirty="0"/>
              <a:t>）是不可能用散列函数计算出来的</a:t>
            </a:r>
            <a:r>
              <a:rPr lang="en-US" altLang="zh-CN" dirty="0"/>
              <a:t>, </a:t>
            </a:r>
            <a:r>
              <a:rPr lang="zh-CN" altLang="en-US" dirty="0"/>
              <a:t>只可能在处理冲突时达到这些地址。</a:t>
            </a:r>
            <a:endParaRPr lang="en-US" altLang="zh-CN" dirty="0"/>
          </a:p>
        </p:txBody>
      </p:sp>
      <p:sp>
        <p:nvSpPr>
          <p:cNvPr id="2" name="灯片编号占位符 1">
            <a:extLst>
              <a:ext uri="{FF2B5EF4-FFF2-40B4-BE49-F238E27FC236}">
                <a16:creationId xmlns:a16="http://schemas.microsoft.com/office/drawing/2014/main" id="{7EBE5657-490A-00FB-8551-9E62C35E07E7}"/>
              </a:ext>
            </a:extLst>
          </p:cNvPr>
          <p:cNvSpPr>
            <a:spLocks noGrp="1"/>
          </p:cNvSpPr>
          <p:nvPr>
            <p:ph type="sldNum" sz="quarter" idx="12"/>
          </p:nvPr>
        </p:nvSpPr>
        <p:spPr/>
        <p:txBody>
          <a:bodyPr/>
          <a:lstStyle/>
          <a:p>
            <a:pPr>
              <a:defRPr/>
            </a:pPr>
            <a:fld id="{524B865F-46F8-4520-B0DD-31ED36EF62D9}" type="slidenum">
              <a:rPr lang="en-US" altLang="zh-CN" smtClean="0"/>
              <a:pPr>
                <a:defRPr/>
              </a:pPr>
              <a:t>55</a:t>
            </a:fld>
            <a:endParaRPr lang="en-US" altLang="zh-CN"/>
          </a:p>
        </p:txBody>
      </p:sp>
    </p:spTree>
  </p:cSld>
  <p:clrMapOvr>
    <a:masterClrMapping/>
  </p:clrMapOvr>
  <p:transition>
    <p:spli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a:extLst>
              <a:ext uri="{FF2B5EF4-FFF2-40B4-BE49-F238E27FC236}">
                <a16:creationId xmlns:a16="http://schemas.microsoft.com/office/drawing/2014/main" id="{FB948163-DD2A-3260-A16E-F85C0EA7243D}"/>
              </a:ext>
            </a:extLst>
          </p:cNvPr>
          <p:cNvSpPr>
            <a:spLocks noGrp="1" noChangeArrowheads="1"/>
          </p:cNvSpPr>
          <p:nvPr>
            <p:ph type="title"/>
          </p:nvPr>
        </p:nvSpPr>
        <p:spPr/>
        <p:txBody>
          <a:bodyPr/>
          <a:lstStyle/>
          <a:p>
            <a:r>
              <a:rPr lang="zh-CN" altLang="en-US"/>
              <a:t>数字分析法</a:t>
            </a:r>
          </a:p>
        </p:txBody>
      </p:sp>
      <p:sp>
        <p:nvSpPr>
          <p:cNvPr id="462851" name="Rectangle 3">
            <a:extLst>
              <a:ext uri="{FF2B5EF4-FFF2-40B4-BE49-F238E27FC236}">
                <a16:creationId xmlns:a16="http://schemas.microsoft.com/office/drawing/2014/main" id="{7FF2BCCB-E7E7-E3ED-0FFD-B21FB4774896}"/>
              </a:ext>
            </a:extLst>
          </p:cNvPr>
          <p:cNvSpPr>
            <a:spLocks noGrp="1" noChangeArrowheads="1"/>
          </p:cNvSpPr>
          <p:nvPr>
            <p:ph type="body" idx="1"/>
          </p:nvPr>
        </p:nvSpPr>
        <p:spPr/>
        <p:txBody>
          <a:bodyPr>
            <a:normAutofit fontScale="92500" lnSpcReduction="10000"/>
          </a:bodyPr>
          <a:lstStyle/>
          <a:p>
            <a:r>
              <a:rPr lang="zh-CN" altLang="en-US" dirty="0"/>
              <a:t>数字分析法仅适用于事先明确知道表中所有关键码每一位数值的分布情况，它完全依赖于关键码集合。</a:t>
            </a:r>
            <a:r>
              <a:rPr lang="zh-CN" altLang="en-US" u="sng" dirty="0"/>
              <a:t>如果换一个关键码集合，选择哪几位要重新决定</a:t>
            </a:r>
            <a:r>
              <a:rPr lang="zh-CN" altLang="en-US" dirty="0"/>
              <a:t>。</a:t>
            </a:r>
          </a:p>
          <a:p>
            <a:r>
              <a:rPr lang="zh-CN" altLang="en-US" dirty="0"/>
              <a:t>设有 </a:t>
            </a:r>
            <a:r>
              <a:rPr lang="en-US" altLang="zh-CN" dirty="0"/>
              <a:t>n </a:t>
            </a:r>
            <a:r>
              <a:rPr lang="zh-CN" altLang="en-US" dirty="0"/>
              <a:t>个 </a:t>
            </a:r>
            <a:r>
              <a:rPr lang="en-US" altLang="zh-CN" dirty="0"/>
              <a:t>d </a:t>
            </a:r>
            <a:r>
              <a:rPr lang="zh-CN" altLang="en-US" dirty="0"/>
              <a:t>位数</a:t>
            </a:r>
            <a:r>
              <a:rPr lang="en-US" altLang="zh-CN" dirty="0"/>
              <a:t>,   </a:t>
            </a:r>
            <a:r>
              <a:rPr lang="zh-CN" altLang="en-US" dirty="0"/>
              <a:t>每一位可能有 </a:t>
            </a:r>
            <a:r>
              <a:rPr lang="en-US" altLang="zh-CN" dirty="0"/>
              <a:t>r </a:t>
            </a:r>
            <a:r>
              <a:rPr lang="zh-CN" altLang="en-US" dirty="0"/>
              <a:t>种不同的符号。这 </a:t>
            </a:r>
            <a:r>
              <a:rPr lang="en-US" altLang="zh-CN" dirty="0"/>
              <a:t>r </a:t>
            </a:r>
            <a:r>
              <a:rPr lang="zh-CN" altLang="en-US" dirty="0"/>
              <a:t>种不同符号在各位上出现的频率不一定相同。 可根据散列表的大小，选取其中各种符号分布均匀的若干位作为散列地址。</a:t>
            </a:r>
          </a:p>
        </p:txBody>
      </p:sp>
      <p:sp>
        <p:nvSpPr>
          <p:cNvPr id="2" name="灯片编号占位符 1">
            <a:extLst>
              <a:ext uri="{FF2B5EF4-FFF2-40B4-BE49-F238E27FC236}">
                <a16:creationId xmlns:a16="http://schemas.microsoft.com/office/drawing/2014/main" id="{24AC0832-E3FA-800E-3476-17FC6E686F05}"/>
              </a:ext>
            </a:extLst>
          </p:cNvPr>
          <p:cNvSpPr>
            <a:spLocks noGrp="1"/>
          </p:cNvSpPr>
          <p:nvPr>
            <p:ph type="sldNum" sz="quarter" idx="12"/>
          </p:nvPr>
        </p:nvSpPr>
        <p:spPr/>
        <p:txBody>
          <a:bodyPr/>
          <a:lstStyle/>
          <a:p>
            <a:pPr>
              <a:defRPr/>
            </a:pPr>
            <a:fld id="{524B865F-46F8-4520-B0DD-31ED36EF62D9}" type="slidenum">
              <a:rPr lang="en-US" altLang="zh-CN" smtClean="0"/>
              <a:pPr>
                <a:defRPr/>
              </a:pPr>
              <a:t>56</a:t>
            </a:fld>
            <a:endParaRPr lang="en-US" altLang="zh-CN"/>
          </a:p>
        </p:txBody>
      </p:sp>
    </p:spTree>
  </p:cSld>
  <p:clrMapOvr>
    <a:masterClrMapping/>
  </p:clrMapOvr>
  <p:transition>
    <p:spli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84A723B-7F6E-451A-B527-42326B46A331}"/>
              </a:ext>
            </a:extLst>
          </p:cNvPr>
          <p:cNvSpPr>
            <a:spLocks noGrp="1"/>
          </p:cNvSpPr>
          <p:nvPr>
            <p:ph type="title"/>
          </p:nvPr>
        </p:nvSpPr>
        <p:spPr/>
        <p:txBody>
          <a:bodyPr/>
          <a:lstStyle/>
          <a:p>
            <a:r>
              <a:rPr lang="zh-CN" altLang="en-US" dirty="0"/>
              <a:t>计算公式</a:t>
            </a:r>
          </a:p>
        </p:txBody>
      </p:sp>
      <mc:AlternateContent xmlns:mc="http://schemas.openxmlformats.org/markup-compatibility/2006" xmlns:a14="http://schemas.microsoft.com/office/drawing/2010/main">
        <mc:Choice Requires="a14">
          <p:sp>
            <p:nvSpPr>
              <p:cNvPr id="463874" name="Rectangle 2">
                <a:extLst>
                  <a:ext uri="{FF2B5EF4-FFF2-40B4-BE49-F238E27FC236}">
                    <a16:creationId xmlns:a16="http://schemas.microsoft.com/office/drawing/2014/main" id="{6C862B0C-66EE-3F03-1D67-F30051D87983}"/>
                  </a:ext>
                </a:extLst>
              </p:cNvPr>
              <p:cNvSpPr>
                <a:spLocks noGrp="1" noChangeArrowheads="1"/>
              </p:cNvSpPr>
              <p:nvPr>
                <p:ph type="body" idx="1"/>
              </p:nvPr>
            </p:nvSpPr>
            <p:spPr>
              <a:xfrm>
                <a:off x="628650" y="1825625"/>
                <a:ext cx="8119814" cy="4351338"/>
              </a:xfrm>
            </p:spPr>
            <p:txBody>
              <a:bodyPr>
                <a:normAutofit/>
              </a:bodyPr>
              <a:lstStyle/>
              <a:p>
                <a:r>
                  <a:rPr lang="zh-CN" altLang="en-US" dirty="0"/>
                  <a:t>计算第</a:t>
                </a:r>
                <a:r>
                  <a:rPr lang="en-US" altLang="zh-CN" dirty="0"/>
                  <a:t>k</a:t>
                </a:r>
                <a:r>
                  <a:rPr lang="zh-CN" altLang="en-US" dirty="0"/>
                  <a:t>位符号分布均匀度 </a:t>
                </a:r>
                <a:r>
                  <a:rPr lang="zh-CN" altLang="en-US" dirty="0">
                    <a:sym typeface="Symbol" pitchFamily="18" charset="2"/>
                  </a:rPr>
                  <a:t></a:t>
                </a:r>
                <a:r>
                  <a:rPr lang="en-US" altLang="zh-CN" baseline="-25000" dirty="0"/>
                  <a:t>k</a:t>
                </a:r>
                <a:r>
                  <a:rPr lang="en-US" altLang="zh-CN" dirty="0"/>
                  <a:t> </a:t>
                </a:r>
                <a:r>
                  <a:rPr lang="zh-CN" altLang="en-US" dirty="0"/>
                  <a:t>的公式：</a:t>
                </a:r>
                <a:endParaRPr lang="en-US" altLang="zh-CN" dirty="0"/>
              </a:p>
              <a:p>
                <a:pPr marL="0" indent="0">
                  <a:buNone/>
                </a:pPr>
                <a:r>
                  <a:rPr lang="zh-CN" altLang="en-US" dirty="0">
                    <a:sym typeface="Symbol" panose="05050102010706020507" pitchFamily="18" charset="2"/>
                  </a:rPr>
                  <a:t>        </a:t>
                </a:r>
                <a:r>
                  <a:rPr lang="en-US" altLang="zh-CN" baseline="-25000" dirty="0">
                    <a:sym typeface="Symbol" panose="05050102010706020507" pitchFamily="18" charset="2"/>
                  </a:rPr>
                  <a:t>k</a:t>
                </a:r>
                <a:r>
                  <a:rPr lang="en-US" altLang="zh-CN" dirty="0">
                    <a:sym typeface="Symbol" panose="05050102010706020507" pitchFamily="18" charset="2"/>
                  </a:rPr>
                  <a:t> = </a:t>
                </a:r>
                <a14:m>
                  <m:oMath xmlns:m="http://schemas.openxmlformats.org/officeDocument/2006/math">
                    <m:nary>
                      <m:naryPr>
                        <m:chr m:val="∑"/>
                        <m:ctrlPr>
                          <a:rPr lang="en-US" altLang="zh-CN" i="1" smtClean="0">
                            <a:latin typeface="Cambria Math" panose="02040503050406030204" pitchFamily="18" charset="0"/>
                            <a:sym typeface="Symbol" panose="05050102010706020507" pitchFamily="18" charset="2"/>
                          </a:rPr>
                        </m:ctrlPr>
                      </m:naryPr>
                      <m:sub>
                        <m:r>
                          <m:rPr>
                            <m:brk m:alnAt="23"/>
                          </m:rPr>
                          <a:rPr lang="en-US" altLang="zh-CN" b="0" i="1" smtClean="0">
                            <a:latin typeface="Cambria Math" panose="02040503050406030204" pitchFamily="18" charset="0"/>
                            <a:sym typeface="Symbol" panose="05050102010706020507" pitchFamily="18" charset="2"/>
                          </a:rPr>
                          <m:t>𝑖</m:t>
                        </m:r>
                        <m:r>
                          <a:rPr lang="en-US" altLang="zh-CN" b="0" i="1" smtClean="0">
                            <a:latin typeface="Cambria Math" panose="02040503050406030204" pitchFamily="18" charset="0"/>
                            <a:sym typeface="Symbol" panose="05050102010706020507" pitchFamily="18" charset="2"/>
                          </a:rPr>
                          <m:t>=1</m:t>
                        </m:r>
                      </m:sub>
                      <m:sup>
                        <m:r>
                          <a:rPr lang="en-US" altLang="zh-CN" b="0" i="1" smtClean="0">
                            <a:latin typeface="Cambria Math" panose="02040503050406030204" pitchFamily="18" charset="0"/>
                            <a:sym typeface="Symbol" panose="05050102010706020507" pitchFamily="18" charset="2"/>
                          </a:rPr>
                          <m:t>𝑟</m:t>
                        </m:r>
                      </m:sup>
                      <m:e>
                        <m:sSubSup>
                          <m:sSubSupPr>
                            <m:ctrlPr>
                              <a:rPr lang="en-US" altLang="zh-CN" i="1" smtClean="0">
                                <a:latin typeface="Cambria Math" panose="02040503050406030204" pitchFamily="18" charset="0"/>
                                <a:sym typeface="Symbol" panose="05050102010706020507" pitchFamily="18" charset="2"/>
                              </a:rPr>
                            </m:ctrlPr>
                          </m:sSubSupPr>
                          <m:e>
                            <m:r>
                              <a:rPr lang="en-US" altLang="zh-CN" b="0" i="1" smtClean="0">
                                <a:latin typeface="Cambria Math" panose="02040503050406030204" pitchFamily="18" charset="0"/>
                                <a:sym typeface="Symbol" panose="05050102010706020507" pitchFamily="18" charset="2"/>
                              </a:rPr>
                              <m:t>(</m:t>
                            </m:r>
                            <m:r>
                              <a:rPr lang="zh-CN" altLang="en-US" i="1" smtClean="0">
                                <a:latin typeface="Cambria Math" panose="02040503050406030204" pitchFamily="18" charset="0"/>
                                <a:ea typeface="Cambria Math" panose="02040503050406030204" pitchFamily="18" charset="0"/>
                                <a:sym typeface="Symbol" panose="05050102010706020507" pitchFamily="18" charset="2"/>
                              </a:rPr>
                              <m:t>𝛼</m:t>
                            </m:r>
                          </m:e>
                          <m:sub>
                            <m:r>
                              <a:rPr lang="en-US" altLang="zh-CN" b="0" i="1" smtClean="0">
                                <a:latin typeface="Cambria Math" panose="02040503050406030204" pitchFamily="18" charset="0"/>
                                <a:sym typeface="Symbol" panose="05050102010706020507" pitchFamily="18" charset="2"/>
                              </a:rPr>
                              <m:t>𝑖</m:t>
                            </m:r>
                          </m:sub>
                          <m:sup>
                            <m:r>
                              <a:rPr lang="en-US" altLang="zh-CN" b="0" i="1" smtClean="0">
                                <a:latin typeface="Cambria Math" panose="02040503050406030204" pitchFamily="18" charset="0"/>
                                <a:sym typeface="Symbol" panose="05050102010706020507" pitchFamily="18" charset="2"/>
                              </a:rPr>
                              <m:t>𝑘</m:t>
                            </m:r>
                          </m:sup>
                        </m:sSubSup>
                        <m:r>
                          <a:rPr lang="en-US" altLang="zh-CN" b="0" i="1" smtClean="0">
                            <a:latin typeface="Cambria Math" panose="02040503050406030204" pitchFamily="18" charset="0"/>
                            <a:sym typeface="Symbol" panose="05050102010706020507" pitchFamily="18" charset="2"/>
                          </a:rPr>
                          <m:t>−</m:t>
                        </m:r>
                      </m:e>
                    </m:nary>
                  </m:oMath>
                </a14:m>
                <a:r>
                  <a:rPr lang="en-US" altLang="zh-CN" dirty="0"/>
                  <a:t>n/r)</a:t>
                </a:r>
                <a:r>
                  <a:rPr lang="en-US" altLang="zh-CN" baseline="30000" dirty="0"/>
                  <a:t>2</a:t>
                </a:r>
                <a:endParaRPr lang="zh-CN" altLang="en-US" baseline="30000" dirty="0"/>
              </a:p>
              <a:p>
                <a:r>
                  <a:rPr lang="zh-CN" altLang="en-US" dirty="0"/>
                  <a:t>其中，</a:t>
                </a:r>
                <a14:m>
                  <m:oMath xmlns:m="http://schemas.openxmlformats.org/officeDocument/2006/math">
                    <m:sSubSup>
                      <m:sSubSupPr>
                        <m:ctrlPr>
                          <a:rPr lang="en-US" altLang="zh-CN" i="1" smtClean="0">
                            <a:latin typeface="Cambria Math" panose="02040503050406030204" pitchFamily="18" charset="0"/>
                          </a:rPr>
                        </m:ctrlPr>
                      </m:sSubSupPr>
                      <m:e>
                        <m:r>
                          <a:rPr lang="zh-CN" altLang="en-US" i="1" smtClean="0">
                            <a:latin typeface="Cambria Math" panose="02040503050406030204" pitchFamily="18" charset="0"/>
                          </a:rPr>
                          <m:t>𝛼</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𝑘</m:t>
                        </m:r>
                      </m:sup>
                    </m:sSubSup>
                  </m:oMath>
                </a14:m>
                <a:r>
                  <a:rPr lang="zh-CN" altLang="en-US" dirty="0"/>
                  <a:t>表示第 </a:t>
                </a:r>
                <a:r>
                  <a:rPr lang="en-US" altLang="zh-CN" dirty="0" err="1"/>
                  <a:t>i</a:t>
                </a:r>
                <a:r>
                  <a:rPr lang="en-US" altLang="zh-CN" dirty="0"/>
                  <a:t> </a:t>
                </a:r>
                <a:r>
                  <a:rPr lang="zh-CN" altLang="en-US" dirty="0"/>
                  <a:t>个符号在第 </a:t>
                </a:r>
                <a:r>
                  <a:rPr lang="en-US" altLang="zh-CN" dirty="0"/>
                  <a:t>k </a:t>
                </a:r>
                <a:r>
                  <a:rPr lang="zh-CN" altLang="en-US" dirty="0"/>
                  <a:t>位上出现的次数，</a:t>
                </a:r>
                <a:r>
                  <a:rPr lang="en-US" altLang="zh-CN" dirty="0"/>
                  <a:t>n/r </a:t>
                </a:r>
                <a:r>
                  <a:rPr lang="zh-CN" altLang="en-US" dirty="0"/>
                  <a:t>表示各种符号在 </a:t>
                </a:r>
                <a:r>
                  <a:rPr lang="en-US" altLang="zh-CN" dirty="0"/>
                  <a:t>n </a:t>
                </a:r>
                <a:r>
                  <a:rPr lang="zh-CN" altLang="en-US" dirty="0"/>
                  <a:t>个数中均匀出现的期望值。计算出的 </a:t>
                </a:r>
                <a:r>
                  <a:rPr lang="zh-CN" altLang="en-US" dirty="0">
                    <a:sym typeface="Symbol" pitchFamily="18" charset="2"/>
                  </a:rPr>
                  <a:t></a:t>
                </a:r>
                <a:r>
                  <a:rPr lang="en-US" altLang="zh-CN" baseline="-25000" dirty="0">
                    <a:sym typeface="Symbol" pitchFamily="18" charset="2"/>
                  </a:rPr>
                  <a:t>k</a:t>
                </a:r>
                <a:r>
                  <a:rPr lang="en-US" altLang="zh-CN" dirty="0"/>
                  <a:t> </a:t>
                </a:r>
                <a:r>
                  <a:rPr lang="zh-CN" altLang="en-US" dirty="0"/>
                  <a:t>值越小，表明在该位 </a:t>
                </a:r>
                <a:r>
                  <a:rPr lang="en-US" altLang="zh-CN" dirty="0"/>
                  <a:t>(</a:t>
                </a:r>
                <a:r>
                  <a:rPr lang="zh-CN" altLang="en-US" dirty="0"/>
                  <a:t>第 </a:t>
                </a:r>
                <a:r>
                  <a:rPr lang="en-US" altLang="zh-CN" dirty="0"/>
                  <a:t>k </a:t>
                </a:r>
                <a:r>
                  <a:rPr lang="zh-CN" altLang="en-US" dirty="0"/>
                  <a:t>位</a:t>
                </a:r>
                <a:r>
                  <a:rPr lang="en-US" altLang="zh-CN" dirty="0"/>
                  <a:t>) </a:t>
                </a:r>
                <a:r>
                  <a:rPr lang="zh-CN" altLang="en-US" dirty="0"/>
                  <a:t>各种符号分布得越均匀。</a:t>
                </a:r>
              </a:p>
            </p:txBody>
          </p:sp>
        </mc:Choice>
        <mc:Fallback xmlns="">
          <p:sp>
            <p:nvSpPr>
              <p:cNvPr id="463874" name="Rectangle 2">
                <a:extLst>
                  <a:ext uri="{FF2B5EF4-FFF2-40B4-BE49-F238E27FC236}">
                    <a16:creationId xmlns:a16="http://schemas.microsoft.com/office/drawing/2014/main" id="{6C862B0C-66EE-3F03-1D67-F30051D87983}"/>
                  </a:ext>
                </a:extLst>
              </p:cNvPr>
              <p:cNvSpPr>
                <a:spLocks noGrp="1" noRot="1" noChangeAspect="1" noMove="1" noResize="1" noEditPoints="1" noAdjustHandles="1" noChangeArrowheads="1" noChangeShapeType="1" noTextEdit="1"/>
              </p:cNvSpPr>
              <p:nvPr>
                <p:ph type="body" idx="1"/>
              </p:nvPr>
            </p:nvSpPr>
            <p:spPr>
              <a:xfrm>
                <a:off x="628650" y="1825625"/>
                <a:ext cx="8119814" cy="4351338"/>
              </a:xfrm>
              <a:blipFill>
                <a:blip r:embed="rId2"/>
                <a:stretch>
                  <a:fillRect l="-2027" t="-2521" r="-2102" b="-2381"/>
                </a:stretch>
              </a:blipFill>
            </p:spPr>
            <p:txBody>
              <a:bodyPr/>
              <a:lstStyle/>
              <a:p>
                <a:r>
                  <a:rPr lang="zh-CN" altLang="en-US">
                    <a:noFill/>
                  </a:rPr>
                  <a:t> </a:t>
                </a:r>
              </a:p>
            </p:txBody>
          </p:sp>
        </mc:Fallback>
      </mc:AlternateContent>
      <p:sp>
        <p:nvSpPr>
          <p:cNvPr id="2" name="灯片编号占位符 1">
            <a:extLst>
              <a:ext uri="{FF2B5EF4-FFF2-40B4-BE49-F238E27FC236}">
                <a16:creationId xmlns:a16="http://schemas.microsoft.com/office/drawing/2014/main" id="{79D0740B-DC76-3628-FD79-D01AF695F3D4}"/>
              </a:ext>
            </a:extLst>
          </p:cNvPr>
          <p:cNvSpPr>
            <a:spLocks noGrp="1"/>
          </p:cNvSpPr>
          <p:nvPr>
            <p:ph type="sldNum" sz="quarter" idx="12"/>
          </p:nvPr>
        </p:nvSpPr>
        <p:spPr/>
        <p:txBody>
          <a:bodyPr/>
          <a:lstStyle/>
          <a:p>
            <a:pPr>
              <a:defRPr/>
            </a:pPr>
            <a:fld id="{524B865F-46F8-4520-B0DD-31ED36EF62D9}" type="slidenum">
              <a:rPr lang="en-US" altLang="zh-CN" smtClean="0"/>
              <a:pPr>
                <a:defRPr/>
              </a:pPr>
              <a:t>57</a:t>
            </a:fld>
            <a:endParaRPr lang="en-US" altLang="zh-CN"/>
          </a:p>
        </p:txBody>
      </p:sp>
    </p:spTree>
  </p:cSld>
  <p:clrMapOvr>
    <a:masterClrMapping/>
  </p:clrMapOvr>
  <p:transition>
    <p:spli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4">
            <a:extLst>
              <a:ext uri="{FF2B5EF4-FFF2-40B4-BE49-F238E27FC236}">
                <a16:creationId xmlns:a16="http://schemas.microsoft.com/office/drawing/2014/main" id="{BC86D37A-76B1-E0E0-D66F-11C5442BABFB}"/>
              </a:ext>
            </a:extLst>
          </p:cNvPr>
          <p:cNvSpPr>
            <a:spLocks noGrp="1" noChangeArrowheads="1"/>
          </p:cNvSpPr>
          <p:nvPr>
            <p:ph type="title"/>
          </p:nvPr>
        </p:nvSpPr>
        <p:spPr/>
        <p:txBody>
          <a:bodyPr/>
          <a:lstStyle/>
          <a:p>
            <a:pPr eaLnBrk="1" hangingPunct="1"/>
            <a:r>
              <a:rPr lang="zh-CN" altLang="en-US" dirty="0"/>
              <a:t>例</a:t>
            </a:r>
          </a:p>
        </p:txBody>
      </p:sp>
      <p:sp>
        <p:nvSpPr>
          <p:cNvPr id="2" name="内容占位符 1">
            <a:extLst>
              <a:ext uri="{FF2B5EF4-FFF2-40B4-BE49-F238E27FC236}">
                <a16:creationId xmlns:a16="http://schemas.microsoft.com/office/drawing/2014/main" id="{B77DBE8E-A178-4998-9269-82074F778291}"/>
              </a:ext>
            </a:extLst>
          </p:cNvPr>
          <p:cNvSpPr>
            <a:spLocks noGrp="1"/>
          </p:cNvSpPr>
          <p:nvPr>
            <p:ph sz="half" idx="1"/>
          </p:nvPr>
        </p:nvSpPr>
        <p:spPr>
          <a:xfrm>
            <a:off x="628650" y="1825624"/>
            <a:ext cx="3151262" cy="4816475"/>
          </a:xfrm>
          <a:solidFill>
            <a:schemeClr val="bg2">
              <a:lumMod val="90000"/>
            </a:schemeClr>
          </a:solidFill>
        </p:spPr>
        <p:txBody>
          <a:bodyPr>
            <a:normAutofit lnSpcReduction="10000"/>
          </a:bodyPr>
          <a:lstStyle/>
          <a:p>
            <a:r>
              <a:rPr lang="en-US" altLang="zh-CN" sz="2800" dirty="0"/>
              <a:t>9   4   2   1   4   8</a:t>
            </a:r>
          </a:p>
          <a:p>
            <a:r>
              <a:rPr lang="en-US" altLang="zh-CN" sz="2800" dirty="0"/>
              <a:t>9   4   1   2   6   9</a:t>
            </a:r>
          </a:p>
          <a:p>
            <a:pPr>
              <a:defRPr/>
            </a:pPr>
            <a:r>
              <a:rPr lang="en-US" altLang="zh-CN" sz="2800" dirty="0"/>
              <a:t>9   4   0   5   2   7</a:t>
            </a:r>
          </a:p>
          <a:p>
            <a:pPr>
              <a:defRPr/>
            </a:pPr>
            <a:r>
              <a:rPr lang="en-US" altLang="zh-CN" sz="2800" dirty="0"/>
              <a:t>9   4   1   6   3   0</a:t>
            </a:r>
          </a:p>
          <a:p>
            <a:pPr>
              <a:defRPr/>
            </a:pPr>
            <a:r>
              <a:rPr lang="en-US" altLang="zh-CN" sz="2800" dirty="0"/>
              <a:t>9   4   1   8   0   5</a:t>
            </a:r>
          </a:p>
          <a:p>
            <a:pPr>
              <a:defRPr/>
            </a:pPr>
            <a:r>
              <a:rPr lang="en-US" altLang="zh-CN" sz="2800" dirty="0"/>
              <a:t>9   4   1   5   5   8</a:t>
            </a:r>
          </a:p>
          <a:p>
            <a:pPr>
              <a:defRPr/>
            </a:pPr>
            <a:r>
              <a:rPr lang="en-US" altLang="zh-CN" sz="2800" dirty="0"/>
              <a:t>9   4   2   0   4   7</a:t>
            </a:r>
          </a:p>
          <a:p>
            <a:pPr>
              <a:defRPr/>
            </a:pPr>
            <a:r>
              <a:rPr lang="en-US" altLang="zh-CN" sz="2800" dirty="0"/>
              <a:t>9   4   0   0   0   1</a:t>
            </a:r>
          </a:p>
          <a:p>
            <a:pPr marL="0" indent="0">
              <a:buNone/>
              <a:defRPr/>
            </a:pPr>
            <a:r>
              <a:rPr lang="en-US" altLang="zh-CN" sz="2800" dirty="0"/>
              <a:t> ① ②  ③ ④ ⑤ ⑥ 	</a:t>
            </a:r>
          </a:p>
        </p:txBody>
      </p:sp>
      <p:sp>
        <p:nvSpPr>
          <p:cNvPr id="4" name="内容占位符 3">
            <a:extLst>
              <a:ext uri="{FF2B5EF4-FFF2-40B4-BE49-F238E27FC236}">
                <a16:creationId xmlns:a16="http://schemas.microsoft.com/office/drawing/2014/main" id="{195D6065-D802-4D73-AC76-98516985ABE2}"/>
              </a:ext>
            </a:extLst>
          </p:cNvPr>
          <p:cNvSpPr>
            <a:spLocks noGrp="1"/>
          </p:cNvSpPr>
          <p:nvPr>
            <p:ph sz="half" idx="2"/>
          </p:nvPr>
        </p:nvSpPr>
        <p:spPr>
          <a:xfrm>
            <a:off x="4067944" y="1825625"/>
            <a:ext cx="4447406" cy="4816474"/>
          </a:xfrm>
          <a:solidFill>
            <a:schemeClr val="bg2">
              <a:lumMod val="90000"/>
            </a:schemeClr>
          </a:solidFill>
        </p:spPr>
        <p:txBody>
          <a:bodyPr>
            <a:normAutofit lnSpcReduction="10000"/>
          </a:bodyPr>
          <a:lstStyle/>
          <a:p>
            <a:r>
              <a:rPr lang="en-US" altLang="zh-CN" sz="2800" dirty="0"/>
              <a:t>①</a:t>
            </a:r>
            <a:r>
              <a:rPr lang="zh-CN" altLang="en-US" sz="2800" dirty="0"/>
              <a:t>位， </a:t>
            </a:r>
            <a:r>
              <a:rPr lang="zh-CN" altLang="en-US" sz="2800" dirty="0">
                <a:sym typeface="Symbol" pitchFamily="18" charset="2"/>
              </a:rPr>
              <a:t></a:t>
            </a:r>
            <a:r>
              <a:rPr lang="en-US" altLang="zh-CN" sz="2800" baseline="-25000" dirty="0">
                <a:sym typeface="Symbol" pitchFamily="18" charset="2"/>
              </a:rPr>
              <a:t>1</a:t>
            </a:r>
            <a:r>
              <a:rPr lang="en-US" altLang="zh-CN" sz="2800" dirty="0"/>
              <a:t> = 57.60</a:t>
            </a:r>
          </a:p>
          <a:p>
            <a:r>
              <a:rPr lang="en-US" altLang="zh-CN" sz="2800" dirty="0"/>
              <a:t>②</a:t>
            </a:r>
            <a:r>
              <a:rPr lang="zh-CN" altLang="en-US" sz="2800" dirty="0"/>
              <a:t>位， </a:t>
            </a:r>
            <a:r>
              <a:rPr lang="zh-CN" altLang="en-US" sz="2800" dirty="0">
                <a:sym typeface="Symbol" pitchFamily="18" charset="2"/>
              </a:rPr>
              <a:t></a:t>
            </a:r>
            <a:r>
              <a:rPr lang="en-US" altLang="zh-CN" sz="2800" baseline="-25000" dirty="0">
                <a:sym typeface="Symbol" pitchFamily="18" charset="2"/>
              </a:rPr>
              <a:t>2</a:t>
            </a:r>
            <a:r>
              <a:rPr lang="en-US" altLang="zh-CN" sz="2800" dirty="0"/>
              <a:t> = 57.60</a:t>
            </a:r>
          </a:p>
          <a:p>
            <a:r>
              <a:rPr lang="en-US" altLang="zh-CN" sz="2800" dirty="0"/>
              <a:t>③</a:t>
            </a:r>
            <a:r>
              <a:rPr lang="zh-CN" altLang="en-US" sz="2800" dirty="0"/>
              <a:t>位， </a:t>
            </a:r>
            <a:r>
              <a:rPr lang="zh-CN" altLang="en-US" sz="2800" dirty="0">
                <a:sym typeface="Symbol" pitchFamily="18" charset="2"/>
              </a:rPr>
              <a:t></a:t>
            </a:r>
            <a:r>
              <a:rPr lang="en-US" altLang="zh-CN" sz="2800" baseline="-25000" dirty="0">
                <a:sym typeface="Symbol" pitchFamily="18" charset="2"/>
              </a:rPr>
              <a:t>3</a:t>
            </a:r>
            <a:r>
              <a:rPr lang="en-US" altLang="zh-CN" sz="2800" dirty="0"/>
              <a:t> = 17.60</a:t>
            </a:r>
          </a:p>
          <a:p>
            <a:r>
              <a:rPr lang="en-US" altLang="zh-CN" sz="2800" dirty="0"/>
              <a:t>④</a:t>
            </a:r>
            <a:r>
              <a:rPr lang="zh-CN" altLang="en-US" sz="2800" dirty="0"/>
              <a:t>位， </a:t>
            </a:r>
            <a:r>
              <a:rPr lang="zh-CN" altLang="en-US" sz="2800" dirty="0">
                <a:sym typeface="Symbol" pitchFamily="18" charset="2"/>
              </a:rPr>
              <a:t></a:t>
            </a:r>
            <a:r>
              <a:rPr lang="en-US" altLang="zh-CN" sz="2800" baseline="-25000" dirty="0">
                <a:sym typeface="Symbol" pitchFamily="18" charset="2"/>
              </a:rPr>
              <a:t>4</a:t>
            </a:r>
            <a:r>
              <a:rPr lang="en-US" altLang="zh-CN" sz="2800" dirty="0"/>
              <a:t> = 5.60</a:t>
            </a:r>
          </a:p>
          <a:p>
            <a:r>
              <a:rPr lang="en-US" altLang="zh-CN" sz="2800" dirty="0"/>
              <a:t>⑤</a:t>
            </a:r>
            <a:r>
              <a:rPr lang="zh-CN" altLang="en-US" sz="2800" dirty="0"/>
              <a:t>位， </a:t>
            </a:r>
            <a:r>
              <a:rPr lang="zh-CN" altLang="en-US" sz="2800" dirty="0">
                <a:sym typeface="Symbol" pitchFamily="18" charset="2"/>
              </a:rPr>
              <a:t></a:t>
            </a:r>
            <a:r>
              <a:rPr lang="en-US" altLang="zh-CN" sz="2800" baseline="-25000" dirty="0">
                <a:sym typeface="Symbol" pitchFamily="18" charset="2"/>
              </a:rPr>
              <a:t>5</a:t>
            </a:r>
            <a:r>
              <a:rPr lang="en-US" altLang="zh-CN" sz="2800" dirty="0"/>
              <a:t> = 5.60</a:t>
            </a:r>
          </a:p>
          <a:p>
            <a:r>
              <a:rPr lang="en-US" altLang="zh-CN" sz="2800" dirty="0"/>
              <a:t>⑥</a:t>
            </a:r>
            <a:r>
              <a:rPr lang="zh-CN" altLang="en-US" sz="2800" dirty="0"/>
              <a:t>位， </a:t>
            </a:r>
            <a:r>
              <a:rPr lang="zh-CN" altLang="en-US" sz="2800" dirty="0">
                <a:sym typeface="Symbol" pitchFamily="18" charset="2"/>
              </a:rPr>
              <a:t></a:t>
            </a:r>
            <a:r>
              <a:rPr lang="en-US" altLang="zh-CN" sz="2800" baseline="-25000" dirty="0">
                <a:sym typeface="Symbol" pitchFamily="18" charset="2"/>
              </a:rPr>
              <a:t>6</a:t>
            </a:r>
            <a:r>
              <a:rPr lang="en-US" altLang="zh-CN" sz="2800" dirty="0"/>
              <a:t> = 5.60</a:t>
            </a:r>
          </a:p>
          <a:p>
            <a:r>
              <a:rPr lang="zh-CN" altLang="en-US" sz="2800" dirty="0"/>
              <a:t>根据以上计算，若散列表地址范围有 </a:t>
            </a:r>
            <a:r>
              <a:rPr lang="en-US" altLang="zh-CN" sz="2800" dirty="0"/>
              <a:t>3 </a:t>
            </a:r>
            <a:r>
              <a:rPr lang="zh-CN" altLang="en-US" sz="2800" dirty="0"/>
              <a:t>位数字</a:t>
            </a:r>
            <a:r>
              <a:rPr lang="en-US" altLang="zh-CN" sz="2800" dirty="0"/>
              <a:t>, </a:t>
            </a:r>
            <a:r>
              <a:rPr lang="zh-CN" altLang="en-US" sz="2800" dirty="0"/>
              <a:t>则应该取各关键码的 ④⑤⑥ 位做为记录的散列地址。</a:t>
            </a:r>
          </a:p>
        </p:txBody>
      </p:sp>
      <p:sp>
        <p:nvSpPr>
          <p:cNvPr id="3" name="灯片编号占位符 2">
            <a:extLst>
              <a:ext uri="{FF2B5EF4-FFF2-40B4-BE49-F238E27FC236}">
                <a16:creationId xmlns:a16="http://schemas.microsoft.com/office/drawing/2014/main" id="{12057C5C-DEE2-0BE1-F50F-4750B2A0F71E}"/>
              </a:ext>
            </a:extLst>
          </p:cNvPr>
          <p:cNvSpPr>
            <a:spLocks noGrp="1"/>
          </p:cNvSpPr>
          <p:nvPr>
            <p:ph type="sldNum" sz="quarter" idx="12"/>
          </p:nvPr>
        </p:nvSpPr>
        <p:spPr/>
        <p:txBody>
          <a:bodyPr/>
          <a:lstStyle/>
          <a:p>
            <a:pPr>
              <a:defRPr/>
            </a:pPr>
            <a:fld id="{5584AA31-25D5-47AC-9EDA-76526E3BFA3C}" type="slidenum">
              <a:rPr lang="en-US" altLang="zh-CN" smtClean="0"/>
              <a:pPr>
                <a:defRPr/>
              </a:pPr>
              <a:t>58</a:t>
            </a:fld>
            <a:endParaRPr lang="en-US" altLang="zh-CN"/>
          </a:p>
        </p:txBody>
      </p:sp>
    </p:spTree>
  </p:cSld>
  <p:clrMapOvr>
    <a:masterClrMapping/>
  </p:clrMapOvr>
  <p:transition>
    <p:spli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a:extLst>
              <a:ext uri="{FF2B5EF4-FFF2-40B4-BE49-F238E27FC236}">
                <a16:creationId xmlns:a16="http://schemas.microsoft.com/office/drawing/2014/main" id="{0CC9A3D2-5B60-87F1-E793-B00E81797D14}"/>
              </a:ext>
            </a:extLst>
          </p:cNvPr>
          <p:cNvSpPr>
            <a:spLocks noGrp="1" noChangeArrowheads="1"/>
          </p:cNvSpPr>
          <p:nvPr>
            <p:ph type="title"/>
          </p:nvPr>
        </p:nvSpPr>
        <p:spPr/>
        <p:txBody>
          <a:bodyPr/>
          <a:lstStyle/>
          <a:p>
            <a:r>
              <a:rPr lang="zh-CN" altLang="en-US"/>
              <a:t>平方取中法</a:t>
            </a:r>
          </a:p>
        </p:txBody>
      </p:sp>
      <p:sp>
        <p:nvSpPr>
          <p:cNvPr id="467971" name="Rectangle 3">
            <a:extLst>
              <a:ext uri="{FF2B5EF4-FFF2-40B4-BE49-F238E27FC236}">
                <a16:creationId xmlns:a16="http://schemas.microsoft.com/office/drawing/2014/main" id="{87D0803C-06D4-B30A-E87D-6B0EF6C641FD}"/>
              </a:ext>
            </a:extLst>
          </p:cNvPr>
          <p:cNvSpPr>
            <a:spLocks noGrp="1" noChangeArrowheads="1"/>
          </p:cNvSpPr>
          <p:nvPr>
            <p:ph type="body" idx="1"/>
          </p:nvPr>
        </p:nvSpPr>
        <p:spPr>
          <a:xfrm>
            <a:off x="628650" y="1825625"/>
            <a:ext cx="8047806" cy="4351338"/>
          </a:xfrm>
        </p:spPr>
        <p:txBody>
          <a:bodyPr>
            <a:normAutofit fontScale="77500" lnSpcReduction="20000"/>
          </a:bodyPr>
          <a:lstStyle/>
          <a:p>
            <a:r>
              <a:rPr lang="zh-CN" altLang="en-US" dirty="0"/>
              <a:t>此方法在词典处理中使用十分广泛。</a:t>
            </a:r>
          </a:p>
          <a:p>
            <a:r>
              <a:rPr lang="zh-CN" altLang="en-US" dirty="0"/>
              <a:t>它先计算构成关键码的标识符的内码的平方，然后按散列表大小取中间若干位作为散列地址。</a:t>
            </a:r>
          </a:p>
          <a:p>
            <a:r>
              <a:rPr lang="zh-CN" altLang="en-US" dirty="0"/>
              <a:t>设标识符可以用一个计算机字长的内码表示。</a:t>
            </a:r>
          </a:p>
          <a:p>
            <a:pPr lvl="1"/>
            <a:r>
              <a:rPr lang="zh-CN" altLang="en-US" dirty="0"/>
              <a:t>因为内码平方数的中间几位一般由标识符所有字符决定，所以对不同标识符计算的散列地址大多不相同。</a:t>
            </a:r>
          </a:p>
          <a:p>
            <a:r>
              <a:rPr lang="zh-CN" altLang="en-US" dirty="0"/>
              <a:t>在平方取中法中，一般取散列地址总数为</a:t>
            </a:r>
            <a:r>
              <a:rPr lang="en-US" altLang="zh-CN" dirty="0"/>
              <a:t>2</a:t>
            </a:r>
            <a:r>
              <a:rPr lang="zh-CN" altLang="en-US" dirty="0"/>
              <a:t>的某次幂。例如</a:t>
            </a:r>
            <a:r>
              <a:rPr lang="en-US" altLang="zh-CN" dirty="0"/>
              <a:t>8</a:t>
            </a:r>
            <a:r>
              <a:rPr lang="zh-CN" altLang="en-US" dirty="0"/>
              <a:t>进制内码，对内码的平方数取中间的 </a:t>
            </a:r>
            <a:r>
              <a:rPr lang="en-US" altLang="zh-CN" dirty="0"/>
              <a:t>r </a:t>
            </a:r>
            <a:r>
              <a:rPr lang="zh-CN" altLang="en-US" dirty="0"/>
              <a:t>位，则散列地址总数取为 </a:t>
            </a:r>
            <a:r>
              <a:rPr lang="en-US" altLang="zh-CN" dirty="0"/>
              <a:t>m = 8</a:t>
            </a:r>
            <a:r>
              <a:rPr lang="en-US" altLang="zh-CN" baseline="30000" dirty="0"/>
              <a:t>r</a:t>
            </a:r>
            <a:r>
              <a:rPr lang="en-US" altLang="zh-CN" dirty="0"/>
              <a:t> </a:t>
            </a:r>
            <a:r>
              <a:rPr lang="zh-CN" altLang="en-US" dirty="0"/>
              <a:t>。如果 </a:t>
            </a:r>
            <a:r>
              <a:rPr lang="en-US" altLang="zh-CN" dirty="0"/>
              <a:t>r = 3</a:t>
            </a:r>
            <a:r>
              <a:rPr lang="zh-CN" altLang="en-US" dirty="0"/>
              <a:t>，所取得的散列地址参看下图的最右一列。</a:t>
            </a:r>
          </a:p>
        </p:txBody>
      </p:sp>
      <p:sp>
        <p:nvSpPr>
          <p:cNvPr id="2" name="灯片编号占位符 1">
            <a:extLst>
              <a:ext uri="{FF2B5EF4-FFF2-40B4-BE49-F238E27FC236}">
                <a16:creationId xmlns:a16="http://schemas.microsoft.com/office/drawing/2014/main" id="{71C7052E-8F6E-5DCB-F124-8C893B6D37C3}"/>
              </a:ext>
            </a:extLst>
          </p:cNvPr>
          <p:cNvSpPr>
            <a:spLocks noGrp="1"/>
          </p:cNvSpPr>
          <p:nvPr>
            <p:ph type="sldNum" sz="quarter" idx="12"/>
          </p:nvPr>
        </p:nvSpPr>
        <p:spPr/>
        <p:txBody>
          <a:bodyPr/>
          <a:lstStyle/>
          <a:p>
            <a:pPr>
              <a:defRPr/>
            </a:pPr>
            <a:fld id="{524B865F-46F8-4520-B0DD-31ED36EF62D9}" type="slidenum">
              <a:rPr lang="en-US" altLang="zh-CN" smtClean="0"/>
              <a:pPr>
                <a:defRPr/>
              </a:pPr>
              <a:t>59</a:t>
            </a:fld>
            <a:endParaRPr lang="en-US" altLang="zh-CN"/>
          </a:p>
        </p:txBody>
      </p:sp>
    </p:spTree>
  </p:cSld>
  <p:clrMapOvr>
    <a:masterClrMapping/>
  </p:clrMapOvr>
  <p:transition>
    <p:spli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B38CD01-1DCA-4ED6-97F5-B98B4D4A6201}"/>
              </a:ext>
            </a:extLst>
          </p:cNvPr>
          <p:cNvSpPr>
            <a:spLocks noGrp="1"/>
          </p:cNvSpPr>
          <p:nvPr>
            <p:ph type="title"/>
          </p:nvPr>
        </p:nvSpPr>
        <p:spPr/>
        <p:txBody>
          <a:bodyPr>
            <a:normAutofit/>
          </a:bodyPr>
          <a:lstStyle/>
          <a:p>
            <a:r>
              <a:rPr lang="zh-CN" altLang="en-US" dirty="0"/>
              <a:t>示例：标识符的八进制内码表示及其散列地址</a:t>
            </a:r>
          </a:p>
        </p:txBody>
      </p:sp>
      <p:graphicFrame>
        <p:nvGraphicFramePr>
          <p:cNvPr id="5" name="表格 4">
            <a:extLst>
              <a:ext uri="{FF2B5EF4-FFF2-40B4-BE49-F238E27FC236}">
                <a16:creationId xmlns:a16="http://schemas.microsoft.com/office/drawing/2014/main" id="{BCAE3BCB-9251-4202-9416-35ADD72E5108}"/>
              </a:ext>
            </a:extLst>
          </p:cNvPr>
          <p:cNvGraphicFramePr>
            <a:graphicFrameLocks noGrp="1"/>
          </p:cNvGraphicFramePr>
          <p:nvPr>
            <p:extLst>
              <p:ext uri="{D42A27DB-BD31-4B8C-83A1-F6EECF244321}">
                <p14:modId xmlns:p14="http://schemas.microsoft.com/office/powerpoint/2010/main" val="4074992324"/>
              </p:ext>
            </p:extLst>
          </p:nvPr>
        </p:nvGraphicFramePr>
        <p:xfrm>
          <a:off x="179512" y="1764208"/>
          <a:ext cx="8784976" cy="4752531"/>
        </p:xfrm>
        <a:graphic>
          <a:graphicData uri="http://schemas.openxmlformats.org/drawingml/2006/table">
            <a:tbl>
              <a:tblPr firstRow="1" firstCol="1" bandRow="1">
                <a:tableStyleId>{5C22544A-7EE6-4342-B048-85BDC9FD1C3A}</a:tableStyleId>
              </a:tblPr>
              <a:tblGrid>
                <a:gridCol w="1368152">
                  <a:extLst>
                    <a:ext uri="{9D8B030D-6E8A-4147-A177-3AD203B41FA5}">
                      <a16:colId xmlns:a16="http://schemas.microsoft.com/office/drawing/2014/main" val="2495915042"/>
                    </a:ext>
                  </a:extLst>
                </a:gridCol>
                <a:gridCol w="2936404">
                  <a:extLst>
                    <a:ext uri="{9D8B030D-6E8A-4147-A177-3AD203B41FA5}">
                      <a16:colId xmlns:a16="http://schemas.microsoft.com/office/drawing/2014/main" val="4209600282"/>
                    </a:ext>
                  </a:extLst>
                </a:gridCol>
                <a:gridCol w="3114440">
                  <a:extLst>
                    <a:ext uri="{9D8B030D-6E8A-4147-A177-3AD203B41FA5}">
                      <a16:colId xmlns:a16="http://schemas.microsoft.com/office/drawing/2014/main" val="2621401022"/>
                    </a:ext>
                  </a:extLst>
                </a:gridCol>
                <a:gridCol w="1365980">
                  <a:extLst>
                    <a:ext uri="{9D8B030D-6E8A-4147-A177-3AD203B41FA5}">
                      <a16:colId xmlns:a16="http://schemas.microsoft.com/office/drawing/2014/main" val="4118511556"/>
                    </a:ext>
                  </a:extLst>
                </a:gridCol>
              </a:tblGrid>
              <a:tr h="528059">
                <a:tc>
                  <a:txBody>
                    <a:bodyPr/>
                    <a:lstStyle/>
                    <a:p>
                      <a:pPr algn="r">
                        <a:spcAft>
                          <a:spcPts val="0"/>
                        </a:spcAft>
                      </a:pPr>
                      <a:r>
                        <a:rPr lang="zh-CN" sz="2400" kern="100">
                          <a:effectLst/>
                        </a:rPr>
                        <a:t>标识符</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zh-CN" sz="2400" kern="100" dirty="0">
                          <a:effectLst/>
                        </a:rPr>
                        <a:t>内码</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zh-CN" sz="2400" kern="100" dirty="0">
                          <a:effectLst/>
                        </a:rPr>
                        <a:t>内码的平方</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zh-CN" sz="2400" kern="100">
                          <a:effectLst/>
                        </a:rPr>
                        <a:t>散列地址</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46080218"/>
                  </a:ext>
                </a:extLst>
              </a:tr>
              <a:tr h="528059">
                <a:tc>
                  <a:txBody>
                    <a:bodyPr/>
                    <a:lstStyle/>
                    <a:p>
                      <a:pPr algn="r">
                        <a:spcAft>
                          <a:spcPts val="0"/>
                        </a:spcAft>
                      </a:pPr>
                      <a:r>
                        <a:rPr lang="en-US" sz="2400" kern="100">
                          <a:effectLst/>
                        </a:rPr>
                        <a:t>A</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dirty="0">
                          <a:effectLst/>
                        </a:rPr>
                        <a:t>01</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01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001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06847019"/>
                  </a:ext>
                </a:extLst>
              </a:tr>
              <a:tr h="528059">
                <a:tc>
                  <a:txBody>
                    <a:bodyPr/>
                    <a:lstStyle/>
                    <a:p>
                      <a:pPr algn="r">
                        <a:spcAft>
                          <a:spcPts val="0"/>
                        </a:spcAft>
                      </a:pPr>
                      <a:r>
                        <a:rPr lang="en-US" sz="2400" kern="100">
                          <a:effectLst/>
                        </a:rPr>
                        <a:t>A1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dirty="0">
                          <a:effectLst/>
                        </a:rPr>
                        <a:t>0134</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20420</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042</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72680898"/>
                  </a:ext>
                </a:extLst>
              </a:tr>
              <a:tr h="528059">
                <a:tc>
                  <a:txBody>
                    <a:bodyPr/>
                    <a:lstStyle/>
                    <a:p>
                      <a:pPr algn="r">
                        <a:spcAft>
                          <a:spcPts val="0"/>
                        </a:spcAft>
                      </a:pPr>
                      <a:r>
                        <a:rPr lang="en-US" sz="2400" kern="100">
                          <a:effectLst/>
                        </a:rPr>
                        <a:t>A9</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dirty="0">
                          <a:effectLst/>
                        </a:rPr>
                        <a:t>0144</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23420</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342</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15911452"/>
                  </a:ext>
                </a:extLst>
              </a:tr>
              <a:tr h="528059">
                <a:tc>
                  <a:txBody>
                    <a:bodyPr/>
                    <a:lstStyle/>
                    <a:p>
                      <a:pPr algn="r">
                        <a:spcAft>
                          <a:spcPts val="0"/>
                        </a:spcAft>
                      </a:pPr>
                      <a:r>
                        <a:rPr lang="en-US" sz="2400" kern="100">
                          <a:effectLst/>
                        </a:rPr>
                        <a:t>B</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02</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4</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004</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88339721"/>
                  </a:ext>
                </a:extLst>
              </a:tr>
              <a:tr h="528059">
                <a:tc>
                  <a:txBody>
                    <a:bodyPr/>
                    <a:lstStyle/>
                    <a:p>
                      <a:pPr algn="r">
                        <a:spcAft>
                          <a:spcPts val="0"/>
                        </a:spcAft>
                      </a:pPr>
                      <a:r>
                        <a:rPr lang="en-US" sz="2400" kern="100">
                          <a:effectLst/>
                        </a:rPr>
                        <a:t>DMAX</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04150130</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21526443617100</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443</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41290084"/>
                  </a:ext>
                </a:extLst>
              </a:tr>
              <a:tr h="528059">
                <a:tc>
                  <a:txBody>
                    <a:bodyPr/>
                    <a:lstStyle/>
                    <a:p>
                      <a:pPr algn="r">
                        <a:spcAft>
                          <a:spcPts val="0"/>
                        </a:spcAft>
                      </a:pPr>
                      <a:r>
                        <a:rPr lang="en-US" sz="2400" kern="100">
                          <a:effectLst/>
                        </a:rPr>
                        <a:t>DMAX1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0415013034</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5264473522151420</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352</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34347624"/>
                  </a:ext>
                </a:extLst>
              </a:tr>
              <a:tr h="528059">
                <a:tc>
                  <a:txBody>
                    <a:bodyPr/>
                    <a:lstStyle/>
                    <a:p>
                      <a:pPr algn="r">
                        <a:spcAft>
                          <a:spcPts val="0"/>
                        </a:spcAft>
                      </a:pPr>
                      <a:r>
                        <a:rPr lang="en-US" sz="2400" kern="100">
                          <a:effectLst/>
                        </a:rPr>
                        <a:t>AMAX</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01150130</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135423617100</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a:effectLst/>
                        </a:rPr>
                        <a:t>236</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70284200"/>
                  </a:ext>
                </a:extLst>
              </a:tr>
              <a:tr h="528059">
                <a:tc>
                  <a:txBody>
                    <a:bodyPr/>
                    <a:lstStyle/>
                    <a:p>
                      <a:pPr algn="r">
                        <a:spcAft>
                          <a:spcPts val="0"/>
                        </a:spcAft>
                      </a:pPr>
                      <a:r>
                        <a:rPr lang="en-US" sz="2400" kern="100" dirty="0">
                          <a:effectLst/>
                        </a:rPr>
                        <a:t>AMAX1</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sz="2400" kern="100" dirty="0">
                          <a:effectLst/>
                        </a:rPr>
                        <a:t>0115013034</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r">
                        <a:spcAft>
                          <a:spcPts val="0"/>
                        </a:spcAft>
                      </a:pPr>
                      <a:r>
                        <a:rPr lang="en-US" altLang="zh-CN" sz="2400" kern="100" dirty="0">
                          <a:effectLst/>
                        </a:rPr>
                        <a:t>3454246522151420</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US" altLang="zh-CN" sz="2400" kern="100" dirty="0">
                          <a:effectLst/>
                        </a:rPr>
                        <a:t>652</a:t>
                      </a:r>
                      <a:endParaRPr lang="zh-CN" altLang="zh-CN" sz="2400" kern="100" dirty="0">
                        <a:effectLst/>
                        <a:latin typeface="等线" panose="02010600030101010101" pitchFamily="2" charset="-122"/>
                        <a:ea typeface="+mn-ea"/>
                        <a:cs typeface="Times New Roman" panose="02020603050405020304" pitchFamily="18" charset="0"/>
                      </a:endParaRPr>
                    </a:p>
                  </a:txBody>
                  <a:tcPr marL="68580" marR="68580" marT="0" marB="0"/>
                </a:tc>
                <a:extLst>
                  <a:ext uri="{0D108BD9-81ED-4DB2-BD59-A6C34878D82A}">
                    <a16:rowId xmlns:a16="http://schemas.microsoft.com/office/drawing/2014/main" val="2125591102"/>
                  </a:ext>
                </a:extLst>
              </a:tr>
            </a:tbl>
          </a:graphicData>
        </a:graphic>
      </p:graphicFrame>
      <p:sp>
        <p:nvSpPr>
          <p:cNvPr id="2" name="灯片编号占位符 1">
            <a:extLst>
              <a:ext uri="{FF2B5EF4-FFF2-40B4-BE49-F238E27FC236}">
                <a16:creationId xmlns:a16="http://schemas.microsoft.com/office/drawing/2014/main" id="{24E6CBA5-6A53-6F78-0B6A-F09C4450BD18}"/>
              </a:ext>
            </a:extLst>
          </p:cNvPr>
          <p:cNvSpPr>
            <a:spLocks noGrp="1"/>
          </p:cNvSpPr>
          <p:nvPr>
            <p:ph type="sldNum" sz="quarter" idx="12"/>
          </p:nvPr>
        </p:nvSpPr>
        <p:spPr/>
        <p:txBody>
          <a:bodyPr/>
          <a:lstStyle/>
          <a:p>
            <a:pPr>
              <a:defRPr/>
            </a:pPr>
            <a:fld id="{524B865F-46F8-4520-B0DD-31ED36EF62D9}" type="slidenum">
              <a:rPr lang="en-US" altLang="zh-CN" smtClean="0"/>
              <a:pPr>
                <a:defRPr/>
              </a:pPr>
              <a:t>60</a:t>
            </a:fld>
            <a:endParaRPr lang="en-US" altLang="zh-CN"/>
          </a:p>
        </p:txBody>
      </p:sp>
    </p:spTree>
  </p:cSld>
  <p:clrMapOvr>
    <a:masterClrMapping/>
  </p:clrMapOvr>
  <p:transition>
    <p:spli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C90DC5-72D2-4549-A5E3-66D76398DE26}"/>
              </a:ext>
            </a:extLst>
          </p:cNvPr>
          <p:cNvSpPr>
            <a:spLocks noGrp="1"/>
          </p:cNvSpPr>
          <p:nvPr>
            <p:ph type="title"/>
          </p:nvPr>
        </p:nvSpPr>
        <p:spPr/>
        <p:txBody>
          <a:bodyPr/>
          <a:lstStyle/>
          <a:p>
            <a:r>
              <a:rPr lang="zh-CN" altLang="en-US" dirty="0"/>
              <a:t>折叠法</a:t>
            </a:r>
          </a:p>
        </p:txBody>
      </p:sp>
      <p:sp>
        <p:nvSpPr>
          <p:cNvPr id="470018" name="Rectangle 2">
            <a:extLst>
              <a:ext uri="{FF2B5EF4-FFF2-40B4-BE49-F238E27FC236}">
                <a16:creationId xmlns:a16="http://schemas.microsoft.com/office/drawing/2014/main" id="{AE8C642D-59CB-7E05-8328-B4E02544A004}"/>
              </a:ext>
            </a:extLst>
          </p:cNvPr>
          <p:cNvSpPr>
            <a:spLocks noGrp="1" noChangeArrowheads="1"/>
          </p:cNvSpPr>
          <p:nvPr>
            <p:ph type="body" idx="1"/>
          </p:nvPr>
        </p:nvSpPr>
        <p:spPr/>
        <p:txBody>
          <a:bodyPr>
            <a:normAutofit fontScale="85000" lnSpcReduction="20000"/>
          </a:bodyPr>
          <a:lstStyle/>
          <a:p>
            <a:r>
              <a:rPr lang="zh-CN" altLang="en-US" dirty="0"/>
              <a:t>此方法把关键码自左到右分成位数相等的几部分，每一部分的位数应与散列表地址位数相同，只有最后一部分的位数可以短一些。</a:t>
            </a:r>
          </a:p>
          <a:p>
            <a:r>
              <a:rPr lang="zh-CN" altLang="en-US" dirty="0"/>
              <a:t>把这些部分的数据叠加起来，就可以得到具有该关键码的记录的散列地址。</a:t>
            </a:r>
          </a:p>
          <a:p>
            <a:r>
              <a:rPr lang="zh-CN" altLang="en-US" dirty="0"/>
              <a:t>有两种叠加方法：</a:t>
            </a:r>
          </a:p>
          <a:p>
            <a:pPr lvl="1"/>
            <a:r>
              <a:rPr lang="zh-CN" altLang="en-US" dirty="0"/>
              <a:t> 移位法 </a:t>
            </a:r>
            <a:r>
              <a:rPr lang="en-US" altLang="zh-CN" dirty="0"/>
              <a:t>— </a:t>
            </a:r>
            <a:r>
              <a:rPr lang="zh-CN" altLang="en-US" dirty="0"/>
              <a:t>把各部分的最后一位对齐相加；</a:t>
            </a:r>
          </a:p>
          <a:p>
            <a:pPr lvl="1"/>
            <a:r>
              <a:rPr lang="zh-CN" altLang="en-US" dirty="0"/>
              <a:t> 分界法 </a:t>
            </a:r>
            <a:r>
              <a:rPr lang="en-US" altLang="zh-CN" dirty="0"/>
              <a:t>— </a:t>
            </a:r>
            <a:r>
              <a:rPr lang="zh-CN" altLang="en-US" dirty="0"/>
              <a:t>各部分不折断，沿各部分的分界来回折叠，然后对齐相加，将相加的结果当做散列地址。</a:t>
            </a:r>
          </a:p>
        </p:txBody>
      </p:sp>
      <p:sp>
        <p:nvSpPr>
          <p:cNvPr id="2" name="灯片编号占位符 1">
            <a:extLst>
              <a:ext uri="{FF2B5EF4-FFF2-40B4-BE49-F238E27FC236}">
                <a16:creationId xmlns:a16="http://schemas.microsoft.com/office/drawing/2014/main" id="{0EC5B505-5D2A-E491-CC5F-A7BC29B2679E}"/>
              </a:ext>
            </a:extLst>
          </p:cNvPr>
          <p:cNvSpPr>
            <a:spLocks noGrp="1"/>
          </p:cNvSpPr>
          <p:nvPr>
            <p:ph type="sldNum" sz="quarter" idx="12"/>
          </p:nvPr>
        </p:nvSpPr>
        <p:spPr/>
        <p:txBody>
          <a:bodyPr/>
          <a:lstStyle/>
          <a:p>
            <a:pPr>
              <a:defRPr/>
            </a:pPr>
            <a:fld id="{524B865F-46F8-4520-B0DD-31ED36EF62D9}" type="slidenum">
              <a:rPr lang="en-US" altLang="zh-CN" smtClean="0"/>
              <a:pPr>
                <a:defRPr/>
              </a:pPr>
              <a:t>61</a:t>
            </a:fld>
            <a:endParaRPr lang="en-US" altLang="zh-CN"/>
          </a:p>
        </p:txBody>
      </p:sp>
    </p:spTree>
  </p:cSld>
  <p:clrMapOvr>
    <a:masterClrMapping/>
  </p:clrMapOvr>
  <p:transition>
    <p:spli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AutoShape 2" descr="白色大理石">
            <a:extLst>
              <a:ext uri="{FF2B5EF4-FFF2-40B4-BE49-F238E27FC236}">
                <a16:creationId xmlns:a16="http://schemas.microsoft.com/office/drawing/2014/main" id="{11D00C9C-C208-2CD5-8555-32206F8E445C}"/>
              </a:ext>
            </a:extLst>
          </p:cNvPr>
          <p:cNvSpPr>
            <a:spLocks noChangeArrowheads="1"/>
          </p:cNvSpPr>
          <p:nvPr/>
        </p:nvSpPr>
        <p:spPr bwMode="auto">
          <a:xfrm>
            <a:off x="4876800" y="5029200"/>
            <a:ext cx="2667000" cy="457200"/>
          </a:xfrm>
          <a:prstGeom prst="parallelogram">
            <a:avLst>
              <a:gd name="adj" fmla="val 179159"/>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79875" name="AutoShape 3" descr="白色大理石">
            <a:extLst>
              <a:ext uri="{FF2B5EF4-FFF2-40B4-BE49-F238E27FC236}">
                <a16:creationId xmlns:a16="http://schemas.microsoft.com/office/drawing/2014/main" id="{18189A18-5F38-7A1E-4403-B631A7DDF8F6}"/>
              </a:ext>
            </a:extLst>
          </p:cNvPr>
          <p:cNvSpPr>
            <a:spLocks noChangeArrowheads="1"/>
          </p:cNvSpPr>
          <p:nvPr/>
        </p:nvSpPr>
        <p:spPr bwMode="auto">
          <a:xfrm>
            <a:off x="4876800" y="4648200"/>
            <a:ext cx="2667000" cy="457200"/>
          </a:xfrm>
          <a:prstGeom prst="parallelogram">
            <a:avLst>
              <a:gd name="adj" fmla="val 179159"/>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79876" name="AutoShape 4" descr="白色大理石">
            <a:extLst>
              <a:ext uri="{FF2B5EF4-FFF2-40B4-BE49-F238E27FC236}">
                <a16:creationId xmlns:a16="http://schemas.microsoft.com/office/drawing/2014/main" id="{E437260D-FA3D-0FA3-8594-BCEA465D1473}"/>
              </a:ext>
            </a:extLst>
          </p:cNvPr>
          <p:cNvSpPr>
            <a:spLocks noChangeArrowheads="1"/>
          </p:cNvSpPr>
          <p:nvPr/>
        </p:nvSpPr>
        <p:spPr bwMode="auto">
          <a:xfrm>
            <a:off x="4876800" y="4267200"/>
            <a:ext cx="2667000" cy="457200"/>
          </a:xfrm>
          <a:prstGeom prst="parallelogram">
            <a:avLst>
              <a:gd name="adj" fmla="val 179159"/>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79877" name="AutoShape 5" descr="白色大理石">
            <a:extLst>
              <a:ext uri="{FF2B5EF4-FFF2-40B4-BE49-F238E27FC236}">
                <a16:creationId xmlns:a16="http://schemas.microsoft.com/office/drawing/2014/main" id="{54AE9D72-98FF-91BD-4A2A-77F621F010C4}"/>
              </a:ext>
            </a:extLst>
          </p:cNvPr>
          <p:cNvSpPr>
            <a:spLocks noChangeArrowheads="1"/>
          </p:cNvSpPr>
          <p:nvPr/>
        </p:nvSpPr>
        <p:spPr bwMode="auto">
          <a:xfrm>
            <a:off x="1371600" y="5029200"/>
            <a:ext cx="2667000" cy="457200"/>
          </a:xfrm>
          <a:prstGeom prst="parallelogram">
            <a:avLst>
              <a:gd name="adj" fmla="val 179159"/>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79878" name="AutoShape 6" descr="白色大理石">
            <a:extLst>
              <a:ext uri="{FF2B5EF4-FFF2-40B4-BE49-F238E27FC236}">
                <a16:creationId xmlns:a16="http://schemas.microsoft.com/office/drawing/2014/main" id="{34D49E37-788E-0E10-D13D-CBF07F67DD08}"/>
              </a:ext>
            </a:extLst>
          </p:cNvPr>
          <p:cNvSpPr>
            <a:spLocks noChangeArrowheads="1"/>
          </p:cNvSpPr>
          <p:nvPr/>
        </p:nvSpPr>
        <p:spPr bwMode="auto">
          <a:xfrm>
            <a:off x="1371600" y="4648200"/>
            <a:ext cx="2667000" cy="457200"/>
          </a:xfrm>
          <a:prstGeom prst="parallelogram">
            <a:avLst>
              <a:gd name="adj" fmla="val 179159"/>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79879" name="AutoShape 7" descr="白色大理石">
            <a:extLst>
              <a:ext uri="{FF2B5EF4-FFF2-40B4-BE49-F238E27FC236}">
                <a16:creationId xmlns:a16="http://schemas.microsoft.com/office/drawing/2014/main" id="{7C33F731-7A0F-D159-CDF8-759D6CCF13A2}"/>
              </a:ext>
            </a:extLst>
          </p:cNvPr>
          <p:cNvSpPr>
            <a:spLocks noChangeArrowheads="1"/>
          </p:cNvSpPr>
          <p:nvPr/>
        </p:nvSpPr>
        <p:spPr bwMode="auto">
          <a:xfrm>
            <a:off x="1371600" y="4267200"/>
            <a:ext cx="2667000" cy="457200"/>
          </a:xfrm>
          <a:prstGeom prst="parallelogram">
            <a:avLst>
              <a:gd name="adj" fmla="val 179159"/>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471048" name="Rectangle 8">
            <a:extLst>
              <a:ext uri="{FF2B5EF4-FFF2-40B4-BE49-F238E27FC236}">
                <a16:creationId xmlns:a16="http://schemas.microsoft.com/office/drawing/2014/main" id="{5B5BC67C-8CE6-682D-1913-804333E58B58}"/>
              </a:ext>
            </a:extLst>
          </p:cNvPr>
          <p:cNvSpPr>
            <a:spLocks noGrp="1" noChangeArrowheads="1"/>
          </p:cNvSpPr>
          <p:nvPr>
            <p:ph type="body" idx="1"/>
          </p:nvPr>
        </p:nvSpPr>
        <p:spPr>
          <a:xfrm>
            <a:off x="251520" y="1825624"/>
            <a:ext cx="8568952" cy="2060575"/>
          </a:xfrm>
        </p:spPr>
        <p:txBody>
          <a:bodyPr>
            <a:normAutofit fontScale="55000" lnSpcReduction="20000"/>
          </a:bodyPr>
          <a:lstStyle/>
          <a:p>
            <a:r>
              <a:rPr lang="zh-CN" altLang="en-US" dirty="0"/>
              <a:t>给定关键码为 </a:t>
            </a:r>
            <a:r>
              <a:rPr lang="en-US" altLang="zh-CN" dirty="0"/>
              <a:t>key = 23938587841, </a:t>
            </a:r>
            <a:r>
              <a:rPr lang="zh-CN" altLang="en-US" dirty="0"/>
              <a:t>若存储空间限定 </a:t>
            </a:r>
            <a:r>
              <a:rPr lang="en-US" altLang="zh-CN" dirty="0"/>
              <a:t>3 </a:t>
            </a:r>
            <a:r>
              <a:rPr lang="zh-CN" altLang="en-US" dirty="0"/>
              <a:t>位</a:t>
            </a:r>
            <a:r>
              <a:rPr lang="en-US" altLang="zh-CN" dirty="0"/>
              <a:t>, </a:t>
            </a:r>
            <a:r>
              <a:rPr lang="zh-CN" altLang="en-US" dirty="0"/>
              <a:t>则划分结果为每段 </a:t>
            </a:r>
            <a:r>
              <a:rPr lang="en-US" altLang="zh-CN" dirty="0"/>
              <a:t>3 </a:t>
            </a:r>
            <a:r>
              <a:rPr lang="zh-CN" altLang="en-US" dirty="0"/>
              <a:t>位。 上述关键码可划分为 </a:t>
            </a:r>
            <a:r>
              <a:rPr lang="en-US" altLang="zh-CN" dirty="0"/>
              <a:t>4</a:t>
            </a:r>
            <a:r>
              <a:rPr lang="zh-CN" altLang="en-US" dirty="0"/>
              <a:t>段：</a:t>
            </a:r>
          </a:p>
          <a:p>
            <a:pPr marL="342900" lvl="1" indent="0">
              <a:buNone/>
            </a:pPr>
            <a:r>
              <a:rPr lang="zh-CN" altLang="en-US" dirty="0"/>
              <a:t>  	             </a:t>
            </a:r>
            <a:r>
              <a:rPr lang="en-US" altLang="zh-CN" dirty="0"/>
              <a:t>239      385      878      41</a:t>
            </a:r>
          </a:p>
          <a:p>
            <a:r>
              <a:rPr lang="zh-CN" altLang="en-US" dirty="0"/>
              <a:t>折叠相加后，把超出地址位数的最高位删去，仅保留最低的</a:t>
            </a:r>
            <a:r>
              <a:rPr lang="en-US" altLang="zh-CN" dirty="0"/>
              <a:t>3</a:t>
            </a:r>
            <a:r>
              <a:rPr lang="zh-CN" altLang="en-US" dirty="0"/>
              <a:t>位，做为可用的散列地址。</a:t>
            </a:r>
            <a:endParaRPr lang="en-US" altLang="zh-CN" dirty="0"/>
          </a:p>
          <a:p>
            <a:r>
              <a:rPr lang="zh-CN" altLang="en-US" dirty="0"/>
              <a:t>一般当关键码的位数很多，而且关键码每一位上数字的分布大致比较均匀时，可用这种方法得到散列地址。</a:t>
            </a:r>
          </a:p>
        </p:txBody>
      </p:sp>
      <p:sp>
        <p:nvSpPr>
          <p:cNvPr id="471050" name="Text Box 10">
            <a:extLst>
              <a:ext uri="{FF2B5EF4-FFF2-40B4-BE49-F238E27FC236}">
                <a16:creationId xmlns:a16="http://schemas.microsoft.com/office/drawing/2014/main" id="{17CC12CF-2600-AAA4-B336-FFF82B611158}"/>
              </a:ext>
            </a:extLst>
          </p:cNvPr>
          <p:cNvSpPr txBox="1">
            <a:spLocks noChangeArrowheads="1"/>
          </p:cNvSpPr>
          <p:nvPr/>
        </p:nvSpPr>
        <p:spPr bwMode="auto">
          <a:xfrm>
            <a:off x="609600" y="4251325"/>
            <a:ext cx="695325" cy="1263650"/>
          </a:xfrm>
          <a:prstGeom prst="rect">
            <a:avLst/>
          </a:prstGeom>
          <a:noFill/>
          <a:ln w="9525">
            <a:noFill/>
            <a:miter lim="800000"/>
            <a:headEnd/>
            <a:tailEnd/>
          </a:ln>
          <a:effectLst/>
        </p:spPr>
        <p:txBody>
          <a:bodyPr wrap="none">
            <a:spAutoFit/>
          </a:bodyPr>
          <a:lstStyle/>
          <a:p>
            <a:pPr>
              <a:lnSpc>
                <a:spcPct val="80000"/>
              </a:lnSpc>
              <a:defRPr/>
            </a:pPr>
            <a:r>
              <a:rPr lang="zh-CN" altLang="en-US" b="1">
                <a:effectLst>
                  <a:outerShdw blurRad="38100" dist="38100" dir="2700000" algn="tl">
                    <a:srgbClr val="C0C0C0"/>
                  </a:outerShdw>
                </a:effectLst>
                <a:ea typeface="隶书" pitchFamily="49" charset="-122"/>
              </a:rPr>
              <a:t>移</a:t>
            </a:r>
          </a:p>
          <a:p>
            <a:pPr>
              <a:lnSpc>
                <a:spcPct val="80000"/>
              </a:lnSpc>
              <a:defRPr/>
            </a:pPr>
            <a:r>
              <a:rPr lang="zh-CN" altLang="en-US" b="1">
                <a:effectLst>
                  <a:outerShdw blurRad="38100" dist="38100" dir="2700000" algn="tl">
                    <a:srgbClr val="C0C0C0"/>
                  </a:outerShdw>
                </a:effectLst>
                <a:ea typeface="隶书" pitchFamily="49" charset="-122"/>
              </a:rPr>
              <a:t>位</a:t>
            </a:r>
          </a:p>
          <a:p>
            <a:pPr>
              <a:lnSpc>
                <a:spcPct val="80000"/>
              </a:lnSpc>
              <a:defRPr/>
            </a:pPr>
            <a:r>
              <a:rPr lang="zh-CN" altLang="en-US" b="1">
                <a:effectLst>
                  <a:outerShdw blurRad="38100" dist="38100" dir="2700000" algn="tl">
                    <a:srgbClr val="C0C0C0"/>
                  </a:outerShdw>
                </a:effectLst>
                <a:ea typeface="隶书" pitchFamily="49" charset="-122"/>
              </a:rPr>
              <a:t>法</a:t>
            </a:r>
            <a:r>
              <a:rPr lang="zh-CN" altLang="en-US" b="1">
                <a:ea typeface="宋体" charset="-122"/>
              </a:rPr>
              <a:t> </a:t>
            </a:r>
          </a:p>
        </p:txBody>
      </p:sp>
      <p:sp>
        <p:nvSpPr>
          <p:cNvPr id="79883" name="WordArt 11">
            <a:extLst>
              <a:ext uri="{FF2B5EF4-FFF2-40B4-BE49-F238E27FC236}">
                <a16:creationId xmlns:a16="http://schemas.microsoft.com/office/drawing/2014/main" id="{1D2C7071-874F-6616-1B0E-345F32DFCAA4}"/>
              </a:ext>
            </a:extLst>
          </p:cNvPr>
          <p:cNvSpPr>
            <a:spLocks noChangeArrowheads="1" noChangeShapeType="1" noTextEdit="1"/>
          </p:cNvSpPr>
          <p:nvPr/>
        </p:nvSpPr>
        <p:spPr bwMode="auto">
          <a:xfrm>
            <a:off x="1752600" y="4419600"/>
            <a:ext cx="1828800" cy="228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38949"/>
              </a:avLst>
            </a:prstTxWarp>
          </a:bodyPr>
          <a:lstStyle/>
          <a:p>
            <a:r>
              <a:rPr lang="en-US" altLang="zh-CN"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rPr>
              <a:t>385</a:t>
            </a:r>
            <a:endParaRPr lang="zh-CN" altLang="en-US"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endParaRPr>
          </a:p>
        </p:txBody>
      </p:sp>
      <p:sp>
        <p:nvSpPr>
          <p:cNvPr id="79884" name="WordArt 12">
            <a:extLst>
              <a:ext uri="{FF2B5EF4-FFF2-40B4-BE49-F238E27FC236}">
                <a16:creationId xmlns:a16="http://schemas.microsoft.com/office/drawing/2014/main" id="{5C6E1E88-C75A-6193-A5FF-2453F7678C6F}"/>
              </a:ext>
            </a:extLst>
          </p:cNvPr>
          <p:cNvSpPr>
            <a:spLocks noChangeArrowheads="1" noChangeShapeType="1" noTextEdit="1"/>
          </p:cNvSpPr>
          <p:nvPr/>
        </p:nvSpPr>
        <p:spPr bwMode="auto">
          <a:xfrm>
            <a:off x="1828800" y="4800600"/>
            <a:ext cx="1676400" cy="228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39866"/>
              </a:avLst>
            </a:prstTxWarp>
          </a:bodyPr>
          <a:lstStyle/>
          <a:p>
            <a:r>
              <a:rPr lang="en-US" altLang="zh-CN"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rPr>
              <a:t>878</a:t>
            </a:r>
            <a:endParaRPr lang="zh-CN" altLang="en-US"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endParaRPr>
          </a:p>
        </p:txBody>
      </p:sp>
      <p:sp>
        <p:nvSpPr>
          <p:cNvPr id="79885" name="WordArt 13">
            <a:extLst>
              <a:ext uri="{FF2B5EF4-FFF2-40B4-BE49-F238E27FC236}">
                <a16:creationId xmlns:a16="http://schemas.microsoft.com/office/drawing/2014/main" id="{8AAC9A1B-F8DC-C0EC-565F-B92F33FA5FBC}"/>
              </a:ext>
            </a:extLst>
          </p:cNvPr>
          <p:cNvSpPr>
            <a:spLocks noChangeArrowheads="1" noChangeShapeType="1" noTextEdit="1"/>
          </p:cNvSpPr>
          <p:nvPr/>
        </p:nvSpPr>
        <p:spPr bwMode="auto">
          <a:xfrm>
            <a:off x="2286000" y="5181600"/>
            <a:ext cx="1066800" cy="228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30690"/>
              </a:avLst>
            </a:prstTxWarp>
          </a:bodyPr>
          <a:lstStyle/>
          <a:p>
            <a:r>
              <a:rPr lang="en-US" altLang="zh-CN"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rPr>
              <a:t>41</a:t>
            </a:r>
            <a:endParaRPr lang="zh-CN" altLang="en-US"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endParaRPr>
          </a:p>
        </p:txBody>
      </p:sp>
      <p:sp>
        <p:nvSpPr>
          <p:cNvPr id="79886" name="AutoShape 14" descr="白色大理石">
            <a:extLst>
              <a:ext uri="{FF2B5EF4-FFF2-40B4-BE49-F238E27FC236}">
                <a16:creationId xmlns:a16="http://schemas.microsoft.com/office/drawing/2014/main" id="{31859861-4A0A-0C3A-9508-D351766B87DE}"/>
              </a:ext>
            </a:extLst>
          </p:cNvPr>
          <p:cNvSpPr>
            <a:spLocks noChangeArrowheads="1"/>
          </p:cNvSpPr>
          <p:nvPr/>
        </p:nvSpPr>
        <p:spPr bwMode="auto">
          <a:xfrm>
            <a:off x="1371600" y="3886200"/>
            <a:ext cx="2667000" cy="457200"/>
          </a:xfrm>
          <a:prstGeom prst="parallelogram">
            <a:avLst>
              <a:gd name="adj" fmla="val 179159"/>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471055" name="Rectangle 15">
            <a:extLst>
              <a:ext uri="{FF2B5EF4-FFF2-40B4-BE49-F238E27FC236}">
                <a16:creationId xmlns:a16="http://schemas.microsoft.com/office/drawing/2014/main" id="{926B22AF-1133-9707-26D5-5E8977C829E4}"/>
              </a:ext>
            </a:extLst>
          </p:cNvPr>
          <p:cNvSpPr>
            <a:spLocks noChangeArrowheads="1"/>
          </p:cNvSpPr>
          <p:nvPr/>
        </p:nvSpPr>
        <p:spPr bwMode="auto">
          <a:xfrm>
            <a:off x="990600" y="5562600"/>
            <a:ext cx="3048000" cy="152400"/>
          </a:xfrm>
          <a:prstGeom prst="rect">
            <a:avLst/>
          </a:prstGeom>
          <a:gradFill rotWithShape="0">
            <a:gsLst>
              <a:gs pos="0">
                <a:schemeClr val="accent1"/>
              </a:gs>
              <a:gs pos="100000">
                <a:schemeClr val="accent1">
                  <a:gamma/>
                  <a:shade val="46275"/>
                  <a:invGamma/>
                </a:schemeClr>
              </a:gs>
            </a:gsLst>
            <a:lin ang="5400000" scaled="1"/>
          </a:gradFill>
          <a:ln w="9525">
            <a:solidFill>
              <a:schemeClr val="bg1"/>
            </a:solidFill>
            <a:miter lim="800000"/>
            <a:headEnd/>
            <a:tailEnd/>
          </a:ln>
          <a:effectLst/>
        </p:spPr>
        <p:txBody>
          <a:bodyPr wrap="none" anchor="ctr"/>
          <a:lstStyle/>
          <a:p>
            <a:pPr>
              <a:defRPr/>
            </a:pPr>
            <a:endParaRPr lang="zh-CN" altLang="en-US">
              <a:ea typeface="宋体" charset="-122"/>
            </a:endParaRPr>
          </a:p>
        </p:txBody>
      </p:sp>
      <p:sp>
        <p:nvSpPr>
          <p:cNvPr id="79888" name="AutoShape 16" descr="白色大理石">
            <a:extLst>
              <a:ext uri="{FF2B5EF4-FFF2-40B4-BE49-F238E27FC236}">
                <a16:creationId xmlns:a16="http://schemas.microsoft.com/office/drawing/2014/main" id="{616CA8E0-6A6E-BFC9-1F30-51EF8A9F9DC5}"/>
              </a:ext>
            </a:extLst>
          </p:cNvPr>
          <p:cNvSpPr>
            <a:spLocks noChangeArrowheads="1"/>
          </p:cNvSpPr>
          <p:nvPr/>
        </p:nvSpPr>
        <p:spPr bwMode="auto">
          <a:xfrm>
            <a:off x="838200" y="5791200"/>
            <a:ext cx="3048000" cy="457200"/>
          </a:xfrm>
          <a:prstGeom prst="parallelogram">
            <a:avLst>
              <a:gd name="adj" fmla="val 166667"/>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79889" name="WordArt 17">
            <a:extLst>
              <a:ext uri="{FF2B5EF4-FFF2-40B4-BE49-F238E27FC236}">
                <a16:creationId xmlns:a16="http://schemas.microsoft.com/office/drawing/2014/main" id="{E31E1F16-A085-B7D1-75D0-EC7E1C639E0A}"/>
              </a:ext>
            </a:extLst>
          </p:cNvPr>
          <p:cNvSpPr>
            <a:spLocks noChangeArrowheads="1" noChangeShapeType="1" noTextEdit="1"/>
          </p:cNvSpPr>
          <p:nvPr/>
        </p:nvSpPr>
        <p:spPr bwMode="auto">
          <a:xfrm>
            <a:off x="1219200" y="5867400"/>
            <a:ext cx="2133600" cy="304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36806"/>
              </a:avLst>
            </a:prstTxWarp>
          </a:bodyPr>
          <a:lstStyle/>
          <a:p>
            <a:r>
              <a:rPr lang="en-US" altLang="zh-CN"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rPr>
              <a:t>1543</a:t>
            </a:r>
            <a:endParaRPr lang="zh-CN" altLang="en-US"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endParaRPr>
          </a:p>
        </p:txBody>
      </p:sp>
      <p:sp>
        <p:nvSpPr>
          <p:cNvPr id="79890" name="WordArt 18">
            <a:extLst>
              <a:ext uri="{FF2B5EF4-FFF2-40B4-BE49-F238E27FC236}">
                <a16:creationId xmlns:a16="http://schemas.microsoft.com/office/drawing/2014/main" id="{9F08723B-D8A6-175F-5E86-61497B55F1F7}"/>
              </a:ext>
            </a:extLst>
          </p:cNvPr>
          <p:cNvSpPr>
            <a:spLocks noChangeArrowheads="1" noChangeShapeType="1" noTextEdit="1"/>
          </p:cNvSpPr>
          <p:nvPr/>
        </p:nvSpPr>
        <p:spPr bwMode="auto">
          <a:xfrm flipH="1">
            <a:off x="5715000" y="5181600"/>
            <a:ext cx="1219200" cy="228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66551"/>
              </a:avLst>
            </a:prstTxWarp>
          </a:bodyPr>
          <a:lstStyle/>
          <a:p>
            <a:r>
              <a:rPr lang="en-US" altLang="zh-CN" sz="3600" b="1" kern="10">
                <a:solidFill>
                  <a:schemeClr val="tx2"/>
                </a:solidFill>
                <a:effectLst>
                  <a:outerShdw dist="45791" dir="2021404" algn="ctr" rotWithShape="0">
                    <a:srgbClr val="C0C0C0"/>
                  </a:outerShdw>
                </a:effectLst>
                <a:latin typeface="Arial" panose="020B0604020202020204" pitchFamily="34" charset="0"/>
                <a:cs typeface="Arial" panose="020B0604020202020204" pitchFamily="34" charset="0"/>
              </a:rPr>
              <a:t>41</a:t>
            </a:r>
            <a:endParaRPr lang="zh-CN" altLang="en-US" sz="3600" b="1" kern="10">
              <a:solidFill>
                <a:schemeClr val="tx2"/>
              </a:solidFill>
              <a:effectLst>
                <a:outerShdw dist="45791" dir="2021404" algn="ctr" rotWithShape="0">
                  <a:srgbClr val="C0C0C0"/>
                </a:outerShdw>
              </a:effectLst>
              <a:latin typeface="Arial" panose="020B0604020202020204" pitchFamily="34" charset="0"/>
              <a:cs typeface="Arial" panose="020B0604020202020204" pitchFamily="34" charset="0"/>
            </a:endParaRPr>
          </a:p>
        </p:txBody>
      </p:sp>
      <p:sp>
        <p:nvSpPr>
          <p:cNvPr id="79891" name="AutoShape 19" descr="白色大理石">
            <a:extLst>
              <a:ext uri="{FF2B5EF4-FFF2-40B4-BE49-F238E27FC236}">
                <a16:creationId xmlns:a16="http://schemas.microsoft.com/office/drawing/2014/main" id="{5A5B425C-6D72-A683-6494-2474E4CDB7CD}"/>
              </a:ext>
            </a:extLst>
          </p:cNvPr>
          <p:cNvSpPr>
            <a:spLocks noChangeArrowheads="1"/>
          </p:cNvSpPr>
          <p:nvPr/>
        </p:nvSpPr>
        <p:spPr bwMode="auto">
          <a:xfrm>
            <a:off x="4876800" y="3886200"/>
            <a:ext cx="2667000" cy="457200"/>
          </a:xfrm>
          <a:prstGeom prst="parallelogram">
            <a:avLst>
              <a:gd name="adj" fmla="val 179159"/>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79892" name="WordArt 20">
            <a:extLst>
              <a:ext uri="{FF2B5EF4-FFF2-40B4-BE49-F238E27FC236}">
                <a16:creationId xmlns:a16="http://schemas.microsoft.com/office/drawing/2014/main" id="{F020A66D-A1F7-33A3-8D4D-BB4C54A62844}"/>
              </a:ext>
            </a:extLst>
          </p:cNvPr>
          <p:cNvSpPr>
            <a:spLocks noChangeArrowheads="1" noChangeShapeType="1" noTextEdit="1"/>
          </p:cNvSpPr>
          <p:nvPr/>
        </p:nvSpPr>
        <p:spPr bwMode="auto">
          <a:xfrm>
            <a:off x="5181600" y="4038600"/>
            <a:ext cx="1981200" cy="228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0306"/>
              </a:avLst>
            </a:prstTxWarp>
          </a:bodyPr>
          <a:lstStyle/>
          <a:p>
            <a:r>
              <a:rPr lang="en-US" altLang="zh-CN"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rPr>
              <a:t>239</a:t>
            </a:r>
            <a:endParaRPr lang="zh-CN" altLang="en-US"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endParaRPr>
          </a:p>
        </p:txBody>
      </p:sp>
      <p:sp>
        <p:nvSpPr>
          <p:cNvPr id="79893" name="WordArt 21">
            <a:extLst>
              <a:ext uri="{FF2B5EF4-FFF2-40B4-BE49-F238E27FC236}">
                <a16:creationId xmlns:a16="http://schemas.microsoft.com/office/drawing/2014/main" id="{20426F4F-5A5C-564D-5233-9447836850BC}"/>
              </a:ext>
            </a:extLst>
          </p:cNvPr>
          <p:cNvSpPr>
            <a:spLocks noChangeArrowheads="1" noChangeShapeType="1" noTextEdit="1"/>
          </p:cNvSpPr>
          <p:nvPr/>
        </p:nvSpPr>
        <p:spPr bwMode="auto">
          <a:xfrm>
            <a:off x="1676400" y="4038600"/>
            <a:ext cx="1981200" cy="228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0306"/>
              </a:avLst>
            </a:prstTxWarp>
          </a:bodyPr>
          <a:lstStyle/>
          <a:p>
            <a:r>
              <a:rPr lang="en-US" altLang="zh-CN"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rPr>
              <a:t>239</a:t>
            </a:r>
            <a:endParaRPr lang="zh-CN" altLang="en-US"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endParaRPr>
          </a:p>
        </p:txBody>
      </p:sp>
      <p:sp>
        <p:nvSpPr>
          <p:cNvPr id="79894" name="WordArt 22">
            <a:extLst>
              <a:ext uri="{FF2B5EF4-FFF2-40B4-BE49-F238E27FC236}">
                <a16:creationId xmlns:a16="http://schemas.microsoft.com/office/drawing/2014/main" id="{AD930881-5465-18D1-7340-014D5C992D98}"/>
              </a:ext>
            </a:extLst>
          </p:cNvPr>
          <p:cNvSpPr>
            <a:spLocks noChangeArrowheads="1" noChangeShapeType="1" noTextEdit="1"/>
          </p:cNvSpPr>
          <p:nvPr/>
        </p:nvSpPr>
        <p:spPr bwMode="auto">
          <a:xfrm flipH="1">
            <a:off x="5181600" y="4419600"/>
            <a:ext cx="1981200" cy="228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60213"/>
              </a:avLst>
            </a:prstTxWarp>
          </a:bodyPr>
          <a:lstStyle/>
          <a:p>
            <a:r>
              <a:rPr lang="en-US" altLang="zh-CN" sz="3600" b="1" kern="10">
                <a:solidFill>
                  <a:schemeClr val="tx2"/>
                </a:solidFill>
                <a:effectLst>
                  <a:outerShdw dist="45791" dir="2021404" algn="ctr" rotWithShape="0">
                    <a:srgbClr val="C0C0C0"/>
                  </a:outerShdw>
                </a:effectLst>
                <a:latin typeface="Arial" panose="020B0604020202020204" pitchFamily="34" charset="0"/>
                <a:cs typeface="Arial" panose="020B0604020202020204" pitchFamily="34" charset="0"/>
              </a:rPr>
              <a:t>385</a:t>
            </a:r>
            <a:endParaRPr lang="zh-CN" altLang="en-US" sz="3600" b="1" kern="10">
              <a:solidFill>
                <a:schemeClr val="tx2"/>
              </a:solidFill>
              <a:effectLst>
                <a:outerShdw dist="45791" dir="2021404" algn="ctr" rotWithShape="0">
                  <a:srgbClr val="C0C0C0"/>
                </a:outerShdw>
              </a:effectLst>
              <a:latin typeface="Arial" panose="020B0604020202020204" pitchFamily="34" charset="0"/>
              <a:cs typeface="Arial" panose="020B0604020202020204" pitchFamily="34" charset="0"/>
            </a:endParaRPr>
          </a:p>
        </p:txBody>
      </p:sp>
      <p:sp>
        <p:nvSpPr>
          <p:cNvPr id="79895" name="WordArt 23">
            <a:extLst>
              <a:ext uri="{FF2B5EF4-FFF2-40B4-BE49-F238E27FC236}">
                <a16:creationId xmlns:a16="http://schemas.microsoft.com/office/drawing/2014/main" id="{1EB4029B-5FFF-726A-90B4-1AAE402DF087}"/>
              </a:ext>
            </a:extLst>
          </p:cNvPr>
          <p:cNvSpPr>
            <a:spLocks noChangeArrowheads="1" noChangeShapeType="1" noTextEdit="1"/>
          </p:cNvSpPr>
          <p:nvPr/>
        </p:nvSpPr>
        <p:spPr bwMode="auto">
          <a:xfrm>
            <a:off x="5334000" y="4800600"/>
            <a:ext cx="1676400" cy="228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39866"/>
              </a:avLst>
            </a:prstTxWarp>
          </a:bodyPr>
          <a:lstStyle/>
          <a:p>
            <a:r>
              <a:rPr lang="en-US" altLang="zh-CN"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rPr>
              <a:t>878</a:t>
            </a:r>
            <a:endParaRPr lang="zh-CN" altLang="en-US"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endParaRPr>
          </a:p>
        </p:txBody>
      </p:sp>
      <p:sp>
        <p:nvSpPr>
          <p:cNvPr id="471064" name="Rectangle 24">
            <a:extLst>
              <a:ext uri="{FF2B5EF4-FFF2-40B4-BE49-F238E27FC236}">
                <a16:creationId xmlns:a16="http://schemas.microsoft.com/office/drawing/2014/main" id="{B7E2F89E-4F18-7E82-CE6C-9F18771A41E4}"/>
              </a:ext>
            </a:extLst>
          </p:cNvPr>
          <p:cNvSpPr>
            <a:spLocks noChangeArrowheads="1"/>
          </p:cNvSpPr>
          <p:nvPr/>
        </p:nvSpPr>
        <p:spPr bwMode="auto">
          <a:xfrm>
            <a:off x="4572000" y="5562600"/>
            <a:ext cx="3048000" cy="152400"/>
          </a:xfrm>
          <a:prstGeom prst="rect">
            <a:avLst/>
          </a:prstGeom>
          <a:gradFill rotWithShape="0">
            <a:gsLst>
              <a:gs pos="0">
                <a:schemeClr val="accent1"/>
              </a:gs>
              <a:gs pos="100000">
                <a:schemeClr val="accent1">
                  <a:gamma/>
                  <a:shade val="46275"/>
                  <a:invGamma/>
                </a:schemeClr>
              </a:gs>
            </a:gsLst>
            <a:lin ang="5400000" scaled="1"/>
          </a:gradFill>
          <a:ln w="9525">
            <a:solidFill>
              <a:schemeClr val="bg1"/>
            </a:solidFill>
            <a:miter lim="800000"/>
            <a:headEnd/>
            <a:tailEnd/>
          </a:ln>
          <a:effectLst/>
        </p:spPr>
        <p:txBody>
          <a:bodyPr wrap="none" anchor="ctr"/>
          <a:lstStyle/>
          <a:p>
            <a:pPr>
              <a:defRPr/>
            </a:pPr>
            <a:endParaRPr lang="zh-CN" altLang="en-US">
              <a:ea typeface="宋体" charset="-122"/>
            </a:endParaRPr>
          </a:p>
        </p:txBody>
      </p:sp>
      <p:sp>
        <p:nvSpPr>
          <p:cNvPr id="79897" name="AutoShape 25" descr="白色大理石">
            <a:extLst>
              <a:ext uri="{FF2B5EF4-FFF2-40B4-BE49-F238E27FC236}">
                <a16:creationId xmlns:a16="http://schemas.microsoft.com/office/drawing/2014/main" id="{829AD366-A3F9-85B6-5663-1EEF8A03C8CF}"/>
              </a:ext>
            </a:extLst>
          </p:cNvPr>
          <p:cNvSpPr>
            <a:spLocks noChangeArrowheads="1"/>
          </p:cNvSpPr>
          <p:nvPr/>
        </p:nvSpPr>
        <p:spPr bwMode="auto">
          <a:xfrm>
            <a:off x="4419600" y="5791200"/>
            <a:ext cx="3048000" cy="457200"/>
          </a:xfrm>
          <a:prstGeom prst="parallelogram">
            <a:avLst>
              <a:gd name="adj" fmla="val 166667"/>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79898" name="WordArt 26">
            <a:extLst>
              <a:ext uri="{FF2B5EF4-FFF2-40B4-BE49-F238E27FC236}">
                <a16:creationId xmlns:a16="http://schemas.microsoft.com/office/drawing/2014/main" id="{1E30745F-C676-97B8-A05A-C88D4090EB84}"/>
              </a:ext>
            </a:extLst>
          </p:cNvPr>
          <p:cNvSpPr>
            <a:spLocks noChangeArrowheads="1" noChangeShapeType="1" noTextEdit="1"/>
          </p:cNvSpPr>
          <p:nvPr/>
        </p:nvSpPr>
        <p:spPr bwMode="auto">
          <a:xfrm>
            <a:off x="4876800" y="5867400"/>
            <a:ext cx="2133600" cy="304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36806"/>
              </a:avLst>
            </a:prstTxWarp>
          </a:bodyPr>
          <a:lstStyle/>
          <a:p>
            <a:r>
              <a:rPr lang="en-US" altLang="zh-CN"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rPr>
              <a:t>1714</a:t>
            </a:r>
            <a:endParaRPr lang="zh-CN" altLang="en-US" sz="3600" b="1" kern="10">
              <a:solidFill>
                <a:srgbClr val="0000FF"/>
              </a:solidFill>
              <a:effectLst>
                <a:outerShdw dist="45791" dir="2021404" algn="ctr" rotWithShape="0">
                  <a:srgbClr val="C0C0C0"/>
                </a:outerShdw>
              </a:effectLst>
              <a:latin typeface="Arial" panose="020B0604020202020204" pitchFamily="34" charset="0"/>
              <a:cs typeface="Arial" panose="020B0604020202020204" pitchFamily="34" charset="0"/>
            </a:endParaRPr>
          </a:p>
        </p:txBody>
      </p:sp>
      <p:sp>
        <p:nvSpPr>
          <p:cNvPr id="79899" name="AutoShape 27">
            <a:extLst>
              <a:ext uri="{FF2B5EF4-FFF2-40B4-BE49-F238E27FC236}">
                <a16:creationId xmlns:a16="http://schemas.microsoft.com/office/drawing/2014/main" id="{38BF06A5-A061-36CD-8DBE-211A48CA5D70}"/>
              </a:ext>
            </a:extLst>
          </p:cNvPr>
          <p:cNvSpPr>
            <a:spLocks noChangeArrowheads="1"/>
          </p:cNvSpPr>
          <p:nvPr/>
        </p:nvSpPr>
        <p:spPr bwMode="auto">
          <a:xfrm>
            <a:off x="1447800" y="5867400"/>
            <a:ext cx="457200" cy="228600"/>
          </a:xfrm>
          <a:prstGeom prst="irregularSeal2">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79900" name="AutoShape 28">
            <a:extLst>
              <a:ext uri="{FF2B5EF4-FFF2-40B4-BE49-F238E27FC236}">
                <a16:creationId xmlns:a16="http://schemas.microsoft.com/office/drawing/2014/main" id="{BEDB1C22-3B75-C1BA-4E55-F7213A98D06B}"/>
              </a:ext>
            </a:extLst>
          </p:cNvPr>
          <p:cNvSpPr>
            <a:spLocks noChangeArrowheads="1"/>
          </p:cNvSpPr>
          <p:nvPr/>
        </p:nvSpPr>
        <p:spPr bwMode="auto">
          <a:xfrm>
            <a:off x="5105400" y="5867400"/>
            <a:ext cx="457200" cy="228600"/>
          </a:xfrm>
          <a:prstGeom prst="irregularSeal2">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471069" name="Text Box 29">
            <a:extLst>
              <a:ext uri="{FF2B5EF4-FFF2-40B4-BE49-F238E27FC236}">
                <a16:creationId xmlns:a16="http://schemas.microsoft.com/office/drawing/2014/main" id="{F2EE1092-E0B0-01CE-44DF-91FF62E2D182}"/>
              </a:ext>
            </a:extLst>
          </p:cNvPr>
          <p:cNvSpPr txBox="1">
            <a:spLocks noChangeArrowheads="1"/>
          </p:cNvSpPr>
          <p:nvPr/>
        </p:nvSpPr>
        <p:spPr bwMode="auto">
          <a:xfrm>
            <a:off x="7712075" y="4267200"/>
            <a:ext cx="593725" cy="1263650"/>
          </a:xfrm>
          <a:prstGeom prst="rect">
            <a:avLst/>
          </a:prstGeom>
          <a:noFill/>
          <a:ln w="9525">
            <a:noFill/>
            <a:miter lim="800000"/>
            <a:headEnd/>
            <a:tailEnd/>
          </a:ln>
          <a:effectLst/>
        </p:spPr>
        <p:txBody>
          <a:bodyPr wrap="none">
            <a:spAutoFit/>
          </a:bodyPr>
          <a:lstStyle/>
          <a:p>
            <a:pPr>
              <a:lnSpc>
                <a:spcPct val="80000"/>
              </a:lnSpc>
              <a:defRPr/>
            </a:pPr>
            <a:r>
              <a:rPr lang="zh-CN" altLang="en-US" b="1">
                <a:effectLst>
                  <a:outerShdw blurRad="38100" dist="38100" dir="2700000" algn="tl">
                    <a:srgbClr val="C0C0C0"/>
                  </a:outerShdw>
                </a:effectLst>
                <a:ea typeface="隶书" pitchFamily="49" charset="-122"/>
              </a:rPr>
              <a:t>分</a:t>
            </a:r>
          </a:p>
          <a:p>
            <a:pPr>
              <a:lnSpc>
                <a:spcPct val="80000"/>
              </a:lnSpc>
              <a:defRPr/>
            </a:pPr>
            <a:r>
              <a:rPr lang="zh-CN" altLang="en-US" b="1">
                <a:effectLst>
                  <a:outerShdw blurRad="38100" dist="38100" dir="2700000" algn="tl">
                    <a:srgbClr val="C0C0C0"/>
                  </a:outerShdw>
                </a:effectLst>
                <a:ea typeface="隶书" pitchFamily="49" charset="-122"/>
              </a:rPr>
              <a:t>界</a:t>
            </a:r>
          </a:p>
          <a:p>
            <a:pPr>
              <a:lnSpc>
                <a:spcPct val="80000"/>
              </a:lnSpc>
              <a:defRPr/>
            </a:pPr>
            <a:r>
              <a:rPr lang="zh-CN" altLang="en-US" b="1">
                <a:effectLst>
                  <a:outerShdw blurRad="38100" dist="38100" dir="2700000" algn="tl">
                    <a:srgbClr val="C0C0C0"/>
                  </a:outerShdw>
                </a:effectLst>
                <a:ea typeface="隶书" pitchFamily="49" charset="-122"/>
              </a:rPr>
              <a:t>法</a:t>
            </a:r>
            <a:endParaRPr lang="zh-CN" altLang="en-US" b="1">
              <a:ea typeface="宋体" charset="-122"/>
            </a:endParaRPr>
          </a:p>
        </p:txBody>
      </p:sp>
      <p:sp>
        <p:nvSpPr>
          <p:cNvPr id="4" name="标题 3">
            <a:extLst>
              <a:ext uri="{FF2B5EF4-FFF2-40B4-BE49-F238E27FC236}">
                <a16:creationId xmlns:a16="http://schemas.microsoft.com/office/drawing/2014/main" id="{8B5150AE-9D55-4ACF-B600-7C03110AA87B}"/>
              </a:ext>
            </a:extLst>
          </p:cNvPr>
          <p:cNvSpPr>
            <a:spLocks noGrp="1"/>
          </p:cNvSpPr>
          <p:nvPr>
            <p:ph type="title"/>
          </p:nvPr>
        </p:nvSpPr>
        <p:spPr/>
        <p:txBody>
          <a:bodyPr/>
          <a:lstStyle/>
          <a:p>
            <a:r>
              <a:rPr lang="zh-CN" altLang="en-US" dirty="0"/>
              <a:t>示例</a:t>
            </a:r>
          </a:p>
        </p:txBody>
      </p:sp>
      <p:sp>
        <p:nvSpPr>
          <p:cNvPr id="2" name="灯片编号占位符 1">
            <a:extLst>
              <a:ext uri="{FF2B5EF4-FFF2-40B4-BE49-F238E27FC236}">
                <a16:creationId xmlns:a16="http://schemas.microsoft.com/office/drawing/2014/main" id="{B4AE13B2-6F28-0967-AD1E-89236BE34A8A}"/>
              </a:ext>
            </a:extLst>
          </p:cNvPr>
          <p:cNvSpPr>
            <a:spLocks noGrp="1"/>
          </p:cNvSpPr>
          <p:nvPr>
            <p:ph type="sldNum" sz="quarter" idx="12"/>
          </p:nvPr>
        </p:nvSpPr>
        <p:spPr/>
        <p:txBody>
          <a:bodyPr/>
          <a:lstStyle/>
          <a:p>
            <a:pPr>
              <a:defRPr/>
            </a:pPr>
            <a:fld id="{524B865F-46F8-4520-B0DD-31ED36EF62D9}" type="slidenum">
              <a:rPr lang="en-US" altLang="zh-CN" smtClean="0"/>
              <a:pPr>
                <a:defRPr/>
              </a:pPr>
              <a:t>62</a:t>
            </a:fld>
            <a:endParaRPr lang="en-US" altLang="zh-CN"/>
          </a:p>
        </p:txBody>
      </p:sp>
    </p:spTree>
  </p:cSld>
  <p:clrMapOvr>
    <a:masterClrMapping/>
  </p:clrMapOvr>
  <p:transition>
    <p:spli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551AEF3-12F8-46D9-B999-A9A12FA7A34D}"/>
              </a:ext>
            </a:extLst>
          </p:cNvPr>
          <p:cNvSpPr>
            <a:spLocks noGrp="1"/>
          </p:cNvSpPr>
          <p:nvPr>
            <p:ph type="title"/>
          </p:nvPr>
        </p:nvSpPr>
        <p:spPr/>
        <p:txBody>
          <a:bodyPr/>
          <a:lstStyle/>
          <a:p>
            <a:r>
              <a:rPr lang="zh-CN" altLang="en-US" dirty="0"/>
              <a:t>各种方法比较</a:t>
            </a:r>
          </a:p>
        </p:txBody>
      </p:sp>
      <p:sp>
        <p:nvSpPr>
          <p:cNvPr id="472066" name="Rectangle 2">
            <a:extLst>
              <a:ext uri="{FF2B5EF4-FFF2-40B4-BE49-F238E27FC236}">
                <a16:creationId xmlns:a16="http://schemas.microsoft.com/office/drawing/2014/main" id="{C259585E-A69C-5679-0657-4C76A5B51BA1}"/>
              </a:ext>
            </a:extLst>
          </p:cNvPr>
          <p:cNvSpPr>
            <a:spLocks noGrp="1" noChangeArrowheads="1"/>
          </p:cNvSpPr>
          <p:nvPr>
            <p:ph type="body" idx="1"/>
          </p:nvPr>
        </p:nvSpPr>
        <p:spPr/>
        <p:txBody>
          <a:bodyPr>
            <a:normAutofit/>
          </a:bodyPr>
          <a:lstStyle/>
          <a:p>
            <a:r>
              <a:rPr lang="zh-CN" altLang="en-US" dirty="0"/>
              <a:t>在实际工作中应根据关键码的特点，选用适当的方法。</a:t>
            </a:r>
            <a:endParaRPr lang="en-US" altLang="zh-CN" dirty="0"/>
          </a:p>
          <a:p>
            <a:r>
              <a:rPr lang="zh-CN" altLang="en-US" dirty="0"/>
              <a:t>有人曾用“轮盘赌”的方式对以上这些方法进行了统计分析，结论是平方取中法最接近于“随机化”。</a:t>
            </a:r>
          </a:p>
        </p:txBody>
      </p:sp>
      <p:sp>
        <p:nvSpPr>
          <p:cNvPr id="2" name="灯片编号占位符 1">
            <a:extLst>
              <a:ext uri="{FF2B5EF4-FFF2-40B4-BE49-F238E27FC236}">
                <a16:creationId xmlns:a16="http://schemas.microsoft.com/office/drawing/2014/main" id="{ABFD1E1D-CB89-EFFF-94FB-E9A8762B3930}"/>
              </a:ext>
            </a:extLst>
          </p:cNvPr>
          <p:cNvSpPr>
            <a:spLocks noGrp="1"/>
          </p:cNvSpPr>
          <p:nvPr>
            <p:ph type="sldNum" sz="quarter" idx="12"/>
          </p:nvPr>
        </p:nvSpPr>
        <p:spPr/>
        <p:txBody>
          <a:bodyPr/>
          <a:lstStyle/>
          <a:p>
            <a:pPr>
              <a:defRPr/>
            </a:pPr>
            <a:fld id="{524B865F-46F8-4520-B0DD-31ED36EF62D9}" type="slidenum">
              <a:rPr lang="en-US" altLang="zh-CN" smtClean="0"/>
              <a:pPr>
                <a:defRPr/>
              </a:pPr>
              <a:t>63</a:t>
            </a:fld>
            <a:endParaRPr lang="en-US" altLang="zh-CN"/>
          </a:p>
        </p:txBody>
      </p:sp>
    </p:spTree>
  </p:cSld>
  <p:clrMapOvr>
    <a:masterClrMapping/>
  </p:clrMapOvr>
  <p:transition>
    <p:spli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CC4E71-BC72-4A6B-8289-5C299EE7C17D}"/>
              </a:ext>
            </a:extLst>
          </p:cNvPr>
          <p:cNvSpPr>
            <a:spLocks noGrp="1"/>
          </p:cNvSpPr>
          <p:nvPr>
            <p:ph type="title"/>
          </p:nvPr>
        </p:nvSpPr>
        <p:spPr/>
        <p:txBody>
          <a:bodyPr/>
          <a:lstStyle/>
          <a:p>
            <a:r>
              <a:rPr lang="zh-CN" altLang="en-US" dirty="0"/>
              <a:t> </a:t>
            </a:r>
            <a:r>
              <a:rPr lang="en-US" altLang="zh-CN" dirty="0"/>
              <a:t>6.5.3 </a:t>
            </a:r>
            <a:r>
              <a:rPr lang="zh-CN" altLang="en-US" dirty="0"/>
              <a:t>处理冲突的闭散列方法</a:t>
            </a:r>
          </a:p>
        </p:txBody>
      </p:sp>
      <p:sp>
        <p:nvSpPr>
          <p:cNvPr id="3" name="内容占位符 2">
            <a:extLst>
              <a:ext uri="{FF2B5EF4-FFF2-40B4-BE49-F238E27FC236}">
                <a16:creationId xmlns:a16="http://schemas.microsoft.com/office/drawing/2014/main" id="{CEF89109-701F-4537-A1B0-8ADDDBE053DE}"/>
              </a:ext>
            </a:extLst>
          </p:cNvPr>
          <p:cNvSpPr>
            <a:spLocks noGrp="1"/>
          </p:cNvSpPr>
          <p:nvPr>
            <p:ph idx="1"/>
          </p:nvPr>
        </p:nvSpPr>
        <p:spPr>
          <a:xfrm>
            <a:off x="628650" y="1825625"/>
            <a:ext cx="8335838" cy="3835623"/>
          </a:xfrm>
        </p:spPr>
        <p:txBody>
          <a:bodyPr>
            <a:normAutofit fontScale="70000" lnSpcReduction="20000"/>
          </a:bodyPr>
          <a:lstStyle/>
          <a:p>
            <a:r>
              <a:rPr lang="zh-CN" altLang="en-US" dirty="0"/>
              <a:t>任一种散列函数都不能确保不产生冲突，因此选择好的解决冲突的方法十分重要。</a:t>
            </a:r>
            <a:endParaRPr lang="en-US" altLang="zh-CN" dirty="0"/>
          </a:p>
          <a:p>
            <a:pPr>
              <a:lnSpc>
                <a:spcPct val="105000"/>
              </a:lnSpc>
              <a:spcBef>
                <a:spcPct val="20000"/>
              </a:spcBef>
              <a:defRPr/>
            </a:pPr>
            <a:r>
              <a:rPr lang="zh-CN" altLang="en-US" dirty="0"/>
              <a:t>为了减少冲突，对散列表加以改造。若设散列表 </a:t>
            </a:r>
            <a:r>
              <a:rPr lang="en-US" altLang="zh-CN" dirty="0"/>
              <a:t>HT </a:t>
            </a:r>
            <a:r>
              <a:rPr lang="zh-CN" altLang="en-US" dirty="0"/>
              <a:t>有 </a:t>
            </a:r>
            <a:r>
              <a:rPr lang="en-US" altLang="zh-CN" dirty="0"/>
              <a:t>m </a:t>
            </a:r>
            <a:r>
              <a:rPr lang="zh-CN" altLang="en-US" dirty="0"/>
              <a:t>个地址</a:t>
            </a:r>
            <a:r>
              <a:rPr lang="en-US" altLang="zh-CN" dirty="0"/>
              <a:t>,  </a:t>
            </a:r>
            <a:r>
              <a:rPr lang="zh-CN" altLang="en-US" dirty="0"/>
              <a:t>将其改为 </a:t>
            </a:r>
            <a:r>
              <a:rPr lang="en-US" altLang="zh-CN" dirty="0"/>
              <a:t>m </a:t>
            </a:r>
            <a:r>
              <a:rPr lang="zh-CN" altLang="en-US" dirty="0"/>
              <a:t>个桶。其桶号与散列地址一一对应</a:t>
            </a:r>
            <a:r>
              <a:rPr lang="en-US" altLang="zh-CN" dirty="0"/>
              <a:t>,  </a:t>
            </a:r>
            <a:r>
              <a:rPr lang="zh-CN" altLang="en-US" dirty="0"/>
              <a:t>第 </a:t>
            </a:r>
            <a:r>
              <a:rPr lang="en-US" altLang="zh-CN" dirty="0" err="1"/>
              <a:t>i</a:t>
            </a:r>
            <a:r>
              <a:rPr lang="en-US" altLang="zh-CN" dirty="0"/>
              <a:t> (0 </a:t>
            </a:r>
            <a:r>
              <a:rPr lang="en-US" altLang="zh-CN" dirty="0">
                <a:sym typeface="Symbol" pitchFamily="18" charset="2"/>
              </a:rPr>
              <a:t></a:t>
            </a:r>
            <a:r>
              <a:rPr lang="en-US" altLang="zh-CN" dirty="0"/>
              <a:t> </a:t>
            </a:r>
            <a:r>
              <a:rPr lang="en-US" altLang="zh-CN" dirty="0" err="1"/>
              <a:t>i</a:t>
            </a:r>
            <a:r>
              <a:rPr lang="en-US" altLang="zh-CN" dirty="0"/>
              <a:t> &lt; m) </a:t>
            </a:r>
            <a:r>
              <a:rPr lang="zh-CN" altLang="en-US" dirty="0"/>
              <a:t>个桶的桶号即为第 </a:t>
            </a:r>
            <a:r>
              <a:rPr lang="en-US" altLang="zh-CN" dirty="0" err="1"/>
              <a:t>i</a:t>
            </a:r>
            <a:r>
              <a:rPr lang="en-US" altLang="zh-CN" dirty="0"/>
              <a:t> </a:t>
            </a:r>
            <a:r>
              <a:rPr lang="zh-CN" altLang="en-US" dirty="0"/>
              <a:t>个散列地址。</a:t>
            </a:r>
          </a:p>
          <a:p>
            <a:pPr>
              <a:lnSpc>
                <a:spcPct val="105000"/>
              </a:lnSpc>
              <a:spcBef>
                <a:spcPct val="20000"/>
              </a:spcBef>
              <a:defRPr/>
            </a:pPr>
            <a:r>
              <a:rPr lang="zh-CN" altLang="en-US" dirty="0"/>
              <a:t>每个桶可存放 </a:t>
            </a:r>
            <a:r>
              <a:rPr lang="en-US" altLang="zh-CN" dirty="0"/>
              <a:t>s </a:t>
            </a:r>
            <a:r>
              <a:rPr lang="zh-CN" altLang="en-US" dirty="0"/>
              <a:t>个表项</a:t>
            </a:r>
            <a:r>
              <a:rPr lang="en-US" altLang="zh-CN" dirty="0"/>
              <a:t>,   </a:t>
            </a:r>
            <a:r>
              <a:rPr lang="zh-CN" altLang="en-US" dirty="0"/>
              <a:t>这些表项的关键码互为同义词。两个关键码计算的散列地址如果相同，就产生冲突，它们可以放在同一个桶内的不同位置。</a:t>
            </a:r>
            <a:endParaRPr lang="en-US" altLang="zh-CN" dirty="0"/>
          </a:p>
          <a:p>
            <a:pPr lvl="1"/>
            <a:r>
              <a:rPr lang="zh-CN" altLang="en-US" dirty="0"/>
              <a:t>只有当桶内所有 </a:t>
            </a:r>
            <a:r>
              <a:rPr lang="en-US" altLang="zh-CN" dirty="0"/>
              <a:t>s </a:t>
            </a:r>
            <a:r>
              <a:rPr lang="zh-CN" altLang="en-US" dirty="0"/>
              <a:t>个元素位置都放满后再加入才会产生溢出。</a:t>
            </a:r>
          </a:p>
          <a:p>
            <a:pPr lvl="1"/>
            <a:r>
              <a:rPr lang="zh-CN" altLang="en-US" dirty="0"/>
              <a:t>通常桶的大小 </a:t>
            </a:r>
            <a:r>
              <a:rPr lang="en-US" altLang="zh-CN" dirty="0"/>
              <a:t>s </a:t>
            </a:r>
            <a:r>
              <a:rPr lang="zh-CN" altLang="en-US" dirty="0"/>
              <a:t>取的比较小</a:t>
            </a:r>
            <a:r>
              <a:rPr lang="en-US" altLang="zh-CN" dirty="0"/>
              <a:t>,  </a:t>
            </a:r>
            <a:r>
              <a:rPr lang="zh-CN" altLang="en-US" dirty="0"/>
              <a:t>因此在桶内大多采用顺序搜索。</a:t>
            </a:r>
          </a:p>
        </p:txBody>
      </p:sp>
      <p:sp>
        <p:nvSpPr>
          <p:cNvPr id="4" name="灯片编号占位符 3">
            <a:extLst>
              <a:ext uri="{FF2B5EF4-FFF2-40B4-BE49-F238E27FC236}">
                <a16:creationId xmlns:a16="http://schemas.microsoft.com/office/drawing/2014/main" id="{B41CD353-B4AA-45A0-9C9E-D32B3C23AEB7}"/>
              </a:ext>
            </a:extLst>
          </p:cNvPr>
          <p:cNvSpPr>
            <a:spLocks noGrp="1"/>
          </p:cNvSpPr>
          <p:nvPr>
            <p:ph type="sldNum" sz="quarter" idx="12"/>
          </p:nvPr>
        </p:nvSpPr>
        <p:spPr/>
        <p:txBody>
          <a:bodyPr/>
          <a:lstStyle/>
          <a:p>
            <a:pPr>
              <a:defRPr/>
            </a:pPr>
            <a:fld id="{524B865F-46F8-4520-B0DD-31ED36EF62D9}" type="slidenum">
              <a:rPr lang="en-US" altLang="zh-CN" smtClean="0"/>
              <a:pPr>
                <a:defRPr/>
              </a:pPr>
              <a:t>64</a:t>
            </a:fld>
            <a:endParaRPr lang="en-US" altLang="zh-CN"/>
          </a:p>
        </p:txBody>
      </p:sp>
    </p:spTree>
    <p:extLst>
      <p:ext uri="{BB962C8B-B14F-4D97-AF65-F5344CB8AC3E}">
        <p14:creationId xmlns:p14="http://schemas.microsoft.com/office/powerpoint/2010/main" val="3810213313"/>
      </p:ext>
    </p:extLst>
  </p:cSld>
  <p:clrMapOvr>
    <a:masterClrMapping/>
  </p:clrMapOvr>
  <p:transition>
    <p:spli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B355FE1-F0D3-4B93-8B30-E8535C681BAC}"/>
              </a:ext>
            </a:extLst>
          </p:cNvPr>
          <p:cNvSpPr>
            <a:spLocks noGrp="1"/>
          </p:cNvSpPr>
          <p:nvPr>
            <p:ph type="title"/>
          </p:nvPr>
        </p:nvSpPr>
        <p:spPr/>
        <p:txBody>
          <a:bodyPr/>
          <a:lstStyle/>
          <a:p>
            <a:r>
              <a:rPr lang="zh-CN" altLang="en-US" dirty="0"/>
              <a:t>闭散列</a:t>
            </a:r>
          </a:p>
        </p:txBody>
      </p:sp>
      <p:sp>
        <p:nvSpPr>
          <p:cNvPr id="475139" name="Rectangle 3">
            <a:extLst>
              <a:ext uri="{FF2B5EF4-FFF2-40B4-BE49-F238E27FC236}">
                <a16:creationId xmlns:a16="http://schemas.microsoft.com/office/drawing/2014/main" id="{E8220E23-FBE7-BCEC-C8D2-D1328CDAD15B}"/>
              </a:ext>
            </a:extLst>
          </p:cNvPr>
          <p:cNvSpPr>
            <a:spLocks noGrp="1" noChangeArrowheads="1"/>
          </p:cNvSpPr>
          <p:nvPr>
            <p:ph type="body" idx="1"/>
          </p:nvPr>
        </p:nvSpPr>
        <p:spPr>
          <a:xfrm>
            <a:off x="628650" y="1825625"/>
            <a:ext cx="8047806" cy="4351338"/>
          </a:xfrm>
        </p:spPr>
        <p:txBody>
          <a:bodyPr>
            <a:normAutofit fontScale="70000" lnSpcReduction="20000"/>
          </a:bodyPr>
          <a:lstStyle/>
          <a:p>
            <a:r>
              <a:rPr lang="zh-CN" altLang="en-US" dirty="0"/>
              <a:t>闭散列也叫做开地址法。在闭散列情形，所有的桶都直接放在散列表数组中。每个桶只有一个表项 </a:t>
            </a:r>
            <a:r>
              <a:rPr lang="en-US" altLang="zh-CN" dirty="0"/>
              <a:t>( s = 1 )</a:t>
            </a:r>
            <a:r>
              <a:rPr lang="zh-CN" altLang="en-US" dirty="0"/>
              <a:t>。</a:t>
            </a:r>
          </a:p>
          <a:p>
            <a:r>
              <a:rPr lang="zh-CN" altLang="en-US" dirty="0"/>
              <a:t>若设散列表中各桶的编址为 </a:t>
            </a:r>
            <a:r>
              <a:rPr lang="en-US" altLang="zh-CN" dirty="0"/>
              <a:t>0 </a:t>
            </a:r>
            <a:r>
              <a:rPr lang="zh-CN" altLang="en-US" dirty="0"/>
              <a:t>到 </a:t>
            </a:r>
            <a:r>
              <a:rPr lang="en-US" altLang="zh-CN" dirty="0"/>
              <a:t>m-1,  </a:t>
            </a:r>
            <a:r>
              <a:rPr lang="zh-CN" altLang="en-US" dirty="0"/>
              <a:t>当要加入一个元素 </a:t>
            </a:r>
            <a:r>
              <a:rPr lang="en-US" altLang="zh-CN" dirty="0"/>
              <a:t>R2</a:t>
            </a:r>
            <a:r>
              <a:rPr lang="zh-CN" altLang="en-US" dirty="0"/>
              <a:t>时</a:t>
            </a:r>
            <a:r>
              <a:rPr lang="en-US" altLang="zh-CN" dirty="0"/>
              <a:t>,  </a:t>
            </a:r>
            <a:r>
              <a:rPr lang="zh-CN" altLang="en-US" dirty="0"/>
              <a:t>用它的关键码 </a:t>
            </a:r>
            <a:r>
              <a:rPr lang="en-US" altLang="zh-CN" dirty="0"/>
              <a:t>R2.key,  </a:t>
            </a:r>
            <a:r>
              <a:rPr lang="zh-CN" altLang="en-US" dirty="0"/>
              <a:t>通过散列函数 </a:t>
            </a:r>
            <a:r>
              <a:rPr lang="en-US" altLang="zh-CN" dirty="0"/>
              <a:t>hash ( R2.key ) </a:t>
            </a:r>
            <a:r>
              <a:rPr lang="zh-CN" altLang="en-US" dirty="0"/>
              <a:t>的计算，得到它的存放桶号 </a:t>
            </a:r>
            <a:r>
              <a:rPr lang="en-US" altLang="zh-CN" dirty="0"/>
              <a:t>j</a:t>
            </a:r>
            <a:r>
              <a:rPr lang="zh-CN" altLang="en-US" dirty="0"/>
              <a:t>。</a:t>
            </a:r>
          </a:p>
          <a:p>
            <a:r>
              <a:rPr lang="zh-CN" altLang="en-US" dirty="0"/>
              <a:t>但如果在存放时发现此桶已被另一个表项 </a:t>
            </a:r>
            <a:r>
              <a:rPr lang="en-US" altLang="zh-CN" dirty="0"/>
              <a:t>R1 </a:t>
            </a:r>
            <a:r>
              <a:rPr lang="zh-CN" altLang="en-US" dirty="0"/>
              <a:t>占据，发生了冲突，必须处理冲突。</a:t>
            </a:r>
          </a:p>
          <a:p>
            <a:pPr lvl="1"/>
            <a:r>
              <a:rPr lang="zh-CN" altLang="en-US" dirty="0"/>
              <a:t>为此</a:t>
            </a:r>
            <a:r>
              <a:rPr lang="en-US" altLang="zh-CN" dirty="0"/>
              <a:t>, </a:t>
            </a:r>
            <a:r>
              <a:rPr lang="zh-CN" altLang="en-US" dirty="0"/>
              <a:t>需把 </a:t>
            </a:r>
            <a:r>
              <a:rPr lang="en-US" altLang="zh-CN" dirty="0"/>
              <a:t>R2 </a:t>
            </a:r>
            <a:r>
              <a:rPr lang="zh-CN" altLang="en-US" dirty="0"/>
              <a:t>存放到表中“下一个”空桶中。 </a:t>
            </a:r>
          </a:p>
          <a:p>
            <a:pPr lvl="1"/>
            <a:r>
              <a:rPr lang="zh-CN" altLang="en-US" dirty="0"/>
              <a:t> 如果表未被装满，则在允许的范围内必定还有空桶。</a:t>
            </a:r>
          </a:p>
          <a:p>
            <a:r>
              <a:rPr lang="zh-CN" altLang="en-US" dirty="0"/>
              <a:t>可以有多种寻找“下一个”空桶的方法</a:t>
            </a:r>
          </a:p>
        </p:txBody>
      </p:sp>
      <p:sp>
        <p:nvSpPr>
          <p:cNvPr id="2" name="灯片编号占位符 1">
            <a:extLst>
              <a:ext uri="{FF2B5EF4-FFF2-40B4-BE49-F238E27FC236}">
                <a16:creationId xmlns:a16="http://schemas.microsoft.com/office/drawing/2014/main" id="{6028AC29-BFE9-99B5-04DC-E639F31A20EA}"/>
              </a:ext>
            </a:extLst>
          </p:cNvPr>
          <p:cNvSpPr>
            <a:spLocks noGrp="1"/>
          </p:cNvSpPr>
          <p:nvPr>
            <p:ph type="sldNum" sz="quarter" idx="12"/>
          </p:nvPr>
        </p:nvSpPr>
        <p:spPr/>
        <p:txBody>
          <a:bodyPr/>
          <a:lstStyle/>
          <a:p>
            <a:pPr>
              <a:defRPr/>
            </a:pPr>
            <a:fld id="{524B865F-46F8-4520-B0DD-31ED36EF62D9}" type="slidenum">
              <a:rPr lang="en-US" altLang="zh-CN" smtClean="0"/>
              <a:pPr>
                <a:defRPr/>
              </a:pPr>
              <a:t>65</a:t>
            </a:fld>
            <a:endParaRPr lang="en-US" altLang="zh-CN"/>
          </a:p>
        </p:txBody>
      </p:sp>
    </p:spTree>
  </p:cSld>
  <p:clrMapOvr>
    <a:masterClrMapping/>
  </p:clrMapOvr>
  <p:transition>
    <p:spli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2AFB0A-16A1-4C2F-A857-46C21007A349}"/>
              </a:ext>
            </a:extLst>
          </p:cNvPr>
          <p:cNvSpPr>
            <a:spLocks noGrp="1"/>
          </p:cNvSpPr>
          <p:nvPr>
            <p:ph type="title"/>
          </p:nvPr>
        </p:nvSpPr>
        <p:spPr/>
        <p:txBody>
          <a:bodyPr/>
          <a:lstStyle/>
          <a:p>
            <a:r>
              <a:rPr lang="en-US" altLang="zh-CN" dirty="0"/>
              <a:t>(1) </a:t>
            </a:r>
            <a:r>
              <a:rPr lang="zh-CN" altLang="en-US" dirty="0"/>
              <a:t>线性探查法 </a:t>
            </a:r>
            <a:r>
              <a:rPr lang="en-US" altLang="zh-CN" dirty="0"/>
              <a:t>(Linear Probing)</a:t>
            </a:r>
            <a:endParaRPr lang="zh-CN" altLang="en-US" dirty="0"/>
          </a:p>
        </p:txBody>
      </p:sp>
      <p:sp>
        <p:nvSpPr>
          <p:cNvPr id="3" name="内容占位符 2">
            <a:extLst>
              <a:ext uri="{FF2B5EF4-FFF2-40B4-BE49-F238E27FC236}">
                <a16:creationId xmlns:a16="http://schemas.microsoft.com/office/drawing/2014/main" id="{E12B9D50-28F9-40C9-AB18-2F41C66A00B7}"/>
              </a:ext>
            </a:extLst>
          </p:cNvPr>
          <p:cNvSpPr>
            <a:spLocks noGrp="1"/>
          </p:cNvSpPr>
          <p:nvPr>
            <p:ph idx="1"/>
          </p:nvPr>
        </p:nvSpPr>
        <p:spPr/>
        <p:txBody>
          <a:bodyPr>
            <a:normAutofit lnSpcReduction="10000"/>
          </a:bodyPr>
          <a:lstStyle/>
          <a:p>
            <a:r>
              <a:rPr lang="zh-CN" altLang="en-US" dirty="0"/>
              <a:t>例：</a:t>
            </a:r>
            <a:endParaRPr lang="en-US" altLang="zh-CN" dirty="0"/>
          </a:p>
          <a:p>
            <a:pPr lvl="1"/>
            <a:r>
              <a:rPr lang="zh-CN" altLang="en-US" dirty="0"/>
              <a:t>给出一组元素，它们的关键码为 </a:t>
            </a:r>
            <a:r>
              <a:rPr lang="en-US" altLang="zh-CN" dirty="0"/>
              <a:t>Burke, </a:t>
            </a:r>
            <a:r>
              <a:rPr lang="en-US" altLang="zh-CN" dirty="0" err="1"/>
              <a:t>Ekers</a:t>
            </a:r>
            <a:r>
              <a:rPr lang="en-US" altLang="zh-CN" dirty="0"/>
              <a:t>, Broad, Blum, Attlee, Alton, Hecht, </a:t>
            </a:r>
            <a:r>
              <a:rPr lang="en-US" altLang="zh-CN" dirty="0" err="1"/>
              <a:t>Ederly</a:t>
            </a:r>
            <a:r>
              <a:rPr lang="zh-CN" altLang="en-US" dirty="0"/>
              <a:t>。</a:t>
            </a:r>
            <a:endParaRPr lang="en-US" altLang="zh-CN" dirty="0"/>
          </a:p>
          <a:p>
            <a:pPr lvl="1"/>
            <a:r>
              <a:rPr lang="zh-CN" altLang="en-US" dirty="0"/>
              <a:t>采用的散列函数：取每个关键码第一个字母在字母表中的位置（以下</a:t>
            </a:r>
            <a:r>
              <a:rPr lang="en-US" altLang="zh-CN" dirty="0" err="1"/>
              <a:t>ord</a:t>
            </a:r>
            <a:r>
              <a:rPr lang="en-US" altLang="zh-CN" dirty="0"/>
              <a:t> ( ) </a:t>
            </a:r>
            <a:r>
              <a:rPr lang="zh-CN" altLang="en-US" dirty="0"/>
              <a:t>是求字符内码的函数）。 </a:t>
            </a:r>
          </a:p>
          <a:p>
            <a:pPr lvl="2"/>
            <a:r>
              <a:rPr lang="en-US" altLang="zh-CN" dirty="0"/>
              <a:t>Hash (x) = </a:t>
            </a:r>
            <a:r>
              <a:rPr lang="en-US" altLang="zh-CN" dirty="0" err="1"/>
              <a:t>ord</a:t>
            </a:r>
            <a:r>
              <a:rPr lang="en-US" altLang="zh-CN" dirty="0"/>
              <a:t> (x) - </a:t>
            </a:r>
            <a:r>
              <a:rPr lang="en-US" altLang="zh-CN" dirty="0" err="1"/>
              <a:t>ord</a:t>
            </a:r>
            <a:r>
              <a:rPr lang="en-US" altLang="zh-CN" dirty="0"/>
              <a:t> (‘A’) 	</a:t>
            </a:r>
          </a:p>
          <a:p>
            <a:pPr lvl="1"/>
            <a:r>
              <a:rPr lang="zh-CN" altLang="en-US" dirty="0"/>
              <a:t>构造的散列表如下：</a:t>
            </a:r>
            <a:endParaRPr lang="en-US" altLang="zh-CN" dirty="0"/>
          </a:p>
        </p:txBody>
      </p:sp>
      <p:sp>
        <p:nvSpPr>
          <p:cNvPr id="4" name="灯片编号占位符 3">
            <a:extLst>
              <a:ext uri="{FF2B5EF4-FFF2-40B4-BE49-F238E27FC236}">
                <a16:creationId xmlns:a16="http://schemas.microsoft.com/office/drawing/2014/main" id="{FA951DCE-05BF-413E-BA83-42869A0D59AD}"/>
              </a:ext>
            </a:extLst>
          </p:cNvPr>
          <p:cNvSpPr>
            <a:spLocks noGrp="1"/>
          </p:cNvSpPr>
          <p:nvPr>
            <p:ph type="sldNum" sz="quarter" idx="12"/>
          </p:nvPr>
        </p:nvSpPr>
        <p:spPr/>
        <p:txBody>
          <a:bodyPr/>
          <a:lstStyle/>
          <a:p>
            <a:pPr>
              <a:defRPr/>
            </a:pPr>
            <a:fld id="{524B865F-46F8-4520-B0DD-31ED36EF62D9}" type="slidenum">
              <a:rPr lang="en-US" altLang="zh-CN" smtClean="0"/>
              <a:pPr>
                <a:defRPr/>
              </a:pPr>
              <a:t>66</a:t>
            </a:fld>
            <a:endParaRPr lang="en-US" altLang="zh-CN"/>
          </a:p>
        </p:txBody>
      </p:sp>
    </p:spTree>
    <p:extLst>
      <p:ext uri="{BB962C8B-B14F-4D97-AF65-F5344CB8AC3E}">
        <p14:creationId xmlns:p14="http://schemas.microsoft.com/office/powerpoint/2010/main" val="4174273229"/>
      </p:ext>
    </p:extLst>
  </p:cSld>
  <p:clrMapOvr>
    <a:masterClrMapping/>
  </p:clrMapOvr>
  <p:transition>
    <p:spli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7" name="Rectangle 3">
            <a:extLst>
              <a:ext uri="{FF2B5EF4-FFF2-40B4-BE49-F238E27FC236}">
                <a16:creationId xmlns:a16="http://schemas.microsoft.com/office/drawing/2014/main" id="{0E06C562-9EFF-E36D-CA3C-A9594F7A10F7}"/>
              </a:ext>
            </a:extLst>
          </p:cNvPr>
          <p:cNvSpPr>
            <a:spLocks noGrp="1" noChangeArrowheads="1"/>
          </p:cNvSpPr>
          <p:nvPr>
            <p:ph type="body" idx="1"/>
          </p:nvPr>
        </p:nvSpPr>
        <p:spPr>
          <a:xfrm>
            <a:off x="571500" y="373062"/>
            <a:ext cx="7888932" cy="3513138"/>
          </a:xfrm>
        </p:spPr>
        <p:txBody>
          <a:bodyPr>
            <a:normAutofit fontScale="92500" lnSpcReduction="10000"/>
          </a:bodyPr>
          <a:lstStyle/>
          <a:p>
            <a:r>
              <a:rPr lang="zh-CN" altLang="en-US" dirty="0"/>
              <a:t>计算可得</a:t>
            </a:r>
            <a:endParaRPr lang="en-US" altLang="zh-CN" dirty="0"/>
          </a:p>
          <a:p>
            <a:pPr lvl="1"/>
            <a:r>
              <a:rPr lang="en-US" altLang="zh-CN" dirty="0"/>
              <a:t>Hash (Burke) = 1     Hash (</a:t>
            </a:r>
            <a:r>
              <a:rPr lang="en-US" altLang="zh-CN" dirty="0" err="1"/>
              <a:t>Ekers</a:t>
            </a:r>
            <a:r>
              <a:rPr lang="en-US" altLang="zh-CN" dirty="0"/>
              <a:t>) = 4</a:t>
            </a:r>
          </a:p>
          <a:p>
            <a:pPr lvl="1"/>
            <a:r>
              <a:rPr lang="en-US" altLang="zh-CN" dirty="0"/>
              <a:t>Hash (Broad) = 1     Hash (Blum) = 1</a:t>
            </a:r>
          </a:p>
          <a:p>
            <a:pPr lvl="1"/>
            <a:r>
              <a:rPr lang="en-US" altLang="zh-CN" dirty="0"/>
              <a:t>Hash (Attlee) = 0      Hash (Hecht) = 7</a:t>
            </a:r>
          </a:p>
          <a:p>
            <a:pPr lvl="1"/>
            <a:r>
              <a:rPr lang="en-US" altLang="zh-CN" dirty="0"/>
              <a:t>Hash (Alton) = 0      Hash (</a:t>
            </a:r>
            <a:r>
              <a:rPr lang="en-US" altLang="zh-CN" dirty="0" err="1"/>
              <a:t>Ederly</a:t>
            </a:r>
            <a:r>
              <a:rPr lang="en-US" altLang="zh-CN" dirty="0"/>
              <a:t>) = 4</a:t>
            </a:r>
          </a:p>
          <a:p>
            <a:r>
              <a:rPr lang="zh-CN" altLang="en-US" dirty="0"/>
              <a:t>设散列表 </a:t>
            </a:r>
            <a:r>
              <a:rPr lang="en-US" altLang="zh-CN" dirty="0"/>
              <a:t>HT[26], m = 26</a:t>
            </a:r>
            <a:r>
              <a:rPr lang="zh-CN" altLang="en-US" dirty="0"/>
              <a:t>。采用线性探查法处理冲突</a:t>
            </a:r>
            <a:r>
              <a:rPr lang="en-US" altLang="zh-CN" dirty="0"/>
              <a:t>, </a:t>
            </a:r>
            <a:r>
              <a:rPr lang="zh-CN" altLang="en-US" dirty="0"/>
              <a:t>则散列结果如图所示。</a:t>
            </a:r>
          </a:p>
        </p:txBody>
      </p:sp>
      <p:sp>
        <p:nvSpPr>
          <p:cNvPr id="477188" name="Rectangle 4">
            <a:extLst>
              <a:ext uri="{FF2B5EF4-FFF2-40B4-BE49-F238E27FC236}">
                <a16:creationId xmlns:a16="http://schemas.microsoft.com/office/drawing/2014/main" id="{F1B69E5F-53BA-442A-BE96-5452A737BF6A}"/>
              </a:ext>
            </a:extLst>
          </p:cNvPr>
          <p:cNvSpPr>
            <a:spLocks noChangeArrowheads="1"/>
          </p:cNvSpPr>
          <p:nvPr/>
        </p:nvSpPr>
        <p:spPr bwMode="auto">
          <a:xfrm>
            <a:off x="958850" y="3657600"/>
            <a:ext cx="57848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0           1              2              3              4</a:t>
            </a:r>
            <a:endParaRPr lang="en-US" altLang="zh-CN" sz="2400">
              <a:ea typeface="宋体" charset="-122"/>
            </a:endParaRPr>
          </a:p>
        </p:txBody>
      </p:sp>
      <p:sp>
        <p:nvSpPr>
          <p:cNvPr id="86021" name="Rectangle 5">
            <a:extLst>
              <a:ext uri="{FF2B5EF4-FFF2-40B4-BE49-F238E27FC236}">
                <a16:creationId xmlns:a16="http://schemas.microsoft.com/office/drawing/2014/main" id="{D815C34C-C184-95B1-3E12-F0CF39476D64}"/>
              </a:ext>
            </a:extLst>
          </p:cNvPr>
          <p:cNvSpPr>
            <a:spLocks noChangeArrowheads="1"/>
          </p:cNvSpPr>
          <p:nvPr/>
        </p:nvSpPr>
        <p:spPr bwMode="auto">
          <a:xfrm>
            <a:off x="4419600" y="5440363"/>
            <a:ext cx="7499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dirty="0">
                <a:latin typeface="Times New Roman" panose="02020603050405020304" pitchFamily="18" charset="0"/>
                <a:ea typeface="宋体" panose="02010600030101010101" pitchFamily="2" charset="-122"/>
              </a:rPr>
              <a:t>	 	 	 	 	 	 	 </a:t>
            </a:r>
            <a:r>
              <a:rPr kumimoji="1" lang="en-US" altLang="zh-CN" sz="2400" dirty="0">
                <a:latin typeface="Times New Roman" panose="02020603050405020304" pitchFamily="18" charset="0"/>
                <a:ea typeface="宋体" panose="02010600030101010101" pitchFamily="2" charset="-122"/>
              </a:rPr>
              <a:t>	</a:t>
            </a:r>
          </a:p>
        </p:txBody>
      </p:sp>
      <p:sp>
        <p:nvSpPr>
          <p:cNvPr id="86022" name="Rectangle 6" descr="白色大理石">
            <a:extLst>
              <a:ext uri="{FF2B5EF4-FFF2-40B4-BE49-F238E27FC236}">
                <a16:creationId xmlns:a16="http://schemas.microsoft.com/office/drawing/2014/main" id="{21860156-6867-BC07-6DAE-67BA901D2794}"/>
              </a:ext>
            </a:extLst>
          </p:cNvPr>
          <p:cNvSpPr>
            <a:spLocks noChangeArrowheads="1"/>
          </p:cNvSpPr>
          <p:nvPr/>
        </p:nvSpPr>
        <p:spPr bwMode="auto">
          <a:xfrm>
            <a:off x="685800" y="4191000"/>
            <a:ext cx="7162800" cy="533400"/>
          </a:xfrm>
          <a:prstGeom prst="rect">
            <a:avLst/>
          </a:prstGeom>
          <a:blipFill dpi="0" rotWithShape="0">
            <a:blip r:embed="rId2"/>
            <a:srcRect/>
            <a:tile tx="0" ty="0" sx="100000" sy="100000" flip="none" algn="tl"/>
          </a:blipFill>
          <a:ln w="31750">
            <a:solidFill>
              <a:srgbClr val="339966"/>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dirty="0">
                <a:ea typeface="宋体" panose="02010600030101010101" pitchFamily="2" charset="-122"/>
              </a:rPr>
              <a:t>Attlee   Burke    Broad     Blum       </a:t>
            </a:r>
            <a:r>
              <a:rPr lang="en-US" altLang="zh-CN" sz="2800" b="1" dirty="0" err="1">
                <a:ea typeface="宋体" panose="02010600030101010101" pitchFamily="2" charset="-122"/>
              </a:rPr>
              <a:t>Ekers</a:t>
            </a:r>
            <a:endParaRPr lang="en-US" altLang="zh-CN" sz="2800" b="1" dirty="0">
              <a:ea typeface="宋体" panose="02010600030101010101" pitchFamily="2" charset="-122"/>
            </a:endParaRPr>
          </a:p>
        </p:txBody>
      </p:sp>
      <p:sp>
        <p:nvSpPr>
          <p:cNvPr id="86023" name="Line 7">
            <a:extLst>
              <a:ext uri="{FF2B5EF4-FFF2-40B4-BE49-F238E27FC236}">
                <a16:creationId xmlns:a16="http://schemas.microsoft.com/office/drawing/2014/main" id="{4A3FD528-0DC8-38C4-A27C-FABE508A933B}"/>
              </a:ext>
            </a:extLst>
          </p:cNvPr>
          <p:cNvSpPr>
            <a:spLocks noChangeShapeType="1"/>
          </p:cNvSpPr>
          <p:nvPr/>
        </p:nvSpPr>
        <p:spPr bwMode="auto">
          <a:xfrm flipV="1">
            <a:off x="1981200" y="4191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024" name="Line 8">
            <a:extLst>
              <a:ext uri="{FF2B5EF4-FFF2-40B4-BE49-F238E27FC236}">
                <a16:creationId xmlns:a16="http://schemas.microsoft.com/office/drawing/2014/main" id="{AE950671-5848-0E2E-F822-452A36876EA2}"/>
              </a:ext>
            </a:extLst>
          </p:cNvPr>
          <p:cNvSpPr>
            <a:spLocks noChangeShapeType="1"/>
          </p:cNvSpPr>
          <p:nvPr/>
        </p:nvSpPr>
        <p:spPr bwMode="auto">
          <a:xfrm flipV="1">
            <a:off x="3352800" y="4191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025" name="Line 9">
            <a:extLst>
              <a:ext uri="{FF2B5EF4-FFF2-40B4-BE49-F238E27FC236}">
                <a16:creationId xmlns:a16="http://schemas.microsoft.com/office/drawing/2014/main" id="{524E08C7-DD0A-1F1F-A13B-C956883A9304}"/>
              </a:ext>
            </a:extLst>
          </p:cNvPr>
          <p:cNvSpPr>
            <a:spLocks noChangeShapeType="1"/>
          </p:cNvSpPr>
          <p:nvPr/>
        </p:nvSpPr>
        <p:spPr bwMode="auto">
          <a:xfrm flipV="1">
            <a:off x="4800600" y="4191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026" name="Line 10">
            <a:extLst>
              <a:ext uri="{FF2B5EF4-FFF2-40B4-BE49-F238E27FC236}">
                <a16:creationId xmlns:a16="http://schemas.microsoft.com/office/drawing/2014/main" id="{FFD05417-8512-3B09-255E-AE1F7BC1DA6C}"/>
              </a:ext>
            </a:extLst>
          </p:cNvPr>
          <p:cNvSpPr>
            <a:spLocks noChangeShapeType="1"/>
          </p:cNvSpPr>
          <p:nvPr/>
        </p:nvSpPr>
        <p:spPr bwMode="auto">
          <a:xfrm flipV="1">
            <a:off x="6324600" y="4191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027" name="Rectangle 11" descr="白色大理石">
            <a:extLst>
              <a:ext uri="{FF2B5EF4-FFF2-40B4-BE49-F238E27FC236}">
                <a16:creationId xmlns:a16="http://schemas.microsoft.com/office/drawing/2014/main" id="{B5241218-3FAB-70E5-55C1-0E61A45B7905}"/>
              </a:ext>
            </a:extLst>
          </p:cNvPr>
          <p:cNvSpPr>
            <a:spLocks noChangeArrowheads="1"/>
          </p:cNvSpPr>
          <p:nvPr/>
        </p:nvSpPr>
        <p:spPr bwMode="auto">
          <a:xfrm>
            <a:off x="685800" y="5715000"/>
            <a:ext cx="7162800" cy="533400"/>
          </a:xfrm>
          <a:prstGeom prst="rect">
            <a:avLst/>
          </a:prstGeom>
          <a:blipFill dpi="0" rotWithShape="0">
            <a:blip r:embed="rId2"/>
            <a:srcRect/>
            <a:tile tx="0" ty="0" sx="100000" sy="100000" flip="none" algn="tl"/>
          </a:blipFill>
          <a:ln w="31750">
            <a:solidFill>
              <a:srgbClr val="339966"/>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dirty="0">
                <a:ea typeface="宋体" panose="02010600030101010101" pitchFamily="2" charset="-122"/>
              </a:rPr>
              <a:t>Alton    </a:t>
            </a:r>
            <a:r>
              <a:rPr lang="en-US" altLang="zh-CN" sz="2800" b="1" dirty="0" err="1">
                <a:ea typeface="宋体" panose="02010600030101010101" pitchFamily="2" charset="-122"/>
              </a:rPr>
              <a:t>Ederly</a:t>
            </a:r>
            <a:r>
              <a:rPr lang="en-US" altLang="zh-CN" sz="2800" b="1" dirty="0">
                <a:ea typeface="宋体" panose="02010600030101010101" pitchFamily="2" charset="-122"/>
              </a:rPr>
              <a:t>    Hecht </a:t>
            </a:r>
          </a:p>
        </p:txBody>
      </p:sp>
      <p:sp>
        <p:nvSpPr>
          <p:cNvPr id="86028" name="Line 12">
            <a:extLst>
              <a:ext uri="{FF2B5EF4-FFF2-40B4-BE49-F238E27FC236}">
                <a16:creationId xmlns:a16="http://schemas.microsoft.com/office/drawing/2014/main" id="{13238E89-6305-7F15-A6D7-14E53F4717B5}"/>
              </a:ext>
            </a:extLst>
          </p:cNvPr>
          <p:cNvSpPr>
            <a:spLocks noChangeShapeType="1"/>
          </p:cNvSpPr>
          <p:nvPr/>
        </p:nvSpPr>
        <p:spPr bwMode="auto">
          <a:xfrm flipV="1">
            <a:off x="1981200" y="5715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029" name="Line 13">
            <a:extLst>
              <a:ext uri="{FF2B5EF4-FFF2-40B4-BE49-F238E27FC236}">
                <a16:creationId xmlns:a16="http://schemas.microsoft.com/office/drawing/2014/main" id="{CE4EB854-A0EB-0EAA-1080-9545EE9C143A}"/>
              </a:ext>
            </a:extLst>
          </p:cNvPr>
          <p:cNvSpPr>
            <a:spLocks noChangeShapeType="1"/>
          </p:cNvSpPr>
          <p:nvPr/>
        </p:nvSpPr>
        <p:spPr bwMode="auto">
          <a:xfrm flipV="1">
            <a:off x="3352800" y="5715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030" name="Line 14">
            <a:extLst>
              <a:ext uri="{FF2B5EF4-FFF2-40B4-BE49-F238E27FC236}">
                <a16:creationId xmlns:a16="http://schemas.microsoft.com/office/drawing/2014/main" id="{76B2FDA5-5E3C-6472-519B-E26C8DBFC44F}"/>
              </a:ext>
            </a:extLst>
          </p:cNvPr>
          <p:cNvSpPr>
            <a:spLocks noChangeShapeType="1"/>
          </p:cNvSpPr>
          <p:nvPr/>
        </p:nvSpPr>
        <p:spPr bwMode="auto">
          <a:xfrm flipV="1">
            <a:off x="4800600" y="5715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031" name="Line 15">
            <a:extLst>
              <a:ext uri="{FF2B5EF4-FFF2-40B4-BE49-F238E27FC236}">
                <a16:creationId xmlns:a16="http://schemas.microsoft.com/office/drawing/2014/main" id="{362B2B52-FA66-F0CE-173D-D313CA8240CC}"/>
              </a:ext>
            </a:extLst>
          </p:cNvPr>
          <p:cNvSpPr>
            <a:spLocks noChangeShapeType="1"/>
          </p:cNvSpPr>
          <p:nvPr/>
        </p:nvSpPr>
        <p:spPr bwMode="auto">
          <a:xfrm flipV="1">
            <a:off x="6324600" y="5715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7200" name="Rectangle 16">
            <a:extLst>
              <a:ext uri="{FF2B5EF4-FFF2-40B4-BE49-F238E27FC236}">
                <a16:creationId xmlns:a16="http://schemas.microsoft.com/office/drawing/2014/main" id="{2BC40CF9-1A20-6BC8-FD77-6149ECDE772F}"/>
              </a:ext>
            </a:extLst>
          </p:cNvPr>
          <p:cNvSpPr>
            <a:spLocks noChangeArrowheads="1"/>
          </p:cNvSpPr>
          <p:nvPr/>
        </p:nvSpPr>
        <p:spPr bwMode="auto">
          <a:xfrm>
            <a:off x="946150" y="5195888"/>
            <a:ext cx="5962650" cy="519112"/>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5           6              7              8               9 </a:t>
            </a:r>
          </a:p>
        </p:txBody>
      </p:sp>
      <p:sp>
        <p:nvSpPr>
          <p:cNvPr id="477201" name="Rectangle 17">
            <a:extLst>
              <a:ext uri="{FF2B5EF4-FFF2-40B4-BE49-F238E27FC236}">
                <a16:creationId xmlns:a16="http://schemas.microsoft.com/office/drawing/2014/main" id="{714DE5A5-2A35-1EEB-61A2-3634FF84B2B8}"/>
              </a:ext>
            </a:extLst>
          </p:cNvPr>
          <p:cNvSpPr>
            <a:spLocks noChangeArrowheads="1"/>
          </p:cNvSpPr>
          <p:nvPr/>
        </p:nvSpPr>
        <p:spPr bwMode="auto">
          <a:xfrm>
            <a:off x="914400" y="4789488"/>
            <a:ext cx="6229350" cy="457200"/>
          </a:xfrm>
          <a:prstGeom prst="rect">
            <a:avLst/>
          </a:prstGeom>
          <a:noFill/>
          <a:ln w="9525">
            <a:noFill/>
            <a:miter lim="800000"/>
            <a:headEnd/>
            <a:tailEnd/>
          </a:ln>
          <a:effectLst/>
        </p:spPr>
        <p:txBody>
          <a:bodyPr wrap="none">
            <a:spAutoFit/>
          </a:bodyPr>
          <a:lstStyle/>
          <a:p>
            <a:pPr>
              <a:defRPr/>
            </a:pPr>
            <a:r>
              <a:rPr lang="en-US" altLang="zh-CN" sz="2400" b="1">
                <a:solidFill>
                  <a:srgbClr val="FF3300"/>
                </a:solidFill>
                <a:effectLst>
                  <a:outerShdw blurRad="38100" dist="38100" dir="2700000" algn="tl">
                    <a:srgbClr val="C0C0C0"/>
                  </a:outerShdw>
                </a:effectLst>
                <a:ea typeface="宋体" charset="-122"/>
              </a:rPr>
              <a:t>(1)             (1)            (2)               (3)                (1)</a:t>
            </a:r>
            <a:endParaRPr lang="en-US" altLang="zh-CN" sz="2400" b="1">
              <a:solidFill>
                <a:srgbClr val="FF3300"/>
              </a:solidFill>
              <a:ea typeface="宋体" charset="-122"/>
            </a:endParaRPr>
          </a:p>
        </p:txBody>
      </p:sp>
      <p:sp>
        <p:nvSpPr>
          <p:cNvPr id="477202" name="Rectangle 18">
            <a:extLst>
              <a:ext uri="{FF2B5EF4-FFF2-40B4-BE49-F238E27FC236}">
                <a16:creationId xmlns:a16="http://schemas.microsoft.com/office/drawing/2014/main" id="{851ADE9E-03F4-DDEE-CE90-420184B27BB7}"/>
              </a:ext>
            </a:extLst>
          </p:cNvPr>
          <p:cNvSpPr>
            <a:spLocks noChangeArrowheads="1"/>
          </p:cNvSpPr>
          <p:nvPr/>
        </p:nvSpPr>
        <p:spPr bwMode="auto">
          <a:xfrm>
            <a:off x="914400" y="6248400"/>
            <a:ext cx="3155950" cy="457200"/>
          </a:xfrm>
          <a:prstGeom prst="rect">
            <a:avLst/>
          </a:prstGeom>
          <a:noFill/>
          <a:ln w="9525">
            <a:noFill/>
            <a:miter lim="800000"/>
            <a:headEnd/>
            <a:tailEnd/>
          </a:ln>
          <a:effectLst/>
        </p:spPr>
        <p:txBody>
          <a:bodyPr wrap="none">
            <a:spAutoFit/>
          </a:bodyPr>
          <a:lstStyle/>
          <a:p>
            <a:pPr>
              <a:defRPr/>
            </a:pPr>
            <a:r>
              <a:rPr lang="en-US" altLang="zh-CN" sz="2400" b="1">
                <a:solidFill>
                  <a:srgbClr val="FF3300"/>
                </a:solidFill>
                <a:effectLst>
                  <a:outerShdw blurRad="38100" dist="38100" dir="2700000" algn="tl">
                    <a:srgbClr val="C0C0C0"/>
                  </a:outerShdw>
                </a:effectLst>
                <a:ea typeface="宋体" charset="-122"/>
              </a:rPr>
              <a:t>(6)             (3)            (1)</a:t>
            </a:r>
            <a:endParaRPr lang="en-US" altLang="zh-CN" sz="2800" b="1">
              <a:solidFill>
                <a:srgbClr val="FF3300"/>
              </a:solidFill>
              <a:effectLst>
                <a:outerShdw blurRad="38100" dist="38100" dir="2700000" algn="tl">
                  <a:srgbClr val="C0C0C0"/>
                </a:outerShdw>
              </a:effectLst>
              <a:ea typeface="宋体" charset="-122"/>
            </a:endParaRPr>
          </a:p>
        </p:txBody>
      </p:sp>
      <p:sp>
        <p:nvSpPr>
          <p:cNvPr id="2" name="灯片编号占位符 1">
            <a:extLst>
              <a:ext uri="{FF2B5EF4-FFF2-40B4-BE49-F238E27FC236}">
                <a16:creationId xmlns:a16="http://schemas.microsoft.com/office/drawing/2014/main" id="{F5575282-8109-1AF7-52AC-92B6B0566ABB}"/>
              </a:ext>
            </a:extLst>
          </p:cNvPr>
          <p:cNvSpPr>
            <a:spLocks noGrp="1"/>
          </p:cNvSpPr>
          <p:nvPr>
            <p:ph type="sldNum" sz="quarter" idx="12"/>
          </p:nvPr>
        </p:nvSpPr>
        <p:spPr/>
        <p:txBody>
          <a:bodyPr/>
          <a:lstStyle/>
          <a:p>
            <a:pPr>
              <a:defRPr/>
            </a:pPr>
            <a:fld id="{524B865F-46F8-4520-B0DD-31ED36EF62D9}" type="slidenum">
              <a:rPr lang="en-US" altLang="zh-CN" smtClean="0"/>
              <a:pPr>
                <a:defRPr/>
              </a:pPr>
              <a:t>67</a:t>
            </a:fld>
            <a:endParaRPr lang="en-US" altLang="zh-CN"/>
          </a:p>
        </p:txBody>
      </p:sp>
    </p:spTree>
  </p:cSld>
  <p:clrMapOvr>
    <a:masterClrMapping/>
  </p:clrMapOvr>
  <p:transition>
    <p:spli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E46D8EF-F7A4-48B0-8B7A-CA11F75DC5AC}"/>
              </a:ext>
            </a:extLst>
          </p:cNvPr>
          <p:cNvSpPr>
            <a:spLocks noGrp="1"/>
          </p:cNvSpPr>
          <p:nvPr>
            <p:ph type="title"/>
          </p:nvPr>
        </p:nvSpPr>
        <p:spPr/>
        <p:txBody>
          <a:bodyPr/>
          <a:lstStyle/>
          <a:p>
            <a:r>
              <a:rPr lang="zh-CN" altLang="en-US" dirty="0"/>
              <a:t>散列表的插入</a:t>
            </a:r>
          </a:p>
        </p:txBody>
      </p:sp>
      <p:sp>
        <p:nvSpPr>
          <p:cNvPr id="478210" name="Rectangle 2">
            <a:extLst>
              <a:ext uri="{FF2B5EF4-FFF2-40B4-BE49-F238E27FC236}">
                <a16:creationId xmlns:a16="http://schemas.microsoft.com/office/drawing/2014/main" id="{766FFC38-22F3-2116-7E50-F9F1711378FF}"/>
              </a:ext>
            </a:extLst>
          </p:cNvPr>
          <p:cNvSpPr>
            <a:spLocks noGrp="1" noChangeArrowheads="1"/>
          </p:cNvSpPr>
          <p:nvPr>
            <p:ph type="body" idx="1"/>
          </p:nvPr>
        </p:nvSpPr>
        <p:spPr>
          <a:xfrm>
            <a:off x="628650" y="1825625"/>
            <a:ext cx="7886700" cy="4667250"/>
          </a:xfrm>
        </p:spPr>
        <p:txBody>
          <a:bodyPr>
            <a:normAutofit fontScale="85000" lnSpcReduction="20000"/>
          </a:bodyPr>
          <a:lstStyle/>
          <a:p>
            <a:r>
              <a:rPr lang="zh-CN" altLang="en-US" dirty="0"/>
              <a:t>需要搜索或加入一个元素时</a:t>
            </a:r>
            <a:r>
              <a:rPr lang="en-US" altLang="zh-CN" dirty="0"/>
              <a:t>, </a:t>
            </a:r>
            <a:r>
              <a:rPr lang="zh-CN" altLang="en-US" dirty="0"/>
              <a:t>使用散列函数计算桶号：</a:t>
            </a:r>
          </a:p>
          <a:p>
            <a:pPr lvl="1"/>
            <a:r>
              <a:rPr lang="en-US" altLang="zh-CN" dirty="0"/>
              <a:t>H</a:t>
            </a:r>
            <a:r>
              <a:rPr lang="en-US" altLang="zh-CN" baseline="-25000" dirty="0"/>
              <a:t>0</a:t>
            </a:r>
            <a:r>
              <a:rPr lang="en-US" altLang="zh-CN" dirty="0"/>
              <a:t> = hash ( key )</a:t>
            </a:r>
          </a:p>
          <a:p>
            <a:r>
              <a:rPr lang="zh-CN" altLang="en-US" dirty="0"/>
              <a:t>一旦发生冲突，在表中顺次向后寻找“下一 个”空桶 </a:t>
            </a:r>
            <a:r>
              <a:rPr lang="en-US" altLang="zh-CN" dirty="0"/>
              <a:t>H</a:t>
            </a:r>
            <a:r>
              <a:rPr lang="en-US" altLang="zh-CN" baseline="-25000" dirty="0"/>
              <a:t>i</a:t>
            </a:r>
            <a:r>
              <a:rPr lang="en-US" altLang="zh-CN" dirty="0"/>
              <a:t> </a:t>
            </a:r>
            <a:r>
              <a:rPr lang="zh-CN" altLang="en-US" dirty="0"/>
              <a:t>的递推公式为：  </a:t>
            </a:r>
          </a:p>
          <a:p>
            <a:pPr lvl="1"/>
            <a:r>
              <a:rPr lang="en-US" altLang="zh-CN" dirty="0"/>
              <a:t>H</a:t>
            </a:r>
            <a:r>
              <a:rPr lang="en-US" altLang="zh-CN" baseline="-25000" dirty="0"/>
              <a:t>i</a:t>
            </a:r>
            <a:r>
              <a:rPr lang="en-US" altLang="zh-CN" dirty="0"/>
              <a:t> = ( H</a:t>
            </a:r>
            <a:r>
              <a:rPr lang="en-US" altLang="zh-CN" baseline="-25000" dirty="0"/>
              <a:t>i-1</a:t>
            </a:r>
            <a:r>
              <a:rPr lang="en-US" altLang="zh-CN" dirty="0"/>
              <a:t> +1 ) % m</a:t>
            </a:r>
            <a:r>
              <a:rPr lang="zh-CN" altLang="en-US" dirty="0"/>
              <a:t>， </a:t>
            </a:r>
            <a:r>
              <a:rPr lang="en-US" altLang="zh-CN" dirty="0" err="1"/>
              <a:t>i</a:t>
            </a:r>
            <a:r>
              <a:rPr lang="en-US" altLang="zh-CN" dirty="0"/>
              <a:t> =1, 2, …, m-1 </a:t>
            </a:r>
          </a:p>
          <a:p>
            <a:r>
              <a:rPr lang="zh-CN" altLang="en-US" dirty="0"/>
              <a:t>即用以下的线性探查序列在表中寻找“下一 个”空桶的桶号：</a:t>
            </a:r>
          </a:p>
          <a:p>
            <a:pPr lvl="1"/>
            <a:r>
              <a:rPr lang="en-US" altLang="zh-CN" dirty="0"/>
              <a:t>H</a:t>
            </a:r>
            <a:r>
              <a:rPr lang="en-US" altLang="zh-CN" baseline="-25000" dirty="0"/>
              <a:t>0</a:t>
            </a:r>
            <a:r>
              <a:rPr lang="en-US" altLang="zh-CN" dirty="0"/>
              <a:t> +1, H</a:t>
            </a:r>
            <a:r>
              <a:rPr lang="en-US" altLang="zh-CN" baseline="-25000" dirty="0"/>
              <a:t>0</a:t>
            </a:r>
            <a:r>
              <a:rPr lang="en-US" altLang="zh-CN" dirty="0"/>
              <a:t> +2, …, m-1, 0, 1, 2, …, H</a:t>
            </a:r>
            <a:r>
              <a:rPr lang="en-US" altLang="zh-CN" baseline="-25000" dirty="0"/>
              <a:t>0</a:t>
            </a:r>
            <a:r>
              <a:rPr lang="en-US" altLang="zh-CN" dirty="0"/>
              <a:t>-1</a:t>
            </a:r>
          </a:p>
          <a:p>
            <a:pPr lvl="1"/>
            <a:r>
              <a:rPr lang="zh-CN" altLang="en-US" dirty="0"/>
              <a:t>亦可写成如下的通项公式： </a:t>
            </a:r>
          </a:p>
          <a:p>
            <a:pPr lvl="2"/>
            <a:r>
              <a:rPr lang="en-US" altLang="zh-CN" dirty="0"/>
              <a:t>H</a:t>
            </a:r>
            <a:r>
              <a:rPr lang="en-US" altLang="zh-CN" baseline="-25000" dirty="0"/>
              <a:t>i</a:t>
            </a:r>
            <a:r>
              <a:rPr lang="en-US" altLang="zh-CN" dirty="0"/>
              <a:t> = ( H</a:t>
            </a:r>
            <a:r>
              <a:rPr lang="en-US" altLang="zh-CN" baseline="-25000" dirty="0"/>
              <a:t>0</a:t>
            </a:r>
            <a:r>
              <a:rPr lang="en-US" altLang="zh-CN" dirty="0"/>
              <a:t> + </a:t>
            </a:r>
            <a:r>
              <a:rPr lang="en-US" altLang="zh-CN" dirty="0" err="1"/>
              <a:t>i</a:t>
            </a:r>
            <a:r>
              <a:rPr lang="en-US" altLang="zh-CN" dirty="0"/>
              <a:t> ) % m</a:t>
            </a:r>
            <a:r>
              <a:rPr lang="zh-CN" altLang="en-US" dirty="0"/>
              <a:t>， </a:t>
            </a:r>
            <a:r>
              <a:rPr lang="en-US" altLang="zh-CN" dirty="0" err="1"/>
              <a:t>i</a:t>
            </a:r>
            <a:r>
              <a:rPr lang="en-US" altLang="zh-CN" dirty="0"/>
              <a:t> =1, 2, …, m-1</a:t>
            </a:r>
          </a:p>
        </p:txBody>
      </p:sp>
      <p:sp>
        <p:nvSpPr>
          <p:cNvPr id="2" name="灯片编号占位符 1">
            <a:extLst>
              <a:ext uri="{FF2B5EF4-FFF2-40B4-BE49-F238E27FC236}">
                <a16:creationId xmlns:a16="http://schemas.microsoft.com/office/drawing/2014/main" id="{650D0B47-0552-0CC2-EC34-BD63CC6E49D4}"/>
              </a:ext>
            </a:extLst>
          </p:cNvPr>
          <p:cNvSpPr>
            <a:spLocks noGrp="1"/>
          </p:cNvSpPr>
          <p:nvPr>
            <p:ph type="sldNum" sz="quarter" idx="12"/>
          </p:nvPr>
        </p:nvSpPr>
        <p:spPr/>
        <p:txBody>
          <a:bodyPr/>
          <a:lstStyle/>
          <a:p>
            <a:pPr>
              <a:defRPr/>
            </a:pPr>
            <a:fld id="{524B865F-46F8-4520-B0DD-31ED36EF62D9}" type="slidenum">
              <a:rPr lang="en-US" altLang="zh-CN" smtClean="0"/>
              <a:pPr>
                <a:defRPr/>
              </a:pPr>
              <a:t>68</a:t>
            </a:fld>
            <a:endParaRPr lang="en-US" altLang="zh-CN"/>
          </a:p>
        </p:txBody>
      </p:sp>
    </p:spTree>
  </p:cSld>
  <p:clrMapOvr>
    <a:masterClrMapping/>
  </p:clrMapOvr>
  <p:transition>
    <p:spli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5597475-6CCC-4147-B396-544EDEBBBE77}"/>
              </a:ext>
            </a:extLst>
          </p:cNvPr>
          <p:cNvSpPr>
            <a:spLocks noGrp="1"/>
          </p:cNvSpPr>
          <p:nvPr>
            <p:ph idx="1"/>
          </p:nvPr>
        </p:nvSpPr>
        <p:spPr>
          <a:xfrm>
            <a:off x="107504" y="404664"/>
            <a:ext cx="8928992" cy="5951686"/>
          </a:xfrm>
        </p:spPr>
        <p:txBody>
          <a:bodyPr>
            <a:normAutofit fontScale="47500" lnSpcReduction="20000"/>
          </a:bodyPr>
          <a:lstStyle/>
          <a:p>
            <a:pPr marL="0" indent="0">
              <a:buNone/>
            </a:pPr>
            <a:r>
              <a:rPr lang="en-US" altLang="zh-CN" dirty="0"/>
              <a:t>//</a:t>
            </a:r>
            <a:r>
              <a:rPr lang="zh-CN" altLang="en-US" dirty="0"/>
              <a:t>（用线性探查法处理冲突的）闭散列法组织的散列表类的定义</a:t>
            </a:r>
          </a:p>
          <a:p>
            <a:pPr marL="0" indent="0">
              <a:buNone/>
            </a:pPr>
            <a:r>
              <a:rPr lang="en-US" altLang="zh-CN" dirty="0"/>
              <a:t>const int </a:t>
            </a:r>
            <a:r>
              <a:rPr lang="en-US" altLang="zh-CN" dirty="0" err="1"/>
              <a:t>DefaultSize</a:t>
            </a:r>
            <a:r>
              <a:rPr lang="en-US" altLang="zh-CN" dirty="0"/>
              <a:t> = 100;        </a:t>
            </a:r>
            <a:r>
              <a:rPr lang="en-US" altLang="zh-CN" dirty="0" err="1"/>
              <a:t>enum</a:t>
            </a:r>
            <a:r>
              <a:rPr lang="en-US" altLang="zh-CN" dirty="0"/>
              <a:t> </a:t>
            </a:r>
            <a:r>
              <a:rPr lang="en-US" altLang="zh-CN" dirty="0" err="1"/>
              <a:t>KindOfStatus</a:t>
            </a:r>
            <a:r>
              <a:rPr lang="en-US" altLang="zh-CN" dirty="0"/>
              <a:t> { Active, Empty, Deleted };</a:t>
            </a:r>
          </a:p>
          <a:p>
            <a:pPr marL="0" indent="0">
              <a:buNone/>
            </a:pPr>
            <a:r>
              <a:rPr lang="en-US" altLang="zh-CN" dirty="0"/>
              <a:t>template &lt;class E, class K&gt;  class </a:t>
            </a:r>
            <a:r>
              <a:rPr lang="en-US" altLang="zh-CN" dirty="0" err="1"/>
              <a:t>HashTable</a:t>
            </a:r>
            <a:r>
              <a:rPr lang="en-US" altLang="zh-CN" dirty="0"/>
              <a:t> {</a:t>
            </a:r>
          </a:p>
          <a:p>
            <a:pPr marL="0" indent="0">
              <a:buNone/>
            </a:pPr>
            <a:r>
              <a:rPr lang="en-US" altLang="zh-CN" dirty="0"/>
              <a:t>public:</a:t>
            </a:r>
          </a:p>
          <a:p>
            <a:pPr marL="0" indent="0">
              <a:buNone/>
            </a:pPr>
            <a:r>
              <a:rPr lang="en-US" altLang="zh-CN" dirty="0"/>
              <a:t>    </a:t>
            </a:r>
            <a:r>
              <a:rPr lang="en-US" altLang="zh-CN" dirty="0" err="1"/>
              <a:t>HashTable</a:t>
            </a:r>
            <a:r>
              <a:rPr lang="en-US" altLang="zh-CN" dirty="0"/>
              <a:t> (const int d, int </a:t>
            </a:r>
            <a:r>
              <a:rPr lang="en-US" altLang="zh-CN" dirty="0" err="1"/>
              <a:t>sz</a:t>
            </a:r>
            <a:r>
              <a:rPr lang="en-US" altLang="zh-CN" dirty="0"/>
              <a:t> = </a:t>
            </a:r>
            <a:r>
              <a:rPr lang="en-US" altLang="zh-CN" dirty="0" err="1"/>
              <a:t>DefaultSize</a:t>
            </a:r>
            <a:r>
              <a:rPr lang="en-US" altLang="zh-CN" dirty="0"/>
              <a:t> );    </a:t>
            </a:r>
          </a:p>
          <a:p>
            <a:pPr marL="0" indent="0">
              <a:buNone/>
            </a:pPr>
            <a:r>
              <a:rPr lang="en-US" altLang="zh-CN" dirty="0"/>
              <a:t>    ~</a:t>
            </a:r>
            <a:r>
              <a:rPr lang="en-US" altLang="zh-CN" dirty="0" err="1"/>
              <a:t>HashTable</a:t>
            </a:r>
            <a:r>
              <a:rPr lang="en-US" altLang="zh-CN" dirty="0"/>
              <a:t> ( ) { delete [ ] </a:t>
            </a:r>
            <a:r>
              <a:rPr lang="en-US" altLang="zh-CN" dirty="0" err="1"/>
              <a:t>ht</a:t>
            </a:r>
            <a:r>
              <a:rPr lang="en-US" altLang="zh-CN" dirty="0"/>
              <a:t>; delete []info;}      </a:t>
            </a:r>
            <a:endParaRPr lang="zh-CN" altLang="en-US" dirty="0"/>
          </a:p>
          <a:p>
            <a:pPr marL="0" indent="0">
              <a:buNone/>
            </a:pPr>
            <a:r>
              <a:rPr lang="zh-CN" altLang="en-US" dirty="0"/>
              <a:t>    </a:t>
            </a:r>
            <a:r>
              <a:rPr lang="en-US" altLang="zh-CN" dirty="0" err="1"/>
              <a:t>HashTable</a:t>
            </a:r>
            <a:r>
              <a:rPr lang="en-US" altLang="zh-CN" dirty="0"/>
              <a:t>&lt;E, K&gt; &amp; operator = ( const </a:t>
            </a:r>
            <a:r>
              <a:rPr lang="en-US" altLang="zh-CN" dirty="0" err="1"/>
              <a:t>HashTable</a:t>
            </a:r>
            <a:r>
              <a:rPr lang="en-US" altLang="zh-CN" dirty="0"/>
              <a:t> &lt;E, K&gt; &amp; ht2 );     //</a:t>
            </a:r>
            <a:r>
              <a:rPr lang="zh-CN" altLang="en-US" dirty="0"/>
              <a:t>表复制</a:t>
            </a:r>
          </a:p>
          <a:p>
            <a:pPr marL="0" indent="0">
              <a:buNone/>
            </a:pPr>
            <a:r>
              <a:rPr lang="zh-CN" altLang="en-US" dirty="0"/>
              <a:t>    </a:t>
            </a:r>
            <a:r>
              <a:rPr lang="en-US" altLang="zh-CN" dirty="0"/>
              <a:t>bool Search (const K k) const;      //</a:t>
            </a:r>
            <a:r>
              <a:rPr lang="zh-CN" altLang="en-US" dirty="0"/>
              <a:t>搜索</a:t>
            </a:r>
          </a:p>
          <a:p>
            <a:pPr marL="0" indent="0">
              <a:buNone/>
            </a:pPr>
            <a:r>
              <a:rPr lang="zh-CN" altLang="en-US" dirty="0"/>
              <a:t>    </a:t>
            </a:r>
            <a:r>
              <a:rPr lang="en-US" altLang="zh-CN" dirty="0"/>
              <a:t>bool Insert ( const E&amp; e1 );        //</a:t>
            </a:r>
            <a:r>
              <a:rPr lang="zh-CN" altLang="en-US" dirty="0"/>
              <a:t>插入</a:t>
            </a:r>
          </a:p>
          <a:p>
            <a:pPr marL="0" indent="0">
              <a:buNone/>
            </a:pPr>
            <a:r>
              <a:rPr lang="zh-CN" altLang="en-US" dirty="0"/>
              <a:t>    </a:t>
            </a:r>
            <a:r>
              <a:rPr lang="en-US" altLang="zh-CN" dirty="0"/>
              <a:t>bool Remove (E&amp; e1 );    //</a:t>
            </a:r>
            <a:r>
              <a:rPr lang="zh-CN" altLang="en-US" dirty="0"/>
              <a:t>删除</a:t>
            </a:r>
          </a:p>
          <a:p>
            <a:pPr marL="0" indent="0">
              <a:buNone/>
            </a:pPr>
            <a:r>
              <a:rPr lang="zh-CN" altLang="en-US" dirty="0"/>
              <a:t>    </a:t>
            </a:r>
            <a:r>
              <a:rPr lang="en-US" altLang="zh-CN" dirty="0"/>
              <a:t>void </a:t>
            </a:r>
            <a:r>
              <a:rPr lang="en-US" altLang="zh-CN" dirty="0" err="1"/>
              <a:t>makeEmpty</a:t>
            </a:r>
            <a:r>
              <a:rPr lang="en-US" altLang="zh-CN" dirty="0"/>
              <a:t> ( );                      //</a:t>
            </a:r>
            <a:r>
              <a:rPr lang="zh-CN" altLang="en-US" dirty="0"/>
              <a:t>置空</a:t>
            </a:r>
          </a:p>
          <a:p>
            <a:pPr marL="0" indent="0">
              <a:buNone/>
            </a:pPr>
            <a:r>
              <a:rPr lang="en-US" altLang="zh-CN" dirty="0"/>
              <a:t>private:</a:t>
            </a:r>
          </a:p>
          <a:p>
            <a:pPr marL="0" indent="0">
              <a:buNone/>
            </a:pPr>
            <a:r>
              <a:rPr lang="en-US" altLang="zh-CN" dirty="0"/>
              <a:t>    int divisor;                     //</a:t>
            </a:r>
            <a:r>
              <a:rPr lang="zh-CN" altLang="en-US" dirty="0"/>
              <a:t>散列函数的除数  </a:t>
            </a:r>
          </a:p>
          <a:p>
            <a:pPr marL="0" indent="0">
              <a:buNone/>
            </a:pPr>
            <a:r>
              <a:rPr lang="zh-CN" altLang="en-US" dirty="0"/>
              <a:t>    </a:t>
            </a:r>
            <a:r>
              <a:rPr lang="en-US" altLang="zh-CN" dirty="0"/>
              <a:t>int </a:t>
            </a:r>
            <a:r>
              <a:rPr lang="en-US" altLang="zh-CN" dirty="0" err="1"/>
              <a:t>CurrentSize</a:t>
            </a:r>
            <a:r>
              <a:rPr lang="en-US" altLang="zh-CN" dirty="0"/>
              <a:t>, </a:t>
            </a:r>
            <a:r>
              <a:rPr lang="en-US" altLang="zh-CN" dirty="0" err="1"/>
              <a:t>TableSize</a:t>
            </a:r>
            <a:r>
              <a:rPr lang="en-US" altLang="zh-CN" dirty="0"/>
              <a:t>;  //</a:t>
            </a:r>
            <a:r>
              <a:rPr lang="zh-CN" altLang="en-US" dirty="0"/>
              <a:t>当前及最大桶数</a:t>
            </a:r>
          </a:p>
          <a:p>
            <a:pPr marL="0" indent="0">
              <a:buNone/>
            </a:pPr>
            <a:r>
              <a:rPr lang="zh-CN" altLang="en-US" dirty="0"/>
              <a:t>    </a:t>
            </a:r>
            <a:r>
              <a:rPr lang="en-US" altLang="zh-CN" dirty="0"/>
              <a:t>E *</a:t>
            </a:r>
            <a:r>
              <a:rPr lang="en-US" altLang="zh-CN" dirty="0" err="1"/>
              <a:t>ht</a:t>
            </a:r>
            <a:r>
              <a:rPr lang="en-US" altLang="zh-CN" dirty="0"/>
              <a:t>;                             //</a:t>
            </a:r>
            <a:r>
              <a:rPr lang="zh-CN" altLang="en-US" dirty="0"/>
              <a:t>散列表存储数组</a:t>
            </a:r>
          </a:p>
          <a:p>
            <a:pPr marL="0" indent="0">
              <a:buNone/>
            </a:pPr>
            <a:r>
              <a:rPr lang="zh-CN" altLang="en-US" dirty="0"/>
              <a:t>    </a:t>
            </a:r>
            <a:r>
              <a:rPr lang="en-US" altLang="zh-CN" dirty="0" err="1"/>
              <a:t>KindOfStatus</a:t>
            </a:r>
            <a:r>
              <a:rPr lang="en-US" altLang="zh-CN" dirty="0"/>
              <a:t> *info;         //</a:t>
            </a:r>
            <a:r>
              <a:rPr lang="zh-CN" altLang="en-US" dirty="0"/>
              <a:t>各元素状态		             </a:t>
            </a:r>
          </a:p>
          <a:p>
            <a:pPr marL="0" indent="0">
              <a:buNone/>
            </a:pPr>
            <a:r>
              <a:rPr lang="zh-CN" altLang="en-US" dirty="0"/>
              <a:t>    </a:t>
            </a:r>
            <a:r>
              <a:rPr lang="en-US" altLang="zh-CN" dirty="0"/>
              <a:t>int </a:t>
            </a:r>
            <a:r>
              <a:rPr lang="en-US" altLang="zh-CN" dirty="0" err="1"/>
              <a:t>FindPos</a:t>
            </a:r>
            <a:r>
              <a:rPr lang="en-US" altLang="zh-CN" dirty="0"/>
              <a:t> ( const K k1 ) const;</a:t>
            </a:r>
          </a:p>
          <a:p>
            <a:pPr marL="0" indent="0">
              <a:buNone/>
            </a:pPr>
            <a:r>
              <a:rPr lang="en-US" altLang="zh-CN" dirty="0"/>
              <a:t>} ;				</a:t>
            </a:r>
          </a:p>
        </p:txBody>
      </p:sp>
      <p:sp>
        <p:nvSpPr>
          <p:cNvPr id="2" name="灯片编号占位符 1">
            <a:extLst>
              <a:ext uri="{FF2B5EF4-FFF2-40B4-BE49-F238E27FC236}">
                <a16:creationId xmlns:a16="http://schemas.microsoft.com/office/drawing/2014/main" id="{309618D7-A839-00AD-A060-615A6356D3F9}"/>
              </a:ext>
            </a:extLst>
          </p:cNvPr>
          <p:cNvSpPr>
            <a:spLocks noGrp="1"/>
          </p:cNvSpPr>
          <p:nvPr>
            <p:ph type="sldNum" sz="quarter" idx="12"/>
          </p:nvPr>
        </p:nvSpPr>
        <p:spPr/>
        <p:txBody>
          <a:bodyPr/>
          <a:lstStyle/>
          <a:p>
            <a:pPr>
              <a:defRPr/>
            </a:pPr>
            <a:fld id="{524B865F-46F8-4520-B0DD-31ED36EF62D9}" type="slidenum">
              <a:rPr lang="en-US" altLang="zh-CN" smtClean="0"/>
              <a:pPr>
                <a:defRPr/>
              </a:pPr>
              <a:t>69</a:t>
            </a:fld>
            <a:endParaRPr lang="en-US" altLang="zh-CN"/>
          </a:p>
        </p:txBody>
      </p:sp>
    </p:spTree>
  </p:cSld>
  <p:clrMapOvr>
    <a:masterClrMapping/>
  </p:clrMapOvr>
  <p:transition>
    <p:spli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91A9F2CE-E7F5-41B0-97EA-EDC78A9D5D66}"/>
              </a:ext>
            </a:extLst>
          </p:cNvPr>
          <p:cNvSpPr>
            <a:spLocks noGrp="1"/>
          </p:cNvSpPr>
          <p:nvPr>
            <p:ph type="title"/>
          </p:nvPr>
        </p:nvSpPr>
        <p:spPr/>
        <p:txBody>
          <a:bodyPr/>
          <a:lstStyle/>
          <a:p>
            <a:r>
              <a:rPr lang="zh-CN" altLang="en-US" dirty="0"/>
              <a:t>性能指标</a:t>
            </a:r>
          </a:p>
        </p:txBody>
      </p:sp>
      <p:sp>
        <p:nvSpPr>
          <p:cNvPr id="546818" name="Rectangle 1026">
            <a:extLst>
              <a:ext uri="{FF2B5EF4-FFF2-40B4-BE49-F238E27FC236}">
                <a16:creationId xmlns:a16="http://schemas.microsoft.com/office/drawing/2014/main" id="{571CBB69-F91D-5F3C-65BE-4D7CD762BDBD}"/>
              </a:ext>
            </a:extLst>
          </p:cNvPr>
          <p:cNvSpPr>
            <a:spLocks noGrp="1" noChangeArrowheads="1"/>
          </p:cNvSpPr>
          <p:nvPr>
            <p:ph type="body" idx="1"/>
          </p:nvPr>
        </p:nvSpPr>
        <p:spPr/>
        <p:txBody>
          <a:bodyPr>
            <a:normAutofit fontScale="62500" lnSpcReduction="20000"/>
          </a:bodyPr>
          <a:lstStyle/>
          <a:p>
            <a:r>
              <a:rPr lang="zh-CN" altLang="en-US" dirty="0"/>
              <a:t>当发生冲突时，探查下一个桶。当循环 </a:t>
            </a:r>
            <a:r>
              <a:rPr lang="en-US" altLang="zh-CN" dirty="0"/>
              <a:t>m-1</a:t>
            </a:r>
            <a:r>
              <a:rPr lang="zh-CN" altLang="en-US" dirty="0"/>
              <a:t>次后就会回到开始探查时的位置，说明待查关键码不在表内，而且表已满，不能再插入新关键码。</a:t>
            </a:r>
          </a:p>
          <a:p>
            <a:r>
              <a:rPr lang="zh-CN" altLang="en-US" dirty="0"/>
              <a:t>用平均搜索长度</a:t>
            </a:r>
            <a:r>
              <a:rPr lang="en-US" altLang="zh-CN" dirty="0"/>
              <a:t>ASL (</a:t>
            </a:r>
            <a:r>
              <a:rPr lang="en-US" altLang="zh-CN" dirty="0" err="1"/>
              <a:t>Averagy</a:t>
            </a:r>
            <a:r>
              <a:rPr lang="en-US" altLang="zh-CN" dirty="0"/>
              <a:t> Search Length) </a:t>
            </a:r>
            <a:r>
              <a:rPr lang="zh-CN" altLang="en-US" dirty="0"/>
              <a:t>衡量散列方法的搜索性能。</a:t>
            </a:r>
          </a:p>
          <a:p>
            <a:pPr lvl="1"/>
            <a:r>
              <a:rPr lang="zh-CN" altLang="en-US" dirty="0"/>
              <a:t>根据搜索成功与否，又有搜索成功的平均搜索长度</a:t>
            </a:r>
            <a:r>
              <a:rPr lang="en-US" altLang="zh-CN" dirty="0" err="1"/>
              <a:t>ASL</a:t>
            </a:r>
            <a:r>
              <a:rPr lang="en-US" altLang="zh-CN" baseline="-25000" dirty="0" err="1"/>
              <a:t>succ</a:t>
            </a:r>
            <a:r>
              <a:rPr lang="zh-CN" altLang="en-US" dirty="0"/>
              <a:t>和搜索不成功的平均搜索长度</a:t>
            </a:r>
            <a:r>
              <a:rPr lang="en-US" altLang="zh-CN" dirty="0" err="1"/>
              <a:t>ASL</a:t>
            </a:r>
            <a:r>
              <a:rPr lang="en-US" altLang="zh-CN" baseline="-25000" dirty="0" err="1"/>
              <a:t>unsucc</a:t>
            </a:r>
            <a:r>
              <a:rPr lang="zh-CN" altLang="en-US" dirty="0"/>
              <a:t>之分。</a:t>
            </a:r>
          </a:p>
          <a:p>
            <a:r>
              <a:rPr lang="zh-CN" altLang="en-US" dirty="0"/>
              <a:t>搜索成功的平均搜索长度 </a:t>
            </a:r>
            <a:r>
              <a:rPr lang="en-US" altLang="zh-CN" dirty="0" err="1"/>
              <a:t>ASL</a:t>
            </a:r>
            <a:r>
              <a:rPr lang="en-US" altLang="zh-CN" baseline="-25000" dirty="0" err="1"/>
              <a:t>succ</a:t>
            </a:r>
            <a:r>
              <a:rPr lang="en-US" altLang="zh-CN" dirty="0"/>
              <a:t> </a:t>
            </a:r>
            <a:r>
              <a:rPr lang="zh-CN" altLang="en-US" dirty="0"/>
              <a:t>是指搜索到表中已有元素的平均探查次数。它是找到表中各个已有元素的探查次数的平均值。</a:t>
            </a:r>
            <a:endParaRPr lang="en-US" altLang="zh-CN" dirty="0"/>
          </a:p>
          <a:p>
            <a:r>
              <a:rPr lang="zh-CN" altLang="en-US" dirty="0"/>
              <a:t>搜索不成功的平均搜索长度 </a:t>
            </a:r>
            <a:r>
              <a:rPr lang="en-US" altLang="zh-CN" dirty="0" err="1"/>
              <a:t>ASL</a:t>
            </a:r>
            <a:r>
              <a:rPr lang="en-US" altLang="zh-CN" baseline="-25000" dirty="0" err="1"/>
              <a:t>unsucc</a:t>
            </a:r>
            <a:r>
              <a:rPr lang="en-US" altLang="zh-CN" dirty="0"/>
              <a:t> </a:t>
            </a:r>
            <a:r>
              <a:rPr lang="zh-CN" altLang="en-US" dirty="0"/>
              <a:t>是指在表中搜索不到待查的元素，但找到插入位置的平均探查次数。它是表中所有可能散列到的位置上要插入新元素时，为找到空桶所需探查次数的平均值。</a:t>
            </a:r>
          </a:p>
        </p:txBody>
      </p:sp>
      <p:sp>
        <p:nvSpPr>
          <p:cNvPr id="2" name="灯片编号占位符 1">
            <a:extLst>
              <a:ext uri="{FF2B5EF4-FFF2-40B4-BE49-F238E27FC236}">
                <a16:creationId xmlns:a16="http://schemas.microsoft.com/office/drawing/2014/main" id="{D5336155-784B-0D70-0284-98AEFB8B6C9B}"/>
              </a:ext>
            </a:extLst>
          </p:cNvPr>
          <p:cNvSpPr>
            <a:spLocks noGrp="1"/>
          </p:cNvSpPr>
          <p:nvPr>
            <p:ph type="sldNum" sz="quarter" idx="12"/>
          </p:nvPr>
        </p:nvSpPr>
        <p:spPr/>
        <p:txBody>
          <a:bodyPr/>
          <a:lstStyle/>
          <a:p>
            <a:pPr>
              <a:defRPr/>
            </a:pPr>
            <a:fld id="{524B865F-46F8-4520-B0DD-31ED36EF62D9}" type="slidenum">
              <a:rPr lang="en-US" altLang="zh-CN" smtClean="0"/>
              <a:pPr>
                <a:defRPr/>
              </a:pPr>
              <a:t>70</a:t>
            </a:fld>
            <a:endParaRPr lang="en-US" altLang="zh-CN"/>
          </a:p>
        </p:txBody>
      </p:sp>
    </p:spTree>
  </p:cSld>
  <p:clrMapOvr>
    <a:masterClrMapping/>
  </p:clrMapOvr>
  <p:transition>
    <p:spli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00E5D20-7C5A-4261-AB72-2C23F41429E8}"/>
              </a:ext>
            </a:extLst>
          </p:cNvPr>
          <p:cNvSpPr>
            <a:spLocks noGrp="1"/>
          </p:cNvSpPr>
          <p:nvPr>
            <p:ph type="title"/>
          </p:nvPr>
        </p:nvSpPr>
        <p:spPr/>
        <p:txBody>
          <a:bodyPr/>
          <a:lstStyle/>
          <a:p>
            <a:r>
              <a:rPr lang="zh-CN" altLang="en-US" dirty="0"/>
              <a:t>例</a:t>
            </a:r>
          </a:p>
        </p:txBody>
      </p:sp>
      <p:sp>
        <p:nvSpPr>
          <p:cNvPr id="547842" name="Rectangle 1026">
            <a:extLst>
              <a:ext uri="{FF2B5EF4-FFF2-40B4-BE49-F238E27FC236}">
                <a16:creationId xmlns:a16="http://schemas.microsoft.com/office/drawing/2014/main" id="{0A660D7C-A255-D3C6-BCF9-7C4996436A49}"/>
              </a:ext>
            </a:extLst>
          </p:cNvPr>
          <p:cNvSpPr>
            <a:spLocks noGrp="1" noChangeArrowheads="1"/>
          </p:cNvSpPr>
          <p:nvPr>
            <p:ph type="body" idx="1"/>
          </p:nvPr>
        </p:nvSpPr>
        <p:spPr>
          <a:xfrm>
            <a:off x="628650" y="1484784"/>
            <a:ext cx="7759774" cy="1612429"/>
          </a:xfrm>
        </p:spPr>
        <p:txBody>
          <a:bodyPr>
            <a:normAutofit fontScale="55000" lnSpcReduction="20000"/>
          </a:bodyPr>
          <a:lstStyle/>
          <a:p>
            <a:r>
              <a:rPr lang="zh-CN" altLang="en-US" dirty="0"/>
              <a:t>用线性探查法对示例进行搜索时，搜索成功的平均搜索长度为：</a:t>
            </a:r>
          </a:p>
          <a:p>
            <a:endParaRPr lang="zh-CN" altLang="en-US" dirty="0"/>
          </a:p>
          <a:p>
            <a:endParaRPr lang="zh-CN" altLang="en-US" dirty="0"/>
          </a:p>
          <a:p>
            <a:r>
              <a:rPr lang="zh-CN" altLang="en-US" dirty="0"/>
              <a:t>搜索不成功的平均搜索长度为：</a:t>
            </a:r>
          </a:p>
        </p:txBody>
      </p:sp>
      <p:graphicFrame>
        <p:nvGraphicFramePr>
          <p:cNvPr id="91139" name="Object 1024">
            <a:extLst>
              <a:ext uri="{FF2B5EF4-FFF2-40B4-BE49-F238E27FC236}">
                <a16:creationId xmlns:a16="http://schemas.microsoft.com/office/drawing/2014/main" id="{8BA0DABB-D9E1-4F27-EB83-34A563F2813D}"/>
              </a:ext>
            </a:extLst>
          </p:cNvPr>
          <p:cNvGraphicFramePr>
            <a:graphicFrameLocks noChangeAspect="1"/>
          </p:cNvGraphicFramePr>
          <p:nvPr>
            <p:extLst>
              <p:ext uri="{D42A27DB-BD31-4B8C-83A1-F6EECF244321}">
                <p14:modId xmlns:p14="http://schemas.microsoft.com/office/powerpoint/2010/main" val="2662863052"/>
              </p:ext>
            </p:extLst>
          </p:nvPr>
        </p:nvGraphicFramePr>
        <p:xfrm>
          <a:off x="1211684" y="1810014"/>
          <a:ext cx="5304532" cy="544250"/>
        </p:xfrm>
        <a:graphic>
          <a:graphicData uri="http://schemas.openxmlformats.org/presentationml/2006/ole">
            <mc:AlternateContent xmlns:mc="http://schemas.openxmlformats.org/markup-compatibility/2006">
              <mc:Choice xmlns:v="urn:schemas-microsoft-com:vml" Requires="v">
                <p:oleObj name="公式" r:id="rId2" imgW="3479800" imgH="431800" progId="Equation.3">
                  <p:embed/>
                </p:oleObj>
              </mc:Choice>
              <mc:Fallback>
                <p:oleObj name="公式" r:id="rId2" imgW="3479800" imgH="431800" progId="Equation.3">
                  <p:embed/>
                  <p:pic>
                    <p:nvPicPr>
                      <p:cNvPr id="0"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1684" y="1810014"/>
                        <a:ext cx="5304532" cy="544250"/>
                      </a:xfrm>
                      <a:prstGeom prst="rect">
                        <a:avLst/>
                      </a:prstGeom>
                      <a:noFill/>
                      <a:ln>
                        <a:noFill/>
                      </a:ln>
                      <a:effectLst/>
                    </p:spPr>
                  </p:pic>
                </p:oleObj>
              </mc:Fallback>
            </mc:AlternateContent>
          </a:graphicData>
        </a:graphic>
      </p:graphicFrame>
      <p:graphicFrame>
        <p:nvGraphicFramePr>
          <p:cNvPr id="91140" name="Object 1025">
            <a:extLst>
              <a:ext uri="{FF2B5EF4-FFF2-40B4-BE49-F238E27FC236}">
                <a16:creationId xmlns:a16="http://schemas.microsoft.com/office/drawing/2014/main" id="{A608C67D-0D38-0422-5D19-1874C23E5F63}"/>
              </a:ext>
            </a:extLst>
          </p:cNvPr>
          <p:cNvGraphicFramePr>
            <a:graphicFrameLocks noChangeAspect="1"/>
          </p:cNvGraphicFramePr>
          <p:nvPr>
            <p:extLst>
              <p:ext uri="{D42A27DB-BD31-4B8C-83A1-F6EECF244321}">
                <p14:modId xmlns:p14="http://schemas.microsoft.com/office/powerpoint/2010/main" val="1830355571"/>
              </p:ext>
            </p:extLst>
          </p:nvPr>
        </p:nvGraphicFramePr>
        <p:xfrm>
          <a:off x="1211684" y="2740025"/>
          <a:ext cx="5304532" cy="544250"/>
        </p:xfrm>
        <a:graphic>
          <a:graphicData uri="http://schemas.openxmlformats.org/presentationml/2006/ole">
            <mc:AlternateContent xmlns:mc="http://schemas.openxmlformats.org/markup-compatibility/2006">
              <mc:Choice xmlns:v="urn:schemas-microsoft-com:vml" Requires="v">
                <p:oleObj name="公式" r:id="rId4" imgW="3187700" imgH="393700" progId="Equation.3">
                  <p:embed/>
                </p:oleObj>
              </mc:Choice>
              <mc:Fallback>
                <p:oleObj name="公式" r:id="rId4" imgW="3187700" imgH="393700" progId="Equation.3">
                  <p:embed/>
                  <p:pic>
                    <p:nvPicPr>
                      <p:cNvPr id="0" name="Object 10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1684" y="2740025"/>
                        <a:ext cx="5304532" cy="544250"/>
                      </a:xfrm>
                      <a:prstGeom prst="rect">
                        <a:avLst/>
                      </a:prstGeom>
                      <a:no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56AB5CA9-1D8F-B3E4-9DBF-4B59307B2D6E}"/>
              </a:ext>
            </a:extLst>
          </p:cNvPr>
          <p:cNvSpPr>
            <a:spLocks noGrp="1"/>
          </p:cNvSpPr>
          <p:nvPr>
            <p:ph type="sldNum" sz="quarter" idx="12"/>
          </p:nvPr>
        </p:nvSpPr>
        <p:spPr/>
        <p:txBody>
          <a:bodyPr/>
          <a:lstStyle/>
          <a:p>
            <a:pPr>
              <a:defRPr/>
            </a:pPr>
            <a:fld id="{524B865F-46F8-4520-B0DD-31ED36EF62D9}" type="slidenum">
              <a:rPr lang="en-US" altLang="zh-CN" smtClean="0"/>
              <a:pPr>
                <a:defRPr/>
              </a:pPr>
              <a:t>71</a:t>
            </a:fld>
            <a:endParaRPr lang="en-US" altLang="zh-CN"/>
          </a:p>
        </p:txBody>
      </p:sp>
      <p:sp>
        <p:nvSpPr>
          <p:cNvPr id="4" name="Rectangle 4">
            <a:extLst>
              <a:ext uri="{FF2B5EF4-FFF2-40B4-BE49-F238E27FC236}">
                <a16:creationId xmlns:a16="http://schemas.microsoft.com/office/drawing/2014/main" id="{90F69151-31DD-C133-39EA-D6514BD5FD4A}"/>
              </a:ext>
            </a:extLst>
          </p:cNvPr>
          <p:cNvSpPr>
            <a:spLocks noChangeArrowheads="1"/>
          </p:cNvSpPr>
          <p:nvPr/>
        </p:nvSpPr>
        <p:spPr bwMode="auto">
          <a:xfrm>
            <a:off x="958850" y="3657600"/>
            <a:ext cx="5784850" cy="519113"/>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0           1              2              3              4</a:t>
            </a:r>
            <a:endParaRPr lang="en-US" altLang="zh-CN" sz="2400">
              <a:ea typeface="宋体" charset="-122"/>
            </a:endParaRPr>
          </a:p>
        </p:txBody>
      </p:sp>
      <p:sp>
        <p:nvSpPr>
          <p:cNvPr id="5" name="Rectangle 6" descr="白色大理石">
            <a:extLst>
              <a:ext uri="{FF2B5EF4-FFF2-40B4-BE49-F238E27FC236}">
                <a16:creationId xmlns:a16="http://schemas.microsoft.com/office/drawing/2014/main" id="{A6EE0765-DAF8-401B-71D6-0ACC929B97AE}"/>
              </a:ext>
            </a:extLst>
          </p:cNvPr>
          <p:cNvSpPr>
            <a:spLocks noChangeArrowheads="1"/>
          </p:cNvSpPr>
          <p:nvPr/>
        </p:nvSpPr>
        <p:spPr bwMode="auto">
          <a:xfrm>
            <a:off x="685800" y="4191000"/>
            <a:ext cx="7162800" cy="533400"/>
          </a:xfrm>
          <a:prstGeom prst="rect">
            <a:avLst/>
          </a:prstGeom>
          <a:blipFill dpi="0" rotWithShape="0">
            <a:blip r:embed="rId6"/>
            <a:srcRect/>
            <a:tile tx="0" ty="0" sx="100000" sy="100000" flip="none" algn="tl"/>
          </a:blipFill>
          <a:ln w="31750">
            <a:solidFill>
              <a:srgbClr val="339966"/>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dirty="0">
                <a:ea typeface="宋体" panose="02010600030101010101" pitchFamily="2" charset="-122"/>
              </a:rPr>
              <a:t>Attlee   Burke    Broad     Blum       </a:t>
            </a:r>
            <a:r>
              <a:rPr lang="en-US" altLang="zh-CN" sz="2800" b="1" dirty="0" err="1">
                <a:ea typeface="宋体" panose="02010600030101010101" pitchFamily="2" charset="-122"/>
              </a:rPr>
              <a:t>Ekers</a:t>
            </a:r>
            <a:endParaRPr lang="en-US" altLang="zh-CN" sz="2800" b="1" dirty="0">
              <a:ea typeface="宋体" panose="02010600030101010101" pitchFamily="2" charset="-122"/>
            </a:endParaRPr>
          </a:p>
        </p:txBody>
      </p:sp>
      <p:sp>
        <p:nvSpPr>
          <p:cNvPr id="6" name="Line 7">
            <a:extLst>
              <a:ext uri="{FF2B5EF4-FFF2-40B4-BE49-F238E27FC236}">
                <a16:creationId xmlns:a16="http://schemas.microsoft.com/office/drawing/2014/main" id="{55E134F2-78C3-4E51-8C20-F73829770FF6}"/>
              </a:ext>
            </a:extLst>
          </p:cNvPr>
          <p:cNvSpPr>
            <a:spLocks noChangeShapeType="1"/>
          </p:cNvSpPr>
          <p:nvPr/>
        </p:nvSpPr>
        <p:spPr bwMode="auto">
          <a:xfrm flipV="1">
            <a:off x="1981200" y="4191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8">
            <a:extLst>
              <a:ext uri="{FF2B5EF4-FFF2-40B4-BE49-F238E27FC236}">
                <a16:creationId xmlns:a16="http://schemas.microsoft.com/office/drawing/2014/main" id="{2E1E1DDB-7F49-4D6B-E754-4FD3F6F1DD2F}"/>
              </a:ext>
            </a:extLst>
          </p:cNvPr>
          <p:cNvSpPr>
            <a:spLocks noChangeShapeType="1"/>
          </p:cNvSpPr>
          <p:nvPr/>
        </p:nvSpPr>
        <p:spPr bwMode="auto">
          <a:xfrm flipV="1">
            <a:off x="3352800" y="4191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9">
            <a:extLst>
              <a:ext uri="{FF2B5EF4-FFF2-40B4-BE49-F238E27FC236}">
                <a16:creationId xmlns:a16="http://schemas.microsoft.com/office/drawing/2014/main" id="{EE07BA1D-1551-6E8C-7ECD-1780D308A5AC}"/>
              </a:ext>
            </a:extLst>
          </p:cNvPr>
          <p:cNvSpPr>
            <a:spLocks noChangeShapeType="1"/>
          </p:cNvSpPr>
          <p:nvPr/>
        </p:nvSpPr>
        <p:spPr bwMode="auto">
          <a:xfrm flipV="1">
            <a:off x="4800600" y="4191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10">
            <a:extLst>
              <a:ext uri="{FF2B5EF4-FFF2-40B4-BE49-F238E27FC236}">
                <a16:creationId xmlns:a16="http://schemas.microsoft.com/office/drawing/2014/main" id="{771B9991-5CF1-5A01-44B2-8091770C20C6}"/>
              </a:ext>
            </a:extLst>
          </p:cNvPr>
          <p:cNvSpPr>
            <a:spLocks noChangeShapeType="1"/>
          </p:cNvSpPr>
          <p:nvPr/>
        </p:nvSpPr>
        <p:spPr bwMode="auto">
          <a:xfrm flipV="1">
            <a:off x="6324600" y="4191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Rectangle 11" descr="白色大理石">
            <a:extLst>
              <a:ext uri="{FF2B5EF4-FFF2-40B4-BE49-F238E27FC236}">
                <a16:creationId xmlns:a16="http://schemas.microsoft.com/office/drawing/2014/main" id="{6C5F9F36-FB5C-088F-E640-6C775E3FB32F}"/>
              </a:ext>
            </a:extLst>
          </p:cNvPr>
          <p:cNvSpPr>
            <a:spLocks noChangeArrowheads="1"/>
          </p:cNvSpPr>
          <p:nvPr/>
        </p:nvSpPr>
        <p:spPr bwMode="auto">
          <a:xfrm>
            <a:off x="685800" y="5715000"/>
            <a:ext cx="7162800" cy="533400"/>
          </a:xfrm>
          <a:prstGeom prst="rect">
            <a:avLst/>
          </a:prstGeom>
          <a:blipFill dpi="0" rotWithShape="0">
            <a:blip r:embed="rId6"/>
            <a:srcRect/>
            <a:tile tx="0" ty="0" sx="100000" sy="100000" flip="none" algn="tl"/>
          </a:blipFill>
          <a:ln w="31750">
            <a:solidFill>
              <a:srgbClr val="339966"/>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dirty="0">
                <a:ea typeface="宋体" panose="02010600030101010101" pitchFamily="2" charset="-122"/>
              </a:rPr>
              <a:t>Alton    </a:t>
            </a:r>
            <a:r>
              <a:rPr lang="en-US" altLang="zh-CN" sz="2800" b="1" dirty="0" err="1">
                <a:ea typeface="宋体" panose="02010600030101010101" pitchFamily="2" charset="-122"/>
              </a:rPr>
              <a:t>Ederly</a:t>
            </a:r>
            <a:r>
              <a:rPr lang="en-US" altLang="zh-CN" sz="2800" b="1" dirty="0">
                <a:ea typeface="宋体" panose="02010600030101010101" pitchFamily="2" charset="-122"/>
              </a:rPr>
              <a:t>    Hecht </a:t>
            </a:r>
          </a:p>
        </p:txBody>
      </p:sp>
      <p:sp>
        <p:nvSpPr>
          <p:cNvPr id="11" name="Line 12">
            <a:extLst>
              <a:ext uri="{FF2B5EF4-FFF2-40B4-BE49-F238E27FC236}">
                <a16:creationId xmlns:a16="http://schemas.microsoft.com/office/drawing/2014/main" id="{D39D6715-BB33-2411-EE51-68CCDE44A978}"/>
              </a:ext>
            </a:extLst>
          </p:cNvPr>
          <p:cNvSpPr>
            <a:spLocks noChangeShapeType="1"/>
          </p:cNvSpPr>
          <p:nvPr/>
        </p:nvSpPr>
        <p:spPr bwMode="auto">
          <a:xfrm flipV="1">
            <a:off x="1981200" y="5715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13">
            <a:extLst>
              <a:ext uri="{FF2B5EF4-FFF2-40B4-BE49-F238E27FC236}">
                <a16:creationId xmlns:a16="http://schemas.microsoft.com/office/drawing/2014/main" id="{2ABA0966-DE07-C71A-C8AA-5BFC81B42CAB}"/>
              </a:ext>
            </a:extLst>
          </p:cNvPr>
          <p:cNvSpPr>
            <a:spLocks noChangeShapeType="1"/>
          </p:cNvSpPr>
          <p:nvPr/>
        </p:nvSpPr>
        <p:spPr bwMode="auto">
          <a:xfrm flipV="1">
            <a:off x="3352800" y="5715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4">
            <a:extLst>
              <a:ext uri="{FF2B5EF4-FFF2-40B4-BE49-F238E27FC236}">
                <a16:creationId xmlns:a16="http://schemas.microsoft.com/office/drawing/2014/main" id="{152599E8-AC66-7E2E-B0BC-D6FFC3281BCD}"/>
              </a:ext>
            </a:extLst>
          </p:cNvPr>
          <p:cNvSpPr>
            <a:spLocks noChangeShapeType="1"/>
          </p:cNvSpPr>
          <p:nvPr/>
        </p:nvSpPr>
        <p:spPr bwMode="auto">
          <a:xfrm flipV="1">
            <a:off x="4800600" y="5715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5">
            <a:extLst>
              <a:ext uri="{FF2B5EF4-FFF2-40B4-BE49-F238E27FC236}">
                <a16:creationId xmlns:a16="http://schemas.microsoft.com/office/drawing/2014/main" id="{41A648E5-5333-1894-6ED7-582B54D6C82F}"/>
              </a:ext>
            </a:extLst>
          </p:cNvPr>
          <p:cNvSpPr>
            <a:spLocks noChangeShapeType="1"/>
          </p:cNvSpPr>
          <p:nvPr/>
        </p:nvSpPr>
        <p:spPr bwMode="auto">
          <a:xfrm flipV="1">
            <a:off x="6324600" y="5715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Rectangle 16">
            <a:extLst>
              <a:ext uri="{FF2B5EF4-FFF2-40B4-BE49-F238E27FC236}">
                <a16:creationId xmlns:a16="http://schemas.microsoft.com/office/drawing/2014/main" id="{BF296A93-EC14-6A4D-D23A-1D6B44B8C0B2}"/>
              </a:ext>
            </a:extLst>
          </p:cNvPr>
          <p:cNvSpPr>
            <a:spLocks noChangeArrowheads="1"/>
          </p:cNvSpPr>
          <p:nvPr/>
        </p:nvSpPr>
        <p:spPr bwMode="auto">
          <a:xfrm>
            <a:off x="946150" y="5195888"/>
            <a:ext cx="5962650" cy="519112"/>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ea typeface="宋体" charset="-122"/>
              </a:rPr>
              <a:t>5           6              7              8               9 </a:t>
            </a:r>
          </a:p>
        </p:txBody>
      </p:sp>
      <p:sp>
        <p:nvSpPr>
          <p:cNvPr id="16" name="Rectangle 17">
            <a:extLst>
              <a:ext uri="{FF2B5EF4-FFF2-40B4-BE49-F238E27FC236}">
                <a16:creationId xmlns:a16="http://schemas.microsoft.com/office/drawing/2014/main" id="{E410CC60-9F02-8A36-1301-3E1FF39B44A9}"/>
              </a:ext>
            </a:extLst>
          </p:cNvPr>
          <p:cNvSpPr>
            <a:spLocks noChangeArrowheads="1"/>
          </p:cNvSpPr>
          <p:nvPr/>
        </p:nvSpPr>
        <p:spPr bwMode="auto">
          <a:xfrm>
            <a:off x="914400" y="4789488"/>
            <a:ext cx="6229350" cy="457200"/>
          </a:xfrm>
          <a:prstGeom prst="rect">
            <a:avLst/>
          </a:prstGeom>
          <a:noFill/>
          <a:ln w="9525">
            <a:noFill/>
            <a:miter lim="800000"/>
            <a:headEnd/>
            <a:tailEnd/>
          </a:ln>
          <a:effectLst/>
        </p:spPr>
        <p:txBody>
          <a:bodyPr wrap="none">
            <a:spAutoFit/>
          </a:bodyPr>
          <a:lstStyle/>
          <a:p>
            <a:pPr>
              <a:defRPr/>
            </a:pPr>
            <a:r>
              <a:rPr lang="en-US" altLang="zh-CN" sz="2400" b="1">
                <a:solidFill>
                  <a:srgbClr val="FF3300"/>
                </a:solidFill>
                <a:effectLst>
                  <a:outerShdw blurRad="38100" dist="38100" dir="2700000" algn="tl">
                    <a:srgbClr val="C0C0C0"/>
                  </a:outerShdw>
                </a:effectLst>
                <a:ea typeface="宋体" charset="-122"/>
              </a:rPr>
              <a:t>(1)             (1)            (2)               (3)                (1)</a:t>
            </a:r>
            <a:endParaRPr lang="en-US" altLang="zh-CN" sz="2400" b="1">
              <a:solidFill>
                <a:srgbClr val="FF3300"/>
              </a:solidFill>
              <a:ea typeface="宋体" charset="-122"/>
            </a:endParaRPr>
          </a:p>
        </p:txBody>
      </p:sp>
      <p:sp>
        <p:nvSpPr>
          <p:cNvPr id="17" name="Rectangle 18">
            <a:extLst>
              <a:ext uri="{FF2B5EF4-FFF2-40B4-BE49-F238E27FC236}">
                <a16:creationId xmlns:a16="http://schemas.microsoft.com/office/drawing/2014/main" id="{19B470A0-4371-AEE5-F079-6E2EC49112AF}"/>
              </a:ext>
            </a:extLst>
          </p:cNvPr>
          <p:cNvSpPr>
            <a:spLocks noChangeArrowheads="1"/>
          </p:cNvSpPr>
          <p:nvPr/>
        </p:nvSpPr>
        <p:spPr bwMode="auto">
          <a:xfrm>
            <a:off x="914400" y="6248400"/>
            <a:ext cx="3155950" cy="457200"/>
          </a:xfrm>
          <a:prstGeom prst="rect">
            <a:avLst/>
          </a:prstGeom>
          <a:noFill/>
          <a:ln w="9525">
            <a:noFill/>
            <a:miter lim="800000"/>
            <a:headEnd/>
            <a:tailEnd/>
          </a:ln>
          <a:effectLst/>
        </p:spPr>
        <p:txBody>
          <a:bodyPr wrap="none">
            <a:spAutoFit/>
          </a:bodyPr>
          <a:lstStyle/>
          <a:p>
            <a:pPr>
              <a:defRPr/>
            </a:pPr>
            <a:r>
              <a:rPr lang="en-US" altLang="zh-CN" sz="2400" b="1">
                <a:solidFill>
                  <a:srgbClr val="FF3300"/>
                </a:solidFill>
                <a:effectLst>
                  <a:outerShdw blurRad="38100" dist="38100" dir="2700000" algn="tl">
                    <a:srgbClr val="C0C0C0"/>
                  </a:outerShdw>
                </a:effectLst>
                <a:ea typeface="宋体" charset="-122"/>
              </a:rPr>
              <a:t>(6)             (3)            (1)</a:t>
            </a:r>
            <a:endParaRPr lang="en-US" altLang="zh-CN" sz="2800" b="1">
              <a:solidFill>
                <a:srgbClr val="FF3300"/>
              </a:solidFill>
              <a:effectLst>
                <a:outerShdw blurRad="38100" dist="38100" dir="2700000" algn="tl">
                  <a:srgbClr val="C0C0C0"/>
                </a:outerShdw>
              </a:effectLst>
              <a:ea typeface="宋体" charset="-122"/>
            </a:endParaRPr>
          </a:p>
        </p:txBody>
      </p:sp>
    </p:spTree>
  </p:cSld>
  <p:clrMapOvr>
    <a:masterClrMapping/>
  </p:clrMapOvr>
  <p:transition>
    <p:spli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95CE44-2156-47F5-9CFA-ABF9F473D038}"/>
              </a:ext>
            </a:extLst>
          </p:cNvPr>
          <p:cNvSpPr>
            <a:spLocks noGrp="1"/>
          </p:cNvSpPr>
          <p:nvPr>
            <p:ph type="title"/>
          </p:nvPr>
        </p:nvSpPr>
        <p:spPr/>
        <p:txBody>
          <a:bodyPr/>
          <a:lstStyle/>
          <a:p>
            <a:r>
              <a:rPr lang="zh-CN" altLang="en-US" dirty="0"/>
              <a:t>线性探查法搜索算法</a:t>
            </a:r>
          </a:p>
        </p:txBody>
      </p:sp>
      <p:sp>
        <p:nvSpPr>
          <p:cNvPr id="3" name="内容占位符 2">
            <a:extLst>
              <a:ext uri="{FF2B5EF4-FFF2-40B4-BE49-F238E27FC236}">
                <a16:creationId xmlns:a16="http://schemas.microsoft.com/office/drawing/2014/main" id="{E77BDBED-FD87-4A96-AF11-BED0C075E5B2}"/>
              </a:ext>
            </a:extLst>
          </p:cNvPr>
          <p:cNvSpPr>
            <a:spLocks noGrp="1"/>
          </p:cNvSpPr>
          <p:nvPr>
            <p:ph idx="1"/>
          </p:nvPr>
        </p:nvSpPr>
        <p:spPr/>
        <p:txBody>
          <a:bodyPr>
            <a:normAutofit fontScale="62500" lnSpcReduction="20000"/>
          </a:bodyPr>
          <a:lstStyle/>
          <a:p>
            <a:pPr marL="0" indent="0">
              <a:buNone/>
            </a:pPr>
            <a:r>
              <a:rPr lang="en-US" altLang="zh-CN" dirty="0"/>
              <a:t>template &lt;class E, class K&gt; </a:t>
            </a:r>
          </a:p>
          <a:p>
            <a:pPr marL="0" indent="0">
              <a:buNone/>
            </a:pPr>
            <a:r>
              <a:rPr lang="en-US" altLang="zh-CN" dirty="0"/>
              <a:t>int </a:t>
            </a:r>
            <a:r>
              <a:rPr lang="en-US" altLang="zh-CN" dirty="0" err="1"/>
              <a:t>HashTable</a:t>
            </a:r>
            <a:r>
              <a:rPr lang="en-US" altLang="zh-CN" dirty="0"/>
              <a:t> &lt;E, K&gt;::</a:t>
            </a:r>
            <a:r>
              <a:rPr lang="en-US" altLang="zh-CN" dirty="0" err="1"/>
              <a:t>FindPos</a:t>
            </a:r>
            <a:r>
              <a:rPr lang="en-US" altLang="zh-CN" dirty="0"/>
              <a:t> ( const E e1 ) const {</a:t>
            </a:r>
          </a:p>
          <a:p>
            <a:pPr marL="0" indent="0">
              <a:buNone/>
            </a:pPr>
            <a:r>
              <a:rPr lang="en-US" altLang="zh-CN" dirty="0"/>
              <a:t>   int </a:t>
            </a:r>
            <a:r>
              <a:rPr lang="en-US" altLang="zh-CN" dirty="0" err="1"/>
              <a:t>i</a:t>
            </a:r>
            <a:r>
              <a:rPr lang="en-US" altLang="zh-CN" dirty="0"/>
              <a:t> =  e1.GetKey() % divisor;     //</a:t>
            </a:r>
            <a:r>
              <a:rPr lang="zh-CN" altLang="en-US" dirty="0"/>
              <a:t>计算初始桶号</a:t>
            </a:r>
          </a:p>
          <a:p>
            <a:pPr marL="0" indent="0">
              <a:buNone/>
            </a:pPr>
            <a:r>
              <a:rPr lang="zh-CN" altLang="en-US" dirty="0"/>
              <a:t>   </a:t>
            </a:r>
            <a:r>
              <a:rPr lang="en-US" altLang="zh-CN" dirty="0"/>
              <a:t>int j = </a:t>
            </a:r>
            <a:r>
              <a:rPr lang="en-US" altLang="zh-CN" dirty="0" err="1"/>
              <a:t>i</a:t>
            </a:r>
            <a:r>
              <a:rPr lang="en-US" altLang="zh-CN" dirty="0"/>
              <a:t>;</a:t>
            </a:r>
          </a:p>
          <a:p>
            <a:pPr marL="0" indent="0">
              <a:buNone/>
            </a:pPr>
            <a:r>
              <a:rPr lang="en-US" altLang="zh-CN" dirty="0"/>
              <a:t>   do {</a:t>
            </a:r>
          </a:p>
          <a:p>
            <a:pPr marL="0" indent="0">
              <a:buNone/>
            </a:pPr>
            <a:r>
              <a:rPr lang="en-US" altLang="zh-CN" dirty="0"/>
              <a:t>       if ( info[j] == Empty || info[j] == Active &amp;&amp;</a:t>
            </a:r>
          </a:p>
          <a:p>
            <a:pPr marL="0" indent="0">
              <a:buNone/>
            </a:pPr>
            <a:r>
              <a:rPr lang="en-US" altLang="zh-CN" dirty="0"/>
              <a:t>             </a:t>
            </a:r>
            <a:r>
              <a:rPr lang="en-US" altLang="zh-CN" dirty="0" err="1"/>
              <a:t>ht</a:t>
            </a:r>
            <a:r>
              <a:rPr lang="en-US" altLang="zh-CN" dirty="0"/>
              <a:t>[j] == e1  ) return j;    //</a:t>
            </a:r>
            <a:r>
              <a:rPr lang="zh-CN" altLang="en-US" dirty="0"/>
              <a:t>找到</a:t>
            </a:r>
          </a:p>
          <a:p>
            <a:pPr marL="0" indent="0">
              <a:buNone/>
            </a:pPr>
            <a:r>
              <a:rPr lang="zh-CN" altLang="en-US" dirty="0"/>
              <a:t>       </a:t>
            </a:r>
            <a:r>
              <a:rPr lang="en-US" altLang="zh-CN" dirty="0"/>
              <a:t>j =  ( j +1 ) % </a:t>
            </a:r>
            <a:r>
              <a:rPr lang="en-US" altLang="zh-CN" dirty="0" err="1"/>
              <a:t>TableSize</a:t>
            </a:r>
            <a:r>
              <a:rPr lang="en-US" altLang="zh-CN" dirty="0"/>
              <a:t>; //</a:t>
            </a:r>
            <a:r>
              <a:rPr lang="zh-CN" altLang="en-US" dirty="0"/>
              <a:t>循环找下一空桶</a:t>
            </a:r>
          </a:p>
          <a:p>
            <a:pPr marL="0" indent="0">
              <a:buNone/>
            </a:pPr>
            <a:r>
              <a:rPr lang="zh-CN" altLang="en-US" dirty="0"/>
              <a:t>   </a:t>
            </a:r>
            <a:r>
              <a:rPr lang="en-US" altLang="zh-CN" dirty="0"/>
              <a:t>} while ( j != </a:t>
            </a:r>
            <a:r>
              <a:rPr lang="en-US" altLang="zh-CN" dirty="0" err="1"/>
              <a:t>i</a:t>
            </a:r>
            <a:r>
              <a:rPr lang="en-US" altLang="zh-CN" dirty="0"/>
              <a:t> ) ;</a:t>
            </a:r>
          </a:p>
          <a:p>
            <a:pPr marL="0" indent="0">
              <a:buNone/>
            </a:pPr>
            <a:r>
              <a:rPr lang="en-US" altLang="zh-CN" dirty="0"/>
              <a:t>   return j;</a:t>
            </a:r>
          </a:p>
          <a:p>
            <a:pPr marL="0" indent="0">
              <a:buNone/>
            </a:pPr>
            <a:r>
              <a:rPr lang="en-US" altLang="zh-CN" dirty="0"/>
              <a:t>}</a:t>
            </a:r>
          </a:p>
        </p:txBody>
      </p:sp>
      <p:sp>
        <p:nvSpPr>
          <p:cNvPr id="4" name="灯片编号占位符 3">
            <a:extLst>
              <a:ext uri="{FF2B5EF4-FFF2-40B4-BE49-F238E27FC236}">
                <a16:creationId xmlns:a16="http://schemas.microsoft.com/office/drawing/2014/main" id="{0202F25C-A427-2C6C-7BD5-3DC080F50495}"/>
              </a:ext>
            </a:extLst>
          </p:cNvPr>
          <p:cNvSpPr>
            <a:spLocks noGrp="1"/>
          </p:cNvSpPr>
          <p:nvPr>
            <p:ph type="sldNum" sz="quarter" idx="12"/>
          </p:nvPr>
        </p:nvSpPr>
        <p:spPr/>
        <p:txBody>
          <a:bodyPr/>
          <a:lstStyle/>
          <a:p>
            <a:pPr>
              <a:defRPr/>
            </a:pPr>
            <a:fld id="{524B865F-46F8-4520-B0DD-31ED36EF62D9}" type="slidenum">
              <a:rPr lang="en-US" altLang="zh-CN" smtClean="0"/>
              <a:pPr>
                <a:defRPr/>
              </a:pPr>
              <a:t>72</a:t>
            </a:fld>
            <a:endParaRPr lang="en-US" altLang="zh-CN"/>
          </a:p>
        </p:txBody>
      </p:sp>
    </p:spTree>
  </p:cSld>
  <p:clrMapOvr>
    <a:masterClrMapping/>
  </p:clrMapOvr>
  <p:transition>
    <p:spli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7" name="Rectangle 1027">
            <a:extLst>
              <a:ext uri="{FF2B5EF4-FFF2-40B4-BE49-F238E27FC236}">
                <a16:creationId xmlns:a16="http://schemas.microsoft.com/office/drawing/2014/main" id="{5071C333-F8FF-4A68-420D-5CEBD76A8B77}"/>
              </a:ext>
            </a:extLst>
          </p:cNvPr>
          <p:cNvSpPr>
            <a:spLocks noGrp="1" noChangeArrowheads="1"/>
          </p:cNvSpPr>
          <p:nvPr>
            <p:ph type="body" idx="1"/>
          </p:nvPr>
        </p:nvSpPr>
        <p:spPr>
          <a:xfrm>
            <a:off x="512093" y="1712432"/>
            <a:ext cx="8119814" cy="4871566"/>
          </a:xfrm>
        </p:spPr>
        <p:txBody>
          <a:bodyPr>
            <a:normAutofit fontScale="77500" lnSpcReduction="20000"/>
          </a:bodyPr>
          <a:lstStyle/>
          <a:p>
            <a:r>
              <a:rPr lang="zh-CN" altLang="en-US" dirty="0"/>
              <a:t>当</a:t>
            </a:r>
            <a:r>
              <a:rPr lang="en-US" altLang="zh-CN" dirty="0" err="1"/>
              <a:t>FindPos</a:t>
            </a:r>
            <a:r>
              <a:rPr lang="en-US" altLang="zh-CN" dirty="0"/>
              <a:t> (x)</a:t>
            </a:r>
            <a:r>
              <a:rPr lang="zh-CN" altLang="en-US" dirty="0"/>
              <a:t>返回 </a:t>
            </a:r>
            <a:r>
              <a:rPr lang="en-US" altLang="zh-CN" dirty="0" err="1"/>
              <a:t>i</a:t>
            </a:r>
            <a:r>
              <a:rPr lang="zh-CN" altLang="en-US" dirty="0"/>
              <a:t>，则有以下几种可能：</a:t>
            </a:r>
          </a:p>
          <a:p>
            <a:pPr lvl="1"/>
            <a:r>
              <a:rPr lang="en-US" altLang="zh-CN" dirty="0"/>
              <a:t>info[</a:t>
            </a:r>
            <a:r>
              <a:rPr lang="en-US" altLang="zh-CN" dirty="0" err="1"/>
              <a:t>i</a:t>
            </a:r>
            <a:r>
              <a:rPr lang="en-US" altLang="zh-CN" dirty="0"/>
              <a:t>] == Active &amp;&amp; ht[</a:t>
            </a:r>
            <a:r>
              <a:rPr lang="en-US" altLang="zh-CN" dirty="0" err="1"/>
              <a:t>i</a:t>
            </a:r>
            <a:r>
              <a:rPr lang="en-US" altLang="zh-CN" dirty="0"/>
              <a:t>] == x</a:t>
            </a:r>
          </a:p>
          <a:p>
            <a:pPr lvl="2"/>
            <a:r>
              <a:rPr lang="zh-CN" altLang="en-US" dirty="0"/>
              <a:t>搜索成功，找到指定元素</a:t>
            </a:r>
          </a:p>
          <a:p>
            <a:pPr lvl="1"/>
            <a:r>
              <a:rPr lang="en-US" altLang="zh-CN" dirty="0"/>
              <a:t>info[</a:t>
            </a:r>
            <a:r>
              <a:rPr lang="en-US" altLang="zh-CN" dirty="0" err="1"/>
              <a:t>i</a:t>
            </a:r>
            <a:r>
              <a:rPr lang="en-US" altLang="zh-CN" dirty="0"/>
              <a:t>] != Active</a:t>
            </a:r>
          </a:p>
          <a:p>
            <a:pPr lvl="2"/>
            <a:r>
              <a:rPr lang="zh-CN" altLang="en-US" dirty="0"/>
              <a:t>未找到，但新元素可加入位置</a:t>
            </a:r>
            <a:r>
              <a:rPr lang="en-US" altLang="zh-CN" dirty="0" err="1"/>
              <a:t>i</a:t>
            </a:r>
            <a:r>
              <a:rPr lang="zh-CN" altLang="en-US" dirty="0"/>
              <a:t>，即（</a:t>
            </a:r>
            <a:r>
              <a:rPr lang="en-US" altLang="zh-CN" dirty="0"/>
              <a:t>info[</a:t>
            </a:r>
            <a:r>
              <a:rPr lang="en-US" altLang="zh-CN" dirty="0" err="1"/>
              <a:t>i</a:t>
            </a:r>
            <a:r>
              <a:rPr lang="en-US" altLang="zh-CN" dirty="0"/>
              <a:t>] == Empty</a:t>
            </a:r>
            <a:r>
              <a:rPr lang="zh-CN" altLang="en-US" dirty="0"/>
              <a:t>或者</a:t>
            </a:r>
            <a:r>
              <a:rPr lang="en-US" altLang="zh-CN" dirty="0"/>
              <a:t>info[</a:t>
            </a:r>
            <a:r>
              <a:rPr lang="en-US" altLang="zh-CN" dirty="0" err="1"/>
              <a:t>i</a:t>
            </a:r>
            <a:r>
              <a:rPr lang="en-US" altLang="zh-CN" dirty="0"/>
              <a:t>] == Deleted </a:t>
            </a:r>
            <a:r>
              <a:rPr lang="zh-CN" altLang="en-US" dirty="0"/>
              <a:t>）</a:t>
            </a:r>
          </a:p>
          <a:p>
            <a:pPr lvl="1"/>
            <a:r>
              <a:rPr lang="en-US" altLang="zh-CN" dirty="0"/>
              <a:t>info[</a:t>
            </a:r>
            <a:r>
              <a:rPr lang="en-US" altLang="zh-CN" dirty="0" err="1"/>
              <a:t>i</a:t>
            </a:r>
            <a:r>
              <a:rPr lang="en-US" altLang="zh-CN" dirty="0"/>
              <a:t>] == Active &amp;&amp; ht[</a:t>
            </a:r>
            <a:r>
              <a:rPr lang="en-US" altLang="zh-CN" dirty="0" err="1"/>
              <a:t>i</a:t>
            </a:r>
            <a:r>
              <a:rPr lang="en-US" altLang="zh-CN" dirty="0"/>
              <a:t>] != x</a:t>
            </a:r>
          </a:p>
          <a:p>
            <a:pPr lvl="2"/>
            <a:r>
              <a:rPr lang="zh-CN" altLang="en-US" dirty="0"/>
              <a:t>表已经满</a:t>
            </a:r>
            <a:endParaRPr lang="en-US" altLang="zh-CN" dirty="0"/>
          </a:p>
          <a:p>
            <a:r>
              <a:rPr lang="zh-CN" altLang="en-US" dirty="0"/>
              <a:t>散列表存放的元素不应有重复的关键码。在插入新表项时，如果发现表中已经有关键码相同的元素，则不再插入。</a:t>
            </a:r>
          </a:p>
          <a:p>
            <a:r>
              <a:rPr lang="zh-CN" altLang="en-US" dirty="0"/>
              <a:t>散列表清空：只需将表中</a:t>
            </a:r>
            <a:r>
              <a:rPr lang="en-US" altLang="zh-CN" dirty="0"/>
              <a:t>info</a:t>
            </a:r>
            <a:r>
              <a:rPr lang="zh-CN" altLang="en-US" dirty="0"/>
              <a:t>数组全部置为</a:t>
            </a:r>
            <a:r>
              <a:rPr lang="en-US" altLang="zh-CN" dirty="0"/>
              <a:t>Empty</a:t>
            </a:r>
            <a:r>
              <a:rPr lang="zh-CN" altLang="en-US" dirty="0"/>
              <a:t>即可。</a:t>
            </a:r>
          </a:p>
        </p:txBody>
      </p:sp>
      <p:sp>
        <p:nvSpPr>
          <p:cNvPr id="2" name="标题 1">
            <a:extLst>
              <a:ext uri="{FF2B5EF4-FFF2-40B4-BE49-F238E27FC236}">
                <a16:creationId xmlns:a16="http://schemas.microsoft.com/office/drawing/2014/main" id="{A4B7D7E8-5B1B-486E-9086-6AAACD826370}"/>
              </a:ext>
            </a:extLst>
          </p:cNvPr>
          <p:cNvSpPr>
            <a:spLocks noGrp="1"/>
          </p:cNvSpPr>
          <p:nvPr>
            <p:ph type="title"/>
          </p:nvPr>
        </p:nvSpPr>
        <p:spPr/>
        <p:txBody>
          <a:bodyPr/>
          <a:lstStyle/>
          <a:p>
            <a:r>
              <a:rPr lang="zh-CN" altLang="en-US" dirty="0"/>
              <a:t>线性探查法特点</a:t>
            </a:r>
          </a:p>
        </p:txBody>
      </p:sp>
      <p:sp>
        <p:nvSpPr>
          <p:cNvPr id="3" name="灯片编号占位符 2">
            <a:extLst>
              <a:ext uri="{FF2B5EF4-FFF2-40B4-BE49-F238E27FC236}">
                <a16:creationId xmlns:a16="http://schemas.microsoft.com/office/drawing/2014/main" id="{80DAF166-874D-36E3-E54D-A3CA27D4A48D}"/>
              </a:ext>
            </a:extLst>
          </p:cNvPr>
          <p:cNvSpPr>
            <a:spLocks noGrp="1"/>
          </p:cNvSpPr>
          <p:nvPr>
            <p:ph type="sldNum" sz="quarter" idx="12"/>
          </p:nvPr>
        </p:nvSpPr>
        <p:spPr/>
        <p:txBody>
          <a:bodyPr/>
          <a:lstStyle/>
          <a:p>
            <a:pPr>
              <a:defRPr/>
            </a:pPr>
            <a:fld id="{524B865F-46F8-4520-B0DD-31ED36EF62D9}" type="slidenum">
              <a:rPr lang="en-US" altLang="zh-CN" smtClean="0"/>
              <a:pPr>
                <a:defRPr/>
              </a:pPr>
              <a:t>73</a:t>
            </a:fld>
            <a:endParaRPr lang="en-US" altLang="zh-CN"/>
          </a:p>
        </p:txBody>
      </p:sp>
    </p:spTree>
  </p:cSld>
  <p:clrMapOvr>
    <a:masterClrMapping/>
  </p:clrMapOvr>
  <p:transition>
    <p:spli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78A6D8D-A1C3-43C3-B0B8-5B7FFF7E83F9}"/>
              </a:ext>
            </a:extLst>
          </p:cNvPr>
          <p:cNvSpPr>
            <a:spLocks noGrp="1"/>
          </p:cNvSpPr>
          <p:nvPr>
            <p:ph type="title"/>
          </p:nvPr>
        </p:nvSpPr>
        <p:spPr/>
        <p:txBody>
          <a:bodyPr/>
          <a:lstStyle/>
          <a:p>
            <a:r>
              <a:rPr lang="zh-CN" altLang="en-US" dirty="0"/>
              <a:t>删除表项</a:t>
            </a:r>
          </a:p>
        </p:txBody>
      </p:sp>
      <p:sp>
        <p:nvSpPr>
          <p:cNvPr id="485378" name="Rectangle 2">
            <a:extLst>
              <a:ext uri="{FF2B5EF4-FFF2-40B4-BE49-F238E27FC236}">
                <a16:creationId xmlns:a16="http://schemas.microsoft.com/office/drawing/2014/main" id="{579ABB66-A318-F2E5-0276-7A4F6E9EE8FF}"/>
              </a:ext>
            </a:extLst>
          </p:cNvPr>
          <p:cNvSpPr>
            <a:spLocks noGrp="1" noChangeArrowheads="1"/>
          </p:cNvSpPr>
          <p:nvPr>
            <p:ph type="body" idx="1"/>
          </p:nvPr>
        </p:nvSpPr>
        <p:spPr/>
        <p:txBody>
          <a:bodyPr>
            <a:normAutofit fontScale="70000" lnSpcReduction="20000"/>
          </a:bodyPr>
          <a:lstStyle/>
          <a:p>
            <a:r>
              <a:rPr lang="zh-CN" altLang="en-US" dirty="0"/>
              <a:t>在闭散列情形下不能真正删除表中已有表项，否则会影响其他表项的搜索。</a:t>
            </a:r>
          </a:p>
          <a:p>
            <a:pPr lvl="1"/>
            <a:r>
              <a:rPr lang="zh-CN" altLang="en-US" dirty="0"/>
              <a:t>例如，若把关键码为</a:t>
            </a:r>
            <a:r>
              <a:rPr lang="en-US" altLang="zh-CN" dirty="0"/>
              <a:t>Broad</a:t>
            </a:r>
            <a:r>
              <a:rPr lang="zh-CN" altLang="en-US" dirty="0"/>
              <a:t>的表项真正删除，把它所在位置的</a:t>
            </a:r>
            <a:r>
              <a:rPr lang="en-US" altLang="zh-CN" dirty="0"/>
              <a:t>info</a:t>
            </a:r>
            <a:r>
              <a:rPr lang="zh-CN" altLang="en-US" dirty="0"/>
              <a:t>域置为</a:t>
            </a:r>
            <a:r>
              <a:rPr lang="en-US" altLang="zh-CN" dirty="0"/>
              <a:t>Empty</a:t>
            </a:r>
            <a:r>
              <a:rPr lang="zh-CN" altLang="en-US" dirty="0"/>
              <a:t>，以后在搜索关键码为</a:t>
            </a:r>
            <a:r>
              <a:rPr lang="en-US" altLang="zh-CN" dirty="0"/>
              <a:t>Blum</a:t>
            </a:r>
            <a:r>
              <a:rPr lang="zh-CN" altLang="en-US" dirty="0"/>
              <a:t>和</a:t>
            </a:r>
            <a:r>
              <a:rPr lang="en-US" altLang="zh-CN" dirty="0"/>
              <a:t>Alton</a:t>
            </a:r>
            <a:r>
              <a:rPr lang="zh-CN" altLang="en-US" dirty="0"/>
              <a:t>的表项时就查不下去，会错误地判断表中没有关键码为</a:t>
            </a:r>
            <a:r>
              <a:rPr lang="en-US" altLang="zh-CN" dirty="0"/>
              <a:t>Blum</a:t>
            </a:r>
            <a:r>
              <a:rPr lang="zh-CN" altLang="en-US" dirty="0"/>
              <a:t>和</a:t>
            </a:r>
            <a:r>
              <a:rPr lang="en-US" altLang="zh-CN" dirty="0"/>
              <a:t>Alton</a:t>
            </a:r>
            <a:r>
              <a:rPr lang="zh-CN" altLang="en-US" dirty="0"/>
              <a:t>的表项。</a:t>
            </a:r>
            <a:endParaRPr lang="en-US" altLang="zh-CN" dirty="0"/>
          </a:p>
          <a:p>
            <a:r>
              <a:rPr lang="zh-CN" altLang="en-US" dirty="0"/>
              <a:t>若想删除一个表项，只能给它做一个删除标记</a:t>
            </a:r>
            <a:r>
              <a:rPr lang="en-US" altLang="zh-CN" dirty="0"/>
              <a:t>deleted</a:t>
            </a:r>
            <a:r>
              <a:rPr lang="zh-CN" altLang="en-US" dirty="0"/>
              <a:t>进行逻辑删除，不能把它真正删去。</a:t>
            </a:r>
          </a:p>
          <a:p>
            <a:r>
              <a:rPr lang="zh-CN" altLang="en-US" dirty="0"/>
              <a:t>逻辑删除的副作用：在多次删除后，表面上看起来散列表很满，实际上有许多位置没有利用。</a:t>
            </a:r>
          </a:p>
          <a:p>
            <a:r>
              <a:rPr lang="zh-CN" altLang="en-US" dirty="0"/>
              <a:t>因此当散列表经常变动时，最好不用闭散列方法处理冲突，可改用开散列方法来处理冲突</a:t>
            </a:r>
          </a:p>
        </p:txBody>
      </p:sp>
      <p:sp>
        <p:nvSpPr>
          <p:cNvPr id="2" name="灯片编号占位符 1">
            <a:extLst>
              <a:ext uri="{FF2B5EF4-FFF2-40B4-BE49-F238E27FC236}">
                <a16:creationId xmlns:a16="http://schemas.microsoft.com/office/drawing/2014/main" id="{AFD67BC8-11EB-C8AB-1EC0-A26B0E90A474}"/>
              </a:ext>
            </a:extLst>
          </p:cNvPr>
          <p:cNvSpPr>
            <a:spLocks noGrp="1"/>
          </p:cNvSpPr>
          <p:nvPr>
            <p:ph type="sldNum" sz="quarter" idx="12"/>
          </p:nvPr>
        </p:nvSpPr>
        <p:spPr/>
        <p:txBody>
          <a:bodyPr/>
          <a:lstStyle/>
          <a:p>
            <a:pPr>
              <a:defRPr/>
            </a:pPr>
            <a:fld id="{524B865F-46F8-4520-B0DD-31ED36EF62D9}" type="slidenum">
              <a:rPr lang="en-US" altLang="zh-CN" smtClean="0"/>
              <a:pPr>
                <a:defRPr/>
              </a:pPr>
              <a:t>74</a:t>
            </a:fld>
            <a:endParaRPr lang="en-US" altLang="zh-CN"/>
          </a:p>
        </p:txBody>
      </p:sp>
    </p:spTree>
  </p:cSld>
  <p:clrMapOvr>
    <a:masterClrMapping/>
  </p:clrMapOvr>
  <p:transition>
    <p:spli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4CB309-D24F-131A-8FC5-66A5C0D4A48E}"/>
              </a:ext>
            </a:extLst>
          </p:cNvPr>
          <p:cNvSpPr>
            <a:spLocks noGrp="1"/>
          </p:cNvSpPr>
          <p:nvPr>
            <p:ph type="title"/>
          </p:nvPr>
        </p:nvSpPr>
        <p:spPr/>
        <p:txBody>
          <a:bodyPr/>
          <a:lstStyle/>
          <a:p>
            <a:r>
              <a:rPr lang="zh-CN" altLang="en-US" dirty="0"/>
              <a:t>散列表部分方法的实现代码</a:t>
            </a:r>
          </a:p>
        </p:txBody>
      </p:sp>
      <p:sp>
        <p:nvSpPr>
          <p:cNvPr id="101379" name="内容占位符 2">
            <a:extLst>
              <a:ext uri="{FF2B5EF4-FFF2-40B4-BE49-F238E27FC236}">
                <a16:creationId xmlns:a16="http://schemas.microsoft.com/office/drawing/2014/main" id="{D5D5F973-AA58-F0ED-EF90-ACE28DF455F1}"/>
              </a:ext>
            </a:extLst>
          </p:cNvPr>
          <p:cNvSpPr>
            <a:spLocks noGrp="1"/>
          </p:cNvSpPr>
          <p:nvPr>
            <p:ph idx="1"/>
          </p:nvPr>
        </p:nvSpPr>
        <p:spPr/>
        <p:txBody>
          <a:bodyPr>
            <a:normAutofit fontScale="92500"/>
          </a:bodyPr>
          <a:lstStyle/>
          <a:p>
            <a:pPr marL="0" indent="0">
              <a:buNone/>
            </a:pPr>
            <a:r>
              <a:rPr lang="en-US" altLang="zh-CN" dirty="0"/>
              <a:t>template &lt;class E, class K&gt;</a:t>
            </a:r>
          </a:p>
          <a:p>
            <a:pPr marL="0" indent="0">
              <a:buNone/>
            </a:pPr>
            <a:r>
              <a:rPr lang="en-US" altLang="zh-CN" dirty="0"/>
              <a:t>void </a:t>
            </a:r>
            <a:r>
              <a:rPr lang="en-US" altLang="zh-CN" dirty="0" err="1"/>
              <a:t>HashTable</a:t>
            </a:r>
            <a:r>
              <a:rPr lang="en-US" altLang="zh-CN" dirty="0"/>
              <a:t> &lt;E, K&gt; :: </a:t>
            </a:r>
            <a:r>
              <a:rPr lang="en-US" altLang="zh-CN" dirty="0" err="1"/>
              <a:t>makeEmpty</a:t>
            </a:r>
            <a:r>
              <a:rPr lang="en-US" altLang="zh-CN" dirty="0"/>
              <a:t> ( ) {	</a:t>
            </a:r>
          </a:p>
          <a:p>
            <a:pPr marL="0" indent="0">
              <a:buNone/>
            </a:pPr>
            <a:r>
              <a:rPr lang="en-US" altLang="zh-CN" dirty="0"/>
              <a:t> //</a:t>
            </a:r>
            <a:r>
              <a:rPr lang="zh-CN" altLang="en-US" dirty="0"/>
              <a:t>置表中所有表项为空</a:t>
            </a:r>
          </a:p>
          <a:p>
            <a:pPr marL="0" indent="0">
              <a:buNone/>
            </a:pPr>
            <a:r>
              <a:rPr lang="zh-CN" altLang="en-US" dirty="0"/>
              <a:t>    </a:t>
            </a:r>
            <a:r>
              <a:rPr lang="en-US" altLang="zh-CN" dirty="0"/>
              <a:t>for ( int </a:t>
            </a:r>
            <a:r>
              <a:rPr lang="en-US" altLang="zh-CN" dirty="0" err="1"/>
              <a:t>i</a:t>
            </a:r>
            <a:r>
              <a:rPr lang="en-US" altLang="zh-CN" dirty="0"/>
              <a:t> = 0; </a:t>
            </a:r>
            <a:r>
              <a:rPr lang="en-US" altLang="zh-CN" dirty="0" err="1"/>
              <a:t>i</a:t>
            </a:r>
            <a:r>
              <a:rPr lang="en-US" altLang="zh-CN" dirty="0"/>
              <a:t> &lt; </a:t>
            </a:r>
            <a:r>
              <a:rPr lang="en-US" altLang="zh-CN" dirty="0" err="1"/>
              <a:t>TableSize</a:t>
            </a:r>
            <a:r>
              <a:rPr lang="en-US" altLang="zh-CN" dirty="0"/>
              <a:t>; </a:t>
            </a:r>
            <a:r>
              <a:rPr lang="en-US" altLang="zh-CN" dirty="0" err="1"/>
              <a:t>i</a:t>
            </a:r>
            <a:r>
              <a:rPr lang="en-US" altLang="zh-CN" dirty="0"/>
              <a:t>++)</a:t>
            </a:r>
          </a:p>
          <a:p>
            <a:pPr marL="0" indent="0">
              <a:buNone/>
            </a:pPr>
            <a:r>
              <a:rPr lang="en-US" altLang="zh-CN" dirty="0"/>
              <a:t>        info[</a:t>
            </a:r>
            <a:r>
              <a:rPr lang="en-US" altLang="zh-CN" dirty="0" err="1"/>
              <a:t>i</a:t>
            </a:r>
            <a:r>
              <a:rPr lang="en-US" altLang="zh-CN" dirty="0"/>
              <a:t>] = Empty;</a:t>
            </a:r>
          </a:p>
          <a:p>
            <a:pPr marL="0" indent="0">
              <a:buNone/>
            </a:pPr>
            <a:r>
              <a:rPr lang="en-US" altLang="zh-CN" dirty="0"/>
              <a:t>    </a:t>
            </a:r>
            <a:r>
              <a:rPr lang="en-US" altLang="zh-CN" dirty="0" err="1"/>
              <a:t>CurrentSize</a:t>
            </a:r>
            <a:r>
              <a:rPr lang="en-US" altLang="zh-CN" dirty="0"/>
              <a:t> = 0;</a:t>
            </a:r>
          </a:p>
          <a:p>
            <a:pPr marL="0" indent="0">
              <a:buNone/>
            </a:pPr>
            <a:r>
              <a:rPr lang="en-US" altLang="zh-CN" dirty="0"/>
              <a:t>}</a:t>
            </a:r>
          </a:p>
          <a:p>
            <a:pPr marL="0" indent="0">
              <a:buNone/>
            </a:pPr>
            <a:endParaRPr lang="en-US" altLang="zh-CN" dirty="0"/>
          </a:p>
          <a:p>
            <a:pPr marL="0" indent="0">
              <a:buNone/>
            </a:pPr>
            <a:endParaRPr lang="zh-CN" altLang="en-US" dirty="0"/>
          </a:p>
        </p:txBody>
      </p:sp>
      <p:sp>
        <p:nvSpPr>
          <p:cNvPr id="3" name="灯片编号占位符 2">
            <a:extLst>
              <a:ext uri="{FF2B5EF4-FFF2-40B4-BE49-F238E27FC236}">
                <a16:creationId xmlns:a16="http://schemas.microsoft.com/office/drawing/2014/main" id="{4E90B3FB-1167-A153-3A94-244544BE5481}"/>
              </a:ext>
            </a:extLst>
          </p:cNvPr>
          <p:cNvSpPr>
            <a:spLocks noGrp="1"/>
          </p:cNvSpPr>
          <p:nvPr>
            <p:ph type="sldNum" sz="quarter" idx="12"/>
          </p:nvPr>
        </p:nvSpPr>
        <p:spPr/>
        <p:txBody>
          <a:bodyPr/>
          <a:lstStyle/>
          <a:p>
            <a:pPr>
              <a:defRPr/>
            </a:pPr>
            <a:fld id="{524B865F-46F8-4520-B0DD-31ED36EF62D9}" type="slidenum">
              <a:rPr lang="en-US" altLang="zh-CN" smtClean="0"/>
              <a:pPr>
                <a:defRPr/>
              </a:pPr>
              <a:t>75</a:t>
            </a:fld>
            <a:endParaRPr lang="en-US" altLang="zh-CN"/>
          </a:p>
        </p:txBody>
      </p:sp>
    </p:spTree>
  </p:cSld>
  <p:clrMapOvr>
    <a:masterClrMapping/>
  </p:clrMapOvr>
  <p:transition>
    <p:spli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94DF6F0-735A-41E4-8AF5-9CA5FCE17A0D}"/>
              </a:ext>
            </a:extLst>
          </p:cNvPr>
          <p:cNvSpPr>
            <a:spLocks noGrp="1"/>
          </p:cNvSpPr>
          <p:nvPr>
            <p:ph idx="1"/>
          </p:nvPr>
        </p:nvSpPr>
        <p:spPr>
          <a:xfrm>
            <a:off x="179512" y="404664"/>
            <a:ext cx="8784976" cy="5772299"/>
          </a:xfrm>
        </p:spPr>
        <p:txBody>
          <a:bodyPr>
            <a:normAutofit fontScale="62500" lnSpcReduction="20000"/>
          </a:bodyPr>
          <a:lstStyle/>
          <a:p>
            <a:pPr marL="0" indent="0">
              <a:buNone/>
            </a:pPr>
            <a:r>
              <a:rPr lang="en-US" altLang="zh-CN" dirty="0"/>
              <a:t>template &lt;class E, class K&gt;</a:t>
            </a:r>
          </a:p>
          <a:p>
            <a:pPr marL="0" indent="0">
              <a:buNone/>
            </a:pPr>
            <a:r>
              <a:rPr lang="en-US" altLang="zh-CN" dirty="0" err="1"/>
              <a:t>HashTable</a:t>
            </a:r>
            <a:r>
              <a:rPr lang="en-US" altLang="zh-CN" dirty="0"/>
              <a:t> &lt;E, K&gt;&amp; </a:t>
            </a:r>
            <a:r>
              <a:rPr lang="en-US" altLang="zh-CN" dirty="0" err="1"/>
              <a:t>HashTable</a:t>
            </a:r>
            <a:r>
              <a:rPr lang="en-US" altLang="zh-CN" dirty="0"/>
              <a:t>&lt;E, K&gt; ::</a:t>
            </a:r>
          </a:p>
          <a:p>
            <a:pPr marL="0" indent="0">
              <a:buNone/>
            </a:pPr>
            <a:r>
              <a:rPr lang="en-US" altLang="zh-CN" dirty="0"/>
              <a:t>operator = ( const </a:t>
            </a:r>
            <a:r>
              <a:rPr lang="en-US" altLang="zh-CN" dirty="0" err="1"/>
              <a:t>HashTable</a:t>
            </a:r>
            <a:r>
              <a:rPr lang="en-US" altLang="zh-CN" dirty="0"/>
              <a:t>&lt;E, K&gt;&amp; ht2 ) {</a:t>
            </a:r>
          </a:p>
          <a:p>
            <a:pPr marL="0" indent="0">
              <a:buNone/>
            </a:pPr>
            <a:r>
              <a:rPr lang="en-US" altLang="zh-CN" dirty="0"/>
              <a:t>//</a:t>
            </a:r>
            <a:r>
              <a:rPr lang="zh-CN" altLang="en-US" dirty="0"/>
              <a:t>重载操作符：从散列表 </a:t>
            </a:r>
            <a:r>
              <a:rPr lang="en-US" altLang="zh-CN" dirty="0"/>
              <a:t>ht2 </a:t>
            </a:r>
            <a:r>
              <a:rPr lang="zh-CN" altLang="en-US" dirty="0"/>
              <a:t>复制到当前散列表</a:t>
            </a:r>
          </a:p>
          <a:p>
            <a:pPr marL="0" indent="0">
              <a:buNone/>
            </a:pPr>
            <a:r>
              <a:rPr lang="zh-CN" altLang="en-US" dirty="0"/>
              <a:t>     </a:t>
            </a:r>
            <a:r>
              <a:rPr lang="en-US" altLang="zh-CN" dirty="0"/>
              <a:t>if ( this != &amp;ht2 ) {</a:t>
            </a:r>
          </a:p>
          <a:p>
            <a:pPr marL="0" indent="0">
              <a:buNone/>
            </a:pPr>
            <a:r>
              <a:rPr lang="en-US" altLang="zh-CN" dirty="0"/>
              <a:t>        delete [ ] </a:t>
            </a:r>
            <a:r>
              <a:rPr lang="en-US" altLang="zh-CN" dirty="0" err="1"/>
              <a:t>ht</a:t>
            </a:r>
            <a:r>
              <a:rPr lang="en-US" altLang="zh-CN" dirty="0"/>
              <a:t>, delete [ ] info;     </a:t>
            </a:r>
            <a:r>
              <a:rPr lang="en-US" altLang="zh-CN" dirty="0" err="1"/>
              <a:t>TableSize</a:t>
            </a:r>
            <a:r>
              <a:rPr lang="en-US" altLang="zh-CN" dirty="0"/>
              <a:t> = ht2.TableSize;    </a:t>
            </a:r>
          </a:p>
          <a:p>
            <a:pPr marL="0" indent="0">
              <a:buNone/>
            </a:pPr>
            <a:r>
              <a:rPr lang="en-US" altLang="zh-CN" dirty="0"/>
              <a:t>        </a:t>
            </a:r>
            <a:r>
              <a:rPr lang="en-US" altLang="zh-CN" dirty="0" err="1"/>
              <a:t>ht</a:t>
            </a:r>
            <a:r>
              <a:rPr lang="en-US" altLang="zh-CN" dirty="0"/>
              <a:t> = new E[</a:t>
            </a:r>
            <a:r>
              <a:rPr lang="en-US" altLang="zh-CN" dirty="0" err="1"/>
              <a:t>TableSize</a:t>
            </a:r>
            <a:r>
              <a:rPr lang="en-US" altLang="zh-CN" dirty="0"/>
              <a:t>];</a:t>
            </a:r>
          </a:p>
          <a:p>
            <a:pPr marL="0" indent="0">
              <a:buNone/>
            </a:pPr>
            <a:r>
              <a:rPr lang="en-US" altLang="zh-CN" dirty="0"/>
              <a:t>        info = new </a:t>
            </a:r>
            <a:r>
              <a:rPr lang="en-US" altLang="zh-CN" dirty="0" err="1"/>
              <a:t>KindOfStatus</a:t>
            </a:r>
            <a:r>
              <a:rPr lang="en-US" altLang="zh-CN" dirty="0"/>
              <a:t>[</a:t>
            </a:r>
            <a:r>
              <a:rPr lang="en-US" altLang="zh-CN" dirty="0" err="1"/>
              <a:t>TableSize</a:t>
            </a:r>
            <a:r>
              <a:rPr lang="en-US" altLang="zh-CN" dirty="0"/>
              <a:t>];</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a:t>
            </a:r>
            <a:r>
              <a:rPr lang="en-US" altLang="zh-CN" dirty="0" err="1"/>
              <a:t>TableSize</a:t>
            </a:r>
            <a:r>
              <a:rPr lang="en-US" altLang="zh-CN" dirty="0"/>
              <a:t>; </a:t>
            </a:r>
            <a:r>
              <a:rPr lang="en-US" altLang="zh-CN" dirty="0" err="1"/>
              <a:t>i</a:t>
            </a:r>
            <a:r>
              <a:rPr lang="en-US" altLang="zh-CN" dirty="0"/>
              <a:t>++ ) {</a:t>
            </a:r>
          </a:p>
          <a:p>
            <a:pPr marL="0" indent="0">
              <a:buNone/>
            </a:pPr>
            <a:r>
              <a:rPr lang="en-US" altLang="zh-CN" dirty="0"/>
              <a:t>             </a:t>
            </a:r>
            <a:r>
              <a:rPr lang="en-US" altLang="zh-CN" dirty="0" err="1"/>
              <a:t>ht</a:t>
            </a:r>
            <a:r>
              <a:rPr lang="en-US" altLang="zh-CN" dirty="0"/>
              <a:t>[</a:t>
            </a:r>
            <a:r>
              <a:rPr lang="en-US" altLang="zh-CN" dirty="0" err="1"/>
              <a:t>i</a:t>
            </a:r>
            <a:r>
              <a:rPr lang="en-US" altLang="zh-CN" dirty="0"/>
              <a:t>] = ht2.ht[</a:t>
            </a:r>
            <a:r>
              <a:rPr lang="en-US" altLang="zh-CN" dirty="0" err="1"/>
              <a:t>i</a:t>
            </a:r>
            <a:r>
              <a:rPr lang="en-US" altLang="zh-CN" dirty="0"/>
              <a:t>];             info[</a:t>
            </a:r>
            <a:r>
              <a:rPr lang="en-US" altLang="zh-CN" dirty="0" err="1"/>
              <a:t>i</a:t>
            </a:r>
            <a:r>
              <a:rPr lang="en-US" altLang="zh-CN" dirty="0"/>
              <a:t>] = ht2.info[</a:t>
            </a:r>
            <a:r>
              <a:rPr lang="en-US" altLang="zh-CN" dirty="0" err="1"/>
              <a:t>i</a:t>
            </a:r>
            <a:r>
              <a:rPr lang="en-US" altLang="zh-CN" dirty="0"/>
              <a:t>];</a:t>
            </a:r>
          </a:p>
          <a:p>
            <a:pPr marL="0" indent="0">
              <a:buNone/>
            </a:pPr>
            <a:r>
              <a:rPr lang="en-US" altLang="zh-CN" dirty="0"/>
              <a:t>        }</a:t>
            </a:r>
          </a:p>
          <a:p>
            <a:pPr marL="0" indent="0">
              <a:buNone/>
            </a:pPr>
            <a:r>
              <a:rPr lang="en-US" altLang="zh-CN" dirty="0"/>
              <a:t>        </a:t>
            </a:r>
            <a:r>
              <a:rPr lang="en-US" altLang="zh-CN" dirty="0" err="1"/>
              <a:t>CurrentSize</a:t>
            </a:r>
            <a:r>
              <a:rPr lang="en-US" altLang="zh-CN" dirty="0"/>
              <a:t> = ht2.CurrentSize;		</a:t>
            </a:r>
          </a:p>
          <a:p>
            <a:pPr marL="0" indent="0">
              <a:buNone/>
            </a:pPr>
            <a:r>
              <a:rPr lang="en-US" altLang="zh-CN" dirty="0"/>
              <a:t>     }</a:t>
            </a:r>
          </a:p>
          <a:p>
            <a:pPr marL="0" indent="0">
              <a:buNone/>
            </a:pPr>
            <a:r>
              <a:rPr lang="en-US" altLang="zh-CN" dirty="0"/>
              <a:t>     return *this;</a:t>
            </a:r>
          </a:p>
          <a:p>
            <a:pPr marL="0" indent="0">
              <a:buNone/>
            </a:pPr>
            <a:r>
              <a:rPr lang="en-US" altLang="zh-CN" dirty="0"/>
              <a:t>}</a:t>
            </a:r>
          </a:p>
        </p:txBody>
      </p:sp>
      <p:sp>
        <p:nvSpPr>
          <p:cNvPr id="2" name="灯片编号占位符 1">
            <a:extLst>
              <a:ext uri="{FF2B5EF4-FFF2-40B4-BE49-F238E27FC236}">
                <a16:creationId xmlns:a16="http://schemas.microsoft.com/office/drawing/2014/main" id="{F5701391-85FF-1AE9-19CF-0372ACE7F4E8}"/>
              </a:ext>
            </a:extLst>
          </p:cNvPr>
          <p:cNvSpPr>
            <a:spLocks noGrp="1"/>
          </p:cNvSpPr>
          <p:nvPr>
            <p:ph type="sldNum" sz="quarter" idx="12"/>
          </p:nvPr>
        </p:nvSpPr>
        <p:spPr/>
        <p:txBody>
          <a:bodyPr/>
          <a:lstStyle/>
          <a:p>
            <a:pPr>
              <a:defRPr/>
            </a:pPr>
            <a:fld id="{524B865F-46F8-4520-B0DD-31ED36EF62D9}" type="slidenum">
              <a:rPr lang="en-US" altLang="zh-CN" smtClean="0"/>
              <a:pPr>
                <a:defRPr/>
              </a:pPr>
              <a:t>76</a:t>
            </a:fld>
            <a:endParaRPr lang="en-US" altLang="zh-CN"/>
          </a:p>
        </p:txBody>
      </p:sp>
    </p:spTree>
  </p:cSld>
  <p:clrMapOvr>
    <a:masterClrMapping/>
  </p:clrMapOvr>
  <p:transition>
    <p:spli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AF1D5E3-8F79-4737-8102-702E4E5906AC}"/>
              </a:ext>
            </a:extLst>
          </p:cNvPr>
          <p:cNvSpPr>
            <a:spLocks noGrp="1"/>
          </p:cNvSpPr>
          <p:nvPr>
            <p:ph idx="1"/>
          </p:nvPr>
        </p:nvSpPr>
        <p:spPr>
          <a:xfrm>
            <a:off x="628650" y="332656"/>
            <a:ext cx="7886700" cy="5844307"/>
          </a:xfrm>
        </p:spPr>
        <p:txBody>
          <a:bodyPr>
            <a:normAutofit fontScale="62500" lnSpcReduction="20000"/>
          </a:bodyPr>
          <a:lstStyle/>
          <a:p>
            <a:pPr marL="0" indent="0">
              <a:buNone/>
            </a:pPr>
            <a:r>
              <a:rPr lang="en-US" altLang="zh-CN" dirty="0"/>
              <a:t>//</a:t>
            </a:r>
            <a:r>
              <a:rPr lang="zh-CN" altLang="en-US" dirty="0"/>
              <a:t>将新表项 </a:t>
            </a:r>
            <a:r>
              <a:rPr lang="en-US" altLang="zh-CN" dirty="0"/>
              <a:t>x </a:t>
            </a:r>
            <a:r>
              <a:rPr lang="zh-CN" altLang="en-US" dirty="0"/>
              <a:t>插入到当前的散列表中    </a:t>
            </a:r>
          </a:p>
          <a:p>
            <a:pPr marL="0" indent="0">
              <a:buNone/>
            </a:pPr>
            <a:r>
              <a:rPr lang="en-US" altLang="zh-CN" dirty="0"/>
              <a:t>template &lt;class E, class K&gt; </a:t>
            </a:r>
          </a:p>
          <a:p>
            <a:pPr marL="0" indent="0">
              <a:buNone/>
            </a:pPr>
            <a:r>
              <a:rPr lang="en-US" altLang="zh-CN" dirty="0"/>
              <a:t>bool </a:t>
            </a:r>
            <a:r>
              <a:rPr lang="en-US" altLang="zh-CN" dirty="0" err="1"/>
              <a:t>HashTable</a:t>
            </a:r>
            <a:r>
              <a:rPr lang="en-US" altLang="zh-CN" dirty="0"/>
              <a:t>&lt; E, K &gt;::Insert ( const E&amp; e1 ) {</a:t>
            </a:r>
          </a:p>
          <a:p>
            <a:pPr marL="0" indent="0">
              <a:buNone/>
            </a:pPr>
            <a:r>
              <a:rPr lang="en-US" altLang="zh-CN" dirty="0"/>
              <a:t>    K k1 = e1.GetKey();   </a:t>
            </a:r>
          </a:p>
          <a:p>
            <a:pPr marL="0" indent="0">
              <a:buNone/>
            </a:pPr>
            <a:r>
              <a:rPr lang="en-US" altLang="zh-CN" dirty="0"/>
              <a:t>    int </a:t>
            </a:r>
            <a:r>
              <a:rPr lang="en-US" altLang="zh-CN" dirty="0" err="1"/>
              <a:t>i</a:t>
            </a:r>
            <a:r>
              <a:rPr lang="en-US" altLang="zh-CN" dirty="0"/>
              <a:t> = </a:t>
            </a:r>
            <a:r>
              <a:rPr lang="en-US" altLang="zh-CN" dirty="0" err="1"/>
              <a:t>FindPos</a:t>
            </a:r>
            <a:r>
              <a:rPr lang="en-US" altLang="zh-CN" dirty="0"/>
              <a:t> (k1); //</a:t>
            </a:r>
            <a:r>
              <a:rPr lang="zh-CN" altLang="en-US" dirty="0"/>
              <a:t>先找到位置</a:t>
            </a:r>
          </a:p>
          <a:p>
            <a:pPr marL="0" indent="0">
              <a:buNone/>
            </a:pPr>
            <a:r>
              <a:rPr lang="zh-CN" altLang="en-US" dirty="0"/>
              <a:t>    </a:t>
            </a:r>
            <a:r>
              <a:rPr lang="en-US" altLang="zh-CN" dirty="0"/>
              <a:t>if ( info[</a:t>
            </a:r>
            <a:r>
              <a:rPr lang="en-US" altLang="zh-CN" dirty="0" err="1"/>
              <a:t>i</a:t>
            </a:r>
            <a:r>
              <a:rPr lang="en-US" altLang="zh-CN" dirty="0"/>
              <a:t>] != Active ) {    //</a:t>
            </a:r>
            <a:r>
              <a:rPr lang="zh-CN" altLang="en-US" dirty="0"/>
              <a:t>如果找到可用桶，插入</a:t>
            </a:r>
            <a:r>
              <a:rPr lang="en-US" altLang="zh-CN" dirty="0"/>
              <a:t>x</a:t>
            </a:r>
          </a:p>
          <a:p>
            <a:pPr marL="0" indent="0">
              <a:buNone/>
            </a:pPr>
            <a:r>
              <a:rPr lang="en-US" altLang="zh-CN" dirty="0"/>
              <a:t>        </a:t>
            </a:r>
            <a:r>
              <a:rPr lang="en-US" altLang="zh-CN" dirty="0" err="1"/>
              <a:t>ht</a:t>
            </a:r>
            <a:r>
              <a:rPr lang="en-US" altLang="zh-CN" dirty="0"/>
              <a:t>[</a:t>
            </a:r>
            <a:r>
              <a:rPr lang="en-US" altLang="zh-CN" dirty="0" err="1"/>
              <a:t>i</a:t>
            </a:r>
            <a:r>
              <a:rPr lang="en-US" altLang="zh-CN" dirty="0"/>
              <a:t>] = e1;      info[</a:t>
            </a:r>
            <a:r>
              <a:rPr lang="en-US" altLang="zh-CN" dirty="0" err="1"/>
              <a:t>i</a:t>
            </a:r>
            <a:r>
              <a:rPr lang="en-US" altLang="zh-CN" dirty="0"/>
              <a:t>] = Active;   </a:t>
            </a:r>
            <a:r>
              <a:rPr lang="en-US" altLang="zh-CN" dirty="0" err="1"/>
              <a:t>CurrentSize</a:t>
            </a:r>
            <a:r>
              <a:rPr lang="en-US" altLang="zh-CN" dirty="0"/>
              <a:t>++;	</a:t>
            </a:r>
          </a:p>
          <a:p>
            <a:pPr marL="0" indent="0">
              <a:buNone/>
            </a:pPr>
            <a:r>
              <a:rPr lang="en-US" altLang="zh-CN" dirty="0"/>
              <a:t>        return true;</a:t>
            </a:r>
          </a:p>
          <a:p>
            <a:pPr marL="0" indent="0">
              <a:buNone/>
            </a:pPr>
            <a:r>
              <a:rPr lang="en-US" altLang="zh-CN" dirty="0"/>
              <a:t>    }</a:t>
            </a:r>
          </a:p>
          <a:p>
            <a:pPr marL="0" indent="0">
              <a:buNone/>
            </a:pPr>
            <a:r>
              <a:rPr lang="en-US" altLang="zh-CN" dirty="0"/>
              <a:t>    if(info[</a:t>
            </a:r>
            <a:r>
              <a:rPr lang="en-US" altLang="zh-CN" dirty="0" err="1"/>
              <a:t>i</a:t>
            </a:r>
            <a:r>
              <a:rPr lang="en-US" altLang="zh-CN" dirty="0"/>
              <a:t>] == Active &amp;&amp; </a:t>
            </a:r>
            <a:r>
              <a:rPr lang="en-US" altLang="zh-CN" dirty="0" err="1"/>
              <a:t>ht</a:t>
            </a:r>
            <a:r>
              <a:rPr lang="en-US" altLang="zh-CN" dirty="0"/>
              <a:t>[</a:t>
            </a:r>
            <a:r>
              <a:rPr lang="en-US" altLang="zh-CN" dirty="0" err="1"/>
              <a:t>i</a:t>
            </a:r>
            <a:r>
              <a:rPr lang="en-US" altLang="zh-CN" dirty="0"/>
              <a:t>] == e1) {</a:t>
            </a:r>
          </a:p>
          <a:p>
            <a:pPr marL="0" indent="0">
              <a:buNone/>
            </a:pPr>
            <a:r>
              <a:rPr lang="en-US" altLang="zh-CN" dirty="0"/>
              <a:t>        </a:t>
            </a:r>
            <a:r>
              <a:rPr lang="en-US" altLang="zh-CN" dirty="0" err="1"/>
              <a:t>cout</a:t>
            </a:r>
            <a:r>
              <a:rPr lang="en-US" altLang="zh-CN" dirty="0"/>
              <a:t> &lt;&lt;"</a:t>
            </a:r>
            <a:r>
              <a:rPr lang="zh-CN" altLang="en-US" dirty="0"/>
              <a:t>表中已有此元素，不能插入！</a:t>
            </a:r>
            <a:r>
              <a:rPr lang="en-US" altLang="zh-CN" dirty="0"/>
              <a:t>"&lt;&lt; </a:t>
            </a:r>
            <a:r>
              <a:rPr lang="en-US" altLang="zh-CN" dirty="0" err="1"/>
              <a:t>endl</a:t>
            </a:r>
            <a:r>
              <a:rPr lang="en-US" altLang="zh-CN" dirty="0"/>
              <a:t>;  </a:t>
            </a:r>
          </a:p>
          <a:p>
            <a:pPr marL="0" indent="0">
              <a:buNone/>
            </a:pPr>
            <a:r>
              <a:rPr lang="en-US" altLang="zh-CN" dirty="0"/>
              <a:t>        return false; </a:t>
            </a:r>
          </a:p>
          <a:p>
            <a:pPr marL="0" indent="0">
              <a:buNone/>
            </a:pPr>
            <a:r>
              <a:rPr lang="en-US" altLang="zh-CN" dirty="0"/>
              <a:t>    }</a:t>
            </a:r>
          </a:p>
          <a:p>
            <a:pPr marL="0" indent="0">
              <a:buNone/>
            </a:pPr>
            <a:r>
              <a:rPr lang="en-US" altLang="zh-CN" dirty="0"/>
              <a:t>    </a:t>
            </a:r>
            <a:r>
              <a:rPr lang="en-US" altLang="zh-CN" dirty="0" err="1"/>
              <a:t>cout</a:t>
            </a:r>
            <a:r>
              <a:rPr lang="en-US" altLang="zh-CN" dirty="0"/>
              <a:t> &lt;&lt; "</a:t>
            </a:r>
            <a:r>
              <a:rPr lang="zh-CN" altLang="en-US" dirty="0"/>
              <a:t>表已满，不能插入！</a:t>
            </a:r>
            <a:r>
              <a:rPr lang="en-US" altLang="zh-CN" dirty="0"/>
              <a:t>"&lt;&lt; </a:t>
            </a:r>
            <a:r>
              <a:rPr lang="en-US" altLang="zh-CN" dirty="0" err="1"/>
              <a:t>endl</a:t>
            </a:r>
            <a:r>
              <a:rPr lang="en-US" altLang="zh-CN" dirty="0"/>
              <a:t>; return false ;</a:t>
            </a:r>
          </a:p>
          <a:p>
            <a:pPr marL="0" indent="0">
              <a:buNone/>
            </a:pPr>
            <a:r>
              <a:rPr lang="en-US" altLang="zh-CN" dirty="0"/>
              <a:t>}; </a:t>
            </a:r>
            <a:endParaRPr lang="zh-CN" altLang="en-US" dirty="0"/>
          </a:p>
        </p:txBody>
      </p:sp>
      <p:sp>
        <p:nvSpPr>
          <p:cNvPr id="2" name="灯片编号占位符 1">
            <a:extLst>
              <a:ext uri="{FF2B5EF4-FFF2-40B4-BE49-F238E27FC236}">
                <a16:creationId xmlns:a16="http://schemas.microsoft.com/office/drawing/2014/main" id="{B30C8D51-CA1D-8CFD-4FBE-9DF42189BA1E}"/>
              </a:ext>
            </a:extLst>
          </p:cNvPr>
          <p:cNvSpPr>
            <a:spLocks noGrp="1"/>
          </p:cNvSpPr>
          <p:nvPr>
            <p:ph type="sldNum" sz="quarter" idx="12"/>
          </p:nvPr>
        </p:nvSpPr>
        <p:spPr/>
        <p:txBody>
          <a:bodyPr/>
          <a:lstStyle/>
          <a:p>
            <a:pPr>
              <a:defRPr/>
            </a:pPr>
            <a:fld id="{524B865F-46F8-4520-B0DD-31ED36EF62D9}" type="slidenum">
              <a:rPr lang="en-US" altLang="zh-CN" smtClean="0"/>
              <a:pPr>
                <a:defRPr/>
              </a:pPr>
              <a:t>77</a:t>
            </a:fld>
            <a:endParaRPr lang="en-US" altLang="zh-CN"/>
          </a:p>
        </p:txBody>
      </p:sp>
    </p:spTree>
  </p:cSld>
  <p:clrMapOvr>
    <a:masterClrMapping/>
  </p:clrMapOvr>
  <p:transition>
    <p:spli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B158125-6AC6-43E3-89F3-0AA7C0EE01BB}"/>
              </a:ext>
            </a:extLst>
          </p:cNvPr>
          <p:cNvSpPr>
            <a:spLocks noGrp="1"/>
          </p:cNvSpPr>
          <p:nvPr>
            <p:ph idx="1"/>
          </p:nvPr>
        </p:nvSpPr>
        <p:spPr>
          <a:xfrm>
            <a:off x="179512" y="404664"/>
            <a:ext cx="8784976" cy="5832648"/>
          </a:xfrm>
        </p:spPr>
        <p:txBody>
          <a:bodyPr>
            <a:normAutofit fontScale="77500" lnSpcReduction="20000"/>
          </a:bodyPr>
          <a:lstStyle/>
          <a:p>
            <a:pPr marL="0" indent="0">
              <a:buNone/>
            </a:pPr>
            <a:r>
              <a:rPr lang="en-US" altLang="zh-CN" dirty="0"/>
              <a:t>//</a:t>
            </a:r>
            <a:r>
              <a:rPr lang="zh-CN" altLang="en-US" dirty="0"/>
              <a:t>在当前散列表中删除表项 </a:t>
            </a:r>
            <a:r>
              <a:rPr lang="en-US" altLang="zh-CN" dirty="0"/>
              <a:t>x</a:t>
            </a:r>
            <a:endParaRPr lang="zh-CN" altLang="en-US" dirty="0"/>
          </a:p>
          <a:p>
            <a:pPr marL="0" indent="0">
              <a:buNone/>
            </a:pPr>
            <a:r>
              <a:rPr lang="en-US" altLang="zh-CN" dirty="0"/>
              <a:t>template &lt;class E, class K&gt; </a:t>
            </a:r>
          </a:p>
          <a:p>
            <a:pPr marL="0" indent="0">
              <a:buNone/>
            </a:pPr>
            <a:r>
              <a:rPr lang="en-US" altLang="zh-CN" dirty="0"/>
              <a:t>bool </a:t>
            </a:r>
            <a:r>
              <a:rPr lang="en-US" altLang="zh-CN" dirty="0" err="1"/>
              <a:t>HashTable</a:t>
            </a:r>
            <a:r>
              <a:rPr lang="en-US" altLang="zh-CN" dirty="0"/>
              <a:t> &lt;E, K&gt; :: Remove (K k) {</a:t>
            </a:r>
          </a:p>
          <a:p>
            <a:pPr marL="0" indent="0">
              <a:buNone/>
            </a:pPr>
            <a:r>
              <a:rPr lang="en-US" altLang="zh-CN" dirty="0"/>
              <a:t>    int </a:t>
            </a:r>
            <a:r>
              <a:rPr lang="en-US" altLang="zh-CN" dirty="0" err="1"/>
              <a:t>i</a:t>
            </a:r>
            <a:r>
              <a:rPr lang="en-US" altLang="zh-CN" dirty="0"/>
              <a:t> = </a:t>
            </a:r>
            <a:r>
              <a:rPr lang="en-US" altLang="zh-CN" dirty="0" err="1"/>
              <a:t>FindPos</a:t>
            </a:r>
            <a:r>
              <a:rPr lang="en-US" altLang="zh-CN" dirty="0"/>
              <a:t>(k);</a:t>
            </a:r>
          </a:p>
          <a:p>
            <a:pPr marL="0" indent="0">
              <a:buNone/>
            </a:pPr>
            <a:endParaRPr lang="en-US" altLang="zh-CN" dirty="0"/>
          </a:p>
          <a:p>
            <a:pPr marL="0" indent="0">
              <a:buNone/>
            </a:pPr>
            <a:r>
              <a:rPr lang="en-US" altLang="zh-CN" dirty="0"/>
              <a:t>    //</a:t>
            </a:r>
            <a:r>
              <a:rPr lang="zh-CN" altLang="en-US" dirty="0"/>
              <a:t>找到</a:t>
            </a:r>
            <a:r>
              <a:rPr lang="en-US" altLang="zh-CN" dirty="0"/>
              <a:t>,</a:t>
            </a:r>
            <a:r>
              <a:rPr lang="zh-CN" altLang="en-US" dirty="0"/>
              <a:t>删除</a:t>
            </a:r>
            <a:endParaRPr lang="en-US" altLang="zh-CN" dirty="0"/>
          </a:p>
          <a:p>
            <a:pPr marL="0" indent="0">
              <a:buNone/>
            </a:pPr>
            <a:r>
              <a:rPr lang="en-US" altLang="zh-CN" dirty="0"/>
              <a:t>    if (( info[</a:t>
            </a:r>
            <a:r>
              <a:rPr lang="en-US" altLang="zh-CN" dirty="0" err="1"/>
              <a:t>i</a:t>
            </a:r>
            <a:r>
              <a:rPr lang="en-US" altLang="zh-CN" dirty="0"/>
              <a:t>] == Active )&amp;&amp;(</a:t>
            </a:r>
            <a:r>
              <a:rPr lang="en-US" altLang="zh-CN" dirty="0" err="1"/>
              <a:t>ht</a:t>
            </a:r>
            <a:r>
              <a:rPr lang="en-US" altLang="zh-CN" dirty="0"/>
              <a:t>[</a:t>
            </a:r>
            <a:r>
              <a:rPr lang="en-US" altLang="zh-CN" dirty="0" err="1"/>
              <a:t>i</a:t>
            </a:r>
            <a:r>
              <a:rPr lang="en-US" altLang="zh-CN" dirty="0"/>
              <a:t>].</a:t>
            </a:r>
            <a:r>
              <a:rPr lang="en-US" altLang="zh-CN" dirty="0" err="1"/>
              <a:t>GetKey</a:t>
            </a:r>
            <a:r>
              <a:rPr lang="en-US" altLang="zh-CN" dirty="0"/>
              <a:t>() == k)) {</a:t>
            </a:r>
          </a:p>
          <a:p>
            <a:pPr marL="0" indent="0">
              <a:buNone/>
            </a:pPr>
            <a:r>
              <a:rPr lang="en-US" altLang="zh-CN" dirty="0"/>
              <a:t>       info[</a:t>
            </a:r>
            <a:r>
              <a:rPr lang="en-US" altLang="zh-CN" dirty="0" err="1"/>
              <a:t>i</a:t>
            </a:r>
            <a:r>
              <a:rPr lang="en-US" altLang="zh-CN" dirty="0"/>
              <a:t>] = Deleted;           //</a:t>
            </a:r>
            <a:r>
              <a:rPr lang="zh-CN" altLang="en-US" dirty="0"/>
              <a:t>做删除标记</a:t>
            </a:r>
          </a:p>
          <a:p>
            <a:pPr marL="0" indent="0">
              <a:buNone/>
            </a:pPr>
            <a:r>
              <a:rPr lang="zh-CN" altLang="en-US" dirty="0"/>
              <a:t>       </a:t>
            </a:r>
            <a:r>
              <a:rPr lang="en-US" altLang="zh-CN" dirty="0" err="1"/>
              <a:t>CurrentSize</a:t>
            </a:r>
            <a:r>
              <a:rPr lang="en-US" altLang="zh-CN" dirty="0"/>
              <a:t>--;</a:t>
            </a:r>
          </a:p>
          <a:p>
            <a:pPr marL="0" indent="0">
              <a:buNone/>
            </a:pPr>
            <a:r>
              <a:rPr lang="en-US" altLang="zh-CN" dirty="0"/>
              <a:t>       return true;</a:t>
            </a:r>
          </a:p>
          <a:p>
            <a:pPr marL="0" indent="0">
              <a:buNone/>
            </a:pPr>
            <a:r>
              <a:rPr lang="en-US" altLang="zh-CN" dirty="0"/>
              <a:t>    }</a:t>
            </a:r>
          </a:p>
          <a:p>
            <a:pPr marL="0" indent="0">
              <a:buNone/>
            </a:pPr>
            <a:r>
              <a:rPr lang="en-US" altLang="zh-CN" dirty="0"/>
              <a:t>    else return false;</a:t>
            </a:r>
          </a:p>
          <a:p>
            <a:pPr marL="0" indent="0">
              <a:buNone/>
            </a:pPr>
            <a:r>
              <a:rPr lang="en-US" altLang="zh-CN" dirty="0"/>
              <a:t>}</a:t>
            </a:r>
            <a:endParaRPr lang="zh-CN" altLang="en-US" dirty="0"/>
          </a:p>
        </p:txBody>
      </p:sp>
      <p:sp>
        <p:nvSpPr>
          <p:cNvPr id="2" name="灯片编号占位符 1">
            <a:extLst>
              <a:ext uri="{FF2B5EF4-FFF2-40B4-BE49-F238E27FC236}">
                <a16:creationId xmlns:a16="http://schemas.microsoft.com/office/drawing/2014/main" id="{CABADBDE-F5EE-1E32-156F-7E7DF3EA44C1}"/>
              </a:ext>
            </a:extLst>
          </p:cNvPr>
          <p:cNvSpPr>
            <a:spLocks noGrp="1"/>
          </p:cNvSpPr>
          <p:nvPr>
            <p:ph type="sldNum" sz="quarter" idx="12"/>
          </p:nvPr>
        </p:nvSpPr>
        <p:spPr/>
        <p:txBody>
          <a:bodyPr/>
          <a:lstStyle/>
          <a:p>
            <a:pPr>
              <a:defRPr/>
            </a:pPr>
            <a:fld id="{524B865F-46F8-4520-B0DD-31ED36EF62D9}" type="slidenum">
              <a:rPr lang="en-US" altLang="zh-CN" smtClean="0"/>
              <a:pPr>
                <a:defRPr/>
              </a:pPr>
              <a:t>78</a:t>
            </a:fld>
            <a:endParaRPr lang="en-US" altLang="zh-CN"/>
          </a:p>
        </p:txBody>
      </p:sp>
    </p:spTree>
  </p:cSld>
  <p:clrMapOvr>
    <a:masterClrMapping/>
  </p:clrMapOvr>
  <p:transition>
    <p:spli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a:extLst>
              <a:ext uri="{FF2B5EF4-FFF2-40B4-BE49-F238E27FC236}">
                <a16:creationId xmlns:a16="http://schemas.microsoft.com/office/drawing/2014/main" id="{B780D885-D990-55EF-F8DB-5473F7A4B12F}"/>
              </a:ext>
            </a:extLst>
          </p:cNvPr>
          <p:cNvSpPr>
            <a:spLocks noGrp="1" noChangeArrowheads="1"/>
          </p:cNvSpPr>
          <p:nvPr>
            <p:ph type="title"/>
          </p:nvPr>
        </p:nvSpPr>
        <p:spPr/>
        <p:txBody>
          <a:bodyPr/>
          <a:lstStyle/>
          <a:p>
            <a:r>
              <a:rPr lang="zh-CN" altLang="en-US"/>
              <a:t>装填因子</a:t>
            </a:r>
          </a:p>
        </p:txBody>
      </p:sp>
      <p:sp>
        <p:nvSpPr>
          <p:cNvPr id="490499" name="Rectangle 3">
            <a:extLst>
              <a:ext uri="{FF2B5EF4-FFF2-40B4-BE49-F238E27FC236}">
                <a16:creationId xmlns:a16="http://schemas.microsoft.com/office/drawing/2014/main" id="{C424DC6C-CDE2-C711-3FB2-7C9B2C80A767}"/>
              </a:ext>
            </a:extLst>
          </p:cNvPr>
          <p:cNvSpPr>
            <a:spLocks noGrp="1" noChangeArrowheads="1"/>
          </p:cNvSpPr>
          <p:nvPr>
            <p:ph type="body" idx="1"/>
          </p:nvPr>
        </p:nvSpPr>
        <p:spPr/>
        <p:txBody>
          <a:bodyPr>
            <a:normAutofit fontScale="77500" lnSpcReduction="20000"/>
          </a:bodyPr>
          <a:lstStyle/>
          <a:p>
            <a:pPr>
              <a:lnSpc>
                <a:spcPct val="120000"/>
              </a:lnSpc>
            </a:pPr>
            <a:r>
              <a:rPr lang="zh-CN" altLang="en-US" dirty="0"/>
              <a:t>设散列表的装填因子为 </a:t>
            </a:r>
            <a:r>
              <a:rPr lang="zh-CN" altLang="en-US" dirty="0">
                <a:sym typeface="Symbol" pitchFamily="18" charset="2"/>
              </a:rPr>
              <a:t></a:t>
            </a:r>
            <a:r>
              <a:rPr lang="zh-CN" altLang="en-US" dirty="0"/>
              <a:t> </a:t>
            </a:r>
            <a:r>
              <a:rPr lang="en-US" altLang="zh-CN" dirty="0"/>
              <a:t>= n / (s*m)</a:t>
            </a:r>
            <a:r>
              <a:rPr lang="zh-CN" altLang="en-US" dirty="0"/>
              <a:t>，其中 </a:t>
            </a:r>
            <a:r>
              <a:rPr lang="en-US" altLang="zh-CN" dirty="0"/>
              <a:t>n </a:t>
            </a:r>
            <a:r>
              <a:rPr lang="zh-CN" altLang="en-US" dirty="0"/>
              <a:t>是表中已有的表项个数，</a:t>
            </a:r>
            <a:r>
              <a:rPr lang="en-US" altLang="zh-CN" dirty="0"/>
              <a:t>s </a:t>
            </a:r>
            <a:r>
              <a:rPr lang="zh-CN" altLang="en-US" dirty="0"/>
              <a:t>是每个桶中最多可容纳表项个数，</a:t>
            </a:r>
            <a:r>
              <a:rPr lang="en-US" altLang="zh-CN" dirty="0"/>
              <a:t>m </a:t>
            </a:r>
            <a:r>
              <a:rPr lang="zh-CN" altLang="en-US" dirty="0"/>
              <a:t>是表中的桶数。</a:t>
            </a:r>
          </a:p>
          <a:p>
            <a:pPr>
              <a:lnSpc>
                <a:spcPct val="120000"/>
              </a:lnSpc>
            </a:pPr>
            <a:r>
              <a:rPr lang="zh-CN" altLang="en-US" dirty="0">
                <a:sym typeface="Symbol" pitchFamily="18" charset="2"/>
              </a:rPr>
              <a:t> </a:t>
            </a:r>
            <a:r>
              <a:rPr lang="zh-CN" altLang="en-US" dirty="0"/>
              <a:t>越大</a:t>
            </a:r>
            <a:r>
              <a:rPr lang="en-US" altLang="zh-CN" dirty="0"/>
              <a:t>, </a:t>
            </a:r>
            <a:r>
              <a:rPr lang="zh-CN" altLang="en-US" dirty="0"/>
              <a:t>表中表项数越多</a:t>
            </a:r>
            <a:r>
              <a:rPr lang="en-US" altLang="zh-CN" dirty="0"/>
              <a:t>, </a:t>
            </a:r>
            <a:r>
              <a:rPr lang="zh-CN" altLang="en-US" dirty="0"/>
              <a:t>表装得越满</a:t>
            </a:r>
            <a:r>
              <a:rPr lang="en-US" altLang="zh-CN" dirty="0"/>
              <a:t>, </a:t>
            </a:r>
            <a:r>
              <a:rPr lang="zh-CN" altLang="en-US" dirty="0"/>
              <a:t>发生冲突可能性越大。</a:t>
            </a:r>
          </a:p>
          <a:p>
            <a:pPr>
              <a:lnSpc>
                <a:spcPct val="120000"/>
              </a:lnSpc>
            </a:pPr>
            <a:r>
              <a:rPr lang="zh-CN" altLang="en-US" dirty="0"/>
              <a:t>通过对线性探查法的分析，发现为搜索一个关键码所需进行的探查次数的期望值 </a:t>
            </a:r>
            <a:r>
              <a:rPr lang="en-US" altLang="zh-CN" dirty="0"/>
              <a:t>P </a:t>
            </a:r>
            <a:r>
              <a:rPr lang="zh-CN" altLang="en-US" dirty="0"/>
              <a:t>大约是 </a:t>
            </a:r>
            <a:r>
              <a:rPr lang="en-US" altLang="zh-CN" dirty="0"/>
              <a:t>(2-</a:t>
            </a:r>
            <a:r>
              <a:rPr lang="en-US" altLang="zh-CN" dirty="0">
                <a:sym typeface="Symbol" pitchFamily="18" charset="2"/>
              </a:rPr>
              <a:t></a:t>
            </a:r>
            <a:r>
              <a:rPr lang="en-US" altLang="zh-CN" dirty="0"/>
              <a:t>)/(2-2</a:t>
            </a:r>
            <a:r>
              <a:rPr lang="en-US" altLang="zh-CN" dirty="0">
                <a:sym typeface="Symbol" pitchFamily="18" charset="2"/>
              </a:rPr>
              <a:t></a:t>
            </a:r>
            <a:r>
              <a:rPr lang="en-US" altLang="zh-CN" dirty="0"/>
              <a:t>)</a:t>
            </a:r>
            <a:r>
              <a:rPr lang="zh-CN" altLang="en-US" dirty="0"/>
              <a:t>。可以看出，当</a:t>
            </a:r>
            <a:r>
              <a:rPr lang="en-US" altLang="zh-CN" dirty="0">
                <a:sym typeface="Symbol" pitchFamily="18" charset="2"/>
              </a:rPr>
              <a:t></a:t>
            </a:r>
            <a:r>
              <a:rPr lang="zh-CN" altLang="en-US" dirty="0">
                <a:sym typeface="Symbol" pitchFamily="18" charset="2"/>
              </a:rPr>
              <a:t>接近</a:t>
            </a:r>
            <a:r>
              <a:rPr lang="en-US" altLang="zh-CN" dirty="0">
                <a:sym typeface="Symbol" pitchFamily="18" charset="2"/>
              </a:rPr>
              <a:t>0</a:t>
            </a:r>
            <a:r>
              <a:rPr lang="zh-CN" altLang="en-US" dirty="0">
                <a:sym typeface="Symbol" pitchFamily="18" charset="2"/>
              </a:rPr>
              <a:t>时，探查次数接近</a:t>
            </a:r>
            <a:r>
              <a:rPr lang="en-US" altLang="zh-CN" dirty="0">
                <a:sym typeface="Symbol" pitchFamily="18" charset="2"/>
              </a:rPr>
              <a:t>1</a:t>
            </a:r>
            <a:r>
              <a:rPr lang="zh-CN" altLang="en-US" dirty="0">
                <a:sym typeface="Symbol" pitchFamily="18" charset="2"/>
              </a:rPr>
              <a:t>，</a:t>
            </a:r>
            <a:r>
              <a:rPr lang="zh-CN" altLang="en-US" dirty="0"/>
              <a:t>当</a:t>
            </a:r>
            <a:r>
              <a:rPr lang="en-US" altLang="zh-CN" dirty="0">
                <a:sym typeface="Symbol" pitchFamily="18" charset="2"/>
              </a:rPr>
              <a:t></a:t>
            </a:r>
            <a:r>
              <a:rPr lang="zh-CN" altLang="en-US" dirty="0">
                <a:sym typeface="Symbol" pitchFamily="18" charset="2"/>
              </a:rPr>
              <a:t>接近</a:t>
            </a:r>
            <a:r>
              <a:rPr lang="en-US" altLang="zh-CN" dirty="0">
                <a:sym typeface="Symbol" pitchFamily="18" charset="2"/>
              </a:rPr>
              <a:t>1</a:t>
            </a:r>
            <a:r>
              <a:rPr lang="zh-CN" altLang="en-US" dirty="0">
                <a:sym typeface="Symbol" pitchFamily="18" charset="2"/>
              </a:rPr>
              <a:t>时，探查次数接近</a:t>
            </a:r>
            <a:r>
              <a:rPr lang="en-US" altLang="zh-CN" dirty="0">
                <a:sym typeface="Symbol" panose="05050102010706020507" pitchFamily="18" charset="2"/>
              </a:rPr>
              <a:t></a:t>
            </a:r>
            <a:r>
              <a:rPr lang="zh-CN" altLang="en-US" dirty="0"/>
              <a:t>。</a:t>
            </a:r>
          </a:p>
        </p:txBody>
      </p:sp>
      <p:sp>
        <p:nvSpPr>
          <p:cNvPr id="2" name="灯片编号占位符 1">
            <a:extLst>
              <a:ext uri="{FF2B5EF4-FFF2-40B4-BE49-F238E27FC236}">
                <a16:creationId xmlns:a16="http://schemas.microsoft.com/office/drawing/2014/main" id="{1E22A638-C91C-2E86-727C-BF8F68C6E335}"/>
              </a:ext>
            </a:extLst>
          </p:cNvPr>
          <p:cNvSpPr>
            <a:spLocks noGrp="1"/>
          </p:cNvSpPr>
          <p:nvPr>
            <p:ph type="sldNum" sz="quarter" idx="12"/>
          </p:nvPr>
        </p:nvSpPr>
        <p:spPr/>
        <p:txBody>
          <a:bodyPr/>
          <a:lstStyle/>
          <a:p>
            <a:pPr>
              <a:defRPr/>
            </a:pPr>
            <a:fld id="{524B865F-46F8-4520-B0DD-31ED36EF62D9}" type="slidenum">
              <a:rPr lang="en-US" altLang="zh-CN" smtClean="0"/>
              <a:pPr>
                <a:defRPr/>
              </a:pPr>
              <a:t>79</a:t>
            </a:fld>
            <a:endParaRPr lang="en-US" altLang="zh-CN"/>
          </a:p>
        </p:txBody>
      </p:sp>
    </p:spTree>
  </p:cSld>
  <p:clrMapOvr>
    <a:masterClrMapping/>
  </p:clrMapOvr>
  <p:transition>
    <p:spli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a:extLst>
              <a:ext uri="{FF2B5EF4-FFF2-40B4-BE49-F238E27FC236}">
                <a16:creationId xmlns:a16="http://schemas.microsoft.com/office/drawing/2014/main" id="{A09357A4-40CD-01E0-907B-974F0B6CEF7E}"/>
              </a:ext>
            </a:extLst>
          </p:cNvPr>
          <p:cNvSpPr>
            <a:spLocks noGrp="1" noChangeArrowheads="1"/>
          </p:cNvSpPr>
          <p:nvPr>
            <p:ph type="title"/>
          </p:nvPr>
        </p:nvSpPr>
        <p:spPr>
          <a:xfrm>
            <a:off x="179512" y="365125"/>
            <a:ext cx="8856984" cy="1325563"/>
          </a:xfrm>
        </p:spPr>
        <p:txBody>
          <a:bodyPr/>
          <a:lstStyle/>
          <a:p>
            <a:r>
              <a:rPr lang="en-US" altLang="zh-CN" dirty="0"/>
              <a:t>(2) </a:t>
            </a:r>
            <a:r>
              <a:rPr lang="zh-CN" altLang="en-US" dirty="0"/>
              <a:t>二次探查法 </a:t>
            </a:r>
            <a:r>
              <a:rPr lang="en-US" altLang="zh-CN" dirty="0"/>
              <a:t>(quadratic probing)</a:t>
            </a:r>
          </a:p>
        </p:txBody>
      </p:sp>
      <p:sp>
        <p:nvSpPr>
          <p:cNvPr id="491523" name="Rectangle 3">
            <a:extLst>
              <a:ext uri="{FF2B5EF4-FFF2-40B4-BE49-F238E27FC236}">
                <a16:creationId xmlns:a16="http://schemas.microsoft.com/office/drawing/2014/main" id="{6E0BA251-3FB6-5504-8DC9-7D8622B034A2}"/>
              </a:ext>
            </a:extLst>
          </p:cNvPr>
          <p:cNvSpPr>
            <a:spLocks noGrp="1" noChangeArrowheads="1"/>
          </p:cNvSpPr>
          <p:nvPr>
            <p:ph type="body" idx="1"/>
          </p:nvPr>
        </p:nvSpPr>
        <p:spPr>
          <a:xfrm>
            <a:off x="179512" y="1690688"/>
            <a:ext cx="8784976" cy="4802187"/>
          </a:xfrm>
        </p:spPr>
        <p:txBody>
          <a:bodyPr>
            <a:normAutofit fontScale="62500" lnSpcReduction="20000"/>
          </a:bodyPr>
          <a:lstStyle/>
          <a:p>
            <a:pPr>
              <a:lnSpc>
                <a:spcPct val="120000"/>
              </a:lnSpc>
            </a:pPr>
            <a:r>
              <a:rPr lang="zh-CN" altLang="en-US" dirty="0"/>
              <a:t> 线性探查法易产生“堆积”，而且散列值不同的探查序列也会占据邻近的桶，加剧“堆积”，导致搜索时间增加。</a:t>
            </a:r>
          </a:p>
          <a:p>
            <a:pPr>
              <a:lnSpc>
                <a:spcPct val="120000"/>
              </a:lnSpc>
            </a:pPr>
            <a:r>
              <a:rPr lang="zh-CN" altLang="en-US" dirty="0"/>
              <a:t>可用二次探查法改善“堆积”问题，减少平均探查次数。</a:t>
            </a:r>
          </a:p>
          <a:p>
            <a:pPr lvl="1">
              <a:lnSpc>
                <a:spcPct val="120000"/>
              </a:lnSpc>
            </a:pPr>
            <a:r>
              <a:rPr lang="zh-CN" altLang="en-US" dirty="0"/>
              <a:t>设初始桶号为：</a:t>
            </a:r>
            <a:r>
              <a:rPr lang="en-US" altLang="zh-CN" dirty="0"/>
              <a:t>H</a:t>
            </a:r>
            <a:r>
              <a:rPr lang="en-US" altLang="zh-CN" baseline="-25000" dirty="0"/>
              <a:t>0</a:t>
            </a:r>
            <a:r>
              <a:rPr lang="en-US" altLang="zh-CN" dirty="0"/>
              <a:t> = hash(x)</a:t>
            </a:r>
            <a:r>
              <a:rPr lang="zh-CN" altLang="en-US" dirty="0"/>
              <a:t>，（</a:t>
            </a:r>
            <a:r>
              <a:rPr lang="en-US" altLang="zh-CN" dirty="0"/>
              <a:t> H</a:t>
            </a:r>
            <a:r>
              <a:rPr lang="en-US" altLang="zh-CN" baseline="-25000" dirty="0"/>
              <a:t>0 </a:t>
            </a:r>
            <a:r>
              <a:rPr lang="zh-CN" altLang="en-US" dirty="0">
                <a:sym typeface="Symbol" panose="05050102010706020507" pitchFamily="18" charset="2"/>
              </a:rPr>
              <a:t></a:t>
            </a:r>
            <a:r>
              <a:rPr lang="en-US" altLang="zh-CN" dirty="0">
                <a:sym typeface="Symbol" panose="05050102010706020507" pitchFamily="18" charset="2"/>
              </a:rPr>
              <a:t>0</a:t>
            </a:r>
            <a:r>
              <a:rPr lang="zh-CN" altLang="en-US" dirty="0"/>
              <a:t>）</a:t>
            </a:r>
            <a:endParaRPr lang="en-US" altLang="zh-CN" dirty="0"/>
          </a:p>
          <a:p>
            <a:pPr lvl="1">
              <a:lnSpc>
                <a:spcPct val="120000"/>
              </a:lnSpc>
            </a:pPr>
            <a:r>
              <a:rPr lang="zh-CN" altLang="en-US" dirty="0"/>
              <a:t>二次探查法在表中寻找“下一个”空桶的公式：</a:t>
            </a:r>
          </a:p>
          <a:p>
            <a:pPr marL="342900" lvl="1" indent="0">
              <a:lnSpc>
                <a:spcPct val="120000"/>
              </a:lnSpc>
              <a:buNone/>
            </a:pPr>
            <a:r>
              <a:rPr lang="zh-CN" altLang="en-US" dirty="0"/>
              <a:t>        </a:t>
            </a:r>
            <a:r>
              <a:rPr lang="en-US" altLang="zh-CN" dirty="0"/>
              <a:t>H</a:t>
            </a:r>
            <a:r>
              <a:rPr lang="en-US" altLang="zh-CN" baseline="-25000" dirty="0"/>
              <a:t>i</a:t>
            </a:r>
            <a:r>
              <a:rPr lang="en-US" altLang="zh-CN" dirty="0"/>
              <a:t> = (H</a:t>
            </a:r>
            <a:r>
              <a:rPr lang="en-US" altLang="zh-CN" baseline="-25000" dirty="0"/>
              <a:t>0</a:t>
            </a:r>
            <a:r>
              <a:rPr lang="en-US" altLang="zh-CN" dirty="0"/>
              <a:t> + i</a:t>
            </a:r>
            <a:r>
              <a:rPr lang="en-US" altLang="zh-CN" baseline="30000" dirty="0"/>
              <a:t>2</a:t>
            </a:r>
            <a:r>
              <a:rPr lang="en-US" altLang="zh-CN" dirty="0"/>
              <a:t> ) % m,</a:t>
            </a:r>
          </a:p>
          <a:p>
            <a:pPr marL="342900" lvl="1" indent="0">
              <a:lnSpc>
                <a:spcPct val="120000"/>
              </a:lnSpc>
              <a:buNone/>
            </a:pPr>
            <a:r>
              <a:rPr lang="en-US" altLang="zh-CN" dirty="0"/>
              <a:t>        H</a:t>
            </a:r>
            <a:r>
              <a:rPr lang="en-US" altLang="zh-CN" baseline="-25000" dirty="0"/>
              <a:t>i </a:t>
            </a:r>
            <a:r>
              <a:rPr lang="en-US" altLang="zh-CN" dirty="0"/>
              <a:t>= (H</a:t>
            </a:r>
            <a:r>
              <a:rPr lang="en-US" altLang="zh-CN" baseline="-25000" dirty="0"/>
              <a:t>0</a:t>
            </a:r>
            <a:r>
              <a:rPr lang="en-US" altLang="zh-CN" dirty="0"/>
              <a:t> - i</a:t>
            </a:r>
            <a:r>
              <a:rPr lang="en-US" altLang="zh-CN" baseline="30000" dirty="0"/>
              <a:t>2</a:t>
            </a:r>
            <a:r>
              <a:rPr lang="en-US" altLang="zh-CN" dirty="0"/>
              <a:t> ) % m,   </a:t>
            </a:r>
            <a:r>
              <a:rPr lang="en-US" altLang="zh-CN" dirty="0" err="1"/>
              <a:t>i</a:t>
            </a:r>
            <a:r>
              <a:rPr lang="en-US" altLang="zh-CN" dirty="0"/>
              <a:t> = 1, 2, …, (m-1)/2</a:t>
            </a:r>
          </a:p>
          <a:p>
            <a:pPr lvl="1">
              <a:lnSpc>
                <a:spcPct val="120000"/>
              </a:lnSpc>
            </a:pPr>
            <a:r>
              <a:rPr lang="zh-CN" altLang="en-US" dirty="0"/>
              <a:t>探查序列如 </a:t>
            </a:r>
            <a:r>
              <a:rPr lang="en-US" altLang="zh-CN" dirty="0"/>
              <a:t>H</a:t>
            </a:r>
            <a:r>
              <a:rPr lang="en-US" altLang="zh-CN" baseline="-25000" dirty="0"/>
              <a:t>0</a:t>
            </a:r>
            <a:r>
              <a:rPr lang="en-US" altLang="zh-CN" dirty="0"/>
              <a:t>, H</a:t>
            </a:r>
            <a:r>
              <a:rPr lang="en-US" altLang="zh-CN" baseline="-25000" dirty="0"/>
              <a:t>0</a:t>
            </a:r>
            <a:r>
              <a:rPr lang="en-US" altLang="zh-CN" dirty="0"/>
              <a:t>+1, H</a:t>
            </a:r>
            <a:r>
              <a:rPr lang="en-US" altLang="zh-CN" baseline="-25000" dirty="0"/>
              <a:t>0</a:t>
            </a:r>
            <a:r>
              <a:rPr lang="en-US" altLang="zh-CN" dirty="0"/>
              <a:t>-1, H</a:t>
            </a:r>
            <a:r>
              <a:rPr lang="en-US" altLang="zh-CN" baseline="-25000" dirty="0"/>
              <a:t>0</a:t>
            </a:r>
            <a:r>
              <a:rPr lang="en-US" altLang="zh-CN" dirty="0"/>
              <a:t>+4, H</a:t>
            </a:r>
            <a:r>
              <a:rPr lang="en-US" altLang="zh-CN" baseline="-25000" dirty="0"/>
              <a:t>0</a:t>
            </a:r>
            <a:r>
              <a:rPr lang="en-US" altLang="zh-CN" dirty="0"/>
              <a:t>-4, …</a:t>
            </a:r>
            <a:r>
              <a:rPr lang="zh-CN" altLang="en-US" dirty="0"/>
              <a:t>。</a:t>
            </a:r>
          </a:p>
          <a:p>
            <a:pPr lvl="1">
              <a:lnSpc>
                <a:spcPct val="120000"/>
              </a:lnSpc>
            </a:pPr>
            <a:r>
              <a:rPr lang="zh-CN" altLang="en-US" b="1" dirty="0"/>
              <a:t>式中 </a:t>
            </a:r>
            <a:r>
              <a:rPr lang="en-US" altLang="zh-CN" b="1" dirty="0"/>
              <a:t>m </a:t>
            </a:r>
            <a:r>
              <a:rPr lang="zh-CN" altLang="en-US" b="1" dirty="0"/>
              <a:t>是表的大小，它应是一个值为 </a:t>
            </a:r>
            <a:r>
              <a:rPr lang="en-US" altLang="zh-CN" b="1" dirty="0"/>
              <a:t>4k+3 </a:t>
            </a:r>
            <a:r>
              <a:rPr lang="zh-CN" altLang="en-US" b="1" dirty="0"/>
              <a:t>的质数，</a:t>
            </a:r>
            <a:r>
              <a:rPr lang="zh-CN" altLang="en-US" dirty="0"/>
              <a:t>其中 </a:t>
            </a:r>
            <a:r>
              <a:rPr lang="en-US" altLang="zh-CN" dirty="0"/>
              <a:t>k </a:t>
            </a:r>
            <a:r>
              <a:rPr lang="zh-CN" altLang="en-US" dirty="0"/>
              <a:t>是一个整数。因此，</a:t>
            </a:r>
            <a:r>
              <a:rPr lang="en-US" altLang="zh-CN" dirty="0"/>
              <a:t>m</a:t>
            </a:r>
            <a:r>
              <a:rPr lang="zh-CN" altLang="en-US" dirty="0"/>
              <a:t>的取值可以是：</a:t>
            </a:r>
            <a:r>
              <a:rPr lang="en-US" altLang="zh-CN" dirty="0"/>
              <a:t>3, 7, 11, 19, 23, 31, 43, 59, 127, 251, 503, …</a:t>
            </a:r>
            <a:r>
              <a:rPr lang="zh-CN" altLang="en-US" dirty="0"/>
              <a:t>。</a:t>
            </a:r>
            <a:endParaRPr lang="en-US" altLang="zh-CN" dirty="0"/>
          </a:p>
          <a:p>
            <a:pPr lvl="1">
              <a:lnSpc>
                <a:spcPct val="120000"/>
              </a:lnSpc>
            </a:pPr>
            <a:r>
              <a:rPr lang="zh-CN" altLang="en-US" dirty="0"/>
              <a:t>在做 </a:t>
            </a:r>
            <a:r>
              <a:rPr lang="en-US" altLang="zh-CN" dirty="0"/>
              <a:t>(H</a:t>
            </a:r>
            <a:r>
              <a:rPr lang="en-US" altLang="zh-CN" baseline="-25000" dirty="0"/>
              <a:t>0</a:t>
            </a:r>
            <a:r>
              <a:rPr lang="en-US" altLang="zh-CN" dirty="0"/>
              <a:t> - i</a:t>
            </a:r>
            <a:r>
              <a:rPr lang="en-US" altLang="zh-CN" baseline="30000" dirty="0"/>
              <a:t>2</a:t>
            </a:r>
            <a:r>
              <a:rPr lang="en-US" altLang="zh-CN" dirty="0"/>
              <a:t> ) % m </a:t>
            </a:r>
            <a:r>
              <a:rPr lang="zh-CN" altLang="en-US" dirty="0"/>
              <a:t>的运算时，当 </a:t>
            </a:r>
            <a:r>
              <a:rPr lang="en-US" altLang="zh-CN" dirty="0"/>
              <a:t>H</a:t>
            </a:r>
            <a:r>
              <a:rPr lang="en-US" altLang="zh-CN" baseline="-25000" dirty="0"/>
              <a:t>0</a:t>
            </a:r>
            <a:r>
              <a:rPr lang="en-US" altLang="zh-CN" dirty="0"/>
              <a:t> - i</a:t>
            </a:r>
            <a:r>
              <a:rPr lang="en-US" altLang="zh-CN" baseline="30000" dirty="0"/>
              <a:t>2</a:t>
            </a:r>
            <a:r>
              <a:rPr lang="en-US" altLang="zh-CN" dirty="0"/>
              <a:t> &lt; 0 </a:t>
            </a:r>
            <a:r>
              <a:rPr lang="zh-CN" altLang="en-US" dirty="0"/>
              <a:t>，运算结果是负数。实际算式可改为：</a:t>
            </a:r>
          </a:p>
          <a:p>
            <a:pPr marL="342900" lvl="1" indent="0">
              <a:lnSpc>
                <a:spcPct val="120000"/>
              </a:lnSpc>
              <a:buNone/>
            </a:pPr>
            <a:r>
              <a:rPr lang="zh-CN" altLang="en-US" dirty="0"/>
              <a:t>         </a:t>
            </a:r>
            <a:r>
              <a:rPr lang="en-US" altLang="zh-CN" dirty="0"/>
              <a:t>j = (H</a:t>
            </a:r>
            <a:r>
              <a:rPr lang="en-US" altLang="zh-CN" baseline="-25000" dirty="0"/>
              <a:t>0</a:t>
            </a:r>
            <a:r>
              <a:rPr lang="en-US" altLang="zh-CN" dirty="0"/>
              <a:t> - i</a:t>
            </a:r>
            <a:r>
              <a:rPr lang="en-US" altLang="zh-CN" baseline="30000" dirty="0"/>
              <a:t>2</a:t>
            </a:r>
            <a:r>
              <a:rPr lang="en-US" altLang="zh-CN" dirty="0"/>
              <a:t> ) % m,   if ( j &lt; 0 ) j += m</a:t>
            </a:r>
          </a:p>
        </p:txBody>
      </p:sp>
      <p:sp>
        <p:nvSpPr>
          <p:cNvPr id="2" name="灯片编号占位符 1">
            <a:extLst>
              <a:ext uri="{FF2B5EF4-FFF2-40B4-BE49-F238E27FC236}">
                <a16:creationId xmlns:a16="http://schemas.microsoft.com/office/drawing/2014/main" id="{BA0C14CC-2B44-41EC-674F-C3B1D346F2F5}"/>
              </a:ext>
            </a:extLst>
          </p:cNvPr>
          <p:cNvSpPr>
            <a:spLocks noGrp="1"/>
          </p:cNvSpPr>
          <p:nvPr>
            <p:ph type="sldNum" sz="quarter" idx="12"/>
          </p:nvPr>
        </p:nvSpPr>
        <p:spPr/>
        <p:txBody>
          <a:bodyPr/>
          <a:lstStyle/>
          <a:p>
            <a:pPr>
              <a:defRPr/>
            </a:pPr>
            <a:fld id="{524B865F-46F8-4520-B0DD-31ED36EF62D9}" type="slidenum">
              <a:rPr lang="en-US" altLang="zh-CN" smtClean="0"/>
              <a:pPr>
                <a:defRPr/>
              </a:pPr>
              <a:t>80</a:t>
            </a:fld>
            <a:endParaRPr lang="en-US" altLang="zh-CN"/>
          </a:p>
        </p:txBody>
      </p:sp>
    </p:spTree>
  </p:cSld>
  <p:clrMapOvr>
    <a:masterClrMapping/>
  </p:clrMapOvr>
  <p:transition>
    <p:spli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6015F73-ACB3-41ED-BF93-C2E76992B413}"/>
              </a:ext>
            </a:extLst>
          </p:cNvPr>
          <p:cNvSpPr>
            <a:spLocks noGrp="1"/>
          </p:cNvSpPr>
          <p:nvPr>
            <p:ph type="title"/>
          </p:nvPr>
        </p:nvSpPr>
        <p:spPr/>
        <p:txBody>
          <a:bodyPr/>
          <a:lstStyle/>
          <a:p>
            <a:r>
              <a:rPr lang="zh-CN" altLang="en-US" dirty="0"/>
              <a:t>示例</a:t>
            </a:r>
          </a:p>
        </p:txBody>
      </p:sp>
      <p:sp>
        <p:nvSpPr>
          <p:cNvPr id="492546" name="Rectangle 1026">
            <a:extLst>
              <a:ext uri="{FF2B5EF4-FFF2-40B4-BE49-F238E27FC236}">
                <a16:creationId xmlns:a16="http://schemas.microsoft.com/office/drawing/2014/main" id="{86710E42-6818-0F4B-C0E6-8A11758BA2F9}"/>
              </a:ext>
            </a:extLst>
          </p:cNvPr>
          <p:cNvSpPr>
            <a:spLocks noGrp="1" noChangeArrowheads="1"/>
          </p:cNvSpPr>
          <p:nvPr>
            <p:ph type="body" idx="1"/>
          </p:nvPr>
        </p:nvSpPr>
        <p:spPr>
          <a:xfrm>
            <a:off x="628650" y="1825625"/>
            <a:ext cx="7886700" cy="4667250"/>
          </a:xfrm>
        </p:spPr>
        <p:txBody>
          <a:bodyPr>
            <a:normAutofit fontScale="77500" lnSpcReduction="20000"/>
          </a:bodyPr>
          <a:lstStyle/>
          <a:p>
            <a:r>
              <a:rPr lang="zh-CN" altLang="en-US" dirty="0"/>
              <a:t>给出一组关键码 </a:t>
            </a:r>
            <a:r>
              <a:rPr lang="en-US" altLang="zh-CN" dirty="0"/>
              <a:t>{ Burke, </a:t>
            </a:r>
            <a:r>
              <a:rPr lang="en-US" altLang="zh-CN" dirty="0" err="1"/>
              <a:t>Ekers</a:t>
            </a:r>
            <a:r>
              <a:rPr lang="en-US" altLang="zh-CN" dirty="0"/>
              <a:t>, Broad, Blum, Attlee, Alton, Hecht, </a:t>
            </a:r>
            <a:r>
              <a:rPr lang="en-US" altLang="zh-CN" dirty="0" err="1"/>
              <a:t>Ederly</a:t>
            </a:r>
            <a:r>
              <a:rPr lang="en-US" altLang="zh-CN" dirty="0"/>
              <a:t> }</a:t>
            </a:r>
            <a:r>
              <a:rPr lang="zh-CN" altLang="en-US" dirty="0"/>
              <a:t>。</a:t>
            </a:r>
          </a:p>
          <a:p>
            <a:r>
              <a:rPr lang="zh-CN" altLang="en-US" dirty="0"/>
              <a:t>散列函数为：</a:t>
            </a:r>
            <a:r>
              <a:rPr lang="en-US" altLang="zh-CN" dirty="0"/>
              <a:t>Hash (x)</a:t>
            </a:r>
            <a:r>
              <a:rPr lang="zh-CN" altLang="en-US" dirty="0"/>
              <a:t>＝</a:t>
            </a:r>
            <a:r>
              <a:rPr lang="en-US" altLang="zh-CN" dirty="0" err="1"/>
              <a:t>ord</a:t>
            </a:r>
            <a:r>
              <a:rPr lang="en-US" altLang="zh-CN" dirty="0"/>
              <a:t> (x)</a:t>
            </a:r>
            <a:r>
              <a:rPr lang="zh-CN" altLang="en-US" dirty="0"/>
              <a:t>－</a:t>
            </a:r>
            <a:r>
              <a:rPr lang="en-US" altLang="zh-CN" dirty="0" err="1"/>
              <a:t>ord</a:t>
            </a:r>
            <a:r>
              <a:rPr lang="en-US" altLang="zh-CN" dirty="0"/>
              <a:t> ('A')</a:t>
            </a:r>
          </a:p>
          <a:p>
            <a:r>
              <a:rPr lang="zh-CN" altLang="en-US" dirty="0"/>
              <a:t>用它计算可得</a:t>
            </a:r>
          </a:p>
          <a:p>
            <a:pPr lvl="1"/>
            <a:r>
              <a:rPr lang="en-US" altLang="zh-CN" dirty="0"/>
              <a:t>Hash (Burke) = 1      Hash (</a:t>
            </a:r>
            <a:r>
              <a:rPr lang="en-US" altLang="zh-CN" dirty="0" err="1"/>
              <a:t>Ekers</a:t>
            </a:r>
            <a:r>
              <a:rPr lang="en-US" altLang="zh-CN" dirty="0"/>
              <a:t>) = 4</a:t>
            </a:r>
          </a:p>
          <a:p>
            <a:pPr lvl="1"/>
            <a:r>
              <a:rPr lang="en-US" altLang="zh-CN" dirty="0"/>
              <a:t>Hash (Broad) = 1      Hash (Blum) = 1</a:t>
            </a:r>
          </a:p>
          <a:p>
            <a:pPr lvl="1"/>
            <a:r>
              <a:rPr lang="en-US" altLang="zh-CN" dirty="0"/>
              <a:t>Hash (Attlee) = 0      Hash (Hecht) = 7</a:t>
            </a:r>
          </a:p>
          <a:p>
            <a:pPr lvl="1"/>
            <a:r>
              <a:rPr lang="en-US" altLang="zh-CN" dirty="0"/>
              <a:t>Hash (Alton) = 0       Hash (</a:t>
            </a:r>
            <a:r>
              <a:rPr lang="en-US" altLang="zh-CN" dirty="0" err="1"/>
              <a:t>Ederly</a:t>
            </a:r>
            <a:r>
              <a:rPr lang="en-US" altLang="zh-CN" dirty="0"/>
              <a:t>) = 4</a:t>
            </a:r>
          </a:p>
          <a:p>
            <a:r>
              <a:rPr lang="zh-CN" altLang="zh-CN" dirty="0"/>
              <a:t>因为共有</a:t>
            </a:r>
            <a:r>
              <a:rPr lang="en-US" altLang="zh-CN" dirty="0"/>
              <a:t>26</a:t>
            </a:r>
            <a:r>
              <a:rPr lang="zh-CN" altLang="en-US" dirty="0"/>
              <a:t>个字母，所以</a:t>
            </a:r>
            <a:r>
              <a:rPr lang="zh-CN" altLang="zh-CN" dirty="0"/>
              <a:t>可能桶号是 0 </a:t>
            </a:r>
            <a:r>
              <a:rPr lang="zh-CN" altLang="zh-CN" dirty="0">
                <a:sym typeface="Symbol" pitchFamily="18" charset="2"/>
              </a:rPr>
              <a:t> 25</a:t>
            </a:r>
            <a:r>
              <a:rPr lang="en-US" altLang="zh-CN" dirty="0">
                <a:sym typeface="Symbol" pitchFamily="18" charset="2"/>
              </a:rPr>
              <a:t>, </a:t>
            </a:r>
            <a:r>
              <a:rPr lang="zh-CN" altLang="en-US" dirty="0">
                <a:sym typeface="Symbol" pitchFamily="18" charset="2"/>
              </a:rPr>
              <a:t>取满足 </a:t>
            </a:r>
            <a:r>
              <a:rPr lang="en-US" altLang="zh-CN" dirty="0">
                <a:sym typeface="Symbol" pitchFamily="18" charset="2"/>
              </a:rPr>
              <a:t>4k+3 </a:t>
            </a:r>
            <a:r>
              <a:rPr lang="zh-CN" altLang="en-US" dirty="0">
                <a:sym typeface="Symbol" pitchFamily="18" charset="2"/>
              </a:rPr>
              <a:t>的质数，</a:t>
            </a:r>
            <a:r>
              <a:rPr lang="zh-CN" altLang="en-US" dirty="0"/>
              <a:t>表的长度为</a:t>
            </a:r>
            <a:r>
              <a:rPr lang="en-US" altLang="zh-CN" dirty="0" err="1"/>
              <a:t>TableSize</a:t>
            </a:r>
            <a:r>
              <a:rPr lang="en-US" altLang="zh-CN" dirty="0"/>
              <a:t> = 31</a:t>
            </a:r>
            <a:r>
              <a:rPr lang="zh-CN" altLang="en-US" dirty="0"/>
              <a:t>，利用二次探查法得到的散列结果如下图所示。</a:t>
            </a:r>
          </a:p>
        </p:txBody>
      </p:sp>
      <p:sp>
        <p:nvSpPr>
          <p:cNvPr id="2" name="灯片编号占位符 1">
            <a:extLst>
              <a:ext uri="{FF2B5EF4-FFF2-40B4-BE49-F238E27FC236}">
                <a16:creationId xmlns:a16="http://schemas.microsoft.com/office/drawing/2014/main" id="{239FA26E-0C80-83B0-15E1-1CC1482C740C}"/>
              </a:ext>
            </a:extLst>
          </p:cNvPr>
          <p:cNvSpPr>
            <a:spLocks noGrp="1"/>
          </p:cNvSpPr>
          <p:nvPr>
            <p:ph type="sldNum" sz="quarter" idx="12"/>
          </p:nvPr>
        </p:nvSpPr>
        <p:spPr/>
        <p:txBody>
          <a:bodyPr/>
          <a:lstStyle/>
          <a:p>
            <a:pPr>
              <a:defRPr/>
            </a:pPr>
            <a:fld id="{524B865F-46F8-4520-B0DD-31ED36EF62D9}" type="slidenum">
              <a:rPr lang="en-US" altLang="zh-CN" smtClean="0"/>
              <a:pPr>
                <a:defRPr/>
              </a:pPr>
              <a:t>81</a:t>
            </a:fld>
            <a:endParaRPr lang="en-US" altLang="zh-CN"/>
          </a:p>
        </p:txBody>
      </p:sp>
    </p:spTree>
  </p:cSld>
  <p:clrMapOvr>
    <a:masterClrMapping/>
  </p:clrMapOvr>
  <p:transition>
    <p:spli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3">
            <a:extLst>
              <a:ext uri="{FF2B5EF4-FFF2-40B4-BE49-F238E27FC236}">
                <a16:creationId xmlns:a16="http://schemas.microsoft.com/office/drawing/2014/main" id="{B66F0EED-BC0F-36CE-786F-12E2904B2448}"/>
              </a:ext>
            </a:extLst>
          </p:cNvPr>
          <p:cNvSpPr>
            <a:spLocks noChangeArrowheads="1"/>
          </p:cNvSpPr>
          <p:nvPr/>
        </p:nvSpPr>
        <p:spPr bwMode="auto">
          <a:xfrm>
            <a:off x="730250" y="1828800"/>
            <a:ext cx="704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dirty="0">
                <a:latin typeface="Times New Roman" panose="02020603050405020304" pitchFamily="18" charset="0"/>
                <a:ea typeface="宋体" panose="02010600030101010101" pitchFamily="2" charset="-122"/>
              </a:rPr>
              <a:t>0              1               2                3                4                 5</a:t>
            </a:r>
            <a:endParaRPr kumimoji="1" lang="en-US" altLang="zh-CN" sz="2400" dirty="0">
              <a:latin typeface="Times New Roman" panose="02020603050405020304" pitchFamily="18" charset="0"/>
              <a:ea typeface="宋体" panose="02010600030101010101" pitchFamily="2" charset="-122"/>
            </a:endParaRPr>
          </a:p>
        </p:txBody>
      </p:sp>
      <p:sp>
        <p:nvSpPr>
          <p:cNvPr id="103428" name="Rectangle 4" descr="白色大理石">
            <a:extLst>
              <a:ext uri="{FF2B5EF4-FFF2-40B4-BE49-F238E27FC236}">
                <a16:creationId xmlns:a16="http://schemas.microsoft.com/office/drawing/2014/main" id="{F0A84EB5-08DF-64A7-B4F9-C10A7242EC89}"/>
              </a:ext>
            </a:extLst>
          </p:cNvPr>
          <p:cNvSpPr>
            <a:spLocks noChangeArrowheads="1"/>
          </p:cNvSpPr>
          <p:nvPr/>
        </p:nvSpPr>
        <p:spPr bwMode="auto">
          <a:xfrm>
            <a:off x="609600" y="2286000"/>
            <a:ext cx="8001000" cy="533400"/>
          </a:xfrm>
          <a:prstGeom prst="rect">
            <a:avLst/>
          </a:prstGeom>
          <a:blipFill dpi="0" rotWithShape="0">
            <a:blip r:embed="rId2"/>
            <a:srcRect/>
            <a:tile tx="0" ty="0" sx="100000" sy="100000" flip="none" algn="tl"/>
          </a:blipFill>
          <a:ln w="31750">
            <a:solidFill>
              <a:srgbClr val="339966"/>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a:ea typeface="宋体" panose="02010600030101010101" pitchFamily="2" charset="-122"/>
              </a:rPr>
              <a:t> </a:t>
            </a:r>
            <a:r>
              <a:rPr lang="en-US" altLang="zh-CN" sz="2800" b="1">
                <a:solidFill>
                  <a:schemeClr val="tx2"/>
                </a:solidFill>
                <a:ea typeface="宋体" panose="02010600030101010101" pitchFamily="2" charset="-122"/>
              </a:rPr>
              <a:t>Blum    Burke    Broad                    Ekers     Ederly</a:t>
            </a:r>
            <a:endParaRPr lang="en-US" altLang="zh-CN" sz="2800" b="1">
              <a:ea typeface="宋体" panose="02010600030101010101" pitchFamily="2" charset="-122"/>
            </a:endParaRPr>
          </a:p>
        </p:txBody>
      </p:sp>
      <p:sp>
        <p:nvSpPr>
          <p:cNvPr id="103429" name="Line 5">
            <a:extLst>
              <a:ext uri="{FF2B5EF4-FFF2-40B4-BE49-F238E27FC236}">
                <a16:creationId xmlns:a16="http://schemas.microsoft.com/office/drawing/2014/main" id="{DAC2CF10-F210-D4A1-2767-EA1A7B8100D1}"/>
              </a:ext>
            </a:extLst>
          </p:cNvPr>
          <p:cNvSpPr>
            <a:spLocks noChangeShapeType="1"/>
          </p:cNvSpPr>
          <p:nvPr/>
        </p:nvSpPr>
        <p:spPr bwMode="auto">
          <a:xfrm flipV="1">
            <a:off x="1828800" y="2286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0" name="Line 6">
            <a:extLst>
              <a:ext uri="{FF2B5EF4-FFF2-40B4-BE49-F238E27FC236}">
                <a16:creationId xmlns:a16="http://schemas.microsoft.com/office/drawing/2014/main" id="{89E53680-028A-6E41-399A-EF7D9C6AD0F4}"/>
              </a:ext>
            </a:extLst>
          </p:cNvPr>
          <p:cNvSpPr>
            <a:spLocks noChangeShapeType="1"/>
          </p:cNvSpPr>
          <p:nvPr/>
        </p:nvSpPr>
        <p:spPr bwMode="auto">
          <a:xfrm flipV="1">
            <a:off x="3124200" y="2286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1" name="Line 7">
            <a:extLst>
              <a:ext uri="{FF2B5EF4-FFF2-40B4-BE49-F238E27FC236}">
                <a16:creationId xmlns:a16="http://schemas.microsoft.com/office/drawing/2014/main" id="{1290BC20-699D-81D9-F23C-1F71D14C24B9}"/>
              </a:ext>
            </a:extLst>
          </p:cNvPr>
          <p:cNvSpPr>
            <a:spLocks noChangeShapeType="1"/>
          </p:cNvSpPr>
          <p:nvPr/>
        </p:nvSpPr>
        <p:spPr bwMode="auto">
          <a:xfrm flipV="1">
            <a:off x="4495800" y="2286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2" name="Line 8">
            <a:extLst>
              <a:ext uri="{FF2B5EF4-FFF2-40B4-BE49-F238E27FC236}">
                <a16:creationId xmlns:a16="http://schemas.microsoft.com/office/drawing/2014/main" id="{8ED528D1-869F-6FDE-4DEE-9A602E5372DE}"/>
              </a:ext>
            </a:extLst>
          </p:cNvPr>
          <p:cNvSpPr>
            <a:spLocks noChangeShapeType="1"/>
          </p:cNvSpPr>
          <p:nvPr/>
        </p:nvSpPr>
        <p:spPr bwMode="auto">
          <a:xfrm flipV="1">
            <a:off x="5867400" y="2286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3" name="Line 9">
            <a:extLst>
              <a:ext uri="{FF2B5EF4-FFF2-40B4-BE49-F238E27FC236}">
                <a16:creationId xmlns:a16="http://schemas.microsoft.com/office/drawing/2014/main" id="{2B4E5A14-6044-9B3A-918B-B436AEF3B590}"/>
              </a:ext>
            </a:extLst>
          </p:cNvPr>
          <p:cNvSpPr>
            <a:spLocks noChangeShapeType="1"/>
          </p:cNvSpPr>
          <p:nvPr/>
        </p:nvSpPr>
        <p:spPr bwMode="auto">
          <a:xfrm flipV="1">
            <a:off x="7239000" y="22860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4" name="Rectangle 10" descr="白色大理石">
            <a:extLst>
              <a:ext uri="{FF2B5EF4-FFF2-40B4-BE49-F238E27FC236}">
                <a16:creationId xmlns:a16="http://schemas.microsoft.com/office/drawing/2014/main" id="{06DE8233-29BF-BDF5-7132-9F280BF97C62}"/>
              </a:ext>
            </a:extLst>
          </p:cNvPr>
          <p:cNvSpPr>
            <a:spLocks noChangeArrowheads="1"/>
          </p:cNvSpPr>
          <p:nvPr/>
        </p:nvSpPr>
        <p:spPr bwMode="auto">
          <a:xfrm>
            <a:off x="609600" y="3733800"/>
            <a:ext cx="8001000" cy="533400"/>
          </a:xfrm>
          <a:prstGeom prst="rect">
            <a:avLst/>
          </a:prstGeom>
          <a:blipFill dpi="0" rotWithShape="0">
            <a:blip r:embed="rId2"/>
            <a:srcRect/>
            <a:tile tx="0" ty="0" sx="100000" sy="100000" flip="none" algn="tl"/>
          </a:blipFill>
          <a:ln w="31750">
            <a:solidFill>
              <a:srgbClr val="339966"/>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a:ea typeface="宋体" panose="02010600030101010101" pitchFamily="2" charset="-122"/>
              </a:rPr>
              <a:t>             </a:t>
            </a:r>
            <a:r>
              <a:rPr lang="en-US" altLang="zh-CN" sz="2800" b="1">
                <a:solidFill>
                  <a:schemeClr val="tx2"/>
                </a:solidFill>
                <a:ea typeface="宋体" panose="02010600030101010101" pitchFamily="2" charset="-122"/>
              </a:rPr>
              <a:t> Hecht </a:t>
            </a:r>
            <a:r>
              <a:rPr lang="en-US" altLang="zh-CN" sz="2800" b="1">
                <a:ea typeface="宋体" panose="02010600030101010101" pitchFamily="2" charset="-122"/>
              </a:rPr>
              <a:t>   </a:t>
            </a:r>
          </a:p>
        </p:txBody>
      </p:sp>
      <p:sp>
        <p:nvSpPr>
          <p:cNvPr id="103435" name="Line 11">
            <a:extLst>
              <a:ext uri="{FF2B5EF4-FFF2-40B4-BE49-F238E27FC236}">
                <a16:creationId xmlns:a16="http://schemas.microsoft.com/office/drawing/2014/main" id="{070E159B-D7BE-1E24-A644-9BD1C305BED3}"/>
              </a:ext>
            </a:extLst>
          </p:cNvPr>
          <p:cNvSpPr>
            <a:spLocks noChangeShapeType="1"/>
          </p:cNvSpPr>
          <p:nvPr/>
        </p:nvSpPr>
        <p:spPr bwMode="auto">
          <a:xfrm flipV="1">
            <a:off x="1828800" y="37338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6" name="Rectangle 12">
            <a:extLst>
              <a:ext uri="{FF2B5EF4-FFF2-40B4-BE49-F238E27FC236}">
                <a16:creationId xmlns:a16="http://schemas.microsoft.com/office/drawing/2014/main" id="{FAB10A66-85E7-2BD8-455A-80FDC260EC37}"/>
              </a:ext>
            </a:extLst>
          </p:cNvPr>
          <p:cNvSpPr>
            <a:spLocks noChangeArrowheads="1"/>
          </p:cNvSpPr>
          <p:nvPr/>
        </p:nvSpPr>
        <p:spPr bwMode="auto">
          <a:xfrm>
            <a:off x="730250" y="3276600"/>
            <a:ext cx="719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6              7               8                 9               10              11 </a:t>
            </a:r>
          </a:p>
        </p:txBody>
      </p:sp>
      <p:sp>
        <p:nvSpPr>
          <p:cNvPr id="103437" name="Line 13">
            <a:extLst>
              <a:ext uri="{FF2B5EF4-FFF2-40B4-BE49-F238E27FC236}">
                <a16:creationId xmlns:a16="http://schemas.microsoft.com/office/drawing/2014/main" id="{938CF7D6-9CAB-1CCD-C6F2-2680F5833AB5}"/>
              </a:ext>
            </a:extLst>
          </p:cNvPr>
          <p:cNvSpPr>
            <a:spLocks noChangeShapeType="1"/>
          </p:cNvSpPr>
          <p:nvPr/>
        </p:nvSpPr>
        <p:spPr bwMode="auto">
          <a:xfrm flipV="1">
            <a:off x="3124200" y="37338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8" name="Line 14">
            <a:extLst>
              <a:ext uri="{FF2B5EF4-FFF2-40B4-BE49-F238E27FC236}">
                <a16:creationId xmlns:a16="http://schemas.microsoft.com/office/drawing/2014/main" id="{F856397B-D5CE-C3B0-9EAC-7BC223F8B46C}"/>
              </a:ext>
            </a:extLst>
          </p:cNvPr>
          <p:cNvSpPr>
            <a:spLocks noChangeShapeType="1"/>
          </p:cNvSpPr>
          <p:nvPr/>
        </p:nvSpPr>
        <p:spPr bwMode="auto">
          <a:xfrm flipV="1">
            <a:off x="4495800" y="37338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9" name="Line 15">
            <a:extLst>
              <a:ext uri="{FF2B5EF4-FFF2-40B4-BE49-F238E27FC236}">
                <a16:creationId xmlns:a16="http://schemas.microsoft.com/office/drawing/2014/main" id="{E6A3FB23-4DB2-D0C1-4070-0098FA7B88D1}"/>
              </a:ext>
            </a:extLst>
          </p:cNvPr>
          <p:cNvSpPr>
            <a:spLocks noChangeShapeType="1"/>
          </p:cNvSpPr>
          <p:nvPr/>
        </p:nvSpPr>
        <p:spPr bwMode="auto">
          <a:xfrm flipV="1">
            <a:off x="5867400" y="37338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0" name="Line 16">
            <a:extLst>
              <a:ext uri="{FF2B5EF4-FFF2-40B4-BE49-F238E27FC236}">
                <a16:creationId xmlns:a16="http://schemas.microsoft.com/office/drawing/2014/main" id="{1B084CA9-E1F7-68CA-A873-4AA44AEE99A3}"/>
              </a:ext>
            </a:extLst>
          </p:cNvPr>
          <p:cNvSpPr>
            <a:spLocks noChangeShapeType="1"/>
          </p:cNvSpPr>
          <p:nvPr/>
        </p:nvSpPr>
        <p:spPr bwMode="auto">
          <a:xfrm flipV="1">
            <a:off x="7239000" y="37338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1" name="Rectangle 17" descr="白色大理石">
            <a:extLst>
              <a:ext uri="{FF2B5EF4-FFF2-40B4-BE49-F238E27FC236}">
                <a16:creationId xmlns:a16="http://schemas.microsoft.com/office/drawing/2014/main" id="{188FA321-7EFB-E34F-E268-968012B7149B}"/>
              </a:ext>
            </a:extLst>
          </p:cNvPr>
          <p:cNvSpPr>
            <a:spLocks noChangeArrowheads="1"/>
          </p:cNvSpPr>
          <p:nvPr/>
        </p:nvSpPr>
        <p:spPr bwMode="auto">
          <a:xfrm>
            <a:off x="609600" y="5181600"/>
            <a:ext cx="8001000" cy="533400"/>
          </a:xfrm>
          <a:prstGeom prst="rect">
            <a:avLst/>
          </a:prstGeom>
          <a:blipFill dpi="0" rotWithShape="0">
            <a:blip r:embed="rId2"/>
            <a:srcRect/>
            <a:tile tx="0" ty="0" sx="100000" sy="100000" flip="none" algn="tl"/>
          </a:blipFill>
          <a:ln w="31750">
            <a:solidFill>
              <a:srgbClr val="339966"/>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2800" b="1" dirty="0">
                <a:ea typeface="宋体" panose="02010600030101010101" pitchFamily="2" charset="-122"/>
              </a:rPr>
              <a:t>                          </a:t>
            </a:r>
            <a:r>
              <a:rPr lang="en-US" altLang="zh-CN" sz="2800" b="1" dirty="0">
                <a:solidFill>
                  <a:schemeClr val="tx2"/>
                </a:solidFill>
                <a:ea typeface="宋体" panose="02010600030101010101" pitchFamily="2" charset="-122"/>
              </a:rPr>
              <a:t>Alton                                 Attlee</a:t>
            </a:r>
            <a:r>
              <a:rPr lang="en-US" altLang="zh-CN" sz="2800" b="1" dirty="0">
                <a:ea typeface="宋体" panose="02010600030101010101" pitchFamily="2" charset="-122"/>
              </a:rPr>
              <a:t> </a:t>
            </a:r>
          </a:p>
        </p:txBody>
      </p:sp>
      <p:sp>
        <p:nvSpPr>
          <p:cNvPr id="103442" name="Line 18">
            <a:extLst>
              <a:ext uri="{FF2B5EF4-FFF2-40B4-BE49-F238E27FC236}">
                <a16:creationId xmlns:a16="http://schemas.microsoft.com/office/drawing/2014/main" id="{6FBA10AC-B83F-198A-22DD-C5F7349378D1}"/>
              </a:ext>
            </a:extLst>
          </p:cNvPr>
          <p:cNvSpPr>
            <a:spLocks noChangeShapeType="1"/>
          </p:cNvSpPr>
          <p:nvPr/>
        </p:nvSpPr>
        <p:spPr bwMode="auto">
          <a:xfrm flipV="1">
            <a:off x="1828800" y="51816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3" name="Line 19">
            <a:extLst>
              <a:ext uri="{FF2B5EF4-FFF2-40B4-BE49-F238E27FC236}">
                <a16:creationId xmlns:a16="http://schemas.microsoft.com/office/drawing/2014/main" id="{83ADADE4-822D-8C3B-5967-CCE07EB38ABE}"/>
              </a:ext>
            </a:extLst>
          </p:cNvPr>
          <p:cNvSpPr>
            <a:spLocks noChangeShapeType="1"/>
          </p:cNvSpPr>
          <p:nvPr/>
        </p:nvSpPr>
        <p:spPr bwMode="auto">
          <a:xfrm flipV="1">
            <a:off x="3124200" y="51816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4" name="Line 20">
            <a:extLst>
              <a:ext uri="{FF2B5EF4-FFF2-40B4-BE49-F238E27FC236}">
                <a16:creationId xmlns:a16="http://schemas.microsoft.com/office/drawing/2014/main" id="{6DC31D2A-E7F2-5063-0BB6-8FC2E2B46AEA}"/>
              </a:ext>
            </a:extLst>
          </p:cNvPr>
          <p:cNvSpPr>
            <a:spLocks noChangeShapeType="1"/>
          </p:cNvSpPr>
          <p:nvPr/>
        </p:nvSpPr>
        <p:spPr bwMode="auto">
          <a:xfrm flipV="1">
            <a:off x="4495800" y="51816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5" name="Line 21">
            <a:extLst>
              <a:ext uri="{FF2B5EF4-FFF2-40B4-BE49-F238E27FC236}">
                <a16:creationId xmlns:a16="http://schemas.microsoft.com/office/drawing/2014/main" id="{380CC334-1EDB-3C7C-C308-98021BFB9E8F}"/>
              </a:ext>
            </a:extLst>
          </p:cNvPr>
          <p:cNvSpPr>
            <a:spLocks noChangeShapeType="1"/>
          </p:cNvSpPr>
          <p:nvPr/>
        </p:nvSpPr>
        <p:spPr bwMode="auto">
          <a:xfrm flipV="1">
            <a:off x="5867400" y="51816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6" name="Line 22">
            <a:extLst>
              <a:ext uri="{FF2B5EF4-FFF2-40B4-BE49-F238E27FC236}">
                <a16:creationId xmlns:a16="http://schemas.microsoft.com/office/drawing/2014/main" id="{72B56A9F-4684-95CF-87A2-447A27291BF0}"/>
              </a:ext>
            </a:extLst>
          </p:cNvPr>
          <p:cNvSpPr>
            <a:spLocks noChangeShapeType="1"/>
          </p:cNvSpPr>
          <p:nvPr/>
        </p:nvSpPr>
        <p:spPr bwMode="auto">
          <a:xfrm flipV="1">
            <a:off x="7239000" y="5181600"/>
            <a:ext cx="0" cy="533400"/>
          </a:xfrm>
          <a:prstGeom prst="line">
            <a:avLst/>
          </a:prstGeom>
          <a:noFill/>
          <a:ln w="317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7" name="Rectangle 23">
            <a:extLst>
              <a:ext uri="{FF2B5EF4-FFF2-40B4-BE49-F238E27FC236}">
                <a16:creationId xmlns:a16="http://schemas.microsoft.com/office/drawing/2014/main" id="{B72A566A-C12B-22F0-5125-5D9BBF264BD9}"/>
              </a:ext>
            </a:extLst>
          </p:cNvPr>
          <p:cNvSpPr>
            <a:spLocks noChangeArrowheads="1"/>
          </p:cNvSpPr>
          <p:nvPr/>
        </p:nvSpPr>
        <p:spPr bwMode="auto">
          <a:xfrm>
            <a:off x="704850" y="2819400"/>
            <a:ext cx="714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solidFill>
                  <a:srgbClr val="FF3300"/>
                </a:solidFill>
                <a:latin typeface="Times New Roman" panose="02020603050405020304" pitchFamily="18" charset="0"/>
                <a:ea typeface="宋体" panose="02010600030101010101" pitchFamily="2" charset="-122"/>
              </a:rPr>
              <a:t>(3)           (1)             (2)                               (1)             (2)</a:t>
            </a:r>
            <a:endParaRPr kumimoji="1" lang="en-US" altLang="zh-CN" sz="2400">
              <a:latin typeface="Times New Roman" panose="02020603050405020304" pitchFamily="18" charset="0"/>
              <a:ea typeface="宋体" panose="02010600030101010101" pitchFamily="2" charset="-122"/>
            </a:endParaRPr>
          </a:p>
        </p:txBody>
      </p:sp>
      <p:sp>
        <p:nvSpPr>
          <p:cNvPr id="103448" name="Rectangle 24">
            <a:extLst>
              <a:ext uri="{FF2B5EF4-FFF2-40B4-BE49-F238E27FC236}">
                <a16:creationId xmlns:a16="http://schemas.microsoft.com/office/drawing/2014/main" id="{3179E3E7-E15D-656A-BB60-713F71AD224E}"/>
              </a:ext>
            </a:extLst>
          </p:cNvPr>
          <p:cNvSpPr>
            <a:spLocks noChangeArrowheads="1"/>
          </p:cNvSpPr>
          <p:nvPr/>
        </p:nvSpPr>
        <p:spPr bwMode="auto">
          <a:xfrm>
            <a:off x="1828800" y="42672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dirty="0">
                <a:solidFill>
                  <a:srgbClr val="FF3300"/>
                </a:solidFill>
                <a:latin typeface="Times New Roman" panose="02020603050405020304" pitchFamily="18" charset="0"/>
                <a:ea typeface="宋体" panose="02010600030101010101" pitchFamily="2" charset="-122"/>
              </a:rPr>
              <a:t>(1)</a:t>
            </a:r>
          </a:p>
        </p:txBody>
      </p:sp>
      <p:sp>
        <p:nvSpPr>
          <p:cNvPr id="103449" name="Rectangle 25">
            <a:extLst>
              <a:ext uri="{FF2B5EF4-FFF2-40B4-BE49-F238E27FC236}">
                <a16:creationId xmlns:a16="http://schemas.microsoft.com/office/drawing/2014/main" id="{C80F34AE-2CF6-515A-7EE7-06E385885C7D}"/>
              </a:ext>
            </a:extLst>
          </p:cNvPr>
          <p:cNvSpPr>
            <a:spLocks noChangeArrowheads="1"/>
          </p:cNvSpPr>
          <p:nvPr/>
        </p:nvSpPr>
        <p:spPr bwMode="auto">
          <a:xfrm>
            <a:off x="654050" y="4724400"/>
            <a:ext cx="711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25            26             27             28              29              30 </a:t>
            </a:r>
            <a:endParaRPr kumimoji="1" lang="en-US" altLang="zh-CN" sz="2400">
              <a:latin typeface="Times New Roman" panose="02020603050405020304" pitchFamily="18" charset="0"/>
              <a:ea typeface="宋体" panose="02010600030101010101" pitchFamily="2" charset="-122"/>
            </a:endParaRPr>
          </a:p>
        </p:txBody>
      </p:sp>
      <p:sp>
        <p:nvSpPr>
          <p:cNvPr id="103450" name="Rectangle 26">
            <a:extLst>
              <a:ext uri="{FF2B5EF4-FFF2-40B4-BE49-F238E27FC236}">
                <a16:creationId xmlns:a16="http://schemas.microsoft.com/office/drawing/2014/main" id="{03BD6DC8-8E17-6206-F9D0-3A679A31EBEF}"/>
              </a:ext>
            </a:extLst>
          </p:cNvPr>
          <p:cNvSpPr>
            <a:spLocks noChangeArrowheads="1"/>
          </p:cNvSpPr>
          <p:nvPr/>
        </p:nvSpPr>
        <p:spPr bwMode="auto">
          <a:xfrm>
            <a:off x="3124200" y="5715000"/>
            <a:ext cx="4705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dirty="0">
                <a:solidFill>
                  <a:srgbClr val="FF3300"/>
                </a:solidFill>
                <a:latin typeface="Times New Roman" panose="02020603050405020304" pitchFamily="18" charset="0"/>
                <a:ea typeface="宋体" panose="02010600030101010101" pitchFamily="2" charset="-122"/>
              </a:rPr>
              <a:t>(5)                                                  (3)</a:t>
            </a:r>
          </a:p>
        </p:txBody>
      </p:sp>
      <p:sp>
        <p:nvSpPr>
          <p:cNvPr id="2" name="标题 1">
            <a:extLst>
              <a:ext uri="{FF2B5EF4-FFF2-40B4-BE49-F238E27FC236}">
                <a16:creationId xmlns:a16="http://schemas.microsoft.com/office/drawing/2014/main" id="{DC6C330F-2792-4B19-BB50-30AE111D1B67}"/>
              </a:ext>
            </a:extLst>
          </p:cNvPr>
          <p:cNvSpPr>
            <a:spLocks noGrp="1"/>
          </p:cNvSpPr>
          <p:nvPr>
            <p:ph type="title"/>
          </p:nvPr>
        </p:nvSpPr>
        <p:spPr/>
        <p:txBody>
          <a:bodyPr/>
          <a:lstStyle/>
          <a:p>
            <a:r>
              <a:rPr lang="zh-CN" altLang="en-US" dirty="0"/>
              <a:t>利用二次探查法处理溢出</a:t>
            </a:r>
          </a:p>
        </p:txBody>
      </p:sp>
      <p:sp>
        <p:nvSpPr>
          <p:cNvPr id="3" name="灯片编号占位符 2">
            <a:extLst>
              <a:ext uri="{FF2B5EF4-FFF2-40B4-BE49-F238E27FC236}">
                <a16:creationId xmlns:a16="http://schemas.microsoft.com/office/drawing/2014/main" id="{B10EFDE0-C81B-6DD9-DCD9-B9581AF55999}"/>
              </a:ext>
            </a:extLst>
          </p:cNvPr>
          <p:cNvSpPr>
            <a:spLocks noGrp="1"/>
          </p:cNvSpPr>
          <p:nvPr>
            <p:ph type="sldNum" sz="quarter" idx="12"/>
          </p:nvPr>
        </p:nvSpPr>
        <p:spPr/>
        <p:txBody>
          <a:bodyPr/>
          <a:lstStyle/>
          <a:p>
            <a:pPr>
              <a:defRPr/>
            </a:pPr>
            <a:fld id="{693D3F4B-EB0A-495F-BD50-3B78EB1330C7}" type="slidenum">
              <a:rPr lang="en-US" altLang="zh-CN" smtClean="0"/>
              <a:pPr>
                <a:defRPr/>
              </a:pPr>
              <a:t>82</a:t>
            </a:fld>
            <a:endParaRPr lang="en-US" altLang="zh-CN"/>
          </a:p>
        </p:txBody>
      </p:sp>
    </p:spTree>
  </p:cSld>
  <p:clrMapOvr>
    <a:masterClrMapping/>
  </p:clrMapOvr>
  <p:transition>
    <p:spli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965E95B0-6B9B-4245-83B5-5512468C743D}"/>
              </a:ext>
            </a:extLst>
          </p:cNvPr>
          <p:cNvSpPr>
            <a:spLocks noGrp="1"/>
          </p:cNvSpPr>
          <p:nvPr>
            <p:ph type="title"/>
          </p:nvPr>
        </p:nvSpPr>
        <p:spPr/>
        <p:txBody>
          <a:bodyPr/>
          <a:lstStyle/>
          <a:p>
            <a:r>
              <a:rPr lang="zh-CN" altLang="en-US" dirty="0"/>
              <a:t>平均搜索长度</a:t>
            </a:r>
          </a:p>
        </p:txBody>
      </p:sp>
      <p:sp>
        <p:nvSpPr>
          <p:cNvPr id="494594" name="Rectangle 2">
            <a:extLst>
              <a:ext uri="{FF2B5EF4-FFF2-40B4-BE49-F238E27FC236}">
                <a16:creationId xmlns:a16="http://schemas.microsoft.com/office/drawing/2014/main" id="{55617198-D352-6343-7508-2A9C03737A15}"/>
              </a:ext>
            </a:extLst>
          </p:cNvPr>
          <p:cNvSpPr>
            <a:spLocks noGrp="1" noChangeArrowheads="1"/>
          </p:cNvSpPr>
          <p:nvPr>
            <p:ph type="body" idx="1"/>
          </p:nvPr>
        </p:nvSpPr>
        <p:spPr/>
        <p:txBody>
          <a:bodyPr/>
          <a:lstStyle/>
          <a:p>
            <a:r>
              <a:rPr lang="zh-CN" altLang="en-US" dirty="0"/>
              <a:t>使用二次探查法处理冲突时的搜索成功的平均搜索长度为：</a:t>
            </a:r>
          </a:p>
          <a:p>
            <a:endParaRPr lang="zh-CN" altLang="en-US" dirty="0"/>
          </a:p>
          <a:p>
            <a:endParaRPr lang="zh-CN" altLang="en-US" dirty="0"/>
          </a:p>
          <a:p>
            <a:r>
              <a:rPr lang="zh-CN" altLang="en-US" dirty="0"/>
              <a:t>搜索不成功的平均搜索长度为：</a:t>
            </a:r>
          </a:p>
          <a:p>
            <a:pPr lvl="2"/>
            <a:endParaRPr lang="en-US" altLang="zh-CN" dirty="0"/>
          </a:p>
        </p:txBody>
      </p:sp>
      <p:graphicFrame>
        <p:nvGraphicFramePr>
          <p:cNvPr id="104451" name="Object 0">
            <a:extLst>
              <a:ext uri="{FF2B5EF4-FFF2-40B4-BE49-F238E27FC236}">
                <a16:creationId xmlns:a16="http://schemas.microsoft.com/office/drawing/2014/main" id="{C62A5B73-8910-574C-2786-B8B62A7E0F65}"/>
              </a:ext>
            </a:extLst>
          </p:cNvPr>
          <p:cNvGraphicFramePr>
            <a:graphicFrameLocks noChangeAspect="1"/>
          </p:cNvGraphicFramePr>
          <p:nvPr>
            <p:extLst>
              <p:ext uri="{D42A27DB-BD31-4B8C-83A1-F6EECF244321}">
                <p14:modId xmlns:p14="http://schemas.microsoft.com/office/powerpoint/2010/main" val="1259940004"/>
              </p:ext>
            </p:extLst>
          </p:nvPr>
        </p:nvGraphicFramePr>
        <p:xfrm>
          <a:off x="1187624" y="2828166"/>
          <a:ext cx="7696200" cy="990600"/>
        </p:xfrm>
        <a:graphic>
          <a:graphicData uri="http://schemas.openxmlformats.org/presentationml/2006/ole">
            <mc:AlternateContent xmlns:mc="http://schemas.openxmlformats.org/markup-compatibility/2006">
              <mc:Choice xmlns:v="urn:schemas-microsoft-com:vml" Requires="v">
                <p:oleObj name="公式" r:id="rId2" imgW="3479800" imgH="431800" progId="Equation.3">
                  <p:embed/>
                </p:oleObj>
              </mc:Choice>
              <mc:Fallback>
                <p:oleObj name="公式" r:id="rId2" imgW="3479800" imgH="431800" progId="Equation.3">
                  <p:embed/>
                  <p:pic>
                    <p:nvPicPr>
                      <p:cNvPr id="0" name="Object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2828166"/>
                        <a:ext cx="76962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4452" name="Object 1">
            <a:extLst>
              <a:ext uri="{FF2B5EF4-FFF2-40B4-BE49-F238E27FC236}">
                <a16:creationId xmlns:a16="http://schemas.microsoft.com/office/drawing/2014/main" id="{1DED68BD-41C7-8193-8B04-8F9E826BFFFC}"/>
              </a:ext>
            </a:extLst>
          </p:cNvPr>
          <p:cNvGraphicFramePr>
            <a:graphicFrameLocks noChangeAspect="1"/>
          </p:cNvGraphicFramePr>
          <p:nvPr>
            <p:extLst>
              <p:ext uri="{D42A27DB-BD31-4B8C-83A1-F6EECF244321}">
                <p14:modId xmlns:p14="http://schemas.microsoft.com/office/powerpoint/2010/main" val="819150832"/>
              </p:ext>
            </p:extLst>
          </p:nvPr>
        </p:nvGraphicFramePr>
        <p:xfrm>
          <a:off x="1187624" y="4821307"/>
          <a:ext cx="6816725" cy="914400"/>
        </p:xfrm>
        <a:graphic>
          <a:graphicData uri="http://schemas.openxmlformats.org/presentationml/2006/ole">
            <mc:AlternateContent xmlns:mc="http://schemas.openxmlformats.org/markup-compatibility/2006">
              <mc:Choice xmlns:v="urn:schemas-microsoft-com:vml" Requires="v">
                <p:oleObj name="Equation" r:id="rId4" imgW="2997200" imgH="393700" progId="Equation.3">
                  <p:embed/>
                </p:oleObj>
              </mc:Choice>
              <mc:Fallback>
                <p:oleObj name="Equation" r:id="rId4" imgW="2997200" imgH="3937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624" y="4821307"/>
                        <a:ext cx="68167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7DBCDB04-8C0D-B0F6-F1C6-8146E26804FB}"/>
              </a:ext>
            </a:extLst>
          </p:cNvPr>
          <p:cNvSpPr>
            <a:spLocks noGrp="1"/>
          </p:cNvSpPr>
          <p:nvPr>
            <p:ph type="sldNum" sz="quarter" idx="12"/>
          </p:nvPr>
        </p:nvSpPr>
        <p:spPr/>
        <p:txBody>
          <a:bodyPr/>
          <a:lstStyle/>
          <a:p>
            <a:pPr>
              <a:defRPr/>
            </a:pPr>
            <a:fld id="{524B865F-46F8-4520-B0DD-31ED36EF62D9}" type="slidenum">
              <a:rPr lang="en-US" altLang="zh-CN" smtClean="0"/>
              <a:pPr>
                <a:defRPr/>
              </a:pPr>
              <a:t>83</a:t>
            </a:fld>
            <a:endParaRPr lang="en-US" altLang="zh-CN"/>
          </a:p>
        </p:txBody>
      </p:sp>
    </p:spTree>
  </p:cSld>
  <p:clrMapOvr>
    <a:masterClrMapping/>
  </p:clrMapOvr>
  <p:transition>
    <p:spli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475" name="Object 0">
            <a:extLst>
              <a:ext uri="{FF2B5EF4-FFF2-40B4-BE49-F238E27FC236}">
                <a16:creationId xmlns:a16="http://schemas.microsoft.com/office/drawing/2014/main" id="{B8E3012D-B892-4EEE-F65B-B9A1285CDE5F}"/>
              </a:ext>
            </a:extLst>
          </p:cNvPr>
          <p:cNvGraphicFramePr>
            <a:graphicFrameLocks noChangeAspect="1"/>
          </p:cNvGraphicFramePr>
          <p:nvPr>
            <p:extLst>
              <p:ext uri="{D42A27DB-BD31-4B8C-83A1-F6EECF244321}">
                <p14:modId xmlns:p14="http://schemas.microsoft.com/office/powerpoint/2010/main" val="3998273663"/>
              </p:ext>
            </p:extLst>
          </p:nvPr>
        </p:nvGraphicFramePr>
        <p:xfrm>
          <a:off x="1603631" y="1622019"/>
          <a:ext cx="4572000" cy="1174750"/>
        </p:xfrm>
        <a:graphic>
          <a:graphicData uri="http://schemas.openxmlformats.org/presentationml/2006/ole">
            <mc:AlternateContent xmlns:mc="http://schemas.openxmlformats.org/markup-compatibility/2006">
              <mc:Choice xmlns:v="urn:schemas-microsoft-com:vml" Requires="v">
                <p:oleObj name="公式" r:id="rId2" imgW="1790700" imgH="457200" progId="Equation.3">
                  <p:embed/>
                </p:oleObj>
              </mc:Choice>
              <mc:Fallback>
                <p:oleObj name="公式" r:id="rId2" imgW="1790700" imgH="457200" progId="Equation.3">
                  <p:embed/>
                  <p:pic>
                    <p:nvPicPr>
                      <p:cNvPr id="0" name="Object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631" y="1622019"/>
                        <a:ext cx="4572000" cy="117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5476" name="Object 1">
            <a:extLst>
              <a:ext uri="{FF2B5EF4-FFF2-40B4-BE49-F238E27FC236}">
                <a16:creationId xmlns:a16="http://schemas.microsoft.com/office/drawing/2014/main" id="{85DD7E35-D06E-DA74-3CF6-F0D261E3F0C6}"/>
              </a:ext>
            </a:extLst>
          </p:cNvPr>
          <p:cNvGraphicFramePr>
            <a:graphicFrameLocks noChangeAspect="1"/>
          </p:cNvGraphicFramePr>
          <p:nvPr>
            <p:extLst>
              <p:ext uri="{D42A27DB-BD31-4B8C-83A1-F6EECF244321}">
                <p14:modId xmlns:p14="http://schemas.microsoft.com/office/powerpoint/2010/main" val="2702834229"/>
              </p:ext>
            </p:extLst>
          </p:nvPr>
        </p:nvGraphicFramePr>
        <p:xfrm>
          <a:off x="1603631" y="2699599"/>
          <a:ext cx="4038600" cy="1179513"/>
        </p:xfrm>
        <a:graphic>
          <a:graphicData uri="http://schemas.openxmlformats.org/presentationml/2006/ole">
            <mc:AlternateContent xmlns:mc="http://schemas.openxmlformats.org/markup-compatibility/2006">
              <mc:Choice xmlns:v="urn:schemas-microsoft-com:vml" Requires="v">
                <p:oleObj name="公式" r:id="rId4" imgW="1447800" imgH="457200" progId="Equation.3">
                  <p:embed/>
                </p:oleObj>
              </mc:Choice>
              <mc:Fallback>
                <p:oleObj name="公式" r:id="rId4" imgW="1447800" imgH="4572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3631" y="2699599"/>
                        <a:ext cx="4038600" cy="117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5621" name="Rectangle 5">
            <a:extLst>
              <a:ext uri="{FF2B5EF4-FFF2-40B4-BE49-F238E27FC236}">
                <a16:creationId xmlns:a16="http://schemas.microsoft.com/office/drawing/2014/main" id="{C5B7A198-19EA-E67F-486E-8AD8A2BC7405}"/>
              </a:ext>
            </a:extLst>
          </p:cNvPr>
          <p:cNvSpPr>
            <a:spLocks noChangeArrowheads="1"/>
          </p:cNvSpPr>
          <p:nvPr/>
        </p:nvSpPr>
        <p:spPr bwMode="auto">
          <a:xfrm>
            <a:off x="412416" y="3916824"/>
            <a:ext cx="2646878" cy="830997"/>
          </a:xfrm>
          <a:prstGeom prst="rect">
            <a:avLst/>
          </a:prstGeom>
          <a:noFill/>
          <a:ln w="9525">
            <a:noFill/>
            <a:miter lim="800000"/>
            <a:headEnd/>
            <a:tailEnd/>
          </a:ln>
          <a:effectLst/>
        </p:spPr>
        <p:txBody>
          <a:bodyPr wrap="none">
            <a:spAutoFit/>
          </a:bodyPr>
          <a:lstStyle/>
          <a:p>
            <a:pPr>
              <a:defRPr/>
            </a:pPr>
            <a:r>
              <a:rPr lang="zh-CN" altLang="en-US" sz="2400" dirty="0"/>
              <a:t>相减，可以得到：</a:t>
            </a:r>
          </a:p>
          <a:p>
            <a:pPr>
              <a:defRPr/>
            </a:pPr>
            <a:endParaRPr lang="zh-CN" altLang="en-US" sz="2400" dirty="0"/>
          </a:p>
        </p:txBody>
      </p:sp>
      <p:graphicFrame>
        <p:nvGraphicFramePr>
          <p:cNvPr id="105478" name="Object 2">
            <a:extLst>
              <a:ext uri="{FF2B5EF4-FFF2-40B4-BE49-F238E27FC236}">
                <a16:creationId xmlns:a16="http://schemas.microsoft.com/office/drawing/2014/main" id="{EE63E457-1790-9DA0-D739-1DCDF919E28B}"/>
              </a:ext>
            </a:extLst>
          </p:cNvPr>
          <p:cNvGraphicFramePr>
            <a:graphicFrameLocks noChangeAspect="1"/>
          </p:cNvGraphicFramePr>
          <p:nvPr>
            <p:extLst>
              <p:ext uri="{D42A27DB-BD31-4B8C-83A1-F6EECF244321}">
                <p14:modId xmlns:p14="http://schemas.microsoft.com/office/powerpoint/2010/main" val="366523230"/>
              </p:ext>
            </p:extLst>
          </p:nvPr>
        </p:nvGraphicFramePr>
        <p:xfrm>
          <a:off x="1603631" y="4259448"/>
          <a:ext cx="5148262" cy="1190625"/>
        </p:xfrm>
        <a:graphic>
          <a:graphicData uri="http://schemas.openxmlformats.org/presentationml/2006/ole">
            <mc:AlternateContent xmlns:mc="http://schemas.openxmlformats.org/markup-compatibility/2006">
              <mc:Choice xmlns:v="urn:schemas-microsoft-com:vml" Requires="v">
                <p:oleObj name="公式" r:id="rId6" imgW="1943100" imgH="457200" progId="Equation.3">
                  <p:embed/>
                </p:oleObj>
              </mc:Choice>
              <mc:Fallback>
                <p:oleObj name="公式" r:id="rId6" imgW="1943100" imgH="4572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3631" y="4259448"/>
                        <a:ext cx="5148262"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5623" name="Rectangle 7">
            <a:extLst>
              <a:ext uri="{FF2B5EF4-FFF2-40B4-BE49-F238E27FC236}">
                <a16:creationId xmlns:a16="http://schemas.microsoft.com/office/drawing/2014/main" id="{9941D947-44B3-EDC6-918F-485CCF9A096D}"/>
              </a:ext>
            </a:extLst>
          </p:cNvPr>
          <p:cNvSpPr>
            <a:spLocks noChangeArrowheads="1"/>
          </p:cNvSpPr>
          <p:nvPr/>
        </p:nvSpPr>
        <p:spPr bwMode="auto">
          <a:xfrm>
            <a:off x="412416" y="5460481"/>
            <a:ext cx="800219" cy="461665"/>
          </a:xfrm>
          <a:prstGeom prst="rect">
            <a:avLst/>
          </a:prstGeom>
          <a:noFill/>
          <a:ln w="9525">
            <a:noFill/>
            <a:miter lim="800000"/>
            <a:headEnd/>
            <a:tailEnd/>
          </a:ln>
          <a:effectLst/>
        </p:spPr>
        <p:txBody>
          <a:bodyPr wrap="none">
            <a:spAutoFit/>
          </a:bodyPr>
          <a:lstStyle/>
          <a:p>
            <a:pPr>
              <a:defRPr/>
            </a:pPr>
            <a:r>
              <a:rPr lang="zh-CN" altLang="en-US" sz="2400" dirty="0"/>
              <a:t>从而</a:t>
            </a:r>
            <a:endParaRPr lang="zh-CN" altLang="en-US" sz="2400" dirty="0">
              <a:ea typeface="宋体" charset="-122"/>
            </a:endParaRPr>
          </a:p>
        </p:txBody>
      </p:sp>
      <p:graphicFrame>
        <p:nvGraphicFramePr>
          <p:cNvPr id="105480" name="Object 3">
            <a:extLst>
              <a:ext uri="{FF2B5EF4-FFF2-40B4-BE49-F238E27FC236}">
                <a16:creationId xmlns:a16="http://schemas.microsoft.com/office/drawing/2014/main" id="{F6AB0D36-2BC2-ADAE-5F57-DB5ABF98B222}"/>
              </a:ext>
            </a:extLst>
          </p:cNvPr>
          <p:cNvGraphicFramePr>
            <a:graphicFrameLocks noChangeAspect="1"/>
          </p:cNvGraphicFramePr>
          <p:nvPr>
            <p:extLst>
              <p:ext uri="{D42A27DB-BD31-4B8C-83A1-F6EECF244321}">
                <p14:modId xmlns:p14="http://schemas.microsoft.com/office/powerpoint/2010/main" val="2887149907"/>
              </p:ext>
            </p:extLst>
          </p:nvPr>
        </p:nvGraphicFramePr>
        <p:xfrm>
          <a:off x="1625062" y="5583826"/>
          <a:ext cx="5105400" cy="1147762"/>
        </p:xfrm>
        <a:graphic>
          <a:graphicData uri="http://schemas.openxmlformats.org/presentationml/2006/ole">
            <mc:AlternateContent xmlns:mc="http://schemas.openxmlformats.org/markup-compatibility/2006">
              <mc:Choice xmlns:v="urn:schemas-microsoft-com:vml" Requires="v">
                <p:oleObj name="公式" r:id="rId8" imgW="1841500" imgH="457200" progId="Equation.3">
                  <p:embed/>
                </p:oleObj>
              </mc:Choice>
              <mc:Fallback>
                <p:oleObj name="公式" r:id="rId8" imgW="1841500" imgH="4572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25062" y="5583826"/>
                        <a:ext cx="5105400" cy="1147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内容占位符 4">
            <a:extLst>
              <a:ext uri="{FF2B5EF4-FFF2-40B4-BE49-F238E27FC236}">
                <a16:creationId xmlns:a16="http://schemas.microsoft.com/office/drawing/2014/main" id="{E6CF94B2-9B03-4C01-8820-F544C7FEE363}"/>
              </a:ext>
            </a:extLst>
          </p:cNvPr>
          <p:cNvSpPr>
            <a:spLocks noGrp="1"/>
          </p:cNvSpPr>
          <p:nvPr>
            <p:ph idx="1"/>
          </p:nvPr>
        </p:nvSpPr>
        <p:spPr>
          <a:xfrm>
            <a:off x="412416" y="383797"/>
            <a:ext cx="8102934" cy="1475035"/>
          </a:xfrm>
        </p:spPr>
        <p:txBody>
          <a:bodyPr>
            <a:normAutofit fontScale="70000" lnSpcReduction="20000"/>
          </a:bodyPr>
          <a:lstStyle/>
          <a:p>
            <a:pPr marL="0" indent="0">
              <a:lnSpc>
                <a:spcPct val="120000"/>
              </a:lnSpc>
              <a:buNone/>
            </a:pPr>
            <a:r>
              <a:rPr lang="zh-CN" altLang="en-US" dirty="0"/>
              <a:t>设散列表桶数为 </a:t>
            </a:r>
            <a:r>
              <a:rPr lang="en-US" altLang="zh-CN" dirty="0"/>
              <a:t>m</a:t>
            </a:r>
            <a:r>
              <a:rPr lang="zh-CN" altLang="en-US" dirty="0"/>
              <a:t>，待查关键码为 </a:t>
            </a:r>
            <a:r>
              <a:rPr lang="en-US" altLang="zh-CN" dirty="0"/>
              <a:t>x</a:t>
            </a:r>
            <a:r>
              <a:rPr lang="zh-CN" altLang="en-US" dirty="0"/>
              <a:t>，第一次通过散列函数计算出的桶号为 </a:t>
            </a:r>
            <a:r>
              <a:rPr lang="en-US" altLang="zh-CN" dirty="0"/>
              <a:t>H</a:t>
            </a:r>
            <a:r>
              <a:rPr lang="en-US" altLang="zh-CN" baseline="-25000" dirty="0"/>
              <a:t>0</a:t>
            </a:r>
            <a:r>
              <a:rPr lang="en-US" altLang="zh-CN" dirty="0"/>
              <a:t>=hash(x)</a:t>
            </a:r>
            <a:r>
              <a:rPr lang="zh-CN" altLang="en-US" dirty="0"/>
              <a:t>。当发生冲突时，第 </a:t>
            </a:r>
            <a:r>
              <a:rPr lang="en-US" altLang="zh-CN" dirty="0"/>
              <a:t>i-1 </a:t>
            </a:r>
            <a:r>
              <a:rPr lang="zh-CN" altLang="en-US" dirty="0"/>
              <a:t>次和第 </a:t>
            </a:r>
            <a:r>
              <a:rPr lang="en-US" altLang="zh-CN" dirty="0" err="1"/>
              <a:t>i</a:t>
            </a:r>
            <a:r>
              <a:rPr lang="en-US" altLang="zh-CN" dirty="0"/>
              <a:t> </a:t>
            </a:r>
            <a:r>
              <a:rPr lang="zh-CN" altLang="en-US" dirty="0"/>
              <a:t>次计算出来的“下 一个”桶号分别为：</a:t>
            </a:r>
          </a:p>
        </p:txBody>
      </p:sp>
      <p:sp>
        <p:nvSpPr>
          <p:cNvPr id="2" name="灯片编号占位符 1">
            <a:extLst>
              <a:ext uri="{FF2B5EF4-FFF2-40B4-BE49-F238E27FC236}">
                <a16:creationId xmlns:a16="http://schemas.microsoft.com/office/drawing/2014/main" id="{0D55E523-20D7-22D0-F6C8-98CF91925E86}"/>
              </a:ext>
            </a:extLst>
          </p:cNvPr>
          <p:cNvSpPr>
            <a:spLocks noGrp="1"/>
          </p:cNvSpPr>
          <p:nvPr>
            <p:ph type="sldNum" sz="quarter" idx="12"/>
          </p:nvPr>
        </p:nvSpPr>
        <p:spPr/>
        <p:txBody>
          <a:bodyPr/>
          <a:lstStyle/>
          <a:p>
            <a:pPr>
              <a:defRPr/>
            </a:pPr>
            <a:fld id="{524B865F-46F8-4520-B0DD-31ED36EF62D9}" type="slidenum">
              <a:rPr lang="en-US" altLang="zh-CN" smtClean="0"/>
              <a:pPr>
                <a:defRPr/>
              </a:pPr>
              <a:t>84</a:t>
            </a:fld>
            <a:endParaRPr lang="en-US" altLang="zh-CN"/>
          </a:p>
        </p:txBody>
      </p:sp>
    </p:spTree>
  </p:cSld>
  <p:clrMapOvr>
    <a:masterClrMapping/>
  </p:clrMapOvr>
  <p:transition>
    <p:spli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96643" name="Rectangle 3">
                <a:extLst>
                  <a:ext uri="{FF2B5EF4-FFF2-40B4-BE49-F238E27FC236}">
                    <a16:creationId xmlns:a16="http://schemas.microsoft.com/office/drawing/2014/main" id="{6BDB7878-59F8-33B8-89C8-B4E2AF4C1A33}"/>
                  </a:ext>
                </a:extLst>
              </p:cNvPr>
              <p:cNvSpPr>
                <a:spLocks noGrp="1" noChangeArrowheads="1"/>
              </p:cNvSpPr>
              <p:nvPr>
                <p:ph type="body" idx="1"/>
              </p:nvPr>
            </p:nvSpPr>
            <p:spPr>
              <a:xfrm>
                <a:off x="628650" y="332656"/>
                <a:ext cx="8191822" cy="5844307"/>
              </a:xfrm>
            </p:spPr>
            <p:txBody>
              <a:bodyPr>
                <a:normAutofit fontScale="85000" lnSpcReduction="10000"/>
              </a:bodyPr>
              <a:lstStyle/>
              <a:p>
                <a:pPr>
                  <a:lnSpc>
                    <a:spcPct val="170000"/>
                  </a:lnSpc>
                </a:pPr>
                <a:r>
                  <a:rPr lang="zh-CN" altLang="en-US" dirty="0"/>
                  <a:t>当 </a:t>
                </a:r>
                <a:r>
                  <a:rPr lang="en-US" altLang="zh-CN" dirty="0" err="1"/>
                  <a:t>i</a:t>
                </a:r>
                <a:r>
                  <a:rPr lang="en-US" altLang="zh-CN" dirty="0"/>
                  <a:t> </a:t>
                </a:r>
                <a:r>
                  <a:rPr lang="zh-CN" altLang="en-US" dirty="0"/>
                  <a:t>增加 </a:t>
                </a:r>
                <a:r>
                  <a:rPr lang="en-US" altLang="zh-CN" dirty="0"/>
                  <a:t>1 </a:t>
                </a:r>
                <a:r>
                  <a:rPr lang="zh-CN" altLang="en-US" dirty="0"/>
                  <a:t>时就可以从</a:t>
                </a:r>
                <a14:m>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𝑯</m:t>
                        </m:r>
                      </m:e>
                      <m:sub>
                        <m:r>
                          <a:rPr lang="en-US" altLang="zh-CN" b="1" i="1" smtClean="0">
                            <a:latin typeface="Cambria Math" panose="02040503050406030204" pitchFamily="18" charset="0"/>
                          </a:rPr>
                          <m:t>𝒊</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m:t>
                        </m:r>
                        <m:r>
                          <a:rPr lang="en-US" altLang="zh-CN" b="1" i="1" smtClean="0">
                            <a:latin typeface="Cambria Math" panose="02040503050406030204" pitchFamily="18" charset="0"/>
                          </a:rPr>
                          <m:t>𝟎</m:t>
                        </m:r>
                        <m:r>
                          <a:rPr lang="en-US" altLang="zh-CN" b="1" i="1" smtClean="0">
                            <a:latin typeface="Cambria Math" panose="02040503050406030204" pitchFamily="18" charset="0"/>
                          </a:rPr>
                          <m:t>)</m:t>
                        </m:r>
                      </m:sup>
                    </m:sSubSup>
                  </m:oMath>
                </a14:m>
                <a:r>
                  <a:rPr lang="zh-CN" altLang="en-US" dirty="0"/>
                  <a:t>和</a:t>
                </a:r>
                <a14:m>
                  <m:oMath xmlns:m="http://schemas.openxmlformats.org/officeDocument/2006/math">
                    <m:sSubSup>
                      <m:sSubSupPr>
                        <m:ctrlPr>
                          <a:rPr lang="en-US" altLang="zh-CN" b="1" i="1">
                            <a:latin typeface="Cambria Math" panose="02040503050406030204" pitchFamily="18" charset="0"/>
                          </a:rPr>
                        </m:ctrlPr>
                      </m:sSubSupPr>
                      <m:e>
                        <m:r>
                          <a:rPr lang="en-US" altLang="zh-CN" b="1" i="1">
                            <a:latin typeface="Cambria Math" panose="02040503050406030204" pitchFamily="18" charset="0"/>
                          </a:rPr>
                          <m:t>𝑯</m:t>
                        </m:r>
                      </m:e>
                      <m:sub>
                        <m:r>
                          <a:rPr lang="en-US" altLang="zh-CN" b="1" i="1">
                            <a:latin typeface="Cambria Math" panose="02040503050406030204" pitchFamily="18" charset="0"/>
                          </a:rPr>
                          <m:t>𝒊</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b>
                      <m:sup>
                        <m:r>
                          <a:rPr lang="en-US" altLang="zh-CN" b="1" i="1">
                            <a:latin typeface="Cambria Math" panose="02040503050406030204" pitchFamily="18" charset="0"/>
                          </a:rPr>
                          <m:t>(</m:t>
                        </m:r>
                        <m:r>
                          <a:rPr lang="en-US" altLang="zh-CN" b="1" i="1" smtClean="0">
                            <a:latin typeface="Cambria Math" panose="02040503050406030204" pitchFamily="18" charset="0"/>
                          </a:rPr>
                          <m:t>𝟏</m:t>
                        </m:r>
                        <m:r>
                          <a:rPr lang="en-US" altLang="zh-CN" b="1" i="1">
                            <a:latin typeface="Cambria Math" panose="02040503050406030204" pitchFamily="18" charset="0"/>
                          </a:rPr>
                          <m:t>)</m:t>
                        </m:r>
                      </m:sup>
                    </m:sSubSup>
                    <m:r>
                      <a:rPr lang="zh-CN" altLang="en-US" b="1" i="1">
                        <a:latin typeface="Cambria Math" panose="02040503050406030204" pitchFamily="18" charset="0"/>
                      </a:rPr>
                      <m:t>用</m:t>
                    </m:r>
                  </m:oMath>
                </a14:m>
                <a:r>
                  <a:rPr lang="zh-CN" altLang="en-US" dirty="0"/>
                  <a:t>上式算出</a:t>
                </a:r>
                <a14:m>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𝑯</m:t>
                        </m:r>
                      </m:e>
                      <m:sub>
                        <m:r>
                          <a:rPr lang="en-US" altLang="zh-CN" b="1" i="1" smtClean="0">
                            <a:latin typeface="Cambria Math" panose="02040503050406030204" pitchFamily="18" charset="0"/>
                          </a:rPr>
                          <m:t>𝒊</m:t>
                        </m:r>
                      </m:sub>
                      <m:sup>
                        <m:r>
                          <a:rPr lang="en-US" altLang="zh-CN" b="1" i="1" smtClean="0">
                            <a:latin typeface="Cambria Math" panose="02040503050406030204" pitchFamily="18" charset="0"/>
                          </a:rPr>
                          <m:t>(</m:t>
                        </m:r>
                        <m:r>
                          <a:rPr lang="en-US" altLang="zh-CN" b="1" i="1" smtClean="0">
                            <a:latin typeface="Cambria Math" panose="02040503050406030204" pitchFamily="18" charset="0"/>
                          </a:rPr>
                          <m:t>𝟎</m:t>
                        </m:r>
                        <m:r>
                          <a:rPr lang="en-US" altLang="zh-CN" b="1" i="1" smtClean="0">
                            <a:latin typeface="Cambria Math" panose="02040503050406030204" pitchFamily="18" charset="0"/>
                          </a:rPr>
                          <m:t>)</m:t>
                        </m:r>
                      </m:sup>
                    </m:sSubSup>
                  </m:oMath>
                </a14:m>
                <a:r>
                  <a:rPr lang="zh-CN" altLang="en-US" dirty="0"/>
                  <a:t>和</a:t>
                </a:r>
                <a14:m>
                  <m:oMath xmlns:m="http://schemas.openxmlformats.org/officeDocument/2006/math">
                    <m:sSubSup>
                      <m:sSubSupPr>
                        <m:ctrlPr>
                          <a:rPr lang="en-US" altLang="zh-CN" b="1" i="1">
                            <a:latin typeface="Cambria Math" panose="02040503050406030204" pitchFamily="18" charset="0"/>
                          </a:rPr>
                        </m:ctrlPr>
                      </m:sSubSupPr>
                      <m:e>
                        <m:r>
                          <a:rPr lang="en-US" altLang="zh-CN" b="1" i="1">
                            <a:latin typeface="Cambria Math" panose="02040503050406030204" pitchFamily="18" charset="0"/>
                          </a:rPr>
                          <m:t>𝑯</m:t>
                        </m:r>
                      </m:e>
                      <m:sub>
                        <m:r>
                          <a:rPr lang="en-US" altLang="zh-CN" b="1" i="1">
                            <a:latin typeface="Cambria Math" panose="02040503050406030204" pitchFamily="18" charset="0"/>
                          </a:rPr>
                          <m:t>𝒊</m:t>
                        </m:r>
                      </m:sub>
                      <m:sup>
                        <m:r>
                          <a:rPr lang="en-US" altLang="zh-CN" b="1" i="1">
                            <a:latin typeface="Cambria Math" panose="02040503050406030204" pitchFamily="18" charset="0"/>
                          </a:rPr>
                          <m:t>(</m:t>
                        </m:r>
                        <m:r>
                          <a:rPr lang="en-US" altLang="zh-CN" b="1" i="1" smtClean="0">
                            <a:latin typeface="Cambria Math" panose="02040503050406030204" pitchFamily="18" charset="0"/>
                          </a:rPr>
                          <m:t>𝟏</m:t>
                        </m:r>
                        <m:r>
                          <a:rPr lang="en-US" altLang="zh-CN" b="1" i="1">
                            <a:latin typeface="Cambria Math" panose="02040503050406030204" pitchFamily="18" charset="0"/>
                          </a:rPr>
                          <m:t>)</m:t>
                        </m:r>
                      </m:sup>
                    </m:sSubSup>
                  </m:oMath>
                </a14:m>
                <a:r>
                  <a:rPr lang="zh-CN" altLang="en-US" dirty="0"/>
                  <a:t>，不需要每次计算 </a:t>
                </a:r>
                <a:r>
                  <a:rPr lang="en-US" altLang="zh-CN" dirty="0" err="1"/>
                  <a:t>i</a:t>
                </a:r>
                <a:r>
                  <a:rPr lang="en-US" altLang="zh-CN" dirty="0"/>
                  <a:t> </a:t>
                </a:r>
                <a:r>
                  <a:rPr lang="zh-CN" altLang="en-US" dirty="0"/>
                  <a:t>的平方。</a:t>
                </a:r>
              </a:p>
              <a:p>
                <a:r>
                  <a:rPr lang="zh-CN" altLang="en-US" dirty="0"/>
                  <a:t>在冲突处理算法</a:t>
                </a:r>
                <a:r>
                  <a:rPr lang="en-US" altLang="zh-CN" dirty="0" err="1"/>
                  <a:t>FindPos</a:t>
                </a:r>
                <a:r>
                  <a:rPr lang="zh-CN" altLang="en-US" dirty="0"/>
                  <a:t>中，首先求出 </a:t>
                </a:r>
                <a:r>
                  <a:rPr lang="en-US" altLang="zh-CN" dirty="0"/>
                  <a:t>H</a:t>
                </a:r>
                <a:r>
                  <a:rPr lang="en-US" altLang="zh-CN" baseline="-25000" dirty="0"/>
                  <a:t>0</a:t>
                </a:r>
                <a:r>
                  <a:rPr lang="en-US" altLang="zh-CN" dirty="0"/>
                  <a:t> </a:t>
                </a:r>
                <a:r>
                  <a:rPr lang="zh-CN" altLang="en-US" dirty="0"/>
                  <a:t>作为当前桶号</a:t>
                </a:r>
                <a:r>
                  <a:rPr lang="en-US" altLang="zh-CN" dirty="0" err="1"/>
                  <a:t>CurrentPos</a:t>
                </a:r>
                <a:r>
                  <a:rPr lang="zh-CN" altLang="en-US" dirty="0"/>
                  <a:t>，当发生冲突时求“下一个”桶号，初始时</a:t>
                </a:r>
                <a:r>
                  <a:rPr lang="en-US" altLang="zh-CN" dirty="0" err="1"/>
                  <a:t>i</a:t>
                </a:r>
                <a:r>
                  <a:rPr lang="en-US" altLang="zh-CN" dirty="0"/>
                  <a:t> = 1</a:t>
                </a:r>
                <a:r>
                  <a:rPr lang="zh-CN" altLang="en-US" dirty="0"/>
                  <a:t>。</a:t>
                </a:r>
              </a:p>
              <a:p>
                <a:r>
                  <a:rPr lang="zh-CN" altLang="en-US" dirty="0"/>
                  <a:t>此时用一个标志 </a:t>
                </a:r>
                <a:r>
                  <a:rPr lang="en-US" altLang="zh-CN" dirty="0"/>
                  <a:t>odd </a:t>
                </a:r>
                <a:r>
                  <a:rPr lang="zh-CN" altLang="en-US" dirty="0"/>
                  <a:t>控制是加 </a:t>
                </a:r>
                <a:r>
                  <a:rPr lang="en-US" altLang="zh-CN" dirty="0"/>
                  <a:t>i</a:t>
                </a:r>
                <a:r>
                  <a:rPr lang="en-US" altLang="zh-CN" baseline="30000" dirty="0"/>
                  <a:t>2</a:t>
                </a:r>
                <a:r>
                  <a:rPr lang="en-US" altLang="zh-CN" dirty="0"/>
                  <a:t> </a:t>
                </a:r>
                <a:r>
                  <a:rPr lang="zh-CN" altLang="en-US" dirty="0"/>
                  <a:t>还是减 </a:t>
                </a:r>
                <a:r>
                  <a:rPr lang="en-US" altLang="zh-CN" dirty="0"/>
                  <a:t>i</a:t>
                </a:r>
                <a:r>
                  <a:rPr lang="en-US" altLang="zh-CN" baseline="30000" dirty="0"/>
                  <a:t>2</a:t>
                </a:r>
                <a:r>
                  <a:rPr lang="en-US" altLang="zh-CN" dirty="0"/>
                  <a:t> </a:t>
                </a:r>
                <a:r>
                  <a:rPr lang="zh-CN" altLang="en-US" dirty="0"/>
                  <a:t>。</a:t>
                </a:r>
              </a:p>
              <a:p>
                <a:pPr lvl="1"/>
                <a:r>
                  <a:rPr lang="zh-CN" altLang="en-US" dirty="0"/>
                  <a:t>若 </a:t>
                </a:r>
                <a:r>
                  <a:rPr lang="en-US" altLang="zh-CN" dirty="0"/>
                  <a:t>odd == 0 </a:t>
                </a:r>
                <a:r>
                  <a:rPr lang="zh-CN" altLang="en-US" dirty="0"/>
                  <a:t>加 </a:t>
                </a:r>
                <a:r>
                  <a:rPr lang="en-US" altLang="zh-CN" dirty="0"/>
                  <a:t>i</a:t>
                </a:r>
                <a:r>
                  <a:rPr lang="en-US" altLang="zh-CN" baseline="30000" dirty="0"/>
                  <a:t>2</a:t>
                </a:r>
                <a:r>
                  <a:rPr lang="zh-CN" altLang="en-US" dirty="0"/>
                  <a:t>，并置 </a:t>
                </a:r>
                <a:r>
                  <a:rPr lang="en-US" altLang="zh-CN" dirty="0"/>
                  <a:t>odd = 1</a:t>
                </a:r>
                <a:r>
                  <a:rPr lang="zh-CN" altLang="en-US" dirty="0"/>
                  <a:t>；</a:t>
                </a:r>
              </a:p>
              <a:p>
                <a:pPr lvl="1"/>
                <a:r>
                  <a:rPr lang="zh-CN" altLang="en-US" dirty="0"/>
                  <a:t>若 </a:t>
                </a:r>
                <a:r>
                  <a:rPr lang="en-US" altLang="zh-CN" dirty="0"/>
                  <a:t>odd == 1 </a:t>
                </a:r>
                <a:r>
                  <a:rPr lang="zh-CN" altLang="en-US" dirty="0"/>
                  <a:t>减 </a:t>
                </a:r>
                <a:r>
                  <a:rPr lang="en-US" altLang="zh-CN" dirty="0"/>
                  <a:t>i</a:t>
                </a:r>
                <a:r>
                  <a:rPr lang="en-US" altLang="zh-CN" baseline="30000" dirty="0"/>
                  <a:t>2</a:t>
                </a:r>
                <a:r>
                  <a:rPr lang="zh-CN" altLang="en-US" dirty="0"/>
                  <a:t>，并置 </a:t>
                </a:r>
                <a:r>
                  <a:rPr lang="en-US" altLang="zh-CN" dirty="0"/>
                  <a:t>odd = 0</a:t>
                </a:r>
                <a:r>
                  <a:rPr lang="zh-CN" altLang="en-US" dirty="0"/>
                  <a:t>。</a:t>
                </a:r>
              </a:p>
              <a:p>
                <a:r>
                  <a:rPr lang="zh-CN" altLang="en-US" dirty="0"/>
                  <a:t>下次 </a:t>
                </a:r>
                <a:r>
                  <a:rPr lang="en-US" altLang="zh-CN" dirty="0" err="1"/>
                  <a:t>i</a:t>
                </a:r>
                <a:r>
                  <a:rPr lang="en-US" altLang="zh-CN" dirty="0"/>
                  <a:t> </a:t>
                </a:r>
                <a:r>
                  <a:rPr lang="zh-CN" altLang="en-US" dirty="0"/>
                  <a:t>加</a:t>
                </a:r>
                <a:r>
                  <a:rPr lang="en-US" altLang="zh-CN" dirty="0"/>
                  <a:t>1</a:t>
                </a:r>
                <a:r>
                  <a:rPr lang="zh-CN" altLang="en-US" dirty="0"/>
                  <a:t>后，又可由 </a:t>
                </a:r>
                <a:r>
                  <a:rPr lang="en-US" altLang="zh-CN" dirty="0"/>
                  <a:t>odd </a:t>
                </a:r>
                <a:r>
                  <a:rPr lang="zh-CN" altLang="en-US" dirty="0"/>
                  <a:t>控制先加后减。</a:t>
                </a:r>
              </a:p>
            </p:txBody>
          </p:sp>
        </mc:Choice>
        <mc:Fallback xmlns="">
          <p:sp>
            <p:nvSpPr>
              <p:cNvPr id="496643" name="Rectangle 3">
                <a:extLst>
                  <a:ext uri="{FF2B5EF4-FFF2-40B4-BE49-F238E27FC236}">
                    <a16:creationId xmlns:a16="http://schemas.microsoft.com/office/drawing/2014/main" id="{6BDB7878-59F8-33B8-89C8-B4E2AF4C1A33}"/>
                  </a:ext>
                </a:extLst>
              </p:cNvPr>
              <p:cNvSpPr>
                <a:spLocks noGrp="1" noRot="1" noChangeAspect="1" noMove="1" noResize="1" noEditPoints="1" noAdjustHandles="1" noChangeArrowheads="1" noChangeShapeType="1" noTextEdit="1"/>
              </p:cNvSpPr>
              <p:nvPr>
                <p:ph type="body" idx="1"/>
              </p:nvPr>
            </p:nvSpPr>
            <p:spPr>
              <a:xfrm>
                <a:off x="628650" y="332656"/>
                <a:ext cx="8191822" cy="5844307"/>
              </a:xfrm>
              <a:blipFill>
                <a:blip r:embed="rId2"/>
                <a:stretch>
                  <a:fillRect l="-1637"/>
                </a:stretch>
              </a:blipFill>
            </p:spPr>
            <p:txBody>
              <a:bodyPr/>
              <a:lstStyle/>
              <a:p>
                <a:r>
                  <a:rPr lang="zh-CN" altLang="en-US">
                    <a:noFill/>
                  </a:rPr>
                  <a:t> </a:t>
                </a:r>
              </a:p>
            </p:txBody>
          </p:sp>
        </mc:Fallback>
      </mc:AlternateContent>
      <p:sp>
        <p:nvSpPr>
          <p:cNvPr id="2" name="灯片编号占位符 1">
            <a:extLst>
              <a:ext uri="{FF2B5EF4-FFF2-40B4-BE49-F238E27FC236}">
                <a16:creationId xmlns:a16="http://schemas.microsoft.com/office/drawing/2014/main" id="{4B0A808A-7B4B-F62D-A687-62DF475BC095}"/>
              </a:ext>
            </a:extLst>
          </p:cNvPr>
          <p:cNvSpPr>
            <a:spLocks noGrp="1"/>
          </p:cNvSpPr>
          <p:nvPr>
            <p:ph type="sldNum" sz="quarter" idx="12"/>
          </p:nvPr>
        </p:nvSpPr>
        <p:spPr/>
        <p:txBody>
          <a:bodyPr/>
          <a:lstStyle/>
          <a:p>
            <a:pPr>
              <a:defRPr/>
            </a:pPr>
            <a:fld id="{524B865F-46F8-4520-B0DD-31ED36EF62D9}" type="slidenum">
              <a:rPr lang="en-US" altLang="zh-CN" smtClean="0"/>
              <a:pPr>
                <a:defRPr/>
              </a:pPr>
              <a:t>85</a:t>
            </a:fld>
            <a:endParaRPr lang="en-US" altLang="zh-CN"/>
          </a:p>
        </p:txBody>
      </p:sp>
    </p:spTree>
  </p:cSld>
  <p:clrMapOvr>
    <a:masterClrMapping/>
  </p:clrMapOvr>
  <p:transition>
    <p:spli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80BDF69-903E-4059-B862-88021824E23A}"/>
              </a:ext>
            </a:extLst>
          </p:cNvPr>
          <p:cNvSpPr>
            <a:spLocks noGrp="1"/>
          </p:cNvSpPr>
          <p:nvPr>
            <p:ph idx="1"/>
          </p:nvPr>
        </p:nvSpPr>
        <p:spPr>
          <a:xfrm>
            <a:off x="467544" y="332656"/>
            <a:ext cx="8352928" cy="6192688"/>
          </a:xfrm>
        </p:spPr>
        <p:txBody>
          <a:bodyPr>
            <a:normAutofit fontScale="62500" lnSpcReduction="20000"/>
          </a:bodyPr>
          <a:lstStyle/>
          <a:p>
            <a:pPr marL="0" indent="0">
              <a:buNone/>
            </a:pPr>
            <a:r>
              <a:rPr lang="en-US" altLang="zh-CN" dirty="0"/>
              <a:t>template &lt;class E, class K&gt; </a:t>
            </a:r>
          </a:p>
          <a:p>
            <a:pPr marL="0" indent="0">
              <a:buNone/>
            </a:pPr>
            <a:r>
              <a:rPr lang="en-US" altLang="zh-CN" dirty="0"/>
              <a:t>int </a:t>
            </a:r>
            <a:r>
              <a:rPr lang="en-US" altLang="zh-CN" dirty="0" err="1"/>
              <a:t>HashTable</a:t>
            </a:r>
            <a:r>
              <a:rPr lang="en-US" altLang="zh-CN" dirty="0"/>
              <a:t>&lt;E, K&gt; :: </a:t>
            </a:r>
            <a:r>
              <a:rPr lang="en-US" altLang="zh-CN" dirty="0" err="1"/>
              <a:t>FindPos</a:t>
            </a:r>
            <a:r>
              <a:rPr lang="en-US" altLang="zh-CN" dirty="0"/>
              <a:t> ( const K k1 ) {</a:t>
            </a:r>
          </a:p>
          <a:p>
            <a:pPr marL="0" indent="0">
              <a:buNone/>
            </a:pPr>
            <a:r>
              <a:rPr lang="en-US" altLang="zh-CN" dirty="0"/>
              <a:t>    int k = 0, odd = 0, j, i,i1, i2 ;  </a:t>
            </a:r>
            <a:r>
              <a:rPr lang="en-US" altLang="zh-CN" dirty="0" err="1"/>
              <a:t>i</a:t>
            </a:r>
            <a:r>
              <a:rPr lang="en-US" altLang="zh-CN" dirty="0"/>
              <a:t>=i1=i2 = k1 % divisor; </a:t>
            </a:r>
          </a:p>
          <a:p>
            <a:pPr marL="0" indent="0">
              <a:buNone/>
            </a:pPr>
            <a:r>
              <a:rPr lang="en-US" altLang="zh-CN" dirty="0"/>
              <a:t>    while ((info[</a:t>
            </a:r>
            <a:r>
              <a:rPr lang="en-US" altLang="zh-CN" dirty="0" err="1"/>
              <a:t>i</a:t>
            </a:r>
            <a:r>
              <a:rPr lang="en-US" altLang="zh-CN" dirty="0"/>
              <a:t>]==Active&amp;&amp;</a:t>
            </a:r>
            <a:r>
              <a:rPr lang="en-US" altLang="zh-CN" dirty="0" err="1"/>
              <a:t>ht</a:t>
            </a:r>
            <a:r>
              <a:rPr lang="en-US" altLang="zh-CN" dirty="0"/>
              <a:t>[</a:t>
            </a:r>
            <a:r>
              <a:rPr lang="en-US" altLang="zh-CN" dirty="0" err="1"/>
              <a:t>i</a:t>
            </a:r>
            <a:r>
              <a:rPr lang="en-US" altLang="zh-CN" dirty="0"/>
              <a:t>]!=k1)||(info[</a:t>
            </a:r>
            <a:r>
              <a:rPr lang="en-US" altLang="zh-CN" dirty="0" err="1"/>
              <a:t>i</a:t>
            </a:r>
            <a:r>
              <a:rPr lang="en-US" altLang="zh-CN" dirty="0"/>
              <a:t>]==Deleted)) {</a:t>
            </a:r>
          </a:p>
          <a:p>
            <a:pPr marL="0" indent="0">
              <a:buNone/>
            </a:pPr>
            <a:r>
              <a:rPr lang="en-US" altLang="zh-CN" dirty="0"/>
              <a:t>        if ( odd == 0 ) {       //odd == 0 </a:t>
            </a:r>
            <a:r>
              <a:rPr lang="zh-CN" altLang="en-US" dirty="0"/>
              <a:t>加 </a:t>
            </a:r>
            <a:r>
              <a:rPr lang="en-US" altLang="zh-CN" dirty="0"/>
              <a:t>i</a:t>
            </a:r>
            <a:r>
              <a:rPr lang="en-US" altLang="zh-CN" baseline="30000" dirty="0"/>
              <a:t>2</a:t>
            </a:r>
          </a:p>
          <a:p>
            <a:pPr marL="0" indent="0">
              <a:buNone/>
            </a:pPr>
            <a:r>
              <a:rPr lang="en-US" altLang="zh-CN" dirty="0"/>
              <a:t> 	  k++;       </a:t>
            </a:r>
            <a:r>
              <a:rPr lang="en-US" altLang="zh-CN" dirty="0" err="1"/>
              <a:t>i</a:t>
            </a:r>
            <a:r>
              <a:rPr lang="en-US" altLang="zh-CN" dirty="0"/>
              <a:t> = i1= ( i1 + 2*k -1) % </a:t>
            </a:r>
            <a:r>
              <a:rPr lang="en-US" altLang="zh-CN" dirty="0" err="1"/>
              <a:t>TableSize</a:t>
            </a:r>
            <a:r>
              <a:rPr lang="en-US" altLang="zh-CN" dirty="0"/>
              <a:t>;</a:t>
            </a:r>
          </a:p>
          <a:p>
            <a:pPr marL="0" indent="0">
              <a:buNone/>
            </a:pPr>
            <a:r>
              <a:rPr lang="en-US" altLang="zh-CN" dirty="0"/>
              <a:t>          odd = 1;</a:t>
            </a:r>
          </a:p>
          <a:p>
            <a:pPr marL="0" indent="0">
              <a:buNone/>
            </a:pPr>
            <a:r>
              <a:rPr lang="en-US" altLang="zh-CN" dirty="0"/>
              <a:t>        }</a:t>
            </a:r>
          </a:p>
          <a:p>
            <a:pPr marL="0" indent="0">
              <a:buNone/>
            </a:pPr>
            <a:r>
              <a:rPr lang="en-US" altLang="zh-CN" dirty="0"/>
              <a:t>        else {                       //odd == 0</a:t>
            </a:r>
            <a:r>
              <a:rPr lang="zh-CN" altLang="en-US" dirty="0"/>
              <a:t>减</a:t>
            </a:r>
            <a:r>
              <a:rPr lang="en-US" altLang="zh-CN" dirty="0"/>
              <a:t>i</a:t>
            </a:r>
            <a:r>
              <a:rPr lang="en-US" altLang="zh-CN" baseline="30000" dirty="0"/>
              <a:t>2</a:t>
            </a:r>
            <a:r>
              <a:rPr lang="en-US" altLang="zh-CN" dirty="0"/>
              <a:t> </a:t>
            </a:r>
          </a:p>
          <a:p>
            <a:pPr marL="0" indent="0">
              <a:buNone/>
            </a:pPr>
            <a:r>
              <a:rPr lang="en-US" altLang="zh-CN" dirty="0"/>
              <a:t>              </a:t>
            </a:r>
            <a:r>
              <a:rPr lang="en-US" altLang="zh-CN" dirty="0" err="1"/>
              <a:t>i</a:t>
            </a:r>
            <a:r>
              <a:rPr lang="en-US" altLang="zh-CN" dirty="0"/>
              <a:t> = i2 = ( i2 - 2*k +1) % </a:t>
            </a:r>
            <a:r>
              <a:rPr lang="en-US" altLang="zh-CN" dirty="0" err="1"/>
              <a:t>TableSize</a:t>
            </a:r>
            <a:r>
              <a:rPr lang="en-US" altLang="zh-CN" dirty="0"/>
              <a:t>;</a:t>
            </a:r>
          </a:p>
          <a:p>
            <a:pPr marL="0" indent="0">
              <a:buNone/>
            </a:pPr>
            <a:r>
              <a:rPr lang="en-US" altLang="zh-CN" dirty="0"/>
              <a:t>             odd = 0;      </a:t>
            </a:r>
          </a:p>
          <a:p>
            <a:pPr marL="0" indent="0">
              <a:buNone/>
            </a:pPr>
            <a:r>
              <a:rPr lang="en-US" altLang="zh-CN" dirty="0"/>
              <a:t>             if ( </a:t>
            </a:r>
            <a:r>
              <a:rPr lang="en-US" altLang="zh-CN" dirty="0" err="1"/>
              <a:t>i</a:t>
            </a:r>
            <a:r>
              <a:rPr lang="en-US" altLang="zh-CN" dirty="0"/>
              <a:t> &lt; 0 ) </a:t>
            </a:r>
            <a:r>
              <a:rPr lang="en-US" altLang="zh-CN" dirty="0" err="1"/>
              <a:t>i</a:t>
            </a:r>
            <a:r>
              <a:rPr lang="en-US" altLang="zh-CN" dirty="0"/>
              <a:t> = </a:t>
            </a:r>
            <a:r>
              <a:rPr lang="en-US" altLang="zh-CN" dirty="0" err="1"/>
              <a:t>i</a:t>
            </a:r>
            <a:r>
              <a:rPr lang="en-US" altLang="zh-CN" dirty="0"/>
              <a:t> + </a:t>
            </a:r>
            <a:r>
              <a:rPr lang="en-US" altLang="zh-CN" dirty="0" err="1"/>
              <a:t>TableSize</a:t>
            </a:r>
            <a:r>
              <a:rPr lang="en-US" altLang="zh-CN" dirty="0"/>
              <a:t>;</a:t>
            </a:r>
          </a:p>
          <a:p>
            <a:pPr marL="0" indent="0">
              <a:buNone/>
            </a:pPr>
            <a:r>
              <a:rPr lang="en-US" altLang="zh-CN" dirty="0"/>
              <a:t>        }</a:t>
            </a:r>
          </a:p>
          <a:p>
            <a:pPr marL="0" indent="0">
              <a:buNone/>
            </a:pPr>
            <a:r>
              <a:rPr lang="en-US" altLang="zh-CN" dirty="0"/>
              <a:t>    }</a:t>
            </a:r>
          </a:p>
          <a:p>
            <a:pPr marL="0" indent="0">
              <a:buNone/>
            </a:pPr>
            <a:r>
              <a:rPr lang="en-US" altLang="zh-CN" dirty="0"/>
              <a:t>    return </a:t>
            </a:r>
            <a:r>
              <a:rPr lang="en-US" altLang="zh-CN" dirty="0" err="1"/>
              <a:t>i</a:t>
            </a:r>
            <a:r>
              <a:rPr lang="en-US" altLang="zh-CN" dirty="0"/>
              <a:t>;</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2EE17B01-67B4-BD98-0FFF-7A4AC652390D}"/>
              </a:ext>
            </a:extLst>
          </p:cNvPr>
          <p:cNvSpPr>
            <a:spLocks noGrp="1"/>
          </p:cNvSpPr>
          <p:nvPr>
            <p:ph type="sldNum" sz="quarter" idx="12"/>
          </p:nvPr>
        </p:nvSpPr>
        <p:spPr/>
        <p:txBody>
          <a:bodyPr/>
          <a:lstStyle/>
          <a:p>
            <a:pPr>
              <a:defRPr/>
            </a:pPr>
            <a:fld id="{524B865F-46F8-4520-B0DD-31ED36EF62D9}" type="slidenum">
              <a:rPr lang="en-US" altLang="zh-CN" smtClean="0"/>
              <a:pPr>
                <a:defRPr/>
              </a:pPr>
              <a:t>86</a:t>
            </a:fld>
            <a:endParaRPr lang="en-US" altLang="zh-CN"/>
          </a:p>
        </p:txBody>
      </p:sp>
    </p:spTree>
  </p:cSld>
  <p:clrMapOvr>
    <a:masterClrMapping/>
  </p:clrMapOvr>
  <p:transition>
    <p:spli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89A4FD9-588B-40DC-9173-674836FF7B5D}"/>
              </a:ext>
            </a:extLst>
          </p:cNvPr>
          <p:cNvSpPr>
            <a:spLocks noGrp="1"/>
          </p:cNvSpPr>
          <p:nvPr>
            <p:ph type="title"/>
          </p:nvPr>
        </p:nvSpPr>
        <p:spPr/>
        <p:txBody>
          <a:bodyPr/>
          <a:lstStyle/>
          <a:p>
            <a:r>
              <a:rPr lang="zh-CN" altLang="en-US" dirty="0"/>
              <a:t>特点</a:t>
            </a:r>
          </a:p>
        </p:txBody>
      </p:sp>
      <p:sp>
        <p:nvSpPr>
          <p:cNvPr id="499714" name="Rectangle 2">
            <a:extLst>
              <a:ext uri="{FF2B5EF4-FFF2-40B4-BE49-F238E27FC236}">
                <a16:creationId xmlns:a16="http://schemas.microsoft.com/office/drawing/2014/main" id="{4F89FAFD-FFAC-F63C-9052-9AA7A8571AA3}"/>
              </a:ext>
            </a:extLst>
          </p:cNvPr>
          <p:cNvSpPr>
            <a:spLocks noGrp="1" noChangeArrowheads="1"/>
          </p:cNvSpPr>
          <p:nvPr>
            <p:ph type="body" idx="1"/>
          </p:nvPr>
        </p:nvSpPr>
        <p:spPr/>
        <p:txBody>
          <a:bodyPr>
            <a:normAutofit fontScale="62500" lnSpcReduction="20000"/>
          </a:bodyPr>
          <a:lstStyle/>
          <a:p>
            <a:pPr>
              <a:lnSpc>
                <a:spcPct val="120000"/>
              </a:lnSpc>
            </a:pPr>
            <a:r>
              <a:rPr lang="zh-CN" altLang="en-US" dirty="0"/>
              <a:t>有关研究证明，当表的长度</a:t>
            </a:r>
            <a:r>
              <a:rPr lang="en-US" altLang="zh-CN" dirty="0" err="1"/>
              <a:t>TableSize</a:t>
            </a:r>
            <a:r>
              <a:rPr lang="zh-CN" altLang="en-US" dirty="0"/>
              <a:t>为质数且表的装填因子</a:t>
            </a:r>
            <a:r>
              <a:rPr lang="zh-CN" altLang="en-US" dirty="0">
                <a:sym typeface="Symbol" pitchFamily="18" charset="2"/>
              </a:rPr>
              <a:t></a:t>
            </a:r>
            <a:r>
              <a:rPr lang="zh-CN" altLang="en-US" dirty="0"/>
              <a:t>不超过 </a:t>
            </a:r>
            <a:r>
              <a:rPr lang="en-US" altLang="zh-CN" dirty="0"/>
              <a:t>0.5 </a:t>
            </a:r>
            <a:r>
              <a:rPr lang="zh-CN" altLang="en-US" dirty="0"/>
              <a:t>时，新的表项 </a:t>
            </a:r>
            <a:r>
              <a:rPr lang="en-US" altLang="zh-CN" dirty="0"/>
              <a:t>e </a:t>
            </a:r>
            <a:r>
              <a:rPr lang="zh-CN" altLang="en-US" dirty="0"/>
              <a:t>一定能够插入，且任何一个位置不会被探查两次。即只要表中至少有一半空，就不会有表满问题。</a:t>
            </a:r>
          </a:p>
          <a:p>
            <a:pPr>
              <a:lnSpc>
                <a:spcPct val="120000"/>
              </a:lnSpc>
            </a:pPr>
            <a:r>
              <a:rPr lang="zh-CN" altLang="en-US" dirty="0"/>
              <a:t>在搜索时可以不考虑表满的情况，但在插入时必须确保表的装填因子</a:t>
            </a:r>
            <a:r>
              <a:rPr lang="zh-CN" altLang="en-US" dirty="0">
                <a:sym typeface="Symbol" pitchFamily="18" charset="2"/>
              </a:rPr>
              <a:t></a:t>
            </a:r>
            <a:r>
              <a:rPr lang="zh-CN" altLang="en-US" dirty="0"/>
              <a:t>不超过</a:t>
            </a:r>
            <a:r>
              <a:rPr lang="en-US" altLang="zh-CN" dirty="0"/>
              <a:t>0.5</a:t>
            </a:r>
            <a:r>
              <a:rPr lang="zh-CN" altLang="en-US" dirty="0"/>
              <a:t>。</a:t>
            </a:r>
            <a:endParaRPr lang="en-US" altLang="zh-CN" dirty="0"/>
          </a:p>
          <a:p>
            <a:pPr lvl="1">
              <a:lnSpc>
                <a:spcPct val="120000"/>
              </a:lnSpc>
            </a:pPr>
            <a:r>
              <a:rPr lang="zh-CN" altLang="en-US" dirty="0"/>
              <a:t>如果超出，必须将表长度扩充一倍，进行表的分裂（原来表中的元素按新的散列函数逐一计算重新插入新表中）。</a:t>
            </a:r>
          </a:p>
          <a:p>
            <a:pPr>
              <a:lnSpc>
                <a:spcPct val="120000"/>
              </a:lnSpc>
            </a:pPr>
            <a:r>
              <a:rPr lang="zh-CN" altLang="en-US" dirty="0"/>
              <a:t>在删除一个表项时，为确保搜索链不致中断，也只能做表项的逻辑删除，即将被删元素的标记</a:t>
            </a:r>
            <a:r>
              <a:rPr lang="en-US" altLang="zh-CN" dirty="0"/>
              <a:t>info</a:t>
            </a:r>
            <a:r>
              <a:rPr lang="zh-CN" altLang="en-US" dirty="0"/>
              <a:t>改为</a:t>
            </a:r>
            <a:r>
              <a:rPr lang="en-US" altLang="zh-CN" dirty="0"/>
              <a:t>Deleted</a:t>
            </a:r>
            <a:r>
              <a:rPr lang="zh-CN" altLang="en-US" dirty="0"/>
              <a:t>。</a:t>
            </a:r>
          </a:p>
        </p:txBody>
      </p:sp>
      <p:sp>
        <p:nvSpPr>
          <p:cNvPr id="2" name="灯片编号占位符 1">
            <a:extLst>
              <a:ext uri="{FF2B5EF4-FFF2-40B4-BE49-F238E27FC236}">
                <a16:creationId xmlns:a16="http://schemas.microsoft.com/office/drawing/2014/main" id="{482B5B1E-A055-4968-A432-8E30B5D8B5F3}"/>
              </a:ext>
            </a:extLst>
          </p:cNvPr>
          <p:cNvSpPr>
            <a:spLocks noGrp="1"/>
          </p:cNvSpPr>
          <p:nvPr>
            <p:ph type="sldNum" sz="quarter" idx="12"/>
          </p:nvPr>
        </p:nvSpPr>
        <p:spPr/>
        <p:txBody>
          <a:bodyPr/>
          <a:lstStyle/>
          <a:p>
            <a:pPr>
              <a:defRPr/>
            </a:pPr>
            <a:fld id="{524B865F-46F8-4520-B0DD-31ED36EF62D9}" type="slidenum">
              <a:rPr lang="en-US" altLang="zh-CN" smtClean="0"/>
              <a:pPr>
                <a:defRPr/>
              </a:pPr>
              <a:t>87</a:t>
            </a:fld>
            <a:endParaRPr lang="en-US" altLang="zh-CN"/>
          </a:p>
        </p:txBody>
      </p:sp>
    </p:spTree>
  </p:cSld>
  <p:clrMapOvr>
    <a:masterClrMapping/>
  </p:clrMapOvr>
  <p:transition>
    <p:spli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1A8E74E9-A3AA-6BA8-B239-7F9AD47742AA}"/>
              </a:ext>
            </a:extLst>
          </p:cNvPr>
          <p:cNvSpPr>
            <a:spLocks noGrp="1" noChangeArrowheads="1"/>
          </p:cNvSpPr>
          <p:nvPr>
            <p:ph type="title"/>
          </p:nvPr>
        </p:nvSpPr>
        <p:spPr/>
        <p:txBody>
          <a:bodyPr/>
          <a:lstStyle/>
          <a:p>
            <a:r>
              <a:rPr lang="en-US" altLang="zh-CN" dirty="0"/>
              <a:t>(3) </a:t>
            </a:r>
            <a:r>
              <a:rPr lang="zh-CN" altLang="en-US" dirty="0"/>
              <a:t>双散列法</a:t>
            </a:r>
          </a:p>
        </p:txBody>
      </p:sp>
      <p:sp>
        <p:nvSpPr>
          <p:cNvPr id="3" name="内容占位符 2">
            <a:extLst>
              <a:ext uri="{FF2B5EF4-FFF2-40B4-BE49-F238E27FC236}">
                <a16:creationId xmlns:a16="http://schemas.microsoft.com/office/drawing/2014/main" id="{D892D678-EEA6-421E-ADC1-951988FCB473}"/>
              </a:ext>
            </a:extLst>
          </p:cNvPr>
          <p:cNvSpPr>
            <a:spLocks noGrp="1"/>
          </p:cNvSpPr>
          <p:nvPr>
            <p:ph idx="1"/>
          </p:nvPr>
        </p:nvSpPr>
        <p:spPr/>
        <p:txBody>
          <a:bodyPr>
            <a:normAutofit fontScale="85000" lnSpcReduction="20000"/>
          </a:bodyPr>
          <a:lstStyle/>
          <a:p>
            <a:r>
              <a:rPr lang="zh-CN" altLang="en-US" dirty="0"/>
              <a:t>使用双散列方法时，需要两个散列函数。</a:t>
            </a:r>
          </a:p>
          <a:p>
            <a:pPr lvl="1"/>
            <a:r>
              <a:rPr lang="zh-CN" altLang="en-US" dirty="0"/>
              <a:t>第一个散列函数 </a:t>
            </a:r>
            <a:r>
              <a:rPr lang="en-US" altLang="zh-CN" dirty="0"/>
              <a:t>Hash( ) </a:t>
            </a:r>
            <a:r>
              <a:rPr lang="zh-CN" altLang="en-US" dirty="0"/>
              <a:t>按表项的关键码 </a:t>
            </a:r>
            <a:r>
              <a:rPr lang="en-US" altLang="zh-CN" dirty="0"/>
              <a:t>key </a:t>
            </a:r>
            <a:r>
              <a:rPr lang="zh-CN" altLang="en-US" dirty="0"/>
              <a:t>计算表项所在的桶号 </a:t>
            </a:r>
            <a:r>
              <a:rPr lang="en-US" altLang="zh-CN" dirty="0"/>
              <a:t>H</a:t>
            </a:r>
            <a:r>
              <a:rPr lang="en-US" altLang="zh-CN" baseline="-25000" dirty="0"/>
              <a:t>0</a:t>
            </a:r>
            <a:r>
              <a:rPr lang="en-US" altLang="zh-CN" dirty="0"/>
              <a:t> = Hash(key)</a:t>
            </a:r>
            <a:r>
              <a:rPr lang="zh-CN" altLang="en-US" dirty="0"/>
              <a:t>。</a:t>
            </a:r>
          </a:p>
          <a:p>
            <a:pPr lvl="1"/>
            <a:r>
              <a:rPr lang="zh-CN" altLang="en-US" dirty="0"/>
              <a:t>一旦冲突，利用第二个散列函数 </a:t>
            </a:r>
            <a:r>
              <a:rPr lang="en-US" altLang="zh-CN" dirty="0" err="1"/>
              <a:t>ReHash</a:t>
            </a:r>
            <a:r>
              <a:rPr lang="en-US" altLang="zh-CN" dirty="0"/>
              <a:t>( ) </a:t>
            </a:r>
            <a:r>
              <a:rPr lang="zh-CN" altLang="en-US" dirty="0"/>
              <a:t>计算该表项到达“下一个”桶的移动量。它的取值与 </a:t>
            </a:r>
            <a:r>
              <a:rPr lang="en-US" altLang="zh-CN" dirty="0"/>
              <a:t>key </a:t>
            </a:r>
            <a:r>
              <a:rPr lang="zh-CN" altLang="en-US" dirty="0"/>
              <a:t>的值有关，要求它的取值应是小于地址空间大小 </a:t>
            </a:r>
            <a:r>
              <a:rPr lang="en-US" altLang="zh-CN" dirty="0" err="1"/>
              <a:t>TableSize</a:t>
            </a:r>
            <a:r>
              <a:rPr lang="zh-CN" altLang="en-US" dirty="0"/>
              <a:t>，且与 </a:t>
            </a:r>
            <a:r>
              <a:rPr lang="en-US" altLang="zh-CN" dirty="0" err="1"/>
              <a:t>TableSize</a:t>
            </a:r>
            <a:r>
              <a:rPr lang="en-US" altLang="zh-CN" dirty="0"/>
              <a:t> </a:t>
            </a:r>
            <a:r>
              <a:rPr lang="zh-CN" altLang="en-US" dirty="0"/>
              <a:t>互质的正整数。</a:t>
            </a:r>
          </a:p>
          <a:p>
            <a:r>
              <a:rPr lang="zh-CN" altLang="en-US" dirty="0"/>
              <a:t>在表中寻找“下一个”桶的公式为：</a:t>
            </a:r>
          </a:p>
          <a:p>
            <a:pPr lvl="1"/>
            <a:r>
              <a:rPr lang="en-US" altLang="zh-CN" dirty="0"/>
              <a:t>j = H</a:t>
            </a:r>
            <a:r>
              <a:rPr lang="en-US" altLang="zh-CN" baseline="-25000" dirty="0"/>
              <a:t>0</a:t>
            </a:r>
            <a:r>
              <a:rPr lang="en-US" altLang="zh-CN" dirty="0"/>
              <a:t> = Hash(key)</a:t>
            </a:r>
            <a:r>
              <a:rPr lang="zh-CN" altLang="en-US" dirty="0"/>
              <a:t>，  </a:t>
            </a:r>
            <a:r>
              <a:rPr lang="en-US" altLang="zh-CN" dirty="0"/>
              <a:t>p = </a:t>
            </a:r>
            <a:r>
              <a:rPr lang="en-US" altLang="zh-CN" dirty="0" err="1"/>
              <a:t>ReHash</a:t>
            </a:r>
            <a:r>
              <a:rPr lang="en-US" altLang="zh-CN" dirty="0"/>
              <a:t>(key)</a:t>
            </a:r>
            <a:r>
              <a:rPr lang="zh-CN" altLang="en-US" dirty="0"/>
              <a:t>；</a:t>
            </a:r>
          </a:p>
          <a:p>
            <a:pPr lvl="1"/>
            <a:r>
              <a:rPr lang="en-US" altLang="zh-CN" dirty="0"/>
              <a:t>j = ( j + p ) % m</a:t>
            </a:r>
            <a:r>
              <a:rPr lang="zh-CN" altLang="en-US" dirty="0"/>
              <a:t>； </a:t>
            </a:r>
          </a:p>
          <a:p>
            <a:pPr lvl="1"/>
            <a:r>
              <a:rPr lang="en-US" altLang="zh-CN" b="1" dirty="0"/>
              <a:t>m = </a:t>
            </a:r>
            <a:r>
              <a:rPr lang="en-US" altLang="zh-CN" b="1" dirty="0" err="1"/>
              <a:t>TableSize</a:t>
            </a:r>
            <a:r>
              <a:rPr lang="zh-CN" altLang="en-US" b="1" dirty="0"/>
              <a:t>，</a:t>
            </a:r>
            <a:r>
              <a:rPr lang="en-US" altLang="zh-CN" b="1" dirty="0"/>
              <a:t>p</a:t>
            </a:r>
            <a:r>
              <a:rPr lang="zh-CN" altLang="en-US" b="1" dirty="0"/>
              <a:t>是小于</a:t>
            </a:r>
            <a:r>
              <a:rPr lang="en-US" altLang="zh-CN" b="1" dirty="0"/>
              <a:t>m</a:t>
            </a:r>
            <a:r>
              <a:rPr lang="zh-CN" altLang="en-US" b="1" dirty="0"/>
              <a:t>且与</a:t>
            </a:r>
            <a:r>
              <a:rPr lang="en-US" altLang="zh-CN" b="1" dirty="0"/>
              <a:t>m</a:t>
            </a:r>
            <a:r>
              <a:rPr lang="zh-CN" altLang="en-US" b="1" dirty="0"/>
              <a:t>互质的整数</a:t>
            </a:r>
          </a:p>
          <a:p>
            <a:endParaRPr lang="zh-CN" altLang="en-US" dirty="0"/>
          </a:p>
        </p:txBody>
      </p:sp>
      <p:sp>
        <p:nvSpPr>
          <p:cNvPr id="2" name="灯片编号占位符 1">
            <a:extLst>
              <a:ext uri="{FF2B5EF4-FFF2-40B4-BE49-F238E27FC236}">
                <a16:creationId xmlns:a16="http://schemas.microsoft.com/office/drawing/2014/main" id="{D16E81B6-B2D1-354B-C443-D32C7671CE52}"/>
              </a:ext>
            </a:extLst>
          </p:cNvPr>
          <p:cNvSpPr>
            <a:spLocks noGrp="1"/>
          </p:cNvSpPr>
          <p:nvPr>
            <p:ph type="sldNum" sz="quarter" idx="12"/>
          </p:nvPr>
        </p:nvSpPr>
        <p:spPr/>
        <p:txBody>
          <a:bodyPr/>
          <a:lstStyle/>
          <a:p>
            <a:pPr>
              <a:defRPr/>
            </a:pPr>
            <a:fld id="{524B865F-46F8-4520-B0DD-31ED36EF62D9}" type="slidenum">
              <a:rPr lang="en-US" altLang="zh-CN" smtClean="0"/>
              <a:pPr>
                <a:defRPr/>
              </a:pPr>
              <a:t>88</a:t>
            </a:fld>
            <a:endParaRPr lang="en-US" altLang="zh-CN"/>
          </a:p>
        </p:txBody>
      </p:sp>
    </p:spTree>
  </p:cSld>
  <p:clrMapOvr>
    <a:masterClrMapping/>
  </p:clrMapOvr>
  <p:transition>
    <p:spli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D1606AF-D225-46CA-86CB-57D08C5BC9A5}"/>
              </a:ext>
            </a:extLst>
          </p:cNvPr>
          <p:cNvSpPr>
            <a:spLocks noGrp="1"/>
          </p:cNvSpPr>
          <p:nvPr>
            <p:ph type="title"/>
          </p:nvPr>
        </p:nvSpPr>
        <p:spPr>
          <a:xfrm>
            <a:off x="628650" y="365125"/>
            <a:ext cx="7886700" cy="1325563"/>
          </a:xfrm>
        </p:spPr>
        <p:txBody>
          <a:bodyPr/>
          <a:lstStyle/>
          <a:p>
            <a:r>
              <a:rPr lang="zh-CN" altLang="en-US" dirty="0"/>
              <a:t>特点</a:t>
            </a:r>
          </a:p>
        </p:txBody>
      </p:sp>
      <p:sp>
        <p:nvSpPr>
          <p:cNvPr id="501762" name="Rectangle 2">
            <a:extLst>
              <a:ext uri="{FF2B5EF4-FFF2-40B4-BE49-F238E27FC236}">
                <a16:creationId xmlns:a16="http://schemas.microsoft.com/office/drawing/2014/main" id="{19AE5E62-CA8E-1194-6B66-C6FA9599F5A3}"/>
              </a:ext>
            </a:extLst>
          </p:cNvPr>
          <p:cNvSpPr>
            <a:spLocks noGrp="1" noChangeArrowheads="1"/>
          </p:cNvSpPr>
          <p:nvPr>
            <p:ph idx="1"/>
          </p:nvPr>
        </p:nvSpPr>
        <p:spPr>
          <a:xfrm>
            <a:off x="628650" y="1825625"/>
            <a:ext cx="7886700" cy="4351338"/>
          </a:xfrm>
        </p:spPr>
        <p:txBody>
          <a:bodyPr>
            <a:normAutofit/>
          </a:bodyPr>
          <a:lstStyle/>
          <a:p>
            <a:r>
              <a:rPr lang="zh-CN" altLang="en-US" dirty="0"/>
              <a:t>双散列法按一定的距离，跳跃式地寻找“下一个”桶，减少了“堆积”的机会。</a:t>
            </a:r>
          </a:p>
          <a:p>
            <a:r>
              <a:rPr lang="zh-CN" altLang="en-US" dirty="0"/>
              <a:t>双散列法的探查序列也可写成：</a:t>
            </a:r>
          </a:p>
          <a:p>
            <a:pPr lvl="1"/>
            <a:r>
              <a:rPr lang="en-US" altLang="zh-CN" dirty="0"/>
              <a:t>H</a:t>
            </a:r>
            <a:r>
              <a:rPr lang="en-US" altLang="zh-CN" baseline="-25000" dirty="0"/>
              <a:t>i</a:t>
            </a:r>
            <a:r>
              <a:rPr lang="en-US" altLang="zh-CN" dirty="0"/>
              <a:t> = (H</a:t>
            </a:r>
            <a:r>
              <a:rPr lang="en-US" altLang="zh-CN" baseline="-25000" dirty="0"/>
              <a:t>0</a:t>
            </a:r>
            <a:r>
              <a:rPr lang="en-US" altLang="zh-CN" dirty="0"/>
              <a:t> + </a:t>
            </a:r>
            <a:r>
              <a:rPr lang="en-US" altLang="zh-CN" dirty="0" err="1"/>
              <a:t>i</a:t>
            </a:r>
            <a:r>
              <a:rPr lang="en-US" altLang="zh-CN" dirty="0"/>
              <a:t> * </a:t>
            </a:r>
            <a:r>
              <a:rPr lang="en-US" altLang="zh-CN" dirty="0" err="1"/>
              <a:t>ReHash</a:t>
            </a:r>
            <a:r>
              <a:rPr lang="en-US" altLang="zh-CN" dirty="0"/>
              <a:t>(key) ) % m</a:t>
            </a:r>
            <a:r>
              <a:rPr lang="zh-CN" altLang="en-US" dirty="0"/>
              <a:t>，   </a:t>
            </a:r>
            <a:endParaRPr lang="en-US" altLang="zh-CN" dirty="0"/>
          </a:p>
          <a:p>
            <a:pPr lvl="2"/>
            <a:r>
              <a:rPr lang="en-US" altLang="zh-CN" dirty="0" err="1"/>
              <a:t>i</a:t>
            </a:r>
            <a:r>
              <a:rPr lang="en-US" altLang="zh-CN" dirty="0"/>
              <a:t> =1, 2, …, m-1</a:t>
            </a:r>
          </a:p>
          <a:p>
            <a:r>
              <a:rPr lang="zh-CN" altLang="en-US" dirty="0"/>
              <a:t>有关研究表明，最多经 </a:t>
            </a:r>
            <a:r>
              <a:rPr lang="en-US" altLang="zh-CN" dirty="0"/>
              <a:t>m-1</a:t>
            </a:r>
            <a:r>
              <a:rPr lang="zh-CN" altLang="en-US" dirty="0"/>
              <a:t>次探查，会遍历表中所有位置，回到</a:t>
            </a:r>
            <a:r>
              <a:rPr lang="en-US" altLang="zh-CN" dirty="0"/>
              <a:t>H</a:t>
            </a:r>
            <a:r>
              <a:rPr lang="en-US" altLang="zh-CN" baseline="-25000" dirty="0"/>
              <a:t>0</a:t>
            </a:r>
            <a:r>
              <a:rPr lang="zh-CN" altLang="en-US" dirty="0"/>
              <a:t>位置。</a:t>
            </a:r>
          </a:p>
        </p:txBody>
      </p:sp>
      <p:sp>
        <p:nvSpPr>
          <p:cNvPr id="2" name="灯片编号占位符 1">
            <a:extLst>
              <a:ext uri="{FF2B5EF4-FFF2-40B4-BE49-F238E27FC236}">
                <a16:creationId xmlns:a16="http://schemas.microsoft.com/office/drawing/2014/main" id="{40ADD7E0-F8C5-123E-28E7-28FD5F36D620}"/>
              </a:ext>
            </a:extLst>
          </p:cNvPr>
          <p:cNvSpPr>
            <a:spLocks noGrp="1"/>
          </p:cNvSpPr>
          <p:nvPr>
            <p:ph type="sldNum" sz="quarter" idx="12"/>
          </p:nvPr>
        </p:nvSpPr>
        <p:spPr>
          <a:xfrm>
            <a:off x="6457950" y="6356350"/>
            <a:ext cx="2057400" cy="365125"/>
          </a:xfrm>
        </p:spPr>
        <p:txBody>
          <a:bodyPr/>
          <a:lstStyle/>
          <a:p>
            <a:fld id="{524B865F-46F8-4520-B0DD-31ED36EF62D9}" type="slidenum">
              <a:rPr lang="en-US" altLang="zh-CN" smtClean="0"/>
              <a:pPr/>
              <a:t>89</a:t>
            </a:fld>
            <a:endParaRPr lang="en-US" altLang="zh-CN"/>
          </a:p>
        </p:txBody>
      </p:sp>
    </p:spTree>
  </p:cSld>
  <p:clrMapOvr>
    <a:masterClrMapping/>
  </p:clrMapOvr>
  <p:transition>
    <p:spli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797086-9EBC-48FA-A0EA-5135F5A90F62}"/>
              </a:ext>
            </a:extLst>
          </p:cNvPr>
          <p:cNvSpPr>
            <a:spLocks noGrp="1"/>
          </p:cNvSpPr>
          <p:nvPr>
            <p:ph type="title"/>
          </p:nvPr>
        </p:nvSpPr>
        <p:spPr/>
        <p:txBody>
          <a:bodyPr/>
          <a:lstStyle/>
          <a:p>
            <a:r>
              <a:rPr lang="zh-CN" altLang="en-US" dirty="0"/>
              <a:t>示例</a:t>
            </a:r>
          </a:p>
        </p:txBody>
      </p:sp>
      <p:sp>
        <p:nvSpPr>
          <p:cNvPr id="3" name="内容占位符 2">
            <a:extLst>
              <a:ext uri="{FF2B5EF4-FFF2-40B4-BE49-F238E27FC236}">
                <a16:creationId xmlns:a16="http://schemas.microsoft.com/office/drawing/2014/main" id="{153E3EDB-1865-460B-9DF3-D1D0D34E1FDC}"/>
              </a:ext>
            </a:extLst>
          </p:cNvPr>
          <p:cNvSpPr>
            <a:spLocks noGrp="1"/>
          </p:cNvSpPr>
          <p:nvPr>
            <p:ph idx="1"/>
          </p:nvPr>
        </p:nvSpPr>
        <p:spPr/>
        <p:txBody>
          <a:bodyPr/>
          <a:lstStyle/>
          <a:p>
            <a:r>
              <a:rPr lang="zh-CN" altLang="en-US" dirty="0"/>
              <a:t>给出一组表项关键码</a:t>
            </a:r>
            <a:r>
              <a:rPr lang="en-US" altLang="zh-CN" dirty="0"/>
              <a:t>{ 22, 41, 53, 46, 30, 13, 01, 67 }</a:t>
            </a:r>
            <a:r>
              <a:rPr lang="zh-CN" altLang="en-US" dirty="0"/>
              <a:t>。散列函数为：</a:t>
            </a:r>
          </a:p>
          <a:p>
            <a:pPr marL="342900" lvl="1" indent="0">
              <a:buNone/>
            </a:pPr>
            <a:r>
              <a:rPr lang="zh-CN" altLang="en-US" dirty="0"/>
              <a:t>          </a:t>
            </a:r>
            <a:r>
              <a:rPr lang="en-US" altLang="zh-CN" dirty="0"/>
              <a:t>Hash(x)</a:t>
            </a:r>
            <a:r>
              <a:rPr lang="zh-CN" altLang="en-US" dirty="0"/>
              <a:t>＝</a:t>
            </a:r>
            <a:r>
              <a:rPr lang="en-US" altLang="zh-CN" dirty="0"/>
              <a:t>(3x) % 11</a:t>
            </a:r>
            <a:r>
              <a:rPr lang="zh-CN" altLang="en-US" dirty="0"/>
              <a:t>。</a:t>
            </a:r>
          </a:p>
          <a:p>
            <a:r>
              <a:rPr lang="zh-CN" altLang="en-US" dirty="0"/>
              <a:t>散列表为 </a:t>
            </a:r>
            <a:r>
              <a:rPr lang="en-US" altLang="zh-CN" dirty="0"/>
              <a:t>HT[0..10]</a:t>
            </a:r>
            <a:r>
              <a:rPr lang="zh-CN" altLang="en-US" dirty="0"/>
              <a:t>，</a:t>
            </a:r>
            <a:r>
              <a:rPr lang="en-US" altLang="zh-CN" dirty="0"/>
              <a:t>m = 11</a:t>
            </a:r>
            <a:r>
              <a:rPr lang="zh-CN" altLang="en-US" dirty="0"/>
              <a:t>。再散列函数为 </a:t>
            </a:r>
            <a:r>
              <a:rPr lang="en-US" altLang="zh-CN" dirty="0" err="1"/>
              <a:t>ReHash</a:t>
            </a:r>
            <a:r>
              <a:rPr lang="en-US" altLang="zh-CN" dirty="0"/>
              <a:t>(x) = (7x) % 10 +1</a:t>
            </a:r>
            <a:r>
              <a:rPr lang="zh-CN" altLang="en-US" dirty="0"/>
              <a:t>。</a:t>
            </a:r>
            <a:endParaRPr lang="en-US" altLang="zh-CN" dirty="0"/>
          </a:p>
          <a:p>
            <a:r>
              <a:rPr lang="zh-CN" altLang="en-US" dirty="0"/>
              <a:t>计算过程如下：</a:t>
            </a:r>
          </a:p>
          <a:p>
            <a:endParaRPr lang="zh-CN" altLang="en-US" dirty="0"/>
          </a:p>
        </p:txBody>
      </p:sp>
      <p:sp>
        <p:nvSpPr>
          <p:cNvPr id="4" name="灯片编号占位符 3">
            <a:extLst>
              <a:ext uri="{FF2B5EF4-FFF2-40B4-BE49-F238E27FC236}">
                <a16:creationId xmlns:a16="http://schemas.microsoft.com/office/drawing/2014/main" id="{57849726-33A5-42AB-93E2-0D3EA196E52F}"/>
              </a:ext>
            </a:extLst>
          </p:cNvPr>
          <p:cNvSpPr>
            <a:spLocks noGrp="1"/>
          </p:cNvSpPr>
          <p:nvPr>
            <p:ph type="sldNum" sz="quarter" idx="12"/>
          </p:nvPr>
        </p:nvSpPr>
        <p:spPr/>
        <p:txBody>
          <a:bodyPr/>
          <a:lstStyle/>
          <a:p>
            <a:pPr>
              <a:defRPr/>
            </a:pPr>
            <a:fld id="{524B865F-46F8-4520-B0DD-31ED36EF62D9}" type="slidenum">
              <a:rPr lang="en-US" altLang="zh-CN" smtClean="0"/>
              <a:pPr>
                <a:defRPr/>
              </a:pPr>
              <a:t>90</a:t>
            </a:fld>
            <a:endParaRPr lang="en-US" altLang="zh-CN"/>
          </a:p>
        </p:txBody>
      </p:sp>
    </p:spTree>
    <p:extLst>
      <p:ext uri="{BB962C8B-B14F-4D97-AF65-F5344CB8AC3E}">
        <p14:creationId xmlns:p14="http://schemas.microsoft.com/office/powerpoint/2010/main" val="2863557474"/>
      </p:ext>
    </p:extLst>
  </p:cSld>
  <p:clrMapOvr>
    <a:masterClrMapping/>
  </p:clrMapOvr>
  <p:transition>
    <p:spli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a:extLst>
              <a:ext uri="{FF2B5EF4-FFF2-40B4-BE49-F238E27FC236}">
                <a16:creationId xmlns:a16="http://schemas.microsoft.com/office/drawing/2014/main" id="{AEE85B38-3AE3-7F17-8846-13C47B56FD2D}"/>
              </a:ext>
            </a:extLst>
          </p:cNvPr>
          <p:cNvSpPr>
            <a:spLocks noGrp="1" noChangeArrowheads="1"/>
          </p:cNvSpPr>
          <p:nvPr>
            <p:ph type="body" idx="1"/>
          </p:nvPr>
        </p:nvSpPr>
        <p:spPr>
          <a:xfrm>
            <a:off x="107504" y="421188"/>
            <a:ext cx="8928992" cy="4351338"/>
          </a:xfrm>
        </p:spPr>
        <p:txBody>
          <a:bodyPr>
            <a:normAutofit lnSpcReduction="10000"/>
          </a:bodyPr>
          <a:lstStyle/>
          <a:p>
            <a:r>
              <a:rPr lang="en-US" altLang="zh-CN" dirty="0"/>
              <a:t>H</a:t>
            </a:r>
            <a:r>
              <a:rPr lang="en-US" altLang="zh-CN" baseline="-25000" dirty="0"/>
              <a:t>i</a:t>
            </a:r>
            <a:r>
              <a:rPr lang="en-US" altLang="zh-CN" dirty="0"/>
              <a:t> = ( H</a:t>
            </a:r>
            <a:r>
              <a:rPr lang="en-US" altLang="zh-CN" baseline="-25000" dirty="0"/>
              <a:t>i-1</a:t>
            </a:r>
            <a:r>
              <a:rPr lang="en-US" altLang="zh-CN" dirty="0"/>
              <a:t> + (7x) % 10 +1 ) % 11,  </a:t>
            </a:r>
            <a:r>
              <a:rPr lang="en-US" altLang="zh-CN" dirty="0" err="1"/>
              <a:t>i</a:t>
            </a:r>
            <a:r>
              <a:rPr lang="en-US" altLang="zh-CN" dirty="0"/>
              <a:t> = 1, 2, </a:t>
            </a:r>
            <a:r>
              <a:rPr lang="en-US" altLang="zh-CN" dirty="0">
                <a:sym typeface="Symbol" pitchFamily="18" charset="2"/>
              </a:rPr>
              <a:t></a:t>
            </a:r>
            <a:endParaRPr lang="en-US" altLang="zh-CN" dirty="0"/>
          </a:p>
          <a:p>
            <a:pPr lvl="1"/>
            <a:r>
              <a:rPr lang="en-US" altLang="zh-CN" dirty="0"/>
              <a:t>H</a:t>
            </a:r>
            <a:r>
              <a:rPr lang="en-US" altLang="zh-CN" baseline="-25000" dirty="0"/>
              <a:t>0</a:t>
            </a:r>
            <a:r>
              <a:rPr lang="en-US" altLang="zh-CN" dirty="0"/>
              <a:t>(22) = 0   H</a:t>
            </a:r>
            <a:r>
              <a:rPr lang="en-US" altLang="zh-CN" baseline="-25000" dirty="0"/>
              <a:t>0</a:t>
            </a:r>
            <a:r>
              <a:rPr lang="en-US" altLang="zh-CN" dirty="0"/>
              <a:t>(41) = 2   H</a:t>
            </a:r>
            <a:r>
              <a:rPr lang="en-US" altLang="zh-CN" baseline="-25000" dirty="0"/>
              <a:t>0</a:t>
            </a:r>
            <a:r>
              <a:rPr lang="en-US" altLang="zh-CN" dirty="0"/>
              <a:t>(53) = 5   H</a:t>
            </a:r>
            <a:r>
              <a:rPr lang="en-US" altLang="zh-CN" baseline="-25000" dirty="0"/>
              <a:t>0</a:t>
            </a:r>
            <a:r>
              <a:rPr lang="en-US" altLang="zh-CN" dirty="0"/>
              <a:t>(46) = 6 </a:t>
            </a:r>
          </a:p>
          <a:p>
            <a:pPr lvl="1"/>
            <a:r>
              <a:rPr lang="en-US" altLang="zh-CN" dirty="0"/>
              <a:t>H</a:t>
            </a:r>
            <a:r>
              <a:rPr lang="en-US" altLang="zh-CN" baseline="-25000" dirty="0"/>
              <a:t>0</a:t>
            </a:r>
            <a:r>
              <a:rPr lang="en-US" altLang="zh-CN" dirty="0"/>
              <a:t>(30) = 2  </a:t>
            </a:r>
            <a:r>
              <a:rPr lang="zh-CN" altLang="zh-CN" dirty="0"/>
              <a:t>冲突</a:t>
            </a:r>
            <a:r>
              <a:rPr lang="zh-CN" altLang="en-US" dirty="0"/>
              <a:t>，  </a:t>
            </a:r>
            <a:r>
              <a:rPr lang="en-US" altLang="zh-CN" dirty="0"/>
              <a:t>H</a:t>
            </a:r>
            <a:r>
              <a:rPr lang="en-US" altLang="zh-CN" baseline="-25000" dirty="0"/>
              <a:t>1</a:t>
            </a:r>
            <a:r>
              <a:rPr lang="en-US" altLang="zh-CN" dirty="0"/>
              <a:t> = (2+1) = 3 </a:t>
            </a:r>
          </a:p>
          <a:p>
            <a:pPr lvl="1"/>
            <a:r>
              <a:rPr lang="en-US" altLang="zh-CN" dirty="0"/>
              <a:t>H</a:t>
            </a:r>
            <a:r>
              <a:rPr lang="en-US" altLang="zh-CN" baseline="-25000" dirty="0"/>
              <a:t>0</a:t>
            </a:r>
            <a:r>
              <a:rPr lang="en-US" altLang="zh-CN" dirty="0"/>
              <a:t>(13) = 6  </a:t>
            </a:r>
            <a:r>
              <a:rPr lang="zh-CN" altLang="en-US" dirty="0"/>
              <a:t>冲突，  </a:t>
            </a:r>
            <a:r>
              <a:rPr lang="en-US" altLang="zh-CN" dirty="0"/>
              <a:t>H</a:t>
            </a:r>
            <a:r>
              <a:rPr lang="en-US" altLang="zh-CN" baseline="-25000" dirty="0"/>
              <a:t>1</a:t>
            </a:r>
            <a:r>
              <a:rPr lang="en-US" altLang="zh-CN" dirty="0"/>
              <a:t> = (6+2) = 8 </a:t>
            </a:r>
          </a:p>
          <a:p>
            <a:pPr lvl="1"/>
            <a:r>
              <a:rPr lang="en-US" altLang="zh-CN" dirty="0"/>
              <a:t>H</a:t>
            </a:r>
            <a:r>
              <a:rPr lang="en-US" altLang="zh-CN" baseline="-25000" dirty="0"/>
              <a:t>0</a:t>
            </a:r>
            <a:r>
              <a:rPr lang="en-US" altLang="zh-CN" dirty="0"/>
              <a:t>(01) = 3  </a:t>
            </a:r>
            <a:r>
              <a:rPr lang="zh-CN" altLang="en-US" dirty="0"/>
              <a:t>冲突，  </a:t>
            </a:r>
            <a:r>
              <a:rPr lang="en-US" altLang="zh-CN" dirty="0"/>
              <a:t>H</a:t>
            </a:r>
            <a:r>
              <a:rPr lang="en-US" altLang="zh-CN" baseline="-25000" dirty="0"/>
              <a:t>1</a:t>
            </a:r>
            <a:r>
              <a:rPr lang="en-US" altLang="zh-CN" dirty="0"/>
              <a:t> = (3+8) = 0  </a:t>
            </a:r>
            <a:r>
              <a:rPr lang="zh-CN" altLang="zh-CN" dirty="0"/>
              <a:t>冲突</a:t>
            </a:r>
            <a:r>
              <a:rPr lang="zh-CN" altLang="en-US" dirty="0"/>
              <a:t>，  </a:t>
            </a:r>
            <a:r>
              <a:rPr lang="en-US" altLang="zh-CN" dirty="0"/>
              <a:t>H</a:t>
            </a:r>
            <a:r>
              <a:rPr lang="en-US" altLang="zh-CN" baseline="-25000" dirty="0"/>
              <a:t>2</a:t>
            </a:r>
            <a:r>
              <a:rPr lang="en-US" altLang="zh-CN" dirty="0"/>
              <a:t> = (0+8) = 8  </a:t>
            </a:r>
            <a:r>
              <a:rPr lang="zh-CN" altLang="en-US" dirty="0"/>
              <a:t>冲突，  </a:t>
            </a:r>
            <a:r>
              <a:rPr lang="en-US" altLang="zh-CN" dirty="0"/>
              <a:t>H</a:t>
            </a:r>
            <a:r>
              <a:rPr lang="en-US" altLang="zh-CN" baseline="-25000" dirty="0"/>
              <a:t>3</a:t>
            </a:r>
            <a:r>
              <a:rPr lang="en-US" altLang="zh-CN" dirty="0"/>
              <a:t> = (8+8) = 5  </a:t>
            </a:r>
            <a:r>
              <a:rPr lang="zh-CN" altLang="en-US" dirty="0"/>
              <a:t>冲突，  </a:t>
            </a:r>
            <a:r>
              <a:rPr lang="en-US" altLang="zh-CN" dirty="0"/>
              <a:t>H</a:t>
            </a:r>
            <a:r>
              <a:rPr lang="en-US" altLang="zh-CN" baseline="-25000" dirty="0"/>
              <a:t>4</a:t>
            </a:r>
            <a:r>
              <a:rPr lang="en-US" altLang="zh-CN" dirty="0"/>
              <a:t> = (5+8) = 2  </a:t>
            </a:r>
            <a:r>
              <a:rPr lang="zh-CN" altLang="en-US" dirty="0"/>
              <a:t>冲突，  </a:t>
            </a:r>
            <a:r>
              <a:rPr lang="en-US" altLang="zh-CN" dirty="0"/>
              <a:t>H</a:t>
            </a:r>
            <a:r>
              <a:rPr lang="en-US" altLang="zh-CN" baseline="-25000" dirty="0"/>
              <a:t>5</a:t>
            </a:r>
            <a:r>
              <a:rPr lang="en-US" altLang="zh-CN" dirty="0"/>
              <a:t> = (2+8) = 10</a:t>
            </a:r>
          </a:p>
          <a:p>
            <a:pPr lvl="1"/>
            <a:r>
              <a:rPr lang="en-US" altLang="zh-CN" dirty="0"/>
              <a:t>H</a:t>
            </a:r>
            <a:r>
              <a:rPr lang="en-US" altLang="zh-CN" baseline="-25000" dirty="0"/>
              <a:t>0</a:t>
            </a:r>
            <a:r>
              <a:rPr lang="en-US" altLang="zh-CN" dirty="0"/>
              <a:t>(67) = 3 </a:t>
            </a:r>
            <a:r>
              <a:rPr lang="zh-CN" altLang="en-US" dirty="0"/>
              <a:t>冲突，  </a:t>
            </a:r>
            <a:r>
              <a:rPr lang="en-US" altLang="zh-CN" dirty="0"/>
              <a:t>H</a:t>
            </a:r>
            <a:r>
              <a:rPr lang="en-US" altLang="zh-CN" baseline="-25000" dirty="0"/>
              <a:t>1</a:t>
            </a:r>
            <a:r>
              <a:rPr lang="en-US" altLang="zh-CN" dirty="0"/>
              <a:t> = (3+10) = 2  </a:t>
            </a:r>
            <a:r>
              <a:rPr lang="zh-CN" altLang="en-US" dirty="0"/>
              <a:t>冲突，  </a:t>
            </a:r>
            <a:r>
              <a:rPr lang="en-US" altLang="zh-CN" dirty="0"/>
              <a:t>H</a:t>
            </a:r>
            <a:r>
              <a:rPr lang="en-US" altLang="zh-CN" baseline="-25000" dirty="0"/>
              <a:t>2</a:t>
            </a:r>
            <a:r>
              <a:rPr lang="en-US" altLang="zh-CN" dirty="0"/>
              <a:t> = (2+10) = 1 </a:t>
            </a:r>
          </a:p>
        </p:txBody>
      </p:sp>
      <p:sp>
        <p:nvSpPr>
          <p:cNvPr id="502787" name="Rectangle 3" descr="白色大理石">
            <a:extLst>
              <a:ext uri="{FF2B5EF4-FFF2-40B4-BE49-F238E27FC236}">
                <a16:creationId xmlns:a16="http://schemas.microsoft.com/office/drawing/2014/main" id="{E091AA0A-D351-9CAE-0766-241CDC7DC6CD}"/>
              </a:ext>
            </a:extLst>
          </p:cNvPr>
          <p:cNvSpPr>
            <a:spLocks noChangeArrowheads="1"/>
          </p:cNvSpPr>
          <p:nvPr/>
        </p:nvSpPr>
        <p:spPr bwMode="auto">
          <a:xfrm>
            <a:off x="609600" y="5205663"/>
            <a:ext cx="8382000" cy="533400"/>
          </a:xfrm>
          <a:prstGeom prst="rect">
            <a:avLst/>
          </a:prstGeom>
          <a:blipFill dpi="0" rotWithShape="0">
            <a:blip r:embed="rId2"/>
            <a:srcRect/>
            <a:tile tx="0" ty="0" sx="100000" sy="100000" flip="none" algn="tl"/>
          </a:blipFill>
          <a:ln w="28575">
            <a:solidFill>
              <a:srgbClr val="008000"/>
            </a:solidFill>
            <a:miter lim="800000"/>
            <a:headEnd/>
            <a:tailEnd/>
          </a:ln>
          <a:effectLst>
            <a:outerShdw dist="107763" dir="2700000" algn="ctr" rotWithShape="0">
              <a:schemeClr val="bg2"/>
            </a:outerShdw>
          </a:effectLst>
        </p:spPr>
        <p:txBody>
          <a:bodyPr wrap="none" anchor="ctr"/>
          <a:lstStyle/>
          <a:p>
            <a:pPr>
              <a:defRPr/>
            </a:pPr>
            <a:r>
              <a:rPr lang="en-US" altLang="zh-CN" b="1" dirty="0">
                <a:effectLst>
                  <a:outerShdw blurRad="38100" dist="38100" dir="2700000" algn="tl">
                    <a:srgbClr val="C0C0C0"/>
                  </a:outerShdw>
                </a:effectLst>
                <a:ea typeface="楷体_GB2312" pitchFamily="49" charset="-122"/>
              </a:rPr>
              <a:t>   </a:t>
            </a:r>
            <a:r>
              <a:rPr lang="en-US" altLang="zh-CN" b="1" dirty="0">
                <a:solidFill>
                  <a:schemeClr val="tx2"/>
                </a:solidFill>
                <a:effectLst>
                  <a:outerShdw blurRad="38100" dist="38100" dir="2700000" algn="tl">
                    <a:srgbClr val="C0C0C0"/>
                  </a:outerShdw>
                </a:effectLst>
                <a:ea typeface="楷体_GB2312" pitchFamily="49" charset="-122"/>
              </a:rPr>
              <a:t>22       67         41       30                      53       46                    13                   01</a:t>
            </a:r>
            <a:endParaRPr lang="en-US" altLang="zh-CN" b="1" dirty="0">
              <a:effectLst>
                <a:outerShdw blurRad="38100" dist="38100" dir="2700000" algn="tl">
                  <a:srgbClr val="C0C0C0"/>
                </a:outerShdw>
              </a:effectLst>
              <a:ea typeface="楷体_GB2312" pitchFamily="49" charset="-122"/>
            </a:endParaRPr>
          </a:p>
        </p:txBody>
      </p:sp>
      <p:sp>
        <p:nvSpPr>
          <p:cNvPr id="111620" name="Line 4">
            <a:extLst>
              <a:ext uri="{FF2B5EF4-FFF2-40B4-BE49-F238E27FC236}">
                <a16:creationId xmlns:a16="http://schemas.microsoft.com/office/drawing/2014/main" id="{7ACB9BF9-B5F9-5AAA-4F47-1A9FEFE7BB51}"/>
              </a:ext>
            </a:extLst>
          </p:cNvPr>
          <p:cNvSpPr>
            <a:spLocks noChangeShapeType="1"/>
          </p:cNvSpPr>
          <p:nvPr/>
        </p:nvSpPr>
        <p:spPr bwMode="auto">
          <a:xfrm>
            <a:off x="1371600" y="5205663"/>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1" name="Line 5">
            <a:extLst>
              <a:ext uri="{FF2B5EF4-FFF2-40B4-BE49-F238E27FC236}">
                <a16:creationId xmlns:a16="http://schemas.microsoft.com/office/drawing/2014/main" id="{CCBB314E-784B-E226-046A-D87E188FBC27}"/>
              </a:ext>
            </a:extLst>
          </p:cNvPr>
          <p:cNvSpPr>
            <a:spLocks noChangeShapeType="1"/>
          </p:cNvSpPr>
          <p:nvPr/>
        </p:nvSpPr>
        <p:spPr bwMode="auto">
          <a:xfrm>
            <a:off x="2133600" y="5205663"/>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2" name="Line 6">
            <a:extLst>
              <a:ext uri="{FF2B5EF4-FFF2-40B4-BE49-F238E27FC236}">
                <a16:creationId xmlns:a16="http://schemas.microsoft.com/office/drawing/2014/main" id="{9BDC8E50-808A-4E8B-BA92-F73431A714F1}"/>
              </a:ext>
            </a:extLst>
          </p:cNvPr>
          <p:cNvSpPr>
            <a:spLocks noChangeShapeType="1"/>
          </p:cNvSpPr>
          <p:nvPr/>
        </p:nvSpPr>
        <p:spPr bwMode="auto">
          <a:xfrm>
            <a:off x="2895600" y="5205663"/>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3" name="Text Box 7">
            <a:extLst>
              <a:ext uri="{FF2B5EF4-FFF2-40B4-BE49-F238E27FC236}">
                <a16:creationId xmlns:a16="http://schemas.microsoft.com/office/drawing/2014/main" id="{5B5E0F31-5934-2651-E1C0-27E3959AD1AF}"/>
              </a:ext>
            </a:extLst>
          </p:cNvPr>
          <p:cNvSpPr txBox="1">
            <a:spLocks noChangeArrowheads="1"/>
          </p:cNvSpPr>
          <p:nvPr/>
        </p:nvSpPr>
        <p:spPr bwMode="auto">
          <a:xfrm>
            <a:off x="517525" y="5739063"/>
            <a:ext cx="8286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  </a:t>
            </a:r>
            <a:r>
              <a:rPr kumimoji="1" lang="en-US" altLang="zh-CN" sz="2400" b="1">
                <a:solidFill>
                  <a:schemeClr val="tx2"/>
                </a:solidFill>
                <a:latin typeface="Times New Roman" panose="02020603050405020304" pitchFamily="18" charset="0"/>
                <a:ea typeface="宋体" panose="02010600030101010101" pitchFamily="2" charset="-122"/>
              </a:rPr>
              <a:t>(1)     (3)      (1)     (2)                (1)      (1)               (2)              (6)</a:t>
            </a:r>
            <a:endParaRPr kumimoji="1" lang="en-US" altLang="zh-CN" sz="2400" b="1">
              <a:latin typeface="Times New Roman" panose="02020603050405020304" pitchFamily="18" charset="0"/>
              <a:ea typeface="宋体" panose="02010600030101010101" pitchFamily="2" charset="-122"/>
            </a:endParaRPr>
          </a:p>
        </p:txBody>
      </p:sp>
      <p:sp>
        <p:nvSpPr>
          <p:cNvPr id="111624" name="Text Box 8">
            <a:extLst>
              <a:ext uri="{FF2B5EF4-FFF2-40B4-BE49-F238E27FC236}">
                <a16:creationId xmlns:a16="http://schemas.microsoft.com/office/drawing/2014/main" id="{C03576F8-366A-26D4-520B-2E2518197EF4}"/>
              </a:ext>
            </a:extLst>
          </p:cNvPr>
          <p:cNvSpPr txBox="1">
            <a:spLocks noChangeArrowheads="1"/>
          </p:cNvSpPr>
          <p:nvPr/>
        </p:nvSpPr>
        <p:spPr bwMode="auto">
          <a:xfrm>
            <a:off x="577850" y="4748463"/>
            <a:ext cx="818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  </a:t>
            </a:r>
            <a:r>
              <a:rPr kumimoji="1" lang="en-US" altLang="zh-CN" sz="2400" b="1">
                <a:solidFill>
                  <a:srgbClr val="008080"/>
                </a:solidFill>
                <a:latin typeface="Times New Roman" panose="02020603050405020304" pitchFamily="18" charset="0"/>
                <a:ea typeface="宋体" panose="02010600030101010101" pitchFamily="2" charset="-122"/>
              </a:rPr>
              <a:t>0        1        2        3        4        5        6        7        8        9       10</a:t>
            </a:r>
            <a:endParaRPr kumimoji="1" lang="en-US" altLang="zh-CN" sz="2400" b="1">
              <a:latin typeface="Times New Roman" panose="02020603050405020304" pitchFamily="18" charset="0"/>
              <a:ea typeface="宋体" panose="02010600030101010101" pitchFamily="2" charset="-122"/>
            </a:endParaRPr>
          </a:p>
        </p:txBody>
      </p:sp>
      <p:sp>
        <p:nvSpPr>
          <p:cNvPr id="111625" name="Line 9">
            <a:extLst>
              <a:ext uri="{FF2B5EF4-FFF2-40B4-BE49-F238E27FC236}">
                <a16:creationId xmlns:a16="http://schemas.microsoft.com/office/drawing/2014/main" id="{1B39DC47-39C3-C1D3-857A-BA9C29E8FA37}"/>
              </a:ext>
            </a:extLst>
          </p:cNvPr>
          <p:cNvSpPr>
            <a:spLocks noChangeShapeType="1"/>
          </p:cNvSpPr>
          <p:nvPr/>
        </p:nvSpPr>
        <p:spPr bwMode="auto">
          <a:xfrm>
            <a:off x="3657600" y="5205663"/>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6" name="Line 10">
            <a:extLst>
              <a:ext uri="{FF2B5EF4-FFF2-40B4-BE49-F238E27FC236}">
                <a16:creationId xmlns:a16="http://schemas.microsoft.com/office/drawing/2014/main" id="{F32C7BBB-D5D0-6977-B95D-5CD5D6CE527C}"/>
              </a:ext>
            </a:extLst>
          </p:cNvPr>
          <p:cNvSpPr>
            <a:spLocks noChangeShapeType="1"/>
          </p:cNvSpPr>
          <p:nvPr/>
        </p:nvSpPr>
        <p:spPr bwMode="auto">
          <a:xfrm>
            <a:off x="4419600" y="5205663"/>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7" name="Line 11">
            <a:extLst>
              <a:ext uri="{FF2B5EF4-FFF2-40B4-BE49-F238E27FC236}">
                <a16:creationId xmlns:a16="http://schemas.microsoft.com/office/drawing/2014/main" id="{497A8980-2182-E72A-F505-20AEDFD0353B}"/>
              </a:ext>
            </a:extLst>
          </p:cNvPr>
          <p:cNvSpPr>
            <a:spLocks noChangeShapeType="1"/>
          </p:cNvSpPr>
          <p:nvPr/>
        </p:nvSpPr>
        <p:spPr bwMode="auto">
          <a:xfrm>
            <a:off x="5181600" y="5205663"/>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8" name="Line 12">
            <a:extLst>
              <a:ext uri="{FF2B5EF4-FFF2-40B4-BE49-F238E27FC236}">
                <a16:creationId xmlns:a16="http://schemas.microsoft.com/office/drawing/2014/main" id="{070D1793-44C8-141E-0D6E-52E5E92490C1}"/>
              </a:ext>
            </a:extLst>
          </p:cNvPr>
          <p:cNvSpPr>
            <a:spLocks noChangeShapeType="1"/>
          </p:cNvSpPr>
          <p:nvPr/>
        </p:nvSpPr>
        <p:spPr bwMode="auto">
          <a:xfrm>
            <a:off x="5943600" y="5205663"/>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9" name="Line 13">
            <a:extLst>
              <a:ext uri="{FF2B5EF4-FFF2-40B4-BE49-F238E27FC236}">
                <a16:creationId xmlns:a16="http://schemas.microsoft.com/office/drawing/2014/main" id="{90745FF2-1067-6CC1-DD18-F4A709F97259}"/>
              </a:ext>
            </a:extLst>
          </p:cNvPr>
          <p:cNvSpPr>
            <a:spLocks noChangeShapeType="1"/>
          </p:cNvSpPr>
          <p:nvPr/>
        </p:nvSpPr>
        <p:spPr bwMode="auto">
          <a:xfrm>
            <a:off x="6705600" y="5205663"/>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0" name="Line 14">
            <a:extLst>
              <a:ext uri="{FF2B5EF4-FFF2-40B4-BE49-F238E27FC236}">
                <a16:creationId xmlns:a16="http://schemas.microsoft.com/office/drawing/2014/main" id="{12F6914D-16B1-31F9-1E69-D6CE002ADFAD}"/>
              </a:ext>
            </a:extLst>
          </p:cNvPr>
          <p:cNvSpPr>
            <a:spLocks noChangeShapeType="1"/>
          </p:cNvSpPr>
          <p:nvPr/>
        </p:nvSpPr>
        <p:spPr bwMode="auto">
          <a:xfrm>
            <a:off x="8229600" y="5205663"/>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1" name="Line 15">
            <a:extLst>
              <a:ext uri="{FF2B5EF4-FFF2-40B4-BE49-F238E27FC236}">
                <a16:creationId xmlns:a16="http://schemas.microsoft.com/office/drawing/2014/main" id="{27194286-658E-9A83-CF62-874A0F28EBED}"/>
              </a:ext>
            </a:extLst>
          </p:cNvPr>
          <p:cNvSpPr>
            <a:spLocks noChangeShapeType="1"/>
          </p:cNvSpPr>
          <p:nvPr/>
        </p:nvSpPr>
        <p:spPr bwMode="auto">
          <a:xfrm>
            <a:off x="7467600" y="5205663"/>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2" name="Text Box 16">
            <a:extLst>
              <a:ext uri="{FF2B5EF4-FFF2-40B4-BE49-F238E27FC236}">
                <a16:creationId xmlns:a16="http://schemas.microsoft.com/office/drawing/2014/main" id="{1833E3C7-3836-0618-4E1A-0B0B930BD3C0}"/>
              </a:ext>
            </a:extLst>
          </p:cNvPr>
          <p:cNvSpPr txBox="1">
            <a:spLocks noChangeArrowheads="1"/>
          </p:cNvSpPr>
          <p:nvPr/>
        </p:nvSpPr>
        <p:spPr bwMode="auto">
          <a:xfrm>
            <a:off x="-1" y="6172200"/>
            <a:ext cx="90364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dirty="0">
                <a:latin typeface="Times New Roman" panose="02020603050405020304" pitchFamily="18" charset="0"/>
                <a:ea typeface="宋体" panose="02010600030101010101" pitchFamily="2" charset="-122"/>
              </a:rPr>
              <a:t> </a:t>
            </a:r>
            <a:r>
              <a:rPr kumimoji="1" lang="zh-CN" altLang="en-US" sz="2400" b="1" dirty="0">
                <a:latin typeface="Times New Roman" panose="02020603050405020304" pitchFamily="18" charset="0"/>
                <a:ea typeface="宋体" panose="02010600030101010101" pitchFamily="2" charset="-122"/>
              </a:rPr>
              <a:t>次序 </a:t>
            </a:r>
            <a:r>
              <a:rPr kumimoji="1" lang="en-US" altLang="zh-CN" sz="2400" b="1" dirty="0">
                <a:latin typeface="Times New Roman" panose="02020603050405020304" pitchFamily="18" charset="0"/>
                <a:ea typeface="宋体" panose="02010600030101010101" pitchFamily="2" charset="-122"/>
              </a:rPr>
              <a:t>  1        8         2       5                   3         4                 6                 7</a:t>
            </a:r>
          </a:p>
        </p:txBody>
      </p:sp>
      <p:sp>
        <p:nvSpPr>
          <p:cNvPr id="111633" name="Line 17">
            <a:extLst>
              <a:ext uri="{FF2B5EF4-FFF2-40B4-BE49-F238E27FC236}">
                <a16:creationId xmlns:a16="http://schemas.microsoft.com/office/drawing/2014/main" id="{FDAB0BE1-C771-B971-EE99-0A8BE271DD44}"/>
              </a:ext>
            </a:extLst>
          </p:cNvPr>
          <p:cNvSpPr>
            <a:spLocks noChangeShapeType="1"/>
          </p:cNvSpPr>
          <p:nvPr/>
        </p:nvSpPr>
        <p:spPr bwMode="auto">
          <a:xfrm flipV="1">
            <a:off x="914400" y="6120063"/>
            <a:ext cx="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4" name="Line 18">
            <a:extLst>
              <a:ext uri="{FF2B5EF4-FFF2-40B4-BE49-F238E27FC236}">
                <a16:creationId xmlns:a16="http://schemas.microsoft.com/office/drawing/2014/main" id="{A227FD88-0196-3471-1CA1-6121128D2366}"/>
              </a:ext>
            </a:extLst>
          </p:cNvPr>
          <p:cNvSpPr>
            <a:spLocks noChangeShapeType="1"/>
          </p:cNvSpPr>
          <p:nvPr/>
        </p:nvSpPr>
        <p:spPr bwMode="auto">
          <a:xfrm flipV="1">
            <a:off x="1676400" y="6120063"/>
            <a:ext cx="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5" name="Line 19">
            <a:extLst>
              <a:ext uri="{FF2B5EF4-FFF2-40B4-BE49-F238E27FC236}">
                <a16:creationId xmlns:a16="http://schemas.microsoft.com/office/drawing/2014/main" id="{FAA709F2-6AC2-49B4-AA7B-58695EEFC7B0}"/>
              </a:ext>
            </a:extLst>
          </p:cNvPr>
          <p:cNvSpPr>
            <a:spLocks noChangeShapeType="1"/>
          </p:cNvSpPr>
          <p:nvPr/>
        </p:nvSpPr>
        <p:spPr bwMode="auto">
          <a:xfrm flipV="1">
            <a:off x="2514600" y="6120063"/>
            <a:ext cx="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6" name="Line 20">
            <a:extLst>
              <a:ext uri="{FF2B5EF4-FFF2-40B4-BE49-F238E27FC236}">
                <a16:creationId xmlns:a16="http://schemas.microsoft.com/office/drawing/2014/main" id="{BE6AC4CE-1B24-5CED-E1DB-6547E9ABE829}"/>
              </a:ext>
            </a:extLst>
          </p:cNvPr>
          <p:cNvSpPr>
            <a:spLocks noChangeShapeType="1"/>
          </p:cNvSpPr>
          <p:nvPr/>
        </p:nvSpPr>
        <p:spPr bwMode="auto">
          <a:xfrm flipV="1">
            <a:off x="3200400" y="6120063"/>
            <a:ext cx="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7" name="Line 21">
            <a:extLst>
              <a:ext uri="{FF2B5EF4-FFF2-40B4-BE49-F238E27FC236}">
                <a16:creationId xmlns:a16="http://schemas.microsoft.com/office/drawing/2014/main" id="{0D341354-F412-261A-37E1-F226CB053936}"/>
              </a:ext>
            </a:extLst>
          </p:cNvPr>
          <p:cNvSpPr>
            <a:spLocks noChangeShapeType="1"/>
          </p:cNvSpPr>
          <p:nvPr/>
        </p:nvSpPr>
        <p:spPr bwMode="auto">
          <a:xfrm flipV="1">
            <a:off x="4800600" y="6120063"/>
            <a:ext cx="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8" name="Line 22">
            <a:extLst>
              <a:ext uri="{FF2B5EF4-FFF2-40B4-BE49-F238E27FC236}">
                <a16:creationId xmlns:a16="http://schemas.microsoft.com/office/drawing/2014/main" id="{BDD09C9E-414D-BF37-3717-989BD2924DB1}"/>
              </a:ext>
            </a:extLst>
          </p:cNvPr>
          <p:cNvSpPr>
            <a:spLocks noChangeShapeType="1"/>
          </p:cNvSpPr>
          <p:nvPr/>
        </p:nvSpPr>
        <p:spPr bwMode="auto">
          <a:xfrm flipV="1">
            <a:off x="5562600" y="6120063"/>
            <a:ext cx="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9" name="Line 23">
            <a:extLst>
              <a:ext uri="{FF2B5EF4-FFF2-40B4-BE49-F238E27FC236}">
                <a16:creationId xmlns:a16="http://schemas.microsoft.com/office/drawing/2014/main" id="{3C0F383B-496D-22D4-1F85-8B31550F74EA}"/>
              </a:ext>
            </a:extLst>
          </p:cNvPr>
          <p:cNvSpPr>
            <a:spLocks noChangeShapeType="1"/>
          </p:cNvSpPr>
          <p:nvPr/>
        </p:nvSpPr>
        <p:spPr bwMode="auto">
          <a:xfrm flipV="1">
            <a:off x="7086600" y="6120063"/>
            <a:ext cx="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40" name="Line 24">
            <a:extLst>
              <a:ext uri="{FF2B5EF4-FFF2-40B4-BE49-F238E27FC236}">
                <a16:creationId xmlns:a16="http://schemas.microsoft.com/office/drawing/2014/main" id="{B9E59376-5ACF-C737-DCE7-9071F0418F0A}"/>
              </a:ext>
            </a:extLst>
          </p:cNvPr>
          <p:cNvSpPr>
            <a:spLocks noChangeShapeType="1"/>
          </p:cNvSpPr>
          <p:nvPr/>
        </p:nvSpPr>
        <p:spPr bwMode="auto">
          <a:xfrm flipV="1">
            <a:off x="8534400" y="6120063"/>
            <a:ext cx="0" cy="3810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C79ABA8D-82A5-2FB8-933F-CFC43DA6E8D4}"/>
              </a:ext>
            </a:extLst>
          </p:cNvPr>
          <p:cNvSpPr>
            <a:spLocks noGrp="1"/>
          </p:cNvSpPr>
          <p:nvPr>
            <p:ph type="sldNum" sz="quarter" idx="12"/>
          </p:nvPr>
        </p:nvSpPr>
        <p:spPr/>
        <p:txBody>
          <a:bodyPr/>
          <a:lstStyle/>
          <a:p>
            <a:pPr>
              <a:defRPr/>
            </a:pPr>
            <a:fld id="{524B865F-46F8-4520-B0DD-31ED36EF62D9}" type="slidenum">
              <a:rPr lang="en-US" altLang="zh-CN" smtClean="0"/>
              <a:pPr>
                <a:defRPr/>
              </a:pPr>
              <a:t>91</a:t>
            </a:fld>
            <a:endParaRPr lang="en-US" altLang="zh-CN"/>
          </a:p>
        </p:txBody>
      </p:sp>
    </p:spTree>
  </p:cSld>
  <p:clrMapOvr>
    <a:masterClrMapping/>
  </p:clrMapOvr>
  <p:transition>
    <p:spli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9FF7275-A07B-4BEF-AD7B-D1EE3E98FC42}"/>
              </a:ext>
            </a:extLst>
          </p:cNvPr>
          <p:cNvSpPr>
            <a:spLocks noGrp="1"/>
          </p:cNvSpPr>
          <p:nvPr>
            <p:ph type="title"/>
          </p:nvPr>
        </p:nvSpPr>
        <p:spPr/>
        <p:txBody>
          <a:bodyPr/>
          <a:lstStyle/>
          <a:p>
            <a:endParaRPr lang="zh-CN" altLang="en-US"/>
          </a:p>
        </p:txBody>
      </p:sp>
      <p:sp>
        <p:nvSpPr>
          <p:cNvPr id="503810" name="Rectangle 2">
            <a:extLst>
              <a:ext uri="{FF2B5EF4-FFF2-40B4-BE49-F238E27FC236}">
                <a16:creationId xmlns:a16="http://schemas.microsoft.com/office/drawing/2014/main" id="{D5A2D4CB-09C6-68AA-7CD0-14F4D5D9E660}"/>
              </a:ext>
            </a:extLst>
          </p:cNvPr>
          <p:cNvSpPr>
            <a:spLocks noGrp="1" noChangeArrowheads="1"/>
          </p:cNvSpPr>
          <p:nvPr>
            <p:ph type="body" idx="1"/>
          </p:nvPr>
        </p:nvSpPr>
        <p:spPr>
          <a:xfrm>
            <a:off x="628649" y="1825625"/>
            <a:ext cx="8210551" cy="4351338"/>
          </a:xfrm>
        </p:spPr>
        <p:txBody>
          <a:bodyPr>
            <a:normAutofit fontScale="92500"/>
          </a:bodyPr>
          <a:lstStyle/>
          <a:p>
            <a:r>
              <a:rPr lang="zh-CN" altLang="en-US" dirty="0"/>
              <a:t>搜索成功的平均搜索长度：</a:t>
            </a:r>
            <a:endParaRPr lang="en-US" altLang="zh-CN" dirty="0"/>
          </a:p>
          <a:p>
            <a:pPr marL="0" indent="0">
              <a:buNone/>
            </a:pPr>
            <a:r>
              <a:rPr lang="en-US" altLang="zh-CN" dirty="0"/>
              <a:t>   </a:t>
            </a:r>
            <a:r>
              <a:rPr lang="en-US" altLang="zh-CN" dirty="0" err="1"/>
              <a:t>ASL</a:t>
            </a:r>
            <a:r>
              <a:rPr lang="en-US" altLang="zh-CN" baseline="-25000" dirty="0" err="1"/>
              <a:t>succ</a:t>
            </a:r>
            <a:r>
              <a:rPr lang="en-US" altLang="zh-CN" dirty="0"/>
              <a:t> = (1+3+1+2+1+1+2+6)/8 = 17/8</a:t>
            </a:r>
            <a:endParaRPr lang="zh-CN" altLang="en-US" dirty="0"/>
          </a:p>
          <a:p>
            <a:r>
              <a:rPr lang="zh-CN" altLang="en-US" dirty="0"/>
              <a:t>搜索不成功的平均搜索长度</a:t>
            </a:r>
          </a:p>
          <a:p>
            <a:pPr lvl="1"/>
            <a:r>
              <a:rPr lang="zh-CN" altLang="en-US" dirty="0"/>
              <a:t>每一散列位置的再散列值可能有</a:t>
            </a:r>
            <a:r>
              <a:rPr lang="en-US" altLang="zh-CN" dirty="0"/>
              <a:t>10</a:t>
            </a:r>
            <a:r>
              <a:rPr lang="zh-CN" altLang="en-US" dirty="0"/>
              <a:t>种：</a:t>
            </a:r>
            <a:r>
              <a:rPr lang="en-US" altLang="zh-CN" dirty="0"/>
              <a:t>1, 2, </a:t>
            </a:r>
            <a:r>
              <a:rPr lang="en-US" altLang="zh-CN" dirty="0">
                <a:sym typeface="Symbol" pitchFamily="18" charset="2"/>
              </a:rPr>
              <a:t>, 10</a:t>
            </a:r>
            <a:r>
              <a:rPr lang="zh-CN" altLang="en-US" dirty="0">
                <a:sym typeface="Symbol" pitchFamily="18" charset="2"/>
              </a:rPr>
              <a:t>。</a:t>
            </a:r>
            <a:endParaRPr lang="en-US" altLang="zh-CN" dirty="0">
              <a:sym typeface="Symbol" pitchFamily="18" charset="2"/>
            </a:endParaRPr>
          </a:p>
          <a:p>
            <a:pPr lvl="2"/>
            <a:r>
              <a:rPr lang="zh-CN" altLang="en-US" dirty="0">
                <a:sym typeface="Symbol" pitchFamily="18" charset="2"/>
              </a:rPr>
              <a:t>先计算每一散列位置各种</a:t>
            </a:r>
            <a:r>
              <a:rPr lang="zh-CN" altLang="en-US" dirty="0"/>
              <a:t>再散列值</a:t>
            </a:r>
            <a:r>
              <a:rPr lang="zh-CN" altLang="en-US" dirty="0">
                <a:sym typeface="Symbol" pitchFamily="18" charset="2"/>
              </a:rPr>
              <a:t>情形下找到下一个空位的比较次数，求出平均值；</a:t>
            </a:r>
          </a:p>
          <a:p>
            <a:pPr lvl="2"/>
            <a:r>
              <a:rPr lang="zh-CN" altLang="en-US" dirty="0">
                <a:sym typeface="Symbol" pitchFamily="18" charset="2"/>
              </a:rPr>
              <a:t>再计算各个位置的平均比较次数的总平均值。</a:t>
            </a:r>
            <a:endParaRPr lang="zh-CN" altLang="en-US" dirty="0"/>
          </a:p>
        </p:txBody>
      </p:sp>
      <p:sp>
        <p:nvSpPr>
          <p:cNvPr id="503811" name="Rectangle 3" descr="白色大理石">
            <a:extLst>
              <a:ext uri="{FF2B5EF4-FFF2-40B4-BE49-F238E27FC236}">
                <a16:creationId xmlns:a16="http://schemas.microsoft.com/office/drawing/2014/main" id="{4D7A642D-397F-68B5-FAC2-68953691A117}"/>
              </a:ext>
            </a:extLst>
          </p:cNvPr>
          <p:cNvSpPr>
            <a:spLocks noChangeArrowheads="1"/>
          </p:cNvSpPr>
          <p:nvPr/>
        </p:nvSpPr>
        <p:spPr bwMode="auto">
          <a:xfrm>
            <a:off x="457200" y="685800"/>
            <a:ext cx="8382000" cy="533400"/>
          </a:xfrm>
          <a:prstGeom prst="rect">
            <a:avLst/>
          </a:prstGeom>
          <a:blipFill dpi="0" rotWithShape="0">
            <a:blip r:embed="rId2"/>
            <a:srcRect/>
            <a:tile tx="0" ty="0" sx="100000" sy="100000" flip="none" algn="tl"/>
          </a:blipFill>
          <a:ln w="28575">
            <a:solidFill>
              <a:srgbClr val="008000"/>
            </a:solidFill>
            <a:miter lim="800000"/>
            <a:headEnd/>
            <a:tailEnd/>
          </a:ln>
          <a:effectLst>
            <a:outerShdw dist="107763" dir="2700000" algn="ctr" rotWithShape="0">
              <a:schemeClr val="bg2"/>
            </a:outerShdw>
          </a:effectLst>
        </p:spPr>
        <p:txBody>
          <a:bodyPr wrap="none" anchor="ctr"/>
          <a:lstStyle/>
          <a:p>
            <a:pPr>
              <a:defRPr/>
            </a:pPr>
            <a:r>
              <a:rPr lang="en-US" altLang="zh-CN" b="1" dirty="0">
                <a:effectLst>
                  <a:outerShdw blurRad="38100" dist="38100" dir="2700000" algn="tl">
                    <a:srgbClr val="C0C0C0"/>
                  </a:outerShdw>
                </a:effectLst>
                <a:ea typeface="楷体_GB2312" pitchFamily="49" charset="-122"/>
              </a:rPr>
              <a:t>   </a:t>
            </a:r>
            <a:r>
              <a:rPr lang="en-US" altLang="zh-CN" b="1" dirty="0">
                <a:solidFill>
                  <a:schemeClr val="tx2"/>
                </a:solidFill>
                <a:effectLst>
                  <a:outerShdw blurRad="38100" dist="38100" dir="2700000" algn="tl">
                    <a:srgbClr val="C0C0C0"/>
                  </a:outerShdw>
                </a:effectLst>
                <a:ea typeface="楷体_GB2312" pitchFamily="49" charset="-122"/>
              </a:rPr>
              <a:t>22        67        41       30                     53        46                    13                   01</a:t>
            </a:r>
            <a:endParaRPr lang="en-US" altLang="zh-CN" b="1" dirty="0">
              <a:effectLst>
                <a:outerShdw blurRad="38100" dist="38100" dir="2700000" algn="tl">
                  <a:srgbClr val="C0C0C0"/>
                </a:outerShdw>
              </a:effectLst>
              <a:ea typeface="楷体_GB2312" pitchFamily="49" charset="-122"/>
            </a:endParaRPr>
          </a:p>
        </p:txBody>
      </p:sp>
      <p:sp>
        <p:nvSpPr>
          <p:cNvPr id="112644" name="Line 4">
            <a:extLst>
              <a:ext uri="{FF2B5EF4-FFF2-40B4-BE49-F238E27FC236}">
                <a16:creationId xmlns:a16="http://schemas.microsoft.com/office/drawing/2014/main" id="{974BE3A0-5797-C8CA-E754-11F647D0BD6D}"/>
              </a:ext>
            </a:extLst>
          </p:cNvPr>
          <p:cNvSpPr>
            <a:spLocks noChangeShapeType="1"/>
          </p:cNvSpPr>
          <p:nvPr/>
        </p:nvSpPr>
        <p:spPr bwMode="auto">
          <a:xfrm>
            <a:off x="1219200" y="685800"/>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45" name="Line 5">
            <a:extLst>
              <a:ext uri="{FF2B5EF4-FFF2-40B4-BE49-F238E27FC236}">
                <a16:creationId xmlns:a16="http://schemas.microsoft.com/office/drawing/2014/main" id="{7CEC6833-937E-07A7-53B5-EEE60F69740D}"/>
              </a:ext>
            </a:extLst>
          </p:cNvPr>
          <p:cNvSpPr>
            <a:spLocks noChangeShapeType="1"/>
          </p:cNvSpPr>
          <p:nvPr/>
        </p:nvSpPr>
        <p:spPr bwMode="auto">
          <a:xfrm>
            <a:off x="1981200" y="685800"/>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46" name="Line 6">
            <a:extLst>
              <a:ext uri="{FF2B5EF4-FFF2-40B4-BE49-F238E27FC236}">
                <a16:creationId xmlns:a16="http://schemas.microsoft.com/office/drawing/2014/main" id="{F1E37FD7-A30C-590B-00C9-FC2B581140B7}"/>
              </a:ext>
            </a:extLst>
          </p:cNvPr>
          <p:cNvSpPr>
            <a:spLocks noChangeShapeType="1"/>
          </p:cNvSpPr>
          <p:nvPr/>
        </p:nvSpPr>
        <p:spPr bwMode="auto">
          <a:xfrm>
            <a:off x="2743200" y="685800"/>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47" name="Text Box 7">
            <a:extLst>
              <a:ext uri="{FF2B5EF4-FFF2-40B4-BE49-F238E27FC236}">
                <a16:creationId xmlns:a16="http://schemas.microsoft.com/office/drawing/2014/main" id="{25A95590-AEAD-CB85-A76A-330787827CDB}"/>
              </a:ext>
            </a:extLst>
          </p:cNvPr>
          <p:cNvSpPr txBox="1">
            <a:spLocks noChangeArrowheads="1"/>
          </p:cNvSpPr>
          <p:nvPr/>
        </p:nvSpPr>
        <p:spPr bwMode="auto">
          <a:xfrm>
            <a:off x="365125" y="1219200"/>
            <a:ext cx="8286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  </a:t>
            </a:r>
            <a:r>
              <a:rPr kumimoji="1" lang="en-US" altLang="zh-CN" sz="2400" b="1">
                <a:solidFill>
                  <a:schemeClr val="tx2"/>
                </a:solidFill>
                <a:latin typeface="Times New Roman" panose="02020603050405020304" pitchFamily="18" charset="0"/>
                <a:ea typeface="宋体" panose="02010600030101010101" pitchFamily="2" charset="-122"/>
              </a:rPr>
              <a:t>(1)     (3)      (1)     (2)                (1)      (1)               (2)              (6)</a:t>
            </a:r>
            <a:endParaRPr kumimoji="1" lang="en-US" altLang="zh-CN" sz="2400" b="1">
              <a:latin typeface="Times New Roman" panose="02020603050405020304" pitchFamily="18" charset="0"/>
              <a:ea typeface="宋体" panose="02010600030101010101" pitchFamily="2" charset="-122"/>
            </a:endParaRPr>
          </a:p>
        </p:txBody>
      </p:sp>
      <p:sp>
        <p:nvSpPr>
          <p:cNvPr id="112648" name="Text Box 8">
            <a:extLst>
              <a:ext uri="{FF2B5EF4-FFF2-40B4-BE49-F238E27FC236}">
                <a16:creationId xmlns:a16="http://schemas.microsoft.com/office/drawing/2014/main" id="{A72795E8-B565-243D-FAB2-16D710C6B15A}"/>
              </a:ext>
            </a:extLst>
          </p:cNvPr>
          <p:cNvSpPr txBox="1">
            <a:spLocks noChangeArrowheads="1"/>
          </p:cNvSpPr>
          <p:nvPr/>
        </p:nvSpPr>
        <p:spPr bwMode="auto">
          <a:xfrm>
            <a:off x="425450" y="228600"/>
            <a:ext cx="818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  </a:t>
            </a:r>
            <a:r>
              <a:rPr kumimoji="1" lang="en-US" altLang="zh-CN" sz="2400" b="1">
                <a:solidFill>
                  <a:srgbClr val="008080"/>
                </a:solidFill>
                <a:latin typeface="Times New Roman" panose="02020603050405020304" pitchFamily="18" charset="0"/>
                <a:ea typeface="宋体" panose="02010600030101010101" pitchFamily="2" charset="-122"/>
              </a:rPr>
              <a:t>0        1        2        3        4        5        6        7        8        9       10</a:t>
            </a:r>
            <a:endParaRPr kumimoji="1" lang="en-US" altLang="zh-CN" sz="2400" b="1">
              <a:latin typeface="Times New Roman" panose="02020603050405020304" pitchFamily="18" charset="0"/>
              <a:ea typeface="宋体" panose="02010600030101010101" pitchFamily="2" charset="-122"/>
            </a:endParaRPr>
          </a:p>
        </p:txBody>
      </p:sp>
      <p:sp>
        <p:nvSpPr>
          <p:cNvPr id="112649" name="Line 9">
            <a:extLst>
              <a:ext uri="{FF2B5EF4-FFF2-40B4-BE49-F238E27FC236}">
                <a16:creationId xmlns:a16="http://schemas.microsoft.com/office/drawing/2014/main" id="{EC26830D-541B-ABC3-20E1-6371BAF4E1F5}"/>
              </a:ext>
            </a:extLst>
          </p:cNvPr>
          <p:cNvSpPr>
            <a:spLocks noChangeShapeType="1"/>
          </p:cNvSpPr>
          <p:nvPr/>
        </p:nvSpPr>
        <p:spPr bwMode="auto">
          <a:xfrm>
            <a:off x="3505200" y="685800"/>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0" name="Line 10">
            <a:extLst>
              <a:ext uri="{FF2B5EF4-FFF2-40B4-BE49-F238E27FC236}">
                <a16:creationId xmlns:a16="http://schemas.microsoft.com/office/drawing/2014/main" id="{3962243F-636E-2A12-03DF-AD867E5A1D02}"/>
              </a:ext>
            </a:extLst>
          </p:cNvPr>
          <p:cNvSpPr>
            <a:spLocks noChangeShapeType="1"/>
          </p:cNvSpPr>
          <p:nvPr/>
        </p:nvSpPr>
        <p:spPr bwMode="auto">
          <a:xfrm>
            <a:off x="4267200" y="685800"/>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1" name="Line 11">
            <a:extLst>
              <a:ext uri="{FF2B5EF4-FFF2-40B4-BE49-F238E27FC236}">
                <a16:creationId xmlns:a16="http://schemas.microsoft.com/office/drawing/2014/main" id="{7073A7DC-678A-E5F5-C8B4-4EDD2D806E58}"/>
              </a:ext>
            </a:extLst>
          </p:cNvPr>
          <p:cNvSpPr>
            <a:spLocks noChangeShapeType="1"/>
          </p:cNvSpPr>
          <p:nvPr/>
        </p:nvSpPr>
        <p:spPr bwMode="auto">
          <a:xfrm>
            <a:off x="5029200" y="685800"/>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2" name="Line 12">
            <a:extLst>
              <a:ext uri="{FF2B5EF4-FFF2-40B4-BE49-F238E27FC236}">
                <a16:creationId xmlns:a16="http://schemas.microsoft.com/office/drawing/2014/main" id="{7A501B4D-425D-1357-D23E-71A296C3094D}"/>
              </a:ext>
            </a:extLst>
          </p:cNvPr>
          <p:cNvSpPr>
            <a:spLocks noChangeShapeType="1"/>
          </p:cNvSpPr>
          <p:nvPr/>
        </p:nvSpPr>
        <p:spPr bwMode="auto">
          <a:xfrm>
            <a:off x="5791200" y="685800"/>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3" name="Line 13">
            <a:extLst>
              <a:ext uri="{FF2B5EF4-FFF2-40B4-BE49-F238E27FC236}">
                <a16:creationId xmlns:a16="http://schemas.microsoft.com/office/drawing/2014/main" id="{6BB6532E-A77E-A590-B381-3376E803C803}"/>
              </a:ext>
            </a:extLst>
          </p:cNvPr>
          <p:cNvSpPr>
            <a:spLocks noChangeShapeType="1"/>
          </p:cNvSpPr>
          <p:nvPr/>
        </p:nvSpPr>
        <p:spPr bwMode="auto">
          <a:xfrm>
            <a:off x="6553200" y="685800"/>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4" name="Line 14">
            <a:extLst>
              <a:ext uri="{FF2B5EF4-FFF2-40B4-BE49-F238E27FC236}">
                <a16:creationId xmlns:a16="http://schemas.microsoft.com/office/drawing/2014/main" id="{E8D45096-8A12-2AD8-052B-315AD4270CCA}"/>
              </a:ext>
            </a:extLst>
          </p:cNvPr>
          <p:cNvSpPr>
            <a:spLocks noChangeShapeType="1"/>
          </p:cNvSpPr>
          <p:nvPr/>
        </p:nvSpPr>
        <p:spPr bwMode="auto">
          <a:xfrm>
            <a:off x="8077200" y="685800"/>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5" name="Line 15">
            <a:extLst>
              <a:ext uri="{FF2B5EF4-FFF2-40B4-BE49-F238E27FC236}">
                <a16:creationId xmlns:a16="http://schemas.microsoft.com/office/drawing/2014/main" id="{8E1383A9-B361-C609-8912-8232172C6246}"/>
              </a:ext>
            </a:extLst>
          </p:cNvPr>
          <p:cNvSpPr>
            <a:spLocks noChangeShapeType="1"/>
          </p:cNvSpPr>
          <p:nvPr/>
        </p:nvSpPr>
        <p:spPr bwMode="auto">
          <a:xfrm>
            <a:off x="7315200" y="685800"/>
            <a:ext cx="0" cy="533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3825" name="Rectangle 17">
            <a:extLst>
              <a:ext uri="{FF2B5EF4-FFF2-40B4-BE49-F238E27FC236}">
                <a16:creationId xmlns:a16="http://schemas.microsoft.com/office/drawing/2014/main" id="{03644C34-57FC-52B5-1174-0F5ABF22282F}"/>
              </a:ext>
            </a:extLst>
          </p:cNvPr>
          <p:cNvSpPr>
            <a:spLocks noChangeArrowheads="1"/>
          </p:cNvSpPr>
          <p:nvPr/>
        </p:nvSpPr>
        <p:spPr bwMode="auto">
          <a:xfrm>
            <a:off x="381000" y="177800"/>
            <a:ext cx="184150" cy="519113"/>
          </a:xfrm>
          <a:prstGeom prst="rect">
            <a:avLst/>
          </a:prstGeom>
          <a:noFill/>
          <a:ln w="9525">
            <a:noFill/>
            <a:miter lim="800000"/>
            <a:headEnd/>
            <a:tailEnd/>
          </a:ln>
          <a:effectLst/>
        </p:spPr>
        <p:txBody>
          <a:bodyPr wrap="none">
            <a:spAutoFit/>
          </a:bodyPr>
          <a:lstStyle/>
          <a:p>
            <a:pPr>
              <a:defRPr/>
            </a:pPr>
            <a:endParaRPr lang="zh-CN" altLang="zh-CN" sz="2800" b="1">
              <a:solidFill>
                <a:srgbClr val="008080"/>
              </a:solidFill>
              <a:effectLst>
                <a:outerShdw blurRad="38100" dist="38100" dir="2700000" algn="tl">
                  <a:srgbClr val="C0C0C0"/>
                </a:outerShdw>
              </a:effectLst>
              <a:ea typeface="仿宋_GB2312" pitchFamily="49" charset="-122"/>
            </a:endParaRPr>
          </a:p>
        </p:txBody>
      </p:sp>
      <p:sp>
        <p:nvSpPr>
          <p:cNvPr id="2" name="灯片编号占位符 1">
            <a:extLst>
              <a:ext uri="{FF2B5EF4-FFF2-40B4-BE49-F238E27FC236}">
                <a16:creationId xmlns:a16="http://schemas.microsoft.com/office/drawing/2014/main" id="{75D39907-46B0-9BD5-A683-B9869981ADB8}"/>
              </a:ext>
            </a:extLst>
          </p:cNvPr>
          <p:cNvSpPr>
            <a:spLocks noGrp="1"/>
          </p:cNvSpPr>
          <p:nvPr>
            <p:ph type="sldNum" sz="quarter" idx="12"/>
          </p:nvPr>
        </p:nvSpPr>
        <p:spPr/>
        <p:txBody>
          <a:bodyPr/>
          <a:lstStyle/>
          <a:p>
            <a:pPr>
              <a:defRPr/>
            </a:pPr>
            <a:fld id="{524B865F-46F8-4520-B0DD-31ED36EF62D9}" type="slidenum">
              <a:rPr lang="en-US" altLang="zh-CN" smtClean="0"/>
              <a:pPr>
                <a:defRPr/>
              </a:pPr>
              <a:t>92</a:t>
            </a:fld>
            <a:endParaRPr lang="en-US" altLang="zh-CN"/>
          </a:p>
        </p:txBody>
      </p:sp>
    </p:spTree>
  </p:cSld>
  <p:clrMapOvr>
    <a:masterClrMapping/>
  </p:clrMapOvr>
  <p:transition>
    <p:spli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BF473E5-9BF8-46CC-A516-E2DC10EAA0D8}"/>
              </a:ext>
            </a:extLst>
          </p:cNvPr>
          <p:cNvSpPr>
            <a:spLocks noGrp="1"/>
          </p:cNvSpPr>
          <p:nvPr>
            <p:ph type="title"/>
          </p:nvPr>
        </p:nvSpPr>
        <p:spPr/>
        <p:txBody>
          <a:bodyPr/>
          <a:lstStyle/>
          <a:p>
            <a:r>
              <a:rPr lang="en-US" altLang="zh-CN" dirty="0"/>
              <a:t>Rehash( )</a:t>
            </a:r>
            <a:r>
              <a:rPr lang="zh-CN" altLang="en-US" dirty="0"/>
              <a:t>的取法</a:t>
            </a:r>
          </a:p>
        </p:txBody>
      </p:sp>
      <p:sp>
        <p:nvSpPr>
          <p:cNvPr id="504834" name="Rectangle 2">
            <a:extLst>
              <a:ext uri="{FF2B5EF4-FFF2-40B4-BE49-F238E27FC236}">
                <a16:creationId xmlns:a16="http://schemas.microsoft.com/office/drawing/2014/main" id="{BEE1925E-2665-4954-1022-96DF913E3BBE}"/>
              </a:ext>
            </a:extLst>
          </p:cNvPr>
          <p:cNvSpPr>
            <a:spLocks noGrp="1" noChangeArrowheads="1"/>
          </p:cNvSpPr>
          <p:nvPr>
            <p:ph type="body" idx="1"/>
          </p:nvPr>
        </p:nvSpPr>
        <p:spPr/>
        <p:txBody>
          <a:bodyPr/>
          <a:lstStyle/>
          <a:p>
            <a:r>
              <a:rPr lang="en-US" altLang="zh-CN" dirty="0"/>
              <a:t>Rehash( )</a:t>
            </a:r>
            <a:r>
              <a:rPr lang="zh-CN" altLang="en-US" dirty="0"/>
              <a:t>的取法很多。例如</a:t>
            </a:r>
            <a:r>
              <a:rPr lang="en-US" altLang="zh-CN" dirty="0"/>
              <a:t>, </a:t>
            </a:r>
            <a:r>
              <a:rPr lang="zh-CN" altLang="en-US" dirty="0"/>
              <a:t>当表长</a:t>
            </a:r>
            <a:r>
              <a:rPr lang="en-US" altLang="zh-CN" dirty="0"/>
              <a:t>m</a:t>
            </a:r>
            <a:r>
              <a:rPr lang="zh-CN" altLang="en-US" dirty="0"/>
              <a:t>是质数时</a:t>
            </a:r>
            <a:r>
              <a:rPr lang="en-US" altLang="zh-CN" dirty="0"/>
              <a:t>, </a:t>
            </a:r>
            <a:r>
              <a:rPr lang="zh-CN" altLang="en-US" dirty="0"/>
              <a:t>可定义</a:t>
            </a:r>
          </a:p>
          <a:p>
            <a:pPr lvl="1"/>
            <a:r>
              <a:rPr lang="zh-CN" altLang="en-US" dirty="0"/>
              <a:t> </a:t>
            </a:r>
            <a:r>
              <a:rPr lang="en-US" altLang="zh-CN" dirty="0" err="1"/>
              <a:t>ReHash</a:t>
            </a:r>
            <a:r>
              <a:rPr lang="en-US" altLang="zh-CN" dirty="0"/>
              <a:t>(key) = key % (m-1) +1</a:t>
            </a:r>
          </a:p>
          <a:p>
            <a:pPr lvl="1"/>
            <a:r>
              <a:rPr lang="en-US" altLang="zh-CN" dirty="0"/>
              <a:t> </a:t>
            </a:r>
            <a:r>
              <a:rPr lang="en-US" altLang="zh-CN" dirty="0" err="1"/>
              <a:t>ReHash</a:t>
            </a:r>
            <a:r>
              <a:rPr lang="en-US" altLang="zh-CN" dirty="0"/>
              <a:t>(key) = </a:t>
            </a:r>
            <a:r>
              <a:rPr lang="en-US" altLang="zh-CN" dirty="0">
                <a:sym typeface="Symbol" pitchFamily="18" charset="2"/>
              </a:rPr>
              <a:t></a:t>
            </a:r>
            <a:r>
              <a:rPr lang="en-US" altLang="zh-CN" dirty="0"/>
              <a:t>key / m</a:t>
            </a:r>
            <a:r>
              <a:rPr lang="en-US" altLang="zh-CN" dirty="0">
                <a:sym typeface="Symbol" pitchFamily="18" charset="2"/>
              </a:rPr>
              <a:t></a:t>
            </a:r>
            <a:r>
              <a:rPr lang="en-US" altLang="zh-CN" dirty="0"/>
              <a:t> % (m-2)+1</a:t>
            </a:r>
          </a:p>
          <a:p>
            <a:r>
              <a:rPr lang="zh-CN" altLang="en-US" dirty="0"/>
              <a:t>当 </a:t>
            </a:r>
            <a:r>
              <a:rPr lang="en-US" altLang="zh-CN" dirty="0"/>
              <a:t>m </a:t>
            </a:r>
            <a:r>
              <a:rPr lang="zh-CN" altLang="en-US" dirty="0"/>
              <a:t>是 </a:t>
            </a:r>
            <a:r>
              <a:rPr lang="en-US" altLang="zh-CN" dirty="0"/>
              <a:t>2 </a:t>
            </a:r>
            <a:r>
              <a:rPr lang="zh-CN" altLang="en-US" dirty="0"/>
              <a:t>的方幂时，</a:t>
            </a:r>
            <a:r>
              <a:rPr lang="en-US" altLang="zh-CN" dirty="0" err="1"/>
              <a:t>ReHash</a:t>
            </a:r>
            <a:r>
              <a:rPr lang="en-US" altLang="zh-CN" dirty="0"/>
              <a:t>(key) </a:t>
            </a:r>
            <a:r>
              <a:rPr lang="zh-CN" altLang="en-US" dirty="0"/>
              <a:t>可取从 </a:t>
            </a:r>
            <a:r>
              <a:rPr lang="en-US" altLang="zh-CN" dirty="0"/>
              <a:t>0 </a:t>
            </a:r>
            <a:r>
              <a:rPr lang="zh-CN" altLang="en-US" dirty="0"/>
              <a:t>到 </a:t>
            </a:r>
            <a:r>
              <a:rPr lang="en-US" altLang="zh-CN" dirty="0"/>
              <a:t>m-1 </a:t>
            </a:r>
            <a:r>
              <a:rPr lang="zh-CN" altLang="en-US" dirty="0"/>
              <a:t>中的任意一个奇数。</a:t>
            </a:r>
          </a:p>
        </p:txBody>
      </p:sp>
      <p:sp>
        <p:nvSpPr>
          <p:cNvPr id="2" name="灯片编号占位符 1">
            <a:extLst>
              <a:ext uri="{FF2B5EF4-FFF2-40B4-BE49-F238E27FC236}">
                <a16:creationId xmlns:a16="http://schemas.microsoft.com/office/drawing/2014/main" id="{D23F7B15-B3E4-DBF0-6981-91D8039C856B}"/>
              </a:ext>
            </a:extLst>
          </p:cNvPr>
          <p:cNvSpPr>
            <a:spLocks noGrp="1"/>
          </p:cNvSpPr>
          <p:nvPr>
            <p:ph type="sldNum" sz="quarter" idx="12"/>
          </p:nvPr>
        </p:nvSpPr>
        <p:spPr/>
        <p:txBody>
          <a:bodyPr/>
          <a:lstStyle/>
          <a:p>
            <a:pPr>
              <a:defRPr/>
            </a:pPr>
            <a:fld id="{524B865F-46F8-4520-B0DD-31ED36EF62D9}" type="slidenum">
              <a:rPr lang="en-US" altLang="zh-CN" smtClean="0"/>
              <a:pPr>
                <a:defRPr/>
              </a:pPr>
              <a:t>93</a:t>
            </a:fld>
            <a:endParaRPr lang="en-US" altLang="zh-CN"/>
          </a:p>
        </p:txBody>
      </p:sp>
    </p:spTree>
  </p:cSld>
  <p:clrMapOvr>
    <a:masterClrMapping/>
  </p:clrMapOvr>
  <p:transition>
    <p:spli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a:extLst>
              <a:ext uri="{FF2B5EF4-FFF2-40B4-BE49-F238E27FC236}">
                <a16:creationId xmlns:a16="http://schemas.microsoft.com/office/drawing/2014/main" id="{292E3379-D259-B4FC-3D37-3D960BFCB92F}"/>
              </a:ext>
            </a:extLst>
          </p:cNvPr>
          <p:cNvSpPr>
            <a:spLocks noGrp="1" noChangeArrowheads="1"/>
          </p:cNvSpPr>
          <p:nvPr>
            <p:ph type="title"/>
          </p:nvPr>
        </p:nvSpPr>
        <p:spPr/>
        <p:txBody>
          <a:bodyPr/>
          <a:lstStyle/>
          <a:p>
            <a:r>
              <a:rPr lang="en-US" altLang="zh-CN" dirty="0"/>
              <a:t>6.5.4 </a:t>
            </a:r>
            <a:r>
              <a:rPr lang="zh-CN" altLang="en-US" dirty="0"/>
              <a:t>处理冲突的开散列方法 </a:t>
            </a:r>
            <a:r>
              <a:rPr lang="en-US" altLang="zh-CN" dirty="0"/>
              <a:t>— </a:t>
            </a:r>
            <a:r>
              <a:rPr lang="zh-CN" altLang="en-US" dirty="0"/>
              <a:t>链地址法</a:t>
            </a:r>
          </a:p>
        </p:txBody>
      </p:sp>
      <p:sp>
        <p:nvSpPr>
          <p:cNvPr id="505859" name="Rectangle 3">
            <a:extLst>
              <a:ext uri="{FF2B5EF4-FFF2-40B4-BE49-F238E27FC236}">
                <a16:creationId xmlns:a16="http://schemas.microsoft.com/office/drawing/2014/main" id="{E0B76B19-EF11-582D-63E3-EE2DCB7B756E}"/>
              </a:ext>
            </a:extLst>
          </p:cNvPr>
          <p:cNvSpPr>
            <a:spLocks noGrp="1" noChangeArrowheads="1"/>
          </p:cNvSpPr>
          <p:nvPr>
            <p:ph type="body" idx="1"/>
          </p:nvPr>
        </p:nvSpPr>
        <p:spPr/>
        <p:txBody>
          <a:bodyPr>
            <a:normAutofit fontScale="77500" lnSpcReduction="20000"/>
          </a:bodyPr>
          <a:lstStyle/>
          <a:p>
            <a:r>
              <a:rPr lang="zh-CN" altLang="en-US" dirty="0"/>
              <a:t>开散列方法首先对关键码集合用某一个散列函数计算它们的存放位置。</a:t>
            </a:r>
          </a:p>
          <a:p>
            <a:r>
              <a:rPr lang="zh-CN" altLang="en-US" dirty="0"/>
              <a:t>设散列表地址空间范围是从 </a:t>
            </a:r>
            <a:r>
              <a:rPr lang="en-US" altLang="zh-CN" dirty="0"/>
              <a:t>0 </a:t>
            </a:r>
            <a:r>
              <a:rPr lang="zh-CN" altLang="en-US" dirty="0"/>
              <a:t>到 </a:t>
            </a:r>
            <a:r>
              <a:rPr lang="en-US" altLang="zh-CN" dirty="0"/>
              <a:t>m-1</a:t>
            </a:r>
            <a:r>
              <a:rPr lang="zh-CN" altLang="en-US" dirty="0"/>
              <a:t>，则关键码集合被划分为</a:t>
            </a:r>
            <a:r>
              <a:rPr lang="en-US" altLang="zh-CN" dirty="0"/>
              <a:t>m</a:t>
            </a:r>
            <a:r>
              <a:rPr lang="zh-CN" altLang="en-US" dirty="0"/>
              <a:t>个子集，具有相同地址的关键码归于同一子集。每个子集称为一个桶。</a:t>
            </a:r>
          </a:p>
          <a:p>
            <a:r>
              <a:rPr lang="zh-CN" altLang="en-US" dirty="0"/>
              <a:t>通常各个桶中的元素通过一个单链表链接起来，称之为同义词子表。所有桶号相同的表项都链接在同一个同义词子表中，各链表的表头结点组成一个向量。</a:t>
            </a:r>
            <a:endParaRPr lang="en-US" altLang="zh-CN" dirty="0"/>
          </a:p>
          <a:p>
            <a:r>
              <a:rPr lang="zh-CN" altLang="en-US" dirty="0"/>
              <a:t>向量的元素个数与桶数一致。桶号为 </a:t>
            </a:r>
            <a:r>
              <a:rPr lang="en-US" altLang="zh-CN" dirty="0" err="1"/>
              <a:t>i</a:t>
            </a:r>
            <a:r>
              <a:rPr lang="en-US" altLang="zh-CN" dirty="0"/>
              <a:t> </a:t>
            </a:r>
            <a:r>
              <a:rPr lang="zh-CN" altLang="en-US" dirty="0"/>
              <a:t>的同义词子表的表头结点是向量中的第 </a:t>
            </a:r>
            <a:r>
              <a:rPr lang="en-US" altLang="zh-CN" dirty="0" err="1"/>
              <a:t>i</a:t>
            </a:r>
            <a:r>
              <a:rPr lang="en-US" altLang="zh-CN" dirty="0"/>
              <a:t> </a:t>
            </a:r>
            <a:r>
              <a:rPr lang="zh-CN" altLang="en-US" dirty="0"/>
              <a:t>个元素。</a:t>
            </a:r>
          </a:p>
        </p:txBody>
      </p:sp>
      <p:sp>
        <p:nvSpPr>
          <p:cNvPr id="2" name="灯片编号占位符 1">
            <a:extLst>
              <a:ext uri="{FF2B5EF4-FFF2-40B4-BE49-F238E27FC236}">
                <a16:creationId xmlns:a16="http://schemas.microsoft.com/office/drawing/2014/main" id="{828ACD63-2919-C4EA-D03E-FBDA0F5A50B8}"/>
              </a:ext>
            </a:extLst>
          </p:cNvPr>
          <p:cNvSpPr>
            <a:spLocks noGrp="1"/>
          </p:cNvSpPr>
          <p:nvPr>
            <p:ph type="sldNum" sz="quarter" idx="12"/>
          </p:nvPr>
        </p:nvSpPr>
        <p:spPr/>
        <p:txBody>
          <a:bodyPr/>
          <a:lstStyle/>
          <a:p>
            <a:pPr>
              <a:defRPr/>
            </a:pPr>
            <a:fld id="{524B865F-46F8-4520-B0DD-31ED36EF62D9}" type="slidenum">
              <a:rPr lang="en-US" altLang="zh-CN" smtClean="0"/>
              <a:pPr>
                <a:defRPr/>
              </a:pPr>
              <a:t>94</a:t>
            </a:fld>
            <a:endParaRPr lang="en-US" altLang="zh-CN"/>
          </a:p>
        </p:txBody>
      </p:sp>
    </p:spTree>
  </p:cSld>
  <p:clrMapOvr>
    <a:masterClrMapping/>
  </p:clrMapOvr>
  <p:transition>
    <p:spli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D2EE149-8E68-4561-9645-2BD4CC72650B}"/>
              </a:ext>
            </a:extLst>
          </p:cNvPr>
          <p:cNvSpPr>
            <a:spLocks noGrp="1"/>
          </p:cNvSpPr>
          <p:nvPr>
            <p:ph type="title"/>
          </p:nvPr>
        </p:nvSpPr>
        <p:spPr/>
        <p:txBody>
          <a:bodyPr/>
          <a:lstStyle/>
          <a:p>
            <a:r>
              <a:rPr lang="zh-CN" altLang="en-US" dirty="0"/>
              <a:t>示例</a:t>
            </a:r>
          </a:p>
        </p:txBody>
      </p:sp>
      <p:sp>
        <p:nvSpPr>
          <p:cNvPr id="506882" name="Rectangle 2">
            <a:extLst>
              <a:ext uri="{FF2B5EF4-FFF2-40B4-BE49-F238E27FC236}">
                <a16:creationId xmlns:a16="http://schemas.microsoft.com/office/drawing/2014/main" id="{70518E31-0B8D-BEE3-13C8-B63ECD808DEA}"/>
              </a:ext>
            </a:extLst>
          </p:cNvPr>
          <p:cNvSpPr>
            <a:spLocks noGrp="1" noChangeArrowheads="1"/>
          </p:cNvSpPr>
          <p:nvPr>
            <p:ph type="body" idx="1"/>
          </p:nvPr>
        </p:nvSpPr>
        <p:spPr/>
        <p:txBody>
          <a:bodyPr>
            <a:normAutofit fontScale="85000" lnSpcReduction="10000"/>
          </a:bodyPr>
          <a:lstStyle/>
          <a:p>
            <a:r>
              <a:rPr lang="zh-CN" altLang="en-US" dirty="0"/>
              <a:t>给出一组表项关键码 </a:t>
            </a:r>
            <a:r>
              <a:rPr lang="en-US" altLang="zh-CN" dirty="0"/>
              <a:t>{ Burke, </a:t>
            </a:r>
            <a:r>
              <a:rPr lang="en-US" altLang="zh-CN" dirty="0" err="1"/>
              <a:t>Ekers</a:t>
            </a:r>
            <a:r>
              <a:rPr lang="en-US" altLang="zh-CN" dirty="0"/>
              <a:t>, Broad, Blum, Attlee, Alton, Hecht, </a:t>
            </a:r>
            <a:r>
              <a:rPr lang="en-US" altLang="zh-CN" dirty="0" err="1"/>
              <a:t>Ederly</a:t>
            </a:r>
            <a:r>
              <a:rPr lang="en-US" altLang="zh-CN" dirty="0"/>
              <a:t> }</a:t>
            </a:r>
            <a:r>
              <a:rPr lang="zh-CN" altLang="en-US" dirty="0"/>
              <a:t>。散列函数为：</a:t>
            </a:r>
            <a:r>
              <a:rPr lang="en-US" altLang="zh-CN" dirty="0"/>
              <a:t>Hash (x)</a:t>
            </a:r>
            <a:r>
              <a:rPr lang="zh-CN" altLang="en-US" dirty="0"/>
              <a:t>＝</a:t>
            </a:r>
            <a:r>
              <a:rPr lang="en-US" altLang="zh-CN" dirty="0" err="1"/>
              <a:t>ord</a:t>
            </a:r>
            <a:r>
              <a:rPr lang="en-US" altLang="zh-CN" dirty="0"/>
              <a:t> (x)</a:t>
            </a:r>
            <a:r>
              <a:rPr lang="zh-CN" altLang="en-US" dirty="0"/>
              <a:t>－</a:t>
            </a:r>
            <a:r>
              <a:rPr lang="en-US" altLang="zh-CN" dirty="0" err="1"/>
              <a:t>ord</a:t>
            </a:r>
            <a:r>
              <a:rPr lang="en-US" altLang="zh-CN" dirty="0"/>
              <a:t> ('A')</a:t>
            </a:r>
            <a:r>
              <a:rPr lang="zh-CN" altLang="en-US" dirty="0"/>
              <a:t>。</a:t>
            </a:r>
          </a:p>
          <a:p>
            <a:r>
              <a:rPr lang="zh-CN" altLang="en-US" dirty="0"/>
              <a:t>用它计算可得：</a:t>
            </a:r>
          </a:p>
          <a:p>
            <a:pPr lvl="1"/>
            <a:r>
              <a:rPr lang="en-US" altLang="zh-CN" dirty="0"/>
              <a:t>Hash (Burke) = 1       Hash (</a:t>
            </a:r>
            <a:r>
              <a:rPr lang="en-US" altLang="zh-CN" dirty="0" err="1"/>
              <a:t>Ekers</a:t>
            </a:r>
            <a:r>
              <a:rPr lang="en-US" altLang="zh-CN" dirty="0"/>
              <a:t>) = 4</a:t>
            </a:r>
          </a:p>
          <a:p>
            <a:pPr lvl="1"/>
            <a:r>
              <a:rPr lang="en-US" altLang="zh-CN" dirty="0"/>
              <a:t>Hash (Broad) = 1       Hash (Blum) = 1</a:t>
            </a:r>
          </a:p>
          <a:p>
            <a:pPr lvl="1"/>
            <a:r>
              <a:rPr lang="en-US" altLang="zh-CN" dirty="0"/>
              <a:t>Hash (Attlee) = 0       Hash (Hecht) = 7</a:t>
            </a:r>
          </a:p>
          <a:p>
            <a:pPr lvl="1"/>
            <a:r>
              <a:rPr lang="en-US" altLang="zh-CN" dirty="0"/>
              <a:t>Hash (Alton) = 0	  Hash (</a:t>
            </a:r>
            <a:r>
              <a:rPr lang="en-US" altLang="zh-CN" dirty="0" err="1"/>
              <a:t>Ederly</a:t>
            </a:r>
            <a:r>
              <a:rPr lang="en-US" altLang="zh-CN" dirty="0"/>
              <a:t>) = 4</a:t>
            </a:r>
          </a:p>
          <a:p>
            <a:r>
              <a:rPr lang="zh-CN" altLang="en-US" dirty="0"/>
              <a:t>散列表为 </a:t>
            </a:r>
            <a:r>
              <a:rPr lang="en-US" altLang="zh-CN" dirty="0"/>
              <a:t>HT[0..25]</a:t>
            </a:r>
            <a:r>
              <a:rPr lang="zh-CN" altLang="en-US" dirty="0"/>
              <a:t>，</a:t>
            </a:r>
            <a:r>
              <a:rPr lang="en-US" altLang="zh-CN" dirty="0"/>
              <a:t>m = 26</a:t>
            </a:r>
            <a:r>
              <a:rPr lang="zh-CN" altLang="en-US" dirty="0"/>
              <a:t>。	</a:t>
            </a:r>
          </a:p>
        </p:txBody>
      </p:sp>
      <p:sp>
        <p:nvSpPr>
          <p:cNvPr id="506883" name="Rectangle 3">
            <a:extLst>
              <a:ext uri="{FF2B5EF4-FFF2-40B4-BE49-F238E27FC236}">
                <a16:creationId xmlns:a16="http://schemas.microsoft.com/office/drawing/2014/main" id="{319C97CF-374A-1B38-E5E8-7915E55E9F06}"/>
              </a:ext>
            </a:extLst>
          </p:cNvPr>
          <p:cNvSpPr>
            <a:spLocks noChangeArrowheads="1"/>
          </p:cNvSpPr>
          <p:nvPr/>
        </p:nvSpPr>
        <p:spPr bwMode="auto">
          <a:xfrm>
            <a:off x="533400" y="3581400"/>
            <a:ext cx="8534400" cy="603250"/>
          </a:xfrm>
          <a:prstGeom prst="rect">
            <a:avLst/>
          </a:prstGeom>
          <a:noFill/>
          <a:ln w="9525">
            <a:noFill/>
            <a:miter lim="800000"/>
            <a:headEnd/>
            <a:tailEnd/>
          </a:ln>
          <a:effectLst/>
        </p:spPr>
        <p:txBody>
          <a:bodyPr>
            <a:spAutoFit/>
          </a:bodyPr>
          <a:lstStyle/>
          <a:p>
            <a:pPr>
              <a:lnSpc>
                <a:spcPct val="105000"/>
              </a:lnSpc>
              <a:defRPr/>
            </a:pPr>
            <a:r>
              <a:rPr lang="en-US" altLang="zh-CN" b="1" i="1">
                <a:effectLst>
                  <a:outerShdw blurRad="38100" dist="38100" dir="2700000" algn="tl">
                    <a:srgbClr val="C0C0C0"/>
                  </a:outerShdw>
                </a:effectLst>
                <a:ea typeface="宋体" charset="-122"/>
              </a:rPr>
              <a:t>      </a:t>
            </a:r>
            <a:endParaRPr lang="en-US" altLang="zh-CN" b="1">
              <a:effectLst>
                <a:outerShdw blurRad="38100" dist="38100" dir="2700000" algn="tl">
                  <a:srgbClr val="C0C0C0"/>
                </a:outerShdw>
              </a:effectLst>
              <a:ea typeface="宋体" charset="-122"/>
            </a:endParaRPr>
          </a:p>
        </p:txBody>
      </p:sp>
      <p:sp>
        <p:nvSpPr>
          <p:cNvPr id="2" name="灯片编号占位符 1">
            <a:extLst>
              <a:ext uri="{FF2B5EF4-FFF2-40B4-BE49-F238E27FC236}">
                <a16:creationId xmlns:a16="http://schemas.microsoft.com/office/drawing/2014/main" id="{5468E1BC-06BD-0F58-05AE-74D5A68CB06F}"/>
              </a:ext>
            </a:extLst>
          </p:cNvPr>
          <p:cNvSpPr>
            <a:spLocks noGrp="1"/>
          </p:cNvSpPr>
          <p:nvPr>
            <p:ph type="sldNum" sz="quarter" idx="12"/>
          </p:nvPr>
        </p:nvSpPr>
        <p:spPr/>
        <p:txBody>
          <a:bodyPr/>
          <a:lstStyle/>
          <a:p>
            <a:pPr>
              <a:defRPr/>
            </a:pPr>
            <a:fld id="{524B865F-46F8-4520-B0DD-31ED36EF62D9}" type="slidenum">
              <a:rPr lang="en-US" altLang="zh-CN" smtClean="0"/>
              <a:pPr>
                <a:defRPr/>
              </a:pPr>
              <a:t>95</a:t>
            </a:fld>
            <a:endParaRPr lang="en-US" altLang="zh-CN"/>
          </a:p>
        </p:txBody>
      </p:sp>
    </p:spTree>
  </p:cSld>
  <p:clrMapOvr>
    <a:masterClrMapping/>
  </p:clrMapOvr>
  <p:transition>
    <p:split/>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AutoShape 2">
            <a:extLst>
              <a:ext uri="{FF2B5EF4-FFF2-40B4-BE49-F238E27FC236}">
                <a16:creationId xmlns:a16="http://schemas.microsoft.com/office/drawing/2014/main" id="{3AD62748-0329-179F-931F-2D7F16812969}"/>
              </a:ext>
            </a:extLst>
          </p:cNvPr>
          <p:cNvSpPr>
            <a:spLocks noChangeArrowheads="1"/>
          </p:cNvSpPr>
          <p:nvPr/>
        </p:nvSpPr>
        <p:spPr bwMode="auto">
          <a:xfrm>
            <a:off x="3581400" y="2819400"/>
            <a:ext cx="685800" cy="152400"/>
          </a:xfrm>
          <a:prstGeom prst="rightArrow">
            <a:avLst>
              <a:gd name="adj1" fmla="val 50000"/>
              <a:gd name="adj2" fmla="val 112500"/>
            </a:avLst>
          </a:prstGeom>
          <a:gradFill rotWithShape="0">
            <a:gsLst>
              <a:gs pos="0">
                <a:srgbClr val="5E7647"/>
              </a:gs>
              <a:gs pos="50000">
                <a:srgbClr val="CCFF99"/>
              </a:gs>
              <a:gs pos="100000">
                <a:srgbClr val="5E7647"/>
              </a:gs>
            </a:gsLst>
            <a:lin ang="5400000" scaled="1"/>
          </a:gradFill>
          <a:ln w="9525">
            <a:solidFill>
              <a:srgbClr val="99FF33"/>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116739" name="AutoShape 3">
            <a:extLst>
              <a:ext uri="{FF2B5EF4-FFF2-40B4-BE49-F238E27FC236}">
                <a16:creationId xmlns:a16="http://schemas.microsoft.com/office/drawing/2014/main" id="{700A1F65-7B56-1658-3D1C-85A22223731B}"/>
              </a:ext>
            </a:extLst>
          </p:cNvPr>
          <p:cNvSpPr>
            <a:spLocks noChangeArrowheads="1"/>
          </p:cNvSpPr>
          <p:nvPr/>
        </p:nvSpPr>
        <p:spPr bwMode="auto">
          <a:xfrm>
            <a:off x="5638800" y="1219200"/>
            <a:ext cx="685800" cy="152400"/>
          </a:xfrm>
          <a:prstGeom prst="rightArrow">
            <a:avLst>
              <a:gd name="adj1" fmla="val 50000"/>
              <a:gd name="adj2" fmla="val 112500"/>
            </a:avLst>
          </a:prstGeom>
          <a:gradFill rotWithShape="0">
            <a:gsLst>
              <a:gs pos="0">
                <a:srgbClr val="5E7647"/>
              </a:gs>
              <a:gs pos="50000">
                <a:srgbClr val="CCFF99"/>
              </a:gs>
              <a:gs pos="100000">
                <a:srgbClr val="5E7647"/>
              </a:gs>
            </a:gsLst>
            <a:lin ang="5400000" scaled="1"/>
          </a:gradFill>
          <a:ln w="9525">
            <a:solidFill>
              <a:srgbClr val="99FF33"/>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116740" name="AutoShape 4">
            <a:extLst>
              <a:ext uri="{FF2B5EF4-FFF2-40B4-BE49-F238E27FC236}">
                <a16:creationId xmlns:a16="http://schemas.microsoft.com/office/drawing/2014/main" id="{8E37753F-9ECC-B9FC-6A08-225DFDE61525}"/>
              </a:ext>
            </a:extLst>
          </p:cNvPr>
          <p:cNvSpPr>
            <a:spLocks noChangeArrowheads="1"/>
          </p:cNvSpPr>
          <p:nvPr/>
        </p:nvSpPr>
        <p:spPr bwMode="auto">
          <a:xfrm>
            <a:off x="3581400" y="1219200"/>
            <a:ext cx="685800" cy="152400"/>
          </a:xfrm>
          <a:prstGeom prst="rightArrow">
            <a:avLst>
              <a:gd name="adj1" fmla="val 50000"/>
              <a:gd name="adj2" fmla="val 112500"/>
            </a:avLst>
          </a:prstGeom>
          <a:gradFill rotWithShape="0">
            <a:gsLst>
              <a:gs pos="0">
                <a:srgbClr val="5E7647"/>
              </a:gs>
              <a:gs pos="50000">
                <a:srgbClr val="CCFF99"/>
              </a:gs>
              <a:gs pos="100000">
                <a:srgbClr val="5E7647"/>
              </a:gs>
            </a:gsLst>
            <a:lin ang="5400000" scaled="1"/>
          </a:gradFill>
          <a:ln w="9525">
            <a:solidFill>
              <a:srgbClr val="99FF33"/>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116741" name="AutoShape 5">
            <a:extLst>
              <a:ext uri="{FF2B5EF4-FFF2-40B4-BE49-F238E27FC236}">
                <a16:creationId xmlns:a16="http://schemas.microsoft.com/office/drawing/2014/main" id="{B8D3A6CC-E7DE-57A2-C5B0-D116272E153E}"/>
              </a:ext>
            </a:extLst>
          </p:cNvPr>
          <p:cNvSpPr>
            <a:spLocks noChangeArrowheads="1"/>
          </p:cNvSpPr>
          <p:nvPr/>
        </p:nvSpPr>
        <p:spPr bwMode="auto">
          <a:xfrm>
            <a:off x="3581400" y="685800"/>
            <a:ext cx="685800" cy="152400"/>
          </a:xfrm>
          <a:prstGeom prst="rightArrow">
            <a:avLst>
              <a:gd name="adj1" fmla="val 50000"/>
              <a:gd name="adj2" fmla="val 112500"/>
            </a:avLst>
          </a:prstGeom>
          <a:gradFill rotWithShape="0">
            <a:gsLst>
              <a:gs pos="0">
                <a:srgbClr val="5E7647"/>
              </a:gs>
              <a:gs pos="50000">
                <a:srgbClr val="CCFF99"/>
              </a:gs>
              <a:gs pos="100000">
                <a:srgbClr val="5E7647"/>
              </a:gs>
            </a:gsLst>
            <a:lin ang="5400000" scaled="1"/>
          </a:gradFill>
          <a:ln w="9525">
            <a:solidFill>
              <a:srgbClr val="99FF33"/>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116742" name="Rectangle 6">
            <a:extLst>
              <a:ext uri="{FF2B5EF4-FFF2-40B4-BE49-F238E27FC236}">
                <a16:creationId xmlns:a16="http://schemas.microsoft.com/office/drawing/2014/main" id="{9F56ED91-7410-A849-E432-A04D40CDB478}"/>
              </a:ext>
            </a:extLst>
          </p:cNvPr>
          <p:cNvSpPr>
            <a:spLocks noChangeArrowheads="1"/>
          </p:cNvSpPr>
          <p:nvPr/>
        </p:nvSpPr>
        <p:spPr bwMode="auto">
          <a:xfrm>
            <a:off x="990600" y="457200"/>
            <a:ext cx="685800" cy="6019800"/>
          </a:xfrm>
          <a:prstGeom prst="rect">
            <a:avLst/>
          </a:prstGeom>
          <a:gradFill rotWithShape="0">
            <a:gsLst>
              <a:gs pos="0">
                <a:srgbClr val="737373"/>
              </a:gs>
              <a:gs pos="100000">
                <a:srgbClr val="F8F8F8"/>
              </a:gs>
            </a:gsLst>
            <a:lin ang="0" scaled="1"/>
          </a:gradFill>
          <a:ln w="28575">
            <a:solidFill>
              <a:srgbClr val="0080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116743" name="Line 7">
            <a:extLst>
              <a:ext uri="{FF2B5EF4-FFF2-40B4-BE49-F238E27FC236}">
                <a16:creationId xmlns:a16="http://schemas.microsoft.com/office/drawing/2014/main" id="{4DCD94BA-5033-1A39-757B-0E86A001E7F0}"/>
              </a:ext>
            </a:extLst>
          </p:cNvPr>
          <p:cNvSpPr>
            <a:spLocks noChangeShapeType="1"/>
          </p:cNvSpPr>
          <p:nvPr/>
        </p:nvSpPr>
        <p:spPr bwMode="auto">
          <a:xfrm>
            <a:off x="990600" y="990600"/>
            <a:ext cx="68580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7912" name="Text Box 8">
            <a:extLst>
              <a:ext uri="{FF2B5EF4-FFF2-40B4-BE49-F238E27FC236}">
                <a16:creationId xmlns:a16="http://schemas.microsoft.com/office/drawing/2014/main" id="{5A5FC56A-32F0-4C5D-AC37-2E073156257E}"/>
              </a:ext>
            </a:extLst>
          </p:cNvPr>
          <p:cNvSpPr txBox="1">
            <a:spLocks noChangeArrowheads="1"/>
          </p:cNvSpPr>
          <p:nvPr/>
        </p:nvSpPr>
        <p:spPr bwMode="auto">
          <a:xfrm>
            <a:off x="609600" y="469900"/>
            <a:ext cx="336550" cy="5321300"/>
          </a:xfrm>
          <a:prstGeom prst="rect">
            <a:avLst/>
          </a:prstGeom>
          <a:noFill/>
          <a:ln w="9525">
            <a:noFill/>
            <a:miter lim="800000"/>
            <a:headEnd/>
            <a:tailEnd/>
          </a:ln>
          <a:effectLst/>
        </p:spPr>
        <p:txBody>
          <a:bodyPr wrap="none">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20000"/>
              </a:spcBef>
              <a:defRPr/>
            </a:pPr>
            <a:r>
              <a:rPr lang="en-US" altLang="zh-CN" sz="2400" b="1">
                <a:solidFill>
                  <a:srgbClr val="008000"/>
                </a:solidFill>
                <a:effectLst>
                  <a:outerShdw blurRad="38100" dist="38100" dir="2700000" algn="tl">
                    <a:srgbClr val="C0C0C0"/>
                  </a:outerShdw>
                </a:effectLst>
              </a:rPr>
              <a:t>0</a:t>
            </a:r>
          </a:p>
          <a:p>
            <a:pPr eaLnBrk="1" hangingPunct="1">
              <a:lnSpc>
                <a:spcPct val="125000"/>
              </a:lnSpc>
              <a:spcBef>
                <a:spcPct val="20000"/>
              </a:spcBef>
              <a:defRPr/>
            </a:pPr>
            <a:r>
              <a:rPr lang="en-US" altLang="zh-CN" sz="2400" b="1">
                <a:solidFill>
                  <a:srgbClr val="008000"/>
                </a:solidFill>
                <a:effectLst>
                  <a:outerShdw blurRad="38100" dist="38100" dir="2700000" algn="tl">
                    <a:srgbClr val="C0C0C0"/>
                  </a:outerShdw>
                </a:effectLst>
              </a:rPr>
              <a:t>1</a:t>
            </a:r>
          </a:p>
          <a:p>
            <a:pPr eaLnBrk="1" hangingPunct="1">
              <a:lnSpc>
                <a:spcPct val="125000"/>
              </a:lnSpc>
              <a:spcBef>
                <a:spcPct val="20000"/>
              </a:spcBef>
              <a:defRPr/>
            </a:pPr>
            <a:r>
              <a:rPr lang="en-US" altLang="zh-CN" sz="2400" b="1">
                <a:solidFill>
                  <a:srgbClr val="008000"/>
                </a:solidFill>
                <a:effectLst>
                  <a:outerShdw blurRad="38100" dist="38100" dir="2700000" algn="tl">
                    <a:srgbClr val="C0C0C0"/>
                  </a:outerShdw>
                </a:effectLst>
              </a:rPr>
              <a:t>2</a:t>
            </a:r>
          </a:p>
          <a:p>
            <a:pPr eaLnBrk="1" hangingPunct="1">
              <a:lnSpc>
                <a:spcPct val="125000"/>
              </a:lnSpc>
              <a:spcBef>
                <a:spcPct val="20000"/>
              </a:spcBef>
              <a:defRPr/>
            </a:pPr>
            <a:r>
              <a:rPr lang="en-US" altLang="zh-CN" sz="2400" b="1">
                <a:solidFill>
                  <a:srgbClr val="008000"/>
                </a:solidFill>
                <a:effectLst>
                  <a:outerShdw blurRad="38100" dist="38100" dir="2700000" algn="tl">
                    <a:srgbClr val="C0C0C0"/>
                  </a:outerShdw>
                </a:effectLst>
              </a:rPr>
              <a:t>3</a:t>
            </a:r>
          </a:p>
          <a:p>
            <a:pPr eaLnBrk="1" hangingPunct="1">
              <a:lnSpc>
                <a:spcPct val="125000"/>
              </a:lnSpc>
              <a:spcBef>
                <a:spcPct val="20000"/>
              </a:spcBef>
              <a:defRPr/>
            </a:pPr>
            <a:r>
              <a:rPr lang="en-US" altLang="zh-CN" sz="2400" b="1">
                <a:solidFill>
                  <a:srgbClr val="008000"/>
                </a:solidFill>
                <a:effectLst>
                  <a:outerShdw blurRad="38100" dist="38100" dir="2700000" algn="tl">
                    <a:srgbClr val="C0C0C0"/>
                  </a:outerShdw>
                </a:effectLst>
              </a:rPr>
              <a:t>4</a:t>
            </a:r>
          </a:p>
          <a:p>
            <a:pPr eaLnBrk="1" hangingPunct="1">
              <a:lnSpc>
                <a:spcPct val="125000"/>
              </a:lnSpc>
              <a:spcBef>
                <a:spcPct val="20000"/>
              </a:spcBef>
              <a:defRPr/>
            </a:pPr>
            <a:r>
              <a:rPr lang="en-US" altLang="zh-CN" sz="2400" b="1">
                <a:solidFill>
                  <a:srgbClr val="008000"/>
                </a:solidFill>
                <a:effectLst>
                  <a:outerShdw blurRad="38100" dist="38100" dir="2700000" algn="tl">
                    <a:srgbClr val="C0C0C0"/>
                  </a:outerShdw>
                </a:effectLst>
              </a:rPr>
              <a:t>5</a:t>
            </a:r>
          </a:p>
          <a:p>
            <a:pPr eaLnBrk="1" hangingPunct="1">
              <a:lnSpc>
                <a:spcPct val="125000"/>
              </a:lnSpc>
              <a:spcBef>
                <a:spcPct val="20000"/>
              </a:spcBef>
              <a:defRPr/>
            </a:pPr>
            <a:r>
              <a:rPr lang="en-US" altLang="zh-CN" sz="2400" b="1">
                <a:solidFill>
                  <a:srgbClr val="008000"/>
                </a:solidFill>
                <a:effectLst>
                  <a:outerShdw blurRad="38100" dist="38100" dir="2700000" algn="tl">
                    <a:srgbClr val="C0C0C0"/>
                  </a:outerShdw>
                </a:effectLst>
              </a:rPr>
              <a:t>6</a:t>
            </a:r>
          </a:p>
          <a:p>
            <a:pPr eaLnBrk="1" hangingPunct="1">
              <a:lnSpc>
                <a:spcPct val="125000"/>
              </a:lnSpc>
              <a:spcBef>
                <a:spcPct val="20000"/>
              </a:spcBef>
              <a:defRPr/>
            </a:pPr>
            <a:r>
              <a:rPr lang="en-US" altLang="zh-CN" sz="2400" b="1">
                <a:solidFill>
                  <a:srgbClr val="008000"/>
                </a:solidFill>
                <a:effectLst>
                  <a:outerShdw blurRad="38100" dist="38100" dir="2700000" algn="tl">
                    <a:srgbClr val="C0C0C0"/>
                  </a:outerShdw>
                </a:effectLst>
              </a:rPr>
              <a:t>7</a:t>
            </a:r>
          </a:p>
          <a:p>
            <a:pPr eaLnBrk="1" hangingPunct="1">
              <a:lnSpc>
                <a:spcPct val="125000"/>
              </a:lnSpc>
              <a:spcBef>
                <a:spcPct val="20000"/>
              </a:spcBef>
              <a:defRPr/>
            </a:pPr>
            <a:r>
              <a:rPr lang="en-US" altLang="zh-CN" sz="2400" b="1">
                <a:solidFill>
                  <a:srgbClr val="008000"/>
                </a:solidFill>
                <a:effectLst>
                  <a:outerShdw blurRad="38100" dist="38100" dir="2700000" algn="tl">
                    <a:srgbClr val="C0C0C0"/>
                  </a:outerShdw>
                </a:effectLst>
              </a:rPr>
              <a:t>8</a:t>
            </a:r>
          </a:p>
          <a:p>
            <a:pPr eaLnBrk="1" hangingPunct="1">
              <a:lnSpc>
                <a:spcPct val="125000"/>
              </a:lnSpc>
              <a:spcBef>
                <a:spcPct val="20000"/>
              </a:spcBef>
              <a:defRPr/>
            </a:pPr>
            <a:r>
              <a:rPr lang="en-US" altLang="zh-CN" sz="2400" b="1">
                <a:solidFill>
                  <a:srgbClr val="008000"/>
                </a:solidFill>
                <a:effectLst>
                  <a:outerShdw blurRad="38100" dist="38100" dir="2700000" algn="tl">
                    <a:srgbClr val="C0C0C0"/>
                  </a:outerShdw>
                </a:effectLst>
              </a:rPr>
              <a:t>9</a:t>
            </a:r>
            <a:endParaRPr lang="en-US" altLang="zh-CN" sz="2400" b="1"/>
          </a:p>
        </p:txBody>
      </p:sp>
      <p:sp>
        <p:nvSpPr>
          <p:cNvPr id="116745" name="Line 9">
            <a:extLst>
              <a:ext uri="{FF2B5EF4-FFF2-40B4-BE49-F238E27FC236}">
                <a16:creationId xmlns:a16="http://schemas.microsoft.com/office/drawing/2014/main" id="{7039FE4D-3551-7089-0500-E1BA177AA017}"/>
              </a:ext>
            </a:extLst>
          </p:cNvPr>
          <p:cNvSpPr>
            <a:spLocks noChangeShapeType="1"/>
          </p:cNvSpPr>
          <p:nvPr/>
        </p:nvSpPr>
        <p:spPr bwMode="auto">
          <a:xfrm>
            <a:off x="990600" y="1524000"/>
            <a:ext cx="68580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6" name="Line 10">
            <a:extLst>
              <a:ext uri="{FF2B5EF4-FFF2-40B4-BE49-F238E27FC236}">
                <a16:creationId xmlns:a16="http://schemas.microsoft.com/office/drawing/2014/main" id="{8B5825E1-1A35-B2BA-2BE5-D649B26B43FC}"/>
              </a:ext>
            </a:extLst>
          </p:cNvPr>
          <p:cNvSpPr>
            <a:spLocks noChangeShapeType="1"/>
          </p:cNvSpPr>
          <p:nvPr/>
        </p:nvSpPr>
        <p:spPr bwMode="auto">
          <a:xfrm>
            <a:off x="990600" y="2057400"/>
            <a:ext cx="68580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7" name="Line 11">
            <a:extLst>
              <a:ext uri="{FF2B5EF4-FFF2-40B4-BE49-F238E27FC236}">
                <a16:creationId xmlns:a16="http://schemas.microsoft.com/office/drawing/2014/main" id="{A5395205-E659-8C8C-4474-7F59AA8B7089}"/>
              </a:ext>
            </a:extLst>
          </p:cNvPr>
          <p:cNvSpPr>
            <a:spLocks noChangeShapeType="1"/>
          </p:cNvSpPr>
          <p:nvPr/>
        </p:nvSpPr>
        <p:spPr bwMode="auto">
          <a:xfrm>
            <a:off x="990600" y="2590800"/>
            <a:ext cx="68580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8" name="Line 12">
            <a:extLst>
              <a:ext uri="{FF2B5EF4-FFF2-40B4-BE49-F238E27FC236}">
                <a16:creationId xmlns:a16="http://schemas.microsoft.com/office/drawing/2014/main" id="{D9B62244-2E23-CA1E-83FA-072BB3A0D1DD}"/>
              </a:ext>
            </a:extLst>
          </p:cNvPr>
          <p:cNvSpPr>
            <a:spLocks noChangeShapeType="1"/>
          </p:cNvSpPr>
          <p:nvPr/>
        </p:nvSpPr>
        <p:spPr bwMode="auto">
          <a:xfrm>
            <a:off x="990600" y="3124200"/>
            <a:ext cx="68580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49" name="Line 13">
            <a:extLst>
              <a:ext uri="{FF2B5EF4-FFF2-40B4-BE49-F238E27FC236}">
                <a16:creationId xmlns:a16="http://schemas.microsoft.com/office/drawing/2014/main" id="{C8E35CE5-F8D8-1013-C22E-C64B6B8716FC}"/>
              </a:ext>
            </a:extLst>
          </p:cNvPr>
          <p:cNvSpPr>
            <a:spLocks noChangeShapeType="1"/>
          </p:cNvSpPr>
          <p:nvPr/>
        </p:nvSpPr>
        <p:spPr bwMode="auto">
          <a:xfrm>
            <a:off x="990600" y="3657600"/>
            <a:ext cx="68580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50" name="Line 14">
            <a:extLst>
              <a:ext uri="{FF2B5EF4-FFF2-40B4-BE49-F238E27FC236}">
                <a16:creationId xmlns:a16="http://schemas.microsoft.com/office/drawing/2014/main" id="{F2B52FB4-7878-48CF-B8B1-B28D639EDB31}"/>
              </a:ext>
            </a:extLst>
          </p:cNvPr>
          <p:cNvSpPr>
            <a:spLocks noChangeShapeType="1"/>
          </p:cNvSpPr>
          <p:nvPr/>
        </p:nvSpPr>
        <p:spPr bwMode="auto">
          <a:xfrm>
            <a:off x="990600" y="4191000"/>
            <a:ext cx="68580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51" name="Line 15">
            <a:extLst>
              <a:ext uri="{FF2B5EF4-FFF2-40B4-BE49-F238E27FC236}">
                <a16:creationId xmlns:a16="http://schemas.microsoft.com/office/drawing/2014/main" id="{1A7AC8BA-9D75-FBE0-BFC3-CBB88148B5E8}"/>
              </a:ext>
            </a:extLst>
          </p:cNvPr>
          <p:cNvSpPr>
            <a:spLocks noChangeShapeType="1"/>
          </p:cNvSpPr>
          <p:nvPr/>
        </p:nvSpPr>
        <p:spPr bwMode="auto">
          <a:xfrm>
            <a:off x="990600" y="4724400"/>
            <a:ext cx="68580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52" name="Line 16">
            <a:extLst>
              <a:ext uri="{FF2B5EF4-FFF2-40B4-BE49-F238E27FC236}">
                <a16:creationId xmlns:a16="http://schemas.microsoft.com/office/drawing/2014/main" id="{68A903C9-ABD9-7D76-7C94-C701199791AD}"/>
              </a:ext>
            </a:extLst>
          </p:cNvPr>
          <p:cNvSpPr>
            <a:spLocks noChangeShapeType="1"/>
          </p:cNvSpPr>
          <p:nvPr/>
        </p:nvSpPr>
        <p:spPr bwMode="auto">
          <a:xfrm>
            <a:off x="990600" y="5257800"/>
            <a:ext cx="68580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53" name="Line 17">
            <a:extLst>
              <a:ext uri="{FF2B5EF4-FFF2-40B4-BE49-F238E27FC236}">
                <a16:creationId xmlns:a16="http://schemas.microsoft.com/office/drawing/2014/main" id="{31488CAB-B7C4-EDE3-7597-D093E6949784}"/>
              </a:ext>
            </a:extLst>
          </p:cNvPr>
          <p:cNvSpPr>
            <a:spLocks noChangeShapeType="1"/>
          </p:cNvSpPr>
          <p:nvPr/>
        </p:nvSpPr>
        <p:spPr bwMode="auto">
          <a:xfrm>
            <a:off x="990600" y="5791200"/>
            <a:ext cx="68580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54" name="Rectangle 18">
            <a:extLst>
              <a:ext uri="{FF2B5EF4-FFF2-40B4-BE49-F238E27FC236}">
                <a16:creationId xmlns:a16="http://schemas.microsoft.com/office/drawing/2014/main" id="{99207CD2-2C30-87AD-6865-6A18B5FF7B4A}"/>
              </a:ext>
            </a:extLst>
          </p:cNvPr>
          <p:cNvSpPr>
            <a:spLocks noChangeArrowheads="1"/>
          </p:cNvSpPr>
          <p:nvPr/>
        </p:nvSpPr>
        <p:spPr bwMode="auto">
          <a:xfrm>
            <a:off x="2209800" y="533400"/>
            <a:ext cx="1447800" cy="457200"/>
          </a:xfrm>
          <a:prstGeom prst="rect">
            <a:avLst/>
          </a:prstGeom>
          <a:gradFill rotWithShape="0">
            <a:gsLst>
              <a:gs pos="0">
                <a:srgbClr val="767647"/>
              </a:gs>
              <a:gs pos="50000">
                <a:srgbClr val="FFFF99"/>
              </a:gs>
              <a:gs pos="100000">
                <a:srgbClr val="767647"/>
              </a:gs>
            </a:gsLst>
            <a:lin ang="54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Attlee</a:t>
            </a:r>
            <a:endParaRPr kumimoji="1" lang="en-US" altLang="zh-CN" sz="2400" b="1">
              <a:latin typeface="Times New Roman" panose="02020603050405020304" pitchFamily="18" charset="0"/>
              <a:ea typeface="宋体" panose="02010600030101010101" pitchFamily="2" charset="-122"/>
            </a:endParaRPr>
          </a:p>
        </p:txBody>
      </p:sp>
      <p:sp>
        <p:nvSpPr>
          <p:cNvPr id="116755" name="Rectangle 19">
            <a:extLst>
              <a:ext uri="{FF2B5EF4-FFF2-40B4-BE49-F238E27FC236}">
                <a16:creationId xmlns:a16="http://schemas.microsoft.com/office/drawing/2014/main" id="{53D9FD9D-B04B-F84D-D12B-E99C8B7F926E}"/>
              </a:ext>
            </a:extLst>
          </p:cNvPr>
          <p:cNvSpPr>
            <a:spLocks noChangeArrowheads="1"/>
          </p:cNvSpPr>
          <p:nvPr/>
        </p:nvSpPr>
        <p:spPr bwMode="auto">
          <a:xfrm>
            <a:off x="4267200" y="533400"/>
            <a:ext cx="1447800" cy="457200"/>
          </a:xfrm>
          <a:prstGeom prst="rect">
            <a:avLst/>
          </a:prstGeom>
          <a:gradFill rotWithShape="0">
            <a:gsLst>
              <a:gs pos="0">
                <a:srgbClr val="767647"/>
              </a:gs>
              <a:gs pos="50000">
                <a:srgbClr val="FFFF99"/>
              </a:gs>
              <a:gs pos="100000">
                <a:srgbClr val="767647"/>
              </a:gs>
            </a:gsLst>
            <a:lin ang="54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Alton</a:t>
            </a:r>
            <a:endParaRPr kumimoji="1" lang="en-US" altLang="zh-CN" sz="2400" b="1">
              <a:latin typeface="Times New Roman" panose="02020603050405020304" pitchFamily="18" charset="0"/>
              <a:ea typeface="宋体" panose="02010600030101010101" pitchFamily="2" charset="-122"/>
            </a:endParaRPr>
          </a:p>
        </p:txBody>
      </p:sp>
      <p:sp>
        <p:nvSpPr>
          <p:cNvPr id="116756" name="Line 20">
            <a:extLst>
              <a:ext uri="{FF2B5EF4-FFF2-40B4-BE49-F238E27FC236}">
                <a16:creationId xmlns:a16="http://schemas.microsoft.com/office/drawing/2014/main" id="{F5C8D2D9-1553-A2AE-561A-FB652792A968}"/>
              </a:ext>
            </a:extLst>
          </p:cNvPr>
          <p:cNvSpPr>
            <a:spLocks noChangeShapeType="1"/>
          </p:cNvSpPr>
          <p:nvPr/>
        </p:nvSpPr>
        <p:spPr bwMode="auto">
          <a:xfrm>
            <a:off x="3429000" y="533400"/>
            <a:ext cx="0" cy="457200"/>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57" name="Line 21">
            <a:extLst>
              <a:ext uri="{FF2B5EF4-FFF2-40B4-BE49-F238E27FC236}">
                <a16:creationId xmlns:a16="http://schemas.microsoft.com/office/drawing/2014/main" id="{7FBA13BC-139E-63BA-A5CB-B4CB5AC4CFBF}"/>
              </a:ext>
            </a:extLst>
          </p:cNvPr>
          <p:cNvSpPr>
            <a:spLocks noChangeShapeType="1"/>
          </p:cNvSpPr>
          <p:nvPr/>
        </p:nvSpPr>
        <p:spPr bwMode="auto">
          <a:xfrm>
            <a:off x="5486400" y="533400"/>
            <a:ext cx="0" cy="457200"/>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58" name="AutoShape 22">
            <a:extLst>
              <a:ext uri="{FF2B5EF4-FFF2-40B4-BE49-F238E27FC236}">
                <a16:creationId xmlns:a16="http://schemas.microsoft.com/office/drawing/2014/main" id="{A1FCBFB7-887C-7FFA-1ADE-084032B2BF39}"/>
              </a:ext>
            </a:extLst>
          </p:cNvPr>
          <p:cNvSpPr>
            <a:spLocks noChangeArrowheads="1"/>
          </p:cNvSpPr>
          <p:nvPr/>
        </p:nvSpPr>
        <p:spPr bwMode="auto">
          <a:xfrm>
            <a:off x="1371600" y="685800"/>
            <a:ext cx="838200" cy="152400"/>
          </a:xfrm>
          <a:prstGeom prst="rightArrow">
            <a:avLst>
              <a:gd name="adj1" fmla="val 50000"/>
              <a:gd name="adj2" fmla="val 137500"/>
            </a:avLst>
          </a:prstGeom>
          <a:gradFill rotWithShape="0">
            <a:gsLst>
              <a:gs pos="0">
                <a:srgbClr val="5E7647"/>
              </a:gs>
              <a:gs pos="50000">
                <a:srgbClr val="CCFF99"/>
              </a:gs>
              <a:gs pos="100000">
                <a:srgbClr val="5E7647"/>
              </a:gs>
            </a:gsLst>
            <a:lin ang="5400000" scaled="1"/>
          </a:gradFill>
          <a:ln w="9525">
            <a:solidFill>
              <a:srgbClr val="99FF33"/>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3200">
              <a:latin typeface="Times New Roman" panose="02020603050405020304" pitchFamily="18" charset="0"/>
              <a:ea typeface="宋体" panose="02010600030101010101" pitchFamily="2" charset="-122"/>
            </a:endParaRPr>
          </a:p>
        </p:txBody>
      </p:sp>
      <p:sp>
        <p:nvSpPr>
          <p:cNvPr id="116759" name="AutoShape 23">
            <a:extLst>
              <a:ext uri="{FF2B5EF4-FFF2-40B4-BE49-F238E27FC236}">
                <a16:creationId xmlns:a16="http://schemas.microsoft.com/office/drawing/2014/main" id="{6C9DFD35-81A2-71F2-3CF7-013C63F8BB50}"/>
              </a:ext>
            </a:extLst>
          </p:cNvPr>
          <p:cNvSpPr>
            <a:spLocks noChangeArrowheads="1"/>
          </p:cNvSpPr>
          <p:nvPr/>
        </p:nvSpPr>
        <p:spPr bwMode="auto">
          <a:xfrm>
            <a:off x="1371600" y="1219200"/>
            <a:ext cx="838200" cy="152400"/>
          </a:xfrm>
          <a:prstGeom prst="rightArrow">
            <a:avLst>
              <a:gd name="adj1" fmla="val 50000"/>
              <a:gd name="adj2" fmla="val 137500"/>
            </a:avLst>
          </a:prstGeom>
          <a:gradFill rotWithShape="0">
            <a:gsLst>
              <a:gs pos="0">
                <a:srgbClr val="5E7647"/>
              </a:gs>
              <a:gs pos="50000">
                <a:srgbClr val="CCFF99"/>
              </a:gs>
              <a:gs pos="100000">
                <a:srgbClr val="5E7647"/>
              </a:gs>
            </a:gsLst>
            <a:lin ang="5400000" scaled="1"/>
          </a:gradFill>
          <a:ln w="9525">
            <a:solidFill>
              <a:srgbClr val="99FF33"/>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116760" name="Rectangle 24">
            <a:extLst>
              <a:ext uri="{FF2B5EF4-FFF2-40B4-BE49-F238E27FC236}">
                <a16:creationId xmlns:a16="http://schemas.microsoft.com/office/drawing/2014/main" id="{5BF25BF1-9E48-C276-E830-8DD93CAE4CEF}"/>
              </a:ext>
            </a:extLst>
          </p:cNvPr>
          <p:cNvSpPr>
            <a:spLocks noChangeArrowheads="1"/>
          </p:cNvSpPr>
          <p:nvPr/>
        </p:nvSpPr>
        <p:spPr bwMode="auto">
          <a:xfrm>
            <a:off x="2209800" y="1066800"/>
            <a:ext cx="1447800" cy="457200"/>
          </a:xfrm>
          <a:prstGeom prst="rect">
            <a:avLst/>
          </a:prstGeom>
          <a:gradFill rotWithShape="0">
            <a:gsLst>
              <a:gs pos="0">
                <a:srgbClr val="767647"/>
              </a:gs>
              <a:gs pos="50000">
                <a:srgbClr val="FFFF99"/>
              </a:gs>
              <a:gs pos="100000">
                <a:srgbClr val="767647"/>
              </a:gs>
            </a:gsLst>
            <a:lin ang="54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Burke</a:t>
            </a:r>
            <a:endParaRPr kumimoji="1" lang="en-US" altLang="zh-CN" sz="2400" b="1">
              <a:latin typeface="Times New Roman" panose="02020603050405020304" pitchFamily="18" charset="0"/>
              <a:ea typeface="宋体" panose="02010600030101010101" pitchFamily="2" charset="-122"/>
            </a:endParaRPr>
          </a:p>
        </p:txBody>
      </p:sp>
      <p:sp>
        <p:nvSpPr>
          <p:cNvPr id="116761" name="Line 25">
            <a:extLst>
              <a:ext uri="{FF2B5EF4-FFF2-40B4-BE49-F238E27FC236}">
                <a16:creationId xmlns:a16="http://schemas.microsoft.com/office/drawing/2014/main" id="{46CF7983-E05C-7D43-9827-B092050961BE}"/>
              </a:ext>
            </a:extLst>
          </p:cNvPr>
          <p:cNvSpPr>
            <a:spLocks noChangeShapeType="1"/>
          </p:cNvSpPr>
          <p:nvPr/>
        </p:nvSpPr>
        <p:spPr bwMode="auto">
          <a:xfrm>
            <a:off x="3429000" y="1066800"/>
            <a:ext cx="0" cy="457200"/>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62" name="Rectangle 26">
            <a:extLst>
              <a:ext uri="{FF2B5EF4-FFF2-40B4-BE49-F238E27FC236}">
                <a16:creationId xmlns:a16="http://schemas.microsoft.com/office/drawing/2014/main" id="{E0285450-3951-C36E-2F9B-2D6317C2A6CC}"/>
              </a:ext>
            </a:extLst>
          </p:cNvPr>
          <p:cNvSpPr>
            <a:spLocks noChangeArrowheads="1"/>
          </p:cNvSpPr>
          <p:nvPr/>
        </p:nvSpPr>
        <p:spPr bwMode="auto">
          <a:xfrm>
            <a:off x="4267200" y="1066800"/>
            <a:ext cx="1447800" cy="457200"/>
          </a:xfrm>
          <a:prstGeom prst="rect">
            <a:avLst/>
          </a:prstGeom>
          <a:gradFill rotWithShape="0">
            <a:gsLst>
              <a:gs pos="0">
                <a:srgbClr val="767647"/>
              </a:gs>
              <a:gs pos="50000">
                <a:srgbClr val="FFFF99"/>
              </a:gs>
              <a:gs pos="100000">
                <a:srgbClr val="767647"/>
              </a:gs>
            </a:gsLst>
            <a:lin ang="54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Broad</a:t>
            </a:r>
            <a:endParaRPr kumimoji="1" lang="en-US" altLang="zh-CN" sz="2400" b="1">
              <a:latin typeface="Times New Roman" panose="02020603050405020304" pitchFamily="18" charset="0"/>
              <a:ea typeface="宋体" panose="02010600030101010101" pitchFamily="2" charset="-122"/>
            </a:endParaRPr>
          </a:p>
        </p:txBody>
      </p:sp>
      <p:sp>
        <p:nvSpPr>
          <p:cNvPr id="116763" name="Line 27">
            <a:extLst>
              <a:ext uri="{FF2B5EF4-FFF2-40B4-BE49-F238E27FC236}">
                <a16:creationId xmlns:a16="http://schemas.microsoft.com/office/drawing/2014/main" id="{5378D917-4518-1DA9-DC48-23EFB1F05999}"/>
              </a:ext>
            </a:extLst>
          </p:cNvPr>
          <p:cNvSpPr>
            <a:spLocks noChangeShapeType="1"/>
          </p:cNvSpPr>
          <p:nvPr/>
        </p:nvSpPr>
        <p:spPr bwMode="auto">
          <a:xfrm>
            <a:off x="5486400" y="1066800"/>
            <a:ext cx="0" cy="457200"/>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64" name="Rectangle 28">
            <a:extLst>
              <a:ext uri="{FF2B5EF4-FFF2-40B4-BE49-F238E27FC236}">
                <a16:creationId xmlns:a16="http://schemas.microsoft.com/office/drawing/2014/main" id="{A2EE4A0C-7646-FA6B-0444-D69FFDC112A8}"/>
              </a:ext>
            </a:extLst>
          </p:cNvPr>
          <p:cNvSpPr>
            <a:spLocks noChangeArrowheads="1"/>
          </p:cNvSpPr>
          <p:nvPr/>
        </p:nvSpPr>
        <p:spPr bwMode="auto">
          <a:xfrm>
            <a:off x="6324600" y="1066800"/>
            <a:ext cx="1447800" cy="457200"/>
          </a:xfrm>
          <a:prstGeom prst="rect">
            <a:avLst/>
          </a:prstGeom>
          <a:gradFill rotWithShape="0">
            <a:gsLst>
              <a:gs pos="0">
                <a:srgbClr val="767647"/>
              </a:gs>
              <a:gs pos="50000">
                <a:srgbClr val="FFFF99"/>
              </a:gs>
              <a:gs pos="100000">
                <a:srgbClr val="767647"/>
              </a:gs>
            </a:gsLst>
            <a:lin ang="54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Blum</a:t>
            </a:r>
            <a:endParaRPr kumimoji="1" lang="en-US" altLang="zh-CN" sz="2400" b="1">
              <a:latin typeface="Times New Roman" panose="02020603050405020304" pitchFamily="18" charset="0"/>
              <a:ea typeface="宋体" panose="02010600030101010101" pitchFamily="2" charset="-122"/>
            </a:endParaRPr>
          </a:p>
        </p:txBody>
      </p:sp>
      <p:sp>
        <p:nvSpPr>
          <p:cNvPr id="116765" name="Line 29">
            <a:extLst>
              <a:ext uri="{FF2B5EF4-FFF2-40B4-BE49-F238E27FC236}">
                <a16:creationId xmlns:a16="http://schemas.microsoft.com/office/drawing/2014/main" id="{E541AF44-8FF2-A839-899E-CFD3F94EA12F}"/>
              </a:ext>
            </a:extLst>
          </p:cNvPr>
          <p:cNvSpPr>
            <a:spLocks noChangeShapeType="1"/>
          </p:cNvSpPr>
          <p:nvPr/>
        </p:nvSpPr>
        <p:spPr bwMode="auto">
          <a:xfrm>
            <a:off x="7543800" y="1066800"/>
            <a:ext cx="0" cy="457200"/>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66" name="AutoShape 30">
            <a:extLst>
              <a:ext uri="{FF2B5EF4-FFF2-40B4-BE49-F238E27FC236}">
                <a16:creationId xmlns:a16="http://schemas.microsoft.com/office/drawing/2014/main" id="{CC3B7B84-D79A-E888-DD42-E476AE1FC0A5}"/>
              </a:ext>
            </a:extLst>
          </p:cNvPr>
          <p:cNvSpPr>
            <a:spLocks noChangeArrowheads="1"/>
          </p:cNvSpPr>
          <p:nvPr/>
        </p:nvSpPr>
        <p:spPr bwMode="auto">
          <a:xfrm>
            <a:off x="1371600" y="2819400"/>
            <a:ext cx="838200" cy="152400"/>
          </a:xfrm>
          <a:prstGeom prst="rightArrow">
            <a:avLst>
              <a:gd name="adj1" fmla="val 50000"/>
              <a:gd name="adj2" fmla="val 137500"/>
            </a:avLst>
          </a:prstGeom>
          <a:gradFill rotWithShape="0">
            <a:gsLst>
              <a:gs pos="0">
                <a:srgbClr val="5E7647"/>
              </a:gs>
              <a:gs pos="50000">
                <a:srgbClr val="CCFF99"/>
              </a:gs>
              <a:gs pos="100000">
                <a:srgbClr val="5E7647"/>
              </a:gs>
            </a:gsLst>
            <a:lin ang="5400000" scaled="1"/>
          </a:gradFill>
          <a:ln w="9525">
            <a:solidFill>
              <a:srgbClr val="99FF33"/>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116767" name="AutoShape 31">
            <a:extLst>
              <a:ext uri="{FF2B5EF4-FFF2-40B4-BE49-F238E27FC236}">
                <a16:creationId xmlns:a16="http://schemas.microsoft.com/office/drawing/2014/main" id="{30A4B3EC-1761-5702-D956-08ABA42A9EBE}"/>
              </a:ext>
            </a:extLst>
          </p:cNvPr>
          <p:cNvSpPr>
            <a:spLocks noChangeArrowheads="1"/>
          </p:cNvSpPr>
          <p:nvPr/>
        </p:nvSpPr>
        <p:spPr bwMode="auto">
          <a:xfrm>
            <a:off x="1371600" y="4419600"/>
            <a:ext cx="838200" cy="152400"/>
          </a:xfrm>
          <a:prstGeom prst="rightArrow">
            <a:avLst>
              <a:gd name="adj1" fmla="val 50000"/>
              <a:gd name="adj2" fmla="val 137500"/>
            </a:avLst>
          </a:prstGeom>
          <a:gradFill rotWithShape="0">
            <a:gsLst>
              <a:gs pos="0">
                <a:srgbClr val="5E7647"/>
              </a:gs>
              <a:gs pos="50000">
                <a:srgbClr val="CCFF99"/>
              </a:gs>
              <a:gs pos="100000">
                <a:srgbClr val="5E7647"/>
              </a:gs>
            </a:gsLst>
            <a:lin ang="5400000" scaled="1"/>
          </a:gradFill>
          <a:ln w="9525">
            <a:solidFill>
              <a:srgbClr val="99FF33"/>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ea typeface="宋体" panose="02010600030101010101" pitchFamily="2" charset="-122"/>
            </a:endParaRPr>
          </a:p>
        </p:txBody>
      </p:sp>
      <p:sp>
        <p:nvSpPr>
          <p:cNvPr id="116768" name="Rectangle 32">
            <a:extLst>
              <a:ext uri="{FF2B5EF4-FFF2-40B4-BE49-F238E27FC236}">
                <a16:creationId xmlns:a16="http://schemas.microsoft.com/office/drawing/2014/main" id="{0752A07A-8A32-C0E8-A087-F9DF7313D1D3}"/>
              </a:ext>
            </a:extLst>
          </p:cNvPr>
          <p:cNvSpPr>
            <a:spLocks noChangeArrowheads="1"/>
          </p:cNvSpPr>
          <p:nvPr/>
        </p:nvSpPr>
        <p:spPr bwMode="auto">
          <a:xfrm>
            <a:off x="2209800" y="2667000"/>
            <a:ext cx="1447800" cy="457200"/>
          </a:xfrm>
          <a:prstGeom prst="rect">
            <a:avLst/>
          </a:prstGeom>
          <a:gradFill rotWithShape="0">
            <a:gsLst>
              <a:gs pos="0">
                <a:srgbClr val="767647"/>
              </a:gs>
              <a:gs pos="50000">
                <a:srgbClr val="FFFF99"/>
              </a:gs>
              <a:gs pos="100000">
                <a:srgbClr val="767647"/>
              </a:gs>
            </a:gsLst>
            <a:lin ang="54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Ekers</a:t>
            </a:r>
            <a:endParaRPr kumimoji="1" lang="en-US" altLang="zh-CN" sz="2400" b="1">
              <a:latin typeface="Times New Roman" panose="02020603050405020304" pitchFamily="18" charset="0"/>
              <a:ea typeface="宋体" panose="02010600030101010101" pitchFamily="2" charset="-122"/>
            </a:endParaRPr>
          </a:p>
        </p:txBody>
      </p:sp>
      <p:sp>
        <p:nvSpPr>
          <p:cNvPr id="116769" name="Line 33">
            <a:extLst>
              <a:ext uri="{FF2B5EF4-FFF2-40B4-BE49-F238E27FC236}">
                <a16:creationId xmlns:a16="http://schemas.microsoft.com/office/drawing/2014/main" id="{C031BC39-9748-06BA-AD0D-A5C4A458AC2E}"/>
              </a:ext>
            </a:extLst>
          </p:cNvPr>
          <p:cNvSpPr>
            <a:spLocks noChangeShapeType="1"/>
          </p:cNvSpPr>
          <p:nvPr/>
        </p:nvSpPr>
        <p:spPr bwMode="auto">
          <a:xfrm>
            <a:off x="3429000" y="2667000"/>
            <a:ext cx="0" cy="457200"/>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70" name="Rectangle 34">
            <a:extLst>
              <a:ext uri="{FF2B5EF4-FFF2-40B4-BE49-F238E27FC236}">
                <a16:creationId xmlns:a16="http://schemas.microsoft.com/office/drawing/2014/main" id="{FF04F865-2164-C603-EA26-83D2A40773BC}"/>
              </a:ext>
            </a:extLst>
          </p:cNvPr>
          <p:cNvSpPr>
            <a:spLocks noChangeArrowheads="1"/>
          </p:cNvSpPr>
          <p:nvPr/>
        </p:nvSpPr>
        <p:spPr bwMode="auto">
          <a:xfrm>
            <a:off x="4267200" y="2667000"/>
            <a:ext cx="1447800" cy="457200"/>
          </a:xfrm>
          <a:prstGeom prst="rect">
            <a:avLst/>
          </a:prstGeom>
          <a:gradFill rotWithShape="0">
            <a:gsLst>
              <a:gs pos="0">
                <a:srgbClr val="767647"/>
              </a:gs>
              <a:gs pos="50000">
                <a:srgbClr val="FFFF99"/>
              </a:gs>
              <a:gs pos="100000">
                <a:srgbClr val="767647"/>
              </a:gs>
            </a:gsLst>
            <a:lin ang="54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Ederly</a:t>
            </a:r>
            <a:endParaRPr kumimoji="1" lang="en-US" altLang="zh-CN" sz="2400" b="1">
              <a:latin typeface="Times New Roman" panose="02020603050405020304" pitchFamily="18" charset="0"/>
              <a:ea typeface="宋体" panose="02010600030101010101" pitchFamily="2" charset="-122"/>
            </a:endParaRPr>
          </a:p>
        </p:txBody>
      </p:sp>
      <p:sp>
        <p:nvSpPr>
          <p:cNvPr id="116771" name="Line 35">
            <a:extLst>
              <a:ext uri="{FF2B5EF4-FFF2-40B4-BE49-F238E27FC236}">
                <a16:creationId xmlns:a16="http://schemas.microsoft.com/office/drawing/2014/main" id="{466D924A-B23C-0C98-9ADA-C0C92C0DE4C8}"/>
              </a:ext>
            </a:extLst>
          </p:cNvPr>
          <p:cNvSpPr>
            <a:spLocks noChangeShapeType="1"/>
          </p:cNvSpPr>
          <p:nvPr/>
        </p:nvSpPr>
        <p:spPr bwMode="auto">
          <a:xfrm>
            <a:off x="5486400" y="2667000"/>
            <a:ext cx="0" cy="457200"/>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72" name="Rectangle 36">
            <a:extLst>
              <a:ext uri="{FF2B5EF4-FFF2-40B4-BE49-F238E27FC236}">
                <a16:creationId xmlns:a16="http://schemas.microsoft.com/office/drawing/2014/main" id="{31E19239-4526-39A3-D1FE-2A36675BF3BA}"/>
              </a:ext>
            </a:extLst>
          </p:cNvPr>
          <p:cNvSpPr>
            <a:spLocks noChangeArrowheads="1"/>
          </p:cNvSpPr>
          <p:nvPr/>
        </p:nvSpPr>
        <p:spPr bwMode="auto">
          <a:xfrm>
            <a:off x="2209800" y="4267200"/>
            <a:ext cx="1447800" cy="457200"/>
          </a:xfrm>
          <a:prstGeom prst="rect">
            <a:avLst/>
          </a:prstGeom>
          <a:gradFill rotWithShape="0">
            <a:gsLst>
              <a:gs pos="0">
                <a:srgbClr val="767647"/>
              </a:gs>
              <a:gs pos="50000">
                <a:srgbClr val="FFFF99"/>
              </a:gs>
              <a:gs pos="100000">
                <a:srgbClr val="767647"/>
              </a:gs>
            </a:gsLst>
            <a:lin ang="5400000" scaled="1"/>
          </a:gra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Ekers</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16773" name="Line 37">
            <a:extLst>
              <a:ext uri="{FF2B5EF4-FFF2-40B4-BE49-F238E27FC236}">
                <a16:creationId xmlns:a16="http://schemas.microsoft.com/office/drawing/2014/main" id="{6D23BBA4-7F8F-1DE8-F318-B00606E2EC51}"/>
              </a:ext>
            </a:extLst>
          </p:cNvPr>
          <p:cNvSpPr>
            <a:spLocks noChangeShapeType="1"/>
          </p:cNvSpPr>
          <p:nvPr/>
        </p:nvSpPr>
        <p:spPr bwMode="auto">
          <a:xfrm>
            <a:off x="3429000" y="4267200"/>
            <a:ext cx="0" cy="457200"/>
          </a:xfrm>
          <a:prstGeom prst="line">
            <a:avLst/>
          </a:prstGeom>
          <a:noFill/>
          <a:ln w="28575">
            <a:solidFill>
              <a:srgbClr val="99FF3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6774" name="Object 0">
            <a:extLst>
              <a:ext uri="{FF2B5EF4-FFF2-40B4-BE49-F238E27FC236}">
                <a16:creationId xmlns:a16="http://schemas.microsoft.com/office/drawing/2014/main" id="{34B00A90-C1AB-82D0-53B5-2B9B137B42CE}"/>
              </a:ext>
            </a:extLst>
          </p:cNvPr>
          <p:cNvGraphicFramePr>
            <a:graphicFrameLocks noChangeAspect="1"/>
          </p:cNvGraphicFramePr>
          <p:nvPr/>
        </p:nvGraphicFramePr>
        <p:xfrm>
          <a:off x="3822700" y="3460750"/>
          <a:ext cx="4864100" cy="958850"/>
        </p:xfrm>
        <a:graphic>
          <a:graphicData uri="http://schemas.openxmlformats.org/presentationml/2006/ole">
            <mc:AlternateContent xmlns:mc="http://schemas.openxmlformats.org/markup-compatibility/2006">
              <mc:Choice xmlns:v="urn:schemas-microsoft-com:vml" Requires="v">
                <p:oleObj name="公式" r:id="rId2" imgW="2057400" imgH="393700" progId="Equation.3">
                  <p:embed/>
                </p:oleObj>
              </mc:Choice>
              <mc:Fallback>
                <p:oleObj name="公式" r:id="rId2" imgW="2057400" imgH="393700" progId="Equation.3">
                  <p:embed/>
                  <p:pic>
                    <p:nvPicPr>
                      <p:cNvPr id="0" name="Object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3460750"/>
                        <a:ext cx="4864100" cy="95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75" name="Object 1">
            <a:extLst>
              <a:ext uri="{FF2B5EF4-FFF2-40B4-BE49-F238E27FC236}">
                <a16:creationId xmlns:a16="http://schemas.microsoft.com/office/drawing/2014/main" id="{CA4E7831-744C-A649-274E-AD9F55BF47F8}"/>
              </a:ext>
            </a:extLst>
          </p:cNvPr>
          <p:cNvGraphicFramePr>
            <a:graphicFrameLocks noChangeAspect="1"/>
          </p:cNvGraphicFramePr>
          <p:nvPr/>
        </p:nvGraphicFramePr>
        <p:xfrm>
          <a:off x="3878263" y="4243388"/>
          <a:ext cx="4656137" cy="1776412"/>
        </p:xfrm>
        <a:graphic>
          <a:graphicData uri="http://schemas.openxmlformats.org/presentationml/2006/ole">
            <mc:AlternateContent xmlns:mc="http://schemas.openxmlformats.org/markup-compatibility/2006">
              <mc:Choice xmlns:v="urn:schemas-microsoft-com:vml" Requires="v">
                <p:oleObj name="公式" r:id="rId4" imgW="2413000" imgH="762000" progId="Equation.3">
                  <p:embed/>
                </p:oleObj>
              </mc:Choice>
              <mc:Fallback>
                <p:oleObj name="公式" r:id="rId4" imgW="2413000" imgH="7620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263" y="4243388"/>
                        <a:ext cx="4656137" cy="177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CB8D1557-3122-CE73-4087-E20352DEC908}"/>
              </a:ext>
            </a:extLst>
          </p:cNvPr>
          <p:cNvSpPr>
            <a:spLocks noGrp="1"/>
          </p:cNvSpPr>
          <p:nvPr>
            <p:ph type="sldNum" sz="quarter" idx="12"/>
          </p:nvPr>
        </p:nvSpPr>
        <p:spPr/>
        <p:txBody>
          <a:bodyPr/>
          <a:lstStyle/>
          <a:p>
            <a:pPr>
              <a:defRPr/>
            </a:pPr>
            <a:fld id="{524B865F-46F8-4520-B0DD-31ED36EF62D9}" type="slidenum">
              <a:rPr lang="en-US" altLang="zh-CN" smtClean="0"/>
              <a:pPr>
                <a:defRPr/>
              </a:pPr>
              <a:t>96</a:t>
            </a:fld>
            <a:endParaRPr lang="en-US" altLang="zh-CN"/>
          </a:p>
        </p:txBody>
      </p:sp>
    </p:spTree>
  </p:cSld>
  <p:clrMapOvr>
    <a:masterClrMapping/>
  </p:clrMapOvr>
  <p:transition>
    <p:split/>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1" name="Rectangle 3">
            <a:extLst>
              <a:ext uri="{FF2B5EF4-FFF2-40B4-BE49-F238E27FC236}">
                <a16:creationId xmlns:a16="http://schemas.microsoft.com/office/drawing/2014/main" id="{B43D173D-9B9A-F025-B97A-2DB131019E3E}"/>
              </a:ext>
            </a:extLst>
          </p:cNvPr>
          <p:cNvSpPr>
            <a:spLocks noGrp="1" noChangeArrowheads="1"/>
          </p:cNvSpPr>
          <p:nvPr>
            <p:ph idx="1"/>
          </p:nvPr>
        </p:nvSpPr>
        <p:spPr/>
        <p:txBody>
          <a:bodyPr>
            <a:normAutofit fontScale="92500" lnSpcReduction="10000"/>
          </a:bodyPr>
          <a:lstStyle/>
          <a:p>
            <a:r>
              <a:rPr lang="zh-CN" altLang="en-US" dirty="0"/>
              <a:t>通常，每个桶中的同义词子表都很短，设有</a:t>
            </a:r>
            <a:r>
              <a:rPr lang="en-US" altLang="zh-CN" dirty="0"/>
              <a:t>n </a:t>
            </a:r>
            <a:r>
              <a:rPr lang="zh-CN" altLang="en-US" dirty="0"/>
              <a:t>个关键码通过某一个散列函数，存放到散列表中的 </a:t>
            </a:r>
            <a:r>
              <a:rPr lang="en-US" altLang="zh-CN" dirty="0"/>
              <a:t>m </a:t>
            </a:r>
            <a:r>
              <a:rPr lang="zh-CN" altLang="en-US" dirty="0"/>
              <a:t>个桶中。那么每一个桶中的同义词子表的平均长度为 </a:t>
            </a:r>
            <a:r>
              <a:rPr lang="en-US" altLang="zh-CN" dirty="0"/>
              <a:t>n / m</a:t>
            </a:r>
            <a:r>
              <a:rPr lang="zh-CN" altLang="en-US" dirty="0"/>
              <a:t>。以搜索平均长度为 </a:t>
            </a:r>
            <a:r>
              <a:rPr lang="en-US" altLang="zh-CN" dirty="0"/>
              <a:t>n / m </a:t>
            </a:r>
            <a:r>
              <a:rPr lang="zh-CN" altLang="en-US" dirty="0"/>
              <a:t>的同义词子表代替了搜索长度为 </a:t>
            </a:r>
            <a:r>
              <a:rPr lang="en-US" altLang="zh-CN" dirty="0"/>
              <a:t>n </a:t>
            </a:r>
            <a:r>
              <a:rPr lang="zh-CN" altLang="en-US" dirty="0"/>
              <a:t>的顺序表，搜索速度快得多。</a:t>
            </a:r>
            <a:endParaRPr lang="en-US" altLang="zh-CN" dirty="0"/>
          </a:p>
          <a:p>
            <a:r>
              <a:rPr lang="zh-CN" altLang="en-US" dirty="0"/>
              <a:t>其它如插入、删除操作可参照单链表的插入、删除等算法来实现。</a:t>
            </a:r>
          </a:p>
        </p:txBody>
      </p:sp>
      <p:sp>
        <p:nvSpPr>
          <p:cNvPr id="2" name="标题 1">
            <a:extLst>
              <a:ext uri="{FF2B5EF4-FFF2-40B4-BE49-F238E27FC236}">
                <a16:creationId xmlns:a16="http://schemas.microsoft.com/office/drawing/2014/main" id="{D10F7335-9511-444D-92CD-B710EB9CB3FA}"/>
              </a:ext>
            </a:extLst>
          </p:cNvPr>
          <p:cNvSpPr>
            <a:spLocks noGrp="1"/>
          </p:cNvSpPr>
          <p:nvPr>
            <p:ph type="title"/>
          </p:nvPr>
        </p:nvSpPr>
        <p:spPr/>
        <p:txBody>
          <a:bodyPr/>
          <a:lstStyle/>
          <a:p>
            <a:r>
              <a:rPr lang="zh-CN" altLang="en-US" dirty="0"/>
              <a:t>特点</a:t>
            </a:r>
          </a:p>
        </p:txBody>
      </p:sp>
      <p:sp>
        <p:nvSpPr>
          <p:cNvPr id="3" name="灯片编号占位符 2">
            <a:extLst>
              <a:ext uri="{FF2B5EF4-FFF2-40B4-BE49-F238E27FC236}">
                <a16:creationId xmlns:a16="http://schemas.microsoft.com/office/drawing/2014/main" id="{A4EA8CB9-E5D8-FF77-3207-4876761E0324}"/>
              </a:ext>
            </a:extLst>
          </p:cNvPr>
          <p:cNvSpPr>
            <a:spLocks noGrp="1"/>
          </p:cNvSpPr>
          <p:nvPr>
            <p:ph type="sldNum" sz="quarter" idx="12"/>
          </p:nvPr>
        </p:nvSpPr>
        <p:spPr/>
        <p:txBody>
          <a:bodyPr/>
          <a:lstStyle/>
          <a:p>
            <a:pPr>
              <a:defRPr/>
            </a:pPr>
            <a:fld id="{524B865F-46F8-4520-B0DD-31ED36EF62D9}" type="slidenum">
              <a:rPr lang="en-US" altLang="zh-CN" smtClean="0"/>
              <a:pPr>
                <a:defRPr/>
              </a:pPr>
              <a:t>97</a:t>
            </a:fld>
            <a:endParaRPr lang="en-US" altLang="zh-CN"/>
          </a:p>
        </p:txBody>
      </p:sp>
    </p:spTree>
  </p:cSld>
  <p:clrMapOvr>
    <a:masterClrMapping/>
  </p:clrMapOvr>
  <p:transition>
    <p:spli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F37D0-0E6D-4A0C-9029-D52243FF24C3}"/>
              </a:ext>
            </a:extLst>
          </p:cNvPr>
          <p:cNvSpPr>
            <a:spLocks noGrp="1"/>
          </p:cNvSpPr>
          <p:nvPr>
            <p:ph type="title"/>
          </p:nvPr>
        </p:nvSpPr>
        <p:spPr/>
        <p:txBody>
          <a:bodyPr>
            <a:normAutofit/>
          </a:bodyPr>
          <a:lstStyle/>
          <a:p>
            <a:r>
              <a:rPr lang="zh-CN" altLang="en-US" dirty="0"/>
              <a:t>利用链地址法处理溢出时的类定义</a:t>
            </a:r>
          </a:p>
        </p:txBody>
      </p:sp>
      <p:sp>
        <p:nvSpPr>
          <p:cNvPr id="3" name="内容占位符 2">
            <a:extLst>
              <a:ext uri="{FF2B5EF4-FFF2-40B4-BE49-F238E27FC236}">
                <a16:creationId xmlns:a16="http://schemas.microsoft.com/office/drawing/2014/main" id="{BEC8C4A2-B2FF-468F-8D3E-F8112C3217A4}"/>
              </a:ext>
            </a:extLst>
          </p:cNvPr>
          <p:cNvSpPr>
            <a:spLocks noGrp="1"/>
          </p:cNvSpPr>
          <p:nvPr>
            <p:ph idx="1"/>
          </p:nvPr>
        </p:nvSpPr>
        <p:spPr/>
        <p:txBody>
          <a:bodyPr>
            <a:normAutofit/>
          </a:bodyPr>
          <a:lstStyle/>
          <a:p>
            <a:pPr marL="0" indent="0">
              <a:buNone/>
            </a:pPr>
            <a:r>
              <a:rPr lang="en-US" altLang="zh-CN" dirty="0"/>
              <a:t>//</a:t>
            </a:r>
            <a:r>
              <a:rPr lang="zh-CN" altLang="en-US" dirty="0"/>
              <a:t>链结点定义</a:t>
            </a:r>
            <a:endParaRPr lang="en-US" altLang="zh-CN" dirty="0"/>
          </a:p>
          <a:p>
            <a:pPr marL="0" indent="0">
              <a:buNone/>
            </a:pPr>
            <a:r>
              <a:rPr lang="en-US" altLang="zh-CN" dirty="0"/>
              <a:t>template &lt;class E, class K&gt; </a:t>
            </a:r>
          </a:p>
          <a:p>
            <a:pPr marL="0" indent="0">
              <a:buNone/>
            </a:pPr>
            <a:r>
              <a:rPr lang="en-US" altLang="zh-CN" dirty="0"/>
              <a:t>struct </a:t>
            </a:r>
            <a:r>
              <a:rPr lang="en-US" altLang="zh-CN" dirty="0" err="1"/>
              <a:t>ChainNode</a:t>
            </a:r>
            <a:r>
              <a:rPr lang="en-US" altLang="zh-CN" dirty="0"/>
              <a:t> {  </a:t>
            </a:r>
            <a:endParaRPr lang="zh-CN" altLang="en-US" dirty="0"/>
          </a:p>
          <a:p>
            <a:pPr marL="0" indent="0">
              <a:buNone/>
            </a:pPr>
            <a:r>
              <a:rPr lang="zh-CN" altLang="en-US" dirty="0"/>
              <a:t>    </a:t>
            </a:r>
            <a:r>
              <a:rPr lang="en-US" altLang="zh-CN" dirty="0"/>
              <a:t>E data;                //</a:t>
            </a:r>
            <a:r>
              <a:rPr lang="zh-CN" altLang="en-US" dirty="0"/>
              <a:t>元素</a:t>
            </a:r>
          </a:p>
          <a:p>
            <a:pPr marL="0" indent="0">
              <a:buNone/>
            </a:pPr>
            <a:r>
              <a:rPr lang="zh-CN" altLang="en-US" dirty="0"/>
              <a:t>    </a:t>
            </a:r>
            <a:r>
              <a:rPr lang="en-US" altLang="zh-CN" dirty="0" err="1"/>
              <a:t>ChainNode</a:t>
            </a:r>
            <a:r>
              <a:rPr lang="en-US" altLang="zh-CN" dirty="0"/>
              <a:t> &lt;E, K&gt; *link;   //</a:t>
            </a:r>
            <a:r>
              <a:rPr lang="zh-CN" altLang="en-US" dirty="0"/>
              <a:t>链指针 </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BC06BFBF-29E7-45F7-A640-9333A5D8FC9E}"/>
              </a:ext>
            </a:extLst>
          </p:cNvPr>
          <p:cNvSpPr>
            <a:spLocks noGrp="1"/>
          </p:cNvSpPr>
          <p:nvPr>
            <p:ph type="sldNum" sz="quarter" idx="12"/>
          </p:nvPr>
        </p:nvSpPr>
        <p:spPr/>
        <p:txBody>
          <a:bodyPr/>
          <a:lstStyle/>
          <a:p>
            <a:pPr>
              <a:defRPr/>
            </a:pPr>
            <a:fld id="{524B865F-46F8-4520-B0DD-31ED36EF62D9}" type="slidenum">
              <a:rPr lang="en-US" altLang="zh-CN" smtClean="0"/>
              <a:pPr>
                <a:defRPr/>
              </a:pPr>
              <a:t>98</a:t>
            </a:fld>
            <a:endParaRPr lang="en-US" altLang="zh-CN"/>
          </a:p>
        </p:txBody>
      </p:sp>
    </p:spTree>
    <p:extLst>
      <p:ext uri="{BB962C8B-B14F-4D97-AF65-F5344CB8AC3E}">
        <p14:creationId xmlns:p14="http://schemas.microsoft.com/office/powerpoint/2010/main" val="1260071522"/>
      </p:ext>
    </p:extLst>
  </p:cSld>
  <p:clrMapOvr>
    <a:masterClrMapping/>
  </p:clrMapOvr>
  <p:transition>
    <p:spli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A062FAC-80CE-4BAB-BEE0-131A6F05B596}"/>
              </a:ext>
            </a:extLst>
          </p:cNvPr>
          <p:cNvSpPr>
            <a:spLocks noGrp="1"/>
          </p:cNvSpPr>
          <p:nvPr>
            <p:ph idx="1"/>
          </p:nvPr>
        </p:nvSpPr>
        <p:spPr>
          <a:xfrm>
            <a:off x="323528" y="332656"/>
            <a:ext cx="8640960" cy="6336704"/>
          </a:xfrm>
        </p:spPr>
        <p:txBody>
          <a:bodyPr>
            <a:normAutofit fontScale="77500" lnSpcReduction="20000"/>
          </a:bodyPr>
          <a:lstStyle/>
          <a:p>
            <a:pPr marL="0" indent="0">
              <a:buNone/>
            </a:pPr>
            <a:r>
              <a:rPr lang="en-US" altLang="zh-CN" dirty="0"/>
              <a:t>//</a:t>
            </a:r>
            <a:r>
              <a:rPr lang="zh-CN" altLang="en-US" dirty="0"/>
              <a:t>使用开散列法的散列表的类定义</a:t>
            </a:r>
            <a:endParaRPr lang="en-US" altLang="zh-CN" dirty="0"/>
          </a:p>
          <a:p>
            <a:pPr marL="0" indent="0">
              <a:buNone/>
            </a:pPr>
            <a:r>
              <a:rPr lang="en-US" altLang="zh-CN" dirty="0"/>
              <a:t>template &lt;class E, class K&gt;   class </a:t>
            </a:r>
            <a:r>
              <a:rPr lang="en-US" altLang="zh-CN" dirty="0" err="1"/>
              <a:t>HashTable</a:t>
            </a:r>
            <a:r>
              <a:rPr lang="en-US" altLang="zh-CN" dirty="0"/>
              <a:t> {            </a:t>
            </a:r>
            <a:endParaRPr lang="zh-CN" altLang="en-US" dirty="0"/>
          </a:p>
          <a:p>
            <a:pPr marL="0" indent="0">
              <a:buNone/>
            </a:pPr>
            <a:r>
              <a:rPr lang="en-US" altLang="zh-CN" dirty="0"/>
              <a:t>public:</a:t>
            </a:r>
          </a:p>
          <a:p>
            <a:pPr marL="0" indent="0">
              <a:buNone/>
            </a:pPr>
            <a:r>
              <a:rPr lang="en-US" altLang="zh-CN" dirty="0"/>
              <a:t>    </a:t>
            </a:r>
            <a:r>
              <a:rPr lang="en-US" altLang="zh-CN" dirty="0" err="1"/>
              <a:t>HashTable</a:t>
            </a:r>
            <a:r>
              <a:rPr lang="en-US" altLang="zh-CN" dirty="0"/>
              <a:t>( int d, int </a:t>
            </a:r>
            <a:r>
              <a:rPr lang="en-US" altLang="zh-CN" dirty="0" err="1"/>
              <a:t>sz</a:t>
            </a:r>
            <a:r>
              <a:rPr lang="en-US" altLang="zh-CN" dirty="0"/>
              <a:t> = </a:t>
            </a:r>
            <a:r>
              <a:rPr lang="en-US" altLang="zh-CN" dirty="0" err="1"/>
              <a:t>defaultsize</a:t>
            </a:r>
            <a:r>
              <a:rPr lang="en-US" altLang="zh-CN" dirty="0"/>
              <a:t> );  //</a:t>
            </a:r>
            <a:r>
              <a:rPr lang="zh-CN" altLang="en-US" dirty="0"/>
              <a:t>构造函数</a:t>
            </a:r>
          </a:p>
          <a:p>
            <a:pPr marL="0" indent="0">
              <a:buNone/>
            </a:pPr>
            <a:r>
              <a:rPr lang="zh-CN" altLang="en-US" dirty="0"/>
              <a:t>    </a:t>
            </a:r>
            <a:r>
              <a:rPr lang="en-US" altLang="zh-CN" dirty="0"/>
              <a:t>~</a:t>
            </a:r>
            <a:r>
              <a:rPr lang="en-US" altLang="zh-CN" dirty="0" err="1"/>
              <a:t>HashTable</a:t>
            </a:r>
            <a:r>
              <a:rPr lang="en-US" altLang="zh-CN" dirty="0"/>
              <a:t>( ) {delete [ ] </a:t>
            </a:r>
            <a:r>
              <a:rPr lang="en-US" altLang="zh-CN" dirty="0" err="1"/>
              <a:t>ht</a:t>
            </a:r>
            <a:r>
              <a:rPr lang="en-US" altLang="zh-CN" dirty="0"/>
              <a:t> ;} </a:t>
            </a:r>
          </a:p>
          <a:p>
            <a:pPr marL="0" indent="0">
              <a:buNone/>
            </a:pPr>
            <a:r>
              <a:rPr lang="en-US" altLang="zh-CN" dirty="0"/>
              <a:t>    bool Search(const K k);</a:t>
            </a:r>
          </a:p>
          <a:p>
            <a:pPr marL="0" indent="0">
              <a:buNone/>
            </a:pPr>
            <a:r>
              <a:rPr lang="en-US" altLang="zh-CN" dirty="0"/>
              <a:t>    bool Insert(const E&amp; e1);</a:t>
            </a:r>
          </a:p>
          <a:p>
            <a:pPr marL="0" indent="0">
              <a:buNone/>
            </a:pPr>
            <a:r>
              <a:rPr lang="en-US" altLang="zh-CN" dirty="0"/>
              <a:t>    bool Remove(const K k);</a:t>
            </a:r>
          </a:p>
          <a:p>
            <a:pPr marL="0" indent="0">
              <a:buNone/>
            </a:pPr>
            <a:r>
              <a:rPr lang="en-US" altLang="zh-CN" dirty="0"/>
              <a:t>private:</a:t>
            </a:r>
          </a:p>
          <a:p>
            <a:pPr marL="0" indent="0">
              <a:buNone/>
            </a:pPr>
            <a:r>
              <a:rPr lang="en-US" altLang="zh-CN" dirty="0"/>
              <a:t>    int divisor ;</a:t>
            </a:r>
          </a:p>
          <a:p>
            <a:pPr marL="0" indent="0">
              <a:buNone/>
            </a:pPr>
            <a:r>
              <a:rPr lang="en-US" altLang="zh-CN" dirty="0"/>
              <a:t>    int </a:t>
            </a:r>
            <a:r>
              <a:rPr lang="en-US" altLang="zh-CN" dirty="0" err="1"/>
              <a:t>TableSize</a:t>
            </a:r>
            <a:r>
              <a:rPr lang="en-US" altLang="zh-CN" dirty="0"/>
              <a:t>;                  //</a:t>
            </a:r>
            <a:r>
              <a:rPr lang="zh-CN" altLang="en-US" dirty="0"/>
              <a:t>桶数          </a:t>
            </a:r>
          </a:p>
          <a:p>
            <a:pPr marL="0" indent="0">
              <a:buNone/>
            </a:pPr>
            <a:r>
              <a:rPr lang="zh-CN" altLang="en-US" dirty="0"/>
              <a:t>    </a:t>
            </a:r>
            <a:r>
              <a:rPr lang="en-US" altLang="zh-CN" dirty="0" err="1"/>
              <a:t>ChainNode</a:t>
            </a:r>
            <a:r>
              <a:rPr lang="en-US" altLang="zh-CN" dirty="0"/>
              <a:t>&lt;E,K&gt; **</a:t>
            </a:r>
            <a:r>
              <a:rPr lang="en-US" altLang="zh-CN" dirty="0" err="1"/>
              <a:t>ht</a:t>
            </a:r>
            <a:r>
              <a:rPr lang="en-US" altLang="zh-CN" dirty="0"/>
              <a:t>;     </a:t>
            </a:r>
          </a:p>
          <a:p>
            <a:pPr marL="0" indent="0">
              <a:buNone/>
            </a:pPr>
            <a:r>
              <a:rPr lang="en-US" altLang="zh-CN" dirty="0"/>
              <a:t>    </a:t>
            </a:r>
            <a:r>
              <a:rPr lang="en-US" altLang="zh-CN" dirty="0" err="1"/>
              <a:t>ChainNode</a:t>
            </a:r>
            <a:r>
              <a:rPr lang="en-US" altLang="zh-CN" dirty="0"/>
              <a:t>&lt;E,K&gt; *</a:t>
            </a:r>
            <a:r>
              <a:rPr lang="en-US" altLang="zh-CN" dirty="0" err="1"/>
              <a:t>FindPos</a:t>
            </a:r>
            <a:r>
              <a:rPr lang="en-US" altLang="zh-CN" dirty="0"/>
              <a:t>(const K k1);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43801C5B-FBEC-86F7-33A8-FA87253633C4}"/>
              </a:ext>
            </a:extLst>
          </p:cNvPr>
          <p:cNvSpPr>
            <a:spLocks noGrp="1"/>
          </p:cNvSpPr>
          <p:nvPr>
            <p:ph type="sldNum" sz="quarter" idx="12"/>
          </p:nvPr>
        </p:nvSpPr>
        <p:spPr/>
        <p:txBody>
          <a:bodyPr/>
          <a:lstStyle/>
          <a:p>
            <a:pPr>
              <a:defRPr/>
            </a:pPr>
            <a:fld id="{524B865F-46F8-4520-B0DD-31ED36EF62D9}" type="slidenum">
              <a:rPr lang="en-US" altLang="zh-CN" smtClean="0"/>
              <a:pPr>
                <a:defRPr/>
              </a:pPr>
              <a:t>99</a:t>
            </a:fld>
            <a:endParaRPr lang="en-US" altLang="zh-CN"/>
          </a:p>
        </p:txBody>
      </p:sp>
    </p:spTree>
  </p:cSld>
  <p:clrMapOvr>
    <a:masterClrMapping/>
  </p:clrMapOvr>
  <p:transition>
    <p:spli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070CF7-C77F-4203-B36C-E382BBC2D9BC}"/>
              </a:ext>
            </a:extLst>
          </p:cNvPr>
          <p:cNvSpPr>
            <a:spLocks noGrp="1"/>
          </p:cNvSpPr>
          <p:nvPr>
            <p:ph idx="1"/>
          </p:nvPr>
        </p:nvSpPr>
        <p:spPr>
          <a:xfrm>
            <a:off x="628650" y="188640"/>
            <a:ext cx="7886700" cy="5988323"/>
          </a:xfrm>
        </p:spPr>
        <p:txBody>
          <a:bodyPr>
            <a:normAutofit fontScale="55000" lnSpcReduction="20000"/>
          </a:bodyPr>
          <a:lstStyle/>
          <a:p>
            <a:pPr marL="0" indent="0">
              <a:buNone/>
            </a:pPr>
            <a:r>
              <a:rPr lang="en-US" altLang="zh-CN" dirty="0"/>
              <a:t>template&lt;class E, class K&gt; </a:t>
            </a:r>
          </a:p>
          <a:p>
            <a:pPr marL="0" indent="0">
              <a:buNone/>
            </a:pPr>
            <a:r>
              <a:rPr lang="en-US" altLang="zh-CN" dirty="0" err="1"/>
              <a:t>HashTable</a:t>
            </a:r>
            <a:r>
              <a:rPr lang="en-US" altLang="zh-CN" dirty="0"/>
              <a:t>&lt; E, K &gt;:: </a:t>
            </a:r>
            <a:r>
              <a:rPr lang="en-US" altLang="zh-CN" dirty="0" err="1"/>
              <a:t>HashTable</a:t>
            </a:r>
            <a:r>
              <a:rPr lang="en-US" altLang="zh-CN" dirty="0"/>
              <a:t>( int d, int </a:t>
            </a:r>
            <a:r>
              <a:rPr lang="en-US" altLang="zh-CN" dirty="0" err="1"/>
              <a:t>sz</a:t>
            </a:r>
            <a:r>
              <a:rPr lang="en-US" altLang="zh-CN" dirty="0"/>
              <a:t>) {</a:t>
            </a:r>
          </a:p>
          <a:p>
            <a:pPr marL="0" indent="0">
              <a:buNone/>
            </a:pPr>
            <a:r>
              <a:rPr lang="en-US" altLang="zh-CN" dirty="0"/>
              <a:t>    divisor = d;</a:t>
            </a:r>
          </a:p>
          <a:p>
            <a:pPr marL="0" indent="0">
              <a:buNone/>
            </a:pPr>
            <a:r>
              <a:rPr lang="en-US" altLang="zh-CN" dirty="0"/>
              <a:t>    </a:t>
            </a:r>
            <a:r>
              <a:rPr lang="en-US" altLang="zh-CN" dirty="0" err="1"/>
              <a:t>TableSize</a:t>
            </a:r>
            <a:r>
              <a:rPr lang="en-US" altLang="zh-CN" dirty="0"/>
              <a:t> = </a:t>
            </a:r>
            <a:r>
              <a:rPr lang="en-US" altLang="zh-CN" dirty="0" err="1"/>
              <a:t>sz</a:t>
            </a:r>
            <a:r>
              <a:rPr lang="en-US" altLang="zh-CN" dirty="0"/>
              <a:t>;</a:t>
            </a:r>
          </a:p>
          <a:p>
            <a:pPr marL="0" indent="0">
              <a:buNone/>
            </a:pPr>
            <a:r>
              <a:rPr lang="en-US" altLang="zh-CN" dirty="0"/>
              <a:t>    </a:t>
            </a:r>
            <a:r>
              <a:rPr lang="en-US" altLang="zh-CN" dirty="0" err="1"/>
              <a:t>ht</a:t>
            </a:r>
            <a:r>
              <a:rPr lang="en-US" altLang="zh-CN" dirty="0"/>
              <a:t> = new </a:t>
            </a:r>
            <a:r>
              <a:rPr lang="en-US" altLang="zh-CN" dirty="0" err="1"/>
              <a:t>ChainNode</a:t>
            </a:r>
            <a:r>
              <a:rPr lang="en-US" altLang="zh-CN" dirty="0"/>
              <a:t>&lt;E, K&gt; *[</a:t>
            </a:r>
            <a:r>
              <a:rPr lang="en-US" altLang="zh-CN" dirty="0" err="1"/>
              <a:t>sz</a:t>
            </a:r>
            <a:r>
              <a:rPr lang="en-US" altLang="zh-CN" dirty="0"/>
              <a:t>];</a:t>
            </a:r>
          </a:p>
          <a:p>
            <a:pPr marL="0" indent="0">
              <a:buNone/>
            </a:pPr>
            <a:r>
              <a:rPr lang="en-US" altLang="zh-CN" dirty="0"/>
              <a:t>    assert(</a:t>
            </a:r>
            <a:r>
              <a:rPr lang="en-US" altLang="zh-CN" dirty="0" err="1"/>
              <a:t>ht</a:t>
            </a:r>
            <a:r>
              <a:rPr lang="en-US" altLang="zh-CN" dirty="0"/>
              <a:t> != NULL);</a:t>
            </a:r>
          </a:p>
          <a:p>
            <a:pPr marL="0" indent="0">
              <a:buNone/>
            </a:pPr>
            <a:r>
              <a:rPr lang="en-US" altLang="zh-CN" dirty="0"/>
              <a:t>}</a:t>
            </a:r>
          </a:p>
          <a:p>
            <a:pPr marL="0" indent="0">
              <a:buNone/>
            </a:pPr>
            <a:endParaRPr lang="en-US" altLang="zh-CN" dirty="0"/>
          </a:p>
          <a:p>
            <a:pPr marL="0" indent="0">
              <a:buNone/>
            </a:pPr>
            <a:r>
              <a:rPr lang="en-US" altLang="zh-CN" dirty="0"/>
              <a:t>template&lt;class E, class K&gt; </a:t>
            </a:r>
          </a:p>
          <a:p>
            <a:pPr marL="0" indent="0">
              <a:buNone/>
            </a:pPr>
            <a:r>
              <a:rPr lang="en-US" altLang="zh-CN" dirty="0" err="1"/>
              <a:t>ChainNode</a:t>
            </a:r>
            <a:r>
              <a:rPr lang="en-US" altLang="zh-CN" dirty="0"/>
              <a:t>&lt;E, K&gt; * </a:t>
            </a:r>
            <a:r>
              <a:rPr lang="en-US" altLang="zh-CN" dirty="0" err="1"/>
              <a:t>HashTable</a:t>
            </a:r>
            <a:r>
              <a:rPr lang="en-US" altLang="zh-CN" dirty="0"/>
              <a:t>&lt; E, K &gt;:: </a:t>
            </a:r>
            <a:r>
              <a:rPr lang="en-US" altLang="zh-CN" dirty="0" err="1"/>
              <a:t>FindPos</a:t>
            </a:r>
            <a:r>
              <a:rPr lang="en-US" altLang="zh-CN" dirty="0"/>
              <a:t>( const K&amp; k1) {</a:t>
            </a:r>
          </a:p>
          <a:p>
            <a:pPr marL="0" indent="0">
              <a:buNone/>
            </a:pPr>
            <a:r>
              <a:rPr lang="en-US" altLang="zh-CN" dirty="0"/>
              <a:t>    int j = k1 % divisor;</a:t>
            </a:r>
          </a:p>
          <a:p>
            <a:pPr marL="0" indent="0">
              <a:buNone/>
            </a:pPr>
            <a:r>
              <a:rPr lang="en-US" altLang="zh-CN" dirty="0"/>
              <a:t>    </a:t>
            </a:r>
            <a:r>
              <a:rPr lang="en-US" altLang="zh-CN" dirty="0" err="1"/>
              <a:t>ChainNode</a:t>
            </a:r>
            <a:r>
              <a:rPr lang="en-US" altLang="zh-CN" dirty="0"/>
              <a:t>&lt;E, K&gt; *p = </a:t>
            </a:r>
            <a:r>
              <a:rPr lang="en-US" altLang="zh-CN" dirty="0" err="1"/>
              <a:t>ht</a:t>
            </a:r>
            <a:r>
              <a:rPr lang="en-US" altLang="zh-CN" dirty="0"/>
              <a:t>[j];</a:t>
            </a:r>
          </a:p>
          <a:p>
            <a:pPr marL="0" indent="0">
              <a:buNone/>
            </a:pPr>
            <a:r>
              <a:rPr lang="en-US" altLang="zh-CN" dirty="0"/>
              <a:t>    while(p!=NULL&amp;&amp;p-&gt;data!=k1) p = p-&gt;link;</a:t>
            </a:r>
          </a:p>
          <a:p>
            <a:pPr marL="0" indent="0">
              <a:buNone/>
            </a:pPr>
            <a:r>
              <a:rPr lang="en-US" altLang="zh-CN" dirty="0"/>
              <a:t>    return p;</a:t>
            </a:r>
          </a:p>
          <a:p>
            <a:pPr marL="0" indent="0">
              <a:buNone/>
            </a:pPr>
            <a:r>
              <a:rPr lang="en-US" altLang="zh-CN" dirty="0"/>
              <a:t>}</a:t>
            </a:r>
          </a:p>
        </p:txBody>
      </p:sp>
      <p:sp>
        <p:nvSpPr>
          <p:cNvPr id="2" name="灯片编号占位符 1">
            <a:extLst>
              <a:ext uri="{FF2B5EF4-FFF2-40B4-BE49-F238E27FC236}">
                <a16:creationId xmlns:a16="http://schemas.microsoft.com/office/drawing/2014/main" id="{6A974F8A-21D5-86F2-D50E-342EACE2E507}"/>
              </a:ext>
            </a:extLst>
          </p:cNvPr>
          <p:cNvSpPr>
            <a:spLocks noGrp="1"/>
          </p:cNvSpPr>
          <p:nvPr>
            <p:ph type="sldNum" sz="quarter" idx="12"/>
          </p:nvPr>
        </p:nvSpPr>
        <p:spPr/>
        <p:txBody>
          <a:bodyPr/>
          <a:lstStyle/>
          <a:p>
            <a:pPr>
              <a:defRPr/>
            </a:pPr>
            <a:fld id="{524B865F-46F8-4520-B0DD-31ED36EF62D9}" type="slidenum">
              <a:rPr lang="en-US" altLang="zh-CN" smtClean="0"/>
              <a:pPr>
                <a:defRPr/>
              </a:pPr>
              <a:t>100</a:t>
            </a:fld>
            <a:endParaRPr lang="en-US" altLang="zh-CN"/>
          </a:p>
        </p:txBody>
      </p:sp>
    </p:spTree>
  </p:cSld>
  <p:clrMapOvr>
    <a:masterClrMapping/>
  </p:clrMapOvr>
  <p:transition>
    <p:spli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开放定址法和链地址法比较（即闭散列法与开散列法比较）</a:t>
            </a:r>
          </a:p>
        </p:txBody>
      </p:sp>
      <p:sp>
        <p:nvSpPr>
          <p:cNvPr id="3" name="内容占位符 2"/>
          <p:cNvSpPr>
            <a:spLocks noGrp="1"/>
          </p:cNvSpPr>
          <p:nvPr>
            <p:ph idx="1"/>
          </p:nvPr>
        </p:nvSpPr>
        <p:spPr/>
        <p:txBody>
          <a:bodyPr>
            <a:normAutofit fontScale="62500" lnSpcReduction="20000"/>
          </a:bodyPr>
          <a:lstStyle/>
          <a:p>
            <a:r>
              <a:rPr lang="zh-CN" altLang="en-US" dirty="0"/>
              <a:t>研究表明，链地址法的平均搜索长度一般小于开放定址法，因此链地址法得到更广泛的应用。与开放定址法相比，链地址法有如下几个优点：</a:t>
            </a:r>
            <a:endParaRPr lang="en-US" altLang="zh-CN" dirty="0"/>
          </a:p>
          <a:p>
            <a:pPr lvl="1"/>
            <a:r>
              <a:rPr lang="en-US" dirty="0"/>
              <a:t>(1)</a:t>
            </a:r>
            <a:r>
              <a:rPr lang="zh-CN" altLang="en-US" dirty="0"/>
              <a:t>链地址法处理冲突时，非同义词决不会发生冲突，平均查找长度较短。</a:t>
            </a:r>
            <a:endParaRPr lang="en-US" altLang="zh-CN" dirty="0"/>
          </a:p>
          <a:p>
            <a:pPr lvl="1"/>
            <a:r>
              <a:rPr lang="en-US" dirty="0"/>
              <a:t>(2)</a:t>
            </a:r>
            <a:r>
              <a:rPr lang="zh-CN" altLang="en-US" dirty="0"/>
              <a:t>链地址法中各链表结点空间是动态申请的，更适合无法预先确定表长的情况。</a:t>
            </a:r>
            <a:endParaRPr lang="en-US" altLang="zh-CN" dirty="0"/>
          </a:p>
          <a:p>
            <a:pPr lvl="1"/>
            <a:r>
              <a:rPr lang="en-US" dirty="0"/>
              <a:t>(3)</a:t>
            </a:r>
            <a:r>
              <a:rPr lang="zh-CN" altLang="en-US" dirty="0"/>
              <a:t>开放定址法为减少冲突，要求装填因子</a:t>
            </a:r>
            <a:r>
              <a:rPr lang="en-US" dirty="0"/>
              <a:t>α</a:t>
            </a:r>
            <a:r>
              <a:rPr lang="zh-CN" altLang="en-US" dirty="0"/>
              <a:t>较小，故当结点规模较大时会浪费很多空间。而链地址法中可取</a:t>
            </a:r>
            <a:r>
              <a:rPr lang="en-US" dirty="0"/>
              <a:t>α≥1</a:t>
            </a:r>
            <a:r>
              <a:rPr lang="zh-CN" altLang="en-US" dirty="0"/>
              <a:t>，且结点较大时，链地址法中增加的指针域可忽略不计，因此节省空间。</a:t>
            </a:r>
            <a:endParaRPr lang="en-US" altLang="zh-CN" dirty="0"/>
          </a:p>
          <a:p>
            <a:pPr lvl="1"/>
            <a:r>
              <a:rPr lang="en-US" dirty="0"/>
              <a:t>(4)</a:t>
            </a:r>
            <a:r>
              <a:rPr lang="zh-CN" altLang="en-US" dirty="0"/>
              <a:t>在用链地址法构造的</a:t>
            </a:r>
            <a:r>
              <a:rPr lang="en-US" dirty="0"/>
              <a:t>Hash</a:t>
            </a:r>
            <a:r>
              <a:rPr lang="zh-CN" altLang="en-US" dirty="0"/>
              <a:t>表中，删除结点的操作易于实现，只要简单地删去链表上相应的结点即可。而对开放定址法构造的</a:t>
            </a:r>
            <a:r>
              <a:rPr lang="en-US" dirty="0"/>
              <a:t>Hash</a:t>
            </a:r>
            <a:r>
              <a:rPr lang="zh-CN" altLang="en-US" dirty="0"/>
              <a:t>表，删除结点时只能在被删结点上做删除标记，不能真正删除结点。</a:t>
            </a:r>
            <a:endParaRPr lang="en-US" altLang="zh-CN" dirty="0"/>
          </a:p>
        </p:txBody>
      </p:sp>
      <p:sp>
        <p:nvSpPr>
          <p:cNvPr id="4" name="灯片编号占位符 3">
            <a:extLst>
              <a:ext uri="{FF2B5EF4-FFF2-40B4-BE49-F238E27FC236}">
                <a16:creationId xmlns:a16="http://schemas.microsoft.com/office/drawing/2014/main" id="{58ED635F-DB58-4E13-A8F1-BA44C4B2B125}"/>
              </a:ext>
            </a:extLst>
          </p:cNvPr>
          <p:cNvSpPr>
            <a:spLocks noGrp="1"/>
          </p:cNvSpPr>
          <p:nvPr>
            <p:ph type="sldNum" sz="quarter" idx="12"/>
          </p:nvPr>
        </p:nvSpPr>
        <p:spPr/>
        <p:txBody>
          <a:bodyPr/>
          <a:lstStyle/>
          <a:p>
            <a:fld id="{0C913308-F349-4B6D-A68A-DD1791B4A57B}" type="slidenum">
              <a:rPr lang="zh-CN" altLang="en-US" smtClean="0"/>
              <a:pPr/>
              <a:t>101</a:t>
            </a:fld>
            <a:endParaRPr lang="zh-CN" altLang="en-US"/>
          </a:p>
        </p:txBody>
      </p:sp>
    </p:spTree>
  </p:cSld>
  <p:clrMapOvr>
    <a:masterClrMapping/>
  </p:clrMapOvr>
  <p:transition>
    <p:spli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a:extLst>
              <a:ext uri="{FF2B5EF4-FFF2-40B4-BE49-F238E27FC236}">
                <a16:creationId xmlns:a16="http://schemas.microsoft.com/office/drawing/2014/main" id="{B40CD8AD-155D-F49B-F6EA-04A0AF2FF839}"/>
              </a:ext>
            </a:extLst>
          </p:cNvPr>
          <p:cNvSpPr>
            <a:spLocks noGrp="1" noChangeArrowheads="1"/>
          </p:cNvSpPr>
          <p:nvPr>
            <p:ph type="title"/>
          </p:nvPr>
        </p:nvSpPr>
        <p:spPr/>
        <p:txBody>
          <a:bodyPr/>
          <a:lstStyle/>
          <a:p>
            <a:r>
              <a:rPr lang="en-US" altLang="zh-CN"/>
              <a:t> 6.5.5 </a:t>
            </a:r>
            <a:r>
              <a:rPr lang="zh-CN" altLang="en-US"/>
              <a:t>散</a:t>
            </a:r>
            <a:r>
              <a:rPr lang="zh-CN" altLang="en-US" dirty="0"/>
              <a:t>列表分析</a:t>
            </a:r>
          </a:p>
        </p:txBody>
      </p:sp>
      <p:sp>
        <p:nvSpPr>
          <p:cNvPr id="513027" name="Rectangle 3">
            <a:extLst>
              <a:ext uri="{FF2B5EF4-FFF2-40B4-BE49-F238E27FC236}">
                <a16:creationId xmlns:a16="http://schemas.microsoft.com/office/drawing/2014/main" id="{76D55A82-F05D-81DE-DD35-1E38275BAF40}"/>
              </a:ext>
            </a:extLst>
          </p:cNvPr>
          <p:cNvSpPr>
            <a:spLocks noGrp="1" noChangeArrowheads="1"/>
          </p:cNvSpPr>
          <p:nvPr>
            <p:ph idx="1"/>
          </p:nvPr>
        </p:nvSpPr>
        <p:spPr/>
        <p:txBody>
          <a:bodyPr/>
          <a:lstStyle/>
          <a:p>
            <a:r>
              <a:rPr lang="zh-CN" altLang="en-US" dirty="0"/>
              <a:t>平均搜索时间的影响因素</a:t>
            </a:r>
            <a:endParaRPr lang="en-US" altLang="zh-CN" dirty="0"/>
          </a:p>
          <a:p>
            <a:pPr lvl="1"/>
            <a:r>
              <a:rPr lang="zh-CN" altLang="en-US" dirty="0"/>
              <a:t>散列函数的选取（地址分布是否均匀）</a:t>
            </a:r>
            <a:endParaRPr lang="en-US" altLang="zh-CN" dirty="0"/>
          </a:p>
          <a:p>
            <a:pPr lvl="2"/>
            <a:r>
              <a:rPr lang="zh-CN" altLang="en-US" dirty="0"/>
              <a:t>要考虑到可能增加冲突的因素，例如关键码是否具有相同的前缀或后缀、是否有相同字符的不同排列的情况，</a:t>
            </a:r>
            <a:r>
              <a:rPr lang="en-US" altLang="zh-CN" dirty="0"/>
              <a:t>…</a:t>
            </a:r>
            <a:r>
              <a:rPr lang="zh-CN" altLang="en-US" dirty="0"/>
              <a:t>。</a:t>
            </a:r>
            <a:endParaRPr lang="en-US" altLang="zh-CN" dirty="0"/>
          </a:p>
          <a:p>
            <a:pPr lvl="1"/>
            <a:r>
              <a:rPr lang="zh-CN" altLang="en-US" dirty="0"/>
              <a:t>处理冲突的方法（是否产生堆积）</a:t>
            </a:r>
            <a:endParaRPr lang="en-US" altLang="zh-CN" dirty="0"/>
          </a:p>
          <a:p>
            <a:pPr lvl="1"/>
            <a:r>
              <a:rPr lang="zh-CN" altLang="en-US" dirty="0"/>
              <a:t>散列表的装满程度（装填因子为指标）</a:t>
            </a:r>
            <a:endParaRPr lang="en-US" altLang="zh-CN" dirty="0">
              <a:sym typeface="Symbol" pitchFamily="18" charset="2"/>
            </a:endParaRPr>
          </a:p>
          <a:p>
            <a:r>
              <a:rPr lang="zh-CN" altLang="en-US" dirty="0"/>
              <a:t>下表给出一些实验结果。</a:t>
            </a:r>
            <a:endParaRPr lang="en-US" altLang="zh-CN" dirty="0"/>
          </a:p>
        </p:txBody>
      </p:sp>
      <p:sp>
        <p:nvSpPr>
          <p:cNvPr id="2" name="灯片编号占位符 1">
            <a:extLst>
              <a:ext uri="{FF2B5EF4-FFF2-40B4-BE49-F238E27FC236}">
                <a16:creationId xmlns:a16="http://schemas.microsoft.com/office/drawing/2014/main" id="{F1FE62F1-6F0C-1E5E-D527-23614B5B66D7}"/>
              </a:ext>
            </a:extLst>
          </p:cNvPr>
          <p:cNvSpPr>
            <a:spLocks noGrp="1"/>
          </p:cNvSpPr>
          <p:nvPr>
            <p:ph type="sldNum" sz="quarter" idx="12"/>
          </p:nvPr>
        </p:nvSpPr>
        <p:spPr/>
        <p:txBody>
          <a:bodyPr/>
          <a:lstStyle/>
          <a:p>
            <a:pPr>
              <a:defRPr/>
            </a:pPr>
            <a:fld id="{524B865F-46F8-4520-B0DD-31ED36EF62D9}" type="slidenum">
              <a:rPr lang="en-US" altLang="zh-CN" smtClean="0"/>
              <a:pPr>
                <a:defRPr/>
              </a:pPr>
              <a:t>102</a:t>
            </a:fld>
            <a:endParaRPr lang="en-US" altLang="zh-CN"/>
          </a:p>
        </p:txBody>
      </p:sp>
    </p:spTree>
  </p:cSld>
  <p:clrMapOvr>
    <a:masterClrMapping/>
  </p:clrMapOvr>
  <p:transition>
    <p:spli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882" name="Object 0">
            <a:extLst>
              <a:ext uri="{FF2B5EF4-FFF2-40B4-BE49-F238E27FC236}">
                <a16:creationId xmlns:a16="http://schemas.microsoft.com/office/drawing/2014/main" id="{646BEACA-3B5D-97F3-01C7-3BF995490FAD}"/>
              </a:ext>
            </a:extLst>
          </p:cNvPr>
          <p:cNvGraphicFramePr>
            <a:graphicFrameLocks noChangeAspect="1"/>
          </p:cNvGraphicFramePr>
          <p:nvPr/>
        </p:nvGraphicFramePr>
        <p:xfrm>
          <a:off x="76200" y="76200"/>
          <a:ext cx="9474200" cy="4419600"/>
        </p:xfrm>
        <a:graphic>
          <a:graphicData uri="http://schemas.openxmlformats.org/presentationml/2006/ole">
            <mc:AlternateContent xmlns:mc="http://schemas.openxmlformats.org/markup-compatibility/2006">
              <mc:Choice xmlns:v="urn:schemas-microsoft-com:vml" Requires="v">
                <p:oleObj name="Document" r:id="rId2" imgW="9229725" imgH="3600450" progId="Word.Document.8">
                  <p:embed/>
                </p:oleObj>
              </mc:Choice>
              <mc:Fallback>
                <p:oleObj name="Document" r:id="rId2" imgW="9229725" imgH="3600450" progId="Word.Document.8">
                  <p:embed/>
                  <p:pic>
                    <p:nvPicPr>
                      <p:cNvPr id="0" name="Object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76200"/>
                        <a:ext cx="94742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883" name="Text Box 3">
            <a:extLst>
              <a:ext uri="{FF2B5EF4-FFF2-40B4-BE49-F238E27FC236}">
                <a16:creationId xmlns:a16="http://schemas.microsoft.com/office/drawing/2014/main" id="{0F95C067-84CE-A61B-B16E-63C096675784}"/>
              </a:ext>
            </a:extLst>
          </p:cNvPr>
          <p:cNvSpPr txBox="1">
            <a:spLocks noChangeArrowheads="1"/>
          </p:cNvSpPr>
          <p:nvPr/>
        </p:nvSpPr>
        <p:spPr bwMode="auto">
          <a:xfrm>
            <a:off x="609600" y="4267200"/>
            <a:ext cx="8305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600" b="1">
                <a:solidFill>
                  <a:srgbClr val="008080"/>
                </a:solidFill>
                <a:latin typeface="Times New Roman" panose="02020603050405020304" pitchFamily="18" charset="0"/>
                <a:ea typeface="隶书" panose="02010509060101010101" pitchFamily="49" charset="-122"/>
              </a:rPr>
              <a:t>搜索关键码时所需对桶的平均访问次数</a:t>
            </a:r>
            <a:endParaRPr kumimoji="1" lang="zh-CN" altLang="en-US" sz="2000" b="1">
              <a:latin typeface="Times New Roman" panose="02020603050405020304" pitchFamily="18" charset="0"/>
              <a:ea typeface="宋体" panose="02010600030101010101" pitchFamily="2" charset="-122"/>
            </a:endParaRPr>
          </a:p>
        </p:txBody>
      </p:sp>
      <p:sp>
        <p:nvSpPr>
          <p:cNvPr id="4" name="内容占位符 3">
            <a:extLst>
              <a:ext uri="{FF2B5EF4-FFF2-40B4-BE49-F238E27FC236}">
                <a16:creationId xmlns:a16="http://schemas.microsoft.com/office/drawing/2014/main" id="{D787468E-CCE2-4B37-86F4-590D1DBE14F3}"/>
              </a:ext>
            </a:extLst>
          </p:cNvPr>
          <p:cNvSpPr>
            <a:spLocks noGrp="1"/>
          </p:cNvSpPr>
          <p:nvPr>
            <p:ph idx="1"/>
          </p:nvPr>
        </p:nvSpPr>
        <p:spPr>
          <a:xfrm>
            <a:off x="628650" y="4908551"/>
            <a:ext cx="8286750" cy="1733550"/>
          </a:xfrm>
        </p:spPr>
        <p:txBody>
          <a:bodyPr>
            <a:normAutofit fontScale="85000" lnSpcReduction="10000"/>
          </a:bodyPr>
          <a:lstStyle/>
          <a:p>
            <a:r>
              <a:rPr lang="zh-CN" altLang="en-US" dirty="0"/>
              <a:t>从表中可以看出</a:t>
            </a:r>
            <a:endParaRPr lang="en-US" altLang="zh-CN" dirty="0"/>
          </a:p>
          <a:p>
            <a:pPr lvl="1"/>
            <a:r>
              <a:rPr lang="zh-CN" altLang="en-US" dirty="0"/>
              <a:t>开散列法优于闭散列法（未细化具体闭散列法）；</a:t>
            </a:r>
            <a:endParaRPr lang="en-US" altLang="zh-CN" dirty="0"/>
          </a:p>
          <a:p>
            <a:pPr lvl="1"/>
            <a:r>
              <a:rPr lang="zh-CN" altLang="en-US" dirty="0"/>
              <a:t>在散列函数中，用除留余数法作散列函数优于其它类型的散列函数，最差的是折叠法。</a:t>
            </a:r>
          </a:p>
        </p:txBody>
      </p:sp>
      <p:sp>
        <p:nvSpPr>
          <p:cNvPr id="2" name="灯片编号占位符 1">
            <a:extLst>
              <a:ext uri="{FF2B5EF4-FFF2-40B4-BE49-F238E27FC236}">
                <a16:creationId xmlns:a16="http://schemas.microsoft.com/office/drawing/2014/main" id="{FCDE917F-FB8C-6E58-C15D-3883292D55F4}"/>
              </a:ext>
            </a:extLst>
          </p:cNvPr>
          <p:cNvSpPr>
            <a:spLocks noGrp="1"/>
          </p:cNvSpPr>
          <p:nvPr>
            <p:ph type="sldNum" sz="quarter" idx="12"/>
          </p:nvPr>
        </p:nvSpPr>
        <p:spPr/>
        <p:txBody>
          <a:bodyPr/>
          <a:lstStyle/>
          <a:p>
            <a:pPr>
              <a:defRPr/>
            </a:pPr>
            <a:fld id="{524B865F-46F8-4520-B0DD-31ED36EF62D9}" type="slidenum">
              <a:rPr lang="en-US" altLang="zh-CN" smtClean="0"/>
              <a:pPr>
                <a:defRPr/>
              </a:pPr>
              <a:t>103</a:t>
            </a:fld>
            <a:endParaRPr lang="en-US" altLang="zh-CN"/>
          </a:p>
        </p:txBody>
      </p:sp>
    </p:spTree>
  </p:cSld>
  <p:clrMapOvr>
    <a:masterClrMapping/>
  </p:clrMapOvr>
  <p:transition>
    <p:spli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98040674-AC34-4BD0-952D-A5B3833199CC}"/>
              </a:ext>
            </a:extLst>
          </p:cNvPr>
          <p:cNvSpPr>
            <a:spLocks noGrp="1"/>
          </p:cNvSpPr>
          <p:nvPr>
            <p:ph type="title"/>
          </p:nvPr>
        </p:nvSpPr>
        <p:spPr/>
        <p:txBody>
          <a:bodyPr/>
          <a:lstStyle/>
          <a:p>
            <a:r>
              <a:rPr lang="zh-CN" altLang="en-US" dirty="0"/>
              <a:t>对散列表技术的评估</a:t>
            </a:r>
          </a:p>
        </p:txBody>
      </p:sp>
      <p:sp>
        <p:nvSpPr>
          <p:cNvPr id="515074" name="Rectangle 2">
            <a:extLst>
              <a:ext uri="{FF2B5EF4-FFF2-40B4-BE49-F238E27FC236}">
                <a16:creationId xmlns:a16="http://schemas.microsoft.com/office/drawing/2014/main" id="{0B0049C8-825C-B3F1-9CE2-ADC6D9B453A5}"/>
              </a:ext>
            </a:extLst>
          </p:cNvPr>
          <p:cNvSpPr>
            <a:spLocks noGrp="1" noChangeArrowheads="1"/>
          </p:cNvSpPr>
          <p:nvPr>
            <p:ph type="body" idx="1"/>
          </p:nvPr>
        </p:nvSpPr>
        <p:spPr/>
        <p:txBody>
          <a:bodyPr>
            <a:normAutofit fontScale="77500" lnSpcReduction="20000"/>
          </a:bodyPr>
          <a:lstStyle/>
          <a:p>
            <a:pPr>
              <a:lnSpc>
                <a:spcPct val="120000"/>
              </a:lnSpc>
            </a:pPr>
            <a:r>
              <a:rPr lang="zh-CN" altLang="en-US" dirty="0"/>
              <a:t>当装填因子 </a:t>
            </a:r>
            <a:r>
              <a:rPr lang="zh-CN" altLang="en-US" dirty="0">
                <a:sym typeface="Symbol" pitchFamily="18" charset="2"/>
              </a:rPr>
              <a:t> </a:t>
            </a:r>
            <a:r>
              <a:rPr lang="zh-CN" altLang="en-US" dirty="0"/>
              <a:t>较高时</a:t>
            </a:r>
            <a:r>
              <a:rPr lang="en-US" altLang="zh-CN" dirty="0"/>
              <a:t>,  </a:t>
            </a:r>
            <a:r>
              <a:rPr lang="zh-CN" altLang="en-US" dirty="0"/>
              <a:t>选择的散列函数不同，散列表的搜索性能差别很大。</a:t>
            </a:r>
            <a:endParaRPr lang="en-US" altLang="zh-CN" dirty="0"/>
          </a:p>
          <a:p>
            <a:pPr>
              <a:lnSpc>
                <a:spcPct val="120000"/>
              </a:lnSpc>
            </a:pPr>
            <a:r>
              <a:rPr lang="zh-CN" altLang="en-US" dirty="0"/>
              <a:t>对散列表技术进行的实验评估表明，它具有很好的平均性能，优于一些传统的技术，如</a:t>
            </a:r>
            <a:r>
              <a:rPr lang="en-US" altLang="zh-CN" dirty="0"/>
              <a:t>AVL</a:t>
            </a:r>
            <a:r>
              <a:rPr lang="zh-CN" altLang="en-US" dirty="0"/>
              <a:t>树。</a:t>
            </a:r>
          </a:p>
          <a:p>
            <a:pPr lvl="1">
              <a:lnSpc>
                <a:spcPct val="120000"/>
              </a:lnSpc>
            </a:pPr>
            <a:r>
              <a:rPr lang="zh-CN" altLang="en-US" dirty="0"/>
              <a:t>但散列表在最坏情况下性能很不好。如果对有 </a:t>
            </a:r>
            <a:r>
              <a:rPr lang="en-US" altLang="zh-CN" dirty="0"/>
              <a:t>n </a:t>
            </a:r>
            <a:r>
              <a:rPr lang="zh-CN" altLang="en-US" dirty="0"/>
              <a:t>个关键码的散列表执行一次搜索或插入操作，最坏情况下需要 </a:t>
            </a:r>
            <a:r>
              <a:rPr lang="en-US" altLang="zh-CN" dirty="0"/>
              <a:t>O(n) </a:t>
            </a:r>
            <a:r>
              <a:rPr lang="zh-CN" altLang="en-US" dirty="0"/>
              <a:t>的时间。</a:t>
            </a:r>
          </a:p>
          <a:p>
            <a:pPr>
              <a:lnSpc>
                <a:spcPct val="120000"/>
              </a:lnSpc>
            </a:pPr>
            <a:r>
              <a:rPr lang="en-US" altLang="zh-CN" dirty="0"/>
              <a:t>Knuth</a:t>
            </a:r>
            <a:r>
              <a:rPr lang="zh-CN" altLang="en-US" dirty="0"/>
              <a:t>对不同的冲突处理方法进行了概率分析。</a:t>
            </a:r>
            <a:endParaRPr lang="en-US" altLang="zh-CN" sz="2800" dirty="0"/>
          </a:p>
        </p:txBody>
      </p:sp>
      <p:sp>
        <p:nvSpPr>
          <p:cNvPr id="2" name="灯片编号占位符 1">
            <a:extLst>
              <a:ext uri="{FF2B5EF4-FFF2-40B4-BE49-F238E27FC236}">
                <a16:creationId xmlns:a16="http://schemas.microsoft.com/office/drawing/2014/main" id="{5D28FF18-B6D9-7F7D-B17A-9E34C737B544}"/>
              </a:ext>
            </a:extLst>
          </p:cNvPr>
          <p:cNvSpPr>
            <a:spLocks noGrp="1"/>
          </p:cNvSpPr>
          <p:nvPr>
            <p:ph type="sldNum" sz="quarter" idx="12"/>
          </p:nvPr>
        </p:nvSpPr>
        <p:spPr/>
        <p:txBody>
          <a:bodyPr/>
          <a:lstStyle/>
          <a:p>
            <a:pPr>
              <a:defRPr/>
            </a:pPr>
            <a:fld id="{524B865F-46F8-4520-B0DD-31ED36EF62D9}" type="slidenum">
              <a:rPr lang="en-US" altLang="zh-CN" smtClean="0"/>
              <a:pPr>
                <a:defRPr/>
              </a:pPr>
              <a:t>104</a:t>
            </a:fld>
            <a:endParaRPr lang="en-US" altLang="zh-CN"/>
          </a:p>
        </p:txBody>
      </p:sp>
    </p:spTree>
  </p:cSld>
  <p:clrMapOvr>
    <a:masterClrMapping/>
  </p:clrMapOvr>
  <p:transition>
    <p:split/>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a:extLst>
              <a:ext uri="{FF2B5EF4-FFF2-40B4-BE49-F238E27FC236}">
                <a16:creationId xmlns:a16="http://schemas.microsoft.com/office/drawing/2014/main" id="{B1F90BFA-9702-DFAF-23F6-4A52232338F9}"/>
              </a:ext>
            </a:extLst>
          </p:cNvPr>
          <p:cNvSpPr>
            <a:spLocks noGrp="1" noChangeArrowheads="1"/>
          </p:cNvSpPr>
          <p:nvPr>
            <p:ph type="body" idx="1"/>
          </p:nvPr>
        </p:nvSpPr>
        <p:spPr>
          <a:xfrm>
            <a:off x="323528" y="476672"/>
            <a:ext cx="8604572" cy="6048672"/>
          </a:xfrm>
        </p:spPr>
        <p:txBody>
          <a:bodyPr>
            <a:normAutofit fontScale="77500" lnSpcReduction="20000"/>
          </a:bodyPr>
          <a:lstStyle/>
          <a:p>
            <a:r>
              <a:rPr lang="zh-CN" altLang="en-US" dirty="0"/>
              <a:t>设 </a:t>
            </a:r>
            <a:r>
              <a:rPr lang="zh-CN" altLang="en-US" dirty="0">
                <a:sym typeface="Symbol" pitchFamily="18" charset="2"/>
              </a:rPr>
              <a:t> </a:t>
            </a:r>
            <a:r>
              <a:rPr lang="zh-CN" altLang="en-US" dirty="0"/>
              <a:t>是散列表的装填因子：</a:t>
            </a:r>
          </a:p>
          <a:p>
            <a:endParaRPr lang="zh-CN" altLang="en-US" dirty="0"/>
          </a:p>
          <a:p>
            <a:endParaRPr lang="zh-CN" altLang="en-US" dirty="0"/>
          </a:p>
          <a:p>
            <a:endParaRPr lang="en-US" altLang="zh-CN" dirty="0"/>
          </a:p>
          <a:p>
            <a:pPr>
              <a:lnSpc>
                <a:spcPct val="120000"/>
              </a:lnSpc>
            </a:pPr>
            <a:r>
              <a:rPr lang="zh-CN" altLang="en-US" dirty="0"/>
              <a:t>用地址分布均匀的散列函数</a:t>
            </a:r>
            <a:r>
              <a:rPr lang="en-US" altLang="zh-CN" dirty="0"/>
              <a:t>Hash( )</a:t>
            </a:r>
            <a:r>
              <a:rPr lang="zh-CN" altLang="en-US" dirty="0"/>
              <a:t>计算桶号。 </a:t>
            </a:r>
          </a:p>
          <a:p>
            <a:pPr>
              <a:lnSpc>
                <a:spcPct val="120000"/>
              </a:lnSpc>
            </a:pPr>
            <a:r>
              <a:rPr lang="zh-CN" altLang="en-US" dirty="0"/>
              <a:t>在长度为 </a:t>
            </a:r>
            <a:r>
              <a:rPr lang="en-US" altLang="zh-CN" dirty="0"/>
              <a:t>m </a:t>
            </a:r>
            <a:r>
              <a:rPr lang="zh-CN" altLang="en-US" dirty="0"/>
              <a:t>的散列表中 </a:t>
            </a:r>
            <a:r>
              <a:rPr lang="en-US" altLang="zh-CN" dirty="0"/>
              <a:t>n </a:t>
            </a:r>
            <a:r>
              <a:rPr lang="zh-CN" altLang="en-US" dirty="0"/>
              <a:t>个桶已装入元素的情况下</a:t>
            </a:r>
            <a:endParaRPr lang="en-US" altLang="zh-CN" dirty="0"/>
          </a:p>
          <a:p>
            <a:pPr lvl="1">
              <a:lnSpc>
                <a:spcPct val="120000"/>
              </a:lnSpc>
            </a:pPr>
            <a:r>
              <a:rPr lang="zh-CN" altLang="en-US" dirty="0"/>
              <a:t>用</a:t>
            </a:r>
            <a:r>
              <a:rPr lang="en-US" altLang="zh-CN" dirty="0"/>
              <a:t>S</a:t>
            </a:r>
            <a:r>
              <a:rPr lang="en-US" altLang="zh-CN" baseline="-25000" dirty="0"/>
              <a:t>n</a:t>
            </a:r>
            <a:r>
              <a:rPr lang="en-US" altLang="zh-CN" dirty="0"/>
              <a:t> </a:t>
            </a:r>
            <a:r>
              <a:rPr lang="zh-CN" altLang="en-US" dirty="0"/>
              <a:t>表示搜索一个随机选择的关键码 </a:t>
            </a:r>
            <a:r>
              <a:rPr lang="en-US" altLang="zh-CN" dirty="0"/>
              <a:t>x</a:t>
            </a:r>
            <a:r>
              <a:rPr lang="en-US" altLang="zh-CN" baseline="-25000" dirty="0"/>
              <a:t>i</a:t>
            </a:r>
            <a:r>
              <a:rPr lang="en-US" altLang="zh-CN" dirty="0"/>
              <a:t> (1 </a:t>
            </a:r>
            <a:r>
              <a:rPr lang="en-US" altLang="zh-CN" dirty="0">
                <a:sym typeface="Symbol" pitchFamily="18" charset="2"/>
              </a:rPr>
              <a:t></a:t>
            </a:r>
            <a:r>
              <a:rPr lang="en-US" altLang="zh-CN" dirty="0"/>
              <a:t> </a:t>
            </a:r>
            <a:r>
              <a:rPr lang="en-US" altLang="zh-CN" dirty="0" err="1"/>
              <a:t>i</a:t>
            </a:r>
            <a:r>
              <a:rPr lang="en-US" altLang="zh-CN" dirty="0"/>
              <a:t> </a:t>
            </a:r>
            <a:r>
              <a:rPr lang="en-US" altLang="zh-CN" dirty="0">
                <a:sym typeface="Symbol" pitchFamily="18" charset="2"/>
              </a:rPr>
              <a:t></a:t>
            </a:r>
            <a:r>
              <a:rPr lang="en-US" altLang="zh-CN" dirty="0"/>
              <a:t> n) </a:t>
            </a:r>
            <a:r>
              <a:rPr lang="zh-CN" altLang="en-US" dirty="0"/>
              <a:t>所需的关键码比较次数的期望值</a:t>
            </a:r>
          </a:p>
          <a:p>
            <a:pPr lvl="1">
              <a:lnSpc>
                <a:spcPct val="120000"/>
              </a:lnSpc>
            </a:pPr>
            <a:r>
              <a:rPr lang="zh-CN" altLang="en-US" dirty="0"/>
              <a:t>用</a:t>
            </a:r>
            <a:r>
              <a:rPr lang="en-US" altLang="zh-CN" dirty="0"/>
              <a:t>U</a:t>
            </a:r>
            <a:r>
              <a:rPr lang="en-US" altLang="zh-CN" baseline="-25000" dirty="0"/>
              <a:t>n</a:t>
            </a:r>
            <a:r>
              <a:rPr lang="en-US" altLang="zh-CN" dirty="0"/>
              <a:t> </a:t>
            </a:r>
            <a:r>
              <a:rPr lang="zh-CN" altLang="en-US" dirty="0"/>
              <a:t>表示装入第 </a:t>
            </a:r>
            <a:r>
              <a:rPr lang="en-US" altLang="zh-CN" dirty="0"/>
              <a:t>n+1 </a:t>
            </a:r>
            <a:r>
              <a:rPr lang="zh-CN" altLang="en-US" dirty="0"/>
              <a:t>项所需执行的关键码比较次数期望值。</a:t>
            </a:r>
          </a:p>
          <a:p>
            <a:pPr lvl="1">
              <a:lnSpc>
                <a:spcPct val="120000"/>
              </a:lnSpc>
            </a:pPr>
            <a:r>
              <a:rPr lang="zh-CN" altLang="en-US" dirty="0"/>
              <a:t>前者称为在 </a:t>
            </a:r>
            <a:r>
              <a:rPr lang="zh-CN" altLang="en-US" dirty="0">
                <a:sym typeface="Symbol" pitchFamily="18" charset="2"/>
              </a:rPr>
              <a:t></a:t>
            </a:r>
            <a:r>
              <a:rPr lang="zh-CN" altLang="en-US" dirty="0"/>
              <a:t> </a:t>
            </a:r>
            <a:r>
              <a:rPr lang="en-US" altLang="zh-CN" dirty="0"/>
              <a:t>= n / m </a:t>
            </a:r>
            <a:r>
              <a:rPr lang="zh-CN" altLang="en-US" dirty="0"/>
              <a:t>时的搜索成功的平均搜索长度，后者称为在</a:t>
            </a:r>
            <a:r>
              <a:rPr lang="zh-CN" altLang="en-US" dirty="0">
                <a:sym typeface="Symbol" pitchFamily="18" charset="2"/>
              </a:rPr>
              <a:t></a:t>
            </a:r>
            <a:r>
              <a:rPr lang="zh-CN" altLang="en-US" dirty="0"/>
              <a:t> </a:t>
            </a:r>
            <a:r>
              <a:rPr lang="en-US" altLang="zh-CN" dirty="0"/>
              <a:t>= n / m</a:t>
            </a:r>
            <a:r>
              <a:rPr lang="zh-CN" altLang="en-US" dirty="0"/>
              <a:t>时的搜索不成功的平均搜索长度。</a:t>
            </a:r>
          </a:p>
        </p:txBody>
      </p:sp>
      <p:graphicFrame>
        <p:nvGraphicFramePr>
          <p:cNvPr id="124931" name="Object 0">
            <a:extLst>
              <a:ext uri="{FF2B5EF4-FFF2-40B4-BE49-F238E27FC236}">
                <a16:creationId xmlns:a16="http://schemas.microsoft.com/office/drawing/2014/main" id="{E11ACBFB-A116-265C-5500-0775E25B8AE1}"/>
              </a:ext>
            </a:extLst>
          </p:cNvPr>
          <p:cNvGraphicFramePr>
            <a:graphicFrameLocks noChangeAspect="1"/>
          </p:cNvGraphicFramePr>
          <p:nvPr>
            <p:extLst>
              <p:ext uri="{D42A27DB-BD31-4B8C-83A1-F6EECF244321}">
                <p14:modId xmlns:p14="http://schemas.microsoft.com/office/powerpoint/2010/main" val="1215776084"/>
              </p:ext>
            </p:extLst>
          </p:nvPr>
        </p:nvGraphicFramePr>
        <p:xfrm>
          <a:off x="1403648" y="980728"/>
          <a:ext cx="5715000" cy="1028700"/>
        </p:xfrm>
        <a:graphic>
          <a:graphicData uri="http://schemas.openxmlformats.org/presentationml/2006/ole">
            <mc:AlternateContent xmlns:mc="http://schemas.openxmlformats.org/markup-compatibility/2006">
              <mc:Choice xmlns:v="urn:schemas-microsoft-com:vml" Requires="v">
                <p:oleObj name="公式" r:id="rId2" imgW="2171700" imgH="419100" progId="Equation.3">
                  <p:embed/>
                </p:oleObj>
              </mc:Choice>
              <mc:Fallback>
                <p:oleObj name="公式" r:id="rId2" imgW="2171700" imgH="419100" progId="Equation.3">
                  <p:embed/>
                  <p:pic>
                    <p:nvPicPr>
                      <p:cNvPr id="0" name="Object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980728"/>
                        <a:ext cx="571500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F7CBC826-8FDB-F707-2BBF-389A602E8A04}"/>
              </a:ext>
            </a:extLst>
          </p:cNvPr>
          <p:cNvSpPr>
            <a:spLocks noGrp="1"/>
          </p:cNvSpPr>
          <p:nvPr>
            <p:ph type="sldNum" sz="quarter" idx="12"/>
          </p:nvPr>
        </p:nvSpPr>
        <p:spPr/>
        <p:txBody>
          <a:bodyPr/>
          <a:lstStyle/>
          <a:p>
            <a:pPr>
              <a:defRPr/>
            </a:pPr>
            <a:fld id="{524B865F-46F8-4520-B0DD-31ED36EF62D9}" type="slidenum">
              <a:rPr lang="en-US" altLang="zh-CN" smtClean="0"/>
              <a:pPr>
                <a:defRPr/>
              </a:pPr>
              <a:t>105</a:t>
            </a:fld>
            <a:endParaRPr lang="en-US" altLang="zh-CN"/>
          </a:p>
        </p:txBody>
      </p:sp>
    </p:spTree>
  </p:cSld>
  <p:clrMapOvr>
    <a:masterClrMapping/>
  </p:clrMapOvr>
  <p:transition>
    <p:spli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a:extLst>
              <a:ext uri="{FF2B5EF4-FFF2-40B4-BE49-F238E27FC236}">
                <a16:creationId xmlns:a16="http://schemas.microsoft.com/office/drawing/2014/main" id="{66206396-F4EE-A638-9372-7C804FF355EB}"/>
              </a:ext>
            </a:extLst>
          </p:cNvPr>
          <p:cNvSpPr>
            <a:spLocks noGrp="1" noChangeArrowheads="1"/>
          </p:cNvSpPr>
          <p:nvPr>
            <p:ph type="body" idx="1"/>
          </p:nvPr>
        </p:nvSpPr>
        <p:spPr>
          <a:xfrm>
            <a:off x="539552" y="620688"/>
            <a:ext cx="7704856" cy="1152128"/>
          </a:xfrm>
        </p:spPr>
        <p:txBody>
          <a:bodyPr>
            <a:normAutofit lnSpcReduction="10000"/>
          </a:bodyPr>
          <a:lstStyle/>
          <a:p>
            <a:pPr marL="0" indent="0">
              <a:buNone/>
            </a:pPr>
            <a:r>
              <a:rPr lang="zh-CN" altLang="en-US" dirty="0"/>
              <a:t>用不同的方法处理冲突时散列表的平均搜索长度如图所示。</a:t>
            </a:r>
          </a:p>
        </p:txBody>
      </p:sp>
      <p:graphicFrame>
        <p:nvGraphicFramePr>
          <p:cNvPr id="125955" name="Object 0">
            <a:extLst>
              <a:ext uri="{FF2B5EF4-FFF2-40B4-BE49-F238E27FC236}">
                <a16:creationId xmlns:a16="http://schemas.microsoft.com/office/drawing/2014/main" id="{6BF42469-B299-AF06-9B72-8109B2AD4126}"/>
              </a:ext>
            </a:extLst>
          </p:cNvPr>
          <p:cNvGraphicFramePr>
            <a:graphicFrameLocks noChangeAspect="1"/>
          </p:cNvGraphicFramePr>
          <p:nvPr>
            <p:extLst>
              <p:ext uri="{D42A27DB-BD31-4B8C-83A1-F6EECF244321}">
                <p14:modId xmlns:p14="http://schemas.microsoft.com/office/powerpoint/2010/main" val="3138496810"/>
              </p:ext>
            </p:extLst>
          </p:nvPr>
        </p:nvGraphicFramePr>
        <p:xfrm>
          <a:off x="227013" y="2003425"/>
          <a:ext cx="8916987" cy="4854575"/>
        </p:xfrm>
        <a:graphic>
          <a:graphicData uri="http://schemas.openxmlformats.org/presentationml/2006/ole">
            <mc:AlternateContent xmlns:mc="http://schemas.openxmlformats.org/markup-compatibility/2006">
              <mc:Choice xmlns:v="urn:schemas-microsoft-com:vml" Requires="v">
                <p:oleObj name="Document" r:id="rId2" imgW="8054340" imgH="4367784" progId="Word.Document.8">
                  <p:embed/>
                </p:oleObj>
              </mc:Choice>
              <mc:Fallback>
                <p:oleObj name="Document" r:id="rId2" imgW="8054340" imgH="4367784" progId="Word.Document.8">
                  <p:embed/>
                  <p:pic>
                    <p:nvPicPr>
                      <p:cNvPr id="0" name="Object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13" y="2003425"/>
                        <a:ext cx="8916987" cy="485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CACA4FB4-5B39-58C1-F138-756464B835E1}"/>
              </a:ext>
            </a:extLst>
          </p:cNvPr>
          <p:cNvSpPr>
            <a:spLocks noGrp="1"/>
          </p:cNvSpPr>
          <p:nvPr>
            <p:ph type="sldNum" sz="quarter" idx="12"/>
          </p:nvPr>
        </p:nvSpPr>
        <p:spPr/>
        <p:txBody>
          <a:bodyPr/>
          <a:lstStyle/>
          <a:p>
            <a:pPr>
              <a:defRPr/>
            </a:pPr>
            <a:fld id="{524B865F-46F8-4520-B0DD-31ED36EF62D9}" type="slidenum">
              <a:rPr lang="en-US" altLang="zh-CN" smtClean="0"/>
              <a:pPr>
                <a:defRPr/>
              </a:pPr>
              <a:t>106</a:t>
            </a:fld>
            <a:endParaRPr lang="en-US" altLang="zh-CN"/>
          </a:p>
        </p:txBody>
      </p:sp>
    </p:spTree>
  </p:cSld>
  <p:clrMapOvr>
    <a:masterClrMapping/>
  </p:clrMapOvr>
  <p:transition>
    <p:spli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AB630D5-045F-4B73-ACAA-A34BEDC72355}"/>
              </a:ext>
            </a:extLst>
          </p:cNvPr>
          <p:cNvSpPr>
            <a:spLocks noGrp="1"/>
          </p:cNvSpPr>
          <p:nvPr>
            <p:ph type="title"/>
          </p:nvPr>
        </p:nvSpPr>
        <p:spPr/>
        <p:txBody>
          <a:bodyPr/>
          <a:lstStyle/>
          <a:p>
            <a:r>
              <a:rPr lang="zh-CN" altLang="en-US" dirty="0"/>
              <a:t>关于装填因子的进一步说明</a:t>
            </a:r>
          </a:p>
        </p:txBody>
      </p:sp>
      <p:sp>
        <p:nvSpPr>
          <p:cNvPr id="4" name="内容占位符 3">
            <a:extLst>
              <a:ext uri="{FF2B5EF4-FFF2-40B4-BE49-F238E27FC236}">
                <a16:creationId xmlns:a16="http://schemas.microsoft.com/office/drawing/2014/main" id="{2480891B-7700-4185-B7DA-3FA7BBA22C8E}"/>
              </a:ext>
            </a:extLst>
          </p:cNvPr>
          <p:cNvSpPr>
            <a:spLocks noGrp="1"/>
          </p:cNvSpPr>
          <p:nvPr>
            <p:ph idx="1"/>
          </p:nvPr>
        </p:nvSpPr>
        <p:spPr/>
        <p:txBody>
          <a:bodyPr>
            <a:normAutofit fontScale="92500" lnSpcReduction="10000"/>
          </a:bodyPr>
          <a:lstStyle/>
          <a:p>
            <a:r>
              <a:rPr lang="zh-CN" altLang="en-US" dirty="0"/>
              <a:t>装填因子</a:t>
            </a:r>
            <a:r>
              <a:rPr lang="zh-CN" altLang="en-US" dirty="0">
                <a:sym typeface="Symbol" pitchFamily="18" charset="2"/>
              </a:rPr>
              <a:t></a:t>
            </a:r>
            <a:r>
              <a:rPr lang="zh-CN" altLang="en-US" dirty="0"/>
              <a:t>表明了表中的装满程度。</a:t>
            </a:r>
          </a:p>
          <a:p>
            <a:pPr lvl="1"/>
            <a:r>
              <a:rPr lang="zh-CN" altLang="en-US" dirty="0"/>
              <a:t>越大</a:t>
            </a:r>
            <a:r>
              <a:rPr lang="en-US" altLang="zh-CN" dirty="0"/>
              <a:t>, </a:t>
            </a:r>
            <a:r>
              <a:rPr lang="zh-CN" altLang="en-US" dirty="0"/>
              <a:t>说明表越满</a:t>
            </a:r>
            <a:r>
              <a:rPr lang="en-US" altLang="zh-CN" dirty="0"/>
              <a:t>, </a:t>
            </a:r>
            <a:r>
              <a:rPr lang="zh-CN" altLang="en-US" dirty="0"/>
              <a:t>再插入新元素时发生冲突的可能性就越大。</a:t>
            </a:r>
          </a:p>
          <a:p>
            <a:r>
              <a:rPr lang="zh-CN" altLang="en-US" dirty="0"/>
              <a:t>散列表的搜索性能</a:t>
            </a:r>
            <a:r>
              <a:rPr lang="en-US" altLang="zh-CN" dirty="0"/>
              <a:t>, </a:t>
            </a:r>
            <a:r>
              <a:rPr lang="zh-CN" altLang="en-US" dirty="0"/>
              <a:t>即平均搜索长度依赖于散列表的装填因子</a:t>
            </a:r>
            <a:r>
              <a:rPr lang="en-US" altLang="zh-CN" dirty="0"/>
              <a:t>, </a:t>
            </a:r>
            <a:r>
              <a:rPr lang="zh-CN" altLang="en-US" dirty="0"/>
              <a:t>不直接依赖于 </a:t>
            </a:r>
            <a:r>
              <a:rPr lang="en-US" altLang="zh-CN" dirty="0"/>
              <a:t>n </a:t>
            </a:r>
            <a:r>
              <a:rPr lang="zh-CN" altLang="en-US" dirty="0"/>
              <a:t>或 </a:t>
            </a:r>
            <a:r>
              <a:rPr lang="en-US" altLang="zh-CN" dirty="0"/>
              <a:t>m</a:t>
            </a:r>
            <a:r>
              <a:rPr lang="zh-CN" altLang="en-US" dirty="0"/>
              <a:t>。</a:t>
            </a:r>
          </a:p>
          <a:p>
            <a:pPr lvl="1"/>
            <a:r>
              <a:rPr lang="zh-CN" altLang="en-US" dirty="0"/>
              <a:t>对于闭散列，不论表的长度有多大，总能选择一个合适的装填因子，把平均搜索长度限制在一定范围内。</a:t>
            </a:r>
          </a:p>
        </p:txBody>
      </p:sp>
      <p:sp>
        <p:nvSpPr>
          <p:cNvPr id="2" name="灯片编号占位符 1">
            <a:extLst>
              <a:ext uri="{FF2B5EF4-FFF2-40B4-BE49-F238E27FC236}">
                <a16:creationId xmlns:a16="http://schemas.microsoft.com/office/drawing/2014/main" id="{2B15A2B3-6431-4FE0-8C33-B836F2528AC8}"/>
              </a:ext>
            </a:extLst>
          </p:cNvPr>
          <p:cNvSpPr>
            <a:spLocks noGrp="1"/>
          </p:cNvSpPr>
          <p:nvPr>
            <p:ph type="sldNum" sz="quarter" idx="12"/>
          </p:nvPr>
        </p:nvSpPr>
        <p:spPr/>
        <p:txBody>
          <a:bodyPr/>
          <a:lstStyle/>
          <a:p>
            <a:fld id="{0C913308-F349-4B6D-A68A-DD1791B4A57B}" type="slidenum">
              <a:rPr lang="zh-CN" altLang="en-US" smtClean="0"/>
              <a:pPr/>
              <a:t>107</a:t>
            </a:fld>
            <a:endParaRPr lang="zh-CN" altLang="en-US"/>
          </a:p>
        </p:txBody>
      </p:sp>
    </p:spTree>
  </p:cSld>
  <p:clrMapOvr>
    <a:masterClrMapping/>
  </p:clrMapOvr>
  <p:transition>
    <p:spli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1B5A5E9-17C0-4594-B76E-C4CF089E0F2A}"/>
              </a:ext>
            </a:extLst>
          </p:cNvPr>
          <p:cNvSpPr>
            <a:spLocks noGrp="1"/>
          </p:cNvSpPr>
          <p:nvPr>
            <p:ph type="title"/>
          </p:nvPr>
        </p:nvSpPr>
        <p:spPr/>
        <p:txBody>
          <a:bodyPr>
            <a:normAutofit/>
          </a:bodyPr>
          <a:lstStyle/>
          <a:p>
            <a:r>
              <a:rPr lang="zh-CN" altLang="en-US" dirty="0"/>
              <a:t>例：求散列表大小</a:t>
            </a:r>
          </a:p>
        </p:txBody>
      </p:sp>
      <p:sp>
        <p:nvSpPr>
          <p:cNvPr id="4" name="内容占位符 3">
            <a:extLst>
              <a:ext uri="{FF2B5EF4-FFF2-40B4-BE49-F238E27FC236}">
                <a16:creationId xmlns:a16="http://schemas.microsoft.com/office/drawing/2014/main" id="{5D598034-68D1-4A13-900C-E62C5D4F7DF0}"/>
              </a:ext>
            </a:extLst>
          </p:cNvPr>
          <p:cNvSpPr>
            <a:spLocks noGrp="1"/>
          </p:cNvSpPr>
          <p:nvPr>
            <p:ph idx="1"/>
          </p:nvPr>
        </p:nvSpPr>
        <p:spPr/>
        <p:txBody>
          <a:bodyPr/>
          <a:lstStyle/>
          <a:p>
            <a:r>
              <a:rPr lang="zh-CN" altLang="en-US" dirty="0"/>
              <a:t>设有一个已经存放了</a:t>
            </a:r>
            <a:r>
              <a:rPr lang="en-US" altLang="zh-CN" dirty="0"/>
              <a:t>200</a:t>
            </a:r>
            <a:r>
              <a:rPr lang="zh-CN" altLang="en-US" dirty="0"/>
              <a:t>个记录的散列表，用二次探查法解决冲突，按关键码搜索时找到一个新表项插入位置的平均探查次数不超过</a:t>
            </a:r>
            <a:r>
              <a:rPr lang="en-US" altLang="zh-CN" dirty="0"/>
              <a:t>1.5</a:t>
            </a:r>
            <a:r>
              <a:rPr lang="zh-CN" altLang="en-US" dirty="0"/>
              <a:t>，则散列表的大小应能够至少容纳多少个表项？</a:t>
            </a:r>
            <a:endParaRPr lang="en-US" altLang="zh-CN" dirty="0"/>
          </a:p>
          <a:p>
            <a:pPr lvl="1"/>
            <a:r>
              <a:rPr lang="zh-CN" altLang="en-US" dirty="0"/>
              <a:t>设搜索不成功的平均搜索长度为 </a:t>
            </a:r>
            <a:endParaRPr lang="en-US" altLang="zh-CN" dirty="0"/>
          </a:p>
          <a:p>
            <a:pPr lvl="2"/>
            <a:r>
              <a:rPr lang="en-US" altLang="zh-CN" dirty="0"/>
              <a:t>U</a:t>
            </a:r>
            <a:r>
              <a:rPr lang="en-US" altLang="zh-CN" baseline="-25000" dirty="0"/>
              <a:t>n</a:t>
            </a:r>
            <a:r>
              <a:rPr lang="zh-CN" altLang="en-US" dirty="0"/>
              <a:t>＝</a:t>
            </a:r>
            <a:r>
              <a:rPr lang="en-US" altLang="zh-CN" dirty="0"/>
              <a:t>1 / (1 -α)</a:t>
            </a:r>
            <a:r>
              <a:rPr lang="zh-CN" altLang="en-US" dirty="0"/>
              <a:t>，其中 </a:t>
            </a:r>
            <a:r>
              <a:rPr lang="en-US" altLang="zh-CN" dirty="0"/>
              <a:t>α</a:t>
            </a:r>
            <a:r>
              <a:rPr lang="zh-CN" altLang="en-US" dirty="0"/>
              <a:t>为装填因子</a:t>
            </a:r>
          </a:p>
          <a:p>
            <a:endParaRPr lang="zh-CN" altLang="en-US" dirty="0"/>
          </a:p>
        </p:txBody>
      </p:sp>
      <p:sp>
        <p:nvSpPr>
          <p:cNvPr id="2" name="灯片编号占位符 1">
            <a:extLst>
              <a:ext uri="{FF2B5EF4-FFF2-40B4-BE49-F238E27FC236}">
                <a16:creationId xmlns:a16="http://schemas.microsoft.com/office/drawing/2014/main" id="{7F8F3A9B-B0A7-4212-8EE7-F02FC390C637}"/>
              </a:ext>
            </a:extLst>
          </p:cNvPr>
          <p:cNvSpPr>
            <a:spLocks noGrp="1"/>
          </p:cNvSpPr>
          <p:nvPr>
            <p:ph type="sldNum" sz="quarter" idx="12"/>
          </p:nvPr>
        </p:nvSpPr>
        <p:spPr/>
        <p:txBody>
          <a:bodyPr/>
          <a:lstStyle/>
          <a:p>
            <a:fld id="{0C913308-F349-4B6D-A68A-DD1791B4A57B}" type="slidenum">
              <a:rPr lang="zh-CN" altLang="en-US" smtClean="0"/>
              <a:pPr/>
              <a:t>108</a:t>
            </a:fld>
            <a:endParaRPr lang="zh-CN" altLang="en-US"/>
          </a:p>
        </p:txBody>
      </p:sp>
    </p:spTree>
  </p:cSld>
  <p:clrMapOvr>
    <a:masterClrMapping/>
  </p:clrMapOvr>
  <p:transition>
    <p:spli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E8690D1-940F-457B-B14C-4E2D8C7AA00D}"/>
              </a:ext>
            </a:extLst>
          </p:cNvPr>
          <p:cNvSpPr>
            <a:spLocks noGrp="1"/>
          </p:cNvSpPr>
          <p:nvPr>
            <p:ph type="title"/>
          </p:nvPr>
        </p:nvSpPr>
        <p:spPr/>
        <p:txBody>
          <a:bodyPr>
            <a:normAutofit/>
          </a:bodyPr>
          <a:lstStyle/>
          <a:p>
            <a:r>
              <a:rPr lang="zh-CN" altLang="en-US" dirty="0"/>
              <a:t>解答</a:t>
            </a:r>
          </a:p>
        </p:txBody>
      </p:sp>
      <p:sp>
        <p:nvSpPr>
          <p:cNvPr id="4" name="内容占位符 3">
            <a:extLst>
              <a:ext uri="{FF2B5EF4-FFF2-40B4-BE49-F238E27FC236}">
                <a16:creationId xmlns:a16="http://schemas.microsoft.com/office/drawing/2014/main" id="{1FD18C44-2FAA-41F2-A6A2-F1CF59D65A6C}"/>
              </a:ext>
            </a:extLst>
          </p:cNvPr>
          <p:cNvSpPr>
            <a:spLocks noGrp="1"/>
          </p:cNvSpPr>
          <p:nvPr>
            <p:ph idx="1"/>
          </p:nvPr>
        </p:nvSpPr>
        <p:spPr/>
        <p:txBody>
          <a:bodyPr>
            <a:normAutofit fontScale="92500" lnSpcReduction="20000"/>
          </a:bodyPr>
          <a:lstStyle/>
          <a:p>
            <a:r>
              <a:rPr lang="zh-CN" altLang="en-US" dirty="0"/>
              <a:t>搜索不成功的平均搜索长度</a:t>
            </a:r>
            <a:endParaRPr lang="en-US" altLang="zh-CN" dirty="0"/>
          </a:p>
          <a:p>
            <a:pPr lvl="1"/>
            <a:r>
              <a:rPr lang="zh-CN" altLang="en-US" dirty="0"/>
              <a:t> </a:t>
            </a:r>
            <a:r>
              <a:rPr lang="en-US" altLang="zh-CN" dirty="0"/>
              <a:t>U</a:t>
            </a:r>
            <a:r>
              <a:rPr lang="en-US" altLang="zh-CN" baseline="-25000" dirty="0"/>
              <a:t>n</a:t>
            </a:r>
            <a:r>
              <a:rPr lang="zh-CN" altLang="en-US" dirty="0"/>
              <a:t>＝</a:t>
            </a:r>
            <a:r>
              <a:rPr lang="en-US" altLang="zh-CN" dirty="0"/>
              <a:t>1 / (1 -α) ≤ 1.5 </a:t>
            </a:r>
            <a:r>
              <a:rPr lang="en-US" altLang="zh-CN" dirty="0">
                <a:sym typeface="Wingdings" pitchFamily="2" charset="2"/>
              </a:rPr>
              <a:t></a:t>
            </a:r>
            <a:r>
              <a:rPr lang="en-US" altLang="zh-CN" dirty="0"/>
              <a:t> </a:t>
            </a:r>
            <a:r>
              <a:rPr lang="en-US" altLang="zh-CN" dirty="0">
                <a:sym typeface="Symbol" pitchFamily="18" charset="2"/>
              </a:rPr>
              <a:t> </a:t>
            </a:r>
            <a:r>
              <a:rPr lang="en-US" altLang="zh-CN" dirty="0"/>
              <a:t> 1/3 </a:t>
            </a:r>
          </a:p>
          <a:p>
            <a:r>
              <a:rPr lang="zh-CN" altLang="en-US" dirty="0"/>
              <a:t>由于表中表项个数 </a:t>
            </a:r>
            <a:r>
              <a:rPr lang="en-US" altLang="zh-CN" dirty="0"/>
              <a:t>n = 200</a:t>
            </a:r>
            <a:r>
              <a:rPr lang="zh-CN" altLang="en-US" dirty="0"/>
              <a:t>，</a:t>
            </a:r>
            <a:r>
              <a:rPr lang="en-US" altLang="zh-CN" dirty="0"/>
              <a:t>n / m = 200 / m = </a:t>
            </a:r>
            <a:r>
              <a:rPr lang="en-US" altLang="zh-CN" dirty="0">
                <a:sym typeface="Symbol" pitchFamily="18" charset="2"/>
              </a:rPr>
              <a:t>  1/3</a:t>
            </a:r>
          </a:p>
          <a:p>
            <a:pPr lvl="1"/>
            <a:r>
              <a:rPr lang="zh-CN" altLang="en-US" dirty="0">
                <a:sym typeface="Symbol" pitchFamily="18" charset="2"/>
              </a:rPr>
              <a:t>推出</a:t>
            </a:r>
            <a:r>
              <a:rPr lang="en-US" altLang="zh-CN" dirty="0">
                <a:sym typeface="Symbol" pitchFamily="18" charset="2"/>
              </a:rPr>
              <a:t>m  600</a:t>
            </a:r>
            <a:endParaRPr lang="en-US" altLang="zh-CN" dirty="0"/>
          </a:p>
          <a:p>
            <a:r>
              <a:rPr lang="zh-CN" altLang="en-US" dirty="0"/>
              <a:t>由于采用二次探查法，</a:t>
            </a:r>
            <a:r>
              <a:rPr lang="en-US" altLang="zh-CN" dirty="0"/>
              <a:t>m</a:t>
            </a:r>
            <a:r>
              <a:rPr lang="zh-CN" altLang="en-US" dirty="0"/>
              <a:t>应该是一个</a:t>
            </a:r>
            <a:r>
              <a:rPr lang="en-US" altLang="zh-CN" dirty="0"/>
              <a:t>4k+3</a:t>
            </a:r>
            <a:r>
              <a:rPr lang="zh-CN" altLang="en-US" dirty="0"/>
              <a:t>的质数，所以可以取</a:t>
            </a:r>
            <a:r>
              <a:rPr lang="en-US" altLang="zh-CN" dirty="0"/>
              <a:t>604+3=607</a:t>
            </a:r>
          </a:p>
          <a:p>
            <a:r>
              <a:rPr lang="zh-CN" altLang="en-US" dirty="0"/>
              <a:t>据此，可设计散列函数，例如散列函数用除留余数法：</a:t>
            </a:r>
            <a:r>
              <a:rPr lang="en-US" altLang="zh-CN" dirty="0"/>
              <a:t>H(key) = key % 607</a:t>
            </a:r>
          </a:p>
        </p:txBody>
      </p:sp>
      <p:sp>
        <p:nvSpPr>
          <p:cNvPr id="2" name="灯片编号占位符 1">
            <a:extLst>
              <a:ext uri="{FF2B5EF4-FFF2-40B4-BE49-F238E27FC236}">
                <a16:creationId xmlns:a16="http://schemas.microsoft.com/office/drawing/2014/main" id="{AC86C63D-8D52-436C-AA6D-991CD6811EC2}"/>
              </a:ext>
            </a:extLst>
          </p:cNvPr>
          <p:cNvSpPr>
            <a:spLocks noGrp="1"/>
          </p:cNvSpPr>
          <p:nvPr>
            <p:ph type="sldNum" sz="quarter" idx="12"/>
          </p:nvPr>
        </p:nvSpPr>
        <p:spPr/>
        <p:txBody>
          <a:bodyPr/>
          <a:lstStyle/>
          <a:p>
            <a:fld id="{0C913308-F349-4B6D-A68A-DD1791B4A57B}" type="slidenum">
              <a:rPr lang="zh-CN" altLang="en-US" smtClean="0"/>
              <a:pPr/>
              <a:t>109</a:t>
            </a:fld>
            <a:endParaRPr lang="zh-CN" altLang="en-US"/>
          </a:p>
        </p:txBody>
      </p:sp>
    </p:spTree>
  </p:cSld>
  <p:clrMapOvr>
    <a:masterClrMapping/>
  </p:clrMapOvr>
  <p:transition>
    <p:spli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9394157C-A1FF-3CFA-D9BE-80089F4BD550}"/>
              </a:ext>
            </a:extLst>
          </p:cNvPr>
          <p:cNvSpPr>
            <a:spLocks noGrp="1" noChangeArrowheads="1"/>
          </p:cNvSpPr>
          <p:nvPr>
            <p:ph type="title"/>
          </p:nvPr>
        </p:nvSpPr>
        <p:spPr/>
        <p:txBody>
          <a:bodyPr/>
          <a:lstStyle/>
          <a:p>
            <a:r>
              <a:rPr lang="zh-CN" altLang="en-US"/>
              <a:t>小结</a:t>
            </a:r>
          </a:p>
        </p:txBody>
      </p:sp>
      <p:sp>
        <p:nvSpPr>
          <p:cNvPr id="130051" name="Rectangle 3">
            <a:extLst>
              <a:ext uri="{FF2B5EF4-FFF2-40B4-BE49-F238E27FC236}">
                <a16:creationId xmlns:a16="http://schemas.microsoft.com/office/drawing/2014/main" id="{3B5C696E-0710-F0ED-CE15-9F7497D7B5E9}"/>
              </a:ext>
            </a:extLst>
          </p:cNvPr>
          <p:cNvSpPr>
            <a:spLocks noGrp="1" noChangeArrowheads="1"/>
          </p:cNvSpPr>
          <p:nvPr>
            <p:ph type="body" idx="1"/>
          </p:nvPr>
        </p:nvSpPr>
        <p:spPr/>
        <p:txBody>
          <a:bodyPr/>
          <a:lstStyle/>
          <a:p>
            <a:r>
              <a:rPr lang="zh-CN" altLang="en-US" dirty="0"/>
              <a:t>集合及其表示、并查集</a:t>
            </a:r>
          </a:p>
          <a:p>
            <a:r>
              <a:rPr lang="zh-CN" altLang="en-US" dirty="0"/>
              <a:t>散列</a:t>
            </a:r>
          </a:p>
          <a:p>
            <a:pPr lvl="1"/>
            <a:r>
              <a:rPr lang="zh-CN" altLang="en-US" dirty="0"/>
              <a:t>基本概念、散列函数、解决冲突的方法</a:t>
            </a:r>
          </a:p>
        </p:txBody>
      </p:sp>
      <p:sp>
        <p:nvSpPr>
          <p:cNvPr id="2" name="灯片编号占位符 1">
            <a:extLst>
              <a:ext uri="{FF2B5EF4-FFF2-40B4-BE49-F238E27FC236}">
                <a16:creationId xmlns:a16="http://schemas.microsoft.com/office/drawing/2014/main" id="{87AF0D33-FFE9-4536-1B07-ECAA10434E74}"/>
              </a:ext>
            </a:extLst>
          </p:cNvPr>
          <p:cNvSpPr>
            <a:spLocks noGrp="1"/>
          </p:cNvSpPr>
          <p:nvPr>
            <p:ph type="sldNum" sz="quarter" idx="12"/>
          </p:nvPr>
        </p:nvSpPr>
        <p:spPr/>
        <p:txBody>
          <a:bodyPr/>
          <a:lstStyle/>
          <a:p>
            <a:pPr>
              <a:defRPr/>
            </a:pPr>
            <a:fld id="{524B865F-46F8-4520-B0DD-31ED36EF62D9}" type="slidenum">
              <a:rPr lang="en-US" altLang="zh-CN" smtClean="0"/>
              <a:pPr>
                <a:defRPr/>
              </a:pPr>
              <a:t>110</a:t>
            </a:fld>
            <a:endParaRPr lang="en-US" altLang="zh-CN"/>
          </a:p>
        </p:txBody>
      </p:sp>
    </p:spTree>
  </p:cSld>
  <p:clrMapOvr>
    <a:masterClrMapping/>
  </p:clrMapOvr>
  <p:transition>
    <p:spli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23C46DD6-F46A-1BFA-13B1-5E59EEAA1F53}"/>
              </a:ext>
            </a:extLst>
          </p:cNvPr>
          <p:cNvSpPr>
            <a:spLocks noGrp="1" noChangeArrowheads="1"/>
          </p:cNvSpPr>
          <p:nvPr>
            <p:ph type="title"/>
          </p:nvPr>
        </p:nvSpPr>
        <p:spPr/>
        <p:txBody>
          <a:bodyPr/>
          <a:lstStyle/>
          <a:p>
            <a:r>
              <a:rPr lang="zh-CN" altLang="en-US"/>
              <a:t>常见题型</a:t>
            </a:r>
          </a:p>
        </p:txBody>
      </p:sp>
      <p:sp>
        <p:nvSpPr>
          <p:cNvPr id="131075" name="Rectangle 3">
            <a:extLst>
              <a:ext uri="{FF2B5EF4-FFF2-40B4-BE49-F238E27FC236}">
                <a16:creationId xmlns:a16="http://schemas.microsoft.com/office/drawing/2014/main" id="{F36B64C8-8BF8-8B44-EAB0-FF8D03AD4CDF}"/>
              </a:ext>
            </a:extLst>
          </p:cNvPr>
          <p:cNvSpPr>
            <a:spLocks noGrp="1" noChangeArrowheads="1"/>
          </p:cNvSpPr>
          <p:nvPr>
            <p:ph type="body" idx="1"/>
          </p:nvPr>
        </p:nvSpPr>
        <p:spPr/>
        <p:txBody>
          <a:bodyPr>
            <a:normAutofit fontScale="70000" lnSpcReduction="20000"/>
          </a:bodyPr>
          <a:lstStyle/>
          <a:p>
            <a:r>
              <a:rPr lang="zh-CN" altLang="en-US" dirty="0"/>
              <a:t>散列是重点考察的内容</a:t>
            </a:r>
          </a:p>
          <a:p>
            <a:pPr lvl="1"/>
            <a:r>
              <a:rPr lang="zh-CN" altLang="en-US" dirty="0"/>
              <a:t>基本概念题</a:t>
            </a:r>
          </a:p>
          <a:p>
            <a:pPr lvl="2"/>
            <a:r>
              <a:rPr lang="zh-CN" altLang="en-US" dirty="0"/>
              <a:t>例如散列既是一种查找方法又是一种存储方法。</a:t>
            </a:r>
          </a:p>
          <a:p>
            <a:pPr lvl="1"/>
            <a:r>
              <a:rPr lang="zh-CN" altLang="en-US" dirty="0"/>
              <a:t>散列函数选择：</a:t>
            </a:r>
          </a:p>
          <a:p>
            <a:pPr lvl="2"/>
            <a:r>
              <a:rPr lang="zh-CN" altLang="en-US" dirty="0"/>
              <a:t>除留余数法：</a:t>
            </a:r>
            <a:r>
              <a:rPr lang="en-US" altLang="zh-CN" dirty="0" err="1"/>
              <a:t>addr</a:t>
            </a:r>
            <a:r>
              <a:rPr lang="en-US" altLang="zh-CN" dirty="0"/>
              <a:t> = key % p</a:t>
            </a:r>
            <a:r>
              <a:rPr lang="zh-CN" altLang="en-US" dirty="0"/>
              <a:t>；</a:t>
            </a:r>
            <a:r>
              <a:rPr lang="en-US" altLang="zh-CN" dirty="0"/>
              <a:t>p</a:t>
            </a:r>
            <a:r>
              <a:rPr lang="zh-CN" altLang="en-US" dirty="0"/>
              <a:t>是小于等于表长</a:t>
            </a:r>
            <a:r>
              <a:rPr lang="en-US" altLang="zh-CN" dirty="0"/>
              <a:t>m</a:t>
            </a:r>
            <a:r>
              <a:rPr lang="zh-CN" altLang="en-US" dirty="0"/>
              <a:t>的最大质数 </a:t>
            </a:r>
          </a:p>
          <a:p>
            <a:pPr lvl="1"/>
            <a:r>
              <a:rPr lang="zh-CN" altLang="en-US" dirty="0"/>
              <a:t>开放定址法又称闭散列法，链地址法又称开散列法</a:t>
            </a:r>
            <a:endParaRPr lang="en-US" altLang="zh-CN" dirty="0"/>
          </a:p>
          <a:p>
            <a:pPr lvl="2"/>
            <a:r>
              <a:rPr lang="zh-CN" altLang="en-US" dirty="0"/>
              <a:t>给定数据，具体构造、并且计算探查次数</a:t>
            </a:r>
          </a:p>
          <a:p>
            <a:pPr lvl="1"/>
            <a:r>
              <a:rPr lang="zh-CN" altLang="en-US" dirty="0"/>
              <a:t>给定散列函数、解决冲突的方法、散列元素，求散列后的散列表的存储状态，平均查找长度</a:t>
            </a:r>
          </a:p>
          <a:p>
            <a:pPr lvl="1"/>
            <a:r>
              <a:rPr lang="zh-CN" altLang="en-US" dirty="0"/>
              <a:t>解决冲突的方法</a:t>
            </a:r>
            <a:endParaRPr lang="en-US" altLang="zh-CN" dirty="0"/>
          </a:p>
          <a:p>
            <a:pPr lvl="2"/>
            <a:r>
              <a:rPr lang="zh-CN" altLang="en-US" dirty="0"/>
              <a:t>二次探查法：</a:t>
            </a:r>
            <a:r>
              <a:rPr lang="en-US" altLang="zh-CN" dirty="0"/>
              <a:t>m </a:t>
            </a:r>
            <a:r>
              <a:rPr lang="zh-CN" altLang="en-US" dirty="0"/>
              <a:t>是表的大小，它应是一个值为 </a:t>
            </a:r>
            <a:r>
              <a:rPr lang="en-US" altLang="zh-CN" dirty="0"/>
              <a:t>4k+3 </a:t>
            </a:r>
            <a:r>
              <a:rPr lang="zh-CN" altLang="en-US" dirty="0"/>
              <a:t>的质数</a:t>
            </a:r>
          </a:p>
          <a:p>
            <a:pPr lvl="2"/>
            <a:r>
              <a:rPr lang="zh-CN" altLang="en-US" dirty="0"/>
              <a:t>双散列法：</a:t>
            </a:r>
            <a:r>
              <a:rPr lang="en-US" altLang="zh-CN" dirty="0"/>
              <a:t>j = ( j + </a:t>
            </a:r>
            <a:r>
              <a:rPr lang="en-US" altLang="zh-CN" dirty="0" err="1"/>
              <a:t>i</a:t>
            </a:r>
            <a:r>
              <a:rPr lang="en-US" altLang="zh-CN" dirty="0"/>
              <a:t> * </a:t>
            </a:r>
            <a:r>
              <a:rPr lang="en-US" altLang="zh-CN" dirty="0" err="1"/>
              <a:t>ReHash</a:t>
            </a:r>
            <a:r>
              <a:rPr lang="en-US" altLang="zh-CN" dirty="0"/>
              <a:t>(key) ) % m </a:t>
            </a:r>
            <a:r>
              <a:rPr lang="zh-CN" altLang="en-US" dirty="0"/>
              <a:t>；</a:t>
            </a:r>
            <a:r>
              <a:rPr lang="en-US" altLang="zh-CN" dirty="0"/>
              <a:t>m = </a:t>
            </a:r>
            <a:r>
              <a:rPr lang="en-US" altLang="zh-CN" dirty="0" err="1"/>
              <a:t>TableSize</a:t>
            </a:r>
            <a:r>
              <a:rPr lang="zh-CN" altLang="en-US" dirty="0"/>
              <a:t>，</a:t>
            </a:r>
            <a:r>
              <a:rPr lang="en-US" altLang="zh-CN" dirty="0"/>
              <a:t>p</a:t>
            </a:r>
            <a:r>
              <a:rPr lang="zh-CN" altLang="en-US" dirty="0"/>
              <a:t>是小于</a:t>
            </a:r>
            <a:r>
              <a:rPr lang="en-US" altLang="zh-CN" dirty="0"/>
              <a:t>m</a:t>
            </a:r>
            <a:r>
              <a:rPr lang="zh-CN" altLang="en-US" dirty="0"/>
              <a:t>且与</a:t>
            </a:r>
            <a:r>
              <a:rPr lang="en-US" altLang="zh-CN" dirty="0"/>
              <a:t>m</a:t>
            </a:r>
            <a:r>
              <a:rPr lang="zh-CN" altLang="en-US" dirty="0"/>
              <a:t>互质的整数</a:t>
            </a:r>
          </a:p>
          <a:p>
            <a:pPr lvl="1"/>
            <a:r>
              <a:rPr lang="zh-CN" altLang="en-US" dirty="0"/>
              <a:t>有关的算法题：例如散列表中插入、删除、查找的算法。</a:t>
            </a:r>
            <a:endParaRPr lang="en-US" altLang="zh-CN" dirty="0"/>
          </a:p>
          <a:p>
            <a:endParaRPr lang="zh-CN" altLang="en-US" dirty="0"/>
          </a:p>
        </p:txBody>
      </p:sp>
      <p:sp>
        <p:nvSpPr>
          <p:cNvPr id="2" name="灯片编号占位符 1">
            <a:extLst>
              <a:ext uri="{FF2B5EF4-FFF2-40B4-BE49-F238E27FC236}">
                <a16:creationId xmlns:a16="http://schemas.microsoft.com/office/drawing/2014/main" id="{08FB9E0E-FA13-9C43-B678-F6CD63ADD61F}"/>
              </a:ext>
            </a:extLst>
          </p:cNvPr>
          <p:cNvSpPr>
            <a:spLocks noGrp="1"/>
          </p:cNvSpPr>
          <p:nvPr>
            <p:ph type="sldNum" sz="quarter" idx="12"/>
          </p:nvPr>
        </p:nvSpPr>
        <p:spPr/>
        <p:txBody>
          <a:bodyPr/>
          <a:lstStyle/>
          <a:p>
            <a:pPr>
              <a:defRPr/>
            </a:pPr>
            <a:fld id="{524B865F-46F8-4520-B0DD-31ED36EF62D9}" type="slidenum">
              <a:rPr lang="en-US" altLang="zh-CN" smtClean="0"/>
              <a:pPr>
                <a:defRPr/>
              </a:pPr>
              <a:t>111</a:t>
            </a:fld>
            <a:endParaRPr lang="en-US" altLang="zh-CN"/>
          </a:p>
        </p:txBody>
      </p:sp>
    </p:spTree>
  </p:cSld>
  <p:clrMapOvr>
    <a:masterClrMapping/>
  </p:clrMapOvr>
  <p:transition>
    <p:split/>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6</a:t>
            </a:r>
            <a:r>
              <a:rPr lang="zh-CN" altLang="en-US" dirty="0"/>
              <a:t>章作业</a:t>
            </a:r>
          </a:p>
        </p:txBody>
      </p:sp>
      <p:sp>
        <p:nvSpPr>
          <p:cNvPr id="3" name="内容占位符 2"/>
          <p:cNvSpPr>
            <a:spLocks noGrp="1"/>
          </p:cNvSpPr>
          <p:nvPr>
            <p:ph idx="1"/>
          </p:nvPr>
        </p:nvSpPr>
        <p:spPr>
          <a:xfrm>
            <a:off x="628650" y="1825624"/>
            <a:ext cx="7886700" cy="4530725"/>
          </a:xfrm>
        </p:spPr>
        <p:txBody>
          <a:bodyPr>
            <a:normAutofit fontScale="55000" lnSpcReduction="20000"/>
          </a:bodyPr>
          <a:lstStyle/>
          <a:p>
            <a:r>
              <a:rPr lang="en-US" dirty="0"/>
              <a:t>1. </a:t>
            </a:r>
            <a:r>
              <a:rPr lang="zh-CN" altLang="en-US" dirty="0"/>
              <a:t>设散列表</a:t>
            </a:r>
            <a:r>
              <a:rPr lang="en-US" dirty="0"/>
              <a:t>HT[13]</a:t>
            </a:r>
            <a:r>
              <a:rPr lang="zh-CN" altLang="en-US" dirty="0"/>
              <a:t>，散列函数</a:t>
            </a:r>
            <a:r>
              <a:rPr lang="en-US" dirty="0"/>
              <a:t> H (key) = key %13</a:t>
            </a:r>
            <a:r>
              <a:rPr lang="zh-CN" altLang="en-US" dirty="0"/>
              <a:t>。用闭散列法解决冲突</a:t>
            </a:r>
            <a:r>
              <a:rPr lang="en-US" dirty="0"/>
              <a:t>, </a:t>
            </a:r>
            <a:r>
              <a:rPr lang="zh-CN" altLang="en-US" dirty="0"/>
              <a:t>对下列关键码序列</a:t>
            </a:r>
            <a:r>
              <a:rPr lang="en-US" dirty="0"/>
              <a:t> 12, 23, 45, 57, 20, 03, 78, 31, 15, 36 </a:t>
            </a:r>
            <a:r>
              <a:rPr lang="zh-CN" altLang="en-US" dirty="0"/>
              <a:t>造表。</a:t>
            </a:r>
          </a:p>
          <a:p>
            <a:pPr lvl="1"/>
            <a:r>
              <a:rPr lang="en-US" dirty="0"/>
              <a:t>(1) </a:t>
            </a:r>
            <a:r>
              <a:rPr lang="zh-CN" altLang="en-US" dirty="0"/>
              <a:t>采用线性探查法寻找下一个空位</a:t>
            </a:r>
            <a:r>
              <a:rPr lang="en-US" dirty="0"/>
              <a:t>, </a:t>
            </a:r>
            <a:r>
              <a:rPr lang="zh-CN" altLang="en-US" dirty="0"/>
              <a:t>画出相应的散列表</a:t>
            </a:r>
            <a:r>
              <a:rPr lang="en-US" dirty="0"/>
              <a:t>, </a:t>
            </a:r>
            <a:r>
              <a:rPr lang="zh-CN" altLang="en-US" dirty="0"/>
              <a:t>并计算等概率下搜索成功的平均搜索长度和搜索不成功的平均搜索长度。</a:t>
            </a:r>
          </a:p>
          <a:p>
            <a:pPr lvl="1"/>
            <a:r>
              <a:rPr lang="en-US" dirty="0"/>
              <a:t>(2) </a:t>
            </a:r>
            <a:r>
              <a:rPr lang="zh-CN" altLang="en-US" dirty="0"/>
              <a:t>采用双散列法寻找下一个空位</a:t>
            </a:r>
            <a:r>
              <a:rPr lang="en-US" dirty="0"/>
              <a:t>, </a:t>
            </a:r>
            <a:r>
              <a:rPr lang="zh-CN" altLang="en-US" dirty="0"/>
              <a:t>再散列函数为</a:t>
            </a:r>
            <a:r>
              <a:rPr lang="en-US" dirty="0"/>
              <a:t> RH (key) = (7*key) % 10 + 1, </a:t>
            </a:r>
            <a:r>
              <a:rPr lang="zh-CN" altLang="en-US" dirty="0"/>
              <a:t>寻找下一个空位的公式为</a:t>
            </a:r>
            <a:r>
              <a:rPr lang="en-US" dirty="0"/>
              <a:t> Hi = (Hi-1 + RH (key)) % 13, H1 = H (key)</a:t>
            </a:r>
            <a:r>
              <a:rPr lang="zh-CN" altLang="en-US" dirty="0"/>
              <a:t>。画出相应的散列表</a:t>
            </a:r>
            <a:r>
              <a:rPr lang="en-US" dirty="0"/>
              <a:t>, </a:t>
            </a:r>
            <a:r>
              <a:rPr lang="zh-CN" altLang="en-US" dirty="0"/>
              <a:t>并计算等概率下搜索成功的平均搜索长度。</a:t>
            </a:r>
            <a:endParaRPr lang="en-US" altLang="zh-CN" dirty="0"/>
          </a:p>
          <a:p>
            <a:pPr lvl="1"/>
            <a:r>
              <a:rPr lang="zh-CN" altLang="en-US" dirty="0"/>
              <a:t>注意：计算平均搜索长度都不要用</a:t>
            </a:r>
            <a:r>
              <a:rPr lang="en-US" altLang="zh-CN" dirty="0"/>
              <a:t>ppt106</a:t>
            </a:r>
            <a:r>
              <a:rPr lang="zh-CN" altLang="en-US" dirty="0"/>
              <a:t>“用不同的方法处理冲突时散列表的平均搜索长度”的几个公式，因为这些公式是统计结果，只能用于估算，用于特定的散列表实例有太大误差。具体实例还是要用之前构造散列表后计算的方法。</a:t>
            </a:r>
            <a:endParaRPr lang="en-US" altLang="zh-CN" dirty="0"/>
          </a:p>
          <a:p>
            <a:r>
              <a:rPr lang="en-US" altLang="zh-CN" dirty="0"/>
              <a:t>2. </a:t>
            </a:r>
            <a:r>
              <a:rPr lang="zh-CN" altLang="en-US" dirty="0"/>
              <a:t>为下列记录的关键字设计散列表，要求查找成功的平均搜索长度不超过</a:t>
            </a:r>
            <a:r>
              <a:rPr lang="en-US" altLang="zh-CN" dirty="0"/>
              <a:t>2</a:t>
            </a:r>
            <a:r>
              <a:rPr lang="zh-CN" altLang="en-US" dirty="0"/>
              <a:t>，散列函数采用除留余数法，用线性探测再散列方法（即</a:t>
            </a:r>
            <a:r>
              <a:rPr lang="zh-CN" altLang="zh-CN" dirty="0"/>
              <a:t>线性探</a:t>
            </a:r>
            <a:r>
              <a:rPr lang="zh-CN" altLang="en-US" dirty="0"/>
              <a:t>查</a:t>
            </a:r>
            <a:r>
              <a:rPr lang="zh-CN" altLang="zh-CN" dirty="0"/>
              <a:t>法</a:t>
            </a:r>
            <a:r>
              <a:rPr lang="zh-CN" altLang="en-US" dirty="0"/>
              <a:t>）解决冲突。关键字序列为：</a:t>
            </a:r>
            <a:r>
              <a:rPr lang="en-US" altLang="zh-CN" dirty="0"/>
              <a:t>{CHA, CAI, LAN, WEN, LONG, ZHAO,WU, LIU, CHEN, LI, WANG, CAO, YUN, CHANG, YANG}</a:t>
            </a:r>
            <a:r>
              <a:rPr lang="zh-CN" altLang="en-US" dirty="0"/>
              <a:t>。</a:t>
            </a:r>
            <a:endParaRPr lang="en-US" altLang="zh-CN" dirty="0"/>
          </a:p>
          <a:p>
            <a:pPr lvl="1"/>
            <a:r>
              <a:rPr lang="zh-CN" altLang="en-US" dirty="0"/>
              <a:t>提示：线性探测法的查找成功的平均搜索长度为</a:t>
            </a:r>
            <a:r>
              <a:rPr lang="en-US" altLang="zh-CN" dirty="0"/>
              <a:t>: (1 + 1/(1 - α))/ 2</a:t>
            </a:r>
          </a:p>
          <a:p>
            <a:r>
              <a:rPr lang="zh-CN" altLang="en-US" dirty="0"/>
              <a:t>作业提交截止日期见</a:t>
            </a:r>
            <a:r>
              <a:rPr lang="en-US" altLang="zh-CN" dirty="0" err="1"/>
              <a:t>elearning</a:t>
            </a:r>
            <a:r>
              <a:rPr lang="zh-CN" altLang="en-US" dirty="0"/>
              <a:t>，提交电子版。</a:t>
            </a:r>
          </a:p>
        </p:txBody>
      </p:sp>
      <p:sp>
        <p:nvSpPr>
          <p:cNvPr id="4" name="灯片编号占位符 3">
            <a:extLst>
              <a:ext uri="{FF2B5EF4-FFF2-40B4-BE49-F238E27FC236}">
                <a16:creationId xmlns:a16="http://schemas.microsoft.com/office/drawing/2014/main" id="{82D92BE7-B066-4617-A96D-EEA3360E837A}"/>
              </a:ext>
            </a:extLst>
          </p:cNvPr>
          <p:cNvSpPr>
            <a:spLocks noGrp="1"/>
          </p:cNvSpPr>
          <p:nvPr>
            <p:ph type="sldNum" sz="quarter" idx="12"/>
          </p:nvPr>
        </p:nvSpPr>
        <p:spPr/>
        <p:txBody>
          <a:bodyPr/>
          <a:lstStyle/>
          <a:p>
            <a:fld id="{0C913308-F349-4B6D-A68A-DD1791B4A57B}" type="slidenum">
              <a:rPr lang="zh-CN" altLang="en-US" smtClean="0"/>
              <a:pPr/>
              <a:t>112</a:t>
            </a:fld>
            <a:endParaRPr lang="zh-CN" altLang="en-US"/>
          </a:p>
        </p:txBody>
      </p:sp>
    </p:spTree>
  </p:cSld>
  <p:clrMapOvr>
    <a:masterClrMapping/>
  </p:clrMapOvr>
  <p:transition>
    <p:split/>
  </p:transition>
</p:sld>
</file>

<file path=ppt/theme/theme1.xml><?xml version="1.0" encoding="utf-8"?>
<a:theme xmlns:a="http://schemas.openxmlformats.org/drawingml/2006/main" name="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6898</TotalTime>
  <Words>13179</Words>
  <Application>Microsoft Office PowerPoint</Application>
  <PresentationFormat>全屏显示(4:3)</PresentationFormat>
  <Paragraphs>1337</Paragraphs>
  <Slides>112</Slides>
  <Notes>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112</vt:i4>
      </vt:variant>
    </vt:vector>
  </HeadingPairs>
  <TitlesOfParts>
    <vt:vector size="128" baseType="lpstr">
      <vt:lpstr>等线</vt:lpstr>
      <vt:lpstr>等线 Light</vt:lpstr>
      <vt:lpstr>仿宋_GB2312</vt:lpstr>
      <vt:lpstr>楷体_GB2312</vt:lpstr>
      <vt:lpstr>隶书</vt:lpstr>
      <vt:lpstr>宋体</vt:lpstr>
      <vt:lpstr>Arial</vt:lpstr>
      <vt:lpstr>Arial Narrow</vt:lpstr>
      <vt:lpstr>Cambria Math</vt:lpstr>
      <vt:lpstr>Symbol</vt:lpstr>
      <vt:lpstr>Times New Roman</vt:lpstr>
      <vt:lpstr>Wingdings</vt:lpstr>
      <vt:lpstr>Office 主题​​</vt:lpstr>
      <vt:lpstr>公式</vt:lpstr>
      <vt:lpstr>Equation</vt:lpstr>
      <vt:lpstr>Document</vt:lpstr>
      <vt:lpstr>第6章 集合与字典</vt:lpstr>
      <vt:lpstr>6.1 集合及其表示</vt:lpstr>
      <vt:lpstr>集合的特点</vt:lpstr>
      <vt:lpstr>集合的抽象数据类型</vt:lpstr>
      <vt:lpstr>6.1.2 用位向量实现集合抽象数据类型</vt:lpstr>
      <vt:lpstr>PowerPoint 演示文稿</vt:lpstr>
      <vt:lpstr>用位向量实现集合时部分操作的实现</vt:lpstr>
      <vt:lpstr>复制构造函数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6.1.3 用有序链表实现集合</vt:lpstr>
      <vt:lpstr>PowerPoint 演示文稿</vt:lpstr>
      <vt:lpstr>PowerPoint 演示文稿</vt:lpstr>
      <vt:lpstr>PowerPoint 演示文稿</vt:lpstr>
      <vt:lpstr>PowerPoint 演示文稿</vt:lpstr>
      <vt:lpstr>PowerPoint 演示文稿</vt:lpstr>
      <vt:lpstr>PowerPoint 演示文稿</vt:lpstr>
      <vt:lpstr>说明</vt:lpstr>
      <vt:lpstr>PowerPoint 演示文稿</vt:lpstr>
      <vt:lpstr>PowerPoint 演示文稿</vt:lpstr>
      <vt:lpstr>6.2 并查集与等价类</vt:lpstr>
      <vt:lpstr>PowerPoint 演示文稿</vt:lpstr>
      <vt:lpstr>PowerPoint 演示文稿</vt:lpstr>
      <vt:lpstr>PowerPoint 演示文稿</vt:lpstr>
      <vt:lpstr>PowerPoint 演示文稿</vt:lpstr>
      <vt:lpstr>PowerPoint 演示文稿</vt:lpstr>
      <vt:lpstr> 并查集上的操作</vt:lpstr>
      <vt:lpstr>PowerPoint 演示文稿</vt:lpstr>
      <vt:lpstr>Find和Union操作性能不好</vt:lpstr>
      <vt:lpstr>改进</vt:lpstr>
      <vt:lpstr>按树结点个数合并</vt:lpstr>
      <vt:lpstr>PowerPoint 演示文稿</vt:lpstr>
      <vt:lpstr>Union操作的折叠规则</vt:lpstr>
      <vt:lpstr>PowerPoint 演示文稿</vt:lpstr>
      <vt:lpstr>6.2.2 并查集的应用：等价类划分</vt:lpstr>
      <vt:lpstr>确定等价类的方法</vt:lpstr>
      <vt:lpstr>示例</vt:lpstr>
      <vt:lpstr>等价类的表示</vt:lpstr>
      <vt:lpstr>自学</vt:lpstr>
      <vt:lpstr>6.5 散列 (Hashing)</vt:lpstr>
      <vt:lpstr>6.5.1 散列表与散列方法</vt:lpstr>
      <vt:lpstr>散列方法的特点</vt:lpstr>
      <vt:lpstr>冲突示例</vt:lpstr>
      <vt:lpstr>散列方法的关键问题</vt:lpstr>
      <vt:lpstr>6.5.2 散列函数</vt:lpstr>
      <vt:lpstr>直接定址法</vt:lpstr>
      <vt:lpstr>示例</vt:lpstr>
      <vt:lpstr>除留余数法</vt:lpstr>
      <vt:lpstr>数字分析法</vt:lpstr>
      <vt:lpstr>计算公式</vt:lpstr>
      <vt:lpstr>例</vt:lpstr>
      <vt:lpstr>平方取中法</vt:lpstr>
      <vt:lpstr>示例：标识符的八进制内码表示及其散列地址</vt:lpstr>
      <vt:lpstr>折叠法</vt:lpstr>
      <vt:lpstr>示例</vt:lpstr>
      <vt:lpstr>各种方法比较</vt:lpstr>
      <vt:lpstr> 6.5.3 处理冲突的闭散列方法</vt:lpstr>
      <vt:lpstr>闭散列</vt:lpstr>
      <vt:lpstr>(1) 线性探查法 (Linear Probing)</vt:lpstr>
      <vt:lpstr>PowerPoint 演示文稿</vt:lpstr>
      <vt:lpstr>散列表的插入</vt:lpstr>
      <vt:lpstr>PowerPoint 演示文稿</vt:lpstr>
      <vt:lpstr>性能指标</vt:lpstr>
      <vt:lpstr>例</vt:lpstr>
      <vt:lpstr>线性探查法搜索算法</vt:lpstr>
      <vt:lpstr>线性探查法特点</vt:lpstr>
      <vt:lpstr>删除表项</vt:lpstr>
      <vt:lpstr>散列表部分方法的实现代码</vt:lpstr>
      <vt:lpstr>PowerPoint 演示文稿</vt:lpstr>
      <vt:lpstr>PowerPoint 演示文稿</vt:lpstr>
      <vt:lpstr>PowerPoint 演示文稿</vt:lpstr>
      <vt:lpstr>装填因子</vt:lpstr>
      <vt:lpstr>(2) 二次探查法 (quadratic probing)</vt:lpstr>
      <vt:lpstr>示例</vt:lpstr>
      <vt:lpstr>利用二次探查法处理溢出</vt:lpstr>
      <vt:lpstr>平均搜索长度</vt:lpstr>
      <vt:lpstr>PowerPoint 演示文稿</vt:lpstr>
      <vt:lpstr>PowerPoint 演示文稿</vt:lpstr>
      <vt:lpstr>PowerPoint 演示文稿</vt:lpstr>
      <vt:lpstr>特点</vt:lpstr>
      <vt:lpstr>(3) 双散列法</vt:lpstr>
      <vt:lpstr>特点</vt:lpstr>
      <vt:lpstr>示例</vt:lpstr>
      <vt:lpstr>PowerPoint 演示文稿</vt:lpstr>
      <vt:lpstr>PowerPoint 演示文稿</vt:lpstr>
      <vt:lpstr>Rehash( )的取法</vt:lpstr>
      <vt:lpstr>6.5.4 处理冲突的开散列方法 — 链地址法</vt:lpstr>
      <vt:lpstr>示例</vt:lpstr>
      <vt:lpstr>PowerPoint 演示文稿</vt:lpstr>
      <vt:lpstr>特点</vt:lpstr>
      <vt:lpstr>利用链地址法处理溢出时的类定义</vt:lpstr>
      <vt:lpstr>PowerPoint 演示文稿</vt:lpstr>
      <vt:lpstr>PowerPoint 演示文稿</vt:lpstr>
      <vt:lpstr>开放定址法和链地址法比较（即闭散列法与开散列法比较）</vt:lpstr>
      <vt:lpstr> 6.5.5 散列表分析</vt:lpstr>
      <vt:lpstr>PowerPoint 演示文稿</vt:lpstr>
      <vt:lpstr>对散列表技术的评估</vt:lpstr>
      <vt:lpstr>PowerPoint 演示文稿</vt:lpstr>
      <vt:lpstr>PowerPoint 演示文稿</vt:lpstr>
      <vt:lpstr>关于装填因子的进一步说明</vt:lpstr>
      <vt:lpstr>例：求散列表大小</vt:lpstr>
      <vt:lpstr>解答</vt:lpstr>
      <vt:lpstr>小结</vt:lpstr>
      <vt:lpstr>常见题型</vt:lpstr>
      <vt:lpstr>第6章作业</vt:lpstr>
    </vt:vector>
  </TitlesOfParts>
  <Company>djzx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djzx</dc:creator>
  <cp:lastModifiedBy>天天向上</cp:lastModifiedBy>
  <cp:revision>249</cp:revision>
  <dcterms:created xsi:type="dcterms:W3CDTF">2000-01-30T08:24:06Z</dcterms:created>
  <dcterms:modified xsi:type="dcterms:W3CDTF">2025-11-04T11:58:31Z</dcterms:modified>
</cp:coreProperties>
</file>