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74" r:id="rId5"/>
    <p:sldId id="260" r:id="rId6"/>
    <p:sldId id="275" r:id="rId7"/>
    <p:sldId id="277" r:id="rId8"/>
    <p:sldId id="276" r:id="rId9"/>
    <p:sldId id="279" r:id="rId10"/>
    <p:sldId id="280" r:id="rId11"/>
    <p:sldId id="261" r:id="rId12"/>
    <p:sldId id="262" r:id="rId13"/>
    <p:sldId id="264" r:id="rId14"/>
    <p:sldId id="263" r:id="rId15"/>
    <p:sldId id="283" r:id="rId16"/>
    <p:sldId id="265" r:id="rId17"/>
    <p:sldId id="270" r:id="rId18"/>
    <p:sldId id="267" r:id="rId19"/>
    <p:sldId id="268" r:id="rId20"/>
    <p:sldId id="285" r:id="rId21"/>
    <p:sldId id="284" r:id="rId22"/>
    <p:sldId id="271" r:id="rId23"/>
    <p:sldId id="286" r:id="rId24"/>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73842" autoAdjust="0"/>
  </p:normalViewPr>
  <p:slideViewPr>
    <p:cSldViewPr snapToGrid="0">
      <p:cViewPr varScale="1">
        <p:scale>
          <a:sx n="63" d="100"/>
          <a:sy n="63" d="100"/>
        </p:scale>
        <p:origin x="12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29.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EFC4DB-3C71-4BE1-BC2F-735141C4B79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75CEF-7177-4818-9867-258910406D3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AA5D738-6DBF-4EC5-9648-44AB2277303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本学期双周周一</a:t>
            </a:r>
            <a:r>
              <a:rPr lang="en-US" altLang="zh-CN" sz="1200" b="0" i="0" kern="1200" dirty="0">
                <a:solidFill>
                  <a:schemeClr val="tx1"/>
                </a:solidFill>
                <a:effectLst/>
                <a:latin typeface="+mn-lt"/>
                <a:ea typeface="+mn-ea"/>
                <a:cs typeface="+mn-cs"/>
              </a:rPr>
              <a:t>9-10</a:t>
            </a:r>
            <a:r>
              <a:rPr lang="zh-CN" altLang="en-US" sz="1200" b="0" i="0" kern="1200" dirty="0">
                <a:solidFill>
                  <a:schemeClr val="tx1"/>
                </a:solidFill>
                <a:effectLst/>
                <a:latin typeface="+mn-lt"/>
                <a:ea typeface="+mn-ea"/>
                <a:cs typeface="+mn-cs"/>
              </a:rPr>
              <a:t>节是本门课程习题课 </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每周上课的课件会在更新到</a:t>
            </a:r>
            <a:r>
              <a:rPr lang="en-US" altLang="zh-CN" sz="1200" b="0" i="0" kern="1200" dirty="0" err="1">
                <a:solidFill>
                  <a:schemeClr val="tx1"/>
                </a:solidFill>
                <a:effectLst/>
                <a:latin typeface="+mn-lt"/>
                <a:ea typeface="+mn-ea"/>
                <a:cs typeface="+mn-cs"/>
              </a:rPr>
              <a:t>elearning</a:t>
            </a:r>
            <a:r>
              <a:rPr lang="zh-CN" altLang="en-US" sz="1200" b="0" i="0" kern="1200" dirty="0">
                <a:solidFill>
                  <a:schemeClr val="tx1"/>
                </a:solidFill>
                <a:effectLst/>
                <a:latin typeface="+mn-lt"/>
                <a:ea typeface="+mn-ea"/>
                <a:cs typeface="+mn-cs"/>
              </a:rPr>
              <a:t>，每周作业会在课后上传至</a:t>
            </a:r>
            <a:r>
              <a:rPr lang="en-US" altLang="zh-CN" sz="1200" b="0" i="0" kern="1200" dirty="0" err="1">
                <a:solidFill>
                  <a:schemeClr val="tx1"/>
                </a:solidFill>
                <a:effectLst/>
                <a:latin typeface="+mn-lt"/>
                <a:ea typeface="+mn-ea"/>
                <a:cs typeface="+mn-cs"/>
              </a:rPr>
              <a:t>elearning</a:t>
            </a:r>
            <a:r>
              <a:rPr lang="zh-CN" altLang="en-US" sz="1200" b="0" i="0" kern="1200" dirty="0">
                <a:solidFill>
                  <a:schemeClr val="tx1"/>
                </a:solidFill>
                <a:effectLst/>
                <a:latin typeface="+mn-lt"/>
                <a:ea typeface="+mn-ea"/>
                <a:cs typeface="+mn-cs"/>
              </a:rPr>
              <a:t>，作业提交截止时间为每次课的下周五晚</a:t>
            </a:r>
            <a:r>
              <a:rPr lang="en-US" altLang="zh-CN" sz="1200" b="0" i="0" kern="1200" dirty="0">
                <a:solidFill>
                  <a:schemeClr val="tx1"/>
                </a:solidFill>
                <a:effectLst/>
                <a:latin typeface="+mn-lt"/>
                <a:ea typeface="+mn-ea"/>
                <a:cs typeface="+mn-cs"/>
              </a:rPr>
              <a:t>23</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59 </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第一周和第二周作业截止为</a:t>
            </a:r>
            <a:r>
              <a:rPr lang="en-US" altLang="zh-CN" sz="1200" b="0" i="0" kern="1200" dirty="0">
                <a:solidFill>
                  <a:schemeClr val="tx1"/>
                </a:solidFill>
                <a:effectLst/>
                <a:latin typeface="+mn-lt"/>
                <a:ea typeface="+mn-ea"/>
                <a:cs typeface="+mn-cs"/>
              </a:rPr>
              <a:t>3.20</a:t>
            </a:r>
            <a:r>
              <a:rPr lang="zh-CN" altLang="en-US" sz="1200" b="0" i="0" kern="1200" dirty="0">
                <a:solidFill>
                  <a:schemeClr val="tx1"/>
                </a:solidFill>
                <a:effectLst/>
                <a:latin typeface="+mn-lt"/>
                <a:ea typeface="+mn-ea"/>
                <a:cs typeface="+mn-cs"/>
              </a:rPr>
              <a:t>晚</a:t>
            </a:r>
            <a:r>
              <a:rPr lang="en-US" altLang="zh-CN" sz="1200" b="0" i="0" kern="1200" dirty="0">
                <a:solidFill>
                  <a:schemeClr val="tx1"/>
                </a:solidFill>
                <a:effectLst/>
                <a:latin typeface="+mn-lt"/>
                <a:ea typeface="+mn-ea"/>
                <a:cs typeface="+mn-cs"/>
              </a:rPr>
              <a:t>23</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59 </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请同学们务必按时提交作业，如有特殊情况请提前邮件说明，作业补交请发送至我的邮箱（</a:t>
            </a:r>
            <a:r>
              <a:rPr lang="en-US" altLang="zh-CN" sz="1200" b="0" i="0" kern="1200" dirty="0">
                <a:solidFill>
                  <a:schemeClr val="tx1"/>
                </a:solidFill>
                <a:effectLst/>
                <a:latin typeface="+mn-lt"/>
                <a:ea typeface="+mn-ea"/>
                <a:cs typeface="+mn-cs"/>
              </a:rPr>
              <a:t>25213050005@m.fudan.edu.cn</a:t>
            </a:r>
            <a:r>
              <a:rPr lang="zh-CN" altLang="en-US" sz="1200" b="0" i="0" kern="1200" dirty="0">
                <a:solidFill>
                  <a:schemeClr val="tx1"/>
                </a:solidFill>
                <a:effectLst/>
                <a:latin typeface="+mn-lt"/>
                <a:ea typeface="+mn-ea"/>
                <a:cs typeface="+mn-cs"/>
              </a:rPr>
              <a:t>），作业名称标明补交的是第几次作业</a:t>
            </a:r>
            <a:endParaRPr lang="zh-CN" altLang="en-US" dirty="0"/>
          </a:p>
        </p:txBody>
      </p:sp>
      <p:sp>
        <p:nvSpPr>
          <p:cNvPr id="4" name="灯片编号占位符 3"/>
          <p:cNvSpPr>
            <a:spLocks noGrp="1"/>
          </p:cNvSpPr>
          <p:nvPr>
            <p:ph type="sldNum" sz="quarter" idx="5"/>
          </p:nvPr>
        </p:nvSpPr>
        <p:spPr/>
        <p:txBody>
          <a:bodyPr/>
          <a:lstStyle/>
          <a:p>
            <a:fld id="{1FA75CEF-7177-4818-9867-258910406D3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给定一个</a:t>
            </a:r>
            <a:r>
              <a:rPr lang="zh-CN" altLang="en-US" b="1"/>
              <a:t>整数数组</a:t>
            </a:r>
            <a:r>
              <a:rPr lang="zh-CN" altLang="en-US"/>
              <a:t> nums 和一个</a:t>
            </a:r>
            <a:r>
              <a:rPr lang="zh-CN" altLang="en-US" b="1"/>
              <a:t>目标值</a:t>
            </a:r>
            <a:r>
              <a:rPr lang="zh-CN" altLang="en-US"/>
              <a:t> target，请你在该数组中找出</a:t>
            </a:r>
            <a:r>
              <a:rPr lang="zh-CN" altLang="en-US" b="1"/>
              <a:t>和为目标值</a:t>
            </a:r>
            <a:r>
              <a:rPr lang="zh-CN" altLang="en-US"/>
              <a:t>的那 两个 整数，并返回他们的</a:t>
            </a:r>
            <a:r>
              <a:rPr lang="zh-CN" altLang="en-US" b="1"/>
              <a:t>数组下标</a:t>
            </a:r>
            <a:r>
              <a:rPr lang="zh-CN" altLang="en-US"/>
              <a:t>。</a:t>
            </a:r>
            <a:endParaRPr lang="zh-CN" altLang="en-US"/>
          </a:p>
          <a:p>
            <a:r>
              <a:rPr lang="zh-CN" altLang="en-US"/>
              <a:t>你可以假设每种输入只会对应一个答案。但是，数组中同一个元素不能使用两遍。</a:t>
            </a:r>
            <a:endParaRPr lang="zh-CN" altLang="en-US"/>
          </a:p>
          <a:p>
            <a:r>
              <a:rPr lang="en-US" altLang="zh-CN"/>
              <a:t>==</a:t>
            </a:r>
            <a:r>
              <a:rPr lang="zh-CN" altLang="en-US"/>
              <a:t>给大家一个数组，一个目标值。在数组里找到两数相加等于这个目标值的，并且返回这个两个元素的下标</a:t>
            </a:r>
            <a:endParaRPr lang="zh-CN" altLang="en-US"/>
          </a:p>
          <a:p>
            <a:r>
              <a:rPr lang="zh-CN" altLang="en-US"/>
              <a:t>这把是两个示例题和结果</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哈希表的关键就是，</a:t>
            </a:r>
            <a:r>
              <a:rPr lang="zh-CN" altLang="en-US" b="1"/>
              <a:t>通过下标直接访问数组中的元素</a:t>
            </a:r>
            <a:endParaRPr lang="zh-CN" altLang="en-US" b="1"/>
          </a:p>
          <a:p>
            <a:r>
              <a:rPr lang="zh-CN" altLang="en-US" b="1"/>
              <a:t>例如要查询一个名字是否在这所学校里。</a:t>
            </a:r>
            <a:endParaRPr lang="zh-CN" altLang="en-US" b="1"/>
          </a:p>
          <a:p>
            <a:r>
              <a:rPr lang="zh-CN" altLang="en-US" b="1"/>
              <a:t>要枚举的话时间复杂度是O(n)，但如果使用哈希表的话， 只需要O(1)就可以做到。</a:t>
            </a:r>
            <a:endParaRPr lang="zh-CN" altLang="en-US" b="1"/>
          </a:p>
          <a:p>
            <a:r>
              <a:rPr lang="zh-CN" altLang="en-US" b="1"/>
              <a:t>我们只需要初始化把这所学校里学生的名字都存在哈希表里，</a:t>
            </a:r>
            <a:endParaRPr lang="zh-CN" altLang="en-US" b="1"/>
          </a:p>
          <a:p>
            <a:r>
              <a:rPr lang="zh-CN" altLang="en-US" b="1"/>
              <a:t>在查询的时候通过索引直接就可以知道这位同学在不在这所学校里了。</a:t>
            </a:r>
            <a:endParaRPr lang="zh-CN" altLang="en-US" b="1"/>
          </a:p>
          <a:p>
            <a:r>
              <a:rPr lang="zh-CN" altLang="en-US" b="1"/>
              <a:t>将学生姓名映射到哈希表上就涉及到了hash function ，也就是哈希函数。</a:t>
            </a:r>
            <a:endParaRPr lang="zh-CN" altLang="en-US" b="1"/>
          </a:p>
          <a:p>
            <a:r>
              <a:rPr lang="zh-CN" altLang="en-US" b="1"/>
              <a:t>用一个哈希函数，计算 “</a:t>
            </a:r>
            <a:r>
              <a:rPr lang="zh-CN" altLang="en-US">
                <a:sym typeface="+mn-ea"/>
              </a:rPr>
              <a:t>张三</a:t>
            </a:r>
            <a:r>
              <a:rPr lang="zh-CN" altLang="en-US" b="1"/>
              <a:t>” 对应的数字→</a:t>
            </a:r>
            <a:r>
              <a:rPr lang="en-US" altLang="zh-CN" b="1"/>
              <a:t>2</a:t>
            </a:r>
            <a:r>
              <a:rPr lang="zh-CN" altLang="en-US" b="1"/>
              <a:t>；</a:t>
            </a:r>
            <a:endParaRPr lang="zh-CN" altLang="en-US" b="1"/>
          </a:p>
          <a:p>
            <a:r>
              <a:rPr lang="zh-CN" altLang="en-US" b="1"/>
              <a:t>直接去哈希表中数字 </a:t>
            </a:r>
            <a:r>
              <a:rPr lang="en-US" altLang="zh-CN" b="1"/>
              <a:t>2</a:t>
            </a:r>
            <a:r>
              <a:rPr lang="zh-CN" altLang="en-US" b="1"/>
              <a:t> 的位置看：有 “张三”→ 找到，结束。</a:t>
            </a:r>
            <a:endParaRPr lang="zh-CN" altLang="en-US" b="1"/>
          </a:p>
          <a:p>
            <a:endParaRPr lang="zh-CN" altLang="en-US" b="1"/>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对于这题，我们在遍历一个元素的时候，我们要存放我们之前遍历过的元素。</a:t>
            </a:r>
            <a:endParaRPr lang="zh-CN" altLang="en-US"/>
          </a:p>
          <a:p>
            <a:r>
              <a:rPr lang="zh-CN" altLang="en-US"/>
              <a:t>比如这里遍历到了</a:t>
            </a:r>
            <a:r>
              <a:rPr lang="en-US" altLang="zh-CN"/>
              <a:t>7</a:t>
            </a:r>
            <a:r>
              <a:rPr lang="zh-CN" altLang="en-US"/>
              <a:t>，我们是不是要判断一下一个元素我们是否之前遍历过。如果我们之前遍历过，我们就找到了一对相加</a:t>
            </a:r>
            <a:r>
              <a:rPr lang="en-US" altLang="zh-CN"/>
              <a:t>=9</a:t>
            </a:r>
            <a:r>
              <a:rPr lang="zh-CN" altLang="en-US"/>
              <a:t>。这里我们遍历到</a:t>
            </a:r>
            <a:r>
              <a:rPr lang="en-US" altLang="zh-CN"/>
              <a:t>7</a:t>
            </a:r>
            <a:r>
              <a:rPr lang="zh-CN" altLang="en-US"/>
              <a:t>，我们应该找元素</a:t>
            </a:r>
            <a:r>
              <a:rPr lang="en-US" altLang="zh-CN"/>
              <a:t>2</a:t>
            </a:r>
            <a:r>
              <a:rPr lang="zh-CN" altLang="en-US"/>
              <a:t>是不是遍历过，就是判断一下</a:t>
            </a:r>
            <a:r>
              <a:rPr lang="zh-CN" altLang="en-US" b="1"/>
              <a:t>前面是否出现过元素</a:t>
            </a:r>
            <a:r>
              <a:rPr lang="en-US" altLang="zh-CN" b="1"/>
              <a:t>2.</a:t>
            </a:r>
            <a:endParaRPr lang="en-US" altLang="zh-CN" b="1"/>
          </a:p>
          <a:p>
            <a:endParaRPr lang="zh-CN" altLang="en-US">
              <a:sym typeface="+mn-ea"/>
            </a:endParaRPr>
          </a:p>
          <a:p>
            <a:r>
              <a:rPr lang="zh-CN" altLang="en-US">
                <a:sym typeface="+mn-ea"/>
              </a:rPr>
              <a:t>需要一个集合来</a:t>
            </a:r>
            <a:r>
              <a:rPr lang="zh-CN" altLang="en-US" b="1">
                <a:sym typeface="+mn-ea"/>
              </a:rPr>
              <a:t>存放</a:t>
            </a:r>
            <a:r>
              <a:rPr lang="zh-CN" altLang="en-US">
                <a:sym typeface="+mn-ea"/>
              </a:rPr>
              <a:t>我们遍历过的元素，然后在遍历数组的时候去询问这个集合，某元素是否遍历过，也就是 </a:t>
            </a:r>
            <a:r>
              <a:rPr lang="zh-CN" altLang="en-US" b="1">
                <a:sym typeface="+mn-ea"/>
              </a:rPr>
              <a:t>是否出现在这个集合</a:t>
            </a:r>
            <a:r>
              <a:rPr lang="zh-CN" altLang="en-US">
                <a:sym typeface="+mn-ea"/>
              </a:rPr>
              <a:t>。</a:t>
            </a:r>
            <a:endParaRPr lang="en-US" altLang="zh-CN" b="1"/>
          </a:p>
          <a:p>
            <a:endParaRPr lang="en-US" altLang="zh-CN" b="1"/>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数组的大小是受限制的，而且如果元素很少，而哈希值太大会造成内存空间的浪费。</a:t>
            </a:r>
            <a:endParaRPr lang="zh-CN" altLang="en-US"/>
          </a:p>
          <a:p>
            <a:r>
              <a:rPr lang="zh-CN" altLang="en-US">
                <a:sym typeface="+mn-ea"/>
              </a:rPr>
              <a:t>set是一个集合，里面放的元素只能是一个key，而两数之和这道题目，不仅要判断y是否存在而且还要记录y的下标位置，因为要返回x 和 y的下标。所以set 也不能用。</a:t>
            </a:r>
            <a:endParaRPr lang="zh-CN" altLang="en-US"/>
          </a:p>
          <a:p>
            <a:r>
              <a:rPr lang="zh-CN" altLang="en-US">
                <a:sym typeface="+mn-ea"/>
              </a:rPr>
              <a:t>此时就要选择另一种数据结构：map ，map是一种key value的存储结构，可以用key保存数值，用value再保存数值所在的下标。</a:t>
            </a:r>
            <a:endParaRPr lang="zh-CN" altLang="en-US">
              <a:sym typeface="+mn-ea"/>
            </a:endParaRPr>
          </a:p>
          <a:p>
            <a:endParaRPr lang="zh-CN" altLang="en-US">
              <a:sym typeface="+mn-ea"/>
            </a:endParaRPr>
          </a:p>
          <a:p>
            <a:r>
              <a:rPr lang="zh-CN" altLang="en-US" b="1"/>
              <a:t>这道题目中并不需要key有序，选择std::unordered_map 效率更高</a:t>
            </a:r>
            <a:endParaRPr lang="zh-CN" altLang="en-US" b="1"/>
          </a:p>
          <a:p>
            <a:endParaRPr lang="zh-CN" altLang="en-US" b="1"/>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map目的用来存放我们访问过的元素，</a:t>
            </a:r>
            <a:endParaRPr lang="zh-CN" altLang="en-US"/>
          </a:p>
          <a:p>
            <a:r>
              <a:rPr lang="zh-CN" altLang="en-US"/>
              <a:t>因为遍历数组的时候，需要记录我们之前遍历过哪些元素和对应的下标，这样才能找到与</a:t>
            </a:r>
            <a:r>
              <a:rPr lang="zh-CN" altLang="en-US" b="1"/>
              <a:t>当前元素相匹配的（也就是相加等于target）</a:t>
            </a:r>
            <a:endParaRPr lang="zh-CN" altLang="en-US" b="1"/>
          </a:p>
          <a:p>
            <a:endParaRPr lang="zh-CN" altLang="en-US" b="1"/>
          </a:p>
          <a:p>
            <a:r>
              <a:rPr lang="zh-CN" altLang="en-US" b="1"/>
              <a:t>在遍历数组的时候，只需要向map去查询是否有和目前遍历元素匹配的数值，如果有，就找到的匹配对，如果没有，就把目前遍历的元素放进map中，因为map存放的就是我们访问过的元素</a:t>
            </a:r>
            <a:endParaRPr lang="zh-CN" altLang="en-US" b="1"/>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map目的用来存放我们访问过的元素，</a:t>
            </a:r>
            <a:endParaRPr lang="zh-CN" altLang="en-US" dirty="0">
              <a:sym typeface="+mn-ea"/>
            </a:endParaRPr>
          </a:p>
          <a:p>
            <a:r>
              <a:rPr b="1" dirty="0" err="1">
                <a:sym typeface="+mn-ea"/>
              </a:rPr>
              <a:t>map.find</a:t>
            </a:r>
            <a:r>
              <a:rPr b="1" dirty="0">
                <a:sym typeface="+mn-ea"/>
              </a:rPr>
              <a:t>(...)：</a:t>
            </a:r>
            <a:r>
              <a:rPr dirty="0" err="1">
                <a:sym typeface="+mn-ea"/>
              </a:rPr>
              <a:t>在哈希表map中查找</a:t>
            </a:r>
            <a:r>
              <a:rPr dirty="0">
                <a:sym typeface="+mn-ea"/>
              </a:rPr>
              <a:t> “7” </a:t>
            </a:r>
            <a:r>
              <a:rPr dirty="0" err="1">
                <a:sym typeface="+mn-ea"/>
              </a:rPr>
              <a:t>这个键是否存在（对应</a:t>
            </a:r>
            <a:r>
              <a:rPr dirty="0">
                <a:sym typeface="+mn-ea"/>
              </a:rPr>
              <a:t> “查 7 </a:t>
            </a:r>
            <a:r>
              <a:rPr dirty="0" err="1">
                <a:sym typeface="+mn-ea"/>
              </a:rPr>
              <a:t>这个名字是否在学校哈希表里</a:t>
            </a:r>
            <a:r>
              <a:rPr dirty="0">
                <a:sym typeface="+mn-ea"/>
              </a:rPr>
              <a:t>”）；</a:t>
            </a:r>
            <a:endParaRPr dirty="0">
              <a:sym typeface="+mn-ea"/>
            </a:endParaRPr>
          </a:p>
          <a:p>
            <a:r>
              <a:rPr dirty="0" err="1">
                <a:sym typeface="+mn-ea"/>
              </a:rPr>
              <a:t>如果找到：返回一个</a:t>
            </a:r>
            <a:r>
              <a:rPr b="1" dirty="0" err="1">
                <a:sym typeface="+mn-ea"/>
              </a:rPr>
              <a:t>迭代器（iter</a:t>
            </a:r>
            <a:r>
              <a:rPr b="1" dirty="0">
                <a:sym typeface="+mn-ea"/>
              </a:rPr>
              <a:t>）</a:t>
            </a:r>
            <a:r>
              <a:rPr dirty="0">
                <a:sym typeface="+mn-ea"/>
              </a:rPr>
              <a:t>，</a:t>
            </a:r>
            <a:r>
              <a:rPr b="1" dirty="0" err="1">
                <a:sym typeface="+mn-ea"/>
              </a:rPr>
              <a:t>这个迭代器指向哈希表中</a:t>
            </a:r>
            <a:r>
              <a:rPr b="1" dirty="0">
                <a:sym typeface="+mn-ea"/>
              </a:rPr>
              <a:t> “7” </a:t>
            </a:r>
            <a:r>
              <a:rPr b="1" dirty="0" err="1">
                <a:sym typeface="+mn-ea"/>
              </a:rPr>
              <a:t>这个键值对的位置</a:t>
            </a:r>
            <a:r>
              <a:rPr b="1" dirty="0">
                <a:sym typeface="+mn-ea"/>
              </a:rPr>
              <a:t>；</a:t>
            </a:r>
            <a:endParaRPr dirty="0">
              <a:sym typeface="+mn-ea"/>
            </a:endParaRPr>
          </a:p>
          <a:p>
            <a:r>
              <a:rPr dirty="0" err="1">
                <a:sym typeface="+mn-ea"/>
              </a:rPr>
              <a:t>如果没找到：返回map.end</a:t>
            </a:r>
            <a:r>
              <a:rPr dirty="0">
                <a:sym typeface="+mn-ea"/>
              </a:rPr>
              <a:t>()（</a:t>
            </a:r>
            <a:r>
              <a:rPr dirty="0" err="1">
                <a:sym typeface="+mn-ea"/>
              </a:rPr>
              <a:t>哈希表的</a:t>
            </a:r>
            <a:r>
              <a:rPr dirty="0">
                <a:sym typeface="+mn-ea"/>
              </a:rPr>
              <a:t> “</a:t>
            </a:r>
            <a:r>
              <a:rPr dirty="0" err="1">
                <a:sym typeface="+mn-ea"/>
              </a:rPr>
              <a:t>末尾标记</a:t>
            </a:r>
            <a:r>
              <a:rPr dirty="0">
                <a:sym typeface="+mn-ea"/>
              </a:rPr>
              <a:t>”，</a:t>
            </a:r>
            <a:r>
              <a:rPr dirty="0" err="1">
                <a:sym typeface="+mn-ea"/>
              </a:rPr>
              <a:t>表示没找到</a:t>
            </a:r>
            <a:r>
              <a:rPr dirty="0">
                <a:sym typeface="+mn-ea"/>
              </a:rPr>
              <a:t>）；</a:t>
            </a:r>
            <a:endParaRPr dirty="0">
              <a:sym typeface="+mn-ea"/>
            </a:endParaRPr>
          </a:p>
          <a:p>
            <a:r>
              <a:rPr dirty="0" err="1">
                <a:sym typeface="+mn-ea"/>
              </a:rPr>
              <a:t>auto：C</a:t>
            </a:r>
            <a:r>
              <a:rPr dirty="0">
                <a:sym typeface="+mn-ea"/>
              </a:rPr>
              <a:t>++ </a:t>
            </a:r>
            <a:r>
              <a:rPr dirty="0" err="1">
                <a:sym typeface="+mn-ea"/>
              </a:rPr>
              <a:t>的自动类型推导，不用手动写std</a:t>
            </a:r>
            <a:r>
              <a:rPr dirty="0">
                <a:sym typeface="+mn-ea"/>
              </a:rPr>
              <a:t>::</a:t>
            </a:r>
            <a:r>
              <a:rPr dirty="0" err="1">
                <a:sym typeface="+mn-ea"/>
              </a:rPr>
              <a:t>unordered_map</a:t>
            </a:r>
            <a:r>
              <a:rPr dirty="0">
                <a:sym typeface="+mn-ea"/>
              </a:rPr>
              <a:t>&lt;</a:t>
            </a:r>
            <a:r>
              <a:rPr dirty="0" err="1">
                <a:sym typeface="+mn-ea"/>
              </a:rPr>
              <a:t>int,int</a:t>
            </a:r>
            <a:r>
              <a:rPr dirty="0">
                <a:sym typeface="+mn-ea"/>
              </a:rPr>
              <a:t>&gt;::</a:t>
            </a:r>
            <a:r>
              <a:rPr dirty="0" err="1">
                <a:sym typeface="+mn-ea"/>
              </a:rPr>
              <a:t>iterator，编译器会自动识别iter的类型是哈希表迭代器</a:t>
            </a:r>
            <a:r>
              <a:rPr dirty="0">
                <a:sym typeface="+mn-ea"/>
              </a:rPr>
              <a:t>；</a:t>
            </a:r>
            <a:endParaRPr dirty="0">
              <a:sym typeface="+mn-ea"/>
            </a:endParaRPr>
          </a:p>
          <a:p>
            <a:r>
              <a:rPr dirty="0" err="1">
                <a:sym typeface="+mn-ea"/>
              </a:rPr>
              <a:t>iter：迭代器变量，相当于</a:t>
            </a:r>
            <a:r>
              <a:rPr dirty="0">
                <a:sym typeface="+mn-ea"/>
              </a:rPr>
              <a:t> “</a:t>
            </a:r>
            <a:r>
              <a:rPr dirty="0" err="1">
                <a:sym typeface="+mn-ea"/>
              </a:rPr>
              <a:t>指向哈希表中某个键值对的指针</a:t>
            </a:r>
            <a:r>
              <a:rPr dirty="0">
                <a:sym typeface="+mn-ea"/>
              </a:rPr>
              <a:t>”。</a:t>
            </a:r>
            <a:endParaRPr dirty="0">
              <a:sym typeface="+mn-ea"/>
            </a:endParaRPr>
          </a:p>
          <a:p>
            <a:r>
              <a:rPr dirty="0">
                <a:sym typeface="+mn-ea"/>
              </a:rPr>
              <a:t>iter-&gt;</a:t>
            </a:r>
            <a:r>
              <a:rPr dirty="0" err="1">
                <a:sym typeface="+mn-ea"/>
              </a:rPr>
              <a:t>second：迭代器iter指向的键值对的</a:t>
            </a:r>
            <a:r>
              <a:rPr dirty="0">
                <a:sym typeface="+mn-ea"/>
              </a:rPr>
              <a:t> “值”—— </a:t>
            </a:r>
            <a:r>
              <a:rPr dirty="0" err="1">
                <a:sym typeface="+mn-ea"/>
              </a:rPr>
              <a:t>也就是互补数的下标（比如找到</a:t>
            </a:r>
            <a:r>
              <a:rPr dirty="0">
                <a:sym typeface="+mn-ea"/>
              </a:rPr>
              <a:t> 7 </a:t>
            </a:r>
            <a:r>
              <a:rPr dirty="0" err="1">
                <a:sym typeface="+mn-ea"/>
              </a:rPr>
              <a:t>的互补数是</a:t>
            </a:r>
            <a:r>
              <a:rPr dirty="0">
                <a:sym typeface="+mn-ea"/>
              </a:rPr>
              <a:t> 2，2 </a:t>
            </a:r>
            <a:r>
              <a:rPr dirty="0" err="1">
                <a:sym typeface="+mn-ea"/>
              </a:rPr>
              <a:t>的下标是</a:t>
            </a:r>
            <a:r>
              <a:rPr dirty="0">
                <a:sym typeface="+mn-ea"/>
              </a:rPr>
              <a:t> 0，iter-&gt;</a:t>
            </a:r>
            <a:r>
              <a:rPr dirty="0" err="1">
                <a:sym typeface="+mn-ea"/>
              </a:rPr>
              <a:t>second就是</a:t>
            </a:r>
            <a:r>
              <a:rPr dirty="0">
                <a:sym typeface="+mn-ea"/>
              </a:rPr>
              <a:t> 0）；</a:t>
            </a:r>
            <a:endParaRPr dirty="0">
              <a:sym typeface="+mn-ea"/>
            </a:endParaRPr>
          </a:p>
          <a:p>
            <a:endParaRPr dirty="0">
              <a:sym typeface="+mn-ea"/>
            </a:endParaRPr>
          </a:p>
          <a:p>
            <a:r>
              <a:rPr dirty="0" err="1">
                <a:sym typeface="+mn-ea"/>
              </a:rPr>
              <a:t>本题其实有四个重点</a:t>
            </a:r>
            <a:r>
              <a:rPr dirty="0">
                <a:sym typeface="+mn-ea"/>
              </a:rPr>
              <a:t>：</a:t>
            </a:r>
            <a:endParaRPr dirty="0">
              <a:sym typeface="+mn-ea"/>
            </a:endParaRPr>
          </a:p>
          <a:p>
            <a:r>
              <a:rPr dirty="0" err="1">
                <a:sym typeface="+mn-ea"/>
              </a:rPr>
              <a:t>为什么会想到用哈希表</a:t>
            </a:r>
            <a:endParaRPr dirty="0">
              <a:sym typeface="+mn-ea"/>
            </a:endParaRPr>
          </a:p>
          <a:p>
            <a:r>
              <a:rPr dirty="0" err="1">
                <a:sym typeface="+mn-ea"/>
              </a:rPr>
              <a:t>哈希表为什么用map</a:t>
            </a:r>
            <a:endParaRPr dirty="0">
              <a:sym typeface="+mn-ea"/>
            </a:endParaRPr>
          </a:p>
          <a:p>
            <a:r>
              <a:rPr dirty="0" err="1">
                <a:sym typeface="+mn-ea"/>
              </a:rPr>
              <a:t>本题map是用来存什么的</a:t>
            </a:r>
            <a:endParaRPr dirty="0">
              <a:sym typeface="+mn-ea"/>
            </a:endParaRPr>
          </a:p>
          <a:p>
            <a:r>
              <a:rPr dirty="0" err="1">
                <a:sym typeface="+mn-ea"/>
              </a:rPr>
              <a:t>map中的key和value用来存什么的</a:t>
            </a:r>
            <a:endParaRPr dirty="0">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给你一个包含 n 个整数的数组 nums，判断 nums 中是否存在</a:t>
            </a:r>
            <a:r>
              <a:rPr lang="zh-CN" altLang="en-US" b="1" dirty="0"/>
              <a:t>三个元素 a，b，c ，使得 a + b + c = 0 ？</a:t>
            </a:r>
            <a:r>
              <a:rPr lang="zh-CN" altLang="en-US" dirty="0"/>
              <a:t>请你找出</a:t>
            </a:r>
            <a:r>
              <a:rPr lang="zh-CN" altLang="en-US" b="1" dirty="0"/>
              <a:t>所有满足条件且不重复的三元组</a:t>
            </a:r>
            <a:r>
              <a:rPr lang="zh-CN" altLang="en-US" dirty="0"/>
              <a:t>。</a:t>
            </a:r>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也可以用哈希法：</a:t>
            </a:r>
            <a:endParaRPr lang="zh-CN" altLang="en-US"/>
          </a:p>
          <a:p>
            <a:r>
              <a:rPr lang="en-US" altLang="zh-CN"/>
              <a:t>a+b=0</a:t>
            </a:r>
            <a:r>
              <a:rPr lang="zh-CN" altLang="en-US"/>
              <a:t>（</a:t>
            </a:r>
            <a:r>
              <a:rPr lang="en-US" altLang="zh-CN"/>
              <a:t>map</a:t>
            </a:r>
            <a:r>
              <a:rPr lang="zh-CN" altLang="en-US"/>
              <a:t>存放遍历过的元素。然后在遍历过度元素中呢，找当前遍历的值，他两相加</a:t>
            </a:r>
            <a:r>
              <a:rPr lang="en-US" altLang="zh-CN"/>
              <a:t>=0</a:t>
            </a:r>
            <a:endParaRPr lang="en-US" altLang="zh-CN"/>
          </a:p>
          <a:p>
            <a:r>
              <a:rPr lang="zh-CN" altLang="en-US"/>
              <a:t>但是要去重。这个就是这题的难点。就是要去重。</a:t>
            </a:r>
            <a:endParaRPr lang="zh-CN" altLang="en-US"/>
          </a:p>
          <a:p>
            <a:r>
              <a:rPr lang="zh-CN" altLang="en-US"/>
              <a:t>两层for循环就可以确定 两个数值，可以使用哈希法来确定 第三个数 0-(a+b) 或者 0 - (a + c) 是否在 数组里出现过，其实这个思路是正确的，</a:t>
            </a:r>
            <a:endParaRPr lang="zh-CN" altLang="en-US"/>
          </a:p>
          <a:p>
            <a:r>
              <a:rPr lang="zh-CN" altLang="en-US"/>
              <a:t>但是我们有一个非常棘手的问题，就是题目中说的</a:t>
            </a:r>
            <a:r>
              <a:rPr lang="zh-CN" altLang="en-US" b="1"/>
              <a:t>不可以包含重复的三元组。</a:t>
            </a:r>
            <a:endParaRPr lang="zh-CN" altLang="en-US" b="1"/>
          </a:p>
          <a:p>
            <a:r>
              <a:rPr lang="zh-CN" altLang="en-US" b="1"/>
              <a:t>一种，把符合条件的三元组放进vector中，然后再去重，这样是非常费时的，很容易超时</a:t>
            </a:r>
            <a:endParaRPr lang="zh-CN" altLang="en-US" b="1"/>
          </a:p>
          <a:p>
            <a:r>
              <a:rPr lang="zh-CN" altLang="en-US" b="1"/>
              <a:t>去重的过程不好处理，有很多小细节</a:t>
            </a:r>
            <a:endParaRPr lang="zh-CN" altLang="en-US" b="1"/>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这题没有让我们返回下标，如果要返回下标，排序就会让他乱了，所以不能排序，</a:t>
            </a:r>
            <a:endParaRPr lang="zh-CN" altLang="en-US"/>
          </a:p>
          <a:p>
            <a:r>
              <a:rPr lang="zh-CN" altLang="en-US"/>
              <a:t>拿这个nums数组来举例，首先将数组排序，然后有一层for循环，i从下标0的地方开始，同时定一个下标left 定义在i+1的位置上，定义下标right 在数组结尾的位置上。</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边界性问题。可以自己代入尝试</a:t>
            </a:r>
            <a:endParaRPr lang="zh-CN" altLang="en-US"/>
          </a:p>
          <a:p>
            <a:endParaRPr lang="zh-CN" altLang="en-US"/>
          </a:p>
          <a:p>
            <a:r>
              <a:rPr lang="zh-CN" altLang="en-US"/>
              <a:t>两数之和 就不能使用双指针法，因为1.两数之和 (opens new window)</a:t>
            </a:r>
            <a:r>
              <a:rPr lang="zh-CN" altLang="en-US" b="1"/>
              <a:t>要求返回的是索引下标， 而双指针法一定要排序，一旦排序之后原数组的索引就被改变了。</a:t>
            </a:r>
            <a:endParaRPr lang="zh-CN" altLang="en-US"/>
          </a:p>
          <a:p>
            <a:r>
              <a:rPr lang="zh-CN" altLang="en-US"/>
              <a:t>如果1.两数之和 (opens new window)要求返回的是数值的话，就可以使用双指针法了。</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四数之和，和15.三数之和 (opens new window)是一个思路，都是使用双指针法, 基本解法就是在15.三数之和 (opens new window)的基础上再套一层for循环。</a:t>
            </a:r>
            <a:endParaRPr lang="zh-CN" altLang="en-US" dirty="0"/>
          </a:p>
          <a:p>
            <a:endParaRPr lang="zh-CN" altLang="en-US" dirty="0"/>
          </a:p>
          <a:p>
            <a:r>
              <a:rPr lang="zh-CN" altLang="en-US" dirty="0"/>
              <a:t>但是有一些细节需要注意，例如： 不要判断nums[k] &gt; target 就返回了，</a:t>
            </a:r>
            <a:r>
              <a:rPr lang="zh-CN" altLang="en-US" b="1" dirty="0"/>
              <a:t>三数之和 可以通过 nums[i] &gt; 0 就返回了，因为 0 已经是确定的数了</a:t>
            </a:r>
            <a:r>
              <a:rPr lang="zh-CN" altLang="en-US" dirty="0"/>
              <a:t>，</a:t>
            </a:r>
            <a:endParaRPr lang="zh-CN" altLang="en-US" dirty="0"/>
          </a:p>
          <a:p>
            <a:r>
              <a:rPr lang="zh-CN" altLang="en-US" dirty="0"/>
              <a:t>四数之和这道题目 </a:t>
            </a:r>
            <a:r>
              <a:rPr lang="zh-CN" altLang="en-US" b="1" dirty="0"/>
              <a:t>target是任意值。</a:t>
            </a:r>
            <a:r>
              <a:rPr lang="zh-CN" altLang="en-US" dirty="0"/>
              <a:t>比如：数组是[-4, -3, -2, -1]，target是-10，不能因为-4 &gt; -10而跳过。但是我们依旧可以</a:t>
            </a:r>
            <a:r>
              <a:rPr lang="zh-CN" altLang="en-US" b="1" dirty="0"/>
              <a:t>去做剪枝</a:t>
            </a:r>
            <a:r>
              <a:rPr lang="zh-CN" altLang="en-US" dirty="0"/>
              <a:t>，逻辑变成nums[k] &gt; target &amp;&amp; (nums[k] &gt;=0 || target &gt;= 0)就可以了。</a:t>
            </a: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四数之和这道题目 </a:t>
            </a:r>
            <a:r>
              <a:rPr lang="zh-CN" altLang="en-US" b="1" dirty="0"/>
              <a:t>target是任意值。</a:t>
            </a:r>
            <a:r>
              <a:rPr lang="zh-CN" altLang="en-US" dirty="0"/>
              <a:t>比如：数组是[-4, -3, -2, -1]，target是-10，不能因为-4 &gt; -10而跳过。但是我们依旧可以</a:t>
            </a:r>
            <a:r>
              <a:rPr lang="zh-CN" altLang="en-US" b="1" dirty="0"/>
              <a:t>去做剪枝</a:t>
            </a:r>
            <a:r>
              <a:rPr lang="zh-CN" altLang="en-US" dirty="0"/>
              <a:t>，逻辑变成nums[k] &gt; target &amp;&amp; (nums[k] &gt;=0 || target &gt;= 0)就可以了。</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1FA75CEF-7177-4818-9867-258910406D3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给你一个长度为 n 的整数数组 nums 和 一个目标值 target。请你从 nums 中选出</a:t>
            </a:r>
            <a:r>
              <a:rPr lang="zh-CN" altLang="en-US" b="1"/>
              <a:t>三个在 不同下标位置 的整数，使它们的和与 target 最接近</a:t>
            </a:r>
            <a:r>
              <a:rPr lang="zh-CN" altLang="en-US"/>
              <a:t>。</a:t>
            </a:r>
            <a:endParaRPr lang="zh-CN" altLang="en-US"/>
          </a:p>
          <a:p>
            <a:endParaRPr lang="zh-CN" altLang="en-US"/>
          </a:p>
          <a:p>
            <a:r>
              <a:rPr lang="zh-CN" altLang="en-US"/>
              <a:t>返回这三个数的和。</a:t>
            </a:r>
            <a:endParaRPr lang="zh-CN" altLang="en-US"/>
          </a:p>
          <a:p>
            <a:endParaRPr lang="zh-CN" altLang="en-US"/>
          </a:p>
          <a:p>
            <a:r>
              <a:rPr lang="zh-CN" altLang="en-US"/>
              <a:t>假定每组输入只存在恰好一个解。</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FFD710D-4E23-4350-A117-A6EF98AECED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6323E3-F648-402F-BC1A-30D88506022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FFD710D-4E23-4350-A117-A6EF98AECED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6323E3-F648-402F-BC1A-30D88506022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8FFD710D-4E23-4350-A117-A6EF98AECED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6323E3-F648-402F-BC1A-30D88506022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FFD710D-4E23-4350-A117-A6EF98AECED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76323E3-F648-402F-BC1A-30D88506022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FFD710D-4E23-4350-A117-A6EF98AECED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76323E3-F648-402F-BC1A-30D88506022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FFD710D-4E23-4350-A117-A6EF98AECED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76323E3-F648-402F-BC1A-30D88506022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FFD710D-4E23-4350-A117-A6EF98AECED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76323E3-F648-402F-BC1A-30D88506022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8FFD710D-4E23-4350-A117-A6EF98AECED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76323E3-F648-402F-BC1A-30D88506022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8FFD710D-4E23-4350-A117-A6EF98AECED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76323E3-F648-402F-BC1A-30D88506022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FFD710D-4E23-4350-A117-A6EF98AECED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6323E3-F648-402F-BC1A-30D88506022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FFD710D-4E23-4350-A117-A6EF98AECED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6323E3-F648-402F-BC1A-30D88506022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screen"/>
          <a:srcRect/>
          <a:stretch>
            <a:fillRect/>
          </a:stretch>
        </p:blipFill>
        <p:spPr>
          <a:xfrm>
            <a:off x="0" y="0"/>
            <a:ext cx="12192001"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FD710D-4E23-4350-A117-A6EF98AECED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6323E3-F648-402F-BC1A-30D88506022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xml"/><Relationship Id="rId2" Type="http://schemas.openxmlformats.org/officeDocument/2006/relationships/image" Target="../media/image2.png"/><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tags" Target="../tags/tag8.xml"/><Relationship Id="rId2" Type="http://schemas.openxmlformats.org/officeDocument/2006/relationships/image" Target="../media/image5.png"/><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image" Target="../media/image7.png"/><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image" Target="../media/image12.GIF"/></Relationships>
</file>

<file path=ppt/slides/_rels/slide14.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image" Target="../media/image14.png"/><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image" Target="../media/image13.png"/><Relationship Id="rId11" Type="http://schemas.openxmlformats.org/officeDocument/2006/relationships/notesSlide" Target="../notesSlides/notesSlide12.xml"/><Relationship Id="rId10" Type="http://schemas.openxmlformats.org/officeDocument/2006/relationships/slideLayout" Target="../slideLayouts/slideLayout2.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image" Target="../media/image21.png"/><Relationship Id="rId3" Type="http://schemas.openxmlformats.org/officeDocument/2006/relationships/tags" Target="../tags/tag22.xml"/><Relationship Id="rId2" Type="http://schemas.openxmlformats.org/officeDocument/2006/relationships/image" Target="../media/image20.png"/><Relationship Id="rId10" Type="http://schemas.openxmlformats.org/officeDocument/2006/relationships/notesSlide" Target="../notesSlides/notesSlide15.xml"/><Relationship Id="rId1" Type="http://schemas.openxmlformats.org/officeDocument/2006/relationships/tags" Target="../tags/tag2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tags" Target="../tags/tag2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Box 7"/>
          <p:cNvSpPr>
            <a:spLocks noChangeArrowheads="1"/>
          </p:cNvSpPr>
          <p:nvPr/>
        </p:nvSpPr>
        <p:spPr bwMode="auto">
          <a:xfrm>
            <a:off x="2005264" y="2896708"/>
            <a:ext cx="875898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4800" b="1" i="0" u="none" strike="noStrike" kern="0" cap="none" spc="600" normalizeH="0" baseline="0" noProof="0" dirty="0">
                <a:ln>
                  <a:noFill/>
                </a:ln>
                <a:solidFill>
                  <a:schemeClr val="tx1">
                    <a:lumMod val="50000"/>
                    <a:lumOff val="50000"/>
                  </a:schemeClr>
                </a:solidFill>
                <a:effectLst/>
                <a:uLnTx/>
                <a:uFillTx/>
                <a:sym typeface="微软雅黑" panose="020B0503020204020204" pitchFamily="34" charset="-122"/>
              </a:rPr>
              <a:t>算法设计与分析</a:t>
            </a:r>
            <a:endParaRPr kumimoji="0" lang="zh-CN" altLang="en-US" sz="4800" b="1" i="0" u="none" strike="noStrike" kern="0" cap="none" spc="600" normalizeH="0" baseline="0" noProof="0" dirty="0">
              <a:ln>
                <a:noFill/>
              </a:ln>
              <a:solidFill>
                <a:schemeClr val="tx1">
                  <a:lumMod val="50000"/>
                  <a:lumOff val="50000"/>
                </a:schemeClr>
              </a:solidFill>
              <a:effectLst/>
              <a:uLnTx/>
              <a:uFillTx/>
              <a:sym typeface="微软雅黑" panose="020B0503020204020204" pitchFamily="34" charset="-122"/>
            </a:endParaRPr>
          </a:p>
        </p:txBody>
      </p:sp>
      <p:cxnSp>
        <p:nvCxnSpPr>
          <p:cNvPr id="99" name="直接连接符 98"/>
          <p:cNvCxnSpPr/>
          <p:nvPr/>
        </p:nvCxnSpPr>
        <p:spPr>
          <a:xfrm>
            <a:off x="2893169" y="3810898"/>
            <a:ext cx="6624736" cy="0"/>
          </a:xfrm>
          <a:prstGeom prst="line">
            <a:avLst/>
          </a:prstGeom>
          <a:noFill/>
          <a:ln w="19050" cap="flat" cmpd="sng" algn="ctr">
            <a:solidFill>
              <a:srgbClr val="202A36"/>
            </a:solidFill>
            <a:prstDash val="sysDash"/>
            <a:headEnd type="diamond" w="med" len="med"/>
            <a:tailEnd type="diamond" w="med" len="med"/>
          </a:ln>
          <a:effectLst/>
        </p:spPr>
      </p:cxnSp>
      <p:sp>
        <p:nvSpPr>
          <p:cNvPr id="100" name="TextBox 7"/>
          <p:cNvSpPr>
            <a:spLocks noChangeArrowheads="1"/>
          </p:cNvSpPr>
          <p:nvPr/>
        </p:nvSpPr>
        <p:spPr bwMode="auto">
          <a:xfrm>
            <a:off x="2893169" y="3899886"/>
            <a:ext cx="6768752"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300" normalizeH="0" baseline="0" noProof="0" dirty="0">
                <a:ln>
                  <a:noFill/>
                </a:ln>
                <a:solidFill>
                  <a:schemeClr val="tx1">
                    <a:lumMod val="50000"/>
                    <a:lumOff val="50000"/>
                  </a:schemeClr>
                </a:solidFill>
                <a:effectLst/>
                <a:uLnTx/>
                <a:uFillTx/>
              </a:rPr>
              <a:t>习题课 </a:t>
            </a:r>
            <a:r>
              <a:rPr kumimoji="0" lang="en-US" altLang="zh-CN" sz="2000" b="0" i="0" u="none" strike="noStrike" kern="0" cap="none" spc="300" normalizeH="0" baseline="0" noProof="0" dirty="0">
                <a:ln>
                  <a:noFill/>
                </a:ln>
                <a:solidFill>
                  <a:schemeClr val="tx1">
                    <a:lumMod val="50000"/>
                    <a:lumOff val="50000"/>
                  </a:schemeClr>
                </a:solidFill>
                <a:effectLst/>
                <a:uLnTx/>
                <a:uFillTx/>
              </a:rPr>
              <a:t>2026.3.9</a:t>
            </a:r>
            <a:r>
              <a:rPr kumimoji="0" lang="zh-CN" altLang="en-US" sz="2000" b="0" i="0" u="none" strike="noStrike" kern="0" cap="none" spc="300" normalizeH="0" baseline="0" noProof="0" dirty="0">
                <a:ln>
                  <a:noFill/>
                </a:ln>
                <a:solidFill>
                  <a:schemeClr val="tx1">
                    <a:lumMod val="50000"/>
                    <a:lumOff val="50000"/>
                  </a:schemeClr>
                </a:solidFill>
                <a:effectLst/>
                <a:uLnTx/>
                <a:uFillTx/>
              </a:rPr>
              <a:t>（补充习题）</a:t>
            </a:r>
            <a:endParaRPr kumimoji="0" lang="en-US" altLang="zh-CN" sz="2000" b="0" i="0" u="none" strike="noStrike" kern="0" cap="none" spc="300" normalizeH="0" baseline="0" noProof="0" dirty="0">
              <a:ln>
                <a:noFill/>
              </a:ln>
              <a:solidFill>
                <a:schemeClr val="tx1">
                  <a:lumMod val="50000"/>
                  <a:lumOff val="50000"/>
                </a:schemeClr>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300" normalizeH="0" baseline="0" noProof="0" dirty="0">
              <a:ln>
                <a:noFill/>
              </a:ln>
              <a:solidFill>
                <a:schemeClr val="tx1">
                  <a:lumMod val="50000"/>
                  <a:lumOff val="50000"/>
                </a:schemeClr>
              </a:solidFill>
              <a:effectLst/>
              <a:uLnTx/>
              <a:uFillTx/>
            </a:endParaRPr>
          </a:p>
        </p:txBody>
      </p:sp>
      <p:cxnSp>
        <p:nvCxnSpPr>
          <p:cNvPr id="101" name="直接连接符 100"/>
          <p:cNvCxnSpPr/>
          <p:nvPr/>
        </p:nvCxnSpPr>
        <p:spPr>
          <a:xfrm>
            <a:off x="2893169" y="4274668"/>
            <a:ext cx="6624736" cy="0"/>
          </a:xfrm>
          <a:prstGeom prst="line">
            <a:avLst/>
          </a:prstGeom>
          <a:noFill/>
          <a:ln w="19050" cap="flat" cmpd="sng" algn="ctr">
            <a:solidFill>
              <a:srgbClr val="202A36"/>
            </a:solidFill>
            <a:prstDash val="sysDash"/>
            <a:headEnd type="diamond" w="med" len="med"/>
            <a:tailEnd type="diamond" w="med" len="med"/>
          </a:ln>
          <a:effectLst/>
        </p:spPr>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withEffect">
                                  <p:stCondLst>
                                    <p:cond delay="500"/>
                                  </p:stCondLst>
                                  <p:iterate type="lt">
                                    <p:tmPct val="10000"/>
                                  </p:iterate>
                                  <p:childTnLst>
                                    <p:set>
                                      <p:cBhvr>
                                        <p:cTn id="6" dur="1" fill="hold">
                                          <p:stCondLst>
                                            <p:cond delay="0"/>
                                          </p:stCondLst>
                                        </p:cTn>
                                        <p:tgtEl>
                                          <p:spTgt spid="98"/>
                                        </p:tgtEl>
                                        <p:attrNameLst>
                                          <p:attrName>style.visibility</p:attrName>
                                        </p:attrNameLst>
                                      </p:cBhvr>
                                      <p:to>
                                        <p:strVal val="visible"/>
                                      </p:to>
                                    </p:set>
                                    <p:animScale>
                                      <p:cBhvr>
                                        <p:cTn id="7" dur="1000" decel="50000" fill="hold">
                                          <p:stCondLst>
                                            <p:cond delay="0"/>
                                          </p:stCondLst>
                                        </p:cTn>
                                        <p:tgtEl>
                                          <p:spTgt spid="9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98"/>
                                        </p:tgtEl>
                                        <p:attrNameLst>
                                          <p:attrName>ppt_x</p:attrName>
                                          <p:attrName>ppt_y</p:attrName>
                                        </p:attrNameLst>
                                      </p:cBhvr>
                                    </p:animMotion>
                                    <p:animEffect transition="in" filter="fade">
                                      <p:cBhvr>
                                        <p:cTn id="9" dur="1000"/>
                                        <p:tgtEl>
                                          <p:spTgt spid="98"/>
                                        </p:tgtEl>
                                      </p:cBhvr>
                                    </p:animEffect>
                                  </p:childTnLst>
                                </p:cTn>
                              </p:par>
                              <p:par>
                                <p:cTn id="10" presetID="22" presetClass="entr" presetSubtype="8" fill="hold" nodeType="withEffect">
                                  <p:stCondLst>
                                    <p:cond delay="1000"/>
                                  </p:stCondLst>
                                  <p:childTnLst>
                                    <p:set>
                                      <p:cBhvr>
                                        <p:cTn id="11" dur="1" fill="hold">
                                          <p:stCondLst>
                                            <p:cond delay="0"/>
                                          </p:stCondLst>
                                        </p:cTn>
                                        <p:tgtEl>
                                          <p:spTgt spid="99"/>
                                        </p:tgtEl>
                                        <p:attrNameLst>
                                          <p:attrName>style.visibility</p:attrName>
                                        </p:attrNameLst>
                                      </p:cBhvr>
                                      <p:to>
                                        <p:strVal val="visible"/>
                                      </p:to>
                                    </p:set>
                                    <p:animEffect transition="in" filter="wipe(left)">
                                      <p:cBhvr>
                                        <p:cTn id="12" dur="500"/>
                                        <p:tgtEl>
                                          <p:spTgt spid="99"/>
                                        </p:tgtEl>
                                      </p:cBhvr>
                                    </p:animEffect>
                                  </p:childTnLst>
                                </p:cTn>
                              </p:par>
                              <p:par>
                                <p:cTn id="13" presetID="22" presetClass="entr" presetSubtype="8" fill="hold" grpId="0" nodeType="withEffect">
                                  <p:stCondLst>
                                    <p:cond delay="1500"/>
                                  </p:stCondLst>
                                  <p:childTnLst>
                                    <p:set>
                                      <p:cBhvr>
                                        <p:cTn id="14" dur="1" fill="hold">
                                          <p:stCondLst>
                                            <p:cond delay="0"/>
                                          </p:stCondLst>
                                        </p:cTn>
                                        <p:tgtEl>
                                          <p:spTgt spid="100"/>
                                        </p:tgtEl>
                                        <p:attrNameLst>
                                          <p:attrName>style.visibility</p:attrName>
                                        </p:attrNameLst>
                                      </p:cBhvr>
                                      <p:to>
                                        <p:strVal val="visible"/>
                                      </p:to>
                                    </p:set>
                                    <p:animEffect transition="in" filter="wipe(left)">
                                      <p:cBhvr>
                                        <p:cTn id="15" dur="800"/>
                                        <p:tgtEl>
                                          <p:spTgt spid="100"/>
                                        </p:tgtEl>
                                      </p:cBhvr>
                                    </p:animEffect>
                                  </p:childTnLst>
                                </p:cTn>
                              </p:par>
                              <p:par>
                                <p:cTn id="16" presetID="22" presetClass="entr" presetSubtype="8" fill="hold" nodeType="withEffect">
                                  <p:stCondLst>
                                    <p:cond delay="1000"/>
                                  </p:stCondLst>
                                  <p:childTnLst>
                                    <p:set>
                                      <p:cBhvr>
                                        <p:cTn id="17" dur="1" fill="hold">
                                          <p:stCondLst>
                                            <p:cond delay="0"/>
                                          </p:stCondLst>
                                        </p:cTn>
                                        <p:tgtEl>
                                          <p:spTgt spid="101"/>
                                        </p:tgtEl>
                                        <p:attrNameLst>
                                          <p:attrName>style.visibility</p:attrName>
                                        </p:attrNameLst>
                                      </p:cBhvr>
                                      <p:to>
                                        <p:strVal val="visible"/>
                                      </p:to>
                                    </p:set>
                                    <p:animEffect transition="in" filter="wipe(left)">
                                      <p:cBhvr>
                                        <p:cTn id="18"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P spid="10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1473835" y="1905635"/>
            <a:ext cx="10005060" cy="4154984"/>
          </a:xfrm>
          <a:prstGeom prst="rect">
            <a:avLst/>
          </a:prstGeom>
          <a:noFill/>
        </p:spPr>
        <p:txBody>
          <a:bodyPr wrap="square" rtlCol="0" anchor="t">
            <a:spAutoFit/>
          </a:bodyPr>
          <a:lstStyle/>
          <a:p>
            <a:pPr marL="285750" indent="-285750">
              <a:buFont typeface="Arial" panose="020B0604020202020204" pitchFamily="34" charset="0"/>
              <a:buChar char="•"/>
            </a:pPr>
            <a:r>
              <a:rPr lang="en-US" altLang="zh-CN" sz="2400" dirty="0"/>
              <a:t>Tutorials for this course: biweekly Mondays, Periods 9-10.</a:t>
            </a:r>
            <a:endParaRPr lang="en-US" altLang="zh-CN" sz="2400" dirty="0"/>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r>
              <a:rPr lang="en-US" altLang="zh-CN" sz="2400" dirty="0"/>
              <a:t>Weekly course slides &amp; assignments will be posted on </a:t>
            </a:r>
            <a:r>
              <a:rPr lang="en-US" altLang="zh-CN" sz="2400" dirty="0" err="1"/>
              <a:t>elearning</a:t>
            </a:r>
            <a:r>
              <a:rPr lang="en-US" altLang="zh-CN" sz="2400" dirty="0"/>
              <a:t> (assignments post-lecture). Submission deadline: 23:59 on the Friday after each class.</a:t>
            </a:r>
            <a:endParaRPr lang="en-US" altLang="zh-CN" sz="2400" dirty="0"/>
          </a:p>
          <a:p>
            <a:pPr marL="285750" indent="-285750">
              <a:buFont typeface="Arial" panose="020B0604020202020204" pitchFamily="34" charset="0"/>
              <a:buChar char="•"/>
            </a:pPr>
            <a:endParaRPr lang="en-US" altLang="zh-CN" sz="2400" dirty="0">
              <a:sym typeface="+mn-ea"/>
            </a:endParaRPr>
          </a:p>
          <a:p>
            <a:pPr marL="285750" indent="-285750">
              <a:buFont typeface="Arial" panose="020B0604020202020204" pitchFamily="34" charset="0"/>
              <a:buChar char="•"/>
            </a:pPr>
            <a:r>
              <a:rPr lang="en-US" altLang="zh-CN" sz="2400" dirty="0"/>
              <a:t>Weeks 1&amp;2 assignments due: 23:59, March 20th.</a:t>
            </a:r>
            <a:endParaRPr lang="en-US" altLang="zh-CN" sz="2400" dirty="0"/>
          </a:p>
          <a:p>
            <a:pPr marL="285750" indent="-285750">
              <a:buFont typeface="Arial" panose="020B0604020202020204" pitchFamily="34" charset="0"/>
              <a:buChar char="•"/>
            </a:pPr>
            <a:endParaRPr lang="en-US" altLang="zh-CN" sz="2400" dirty="0"/>
          </a:p>
          <a:p>
            <a:pPr marL="285750" indent="-285750">
              <a:buFont typeface="Arial" panose="020B0604020202020204" pitchFamily="34" charset="0"/>
              <a:buChar char="•"/>
            </a:pPr>
            <a:r>
              <a:rPr lang="zh-CN" altLang="en-US" sz="2400" dirty="0">
                <a:sym typeface="+mn-ea"/>
              </a:rPr>
              <a:t>请同学们务必按时提交作业，如有特殊情况请提前邮件说明，作业补交请发送至我的邮箱（</a:t>
            </a:r>
            <a:r>
              <a:rPr lang="en-US" altLang="zh-CN" sz="2400" dirty="0">
                <a:sym typeface="+mn-ea"/>
              </a:rPr>
              <a:t>25213050005@m.fudan.edu.cn</a:t>
            </a:r>
            <a:r>
              <a:rPr lang="zh-CN" altLang="en-US" sz="2400" dirty="0">
                <a:sym typeface="+mn-ea"/>
              </a:rPr>
              <a:t>），作业名称标明补交的是第几次作业。</a:t>
            </a:r>
            <a:endParaRPr lang="zh-CN" altLang="en-US" sz="2400" dirty="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244475" y="66040"/>
            <a:ext cx="12104370" cy="768350"/>
          </a:xfrm>
          <a:prstGeom prst="rect">
            <a:avLst/>
          </a:prstGeom>
          <a:noFill/>
        </p:spPr>
        <p:txBody>
          <a:bodyPr wrap="square" rtlCol="0">
            <a:spAutoFit/>
          </a:bodyPr>
          <a:lstStyle>
            <a:defPPr>
              <a:defRPr lang="zh-CN"/>
            </a:defPPr>
            <a:lvl1pPr algn="just">
              <a:defRPr sz="5400">
                <a:latin typeface="Agency FB" panose="020B0503020202020204" pitchFamily="34" charset="0"/>
                <a:cs typeface="+mn-ea"/>
              </a:defRPr>
            </a:lvl1pPr>
          </a:lstStyle>
          <a:p>
            <a:r>
              <a:rPr lang="en-US" altLang="zh-CN" sz="4400" dirty="0">
                <a:sym typeface="+mn-lt"/>
              </a:rPr>
              <a:t>Question1: </a:t>
            </a:r>
            <a:r>
              <a:rPr lang="en-US" altLang="zh-CN" sz="4400" b="1" dirty="0"/>
              <a:t>Two Sum   </a:t>
            </a:r>
            <a:r>
              <a:rPr lang="zh-CN" altLang="en-US" sz="4400" b="1" dirty="0"/>
              <a:t>（两数之和）</a:t>
            </a:r>
            <a:r>
              <a:rPr lang="en-US" altLang="zh-CN" sz="4400" b="1" dirty="0"/>
              <a:t>Leetcode</a:t>
            </a:r>
            <a:r>
              <a:rPr lang="en-US" altLang="zh-CN" sz="4400" dirty="0">
                <a:sym typeface="+mn-lt"/>
              </a:rPr>
              <a:t> </a:t>
            </a:r>
            <a:endParaRPr lang="zh-CN" altLang="en-US" sz="4400" dirty="0">
              <a:sym typeface="+mn-lt"/>
            </a:endParaRPr>
          </a:p>
        </p:txBody>
      </p:sp>
      <p:sp>
        <p:nvSpPr>
          <p:cNvPr id="9" name="矩形 8"/>
          <p:cNvSpPr/>
          <p:nvPr/>
        </p:nvSpPr>
        <p:spPr>
          <a:xfrm>
            <a:off x="197" y="886387"/>
            <a:ext cx="11933358" cy="2245360"/>
          </a:xfrm>
          <a:prstGeom prst="rect">
            <a:avLst/>
          </a:prstGeom>
        </p:spPr>
        <p:txBody>
          <a:bodyPr wrap="square">
            <a:spAutoFit/>
          </a:bodyPr>
          <a:lstStyle/>
          <a:p>
            <a:pPr marL="285750" indent="-285750">
              <a:buFont typeface="Arial" panose="020B0604020202020204" pitchFamily="34" charset="0"/>
              <a:buChar char="•"/>
            </a:pPr>
            <a:r>
              <a:rPr lang="en-US" altLang="zh-CN" sz="2000" b="1" dirty="0">
                <a:latin typeface="微软雅黑" panose="020B0503020204020204" pitchFamily="34" charset="-122"/>
                <a:ea typeface="微软雅黑" panose="020B0503020204020204" pitchFamily="34" charset="-122"/>
              </a:rPr>
              <a:t>Description</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Given an array of integers, find two numbers such that they add up to a specific target number.</a:t>
            </a:r>
            <a:endParaRPr lang="en-US" altLang="zh-CN" sz="20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2000" b="1" dirty="0">
                <a:latin typeface="微软雅黑" panose="020B0503020204020204" pitchFamily="34" charset="-122"/>
                <a:ea typeface="微软雅黑" panose="020B0503020204020204" pitchFamily="34" charset="-122"/>
              </a:rPr>
              <a:t>Returned Value</a:t>
            </a:r>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The function twoSum should return indices of the two numbers such that they add up to the target, where index1 must be less than index2. Please note that your returned answers (both index1 and index2) are zero-based. </a:t>
            </a:r>
            <a:r>
              <a:rPr lang="en-US" altLang="zh-CN" sz="2000" dirty="0">
                <a:latin typeface="微软雅黑" panose="020B0503020204020204" pitchFamily="34" charset="-122"/>
                <a:ea typeface="微软雅黑" panose="020B0503020204020204" pitchFamily="34" charset="-122"/>
              </a:rPr>
              <a:t>(You may assume that each input would have exactly one solution)</a:t>
            </a:r>
            <a:endParaRPr lang="zh-CN" altLang="zh-CN" sz="2000" dirty="0">
              <a:latin typeface="微软雅黑" panose="020B0503020204020204" pitchFamily="34" charset="-122"/>
              <a:ea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endParaRPr>
          </a:p>
        </p:txBody>
      </p:sp>
      <p:sp>
        <p:nvSpPr>
          <p:cNvPr id="13" name="矩形 12"/>
          <p:cNvSpPr/>
          <p:nvPr/>
        </p:nvSpPr>
        <p:spPr>
          <a:xfrm>
            <a:off x="258253" y="3133535"/>
            <a:ext cx="4442460" cy="922020"/>
          </a:xfrm>
          <a:prstGeom prst="rect">
            <a:avLst/>
          </a:prstGeom>
        </p:spPr>
        <p:txBody>
          <a:bodyPr wrap="none">
            <a:spAutoFit/>
          </a:bodyPr>
          <a:lstStyle/>
          <a:p>
            <a:r>
              <a:rPr lang="en-US" altLang="zh-CN" b="1" dirty="0">
                <a:latin typeface="微软雅黑" panose="020B0503020204020204" pitchFamily="34" charset="-122"/>
                <a:ea typeface="微软雅黑" panose="020B0503020204020204" pitchFamily="34" charset="-122"/>
              </a:rPr>
              <a:t>Example 1:</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Input: numbers = [2,7,11,15] target = 9</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Output: [0,1]</a:t>
            </a:r>
            <a:endParaRPr lang="zh-CN" altLang="en-US" dirty="0">
              <a:latin typeface="微软雅黑" panose="020B0503020204020204" pitchFamily="34" charset="-122"/>
              <a:ea typeface="微软雅黑" panose="020B0503020204020204" pitchFamily="34" charset="-122"/>
            </a:endParaRPr>
          </a:p>
        </p:txBody>
      </p:sp>
      <p:sp>
        <p:nvSpPr>
          <p:cNvPr id="16" name="矩形 15"/>
          <p:cNvSpPr/>
          <p:nvPr/>
        </p:nvSpPr>
        <p:spPr>
          <a:xfrm>
            <a:off x="244283" y="4206090"/>
            <a:ext cx="4442460" cy="922020"/>
          </a:xfrm>
          <a:prstGeom prst="rect">
            <a:avLst/>
          </a:prstGeom>
        </p:spPr>
        <p:txBody>
          <a:bodyPr wrap="none">
            <a:spAutoFit/>
          </a:bodyPr>
          <a:lstStyle/>
          <a:p>
            <a:r>
              <a:rPr lang="en-US" altLang="zh-CN" b="1" dirty="0">
                <a:latin typeface="微软雅黑" panose="020B0503020204020204" pitchFamily="34" charset="-122"/>
                <a:ea typeface="微软雅黑" panose="020B0503020204020204" pitchFamily="34" charset="-122"/>
              </a:rPr>
              <a:t>Example 2:</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Input: numbers = [15,2,7,11] target = 9</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Output: [1,2]</a:t>
            </a:r>
            <a:endParaRPr lang="zh-CN" altLang="en-US" dirty="0">
              <a:latin typeface="微软雅黑" panose="020B0503020204020204" pitchFamily="34" charset="-122"/>
              <a:ea typeface="微软雅黑" panose="020B0503020204020204" pitchFamily="34" charset="-122"/>
            </a:endParaRPr>
          </a:p>
        </p:txBody>
      </p:sp>
      <p:sp>
        <p:nvSpPr>
          <p:cNvPr id="18" name="矩形 17"/>
          <p:cNvSpPr/>
          <p:nvPr/>
        </p:nvSpPr>
        <p:spPr>
          <a:xfrm>
            <a:off x="258253" y="5400967"/>
            <a:ext cx="5381625" cy="922020"/>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Either of the following solutions are acceptable:</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pt-BR" altLang="zh-CN" dirty="0">
                <a:latin typeface="微软雅黑" panose="020B0503020204020204" pitchFamily="34" charset="-122"/>
                <a:ea typeface="微软雅黑" panose="020B0503020204020204" pitchFamily="34" charset="-122"/>
              </a:rPr>
              <a:t>O(n) Space, O(nlogn) Time</a:t>
            </a:r>
            <a:endParaRPr lang="pt-BR"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pt-BR" altLang="zh-CN" dirty="0">
                <a:latin typeface="微软雅黑" panose="020B0503020204020204" pitchFamily="34" charset="-122"/>
                <a:ea typeface="微软雅黑" panose="020B0503020204020204" pitchFamily="34" charset="-122"/>
              </a:rPr>
              <a:t>O(n) Space, O(n) Time</a:t>
            </a:r>
            <a:endParaRPr lang="pt-BR"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6860" y="182245"/>
            <a:ext cx="10515600" cy="1325563"/>
          </a:xfrm>
        </p:spPr>
        <p:txBody>
          <a:bodyPr/>
          <a:lstStyle/>
          <a:p>
            <a:r>
              <a:rPr lang="zh-CN" altLang="en-US"/>
              <a:t>暴力枚举</a:t>
            </a:r>
            <a:endParaRPr lang="zh-CN" altLang="en-US"/>
          </a:p>
        </p:txBody>
      </p:sp>
      <p:sp>
        <p:nvSpPr>
          <p:cNvPr id="3" name="内容占位符 2"/>
          <p:cNvSpPr>
            <a:spLocks noGrp="1"/>
          </p:cNvSpPr>
          <p:nvPr>
            <p:ph idx="1"/>
          </p:nvPr>
        </p:nvSpPr>
        <p:spPr>
          <a:xfrm>
            <a:off x="350520" y="1264285"/>
            <a:ext cx="10515600" cy="800100"/>
          </a:xfrm>
        </p:spPr>
        <p:txBody>
          <a:bodyPr>
            <a:normAutofit fontScale="85000" lnSpcReduction="20000"/>
          </a:bodyPr>
          <a:lstStyle/>
          <a:p>
            <a:r>
              <a:rPr lang="zh-CN" altLang="en-US"/>
              <a:t>暴力的解法是两层for循环查找，</a:t>
            </a:r>
            <a:r>
              <a:rPr lang="zh-CN" altLang="en-US" b="1"/>
              <a:t>时间复杂度是O(n^2)。空间复杂度：O(1)</a:t>
            </a:r>
            <a:endParaRPr lang="zh-CN" altLang="en-US" b="1"/>
          </a:p>
          <a:p>
            <a:r>
              <a:rPr lang="zh-CN" altLang="en-US"/>
              <a:t>枚举数组中的每一个数 x，寻找数组中是否存在 target - x</a:t>
            </a:r>
            <a:endParaRPr lang="zh-CN" altLang="en-US"/>
          </a:p>
        </p:txBody>
      </p:sp>
      <p:pic>
        <p:nvPicPr>
          <p:cNvPr id="6" name="图片 5"/>
          <p:cNvPicPr>
            <a:picLocks noChangeAspect="1"/>
          </p:cNvPicPr>
          <p:nvPr>
            <p:custDataLst>
              <p:tags r:id="rId1"/>
            </p:custDataLst>
          </p:nvPr>
        </p:nvPicPr>
        <p:blipFill>
          <a:blip r:embed="rId2"/>
          <a:stretch>
            <a:fillRect/>
          </a:stretch>
        </p:blipFill>
        <p:spPr>
          <a:xfrm>
            <a:off x="495300" y="2514600"/>
            <a:ext cx="5514975" cy="4076700"/>
          </a:xfrm>
          <a:prstGeom prst="rect">
            <a:avLst/>
          </a:prstGeom>
        </p:spPr>
      </p:pic>
      <p:sp>
        <p:nvSpPr>
          <p:cNvPr id="13" name="矩形 12"/>
          <p:cNvSpPr/>
          <p:nvPr>
            <p:custDataLst>
              <p:tags r:id="rId3"/>
            </p:custDataLst>
          </p:nvPr>
        </p:nvSpPr>
        <p:spPr>
          <a:xfrm>
            <a:off x="6349808" y="2669985"/>
            <a:ext cx="4442460" cy="922020"/>
          </a:xfrm>
          <a:prstGeom prst="rect">
            <a:avLst/>
          </a:prstGeom>
        </p:spPr>
        <p:txBody>
          <a:bodyPr wrap="none">
            <a:spAutoFit/>
          </a:bodyPr>
          <a:lstStyle/>
          <a:p>
            <a:r>
              <a:rPr lang="en-US" altLang="zh-CN" b="1" dirty="0">
                <a:latin typeface="微软雅黑" panose="020B0503020204020204" pitchFamily="34" charset="-122"/>
                <a:ea typeface="微软雅黑" panose="020B0503020204020204" pitchFamily="34" charset="-122"/>
              </a:rPr>
              <a:t>Example 1:</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Input: numbers = [2,7,11,15] target = 9</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Output: [0,1]</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1950" y="218440"/>
            <a:ext cx="10515600" cy="1325563"/>
          </a:xfrm>
        </p:spPr>
        <p:txBody>
          <a:bodyPr/>
          <a:lstStyle/>
          <a:p>
            <a:r>
              <a:rPr lang="zh-CN" altLang="en-US"/>
              <a:t>哈希表</a:t>
            </a:r>
            <a:r>
              <a:rPr lang="en-US" altLang="zh-CN"/>
              <a:t>  </a:t>
            </a:r>
            <a:endParaRPr lang="zh-CN" altLang="en-US"/>
          </a:p>
        </p:txBody>
      </p:sp>
      <p:sp>
        <p:nvSpPr>
          <p:cNvPr id="5" name="文本框 4"/>
          <p:cNvSpPr txBox="1"/>
          <p:nvPr/>
        </p:nvSpPr>
        <p:spPr>
          <a:xfrm>
            <a:off x="480060" y="1300480"/>
            <a:ext cx="10739120" cy="521970"/>
          </a:xfrm>
          <a:prstGeom prst="rect">
            <a:avLst/>
          </a:prstGeom>
          <a:noFill/>
        </p:spPr>
        <p:txBody>
          <a:bodyPr wrap="square" rtlCol="0">
            <a:spAutoFit/>
          </a:bodyPr>
          <a:lstStyle/>
          <a:p>
            <a:r>
              <a:rPr lang="zh-CN" altLang="en-US" sz="2800"/>
              <a:t> </a:t>
            </a:r>
            <a:endParaRPr lang="zh-CN" altLang="en-US" sz="2800"/>
          </a:p>
        </p:txBody>
      </p:sp>
      <p:sp>
        <p:nvSpPr>
          <p:cNvPr id="6" name="内容占位符 5"/>
          <p:cNvSpPr>
            <a:spLocks noGrp="1"/>
          </p:cNvSpPr>
          <p:nvPr>
            <p:ph idx="1"/>
          </p:nvPr>
        </p:nvSpPr>
        <p:spPr>
          <a:xfrm>
            <a:off x="288925" y="1822450"/>
            <a:ext cx="10515600" cy="4351338"/>
          </a:xfrm>
        </p:spPr>
        <p:txBody>
          <a:bodyPr/>
          <a:lstStyle/>
          <a:p>
            <a:r>
              <a:rPr lang="zh-CN" altLang="en-US"/>
              <a:t>哈希表是根据关键码的值而直接进行访问的数据结构。</a:t>
            </a:r>
            <a:endParaRPr lang="zh-CN" altLang="en-US"/>
          </a:p>
          <a:p>
            <a:r>
              <a:rPr lang="zh-CN" altLang="en-US" b="1">
                <a:sym typeface="+mn-ea"/>
              </a:rPr>
              <a:t>通过下标直接访问数组中的元素</a:t>
            </a:r>
            <a:endParaRPr lang="zh-CN" altLang="en-US" b="1"/>
          </a:p>
          <a:p>
            <a:endParaRPr lang="zh-CN" altLang="en-US"/>
          </a:p>
          <a:p>
            <a:r>
              <a:rPr lang="zh-CN" altLang="en-US" b="1">
                <a:sym typeface="+mn-ea"/>
              </a:rPr>
              <a:t>例如要查询一个名字是否在这所学校里。</a:t>
            </a:r>
            <a:endParaRPr lang="zh-CN" altLang="en-US" b="1"/>
          </a:p>
          <a:p>
            <a:r>
              <a:rPr lang="zh-CN" altLang="en-US" b="1">
                <a:sym typeface="+mn-ea"/>
              </a:rPr>
              <a:t>要枚举的话时间复杂度是O(n)，但如果使用哈希表的话， 只需要O(1)就可以做到。</a:t>
            </a:r>
            <a:endParaRPr lang="zh-CN" altLang="en-US" b="1"/>
          </a:p>
          <a:p>
            <a:r>
              <a:rPr lang="en-US" altLang="zh-CN"/>
              <a:t>H(“</a:t>
            </a:r>
            <a:r>
              <a:rPr lang="zh-CN" altLang="en-US"/>
              <a:t>张三</a:t>
            </a:r>
            <a:r>
              <a:rPr lang="en-US" altLang="zh-CN"/>
              <a:t>”) =  2</a:t>
            </a:r>
            <a:endParaRPr lang="en-US" altLang="zh-CN"/>
          </a:p>
        </p:txBody>
      </p:sp>
      <p:pic>
        <p:nvPicPr>
          <p:cNvPr id="7" name="图片 6"/>
          <p:cNvPicPr>
            <a:picLocks noChangeAspect="1"/>
          </p:cNvPicPr>
          <p:nvPr>
            <p:custDataLst>
              <p:tags r:id="rId1"/>
            </p:custDataLst>
          </p:nvPr>
        </p:nvPicPr>
        <p:blipFill>
          <a:blip r:embed="rId2"/>
          <a:stretch>
            <a:fillRect/>
          </a:stretch>
        </p:blipFill>
        <p:spPr>
          <a:xfrm>
            <a:off x="7303770" y="218440"/>
            <a:ext cx="4888230" cy="15506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82245"/>
            <a:ext cx="10515600" cy="1325563"/>
          </a:xfrm>
        </p:spPr>
        <p:txBody>
          <a:bodyPr/>
          <a:lstStyle/>
          <a:p>
            <a:r>
              <a:rPr lang="zh-CN" altLang="en-US" dirty="0">
                <a:sym typeface="+mn-ea"/>
              </a:rPr>
              <a:t>哈希表（Hash table）</a:t>
            </a:r>
            <a:endParaRPr lang="zh-CN" altLang="en-US" dirty="0">
              <a:sym typeface="+mn-ea"/>
            </a:endParaRPr>
          </a:p>
        </p:txBody>
      </p:sp>
      <p:sp>
        <p:nvSpPr>
          <p:cNvPr id="3" name="内容占位符 2"/>
          <p:cNvSpPr>
            <a:spLocks noGrp="1"/>
          </p:cNvSpPr>
          <p:nvPr>
            <p:ph idx="1"/>
          </p:nvPr>
        </p:nvSpPr>
        <p:spPr>
          <a:xfrm>
            <a:off x="765175" y="1253490"/>
            <a:ext cx="10954385" cy="3949065"/>
          </a:xfrm>
        </p:spPr>
        <p:txBody>
          <a:bodyPr>
            <a:normAutofit fontScale="92500" lnSpcReduction="20000"/>
          </a:bodyPr>
          <a:lstStyle/>
          <a:p>
            <a:pPr marL="0" indent="0">
              <a:buNone/>
            </a:pPr>
            <a:r>
              <a:rPr lang="zh-CN" altLang="en-US" dirty="0">
                <a:sym typeface="+mn-ea"/>
              </a:rPr>
              <a:t>什么时候使用</a:t>
            </a:r>
            <a:r>
              <a:rPr lang="zh-CN" altLang="en-US" b="1" dirty="0">
                <a:sym typeface="+mn-ea"/>
              </a:rPr>
              <a:t>哈希法（用来快速判断一个元素是否出现集合里）</a:t>
            </a:r>
            <a:endParaRPr lang="zh-CN" altLang="en-US" dirty="0"/>
          </a:p>
          <a:p>
            <a:pPr marL="0" indent="0">
              <a:buNone/>
            </a:pPr>
            <a:r>
              <a:rPr lang="zh-CN" altLang="en-US" dirty="0">
                <a:sym typeface="+mn-ea"/>
              </a:rPr>
              <a:t>当我们需要查询一个元素是否</a:t>
            </a:r>
            <a:r>
              <a:rPr lang="zh-CN" altLang="en-US" b="1" dirty="0">
                <a:sym typeface="+mn-ea"/>
              </a:rPr>
              <a:t>出现</a:t>
            </a:r>
            <a:r>
              <a:rPr lang="zh-CN" altLang="en-US" dirty="0">
                <a:sym typeface="+mn-ea"/>
              </a:rPr>
              <a:t>过，或者一个元素是否</a:t>
            </a:r>
            <a:r>
              <a:rPr lang="zh-CN" altLang="en-US" b="1" dirty="0">
                <a:sym typeface="+mn-ea"/>
              </a:rPr>
              <a:t>在</a:t>
            </a:r>
            <a:r>
              <a:rPr lang="zh-CN" altLang="en-US" dirty="0">
                <a:sym typeface="+mn-ea"/>
              </a:rPr>
              <a:t>集合里的时候，就要第一时间想到哈希法。</a:t>
            </a:r>
            <a:endParaRPr lang="zh-CN" altLang="en-US" dirty="0"/>
          </a:p>
          <a:p>
            <a:pPr marL="0" indent="0">
              <a:buNone/>
            </a:pPr>
            <a:endParaRPr lang="zh-CN" altLang="en-US" dirty="0"/>
          </a:p>
          <a:p>
            <a:pPr marL="0" indent="0">
              <a:buNone/>
            </a:pPr>
            <a:r>
              <a:rPr lang="zh-CN" altLang="en-US" dirty="0"/>
              <a:t>本题</a:t>
            </a:r>
            <a:endParaRPr lang="zh-CN" altLang="en-US" dirty="0"/>
          </a:p>
          <a:p>
            <a:pPr marL="0" indent="0">
              <a:buNone/>
            </a:pPr>
            <a:r>
              <a:rPr lang="zh-CN" altLang="en-US" dirty="0"/>
              <a:t>需要判断一个元素是否遍历过。</a:t>
            </a:r>
            <a:endParaRPr lang="zh-CN" altLang="en-US" dirty="0"/>
          </a:p>
          <a:p>
            <a:pPr marL="0" indent="0">
              <a:buNone/>
            </a:pPr>
            <a:endParaRPr lang="zh-CN" altLang="en-US" b="1" dirty="0"/>
          </a:p>
          <a:p>
            <a:pPr marL="0" indent="0">
              <a:buNone/>
            </a:pPr>
            <a:r>
              <a:rPr lang="zh-CN" altLang="en-US" b="1" dirty="0"/>
              <a:t>如何判断是否遍历过</a:t>
            </a:r>
            <a:r>
              <a:rPr lang="en-US" altLang="zh-CN" dirty="0"/>
              <a:t>==</a:t>
            </a:r>
            <a:r>
              <a:rPr lang="zh-CN" altLang="en-US" dirty="0"/>
              <a:t>把遍历过的元素</a:t>
            </a:r>
            <a:r>
              <a:rPr lang="zh-CN" altLang="en-US" b="1" dirty="0"/>
              <a:t>加载到</a:t>
            </a:r>
            <a:r>
              <a:rPr lang="zh-CN" altLang="en-US" dirty="0"/>
              <a:t>一个</a:t>
            </a:r>
            <a:r>
              <a:rPr lang="zh-CN" altLang="en-US" b="1" dirty="0"/>
              <a:t>集合</a:t>
            </a:r>
            <a:r>
              <a:rPr lang="zh-CN" altLang="en-US" dirty="0"/>
              <a:t>里面，然后每次遍历一个</a:t>
            </a:r>
            <a:r>
              <a:rPr lang="en-US" altLang="zh-CN" dirty="0"/>
              <a:t>new</a:t>
            </a:r>
            <a:r>
              <a:rPr lang="zh-CN" altLang="en-US" dirty="0"/>
              <a:t>的位置之后。我们就判断我们需要寻找的这个元素是否在这个集合里面出现过</a:t>
            </a:r>
            <a:endParaRPr lang="zh-CN" altLang="en-US" dirty="0"/>
          </a:p>
          <a:p>
            <a:pPr marL="0" indent="0">
              <a:buNone/>
            </a:pPr>
            <a:endParaRPr lang="zh-CN" altLang="en-US" dirty="0"/>
          </a:p>
          <a:p>
            <a:pPr marL="0" indent="0">
              <a:buNone/>
            </a:pPr>
            <a:endParaRPr lang="zh-CN" altLang="en-US" dirty="0"/>
          </a:p>
        </p:txBody>
      </p:sp>
      <p:sp>
        <p:nvSpPr>
          <p:cNvPr id="13" name="矩形 12"/>
          <p:cNvSpPr/>
          <p:nvPr>
            <p:custDataLst>
              <p:tags r:id="rId1"/>
            </p:custDataLst>
          </p:nvPr>
        </p:nvSpPr>
        <p:spPr>
          <a:xfrm>
            <a:off x="6423468" y="2506790"/>
            <a:ext cx="4442460" cy="922020"/>
          </a:xfrm>
          <a:prstGeom prst="rect">
            <a:avLst/>
          </a:prstGeom>
        </p:spPr>
        <p:txBody>
          <a:bodyPr wrap="none">
            <a:spAutoFit/>
          </a:bodyPr>
          <a:lstStyle/>
          <a:p>
            <a:pPr algn="l"/>
            <a:r>
              <a:rPr lang="en-US" altLang="zh-CN" b="1" dirty="0">
                <a:latin typeface="微软雅黑" panose="020B0503020204020204" pitchFamily="34" charset="-122"/>
                <a:ea typeface="微软雅黑" panose="020B0503020204020204" pitchFamily="34" charset="-122"/>
                <a:sym typeface="+mn-ea"/>
              </a:rPr>
              <a:t>Example 2:</a:t>
            </a:r>
            <a:endParaRPr lang="en-US" altLang="zh-CN" dirty="0">
              <a:latin typeface="微软雅黑" panose="020B0503020204020204" pitchFamily="34" charset="-122"/>
              <a:ea typeface="微软雅黑" panose="020B0503020204020204" pitchFamily="34" charset="-122"/>
            </a:endParaRPr>
          </a:p>
          <a:p>
            <a:pPr algn="l"/>
            <a:r>
              <a:rPr lang="en-US" altLang="zh-CN" dirty="0">
                <a:latin typeface="微软雅黑" panose="020B0503020204020204" pitchFamily="34" charset="-122"/>
                <a:ea typeface="微软雅黑" panose="020B0503020204020204" pitchFamily="34" charset="-122"/>
                <a:sym typeface="+mn-ea"/>
              </a:rPr>
              <a:t>Input: numbers = [15,2,7,11] target = 9</a:t>
            </a:r>
            <a:endParaRPr lang="zh-CN" altLang="en-US" dirty="0">
              <a:latin typeface="微软雅黑" panose="020B0503020204020204" pitchFamily="34" charset="-122"/>
              <a:ea typeface="微软雅黑" panose="020B0503020204020204" pitchFamily="34" charset="-122"/>
            </a:endParaRPr>
          </a:p>
          <a:p>
            <a:pPr algn="l"/>
            <a:r>
              <a:rPr lang="en-US" altLang="zh-CN" dirty="0">
                <a:latin typeface="微软雅黑" panose="020B0503020204020204" pitchFamily="34" charset="-122"/>
                <a:ea typeface="微软雅黑" panose="020B0503020204020204" pitchFamily="34" charset="-122"/>
                <a:sym typeface="+mn-ea"/>
              </a:rPr>
              <a:t>Output: [1,2]</a:t>
            </a:r>
            <a:endParaRPr lang="zh-CN" altLang="en-US" dirty="0">
              <a:latin typeface="微软雅黑" panose="020B0503020204020204" pitchFamily="34" charset="-122"/>
              <a:ea typeface="微软雅黑" panose="020B0503020204020204" pitchFamily="34" charset="-122"/>
            </a:endParaRPr>
          </a:p>
        </p:txBody>
      </p:sp>
      <p:sp>
        <p:nvSpPr>
          <p:cNvPr id="4" name="文本框 3"/>
          <p:cNvSpPr txBox="1"/>
          <p:nvPr/>
        </p:nvSpPr>
        <p:spPr>
          <a:xfrm>
            <a:off x="765175" y="5604510"/>
            <a:ext cx="10305415" cy="1660525"/>
          </a:xfrm>
          <a:prstGeom prst="rect">
            <a:avLst/>
          </a:prstGeom>
          <a:noFill/>
        </p:spPr>
        <p:txBody>
          <a:bodyPr wrap="square" rtlCol="0">
            <a:spAutoFit/>
          </a:bodyPr>
          <a:lstStyle/>
          <a:p>
            <a:r>
              <a:rPr lang="zh-CN" altLang="en-US" sz="2800" dirty="0">
                <a:sym typeface="+mn-ea"/>
              </a:rPr>
              <a:t>因为本题，我们不仅要知道元素有没有遍历过，还要知道这个元素对应的</a:t>
            </a:r>
            <a:r>
              <a:rPr lang="zh-CN" altLang="en-US" sz="2800" b="1" dirty="0">
                <a:sym typeface="+mn-ea"/>
              </a:rPr>
              <a:t>下标</a:t>
            </a:r>
            <a:r>
              <a:rPr lang="zh-CN" altLang="en-US" sz="2800" dirty="0">
                <a:sym typeface="+mn-ea"/>
              </a:rPr>
              <a:t>，需要使用</a:t>
            </a:r>
            <a:r>
              <a:rPr lang="zh-CN" altLang="en-US" sz="2800" b="1" dirty="0">
                <a:sym typeface="+mn-ea"/>
              </a:rPr>
              <a:t> key value结构来存放</a:t>
            </a:r>
            <a:r>
              <a:rPr lang="zh-CN" altLang="en-US" sz="2800" dirty="0">
                <a:sym typeface="+mn-ea"/>
              </a:rPr>
              <a:t>，key来存元素，value来存下标，那么使用map正合适。</a:t>
            </a:r>
            <a:endParaRPr lang="zh-CN" altLang="en-US" sz="2800" dirty="0"/>
          </a:p>
          <a:p>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1950" y="218440"/>
            <a:ext cx="10515600" cy="1325563"/>
          </a:xfrm>
        </p:spPr>
        <p:txBody>
          <a:bodyPr/>
          <a:lstStyle/>
          <a:p>
            <a:r>
              <a:rPr lang="zh-CN" altLang="en-US"/>
              <a:t>用哪种结构存放</a:t>
            </a:r>
            <a:endParaRPr lang="zh-CN" altLang="en-US"/>
          </a:p>
        </p:txBody>
      </p:sp>
      <p:pic>
        <p:nvPicPr>
          <p:cNvPr id="4" name="内容占位符 3"/>
          <p:cNvPicPr>
            <a:picLocks noGrp="1" noChangeAspect="1"/>
          </p:cNvPicPr>
          <p:nvPr>
            <p:ph idx="1"/>
            <p:custDataLst>
              <p:tags r:id="rId1"/>
            </p:custDataLst>
          </p:nvPr>
        </p:nvPicPr>
        <p:blipFill>
          <a:blip r:embed="rId2"/>
          <a:stretch>
            <a:fillRect/>
          </a:stretch>
        </p:blipFill>
        <p:spPr>
          <a:xfrm>
            <a:off x="480060" y="3575050"/>
            <a:ext cx="10515600" cy="2734310"/>
          </a:xfrm>
          <a:prstGeom prst="rect">
            <a:avLst/>
          </a:prstGeom>
        </p:spPr>
      </p:pic>
      <p:sp>
        <p:nvSpPr>
          <p:cNvPr id="5" name="文本框 4"/>
          <p:cNvSpPr txBox="1"/>
          <p:nvPr/>
        </p:nvSpPr>
        <p:spPr>
          <a:xfrm>
            <a:off x="480060" y="1300480"/>
            <a:ext cx="10739120" cy="2676525"/>
          </a:xfrm>
          <a:prstGeom prst="rect">
            <a:avLst/>
          </a:prstGeom>
          <a:noFill/>
        </p:spPr>
        <p:txBody>
          <a:bodyPr wrap="square" rtlCol="0">
            <a:spAutoFit/>
          </a:bodyPr>
          <a:lstStyle/>
          <a:p>
            <a:r>
              <a:rPr lang="zh-CN" altLang="en-US" sz="2800"/>
              <a:t>数组：</a:t>
            </a:r>
            <a:r>
              <a:rPr lang="zh-CN" altLang="en-US" sz="2800">
                <a:sym typeface="+mn-ea"/>
              </a:rPr>
              <a:t>大小是受限制的，而且如果元素很少，而哈希值太大会造成内存空间的浪费</a:t>
            </a:r>
            <a:endParaRPr lang="zh-CN" altLang="en-US" sz="2800"/>
          </a:p>
          <a:p>
            <a:r>
              <a:rPr lang="zh-CN" altLang="en-US" sz="2800"/>
              <a:t>set：</a:t>
            </a:r>
            <a:r>
              <a:rPr lang="zh-CN" altLang="en-US" sz="2800">
                <a:sym typeface="+mn-ea"/>
              </a:rPr>
              <a:t>集合，里面放的元素只能是一个key</a:t>
            </a:r>
            <a:endParaRPr lang="zh-CN" altLang="en-US" sz="2800"/>
          </a:p>
          <a:p>
            <a:r>
              <a:rPr lang="zh-CN" altLang="en-US" sz="2800"/>
              <a:t>map ：</a:t>
            </a:r>
            <a:r>
              <a:rPr lang="zh-CN" altLang="en-US" sz="2800">
                <a:sym typeface="+mn-ea"/>
              </a:rPr>
              <a:t>map是一种key value的存储结构，</a:t>
            </a:r>
            <a:r>
              <a:rPr lang="zh-CN" altLang="en-US" sz="2800" b="1">
                <a:sym typeface="+mn-ea"/>
              </a:rPr>
              <a:t>可以用key保存数值，用value再保存数值所在的下标。</a:t>
            </a:r>
            <a:endParaRPr lang="zh-CN" altLang="en-US" sz="2800" b="1"/>
          </a:p>
          <a:p>
            <a:endParaRPr lang="zh-CN" altLang="en-US" sz="28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3255" y="288290"/>
            <a:ext cx="10515600" cy="4351338"/>
          </a:xfrm>
        </p:spPr>
        <p:txBody>
          <a:bodyPr/>
          <a:lstStyle/>
          <a:p>
            <a:r>
              <a:rPr lang="zh-CN" altLang="en-US"/>
              <a:t>map目的用来存放我们访问过的元素</a:t>
            </a:r>
            <a:endParaRPr lang="zh-CN" altLang="en-US"/>
          </a:p>
          <a:p>
            <a:r>
              <a:rPr lang="zh-CN" altLang="en-US"/>
              <a:t>map中key和value，来记录我们之前遍历过的元素和对应的下标，</a:t>
            </a:r>
            <a:endParaRPr lang="zh-CN" altLang="en-US"/>
          </a:p>
          <a:p>
            <a:r>
              <a:rPr lang="zh-CN" altLang="en-US">
                <a:sym typeface="+mn-ea"/>
              </a:rPr>
              <a:t>map中的存储结构为 {key：数据元素，value：数组元素对应的下标}</a:t>
            </a:r>
            <a:endParaRPr lang="zh-CN" altLang="en-US"/>
          </a:p>
          <a:p>
            <a:endParaRPr lang="zh-CN" altLang="en-US"/>
          </a:p>
        </p:txBody>
      </p:sp>
      <p:pic>
        <p:nvPicPr>
          <p:cNvPr id="5" name="图片 4"/>
          <p:cNvPicPr>
            <a:picLocks noChangeAspect="1"/>
          </p:cNvPicPr>
          <p:nvPr>
            <p:custDataLst>
              <p:tags r:id="rId1"/>
            </p:custDataLst>
          </p:nvPr>
        </p:nvPicPr>
        <p:blipFill>
          <a:blip r:embed="rId2"/>
          <a:stretch>
            <a:fillRect/>
          </a:stretch>
        </p:blipFill>
        <p:spPr>
          <a:xfrm>
            <a:off x="240665" y="2460625"/>
            <a:ext cx="5197475" cy="2916555"/>
          </a:xfrm>
          <a:prstGeom prst="rect">
            <a:avLst/>
          </a:prstGeom>
        </p:spPr>
      </p:pic>
      <p:pic>
        <p:nvPicPr>
          <p:cNvPr id="6" name="图片 5"/>
          <p:cNvPicPr>
            <a:picLocks noChangeAspect="1"/>
          </p:cNvPicPr>
          <p:nvPr>
            <p:custDataLst>
              <p:tags r:id="rId3"/>
            </p:custDataLst>
          </p:nvPr>
        </p:nvPicPr>
        <p:blipFill>
          <a:blip r:embed="rId4"/>
          <a:stretch>
            <a:fillRect/>
          </a:stretch>
        </p:blipFill>
        <p:spPr>
          <a:xfrm>
            <a:off x="5755005" y="2322830"/>
            <a:ext cx="5781675" cy="3192780"/>
          </a:xfrm>
          <a:prstGeom prst="rect">
            <a:avLst/>
          </a:prstGeom>
        </p:spPr>
      </p:pic>
      <p:sp>
        <p:nvSpPr>
          <p:cNvPr id="7" name="文本框 6"/>
          <p:cNvSpPr txBox="1"/>
          <p:nvPr/>
        </p:nvSpPr>
        <p:spPr>
          <a:xfrm>
            <a:off x="761365" y="5880735"/>
            <a:ext cx="6906895" cy="521970"/>
          </a:xfrm>
          <a:prstGeom prst="rect">
            <a:avLst/>
          </a:prstGeom>
          <a:noFill/>
        </p:spPr>
        <p:txBody>
          <a:bodyPr wrap="square" rtlCol="0">
            <a:spAutoFit/>
          </a:bodyPr>
          <a:lstStyle/>
          <a:p>
            <a:r>
              <a:rPr lang="zh-CN" altLang="en-US" sz="2800"/>
              <a:t>根据这个逻辑来写一下对应的伪代码</a:t>
            </a:r>
            <a:endParaRPr lang="zh-CN" altLang="en-US" sz="2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8644" y="66146"/>
            <a:ext cx="5535242" cy="923330"/>
          </a:xfrm>
          <a:prstGeom prst="rect">
            <a:avLst/>
          </a:prstGeom>
          <a:noFill/>
        </p:spPr>
        <p:txBody>
          <a:bodyPr wrap="square" rtlCol="0">
            <a:spAutoFit/>
          </a:bodyPr>
          <a:lstStyle>
            <a:defPPr>
              <a:defRPr lang="zh-CN"/>
            </a:defPPr>
            <a:lvl1pPr algn="just">
              <a:defRPr sz="5400">
                <a:latin typeface="Agency FB" panose="020B0503020202020204" pitchFamily="34" charset="0"/>
                <a:cs typeface="+mn-ea"/>
              </a:defRPr>
            </a:lvl1pPr>
          </a:lstStyle>
          <a:p>
            <a:r>
              <a:rPr lang="en-US" altLang="zh-CN" dirty="0">
                <a:sym typeface="+mn-lt"/>
              </a:rPr>
              <a:t>Answer</a:t>
            </a:r>
            <a:endParaRPr lang="zh-CN" altLang="en-US" dirty="0">
              <a:sym typeface="+mn-lt"/>
            </a:endParaRPr>
          </a:p>
        </p:txBody>
      </p:sp>
      <p:sp>
        <p:nvSpPr>
          <p:cNvPr id="6" name="矩形 5"/>
          <p:cNvSpPr/>
          <p:nvPr/>
        </p:nvSpPr>
        <p:spPr>
          <a:xfrm>
            <a:off x="258644" y="896742"/>
            <a:ext cx="10931137" cy="1276350"/>
          </a:xfrm>
          <a:prstGeom prst="rect">
            <a:avLst/>
          </a:prstGeom>
        </p:spPr>
        <p:txBody>
          <a:bodyPr wrap="square">
            <a:spAutoFit/>
          </a:bodyPr>
          <a:lstStyle/>
          <a:p>
            <a:pPr marL="285750" indent="-285750">
              <a:spcAft>
                <a:spcPts val="600"/>
              </a:spcAft>
              <a:buFont typeface="Wingdings" panose="05000000000000000000" pitchFamily="2" charset="2"/>
              <a:buChar char="Ø"/>
            </a:pPr>
            <a:r>
              <a:rPr lang="zh-CN" altLang="en-US" b="1" dirty="0"/>
              <a:t>思路及算法</a:t>
            </a:r>
            <a:endParaRPr lang="zh-CN" altLang="en-US" b="1" dirty="0"/>
          </a:p>
          <a:p>
            <a:pPr defTabSz="720090"/>
            <a:r>
              <a:rPr lang="zh-CN" altLang="en-US" dirty="0"/>
              <a:t>     </a:t>
            </a:r>
            <a:r>
              <a:rPr lang="zh-CN" altLang="en-US" dirty="0">
                <a:latin typeface="宋体" panose="02010600030101010101" pitchFamily="2" charset="-122"/>
                <a:ea typeface="宋体" panose="02010600030101010101" pitchFamily="2" charset="-122"/>
              </a:rPr>
              <a:t>  使用</a:t>
            </a:r>
            <a:r>
              <a:rPr lang="zh-CN" altLang="en-US" b="1" dirty="0">
                <a:latin typeface="宋体" panose="02010600030101010101" pitchFamily="2" charset="-122"/>
                <a:ea typeface="宋体" panose="02010600030101010101" pitchFamily="2" charset="-122"/>
              </a:rPr>
              <a:t>哈希表</a:t>
            </a:r>
            <a:r>
              <a:rPr lang="zh-CN" altLang="en-US" dirty="0">
                <a:latin typeface="宋体" panose="02010600030101010101" pitchFamily="2" charset="-122"/>
                <a:ea typeface="宋体" panose="02010600030101010101" pitchFamily="2" charset="-122"/>
              </a:rPr>
              <a:t>，可以将</a:t>
            </a:r>
            <a:r>
              <a:rPr lang="zh-CN" altLang="en-US" b="1" dirty="0">
                <a:latin typeface="宋体" panose="02010600030101010101" pitchFamily="2" charset="-122"/>
                <a:ea typeface="宋体" panose="02010600030101010101" pitchFamily="2" charset="-122"/>
              </a:rPr>
              <a:t>寻找 </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target </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 x </a:t>
            </a:r>
            <a:r>
              <a:rPr lang="zh-CN" altLang="en-US" b="1" dirty="0">
                <a:latin typeface="宋体" panose="02010600030101010101" pitchFamily="2" charset="-122"/>
                <a:ea typeface="宋体" panose="02010600030101010101" pitchFamily="2" charset="-122"/>
              </a:rPr>
              <a:t>的时间复杂度降低到从 </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O(N) </a:t>
            </a:r>
            <a:r>
              <a:rPr lang="zh-CN" altLang="en-US" b="1" dirty="0">
                <a:latin typeface="宋体" panose="02010600030101010101" pitchFamily="2" charset="-122"/>
                <a:ea typeface="宋体" panose="02010600030101010101" pitchFamily="2" charset="-122"/>
              </a:rPr>
              <a:t>降低到 </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O(1)</a:t>
            </a:r>
            <a:endParaRPr lang="zh-CN" altLang="en-US" b="1" dirty="0">
              <a:latin typeface="宋体" panose="02010600030101010101" pitchFamily="2" charset="-122"/>
              <a:ea typeface="宋体" panose="02010600030101010101" pitchFamily="2" charset="-122"/>
            </a:endParaRPr>
          </a:p>
          <a:p>
            <a:pPr defTabSz="720090"/>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这样我们创建一个哈希表，对于每一个 </a:t>
            </a:r>
            <a:r>
              <a:rPr lang="zh-CN" altLang="en-US"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dirty="0">
                <a:latin typeface="宋体" panose="02010600030101010101" pitchFamily="2" charset="-122"/>
                <a:ea typeface="宋体" panose="02010600030101010101" pitchFamily="2" charset="-122"/>
              </a:rPr>
              <a:t>，我们首先查询哈希表中是否存在 </a:t>
            </a:r>
            <a:r>
              <a:rPr lang="zh-CN" altLang="en-US" dirty="0">
                <a:latin typeface="Times New Roman" panose="02020603050405020304" pitchFamily="18" charset="0"/>
                <a:ea typeface="宋体" panose="02010600030101010101" pitchFamily="2" charset="-122"/>
                <a:cs typeface="Times New Roman" panose="02020603050405020304" pitchFamily="18" charset="0"/>
              </a:rPr>
              <a:t>target </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 x </a:t>
            </a:r>
            <a:r>
              <a:rPr lang="zh-CN" altLang="en-US" dirty="0">
                <a:latin typeface="宋体" panose="02010600030101010101" pitchFamily="2" charset="-122"/>
                <a:ea typeface="宋体" panose="02010600030101010101" pitchFamily="2" charset="-122"/>
              </a:rPr>
              <a:t>，然后将 </a:t>
            </a:r>
            <a:r>
              <a:rPr lang="zh-CN" altLang="en-US"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dirty="0">
                <a:latin typeface="宋体" panose="02010600030101010101" pitchFamily="2" charset="-122"/>
                <a:ea typeface="宋体" panose="02010600030101010101" pitchFamily="2" charset="-122"/>
              </a:rPr>
              <a:t> 插入到哈希表中，即可保证不会让 </a:t>
            </a:r>
            <a:r>
              <a:rPr lang="zh-CN" altLang="en-US"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dirty="0">
                <a:latin typeface="宋体" panose="02010600030101010101" pitchFamily="2" charset="-122"/>
                <a:ea typeface="宋体" panose="02010600030101010101" pitchFamily="2" charset="-122"/>
              </a:rPr>
              <a:t> 和自己匹配。</a:t>
            </a:r>
            <a:endParaRPr lang="zh-CN" altLang="en-US" dirty="0">
              <a:latin typeface="宋体" panose="02010600030101010101" pitchFamily="2" charset="-122"/>
              <a:ea typeface="宋体" panose="02010600030101010101" pitchFamily="2" charset="-122"/>
            </a:endParaRPr>
          </a:p>
        </p:txBody>
      </p:sp>
      <p:sp>
        <p:nvSpPr>
          <p:cNvPr id="10" name="矩形 9"/>
          <p:cNvSpPr/>
          <p:nvPr/>
        </p:nvSpPr>
        <p:spPr>
          <a:xfrm>
            <a:off x="258644" y="2743802"/>
            <a:ext cx="934871" cy="369332"/>
          </a:xfrm>
          <a:prstGeom prst="rect">
            <a:avLst/>
          </a:prstGeom>
        </p:spPr>
        <p:txBody>
          <a:bodyPr wrap="none">
            <a:spAutoFit/>
          </a:bodyPr>
          <a:lstStyle/>
          <a:p>
            <a:pPr marL="285750" indent="-285750">
              <a:spcAft>
                <a:spcPts val="600"/>
              </a:spcAft>
              <a:buFont typeface="Wingdings" panose="05000000000000000000" pitchFamily="2" charset="2"/>
              <a:buChar char="Ø"/>
            </a:pPr>
            <a:r>
              <a:rPr lang="zh-CN" altLang="en-US" b="1" dirty="0"/>
              <a:t>代码</a:t>
            </a:r>
            <a:endParaRPr lang="en-US" altLang="zh-CN" b="1" dirty="0"/>
          </a:p>
        </p:txBody>
      </p:sp>
      <p:pic>
        <p:nvPicPr>
          <p:cNvPr id="2" name="图片 1"/>
          <p:cNvPicPr>
            <a:picLocks noChangeAspect="1"/>
          </p:cNvPicPr>
          <p:nvPr>
            <p:custDataLst>
              <p:tags r:id="rId1"/>
            </p:custDataLst>
          </p:nvPr>
        </p:nvPicPr>
        <p:blipFill>
          <a:blip r:embed="rId2"/>
          <a:stretch>
            <a:fillRect/>
          </a:stretch>
        </p:blipFill>
        <p:spPr>
          <a:xfrm>
            <a:off x="143510" y="2376805"/>
            <a:ext cx="6085205" cy="3800475"/>
          </a:xfrm>
          <a:prstGeom prst="rect">
            <a:avLst/>
          </a:prstGeom>
        </p:spPr>
      </p:pic>
      <p:sp>
        <p:nvSpPr>
          <p:cNvPr id="8" name="矩形 7"/>
          <p:cNvSpPr/>
          <p:nvPr/>
        </p:nvSpPr>
        <p:spPr>
          <a:xfrm>
            <a:off x="5793770" y="1979570"/>
            <a:ext cx="6507637" cy="1553210"/>
          </a:xfrm>
          <a:prstGeom prst="rect">
            <a:avLst/>
          </a:prstGeom>
        </p:spPr>
        <p:txBody>
          <a:bodyPr wrap="square">
            <a:spAutoFit/>
          </a:bodyPr>
          <a:lstStyle/>
          <a:p>
            <a:pPr marL="285750" indent="-285750">
              <a:spcAft>
                <a:spcPts val="600"/>
              </a:spcAft>
              <a:buFont typeface="Wingdings" panose="05000000000000000000" pitchFamily="2" charset="2"/>
              <a:buChar char="Ø"/>
            </a:pPr>
            <a:r>
              <a:rPr lang="zh-CN" altLang="en-US" b="1" dirty="0"/>
              <a:t>复杂度分析</a:t>
            </a:r>
            <a:endParaRPr lang="en-US" altLang="zh-CN" b="1" dirty="0"/>
          </a:p>
          <a:p>
            <a:pPr marL="342900" indent="-342900">
              <a:buFont typeface="+mj-lt"/>
              <a:buAutoNum type="arabicPeriod"/>
            </a:pPr>
            <a:r>
              <a:rPr lang="zh-CN" altLang="en-US" dirty="0"/>
              <a:t>时间复杂度：</a:t>
            </a:r>
            <a:r>
              <a:rPr lang="en-US" altLang="zh-CN" dirty="0">
                <a:latin typeface="Times New Roman" panose="02020603050405020304" pitchFamily="18" charset="0"/>
                <a:cs typeface="Times New Roman" panose="02020603050405020304" pitchFamily="18" charset="0"/>
              </a:rPr>
              <a:t>O(N)</a:t>
            </a:r>
            <a:r>
              <a:rPr lang="zh-CN" altLang="en-US" dirty="0"/>
              <a:t>，其中 </a:t>
            </a:r>
            <a:r>
              <a:rPr lang="en-US" altLang="zh-CN" dirty="0">
                <a:latin typeface="Times New Roman" panose="02020603050405020304" pitchFamily="18" charset="0"/>
                <a:cs typeface="Times New Roman" panose="02020603050405020304" pitchFamily="18" charset="0"/>
              </a:rPr>
              <a:t>N</a:t>
            </a:r>
            <a:r>
              <a:rPr lang="en-US" altLang="zh-CN" dirty="0"/>
              <a:t> </a:t>
            </a:r>
            <a:r>
              <a:rPr lang="zh-CN" altLang="en-US" dirty="0"/>
              <a:t>是数组中的元素数量。对于每一个元素 </a:t>
            </a:r>
            <a:r>
              <a:rPr lang="en-US" altLang="zh-CN" dirty="0">
                <a:latin typeface="Times New Roman" panose="02020603050405020304" pitchFamily="18" charset="0"/>
                <a:cs typeface="Times New Roman" panose="02020603050405020304" pitchFamily="18" charset="0"/>
              </a:rPr>
              <a:t>x</a:t>
            </a:r>
            <a:r>
              <a:rPr lang="zh-CN" altLang="en-US" dirty="0"/>
              <a:t>，我们可以 </a:t>
            </a:r>
            <a:r>
              <a:rPr lang="en-US" altLang="zh-CN" dirty="0">
                <a:latin typeface="Times New Roman" panose="02020603050405020304" pitchFamily="18" charset="0"/>
                <a:cs typeface="Times New Roman" panose="02020603050405020304" pitchFamily="18" charset="0"/>
              </a:rPr>
              <a:t>O(1)</a:t>
            </a:r>
            <a:r>
              <a:rPr lang="en-US" altLang="zh-CN" dirty="0"/>
              <a:t> </a:t>
            </a:r>
            <a:r>
              <a:rPr lang="zh-CN" altLang="en-US" dirty="0"/>
              <a:t>地寻找 </a:t>
            </a:r>
            <a:r>
              <a:rPr lang="en-US" altLang="zh-CN" dirty="0">
                <a:latin typeface="Times New Roman" panose="02020603050405020304" pitchFamily="18" charset="0"/>
                <a:cs typeface="Times New Roman" panose="02020603050405020304" pitchFamily="18" charset="0"/>
              </a:rPr>
              <a:t>target - x</a:t>
            </a:r>
            <a:r>
              <a:rPr lang="zh-CN" altLang="en-US" dirty="0"/>
              <a:t>。</a:t>
            </a:r>
            <a:endParaRPr lang="en-US" altLang="zh-CN" dirty="0"/>
          </a:p>
          <a:p>
            <a:pPr marL="342900" indent="-342900">
              <a:buFont typeface="+mj-lt"/>
              <a:buAutoNum type="arabicPeriod"/>
            </a:pPr>
            <a:r>
              <a:rPr lang="zh-CN" altLang="en-US" dirty="0"/>
              <a:t>空间复杂度：</a:t>
            </a:r>
            <a:r>
              <a:rPr lang="en-US" altLang="zh-CN" dirty="0">
                <a:latin typeface="Times New Roman" panose="02020603050405020304" pitchFamily="18" charset="0"/>
                <a:cs typeface="Times New Roman" panose="02020603050405020304" pitchFamily="18" charset="0"/>
              </a:rPr>
              <a:t>O(N)</a:t>
            </a:r>
            <a:r>
              <a:rPr lang="zh-CN" altLang="en-US" dirty="0"/>
              <a:t>，其中 </a:t>
            </a:r>
            <a:r>
              <a:rPr lang="en-US" altLang="zh-CN" dirty="0">
                <a:latin typeface="Times New Roman" panose="02020603050405020304" pitchFamily="18" charset="0"/>
                <a:cs typeface="Times New Roman" panose="02020603050405020304" pitchFamily="18" charset="0"/>
              </a:rPr>
              <a:t>N</a:t>
            </a:r>
            <a:r>
              <a:rPr lang="en-US" altLang="zh-CN" dirty="0"/>
              <a:t> </a:t>
            </a:r>
            <a:r>
              <a:rPr lang="zh-CN" altLang="en-US" dirty="0"/>
              <a:t>是数组中的元素数量。主要为哈希表的开销。（开辟的哈希表</a:t>
            </a:r>
            <a:r>
              <a:rPr lang="en-US" altLang="zh-CN" dirty="0"/>
              <a:t>map </a:t>
            </a:r>
            <a:r>
              <a:rPr lang="zh-CN" altLang="en-US" dirty="0"/>
              <a:t>的空间）</a:t>
            </a:r>
            <a:endParaRPr lang="zh-CN" altLang="en-US" dirty="0"/>
          </a:p>
        </p:txBody>
      </p:sp>
      <p:cxnSp>
        <p:nvCxnSpPr>
          <p:cNvPr id="3" name="直接连接符 2"/>
          <p:cNvCxnSpPr/>
          <p:nvPr/>
        </p:nvCxnSpPr>
        <p:spPr>
          <a:xfrm>
            <a:off x="1266190" y="4099560"/>
            <a:ext cx="3097530" cy="10160"/>
          </a:xfrm>
          <a:prstGeom prst="line">
            <a:avLst/>
          </a:prstGeom>
          <a:ln>
            <a:solidFill>
              <a:srgbClr val="FF0000"/>
            </a:solidFill>
          </a:ln>
        </p:spPr>
        <p:style>
          <a:lnRef idx="3">
            <a:schemeClr val="accent1"/>
          </a:lnRef>
          <a:fillRef idx="0">
            <a:srgbClr val="FFFFFF"/>
          </a:fillRef>
          <a:effectRef idx="0">
            <a:srgbClr val="FFFFFF"/>
          </a:effectRef>
          <a:fontRef idx="minor">
            <a:schemeClr val="tx1"/>
          </a:fontRef>
        </p:style>
      </p:cxnSp>
      <p:cxnSp>
        <p:nvCxnSpPr>
          <p:cNvPr id="5" name="直接连接符 4"/>
          <p:cNvCxnSpPr/>
          <p:nvPr>
            <p:custDataLst>
              <p:tags r:id="rId3"/>
            </p:custDataLst>
          </p:nvPr>
        </p:nvCxnSpPr>
        <p:spPr>
          <a:xfrm>
            <a:off x="1748790" y="4602480"/>
            <a:ext cx="3097530" cy="10160"/>
          </a:xfrm>
          <a:prstGeom prst="line">
            <a:avLst/>
          </a:prstGeom>
          <a:ln>
            <a:solidFill>
              <a:srgbClr val="FF0000"/>
            </a:solidFill>
          </a:ln>
        </p:spPr>
        <p:style>
          <a:lnRef idx="3">
            <a:schemeClr val="accent1"/>
          </a:lnRef>
          <a:fillRef idx="0">
            <a:srgbClr val="FFFFFF"/>
          </a:fillRef>
          <a:effectRef idx="0">
            <a:srgbClr val="FFFFFF"/>
          </a:effectRef>
          <a:fontRef idx="minor">
            <a:schemeClr val="tx1"/>
          </a:fontRef>
        </p:style>
      </p:cxnSp>
      <p:sp>
        <p:nvSpPr>
          <p:cNvPr id="7" name="文本框 6"/>
          <p:cNvSpPr txBox="1"/>
          <p:nvPr/>
        </p:nvSpPr>
        <p:spPr>
          <a:xfrm>
            <a:off x="5873115" y="3532505"/>
            <a:ext cx="5828665" cy="2861310"/>
          </a:xfrm>
          <a:prstGeom prst="rect">
            <a:avLst/>
          </a:prstGeom>
          <a:noFill/>
        </p:spPr>
        <p:txBody>
          <a:bodyPr wrap="square" rtlCol="0">
            <a:spAutoFit/>
          </a:bodyPr>
          <a:lstStyle/>
          <a:p>
            <a:r>
              <a:rPr lang="zh-CN" altLang="en-US" sz="2000" dirty="0"/>
              <a:t>map.find()  map的</a:t>
            </a:r>
            <a:r>
              <a:rPr lang="zh-CN" altLang="en-US" sz="2000" b="1" dirty="0"/>
              <a:t>遍历方式</a:t>
            </a:r>
            <a:endParaRPr lang="zh-CN" altLang="en-US" sz="2000" dirty="0"/>
          </a:p>
          <a:p>
            <a:r>
              <a:rPr lang="zh-CN" altLang="en-US" sz="2000" dirty="0"/>
              <a:t>it是迭代器</a:t>
            </a:r>
            <a:endParaRPr lang="zh-CN" altLang="en-US" sz="2000" dirty="0"/>
          </a:p>
          <a:p>
            <a:r>
              <a:rPr lang="zh-CN" altLang="en-US" sz="2000" dirty="0"/>
              <a:t>map.end()  哈希表的</a:t>
            </a:r>
            <a:r>
              <a:rPr lang="en-US" altLang="zh-CN" sz="2000" dirty="0"/>
              <a:t>“</a:t>
            </a:r>
            <a:r>
              <a:rPr lang="zh-CN" altLang="en-US" sz="2000" dirty="0"/>
              <a:t>末尾</a:t>
            </a:r>
            <a:r>
              <a:rPr lang="en-US" altLang="zh-CN" sz="2000" dirty="0"/>
              <a:t>”</a:t>
            </a:r>
            <a:r>
              <a:rPr lang="zh-CN" altLang="en-US" sz="2000" dirty="0"/>
              <a:t>。</a:t>
            </a:r>
            <a:r>
              <a:rPr lang="zh-CN" altLang="en-US" sz="2000" b="1" dirty="0"/>
              <a:t>哈希表查找失败的标记</a:t>
            </a:r>
            <a:endParaRPr lang="zh-CN" altLang="en-US" sz="2000" b="1" dirty="0"/>
          </a:p>
          <a:p>
            <a:r>
              <a:rPr lang="en-US" sz="2000" dirty="0" err="1">
                <a:sym typeface="+mn-ea"/>
              </a:rPr>
              <a:t>key:</a:t>
            </a:r>
            <a:r>
              <a:rPr sz="2000" dirty="0" err="1">
                <a:sym typeface="+mn-ea"/>
              </a:rPr>
              <a:t>iter</a:t>
            </a:r>
            <a:r>
              <a:rPr sz="2000" dirty="0">
                <a:sym typeface="+mn-ea"/>
              </a:rPr>
              <a:t>-&gt;</a:t>
            </a:r>
            <a:r>
              <a:rPr lang="en-US" sz="2000" dirty="0">
                <a:sym typeface="+mn-ea"/>
              </a:rPr>
              <a:t>first</a:t>
            </a:r>
            <a:endParaRPr lang="zh-CN" altLang="en-US" sz="2000" b="1" dirty="0"/>
          </a:p>
          <a:p>
            <a:r>
              <a:rPr lang="en-US" sz="2000" dirty="0" err="1">
                <a:sym typeface="+mn-ea"/>
              </a:rPr>
              <a:t>value:</a:t>
            </a:r>
            <a:r>
              <a:rPr sz="2000" dirty="0" err="1">
                <a:sym typeface="+mn-ea"/>
              </a:rPr>
              <a:t>iter</a:t>
            </a:r>
            <a:r>
              <a:rPr sz="2000" dirty="0">
                <a:sym typeface="+mn-ea"/>
              </a:rPr>
              <a:t>-&gt;second</a:t>
            </a:r>
            <a:endParaRPr sz="2000" dirty="0">
              <a:sym typeface="+mn-ea"/>
            </a:endParaRPr>
          </a:p>
          <a:p>
            <a:r>
              <a:rPr lang="zh-CN" altLang="en-US" sz="2000" b="1" dirty="0"/>
              <a:t>插入：</a:t>
            </a:r>
            <a:endParaRPr lang="zh-CN" altLang="en-US" sz="2000" b="1" dirty="0"/>
          </a:p>
          <a:p>
            <a:r>
              <a:rPr lang="zh-CN" altLang="en-US" sz="2000" b="1" dirty="0"/>
              <a:t> map.insert(pair&lt;int, int&gt;(nums[i], i));</a:t>
            </a:r>
            <a:endParaRPr lang="zh-CN" altLang="en-US" sz="2000" b="1" dirty="0"/>
          </a:p>
          <a:p>
            <a:r>
              <a:rPr lang="en-US" altLang="zh-CN" sz="2000" b="1" dirty="0"/>
              <a:t>map[nums[i]] = i</a:t>
            </a:r>
            <a:endParaRPr lang="en-US" altLang="zh-CN" sz="2000" b="1" dirty="0"/>
          </a:p>
        </p:txBody>
      </p:sp>
      <p:sp>
        <p:nvSpPr>
          <p:cNvPr id="13" name="矩形 12"/>
          <p:cNvSpPr/>
          <p:nvPr>
            <p:custDataLst>
              <p:tags r:id="rId4"/>
            </p:custDataLst>
          </p:nvPr>
        </p:nvSpPr>
        <p:spPr>
          <a:xfrm>
            <a:off x="1076133" y="5695125"/>
            <a:ext cx="4442460" cy="922020"/>
          </a:xfrm>
          <a:prstGeom prst="rect">
            <a:avLst/>
          </a:prstGeom>
        </p:spPr>
        <p:txBody>
          <a:bodyPr wrap="none">
            <a:spAutoFit/>
          </a:bodyPr>
          <a:lstStyle/>
          <a:p>
            <a:r>
              <a:rPr lang="en-US" altLang="zh-CN" b="1" dirty="0">
                <a:latin typeface="微软雅黑" panose="020B0503020204020204" pitchFamily="34" charset="-122"/>
                <a:ea typeface="微软雅黑" panose="020B0503020204020204" pitchFamily="34" charset="-122"/>
              </a:rPr>
              <a:t>Example 1:</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Input: numbers = [2,7,11,15] target = 9</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Output: [0,1]</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4210" y="334010"/>
            <a:ext cx="8185150" cy="768350"/>
          </a:xfrm>
          <a:prstGeom prst="rect">
            <a:avLst/>
          </a:prstGeom>
          <a:noFill/>
        </p:spPr>
        <p:txBody>
          <a:bodyPr wrap="square" rtlCol="0">
            <a:spAutoFit/>
          </a:bodyPr>
          <a:lstStyle>
            <a:defPPr>
              <a:defRPr lang="zh-CN"/>
            </a:defPPr>
            <a:lvl1pPr algn="just">
              <a:defRPr sz="5400">
                <a:latin typeface="Agency FB" panose="020B0503020202020204" pitchFamily="34" charset="0"/>
                <a:cs typeface="+mn-ea"/>
              </a:defRPr>
            </a:lvl1pPr>
          </a:lstStyle>
          <a:p>
            <a:r>
              <a:rPr lang="en-US" altLang="zh-CN" sz="4400" dirty="0">
                <a:sym typeface="+mn-lt"/>
              </a:rPr>
              <a:t>Question2: </a:t>
            </a:r>
            <a:r>
              <a:rPr lang="en-US" altLang="zh-CN" sz="4400" dirty="0"/>
              <a:t>Three Sum</a:t>
            </a:r>
            <a:r>
              <a:rPr lang="en-US" altLang="zh-CN" sz="4400" dirty="0">
                <a:sym typeface="+mn-lt"/>
              </a:rPr>
              <a:t> (</a:t>
            </a:r>
            <a:r>
              <a:rPr lang="zh-CN" altLang="en-US" sz="4400" dirty="0">
                <a:sym typeface="+mn-lt"/>
              </a:rPr>
              <a:t>三数之和</a:t>
            </a:r>
            <a:r>
              <a:rPr lang="en-US" altLang="zh-CN" sz="4400" dirty="0">
                <a:sym typeface="+mn-lt"/>
              </a:rPr>
              <a:t>)</a:t>
            </a:r>
            <a:endParaRPr lang="en-US" altLang="zh-CN" sz="4400" dirty="0">
              <a:sym typeface="+mn-lt"/>
            </a:endParaRPr>
          </a:p>
        </p:txBody>
      </p:sp>
      <p:sp>
        <p:nvSpPr>
          <p:cNvPr id="5" name="矩形 4"/>
          <p:cNvSpPr/>
          <p:nvPr/>
        </p:nvSpPr>
        <p:spPr>
          <a:xfrm>
            <a:off x="258642" y="1211507"/>
            <a:ext cx="11933358" cy="2092881"/>
          </a:xfrm>
          <a:prstGeom prst="rect">
            <a:avLst/>
          </a:prstGeom>
        </p:spPr>
        <p:txBody>
          <a:bodyPr wrap="square">
            <a:spAutoFit/>
          </a:bodyPr>
          <a:lstStyle/>
          <a:p>
            <a:pPr marL="285750" indent="-285750">
              <a:spcAft>
                <a:spcPts val="600"/>
              </a:spcAft>
              <a:buFont typeface="Arial" panose="020B0604020202020204" pitchFamily="34" charset="0"/>
              <a:buChar char="•"/>
            </a:pP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Description</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Given an array S of n integers, are there elements a, b, c in S such that a + b + c = 0? Find all unique triplets in the array which gives the sum of zero.</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spcAft>
                <a:spcPts val="600"/>
              </a:spcAft>
              <a:buFont typeface="Arial" panose="020B0604020202020204" pitchFamily="34" charset="0"/>
              <a:buChar char="•"/>
            </a:pP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Returned Value</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Wingdings" panose="05000000000000000000" pitchFamily="2" charset="2"/>
              <a:buChar char="ü"/>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Elements in a triplet (</a:t>
            </a: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rPr>
              <a:t>a,b,c</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must be in non-descending order. (</a:t>
            </a: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rPr>
              <a:t>ie</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 ≤ b ≤ c)</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Wingdings" panose="05000000000000000000" pitchFamily="2" charset="2"/>
              <a:buChar char="ü"/>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The solution set must not contain duplicate triplets.</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Wingdings" panose="05000000000000000000" pitchFamily="2" charset="2"/>
              <a:buChar char="ü"/>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Arrays may contain duplicate elements, but elements of the same index subscript may not be reused.</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664118" y="3738728"/>
            <a:ext cx="2868927" cy="923330"/>
          </a:xfrm>
          <a:prstGeom prst="rect">
            <a:avLst/>
          </a:prstGeom>
        </p:spPr>
        <p:txBody>
          <a:bodyPr wrap="none">
            <a:spAutoFit/>
          </a:bodyPr>
          <a:lstStyle/>
          <a:p>
            <a:r>
              <a:rPr lang="en-US" altLang="zh-CN" b="1" dirty="0">
                <a:latin typeface="微软雅黑" panose="020B0503020204020204" pitchFamily="34" charset="-122"/>
                <a:ea typeface="微软雅黑" panose="020B0503020204020204" pitchFamily="34" charset="-122"/>
              </a:rPr>
              <a:t>Example 1:</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Input: numbers = [2,7,11,15]</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Output: []</a:t>
            </a:r>
            <a:endParaRPr lang="zh-CN" altLang="en-US" dirty="0">
              <a:latin typeface="微软雅黑" panose="020B0503020204020204" pitchFamily="34" charset="-122"/>
              <a:ea typeface="微软雅黑" panose="020B0503020204020204" pitchFamily="34" charset="-122"/>
            </a:endParaRPr>
          </a:p>
        </p:txBody>
      </p:sp>
      <p:sp>
        <p:nvSpPr>
          <p:cNvPr id="7" name="矩形 6"/>
          <p:cNvSpPr/>
          <p:nvPr/>
        </p:nvSpPr>
        <p:spPr>
          <a:xfrm>
            <a:off x="552993" y="4947173"/>
            <a:ext cx="3195940" cy="923330"/>
          </a:xfrm>
          <a:prstGeom prst="rect">
            <a:avLst/>
          </a:prstGeom>
        </p:spPr>
        <p:txBody>
          <a:bodyPr wrap="none">
            <a:spAutoFit/>
          </a:bodyPr>
          <a:lstStyle/>
          <a:p>
            <a:r>
              <a:rPr lang="en-US" altLang="zh-CN" b="1" dirty="0">
                <a:latin typeface="微软雅黑" panose="020B0503020204020204" pitchFamily="34" charset="-122"/>
                <a:ea typeface="微软雅黑" panose="020B0503020204020204" pitchFamily="34" charset="-122"/>
              </a:rPr>
              <a:t>Example 2:</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Input: numbers = [-1,0,1,2,-1,-4]</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Output: [[-1, 0, 1],[-1, -1, 2]]</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8644" y="66146"/>
            <a:ext cx="5535242" cy="923330"/>
          </a:xfrm>
          <a:prstGeom prst="rect">
            <a:avLst/>
          </a:prstGeom>
          <a:noFill/>
        </p:spPr>
        <p:txBody>
          <a:bodyPr wrap="square" rtlCol="0">
            <a:spAutoFit/>
          </a:bodyPr>
          <a:lstStyle>
            <a:defPPr>
              <a:defRPr lang="zh-CN"/>
            </a:defPPr>
            <a:lvl1pPr algn="just">
              <a:defRPr sz="5400">
                <a:latin typeface="Agency FB" panose="020B0503020202020204" pitchFamily="34" charset="0"/>
                <a:cs typeface="+mn-ea"/>
              </a:defRPr>
            </a:lvl1pPr>
          </a:lstStyle>
          <a:p>
            <a:r>
              <a:rPr lang="en-US" altLang="zh-CN" dirty="0">
                <a:sym typeface="+mn-lt"/>
              </a:rPr>
              <a:t>Answer</a:t>
            </a:r>
            <a:endParaRPr lang="zh-CN" altLang="en-US" dirty="0">
              <a:sym typeface="+mn-lt"/>
            </a:endParaRPr>
          </a:p>
        </p:txBody>
      </p:sp>
      <mc:AlternateContent xmlns:mc="http://schemas.openxmlformats.org/markup-compatibility/2006">
        <mc:Choice xmlns:a14="http://schemas.microsoft.com/office/drawing/2010/main" Requires="a14">
          <p:sp>
            <p:nvSpPr>
              <p:cNvPr id="6" name="矩形 5"/>
              <p:cNvSpPr/>
              <p:nvPr/>
            </p:nvSpPr>
            <p:spPr>
              <a:xfrm>
                <a:off x="258644" y="923056"/>
                <a:ext cx="10931137" cy="2214880"/>
              </a:xfrm>
              <a:prstGeom prst="rect">
                <a:avLst/>
              </a:prstGeom>
            </p:spPr>
            <p:txBody>
              <a:bodyPr wrap="square">
                <a:spAutoFit/>
              </a:bodyPr>
              <a:lstStyle/>
              <a:p>
                <a:pPr marL="285750" indent="-285750">
                  <a:spcAft>
                    <a:spcPts val="600"/>
                  </a:spcAft>
                  <a:buFont typeface="Wingdings" panose="05000000000000000000" pitchFamily="2" charset="2"/>
                  <a:buChar char="Ø"/>
                </a:pPr>
                <a:r>
                  <a:rPr lang="zh-CN" altLang="en-US" b="1" dirty="0"/>
                  <a:t>思路及算法（排序 </a:t>
                </a:r>
                <a:r>
                  <a:rPr lang="en-US" altLang="zh-CN" b="1" dirty="0"/>
                  <a:t>+ </a:t>
                </a:r>
                <a:r>
                  <a:rPr lang="zh-CN" altLang="en-US" b="1" dirty="0"/>
                  <a:t>双指针）</a:t>
                </a:r>
                <a:endParaRPr lang="en-US" altLang="zh-CN" b="1" dirty="0"/>
              </a:p>
              <a:p>
                <a:pPr>
                  <a:spcAft>
                    <a:spcPts val="600"/>
                  </a:spcAft>
                </a:pPr>
                <a:r>
                  <a:rPr lang="zh-CN" altLang="en-US" dirty="0">
                    <a:latin typeface="宋体" panose="02010600030101010101" pitchFamily="2" charset="-122"/>
                    <a:ea typeface="宋体" panose="02010600030101010101" pitchFamily="2" charset="-122"/>
                  </a:rPr>
                  <a:t>   题目中要求找到</a:t>
                </a:r>
                <a:r>
                  <a:rPr lang="zh-CN" altLang="en-US" b="1" dirty="0">
                    <a:latin typeface="宋体" panose="02010600030101010101" pitchFamily="2" charset="-122"/>
                    <a:ea typeface="宋体" panose="02010600030101010101" pitchFamily="2" charset="-122"/>
                  </a:rPr>
                  <a:t>所有「不重复」且和为 </a:t>
                </a:r>
                <a:r>
                  <a:rPr lang="en-US" altLang="zh-CN" b="1" dirty="0">
                    <a:latin typeface="宋体" panose="02010600030101010101" pitchFamily="2" charset="-122"/>
                    <a:ea typeface="宋体" panose="02010600030101010101" pitchFamily="2" charset="-122"/>
                  </a:rPr>
                  <a:t>0</a:t>
                </a:r>
                <a:r>
                  <a:rPr lang="zh-CN" altLang="en-US" b="1" dirty="0">
                    <a:latin typeface="宋体" panose="02010600030101010101" pitchFamily="2" charset="-122"/>
                    <a:ea typeface="宋体" panose="02010600030101010101" pitchFamily="2" charset="-122"/>
                  </a:rPr>
                  <a:t> 的三元组</a:t>
                </a:r>
                <a:r>
                  <a:rPr lang="zh-CN" altLang="en-US" dirty="0">
                    <a:latin typeface="宋体" panose="02010600030101010101" pitchFamily="2" charset="-122"/>
                    <a:ea typeface="宋体" panose="02010600030101010101" pitchFamily="2" charset="-122"/>
                  </a:rPr>
                  <a:t>，这个「不重复」的要求使得我们无法简单地使用</a:t>
                </a:r>
                <a:r>
                  <a:rPr lang="zh-CN" altLang="en-US" b="1" dirty="0">
                    <a:latin typeface="宋体" panose="02010600030101010101" pitchFamily="2" charset="-122"/>
                    <a:ea typeface="宋体" panose="02010600030101010101" pitchFamily="2" charset="-122"/>
                  </a:rPr>
                  <a:t>三重循环枚举所有的三元组</a:t>
                </a:r>
                <a:r>
                  <a:rPr lang="zh-CN" altLang="en-US" dirty="0">
                    <a:latin typeface="宋体" panose="02010600030101010101" pitchFamily="2" charset="-122"/>
                    <a:ea typeface="宋体" panose="02010600030101010101" pitchFamily="2" charset="-122"/>
                  </a:rPr>
                  <a:t>。</a:t>
                </a:r>
                <a:r>
                  <a:rPr lang="zh-CN" altLang="en-US" dirty="0">
                    <a:solidFill>
                      <a:srgbClr val="FF0000"/>
                    </a:solidFill>
                    <a:latin typeface="宋体" panose="02010600030101010101" pitchFamily="2" charset="-122"/>
                    <a:ea typeface="宋体" panose="02010600030101010101" pitchFamily="2" charset="-122"/>
                  </a:rPr>
                  <a:t>这是因为在最坏的情况下，数组中的元素全部为 </a:t>
                </a:r>
                <a:r>
                  <a:rPr lang="en-US" altLang="zh-CN" dirty="0">
                    <a:solidFill>
                      <a:srgbClr val="FF0000"/>
                    </a:solidFill>
                    <a:latin typeface="宋体" panose="02010600030101010101" pitchFamily="2" charset="-122"/>
                    <a:ea typeface="宋体" panose="02010600030101010101" pitchFamily="2" charset="-122"/>
                  </a:rPr>
                  <a:t>0</a:t>
                </a:r>
                <a:r>
                  <a:rPr lang="zh-CN" altLang="en-US" dirty="0">
                    <a:solidFill>
                      <a:srgbClr val="FF0000"/>
                    </a:solidFill>
                    <a:latin typeface="宋体" panose="02010600030101010101" pitchFamily="2" charset="-122"/>
                    <a:ea typeface="宋体" panose="02010600030101010101" pitchFamily="2" charset="-122"/>
                  </a:rPr>
                  <a:t>，即</a:t>
                </a:r>
                <a:r>
                  <a:rPr lang="en-US" altLang="zh-CN" dirty="0">
                    <a:solidFill>
                      <a:srgbClr val="FF0000"/>
                    </a:solidFill>
                    <a:latin typeface="宋体" panose="02010600030101010101" pitchFamily="2" charset="-122"/>
                    <a:ea typeface="宋体" panose="02010600030101010101" pitchFamily="2" charset="-122"/>
                  </a:rPr>
                  <a:t>[0,0,0,0,0,…,0,0,0]</a:t>
                </a:r>
                <a:endParaRPr lang="en-US" altLang="zh-CN" dirty="0">
                  <a:solidFill>
                    <a:srgbClr val="FF0000"/>
                  </a:solidFill>
                  <a:latin typeface="宋体" panose="02010600030101010101" pitchFamily="2" charset="-122"/>
                  <a:ea typeface="宋体" panose="02010600030101010101" pitchFamily="2" charset="-122"/>
                </a:endParaRPr>
              </a:p>
              <a:p>
                <a:pPr>
                  <a:spcAft>
                    <a:spcPts val="1200"/>
                  </a:spcAft>
                </a:pPr>
                <a:r>
                  <a:rPr lang="zh-CN" altLang="en-US" b="1"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任意一个三元组的和都为 </a:t>
                </a:r>
                <a:r>
                  <a:rPr lang="en-US" altLang="zh-CN" dirty="0">
                    <a:latin typeface="宋体" panose="02010600030101010101" pitchFamily="2" charset="-122"/>
                    <a:ea typeface="宋体" panose="02010600030101010101" pitchFamily="2" charset="-122"/>
                  </a:rPr>
                  <a:t>0</a:t>
                </a:r>
                <a:r>
                  <a:rPr lang="zh-CN" altLang="en-US" dirty="0">
                    <a:latin typeface="宋体" panose="02010600030101010101" pitchFamily="2" charset="-122"/>
                    <a:ea typeface="宋体" panose="02010600030101010101" pitchFamily="2" charset="-122"/>
                  </a:rPr>
                  <a:t>。如果我们直接使用三重循环枚举三元组，会得到 </a:t>
                </a:r>
                <a14:m>
                  <m:oMath xmlns:m="http://schemas.openxmlformats.org/officeDocument/2006/math">
                    <m:sSup>
                      <m:sSupPr>
                        <m:ctrlPr>
                          <a:rPr lang="en-US" altLang="zh-CN" i="1" smtClean="0">
                            <a:latin typeface="Cambria Math" panose="02040503050406030204" pitchFamily="18" charset="0"/>
                            <a:ea typeface="宋体" panose="02010600030101010101" pitchFamily="2" charset="-122"/>
                          </a:rPr>
                        </m:ctrlPr>
                      </m:sSupPr>
                      <m:e>
                        <m:r>
                          <a:rPr lang="en-US" altLang="zh-CN" b="0" i="1" smtClean="0">
                            <a:latin typeface="Cambria Math" panose="02040503050406030204" pitchFamily="18" charset="0"/>
                            <a:ea typeface="宋体" panose="02010600030101010101" pitchFamily="2" charset="-122"/>
                          </a:rPr>
                          <m:t>𝑁</m:t>
                        </m:r>
                      </m:e>
                      <m:sup>
                        <m:r>
                          <a:rPr lang="en-US" altLang="zh-CN" b="0" i="1" smtClean="0">
                            <a:latin typeface="Cambria Math" panose="02040503050406030204" pitchFamily="18" charset="0"/>
                            <a:ea typeface="宋体" panose="02010600030101010101" pitchFamily="2" charset="-122"/>
                          </a:rPr>
                          <m:t>3</m:t>
                        </m:r>
                      </m:sup>
                    </m:sSup>
                  </m:oMath>
                </a14:m>
                <a:r>
                  <a:rPr lang="zh-CN" altLang="en-US" dirty="0">
                    <a:latin typeface="宋体" panose="02010600030101010101" pitchFamily="2" charset="-122"/>
                    <a:ea typeface="宋体" panose="02010600030101010101" pitchFamily="2" charset="-122"/>
                  </a:rPr>
                  <a:t>个满足题目要求的三元组（其中</a:t>
                </a:r>
                <a:r>
                  <a:rPr lang="en-US" altLang="zh-CN" dirty="0">
                    <a:latin typeface="宋体" panose="02010600030101010101" pitchFamily="2" charset="-122"/>
                    <a:ea typeface="宋体" panose="02010600030101010101" pitchFamily="2" charset="-122"/>
                  </a:rPr>
                  <a:t>N</a:t>
                </a:r>
                <a:r>
                  <a:rPr lang="zh-CN" altLang="en-US" dirty="0">
                    <a:latin typeface="宋体" panose="02010600030101010101" pitchFamily="2" charset="-122"/>
                    <a:ea typeface="宋体" panose="02010600030101010101" pitchFamily="2" charset="-122"/>
                  </a:rPr>
                  <a:t>是数组的长度），时间复杂度至少</a:t>
                </a:r>
                <a:r>
                  <a:rPr lang="zh-CN" altLang="en-US" b="1" dirty="0">
                    <a:latin typeface="宋体" panose="02010600030101010101" pitchFamily="2" charset="-122"/>
                    <a:ea typeface="宋体" panose="02010600030101010101" pitchFamily="2" charset="-122"/>
                  </a:rPr>
                  <a:t>为</a:t>
                </a:r>
                <a14:m>
                  <m:oMath xmlns:m="http://schemas.openxmlformats.org/officeDocument/2006/math">
                    <m:sSup>
                      <m:sSupPr>
                        <m:ctrlPr>
                          <a:rPr lang="en-US" altLang="zh-CN" b="1" i="1">
                            <a:latin typeface="Cambria Math" panose="02040503050406030204" pitchFamily="18" charset="0"/>
                            <a:ea typeface="宋体" panose="02010600030101010101" pitchFamily="2" charset="-122"/>
                          </a:rPr>
                        </m:ctrlPr>
                      </m:sSupPr>
                      <m:e>
                        <m:r>
                          <a:rPr lang="en-US" altLang="zh-CN" b="1" i="1" smtClean="0">
                            <a:latin typeface="Cambria Math" panose="02040503050406030204" pitchFamily="18" charset="0"/>
                            <a:ea typeface="宋体" panose="02010600030101010101" pitchFamily="2" charset="-122"/>
                          </a:rPr>
                          <m:t>𝑶</m:t>
                        </m:r>
                        <m:r>
                          <a:rPr lang="en-US" altLang="zh-CN" b="1" i="1" smtClean="0">
                            <a:latin typeface="Cambria Math" panose="02040503050406030204" pitchFamily="18" charset="0"/>
                            <a:ea typeface="宋体" panose="02010600030101010101" pitchFamily="2" charset="-122"/>
                          </a:rPr>
                          <m:t>(</m:t>
                        </m:r>
                        <m:r>
                          <a:rPr lang="en-US" altLang="zh-CN" b="1" i="1">
                            <a:latin typeface="Cambria Math" panose="02040503050406030204" pitchFamily="18" charset="0"/>
                            <a:ea typeface="宋体" panose="02010600030101010101" pitchFamily="2" charset="-122"/>
                          </a:rPr>
                          <m:t>𝑵</m:t>
                        </m:r>
                      </m:e>
                      <m:sup>
                        <m:r>
                          <a:rPr lang="en-US" altLang="zh-CN" b="1" i="1">
                            <a:latin typeface="Cambria Math" panose="02040503050406030204" pitchFamily="18" charset="0"/>
                            <a:ea typeface="宋体" panose="02010600030101010101" pitchFamily="2" charset="-122"/>
                          </a:rPr>
                          <m:t>𝟑</m:t>
                        </m:r>
                      </m:sup>
                    </m:sSup>
                    <m:r>
                      <a:rPr lang="en-US" altLang="zh-CN" b="1" i="1" smtClean="0">
                        <a:latin typeface="Cambria Math" panose="02040503050406030204" pitchFamily="18" charset="0"/>
                        <a:ea typeface="宋体" panose="02010600030101010101" pitchFamily="2" charset="-122"/>
                      </a:rPr>
                      <m:t>)</m:t>
                    </m:r>
                    <m:r>
                      <a:rPr lang="en-US" altLang="zh-CN" b="1" i="1">
                        <a:latin typeface="Cambria Math" panose="02040503050406030204" pitchFamily="18" charset="0"/>
                        <a:ea typeface="宋体" panose="02010600030101010101" pitchFamily="2" charset="-122"/>
                      </a:rPr>
                      <m:t> </m:t>
                    </m:r>
                  </m:oMath>
                </a14:m>
                <a:r>
                  <a:rPr lang="zh-CN" altLang="en-US" dirty="0">
                    <a:latin typeface="宋体" panose="02010600030101010101" pitchFamily="2" charset="-122"/>
                    <a:ea typeface="宋体" panose="02010600030101010101" pitchFamily="2" charset="-122"/>
                  </a:rPr>
                  <a:t>。在这之后，我们还需要使用</a:t>
                </a:r>
                <a:r>
                  <a:rPr lang="zh-CN" altLang="en-US" b="1" dirty="0">
                    <a:latin typeface="宋体" panose="02010600030101010101" pitchFamily="2" charset="-122"/>
                    <a:ea typeface="宋体" panose="02010600030101010101" pitchFamily="2" charset="-122"/>
                  </a:rPr>
                  <a:t>哈希表进行去重操作</a:t>
                </a:r>
                <a:r>
                  <a:rPr lang="zh-CN" altLang="en-US" dirty="0">
                    <a:latin typeface="宋体" panose="02010600030101010101" pitchFamily="2" charset="-122"/>
                    <a:ea typeface="宋体" panose="02010600030101010101" pitchFamily="2" charset="-122"/>
                  </a:rPr>
                  <a:t>，得到</a:t>
                </a:r>
                <a:r>
                  <a:rPr lang="zh-CN" altLang="en-US" b="1" dirty="0">
                    <a:latin typeface="宋体" panose="02010600030101010101" pitchFamily="2" charset="-122"/>
                    <a:ea typeface="宋体" panose="02010600030101010101" pitchFamily="2" charset="-122"/>
                  </a:rPr>
                  <a:t>不包含重复三元组</a:t>
                </a:r>
                <a:r>
                  <a:rPr lang="zh-CN" altLang="en-US" dirty="0">
                    <a:latin typeface="宋体" panose="02010600030101010101" pitchFamily="2" charset="-122"/>
                    <a:ea typeface="宋体" panose="02010600030101010101" pitchFamily="2" charset="-122"/>
                  </a:rPr>
                  <a:t>的最终答案，</a:t>
                </a:r>
                <a:r>
                  <a:rPr lang="zh-CN" altLang="en-US" b="1" dirty="0">
                    <a:latin typeface="宋体" panose="02010600030101010101" pitchFamily="2" charset="-122"/>
                    <a:ea typeface="宋体" panose="02010600030101010101" pitchFamily="2" charset="-122"/>
                  </a:rPr>
                  <a:t>又消耗了大量的空间</a:t>
                </a:r>
                <a:r>
                  <a:rPr lang="zh-CN" altLang="en-US" dirty="0">
                    <a:latin typeface="宋体" panose="02010600030101010101" pitchFamily="2" charset="-122"/>
                    <a:ea typeface="宋体" panose="02010600030101010101" pitchFamily="2" charset="-122"/>
                  </a:rPr>
                  <a:t>。这个做法的时间复杂度和空间复杂度都很高，因此我们要换一种思路来考虑这个问题。</a:t>
                </a:r>
                <a:endParaRPr lang="en-US" altLang="zh-CN" dirty="0">
                  <a:latin typeface="宋体" panose="02010600030101010101" pitchFamily="2" charset="-122"/>
                  <a:ea typeface="宋体" panose="02010600030101010101" pitchFamily="2" charset="-122"/>
                </a:endParaRPr>
              </a:p>
            </p:txBody>
          </p:sp>
        </mc:Choice>
        <mc:Fallback>
          <p:sp>
            <p:nvSpPr>
              <p:cNvPr id="6" name="矩形 5"/>
              <p:cNvSpPr>
                <a:spLocks noRot="1" noChangeAspect="1" noMove="1" noResize="1" noEditPoints="1" noAdjustHandles="1" noChangeArrowheads="1" noChangeShapeType="1" noTextEdit="1"/>
              </p:cNvSpPr>
              <p:nvPr/>
            </p:nvSpPr>
            <p:spPr>
              <a:xfrm>
                <a:off x="258644" y="923056"/>
                <a:ext cx="10931137" cy="2214880"/>
              </a:xfrm>
              <a:prstGeom prst="rect">
                <a:avLst/>
              </a:prstGeom>
              <a:blipFill rotWithShape="1">
                <a:blip r:embed="rId1"/>
                <a:stretch>
                  <a:fillRect l="-2" t="-18" r="-315" b="18"/>
                </a:stretch>
              </a:blipFill>
            </p:spPr>
            <p:txBody>
              <a:bodyPr/>
              <a:lstStyle/>
              <a:p>
                <a:r>
                  <a:rPr lang="zh-CN" altLang="en-US">
                    <a:noFill/>
                  </a:rPr>
                  <a:t> </a:t>
                </a:r>
              </a:p>
            </p:txBody>
          </p:sp>
        </mc:Fallback>
      </mc:AlternateContent>
      <p:sp>
        <p:nvSpPr>
          <p:cNvPr id="3" name="矩形 2"/>
          <p:cNvSpPr/>
          <p:nvPr>
            <p:custDataLst>
              <p:tags r:id="rId2"/>
            </p:custDataLst>
          </p:nvPr>
        </p:nvSpPr>
        <p:spPr>
          <a:xfrm>
            <a:off x="402645" y="3244795"/>
            <a:ext cx="11029706" cy="2968625"/>
          </a:xfrm>
          <a:prstGeom prst="rect">
            <a:avLst/>
          </a:prstGeom>
        </p:spPr>
        <p:txBody>
          <a:bodyPr wrap="square">
            <a:spAutoFit/>
          </a:bodyPr>
          <a:lstStyle/>
          <a:p>
            <a:pPr>
              <a:spcAft>
                <a:spcPts val="600"/>
              </a:spcAft>
            </a:pPr>
            <a:r>
              <a:rPr lang="zh-CN" altLang="en-US" dirty="0">
                <a:latin typeface="-apple-system"/>
              </a:rPr>
              <a:t>「不重复」的本质是什么？我们保持三重循环的大框架不变，只需要保证：</a:t>
            </a:r>
            <a:endParaRPr lang="zh-CN" altLang="en-US" dirty="0"/>
          </a:p>
          <a:p>
            <a:pPr marL="285750" indent="-285750">
              <a:spcAft>
                <a:spcPts val="600"/>
              </a:spcAft>
              <a:buFont typeface="Wingdings" panose="05000000000000000000" pitchFamily="2" charset="2"/>
              <a:buChar char="ü"/>
            </a:pPr>
            <a:r>
              <a:rPr lang="zh-CN" altLang="en-US" b="1" dirty="0"/>
              <a:t>第二重循环枚举到的元素不小于当前第一重循环枚举到的元素；</a:t>
            </a:r>
            <a:endParaRPr lang="en-US" altLang="zh-CN" b="1" dirty="0"/>
          </a:p>
          <a:p>
            <a:pPr marL="285750" indent="-285750">
              <a:spcAft>
                <a:spcPts val="600"/>
              </a:spcAft>
              <a:buFont typeface="Wingdings" panose="05000000000000000000" pitchFamily="2" charset="2"/>
              <a:buChar char="ü"/>
            </a:pPr>
            <a:r>
              <a:rPr lang="zh-CN" altLang="en-US" b="1" dirty="0"/>
              <a:t>第三重循环枚举到的元素不小于当前第二重循环枚举到的元素。</a:t>
            </a:r>
            <a:endParaRPr lang="zh-CN" altLang="en-US" dirty="0"/>
          </a:p>
          <a:p>
            <a:pPr>
              <a:spcAft>
                <a:spcPts val="600"/>
              </a:spcAft>
            </a:pPr>
            <a:r>
              <a:rPr lang="zh-CN" altLang="en-US" dirty="0">
                <a:latin typeface="宋体" panose="02010600030101010101" pitchFamily="2" charset="-122"/>
                <a:ea typeface="宋体" panose="02010600030101010101" pitchFamily="2" charset="-122"/>
              </a:rPr>
              <a:t>   也就是说，我们枚举的三元组 </a:t>
            </a:r>
            <a:r>
              <a:rPr lang="en-US" altLang="zh-CN" dirty="0">
                <a:latin typeface="宋体" panose="02010600030101010101" pitchFamily="2" charset="-122"/>
                <a:ea typeface="宋体" panose="02010600030101010101" pitchFamily="2" charset="-122"/>
              </a:rPr>
              <a:t>(</a:t>
            </a:r>
            <a:r>
              <a:rPr lang="en-US" altLang="zh-CN" dirty="0" err="1">
                <a:latin typeface="宋体" panose="02010600030101010101" pitchFamily="2" charset="-122"/>
                <a:ea typeface="宋体" panose="02010600030101010101" pitchFamily="2" charset="-122"/>
              </a:rPr>
              <a:t>a,b,c</a:t>
            </a:r>
            <a:r>
              <a:rPr lang="en-US" altLang="zh-CN"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满足</a:t>
            </a:r>
            <a:r>
              <a:rPr lang="en-US" altLang="zh-CN" b="1" dirty="0" err="1">
                <a:latin typeface="宋体" panose="02010600030101010101" pitchFamily="2" charset="-122"/>
                <a:ea typeface="宋体" panose="02010600030101010101" pitchFamily="2" charset="-122"/>
              </a:rPr>
              <a:t>a≤b≤c</a:t>
            </a:r>
            <a:r>
              <a:rPr lang="zh-CN" altLang="en-US" b="1" dirty="0">
                <a:latin typeface="宋体" panose="02010600030101010101" pitchFamily="2" charset="-122"/>
                <a:ea typeface="宋体" panose="02010600030101010101" pitchFamily="2" charset="-122"/>
              </a:rPr>
              <a:t>，保证了只有</a:t>
            </a:r>
            <a:r>
              <a:rPr lang="en-US" altLang="zh-CN" b="1" dirty="0">
                <a:latin typeface="宋体" panose="02010600030101010101" pitchFamily="2" charset="-122"/>
                <a:ea typeface="宋体" panose="02010600030101010101" pitchFamily="2" charset="-122"/>
              </a:rPr>
              <a:t>(</a:t>
            </a:r>
            <a:r>
              <a:rPr lang="en-US" altLang="zh-CN" b="1" dirty="0" err="1">
                <a:latin typeface="宋体" panose="02010600030101010101" pitchFamily="2" charset="-122"/>
                <a:ea typeface="宋体" panose="02010600030101010101" pitchFamily="2" charset="-122"/>
              </a:rPr>
              <a:t>a,b,c</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这个顺序会被枚举到，而</a:t>
            </a:r>
            <a:r>
              <a:rPr lang="en-US" altLang="zh-CN" b="1" dirty="0">
                <a:latin typeface="宋体" panose="02010600030101010101" pitchFamily="2" charset="-122"/>
                <a:ea typeface="宋体" panose="02010600030101010101" pitchFamily="2" charset="-122"/>
              </a:rPr>
              <a:t>(</a:t>
            </a:r>
            <a:r>
              <a:rPr lang="en-US" altLang="zh-CN" b="1" dirty="0" err="1">
                <a:latin typeface="宋体" panose="02010600030101010101" pitchFamily="2" charset="-122"/>
                <a:ea typeface="宋体" panose="02010600030101010101" pitchFamily="2" charset="-122"/>
              </a:rPr>
              <a:t>b,a,c</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a:t>
            </a:r>
            <a:r>
              <a:rPr lang="en-US" altLang="zh-CN" b="1" dirty="0" err="1">
                <a:latin typeface="宋体" panose="02010600030101010101" pitchFamily="2" charset="-122"/>
                <a:ea typeface="宋体" panose="02010600030101010101" pitchFamily="2" charset="-122"/>
              </a:rPr>
              <a:t>c,b,a</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等等这些不会，这样就减少了重复</a:t>
            </a:r>
            <a:r>
              <a:rPr lang="zh-CN" altLang="en-US" dirty="0">
                <a:latin typeface="宋体" panose="02010600030101010101" pitchFamily="2" charset="-122"/>
                <a:ea typeface="宋体" panose="02010600030101010101" pitchFamily="2" charset="-122"/>
              </a:rPr>
              <a:t>。要实现这一点，我们可以将数组中的元素从小到大进行排序，随后使用普通的三重循环就可以满足上面的要求。</a:t>
            </a:r>
            <a:endParaRPr lang="en-US" altLang="zh-CN" dirty="0">
              <a:latin typeface="宋体" panose="02010600030101010101" pitchFamily="2" charset="-122"/>
              <a:ea typeface="宋体" panose="02010600030101010101" pitchFamily="2" charset="-122"/>
            </a:endParaRPr>
          </a:p>
          <a:p>
            <a:pPr>
              <a:spcAft>
                <a:spcPts val="600"/>
              </a:spcAft>
            </a:pPr>
            <a:r>
              <a:rPr lang="zh-CN" altLang="en-US" dirty="0">
                <a:latin typeface="宋体" panose="02010600030101010101" pitchFamily="2" charset="-122"/>
                <a:ea typeface="宋体" panose="02010600030101010101" pitchFamily="2" charset="-122"/>
              </a:rPr>
              <a:t>   同时，对于每一重循环而言，相邻两次枚举的元素不能相同，否则也会造成重复。（举个例子，如果排完序的数组为</a:t>
            </a:r>
            <a:r>
              <a:rPr lang="en-US" altLang="zh-CN" dirty="0">
                <a:latin typeface="宋体" panose="02010600030101010101" pitchFamily="2" charset="-122"/>
                <a:ea typeface="宋体" panose="02010600030101010101" pitchFamily="2" charset="-122"/>
              </a:rPr>
              <a:t>[0, 1, 2, 2, 2, 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a:p>
            <a:pPr>
              <a:spcAft>
                <a:spcPts val="600"/>
              </a:spcAft>
            </a:pPr>
            <a:r>
              <a:rPr lang="en-US" altLang="zh-CN" dirty="0">
                <a:latin typeface="宋体" panose="02010600030101010101" pitchFamily="2" charset="-122"/>
                <a:ea typeface="宋体" panose="02010600030101010101" pitchFamily="2" charset="-122"/>
              </a:rPr>
              <a:t>	   ^  ^  ^</a:t>
            </a:r>
            <a:endParaRPr lang="zh-CN" altLang="en-US"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14367" y="778115"/>
            <a:ext cx="7334627" cy="2209914"/>
          </a:xfrm>
          <a:prstGeom prst="rect">
            <a:avLst/>
          </a:prstGeom>
        </p:spPr>
      </p:pic>
      <p:sp>
        <p:nvSpPr>
          <p:cNvPr id="5" name="矩形 4"/>
          <p:cNvSpPr/>
          <p:nvPr/>
        </p:nvSpPr>
        <p:spPr>
          <a:xfrm>
            <a:off x="258644" y="336313"/>
            <a:ext cx="1627369" cy="369332"/>
          </a:xfrm>
          <a:prstGeom prst="rect">
            <a:avLst/>
          </a:prstGeom>
        </p:spPr>
        <p:txBody>
          <a:bodyPr wrap="none">
            <a:spAutoFit/>
          </a:bodyPr>
          <a:lstStyle/>
          <a:p>
            <a:pPr marL="285750" indent="-285750">
              <a:buFont typeface="Wingdings" panose="05000000000000000000" pitchFamily="2" charset="2"/>
              <a:buChar char="Ø"/>
            </a:pPr>
            <a:r>
              <a:rPr lang="zh-CN" altLang="en-US" b="1" dirty="0"/>
              <a:t>伪代码实现</a:t>
            </a:r>
            <a:endParaRPr lang="zh-CN" altLang="en-US" b="1" dirty="0"/>
          </a:p>
        </p:txBody>
      </p:sp>
      <mc:AlternateContent xmlns:mc="http://schemas.openxmlformats.org/markup-compatibility/2006">
        <mc:Choice xmlns:a14="http://schemas.microsoft.com/office/drawing/2010/main" Requires="a14">
          <p:sp>
            <p:nvSpPr>
              <p:cNvPr id="7" name="矩形 6"/>
              <p:cNvSpPr/>
              <p:nvPr/>
            </p:nvSpPr>
            <p:spPr>
              <a:xfrm>
                <a:off x="258644" y="3060499"/>
                <a:ext cx="11700919" cy="1209675"/>
              </a:xfrm>
              <a:prstGeom prst="rect">
                <a:avLst/>
              </a:prstGeom>
            </p:spPr>
            <p:txBody>
              <a:bodyPr wrap="square">
                <a:spAutoFit/>
              </a:bodyPr>
              <a:lstStyle/>
              <a:p>
                <a:r>
                  <a:rPr lang="zh-CN" altLang="en-US" dirty="0">
                    <a:latin typeface="宋体" panose="02010600030101010101" pitchFamily="2" charset="-122"/>
                    <a:ea typeface="宋体" panose="02010600030101010101" pitchFamily="2" charset="-122"/>
                  </a:rPr>
                  <a:t>然而这种方法的时间复杂度仍然为 </a:t>
                </a:r>
                <a14:m>
                  <m:oMath xmlns:m="http://schemas.openxmlformats.org/officeDocument/2006/math">
                    <m:sSup>
                      <m:sSupPr>
                        <m:ctrlPr>
                          <a:rPr lang="en-US" altLang="zh-CN" i="1">
                            <a:latin typeface="Cambria Math" panose="02040503050406030204" pitchFamily="18" charset="0"/>
                            <a:ea typeface="宋体" panose="02010600030101010101" pitchFamily="2" charset="-122"/>
                          </a:rPr>
                        </m:ctrlPr>
                      </m:sSupPr>
                      <m:e>
                        <m:r>
                          <m:rPr>
                            <m:sty m:val="p"/>
                          </m:rPr>
                          <a:rPr lang="en-US" altLang="zh-CN" i="1">
                            <a:latin typeface="Cambria Math" panose="02040503050406030204" pitchFamily="18" charset="0"/>
                            <a:ea typeface="宋体" panose="02010600030101010101" pitchFamily="2" charset="-122"/>
                          </a:rPr>
                          <m:t>O</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𝑁</m:t>
                        </m:r>
                      </m:e>
                      <m:sup>
                        <m:r>
                          <a:rPr lang="en-US" altLang="zh-CN" i="1">
                            <a:latin typeface="Cambria Math" panose="02040503050406030204" pitchFamily="18" charset="0"/>
                            <a:ea typeface="宋体" panose="02010600030101010101" pitchFamily="2" charset="-122"/>
                          </a:rPr>
                          <m:t>3</m:t>
                        </m:r>
                      </m:sup>
                    </m:sSup>
                    <m:r>
                      <a:rPr lang="en-US" altLang="zh-CN" i="1">
                        <a:latin typeface="Cambria Math" panose="02040503050406030204" pitchFamily="18" charset="0"/>
                        <a:ea typeface="宋体" panose="02010600030101010101" pitchFamily="2" charset="-122"/>
                      </a:rPr>
                      <m:t>) </m:t>
                    </m:r>
                  </m:oMath>
                </a14:m>
                <a:r>
                  <a:rPr lang="zh-CN" altLang="en-US" dirty="0">
                    <a:latin typeface="宋体" panose="02010600030101010101" pitchFamily="2" charset="-122"/>
                    <a:ea typeface="宋体" panose="02010600030101010101" pitchFamily="2" charset="-122"/>
                  </a:rPr>
                  <a:t>，毕竟还是没有跳出三重循环的大框架，可以继续优化。容易发现，如果我们固定了前两重循环枚举到的元素 a 和 b，那么只有唯一的 c 满足 a+b+c=0。当第二重循环往后枚举一个元素 b′时，由于 b′&gt;b，那么满足 a+b′+c′=0 的 c′</a:t>
                </a:r>
                <a:r>
                  <a:rPr lang="zh-CN" altLang="en-US" b="1" dirty="0">
                    <a:latin typeface="宋体" panose="02010600030101010101" pitchFamily="2" charset="-122"/>
                    <a:ea typeface="宋体" panose="02010600030101010101" pitchFamily="2" charset="-122"/>
                  </a:rPr>
                  <a:t>一定有 c′&lt;c，即 c′在数组中一定出现在 c 的左侧</a:t>
                </a:r>
                <a:r>
                  <a:rPr lang="zh-CN" altLang="en-US" dirty="0">
                    <a:latin typeface="宋体" panose="02010600030101010101" pitchFamily="2" charset="-122"/>
                    <a:ea typeface="宋体" panose="02010600030101010101" pitchFamily="2" charset="-122"/>
                  </a:rPr>
                  <a:t>。也就是说，我们可以</a:t>
                </a:r>
                <a:r>
                  <a:rPr lang="zh-CN" altLang="en-US" b="1" dirty="0">
                    <a:latin typeface="宋体" panose="02010600030101010101" pitchFamily="2" charset="-122"/>
                    <a:ea typeface="宋体" panose="02010600030101010101" pitchFamily="2" charset="-122"/>
                  </a:rPr>
                  <a:t>从小到大枚举 b</a:t>
                </a:r>
                <a:r>
                  <a:rPr lang="zh-CN" altLang="en-US"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同时从大到小枚举 c</a:t>
                </a:r>
                <a:r>
                  <a:rPr lang="zh-CN" altLang="en-US" dirty="0">
                    <a:latin typeface="宋体" panose="02010600030101010101" pitchFamily="2" charset="-122"/>
                    <a:ea typeface="宋体" panose="02010600030101010101" pitchFamily="2" charset="-122"/>
                  </a:rPr>
                  <a:t>，即</a:t>
                </a:r>
                <a:r>
                  <a:rPr lang="zh-CN" altLang="en-US" b="1" dirty="0">
                    <a:latin typeface="宋体" panose="02010600030101010101" pitchFamily="2" charset="-122"/>
                    <a:ea typeface="宋体" panose="02010600030101010101" pitchFamily="2" charset="-122"/>
                  </a:rPr>
                  <a:t>第二重循环和第三重循环实际上是并列的关系</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mc:Choice>
        <mc:Fallback>
          <p:sp>
            <p:nvSpPr>
              <p:cNvPr id="7" name="矩形 6"/>
              <p:cNvSpPr>
                <a:spLocks noRot="1" noChangeAspect="1" noMove="1" noResize="1" noEditPoints="1" noAdjustHandles="1" noChangeArrowheads="1" noChangeShapeType="1" noTextEdit="1"/>
              </p:cNvSpPr>
              <p:nvPr/>
            </p:nvSpPr>
            <p:spPr>
              <a:xfrm>
                <a:off x="258644" y="3060499"/>
                <a:ext cx="11700919" cy="1209675"/>
              </a:xfrm>
              <a:prstGeom prst="rect">
                <a:avLst/>
              </a:prstGeom>
              <a:blipFill rotWithShape="1">
                <a:blip r:embed="rId2"/>
                <a:stretch>
                  <a:fillRect l="-2" t="-36" r="5" b="36"/>
                </a:stretch>
              </a:blipFill>
            </p:spPr>
            <p:txBody>
              <a:bodyPr/>
              <a:lstStyle/>
              <a:p>
                <a:r>
                  <a:rPr lang="zh-CN" altLang="en-US">
                    <a:noFill/>
                  </a:rPr>
                  <a:t> </a:t>
                </a:r>
              </a:p>
            </p:txBody>
          </p:sp>
        </mc:Fallback>
      </mc:AlternateContent>
      <p:sp>
        <p:nvSpPr>
          <p:cNvPr id="8" name="矩形 7"/>
          <p:cNvSpPr/>
          <p:nvPr/>
        </p:nvSpPr>
        <p:spPr>
          <a:xfrm>
            <a:off x="258643" y="4333298"/>
            <a:ext cx="11700919" cy="1200329"/>
          </a:xfrm>
          <a:prstGeom prst="rect">
            <a:avLst/>
          </a:prstGeom>
        </p:spPr>
        <p:txBody>
          <a:bodyPr wrap="square">
            <a:spAutoFit/>
          </a:bodyPr>
          <a:lstStyle/>
          <a:p>
            <a:r>
              <a:rPr lang="zh-CN" altLang="en-US" dirty="0">
                <a:latin typeface="宋体" panose="02010600030101010101" pitchFamily="2" charset="-122"/>
                <a:ea typeface="宋体" panose="02010600030101010101" pitchFamily="2" charset="-122"/>
              </a:rPr>
              <a:t>因此，我们可以保持第二重循环不变，而将</a:t>
            </a:r>
            <a:endParaRPr lang="en-US" altLang="zh-CN" dirty="0">
              <a:latin typeface="宋体" panose="02010600030101010101" pitchFamily="2" charset="-122"/>
              <a:ea typeface="宋体" panose="02010600030101010101" pitchFamily="2" charset="-122"/>
            </a:endParaRPr>
          </a:p>
          <a:p>
            <a:r>
              <a:rPr lang="zh-CN" altLang="en-US" b="1" dirty="0">
                <a:latin typeface="宋体" panose="02010600030101010101" pitchFamily="2" charset="-122"/>
                <a:ea typeface="宋体" panose="02010600030101010101" pitchFamily="2" charset="-122"/>
              </a:rPr>
              <a:t>第三重循环变成一个从数组最右端开始向左</a:t>
            </a:r>
            <a:endParaRPr lang="en-US" altLang="zh-CN" b="1" dirty="0">
              <a:latin typeface="宋体" panose="02010600030101010101" pitchFamily="2" charset="-122"/>
              <a:ea typeface="宋体" panose="02010600030101010101" pitchFamily="2" charset="-122"/>
            </a:endParaRPr>
          </a:p>
          <a:p>
            <a:r>
              <a:rPr lang="zh-CN" altLang="en-US" b="1" dirty="0">
                <a:latin typeface="宋体" panose="02010600030101010101" pitchFamily="2" charset="-122"/>
                <a:ea typeface="宋体" panose="02010600030101010101" pitchFamily="2" charset="-122"/>
              </a:rPr>
              <a:t>移动的指针</a:t>
            </a:r>
            <a:r>
              <a:rPr lang="zh-CN" altLang="en-US" dirty="0">
                <a:latin typeface="宋体" panose="02010600030101010101" pitchFamily="2" charset="-122"/>
                <a:ea typeface="宋体" panose="02010600030101010101" pitchFamily="2" charset="-122"/>
              </a:rPr>
              <a:t>，从而得到下面的伪代码，即</a:t>
            </a:r>
            <a:endParaRPr lang="en-US" altLang="zh-CN" dirty="0">
              <a:latin typeface="宋体" panose="02010600030101010101" pitchFamily="2" charset="-122"/>
              <a:ea typeface="宋体" panose="02010600030101010101" pitchFamily="2" charset="-122"/>
            </a:endParaRPr>
          </a:p>
          <a:p>
            <a:r>
              <a:rPr lang="zh-CN" altLang="en-US" dirty="0"/>
              <a:t>「</a:t>
            </a:r>
            <a:r>
              <a:rPr lang="zh-CN" altLang="en-US" dirty="0">
                <a:latin typeface="宋体" panose="02010600030101010101" pitchFamily="2" charset="-122"/>
                <a:ea typeface="宋体" panose="02010600030101010101" pitchFamily="2" charset="-122"/>
              </a:rPr>
              <a:t>双指针</a:t>
            </a:r>
            <a:r>
              <a:rPr lang="zh-CN" altLang="en-US" dirty="0"/>
              <a:t>」</a:t>
            </a:r>
            <a:endParaRPr lang="zh-CN" altLang="en-US" dirty="0">
              <a:latin typeface="宋体" panose="02010600030101010101" pitchFamily="2" charset="-122"/>
              <a:ea typeface="宋体" panose="02010600030101010101" pitchFamily="2" charset="-122"/>
            </a:endParaRPr>
          </a:p>
        </p:txBody>
      </p:sp>
      <p:pic>
        <p:nvPicPr>
          <p:cNvPr id="9" name="图片 8"/>
          <p:cNvPicPr>
            <a:picLocks noChangeAspect="1"/>
          </p:cNvPicPr>
          <p:nvPr/>
        </p:nvPicPr>
        <p:blipFill>
          <a:blip r:embed="rId3"/>
          <a:stretch>
            <a:fillRect/>
          </a:stretch>
        </p:blipFill>
        <p:spPr>
          <a:xfrm>
            <a:off x="4895100" y="4267067"/>
            <a:ext cx="6940907" cy="259093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图片 99"/>
          <p:cNvPicPr/>
          <p:nvPr/>
        </p:nvPicPr>
        <p:blipFill>
          <a:blip r:embed="rId1"/>
          <a:stretch>
            <a:fillRect/>
          </a:stretch>
        </p:blipFill>
        <p:spPr>
          <a:xfrm>
            <a:off x="6062345" y="4192270"/>
            <a:ext cx="5509895" cy="2423795"/>
          </a:xfrm>
          <a:prstGeom prst="rect">
            <a:avLst/>
          </a:prstGeom>
          <a:noFill/>
          <a:ln w="9525">
            <a:noFill/>
          </a:ln>
        </p:spPr>
      </p:pic>
      <p:sp>
        <p:nvSpPr>
          <p:cNvPr id="7" name="矩形 6"/>
          <p:cNvSpPr/>
          <p:nvPr/>
        </p:nvSpPr>
        <p:spPr>
          <a:xfrm>
            <a:off x="131750" y="988308"/>
            <a:ext cx="11655450" cy="5523865"/>
          </a:xfrm>
          <a:prstGeom prst="rect">
            <a:avLst/>
          </a:prstGeom>
        </p:spPr>
        <p:txBody>
          <a:bodyPr wrap="square">
            <a:spAutoFit/>
          </a:bodyPr>
          <a:lstStyle/>
          <a:p>
            <a:pPr indent="0">
              <a:spcAft>
                <a:spcPts val="600"/>
              </a:spcAft>
              <a:buFont typeface="Wingdings" panose="05000000000000000000" pitchFamily="2" charset="2"/>
              <a:buNone/>
            </a:pPr>
            <a:r>
              <a:rPr lang="zh-CN" altLang="en-US" dirty="0"/>
              <a:t>一个</a:t>
            </a:r>
            <a:r>
              <a:rPr lang="en-US" altLang="zh-CN" dirty="0"/>
              <a:t>for</a:t>
            </a:r>
            <a:r>
              <a:rPr lang="zh-CN" altLang="en-US" dirty="0"/>
              <a:t>循环</a:t>
            </a:r>
            <a:r>
              <a:rPr lang="en-US" altLang="zh-CN" dirty="0"/>
              <a:t> </a:t>
            </a:r>
            <a:r>
              <a:rPr lang="zh-CN" altLang="en-US" dirty="0"/>
              <a:t>控制</a:t>
            </a:r>
            <a:r>
              <a:rPr lang="en-US" altLang="zh-CN" dirty="0"/>
              <a:t>i ,</a:t>
            </a:r>
            <a:r>
              <a:rPr lang="zh-CN" altLang="en-US" dirty="0"/>
              <a:t>代表我们的</a:t>
            </a:r>
            <a:r>
              <a:rPr lang="en-US" altLang="zh-CN" dirty="0"/>
              <a:t>a</a:t>
            </a:r>
            <a:r>
              <a:rPr lang="zh-CN" altLang="en-US" dirty="0"/>
              <a:t>（起始，就是固定的）</a:t>
            </a:r>
            <a:endParaRPr lang="en-US" altLang="zh-CN" dirty="0"/>
          </a:p>
          <a:p>
            <a:pPr indent="0">
              <a:spcAft>
                <a:spcPts val="600"/>
              </a:spcAft>
              <a:buFont typeface="Wingdings" panose="05000000000000000000" pitchFamily="2" charset="2"/>
              <a:buNone/>
            </a:pPr>
            <a:r>
              <a:rPr lang="en-US" altLang="zh-CN" dirty="0"/>
              <a:t>left =i+1 </a:t>
            </a:r>
            <a:r>
              <a:rPr lang="zh-CN" altLang="en-US" dirty="0"/>
              <a:t>就是</a:t>
            </a:r>
            <a:r>
              <a:rPr lang="en-US" altLang="zh-CN" dirty="0"/>
              <a:t>b</a:t>
            </a:r>
            <a:endParaRPr lang="en-US" altLang="zh-CN" dirty="0"/>
          </a:p>
          <a:p>
            <a:pPr indent="0">
              <a:spcAft>
                <a:spcPts val="600"/>
              </a:spcAft>
              <a:buFont typeface="Wingdings" panose="05000000000000000000" pitchFamily="2" charset="2"/>
              <a:buNone/>
            </a:pPr>
            <a:r>
              <a:rPr lang="en-US" altLang="zh-CN" dirty="0"/>
              <a:t>right=</a:t>
            </a:r>
            <a:r>
              <a:rPr lang="zh-CN" altLang="en-US" dirty="0"/>
              <a:t>结尾</a:t>
            </a:r>
            <a:r>
              <a:rPr lang="en-US" altLang="zh-CN" dirty="0"/>
              <a:t> </a:t>
            </a:r>
            <a:r>
              <a:rPr lang="zh-CN" altLang="en-US" dirty="0"/>
              <a:t>就是</a:t>
            </a:r>
            <a:r>
              <a:rPr lang="en-US" altLang="zh-CN" dirty="0"/>
              <a:t>c</a:t>
            </a:r>
            <a:endParaRPr lang="en-US" altLang="zh-CN" dirty="0"/>
          </a:p>
          <a:p>
            <a:pPr indent="0">
              <a:spcAft>
                <a:spcPts val="600"/>
              </a:spcAft>
              <a:buFont typeface="Wingdings" panose="05000000000000000000" pitchFamily="2" charset="2"/>
              <a:buNone/>
            </a:pPr>
            <a:r>
              <a:rPr lang="en-US" altLang="zh-CN" b="1" dirty="0"/>
              <a:t> a = nums[i]，b = nums[left]，c = nums[right]</a:t>
            </a:r>
            <a:endParaRPr lang="en-US" altLang="zh-CN" b="1" dirty="0"/>
          </a:p>
          <a:p>
            <a:pPr indent="0">
              <a:spcAft>
                <a:spcPts val="600"/>
              </a:spcAft>
              <a:buFont typeface="Wingdings" panose="05000000000000000000" pitchFamily="2" charset="2"/>
              <a:buNone/>
            </a:pPr>
            <a:r>
              <a:rPr lang="en-US" altLang="zh-CN" b="1" dirty="0"/>
              <a:t>接下来如何移动left 和right</a:t>
            </a:r>
            <a:endParaRPr lang="en-US" altLang="zh-CN" b="1" dirty="0"/>
          </a:p>
          <a:p>
            <a:pPr indent="0">
              <a:spcAft>
                <a:spcPts val="600"/>
              </a:spcAft>
              <a:buFont typeface="Wingdings" panose="05000000000000000000" pitchFamily="2" charset="2"/>
              <a:buNone/>
            </a:pPr>
            <a:r>
              <a:rPr lang="en-US" altLang="zh-CN" b="1" dirty="0"/>
              <a:t>如果nums[i] + nums[left] + nums[right] &gt; 0 就说明 此时三数之和大了，因为数组是排序后了，所以right下标就应该向左移动，这样才能让三数之和小一些。</a:t>
            </a:r>
            <a:r>
              <a:rPr lang="zh-CN" altLang="en-US" b="1" dirty="0"/>
              <a:t>（</a:t>
            </a:r>
            <a:r>
              <a:rPr lang="en-US" altLang="zh-CN" b="1" dirty="0"/>
              <a:t>right</a:t>
            </a:r>
            <a:r>
              <a:rPr lang="zh-CN" altLang="en-US" b="1" dirty="0"/>
              <a:t>往里面移动，就是变小。</a:t>
            </a:r>
            <a:r>
              <a:rPr lang="en-US" altLang="zh-CN" b="1" dirty="0"/>
              <a:t>right--</a:t>
            </a:r>
            <a:r>
              <a:rPr lang="zh-CN" altLang="en-US" b="1" dirty="0"/>
              <a:t>）</a:t>
            </a:r>
            <a:endParaRPr lang="en-US" altLang="zh-CN" b="1" dirty="0"/>
          </a:p>
          <a:p>
            <a:pPr indent="0">
              <a:spcAft>
                <a:spcPts val="600"/>
              </a:spcAft>
              <a:buFont typeface="Wingdings" panose="05000000000000000000" pitchFamily="2" charset="2"/>
              <a:buNone/>
            </a:pPr>
            <a:endParaRPr lang="en-US" altLang="zh-CN" b="1" dirty="0"/>
          </a:p>
          <a:p>
            <a:pPr indent="0">
              <a:spcAft>
                <a:spcPts val="600"/>
              </a:spcAft>
              <a:buFont typeface="Wingdings" panose="05000000000000000000" pitchFamily="2" charset="2"/>
              <a:buNone/>
            </a:pPr>
            <a:r>
              <a:rPr lang="en-US" altLang="zh-CN" b="1" dirty="0"/>
              <a:t>如果 nums[i] + nums[left] + nums[right] &lt; 0 说明 此时 三数之和小了，left 就向右移动，才能让三数之和大一些，直到left与right相遇为止。</a:t>
            </a:r>
            <a:r>
              <a:rPr lang="zh-CN" altLang="en-US" b="1" dirty="0">
                <a:sym typeface="+mn-ea"/>
              </a:rPr>
              <a:t>（</a:t>
            </a:r>
            <a:r>
              <a:rPr lang="en-US" altLang="zh-CN" b="1" dirty="0">
                <a:sym typeface="+mn-ea"/>
              </a:rPr>
              <a:t>left</a:t>
            </a:r>
            <a:r>
              <a:rPr lang="zh-CN" altLang="en-US" b="1" dirty="0">
                <a:sym typeface="+mn-ea"/>
              </a:rPr>
              <a:t>往后面移动，就是变大。</a:t>
            </a:r>
            <a:r>
              <a:rPr lang="en-US" altLang="zh-CN" b="1" dirty="0">
                <a:sym typeface="+mn-ea"/>
              </a:rPr>
              <a:t>left++</a:t>
            </a:r>
            <a:r>
              <a:rPr lang="zh-CN" altLang="en-US" b="1" dirty="0">
                <a:sym typeface="+mn-ea"/>
              </a:rPr>
              <a:t>）</a:t>
            </a:r>
            <a:endParaRPr lang="en-US" altLang="zh-CN" b="1" dirty="0"/>
          </a:p>
          <a:p>
            <a:pPr indent="0">
              <a:spcAft>
                <a:spcPts val="600"/>
              </a:spcAft>
              <a:buFont typeface="Wingdings" panose="05000000000000000000" pitchFamily="2" charset="2"/>
              <a:buNone/>
            </a:pPr>
            <a:endParaRPr lang="en-US" altLang="zh-CN" b="1" dirty="0"/>
          </a:p>
          <a:p>
            <a:pPr indent="0">
              <a:spcAft>
                <a:spcPts val="600"/>
              </a:spcAft>
              <a:buFont typeface="Wingdings" panose="05000000000000000000" pitchFamily="2" charset="2"/>
              <a:buNone/>
            </a:pPr>
            <a:endParaRPr lang="en-US" altLang="zh-CN" b="1" dirty="0"/>
          </a:p>
          <a:p>
            <a:pPr indent="0">
              <a:spcAft>
                <a:spcPts val="600"/>
              </a:spcAft>
              <a:buFont typeface="Wingdings" panose="05000000000000000000" pitchFamily="2" charset="2"/>
              <a:buNone/>
            </a:pPr>
            <a:r>
              <a:rPr lang="zh-CN" altLang="en-US" b="1" dirty="0"/>
              <a:t>依旧需要去重</a:t>
            </a:r>
            <a:endParaRPr lang="zh-CN" altLang="en-US" b="1" dirty="0"/>
          </a:p>
          <a:p>
            <a:pPr indent="0">
              <a:spcAft>
                <a:spcPts val="600"/>
              </a:spcAft>
              <a:buFont typeface="Wingdings" panose="05000000000000000000" pitchFamily="2" charset="2"/>
              <a:buNone/>
            </a:pPr>
            <a:r>
              <a:rPr lang="en-US" altLang="zh-CN" b="1" dirty="0"/>
              <a:t>num[i] </a:t>
            </a:r>
            <a:r>
              <a:rPr lang="zh-CN" altLang="en-US" b="1" dirty="0"/>
              <a:t>需要去重。避免</a:t>
            </a:r>
            <a:r>
              <a:rPr lang="en-US" altLang="zh-CN" b="1" dirty="0"/>
              <a:t>[1,1,,,,,,]</a:t>
            </a:r>
            <a:endParaRPr lang="en-US" altLang="zh-CN" b="1" dirty="0"/>
          </a:p>
          <a:p>
            <a:pPr indent="0">
              <a:spcAft>
                <a:spcPts val="600"/>
              </a:spcAft>
              <a:buFont typeface="Wingdings" panose="05000000000000000000" pitchFamily="2" charset="2"/>
              <a:buNone/>
            </a:pPr>
            <a:r>
              <a:rPr lang="en-US" altLang="zh-CN" b="1" dirty="0"/>
              <a:t>left </a:t>
            </a:r>
            <a:r>
              <a:rPr lang="zh-CN" altLang="en-US" b="1" dirty="0">
                <a:sym typeface="+mn-ea"/>
              </a:rPr>
              <a:t>去重</a:t>
            </a:r>
            <a:endParaRPr lang="zh-CN" altLang="en-US" b="1" dirty="0">
              <a:sym typeface="+mn-ea"/>
            </a:endParaRPr>
          </a:p>
          <a:p>
            <a:pPr indent="0">
              <a:spcAft>
                <a:spcPts val="600"/>
              </a:spcAft>
              <a:buFont typeface="Wingdings" panose="05000000000000000000" pitchFamily="2" charset="2"/>
              <a:buNone/>
            </a:pPr>
            <a:r>
              <a:rPr lang="en-US" altLang="zh-CN" b="1" dirty="0"/>
              <a:t>right  </a:t>
            </a:r>
            <a:r>
              <a:rPr lang="zh-CN" altLang="en-US" b="1" dirty="0">
                <a:sym typeface="+mn-ea"/>
              </a:rPr>
              <a:t>去重</a:t>
            </a:r>
            <a:endParaRPr lang="en-US" altLang="zh-CN" b="1" dirty="0"/>
          </a:p>
        </p:txBody>
      </p:sp>
      <p:sp>
        <p:nvSpPr>
          <p:cNvPr id="4" name="文本框 3"/>
          <p:cNvSpPr txBox="1"/>
          <p:nvPr>
            <p:custDataLst>
              <p:tags r:id="rId2"/>
            </p:custDataLst>
          </p:nvPr>
        </p:nvSpPr>
        <p:spPr>
          <a:xfrm>
            <a:off x="258445" y="66040"/>
            <a:ext cx="9945370" cy="922020"/>
          </a:xfrm>
          <a:prstGeom prst="rect">
            <a:avLst/>
          </a:prstGeom>
          <a:noFill/>
        </p:spPr>
        <p:txBody>
          <a:bodyPr wrap="square" rtlCol="0">
            <a:spAutoFit/>
          </a:bodyPr>
          <a:lstStyle>
            <a:defPPr>
              <a:defRPr lang="zh-CN"/>
            </a:defPPr>
            <a:lvl1pPr algn="just">
              <a:defRPr sz="5400">
                <a:latin typeface="Agency FB" panose="020B0503020202020204" pitchFamily="34" charset="0"/>
                <a:cs typeface="+mn-ea"/>
              </a:defRPr>
            </a:lvl1pPr>
          </a:lstStyle>
          <a:p>
            <a:r>
              <a:rPr lang="zh-CN" altLang="en-US" dirty="0">
                <a:sym typeface="+mn-lt"/>
              </a:rPr>
              <a:t>双指针（一定要进行排序）</a:t>
            </a:r>
            <a:endParaRPr lang="zh-CN" altLang="en-US" dirty="0">
              <a:sym typeface="+mn-lt"/>
            </a:endParaRPr>
          </a:p>
        </p:txBody>
      </p:sp>
      <p:sp>
        <p:nvSpPr>
          <p:cNvPr id="2" name="文本框 1"/>
          <p:cNvSpPr txBox="1"/>
          <p:nvPr>
            <p:custDataLst>
              <p:tags r:id="rId3"/>
            </p:custDataLst>
          </p:nvPr>
        </p:nvSpPr>
        <p:spPr>
          <a:xfrm>
            <a:off x="5079365" y="6221095"/>
            <a:ext cx="6906895" cy="521970"/>
          </a:xfrm>
          <a:prstGeom prst="rect">
            <a:avLst/>
          </a:prstGeom>
          <a:noFill/>
        </p:spPr>
        <p:txBody>
          <a:bodyPr wrap="square" rtlCol="0">
            <a:spAutoFit/>
          </a:bodyPr>
          <a:lstStyle/>
          <a:p>
            <a:r>
              <a:rPr lang="zh-CN" altLang="en-US" sz="2800"/>
              <a:t>根据这个逻辑来写一下对应的伪代码</a:t>
            </a:r>
            <a:endParaRPr lang="zh-CN" altLang="en-US" sz="2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2550" y="131445"/>
            <a:ext cx="5208905" cy="2007235"/>
          </a:xfrm>
          <a:prstGeom prst="rect">
            <a:avLst/>
          </a:prstGeom>
        </p:spPr>
        <p:txBody>
          <a:bodyPr wrap="square">
            <a:noAutofit/>
          </a:bodyPr>
          <a:lstStyle/>
          <a:p>
            <a:pPr indent="0">
              <a:buFont typeface="+mj-lt"/>
              <a:buNone/>
            </a:pPr>
            <a:r>
              <a:rPr lang="zh-CN" altLang="en-US" dirty="0"/>
              <a:t>两个去重有什么区别</a:t>
            </a:r>
            <a:endParaRPr lang="zh-CN" altLang="en-US" dirty="0"/>
          </a:p>
          <a:p>
            <a:pPr indent="0">
              <a:buFont typeface="+mj-lt"/>
              <a:buNone/>
            </a:pPr>
            <a:r>
              <a:rPr lang="zh-CN" altLang="en-US" dirty="0"/>
              <a:t>if (nums[i] == nums[i + 1])</a:t>
            </a:r>
            <a:endParaRPr lang="zh-CN" altLang="en-US" dirty="0"/>
          </a:p>
          <a:p>
            <a:pPr indent="0">
              <a:buFont typeface="+mj-lt"/>
              <a:buNone/>
            </a:pPr>
            <a:r>
              <a:rPr lang="zh-CN" altLang="en-US" dirty="0"/>
              <a:t>问题是：我们定义了</a:t>
            </a:r>
            <a:r>
              <a:rPr lang="en-US" altLang="zh-CN" dirty="0"/>
              <a:t>left=i+1</a:t>
            </a:r>
            <a:r>
              <a:rPr lang="zh-CN" altLang="en-US" dirty="0"/>
              <a:t>。</a:t>
            </a:r>
            <a:r>
              <a:rPr lang="en-US" altLang="zh-CN" dirty="0"/>
              <a:t>b</a:t>
            </a:r>
            <a:r>
              <a:rPr lang="zh-CN" altLang="en-US" dirty="0"/>
              <a:t>是可以取和</a:t>
            </a:r>
            <a:r>
              <a:rPr lang="en-US" altLang="zh-CN" dirty="0"/>
              <a:t>a</a:t>
            </a:r>
            <a:r>
              <a:rPr lang="zh-CN" altLang="en-US" dirty="0"/>
              <a:t>一种的值</a:t>
            </a:r>
            <a:endParaRPr lang="zh-CN" altLang="en-US" dirty="0"/>
          </a:p>
          <a:p>
            <a:pPr indent="0">
              <a:buFont typeface="+mj-lt"/>
              <a:buNone/>
            </a:pPr>
            <a:r>
              <a:rPr lang="en-US" altLang="zh-CN" dirty="0"/>
              <a:t>eg</a:t>
            </a:r>
            <a:r>
              <a:rPr lang="zh-CN" altLang="en-US" dirty="0"/>
              <a:t>：【</a:t>
            </a:r>
            <a:r>
              <a:rPr lang="en-US" altLang="zh-CN" dirty="0"/>
              <a:t>0.0.0</a:t>
            </a:r>
            <a:r>
              <a:rPr lang="zh-CN" altLang="en-US" dirty="0"/>
              <a:t>】，【</a:t>
            </a:r>
            <a:r>
              <a:rPr lang="en-US" altLang="zh-CN" dirty="0"/>
              <a:t>-1</a:t>
            </a:r>
            <a:r>
              <a:rPr lang="zh-CN" altLang="en-US" dirty="0"/>
              <a:t>，</a:t>
            </a:r>
            <a:r>
              <a:rPr lang="en-US" altLang="zh-CN" dirty="0"/>
              <a:t>-1, 2</a:t>
            </a:r>
            <a:r>
              <a:rPr lang="zh-CN" altLang="en-US" dirty="0"/>
              <a:t>】</a:t>
            </a:r>
            <a:endParaRPr lang="zh-CN" altLang="en-US" dirty="0"/>
          </a:p>
          <a:p>
            <a:pPr indent="0">
              <a:buFont typeface="+mj-lt"/>
              <a:buNone/>
            </a:pPr>
            <a:endParaRPr lang="zh-CN" altLang="en-US" dirty="0"/>
          </a:p>
          <a:p>
            <a:pPr indent="0">
              <a:buFont typeface="+mj-lt"/>
              <a:buNone/>
            </a:pPr>
            <a:r>
              <a:rPr lang="zh-CN" altLang="en-US" dirty="0"/>
              <a:t>if</a:t>
            </a:r>
            <a:r>
              <a:rPr lang="en-US" altLang="zh-CN" dirty="0"/>
              <a:t>(</a:t>
            </a:r>
            <a:r>
              <a:rPr lang="zh-CN" altLang="en-US" dirty="0"/>
              <a:t>nums[i-1]==nums[i]) </a:t>
            </a:r>
            <a:endParaRPr lang="zh-CN" altLang="en-US" dirty="0"/>
          </a:p>
          <a:p>
            <a:pPr indent="0">
              <a:buFont typeface="+mj-lt"/>
              <a:buNone/>
            </a:pPr>
            <a:r>
              <a:rPr lang="zh-CN" altLang="en-US" dirty="0"/>
              <a:t>和前一个对比，不会影响</a:t>
            </a:r>
            <a:r>
              <a:rPr lang="en-US" altLang="zh-CN" dirty="0"/>
              <a:t>left</a:t>
            </a:r>
            <a:r>
              <a:rPr lang="zh-CN" altLang="en-US" dirty="0"/>
              <a:t>和</a:t>
            </a:r>
            <a:r>
              <a:rPr lang="en-US" altLang="zh-CN" dirty="0"/>
              <a:t>right</a:t>
            </a:r>
            <a:endParaRPr lang="zh-CN" altLang="en-US" dirty="0"/>
          </a:p>
          <a:p>
            <a:pPr indent="0">
              <a:buFont typeface="+mj-lt"/>
              <a:buNone/>
            </a:pPr>
            <a:endParaRPr lang="zh-CN" altLang="en-US" dirty="0"/>
          </a:p>
          <a:p>
            <a:pPr indent="0">
              <a:buFont typeface="+mj-lt"/>
              <a:buNone/>
            </a:pPr>
            <a:r>
              <a:rPr lang="zh-CN" altLang="en-US" dirty="0"/>
              <a:t>不能重复的三元组，但是三元组里面的元素是可以重复</a:t>
            </a:r>
            <a:endParaRPr lang="zh-CN" altLang="en-US" dirty="0"/>
          </a:p>
          <a:p>
            <a:pPr indent="0">
              <a:buFont typeface="+mj-lt"/>
              <a:buNone/>
            </a:pPr>
            <a:endParaRPr lang="en-US" altLang="zh-CN" dirty="0"/>
          </a:p>
        </p:txBody>
      </p:sp>
      <p:pic>
        <p:nvPicPr>
          <p:cNvPr id="8" name="图片 7"/>
          <p:cNvPicPr>
            <a:picLocks noChangeAspect="1"/>
          </p:cNvPicPr>
          <p:nvPr>
            <p:custDataLst>
              <p:tags r:id="rId1"/>
            </p:custDataLst>
          </p:nvPr>
        </p:nvPicPr>
        <p:blipFill>
          <a:blip r:embed="rId2"/>
          <a:stretch>
            <a:fillRect/>
          </a:stretch>
        </p:blipFill>
        <p:spPr>
          <a:xfrm>
            <a:off x="190500" y="3103245"/>
            <a:ext cx="5076825" cy="3476625"/>
          </a:xfrm>
          <a:prstGeom prst="rect">
            <a:avLst/>
          </a:prstGeom>
        </p:spPr>
      </p:pic>
      <p:cxnSp>
        <p:nvCxnSpPr>
          <p:cNvPr id="9" name="直接连接符 8"/>
          <p:cNvCxnSpPr/>
          <p:nvPr>
            <p:custDataLst>
              <p:tags r:id="rId3"/>
            </p:custDataLst>
          </p:nvPr>
        </p:nvCxnSpPr>
        <p:spPr>
          <a:xfrm>
            <a:off x="711200" y="6569710"/>
            <a:ext cx="3097530" cy="10160"/>
          </a:xfrm>
          <a:prstGeom prst="line">
            <a:avLst/>
          </a:prstGeom>
          <a:ln>
            <a:solidFill>
              <a:srgbClr val="FF0000"/>
            </a:solidFill>
          </a:ln>
        </p:spPr>
        <p:style>
          <a:lnRef idx="3">
            <a:schemeClr val="accent1"/>
          </a:lnRef>
          <a:fillRef idx="0">
            <a:srgbClr val="FFFFFF"/>
          </a:fillRef>
          <a:effectRef idx="0">
            <a:srgbClr val="FFFFFF"/>
          </a:effectRef>
          <a:fontRef idx="minor">
            <a:schemeClr val="tx1"/>
          </a:fontRef>
        </p:style>
      </p:cxnSp>
      <p:cxnSp>
        <p:nvCxnSpPr>
          <p:cNvPr id="10" name="直接连接符 9"/>
          <p:cNvCxnSpPr/>
          <p:nvPr>
            <p:custDataLst>
              <p:tags r:id="rId4"/>
            </p:custDataLst>
          </p:nvPr>
        </p:nvCxnSpPr>
        <p:spPr>
          <a:xfrm>
            <a:off x="313690" y="3517265"/>
            <a:ext cx="3097530" cy="10160"/>
          </a:xfrm>
          <a:prstGeom prst="line">
            <a:avLst/>
          </a:prstGeom>
          <a:ln>
            <a:solidFill>
              <a:srgbClr val="FF0000"/>
            </a:solidFill>
          </a:ln>
        </p:spPr>
        <p:style>
          <a:lnRef idx="3">
            <a:schemeClr val="accent1"/>
          </a:lnRef>
          <a:fillRef idx="0">
            <a:srgbClr val="FFFFFF"/>
          </a:fillRef>
          <a:effectRef idx="0">
            <a:srgbClr val="FFFFFF"/>
          </a:effectRef>
          <a:fontRef idx="minor">
            <a:schemeClr val="tx1"/>
          </a:fontRef>
        </p:style>
      </p:cxnSp>
      <p:pic>
        <p:nvPicPr>
          <p:cNvPr id="13" name="图片 12"/>
          <p:cNvPicPr>
            <a:picLocks noChangeAspect="1"/>
          </p:cNvPicPr>
          <p:nvPr>
            <p:custDataLst>
              <p:tags r:id="rId5"/>
            </p:custDataLst>
          </p:nvPr>
        </p:nvPicPr>
        <p:blipFill>
          <a:blip r:embed="rId6"/>
          <a:stretch>
            <a:fillRect/>
          </a:stretch>
        </p:blipFill>
        <p:spPr>
          <a:xfrm>
            <a:off x="5927090" y="328930"/>
            <a:ext cx="6057900" cy="5048250"/>
          </a:xfrm>
          <a:prstGeom prst="rect">
            <a:avLst/>
          </a:prstGeom>
        </p:spPr>
      </p:pic>
      <p:cxnSp>
        <p:nvCxnSpPr>
          <p:cNvPr id="14" name="直接连接符 13"/>
          <p:cNvCxnSpPr/>
          <p:nvPr>
            <p:custDataLst>
              <p:tags r:id="rId7"/>
            </p:custDataLst>
          </p:nvPr>
        </p:nvCxnSpPr>
        <p:spPr>
          <a:xfrm>
            <a:off x="6336030" y="1119505"/>
            <a:ext cx="3097530" cy="10160"/>
          </a:xfrm>
          <a:prstGeom prst="line">
            <a:avLst/>
          </a:prstGeom>
          <a:ln>
            <a:solidFill>
              <a:srgbClr val="FF0000"/>
            </a:solidFill>
          </a:ln>
        </p:spPr>
        <p:style>
          <a:lnRef idx="3">
            <a:schemeClr val="accent1"/>
          </a:lnRef>
          <a:fillRef idx="0">
            <a:srgbClr val="FFFFFF"/>
          </a:fillRef>
          <a:effectRef idx="0">
            <a:srgbClr val="FFFFFF"/>
          </a:effectRef>
          <a:fontRef idx="minor">
            <a:schemeClr val="tx1"/>
          </a:fontRef>
        </p:style>
      </p:cxnSp>
      <p:cxnSp>
        <p:nvCxnSpPr>
          <p:cNvPr id="15" name="直接连接符 14"/>
          <p:cNvCxnSpPr/>
          <p:nvPr>
            <p:custDataLst>
              <p:tags r:id="rId8"/>
            </p:custDataLst>
          </p:nvPr>
        </p:nvCxnSpPr>
        <p:spPr>
          <a:xfrm flipV="1">
            <a:off x="7131685" y="3860800"/>
            <a:ext cx="4596765" cy="29845"/>
          </a:xfrm>
          <a:prstGeom prst="line">
            <a:avLst/>
          </a:prstGeom>
          <a:ln>
            <a:solidFill>
              <a:srgbClr val="FF0000"/>
            </a:solidFill>
          </a:ln>
        </p:spPr>
        <p:style>
          <a:lnRef idx="3">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16" name="文本框 15"/>
              <p:cNvSpPr txBox="1"/>
              <p:nvPr/>
            </p:nvSpPr>
            <p:spPr>
              <a:xfrm>
                <a:off x="5382895" y="5490845"/>
                <a:ext cx="6424930" cy="1183005"/>
              </a:xfrm>
              <a:prstGeom prst="rect">
                <a:avLst/>
              </a:prstGeom>
              <a:noFill/>
            </p:spPr>
            <p:txBody>
              <a:bodyPr wrap="square" rtlCol="0" anchor="t">
                <a:noAutofit/>
              </a:bodyPr>
              <a:lstStyle/>
              <a:p>
                <a:r>
                  <a:rPr lang="zh-CN" altLang="en-US" dirty="0">
                    <a:sym typeface="+mn-ea"/>
                  </a:rPr>
                  <a:t>时间复杂度：</a:t>
                </a:r>
                <a14:m>
                  <m:oMath xmlns:m="http://schemas.openxmlformats.org/officeDocument/2006/math">
                    <m:sSup>
                      <m:sSupPr>
                        <m:ctrlPr>
                          <a:rPr lang="en-US" altLang="zh-CN" i="1">
                            <a:latin typeface="Cambria Math" panose="02040503050406030204" pitchFamily="18" charset="0"/>
                            <a:ea typeface="宋体" panose="02010600030101010101" pitchFamily="2" charset="-122"/>
                          </a:rPr>
                        </m:ctrlPr>
                      </m:sSupPr>
                      <m:e>
                        <m:r>
                          <m:rPr>
                            <m:sty m:val="p"/>
                          </m:rPr>
                          <a:rPr lang="en-US" altLang="zh-CN" i="1" smtClean="0">
                            <a:latin typeface="Cambria Math" panose="02040503050406030204" pitchFamily="18" charset="0"/>
                            <a:ea typeface="宋体" panose="02010600030101010101" pitchFamily="2" charset="-122"/>
                          </a:rPr>
                          <m:t>O</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𝑁</m:t>
                        </m:r>
                      </m:e>
                      <m:sup>
                        <m:r>
                          <a:rPr lang="en-US" altLang="zh-CN" b="0" i="1" smtClean="0">
                            <a:latin typeface="Cambria Math" panose="02040503050406030204" pitchFamily="18" charset="0"/>
                            <a:ea typeface="宋体" panose="02010600030101010101" pitchFamily="2" charset="-122"/>
                          </a:rPr>
                          <m:t>2</m:t>
                        </m:r>
                      </m:sup>
                    </m:sSup>
                    <m:r>
                      <a:rPr lang="en-US" altLang="zh-CN" i="1">
                        <a:latin typeface="Cambria Math" panose="02040503050406030204" pitchFamily="18" charset="0"/>
                        <a:ea typeface="宋体" panose="02010600030101010101" pitchFamily="2" charset="-122"/>
                      </a:rPr>
                      <m:t>) </m:t>
                    </m:r>
                  </m:oMath>
                </a14:m>
                <a:r>
                  <a:rPr lang="zh-CN" altLang="en-US" dirty="0">
                    <a:sym typeface="+mn-ea"/>
                  </a:rPr>
                  <a:t>，其中 </a:t>
                </a:r>
                <a:r>
                  <a:rPr lang="en-US" altLang="zh-CN" dirty="0">
                    <a:latin typeface="Times New Roman" panose="02020603050405020304" pitchFamily="18" charset="0"/>
                    <a:cs typeface="Times New Roman" panose="02020603050405020304" pitchFamily="18" charset="0"/>
                    <a:sym typeface="+mn-ea"/>
                  </a:rPr>
                  <a:t>N</a:t>
                </a:r>
                <a:r>
                  <a:rPr lang="en-US" altLang="zh-CN" dirty="0">
                    <a:sym typeface="+mn-ea"/>
                  </a:rPr>
                  <a:t> </a:t>
                </a:r>
                <a:r>
                  <a:rPr lang="zh-CN" altLang="en-US" dirty="0">
                    <a:sym typeface="+mn-ea"/>
                  </a:rPr>
                  <a:t>是数组中的元素数量。枚举的总时间复杂度为</a:t>
                </a:r>
                <a14:m>
                  <m:oMath xmlns:m="http://schemas.openxmlformats.org/officeDocument/2006/math">
                    <m:sSup>
                      <m:sSupPr>
                        <m:ctrlPr>
                          <a:rPr lang="en-US" altLang="zh-CN" i="1">
                            <a:latin typeface="Cambria Math" panose="02040503050406030204" pitchFamily="18" charset="0"/>
                            <a:ea typeface="宋体" panose="02010600030101010101" pitchFamily="2" charset="-122"/>
                          </a:rPr>
                        </m:ctrlPr>
                      </m:sSupPr>
                      <m:e>
                        <m:r>
                          <a:rPr lang="en-US" altLang="zh-CN" b="0" i="1" smtClean="0">
                            <a:latin typeface="Cambria Math" panose="02040503050406030204" pitchFamily="18" charset="0"/>
                            <a:ea typeface="宋体" panose="02010600030101010101" pitchFamily="2" charset="-122"/>
                          </a:rPr>
                          <m:t> </m:t>
                        </m:r>
                        <m:r>
                          <m:rPr>
                            <m:sty m:val="p"/>
                          </m:rPr>
                          <a:rPr lang="en-US" altLang="zh-CN" i="1">
                            <a:latin typeface="Cambria Math" panose="02040503050406030204" pitchFamily="18" charset="0"/>
                            <a:ea typeface="宋体" panose="02010600030101010101" pitchFamily="2" charset="-122"/>
                          </a:rPr>
                          <m:t>O</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𝑁</m:t>
                        </m:r>
                      </m:e>
                      <m:sup>
                        <m:r>
                          <a:rPr lang="en-US" altLang="zh-CN" i="1">
                            <a:latin typeface="Cambria Math" panose="02040503050406030204" pitchFamily="18" charset="0"/>
                            <a:ea typeface="宋体" panose="02010600030101010101" pitchFamily="2" charset="-122"/>
                          </a:rPr>
                          <m:t>2</m:t>
                        </m:r>
                      </m:sup>
                    </m:sSup>
                    <m:r>
                      <a:rPr lang="en-US" altLang="zh-CN" i="1">
                        <a:latin typeface="Cambria Math" panose="02040503050406030204" pitchFamily="18" charset="0"/>
                        <a:ea typeface="宋体" panose="02010600030101010101" pitchFamily="2" charset="-122"/>
                      </a:rPr>
                      <m:t>) </m:t>
                    </m:r>
                  </m:oMath>
                </a14:m>
                <a:r>
                  <a:rPr lang="zh-CN" altLang="en-US" dirty="0">
                    <a:sym typeface="+mn-ea"/>
                  </a:rPr>
                  <a:t>。由于排序的时间复杂度为 </a:t>
                </a:r>
                <a14:m>
                  <m:oMath xmlns:m="http://schemas.openxmlformats.org/officeDocument/2006/math">
                    <m:r>
                      <a:rPr lang="en-US" altLang="zh-CN" b="0" i="1" smtClean="0">
                        <a:latin typeface="Cambria Math" panose="02040503050406030204" pitchFamily="18" charset="0"/>
                      </a:rPr>
                      <m:t>𝑂</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𝑁𝑙𝑜𝑔𝑁</m:t>
                        </m:r>
                      </m:e>
                    </m:d>
                  </m:oMath>
                </a14:m>
                <a:r>
                  <a:rPr lang="zh-CN" altLang="en-US" dirty="0">
                    <a:sym typeface="+mn-ea"/>
                  </a:rPr>
                  <a:t>，在渐进意义下小于前者，因此算法的总时间复杂度为</a:t>
                </a:r>
                <a:r>
                  <a:rPr lang="en-US" altLang="zh-CN" dirty="0">
                    <a:ea typeface="宋体" panose="02010600030101010101" pitchFamily="2" charset="-122"/>
                    <a:sym typeface="+mn-ea"/>
                  </a:rPr>
                  <a:t> </a:t>
                </a:r>
                <a14:m>
                  <m:oMath xmlns:m="http://schemas.openxmlformats.org/officeDocument/2006/math">
                    <m:sSup>
                      <m:sSupPr>
                        <m:ctrlPr>
                          <a:rPr lang="en-US" altLang="zh-CN" i="1">
                            <a:latin typeface="Cambria Math" panose="02040503050406030204" pitchFamily="18" charset="0"/>
                            <a:ea typeface="宋体" panose="02010600030101010101" pitchFamily="2" charset="-122"/>
                          </a:rPr>
                        </m:ctrlPr>
                      </m:sSupPr>
                      <m:e>
                        <m:r>
                          <m:rPr>
                            <m:sty m:val="p"/>
                          </m:rPr>
                          <a:rPr lang="en-US" altLang="zh-CN" i="1">
                            <a:latin typeface="Cambria Math" panose="02040503050406030204" pitchFamily="18" charset="0"/>
                            <a:ea typeface="宋体" panose="02010600030101010101" pitchFamily="2" charset="-122"/>
                          </a:rPr>
                          <m:t>O</m:t>
                        </m:r>
                        <m:r>
                          <a:rPr lang="en-US" altLang="zh-CN" i="1">
                            <a:latin typeface="Cambria Math" panose="02040503050406030204" pitchFamily="18" charset="0"/>
                            <a:ea typeface="宋体" panose="02010600030101010101" pitchFamily="2" charset="-122"/>
                          </a:rPr>
                          <m:t>(</m:t>
                        </m:r>
                        <m:r>
                          <a:rPr lang="en-US" altLang="zh-CN" i="1">
                            <a:latin typeface="Cambria Math" panose="02040503050406030204" pitchFamily="18" charset="0"/>
                            <a:ea typeface="宋体" panose="02010600030101010101" pitchFamily="2" charset="-122"/>
                          </a:rPr>
                          <m:t>𝑁</m:t>
                        </m:r>
                      </m:e>
                      <m:sup>
                        <m:r>
                          <a:rPr lang="en-US" altLang="zh-CN" i="1">
                            <a:latin typeface="Cambria Math" panose="02040503050406030204" pitchFamily="18" charset="0"/>
                            <a:ea typeface="宋体" panose="02010600030101010101" pitchFamily="2" charset="-122"/>
                          </a:rPr>
                          <m:t>2</m:t>
                        </m:r>
                      </m:sup>
                    </m:sSup>
                    <m:r>
                      <a:rPr lang="en-US" altLang="zh-CN" i="1">
                        <a:latin typeface="Cambria Math" panose="02040503050406030204" pitchFamily="18" charset="0"/>
                        <a:ea typeface="宋体" panose="02010600030101010101" pitchFamily="2" charset="-122"/>
                      </a:rPr>
                      <m:t>) </m:t>
                    </m:r>
                  </m:oMath>
                </a14:m>
                <a:r>
                  <a:rPr lang="zh-CN" altLang="en-US" dirty="0">
                    <a:sym typeface="+mn-ea"/>
                  </a:rPr>
                  <a:t>。</a:t>
                </a:r>
                <a:endParaRPr lang="en-US" altLang="zh-CN" dirty="0"/>
              </a:p>
              <a:p>
                <a:pPr indent="0">
                  <a:buFont typeface="+mj-lt"/>
                  <a:buNone/>
                </a:pPr>
                <a:r>
                  <a:rPr lang="zh-CN" altLang="en-US" dirty="0">
                    <a:sym typeface="+mn-ea"/>
                  </a:rPr>
                  <a:t>空间复杂度：</a:t>
                </a:r>
                <a:r>
                  <a:rPr lang="en-US" altLang="zh-CN" dirty="0">
                    <a:sym typeface="+mn-ea"/>
                  </a:rPr>
                  <a:t> </a:t>
                </a:r>
                <a14:m>
                  <m:oMath xmlns:m="http://schemas.openxmlformats.org/officeDocument/2006/math">
                    <m:r>
                      <a:rPr lang="en-US" altLang="zh-CN" i="1">
                        <a:latin typeface="Cambria Math" panose="02040503050406030204" pitchFamily="18" charset="0"/>
                      </a:rPr>
                      <m:t>𝑂</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1</m:t>
                        </m:r>
                      </m:e>
                    </m:d>
                    <m:r>
                      <a:rPr lang="en-US" altLang="zh-CN" i="1">
                        <a:latin typeface="Cambria Math" panose="02040503050406030204" pitchFamily="18" charset="0"/>
                      </a:rPr>
                      <m:t> </m:t>
                    </m:r>
                  </m:oMath>
                </a14:m>
                <a:r>
                  <a:rPr lang="zh-CN" altLang="en-US" dirty="0">
                    <a:latin typeface="Times New Roman" panose="02020603050405020304" pitchFamily="18" charset="0"/>
                    <a:cs typeface="Times New Roman" panose="02020603050405020304" pitchFamily="18" charset="0"/>
                    <a:sym typeface="+mn-ea"/>
                  </a:rPr>
                  <a:t>。</a:t>
                </a:r>
                <a:endParaRPr lang="zh-CN" altLang="en-US"/>
              </a:p>
            </p:txBody>
          </p:sp>
        </mc:Choice>
        <mc:Fallback>
          <p:sp>
            <p:nvSpPr>
              <p:cNvPr id="16" name="文本框 15"/>
              <p:cNvSpPr txBox="1">
                <a:spLocks noRot="1" noChangeAspect="1" noMove="1" noResize="1" noEditPoints="1" noAdjustHandles="1" noChangeArrowheads="1" noChangeShapeType="1" noTextEdit="1"/>
              </p:cNvSpPr>
              <p:nvPr/>
            </p:nvSpPr>
            <p:spPr>
              <a:xfrm>
                <a:off x="5382895" y="5490845"/>
                <a:ext cx="6424930" cy="1183005"/>
              </a:xfrm>
              <a:prstGeom prst="rect">
                <a:avLst/>
              </a:prstGeom>
              <a:blipFill rotWithShape="1">
                <a:blip r:embed="rId9"/>
                <a:stretch>
                  <a:fillRect/>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258445" y="66040"/>
            <a:ext cx="8325485" cy="768350"/>
          </a:xfrm>
          <a:prstGeom prst="rect">
            <a:avLst/>
          </a:prstGeom>
          <a:noFill/>
        </p:spPr>
        <p:txBody>
          <a:bodyPr wrap="square" rtlCol="0">
            <a:spAutoFit/>
          </a:bodyPr>
          <a:lstStyle>
            <a:defPPr>
              <a:defRPr lang="zh-CN"/>
            </a:defPPr>
            <a:lvl1pPr algn="just">
              <a:defRPr sz="5400">
                <a:latin typeface="Agency FB" panose="020B0503020202020204" pitchFamily="34" charset="0"/>
                <a:cs typeface="+mn-ea"/>
              </a:defRPr>
            </a:lvl1pPr>
          </a:lstStyle>
          <a:p>
            <a:r>
              <a:rPr lang="en-US" altLang="zh-CN" sz="4400" dirty="0">
                <a:sym typeface="+mn-lt"/>
              </a:rPr>
              <a:t>Question3: </a:t>
            </a:r>
            <a:r>
              <a:rPr lang="en-US" altLang="zh-CN" sz="4400" b="1" dirty="0"/>
              <a:t>Four Sum </a:t>
            </a:r>
            <a:r>
              <a:rPr lang="zh-CN" altLang="en-US" sz="4400" b="1" dirty="0"/>
              <a:t>（四数之和）</a:t>
            </a:r>
            <a:r>
              <a:rPr lang="en-US" altLang="zh-CN" sz="4400" dirty="0">
                <a:sym typeface="+mn-lt"/>
              </a:rPr>
              <a:t> </a:t>
            </a:r>
            <a:endParaRPr lang="zh-CN" altLang="en-US" sz="4400" dirty="0">
              <a:sym typeface="+mn-lt"/>
            </a:endParaRPr>
          </a:p>
        </p:txBody>
      </p:sp>
      <p:sp>
        <p:nvSpPr>
          <p:cNvPr id="9" name="矩形 8"/>
          <p:cNvSpPr/>
          <p:nvPr/>
        </p:nvSpPr>
        <p:spPr>
          <a:xfrm>
            <a:off x="331032" y="1268022"/>
            <a:ext cx="11933358" cy="1938020"/>
          </a:xfrm>
          <a:prstGeom prst="rect">
            <a:avLst/>
          </a:prstGeom>
        </p:spPr>
        <p:txBody>
          <a:bodyPr wrap="square">
            <a:spAutoFit/>
          </a:bodyPr>
          <a:lstStyle/>
          <a:p>
            <a:pPr marL="285750" indent="-285750">
              <a:buFont typeface="Arial" panose="020B0604020202020204" pitchFamily="34" charset="0"/>
              <a:buChar char="•"/>
            </a:pPr>
            <a:r>
              <a:rPr lang="en-US" altLang="zh-CN" sz="2000" b="1" dirty="0">
                <a:latin typeface="微软雅黑" panose="020B0503020204020204" pitchFamily="34" charset="-122"/>
                <a:ea typeface="微软雅黑" panose="020B0503020204020204" pitchFamily="34" charset="-122"/>
              </a:rPr>
              <a:t>Description</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Given an array S of n integers, are there elements a, b, c, and d in S such that a + b + c + d = target?</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Find all unique quadruplets in the array which gives the sum of target.</a:t>
            </a:r>
            <a:endParaRPr lang="en-US" altLang="zh-CN"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en-US" altLang="zh-CN" sz="2000" b="1" dirty="0">
                <a:latin typeface="微软雅黑" panose="020B0503020204020204" pitchFamily="34" charset="-122"/>
                <a:ea typeface="微软雅黑" panose="020B0503020204020204" pitchFamily="34" charset="-122"/>
              </a:rPr>
              <a:t>Returned Value</a:t>
            </a:r>
            <a:endParaRPr lang="en-US" altLang="zh-CN" sz="2000" b="1"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en-US" altLang="zh-CN" sz="2000" dirty="0">
                <a:latin typeface="微软雅黑" panose="020B0503020204020204" pitchFamily="34" charset="-122"/>
                <a:ea typeface="微软雅黑" panose="020B0503020204020204" pitchFamily="34" charset="-122"/>
              </a:rPr>
              <a:t>Elements in a quadruplet (</a:t>
            </a:r>
            <a:r>
              <a:rPr lang="en-US" altLang="zh-CN" sz="2000" dirty="0" err="1">
                <a:latin typeface="微软雅黑" panose="020B0503020204020204" pitchFamily="34" charset="-122"/>
                <a:ea typeface="微软雅黑" panose="020B0503020204020204" pitchFamily="34" charset="-122"/>
              </a:rPr>
              <a:t>a,b,c,d</a:t>
            </a:r>
            <a:r>
              <a:rPr lang="en-US" altLang="zh-CN" sz="2000" dirty="0">
                <a:latin typeface="微软雅黑" panose="020B0503020204020204" pitchFamily="34" charset="-122"/>
                <a:ea typeface="微软雅黑" panose="020B0503020204020204" pitchFamily="34" charset="-122"/>
              </a:rPr>
              <a:t>) must be in non-descending order. (</a:t>
            </a:r>
            <a:r>
              <a:rPr lang="en-US" altLang="zh-CN" sz="2000" dirty="0" err="1">
                <a:latin typeface="微软雅黑" panose="020B0503020204020204" pitchFamily="34" charset="-122"/>
                <a:ea typeface="微软雅黑" panose="020B0503020204020204" pitchFamily="34" charset="-122"/>
              </a:rPr>
              <a:t>ie</a:t>
            </a:r>
            <a:r>
              <a:rPr lang="en-US" altLang="zh-CN" sz="2000" dirty="0">
                <a:latin typeface="微软雅黑" panose="020B0503020204020204" pitchFamily="34" charset="-122"/>
                <a:ea typeface="微软雅黑" panose="020B0503020204020204" pitchFamily="34" charset="-122"/>
              </a:rPr>
              <a:t>, a ≤ b ≤ c ≤ d)</a:t>
            </a:r>
            <a:endParaRPr lang="en-US" altLang="zh-CN" sz="20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ü"/>
            </a:pPr>
            <a:r>
              <a:rPr lang="en-US" altLang="zh-CN" sz="2000" dirty="0">
                <a:latin typeface="微软雅黑" panose="020B0503020204020204" pitchFamily="34" charset="-122"/>
                <a:ea typeface="微软雅黑" panose="020B0503020204020204" pitchFamily="34" charset="-122"/>
              </a:rPr>
              <a:t>The solution set must not contain duplicate quadruplets.</a:t>
            </a:r>
            <a:endParaRPr lang="zh-CN" altLang="en-US" sz="2000" dirty="0">
              <a:latin typeface="微软雅黑" panose="020B0503020204020204" pitchFamily="34" charset="-122"/>
              <a:ea typeface="微软雅黑" panose="020B0503020204020204" pitchFamily="34" charset="-122"/>
            </a:endParaRPr>
          </a:p>
        </p:txBody>
      </p:sp>
      <p:sp>
        <p:nvSpPr>
          <p:cNvPr id="13" name="矩形 12"/>
          <p:cNvSpPr/>
          <p:nvPr/>
        </p:nvSpPr>
        <p:spPr>
          <a:xfrm>
            <a:off x="600719" y="3722061"/>
            <a:ext cx="4442460" cy="922020"/>
          </a:xfrm>
          <a:prstGeom prst="rect">
            <a:avLst/>
          </a:prstGeom>
        </p:spPr>
        <p:txBody>
          <a:bodyPr wrap="none">
            <a:spAutoFit/>
          </a:bodyPr>
          <a:lstStyle/>
          <a:p>
            <a:r>
              <a:rPr lang="en-US" altLang="zh-CN" b="1" dirty="0">
                <a:latin typeface="微软雅黑" panose="020B0503020204020204" pitchFamily="34" charset="-122"/>
                <a:ea typeface="微软雅黑" panose="020B0503020204020204" pitchFamily="34" charset="-122"/>
              </a:rPr>
              <a:t>Example 1:</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Input: numbers = [2,7,11,15] target = 3</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Output: []</a:t>
            </a:r>
            <a:endParaRPr lang="zh-CN" altLang="en-US" dirty="0">
              <a:latin typeface="微软雅黑" panose="020B0503020204020204" pitchFamily="34" charset="-122"/>
              <a:ea typeface="微软雅黑" panose="020B0503020204020204" pitchFamily="34" charset="-122"/>
            </a:endParaRPr>
          </a:p>
        </p:txBody>
      </p:sp>
      <p:sp>
        <p:nvSpPr>
          <p:cNvPr id="16" name="矩形 15"/>
          <p:cNvSpPr/>
          <p:nvPr/>
        </p:nvSpPr>
        <p:spPr>
          <a:xfrm>
            <a:off x="600719" y="5160376"/>
            <a:ext cx="4923155" cy="922020"/>
          </a:xfrm>
          <a:prstGeom prst="rect">
            <a:avLst/>
          </a:prstGeom>
        </p:spPr>
        <p:txBody>
          <a:bodyPr wrap="none">
            <a:spAutoFit/>
          </a:bodyPr>
          <a:lstStyle/>
          <a:p>
            <a:r>
              <a:rPr lang="en-US" altLang="zh-CN" b="1" dirty="0">
                <a:latin typeface="微软雅黑" panose="020B0503020204020204" pitchFamily="34" charset="-122"/>
                <a:ea typeface="微软雅黑" panose="020B0503020204020204" pitchFamily="34" charset="-122"/>
              </a:rPr>
              <a:t>Example 2:</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Input: numbers = [1,0,-1,0,-2,2] target = 0</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Output: [[-1, 0, 0, 1],[-2, -1, 1, 2],[-2, 0, 0, 2]]</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8445" y="66040"/>
            <a:ext cx="10931525" cy="922020"/>
          </a:xfrm>
          <a:prstGeom prst="rect">
            <a:avLst/>
          </a:prstGeom>
          <a:noFill/>
        </p:spPr>
        <p:txBody>
          <a:bodyPr wrap="square" rtlCol="0">
            <a:spAutoFit/>
          </a:bodyPr>
          <a:lstStyle>
            <a:defPPr>
              <a:defRPr lang="zh-CN"/>
            </a:defPPr>
            <a:lvl1pPr algn="just">
              <a:defRPr sz="5400">
                <a:latin typeface="Agency FB" panose="020B0503020202020204" pitchFamily="34" charset="0"/>
                <a:cs typeface="+mn-ea"/>
              </a:defRPr>
            </a:lvl1pPr>
          </a:lstStyle>
          <a:p>
            <a:r>
              <a:rPr lang="en-US" altLang="zh-CN" dirty="0">
                <a:sym typeface="+mn-lt"/>
              </a:rPr>
              <a:t>Answer</a:t>
            </a:r>
            <a:r>
              <a:rPr lang="zh-CN" altLang="en-US" dirty="0">
                <a:sym typeface="+mn-lt"/>
              </a:rPr>
              <a:t>（双层循序</a:t>
            </a:r>
            <a:r>
              <a:rPr lang="en-US" altLang="zh-CN" dirty="0">
                <a:sym typeface="+mn-lt"/>
              </a:rPr>
              <a:t>+ </a:t>
            </a:r>
            <a:r>
              <a:rPr lang="zh-CN" altLang="en-US" dirty="0">
                <a:sym typeface="+mn-lt"/>
              </a:rPr>
              <a:t>双指针）</a:t>
            </a:r>
            <a:endParaRPr lang="zh-CN" altLang="en-US" dirty="0">
              <a:sym typeface="+mn-lt"/>
            </a:endParaRPr>
          </a:p>
        </p:txBody>
      </p:sp>
      <mc:AlternateContent xmlns:mc="http://schemas.openxmlformats.org/markup-compatibility/2006">
        <mc:Choice xmlns:a14="http://schemas.microsoft.com/office/drawing/2010/main" Requires="a14">
          <p:sp>
            <p:nvSpPr>
              <p:cNvPr id="3" name="矩形 2"/>
              <p:cNvSpPr/>
              <p:nvPr/>
            </p:nvSpPr>
            <p:spPr>
              <a:xfrm>
                <a:off x="258644" y="923056"/>
                <a:ext cx="10931137" cy="1639570"/>
              </a:xfrm>
              <a:prstGeom prst="rect">
                <a:avLst/>
              </a:prstGeom>
            </p:spPr>
            <p:txBody>
              <a:bodyPr wrap="square">
                <a:spAutoFit/>
              </a:bodyPr>
              <a:lstStyle/>
              <a:p>
                <a:pPr marL="285750" indent="-285750">
                  <a:spcAft>
                    <a:spcPts val="600"/>
                  </a:spcAft>
                  <a:buFont typeface="Wingdings" panose="05000000000000000000" pitchFamily="2" charset="2"/>
                  <a:buChar char="Ø"/>
                </a:pPr>
                <a:r>
                  <a:rPr lang="zh-CN" altLang="en-US" b="1" dirty="0"/>
                  <a:t>思路及算法（排序 </a:t>
                </a:r>
                <a:r>
                  <a:rPr lang="en-US" altLang="zh-CN" b="1" dirty="0"/>
                  <a:t>+ </a:t>
                </a:r>
                <a:r>
                  <a:rPr lang="zh-CN" altLang="en-US" b="1" dirty="0"/>
                  <a:t>双指针）</a:t>
                </a:r>
                <a:endParaRPr lang="en-US" altLang="zh-CN" b="1" dirty="0"/>
              </a:p>
              <a:p>
                <a:pPr>
                  <a:spcAft>
                    <a:spcPts val="600"/>
                  </a:spcAft>
                </a:pPr>
                <a:r>
                  <a:rPr lang="zh-CN" altLang="en-US" dirty="0">
                    <a:latin typeface="宋体" panose="02010600030101010101" pitchFamily="2" charset="-122"/>
                    <a:ea typeface="宋体" panose="02010600030101010101" pitchFamily="2" charset="-122"/>
                  </a:rPr>
                  <a:t>   本题与三数之和相似，解法也相似。</a:t>
                </a:r>
                <a:endParaRPr lang="en-US" altLang="zh-CN" dirty="0">
                  <a:latin typeface="宋体" panose="02010600030101010101" pitchFamily="2" charset="-122"/>
                  <a:ea typeface="宋体" panose="02010600030101010101" pitchFamily="2" charset="-122"/>
                </a:endParaRPr>
              </a:p>
              <a:p>
                <a:pPr>
                  <a:spcAft>
                    <a:spcPts val="600"/>
                  </a:spcAft>
                </a:pPr>
                <a:r>
                  <a:rPr lang="zh-CN" altLang="en-US" dirty="0">
                    <a:latin typeface="宋体" panose="02010600030101010101" pitchFamily="2" charset="-122"/>
                    <a:ea typeface="宋体" panose="02010600030101010101" pitchFamily="2" charset="-122"/>
                  </a:rPr>
                  <a:t>   最朴素的方法是使用四重循环枚举所有的四元组，然后使用哈希表进行去重操作，得到不包含重复四元组的最终答案。假设数组的长度是 </a:t>
                </a:r>
                <a:r>
                  <a:rPr lang="en-US" altLang="zh-CN" dirty="0">
                    <a:latin typeface="宋体" panose="02010600030101010101" pitchFamily="2" charset="-122"/>
                    <a:ea typeface="宋体" panose="02010600030101010101" pitchFamily="2" charset="-122"/>
                  </a:rPr>
                  <a:t>N</a:t>
                </a:r>
                <a:r>
                  <a:rPr lang="zh-CN" altLang="en-US" dirty="0">
                    <a:latin typeface="宋体" panose="02010600030101010101" pitchFamily="2" charset="-122"/>
                    <a:ea typeface="宋体" panose="02010600030101010101" pitchFamily="2" charset="-122"/>
                  </a:rPr>
                  <a:t>，则该方法中，</a:t>
                </a:r>
                <a:r>
                  <a:rPr lang="zh-CN" altLang="en-US" b="1" dirty="0">
                    <a:latin typeface="宋体" panose="02010600030101010101" pitchFamily="2" charset="-122"/>
                    <a:ea typeface="宋体" panose="02010600030101010101" pitchFamily="2" charset="-122"/>
                  </a:rPr>
                  <a:t>枚举的时间复杂度为 </a:t>
                </a:r>
                <a14:m>
                  <m:oMath xmlns:m="http://schemas.openxmlformats.org/officeDocument/2006/math">
                    <m:r>
                      <a:rPr lang="en-US" altLang="zh-CN" b="1" i="1" dirty="0">
                        <a:latin typeface="Cambria Math" panose="02040503050406030204" pitchFamily="18" charset="0"/>
                        <a:ea typeface="宋体" panose="02010600030101010101" pitchFamily="2" charset="-122"/>
                      </a:rPr>
                      <m:t>𝑶</m:t>
                    </m:r>
                    <m:d>
                      <m:dPr>
                        <m:ctrlPr>
                          <a:rPr lang="en-US" altLang="zh-CN" b="1" i="1" dirty="0" smtClean="0">
                            <a:latin typeface="Cambria Math" panose="02040503050406030204" pitchFamily="18" charset="0"/>
                            <a:ea typeface="宋体" panose="02010600030101010101" pitchFamily="2" charset="-122"/>
                          </a:rPr>
                        </m:ctrlPr>
                      </m:dPr>
                      <m:e>
                        <m:sSup>
                          <m:sSupPr>
                            <m:ctrlPr>
                              <a:rPr lang="en-US" altLang="zh-CN" b="1" i="1" dirty="0" smtClean="0">
                                <a:latin typeface="Cambria Math" panose="02040503050406030204" pitchFamily="18" charset="0"/>
                                <a:ea typeface="宋体" panose="02010600030101010101" pitchFamily="2" charset="-122"/>
                              </a:rPr>
                            </m:ctrlPr>
                          </m:sSupPr>
                          <m:e>
                            <m:r>
                              <a:rPr lang="en-US" altLang="zh-CN" b="1" i="1" dirty="0" smtClean="0">
                                <a:latin typeface="Cambria Math" panose="02040503050406030204" pitchFamily="18" charset="0"/>
                                <a:ea typeface="宋体" panose="02010600030101010101" pitchFamily="2" charset="-122"/>
                              </a:rPr>
                              <m:t>𝑵</m:t>
                            </m:r>
                          </m:e>
                          <m:sup>
                            <m:r>
                              <a:rPr lang="en-US" altLang="zh-CN" b="1" i="1" dirty="0" smtClean="0">
                                <a:latin typeface="Cambria Math" panose="02040503050406030204" pitchFamily="18" charset="0"/>
                                <a:ea typeface="宋体" panose="02010600030101010101" pitchFamily="2" charset="-122"/>
                              </a:rPr>
                              <m:t>𝟒</m:t>
                            </m:r>
                          </m:sup>
                        </m:sSup>
                      </m:e>
                    </m:d>
                  </m:oMath>
                </a14:m>
                <a:r>
                  <a:rPr lang="zh-CN" altLang="en-US" b="1" dirty="0">
                    <a:latin typeface="宋体" panose="02010600030101010101" pitchFamily="2" charset="-122"/>
                    <a:ea typeface="宋体" panose="02010600030101010101" pitchFamily="2" charset="-122"/>
                  </a:rPr>
                  <a:t>，去重操作的时间复杂度和空间复杂度也很高，因此需要换一种思路。</a:t>
                </a:r>
                <a:endParaRPr lang="en-US" altLang="zh-CN" b="1" dirty="0">
                  <a:latin typeface="宋体" panose="02010600030101010101" pitchFamily="2" charset="-122"/>
                  <a:ea typeface="宋体" panose="02010600030101010101" pitchFamily="2" charset="-122"/>
                </a:endParaRPr>
              </a:p>
            </p:txBody>
          </p:sp>
        </mc:Choice>
        <mc:Fallback>
          <p:sp>
            <p:nvSpPr>
              <p:cNvPr id="3" name="矩形 2"/>
              <p:cNvSpPr>
                <a:spLocks noRot="1" noChangeAspect="1" noMove="1" noResize="1" noEditPoints="1" noAdjustHandles="1" noChangeArrowheads="1" noChangeShapeType="1" noTextEdit="1"/>
              </p:cNvSpPr>
              <p:nvPr/>
            </p:nvSpPr>
            <p:spPr>
              <a:xfrm>
                <a:off x="258644" y="923056"/>
                <a:ext cx="10931137" cy="1639570"/>
              </a:xfrm>
              <a:prstGeom prst="rect">
                <a:avLst/>
              </a:prstGeom>
              <a:blipFill rotWithShape="1">
                <a:blip r:embed="rId1"/>
                <a:stretch>
                  <a:fillRect l="-2" t="-24" r="4"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258644" y="2600182"/>
                <a:ext cx="10931136" cy="2270760"/>
              </a:xfrm>
              <a:prstGeom prst="rect">
                <a:avLst/>
              </a:prstGeom>
            </p:spPr>
            <p:txBody>
              <a:bodyPr wrap="square">
                <a:spAutoFit/>
              </a:bodyPr>
              <a:lstStyle/>
              <a:p>
                <a:pPr>
                  <a:spcAft>
                    <a:spcPts val="600"/>
                  </a:spcAft>
                </a:pPr>
                <a:r>
                  <a:rPr lang="zh-CN" altLang="en-US" dirty="0">
                    <a:latin typeface="宋体" panose="02010600030101010101" pitchFamily="2" charset="-122"/>
                    <a:ea typeface="宋体" panose="02010600030101010101" pitchFamily="2" charset="-122"/>
                  </a:rPr>
                  <a:t>   为了避免枚举到重复四元组，</a:t>
                </a:r>
                <a:r>
                  <a:rPr lang="zh-CN" altLang="en-US" b="1" dirty="0">
                    <a:latin typeface="宋体" panose="02010600030101010101" pitchFamily="2" charset="-122"/>
                    <a:ea typeface="宋体" panose="02010600030101010101" pitchFamily="2" charset="-122"/>
                  </a:rPr>
                  <a:t>则需要保证每一重循环枚举到的元素不小于其上一重循环枚举到的元素，且在同一重循环中不能多次枚举到相同的元素</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为了实现上述要求，可以对数组进行排序，并且在循环过程中遵循以下两点：</a:t>
                </a:r>
                <a:endParaRPr lang="en-US" altLang="zh-CN" dirty="0">
                  <a:latin typeface="宋体" panose="02010600030101010101" pitchFamily="2" charset="-122"/>
                  <a:ea typeface="宋体" panose="02010600030101010101" pitchFamily="2" charset="-122"/>
                </a:endParaRPr>
              </a:p>
              <a:p>
                <a:pPr marL="285750" indent="-285750">
                  <a:spcAft>
                    <a:spcPts val="600"/>
                  </a:spcAft>
                  <a:buFont typeface="Arial" panose="020B0604020202020204" pitchFamily="34" charset="0"/>
                  <a:buChar char="•"/>
                </a:pPr>
                <a:r>
                  <a:rPr lang="zh-CN" altLang="en-US" dirty="0">
                    <a:latin typeface="宋体" panose="02010600030101010101" pitchFamily="2" charset="-122"/>
                    <a:ea typeface="宋体" panose="02010600030101010101" pitchFamily="2" charset="-122"/>
                  </a:rPr>
                  <a:t>每一种循环枚举到的下标必须大于上一重循环枚举到的下标；</a:t>
                </a:r>
                <a:endParaRPr lang="zh-CN" altLang="en-US" dirty="0">
                  <a:latin typeface="宋体" panose="02010600030101010101" pitchFamily="2" charset="-122"/>
                  <a:ea typeface="宋体" panose="02010600030101010101" pitchFamily="2" charset="-122"/>
                </a:endParaRPr>
              </a:p>
              <a:p>
                <a:pPr marL="285750" indent="-285750">
                  <a:spcAft>
                    <a:spcPts val="600"/>
                  </a:spcAft>
                  <a:buFont typeface="Arial" panose="020B0604020202020204" pitchFamily="34" charset="0"/>
                  <a:buChar char="•"/>
                </a:pPr>
                <a:r>
                  <a:rPr lang="zh-CN" altLang="en-US" dirty="0">
                    <a:latin typeface="宋体" panose="02010600030101010101" pitchFamily="2" charset="-122"/>
                    <a:ea typeface="宋体" panose="02010600030101010101" pitchFamily="2" charset="-122"/>
                  </a:rPr>
                  <a:t>同一重循环中，如果当前元素与上一个元素相同，则跳过当前元素。</a:t>
                </a:r>
                <a:endParaRPr lang="zh-CN" altLang="en-US"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   使用上述方法，可以避免枚举到重复四元组，但是由于仍使用四重循环，时间复杂度仍是 </a:t>
                </a:r>
                <a14:m>
                  <m:oMath xmlns:m="http://schemas.openxmlformats.org/officeDocument/2006/math">
                    <m:r>
                      <m:rPr>
                        <m:sty m:val="p"/>
                      </m:rPr>
                      <a:rPr lang="en-US" altLang="zh-CN" i="1" dirty="0">
                        <a:latin typeface="Cambria Math" panose="02040503050406030204" pitchFamily="18" charset="0"/>
                        <a:ea typeface="宋体" panose="02010600030101010101" pitchFamily="2" charset="-122"/>
                      </a:rPr>
                      <m:t>O</m:t>
                    </m:r>
                    <m:d>
                      <m:dPr>
                        <m:ctrlPr>
                          <a:rPr lang="en-US" altLang="zh-CN" i="1" dirty="0">
                            <a:latin typeface="Cambria Math" panose="02040503050406030204" pitchFamily="18" charset="0"/>
                            <a:ea typeface="宋体" panose="02010600030101010101" pitchFamily="2" charset="-122"/>
                          </a:rPr>
                        </m:ctrlPr>
                      </m:dPr>
                      <m:e>
                        <m:sSup>
                          <m:sSupPr>
                            <m:ctrlPr>
                              <a:rPr lang="en-US" altLang="zh-CN" i="1" dirty="0">
                                <a:latin typeface="Cambria Math" panose="02040503050406030204" pitchFamily="18" charset="0"/>
                                <a:ea typeface="宋体" panose="02010600030101010101" pitchFamily="2" charset="-122"/>
                              </a:rPr>
                            </m:ctrlPr>
                          </m:sSupPr>
                          <m:e>
                            <m:r>
                              <a:rPr lang="en-US" altLang="zh-CN" i="1" dirty="0">
                                <a:latin typeface="Cambria Math" panose="02040503050406030204" pitchFamily="18" charset="0"/>
                                <a:ea typeface="宋体" panose="02010600030101010101" pitchFamily="2" charset="-122"/>
                              </a:rPr>
                              <m:t>𝑁</m:t>
                            </m:r>
                          </m:e>
                          <m:sup>
                            <m:r>
                              <a:rPr lang="en-US" altLang="zh-CN" i="1" dirty="0">
                                <a:latin typeface="Cambria Math" panose="02040503050406030204" pitchFamily="18" charset="0"/>
                                <a:ea typeface="宋体" panose="02010600030101010101" pitchFamily="2" charset="-122"/>
                              </a:rPr>
                              <m:t>4</m:t>
                            </m:r>
                          </m:sup>
                        </m:sSup>
                      </m:e>
                    </m:d>
                  </m:oMath>
                </a14:m>
                <a:r>
                  <a:rPr lang="zh-CN" altLang="en-US" dirty="0">
                    <a:latin typeface="宋体" panose="02010600030101010101" pitchFamily="2" charset="-122"/>
                    <a:ea typeface="宋体" panose="02010600030101010101" pitchFamily="2" charset="-122"/>
                  </a:rPr>
                  <a:t>。注意到数组已经被排序，因此可以使用双指针的方法去掉一重循环。</a:t>
                </a:r>
                <a:endParaRPr lang="zh-CN" altLang="en-US" dirty="0">
                  <a:latin typeface="宋体" panose="02010600030101010101" pitchFamily="2" charset="-122"/>
                  <a:ea typeface="宋体" panose="02010600030101010101" pitchFamily="2" charset="-122"/>
                </a:endParaRPr>
              </a:p>
            </p:txBody>
          </p:sp>
        </mc:Choice>
        <mc:Fallback>
          <p:sp>
            <p:nvSpPr>
              <p:cNvPr id="4" name="矩形 3"/>
              <p:cNvSpPr>
                <a:spLocks noRot="1" noChangeAspect="1" noMove="1" noResize="1" noEditPoints="1" noAdjustHandles="1" noChangeArrowheads="1" noChangeShapeType="1" noTextEdit="1"/>
              </p:cNvSpPr>
              <p:nvPr/>
            </p:nvSpPr>
            <p:spPr>
              <a:xfrm>
                <a:off x="258644" y="2600182"/>
                <a:ext cx="10931136" cy="2270760"/>
              </a:xfrm>
              <a:prstGeom prst="rect">
                <a:avLst/>
              </a:prstGeom>
              <a:blipFill rotWithShape="1">
                <a:blip r:embed="rId2"/>
                <a:stretch>
                  <a:fillRect l="-2" t="-22" r="4" b="22"/>
                </a:stretch>
              </a:blipFill>
            </p:spPr>
            <p:txBody>
              <a:bodyPr/>
              <a:lstStyle/>
              <a:p>
                <a:r>
                  <a:rPr lang="zh-CN" altLang="en-US">
                    <a:noFill/>
                  </a:rPr>
                  <a:t> </a:t>
                </a:r>
              </a:p>
            </p:txBody>
          </p:sp>
        </mc:Fallback>
      </mc:AlternateContent>
      <p:sp>
        <p:nvSpPr>
          <p:cNvPr id="5" name="矩形 4"/>
          <p:cNvSpPr/>
          <p:nvPr/>
        </p:nvSpPr>
        <p:spPr>
          <a:xfrm>
            <a:off x="258642" y="4862340"/>
            <a:ext cx="10931136" cy="2030095"/>
          </a:xfrm>
          <a:prstGeom prst="rect">
            <a:avLst/>
          </a:prstGeom>
        </p:spPr>
        <p:txBody>
          <a:bodyPr wrap="square">
            <a:spAutoFit/>
          </a:bodyPr>
          <a:lstStyle/>
          <a:p>
            <a:r>
              <a:rPr lang="zh-CN" altLang="en-US" dirty="0">
                <a:latin typeface="宋体" panose="02010600030101010101" pitchFamily="2" charset="-122"/>
                <a:ea typeface="宋体" panose="02010600030101010101" pitchFamily="2" charset="-122"/>
              </a:rPr>
              <a:t>   </a:t>
            </a:r>
            <a:r>
              <a:rPr lang="zh-CN" altLang="en-US" b="1" dirty="0">
                <a:solidFill>
                  <a:srgbClr val="FF0000"/>
                </a:solidFill>
                <a:latin typeface="宋体" panose="02010600030101010101" pitchFamily="2" charset="-122"/>
                <a:ea typeface="宋体" panose="02010600030101010101" pitchFamily="2" charset="-122"/>
              </a:rPr>
              <a:t>使用两重循环分别枚举前两个数，然后在两重循环枚举到的数之后使用双指针枚举剩下的两个数</a:t>
            </a:r>
            <a:r>
              <a:rPr lang="zh-CN" altLang="en-US" dirty="0">
                <a:latin typeface="宋体" panose="02010600030101010101" pitchFamily="2" charset="-122"/>
                <a:ea typeface="宋体" panose="02010600030101010101" pitchFamily="2" charset="-122"/>
              </a:rPr>
              <a:t>。假设两重循环枚举到的前两个数分别位于下标 </a:t>
            </a:r>
            <a:r>
              <a:rPr lang="en-US" altLang="zh-CN" dirty="0" err="1">
                <a:latin typeface="宋体" panose="02010600030101010101" pitchFamily="2" charset="-122"/>
                <a:ea typeface="宋体" panose="02010600030101010101" pitchFamily="2" charset="-122"/>
              </a:rPr>
              <a:t>i</a:t>
            </a:r>
            <a:r>
              <a:rPr lang="zh-CN" altLang="en-US" dirty="0">
                <a:latin typeface="宋体" panose="02010600030101010101" pitchFamily="2" charset="-122"/>
                <a:ea typeface="宋体" panose="02010600030101010101" pitchFamily="2" charset="-122"/>
              </a:rPr>
              <a:t> 和 </a:t>
            </a:r>
            <a:r>
              <a:rPr lang="en-US" altLang="zh-CN" dirty="0">
                <a:latin typeface="宋体" panose="02010600030101010101" pitchFamily="2" charset="-122"/>
                <a:ea typeface="宋体" panose="02010600030101010101" pitchFamily="2" charset="-122"/>
              </a:rPr>
              <a:t>j</a:t>
            </a:r>
            <a:r>
              <a:rPr lang="zh-CN" altLang="en-US" dirty="0">
                <a:latin typeface="宋体" panose="02010600030101010101" pitchFamily="2" charset="-122"/>
                <a:ea typeface="宋体" panose="02010600030101010101" pitchFamily="2" charset="-122"/>
              </a:rPr>
              <a:t>，其中 </a:t>
            </a:r>
            <a:r>
              <a:rPr lang="en-US" altLang="zh-CN" dirty="0" err="1">
                <a:latin typeface="宋体" panose="02010600030101010101" pitchFamily="2" charset="-122"/>
                <a:ea typeface="宋体" panose="02010600030101010101" pitchFamily="2" charset="-122"/>
              </a:rPr>
              <a:t>i</a:t>
            </a:r>
            <a:r>
              <a:rPr lang="en-US" altLang="zh-CN" dirty="0">
                <a:latin typeface="宋体" panose="02010600030101010101" pitchFamily="2" charset="-122"/>
                <a:ea typeface="宋体" panose="02010600030101010101" pitchFamily="2" charset="-122"/>
              </a:rPr>
              <a:t>&lt;j</a:t>
            </a:r>
            <a:r>
              <a:rPr lang="zh-CN" altLang="en-US" dirty="0">
                <a:latin typeface="宋体" panose="02010600030101010101" pitchFamily="2" charset="-122"/>
                <a:ea typeface="宋体" panose="02010600030101010101" pitchFamily="2" charset="-122"/>
              </a:rPr>
              <a:t>。初始时，左右指针分别指向下标</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j+1</a:t>
            </a:r>
            <a:r>
              <a:rPr lang="zh-CN" altLang="en-US" dirty="0">
                <a:latin typeface="宋体" panose="02010600030101010101" pitchFamily="2" charset="-122"/>
                <a:ea typeface="宋体" panose="02010600030101010101" pitchFamily="2" charset="-122"/>
              </a:rPr>
              <a:t> 和下标</a:t>
            </a:r>
            <a:r>
              <a:rPr lang="en-US" altLang="zh-CN" b="1"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。每次计算四个数的和</a:t>
            </a:r>
            <a:r>
              <a:rPr lang="zh-CN" altLang="en-US" dirty="0">
                <a:latin typeface="宋体" panose="02010600030101010101" pitchFamily="2" charset="-122"/>
                <a:ea typeface="宋体" panose="02010600030101010101" pitchFamily="2" charset="-122"/>
              </a:rPr>
              <a:t>，并进行如下操作：</a:t>
            </a:r>
            <a:endParaRPr lang="en-US" altLang="zh-CN"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dirty="0">
                <a:latin typeface="宋体" panose="02010600030101010101" pitchFamily="2" charset="-122"/>
                <a:ea typeface="宋体" panose="02010600030101010101" pitchFamily="2" charset="-122"/>
              </a:rPr>
              <a:t>如果和等于 </a:t>
            </a:r>
            <a:r>
              <a:rPr lang="en-US" altLang="zh-CN" dirty="0">
                <a:latin typeface="宋体" panose="02010600030101010101" pitchFamily="2" charset="-122"/>
                <a:ea typeface="宋体" panose="02010600030101010101" pitchFamily="2" charset="-122"/>
              </a:rPr>
              <a:t>target</a:t>
            </a:r>
            <a:r>
              <a:rPr lang="zh-CN" altLang="en-US" dirty="0">
                <a:latin typeface="宋体" panose="02010600030101010101" pitchFamily="2" charset="-122"/>
                <a:ea typeface="宋体" panose="02010600030101010101" pitchFamily="2" charset="-122"/>
              </a:rPr>
              <a:t>，则将枚举到的四个数加到答案中，然后将左指针右移直到遇到不同的数，将右指针左移直到遇到不同的数；</a:t>
            </a:r>
            <a:endParaRPr lang="en-US" altLang="zh-CN"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dirty="0">
                <a:latin typeface="宋体" panose="02010600030101010101" pitchFamily="2" charset="-122"/>
                <a:ea typeface="宋体" panose="02010600030101010101" pitchFamily="2" charset="-122"/>
              </a:rPr>
              <a:t>如果和小于 </a:t>
            </a:r>
            <a:r>
              <a:rPr lang="en-US" altLang="zh-CN" dirty="0">
                <a:latin typeface="宋体" panose="02010600030101010101" pitchFamily="2" charset="-122"/>
                <a:ea typeface="宋体" panose="02010600030101010101" pitchFamily="2" charset="-122"/>
              </a:rPr>
              <a:t>target</a:t>
            </a:r>
            <a:r>
              <a:rPr lang="zh-CN" altLang="en-US" dirty="0">
                <a:latin typeface="宋体" panose="02010600030101010101" pitchFamily="2" charset="-122"/>
                <a:ea typeface="宋体" panose="02010600030101010101" pitchFamily="2" charset="-122"/>
              </a:rPr>
              <a:t>，则将左指针右移一位；</a:t>
            </a:r>
            <a:endParaRPr lang="zh-CN" altLang="en-US"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dirty="0">
                <a:latin typeface="宋体" panose="02010600030101010101" pitchFamily="2" charset="-122"/>
                <a:ea typeface="宋体" panose="02010600030101010101" pitchFamily="2" charset="-122"/>
              </a:rPr>
              <a:t>如果和大于 </a:t>
            </a:r>
            <a:r>
              <a:rPr lang="en-US" altLang="zh-CN" dirty="0">
                <a:latin typeface="宋体" panose="02010600030101010101" pitchFamily="2" charset="-122"/>
                <a:ea typeface="宋体" panose="02010600030101010101" pitchFamily="2" charset="-122"/>
              </a:rPr>
              <a:t>target</a:t>
            </a:r>
            <a:r>
              <a:rPr lang="zh-CN" altLang="en-US" dirty="0">
                <a:latin typeface="宋体" panose="02010600030101010101" pitchFamily="2" charset="-122"/>
                <a:ea typeface="宋体" panose="02010600030101010101" pitchFamily="2" charset="-122"/>
              </a:rPr>
              <a:t>，则将右指针左移一位。</a:t>
            </a:r>
            <a:endParaRPr lang="zh-CN" altLang="en-US" dirty="0">
              <a:latin typeface="宋体" panose="02010600030101010101" pitchFamily="2" charset="-122"/>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02" y="-244"/>
            <a:ext cx="8603961" cy="4223373"/>
          </a:xfrm>
          <a:prstGeom prst="rect">
            <a:avLst/>
          </a:prstGeom>
        </p:spPr>
      </p:pic>
      <p:pic>
        <p:nvPicPr>
          <p:cNvPr id="7" name="图片 6"/>
          <p:cNvPicPr>
            <a:picLocks noChangeAspect="1"/>
          </p:cNvPicPr>
          <p:nvPr/>
        </p:nvPicPr>
        <p:blipFill>
          <a:blip r:embed="rId2"/>
          <a:stretch>
            <a:fillRect/>
          </a:stretch>
        </p:blipFill>
        <p:spPr>
          <a:xfrm>
            <a:off x="250013" y="4336308"/>
            <a:ext cx="8777177" cy="1129062"/>
          </a:xfrm>
          <a:prstGeom prst="rect">
            <a:avLst/>
          </a:prstGeom>
        </p:spPr>
      </p:pic>
      <p:sp>
        <p:nvSpPr>
          <p:cNvPr id="3" name="文本框 2"/>
          <p:cNvSpPr txBox="1"/>
          <p:nvPr/>
        </p:nvSpPr>
        <p:spPr>
          <a:xfrm>
            <a:off x="127635" y="5465445"/>
            <a:ext cx="11014710" cy="1476375"/>
          </a:xfrm>
          <a:prstGeom prst="rect">
            <a:avLst/>
          </a:prstGeom>
          <a:noFill/>
        </p:spPr>
        <p:txBody>
          <a:bodyPr wrap="square" rtlCol="0">
            <a:spAutoFit/>
          </a:bodyPr>
          <a:lstStyle/>
          <a:p>
            <a:r>
              <a:rPr lang="zh-CN" altLang="en-US" b="1"/>
              <a:t>四数之和的双指针解法是两层for循环nums[k] + nums[i]为确定值，依然是循环内有left和right下标作为双指针</a:t>
            </a:r>
            <a:r>
              <a:rPr lang="zh-CN" altLang="en-US"/>
              <a:t>，找出nums[k] + nums[i] + nums[left] + nums[right] == target的情况，三数之和的时间复杂度是O(n^2)，四数之和的时间复杂度是O(n^3) 。</a:t>
            </a:r>
            <a:endParaRPr lang="zh-CN" altLang="en-US"/>
          </a:p>
          <a:p>
            <a:endParaRPr lang="zh-CN" altLang="en-US"/>
          </a:p>
          <a:p>
            <a:r>
              <a:rPr lang="zh-CN" altLang="en-US"/>
              <a:t>那么一样的道理，五数之和、六数之和等等都采用这种解法。</a:t>
            </a:r>
            <a:endParaRPr lang="zh-CN" altLang="en-US"/>
          </a:p>
        </p:txBody>
      </p:sp>
      <p:sp>
        <p:nvSpPr>
          <p:cNvPr id="4" name="文本框 3"/>
          <p:cNvSpPr txBox="1"/>
          <p:nvPr/>
        </p:nvSpPr>
        <p:spPr>
          <a:xfrm>
            <a:off x="8603615" y="186055"/>
            <a:ext cx="3729990" cy="3693319"/>
          </a:xfrm>
          <a:prstGeom prst="rect">
            <a:avLst/>
          </a:prstGeom>
          <a:noFill/>
        </p:spPr>
        <p:txBody>
          <a:bodyPr wrap="square" rtlCol="0">
            <a:spAutoFit/>
          </a:bodyPr>
          <a:lstStyle/>
          <a:p>
            <a:r>
              <a:rPr lang="zh-CN" altLang="en-US" b="1" dirty="0">
                <a:sym typeface="+mn-ea"/>
              </a:rPr>
              <a:t>nums[i] &gt; 0</a:t>
            </a:r>
            <a:endParaRPr lang="zh-CN" altLang="en-US" b="1" dirty="0">
              <a:sym typeface="+mn-ea"/>
            </a:endParaRPr>
          </a:p>
          <a:p>
            <a:endParaRPr lang="zh-CN" altLang="en-US" b="1" dirty="0">
              <a:sym typeface="+mn-ea"/>
            </a:endParaRPr>
          </a:p>
          <a:p>
            <a:r>
              <a:rPr lang="en-US" altLang="zh-CN" b="1" dirty="0">
                <a:sym typeface="+mn-ea"/>
              </a:rPr>
              <a:t>===</a:t>
            </a:r>
            <a:r>
              <a:rPr lang="zh-CN" altLang="en-US" b="1" dirty="0">
                <a:sym typeface="+mn-ea"/>
              </a:rPr>
              <a:t>》</a:t>
            </a:r>
            <a:endParaRPr lang="zh-CN" altLang="en-US" b="1" dirty="0">
              <a:sym typeface="+mn-ea"/>
            </a:endParaRPr>
          </a:p>
          <a:p>
            <a:endParaRPr lang="zh-CN" altLang="en-US" b="1" dirty="0">
              <a:sym typeface="+mn-ea"/>
            </a:endParaRPr>
          </a:p>
          <a:p>
            <a:r>
              <a:rPr lang="zh-CN" altLang="en-US" dirty="0">
                <a:sym typeface="+mn-ea"/>
              </a:rPr>
              <a:t>nums[k] &gt; target &amp;&amp; (nums[k] &gt;=0 || target &gt;= 0)</a:t>
            </a:r>
            <a:endParaRPr lang="zh-CN" altLang="en-US" dirty="0"/>
          </a:p>
          <a:p>
            <a:endParaRPr lang="zh-CN" altLang="en-US" dirty="0"/>
          </a:p>
          <a:p>
            <a:r>
              <a:rPr lang="zh-CN" altLang="en-US" dirty="0"/>
              <a:t>第二层循环的剪枝</a:t>
            </a:r>
            <a:endParaRPr lang="zh-CN" altLang="en-US" dirty="0"/>
          </a:p>
          <a:p>
            <a:r>
              <a:rPr lang="zh-CN" altLang="en-US" dirty="0"/>
              <a:t>nums[k] + nums[i] &gt; target &amp;&amp; nums[k] + nums[i] &gt;= 0</a:t>
            </a:r>
            <a:endParaRPr lang="en-US" altLang="zh-CN" dirty="0"/>
          </a:p>
          <a:p>
            <a:endParaRPr lang="en-US" altLang="zh-CN" dirty="0"/>
          </a:p>
          <a:p>
            <a:r>
              <a:rPr lang="zh-CN" altLang="en-US" dirty="0"/>
              <a:t>数组是[-4, -3, -2, -1]，</a:t>
            </a:r>
            <a:endParaRPr lang="en-US" altLang="zh-CN" dirty="0"/>
          </a:p>
          <a:p>
            <a:r>
              <a:rPr lang="zh-CN" altLang="en-US" dirty="0"/>
              <a:t>target是-10</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a:blip r:embed="rId2"/>
          <a:stretch>
            <a:fillRect/>
          </a:stretch>
        </p:blipFill>
        <p:spPr>
          <a:xfrm>
            <a:off x="4384675" y="186055"/>
            <a:ext cx="7694295" cy="5629275"/>
          </a:xfrm>
          <a:prstGeom prst="rect">
            <a:avLst/>
          </a:prstGeom>
        </p:spPr>
      </p:pic>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custDataLst>
              <p:tags r:id="rId3"/>
            </p:custDataLst>
          </p:nvPr>
        </p:nvPicPr>
        <p:blipFill>
          <a:blip r:embed="rId4"/>
          <a:stretch>
            <a:fillRect/>
          </a:stretch>
        </p:blipFill>
        <p:spPr>
          <a:xfrm>
            <a:off x="0" y="0"/>
            <a:ext cx="5214620" cy="4351655"/>
          </a:xfrm>
          <a:prstGeom prst="rect">
            <a:avLst/>
          </a:prstGeom>
        </p:spPr>
      </p:pic>
      <p:cxnSp>
        <p:nvCxnSpPr>
          <p:cNvPr id="10" name="直接连接符 9"/>
          <p:cNvCxnSpPr/>
          <p:nvPr>
            <p:custDataLst>
              <p:tags r:id="rId5"/>
            </p:custDataLst>
          </p:nvPr>
        </p:nvCxnSpPr>
        <p:spPr>
          <a:xfrm>
            <a:off x="662940" y="1022985"/>
            <a:ext cx="3097530" cy="10160"/>
          </a:xfrm>
          <a:prstGeom prst="line">
            <a:avLst/>
          </a:prstGeom>
          <a:ln>
            <a:solidFill>
              <a:srgbClr val="FF0000"/>
            </a:solidFill>
          </a:ln>
        </p:spPr>
        <p:style>
          <a:lnRef idx="3">
            <a:schemeClr val="accent1"/>
          </a:lnRef>
          <a:fillRef idx="0">
            <a:srgbClr val="FFFFFF"/>
          </a:fillRef>
          <a:effectRef idx="0">
            <a:srgbClr val="FFFFFF"/>
          </a:effectRef>
          <a:fontRef idx="minor">
            <a:schemeClr val="tx1"/>
          </a:fontRef>
        </p:style>
      </p:cxnSp>
      <p:cxnSp>
        <p:nvCxnSpPr>
          <p:cNvPr id="6" name="直接连接符 5"/>
          <p:cNvCxnSpPr/>
          <p:nvPr>
            <p:custDataLst>
              <p:tags r:id="rId6"/>
            </p:custDataLst>
          </p:nvPr>
        </p:nvCxnSpPr>
        <p:spPr>
          <a:xfrm>
            <a:off x="1058545" y="1824990"/>
            <a:ext cx="3097530" cy="10160"/>
          </a:xfrm>
          <a:prstGeom prst="line">
            <a:avLst/>
          </a:prstGeom>
          <a:ln>
            <a:solidFill>
              <a:srgbClr val="FF0000"/>
            </a:solidFill>
          </a:ln>
        </p:spPr>
        <p:style>
          <a:lnRef idx="3">
            <a:schemeClr val="accent1"/>
          </a:lnRef>
          <a:fillRef idx="0">
            <a:srgbClr val="FFFFFF"/>
          </a:fillRef>
          <a:effectRef idx="0">
            <a:srgbClr val="FFFFFF"/>
          </a:effectRef>
          <a:fontRef idx="minor">
            <a:schemeClr val="tx1"/>
          </a:fontRef>
        </p:style>
      </p:cxnSp>
      <p:cxnSp>
        <p:nvCxnSpPr>
          <p:cNvPr id="7" name="直接连接符 6"/>
          <p:cNvCxnSpPr/>
          <p:nvPr>
            <p:custDataLst>
              <p:tags r:id="rId7"/>
            </p:custDataLst>
          </p:nvPr>
        </p:nvCxnSpPr>
        <p:spPr>
          <a:xfrm>
            <a:off x="1383665" y="3558540"/>
            <a:ext cx="3097530" cy="10160"/>
          </a:xfrm>
          <a:prstGeom prst="line">
            <a:avLst/>
          </a:prstGeom>
          <a:ln>
            <a:solidFill>
              <a:srgbClr val="FF0000"/>
            </a:solidFill>
          </a:ln>
        </p:spPr>
        <p:style>
          <a:lnRef idx="3">
            <a:schemeClr val="accent1"/>
          </a:lnRef>
          <a:fillRef idx="0">
            <a:srgbClr val="FFFFFF"/>
          </a:fillRef>
          <a:effectRef idx="0">
            <a:srgbClr val="FFFFFF"/>
          </a:effectRef>
          <a:fontRef idx="minor">
            <a:schemeClr val="tx1"/>
          </a:fontRef>
        </p:style>
      </p:cxnSp>
      <p:cxnSp>
        <p:nvCxnSpPr>
          <p:cNvPr id="8" name="直接连接符 7"/>
          <p:cNvCxnSpPr/>
          <p:nvPr>
            <p:custDataLst>
              <p:tags r:id="rId8"/>
            </p:custDataLst>
          </p:nvPr>
        </p:nvCxnSpPr>
        <p:spPr>
          <a:xfrm>
            <a:off x="5853430" y="1680845"/>
            <a:ext cx="3097530" cy="10160"/>
          </a:xfrm>
          <a:prstGeom prst="line">
            <a:avLst/>
          </a:prstGeom>
          <a:ln>
            <a:solidFill>
              <a:srgbClr val="FF0000"/>
            </a:solidFill>
          </a:ln>
        </p:spPr>
        <p:style>
          <a:lnRef idx="3">
            <a:schemeClr val="accent1"/>
          </a:lnRef>
          <a:fillRef idx="0">
            <a:srgbClr val="FFFFFF"/>
          </a:fillRef>
          <a:effectRef idx="0">
            <a:srgbClr val="FFFFFF"/>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775" y="120650"/>
            <a:ext cx="10515600" cy="1325563"/>
          </a:xfrm>
        </p:spPr>
        <p:txBody>
          <a:bodyPr/>
          <a:lstStyle/>
          <a:p>
            <a:r>
              <a:rPr lang="zh-CN" altLang="en-US"/>
              <a:t>总结</a:t>
            </a:r>
            <a:endParaRPr lang="zh-CN" altLang="en-US"/>
          </a:p>
        </p:txBody>
      </p:sp>
      <p:sp>
        <p:nvSpPr>
          <p:cNvPr id="3" name="内容占位符 2"/>
          <p:cNvSpPr>
            <a:spLocks noGrp="1"/>
          </p:cNvSpPr>
          <p:nvPr>
            <p:ph idx="1"/>
          </p:nvPr>
        </p:nvSpPr>
        <p:spPr>
          <a:xfrm>
            <a:off x="221615" y="1139190"/>
            <a:ext cx="10515600" cy="4351338"/>
          </a:xfrm>
        </p:spPr>
        <p:txBody>
          <a:bodyPr>
            <a:normAutofit fontScale="82500" lnSpcReduction="20000"/>
          </a:bodyPr>
          <a:lstStyle/>
          <a:p>
            <a:r>
              <a:rPr lang="zh-CN" altLang="en-US" dirty="0"/>
              <a:t>代码随想录</a:t>
            </a:r>
            <a:r>
              <a:rPr lang="en-US" altLang="zh-CN" dirty="0"/>
              <a:t>-</a:t>
            </a:r>
            <a:r>
              <a:rPr lang="zh-CN" altLang="en-US" dirty="0"/>
              <a:t>哈希表</a:t>
            </a:r>
            <a:endParaRPr lang="zh-CN" altLang="en-US" dirty="0"/>
          </a:p>
          <a:p>
            <a:r>
              <a:rPr lang="zh-CN" altLang="en-US" dirty="0"/>
              <a:t>https://www.programmercarl.com/</a:t>
            </a:r>
            <a:endParaRPr lang="zh-CN" altLang="en-US" dirty="0"/>
          </a:p>
          <a:p>
            <a:r>
              <a:rPr lang="zh-CN" altLang="en-US" dirty="0"/>
              <a:t>哈希表：</a:t>
            </a:r>
            <a:r>
              <a:rPr lang="zh-CN" altLang="en-US" b="1" dirty="0">
                <a:sym typeface="+mn-ea"/>
              </a:rPr>
              <a:t>下标直接访问数组中的元素，实现查找效率</a:t>
            </a:r>
            <a:endParaRPr lang="zh-CN" altLang="en-US" b="1" dirty="0">
              <a:sym typeface="+mn-ea"/>
            </a:endParaRPr>
          </a:p>
          <a:p>
            <a:r>
              <a:rPr lang="en-US" altLang="zh-CN" b="1" dirty="0">
                <a:sym typeface="+mn-ea"/>
              </a:rPr>
              <a:t>O</a:t>
            </a:r>
            <a:r>
              <a:rPr lang="zh-CN" altLang="en-US" b="1" dirty="0">
                <a:sym typeface="+mn-ea"/>
              </a:rPr>
              <a:t>（</a:t>
            </a:r>
            <a:r>
              <a:rPr lang="en-US" altLang="zh-CN" b="1" dirty="0">
                <a:sym typeface="+mn-ea"/>
              </a:rPr>
              <a:t>1</a:t>
            </a:r>
            <a:r>
              <a:rPr lang="zh-CN" altLang="en-US" b="1" dirty="0">
                <a:sym typeface="+mn-ea"/>
              </a:rPr>
              <a:t>）</a:t>
            </a:r>
            <a:endParaRPr lang="zh-CN" altLang="en-US" b="1" dirty="0"/>
          </a:p>
          <a:p>
            <a:r>
              <a:rPr lang="zh-CN" altLang="en-US" dirty="0"/>
              <a:t>哈希表都是</a:t>
            </a:r>
            <a:r>
              <a:rPr lang="zh-CN" altLang="en-US" b="1" dirty="0"/>
              <a:t>用来快速判断一个元素是否出现集合</a:t>
            </a:r>
            <a:r>
              <a:rPr lang="zh-CN" altLang="en-US" dirty="0"/>
              <a:t>里</a:t>
            </a:r>
            <a:endParaRPr lang="zh-CN" altLang="en-US" dirty="0"/>
          </a:p>
          <a:p>
            <a:r>
              <a:rPr lang="zh-CN" altLang="en-US" dirty="0"/>
              <a:t>空间换取时间（哈希表是算法优化的核心方法）</a:t>
            </a:r>
            <a:endParaRPr lang="zh-CN" altLang="en-US" dirty="0"/>
          </a:p>
          <a:p>
            <a:endParaRPr lang="zh-CN" altLang="en-US" dirty="0"/>
          </a:p>
          <a:p>
            <a:r>
              <a:rPr lang="zh-CN" altLang="en-US" dirty="0"/>
              <a:t>排序是解决去重问题的关键</a:t>
            </a:r>
            <a:endParaRPr lang="zh-CN" altLang="en-US" dirty="0"/>
          </a:p>
          <a:p>
            <a:r>
              <a:rPr lang="zh-CN" altLang="en-US" dirty="0"/>
              <a:t>剪枝：利用排序单调性进行优化，提前终止不可能的分支</a:t>
            </a:r>
            <a:endParaRPr lang="zh-CN" altLang="en-US" dirty="0"/>
          </a:p>
          <a:p>
            <a:r>
              <a:rPr lang="zh-CN" altLang="en-US" dirty="0"/>
              <a:t>双指针（注意一定要排序）：利用数组的有效性，通过左右</a:t>
            </a:r>
            <a:endParaRPr lang="en-US" altLang="zh-CN" dirty="0"/>
          </a:p>
          <a:p>
            <a:r>
              <a:rPr lang="zh-CN" altLang="en-US" dirty="0"/>
              <a:t>指针的移动来逼近目标值</a:t>
            </a:r>
            <a:endParaRPr lang="en-US" altLang="zh-CN" dirty="0"/>
          </a:p>
        </p:txBody>
      </p:sp>
      <p:pic>
        <p:nvPicPr>
          <p:cNvPr id="4" name="图片 3"/>
          <p:cNvPicPr>
            <a:picLocks noChangeAspect="1"/>
          </p:cNvPicPr>
          <p:nvPr>
            <p:custDataLst>
              <p:tags r:id="rId1"/>
            </p:custDataLst>
          </p:nvPr>
        </p:nvPicPr>
        <p:blipFill>
          <a:blip r:embed="rId2"/>
          <a:stretch>
            <a:fillRect/>
          </a:stretch>
        </p:blipFill>
        <p:spPr>
          <a:xfrm>
            <a:off x="9220200" y="485775"/>
            <a:ext cx="2971800" cy="58864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8643" y="66146"/>
            <a:ext cx="6931567" cy="1445260"/>
          </a:xfrm>
          <a:prstGeom prst="rect">
            <a:avLst/>
          </a:prstGeom>
          <a:noFill/>
        </p:spPr>
        <p:txBody>
          <a:bodyPr wrap="square" rtlCol="0">
            <a:spAutoFit/>
          </a:bodyPr>
          <a:lstStyle>
            <a:defPPr>
              <a:defRPr lang="zh-CN"/>
            </a:defPPr>
            <a:lvl1pPr algn="just">
              <a:defRPr sz="5400">
                <a:latin typeface="Agency FB" panose="020B0503020202020204" pitchFamily="34" charset="0"/>
                <a:cs typeface="+mn-ea"/>
              </a:defRPr>
            </a:lvl1pPr>
          </a:lstStyle>
          <a:p>
            <a:r>
              <a:rPr lang="en-US" altLang="zh-CN" sz="4400" dirty="0"/>
              <a:t>Practice</a:t>
            </a:r>
            <a:r>
              <a:rPr lang="en-US" altLang="zh-CN" sz="4400" dirty="0">
                <a:sym typeface="+mn-lt"/>
              </a:rPr>
              <a:t>: </a:t>
            </a:r>
            <a:r>
              <a:rPr lang="en-US" altLang="zh-CN" sz="4400" b="1" dirty="0">
                <a:sym typeface="+mn-lt"/>
              </a:rPr>
              <a:t>Three </a:t>
            </a:r>
            <a:r>
              <a:rPr lang="en-US" altLang="zh-CN" sz="4400" b="1" dirty="0"/>
              <a:t>Sum Closest </a:t>
            </a:r>
            <a:r>
              <a:rPr lang="en-US" altLang="zh-CN" sz="4400" dirty="0"/>
              <a:t>(15 min)</a:t>
            </a:r>
            <a:endParaRPr lang="en-US" altLang="zh-CN" sz="4400" dirty="0"/>
          </a:p>
          <a:p>
            <a:r>
              <a:rPr lang="zh-CN" altLang="en-US" sz="4400" dirty="0"/>
              <a:t>最接近的三数之和</a:t>
            </a:r>
            <a:r>
              <a:rPr lang="en-US" altLang="zh-CN" sz="4400" b="1" dirty="0">
                <a:sym typeface="+mn-lt"/>
              </a:rPr>
              <a:t> </a:t>
            </a:r>
            <a:endParaRPr lang="zh-CN" altLang="en-US" sz="4400" b="1" dirty="0">
              <a:sym typeface="+mn-lt"/>
            </a:endParaRPr>
          </a:p>
        </p:txBody>
      </p:sp>
      <p:sp>
        <p:nvSpPr>
          <p:cNvPr id="5" name="矩形 4"/>
          <p:cNvSpPr/>
          <p:nvPr/>
        </p:nvSpPr>
        <p:spPr>
          <a:xfrm>
            <a:off x="258642" y="1766497"/>
            <a:ext cx="11933358" cy="1322070"/>
          </a:xfrm>
          <a:prstGeom prst="rect">
            <a:avLst/>
          </a:prstGeom>
        </p:spPr>
        <p:txBody>
          <a:bodyPr wrap="square">
            <a:spAutoFit/>
          </a:bodyPr>
          <a:lstStyle/>
          <a:p>
            <a:pPr marL="285750" indent="-285750">
              <a:buFont typeface="Arial" panose="020B0604020202020204" pitchFamily="34" charset="0"/>
              <a:buChar char="•"/>
            </a:pPr>
            <a:r>
              <a:rPr lang="en-US" altLang="zh-CN" sz="2000" b="1" dirty="0">
                <a:latin typeface="微软雅黑" panose="020B0503020204020204" pitchFamily="34" charset="-122"/>
                <a:ea typeface="微软雅黑" panose="020B0503020204020204" pitchFamily="34" charset="-122"/>
              </a:rPr>
              <a:t>Description</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Given an array S of n integers, find three integers in S such that the sum is </a:t>
            </a:r>
            <a:r>
              <a:rPr lang="en-US" altLang="zh-CN" sz="2000" b="1" dirty="0">
                <a:latin typeface="微软雅黑" panose="020B0503020204020204" pitchFamily="34" charset="-122"/>
                <a:ea typeface="微软雅黑" panose="020B0503020204020204" pitchFamily="34" charset="-122"/>
              </a:rPr>
              <a:t>closest</a:t>
            </a:r>
            <a:r>
              <a:rPr lang="en-US" altLang="zh-CN" sz="2000"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to</a:t>
            </a:r>
            <a:r>
              <a:rPr lang="en-US" altLang="zh-CN" sz="2000" dirty="0">
                <a:latin typeface="微软雅黑" panose="020B0503020204020204" pitchFamily="34" charset="-122"/>
                <a:ea typeface="微软雅黑" panose="020B0503020204020204" pitchFamily="34" charset="-122"/>
              </a:rPr>
              <a:t> a given number, target. </a:t>
            </a:r>
            <a:endParaRPr lang="en-US" altLang="zh-CN" sz="20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2000" b="1" dirty="0">
                <a:latin typeface="微软雅黑" panose="020B0503020204020204" pitchFamily="34" charset="-122"/>
                <a:ea typeface="微软雅黑" panose="020B0503020204020204" pitchFamily="34" charset="-122"/>
              </a:rPr>
              <a:t>Returned Value: </a:t>
            </a:r>
            <a:r>
              <a:rPr lang="en-US" altLang="zh-CN" sz="2000" dirty="0">
                <a:latin typeface="微软雅黑" panose="020B0503020204020204" pitchFamily="34" charset="-122"/>
                <a:ea typeface="微软雅黑" panose="020B0503020204020204" pitchFamily="34" charset="-122"/>
              </a:rPr>
              <a:t>the sum of the three integers. (You may assume that each input would have exactly one solution.)</a:t>
            </a:r>
            <a:endParaRPr lang="en-US" altLang="zh-CN" sz="2000" b="1" dirty="0">
              <a:latin typeface="微软雅黑" panose="020B0503020204020204" pitchFamily="34" charset="-122"/>
              <a:ea typeface="微软雅黑" panose="020B0503020204020204" pitchFamily="34" charset="-122"/>
            </a:endParaRPr>
          </a:p>
        </p:txBody>
      </p:sp>
      <p:sp>
        <p:nvSpPr>
          <p:cNvPr id="6" name="矩形 5"/>
          <p:cNvSpPr/>
          <p:nvPr/>
        </p:nvSpPr>
        <p:spPr>
          <a:xfrm>
            <a:off x="465085" y="3256941"/>
            <a:ext cx="4442460" cy="922020"/>
          </a:xfrm>
          <a:prstGeom prst="rect">
            <a:avLst/>
          </a:prstGeom>
        </p:spPr>
        <p:txBody>
          <a:bodyPr wrap="none">
            <a:spAutoFit/>
          </a:bodyPr>
          <a:lstStyle/>
          <a:p>
            <a:r>
              <a:rPr lang="en-US" altLang="zh-CN" b="1" dirty="0">
                <a:latin typeface="微软雅黑" panose="020B0503020204020204" pitchFamily="34" charset="-122"/>
                <a:ea typeface="微软雅黑" panose="020B0503020204020204" pitchFamily="34" charset="-122"/>
              </a:rPr>
              <a:t>Example 1:</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Input: numbers = [2,7,11,15] target = 3</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Output: [20]</a:t>
            </a:r>
            <a:endParaRPr lang="zh-CN" altLang="en-US" dirty="0">
              <a:latin typeface="微软雅黑" panose="020B0503020204020204" pitchFamily="34" charset="-122"/>
              <a:ea typeface="微软雅黑" panose="020B0503020204020204" pitchFamily="34" charset="-122"/>
            </a:endParaRPr>
          </a:p>
        </p:txBody>
      </p:sp>
      <p:sp>
        <p:nvSpPr>
          <p:cNvPr id="7" name="矩形 6"/>
          <p:cNvSpPr/>
          <p:nvPr/>
        </p:nvSpPr>
        <p:spPr>
          <a:xfrm>
            <a:off x="465085" y="4259011"/>
            <a:ext cx="4372610" cy="922020"/>
          </a:xfrm>
          <a:prstGeom prst="rect">
            <a:avLst/>
          </a:prstGeom>
        </p:spPr>
        <p:txBody>
          <a:bodyPr wrap="none">
            <a:spAutoFit/>
          </a:bodyPr>
          <a:lstStyle/>
          <a:p>
            <a:r>
              <a:rPr lang="en-US" altLang="zh-CN" b="1" dirty="0">
                <a:latin typeface="微软雅黑" panose="020B0503020204020204" pitchFamily="34" charset="-122"/>
                <a:ea typeface="微软雅黑" panose="020B0503020204020204" pitchFamily="34" charset="-122"/>
              </a:rPr>
              <a:t>Example 2:</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Input: numbers = [-1,2,1,-4] target = 1</a:t>
            </a:r>
            <a:endParaRPr lang="zh-CN" altLang="en-US"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Output:[2]</a:t>
            </a:r>
            <a:endParaRPr lang="zh-CN" altLang="en-US"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0" name="矩形 9"/>
              <p:cNvSpPr/>
              <p:nvPr/>
            </p:nvSpPr>
            <p:spPr>
              <a:xfrm>
                <a:off x="258642" y="5261018"/>
                <a:ext cx="5069205" cy="398780"/>
              </a:xfrm>
              <a:prstGeom prst="rect">
                <a:avLst/>
              </a:prstGeom>
            </p:spPr>
            <p:txBody>
              <a:bodyPr wrap="none">
                <a:spAutoFit/>
              </a:bodyPr>
              <a:lstStyle/>
              <a:p>
                <a:pPr marL="342900" indent="-342900">
                  <a:buFont typeface="Arial" panose="020B0604020202020204" pitchFamily="34" charset="0"/>
                  <a:buChar char="•"/>
                </a:pP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Challenge: </a:t>
                </a:r>
                <a14:m>
                  <m:oMath xmlns:m="http://schemas.openxmlformats.org/officeDocument/2006/math">
                    <m:r>
                      <a:rPr lang="en-US" altLang="zh-CN" b="0" i="1" smtClean="0">
                        <a:latin typeface="Cambria Math" panose="02040503050406030204" pitchFamily="18" charset="0"/>
                        <a:ea typeface="微软雅黑" panose="020B0503020204020204" pitchFamily="34" charset="-122"/>
                        <a:cs typeface="Cambria Math" panose="02040503050406030204" pitchFamily="18" charset="0"/>
                      </a:rPr>
                      <m:t>𝑂</m:t>
                    </m:r>
                    <m:d>
                      <m:dPr>
                        <m:ctrlPr>
                          <a:rPr lang="en-US" altLang="zh-CN" b="0" i="1" smtClean="0">
                            <a:latin typeface="Cambria Math" panose="02040503050406030204" pitchFamily="18" charset="0"/>
                            <a:ea typeface="微软雅黑" panose="020B0503020204020204" pitchFamily="34" charset="-122"/>
                            <a:cs typeface="Cambria Math" panose="02040503050406030204" pitchFamily="18" charset="0"/>
                          </a:rPr>
                        </m:ctrlPr>
                      </m:dPr>
                      <m:e>
                        <m:sSup>
                          <m:sSupPr>
                            <m:ctrlPr>
                              <a:rPr lang="en-US" altLang="zh-CN" b="0" i="1" smtClean="0">
                                <a:latin typeface="Cambria Math" panose="02040503050406030204" pitchFamily="18" charset="0"/>
                                <a:ea typeface="微软雅黑" panose="020B0503020204020204" pitchFamily="34" charset="-122"/>
                                <a:cs typeface="Cambria Math" panose="02040503050406030204" pitchFamily="18" charset="0"/>
                              </a:rPr>
                            </m:ctrlPr>
                          </m:sSupPr>
                          <m:e>
                            <m:r>
                              <a:rPr lang="en-US" altLang="zh-CN" b="0" i="1" smtClean="0">
                                <a:latin typeface="Cambria Math" panose="02040503050406030204" pitchFamily="18" charset="0"/>
                                <a:ea typeface="微软雅黑" panose="020B0503020204020204" pitchFamily="34" charset="-122"/>
                                <a:cs typeface="Cambria Math" panose="02040503050406030204" pitchFamily="18" charset="0"/>
                              </a:rPr>
                              <m:t>𝑁</m:t>
                            </m:r>
                          </m:e>
                          <m:sup>
                            <m:r>
                              <a:rPr lang="en-US" altLang="zh-CN" b="0" i="1" smtClean="0">
                                <a:latin typeface="Cambria Math" panose="02040503050406030204" pitchFamily="18" charset="0"/>
                                <a:ea typeface="MS Mincho" charset="0"/>
                                <a:cs typeface="Cambria Math" panose="02040503050406030204" pitchFamily="18" charset="0"/>
                              </a:rPr>
                              <m:t>2</m:t>
                            </m:r>
                          </m:sup>
                        </m:sSup>
                      </m:e>
                    </m:d>
                  </m:oMath>
                </a14:m>
                <a:r>
                  <a:rPr lang="pt-BR" altLang="zh-CN" dirty="0">
                    <a:latin typeface="微软雅黑" panose="020B0503020204020204" pitchFamily="34" charset="-122"/>
                    <a:ea typeface="微软雅黑" panose="020B0503020204020204" pitchFamily="34" charset="-122"/>
                    <a:cs typeface="微软雅黑" panose="020B0503020204020204" pitchFamily="34" charset="-122"/>
                  </a:rPr>
                  <a:t> time,  </a:t>
                </a:r>
                <a:r>
                  <a:rPr lang="pt-BR" altLang="zh-CN" i="1" dirty="0">
                    <a:latin typeface="微软雅黑" panose="020B0503020204020204" pitchFamily="34" charset="-122"/>
                    <a:ea typeface="微软雅黑" panose="020B0503020204020204" pitchFamily="34" charset="-122"/>
                    <a:cs typeface="微软雅黑" panose="020B0503020204020204" pitchFamily="34" charset="-122"/>
                  </a:rPr>
                  <a:t>O</a:t>
                </a:r>
                <a:r>
                  <a:rPr lang="pt-BR" altLang="zh-CN" dirty="0">
                    <a:latin typeface="微软雅黑" panose="020B0503020204020204" pitchFamily="34" charset="-122"/>
                    <a:ea typeface="微软雅黑" panose="020B0503020204020204" pitchFamily="34" charset="-122"/>
                    <a:cs typeface="微软雅黑" panose="020B0503020204020204" pitchFamily="34" charset="-122"/>
                  </a:rPr>
                  <a:t>(1) extra space</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10" name="矩形 9"/>
              <p:cNvSpPr>
                <a:spLocks noRot="1" noChangeAspect="1" noMove="1" noResize="1" noEditPoints="1" noAdjustHandles="1" noChangeArrowheads="1" noChangeShapeType="1" noTextEdit="1"/>
              </p:cNvSpPr>
              <p:nvPr/>
            </p:nvSpPr>
            <p:spPr>
              <a:xfrm>
                <a:off x="258642" y="5261018"/>
                <a:ext cx="5069205" cy="398780"/>
              </a:xfrm>
              <a:prstGeom prst="rect">
                <a:avLst/>
              </a:prstGeom>
              <a:blipFill rotWithShape="1">
                <a:blip r:embed="rId1"/>
                <a:stretch>
                  <a:fillRect l="-4" t="-11" r="-472" b="11"/>
                </a:stretch>
              </a:blipFill>
            </p:spPr>
            <p:txBody>
              <a:bodyPr/>
              <a:lstStyle/>
              <a:p>
                <a:r>
                  <a:rPr lang="zh-CN" altLang="en-US">
                    <a:noFill/>
                  </a:rPr>
                  <a:t> </a:t>
                </a:r>
              </a:p>
            </p:txBody>
          </p:sp>
        </mc:Fallback>
      </mc:AlternateContent>
      <p:sp>
        <p:nvSpPr>
          <p:cNvPr id="2" name="文本框 1"/>
          <p:cNvSpPr txBox="1"/>
          <p:nvPr/>
        </p:nvSpPr>
        <p:spPr>
          <a:xfrm>
            <a:off x="456565" y="5925820"/>
            <a:ext cx="4064000" cy="368300"/>
          </a:xfrm>
          <a:prstGeom prst="rect">
            <a:avLst/>
          </a:prstGeom>
          <a:noFill/>
        </p:spPr>
        <p:txBody>
          <a:bodyPr wrap="square" rtlCol="0">
            <a:spAutoFit/>
          </a:bodyPr>
          <a:lstStyle/>
          <a:p>
            <a:r>
              <a:rPr lang="zh-CN" altLang="en-US"/>
              <a:t>参考：三数之和</a:t>
            </a:r>
            <a:endParaRPr lang="zh-CN" altLang="en-US"/>
          </a:p>
        </p:txBody>
      </p:sp>
      <p:sp>
        <p:nvSpPr>
          <p:cNvPr id="3" name="文本框 2"/>
          <p:cNvSpPr txBox="1"/>
          <p:nvPr/>
        </p:nvSpPr>
        <p:spPr>
          <a:xfrm>
            <a:off x="5621020" y="6294120"/>
            <a:ext cx="6096000" cy="368300"/>
          </a:xfrm>
          <a:prstGeom prst="rect">
            <a:avLst/>
          </a:prstGeom>
          <a:noFill/>
        </p:spPr>
        <p:txBody>
          <a:bodyPr wrap="square" rtlCol="0" anchor="t">
            <a:spAutoFit/>
          </a:bodyPr>
          <a:lstStyle/>
          <a:p>
            <a:r>
              <a:rPr lang="zh-CN" altLang="en-US"/>
              <a:t>https://leetcode.cn/problems/3sum-closest/</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custDataLst>
              <p:tags r:id="rId1"/>
            </p:custDataLst>
          </p:nvPr>
        </p:nvPicPr>
        <p:blipFill>
          <a:blip r:embed="rId2"/>
          <a:stretch>
            <a:fillRect/>
          </a:stretch>
        </p:blipFill>
        <p:spPr>
          <a:xfrm>
            <a:off x="130175" y="0"/>
            <a:ext cx="6101715" cy="6920865"/>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COMMONDATA" val="eyJoZGlkIjoiZGE3Y2I3OTRlNTA1NjUwZGY1NGI3NTM4NWZhMGI4N2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6680</Words>
  <Application>WPS 演示</Application>
  <PresentationFormat>宽屏</PresentationFormat>
  <Paragraphs>262</Paragraphs>
  <Slides>21</Slides>
  <Notes>16</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21</vt:i4>
      </vt:variant>
    </vt:vector>
  </HeadingPairs>
  <TitlesOfParts>
    <vt:vector size="36" baseType="lpstr">
      <vt:lpstr>Arial</vt:lpstr>
      <vt:lpstr>宋体</vt:lpstr>
      <vt:lpstr>Wingdings</vt:lpstr>
      <vt:lpstr>微软雅黑</vt:lpstr>
      <vt:lpstr>Agency FB</vt:lpstr>
      <vt:lpstr>Times New Roman</vt:lpstr>
      <vt:lpstr>等线</vt:lpstr>
      <vt:lpstr>Arial Unicode MS</vt:lpstr>
      <vt:lpstr>等线 Light</vt:lpstr>
      <vt:lpstr>Cambria Math</vt:lpstr>
      <vt:lpstr>-apple-system</vt:lpstr>
      <vt:lpstr>AMGDT</vt:lpstr>
      <vt:lpstr>MS Mincho</vt:lpstr>
      <vt:lpstr>Calibri</vt:lpstr>
      <vt:lpstr>Office 主题​​</vt:lpstr>
      <vt:lpstr>PowerPoint 演示文稿</vt:lpstr>
      <vt:lpstr>PowerPoint 演示文稿</vt:lpstr>
      <vt:lpstr>PowerPoint 演示文稿</vt:lpstr>
      <vt:lpstr>暴力枚举</vt:lpstr>
      <vt:lpstr>哈希表  </vt:lpstr>
      <vt:lpstr>哈希表（Hash table）</vt:lpstr>
      <vt:lpstr>用哪种结构存放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总结</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张 庆洋</dc:creator>
  <cp:lastModifiedBy>坏坏、L</cp:lastModifiedBy>
  <cp:revision>62</cp:revision>
  <dcterms:created xsi:type="dcterms:W3CDTF">2023-02-26T12:09:00Z</dcterms:created>
  <dcterms:modified xsi:type="dcterms:W3CDTF">2026-03-09T09:25:14Z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50F8006CBB984F7F86A694554F146EB4_12</vt:lpwstr>
  </property>
  <property fmtid="{D5CDD505-2E9C-101B-9397-08002B2CF9AE}" pid="3" name="KSOProductBuildVer">
    <vt:lpwstr>2052-12.1.0.16120</vt:lpwstr>
  </property>
</Properties>
</file>