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60" r:id="rId6"/>
    <p:sldId id="268" r:id="rId7"/>
    <p:sldId id="269" r:id="rId8"/>
    <p:sldId id="262" r:id="rId9"/>
    <p:sldId id="263" r:id="rId10"/>
    <p:sldId id="258" r:id="rId11"/>
    <p:sldId id="273" r:id="rId12"/>
    <p:sldId id="259" r:id="rId13"/>
    <p:sldId id="290" r:id="rId14"/>
    <p:sldId id="291" r:id="rId15"/>
    <p:sldId id="266" r:id="rId16"/>
    <p:sldId id="265" r:id="rId17"/>
    <p:sldId id="274" r:id="rId18"/>
    <p:sldId id="276" r:id="rId19"/>
    <p:sldId id="277" r:id="rId20"/>
    <p:sldId id="267" r:id="rId21"/>
    <p:sldId id="270" r:id="rId22"/>
    <p:sldId id="282" r:id="rId23"/>
    <p:sldId id="283" r:id="rId24"/>
    <p:sldId id="284" r:id="rId25"/>
    <p:sldId id="285" r:id="rId26"/>
    <p:sldId id="278" r:id="rId27"/>
    <p:sldId id="279" r:id="rId28"/>
    <p:sldId id="280" r:id="rId29"/>
    <p:sldId id="281" r:id="rId30"/>
    <p:sldId id="286" r:id="rId31"/>
    <p:sldId id="287" r:id="rId32"/>
    <p:sldId id="288" r:id="rId33"/>
    <p:sldId id="289" r:id="rId34"/>
  </p:sldIdLst>
  <p:sldSz cx="12192000" cy="6858000"/>
  <p:notesSz cx="6858000" cy="9144000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8" Type="http://schemas.openxmlformats.org/officeDocument/2006/relationships/tags" Target="tags/tag65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聚合分析（aggregate analysis）思路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势能函数：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EXTRACT-MIN 实际代价是 O(\lg n（因为 ，</a:t>
            </a:r>
            <a:endParaRPr lang="zh-CN" altLang="en-US"/>
          </a:p>
          <a:p>
            <a:r>
              <a:rPr lang="zh-CN" altLang="en-US" b="1"/>
              <a:t>但下沉带来的势能增量，抵消了绝大部分实际代价，</a:t>
            </a:r>
            <a:endParaRPr lang="zh-CN" altLang="en-US"/>
          </a:p>
          <a:p>
            <a:r>
              <a:rPr lang="zh-CN" altLang="en-US"/>
              <a:t>最后摊销代价</a:t>
            </a:r>
            <a:r>
              <a:rPr lang="en-US" altLang="zh-CN"/>
              <a:t>0</a:t>
            </a: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endParaRPr lang="zh-CN" altLang="en-US"/>
          </a:p>
          <a:p>
            <a:r>
              <a:rPr lang="zh-CN" altLang="en-US"/>
              <a:t>设当前所在子树剩余高度为 H，走到矮子树后，新高度至多变成 </a:t>
            </a:r>
            <a:r>
              <a:rPr lang="en-US" altLang="zh-CN"/>
              <a:t>H/2</a:t>
            </a:r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若有向图 G 中存在一条从 u 到 v 的路径，且在某次 DFS 中，u 的发现时间 \(u.d &lt; v.d\)，那么在 DFS里，v 一定是 u 的后代。</a:t>
            </a:r>
            <a:endParaRPr lang="zh-CN" altLang="en-US"/>
          </a:p>
          <a:p>
            <a:r>
              <a:rPr lang="zh-CN" altLang="en-US"/>
              <a:t>要推翻它，我们需要构造一个图和一次 DFS，满足</a:t>
            </a:r>
            <a:r>
              <a:rPr lang="en-US" altLang="zh-CN"/>
              <a:t> </a:t>
            </a:r>
            <a:r>
              <a:rPr lang="zh-CN" altLang="en-US"/>
              <a:t>这些条件</a:t>
            </a:r>
            <a:endParaRPr lang="zh-CN" altLang="en-US"/>
          </a:p>
          <a:p>
            <a:r>
              <a:rPr lang="zh-CN" altLang="en-US"/>
              <a:t>DFS 外层循环的顶点顺序是任意的，因此这是合法的。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MST</a:t>
            </a:r>
            <a:r>
              <a:rPr lang="en-US" altLang="zh-CN"/>
              <a:t> </a:t>
            </a:r>
            <a:r>
              <a:rPr lang="zh-CN" altLang="en-US"/>
              <a:t>总权重最小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MST 动态更新（incremental update）</a:t>
            </a:r>
            <a:endParaRPr lang="zh-CN" altLang="en-US"/>
          </a:p>
          <a:p>
            <a:r>
              <a:rPr lang="zh-CN" altLang="en-US"/>
              <a:t>新增一条边：设计一个高效算法判断</a:t>
            </a:r>
            <a:r>
              <a:rPr lang="zh-CN" altLang="en-US" b="1"/>
              <a:t> T 是否仍然是新的图 G的 MST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给孩子们分发糖果，有 N 个孩子站成了一条直线，老师会根据每个孩子的表现，</a:t>
            </a:r>
            <a:endParaRPr lang="zh-CN" altLang="en-US"/>
          </a:p>
          <a:p>
            <a:r>
              <a:rPr lang="zh-CN" altLang="en-US"/>
              <a:t>每个孩子至少分配到 1 个糖果。</a:t>
            </a:r>
            <a:endParaRPr lang="zh-CN" altLang="en-US"/>
          </a:p>
          <a:p>
            <a:r>
              <a:rPr lang="zh-CN" altLang="en-US" b="1"/>
              <a:t>相邻的孩子中，评分高的孩子必须获得更多的糖果。</a:t>
            </a:r>
            <a:endParaRPr lang="zh-CN" altLang="en-US" b="1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所以确定左孩子大于右孩子的情况一定要从后向前遍历！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给定一个包含 n 个节点的无向图中，节点编号从 1 到 n （含 1 和 n ）。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/>
              <a:t>使用最少的跳跃次数到达数组的最后一个位置。</a:t>
            </a:r>
            <a:endParaRPr lang="zh-CN" altLang="en-US" b="1"/>
          </a:p>
          <a:p>
            <a:r>
              <a:rPr lang="zh-CN" altLang="en-US"/>
              <a:t>思路是相似的，还是要看</a:t>
            </a:r>
            <a:r>
              <a:rPr lang="zh-CN" altLang="en-US" b="1"/>
              <a:t>最大覆盖范围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本题要计算最少步数，那么就要想清楚什么时候步数才一定要加一呢？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思路是相似的，还是要看最大覆盖范围。</a:t>
            </a:r>
            <a:endParaRPr lang="zh-CN" altLang="en-US"/>
          </a:p>
          <a:p>
            <a:r>
              <a:rPr lang="zh-CN" altLang="en-US"/>
              <a:t>本题要计算最少步数，那么就要想清楚什么时候步数才一定要加一呢？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4.png"/><Relationship Id="rId7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tags" Target="../tags/tag3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5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tags" Target="../tags/tag8.xml"/><Relationship Id="rId4" Type="http://schemas.openxmlformats.org/officeDocument/2006/relationships/image" Target="../media/image7.png"/><Relationship Id="rId3" Type="http://schemas.openxmlformats.org/officeDocument/2006/relationships/tags" Target="../tags/tag7.xml"/><Relationship Id="rId2" Type="http://schemas.openxmlformats.org/officeDocument/2006/relationships/image" Target="../media/image6.png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tags" Target="../tags/tag10.xml"/><Relationship Id="rId2" Type="http://schemas.openxmlformats.org/officeDocument/2006/relationships/image" Target="../media/image9.png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image" Target="../media/image14.png"/><Relationship Id="rId7" Type="http://schemas.openxmlformats.org/officeDocument/2006/relationships/tags" Target="../tags/tag14.xml"/><Relationship Id="rId6" Type="http://schemas.openxmlformats.org/officeDocument/2006/relationships/image" Target="../media/image13.png"/><Relationship Id="rId5" Type="http://schemas.openxmlformats.org/officeDocument/2006/relationships/tags" Target="../tags/tag13.xml"/><Relationship Id="rId4" Type="http://schemas.openxmlformats.org/officeDocument/2006/relationships/image" Target="../media/image12.png"/><Relationship Id="rId3" Type="http://schemas.openxmlformats.org/officeDocument/2006/relationships/tags" Target="../tags/tag12.xml"/><Relationship Id="rId2" Type="http://schemas.openxmlformats.org/officeDocument/2006/relationships/image" Target="../media/image11.pn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5.png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image" Target="../media/image18.png"/><Relationship Id="rId5" Type="http://schemas.openxmlformats.org/officeDocument/2006/relationships/tags" Target="../tags/tag19.xml"/><Relationship Id="rId4" Type="http://schemas.openxmlformats.org/officeDocument/2006/relationships/image" Target="../media/image17.png"/><Relationship Id="rId3" Type="http://schemas.openxmlformats.org/officeDocument/2006/relationships/tags" Target="../tags/tag18.xml"/><Relationship Id="rId2" Type="http://schemas.openxmlformats.org/officeDocument/2006/relationships/image" Target="../media/image16.png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26.xml"/><Relationship Id="rId13" Type="http://schemas.openxmlformats.org/officeDocument/2006/relationships/image" Target="../media/image19.png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tags" Target="../tags/tag17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tags" Target="../tags/tag28.xml"/><Relationship Id="rId2" Type="http://schemas.openxmlformats.org/officeDocument/2006/relationships/image" Target="../media/image20.png"/><Relationship Id="rId1" Type="http://schemas.openxmlformats.org/officeDocument/2006/relationships/tags" Target="../tags/tag2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tags" Target="../tags/tag2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tags" Target="../tags/tag30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tags" Target="../tags/tag33.xml"/><Relationship Id="rId4" Type="http://schemas.openxmlformats.org/officeDocument/2006/relationships/image" Target="../media/image25.png"/><Relationship Id="rId3" Type="http://schemas.openxmlformats.org/officeDocument/2006/relationships/tags" Target="../tags/tag32.xml"/><Relationship Id="rId2" Type="http://schemas.openxmlformats.org/officeDocument/2006/relationships/image" Target="../media/image24.png"/><Relationship Id="rId1" Type="http://schemas.openxmlformats.org/officeDocument/2006/relationships/tags" Target="../tags/tag31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tags" Target="../tags/tag36.xml"/><Relationship Id="rId4" Type="http://schemas.openxmlformats.org/officeDocument/2006/relationships/image" Target="../media/image28.png"/><Relationship Id="rId3" Type="http://schemas.openxmlformats.org/officeDocument/2006/relationships/tags" Target="../tags/tag35.xml"/><Relationship Id="rId2" Type="http://schemas.openxmlformats.org/officeDocument/2006/relationships/image" Target="../media/image27.png"/><Relationship Id="rId1" Type="http://schemas.openxmlformats.org/officeDocument/2006/relationships/tags" Target="../tags/tag3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tags" Target="../tags/tag3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tags" Target="../tags/tag42.xml"/><Relationship Id="rId4" Type="http://schemas.openxmlformats.org/officeDocument/2006/relationships/image" Target="../media/image32.png"/><Relationship Id="rId3" Type="http://schemas.openxmlformats.org/officeDocument/2006/relationships/tags" Target="../tags/tag41.xml"/><Relationship Id="rId2" Type="http://schemas.openxmlformats.org/officeDocument/2006/relationships/image" Target="../media/image31.png"/><Relationship Id="rId1" Type="http://schemas.openxmlformats.org/officeDocument/2006/relationships/tags" Target="../tags/tag4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tags" Target="../tags/tag4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tags" Target="../tags/tag44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7.png"/><Relationship Id="rId3" Type="http://schemas.openxmlformats.org/officeDocument/2006/relationships/tags" Target="../tags/tag46.xml"/><Relationship Id="rId2" Type="http://schemas.openxmlformats.org/officeDocument/2006/relationships/image" Target="../media/image36.png"/><Relationship Id="rId1" Type="http://schemas.openxmlformats.org/officeDocument/2006/relationships/tags" Target="../tags/tag45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1" Type="http://schemas.openxmlformats.org/officeDocument/2006/relationships/tags" Target="../tags/tag47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0.png"/><Relationship Id="rId3" Type="http://schemas.openxmlformats.org/officeDocument/2006/relationships/tags" Target="../tags/tag49.xml"/><Relationship Id="rId2" Type="http://schemas.openxmlformats.org/officeDocument/2006/relationships/image" Target="../media/image39.png"/><Relationship Id="rId1" Type="http://schemas.openxmlformats.org/officeDocument/2006/relationships/tags" Target="../tags/tag48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2.png"/><Relationship Id="rId3" Type="http://schemas.openxmlformats.org/officeDocument/2006/relationships/tags" Target="../tags/tag51.xml"/><Relationship Id="rId2" Type="http://schemas.openxmlformats.org/officeDocument/2006/relationships/image" Target="../media/image41.png"/><Relationship Id="rId1" Type="http://schemas.openxmlformats.org/officeDocument/2006/relationships/tags" Target="../tags/tag50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4.png"/><Relationship Id="rId3" Type="http://schemas.openxmlformats.org/officeDocument/2006/relationships/tags" Target="../tags/tag53.xml"/><Relationship Id="rId2" Type="http://schemas.openxmlformats.org/officeDocument/2006/relationships/image" Target="../media/image43.png"/><Relationship Id="rId1" Type="http://schemas.openxmlformats.org/officeDocument/2006/relationships/tags" Target="../tags/tag52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tags" Target="../tags/tag54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8.png"/><Relationship Id="rId3" Type="http://schemas.openxmlformats.org/officeDocument/2006/relationships/tags" Target="../tags/tag56.xml"/><Relationship Id="rId2" Type="http://schemas.openxmlformats.org/officeDocument/2006/relationships/image" Target="../media/image47.png"/><Relationship Id="rId1" Type="http://schemas.openxmlformats.org/officeDocument/2006/relationships/tags" Target="../tags/tag55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0.png"/><Relationship Id="rId3" Type="http://schemas.openxmlformats.org/officeDocument/2006/relationships/tags" Target="../tags/tag58.xml"/><Relationship Id="rId2" Type="http://schemas.openxmlformats.org/officeDocument/2006/relationships/image" Target="../media/image49.png"/><Relationship Id="rId1" Type="http://schemas.openxmlformats.org/officeDocument/2006/relationships/tags" Target="../tags/tag57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tags" Target="../tags/tag59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4.png"/><Relationship Id="rId3" Type="http://schemas.openxmlformats.org/officeDocument/2006/relationships/tags" Target="../tags/tag61.xml"/><Relationship Id="rId2" Type="http://schemas.openxmlformats.org/officeDocument/2006/relationships/image" Target="../media/image53.png"/><Relationship Id="rId1" Type="http://schemas.openxmlformats.org/officeDocument/2006/relationships/tags" Target="../tags/tag60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6.png"/><Relationship Id="rId3" Type="http://schemas.openxmlformats.org/officeDocument/2006/relationships/tags" Target="../tags/tag63.xml"/><Relationship Id="rId2" Type="http://schemas.openxmlformats.org/officeDocument/2006/relationships/image" Target="../media/image55.png"/><Relationship Id="rId1" Type="http://schemas.openxmlformats.org/officeDocument/2006/relationships/tags" Target="../tags/tag6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Part1</a:t>
            </a:r>
            <a:r>
              <a:rPr lang="zh-CN" altLang="en-US"/>
              <a:t>：</a:t>
            </a:r>
            <a:r>
              <a:rPr lang="en-US" altLang="zh-CN"/>
              <a:t>Home</a:t>
            </a:r>
            <a:r>
              <a:rPr lang="en-US" altLang="zh-CN"/>
              <a:t>Work13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56895" y="1405890"/>
            <a:ext cx="7515225" cy="51911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38630" y="365125"/>
            <a:ext cx="10515600" cy="1325563"/>
          </a:xfrm>
        </p:spPr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02895" y="159385"/>
            <a:ext cx="8505825" cy="1323975"/>
          </a:xfrm>
          <a:prstGeom prst="rect">
            <a:avLst/>
          </a:prstGeom>
        </p:spPr>
      </p:pic>
      <p:sp>
        <p:nvSpPr>
          <p:cNvPr id="6" name="内容占位符 5"/>
          <p:cNvSpPr/>
          <p:nvPr>
            <p:ph idx="1"/>
          </p:nvPr>
        </p:nvSpPr>
        <p:spPr>
          <a:xfrm>
            <a:off x="1676400" y="1483360"/>
            <a:ext cx="10515600" cy="4351338"/>
          </a:xfrm>
        </p:spPr>
        <p:txBody>
          <a:bodyPr/>
          <a:p>
            <a:r>
              <a:rPr lang="en-US" altLang="zh-CN"/>
              <a:t>1,2,1,4,1,1,1,8,1.....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808720" y="159385"/>
            <a:ext cx="3857625" cy="18192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672070" y="2430145"/>
            <a:ext cx="4686300" cy="24574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757795" y="5374005"/>
            <a:ext cx="3800475" cy="69532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462270" y="606933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摊销代价为O(1)，具体上界是3（平均每次不超过 3）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15265" y="107950"/>
            <a:ext cx="8524875" cy="16573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6525" y="1765300"/>
            <a:ext cx="4418330" cy="14541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15265" y="3510280"/>
            <a:ext cx="9067800" cy="29051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322185" y="20358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深度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8366760" cy="23545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2456180"/>
            <a:ext cx="7911465" cy="44018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8809355" cy="21545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2154555"/>
            <a:ext cx="7638415" cy="30035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5621655"/>
            <a:ext cx="6257925" cy="4476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195195" y="6134100"/>
            <a:ext cx="2514600" cy="4476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743065" y="3924300"/>
            <a:ext cx="5448935" cy="28486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Part2</a:t>
            </a:r>
            <a:r>
              <a:rPr lang="zh-CN" altLang="en-US"/>
              <a:t>：</a:t>
            </a:r>
            <a:r>
              <a:rPr lang="en-US" altLang="zh-CN"/>
              <a:t>homework14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8" name="图片 2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981450" y="3753485"/>
            <a:ext cx="7667625" cy="18383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48410" y="214630"/>
            <a:ext cx="8905875" cy="14763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99085" y="2291715"/>
            <a:ext cx="2647950" cy="14097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67030" y="180721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构造反例</a:t>
            </a:r>
            <a:endParaRPr lang="zh-CN" altLang="en-US">
              <a:sym typeface="+mn-ea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766695" y="2839085"/>
            <a:ext cx="914400" cy="9144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U</a:t>
            </a:r>
            <a:endParaRPr lang="en-US" altLang="zh-CN"/>
          </a:p>
        </p:txBody>
      </p:sp>
      <p:sp>
        <p:nvSpPr>
          <p:cNvPr id="12" name="椭圆 11"/>
          <p:cNvSpPr/>
          <p:nvPr>
            <p:custDataLst>
              <p:tags r:id="rId7"/>
            </p:custDataLst>
          </p:nvPr>
        </p:nvSpPr>
        <p:spPr>
          <a:xfrm>
            <a:off x="5181600" y="4125595"/>
            <a:ext cx="914400" cy="9144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V</a:t>
            </a:r>
            <a:endParaRPr lang="en-US" altLang="zh-CN"/>
          </a:p>
        </p:txBody>
      </p:sp>
      <p:sp>
        <p:nvSpPr>
          <p:cNvPr id="13" name="椭圆 12"/>
          <p:cNvSpPr/>
          <p:nvPr>
            <p:custDataLst>
              <p:tags r:id="rId8"/>
            </p:custDataLst>
          </p:nvPr>
        </p:nvSpPr>
        <p:spPr>
          <a:xfrm>
            <a:off x="4595495" y="2839085"/>
            <a:ext cx="914400" cy="9144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X</a:t>
            </a:r>
            <a:endParaRPr lang="en-US" altLang="zh-CN"/>
          </a:p>
        </p:txBody>
      </p:sp>
      <p:cxnSp>
        <p:nvCxnSpPr>
          <p:cNvPr id="14" name="直接箭头连接符 13"/>
          <p:cNvCxnSpPr>
            <a:endCxn id="11" idx="7"/>
          </p:cNvCxnSpPr>
          <p:nvPr/>
        </p:nvCxnSpPr>
        <p:spPr>
          <a:xfrm flipH="1">
            <a:off x="3547110" y="2562860"/>
            <a:ext cx="210820" cy="41021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>
            <p:custDataLst>
              <p:tags r:id="rId9"/>
            </p:custDataLst>
          </p:nvPr>
        </p:nvCxnSpPr>
        <p:spPr>
          <a:xfrm>
            <a:off x="5181600" y="3753485"/>
            <a:ext cx="249555" cy="42291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椭圆 24"/>
          <p:cNvSpPr/>
          <p:nvPr>
            <p:custDataLst>
              <p:tags r:id="rId10"/>
            </p:custDataLst>
          </p:nvPr>
        </p:nvSpPr>
        <p:spPr>
          <a:xfrm>
            <a:off x="3681095" y="1802130"/>
            <a:ext cx="914400" cy="9144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</a:t>
            </a:r>
            <a:endParaRPr lang="en-US" altLang="zh-CN"/>
          </a:p>
        </p:txBody>
      </p:sp>
      <p:cxnSp>
        <p:nvCxnSpPr>
          <p:cNvPr id="26" name="直接箭头连接符 25"/>
          <p:cNvCxnSpPr/>
          <p:nvPr>
            <p:custDataLst>
              <p:tags r:id="rId11"/>
            </p:custDataLst>
          </p:nvPr>
        </p:nvCxnSpPr>
        <p:spPr>
          <a:xfrm flipV="1">
            <a:off x="3378200" y="2426970"/>
            <a:ext cx="332105" cy="41973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5431155" y="1771650"/>
            <a:ext cx="3990975" cy="695325"/>
          </a:xfrm>
          <a:prstGeom prst="rect">
            <a:avLst/>
          </a:prstGeom>
        </p:spPr>
      </p:pic>
      <p:cxnSp>
        <p:nvCxnSpPr>
          <p:cNvPr id="3" name="直接箭头连接符 2"/>
          <p:cNvCxnSpPr/>
          <p:nvPr>
            <p:custDataLst>
              <p:tags r:id="rId14"/>
            </p:custDataLst>
          </p:nvPr>
        </p:nvCxnSpPr>
        <p:spPr>
          <a:xfrm>
            <a:off x="4439920" y="2562860"/>
            <a:ext cx="302895" cy="41021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4000" y="3013075"/>
            <a:ext cx="4686300" cy="27146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295" y="-148"/>
            <a:ext cx="8188583" cy="283069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172075" y="2611755"/>
            <a:ext cx="6096000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把所有边按权重从小到大排列。MST 会尽量只使用“小边”，避免“大边”。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如果某棵 MST 的最大边权是 w，那意味着：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只用权重 &lt; w 的边，图还不够连通。</a:t>
            </a:r>
            <a:endParaRPr lang="zh-CN" altLang="en-US" b="1"/>
          </a:p>
          <a:p>
            <a:endParaRPr lang="zh-CN" altLang="en-US" b="1"/>
          </a:p>
          <a:p>
            <a:r>
              <a:rPr lang="zh-CN" altLang="en-US" b="1"/>
              <a:t>否则 MST 根本不需要用到权重为 w 的边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因此，任何生成树 都至少要用一条权重 ≥ w 的边。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也就是说，不可能存在最大边权小于 w 的生成树。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所以，MST 的最大边已经达到了所有生成树能达到的最小可能值，它就是瓶颈生成树。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4664075"/>
            <a:ext cx="10515600" cy="4351338"/>
          </a:xfrm>
        </p:spPr>
        <p:txBody>
          <a:bodyPr>
            <a:noAutofit/>
          </a:bodyPr>
          <a:p>
            <a:r>
              <a:rPr lang="zh-CN" altLang="en-US" sz="1800">
                <a:sym typeface="+mn-ea"/>
              </a:rPr>
              <a:t>MST 使用的</a:t>
            </a:r>
            <a:r>
              <a:rPr lang="zh-CN" altLang="en-US" sz="1800" b="1">
                <a:sym typeface="+mn-ea"/>
              </a:rPr>
              <a:t>最重边</a:t>
            </a:r>
            <a:r>
              <a:rPr lang="zh-CN" altLang="en-US" sz="1800">
                <a:sym typeface="+mn-ea"/>
              </a:rPr>
              <a:t>，已经是“任何生成树都无法避免”的重量级别；</a:t>
            </a:r>
            <a:endParaRPr lang="zh-CN" altLang="en-US" sz="1800">
              <a:sym typeface="+mn-ea"/>
            </a:endParaRPr>
          </a:p>
          <a:p>
            <a:r>
              <a:rPr lang="zh-CN" altLang="en-US" sz="1800">
                <a:sym typeface="+mn-ea"/>
              </a:rPr>
              <a:t>否则就能用更轻的边替换它，从而得到更小的生成树，矛盾。</a:t>
            </a:r>
            <a:endParaRPr lang="zh-CN" altLang="en-US" sz="1800">
              <a:sym typeface="+mn-ea"/>
            </a:endParaRPr>
          </a:p>
          <a:p>
            <a:endParaRPr lang="zh-CN" altLang="en-US" sz="1800">
              <a:sym typeface="+mn-ea"/>
            </a:endParaRPr>
          </a:p>
          <a:p>
            <a:r>
              <a:rPr lang="zh-CN" altLang="en-US" sz="1800">
                <a:sym typeface="+mn-ea"/>
              </a:rPr>
              <a:t>因此：</a:t>
            </a:r>
            <a:r>
              <a:rPr lang="zh-CN" altLang="en-US" sz="1800" b="1">
                <a:sym typeface="+mn-ea"/>
              </a:rPr>
              <a:t>最小生成树一定是瓶颈生成树。</a:t>
            </a:r>
            <a:endParaRPr lang="zh-CN" altLang="en-US" sz="1800" b="1">
              <a:sym typeface="+mn-ea"/>
            </a:endParaRPr>
          </a:p>
          <a:p>
            <a:r>
              <a:rPr lang="zh-CN" altLang="en-US" sz="1800" b="1">
                <a:sym typeface="+mn-ea"/>
              </a:rPr>
              <a:t>MST 一定是 MBST，但 MBST 不一定是 MST。</a:t>
            </a:r>
            <a:endParaRPr lang="zh-CN" altLang="en-US" sz="1800" b="1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18135" y="0"/>
            <a:ext cx="8277225" cy="43719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14935" y="0"/>
            <a:ext cx="1009205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>
              <a:defRPr/>
            </a:pPr>
            <a:r>
              <a:rPr lang="en-US" altLang="zh-CN" sz="2400" dirty="0">
                <a:ea typeface="宋体" panose="02010600030101010101" pitchFamily="2" charset="-122"/>
                <a:sym typeface="+mn-ea"/>
              </a:rPr>
              <a:t>Q:Let G=(V, E) be an undirected graph with cost </a:t>
            </a:r>
            <a:r>
              <a:rPr lang="en-US" altLang="zh-CN" sz="2400" dirty="0" err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c</a:t>
            </a:r>
            <a:r>
              <a:rPr lang="en-US" altLang="zh-CN" sz="2400" baseline="-25000" dirty="0" err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e</a:t>
            </a:r>
            <a:r>
              <a:rPr lang="en-US" altLang="zh-CN" sz="2400" dirty="0">
                <a:ea typeface="宋体" panose="02010600030101010101" pitchFamily="2" charset="-122"/>
                <a:sym typeface="+mn-ea"/>
              </a:rPr>
              <a:t>&gt;0 on each edge and you are given a minimum spanning tree T in G. Now assume that a new edge (v, w) is added to G with cost c. Please given an efficient algorithm to test if T remains a MST in G.</a:t>
            </a:r>
            <a:endParaRPr lang="en-US" altLang="zh-CN" sz="2400" dirty="0">
              <a:ea typeface="宋体" panose="0201060003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4935" y="1838325"/>
            <a:ext cx="6096000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法</a:t>
            </a:r>
            <a:r>
              <a:rPr lang="zh-CN" altLang="en-US"/>
              <a:t>一：先想最朴素的方法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新增边以后重新跑 Kruskal：</a:t>
            </a:r>
            <a:endParaRPr lang="zh-CN" altLang="en-US" b="1"/>
          </a:p>
          <a:p>
            <a:endParaRPr lang="zh-CN" altLang="en-US"/>
          </a:p>
          <a:p>
            <a:r>
              <a:rPr lang="zh-CN" altLang="en-US"/>
              <a:t>O(ElogE)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但题目强调：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given an MST T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说明肯定希望利用已有 MST。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823335" y="1491615"/>
            <a:ext cx="8239125" cy="40767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23215" y="5568315"/>
            <a:ext cx="110832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若 c 大于路径上最大边权：删掉环里这条最大边、换上新边，总权只会变大 / 不变，没有替换的价值，所以原 MST 依旧最优。</a:t>
            </a:r>
            <a:endParaRPr lang="zh-CN" altLang="en-US"/>
          </a:p>
          <a:p>
            <a:r>
              <a:rPr lang="zh-CN" altLang="en-US"/>
              <a:t>若 c 小于路径上某条边（尤其是最大边）：用新边替换环内最大边，能得到总权更小的生成树，说明 T 不再是 MST。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76530"/>
            <a:ext cx="5210175" cy="15144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765675" y="176530"/>
            <a:ext cx="7334250" cy="32004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54000" y="378777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时间复杂度分析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54000" y="4319905"/>
            <a:ext cx="4610100" cy="22574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0" y="0"/>
            <a:ext cx="6096000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def is_still_mst(T_adj, n, v, w, new_cost):</a:t>
            </a:r>
            <a:endParaRPr lang="zh-CN" altLang="en-US"/>
          </a:p>
          <a:p>
            <a:r>
              <a:rPr lang="zh-CN" altLang="en-US"/>
              <a:t>    """</a:t>
            </a:r>
            <a:endParaRPr lang="zh-CN" altLang="en-US"/>
          </a:p>
          <a:p>
            <a:r>
              <a:rPr lang="zh-CN" altLang="en-US"/>
              <a:t>    T_adj: MST 的邻接表 (带权重)</a:t>
            </a:r>
            <a:endParaRPr lang="zh-CN" altLang="en-US"/>
          </a:p>
          <a:p>
            <a:r>
              <a:rPr lang="zh-CN" altLang="en-US"/>
              <a:t>         格式: T_adj[u] = [(v, weight), ...]</a:t>
            </a:r>
            <a:endParaRPr lang="zh-CN" altLang="en-US"/>
          </a:p>
          <a:p>
            <a:r>
              <a:rPr lang="zh-CN" altLang="en-US"/>
              <a:t>    n: 顶点数</a:t>
            </a:r>
            <a:endParaRPr lang="zh-CN" altLang="en-US"/>
          </a:p>
          <a:p>
            <a:r>
              <a:rPr lang="zh-CN" altLang="en-US"/>
              <a:t>    v, w: 新边的两个端点</a:t>
            </a:r>
            <a:endParaRPr lang="zh-CN" altLang="en-US"/>
          </a:p>
          <a:p>
            <a:r>
              <a:rPr lang="zh-CN" altLang="en-US"/>
              <a:t>    new_cost: 新边权重</a:t>
            </a:r>
            <a:endParaRPr lang="zh-CN" altLang="en-US"/>
          </a:p>
          <a:p>
            <a:r>
              <a:rPr lang="zh-CN" altLang="en-US"/>
              <a:t>    返回 True / False</a:t>
            </a:r>
            <a:endParaRPr lang="zh-CN" altLang="en-US"/>
          </a:p>
          <a:p>
            <a:r>
              <a:rPr lang="zh-CN" altLang="en-US"/>
              <a:t>    """</a:t>
            </a:r>
            <a:endParaRPr lang="zh-CN" altLang="en-US"/>
          </a:p>
          <a:p>
            <a:r>
              <a:rPr lang="zh-CN" altLang="en-US"/>
              <a:t>    </a:t>
            </a:r>
            <a:endParaRPr lang="zh-CN" altLang="en-US"/>
          </a:p>
          <a:p>
            <a:r>
              <a:rPr lang="zh-CN" altLang="en-US"/>
              <a:t>  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389120" y="0"/>
            <a:ext cx="5514975" cy="20669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389120" y="2066925"/>
            <a:ext cx="3870325" cy="26358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389120" y="4457700"/>
            <a:ext cx="48006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Part3</a:t>
            </a:r>
            <a:r>
              <a:rPr lang="zh-CN" altLang="en-US"/>
              <a:t>：补充习题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75565" y="542925"/>
            <a:ext cx="11788140" cy="62471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/>
              <a:t>T</a:t>
            </a:r>
            <a:r>
              <a:rPr lang="zh-CN" altLang="en-US" sz="2000"/>
              <a:t>here are n children standing in a line. Each child is assigned a rating value given in the integer array ratings.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You are giving candies to these children subjected to the following requirements: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Each child must have at least one candy.</a:t>
            </a:r>
            <a:endParaRPr lang="zh-CN" altLang="en-US" sz="2000"/>
          </a:p>
          <a:p>
            <a:r>
              <a:rPr lang="zh-CN" altLang="en-US" sz="2000"/>
              <a:t>Children with a higher rating get more candies than their neighbors.</a:t>
            </a:r>
            <a:endParaRPr lang="zh-CN" altLang="en-US" sz="2000"/>
          </a:p>
          <a:p>
            <a:r>
              <a:rPr lang="zh-CN" altLang="en-US" sz="2000"/>
              <a:t>Return the minimum number of candies you need to have to distribute the candies to the children.</a:t>
            </a:r>
            <a:endParaRPr lang="zh-CN" altLang="en-US" sz="2000"/>
          </a:p>
          <a:p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Example 1: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Input: ratings = [1,0,2]</a:t>
            </a:r>
            <a:endParaRPr lang="zh-CN" altLang="en-US" sz="2000"/>
          </a:p>
          <a:p>
            <a:r>
              <a:rPr lang="zh-CN" altLang="en-US" sz="2000"/>
              <a:t>Output: 5</a:t>
            </a:r>
            <a:endParaRPr lang="zh-CN" altLang="en-US" sz="2000"/>
          </a:p>
          <a:p>
            <a:r>
              <a:rPr lang="zh-CN" altLang="en-US" sz="2000"/>
              <a:t>Explanation: You can allocate to the first, second and third child with 2, 1, 2 candies respectively.</a:t>
            </a:r>
            <a:endParaRPr lang="zh-CN" altLang="en-US" sz="2000"/>
          </a:p>
          <a:p>
            <a:r>
              <a:rPr lang="zh-CN" altLang="en-US" sz="2000"/>
              <a:t>Example 2:</a:t>
            </a:r>
            <a:endParaRPr lang="zh-CN" altLang="en-US" sz="2000"/>
          </a:p>
          <a:p>
            <a:endParaRPr lang="zh-CN" altLang="en-US" sz="2000"/>
          </a:p>
          <a:p>
            <a:r>
              <a:rPr lang="zh-CN" altLang="en-US" sz="2000"/>
              <a:t>Input: ratings = [1,2,2]</a:t>
            </a:r>
            <a:endParaRPr lang="zh-CN" altLang="en-US" sz="2000"/>
          </a:p>
          <a:p>
            <a:r>
              <a:rPr lang="zh-CN" altLang="en-US" sz="2000"/>
              <a:t>Output: 4</a:t>
            </a:r>
            <a:endParaRPr lang="zh-CN" altLang="en-US" sz="2000"/>
          </a:p>
          <a:p>
            <a:r>
              <a:rPr lang="zh-CN" altLang="en-US" sz="2000"/>
              <a:t>Explanation: You can allocate to the first, second and third child with 1, 2, 1 candies respectively.</a:t>
            </a:r>
            <a:endParaRPr lang="zh-CN" altLang="en-US" sz="2000"/>
          </a:p>
          <a:p>
            <a:r>
              <a:rPr lang="zh-CN" altLang="en-US" sz="2000"/>
              <a:t>The third child gets 1 candy because it satisfies the above two conditions.</a:t>
            </a:r>
            <a:endParaRPr lang="zh-CN" altLang="en-US" sz="2000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-246380"/>
            <a:ext cx="10515600" cy="1325563"/>
          </a:xfrm>
        </p:spPr>
        <p:txBody>
          <a:bodyPr/>
          <a:p>
            <a:r>
              <a:rPr lang="en-US" altLang="zh-CN" sz="3600"/>
              <a:t>Promble1 Candy</a:t>
            </a:r>
            <a:endParaRPr lang="en-US" altLang="zh-CN" sz="3600"/>
          </a:p>
        </p:txBody>
      </p:sp>
      <p:sp>
        <p:nvSpPr>
          <p:cNvPr id="7" name="文本框 6"/>
          <p:cNvSpPr txBox="1"/>
          <p:nvPr/>
        </p:nvSpPr>
        <p:spPr>
          <a:xfrm>
            <a:off x="4156710" y="302577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每个孩子至少分配到 1 个糖果。</a:t>
            </a:r>
            <a:endParaRPr lang="zh-CN" altLang="en-US"/>
          </a:p>
          <a:p>
            <a:r>
              <a:rPr lang="zh-CN" altLang="en-US" b="1">
                <a:sym typeface="+mn-ea"/>
              </a:rPr>
              <a:t>相邻的孩子中，评分高的孩子必须获得更多的糖果。</a:t>
            </a:r>
            <a:endParaRPr lang="zh-CN" altLang="en-US" b="1"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61925" y="116840"/>
            <a:ext cx="11556365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这道题目一定是要确定一边之后，再确定另一边，例如比较每一个孩子的左边，然后再比较右边，如果两边一起考虑一定会顾此失彼。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先确定右边评分大于左边的情况（也就是从前向后遍历）</a:t>
            </a:r>
            <a:endParaRPr lang="zh-CN" altLang="en-US" b="1"/>
          </a:p>
          <a:p>
            <a:endParaRPr lang="zh-CN" altLang="en-US"/>
          </a:p>
          <a:p>
            <a:r>
              <a:rPr lang="zh-CN" altLang="en-US"/>
              <a:t>此时局部最优：只要右边评分比左边大，右边的孩子就多一个糖果，全局最优：相邻的孩子中，评分高的右孩子获得比左边孩子更多的糖果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局部最优可以推出全局最优。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如果ratings[i] &gt; ratings[i - 1] 那么[i]的糖 一定要比[i - 1]的糖多一个，所以贪心：candyVec[i] = candyVec[i - 1] + 1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代码如下：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61160" y="3359785"/>
            <a:ext cx="6791325" cy="12001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2075" y="4559935"/>
            <a:ext cx="1200721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再确定左孩子大于右孩子的情况（从后向前遍历）</a:t>
            </a:r>
            <a:endParaRPr lang="zh-CN" altLang="en-US" b="1"/>
          </a:p>
          <a:p>
            <a:endParaRPr lang="zh-CN" altLang="en-US"/>
          </a:p>
          <a:p>
            <a:r>
              <a:rPr lang="zh-CN" altLang="en-US"/>
              <a:t>为什么不能从前向后遍历呢？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因为 rating[5]与rating[4]的比较 要利用上 rating[5]与rating[6]的比较结果，所以 要从后向前遍历。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如果从前向后遍历，rating[5]与rating[4]的比较 就不能用上 rating[5]与rating[6]的比较结果了 。如图：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6840" y="0"/>
            <a:ext cx="5309235" cy="26390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180080" y="2639060"/>
            <a:ext cx="2760980" cy="132588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96215" y="3256280"/>
            <a:ext cx="1046988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那么又要贪心了，局部最优：取candyVec[i + 1] + 1 和 candyVec[i] 最大的糖果数量，保证第i个小孩的糖果数量既大于左边的也大于右边的。</a:t>
            </a:r>
            <a:endParaRPr lang="zh-CN" altLang="en-US"/>
          </a:p>
          <a:p>
            <a:r>
              <a:rPr lang="zh-CN" altLang="en-US"/>
              <a:t>全局最优：相邻的孩子中，评分高的孩子获得更多的糖果。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局部最优可以推出全局最优。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所以就取candyVec[i + 1] + 1 和 candyVec[i] 最大的糖果数量，candyVec[i]只有取最大的才能既保持对左边candyVec[i - 1]的糖果多，也比右边candyVec[i + 1]的糖果多。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569710" y="231775"/>
            <a:ext cx="528828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如果 ratings[i] &gt; ratings[i + 1]，此时candyVec[i]（第i个小孩的糖果数量）就有两个选择了，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一个是candyVec[i + 1] + 1（从右边这个加1得到的糖果数量），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一个是candyVec[i]（之前比较右孩子大于左孩子得到的糖果数量）。</a:t>
            </a:r>
            <a:endParaRPr lang="zh-CN" altLang="en-US"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569710" y="2184400"/>
            <a:ext cx="4766310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158865" cy="460756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228080" y="278130"/>
            <a:ext cx="60960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那么本题采用了两次贪心的策略：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一次是从左到右遍历，只比较右边孩子评分比左边大的情况。</a:t>
            </a:r>
            <a:endParaRPr lang="zh-CN" altLang="en-US"/>
          </a:p>
          <a:p>
            <a:r>
              <a:rPr lang="zh-CN" altLang="en-US"/>
              <a:t>一次是从右到左遍历，只比较左边孩子评分比右边大的情况。</a:t>
            </a:r>
            <a:endParaRPr lang="zh-CN" altLang="en-US"/>
          </a:p>
          <a:p>
            <a:r>
              <a:rPr lang="zh-CN" altLang="en-US"/>
              <a:t>这样从局部最优推出了全局最优，即：相邻的孩子中，评分高的孩子获得更多的糖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97155" y="-242570"/>
            <a:ext cx="10515600" cy="1325563"/>
          </a:xfrm>
        </p:spPr>
        <p:txBody>
          <a:bodyPr>
            <a:normAutofit/>
          </a:bodyPr>
          <a:p>
            <a:r>
              <a:rPr lang="en-US" altLang="zh-CN"/>
              <a:t>2.Jump Games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2240" y="751840"/>
            <a:ext cx="11908155" cy="4351655"/>
          </a:xfrm>
        </p:spPr>
        <p:txBody>
          <a:bodyPr>
            <a:noAutofit/>
          </a:bodyPr>
          <a:p>
            <a:r>
              <a:rPr lang="zh-CN" altLang="en-US" sz="2400"/>
              <a:t>You are given an integer array nums. You are initially positioned at the array's first index, and each element in the array represents your maximum jump length at that position.</a:t>
            </a:r>
            <a:endParaRPr lang="zh-CN" altLang="en-US" sz="2400"/>
          </a:p>
          <a:p>
            <a:r>
              <a:rPr lang="zh-CN" altLang="en-US" sz="2400"/>
              <a:t>Return true if you can reach the last index, or false otherwise.</a:t>
            </a:r>
            <a:endParaRPr lang="zh-CN" altLang="en-US" sz="2400"/>
          </a:p>
          <a:p>
            <a:r>
              <a:rPr lang="zh-CN" altLang="en-US" sz="2400"/>
              <a:t>Example 1:</a:t>
            </a:r>
            <a:endParaRPr lang="zh-CN" altLang="en-US" sz="2400"/>
          </a:p>
          <a:p>
            <a:r>
              <a:rPr lang="zh-CN" altLang="en-US" sz="2400"/>
              <a:t>Input: nums = [2,3,1,1,4]</a:t>
            </a:r>
            <a:endParaRPr lang="zh-CN" altLang="en-US" sz="2400"/>
          </a:p>
          <a:p>
            <a:r>
              <a:rPr lang="zh-CN" altLang="en-US" sz="2400"/>
              <a:t>Output: true</a:t>
            </a:r>
            <a:endParaRPr lang="zh-CN" altLang="en-US" sz="2400"/>
          </a:p>
          <a:p>
            <a:r>
              <a:rPr lang="zh-CN" altLang="en-US" sz="2400"/>
              <a:t>Explanation: Jump 1 step from index 0 to 1, then 3 steps to the last index.</a:t>
            </a:r>
            <a:endParaRPr lang="zh-CN" altLang="en-US" sz="2400"/>
          </a:p>
          <a:p>
            <a:r>
              <a:rPr lang="zh-CN" altLang="en-US" sz="2400"/>
              <a:t>Example 2: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Input: nums = [3,2,1,0,4]</a:t>
            </a:r>
            <a:endParaRPr lang="zh-CN" altLang="en-US" sz="2400"/>
          </a:p>
          <a:p>
            <a:r>
              <a:rPr lang="zh-CN" altLang="en-US" sz="2400"/>
              <a:t>Output: false</a:t>
            </a:r>
            <a:endParaRPr lang="zh-CN" altLang="en-US" sz="2400"/>
          </a:p>
          <a:p>
            <a:r>
              <a:rPr lang="zh-CN" altLang="en-US" sz="2400"/>
              <a:t>Explanation: You will always arrive at index 3 no matter what. Its maximum jump length is 0, which makes it impossible to reach the last index.</a:t>
            </a:r>
            <a:endParaRPr lang="zh-CN" altLang="en-US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0015" y="0"/>
            <a:ext cx="8325485" cy="48945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38200" y="5114290"/>
            <a:ext cx="953579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每次移动取最大跳跃步数（得到最大的覆盖范围</a:t>
            </a:r>
            <a:r>
              <a:rPr lang="zh-CN" altLang="en-US"/>
              <a:t>），每移动一个单位，就更新最大覆盖范围。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贪心算法局部最优解：每次取最大跳跃步数（取最大覆盖范围），</a:t>
            </a:r>
            <a:endParaRPr lang="zh-CN" altLang="en-US"/>
          </a:p>
          <a:p>
            <a:r>
              <a:rPr lang="zh-CN" altLang="en-US"/>
              <a:t>整体最优解：最后得到整体最大覆盖范围，看是否能到终点。</a:t>
            </a:r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7008495" cy="29432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70230" y="3251835"/>
            <a:ext cx="5764530" cy="26847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82550"/>
            <a:ext cx="7879715" cy="632587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54535" cy="36817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38175" y="3359785"/>
            <a:ext cx="2628900" cy="32575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879215" y="375158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图中覆盖范围的意义在于，只要红色的区域，最多两步一定可以到！（不用管具体怎么跳，反正一定可以跳到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0515600" cy="21710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80975" y="2171065"/>
            <a:ext cx="9774555" cy="44018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3195" y="0"/>
            <a:ext cx="7351395" cy="54597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63195" y="5459730"/>
            <a:ext cx="2981325" cy="6762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7920355" cy="49866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886075"/>
            <a:ext cx="7848600" cy="3971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7298055" cy="4813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96545" y="5166360"/>
            <a:ext cx="11344275" cy="14192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561455" y="0"/>
            <a:ext cx="5390515" cy="29267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67335" y="269240"/>
            <a:ext cx="5387975" cy="438213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27000" y="12700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/>
              <a:t>题目 ：标准拓扑排序输出</a:t>
            </a:r>
            <a:endParaRPr lang="zh-CN" altLang="en-US" sz="280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28295" y="923925"/>
            <a:ext cx="7448550" cy="19621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20" y="2886075"/>
            <a:ext cx="10164445" cy="38677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63050" cy="23336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41630" y="421449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）把每个节点的入度 和 每个节点的依赖关系做统计。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241415" y="3359150"/>
            <a:ext cx="5514975" cy="3314700"/>
          </a:xfrm>
          <a:prstGeom prst="rect">
            <a:avLst/>
          </a:prstGeom>
        </p:spPr>
      </p:pic>
      <p:sp>
        <p:nvSpPr>
          <p:cNvPr id="7" name="内容占位符 6"/>
          <p:cNvSpPr/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323215" y="127635"/>
            <a:ext cx="1186878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/>
              <a:t>（</a:t>
            </a:r>
            <a:r>
              <a:rPr lang="en-US" altLang="zh-CN" sz="2400"/>
              <a:t>2</a:t>
            </a:r>
            <a:r>
              <a:rPr lang="zh-CN" altLang="en-US" sz="2400"/>
              <a:t>）找入度为0 的节点，我们需要用一个队列放存放。</a:t>
            </a:r>
            <a:endParaRPr lang="zh-CN" altLang="en-US" sz="2400"/>
          </a:p>
          <a:p>
            <a:r>
              <a:rPr lang="zh-CN" altLang="en-US" sz="2400"/>
              <a:t>因为每次寻找入度为0的节点，不一定只有一个节点，可能很多节点入度都为0，所以要将这些入度为0的节点放到队列里，依次去处理。</a:t>
            </a:r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23215" y="1505585"/>
            <a:ext cx="4943475" cy="15144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23215" y="3199130"/>
            <a:ext cx="5000625" cy="29527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2075" y="15049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）如何把这个入度为0的节点从图中移除呢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176645" y="902335"/>
            <a:ext cx="601535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我们在代码实现的过程中，本质是要将</a:t>
            </a:r>
            <a:r>
              <a:rPr lang="zh-CN" altLang="en-US" b="1"/>
              <a:t> 该节点作为出发点所连接的节点的 入度 减一 </a:t>
            </a:r>
            <a:r>
              <a:rPr lang="zh-CN" altLang="en-US"/>
              <a:t>就可以了，这样好能根据入度找下一个节点，不用真在图里把这个节点删掉。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34645" y="808355"/>
            <a:ext cx="609600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首先我们为什么要把节点从图中移除？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为的是将 该节点作为出发点所连接的边删掉。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删掉的目的是什么呢？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要把 该节点作为出发点所连接的节点的 入度 减一。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16560" y="3128010"/>
            <a:ext cx="6668135" cy="352044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commondata" val="eyJoZGlkIjoiZGE3Y2I3OTRlNTA1NjUwZGY1NGI3NTM4NWZhMGI4N2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3759</Words>
  <Application>WPS 演示</Application>
  <PresentationFormat>宽屏</PresentationFormat>
  <Paragraphs>177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8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Part1：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Promble1 Candy</vt:lpstr>
      <vt:lpstr>PowerPoint 演示文稿</vt:lpstr>
      <vt:lpstr>PowerPoint 演示文稿</vt:lpstr>
      <vt:lpstr>PowerPoint 演示文稿</vt:lpstr>
      <vt:lpstr>2.Jump Games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达达利亚</dc:creator>
  <cp:lastModifiedBy>坏坏、L</cp:lastModifiedBy>
  <cp:revision>18</cp:revision>
  <dcterms:created xsi:type="dcterms:W3CDTF">2023-08-09T12:44:00Z</dcterms:created>
  <dcterms:modified xsi:type="dcterms:W3CDTF">2026-06-13T06:52:28Z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2052-12.1.0.16120</vt:lpwstr>
  </property>
</Properties>
</file>