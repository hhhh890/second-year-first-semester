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26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209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ABC0A-3FF1-41C5-95B5-CEA35822CA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25085-57EC-415B-972F-1ACF416EA74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80A385-7414-48A6-AE20-E6E7FB4FAA2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"/>
            <a:ext cx="12192000" cy="6856413"/>
            <a:chOff x="0" y="0"/>
            <a:chExt cx="5760" cy="4319"/>
          </a:xfrm>
        </p:grpSpPr>
        <p:sp>
          <p:nvSpPr>
            <p:cNvPr id="5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6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7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8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2 w 1722"/>
                <a:gd name="T1" fmla="*/ 61 h 66"/>
                <a:gd name="T2" fmla="*/ 1712 w 1722"/>
                <a:gd name="T3" fmla="*/ 55 h 66"/>
                <a:gd name="T4" fmla="*/ 0 w 1722"/>
                <a:gd name="T5" fmla="*/ 0 h 66"/>
                <a:gd name="T6" fmla="*/ 0 w 1722"/>
                <a:gd name="T7" fmla="*/ 43 h 66"/>
                <a:gd name="T8" fmla="*/ 1712 w 1722"/>
                <a:gd name="T9" fmla="*/ 61 h 66"/>
                <a:gd name="T10" fmla="*/ 1712 w 1722"/>
                <a:gd name="T11" fmla="*/ 61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9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0 w 975"/>
                <a:gd name="T1" fmla="*/ 48 h 101"/>
                <a:gd name="T2" fmla="*/ 970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0 w 975"/>
                <a:gd name="T9" fmla="*/ 48 h 101"/>
                <a:gd name="T10" fmla="*/ 970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1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3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31 w 2141"/>
                <a:gd name="T7" fmla="*/ 0 h 198"/>
                <a:gd name="T8" fmla="*/ 2131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3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67 w 2517"/>
                <a:gd name="T1" fmla="*/ 276 h 276"/>
                <a:gd name="T2" fmla="*/ 2502 w 2517"/>
                <a:gd name="T3" fmla="*/ 204 h 276"/>
                <a:gd name="T4" fmla="*/ 2245 w 2517"/>
                <a:gd name="T5" fmla="*/ 0 h 276"/>
                <a:gd name="T6" fmla="*/ 0 w 2517"/>
                <a:gd name="T7" fmla="*/ 276 h 276"/>
                <a:gd name="T8" fmla="*/ 2167 w 2517"/>
                <a:gd name="T9" fmla="*/ 276 h 276"/>
                <a:gd name="T10" fmla="*/ 2167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5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4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4 w 729"/>
                <a:gd name="T7" fmla="*/ 240 h 240"/>
                <a:gd name="T8" fmla="*/ 724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6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7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4 w 729"/>
                <a:gd name="T1" fmla="*/ 318 h 318"/>
                <a:gd name="T2" fmla="*/ 724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4 w 729"/>
                <a:gd name="T9" fmla="*/ 318 h 318"/>
                <a:gd name="T10" fmla="*/ 724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8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9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0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1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2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3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4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5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6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7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8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29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30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7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32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3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34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35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36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37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38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39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40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grpSp>
          <p:nvGrpSpPr>
            <p:cNvPr id="41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latin typeface="Arial" panose="020B0604020202020204" pitchFamily="34" charset="0"/>
                  <a:ea typeface="+mn-ea"/>
                </a:endParaRPr>
              </a:p>
            </p:txBody>
          </p:sp>
          <p:sp>
            <p:nvSpPr>
              <p:cNvPr id="4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latin typeface="Arial" panose="020B0604020202020204" pitchFamily="34" charset="0"/>
                  <a:ea typeface="+mn-ea"/>
                </a:endParaRPr>
              </a:p>
            </p:txBody>
          </p:sp>
        </p:grpSp>
      </p:grpSp>
      <p:sp>
        <p:nvSpPr>
          <p:cNvPr id="61482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600" y="1600200"/>
            <a:ext cx="109728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61483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91C94-9A01-4A68-95DF-A864A7CF710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C64539-5C1D-499E-B359-F8B0248F330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086F0A-BB48-4AC6-BFDD-5BC0493AC1C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4C15A-AF2F-46C3-9E85-9847F8042C3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541FF-5C11-4F87-93A2-60497786D71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E780D-FACB-43E4-A09A-AF8D0203BC5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A46AE-7A34-4654-B592-A7682D97E99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71C45D-0DD4-4AF2-9FB4-F9D06190F64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04574D-F630-422F-BE38-870F072415E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3557F-25EE-4769-924C-1281069D750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EBB4E-3900-460A-8F5A-E0155031C4F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7813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4D215-9512-4903-AECD-567B0DF1CBB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7813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5D68F-DFA6-4B99-9765-A254FB419E8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3.png"/><Relationship Id="rId15" Type="http://schemas.openxmlformats.org/officeDocument/2006/relationships/image" Target="../media/image2.png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1"/>
            <a:ext cx="12192000" cy="6856413"/>
            <a:chOff x="0" y="0"/>
            <a:chExt cx="5760" cy="4319"/>
          </a:xfrm>
        </p:grpSpPr>
        <p:sp>
          <p:nvSpPr>
            <p:cNvPr id="60419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60420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60421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5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2 w 1722"/>
                <a:gd name="T1" fmla="*/ 61 h 66"/>
                <a:gd name="T2" fmla="*/ 1712 w 1722"/>
                <a:gd name="T3" fmla="*/ 55 h 66"/>
                <a:gd name="T4" fmla="*/ 0 w 1722"/>
                <a:gd name="T5" fmla="*/ 0 h 66"/>
                <a:gd name="T6" fmla="*/ 0 w 1722"/>
                <a:gd name="T7" fmla="*/ 43 h 66"/>
                <a:gd name="T8" fmla="*/ 1712 w 1722"/>
                <a:gd name="T9" fmla="*/ 61 h 66"/>
                <a:gd name="T10" fmla="*/ 1712 w 1722"/>
                <a:gd name="T11" fmla="*/ 61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23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7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0 w 975"/>
                <a:gd name="T1" fmla="*/ 48 h 101"/>
                <a:gd name="T2" fmla="*/ 970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0 w 975"/>
                <a:gd name="T9" fmla="*/ 48 h 101"/>
                <a:gd name="T10" fmla="*/ 970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38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3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31 w 2141"/>
                <a:gd name="T7" fmla="*/ 0 h 198"/>
                <a:gd name="T8" fmla="*/ 2131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26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0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67 w 2517"/>
                <a:gd name="T1" fmla="*/ 276 h 276"/>
                <a:gd name="T2" fmla="*/ 2502 w 2517"/>
                <a:gd name="T3" fmla="*/ 204 h 276"/>
                <a:gd name="T4" fmla="*/ 2245 w 2517"/>
                <a:gd name="T5" fmla="*/ 0 h 276"/>
                <a:gd name="T6" fmla="*/ 0 w 2517"/>
                <a:gd name="T7" fmla="*/ 276 h 276"/>
                <a:gd name="T8" fmla="*/ 2167 w 2517"/>
                <a:gd name="T9" fmla="*/ 276 h 276"/>
                <a:gd name="T10" fmla="*/ 2167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28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2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4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4 w 729"/>
                <a:gd name="T7" fmla="*/ 240 h 240"/>
                <a:gd name="T8" fmla="*/ 724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30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4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4 w 729"/>
                <a:gd name="T1" fmla="*/ 318 h 318"/>
                <a:gd name="T2" fmla="*/ 724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4 w 729"/>
                <a:gd name="T9" fmla="*/ 318 h 318"/>
                <a:gd name="T10" fmla="*/ 724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32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60433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60434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8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36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50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38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60439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60440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54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42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60443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57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7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45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59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0447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60448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60449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60450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60451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60452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60453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60454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latin typeface="Arial" panose="020B0604020202020204" pitchFamily="34" charset="0"/>
                <a:ea typeface="+mn-ea"/>
              </a:endParaRPr>
            </a:p>
          </p:txBody>
        </p:sp>
        <p:grpSp>
          <p:nvGrpSpPr>
            <p:cNvPr id="1068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60456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latin typeface="Arial" panose="020B0604020202020204" pitchFamily="34" charset="0"/>
                  <a:ea typeface="+mn-ea"/>
                </a:endParaRPr>
              </a:p>
            </p:txBody>
          </p:sp>
          <p:sp>
            <p:nvSpPr>
              <p:cNvPr id="60457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>
                  <a:latin typeface="Arial" panose="020B0604020202020204" pitchFamily="34" charset="0"/>
                  <a:ea typeface="+mn-ea"/>
                </a:endParaRPr>
              </a:p>
            </p:txBody>
          </p:sp>
        </p:grpSp>
      </p:grpSp>
      <p:sp>
        <p:nvSpPr>
          <p:cNvPr id="60458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60459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60460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61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62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51D83CC6-7CA4-408E-B860-195AEC3A5FA1}" type="slidenum">
              <a:rPr lang="zh-CN" altLang="en-US"/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>
                <a:latin typeface="Comic Sans MS" panose="030F0702030302020204" pitchFamily="66" charset="0"/>
                <a:ea typeface="宋体" panose="02010600030101010101" pitchFamily="2" charset="-122"/>
              </a:rPr>
              <a:t>Homework</a:t>
            </a:r>
            <a:endParaRPr lang="en-US" altLang="zh-CN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6454" y="1849437"/>
            <a:ext cx="85344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FFCC00"/>
                </a:solidFill>
                <a:ea typeface="宋体" panose="02010600030101010101" pitchFamily="2" charset="-122"/>
              </a:rPr>
              <a:t>15.3-5</a:t>
            </a:r>
            <a:endParaRPr lang="en-US" altLang="zh-CN" b="1" dirty="0">
              <a:solidFill>
                <a:srgbClr val="FFCC00"/>
              </a:solidFill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lang="en-US" altLang="zh-CN" b="1" dirty="0">
                <a:solidFill>
                  <a:srgbClr val="FFCC00"/>
                </a:solidFill>
                <a:ea typeface="宋体" panose="02010600030101010101" pitchFamily="2" charset="-122"/>
              </a:rPr>
              <a:t>15.4-5</a:t>
            </a:r>
            <a:r>
              <a:rPr lang="en-US" altLang="zh-CN" dirty="0">
                <a:ea typeface="宋体" panose="02010600030101010101" pitchFamily="2" charset="-122"/>
              </a:rPr>
              <a:t>, 15.5-3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defRPr/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Give an O(n</a:t>
            </a:r>
            <a:r>
              <a:rPr lang="en-US" altLang="zh-CN" sz="26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)-time algorithm to find the longest </a:t>
            </a:r>
            <a:r>
              <a:rPr lang="en-US" altLang="zh-CN" sz="2600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monotonically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increasing subsequence of a sequence of n numbers 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3668" name="下箭头 3"/>
          <p:cNvSpPr>
            <a:spLocks noChangeArrowheads="1"/>
          </p:cNvSpPr>
          <p:nvPr/>
        </p:nvSpPr>
        <p:spPr bwMode="auto">
          <a:xfrm>
            <a:off x="5410200" y="3733800"/>
            <a:ext cx="914400" cy="762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3657600" y="4648200"/>
            <a:ext cx="4876800" cy="1295400"/>
          </a:xfrm>
          <a:prstGeom prst="roundRect">
            <a:avLst/>
          </a:prstGeom>
          <a:noFill/>
          <a:ln w="38100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b="1" dirty="0">
                <a:solidFill>
                  <a:srgbClr val="FFCC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Difficult point: how to define sub-problems?</a:t>
            </a:r>
            <a:endParaRPr lang="zh-CN" altLang="en-US" sz="2800" b="1" dirty="0">
              <a:solidFill>
                <a:srgbClr val="FFCC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GE3Y2I3OTRlNTA1NjUwZGY1NGI3NTM4NWZhMGI4N2IifQ=="/>
</p:tagLst>
</file>

<file path=ppt/theme/theme1.xml><?xml version="1.0" encoding="utf-8"?>
<a:theme xmlns:a="http://schemas.openxmlformats.org/drawingml/2006/main" name="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WPS 演示</Application>
  <PresentationFormat>宽屏</PresentationFormat>
  <Paragraphs>8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Comic Sans MS</vt:lpstr>
      <vt:lpstr>Times New Roman</vt:lpstr>
      <vt:lpstr>微软雅黑</vt:lpstr>
      <vt:lpstr>Arial Unicode MS</vt:lpstr>
      <vt:lpstr>等线</vt:lpstr>
      <vt:lpstr>Calibri</vt:lpstr>
      <vt:lpstr>Beam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</dc:title>
  <dc:creator>admin</dc:creator>
  <cp:lastModifiedBy>坏坏、L</cp:lastModifiedBy>
  <cp:revision>9</cp:revision>
  <dcterms:created xsi:type="dcterms:W3CDTF">2022-04-18T09:21:00Z</dcterms:created>
  <dcterms:modified xsi:type="dcterms:W3CDTF">2026-05-22T08:15:44Z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558BEA92308644B98C1F88346167BE07_12</vt:lpwstr>
  </property>
  <property fmtid="{D5CDD505-2E9C-101B-9397-08002B2CF9AE}" pid="3" name="KSOProductBuildVer">
    <vt:lpwstr>2052-12.1.0.16120</vt:lpwstr>
  </property>
</Properties>
</file>